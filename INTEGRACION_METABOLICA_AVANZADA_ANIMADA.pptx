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413" r:id="rId164"/>
    <p:sldId id="414" r:id="rId165"/>
    <p:sldId id="415" r:id="rId166"/>
    <p:sldId id="416" r:id="rId167"/>
    <p:sldId id="417" r:id="rId168"/>
    <p:sldId id="418" r:id="rId169"/>
    <p:sldId id="419" r:id="rId170"/>
    <p:sldId id="420" r:id="rId17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Lst>
  <p:sldSz cx="12191695"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72" Type="http://schemas.openxmlformats.org/officeDocument/2006/relationships/slide" Target="slides/slide66.xml"/><Relationship Id="rId73" Type="http://schemas.openxmlformats.org/officeDocument/2006/relationships/slide" Target="slides/slide67.xml"/><Relationship Id="rId74" Type="http://schemas.openxmlformats.org/officeDocument/2006/relationships/slide" Target="slides/slide68.xml"/><Relationship Id="rId75" Type="http://schemas.openxmlformats.org/officeDocument/2006/relationships/slide" Target="slides/slide69.xml"/><Relationship Id="rId76"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79" Type="http://schemas.openxmlformats.org/officeDocument/2006/relationships/slide" Target="slides/slide73.xml"/><Relationship Id="rId80" Type="http://schemas.openxmlformats.org/officeDocument/2006/relationships/slide" Target="slides/slide74.xml"/><Relationship Id="rId81" Type="http://schemas.openxmlformats.org/officeDocument/2006/relationships/slide" Target="slides/slide75.xml"/><Relationship Id="rId82" Type="http://schemas.openxmlformats.org/officeDocument/2006/relationships/slide" Target="slides/slide76.xml"/><Relationship Id="rId83" Type="http://schemas.openxmlformats.org/officeDocument/2006/relationships/slide" Target="slides/slide77.xml"/><Relationship Id="rId84" Type="http://schemas.openxmlformats.org/officeDocument/2006/relationships/slide" Target="slides/slide78.xml"/><Relationship Id="rId85" Type="http://schemas.openxmlformats.org/officeDocument/2006/relationships/slide" Target="slides/slide79.xml"/><Relationship Id="rId86" Type="http://schemas.openxmlformats.org/officeDocument/2006/relationships/slide" Target="slides/slide80.xml"/><Relationship Id="rId87" Type="http://schemas.openxmlformats.org/officeDocument/2006/relationships/slide" Target="slides/slide81.xml"/><Relationship Id="rId88" Type="http://schemas.openxmlformats.org/officeDocument/2006/relationships/slide" Target="slides/slide82.xml"/><Relationship Id="rId89" Type="http://schemas.openxmlformats.org/officeDocument/2006/relationships/slide" Target="slides/slide83.xml"/><Relationship Id="rId90" Type="http://schemas.openxmlformats.org/officeDocument/2006/relationships/slide" Target="slides/slide84.xml"/><Relationship Id="rId91" Type="http://schemas.openxmlformats.org/officeDocument/2006/relationships/slide" Target="slides/slide85.xml"/><Relationship Id="rId92" Type="http://schemas.openxmlformats.org/officeDocument/2006/relationships/slide" Target="slides/slide86.xml"/><Relationship Id="rId93" Type="http://schemas.openxmlformats.org/officeDocument/2006/relationships/slide" Target="slides/slide87.xml"/><Relationship Id="rId94" Type="http://schemas.openxmlformats.org/officeDocument/2006/relationships/slide" Target="slides/slide88.xml"/><Relationship Id="rId95" Type="http://schemas.openxmlformats.org/officeDocument/2006/relationships/slide" Target="slides/slide89.xml"/><Relationship Id="rId96" Type="http://schemas.openxmlformats.org/officeDocument/2006/relationships/slide" Target="slides/slide90.xml"/><Relationship Id="rId97" Type="http://schemas.openxmlformats.org/officeDocument/2006/relationships/slide" Target="slides/slide91.xml"/><Relationship Id="rId98" Type="http://schemas.openxmlformats.org/officeDocument/2006/relationships/slide" Target="slides/slide92.xml"/><Relationship Id="rId99" Type="http://schemas.openxmlformats.org/officeDocument/2006/relationships/slide" Target="slides/slide93.xml"/><Relationship Id="rId100" Type="http://schemas.openxmlformats.org/officeDocument/2006/relationships/slide" Target="slides/slide94.xml"/><Relationship Id="rId101" Type="http://schemas.openxmlformats.org/officeDocument/2006/relationships/slide" Target="slides/slide95.xml"/><Relationship Id="rId102" Type="http://schemas.openxmlformats.org/officeDocument/2006/relationships/slide" Target="slides/slide96.xml"/><Relationship Id="rId103" Type="http://schemas.openxmlformats.org/officeDocument/2006/relationships/slide" Target="slides/slide97.xml"/><Relationship Id="rId104" Type="http://schemas.openxmlformats.org/officeDocument/2006/relationships/slide" Target="slides/slide98.xml"/><Relationship Id="rId105" Type="http://schemas.openxmlformats.org/officeDocument/2006/relationships/slide" Target="slides/slide99.xml"/><Relationship Id="rId106" Type="http://schemas.openxmlformats.org/officeDocument/2006/relationships/slide" Target="slides/slide100.xml"/><Relationship Id="rId107" Type="http://schemas.openxmlformats.org/officeDocument/2006/relationships/slide" Target="slides/slide101.xml"/><Relationship Id="rId108" Type="http://schemas.openxmlformats.org/officeDocument/2006/relationships/slide" Target="slides/slide102.xml"/><Relationship Id="rId109" Type="http://schemas.openxmlformats.org/officeDocument/2006/relationships/slide" Target="slides/slide103.xml"/><Relationship Id="rId110" Type="http://schemas.openxmlformats.org/officeDocument/2006/relationships/slide" Target="slides/slide104.xml"/><Relationship Id="rId111" Type="http://schemas.openxmlformats.org/officeDocument/2006/relationships/slide" Target="slides/slide105.xml"/><Relationship Id="rId112" Type="http://schemas.openxmlformats.org/officeDocument/2006/relationships/slide" Target="slides/slide106.xml"/><Relationship Id="rId113" Type="http://schemas.openxmlformats.org/officeDocument/2006/relationships/slide" Target="slides/slide107.xml"/><Relationship Id="rId114" Type="http://schemas.openxmlformats.org/officeDocument/2006/relationships/slide" Target="slides/slide108.xml"/><Relationship Id="rId115" Type="http://schemas.openxmlformats.org/officeDocument/2006/relationships/slide" Target="slides/slide109.xml"/><Relationship Id="rId116" Type="http://schemas.openxmlformats.org/officeDocument/2006/relationships/slide" Target="slides/slide110.xml"/><Relationship Id="rId117" Type="http://schemas.openxmlformats.org/officeDocument/2006/relationships/slide" Target="slides/slide111.xml"/><Relationship Id="rId118" Type="http://schemas.openxmlformats.org/officeDocument/2006/relationships/slide" Target="slides/slide112.xml"/><Relationship Id="rId119" Type="http://schemas.openxmlformats.org/officeDocument/2006/relationships/slide" Target="slides/slide113.xml"/><Relationship Id="rId120" Type="http://schemas.openxmlformats.org/officeDocument/2006/relationships/slide" Target="slides/slide114.xml"/><Relationship Id="rId121" Type="http://schemas.openxmlformats.org/officeDocument/2006/relationships/slide" Target="slides/slide115.xml"/><Relationship Id="rId122" Type="http://schemas.openxmlformats.org/officeDocument/2006/relationships/slide" Target="slides/slide116.xml"/><Relationship Id="rId123" Type="http://schemas.openxmlformats.org/officeDocument/2006/relationships/slide" Target="slides/slide117.xml"/><Relationship Id="rId124" Type="http://schemas.openxmlformats.org/officeDocument/2006/relationships/slide" Target="slides/slide118.xml"/><Relationship Id="rId125" Type="http://schemas.openxmlformats.org/officeDocument/2006/relationships/slide" Target="slides/slide119.xml"/><Relationship Id="rId126" Type="http://schemas.openxmlformats.org/officeDocument/2006/relationships/slide" Target="slides/slide120.xml"/><Relationship Id="rId127" Type="http://schemas.openxmlformats.org/officeDocument/2006/relationships/slide" Target="slides/slide121.xml"/><Relationship Id="rId128" Type="http://schemas.openxmlformats.org/officeDocument/2006/relationships/slide" Target="slides/slide122.xml"/><Relationship Id="rId129" Type="http://schemas.openxmlformats.org/officeDocument/2006/relationships/slide" Target="slides/slide123.xml"/><Relationship Id="rId130" Type="http://schemas.openxmlformats.org/officeDocument/2006/relationships/slide" Target="slides/slide124.xml"/><Relationship Id="rId131" Type="http://schemas.openxmlformats.org/officeDocument/2006/relationships/slide" Target="slides/slide125.xml"/><Relationship Id="rId132" Type="http://schemas.openxmlformats.org/officeDocument/2006/relationships/slide" Target="slides/slide126.xml"/><Relationship Id="rId133" Type="http://schemas.openxmlformats.org/officeDocument/2006/relationships/slide" Target="slides/slide127.xml"/><Relationship Id="rId134" Type="http://schemas.openxmlformats.org/officeDocument/2006/relationships/slide" Target="slides/slide128.xml"/><Relationship Id="rId135" Type="http://schemas.openxmlformats.org/officeDocument/2006/relationships/slide" Target="slides/slide129.xml"/><Relationship Id="rId136" Type="http://schemas.openxmlformats.org/officeDocument/2006/relationships/slide" Target="slides/slide130.xml"/><Relationship Id="rId137" Type="http://schemas.openxmlformats.org/officeDocument/2006/relationships/slide" Target="slides/slide131.xml"/><Relationship Id="rId138" Type="http://schemas.openxmlformats.org/officeDocument/2006/relationships/slide" Target="slides/slide132.xml"/><Relationship Id="rId139" Type="http://schemas.openxmlformats.org/officeDocument/2006/relationships/slide" Target="slides/slide133.xml"/><Relationship Id="rId140" Type="http://schemas.openxmlformats.org/officeDocument/2006/relationships/slide" Target="slides/slide134.xml"/><Relationship Id="rId141" Type="http://schemas.openxmlformats.org/officeDocument/2006/relationships/slide" Target="slides/slide135.xml"/><Relationship Id="rId142" Type="http://schemas.openxmlformats.org/officeDocument/2006/relationships/slide" Target="slides/slide136.xml"/><Relationship Id="rId143" Type="http://schemas.openxmlformats.org/officeDocument/2006/relationships/slide" Target="slides/slide137.xml"/><Relationship Id="rId144" Type="http://schemas.openxmlformats.org/officeDocument/2006/relationships/slide" Target="slides/slide138.xml"/><Relationship Id="rId145" Type="http://schemas.openxmlformats.org/officeDocument/2006/relationships/slide" Target="slides/slide139.xml"/><Relationship Id="rId146" Type="http://schemas.openxmlformats.org/officeDocument/2006/relationships/slide" Target="slides/slide140.xml"/><Relationship Id="rId147" Type="http://schemas.openxmlformats.org/officeDocument/2006/relationships/slide" Target="slides/slide141.xml"/><Relationship Id="rId148" Type="http://schemas.openxmlformats.org/officeDocument/2006/relationships/slide" Target="slides/slide142.xml"/><Relationship Id="rId149" Type="http://schemas.openxmlformats.org/officeDocument/2006/relationships/slide" Target="slides/slide143.xml"/><Relationship Id="rId150" Type="http://schemas.openxmlformats.org/officeDocument/2006/relationships/slide" Target="slides/slide144.xml"/><Relationship Id="rId151" Type="http://schemas.openxmlformats.org/officeDocument/2006/relationships/slide" Target="slides/slide145.xml"/><Relationship Id="rId152" Type="http://schemas.openxmlformats.org/officeDocument/2006/relationships/slide" Target="slides/slide146.xml"/><Relationship Id="rId153" Type="http://schemas.openxmlformats.org/officeDocument/2006/relationships/slide" Target="slides/slide147.xml"/><Relationship Id="rId154" Type="http://schemas.openxmlformats.org/officeDocument/2006/relationships/slide" Target="slides/slide148.xml"/><Relationship Id="rId155" Type="http://schemas.openxmlformats.org/officeDocument/2006/relationships/slide" Target="slides/slide149.xml"/><Relationship Id="rId156" Type="http://schemas.openxmlformats.org/officeDocument/2006/relationships/slide" Target="slides/slide150.xml"/><Relationship Id="rId157" Type="http://schemas.openxmlformats.org/officeDocument/2006/relationships/slide" Target="slides/slide151.xml"/><Relationship Id="rId158" Type="http://schemas.openxmlformats.org/officeDocument/2006/relationships/slide" Target="slides/slide152.xml"/><Relationship Id="rId159" Type="http://schemas.openxmlformats.org/officeDocument/2006/relationships/slide" Target="slides/slide153.xml"/><Relationship Id="rId160" Type="http://schemas.openxmlformats.org/officeDocument/2006/relationships/slide" Target="slides/slide154.xml"/><Relationship Id="rId161" Type="http://schemas.openxmlformats.org/officeDocument/2006/relationships/slide" Target="slides/slide155.xml"/><Relationship Id="rId162" Type="http://schemas.openxmlformats.org/officeDocument/2006/relationships/slide" Target="slides/slide156.xml"/><Relationship Id="rId163" Type="http://schemas.openxmlformats.org/officeDocument/2006/relationships/slide" Target="slides/slide157.xml"/><Relationship Id="rId164" Type="http://schemas.openxmlformats.org/officeDocument/2006/relationships/slide" Target="slides/slide158.xml"/><Relationship Id="rId165" Type="http://schemas.openxmlformats.org/officeDocument/2006/relationships/slide" Target="slides/slide159.xml"/><Relationship Id="rId166" Type="http://schemas.openxmlformats.org/officeDocument/2006/relationships/slide" Target="slides/slide160.xml"/><Relationship Id="rId167" Type="http://schemas.openxmlformats.org/officeDocument/2006/relationships/slide" Target="slides/slide161.xml"/><Relationship Id="rId168" Type="http://schemas.openxmlformats.org/officeDocument/2006/relationships/slide" Target="slides/slide162.xml"/><Relationship Id="rId169" Type="http://schemas.openxmlformats.org/officeDocument/2006/relationships/slide" Target="slides/slide163.xml"/><Relationship Id="rId170" Type="http://schemas.openxmlformats.org/officeDocument/2006/relationships/slide" Target="slides/slide164.xml"/><Relationship Id="rId171" Type="http://schemas.openxmlformats.org/officeDocument/2006/relationships/slide" Target="slides/slide165.xml"/><Relationship Id="rId172" Type="http://schemas.openxmlformats.org/officeDocument/2006/relationships/slide" Target="slides/slide166.xml"/><Relationship Id="rId173" Type="http://schemas.openxmlformats.org/officeDocument/2006/relationships/slide" Target="slides/slide167.xml"/><Relationship Id="rId174" Type="http://schemas.openxmlformats.org/officeDocument/2006/relationships/slide" Target="slides/slide168.xml"/><Relationship Id="rId175" Type="http://schemas.openxmlformats.org/officeDocument/2006/relationships/slide" Target="slides/slide169.xml"/><Relationship Id="rId176" Type="http://schemas.openxmlformats.org/officeDocument/2006/relationships/slide" Target="slides/slide170.xml"/><Relationship Id="rId177" Type="http://schemas.openxmlformats.org/officeDocument/2006/relationships/slide" Target="slides/slide171.xml"/><Relationship Id="rId178" Type="http://schemas.openxmlformats.org/officeDocument/2006/relationships/slide" Target="slides/slide172.xml"/><Relationship Id="rId179" Type="http://schemas.openxmlformats.org/officeDocument/2006/relationships/slide" Target="slides/slide173.xml"/><Relationship Id="rId180" Type="http://schemas.openxmlformats.org/officeDocument/2006/relationships/slide" Target="slides/slide174.xml"/><Relationship Id="rId181" Type="http://schemas.openxmlformats.org/officeDocument/2006/relationships/slide" Target="slides/slide175.xml"/><Relationship Id="rId182" Type="http://schemas.openxmlformats.org/officeDocument/2006/relationships/slide" Target="slides/slide176.xml"/><Relationship Id="rId183" Type="http://schemas.openxmlformats.org/officeDocument/2006/relationships/slide" Target="slides/slide177.xml"/><Relationship Id="rId184" Type="http://schemas.openxmlformats.org/officeDocument/2006/relationships/slide" Target="slides/slide178.xml"/><Relationship Id="rId185" Type="http://schemas.openxmlformats.org/officeDocument/2006/relationships/slide" Target="slides/slide179.xml"/><Relationship Id="rId186" Type="http://schemas.openxmlformats.org/officeDocument/2006/relationships/slide" Target="slides/slide180.xml"/><Relationship Id="rId187" Type="http://schemas.openxmlformats.org/officeDocument/2006/relationships/slide" Target="slides/slide181.xml"/><Relationship Id="rId188" Type="http://schemas.openxmlformats.org/officeDocument/2006/relationships/slide" Target="slides/slide182.xml"/><Relationship Id="rId189" Type="http://schemas.openxmlformats.org/officeDocument/2006/relationships/slide" Target="slides/slide183.xml"/><Relationship Id="rId190" Type="http://schemas.openxmlformats.org/officeDocument/2006/relationships/slide" Target="slides/slide184.xml"/><Relationship Id="rId191" Type="http://schemas.openxmlformats.org/officeDocument/2006/relationships/slide" Target="slides/slide185.xml"/><Relationship Id="rId192" Type="http://schemas.openxmlformats.org/officeDocument/2006/relationships/slide" Target="slides/slide186.xml"/><Relationship Id="rId193" Type="http://schemas.openxmlformats.org/officeDocument/2006/relationships/slide" Target="slides/slide187.xml"/><Relationship Id="rId194" Type="http://schemas.openxmlformats.org/officeDocument/2006/relationships/slide" Target="slides/slide188.xml"/><Relationship Id="rId195" Type="http://schemas.openxmlformats.org/officeDocument/2006/relationships/slide" Target="slides/slide189.xml"/><Relationship Id="rId196" Type="http://schemas.openxmlformats.org/officeDocument/2006/relationships/slide" Target="slides/slide190.xml"/><Relationship Id="rId197" Type="http://schemas.openxmlformats.org/officeDocument/2006/relationships/slide" Target="slides/slide191.xml"/><Relationship Id="rId198" Type="http://schemas.openxmlformats.org/officeDocument/2006/relationships/slide" Target="slides/slide192.xml"/><Relationship Id="rId199" Type="http://schemas.openxmlformats.org/officeDocument/2006/relationships/slide" Target="slides/slide193.xml"/><Relationship Id="rId200" Type="http://schemas.openxmlformats.org/officeDocument/2006/relationships/slide" Target="slides/slide194.xml"/><Relationship Id="rId201" Type="http://schemas.openxmlformats.org/officeDocument/2006/relationships/slide" Target="slides/slide195.xml"/><Relationship Id="rId202" Type="http://schemas.openxmlformats.org/officeDocument/2006/relationships/slide" Target="slides/slide196.xml"/><Relationship Id="rId203" Type="http://schemas.openxmlformats.org/officeDocument/2006/relationships/slide" Target="slides/slide197.xml"/><Relationship Id="rId204" Type="http://schemas.openxmlformats.org/officeDocument/2006/relationships/slide" Target="slides/slide198.xml"/><Relationship Id="rId205" Type="http://schemas.openxmlformats.org/officeDocument/2006/relationships/slide" Target="slides/slide199.xml"/><Relationship Id="rId206" Type="http://schemas.openxmlformats.org/officeDocument/2006/relationships/slide" Target="slides/slide200.xml"/><Relationship Id="rId207" Type="http://schemas.openxmlformats.org/officeDocument/2006/relationships/slide" Target="slides/slide201.xml"/><Relationship Id="rId208" Type="http://schemas.openxmlformats.org/officeDocument/2006/relationships/slide" Target="slides/slide202.xml"/><Relationship Id="rId209" Type="http://schemas.openxmlformats.org/officeDocument/2006/relationships/slide" Target="slides/slide203.xml"/><Relationship Id="rId210" Type="http://schemas.openxmlformats.org/officeDocument/2006/relationships/slide" Target="slides/slide204.xml"/><Relationship Id="rId211" Type="http://schemas.openxmlformats.org/officeDocument/2006/relationships/slide" Target="slides/slide205.xml"/><Relationship Id="rId212" Type="http://schemas.openxmlformats.org/officeDocument/2006/relationships/slide" Target="slides/slide206.xml"/><Relationship Id="rId213" Type="http://schemas.openxmlformats.org/officeDocument/2006/relationships/slide" Target="slides/slide207.xml"/><Relationship Id="rId214" Type="http://schemas.openxmlformats.org/officeDocument/2006/relationships/slide" Target="slides/slide208.xml"/><Relationship Id="rId215" Type="http://schemas.openxmlformats.org/officeDocument/2006/relationships/slide" Target="slides/slide209.xml"/><Relationship Id="rId216" Type="http://schemas.openxmlformats.org/officeDocument/2006/relationships/slide" Target="slides/slide210.xml"/><Relationship Id="rId217" Type="http://schemas.openxmlformats.org/officeDocument/2006/relationships/slide" Target="slides/slide211.xml"/><Relationship Id="rId218" Type="http://schemas.openxmlformats.org/officeDocument/2006/relationships/slide" Target="slides/slide212.xml"/><Relationship Id="rId219" Type="http://schemas.openxmlformats.org/officeDocument/2006/relationships/slide" Target="slides/slide213.xml"/><Relationship Id="rId220" Type="http://schemas.openxmlformats.org/officeDocument/2006/relationships/slide" Target="slides/slide214.xml"/><Relationship Id="rId221" Type="http://schemas.openxmlformats.org/officeDocument/2006/relationships/slide" Target="slides/slide215.xml"/><Relationship Id="rId222" Type="http://schemas.openxmlformats.org/officeDocument/2006/relationships/slide" Target="slides/slide216.xml"/><Relationship Id="rId223" Type="http://schemas.openxmlformats.org/officeDocument/2006/relationships/slide" Target="slides/slide217.xml"/><Relationship Id="rId224" Type="http://schemas.openxmlformats.org/officeDocument/2006/relationships/slide" Target="slides/slide218.xml"/><Relationship Id="rId225" Type="http://schemas.openxmlformats.org/officeDocument/2006/relationships/slide" Target="slides/slide219.xml"/><Relationship Id="rId226" Type="http://schemas.openxmlformats.org/officeDocument/2006/relationships/slide" Target="slides/slide220.xml"/><Relationship Id="rId227" Type="http://schemas.openxmlformats.org/officeDocument/2006/relationships/slide" Target="slides/slide221.xml"/><Relationship Id="rId228" Type="http://schemas.openxmlformats.org/officeDocument/2006/relationships/slide" Target="slides/slide222.xml"/><Relationship Id="rId229" Type="http://schemas.openxmlformats.org/officeDocument/2006/relationships/slide" Target="slides/slide223.xml"/><Relationship Id="rId230" Type="http://schemas.openxmlformats.org/officeDocument/2006/relationships/slide" Target="slides/slide224.xml"/><Relationship Id="rId231" Type="http://schemas.openxmlformats.org/officeDocument/2006/relationships/notesMaster" Target="notesMasters/notesMaster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Insulina</c:v>
                </c:pt>
              </c:strCache>
            </c:strRef>
          </c:tx>
          <c:spPr>
            <a:ln w="44450">
              <a:solidFill>
                <a:srgbClr val="1F4E9A"/>
              </a:solidFill>
            </a:ln>
          </c:spPr>
          <c:marker>
            <c:symbol val="none"/>
          </c:marker>
          <c:cat>
            <c:strRef>
              <c:f>Sheet1!$A$2:$A$9</c:f>
              <c:strCache>
                <c:ptCount val="8"/>
                <c:pt idx="0">
                  <c:v>Comida</c:v>
                </c:pt>
                <c:pt idx="1">
                  <c:v>2 h</c:v>
                </c:pt>
                <c:pt idx="2">
                  <c:v>6 h</c:v>
                </c:pt>
                <c:pt idx="3">
                  <c:v>12 h</c:v>
                </c:pt>
                <c:pt idx="4">
                  <c:v>24 h</c:v>
                </c:pt>
                <c:pt idx="5">
                  <c:v>48 h</c:v>
                </c:pt>
                <c:pt idx="6">
                  <c:v>3 d</c:v>
                </c:pt>
                <c:pt idx="7">
                  <c:v>5 d</c:v>
                </c:pt>
              </c:strCache>
            </c:strRef>
          </c:cat>
          <c:val>
            <c:numRef>
              <c:f>Sheet1!$B$2:$B$9</c:f>
              <c:numCache>
                <c:formatCode>General</c:formatCode>
                <c:ptCount val="8"/>
                <c:pt idx="0">
                  <c:v>10</c:v>
                </c:pt>
                <c:pt idx="1">
                  <c:v>8</c:v>
                </c:pt>
                <c:pt idx="2">
                  <c:v>4.5</c:v>
                </c:pt>
                <c:pt idx="3">
                  <c:v>3.2</c:v>
                </c:pt>
                <c:pt idx="4">
                  <c:v>2.6</c:v>
                </c:pt>
                <c:pt idx="5">
                  <c:v>2.2</c:v>
                </c:pt>
                <c:pt idx="6">
                  <c:v>2.0</c:v>
                </c:pt>
                <c:pt idx="7">
                  <c:v>1.9</c:v>
                </c:pt>
              </c:numCache>
            </c:numRef>
          </c:val>
          <c:smooth/>
        </c:ser>
        <c:ser>
          <c:idx val="1"/>
          <c:order val="1"/>
          <c:tx>
            <c:strRef>
              <c:f>Sheet1!$C$1</c:f>
              <c:strCache>
                <c:ptCount val="1"/>
                <c:pt idx="0">
                  <c:v>Glucagón</c:v>
                </c:pt>
              </c:strCache>
            </c:strRef>
          </c:tx>
          <c:spPr>
            <a:ln w="44450">
              <a:solidFill>
                <a:srgbClr val="D35400"/>
              </a:solidFill>
            </a:ln>
          </c:spPr>
          <c:marker>
            <c:symbol val="none"/>
          </c:marker>
          <c:cat>
            <c:strRef>
              <c:f>Sheet1!$A$2:$A$9</c:f>
              <c:strCache>
                <c:ptCount val="8"/>
                <c:pt idx="0">
                  <c:v>Comida</c:v>
                </c:pt>
                <c:pt idx="1">
                  <c:v>2 h</c:v>
                </c:pt>
                <c:pt idx="2">
                  <c:v>6 h</c:v>
                </c:pt>
                <c:pt idx="3">
                  <c:v>12 h</c:v>
                </c:pt>
                <c:pt idx="4">
                  <c:v>24 h</c:v>
                </c:pt>
                <c:pt idx="5">
                  <c:v>48 h</c:v>
                </c:pt>
                <c:pt idx="6">
                  <c:v>3 d</c:v>
                </c:pt>
                <c:pt idx="7">
                  <c:v>5 d</c:v>
                </c:pt>
              </c:strCache>
            </c:strRef>
          </c:cat>
          <c:val>
            <c:numRef>
              <c:f>Sheet1!$C$2:$C$9</c:f>
              <c:numCache>
                <c:formatCode>General</c:formatCode>
                <c:ptCount val="8"/>
                <c:pt idx="0">
                  <c:v>3</c:v>
                </c:pt>
                <c:pt idx="1">
                  <c:v>3.2</c:v>
                </c:pt>
                <c:pt idx="2">
                  <c:v>4.5</c:v>
                </c:pt>
                <c:pt idx="3">
                  <c:v>5.5</c:v>
                </c:pt>
                <c:pt idx="4">
                  <c:v>6.3</c:v>
                </c:pt>
                <c:pt idx="5">
                  <c:v>6.8</c:v>
                </c:pt>
                <c:pt idx="6">
                  <c:v>6.9</c:v>
                </c:pt>
                <c:pt idx="7">
                  <c:v>6.9</c:v>
                </c:pt>
              </c:numCache>
            </c:numRef>
          </c:val>
          <c:smooth/>
        </c:ser>
        <c:ser>
          <c:idx val="2"/>
          <c:order val="2"/>
          <c:tx>
            <c:strRef>
              <c:f>Sheet1!$D$1</c:f>
              <c:strCache>
                <c:ptCount val="1"/>
                <c:pt idx="0">
                  <c:v>AG no esterificados</c:v>
                </c:pt>
              </c:strCache>
            </c:strRef>
          </c:tx>
          <c:spPr>
            <a:ln w="44450">
              <a:solidFill>
                <a:srgbClr val="D4AC0D"/>
              </a:solidFill>
            </a:ln>
          </c:spPr>
          <c:marker>
            <c:symbol val="none"/>
          </c:marker>
          <c:cat>
            <c:strRef>
              <c:f>Sheet1!$A$2:$A$9</c:f>
              <c:strCache>
                <c:ptCount val="8"/>
                <c:pt idx="0">
                  <c:v>Comida</c:v>
                </c:pt>
                <c:pt idx="1">
                  <c:v>2 h</c:v>
                </c:pt>
                <c:pt idx="2">
                  <c:v>6 h</c:v>
                </c:pt>
                <c:pt idx="3">
                  <c:v>12 h</c:v>
                </c:pt>
                <c:pt idx="4">
                  <c:v>24 h</c:v>
                </c:pt>
                <c:pt idx="5">
                  <c:v>48 h</c:v>
                </c:pt>
                <c:pt idx="6">
                  <c:v>3 d</c:v>
                </c:pt>
                <c:pt idx="7">
                  <c:v>5 d</c:v>
                </c:pt>
              </c:strCache>
            </c:strRef>
          </c:cat>
          <c:val>
            <c:numRef>
              <c:f>Sheet1!$D$2:$D$9</c:f>
              <c:numCache>
                <c:formatCode>General</c:formatCode>
                <c:ptCount val="8"/>
                <c:pt idx="0">
                  <c:v>2</c:v>
                </c:pt>
                <c:pt idx="1">
                  <c:v>1.6</c:v>
                </c:pt>
                <c:pt idx="2">
                  <c:v>3.2</c:v>
                </c:pt>
                <c:pt idx="3">
                  <c:v>4.8</c:v>
                </c:pt>
                <c:pt idx="4">
                  <c:v>6.4</c:v>
                </c:pt>
                <c:pt idx="5">
                  <c:v>7.6</c:v>
                </c:pt>
                <c:pt idx="6">
                  <c:v>8.2</c:v>
                </c:pt>
                <c:pt idx="7">
                  <c:v>8.4</c:v>
                </c:pt>
              </c:numCache>
            </c:numRef>
          </c:val>
          <c:smooth/>
        </c:ser>
        <c:ser>
          <c:idx val="3"/>
          <c:order val="3"/>
          <c:tx>
            <c:strRef>
              <c:f>Sheet1!$E$1</c:f>
              <c:strCache>
                <c:ptCount val="1"/>
                <c:pt idx="0">
                  <c:v>Cuerpos cetónicos</c:v>
                </c:pt>
              </c:strCache>
            </c:strRef>
          </c:tx>
          <c:spPr>
            <a:ln w="44450">
              <a:solidFill>
                <a:srgbClr val="C2185B"/>
              </a:solidFill>
            </a:ln>
          </c:spPr>
          <c:marker>
            <c:symbol val="none"/>
          </c:marker>
          <c:cat>
            <c:strRef>
              <c:f>Sheet1!$A$2:$A$9</c:f>
              <c:strCache>
                <c:ptCount val="8"/>
                <c:pt idx="0">
                  <c:v>Comida</c:v>
                </c:pt>
                <c:pt idx="1">
                  <c:v>2 h</c:v>
                </c:pt>
                <c:pt idx="2">
                  <c:v>6 h</c:v>
                </c:pt>
                <c:pt idx="3">
                  <c:v>12 h</c:v>
                </c:pt>
                <c:pt idx="4">
                  <c:v>24 h</c:v>
                </c:pt>
                <c:pt idx="5">
                  <c:v>48 h</c:v>
                </c:pt>
                <c:pt idx="6">
                  <c:v>3 d</c:v>
                </c:pt>
                <c:pt idx="7">
                  <c:v>5 d</c:v>
                </c:pt>
              </c:strCache>
            </c:strRef>
          </c:cat>
          <c:val>
            <c:numRef>
              <c:f>Sheet1!$E$2:$E$9</c:f>
              <c:numCache>
                <c:formatCode>General</c:formatCode>
                <c:ptCount val="8"/>
                <c:pt idx="0">
                  <c:v>0.3</c:v>
                </c:pt>
                <c:pt idx="1">
                  <c:v>0.3</c:v>
                </c:pt>
                <c:pt idx="2">
                  <c:v>0.6</c:v>
                </c:pt>
                <c:pt idx="3">
                  <c:v>1.2</c:v>
                </c:pt>
                <c:pt idx="4">
                  <c:v>2.8</c:v>
                </c:pt>
                <c:pt idx="5">
                  <c:v>5.0</c:v>
                </c:pt>
                <c:pt idx="6">
                  <c:v>7.6</c:v>
                </c:pt>
                <c:pt idx="7">
                  <c:v>8.8</c:v>
                </c:pt>
              </c:numCache>
            </c:numRef>
          </c:val>
          <c:smooth/>
        </c:ser>
        <c:marker val="1"/>
        <c:smooth val="0"/>
        <c:axId val="2118791784"/>
        <c:axId val="2140495176"/>
      </c:lineChart>
      <c:catAx>
        <c:axId val="2118791784"/>
        <c:scaling>
          <c:orientation val="minMax"/>
        </c:scaling>
        <c:delete val="0"/>
        <c:axPos val="b"/>
        <c:majorTickMark val="out"/>
        <c:minorTickMark val="none"/>
        <c:tickLblPos val="nextTo"/>
        <c:spPr>
          <a:ln>
            <a:solidFill>
              <a:srgbClr val="1E1E1E"/>
            </a:solidFill>
          </a:ln>
        </c:spPr>
        <c:txPr>
          <a:bodyPr/>
          <a:lstStyle/>
          <a:p>
            <a:pPr>
              <a:defRPr sz="1300">
                <a:latin typeface="Bahnschrift"/>
              </a:defRPr>
            </a:pPr>
          </a:p>
        </c:txPr>
        <c:crossAx val="2140495176"/>
        <c:crosses val="autoZero"/>
        <c:auto val="1"/>
        <c:lblAlgn val="ctr"/>
        <c:lblOffset val="100"/>
        <c:noMultiLvlLbl val="0"/>
      </c:catAx>
      <c:valAx>
        <c:axId val="2140495176"/>
        <c:scaling>
          <c:min val="0.0"/>
        </c:scaling>
        <c:delete val="0"/>
        <c:axPos val="l"/>
        <c:majorGridlines>
          <c:spPr>
            <a:ln>
              <a:solidFill>
                <a:srgbClr val="D9B8A5"/>
              </a:solidFill>
            </a:ln>
          </c:spPr>
        </c:majorGridlines>
        <c:title>
          <c:tx>
            <c:rich>
              <a:bodyPr/>
              <a:lstStyle/>
              <a:p>
                <a:r>
                  <a:rPr sz="1300" b="1">
                    <a:latin typeface="Bahnschrift"/>
                  </a:rPr>
                  <a:t>Nivel relativo (sin escala)</a:t>
                </a:r>
              </a:p>
            </c:rich>
          </c:tx>
          <c:layout/>
          <c:overlay val="0"/>
        </c:title>
        <c:majorTickMark val="out"/>
        <c:minorTickMark val="none"/>
        <c:tickLblPos val="none"/>
        <c:spPr>
          <a:ln>
            <a:solidFill>
              <a:srgbClr val="1E1E1E"/>
            </a:solidFill>
          </a:ln>
        </c:spPr>
        <c:txPr>
          <a:bodyPr/>
          <a:lstStyle/>
          <a:p>
            <a:pPr>
              <a:defRPr sz="1200">
                <a:latin typeface="Bahnschrift"/>
              </a:defRPr>
            </a:pPr>
          </a:p>
        </c:txPr>
        <c:crossAx val="2118791784"/>
        <c:crosses val="autoZero"/>
      </c:valAx>
    </c:plotArea>
    <c:legend>
      <c:legendPos val="b"/>
      <c:layout/>
      <c:overlay val="0"/>
      <c:txPr>
        <a:bodyPr/>
        <a:lstStyle/>
        <a:p>
          <a:pPr>
            <a:defRPr sz="1300">
              <a:latin typeface="Bahnschrift"/>
            </a:defRPr>
          </a:pPr>
        </a:p>
      </c:txPr>
    </c:legend>
    <c:plotVisOnly val="1"/>
    <c:dispBlanksAs val="gap"/>
    <c:showDLblsOverMax val="0"/>
  </c:chart>
  <c:spPr>
    <a:solidFill>
      <a:srgbClr val="FFFFFF">
        <a:alpha val="55000"/>
      </a:srgbClr>
    </a:solidFill>
    <a:ln w="15875">
      <a:solidFill>
        <a:srgbClr val="1E1E1E"/>
      </a:solidFill>
    </a:ln>
  </c:spPr>
  <c:txPr>
    <a:bodyPr/>
    <a:lstStyle/>
    <a:p>
      <a:pPr>
        <a:defRPr sz="1300">
          <a:latin typeface="Bahnschrift"/>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areaChart>
        <c:grouping val="stacked"/>
        <c:varyColors val="0"/>
        <c:ser>
          <c:idx val="0"/>
          <c:order val="0"/>
          <c:tx>
            <c:strRef>
              <c:f>Sheet1!$B$1</c:f>
              <c:strCache>
                <c:ptCount val="1"/>
                <c:pt idx="0">
                  <c:v>Glucosa</c:v>
                </c:pt>
              </c:strCache>
            </c:strRef>
          </c:tx>
          <c:spPr>
            <a:solidFill>
              <a:srgbClr val="3B82C4"/>
            </a:solidFill>
            <a:ln w="9525">
              <a:solidFill>
                <a:srgbClr val="1E1E1E"/>
              </a:solidFill>
            </a:ln>
          </c:spPr>
          <c:cat>
            <c:strRef>
              <c:f>Sheet1!$A$2:$A$8</c:f>
              <c:strCache>
                <c:ptCount val="7"/>
                <c:pt idx="0">
                  <c:v>Alimentado</c:v>
                </c:pt>
                <c:pt idx="1">
                  <c:v>12 h</c:v>
                </c:pt>
                <c:pt idx="2">
                  <c:v>24 h</c:v>
                </c:pt>
                <c:pt idx="3">
                  <c:v>48 h</c:v>
                </c:pt>
                <c:pt idx="4">
                  <c:v>3 d</c:v>
                </c:pt>
                <c:pt idx="5">
                  <c:v>5 d</c:v>
                </c:pt>
                <c:pt idx="6">
                  <c:v>2–3 sem</c:v>
                </c:pt>
              </c:strCache>
            </c:strRef>
          </c:cat>
          <c:val>
            <c:numRef>
              <c:f>Sheet1!$B$2:$B$8</c:f>
              <c:numCache>
                <c:formatCode>General</c:formatCode>
                <c:ptCount val="7"/>
                <c:pt idx="0">
                  <c:v>100</c:v>
                </c:pt>
                <c:pt idx="1">
                  <c:v>99</c:v>
                </c:pt>
                <c:pt idx="2">
                  <c:v>95</c:v>
                </c:pt>
                <c:pt idx="3">
                  <c:v>85</c:v>
                </c:pt>
                <c:pt idx="4">
                  <c:v>72</c:v>
                </c:pt>
                <c:pt idx="5">
                  <c:v>55</c:v>
                </c:pt>
                <c:pt idx="6">
                  <c:v>35</c:v>
                </c:pt>
              </c:numCache>
            </c:numRef>
          </c:val>
        </c:ser>
        <c:ser>
          <c:idx val="1"/>
          <c:order val="1"/>
          <c:tx>
            <c:strRef>
              <c:f>Sheet1!$C$1</c:f>
              <c:strCache>
                <c:ptCount val="1"/>
                <c:pt idx="0">
                  <c:v>Cuerpos cetónicos</c:v>
                </c:pt>
              </c:strCache>
            </c:strRef>
          </c:tx>
          <c:spPr>
            <a:solidFill>
              <a:srgbClr val="C2185B"/>
            </a:solidFill>
            <a:ln w="9525">
              <a:solidFill>
                <a:srgbClr val="1E1E1E"/>
              </a:solidFill>
            </a:ln>
          </c:spPr>
          <c:cat>
            <c:strRef>
              <c:f>Sheet1!$A$2:$A$8</c:f>
              <c:strCache>
                <c:ptCount val="7"/>
                <c:pt idx="0">
                  <c:v>Alimentado</c:v>
                </c:pt>
                <c:pt idx="1">
                  <c:v>12 h</c:v>
                </c:pt>
                <c:pt idx="2">
                  <c:v>24 h</c:v>
                </c:pt>
                <c:pt idx="3">
                  <c:v>48 h</c:v>
                </c:pt>
                <c:pt idx="4">
                  <c:v>3 d</c:v>
                </c:pt>
                <c:pt idx="5">
                  <c:v>5 d</c:v>
                </c:pt>
                <c:pt idx="6">
                  <c:v>2–3 sem</c:v>
                </c:pt>
              </c:strCache>
            </c:strRef>
          </c:cat>
          <c:val>
            <c:numRef>
              <c:f>Sheet1!$C$2:$C$8</c:f>
              <c:numCache>
                <c:formatCode>General</c:formatCode>
                <c:ptCount val="7"/>
                <c:pt idx="0">
                  <c:v>0</c:v>
                </c:pt>
                <c:pt idx="1">
                  <c:v>1</c:v>
                </c:pt>
                <c:pt idx="2">
                  <c:v>5</c:v>
                </c:pt>
                <c:pt idx="3">
                  <c:v>15</c:v>
                </c:pt>
                <c:pt idx="4">
                  <c:v>28</c:v>
                </c:pt>
                <c:pt idx="5">
                  <c:v>45</c:v>
                </c:pt>
                <c:pt idx="6">
                  <c:v>65</c:v>
                </c:pt>
              </c:numCache>
            </c:numRef>
          </c:val>
        </c:ser>
        <c:dLbls>
          <c:showLegendKey val="0"/>
          <c:showVal val="0"/>
          <c:showCatName val="0"/>
          <c:showSerName val="0"/>
          <c:showPercent val="0"/>
          <c:showBubbleSize val="0"/>
        </c:dLbls>
        <c:axId val="-2101159928"/>
        <c:axId val="-2100718248"/>
      </c:areaChart>
      <c:catAx>
        <c:axId val="-2101159928"/>
        <c:scaling>
          <c:orientation val="minMax"/>
        </c:scaling>
        <c:delete val="0"/>
        <c:axPos val="b"/>
        <c:numFmt formatCode="General" sourceLinked="1"/>
        <c:majorTickMark val="out"/>
        <c:minorTickMark val="none"/>
        <c:tickLblPos val="nextTo"/>
        <c:spPr>
          <a:ln>
            <a:solidFill>
              <a:srgbClr val="1E1E1E"/>
            </a:solidFill>
          </a:ln>
        </c:spPr>
        <c:txPr>
          <a:bodyPr/>
          <a:lstStyle/>
          <a:p>
            <a:pPr>
              <a:defRPr sz="1300">
                <a:latin typeface="Bahnschrift"/>
              </a:defRPr>
            </a:pPr>
          </a:p>
        </c:txPr>
        <c:crossAx val="-2100718248"/>
        <c:crosses val="autoZero"/>
        <c:auto val="1"/>
        <c:lblAlgn val="ctr"/>
        <c:lblOffset val="100"/>
        <c:noMultiLvlLbl val="0"/>
      </c:catAx>
      <c:valAx>
        <c:axId val="-2100718248"/>
        <c:scaling>
          <c:orientation val="minMax"/>
          <c:max val="100.0"/>
          <c:min val="0.0"/>
        </c:scaling>
        <c:delete val="0"/>
        <c:axPos val="l"/>
        <c:majorGridlines>
          <c:spPr>
            <a:ln>
              <a:solidFill>
                <a:srgbClr val="D9B8A5"/>
              </a:solidFill>
            </a:ln>
          </c:spPr>
        </c:majorGridlines>
        <c:title>
          <c:tx>
            <c:rich>
              <a:bodyPr/>
              <a:lstStyle/>
              <a:p>
                <a:r>
                  <a:rPr sz="1300" b="1">
                    <a:latin typeface="Bahnschrift"/>
                  </a:rPr>
                  <a:t>Proporción relativa del combustible cerebral</a:t>
                </a:r>
              </a:p>
            </c:rich>
          </c:tx>
          <c:layout/>
          <c:overlay val="0"/>
        </c:title>
        <c:numFmt formatCode="General" sourceLinked="1"/>
        <c:majorTickMark val="out"/>
        <c:minorTickMark val="none"/>
        <c:tickLblPos val="none"/>
        <c:spPr>
          <a:ln>
            <a:solidFill>
              <a:srgbClr val="1E1E1E"/>
            </a:solidFill>
          </a:ln>
        </c:spPr>
        <c:txPr>
          <a:bodyPr/>
          <a:lstStyle/>
          <a:p>
            <a:pPr>
              <a:defRPr sz="1200">
                <a:latin typeface="Bahnschrift"/>
              </a:defRPr>
            </a:pPr>
          </a:p>
        </c:txPr>
        <c:crossAx val="-2101159928"/>
        <c:crosses val="autoZero"/>
        <c:crossBetween val="midCat"/>
      </c:valAx>
    </c:plotArea>
    <c:legend>
      <c:legendPos val="b"/>
      <c:layout/>
      <c:overlay val="0"/>
      <c:txPr>
        <a:bodyPr/>
        <a:lstStyle/>
        <a:p>
          <a:pPr>
            <a:defRPr sz="1300">
              <a:latin typeface="Bahnschrift"/>
            </a:defRPr>
          </a:pPr>
        </a:p>
      </c:txPr>
    </c:legend>
    <c:plotVisOnly val="1"/>
    <c:dispBlanksAs val="zero"/>
    <c:showDLblsOverMax val="0"/>
  </c:chart>
  <c:spPr>
    <a:solidFill>
      <a:srgbClr val="FFFFFF">
        <a:alpha val="55000"/>
      </a:srgbClr>
    </a:solidFill>
    <a:ln w="15875">
      <a:solidFill>
        <a:srgbClr val="1E1E1E"/>
      </a:solidFill>
    </a:ln>
  </c:spPr>
  <c:txPr>
    <a:bodyPr/>
    <a:lstStyle/>
    <a:p>
      <a:pPr>
        <a:defRPr sz="1300">
          <a:latin typeface="Bahnschrift"/>
        </a:defRPr>
      </a:pPr>
      <a:endParaRP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Excreción de N / urea (relativa)</c:v>
                </c:pt>
              </c:strCache>
            </c:strRef>
          </c:tx>
          <c:spPr>
            <a:ln w="44450">
              <a:solidFill>
                <a:srgbClr val="0F7C7C"/>
              </a:solidFill>
            </a:ln>
          </c:spPr>
          <c:marker>
            <c:symbol val="none"/>
          </c:marker>
          <c:cat>
            <c:strRef>
              <c:f>Sheet1!$A$2:$A$8</c:f>
              <c:strCache>
                <c:ptCount val="7"/>
                <c:pt idx="0">
                  <c:v>Día 1</c:v>
                </c:pt>
                <c:pt idx="1">
                  <c:v>Día 2</c:v>
                </c:pt>
                <c:pt idx="2">
                  <c:v>Día 3</c:v>
                </c:pt>
                <c:pt idx="3">
                  <c:v>Día 5</c:v>
                </c:pt>
                <c:pt idx="4">
                  <c:v>Semana 2</c:v>
                </c:pt>
                <c:pt idx="5">
                  <c:v>Semana 4</c:v>
                </c:pt>
                <c:pt idx="6">
                  <c:v>Agotamiento de grasa</c:v>
                </c:pt>
              </c:strCache>
            </c:strRef>
          </c:cat>
          <c:val>
            <c:numRef>
              <c:f>Sheet1!$B$2:$B$8</c:f>
              <c:numCache>
                <c:formatCode>General</c:formatCode>
                <c:ptCount val="7"/>
                <c:pt idx="0">
                  <c:v>6</c:v>
                </c:pt>
                <c:pt idx="1">
                  <c:v>9</c:v>
                </c:pt>
                <c:pt idx="2">
                  <c:v>8</c:v>
                </c:pt>
                <c:pt idx="3">
                  <c:v>6</c:v>
                </c:pt>
                <c:pt idx="4">
                  <c:v>4</c:v>
                </c:pt>
                <c:pt idx="5">
                  <c:v>3.2</c:v>
                </c:pt>
                <c:pt idx="6">
                  <c:v>8</c:v>
                </c:pt>
              </c:numCache>
            </c:numRef>
          </c:val>
          <c:smooth/>
        </c:ser>
        <c:marker val="1"/>
        <c:smooth val="0"/>
        <c:axId val="2118791784"/>
        <c:axId val="2140495176"/>
      </c:lineChart>
      <c:catAx>
        <c:axId val="2118791784"/>
        <c:scaling>
          <c:orientation val="minMax"/>
        </c:scaling>
        <c:delete val="0"/>
        <c:axPos val="b"/>
        <c:majorTickMark val="out"/>
        <c:minorTickMark val="none"/>
        <c:tickLblPos val="nextTo"/>
        <c:spPr>
          <a:ln>
            <a:solidFill>
              <a:srgbClr val="1E1E1E"/>
            </a:solidFill>
          </a:ln>
        </c:spPr>
        <c:txPr>
          <a:bodyPr/>
          <a:lstStyle/>
          <a:p>
            <a:pPr>
              <a:defRPr sz="1300">
                <a:latin typeface="Bahnschrift"/>
              </a:defRPr>
            </a:pPr>
          </a:p>
        </c:txPr>
        <c:crossAx val="2140495176"/>
        <c:crosses val="autoZero"/>
        <c:auto val="1"/>
        <c:lblAlgn val="ctr"/>
        <c:lblOffset val="100"/>
        <c:noMultiLvlLbl val="0"/>
      </c:catAx>
      <c:valAx>
        <c:axId val="2140495176"/>
        <c:scaling>
          <c:max val="10.0"/>
          <c:min val="0.0"/>
        </c:scaling>
        <c:delete val="0"/>
        <c:axPos val="l"/>
        <c:majorGridlines>
          <c:spPr>
            <a:ln>
              <a:solidFill>
                <a:srgbClr val="D9B8A5"/>
              </a:solidFill>
            </a:ln>
          </c:spPr>
        </c:majorGridlines>
        <c:title>
          <c:tx>
            <c:rich>
              <a:bodyPr/>
              <a:lstStyle/>
              <a:p>
                <a:r>
                  <a:rPr sz="1300" b="1">
                    <a:latin typeface="Bahnschrift"/>
                  </a:rPr>
                  <a:t>Nivel relativo (esquema)</a:t>
                </a:r>
              </a:p>
            </c:rich>
          </c:tx>
          <c:layout/>
          <c:overlay val="0"/>
        </c:title>
        <c:majorTickMark val="out"/>
        <c:minorTickMark val="none"/>
        <c:tickLblPos val="none"/>
        <c:spPr>
          <a:ln>
            <a:solidFill>
              <a:srgbClr val="1E1E1E"/>
            </a:solidFill>
          </a:ln>
        </c:spPr>
        <c:txPr>
          <a:bodyPr/>
          <a:lstStyle/>
          <a:p>
            <a:pPr>
              <a:defRPr sz="1200">
                <a:latin typeface="Bahnschrift"/>
              </a:defRPr>
            </a:pPr>
          </a:p>
        </c:txPr>
        <c:crossAx val="2118791784"/>
        <c:crosses val="autoZero"/>
      </c:valAx>
    </c:plotArea>
    <c:plotVisOnly val="1"/>
    <c:dispBlanksAs val="gap"/>
    <c:showDLblsOverMax val="0"/>
  </c:chart>
  <c:spPr>
    <a:solidFill>
      <a:srgbClr val="FFFFFF">
        <a:alpha val="55000"/>
      </a:srgbClr>
    </a:solidFill>
    <a:ln w="15875">
      <a:solidFill>
        <a:srgbClr val="1E1E1E"/>
      </a:solidFill>
    </a:ln>
  </c:spPr>
  <c:txPr>
    <a:bodyPr/>
    <a:lstStyle/>
    <a:p>
      <a:pPr>
        <a:defRPr sz="1300">
          <a:latin typeface="Bahnschrift"/>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Portada. La clase recorre cómo un aporte discontinuo de alimentos se transforma en una provisión continua de ATP y cómo se coordinan intestino, hígado, tejido adiposo, músculo, cerebro, riñón y sangre en el estado alimentado, el ayuno de duración creciente y diversas situaciones patológicas.</a:t>
            </a:r>
          </a:p>
          <a:p>
            <a:r>
              <a:t>Estructura: seis unidades (fundamentos y estado alimentado; ayuno y ciclos interorgánicos; lípidos, colesterol y control génico; nitrógeno, riñón y homeostasis energética; integración en patología; casos clínicos y sistematización).</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Índice visual. Las unidades siguen una lógica fisiológica: primero la abundancia (estado alimentado), luego la carencia progresiva (ayuno), después los grandes ejes del metabolismo lipídico y nitrogenado, y finalmente su ruptura en la enfermedad y en casos clínicos. Los 43 temas se distribuyen en estas seis unidades sin omitir contenidos.</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Código visual. Se mantiene en todas las diapositivas: verde = activación, rojo = inhibición, azul = transporte, amarillo = intermediarios energéticos. Las moléculas conservan siempre el mismo color para poder seguirlas entre órganos (por ejemplo, el lactato es siempre violeta y la glutamina verde azulado). Las enzimas reguladoras aparecen como píldoras blancas, de modo que el estudiante pueda localizar el paso que "decide" el flujo.</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Mapa general. La integración metabólica consiste en el intercambio continuo de sustratos a través de la sangre: glucosa y aminoácidos llegan desde el intestino por la vena porta; el hígado almacena, transforma y exporta; el tejido adiposo libera ácidos grasos y glicerol cuando cae la insulina; el músculo intercambia lactato, alanina y glutamina; el cerebro consume glucosa y, en ayuno prolongado, cuerpos cetónicos; el riñón filtra urea, produce glucosa y amonio.</a:t>
            </a:r>
          </a:p>
          <a:p>
            <a:r>
              <a:t>Clave didáctica: el tejido que usa un combustible determina qué queda disponible para el resto. Distinguir siempre carbono (glucosa, lactato, glicerol, acetil-CoA, cuerpos cetónicos) de nitrógeno (alanina, glutamina, NH4+, urea).</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I. Se construye el lenguaje común de la clase: diferencia entre alimentación, nutrición y metabolismo; concepto de flujo; fases del ciclo alimentación–ayuno; y la respuesta integrada a una comida, desde el sensor pancreático hasta cada tejido.</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Tres conceptos que no deben confundirse. La alimentación es una conducta (qué, cuánto y cuándo se come) regulada por circuitos hipotalámicos, de recompensa y sociales. La nutrición abarca los procesos fisiológicos posteriores: digestión, absorción, transporte, incorporación tisular, utilización y eliminación. El metabolismo es el conjunto de reacciones químicas intracelulares, acopladas a transferencia de materia (carbono, nitrógeno), energía (ATP, poder reductor) e información (señales hormonales y metabólicas).</a:t>
            </a:r>
          </a:p>
          <a:p>
            <a:r>
              <a:t>Ejemplo oral: una persona puede alimentarse en exceso y aun así estar malnutrida si la absorción o la utilización de nutrientes están alteradas.</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Una comida entrega energía química, material estructural y señales. El organismo transforma un aporte discontinuo (comidas) en una provisión continua de ATP alternando dos objetivos: en la abundancia oxida una parte y almacena otra; en la carencia moviliza reservas y defiende sustratos obligatorios. El gráfico es conceptual (sin escala): las ingestas son picos, mientras que la disponibilidad de ATP se mantiene prácticamente constante gracias a la regulación interorgánica.</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energía no se crea: el carbono de la dieta termina como CO2, glucógeno, TAG, colesterol, proteínas u otros intermediarios; el nitrógeno aminoacídico se redistribuye o se elimina, principalmente como urea y NH4+.</a:t>
            </a:r>
          </a:p>
          <a:p>
            <a:r>
              <a:t>Idea central de toda la clase: la regulación actúa sobre FLUJOS (moléculas por unidad de tiempo) y no solo sobre concentraciones. Un tanque con nivel constante puede tener entrada y salida muy grandes o muy pequeñas. Así, una glucemia normal no informa por sí sola si el hígado produce mucha o poca glucosa; una trigliceridemia elevada puede reflejar aumento de secreción de VLDL, menor depuración por LPL o ambas cosas.</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Los seis niveles de integración funcionan con escalas temporales distintas: la disponibilidad de sustratos y los sensores (relación ATP/AMP, malonil-CoA, acetil-CoA) actúan de inmediato; la regulación alostérica y covalente (fosforilación por PKA, AMPK, Akt) en segundos a minutos; la transcripción en horas a días; el intercambio entre órganos acopla tejidos; y el hipotálamo coordina conducta alimentaria y gasto energético.</a:t>
            </a:r>
          </a:p>
          <a:p>
            <a:r>
              <a:t>Esta jerarquía se usará para responder siempre: ¿qué señal?, ¿dónde?, ¿qué enzima decide?, ¿a dónde va el carbono o el nitrógeno?, ¿qué pasa si falla?</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 existe una frontera horaria universal. Una clasificación didáctica razonable: ingesta y absorción activa 0–4 h (con superposición), posprandial 0–6 h, posabsortivo o ayuno temprano 4–12 h, ayuno intermedio 12–48 h y ayuno prolongado &gt;48–72 h; la inanición sostenida se refiere a períodos más extensos de déficit energético. Las barras se superponen a propósito. En guías locales los cortes pueden variar: interpretarlos como orientadores. Lo que caracteriza el cambio de fase es la dirección de los flujos (captar frente a liberar glucosa, almacenar frente a movilizar lípidos) y la relación insulina/glucagón.</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0–4 h: suben glucosa, aminoácidos e incretinas; aumenta la insulina y baja la relación glucagón/insulina; el hígado realiza glucogenogénesis y glucólisis, el músculo capta glucosa y sintetiza glucógeno, el adipocito esterifica ácidos grasos. Los quilomicrones aparecen después de la absorción intestinal de grasa.</a:t>
            </a:r>
          </a:p>
          <a:p>
            <a:r>
              <a:t>4–12 h: cae el flujo intestinal, baja la insulina y el hígado pasa gradualmente de captar glucosa a liberarla; predomina al principio la glucogenólisis y crece la contribución gluconeogénica desde lactato, glicerol y alanina.</a:t>
            </a:r>
          </a:p>
          <a:p>
            <a:r>
              <a:t>12–48 h: el glucógeno hepático disminuye significativamente; aumenta el porcentaje de glucosa nueva producida por hígado y corteza renal; la β-oxidación aporta la energía hepática para la gluconeogénesis; aumentan cetogénesis y lipólisis; la proteólisis aporta nitrógeno y carbonos gluconeogénicos.</a:t>
            </a:r>
          </a:p>
          <a:p>
            <a:r>
              <a:t>&gt;3 días: los cuerpos cetónicos adquieren un papel creciente en el SNC y disminuye la necesidad de producir glucosa a expensas de proteína muscular; el riñón incrementa gluconeogénesis y amoniogénesis. La necesidad de glucosa no desaparece: eritrocitos y otras células dependen de la glucólisis.</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Gráfico conceptual de tendencias (no son valores medidos ni promedios obligatorios; el eje vertical no tiene escala). Tras una comida predomina la insulina; con el ayuno disminuye y aumenta la relación glucagón/insulina. Los ácidos grasos no esterificados ascienden al liberarse el freno antilipolítico, y los cuerpos cetónicos aumentan más tardíamente, alcanzando valores relevantes a partir de las 24–48 h y sosteniéndose en el ayuno prolongado. Insistir: el ayuno no es sinónimo de cetosis patológica; la insulina residual frena la lipólisis y la cetogénesis excesivas (diferencia con la cetoacidosis diabética).</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2 (destino de la glucosa). Primera escena: la glucosa absorbida en el intestino (SGLT1 apical, GLUT2 basolateral) entra en la vena porta y alcanza el hígado antes que cualquier otro órgano. El hígado capta una fracción variable según la carga y el estado hormonal; el resto llega a la circulación sistémica.</a:t>
            </a:r>
          </a:p>
          <a:p>
            <a:r>
              <a:t>Las fichas azules (glucosa) se desplazan mediante trayectorias de movimiento reales. La transición siguiente es Morph: el hígado se agranda y aparece el hepatocito.</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hígado de la escena anterior se transforma (posición y tamaño) y aparece el hepatocito. GLUT2 es un transportador bidireccional de alta capacidad y baja afinidad: la entrada es proporcional a la glucemia portal. La glucocinasa (hexocinasa IV) tiene Km aparente alto y no es inhibida por la G6P; en ayuno se secuestra en el núcleo unida a GKRP y se libera al citosol cuando sube la glucosa (y la fructosa-1-P). La fosforilación atrapa la glucosa como G6P, que es la encrucijada metabólica de la diapositiva siguiente.</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hepatocito ocupa ahora gran parte de la diapositiva y la G6P se ubica en el centro. Destinos en saciedad: (1) glucógeno, por glucógeno sintasa activada por desfosforilación; (2) glucólisis, favorecida por la fructosa-2,6-bisfosfato (activador de PFK-1) y la piruvato cinasa L desfosforilada; (3) vía de las pentosas fosfato (G6PDH) que genera NADPH para biosíntesis; (4) si persiste el excedente energético, piruvato → acetil-CoA → citrato, que sale al citosol y alimenta la lipogénesis (ATP-citrato liasa, ACC, FASN). La glucosa-6-fosfatasa no aporta glucosa a la sangre en este estado. Este es el "punto de bifurcación" que se regulará de modo opuesto en ayuno.</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músculo y tejido adiposo la captación de glucosa depende de la insulina: la unión al receptor (tirosina cinasa) produce autofosforilación, reclutamiento de IRS, activación de PI3K, formación de PIP3 y activación de Akt. Akt fosforila AS160 (TBC1D4), lo que permite que las vesículas intracelulares con GLUT4 se fusionen con la membrana plasmática (ampliación bibliográfica: Lehninger, cap. 12 y 23). La animación muestra primero la cascada, luego el desplazamiento de las vesículas y por último la entrada de glucosa por los GLUT4 recién insertados.</a:t>
            </a:r>
          </a:p>
          <a:p>
            <a:r>
              <a:t>En el músculo, la contracción moviliza GLUT4 por vías independientes de insulina (AMPK y Ca2+), por eso el ejercicio mejora la captación aun en resistencia insulínica.</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Los TAG dietarios se emulsifican con sales biliares y se hidrolizan por la lipasa pancreática (con colipasa) a 2-monoacilglicerol y ácidos grasos, que llegan al enterocito en micelas. En el retículo endoplasmático se reesterifican a TAG y se ensamblan con ApoB-48 por acción de la MTP, junto con fosfolípidos, colesterol y vitaminas liposolubles, formando quilomicrones (QM). Los QM salen por exocitosis basolateral a los quilíferos (linfa) y llegan a la sangre por el conducto torácico, evitando el primer paso hepático. Los ácidos grasos de cadena media siguen otra ruta (portal) que se analiza en el tema 17.</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la circulación los QM adquieren ApoC-II y ApoE desde las HDL. La ApoC-II activa la lipoproteína lipasa (LPL), anclada al endotelio capilar (vía GPIHBP1), que hidroliza los TAG del QM: los ácidos grasos se captan en músculo (oxidación) y adipocito (reesterificación y reserva), y el glicerol viaja sobre todo al hígado, que posee glicerol cinasa. El QM se transforma en remanente rico en colesterol, captado por el hígado mediante receptores que reconocen ApoE. La insulina aumenta la LPL del tejido adiposo en el estado alimentado. Precisión conceptual: los ácidos grasos no son "producidos" por el quilomicrón, se liberan de los TAG que transporta.</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Los aminoácidos llegan mayormente por la vena porta. Una parte se usa para proteínas hepáticas y plasmáticas; otra parte pasa al músculo y a otros tejidos. Los aminoácidos de cadena ramificada (leucina, isoleucina, valina) escapan en buena medida del hígado (baja actividad de su aminotransferasa hepática) y se metabolizan en el músculo.</a:t>
            </a:r>
          </a:p>
          <a:p>
            <a:r>
              <a:t>Los esqueletos carbonados ingresan como piruvato, acetil-CoA, α-cetoglutarato, succinil-CoA, fumarato u oxaloacetato (los que dan acetil-CoA no son gluconeogénicos netos). El nitrógeno se reutiliza o se elimina por el ciclo de la urea. No existe un depósito de aminoácidos análogo al glucógeno: el balance proteico es la diferencia entre síntesis y degradación.</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Conexión reguladora en saciedad: la insulina promueve almacenamiento (glucógeno, TAG) y síntesis proteica; la leucina activa mTORC1 cuando existe contexto energético y disponibilidad de otros aminoácidos; los metabolitos de la glucosa activan ChREBP y la señal insulínica favorece el procesamiento de SREBP-1c, ambos inductores de enzimas lipogénicas (ACC, FASN). Un exceso energético persistente puede aumentar la secreción hepática de VLDL. Estos factores se desarrollan en detalle en el tema 23.</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páncreas endocrino representa una fracción mínima del órgano (ampliación bibliográfica: Guyton y Hall, cap. 79). En el islote humano las células α, β y δ se encuentran entremezcladas (en roedores predomina un núcleo de β rodeado por α). La sangre venosa del islote drena en la vena porta, de modo que el hígado es el primer órgano blanco y recibe las concentraciones más altas de insulina y glucagón: por eso la relación insulina/glucagón portal es el gran regulador hepático. Precisión: el polipéptido pancreático (células PP) no es el mismo péptido que el PYY intestinal.</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Anatomía funcional de la célula β como sensor de glucosa. Componentes: transportadores GLUT (en humanos predominan GLUT1 y GLUT3 y puede participar GLUT2; en roedores se usa clásicamente GLUT2), la glucocinasa (hexocinasa IV), la mitocondria, los canales de potasio sensibles a ATP (KATP, formados por Kir6.2 y SUR1), los canales de calcio dependientes de voltaje y los gránulos de secreción con insulina.</a:t>
            </a:r>
          </a:p>
          <a:p>
            <a:r>
              <a:t>Esta escena se mantiene idéntica en las diapositivas siguientes (mismos nombres de objetos) para que la transición Morph muestre solo lo que cambia en cada paso de la secuencia.</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Pasos 1 y 2. Las fichas de glucosa aparecen en el medio extracelular y luego se desplazan (trayectorias de movimiento) hacia el transportador y lo atraviesan. La entrada por GLUT es difusión facilitada y en la célula β no es el paso limitante: la velocidad del sistema la fija la glucocinasa.</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 3. La glucocinasa fosforila la glucosa a glucosa-6-fosfato; su alta Km aparente y la ausencia de inhibición por producto hacen que la velocidad de fosforilación acompañe a la glucemia en el rango fisiológico, por eso se la considera el sensor que define el umbral secretor. El flujo glucolítico alimenta el ciclo de Krebs y la fosforilación oxidativa. En la célula β, glucólisis y metabolismo oxidativo son parte del sistema de detección de glucosa. Clínica: mutaciones inactivantes de glucocinasa elevan el umbral (hiperglucemia leve estable); activantes lo bajan (hipoglucemia por hiperinsulinismo).</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Pasos 4 y 5. El aumento del flujo oxidativo eleva la relación ATP/ADP. El ATP se une a la subunidad Kir6.2 e inhibe el canal, mientras disminuye el MgADP que lo activaba a través de SUR1: el canal KATP se cierra. En reposo (glucosa baja), la salida de K+ por KATP mantiene la membrana hiperpolarizada. La animación muestra primero la salida de K+ por el canal abierto, luego el aumento de ATP y finalmente el cambio visual del canal de abierto a cerrado.</a:t>
            </a:r>
          </a:p>
          <a:p>
            <a:r>
              <a:t>Farmacología: las sulfonilureas se unen a SUR1 y cierran KATP independientemente de la glucosa; el diazóxido lo abre. Defectos genéticos de Kir6.2/SUR1 alteran el umbral (diabetes neonatal o hiperinsulinismo congénito).</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 6. Al cerrarse KATP desaparece la principal conductancia hiperpolarizante; las corrientes despolarizantes de fondo llevan el potencial hacia valores menos negativos hasta el umbral de los canales dependientes de voltaje y se generan potenciales de acción en ráfagas. La animación invierte las cargas a ambos lados de la membrana para indicar el cambio eléctrico (representación didáctica: la inversión real es transitoria durante cada potencial de acción). El trazado es esquemático, sin escala.</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Pasos 7 y 8. La despolarización abre canales de calcio dependientes de voltaje y el Ca2+ ingresa desde el medio extracelular, donde su concentración es mucho mayor que en el citosol. La animación muestra primero el cambio del canal (cerrado → abierto) y luego el desplazamiento de los iones hacia el interior. El aumento de Ca2+ citosólico, sobre todo en microdominios cercanos a los sitios de liberación, activa la maquinaria SNARE/sinaptotagmina de la exocitosis (ampliación bibliográfica).</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Pasos 9 y 10. El Ca2+ desencadena la fusión de los gránulos con la membrana plasmática y la liberación de su contenido (insulina, péptido C y amilina). La animación desplaza los gránulos hasta la membrana, muestra su fusión (desaparición del gránulo) y la salida de insulina al espacio extracelular. El último clic representa la segunda fase: reclutamiento de nuevos gránulos desde el interior.</a:t>
            </a:r>
          </a:p>
          <a:p>
            <a:r>
              <a:t>Primera fase: liberación rápida de gránulos ya acoplados y preparados; segunda fase: reclutamiento y síntesis sostenida mientras persiste la hiperglucemia.</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Ante un aumento brusco y sostenido de glucosa, la secreción de insulina es bifásica: una primera fase rápida (minutos) a partir de gránulos ya preparados, seguida de una segunda fase progresiva por reclutamiento de gránulos y síntesis sostenida. El gráfico es esquemático (sin escala). La pérdida temprana de la primera fase es un rasgo característico de la disfunción β en la diabetes tipo 2 (ampliación bibliográfica). La acetilcolina vagal favorece la liberación, en especial durante la fase cefálica de la ingesta.</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Las incretinas GLP-1 (células L del íleon y colon) y GIP (células K del duodeno y yeyuno) se liberan ante la llegada de nutrientes. Sus receptores en la célula β están acoplados a Gs: aumentan el AMPc, que activa PKA y Epac2 y potencia la exocitosis de gránulos. Esta amplificación es dependiente de glucosa: con glucemia baja no estimulan una secreción significativa, lo que explica el bajo riesgo intrínseco de hipoglucemia de los agonistas del receptor de GLP-1. Efectos distintos sobre la célula α: GLP-1 tiende a suprimir el glucagón cuando la glucosa no está baja, mientras que GIP puede favorecerlo en determinadas glucemias.</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ayuno el menor metabolismo de glucosa reduce la relación ATP/ADP: los canales KATP permanecen relativamente abiertos, el K+ sale, la membrana se hiperpolariza, los canales de Ca2+ permanecen cerrados y la exocitosis disminuye. Sin embargo, existe una secreción basal de insulina indispensable para restringir la lipólisis y la cetogénesis extremas. En la diabetes tipo 1 la pérdida de insulina elimina este freno aun con abundante glucosa extracelular: el adipocito libera AG sin control y el hígado produce cuerpos cetónicos en exceso (cetoacidosis).</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célula α secreta glucagón en ayuno, estimulada por hipoglucemia, señales autonómicas (simpáticas y adrenalina) y aminoácidos. El mecanismo electrofisiológico es más complejo que una simple imagen especular de la célula β: intervienen distintas conductancias iónicas, cambios de excitabilidad y regulación paracrina por insulina, zinc, GABA y somatostatina.</a:t>
            </a:r>
          </a:p>
          <a:p>
            <a:r>
              <a:t>En saciedad la glucosa, la insulina y la somatostatina de las células δ frenan la secreción, pero una comida rica en proteínas puede elevar simultáneamente insulina y glucagón: la insulina favorece la captación de aminoácidos y el glucagón evita la hipoglucemia. Error frecuente: afirmar que el glucagón siempre baja después de comer.</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glucagón se une en el hepatocito a su receptor GCGR, acoplado a Gs. La subunidad αs·GTP activa la adenilato ciclasa, que convierte ATP en AMPc; el AMPc activa la proteína cinasa A (PKA). Blancos de PKA: (1) fosforilasa cinasa → glucógeno fosforilasa a (glucogenólisis); (2) glucógeno sintasa fosforilada e inactiva; (3) la enzima bifuncional PFK-2/FBPasa-2 hepática: la fosforilación reduce la fructosa-2,6-bisfosfato, lo que disminuye la glucólisis (PFK-1) y libera la FBPasa-1 (gluconeogénesis); (4) la piruvato cinasa L se inactiva; (5) CREB fosforilado (Ser133) con CRTC2 induce PCK1 y G6PC. Resultado: el hígado pasa a producir glucosa.</a:t>
            </a:r>
          </a:p>
          <a:p>
            <a:r>
              <a:t>Precisión: en el tejido adiposo humano la lipólisis depende sobre todo del descenso de la insulina y de las catecolaminas.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Relación hormona–receptor–vía. Insulina: receptor tirosina cinasa, IRS, PI3K–Akt (efectos metabólicos) y rama MAPK (crecimiento). Glucagón: GPCR acoplado a Gs, AMPc y PKA. Somatostatina: SSTR acoplado a Gi. Adrenalina: receptores α y β con efectos dependientes del tejido (β: Gs; α2: Gi, inhibe la secreción de insulina; α1: Gq). GLP-1 y GIP: GPCR acoplados a Gs. Cortisol: receptor intracelular que actúa como factor de transcripción. Mensaje: el cociente insulina/glucagón (sobre todo en sangre portal) determina la dirección del metabolismo hepático.</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Correlato clínico. Las mutaciones activadoras de glucocinasa o los defectos de KATP cambian el umbral secretor. Las mutaciones inactivantes heterocigotas de glucocinasa causan hiperglucemia leve y estable (MODY-GCK); las activantes, hipoglucemia por hiperinsulinismo. Las mutaciones de pérdida de función de Kir6.2/SUR1 producen hiperinsulinismo congénito; las de ganancia de función, diabetes neonatal tratable con sulfonilureas (ampliación bibliográfica). Las sulfonilureas cierran KATP independientemente de la glucosa y pueden causar hipoglucemia; los agonistas de GLP-1 potencian la insulina de forma dependiente de glucosa y modifican vaciamiento gástrico y saciedad.</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1: organismo completo → hígado → hepatocito → membrana → receptor de insulina → señalización intracelular. Las seis diapositivas comparten nombres de objetos («!!») para que la transición Morph realice un acercamiento continuo. En esta escena la insulina sale del páncreas hacia la vena porta y el hígado, y luego hacia músculo y tejido adiposo. Mensaje: la misma hormona genera respuestas distintas en cada tejido.</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la silueta se agranda hasta salir de la diapositiva y el hígado ocupa el centro. La sangre portal lleva insulina en concentraciones superiores a las periféricas, y una parte relevante se degrada en el primer paso hepático (ampliación bibliográfica). Por eso el hígado responde de manera especialmente sensible a la relación insulina/glucagón portal: reduce la producción endógena de glucosa, activa la síntesis de glucógeno y la lipogénesis.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hígado se reduce a un ícono y el hepatocito pasa al primer plano. La insulina llega a la cara sinusoidal del hepatocito (espacio de Disse). El resalte rojo señala la membrana donde se ubica el receptor, que se amplía en la diapositiva siguiente.</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hepatocito se amplía hasta que solo se ve su borde, donde aparece la membrana plasmática con el receptor de insulina. La bicapa separa el espacio de Disse (sangre sinusoidal) del citosol. El receptor es un tetrámero α2β2: las subunidades α son extracelulares y unen la hormona; las β atraviesan la membrana y contienen el dominio tirosina cinasa.</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unión de la insulina a las subunidades α provoca un cambio conformacional que activa la tirosina cinasa de las subunidades β, que se transfosforilan (autofosforilación). Las fosfotirosinas sirven de sitio de anclaje para los sustratos del receptor de insulina (IRS-1/2), que también se fosforilan en tirosinas y actúan como plataforma de reclutamiento de proteínas con dominios SH2 (PI3K, Grb2). La animación muestra la llegada de la hormona, la aparición de los fosfatos y el acoplamiento de IRS.</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Señalización intracelular: IRS fosforilado recluta la PI3K (clase IA), que convierte PIP2 en PIP3 en la cara interna de la membrana; PIP3 recluta PDK1 y Akt, y PDK1 (junto con mTORC2) activa Akt. Blancos de Akt: (1) AS160/TBC1D4 → translocación de GLUT4 en músculo y adiposo; (2) inhibición de GSK3 → glucógeno sintasa desfosforilada y activa; (3) fosforilación de FOXO1 → exclusión nuclear y menor transcripción de PCK1 (PEPCK) y G6PC; (4) activación de PDE3B → menor AMPc y menor actividad de PKA (antilipolítico en adipocito, antiglucogenolítico en hígado); (5) activación de mTORC1 → síntesis proteica y procesamiento de SREBP-1c. La rama Grb2–SOS–Ras–MAPK media efectos sobre crecimiento.</a:t>
            </a:r>
          </a:p>
          <a:p>
            <a:r>
              <a:t>La terminación de la señal (PTEN, PTP1B, fosforilación en serinas de IRS) es ampliación bibliográfica (Lehninger, Harper) y se relaciona con la resistencia a la insulina inducida por intermediarios lipídicos (tema 13).</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Transportadores de glucosa por difusión facilitada (familia GLUT, SLC2A) y cotransportador SGLT1 (SLC5A1). En la célula β humana predominan GLUT1 y GLUT3, con participación posible de GLUT2 (en roedores, GLUT2 es el clásico). GLUT5 (fructosa) y la descripción de afinidades son ampliación bibliográfica (Lehninger, Harper). Clave fisiológica: la captación hepática, neuronal y eritrocitaria no depende de insulina; la muscular y adiposa sí (GLUT4), y la contracción muscular la estimula por vías independientes.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patrón "pico a los 30 minutos y basal a las 2 horas" es un ejemplo, no una ley universal: depende de la carga glucémica, del estado físico (líquidos o sólidos), de las incretinas, de la sensibilidad a la insulina y del vaciamiento gástrico. El balance que determina la glucemia es la tasa de aparición (Ra: absorción intestinal + producción endógena) menos la tasa de desaparición (Rd: captación tisular). La curva dibujada es esquemática.</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Intestino e islote: la glucosa se absorbe por SGLT1 (apical, cotransporte con Na+) y sale por GLUT2 basolateral. Las células enteroendocrinas L y K secretan GLP-1 y GIP, y hay activación vagal (fase cefálica e intestinal). La célula β responde con un aumento bifásico de insulina; las células α ajustan el glucagón y las δ liberan somatostatina. La insulina reduce la producción endógena de glucosa y facilita la captación muscular y adiposa.</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el hígado la insulina "cierra la canilla" de glucosa endógena para no sumar glucosa propia a la absorbida. (1) Transcripción: Akt fosforila FOXO1, que sale del núcleo (la animación lo desplaza fuera), disminuyendo la transcripción de PCK1 (PEPCK) y G6PC (glucosa-6-fosfatasa). (2) Glucógeno: la activación de fosfatasas (PP1) desfosforila la glucógeno sintasa (activa) y la fosforilasa (inactiva). (3) Glucólisis: la caída de AMPc y la desfosforilación de la PFK-2/FBPasa-2 aumentan la fructosa-2,6-bisfosfato, que activa PFK-1 e inhibe FBPasa-1. Un defecto en la supresión hepática prolonga la hiperglucemia posprandial (resistencia hepática a la insulina).</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Tejidos periféricos ("abrir el sumidero"). Músculo: capta gran parte de la carga periférica de glucosa estimulada por insulina; GLUT4 transloca, la hexocinasa II retiene la glucosa como G6P, la glucógeno sintasa la almacena y la PDH (desfosforilada) deriva piruvato a acetil-CoA para oxidación. La contracción facilita GLUT4 por vías independientes de insulina (AMPK, Ca2+). Adiposo blanco: GLUT4 aporta glucosa para ATP y para glicerol-3-fosfato (desde DHAP), esqueleto necesario para reesterificar AG; la insulina reduce la lipólisis vía PDE3B (↓ AMPc, ↓ PKA, menor fosforilación de perilipina y HSL) y favorece el depósito de TAG tras la acción de LPL. Disminuir los AG plasmáticos facilita la acción de la insulina en otros tejidos.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Idea de mecanismo para exponer: la absorción eleva la glucemia → el islote responde (insulina ↑, glucagón ↓) → el hígado "cierra la canilla" (reduce la producción endógena) y los tejidos periféricos "abren el sumidero" (captación muscular y adiposa) → la glucemia vuelve al rango basal. La animación muestra el nivel del tanque subiendo con la entrada intestinal, la reducción del grosor de la flecha hepática (menor producción) y la apertura de las salidas. Un defecto en la supresión hepática o en la eliminación periférica prolonga la hiperglucemia (base de la intolerancia a la glucosa).</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Hepatocito posprandial, tejido por tejido. GLUT2 bidireccional; glucocinasa de alta Km aparente regulada por GKRP (proteína reguladora que la secuestra en el núcleo en ayuno). Glucogenogénesis: G6P → G1P → UDP-glucosa → glucógeno (glucógeno sintasa activada por desfosforilación). Glucólisis: PFK-1 favorecida por fructosa-2,6-bisfosfato; piruvato cinasa L activa cuando está desfosforilada. Vía de las pentosas: la G6PDH genera NADPH para biosíntesis. PDH activa (desfosforilada) con alta disponibilidad de piruvato e insulina. El acetil-CoA mitocondrial sale como citrato y en el citosol alimenta ACC y FASN. Flechas gruesas de una punta = pasos irreversibles reguladores; flechas con dos puntas = pasos reversibles compartidos con la gluconeogénesis.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Adipocito posprandial: GLUT4 dependiente de insulina; glucólisis y conversión de DHAP en glicerol-3-fosfato por la glicerol-3-fosfato deshidrogenasa; vía de las pentosas para NADPH; reesterificación y acumulación de TAG. Como el adipocito blanco posee poca glicerol cinasa, depende especialmente de la glucosa para su esqueleto de glicerol, aunque también existe gliceroneogénesis (desde piruvato/lactato vía PEPCK, ampliación bibliográfica). La insulina favorece la síntesis de TAG y suprime HSL/ATGL mediante el control del sistema de lipólisis.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Eritrocito: GLUT1, glucólisis anaerobia siempre, porque carece de mitocondrias; el piruvato se reduce a lactato por LDH para regenerar NAD+. La vía de las pentosas (G6PDH) provee NADPH para mantener el glutatión reducido. La derivación de Rapoport–Luebering produce 2,3-bisfosfoglicerato a costa de ATP (se saltea la fosfoglicerato cinasa). La glucólisis eritrocitaria es poco dependiente de insulina: su demanda persiste en ayuno y es la base del ciclo de Cori. El eritrocito no puede oxidar ácidos grasos ni utilizar cuerpos cetónicos.</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Neurona: GLUT3 de gran afinidad y entrada poco dependiente de insulina; en la barrera hematoencefálica la glucosa atraviesa el endotelio por GLUT1. La glucólisis y la oxidación mitocondrial sostienen los gradientes iónicos (Na+/K+ ATPasa), la transmisión sináptica y el reciclaje vesicular. La vía de las pentosas aporta NADPH antioxidante. Las neuronas no realizan β-oxidación significativa como combustible basal; la utilización de cuerpos cetónicos aumenta en el ayuno prolongado. La hexocinasa 1, inhibida por G6P, coordina captación y uso.</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Músculo en reposo alimentado: GLUT4, glucogenogénesis y oxidación de glucosa; hexocinasa II, PFK-1 modulada por AMP/ATP/citrato, PDH activada por desfosforilación; también puede seguir oxidando lípidos según disponibilidad. En actividad: Ca2+, AMP y las señales de contracción facilitan la translocación de GLUT4 y la glucogenólisis (fosforilasa cinasa activada por Ca2+; fosforilasa b activada alostéricamente por AMP), mientras la alta demanda de ATP exige mayor flujo glucolítico y oxidativo. La elección de sustrato depende de la intensidad y la duración (tema 14).</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Perla comparativa: el hígado puede devolver glucosa a la sangre gracias a la glucosa-6-fosfatasa del retículo endoplasmático (con el transportador G6PT); la corteza renal también la posee y su contribución aumenta en el ayuno prolongado. El músculo y el tejido adiposo no: el músculo usa su glucógeno localmente y el adiposo exporta AG y glicerol. El eritrocito siempre libera lactato y no puede producir cuerpos cetónicos ni oxidar ácidos grasos.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Síntesis del estado alimentado tejido por tejido. Cada órgano capta la glucosa con un transportador diferente y la destina según su función: el hígado amortigua y almacena, el músculo es el gran sumidero periférico, el adiposo la usa para el esqueleto de glicerol, el eritrocito la convierte en lactato, la neurona la oxida y la célula β la usa como señal. Esta tabla sirve como repaso rápido antes de pasar al ayuno.</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Comparación órgano por órgano en el estado alimentado. Intestino: absorbe glucosa y aminoácidos hacia la porta y lípidos como quilomicrones hacia la linfa; secreta incretinas. Páncreas: insulina alta y glucagón bajo (una comida proteica puede elevar ambos). Hígado: capta glucosa por GLUT2/glucocinasa, sintetiza glucógeno, realiza glucólisis y vía de las pentosas, lipogénesis con exportación de VLDL si sobra energía, y suprime su producción de glucosa. Músculo: GLUT4, glucógeno, oxidación y síntesis proteica. Adiposo: glicerol-3-P, captación de AG vía LPL y supresión de la lipólisis. Cerebro y eritrocito: captación independiente de insulina. Riñón: excreta la urea del exceso proteico. Esta misma grilla se repetirá para el ayuno.</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II. El problema central del ayuno es sostener la glucosa para los tejidos que la necesitan (eritrocito, médula renal, cerebro) mientras se movilizan los lípidos como combustible principal, y luego reducir la pérdida de proteína gracias a los cuerpos cetónicos.</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Integración del ayuno (pasos 1 a 6). 1) Disminuye la entrada intestinal de glucosa. 2) Disminuye la señal de insulina y aumenta relativamente el glucagón. 3) Aumenta la movilización de reservas (primero glucógeno hepático). 4) El tejido adiposo libera ácidos grasos (unidos a albúmina) y glicerol. 5) El hígado utiliza ácidos grasos para obtener energía (β-oxidación). 6) La gluconeogénesis sostiene el aporte de glucosa, con energía derivada de esa oxidación lipídica. Cada número aparece por clic sobre el órgano correspondiente.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Integración del ayuno (pasos 7 a 11). 7) Los eritrocitos continúan generando lactato porque dependen de la glucólisis. 8) El lactato retorna a órganos gluconeogénicos (hígado y, cada vez más, riñón). 9) El riñón incrementa su participación gluconeogénica conforme progresa el ayuno. 10) El cerebro adapta gradualmente la selección de combustibles, incorporando cuerpos cetónicos. 11) La utilización de cuerpos cetónicos contribuye al ahorro proteico: disminuye la necesidad de degradar proteína muscular para fabricar glucosa.</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 avanzar el ayuno disminuye la insulina y aumenta relativamente la influencia de las hormonas contrarreguladoras (glucagón, catecolaminas, cortisol y hormona de crecimiento). La balanza simboliza que lo determinante es la relación entre ellas. Efectos: lipólisis adiposa (descenso de insulina y catecolaminas), glucogenólisis hepática (glucagón–PKA), gluconeogénesis (descenso de F2,6BP, inducción de PEPCK y G6Pasa por CREB/CRTC2, FOXO1 y GR) y cambios musculares (menor captación de glucosa, uso de AG, exportación de alanina y glutamina).</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glucogenólisis hepática defiende la glucemia entre comidas, especialmente en las horas iniciales del ayuno. Cascada: glucagón → receptor GCGR → Gs → adenilato ciclasa → AMPc → PKA → fosforilasa cinasa → glucógeno fosforilasa b convertida en a (fosforilada, activa). Simultáneamente PKA fosforila e inhibe la glucógeno sintasa, evitando un ciclo fútil. Cada etapa enzimática amplifica la señal. Las catecolaminas pueden contribuir por receptores β (AMPc) y α1 (Ca2+) según el contexto.</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glucógeno fosforilasa rompe enlaces α-1,4 por fosforólisis y libera predominantemente glucosa-1-fosfato; la enzima desramificante resuelve los enlaces α-1,6 (liberando una pequeña fracción como glucosa libre). La fosfoglucomutasa convierte la G1P en G6P. La G6P entra al retículo endoplasmático por el transportador G6PT y la glucosa-6-fosfatasa la hidroliza a glucosa + Pi; la glucosa sale del hepatocito por GLUT2 hacia el sinusoide. La animación sigue la ruta desde el gránulo hasta la sangre.</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 diferencia del hígado, la glucogenólisis muscular genera G6P que se usa localmente para obtener ATP: el músculo carece de glucosa-6-fosfatasa relevante y no aporta glucosa a la sangre. La importancia del glucógeno hepático cae cuando se agota su reserva, y la gluconeogénesis hepática y renal asume cada vez más responsabilidad. Ninguna de las dos vías es "gratuita": la glucogenólisis moviliza energía almacenada previamente (costo de la síntesis) y la gluconeogénesis consume ATP y GTP.</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Enfermedad de von Gierke (glucogenosis tipo I): deficiencia de glucosa-6-fosfatasa (Ia) o de su transportador G6PT (Ib). El hígado no puede liberar glucosa ni desde glucógeno ni desde gluconeogénesis: hipoglucemia de ayuno característica, hepatomegalia por acumulación de glucógeno y lípidos. La G6P atrapada se desvía a glucólisis (hiperlactatemia), a la vía de las pentosas con mayor síntesis y degradación de purinas (hiperuricemia, también por competencia del lactato en la excreción renal de urato) y a la síntesis lipídica (hipertrigliceridemia).</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Lipólisis en ayuno: el descenso de la insulina y las señales catecolaminérgicas permiten la acción secuencial de ATGL (TAG → DAG), HSL (DAG → MAG) y MGL (MAG → glicerol + AG). La perilipina y CGI-58 regulan el acceso de las lipasas a la gota: la PKA fosforila la perilipina, que libera CGI-58, coactivador de ATGL, y fosforila HSL. Los AG libres salen unidos a albúmina; el glicerol viaja al hígado (y riñón), que poseen glicerol cinasa. No asumir que el glucagón sea el activador directo dominante de la lipólisis adiposa humana: importan el descenso de la insulina y las catecolaminas.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Hígado en ayuno: los ácidos grasos entran a la mitocondria y se β-oxidan; el NADH y el FADH2 alimentan la cadena respiratoria y el ATP producido paga la gluconeogénesis (línea punteada amarilla). El acetil-CoA es una señal: activa alostéricamente la piruvato carboxilasa (el piruvato se convierte en oxaloacetato para gluconeogénesis) e inhibe la PDH, evitando oxidar a CO2 el piruvato gluconeogénico. Como parte del oxaloacetato se desvía a gluconeogénesis, el exceso de acetil-CoA no ingresa completamente al ciclo de Krebs y se dirige a la cetogénesis. Sustratos de glucosa: lactato de eritrocitos y músculo, alanina y otros aminoácidos gluconeogénicos, glicerol del adiposo.</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Gluconeogénesis: síntesis de glucosa desde precursores no glucídicos (lactato, alanina y otros aminoácidos glucogénicos, glicerol). Compartimentos: en la mitocondria, la piruvato carboxilasa (biotina, ATP, activada por acetil-CoA) forma oxaloacetato, que sale como malato (o aspartato); en el citosol la PEPCK (PCK1, GTP) forma fosfoenolpiruvato; los pasos reversibles de la glucólisis se recorren en sentido inverso; la FBPasa-1 (inhibida por F2,6BP y AMP) evita la PFK-1; en el retículo endoplasmático la glucosa-6-fosfatasa libera glucosa. Las flechas gruesas verdes indican los pasos propios e irreversibles. Costo: 4 ATP + 2 GTP por glucosa a partir de dos piruvatos (más 2 NADH). En humanos existe también PEPCK mitocondrial (PCK2), relevante con lactato como sustrato.</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Regulación recíproca: las dos vías comparten los pasos reversibles y difieren en tres puntos de control, regulados en sentido opuesto para evitar ciclos fútiles. El interruptor clave hepático es la fructosa-2,6-bisfosfato, producida y degradada por la enzima bifuncional PFK-2/FBPasa-2: con insulina predomina la actividad quinasa (F2,6BP alta → glucólisis); con glucagón la PKA la fosforila y predomina la actividad fosfatasa (F2,6BP baja → gluconeogénesis). Además intervienen el acetil-CoA (activa PC, inhibe PDH), la inducción génica de PCK1/G6PC y la inactivación de la piruvato cinasa L por PKA.</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Músculo en ayuno: reduce la captación de glucosa por menor insulina y utiliza más ácidos grasos; exporta lactato según su flujo glucolítico y alanina/glutamina a partir del manejo de nitrógeno y de la proteólisis. Nunca libera glucosa de su glucógeno al plasma por falta de glucosa-6-fosfatasa. La contribución de aminoácidos a la gluconeogénesis depende de la fase: es más relevante al inicio del ayuno prolongado y se modera cuando el cerebro usa cetonas.</a:t>
            </a:r>
          </a:p>
          <a:p>
            <a:r>
              <a:t>Riñón: la corteza renal realiza gluconeogénesis a partir de lactato, glutamina y glicerol, más relevante al prolongarse el ayuno; la médula consume glucosa y produce lactato. Integración significa que el tejido que usa un combustible también determina qué le queda disponible al resto.</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Ciclo de Cori animado. En el músculo en ejercicio y en el eritrocito, la glucosa se convierte por glucólisis en piruvato y la LDH lo reduce a lactato reoxidando NADH a NAD+ (gana 2 ATP por glucosa). El lactato viaja por la sangre (las fichas violetas se desplazan por trayectoria) hasta el hígado, donde la LDH lo reconvierte en piruvato y la gluconeogénesis (piruvato carboxilasa, PEPCK y etapas siguientes) produce glucosa, que vuelve a la circulación y a los tejidos (fichas azules). El costo hepático es de 4 ATP + 2 GTP por glucosa. El ciclo no transporta nitrógeno.</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glucólisis periférica produce 2 ATP por glucosa; reconvertir 2 lactatos en glucosa exige 4 ATP + 2 GTP en el hígado (6 equivalentes de enlaces de alta energía). El balance neto del ciclo es negativo (−4 enlaces por vuelta). Ese gasto se soporta sobre todo con la β-oxidación hepática. Propósito: trasladar la carga energética al hígado, mantener la glucólisis en tejidos sin mitocondrias o con alta demanda y evitar la acumulación neta de lactato. No es un sistema de "energía gratis".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Ciclo glucosa–alanina. En el músculo, los grupos amino de los aminoácidos (de la proteólisis) se concentran en el glutamato por transaminación; la alanina aminotransferasa (ALT) transfiere el nitrógeno al piruvato formando alanina. La alanina llega al hígado; la ALT regenera piruvato para la gluconeogénesis, y el grupo amino alcanza la urea a través de glutamato, glutamato deshidrogenasa (NH4+) y aspartato. La glucosa vuelve al músculo. Beneficios: transportar carbono gluconeogénico y nitrógeno de manera relativamente segura. Costo: la gluconeogénesis más la detoxificación del nitrógeno (ciclo de la urea).</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Comparación de ambos ciclos. Los dos facilitan la coordinación entre tejidos y devuelven glucosa a la periferia. La diferencia clave: el ciclo de Cori no transporta nitrógeno; el ciclo glucosa–alanina sí, y por eso agrega el costo del ciclo de la urea. El lactato no es solo un "desecho": también es combustible oxidativo (corazón, músculo oxidativo) y precursor biosintético.</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Acoplamiento metabólico (flechas de carbono/energía, en azul y violeta). La glucosa sale de los capilares y entra a los astrocitos por GLUT1; las neuronas expresan GLUT3. Los astrocitos poseen pequeños depósitos de glucógeno. La hipótesis de la lanzadera de lactato astrocito–neurona propone que la mayor actividad glutamatérgica estimula la glucólisis astroglial, con producción de lactato que sale por MCT1/MCT4; la neurona lo capta por MCT2, la LDH lo convierte en piruvato y éste se oxida. Es un modelo relevante pero debatido: las neuronas también captan y oxidan glucosa directamente, y el sentido y la magnitud del flujo de lactato dependen del estado, la región y la actividad.</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Flechas de nitrógeno/neurotransmisor (verde azulado), distintas de las de carbono para no confundirlas. La neurona libera glutamato; los transportadores astrogliales EAAT1/EAAT2 lo captan junto con Na+, con un gasto indirecto de ATP por la Na+/K+ ATPasa. La glutamina sintetasa astroglial cataliza glutamato + NH4+ + ATP → glutamina, que se exporta a la neurona, donde la glutaminasa activada por fosfato la reconvierte en glutamato. En terminales GABAérgicas, el glutamato se descarboxila a GABA por la glutamato descarboxilasa (dependiente de PLP). La vía previene la excitotoxicidad y recicla neurotransmisores.</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Los astrocitos atrapan NH4+ en glutamina, algo protector en condiciones normales. Con hiperamonemia severa (insuficiencia hepática, derivación portosistémica, defectos del ciclo de la urea) la acumulación de glutamina astroglial puede favorecer estrés osmótico (tumefacción) y mitocondrial y contribuir a la encefalopatía. No todos los síntomas se explican solo por la concentración plasmática de amonio: intervienen inflamación y otros factores (Unidad V). El SNC requiere aporte continuo de glucosa o cetonas.</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Saciedad: glucólisis (PFK-1, PK-L), glucogenogénesis, PPP, ACC/FASN, TAG/VLDL, síntesis proteica y ureogénesis tras comidas proteicas. Citrato → ATP-citrato liasa → acetil-CoA citosólico.</a:t>
            </a:r>
          </a:p>
          <a:p/>
          <a:p>
            <a:r>
              <a:t>Tablero hepático: los mismos nodos se recolorean en cada fase y la transición Morph anima el cambio. Saciedad: aumentan glucólisis (PFK-1, piruvato cinasa L), glucogenogénesis, vía de las pentosas, síntesis de AG (ACC/FASN), síntesis de TAG/VLDL según disponibilidad, síntesis proteica y ureogénesis tras comidas proteicas. El acetil-CoA procede de la glucosa y otros sustratos; el citrato sale al citosol y la ATP-citrato liasa produce acetil-CoA. El NADPH procede de la vía de las pentosas, la enzima málica y otras fuentes.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Ayuno temprano: la glucogenólisis domina; PKA fosforila PFK-2/FBPasa-2 → ↓ F2,6BP → ↓ glucólisis, ↑ gluconeogénesis. ↓ ACC/malonil-CoA → CPT1 liberada.</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12–48 h: se intensifican gluconeogénesis, β-oxidación y cetogénesis; el glucógeno cae. AA y glicerol aportan carbonos; la urea suele aumentar.</a:t>
            </a:r>
          </a:p>
          <a:p/>
          <a:p>
            <a:r>
              <a:t>12–48 h: se intensifican gluconeogénesis, β-oxidación y cetogénesis mientras el glucógeno hepático disminuye. Aminoácidos y glicerol aportan carbonos; la urea suele aumentar al crecer el flujo aminoacídico. La transcripción inducida por CREB/CRTC2 y FOXO1 facilita el programa gluconeogénico, aunque no explica sola las tasas de producción. PPARα se asocia a la expresión de genes de oxidación de AG y cetogénesis.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&gt;3 días: cetogénesis sostenida; el SNC requiere menos glucosa; cambia el sustrato gluconeogénico y el riñón colabora más. La ureogénesis puede disminuir respecto del pico temprano.</a:t>
            </a:r>
          </a:p>
          <a:p/>
          <a:p>
            <a:r>
              <a:t>&gt;3 días: cetogénesis sostenida e importante utilización periférica de cetonas; se requiere menos glucosa para el SNC, parte de la gluconeogénesis cambia de sustrato y el riñón colabora más. La ureogénesis puede disminuir respecto del pico temprano por ahorro de proteínas: no afirmar que sube indefinidamente. Los cambios de concentraciones y flujos son graduales, no un interruptor temporal.</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6 (adaptación al ayuno): estado alimentado → 8–12 h → 24–48 h → ayuno prolongado. Las barras de reserva y el combustible cerebral cambian de longitud y la transición Morph anima la evolución. Las longitudes son esquemáticas y relativas: no representan mediciones.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8–12 h: glucógeno hepático todavía relevante pero menor, gluconeogénesis ya activa, lipólisis moderada; glucemia generalmente estable. Músculo y corazón usan una mezcla variable de AG, glucosa y lactato. El cerebro usa mayormente glucosa; los eritrocitos, solo glucosa.</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24–48 h: marcada caída de la reserva hepática; la gluconeogénesis es indispensable; aumentan los AG plasmáticos y los cuerpos cetónicos; el balance nitrogenado puede tornarse muy negativo si no hay ingesta. El hígado exporta glucosa y cetonas pero no puede consumir sus propias cetonas. El glicerol aporta carbonos glucogénicos sin requerir pérdida muscular.</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&gt;3 días: ascenso progresivo del consumo cerebral de cetonas, menor dependencia de aminoácidos y descenso relativo de la excreción de nitrógeno tras la fase inicial. Corazón y músculo pueden utilizar AG abundantemente; la utilización muscular de cetonas no permanece necesariamente máxima (se reserva para el cerebro). Se reduce el gasto energético por adaptación hormonal (↓ T3, ↓ actividad simpática) y cambios de masa libre de grasa.</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Gráfico conceptual (áreas apiladas, proporciones relativas sin valores medidos): a medida que se prolonga el ayuno, los cuerpos cetónicos aportan una fracción creciente de la energía cerebral. Clásicamente, tras semanas de ayuno pueden cubrir alrededor de dos tercios (ampliación bibliográfica: estudios de Cahill; Lehninger cap. 23). La necesidad de glucosa no desaparece: eritrocitos, médula renal y parte del metabolismo cerebral la requieren. El beneficio es el ahorro proteico.</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Alerta conceptual: el ayuno no es sinónimo de cetosis patológica. En ayuno existe insulina residual que limita la lipólisis y la cetogénesis. La cetoacidosis diabética aparece por insulinopenia funcional marcada y hormonas contrarreguladoras, con hiperglucemia frecuente y acidosis de anion gap elevado; existe cetoacidosis euglucémica en situaciones específicas (por ejemplo, con inhibidores de SGLT2, embarazo o ayuno con alcohol; ampliación clínica). El β-hidroxibutirato sanguíneo es mejor marcador que las tiras urinarias de acetoacetato.</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Cuadro central de cambios por estado. Lectura por filas: cada vía cambia gradualmente. Puntos finos: la cetogénesis es baja en alimentación y aumenta de forma marcada recién a las 24–48 h; la proteólisis muscular puede aumentar para la gluconeogénesis al inicio y luego se ahorra; la urea por proteólisis disminuye respecto del pico de adaptación. Son tendencias, no valores obligatorios.</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Comparación órgano por órgano en el ayuno, con la misma grilla que el estado alimentado para facilitar el contraste. Intestino: sin aporte de glucosa, usa glutamina. Páncreas: insulina baja pero presente, glucagón relativo alto. Hígado: glucogenólisis y luego gluconeogénesis, β-oxidación, cetogénesis y ureogénesis. Músculo: usa AG y exporta alanina, glutamina y lactato. Adiposo: lipólisis. Cerebro: glucosa y cada vez más cetonas. Eritrocito: siempre glucosa. Riñón: gluconeogénesis cortical y amoniogénesis crecientes.</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III. Se integran las decisiones lipídicas: sintetizar u oxidar (malonil-CoA/CPT1), cómo se obtiene ATP de los AG, cómo viajan los lípidos (QM, VLDL, LDL, HDL), el sensor AMPK, el colesterol, los cuerpos cetónicos y los factores de transcripción que adaptan la maquinaria enzimática.</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malonil-CoA se forma por carboxilación del acetil-CoA catalizada por la acetil-CoA carboxilasa (ACC), con biotina como cofactor, bicarbonato y consumo de ATP. Es a la vez (a) donador de unidades de dos carbonos para la síntesis citosólica de AG por la FASN (7 malonil-CoA + 1 acetil-CoA + 14 NADPH → palmitato), y (b) inhibidor alostérico de la carnitina palmitoiltransferasa 1 (CPT1), puerta de entrada de los AG de cadena larga a la oxidación mitocondrial. De este modo impide, aunque no absolutamente, sintetizar y degradar AG simultáneamente.</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Escenario 1 (estado alimentado), siete pasos por clic: insulina alta y citrato abundante; la insulina activa fosfatasas que desfosforilan (activan) la ACC y el citrato promueve su polimerización; la ACC activa produce malonil-CoA; el malonil-CoA alimenta la FASN y a la vez inhibe la CPT1; disminuye la entrada mitocondrial de AG de cadena larga y la β-oxidación queda relativamente reducida (barra corta). A escala de horas, SREBP-1c y ChREBP incrementan la cantidad de ACC y FASN. La diapositiva siguiente usa Morph para transformar este escenario en el de ayuno o ejercicio.</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Transición Morph desde el escenario alimentado: la ACC cambia de color (activa → fosforilada inactiva), los malonil-CoA desaparecen o se reducen, la CPT1 pasa de cerrada a abierta, los AG largos pasan del citosol a la mitocondria y la barra de flujo de β-oxidación se alarga. Luego, por clic: ayuno o ejercicio; activación de AMPK; fosforilación e inhibición de ACC; caída del malonil-CoA (también por la malonil-CoA descarboxilasa, MCD); liberación del freno de CPT1; mayor entrada de AG; aumento de la β-oxidación. En el hígado del ayuno el glucagón (PKA) y la baja insulina contribuyen igual que la AMPK. La AMPK también modula expresión génica y otros blancos: no atribuir todo el cambio a una sola enzima.</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¿Por qué el músculo fabrica malonil-CoA si no hace lipogénesis neta relevante? Porque predomina su función señalizadora: la ACC2 (ACACB), localizada cerca de la membrana mitocondrial externa, genera malonil-CoA que modula la CPT1B. En reposo alimentado puede limitar la oxidación de grasas; con la contracción la AMPK inhibe la ACC2, favoreciendo la oxidación. La malonil-CoA descarboxilasa (MCD/MLYCD) contribuye a su descenso. La actividad de FASN muscular es baja comparada con tejidos lipogénicos.</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Relación con la resistencia a la insulina: la acumulación de intermediarios lipídicos como DAG (que activa PKCε u otras isoformas, con fosforilación inhibitoria del receptor/IRS) y ceramidas (que interfieren con Akt) en localizaciones críticas puede perturbar la señalización de insulina (mecanismos detallados: ampliación bibliográfica). Distinción clave: acumulación de TAG (gotas relativamente inertes) frente a intermediarios lipotóxicos; no basta medir TAG totales, importan localización y especie molecular (por ejemplo, los atletas entrenados pueden tener TAG intramuscular alto con buena sensibilidad insulínica).</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Reposo: el músculo esquelético utiliza una mezcla de AG y glucosa; con alta disponibilidad lipídica e insulina baja aumenta la contribución de AG. ATP y citrato altos frenan PFK-1; NADH y acetil-CoA altos estimulan la PDH cinasa (PDK), que fosforila e inhibe la PDH, ahorrando piruvato. CPT1 permite importar AG si el malonil-CoA no la inhibe.</a:t>
            </a:r>
          </a:p>
          <a:p>
            <a:r>
              <a:t>Aeróbico moderado prolongado: crece la necesidad de ATP oxidativo; capilares, mitocondrias y fibras tipo I facilitan la β-oxidación; la contracción aumenta AMP/ADP, Ca2+ y AMPK; PFK-1 aumenta su flujo; la PDH fosfatasa estimulada por Ca2+ activa la PDH; ACC2 inhibida reduce malonil-CoA y libera CPT1.</a:t>
            </a:r>
          </a:p>
          <a:p>
            <a:r>
              <a:t>Muy intenso: la demanda supera la velocidad de las vías oxidativas locales; la fosfocreatina entrega ATP inmediato; la glucogenólisis y la glucólisis se aceleran; el lactato regenera NAD+. El lactato también se forma con O2 cuando el flujo glucolítico es alto.</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Regulación fina. PFK-1: activadores AMP, ADP y fructosa-2,6-bisfosfato; inhibidores ATP elevado, citrato y acidez (según isoforma y contexto). PDH: la PDH cinasa la fosforila e inactiva cuando aumentan NADH/NAD+, acetil-CoA/CoA y ATP/ADP; el piruvato inhibe la PDK y el Ca2+ activa la PDH fosfatasa en el músculo. CPT1 (también llamada "CAT-1" en algunas guías): el malonil-CoA la inhibe. No confundir con la carnitina–acilcarnitina translocasa (CACT), otra proteína del transporte.</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ATP por vías: el sistema ATP–fosfocreatina permite segundos de gran potencia; la glucólisis rápida sostiene esfuerzos intensos cortos; la fosforilación oxidativa es menos rápida pero de alta capacidad. El gráfico es cualitativo (sin escala). "Aeróbico/anaeróbico" describen contribuciones relativas. Aplicación: un sprint aumenta lactato, AMP y productos de degradación de nucleótidos; una carrera prolongada incrementa la extracción de AG y el recambio de glucógeno; el entrenamiento aumenta la densidad mitocondrial y las enzimas oxidativas por señales como AMPK–PGC-1α.</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3 (metabolismo lipídico): adipocito → gota lipídica → lipólisis → ácidos grasos → sangre → músculo → mitocondria. Los ácidos grasos marcados (!!AG viajero) conservan su nombre en las cinco diapositivas, de modo que Morph los desplaza desde la gota hasta la mitocondria muscular.</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adipocito se amplía hasta que la gota lipídica ocupa la escena. La perilipina 1 recubre la gota; en reposo alimentado secuestra a CGI-58 (ABHD5), de modo que la ATGL es poco activa. La fosforilación de la perilipina por PKA (catecolaminas, baja insulina) libera CGI-58, que coactiva a ATGL, y permite el acceso de HSL fosforilada.</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adipocito se reduce y aparece el vaso. La lipólisis ocurre en tres pasos (ATGL, HSL, MGL). Los ácidos grasos salen a la sangre unidos a la albúmina; no deben confundirse con las lipoproteínas (que transportan TAG esterificados). El glicerol es hidrosoluble y viaja libre al hígado y al riñón, que poseen glicerol cinasa.</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vaso se desplaza arriba y aparece la fibra muscular. Los AG se disocian de la albúmina y entran al músculo mediante CD36, transportadores FATP y difusión; la FABP los moviliza en el citosol (ampliación bibliográfica). Luego se activan a acil-CoA y se dirigen a la mitocondria, salvo que se reesterifiquen localmente.</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final: la fibra se amplía hasta revelar la mitocondria, donde los AG llegan a la matriz por la lanzadera de carnitina y se oxidan. Las diapositivas siguientes detallan cada etapa: activación y transporte, β-oxidación, cadena respiratoria y balance energético.</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Etapa 2, activación: acil-CoA sintetasa: AG + CoA + ATP → acil-CoA + AMP + PPi (equivalente al gasto de dos enlaces fosfato de alta energía, porque el PPi se hidroliza). Etapa 3, importación de cadenas largas: la CPT1 de la membrana externa forma acilcarnitina; la carnitina–acilcarnitina translocasa (CACT/SLC25A20) la transporta a través de la membrana interna; la CPT2 regenera acil-CoA en la matriz y la carnitina retorna. El malonil-CoA inhibe la CPT1. Los AG de cadena corta y media acceden a la matriz sin depender en igual medida de esta lanzadera.</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Etapa 4, β-oxidación mitocondrial, cuatro reacciones por vuelta: (1) acil-CoA deshidrogenasa → trans-Δ2-enoil-CoA + FADH2 (los electrones pasan a ETF y ETF-QO); (2) enoil-CoA hidratasa; (3) β-hidroxiacil-CoA deshidrogenasa → NADH; (4) β-cetotiolasa → acetil-CoA + acil-CoA dos carbonos más corto, que inicia una nueva vuelta. Cada ciclo acorta la cadena y aporta poder reductor; el acetil-CoA entra al ciclo de Krebs o, en el hígado, a la cetogénesis.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Cadena respiratoria: el NADH cede electrones al complejo I; el FADH2 de la acil-CoA deshidrogenasa los cede a la flavoproteína transferidora de electrones (ETF) y a ETF-QO, que reduce la ubiquinona (el FADH2 del succinato lo hace por el complejo II). Los complejos I, III y IV bombean protones al espacio intermembrana; el citocromo c transfiere electrones al complejo IV, donde el O2 se reduce a agua. El retorno de protones por la ATP sintasa (FO–F1) hace girar el rotor (animación de giro) y sintetiza ATP. Cocientes P/O modernos aproximados: 2,5 por NADH y 1,5 por FADH2.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Ejemplo energético clásico: el palmitato (C16:0) requiere 7 ciclos de β-oxidación y produce 8 acetil-CoA, 7 FADH2 y 7 NADH. Con cocientes P/O modernos aproximados (2,5 ATP/NADH; 1,5 ATP/FADH2) y 10 ATP por acetil-CoA oxidado en el ciclo de Krebs (3 NADH + 1 FADH2 + 1 GTP), el total es 108 ATP; restando el costo de activación (2 enlaces de alta energía) el rendimiento neto es ~106 ATP por molécula. El rendimiento cambia según longitud, insaturación, lanzaderas y acoplamiento mitocondrial.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Las cadenas impares terminan en propionil-CoA → metilmalonil-CoA (propionil-CoA carboxilasa, biotina) → succinil-CoA (metilmalonil-CoA mutasa, vitamina B12), por lo que aportan potencial gluconeogénico. Las cadenas muy largas se acortan inicialmente en peroxisomas; la oxidación peroxisomal genera H2O2 y no conserva toda la energía como ATP. Correlato clínico: la deficiencia de MCAD y otros defectos de oxidación provocan intolerancia al ayuno, hipoglucemia hipocetósica, acumulación de acilcarnitinas características y descompensación ante enfermedades intercurrentes.</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 TAG requiere glicerol-3-fosfato y tres acil-CoA. El glicerol-3-P procede de la DHAP glucolítica (glicerol-3-P deshidrogenasa), del glicerol por la glicerol cinasa hepática o de la gliceroneogénesis. Los AG vienen de (a) lipogénesis de novo desde acetil-CoA y NADPH, (b) captación de AG no esterificados plasmáticos, (c) remanentes lipoproteicos y (d) recambio lipídico intracelular.</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Esterificación: glicerol-3-P → ácido lisofosfatídico (GPAT) → ácido fosfatídico (AGPAT) → DAG (lipina, fosfatidato fosfatasa) → TAG (DGAT1/2). Los TAG se empaquetan en VLDL con ApoB-100 gracias a la proteína microsomal de transferencia de triglicéridos (MTP), junto con fosfolípidos y colesterol; también se almacenan en gotículas o se degradan. En saciedad rica en carbohidratos aumentan el flujo glucolítico, el citrato, el acetil-CoA citosólico, ACC, FASN y NADPH; insulina, ChREBP y SREBP-1c promueven la biosíntesis.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Saciedad rica en carbohidratos: aumenta la lipogénesis de novo y la secreción de VLDL puede aumentar si la lipogénesis y la esterificación exceden la oxidación y la depuración. Ayuno: disminuye la lipogénesis de novo, pero el hígado puede seguir formando TAG y VLDL a partir de AG derivados de la lipólisis periférica; según el balance de AG puede reesterificar una porción y secretarla. Clínica: la esteatohepatopatía asociada a disfunción metabólica (MASLD) surge de la integración entre entrada de AG, lipogénesis de novo, oxidación y exportación de VLDL.</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Definiciones habituales: cadena corta &lt;6 carbonos, media 6–12 (algunas clasificaciones incluyen C12), larga ≥14. Los AG de cadena media son más solubles; tras la digestión, una mayor fracción de C8/C10 pasa al sistema portal unida a albúmina y se dirige al hígado. Su entrada mitocondrial es relativamente independiente de CPT1/carnitina y su oxidación y cetogénesis pueden ser rápidas. En contraste, muchos AG largos se reesterifican en el enterocito y se transportan en quilomicrones por la linfa. El laurato (C12) es intermedio y no se comporta como C8/C10.</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Beneficios potenciales de los MCT: combustible rápido con menor dependencia de quilomicrones y de la lanzadera de carnitina; útiles bajo indicación especializada en trastornos de transporte u oxidación de AG largos o en quilomicronemia familiar. Límites: aportan calorías y pueden almacenarse si existe superávit; no reemplazan AG esenciales ni garantizan adelgazamiento. Leche humana: contiene AG largos y proporciones variables de cadena media (sobre todo C10–C14) según dieta y etapa de lactancia; no son la mayoría de sus lípidos.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Síntesis en la glándula mamaria lactante: la glucosa llega por GLUT1, participa en la síntesis de lactosa y proporciona acetil-CoA/citrato y NADPH para la síntesis de AG (acetato y otros precursores pueden contribuir). La ACC genera malonil-CoA; la FASN alarga las cadenas y la terminación temprana favorece AG de menor longitud que la síntesis típica de C16, por la maquinaria tioesterasa y la especificidad mamaria (con variaciones entre especies). El glicerol-3-P procede de la glucólisis; GPAT/AGPAT/DGAT ensamblan TAG; también se incorporan AG maternos preformados. En el hepatocito el destino frecuente es el almacenamiento o la VLDL; en la mama, la secreción de glóbulos de grasa rodeados por membrana derivada de la célula epitelial.</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Ácido linoleico (LA, 18:2 n-6) y ácido α-linolénico (ALA, 18:3 n-3) son esenciales: los humanos no introducimos dobles enlaces más allá de la posición Δ9 contando desde el extremo carboxilo, por lo que no sintetizamos de novo las familias n-6 y n-3 a partir de n-9. El LA se convierte en ácido araquidónico (AA, 20:4 n-6); el ALA en EPA y DHA por elongaciones y desaturaciones, con conversión humana limitada, especialmente a DHA. En el esquema, las barras marcan los dobles enlaces y la franja verde el límite Δ9.</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Funciones: membranas y fluidez; integridad de la barrera cutánea; crecimiento; retina y tejido nervioso (DHA); eicosanoides (prostaglandinas, tromboxanos, leucotrienos) y mediadores especializados proresolutivos a partir de ciertos PUFA. AA y EPA compiten parcialmente por enzimas, pero el efecto biológico depende de dosis y tejidos. Déficit: dermatitis descamativa, alteración del crecimiento, pérdida transepidérmica de agua y anomalías reproductivas e inmunes en casos avanzados. Deben incorporarse especialmente en dietas muy bajas en grasa por quilomicronemia. El DHA se considera condicionalmente importante durante el desarrollo.</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Quilomicrones: nacen en el intestino y contienen ApoB-48; transportan TAG dietarios, colesterol, vitaminas liposolubles y otros lípidos; pasan por la linfa a la sangre; adquieren ApoC-II y ApoE. VLDL: nacen en el hígado, contienen ApoB-100 y exportan TAG endógenos provenientes de lipogénesis de novo, AG plasmáticos y recambio hepático. La LPL transforma la VLDL en remanentes (IDL) y luego en LDL, comparativamente rica en colesterol esterificado. La ApoB-100 es ligando del receptor LDL; la ApoB-48 carece de su región de unión específica.</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Vía exógena: el QM sale del intestino, recibe ApoC-II y ApoE de las HDL; la LPL capilar (activada por ApoC-II) hidroliza sus TAG y libera AG; el remanente rico en colesterol es captado por el hígado mediante ApoE. Vía endógena: el hígado secreta VLDL (ApoB-100); la LPL la convierte en IDL; la lipasa hepática y la LPL completan la conversión en LDL, rica en colesterol esterificado, que se capta por el receptor LDL (ApoB-100 como ligando). ApoC-III y ANGPTL3/4/8 modifican la depuración según el contexto (por ejemplo, ANGPTL4 reduce la LPL adiposa en ayuno).</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HDL: intercambia apoproteínas y lípidos; la LCAT esterifica colesterol en la HDL; la CETP intercambia ésteres de colesterol con TAG de VLDL y remanentes de QM. El valor de HDL-C no resume la funcionalidad de la HDL. Alimentación: aparecen QM y los AG dietarios se reparten según demanda, insulina y LPL; el hígado puede continuar secretando VLDL y las partículas compiten por la capacidad de depuración. Ayuno: casi no deberían persistir QM tras un tiempo suficiente; la VLDL circula. Enfermedad: deficiencia de LPL, ApoC-II, GPIHBP1 o APOA5 causa quilomicronemia severa con riesgo de pancreatitis; en la resistencia insulínica aumentan VLDL y remanentes.</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proteína cinasa activada por AMP (AMPK) es un heterotrímero: subunidad α catalítica, β y γ reguladoras. El AMP y el ADP unidos a la subunidad γ protegen y facilitan la activación por fosforilación de Thr172, principalmente por LKB1; la CaMKKβ puede activarla en respuesta al Ca2+. Se activa cuando baja la relación energética ATP/AMP-ADP, ante contracción, hipoxia y otros estímulos, e integra también señales lisosomales y de nutrientes. Activar AMPK no produce ATP directamente: reorienta las rutas.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Efectos inmediatos de la AMPK: fosforila ACC1/ACC2 (menos síntesis de AG, menos malonil-CoA, mayor potencial de β-oxidación), inhibe procesos biosintéticos consumidores de ATP (síntesis de colesterol vía HMG-CoA reductasa, síntesis proteica al frenar mTORC1 directa e indirectamente vía TSC2/raptor) y regula la captación de glucosa por GLUT4 durante el ejercicio. Adaptación sostenida: promueve biogénesis mitocondrial y autofagia por redes PGC-1α, ULK1 y otras. La metformina puede activar AMPK indirectamente en ciertas condiciones, pero su efecto antihiperglucémico no se reduce a ese mecanismo y depende de concentraciones y tejidos.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Biosíntesis hepática: acetil-CoA → acetoacetil-CoA → HMG-CoA (citosólico, HMG-CoA sintasa 1) → mevalonato, catalizado por la HMG-CoA reductasa con NADPH; siguen isoprenoides activados (IPP/DMAPP), escualeno, lanosterol y colesterol. La HMG-CoA reductasa del RE es la enzima de control clásico. No confundir con la HMG-CoA liasa mitocondrial de la cetogénesis (ni con la HMG-CoA sintasa 2 mitocondrial).</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HMG-CoA reductasa se regula en varios niveles: SREBP-2 induce su gen cuando el colesterol intracelular es bajo; los esteroles favorecen su degradación (unión a Insig y ubiquitinación); la AMPK la fosforila e inhibe; la insulina puede favorecer su actividad frente al glucagón y el ayuno.</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Homeostasis intracelular del colesterol: cuando el colesterol es bajo en el RE, SCAP transporta SREBP-2 al Golgi, donde la proteólisis por S1P y S2P libera el dominio nuclear, que induce LDLR y HMGCR (y PCSK9). Con colesterol alto, SCAP se une a Insig y retiene SREBP en el RE. La ACAT/SOAT esterifica colesterol para su depósito; ABCA1/ABCG1 favorecen el eflujo hacia ApoA-I/HDL y LXR responde a oxiesteroles. PCSK9 dirige el LDLR a degradación lisosomal, disminuyendo su reciclado y la depuración de LDL. La animación muestra el traslado del complejo y del factor nuclear.</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Transporte a tejidos: el hígado exporta colesterol en VLDL y sus derivados; la LDL posee ApoB-100 y un elevado porcentaje de colesterol esterificado y es reconocida por el LDLR. Las células endocitan el complejo LDLR–LDL por fositas recubiertas de clatrina; la acidificación endosomal libera la LDL y el LDLR se recicla; los lisosomas hidrolizan los ésteres de colesterol y suministran colesterol libre. La PCSK9 se une al LDLR y lo dirige a degradación lisosomal, reduciendo su reciclado. La animación sigue la partícula LDL desde la membrana hasta el lisosoma.</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Transporte reverso: la HDL (ApoA-I principal) recibe colesterol mediante ABCA1 (hacia ApoA-I pobre en lípidos) y ABCG1; la LCAT esterifica el colesterol en la HDL, permitiendo su maduración; el colesterol llega al hígado de forma selectiva mediante SR-BI o indirectamente por el intercambio CETP hacia lipoproteínas con ApoB. El número de partículas y la función de la HDL son dimensiones distintas del HDL-C plasmático.</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Ácidos biliares: el colesterol hepático se convierte en ácidos biliares primarios (cólico y quenodesoxicólico); la vía clásica comienza con CYP7A1 (colesterol 7α-hidroxilasa). La conjugación con glicina o taurina favorece la solubilidad y la función detergente; la microbiota transforma parte en ácidos secundarios, con circulación enterohepática mayoritaria. Retrocontrol: FXR ileal → FGF19 (en humanos) → receptor hepático FGFR4/β-Klotho, junto con FXR/SHP hepático, restringe CYP7A1. La excreción fecal es la vía de eliminación neta de colesterol. Clínica: estatinas, inhibidores de PCSK9 y secuestrantes de ácidos biliares. La aterosclerosis depende de la exposición acumulada a partículas aterogénicas con ApoB (Unidad V).</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4 (cetogénesis): hígado → mitocondria → acetil-CoA → cetogénesis → cuerpos cetónicos → tejidos periféricos. Condiciones: baja acción insulínica relativa, elevada disponibilidad de AG, mayor entrada por CPT1 tras el descenso del malonil-CoA y β-oxidación intensa.</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hígado se amplía hasta mostrar la mitocondria. Acetil-CoA → acetoacetil-CoA (tiolasa) → HMG-CoA (HMG-CoA sintasa 2 mitocondrial, paso regulado: su expresión aumenta en ayuno vía PPARα) → acetoacetato (HMG-CoA liasa). La β-hidroxibutirato deshidrogenasa interconvierte acetoacetato y β-hidroxibutirato según la relación NADH/NAD+ (alta en ayuno, por eso predomina el β-hidroxibutirato); la acetona deriva de la descarboxilación del acetoacetato. Parte del oxaloacetato se desvía a gluconeogénesis, lo que limita la condensación del acetil-CoA en el ciclo de Krebs.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la mitocondria se reduce y aparece la circulación. Los cuerpos cetónicos son hidrosolubles y llegan por la sangre a corazón, riñón, músculo y cerebro (transportadores MCT). Cada clic envía una ficha de cuerpo cetónico a un órgano consumidor. El hígado carece de SCOT funcional y por ello produce pero no usa cetonas; el eritrocito carece de mitocondrias y tampoco puede utilizarlas.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Cetólisis en tejidos extrahepáticos: β-hidroxibutirato → acetoacetato (BDH, genera NADH) → acetoacetil-CoA por la succinil-CoA:3-cetoácido CoA transferasa (SCOT/OXCT1), que transfiere el CoA desde el succinil-CoA → 2 acetil-CoA por tiolasa → ciclo de Krebs. El hígado carece de SCOT funcional.</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Objetivos de la cetogénesis: exportar poder energético de los AG hepáticos a órganos que no pueden usar AG largos de manera significativa, preservar glucosa y reducir la necesidad de proteólisis para la gluconeogénesis prolongada. La cetogénesis no convierte los carbonos de AG pares en glucosa neta (el acetil-CoA no puede formar glucosa neta porque sus dos carbonos se pierden como CO2 en el ciclo de Krebs). Clínica: cetosis fisiológica frente a cetoacidosis; medición de β-hidroxibutirato.</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Distinguir escalas: (1) control alostérico inmediato; (2) fosforilación/desfosforilación; (3) cambios de transcripción y abundancia proteica. Los factores de transcripción modulan la capacidad enzimática pero no determinan por sí solos el flujo, que también depende de sustratos, compartimentos, hormonas y energía. Esta es la distinción "regulación alostérica frente a fosforilación y regulación génica".</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CREB (ayuno): glucagón → GCGR–AMPc–PKA → fosforilación de CREB en Ser133; el coactivador CRTC2 se incorpora al programa gluconeogénico → ↑ PCK1 (PEPCK citosólica) y G6PC (glucosa-6-fosfatasa). La insulina y la realimentación limitan esta señal; los glucocorticoides pueden cooperar (GR). FOXO1 (ayuno): cuando Akt cae por baja insulina, FOXO1 permanece nuclear y promueve PCK1/G6PC. En saciedad, receptor de insulina → PI3K → Akt fosforila FOXO1 y promueve su exclusión nuclear (la animación lo desplaza fuera del núcleo). No equivale a una supresión instantánea total de la gluconeogénesis.</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ChREBP (abundancia de carbohidratos): productos del metabolismo glucídico favorecen la activación y localización nuclear de ChREBP/MLX, que induce ACC (ACACA), FASN y otros genes de glucólisis y lipogénesis, en interacción con el estado hormonal; glucosa y fructosa pueden activar programas lipogénicos por vías parcialmente distintas; la regulación exacta involucra múltiples metabolitos y modificaciones. SREBP-1c (insulina y nutrientes): insulina y mTORC1 favorecen su procesamiento y expresión; induce ACC, FASN, SCD1 y otros genes de AG. La ruta DAG → TAG (DGAT1/2) responde a control transcripcional multigénico (SREBP-1c, ChREBP y PPAR según tejido). SREBP-1c es lipogénico, no el principal regulador del LDLR.</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SREBP-2 (esterol intracelular bajo): SCAP/SREBP-2 se procesa → ↑ HMGCR y LDLR (también PCSK9); colesterol y oxiesteroles inhiben el procesamiento vía Insig/SCAP. Receptor glucocorticoide: coopera con CREB/FOXO1 para inducir PCK1 y G6PC y favorecer la disponibilidad de sustratos aminoacídicos; los efectos dependen del tejido y la duración. Mapa de genes: las asociaciones son predominantes, no exhaustivas. El recuadro rojo resume la frase de examen oral.</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estrés agudo activa el eje simpático–médula suprarrenal (adrenalina/noradrenalina en segundos) y el eje CRH → ACTH → cortisol (minutos a horas), con citocinas inflamatorias, glucagón y GH según el estímulo. Objetivo: garantizar combustible y perfusión a cerebro, corazón y músculo. No confundir estrés agudo adaptativo con estrés crónico.</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Hígado: catecolaminas y glucagón facilitan la glucogenólisis; el cortisol aumenta la capacidad de gluconeogénesis; lactato, alanina y glicerol aportan sustratos. Músculo: adrenalina y Ca2+ activan la glucogenólisis; el cortisol sostenido promueve proteólisis y exportación de alanina/glutamina. Miocardio: aumenta trabajo, consumo de O2 y oxidación de AG/lactato/glucosa; las catecolaminas incrementan cronotropismo e inotropismo. Adiposo: lipólisis β-adrenérgica (AMPc–PKA) modulada por receptores α2; la insulina contrarregula. SNC: mantener el aporte de glucosa, actividad autonómica y alerta. Suprarrenal: la corteza produce cortisol desde colesterol (StAR facilita la entrada mitocondrial); la médula libera catecolaminas derivadas de tirosina; el cortisol cortical induce PNMT en la médula.</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sepsis, trauma y quemaduras, inflamación, cortisol y catecolaminas producen hiperglucemia de estrés, proteólisis, resistencia a la insulina y balance nitrogenado negativo. La glucemia no necesariamente revela la disponibilidad energética intracelular, la perfusión ni la función mitocondrial. La sepsis tiene heterogeneidad metabólica y requiere interpretación clínica específica.</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IV. El nitrógeno no tiene depósito: se redistribuye entre órganos (alanina, glutamina) y se elimina como urea y NH4+. Se integran hígado, riñón, músculo e intestino con el equilibrio ácido–base, y luego el balance energético y su control hipotalámico.</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Secuencia Morph 5 (metabolismo del nitrógeno): músculo → aminoácidos → hígado → ciclo de la urea → riñón → excreción. Las fichas verdes de aminoácidos conservan su nombre en todas las diapositivas para que Morph muestre su recorrido. El músculo es el principal reservorio de proteínas; su nitrógeno sale como alanina y glutamina.</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músculo se reduce, aparece el vaso y el hígado. Los aminoácidos se transforman en alanina y glutamina, que circulan hacia hígado, riñón e intestino. Transportar el nitrógeno en estas moléculas evita circular amoníaco libre, que es neurotóxico.</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hígado ocupa la escena; los aminoácidos se convierten en NH4+ (fichas verde azulado) que ingresan al ciclo de la urea de los hepatocitos periportales. La urea resultante es hidrosoluble, poco tóxica y sale a la sangre.</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el hígado se reduce y aparece el riñón. La urea se filtra en el glomérulo y una fracción se reabsorbe según el flujo tubular y la ADH. La glutamina llega al túbulo proximal, donde se genera NH4+ (amoniogénesis).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Morph final: la urea y el NH4+ llegan a la orina. La urea es la principal forma de excreción de nitrógeno; el NH4+ urinario es un mecanismo crucial de excreción de ácido neto (aumenta en acidosis y ayuno prolongado). Distinción clave: ureogénesis (hígado, ciclo de la urea) frente a amoniogénesis (riñón, glutaminasa y GDH).</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lobulillo/ácino hepático tiene un gradiente desde la zona periportal (zona 1, sangre recién llegada, más O2) hasta la pericentral/perivenosa (zona 3, menos O2). La organización funcional evita que la sangre salga del hígado cargada de NH3/NH4+. Zona periportal: captación y oxidación de aminoácidos, transaminaciones, glutaminasa, glutamato deshidrogenasa y ciclo de la urea enzimáticamente enriquecido; gran capacidad pero afinidad global menor. Zona perivenosa: una banda menor de hepatocitos expresa glutamina sintetasa, último filtro de alta afinidad para el NH4+ residual que escapó a la ureogénesis. La animación muestra la mayoría del amonio convertido en urea en la zona 1 y el residual capturado como glutamina en la zona 3.</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Ciclo de la urea paso a paso (por clic). (1) Mitocondria: NH4+ + HCO3− + 2 ATP → carbamoil-fosfato por la CPS1, activada obligatoriamente por N-acetilglutamato (NAG). (2) Carbamoil-P + ornitina → citrulina (OTC). La citrulina sale al citosol. (3) Citrulina + aspartato + ATP → argininosuccinato (ASS1), liberando AMP + PPi. (4) ASL → arginina + fumarato. (5) Arginasa 1 → urea + ornitina, que regresa a la mitocondria. Costo: 3 ATP pero 4 enlaces fosfato de alta energía por urea. Orígenes del nitrógeno: NH4+ libre y aspartato; carbono de la urea: bicarbonato/CO2.</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Conexión Krebs–urea ("bicicleta de Krebs"): el fumarato liberado por la argininosuccinato liasa se hidrata a malato, que se oxida a oxaloacetato (con NADH); la aspartato aminotransferasa (AST) transamina el oxaloacetato a aspartato, que reingresa al ciclo de la urea aportando el segundo nitrógeno. Así se acoplan el destino del carbono y el del nitrógeno.</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Control: la arginina favorece la síntesis de N-acetilglutamato vía NAGS, coordinando la necesidad de eliminación nitrogenada con la activación de CPS1; en estado proteico o catabólico aumenta la expresión de varias enzimas. La GDH puede desaminar glutamato a α-cetoglutarato + NH4+ o aminarlo según las condiciones. Clínica: si falla la urea asciende el amonio; en el déficit de OTC puede elevarse el ácido orótico porque el carbamoil-P mitocondrial se desvía a la síntesis pirimidínica; la alcalosis respiratoria temprana (hiperventilación por estimulación central) y la encefalopatía orientan a hiperamonemia grave.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Siempre se degradan proteínas y aminoácidos por recambio proteico, mantenimiento intestinal, hígado, tejidos y metabolismo de neurotransmisores; no existe depósito exclusivo para el exceso de aminoácidos. En saciedad la ingesta proteica entrega nitrógeno que excede los requerimientos anabólicos. En ayuno, aunque no haya aporte dietario, la proteólisis endógena y el reciclado generan nitrógeno; luego la cetosis reduce el catabolismo proteico relativo. El riñón excreta urea filtrada y reabsorbida en proporciones que dependen del flujo y de la ADH; la concentración de urea no es idéntica a su velocidad de producción.</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Cuando el aporte proteico excede la síntesis y renovación, aumentan la desaminación y la producción de urea; los riñones deben eliminar una mayor carga osmótica. El volumen mínimo de orina depende de los osmoles a excretar dividido la osmolalidad urinaria máxima: por ejemplo, 900 mOsm/d requerirían al menos 0,75 L si se alcanzan 1200 mOsm/kg; con menor capacidad de concentración el volumen necesario será mayor. Es un ejemplo teórico: esas cifras dependen de edad, función renal, ADH y contexto. En enfermedad renal se individualizan las necesidades proteicas, hídricas y electrolíticas.</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 iniciarse un ayuno prolongado, parte de la glucosa necesaria surge de esqueletos carbonados de aminoácidos musculares (alanina, glutamina); su desaminación aumenta la carga de nitrógeno al hígado, eleva el flujo de urea y puede inducir enzimas ureogénicas; también se regula NAG/CPS1. Pero no sube indefinidamente: con varios días de ayuno el SNC utiliza cantidades crecientes de cetonas, se conserva proteína y disminuye la excreción urinaria de nitrógeno respecto del pico inicial. La afirmación "la inanición aumenta las enzimas de la urea" solo es adecuada si se aclara la fase y si se habla de actividad o de expresión. En etapas terminales por agotamiento de grasa vuelve a intensificarse la proteólisis. La curva es conceptual (sin valores medidos).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Glutamina en distintos órganos. Hepatocito: la glutaminasa periportal libera NH4+ para la ureogénesis y la GS perivenosa captura el amonio residual; el hígado decide netamente producir o consumir glutamina según el balance ácido–base y el estado nutricional. Enterocito: combustible y precursor de nucleótidos; glutaminasa → glutamato → α-cetoglutarato; produce NH3 y citrulina (la suplementación clínica rutinaria requiere evidencia específica). Músculo: captura nitrógeno en glutamina mediante GS, sobre todo en estados catabólicos. Astrocito–neurona: recicla glutamato/GABA; en hiperamonemia la glutamina se acumula. Riñón: glutaminasa y GDH generan NH4+ y bicarbonato nuevo. Tejidos de recambio rápido: N para purinas/pirimidinas y anaplerosis; no deducir que la glutamina alimente selectivamente al tumor ni que siempre convenga restringirla.</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Riñón (túbulo proximal): la glutamina de la sangre entra a la célula y a la mitocondria; la glutaminasa produce glutamato + NH4+ y la GDH α-cetoglutarato + NH4+. El NH4+ se secreta a la luz (por NHE3 y otros mecanismos) y se excreta: es un mecanismo crucial de excreción de ácido neto. El metabolismo del esqueleto carbonado (α-KG → gluconeogénesis) genera bicarbonato nuevo que vuelve a la sangre. Es especialmente relevante en acidosis y ayuno. La animación sigue la glutamina desde el capilar hasta la orina (NH4+) y la sangre (glucosa y HCO3−).</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corteza renal, especialmente el túbulo proximal, realiza gluconeogénesis: lactato → piruvato; glutamina → glutamato → α-cetoglutarato → intermediarios de Krebs → oxaloacetato; glicerol → DHAP. Piruvato carboxilasa, PEPCK (PCK1/PCK2), FBPasa y G6Pasa permiten liberar glucosa. La contribución renal aumenta relativamente con el ayuno. Acoplamiento ácido–base: la glutaminólisis forma NH4+ (orina) y HCO3− nuevo (sangre); la acidosis aumenta la amoniogénesis. La médula renal es más glucolítica y produce lactato. La insuficiencia renal puede alterar la homeostasis glucémica por menor gluconeogénesis y menor eliminación de insulina, entre otros mecanismos.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Distinciones obligatorias: ureogénesis (hígado, urea, consume bicarbonato) frente a amoniogénesis (riñón, NH4+, genera bicarbonato nuevo); glutaminasa (libera NH4+) frente a glutamina sintetasa (captura NH4+ gastando ATP).</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Adenilato cinasa (mioquinasa): 2 ADP ⇌ ATP + AMP. En ejercicio de máxima intensidad, la caída de ATP y el aumento de ADP impulsan generación adicional inmediata de ATP; el AMP acumulado señaliza el déficit energético activando AMPK y PFK-1. La AMP desaminasa (AMPD1 en músculo) cataliza AMP + H2O → IMP + NH3; al remover AMP favorece termodinámicamente la continuación de la reacción de adenilato cinasa y controla el pool de adenilatos. Participa en el ciclo de nucleótidos de purina: IMP + aspartato (+ GTP) → adenilosuccinato → AMP + fumarato, con producción de fumarato (anaplerosis) y eliminación de nitrógeno.</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Costo adaptativo: al descender el AMP total se modifica la señal metabólica; si hay degradación continua de IMP a inosina, hipoxantina, xantina y ácido úrico, aumenta la pérdida de nucleótidos purínicos y el riesgo de hiperuricemia transitoria. Durante el esfuerzo intenso la degradación de ATP puede elevar hipoxantina y lactato; el lactato puede competir con la excreción renal de urato. El déficit de AMPD1 puede asociarse a intolerancia al ejercicio y calambres o ser asintomático.</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Tejido adiposo blanco: adipocito grande unilocular, una gota predominante de TAG, núcleo desplazado a la periferia, menor densidad mitocondrial por volumen, vascularización y matriz con células inmunes y fibroblastos. Tejido adiposo marrón: adipocitos multiloculares, numerosas mitocondrias ricas en citocromos (color), rica irrigación e inervación simpática; contiene UCP1 (termogenina) en la membrana mitocondrial interna.</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Termogénesis en el tejido adiposo marrón: el frío activa el simpático; la noradrenalina actúa sobre receptores β-adrenérgicos → AMPc/PKA → lipólisis; los AG liberados activan UCP1 y además son combustible. La cadena respiratoria bombea protones; la UCP1 permite su retorno a la matriz sin pasar por la ATP sintasa, de modo que la energía del gradiente se disipa como calor (animación: fuga de protones y llama). T3 favorece la maquinaria termogénica; pueden emerger adipocitos beige en determinados depósitos blancos según estímulos.</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El tejido adiposo blanco almacena AG como TAG, libera AG y glicerol, amortigua el desbordamiento de lípidos hacia otros órganos, aísla y protege, y secreta hormonas y citocinas: leptina (tamaño aproximado de las reservas), adiponectina (mejora la sensibilidad insulínica y la oxidación; generalmente inversa a la adiposidad visceral), resistina (papel humano diferente al murino), TNF-α, IL-6, PAI-1, angiotensinógeno y múltiples adipocinas, cuya fuente puede ser el adipocito o las células inmunes estromales. Visceral y subcutáneo se comportan distinto. La pérdida de capacidad de expansión sana favorece el almacenamiento ectópico; la lipodistrofia produce diabetes e hipertrigliceridemia severas a pesar de la poca grasa corporal.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Entrada de energía: disponibilidad, elección, comportamiento alimentario, hambre, saciedad, digestión, absorción y biodisponibilidad; factores hipotalámicos, hedónicos y sociales interactúan. Gasto: metabolismo basal/reposo, actividad física voluntaria e involuntaria, efecto térmico de la alimentación y termogénesis adaptativa. El peso cambia si la ingesta absorbida y el gasto divergen sostenidamente; el cuerpo modifica ambos con la propia variación de peso.</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Hipotálamo y tronco encefálico integran señales de leptina, insulina, PYY, GLP-1, CCK, grelina, vagales y nutrientes. Intestino: absorción, incretinas y saciedad; páncreas: insulina/glucagón; hígado: distribuye combustibles e informa por señales metabólicas y neuronales; adiposo: almacena y envía leptina, adiponectina y AG; músculo: principal reservorio de proteínas y gran consumidor de energía durante la actividad; tiroides: modula el gasto basal; riñón: equilibra agua, nitrógeno, glucosa y ácido–base; SNC: coordina apetito, recompensa, conducta y sistema autónomo. Control dinámico: la reducción de reservas desencadena respuestas compensatorias que dificultan mantener el descenso de peso.</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Núcleo arcuato: neuronas NPY/AgRP orexigénicas favorecen la ingesta (AgRP antagoniza o invierte el tono constitutivo de MC3R/MC4R; NPY actúa en receptores Y); neuronas POMC/CART anorexigénicas procesan POMC a α-MSH, que activa MC4R en circuitos de saciedad y gasto (la expresión de CART no es marcador exclusivo de todas las acciones de POMC). Leptina e insulina tienden a activar POMC y frenar AgRP vía JAK2–STAT3 y PI3K según receptor y célula; la señal puede desarrollar resistencia con la obesidad. La grelina gástrica en ayuno actúa en GHS-R estimulando NPY/AgRP y el hambre; el PYY3-36 activa Y2 e inhibe las neuronas NPY/AgRP.</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Núcleo paraventricular (PVN): salida autonómica y endocrina (CRH → ACTH → cortisol; TRH → TSH → T4/T3), proyecciones melanocortínicas y control simpático. Núcleo ventromedial (VMH): detección de energía/glucosa y control de gasto, simpático y conducta; no es exclusivamente "centro de saciedad". Área hipotalámica lateral: orexina/hipocretina y MCH conectan alerta, búsqueda de alimento y gasto; tronco encefálico/NTS integra señales vagales. CCK (células I), PYY3-36 (células L, receptor Y2), polipéptido pancreático (células PP, distinto del PYY), GLP-1 e insulina.</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TRH hipotalámica → TSH adenohipofisaria → producción tiroidea; la T3 nuclear regula el metabolismo basal, la bomba Na+/K+, el gasto y la termogénesis. CRH–ACTH–cortisol moviliza energía bajo estrés; su exceso crónico favorece hiperfagia en algunos contextos, adiposidad central, hiperglucemia y catabolismo muscular. Integración en ayuno y saciedad. Preguntas para la exposición: ¿cómo puede una persona con leptina alta tener hambre? (resistencia a la señalización central y circuitos redundantes); ¿por qué el hipertiroidismo suele causar pérdida de peso pese al hambre? (el gasto aumentado puede exceder el aporte); ¿por qué cuesta mantener el peso perdido? (señales compensatorias de hambre y ahorro energético).</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 frase es demasiado absoluta. Los carbohidratos aportan energía; al consumirlos se oxidan, reponen glucógeno y, bajo determinadas condiciones, alimentan la lipogénesis de novo. El exceso energético sostenido favorece la acumulación de grasa corporal independientemente de que las calorías excedentes provengan de azúcares, grasas o mezclas. La insulina facilita el almacenamiento lipídico e inhibe la lipólisis, pero no viola el balance energético.</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Ruta mecanística posible: sacarosa → glucosa + fructosa. Glucosa → glucólisis → piruvato → acetil-CoA → citrato citosólico → ACC/FASN → AG → TAG. Fructosa hepática vía fructocinasa/KHK → fructosa-1-fosfato → triosas por la aldolasa B, que entran en gluconeogénesis, glucólisis, glucógeno, lactato y DNL. La fructosa evita el paso regulado por PFK-1. En ingestas elevadas y sostenidas, especialmente bebidas azucaradas, pueden aumentar la DNL y los TAG hepáticos/VLDL (Unidad V, patología 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Consecuencia nutricional: el azúcar añadido líquido tiene baja capacidad saciante por caloría en muchas circunstancias y facilita la ingesta excesiva. Las frutas enteras contienen azúcares junto con fibra, agua y matriz alimentaria y no son metabólicamente intercambiables con grandes dosis de bebidas azucaradas. Errores frecuentes: "toda la fructosa se convierte en grasa" y "comer azúcar se convierte automáticamente en grasa".</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V. Cada situación se analiza con la misma secuencia: funcionamiento normal, alteración primaria, mecanismo molecular, consecuencias metabólicas, compensaciones, manifestaciones clínicas, integración interorgánica y un esquema final que contrasta lo normal con lo patológico.</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1. La insuficiencia hepática altera simultáneamente producción, depuración, almacenamiento, síntesis proteica y biotransformación; cada cambio tiene repercusiones interorgánicas. No todo paciente con enzimas de lesión elevadas tiene insuficiencia de síntesis: ALT/AST indican lesión, mientras INR/tiempo de protrombina, factor V, bilirrubina, albúmina y la evolución clínica orientan, con limitaciones, a funciones específicas. La tira inferior indica la etapa del análisis fisiopatológico en curso.</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1) Homeostasis de glucosa: disminución del glucógeno útil y de la salida de glucosa por glucogenólisis y gluconeogénesis → hipoglucemia en la insuficiencia severa, sobre todo en ayuno o desnutrición; pueden coexistir resistencia insulínica e hiperglucemia en la cirrosis por alteraciones complejas de captación y depuración de insulina. 2) Detoxificación nitrogenada: disminución de la capacidad del ciclo de la urea y derivación portosistémica → hiperamonemia, glutamina astroglial aumentada, disfunción de la neurotransmisión y encefalopatía; no todos los síntomas se deben solo al amonio plasmático.</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3) Síntesis proteica plasmática: menos albúmina → menor presión oncótica, que participa con la hipertensión portal y la retención renal de sodio en la ascitis y los edemas; menos factores de coagulación → INR prolongado. En la hepatopatía crónica disminuyen simultáneamente proteínas procoagulantes y anticoagulantes, por lo que el INR no refleja por sí solo el riesgo hemorrágico. 4) Bilirrubina y sales biliares: captación, conjugación o excreción alteradas → ictericia, coluria según la fracción y colestasis; menor secreción de bilis → malabsorción de lípidos y vitaminas A, D, E, K y esteatorrea, según el tipo y grado de lesión.</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5) Lípidos: alteración de la síntesis de VLDL, de la esterificación/oxidación de AG y de la producción/eliminación de colesterol → perfiles heterogéneos de TAG y colesterol; la esteatosis puede coexistir con desnutrición. 6) Hormonas: disminuye la depuración hormonal y cambia el metabolismo de esteroides y tiroideas → hiperestrogenismo relativo, cambios de masa muscular, hipogonadismo y alteraciones glucémicas. 7) Fármacos: menor actividad CYP/UGT, menor primer paso y cambios de albúmina/flujo → dosis efectivas y toxicidad variables. 8) Lactato: depuración reducida → hiperlactatemia, sobre todo con hipoperfusión; el lactato elevado no prueba necesariamente hipoxia aislada.</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Esquema final de la patología 1 y eje clínico: en la falla hepática conviene estudiar glucosa, INR, bilirrubina, función renal, sodio, estado nutricional, precipitantes de encefalopatía y signos hemodinámicos, más que memorizar "el hígado hace 500 funciones". Integración interorgánica: cerebro (encefalopatía), riñón (retención de sodio, síndrome hepatorrenal), músculo (sarcopenia, menor captación muscular de amonio), intestino (fuente de amonio) y sistema endocrino.</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2. La fructosa se metaboliza principalmente en el intestino y el hígado; cuando la carga supera la capacidad intestinal, una mayor fracción alcanza el hígado. Allí su entrada por fructocinasa evita el paso limitante de PFK-1, lo que puede favorecer un flujo rápido de triosas en determinadas cargas. Las fichas naranjas muestran el paso de fructosa del intestino al hígado; con mayor carga, más fructosa llega al hígado.</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En el hígado la KHK/fructocinasa forma fructosa-1-fosfato consumiendo ATP; la aldolasa B produce gliceraldehído y DHAP; la triosa cinasa forma gliceraldehído-3-P. Secuencia de exceso sostenido: triosas → piruvato/acetil-CoA, glicerol-3-P y señales de carbohidratos → ↑ DNL vía ChREBP/SREBP-1c → TAG hepáticos y VLDL. El consumo rápido de ATP y la degradación de AMP → IMP → ácido úrico pueden acompañar a las altas cargas. La fructosa también contribuye a glucógeno y lactato.</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Consecuencias: TAG hepáticos y VLDL, posible aumento de urato; el exceso calórico y la baja saciedad de las bebidas facilitan la acumulación adiposa, la resistencia insulínica y la esteatosis. Interpretación de la evidencia: los experimentos isocalóricos y con sobrealimentación no dan exactamente la misma respuesta; el exceso energético importa. Las asociaciones epidemiológicas pueden incluir factores dietarios y de adiposidad; los mecanismos moleculares no implican causalidad única universal.</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Esquema final: con cargas moderadas (por ejemplo, fruta entera) la mayor parte de la fructosa se maneja en el intestino y el hígado la deriva a glucosa, glucógeno y lactato; con cargas altas y sostenidas, más fructosa llega al hígado y, sin el freno de PFK-1, aumenta la lipogénesis de novo, los TAG hepáticos, la VLDL y el urato. Integración: intestino → hígado → adiposo/músculo (resistencia insulínica) → riñón (urato).</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3. Los AG largos no atraviesan eficazmente la membrana mitocondrial interna como acil-CoA: requieren CPT1 → acilcarnitina → CACT → CPT2. Una deficiencia hepática de CPT1A o de carnitina utilizable reduce la β-oxidación hepática durante el ayuno.</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Cadena causal correcta: defecto de importación mitocondrial hepática → β-oxidación inadecuada → menos ATP/NADH y menos acetil-CoA activador de la piruvato carboxilasa → menor capacidad de sostener la gluconeogénesis y menor cetogénesis → el SNC, que no utiliza grandes cantidades de AG de cadena larga como combustible directo, recibe menos glucosa y menos cuerpos cetónicos → hipoglucemia hipocetósica, letargo, convulsiones o encefalopatía. No debe explicarse diciendo que las neuronas dependen de CPT1 para oxidar AG largos a gran escala.</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Clínica y diagnóstico: crisis tras enfermedad o ayuno, hipoglucemia, cetonas inadecuadamente bajas, hepatomegalia y posible hiperamonemia; el perfil de acilcarnitinas y la genética orientan. La deficiencia sistémica de carnitina puede afectar también miocardio y músculo, y no es idéntica al defecto aislado de CPT1A. El abordaje específico exige un equipo de enfermedades metabólicas; evitar el ayuno prolongado es un principio general.</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4. En la hiperquilomicronemia por alteración grave de LPL o proteínas relacionadas (ApoC-II, GPIHBP1, APOA5), los QM se depuran deficientemente y los TAG circulantes pueden alcanzar valores elevados con riesgo de pancreatitis. Los TAG C8/C10, una vez digeridos, generan AG que se absorben en mayor proporción por vía portal y usan menos el ensamblaje de QM, frente a los AG largos.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Mecanismo: los MCT aportan energía con menor carga sobre la vía intestinal QM → LPL y pueden oxidarse sin la dependencia habitual de carnitina/CPT1. Límites: la dieta suele requerir restricción intensa de AG de cadena larga, supervisión nutricional y garantizar AG esenciales y vitaminas liposolubles; no debe sustituirse grasa larga por mezclas con laurato suponiendo que todos los MCT se comportan igual. En la quilomicronemia multifactorial, limitar azúcares refinados y alcohol también importa porque aumentan la producción de VLDL. Los MCT no curan la deficiencia de LPL ni hacen innecesario el tratamiento especializado.</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5. Corte de la pared arterial: luz, endotelio, íntima, media con células de músculo liso y adventicia. Normalmente, las partículas con ApoB entregan colesterol a los tejidos mediante el LDLR regulado por SREBP-2. La alteración primaria de la aterogénesis es la exposición acumulada a partículas con ApoB (LDL, remanentes de VLDL/IDL y Lp(a)) que atraviesan el endotelio y quedan retenidas por interacción con proteoglucanos de la íntima.</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1) Entrada y retención: las partículas con ApoB atraviesan el endotelio y quedan retenidas por proteoglucanos. 2) Modificación: agregación, oxidación y acción enzimática favorecen la captación por macrófagos vía receptores scavenger (CD36, SR-A), que, a diferencia del LDLR, no se regulan adecuadamente a la baja por la carga intracelular → células espumosas. 3) Inflamación: monocitos, linfocitos T, citocinas e inflamasoma participan en la lesión crónica. 4) Placa: muerte celular, núcleo necrótico, proliferación de músculo liso y matriz fibrosa; la ruptura o erosión puede desencadenar trombosis. La animación sigue la LDL desde la luz hasta la formación de la célula espumosa y la placa.</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HDL: ApoA-I/ABCA1/ABCG1 favorecen el eflujo de colesterol de macrófagos, la LCAT lo esterifica y SR-BI permite su retorno hepático; se describen funciones antiinflamatorias, antioxidantes y endoteliales en algunos modelos. Sin embargo, un HDL-C plasmático elevado no demuestra que el transporte reverso sea eficiente, y los tratamientos que únicamente elevan HDL-C no han garantizado menos eventos cardiovasculares. LDL y HDL no son "colesterol malo" y "bueno" como entidades químicas diferentes: el colesterol es la misma molécula en transportadores distintos.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6. Las VLDL y los remanentes ricos en TAG pueden penetrar la íntima; tras la acción de la LPL pierden TAG pero mantienen cantidades significativas de colesterol, adquieren menor tamaño y pueden retenerse en la pared. La cantidad de colesterol transportado por remanentes ApoB, no el TAG libre dentro de una célula espumosa, es un mecanismo clave. La hipertrigliceridemia a menudo señala resistencia a la insulina, mayor número de remanentes, HDL bajo y LDL pequeñas y densas.</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Dos desenlaces diferentes: (a) riesgo cardiovascular aterosclerótico, sobre todo por remanentes/ApoB y comorbilidades; (b) riesgo de pancreatitis cuando los TAG alcanzan niveles muy altos, particularmente &gt;500 mg/dL de forma creciente y muy marcado desde ~1000 mg/dL, con cifras que no son umbrales absolutos. Alcohol, descontrol glucémico, hipotiroidismo, fármacos y genética modifican los TG. No reducir la interpretación clínica de TAG elevados a "riesgo de infarto".</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Mecanismo integrador en la resistencia insulínica: lipólisis adiposa mal suprimida → AG portales al hígado → reesterificación y VLDL ↑; aumento de la DNL y menor depuración de partículas → hipertrigliceridemia. La CETP redistribuye TAG y colesterol esterificado; la lipasa hepática remodela HDL y LDL. Tratar la etiología reduce la producción y/o mejora la depuración.</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7. Normalmente el amoníaco producido por bacterias intestinales con ureasa y por el metabolismo intestinal de glutamina llega por la porta al hígado, que lo convierte en urea y glutamina; el músculo también lo capta como glutamina. En la cirrosis disminuye la ureogénesis, las derivaciones portosistémicas evitan el primer paso y la sarcopenia reduce la captación muscular de amonio.</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Explicación mecanística de la consigna histórica: menos sustrato proteico intestinal significa menor producción de amonio por bacterias y menor carga nitrogenada hepática; el antibiótico poco absorbible reduce las bacterias productoras de ureasa; la lactulosa, no hidrolizada por disacaridasas humanas, llega al colon, fermenta y acidifica el contenido, favoreciendo la conversión de NH3 difusible en NH4+ atrapado, y acelera el tránsito. La animación muestra la protonación del amoníaco en la luz colónica. No debe confundirse con "neutralizar amonio en sangre".</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Corrección clínica imprescindible (guías actuales, por ejemplo ACG 2026 sobre encefalopatía hepática): en la cirrosis con encefalopatía no se recomienda restringir rutinariamente la proteína a ≤0,8 g/kg/día, porque puede aumentar la sarcopenia, empeorar la depuración muscular de amonio y no acortar la encefalopatía; suelen recomendarse 1,2–1,5 g/kg/día individualizando y evitando ayunos largos. La neomicina puede generar nefrotoxicidad y ototoxicidad y no es de primera elección; la rifaximina se usa como adyuvante de la lactulosa y para prevenir recurrencias. La lactulosa sigue siendo el tratamiento principal, titulada para 2–3 deposiciones blandas por día. Explicar el fundamento bioquímico no equivale a recomendarlo hoy.</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Esquema final: con aporte proteico adecuado se preserva la masa muscular, que actúa como sumidero de amonio (glutamina sintetasa); la restricción crónica genera sarcopenia y menor captura muscular de amonio. Integración: intestino (producción de NH3) → hígado (urea) → músculo (glutamina) → cerebro (astrocito).</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Patología 8. Ruta común: nucleoproteínas/nucleótidos → bases purínicas; AMP → IMP → inosina → hipoxantina; GMP → guanosina → guanina → xantina; la xantina oxidorreductasa (deshidrogenasa/oxidasa) convierte hipoxantina → xantina → ácido úrico. Los humanos carecen de uricasa funcional y dependen de la excreción renal e intestinal. La hiperuricemia puede resultar de sobreproducción, subexcreción o ambas.</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 Alta ingesta de ácidos nucleicos/purinas: si la producción supera la excreción sube el urato; no todo alimento proteico contiene igual cantidad de purinas. b) Ejercicio extremo: gran hidrólisis de ATP; adenilato cinasa y AMPD → IMP → hipoxantina → urato; lactato elevado y depleción de volumen pueden reducir la excreción renal transitoriamente. c) Células tumorales: recambio rápido, especialmente en el síndrome de lisis tumoral → aumento brusco de K+, fosfato y urato, hipocalcemia secundaria y lesión renal aguda; el urato puede precipitar en los túbulos. Es una urgencia. d) Insuficiencia renal: menor filtración y alteración del manejo tubular (URAT1/SLC22A12, GLUT9/SLC2A9, ABCG2).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Puente con la fructosa: grandes cargas consumen ATP rápido y pueden acelerar la degradación purínica hacia urato; es una vía propuesta y demostrada mecanísticamente, pero la magnitud clínica varía entre individuos y dosis. Clínica: hiperuricemia no equivale automáticamente a gota; valorar síntomas, función renal, etiología y contexto. Esquema final: balance entre producción y excreción, y los puntos donde cada escenario lo altera.</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Unidad VI. Cada caso se desarrolla en ocho etapas: presentación, datos clínicos y bioquímicos, identificación del problema fisiológico, mecanismo molecular, respuesta hormonal, adaptaciones de los órganos, consecuencias clínicas y resolución fisiopatológica. Los datos se presentan de forma cualitativa (sin cifras inventadas).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A, presentación. Interpretación: una glucemia dentro de rango no prueba que el hígado esté inactivo. Se presentan los datos de forma cualitativa.</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A, mecanismo: la caída de insulina reduce el freno lipolítico adiposo → aumentan AG y glicerol; el hígado β-oxida AG para obtener ATP, mientras la glucogenólisis y la gluconeogénesis compensan la falta de absorción intestinal. Predicción: insulina relativamente menor que en el posprandial, glucagón relativo mayor, malonil-CoA hepático menor, CPT1 y β-oxidación más activos.</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A, resolución: es el patrón fisiológico del ayuno nocturno. Qué no concluir: cetosis elevada obligatoria ni agotamiento completo del glucógeno a las 12 h.</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B, presentación: diabetes con hiperglucemia, TAG altos y grasa hepática. Datos cualitativos.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B, mecanismo: el músculo capta menos glucosa estimulada por insulina y la producción hepática no se suprime → glucemia elevada. El adiposo resistente a la acción antilipolítica envía más AG al hígado; junto con la lipogénesis de novo y factores genéticos se favorece la reesterificación a TAG y la secreción de VLDL. Distinción: insulina plasmática frente a sensibilidad tisular.</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B, resolución: correlacionar glucosa/HbA1c, TAG, colesterol no-HDL/ApoB, transaminasas (normales no descartan esteatosis), contexto antropométrico y clínica. El hígado graso no se explica solo por grasa ingerida.</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C, presentación: niño con vómitos, ayuno, hipoglucemia y cetonas bajas.</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C, mecanismo: sospecha de defecto de oxidación de AG/carnitina/CPT1 o hiperinsulinismo, entre otras causas. En hipoglucemia ordinaria se espera contrarregulación y cetonas; si son inadecuadamente bajas, falla el acceso a AG/cetogénesis o existe inhibición por insulina. Mecanismo cerebral: menos glucosa y menos cetonas → déficit energético neurológico.</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C, resolución: se trata de una emergencia metabólica que requiere atención urgente, no de un ejercicio de ayuno voluntario.</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D, presentación: cirrosis, sarcopenia y encefalopatía.</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D, mecanismo: los hepatocitos depuran menos NH4+ como urea, las derivaciones portosistémicas evitan el primer paso, el intestino genera amonio y el músculo sarcopénico pierde capacidad de incorporar NH4+ a glutamina.</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D, resolución: restricción proteica crónica agravaría la pérdida muscular. Enfoque contemporáneo: tratamiento de precipitantes, lactulosa, rifaximina según indicación y objetivos nutricionales proteicos adecuados.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E, presentación: deportista luego de ejercicio extenuante con uricemia transitoriamente alta.</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E, mecanismo: consumo de ATP aumentado → ADP/AMP aumentados → AMPD1 forma IMP; el IMP se degrada a hipoxantina y urato; el aumento de lactato y la deshidratación reducen la excreción.</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E, resolución: evaluar tiempo desde el esfuerzo, volumen, función renal, fármacos y síntomas. La cadena conecta ejercicio, nucleótidos y ácido úrico.</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F, presentación: TG extremadamente altos y dolor abdominal.</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F, mecanismo: exceso de QM/VLDL por producción o aclaramiento insuficiente; la lipólisis local de TAG por lipasas y los efectos inflamatorios contribuyen a la lesión pancreática.</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Caso F, resolución: evaluación clínica urgente; los AG C8/C10 disminuyen la carga sobre QM respecto de cadenas largas, pero deben preservarse los AG esenciales.</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Red de enzimas de alta rentabilidad para examen oral o de opción múltiple: para cada enzima, la señal clave que la regula y la vía o efecto que controla. Relacionar cada fila con la escala de regulación (alostérica, covalente o génica) y con el estado nutricional.</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Red de enzimas de alta rentabilidad para examen oral o de opción múltiple: para cada enzima, la señal clave que la regula y la vía o efecto que controla. Relacionar cada fila con la escala de regulación (alostérica, covalente o génica) y con el estado nutricional.</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Esquema oral de cinco preguntas maestras para cualquier situación metabólica: 1) ¿cuál es la señal?; 2) ¿dónde ocurre?; 3) ¿qué enzima decide y con qué tipo de control?; 4) ¿a dónde va el carbono o el nitrógeno?; 5) ¿qué problema resuelve y qué pasa si falla? Secuencia sugerida para exponer: primero señal → receptor; después enzima activada o inhibida; después flujo metabólico; por último el cambio plasmático o el síntoma.</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Errores conceptuales especialmente frecuentes: cada afirmación incorrecta (izquierda, rojo) aparece con su corrección fisiológica (derecha, verde). Usar como ejercicio de discusión: mostrar primero el error y pedir a los estudiantes que lo corrijan antes del siguiente clic.</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Errores conceptuales especialmente frecuentes: cada afirmación incorrecta (izquierda, rojo) aparece con su corrección fisiológica (derecha, verde). Usar como ejercicio de discusión: mostrar primero el error y pedir a los estudiantes que lo corrijan antes del siguiente clic.</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Distinciones conceptuales verificadas a lo largo de la clase. Cada par resume la diferencia esencial; las diapositivas de cada tema desarrollan el mecanismo correspondiente.</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Distinciones conceptuales verificadas a lo largo de la clase. Cada par resume la diferencia esencial; las diapositivas de cada tema desarrollan el mecanismo correspondiente.</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Gran esquema final: todos los órganos conectados por la sangre. Primer clic: la circulación. Segundo: la capa del estado alimentado (flechas azules: glucosa desde el intestino al hígado, músculo, adiposo y cerebro). Tercero: se reemplaza por la capa del ayuno (flechas violetas: AG y glicerol desde el adiposo, glucosa desde hígado y riñón, alanina desde el músculo, cuerpos cetónicos hacia el cerebro). Cuarto: las hormonas que gobiernan los cambios (insulina, glucagón, cortisol, adrenalina, leptina, T3). Quinto: superposición de ambas capas para cerrar con la idea de alternancia: abundancia y carencia se suceden y cada tejido determina lo que queda disponible para el resto.</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Referencias completas y enlaces (para consulta del docente):</a:t>
            </a:r>
          </a:p>
          <a:p>
            <a:r>
              <a:t>Goldberg D, Goldstein I. Endocrine regulation of the hepatic fasting response. Nature Reviews Endocrinology. 2026. https://www.nature.com/articles/s41574-025-01228-3</a:t>
            </a:r>
          </a:p>
          <a:p>
            <a:r>
              <a:t>From starvation to time-restricted eating: a review of fasting physiology (2024). https://pmc.ncbi.nlm.nih.gov/articles/PMC12455479/</a:t>
            </a:r>
          </a:p>
          <a:p>
            <a:r>
              <a:t>Complex physiology and clinical implications of time-restricted eating. Physiological Reviews. 2022. https://journals.physiology.org/doi/full/10.1152/physrev.00006.2022</a:t>
            </a:r>
          </a:p>
          <a:p>
            <a:r>
              <a:t>Vallon V, Wewer Albrechtsen NJ. Metabolic control by liver–kidney crosstalk and glucagon in health and disease. Nature Reviews Nephrology. 2026. https://www.nature.com/articles/s41581-026-01111-y</a:t>
            </a:r>
          </a:p>
          <a:p>
            <a:r>
              <a:t>de Graaf et al. Getting in the zone: Metabolite transport across liver zones. Acta Physiologica. 2024. https://onlinelibrary.wiley.com/doi/10.1111/apha.14239</a:t>
            </a:r>
          </a:p>
          <a:p>
            <a:r>
              <a:t>ACG Clinical Guideline: Hepatic Encephalopathy. Am J Gastroenterol. 2026. https://doi.org/10.14309/ajg.0000000000003899</a:t>
            </a:r>
          </a:p>
          <a:p>
            <a:r>
              <a:t>AASLD Practice Guidance on Acute-on-Chronic Liver Failure. Hepatology. https://doi.org/10.1097/hep.0000000000000671</a:t>
            </a:r>
          </a:p>
          <a:p>
            <a:r>
              <a:t>Lee K et al. Carnitine Palmitoyltransferase 1A Deficiency. GeneReviews, actualización 2025. https://www.ncbi.nlm.nih.gov/books/NBK1527/</a:t>
            </a:r>
          </a:p>
          <a:p>
            <a:r>
              <a:t>Approach to the Adult Patient with Chylomicronemia. J Clin Endocrinol Metab. 2026. https://academic.oup.com/jcem/article/111/3/845/8407532</a:t>
            </a:r>
          </a:p>
          <a:p>
            <a:r>
              <a:t>Geidl-Flueck B, Gerber PA. Fructose drives de novo lipogenesis affecting metabolic health. J Endocrinol. 2023. https://pubmed.ncbi.nlm.nih.gov/36753292/</a:t>
            </a:r>
          </a:p>
          <a:p>
            <a:r>
              <a:t>ACC Expert Consensus Decision Pathway on Persistent Hypertriglyceridemia. JACC. 2021. https://www.jacc.org/doi/10.1016/j.jacc.2021.06.011</a:t>
            </a:r>
          </a:p>
          <a:p>
            <a:r>
              <a:t>Brain Glucose Metabolism: Integration of Energetics with Function. Physiological Reviews. https://doi.org/10.1152/PHYSREV.00062.2017</a:t>
            </a:r>
          </a:p>
          <a:p>
            <a:r>
              <a:t>Fasting: Molecular Mechanisms and Clinical Applications. Cell Metabolism. 2014. https://pmc.ncbi.nlm.nih.gov/articles/PMC3946160/</a:t>
            </a:r>
          </a:p>
          <a:p>
            <a:r>
              <a:t>Criterio: el contenido de las diapositivas sigue el material de estudio de Integración Metabólica (43 consignas) y se amplía con los textos de referencia citados; las ampliaciones bibliográficas se indican en las notas de cada diapositiva. Los ejemplos numéricos son aproximaciones fisiológicas, no algoritmos de manejo; el acoplamiento lactato astrocito–neurona y la magnitud precisa de flujos en ayuno tienen variabilidad y debate.</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Cierre. Proponer a los estudiantes resolver un caso nuevo aplicando las cinco preguntas maestras.</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 Id="rId3"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xml"/><Relationship Id="rId3"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xml"/><Relationship Id="rId3"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9.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9.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s>
</file>

<file path=ppt/slides/slide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2" name="Deco eritrocito 0"/>
          <p:cNvSpPr/>
          <p:nvPr/>
        </p:nvSpPr>
        <p:spPr>
          <a:xfrm>
            <a:off x="-228600" y="-182880"/>
            <a:ext cx="822960" cy="82296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 name="Deco eritrocito 1"/>
          <p:cNvSpPr/>
          <p:nvPr/>
        </p:nvSpPr>
        <p:spPr>
          <a:xfrm>
            <a:off x="502920" y="137160"/>
            <a:ext cx="548640" cy="54864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4" name="Deco eritrocito 2"/>
          <p:cNvSpPr/>
          <p:nvPr/>
        </p:nvSpPr>
        <p:spPr>
          <a:xfrm>
            <a:off x="182880" y="685800"/>
            <a:ext cx="502920" cy="50292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5" name="Deco eritrocito 3"/>
          <p:cNvSpPr/>
          <p:nvPr/>
        </p:nvSpPr>
        <p:spPr>
          <a:xfrm>
            <a:off x="1005840" y="-137160"/>
            <a:ext cx="457200" cy="45720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nvGrpSpPr>
          <p:cNvPr id="6" name="Deco mitocondria"/>
          <p:cNvGrpSpPr/>
          <p:nvPr/>
        </p:nvGrpSpPr>
        <p:grpSpPr>
          <a:xfrm>
            <a:off x="1371600" y="411480"/>
            <a:ext cx="822960" cy="411480"/>
            <a:chOff x="1371600" y="411480"/>
            <a:chExt cx="822960" cy="411480"/>
          </a:xfrm>
        </p:grpSpPr>
        <p:sp>
          <p:nvSpPr>
            <p:cNvPr id="7" name="Forma 6"/>
            <p:cNvSpPr/>
            <p:nvPr/>
          </p:nvSpPr>
          <p:spPr>
            <a:xfrm rot="1200000">
              <a:off x="1371600" y="411480"/>
              <a:ext cx="822960" cy="41148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8" name="Forma 7"/>
            <p:cNvSpPr/>
            <p:nvPr/>
          </p:nvSpPr>
          <p:spPr>
            <a:xfrm rot="1200000">
              <a:off x="1429207" y="469087"/>
              <a:ext cx="707746" cy="296266"/>
            </a:xfrm>
            <a:prstGeom prst="ellipse">
              <a:avLst/>
            </a:prstGeom>
            <a:solidFill>
              <a:srgbClr val="F8D8B4"/>
            </a:solidFill>
            <a:ln w="9525" cap="rnd">
              <a:solidFill>
                <a:srgbClr val="B2732B"/>
              </a:solidFill>
              <a:round/>
            </a:ln>
          </p:spPr>
        </p:sp>
        <p:sp>
          <p:nvSpPr>
            <p:cNvPr id="9" name="Forma 8"/>
            <p:cNvSpPr/>
            <p:nvPr/>
          </p:nvSpPr>
          <p:spPr>
            <a:xfrm rot="1200000">
              <a:off x="1429207" y="469087"/>
              <a:ext cx="707746" cy="29626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10" name="Deco fibra 1"/>
          <p:cNvGrpSpPr/>
          <p:nvPr/>
        </p:nvGrpSpPr>
        <p:grpSpPr>
          <a:xfrm>
            <a:off x="-365760" y="5806440"/>
            <a:ext cx="2926080" cy="457200"/>
            <a:chOff x="-365760" y="5806440"/>
            <a:chExt cx="2926080" cy="457200"/>
          </a:xfrm>
        </p:grpSpPr>
        <p:sp>
          <p:nvSpPr>
            <p:cNvPr id="11" name="Forma 10"/>
            <p:cNvSpPr/>
            <p:nvPr/>
          </p:nvSpPr>
          <p:spPr>
            <a:xfrm>
              <a:off x="-365760" y="5806440"/>
              <a:ext cx="2926080" cy="4572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2" name="Forma 11"/>
            <p:cNvSpPr/>
            <p:nvPr/>
          </p:nvSpPr>
          <p:spPr>
            <a:xfrm>
              <a:off x="-251460" y="5806440"/>
              <a:ext cx="2697480" cy="457200"/>
            </a:xfrm>
            <a:custGeom>
              <a:avLst/>
              <a:gdLst/>
              <a:ahLst/>
              <a:cxnLst/>
              <a:rect l="0" t="0" r="r" b="b"/>
              <a:pathLst>
                <a:path w="1000" h="1000" fill="none">
                  <a:moveTo>
                    <a:pt x="14" y="80"/>
                  </a:moveTo>
                  <a:lnTo>
                    <a:pt x="14" y="920"/>
                  </a:lnTo>
                </a:path>
                <a:path w="1000" h="1000" fill="none">
                  <a:moveTo>
                    <a:pt x="42" y="80"/>
                  </a:moveTo>
                  <a:lnTo>
                    <a:pt x="42" y="920"/>
                  </a:lnTo>
                </a:path>
                <a:path w="1000" h="1000" fill="none">
                  <a:moveTo>
                    <a:pt x="71" y="80"/>
                  </a:moveTo>
                  <a:lnTo>
                    <a:pt x="71" y="920"/>
                  </a:lnTo>
                </a:path>
                <a:path w="1000" h="1000" fill="none">
                  <a:moveTo>
                    <a:pt x="100" y="80"/>
                  </a:moveTo>
                  <a:lnTo>
                    <a:pt x="100" y="920"/>
                  </a:lnTo>
                </a:path>
                <a:path w="1000" h="1000" fill="none">
                  <a:moveTo>
                    <a:pt x="128" y="80"/>
                  </a:moveTo>
                  <a:lnTo>
                    <a:pt x="128" y="920"/>
                  </a:lnTo>
                </a:path>
                <a:path w="1000" h="1000" fill="none">
                  <a:moveTo>
                    <a:pt x="157" y="80"/>
                  </a:moveTo>
                  <a:lnTo>
                    <a:pt x="157" y="920"/>
                  </a:lnTo>
                </a:path>
                <a:path w="1000" h="1000" fill="none">
                  <a:moveTo>
                    <a:pt x="185" y="80"/>
                  </a:moveTo>
                  <a:lnTo>
                    <a:pt x="185" y="920"/>
                  </a:lnTo>
                </a:path>
                <a:path w="1000" h="1000" fill="none">
                  <a:moveTo>
                    <a:pt x="214" y="80"/>
                  </a:moveTo>
                  <a:lnTo>
                    <a:pt x="214" y="920"/>
                  </a:lnTo>
                </a:path>
                <a:path w="1000" h="1000" fill="none">
                  <a:moveTo>
                    <a:pt x="242" y="80"/>
                  </a:moveTo>
                  <a:lnTo>
                    <a:pt x="242" y="920"/>
                  </a:lnTo>
                </a:path>
                <a:path w="1000" h="1000" fill="none">
                  <a:moveTo>
                    <a:pt x="271" y="80"/>
                  </a:moveTo>
                  <a:lnTo>
                    <a:pt x="271" y="920"/>
                  </a:lnTo>
                </a:path>
                <a:path w="1000" h="1000" fill="none">
                  <a:moveTo>
                    <a:pt x="300" y="80"/>
                  </a:moveTo>
                  <a:lnTo>
                    <a:pt x="300" y="920"/>
                  </a:lnTo>
                </a:path>
                <a:path w="1000" h="1000" fill="none">
                  <a:moveTo>
                    <a:pt x="328" y="80"/>
                  </a:moveTo>
                  <a:lnTo>
                    <a:pt x="328" y="920"/>
                  </a:lnTo>
                </a:path>
                <a:path w="1000" h="1000" fill="none">
                  <a:moveTo>
                    <a:pt x="357" y="80"/>
                  </a:moveTo>
                  <a:lnTo>
                    <a:pt x="357" y="920"/>
                  </a:lnTo>
                </a:path>
                <a:path w="1000" h="1000" fill="none">
                  <a:moveTo>
                    <a:pt x="385" y="80"/>
                  </a:moveTo>
                  <a:lnTo>
                    <a:pt x="385" y="920"/>
                  </a:lnTo>
                </a:path>
                <a:path w="1000" h="1000" fill="none">
                  <a:moveTo>
                    <a:pt x="414" y="80"/>
                  </a:moveTo>
                  <a:lnTo>
                    <a:pt x="414" y="920"/>
                  </a:lnTo>
                </a:path>
                <a:path w="1000" h="1000" fill="none">
                  <a:moveTo>
                    <a:pt x="442" y="80"/>
                  </a:moveTo>
                  <a:lnTo>
                    <a:pt x="442" y="920"/>
                  </a:lnTo>
                </a:path>
                <a:path w="1000" h="1000" fill="none">
                  <a:moveTo>
                    <a:pt x="471" y="80"/>
                  </a:moveTo>
                  <a:lnTo>
                    <a:pt x="471" y="920"/>
                  </a:lnTo>
                </a:path>
                <a:path w="1000" h="1000" fill="none">
                  <a:moveTo>
                    <a:pt x="500" y="80"/>
                  </a:moveTo>
                  <a:lnTo>
                    <a:pt x="500" y="920"/>
                  </a:lnTo>
                </a:path>
                <a:path w="1000" h="1000" fill="none">
                  <a:moveTo>
                    <a:pt x="528" y="80"/>
                  </a:moveTo>
                  <a:lnTo>
                    <a:pt x="528" y="920"/>
                  </a:lnTo>
                </a:path>
                <a:path w="1000" h="1000" fill="none">
                  <a:moveTo>
                    <a:pt x="557" y="80"/>
                  </a:moveTo>
                  <a:lnTo>
                    <a:pt x="557" y="920"/>
                  </a:lnTo>
                </a:path>
                <a:path w="1000" h="1000" fill="none">
                  <a:moveTo>
                    <a:pt x="585" y="80"/>
                  </a:moveTo>
                  <a:lnTo>
                    <a:pt x="585" y="920"/>
                  </a:lnTo>
                </a:path>
                <a:path w="1000" h="1000" fill="none">
                  <a:moveTo>
                    <a:pt x="614" y="80"/>
                  </a:moveTo>
                  <a:lnTo>
                    <a:pt x="614" y="920"/>
                  </a:lnTo>
                </a:path>
                <a:path w="1000" h="1000" fill="none">
                  <a:moveTo>
                    <a:pt x="642" y="80"/>
                  </a:moveTo>
                  <a:lnTo>
                    <a:pt x="642" y="920"/>
                  </a:lnTo>
                </a:path>
                <a:path w="1000" h="1000" fill="none">
                  <a:moveTo>
                    <a:pt x="671" y="80"/>
                  </a:moveTo>
                  <a:lnTo>
                    <a:pt x="671" y="920"/>
                  </a:lnTo>
                </a:path>
                <a:path w="1000" h="1000" fill="none">
                  <a:moveTo>
                    <a:pt x="700" y="80"/>
                  </a:moveTo>
                  <a:lnTo>
                    <a:pt x="700" y="920"/>
                  </a:lnTo>
                </a:path>
                <a:path w="1000" h="1000" fill="none">
                  <a:moveTo>
                    <a:pt x="728" y="80"/>
                  </a:moveTo>
                  <a:lnTo>
                    <a:pt x="728" y="920"/>
                  </a:lnTo>
                </a:path>
                <a:path w="1000" h="1000" fill="none">
                  <a:moveTo>
                    <a:pt x="757" y="80"/>
                  </a:moveTo>
                  <a:lnTo>
                    <a:pt x="757" y="920"/>
                  </a:lnTo>
                </a:path>
                <a:path w="1000" h="1000" fill="none">
                  <a:moveTo>
                    <a:pt x="785" y="80"/>
                  </a:moveTo>
                  <a:lnTo>
                    <a:pt x="785" y="920"/>
                  </a:lnTo>
                </a:path>
                <a:path w="1000" h="1000" fill="none">
                  <a:moveTo>
                    <a:pt x="814" y="80"/>
                  </a:moveTo>
                  <a:lnTo>
                    <a:pt x="814" y="920"/>
                  </a:lnTo>
                </a:path>
                <a:path w="1000" h="1000" fill="none">
                  <a:moveTo>
                    <a:pt x="842" y="80"/>
                  </a:moveTo>
                  <a:lnTo>
                    <a:pt x="842" y="920"/>
                  </a:lnTo>
                </a:path>
                <a:path w="1000" h="1000" fill="none">
                  <a:moveTo>
                    <a:pt x="871" y="80"/>
                  </a:moveTo>
                  <a:lnTo>
                    <a:pt x="871" y="920"/>
                  </a:lnTo>
                </a:path>
                <a:path w="1000" h="1000" fill="none">
                  <a:moveTo>
                    <a:pt x="900" y="80"/>
                  </a:moveTo>
                  <a:lnTo>
                    <a:pt x="900" y="920"/>
                  </a:lnTo>
                </a:path>
                <a:path w="1000" h="1000" fill="none">
                  <a:moveTo>
                    <a:pt x="928" y="80"/>
                  </a:moveTo>
                  <a:lnTo>
                    <a:pt x="928" y="920"/>
                  </a:lnTo>
                </a:path>
                <a:path w="1000" h="1000" fill="none">
                  <a:moveTo>
                    <a:pt x="957" y="80"/>
                  </a:moveTo>
                  <a:lnTo>
                    <a:pt x="957" y="920"/>
                  </a:lnTo>
                </a:path>
                <a:path w="1000" h="1000" fill="none">
                  <a:moveTo>
                    <a:pt x="985" y="80"/>
                  </a:moveTo>
                  <a:lnTo>
                    <a:pt x="985" y="920"/>
                  </a:lnTo>
                </a:path>
              </a:pathLst>
            </a:custGeom>
            <a:noFill/>
            <a:ln w="12700" cap="rnd">
              <a:solidFill>
                <a:srgbClr val="822E27"/>
              </a:solidFill>
              <a:round/>
            </a:ln>
          </p:spPr>
        </p:sp>
        <p:sp>
          <p:nvSpPr>
            <p:cNvPr id="13" name="Forma 12"/>
            <p:cNvSpPr/>
            <p:nvPr/>
          </p:nvSpPr>
          <p:spPr>
            <a:xfrm>
              <a:off x="219456"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4" name="Forma 13"/>
            <p:cNvSpPr/>
            <p:nvPr/>
          </p:nvSpPr>
          <p:spPr>
            <a:xfrm>
              <a:off x="1243584"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5" name="Forma 14"/>
            <p:cNvSpPr/>
            <p:nvPr/>
          </p:nvSpPr>
          <p:spPr>
            <a:xfrm>
              <a:off x="2121408"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2368296" y="5824728"/>
              <a:ext cx="182880" cy="420624"/>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7" name="Deco fibra 2"/>
          <p:cNvGrpSpPr/>
          <p:nvPr/>
        </p:nvGrpSpPr>
        <p:grpSpPr>
          <a:xfrm>
            <a:off x="-182880" y="6263640"/>
            <a:ext cx="3291840" cy="457200"/>
            <a:chOff x="-182880" y="6263640"/>
            <a:chExt cx="3291840" cy="457200"/>
          </a:xfrm>
        </p:grpSpPr>
        <p:sp>
          <p:nvSpPr>
            <p:cNvPr id="18" name="Forma 17"/>
            <p:cNvSpPr/>
            <p:nvPr/>
          </p:nvSpPr>
          <p:spPr>
            <a:xfrm>
              <a:off x="-182880" y="6263640"/>
              <a:ext cx="3291840" cy="4572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9" name="Forma 18"/>
            <p:cNvSpPr/>
            <p:nvPr/>
          </p:nvSpPr>
          <p:spPr>
            <a:xfrm>
              <a:off x="-68580" y="6263640"/>
              <a:ext cx="3063240" cy="457200"/>
            </a:xfrm>
            <a:custGeom>
              <a:avLst/>
              <a:gdLst/>
              <a:ahLst/>
              <a:cxnLst/>
              <a:rect l="0" t="0" r="r" b="b"/>
              <a:pathLst>
                <a:path w="1000" h="1000" fill="none">
                  <a:moveTo>
                    <a:pt x="12" y="80"/>
                  </a:moveTo>
                  <a:lnTo>
                    <a:pt x="12" y="920"/>
                  </a:lnTo>
                </a:path>
                <a:path w="1000" h="1000" fill="none">
                  <a:moveTo>
                    <a:pt x="37" y="80"/>
                  </a:moveTo>
                  <a:lnTo>
                    <a:pt x="37" y="920"/>
                  </a:lnTo>
                </a:path>
                <a:path w="1000" h="1000" fill="none">
                  <a:moveTo>
                    <a:pt x="62" y="80"/>
                  </a:moveTo>
                  <a:lnTo>
                    <a:pt x="62" y="920"/>
                  </a:lnTo>
                </a:path>
                <a:path w="1000" h="1000" fill="none">
                  <a:moveTo>
                    <a:pt x="87" y="80"/>
                  </a:moveTo>
                  <a:lnTo>
                    <a:pt x="87" y="920"/>
                  </a:lnTo>
                </a:path>
                <a:path w="1000" h="1000" fill="none">
                  <a:moveTo>
                    <a:pt x="112" y="80"/>
                  </a:moveTo>
                  <a:lnTo>
                    <a:pt x="112" y="920"/>
                  </a:lnTo>
                </a:path>
                <a:path w="1000" h="1000" fill="none">
                  <a:moveTo>
                    <a:pt x="137" y="80"/>
                  </a:moveTo>
                  <a:lnTo>
                    <a:pt x="137" y="920"/>
                  </a:lnTo>
                </a:path>
                <a:path w="1000" h="1000" fill="none">
                  <a:moveTo>
                    <a:pt x="162" y="80"/>
                  </a:moveTo>
                  <a:lnTo>
                    <a:pt x="162" y="920"/>
                  </a:lnTo>
                </a:path>
                <a:path w="1000" h="1000" fill="none">
                  <a:moveTo>
                    <a:pt x="187" y="80"/>
                  </a:moveTo>
                  <a:lnTo>
                    <a:pt x="187" y="920"/>
                  </a:lnTo>
                </a:path>
                <a:path w="1000" h="1000" fill="none">
                  <a:moveTo>
                    <a:pt x="212" y="80"/>
                  </a:moveTo>
                  <a:lnTo>
                    <a:pt x="212" y="920"/>
                  </a:lnTo>
                </a:path>
                <a:path w="1000" h="1000" fill="none">
                  <a:moveTo>
                    <a:pt x="237" y="80"/>
                  </a:moveTo>
                  <a:lnTo>
                    <a:pt x="237" y="920"/>
                  </a:lnTo>
                </a:path>
                <a:path w="1000" h="1000" fill="none">
                  <a:moveTo>
                    <a:pt x="262" y="80"/>
                  </a:moveTo>
                  <a:lnTo>
                    <a:pt x="262" y="920"/>
                  </a:lnTo>
                </a:path>
                <a:path w="1000" h="1000" fill="none">
                  <a:moveTo>
                    <a:pt x="287" y="80"/>
                  </a:moveTo>
                  <a:lnTo>
                    <a:pt x="287" y="920"/>
                  </a:lnTo>
                </a:path>
                <a:path w="1000" h="1000" fill="none">
                  <a:moveTo>
                    <a:pt x="312" y="80"/>
                  </a:moveTo>
                  <a:lnTo>
                    <a:pt x="312" y="920"/>
                  </a:lnTo>
                </a:path>
                <a:path w="1000" h="1000" fill="none">
                  <a:moveTo>
                    <a:pt x="337" y="80"/>
                  </a:moveTo>
                  <a:lnTo>
                    <a:pt x="337" y="920"/>
                  </a:lnTo>
                </a:path>
                <a:path w="1000" h="1000" fill="none">
                  <a:moveTo>
                    <a:pt x="362" y="80"/>
                  </a:moveTo>
                  <a:lnTo>
                    <a:pt x="362" y="920"/>
                  </a:lnTo>
                </a:path>
                <a:path w="1000" h="1000" fill="none">
                  <a:moveTo>
                    <a:pt x="387" y="80"/>
                  </a:moveTo>
                  <a:lnTo>
                    <a:pt x="387" y="920"/>
                  </a:lnTo>
                </a:path>
                <a:path w="1000" h="1000" fill="none">
                  <a:moveTo>
                    <a:pt x="412" y="80"/>
                  </a:moveTo>
                  <a:lnTo>
                    <a:pt x="412" y="920"/>
                  </a:lnTo>
                </a:path>
                <a:path w="1000" h="1000" fill="none">
                  <a:moveTo>
                    <a:pt x="437" y="80"/>
                  </a:moveTo>
                  <a:lnTo>
                    <a:pt x="437" y="920"/>
                  </a:lnTo>
                </a:path>
                <a:path w="1000" h="1000" fill="none">
                  <a:moveTo>
                    <a:pt x="462" y="80"/>
                  </a:moveTo>
                  <a:lnTo>
                    <a:pt x="462" y="920"/>
                  </a:lnTo>
                </a:path>
                <a:path w="1000" h="1000" fill="none">
                  <a:moveTo>
                    <a:pt x="487" y="80"/>
                  </a:moveTo>
                  <a:lnTo>
                    <a:pt x="487" y="920"/>
                  </a:lnTo>
                </a:path>
                <a:path w="1000" h="1000" fill="none">
                  <a:moveTo>
                    <a:pt x="512" y="80"/>
                  </a:moveTo>
                  <a:lnTo>
                    <a:pt x="512" y="920"/>
                  </a:lnTo>
                </a:path>
                <a:path w="1000" h="1000" fill="none">
                  <a:moveTo>
                    <a:pt x="537" y="80"/>
                  </a:moveTo>
                  <a:lnTo>
                    <a:pt x="537" y="920"/>
                  </a:lnTo>
                </a:path>
                <a:path w="1000" h="1000" fill="none">
                  <a:moveTo>
                    <a:pt x="562" y="80"/>
                  </a:moveTo>
                  <a:lnTo>
                    <a:pt x="562" y="920"/>
                  </a:lnTo>
                </a:path>
                <a:path w="1000" h="1000" fill="none">
                  <a:moveTo>
                    <a:pt x="587" y="80"/>
                  </a:moveTo>
                  <a:lnTo>
                    <a:pt x="587" y="920"/>
                  </a:lnTo>
                </a:path>
                <a:path w="1000" h="1000" fill="none">
                  <a:moveTo>
                    <a:pt x="612" y="80"/>
                  </a:moveTo>
                  <a:lnTo>
                    <a:pt x="612" y="920"/>
                  </a:lnTo>
                </a:path>
                <a:path w="1000" h="1000" fill="none">
                  <a:moveTo>
                    <a:pt x="637" y="80"/>
                  </a:moveTo>
                  <a:lnTo>
                    <a:pt x="637" y="920"/>
                  </a:lnTo>
                </a:path>
                <a:path w="1000" h="1000" fill="none">
                  <a:moveTo>
                    <a:pt x="662" y="80"/>
                  </a:moveTo>
                  <a:lnTo>
                    <a:pt x="662" y="920"/>
                  </a:lnTo>
                </a:path>
                <a:path w="1000" h="1000" fill="none">
                  <a:moveTo>
                    <a:pt x="687" y="80"/>
                  </a:moveTo>
                  <a:lnTo>
                    <a:pt x="687" y="920"/>
                  </a:lnTo>
                </a:path>
                <a:path w="1000" h="1000" fill="none">
                  <a:moveTo>
                    <a:pt x="712" y="80"/>
                  </a:moveTo>
                  <a:lnTo>
                    <a:pt x="712" y="920"/>
                  </a:lnTo>
                </a:path>
                <a:path w="1000" h="1000" fill="none">
                  <a:moveTo>
                    <a:pt x="737" y="80"/>
                  </a:moveTo>
                  <a:lnTo>
                    <a:pt x="737" y="920"/>
                  </a:lnTo>
                </a:path>
                <a:path w="1000" h="1000" fill="none">
                  <a:moveTo>
                    <a:pt x="762" y="80"/>
                  </a:moveTo>
                  <a:lnTo>
                    <a:pt x="762" y="920"/>
                  </a:lnTo>
                </a:path>
                <a:path w="1000" h="1000" fill="none">
                  <a:moveTo>
                    <a:pt x="787" y="80"/>
                  </a:moveTo>
                  <a:lnTo>
                    <a:pt x="787" y="920"/>
                  </a:lnTo>
                </a:path>
                <a:path w="1000" h="1000" fill="none">
                  <a:moveTo>
                    <a:pt x="812" y="80"/>
                  </a:moveTo>
                  <a:lnTo>
                    <a:pt x="812" y="920"/>
                  </a:lnTo>
                </a:path>
                <a:path w="1000" h="1000" fill="none">
                  <a:moveTo>
                    <a:pt x="837" y="80"/>
                  </a:moveTo>
                  <a:lnTo>
                    <a:pt x="837" y="920"/>
                  </a:lnTo>
                </a:path>
                <a:path w="1000" h="1000" fill="none">
                  <a:moveTo>
                    <a:pt x="862" y="80"/>
                  </a:moveTo>
                  <a:lnTo>
                    <a:pt x="862" y="920"/>
                  </a:lnTo>
                </a:path>
                <a:path w="1000" h="1000" fill="none">
                  <a:moveTo>
                    <a:pt x="887" y="80"/>
                  </a:moveTo>
                  <a:lnTo>
                    <a:pt x="887" y="920"/>
                  </a:lnTo>
                </a:path>
                <a:path w="1000" h="1000" fill="none">
                  <a:moveTo>
                    <a:pt x="912" y="80"/>
                  </a:moveTo>
                  <a:lnTo>
                    <a:pt x="912" y="920"/>
                  </a:lnTo>
                </a:path>
                <a:path w="1000" h="1000" fill="none">
                  <a:moveTo>
                    <a:pt x="937" y="80"/>
                  </a:moveTo>
                  <a:lnTo>
                    <a:pt x="937" y="920"/>
                  </a:lnTo>
                </a:path>
                <a:path w="1000" h="1000" fill="none">
                  <a:moveTo>
                    <a:pt x="962" y="80"/>
                  </a:moveTo>
                  <a:lnTo>
                    <a:pt x="962" y="920"/>
                  </a:lnTo>
                </a:path>
                <a:path w="1000" h="1000" fill="none">
                  <a:moveTo>
                    <a:pt x="987" y="80"/>
                  </a:moveTo>
                  <a:lnTo>
                    <a:pt x="987" y="920"/>
                  </a:lnTo>
                </a:path>
              </a:pathLst>
            </a:custGeom>
            <a:noFill/>
            <a:ln w="12700" cap="rnd">
              <a:solidFill>
                <a:srgbClr val="822E27"/>
              </a:solidFill>
              <a:round/>
            </a:ln>
          </p:spPr>
        </p:sp>
        <p:sp>
          <p:nvSpPr>
            <p:cNvPr id="20" name="Forma 19"/>
            <p:cNvSpPr/>
            <p:nvPr/>
          </p:nvSpPr>
          <p:spPr>
            <a:xfrm>
              <a:off x="475488"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0"/>
            <p:cNvSpPr/>
            <p:nvPr/>
          </p:nvSpPr>
          <p:spPr>
            <a:xfrm>
              <a:off x="1627632"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2" name="Forma 21"/>
            <p:cNvSpPr/>
            <p:nvPr/>
          </p:nvSpPr>
          <p:spPr>
            <a:xfrm>
              <a:off x="2615184"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3" name="Forma 22"/>
            <p:cNvSpPr/>
            <p:nvPr/>
          </p:nvSpPr>
          <p:spPr>
            <a:xfrm>
              <a:off x="2916936" y="6281928"/>
              <a:ext cx="182880" cy="420624"/>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4" name="Deco adipocito"/>
          <p:cNvGrpSpPr/>
          <p:nvPr/>
        </p:nvGrpSpPr>
        <p:grpSpPr>
          <a:xfrm>
            <a:off x="2651760" y="5989320"/>
            <a:ext cx="1097280" cy="1097280"/>
            <a:chOff x="2651760" y="5989320"/>
            <a:chExt cx="1097280" cy="1097280"/>
          </a:xfrm>
        </p:grpSpPr>
        <p:sp>
          <p:nvSpPr>
            <p:cNvPr id="25" name="Forma 24"/>
            <p:cNvSpPr/>
            <p:nvPr/>
          </p:nvSpPr>
          <p:spPr>
            <a:xfrm>
              <a:off x="2651760" y="5989320"/>
              <a:ext cx="1097280" cy="10972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6" name="Gota lipídica"/>
            <p:cNvSpPr/>
            <p:nvPr/>
          </p:nvSpPr>
          <p:spPr>
            <a:xfrm>
              <a:off x="2706624" y="6044184"/>
              <a:ext cx="987552" cy="98755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7" name="Forma 26"/>
            <p:cNvSpPr/>
            <p:nvPr/>
          </p:nvSpPr>
          <p:spPr>
            <a:xfrm rot="2400000">
              <a:off x="3441802" y="6055157"/>
              <a:ext cx="241402" cy="13167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8" name="Mitocondria"/>
            <p:cNvGrpSpPr/>
            <p:nvPr/>
          </p:nvGrpSpPr>
          <p:grpSpPr>
            <a:xfrm>
              <a:off x="2739542" y="6801307"/>
              <a:ext cx="109728" cy="54864"/>
              <a:chOff x="2739542" y="6801307"/>
              <a:chExt cx="109728" cy="54864"/>
            </a:xfrm>
          </p:grpSpPr>
          <p:sp>
            <p:nvSpPr>
              <p:cNvPr id="29" name="Forma 28"/>
              <p:cNvSpPr/>
              <p:nvPr/>
            </p:nvSpPr>
            <p:spPr>
              <a:xfrm rot="-2400000">
                <a:off x="2739542" y="6801307"/>
                <a:ext cx="109728" cy="5486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0" name="Forma 29"/>
              <p:cNvSpPr/>
              <p:nvPr/>
            </p:nvSpPr>
            <p:spPr>
              <a:xfrm rot="-2400000">
                <a:off x="2747223" y="6808988"/>
                <a:ext cx="94366" cy="39502"/>
              </a:xfrm>
              <a:prstGeom prst="ellipse">
                <a:avLst/>
              </a:prstGeom>
              <a:solidFill>
                <a:srgbClr val="F8D8B4"/>
              </a:solidFill>
              <a:ln w="9525" cap="rnd">
                <a:solidFill>
                  <a:srgbClr val="B2732B"/>
                </a:solidFill>
                <a:round/>
              </a:ln>
            </p:spPr>
          </p:sp>
          <p:sp>
            <p:nvSpPr>
              <p:cNvPr id="31" name="Forma 30"/>
              <p:cNvSpPr/>
              <p:nvPr/>
            </p:nvSpPr>
            <p:spPr>
              <a:xfrm rot="-2400000">
                <a:off x="2747223" y="6808988"/>
                <a:ext cx="94366" cy="3950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32" name="Forma 31"/>
          <p:cNvSpPr txBox="1"/>
          <p:nvPr/>
        </p:nvSpPr>
        <p:spPr>
          <a:xfrm>
            <a:off x="548640" y="1143000"/>
            <a:ext cx="6949440" cy="4114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7A3B12"/>
                </a:solidFill>
                <a:latin typeface="Bahnschrift SemiBold Condensed"/>
                <a:ea typeface="Bahnschrift SemiBold Condensed"/>
                <a:cs typeface="Bahnschrift SemiBold Condensed"/>
                <a:sym typeface="Bahnschrift SemiBold Condensed"/>
              </a:rPr>
              <a:t>FISIOLOGÍA · BIOQUÍMICA · ENZIMAS · HORMONAS</a:t>
            </a:r>
            <a:endParaRPr lang="es-AR" sz="1600" dirty="0">
              <a:latin typeface="Bahnschrift SemiBold Condensed"/>
            </a:endParaRPr>
          </a:p>
        </p:txBody>
      </p:sp>
      <p:sp>
        <p:nvSpPr>
          <p:cNvPr id="33" name="!!Título principal"/>
          <p:cNvSpPr txBox="1"/>
          <p:nvPr/>
        </p:nvSpPr>
        <p:spPr>
          <a:xfrm>
            <a:off x="457200" y="1600200"/>
            <a:ext cx="7132320" cy="2103120"/>
          </a:xfrm>
          <a:prstGeom prst="rect">
            <a:avLst/>
          </a:prstGeom>
          <a:noFill/>
          <a:ln>
            <a:noFill/>
          </a:ln>
        </p:spPr>
        <p:txBody>
          <a:bodyPr wrap="square" lIns="0" tIns="0" rIns="0" bIns="0" anchor="ctr" rtlCol="0">
            <a:noAutofit/>
          </a:bodyPr>
          <a:lstStyle/>
          <a:p>
            <a:pPr algn="l">
              <a:lnSpc>
                <a:spcPct val="900"/>
              </a:lnSpc>
              <a:spcAft>
                <a:spcPts val="300"/>
              </a:spcAft>
              <a:buNone/>
            </a:pPr>
            <a:r>
              <a:rPr lang="es-AR" sz="6400" b="1" dirty="0">
                <a:solidFill>
                  <a:srgbClr val="1E1E1E"/>
                </a:solidFill>
                <a:effectLst>
                  <a:glow rad="127000">
                    <a:srgbClr val="F39C5A">
                      <a:alpha val="75000"/>
                    </a:srgbClr>
                  </a:glow>
                </a:effectLst>
                <a:latin typeface="Bahnschrift"/>
                <a:ea typeface="Bahnschrift"/>
                <a:cs typeface="Bahnschrift"/>
                <a:sym typeface="Bahnschrift"/>
              </a:rPr>
              <a:t>INTEGRACIÓN</a:t>
            </a:r>
            <a:endParaRPr lang="es-AR" sz="6400" dirty="0">
              <a:latin typeface="Bahnschrift"/>
            </a:endParaRPr>
          </a:p>
          <a:p>
            <a:pPr algn="l">
              <a:lnSpc>
                <a:spcPct val="900"/>
              </a:lnSpc>
              <a:spcAft>
                <a:spcPts val="300"/>
              </a:spcAft>
              <a:buNone/>
            </a:pPr>
            <a:r>
              <a:rPr lang="es-AR" sz="6400" b="1" dirty="0">
                <a:solidFill>
                  <a:srgbClr val="1E1E1E"/>
                </a:solidFill>
                <a:effectLst>
                  <a:glow rad="127000">
                    <a:srgbClr val="F39C5A">
                      <a:alpha val="75000"/>
                    </a:srgbClr>
                  </a:glow>
                </a:effectLst>
                <a:latin typeface="Bahnschrift"/>
                <a:ea typeface="Bahnschrift"/>
                <a:cs typeface="Bahnschrift"/>
                <a:sym typeface="Bahnschrift"/>
              </a:rPr>
              <a:t>METABÓLICA</a:t>
            </a:r>
            <a:endParaRPr lang="es-AR" sz="6400" dirty="0">
              <a:latin typeface="Bahnschrift"/>
            </a:endParaRPr>
          </a:p>
        </p:txBody>
      </p:sp>
      <p:sp>
        <p:nvSpPr>
          <p:cNvPr id="34" name="Forma 33"/>
          <p:cNvSpPr txBox="1"/>
          <p:nvPr/>
        </p:nvSpPr>
        <p:spPr>
          <a:xfrm>
            <a:off x="548640" y="3794760"/>
            <a:ext cx="6766560" cy="914400"/>
          </a:xfrm>
          <a:prstGeom prst="rect">
            <a:avLst/>
          </a:prstGeom>
          <a:noFill/>
          <a:ln>
            <a:noFill/>
          </a:ln>
        </p:spPr>
        <p:txBody>
          <a:bodyPr wrap="square" lIns="0" tIns="0" rIns="0" bIns="0" anchor="t" rtlCol="0">
            <a:noAutofit/>
          </a:bodyPr>
          <a:lstStyle/>
          <a:p>
            <a:pPr algn="l">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Del estado alimentado a la inanición y la enfermedad</a:t>
            </a:r>
            <a:endParaRPr lang="es-AR" sz="2600" dirty="0">
              <a:latin typeface="Bahnschrift SemiBold Condensed"/>
            </a:endParaRPr>
          </a:p>
        </p:txBody>
      </p:sp>
      <p:sp>
        <p:nvSpPr>
          <p:cNvPr id="35" name="Subtítulo"/>
          <p:cNvSpPr/>
          <p:nvPr/>
        </p:nvSpPr>
        <p:spPr>
          <a:xfrm>
            <a:off x="548640" y="4754880"/>
            <a:ext cx="3651280" cy="45720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Metabolismo interorgánico · Fisiopatología</a:t>
            </a:r>
            <a:endParaRPr lang="es-AR" sz="1600" dirty="0">
              <a:latin typeface="Bahnschrift SemiBold Condensed"/>
            </a:endParaRPr>
          </a:p>
        </p:txBody>
      </p:sp>
      <p:grpSp>
        <p:nvGrpSpPr>
          <p:cNvPr id="36" name="!!Organismo"/>
          <p:cNvGrpSpPr/>
          <p:nvPr/>
        </p:nvGrpSpPr>
        <p:grpSpPr>
          <a:xfrm>
            <a:off x="7863840" y="502920"/>
            <a:ext cx="3017520" cy="6035040"/>
            <a:chOff x="7863840" y="502920"/>
            <a:chExt cx="3017520" cy="6035040"/>
          </a:xfrm>
        </p:grpSpPr>
        <p:sp>
          <p:nvSpPr>
            <p:cNvPr id="37" name="Forma 36"/>
            <p:cNvSpPr/>
            <p:nvPr/>
          </p:nvSpPr>
          <p:spPr>
            <a:xfrm>
              <a:off x="7863840" y="502920"/>
              <a:ext cx="3017520" cy="6035040"/>
            </a:xfrm>
            <a:custGeom>
              <a:avLst/>
              <a:gdLst/>
              <a:ahLst/>
              <a:cxnLst/>
              <a:rect l="0" t="0" r="r" b="b"/>
              <a:pathLst>
                <a:path w="500" h="1000">
                  <a:moveTo>
                    <a:pt x="225" y="150"/>
                  </a:moveTo>
                  <a:cubicBezTo>
                    <a:pt x="229" y="148"/>
                    <a:pt x="270" y="148"/>
                    <a:pt x="275" y="150"/>
                  </a:cubicBezTo>
                  <a:cubicBezTo>
                    <a:pt x="279" y="151"/>
                    <a:pt x="282" y="167"/>
                    <a:pt x="290" y="170"/>
                  </a:cubicBezTo>
                  <a:cubicBezTo>
                    <a:pt x="297" y="173"/>
                    <a:pt x="361" y="185"/>
                    <a:pt x="370" y="190"/>
                  </a:cubicBezTo>
                  <a:cubicBezTo>
                    <a:pt x="378" y="194"/>
                    <a:pt x="401" y="219"/>
                    <a:pt x="405" y="230"/>
                  </a:cubicBezTo>
                  <a:cubicBezTo>
                    <a:pt x="408" y="240"/>
                    <a:pt x="417" y="313"/>
                    <a:pt x="420" y="330"/>
                  </a:cubicBezTo>
                  <a:cubicBezTo>
                    <a:pt x="422" y="346"/>
                    <a:pt x="430" y="434"/>
                    <a:pt x="432" y="450"/>
                  </a:cubicBezTo>
                  <a:cubicBezTo>
                    <a:pt x="433" y="465"/>
                    <a:pt x="441" y="532"/>
                    <a:pt x="440" y="540"/>
                  </a:cubicBezTo>
                  <a:cubicBezTo>
                    <a:pt x="438" y="547"/>
                    <a:pt x="415" y="554"/>
                    <a:pt x="412" y="548"/>
                  </a:cubicBezTo>
                  <a:cubicBezTo>
                    <a:pt x="408" y="541"/>
                    <a:pt x="397" y="470"/>
                    <a:pt x="395" y="455"/>
                  </a:cubicBezTo>
                  <a:cubicBezTo>
                    <a:pt x="392" y="439"/>
                    <a:pt x="380" y="349"/>
                    <a:pt x="378" y="340"/>
                  </a:cubicBezTo>
                  <a:cubicBezTo>
                    <a:pt x="375" y="330"/>
                    <a:pt x="366" y="320"/>
                    <a:pt x="365" y="330"/>
                  </a:cubicBezTo>
                  <a:cubicBezTo>
                    <a:pt x="363" y="339"/>
                    <a:pt x="361" y="453"/>
                    <a:pt x="360" y="470"/>
                  </a:cubicBezTo>
                  <a:cubicBezTo>
                    <a:pt x="358" y="486"/>
                    <a:pt x="350" y="527"/>
                    <a:pt x="350" y="545"/>
                  </a:cubicBezTo>
                  <a:cubicBezTo>
                    <a:pt x="349" y="562"/>
                    <a:pt x="355" y="676"/>
                    <a:pt x="355" y="700"/>
                  </a:cubicBezTo>
                  <a:cubicBezTo>
                    <a:pt x="354" y="723"/>
                    <a:pt x="343" y="840"/>
                    <a:pt x="342" y="860"/>
                  </a:cubicBezTo>
                  <a:cubicBezTo>
                    <a:pt x="340" y="879"/>
                    <a:pt x="343" y="951"/>
                    <a:pt x="340" y="960"/>
                  </a:cubicBezTo>
                  <a:cubicBezTo>
                    <a:pt x="336" y="968"/>
                    <a:pt x="296" y="979"/>
                    <a:pt x="292" y="972"/>
                  </a:cubicBezTo>
                  <a:cubicBezTo>
                    <a:pt x="287" y="964"/>
                    <a:pt x="283" y="881"/>
                    <a:pt x="282" y="860"/>
                  </a:cubicBezTo>
                  <a:cubicBezTo>
                    <a:pt x="280" y="838"/>
                    <a:pt x="272" y="709"/>
                    <a:pt x="270" y="690"/>
                  </a:cubicBezTo>
                  <a:cubicBezTo>
                    <a:pt x="267" y="670"/>
                    <a:pt x="253" y="600"/>
                    <a:pt x="250" y="600"/>
                  </a:cubicBezTo>
                  <a:cubicBezTo>
                    <a:pt x="247" y="600"/>
                    <a:pt x="232" y="670"/>
                    <a:pt x="230" y="690"/>
                  </a:cubicBezTo>
                  <a:cubicBezTo>
                    <a:pt x="227" y="709"/>
                    <a:pt x="219" y="838"/>
                    <a:pt x="218" y="860"/>
                  </a:cubicBezTo>
                  <a:cubicBezTo>
                    <a:pt x="216" y="881"/>
                    <a:pt x="212" y="964"/>
                    <a:pt x="208" y="972"/>
                  </a:cubicBezTo>
                  <a:cubicBezTo>
                    <a:pt x="203" y="979"/>
                    <a:pt x="163" y="968"/>
                    <a:pt x="160" y="960"/>
                  </a:cubicBezTo>
                  <a:cubicBezTo>
                    <a:pt x="156" y="951"/>
                    <a:pt x="159" y="879"/>
                    <a:pt x="158" y="860"/>
                  </a:cubicBezTo>
                  <a:cubicBezTo>
                    <a:pt x="156" y="840"/>
                    <a:pt x="145" y="723"/>
                    <a:pt x="145" y="700"/>
                  </a:cubicBezTo>
                  <a:cubicBezTo>
                    <a:pt x="144" y="676"/>
                    <a:pt x="150" y="562"/>
                    <a:pt x="150" y="545"/>
                  </a:cubicBezTo>
                  <a:cubicBezTo>
                    <a:pt x="149" y="527"/>
                    <a:pt x="141" y="486"/>
                    <a:pt x="140" y="470"/>
                  </a:cubicBezTo>
                  <a:cubicBezTo>
                    <a:pt x="138" y="453"/>
                    <a:pt x="136" y="339"/>
                    <a:pt x="135" y="330"/>
                  </a:cubicBezTo>
                  <a:cubicBezTo>
                    <a:pt x="133" y="320"/>
                    <a:pt x="124" y="330"/>
                    <a:pt x="122" y="340"/>
                  </a:cubicBezTo>
                  <a:cubicBezTo>
                    <a:pt x="119" y="349"/>
                    <a:pt x="107" y="439"/>
                    <a:pt x="105" y="455"/>
                  </a:cubicBezTo>
                  <a:cubicBezTo>
                    <a:pt x="102" y="470"/>
                    <a:pt x="91" y="541"/>
                    <a:pt x="88" y="548"/>
                  </a:cubicBezTo>
                  <a:cubicBezTo>
                    <a:pt x="84" y="554"/>
                    <a:pt x="61" y="547"/>
                    <a:pt x="60" y="540"/>
                  </a:cubicBezTo>
                  <a:cubicBezTo>
                    <a:pt x="58" y="532"/>
                    <a:pt x="66" y="465"/>
                    <a:pt x="68" y="450"/>
                  </a:cubicBezTo>
                  <a:cubicBezTo>
                    <a:pt x="69" y="434"/>
                    <a:pt x="77" y="346"/>
                    <a:pt x="80" y="330"/>
                  </a:cubicBezTo>
                  <a:cubicBezTo>
                    <a:pt x="82" y="313"/>
                    <a:pt x="91" y="240"/>
                    <a:pt x="95" y="230"/>
                  </a:cubicBezTo>
                  <a:cubicBezTo>
                    <a:pt x="98" y="219"/>
                    <a:pt x="121" y="194"/>
                    <a:pt x="130" y="190"/>
                  </a:cubicBezTo>
                  <a:cubicBezTo>
                    <a:pt x="138" y="185"/>
                    <a:pt x="202" y="173"/>
                    <a:pt x="210" y="170"/>
                  </a:cubicBezTo>
                  <a:cubicBezTo>
                    <a:pt x="217" y="167"/>
                    <a:pt x="220" y="151"/>
                    <a:pt x="225" y="150"/>
                  </a:cubicBezTo>
                  <a:close/>
                </a:path>
              </a:pathLst>
            </a:custGeom>
            <a:solidFill>
              <a:srgbClr val="F8D5C2">
                <a:alpha val="70000"/>
              </a:srgbClr>
            </a:solidFill>
            <a:ln w="22225" cap="rnd">
              <a:solidFill>
                <a:srgbClr val="A0522D"/>
              </a:solidFill>
              <a:round/>
            </a:ln>
          </p:spPr>
        </p:sp>
        <p:sp>
          <p:nvSpPr>
            <p:cNvPr id="38" name="Forma 37"/>
            <p:cNvSpPr/>
            <p:nvPr/>
          </p:nvSpPr>
          <p:spPr>
            <a:xfrm>
              <a:off x="7863840" y="502920"/>
              <a:ext cx="3017520" cy="6035040"/>
            </a:xfrm>
            <a:custGeom>
              <a:avLst/>
              <a:gdLst/>
              <a:ahLst/>
              <a:cxnLst/>
              <a:rect l="0" t="0" r="r" b="b"/>
              <a:pathLst>
                <a:path w="500" h="1000">
                  <a:moveTo>
                    <a:pt x="312" y="85"/>
                  </a:moveTo>
                  <a:cubicBezTo>
                    <a:pt x="312" y="123"/>
                    <a:pt x="284" y="155"/>
                    <a:pt x="250" y="155"/>
                  </a:cubicBezTo>
                  <a:cubicBezTo>
                    <a:pt x="215" y="155"/>
                    <a:pt x="188" y="123"/>
                    <a:pt x="188" y="85"/>
                  </a:cubicBezTo>
                  <a:cubicBezTo>
                    <a:pt x="188" y="46"/>
                    <a:pt x="215" y="15"/>
                    <a:pt x="250" y="15"/>
                  </a:cubicBezTo>
                  <a:cubicBezTo>
                    <a:pt x="284" y="15"/>
                    <a:pt x="312" y="46"/>
                    <a:pt x="312" y="85"/>
                  </a:cubicBezTo>
                  <a:close/>
                </a:path>
              </a:pathLst>
            </a:custGeom>
            <a:solidFill>
              <a:srgbClr val="F8D5C2">
                <a:alpha val="70000"/>
              </a:srgbClr>
            </a:solidFill>
            <a:ln w="22225" cap="rnd">
              <a:solidFill>
                <a:srgbClr val="A0522D"/>
              </a:solidFill>
              <a:round/>
            </a:ln>
          </p:spPr>
        </p:sp>
      </p:grpSp>
      <p:grpSp>
        <p:nvGrpSpPr>
          <p:cNvPr id="39" name="!!Cerebro"/>
          <p:cNvGrpSpPr/>
          <p:nvPr/>
        </p:nvGrpSpPr>
        <p:grpSpPr>
          <a:xfrm>
            <a:off x="9189720" y="658368"/>
            <a:ext cx="548640" cy="427939"/>
            <a:chOff x="9189720" y="658368"/>
            <a:chExt cx="548640" cy="427939"/>
          </a:xfrm>
        </p:grpSpPr>
        <p:sp>
          <p:nvSpPr>
            <p:cNvPr id="40" name="Cerebelo"/>
            <p:cNvSpPr/>
            <p:nvPr/>
          </p:nvSpPr>
          <p:spPr>
            <a:xfrm>
              <a:off x="9189720" y="658368"/>
              <a:ext cx="548640" cy="427939"/>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1" name="Forma 40"/>
            <p:cNvSpPr/>
            <p:nvPr/>
          </p:nvSpPr>
          <p:spPr>
            <a:xfrm>
              <a:off x="9189720" y="658368"/>
              <a:ext cx="548640" cy="427939"/>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2" name="Forma 41"/>
            <p:cNvSpPr/>
            <p:nvPr/>
          </p:nvSpPr>
          <p:spPr>
            <a:xfrm>
              <a:off x="9189720" y="658368"/>
              <a:ext cx="548640" cy="427939"/>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3" name="Forma 42"/>
            <p:cNvSpPr/>
            <p:nvPr/>
          </p:nvSpPr>
          <p:spPr>
            <a:xfrm>
              <a:off x="9189720" y="658368"/>
              <a:ext cx="548640" cy="427939"/>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44" name="!!Hígado"/>
          <p:cNvGrpSpPr/>
          <p:nvPr/>
        </p:nvGrpSpPr>
        <p:grpSpPr>
          <a:xfrm>
            <a:off x="9006840" y="2240280"/>
            <a:ext cx="777240" cy="549353"/>
            <a:chOff x="9006840" y="2240280"/>
            <a:chExt cx="777240" cy="549353"/>
          </a:xfrm>
        </p:grpSpPr>
        <p:sp>
          <p:nvSpPr>
            <p:cNvPr id="45" name="Vesícula biliar"/>
            <p:cNvSpPr/>
            <p:nvPr/>
          </p:nvSpPr>
          <p:spPr>
            <a:xfrm>
              <a:off x="9216695" y="2616153"/>
              <a:ext cx="101041" cy="173480"/>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46" name="Forma 45"/>
            <p:cNvSpPr/>
            <p:nvPr/>
          </p:nvSpPr>
          <p:spPr>
            <a:xfrm>
              <a:off x="9006840" y="2240280"/>
              <a:ext cx="777240" cy="481889"/>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47" name="Forma 46"/>
            <p:cNvSpPr/>
            <p:nvPr/>
          </p:nvSpPr>
          <p:spPr>
            <a:xfrm>
              <a:off x="9006840" y="2240280"/>
              <a:ext cx="777240" cy="481889"/>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48" name="Forma 47"/>
            <p:cNvSpPr/>
            <p:nvPr/>
          </p:nvSpPr>
          <p:spPr>
            <a:xfrm>
              <a:off x="9006840" y="2240280"/>
              <a:ext cx="777240" cy="481889"/>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49" name="!!Páncreas"/>
          <p:cNvGrpSpPr/>
          <p:nvPr/>
        </p:nvGrpSpPr>
        <p:grpSpPr>
          <a:xfrm>
            <a:off x="9646920" y="2606040"/>
            <a:ext cx="502920" cy="211226"/>
            <a:chOff x="9646920" y="2606040"/>
            <a:chExt cx="502920" cy="211226"/>
          </a:xfrm>
        </p:grpSpPr>
        <p:sp>
          <p:nvSpPr>
            <p:cNvPr id="50" name="Forma 49"/>
            <p:cNvSpPr/>
            <p:nvPr/>
          </p:nvSpPr>
          <p:spPr>
            <a:xfrm>
              <a:off x="9646920" y="2606040"/>
              <a:ext cx="502920" cy="211226"/>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51" name="Forma 50"/>
            <p:cNvSpPr/>
            <p:nvPr/>
          </p:nvSpPr>
          <p:spPr>
            <a:xfrm>
              <a:off x="9646920" y="2606040"/>
              <a:ext cx="502920" cy="211226"/>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52" name="Islotes"/>
            <p:cNvSpPr/>
            <p:nvPr/>
          </p:nvSpPr>
          <p:spPr>
            <a:xfrm>
              <a:off x="9646920" y="2606040"/>
              <a:ext cx="502920" cy="211226"/>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53" name="Forma 52"/>
            <p:cNvSpPr/>
            <p:nvPr/>
          </p:nvSpPr>
          <p:spPr>
            <a:xfrm>
              <a:off x="9646920" y="2606040"/>
              <a:ext cx="502920" cy="211226"/>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54" name="!!Riñón"/>
          <p:cNvGrpSpPr/>
          <p:nvPr/>
        </p:nvGrpSpPr>
        <p:grpSpPr>
          <a:xfrm>
            <a:off x="9921240" y="2331720"/>
            <a:ext cx="237744" cy="332842"/>
            <a:chOff x="9921240" y="2331720"/>
            <a:chExt cx="237744" cy="332842"/>
          </a:xfrm>
        </p:grpSpPr>
        <p:sp>
          <p:nvSpPr>
            <p:cNvPr id="55" name="Forma 54"/>
            <p:cNvSpPr/>
            <p:nvPr/>
          </p:nvSpPr>
          <p:spPr>
            <a:xfrm>
              <a:off x="9921240" y="2331720"/>
              <a:ext cx="237744" cy="332842"/>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56" name="Forma 55"/>
            <p:cNvSpPr/>
            <p:nvPr/>
          </p:nvSpPr>
          <p:spPr>
            <a:xfrm>
              <a:off x="9921240" y="2331720"/>
              <a:ext cx="237744" cy="332842"/>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57" name="Forma 56"/>
            <p:cNvSpPr/>
            <p:nvPr/>
          </p:nvSpPr>
          <p:spPr>
            <a:xfrm>
              <a:off x="9921240" y="2331720"/>
              <a:ext cx="237744" cy="332842"/>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58" name="Forma 57"/>
            <p:cNvSpPr/>
            <p:nvPr/>
          </p:nvSpPr>
          <p:spPr>
            <a:xfrm>
              <a:off x="9921240" y="2331720"/>
              <a:ext cx="237744" cy="332842"/>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nvGrpSpPr>
          <p:cNvPr id="59" name="!!Intestino"/>
          <p:cNvGrpSpPr/>
          <p:nvPr/>
        </p:nvGrpSpPr>
        <p:grpSpPr>
          <a:xfrm>
            <a:off x="9235440" y="2788920"/>
            <a:ext cx="685800" cy="582930"/>
            <a:chOff x="9235440" y="2788920"/>
            <a:chExt cx="685800" cy="582930"/>
          </a:xfrm>
        </p:grpSpPr>
        <p:sp>
          <p:nvSpPr>
            <p:cNvPr id="60" name="Forma 59"/>
            <p:cNvSpPr/>
            <p:nvPr/>
          </p:nvSpPr>
          <p:spPr>
            <a:xfrm>
              <a:off x="9235440" y="2788920"/>
              <a:ext cx="685800" cy="58293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1" name="Forma 60"/>
            <p:cNvSpPr/>
            <p:nvPr/>
          </p:nvSpPr>
          <p:spPr>
            <a:xfrm>
              <a:off x="9235440" y="2788920"/>
              <a:ext cx="685800" cy="58293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62" name="Forma 61"/>
            <p:cNvSpPr/>
            <p:nvPr/>
          </p:nvSpPr>
          <p:spPr>
            <a:xfrm>
              <a:off x="9235440" y="278892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63" name="Forma 62"/>
            <p:cNvSpPr/>
            <p:nvPr/>
          </p:nvSpPr>
          <p:spPr>
            <a:xfrm>
              <a:off x="9235440" y="278892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64" name="Forma 63"/>
            <p:cNvSpPr/>
            <p:nvPr/>
          </p:nvSpPr>
          <p:spPr>
            <a:xfrm>
              <a:off x="9235440" y="278892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65" name="!!Músculo"/>
          <p:cNvGrpSpPr/>
          <p:nvPr/>
        </p:nvGrpSpPr>
        <p:grpSpPr>
          <a:xfrm>
            <a:off x="8915400" y="3886200"/>
            <a:ext cx="822960" cy="269931"/>
            <a:chOff x="8915400" y="3886200"/>
            <a:chExt cx="822960" cy="269931"/>
          </a:xfrm>
        </p:grpSpPr>
        <p:grpSp>
          <p:nvGrpSpPr>
            <p:cNvPr id="66" name="Fibra"/>
            <p:cNvGrpSpPr/>
            <p:nvPr/>
          </p:nvGrpSpPr>
          <p:grpSpPr>
            <a:xfrm>
              <a:off x="8915400" y="3886200"/>
              <a:ext cx="790042" cy="131674"/>
              <a:chOff x="8915400" y="3886200"/>
              <a:chExt cx="790042" cy="131674"/>
            </a:xfrm>
          </p:grpSpPr>
          <p:sp>
            <p:nvSpPr>
              <p:cNvPr id="67" name="Forma 66"/>
              <p:cNvSpPr/>
              <p:nvPr/>
            </p:nvSpPr>
            <p:spPr>
              <a:xfrm>
                <a:off x="8915400" y="3886200"/>
                <a:ext cx="790042" cy="13167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68" name="Forma 67"/>
              <p:cNvSpPr/>
              <p:nvPr/>
            </p:nvSpPr>
            <p:spPr>
              <a:xfrm>
                <a:off x="8948318" y="3886200"/>
                <a:ext cx="724205" cy="131674"/>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69" name="Forma 68"/>
              <p:cNvSpPr/>
              <p:nvPr/>
            </p:nvSpPr>
            <p:spPr>
              <a:xfrm>
                <a:off x="9073408" y="3891467"/>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0" name="Forma 69"/>
              <p:cNvSpPr/>
              <p:nvPr/>
            </p:nvSpPr>
            <p:spPr>
              <a:xfrm>
                <a:off x="9349923" y="3891467"/>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1" name="Forma 70"/>
              <p:cNvSpPr/>
              <p:nvPr/>
            </p:nvSpPr>
            <p:spPr>
              <a:xfrm>
                <a:off x="9586935" y="3891467"/>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2" name="Forma 71"/>
              <p:cNvSpPr/>
              <p:nvPr/>
            </p:nvSpPr>
            <p:spPr>
              <a:xfrm>
                <a:off x="9650139" y="3891467"/>
                <a:ext cx="52669" cy="12114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73" name="Fibra_2"/>
            <p:cNvGrpSpPr/>
            <p:nvPr/>
          </p:nvGrpSpPr>
          <p:grpSpPr>
            <a:xfrm>
              <a:off x="8948318" y="4024457"/>
              <a:ext cx="790042" cy="131674"/>
              <a:chOff x="8948318" y="4024457"/>
              <a:chExt cx="790042" cy="131674"/>
            </a:xfrm>
          </p:grpSpPr>
          <p:sp>
            <p:nvSpPr>
              <p:cNvPr id="74" name="Forma 73"/>
              <p:cNvSpPr/>
              <p:nvPr/>
            </p:nvSpPr>
            <p:spPr>
              <a:xfrm>
                <a:off x="8948318" y="4024457"/>
                <a:ext cx="790042" cy="13167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5" name="Forma 74"/>
              <p:cNvSpPr/>
              <p:nvPr/>
            </p:nvSpPr>
            <p:spPr>
              <a:xfrm>
                <a:off x="8981237" y="4024457"/>
                <a:ext cx="724205" cy="131674"/>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76" name="Forma 75"/>
              <p:cNvSpPr/>
              <p:nvPr/>
            </p:nvSpPr>
            <p:spPr>
              <a:xfrm>
                <a:off x="9106327" y="4029724"/>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7" name="Forma 76"/>
              <p:cNvSpPr/>
              <p:nvPr/>
            </p:nvSpPr>
            <p:spPr>
              <a:xfrm>
                <a:off x="9382841" y="4029724"/>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8" name="Forma 77"/>
              <p:cNvSpPr/>
              <p:nvPr/>
            </p:nvSpPr>
            <p:spPr>
              <a:xfrm>
                <a:off x="9619854" y="4029724"/>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79" name="Forma 78"/>
              <p:cNvSpPr/>
              <p:nvPr/>
            </p:nvSpPr>
            <p:spPr>
              <a:xfrm>
                <a:off x="9683057" y="4029724"/>
                <a:ext cx="52669" cy="12114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80" name="!!Adipocito"/>
          <p:cNvGrpSpPr/>
          <p:nvPr/>
        </p:nvGrpSpPr>
        <p:grpSpPr>
          <a:xfrm>
            <a:off x="10058400" y="3246120"/>
            <a:ext cx="411480" cy="411480"/>
            <a:chOff x="10058400" y="3246120"/>
            <a:chExt cx="411480" cy="411480"/>
          </a:xfrm>
        </p:grpSpPr>
        <p:sp>
          <p:nvSpPr>
            <p:cNvPr id="81" name="Forma 80"/>
            <p:cNvSpPr/>
            <p:nvPr/>
          </p:nvSpPr>
          <p:spPr>
            <a:xfrm>
              <a:off x="10058400" y="3246120"/>
              <a:ext cx="411480" cy="4114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82" name="Gota lipídica_2"/>
            <p:cNvSpPr/>
            <p:nvPr/>
          </p:nvSpPr>
          <p:spPr>
            <a:xfrm>
              <a:off x="10078974" y="3266694"/>
              <a:ext cx="370332" cy="37033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83" name="Forma 82"/>
            <p:cNvSpPr/>
            <p:nvPr/>
          </p:nvSpPr>
          <p:spPr>
            <a:xfrm rot="2400000">
              <a:off x="10354666" y="3270809"/>
              <a:ext cx="90526" cy="4937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4" name="Mitocondria_2"/>
            <p:cNvGrpSpPr/>
            <p:nvPr/>
          </p:nvGrpSpPr>
          <p:grpSpPr>
            <a:xfrm>
              <a:off x="10091318" y="3550615"/>
              <a:ext cx="41148" cy="20574"/>
              <a:chOff x="10091318" y="3550615"/>
              <a:chExt cx="41148" cy="20574"/>
            </a:xfrm>
          </p:grpSpPr>
          <p:sp>
            <p:nvSpPr>
              <p:cNvPr id="85" name="Forma 84"/>
              <p:cNvSpPr/>
              <p:nvPr/>
            </p:nvSpPr>
            <p:spPr>
              <a:xfrm rot="-2400000">
                <a:off x="10091318" y="3550615"/>
                <a:ext cx="41148" cy="2057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86" name="Forma 85"/>
              <p:cNvSpPr/>
              <p:nvPr/>
            </p:nvSpPr>
            <p:spPr>
              <a:xfrm rot="-2400000">
                <a:off x="10094199" y="3553496"/>
                <a:ext cx="35387" cy="14813"/>
              </a:xfrm>
              <a:prstGeom prst="ellipse">
                <a:avLst/>
              </a:prstGeom>
              <a:solidFill>
                <a:srgbClr val="F8D8B4"/>
              </a:solidFill>
              <a:ln w="9525" cap="rnd">
                <a:solidFill>
                  <a:srgbClr val="B2732B"/>
                </a:solidFill>
                <a:round/>
              </a:ln>
            </p:spPr>
          </p:sp>
          <p:sp>
            <p:nvSpPr>
              <p:cNvPr id="87" name="Forma 86"/>
              <p:cNvSpPr/>
              <p:nvPr/>
            </p:nvSpPr>
            <p:spPr>
              <a:xfrm rot="-2400000">
                <a:off x="10094199" y="3553496"/>
                <a:ext cx="35387" cy="1481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88" name="!!Corazón"/>
          <p:cNvGrpSpPr/>
          <p:nvPr/>
        </p:nvGrpSpPr>
        <p:grpSpPr>
          <a:xfrm>
            <a:off x="9555480" y="1691640"/>
            <a:ext cx="347472" cy="364846"/>
            <a:chOff x="9555480" y="1691640"/>
            <a:chExt cx="347472" cy="364846"/>
          </a:xfrm>
        </p:grpSpPr>
        <p:sp>
          <p:nvSpPr>
            <p:cNvPr id="89" name="Forma 88"/>
            <p:cNvSpPr/>
            <p:nvPr/>
          </p:nvSpPr>
          <p:spPr>
            <a:xfrm>
              <a:off x="9555480" y="1691640"/>
              <a:ext cx="347472" cy="364846"/>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90" name="Forma 89"/>
            <p:cNvSpPr/>
            <p:nvPr/>
          </p:nvSpPr>
          <p:spPr>
            <a:xfrm>
              <a:off x="9555480" y="1691640"/>
              <a:ext cx="347472" cy="364846"/>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spTree>
  </p:cSld>
  <p:clrMapOvr>
    <a:masterClrMapping/>
  </p:clrMapOvr>
  <p:transition spd="med">
    <p:fade/>
  </p:transition>
</p:sld>
</file>

<file path=ppt/slides/slide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Unidad I"/>
          <p:cNvGrpSpPr/>
          <p:nvPr/>
        </p:nvGrpSpPr>
        <p:grpSpPr>
          <a:xfrm>
            <a:off x="411480" y="1051560"/>
            <a:ext cx="3611880" cy="2560320"/>
            <a:chOff x="411480" y="1051560"/>
            <a:chExt cx="3611880" cy="2560320"/>
          </a:xfrm>
        </p:grpSpPr>
        <p:sp>
          <p:nvSpPr>
            <p:cNvPr id="5" name="Forma 4"/>
            <p:cNvSpPr/>
            <p:nvPr/>
          </p:nvSpPr>
          <p:spPr>
            <a:xfrm>
              <a:off x="411480" y="1051560"/>
              <a:ext cx="3611880" cy="2560320"/>
            </a:xfrm>
            <a:prstGeom prst="rect">
              <a:avLst/>
            </a:prstGeom>
            <a:solidFill>
              <a:srgbClr val="F7C6AA"/>
            </a:solidFill>
            <a:ln w="19050" cap="rnd">
              <a:solidFill>
                <a:srgbClr val="1E1E1E"/>
              </a:solidFill>
              <a:round/>
            </a:ln>
            <a:effectLst>
              <a:outerShdw blurRad="63500" dist="38100" dir="2700000" algn="tl" rotWithShape="0">
                <a:srgbClr val="000000">
                  <a:alpha val="32000"/>
                </a:srgbClr>
              </a:outerShdw>
            </a:effectLst>
          </p:spPr>
        </p:sp>
        <p:sp>
          <p:nvSpPr>
            <p:cNvPr id="6" name="Paso I"/>
            <p:cNvSpPr/>
            <p:nvPr/>
          </p:nvSpPr>
          <p:spPr>
            <a:xfrm>
              <a:off x="548640" y="118872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a:t>
              </a:r>
              <a:endParaRPr lang="es-AR" sz="1500" dirty="0">
                <a:latin typeface="Bahnschrift SemiBold Condensed"/>
              </a:endParaRPr>
            </a:p>
          </p:txBody>
        </p:sp>
        <p:sp>
          <p:nvSpPr>
            <p:cNvPr id="7" name="Forma 6"/>
            <p:cNvSpPr txBox="1"/>
            <p:nvPr/>
          </p:nvSpPr>
          <p:spPr>
            <a:xfrm>
              <a:off x="1234440" y="116128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FUNDAMENTOS Y ESTADO ALIMENTADO</a:t>
              </a:r>
              <a:endParaRPr lang="es-AR" sz="1600" dirty="0">
                <a:latin typeface="Bahnschrift SemiBold Condensed"/>
              </a:endParaRPr>
            </a:p>
          </p:txBody>
        </p:sp>
        <p:sp>
          <p:nvSpPr>
            <p:cNvPr id="8" name="Forma 7"/>
            <p:cNvSpPr txBox="1"/>
            <p:nvPr/>
          </p:nvSpPr>
          <p:spPr>
            <a:xfrm>
              <a:off x="576072" y="187452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Alimentación, nutrición y metabolismo · ciclo alimentación–ayuno · insulina y glucagón · destino posprandial de nutrientes</a:t>
              </a:r>
              <a:endParaRPr lang="es-AR" sz="1250" dirty="0">
                <a:latin typeface="Bahnschrift"/>
              </a:endParaRPr>
            </a:p>
          </p:txBody>
        </p:sp>
        <p:grpSp>
          <p:nvGrpSpPr>
            <p:cNvPr id="9" name="Ícono páncreas"/>
            <p:cNvGrpSpPr/>
            <p:nvPr/>
          </p:nvGrpSpPr>
          <p:grpSpPr>
            <a:xfrm>
              <a:off x="2743200" y="2194560"/>
              <a:ext cx="1188720" cy="499262"/>
              <a:chOff x="2743200" y="2194560"/>
              <a:chExt cx="1188720" cy="499262"/>
            </a:xfrm>
          </p:grpSpPr>
          <p:sp>
            <p:nvSpPr>
              <p:cNvPr id="10" name="Forma 9"/>
              <p:cNvSpPr/>
              <p:nvPr/>
            </p:nvSpPr>
            <p:spPr>
              <a:xfrm>
                <a:off x="2743200" y="2194560"/>
                <a:ext cx="1188720" cy="499262"/>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1" name="Forma 10"/>
              <p:cNvSpPr/>
              <p:nvPr/>
            </p:nvSpPr>
            <p:spPr>
              <a:xfrm>
                <a:off x="2743200" y="2194560"/>
                <a:ext cx="1188720" cy="499262"/>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2" name="Islotes"/>
              <p:cNvSpPr/>
              <p:nvPr/>
            </p:nvSpPr>
            <p:spPr>
              <a:xfrm>
                <a:off x="2743200" y="2194560"/>
                <a:ext cx="1188720" cy="499262"/>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13" name="Forma 12"/>
              <p:cNvSpPr/>
              <p:nvPr/>
            </p:nvSpPr>
            <p:spPr>
              <a:xfrm>
                <a:off x="2743200" y="2194560"/>
                <a:ext cx="1188720" cy="499262"/>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14" name="Molécula glc"/>
            <p:cNvSpPr/>
            <p:nvPr/>
          </p:nvSpPr>
          <p:spPr>
            <a:xfrm>
              <a:off x="3063240" y="283464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15" name="Molécula ins"/>
            <p:cNvSpPr/>
            <p:nvPr/>
          </p:nvSpPr>
          <p:spPr>
            <a:xfrm>
              <a:off x="3474720" y="2926080"/>
              <a:ext cx="384048" cy="384048"/>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Ins</a:t>
              </a:r>
              <a:endParaRPr lang="es-AR" sz="1092" dirty="0">
                <a:latin typeface="Bahnschrift SemiBold Condensed"/>
              </a:endParaRPr>
            </a:p>
          </p:txBody>
        </p:sp>
      </p:grpSp>
      <p:grpSp>
        <p:nvGrpSpPr>
          <p:cNvPr id="16" name="Unidad II"/>
          <p:cNvGrpSpPr/>
          <p:nvPr/>
        </p:nvGrpSpPr>
        <p:grpSpPr>
          <a:xfrm>
            <a:off x="4251960" y="1051560"/>
            <a:ext cx="3611880" cy="2560320"/>
            <a:chOff x="4251960" y="1051560"/>
            <a:chExt cx="3611880" cy="2560320"/>
          </a:xfrm>
        </p:grpSpPr>
        <p:sp>
          <p:nvSpPr>
            <p:cNvPr id="17" name="Forma 16"/>
            <p:cNvSpPr/>
            <p:nvPr/>
          </p:nvSpPr>
          <p:spPr>
            <a:xfrm>
              <a:off x="4251960" y="1051560"/>
              <a:ext cx="3611880" cy="2560320"/>
            </a:xfrm>
            <a:prstGeom prst="rect">
              <a:avLst/>
            </a:prstGeom>
            <a:solidFill>
              <a:srgbClr val="F6B8AF"/>
            </a:solidFill>
            <a:ln w="19050" cap="rnd">
              <a:solidFill>
                <a:srgbClr val="1E1E1E"/>
              </a:solidFill>
              <a:round/>
            </a:ln>
            <a:effectLst>
              <a:outerShdw blurRad="63500" dist="38100" dir="2700000" algn="tl" rotWithShape="0">
                <a:srgbClr val="000000">
                  <a:alpha val="32000"/>
                </a:srgbClr>
              </a:outerShdw>
            </a:effectLst>
          </p:spPr>
        </p:sp>
        <p:sp>
          <p:nvSpPr>
            <p:cNvPr id="18" name="Paso II"/>
            <p:cNvSpPr/>
            <p:nvPr/>
          </p:nvSpPr>
          <p:spPr>
            <a:xfrm>
              <a:off x="4389120" y="118872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II</a:t>
              </a:r>
              <a:endParaRPr lang="es-AR" sz="1500" dirty="0">
                <a:latin typeface="Bahnschrift SemiBold Condensed"/>
              </a:endParaRPr>
            </a:p>
          </p:txBody>
        </p:sp>
        <p:sp>
          <p:nvSpPr>
            <p:cNvPr id="19" name="Forma 18"/>
            <p:cNvSpPr txBox="1"/>
            <p:nvPr/>
          </p:nvSpPr>
          <p:spPr>
            <a:xfrm>
              <a:off x="5074920" y="116128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AYUNO Y CICLOS INTERORGÁNICOS</a:t>
              </a:r>
              <a:endParaRPr lang="es-AR" sz="1600" dirty="0">
                <a:latin typeface="Bahnschrift SemiBold Condensed"/>
              </a:endParaRPr>
            </a:p>
          </p:txBody>
        </p:sp>
        <p:sp>
          <p:nvSpPr>
            <p:cNvPr id="20" name="Forma 19"/>
            <p:cNvSpPr txBox="1"/>
            <p:nvPr/>
          </p:nvSpPr>
          <p:spPr>
            <a:xfrm>
              <a:off x="4416552" y="187452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Glucogenólisis · gluconeogénesis · Cori y glucosa–alanina · astrocito–neurona · reservas a 8–12 h, 24–48 h y &gt;3 días</a:t>
              </a:r>
              <a:endParaRPr lang="es-AR" sz="1250" dirty="0">
                <a:latin typeface="Bahnschrift"/>
              </a:endParaRPr>
            </a:p>
          </p:txBody>
        </p:sp>
        <p:grpSp>
          <p:nvGrpSpPr>
            <p:cNvPr id="21" name="Ícono hígado"/>
            <p:cNvGrpSpPr/>
            <p:nvPr/>
          </p:nvGrpSpPr>
          <p:grpSpPr>
            <a:xfrm>
              <a:off x="6537960" y="2148840"/>
              <a:ext cx="1234440" cy="872502"/>
              <a:chOff x="6537960" y="2148840"/>
              <a:chExt cx="1234440" cy="872502"/>
            </a:xfrm>
          </p:grpSpPr>
          <p:sp>
            <p:nvSpPr>
              <p:cNvPr id="22" name="Vesícula biliar"/>
              <p:cNvSpPr/>
              <p:nvPr/>
            </p:nvSpPr>
            <p:spPr>
              <a:xfrm>
                <a:off x="6871259" y="2745815"/>
                <a:ext cx="160477" cy="275527"/>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3" name="Forma 22"/>
              <p:cNvSpPr/>
              <p:nvPr/>
            </p:nvSpPr>
            <p:spPr>
              <a:xfrm>
                <a:off x="6537960" y="2148840"/>
                <a:ext cx="1234440" cy="76535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4" name="Forma 23"/>
              <p:cNvSpPr/>
              <p:nvPr/>
            </p:nvSpPr>
            <p:spPr>
              <a:xfrm>
                <a:off x="6537960" y="2148840"/>
                <a:ext cx="1234440" cy="76535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5" name="Forma 24"/>
              <p:cNvSpPr/>
              <p:nvPr/>
            </p:nvSpPr>
            <p:spPr>
              <a:xfrm>
                <a:off x="6537960" y="2148840"/>
                <a:ext cx="1234440" cy="76535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6" name="Reloj"/>
            <p:cNvGrpSpPr/>
            <p:nvPr/>
          </p:nvGrpSpPr>
          <p:grpSpPr>
            <a:xfrm>
              <a:off x="7040880" y="2880360"/>
              <a:ext cx="548640" cy="548640"/>
              <a:chOff x="7040880" y="2880360"/>
              <a:chExt cx="548640" cy="548640"/>
            </a:xfrm>
          </p:grpSpPr>
          <p:sp>
            <p:nvSpPr>
              <p:cNvPr id="27" name="Forma 26"/>
              <p:cNvSpPr/>
              <p:nvPr/>
            </p:nvSpPr>
            <p:spPr>
              <a:xfrm>
                <a:off x="7040880" y="2880360"/>
                <a:ext cx="548640" cy="54864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28" name="Flecha 27_2"/>
              <p:cNvSpPr/>
              <p:nvPr/>
            </p:nvSpPr>
            <p:spPr>
              <a:xfrm>
                <a:off x="7182162" y="3154680"/>
                <a:ext cx="133038" cy="76810"/>
              </a:xfrm>
              <a:custGeom>
                <a:avLst/>
                <a:gdLst/>
                <a:ahLst/>
                <a:cxnLst/>
                <a:rect l="0" t="0" r="r" b="b"/>
                <a:pathLst>
                  <a:path w="145" h="84" fill="none">
                    <a:moveTo>
                      <a:pt x="145" y="0"/>
                    </a:moveTo>
                    <a:lnTo>
                      <a:pt x="0" y="84"/>
                    </a:lnTo>
                  </a:path>
                </a:pathLst>
              </a:custGeom>
              <a:noFill/>
              <a:ln w="31750" cap="rnd">
                <a:solidFill>
                  <a:srgbClr val="1E1E1E"/>
                </a:solidFill>
                <a:round/>
              </a:ln>
            </p:spPr>
          </p:sp>
          <p:sp>
            <p:nvSpPr>
              <p:cNvPr id="29" name="Flecha 29_2"/>
              <p:cNvSpPr/>
              <p:nvPr/>
            </p:nvSpPr>
            <p:spPr>
              <a:xfrm>
                <a:off x="7315200" y="2946197"/>
                <a:ext cx="9144" cy="208483"/>
              </a:xfrm>
              <a:custGeom>
                <a:avLst/>
                <a:gdLst/>
                <a:ahLst/>
                <a:cxnLst/>
                <a:rect l="0" t="0" r="r" b="b"/>
                <a:pathLst>
                  <a:path w="10" h="227" fill="none">
                    <a:moveTo>
                      <a:pt x="0" y="227"/>
                    </a:moveTo>
                    <a:lnTo>
                      <a:pt x="0" y="0"/>
                    </a:lnTo>
                  </a:path>
                </a:pathLst>
              </a:custGeom>
              <a:noFill/>
              <a:ln w="22225" cap="rnd">
                <a:solidFill>
                  <a:srgbClr val="1E1E1E"/>
                </a:solidFill>
                <a:round/>
              </a:ln>
            </p:spPr>
          </p:sp>
        </p:grpSp>
      </p:grpSp>
      <p:grpSp>
        <p:nvGrpSpPr>
          <p:cNvPr id="30" name="Unidad III"/>
          <p:cNvGrpSpPr/>
          <p:nvPr/>
        </p:nvGrpSpPr>
        <p:grpSpPr>
          <a:xfrm>
            <a:off x="8092440" y="1051560"/>
            <a:ext cx="3611880" cy="2560320"/>
            <a:chOff x="8092440" y="1051560"/>
            <a:chExt cx="3611880" cy="2560320"/>
          </a:xfrm>
        </p:grpSpPr>
        <p:sp>
          <p:nvSpPr>
            <p:cNvPr id="31" name="Forma 32"/>
            <p:cNvSpPr/>
            <p:nvPr/>
          </p:nvSpPr>
          <p:spPr>
            <a:xfrm>
              <a:off x="8092440" y="1051560"/>
              <a:ext cx="3611880" cy="2560320"/>
            </a:xfrm>
            <a:prstGeom prst="rect">
              <a:avLst/>
            </a:prstGeom>
            <a:solidFill>
              <a:srgbClr val="FFF3A6"/>
            </a:solidFill>
            <a:ln w="19050" cap="rnd">
              <a:solidFill>
                <a:srgbClr val="1E1E1E"/>
              </a:solidFill>
              <a:round/>
            </a:ln>
            <a:effectLst>
              <a:outerShdw blurRad="63500" dist="38100" dir="2700000" algn="tl" rotWithShape="0">
                <a:srgbClr val="000000">
                  <a:alpha val="32000"/>
                </a:srgbClr>
              </a:outerShdw>
            </a:effectLst>
          </p:spPr>
        </p:sp>
        <p:sp>
          <p:nvSpPr>
            <p:cNvPr id="32" name="Paso III"/>
            <p:cNvSpPr/>
            <p:nvPr/>
          </p:nvSpPr>
          <p:spPr>
            <a:xfrm>
              <a:off x="8229600" y="118872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III</a:t>
              </a:r>
              <a:endParaRPr lang="es-AR" sz="1500" dirty="0">
                <a:latin typeface="Bahnschrift SemiBold Condensed"/>
              </a:endParaRPr>
            </a:p>
          </p:txBody>
        </p:sp>
        <p:sp>
          <p:nvSpPr>
            <p:cNvPr id="33" name="Forma 34"/>
            <p:cNvSpPr txBox="1"/>
            <p:nvPr/>
          </p:nvSpPr>
          <p:spPr>
            <a:xfrm>
              <a:off x="8915400" y="116128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LÍPIDOS, COLESTEROL Y CONTROL</a:t>
              </a:r>
              <a:endParaRPr lang="es-AR" sz="1600" dirty="0">
                <a:latin typeface="Bahnschrift SemiBold Condensed"/>
              </a:endParaRPr>
            </a:p>
          </p:txBody>
        </p:sp>
        <p:sp>
          <p:nvSpPr>
            <p:cNvPr id="34" name="Forma 35"/>
            <p:cNvSpPr txBox="1"/>
            <p:nvPr/>
          </p:nvSpPr>
          <p:spPr>
            <a:xfrm>
              <a:off x="8257032" y="187452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Malonil-CoA · β-oxidación · lipoproteínas · AMPK · colesterol · cetogénesis · CREB/FOXO1/ChREBP/SREBP · estrés</a:t>
              </a:r>
              <a:endParaRPr lang="es-AR" sz="1250" dirty="0">
                <a:latin typeface="Bahnschrift"/>
              </a:endParaRPr>
            </a:p>
          </p:txBody>
        </p:sp>
        <p:grpSp>
          <p:nvGrpSpPr>
            <p:cNvPr id="35" name="Ícono adipocito"/>
            <p:cNvGrpSpPr/>
            <p:nvPr/>
          </p:nvGrpSpPr>
          <p:grpSpPr>
            <a:xfrm>
              <a:off x="10424160" y="2011680"/>
              <a:ext cx="777240" cy="777240"/>
              <a:chOff x="10424160" y="2011680"/>
              <a:chExt cx="777240" cy="777240"/>
            </a:xfrm>
          </p:grpSpPr>
          <p:sp>
            <p:nvSpPr>
              <p:cNvPr id="36" name="Forma 37"/>
              <p:cNvSpPr/>
              <p:nvPr/>
            </p:nvSpPr>
            <p:spPr>
              <a:xfrm>
                <a:off x="10424160" y="2011680"/>
                <a:ext cx="777240" cy="77724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7" name="Gota lipídica"/>
              <p:cNvSpPr/>
              <p:nvPr/>
            </p:nvSpPr>
            <p:spPr>
              <a:xfrm>
                <a:off x="10463022" y="2050542"/>
                <a:ext cx="699516" cy="699516"/>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8" name="Forma 39"/>
              <p:cNvSpPr/>
              <p:nvPr/>
            </p:nvSpPr>
            <p:spPr>
              <a:xfrm rot="2400000">
                <a:off x="10983773" y="2058314"/>
                <a:ext cx="170993" cy="93269"/>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9" name="Mitocondria"/>
              <p:cNvGrpSpPr/>
              <p:nvPr/>
            </p:nvGrpSpPr>
            <p:grpSpPr>
              <a:xfrm>
                <a:off x="10486339" y="2586838"/>
                <a:ext cx="77724" cy="38862"/>
                <a:chOff x="10486339" y="2586838"/>
                <a:chExt cx="77724" cy="38862"/>
              </a:xfrm>
            </p:grpSpPr>
            <p:sp>
              <p:nvSpPr>
                <p:cNvPr id="40" name="Forma 41"/>
                <p:cNvSpPr/>
                <p:nvPr/>
              </p:nvSpPr>
              <p:spPr>
                <a:xfrm rot="-2400000">
                  <a:off x="10486339" y="2586838"/>
                  <a:ext cx="77724" cy="3886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1" name="Forma 42"/>
                <p:cNvSpPr/>
                <p:nvPr/>
              </p:nvSpPr>
              <p:spPr>
                <a:xfrm rot="-2400000">
                  <a:off x="10491780" y="2592278"/>
                  <a:ext cx="66843" cy="27981"/>
                </a:xfrm>
                <a:prstGeom prst="ellipse">
                  <a:avLst/>
                </a:prstGeom>
                <a:solidFill>
                  <a:srgbClr val="F8D8B4"/>
                </a:solidFill>
                <a:ln w="9525" cap="rnd">
                  <a:solidFill>
                    <a:srgbClr val="B2732B"/>
                  </a:solidFill>
                  <a:round/>
                </a:ln>
              </p:spPr>
            </p:sp>
            <p:sp>
              <p:nvSpPr>
                <p:cNvPr id="42" name="Forma 43"/>
                <p:cNvSpPr/>
                <p:nvPr/>
              </p:nvSpPr>
              <p:spPr>
                <a:xfrm rot="-2400000">
                  <a:off x="10491780" y="2592278"/>
                  <a:ext cx="66843" cy="2798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3" name="Ícono mitocondria"/>
            <p:cNvGrpSpPr/>
            <p:nvPr/>
          </p:nvGrpSpPr>
          <p:grpSpPr>
            <a:xfrm>
              <a:off x="10744200" y="2926080"/>
              <a:ext cx="822960" cy="411480"/>
              <a:chOff x="10744200" y="2926080"/>
              <a:chExt cx="822960" cy="411480"/>
            </a:xfrm>
          </p:grpSpPr>
          <p:sp>
            <p:nvSpPr>
              <p:cNvPr id="44" name="Forma 45"/>
              <p:cNvSpPr/>
              <p:nvPr/>
            </p:nvSpPr>
            <p:spPr>
              <a:xfrm>
                <a:off x="10744200" y="2926080"/>
                <a:ext cx="822960" cy="41148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5" name="Forma 46"/>
              <p:cNvSpPr/>
              <p:nvPr/>
            </p:nvSpPr>
            <p:spPr>
              <a:xfrm>
                <a:off x="10801807" y="2983687"/>
                <a:ext cx="707746" cy="296266"/>
              </a:xfrm>
              <a:prstGeom prst="ellipse">
                <a:avLst/>
              </a:prstGeom>
              <a:solidFill>
                <a:srgbClr val="F8D8B4"/>
              </a:solidFill>
              <a:ln w="9525" cap="rnd">
                <a:solidFill>
                  <a:srgbClr val="B2732B"/>
                </a:solidFill>
                <a:round/>
              </a:ln>
            </p:spPr>
          </p:sp>
          <p:sp>
            <p:nvSpPr>
              <p:cNvPr id="46" name="Forma 47"/>
              <p:cNvSpPr/>
              <p:nvPr/>
            </p:nvSpPr>
            <p:spPr>
              <a:xfrm>
                <a:off x="10801807" y="2983687"/>
                <a:ext cx="707746" cy="29626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7" name="Unidad IV"/>
          <p:cNvGrpSpPr/>
          <p:nvPr/>
        </p:nvGrpSpPr>
        <p:grpSpPr>
          <a:xfrm>
            <a:off x="411480" y="3840480"/>
            <a:ext cx="3611880" cy="2560320"/>
            <a:chOff x="411480" y="3840480"/>
            <a:chExt cx="3611880" cy="2560320"/>
          </a:xfrm>
        </p:grpSpPr>
        <p:sp>
          <p:nvSpPr>
            <p:cNvPr id="48" name="Forma 49"/>
            <p:cNvSpPr/>
            <p:nvPr/>
          </p:nvSpPr>
          <p:spPr>
            <a:xfrm>
              <a:off x="411480" y="3840480"/>
              <a:ext cx="3611880" cy="2560320"/>
            </a:xfrm>
            <a:prstGeom prst="rect">
              <a:avLst/>
            </a:prstGeom>
            <a:solidFill>
              <a:srgbClr val="D3E5F5"/>
            </a:solidFill>
            <a:ln w="19050" cap="rnd">
              <a:solidFill>
                <a:srgbClr val="1E1E1E"/>
              </a:solidFill>
              <a:round/>
            </a:ln>
            <a:effectLst>
              <a:outerShdw blurRad="63500" dist="38100" dir="2700000" algn="tl" rotWithShape="0">
                <a:srgbClr val="000000">
                  <a:alpha val="32000"/>
                </a:srgbClr>
              </a:outerShdw>
            </a:effectLst>
          </p:spPr>
        </p:sp>
        <p:sp>
          <p:nvSpPr>
            <p:cNvPr id="49" name="Paso IV"/>
            <p:cNvSpPr/>
            <p:nvPr/>
          </p:nvSpPr>
          <p:spPr>
            <a:xfrm>
              <a:off x="548640" y="397764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IV</a:t>
              </a:r>
              <a:endParaRPr lang="es-AR" sz="1500" dirty="0">
                <a:latin typeface="Bahnschrift SemiBold Condensed"/>
              </a:endParaRPr>
            </a:p>
          </p:txBody>
        </p:sp>
        <p:sp>
          <p:nvSpPr>
            <p:cNvPr id="50" name="Forma 51"/>
            <p:cNvSpPr txBox="1"/>
            <p:nvPr/>
          </p:nvSpPr>
          <p:spPr>
            <a:xfrm>
              <a:off x="1234440" y="395020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NITRÓGENO, RIÑÓN Y HOMEOSTASIS</a:t>
              </a:r>
              <a:endParaRPr lang="es-AR" sz="1600" dirty="0">
                <a:latin typeface="Bahnschrift SemiBold Condensed"/>
              </a:endParaRPr>
            </a:p>
          </p:txBody>
        </p:sp>
        <p:sp>
          <p:nvSpPr>
            <p:cNvPr id="51" name="Forma 52"/>
            <p:cNvSpPr txBox="1"/>
            <p:nvPr/>
          </p:nvSpPr>
          <p:spPr>
            <a:xfrm>
              <a:off x="576072" y="466344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Zonación hepática · ciclo de la urea · glutamina · riñón · AMP desaminasa · tejido adiposo · hipotálamo</a:t>
              </a:r>
              <a:endParaRPr lang="es-AR" sz="1250" dirty="0">
                <a:latin typeface="Bahnschrift"/>
              </a:endParaRPr>
            </a:p>
          </p:txBody>
        </p:sp>
        <p:grpSp>
          <p:nvGrpSpPr>
            <p:cNvPr id="52" name="Ícono riñón"/>
            <p:cNvGrpSpPr/>
            <p:nvPr/>
          </p:nvGrpSpPr>
          <p:grpSpPr>
            <a:xfrm>
              <a:off x="2880360" y="4709160"/>
              <a:ext cx="548640" cy="768096"/>
              <a:chOff x="2880360" y="4709160"/>
              <a:chExt cx="548640" cy="768096"/>
            </a:xfrm>
          </p:grpSpPr>
          <p:sp>
            <p:nvSpPr>
              <p:cNvPr id="53" name="Forma 54"/>
              <p:cNvSpPr/>
              <p:nvPr/>
            </p:nvSpPr>
            <p:spPr>
              <a:xfrm>
                <a:off x="2880360" y="4709160"/>
                <a:ext cx="548640" cy="76809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54" name="Forma 55"/>
              <p:cNvSpPr/>
              <p:nvPr/>
            </p:nvSpPr>
            <p:spPr>
              <a:xfrm>
                <a:off x="2880360" y="4709160"/>
                <a:ext cx="548640" cy="76809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55" name="Forma 56"/>
              <p:cNvSpPr/>
              <p:nvPr/>
            </p:nvSpPr>
            <p:spPr>
              <a:xfrm>
                <a:off x="2880360" y="4709160"/>
                <a:ext cx="548640" cy="76809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56" name="Forma 57"/>
              <p:cNvSpPr/>
              <p:nvPr/>
            </p:nvSpPr>
            <p:spPr>
              <a:xfrm>
                <a:off x="2880360" y="4709160"/>
                <a:ext cx="548640" cy="76809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nvGrpSpPr>
            <p:cNvPr id="57" name="Ícono cerebro"/>
            <p:cNvGrpSpPr/>
            <p:nvPr/>
          </p:nvGrpSpPr>
          <p:grpSpPr>
            <a:xfrm>
              <a:off x="3200400" y="5715000"/>
              <a:ext cx="731520" cy="570586"/>
              <a:chOff x="3200400" y="5715000"/>
              <a:chExt cx="731520" cy="570586"/>
            </a:xfrm>
          </p:grpSpPr>
          <p:sp>
            <p:nvSpPr>
              <p:cNvPr id="58" name="Cerebelo"/>
              <p:cNvSpPr/>
              <p:nvPr/>
            </p:nvSpPr>
            <p:spPr>
              <a:xfrm>
                <a:off x="3200400" y="5715000"/>
                <a:ext cx="731520" cy="570586"/>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59" name="Forma 60"/>
              <p:cNvSpPr/>
              <p:nvPr/>
            </p:nvSpPr>
            <p:spPr>
              <a:xfrm>
                <a:off x="3200400" y="5715000"/>
                <a:ext cx="731520" cy="570586"/>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60" name="Forma 61"/>
              <p:cNvSpPr/>
              <p:nvPr/>
            </p:nvSpPr>
            <p:spPr>
              <a:xfrm>
                <a:off x="3200400" y="5715000"/>
                <a:ext cx="731520" cy="570586"/>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61" name="Forma 62"/>
              <p:cNvSpPr/>
              <p:nvPr/>
            </p:nvSpPr>
            <p:spPr>
              <a:xfrm>
                <a:off x="3200400" y="5715000"/>
                <a:ext cx="731520" cy="570586"/>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grpSp>
        <p:nvGrpSpPr>
          <p:cNvPr id="62" name="Unidad V"/>
          <p:cNvGrpSpPr/>
          <p:nvPr/>
        </p:nvGrpSpPr>
        <p:grpSpPr>
          <a:xfrm>
            <a:off x="4251960" y="3840480"/>
            <a:ext cx="3611880" cy="2560320"/>
            <a:chOff x="4251960" y="3840480"/>
            <a:chExt cx="3611880" cy="2560320"/>
          </a:xfrm>
        </p:grpSpPr>
        <p:sp>
          <p:nvSpPr>
            <p:cNvPr id="63" name="Forma 64"/>
            <p:cNvSpPr/>
            <p:nvPr/>
          </p:nvSpPr>
          <p:spPr>
            <a:xfrm>
              <a:off x="4251960" y="3840480"/>
              <a:ext cx="3611880" cy="2560320"/>
            </a:xfrm>
            <a:prstGeom prst="rect">
              <a:avLst/>
            </a:prstGeom>
            <a:solidFill>
              <a:srgbClr val="F8C1C8"/>
            </a:solidFill>
            <a:ln w="19050" cap="rnd">
              <a:solidFill>
                <a:srgbClr val="1E1E1E"/>
              </a:solidFill>
              <a:round/>
            </a:ln>
            <a:effectLst>
              <a:outerShdw blurRad="63500" dist="38100" dir="2700000" algn="tl" rotWithShape="0">
                <a:srgbClr val="000000">
                  <a:alpha val="32000"/>
                </a:srgbClr>
              </a:outerShdw>
            </a:effectLst>
          </p:spPr>
        </p:sp>
        <p:sp>
          <p:nvSpPr>
            <p:cNvPr id="64" name="Paso V"/>
            <p:cNvSpPr/>
            <p:nvPr/>
          </p:nvSpPr>
          <p:spPr>
            <a:xfrm>
              <a:off x="4389120" y="397764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V</a:t>
              </a:r>
              <a:endParaRPr lang="es-AR" sz="1500" dirty="0">
                <a:latin typeface="Bahnschrift SemiBold Condensed"/>
              </a:endParaRPr>
            </a:p>
          </p:txBody>
        </p:sp>
        <p:sp>
          <p:nvSpPr>
            <p:cNvPr id="65" name="Forma 66"/>
            <p:cNvSpPr txBox="1"/>
            <p:nvPr/>
          </p:nvSpPr>
          <p:spPr>
            <a:xfrm>
              <a:off x="5074920" y="395020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INTEGRACIÓN EN PATOLOGÍA</a:t>
              </a:r>
              <a:endParaRPr lang="es-AR" sz="1600" dirty="0">
                <a:latin typeface="Bahnschrift SemiBold Condensed"/>
              </a:endParaRPr>
            </a:p>
          </p:txBody>
        </p:sp>
        <p:sp>
          <p:nvSpPr>
            <p:cNvPr id="66" name="Forma 67"/>
            <p:cNvSpPr txBox="1"/>
            <p:nvPr/>
          </p:nvSpPr>
          <p:spPr>
            <a:xfrm>
              <a:off x="4416552" y="466344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Insuficiencia hepática · fructosa · CPT1/carnitina · MCT · aterogénesis · hipertrigliceridemia · encefalopatía · hiperuricemia</a:t>
              </a:r>
              <a:endParaRPr lang="es-AR" sz="1250" dirty="0">
                <a:latin typeface="Bahnschrift"/>
              </a:endParaRPr>
            </a:p>
          </p:txBody>
        </p:sp>
        <p:grpSp>
          <p:nvGrpSpPr>
            <p:cNvPr id="67" name="Ícono corazón"/>
            <p:cNvGrpSpPr/>
            <p:nvPr/>
          </p:nvGrpSpPr>
          <p:grpSpPr>
            <a:xfrm>
              <a:off x="6766560" y="4736592"/>
              <a:ext cx="685800" cy="720090"/>
              <a:chOff x="6766560" y="4736592"/>
              <a:chExt cx="685800" cy="720090"/>
            </a:xfrm>
          </p:grpSpPr>
          <p:sp>
            <p:nvSpPr>
              <p:cNvPr id="68" name="Forma 69"/>
              <p:cNvSpPr/>
              <p:nvPr/>
            </p:nvSpPr>
            <p:spPr>
              <a:xfrm>
                <a:off x="6766560" y="4736592"/>
                <a:ext cx="685800" cy="720090"/>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69" name="Forma 70"/>
              <p:cNvSpPr/>
              <p:nvPr/>
            </p:nvSpPr>
            <p:spPr>
              <a:xfrm>
                <a:off x="6766560" y="4736592"/>
                <a:ext cx="685800" cy="720090"/>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grpSp>
          <p:nvGrpSpPr>
            <p:cNvPr id="70" name="Ícono hígado 2"/>
            <p:cNvGrpSpPr/>
            <p:nvPr/>
          </p:nvGrpSpPr>
          <p:grpSpPr>
            <a:xfrm>
              <a:off x="6629400" y="5623560"/>
              <a:ext cx="1051560" cy="743243"/>
              <a:chOff x="6629400" y="5623560"/>
              <a:chExt cx="1051560" cy="743243"/>
            </a:xfrm>
          </p:grpSpPr>
          <p:sp>
            <p:nvSpPr>
              <p:cNvPr id="71" name="Vesícula biliar_2"/>
              <p:cNvSpPr/>
              <p:nvPr/>
            </p:nvSpPr>
            <p:spPr>
              <a:xfrm>
                <a:off x="6913321" y="6132094"/>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72" name="Forma 73"/>
              <p:cNvSpPr/>
              <p:nvPr/>
            </p:nvSpPr>
            <p:spPr>
              <a:xfrm>
                <a:off x="6629400" y="5623560"/>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3" name="Forma 74"/>
              <p:cNvSpPr/>
              <p:nvPr/>
            </p:nvSpPr>
            <p:spPr>
              <a:xfrm>
                <a:off x="6629400" y="5623560"/>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74" name="Forma 75"/>
              <p:cNvSpPr/>
              <p:nvPr/>
            </p:nvSpPr>
            <p:spPr>
              <a:xfrm>
                <a:off x="6629400" y="5623560"/>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grpSp>
        <p:nvGrpSpPr>
          <p:cNvPr id="75" name="Unidad VI"/>
          <p:cNvGrpSpPr/>
          <p:nvPr/>
        </p:nvGrpSpPr>
        <p:grpSpPr>
          <a:xfrm>
            <a:off x="8092440" y="3840480"/>
            <a:ext cx="3685032" cy="2560320"/>
            <a:chOff x="8092440" y="3840480"/>
            <a:chExt cx="3685032" cy="2560320"/>
          </a:xfrm>
        </p:grpSpPr>
        <p:sp>
          <p:nvSpPr>
            <p:cNvPr id="76" name="Forma 77"/>
            <p:cNvSpPr/>
            <p:nvPr/>
          </p:nvSpPr>
          <p:spPr>
            <a:xfrm>
              <a:off x="8092440" y="3840480"/>
              <a:ext cx="3611880" cy="2560320"/>
            </a:xfrm>
            <a:prstGeom prst="rect">
              <a:avLst/>
            </a:prstGeom>
            <a:solidFill>
              <a:srgbClr val="FBE4D2"/>
            </a:solidFill>
            <a:ln w="19050" cap="rnd">
              <a:solidFill>
                <a:srgbClr val="1E1E1E"/>
              </a:solidFill>
              <a:round/>
            </a:ln>
            <a:effectLst>
              <a:outerShdw blurRad="63500" dist="38100" dir="2700000" algn="tl" rotWithShape="0">
                <a:srgbClr val="000000">
                  <a:alpha val="32000"/>
                </a:srgbClr>
              </a:outerShdw>
            </a:effectLst>
          </p:spPr>
        </p:sp>
        <p:sp>
          <p:nvSpPr>
            <p:cNvPr id="77" name="Paso VI"/>
            <p:cNvSpPr/>
            <p:nvPr/>
          </p:nvSpPr>
          <p:spPr>
            <a:xfrm>
              <a:off x="8229600" y="3977640"/>
              <a:ext cx="566928" cy="56692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VI</a:t>
              </a:r>
              <a:endParaRPr lang="es-AR" sz="1500" dirty="0">
                <a:latin typeface="Bahnschrift SemiBold Condensed"/>
              </a:endParaRPr>
            </a:p>
          </p:txBody>
        </p:sp>
        <p:sp>
          <p:nvSpPr>
            <p:cNvPr id="78" name="Forma 79"/>
            <p:cNvSpPr txBox="1"/>
            <p:nvPr/>
          </p:nvSpPr>
          <p:spPr>
            <a:xfrm>
              <a:off x="8915400" y="3950208"/>
              <a:ext cx="2697480" cy="640080"/>
            </a:xfrm>
            <a:prstGeom prst="rect">
              <a:avLst/>
            </a:prstGeom>
            <a:noFill/>
            <a:ln>
              <a:noFill/>
            </a:ln>
          </p:spPr>
          <p:txBody>
            <a:bodyPr wrap="square" lIns="0" tIns="0" rIns="0" bIns="0" anchor="ctr" rtlCol="0">
              <a:noAutofit/>
            </a:bodyPr>
            <a:lstStyle/>
            <a:p>
              <a:pPr algn="l">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CASOS CLÍNICOS Y SISTEMATIZACIÓN</a:t>
              </a:r>
              <a:endParaRPr lang="es-AR" sz="1600" dirty="0">
                <a:latin typeface="Bahnschrift SemiBold Condensed"/>
              </a:endParaRPr>
            </a:p>
          </p:txBody>
        </p:sp>
        <p:sp>
          <p:nvSpPr>
            <p:cNvPr id="79" name="Forma 80"/>
            <p:cNvSpPr txBox="1"/>
            <p:nvPr/>
          </p:nvSpPr>
          <p:spPr>
            <a:xfrm>
              <a:off x="8257032" y="4663440"/>
              <a:ext cx="2148840" cy="164592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3A2A20"/>
                  </a:solidFill>
                  <a:latin typeface="Bahnschrift"/>
                  <a:ea typeface="Bahnschrift"/>
                  <a:cs typeface="Bahnschrift"/>
                  <a:sym typeface="Bahnschrift"/>
                </a:rPr>
                <a:t>Seis casos integradores · enzimas reguladoras · comparación de estados · errores frecuentes · mapa final</a:t>
              </a:r>
              <a:endParaRPr lang="es-AR" sz="1250" dirty="0">
                <a:latin typeface="Bahnschrift"/>
              </a:endParaRPr>
            </a:p>
          </p:txBody>
        </p:sp>
        <p:grpSp>
          <p:nvGrpSpPr>
            <p:cNvPr id="80" name="Ícono paciente"/>
            <p:cNvGrpSpPr/>
            <p:nvPr/>
          </p:nvGrpSpPr>
          <p:grpSpPr>
            <a:xfrm>
              <a:off x="10607040" y="4709160"/>
              <a:ext cx="1170432" cy="1463040"/>
              <a:chOff x="10607040" y="4709160"/>
              <a:chExt cx="1170432" cy="1463040"/>
            </a:xfrm>
          </p:grpSpPr>
          <p:sp>
            <p:nvSpPr>
              <p:cNvPr id="81" name="Forma 82"/>
              <p:cNvSpPr/>
              <p:nvPr/>
            </p:nvSpPr>
            <p:spPr>
              <a:xfrm>
                <a:off x="10958170" y="4709160"/>
                <a:ext cx="468173" cy="468173"/>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82" name="Forma 83"/>
              <p:cNvSpPr/>
              <p:nvPr/>
            </p:nvSpPr>
            <p:spPr>
              <a:xfrm>
                <a:off x="10607040" y="5200741"/>
                <a:ext cx="1170432" cy="971459"/>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grpSp>
      <p:sp>
        <p:nvSpPr>
          <p:cNvPr id="2" name="Etiqueta sección"/>
          <p:cNvSpPr/>
          <p:nvPr/>
        </p:nvSpPr>
        <p:spPr>
          <a:xfrm>
            <a:off x="10635462" y="201168"/>
            <a:ext cx="12819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ÍNDICE VISUAL</a:t>
            </a:r>
            <a:endParaRPr lang="es-AR" sz="1300" dirty="0">
              <a:latin typeface="Bahnschrift SemiBold Condensed"/>
            </a:endParaRPr>
          </a:p>
        </p:txBody>
      </p:sp>
      <p:sp>
        <p:nvSpPr>
          <p:cNvPr id="3" name="Título"/>
          <p:cNvSpPr/>
          <p:nvPr/>
        </p:nvSpPr>
        <p:spPr>
          <a:xfrm>
            <a:off x="274320" y="146304"/>
            <a:ext cx="351745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RECORRIDO DE LA CLASE</a:t>
            </a:r>
            <a:endParaRPr lang="es-AR" sz="2600" dirty="0">
              <a:latin typeface="Bahnschrift SemiBold Condensed"/>
            </a:endParaRPr>
          </a:p>
        </p:txBody>
      </p:sp>
      <p:sp>
        <p:nvSpPr>
          <p:cNvPr id="8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50"/>
                            </p:stCondLst>
                            <p:childTnLst>
                              <p:par>
                                <p:cTn id="7" presetID="10" presetClass="entr" presetSubtype="0" fill="hold" grpId="0" nodeType="after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500"/>
                                        <p:tgtEl>
                                          <p:spTgt spid="16"/>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fade">
                                      <p:cBhvr>
                                        <p:cTn id="13" dur="500"/>
                                        <p:tgtEl>
                                          <p:spTgt spid="30"/>
                                        </p:tgtEl>
                                      </p:cBhvr>
                                    </p:animEffect>
                                  </p:childTnLst>
                                </p:cTn>
                              </p:par>
                            </p:childTnLst>
                          </p:cTn>
                        </p:par>
                        <p:par>
                          <p:cTn id="18" fill="hold">
                            <p:stCondLst>
                              <p:cond delay="1650"/>
                            </p:stCondLst>
                            <p:childTnLst>
                              <p:par>
                                <p:cTn id="15" presetID="10" presetClass="entr" presetSubtype="0"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fade">
                                      <p:cBhvr>
                                        <p:cTn id="17" dur="500"/>
                                        <p:tgtEl>
                                          <p:spTgt spid="47"/>
                                        </p:tgtEl>
                                      </p:cBhvr>
                                    </p:animEffect>
                                  </p:childTnLst>
                                </p:cTn>
                              </p:par>
                            </p:childTnLst>
                          </p:cTn>
                        </p:par>
                        <p:par>
                          <p:cTn id="22" fill="hold">
                            <p:stCondLst>
                              <p:cond delay="2200"/>
                            </p:stCondLst>
                            <p:childTnLst>
                              <p:par>
                                <p:cTn id="19" presetID="10" presetClass="entr" presetSubtype="0" fill="hold" grpId="0" nodeType="afterEffect">
                                  <p:stCondLst>
                                    <p:cond delay="0"/>
                                  </p:stCondLst>
                                  <p:childTnLst>
                                    <p:set>
                                      <p:cBhvr>
                                        <p:cTn id="20" dur="1" fill="hold">
                                          <p:stCondLst>
                                            <p:cond delay="0"/>
                                          </p:stCondLst>
                                        </p:cTn>
                                        <p:tgtEl>
                                          <p:spTgt spid="62"/>
                                        </p:tgtEl>
                                        <p:attrNameLst>
                                          <p:attrName>style.visibility</p:attrName>
                                        </p:attrNameLst>
                                      </p:cBhvr>
                                      <p:to>
                                        <p:strVal val="visible"/>
                                      </p:to>
                                    </p:set>
                                    <p:animEffect transition="in" filter="fade">
                                      <p:cBhvr>
                                        <p:cTn id="21" dur="500"/>
                                        <p:tgtEl>
                                          <p:spTgt spid="62"/>
                                        </p:tgtEl>
                                      </p:cBhvr>
                                    </p:animEffect>
                                  </p:childTnLst>
                                </p:cTn>
                              </p:par>
                            </p:childTnLst>
                          </p:cTn>
                        </p:par>
                        <p:par>
                          <p:cTn id="26" fill="hold">
                            <p:stCondLst>
                              <p:cond delay="2750"/>
                            </p:stCondLst>
                            <p:childTnLst>
                              <p:par>
                                <p:cTn id="23" presetID="10" presetClass="entr" presetSubtype="0" fill="hold" grpId="0" nodeType="after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ódigo activación"/>
          <p:cNvGrpSpPr/>
          <p:nvPr/>
        </p:nvGrpSpPr>
        <p:grpSpPr>
          <a:xfrm>
            <a:off x="640080" y="1188720"/>
            <a:ext cx="7680960" cy="640080"/>
            <a:chOff x="640080" y="1188720"/>
            <a:chExt cx="7680960" cy="640080"/>
          </a:xfrm>
        </p:grpSpPr>
        <p:sp>
          <p:nvSpPr>
            <p:cNvPr id="5" name="Flecha 4_2"/>
            <p:cNvSpPr/>
            <p:nvPr/>
          </p:nvSpPr>
          <p:spPr>
            <a:xfrm>
              <a:off x="640080" y="1508760"/>
              <a:ext cx="1463040" cy="9144"/>
            </a:xfrm>
            <a:custGeom>
              <a:avLst/>
              <a:gdLst/>
              <a:ahLst/>
              <a:cxnLst/>
              <a:rect l="0" t="0" r="r" b="b"/>
              <a:pathLst>
                <a:path w="1599" h="10" fill="none">
                  <a:moveTo>
                    <a:pt x="0" y="0"/>
                  </a:moveTo>
                  <a:lnTo>
                    <a:pt x="1599" y="0"/>
                  </a:lnTo>
                </a:path>
              </a:pathLst>
            </a:custGeom>
            <a:noFill/>
            <a:ln w="50800" cap="rnd">
              <a:solidFill>
                <a:srgbClr val="1E8C3A"/>
              </a:solidFill>
              <a:round/>
              <a:tailEnd type="triangle" w="med" len="med"/>
            </a:ln>
          </p:spPr>
        </p:sp>
        <p:sp>
          <p:nvSpPr>
            <p:cNvPr id="6" name="Signo +"/>
            <p:cNvSpPr/>
            <p:nvPr/>
          </p:nvSpPr>
          <p:spPr>
            <a:xfrm>
              <a:off x="2240280" y="1371600"/>
              <a:ext cx="274320" cy="274320"/>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7" name="Forma 7"/>
            <p:cNvSpPr/>
            <p:nvPr/>
          </p:nvSpPr>
          <p:spPr>
            <a:xfrm>
              <a:off x="2743200" y="1298448"/>
              <a:ext cx="1054507"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ACTIVACIÓN</a:t>
              </a:r>
              <a:endParaRPr lang="es-AR" sz="1400" dirty="0">
                <a:latin typeface="Bahnschrift SemiBold Condensed"/>
              </a:endParaRPr>
            </a:p>
          </p:txBody>
        </p:sp>
        <p:sp>
          <p:nvSpPr>
            <p:cNvPr id="8" name="Forma 8"/>
            <p:cNvSpPr txBox="1"/>
            <p:nvPr/>
          </p:nvSpPr>
          <p:spPr>
            <a:xfrm>
              <a:off x="3889147" y="1188720"/>
              <a:ext cx="4431893" cy="6400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Flecha o signo verde: la señal estimula una enzima, transportador o vía.</a:t>
              </a:r>
              <a:endParaRPr lang="es-AR" sz="1400" dirty="0">
                <a:latin typeface="Bahnschrift"/>
              </a:endParaRPr>
            </a:p>
          </p:txBody>
        </p:sp>
      </p:grpSp>
      <p:grpSp>
        <p:nvGrpSpPr>
          <p:cNvPr id="9" name="Código inhibición"/>
          <p:cNvGrpSpPr/>
          <p:nvPr/>
        </p:nvGrpSpPr>
        <p:grpSpPr>
          <a:xfrm>
            <a:off x="640080" y="2176272"/>
            <a:ext cx="7680960" cy="640080"/>
            <a:chOff x="640080" y="2176272"/>
            <a:chExt cx="7680960" cy="640080"/>
          </a:xfrm>
        </p:grpSpPr>
        <p:grpSp>
          <p:nvGrpSpPr>
            <p:cNvPr id="10" name="Inhibición"/>
            <p:cNvGrpSpPr/>
            <p:nvPr/>
          </p:nvGrpSpPr>
          <p:grpSpPr>
            <a:xfrm>
              <a:off x="640080" y="2395728"/>
              <a:ext cx="1472184" cy="201168"/>
              <a:chOff x="640080" y="2395728"/>
              <a:chExt cx="1472184" cy="201168"/>
            </a:xfrm>
          </p:grpSpPr>
          <p:sp>
            <p:nvSpPr>
              <p:cNvPr id="11" name="Flecha 11_2"/>
              <p:cNvSpPr/>
              <p:nvPr/>
            </p:nvSpPr>
            <p:spPr>
              <a:xfrm>
                <a:off x="640080" y="2496312"/>
                <a:ext cx="1463040" cy="9144"/>
              </a:xfrm>
              <a:custGeom>
                <a:avLst/>
                <a:gdLst/>
                <a:ahLst/>
                <a:cxnLst/>
                <a:rect l="0" t="0" r="r" b="b"/>
                <a:pathLst>
                  <a:path w="1599" h="10" fill="none">
                    <a:moveTo>
                      <a:pt x="0" y="0"/>
                    </a:moveTo>
                    <a:lnTo>
                      <a:pt x="1599" y="0"/>
                    </a:lnTo>
                  </a:path>
                </a:pathLst>
              </a:custGeom>
              <a:noFill/>
              <a:ln w="31750" cap="rnd">
                <a:solidFill>
                  <a:srgbClr val="C00000"/>
                </a:solidFill>
                <a:round/>
              </a:ln>
            </p:spPr>
          </p:sp>
          <p:sp>
            <p:nvSpPr>
              <p:cNvPr id="12" name="Flecha 13_2"/>
              <p:cNvSpPr/>
              <p:nvPr/>
            </p:nvSpPr>
            <p:spPr>
              <a:xfrm>
                <a:off x="2103120" y="2395728"/>
                <a:ext cx="9144" cy="201168"/>
              </a:xfrm>
              <a:custGeom>
                <a:avLst/>
                <a:gdLst/>
                <a:ahLst/>
                <a:cxnLst/>
                <a:rect l="0" t="0" r="r" b="b"/>
                <a:pathLst>
                  <a:path w="10" h="219" fill="none">
                    <a:moveTo>
                      <a:pt x="0" y="0"/>
                    </a:moveTo>
                    <a:lnTo>
                      <a:pt x="0" y="219"/>
                    </a:lnTo>
                  </a:path>
                </a:pathLst>
              </a:custGeom>
              <a:noFill/>
              <a:ln w="50800" cap="rnd">
                <a:solidFill>
                  <a:srgbClr val="C00000"/>
                </a:solidFill>
                <a:round/>
              </a:ln>
            </p:spPr>
          </p:sp>
        </p:grpSp>
        <p:sp>
          <p:nvSpPr>
            <p:cNvPr id="13" name="Signo −"/>
            <p:cNvSpPr/>
            <p:nvPr/>
          </p:nvSpPr>
          <p:spPr>
            <a:xfrm>
              <a:off x="2240280" y="2359152"/>
              <a:ext cx="274320" cy="274320"/>
            </a:xfrm>
            <a:prstGeom prst="ellipse">
              <a:avLst/>
            </a:prstGeom>
            <a:solidFill>
              <a:srgbClr val="C00000"/>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14" name="Forma 16"/>
            <p:cNvSpPr/>
            <p:nvPr/>
          </p:nvSpPr>
          <p:spPr>
            <a:xfrm>
              <a:off x="2743200" y="2286000"/>
              <a:ext cx="978408"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INHIBICIÓN</a:t>
              </a:r>
              <a:endParaRPr lang="es-AR" sz="1400" dirty="0">
                <a:latin typeface="Bahnschrift SemiBold Condensed"/>
              </a:endParaRPr>
            </a:p>
          </p:txBody>
        </p:sp>
        <p:sp>
          <p:nvSpPr>
            <p:cNvPr id="15" name="Forma 17"/>
            <p:cNvSpPr txBox="1"/>
            <p:nvPr/>
          </p:nvSpPr>
          <p:spPr>
            <a:xfrm>
              <a:off x="3813048" y="2176272"/>
              <a:ext cx="4507992" cy="6400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Trazo rojo terminado en barra perpendicular o signo rojo: freno de la actividad.</a:t>
              </a:r>
              <a:endParaRPr lang="es-AR" sz="1400" dirty="0">
                <a:latin typeface="Bahnschrift"/>
              </a:endParaRPr>
            </a:p>
          </p:txBody>
        </p:sp>
      </p:grpSp>
      <p:grpSp>
        <p:nvGrpSpPr>
          <p:cNvPr id="16" name="Código transporte"/>
          <p:cNvGrpSpPr/>
          <p:nvPr/>
        </p:nvGrpSpPr>
        <p:grpSpPr>
          <a:xfrm>
            <a:off x="640080" y="3163824"/>
            <a:ext cx="7680960" cy="640080"/>
            <a:chOff x="640080" y="3163824"/>
            <a:chExt cx="7680960" cy="640080"/>
          </a:xfrm>
        </p:grpSpPr>
        <p:sp>
          <p:nvSpPr>
            <p:cNvPr id="17" name="Flecha 19_2"/>
            <p:cNvSpPr/>
            <p:nvPr/>
          </p:nvSpPr>
          <p:spPr>
            <a:xfrm>
              <a:off x="640080" y="3483864"/>
              <a:ext cx="1463040" cy="9144"/>
            </a:xfrm>
            <a:custGeom>
              <a:avLst/>
              <a:gdLst/>
              <a:ahLst/>
              <a:cxnLst/>
              <a:rect l="0" t="0" r="r" b="b"/>
              <a:pathLst>
                <a:path w="1599" h="10" fill="none">
                  <a:moveTo>
                    <a:pt x="0" y="0"/>
                  </a:moveTo>
                  <a:lnTo>
                    <a:pt x="1599" y="0"/>
                  </a:lnTo>
                </a:path>
              </a:pathLst>
            </a:custGeom>
            <a:noFill/>
            <a:ln w="50800" cap="rnd">
              <a:solidFill>
                <a:srgbClr val="2563B0"/>
              </a:solidFill>
              <a:round/>
              <a:tailEnd type="triangle" w="med" len="med"/>
            </a:ln>
          </p:spPr>
        </p:sp>
        <p:sp>
          <p:nvSpPr>
            <p:cNvPr id="18" name="Forma 21"/>
            <p:cNvSpPr/>
            <p:nvPr/>
          </p:nvSpPr>
          <p:spPr>
            <a:xfrm>
              <a:off x="2743200" y="3273552"/>
              <a:ext cx="1153048"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TRANSPORTE</a:t>
              </a:r>
              <a:endParaRPr lang="es-AR" sz="1400" dirty="0">
                <a:latin typeface="Bahnschrift SemiBold Condensed"/>
              </a:endParaRPr>
            </a:p>
          </p:txBody>
        </p:sp>
        <p:sp>
          <p:nvSpPr>
            <p:cNvPr id="19" name="Forma 22"/>
            <p:cNvSpPr txBox="1"/>
            <p:nvPr/>
          </p:nvSpPr>
          <p:spPr>
            <a:xfrm>
              <a:off x="3987688" y="3163824"/>
              <a:ext cx="4333352" cy="6400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Flecha azul: desplazamiento de metabolitos entre compartimentos u órganos.</a:t>
              </a:r>
              <a:endParaRPr lang="es-AR" sz="1400" dirty="0">
                <a:latin typeface="Bahnschrift"/>
              </a:endParaRPr>
            </a:p>
          </p:txBody>
        </p:sp>
      </p:grpSp>
      <p:grpSp>
        <p:nvGrpSpPr>
          <p:cNvPr id="20" name="Código intermediarios energéticos"/>
          <p:cNvGrpSpPr/>
          <p:nvPr/>
        </p:nvGrpSpPr>
        <p:grpSpPr>
          <a:xfrm>
            <a:off x="640080" y="4151376"/>
            <a:ext cx="7680960" cy="640080"/>
            <a:chOff x="640080" y="4151376"/>
            <a:chExt cx="7680960" cy="640080"/>
          </a:xfrm>
        </p:grpSpPr>
        <p:sp>
          <p:nvSpPr>
            <p:cNvPr id="21" name="Molécula atp"/>
            <p:cNvSpPr/>
            <p:nvPr/>
          </p:nvSpPr>
          <p:spPr>
            <a:xfrm>
              <a:off x="640080" y="4261104"/>
              <a:ext cx="731520" cy="45720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ATP</a:t>
              </a:r>
              <a:endParaRPr lang="es-AR" sz="1300" dirty="0">
                <a:latin typeface="Bahnschrift SemiBold Condensed"/>
              </a:endParaRPr>
            </a:p>
          </p:txBody>
        </p:sp>
        <p:sp>
          <p:nvSpPr>
            <p:cNvPr id="22" name="Molécula atp_2"/>
            <p:cNvSpPr/>
            <p:nvPr/>
          </p:nvSpPr>
          <p:spPr>
            <a:xfrm>
              <a:off x="1463040" y="4261104"/>
              <a:ext cx="822960" cy="45720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80" b="1" dirty="0">
                  <a:solidFill>
                    <a:srgbClr val="1E1E1E"/>
                  </a:solidFill>
                  <a:latin typeface="Bahnschrift SemiBold Condensed"/>
                  <a:ea typeface="Bahnschrift SemiBold Condensed"/>
                  <a:cs typeface="Bahnschrift SemiBold Condensed"/>
                  <a:sym typeface="Bahnschrift SemiBold Condensed"/>
                </a:rPr>
                <a:t>NADH</a:t>
              </a:r>
              <a:endParaRPr lang="es-AR" sz="1180" dirty="0">
                <a:latin typeface="Bahnschrift SemiBold Condensed"/>
              </a:endParaRPr>
            </a:p>
          </p:txBody>
        </p:sp>
        <p:sp>
          <p:nvSpPr>
            <p:cNvPr id="23" name="Forma 26"/>
            <p:cNvSpPr/>
            <p:nvPr/>
          </p:nvSpPr>
          <p:spPr>
            <a:xfrm>
              <a:off x="2743200" y="4261104"/>
              <a:ext cx="2360367"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INTERMEDIARIOS ENERGÉTICOS</a:t>
              </a:r>
              <a:endParaRPr lang="es-AR" sz="1400" dirty="0">
                <a:latin typeface="Bahnschrift SemiBold Condensed"/>
              </a:endParaRPr>
            </a:p>
          </p:txBody>
        </p:sp>
        <p:sp>
          <p:nvSpPr>
            <p:cNvPr id="24" name="Forma 27"/>
            <p:cNvSpPr txBox="1"/>
            <p:nvPr/>
          </p:nvSpPr>
          <p:spPr>
            <a:xfrm>
              <a:off x="5195007" y="4151376"/>
              <a:ext cx="3126033" cy="6400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Amarillo: ATP, GTP, NADH, FADH</a:t>
              </a:r>
              <a:r>
                <a:rPr lang="es-AR" sz="1400" baseline="-25000" dirty="0">
                  <a:solidFill>
                    <a:srgbClr val="1E1E1E"/>
                  </a:solidFill>
                  <a:latin typeface="Bahnschrift"/>
                  <a:ea typeface="Bahnschrift"/>
                  <a:cs typeface="Bahnschrift"/>
                  <a:sym typeface="Bahnschrift"/>
                </a:rPr>
                <a:t>2</a:t>
              </a:r>
              <a:r>
                <a:rPr lang="es-AR" sz="1400" dirty="0">
                  <a:solidFill>
                    <a:srgbClr val="1E1E1E"/>
                  </a:solidFill>
                  <a:latin typeface="Bahnschrift"/>
                  <a:ea typeface="Bahnschrift"/>
                  <a:cs typeface="Bahnschrift"/>
                  <a:sym typeface="Bahnschrift"/>
                </a:rPr>
                <a:t>, NADPH y acetil-CoA.</a:t>
              </a:r>
              <a:endParaRPr lang="es-AR" sz="1400" dirty="0">
                <a:latin typeface="Bahnschrift"/>
              </a:endParaRPr>
            </a:p>
          </p:txBody>
        </p:sp>
      </p:grpSp>
      <p:grpSp>
        <p:nvGrpSpPr>
          <p:cNvPr id="25" name="Código enzimas"/>
          <p:cNvGrpSpPr/>
          <p:nvPr/>
        </p:nvGrpSpPr>
        <p:grpSpPr>
          <a:xfrm>
            <a:off x="640080" y="5138928"/>
            <a:ext cx="7680960" cy="640080"/>
            <a:chOff x="640080" y="5138928"/>
            <a:chExt cx="7680960" cy="640080"/>
          </a:xfrm>
        </p:grpSpPr>
        <p:sp>
          <p:nvSpPr>
            <p:cNvPr id="26" name="Enzima CPT1"/>
            <p:cNvSpPr/>
            <p:nvPr/>
          </p:nvSpPr>
          <p:spPr>
            <a:xfrm>
              <a:off x="640080" y="5303520"/>
              <a:ext cx="621857"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CPT1</a:t>
              </a:r>
              <a:endParaRPr lang="es-AR" sz="1250" dirty="0">
                <a:latin typeface="Bahnschrift SemiBold Condensed"/>
              </a:endParaRPr>
            </a:p>
          </p:txBody>
        </p:sp>
        <p:sp>
          <p:nvSpPr>
            <p:cNvPr id="27" name="Enzima PFK-1"/>
            <p:cNvSpPr/>
            <p:nvPr/>
          </p:nvSpPr>
          <p:spPr>
            <a:xfrm>
              <a:off x="1371600" y="5303520"/>
              <a:ext cx="67519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PFK-1</a:t>
              </a:r>
              <a:endParaRPr lang="es-AR" sz="1250" dirty="0">
                <a:latin typeface="Bahnschrift SemiBold Condensed"/>
              </a:endParaRPr>
            </a:p>
          </p:txBody>
        </p:sp>
        <p:sp>
          <p:nvSpPr>
            <p:cNvPr id="28" name="Forma 31"/>
            <p:cNvSpPr/>
            <p:nvPr/>
          </p:nvSpPr>
          <p:spPr>
            <a:xfrm>
              <a:off x="2743200" y="5248656"/>
              <a:ext cx="829609"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ENZIMAS</a:t>
              </a:r>
              <a:endParaRPr lang="es-AR" sz="1400" dirty="0">
                <a:latin typeface="Bahnschrift SemiBold Condensed"/>
              </a:endParaRPr>
            </a:p>
          </p:txBody>
        </p:sp>
        <p:sp>
          <p:nvSpPr>
            <p:cNvPr id="29" name="Forma 32"/>
            <p:cNvSpPr txBox="1"/>
            <p:nvPr/>
          </p:nvSpPr>
          <p:spPr>
            <a:xfrm>
              <a:off x="3664249" y="5138928"/>
              <a:ext cx="4656791" cy="6400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Píldora blanca con borde azul oscuro: enzima o complejo enzimático regulador.</a:t>
              </a:r>
              <a:endParaRPr lang="es-AR" sz="1400" dirty="0">
                <a:latin typeface="Bahnschrift"/>
              </a:endParaRPr>
            </a:p>
          </p:txBody>
        </p:sp>
      </p:grpSp>
      <p:grpSp>
        <p:nvGrpSpPr>
          <p:cNvPr id="30" name="Fichas moleculares"/>
          <p:cNvGrpSpPr/>
          <p:nvPr/>
        </p:nvGrpSpPr>
        <p:grpSpPr>
          <a:xfrm>
            <a:off x="8549640" y="1143000"/>
            <a:ext cx="3337560" cy="5257800"/>
            <a:chOff x="8549640" y="1143000"/>
            <a:chExt cx="3337560" cy="5257800"/>
          </a:xfrm>
        </p:grpSpPr>
        <p:sp>
          <p:nvSpPr>
            <p:cNvPr id="31" name="Forma 34"/>
            <p:cNvSpPr/>
            <p:nvPr/>
          </p:nvSpPr>
          <p:spPr>
            <a:xfrm>
              <a:off x="8549640" y="1143000"/>
              <a:ext cx="3337560" cy="5257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2" name="Forma 35"/>
            <p:cNvSpPr txBox="1"/>
            <p:nvPr/>
          </p:nvSpPr>
          <p:spPr>
            <a:xfrm>
              <a:off x="8686800" y="1207008"/>
              <a:ext cx="3108960" cy="36576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FICHAS MOLECULARES</a:t>
              </a:r>
              <a:endParaRPr lang="es-AR" sz="1500" dirty="0">
                <a:latin typeface="Bahnschrift SemiBold Condensed"/>
              </a:endParaRPr>
            </a:p>
          </p:txBody>
        </p:sp>
        <p:sp>
          <p:nvSpPr>
            <p:cNvPr id="33" name="Molécula glc"/>
            <p:cNvSpPr/>
            <p:nvPr/>
          </p:nvSpPr>
          <p:spPr>
            <a:xfrm>
              <a:off x="8778240" y="164592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34" name="Forma 37"/>
            <p:cNvSpPr txBox="1"/>
            <p:nvPr/>
          </p:nvSpPr>
          <p:spPr>
            <a:xfrm>
              <a:off x="9235440" y="1627632"/>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Glucosa</a:t>
              </a:r>
              <a:endParaRPr lang="es-AR" sz="1350" dirty="0">
                <a:latin typeface="Bahnschrift"/>
              </a:endParaRPr>
            </a:p>
          </p:txBody>
        </p:sp>
        <p:sp>
          <p:nvSpPr>
            <p:cNvPr id="35" name="Molécula lac"/>
            <p:cNvSpPr/>
            <p:nvPr/>
          </p:nvSpPr>
          <p:spPr>
            <a:xfrm>
              <a:off x="8778240" y="2020824"/>
              <a:ext cx="329184" cy="329184"/>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Lac</a:t>
              </a:r>
              <a:endParaRPr lang="es-AR" sz="936" dirty="0">
                <a:latin typeface="Bahnschrift SemiBold Condensed"/>
              </a:endParaRPr>
            </a:p>
          </p:txBody>
        </p:sp>
        <p:sp>
          <p:nvSpPr>
            <p:cNvPr id="36" name="Forma 39"/>
            <p:cNvSpPr txBox="1"/>
            <p:nvPr/>
          </p:nvSpPr>
          <p:spPr>
            <a:xfrm>
              <a:off x="9235440" y="2002536"/>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Lactato</a:t>
              </a:r>
              <a:endParaRPr lang="es-AR" sz="1350" dirty="0">
                <a:latin typeface="Bahnschrift"/>
              </a:endParaRPr>
            </a:p>
          </p:txBody>
        </p:sp>
        <p:sp>
          <p:nvSpPr>
            <p:cNvPr id="37" name="Molécula ala"/>
            <p:cNvSpPr/>
            <p:nvPr/>
          </p:nvSpPr>
          <p:spPr>
            <a:xfrm>
              <a:off x="8778240" y="2395728"/>
              <a:ext cx="329184" cy="329184"/>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Ala</a:t>
              </a:r>
              <a:endParaRPr lang="es-AR" sz="936" dirty="0">
                <a:latin typeface="Bahnschrift SemiBold Condensed"/>
              </a:endParaRPr>
            </a:p>
          </p:txBody>
        </p:sp>
        <p:sp>
          <p:nvSpPr>
            <p:cNvPr id="38" name="Forma 41"/>
            <p:cNvSpPr txBox="1"/>
            <p:nvPr/>
          </p:nvSpPr>
          <p:spPr>
            <a:xfrm>
              <a:off x="9235440" y="2377440"/>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Alanina</a:t>
              </a:r>
              <a:endParaRPr lang="es-AR" sz="1350" dirty="0">
                <a:latin typeface="Bahnschrift"/>
              </a:endParaRPr>
            </a:p>
          </p:txBody>
        </p:sp>
        <p:sp>
          <p:nvSpPr>
            <p:cNvPr id="39" name="Molécula gly"/>
            <p:cNvSpPr/>
            <p:nvPr/>
          </p:nvSpPr>
          <p:spPr>
            <a:xfrm>
              <a:off x="8778240" y="2770632"/>
              <a:ext cx="329184" cy="329184"/>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936" b="1" dirty="0">
                  <a:solidFill>
                    <a:srgbClr val="1E1E1E"/>
                  </a:solidFill>
                  <a:latin typeface="Bahnschrift SemiBold Condensed"/>
                  <a:ea typeface="Bahnschrift SemiBold Condensed"/>
                  <a:cs typeface="Bahnschrift SemiBold Condensed"/>
                  <a:sym typeface="Bahnschrift SemiBold Condensed"/>
                </a:rPr>
                <a:t>Gli</a:t>
              </a:r>
              <a:endParaRPr lang="es-AR" sz="936" dirty="0">
                <a:latin typeface="Bahnschrift SemiBold Condensed"/>
              </a:endParaRPr>
            </a:p>
          </p:txBody>
        </p:sp>
        <p:sp>
          <p:nvSpPr>
            <p:cNvPr id="40" name="Forma 43"/>
            <p:cNvSpPr txBox="1"/>
            <p:nvPr/>
          </p:nvSpPr>
          <p:spPr>
            <a:xfrm>
              <a:off x="9235440" y="2752344"/>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Glicerol</a:t>
              </a:r>
              <a:endParaRPr lang="es-AR" sz="1350" dirty="0">
                <a:latin typeface="Bahnschrift"/>
              </a:endParaRPr>
            </a:p>
          </p:txBody>
        </p:sp>
        <p:sp>
          <p:nvSpPr>
            <p:cNvPr id="41" name="Molécula cc"/>
            <p:cNvSpPr/>
            <p:nvPr/>
          </p:nvSpPr>
          <p:spPr>
            <a:xfrm>
              <a:off x="8778240" y="3145536"/>
              <a:ext cx="329184" cy="329184"/>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055" b="1" dirty="0">
                  <a:solidFill>
                    <a:srgbClr val="FFFFFF"/>
                  </a:solidFill>
                  <a:latin typeface="Bahnschrift SemiBold Condensed"/>
                  <a:ea typeface="Bahnschrift SemiBold Condensed"/>
                  <a:cs typeface="Bahnschrift SemiBold Condensed"/>
                  <a:sym typeface="Bahnschrift SemiBold Condensed"/>
                </a:rPr>
                <a:t>CC</a:t>
              </a:r>
              <a:endParaRPr lang="es-AR" sz="1055" dirty="0">
                <a:latin typeface="Bahnschrift SemiBold Condensed"/>
              </a:endParaRPr>
            </a:p>
          </p:txBody>
        </p:sp>
        <p:sp>
          <p:nvSpPr>
            <p:cNvPr id="42" name="Forma 45"/>
            <p:cNvSpPr txBox="1"/>
            <p:nvPr/>
          </p:nvSpPr>
          <p:spPr>
            <a:xfrm>
              <a:off x="9235440" y="3127248"/>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Cuerpos cetónicos</a:t>
              </a:r>
              <a:endParaRPr lang="es-AR" sz="1350" dirty="0">
                <a:latin typeface="Bahnschrift"/>
              </a:endParaRPr>
            </a:p>
          </p:txBody>
        </p:sp>
        <p:sp>
          <p:nvSpPr>
            <p:cNvPr id="43" name="Molécula gln"/>
            <p:cNvSpPr/>
            <p:nvPr/>
          </p:nvSpPr>
          <p:spPr>
            <a:xfrm>
              <a:off x="8778240" y="3520440"/>
              <a:ext cx="329184" cy="329184"/>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Gln</a:t>
              </a:r>
              <a:endParaRPr lang="es-AR" sz="936" dirty="0">
                <a:latin typeface="Bahnschrift SemiBold Condensed"/>
              </a:endParaRPr>
            </a:p>
          </p:txBody>
        </p:sp>
        <p:sp>
          <p:nvSpPr>
            <p:cNvPr id="44" name="Forma 47"/>
            <p:cNvSpPr txBox="1"/>
            <p:nvPr/>
          </p:nvSpPr>
          <p:spPr>
            <a:xfrm>
              <a:off x="9235440" y="3502152"/>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Glutamina</a:t>
              </a:r>
              <a:endParaRPr lang="es-AR" sz="1350" dirty="0">
                <a:latin typeface="Bahnschrift"/>
              </a:endParaRPr>
            </a:p>
          </p:txBody>
        </p:sp>
        <p:sp>
          <p:nvSpPr>
            <p:cNvPr id="45" name="Molécula nh4"/>
            <p:cNvSpPr/>
            <p:nvPr/>
          </p:nvSpPr>
          <p:spPr>
            <a:xfrm>
              <a:off x="8778240" y="3895344"/>
              <a:ext cx="329184" cy="329184"/>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NH</a:t>
              </a:r>
              <a:r>
                <a:rPr lang="es-AR" sz="850" b="1" baseline="-25000" dirty="0">
                  <a:solidFill>
                    <a:srgbClr val="FFFFFF"/>
                  </a:solidFill>
                  <a:latin typeface="Bahnschrift SemiBold Condensed"/>
                  <a:ea typeface="Bahnschrift SemiBold Condensed"/>
                  <a:cs typeface="Bahnschrift SemiBold Condensed"/>
                  <a:sym typeface="Bahnschrift SemiBold Condensed"/>
                </a:rPr>
                <a:t>4</a:t>
              </a:r>
              <a:r>
                <a:rPr lang="es-AR" sz="850" b="1" baseline="30000" dirty="0">
                  <a:solidFill>
                    <a:srgbClr val="FFFFFF"/>
                  </a:solidFill>
                  <a:latin typeface="Bahnschrift SemiBold Condensed"/>
                  <a:ea typeface="Bahnschrift SemiBold Condensed"/>
                  <a:cs typeface="Bahnschrift SemiBold Condensed"/>
                  <a:sym typeface="Bahnschrift SemiBold Condensed"/>
                </a:rPr>
                <a:t>+</a:t>
              </a:r>
              <a:endParaRPr lang="es-AR" sz="850" dirty="0">
                <a:latin typeface="Bahnschrift SemiBold Condensed"/>
              </a:endParaRPr>
            </a:p>
          </p:txBody>
        </p:sp>
        <p:sp>
          <p:nvSpPr>
            <p:cNvPr id="46" name="Forma 49"/>
            <p:cNvSpPr txBox="1"/>
            <p:nvPr/>
          </p:nvSpPr>
          <p:spPr>
            <a:xfrm>
              <a:off x="9235440" y="3877056"/>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Amonio (NH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a:t>
              </a:r>
              <a:endParaRPr lang="es-AR" sz="1350" dirty="0">
                <a:latin typeface="Bahnschrift"/>
              </a:endParaRPr>
            </a:p>
          </p:txBody>
        </p:sp>
        <p:sp>
          <p:nvSpPr>
            <p:cNvPr id="47" name="Molécula urea"/>
            <p:cNvSpPr/>
            <p:nvPr/>
          </p:nvSpPr>
          <p:spPr>
            <a:xfrm>
              <a:off x="8778240" y="4270248"/>
              <a:ext cx="329184" cy="329184"/>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Urea</a:t>
              </a:r>
              <a:endParaRPr lang="es-AR" sz="850" dirty="0">
                <a:latin typeface="Bahnschrift SemiBold Condensed"/>
              </a:endParaRPr>
            </a:p>
          </p:txBody>
        </p:sp>
        <p:sp>
          <p:nvSpPr>
            <p:cNvPr id="48" name="Forma 51"/>
            <p:cNvSpPr txBox="1"/>
            <p:nvPr/>
          </p:nvSpPr>
          <p:spPr>
            <a:xfrm>
              <a:off x="9235440" y="4251960"/>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Urea</a:t>
              </a:r>
              <a:endParaRPr lang="es-AR" sz="1350" dirty="0">
                <a:latin typeface="Bahnschrift"/>
              </a:endParaRPr>
            </a:p>
          </p:txBody>
        </p:sp>
        <p:sp>
          <p:nvSpPr>
            <p:cNvPr id="49" name="Molécula aa"/>
            <p:cNvSpPr/>
            <p:nvPr/>
          </p:nvSpPr>
          <p:spPr>
            <a:xfrm>
              <a:off x="8778240" y="4645152"/>
              <a:ext cx="329184" cy="329184"/>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055" b="1" dirty="0">
                  <a:solidFill>
                    <a:srgbClr val="FFFFFF"/>
                  </a:solidFill>
                  <a:latin typeface="Bahnschrift SemiBold Condensed"/>
                  <a:ea typeface="Bahnschrift SemiBold Condensed"/>
                  <a:cs typeface="Bahnschrift SemiBold Condensed"/>
                  <a:sym typeface="Bahnschrift SemiBold Condensed"/>
                </a:rPr>
                <a:t>AA</a:t>
              </a:r>
              <a:endParaRPr lang="es-AR" sz="1055" dirty="0">
                <a:latin typeface="Bahnschrift SemiBold Condensed"/>
              </a:endParaRPr>
            </a:p>
          </p:txBody>
        </p:sp>
        <p:sp>
          <p:nvSpPr>
            <p:cNvPr id="50" name="Forma 53"/>
            <p:cNvSpPr txBox="1"/>
            <p:nvPr/>
          </p:nvSpPr>
          <p:spPr>
            <a:xfrm>
              <a:off x="9235440" y="4626864"/>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Aminoácidos</a:t>
              </a:r>
              <a:endParaRPr lang="es-AR" sz="1350" dirty="0">
                <a:latin typeface="Bahnschrift"/>
              </a:endParaRPr>
            </a:p>
          </p:txBody>
        </p:sp>
        <p:sp>
          <p:nvSpPr>
            <p:cNvPr id="51" name="Molécula ins"/>
            <p:cNvSpPr/>
            <p:nvPr/>
          </p:nvSpPr>
          <p:spPr>
            <a:xfrm>
              <a:off x="8778240" y="5020056"/>
              <a:ext cx="329184" cy="329184"/>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Ins</a:t>
              </a:r>
              <a:endParaRPr lang="es-AR" sz="936" dirty="0">
                <a:latin typeface="Bahnschrift SemiBold Condensed"/>
              </a:endParaRPr>
            </a:p>
          </p:txBody>
        </p:sp>
        <p:sp>
          <p:nvSpPr>
            <p:cNvPr id="52" name="Forma 55"/>
            <p:cNvSpPr txBox="1"/>
            <p:nvPr/>
          </p:nvSpPr>
          <p:spPr>
            <a:xfrm>
              <a:off x="9235440" y="5001768"/>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Insulina</a:t>
              </a:r>
              <a:endParaRPr lang="es-AR" sz="1350" dirty="0">
                <a:latin typeface="Bahnschrift"/>
              </a:endParaRPr>
            </a:p>
          </p:txBody>
        </p:sp>
        <p:sp>
          <p:nvSpPr>
            <p:cNvPr id="53" name="Molécula gcg"/>
            <p:cNvSpPr/>
            <p:nvPr/>
          </p:nvSpPr>
          <p:spPr>
            <a:xfrm>
              <a:off x="8778240" y="5394960"/>
              <a:ext cx="329184" cy="329184"/>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Gcg</a:t>
              </a:r>
              <a:endParaRPr lang="es-AR" sz="936" dirty="0">
                <a:latin typeface="Bahnschrift SemiBold Condensed"/>
              </a:endParaRPr>
            </a:p>
          </p:txBody>
        </p:sp>
        <p:sp>
          <p:nvSpPr>
            <p:cNvPr id="54" name="Forma 57"/>
            <p:cNvSpPr txBox="1"/>
            <p:nvPr/>
          </p:nvSpPr>
          <p:spPr>
            <a:xfrm>
              <a:off x="9235440" y="5376672"/>
              <a:ext cx="2560320" cy="36576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Glucagón</a:t>
              </a:r>
              <a:endParaRPr lang="es-AR" sz="1350" dirty="0">
                <a:latin typeface="Bahnschrift"/>
              </a:endParaRPr>
            </a:p>
          </p:txBody>
        </p:sp>
        <p:grpSp>
          <p:nvGrpSpPr>
            <p:cNvPr id="55" name="AG ficha"/>
            <p:cNvGrpSpPr/>
            <p:nvPr/>
          </p:nvGrpSpPr>
          <p:grpSpPr>
            <a:xfrm>
              <a:off x="10725912" y="5797296"/>
              <a:ext cx="749808" cy="201168"/>
              <a:chOff x="10725912" y="5797296"/>
              <a:chExt cx="749808" cy="201168"/>
            </a:xfrm>
          </p:grpSpPr>
          <p:sp>
            <p:nvSpPr>
              <p:cNvPr id="56" name="Flecha 59_2"/>
              <p:cNvSpPr/>
              <p:nvPr/>
            </p:nvSpPr>
            <p:spPr>
              <a:xfrm>
                <a:off x="10890504" y="5852160"/>
                <a:ext cx="585216" cy="146304"/>
              </a:xfrm>
              <a:custGeom>
                <a:avLst/>
                <a:gdLst/>
                <a:ahLst/>
                <a:cxnLst/>
                <a:rect l="0" t="0" r="r" b="b"/>
                <a:pathLst>
                  <a:path w="640" h="160" fill="none">
                    <a:moveTo>
                      <a:pt x="0" y="0"/>
                    </a:moveTo>
                    <a:lnTo>
                      <a:pt x="80" y="160"/>
                    </a:lnTo>
                    <a:lnTo>
                      <a:pt x="160" y="0"/>
                    </a:lnTo>
                    <a:lnTo>
                      <a:pt x="240" y="160"/>
                    </a:lnTo>
                    <a:lnTo>
                      <a:pt x="320" y="0"/>
                    </a:lnTo>
                    <a:lnTo>
                      <a:pt x="400" y="160"/>
                    </a:lnTo>
                    <a:lnTo>
                      <a:pt x="480" y="0"/>
                    </a:lnTo>
                    <a:lnTo>
                      <a:pt x="560" y="160"/>
                    </a:lnTo>
                    <a:lnTo>
                      <a:pt x="640" y="0"/>
                    </a:lnTo>
                  </a:path>
                </a:pathLst>
              </a:custGeom>
              <a:noFill/>
              <a:ln w="28575" cap="rnd">
                <a:solidFill>
                  <a:srgbClr val="B7950B"/>
                </a:solidFill>
                <a:round/>
              </a:ln>
            </p:spPr>
          </p:sp>
          <p:sp>
            <p:nvSpPr>
              <p:cNvPr id="57" name="Forma 61"/>
              <p:cNvSpPr/>
              <p:nvPr/>
            </p:nvSpPr>
            <p:spPr>
              <a:xfrm>
                <a:off x="10725912" y="5797296"/>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58" name="Forma 62"/>
            <p:cNvSpPr txBox="1"/>
            <p:nvPr/>
          </p:nvSpPr>
          <p:spPr>
            <a:xfrm>
              <a:off x="8778240" y="5760720"/>
              <a:ext cx="1828800" cy="32004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Ácido graso (AG)</a:t>
              </a:r>
              <a:endParaRPr lang="es-AR" sz="1350" dirty="0">
                <a:latin typeface="Bahnschrift"/>
              </a:endParaRPr>
            </a:p>
          </p:txBody>
        </p:sp>
      </p:grpSp>
      <p:sp>
        <p:nvSpPr>
          <p:cNvPr id="2" name="Etiqueta sección"/>
          <p:cNvSpPr/>
          <p:nvPr/>
        </p:nvSpPr>
        <p:spPr>
          <a:xfrm>
            <a:off x="9868787" y="201168"/>
            <a:ext cx="204858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CÓMO LEER LOS ESQUEMAS</a:t>
            </a:r>
            <a:endParaRPr lang="es-AR" sz="1300" dirty="0">
              <a:latin typeface="Bahnschrift SemiBold Condensed"/>
            </a:endParaRPr>
          </a:p>
        </p:txBody>
      </p:sp>
      <p:sp>
        <p:nvSpPr>
          <p:cNvPr id="3" name="Título"/>
          <p:cNvSpPr/>
          <p:nvPr/>
        </p:nvSpPr>
        <p:spPr>
          <a:xfrm>
            <a:off x="274320" y="146304"/>
            <a:ext cx="511726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CÓDIGO VISUAL DE LA PRESENTACIÓN</a:t>
            </a:r>
            <a:endParaRPr lang="es-AR" sz="2600" dirty="0">
              <a:latin typeface="Bahnschrift SemiBold Condensed"/>
            </a:endParaRPr>
          </a:p>
        </p:txBody>
      </p:sp>
      <p:sp>
        <p:nvSpPr>
          <p:cNvPr id="5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3"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9"/>
                                        </p:tgtEl>
                                        <p:attrNameLst>
                                          <p:attrName>style.visibility</p:attrName>
                                        </p:attrNameLst>
                                      </p:cBhvr>
                                      <p:to>
                                        <p:strVal val="visible"/>
                                      </p:to>
                                    </p:set>
                                    <p:animEffect transition="in" filter="fade">
                                      <p:cBhvr>
                                        <p:cTn id="9" dur="500"/>
                                        <p:tgtEl>
                                          <p:spTgt spid="9"/>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8"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par>
                          <p:cTn id="22"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childTnLst>
                    </p:cTn>
                  </p:par>
                  <p:par>
                    <p:cTn id="28" fill="hold">
                      <p:stCondLst>
                        <p:cond delay="indefinite"/>
                      </p:stCondLst>
                      <p:childTnLst>
                        <p:par>
                          <p:cTn id="27"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erebro"/>
          <p:cNvGrpSpPr/>
          <p:nvPr/>
        </p:nvGrpSpPr>
        <p:grpSpPr>
          <a:xfrm>
            <a:off x="5074920" y="896112"/>
            <a:ext cx="1920240" cy="1497787"/>
            <a:chOff x="5074920" y="896112"/>
            <a:chExt cx="1920240" cy="1497787"/>
          </a:xfrm>
        </p:grpSpPr>
        <p:sp>
          <p:nvSpPr>
            <p:cNvPr id="5" name="Cerebelo"/>
            <p:cNvSpPr/>
            <p:nvPr/>
          </p:nvSpPr>
          <p:spPr>
            <a:xfrm>
              <a:off x="5074920" y="896112"/>
              <a:ext cx="1920240" cy="149778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5074920" y="896112"/>
              <a:ext cx="1920240" cy="149778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5074920" y="896112"/>
              <a:ext cx="1920240" cy="149778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5074920" y="896112"/>
              <a:ext cx="1920240" cy="149778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Rótulo cerebro"/>
          <p:cNvSpPr/>
          <p:nvPr/>
        </p:nvSpPr>
        <p:spPr>
          <a:xfrm>
            <a:off x="7040880" y="1051560"/>
            <a:ext cx="81540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CEREBRO</a:t>
            </a:r>
            <a:endParaRPr lang="es-AR" sz="1300" dirty="0">
              <a:latin typeface="Bahnschrift SemiBold Condensed"/>
            </a:endParaRPr>
          </a:p>
        </p:txBody>
      </p:sp>
      <p:grpSp>
        <p:nvGrpSpPr>
          <p:cNvPr id="10" name="!!Hígado"/>
          <p:cNvGrpSpPr/>
          <p:nvPr/>
        </p:nvGrpSpPr>
        <p:grpSpPr>
          <a:xfrm>
            <a:off x="502920" y="1097280"/>
            <a:ext cx="2743200" cy="1938894"/>
            <a:chOff x="502920" y="1097280"/>
            <a:chExt cx="2743200" cy="1938894"/>
          </a:xfrm>
        </p:grpSpPr>
        <p:sp>
          <p:nvSpPr>
            <p:cNvPr id="11" name="Vesícula biliar"/>
            <p:cNvSpPr/>
            <p:nvPr/>
          </p:nvSpPr>
          <p:spPr>
            <a:xfrm>
              <a:off x="1243584" y="242389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502920" y="109728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502920" y="109728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502920" y="109728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Rótulo hígado"/>
          <p:cNvSpPr/>
          <p:nvPr/>
        </p:nvSpPr>
        <p:spPr>
          <a:xfrm>
            <a:off x="548640" y="91440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grpSp>
        <p:nvGrpSpPr>
          <p:cNvPr id="16" name="!!Páncreas"/>
          <p:cNvGrpSpPr/>
          <p:nvPr/>
        </p:nvGrpSpPr>
        <p:grpSpPr>
          <a:xfrm>
            <a:off x="3429000" y="2331720"/>
            <a:ext cx="1600200" cy="672084"/>
            <a:chOff x="3429000" y="2331720"/>
            <a:chExt cx="1600200" cy="672084"/>
          </a:xfrm>
        </p:grpSpPr>
        <p:sp>
          <p:nvSpPr>
            <p:cNvPr id="17" name="Forma 16"/>
            <p:cNvSpPr/>
            <p:nvPr/>
          </p:nvSpPr>
          <p:spPr>
            <a:xfrm>
              <a:off x="3429000" y="2331720"/>
              <a:ext cx="1600200" cy="67208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429000" y="2331720"/>
              <a:ext cx="1600200" cy="67208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429000" y="2331720"/>
              <a:ext cx="1600200" cy="67208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429000" y="2331720"/>
              <a:ext cx="1600200" cy="67208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Rótulo páncreas"/>
          <p:cNvSpPr/>
          <p:nvPr/>
        </p:nvSpPr>
        <p:spPr>
          <a:xfrm>
            <a:off x="3474720" y="2852928"/>
            <a:ext cx="91046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PÁNCREAS</a:t>
            </a:r>
            <a:endParaRPr lang="es-AR" sz="1300" dirty="0">
              <a:latin typeface="Bahnschrift SemiBold Condensed"/>
            </a:endParaRPr>
          </a:p>
        </p:txBody>
      </p:sp>
      <p:grpSp>
        <p:nvGrpSpPr>
          <p:cNvPr id="22" name="!!Tejido adiposo"/>
          <p:cNvGrpSpPr/>
          <p:nvPr/>
        </p:nvGrpSpPr>
        <p:grpSpPr>
          <a:xfrm>
            <a:off x="8915400" y="896112"/>
            <a:ext cx="2194560" cy="1629039"/>
            <a:chOff x="8915400" y="896112"/>
            <a:chExt cx="2194560" cy="1629039"/>
          </a:xfrm>
        </p:grpSpPr>
        <p:grpSp>
          <p:nvGrpSpPr>
            <p:cNvPr id="23" name="Adipocito"/>
            <p:cNvGrpSpPr/>
            <p:nvPr/>
          </p:nvGrpSpPr>
          <p:grpSpPr>
            <a:xfrm>
              <a:off x="8915400" y="1107127"/>
              <a:ext cx="827180" cy="827180"/>
              <a:chOff x="8915400" y="1107127"/>
              <a:chExt cx="827180" cy="827180"/>
            </a:xfrm>
          </p:grpSpPr>
          <p:sp>
            <p:nvSpPr>
              <p:cNvPr id="24" name="Forma 23"/>
              <p:cNvSpPr/>
              <p:nvPr/>
            </p:nvSpPr>
            <p:spPr>
              <a:xfrm>
                <a:off x="8915400" y="110712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5" name="Gota lipídica"/>
              <p:cNvSpPr/>
              <p:nvPr/>
            </p:nvSpPr>
            <p:spPr>
              <a:xfrm>
                <a:off x="8956759" y="114848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6" name="Forma 25"/>
              <p:cNvSpPr/>
              <p:nvPr/>
            </p:nvSpPr>
            <p:spPr>
              <a:xfrm rot="2400000">
                <a:off x="9510970" y="115675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7" name="Mitocondria"/>
              <p:cNvGrpSpPr/>
              <p:nvPr/>
            </p:nvGrpSpPr>
            <p:grpSpPr>
              <a:xfrm>
                <a:off x="8981574" y="1719241"/>
                <a:ext cx="82718" cy="41359"/>
                <a:chOff x="8981574" y="1719241"/>
                <a:chExt cx="82718" cy="41359"/>
              </a:xfrm>
            </p:grpSpPr>
            <p:sp>
              <p:nvSpPr>
                <p:cNvPr id="28" name="Forma 27"/>
                <p:cNvSpPr/>
                <p:nvPr/>
              </p:nvSpPr>
              <p:spPr>
                <a:xfrm rot="-2400000">
                  <a:off x="8981574" y="171924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9" name="Forma 28"/>
                <p:cNvSpPr/>
                <p:nvPr/>
              </p:nvSpPr>
              <p:spPr>
                <a:xfrm rot="-2400000">
                  <a:off x="8987365" y="1725031"/>
                  <a:ext cx="71138" cy="29778"/>
                </a:xfrm>
                <a:prstGeom prst="ellipse">
                  <a:avLst/>
                </a:prstGeom>
                <a:solidFill>
                  <a:srgbClr val="F8D8B4"/>
                </a:solidFill>
                <a:ln w="9525" cap="rnd">
                  <a:solidFill>
                    <a:srgbClr val="B2732B"/>
                  </a:solidFill>
                  <a:round/>
                </a:ln>
              </p:spPr>
            </p:sp>
            <p:sp>
              <p:nvSpPr>
                <p:cNvPr id="30" name="Forma 29"/>
                <p:cNvSpPr/>
                <p:nvPr/>
              </p:nvSpPr>
              <p:spPr>
                <a:xfrm rot="-2400000">
                  <a:off x="8987365" y="172503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1" name="Adipocito_2"/>
            <p:cNvGrpSpPr/>
            <p:nvPr/>
          </p:nvGrpSpPr>
          <p:grpSpPr>
            <a:xfrm>
              <a:off x="9607530" y="896112"/>
              <a:ext cx="827180" cy="827180"/>
              <a:chOff x="9607530" y="896112"/>
              <a:chExt cx="827180" cy="827180"/>
            </a:xfrm>
          </p:grpSpPr>
          <p:sp>
            <p:nvSpPr>
              <p:cNvPr id="32" name="Forma 31"/>
              <p:cNvSpPr/>
              <p:nvPr/>
            </p:nvSpPr>
            <p:spPr>
              <a:xfrm>
                <a:off x="9607530" y="896112"/>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3" name="Gota lipídica_2"/>
              <p:cNvSpPr/>
              <p:nvPr/>
            </p:nvSpPr>
            <p:spPr>
              <a:xfrm>
                <a:off x="9648889" y="937471"/>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4" name="Forma 33"/>
              <p:cNvSpPr/>
              <p:nvPr/>
            </p:nvSpPr>
            <p:spPr>
              <a:xfrm rot="2400000">
                <a:off x="10203100" y="945743"/>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5" name="Mitocondria_2"/>
              <p:cNvGrpSpPr/>
              <p:nvPr/>
            </p:nvGrpSpPr>
            <p:grpSpPr>
              <a:xfrm>
                <a:off x="9673705" y="1508225"/>
                <a:ext cx="82718" cy="41359"/>
                <a:chOff x="9673705" y="1508225"/>
                <a:chExt cx="82718" cy="41359"/>
              </a:xfrm>
            </p:grpSpPr>
            <p:sp>
              <p:nvSpPr>
                <p:cNvPr id="36" name="Forma 35"/>
                <p:cNvSpPr/>
                <p:nvPr/>
              </p:nvSpPr>
              <p:spPr>
                <a:xfrm rot="-2400000">
                  <a:off x="9673705" y="1508225"/>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rot="-2400000">
                  <a:off x="9679495" y="1514016"/>
                  <a:ext cx="71138" cy="29778"/>
                </a:xfrm>
                <a:prstGeom prst="ellipse">
                  <a:avLst/>
                </a:prstGeom>
                <a:solidFill>
                  <a:srgbClr val="F8D8B4"/>
                </a:solidFill>
                <a:ln w="9525" cap="rnd">
                  <a:solidFill>
                    <a:srgbClr val="B2732B"/>
                  </a:solidFill>
                  <a:round/>
                </a:ln>
              </p:spPr>
            </p:sp>
            <p:sp>
              <p:nvSpPr>
                <p:cNvPr id="38" name="Forma 37"/>
                <p:cNvSpPr/>
                <p:nvPr/>
              </p:nvSpPr>
              <p:spPr>
                <a:xfrm rot="-2400000">
                  <a:off x="9679495" y="1514016"/>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9" name="Adipocito_3"/>
            <p:cNvGrpSpPr/>
            <p:nvPr/>
          </p:nvGrpSpPr>
          <p:grpSpPr>
            <a:xfrm>
              <a:off x="10282780" y="1149330"/>
              <a:ext cx="827180" cy="827180"/>
              <a:chOff x="10282780" y="1149330"/>
              <a:chExt cx="827180" cy="827180"/>
            </a:xfrm>
          </p:grpSpPr>
          <p:sp>
            <p:nvSpPr>
              <p:cNvPr id="40" name="Forma 39"/>
              <p:cNvSpPr/>
              <p:nvPr/>
            </p:nvSpPr>
            <p:spPr>
              <a:xfrm>
                <a:off x="10282780" y="114933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1" name="Gota lipídica_3"/>
              <p:cNvSpPr/>
              <p:nvPr/>
            </p:nvSpPr>
            <p:spPr>
              <a:xfrm>
                <a:off x="10324139" y="119068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2" name="Forma 41"/>
              <p:cNvSpPr/>
              <p:nvPr/>
            </p:nvSpPr>
            <p:spPr>
              <a:xfrm rot="2400000">
                <a:off x="10878350" y="119896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3" name="Mitocondria_3"/>
              <p:cNvGrpSpPr/>
              <p:nvPr/>
            </p:nvGrpSpPr>
            <p:grpSpPr>
              <a:xfrm>
                <a:off x="10348954" y="1761444"/>
                <a:ext cx="82718" cy="41359"/>
                <a:chOff x="10348954" y="1761444"/>
                <a:chExt cx="82718" cy="41359"/>
              </a:xfrm>
            </p:grpSpPr>
            <p:sp>
              <p:nvSpPr>
                <p:cNvPr id="44" name="Forma 43"/>
                <p:cNvSpPr/>
                <p:nvPr/>
              </p:nvSpPr>
              <p:spPr>
                <a:xfrm rot="-2400000">
                  <a:off x="10348954" y="176144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5" name="Forma 44"/>
                <p:cNvSpPr/>
                <p:nvPr/>
              </p:nvSpPr>
              <p:spPr>
                <a:xfrm rot="-2400000">
                  <a:off x="10354744" y="1767234"/>
                  <a:ext cx="71138" cy="29778"/>
                </a:xfrm>
                <a:prstGeom prst="ellipse">
                  <a:avLst/>
                </a:prstGeom>
                <a:solidFill>
                  <a:srgbClr val="F8D8B4"/>
                </a:solidFill>
                <a:ln w="9525" cap="rnd">
                  <a:solidFill>
                    <a:srgbClr val="B2732B"/>
                  </a:solidFill>
                  <a:round/>
                </a:ln>
              </p:spPr>
            </p:sp>
            <p:sp>
              <p:nvSpPr>
                <p:cNvPr id="46" name="Forma 45"/>
                <p:cNvSpPr/>
                <p:nvPr/>
              </p:nvSpPr>
              <p:spPr>
                <a:xfrm rot="-2400000">
                  <a:off x="10354744" y="176723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7" name="Adipocito_4"/>
            <p:cNvGrpSpPr/>
            <p:nvPr/>
          </p:nvGrpSpPr>
          <p:grpSpPr>
            <a:xfrm>
              <a:off x="9295228" y="1697970"/>
              <a:ext cx="827180" cy="827180"/>
              <a:chOff x="9295228" y="1697970"/>
              <a:chExt cx="827180" cy="827180"/>
            </a:xfrm>
          </p:grpSpPr>
          <p:sp>
            <p:nvSpPr>
              <p:cNvPr id="48" name="Forma 47"/>
              <p:cNvSpPr/>
              <p:nvPr/>
            </p:nvSpPr>
            <p:spPr>
              <a:xfrm>
                <a:off x="9295228" y="169797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9" name="Gota lipídica_4"/>
              <p:cNvSpPr/>
              <p:nvPr/>
            </p:nvSpPr>
            <p:spPr>
              <a:xfrm>
                <a:off x="9336587" y="173932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0" name="Forma 49"/>
              <p:cNvSpPr/>
              <p:nvPr/>
            </p:nvSpPr>
            <p:spPr>
              <a:xfrm rot="2400000">
                <a:off x="9890798" y="174760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1" name="Mitocondria_4"/>
              <p:cNvGrpSpPr/>
              <p:nvPr/>
            </p:nvGrpSpPr>
            <p:grpSpPr>
              <a:xfrm>
                <a:off x="9361402" y="2310084"/>
                <a:ext cx="82718" cy="41359"/>
                <a:chOff x="9361402" y="2310084"/>
                <a:chExt cx="82718" cy="41359"/>
              </a:xfrm>
            </p:grpSpPr>
            <p:sp>
              <p:nvSpPr>
                <p:cNvPr id="52" name="Forma 51"/>
                <p:cNvSpPr/>
                <p:nvPr/>
              </p:nvSpPr>
              <p:spPr>
                <a:xfrm rot="-2400000">
                  <a:off x="9361402" y="231008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3" name="Forma 52"/>
                <p:cNvSpPr/>
                <p:nvPr/>
              </p:nvSpPr>
              <p:spPr>
                <a:xfrm rot="-2400000">
                  <a:off x="9367192" y="2315874"/>
                  <a:ext cx="71138" cy="29778"/>
                </a:xfrm>
                <a:prstGeom prst="ellipse">
                  <a:avLst/>
                </a:prstGeom>
                <a:solidFill>
                  <a:srgbClr val="F8D8B4"/>
                </a:solidFill>
                <a:ln w="9525" cap="rnd">
                  <a:solidFill>
                    <a:srgbClr val="B2732B"/>
                  </a:solidFill>
                  <a:round/>
                </a:ln>
              </p:spPr>
            </p:sp>
            <p:sp>
              <p:nvSpPr>
                <p:cNvPr id="54" name="Forma 53"/>
                <p:cNvSpPr/>
                <p:nvPr/>
              </p:nvSpPr>
              <p:spPr>
                <a:xfrm rot="-2400000">
                  <a:off x="9367192" y="231587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55" name="Adipocito_5"/>
            <p:cNvGrpSpPr/>
            <p:nvPr/>
          </p:nvGrpSpPr>
          <p:grpSpPr>
            <a:xfrm>
              <a:off x="9970477" y="1655767"/>
              <a:ext cx="827180" cy="827180"/>
              <a:chOff x="9970477" y="1655767"/>
              <a:chExt cx="827180" cy="827180"/>
            </a:xfrm>
          </p:grpSpPr>
          <p:sp>
            <p:nvSpPr>
              <p:cNvPr id="56" name="Forma 55"/>
              <p:cNvSpPr/>
              <p:nvPr/>
            </p:nvSpPr>
            <p:spPr>
              <a:xfrm>
                <a:off x="9970477" y="165576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7" name="Gota lipídica_5"/>
              <p:cNvSpPr/>
              <p:nvPr/>
            </p:nvSpPr>
            <p:spPr>
              <a:xfrm>
                <a:off x="10011836" y="169712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8" name="Forma 57"/>
              <p:cNvSpPr/>
              <p:nvPr/>
            </p:nvSpPr>
            <p:spPr>
              <a:xfrm rot="2400000">
                <a:off x="10566047" y="170539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9" name="Mitocondria_5"/>
              <p:cNvGrpSpPr/>
              <p:nvPr/>
            </p:nvGrpSpPr>
            <p:grpSpPr>
              <a:xfrm>
                <a:off x="10036651" y="2267881"/>
                <a:ext cx="82718" cy="41359"/>
                <a:chOff x="10036651" y="2267881"/>
                <a:chExt cx="82718" cy="41359"/>
              </a:xfrm>
            </p:grpSpPr>
            <p:sp>
              <p:nvSpPr>
                <p:cNvPr id="60" name="Forma 59"/>
                <p:cNvSpPr/>
                <p:nvPr/>
              </p:nvSpPr>
              <p:spPr>
                <a:xfrm rot="-2400000">
                  <a:off x="10036651" y="226788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1" name="Forma 60"/>
                <p:cNvSpPr/>
                <p:nvPr/>
              </p:nvSpPr>
              <p:spPr>
                <a:xfrm rot="-2400000">
                  <a:off x="10042442" y="2273671"/>
                  <a:ext cx="71138" cy="29778"/>
                </a:xfrm>
                <a:prstGeom prst="ellipse">
                  <a:avLst/>
                </a:prstGeom>
                <a:solidFill>
                  <a:srgbClr val="F8D8B4"/>
                </a:solidFill>
                <a:ln w="9525" cap="rnd">
                  <a:solidFill>
                    <a:srgbClr val="B2732B"/>
                  </a:solidFill>
                  <a:round/>
                </a:ln>
              </p:spPr>
            </p:sp>
            <p:sp>
              <p:nvSpPr>
                <p:cNvPr id="62" name="Forma 61"/>
                <p:cNvSpPr/>
                <p:nvPr/>
              </p:nvSpPr>
              <p:spPr>
                <a:xfrm rot="-2400000">
                  <a:off x="10042442" y="227367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sp>
        <p:nvSpPr>
          <p:cNvPr id="63" name="!!Rótulo tejido adiposo"/>
          <p:cNvSpPr/>
          <p:nvPr/>
        </p:nvSpPr>
        <p:spPr>
          <a:xfrm>
            <a:off x="7315200" y="2011680"/>
            <a:ext cx="127912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300" dirty="0">
              <a:latin typeface="Bahnschrift SemiBold Condensed"/>
            </a:endParaRPr>
          </a:p>
        </p:txBody>
      </p:sp>
      <p:grpSp>
        <p:nvGrpSpPr>
          <p:cNvPr id="64" name="!!Intestino"/>
          <p:cNvGrpSpPr/>
          <p:nvPr/>
        </p:nvGrpSpPr>
        <p:grpSpPr>
          <a:xfrm>
            <a:off x="685800" y="4069080"/>
            <a:ext cx="1920240" cy="1632204"/>
            <a:chOff x="685800" y="4069080"/>
            <a:chExt cx="1920240" cy="1632204"/>
          </a:xfrm>
        </p:grpSpPr>
        <p:sp>
          <p:nvSpPr>
            <p:cNvPr id="65" name="Forma 64"/>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6" name="Forma 65"/>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67" name="Forma 66"/>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68" name="Forma 67"/>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69" name="Forma 68"/>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70" name="!!Rótulo intestino"/>
          <p:cNvSpPr/>
          <p:nvPr/>
        </p:nvSpPr>
        <p:spPr>
          <a:xfrm>
            <a:off x="2651760" y="4114800"/>
            <a:ext cx="91872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INTESTINO</a:t>
            </a:r>
            <a:endParaRPr lang="es-AR" sz="1300" dirty="0">
              <a:latin typeface="Bahnschrift SemiBold Condensed"/>
            </a:endParaRPr>
          </a:p>
        </p:txBody>
      </p:sp>
      <p:grpSp>
        <p:nvGrpSpPr>
          <p:cNvPr id="71" name="!!Riñón"/>
          <p:cNvGrpSpPr/>
          <p:nvPr/>
        </p:nvGrpSpPr>
        <p:grpSpPr>
          <a:xfrm>
            <a:off x="4617720" y="4069080"/>
            <a:ext cx="960120" cy="1344168"/>
            <a:chOff x="4617720" y="4069080"/>
            <a:chExt cx="960120" cy="1344168"/>
          </a:xfrm>
        </p:grpSpPr>
        <p:sp>
          <p:nvSpPr>
            <p:cNvPr id="72" name="Forma 71"/>
            <p:cNvSpPr/>
            <p:nvPr/>
          </p:nvSpPr>
          <p:spPr>
            <a:xfrm>
              <a:off x="4617720" y="4069080"/>
              <a:ext cx="960120" cy="1344168"/>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73" name="Forma 72"/>
            <p:cNvSpPr/>
            <p:nvPr/>
          </p:nvSpPr>
          <p:spPr>
            <a:xfrm>
              <a:off x="4617720" y="4069080"/>
              <a:ext cx="960120" cy="1344168"/>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4" name="Forma 73"/>
            <p:cNvSpPr/>
            <p:nvPr/>
          </p:nvSpPr>
          <p:spPr>
            <a:xfrm>
              <a:off x="4617720" y="4069080"/>
              <a:ext cx="960120" cy="1344168"/>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75" name="Forma 74"/>
            <p:cNvSpPr/>
            <p:nvPr/>
          </p:nvSpPr>
          <p:spPr>
            <a:xfrm>
              <a:off x="4617720" y="4069080"/>
              <a:ext cx="960120" cy="1344168"/>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76" name="!!Rótulo riñón"/>
          <p:cNvSpPr/>
          <p:nvPr/>
        </p:nvSpPr>
        <p:spPr>
          <a:xfrm>
            <a:off x="5669280" y="5074920"/>
            <a:ext cx="63326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RIÑÓN</a:t>
            </a:r>
            <a:endParaRPr lang="es-AR" sz="1300" dirty="0">
              <a:latin typeface="Bahnschrift SemiBold Condensed"/>
            </a:endParaRPr>
          </a:p>
        </p:txBody>
      </p:sp>
      <p:grpSp>
        <p:nvGrpSpPr>
          <p:cNvPr id="77" name="!!Músculo"/>
          <p:cNvGrpSpPr/>
          <p:nvPr/>
        </p:nvGrpSpPr>
        <p:grpSpPr>
          <a:xfrm>
            <a:off x="8001000" y="4160520"/>
            <a:ext cx="3566160" cy="1768815"/>
            <a:chOff x="8001000" y="4160520"/>
            <a:chExt cx="3566160" cy="1768815"/>
          </a:xfrm>
        </p:grpSpPr>
        <p:grpSp>
          <p:nvGrpSpPr>
            <p:cNvPr id="78" name="Fibra"/>
            <p:cNvGrpSpPr/>
            <p:nvPr/>
          </p:nvGrpSpPr>
          <p:grpSpPr>
            <a:xfrm>
              <a:off x="8001000" y="4160520"/>
              <a:ext cx="3280867" cy="570586"/>
              <a:chOff x="8001000" y="4160520"/>
              <a:chExt cx="3280867" cy="570586"/>
            </a:xfrm>
          </p:grpSpPr>
          <p:sp>
            <p:nvSpPr>
              <p:cNvPr id="79" name="Forma 78"/>
              <p:cNvSpPr/>
              <p:nvPr/>
            </p:nvSpPr>
            <p:spPr>
              <a:xfrm>
                <a:off x="8001000" y="416052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0" name="Forma 79"/>
              <p:cNvSpPr/>
              <p:nvPr/>
            </p:nvSpPr>
            <p:spPr>
              <a:xfrm>
                <a:off x="8143646" y="416052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1" name="Forma 80"/>
              <p:cNvSpPr/>
              <p:nvPr/>
            </p:nvSpPr>
            <p:spPr>
              <a:xfrm>
                <a:off x="8657173"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2" name="Forma 81"/>
              <p:cNvSpPr/>
              <p:nvPr/>
            </p:nvSpPr>
            <p:spPr>
              <a:xfrm>
                <a:off x="980547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3" name="Forma 82"/>
              <p:cNvSpPr/>
              <p:nvPr/>
            </p:nvSpPr>
            <p:spPr>
              <a:xfrm>
                <a:off x="1078973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4" name="Forma 83"/>
              <p:cNvSpPr/>
              <p:nvPr/>
            </p:nvSpPr>
            <p:spPr>
              <a:xfrm>
                <a:off x="11042221" y="418334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85" name="Fibra_2"/>
            <p:cNvGrpSpPr/>
            <p:nvPr/>
          </p:nvGrpSpPr>
          <p:grpSpPr>
            <a:xfrm>
              <a:off x="8143646" y="4759635"/>
              <a:ext cx="3280867" cy="570586"/>
              <a:chOff x="8143646" y="4759635"/>
              <a:chExt cx="3280867" cy="570586"/>
            </a:xfrm>
          </p:grpSpPr>
          <p:sp>
            <p:nvSpPr>
              <p:cNvPr id="86" name="Forma 85"/>
              <p:cNvSpPr/>
              <p:nvPr/>
            </p:nvSpPr>
            <p:spPr>
              <a:xfrm>
                <a:off x="8143646" y="4759635"/>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7" name="Forma 86"/>
              <p:cNvSpPr/>
              <p:nvPr/>
            </p:nvSpPr>
            <p:spPr>
              <a:xfrm>
                <a:off x="8286293" y="4759635"/>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8" name="Forma 87"/>
              <p:cNvSpPr/>
              <p:nvPr/>
            </p:nvSpPr>
            <p:spPr>
              <a:xfrm>
                <a:off x="8799820"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9" name="Forma 88"/>
              <p:cNvSpPr/>
              <p:nvPr/>
            </p:nvSpPr>
            <p:spPr>
              <a:xfrm>
                <a:off x="9948123"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0" name="Forma 89"/>
              <p:cNvSpPr/>
              <p:nvPr/>
            </p:nvSpPr>
            <p:spPr>
              <a:xfrm>
                <a:off x="10932384"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1" name="Forma 90"/>
              <p:cNvSpPr/>
              <p:nvPr/>
            </p:nvSpPr>
            <p:spPr>
              <a:xfrm>
                <a:off x="11184868" y="4782458"/>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92" name="Fibra_3"/>
            <p:cNvGrpSpPr/>
            <p:nvPr/>
          </p:nvGrpSpPr>
          <p:grpSpPr>
            <a:xfrm>
              <a:off x="8286293" y="5358750"/>
              <a:ext cx="3280867" cy="570586"/>
              <a:chOff x="8286293" y="5358750"/>
              <a:chExt cx="3280867" cy="570586"/>
            </a:xfrm>
          </p:grpSpPr>
          <p:sp>
            <p:nvSpPr>
              <p:cNvPr id="93" name="Forma 92"/>
              <p:cNvSpPr/>
              <p:nvPr/>
            </p:nvSpPr>
            <p:spPr>
              <a:xfrm>
                <a:off x="8286293" y="535875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94" name="Forma 93"/>
              <p:cNvSpPr/>
              <p:nvPr/>
            </p:nvSpPr>
            <p:spPr>
              <a:xfrm>
                <a:off x="8428939" y="535875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95" name="Forma 94"/>
              <p:cNvSpPr/>
              <p:nvPr/>
            </p:nvSpPr>
            <p:spPr>
              <a:xfrm>
                <a:off x="8942466"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6" name="Forma 95"/>
              <p:cNvSpPr/>
              <p:nvPr/>
            </p:nvSpPr>
            <p:spPr>
              <a:xfrm>
                <a:off x="1009077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7" name="Forma 96"/>
              <p:cNvSpPr/>
              <p:nvPr/>
            </p:nvSpPr>
            <p:spPr>
              <a:xfrm>
                <a:off x="1107503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8" name="Forma 97"/>
              <p:cNvSpPr/>
              <p:nvPr/>
            </p:nvSpPr>
            <p:spPr>
              <a:xfrm>
                <a:off x="11327514" y="538157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99" name="!!Rótulo músculo"/>
          <p:cNvSpPr/>
          <p:nvPr/>
        </p:nvSpPr>
        <p:spPr>
          <a:xfrm>
            <a:off x="8046720" y="6035040"/>
            <a:ext cx="830267"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MÚSCULO</a:t>
            </a:r>
            <a:endParaRPr lang="es-AR" sz="1300" dirty="0">
              <a:latin typeface="Bahnschrift SemiBold Condensed"/>
            </a:endParaRPr>
          </a:p>
        </p:txBody>
      </p:sp>
      <p:grpSp>
        <p:nvGrpSpPr>
          <p:cNvPr id="100" name="!!Sangre"/>
          <p:cNvGrpSpPr/>
          <p:nvPr/>
        </p:nvGrpSpPr>
        <p:grpSpPr>
          <a:xfrm>
            <a:off x="274320" y="3200400"/>
            <a:ext cx="11658600" cy="548640"/>
            <a:chOff x="274320" y="3200400"/>
            <a:chExt cx="11658600" cy="548640"/>
          </a:xfrm>
        </p:grpSpPr>
        <p:sp>
          <p:nvSpPr>
            <p:cNvPr id="101" name="Forma 100"/>
            <p:cNvSpPr/>
            <p:nvPr/>
          </p:nvSpPr>
          <p:spPr>
            <a:xfrm>
              <a:off x="274320" y="3200400"/>
              <a:ext cx="11658600" cy="5486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02" name="Forma 101"/>
            <p:cNvSpPr/>
            <p:nvPr/>
          </p:nvSpPr>
          <p:spPr>
            <a:xfrm>
              <a:off x="356616" y="3299155"/>
              <a:ext cx="11494008" cy="351130"/>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03" name="Eritrocito"/>
            <p:cNvSpPr/>
            <p:nvPr/>
          </p:nvSpPr>
          <p:spPr>
            <a:xfrm>
              <a:off x="745381" y="346756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4" name="Eritrocito_2"/>
            <p:cNvSpPr/>
            <p:nvPr/>
          </p:nvSpPr>
          <p:spPr>
            <a:xfrm>
              <a:off x="1258447" y="334920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5" name="Eritrocito_3"/>
            <p:cNvSpPr/>
            <p:nvPr/>
          </p:nvSpPr>
          <p:spPr>
            <a:xfrm>
              <a:off x="2309554" y="3438506"/>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6" name="Eritrocito_4"/>
            <p:cNvSpPr/>
            <p:nvPr/>
          </p:nvSpPr>
          <p:spPr>
            <a:xfrm>
              <a:off x="3057821" y="33798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7" name="Eritrocito_5"/>
            <p:cNvSpPr/>
            <p:nvPr/>
          </p:nvSpPr>
          <p:spPr>
            <a:xfrm>
              <a:off x="3838780" y="342078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8" name="Eritrocito_6"/>
            <p:cNvSpPr/>
            <p:nvPr/>
          </p:nvSpPr>
          <p:spPr>
            <a:xfrm>
              <a:off x="4632256" y="335928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9" name="Eritrocito_7"/>
            <p:cNvSpPr/>
            <p:nvPr/>
          </p:nvSpPr>
          <p:spPr>
            <a:xfrm>
              <a:off x="5385406" y="3391537"/>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0" name="Eritrocito_8"/>
            <p:cNvSpPr/>
            <p:nvPr/>
          </p:nvSpPr>
          <p:spPr>
            <a:xfrm>
              <a:off x="6280527" y="347400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1" name="Eritrocito_9"/>
            <p:cNvSpPr/>
            <p:nvPr/>
          </p:nvSpPr>
          <p:spPr>
            <a:xfrm>
              <a:off x="7154503" y="341219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2" name="Eritrocito_10"/>
            <p:cNvSpPr/>
            <p:nvPr/>
          </p:nvSpPr>
          <p:spPr>
            <a:xfrm>
              <a:off x="7794172" y="3374352"/>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3" name="Eritrocito_11"/>
            <p:cNvSpPr/>
            <p:nvPr/>
          </p:nvSpPr>
          <p:spPr>
            <a:xfrm>
              <a:off x="8464491" y="33413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4" name="Eritrocito_12"/>
            <p:cNvSpPr/>
            <p:nvPr/>
          </p:nvSpPr>
          <p:spPr>
            <a:xfrm>
              <a:off x="9403409" y="338124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5" name="Eritrocito_13"/>
            <p:cNvSpPr/>
            <p:nvPr/>
          </p:nvSpPr>
          <p:spPr>
            <a:xfrm>
              <a:off x="10177606" y="3459878"/>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6" name="Eritrocito_14"/>
            <p:cNvSpPr/>
            <p:nvPr/>
          </p:nvSpPr>
          <p:spPr>
            <a:xfrm>
              <a:off x="11025730" y="3414440"/>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117" name="!!Rótulo sangre"/>
          <p:cNvSpPr/>
          <p:nvPr/>
        </p:nvSpPr>
        <p:spPr>
          <a:xfrm>
            <a:off x="5532120" y="3364992"/>
            <a:ext cx="707223" cy="236220"/>
          </a:xfrm>
          <a:prstGeom prst="rect">
            <a:avLst/>
          </a:prstGeom>
          <a:solidFill>
            <a:srgbClr val="FFFFFF"/>
          </a:solidFill>
          <a:ln w="12700" cap="rnd">
            <a:solidFill>
              <a:srgbClr val="6E1A12"/>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SANGRE</a:t>
            </a:r>
            <a:endParaRPr lang="es-AR" sz="1200" dirty="0">
              <a:latin typeface="Bahnschrift SemiBold Condensed"/>
            </a:endParaRPr>
          </a:p>
        </p:txBody>
      </p:sp>
      <p:sp>
        <p:nvSpPr>
          <p:cNvPr id="118" name="Flecha intestino-sangre"/>
          <p:cNvSpPr/>
          <p:nvPr/>
        </p:nvSpPr>
        <p:spPr>
          <a:xfrm>
            <a:off x="1737360" y="3749040"/>
            <a:ext cx="9144" cy="320040"/>
          </a:xfrm>
          <a:custGeom>
            <a:avLst/>
            <a:gdLst/>
            <a:ahLst/>
            <a:cxnLst/>
            <a:rect l="0" t="0" r="r" b="b"/>
            <a:pathLst>
              <a:path w="10" h="350" fill="none">
                <a:moveTo>
                  <a:pt x="0" y="350"/>
                </a:moveTo>
                <a:lnTo>
                  <a:pt x="0" y="0"/>
                </a:lnTo>
              </a:path>
            </a:pathLst>
          </a:custGeom>
          <a:noFill/>
          <a:ln w="38100" cap="rnd">
            <a:solidFill>
              <a:srgbClr val="2563B0"/>
            </a:solidFill>
            <a:round/>
            <a:tailEnd type="triangle" w="med" len="med"/>
          </a:ln>
        </p:spPr>
      </p:sp>
      <p:sp>
        <p:nvSpPr>
          <p:cNvPr id="119" name="Glc intestino"/>
          <p:cNvSpPr/>
          <p:nvPr/>
        </p:nvSpPr>
        <p:spPr>
          <a:xfrm>
            <a:off x="1600200" y="365760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120" name="AA intestino"/>
          <p:cNvSpPr/>
          <p:nvPr/>
        </p:nvSpPr>
        <p:spPr>
          <a:xfrm>
            <a:off x="2011680" y="3657600"/>
            <a:ext cx="347472" cy="347472"/>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108" b="1" dirty="0">
                <a:solidFill>
                  <a:srgbClr val="FFFFFF"/>
                </a:solidFill>
                <a:latin typeface="Bahnschrift SemiBold Condensed"/>
                <a:ea typeface="Bahnschrift SemiBold Condensed"/>
                <a:cs typeface="Bahnschrift SemiBold Condensed"/>
                <a:sym typeface="Bahnschrift SemiBold Condensed"/>
              </a:rPr>
              <a:t>AA</a:t>
            </a:r>
            <a:endParaRPr lang="es-AR" sz="1108" dirty="0">
              <a:latin typeface="Bahnschrift SemiBold Condensed"/>
            </a:endParaRPr>
          </a:p>
        </p:txBody>
      </p:sp>
      <p:sp>
        <p:nvSpPr>
          <p:cNvPr id="121" name="Flecha sangre-hígado"/>
          <p:cNvSpPr/>
          <p:nvPr/>
        </p:nvSpPr>
        <p:spPr>
          <a:xfrm>
            <a:off x="2377440" y="2834640"/>
            <a:ext cx="9144" cy="365760"/>
          </a:xfrm>
          <a:custGeom>
            <a:avLst/>
            <a:gdLst/>
            <a:ahLst/>
            <a:cxnLst/>
            <a:rect l="0" t="0" r="r" b="b"/>
            <a:pathLst>
              <a:path w="10" h="399" fill="none">
                <a:moveTo>
                  <a:pt x="0" y="399"/>
                </a:moveTo>
                <a:lnTo>
                  <a:pt x="0" y="0"/>
                </a:lnTo>
              </a:path>
            </a:pathLst>
          </a:custGeom>
          <a:noFill/>
          <a:ln w="38100" cap="rnd">
            <a:solidFill>
              <a:srgbClr val="2563B0"/>
            </a:solidFill>
            <a:round/>
            <a:tailEnd type="triangle" w="med" len="med"/>
          </a:ln>
        </p:spPr>
      </p:sp>
      <p:sp>
        <p:nvSpPr>
          <p:cNvPr id="122" name="Glc hígado"/>
          <p:cNvSpPr/>
          <p:nvPr/>
        </p:nvSpPr>
        <p:spPr>
          <a:xfrm>
            <a:off x="2514600" y="274320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123" name="Flecha adiposo-sangre"/>
          <p:cNvSpPr/>
          <p:nvPr/>
        </p:nvSpPr>
        <p:spPr>
          <a:xfrm>
            <a:off x="9692640" y="2606040"/>
            <a:ext cx="9144" cy="594360"/>
          </a:xfrm>
          <a:custGeom>
            <a:avLst/>
            <a:gdLst/>
            <a:ahLst/>
            <a:cxnLst/>
            <a:rect l="0" t="0" r="r" b="b"/>
            <a:pathLst>
              <a:path w="10" h="649" fill="none">
                <a:moveTo>
                  <a:pt x="0" y="0"/>
                </a:moveTo>
                <a:lnTo>
                  <a:pt x="0" y="649"/>
                </a:lnTo>
              </a:path>
            </a:pathLst>
          </a:custGeom>
          <a:noFill/>
          <a:ln w="38100" cap="rnd">
            <a:solidFill>
              <a:srgbClr val="2563B0"/>
            </a:solidFill>
            <a:round/>
            <a:tailEnd type="triangle" w="med" len="med"/>
          </a:ln>
        </p:spPr>
      </p:sp>
      <p:grpSp>
        <p:nvGrpSpPr>
          <p:cNvPr id="124" name="AG adiposo"/>
          <p:cNvGrpSpPr/>
          <p:nvPr/>
        </p:nvGrpSpPr>
        <p:grpSpPr>
          <a:xfrm>
            <a:off x="9811512" y="2706624"/>
            <a:ext cx="704088" cy="201168"/>
            <a:chOff x="9811512" y="2706624"/>
            <a:chExt cx="704088" cy="201168"/>
          </a:xfrm>
        </p:grpSpPr>
        <p:sp>
          <p:nvSpPr>
            <p:cNvPr id="125" name="Flecha 124_2"/>
            <p:cNvSpPr/>
            <p:nvPr/>
          </p:nvSpPr>
          <p:spPr>
            <a:xfrm>
              <a:off x="9976104" y="2761488"/>
              <a:ext cx="539496" cy="146304"/>
            </a:xfrm>
            <a:custGeom>
              <a:avLst/>
              <a:gdLst/>
              <a:ahLst/>
              <a:cxnLst/>
              <a:rect l="0" t="0" r="r" b="b"/>
              <a:pathLst>
                <a:path w="589" h="160" fill="none">
                  <a:moveTo>
                    <a:pt x="0" y="0"/>
                  </a:moveTo>
                  <a:lnTo>
                    <a:pt x="73" y="160"/>
                  </a:lnTo>
                  <a:lnTo>
                    <a:pt x="147" y="0"/>
                  </a:lnTo>
                  <a:lnTo>
                    <a:pt x="221" y="160"/>
                  </a:lnTo>
                  <a:lnTo>
                    <a:pt x="294" y="0"/>
                  </a:lnTo>
                  <a:lnTo>
                    <a:pt x="368" y="160"/>
                  </a:lnTo>
                  <a:lnTo>
                    <a:pt x="442" y="0"/>
                  </a:lnTo>
                  <a:lnTo>
                    <a:pt x="516" y="160"/>
                  </a:lnTo>
                  <a:lnTo>
                    <a:pt x="589" y="0"/>
                  </a:lnTo>
                </a:path>
              </a:pathLst>
            </a:custGeom>
            <a:noFill/>
            <a:ln w="28575" cap="rnd">
              <a:solidFill>
                <a:srgbClr val="B7950B"/>
              </a:solidFill>
              <a:round/>
            </a:ln>
          </p:spPr>
        </p:sp>
        <p:sp>
          <p:nvSpPr>
            <p:cNvPr id="126" name="Forma 126"/>
            <p:cNvSpPr/>
            <p:nvPr/>
          </p:nvSpPr>
          <p:spPr>
            <a:xfrm>
              <a:off x="9811512" y="27066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127" name="Glicerol"/>
          <p:cNvSpPr/>
          <p:nvPr/>
        </p:nvSpPr>
        <p:spPr>
          <a:xfrm>
            <a:off x="10607040" y="2697480"/>
            <a:ext cx="347472" cy="347472"/>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988" b="1" dirty="0">
                <a:solidFill>
                  <a:srgbClr val="1E1E1E"/>
                </a:solidFill>
                <a:latin typeface="Bahnschrift SemiBold Condensed"/>
                <a:ea typeface="Bahnschrift SemiBold Condensed"/>
                <a:cs typeface="Bahnschrift SemiBold Condensed"/>
                <a:sym typeface="Bahnschrift SemiBold Condensed"/>
              </a:rPr>
              <a:t>Gli</a:t>
            </a:r>
            <a:endParaRPr lang="es-AR" sz="988" dirty="0">
              <a:latin typeface="Bahnschrift SemiBold Condensed"/>
            </a:endParaRPr>
          </a:p>
        </p:txBody>
      </p:sp>
      <p:sp>
        <p:nvSpPr>
          <p:cNvPr id="128" name="Flecha sangre-músculo"/>
          <p:cNvSpPr/>
          <p:nvPr/>
        </p:nvSpPr>
        <p:spPr>
          <a:xfrm>
            <a:off x="9326880" y="3749040"/>
            <a:ext cx="9144" cy="411480"/>
          </a:xfrm>
          <a:custGeom>
            <a:avLst/>
            <a:gdLst/>
            <a:ahLst/>
            <a:cxnLst/>
            <a:rect l="0" t="0" r="r" b="b"/>
            <a:pathLst>
              <a:path w="10" h="450" fill="none">
                <a:moveTo>
                  <a:pt x="0" y="0"/>
                </a:moveTo>
                <a:lnTo>
                  <a:pt x="0" y="450"/>
                </a:lnTo>
              </a:path>
            </a:pathLst>
          </a:custGeom>
          <a:noFill/>
          <a:ln w="38100" cap="rnd">
            <a:solidFill>
              <a:srgbClr val="2563B0"/>
            </a:solidFill>
            <a:round/>
            <a:tailEnd type="triangle" w="med" len="med"/>
          </a:ln>
        </p:spPr>
      </p:sp>
      <p:sp>
        <p:nvSpPr>
          <p:cNvPr id="129" name="Lactato"/>
          <p:cNvSpPr/>
          <p:nvPr/>
        </p:nvSpPr>
        <p:spPr>
          <a:xfrm>
            <a:off x="8732520" y="3767328"/>
            <a:ext cx="347472" cy="347472"/>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Lac</a:t>
            </a:r>
            <a:endParaRPr lang="es-AR" sz="988" dirty="0">
              <a:latin typeface="Bahnschrift SemiBold Condensed"/>
            </a:endParaRPr>
          </a:p>
        </p:txBody>
      </p:sp>
      <p:sp>
        <p:nvSpPr>
          <p:cNvPr id="130" name="Alanina"/>
          <p:cNvSpPr/>
          <p:nvPr/>
        </p:nvSpPr>
        <p:spPr>
          <a:xfrm>
            <a:off x="9125712" y="3767328"/>
            <a:ext cx="347472" cy="347472"/>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Ala</a:t>
            </a:r>
            <a:endParaRPr lang="es-AR" sz="988" dirty="0">
              <a:latin typeface="Bahnschrift SemiBold Condensed"/>
            </a:endParaRPr>
          </a:p>
        </p:txBody>
      </p:sp>
      <p:sp>
        <p:nvSpPr>
          <p:cNvPr id="131" name="Flecha sangre-cerebro"/>
          <p:cNvSpPr/>
          <p:nvPr/>
        </p:nvSpPr>
        <p:spPr>
          <a:xfrm>
            <a:off x="6035040" y="2468880"/>
            <a:ext cx="9144" cy="731520"/>
          </a:xfrm>
          <a:custGeom>
            <a:avLst/>
            <a:gdLst/>
            <a:ahLst/>
            <a:cxnLst/>
            <a:rect l="0" t="0" r="r" b="b"/>
            <a:pathLst>
              <a:path w="10" h="799" fill="none">
                <a:moveTo>
                  <a:pt x="0" y="799"/>
                </a:moveTo>
                <a:lnTo>
                  <a:pt x="0" y="0"/>
                </a:lnTo>
              </a:path>
            </a:pathLst>
          </a:custGeom>
          <a:noFill/>
          <a:ln w="38100" cap="rnd">
            <a:solidFill>
              <a:srgbClr val="2563B0"/>
            </a:solidFill>
            <a:round/>
            <a:tailEnd type="triangle" w="med" len="med"/>
          </a:ln>
        </p:spPr>
      </p:sp>
      <p:sp>
        <p:nvSpPr>
          <p:cNvPr id="132" name="Cuerpos cetónicos"/>
          <p:cNvSpPr/>
          <p:nvPr/>
        </p:nvSpPr>
        <p:spPr>
          <a:xfrm>
            <a:off x="6172200" y="2697480"/>
            <a:ext cx="347472" cy="347472"/>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108" b="1" dirty="0">
                <a:solidFill>
                  <a:srgbClr val="FFFFFF"/>
                </a:solidFill>
                <a:latin typeface="Bahnschrift SemiBold Condensed"/>
                <a:ea typeface="Bahnschrift SemiBold Condensed"/>
                <a:cs typeface="Bahnschrift SemiBold Condensed"/>
                <a:sym typeface="Bahnschrift SemiBold Condensed"/>
              </a:rPr>
              <a:t>CC</a:t>
            </a:r>
            <a:endParaRPr lang="es-AR" sz="1108" dirty="0">
              <a:latin typeface="Bahnschrift SemiBold Condensed"/>
            </a:endParaRPr>
          </a:p>
        </p:txBody>
      </p:sp>
      <p:sp>
        <p:nvSpPr>
          <p:cNvPr id="133" name="Flecha sangre-riñón"/>
          <p:cNvSpPr/>
          <p:nvPr/>
        </p:nvSpPr>
        <p:spPr>
          <a:xfrm>
            <a:off x="5120640" y="3749040"/>
            <a:ext cx="9144" cy="365760"/>
          </a:xfrm>
          <a:custGeom>
            <a:avLst/>
            <a:gdLst/>
            <a:ahLst/>
            <a:cxnLst/>
            <a:rect l="0" t="0" r="r" b="b"/>
            <a:pathLst>
              <a:path w="10" h="400" fill="none">
                <a:moveTo>
                  <a:pt x="0" y="0"/>
                </a:moveTo>
                <a:lnTo>
                  <a:pt x="0" y="400"/>
                </a:lnTo>
              </a:path>
            </a:pathLst>
          </a:custGeom>
          <a:noFill/>
          <a:ln w="38100" cap="rnd">
            <a:solidFill>
              <a:srgbClr val="2563B0"/>
            </a:solidFill>
            <a:round/>
            <a:tailEnd type="triangle" w="med" len="med"/>
          </a:ln>
        </p:spPr>
      </p:sp>
      <p:sp>
        <p:nvSpPr>
          <p:cNvPr id="134" name="Glutamina"/>
          <p:cNvSpPr/>
          <p:nvPr/>
        </p:nvSpPr>
        <p:spPr>
          <a:xfrm>
            <a:off x="4526280" y="3767328"/>
            <a:ext cx="347472" cy="347472"/>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Gln</a:t>
            </a:r>
            <a:endParaRPr lang="es-AR" sz="988" dirty="0">
              <a:latin typeface="Bahnschrift SemiBold Condensed"/>
            </a:endParaRPr>
          </a:p>
        </p:txBody>
      </p:sp>
      <p:sp>
        <p:nvSpPr>
          <p:cNvPr id="135" name="Urea"/>
          <p:cNvSpPr/>
          <p:nvPr/>
        </p:nvSpPr>
        <p:spPr>
          <a:xfrm>
            <a:off x="5715000" y="4206240"/>
            <a:ext cx="384048" cy="384048"/>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972" b="1" dirty="0">
                <a:solidFill>
                  <a:srgbClr val="FFFFFF"/>
                </a:solidFill>
                <a:latin typeface="Bahnschrift SemiBold Condensed"/>
                <a:ea typeface="Bahnschrift SemiBold Condensed"/>
                <a:cs typeface="Bahnschrift SemiBold Condensed"/>
                <a:sym typeface="Bahnschrift SemiBold Condensed"/>
              </a:rPr>
              <a:t>Urea</a:t>
            </a:r>
            <a:endParaRPr lang="es-AR" sz="972" dirty="0">
              <a:latin typeface="Bahnschrift SemiBold Condensed"/>
            </a:endParaRPr>
          </a:p>
        </p:txBody>
      </p:sp>
      <p:sp>
        <p:nvSpPr>
          <p:cNvPr id="136" name="Leyenda mapa"/>
          <p:cNvSpPr/>
          <p:nvPr/>
        </p:nvSpPr>
        <p:spPr>
          <a:xfrm>
            <a:off x="2697480" y="4709160"/>
            <a:ext cx="1783080" cy="17830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00" b="1" dirty="0">
                <a:solidFill>
                  <a:srgbClr val="2563B0"/>
                </a:solidFill>
                <a:latin typeface="Bahnschrift"/>
                <a:ea typeface="Bahnschrift"/>
                <a:cs typeface="Bahnschrift"/>
                <a:sym typeface="Bahnschrift"/>
              </a:rPr>
              <a:t>Azul</a:t>
            </a:r>
            <a:r>
              <a:rPr lang="es-AR" sz="1500" dirty="0">
                <a:solidFill>
                  <a:srgbClr val="1E1E1E"/>
                </a:solidFill>
                <a:latin typeface="Bahnschrift"/>
                <a:ea typeface="Bahnschrift"/>
                <a:cs typeface="Bahnschrift"/>
                <a:sym typeface="Bahnschrift"/>
              </a:rPr>
              <a:t>: transporte</a:t>
            </a:r>
            <a:endParaRPr lang="es-AR" sz="1500" dirty="0">
              <a:latin typeface="Bahnschrift"/>
            </a:endParaRPr>
          </a:p>
          <a:p>
            <a:pPr algn="l">
              <a:spcAft>
                <a:spcPts val="400"/>
              </a:spcAft>
              <a:buNone/>
            </a:pPr>
            <a:r>
              <a:rPr lang="es-AR" sz="1500" dirty="0">
                <a:solidFill>
                  <a:srgbClr val="1E1E1E"/>
                </a:solidFill>
                <a:latin typeface="Bahnschrift"/>
                <a:ea typeface="Bahnschrift"/>
                <a:cs typeface="Bahnschrift"/>
                <a:sym typeface="Bahnschrift"/>
              </a:rPr>
              <a:t>Glc · AA · AG · Gli</a:t>
            </a:r>
            <a:endParaRPr lang="es-AR" sz="1500" dirty="0">
              <a:latin typeface="Bahnschrift"/>
            </a:endParaRPr>
          </a:p>
          <a:p>
            <a:pPr algn="l">
              <a:spcAft>
                <a:spcPts val="400"/>
              </a:spcAft>
              <a:buNone/>
            </a:pPr>
            <a:r>
              <a:rPr lang="es-AR" sz="1500" dirty="0">
                <a:solidFill>
                  <a:srgbClr val="1E1E1E"/>
                </a:solidFill>
                <a:latin typeface="Bahnschrift"/>
                <a:ea typeface="Bahnschrift"/>
                <a:cs typeface="Bahnschrift"/>
                <a:sym typeface="Bahnschrift"/>
              </a:rPr>
              <a:t>Lac · Ala · Gln</a:t>
            </a:r>
            <a:endParaRPr lang="es-AR" sz="1500" dirty="0">
              <a:latin typeface="Bahnschrift"/>
            </a:endParaRPr>
          </a:p>
          <a:p>
            <a:pPr algn="l">
              <a:spcAft>
                <a:spcPts val="400"/>
              </a:spcAft>
              <a:buNone/>
            </a:pPr>
            <a:r>
              <a:rPr lang="es-AR" sz="1500" dirty="0">
                <a:solidFill>
                  <a:srgbClr val="1E1E1E"/>
                </a:solidFill>
                <a:latin typeface="Bahnschrift"/>
                <a:ea typeface="Bahnschrift"/>
                <a:cs typeface="Bahnschrift"/>
                <a:sym typeface="Bahnschrift"/>
              </a:rPr>
              <a:t>CC · Urea</a:t>
            </a:r>
            <a:endParaRPr lang="es-AR" sz="1500" dirty="0">
              <a:latin typeface="Bahnschrift"/>
            </a:endParaRPr>
          </a:p>
        </p:txBody>
      </p:sp>
      <p:sp>
        <p:nvSpPr>
          <p:cNvPr id="2" name="Etiqueta sección"/>
          <p:cNvSpPr/>
          <p:nvPr/>
        </p:nvSpPr>
        <p:spPr>
          <a:xfrm>
            <a:off x="10364977" y="201168"/>
            <a:ext cx="155239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METABÓLICO</a:t>
            </a:r>
            <a:endParaRPr lang="es-AR" sz="1300" dirty="0">
              <a:latin typeface="Bahnschrift SemiBold Condensed"/>
            </a:endParaRPr>
          </a:p>
        </p:txBody>
      </p:sp>
      <p:sp>
        <p:nvSpPr>
          <p:cNvPr id="3" name="Título"/>
          <p:cNvSpPr/>
          <p:nvPr/>
        </p:nvSpPr>
        <p:spPr>
          <a:xfrm>
            <a:off x="274320" y="146304"/>
            <a:ext cx="713682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MAPA GENERAL: ÓRGANOS, SANGRE Y COMBUSTIBLES</a:t>
            </a:r>
            <a:endParaRPr lang="es-AR" sz="2600" dirty="0">
              <a:latin typeface="Bahnschrift SemiBold Condensed"/>
            </a:endParaRPr>
          </a:p>
        </p:txBody>
      </p:sp>
      <p:sp>
        <p:nvSpPr>
          <p:cNvPr id="13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100"/>
                                        </p:tgtEl>
                                        <p:attrNameLst>
                                          <p:attrName>style.visibility</p:attrName>
                                        </p:attrNameLst>
                                      </p:cBhvr>
                                      <p:to>
                                        <p:strVal val="visible"/>
                                      </p:to>
                                    </p:set>
                                    <p:animEffect transition="in" filter="wipe(left)">
                                      <p:cBhvr>
                                        <p:cTn id="5" dur="600"/>
                                        <p:tgtEl>
                                          <p:spTgt spid="100"/>
                                        </p:tgtEl>
                                      </p:cBhvr>
                                    </p:animEffect>
                                  </p:childTnLst>
                                </p:cTn>
                              </p:par>
                            </p:childTnLst>
                          </p:cTn>
                        </p:par>
                        <p:par>
                          <p:cTn id="10" fill="hold">
                            <p:stCondLst>
                              <p:cond delay="600"/>
                            </p:stCondLst>
                            <p:childTnLst>
                              <p:par>
                                <p:cTn id="7" presetID="10" presetClass="entr" presetSubtype="0" fill="hold" grpId="0" nodeType="afterEffect">
                                  <p:stCondLst>
                                    <p:cond delay="0"/>
                                  </p:stCondLst>
                                  <p:childTnLst>
                                    <p:set>
                                      <p:cBhvr>
                                        <p:cTn id="8" dur="1" fill="hold">
                                          <p:stCondLst>
                                            <p:cond delay="0"/>
                                          </p:stCondLst>
                                        </p:cTn>
                                        <p:tgtEl>
                                          <p:spTgt spid="117"/>
                                        </p:tgtEl>
                                        <p:attrNameLst>
                                          <p:attrName>style.visibility</p:attrName>
                                        </p:attrNameLst>
                                      </p:cBhvr>
                                      <p:to>
                                        <p:strVal val="visible"/>
                                      </p:to>
                                    </p:set>
                                    <p:animEffect transition="in" filter="fade">
                                      <p:cBhvr>
                                        <p:cTn id="9" dur="500"/>
                                        <p:tgtEl>
                                          <p:spTgt spid="117"/>
                                        </p:tgtEl>
                                      </p:cBhvr>
                                    </p:animEffect>
                                  </p:childTnLst>
                                </p:cTn>
                              </p:par>
                            </p:childTnLst>
                          </p:cTn>
                        </p:par>
                      </p:childTnLst>
                    </p:cTn>
                  </p:par>
                  <p:par>
                    <p:cTn id="31" fill="hold">
                      <p:stCondLst>
                        <p:cond delay="indefinite"/>
                      </p:stCondLst>
                      <p:childTnLst>
                        <p:par>
                          <p:cTn id="15"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118"/>
                                        </p:tgtEl>
                                        <p:attrNameLst>
                                          <p:attrName>style.visibility</p:attrName>
                                        </p:attrNameLst>
                                      </p:cBhvr>
                                      <p:to>
                                        <p:strVal val="visible"/>
                                      </p:to>
                                    </p:set>
                                    <p:animEffect transition="in" filter="wipe(down)">
                                      <p:cBhvr>
                                        <p:cTn id="14" dur="600"/>
                                        <p:tgtEl>
                                          <p:spTgt spid="118"/>
                                        </p:tgtEl>
                                      </p:cBhvr>
                                    </p:animEffect>
                                  </p:childTnLst>
                                </p:cTn>
                              </p:par>
                            </p:childTnLst>
                          </p:cTn>
                        </p:par>
                        <p:par>
                          <p:cTn id="22" fill="hold">
                            <p:stCondLst>
                              <p:cond delay="600"/>
                            </p:stCondLst>
                            <p:childTnLst>
                              <p:par>
                                <p:cTn id="16" presetID="10" presetClass="entr" presetSubtype="0" fill="hold" grpId="0" nodeType="afterEffect">
                                  <p:stCondLst>
                                    <p:cond delay="0"/>
                                  </p:stCondLst>
                                  <p:childTnLst>
                                    <p:set>
                                      <p:cBhvr>
                                        <p:cTn id="17" dur="1" fill="hold">
                                          <p:stCondLst>
                                            <p:cond delay="0"/>
                                          </p:stCondLst>
                                        </p:cTn>
                                        <p:tgtEl>
                                          <p:spTgt spid="119"/>
                                        </p:tgtEl>
                                        <p:attrNameLst>
                                          <p:attrName>style.visibility</p:attrName>
                                        </p:attrNameLst>
                                      </p:cBhvr>
                                      <p:to>
                                        <p:strVal val="visible"/>
                                      </p:to>
                                    </p:set>
                                    <p:animEffect transition="in" filter="fade">
                                      <p:cBhvr>
                                        <p:cTn id="18" dur="500"/>
                                        <p:tgtEl>
                                          <p:spTgt spid="11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0"/>
                                        </p:tgtEl>
                                        <p:attrNameLst>
                                          <p:attrName>style.visibility</p:attrName>
                                        </p:attrNameLst>
                                      </p:cBhvr>
                                      <p:to>
                                        <p:strVal val="visible"/>
                                      </p:to>
                                    </p:set>
                                    <p:animEffect transition="in" filter="fade">
                                      <p:cBhvr>
                                        <p:cTn id="21" dur="500"/>
                                        <p:tgtEl>
                                          <p:spTgt spid="120"/>
                                        </p:tgtEl>
                                      </p:cBhvr>
                                    </p:animEffect>
                                  </p:childTnLst>
                                </p:cTn>
                              </p:par>
                            </p:childTnLst>
                          </p:cTn>
                        </p:par>
                        <p:par>
                          <p:cTn id="26" fill="hold">
                            <p:stCondLst>
                              <p:cond delay="1100"/>
                            </p:stCondLst>
                            <p:childTnLst>
                              <p:par>
                                <p:cTn id="23" presetID="22" presetClass="entr" presetSubtype="4" fill="hold" grpId="0" nodeType="afterEffect">
                                  <p:stCondLst>
                                    <p:cond delay="0"/>
                                  </p:stCondLst>
                                  <p:childTnLst>
                                    <p:set>
                                      <p:cBhvr>
                                        <p:cTn id="24" dur="1" fill="hold">
                                          <p:stCondLst>
                                            <p:cond delay="0"/>
                                          </p:stCondLst>
                                        </p:cTn>
                                        <p:tgtEl>
                                          <p:spTgt spid="121"/>
                                        </p:tgtEl>
                                        <p:attrNameLst>
                                          <p:attrName>style.visibility</p:attrName>
                                        </p:attrNameLst>
                                      </p:cBhvr>
                                      <p:to>
                                        <p:strVal val="visible"/>
                                      </p:to>
                                    </p:set>
                                    <p:animEffect transition="in" filter="wipe(down)">
                                      <p:cBhvr>
                                        <p:cTn id="25" dur="600"/>
                                        <p:tgtEl>
                                          <p:spTgt spid="121"/>
                                        </p:tgtEl>
                                      </p:cBhvr>
                                    </p:animEffect>
                                  </p:childTnLst>
                                </p:cTn>
                              </p:par>
                            </p:childTnLst>
                          </p:cTn>
                        </p:par>
                        <p:par>
                          <p:cTn id="30" fill="hold">
                            <p:stCondLst>
                              <p:cond delay="1700"/>
                            </p:stCondLst>
                            <p:childTnLst>
                              <p:par>
                                <p:cTn id="27" presetID="10" presetClass="entr" presetSubtype="0" fill="hold" grpId="0" nodeType="afterEffect">
                                  <p:stCondLst>
                                    <p:cond delay="0"/>
                                  </p:stCondLst>
                                  <p:childTnLst>
                                    <p:set>
                                      <p:cBhvr>
                                        <p:cTn id="28" dur="1" fill="hold">
                                          <p:stCondLst>
                                            <p:cond delay="0"/>
                                          </p:stCondLst>
                                        </p:cTn>
                                        <p:tgtEl>
                                          <p:spTgt spid="122"/>
                                        </p:tgtEl>
                                        <p:attrNameLst>
                                          <p:attrName>style.visibility</p:attrName>
                                        </p:attrNameLst>
                                      </p:cBhvr>
                                      <p:to>
                                        <p:strVal val="visible"/>
                                      </p:to>
                                    </p:set>
                                    <p:animEffect transition="in" filter="fade">
                                      <p:cBhvr>
                                        <p:cTn id="29" dur="500"/>
                                        <p:tgtEl>
                                          <p:spTgt spid="122"/>
                                        </p:tgtEl>
                                      </p:cBhvr>
                                    </p:animEffect>
                                  </p:childTnLst>
                                </p:cTn>
                              </p:par>
                            </p:childTnLst>
                          </p:cTn>
                        </p:par>
                      </p:childTnLst>
                    </p:cTn>
                  </p:par>
                  <p:par>
                    <p:cTn id="43" fill="hold">
                      <p:stCondLst>
                        <p:cond delay="indefinite"/>
                      </p:stCondLst>
                      <p:childTnLst>
                        <p:par>
                          <p:cTn id="35"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123"/>
                                        </p:tgtEl>
                                        <p:attrNameLst>
                                          <p:attrName>style.visibility</p:attrName>
                                        </p:attrNameLst>
                                      </p:cBhvr>
                                      <p:to>
                                        <p:strVal val="visible"/>
                                      </p:to>
                                    </p:set>
                                    <p:animEffect transition="in" filter="wipe(up)">
                                      <p:cBhvr>
                                        <p:cTn id="34" dur="600"/>
                                        <p:tgtEl>
                                          <p:spTgt spid="123"/>
                                        </p:tgtEl>
                                      </p:cBhvr>
                                    </p:animEffect>
                                  </p:childTnLst>
                                </p:cTn>
                              </p:par>
                            </p:childTnLst>
                          </p:cTn>
                        </p:par>
                        <p:par>
                          <p:cTn id="42" fill="hold">
                            <p:stCondLst>
                              <p:cond delay="600"/>
                            </p:stCondLst>
                            <p:childTnLst>
                              <p:par>
                                <p:cTn id="36" presetID="10" presetClass="entr" presetSubtype="0" fill="hold" grpId="0" nodeType="after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fade">
                                      <p:cBhvr>
                                        <p:cTn id="38" dur="500"/>
                                        <p:tgtEl>
                                          <p:spTgt spid="1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27"/>
                                        </p:tgtEl>
                                        <p:attrNameLst>
                                          <p:attrName>style.visibility</p:attrName>
                                        </p:attrNameLst>
                                      </p:cBhvr>
                                      <p:to>
                                        <p:strVal val="visible"/>
                                      </p:to>
                                    </p:set>
                                    <p:animEffect transition="in" filter="fade">
                                      <p:cBhvr>
                                        <p:cTn id="41" dur="500"/>
                                        <p:tgtEl>
                                          <p:spTgt spid="127"/>
                                        </p:tgtEl>
                                      </p:cBhvr>
                                    </p:animEffect>
                                  </p:childTnLst>
                                </p:cTn>
                              </p:par>
                            </p:childTnLst>
                          </p:cTn>
                        </p:par>
                      </p:childTnLst>
                    </p:cTn>
                  </p:par>
                  <p:par>
                    <p:cTn id="55" fill="hold">
                      <p:stCondLst>
                        <p:cond delay="indefinite"/>
                      </p:stCondLst>
                      <p:childTnLst>
                        <p:par>
                          <p:cTn id="47" fill="hold">
                            <p:stCondLst>
                              <p:cond delay="0"/>
                            </p:stCondLst>
                            <p:childTnLst>
                              <p:par>
                                <p:cTn id="44" presetID="22" presetClass="entr" presetSubtype="1" fill="hold" grpId="0" nodeType="clickEffect">
                                  <p:stCondLst>
                                    <p:cond delay="0"/>
                                  </p:stCondLst>
                                  <p:childTnLst>
                                    <p:set>
                                      <p:cBhvr>
                                        <p:cTn id="45" dur="1" fill="hold">
                                          <p:stCondLst>
                                            <p:cond delay="0"/>
                                          </p:stCondLst>
                                        </p:cTn>
                                        <p:tgtEl>
                                          <p:spTgt spid="128"/>
                                        </p:tgtEl>
                                        <p:attrNameLst>
                                          <p:attrName>style.visibility</p:attrName>
                                        </p:attrNameLst>
                                      </p:cBhvr>
                                      <p:to>
                                        <p:strVal val="visible"/>
                                      </p:to>
                                    </p:set>
                                    <p:animEffect transition="in" filter="wipe(up)">
                                      <p:cBhvr>
                                        <p:cTn id="46" dur="600"/>
                                        <p:tgtEl>
                                          <p:spTgt spid="128"/>
                                        </p:tgtEl>
                                      </p:cBhvr>
                                    </p:animEffect>
                                  </p:childTnLst>
                                </p:cTn>
                              </p:par>
                            </p:childTnLst>
                          </p:cTn>
                        </p:par>
                        <p:par>
                          <p:cTn id="54" fill="hold">
                            <p:stCondLst>
                              <p:cond delay="600"/>
                            </p:stCondLst>
                            <p:childTnLst>
                              <p:par>
                                <p:cTn id="48" presetID="10" presetClass="entr" presetSubtype="0" fill="hold" grpId="0" nodeType="afterEffect">
                                  <p:stCondLst>
                                    <p:cond delay="0"/>
                                  </p:stCondLst>
                                  <p:childTnLst>
                                    <p:set>
                                      <p:cBhvr>
                                        <p:cTn id="49" dur="1" fill="hold">
                                          <p:stCondLst>
                                            <p:cond delay="0"/>
                                          </p:stCondLst>
                                        </p:cTn>
                                        <p:tgtEl>
                                          <p:spTgt spid="129"/>
                                        </p:tgtEl>
                                        <p:attrNameLst>
                                          <p:attrName>style.visibility</p:attrName>
                                        </p:attrNameLst>
                                      </p:cBhvr>
                                      <p:to>
                                        <p:strVal val="visible"/>
                                      </p:to>
                                    </p:set>
                                    <p:animEffect transition="in" filter="fade">
                                      <p:cBhvr>
                                        <p:cTn id="50" dur="500"/>
                                        <p:tgtEl>
                                          <p:spTgt spid="12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30"/>
                                        </p:tgtEl>
                                        <p:attrNameLst>
                                          <p:attrName>style.visibility</p:attrName>
                                        </p:attrNameLst>
                                      </p:cBhvr>
                                      <p:to>
                                        <p:strVal val="visible"/>
                                      </p:to>
                                    </p:set>
                                    <p:animEffect transition="in" filter="fade">
                                      <p:cBhvr>
                                        <p:cTn id="53" dur="500"/>
                                        <p:tgtEl>
                                          <p:spTgt spid="130"/>
                                        </p:tgtEl>
                                      </p:cBhvr>
                                    </p:animEffect>
                                  </p:childTnLst>
                                </p:cTn>
                              </p:par>
                            </p:childTnLst>
                          </p:cTn>
                        </p:par>
                      </p:childTnLst>
                    </p:cTn>
                  </p:par>
                  <p:par>
                    <p:cTn id="64" fill="hold">
                      <p:stCondLst>
                        <p:cond delay="indefinite"/>
                      </p:stCondLst>
                      <p:childTnLst>
                        <p:par>
                          <p:cTn id="59" fill="hold">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131"/>
                                        </p:tgtEl>
                                        <p:attrNameLst>
                                          <p:attrName>style.visibility</p:attrName>
                                        </p:attrNameLst>
                                      </p:cBhvr>
                                      <p:to>
                                        <p:strVal val="visible"/>
                                      </p:to>
                                    </p:set>
                                    <p:animEffect transition="in" filter="wipe(down)">
                                      <p:cBhvr>
                                        <p:cTn id="58" dur="600"/>
                                        <p:tgtEl>
                                          <p:spTgt spid="131"/>
                                        </p:tgtEl>
                                      </p:cBhvr>
                                    </p:animEffect>
                                  </p:childTnLst>
                                </p:cTn>
                              </p:par>
                            </p:childTnLst>
                          </p:cTn>
                        </p:par>
                        <p:par>
                          <p:cTn id="63" fill="hold">
                            <p:stCondLst>
                              <p:cond delay="600"/>
                            </p:stCondLst>
                            <p:childTnLst>
                              <p:par>
                                <p:cTn id="60" presetID="10" presetClass="entr" presetSubtype="0" fill="hold" grpId="0" nodeType="afterEffect">
                                  <p:stCondLst>
                                    <p:cond delay="0"/>
                                  </p:stCondLst>
                                  <p:childTnLst>
                                    <p:set>
                                      <p:cBhvr>
                                        <p:cTn id="61" dur="1" fill="hold">
                                          <p:stCondLst>
                                            <p:cond delay="0"/>
                                          </p:stCondLst>
                                        </p:cTn>
                                        <p:tgtEl>
                                          <p:spTgt spid="132"/>
                                        </p:tgtEl>
                                        <p:attrNameLst>
                                          <p:attrName>style.visibility</p:attrName>
                                        </p:attrNameLst>
                                      </p:cBhvr>
                                      <p:to>
                                        <p:strVal val="visible"/>
                                      </p:to>
                                    </p:set>
                                    <p:animEffect transition="in" filter="fade">
                                      <p:cBhvr>
                                        <p:cTn id="62" dur="500"/>
                                        <p:tgtEl>
                                          <p:spTgt spid="132"/>
                                        </p:tgtEl>
                                      </p:cBhvr>
                                    </p:animEffect>
                                  </p:childTnLst>
                                </p:cTn>
                              </p:par>
                            </p:childTnLst>
                          </p:cTn>
                        </p:par>
                      </p:childTnLst>
                    </p:cTn>
                  </p:par>
                  <p:par>
                    <p:cTn id="80" fill="hold">
                      <p:stCondLst>
                        <p:cond delay="indefinite"/>
                      </p:stCondLst>
                      <p:childTnLst>
                        <p:par>
                          <p:cTn id="68" fill="hold">
                            <p:stCondLst>
                              <p:cond delay="0"/>
                            </p:stCondLst>
                            <p:childTnLst>
                              <p:par>
                                <p:cTn id="65" presetID="22" presetClass="entr" presetSubtype="1" fill="hold" grpId="0" nodeType="clickEffect">
                                  <p:stCondLst>
                                    <p:cond delay="0"/>
                                  </p:stCondLst>
                                  <p:childTnLst>
                                    <p:set>
                                      <p:cBhvr>
                                        <p:cTn id="66" dur="1" fill="hold">
                                          <p:stCondLst>
                                            <p:cond delay="0"/>
                                          </p:stCondLst>
                                        </p:cTn>
                                        <p:tgtEl>
                                          <p:spTgt spid="133"/>
                                        </p:tgtEl>
                                        <p:attrNameLst>
                                          <p:attrName>style.visibility</p:attrName>
                                        </p:attrNameLst>
                                      </p:cBhvr>
                                      <p:to>
                                        <p:strVal val="visible"/>
                                      </p:to>
                                    </p:set>
                                    <p:animEffect transition="in" filter="wipe(up)">
                                      <p:cBhvr>
                                        <p:cTn id="67" dur="600"/>
                                        <p:tgtEl>
                                          <p:spTgt spid="133"/>
                                        </p:tgtEl>
                                      </p:cBhvr>
                                    </p:animEffect>
                                  </p:childTnLst>
                                </p:cTn>
                              </p:par>
                            </p:childTnLst>
                          </p:cTn>
                        </p:par>
                        <p:par>
                          <p:cTn id="75" fill="hold">
                            <p:stCondLst>
                              <p:cond delay="600"/>
                            </p:stCondLst>
                            <p:childTnLst>
                              <p:par>
                                <p:cTn id="69" presetID="10" presetClass="entr" presetSubtype="0" fill="hold" grpId="0" nodeType="afterEffect">
                                  <p:stCondLst>
                                    <p:cond delay="0"/>
                                  </p:stCondLst>
                                  <p:childTnLst>
                                    <p:set>
                                      <p:cBhvr>
                                        <p:cTn id="70" dur="1" fill="hold">
                                          <p:stCondLst>
                                            <p:cond delay="0"/>
                                          </p:stCondLst>
                                        </p:cTn>
                                        <p:tgtEl>
                                          <p:spTgt spid="134"/>
                                        </p:tgtEl>
                                        <p:attrNameLst>
                                          <p:attrName>style.visibility</p:attrName>
                                        </p:attrNameLst>
                                      </p:cBhvr>
                                      <p:to>
                                        <p:strVal val="visible"/>
                                      </p:to>
                                    </p:set>
                                    <p:animEffect transition="in" filter="fade">
                                      <p:cBhvr>
                                        <p:cTn id="71" dur="500"/>
                                        <p:tgtEl>
                                          <p:spTgt spid="134"/>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35"/>
                                        </p:tgtEl>
                                        <p:attrNameLst>
                                          <p:attrName>style.visibility</p:attrName>
                                        </p:attrNameLst>
                                      </p:cBhvr>
                                      <p:to>
                                        <p:strVal val="visible"/>
                                      </p:to>
                                    </p:set>
                                    <p:animEffect transition="in" filter="fade">
                                      <p:cBhvr>
                                        <p:cTn id="74" dur="500"/>
                                        <p:tgtEl>
                                          <p:spTgt spid="135"/>
                                        </p:tgtEl>
                                      </p:cBhvr>
                                    </p:animEffect>
                                  </p:childTnLst>
                                </p:cTn>
                              </p:par>
                            </p:childTnLst>
                          </p:cTn>
                        </p:par>
                        <p:par>
                          <p:cTn id="79" fill="hold">
                            <p:stCondLst>
                              <p:cond delay="1100"/>
                            </p:stCondLst>
                            <p:childTnLst>
                              <p:par>
                                <p:cTn id="76" presetID="10" presetClass="entr" presetSubtype="0" fill="hold" grpId="0" nodeType="afterEffect">
                                  <p:stCondLst>
                                    <p:cond delay="0"/>
                                  </p:stCondLst>
                                  <p:childTnLst>
                                    <p:set>
                                      <p:cBhvr>
                                        <p:cTn id="77" dur="1" fill="hold">
                                          <p:stCondLst>
                                            <p:cond delay="0"/>
                                          </p:stCondLst>
                                        </p:cTn>
                                        <p:tgtEl>
                                          <p:spTgt spid="136"/>
                                        </p:tgtEl>
                                        <p:attrNameLst>
                                          <p:attrName>style.visibility</p:attrName>
                                        </p:attrNameLst>
                                      </p:cBhvr>
                                      <p:to>
                                        <p:strVal val="visible"/>
                                      </p:to>
                                    </p:set>
                                    <p:animEffect transition="in" filter="fade">
                                      <p:cBhvr>
                                        <p:cTn id="78"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118" grpId="0" animBg="1"/>
      <p:bldP spid="119" grpId="0" animBg="1"/>
      <p:bldP spid="120" grpId="0" animBg="1"/>
      <p:bldP spid="121" grpId="0" animBg="1"/>
      <p:bldP spid="122" grpId="0" animBg="1"/>
      <p:bldP spid="123"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Lst>
  </p:timing>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2" name="Etiqueta unidad"/>
          <p:cNvSpPr/>
          <p:nvPr/>
        </p:nvSpPr>
        <p:spPr>
          <a:xfrm>
            <a:off x="548640" y="502920"/>
            <a:ext cx="1169886"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I</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FUNDAMENTOS Y</a:t>
            </a:r>
            <a:endParaRPr lang="es-AR" sz="4600" dirty="0">
              <a:latin typeface="Bahnschrift"/>
            </a:endParaRPr>
          </a:p>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ESTADO ALIMENTADO</a:t>
            </a:r>
            <a:endParaRPr lang="es-AR" sz="460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Del bocado a la señal de abundancia</a:t>
            </a:r>
            <a:endParaRPr lang="es-AR" sz="1800" dirty="0">
              <a:latin typeface="Bahnschrift SemiBold Condensed"/>
            </a:endParaRPr>
          </a:p>
        </p:txBody>
      </p:sp>
      <p:sp>
        <p:nvSpPr>
          <p:cNvPr id="5" name="Temario"/>
          <p:cNvSpPr/>
          <p:nvPr/>
        </p:nvSpPr>
        <p:spPr>
          <a:xfrm>
            <a:off x="502920" y="3703320"/>
            <a:ext cx="6583680" cy="2514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600" dirty="0">
                <a:solidFill>
                  <a:srgbClr val="1E1E1E"/>
                </a:solidFill>
                <a:latin typeface="Bahnschrift"/>
                <a:ea typeface="Bahnschrift"/>
                <a:cs typeface="Bahnschrift"/>
                <a:sym typeface="Bahnschrift"/>
              </a:rPr>
              <a:t>1 · Alimentación, nutrición y metabolismo</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2 · Ciclo alimentación–ayuno y transición hormonal</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3 · Destino de glucosa, lípidos y aminoácidos en saciedad</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4 · Secreción de insulina y glucagón</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5 · Recuperación de la glucemia basal tras la ingesta</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6 · Metabolismo posprandial tejido por tejido</a:t>
            </a:r>
            <a:endParaRPr lang="es-AR" sz="1600" dirty="0">
              <a:latin typeface="Bahnschrift"/>
            </a:endParaRPr>
          </a:p>
        </p:txBody>
      </p:sp>
      <p:grpSp>
        <p:nvGrpSpPr>
          <p:cNvPr id="6" name="Arte páncreas"/>
          <p:cNvGrpSpPr/>
          <p:nvPr/>
        </p:nvGrpSpPr>
        <p:grpSpPr>
          <a:xfrm>
            <a:off x="7680960" y="914400"/>
            <a:ext cx="4023360" cy="1689811"/>
            <a:chOff x="7680960" y="914400"/>
            <a:chExt cx="4023360" cy="1689811"/>
          </a:xfrm>
        </p:grpSpPr>
        <p:sp>
          <p:nvSpPr>
            <p:cNvPr id="7" name="Forma 6"/>
            <p:cNvSpPr/>
            <p:nvPr/>
          </p:nvSpPr>
          <p:spPr>
            <a:xfrm>
              <a:off x="7680960" y="914400"/>
              <a:ext cx="4023360" cy="1689811"/>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8" name="Forma 7"/>
            <p:cNvSpPr/>
            <p:nvPr/>
          </p:nvSpPr>
          <p:spPr>
            <a:xfrm>
              <a:off x="7680960" y="914400"/>
              <a:ext cx="4023360" cy="1689811"/>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9" name="Islotes"/>
            <p:cNvSpPr/>
            <p:nvPr/>
          </p:nvSpPr>
          <p:spPr>
            <a:xfrm>
              <a:off x="7680960" y="914400"/>
              <a:ext cx="4023360" cy="1689811"/>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10" name="Forma 9"/>
            <p:cNvSpPr/>
            <p:nvPr/>
          </p:nvSpPr>
          <p:spPr>
            <a:xfrm>
              <a:off x="7680960" y="914400"/>
              <a:ext cx="4023360" cy="1689811"/>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11" name="Arte islote"/>
          <p:cNvGrpSpPr/>
          <p:nvPr/>
        </p:nvGrpSpPr>
        <p:grpSpPr>
          <a:xfrm>
            <a:off x="8372246" y="2611526"/>
            <a:ext cx="2457907" cy="2457907"/>
            <a:chOff x="8372246" y="2611526"/>
            <a:chExt cx="2457907" cy="2457907"/>
          </a:xfrm>
        </p:grpSpPr>
        <p:sp>
          <p:nvSpPr>
            <p:cNvPr id="12" name="Forma 11"/>
            <p:cNvSpPr/>
            <p:nvPr/>
          </p:nvSpPr>
          <p:spPr>
            <a:xfrm>
              <a:off x="8372246" y="2611526"/>
              <a:ext cx="2457907" cy="2457907"/>
            </a:xfrm>
            <a:prstGeom prst="ellipse">
              <a:avLst/>
            </a:prstGeom>
            <a:solidFill>
              <a:srgbClr val="F5CBA7">
                <a:alpha val="60000"/>
              </a:srgbClr>
            </a:solidFill>
            <a:ln w="12700" cap="rnd">
              <a:solidFill>
                <a:srgbClr val="B9770E"/>
              </a:solidFill>
              <a:prstDash val="dash"/>
              <a:round/>
            </a:ln>
          </p:spPr>
        </p:sp>
        <p:sp>
          <p:nvSpPr>
            <p:cNvPr id="13" name="Forma 12"/>
            <p:cNvSpPr/>
            <p:nvPr/>
          </p:nvSpPr>
          <p:spPr>
            <a:xfrm>
              <a:off x="9465137" y="3704417"/>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4" name="Forma 13"/>
            <p:cNvSpPr/>
            <p:nvPr/>
          </p:nvSpPr>
          <p:spPr>
            <a:xfrm>
              <a:off x="9360352" y="343906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5" name="Forma 14"/>
            <p:cNvSpPr/>
            <p:nvPr/>
          </p:nvSpPr>
          <p:spPr>
            <a:xfrm>
              <a:off x="9607266" y="3457048"/>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6" name="Forma 15"/>
            <p:cNvSpPr/>
            <p:nvPr/>
          </p:nvSpPr>
          <p:spPr>
            <a:xfrm>
              <a:off x="9747154" y="366130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7" name="Forma 16"/>
            <p:cNvSpPr/>
            <p:nvPr/>
          </p:nvSpPr>
          <p:spPr>
            <a:xfrm>
              <a:off x="9674678" y="3898027"/>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8" name="Forma 17"/>
            <p:cNvSpPr/>
            <p:nvPr/>
          </p:nvSpPr>
          <p:spPr>
            <a:xfrm>
              <a:off x="9444414" y="3988956"/>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19" name="Forma 18"/>
            <p:cNvSpPr/>
            <p:nvPr/>
          </p:nvSpPr>
          <p:spPr>
            <a:xfrm>
              <a:off x="9229755" y="3865622"/>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20" name="Forma 19"/>
            <p:cNvSpPr/>
            <p:nvPr/>
          </p:nvSpPr>
          <p:spPr>
            <a:xfrm>
              <a:off x="9192344" y="3620897"/>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1" name="Forma 20"/>
            <p:cNvSpPr/>
            <p:nvPr/>
          </p:nvSpPr>
          <p:spPr>
            <a:xfrm>
              <a:off x="9048499" y="4094264"/>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2" name="Forma 21"/>
            <p:cNvSpPr/>
            <p:nvPr/>
          </p:nvSpPr>
          <p:spPr>
            <a:xfrm>
              <a:off x="8909395" y="383371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3" name="Forma 22"/>
            <p:cNvSpPr/>
            <p:nvPr/>
          </p:nvSpPr>
          <p:spPr>
            <a:xfrm>
              <a:off x="8919201" y="3538521"/>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4" name="Forma 23"/>
            <p:cNvSpPr/>
            <p:nvPr/>
          </p:nvSpPr>
          <p:spPr>
            <a:xfrm>
              <a:off x="9075291" y="3287779"/>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25" name="Forma 24"/>
            <p:cNvSpPr/>
            <p:nvPr/>
          </p:nvSpPr>
          <p:spPr>
            <a:xfrm>
              <a:off x="9335839" y="314867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6" name="Forma 25"/>
            <p:cNvSpPr/>
            <p:nvPr/>
          </p:nvSpPr>
          <p:spPr>
            <a:xfrm>
              <a:off x="9631033" y="3158481"/>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27" name="Forma 26"/>
            <p:cNvSpPr/>
            <p:nvPr/>
          </p:nvSpPr>
          <p:spPr>
            <a:xfrm>
              <a:off x="9881776" y="3314571"/>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8" name="Forma 27"/>
            <p:cNvSpPr/>
            <p:nvPr/>
          </p:nvSpPr>
          <p:spPr>
            <a:xfrm>
              <a:off x="10020880" y="3575119"/>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29" name="Forma 28"/>
            <p:cNvSpPr/>
            <p:nvPr/>
          </p:nvSpPr>
          <p:spPr>
            <a:xfrm>
              <a:off x="10011074" y="3870313"/>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0" name="Forma 29"/>
            <p:cNvSpPr/>
            <p:nvPr/>
          </p:nvSpPr>
          <p:spPr>
            <a:xfrm>
              <a:off x="9854984" y="4121056"/>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1" name="Forma 30"/>
            <p:cNvSpPr/>
            <p:nvPr/>
          </p:nvSpPr>
          <p:spPr>
            <a:xfrm>
              <a:off x="9594435" y="4260160"/>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2" name="Forma 31"/>
            <p:cNvSpPr/>
            <p:nvPr/>
          </p:nvSpPr>
          <p:spPr>
            <a:xfrm>
              <a:off x="9299241" y="4250354"/>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33" name="Forma 32"/>
            <p:cNvSpPr/>
            <p:nvPr/>
          </p:nvSpPr>
          <p:spPr>
            <a:xfrm>
              <a:off x="8638537" y="381476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34" name="Forma 33"/>
            <p:cNvSpPr/>
            <p:nvPr/>
          </p:nvSpPr>
          <p:spPr>
            <a:xfrm>
              <a:off x="8654494" y="3508711"/>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5" name="Forma 34"/>
            <p:cNvSpPr/>
            <p:nvPr/>
          </p:nvSpPr>
          <p:spPr>
            <a:xfrm>
              <a:off x="8779932" y="3229088"/>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36" name="Forma 35"/>
            <p:cNvSpPr/>
            <p:nvPr/>
          </p:nvSpPr>
          <p:spPr>
            <a:xfrm>
              <a:off x="8997911" y="3013662"/>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7" name="Forma 36"/>
            <p:cNvSpPr/>
            <p:nvPr/>
          </p:nvSpPr>
          <p:spPr>
            <a:xfrm>
              <a:off x="9278991" y="289152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38" name="Forma 37"/>
            <p:cNvSpPr/>
            <p:nvPr/>
          </p:nvSpPr>
          <p:spPr>
            <a:xfrm>
              <a:off x="9585212" y="2879174"/>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39" name="Forma 38"/>
            <p:cNvSpPr/>
            <p:nvPr/>
          </p:nvSpPr>
          <p:spPr>
            <a:xfrm>
              <a:off x="9875216" y="2978277"/>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40" name="Forma 39"/>
            <p:cNvSpPr/>
            <p:nvPr/>
          </p:nvSpPr>
          <p:spPr>
            <a:xfrm>
              <a:off x="10109836" y="3175449"/>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1" name="Forma 40"/>
            <p:cNvSpPr/>
            <p:nvPr/>
          </p:nvSpPr>
          <p:spPr>
            <a:xfrm>
              <a:off x="10257386" y="3444061"/>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42" name="Forma 41"/>
            <p:cNvSpPr/>
            <p:nvPr/>
          </p:nvSpPr>
          <p:spPr>
            <a:xfrm>
              <a:off x="10297939" y="3747836"/>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43" name="Forma 42"/>
            <p:cNvSpPr/>
            <p:nvPr/>
          </p:nvSpPr>
          <p:spPr>
            <a:xfrm>
              <a:off x="10226017" y="4045747"/>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4" name="Forma 43"/>
            <p:cNvSpPr/>
            <p:nvPr/>
          </p:nvSpPr>
          <p:spPr>
            <a:xfrm>
              <a:off x="10051334" y="4297559"/>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5" name="Forma 44"/>
            <p:cNvSpPr/>
            <p:nvPr/>
          </p:nvSpPr>
          <p:spPr>
            <a:xfrm>
              <a:off x="9797482" y="4469264"/>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46" name="Forma 45"/>
            <p:cNvSpPr/>
            <p:nvPr/>
          </p:nvSpPr>
          <p:spPr>
            <a:xfrm>
              <a:off x="9498745" y="4537673"/>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7" name="Forma 46"/>
            <p:cNvSpPr/>
            <p:nvPr/>
          </p:nvSpPr>
          <p:spPr>
            <a:xfrm>
              <a:off x="9195469" y="4493545"/>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8" name="Forma 47"/>
            <p:cNvSpPr/>
            <p:nvPr/>
          </p:nvSpPr>
          <p:spPr>
            <a:xfrm>
              <a:off x="8928613" y="4342842"/>
              <a:ext cx="272125" cy="272125"/>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β</a:t>
              </a:r>
              <a:endParaRPr lang="es-AR" sz="2160" dirty="0">
                <a:latin typeface="Bahnschrift SemiBold Condensed"/>
              </a:endParaRPr>
            </a:p>
          </p:txBody>
        </p:sp>
        <p:sp>
          <p:nvSpPr>
            <p:cNvPr id="49" name="Forma 48"/>
            <p:cNvSpPr/>
            <p:nvPr/>
          </p:nvSpPr>
          <p:spPr>
            <a:xfrm>
              <a:off x="8734218" y="4105916"/>
              <a:ext cx="272125" cy="272125"/>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160" b="1" dirty="0">
                  <a:solidFill>
                    <a:srgbClr val="1E1E1E"/>
                  </a:solidFill>
                  <a:latin typeface="Bahnschrift SemiBold Condensed"/>
                  <a:ea typeface="Bahnschrift SemiBold Condensed"/>
                  <a:cs typeface="Bahnschrift SemiBold Condensed"/>
                  <a:sym typeface="Bahnschrift SemiBold Condensed"/>
                </a:rPr>
                <a:t>α</a:t>
              </a:r>
              <a:endParaRPr lang="es-AR" sz="2160" dirty="0">
                <a:latin typeface="Bahnschrift SemiBold Condensed"/>
              </a:endParaRPr>
            </a:p>
          </p:txBody>
        </p:sp>
        <p:sp>
          <p:nvSpPr>
            <p:cNvPr id="50" name="Forma 49"/>
            <p:cNvSpPr/>
            <p:nvPr/>
          </p:nvSpPr>
          <p:spPr>
            <a:xfrm>
              <a:off x="8503920" y="2743200"/>
              <a:ext cx="2194560" cy="2194560"/>
            </a:xfrm>
            <a:custGeom>
              <a:avLst/>
              <a:gdLst/>
              <a:ahLst/>
              <a:cxnLst/>
              <a:rect l="0" t="0" r="r" b="b"/>
              <a:pathLst>
                <a:path w="1000" h="1000" fill="none">
                  <a:moveTo>
                    <a:pt x="0" y="620"/>
                  </a:moveTo>
                  <a:cubicBezTo>
                    <a:pt x="250" y="560"/>
                    <a:pt x="420" y="700"/>
                    <a:pt x="600" y="600"/>
                  </a:cubicBezTo>
                  <a:cubicBezTo>
                    <a:pt x="760" y="520"/>
                    <a:pt x="880" y="560"/>
                    <a:pt x="1000" y="520"/>
                  </a:cubicBezTo>
                </a:path>
              </a:pathLst>
            </a:custGeom>
            <a:noFill/>
            <a:ln w="38100" cap="rnd">
              <a:solidFill>
                <a:srgbClr val="C0392B"/>
              </a:solidFill>
              <a:round/>
            </a:ln>
          </p:spPr>
        </p:sp>
      </p:grpSp>
      <p:grpSp>
        <p:nvGrpSpPr>
          <p:cNvPr id="51" name="Arte hepatocito"/>
          <p:cNvGrpSpPr/>
          <p:nvPr/>
        </p:nvGrpSpPr>
        <p:grpSpPr>
          <a:xfrm>
            <a:off x="7498080" y="4297680"/>
            <a:ext cx="2194560" cy="1799539"/>
            <a:chOff x="7498080" y="4297680"/>
            <a:chExt cx="2194560" cy="1799539"/>
          </a:xfrm>
        </p:grpSpPr>
        <p:sp>
          <p:nvSpPr>
            <p:cNvPr id="52" name="Forma 51"/>
            <p:cNvSpPr/>
            <p:nvPr/>
          </p:nvSpPr>
          <p:spPr>
            <a:xfrm>
              <a:off x="7498080" y="4297680"/>
              <a:ext cx="2194560" cy="1799539"/>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nvGrpSpPr>
            <p:cNvPr id="53" name="Núcleo hepatocito"/>
            <p:cNvGrpSpPr/>
            <p:nvPr/>
          </p:nvGrpSpPr>
          <p:grpSpPr>
            <a:xfrm>
              <a:off x="8375904" y="4945514"/>
              <a:ext cx="482803" cy="434523"/>
              <a:chOff x="8375904" y="4945514"/>
              <a:chExt cx="482803" cy="434523"/>
            </a:xfrm>
          </p:grpSpPr>
          <p:sp>
            <p:nvSpPr>
              <p:cNvPr id="54" name="Forma 53"/>
              <p:cNvSpPr/>
              <p:nvPr/>
            </p:nvSpPr>
            <p:spPr>
              <a:xfrm>
                <a:off x="8375904" y="4945514"/>
                <a:ext cx="482803" cy="434523"/>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55" name="Forma 54"/>
              <p:cNvSpPr/>
              <p:nvPr/>
            </p:nvSpPr>
            <p:spPr>
              <a:xfrm>
                <a:off x="8626962" y="5090355"/>
                <a:ext cx="106217" cy="96561"/>
              </a:xfrm>
              <a:prstGeom prst="ellipse">
                <a:avLst/>
              </a:prstGeom>
              <a:solidFill>
                <a:srgbClr val="513B6B"/>
              </a:solidFill>
              <a:ln>
                <a:noFill/>
              </a:ln>
            </p:spPr>
          </p:sp>
        </p:grpSp>
        <p:grpSp>
          <p:nvGrpSpPr>
            <p:cNvPr id="56" name="Retículo endoplasmático"/>
            <p:cNvGrpSpPr/>
            <p:nvPr/>
          </p:nvGrpSpPr>
          <p:grpSpPr>
            <a:xfrm>
              <a:off x="7761427" y="4557054"/>
              <a:ext cx="526694" cy="382702"/>
              <a:chOff x="7761427" y="4557054"/>
              <a:chExt cx="526694" cy="382702"/>
            </a:xfrm>
          </p:grpSpPr>
          <p:sp>
            <p:nvSpPr>
              <p:cNvPr id="57" name="Forma 56"/>
              <p:cNvSpPr/>
              <p:nvPr/>
            </p:nvSpPr>
            <p:spPr>
              <a:xfrm>
                <a:off x="7761427" y="4567611"/>
                <a:ext cx="526694" cy="9897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58" name="Forma 57"/>
              <p:cNvSpPr/>
              <p:nvPr/>
            </p:nvSpPr>
            <p:spPr>
              <a:xfrm>
                <a:off x="7761427" y="4557054"/>
                <a:ext cx="526694" cy="118770"/>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59" name="Forma 58"/>
              <p:cNvSpPr/>
              <p:nvPr/>
            </p:nvSpPr>
            <p:spPr>
              <a:xfrm>
                <a:off x="7761427" y="4699577"/>
                <a:ext cx="526694" cy="9897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60" name="Forma 59"/>
              <p:cNvSpPr/>
              <p:nvPr/>
            </p:nvSpPr>
            <p:spPr>
              <a:xfrm>
                <a:off x="7761427" y="4689020"/>
                <a:ext cx="526694" cy="118770"/>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61" name="Forma 60"/>
              <p:cNvSpPr/>
              <p:nvPr/>
            </p:nvSpPr>
            <p:spPr>
              <a:xfrm>
                <a:off x="7761427" y="4831543"/>
                <a:ext cx="526694" cy="9897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62" name="Forma 61"/>
              <p:cNvSpPr/>
              <p:nvPr/>
            </p:nvSpPr>
            <p:spPr>
              <a:xfrm>
                <a:off x="7761427" y="4820986"/>
                <a:ext cx="526694" cy="118770"/>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nvGrpSpPr>
            <p:cNvPr id="63" name="Mitocondria"/>
            <p:cNvGrpSpPr/>
            <p:nvPr/>
          </p:nvGrpSpPr>
          <p:grpSpPr>
            <a:xfrm>
              <a:off x="8946490" y="4657588"/>
              <a:ext cx="351130" cy="175565"/>
              <a:chOff x="8946490" y="4657588"/>
              <a:chExt cx="351130" cy="175565"/>
            </a:xfrm>
          </p:grpSpPr>
          <p:sp>
            <p:nvSpPr>
              <p:cNvPr id="64" name="Forma 63"/>
              <p:cNvSpPr/>
              <p:nvPr/>
            </p:nvSpPr>
            <p:spPr>
              <a:xfrm>
                <a:off x="8946490" y="4657588"/>
                <a:ext cx="351130" cy="175565"/>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5" name="Forma 64"/>
              <p:cNvSpPr/>
              <p:nvPr/>
            </p:nvSpPr>
            <p:spPr>
              <a:xfrm>
                <a:off x="8971069" y="4682167"/>
                <a:ext cx="301971" cy="126407"/>
              </a:xfrm>
              <a:prstGeom prst="ellipse">
                <a:avLst/>
              </a:prstGeom>
              <a:solidFill>
                <a:srgbClr val="F8D8B4"/>
              </a:solidFill>
              <a:ln w="9525" cap="rnd">
                <a:solidFill>
                  <a:srgbClr val="B2732B"/>
                </a:solidFill>
                <a:round/>
              </a:ln>
            </p:spPr>
          </p:sp>
          <p:sp>
            <p:nvSpPr>
              <p:cNvPr id="66" name="Forma 65"/>
              <p:cNvSpPr/>
              <p:nvPr/>
            </p:nvSpPr>
            <p:spPr>
              <a:xfrm>
                <a:off x="8971069" y="4682167"/>
                <a:ext cx="301971" cy="12640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67" name="Mitocondria_2"/>
            <p:cNvGrpSpPr/>
            <p:nvPr/>
          </p:nvGrpSpPr>
          <p:grpSpPr>
            <a:xfrm>
              <a:off x="9034272" y="5413394"/>
              <a:ext cx="351130" cy="175565"/>
              <a:chOff x="9034272" y="5413394"/>
              <a:chExt cx="351130" cy="175565"/>
            </a:xfrm>
          </p:grpSpPr>
          <p:sp>
            <p:nvSpPr>
              <p:cNvPr id="68" name="Forma 67"/>
              <p:cNvSpPr/>
              <p:nvPr/>
            </p:nvSpPr>
            <p:spPr>
              <a:xfrm rot="1500000">
                <a:off x="9034272" y="5413394"/>
                <a:ext cx="351130" cy="175565"/>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9" name="Forma 68"/>
              <p:cNvSpPr/>
              <p:nvPr/>
            </p:nvSpPr>
            <p:spPr>
              <a:xfrm rot="1500000">
                <a:off x="9058851" y="5437973"/>
                <a:ext cx="301971" cy="126407"/>
              </a:xfrm>
              <a:prstGeom prst="ellipse">
                <a:avLst/>
              </a:prstGeom>
              <a:solidFill>
                <a:srgbClr val="F8D8B4"/>
              </a:solidFill>
              <a:ln w="9525" cap="rnd">
                <a:solidFill>
                  <a:srgbClr val="B2732B"/>
                </a:solidFill>
                <a:round/>
              </a:ln>
            </p:spPr>
          </p:sp>
          <p:sp>
            <p:nvSpPr>
              <p:cNvPr id="70" name="Forma 69"/>
              <p:cNvSpPr/>
              <p:nvPr/>
            </p:nvSpPr>
            <p:spPr>
              <a:xfrm rot="1500000">
                <a:off x="9058851" y="5437973"/>
                <a:ext cx="301971" cy="12640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71" name="Mitocondria_3"/>
            <p:cNvGrpSpPr/>
            <p:nvPr/>
          </p:nvGrpSpPr>
          <p:grpSpPr>
            <a:xfrm>
              <a:off x="7936992" y="5413394"/>
              <a:ext cx="351130" cy="175565"/>
              <a:chOff x="7936992" y="5413394"/>
              <a:chExt cx="351130" cy="175565"/>
            </a:xfrm>
          </p:grpSpPr>
          <p:sp>
            <p:nvSpPr>
              <p:cNvPr id="72" name="Forma 71"/>
              <p:cNvSpPr/>
              <p:nvPr/>
            </p:nvSpPr>
            <p:spPr>
              <a:xfrm rot="-1200000">
                <a:off x="7936992" y="5413394"/>
                <a:ext cx="351130" cy="175565"/>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73" name="Forma 72"/>
              <p:cNvSpPr/>
              <p:nvPr/>
            </p:nvSpPr>
            <p:spPr>
              <a:xfrm rot="-1200000">
                <a:off x="7961571" y="5437973"/>
                <a:ext cx="301971" cy="126407"/>
              </a:xfrm>
              <a:prstGeom prst="ellipse">
                <a:avLst/>
              </a:prstGeom>
              <a:solidFill>
                <a:srgbClr val="F8D8B4"/>
              </a:solidFill>
              <a:ln w="9525" cap="rnd">
                <a:solidFill>
                  <a:srgbClr val="B2732B"/>
                </a:solidFill>
                <a:round/>
              </a:ln>
            </p:spPr>
          </p:sp>
          <p:sp>
            <p:nvSpPr>
              <p:cNvPr id="74" name="Forma 73"/>
              <p:cNvSpPr/>
              <p:nvPr/>
            </p:nvSpPr>
            <p:spPr>
              <a:xfrm rot="-1200000">
                <a:off x="7961571" y="5437973"/>
                <a:ext cx="301971" cy="12640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75" name="Mitocondria_4"/>
            <p:cNvGrpSpPr/>
            <p:nvPr/>
          </p:nvGrpSpPr>
          <p:grpSpPr>
            <a:xfrm>
              <a:off x="8485632" y="5647334"/>
              <a:ext cx="351130" cy="175565"/>
              <a:chOff x="8485632" y="5647334"/>
              <a:chExt cx="351130" cy="175565"/>
            </a:xfrm>
          </p:grpSpPr>
          <p:sp>
            <p:nvSpPr>
              <p:cNvPr id="76" name="Forma 75"/>
              <p:cNvSpPr/>
              <p:nvPr/>
            </p:nvSpPr>
            <p:spPr>
              <a:xfrm rot="600000">
                <a:off x="8485632" y="5647334"/>
                <a:ext cx="351130" cy="175565"/>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77" name="Forma 76"/>
              <p:cNvSpPr/>
              <p:nvPr/>
            </p:nvSpPr>
            <p:spPr>
              <a:xfrm rot="600000">
                <a:off x="8510211" y="5671913"/>
                <a:ext cx="301971" cy="126407"/>
              </a:xfrm>
              <a:prstGeom prst="ellipse">
                <a:avLst/>
              </a:prstGeom>
              <a:solidFill>
                <a:srgbClr val="F8D8B4"/>
              </a:solidFill>
              <a:ln w="9525" cap="rnd">
                <a:solidFill>
                  <a:srgbClr val="B2732B"/>
                </a:solidFill>
                <a:round/>
              </a:ln>
            </p:spPr>
          </p:sp>
          <p:sp>
            <p:nvSpPr>
              <p:cNvPr id="78" name="Forma 77"/>
              <p:cNvSpPr/>
              <p:nvPr/>
            </p:nvSpPr>
            <p:spPr>
              <a:xfrm rot="600000">
                <a:off x="8510211" y="5671913"/>
                <a:ext cx="301971" cy="12640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79" name="Glucógeno"/>
            <p:cNvSpPr/>
            <p:nvPr/>
          </p:nvSpPr>
          <p:spPr>
            <a:xfrm>
              <a:off x="8858707" y="5017496"/>
              <a:ext cx="482803" cy="323917"/>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path>
              </a:pathLst>
            </a:custGeom>
            <a:solidFill>
              <a:srgbClr val="B03A6E"/>
            </a:solidFill>
            <a:ln>
              <a:noFill/>
            </a:ln>
          </p:spPr>
        </p:sp>
        <p:sp>
          <p:nvSpPr>
            <p:cNvPr id="80" name="Gotas lipídicas"/>
            <p:cNvSpPr/>
            <p:nvPr/>
          </p:nvSpPr>
          <p:spPr>
            <a:xfrm>
              <a:off x="7827264" y="4981505"/>
              <a:ext cx="438912" cy="359908"/>
            </a:xfrm>
            <a:custGeom>
              <a:avLst/>
              <a:gdLst/>
              <a:ahLst/>
              <a:cxnLst/>
              <a:rect l="0" t="0" r="r" b="b"/>
              <a:pathLst>
                <a:path w="1000" h="1000">
                  <a:moveTo>
                    <a:pt x="460" y="300"/>
                  </a:moveTo>
                  <a:cubicBezTo>
                    <a:pt x="460" y="388"/>
                    <a:pt x="388" y="460"/>
                    <a:pt x="300" y="460"/>
                  </a:cubicBezTo>
                  <a:cubicBezTo>
                    <a:pt x="211" y="460"/>
                    <a:pt x="140" y="388"/>
                    <a:pt x="140" y="300"/>
                  </a:cubicBezTo>
                  <a:cubicBezTo>
                    <a:pt x="140" y="211"/>
                    <a:pt x="211" y="140"/>
                    <a:pt x="300" y="140"/>
                  </a:cubicBezTo>
                  <a:cubicBezTo>
                    <a:pt x="388" y="140"/>
                    <a:pt x="460" y="211"/>
                    <a:pt x="460" y="300"/>
                  </a:cubicBezTo>
                  <a:close/>
                  <a:moveTo>
                    <a:pt x="820" y="650"/>
                  </a:moveTo>
                  <a:cubicBezTo>
                    <a:pt x="820" y="716"/>
                    <a:pt x="766" y="770"/>
                    <a:pt x="700" y="770"/>
                  </a:cubicBezTo>
                  <a:cubicBezTo>
                    <a:pt x="633" y="770"/>
                    <a:pt x="580" y="716"/>
                    <a:pt x="580" y="650"/>
                  </a:cubicBezTo>
                  <a:cubicBezTo>
                    <a:pt x="580" y="583"/>
                    <a:pt x="633" y="530"/>
                    <a:pt x="700" y="530"/>
                  </a:cubicBezTo>
                  <a:cubicBezTo>
                    <a:pt x="766" y="530"/>
                    <a:pt x="820" y="583"/>
                    <a:pt x="820" y="65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grpSp>
        <p:nvGrpSpPr>
          <p:cNvPr id="81" name="Arte adipocito"/>
          <p:cNvGrpSpPr/>
          <p:nvPr/>
        </p:nvGrpSpPr>
        <p:grpSpPr>
          <a:xfrm>
            <a:off x="10332720" y="4480560"/>
            <a:ext cx="1463040" cy="1463040"/>
            <a:chOff x="10332720" y="4480560"/>
            <a:chExt cx="1463040" cy="1463040"/>
          </a:xfrm>
        </p:grpSpPr>
        <p:sp>
          <p:nvSpPr>
            <p:cNvPr id="82" name="Forma 81"/>
            <p:cNvSpPr/>
            <p:nvPr/>
          </p:nvSpPr>
          <p:spPr>
            <a:xfrm>
              <a:off x="10332720" y="4480560"/>
              <a:ext cx="1463040" cy="146304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83" name="Gota lipídica"/>
            <p:cNvSpPr/>
            <p:nvPr/>
          </p:nvSpPr>
          <p:spPr>
            <a:xfrm>
              <a:off x="10405872" y="4553712"/>
              <a:ext cx="1316736" cy="1316736"/>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84" name="Forma 83"/>
            <p:cNvSpPr/>
            <p:nvPr/>
          </p:nvSpPr>
          <p:spPr>
            <a:xfrm rot="2400000">
              <a:off x="11386109" y="4568342"/>
              <a:ext cx="321869" cy="175565"/>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5" name="Mitocondria_5"/>
            <p:cNvGrpSpPr/>
            <p:nvPr/>
          </p:nvGrpSpPr>
          <p:grpSpPr>
            <a:xfrm>
              <a:off x="10449763" y="5563210"/>
              <a:ext cx="146304" cy="73152"/>
              <a:chOff x="10449763" y="5563210"/>
              <a:chExt cx="146304" cy="73152"/>
            </a:xfrm>
          </p:grpSpPr>
          <p:sp>
            <p:nvSpPr>
              <p:cNvPr id="86" name="Forma 85"/>
              <p:cNvSpPr/>
              <p:nvPr/>
            </p:nvSpPr>
            <p:spPr>
              <a:xfrm rot="-2400000">
                <a:off x="10449763" y="5563210"/>
                <a:ext cx="146304" cy="7315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87" name="Forma 86"/>
              <p:cNvSpPr/>
              <p:nvPr/>
            </p:nvSpPr>
            <p:spPr>
              <a:xfrm rot="-2400000">
                <a:off x="10460004" y="5573451"/>
                <a:ext cx="125821" cy="52669"/>
              </a:xfrm>
              <a:prstGeom prst="ellipse">
                <a:avLst/>
              </a:prstGeom>
              <a:solidFill>
                <a:srgbClr val="F8D8B4"/>
              </a:solidFill>
              <a:ln w="9525" cap="rnd">
                <a:solidFill>
                  <a:srgbClr val="B2732B"/>
                </a:solidFill>
                <a:round/>
              </a:ln>
            </p:spPr>
          </p:sp>
          <p:sp>
            <p:nvSpPr>
              <p:cNvPr id="88" name="Forma 87"/>
              <p:cNvSpPr/>
              <p:nvPr/>
            </p:nvSpPr>
            <p:spPr>
              <a:xfrm rot="-2400000">
                <a:off x="10460004" y="5573451"/>
                <a:ext cx="125821" cy="5266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89" name="Molécula ins"/>
          <p:cNvSpPr/>
          <p:nvPr/>
        </p:nvSpPr>
        <p:spPr>
          <a:xfrm>
            <a:off x="10881360" y="2926080"/>
            <a:ext cx="502920" cy="5029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90" name="Molécula glc"/>
          <p:cNvSpPr/>
          <p:nvPr/>
        </p:nvSpPr>
        <p:spPr>
          <a:xfrm>
            <a:off x="11247120" y="3474720"/>
            <a:ext cx="502920" cy="50292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91" name="Molécula glc_2"/>
          <p:cNvSpPr/>
          <p:nvPr/>
        </p:nvSpPr>
        <p:spPr>
          <a:xfrm>
            <a:off x="10607040" y="374904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9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olumna alimentación"/>
          <p:cNvGrpSpPr/>
          <p:nvPr/>
        </p:nvGrpSpPr>
        <p:grpSpPr>
          <a:xfrm>
            <a:off x="411480" y="960120"/>
            <a:ext cx="3611880" cy="4434840"/>
            <a:chOff x="411480" y="960120"/>
            <a:chExt cx="3611880" cy="4434840"/>
          </a:xfrm>
        </p:grpSpPr>
        <p:grpSp>
          <p:nvGrpSpPr>
            <p:cNvPr id="5" name="Recuadro ALIMENTACIÓN"/>
            <p:cNvGrpSpPr/>
            <p:nvPr/>
          </p:nvGrpSpPr>
          <p:grpSpPr>
            <a:xfrm>
              <a:off x="411480" y="2743200"/>
              <a:ext cx="3611880" cy="2651760"/>
              <a:chOff x="411480" y="2743200"/>
              <a:chExt cx="3611880" cy="2651760"/>
            </a:xfrm>
          </p:grpSpPr>
          <p:sp>
            <p:nvSpPr>
              <p:cNvPr id="6" name="Forma 5"/>
              <p:cNvSpPr/>
              <p:nvPr/>
            </p:nvSpPr>
            <p:spPr>
              <a:xfrm>
                <a:off x="411480" y="2926080"/>
                <a:ext cx="3611880" cy="2468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Comportamiento </a:t>
                </a:r>
                <a:r>
                  <a:rPr lang="es-AR" sz="1750" b="1" dirty="0">
                    <a:solidFill>
                      <a:srgbClr val="1E1E1E"/>
                    </a:solidFill>
                    <a:latin typeface="Bahnschrift"/>
                    <a:ea typeface="Bahnschrift"/>
                    <a:cs typeface="Bahnschrift"/>
                    <a:sym typeface="Bahnschrift"/>
                  </a:rPr>
                  <a:t>biológico, social y neuroendocrino</a:t>
                </a:r>
                <a:r>
                  <a:rPr lang="es-AR" sz="1750" dirty="0">
                    <a:solidFill>
                      <a:srgbClr val="1E1E1E"/>
                    </a:solidFill>
                    <a:latin typeface="Bahnschrift"/>
                    <a:ea typeface="Bahnschrift"/>
                    <a:cs typeface="Bahnschrift"/>
                    <a:sym typeface="Bahnschrift"/>
                  </a:rPr>
                  <a:t> por el que se seleccionan, ingieren y aportan alimentos.</a:t>
                </a:r>
                <a:endParaRPr lang="es-AR" sz="1750" dirty="0">
                  <a:latin typeface="Bahnschrift"/>
                </a:endParaRPr>
              </a:p>
              <a:p>
                <a:pPr algn="l">
                  <a:spcAft>
                    <a:spcPts val="400"/>
                  </a:spcAft>
                  <a:buNone/>
                </a:pPr>
                <a:r>
                  <a:rPr lang="es-AR" sz="1750" dirty="0">
                    <a:solidFill>
                      <a:srgbClr val="1E1E1E"/>
                    </a:solidFill>
                    <a:latin typeface="Bahnschrift"/>
                    <a:ea typeface="Bahnschrift"/>
                    <a:cs typeface="Bahnschrift"/>
                    <a:sym typeface="Bahnschrift"/>
                  </a:rPr>
                  <a:t>Es voluntaria y está modulada por hambre, saciedad, recompensa y cultura.</a:t>
                </a:r>
                <a:endParaRPr lang="es-AR" sz="1750" dirty="0">
                  <a:latin typeface="Bahnschrift"/>
                </a:endParaRPr>
              </a:p>
            </p:txBody>
          </p:sp>
          <p:sp>
            <p:nvSpPr>
              <p:cNvPr id="7" name="Forma 6"/>
              <p:cNvSpPr/>
              <p:nvPr/>
            </p:nvSpPr>
            <p:spPr>
              <a:xfrm>
                <a:off x="521208" y="2743200"/>
                <a:ext cx="148499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ALIMENTACIÓN</a:t>
                </a:r>
                <a:endParaRPr lang="es-AR" sz="1600" dirty="0">
                  <a:latin typeface="Bahnschrift SemiBold Condensed"/>
                </a:endParaRPr>
              </a:p>
            </p:txBody>
          </p:sp>
        </p:grpSp>
        <p:grpSp>
          <p:nvGrpSpPr>
            <p:cNvPr id="8" name="Ícono persona"/>
            <p:cNvGrpSpPr/>
            <p:nvPr/>
          </p:nvGrpSpPr>
          <p:grpSpPr>
            <a:xfrm>
              <a:off x="1645920" y="960120"/>
              <a:ext cx="1280160" cy="1600200"/>
              <a:chOff x="1645920" y="960120"/>
              <a:chExt cx="1280160" cy="1600200"/>
            </a:xfrm>
          </p:grpSpPr>
          <p:sp>
            <p:nvSpPr>
              <p:cNvPr id="9" name="Forma 8"/>
              <p:cNvSpPr/>
              <p:nvPr/>
            </p:nvSpPr>
            <p:spPr>
              <a:xfrm>
                <a:off x="2029968" y="960120"/>
                <a:ext cx="512064" cy="512064"/>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0" name="Forma 9"/>
              <p:cNvSpPr/>
              <p:nvPr/>
            </p:nvSpPr>
            <p:spPr>
              <a:xfrm>
                <a:off x="1645920" y="1497787"/>
                <a:ext cx="1280160" cy="1062533"/>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1" name="Molécula glc"/>
            <p:cNvSpPr/>
            <p:nvPr/>
          </p:nvSpPr>
          <p:spPr>
            <a:xfrm>
              <a:off x="2788920" y="155448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12" name="Molécula aa"/>
            <p:cNvSpPr/>
            <p:nvPr/>
          </p:nvSpPr>
          <p:spPr>
            <a:xfrm>
              <a:off x="3246120" y="1920240"/>
              <a:ext cx="411480" cy="41148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290" b="1" dirty="0">
                  <a:solidFill>
                    <a:srgbClr val="FFFFFF"/>
                  </a:solidFill>
                  <a:latin typeface="Bahnschrift SemiBold Condensed"/>
                  <a:ea typeface="Bahnschrift SemiBold Condensed"/>
                  <a:cs typeface="Bahnschrift SemiBold Condensed"/>
                  <a:sym typeface="Bahnschrift SemiBold Condensed"/>
                </a:rPr>
                <a:t>AA</a:t>
              </a:r>
              <a:endParaRPr lang="es-AR" sz="1290" dirty="0">
                <a:latin typeface="Bahnschrift SemiBold Condensed"/>
              </a:endParaRPr>
            </a:p>
          </p:txBody>
        </p:sp>
        <p:grpSp>
          <p:nvGrpSpPr>
            <p:cNvPr id="13" name="Ácido graso"/>
            <p:cNvGrpSpPr/>
            <p:nvPr/>
          </p:nvGrpSpPr>
          <p:grpSpPr>
            <a:xfrm>
              <a:off x="2679192" y="2295144"/>
              <a:ext cx="841248" cy="201168"/>
              <a:chOff x="2679192" y="2295144"/>
              <a:chExt cx="841248" cy="201168"/>
            </a:xfrm>
          </p:grpSpPr>
          <p:sp>
            <p:nvSpPr>
              <p:cNvPr id="14" name="Flecha 13_2"/>
              <p:cNvSpPr/>
              <p:nvPr/>
            </p:nvSpPr>
            <p:spPr>
              <a:xfrm>
                <a:off x="2843784" y="2350008"/>
                <a:ext cx="676656" cy="146304"/>
              </a:xfrm>
              <a:custGeom>
                <a:avLst/>
                <a:gdLst/>
                <a:ahLst/>
                <a:cxnLst/>
                <a:rect l="0" t="0" r="r" b="b"/>
                <a:pathLst>
                  <a:path w="740" h="160" fill="none">
                    <a:moveTo>
                      <a:pt x="0" y="0"/>
                    </a:moveTo>
                    <a:lnTo>
                      <a:pt x="92" y="160"/>
                    </a:lnTo>
                    <a:lnTo>
                      <a:pt x="185" y="0"/>
                    </a:lnTo>
                    <a:lnTo>
                      <a:pt x="277" y="160"/>
                    </a:lnTo>
                    <a:lnTo>
                      <a:pt x="370" y="0"/>
                    </a:lnTo>
                    <a:lnTo>
                      <a:pt x="462" y="160"/>
                    </a:lnTo>
                    <a:lnTo>
                      <a:pt x="554" y="0"/>
                    </a:lnTo>
                    <a:lnTo>
                      <a:pt x="647" y="160"/>
                    </a:lnTo>
                    <a:lnTo>
                      <a:pt x="740" y="0"/>
                    </a:lnTo>
                  </a:path>
                </a:pathLst>
              </a:custGeom>
              <a:noFill/>
              <a:ln w="28575" cap="rnd">
                <a:solidFill>
                  <a:srgbClr val="B7950B"/>
                </a:solidFill>
                <a:round/>
              </a:ln>
            </p:spPr>
          </p:sp>
          <p:sp>
            <p:nvSpPr>
              <p:cNvPr id="15" name="Forma 15"/>
              <p:cNvSpPr/>
              <p:nvPr/>
            </p:nvSpPr>
            <p:spPr>
              <a:xfrm>
                <a:off x="2679192" y="22951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grpSp>
        <p:nvGrpSpPr>
          <p:cNvPr id="16" name="Columna nutrición"/>
          <p:cNvGrpSpPr/>
          <p:nvPr/>
        </p:nvGrpSpPr>
        <p:grpSpPr>
          <a:xfrm>
            <a:off x="4343400" y="914400"/>
            <a:ext cx="3611880" cy="4480560"/>
            <a:chOff x="4343400" y="914400"/>
            <a:chExt cx="3611880" cy="4480560"/>
          </a:xfrm>
        </p:grpSpPr>
        <p:grpSp>
          <p:nvGrpSpPr>
            <p:cNvPr id="17" name="Recuadro NUTRICIÓN"/>
            <p:cNvGrpSpPr/>
            <p:nvPr/>
          </p:nvGrpSpPr>
          <p:grpSpPr>
            <a:xfrm>
              <a:off x="4343400" y="2743200"/>
              <a:ext cx="3611880" cy="2651760"/>
              <a:chOff x="4343400" y="2743200"/>
              <a:chExt cx="3611880" cy="2651760"/>
            </a:xfrm>
          </p:grpSpPr>
          <p:sp>
            <p:nvSpPr>
              <p:cNvPr id="18" name="Forma 18"/>
              <p:cNvSpPr/>
              <p:nvPr/>
            </p:nvSpPr>
            <p:spPr>
              <a:xfrm>
                <a:off x="4343400" y="2926080"/>
                <a:ext cx="3611880" cy="24688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Conjunto de procesos que siguen a la ingesta: </a:t>
                </a:r>
                <a:r>
                  <a:rPr lang="es-AR" sz="1750" b="1" dirty="0">
                    <a:solidFill>
                      <a:srgbClr val="1E1E1E"/>
                    </a:solidFill>
                    <a:latin typeface="Bahnschrift"/>
                    <a:ea typeface="Bahnschrift"/>
                    <a:cs typeface="Bahnschrift"/>
                    <a:sym typeface="Bahnschrift"/>
                  </a:rPr>
                  <a:t>digestión, absorción, transporte, incorporación, utilización y eliminación</a:t>
                </a:r>
                <a:r>
                  <a:rPr lang="es-AR" sz="1750" dirty="0">
                    <a:solidFill>
                      <a:srgbClr val="1E1E1E"/>
                    </a:solidFill>
                    <a:latin typeface="Bahnschrift"/>
                    <a:ea typeface="Bahnschrift"/>
                    <a:cs typeface="Bahnschrift"/>
                    <a:sym typeface="Bahnschrift"/>
                  </a:rPr>
                  <a:t> de nutrientes.</a:t>
                </a:r>
                <a:endParaRPr lang="es-AR" sz="1750" dirty="0">
                  <a:latin typeface="Bahnschrift"/>
                </a:endParaRPr>
              </a:p>
              <a:p>
                <a:pPr algn="l">
                  <a:spcAft>
                    <a:spcPts val="400"/>
                  </a:spcAft>
                  <a:buNone/>
                </a:pPr>
                <a:r>
                  <a:rPr lang="es-AR" sz="1750" dirty="0">
                    <a:solidFill>
                      <a:srgbClr val="1E1E1E"/>
                    </a:solidFill>
                    <a:latin typeface="Bahnschrift"/>
                    <a:ea typeface="Bahnschrift"/>
                    <a:cs typeface="Bahnschrift"/>
                    <a:sym typeface="Bahnschrift"/>
                  </a:rPr>
                  <a:t>Es involuntaria.</a:t>
                </a:r>
                <a:endParaRPr lang="es-AR" sz="1750" dirty="0">
                  <a:latin typeface="Bahnschrift"/>
                </a:endParaRPr>
              </a:p>
            </p:txBody>
          </p:sp>
          <p:sp>
            <p:nvSpPr>
              <p:cNvPr id="19" name="Forma 19"/>
              <p:cNvSpPr/>
              <p:nvPr/>
            </p:nvSpPr>
            <p:spPr>
              <a:xfrm>
                <a:off x="4453128" y="2743200"/>
                <a:ext cx="117904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NUTRICIÓN</a:t>
                </a:r>
                <a:endParaRPr lang="es-AR" sz="1600" dirty="0">
                  <a:latin typeface="Bahnschrift SemiBold Condensed"/>
                </a:endParaRPr>
              </a:p>
            </p:txBody>
          </p:sp>
        </p:grpSp>
        <p:grpSp>
          <p:nvGrpSpPr>
            <p:cNvPr id="20" name="Ícono intestino"/>
            <p:cNvGrpSpPr/>
            <p:nvPr/>
          </p:nvGrpSpPr>
          <p:grpSpPr>
            <a:xfrm>
              <a:off x="4663440" y="914400"/>
              <a:ext cx="1783080" cy="1515618"/>
              <a:chOff x="4663440" y="914400"/>
              <a:chExt cx="1783080" cy="1515618"/>
            </a:xfrm>
          </p:grpSpPr>
          <p:sp>
            <p:nvSpPr>
              <p:cNvPr id="21" name="Forma 21"/>
              <p:cNvSpPr/>
              <p:nvPr/>
            </p:nvSpPr>
            <p:spPr>
              <a:xfrm>
                <a:off x="4663440" y="914400"/>
                <a:ext cx="1783080" cy="151561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22" name="Forma 22"/>
              <p:cNvSpPr/>
              <p:nvPr/>
            </p:nvSpPr>
            <p:spPr>
              <a:xfrm>
                <a:off x="4663440" y="914400"/>
                <a:ext cx="1783080" cy="151561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23" name="Forma 23"/>
              <p:cNvSpPr/>
              <p:nvPr/>
            </p:nvSpPr>
            <p:spPr>
              <a:xfrm>
                <a:off x="4663440" y="914400"/>
                <a:ext cx="1783080" cy="151561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24" name="Forma 24"/>
              <p:cNvSpPr/>
              <p:nvPr/>
            </p:nvSpPr>
            <p:spPr>
              <a:xfrm>
                <a:off x="4663440" y="914400"/>
                <a:ext cx="1783080" cy="151561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25" name="Forma 25"/>
              <p:cNvSpPr/>
              <p:nvPr/>
            </p:nvSpPr>
            <p:spPr>
              <a:xfrm>
                <a:off x="4663440" y="914400"/>
                <a:ext cx="1783080" cy="151561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26" name="Ícono vaso"/>
            <p:cNvGrpSpPr/>
            <p:nvPr/>
          </p:nvGrpSpPr>
          <p:grpSpPr>
            <a:xfrm>
              <a:off x="6446520" y="1600200"/>
              <a:ext cx="1371600" cy="411480"/>
              <a:chOff x="6446520" y="1600200"/>
              <a:chExt cx="1371600" cy="411480"/>
            </a:xfrm>
          </p:grpSpPr>
          <p:sp>
            <p:nvSpPr>
              <p:cNvPr id="27" name="Forma 27"/>
              <p:cNvSpPr/>
              <p:nvPr/>
            </p:nvSpPr>
            <p:spPr>
              <a:xfrm>
                <a:off x="6446520" y="1600200"/>
                <a:ext cx="1371600" cy="4114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8" name="Forma 28"/>
              <p:cNvSpPr/>
              <p:nvPr/>
            </p:nvSpPr>
            <p:spPr>
              <a:xfrm>
                <a:off x="6508242" y="1674266"/>
                <a:ext cx="1248156" cy="263347"/>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9" name="Eritrocito"/>
              <p:cNvSpPr/>
              <p:nvPr/>
            </p:nvSpPr>
            <p:spPr>
              <a:xfrm>
                <a:off x="6769281" y="1800573"/>
                <a:ext cx="172822" cy="17282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0" name="Eritrocito_2"/>
              <p:cNvSpPr/>
              <p:nvPr/>
            </p:nvSpPr>
            <p:spPr>
              <a:xfrm>
                <a:off x="7102962" y="1711801"/>
                <a:ext cx="172822" cy="17282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grpSp>
        <p:nvGrpSpPr>
          <p:cNvPr id="31" name="Columna metabolismo"/>
          <p:cNvGrpSpPr/>
          <p:nvPr/>
        </p:nvGrpSpPr>
        <p:grpSpPr>
          <a:xfrm>
            <a:off x="8275320" y="960120"/>
            <a:ext cx="3611880" cy="4434840"/>
            <a:chOff x="8275320" y="960120"/>
            <a:chExt cx="3611880" cy="4434840"/>
          </a:xfrm>
        </p:grpSpPr>
        <p:grpSp>
          <p:nvGrpSpPr>
            <p:cNvPr id="32" name="Recuadro METABOLISMO"/>
            <p:cNvGrpSpPr/>
            <p:nvPr/>
          </p:nvGrpSpPr>
          <p:grpSpPr>
            <a:xfrm>
              <a:off x="8275320" y="2743200"/>
              <a:ext cx="3611880" cy="2651760"/>
              <a:chOff x="8275320" y="2743200"/>
              <a:chExt cx="3611880" cy="2651760"/>
            </a:xfrm>
          </p:grpSpPr>
          <p:sp>
            <p:nvSpPr>
              <p:cNvPr id="33" name="Forma 33"/>
              <p:cNvSpPr/>
              <p:nvPr/>
            </p:nvSpPr>
            <p:spPr>
              <a:xfrm>
                <a:off x="8275320" y="2926080"/>
                <a:ext cx="3611880" cy="24688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Conjunto de </a:t>
                </a:r>
                <a:r>
                  <a:rPr lang="es-AR" sz="1750" b="1" dirty="0">
                    <a:solidFill>
                      <a:srgbClr val="1E1E1E"/>
                    </a:solidFill>
                    <a:latin typeface="Bahnschrift"/>
                    <a:ea typeface="Bahnschrift"/>
                    <a:cs typeface="Bahnschrift"/>
                    <a:sym typeface="Bahnschrift"/>
                  </a:rPr>
                  <a:t>transformaciones químicas intracelulares</a:t>
                </a:r>
                <a:r>
                  <a:rPr lang="es-AR" sz="1750" dirty="0">
                    <a:solidFill>
                      <a:srgbClr val="1E1E1E"/>
                    </a:solidFill>
                    <a:latin typeface="Bahnschrift"/>
                    <a:ea typeface="Bahnschrift"/>
                    <a:cs typeface="Bahnschrift"/>
                    <a:sym typeface="Bahnschrift"/>
                  </a:rPr>
                  <a:t> acopladas a transferencia de </a:t>
                </a:r>
                <a:r>
                  <a:rPr lang="es-AR" sz="1750" b="1" dirty="0">
                    <a:solidFill>
                      <a:srgbClr val="1E1E1E"/>
                    </a:solidFill>
                    <a:latin typeface="Bahnschrift"/>
                    <a:ea typeface="Bahnschrift"/>
                    <a:cs typeface="Bahnschrift"/>
                    <a:sym typeface="Bahnschrift"/>
                  </a:rPr>
                  <a:t>materia, energía e información</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a:spcAft>
                    <a:spcPts val="400"/>
                  </a:spcAft>
                  <a:buNone/>
                </a:pPr>
                <a:r>
                  <a:rPr lang="es-AR" sz="1750" dirty="0">
                    <a:solidFill>
                      <a:srgbClr val="1E1E1E"/>
                    </a:solidFill>
                    <a:latin typeface="Bahnschrift"/>
                    <a:ea typeface="Bahnschrift"/>
                    <a:cs typeface="Bahnschrift"/>
                    <a:sym typeface="Bahnschrift"/>
                  </a:rPr>
                  <a:t>Ocurre en compartimentos: citosol, mitocondria, RE, peroxisoma.</a:t>
                </a:r>
                <a:endParaRPr lang="es-AR" sz="1750" dirty="0">
                  <a:latin typeface="Bahnschrift"/>
                </a:endParaRPr>
              </a:p>
            </p:txBody>
          </p:sp>
          <p:sp>
            <p:nvSpPr>
              <p:cNvPr id="34" name="Forma 34"/>
              <p:cNvSpPr/>
              <p:nvPr/>
            </p:nvSpPr>
            <p:spPr>
              <a:xfrm>
                <a:off x="8385048" y="2743200"/>
                <a:ext cx="142672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METABOLISMO</a:t>
                </a:r>
                <a:endParaRPr lang="es-AR" sz="1600" dirty="0">
                  <a:latin typeface="Bahnschrift SemiBold Condensed"/>
                </a:endParaRPr>
              </a:p>
            </p:txBody>
          </p:sp>
        </p:grpSp>
        <p:grpSp>
          <p:nvGrpSpPr>
            <p:cNvPr id="35" name="Ícono hepatocito"/>
            <p:cNvGrpSpPr/>
            <p:nvPr/>
          </p:nvGrpSpPr>
          <p:grpSpPr>
            <a:xfrm>
              <a:off x="8503920" y="960120"/>
              <a:ext cx="2057400" cy="1687068"/>
              <a:chOff x="8503920" y="960120"/>
              <a:chExt cx="2057400" cy="1687068"/>
            </a:xfrm>
          </p:grpSpPr>
          <p:sp>
            <p:nvSpPr>
              <p:cNvPr id="36" name="Forma 36"/>
              <p:cNvSpPr/>
              <p:nvPr/>
            </p:nvSpPr>
            <p:spPr>
              <a:xfrm>
                <a:off x="8503920" y="960120"/>
                <a:ext cx="2057400" cy="1687068"/>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nvGrpSpPr>
              <p:cNvPr id="37" name="Núcleo hepatocito"/>
              <p:cNvGrpSpPr/>
              <p:nvPr/>
            </p:nvGrpSpPr>
            <p:grpSpPr>
              <a:xfrm>
                <a:off x="9326880" y="1567464"/>
                <a:ext cx="452628" cy="407365"/>
                <a:chOff x="9326880" y="1567464"/>
                <a:chExt cx="452628" cy="407365"/>
              </a:xfrm>
            </p:grpSpPr>
            <p:sp>
              <p:nvSpPr>
                <p:cNvPr id="38" name="Forma 38"/>
                <p:cNvSpPr/>
                <p:nvPr/>
              </p:nvSpPr>
              <p:spPr>
                <a:xfrm>
                  <a:off x="9326880" y="1567464"/>
                  <a:ext cx="452628" cy="407365"/>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39" name="Forma 39"/>
                <p:cNvSpPr/>
                <p:nvPr/>
              </p:nvSpPr>
              <p:spPr>
                <a:xfrm>
                  <a:off x="9562247" y="1703253"/>
                  <a:ext cx="99578" cy="90526"/>
                </a:xfrm>
                <a:prstGeom prst="ellipse">
                  <a:avLst/>
                </a:prstGeom>
                <a:solidFill>
                  <a:srgbClr val="513B6B"/>
                </a:solidFill>
                <a:ln>
                  <a:noFill/>
                </a:ln>
              </p:spPr>
            </p:sp>
          </p:grpSp>
          <p:grpSp>
            <p:nvGrpSpPr>
              <p:cNvPr id="40" name="Retículo endoplasmático"/>
              <p:cNvGrpSpPr/>
              <p:nvPr/>
            </p:nvGrpSpPr>
            <p:grpSpPr>
              <a:xfrm>
                <a:off x="8750808" y="1203283"/>
                <a:ext cx="493776" cy="358783"/>
                <a:chOff x="8750808" y="1203283"/>
                <a:chExt cx="493776" cy="358783"/>
              </a:xfrm>
            </p:grpSpPr>
            <p:sp>
              <p:nvSpPr>
                <p:cNvPr id="41" name="Forma 41"/>
                <p:cNvSpPr/>
                <p:nvPr/>
              </p:nvSpPr>
              <p:spPr>
                <a:xfrm>
                  <a:off x="8750808" y="1213180"/>
                  <a:ext cx="493776" cy="92789"/>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42" name="Forma 42"/>
                <p:cNvSpPr/>
                <p:nvPr/>
              </p:nvSpPr>
              <p:spPr>
                <a:xfrm>
                  <a:off x="8750808" y="1203283"/>
                  <a:ext cx="493776" cy="11134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43" name="Forma 43"/>
                <p:cNvSpPr/>
                <p:nvPr/>
              </p:nvSpPr>
              <p:spPr>
                <a:xfrm>
                  <a:off x="8750808" y="1336899"/>
                  <a:ext cx="493776" cy="92789"/>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44" name="Forma 44"/>
                <p:cNvSpPr/>
                <p:nvPr/>
              </p:nvSpPr>
              <p:spPr>
                <a:xfrm>
                  <a:off x="8750808" y="1327001"/>
                  <a:ext cx="493776" cy="11134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45" name="Forma 45"/>
                <p:cNvSpPr/>
                <p:nvPr/>
              </p:nvSpPr>
              <p:spPr>
                <a:xfrm>
                  <a:off x="8750808" y="1460617"/>
                  <a:ext cx="493776" cy="92789"/>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46" name="Forma 46"/>
                <p:cNvSpPr/>
                <p:nvPr/>
              </p:nvSpPr>
              <p:spPr>
                <a:xfrm>
                  <a:off x="8750808" y="1450719"/>
                  <a:ext cx="493776" cy="11134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nvGrpSpPr>
              <p:cNvPr id="47" name="Mitocondria"/>
              <p:cNvGrpSpPr/>
              <p:nvPr/>
            </p:nvGrpSpPr>
            <p:grpSpPr>
              <a:xfrm>
                <a:off x="9861804" y="1297534"/>
                <a:ext cx="329184" cy="164592"/>
                <a:chOff x="9861804" y="1297534"/>
                <a:chExt cx="329184" cy="164592"/>
              </a:xfrm>
            </p:grpSpPr>
            <p:sp>
              <p:nvSpPr>
                <p:cNvPr id="48" name="Forma 48"/>
                <p:cNvSpPr/>
                <p:nvPr/>
              </p:nvSpPr>
              <p:spPr>
                <a:xfrm>
                  <a:off x="9861804" y="1297534"/>
                  <a:ext cx="329184" cy="16459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9" name="Forma 49"/>
                <p:cNvSpPr/>
                <p:nvPr/>
              </p:nvSpPr>
              <p:spPr>
                <a:xfrm>
                  <a:off x="9884847" y="1320576"/>
                  <a:ext cx="283098" cy="118506"/>
                </a:xfrm>
                <a:prstGeom prst="ellipse">
                  <a:avLst/>
                </a:prstGeom>
                <a:solidFill>
                  <a:srgbClr val="F8D8B4"/>
                </a:solidFill>
                <a:ln w="9525" cap="rnd">
                  <a:solidFill>
                    <a:srgbClr val="B2732B"/>
                  </a:solidFill>
                  <a:round/>
                </a:ln>
              </p:spPr>
            </p:sp>
            <p:sp>
              <p:nvSpPr>
                <p:cNvPr id="50" name="Forma 50"/>
                <p:cNvSpPr/>
                <p:nvPr/>
              </p:nvSpPr>
              <p:spPr>
                <a:xfrm>
                  <a:off x="9884847" y="1320576"/>
                  <a:ext cx="283098" cy="11850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51" name="Mitocondria_2"/>
              <p:cNvGrpSpPr/>
              <p:nvPr/>
            </p:nvGrpSpPr>
            <p:grpSpPr>
              <a:xfrm>
                <a:off x="9944100" y="2006102"/>
                <a:ext cx="329184" cy="164592"/>
                <a:chOff x="9944100" y="2006102"/>
                <a:chExt cx="329184" cy="164592"/>
              </a:xfrm>
            </p:grpSpPr>
            <p:sp>
              <p:nvSpPr>
                <p:cNvPr id="52" name="Forma 52"/>
                <p:cNvSpPr/>
                <p:nvPr/>
              </p:nvSpPr>
              <p:spPr>
                <a:xfrm rot="1500000">
                  <a:off x="9944100" y="2006102"/>
                  <a:ext cx="329184" cy="16459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3" name="Forma 53"/>
                <p:cNvSpPr/>
                <p:nvPr/>
              </p:nvSpPr>
              <p:spPr>
                <a:xfrm rot="1500000">
                  <a:off x="9967143" y="2029145"/>
                  <a:ext cx="283098" cy="118506"/>
                </a:xfrm>
                <a:prstGeom prst="ellipse">
                  <a:avLst/>
                </a:prstGeom>
                <a:solidFill>
                  <a:srgbClr val="F8D8B4"/>
                </a:solidFill>
                <a:ln w="9525" cap="rnd">
                  <a:solidFill>
                    <a:srgbClr val="B2732B"/>
                  </a:solidFill>
                  <a:round/>
                </a:ln>
              </p:spPr>
            </p:sp>
            <p:sp>
              <p:nvSpPr>
                <p:cNvPr id="54" name="Forma 54"/>
                <p:cNvSpPr/>
                <p:nvPr/>
              </p:nvSpPr>
              <p:spPr>
                <a:xfrm rot="1500000">
                  <a:off x="9967143" y="2029145"/>
                  <a:ext cx="283098" cy="11850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55" name="Mitocondria_3"/>
              <p:cNvGrpSpPr/>
              <p:nvPr/>
            </p:nvGrpSpPr>
            <p:grpSpPr>
              <a:xfrm>
                <a:off x="8915400" y="2006102"/>
                <a:ext cx="329184" cy="164592"/>
                <a:chOff x="8915400" y="2006102"/>
                <a:chExt cx="329184" cy="164592"/>
              </a:xfrm>
            </p:grpSpPr>
            <p:sp>
              <p:nvSpPr>
                <p:cNvPr id="56" name="Forma 56"/>
                <p:cNvSpPr/>
                <p:nvPr/>
              </p:nvSpPr>
              <p:spPr>
                <a:xfrm rot="-1200000">
                  <a:off x="8915400" y="2006102"/>
                  <a:ext cx="329184" cy="16459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7" name="Forma 57"/>
                <p:cNvSpPr/>
                <p:nvPr/>
              </p:nvSpPr>
              <p:spPr>
                <a:xfrm rot="-1200000">
                  <a:off x="8938443" y="2029145"/>
                  <a:ext cx="283098" cy="118506"/>
                </a:xfrm>
                <a:prstGeom prst="ellipse">
                  <a:avLst/>
                </a:prstGeom>
                <a:solidFill>
                  <a:srgbClr val="F8D8B4"/>
                </a:solidFill>
                <a:ln w="9525" cap="rnd">
                  <a:solidFill>
                    <a:srgbClr val="B2732B"/>
                  </a:solidFill>
                  <a:round/>
                </a:ln>
              </p:spPr>
            </p:sp>
            <p:sp>
              <p:nvSpPr>
                <p:cNvPr id="58" name="Forma 58"/>
                <p:cNvSpPr/>
                <p:nvPr/>
              </p:nvSpPr>
              <p:spPr>
                <a:xfrm rot="-1200000">
                  <a:off x="8938443" y="2029145"/>
                  <a:ext cx="283098" cy="11850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59" name="Mitocondria_4"/>
              <p:cNvGrpSpPr/>
              <p:nvPr/>
            </p:nvGrpSpPr>
            <p:grpSpPr>
              <a:xfrm>
                <a:off x="9429750" y="2225421"/>
                <a:ext cx="329184" cy="164592"/>
                <a:chOff x="9429750" y="2225421"/>
                <a:chExt cx="329184" cy="164592"/>
              </a:xfrm>
            </p:grpSpPr>
            <p:sp>
              <p:nvSpPr>
                <p:cNvPr id="60" name="Forma 60"/>
                <p:cNvSpPr/>
                <p:nvPr/>
              </p:nvSpPr>
              <p:spPr>
                <a:xfrm rot="600000">
                  <a:off x="9429750" y="2225421"/>
                  <a:ext cx="329184" cy="16459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1" name="Forma 61"/>
                <p:cNvSpPr/>
                <p:nvPr/>
              </p:nvSpPr>
              <p:spPr>
                <a:xfrm rot="600000">
                  <a:off x="9452793" y="2248464"/>
                  <a:ext cx="283098" cy="118506"/>
                </a:xfrm>
                <a:prstGeom prst="ellipse">
                  <a:avLst/>
                </a:prstGeom>
                <a:solidFill>
                  <a:srgbClr val="F8D8B4"/>
                </a:solidFill>
                <a:ln w="9525" cap="rnd">
                  <a:solidFill>
                    <a:srgbClr val="B2732B"/>
                  </a:solidFill>
                  <a:round/>
                </a:ln>
              </p:spPr>
            </p:sp>
            <p:sp>
              <p:nvSpPr>
                <p:cNvPr id="62" name="Forma 62"/>
                <p:cNvSpPr/>
                <p:nvPr/>
              </p:nvSpPr>
              <p:spPr>
                <a:xfrm rot="600000">
                  <a:off x="9452793" y="2248464"/>
                  <a:ext cx="283098" cy="11850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63" name="Glucógeno"/>
              <p:cNvSpPr/>
              <p:nvPr/>
            </p:nvSpPr>
            <p:spPr>
              <a:xfrm>
                <a:off x="9779508" y="1634947"/>
                <a:ext cx="452628" cy="303672"/>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path>
                </a:pathLst>
              </a:custGeom>
              <a:solidFill>
                <a:srgbClr val="B03A6E"/>
              </a:solidFill>
              <a:ln>
                <a:noFill/>
              </a:ln>
            </p:spPr>
          </p:sp>
          <p:sp>
            <p:nvSpPr>
              <p:cNvPr id="64" name="Gotas lipídicas"/>
              <p:cNvSpPr/>
              <p:nvPr/>
            </p:nvSpPr>
            <p:spPr>
              <a:xfrm>
                <a:off x="8812530" y="1601206"/>
                <a:ext cx="411480" cy="337414"/>
              </a:xfrm>
              <a:custGeom>
                <a:avLst/>
                <a:gdLst/>
                <a:ahLst/>
                <a:cxnLst/>
                <a:rect l="0" t="0" r="r" b="b"/>
                <a:pathLst>
                  <a:path w="1000" h="1000">
                    <a:moveTo>
                      <a:pt x="460" y="300"/>
                    </a:moveTo>
                    <a:cubicBezTo>
                      <a:pt x="460" y="388"/>
                      <a:pt x="388" y="460"/>
                      <a:pt x="300" y="460"/>
                    </a:cubicBezTo>
                    <a:cubicBezTo>
                      <a:pt x="211" y="460"/>
                      <a:pt x="140" y="388"/>
                      <a:pt x="140" y="300"/>
                    </a:cubicBezTo>
                    <a:cubicBezTo>
                      <a:pt x="140" y="211"/>
                      <a:pt x="211" y="140"/>
                      <a:pt x="300" y="140"/>
                    </a:cubicBezTo>
                    <a:cubicBezTo>
                      <a:pt x="388" y="140"/>
                      <a:pt x="460" y="211"/>
                      <a:pt x="460" y="300"/>
                    </a:cubicBezTo>
                    <a:close/>
                    <a:moveTo>
                      <a:pt x="820" y="650"/>
                    </a:moveTo>
                    <a:cubicBezTo>
                      <a:pt x="820" y="716"/>
                      <a:pt x="766" y="770"/>
                      <a:pt x="700" y="770"/>
                    </a:cubicBezTo>
                    <a:cubicBezTo>
                      <a:pt x="633" y="770"/>
                      <a:pt x="580" y="716"/>
                      <a:pt x="580" y="650"/>
                    </a:cubicBezTo>
                    <a:cubicBezTo>
                      <a:pt x="580" y="583"/>
                      <a:pt x="633" y="530"/>
                      <a:pt x="700" y="530"/>
                    </a:cubicBezTo>
                    <a:cubicBezTo>
                      <a:pt x="766" y="530"/>
                      <a:pt x="820" y="583"/>
                      <a:pt x="820" y="65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grpSp>
          <p:nvGrpSpPr>
            <p:cNvPr id="65" name="Ícono mitocondria"/>
            <p:cNvGrpSpPr/>
            <p:nvPr/>
          </p:nvGrpSpPr>
          <p:grpSpPr>
            <a:xfrm>
              <a:off x="10698480" y="1417320"/>
              <a:ext cx="1005840" cy="502920"/>
              <a:chOff x="10698480" y="1417320"/>
              <a:chExt cx="1005840" cy="502920"/>
            </a:xfrm>
          </p:grpSpPr>
          <p:sp>
            <p:nvSpPr>
              <p:cNvPr id="66" name="Forma 66"/>
              <p:cNvSpPr/>
              <p:nvPr/>
            </p:nvSpPr>
            <p:spPr>
              <a:xfrm>
                <a:off x="10698480" y="1417320"/>
                <a:ext cx="1005840" cy="50292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7" name="Forma 67"/>
              <p:cNvSpPr/>
              <p:nvPr/>
            </p:nvSpPr>
            <p:spPr>
              <a:xfrm>
                <a:off x="10768889" y="1487729"/>
                <a:ext cx="865022" cy="362102"/>
              </a:xfrm>
              <a:prstGeom prst="ellipse">
                <a:avLst/>
              </a:prstGeom>
              <a:solidFill>
                <a:srgbClr val="F8D8B4"/>
              </a:solidFill>
              <a:ln w="9525" cap="rnd">
                <a:solidFill>
                  <a:srgbClr val="B2732B"/>
                </a:solidFill>
                <a:round/>
              </a:ln>
            </p:spPr>
          </p:sp>
          <p:sp>
            <p:nvSpPr>
              <p:cNvPr id="68" name="Forma 68"/>
              <p:cNvSpPr/>
              <p:nvPr/>
            </p:nvSpPr>
            <p:spPr>
              <a:xfrm>
                <a:off x="10768889" y="1487729"/>
                <a:ext cx="865022" cy="36210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69" name="Flecha 69_2"/>
          <p:cNvSpPr/>
          <p:nvPr/>
        </p:nvSpPr>
        <p:spPr>
          <a:xfrm>
            <a:off x="4041648" y="4069080"/>
            <a:ext cx="283464" cy="9144"/>
          </a:xfrm>
          <a:custGeom>
            <a:avLst/>
            <a:gdLst/>
            <a:ahLst/>
            <a:cxnLst/>
            <a:rect l="0" t="0" r="r" b="b"/>
            <a:pathLst>
              <a:path w="310" h="10" fill="none">
                <a:moveTo>
                  <a:pt x="0" y="0"/>
                </a:moveTo>
                <a:lnTo>
                  <a:pt x="310" y="0"/>
                </a:lnTo>
              </a:path>
            </a:pathLst>
          </a:custGeom>
          <a:noFill/>
          <a:ln w="50800" cap="rnd">
            <a:solidFill>
              <a:srgbClr val="2563B0"/>
            </a:solidFill>
            <a:round/>
            <a:tailEnd type="triangle" w="med" len="med"/>
          </a:ln>
        </p:spPr>
      </p:sp>
      <p:sp>
        <p:nvSpPr>
          <p:cNvPr id="70" name="Flecha 71_2"/>
          <p:cNvSpPr/>
          <p:nvPr/>
        </p:nvSpPr>
        <p:spPr>
          <a:xfrm>
            <a:off x="7973568" y="4069080"/>
            <a:ext cx="283464" cy="9144"/>
          </a:xfrm>
          <a:custGeom>
            <a:avLst/>
            <a:gdLst/>
            <a:ahLst/>
            <a:cxnLst/>
            <a:rect l="0" t="0" r="r" b="b"/>
            <a:pathLst>
              <a:path w="309" h="10" fill="none">
                <a:moveTo>
                  <a:pt x="0" y="0"/>
                </a:moveTo>
                <a:lnTo>
                  <a:pt x="309" y="0"/>
                </a:lnTo>
              </a:path>
            </a:pathLst>
          </a:custGeom>
          <a:noFill/>
          <a:ln w="50800" cap="rnd">
            <a:solidFill>
              <a:srgbClr val="2563B0"/>
            </a:solidFill>
            <a:round/>
            <a:tailEnd type="triangle" w="med" len="med"/>
          </a:ln>
        </p:spPr>
      </p:sp>
      <p:sp>
        <p:nvSpPr>
          <p:cNvPr id="71" name="Perla"/>
          <p:cNvSpPr/>
          <p:nvPr/>
        </p:nvSpPr>
        <p:spPr>
          <a:xfrm>
            <a:off x="411480" y="5623560"/>
            <a:ext cx="11338560" cy="8686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«Comer no es solo introducir calorías: es cambiar el modo de operación de hígado, músculo, adipocito, intestino, riñón y cerebro».</a:t>
            </a:r>
            <a:endParaRPr lang="es-AR" sz="18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24714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 · ALIMENTACIÓN, NUTRICIÓN Y METABOLISMO</a:t>
            </a:r>
            <a:endParaRPr lang="es-AR" sz="2600" dirty="0">
              <a:latin typeface="Bahnschrift SemiBold Condensed"/>
            </a:endParaRPr>
          </a:p>
        </p:txBody>
      </p:sp>
      <p:sp>
        <p:nvSpPr>
          <p:cNvPr id="7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69"/>
                                        </p:tgtEl>
                                        <p:attrNameLst>
                                          <p:attrName>style.visibility</p:attrName>
                                        </p:attrNameLst>
                                      </p:cBhvr>
                                      <p:to>
                                        <p:strVal val="visible"/>
                                      </p:to>
                                    </p:set>
                                    <p:animEffect transition="in" filter="wipe(left)">
                                      <p:cBhvr>
                                        <p:cTn id="10" dur="600"/>
                                        <p:tgtEl>
                                          <p:spTgt spid="69"/>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left)">
                                      <p:cBhvr>
                                        <p:cTn id="19" dur="600"/>
                                        <p:tgtEl>
                                          <p:spTgt spid="70"/>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500"/>
                                        <p:tgtEl>
                                          <p:spTgt spid="31"/>
                                        </p:tgtEl>
                                      </p:cBhvr>
                                    </p:animEffect>
                                  </p:childTnLst>
                                </p:cTn>
                              </p:par>
                            </p:childTnLst>
                          </p:cTn>
                        </p:par>
                      </p:childTnLst>
                    </p:cTn>
                  </p:par>
                  <p:par>
                    <p:cTn id="32" fill="hold">
                      <p:stCondLst>
                        <p:cond delay="indefinite"/>
                      </p:stCondLst>
                      <p:childTnLst>
                        <p:par>
                          <p:cTn id="31"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71"/>
                                        </p:tgtEl>
                                        <p:attrNameLst>
                                          <p:attrName>style.visibility</p:attrName>
                                        </p:attrNameLst>
                                      </p:cBhvr>
                                      <p:to>
                                        <p:strVal val="visible"/>
                                      </p:to>
                                    </p:set>
                                    <p:anim calcmode="lin" valueType="num">
                                      <p:cBhvr>
                                        <p:cTn id="28" dur="500" fill="hold"/>
                                        <p:tgtEl>
                                          <p:spTgt spid="71"/>
                                        </p:tgtEl>
                                        <p:attrNameLst>
                                          <p:attrName>ppt_w</p:attrName>
                                        </p:attrNameLst>
                                      </p:cBhvr>
                                      <p:tavLst>
                                        <p:tav tm="0">
                                          <p:val>
                                            <p:fltVal val="0"/>
                                          </p:val>
                                        </p:tav>
                                        <p:tav tm="100000">
                                          <p:val>
                                            <p:strVal val="#ppt_w"/>
                                          </p:val>
                                        </p:tav>
                                      </p:tavLst>
                                    </p:anim>
                                    <p:anim calcmode="lin" valueType="num">
                                      <p:cBhvr>
                                        <p:cTn id="29" dur="500" fill="hold"/>
                                        <p:tgtEl>
                                          <p:spTgt spid="71"/>
                                        </p:tgtEl>
                                        <p:attrNameLst>
                                          <p:attrName>ppt_h</p:attrName>
                                        </p:attrNameLst>
                                      </p:cBhvr>
                                      <p:tavLst>
                                        <p:tav tm="0">
                                          <p:val>
                                            <p:fltVal val="0"/>
                                          </p:val>
                                        </p:tav>
                                        <p:tav tm="100000">
                                          <p:val>
                                            <p:strVal val="#ppt_h"/>
                                          </p:val>
                                        </p:tav>
                                      </p:tavLst>
                                    </p:anim>
                                    <p:animEffect transition="in" filter="fade">
                                      <p:cBhvr>
                                        <p:cTn id="30"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0" grpId="0" animBg="1"/>
      <p:bldP spid="71" grpId="0" animBg="1"/>
    </p:bldLst>
  </p:timing>
</p:sld>
</file>

<file path=ppt/slides/slide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Aporte energía química"/>
          <p:cNvGrpSpPr/>
          <p:nvPr/>
        </p:nvGrpSpPr>
        <p:grpSpPr>
          <a:xfrm>
            <a:off x="411480" y="1051560"/>
            <a:ext cx="4754880" cy="1188720"/>
            <a:chOff x="411480" y="1051560"/>
            <a:chExt cx="4754880" cy="1188720"/>
          </a:xfrm>
        </p:grpSpPr>
        <p:grpSp>
          <p:nvGrpSpPr>
            <p:cNvPr id="5" name="Recuadro ENERGÍA QUÍMICA"/>
            <p:cNvGrpSpPr/>
            <p:nvPr/>
          </p:nvGrpSpPr>
          <p:grpSpPr>
            <a:xfrm>
              <a:off x="411480" y="1051560"/>
              <a:ext cx="4754880" cy="1188720"/>
              <a:chOff x="411480" y="1051560"/>
              <a:chExt cx="4754880" cy="1188720"/>
            </a:xfrm>
          </p:grpSpPr>
          <p:sp>
            <p:nvSpPr>
              <p:cNvPr id="6" name="Forma 5"/>
              <p:cNvSpPr/>
              <p:nvPr/>
            </p:nvSpPr>
            <p:spPr>
              <a:xfrm>
                <a:off x="411480" y="1234440"/>
                <a:ext cx="4754880" cy="10058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Glucosa, lípidos y aminoácidos oxidables a CO</a:t>
                </a:r>
                <a:r>
                  <a:rPr lang="es-AR" sz="1750" baseline="-25000" dirty="0">
                    <a:solidFill>
                      <a:srgbClr val="1E1E1E"/>
                    </a:solidFill>
                    <a:latin typeface="Bahnschrift"/>
                    <a:ea typeface="Bahnschrift"/>
                    <a:cs typeface="Bahnschrift"/>
                    <a:sym typeface="Bahnschrift"/>
                  </a:rPr>
                  <a:t>2</a:t>
                </a:r>
                <a:r>
                  <a:rPr lang="es-AR" sz="1750" dirty="0">
                    <a:solidFill>
                      <a:srgbClr val="1E1E1E"/>
                    </a:solidFill>
                    <a:latin typeface="Bahnschrift"/>
                    <a:ea typeface="Bahnschrift"/>
                    <a:cs typeface="Bahnschrift"/>
                    <a:sym typeface="Bahnschrift"/>
                  </a:rPr>
                  <a:t> con generación de ATP.</a:t>
                </a:r>
                <a:endParaRPr lang="es-AR" sz="1750" dirty="0">
                  <a:latin typeface="Bahnschrift"/>
                </a:endParaRPr>
              </a:p>
            </p:txBody>
          </p:sp>
          <p:sp>
            <p:nvSpPr>
              <p:cNvPr id="7" name="Forma 6"/>
              <p:cNvSpPr/>
              <p:nvPr/>
            </p:nvSpPr>
            <p:spPr>
              <a:xfrm>
                <a:off x="521208" y="1051560"/>
                <a:ext cx="168632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ENERGÍA QUÍMICA</a:t>
                </a:r>
                <a:endParaRPr lang="es-AR" sz="1600" dirty="0">
                  <a:latin typeface="Bahnschrift SemiBold Condensed"/>
                </a:endParaRPr>
              </a:p>
            </p:txBody>
          </p:sp>
        </p:grpSp>
        <p:sp>
          <p:nvSpPr>
            <p:cNvPr id="8" name="Molécula glc"/>
            <p:cNvSpPr/>
            <p:nvPr/>
          </p:nvSpPr>
          <p:spPr>
            <a:xfrm>
              <a:off x="4572000" y="155448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grpSp>
      <p:grpSp>
        <p:nvGrpSpPr>
          <p:cNvPr id="9" name="Aporte material estructural"/>
          <p:cNvGrpSpPr/>
          <p:nvPr/>
        </p:nvGrpSpPr>
        <p:grpSpPr>
          <a:xfrm>
            <a:off x="411480" y="2423160"/>
            <a:ext cx="4754880" cy="1188720"/>
            <a:chOff x="411480" y="2423160"/>
            <a:chExt cx="4754880" cy="1188720"/>
          </a:xfrm>
        </p:grpSpPr>
        <p:grpSp>
          <p:nvGrpSpPr>
            <p:cNvPr id="10" name="Recuadro MATERIAL ESTRUCTURAL"/>
            <p:cNvGrpSpPr/>
            <p:nvPr/>
          </p:nvGrpSpPr>
          <p:grpSpPr>
            <a:xfrm>
              <a:off x="411480" y="2423160"/>
              <a:ext cx="4754880" cy="1188720"/>
              <a:chOff x="411480" y="2423160"/>
              <a:chExt cx="4754880" cy="1188720"/>
            </a:xfrm>
          </p:grpSpPr>
          <p:sp>
            <p:nvSpPr>
              <p:cNvPr id="11" name="Forma 10"/>
              <p:cNvSpPr/>
              <p:nvPr/>
            </p:nvSpPr>
            <p:spPr>
              <a:xfrm>
                <a:off x="411480" y="2606040"/>
                <a:ext cx="4754880" cy="1005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Aminoácidos esenciales, ácidos grasos esenciales, minerales y vitaminas.</a:t>
                </a:r>
                <a:endParaRPr lang="es-AR" sz="1750" dirty="0">
                  <a:latin typeface="Bahnschrift"/>
                </a:endParaRPr>
              </a:p>
            </p:txBody>
          </p:sp>
          <p:sp>
            <p:nvSpPr>
              <p:cNvPr id="12" name="Forma 11"/>
              <p:cNvSpPr/>
              <p:nvPr/>
            </p:nvSpPr>
            <p:spPr>
              <a:xfrm>
                <a:off x="521208" y="2423160"/>
                <a:ext cx="228464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MATERIAL ESTRUCTURAL</a:t>
                </a:r>
                <a:endParaRPr lang="es-AR" sz="1600" dirty="0">
                  <a:latin typeface="Bahnschrift SemiBold Condensed"/>
                </a:endParaRPr>
              </a:p>
            </p:txBody>
          </p:sp>
        </p:grpSp>
        <p:sp>
          <p:nvSpPr>
            <p:cNvPr id="13" name="Molécula aa"/>
            <p:cNvSpPr/>
            <p:nvPr/>
          </p:nvSpPr>
          <p:spPr>
            <a:xfrm>
              <a:off x="4572000" y="292608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grpSp>
      <p:grpSp>
        <p:nvGrpSpPr>
          <p:cNvPr id="14" name="Aporte señales"/>
          <p:cNvGrpSpPr/>
          <p:nvPr/>
        </p:nvGrpSpPr>
        <p:grpSpPr>
          <a:xfrm>
            <a:off x="411480" y="3794760"/>
            <a:ext cx="4754880" cy="1188720"/>
            <a:chOff x="411480" y="3794760"/>
            <a:chExt cx="4754880" cy="1188720"/>
          </a:xfrm>
        </p:grpSpPr>
        <p:grpSp>
          <p:nvGrpSpPr>
            <p:cNvPr id="15" name="Recuadro SEÑALES"/>
            <p:cNvGrpSpPr/>
            <p:nvPr/>
          </p:nvGrpSpPr>
          <p:grpSpPr>
            <a:xfrm>
              <a:off x="411480" y="3794760"/>
              <a:ext cx="4754880" cy="1188720"/>
              <a:chOff x="411480" y="3794760"/>
              <a:chExt cx="4754880" cy="1188720"/>
            </a:xfrm>
          </p:grpSpPr>
          <p:sp>
            <p:nvSpPr>
              <p:cNvPr id="16" name="Forma 15"/>
              <p:cNvSpPr/>
              <p:nvPr/>
            </p:nvSpPr>
            <p:spPr>
              <a:xfrm>
                <a:off x="411480" y="3977640"/>
                <a:ext cx="4754880" cy="10058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Nutrientes, incretinas, cambios vagales y hormonas que reprograman los tejidos.</a:t>
                </a:r>
                <a:endParaRPr lang="es-AR" sz="1750" dirty="0">
                  <a:latin typeface="Bahnschrift"/>
                </a:endParaRPr>
              </a:p>
            </p:txBody>
          </p:sp>
          <p:sp>
            <p:nvSpPr>
              <p:cNvPr id="17" name="Forma 16"/>
              <p:cNvSpPr/>
              <p:nvPr/>
            </p:nvSpPr>
            <p:spPr>
              <a:xfrm>
                <a:off x="521208" y="3794760"/>
                <a:ext cx="103712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SEÑALES</a:t>
                </a:r>
                <a:endParaRPr lang="es-AR" sz="1600" dirty="0">
                  <a:latin typeface="Bahnschrift SemiBold Condensed"/>
                </a:endParaRPr>
              </a:p>
            </p:txBody>
          </p:sp>
        </p:grpSp>
        <p:sp>
          <p:nvSpPr>
            <p:cNvPr id="18" name="Molécula ins"/>
            <p:cNvSpPr/>
            <p:nvPr/>
          </p:nvSpPr>
          <p:spPr>
            <a:xfrm>
              <a:off x="4572000" y="4297680"/>
              <a:ext cx="457200" cy="45720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grpSp>
      <p:grpSp>
        <p:nvGrpSpPr>
          <p:cNvPr id="19" name="Gráfico aporte vs ATP"/>
          <p:cNvGrpSpPr/>
          <p:nvPr/>
        </p:nvGrpSpPr>
        <p:grpSpPr>
          <a:xfrm>
            <a:off x="5577840" y="1051560"/>
            <a:ext cx="6217920" cy="3794760"/>
            <a:chOff x="5577840" y="1051560"/>
            <a:chExt cx="6217920" cy="3794760"/>
          </a:xfrm>
        </p:grpSpPr>
        <p:sp>
          <p:nvSpPr>
            <p:cNvPr id="20" name="Forma 19"/>
            <p:cNvSpPr/>
            <p:nvPr/>
          </p:nvSpPr>
          <p:spPr>
            <a:xfrm>
              <a:off x="5577840" y="1051560"/>
              <a:ext cx="6217920" cy="3794760"/>
            </a:xfrm>
            <a:prstGeom prst="rect">
              <a:avLst/>
            </a:prstGeom>
            <a:solidFill>
              <a:srgbClr val="FFFFFF">
                <a:alpha val="55000"/>
              </a:srgbClr>
            </a:solidFill>
            <a:ln w="15875" cap="rnd">
              <a:solidFill>
                <a:srgbClr val="1E1E1E"/>
              </a:solidFill>
              <a:round/>
            </a:ln>
            <a:effectLst>
              <a:outerShdw blurRad="63500" dist="38100" dir="2700000" algn="tl" rotWithShape="0">
                <a:srgbClr val="000000">
                  <a:alpha val="32000"/>
                </a:srgbClr>
              </a:outerShdw>
            </a:effectLst>
          </p:spPr>
        </p:sp>
        <p:sp>
          <p:nvSpPr>
            <p:cNvPr id="21" name="Forma 20"/>
            <p:cNvSpPr txBox="1"/>
            <p:nvPr/>
          </p:nvSpPr>
          <p:spPr>
            <a:xfrm>
              <a:off x="5715000" y="1097280"/>
              <a:ext cx="5943600" cy="365760"/>
            </a:xfrm>
            <a:prstGeom prst="rect">
              <a:avLst/>
            </a:prstGeom>
            <a:noFill/>
            <a:ln>
              <a:noFill/>
            </a:ln>
          </p:spPr>
          <p:txBody>
            <a:bodyPr wrap="square" lIns="0" tIns="0" rIns="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APORTE DISCONTINUO → PROVISIÓN CONTINUA DE ATP</a:t>
              </a:r>
              <a:endParaRPr lang="es-AR" sz="1400" dirty="0">
                <a:latin typeface="Bahnschrift SemiBold Condensed"/>
              </a:endParaRPr>
            </a:p>
          </p:txBody>
        </p:sp>
        <p:sp>
          <p:nvSpPr>
            <p:cNvPr id="22" name="Flecha 21_2"/>
            <p:cNvSpPr/>
            <p:nvPr/>
          </p:nvSpPr>
          <p:spPr>
            <a:xfrm>
              <a:off x="5943600" y="4434840"/>
              <a:ext cx="5577840" cy="9144"/>
            </a:xfrm>
            <a:custGeom>
              <a:avLst/>
              <a:gdLst/>
              <a:ahLst/>
              <a:cxnLst/>
              <a:rect l="0" t="0" r="r" b="b"/>
              <a:pathLst>
                <a:path w="6100" h="10" fill="none">
                  <a:moveTo>
                    <a:pt x="0" y="0"/>
                  </a:moveTo>
                  <a:lnTo>
                    <a:pt x="6100" y="0"/>
                  </a:lnTo>
                </a:path>
              </a:pathLst>
            </a:custGeom>
            <a:noFill/>
            <a:ln w="19050" cap="rnd">
              <a:solidFill>
                <a:srgbClr val="1E1E1E"/>
              </a:solidFill>
              <a:round/>
              <a:tailEnd type="triangle" w="med" len="med"/>
            </a:ln>
          </p:spPr>
        </p:sp>
        <p:sp>
          <p:nvSpPr>
            <p:cNvPr id="23" name="Flecha 23_2"/>
            <p:cNvSpPr/>
            <p:nvPr/>
          </p:nvSpPr>
          <p:spPr>
            <a:xfrm>
              <a:off x="5943600" y="1554480"/>
              <a:ext cx="9144" cy="2880360"/>
            </a:xfrm>
            <a:custGeom>
              <a:avLst/>
              <a:gdLst/>
              <a:ahLst/>
              <a:cxnLst/>
              <a:rect l="0" t="0" r="r" b="b"/>
              <a:pathLst>
                <a:path w="10" h="3149" fill="none">
                  <a:moveTo>
                    <a:pt x="0" y="3149"/>
                  </a:moveTo>
                  <a:lnTo>
                    <a:pt x="0" y="0"/>
                  </a:lnTo>
                </a:path>
              </a:pathLst>
            </a:custGeom>
            <a:noFill/>
            <a:ln w="19050" cap="rnd">
              <a:solidFill>
                <a:srgbClr val="1E1E1E"/>
              </a:solidFill>
              <a:round/>
              <a:tailEnd type="triangle" w="med" len="med"/>
            </a:ln>
          </p:spPr>
        </p:sp>
        <p:sp>
          <p:nvSpPr>
            <p:cNvPr id="24" name="Forma 25"/>
            <p:cNvSpPr txBox="1"/>
            <p:nvPr/>
          </p:nvSpPr>
          <p:spPr>
            <a:xfrm>
              <a:off x="10241280" y="4462272"/>
              <a:ext cx="1371600" cy="274320"/>
            </a:xfrm>
            <a:prstGeom prst="rect">
              <a:avLst/>
            </a:prstGeom>
            <a:noFill/>
            <a:ln>
              <a:noFill/>
            </a:ln>
          </p:spPr>
          <p:txBody>
            <a:bodyPr wrap="square" lIns="0" tIns="0" rIns="0" bIns="0" anchor="t" rtlCol="0">
              <a:noAutofit/>
            </a:bodyPr>
            <a:lstStyle/>
            <a:p>
              <a:pPr algn="r">
                <a:spcAft>
                  <a:spcPts val="300"/>
                </a:spcAft>
                <a:buNone/>
              </a:pPr>
              <a:r>
                <a:rPr lang="es-AR" sz="1200" dirty="0">
                  <a:solidFill>
                    <a:srgbClr val="1E1E1E"/>
                  </a:solidFill>
                  <a:latin typeface="Bahnschrift"/>
                  <a:ea typeface="Bahnschrift"/>
                  <a:cs typeface="Bahnschrift"/>
                  <a:sym typeface="Bahnschrift"/>
                </a:rPr>
                <a:t>tiempo</a:t>
              </a:r>
              <a:endParaRPr lang="es-AR" sz="1200" dirty="0">
                <a:latin typeface="Bahnschrift"/>
              </a:endParaRPr>
            </a:p>
          </p:txBody>
        </p:sp>
        <p:sp>
          <p:nvSpPr>
            <p:cNvPr id="25" name="Curva comidas"/>
            <p:cNvSpPr/>
            <p:nvPr/>
          </p:nvSpPr>
          <p:spPr>
            <a:xfrm>
              <a:off x="5989320" y="1600200"/>
              <a:ext cx="5440680" cy="2788920"/>
            </a:xfrm>
            <a:custGeom>
              <a:avLst/>
              <a:gdLst/>
              <a:ahLst/>
              <a:cxnLst/>
              <a:rect l="0" t="0" r="r" b="b"/>
              <a:pathLst>
                <a:path w="1000" h="1000" fill="none">
                  <a:moveTo>
                    <a:pt x="0" y="900"/>
                  </a:moveTo>
                  <a:lnTo>
                    <a:pt x="80" y="900"/>
                  </a:lnTo>
                  <a:cubicBezTo>
                    <a:pt x="120" y="900"/>
                    <a:pt x="130" y="150"/>
                    <a:pt x="180" y="150"/>
                  </a:cubicBezTo>
                  <a:cubicBezTo>
                    <a:pt x="230" y="150"/>
                    <a:pt x="260" y="900"/>
                    <a:pt x="330" y="900"/>
                  </a:cubicBezTo>
                  <a:lnTo>
                    <a:pt x="380" y="900"/>
                  </a:lnTo>
                  <a:cubicBezTo>
                    <a:pt x="420" y="900"/>
                    <a:pt x="430" y="250"/>
                    <a:pt x="480" y="250"/>
                  </a:cubicBezTo>
                  <a:cubicBezTo>
                    <a:pt x="530" y="250"/>
                    <a:pt x="560" y="900"/>
                    <a:pt x="630" y="900"/>
                  </a:cubicBezTo>
                  <a:lnTo>
                    <a:pt x="700" y="900"/>
                  </a:lnTo>
                  <a:cubicBezTo>
                    <a:pt x="740" y="900"/>
                    <a:pt x="750" y="100"/>
                    <a:pt x="800" y="100"/>
                  </a:cubicBezTo>
                  <a:cubicBezTo>
                    <a:pt x="860" y="100"/>
                    <a:pt x="900" y="900"/>
                    <a:pt x="960" y="900"/>
                  </a:cubicBezTo>
                  <a:lnTo>
                    <a:pt x="1000" y="900"/>
                  </a:lnTo>
                </a:path>
              </a:pathLst>
            </a:custGeom>
            <a:noFill/>
            <a:ln w="38100" cap="rnd">
              <a:solidFill>
                <a:srgbClr val="E67E22"/>
              </a:solidFill>
              <a:round/>
            </a:ln>
          </p:spPr>
        </p:sp>
        <p:sp>
          <p:nvSpPr>
            <p:cNvPr id="26" name="Curva ATP"/>
            <p:cNvSpPr/>
            <p:nvPr/>
          </p:nvSpPr>
          <p:spPr>
            <a:xfrm>
              <a:off x="5989320" y="1600200"/>
              <a:ext cx="5440680" cy="2788920"/>
            </a:xfrm>
            <a:custGeom>
              <a:avLst/>
              <a:gdLst/>
              <a:ahLst/>
              <a:cxnLst/>
              <a:rect l="0" t="0" r="r" b="b"/>
              <a:pathLst>
                <a:path w="1000" h="1000" fill="none">
                  <a:moveTo>
                    <a:pt x="0" y="520"/>
                  </a:moveTo>
                  <a:cubicBezTo>
                    <a:pt x="300" y="500"/>
                    <a:pt x="600" y="540"/>
                    <a:pt x="1000" y="515"/>
                  </a:cubicBezTo>
                </a:path>
              </a:pathLst>
            </a:custGeom>
            <a:noFill/>
            <a:ln w="50800" cap="rnd">
              <a:solidFill>
                <a:srgbClr val="1E8C3A"/>
              </a:solidFill>
              <a:round/>
            </a:ln>
          </p:spPr>
        </p:sp>
        <p:sp>
          <p:nvSpPr>
            <p:cNvPr id="27" name="Forma 28"/>
            <p:cNvSpPr txBox="1"/>
            <p:nvPr/>
          </p:nvSpPr>
          <p:spPr>
            <a:xfrm>
              <a:off x="6080760" y="1508760"/>
              <a:ext cx="210312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C55A11"/>
                  </a:solidFill>
                  <a:latin typeface="Bahnschrift SemiBold Condensed"/>
                  <a:ea typeface="Bahnschrift SemiBold Condensed"/>
                  <a:cs typeface="Bahnschrift SemiBold Condensed"/>
                  <a:sym typeface="Bahnschrift SemiBold Condensed"/>
                </a:rPr>
                <a:t>Ingestas</a:t>
              </a:r>
              <a:endParaRPr lang="es-AR" sz="1300" dirty="0">
                <a:latin typeface="Bahnschrift SemiBold Condensed"/>
              </a:endParaRPr>
            </a:p>
          </p:txBody>
        </p:sp>
        <p:sp>
          <p:nvSpPr>
            <p:cNvPr id="28" name="Forma 29"/>
            <p:cNvSpPr txBox="1"/>
            <p:nvPr/>
          </p:nvSpPr>
          <p:spPr>
            <a:xfrm>
              <a:off x="9509760" y="2514600"/>
              <a:ext cx="201168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1E8C3A"/>
                  </a:solidFill>
                  <a:latin typeface="Bahnschrift SemiBold Condensed"/>
                  <a:ea typeface="Bahnschrift SemiBold Condensed"/>
                  <a:cs typeface="Bahnschrift SemiBold Condensed"/>
                  <a:sym typeface="Bahnschrift SemiBold Condensed"/>
                </a:rPr>
                <a:t>Provisión de ATP</a:t>
              </a:r>
              <a:endParaRPr lang="es-AR" sz="1300" dirty="0">
                <a:latin typeface="Bahnschrift SemiBold Condensed"/>
              </a:endParaRPr>
            </a:p>
          </p:txBody>
        </p:sp>
      </p:grpSp>
      <p:grpSp>
        <p:nvGrpSpPr>
          <p:cNvPr id="29" name="Recuadro Objetivo 1"/>
          <p:cNvGrpSpPr/>
          <p:nvPr/>
        </p:nvGrpSpPr>
        <p:grpSpPr>
          <a:xfrm>
            <a:off x="5577840" y="5029200"/>
            <a:ext cx="3017520" cy="1463040"/>
            <a:chOff x="5577840" y="5029200"/>
            <a:chExt cx="3017520" cy="1463040"/>
          </a:xfrm>
        </p:grpSpPr>
        <p:sp>
          <p:nvSpPr>
            <p:cNvPr id="30" name="Forma 31"/>
            <p:cNvSpPr/>
            <p:nvPr/>
          </p:nvSpPr>
          <p:spPr>
            <a:xfrm>
              <a:off x="5577840" y="5212080"/>
              <a:ext cx="3017520" cy="12801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Abundancia</a:t>
              </a:r>
              <a:r>
                <a:rPr lang="es-AR" sz="1650" dirty="0">
                  <a:solidFill>
                    <a:srgbClr val="1E1E1E"/>
                  </a:solidFill>
                  <a:latin typeface="Bahnschrift"/>
                  <a:ea typeface="Bahnschrift"/>
                  <a:cs typeface="Bahnschrift"/>
                  <a:sym typeface="Bahnschrift"/>
                </a:rPr>
                <a:t>: oxidar una parte y </a:t>
              </a:r>
              <a:r>
                <a:rPr lang="es-AR" sz="1650" b="1" dirty="0">
                  <a:solidFill>
                    <a:srgbClr val="1E1E1E"/>
                  </a:solidFill>
                  <a:latin typeface="Bahnschrift"/>
                  <a:ea typeface="Bahnschrift"/>
                  <a:cs typeface="Bahnschrift"/>
                  <a:sym typeface="Bahnschrift"/>
                </a:rPr>
                <a:t>almacenar</a:t>
              </a:r>
              <a:r>
                <a:rPr lang="es-AR" sz="1650" dirty="0">
                  <a:solidFill>
                    <a:srgbClr val="1E1E1E"/>
                  </a:solidFill>
                  <a:latin typeface="Bahnschrift"/>
                  <a:ea typeface="Bahnschrift"/>
                  <a:cs typeface="Bahnschrift"/>
                  <a:sym typeface="Bahnschrift"/>
                </a:rPr>
                <a:t> otra (glucógeno, TAG, proteínas).</a:t>
              </a:r>
              <a:endParaRPr lang="es-AR" sz="1650" dirty="0">
                <a:latin typeface="Bahnschrift"/>
              </a:endParaRPr>
            </a:p>
          </p:txBody>
        </p:sp>
        <p:sp>
          <p:nvSpPr>
            <p:cNvPr id="31" name="Forma 32"/>
            <p:cNvSpPr/>
            <p:nvPr/>
          </p:nvSpPr>
          <p:spPr>
            <a:xfrm>
              <a:off x="5687568" y="5029200"/>
              <a:ext cx="1151637"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OBJETIVO 1</a:t>
              </a:r>
              <a:endParaRPr lang="es-AR" sz="1500" dirty="0">
                <a:latin typeface="Bahnschrift SemiBold Condensed"/>
              </a:endParaRPr>
            </a:p>
          </p:txBody>
        </p:sp>
      </p:grpSp>
      <p:grpSp>
        <p:nvGrpSpPr>
          <p:cNvPr id="32" name="Recuadro Objetivo 2"/>
          <p:cNvGrpSpPr/>
          <p:nvPr/>
        </p:nvGrpSpPr>
        <p:grpSpPr>
          <a:xfrm>
            <a:off x="8778240" y="5029200"/>
            <a:ext cx="3017520" cy="1463040"/>
            <a:chOff x="8778240" y="5029200"/>
            <a:chExt cx="3017520" cy="1463040"/>
          </a:xfrm>
        </p:grpSpPr>
        <p:sp>
          <p:nvSpPr>
            <p:cNvPr id="33" name="Forma 34"/>
            <p:cNvSpPr/>
            <p:nvPr/>
          </p:nvSpPr>
          <p:spPr>
            <a:xfrm>
              <a:off x="8778240" y="5212080"/>
              <a:ext cx="3017520" cy="12801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500" b="1" dirty="0">
                  <a:solidFill>
                    <a:srgbClr val="1E1E1E"/>
                  </a:solidFill>
                  <a:latin typeface="Bahnschrift"/>
                  <a:ea typeface="Bahnschrift"/>
                  <a:cs typeface="Bahnschrift"/>
                  <a:sym typeface="Bahnschrift"/>
                </a:rPr>
                <a:t>Carencia</a:t>
              </a:r>
              <a:r>
                <a:rPr lang="es-AR" sz="1500" dirty="0">
                  <a:solidFill>
                    <a:srgbClr val="1E1E1E"/>
                  </a:solidFill>
                  <a:latin typeface="Bahnschrift"/>
                  <a:ea typeface="Bahnschrift"/>
                  <a:cs typeface="Bahnschrift"/>
                  <a:sym typeface="Bahnschrift"/>
                </a:rPr>
                <a:t>: </a:t>
              </a:r>
              <a:r>
                <a:rPr lang="es-AR" sz="1500" b="1" dirty="0">
                  <a:solidFill>
                    <a:srgbClr val="1E1E1E"/>
                  </a:solidFill>
                  <a:latin typeface="Bahnschrift"/>
                  <a:ea typeface="Bahnschrift"/>
                  <a:cs typeface="Bahnschrift"/>
                  <a:sym typeface="Bahnschrift"/>
                </a:rPr>
                <a:t>movilizar</a:t>
              </a:r>
              <a:r>
                <a:rPr lang="es-AR" sz="1500" dirty="0">
                  <a:solidFill>
                    <a:srgbClr val="1E1E1E"/>
                  </a:solidFill>
                  <a:latin typeface="Bahnschrift"/>
                  <a:ea typeface="Bahnschrift"/>
                  <a:cs typeface="Bahnschrift"/>
                  <a:sym typeface="Bahnschrift"/>
                </a:rPr>
                <a:t> reservas y </a:t>
              </a:r>
              <a:r>
                <a:rPr lang="es-AR" sz="1500" b="1" dirty="0">
                  <a:solidFill>
                    <a:srgbClr val="1E1E1E"/>
                  </a:solidFill>
                  <a:latin typeface="Bahnschrift"/>
                  <a:ea typeface="Bahnschrift"/>
                  <a:cs typeface="Bahnschrift"/>
                  <a:sym typeface="Bahnschrift"/>
                </a:rPr>
                <a:t>defender</a:t>
              </a:r>
              <a:r>
                <a:rPr lang="es-AR" sz="1500" dirty="0">
                  <a:solidFill>
                    <a:srgbClr val="1E1E1E"/>
                  </a:solidFill>
                  <a:latin typeface="Bahnschrift"/>
                  <a:ea typeface="Bahnschrift"/>
                  <a:cs typeface="Bahnschrift"/>
                  <a:sym typeface="Bahnschrift"/>
                </a:rPr>
                <a:t> sustratos obligatorios (glucosa del SNC y eritrocitos).</a:t>
              </a:r>
              <a:endParaRPr lang="es-AR" sz="1500" dirty="0">
                <a:latin typeface="Bahnschrift"/>
              </a:endParaRPr>
            </a:p>
          </p:txBody>
        </p:sp>
        <p:sp>
          <p:nvSpPr>
            <p:cNvPr id="34" name="Forma 35"/>
            <p:cNvSpPr/>
            <p:nvPr/>
          </p:nvSpPr>
          <p:spPr>
            <a:xfrm>
              <a:off x="8887968" y="5029200"/>
              <a:ext cx="1183656"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OBJETIVO 2</a:t>
              </a:r>
              <a:endParaRPr lang="es-AR" sz="150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411097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 · QUÉ ENTREGA UNA COMIDA</a:t>
            </a:r>
            <a:endParaRPr lang="es-AR" sz="26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9"/>
                                        </p:tgtEl>
                                        <p:attrNameLst>
                                          <p:attrName>style.visibility</p:attrName>
                                        </p:attrNameLst>
                                      </p:cBhvr>
                                      <p:to>
                                        <p:strVal val="visible"/>
                                      </p:to>
                                    </p:set>
                                    <p:animEffect transition="in" filter="fade">
                                      <p:cBhvr>
                                        <p:cTn id="9" dur="500"/>
                                        <p:tgtEl>
                                          <p:spTgt spid="9"/>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childTnLst>
                    </p:cTn>
                  </p:par>
                  <p:par>
                    <p:cTn id="20" fill="hold">
                      <p:stCondLst>
                        <p:cond delay="indefinite"/>
                      </p:stCondLst>
                      <p:childTnLst>
                        <p:par>
                          <p:cTn id="19"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childTnLst>
                    </p:cTn>
                  </p:par>
                  <p:par>
                    <p:cTn id="29" fill="hold">
                      <p:stCondLst>
                        <p:cond delay="indefinite"/>
                      </p:stCondLst>
                      <p:childTnLst>
                        <p:par>
                          <p:cTn id="24"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par>
                          <p:cTn id="28"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Destino del carbono"/>
          <p:cNvGrpSpPr/>
          <p:nvPr/>
        </p:nvGrpSpPr>
        <p:grpSpPr>
          <a:xfrm>
            <a:off x="411480" y="1005840"/>
            <a:ext cx="5394960" cy="3246120"/>
            <a:chOff x="411480" y="1005840"/>
            <a:chExt cx="5394960" cy="3246120"/>
          </a:xfrm>
        </p:grpSpPr>
        <p:sp>
          <p:nvSpPr>
            <p:cNvPr id="5" name="Forma 4"/>
            <p:cNvSpPr/>
            <p:nvPr/>
          </p:nvSpPr>
          <p:spPr>
            <a:xfrm>
              <a:off x="411480" y="1005840"/>
              <a:ext cx="5394960" cy="3246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6" name="Forma 5"/>
            <p:cNvSpPr txBox="1"/>
            <p:nvPr/>
          </p:nvSpPr>
          <p:spPr>
            <a:xfrm>
              <a:off x="548640" y="1051560"/>
              <a:ext cx="5120640" cy="384048"/>
            </a:xfrm>
            <a:prstGeom prst="rect">
              <a:avLst/>
            </a:prstGeom>
            <a:noFill/>
            <a:ln>
              <a:noFill/>
            </a:ln>
          </p:spPr>
          <p:txBody>
            <a:bodyPr wrap="square" lIns="0" tIns="0" rIns="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EL CARBONO ALIMENTARIO PUEDE TERMINAR COMO…</a:t>
              </a:r>
              <a:endParaRPr lang="es-AR" sz="1400" dirty="0">
                <a:latin typeface="Bahnschrift SemiBold Condensed"/>
              </a:endParaRPr>
            </a:p>
          </p:txBody>
        </p:sp>
        <p:sp>
          <p:nvSpPr>
            <p:cNvPr id="7" name="Forma 6"/>
            <p:cNvSpPr/>
            <p:nvPr/>
          </p:nvSpPr>
          <p:spPr>
            <a:xfrm>
              <a:off x="2331720" y="1554480"/>
              <a:ext cx="1241016" cy="41148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 alimentario</a:t>
              </a:r>
              <a:endParaRPr lang="es-AR" sz="1500" dirty="0">
                <a:latin typeface="Bahnschrift SemiBold Condensed"/>
              </a:endParaRPr>
            </a:p>
          </p:txBody>
        </p:sp>
        <p:sp>
          <p:nvSpPr>
            <p:cNvPr id="8" name="Flecha 7_2"/>
            <p:cNvSpPr/>
            <p:nvPr/>
          </p:nvSpPr>
          <p:spPr>
            <a:xfrm>
              <a:off x="1280160" y="1993392"/>
              <a:ext cx="1828800" cy="475488"/>
            </a:xfrm>
            <a:custGeom>
              <a:avLst/>
              <a:gdLst/>
              <a:ahLst/>
              <a:cxnLst/>
              <a:rect l="0" t="0" r="r" b="b"/>
              <a:pathLst>
                <a:path w="2000" h="520" fill="none">
                  <a:moveTo>
                    <a:pt x="2000" y="0"/>
                  </a:moveTo>
                  <a:lnTo>
                    <a:pt x="0" y="520"/>
                  </a:lnTo>
                </a:path>
              </a:pathLst>
            </a:custGeom>
            <a:noFill/>
            <a:ln w="22225" cap="rnd">
              <a:solidFill>
                <a:srgbClr val="2563B0"/>
              </a:solidFill>
              <a:round/>
              <a:tailEnd type="triangle" w="med" len="med"/>
            </a:ln>
          </p:spPr>
        </p:sp>
        <p:sp>
          <p:nvSpPr>
            <p:cNvPr id="9" name="Forma 9"/>
            <p:cNvSpPr/>
            <p:nvPr/>
          </p:nvSpPr>
          <p:spPr>
            <a:xfrm>
              <a:off x="594360" y="2514600"/>
              <a:ext cx="1417320" cy="384048"/>
            </a:xfrm>
            <a:prstGeom prst="rect">
              <a:avLst/>
            </a:prstGeom>
            <a:solidFill>
              <a:srgbClr val="CFD6D6"/>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a:t>
              </a:r>
              <a:r>
                <a:rPr lang="es-AR" sz="1300" b="1" baseline="-25000" dirty="0">
                  <a:solidFill>
                    <a:srgbClr val="1E1E1E"/>
                  </a:solidFill>
                  <a:latin typeface="Bahnschrift SemiBold Condensed"/>
                  <a:ea typeface="Bahnschrift SemiBold Condensed"/>
                  <a:cs typeface="Bahnschrift SemiBold Condensed"/>
                  <a:sym typeface="Bahnschrift SemiBold Condensed"/>
                </a:rPr>
                <a:t>2</a:t>
              </a:r>
              <a:endParaRPr lang="es-AR" sz="1300" dirty="0">
                <a:latin typeface="Bahnschrift SemiBold Condensed"/>
              </a:endParaRPr>
            </a:p>
          </p:txBody>
        </p:sp>
        <p:sp>
          <p:nvSpPr>
            <p:cNvPr id="10" name="Flecha 10_2"/>
            <p:cNvSpPr/>
            <p:nvPr/>
          </p:nvSpPr>
          <p:spPr>
            <a:xfrm>
              <a:off x="3017520" y="1993392"/>
              <a:ext cx="91440" cy="475488"/>
            </a:xfrm>
            <a:custGeom>
              <a:avLst/>
              <a:gdLst/>
              <a:ahLst/>
              <a:cxnLst/>
              <a:rect l="0" t="0" r="r" b="b"/>
              <a:pathLst>
                <a:path w="100" h="520" fill="none">
                  <a:moveTo>
                    <a:pt x="100" y="0"/>
                  </a:moveTo>
                  <a:lnTo>
                    <a:pt x="0" y="520"/>
                  </a:lnTo>
                </a:path>
              </a:pathLst>
            </a:custGeom>
            <a:noFill/>
            <a:ln w="22225" cap="rnd">
              <a:solidFill>
                <a:srgbClr val="2563B0"/>
              </a:solidFill>
              <a:round/>
              <a:tailEnd type="triangle" w="med" len="med"/>
            </a:ln>
          </p:spPr>
        </p:sp>
        <p:sp>
          <p:nvSpPr>
            <p:cNvPr id="11" name="Forma 12"/>
            <p:cNvSpPr/>
            <p:nvPr/>
          </p:nvSpPr>
          <p:spPr>
            <a:xfrm>
              <a:off x="2331720" y="2514600"/>
              <a:ext cx="1417320" cy="384048"/>
            </a:xfrm>
            <a:prstGeom prst="rect">
              <a:avLst/>
            </a:prstGeom>
            <a:solidFill>
              <a:srgbClr val="A6C6E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Glucógeno</a:t>
              </a:r>
              <a:endParaRPr lang="es-AR" sz="1300" dirty="0">
                <a:latin typeface="Bahnschrift SemiBold Condensed"/>
              </a:endParaRPr>
            </a:p>
          </p:txBody>
        </p:sp>
        <p:sp>
          <p:nvSpPr>
            <p:cNvPr id="12" name="Flecha 13_2"/>
            <p:cNvSpPr/>
            <p:nvPr/>
          </p:nvSpPr>
          <p:spPr>
            <a:xfrm>
              <a:off x="3108960" y="1993392"/>
              <a:ext cx="1645920" cy="475488"/>
            </a:xfrm>
            <a:custGeom>
              <a:avLst/>
              <a:gdLst/>
              <a:ahLst/>
              <a:cxnLst/>
              <a:rect l="0" t="0" r="r" b="b"/>
              <a:pathLst>
                <a:path w="1800" h="520" fill="none">
                  <a:moveTo>
                    <a:pt x="0" y="0"/>
                  </a:moveTo>
                  <a:lnTo>
                    <a:pt x="1800" y="520"/>
                  </a:lnTo>
                </a:path>
              </a:pathLst>
            </a:custGeom>
            <a:noFill/>
            <a:ln w="22225" cap="rnd">
              <a:solidFill>
                <a:srgbClr val="2563B0"/>
              </a:solidFill>
              <a:round/>
              <a:tailEnd type="triangle" w="med" len="med"/>
            </a:ln>
          </p:spPr>
        </p:sp>
        <p:sp>
          <p:nvSpPr>
            <p:cNvPr id="13" name="Forma 15"/>
            <p:cNvSpPr/>
            <p:nvPr/>
          </p:nvSpPr>
          <p:spPr>
            <a:xfrm>
              <a:off x="4069080" y="2514600"/>
              <a:ext cx="1417320" cy="384048"/>
            </a:xfrm>
            <a:prstGeom prst="rect">
              <a:avLst/>
            </a:prstGeom>
            <a:solidFill>
              <a:srgbClr val="FBEFBE"/>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14" name="Flecha 16_2"/>
            <p:cNvSpPr/>
            <p:nvPr/>
          </p:nvSpPr>
          <p:spPr>
            <a:xfrm>
              <a:off x="1280160" y="1993392"/>
              <a:ext cx="1828800" cy="1344168"/>
            </a:xfrm>
            <a:custGeom>
              <a:avLst/>
              <a:gdLst/>
              <a:ahLst/>
              <a:cxnLst/>
              <a:rect l="0" t="0" r="r" b="b"/>
              <a:pathLst>
                <a:path w="2000" h="1470" fill="none">
                  <a:moveTo>
                    <a:pt x="2000" y="0"/>
                  </a:moveTo>
                  <a:lnTo>
                    <a:pt x="0" y="1470"/>
                  </a:lnTo>
                </a:path>
              </a:pathLst>
            </a:custGeom>
            <a:noFill/>
            <a:ln w="22225" cap="rnd">
              <a:solidFill>
                <a:srgbClr val="2563B0"/>
              </a:solidFill>
              <a:round/>
              <a:tailEnd type="triangle" w="med" len="med"/>
            </a:ln>
          </p:spPr>
        </p:sp>
        <p:sp>
          <p:nvSpPr>
            <p:cNvPr id="15" name="Forma 18"/>
            <p:cNvSpPr/>
            <p:nvPr/>
          </p:nvSpPr>
          <p:spPr>
            <a:xfrm>
              <a:off x="594360" y="3383280"/>
              <a:ext cx="1417320" cy="384048"/>
            </a:xfrm>
            <a:prstGeom prst="rect">
              <a:avLst/>
            </a:prstGeom>
            <a:solidFill>
              <a:srgbClr val="F9D29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Colesterol</a:t>
              </a:r>
              <a:endParaRPr lang="es-AR" sz="1300" dirty="0">
                <a:latin typeface="Bahnschrift SemiBold Condensed"/>
              </a:endParaRPr>
            </a:p>
          </p:txBody>
        </p:sp>
        <p:sp>
          <p:nvSpPr>
            <p:cNvPr id="16" name="Flecha 19_2"/>
            <p:cNvSpPr/>
            <p:nvPr/>
          </p:nvSpPr>
          <p:spPr>
            <a:xfrm>
              <a:off x="3017520" y="1993392"/>
              <a:ext cx="91440" cy="1344168"/>
            </a:xfrm>
            <a:custGeom>
              <a:avLst/>
              <a:gdLst/>
              <a:ahLst/>
              <a:cxnLst/>
              <a:rect l="0" t="0" r="r" b="b"/>
              <a:pathLst>
                <a:path w="100" h="1470" fill="none">
                  <a:moveTo>
                    <a:pt x="100" y="0"/>
                  </a:moveTo>
                  <a:lnTo>
                    <a:pt x="0" y="1470"/>
                  </a:lnTo>
                </a:path>
              </a:pathLst>
            </a:custGeom>
            <a:noFill/>
            <a:ln w="22225" cap="rnd">
              <a:solidFill>
                <a:srgbClr val="2563B0"/>
              </a:solidFill>
              <a:round/>
              <a:tailEnd type="triangle" w="med" len="med"/>
            </a:ln>
          </p:spPr>
        </p:sp>
        <p:sp>
          <p:nvSpPr>
            <p:cNvPr id="17" name="Forma 21"/>
            <p:cNvSpPr/>
            <p:nvPr/>
          </p:nvSpPr>
          <p:spPr>
            <a:xfrm>
              <a:off x="2331720" y="3383280"/>
              <a:ext cx="1417320" cy="384048"/>
            </a:xfrm>
            <a:prstGeom prst="rect">
              <a:avLst/>
            </a:prstGeom>
            <a:solidFill>
              <a:srgbClr val="9DDAB7"/>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Proteínas</a:t>
              </a:r>
              <a:endParaRPr lang="es-AR" sz="1300" dirty="0">
                <a:latin typeface="Bahnschrift SemiBold Condensed"/>
              </a:endParaRPr>
            </a:p>
          </p:txBody>
        </p:sp>
        <p:sp>
          <p:nvSpPr>
            <p:cNvPr id="18" name="Flecha 22_2"/>
            <p:cNvSpPr/>
            <p:nvPr/>
          </p:nvSpPr>
          <p:spPr>
            <a:xfrm>
              <a:off x="3108960" y="1993392"/>
              <a:ext cx="1645920" cy="1344168"/>
            </a:xfrm>
            <a:custGeom>
              <a:avLst/>
              <a:gdLst/>
              <a:ahLst/>
              <a:cxnLst/>
              <a:rect l="0" t="0" r="r" b="b"/>
              <a:pathLst>
                <a:path w="1800" h="1470" fill="none">
                  <a:moveTo>
                    <a:pt x="0" y="0"/>
                  </a:moveTo>
                  <a:lnTo>
                    <a:pt x="1800" y="1470"/>
                  </a:lnTo>
                </a:path>
              </a:pathLst>
            </a:custGeom>
            <a:noFill/>
            <a:ln w="22225" cap="rnd">
              <a:solidFill>
                <a:srgbClr val="2563B0"/>
              </a:solidFill>
              <a:round/>
              <a:tailEnd type="triangle" w="med" len="med"/>
            </a:ln>
          </p:spPr>
        </p:sp>
        <p:sp>
          <p:nvSpPr>
            <p:cNvPr id="19" name="Forma 24"/>
            <p:cNvSpPr/>
            <p:nvPr/>
          </p:nvSpPr>
          <p:spPr>
            <a:xfrm>
              <a:off x="4069080" y="3383280"/>
              <a:ext cx="1417320" cy="384048"/>
            </a:xfrm>
            <a:prstGeom prst="rect">
              <a:avLst/>
            </a:prstGeom>
            <a:solidFill>
              <a:srgbClr val="DECF91"/>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Intermediarios</a:t>
              </a:r>
              <a:endParaRPr lang="es-AR" sz="1300" dirty="0">
                <a:latin typeface="Bahnschrift SemiBold Condensed"/>
              </a:endParaRPr>
            </a:p>
          </p:txBody>
        </p:sp>
      </p:grpSp>
      <p:grpSp>
        <p:nvGrpSpPr>
          <p:cNvPr id="20" name="Destino del nitrógeno"/>
          <p:cNvGrpSpPr/>
          <p:nvPr/>
        </p:nvGrpSpPr>
        <p:grpSpPr>
          <a:xfrm>
            <a:off x="411480" y="4434840"/>
            <a:ext cx="5394960" cy="2057400"/>
            <a:chOff x="411480" y="4434840"/>
            <a:chExt cx="5394960" cy="2057400"/>
          </a:xfrm>
        </p:grpSpPr>
        <p:sp>
          <p:nvSpPr>
            <p:cNvPr id="21" name="Forma 26"/>
            <p:cNvSpPr/>
            <p:nvPr/>
          </p:nvSpPr>
          <p:spPr>
            <a:xfrm>
              <a:off x="411480" y="4434840"/>
              <a:ext cx="5394960" cy="20574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sp>
          <p:nvSpPr>
            <p:cNvPr id="22" name="Forma 27"/>
            <p:cNvSpPr txBox="1"/>
            <p:nvPr/>
          </p:nvSpPr>
          <p:spPr>
            <a:xfrm>
              <a:off x="548640" y="4480560"/>
              <a:ext cx="5120640" cy="365760"/>
            </a:xfrm>
            <a:prstGeom prst="rect">
              <a:avLst/>
            </a:prstGeom>
            <a:noFill/>
            <a:ln>
              <a:noFill/>
            </a:ln>
          </p:spPr>
          <p:txBody>
            <a:bodyPr wrap="square" lIns="0" tIns="0" rIns="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EL NITRÓGENO AMINOACÍDICO…</a:t>
              </a:r>
              <a:endParaRPr lang="es-AR" sz="1400" dirty="0">
                <a:latin typeface="Bahnschrift SemiBold Condensed"/>
              </a:endParaRPr>
            </a:p>
          </p:txBody>
        </p:sp>
        <p:sp>
          <p:nvSpPr>
            <p:cNvPr id="23" name="Forma 28"/>
            <p:cNvSpPr txBox="1"/>
            <p:nvPr/>
          </p:nvSpPr>
          <p:spPr>
            <a:xfrm>
              <a:off x="640080" y="4892040"/>
              <a:ext cx="3108960" cy="1463040"/>
            </a:xfrm>
            <a:prstGeom prst="rect">
              <a:avLst/>
            </a:prstGeom>
            <a:noFill/>
            <a:ln>
              <a:noFill/>
            </a:ln>
          </p:spPr>
          <p:txBody>
            <a:bodyPr wrap="square" lIns="0" tIns="0" rIns="0" bIns="0" anchor="t" rtlCol="0">
              <a:noAutofit/>
            </a:bodyPr>
            <a:lstStyle/>
            <a:p>
              <a:pPr algn="l" marL="133350" indent="-133350">
                <a:spcAft>
                  <a:spcPts val="300"/>
                </a:spcAft>
                <a:buClr>
                  <a:srgbClr val="1E1E1E"/>
                </a:buClr>
                <a:buFont typeface="Arial"/>
                <a:buChar char="•"/>
              </a:pPr>
              <a:r>
                <a:rPr lang="es-AR" sz="1400" dirty="0">
                  <a:solidFill>
                    <a:srgbClr val="1E1E1E"/>
                  </a:solidFill>
                  <a:latin typeface="Bahnschrift"/>
                  <a:ea typeface="Bahnschrift"/>
                  <a:cs typeface="Bahnschrift"/>
                  <a:sym typeface="Bahnschrift"/>
                </a:rPr>
                <a:t>se </a:t>
              </a:r>
              <a:r>
                <a:rPr lang="es-AR" sz="1400" b="1" dirty="0">
                  <a:solidFill>
                    <a:srgbClr val="1E1E1E"/>
                  </a:solidFill>
                  <a:latin typeface="Bahnschrift"/>
                  <a:ea typeface="Bahnschrift"/>
                  <a:cs typeface="Bahnschrift"/>
                  <a:sym typeface="Bahnschrift"/>
                </a:rPr>
                <a:t>redistribuye</a:t>
              </a:r>
              <a:r>
                <a:rPr lang="es-AR" sz="1400" dirty="0">
                  <a:solidFill>
                    <a:srgbClr val="1E1E1E"/>
                  </a:solidFill>
                  <a:latin typeface="Bahnschrift"/>
                  <a:ea typeface="Bahnschrift"/>
                  <a:cs typeface="Bahnschrift"/>
                  <a:sym typeface="Bahnschrift"/>
                </a:rPr>
                <a:t> entre tejidos (alanina, glutamina)</a:t>
              </a:r>
              <a:endParaRPr lang="es-AR" sz="1400" dirty="0">
                <a:latin typeface="Bahnschrift"/>
              </a:endParaRPr>
            </a:p>
            <a:p>
              <a:pPr algn="l" marL="133350" indent="-133350">
                <a:spcAft>
                  <a:spcPts val="300"/>
                </a:spcAft>
                <a:buClr>
                  <a:srgbClr val="1E1E1E"/>
                </a:buClr>
                <a:buFont typeface="Arial"/>
                <a:buChar char="•"/>
              </a:pPr>
              <a:r>
                <a:rPr lang="es-AR" sz="1400" dirty="0">
                  <a:solidFill>
                    <a:srgbClr val="1E1E1E"/>
                  </a:solidFill>
                  <a:latin typeface="Bahnschrift"/>
                  <a:ea typeface="Bahnschrift"/>
                  <a:cs typeface="Bahnschrift"/>
                  <a:sym typeface="Bahnschrift"/>
                </a:rPr>
                <a:t>se </a:t>
              </a:r>
              <a:r>
                <a:rPr lang="es-AR" sz="1400" b="1" dirty="0">
                  <a:solidFill>
                    <a:srgbClr val="1E1E1E"/>
                  </a:solidFill>
                  <a:latin typeface="Bahnschrift"/>
                  <a:ea typeface="Bahnschrift"/>
                  <a:cs typeface="Bahnschrift"/>
                  <a:sym typeface="Bahnschrift"/>
                </a:rPr>
                <a:t>elimina</a:t>
              </a:r>
              <a:r>
                <a:rPr lang="es-AR" sz="1400" dirty="0">
                  <a:solidFill>
                    <a:srgbClr val="1E1E1E"/>
                  </a:solidFill>
                  <a:latin typeface="Bahnschrift"/>
                  <a:ea typeface="Bahnschrift"/>
                  <a:cs typeface="Bahnschrift"/>
                  <a:sym typeface="Bahnschrift"/>
                </a:rPr>
                <a:t> principalmente como </a:t>
              </a:r>
              <a:r>
                <a:rPr lang="es-AR" sz="1400" b="1" dirty="0">
                  <a:solidFill>
                    <a:srgbClr val="1E1E1E"/>
                  </a:solidFill>
                  <a:latin typeface="Bahnschrift"/>
                  <a:ea typeface="Bahnschrift"/>
                  <a:cs typeface="Bahnschrift"/>
                  <a:sym typeface="Bahnschrift"/>
                </a:rPr>
                <a:t>urea</a:t>
              </a:r>
              <a:r>
                <a:rPr lang="es-AR" sz="1400" dirty="0">
                  <a:solidFill>
                    <a:srgbClr val="1E1E1E"/>
                  </a:solidFill>
                  <a:latin typeface="Bahnschrift"/>
                  <a:ea typeface="Bahnschrift"/>
                  <a:cs typeface="Bahnschrift"/>
                  <a:sym typeface="Bahnschrift"/>
                </a:rPr>
                <a:t> y </a:t>
              </a:r>
              <a:r>
                <a:rPr lang="es-AR" sz="1400" b="1" dirty="0">
                  <a:solidFill>
                    <a:srgbClr val="1E1E1E"/>
                  </a:solidFill>
                  <a:latin typeface="Bahnschrift"/>
                  <a:ea typeface="Bahnschrift"/>
                  <a:cs typeface="Bahnschrift"/>
                  <a:sym typeface="Bahnschrift"/>
                </a:rPr>
                <a:t>NH</a:t>
              </a:r>
              <a:r>
                <a:rPr lang="es-AR" sz="1400" b="1" baseline="-25000" dirty="0">
                  <a:solidFill>
                    <a:srgbClr val="1E1E1E"/>
                  </a:solidFill>
                  <a:latin typeface="Bahnschrift"/>
                  <a:ea typeface="Bahnschrift"/>
                  <a:cs typeface="Bahnschrift"/>
                  <a:sym typeface="Bahnschrift"/>
                </a:rPr>
                <a:t>4</a:t>
              </a:r>
              <a:r>
                <a:rPr lang="es-AR" sz="1400" b="1" baseline="30000" dirty="0">
                  <a:solidFill>
                    <a:srgbClr val="1E1E1E"/>
                  </a:solidFill>
                  <a:latin typeface="Bahnschrift"/>
                  <a:ea typeface="Bahnschrift"/>
                  <a:cs typeface="Bahnschrift"/>
                  <a:sym typeface="Bahnschrift"/>
                </a:rPr>
                <a:t>+</a:t>
              </a:r>
              <a:endParaRPr lang="es-AR" sz="1400" dirty="0">
                <a:latin typeface="Bahnschrift"/>
              </a:endParaRPr>
            </a:p>
          </p:txBody>
        </p:sp>
        <p:sp>
          <p:nvSpPr>
            <p:cNvPr id="24" name="Molécula urea"/>
            <p:cNvSpPr/>
            <p:nvPr/>
          </p:nvSpPr>
          <p:spPr>
            <a:xfrm>
              <a:off x="4023360" y="5074920"/>
              <a:ext cx="548640" cy="54864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25" name="Molécula nh4"/>
            <p:cNvSpPr/>
            <p:nvPr/>
          </p:nvSpPr>
          <p:spPr>
            <a:xfrm>
              <a:off x="4800600" y="5074920"/>
              <a:ext cx="548640" cy="54864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26" name="Molécula gln"/>
            <p:cNvSpPr/>
            <p:nvPr/>
          </p:nvSpPr>
          <p:spPr>
            <a:xfrm>
              <a:off x="4434840" y="5760720"/>
              <a:ext cx="502920" cy="50292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grpSp>
      <p:grpSp>
        <p:nvGrpSpPr>
          <p:cNvPr id="27" name="Flujo frente a concentración"/>
          <p:cNvGrpSpPr/>
          <p:nvPr/>
        </p:nvGrpSpPr>
        <p:grpSpPr>
          <a:xfrm>
            <a:off x="6035040" y="1005840"/>
            <a:ext cx="5760720" cy="4023360"/>
            <a:chOff x="6035040" y="1005840"/>
            <a:chExt cx="5760720" cy="4023360"/>
          </a:xfrm>
        </p:grpSpPr>
        <p:sp>
          <p:nvSpPr>
            <p:cNvPr id="28" name="Forma 33"/>
            <p:cNvSpPr/>
            <p:nvPr/>
          </p:nvSpPr>
          <p:spPr>
            <a:xfrm>
              <a:off x="6035040" y="1005840"/>
              <a:ext cx="5760720" cy="4023360"/>
            </a:xfrm>
            <a:prstGeom prst="rect">
              <a:avLst/>
            </a:prstGeom>
            <a:solidFill>
              <a:srgbClr val="FFFFFF">
                <a:alpha val="50000"/>
              </a:srgbClr>
            </a:solidFill>
            <a:ln w="15875" cap="rnd">
              <a:solidFill>
                <a:srgbClr val="1E1E1E"/>
              </a:solidFill>
              <a:round/>
            </a:ln>
            <a:effectLst>
              <a:outerShdw blurRad="63500" dist="38100" dir="2700000" algn="tl" rotWithShape="0">
                <a:srgbClr val="000000">
                  <a:alpha val="32000"/>
                </a:srgbClr>
              </a:outerShdw>
            </a:effectLst>
          </p:spPr>
        </p:sp>
        <p:sp>
          <p:nvSpPr>
            <p:cNvPr id="29" name="Forma 34"/>
            <p:cNvSpPr txBox="1"/>
            <p:nvPr/>
          </p:nvSpPr>
          <p:spPr>
            <a:xfrm>
              <a:off x="6172200" y="1051560"/>
              <a:ext cx="5486400" cy="384048"/>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CONCENTRACIÓN ≠ FLUJO</a:t>
              </a:r>
              <a:endParaRPr lang="es-AR" sz="1600" dirty="0">
                <a:latin typeface="Bahnschrift SemiBold Condensed"/>
              </a:endParaRPr>
            </a:p>
          </p:txBody>
        </p:sp>
        <p:grpSp>
          <p:nvGrpSpPr>
            <p:cNvPr id="30" name="Pool plasmático"/>
            <p:cNvGrpSpPr/>
            <p:nvPr/>
          </p:nvGrpSpPr>
          <p:grpSpPr>
            <a:xfrm>
              <a:off x="7863840" y="2011680"/>
              <a:ext cx="1828800" cy="2194560"/>
              <a:chOff x="7863840" y="2011680"/>
              <a:chExt cx="1828800" cy="2194560"/>
            </a:xfrm>
          </p:grpSpPr>
          <p:sp>
            <p:nvSpPr>
              <p:cNvPr id="31" name="Forma 36"/>
              <p:cNvSpPr/>
              <p:nvPr/>
            </p:nvSpPr>
            <p:spPr>
              <a:xfrm>
                <a:off x="7863840" y="2011680"/>
                <a:ext cx="1828800" cy="2194560"/>
              </a:xfrm>
              <a:prstGeom prst="rect">
                <a:avLst/>
              </a:prstGeom>
              <a:solidFill>
                <a:srgbClr val="FFFFFF">
                  <a:alpha val="45000"/>
                </a:srgbClr>
              </a:solidFill>
              <a:ln w="25400" cap="rnd">
                <a:solidFill>
                  <a:srgbClr val="1E1E1E"/>
                </a:solidFill>
                <a:round/>
              </a:ln>
            </p:spPr>
          </p:sp>
          <p:sp>
            <p:nvSpPr>
              <p:cNvPr id="32" name="Forma 37"/>
              <p:cNvSpPr/>
              <p:nvPr/>
            </p:nvSpPr>
            <p:spPr>
              <a:xfrm>
                <a:off x="7891272" y="3108960"/>
                <a:ext cx="1773936" cy="1069848"/>
              </a:xfrm>
              <a:prstGeom prst="rect">
                <a:avLst/>
              </a:prstGeom>
              <a:gradFill rotWithShape="1">
                <a:gsLst>
                  <a:gs pos="0">
                    <a:srgbClr val="85C1E9"/>
                  </a:gs>
                  <a:gs pos="100000">
                    <a:srgbClr val="2E86C1"/>
                  </a:gs>
                </a:gsLst>
                <a:lin ang="5400000" scaled="0"/>
              </a:gradFill>
              <a:ln>
                <a:noFill/>
              </a:ln>
            </p:spPr>
          </p:sp>
        </p:grpSp>
        <p:sp>
          <p:nvSpPr>
            <p:cNvPr id="33" name="Forma 38"/>
            <p:cNvSpPr txBox="1"/>
            <p:nvPr/>
          </p:nvSpPr>
          <p:spPr>
            <a:xfrm>
              <a:off x="7863840" y="4224528"/>
              <a:ext cx="182880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1F4E79"/>
                  </a:solidFill>
                  <a:latin typeface="Bahnschrift SemiBold Condensed"/>
                  <a:ea typeface="Bahnschrift SemiBold Condensed"/>
                  <a:cs typeface="Bahnschrift SemiBold Condensed"/>
                  <a:sym typeface="Bahnschrift SemiBold Condensed"/>
                </a:rPr>
                <a:t>glucemia «normal»</a:t>
              </a:r>
              <a:endParaRPr lang="es-AR" sz="1250" dirty="0">
                <a:latin typeface="Bahnschrift SemiBold Condensed"/>
              </a:endParaRPr>
            </a:p>
          </p:txBody>
        </p:sp>
        <p:sp>
          <p:nvSpPr>
            <p:cNvPr id="34" name="Entrada alta"/>
            <p:cNvSpPr/>
            <p:nvPr/>
          </p:nvSpPr>
          <p:spPr>
            <a:xfrm>
              <a:off x="6583680" y="1600200"/>
              <a:ext cx="1600200" cy="548640"/>
            </a:xfrm>
            <a:custGeom>
              <a:avLst/>
              <a:gdLst/>
              <a:ahLst/>
              <a:cxnLst/>
              <a:rect l="0" t="0" r="r" b="b"/>
              <a:pathLst>
                <a:path w="1749" h="600" fill="none">
                  <a:moveTo>
                    <a:pt x="0" y="0"/>
                  </a:moveTo>
                  <a:lnTo>
                    <a:pt x="1200" y="0"/>
                  </a:lnTo>
                  <a:lnTo>
                    <a:pt x="1749" y="600"/>
                  </a:lnTo>
                </a:path>
              </a:pathLst>
            </a:custGeom>
            <a:noFill/>
            <a:ln w="114300" cap="rnd">
              <a:solidFill>
                <a:srgbClr val="2563B0"/>
              </a:solidFill>
              <a:round/>
              <a:tailEnd type="triangle" w="med" len="med"/>
            </a:ln>
          </p:spPr>
        </p:sp>
        <p:sp>
          <p:nvSpPr>
            <p:cNvPr id="35" name="Salida alta"/>
            <p:cNvSpPr/>
            <p:nvPr/>
          </p:nvSpPr>
          <p:spPr>
            <a:xfrm>
              <a:off x="9418320" y="4069080"/>
              <a:ext cx="1828800" cy="457200"/>
            </a:xfrm>
            <a:custGeom>
              <a:avLst/>
              <a:gdLst/>
              <a:ahLst/>
              <a:cxnLst/>
              <a:rect l="0" t="0" r="r" b="b"/>
              <a:pathLst>
                <a:path w="2000" h="500" fill="none">
                  <a:moveTo>
                    <a:pt x="0" y="0"/>
                  </a:moveTo>
                  <a:lnTo>
                    <a:pt x="649" y="500"/>
                  </a:lnTo>
                  <a:lnTo>
                    <a:pt x="2000" y="500"/>
                  </a:lnTo>
                </a:path>
              </a:pathLst>
            </a:custGeom>
            <a:noFill/>
            <a:ln w="114300" cap="rnd">
              <a:solidFill>
                <a:srgbClr val="2563B0"/>
              </a:solidFill>
              <a:round/>
              <a:tailEnd type="triangle" w="med" len="med"/>
            </a:ln>
          </p:spPr>
        </p:sp>
        <p:sp>
          <p:nvSpPr>
            <p:cNvPr id="36" name="Forma 41"/>
            <p:cNvSpPr txBox="1"/>
            <p:nvPr/>
          </p:nvSpPr>
          <p:spPr>
            <a:xfrm>
              <a:off x="6217920" y="1691640"/>
              <a:ext cx="1645920" cy="68580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1E1E1E"/>
                  </a:solidFill>
                  <a:latin typeface="Bahnschrift"/>
                  <a:ea typeface="Bahnschrift"/>
                  <a:cs typeface="Bahnschrift"/>
                  <a:sym typeface="Bahnschrift"/>
                </a:rPr>
                <a:t>Entrada</a:t>
              </a:r>
              <a:endParaRPr lang="es-AR" sz="1200" dirty="0">
                <a:latin typeface="Bahnschrift"/>
              </a:endParaRPr>
            </a:p>
            <a:p>
              <a:pPr algn="l">
                <a:spcAft>
                  <a:spcPts val="300"/>
                </a:spcAft>
                <a:buNone/>
              </a:pPr>
              <a:r>
                <a:rPr lang="es-AR" sz="1200" dirty="0">
                  <a:solidFill>
                    <a:srgbClr val="1E1E1E"/>
                  </a:solidFill>
                  <a:latin typeface="Bahnschrift"/>
                  <a:ea typeface="Bahnschrift"/>
                  <a:cs typeface="Bahnschrift"/>
                  <a:sym typeface="Bahnschrift"/>
                </a:rPr>
                <a:t>(producción hepática + absorción)</a:t>
              </a:r>
              <a:endParaRPr lang="es-AR" sz="1200" dirty="0">
                <a:latin typeface="Bahnschrift"/>
              </a:endParaRPr>
            </a:p>
          </p:txBody>
        </p:sp>
        <p:sp>
          <p:nvSpPr>
            <p:cNvPr id="37" name="Forma 42"/>
            <p:cNvSpPr txBox="1"/>
            <p:nvPr/>
          </p:nvSpPr>
          <p:spPr>
            <a:xfrm>
              <a:off x="9829800" y="3383280"/>
              <a:ext cx="1828800" cy="685800"/>
            </a:xfrm>
            <a:prstGeom prst="rect">
              <a:avLst/>
            </a:prstGeom>
            <a:noFill/>
            <a:ln>
              <a:noFill/>
            </a:ln>
          </p:spPr>
          <p:txBody>
            <a:bodyPr wrap="square" lIns="0" tIns="0" rIns="0" bIns="0" anchor="t" rtlCol="0">
              <a:noAutofit/>
            </a:bodyPr>
            <a:lstStyle/>
            <a:p>
              <a:pPr algn="r">
                <a:spcAft>
                  <a:spcPts val="300"/>
                </a:spcAft>
                <a:buNone/>
              </a:pPr>
              <a:r>
                <a:rPr lang="es-AR" sz="1200" b="1" dirty="0">
                  <a:solidFill>
                    <a:srgbClr val="1E1E1E"/>
                  </a:solidFill>
                  <a:latin typeface="Bahnschrift"/>
                  <a:ea typeface="Bahnschrift"/>
                  <a:cs typeface="Bahnschrift"/>
                  <a:sym typeface="Bahnschrift"/>
                </a:rPr>
                <a:t>Salida</a:t>
              </a:r>
              <a:endParaRPr lang="es-AR" sz="1200" dirty="0">
                <a:latin typeface="Bahnschrift"/>
              </a:endParaRPr>
            </a:p>
            <a:p>
              <a:pPr algn="r">
                <a:spcAft>
                  <a:spcPts val="300"/>
                </a:spcAft>
                <a:buNone/>
              </a:pPr>
              <a:r>
                <a:rPr lang="es-AR" sz="1200" dirty="0">
                  <a:solidFill>
                    <a:srgbClr val="1E1E1E"/>
                  </a:solidFill>
                  <a:latin typeface="Bahnschrift"/>
                  <a:ea typeface="Bahnschrift"/>
                  <a:cs typeface="Bahnschrift"/>
                  <a:sym typeface="Bahnschrift"/>
                </a:rPr>
                <a:t>(utilización periférica)</a:t>
              </a:r>
              <a:endParaRPr lang="es-AR" sz="1200" dirty="0">
                <a:latin typeface="Bahnschrift"/>
              </a:endParaRPr>
            </a:p>
          </p:txBody>
        </p:sp>
      </p:grpSp>
      <p:sp>
        <p:nvSpPr>
          <p:cNvPr id="38" name="Forma 43"/>
          <p:cNvSpPr/>
          <p:nvPr/>
        </p:nvSpPr>
        <p:spPr>
          <a:xfrm>
            <a:off x="6035040" y="5212080"/>
            <a:ext cx="5760720" cy="12801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Glucemia normal puede coexistir con </a:t>
            </a:r>
            <a:r>
              <a:rPr lang="es-AR" sz="1650" b="1" dirty="0">
                <a:solidFill>
                  <a:srgbClr val="1E1E1E"/>
                </a:solidFill>
                <a:latin typeface="Bahnschrift"/>
                <a:ea typeface="Bahnschrift"/>
                <a:cs typeface="Bahnschrift"/>
                <a:sym typeface="Bahnschrift"/>
              </a:rPr>
              <a:t>alta producción hepática</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alta utilización</a:t>
            </a:r>
            <a:r>
              <a:rPr lang="es-AR" sz="1650" dirty="0">
                <a:solidFill>
                  <a:srgbClr val="1E1E1E"/>
                </a:solidFill>
                <a:latin typeface="Bahnschrift"/>
                <a:ea typeface="Bahnschrift"/>
                <a:cs typeface="Bahnschrift"/>
                <a:sym typeface="Bahnschrift"/>
              </a:rPr>
              <a:t> periférica.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Trigliceridemia alta: </a:t>
            </a:r>
            <a:r>
              <a:rPr lang="es-AR" sz="1650" b="1" dirty="0">
                <a:solidFill>
                  <a:srgbClr val="1E1E1E"/>
                </a:solidFill>
                <a:latin typeface="Bahnschrift"/>
                <a:ea typeface="Bahnschrift"/>
                <a:cs typeface="Bahnschrift"/>
                <a:sym typeface="Bahnschrift"/>
              </a:rPr>
              <a:t>exceso de producción</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menor depuración</a:t>
            </a:r>
            <a:r>
              <a:rPr lang="es-AR" sz="1650" dirty="0">
                <a:solidFill>
                  <a:srgbClr val="1E1E1E"/>
                </a:solidFill>
                <a:latin typeface="Bahnschrift"/>
                <a:ea typeface="Bahnschrift"/>
                <a:cs typeface="Bahnschrift"/>
                <a:sym typeface="Bahnschrift"/>
              </a:rPr>
              <a:t> o ambas.</a:t>
            </a:r>
            <a:endParaRPr lang="es-AR" sz="16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61787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 · DESTINO DEL CARBONO Y DEL NITRÓGENO: PENSAR EN FLUJOS</a:t>
            </a:r>
            <a:endParaRPr lang="es-AR" sz="2600" dirty="0">
              <a:latin typeface="Bahnschrift SemiBold Condensed"/>
            </a:endParaRPr>
          </a:p>
        </p:txBody>
      </p:sp>
      <p:sp>
        <p:nvSpPr>
          <p:cNvPr id="3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Nivel 1"/>
          <p:cNvGrpSpPr/>
          <p:nvPr/>
        </p:nvGrpSpPr>
        <p:grpSpPr>
          <a:xfrm>
            <a:off x="411480" y="5715000"/>
            <a:ext cx="7863840" cy="731520"/>
            <a:chOff x="411480" y="5715000"/>
            <a:chExt cx="7863840" cy="731520"/>
          </a:xfrm>
        </p:grpSpPr>
        <p:sp>
          <p:nvSpPr>
            <p:cNvPr id="5" name="Forma 4"/>
            <p:cNvSpPr/>
            <p:nvPr/>
          </p:nvSpPr>
          <p:spPr>
            <a:xfrm>
              <a:off x="411480" y="5715000"/>
              <a:ext cx="7863840" cy="731520"/>
            </a:xfrm>
            <a:prstGeom prst="rect">
              <a:avLst/>
            </a:prstGeom>
            <a:solidFill>
              <a:srgbClr val="FDEBD0"/>
            </a:solidFill>
            <a:ln w="15875" cap="rnd">
              <a:solidFill>
                <a:srgbClr val="1E1E1E"/>
              </a:solidFill>
              <a:round/>
            </a:ln>
            <a:effectLst>
              <a:outerShdw blurRad="63500" dist="38100" dir="2700000" algn="tl" rotWithShape="0">
                <a:srgbClr val="000000">
                  <a:alpha val="32000"/>
                </a:srgbClr>
              </a:outerShdw>
            </a:effectLst>
          </p:spPr>
        </p:sp>
        <p:sp>
          <p:nvSpPr>
            <p:cNvPr id="6" name="Paso 1"/>
            <p:cNvSpPr/>
            <p:nvPr/>
          </p:nvSpPr>
          <p:spPr>
            <a:xfrm>
              <a:off x="521208" y="5870448"/>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7" name="Forma 6"/>
            <p:cNvSpPr txBox="1"/>
            <p:nvPr/>
          </p:nvSpPr>
          <p:spPr>
            <a:xfrm>
              <a:off x="1051560" y="5733288"/>
              <a:ext cx="694944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DISPONIBILIDAD DE SUSTRATOS</a:t>
              </a:r>
              <a:endParaRPr lang="es-AR" sz="1500" dirty="0">
                <a:latin typeface="Bahnschrift SemiBold Condensed"/>
              </a:endParaRPr>
            </a:p>
          </p:txBody>
        </p:sp>
        <p:sp>
          <p:nvSpPr>
            <p:cNvPr id="8" name="Forma 7"/>
            <p:cNvSpPr txBox="1"/>
            <p:nvPr/>
          </p:nvSpPr>
          <p:spPr>
            <a:xfrm>
              <a:off x="1051560" y="6080760"/>
              <a:ext cx="5120640" cy="329184"/>
            </a:xfrm>
            <a:prstGeom prst="rect">
              <a:avLst/>
            </a:prstGeom>
            <a:noFill/>
            <a:ln>
              <a:noFill/>
            </a:ln>
          </p:spPr>
          <p:txBody>
            <a:bodyPr wrap="square" lIns="0" tIns="0" rIns="0" bIns="0" anchor="ctr" rtlCol="0">
              <a:noAutofit/>
            </a:bodyPr>
            <a:lstStyle/>
            <a:p>
              <a:pPr algn="l">
                <a:spcAft>
                  <a:spcPts val="300"/>
                </a:spcAft>
                <a:buNone/>
              </a:pPr>
              <a:r>
                <a:rPr lang="es-AR" sz="1250" dirty="0">
                  <a:solidFill>
                    <a:srgbClr val="3A2A20"/>
                  </a:solidFill>
                  <a:latin typeface="Bahnschrift"/>
                  <a:ea typeface="Bahnschrift"/>
                  <a:cs typeface="Bahnschrift"/>
                  <a:sym typeface="Bahnschrift"/>
                </a:rPr>
                <a:t>glucosa, AG, aminoácidos, O</a:t>
              </a:r>
              <a:r>
                <a:rPr lang="es-AR" sz="1250" baseline="-25000" dirty="0">
                  <a:solidFill>
                    <a:srgbClr val="3A2A20"/>
                  </a:solidFill>
                  <a:latin typeface="Bahnschrift"/>
                  <a:ea typeface="Bahnschrift"/>
                  <a:cs typeface="Bahnschrift"/>
                  <a:sym typeface="Bahnschrift"/>
                </a:rPr>
                <a:t>2</a:t>
              </a:r>
              <a:endParaRPr lang="es-AR" sz="1250" dirty="0">
                <a:latin typeface="Bahnschrift"/>
              </a:endParaRPr>
            </a:p>
          </p:txBody>
        </p:sp>
        <p:sp>
          <p:nvSpPr>
            <p:cNvPr id="9" name="Forma 8"/>
            <p:cNvSpPr/>
            <p:nvPr/>
          </p:nvSpPr>
          <p:spPr>
            <a:xfrm>
              <a:off x="6675120" y="6099048"/>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continuo</a:t>
              </a:r>
              <a:endParaRPr lang="es-AR" sz="1150" dirty="0">
                <a:latin typeface="Bahnschrift SemiBold Condensed"/>
              </a:endParaRPr>
            </a:p>
          </p:txBody>
        </p:sp>
      </p:grpSp>
      <p:grpSp>
        <p:nvGrpSpPr>
          <p:cNvPr id="10" name="Nivel 2"/>
          <p:cNvGrpSpPr/>
          <p:nvPr/>
        </p:nvGrpSpPr>
        <p:grpSpPr>
          <a:xfrm>
            <a:off x="731520" y="4873752"/>
            <a:ext cx="7543800" cy="731520"/>
            <a:chOff x="731520" y="4873752"/>
            <a:chExt cx="7543800" cy="731520"/>
          </a:xfrm>
        </p:grpSpPr>
        <p:sp>
          <p:nvSpPr>
            <p:cNvPr id="11" name="Forma 10"/>
            <p:cNvSpPr/>
            <p:nvPr/>
          </p:nvSpPr>
          <p:spPr>
            <a:xfrm>
              <a:off x="731520" y="4873752"/>
              <a:ext cx="7543800" cy="731520"/>
            </a:xfrm>
            <a:prstGeom prst="rect">
              <a:avLst/>
            </a:prstGeom>
            <a:solidFill>
              <a:srgbClr val="FAD7A0"/>
            </a:solidFill>
            <a:ln w="15875" cap="rnd">
              <a:solidFill>
                <a:srgbClr val="1E1E1E"/>
              </a:solidFill>
              <a:round/>
            </a:ln>
            <a:effectLst>
              <a:outerShdw blurRad="63500" dist="38100" dir="2700000" algn="tl" rotWithShape="0">
                <a:srgbClr val="000000">
                  <a:alpha val="32000"/>
                </a:srgbClr>
              </a:outerShdw>
            </a:effectLst>
          </p:spPr>
        </p:sp>
        <p:sp>
          <p:nvSpPr>
            <p:cNvPr id="12" name="Paso 2"/>
            <p:cNvSpPr/>
            <p:nvPr/>
          </p:nvSpPr>
          <p:spPr>
            <a:xfrm>
              <a:off x="841248" y="5029200"/>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13" name="Forma 12"/>
            <p:cNvSpPr txBox="1"/>
            <p:nvPr/>
          </p:nvSpPr>
          <p:spPr>
            <a:xfrm>
              <a:off x="1371600" y="4892040"/>
              <a:ext cx="66294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SENSORES CELULARES</a:t>
              </a:r>
              <a:endParaRPr lang="es-AR" sz="1500" dirty="0">
                <a:latin typeface="Bahnschrift SemiBold Condensed"/>
              </a:endParaRPr>
            </a:p>
          </p:txBody>
        </p:sp>
        <p:sp>
          <p:nvSpPr>
            <p:cNvPr id="14" name="Forma 13"/>
            <p:cNvSpPr txBox="1"/>
            <p:nvPr/>
          </p:nvSpPr>
          <p:spPr>
            <a:xfrm>
              <a:off x="1371600" y="5239512"/>
              <a:ext cx="4800600" cy="329184"/>
            </a:xfrm>
            <a:prstGeom prst="rect">
              <a:avLst/>
            </a:prstGeom>
            <a:noFill/>
            <a:ln>
              <a:noFill/>
            </a:ln>
          </p:spPr>
          <p:txBody>
            <a:bodyPr wrap="square" lIns="0" tIns="0" rIns="0" bIns="0" anchor="ctr" rtlCol="0">
              <a:noAutofit/>
            </a:bodyPr>
            <a:lstStyle/>
            <a:p>
              <a:pPr algn="l">
                <a:spcAft>
                  <a:spcPts val="300"/>
                </a:spcAft>
                <a:buNone/>
              </a:pPr>
              <a:r>
                <a:rPr lang="es-AR" sz="1250" dirty="0">
                  <a:solidFill>
                    <a:srgbClr val="3A2A20"/>
                  </a:solidFill>
                  <a:latin typeface="Bahnschrift"/>
                  <a:ea typeface="Bahnschrift"/>
                  <a:cs typeface="Bahnschrift"/>
                  <a:sym typeface="Bahnschrift"/>
                </a:rPr>
                <a:t>ATP/AMP, malonil-CoA, acetil-CoA, NADH/NAD</a:t>
              </a:r>
              <a:r>
                <a:rPr lang="es-AR" sz="1250" baseline="30000" dirty="0">
                  <a:solidFill>
                    <a:srgbClr val="3A2A20"/>
                  </a:solidFill>
                  <a:latin typeface="Bahnschrift"/>
                  <a:ea typeface="Bahnschrift"/>
                  <a:cs typeface="Bahnschrift"/>
                  <a:sym typeface="Bahnschrift"/>
                </a:rPr>
                <a:t>+</a:t>
              </a:r>
              <a:endParaRPr lang="es-AR" sz="1250" dirty="0">
                <a:latin typeface="Bahnschrift"/>
              </a:endParaRPr>
            </a:p>
          </p:txBody>
        </p:sp>
        <p:sp>
          <p:nvSpPr>
            <p:cNvPr id="15" name="Forma 14"/>
            <p:cNvSpPr/>
            <p:nvPr/>
          </p:nvSpPr>
          <p:spPr>
            <a:xfrm>
              <a:off x="6675120" y="5257800"/>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instantáneo</a:t>
              </a:r>
              <a:endParaRPr lang="es-AR" sz="1150" dirty="0">
                <a:latin typeface="Bahnschrift SemiBold Condensed"/>
              </a:endParaRPr>
            </a:p>
          </p:txBody>
        </p:sp>
      </p:grpSp>
      <p:grpSp>
        <p:nvGrpSpPr>
          <p:cNvPr id="16" name="Nivel 3"/>
          <p:cNvGrpSpPr/>
          <p:nvPr/>
        </p:nvGrpSpPr>
        <p:grpSpPr>
          <a:xfrm>
            <a:off x="1051560" y="4032504"/>
            <a:ext cx="7223760" cy="731520"/>
            <a:chOff x="1051560" y="4032504"/>
            <a:chExt cx="7223760" cy="731520"/>
          </a:xfrm>
        </p:grpSpPr>
        <p:sp>
          <p:nvSpPr>
            <p:cNvPr id="17" name="Forma 16"/>
            <p:cNvSpPr/>
            <p:nvPr/>
          </p:nvSpPr>
          <p:spPr>
            <a:xfrm>
              <a:off x="1051560" y="4032504"/>
              <a:ext cx="7223760" cy="731520"/>
            </a:xfrm>
            <a:prstGeom prst="rect">
              <a:avLst/>
            </a:prstGeom>
            <a:solidFill>
              <a:srgbClr val="F8C471"/>
            </a:solidFill>
            <a:ln w="15875" cap="rnd">
              <a:solidFill>
                <a:srgbClr val="1E1E1E"/>
              </a:solidFill>
              <a:round/>
            </a:ln>
            <a:effectLst>
              <a:outerShdw blurRad="63500" dist="38100" dir="2700000" algn="tl" rotWithShape="0">
                <a:srgbClr val="000000">
                  <a:alpha val="32000"/>
                </a:srgbClr>
              </a:outerShdw>
            </a:effectLst>
          </p:spPr>
        </p:sp>
        <p:sp>
          <p:nvSpPr>
            <p:cNvPr id="18" name="Paso 3"/>
            <p:cNvSpPr/>
            <p:nvPr/>
          </p:nvSpPr>
          <p:spPr>
            <a:xfrm>
              <a:off x="1161288" y="4187952"/>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19" name="Forma 18"/>
            <p:cNvSpPr txBox="1"/>
            <p:nvPr/>
          </p:nvSpPr>
          <p:spPr>
            <a:xfrm>
              <a:off x="1691640" y="4050792"/>
              <a:ext cx="630936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MODIFICACIÓN ALOSTÉRICA / COVALENTE</a:t>
              </a:r>
              <a:endParaRPr lang="es-AR" sz="1500" dirty="0">
                <a:latin typeface="Bahnschrift SemiBold Condensed"/>
              </a:endParaRPr>
            </a:p>
          </p:txBody>
        </p:sp>
        <p:sp>
          <p:nvSpPr>
            <p:cNvPr id="20" name="Forma 19"/>
            <p:cNvSpPr txBox="1"/>
            <p:nvPr/>
          </p:nvSpPr>
          <p:spPr>
            <a:xfrm>
              <a:off x="1691640" y="4398264"/>
              <a:ext cx="4480560" cy="329184"/>
            </a:xfrm>
            <a:prstGeom prst="rect">
              <a:avLst/>
            </a:prstGeom>
            <a:noFill/>
            <a:ln>
              <a:noFill/>
            </a:ln>
          </p:spPr>
          <p:txBody>
            <a:bodyPr wrap="square" lIns="0" tIns="0" rIns="0" bIns="0" anchor="ctr" rtlCol="0">
              <a:noAutofit/>
            </a:bodyPr>
            <a:lstStyle/>
            <a:p>
              <a:pPr algn="l">
                <a:spcAft>
                  <a:spcPts val="300"/>
                </a:spcAft>
                <a:buNone/>
              </a:pPr>
              <a:r>
                <a:rPr lang="es-AR" sz="1250" dirty="0">
                  <a:solidFill>
                    <a:srgbClr val="3A2A20"/>
                  </a:solidFill>
                  <a:latin typeface="Bahnschrift"/>
                  <a:ea typeface="Bahnschrift"/>
                  <a:cs typeface="Bahnschrift"/>
                  <a:sym typeface="Bahnschrift"/>
                </a:rPr>
                <a:t>efectores alostéricos; fosforilación–desfosforilación</a:t>
              </a:r>
              <a:endParaRPr lang="es-AR" sz="1250" dirty="0">
                <a:latin typeface="Bahnschrift"/>
              </a:endParaRPr>
            </a:p>
          </p:txBody>
        </p:sp>
        <p:sp>
          <p:nvSpPr>
            <p:cNvPr id="21" name="Forma 20"/>
            <p:cNvSpPr/>
            <p:nvPr/>
          </p:nvSpPr>
          <p:spPr>
            <a:xfrm>
              <a:off x="6675120" y="4416552"/>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segundos–minutos</a:t>
              </a:r>
              <a:endParaRPr lang="es-AR" sz="1150" dirty="0">
                <a:latin typeface="Bahnschrift SemiBold Condensed"/>
              </a:endParaRPr>
            </a:p>
          </p:txBody>
        </p:sp>
      </p:grpSp>
      <p:grpSp>
        <p:nvGrpSpPr>
          <p:cNvPr id="22" name="Nivel 4"/>
          <p:cNvGrpSpPr/>
          <p:nvPr/>
        </p:nvGrpSpPr>
        <p:grpSpPr>
          <a:xfrm>
            <a:off x="1371600" y="3191256"/>
            <a:ext cx="6903720" cy="731520"/>
            <a:chOff x="1371600" y="3191256"/>
            <a:chExt cx="6903720" cy="731520"/>
          </a:xfrm>
        </p:grpSpPr>
        <p:sp>
          <p:nvSpPr>
            <p:cNvPr id="23" name="Forma 22"/>
            <p:cNvSpPr/>
            <p:nvPr/>
          </p:nvSpPr>
          <p:spPr>
            <a:xfrm>
              <a:off x="1371600" y="3191256"/>
              <a:ext cx="6903720" cy="731520"/>
            </a:xfrm>
            <a:prstGeom prst="rect">
              <a:avLst/>
            </a:prstGeom>
            <a:solidFill>
              <a:srgbClr val="F5B041"/>
            </a:solidFill>
            <a:ln w="15875" cap="rnd">
              <a:solidFill>
                <a:srgbClr val="1E1E1E"/>
              </a:solidFill>
              <a:round/>
            </a:ln>
            <a:effectLst>
              <a:outerShdw blurRad="63500" dist="38100" dir="2700000" algn="tl" rotWithShape="0">
                <a:srgbClr val="000000">
                  <a:alpha val="32000"/>
                </a:srgbClr>
              </a:outerShdw>
            </a:effectLst>
          </p:spPr>
        </p:sp>
        <p:sp>
          <p:nvSpPr>
            <p:cNvPr id="24" name="Paso 4"/>
            <p:cNvSpPr/>
            <p:nvPr/>
          </p:nvSpPr>
          <p:spPr>
            <a:xfrm>
              <a:off x="1481328" y="3346704"/>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sp>
          <p:nvSpPr>
            <p:cNvPr id="25" name="Forma 24"/>
            <p:cNvSpPr txBox="1"/>
            <p:nvPr/>
          </p:nvSpPr>
          <p:spPr>
            <a:xfrm>
              <a:off x="2011680" y="3209544"/>
              <a:ext cx="598932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TRANSCRIPCIÓN</a:t>
              </a:r>
              <a:endParaRPr lang="es-AR" sz="1500" dirty="0">
                <a:latin typeface="Bahnschrift SemiBold Condensed"/>
              </a:endParaRPr>
            </a:p>
          </p:txBody>
        </p:sp>
        <p:sp>
          <p:nvSpPr>
            <p:cNvPr id="26" name="Forma 25"/>
            <p:cNvSpPr txBox="1"/>
            <p:nvPr/>
          </p:nvSpPr>
          <p:spPr>
            <a:xfrm>
              <a:off x="2011680" y="3557016"/>
              <a:ext cx="4160520" cy="329184"/>
            </a:xfrm>
            <a:prstGeom prst="rect">
              <a:avLst/>
            </a:prstGeom>
            <a:noFill/>
            <a:ln>
              <a:noFill/>
            </a:ln>
          </p:spPr>
          <p:txBody>
            <a:bodyPr wrap="square" lIns="0" tIns="0" rIns="0" bIns="0" anchor="ctr" rtlCol="0">
              <a:noAutofit/>
            </a:bodyPr>
            <a:lstStyle/>
            <a:p>
              <a:pPr algn="l">
                <a:spcAft>
                  <a:spcPts val="300"/>
                </a:spcAft>
                <a:buNone/>
              </a:pPr>
              <a:r>
                <a:rPr lang="es-AR" sz="1250" dirty="0">
                  <a:solidFill>
                    <a:srgbClr val="3A2A20"/>
                  </a:solidFill>
                  <a:latin typeface="Bahnschrift"/>
                  <a:ea typeface="Bahnschrift"/>
                  <a:cs typeface="Bahnschrift"/>
                  <a:sym typeface="Bahnschrift"/>
                </a:rPr>
                <a:t>CREB, FOXO1, ChREBP, SREBP, PPARα</a:t>
              </a:r>
              <a:endParaRPr lang="es-AR" sz="1250" dirty="0">
                <a:latin typeface="Bahnschrift"/>
              </a:endParaRPr>
            </a:p>
          </p:txBody>
        </p:sp>
        <p:sp>
          <p:nvSpPr>
            <p:cNvPr id="27" name="Forma 26"/>
            <p:cNvSpPr/>
            <p:nvPr/>
          </p:nvSpPr>
          <p:spPr>
            <a:xfrm>
              <a:off x="6675120" y="3575304"/>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horas–días</a:t>
              </a:r>
              <a:endParaRPr lang="es-AR" sz="1150" dirty="0">
                <a:latin typeface="Bahnschrift SemiBold Condensed"/>
              </a:endParaRPr>
            </a:p>
          </p:txBody>
        </p:sp>
      </p:grpSp>
      <p:grpSp>
        <p:nvGrpSpPr>
          <p:cNvPr id="28" name="Nivel 5"/>
          <p:cNvGrpSpPr/>
          <p:nvPr/>
        </p:nvGrpSpPr>
        <p:grpSpPr>
          <a:xfrm>
            <a:off x="1691640" y="2350008"/>
            <a:ext cx="6583680" cy="731520"/>
            <a:chOff x="1691640" y="2350008"/>
            <a:chExt cx="6583680" cy="731520"/>
          </a:xfrm>
        </p:grpSpPr>
        <p:sp>
          <p:nvSpPr>
            <p:cNvPr id="29" name="Forma 28"/>
            <p:cNvSpPr/>
            <p:nvPr/>
          </p:nvSpPr>
          <p:spPr>
            <a:xfrm>
              <a:off x="1691640" y="2350008"/>
              <a:ext cx="6583680" cy="731520"/>
            </a:xfrm>
            <a:prstGeom prst="rect">
              <a:avLst/>
            </a:prstGeom>
            <a:solidFill>
              <a:srgbClr val="EB984E"/>
            </a:solidFill>
            <a:ln w="15875" cap="rnd">
              <a:solidFill>
                <a:srgbClr val="1E1E1E"/>
              </a:solidFill>
              <a:round/>
            </a:ln>
            <a:effectLst>
              <a:outerShdw blurRad="63500" dist="38100" dir="2700000" algn="tl" rotWithShape="0">
                <a:srgbClr val="000000">
                  <a:alpha val="32000"/>
                </a:srgbClr>
              </a:outerShdw>
            </a:effectLst>
          </p:spPr>
        </p:sp>
        <p:sp>
          <p:nvSpPr>
            <p:cNvPr id="30" name="Paso 5"/>
            <p:cNvSpPr/>
            <p:nvPr/>
          </p:nvSpPr>
          <p:spPr>
            <a:xfrm>
              <a:off x="1801368" y="2505456"/>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a:t>
              </a:r>
              <a:endParaRPr lang="es-AR" sz="1500" dirty="0">
                <a:latin typeface="Bahnschrift SemiBold Condensed"/>
              </a:endParaRPr>
            </a:p>
          </p:txBody>
        </p:sp>
        <p:sp>
          <p:nvSpPr>
            <p:cNvPr id="31" name="Forma 30"/>
            <p:cNvSpPr txBox="1"/>
            <p:nvPr/>
          </p:nvSpPr>
          <p:spPr>
            <a:xfrm>
              <a:off x="2331720" y="2368296"/>
              <a:ext cx="566928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INTERCAMBIO ENTRE ÓRGANOS</a:t>
              </a:r>
              <a:endParaRPr lang="es-AR" sz="1500" dirty="0">
                <a:latin typeface="Bahnschrift SemiBold Condensed"/>
              </a:endParaRPr>
            </a:p>
          </p:txBody>
        </p:sp>
        <p:sp>
          <p:nvSpPr>
            <p:cNvPr id="32" name="Forma 31"/>
            <p:cNvSpPr txBox="1"/>
            <p:nvPr/>
          </p:nvSpPr>
          <p:spPr>
            <a:xfrm>
              <a:off x="2331720" y="2715768"/>
              <a:ext cx="3840480" cy="329184"/>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3A2A20"/>
                  </a:solidFill>
                  <a:latin typeface="Bahnschrift"/>
                  <a:ea typeface="Bahnschrift"/>
                  <a:cs typeface="Bahnschrift"/>
                  <a:sym typeface="Bahnschrift"/>
                </a:rPr>
                <a:t>lactato, alanina, glutamina, glicerol, cuerpos cetónicos</a:t>
              </a:r>
              <a:endParaRPr lang="es-AR" sz="1200" dirty="0">
                <a:latin typeface="Bahnschrift"/>
              </a:endParaRPr>
            </a:p>
          </p:txBody>
        </p:sp>
        <p:sp>
          <p:nvSpPr>
            <p:cNvPr id="33" name="Forma 32"/>
            <p:cNvSpPr/>
            <p:nvPr/>
          </p:nvSpPr>
          <p:spPr>
            <a:xfrm>
              <a:off x="6675120" y="2734056"/>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minutos–días</a:t>
              </a:r>
              <a:endParaRPr lang="es-AR" sz="1150" dirty="0">
                <a:latin typeface="Bahnschrift SemiBold Condensed"/>
              </a:endParaRPr>
            </a:p>
          </p:txBody>
        </p:sp>
      </p:grpSp>
      <p:grpSp>
        <p:nvGrpSpPr>
          <p:cNvPr id="34" name="Nivel 6"/>
          <p:cNvGrpSpPr/>
          <p:nvPr/>
        </p:nvGrpSpPr>
        <p:grpSpPr>
          <a:xfrm>
            <a:off x="2011680" y="1508760"/>
            <a:ext cx="6263640" cy="731520"/>
            <a:chOff x="2011680" y="1508760"/>
            <a:chExt cx="6263640" cy="731520"/>
          </a:xfrm>
        </p:grpSpPr>
        <p:sp>
          <p:nvSpPr>
            <p:cNvPr id="35" name="Forma 34"/>
            <p:cNvSpPr/>
            <p:nvPr/>
          </p:nvSpPr>
          <p:spPr>
            <a:xfrm>
              <a:off x="2011680" y="1508760"/>
              <a:ext cx="6263640" cy="731520"/>
            </a:xfrm>
            <a:prstGeom prst="rect">
              <a:avLst/>
            </a:prstGeom>
            <a:solidFill>
              <a:srgbClr val="DC7633"/>
            </a:solidFill>
            <a:ln w="15875" cap="rnd">
              <a:solidFill>
                <a:srgbClr val="1E1E1E"/>
              </a:solidFill>
              <a:round/>
            </a:ln>
            <a:effectLst>
              <a:outerShdw blurRad="63500" dist="38100" dir="2700000" algn="tl" rotWithShape="0">
                <a:srgbClr val="000000">
                  <a:alpha val="32000"/>
                </a:srgbClr>
              </a:outerShdw>
            </a:effectLst>
          </p:spPr>
        </p:sp>
        <p:sp>
          <p:nvSpPr>
            <p:cNvPr id="36" name="Paso 6"/>
            <p:cNvSpPr/>
            <p:nvPr/>
          </p:nvSpPr>
          <p:spPr>
            <a:xfrm>
              <a:off x="2121408" y="1664208"/>
              <a:ext cx="420624" cy="420624"/>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6</a:t>
              </a:r>
              <a:endParaRPr lang="es-AR" sz="1500" dirty="0">
                <a:latin typeface="Bahnschrift SemiBold Condensed"/>
              </a:endParaRPr>
            </a:p>
          </p:txBody>
        </p:sp>
        <p:sp>
          <p:nvSpPr>
            <p:cNvPr id="37" name="Forma 36"/>
            <p:cNvSpPr txBox="1"/>
            <p:nvPr/>
          </p:nvSpPr>
          <p:spPr>
            <a:xfrm>
              <a:off x="2651760" y="1527048"/>
              <a:ext cx="534924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CONTROL HIPOTALÁMICO Y CONDUCTUAL</a:t>
              </a:r>
              <a:endParaRPr lang="es-AR" sz="1500" dirty="0">
                <a:latin typeface="Bahnschrift SemiBold Condensed"/>
              </a:endParaRPr>
            </a:p>
          </p:txBody>
        </p:sp>
        <p:sp>
          <p:nvSpPr>
            <p:cNvPr id="38" name="Forma 37"/>
            <p:cNvSpPr txBox="1"/>
            <p:nvPr/>
          </p:nvSpPr>
          <p:spPr>
            <a:xfrm>
              <a:off x="2651760" y="1874520"/>
              <a:ext cx="3520440" cy="329184"/>
            </a:xfrm>
            <a:prstGeom prst="rect">
              <a:avLst/>
            </a:prstGeom>
            <a:noFill/>
            <a:ln>
              <a:noFill/>
            </a:ln>
          </p:spPr>
          <p:txBody>
            <a:bodyPr wrap="square" lIns="0" tIns="0" rIns="0" bIns="0" anchor="ctr" rtlCol="0">
              <a:noAutofit/>
            </a:bodyPr>
            <a:lstStyle/>
            <a:p>
              <a:pPr algn="l">
                <a:spcAft>
                  <a:spcPts val="300"/>
                </a:spcAft>
                <a:buNone/>
              </a:pPr>
              <a:r>
                <a:rPr lang="es-AR" sz="1250" dirty="0">
                  <a:solidFill>
                    <a:srgbClr val="3A2A20"/>
                  </a:solidFill>
                  <a:latin typeface="Bahnschrift"/>
                  <a:ea typeface="Bahnschrift"/>
                  <a:cs typeface="Bahnschrift"/>
                  <a:sym typeface="Bahnschrift"/>
                </a:rPr>
                <a:t>hambre, saciedad, gasto, sistema autónomo</a:t>
              </a:r>
              <a:endParaRPr lang="es-AR" sz="1250" dirty="0">
                <a:latin typeface="Bahnschrift"/>
              </a:endParaRPr>
            </a:p>
          </p:txBody>
        </p:sp>
        <p:sp>
          <p:nvSpPr>
            <p:cNvPr id="39" name="Forma 38"/>
            <p:cNvSpPr/>
            <p:nvPr/>
          </p:nvSpPr>
          <p:spPr>
            <a:xfrm>
              <a:off x="6675120" y="1892808"/>
              <a:ext cx="1463040" cy="274320"/>
            </a:xfrm>
            <a:prstGeom prst="rect">
              <a:avLst/>
            </a:prstGeom>
            <a:solidFill>
              <a:srgbClr val="FFFFFF"/>
            </a:solidFill>
            <a:ln w="952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horas–años</a:t>
              </a:r>
              <a:endParaRPr lang="es-AR" sz="1150" dirty="0">
                <a:latin typeface="Bahnschrift SemiBold Condensed"/>
              </a:endParaRPr>
            </a:p>
          </p:txBody>
        </p:sp>
      </p:grpSp>
      <p:grpSp>
        <p:nvGrpSpPr>
          <p:cNvPr id="40" name="Recuadro Señal maestra"/>
          <p:cNvGrpSpPr/>
          <p:nvPr/>
        </p:nvGrpSpPr>
        <p:grpSpPr>
          <a:xfrm>
            <a:off x="8732520" y="1051560"/>
            <a:ext cx="3063240" cy="2743200"/>
            <a:chOff x="8732520" y="1051560"/>
            <a:chExt cx="3063240" cy="2743200"/>
          </a:xfrm>
        </p:grpSpPr>
        <p:sp>
          <p:nvSpPr>
            <p:cNvPr id="41" name="Forma 40"/>
            <p:cNvSpPr/>
            <p:nvPr/>
          </p:nvSpPr>
          <p:spPr>
            <a:xfrm>
              <a:off x="8732520" y="1234440"/>
              <a:ext cx="3063240" cy="25603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Insulina</a:t>
              </a:r>
              <a:r>
                <a:rPr lang="es-AR" sz="1550" dirty="0">
                  <a:solidFill>
                    <a:srgbClr val="1E1E1E"/>
                  </a:solidFill>
                  <a:latin typeface="Bahnschrift"/>
                  <a:ea typeface="Bahnschrift"/>
                  <a:cs typeface="Bahnschrift"/>
                  <a:sym typeface="Bahnschrift"/>
                </a:rPr>
                <a:t> expresa predominantemente </a:t>
              </a:r>
              <a:r>
                <a:rPr lang="es-AR" sz="1550" b="1" dirty="0">
                  <a:solidFill>
                    <a:srgbClr val="1E1E1E"/>
                  </a:solidFill>
                  <a:latin typeface="Bahnschrift"/>
                  <a:ea typeface="Bahnschrift"/>
                  <a:cs typeface="Bahnschrift"/>
                  <a:sym typeface="Bahnschrift"/>
                </a:rPr>
                <a:t>abundancia</a:t>
              </a:r>
              <a:r>
                <a:rPr lang="es-AR" sz="1550" dirty="0">
                  <a:solidFill>
                    <a:srgbClr val="1E1E1E"/>
                  </a:solidFill>
                  <a:latin typeface="Bahnschrift"/>
                  <a:ea typeface="Bahnschrift"/>
                  <a:cs typeface="Bahnschrift"/>
                  <a:sym typeface="Bahnschrift"/>
                </a:rPr>
                <a:t>.</a:t>
              </a:r>
              <a:endParaRPr lang="es-AR" sz="1550" dirty="0">
                <a:latin typeface="Bahnschrift"/>
              </a:endParaRPr>
            </a:p>
            <a:p>
              <a:pPr algn="l">
                <a:spcAft>
                  <a:spcPts val="400"/>
                </a:spcAft>
                <a:buNone/>
              </a:pPr>
              <a:endParaRPr lang="es-AR" sz="1550" dirty="0">
                <a:latin typeface="Bahnschrift"/>
              </a:endParaRPr>
            </a:p>
            <a:p>
              <a:pPr algn="l">
                <a:spcAft>
                  <a:spcPts val="400"/>
                </a:spcAft>
                <a:buNone/>
              </a:pPr>
              <a:r>
                <a:rPr lang="es-AR" sz="1550" dirty="0">
                  <a:solidFill>
                    <a:srgbClr val="1E1E1E"/>
                  </a:solidFill>
                  <a:latin typeface="Bahnschrift"/>
                  <a:ea typeface="Bahnschrift"/>
                  <a:cs typeface="Bahnschrift"/>
                  <a:sym typeface="Bahnschrift"/>
                </a:rPr>
                <a:t>El </a:t>
              </a:r>
              <a:r>
                <a:rPr lang="es-AR" sz="1550" b="1" dirty="0">
                  <a:solidFill>
                    <a:srgbClr val="1E1E1E"/>
                  </a:solidFill>
                  <a:latin typeface="Bahnschrift"/>
                  <a:ea typeface="Bahnschrift"/>
                  <a:cs typeface="Bahnschrift"/>
                  <a:sym typeface="Bahnschrift"/>
                </a:rPr>
                <a:t>descenso de su acción</a:t>
              </a:r>
              <a:r>
                <a:rPr lang="es-AR" sz="1550" dirty="0">
                  <a:solidFill>
                    <a:srgbClr val="1E1E1E"/>
                  </a:solidFill>
                  <a:latin typeface="Bahnschrift"/>
                  <a:ea typeface="Bahnschrift"/>
                  <a:cs typeface="Bahnschrift"/>
                  <a:sym typeface="Bahnschrift"/>
                </a:rPr>
                <a:t>, junto con glucagón y señales contrarreguladoras, mantiene el aporte energético en ayuno.</a:t>
              </a:r>
              <a:endParaRPr lang="es-AR" sz="1550" dirty="0">
                <a:latin typeface="Bahnschrift"/>
              </a:endParaRPr>
            </a:p>
          </p:txBody>
        </p:sp>
        <p:sp>
          <p:nvSpPr>
            <p:cNvPr id="42" name="Forma 41"/>
            <p:cNvSpPr/>
            <p:nvPr/>
          </p:nvSpPr>
          <p:spPr>
            <a:xfrm>
              <a:off x="8842248" y="1051560"/>
              <a:ext cx="159189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SEÑAL MAESTRA</a:t>
              </a:r>
              <a:endParaRPr lang="es-AR" sz="1550" dirty="0">
                <a:latin typeface="Bahnschrift SemiBold Condensed"/>
              </a:endParaRPr>
            </a:p>
          </p:txBody>
        </p:sp>
      </p:grpSp>
      <p:sp>
        <p:nvSpPr>
          <p:cNvPr id="43" name="Molécula ins"/>
          <p:cNvSpPr/>
          <p:nvPr/>
        </p:nvSpPr>
        <p:spPr>
          <a:xfrm>
            <a:off x="11064240" y="3931920"/>
            <a:ext cx="548640" cy="54864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44" name="Molécula gcg"/>
          <p:cNvSpPr/>
          <p:nvPr/>
        </p:nvSpPr>
        <p:spPr>
          <a:xfrm>
            <a:off x="10378440" y="4069080"/>
            <a:ext cx="457200" cy="457200"/>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Gcg</a:t>
            </a:r>
            <a:endParaRPr lang="es-AR" sz="1300" dirty="0">
              <a:latin typeface="Bahnschrift SemiBold Condensed"/>
            </a:endParaRPr>
          </a:p>
        </p:txBody>
      </p:sp>
      <p:sp>
        <p:nvSpPr>
          <p:cNvPr id="45" name="Forma 44"/>
          <p:cNvSpPr/>
          <p:nvPr/>
        </p:nvSpPr>
        <p:spPr>
          <a:xfrm>
            <a:off x="8732520" y="4709160"/>
            <a:ext cx="3063240" cy="1737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balance </a:t>
            </a:r>
            <a:r>
              <a:rPr lang="es-AR" sz="1700" b="1" dirty="0">
                <a:solidFill>
                  <a:srgbClr val="1E1E1E"/>
                </a:solidFill>
                <a:latin typeface="Bahnschrift"/>
                <a:ea typeface="Bahnschrift"/>
                <a:cs typeface="Bahnschrift"/>
                <a:sym typeface="Bahnschrift"/>
              </a:rPr>
              <a:t>insulina/glucagón</a:t>
            </a:r>
            <a:r>
              <a:rPr lang="es-AR" sz="1700" dirty="0">
                <a:solidFill>
                  <a:srgbClr val="1E1E1E"/>
                </a:solidFill>
                <a:latin typeface="Bahnschrift"/>
                <a:ea typeface="Bahnschrift"/>
                <a:cs typeface="Bahnschrift"/>
                <a:sym typeface="Bahnschrift"/>
              </a:rPr>
              <a:t> importa más que una hormona aislada.</a:t>
            </a:r>
            <a:endParaRPr lang="es-AR" sz="17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28456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 · SEIS NIVELES DE INTEGRACIÓN METABÓLICA</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0"/>
                                        </p:tgtEl>
                                        <p:attrNameLst>
                                          <p:attrName>style.visibility</p:attrName>
                                        </p:attrNameLst>
                                      </p:cBhvr>
                                      <p:to>
                                        <p:strVal val="visible"/>
                                      </p:to>
                                    </p:set>
                                    <p:animEffect transition="in" filter="fade">
                                      <p:cBhvr>
                                        <p:cTn id="9" dur="500"/>
                                        <p:tgtEl>
                                          <p:spTgt spid="10"/>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8"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par>
                          <p:cTn id="22"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childTnLst>
                          </p:cTn>
                        </p:par>
                        <p:par>
                          <p:cTn id="26"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fade">
                                      <p:cBhvr>
                                        <p:cTn id="3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je temporal"/>
          <p:cNvGrpSpPr/>
          <p:nvPr/>
        </p:nvGrpSpPr>
        <p:grpSpPr>
          <a:xfrm>
            <a:off x="365760" y="5029200"/>
            <a:ext cx="11430000" cy="502920"/>
            <a:chOff x="365760" y="5029200"/>
            <a:chExt cx="11430000" cy="502920"/>
          </a:xfrm>
        </p:grpSpPr>
        <p:sp>
          <p:nvSpPr>
            <p:cNvPr id="5" name="Flecha 4_2"/>
            <p:cNvSpPr/>
            <p:nvPr/>
          </p:nvSpPr>
          <p:spPr>
            <a:xfrm>
              <a:off x="731520" y="5120640"/>
              <a:ext cx="11064240" cy="9144"/>
            </a:xfrm>
            <a:custGeom>
              <a:avLst/>
              <a:gdLst/>
              <a:ahLst/>
              <a:cxnLst/>
              <a:rect l="0" t="0" r="r" b="b"/>
              <a:pathLst>
                <a:path w="12100" h="10" fill="none">
                  <a:moveTo>
                    <a:pt x="0" y="0"/>
                  </a:moveTo>
                  <a:lnTo>
                    <a:pt x="12100" y="0"/>
                  </a:lnTo>
                </a:path>
              </a:pathLst>
            </a:custGeom>
            <a:noFill/>
            <a:ln w="31750" cap="rnd">
              <a:solidFill>
                <a:srgbClr val="1E1E1E"/>
              </a:solidFill>
              <a:round/>
              <a:tailEnd type="triangle" w="med" len="med"/>
            </a:ln>
          </p:spPr>
        </p:sp>
        <p:sp>
          <p:nvSpPr>
            <p:cNvPr id="6" name="Flecha 6_2"/>
            <p:cNvSpPr/>
            <p:nvPr/>
          </p:nvSpPr>
          <p:spPr>
            <a:xfrm>
              <a:off x="731520"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7" name="Forma 8"/>
            <p:cNvSpPr txBox="1"/>
            <p:nvPr/>
          </p:nvSpPr>
          <p:spPr>
            <a:xfrm>
              <a:off x="365760"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0 h</a:t>
              </a:r>
              <a:endParaRPr lang="es-AR" sz="1300" dirty="0">
                <a:latin typeface="Bahnschrift SemiBold Condensed"/>
              </a:endParaRPr>
            </a:p>
          </p:txBody>
        </p:sp>
        <p:sp>
          <p:nvSpPr>
            <p:cNvPr id="8" name="Flecha 9_2"/>
            <p:cNvSpPr/>
            <p:nvPr/>
          </p:nvSpPr>
          <p:spPr>
            <a:xfrm>
              <a:off x="2134210"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9" name="Forma 11"/>
            <p:cNvSpPr txBox="1"/>
            <p:nvPr/>
          </p:nvSpPr>
          <p:spPr>
            <a:xfrm>
              <a:off x="1768450"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4 h</a:t>
              </a:r>
              <a:endParaRPr lang="es-AR" sz="1300" dirty="0">
                <a:latin typeface="Bahnschrift SemiBold Condensed"/>
              </a:endParaRPr>
            </a:p>
          </p:txBody>
        </p:sp>
        <p:sp>
          <p:nvSpPr>
            <p:cNvPr id="10" name="Flecha 12_2"/>
            <p:cNvSpPr/>
            <p:nvPr/>
          </p:nvSpPr>
          <p:spPr>
            <a:xfrm>
              <a:off x="2889504"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11" name="Forma 14"/>
            <p:cNvSpPr txBox="1"/>
            <p:nvPr/>
          </p:nvSpPr>
          <p:spPr>
            <a:xfrm>
              <a:off x="2523744"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6 h</a:t>
              </a:r>
              <a:endParaRPr lang="es-AR" sz="1300" dirty="0">
                <a:latin typeface="Bahnschrift SemiBold Condensed"/>
              </a:endParaRPr>
            </a:p>
          </p:txBody>
        </p:sp>
        <p:sp>
          <p:nvSpPr>
            <p:cNvPr id="12" name="Flecha 15_2"/>
            <p:cNvSpPr/>
            <p:nvPr/>
          </p:nvSpPr>
          <p:spPr>
            <a:xfrm>
              <a:off x="4615891"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13" name="Forma 17"/>
            <p:cNvSpPr txBox="1"/>
            <p:nvPr/>
          </p:nvSpPr>
          <p:spPr>
            <a:xfrm>
              <a:off x="4250131"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12 h</a:t>
              </a:r>
              <a:endParaRPr lang="es-AR" sz="1300" dirty="0">
                <a:latin typeface="Bahnschrift SemiBold Condensed"/>
              </a:endParaRPr>
            </a:p>
          </p:txBody>
        </p:sp>
        <p:sp>
          <p:nvSpPr>
            <p:cNvPr id="14" name="Flecha 18_2"/>
            <p:cNvSpPr/>
            <p:nvPr/>
          </p:nvSpPr>
          <p:spPr>
            <a:xfrm>
              <a:off x="7421270"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15" name="Forma 20"/>
            <p:cNvSpPr txBox="1"/>
            <p:nvPr/>
          </p:nvSpPr>
          <p:spPr>
            <a:xfrm>
              <a:off x="7055510"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48 h</a:t>
              </a:r>
              <a:endParaRPr lang="es-AR" sz="1300" dirty="0">
                <a:latin typeface="Bahnschrift SemiBold Condensed"/>
              </a:endParaRPr>
            </a:p>
          </p:txBody>
        </p:sp>
        <p:sp>
          <p:nvSpPr>
            <p:cNvPr id="16" name="Flecha 21_2"/>
            <p:cNvSpPr/>
            <p:nvPr/>
          </p:nvSpPr>
          <p:spPr>
            <a:xfrm>
              <a:off x="8823960"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17" name="Forma 23"/>
            <p:cNvSpPr txBox="1"/>
            <p:nvPr/>
          </p:nvSpPr>
          <p:spPr>
            <a:xfrm>
              <a:off x="8458200"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72 h</a:t>
              </a:r>
              <a:endParaRPr lang="es-AR" sz="1300" dirty="0">
                <a:latin typeface="Bahnschrift SemiBold Condensed"/>
              </a:endParaRPr>
            </a:p>
          </p:txBody>
        </p:sp>
        <p:sp>
          <p:nvSpPr>
            <p:cNvPr id="18" name="Flecha 24_2"/>
            <p:cNvSpPr/>
            <p:nvPr/>
          </p:nvSpPr>
          <p:spPr>
            <a:xfrm>
              <a:off x="10981944" y="5029200"/>
              <a:ext cx="9144" cy="182880"/>
            </a:xfrm>
            <a:custGeom>
              <a:avLst/>
              <a:gdLst/>
              <a:ahLst/>
              <a:cxnLst/>
              <a:rect l="0" t="0" r="r" b="b"/>
              <a:pathLst>
                <a:path w="10" h="200" fill="none">
                  <a:moveTo>
                    <a:pt x="0" y="0"/>
                  </a:moveTo>
                  <a:lnTo>
                    <a:pt x="0" y="200"/>
                  </a:lnTo>
                </a:path>
              </a:pathLst>
            </a:custGeom>
            <a:noFill/>
            <a:ln w="19050" cap="rnd">
              <a:solidFill>
                <a:srgbClr val="1E1E1E"/>
              </a:solidFill>
              <a:round/>
            </a:ln>
          </p:spPr>
        </p:sp>
        <p:sp>
          <p:nvSpPr>
            <p:cNvPr id="19" name="Forma 26"/>
            <p:cNvSpPr txBox="1"/>
            <p:nvPr/>
          </p:nvSpPr>
          <p:spPr>
            <a:xfrm>
              <a:off x="10616184" y="5257800"/>
              <a:ext cx="73152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días</a:t>
              </a:r>
              <a:endParaRPr lang="es-AR" sz="1300" dirty="0">
                <a:latin typeface="Bahnschrift SemiBold Condensed"/>
              </a:endParaRPr>
            </a:p>
          </p:txBody>
        </p:sp>
      </p:grpSp>
      <p:sp>
        <p:nvSpPr>
          <p:cNvPr id="20" name="Fase 0–4 h"/>
          <p:cNvSpPr/>
          <p:nvPr/>
        </p:nvSpPr>
        <p:spPr>
          <a:xfrm>
            <a:off x="731520" y="1097280"/>
            <a:ext cx="1402690" cy="502920"/>
          </a:xfrm>
          <a:prstGeom prst="rect">
            <a:avLst/>
          </a:prstGeom>
          <a:gradFill rotWithShape="1">
            <a:gsLst>
              <a:gs pos="0">
                <a:srgbClr val="FAD7A0"/>
              </a:gs>
              <a:gs pos="50000">
                <a:srgbClr val="F5B041"/>
              </a:gs>
              <a:gs pos="100000">
                <a:srgbClr val="FAD7A0"/>
              </a:gs>
            </a:gsLst>
            <a:lin ang="0" scaled="0"/>
          </a:gradFill>
          <a:ln w="12700" cap="rnd">
            <a:solidFill>
              <a:srgbClr val="1E1E1E"/>
            </a:solidFill>
            <a:round/>
          </a:ln>
          <a:effectLst>
            <a:outerShdw blurRad="63500" dist="38100" dir="2700000" algn="tl" rotWithShape="0">
              <a:srgbClr val="000000">
                <a:alpha val="32000"/>
              </a:srgbClr>
            </a:outerShdw>
          </a:effectLst>
        </p:spPr>
        <p:txBody>
          <a:bodyPr wrap="square" lIns="73152" tIns="0" rIns="45720" bIns="0" anchor="ctr" rtlCol="0">
            <a:noAutofit/>
          </a:bodyPr>
          <a:lstStyle/>
          <a:p>
            <a:pPr algn="l">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Ingesta y absorción activa</a:t>
            </a:r>
            <a:r>
              <a:rPr lang="es-AR" sz="1300" dirty="0">
                <a:solidFill>
                  <a:srgbClr val="1E1E1E"/>
                </a:solidFill>
                <a:latin typeface="Bahnschrift SemiBold Condensed"/>
                <a:ea typeface="Bahnschrift SemiBold Condensed"/>
                <a:cs typeface="Bahnschrift SemiBold Condensed"/>
                <a:sym typeface="Bahnschrift SemiBold Condensed"/>
              </a:rPr>
              <a:t> · 0–4 h</a:t>
            </a:r>
            <a:endParaRPr lang="es-AR" sz="1300" dirty="0">
              <a:latin typeface="Bahnschrift SemiBold Condensed"/>
            </a:endParaRPr>
          </a:p>
        </p:txBody>
      </p:sp>
      <p:sp>
        <p:nvSpPr>
          <p:cNvPr id="21" name="Fase 0–6 h"/>
          <p:cNvSpPr/>
          <p:nvPr/>
        </p:nvSpPr>
        <p:spPr>
          <a:xfrm>
            <a:off x="731520" y="1737360"/>
            <a:ext cx="2157984" cy="502920"/>
          </a:xfrm>
          <a:prstGeom prst="rect">
            <a:avLst/>
          </a:prstGeom>
          <a:gradFill rotWithShape="1">
            <a:gsLst>
              <a:gs pos="0">
                <a:srgbClr val="FBE1B8"/>
              </a:gs>
              <a:gs pos="50000">
                <a:srgbClr val="F8C471"/>
              </a:gs>
              <a:gs pos="100000">
                <a:srgbClr val="FBE1B8"/>
              </a:gs>
            </a:gsLst>
            <a:lin ang="0" scaled="0"/>
          </a:gradFill>
          <a:ln w="12700" cap="rnd">
            <a:solidFill>
              <a:srgbClr val="1E1E1E"/>
            </a:solidFill>
            <a:round/>
          </a:ln>
          <a:effectLst>
            <a:outerShdw blurRad="63500" dist="38100" dir="2700000" algn="tl" rotWithShape="0">
              <a:srgbClr val="000000">
                <a:alpha val="32000"/>
              </a:srgbClr>
            </a:outerShdw>
          </a:effectLst>
        </p:spPr>
        <p:txBody>
          <a:bodyPr wrap="square" lIns="73152" tIns="0" rIns="45720" bIns="0" anchor="ctr" rtlCol="0">
            <a:noAutofit/>
          </a:bodyPr>
          <a:lstStyle/>
          <a:p>
            <a:pPr algn="l">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Posprandial</a:t>
            </a:r>
            <a:r>
              <a:rPr lang="es-AR" sz="1300" dirty="0">
                <a:solidFill>
                  <a:srgbClr val="1E1E1E"/>
                </a:solidFill>
                <a:latin typeface="Bahnschrift SemiBold Condensed"/>
                <a:ea typeface="Bahnschrift SemiBold Condensed"/>
                <a:cs typeface="Bahnschrift SemiBold Condensed"/>
                <a:sym typeface="Bahnschrift SemiBold Condensed"/>
              </a:rPr>
              <a:t> · 0–6 h</a:t>
            </a:r>
            <a:endParaRPr lang="es-AR" sz="1300" dirty="0">
              <a:latin typeface="Bahnschrift SemiBold Condensed"/>
            </a:endParaRPr>
          </a:p>
        </p:txBody>
      </p:sp>
      <p:sp>
        <p:nvSpPr>
          <p:cNvPr id="22" name="Fase 4–12 h"/>
          <p:cNvSpPr/>
          <p:nvPr/>
        </p:nvSpPr>
        <p:spPr>
          <a:xfrm>
            <a:off x="2134210" y="2377440"/>
            <a:ext cx="2481682" cy="502920"/>
          </a:xfrm>
          <a:prstGeom prst="rect">
            <a:avLst/>
          </a:prstGeom>
          <a:gradFill rotWithShape="1">
            <a:gsLst>
              <a:gs pos="0">
                <a:srgbClr val="C2E0F4"/>
              </a:gs>
              <a:gs pos="50000">
                <a:srgbClr val="85C1E9"/>
              </a:gs>
              <a:gs pos="100000">
                <a:srgbClr val="C2E0F4"/>
              </a:gs>
            </a:gsLst>
            <a:lin ang="0" scaled="0"/>
          </a:gradFill>
          <a:ln w="12700" cap="rnd">
            <a:solidFill>
              <a:srgbClr val="1E1E1E"/>
            </a:solidFill>
            <a:round/>
          </a:ln>
          <a:effectLst>
            <a:outerShdw blurRad="63500" dist="38100" dir="2700000" algn="tl" rotWithShape="0">
              <a:srgbClr val="000000">
                <a:alpha val="32000"/>
              </a:srgbClr>
            </a:outerShdw>
          </a:effectLst>
        </p:spPr>
        <p:txBody>
          <a:bodyPr wrap="square" lIns="73152" tIns="0" rIns="45720" bIns="0" anchor="ctr" rtlCol="0">
            <a:noAutofit/>
          </a:bodyPr>
          <a:lstStyle/>
          <a:p>
            <a:pPr algn="l">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Posabsortivo / ayuno temprano</a:t>
            </a:r>
            <a:r>
              <a:rPr lang="es-AR" sz="1300" dirty="0">
                <a:solidFill>
                  <a:srgbClr val="1E1E1E"/>
                </a:solidFill>
                <a:latin typeface="Bahnschrift SemiBold Condensed"/>
                <a:ea typeface="Bahnschrift SemiBold Condensed"/>
                <a:cs typeface="Bahnschrift SemiBold Condensed"/>
                <a:sym typeface="Bahnschrift SemiBold Condensed"/>
              </a:rPr>
              <a:t> · 4–12 h</a:t>
            </a:r>
            <a:endParaRPr lang="es-AR" sz="1300" dirty="0">
              <a:latin typeface="Bahnschrift SemiBold Condensed"/>
            </a:endParaRPr>
          </a:p>
        </p:txBody>
      </p:sp>
      <p:sp>
        <p:nvSpPr>
          <p:cNvPr id="23" name="Fase 12–48 h"/>
          <p:cNvSpPr/>
          <p:nvPr/>
        </p:nvSpPr>
        <p:spPr>
          <a:xfrm>
            <a:off x="4615891" y="3017520"/>
            <a:ext cx="2805379" cy="502920"/>
          </a:xfrm>
          <a:prstGeom prst="rect">
            <a:avLst/>
          </a:prstGeom>
          <a:gradFill rotWithShape="1">
            <a:gsLst>
              <a:gs pos="0">
                <a:srgbClr val="AED6F0"/>
              </a:gs>
              <a:gs pos="50000">
                <a:srgbClr val="5DADE2"/>
              </a:gs>
              <a:gs pos="100000">
                <a:srgbClr val="AED6F0"/>
              </a:gs>
            </a:gsLst>
            <a:lin ang="0" scaled="0"/>
          </a:gradFill>
          <a:ln w="12700" cap="rnd">
            <a:solidFill>
              <a:srgbClr val="1E1E1E"/>
            </a:solidFill>
            <a:round/>
          </a:ln>
          <a:effectLst>
            <a:outerShdw blurRad="63500" dist="38100" dir="2700000" algn="tl" rotWithShape="0">
              <a:srgbClr val="000000">
                <a:alpha val="32000"/>
              </a:srgbClr>
            </a:outerShdw>
          </a:effectLst>
        </p:spPr>
        <p:txBody>
          <a:bodyPr wrap="square" lIns="73152" tIns="0" rIns="45720" bIns="0" anchor="ctr" rtlCol="0">
            <a:noAutofit/>
          </a:bodyPr>
          <a:lstStyle/>
          <a:p>
            <a:pPr algn="l">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Ayuno intermedio</a:t>
            </a:r>
            <a:r>
              <a:rPr lang="es-AR" sz="1300" dirty="0">
                <a:solidFill>
                  <a:srgbClr val="1E1E1E"/>
                </a:solidFill>
                <a:latin typeface="Bahnschrift SemiBold Condensed"/>
                <a:ea typeface="Bahnschrift SemiBold Condensed"/>
                <a:cs typeface="Bahnschrift SemiBold Condensed"/>
                <a:sym typeface="Bahnschrift SemiBold Condensed"/>
              </a:rPr>
              <a:t> · 12–48 h</a:t>
            </a:r>
            <a:endParaRPr lang="es-AR" sz="1300" dirty="0">
              <a:latin typeface="Bahnschrift SemiBold Condensed"/>
            </a:endParaRPr>
          </a:p>
        </p:txBody>
      </p:sp>
      <p:sp>
        <p:nvSpPr>
          <p:cNvPr id="24" name="Fase &gt;48–72 h"/>
          <p:cNvSpPr/>
          <p:nvPr/>
        </p:nvSpPr>
        <p:spPr>
          <a:xfrm>
            <a:off x="7421270" y="3657600"/>
            <a:ext cx="4100170" cy="502920"/>
          </a:xfrm>
          <a:prstGeom prst="rect">
            <a:avLst/>
          </a:prstGeom>
          <a:gradFill rotWithShape="1">
            <a:gsLst>
              <a:gs pos="0">
                <a:srgbClr val="96C2E0"/>
              </a:gs>
              <a:gs pos="50000">
                <a:srgbClr val="2E86C1"/>
              </a:gs>
              <a:gs pos="100000">
                <a:srgbClr val="96C2E0"/>
              </a:gs>
            </a:gsLst>
            <a:lin ang="0" scaled="0"/>
          </a:gradFill>
          <a:ln w="12700" cap="rnd">
            <a:solidFill>
              <a:srgbClr val="1E1E1E"/>
            </a:solidFill>
            <a:round/>
          </a:ln>
          <a:effectLst>
            <a:outerShdw blurRad="63500" dist="38100" dir="2700000" algn="tl" rotWithShape="0">
              <a:srgbClr val="000000">
                <a:alpha val="32000"/>
              </a:srgbClr>
            </a:outerShdw>
          </a:effectLst>
        </p:spPr>
        <p:txBody>
          <a:bodyPr wrap="square" lIns="73152" tIns="0" rIns="45720" bIns="0" anchor="ctr" rtlCol="0">
            <a:noAutofit/>
          </a:bodyPr>
          <a:lstStyle/>
          <a:p>
            <a:pPr algn="l">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Ayuno prolongado</a:t>
            </a:r>
            <a:r>
              <a:rPr lang="es-AR" sz="1300" dirty="0">
                <a:solidFill>
                  <a:srgbClr val="1E1E1E"/>
                </a:solidFill>
                <a:latin typeface="Bahnschrift SemiBold Condensed"/>
                <a:ea typeface="Bahnschrift SemiBold Condensed"/>
                <a:cs typeface="Bahnschrift SemiBold Condensed"/>
                <a:sym typeface="Bahnschrift SemiBold Condensed"/>
              </a:rPr>
              <a:t> · &gt;48–72 h</a:t>
            </a:r>
            <a:endParaRPr lang="es-AR" sz="1300" dirty="0">
              <a:latin typeface="Bahnschrift SemiBold Condensed"/>
            </a:endParaRPr>
          </a:p>
        </p:txBody>
      </p:sp>
      <p:sp>
        <p:nvSpPr>
          <p:cNvPr id="25" name="Forma 32"/>
          <p:cNvSpPr/>
          <p:nvPr/>
        </p:nvSpPr>
        <p:spPr>
          <a:xfrm>
            <a:off x="731520" y="5715000"/>
            <a:ext cx="6949440" cy="8229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Los cortes son </a:t>
            </a:r>
            <a:r>
              <a:rPr lang="es-AR" sz="1650" b="1" dirty="0">
                <a:solidFill>
                  <a:srgbClr val="1E1E1E"/>
                </a:solidFill>
                <a:latin typeface="Bahnschrift"/>
                <a:ea typeface="Bahnschrift"/>
                <a:cs typeface="Bahnschrift"/>
                <a:sym typeface="Bahnschrift"/>
              </a:rPr>
              <a:t>orientativos</a:t>
            </a:r>
            <a:r>
              <a:rPr lang="es-AR" sz="1650" dirty="0">
                <a:solidFill>
                  <a:srgbClr val="1E1E1E"/>
                </a:solidFill>
                <a:latin typeface="Bahnschrift"/>
                <a:ea typeface="Bahnschrift"/>
                <a:cs typeface="Bahnschrift"/>
                <a:sym typeface="Bahnschrift"/>
              </a:rPr>
              <a:t>: el cambio es progresivo y depende del tamaño y la composición de la comida y de las reservas hepáticas.</a:t>
            </a:r>
            <a:endParaRPr lang="es-AR" sz="1650" dirty="0">
              <a:latin typeface="Bahnschrift"/>
            </a:endParaRPr>
          </a:p>
        </p:txBody>
      </p:sp>
      <p:sp>
        <p:nvSpPr>
          <p:cNvPr id="26" name="Perla"/>
          <p:cNvSpPr/>
          <p:nvPr/>
        </p:nvSpPr>
        <p:spPr>
          <a:xfrm>
            <a:off x="7863840" y="5715000"/>
            <a:ext cx="3931920" cy="8229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450" dirty="0">
                <a:solidFill>
                  <a:srgbClr val="FFFFFF"/>
                </a:solidFill>
                <a:latin typeface="Bahnschrift"/>
                <a:ea typeface="Bahnschrift"/>
                <a:cs typeface="Bahnschrift"/>
                <a:sym typeface="Bahnschrift"/>
              </a:rPr>
              <a:t>Regla: lo que define la fase es la </a:t>
            </a:r>
            <a:r>
              <a:rPr lang="es-AR" sz="1450" b="1" dirty="0">
                <a:solidFill>
                  <a:srgbClr val="FFFFFF"/>
                </a:solidFill>
                <a:latin typeface="Bahnschrift"/>
                <a:ea typeface="Bahnschrift"/>
                <a:cs typeface="Bahnschrift"/>
                <a:sym typeface="Bahnschrift"/>
              </a:rPr>
              <a:t>dirección de los flujos</a:t>
            </a:r>
            <a:r>
              <a:rPr lang="es-AR" sz="1450" dirty="0">
                <a:solidFill>
                  <a:srgbClr val="FFFFFF"/>
                </a:solidFill>
                <a:latin typeface="Bahnschrift"/>
                <a:ea typeface="Bahnschrift"/>
                <a:cs typeface="Bahnschrift"/>
                <a:sym typeface="Bahnschrift"/>
              </a:rPr>
              <a:t> y la relación insulina/glucagón, no una hora exacta.</a:t>
            </a:r>
            <a:endParaRPr lang="es-AR" sz="1450" dirty="0">
              <a:latin typeface="Bahnschrift"/>
            </a:endParaRPr>
          </a:p>
        </p:txBody>
      </p:sp>
      <p:sp>
        <p:nvSpPr>
          <p:cNvPr id="27" name="Ejemplo QM"/>
          <p:cNvSpPr/>
          <p:nvPr/>
        </p:nvSpPr>
        <p:spPr>
          <a:xfrm>
            <a:off x="8046720" y="1051560"/>
            <a:ext cx="3749040" cy="868680"/>
          </a:xfrm>
          <a:prstGeom prst="rect">
            <a:avLst/>
          </a:prstGeom>
          <a:solidFill>
            <a:srgbClr val="DCEBF8"/>
          </a:solidFill>
          <a:ln w="12700" cap="rnd">
            <a:solidFill>
              <a:srgbClr val="1E1E1E"/>
            </a:solidFill>
            <a:round/>
          </a:ln>
        </p:spPr>
        <p:txBody>
          <a:bodyPr wrap="square" lIns="73152" tIns="45720" rIns="73152" bIns="45720" anchor="t" rtlCol="0">
            <a:noAutofit/>
          </a:bodyPr>
          <a:lstStyle/>
          <a:p>
            <a:pPr algn="l">
              <a:spcAft>
                <a:spcPts val="300"/>
              </a:spcAft>
              <a:buNone/>
            </a:pPr>
            <a:r>
              <a:rPr lang="es-AR" sz="1300" dirty="0">
                <a:solidFill>
                  <a:srgbClr val="1E1E1E"/>
                </a:solidFill>
                <a:latin typeface="Bahnschrift"/>
                <a:ea typeface="Bahnschrift"/>
                <a:cs typeface="Bahnschrift"/>
                <a:sym typeface="Bahnschrift"/>
              </a:rPr>
              <a:t>Un desayuno graso y abundante prolonga la presencia de quilomicrones respecto de una carga líquida de glucosa.</a:t>
            </a:r>
            <a:endParaRPr lang="es-AR" sz="13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30284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 · CICLO ALIMENTACIÓN–AYUNO: FASES ORIENTATIVAS</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28"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left)">
                                      <p:cBhvr>
                                        <p:cTn id="10" dur="600"/>
                                        <p:tgtEl>
                                          <p:spTgt spid="20"/>
                                        </p:tgtEl>
                                      </p:cBhvr>
                                    </p:animEffect>
                                  </p:childTnLst>
                                </p:cTn>
                              </p:par>
                            </p:childTnLst>
                          </p:cTn>
                        </p:par>
                        <p:par>
                          <p:cTn id="15" fill="hold">
                            <p:stCondLst>
                              <p:cond delay="600"/>
                            </p:stCondLst>
                            <p:childTnLst>
                              <p:par>
                                <p:cTn id="12" presetID="2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wipe(left)">
                                      <p:cBhvr>
                                        <p:cTn id="14" dur="600"/>
                                        <p:tgtEl>
                                          <p:spTgt spid="21"/>
                                        </p:tgtEl>
                                      </p:cBhvr>
                                    </p:animEffect>
                                  </p:childTnLst>
                                </p:cTn>
                              </p:par>
                            </p:childTnLst>
                          </p:cTn>
                        </p:par>
                        <p:par>
                          <p:cTn id="19" fill="hold">
                            <p:stCondLst>
                              <p:cond delay="1200"/>
                            </p:stCondLst>
                            <p:childTnLst>
                              <p:par>
                                <p:cTn id="16" presetID="22" presetClass="entr" presetSubtype="8"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wipe(left)">
                                      <p:cBhvr>
                                        <p:cTn id="18" dur="600"/>
                                        <p:tgtEl>
                                          <p:spTgt spid="22"/>
                                        </p:tgtEl>
                                      </p:cBhvr>
                                    </p:animEffect>
                                  </p:childTnLst>
                                </p:cTn>
                              </p:par>
                            </p:childTnLst>
                          </p:cTn>
                        </p:par>
                        <p:par>
                          <p:cTn id="23" fill="hold">
                            <p:stCondLst>
                              <p:cond delay="1800"/>
                            </p:stCondLst>
                            <p:childTnLst>
                              <p:par>
                                <p:cTn id="20" presetID="22" presetClass="entr" presetSubtype="8"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wipe(left)">
                                      <p:cBhvr>
                                        <p:cTn id="22" dur="600"/>
                                        <p:tgtEl>
                                          <p:spTgt spid="23"/>
                                        </p:tgtEl>
                                      </p:cBhvr>
                                    </p:animEffect>
                                  </p:childTnLst>
                                </p:cTn>
                              </p:par>
                            </p:childTnLst>
                          </p:cTn>
                        </p:par>
                        <p:par>
                          <p:cTn id="27" fill="hold">
                            <p:stCondLst>
                              <p:cond delay="2400"/>
                            </p:stCondLst>
                            <p:childTnLst>
                              <p:par>
                                <p:cTn id="24" presetID="22" presetClass="entr" presetSubtype="8" fill="hold" grpId="0" nodeType="after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wipe(left)">
                                      <p:cBhvr>
                                        <p:cTn id="26" dur="600"/>
                                        <p:tgtEl>
                                          <p:spTgt spid="24"/>
                                        </p:tgtEl>
                                      </p:cBhvr>
                                    </p:animEffect>
                                  </p:childTnLst>
                                </p:cTn>
                              </p:par>
                            </p:childTnLst>
                          </p:cTn>
                        </p:par>
                      </p:childTnLst>
                    </p:cTn>
                  </p:par>
                  <p:par>
                    <p:cTn id="33" fill="hold">
                      <p:stCondLst>
                        <p:cond delay="indefinite"/>
                      </p:stCondLst>
                      <p:childTnLst>
                        <p:par>
                          <p:cTn id="32"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childTnLst>
                          </p:cTn>
                        </p:par>
                      </p:childTnLst>
                    </p:cTn>
                  </p:par>
                  <p:par>
                    <p:cTn id="42" fill="hold">
                      <p:stCondLst>
                        <p:cond delay="indefinite"/>
                      </p:stCondLst>
                      <p:childTnLst>
                        <p:par>
                          <p:cTn id="37"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childTnLst>
                          </p:cTn>
                        </p:par>
                        <p:par>
                          <p:cTn id="41" fill="hold">
                            <p:stCondLst>
                              <p:cond delay="500"/>
                            </p:stCondLst>
                            <p:childTnLst>
                              <p:par>
                                <p:cTn id="38" presetID="10" presetClass="entr" presetSubtype="0" fill="hold" grpId="0" nodeType="after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animBg="1"/>
      <p:bldP spid="27" grpId="0" animBg="1"/>
      <p:bldP spid="25" grpId="0" animBg="1"/>
      <p:bldP spid="26" grpId="0" animBg="1"/>
    </p:bldLst>
  </p:timing>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Fase 0–4 h"/>
          <p:cNvGrpSpPr/>
          <p:nvPr/>
        </p:nvGrpSpPr>
        <p:grpSpPr>
          <a:xfrm>
            <a:off x="320040" y="1051560"/>
            <a:ext cx="2743200" cy="5440680"/>
            <a:chOff x="320040" y="1051560"/>
            <a:chExt cx="2743200" cy="5440680"/>
          </a:xfrm>
        </p:grpSpPr>
        <p:sp>
          <p:nvSpPr>
            <p:cNvPr id="5" name="Forma 4"/>
            <p:cNvSpPr/>
            <p:nvPr/>
          </p:nvSpPr>
          <p:spPr>
            <a:xfrm>
              <a:off x="320040" y="1051560"/>
              <a:ext cx="2743200" cy="5440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6" name="Forma 5"/>
            <p:cNvSpPr/>
            <p:nvPr/>
          </p:nvSpPr>
          <p:spPr>
            <a:xfrm>
              <a:off x="320040" y="1051560"/>
              <a:ext cx="2743200" cy="685800"/>
            </a:xfrm>
            <a:prstGeom prst="rect">
              <a:avLst/>
            </a:prstGeom>
            <a:solidFill>
              <a:srgbClr val="F5B041"/>
            </a:solidFill>
            <a:ln w="15875" cap="rnd">
              <a:solidFill>
                <a:srgbClr val="1E1E1E"/>
              </a:solidFill>
              <a:round/>
            </a:ln>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0–4 h</a:t>
              </a:r>
              <a:endParaRPr lang="es-AR" sz="2200" dirty="0">
                <a:latin typeface="Bahnschrift SemiBold Condensed"/>
              </a:endParaRPr>
            </a:p>
          </p:txBody>
        </p:sp>
        <p:grpSp>
          <p:nvGrpSpPr>
            <p:cNvPr id="7" name="Reloj 0–4 h"/>
            <p:cNvGrpSpPr/>
            <p:nvPr/>
          </p:nvGrpSpPr>
          <p:grpSpPr>
            <a:xfrm>
              <a:off x="2468880" y="1115568"/>
              <a:ext cx="548640" cy="548640"/>
              <a:chOff x="2468880" y="1115568"/>
              <a:chExt cx="548640" cy="548640"/>
            </a:xfrm>
          </p:grpSpPr>
          <p:sp>
            <p:nvSpPr>
              <p:cNvPr id="8" name="Forma 7"/>
              <p:cNvSpPr/>
              <p:nvPr/>
            </p:nvSpPr>
            <p:spPr>
              <a:xfrm>
                <a:off x="2468880" y="1115568"/>
                <a:ext cx="548640" cy="54864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9" name="Flecha 8_2"/>
              <p:cNvSpPr/>
              <p:nvPr/>
            </p:nvSpPr>
            <p:spPr>
              <a:xfrm>
                <a:off x="2743200" y="1256850"/>
                <a:ext cx="76810" cy="133038"/>
              </a:xfrm>
              <a:custGeom>
                <a:avLst/>
                <a:gdLst/>
                <a:ahLst/>
                <a:cxnLst/>
                <a:rect l="0" t="0" r="r" b="b"/>
                <a:pathLst>
                  <a:path w="84" h="145" fill="none">
                    <a:moveTo>
                      <a:pt x="0" y="145"/>
                    </a:moveTo>
                    <a:lnTo>
                      <a:pt x="84" y="0"/>
                    </a:lnTo>
                  </a:path>
                </a:pathLst>
              </a:custGeom>
              <a:noFill/>
              <a:ln w="31750" cap="rnd">
                <a:solidFill>
                  <a:srgbClr val="1E1E1E"/>
                </a:solidFill>
                <a:round/>
              </a:ln>
            </p:spPr>
          </p:sp>
          <p:sp>
            <p:nvSpPr>
              <p:cNvPr id="10" name="Flecha 10_2"/>
              <p:cNvSpPr/>
              <p:nvPr/>
            </p:nvSpPr>
            <p:spPr>
              <a:xfrm>
                <a:off x="2743200" y="1181405"/>
                <a:ext cx="9144" cy="208483"/>
              </a:xfrm>
              <a:custGeom>
                <a:avLst/>
                <a:gdLst/>
                <a:ahLst/>
                <a:cxnLst/>
                <a:rect l="0" t="0" r="r" b="b"/>
                <a:pathLst>
                  <a:path w="10" h="227" fill="none">
                    <a:moveTo>
                      <a:pt x="0" y="227"/>
                    </a:moveTo>
                    <a:lnTo>
                      <a:pt x="0" y="0"/>
                    </a:lnTo>
                  </a:path>
                </a:pathLst>
              </a:custGeom>
              <a:noFill/>
              <a:ln w="22225" cap="rnd">
                <a:solidFill>
                  <a:srgbClr val="1E1E1E"/>
                </a:solidFill>
                <a:round/>
              </a:ln>
            </p:spPr>
          </p:sp>
        </p:grpSp>
        <p:sp>
          <p:nvSpPr>
            <p:cNvPr id="11" name="Forma 12"/>
            <p:cNvSpPr txBox="1"/>
            <p:nvPr/>
          </p:nvSpPr>
          <p:spPr>
            <a:xfrm>
              <a:off x="429768" y="1874520"/>
              <a:ext cx="2560320" cy="4526280"/>
            </a:xfrm>
            <a:prstGeom prst="rect">
              <a:avLst/>
            </a:prstGeom>
            <a:noFill/>
            <a:ln>
              <a:noFill/>
            </a:ln>
          </p:spPr>
          <p:txBody>
            <a:bodyPr wrap="square" lIns="0" tIns="0" rIns="0" bIns="0" anchor="t" rtlCol="0">
              <a:noAutofit/>
            </a:bodyPr>
            <a:lstStyle/>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glucosa, aminoácidos e incretinas</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insulina; ↓ glucagón/insulina</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Hígado: glucogenogénesis y glucólisis</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Músculo: capta glucosa, sintetiza glucógeno</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Adipocito: esterifica AG</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QM aparecen tras absorber grasa</a:t>
              </a:r>
              <a:endParaRPr lang="es-AR" sz="1350" dirty="0">
                <a:latin typeface="Bahnschrift"/>
              </a:endParaRPr>
            </a:p>
          </p:txBody>
        </p:sp>
      </p:grpSp>
      <p:grpSp>
        <p:nvGrpSpPr>
          <p:cNvPr id="12" name="Fase 4–12 h"/>
          <p:cNvGrpSpPr/>
          <p:nvPr/>
        </p:nvGrpSpPr>
        <p:grpSpPr>
          <a:xfrm>
            <a:off x="3227832" y="1051560"/>
            <a:ext cx="2743200" cy="5440680"/>
            <a:chOff x="3227832" y="1051560"/>
            <a:chExt cx="2743200" cy="5440680"/>
          </a:xfrm>
        </p:grpSpPr>
        <p:sp>
          <p:nvSpPr>
            <p:cNvPr id="13" name="Forma 14"/>
            <p:cNvSpPr/>
            <p:nvPr/>
          </p:nvSpPr>
          <p:spPr>
            <a:xfrm>
              <a:off x="3227832" y="1051560"/>
              <a:ext cx="2743200" cy="5440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14" name="Forma 15"/>
            <p:cNvSpPr/>
            <p:nvPr/>
          </p:nvSpPr>
          <p:spPr>
            <a:xfrm>
              <a:off x="3227832" y="1051560"/>
              <a:ext cx="2743200" cy="685800"/>
            </a:xfrm>
            <a:prstGeom prst="rect">
              <a:avLst/>
            </a:prstGeom>
            <a:solidFill>
              <a:srgbClr val="85C1E9"/>
            </a:solidFill>
            <a:ln w="15875" cap="rnd">
              <a:solidFill>
                <a:srgbClr val="1E1E1E"/>
              </a:solidFill>
              <a:round/>
            </a:ln>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4–12 h</a:t>
              </a:r>
              <a:endParaRPr lang="es-AR" sz="2200" dirty="0">
                <a:latin typeface="Bahnschrift SemiBold Condensed"/>
              </a:endParaRPr>
            </a:p>
          </p:txBody>
        </p:sp>
        <p:grpSp>
          <p:nvGrpSpPr>
            <p:cNvPr id="15" name="Reloj 4–12 h"/>
            <p:cNvGrpSpPr/>
            <p:nvPr/>
          </p:nvGrpSpPr>
          <p:grpSpPr>
            <a:xfrm>
              <a:off x="5376672" y="1115568"/>
              <a:ext cx="548640" cy="548640"/>
              <a:chOff x="5376672" y="1115568"/>
              <a:chExt cx="548640" cy="548640"/>
            </a:xfrm>
          </p:grpSpPr>
          <p:sp>
            <p:nvSpPr>
              <p:cNvPr id="16" name="Forma 17"/>
              <p:cNvSpPr/>
              <p:nvPr/>
            </p:nvSpPr>
            <p:spPr>
              <a:xfrm>
                <a:off x="5376672" y="1115568"/>
                <a:ext cx="548640" cy="54864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17" name="Flecha 18_2"/>
              <p:cNvSpPr/>
              <p:nvPr/>
            </p:nvSpPr>
            <p:spPr>
              <a:xfrm>
                <a:off x="5517954" y="1389888"/>
                <a:ext cx="133038" cy="76810"/>
              </a:xfrm>
              <a:custGeom>
                <a:avLst/>
                <a:gdLst/>
                <a:ahLst/>
                <a:cxnLst/>
                <a:rect l="0" t="0" r="r" b="b"/>
                <a:pathLst>
                  <a:path w="145" h="84" fill="none">
                    <a:moveTo>
                      <a:pt x="145" y="0"/>
                    </a:moveTo>
                    <a:lnTo>
                      <a:pt x="0" y="84"/>
                    </a:lnTo>
                  </a:path>
                </a:pathLst>
              </a:custGeom>
              <a:noFill/>
              <a:ln w="31750" cap="rnd">
                <a:solidFill>
                  <a:srgbClr val="1E1E1E"/>
                </a:solidFill>
                <a:round/>
              </a:ln>
            </p:spPr>
          </p:sp>
          <p:sp>
            <p:nvSpPr>
              <p:cNvPr id="18" name="Flecha 20_2"/>
              <p:cNvSpPr/>
              <p:nvPr/>
            </p:nvSpPr>
            <p:spPr>
              <a:xfrm>
                <a:off x="5650992" y="1181405"/>
                <a:ext cx="9144" cy="208483"/>
              </a:xfrm>
              <a:custGeom>
                <a:avLst/>
                <a:gdLst/>
                <a:ahLst/>
                <a:cxnLst/>
                <a:rect l="0" t="0" r="r" b="b"/>
                <a:pathLst>
                  <a:path w="10" h="227" fill="none">
                    <a:moveTo>
                      <a:pt x="0" y="227"/>
                    </a:moveTo>
                    <a:lnTo>
                      <a:pt x="0" y="0"/>
                    </a:lnTo>
                  </a:path>
                </a:pathLst>
              </a:custGeom>
              <a:noFill/>
              <a:ln w="22225" cap="rnd">
                <a:solidFill>
                  <a:srgbClr val="1E1E1E"/>
                </a:solidFill>
                <a:round/>
              </a:ln>
            </p:spPr>
          </p:sp>
        </p:grpSp>
        <p:sp>
          <p:nvSpPr>
            <p:cNvPr id="19" name="Forma 22"/>
            <p:cNvSpPr txBox="1"/>
            <p:nvPr/>
          </p:nvSpPr>
          <p:spPr>
            <a:xfrm>
              <a:off x="3337560" y="1874520"/>
              <a:ext cx="2560320" cy="4526280"/>
            </a:xfrm>
            <a:prstGeom prst="rect">
              <a:avLst/>
            </a:prstGeom>
            <a:noFill/>
            <a:ln>
              <a:noFill/>
            </a:ln>
          </p:spPr>
          <p:txBody>
            <a:bodyPr wrap="square" lIns="0" tIns="0" rIns="0" bIns="0" anchor="t" rtlCol="0">
              <a:noAutofit/>
            </a:bodyPr>
            <a:lstStyle/>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Cae el flujo intestinal; ↓ insulina</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Hígado pasa de captar a </a:t>
              </a:r>
              <a:r>
                <a:rPr lang="es-AR" sz="1350" b="1" dirty="0">
                  <a:solidFill>
                    <a:srgbClr val="1E1E1E"/>
                  </a:solidFill>
                  <a:latin typeface="Bahnschrift"/>
                  <a:ea typeface="Bahnschrift"/>
                  <a:cs typeface="Bahnschrift"/>
                  <a:sym typeface="Bahnschrift"/>
                </a:rPr>
                <a:t>liberar</a:t>
              </a:r>
              <a:r>
                <a:rPr lang="es-AR" sz="1350" dirty="0">
                  <a:solidFill>
                    <a:srgbClr val="1E1E1E"/>
                  </a:solidFill>
                  <a:latin typeface="Bahnschrift"/>
                  <a:ea typeface="Bahnschrift"/>
                  <a:cs typeface="Bahnschrift"/>
                  <a:sym typeface="Bahnschrift"/>
                </a:rPr>
                <a:t> glucosa</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Predomina glucogenólisis al inicio</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Crece la gluconeogénesis (lactato, glicerol, alanina)</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Adiposo libera AG no esterificados y glicerol</a:t>
              </a:r>
              <a:endParaRPr lang="es-AR" sz="1350" dirty="0">
                <a:latin typeface="Bahnschrift"/>
              </a:endParaRPr>
            </a:p>
          </p:txBody>
        </p:sp>
      </p:grpSp>
      <p:grpSp>
        <p:nvGrpSpPr>
          <p:cNvPr id="20" name="Fase 12–48 h"/>
          <p:cNvGrpSpPr/>
          <p:nvPr/>
        </p:nvGrpSpPr>
        <p:grpSpPr>
          <a:xfrm>
            <a:off x="6135624" y="1051560"/>
            <a:ext cx="2743200" cy="5440680"/>
            <a:chOff x="6135624" y="1051560"/>
            <a:chExt cx="2743200" cy="5440680"/>
          </a:xfrm>
        </p:grpSpPr>
        <p:sp>
          <p:nvSpPr>
            <p:cNvPr id="21" name="Forma 24"/>
            <p:cNvSpPr/>
            <p:nvPr/>
          </p:nvSpPr>
          <p:spPr>
            <a:xfrm>
              <a:off x="6135624" y="1051560"/>
              <a:ext cx="2743200" cy="5440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22" name="Forma 25"/>
            <p:cNvSpPr/>
            <p:nvPr/>
          </p:nvSpPr>
          <p:spPr>
            <a:xfrm>
              <a:off x="6135624" y="1051560"/>
              <a:ext cx="2743200" cy="685800"/>
            </a:xfrm>
            <a:prstGeom prst="rect">
              <a:avLst/>
            </a:prstGeom>
            <a:solidFill>
              <a:srgbClr val="5DADE2"/>
            </a:solidFill>
            <a:ln w="15875" cap="rnd">
              <a:solidFill>
                <a:srgbClr val="1E1E1E"/>
              </a:solidFill>
              <a:round/>
            </a:ln>
          </p:spPr>
          <p:txBody>
            <a:bodyPr wrap="square" lIns="73152" tIns="45720" rIns="73152" bIns="45720" anchor="ctr" rtlCol="0">
              <a:noAutofit/>
            </a:bodyPr>
            <a:lstStyle/>
            <a:p>
              <a:pPr algn="ctr">
                <a:spcAft>
                  <a:spcPts val="300"/>
                </a:spcAft>
                <a:buNone/>
              </a:pPr>
              <a:r>
                <a:rPr lang="es-AR" sz="2200" b="1" dirty="0">
                  <a:solidFill>
                    <a:srgbClr val="FFFFFF"/>
                  </a:solidFill>
                  <a:latin typeface="Bahnschrift SemiBold Condensed"/>
                  <a:ea typeface="Bahnschrift SemiBold Condensed"/>
                  <a:cs typeface="Bahnschrift SemiBold Condensed"/>
                  <a:sym typeface="Bahnschrift SemiBold Condensed"/>
                </a:rPr>
                <a:t>12–48 h</a:t>
              </a:r>
              <a:endParaRPr lang="es-AR" sz="2200" dirty="0">
                <a:latin typeface="Bahnschrift SemiBold Condensed"/>
              </a:endParaRPr>
            </a:p>
          </p:txBody>
        </p:sp>
        <p:grpSp>
          <p:nvGrpSpPr>
            <p:cNvPr id="23" name="Reloj 12–48 h"/>
            <p:cNvGrpSpPr/>
            <p:nvPr/>
          </p:nvGrpSpPr>
          <p:grpSpPr>
            <a:xfrm>
              <a:off x="8284464" y="1115568"/>
              <a:ext cx="548640" cy="548640"/>
              <a:chOff x="8284464" y="1115568"/>
              <a:chExt cx="548640" cy="548640"/>
            </a:xfrm>
          </p:grpSpPr>
          <p:sp>
            <p:nvSpPr>
              <p:cNvPr id="24" name="Forma 27"/>
              <p:cNvSpPr/>
              <p:nvPr/>
            </p:nvSpPr>
            <p:spPr>
              <a:xfrm>
                <a:off x="8284464" y="1115568"/>
                <a:ext cx="548640" cy="54864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25" name="Flecha 28_2"/>
              <p:cNvSpPr/>
              <p:nvPr/>
            </p:nvSpPr>
            <p:spPr>
              <a:xfrm>
                <a:off x="8558784" y="1236269"/>
                <a:ext cx="9144" cy="153619"/>
              </a:xfrm>
              <a:custGeom>
                <a:avLst/>
                <a:gdLst/>
                <a:ahLst/>
                <a:cxnLst/>
                <a:rect l="0" t="0" r="r" b="b"/>
                <a:pathLst>
                  <a:path w="10" h="167" fill="none">
                    <a:moveTo>
                      <a:pt x="0" y="167"/>
                    </a:moveTo>
                    <a:lnTo>
                      <a:pt x="0" y="0"/>
                    </a:lnTo>
                  </a:path>
                </a:pathLst>
              </a:custGeom>
              <a:noFill/>
              <a:ln w="31750" cap="rnd">
                <a:solidFill>
                  <a:srgbClr val="1E1E1E"/>
                </a:solidFill>
                <a:round/>
              </a:ln>
            </p:spPr>
          </p:sp>
          <p:sp>
            <p:nvSpPr>
              <p:cNvPr id="26" name="Flecha 30_2"/>
              <p:cNvSpPr/>
              <p:nvPr/>
            </p:nvSpPr>
            <p:spPr>
              <a:xfrm>
                <a:off x="8558784" y="1181405"/>
                <a:ext cx="9144" cy="208483"/>
              </a:xfrm>
              <a:custGeom>
                <a:avLst/>
                <a:gdLst/>
                <a:ahLst/>
                <a:cxnLst/>
                <a:rect l="0" t="0" r="r" b="b"/>
                <a:pathLst>
                  <a:path w="10" h="227" fill="none">
                    <a:moveTo>
                      <a:pt x="0" y="227"/>
                    </a:moveTo>
                    <a:lnTo>
                      <a:pt x="0" y="0"/>
                    </a:lnTo>
                  </a:path>
                </a:pathLst>
              </a:custGeom>
              <a:noFill/>
              <a:ln w="22225" cap="rnd">
                <a:solidFill>
                  <a:srgbClr val="1E1E1E"/>
                </a:solidFill>
                <a:round/>
              </a:ln>
            </p:spPr>
          </p:sp>
        </p:grpSp>
        <p:sp>
          <p:nvSpPr>
            <p:cNvPr id="27" name="Forma 32"/>
            <p:cNvSpPr txBox="1"/>
            <p:nvPr/>
          </p:nvSpPr>
          <p:spPr>
            <a:xfrm>
              <a:off x="6245352" y="1874520"/>
              <a:ext cx="2560320" cy="4526280"/>
            </a:xfrm>
            <a:prstGeom prst="rect">
              <a:avLst/>
            </a:prstGeom>
            <a:noFill/>
            <a:ln>
              <a:noFill/>
            </a:ln>
          </p:spPr>
          <p:txBody>
            <a:bodyPr wrap="square" lIns="0" tIns="0" rIns="0" bIns="0" anchor="t" rtlCol="0">
              <a:noAutofit/>
            </a:bodyPr>
            <a:lstStyle/>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glucógeno hepático</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 de glucosa nueva de hígado y </a:t>
              </a:r>
              <a:r>
                <a:rPr lang="es-AR" sz="1350" b="1" dirty="0">
                  <a:solidFill>
                    <a:srgbClr val="1E1E1E"/>
                  </a:solidFill>
                  <a:latin typeface="Bahnschrift"/>
                  <a:ea typeface="Bahnschrift"/>
                  <a:cs typeface="Bahnschrift"/>
                  <a:sym typeface="Bahnschrift"/>
                </a:rPr>
                <a:t>corteza renal</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β-oxidación aporta energía para la gluconeogénesis</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cetogénesis y lipólisis</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Proteólisis aporta N y carbonos gluconeogénicos</a:t>
              </a:r>
              <a:endParaRPr lang="es-AR" sz="1350" dirty="0">
                <a:latin typeface="Bahnschrift"/>
              </a:endParaRPr>
            </a:p>
          </p:txBody>
        </p:sp>
      </p:grpSp>
      <p:grpSp>
        <p:nvGrpSpPr>
          <p:cNvPr id="28" name="Fase &gt;3 días"/>
          <p:cNvGrpSpPr/>
          <p:nvPr/>
        </p:nvGrpSpPr>
        <p:grpSpPr>
          <a:xfrm>
            <a:off x="9043416" y="1051560"/>
            <a:ext cx="2743200" cy="5440680"/>
            <a:chOff x="9043416" y="1051560"/>
            <a:chExt cx="2743200" cy="5440680"/>
          </a:xfrm>
        </p:grpSpPr>
        <p:sp>
          <p:nvSpPr>
            <p:cNvPr id="29" name="Forma 34"/>
            <p:cNvSpPr/>
            <p:nvPr/>
          </p:nvSpPr>
          <p:spPr>
            <a:xfrm>
              <a:off x="9043416" y="1051560"/>
              <a:ext cx="2743200" cy="5440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0" name="Forma 35"/>
            <p:cNvSpPr/>
            <p:nvPr/>
          </p:nvSpPr>
          <p:spPr>
            <a:xfrm>
              <a:off x="9043416" y="1051560"/>
              <a:ext cx="2743200" cy="685800"/>
            </a:xfrm>
            <a:prstGeom prst="rect">
              <a:avLst/>
            </a:prstGeom>
            <a:solidFill>
              <a:srgbClr val="2E86C1"/>
            </a:solidFill>
            <a:ln w="15875" cap="rnd">
              <a:solidFill>
                <a:srgbClr val="1E1E1E"/>
              </a:solidFill>
              <a:round/>
            </a:ln>
          </p:spPr>
          <p:txBody>
            <a:bodyPr wrap="square" lIns="73152" tIns="45720" rIns="73152" bIns="45720" anchor="ctr" rtlCol="0">
              <a:noAutofit/>
            </a:bodyPr>
            <a:lstStyle/>
            <a:p>
              <a:pPr algn="ctr">
                <a:spcAft>
                  <a:spcPts val="300"/>
                </a:spcAft>
                <a:buNone/>
              </a:pPr>
              <a:r>
                <a:rPr lang="es-AR" sz="2200" b="1" dirty="0">
                  <a:solidFill>
                    <a:srgbClr val="FFFFFF"/>
                  </a:solidFill>
                  <a:latin typeface="Bahnschrift SemiBold Condensed"/>
                  <a:ea typeface="Bahnschrift SemiBold Condensed"/>
                  <a:cs typeface="Bahnschrift SemiBold Condensed"/>
                  <a:sym typeface="Bahnschrift SemiBold Condensed"/>
                </a:rPr>
                <a:t>&gt;3 días</a:t>
              </a:r>
              <a:endParaRPr lang="es-AR" sz="2200" dirty="0">
                <a:latin typeface="Bahnschrift SemiBold Condensed"/>
              </a:endParaRPr>
            </a:p>
          </p:txBody>
        </p:sp>
        <p:grpSp>
          <p:nvGrpSpPr>
            <p:cNvPr id="31" name="Reloj &gt;3 días"/>
            <p:cNvGrpSpPr/>
            <p:nvPr/>
          </p:nvGrpSpPr>
          <p:grpSpPr>
            <a:xfrm>
              <a:off x="11192256" y="1115568"/>
              <a:ext cx="548640" cy="548640"/>
              <a:chOff x="11192256" y="1115568"/>
              <a:chExt cx="548640" cy="548640"/>
            </a:xfrm>
          </p:grpSpPr>
          <p:sp>
            <p:nvSpPr>
              <p:cNvPr id="32" name="Forma 37"/>
              <p:cNvSpPr/>
              <p:nvPr/>
            </p:nvSpPr>
            <p:spPr>
              <a:xfrm>
                <a:off x="11192256" y="1115568"/>
                <a:ext cx="548640" cy="54864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33" name="Flecha 38_2"/>
              <p:cNvSpPr/>
              <p:nvPr/>
            </p:nvSpPr>
            <p:spPr>
              <a:xfrm>
                <a:off x="11466576" y="1236269"/>
                <a:ext cx="9144" cy="153619"/>
              </a:xfrm>
              <a:custGeom>
                <a:avLst/>
                <a:gdLst/>
                <a:ahLst/>
                <a:cxnLst/>
                <a:rect l="0" t="0" r="r" b="b"/>
                <a:pathLst>
                  <a:path w="10" h="167" fill="none">
                    <a:moveTo>
                      <a:pt x="0" y="167"/>
                    </a:moveTo>
                    <a:lnTo>
                      <a:pt x="0" y="0"/>
                    </a:lnTo>
                  </a:path>
                </a:pathLst>
              </a:custGeom>
              <a:noFill/>
              <a:ln w="31750" cap="rnd">
                <a:solidFill>
                  <a:srgbClr val="1E1E1E"/>
                </a:solidFill>
                <a:round/>
              </a:ln>
            </p:spPr>
          </p:sp>
          <p:sp>
            <p:nvSpPr>
              <p:cNvPr id="34" name="Flecha 40_2"/>
              <p:cNvSpPr/>
              <p:nvPr/>
            </p:nvSpPr>
            <p:spPr>
              <a:xfrm>
                <a:off x="11466576" y="1181405"/>
                <a:ext cx="9144" cy="208483"/>
              </a:xfrm>
              <a:custGeom>
                <a:avLst/>
                <a:gdLst/>
                <a:ahLst/>
                <a:cxnLst/>
                <a:rect l="0" t="0" r="r" b="b"/>
                <a:pathLst>
                  <a:path w="10" h="227" fill="none">
                    <a:moveTo>
                      <a:pt x="0" y="227"/>
                    </a:moveTo>
                    <a:lnTo>
                      <a:pt x="0" y="0"/>
                    </a:lnTo>
                  </a:path>
                </a:pathLst>
              </a:custGeom>
              <a:noFill/>
              <a:ln w="22225" cap="rnd">
                <a:solidFill>
                  <a:srgbClr val="1E1E1E"/>
                </a:solidFill>
                <a:round/>
              </a:ln>
            </p:spPr>
          </p:sp>
        </p:grpSp>
        <p:sp>
          <p:nvSpPr>
            <p:cNvPr id="35" name="Forma 42"/>
            <p:cNvSpPr txBox="1"/>
            <p:nvPr/>
          </p:nvSpPr>
          <p:spPr>
            <a:xfrm>
              <a:off x="9153144" y="1874520"/>
              <a:ext cx="2560320" cy="4526280"/>
            </a:xfrm>
            <a:prstGeom prst="rect">
              <a:avLst/>
            </a:prstGeom>
            <a:noFill/>
            <a:ln>
              <a:noFill/>
            </a:ln>
          </p:spPr>
          <p:txBody>
            <a:bodyPr wrap="square" lIns="0" tIns="0" rIns="0" bIns="0" anchor="t" rtlCol="0">
              <a:noAutofit/>
            </a:bodyPr>
            <a:lstStyle/>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Cuerpos cetónicos: papel creciente en el SNC</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 necesidad de glucosa a expensas de proteína</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Riñón: ↑ gluconeogénesis y amoniogénesis</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Músculo: predominan AG</a:t>
              </a:r>
              <a:endParaRPr lang="es-AR" sz="1350" dirty="0">
                <a:latin typeface="Bahnschrift"/>
              </a:endParaRPr>
            </a:p>
            <a:p>
              <a:pPr algn="l" marL="128587" indent="-128587">
                <a:spcAft>
                  <a:spcPts val="500"/>
                </a:spcAft>
                <a:buClr>
                  <a:srgbClr val="1E1E1E"/>
                </a:buClr>
                <a:buFont typeface="Arial"/>
                <a:buChar char="•"/>
              </a:pPr>
              <a:r>
                <a:rPr lang="es-AR" sz="1350" dirty="0">
                  <a:solidFill>
                    <a:srgbClr val="1E1E1E"/>
                  </a:solidFill>
                  <a:latin typeface="Bahnschrift"/>
                  <a:ea typeface="Bahnschrift"/>
                  <a:cs typeface="Bahnschrift"/>
                  <a:sym typeface="Bahnschrift"/>
                </a:rPr>
                <a:t>Eritrocito y otras células siguen requiriendo glucólisis</a:t>
              </a:r>
              <a:endParaRPr lang="es-AR" sz="1350" dirty="0">
                <a:latin typeface="Bahnschrift"/>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418162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 · QUÉ CAMBIA EN CADA FASE</a:t>
            </a:r>
            <a:endParaRPr lang="es-AR" sz="2600" dirty="0">
              <a:latin typeface="Bahnschrift SemiBold Condensed"/>
            </a:endParaRPr>
          </a:p>
        </p:txBody>
      </p:sp>
      <p:sp>
        <p:nvSpPr>
          <p:cNvPr id="3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Gráfico evolución hormonal"/>
          <p:cNvGraphicFramePr>
            <a:graphicFrameLocks noGrp="1"/>
          </p:cNvGraphicFramePr>
          <p:nvPr/>
        </p:nvGraphicFramePr>
        <p:xfrm>
          <a:off x="411480" y="1005840"/>
          <a:ext cx="7589520" cy="5440680"/>
        </p:xfrm>
        <a:graphic>
          <a:graphicData uri="http://schemas.openxmlformats.org/drawingml/2006/chart">
            <c:chart xmlns:c="http://schemas.openxmlformats.org/drawingml/2006/chart" r:id="rId2"/>
          </a:graphicData>
        </a:graphic>
      </p:graphicFrame>
      <p:grpSp>
        <p:nvGrpSpPr>
          <p:cNvPr id="5" name="Recuadro Insulina"/>
          <p:cNvGrpSpPr/>
          <p:nvPr/>
        </p:nvGrpSpPr>
        <p:grpSpPr>
          <a:xfrm>
            <a:off x="8229600" y="1005840"/>
            <a:ext cx="3566160" cy="1691640"/>
            <a:chOff x="8229600" y="1005840"/>
            <a:chExt cx="3566160" cy="1691640"/>
          </a:xfrm>
        </p:grpSpPr>
        <p:sp>
          <p:nvSpPr>
            <p:cNvPr id="6" name="Forma 4"/>
            <p:cNvSpPr/>
            <p:nvPr/>
          </p:nvSpPr>
          <p:spPr>
            <a:xfrm>
              <a:off x="8229600" y="1188720"/>
              <a:ext cx="3566160" cy="1508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insulina cae</a:t>
              </a:r>
              <a:r>
                <a:rPr lang="es-AR" sz="1650" dirty="0">
                  <a:solidFill>
                    <a:srgbClr val="1E1E1E"/>
                  </a:solidFill>
                  <a:latin typeface="Bahnschrift"/>
                  <a:ea typeface="Bahnschrift"/>
                  <a:cs typeface="Bahnschrift"/>
                  <a:sym typeface="Bahnschrift"/>
                </a:rPr>
                <a:t> pero no desaparece: la insulina residual limita lipólisis y cetogénesis extremas.</a:t>
              </a:r>
              <a:endParaRPr lang="es-AR" sz="1650" dirty="0">
                <a:latin typeface="Bahnschrift"/>
              </a:endParaRPr>
            </a:p>
          </p:txBody>
        </p:sp>
        <p:sp>
          <p:nvSpPr>
            <p:cNvPr id="7" name="Forma 5"/>
            <p:cNvSpPr/>
            <p:nvPr/>
          </p:nvSpPr>
          <p:spPr>
            <a:xfrm>
              <a:off x="8339328" y="1005840"/>
              <a:ext cx="102077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INSULINA</a:t>
              </a:r>
              <a:endParaRPr lang="es-AR" sz="1500" dirty="0">
                <a:latin typeface="Bahnschrift SemiBold Condensed"/>
              </a:endParaRPr>
            </a:p>
          </p:txBody>
        </p:sp>
      </p:grpSp>
      <p:grpSp>
        <p:nvGrpSpPr>
          <p:cNvPr id="8" name="Recuadro Contrarregulación"/>
          <p:cNvGrpSpPr/>
          <p:nvPr/>
        </p:nvGrpSpPr>
        <p:grpSpPr>
          <a:xfrm>
            <a:off x="8229600" y="2834640"/>
            <a:ext cx="3566160" cy="1691640"/>
            <a:chOff x="8229600" y="2834640"/>
            <a:chExt cx="3566160" cy="1691640"/>
          </a:xfrm>
        </p:grpSpPr>
        <p:sp>
          <p:nvSpPr>
            <p:cNvPr id="9" name="Forma 7"/>
            <p:cNvSpPr/>
            <p:nvPr/>
          </p:nvSpPr>
          <p:spPr>
            <a:xfrm>
              <a:off x="8229600" y="3017520"/>
              <a:ext cx="3566160" cy="1508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Aumenta la </a:t>
              </a:r>
              <a:r>
                <a:rPr lang="es-AR" sz="1650" b="1" dirty="0">
                  <a:solidFill>
                    <a:srgbClr val="1E1E1E"/>
                  </a:solidFill>
                  <a:latin typeface="Bahnschrift"/>
                  <a:ea typeface="Bahnschrift"/>
                  <a:cs typeface="Bahnschrift"/>
                  <a:sym typeface="Bahnschrift"/>
                </a:rPr>
                <a:t>relación glucagón/insulina</a:t>
              </a:r>
              <a:r>
                <a:rPr lang="es-AR" sz="1650" dirty="0">
                  <a:solidFill>
                    <a:srgbClr val="1E1E1E"/>
                  </a:solidFill>
                  <a:latin typeface="Bahnschrift"/>
                  <a:ea typeface="Bahnschrift"/>
                  <a:cs typeface="Bahnschrift"/>
                  <a:sym typeface="Bahnschrift"/>
                </a:rPr>
                <a:t>; catecolaminas, cortisol y GH participan según el contexto.</a:t>
              </a:r>
              <a:endParaRPr lang="es-AR" sz="1650" dirty="0">
                <a:latin typeface="Bahnschrift"/>
              </a:endParaRPr>
            </a:p>
          </p:txBody>
        </p:sp>
        <p:sp>
          <p:nvSpPr>
            <p:cNvPr id="10" name="Forma 8"/>
            <p:cNvSpPr/>
            <p:nvPr/>
          </p:nvSpPr>
          <p:spPr>
            <a:xfrm>
              <a:off x="8339328" y="2834640"/>
              <a:ext cx="194784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CONTRARREGULACIÓN</a:t>
              </a:r>
              <a:endParaRPr lang="es-AR" sz="1500" dirty="0">
                <a:latin typeface="Bahnschrift SemiBold Condensed"/>
              </a:endParaRPr>
            </a:p>
          </p:txBody>
        </p:sp>
      </p:grpSp>
      <p:grpSp>
        <p:nvGrpSpPr>
          <p:cNvPr id="11" name="Recuadro Sustratos"/>
          <p:cNvGrpSpPr/>
          <p:nvPr/>
        </p:nvGrpSpPr>
        <p:grpSpPr>
          <a:xfrm>
            <a:off x="8229600" y="4663440"/>
            <a:ext cx="3566160" cy="1783080"/>
            <a:chOff x="8229600" y="4663440"/>
            <a:chExt cx="3566160" cy="1783080"/>
          </a:xfrm>
        </p:grpSpPr>
        <p:sp>
          <p:nvSpPr>
            <p:cNvPr id="12" name="Forma 10"/>
            <p:cNvSpPr/>
            <p:nvPr/>
          </p:nvSpPr>
          <p:spPr>
            <a:xfrm>
              <a:off x="8229600" y="4846320"/>
              <a:ext cx="3566160" cy="1600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Los </a:t>
              </a:r>
              <a:r>
                <a:rPr lang="es-AR" sz="1650" b="1" dirty="0">
                  <a:solidFill>
                    <a:srgbClr val="1E1E1E"/>
                  </a:solidFill>
                  <a:latin typeface="Bahnschrift"/>
                  <a:ea typeface="Bahnschrift"/>
                  <a:cs typeface="Bahnschrift"/>
                  <a:sym typeface="Bahnschrift"/>
                </a:rPr>
                <a:t>AG</a:t>
              </a:r>
              <a:r>
                <a:rPr lang="es-AR" sz="1650" dirty="0">
                  <a:solidFill>
                    <a:srgbClr val="1E1E1E"/>
                  </a:solidFill>
                  <a:latin typeface="Bahnschrift"/>
                  <a:ea typeface="Bahnschrift"/>
                  <a:cs typeface="Bahnschrift"/>
                  <a:sym typeface="Bahnschrift"/>
                </a:rPr>
                <a:t> suben primero; los </a:t>
              </a:r>
              <a:r>
                <a:rPr lang="es-AR" sz="1650" b="1" dirty="0">
                  <a:solidFill>
                    <a:srgbClr val="1E1E1E"/>
                  </a:solidFill>
                  <a:latin typeface="Bahnschrift"/>
                  <a:ea typeface="Bahnschrift"/>
                  <a:cs typeface="Bahnschrift"/>
                  <a:sym typeface="Bahnschrift"/>
                </a:rPr>
                <a:t>cuerpos cetónicos</a:t>
              </a:r>
              <a:r>
                <a:rPr lang="es-AR" sz="1650" dirty="0">
                  <a:solidFill>
                    <a:srgbClr val="1E1E1E"/>
                  </a:solidFill>
                  <a:latin typeface="Bahnschrift"/>
                  <a:ea typeface="Bahnschrift"/>
                  <a:cs typeface="Bahnschrift"/>
                  <a:sym typeface="Bahnschrift"/>
                </a:rPr>
                <a:t> crecen más tarde y sostienen al SNC en el ayuno prolongado.</a:t>
              </a:r>
              <a:endParaRPr lang="es-AR" sz="1650" dirty="0">
                <a:latin typeface="Bahnschrift"/>
              </a:endParaRPr>
            </a:p>
          </p:txBody>
        </p:sp>
        <p:sp>
          <p:nvSpPr>
            <p:cNvPr id="13" name="Forma 11"/>
            <p:cNvSpPr/>
            <p:nvPr/>
          </p:nvSpPr>
          <p:spPr>
            <a:xfrm>
              <a:off x="8339328" y="4663440"/>
              <a:ext cx="118628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SUSTRATOS</a:t>
              </a:r>
              <a:endParaRPr lang="es-AR" sz="150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78875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00" b="1" dirty="0">
                <a:solidFill>
                  <a:srgbClr val="1E1E1E"/>
                </a:solidFill>
                <a:latin typeface="Bahnschrift SemiBold Condensed"/>
                <a:ea typeface="Bahnschrift SemiBold Condensed"/>
                <a:cs typeface="Bahnschrift SemiBold Condensed"/>
                <a:sym typeface="Bahnschrift SemiBold Condensed"/>
              </a:rPr>
              <a:t>2 · EVOLUCIÓN HORMONAL Y DE SUSTRATOS (ESQUEMA CONCEPTUAL)</a:t>
            </a:r>
            <a:endParaRPr lang="es-AR" sz="25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Intestino"/>
          <p:cNvGrpSpPr/>
          <p:nvPr/>
        </p:nvGrpSpPr>
        <p:grpSpPr>
          <a:xfrm>
            <a:off x="731520" y="3108960"/>
            <a:ext cx="2743200" cy="2331720"/>
            <a:chOff x="731520" y="3108960"/>
            <a:chExt cx="2743200" cy="2331720"/>
          </a:xfrm>
        </p:grpSpPr>
        <p:sp>
          <p:nvSpPr>
            <p:cNvPr id="5" name="Forma 4"/>
            <p:cNvSpPr/>
            <p:nvPr/>
          </p:nvSpPr>
          <p:spPr>
            <a:xfrm>
              <a:off x="731520" y="3108960"/>
              <a:ext cx="2743200" cy="233172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 name="Forma 5"/>
            <p:cNvSpPr/>
            <p:nvPr/>
          </p:nvSpPr>
          <p:spPr>
            <a:xfrm>
              <a:off x="731520" y="3108960"/>
              <a:ext cx="2743200" cy="233172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7" name="Forma 6"/>
            <p:cNvSpPr/>
            <p:nvPr/>
          </p:nvSpPr>
          <p:spPr>
            <a:xfrm>
              <a:off x="731520" y="3108960"/>
              <a:ext cx="2743200" cy="233172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8" name="Forma 7"/>
            <p:cNvSpPr/>
            <p:nvPr/>
          </p:nvSpPr>
          <p:spPr>
            <a:xfrm>
              <a:off x="731520" y="3108960"/>
              <a:ext cx="2743200" cy="233172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9" name="Forma 8"/>
            <p:cNvSpPr/>
            <p:nvPr/>
          </p:nvSpPr>
          <p:spPr>
            <a:xfrm>
              <a:off x="731520" y="3108960"/>
              <a:ext cx="2743200" cy="233172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0" name="!!Hígado"/>
          <p:cNvGrpSpPr/>
          <p:nvPr/>
        </p:nvGrpSpPr>
        <p:grpSpPr>
          <a:xfrm>
            <a:off x="5852160" y="1188720"/>
            <a:ext cx="4023360" cy="2843711"/>
            <a:chOff x="5852160" y="1188720"/>
            <a:chExt cx="4023360" cy="2843711"/>
          </a:xfrm>
        </p:grpSpPr>
        <p:sp>
          <p:nvSpPr>
            <p:cNvPr id="11" name="Vesícula biliar"/>
            <p:cNvSpPr/>
            <p:nvPr/>
          </p:nvSpPr>
          <p:spPr>
            <a:xfrm>
              <a:off x="6938467" y="3134417"/>
              <a:ext cx="523037" cy="898014"/>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5852160" y="1188720"/>
              <a:ext cx="4023360" cy="249448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5852160" y="1188720"/>
              <a:ext cx="4023360" cy="249448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5852160" y="1188720"/>
              <a:ext cx="4023360" cy="249448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Vena porta"/>
          <p:cNvSpPr/>
          <p:nvPr/>
        </p:nvSpPr>
        <p:spPr>
          <a:xfrm>
            <a:off x="2377440" y="2194560"/>
            <a:ext cx="4937760" cy="2011680"/>
          </a:xfrm>
          <a:custGeom>
            <a:avLst/>
            <a:gdLst/>
            <a:ahLst/>
            <a:cxnLst/>
            <a:rect l="0" t="0" r="r" b="b"/>
            <a:pathLst>
              <a:path w="1000" h="1000" fill="none">
                <a:moveTo>
                  <a:pt x="0" y="900"/>
                </a:moveTo>
                <a:cubicBezTo>
                  <a:pt x="250" y="900"/>
                  <a:pt x="400" y="650"/>
                  <a:pt x="600" y="450"/>
                </a:cubicBezTo>
                <a:cubicBezTo>
                  <a:pt x="750" y="300"/>
                  <a:pt x="850" y="150"/>
                  <a:pt x="1000" y="80"/>
                </a:cubicBezTo>
              </a:path>
            </a:pathLst>
          </a:custGeom>
          <a:noFill/>
          <a:ln w="279400" cap="rnd">
            <a:solidFill>
              <a:srgbClr val="6C3483"/>
            </a:solidFill>
            <a:round/>
          </a:ln>
        </p:spPr>
      </p:sp>
      <p:sp>
        <p:nvSpPr>
          <p:cNvPr id="16" name="!!Rótulo intestino"/>
          <p:cNvSpPr/>
          <p:nvPr/>
        </p:nvSpPr>
        <p:spPr>
          <a:xfrm>
            <a:off x="822960" y="6035040"/>
            <a:ext cx="153368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INTESTINO DELGADO</a:t>
            </a:r>
            <a:endParaRPr lang="es-AR" sz="1300" dirty="0">
              <a:latin typeface="Bahnschrift SemiBold Condensed"/>
            </a:endParaRPr>
          </a:p>
        </p:txBody>
      </p:sp>
      <p:sp>
        <p:nvSpPr>
          <p:cNvPr id="17" name="!!Rótulo porta"/>
          <p:cNvSpPr/>
          <p:nvPr/>
        </p:nvSpPr>
        <p:spPr>
          <a:xfrm>
            <a:off x="3291840" y="2011680"/>
            <a:ext cx="1039962" cy="255905"/>
          </a:xfrm>
          <a:prstGeom prst="rect">
            <a:avLst/>
          </a:prstGeom>
          <a:solidFill>
            <a:srgbClr val="D7BDE2"/>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VENA PORTA</a:t>
            </a:r>
            <a:endParaRPr lang="es-AR" sz="1300" dirty="0">
              <a:latin typeface="Bahnschrift SemiBold Condensed"/>
            </a:endParaRPr>
          </a:p>
        </p:txBody>
      </p:sp>
      <p:sp>
        <p:nvSpPr>
          <p:cNvPr id="18" name="!!Rótulo hígado"/>
          <p:cNvSpPr/>
          <p:nvPr/>
        </p:nvSpPr>
        <p:spPr>
          <a:xfrm>
            <a:off x="8412480" y="100584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sp>
        <p:nvSpPr>
          <p:cNvPr id="19" name="Glc 1"/>
          <p:cNvSpPr/>
          <p:nvPr/>
        </p:nvSpPr>
        <p:spPr>
          <a:xfrm>
            <a:off x="2103120" y="420624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0" name="Glc 2"/>
          <p:cNvSpPr/>
          <p:nvPr/>
        </p:nvSpPr>
        <p:spPr>
          <a:xfrm>
            <a:off x="1828800" y="466344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1" name="Glc 3"/>
          <p:cNvSpPr/>
          <p:nvPr/>
        </p:nvSpPr>
        <p:spPr>
          <a:xfrm>
            <a:off x="2468880" y="45720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2" name="Forma 21"/>
          <p:cNvSpPr/>
          <p:nvPr/>
        </p:nvSpPr>
        <p:spPr>
          <a:xfrm>
            <a:off x="7315200" y="4160520"/>
            <a:ext cx="4480560" cy="2331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Absorción por </a:t>
            </a:r>
            <a:r>
              <a:rPr lang="es-AR" sz="1650" b="1" dirty="0">
                <a:solidFill>
                  <a:srgbClr val="1E1E1E"/>
                </a:solidFill>
                <a:latin typeface="Bahnschrift"/>
                <a:ea typeface="Bahnschrift"/>
                <a:cs typeface="Bahnschrift"/>
                <a:sym typeface="Bahnschrift"/>
              </a:rPr>
              <a:t>SGLT1</a:t>
            </a:r>
            <a:r>
              <a:rPr lang="es-AR" sz="1650" dirty="0">
                <a:solidFill>
                  <a:srgbClr val="1E1E1E"/>
                </a:solidFill>
                <a:latin typeface="Bahnschrift"/>
                <a:ea typeface="Bahnschrift"/>
                <a:cs typeface="Bahnschrift"/>
                <a:sym typeface="Bahnschrift"/>
              </a:rPr>
              <a:t> (apical) y </a:t>
            </a:r>
            <a:r>
              <a:rPr lang="es-AR" sz="1650" b="1" dirty="0">
                <a:solidFill>
                  <a:srgbClr val="1E1E1E"/>
                </a:solidFill>
                <a:latin typeface="Bahnschrift"/>
                <a:ea typeface="Bahnschrift"/>
                <a:cs typeface="Bahnschrift"/>
                <a:sym typeface="Bahnschrift"/>
              </a:rPr>
              <a:t>GLUT2</a:t>
            </a:r>
            <a:r>
              <a:rPr lang="es-AR" sz="1650" dirty="0">
                <a:solidFill>
                  <a:srgbClr val="1E1E1E"/>
                </a:solidFill>
                <a:latin typeface="Bahnschrift"/>
                <a:ea typeface="Bahnschrift"/>
                <a:cs typeface="Bahnschrift"/>
                <a:sym typeface="Bahnschrift"/>
              </a:rPr>
              <a:t> (basolateral) en el enterocito.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glucosa llega por la </a:t>
            </a:r>
            <a:r>
              <a:rPr lang="es-AR" sz="1650" b="1" dirty="0">
                <a:solidFill>
                  <a:srgbClr val="1E1E1E"/>
                </a:solidFill>
                <a:latin typeface="Bahnschrift"/>
                <a:ea typeface="Bahnschrift"/>
                <a:cs typeface="Bahnschrift"/>
                <a:sym typeface="Bahnschrift"/>
              </a:rPr>
              <a:t>vena porta</a:t>
            </a:r>
            <a:r>
              <a:rPr lang="es-AR" sz="1650" dirty="0">
                <a:solidFill>
                  <a:srgbClr val="1E1E1E"/>
                </a:solidFill>
                <a:latin typeface="Bahnschrift"/>
                <a:ea typeface="Bahnschrift"/>
                <a:cs typeface="Bahnschrift"/>
                <a:sym typeface="Bahnschrift"/>
              </a:rPr>
              <a:t>: el hígado recibe la primera y mayor concentración.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Capta una </a:t>
            </a:r>
            <a:r>
              <a:rPr lang="es-AR" sz="1650" b="1" dirty="0">
                <a:solidFill>
                  <a:srgbClr val="1E1E1E"/>
                </a:solidFill>
                <a:latin typeface="Bahnschrift"/>
                <a:ea typeface="Bahnschrift"/>
                <a:cs typeface="Bahnschrift"/>
                <a:sym typeface="Bahnschrift"/>
              </a:rPr>
              <a:t>fracción variable</a:t>
            </a:r>
            <a:r>
              <a:rPr lang="es-AR" sz="1650" dirty="0">
                <a:solidFill>
                  <a:srgbClr val="1E1E1E"/>
                </a:solidFill>
                <a:latin typeface="Bahnschrift"/>
                <a:ea typeface="Bahnschrift"/>
                <a:cs typeface="Bahnschrift"/>
                <a:sym typeface="Bahnschrift"/>
              </a:rPr>
              <a:t>; el resto pasa a la circulación sistémica.</a:t>
            </a:r>
            <a:endParaRPr lang="es-AR" sz="1650" dirty="0">
              <a:latin typeface="Bahnschrift"/>
            </a:endParaRPr>
          </a:p>
        </p:txBody>
      </p:sp>
      <p:sp>
        <p:nvSpPr>
          <p:cNvPr id="2" name="Etiqueta sección"/>
          <p:cNvSpPr/>
          <p:nvPr/>
        </p:nvSpPr>
        <p:spPr>
          <a:xfrm>
            <a:off x="9933080" y="201168"/>
            <a:ext cx="198429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2 · 1/3</a:t>
            </a:r>
            <a:endParaRPr lang="es-AR" sz="1300" dirty="0">
              <a:latin typeface="Bahnschrift SemiBold Condensed"/>
            </a:endParaRPr>
          </a:p>
        </p:txBody>
      </p:sp>
      <p:sp>
        <p:nvSpPr>
          <p:cNvPr id="3" name="Título"/>
          <p:cNvSpPr/>
          <p:nvPr/>
        </p:nvSpPr>
        <p:spPr>
          <a:xfrm>
            <a:off x="274320" y="146304"/>
            <a:ext cx="781725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DESTINO DE LA GLUCOSA: INTESTINO → PORTA → HÍGADO</a:t>
            </a:r>
            <a:endParaRPr lang="es-AR" sz="2600" dirty="0">
              <a:latin typeface="Bahnschrift SemiBold Condensed"/>
            </a:endParaRPr>
          </a:p>
        </p:txBody>
      </p:sp>
      <p:sp>
        <p:nvSpPr>
          <p:cNvPr id="2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12"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9"/>
                                        </p:tgtEl>
                                        <p:attrNameLst>
                                          <p:attrName>style.visibility</p:attrName>
                                        </p:attrNameLst>
                                      </p:cBhvr>
                                      <p:to>
                                        <p:strVal val="visible"/>
                                      </p:to>
                                    </p:set>
                                    <p:animEffect transition="in" filter="fade">
                                      <p:cBhvr>
                                        <p:cTn id="5" dur="500"/>
                                        <p:tgtEl>
                                          <p:spTgt spid="19"/>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20"/>
                                        </p:tgtEl>
                                        <p:attrNameLst>
                                          <p:attrName>style.visibility</p:attrName>
                                        </p:attrNameLst>
                                      </p:cBhvr>
                                      <p:to>
                                        <p:strVal val="visible"/>
                                      </p:to>
                                    </p:set>
                                    <p:animEffect transition="in" filter="fade">
                                      <p:cBhvr>
                                        <p:cTn id="8" dur="500"/>
                                        <p:tgtEl>
                                          <p:spTgt spid="20"/>
                                        </p:tgtEl>
                                      </p:cBhvr>
                                    </p:animEffect>
                                  </p:childTnLst>
                                </p:cTn>
                              </p:par>
                              <p:par>
                                <p:cTn id="9" presetID="10" presetClass="entr" presetSubtype="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par>
                    <p:cTn id="23" fill="hold">
                      <p:stCondLst>
                        <p:cond delay="indefinite"/>
                      </p:stCondLst>
                      <p:childTnLst>
                        <p:par>
                          <p:cTn id="16" fill="hold">
                            <p:stCondLst>
                              <p:cond delay="0"/>
                            </p:stCondLst>
                            <p:childTnLst>
                              <p:par>
                                <p:cTn id="14" presetID="0" presetClass="path" presetSubtype="0" accel="20000" decel="20000" fill="hold" grpId="0" nodeType="clickEffect">
                                  <p:stCondLst>
                                    <p:cond delay="0"/>
                                  </p:stCondLst>
                                  <p:childTnLst>
                                    <p:animMotion origin="layout" path="M 0 0 L 0.0900 -0.0400 L 0.2100 -0.2000 L 0.3750 -0.3867 E" pathEditMode="relative" ptsTypes="">
                                      <p:cBhvr>
                                        <p:cTn id="15" dur="2200" fill="hold"/>
                                        <p:tgtEl>
                                          <p:spTgt spid="19"/>
                                        </p:tgtEl>
                                        <p:attrNameLst>
                                          <p:attrName>ppt_x</p:attrName>
                                          <p:attrName>ppt_y</p:attrName>
                                        </p:attrNameLst>
                                      </p:cBhvr>
                                      <p:rCtr x="18750" y="-19333"/>
                                    </p:animMotion>
                                  </p:childTnLst>
                                </p:cTn>
                              </p:par>
                            </p:childTnLst>
                          </p:cTn>
                        </p:par>
                        <p:par>
                          <p:cTn id="19" fill="hold">
                            <p:stCondLst>
                              <p:cond delay="200"/>
                            </p:stCondLst>
                            <p:childTnLst>
                              <p:par>
                                <p:cTn id="17" presetID="0" presetClass="path" presetSubtype="0" accel="20000" decel="20000" fill="hold" grpId="0" nodeType="afterEffect">
                                  <p:stCondLst>
                                    <p:cond delay="0"/>
                                  </p:stCondLst>
                                  <p:childTnLst>
                                    <p:animMotion origin="layout" path="M 0 0 L 0.1125 -0.0800 L 0.2400 -0.2533 L 0.4050 -0.4000 E" pathEditMode="relative" ptsTypes="">
                                      <p:cBhvr>
                                        <p:cTn id="18" dur="2400" fill="hold"/>
                                        <p:tgtEl>
                                          <p:spTgt spid="20"/>
                                        </p:tgtEl>
                                        <p:attrNameLst>
                                          <p:attrName>ppt_x</p:attrName>
                                          <p:attrName>ppt_y</p:attrName>
                                        </p:attrNameLst>
                                      </p:cBhvr>
                                      <p:rCtr x="20250" y="-20000"/>
                                    </p:animMotion>
                                  </p:childTnLst>
                                </p:cTn>
                              </p:par>
                            </p:childTnLst>
                          </p:cTn>
                        </p:par>
                        <p:par>
                          <p:cTn id="22" fill="hold">
                            <p:stCondLst>
                              <p:cond delay="300"/>
                            </p:stCondLst>
                            <p:childTnLst>
                              <p:par>
                                <p:cTn id="20" presetID="0" presetClass="path" presetSubtype="0" accel="20000" decel="20000" fill="hold" grpId="0" nodeType="afterEffect">
                                  <p:stCondLst>
                                    <p:cond delay="0"/>
                                  </p:stCondLst>
                                  <p:childTnLst>
                                    <p:animMotion origin="layout" path="M 0 0 L 0.0750 -0.0400 L 0.1875 -0.1600 L 0.3525 -0.3467 E" pathEditMode="relative" ptsTypes="">
                                      <p:cBhvr>
                                        <p:cTn id="21" dur="2300" fill="hold"/>
                                        <p:tgtEl>
                                          <p:spTgt spid="21"/>
                                        </p:tgtEl>
                                        <p:attrNameLst>
                                          <p:attrName>ppt_x</p:attrName>
                                          <p:attrName>ppt_y</p:attrName>
                                        </p:attrNameLst>
                                      </p:cBhvr>
                                      <p:rCtr x="17625" y="-17333"/>
                                    </p:animMotion>
                                  </p:childTnLst>
                                </p:cTn>
                              </p:par>
                            </p:childTnLst>
                          </p:cTn>
                        </p:par>
                      </p:childTnLst>
                    </p:cTn>
                  </p:par>
                  <p:par>
                    <p:cTn id="28" fill="hold">
                      <p:stCondLst>
                        <p:cond delay="indefinite"/>
                      </p:stCondLst>
                      <p:childTnLst>
                        <p:par>
                          <p:cTn id="27"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Lst>
  </p:timing>
</p:sld>
</file>

<file path=ppt/slides/slide1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Intestino"/>
          <p:cNvGrpSpPr/>
          <p:nvPr/>
        </p:nvGrpSpPr>
        <p:grpSpPr>
          <a:xfrm>
            <a:off x="-2011680" y="4754880"/>
            <a:ext cx="1828800" cy="1554480"/>
            <a:chOff x="-2011680" y="4754880"/>
            <a:chExt cx="1828800" cy="1554480"/>
          </a:xfrm>
        </p:grpSpPr>
        <p:sp>
          <p:nvSpPr>
            <p:cNvPr id="5" name="Forma 4"/>
            <p:cNvSpPr/>
            <p:nvPr/>
          </p:nvSpPr>
          <p:spPr>
            <a:xfrm>
              <a:off x="-2011680" y="4754880"/>
              <a:ext cx="1828800" cy="155448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 name="Forma 5"/>
            <p:cNvSpPr/>
            <p:nvPr/>
          </p:nvSpPr>
          <p:spPr>
            <a:xfrm>
              <a:off x="-2011680" y="4754880"/>
              <a:ext cx="1828800" cy="155448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7" name="Forma 6"/>
            <p:cNvSpPr/>
            <p:nvPr/>
          </p:nvSpPr>
          <p:spPr>
            <a:xfrm>
              <a:off x="-2011680" y="47548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8" name="Forma 7"/>
            <p:cNvSpPr/>
            <p:nvPr/>
          </p:nvSpPr>
          <p:spPr>
            <a:xfrm>
              <a:off x="-2011680" y="47548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9" name="Forma 8"/>
            <p:cNvSpPr/>
            <p:nvPr/>
          </p:nvSpPr>
          <p:spPr>
            <a:xfrm>
              <a:off x="-2011680" y="47548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0" name="!!Hígado"/>
          <p:cNvGrpSpPr/>
          <p:nvPr/>
        </p:nvGrpSpPr>
        <p:grpSpPr>
          <a:xfrm>
            <a:off x="365760" y="1371600"/>
            <a:ext cx="4206240" cy="2972970"/>
            <a:chOff x="365760" y="1371600"/>
            <a:chExt cx="4206240" cy="2972970"/>
          </a:xfrm>
        </p:grpSpPr>
        <p:sp>
          <p:nvSpPr>
            <p:cNvPr id="11" name="Vesícula biliar"/>
            <p:cNvSpPr/>
            <p:nvPr/>
          </p:nvSpPr>
          <p:spPr>
            <a:xfrm>
              <a:off x="1501445" y="3405738"/>
              <a:ext cx="546811" cy="93883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365760" y="1371600"/>
              <a:ext cx="4206240" cy="2607869"/>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365760" y="1371600"/>
              <a:ext cx="4206240" cy="2607869"/>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365760" y="1371600"/>
              <a:ext cx="4206240" cy="2607869"/>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Vena porta"/>
          <p:cNvSpPr/>
          <p:nvPr/>
        </p:nvSpPr>
        <p:spPr>
          <a:xfrm>
            <a:off x="-457200" y="3108960"/>
            <a:ext cx="2194560" cy="2194560"/>
          </a:xfrm>
          <a:custGeom>
            <a:avLst/>
            <a:gdLst/>
            <a:ahLst/>
            <a:cxnLst/>
            <a:rect l="0" t="0" r="r" b="b"/>
            <a:pathLst>
              <a:path w="1000" h="1000" fill="none">
                <a:moveTo>
                  <a:pt x="0" y="900"/>
                </a:moveTo>
                <a:cubicBezTo>
                  <a:pt x="250" y="900"/>
                  <a:pt x="400" y="650"/>
                  <a:pt x="600" y="450"/>
                </a:cubicBezTo>
                <a:cubicBezTo>
                  <a:pt x="750" y="300"/>
                  <a:pt x="850" y="150"/>
                  <a:pt x="1000" y="80"/>
                </a:cubicBezTo>
              </a:path>
            </a:pathLst>
          </a:custGeom>
          <a:noFill/>
          <a:ln w="279400" cap="rnd">
            <a:solidFill>
              <a:srgbClr val="6C3483"/>
            </a:solidFill>
            <a:round/>
          </a:ln>
        </p:spPr>
      </p:sp>
      <p:sp>
        <p:nvSpPr>
          <p:cNvPr id="16" name="!!Rótulo hígado"/>
          <p:cNvSpPr/>
          <p:nvPr/>
        </p:nvSpPr>
        <p:spPr>
          <a:xfrm>
            <a:off x="548640" y="598932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grpSp>
        <p:nvGrpSpPr>
          <p:cNvPr id="17" name="!!Hepatocito"/>
          <p:cNvGrpSpPr/>
          <p:nvPr/>
        </p:nvGrpSpPr>
        <p:grpSpPr>
          <a:xfrm>
            <a:off x="5212080" y="1097280"/>
            <a:ext cx="3840480" cy="3149194"/>
            <a:chOff x="5212080" y="1097280"/>
            <a:chExt cx="3840480" cy="3149194"/>
          </a:xfrm>
        </p:grpSpPr>
        <p:sp>
          <p:nvSpPr>
            <p:cNvPr id="18" name="Forma 17"/>
            <p:cNvSpPr/>
            <p:nvPr/>
          </p:nvSpPr>
          <p:spPr>
            <a:xfrm>
              <a:off x="5212080" y="1097280"/>
              <a:ext cx="3840480" cy="3149194"/>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grpSp>
        <p:nvGrpSpPr>
          <p:cNvPr id="19" name="!!Núcleo hepatocito"/>
          <p:cNvGrpSpPr/>
          <p:nvPr/>
        </p:nvGrpSpPr>
        <p:grpSpPr>
          <a:xfrm>
            <a:off x="6537960" y="1874520"/>
            <a:ext cx="822960" cy="740664"/>
            <a:chOff x="6537960" y="1874520"/>
            <a:chExt cx="822960" cy="740664"/>
          </a:xfrm>
        </p:grpSpPr>
        <p:sp>
          <p:nvSpPr>
            <p:cNvPr id="20" name="Forma 19"/>
            <p:cNvSpPr/>
            <p:nvPr/>
          </p:nvSpPr>
          <p:spPr>
            <a:xfrm>
              <a:off x="6537960" y="1874520"/>
              <a:ext cx="822960" cy="740664"/>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21" name="Forma 20"/>
            <p:cNvSpPr/>
            <p:nvPr/>
          </p:nvSpPr>
          <p:spPr>
            <a:xfrm>
              <a:off x="6965899" y="2121408"/>
              <a:ext cx="181051" cy="164592"/>
            </a:xfrm>
            <a:prstGeom prst="ellipse">
              <a:avLst/>
            </a:prstGeom>
            <a:solidFill>
              <a:srgbClr val="513B6B"/>
            </a:solidFill>
            <a:ln>
              <a:noFill/>
            </a:ln>
          </p:spPr>
        </p:sp>
      </p:grpSp>
      <p:grpSp>
        <p:nvGrpSpPr>
          <p:cNvPr id="22" name="!!GLUT2"/>
          <p:cNvGrpSpPr/>
          <p:nvPr/>
        </p:nvGrpSpPr>
        <p:grpSpPr>
          <a:xfrm>
            <a:off x="4983480" y="2103120"/>
            <a:ext cx="749808" cy="750540"/>
            <a:chOff x="4983480" y="2103120"/>
            <a:chExt cx="749808" cy="750540"/>
          </a:xfrm>
        </p:grpSpPr>
        <p:sp>
          <p:nvSpPr>
            <p:cNvPr id="23" name="Forma 22"/>
            <p:cNvSpPr/>
            <p:nvPr/>
          </p:nvSpPr>
          <p:spPr>
            <a:xfrm>
              <a:off x="5074920" y="2377440"/>
              <a:ext cx="566928" cy="204094"/>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24" name="Forma 23"/>
            <p:cNvSpPr/>
            <p:nvPr/>
          </p:nvSpPr>
          <p:spPr>
            <a:xfrm>
              <a:off x="5074920" y="2649565"/>
              <a:ext cx="566928" cy="204094"/>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25" name="Forma 24"/>
            <p:cNvSpPr txBox="1"/>
            <p:nvPr/>
          </p:nvSpPr>
          <p:spPr>
            <a:xfrm>
              <a:off x="4983480" y="2103120"/>
              <a:ext cx="749808"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GLUT2</a:t>
              </a:r>
              <a:endParaRPr lang="es-AR" sz="1150" dirty="0">
                <a:latin typeface="Bahnschrift SemiBold Condensed"/>
              </a:endParaRPr>
            </a:p>
          </p:txBody>
        </p:sp>
      </p:grpSp>
      <p:sp>
        <p:nvSpPr>
          <p:cNvPr id="26" name="!!Glucocinasa"/>
          <p:cNvSpPr/>
          <p:nvPr/>
        </p:nvSpPr>
        <p:spPr>
          <a:xfrm>
            <a:off x="6035040" y="3246120"/>
            <a:ext cx="1572917"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Glucocinasa (HK IV)</a:t>
            </a:r>
            <a:endParaRPr lang="es-AR" sz="1250" dirty="0">
              <a:latin typeface="Bahnschrift SemiBold Condensed"/>
            </a:endParaRPr>
          </a:p>
        </p:txBody>
      </p:sp>
      <p:sp>
        <p:nvSpPr>
          <p:cNvPr id="27" name="!!Glc hepática"/>
          <p:cNvSpPr/>
          <p:nvPr/>
        </p:nvSpPr>
        <p:spPr>
          <a:xfrm>
            <a:off x="4114800" y="242316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8" name="!!G6P"/>
          <p:cNvSpPr/>
          <p:nvPr/>
        </p:nvSpPr>
        <p:spPr>
          <a:xfrm>
            <a:off x="6949440" y="3794760"/>
            <a:ext cx="566928" cy="56692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G6P</a:t>
            </a:r>
            <a:endParaRPr lang="es-AR" sz="1300" dirty="0">
              <a:latin typeface="Bahnschrift SemiBold Condensed"/>
            </a:endParaRPr>
          </a:p>
        </p:txBody>
      </p:sp>
      <p:sp>
        <p:nvSpPr>
          <p:cNvPr id="29" name="Recuadro GLUT2 GK"/>
          <p:cNvSpPr/>
          <p:nvPr/>
        </p:nvSpPr>
        <p:spPr>
          <a:xfrm>
            <a:off x="9281160" y="1051560"/>
            <a:ext cx="2514600" cy="21488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GLUT2</a:t>
            </a:r>
            <a:r>
              <a:rPr lang="es-AR" sz="1600" dirty="0">
                <a:solidFill>
                  <a:srgbClr val="1E1E1E"/>
                </a:solidFill>
                <a:latin typeface="Bahnschrift"/>
                <a:ea typeface="Bahnschrift"/>
                <a:cs typeface="Bahnschrift"/>
                <a:sym typeface="Bahnschrift"/>
              </a:rPr>
              <a:t>: bidireccional, alta capacidad.</a:t>
            </a:r>
            <a:endParaRPr lang="es-AR" sz="1600" dirty="0">
              <a:latin typeface="Bahnschrift"/>
            </a:endParaRPr>
          </a:p>
          <a:p>
            <a:pPr algn="l">
              <a:spcAft>
                <a:spcPts val="400"/>
              </a:spcAft>
              <a:buNone/>
            </a:pPr>
            <a:r>
              <a:rPr lang="es-AR" sz="1600" b="1" dirty="0">
                <a:solidFill>
                  <a:srgbClr val="1E1E1E"/>
                </a:solidFill>
                <a:latin typeface="Bahnschrift"/>
                <a:ea typeface="Bahnschrift"/>
                <a:cs typeface="Bahnschrift"/>
                <a:sym typeface="Bahnschrift"/>
              </a:rPr>
              <a:t>Glucocinasa</a:t>
            </a:r>
            <a:r>
              <a:rPr lang="es-AR" sz="1600" dirty="0">
                <a:solidFill>
                  <a:srgbClr val="1E1E1E"/>
                </a:solidFill>
                <a:latin typeface="Bahnschrift"/>
                <a:ea typeface="Bahnschrift"/>
                <a:cs typeface="Bahnschrift"/>
                <a:sym typeface="Bahnschrift"/>
              </a:rPr>
              <a:t>: Km aparente alto, no inhibida por G6P; regulada por </a:t>
            </a:r>
            <a:r>
              <a:rPr lang="es-AR" sz="1600" b="1" dirty="0">
                <a:solidFill>
                  <a:srgbClr val="1E1E1E"/>
                </a:solidFill>
                <a:latin typeface="Bahnschrift"/>
                <a:ea typeface="Bahnschrift"/>
                <a:cs typeface="Bahnschrift"/>
                <a:sym typeface="Bahnschrift"/>
              </a:rPr>
              <a:t>GKRP</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30" name="Recuadro atrapamiento"/>
          <p:cNvSpPr/>
          <p:nvPr/>
        </p:nvSpPr>
        <p:spPr>
          <a:xfrm>
            <a:off x="9281160" y="3383280"/>
            <a:ext cx="2514600" cy="17373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La fosforilación </a:t>
            </a:r>
            <a:r>
              <a:rPr lang="es-AR" sz="1600" b="1" dirty="0">
                <a:solidFill>
                  <a:srgbClr val="1E1E1E"/>
                </a:solidFill>
                <a:latin typeface="Bahnschrift"/>
                <a:ea typeface="Bahnschrift"/>
                <a:cs typeface="Bahnschrift"/>
                <a:sym typeface="Bahnschrift"/>
              </a:rPr>
              <a:t>atrapa</a:t>
            </a:r>
            <a:r>
              <a:rPr lang="es-AR" sz="1600" dirty="0">
                <a:solidFill>
                  <a:srgbClr val="1E1E1E"/>
                </a:solidFill>
                <a:latin typeface="Bahnschrift"/>
                <a:ea typeface="Bahnschrift"/>
                <a:cs typeface="Bahnschrift"/>
                <a:sym typeface="Bahnschrift"/>
              </a:rPr>
              <a:t> la glucosa como G6P y mantiene el gradiente de entrada.</a:t>
            </a:r>
            <a:endParaRPr lang="es-AR" sz="1600" dirty="0">
              <a:latin typeface="Bahnschrift"/>
            </a:endParaRPr>
          </a:p>
        </p:txBody>
      </p:sp>
      <p:sp>
        <p:nvSpPr>
          <p:cNvPr id="31" name="Recuadro G6P"/>
          <p:cNvSpPr/>
          <p:nvPr/>
        </p:nvSpPr>
        <p:spPr>
          <a:xfrm>
            <a:off x="5212080" y="5349240"/>
            <a:ext cx="6583680" cy="11430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Glucosa → </a:t>
            </a:r>
            <a:r>
              <a:rPr lang="es-AR" sz="1700" b="1" dirty="0">
                <a:solidFill>
                  <a:srgbClr val="1E1E1E"/>
                </a:solidFill>
                <a:latin typeface="Bahnschrift"/>
                <a:ea typeface="Bahnschrift"/>
                <a:cs typeface="Bahnschrift"/>
                <a:sym typeface="Bahnschrift"/>
              </a:rPr>
              <a:t>glucosa-6-fosfato</a:t>
            </a:r>
            <a:r>
              <a:rPr lang="es-AR" sz="1700" dirty="0">
                <a:solidFill>
                  <a:srgbClr val="1E1E1E"/>
                </a:solidFill>
                <a:latin typeface="Bahnschrift"/>
                <a:ea typeface="Bahnschrift"/>
                <a:cs typeface="Bahnschrift"/>
                <a:sym typeface="Bahnschrift"/>
              </a:rPr>
              <a:t> (consume ATP). La G6P es la encrucijada que decide el destino del carbono.</a:t>
            </a:r>
            <a:endParaRPr lang="es-AR" sz="1700" dirty="0">
              <a:latin typeface="Bahnschrift"/>
            </a:endParaRPr>
          </a:p>
        </p:txBody>
      </p:sp>
      <p:sp>
        <p:nvSpPr>
          <p:cNvPr id="2" name="Etiqueta sección"/>
          <p:cNvSpPr/>
          <p:nvPr/>
        </p:nvSpPr>
        <p:spPr>
          <a:xfrm>
            <a:off x="9905350" y="201168"/>
            <a:ext cx="201202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2 · 2/3</a:t>
            </a:r>
            <a:endParaRPr lang="es-AR" sz="1300" dirty="0">
              <a:latin typeface="Bahnschrift SemiBold Condensed"/>
            </a:endParaRPr>
          </a:p>
        </p:txBody>
      </p:sp>
      <p:sp>
        <p:nvSpPr>
          <p:cNvPr id="3" name="Título"/>
          <p:cNvSpPr/>
          <p:nvPr/>
        </p:nvSpPr>
        <p:spPr>
          <a:xfrm>
            <a:off x="274320" y="146304"/>
            <a:ext cx="622661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EN EL HEPATOCITO: GLUT2 Y GLUCOCINASA</a:t>
            </a:r>
            <a:endParaRPr lang="es-AR" sz="2600" dirty="0">
              <a:latin typeface="Bahnschrift SemiBold Condensed"/>
            </a:endParaRPr>
          </a:p>
        </p:txBody>
      </p:sp>
      <p:sp>
        <p:nvSpPr>
          <p:cNvPr id="3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6"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1238 0.0000 E" pathEditMode="relative" ptsTypes="">
                                      <p:cBhvr>
                                        <p:cTn id="4" dur="1200" fill="hold"/>
                                        <p:tgtEl>
                                          <p:spTgt spid="27"/>
                                        </p:tgtEl>
                                        <p:attrNameLst>
                                          <p:attrName>ppt_x</p:attrName>
                                          <p:attrName>ppt_y</p:attrName>
                                        </p:attrNameLst>
                                      </p:cBhvr>
                                      <p:rCtr x="6187" y="0"/>
                                    </p:animMotion>
                                  </p:childTnLst>
                                </p:cTn>
                              </p:par>
                            </p:childTnLst>
                          </p:cTn>
                        </p:par>
                      </p:childTnLst>
                    </p:cTn>
                  </p:par>
                  <p:par>
                    <p:cTn id="21" fill="hold">
                      <p:stCondLst>
                        <p:cond delay="indefinite"/>
                      </p:stCondLst>
                      <p:childTnLst>
                        <p:par>
                          <p:cTn id="10" fill="hold">
                            <p:stCondLst>
                              <p:cond delay="0"/>
                            </p:stCondLst>
                            <p:childTnLst>
                              <p:par>
                                <p:cTn id="7" presetID="10" presetClass="entr" presetSubtype="0" fill="hold" grpId="0" nodeType="clickEffect">
                                  <p:stCondLst>
                                    <p:cond delay="0"/>
                                  </p:stCondLst>
                                  <p:childTnLst>
                                    <p:set>
                                      <p:cBhvr>
                                        <p:cTn id="8" dur="1" fill="hold">
                                          <p:stCondLst>
                                            <p:cond delay="0"/>
                                          </p:stCondLst>
                                        </p:cTn>
                                        <p:tgtEl>
                                          <p:spTgt spid="26"/>
                                        </p:tgtEl>
                                        <p:attrNameLst>
                                          <p:attrName>style.visibility</p:attrName>
                                        </p:attrNameLst>
                                      </p:cBhvr>
                                      <p:to>
                                        <p:strVal val="visible"/>
                                      </p:to>
                                    </p:set>
                                    <p:animEffect transition="in" filter="fade">
                                      <p:cBhvr>
                                        <p:cTn id="9" dur="500"/>
                                        <p:tgtEl>
                                          <p:spTgt spid="26"/>
                                        </p:tgtEl>
                                      </p:cBhvr>
                                    </p:animEffect>
                                  </p:childTnLst>
                                </p:cTn>
                              </p:par>
                            </p:childTnLst>
                          </p:cTn>
                        </p:par>
                        <p:par>
                          <p:cTn id="14" fill="hold">
                            <p:stCondLst>
                              <p:cond delay="500"/>
                            </p:stCondLst>
                            <p:childTnLst>
                              <p:par>
                                <p:cTn id="11" presetID="10" presetClass="exit" presetSubtype="0" fill="hold" grpId="0" nodeType="afterEffect">
                                  <p:stCondLst>
                                    <p:cond delay="0"/>
                                  </p:stCondLst>
                                  <p:childTnLst>
                                    <p:animEffect transition="out" filter="fade">
                                      <p:cBhvr>
                                        <p:cTn id="12" dur="400"/>
                                        <p:tgtEl>
                                          <p:spTgt spid="27"/>
                                        </p:tgtEl>
                                      </p:cBhvr>
                                    </p:animEffect>
                                    <p:set>
                                      <p:cBhvr>
                                        <p:cTn id="13" dur="1" fill="hold">
                                          <p:stCondLst>
                                            <p:cond delay="399"/>
                                          </p:stCondLst>
                                        </p:cTn>
                                        <p:tgtEl>
                                          <p:spTgt spid="27"/>
                                        </p:tgtEl>
                                        <p:attrNameLst>
                                          <p:attrName>style.visibility</p:attrName>
                                        </p:attrNameLst>
                                      </p:cBhvr>
                                      <p:to>
                                        <p:strVal val="hidden"/>
                                      </p:to>
                                    </p:set>
                                  </p:childTnLst>
                                </p:cTn>
                              </p:par>
                            </p:childTnLst>
                          </p:cTn>
                        </p:par>
                        <p:par>
                          <p:cTn id="20" fill="hold">
                            <p:stCondLst>
                              <p:cond delay="900"/>
                            </p:stCondLst>
                            <p:childTnLst>
                              <p:par>
                                <p:cTn id="15" presetID="53" presetClass="entr" presetSubtype="16"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p:cTn id="17" dur="500" fill="hold"/>
                                        <p:tgtEl>
                                          <p:spTgt spid="28"/>
                                        </p:tgtEl>
                                        <p:attrNameLst>
                                          <p:attrName>ppt_w</p:attrName>
                                        </p:attrNameLst>
                                      </p:cBhvr>
                                      <p:tavLst>
                                        <p:tav tm="0">
                                          <p:val>
                                            <p:fltVal val="0"/>
                                          </p:val>
                                        </p:tav>
                                        <p:tav tm="100000">
                                          <p:val>
                                            <p:strVal val="#ppt_w"/>
                                          </p:val>
                                        </p:tav>
                                      </p:tavLst>
                                    </p:anim>
                                    <p:anim calcmode="lin" valueType="num">
                                      <p:cBhvr>
                                        <p:cTn id="18" dur="500" fill="hold"/>
                                        <p:tgtEl>
                                          <p:spTgt spid="28"/>
                                        </p:tgtEl>
                                        <p:attrNameLst>
                                          <p:attrName>ppt_h</p:attrName>
                                        </p:attrNameLst>
                                      </p:cBhvr>
                                      <p:tavLst>
                                        <p:tav tm="0">
                                          <p:val>
                                            <p:fltVal val="0"/>
                                          </p:val>
                                        </p:tav>
                                        <p:tav tm="100000">
                                          <p:val>
                                            <p:strVal val="#ppt_h"/>
                                          </p:val>
                                        </p:tav>
                                      </p:tavLst>
                                    </p:anim>
                                    <p:animEffect transition="in" filter="fade">
                                      <p:cBhvr>
                                        <p:cTn id="19" dur="500"/>
                                        <p:tgtEl>
                                          <p:spTgt spid="28"/>
                                        </p:tgtEl>
                                      </p:cBhvr>
                                    </p:animEffect>
                                  </p:childTnLst>
                                </p:cTn>
                              </p:par>
                            </p:childTnLst>
                          </p:cTn>
                        </p:par>
                      </p:childTnLst>
                    </p:cTn>
                  </p:par>
                  <p:par>
                    <p:cTn id="30" fill="hold">
                      <p:stCondLst>
                        <p:cond delay="indefinite"/>
                      </p:stCondLst>
                      <p:childTnLst>
                        <p:par>
                          <p:cTn id="25"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fade">
                                      <p:cBhvr>
                                        <p:cTn id="24" dur="500"/>
                                        <p:tgtEl>
                                          <p:spTgt spid="29"/>
                                        </p:tgtEl>
                                      </p:cBhvr>
                                    </p:animEffect>
                                  </p:childTnLst>
                                </p:cTn>
                              </p:par>
                            </p:childTnLst>
                          </p:cTn>
                        </p:par>
                        <p:par>
                          <p:cTn id="29"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35" fill="hold">
                      <p:stCondLst>
                        <p:cond delay="indefinite"/>
                      </p:stCondLst>
                      <p:childTnLst>
                        <p:par>
                          <p:cTn id="34"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6" grpId="0" animBg="1"/>
      <p:bldP spid="28" grpId="0" animBg="1"/>
      <p:bldP spid="29" grpId="0" animBg="1"/>
      <p:bldP spid="30" grpId="0" animBg="1"/>
      <p:bldP spid="31" grpId="0" animBg="1"/>
    </p:bldLst>
  </p:timing>
</p:sld>
</file>

<file path=ppt/slides/slide1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Hepatocito"/>
          <p:cNvGrpSpPr/>
          <p:nvPr/>
        </p:nvGrpSpPr>
        <p:grpSpPr>
          <a:xfrm>
            <a:off x="274320" y="914400"/>
            <a:ext cx="6766560" cy="5548579"/>
            <a:chOff x="274320" y="914400"/>
            <a:chExt cx="6766560" cy="5548579"/>
          </a:xfrm>
        </p:grpSpPr>
        <p:sp>
          <p:nvSpPr>
            <p:cNvPr id="5" name="Forma 4"/>
            <p:cNvSpPr/>
            <p:nvPr/>
          </p:nvSpPr>
          <p:spPr>
            <a:xfrm>
              <a:off x="274320" y="914400"/>
              <a:ext cx="6766560" cy="5548579"/>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grpSp>
        <p:nvGrpSpPr>
          <p:cNvPr id="6" name="!!Núcleo hepatocito"/>
          <p:cNvGrpSpPr/>
          <p:nvPr/>
        </p:nvGrpSpPr>
        <p:grpSpPr>
          <a:xfrm>
            <a:off x="822960" y="1463040"/>
            <a:ext cx="914400" cy="822960"/>
            <a:chOff x="822960" y="1463040"/>
            <a:chExt cx="914400" cy="822960"/>
          </a:xfrm>
        </p:grpSpPr>
        <p:sp>
          <p:nvSpPr>
            <p:cNvPr id="7" name="Forma 6"/>
            <p:cNvSpPr/>
            <p:nvPr/>
          </p:nvSpPr>
          <p:spPr>
            <a:xfrm>
              <a:off x="822960" y="1463040"/>
              <a:ext cx="914400" cy="822960"/>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8" name="Forma 7"/>
            <p:cNvSpPr/>
            <p:nvPr/>
          </p:nvSpPr>
          <p:spPr>
            <a:xfrm>
              <a:off x="1298448" y="1737360"/>
              <a:ext cx="201168" cy="182880"/>
            </a:xfrm>
            <a:prstGeom prst="ellipse">
              <a:avLst/>
            </a:prstGeom>
            <a:solidFill>
              <a:srgbClr val="513B6B"/>
            </a:solidFill>
            <a:ln>
              <a:noFill/>
            </a:ln>
          </p:spPr>
        </p:sp>
      </p:grpSp>
      <p:grpSp>
        <p:nvGrpSpPr>
          <p:cNvPr id="9" name="!!GLUT2"/>
          <p:cNvGrpSpPr/>
          <p:nvPr/>
        </p:nvGrpSpPr>
        <p:grpSpPr>
          <a:xfrm>
            <a:off x="45720" y="2743200"/>
            <a:ext cx="749808" cy="750540"/>
            <a:chOff x="45720" y="2743200"/>
            <a:chExt cx="749808" cy="750540"/>
          </a:xfrm>
        </p:grpSpPr>
        <p:sp>
          <p:nvSpPr>
            <p:cNvPr id="10" name="Forma 9"/>
            <p:cNvSpPr/>
            <p:nvPr/>
          </p:nvSpPr>
          <p:spPr>
            <a:xfrm>
              <a:off x="137160" y="3017520"/>
              <a:ext cx="566928" cy="204094"/>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11" name="Forma 10"/>
            <p:cNvSpPr/>
            <p:nvPr/>
          </p:nvSpPr>
          <p:spPr>
            <a:xfrm>
              <a:off x="137160" y="3289645"/>
              <a:ext cx="566928" cy="204094"/>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12" name="Forma 11"/>
            <p:cNvSpPr txBox="1"/>
            <p:nvPr/>
          </p:nvSpPr>
          <p:spPr>
            <a:xfrm>
              <a:off x="45720" y="2743200"/>
              <a:ext cx="749808"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GLUT2</a:t>
              </a:r>
              <a:endParaRPr lang="es-AR" sz="1150" dirty="0">
                <a:latin typeface="Bahnschrift SemiBold Condensed"/>
              </a:endParaRPr>
            </a:p>
          </p:txBody>
        </p:sp>
      </p:grpSp>
      <p:sp>
        <p:nvSpPr>
          <p:cNvPr id="13" name="!!G6P"/>
          <p:cNvSpPr/>
          <p:nvPr/>
        </p:nvSpPr>
        <p:spPr>
          <a:xfrm>
            <a:off x="3246120" y="3154680"/>
            <a:ext cx="731520" cy="73152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G6P</a:t>
            </a:r>
            <a:endParaRPr lang="es-AR" sz="1300" dirty="0">
              <a:latin typeface="Bahnschrift SemiBold Condensed"/>
            </a:endParaRPr>
          </a:p>
        </p:txBody>
      </p:sp>
      <p:grpSp>
        <p:nvGrpSpPr>
          <p:cNvPr id="14" name="Rama Glucógeno"/>
          <p:cNvGrpSpPr/>
          <p:nvPr/>
        </p:nvGrpSpPr>
        <p:grpSpPr>
          <a:xfrm>
            <a:off x="2377440" y="1051560"/>
            <a:ext cx="2423160" cy="2103120"/>
            <a:chOff x="2377440" y="1051560"/>
            <a:chExt cx="2423160" cy="2103120"/>
          </a:xfrm>
        </p:grpSpPr>
        <p:sp>
          <p:nvSpPr>
            <p:cNvPr id="15" name="Flecha 14_2"/>
            <p:cNvSpPr/>
            <p:nvPr/>
          </p:nvSpPr>
          <p:spPr>
            <a:xfrm>
              <a:off x="3611880" y="1691640"/>
              <a:ext cx="9144" cy="1463040"/>
            </a:xfrm>
            <a:custGeom>
              <a:avLst/>
              <a:gdLst/>
              <a:ahLst/>
              <a:cxnLst/>
              <a:rect l="0" t="0" r="r" b="b"/>
              <a:pathLst>
                <a:path w="10" h="1600" fill="none">
                  <a:moveTo>
                    <a:pt x="0" y="1600"/>
                  </a:moveTo>
                  <a:lnTo>
                    <a:pt x="0" y="0"/>
                  </a:lnTo>
                </a:path>
              </a:pathLst>
            </a:custGeom>
            <a:noFill/>
            <a:ln w="44450" cap="rnd">
              <a:solidFill>
                <a:srgbClr val="1E8C3A"/>
              </a:solidFill>
              <a:round/>
              <a:tailEnd type="triangle" w="med" len="med"/>
            </a:ln>
          </p:spPr>
        </p:sp>
        <p:sp>
          <p:nvSpPr>
            <p:cNvPr id="16" name="Forma 16"/>
            <p:cNvSpPr/>
            <p:nvPr/>
          </p:nvSpPr>
          <p:spPr>
            <a:xfrm>
              <a:off x="2377440" y="1051560"/>
              <a:ext cx="2423160" cy="8686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450" b="1" dirty="0">
                  <a:solidFill>
                    <a:srgbClr val="1E1E1E"/>
                  </a:solidFill>
                  <a:latin typeface="Bahnschrift"/>
                  <a:ea typeface="Bahnschrift"/>
                  <a:cs typeface="Bahnschrift"/>
                  <a:sym typeface="Bahnschrift"/>
                </a:rPr>
                <a:t>Glucógeno</a:t>
              </a:r>
              <a:endParaRPr lang="es-AR" sz="1450" dirty="0">
                <a:latin typeface="Bahnschrift"/>
              </a:endParaRPr>
            </a:p>
            <a:p>
              <a:pPr algn="ctr">
                <a:spcAft>
                  <a:spcPts val="400"/>
                </a:spcAft>
                <a:buNone/>
              </a:pPr>
              <a:r>
                <a:rPr lang="es-AR" sz="1450" dirty="0">
                  <a:solidFill>
                    <a:srgbClr val="1E1E1E"/>
                  </a:solidFill>
                  <a:latin typeface="Bahnschrift"/>
                  <a:ea typeface="Bahnschrift"/>
                  <a:cs typeface="Bahnschrift"/>
                  <a:sym typeface="Bahnschrift"/>
                </a:rPr>
                <a:t>Glucógeno sintasa (desfosforilada)</a:t>
              </a:r>
              <a:endParaRPr lang="es-AR" sz="1450" dirty="0">
                <a:latin typeface="Bahnschrift"/>
              </a:endParaRPr>
            </a:p>
          </p:txBody>
        </p:sp>
      </p:grpSp>
      <p:grpSp>
        <p:nvGrpSpPr>
          <p:cNvPr id="17" name="Rama Glucólisis → piruvat"/>
          <p:cNvGrpSpPr/>
          <p:nvPr/>
        </p:nvGrpSpPr>
        <p:grpSpPr>
          <a:xfrm>
            <a:off x="3977640" y="3108960"/>
            <a:ext cx="3017520" cy="868680"/>
            <a:chOff x="3977640" y="3108960"/>
            <a:chExt cx="3017520" cy="868680"/>
          </a:xfrm>
        </p:grpSpPr>
        <p:sp>
          <p:nvSpPr>
            <p:cNvPr id="18" name="Flecha 18_2"/>
            <p:cNvSpPr/>
            <p:nvPr/>
          </p:nvSpPr>
          <p:spPr>
            <a:xfrm>
              <a:off x="3977640" y="3520440"/>
              <a:ext cx="548640" cy="9144"/>
            </a:xfrm>
            <a:custGeom>
              <a:avLst/>
              <a:gdLst/>
              <a:ahLst/>
              <a:cxnLst/>
              <a:rect l="0" t="0" r="r" b="b"/>
              <a:pathLst>
                <a:path w="600" h="10" fill="none">
                  <a:moveTo>
                    <a:pt x="0" y="0"/>
                  </a:moveTo>
                  <a:lnTo>
                    <a:pt x="600" y="0"/>
                  </a:lnTo>
                </a:path>
              </a:pathLst>
            </a:custGeom>
            <a:noFill/>
            <a:ln w="44450" cap="rnd">
              <a:solidFill>
                <a:srgbClr val="1E8C3A"/>
              </a:solidFill>
              <a:round/>
              <a:tailEnd type="triangle" w="med" len="med"/>
            </a:ln>
          </p:spPr>
        </p:sp>
        <p:sp>
          <p:nvSpPr>
            <p:cNvPr id="19" name="Forma 20"/>
            <p:cNvSpPr/>
            <p:nvPr/>
          </p:nvSpPr>
          <p:spPr>
            <a:xfrm>
              <a:off x="4572000" y="3108960"/>
              <a:ext cx="2423160" cy="8686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550" b="1" dirty="0">
                  <a:solidFill>
                    <a:srgbClr val="1E1E1E"/>
                  </a:solidFill>
                  <a:latin typeface="Bahnschrift"/>
                  <a:ea typeface="Bahnschrift"/>
                  <a:cs typeface="Bahnschrift"/>
                  <a:sym typeface="Bahnschrift"/>
                </a:rPr>
                <a:t>Glucólisis → piruvato</a:t>
              </a:r>
              <a:endParaRPr lang="es-AR" sz="1550" dirty="0">
                <a:latin typeface="Bahnschrift"/>
              </a:endParaRPr>
            </a:p>
            <a:p>
              <a:pPr algn="ctr">
                <a:spcAft>
                  <a:spcPts val="400"/>
                </a:spcAft>
                <a:buNone/>
              </a:pPr>
              <a:r>
                <a:rPr lang="es-AR" sz="1550" dirty="0">
                  <a:solidFill>
                    <a:srgbClr val="1E1E1E"/>
                  </a:solidFill>
                  <a:latin typeface="Bahnschrift"/>
                  <a:ea typeface="Bahnschrift"/>
                  <a:cs typeface="Bahnschrift"/>
                  <a:sym typeface="Bahnschrift"/>
                </a:rPr>
                <a:t>PFK-1 (F2,6BP) · PK-L</a:t>
              </a:r>
              <a:endParaRPr lang="es-AR" sz="1550" dirty="0">
                <a:latin typeface="Bahnschrift"/>
              </a:endParaRPr>
            </a:p>
          </p:txBody>
        </p:sp>
      </p:grpSp>
      <p:grpSp>
        <p:nvGrpSpPr>
          <p:cNvPr id="20" name="Rama Vía de las pentosas"/>
          <p:cNvGrpSpPr/>
          <p:nvPr/>
        </p:nvGrpSpPr>
        <p:grpSpPr>
          <a:xfrm>
            <a:off x="731520" y="3520440"/>
            <a:ext cx="2514600" cy="2148840"/>
            <a:chOff x="731520" y="3520440"/>
            <a:chExt cx="2514600" cy="2148840"/>
          </a:xfrm>
        </p:grpSpPr>
        <p:sp>
          <p:nvSpPr>
            <p:cNvPr id="21" name="Flecha 22_2"/>
            <p:cNvSpPr/>
            <p:nvPr/>
          </p:nvSpPr>
          <p:spPr>
            <a:xfrm>
              <a:off x="1828800" y="3520440"/>
              <a:ext cx="1417320" cy="1234440"/>
            </a:xfrm>
            <a:custGeom>
              <a:avLst/>
              <a:gdLst/>
              <a:ahLst/>
              <a:cxnLst/>
              <a:rect l="0" t="0" r="r" b="b"/>
              <a:pathLst>
                <a:path w="1549" h="1350" fill="none">
                  <a:moveTo>
                    <a:pt x="1549" y="0"/>
                  </a:moveTo>
                  <a:lnTo>
                    <a:pt x="0" y="1350"/>
                  </a:lnTo>
                </a:path>
              </a:pathLst>
            </a:custGeom>
            <a:noFill/>
            <a:ln w="44450" cap="rnd">
              <a:solidFill>
                <a:srgbClr val="1E8C3A"/>
              </a:solidFill>
              <a:round/>
              <a:tailEnd type="triangle" w="med" len="med"/>
            </a:ln>
          </p:spPr>
        </p:sp>
        <p:sp>
          <p:nvSpPr>
            <p:cNvPr id="22" name="Forma 24"/>
            <p:cNvSpPr/>
            <p:nvPr/>
          </p:nvSpPr>
          <p:spPr>
            <a:xfrm>
              <a:off x="731520" y="4800600"/>
              <a:ext cx="2423160" cy="868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550" b="1" dirty="0">
                  <a:solidFill>
                    <a:srgbClr val="1E1E1E"/>
                  </a:solidFill>
                  <a:latin typeface="Bahnschrift"/>
                  <a:ea typeface="Bahnschrift"/>
                  <a:cs typeface="Bahnschrift"/>
                  <a:sym typeface="Bahnschrift"/>
                </a:rPr>
                <a:t>Vía de las pentosas</a:t>
              </a:r>
              <a:endParaRPr lang="es-AR" sz="1550" dirty="0">
                <a:latin typeface="Bahnschrift"/>
              </a:endParaRPr>
            </a:p>
            <a:p>
              <a:pPr algn="ctr">
                <a:spcAft>
                  <a:spcPts val="400"/>
                </a:spcAft>
                <a:buNone/>
              </a:pPr>
              <a:r>
                <a:rPr lang="es-AR" sz="1550" dirty="0">
                  <a:solidFill>
                    <a:srgbClr val="1E1E1E"/>
                  </a:solidFill>
                  <a:latin typeface="Bahnschrift"/>
                  <a:ea typeface="Bahnschrift"/>
                  <a:cs typeface="Bahnschrift"/>
                  <a:sym typeface="Bahnschrift"/>
                </a:rPr>
                <a:t>G6PDH → NADPH</a:t>
              </a:r>
              <a:endParaRPr lang="es-AR" sz="1550" dirty="0">
                <a:latin typeface="Bahnschrift"/>
              </a:endParaRPr>
            </a:p>
          </p:txBody>
        </p:sp>
      </p:grpSp>
      <p:grpSp>
        <p:nvGrpSpPr>
          <p:cNvPr id="23" name="Rama Acetil-CoA → citrato"/>
          <p:cNvGrpSpPr/>
          <p:nvPr/>
        </p:nvGrpSpPr>
        <p:grpSpPr>
          <a:xfrm>
            <a:off x="3840480" y="3886200"/>
            <a:ext cx="2514600" cy="2148840"/>
            <a:chOff x="3840480" y="3886200"/>
            <a:chExt cx="2514600" cy="2148840"/>
          </a:xfrm>
        </p:grpSpPr>
        <p:sp>
          <p:nvSpPr>
            <p:cNvPr id="24" name="Flecha 26_2"/>
            <p:cNvSpPr/>
            <p:nvPr/>
          </p:nvSpPr>
          <p:spPr>
            <a:xfrm>
              <a:off x="3840480" y="3886200"/>
              <a:ext cx="914400" cy="1234440"/>
            </a:xfrm>
            <a:custGeom>
              <a:avLst/>
              <a:gdLst/>
              <a:ahLst/>
              <a:cxnLst/>
              <a:rect l="0" t="0" r="r" b="b"/>
              <a:pathLst>
                <a:path w="1000" h="1349" fill="none">
                  <a:moveTo>
                    <a:pt x="0" y="0"/>
                  </a:moveTo>
                  <a:lnTo>
                    <a:pt x="1000" y="1349"/>
                  </a:lnTo>
                </a:path>
              </a:pathLst>
            </a:custGeom>
            <a:noFill/>
            <a:ln w="44450" cap="rnd">
              <a:solidFill>
                <a:srgbClr val="1E8C3A"/>
              </a:solidFill>
              <a:round/>
              <a:tailEnd type="triangle" w="med" len="med"/>
            </a:ln>
          </p:spPr>
        </p:sp>
        <p:sp>
          <p:nvSpPr>
            <p:cNvPr id="25" name="Forma 28"/>
            <p:cNvSpPr/>
            <p:nvPr/>
          </p:nvSpPr>
          <p:spPr>
            <a:xfrm>
              <a:off x="3931920" y="5166360"/>
              <a:ext cx="242316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450" b="1" dirty="0">
                  <a:solidFill>
                    <a:srgbClr val="1E1E1E"/>
                  </a:solidFill>
                  <a:latin typeface="Bahnschrift"/>
                  <a:ea typeface="Bahnschrift"/>
                  <a:cs typeface="Bahnschrift"/>
                  <a:sym typeface="Bahnschrift"/>
                </a:rPr>
                <a:t>Acetil-CoA → citrato → lipogénesis</a:t>
              </a:r>
              <a:endParaRPr lang="es-AR" sz="1450" dirty="0">
                <a:latin typeface="Bahnschrift"/>
              </a:endParaRPr>
            </a:p>
            <a:p>
              <a:pPr algn="ctr">
                <a:spcAft>
                  <a:spcPts val="400"/>
                </a:spcAft>
                <a:buNone/>
              </a:pPr>
              <a:r>
                <a:rPr lang="es-AR" sz="1450" dirty="0">
                  <a:solidFill>
                    <a:srgbClr val="1E1E1E"/>
                  </a:solidFill>
                  <a:latin typeface="Bahnschrift"/>
                  <a:ea typeface="Bahnschrift"/>
                  <a:cs typeface="Bahnschrift"/>
                  <a:sym typeface="Bahnschrift"/>
                </a:rPr>
                <a:t>si persiste excedente</a:t>
              </a:r>
              <a:endParaRPr lang="es-AR" sz="1450" dirty="0">
                <a:latin typeface="Bahnschrift"/>
              </a:endParaRPr>
            </a:p>
          </p:txBody>
        </p:sp>
      </p:grpSp>
      <p:sp>
        <p:nvSpPr>
          <p:cNvPr id="26" name="G6Pasa"/>
          <p:cNvSpPr/>
          <p:nvPr/>
        </p:nvSpPr>
        <p:spPr>
          <a:xfrm>
            <a:off x="1874520" y="2514600"/>
            <a:ext cx="2244384" cy="292608"/>
          </a:xfrm>
          <a:prstGeom prst="roundRect">
            <a:avLst>
              <a:gd name="adj" fmla="val 50000"/>
            </a:avLst>
          </a:prstGeom>
          <a:solidFill>
            <a:srgbClr val="EEEEEE"/>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7F8C8D"/>
                </a:solidFill>
                <a:latin typeface="Bahnschrift SemiBold Condensed"/>
                <a:ea typeface="Bahnschrift SemiBold Condensed"/>
                <a:cs typeface="Bahnschrift SemiBold Condensed"/>
                <a:sym typeface="Bahnschrift SemiBold Condensed"/>
              </a:rPr>
              <a:t>G6Pasa (inactiva en saciedad)</a:t>
            </a:r>
            <a:endParaRPr lang="es-AR" sz="1250" dirty="0">
              <a:latin typeface="Bahnschrift SemiBold Condensed"/>
            </a:endParaRPr>
          </a:p>
        </p:txBody>
      </p:sp>
      <p:grpSp>
        <p:nvGrpSpPr>
          <p:cNvPr id="27" name="Recuadro Integración"/>
          <p:cNvGrpSpPr/>
          <p:nvPr/>
        </p:nvGrpSpPr>
        <p:grpSpPr>
          <a:xfrm>
            <a:off x="7315200" y="914400"/>
            <a:ext cx="4480560" cy="2743200"/>
            <a:chOff x="7315200" y="914400"/>
            <a:chExt cx="4480560" cy="2743200"/>
          </a:xfrm>
        </p:grpSpPr>
        <p:sp>
          <p:nvSpPr>
            <p:cNvPr id="28" name="Forma 31"/>
            <p:cNvSpPr/>
            <p:nvPr/>
          </p:nvSpPr>
          <p:spPr>
            <a:xfrm>
              <a:off x="7315200" y="1097280"/>
              <a:ext cx="4480560" cy="25603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Objetivo hepático posprandial</a:t>
              </a:r>
              <a:r>
                <a:rPr lang="es-AR" sz="1700" dirty="0">
                  <a:solidFill>
                    <a:srgbClr val="1E1E1E"/>
                  </a:solidFill>
                  <a:latin typeface="Bahnschrift"/>
                  <a:ea typeface="Bahnschrift"/>
                  <a:cs typeface="Bahnschrift"/>
                  <a:sym typeface="Bahnschrift"/>
                </a:rPr>
                <a:t>: amortiguar la glucemia y canalizar carbonos hacia </a:t>
              </a:r>
              <a:r>
                <a:rPr lang="es-AR" sz="1700" b="1" dirty="0">
                  <a:solidFill>
                    <a:srgbClr val="1E1E1E"/>
                  </a:solidFill>
                  <a:latin typeface="Bahnschrift"/>
                  <a:ea typeface="Bahnschrift"/>
                  <a:cs typeface="Bahnschrift"/>
                  <a:sym typeface="Bahnschrift"/>
                </a:rPr>
                <a:t>reserva</a:t>
              </a:r>
              <a:r>
                <a:rPr lang="es-AR" sz="1700" dirty="0">
                  <a:solidFill>
                    <a:srgbClr val="1E1E1E"/>
                  </a:solidFill>
                  <a:latin typeface="Bahnschrift"/>
                  <a:ea typeface="Bahnschrift"/>
                  <a:cs typeface="Bahnschrift"/>
                  <a:sym typeface="Bahnschrift"/>
                </a:rPr>
                <a:t> (glucógeno), </a:t>
              </a:r>
              <a:r>
                <a:rPr lang="es-AR" sz="1700" b="1" dirty="0">
                  <a:solidFill>
                    <a:srgbClr val="1E1E1E"/>
                  </a:solidFill>
                  <a:latin typeface="Bahnschrift"/>
                  <a:ea typeface="Bahnschrift"/>
                  <a:cs typeface="Bahnschrift"/>
                  <a:sym typeface="Bahnschrift"/>
                </a:rPr>
                <a:t>oxidación</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biosíntesis</a:t>
              </a:r>
              <a:r>
                <a:rPr lang="es-AR" sz="1700" dirty="0">
                  <a:solidFill>
                    <a:srgbClr val="1E1E1E"/>
                  </a:solidFill>
                  <a:latin typeface="Bahnschrift"/>
                  <a:ea typeface="Bahnschrift"/>
                  <a:cs typeface="Bahnschrift"/>
                  <a:sym typeface="Bahnschrift"/>
                </a:rPr>
                <a:t> (NADPH, AG).</a:t>
              </a:r>
              <a:endParaRPr lang="es-AR" sz="1700" dirty="0">
                <a:latin typeface="Bahnschrift"/>
              </a:endParaRPr>
            </a:p>
          </p:txBody>
        </p:sp>
        <p:sp>
          <p:nvSpPr>
            <p:cNvPr id="29" name="Forma 32"/>
            <p:cNvSpPr/>
            <p:nvPr/>
          </p:nvSpPr>
          <p:spPr>
            <a:xfrm>
              <a:off x="7424928" y="914400"/>
              <a:ext cx="134693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INTEGRACIÓN</a:t>
              </a:r>
              <a:endParaRPr lang="es-AR" sz="1550" dirty="0">
                <a:latin typeface="Bahnschrift SemiBold Condensed"/>
              </a:endParaRPr>
            </a:p>
          </p:txBody>
        </p:sp>
      </p:grpSp>
      <p:grpSp>
        <p:nvGrpSpPr>
          <p:cNvPr id="30" name="Recuadro Regulación"/>
          <p:cNvGrpSpPr/>
          <p:nvPr/>
        </p:nvGrpSpPr>
        <p:grpSpPr>
          <a:xfrm>
            <a:off x="7315200" y="3886200"/>
            <a:ext cx="4480560" cy="2606040"/>
            <a:chOff x="7315200" y="3886200"/>
            <a:chExt cx="4480560" cy="2606040"/>
          </a:xfrm>
        </p:grpSpPr>
        <p:sp>
          <p:nvSpPr>
            <p:cNvPr id="31" name="Forma 34"/>
            <p:cNvSpPr/>
            <p:nvPr/>
          </p:nvSpPr>
          <p:spPr>
            <a:xfrm>
              <a:off x="7315200" y="4069080"/>
              <a:ext cx="4480560" cy="24231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Insulina</a:t>
              </a:r>
              <a:r>
                <a:rPr lang="es-AR" sz="1650" dirty="0">
                  <a:solidFill>
                    <a:srgbClr val="1E1E1E"/>
                  </a:solidFill>
                  <a:latin typeface="Bahnschrift"/>
                  <a:ea typeface="Bahnschrift"/>
                  <a:cs typeface="Bahnschrift"/>
                  <a:sym typeface="Bahnschrift"/>
                </a:rPr>
                <a:t> activa glucógeno sintasa e inhibe fosforilasa.</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ChREBP</a:t>
              </a:r>
              <a:r>
                <a:rPr lang="es-AR" sz="1650" dirty="0">
                  <a:solidFill>
                    <a:srgbClr val="1E1E1E"/>
                  </a:solidFill>
                  <a:latin typeface="Bahnschrift"/>
                  <a:ea typeface="Bahnschrift"/>
                  <a:cs typeface="Bahnschrift"/>
                  <a:sym typeface="Bahnschrift"/>
                </a:rPr>
                <a:t> (carbohidratos) y </a:t>
              </a:r>
              <a:r>
                <a:rPr lang="es-AR" sz="1650" b="1" dirty="0">
                  <a:solidFill>
                    <a:srgbClr val="1E1E1E"/>
                  </a:solidFill>
                  <a:latin typeface="Bahnschrift"/>
                  <a:ea typeface="Bahnschrift"/>
                  <a:cs typeface="Bahnschrift"/>
                  <a:sym typeface="Bahnschrift"/>
                </a:rPr>
                <a:t>SREBP-1c</a:t>
              </a:r>
              <a:r>
                <a:rPr lang="es-AR" sz="1650" dirty="0">
                  <a:solidFill>
                    <a:srgbClr val="1E1E1E"/>
                  </a:solidFill>
                  <a:latin typeface="Bahnschrift"/>
                  <a:ea typeface="Bahnschrift"/>
                  <a:cs typeface="Bahnschrift"/>
                  <a:sym typeface="Bahnschrift"/>
                </a:rPr>
                <a:t> (insulina) inducen genes lipogénicos.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exceso persistente aumenta la secreción de </a:t>
              </a:r>
              <a:r>
                <a:rPr lang="es-AR" sz="1650" b="1" dirty="0">
                  <a:solidFill>
                    <a:srgbClr val="1E1E1E"/>
                  </a:solidFill>
                  <a:latin typeface="Bahnschrift"/>
                  <a:ea typeface="Bahnschrift"/>
                  <a:cs typeface="Bahnschrift"/>
                  <a:sym typeface="Bahnschrift"/>
                </a:rPr>
                <a:t>VLDL</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2" name="Forma 35"/>
            <p:cNvSpPr/>
            <p:nvPr/>
          </p:nvSpPr>
          <p:spPr>
            <a:xfrm>
              <a:off x="7424928" y="3886200"/>
              <a:ext cx="124909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REGULACIÓN</a:t>
              </a:r>
              <a:endParaRPr lang="es-AR" sz="1500" dirty="0">
                <a:latin typeface="Bahnschrift SemiBold Condensed"/>
              </a:endParaRPr>
            </a:p>
          </p:txBody>
        </p:sp>
      </p:grpSp>
      <p:sp>
        <p:nvSpPr>
          <p:cNvPr id="2" name="Etiqueta sección"/>
          <p:cNvSpPr/>
          <p:nvPr/>
        </p:nvSpPr>
        <p:spPr>
          <a:xfrm>
            <a:off x="9906221" y="201168"/>
            <a:ext cx="201115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2 · 3/3</a:t>
            </a:r>
            <a:endParaRPr lang="es-AR" sz="1300" dirty="0">
              <a:latin typeface="Bahnschrift SemiBold Condensed"/>
            </a:endParaRPr>
          </a:p>
        </p:txBody>
      </p:sp>
      <p:sp>
        <p:nvSpPr>
          <p:cNvPr id="3" name="Título"/>
          <p:cNvSpPr/>
          <p:nvPr/>
        </p:nvSpPr>
        <p:spPr>
          <a:xfrm>
            <a:off x="274320" y="146304"/>
            <a:ext cx="604824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LA G6P COMO ENCRUCIJADA EN SACIEDAD</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4"/>
                                        </p:tgtEl>
                                        <p:attrNameLst>
                                          <p:attrName>style.visibility</p:attrName>
                                        </p:attrNameLst>
                                      </p:cBhvr>
                                      <p:to>
                                        <p:strVal val="visible"/>
                                      </p:to>
                                    </p:set>
                                    <p:animEffect transition="in" filter="fade">
                                      <p:cBhvr>
                                        <p:cTn id="5" dur="500"/>
                                        <p:tgtEl>
                                          <p:spTgt spid="1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500"/>
                                        <p:tgtEl>
                                          <p:spTgt spid="23"/>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childTnLst>
                    </p:cTn>
                  </p:par>
                  <p:par>
                    <p:cTn id="36"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fade">
                                      <p:cBhvr>
                                        <p:cTn id="30" dur="500"/>
                                        <p:tgtEl>
                                          <p:spTgt spid="27"/>
                                        </p:tgtEl>
                                      </p:cBhvr>
                                    </p:animEffect>
                                  </p:childTnLst>
                                </p:cTn>
                              </p:par>
                            </p:childTnLst>
                          </p:cTn>
                        </p:par>
                        <p:par>
                          <p:cTn id="35"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1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embrana plasmática"/>
          <p:cNvGrpSpPr/>
          <p:nvPr/>
        </p:nvGrpSpPr>
        <p:grpSpPr>
          <a:xfrm>
            <a:off x="365760" y="2103120"/>
            <a:ext cx="6949440" cy="365760"/>
            <a:chOff x="365760" y="2103120"/>
            <a:chExt cx="6949440" cy="365760"/>
          </a:xfrm>
        </p:grpSpPr>
        <p:sp>
          <p:nvSpPr>
            <p:cNvPr id="5" name="Forma 4"/>
            <p:cNvSpPr/>
            <p:nvPr/>
          </p:nvSpPr>
          <p:spPr>
            <a:xfrm>
              <a:off x="365760" y="2168957"/>
              <a:ext cx="6949440" cy="234086"/>
            </a:xfrm>
            <a:prstGeom prst="rect">
              <a:avLst/>
            </a:prstGeom>
            <a:solidFill>
              <a:srgbClr val="FDEBD0"/>
            </a:solidFill>
            <a:ln>
              <a:noFill/>
            </a:ln>
          </p:spPr>
        </p:sp>
        <p:sp>
          <p:nvSpPr>
            <p:cNvPr id="6" name="Forma 5"/>
            <p:cNvSpPr/>
            <p:nvPr/>
          </p:nvSpPr>
          <p:spPr>
            <a:xfrm>
              <a:off x="365760" y="2103120"/>
              <a:ext cx="6949440" cy="365760"/>
            </a:xfrm>
            <a:custGeom>
              <a:avLst/>
              <a:gdLst/>
              <a:ahLst/>
              <a:cxnLst/>
              <a:rect l="0" t="0" r="r" b="b"/>
              <a:pathLst>
                <a:path w="7600" h="400">
                  <a:moveTo>
                    <a:pt x="98" y="48"/>
                  </a:moveTo>
                  <a:cubicBezTo>
                    <a:pt x="98" y="74"/>
                    <a:pt x="76" y="96"/>
                    <a:pt x="50" y="96"/>
                  </a:cubicBezTo>
                  <a:cubicBezTo>
                    <a:pt x="23" y="96"/>
                    <a:pt x="2" y="74"/>
                    <a:pt x="2" y="48"/>
                  </a:cubicBezTo>
                  <a:cubicBezTo>
                    <a:pt x="2" y="21"/>
                    <a:pt x="23" y="0"/>
                    <a:pt x="50" y="0"/>
                  </a:cubicBezTo>
                  <a:cubicBezTo>
                    <a:pt x="76" y="0"/>
                    <a:pt x="98" y="21"/>
                    <a:pt x="98" y="48"/>
                  </a:cubicBezTo>
                  <a:close/>
                  <a:moveTo>
                    <a:pt x="200" y="48"/>
                  </a:moveTo>
                  <a:cubicBezTo>
                    <a:pt x="200" y="74"/>
                    <a:pt x="178" y="96"/>
                    <a:pt x="152" y="96"/>
                  </a:cubicBezTo>
                  <a:cubicBezTo>
                    <a:pt x="125" y="96"/>
                    <a:pt x="104" y="74"/>
                    <a:pt x="104" y="48"/>
                  </a:cubicBezTo>
                  <a:cubicBezTo>
                    <a:pt x="104" y="21"/>
                    <a:pt x="125" y="0"/>
                    <a:pt x="152" y="0"/>
                  </a:cubicBezTo>
                  <a:cubicBezTo>
                    <a:pt x="178" y="0"/>
                    <a:pt x="200" y="21"/>
                    <a:pt x="200" y="48"/>
                  </a:cubicBezTo>
                  <a:close/>
                  <a:moveTo>
                    <a:pt x="301" y="48"/>
                  </a:moveTo>
                  <a:cubicBezTo>
                    <a:pt x="301" y="74"/>
                    <a:pt x="279" y="96"/>
                    <a:pt x="253" y="96"/>
                  </a:cubicBezTo>
                  <a:cubicBezTo>
                    <a:pt x="226" y="96"/>
                    <a:pt x="205" y="74"/>
                    <a:pt x="205" y="48"/>
                  </a:cubicBezTo>
                  <a:cubicBezTo>
                    <a:pt x="205" y="21"/>
                    <a:pt x="226" y="0"/>
                    <a:pt x="253" y="0"/>
                  </a:cubicBezTo>
                  <a:cubicBezTo>
                    <a:pt x="279" y="0"/>
                    <a:pt x="301" y="21"/>
                    <a:pt x="301" y="48"/>
                  </a:cubicBezTo>
                  <a:close/>
                  <a:moveTo>
                    <a:pt x="402" y="48"/>
                  </a:moveTo>
                  <a:cubicBezTo>
                    <a:pt x="402" y="74"/>
                    <a:pt x="380" y="96"/>
                    <a:pt x="354" y="96"/>
                  </a:cubicBezTo>
                  <a:cubicBezTo>
                    <a:pt x="327" y="96"/>
                    <a:pt x="306" y="74"/>
                    <a:pt x="306" y="48"/>
                  </a:cubicBezTo>
                  <a:cubicBezTo>
                    <a:pt x="306" y="21"/>
                    <a:pt x="327" y="0"/>
                    <a:pt x="354" y="0"/>
                  </a:cubicBezTo>
                  <a:cubicBezTo>
                    <a:pt x="380" y="0"/>
                    <a:pt x="402" y="21"/>
                    <a:pt x="402" y="48"/>
                  </a:cubicBezTo>
                  <a:close/>
                  <a:moveTo>
                    <a:pt x="504" y="48"/>
                  </a:moveTo>
                  <a:cubicBezTo>
                    <a:pt x="504" y="74"/>
                    <a:pt x="482" y="96"/>
                    <a:pt x="456" y="96"/>
                  </a:cubicBezTo>
                  <a:cubicBezTo>
                    <a:pt x="429" y="96"/>
                    <a:pt x="408" y="74"/>
                    <a:pt x="408" y="48"/>
                  </a:cubicBezTo>
                  <a:cubicBezTo>
                    <a:pt x="408" y="21"/>
                    <a:pt x="429" y="0"/>
                    <a:pt x="456" y="0"/>
                  </a:cubicBezTo>
                  <a:cubicBezTo>
                    <a:pt x="482" y="0"/>
                    <a:pt x="504" y="21"/>
                    <a:pt x="504" y="48"/>
                  </a:cubicBezTo>
                  <a:close/>
                  <a:moveTo>
                    <a:pt x="605" y="48"/>
                  </a:moveTo>
                  <a:cubicBezTo>
                    <a:pt x="605" y="74"/>
                    <a:pt x="583" y="96"/>
                    <a:pt x="557" y="96"/>
                  </a:cubicBezTo>
                  <a:cubicBezTo>
                    <a:pt x="530" y="96"/>
                    <a:pt x="509" y="74"/>
                    <a:pt x="509" y="48"/>
                  </a:cubicBezTo>
                  <a:cubicBezTo>
                    <a:pt x="509" y="21"/>
                    <a:pt x="530" y="0"/>
                    <a:pt x="557" y="0"/>
                  </a:cubicBezTo>
                  <a:cubicBezTo>
                    <a:pt x="583" y="0"/>
                    <a:pt x="605" y="21"/>
                    <a:pt x="605" y="48"/>
                  </a:cubicBezTo>
                  <a:close/>
                  <a:moveTo>
                    <a:pt x="706" y="48"/>
                  </a:moveTo>
                  <a:cubicBezTo>
                    <a:pt x="706" y="74"/>
                    <a:pt x="684" y="96"/>
                    <a:pt x="658" y="96"/>
                  </a:cubicBezTo>
                  <a:cubicBezTo>
                    <a:pt x="631" y="96"/>
                    <a:pt x="610" y="74"/>
                    <a:pt x="610" y="48"/>
                  </a:cubicBezTo>
                  <a:cubicBezTo>
                    <a:pt x="610" y="21"/>
                    <a:pt x="631" y="0"/>
                    <a:pt x="658" y="0"/>
                  </a:cubicBezTo>
                  <a:cubicBezTo>
                    <a:pt x="684" y="0"/>
                    <a:pt x="706" y="21"/>
                    <a:pt x="706" y="48"/>
                  </a:cubicBezTo>
                  <a:close/>
                  <a:moveTo>
                    <a:pt x="808" y="48"/>
                  </a:moveTo>
                  <a:cubicBezTo>
                    <a:pt x="808" y="74"/>
                    <a:pt x="786" y="96"/>
                    <a:pt x="760" y="96"/>
                  </a:cubicBezTo>
                  <a:cubicBezTo>
                    <a:pt x="733" y="96"/>
                    <a:pt x="712" y="74"/>
                    <a:pt x="712" y="48"/>
                  </a:cubicBezTo>
                  <a:cubicBezTo>
                    <a:pt x="712" y="21"/>
                    <a:pt x="733" y="0"/>
                    <a:pt x="760" y="0"/>
                  </a:cubicBezTo>
                  <a:cubicBezTo>
                    <a:pt x="786" y="0"/>
                    <a:pt x="808" y="21"/>
                    <a:pt x="808" y="48"/>
                  </a:cubicBezTo>
                  <a:close/>
                  <a:moveTo>
                    <a:pt x="909" y="48"/>
                  </a:moveTo>
                  <a:cubicBezTo>
                    <a:pt x="909" y="74"/>
                    <a:pt x="887" y="96"/>
                    <a:pt x="861" y="96"/>
                  </a:cubicBezTo>
                  <a:cubicBezTo>
                    <a:pt x="834" y="96"/>
                    <a:pt x="813" y="74"/>
                    <a:pt x="813" y="48"/>
                  </a:cubicBezTo>
                  <a:cubicBezTo>
                    <a:pt x="813" y="21"/>
                    <a:pt x="834" y="0"/>
                    <a:pt x="861" y="0"/>
                  </a:cubicBezTo>
                  <a:cubicBezTo>
                    <a:pt x="887" y="0"/>
                    <a:pt x="909" y="21"/>
                    <a:pt x="909" y="48"/>
                  </a:cubicBezTo>
                  <a:close/>
                  <a:moveTo>
                    <a:pt x="1010" y="48"/>
                  </a:moveTo>
                  <a:cubicBezTo>
                    <a:pt x="1010" y="74"/>
                    <a:pt x="988" y="96"/>
                    <a:pt x="962" y="96"/>
                  </a:cubicBezTo>
                  <a:cubicBezTo>
                    <a:pt x="935" y="96"/>
                    <a:pt x="914" y="74"/>
                    <a:pt x="914" y="48"/>
                  </a:cubicBezTo>
                  <a:cubicBezTo>
                    <a:pt x="914" y="21"/>
                    <a:pt x="935" y="0"/>
                    <a:pt x="962" y="0"/>
                  </a:cubicBezTo>
                  <a:cubicBezTo>
                    <a:pt x="988" y="0"/>
                    <a:pt x="1010" y="21"/>
                    <a:pt x="1010" y="48"/>
                  </a:cubicBezTo>
                  <a:close/>
                  <a:moveTo>
                    <a:pt x="1112" y="48"/>
                  </a:moveTo>
                  <a:cubicBezTo>
                    <a:pt x="1112" y="74"/>
                    <a:pt x="1090" y="96"/>
                    <a:pt x="1064" y="96"/>
                  </a:cubicBezTo>
                  <a:cubicBezTo>
                    <a:pt x="1037" y="96"/>
                    <a:pt x="1016" y="74"/>
                    <a:pt x="1016" y="48"/>
                  </a:cubicBezTo>
                  <a:cubicBezTo>
                    <a:pt x="1016" y="21"/>
                    <a:pt x="1037" y="0"/>
                    <a:pt x="1064" y="0"/>
                  </a:cubicBezTo>
                  <a:cubicBezTo>
                    <a:pt x="1090" y="0"/>
                    <a:pt x="1112" y="21"/>
                    <a:pt x="1112" y="48"/>
                  </a:cubicBezTo>
                  <a:close/>
                  <a:moveTo>
                    <a:pt x="1213" y="48"/>
                  </a:moveTo>
                  <a:cubicBezTo>
                    <a:pt x="1213" y="74"/>
                    <a:pt x="1191" y="96"/>
                    <a:pt x="1165" y="96"/>
                  </a:cubicBezTo>
                  <a:cubicBezTo>
                    <a:pt x="1138" y="96"/>
                    <a:pt x="1117" y="74"/>
                    <a:pt x="1117" y="48"/>
                  </a:cubicBezTo>
                  <a:cubicBezTo>
                    <a:pt x="1117" y="21"/>
                    <a:pt x="1138" y="0"/>
                    <a:pt x="1165" y="0"/>
                  </a:cubicBezTo>
                  <a:cubicBezTo>
                    <a:pt x="1191" y="0"/>
                    <a:pt x="1213" y="21"/>
                    <a:pt x="1213" y="48"/>
                  </a:cubicBezTo>
                  <a:close/>
                  <a:moveTo>
                    <a:pt x="1314" y="48"/>
                  </a:moveTo>
                  <a:cubicBezTo>
                    <a:pt x="1314" y="74"/>
                    <a:pt x="1292" y="96"/>
                    <a:pt x="1266" y="96"/>
                  </a:cubicBezTo>
                  <a:cubicBezTo>
                    <a:pt x="1239" y="96"/>
                    <a:pt x="1218" y="74"/>
                    <a:pt x="1218" y="48"/>
                  </a:cubicBezTo>
                  <a:cubicBezTo>
                    <a:pt x="1218" y="21"/>
                    <a:pt x="1239" y="0"/>
                    <a:pt x="1266" y="0"/>
                  </a:cubicBezTo>
                  <a:cubicBezTo>
                    <a:pt x="1292" y="0"/>
                    <a:pt x="1314" y="21"/>
                    <a:pt x="1314" y="48"/>
                  </a:cubicBezTo>
                  <a:close/>
                  <a:moveTo>
                    <a:pt x="1416" y="48"/>
                  </a:moveTo>
                  <a:cubicBezTo>
                    <a:pt x="1416" y="74"/>
                    <a:pt x="1394" y="96"/>
                    <a:pt x="1368" y="96"/>
                  </a:cubicBezTo>
                  <a:cubicBezTo>
                    <a:pt x="1341" y="96"/>
                    <a:pt x="1320" y="74"/>
                    <a:pt x="1320" y="48"/>
                  </a:cubicBezTo>
                  <a:cubicBezTo>
                    <a:pt x="1320" y="21"/>
                    <a:pt x="1341" y="0"/>
                    <a:pt x="1368" y="0"/>
                  </a:cubicBezTo>
                  <a:cubicBezTo>
                    <a:pt x="1394" y="0"/>
                    <a:pt x="1416" y="21"/>
                    <a:pt x="1416" y="48"/>
                  </a:cubicBezTo>
                  <a:close/>
                  <a:moveTo>
                    <a:pt x="1517" y="48"/>
                  </a:moveTo>
                  <a:cubicBezTo>
                    <a:pt x="1517" y="74"/>
                    <a:pt x="1495" y="96"/>
                    <a:pt x="1469" y="96"/>
                  </a:cubicBezTo>
                  <a:cubicBezTo>
                    <a:pt x="1442" y="96"/>
                    <a:pt x="1421" y="74"/>
                    <a:pt x="1421" y="48"/>
                  </a:cubicBezTo>
                  <a:cubicBezTo>
                    <a:pt x="1421" y="21"/>
                    <a:pt x="1442" y="0"/>
                    <a:pt x="1469" y="0"/>
                  </a:cubicBezTo>
                  <a:cubicBezTo>
                    <a:pt x="1495" y="0"/>
                    <a:pt x="1517" y="21"/>
                    <a:pt x="1517" y="48"/>
                  </a:cubicBezTo>
                  <a:close/>
                  <a:moveTo>
                    <a:pt x="1618" y="48"/>
                  </a:moveTo>
                  <a:cubicBezTo>
                    <a:pt x="1618" y="74"/>
                    <a:pt x="1596" y="96"/>
                    <a:pt x="1570" y="96"/>
                  </a:cubicBezTo>
                  <a:cubicBezTo>
                    <a:pt x="1543" y="96"/>
                    <a:pt x="1522" y="74"/>
                    <a:pt x="1522" y="48"/>
                  </a:cubicBezTo>
                  <a:cubicBezTo>
                    <a:pt x="1522" y="21"/>
                    <a:pt x="1543" y="0"/>
                    <a:pt x="1570" y="0"/>
                  </a:cubicBezTo>
                  <a:cubicBezTo>
                    <a:pt x="1596" y="0"/>
                    <a:pt x="1618" y="21"/>
                    <a:pt x="1618" y="48"/>
                  </a:cubicBezTo>
                  <a:close/>
                  <a:moveTo>
                    <a:pt x="1720" y="48"/>
                  </a:moveTo>
                  <a:cubicBezTo>
                    <a:pt x="1720" y="74"/>
                    <a:pt x="1698" y="96"/>
                    <a:pt x="1672" y="96"/>
                  </a:cubicBezTo>
                  <a:cubicBezTo>
                    <a:pt x="1645" y="96"/>
                    <a:pt x="1624" y="74"/>
                    <a:pt x="1624" y="48"/>
                  </a:cubicBezTo>
                  <a:cubicBezTo>
                    <a:pt x="1624" y="21"/>
                    <a:pt x="1645" y="0"/>
                    <a:pt x="1672" y="0"/>
                  </a:cubicBezTo>
                  <a:cubicBezTo>
                    <a:pt x="1698" y="0"/>
                    <a:pt x="1720" y="21"/>
                    <a:pt x="1720" y="48"/>
                  </a:cubicBezTo>
                  <a:close/>
                  <a:moveTo>
                    <a:pt x="1821" y="48"/>
                  </a:moveTo>
                  <a:cubicBezTo>
                    <a:pt x="1821" y="74"/>
                    <a:pt x="1799" y="96"/>
                    <a:pt x="1773" y="96"/>
                  </a:cubicBezTo>
                  <a:cubicBezTo>
                    <a:pt x="1746" y="96"/>
                    <a:pt x="1725" y="74"/>
                    <a:pt x="1725" y="48"/>
                  </a:cubicBezTo>
                  <a:cubicBezTo>
                    <a:pt x="1725" y="21"/>
                    <a:pt x="1746" y="0"/>
                    <a:pt x="1773" y="0"/>
                  </a:cubicBezTo>
                  <a:cubicBezTo>
                    <a:pt x="1799" y="0"/>
                    <a:pt x="1821" y="21"/>
                    <a:pt x="1821" y="48"/>
                  </a:cubicBezTo>
                  <a:close/>
                  <a:moveTo>
                    <a:pt x="1922" y="48"/>
                  </a:moveTo>
                  <a:cubicBezTo>
                    <a:pt x="1922" y="74"/>
                    <a:pt x="1900" y="96"/>
                    <a:pt x="1874" y="96"/>
                  </a:cubicBezTo>
                  <a:cubicBezTo>
                    <a:pt x="1847" y="96"/>
                    <a:pt x="1826" y="74"/>
                    <a:pt x="1826" y="48"/>
                  </a:cubicBezTo>
                  <a:cubicBezTo>
                    <a:pt x="1826" y="21"/>
                    <a:pt x="1847" y="0"/>
                    <a:pt x="1874" y="0"/>
                  </a:cubicBezTo>
                  <a:cubicBezTo>
                    <a:pt x="1900" y="0"/>
                    <a:pt x="1922" y="21"/>
                    <a:pt x="1922" y="48"/>
                  </a:cubicBezTo>
                  <a:close/>
                  <a:moveTo>
                    <a:pt x="2024" y="48"/>
                  </a:moveTo>
                  <a:cubicBezTo>
                    <a:pt x="2024" y="74"/>
                    <a:pt x="2002" y="96"/>
                    <a:pt x="1976" y="96"/>
                  </a:cubicBezTo>
                  <a:cubicBezTo>
                    <a:pt x="1949" y="96"/>
                    <a:pt x="1928" y="74"/>
                    <a:pt x="1928" y="48"/>
                  </a:cubicBezTo>
                  <a:cubicBezTo>
                    <a:pt x="1928" y="21"/>
                    <a:pt x="1949" y="0"/>
                    <a:pt x="1976" y="0"/>
                  </a:cubicBezTo>
                  <a:cubicBezTo>
                    <a:pt x="2002" y="0"/>
                    <a:pt x="2024" y="21"/>
                    <a:pt x="2024" y="48"/>
                  </a:cubicBezTo>
                  <a:close/>
                  <a:moveTo>
                    <a:pt x="2125" y="48"/>
                  </a:moveTo>
                  <a:cubicBezTo>
                    <a:pt x="2125" y="74"/>
                    <a:pt x="2103" y="96"/>
                    <a:pt x="2077" y="96"/>
                  </a:cubicBezTo>
                  <a:cubicBezTo>
                    <a:pt x="2050" y="96"/>
                    <a:pt x="2029" y="74"/>
                    <a:pt x="2029" y="48"/>
                  </a:cubicBezTo>
                  <a:cubicBezTo>
                    <a:pt x="2029" y="21"/>
                    <a:pt x="2050" y="0"/>
                    <a:pt x="2077" y="0"/>
                  </a:cubicBezTo>
                  <a:cubicBezTo>
                    <a:pt x="2103" y="0"/>
                    <a:pt x="2125" y="21"/>
                    <a:pt x="2125" y="48"/>
                  </a:cubicBezTo>
                  <a:close/>
                  <a:moveTo>
                    <a:pt x="2226" y="48"/>
                  </a:moveTo>
                  <a:cubicBezTo>
                    <a:pt x="2226" y="74"/>
                    <a:pt x="2204" y="96"/>
                    <a:pt x="2178" y="96"/>
                  </a:cubicBezTo>
                  <a:cubicBezTo>
                    <a:pt x="2151" y="96"/>
                    <a:pt x="2130" y="74"/>
                    <a:pt x="2130" y="48"/>
                  </a:cubicBezTo>
                  <a:cubicBezTo>
                    <a:pt x="2130" y="21"/>
                    <a:pt x="2151" y="0"/>
                    <a:pt x="2178" y="0"/>
                  </a:cubicBezTo>
                  <a:cubicBezTo>
                    <a:pt x="2204" y="0"/>
                    <a:pt x="2226" y="21"/>
                    <a:pt x="2226" y="48"/>
                  </a:cubicBezTo>
                  <a:close/>
                  <a:moveTo>
                    <a:pt x="2328" y="48"/>
                  </a:moveTo>
                  <a:cubicBezTo>
                    <a:pt x="2328" y="74"/>
                    <a:pt x="2306" y="96"/>
                    <a:pt x="2280" y="96"/>
                  </a:cubicBezTo>
                  <a:cubicBezTo>
                    <a:pt x="2253" y="96"/>
                    <a:pt x="2232" y="74"/>
                    <a:pt x="2232" y="48"/>
                  </a:cubicBezTo>
                  <a:cubicBezTo>
                    <a:pt x="2232" y="21"/>
                    <a:pt x="2253" y="0"/>
                    <a:pt x="2280" y="0"/>
                  </a:cubicBezTo>
                  <a:cubicBezTo>
                    <a:pt x="2306" y="0"/>
                    <a:pt x="2328" y="21"/>
                    <a:pt x="2328" y="48"/>
                  </a:cubicBezTo>
                  <a:close/>
                  <a:moveTo>
                    <a:pt x="2429" y="48"/>
                  </a:moveTo>
                  <a:cubicBezTo>
                    <a:pt x="2429" y="74"/>
                    <a:pt x="2407" y="96"/>
                    <a:pt x="2381" y="96"/>
                  </a:cubicBezTo>
                  <a:cubicBezTo>
                    <a:pt x="2354" y="96"/>
                    <a:pt x="2333" y="74"/>
                    <a:pt x="2333" y="48"/>
                  </a:cubicBezTo>
                  <a:cubicBezTo>
                    <a:pt x="2333" y="21"/>
                    <a:pt x="2354" y="0"/>
                    <a:pt x="2381" y="0"/>
                  </a:cubicBezTo>
                  <a:cubicBezTo>
                    <a:pt x="2407" y="0"/>
                    <a:pt x="2429" y="21"/>
                    <a:pt x="2429" y="48"/>
                  </a:cubicBezTo>
                  <a:close/>
                  <a:moveTo>
                    <a:pt x="2530" y="48"/>
                  </a:moveTo>
                  <a:cubicBezTo>
                    <a:pt x="2530" y="74"/>
                    <a:pt x="2508" y="96"/>
                    <a:pt x="2482" y="96"/>
                  </a:cubicBezTo>
                  <a:cubicBezTo>
                    <a:pt x="2455" y="96"/>
                    <a:pt x="2434" y="74"/>
                    <a:pt x="2434" y="48"/>
                  </a:cubicBezTo>
                  <a:cubicBezTo>
                    <a:pt x="2434" y="21"/>
                    <a:pt x="2455" y="0"/>
                    <a:pt x="2482" y="0"/>
                  </a:cubicBezTo>
                  <a:cubicBezTo>
                    <a:pt x="2508" y="0"/>
                    <a:pt x="2530" y="21"/>
                    <a:pt x="2530" y="48"/>
                  </a:cubicBezTo>
                  <a:close/>
                  <a:moveTo>
                    <a:pt x="2632" y="48"/>
                  </a:moveTo>
                  <a:cubicBezTo>
                    <a:pt x="2632" y="74"/>
                    <a:pt x="2610" y="96"/>
                    <a:pt x="2584" y="96"/>
                  </a:cubicBezTo>
                  <a:cubicBezTo>
                    <a:pt x="2557" y="96"/>
                    <a:pt x="2536" y="74"/>
                    <a:pt x="2536" y="48"/>
                  </a:cubicBezTo>
                  <a:cubicBezTo>
                    <a:pt x="2536" y="21"/>
                    <a:pt x="2557" y="0"/>
                    <a:pt x="2584" y="0"/>
                  </a:cubicBezTo>
                  <a:cubicBezTo>
                    <a:pt x="2610" y="0"/>
                    <a:pt x="2632" y="21"/>
                    <a:pt x="2632" y="48"/>
                  </a:cubicBezTo>
                  <a:close/>
                  <a:moveTo>
                    <a:pt x="2733" y="48"/>
                  </a:moveTo>
                  <a:cubicBezTo>
                    <a:pt x="2733" y="74"/>
                    <a:pt x="2711" y="96"/>
                    <a:pt x="2685" y="96"/>
                  </a:cubicBezTo>
                  <a:cubicBezTo>
                    <a:pt x="2658" y="96"/>
                    <a:pt x="2637" y="74"/>
                    <a:pt x="2637" y="48"/>
                  </a:cubicBezTo>
                  <a:cubicBezTo>
                    <a:pt x="2637" y="21"/>
                    <a:pt x="2658" y="0"/>
                    <a:pt x="2685" y="0"/>
                  </a:cubicBezTo>
                  <a:cubicBezTo>
                    <a:pt x="2711" y="0"/>
                    <a:pt x="2733" y="21"/>
                    <a:pt x="2733" y="48"/>
                  </a:cubicBezTo>
                  <a:close/>
                  <a:moveTo>
                    <a:pt x="2834" y="48"/>
                  </a:moveTo>
                  <a:cubicBezTo>
                    <a:pt x="2834" y="74"/>
                    <a:pt x="2812" y="96"/>
                    <a:pt x="2786" y="96"/>
                  </a:cubicBezTo>
                  <a:cubicBezTo>
                    <a:pt x="2759" y="96"/>
                    <a:pt x="2738" y="74"/>
                    <a:pt x="2738" y="48"/>
                  </a:cubicBezTo>
                  <a:cubicBezTo>
                    <a:pt x="2738" y="21"/>
                    <a:pt x="2759" y="0"/>
                    <a:pt x="2786" y="0"/>
                  </a:cubicBezTo>
                  <a:cubicBezTo>
                    <a:pt x="2812" y="0"/>
                    <a:pt x="2834" y="21"/>
                    <a:pt x="2834" y="48"/>
                  </a:cubicBezTo>
                  <a:close/>
                  <a:moveTo>
                    <a:pt x="2936" y="48"/>
                  </a:moveTo>
                  <a:cubicBezTo>
                    <a:pt x="2936" y="74"/>
                    <a:pt x="2914" y="96"/>
                    <a:pt x="2888" y="96"/>
                  </a:cubicBezTo>
                  <a:cubicBezTo>
                    <a:pt x="2861" y="96"/>
                    <a:pt x="2840" y="74"/>
                    <a:pt x="2840" y="48"/>
                  </a:cubicBezTo>
                  <a:cubicBezTo>
                    <a:pt x="2840" y="21"/>
                    <a:pt x="2861" y="0"/>
                    <a:pt x="2888" y="0"/>
                  </a:cubicBezTo>
                  <a:cubicBezTo>
                    <a:pt x="2914" y="0"/>
                    <a:pt x="2936" y="21"/>
                    <a:pt x="2936" y="48"/>
                  </a:cubicBezTo>
                  <a:close/>
                  <a:moveTo>
                    <a:pt x="3037" y="48"/>
                  </a:moveTo>
                  <a:cubicBezTo>
                    <a:pt x="3037" y="74"/>
                    <a:pt x="3015" y="96"/>
                    <a:pt x="2989" y="96"/>
                  </a:cubicBezTo>
                  <a:cubicBezTo>
                    <a:pt x="2962" y="96"/>
                    <a:pt x="2941" y="74"/>
                    <a:pt x="2941" y="48"/>
                  </a:cubicBezTo>
                  <a:cubicBezTo>
                    <a:pt x="2941" y="21"/>
                    <a:pt x="2962" y="0"/>
                    <a:pt x="2989" y="0"/>
                  </a:cubicBezTo>
                  <a:cubicBezTo>
                    <a:pt x="3015" y="0"/>
                    <a:pt x="3037" y="21"/>
                    <a:pt x="3037" y="48"/>
                  </a:cubicBezTo>
                  <a:close/>
                  <a:moveTo>
                    <a:pt x="3138" y="48"/>
                  </a:moveTo>
                  <a:cubicBezTo>
                    <a:pt x="3138" y="74"/>
                    <a:pt x="3116" y="96"/>
                    <a:pt x="3090" y="96"/>
                  </a:cubicBezTo>
                  <a:cubicBezTo>
                    <a:pt x="3063" y="96"/>
                    <a:pt x="3042" y="74"/>
                    <a:pt x="3042" y="48"/>
                  </a:cubicBezTo>
                  <a:cubicBezTo>
                    <a:pt x="3042" y="21"/>
                    <a:pt x="3063" y="0"/>
                    <a:pt x="3090" y="0"/>
                  </a:cubicBezTo>
                  <a:cubicBezTo>
                    <a:pt x="3116" y="0"/>
                    <a:pt x="3138" y="21"/>
                    <a:pt x="3138" y="48"/>
                  </a:cubicBezTo>
                  <a:close/>
                  <a:moveTo>
                    <a:pt x="3240" y="48"/>
                  </a:moveTo>
                  <a:cubicBezTo>
                    <a:pt x="3240" y="74"/>
                    <a:pt x="3218" y="96"/>
                    <a:pt x="3192" y="96"/>
                  </a:cubicBezTo>
                  <a:cubicBezTo>
                    <a:pt x="3165" y="96"/>
                    <a:pt x="3144" y="74"/>
                    <a:pt x="3144" y="48"/>
                  </a:cubicBezTo>
                  <a:cubicBezTo>
                    <a:pt x="3144" y="21"/>
                    <a:pt x="3165" y="0"/>
                    <a:pt x="3192" y="0"/>
                  </a:cubicBezTo>
                  <a:cubicBezTo>
                    <a:pt x="3218" y="0"/>
                    <a:pt x="3240" y="21"/>
                    <a:pt x="3240" y="48"/>
                  </a:cubicBezTo>
                  <a:close/>
                  <a:moveTo>
                    <a:pt x="3341" y="48"/>
                  </a:moveTo>
                  <a:cubicBezTo>
                    <a:pt x="3341" y="74"/>
                    <a:pt x="3319" y="96"/>
                    <a:pt x="3293" y="96"/>
                  </a:cubicBezTo>
                  <a:cubicBezTo>
                    <a:pt x="3266" y="96"/>
                    <a:pt x="3245" y="74"/>
                    <a:pt x="3245" y="48"/>
                  </a:cubicBezTo>
                  <a:cubicBezTo>
                    <a:pt x="3245" y="21"/>
                    <a:pt x="3266" y="0"/>
                    <a:pt x="3293" y="0"/>
                  </a:cubicBezTo>
                  <a:cubicBezTo>
                    <a:pt x="3319" y="0"/>
                    <a:pt x="3341" y="21"/>
                    <a:pt x="3341" y="48"/>
                  </a:cubicBezTo>
                  <a:close/>
                  <a:moveTo>
                    <a:pt x="3442" y="48"/>
                  </a:moveTo>
                  <a:cubicBezTo>
                    <a:pt x="3442" y="74"/>
                    <a:pt x="3420" y="96"/>
                    <a:pt x="3394" y="96"/>
                  </a:cubicBezTo>
                  <a:cubicBezTo>
                    <a:pt x="3367" y="96"/>
                    <a:pt x="3346" y="74"/>
                    <a:pt x="3346" y="48"/>
                  </a:cubicBezTo>
                  <a:cubicBezTo>
                    <a:pt x="3346" y="21"/>
                    <a:pt x="3367" y="0"/>
                    <a:pt x="3394" y="0"/>
                  </a:cubicBezTo>
                  <a:cubicBezTo>
                    <a:pt x="3420" y="0"/>
                    <a:pt x="3442" y="21"/>
                    <a:pt x="3442" y="48"/>
                  </a:cubicBezTo>
                  <a:close/>
                  <a:moveTo>
                    <a:pt x="3544" y="48"/>
                  </a:moveTo>
                  <a:cubicBezTo>
                    <a:pt x="3544" y="74"/>
                    <a:pt x="3522" y="96"/>
                    <a:pt x="3496" y="96"/>
                  </a:cubicBezTo>
                  <a:cubicBezTo>
                    <a:pt x="3469" y="96"/>
                    <a:pt x="3448" y="74"/>
                    <a:pt x="3448" y="48"/>
                  </a:cubicBezTo>
                  <a:cubicBezTo>
                    <a:pt x="3448" y="21"/>
                    <a:pt x="3469" y="0"/>
                    <a:pt x="3496" y="0"/>
                  </a:cubicBezTo>
                  <a:cubicBezTo>
                    <a:pt x="3522" y="0"/>
                    <a:pt x="3544" y="21"/>
                    <a:pt x="3544" y="48"/>
                  </a:cubicBezTo>
                  <a:close/>
                  <a:moveTo>
                    <a:pt x="3645" y="48"/>
                  </a:moveTo>
                  <a:cubicBezTo>
                    <a:pt x="3645" y="74"/>
                    <a:pt x="3623" y="96"/>
                    <a:pt x="3597" y="96"/>
                  </a:cubicBezTo>
                  <a:cubicBezTo>
                    <a:pt x="3570" y="96"/>
                    <a:pt x="3549" y="74"/>
                    <a:pt x="3549" y="48"/>
                  </a:cubicBezTo>
                  <a:cubicBezTo>
                    <a:pt x="3549" y="21"/>
                    <a:pt x="3570" y="0"/>
                    <a:pt x="3597" y="0"/>
                  </a:cubicBezTo>
                  <a:cubicBezTo>
                    <a:pt x="3623" y="0"/>
                    <a:pt x="3645" y="21"/>
                    <a:pt x="3645" y="48"/>
                  </a:cubicBezTo>
                  <a:close/>
                  <a:moveTo>
                    <a:pt x="3746" y="48"/>
                  </a:moveTo>
                  <a:cubicBezTo>
                    <a:pt x="3746" y="74"/>
                    <a:pt x="3724" y="96"/>
                    <a:pt x="3698" y="96"/>
                  </a:cubicBezTo>
                  <a:cubicBezTo>
                    <a:pt x="3671" y="96"/>
                    <a:pt x="3650" y="74"/>
                    <a:pt x="3650" y="48"/>
                  </a:cubicBezTo>
                  <a:cubicBezTo>
                    <a:pt x="3650" y="21"/>
                    <a:pt x="3671" y="0"/>
                    <a:pt x="3698" y="0"/>
                  </a:cubicBezTo>
                  <a:cubicBezTo>
                    <a:pt x="3724" y="0"/>
                    <a:pt x="3746" y="21"/>
                    <a:pt x="3746" y="48"/>
                  </a:cubicBezTo>
                  <a:close/>
                  <a:moveTo>
                    <a:pt x="3848" y="48"/>
                  </a:moveTo>
                  <a:cubicBezTo>
                    <a:pt x="3848" y="74"/>
                    <a:pt x="3826" y="96"/>
                    <a:pt x="3800" y="96"/>
                  </a:cubicBezTo>
                  <a:cubicBezTo>
                    <a:pt x="3773" y="96"/>
                    <a:pt x="3752" y="74"/>
                    <a:pt x="3752" y="48"/>
                  </a:cubicBezTo>
                  <a:cubicBezTo>
                    <a:pt x="3752" y="21"/>
                    <a:pt x="3773" y="0"/>
                    <a:pt x="3800" y="0"/>
                  </a:cubicBezTo>
                  <a:cubicBezTo>
                    <a:pt x="3826" y="0"/>
                    <a:pt x="3848" y="21"/>
                    <a:pt x="3848" y="48"/>
                  </a:cubicBezTo>
                  <a:close/>
                  <a:moveTo>
                    <a:pt x="3949" y="48"/>
                  </a:moveTo>
                  <a:cubicBezTo>
                    <a:pt x="3949" y="74"/>
                    <a:pt x="3927" y="96"/>
                    <a:pt x="3901" y="96"/>
                  </a:cubicBezTo>
                  <a:cubicBezTo>
                    <a:pt x="3874" y="96"/>
                    <a:pt x="3853" y="74"/>
                    <a:pt x="3853" y="48"/>
                  </a:cubicBezTo>
                  <a:cubicBezTo>
                    <a:pt x="3853" y="21"/>
                    <a:pt x="3874" y="0"/>
                    <a:pt x="3901" y="0"/>
                  </a:cubicBezTo>
                  <a:cubicBezTo>
                    <a:pt x="3927" y="0"/>
                    <a:pt x="3949" y="21"/>
                    <a:pt x="3949" y="48"/>
                  </a:cubicBezTo>
                  <a:close/>
                  <a:moveTo>
                    <a:pt x="4050" y="48"/>
                  </a:moveTo>
                  <a:cubicBezTo>
                    <a:pt x="4050" y="74"/>
                    <a:pt x="4028" y="96"/>
                    <a:pt x="4002" y="96"/>
                  </a:cubicBezTo>
                  <a:cubicBezTo>
                    <a:pt x="3975" y="96"/>
                    <a:pt x="3954" y="74"/>
                    <a:pt x="3954" y="48"/>
                  </a:cubicBezTo>
                  <a:cubicBezTo>
                    <a:pt x="3954" y="21"/>
                    <a:pt x="3975" y="0"/>
                    <a:pt x="4002" y="0"/>
                  </a:cubicBezTo>
                  <a:cubicBezTo>
                    <a:pt x="4028" y="0"/>
                    <a:pt x="4050" y="21"/>
                    <a:pt x="4050" y="48"/>
                  </a:cubicBezTo>
                  <a:close/>
                  <a:moveTo>
                    <a:pt x="4152" y="48"/>
                  </a:moveTo>
                  <a:cubicBezTo>
                    <a:pt x="4152" y="74"/>
                    <a:pt x="4130" y="96"/>
                    <a:pt x="4104" y="96"/>
                  </a:cubicBezTo>
                  <a:cubicBezTo>
                    <a:pt x="4077" y="96"/>
                    <a:pt x="4056" y="74"/>
                    <a:pt x="4056" y="48"/>
                  </a:cubicBezTo>
                  <a:cubicBezTo>
                    <a:pt x="4056" y="21"/>
                    <a:pt x="4077" y="0"/>
                    <a:pt x="4104" y="0"/>
                  </a:cubicBezTo>
                  <a:cubicBezTo>
                    <a:pt x="4130" y="0"/>
                    <a:pt x="4152" y="21"/>
                    <a:pt x="4152" y="48"/>
                  </a:cubicBezTo>
                  <a:close/>
                  <a:moveTo>
                    <a:pt x="4253" y="48"/>
                  </a:moveTo>
                  <a:cubicBezTo>
                    <a:pt x="4253" y="74"/>
                    <a:pt x="4231" y="96"/>
                    <a:pt x="4205" y="96"/>
                  </a:cubicBezTo>
                  <a:cubicBezTo>
                    <a:pt x="4178" y="96"/>
                    <a:pt x="4157" y="74"/>
                    <a:pt x="4157" y="48"/>
                  </a:cubicBezTo>
                  <a:cubicBezTo>
                    <a:pt x="4157" y="21"/>
                    <a:pt x="4178" y="0"/>
                    <a:pt x="4205" y="0"/>
                  </a:cubicBezTo>
                  <a:cubicBezTo>
                    <a:pt x="4231" y="0"/>
                    <a:pt x="4253" y="21"/>
                    <a:pt x="4253" y="48"/>
                  </a:cubicBezTo>
                  <a:close/>
                  <a:moveTo>
                    <a:pt x="4354" y="48"/>
                  </a:moveTo>
                  <a:cubicBezTo>
                    <a:pt x="4354" y="74"/>
                    <a:pt x="4332" y="96"/>
                    <a:pt x="4306" y="96"/>
                  </a:cubicBezTo>
                  <a:cubicBezTo>
                    <a:pt x="4279" y="96"/>
                    <a:pt x="4258" y="74"/>
                    <a:pt x="4258" y="48"/>
                  </a:cubicBezTo>
                  <a:cubicBezTo>
                    <a:pt x="4258" y="21"/>
                    <a:pt x="4279" y="0"/>
                    <a:pt x="4306" y="0"/>
                  </a:cubicBezTo>
                  <a:cubicBezTo>
                    <a:pt x="4332" y="0"/>
                    <a:pt x="4354" y="21"/>
                    <a:pt x="4354" y="48"/>
                  </a:cubicBezTo>
                  <a:close/>
                  <a:moveTo>
                    <a:pt x="4456" y="48"/>
                  </a:moveTo>
                  <a:cubicBezTo>
                    <a:pt x="4456" y="74"/>
                    <a:pt x="4434" y="96"/>
                    <a:pt x="4408" y="96"/>
                  </a:cubicBezTo>
                  <a:cubicBezTo>
                    <a:pt x="4381" y="96"/>
                    <a:pt x="4360" y="74"/>
                    <a:pt x="4360" y="48"/>
                  </a:cubicBezTo>
                  <a:cubicBezTo>
                    <a:pt x="4360" y="21"/>
                    <a:pt x="4381" y="0"/>
                    <a:pt x="4408" y="0"/>
                  </a:cubicBezTo>
                  <a:cubicBezTo>
                    <a:pt x="4434" y="0"/>
                    <a:pt x="4456" y="21"/>
                    <a:pt x="4456" y="48"/>
                  </a:cubicBezTo>
                  <a:close/>
                  <a:moveTo>
                    <a:pt x="4557" y="48"/>
                  </a:moveTo>
                  <a:cubicBezTo>
                    <a:pt x="4557" y="74"/>
                    <a:pt x="4535" y="96"/>
                    <a:pt x="4509" y="96"/>
                  </a:cubicBezTo>
                  <a:cubicBezTo>
                    <a:pt x="4482" y="96"/>
                    <a:pt x="4461" y="74"/>
                    <a:pt x="4461" y="48"/>
                  </a:cubicBezTo>
                  <a:cubicBezTo>
                    <a:pt x="4461" y="21"/>
                    <a:pt x="4482" y="0"/>
                    <a:pt x="4509" y="0"/>
                  </a:cubicBezTo>
                  <a:cubicBezTo>
                    <a:pt x="4535" y="0"/>
                    <a:pt x="4557" y="21"/>
                    <a:pt x="4557" y="48"/>
                  </a:cubicBezTo>
                  <a:close/>
                  <a:moveTo>
                    <a:pt x="4658" y="48"/>
                  </a:moveTo>
                  <a:cubicBezTo>
                    <a:pt x="4658" y="74"/>
                    <a:pt x="4636" y="96"/>
                    <a:pt x="4610" y="96"/>
                  </a:cubicBezTo>
                  <a:cubicBezTo>
                    <a:pt x="4583" y="96"/>
                    <a:pt x="4562" y="74"/>
                    <a:pt x="4562" y="48"/>
                  </a:cubicBezTo>
                  <a:cubicBezTo>
                    <a:pt x="4562" y="21"/>
                    <a:pt x="4583" y="0"/>
                    <a:pt x="4610" y="0"/>
                  </a:cubicBezTo>
                  <a:cubicBezTo>
                    <a:pt x="4636" y="0"/>
                    <a:pt x="4658" y="21"/>
                    <a:pt x="4658" y="48"/>
                  </a:cubicBezTo>
                  <a:close/>
                  <a:moveTo>
                    <a:pt x="4760" y="48"/>
                  </a:moveTo>
                  <a:cubicBezTo>
                    <a:pt x="4760" y="74"/>
                    <a:pt x="4738" y="96"/>
                    <a:pt x="4712" y="96"/>
                  </a:cubicBezTo>
                  <a:cubicBezTo>
                    <a:pt x="4685" y="96"/>
                    <a:pt x="4664" y="74"/>
                    <a:pt x="4664" y="48"/>
                  </a:cubicBezTo>
                  <a:cubicBezTo>
                    <a:pt x="4664" y="21"/>
                    <a:pt x="4685" y="0"/>
                    <a:pt x="4712" y="0"/>
                  </a:cubicBezTo>
                  <a:cubicBezTo>
                    <a:pt x="4738" y="0"/>
                    <a:pt x="4760" y="21"/>
                    <a:pt x="4760" y="48"/>
                  </a:cubicBezTo>
                  <a:close/>
                  <a:moveTo>
                    <a:pt x="4861" y="48"/>
                  </a:moveTo>
                  <a:cubicBezTo>
                    <a:pt x="4861" y="74"/>
                    <a:pt x="4839" y="96"/>
                    <a:pt x="4813" y="96"/>
                  </a:cubicBezTo>
                  <a:cubicBezTo>
                    <a:pt x="4786" y="96"/>
                    <a:pt x="4765" y="74"/>
                    <a:pt x="4765" y="48"/>
                  </a:cubicBezTo>
                  <a:cubicBezTo>
                    <a:pt x="4765" y="21"/>
                    <a:pt x="4786" y="0"/>
                    <a:pt x="4813" y="0"/>
                  </a:cubicBezTo>
                  <a:cubicBezTo>
                    <a:pt x="4839" y="0"/>
                    <a:pt x="4861" y="21"/>
                    <a:pt x="4861" y="48"/>
                  </a:cubicBezTo>
                  <a:close/>
                  <a:moveTo>
                    <a:pt x="4962" y="48"/>
                  </a:moveTo>
                  <a:cubicBezTo>
                    <a:pt x="4962" y="74"/>
                    <a:pt x="4940" y="96"/>
                    <a:pt x="4914" y="96"/>
                  </a:cubicBezTo>
                  <a:cubicBezTo>
                    <a:pt x="4887" y="96"/>
                    <a:pt x="4866" y="74"/>
                    <a:pt x="4866" y="48"/>
                  </a:cubicBezTo>
                  <a:cubicBezTo>
                    <a:pt x="4866" y="21"/>
                    <a:pt x="4887" y="0"/>
                    <a:pt x="4914" y="0"/>
                  </a:cubicBezTo>
                  <a:cubicBezTo>
                    <a:pt x="4940" y="0"/>
                    <a:pt x="4962" y="21"/>
                    <a:pt x="4962" y="48"/>
                  </a:cubicBezTo>
                  <a:close/>
                  <a:moveTo>
                    <a:pt x="5064" y="48"/>
                  </a:moveTo>
                  <a:cubicBezTo>
                    <a:pt x="5064" y="74"/>
                    <a:pt x="5042" y="96"/>
                    <a:pt x="5016" y="96"/>
                  </a:cubicBezTo>
                  <a:cubicBezTo>
                    <a:pt x="4989" y="96"/>
                    <a:pt x="4968" y="74"/>
                    <a:pt x="4968" y="48"/>
                  </a:cubicBezTo>
                  <a:cubicBezTo>
                    <a:pt x="4968" y="21"/>
                    <a:pt x="4989" y="0"/>
                    <a:pt x="5016" y="0"/>
                  </a:cubicBezTo>
                  <a:cubicBezTo>
                    <a:pt x="5042" y="0"/>
                    <a:pt x="5064" y="21"/>
                    <a:pt x="5064" y="48"/>
                  </a:cubicBezTo>
                  <a:close/>
                  <a:moveTo>
                    <a:pt x="5165" y="48"/>
                  </a:moveTo>
                  <a:cubicBezTo>
                    <a:pt x="5165" y="74"/>
                    <a:pt x="5143" y="96"/>
                    <a:pt x="5117" y="96"/>
                  </a:cubicBezTo>
                  <a:cubicBezTo>
                    <a:pt x="5090" y="96"/>
                    <a:pt x="5069" y="74"/>
                    <a:pt x="5069" y="48"/>
                  </a:cubicBezTo>
                  <a:cubicBezTo>
                    <a:pt x="5069" y="21"/>
                    <a:pt x="5090" y="0"/>
                    <a:pt x="5117" y="0"/>
                  </a:cubicBezTo>
                  <a:cubicBezTo>
                    <a:pt x="5143" y="0"/>
                    <a:pt x="5165" y="21"/>
                    <a:pt x="5165" y="48"/>
                  </a:cubicBezTo>
                  <a:close/>
                  <a:moveTo>
                    <a:pt x="5266" y="48"/>
                  </a:moveTo>
                  <a:cubicBezTo>
                    <a:pt x="5266" y="74"/>
                    <a:pt x="5244" y="96"/>
                    <a:pt x="5218" y="96"/>
                  </a:cubicBezTo>
                  <a:cubicBezTo>
                    <a:pt x="5191" y="96"/>
                    <a:pt x="5170" y="74"/>
                    <a:pt x="5170" y="48"/>
                  </a:cubicBezTo>
                  <a:cubicBezTo>
                    <a:pt x="5170" y="21"/>
                    <a:pt x="5191" y="0"/>
                    <a:pt x="5218" y="0"/>
                  </a:cubicBezTo>
                  <a:cubicBezTo>
                    <a:pt x="5244" y="0"/>
                    <a:pt x="5266" y="21"/>
                    <a:pt x="5266" y="48"/>
                  </a:cubicBezTo>
                  <a:close/>
                  <a:moveTo>
                    <a:pt x="5368" y="48"/>
                  </a:moveTo>
                  <a:cubicBezTo>
                    <a:pt x="5368" y="74"/>
                    <a:pt x="5346" y="96"/>
                    <a:pt x="5320" y="96"/>
                  </a:cubicBezTo>
                  <a:cubicBezTo>
                    <a:pt x="5293" y="96"/>
                    <a:pt x="5272" y="74"/>
                    <a:pt x="5272" y="48"/>
                  </a:cubicBezTo>
                  <a:cubicBezTo>
                    <a:pt x="5272" y="21"/>
                    <a:pt x="5293" y="0"/>
                    <a:pt x="5320" y="0"/>
                  </a:cubicBezTo>
                  <a:cubicBezTo>
                    <a:pt x="5346" y="0"/>
                    <a:pt x="5368" y="21"/>
                    <a:pt x="5368" y="48"/>
                  </a:cubicBezTo>
                  <a:close/>
                  <a:moveTo>
                    <a:pt x="5469" y="48"/>
                  </a:moveTo>
                  <a:cubicBezTo>
                    <a:pt x="5469" y="74"/>
                    <a:pt x="5447" y="96"/>
                    <a:pt x="5421" y="96"/>
                  </a:cubicBezTo>
                  <a:cubicBezTo>
                    <a:pt x="5394" y="96"/>
                    <a:pt x="5373" y="74"/>
                    <a:pt x="5373" y="48"/>
                  </a:cubicBezTo>
                  <a:cubicBezTo>
                    <a:pt x="5373" y="21"/>
                    <a:pt x="5394" y="0"/>
                    <a:pt x="5421" y="0"/>
                  </a:cubicBezTo>
                  <a:cubicBezTo>
                    <a:pt x="5447" y="0"/>
                    <a:pt x="5469" y="21"/>
                    <a:pt x="5469" y="48"/>
                  </a:cubicBezTo>
                  <a:close/>
                  <a:moveTo>
                    <a:pt x="5570" y="48"/>
                  </a:moveTo>
                  <a:cubicBezTo>
                    <a:pt x="5570" y="74"/>
                    <a:pt x="5548" y="96"/>
                    <a:pt x="5522" y="96"/>
                  </a:cubicBezTo>
                  <a:cubicBezTo>
                    <a:pt x="5495" y="96"/>
                    <a:pt x="5474" y="74"/>
                    <a:pt x="5474" y="48"/>
                  </a:cubicBezTo>
                  <a:cubicBezTo>
                    <a:pt x="5474" y="21"/>
                    <a:pt x="5495" y="0"/>
                    <a:pt x="5522" y="0"/>
                  </a:cubicBezTo>
                  <a:cubicBezTo>
                    <a:pt x="5548" y="0"/>
                    <a:pt x="5570" y="21"/>
                    <a:pt x="5570" y="48"/>
                  </a:cubicBezTo>
                  <a:close/>
                  <a:moveTo>
                    <a:pt x="5672" y="48"/>
                  </a:moveTo>
                  <a:cubicBezTo>
                    <a:pt x="5672" y="74"/>
                    <a:pt x="5650" y="96"/>
                    <a:pt x="5624" y="96"/>
                  </a:cubicBezTo>
                  <a:cubicBezTo>
                    <a:pt x="5597" y="96"/>
                    <a:pt x="5576" y="74"/>
                    <a:pt x="5576" y="48"/>
                  </a:cubicBezTo>
                  <a:cubicBezTo>
                    <a:pt x="5576" y="21"/>
                    <a:pt x="5597" y="0"/>
                    <a:pt x="5624" y="0"/>
                  </a:cubicBezTo>
                  <a:cubicBezTo>
                    <a:pt x="5650" y="0"/>
                    <a:pt x="5672" y="21"/>
                    <a:pt x="5672" y="48"/>
                  </a:cubicBezTo>
                  <a:close/>
                  <a:moveTo>
                    <a:pt x="5773" y="48"/>
                  </a:moveTo>
                  <a:cubicBezTo>
                    <a:pt x="5773" y="74"/>
                    <a:pt x="5751" y="96"/>
                    <a:pt x="5725" y="96"/>
                  </a:cubicBezTo>
                  <a:cubicBezTo>
                    <a:pt x="5698" y="96"/>
                    <a:pt x="5677" y="74"/>
                    <a:pt x="5677" y="48"/>
                  </a:cubicBezTo>
                  <a:cubicBezTo>
                    <a:pt x="5677" y="21"/>
                    <a:pt x="5698" y="0"/>
                    <a:pt x="5725" y="0"/>
                  </a:cubicBezTo>
                  <a:cubicBezTo>
                    <a:pt x="5751" y="0"/>
                    <a:pt x="5773" y="21"/>
                    <a:pt x="5773" y="48"/>
                  </a:cubicBezTo>
                  <a:close/>
                  <a:moveTo>
                    <a:pt x="5874" y="48"/>
                  </a:moveTo>
                  <a:cubicBezTo>
                    <a:pt x="5874" y="74"/>
                    <a:pt x="5852" y="96"/>
                    <a:pt x="5826" y="96"/>
                  </a:cubicBezTo>
                  <a:cubicBezTo>
                    <a:pt x="5799" y="96"/>
                    <a:pt x="5778" y="74"/>
                    <a:pt x="5778" y="48"/>
                  </a:cubicBezTo>
                  <a:cubicBezTo>
                    <a:pt x="5778" y="21"/>
                    <a:pt x="5799" y="0"/>
                    <a:pt x="5826" y="0"/>
                  </a:cubicBezTo>
                  <a:cubicBezTo>
                    <a:pt x="5852" y="0"/>
                    <a:pt x="5874" y="21"/>
                    <a:pt x="5874" y="48"/>
                  </a:cubicBezTo>
                  <a:close/>
                  <a:moveTo>
                    <a:pt x="5976" y="48"/>
                  </a:moveTo>
                  <a:cubicBezTo>
                    <a:pt x="5976" y="74"/>
                    <a:pt x="5954" y="96"/>
                    <a:pt x="5928" y="96"/>
                  </a:cubicBezTo>
                  <a:cubicBezTo>
                    <a:pt x="5901" y="96"/>
                    <a:pt x="5880" y="74"/>
                    <a:pt x="5880" y="48"/>
                  </a:cubicBezTo>
                  <a:cubicBezTo>
                    <a:pt x="5880" y="21"/>
                    <a:pt x="5901" y="0"/>
                    <a:pt x="5928" y="0"/>
                  </a:cubicBezTo>
                  <a:cubicBezTo>
                    <a:pt x="5954" y="0"/>
                    <a:pt x="5976" y="21"/>
                    <a:pt x="5976" y="48"/>
                  </a:cubicBezTo>
                  <a:close/>
                  <a:moveTo>
                    <a:pt x="6077" y="48"/>
                  </a:moveTo>
                  <a:cubicBezTo>
                    <a:pt x="6077" y="74"/>
                    <a:pt x="6055" y="96"/>
                    <a:pt x="6029" y="96"/>
                  </a:cubicBezTo>
                  <a:cubicBezTo>
                    <a:pt x="6002" y="96"/>
                    <a:pt x="5981" y="74"/>
                    <a:pt x="5981" y="48"/>
                  </a:cubicBezTo>
                  <a:cubicBezTo>
                    <a:pt x="5981" y="21"/>
                    <a:pt x="6002" y="0"/>
                    <a:pt x="6029" y="0"/>
                  </a:cubicBezTo>
                  <a:cubicBezTo>
                    <a:pt x="6055" y="0"/>
                    <a:pt x="6077" y="21"/>
                    <a:pt x="6077" y="48"/>
                  </a:cubicBezTo>
                  <a:close/>
                  <a:moveTo>
                    <a:pt x="6178" y="48"/>
                  </a:moveTo>
                  <a:cubicBezTo>
                    <a:pt x="6178" y="74"/>
                    <a:pt x="6156" y="96"/>
                    <a:pt x="6130" y="96"/>
                  </a:cubicBezTo>
                  <a:cubicBezTo>
                    <a:pt x="6103" y="96"/>
                    <a:pt x="6082" y="74"/>
                    <a:pt x="6082" y="48"/>
                  </a:cubicBezTo>
                  <a:cubicBezTo>
                    <a:pt x="6082" y="21"/>
                    <a:pt x="6103" y="0"/>
                    <a:pt x="6130" y="0"/>
                  </a:cubicBezTo>
                  <a:cubicBezTo>
                    <a:pt x="6156" y="0"/>
                    <a:pt x="6178" y="21"/>
                    <a:pt x="6178" y="48"/>
                  </a:cubicBezTo>
                  <a:close/>
                  <a:moveTo>
                    <a:pt x="6280" y="48"/>
                  </a:moveTo>
                  <a:cubicBezTo>
                    <a:pt x="6280" y="74"/>
                    <a:pt x="6258" y="96"/>
                    <a:pt x="6232" y="96"/>
                  </a:cubicBezTo>
                  <a:cubicBezTo>
                    <a:pt x="6205" y="96"/>
                    <a:pt x="6184" y="74"/>
                    <a:pt x="6184" y="48"/>
                  </a:cubicBezTo>
                  <a:cubicBezTo>
                    <a:pt x="6184" y="21"/>
                    <a:pt x="6205" y="0"/>
                    <a:pt x="6232" y="0"/>
                  </a:cubicBezTo>
                  <a:cubicBezTo>
                    <a:pt x="6258" y="0"/>
                    <a:pt x="6280" y="21"/>
                    <a:pt x="6280" y="48"/>
                  </a:cubicBezTo>
                  <a:close/>
                  <a:moveTo>
                    <a:pt x="6381" y="48"/>
                  </a:moveTo>
                  <a:cubicBezTo>
                    <a:pt x="6381" y="74"/>
                    <a:pt x="6359" y="96"/>
                    <a:pt x="6333" y="96"/>
                  </a:cubicBezTo>
                  <a:cubicBezTo>
                    <a:pt x="6306" y="96"/>
                    <a:pt x="6285" y="74"/>
                    <a:pt x="6285" y="48"/>
                  </a:cubicBezTo>
                  <a:cubicBezTo>
                    <a:pt x="6285" y="21"/>
                    <a:pt x="6306" y="0"/>
                    <a:pt x="6333" y="0"/>
                  </a:cubicBezTo>
                  <a:cubicBezTo>
                    <a:pt x="6359" y="0"/>
                    <a:pt x="6381" y="21"/>
                    <a:pt x="6381" y="48"/>
                  </a:cubicBezTo>
                  <a:close/>
                  <a:moveTo>
                    <a:pt x="6482" y="48"/>
                  </a:moveTo>
                  <a:cubicBezTo>
                    <a:pt x="6482" y="74"/>
                    <a:pt x="6460" y="96"/>
                    <a:pt x="6434" y="96"/>
                  </a:cubicBezTo>
                  <a:cubicBezTo>
                    <a:pt x="6407" y="96"/>
                    <a:pt x="6386" y="74"/>
                    <a:pt x="6386" y="48"/>
                  </a:cubicBezTo>
                  <a:cubicBezTo>
                    <a:pt x="6386" y="21"/>
                    <a:pt x="6407" y="0"/>
                    <a:pt x="6434" y="0"/>
                  </a:cubicBezTo>
                  <a:cubicBezTo>
                    <a:pt x="6460" y="0"/>
                    <a:pt x="6482" y="21"/>
                    <a:pt x="6482" y="48"/>
                  </a:cubicBezTo>
                  <a:close/>
                  <a:moveTo>
                    <a:pt x="6584" y="48"/>
                  </a:moveTo>
                  <a:cubicBezTo>
                    <a:pt x="6584" y="74"/>
                    <a:pt x="6562" y="96"/>
                    <a:pt x="6536" y="96"/>
                  </a:cubicBezTo>
                  <a:cubicBezTo>
                    <a:pt x="6509" y="96"/>
                    <a:pt x="6488" y="74"/>
                    <a:pt x="6488" y="48"/>
                  </a:cubicBezTo>
                  <a:cubicBezTo>
                    <a:pt x="6488" y="21"/>
                    <a:pt x="6509" y="0"/>
                    <a:pt x="6536" y="0"/>
                  </a:cubicBezTo>
                  <a:cubicBezTo>
                    <a:pt x="6562" y="0"/>
                    <a:pt x="6584" y="21"/>
                    <a:pt x="6584" y="48"/>
                  </a:cubicBezTo>
                  <a:close/>
                  <a:moveTo>
                    <a:pt x="6685" y="48"/>
                  </a:moveTo>
                  <a:cubicBezTo>
                    <a:pt x="6685" y="74"/>
                    <a:pt x="6663" y="96"/>
                    <a:pt x="6637" y="96"/>
                  </a:cubicBezTo>
                  <a:cubicBezTo>
                    <a:pt x="6610" y="96"/>
                    <a:pt x="6589" y="74"/>
                    <a:pt x="6589" y="48"/>
                  </a:cubicBezTo>
                  <a:cubicBezTo>
                    <a:pt x="6589" y="21"/>
                    <a:pt x="6610" y="0"/>
                    <a:pt x="6637" y="0"/>
                  </a:cubicBezTo>
                  <a:cubicBezTo>
                    <a:pt x="6663" y="0"/>
                    <a:pt x="6685" y="21"/>
                    <a:pt x="6685" y="48"/>
                  </a:cubicBezTo>
                  <a:close/>
                  <a:moveTo>
                    <a:pt x="6786" y="48"/>
                  </a:moveTo>
                  <a:cubicBezTo>
                    <a:pt x="6786" y="74"/>
                    <a:pt x="6764" y="96"/>
                    <a:pt x="6738" y="96"/>
                  </a:cubicBezTo>
                  <a:cubicBezTo>
                    <a:pt x="6711" y="96"/>
                    <a:pt x="6690" y="74"/>
                    <a:pt x="6690" y="48"/>
                  </a:cubicBezTo>
                  <a:cubicBezTo>
                    <a:pt x="6690" y="21"/>
                    <a:pt x="6711" y="0"/>
                    <a:pt x="6738" y="0"/>
                  </a:cubicBezTo>
                  <a:cubicBezTo>
                    <a:pt x="6764" y="0"/>
                    <a:pt x="6786" y="21"/>
                    <a:pt x="6786" y="48"/>
                  </a:cubicBezTo>
                  <a:close/>
                  <a:moveTo>
                    <a:pt x="6888" y="48"/>
                  </a:moveTo>
                  <a:cubicBezTo>
                    <a:pt x="6888" y="74"/>
                    <a:pt x="6866" y="96"/>
                    <a:pt x="6840" y="96"/>
                  </a:cubicBezTo>
                  <a:cubicBezTo>
                    <a:pt x="6813" y="96"/>
                    <a:pt x="6792" y="74"/>
                    <a:pt x="6792" y="48"/>
                  </a:cubicBezTo>
                  <a:cubicBezTo>
                    <a:pt x="6792" y="21"/>
                    <a:pt x="6813" y="0"/>
                    <a:pt x="6840" y="0"/>
                  </a:cubicBezTo>
                  <a:cubicBezTo>
                    <a:pt x="6866" y="0"/>
                    <a:pt x="6888" y="21"/>
                    <a:pt x="6888" y="48"/>
                  </a:cubicBezTo>
                  <a:close/>
                  <a:moveTo>
                    <a:pt x="6989" y="48"/>
                  </a:moveTo>
                  <a:cubicBezTo>
                    <a:pt x="6989" y="74"/>
                    <a:pt x="6967" y="96"/>
                    <a:pt x="6941" y="96"/>
                  </a:cubicBezTo>
                  <a:cubicBezTo>
                    <a:pt x="6914" y="96"/>
                    <a:pt x="6893" y="74"/>
                    <a:pt x="6893" y="48"/>
                  </a:cubicBezTo>
                  <a:cubicBezTo>
                    <a:pt x="6893" y="21"/>
                    <a:pt x="6914" y="0"/>
                    <a:pt x="6941" y="0"/>
                  </a:cubicBezTo>
                  <a:cubicBezTo>
                    <a:pt x="6967" y="0"/>
                    <a:pt x="6989" y="21"/>
                    <a:pt x="6989" y="48"/>
                  </a:cubicBezTo>
                  <a:close/>
                  <a:moveTo>
                    <a:pt x="7090" y="48"/>
                  </a:moveTo>
                  <a:cubicBezTo>
                    <a:pt x="7090" y="74"/>
                    <a:pt x="7068" y="96"/>
                    <a:pt x="7042" y="96"/>
                  </a:cubicBezTo>
                  <a:cubicBezTo>
                    <a:pt x="7015" y="96"/>
                    <a:pt x="6994" y="74"/>
                    <a:pt x="6994" y="48"/>
                  </a:cubicBezTo>
                  <a:cubicBezTo>
                    <a:pt x="6994" y="21"/>
                    <a:pt x="7015" y="0"/>
                    <a:pt x="7042" y="0"/>
                  </a:cubicBezTo>
                  <a:cubicBezTo>
                    <a:pt x="7068" y="0"/>
                    <a:pt x="7090" y="21"/>
                    <a:pt x="7090" y="48"/>
                  </a:cubicBezTo>
                  <a:close/>
                  <a:moveTo>
                    <a:pt x="7192" y="48"/>
                  </a:moveTo>
                  <a:cubicBezTo>
                    <a:pt x="7192" y="74"/>
                    <a:pt x="7170" y="96"/>
                    <a:pt x="7144" y="96"/>
                  </a:cubicBezTo>
                  <a:cubicBezTo>
                    <a:pt x="7117" y="96"/>
                    <a:pt x="7096" y="74"/>
                    <a:pt x="7096" y="48"/>
                  </a:cubicBezTo>
                  <a:cubicBezTo>
                    <a:pt x="7096" y="21"/>
                    <a:pt x="7117" y="0"/>
                    <a:pt x="7144" y="0"/>
                  </a:cubicBezTo>
                  <a:cubicBezTo>
                    <a:pt x="7170" y="0"/>
                    <a:pt x="7192" y="21"/>
                    <a:pt x="7192" y="48"/>
                  </a:cubicBezTo>
                  <a:close/>
                  <a:moveTo>
                    <a:pt x="7293" y="48"/>
                  </a:moveTo>
                  <a:cubicBezTo>
                    <a:pt x="7293" y="74"/>
                    <a:pt x="7271" y="96"/>
                    <a:pt x="7245" y="96"/>
                  </a:cubicBezTo>
                  <a:cubicBezTo>
                    <a:pt x="7218" y="96"/>
                    <a:pt x="7197" y="74"/>
                    <a:pt x="7197" y="48"/>
                  </a:cubicBezTo>
                  <a:cubicBezTo>
                    <a:pt x="7197" y="21"/>
                    <a:pt x="7218" y="0"/>
                    <a:pt x="7245" y="0"/>
                  </a:cubicBezTo>
                  <a:cubicBezTo>
                    <a:pt x="7271" y="0"/>
                    <a:pt x="7293" y="21"/>
                    <a:pt x="7293" y="48"/>
                  </a:cubicBezTo>
                  <a:close/>
                  <a:moveTo>
                    <a:pt x="7394" y="48"/>
                  </a:moveTo>
                  <a:cubicBezTo>
                    <a:pt x="7394" y="74"/>
                    <a:pt x="7372" y="96"/>
                    <a:pt x="7346" y="96"/>
                  </a:cubicBezTo>
                  <a:cubicBezTo>
                    <a:pt x="7319" y="96"/>
                    <a:pt x="7298" y="74"/>
                    <a:pt x="7298" y="48"/>
                  </a:cubicBezTo>
                  <a:cubicBezTo>
                    <a:pt x="7298" y="21"/>
                    <a:pt x="7319" y="0"/>
                    <a:pt x="7346" y="0"/>
                  </a:cubicBezTo>
                  <a:cubicBezTo>
                    <a:pt x="7372" y="0"/>
                    <a:pt x="7394" y="21"/>
                    <a:pt x="7394" y="48"/>
                  </a:cubicBezTo>
                  <a:close/>
                  <a:moveTo>
                    <a:pt x="7496" y="48"/>
                  </a:moveTo>
                  <a:cubicBezTo>
                    <a:pt x="7496" y="74"/>
                    <a:pt x="7474" y="96"/>
                    <a:pt x="7448" y="96"/>
                  </a:cubicBezTo>
                  <a:cubicBezTo>
                    <a:pt x="7421" y="96"/>
                    <a:pt x="7400" y="74"/>
                    <a:pt x="7400" y="48"/>
                  </a:cubicBezTo>
                  <a:cubicBezTo>
                    <a:pt x="7400" y="21"/>
                    <a:pt x="7421" y="0"/>
                    <a:pt x="7448" y="0"/>
                  </a:cubicBezTo>
                  <a:cubicBezTo>
                    <a:pt x="7474" y="0"/>
                    <a:pt x="7496" y="21"/>
                    <a:pt x="7496" y="48"/>
                  </a:cubicBezTo>
                  <a:close/>
                  <a:moveTo>
                    <a:pt x="7597" y="48"/>
                  </a:moveTo>
                  <a:cubicBezTo>
                    <a:pt x="7597" y="74"/>
                    <a:pt x="7575" y="96"/>
                    <a:pt x="7549" y="96"/>
                  </a:cubicBezTo>
                  <a:cubicBezTo>
                    <a:pt x="7522" y="96"/>
                    <a:pt x="7501" y="74"/>
                    <a:pt x="7501" y="48"/>
                  </a:cubicBezTo>
                  <a:cubicBezTo>
                    <a:pt x="7501" y="21"/>
                    <a:pt x="7522" y="0"/>
                    <a:pt x="7549" y="0"/>
                  </a:cubicBezTo>
                  <a:cubicBezTo>
                    <a:pt x="7575" y="0"/>
                    <a:pt x="7597" y="21"/>
                    <a:pt x="7597" y="48"/>
                  </a:cubicBezTo>
                  <a:close/>
                  <a:moveTo>
                    <a:pt x="98" y="352"/>
                  </a:moveTo>
                  <a:cubicBezTo>
                    <a:pt x="98" y="378"/>
                    <a:pt x="76" y="400"/>
                    <a:pt x="50" y="400"/>
                  </a:cubicBezTo>
                  <a:cubicBezTo>
                    <a:pt x="23" y="400"/>
                    <a:pt x="2" y="378"/>
                    <a:pt x="2" y="352"/>
                  </a:cubicBezTo>
                  <a:cubicBezTo>
                    <a:pt x="2" y="325"/>
                    <a:pt x="23" y="304"/>
                    <a:pt x="50" y="304"/>
                  </a:cubicBezTo>
                  <a:cubicBezTo>
                    <a:pt x="76" y="304"/>
                    <a:pt x="98" y="325"/>
                    <a:pt x="98" y="352"/>
                  </a:cubicBezTo>
                  <a:close/>
                  <a:moveTo>
                    <a:pt x="200" y="352"/>
                  </a:moveTo>
                  <a:cubicBezTo>
                    <a:pt x="200" y="378"/>
                    <a:pt x="178" y="400"/>
                    <a:pt x="152" y="400"/>
                  </a:cubicBezTo>
                  <a:cubicBezTo>
                    <a:pt x="125" y="400"/>
                    <a:pt x="104" y="378"/>
                    <a:pt x="104" y="352"/>
                  </a:cubicBezTo>
                  <a:cubicBezTo>
                    <a:pt x="104" y="325"/>
                    <a:pt x="125" y="304"/>
                    <a:pt x="152" y="304"/>
                  </a:cubicBezTo>
                  <a:cubicBezTo>
                    <a:pt x="178" y="304"/>
                    <a:pt x="200" y="325"/>
                    <a:pt x="200" y="352"/>
                  </a:cubicBezTo>
                  <a:close/>
                  <a:moveTo>
                    <a:pt x="301" y="352"/>
                  </a:moveTo>
                  <a:cubicBezTo>
                    <a:pt x="301" y="378"/>
                    <a:pt x="279" y="400"/>
                    <a:pt x="253" y="400"/>
                  </a:cubicBezTo>
                  <a:cubicBezTo>
                    <a:pt x="226" y="400"/>
                    <a:pt x="205" y="378"/>
                    <a:pt x="205" y="352"/>
                  </a:cubicBezTo>
                  <a:cubicBezTo>
                    <a:pt x="205" y="325"/>
                    <a:pt x="226" y="304"/>
                    <a:pt x="253" y="304"/>
                  </a:cubicBezTo>
                  <a:cubicBezTo>
                    <a:pt x="279" y="304"/>
                    <a:pt x="301" y="325"/>
                    <a:pt x="301" y="352"/>
                  </a:cubicBezTo>
                  <a:close/>
                  <a:moveTo>
                    <a:pt x="402" y="352"/>
                  </a:moveTo>
                  <a:cubicBezTo>
                    <a:pt x="402" y="378"/>
                    <a:pt x="380" y="400"/>
                    <a:pt x="354" y="400"/>
                  </a:cubicBezTo>
                  <a:cubicBezTo>
                    <a:pt x="327" y="400"/>
                    <a:pt x="306" y="378"/>
                    <a:pt x="306" y="352"/>
                  </a:cubicBezTo>
                  <a:cubicBezTo>
                    <a:pt x="306" y="325"/>
                    <a:pt x="327" y="304"/>
                    <a:pt x="354" y="304"/>
                  </a:cubicBezTo>
                  <a:cubicBezTo>
                    <a:pt x="380" y="304"/>
                    <a:pt x="402" y="325"/>
                    <a:pt x="402" y="352"/>
                  </a:cubicBezTo>
                  <a:close/>
                  <a:moveTo>
                    <a:pt x="504" y="352"/>
                  </a:moveTo>
                  <a:cubicBezTo>
                    <a:pt x="504" y="378"/>
                    <a:pt x="482" y="400"/>
                    <a:pt x="456" y="400"/>
                  </a:cubicBezTo>
                  <a:cubicBezTo>
                    <a:pt x="429" y="400"/>
                    <a:pt x="408" y="378"/>
                    <a:pt x="408" y="352"/>
                  </a:cubicBezTo>
                  <a:cubicBezTo>
                    <a:pt x="408" y="325"/>
                    <a:pt x="429" y="304"/>
                    <a:pt x="456" y="304"/>
                  </a:cubicBezTo>
                  <a:cubicBezTo>
                    <a:pt x="482" y="304"/>
                    <a:pt x="504" y="325"/>
                    <a:pt x="504" y="352"/>
                  </a:cubicBezTo>
                  <a:close/>
                  <a:moveTo>
                    <a:pt x="605" y="352"/>
                  </a:moveTo>
                  <a:cubicBezTo>
                    <a:pt x="605" y="378"/>
                    <a:pt x="583" y="400"/>
                    <a:pt x="557" y="400"/>
                  </a:cubicBezTo>
                  <a:cubicBezTo>
                    <a:pt x="530" y="400"/>
                    <a:pt x="509" y="378"/>
                    <a:pt x="509" y="352"/>
                  </a:cubicBezTo>
                  <a:cubicBezTo>
                    <a:pt x="509" y="325"/>
                    <a:pt x="530" y="304"/>
                    <a:pt x="557" y="304"/>
                  </a:cubicBezTo>
                  <a:cubicBezTo>
                    <a:pt x="583" y="304"/>
                    <a:pt x="605" y="325"/>
                    <a:pt x="605" y="352"/>
                  </a:cubicBezTo>
                  <a:close/>
                  <a:moveTo>
                    <a:pt x="706" y="352"/>
                  </a:moveTo>
                  <a:cubicBezTo>
                    <a:pt x="706" y="378"/>
                    <a:pt x="684" y="400"/>
                    <a:pt x="658" y="400"/>
                  </a:cubicBezTo>
                  <a:cubicBezTo>
                    <a:pt x="631" y="400"/>
                    <a:pt x="610" y="378"/>
                    <a:pt x="610" y="352"/>
                  </a:cubicBezTo>
                  <a:cubicBezTo>
                    <a:pt x="610" y="325"/>
                    <a:pt x="631" y="304"/>
                    <a:pt x="658" y="304"/>
                  </a:cubicBezTo>
                  <a:cubicBezTo>
                    <a:pt x="684" y="304"/>
                    <a:pt x="706" y="325"/>
                    <a:pt x="706" y="352"/>
                  </a:cubicBezTo>
                  <a:close/>
                  <a:moveTo>
                    <a:pt x="808" y="352"/>
                  </a:moveTo>
                  <a:cubicBezTo>
                    <a:pt x="808" y="378"/>
                    <a:pt x="786" y="400"/>
                    <a:pt x="760" y="400"/>
                  </a:cubicBezTo>
                  <a:cubicBezTo>
                    <a:pt x="733" y="400"/>
                    <a:pt x="712" y="378"/>
                    <a:pt x="712" y="352"/>
                  </a:cubicBezTo>
                  <a:cubicBezTo>
                    <a:pt x="712" y="325"/>
                    <a:pt x="733" y="304"/>
                    <a:pt x="760" y="304"/>
                  </a:cubicBezTo>
                  <a:cubicBezTo>
                    <a:pt x="786" y="304"/>
                    <a:pt x="808" y="325"/>
                    <a:pt x="808" y="352"/>
                  </a:cubicBezTo>
                  <a:close/>
                  <a:moveTo>
                    <a:pt x="909" y="352"/>
                  </a:moveTo>
                  <a:cubicBezTo>
                    <a:pt x="909" y="378"/>
                    <a:pt x="887" y="400"/>
                    <a:pt x="861" y="400"/>
                  </a:cubicBezTo>
                  <a:cubicBezTo>
                    <a:pt x="834" y="400"/>
                    <a:pt x="813" y="378"/>
                    <a:pt x="813" y="352"/>
                  </a:cubicBezTo>
                  <a:cubicBezTo>
                    <a:pt x="813" y="325"/>
                    <a:pt x="834" y="304"/>
                    <a:pt x="861" y="304"/>
                  </a:cubicBezTo>
                  <a:cubicBezTo>
                    <a:pt x="887" y="304"/>
                    <a:pt x="909" y="325"/>
                    <a:pt x="909" y="352"/>
                  </a:cubicBezTo>
                  <a:close/>
                  <a:moveTo>
                    <a:pt x="1010" y="352"/>
                  </a:moveTo>
                  <a:cubicBezTo>
                    <a:pt x="1010" y="378"/>
                    <a:pt x="988" y="400"/>
                    <a:pt x="962" y="400"/>
                  </a:cubicBezTo>
                  <a:cubicBezTo>
                    <a:pt x="935" y="400"/>
                    <a:pt x="914" y="378"/>
                    <a:pt x="914" y="352"/>
                  </a:cubicBezTo>
                  <a:cubicBezTo>
                    <a:pt x="914" y="325"/>
                    <a:pt x="935" y="304"/>
                    <a:pt x="962" y="304"/>
                  </a:cubicBezTo>
                  <a:cubicBezTo>
                    <a:pt x="988" y="304"/>
                    <a:pt x="1010" y="325"/>
                    <a:pt x="1010" y="352"/>
                  </a:cubicBezTo>
                  <a:close/>
                  <a:moveTo>
                    <a:pt x="1112" y="352"/>
                  </a:moveTo>
                  <a:cubicBezTo>
                    <a:pt x="1112" y="378"/>
                    <a:pt x="1090" y="400"/>
                    <a:pt x="1064" y="400"/>
                  </a:cubicBezTo>
                  <a:cubicBezTo>
                    <a:pt x="1037" y="400"/>
                    <a:pt x="1016" y="378"/>
                    <a:pt x="1016" y="352"/>
                  </a:cubicBezTo>
                  <a:cubicBezTo>
                    <a:pt x="1016" y="325"/>
                    <a:pt x="1037" y="304"/>
                    <a:pt x="1064" y="304"/>
                  </a:cubicBezTo>
                  <a:cubicBezTo>
                    <a:pt x="1090" y="304"/>
                    <a:pt x="1112" y="325"/>
                    <a:pt x="1112" y="352"/>
                  </a:cubicBezTo>
                  <a:close/>
                  <a:moveTo>
                    <a:pt x="1213" y="352"/>
                  </a:moveTo>
                  <a:cubicBezTo>
                    <a:pt x="1213" y="378"/>
                    <a:pt x="1191" y="400"/>
                    <a:pt x="1165" y="400"/>
                  </a:cubicBezTo>
                  <a:cubicBezTo>
                    <a:pt x="1138" y="400"/>
                    <a:pt x="1117" y="378"/>
                    <a:pt x="1117" y="352"/>
                  </a:cubicBezTo>
                  <a:cubicBezTo>
                    <a:pt x="1117" y="325"/>
                    <a:pt x="1138" y="304"/>
                    <a:pt x="1165" y="304"/>
                  </a:cubicBezTo>
                  <a:cubicBezTo>
                    <a:pt x="1191" y="304"/>
                    <a:pt x="1213" y="325"/>
                    <a:pt x="1213" y="352"/>
                  </a:cubicBezTo>
                  <a:close/>
                  <a:moveTo>
                    <a:pt x="1314" y="352"/>
                  </a:moveTo>
                  <a:cubicBezTo>
                    <a:pt x="1314" y="378"/>
                    <a:pt x="1292" y="400"/>
                    <a:pt x="1266" y="400"/>
                  </a:cubicBezTo>
                  <a:cubicBezTo>
                    <a:pt x="1239" y="400"/>
                    <a:pt x="1218" y="378"/>
                    <a:pt x="1218" y="352"/>
                  </a:cubicBezTo>
                  <a:cubicBezTo>
                    <a:pt x="1218" y="325"/>
                    <a:pt x="1239" y="304"/>
                    <a:pt x="1266" y="304"/>
                  </a:cubicBezTo>
                  <a:cubicBezTo>
                    <a:pt x="1292" y="304"/>
                    <a:pt x="1314" y="325"/>
                    <a:pt x="1314" y="352"/>
                  </a:cubicBezTo>
                  <a:close/>
                  <a:moveTo>
                    <a:pt x="1416" y="352"/>
                  </a:moveTo>
                  <a:cubicBezTo>
                    <a:pt x="1416" y="378"/>
                    <a:pt x="1394" y="400"/>
                    <a:pt x="1368" y="400"/>
                  </a:cubicBezTo>
                  <a:cubicBezTo>
                    <a:pt x="1341" y="400"/>
                    <a:pt x="1320" y="378"/>
                    <a:pt x="1320" y="352"/>
                  </a:cubicBezTo>
                  <a:cubicBezTo>
                    <a:pt x="1320" y="325"/>
                    <a:pt x="1341" y="304"/>
                    <a:pt x="1368" y="304"/>
                  </a:cubicBezTo>
                  <a:cubicBezTo>
                    <a:pt x="1394" y="304"/>
                    <a:pt x="1416" y="325"/>
                    <a:pt x="1416" y="352"/>
                  </a:cubicBezTo>
                  <a:close/>
                  <a:moveTo>
                    <a:pt x="1517" y="352"/>
                  </a:moveTo>
                  <a:cubicBezTo>
                    <a:pt x="1517" y="378"/>
                    <a:pt x="1495" y="400"/>
                    <a:pt x="1469" y="400"/>
                  </a:cubicBezTo>
                  <a:cubicBezTo>
                    <a:pt x="1442" y="400"/>
                    <a:pt x="1421" y="378"/>
                    <a:pt x="1421" y="352"/>
                  </a:cubicBezTo>
                  <a:cubicBezTo>
                    <a:pt x="1421" y="325"/>
                    <a:pt x="1442" y="304"/>
                    <a:pt x="1469" y="304"/>
                  </a:cubicBezTo>
                  <a:cubicBezTo>
                    <a:pt x="1495" y="304"/>
                    <a:pt x="1517" y="325"/>
                    <a:pt x="1517" y="352"/>
                  </a:cubicBezTo>
                  <a:close/>
                  <a:moveTo>
                    <a:pt x="1618" y="352"/>
                  </a:moveTo>
                  <a:cubicBezTo>
                    <a:pt x="1618" y="378"/>
                    <a:pt x="1596" y="400"/>
                    <a:pt x="1570" y="400"/>
                  </a:cubicBezTo>
                  <a:cubicBezTo>
                    <a:pt x="1543" y="400"/>
                    <a:pt x="1522" y="378"/>
                    <a:pt x="1522" y="352"/>
                  </a:cubicBezTo>
                  <a:cubicBezTo>
                    <a:pt x="1522" y="325"/>
                    <a:pt x="1543" y="304"/>
                    <a:pt x="1570" y="304"/>
                  </a:cubicBezTo>
                  <a:cubicBezTo>
                    <a:pt x="1596" y="304"/>
                    <a:pt x="1618" y="325"/>
                    <a:pt x="1618" y="352"/>
                  </a:cubicBezTo>
                  <a:close/>
                  <a:moveTo>
                    <a:pt x="1720" y="352"/>
                  </a:moveTo>
                  <a:cubicBezTo>
                    <a:pt x="1720" y="378"/>
                    <a:pt x="1698" y="400"/>
                    <a:pt x="1672" y="400"/>
                  </a:cubicBezTo>
                  <a:cubicBezTo>
                    <a:pt x="1645" y="400"/>
                    <a:pt x="1624" y="378"/>
                    <a:pt x="1624" y="352"/>
                  </a:cubicBezTo>
                  <a:cubicBezTo>
                    <a:pt x="1624" y="325"/>
                    <a:pt x="1645" y="304"/>
                    <a:pt x="1672" y="304"/>
                  </a:cubicBezTo>
                  <a:cubicBezTo>
                    <a:pt x="1698" y="304"/>
                    <a:pt x="1720" y="325"/>
                    <a:pt x="1720" y="352"/>
                  </a:cubicBezTo>
                  <a:close/>
                  <a:moveTo>
                    <a:pt x="1821" y="352"/>
                  </a:moveTo>
                  <a:cubicBezTo>
                    <a:pt x="1821" y="378"/>
                    <a:pt x="1799" y="400"/>
                    <a:pt x="1773" y="400"/>
                  </a:cubicBezTo>
                  <a:cubicBezTo>
                    <a:pt x="1746" y="400"/>
                    <a:pt x="1725" y="378"/>
                    <a:pt x="1725" y="352"/>
                  </a:cubicBezTo>
                  <a:cubicBezTo>
                    <a:pt x="1725" y="325"/>
                    <a:pt x="1746" y="304"/>
                    <a:pt x="1773" y="304"/>
                  </a:cubicBezTo>
                  <a:cubicBezTo>
                    <a:pt x="1799" y="304"/>
                    <a:pt x="1821" y="325"/>
                    <a:pt x="1821" y="352"/>
                  </a:cubicBezTo>
                  <a:close/>
                  <a:moveTo>
                    <a:pt x="1922" y="352"/>
                  </a:moveTo>
                  <a:cubicBezTo>
                    <a:pt x="1922" y="378"/>
                    <a:pt x="1900" y="400"/>
                    <a:pt x="1874" y="400"/>
                  </a:cubicBezTo>
                  <a:cubicBezTo>
                    <a:pt x="1847" y="400"/>
                    <a:pt x="1826" y="378"/>
                    <a:pt x="1826" y="352"/>
                  </a:cubicBezTo>
                  <a:cubicBezTo>
                    <a:pt x="1826" y="325"/>
                    <a:pt x="1847" y="304"/>
                    <a:pt x="1874" y="304"/>
                  </a:cubicBezTo>
                  <a:cubicBezTo>
                    <a:pt x="1900" y="304"/>
                    <a:pt x="1922" y="325"/>
                    <a:pt x="1922" y="352"/>
                  </a:cubicBezTo>
                  <a:close/>
                  <a:moveTo>
                    <a:pt x="2024" y="352"/>
                  </a:moveTo>
                  <a:cubicBezTo>
                    <a:pt x="2024" y="378"/>
                    <a:pt x="2002" y="400"/>
                    <a:pt x="1976" y="400"/>
                  </a:cubicBezTo>
                  <a:cubicBezTo>
                    <a:pt x="1949" y="400"/>
                    <a:pt x="1928" y="378"/>
                    <a:pt x="1928" y="352"/>
                  </a:cubicBezTo>
                  <a:cubicBezTo>
                    <a:pt x="1928" y="325"/>
                    <a:pt x="1949" y="304"/>
                    <a:pt x="1976" y="304"/>
                  </a:cubicBezTo>
                  <a:cubicBezTo>
                    <a:pt x="2002" y="304"/>
                    <a:pt x="2024" y="325"/>
                    <a:pt x="2024" y="352"/>
                  </a:cubicBezTo>
                  <a:close/>
                  <a:moveTo>
                    <a:pt x="2125" y="352"/>
                  </a:moveTo>
                  <a:cubicBezTo>
                    <a:pt x="2125" y="378"/>
                    <a:pt x="2103" y="400"/>
                    <a:pt x="2077" y="400"/>
                  </a:cubicBezTo>
                  <a:cubicBezTo>
                    <a:pt x="2050" y="400"/>
                    <a:pt x="2029" y="378"/>
                    <a:pt x="2029" y="352"/>
                  </a:cubicBezTo>
                  <a:cubicBezTo>
                    <a:pt x="2029" y="325"/>
                    <a:pt x="2050" y="304"/>
                    <a:pt x="2077" y="304"/>
                  </a:cubicBezTo>
                  <a:cubicBezTo>
                    <a:pt x="2103" y="304"/>
                    <a:pt x="2125" y="325"/>
                    <a:pt x="2125" y="352"/>
                  </a:cubicBezTo>
                  <a:close/>
                  <a:moveTo>
                    <a:pt x="2226" y="352"/>
                  </a:moveTo>
                  <a:cubicBezTo>
                    <a:pt x="2226" y="378"/>
                    <a:pt x="2204" y="400"/>
                    <a:pt x="2178" y="400"/>
                  </a:cubicBezTo>
                  <a:cubicBezTo>
                    <a:pt x="2151" y="400"/>
                    <a:pt x="2130" y="378"/>
                    <a:pt x="2130" y="352"/>
                  </a:cubicBezTo>
                  <a:cubicBezTo>
                    <a:pt x="2130" y="325"/>
                    <a:pt x="2151" y="304"/>
                    <a:pt x="2178" y="304"/>
                  </a:cubicBezTo>
                  <a:cubicBezTo>
                    <a:pt x="2204" y="304"/>
                    <a:pt x="2226" y="325"/>
                    <a:pt x="2226" y="352"/>
                  </a:cubicBezTo>
                  <a:close/>
                  <a:moveTo>
                    <a:pt x="2328" y="352"/>
                  </a:moveTo>
                  <a:cubicBezTo>
                    <a:pt x="2328" y="378"/>
                    <a:pt x="2306" y="400"/>
                    <a:pt x="2280" y="400"/>
                  </a:cubicBezTo>
                  <a:cubicBezTo>
                    <a:pt x="2253" y="400"/>
                    <a:pt x="2232" y="378"/>
                    <a:pt x="2232" y="352"/>
                  </a:cubicBezTo>
                  <a:cubicBezTo>
                    <a:pt x="2232" y="325"/>
                    <a:pt x="2253" y="304"/>
                    <a:pt x="2280" y="304"/>
                  </a:cubicBezTo>
                  <a:cubicBezTo>
                    <a:pt x="2306" y="304"/>
                    <a:pt x="2328" y="325"/>
                    <a:pt x="2328" y="352"/>
                  </a:cubicBezTo>
                  <a:close/>
                  <a:moveTo>
                    <a:pt x="2429" y="352"/>
                  </a:moveTo>
                  <a:cubicBezTo>
                    <a:pt x="2429" y="378"/>
                    <a:pt x="2407" y="400"/>
                    <a:pt x="2381" y="400"/>
                  </a:cubicBezTo>
                  <a:cubicBezTo>
                    <a:pt x="2354" y="400"/>
                    <a:pt x="2333" y="378"/>
                    <a:pt x="2333" y="352"/>
                  </a:cubicBezTo>
                  <a:cubicBezTo>
                    <a:pt x="2333" y="325"/>
                    <a:pt x="2354" y="304"/>
                    <a:pt x="2381" y="304"/>
                  </a:cubicBezTo>
                  <a:cubicBezTo>
                    <a:pt x="2407" y="304"/>
                    <a:pt x="2429" y="325"/>
                    <a:pt x="2429" y="352"/>
                  </a:cubicBezTo>
                  <a:close/>
                  <a:moveTo>
                    <a:pt x="2530" y="352"/>
                  </a:moveTo>
                  <a:cubicBezTo>
                    <a:pt x="2530" y="378"/>
                    <a:pt x="2508" y="400"/>
                    <a:pt x="2482" y="400"/>
                  </a:cubicBezTo>
                  <a:cubicBezTo>
                    <a:pt x="2455" y="400"/>
                    <a:pt x="2434" y="378"/>
                    <a:pt x="2434" y="352"/>
                  </a:cubicBezTo>
                  <a:cubicBezTo>
                    <a:pt x="2434" y="325"/>
                    <a:pt x="2455" y="304"/>
                    <a:pt x="2482" y="304"/>
                  </a:cubicBezTo>
                  <a:cubicBezTo>
                    <a:pt x="2508" y="304"/>
                    <a:pt x="2530" y="325"/>
                    <a:pt x="2530" y="352"/>
                  </a:cubicBezTo>
                  <a:close/>
                  <a:moveTo>
                    <a:pt x="2632" y="352"/>
                  </a:moveTo>
                  <a:cubicBezTo>
                    <a:pt x="2632" y="378"/>
                    <a:pt x="2610" y="400"/>
                    <a:pt x="2584" y="400"/>
                  </a:cubicBezTo>
                  <a:cubicBezTo>
                    <a:pt x="2557" y="400"/>
                    <a:pt x="2536" y="378"/>
                    <a:pt x="2536" y="352"/>
                  </a:cubicBezTo>
                  <a:cubicBezTo>
                    <a:pt x="2536" y="325"/>
                    <a:pt x="2557" y="304"/>
                    <a:pt x="2584" y="304"/>
                  </a:cubicBezTo>
                  <a:cubicBezTo>
                    <a:pt x="2610" y="304"/>
                    <a:pt x="2632" y="325"/>
                    <a:pt x="2632" y="352"/>
                  </a:cubicBezTo>
                  <a:close/>
                  <a:moveTo>
                    <a:pt x="2733" y="352"/>
                  </a:moveTo>
                  <a:cubicBezTo>
                    <a:pt x="2733" y="378"/>
                    <a:pt x="2711" y="400"/>
                    <a:pt x="2685" y="400"/>
                  </a:cubicBezTo>
                  <a:cubicBezTo>
                    <a:pt x="2658" y="400"/>
                    <a:pt x="2637" y="378"/>
                    <a:pt x="2637" y="352"/>
                  </a:cubicBezTo>
                  <a:cubicBezTo>
                    <a:pt x="2637" y="325"/>
                    <a:pt x="2658" y="304"/>
                    <a:pt x="2685" y="304"/>
                  </a:cubicBezTo>
                  <a:cubicBezTo>
                    <a:pt x="2711" y="304"/>
                    <a:pt x="2733" y="325"/>
                    <a:pt x="2733" y="352"/>
                  </a:cubicBezTo>
                  <a:close/>
                  <a:moveTo>
                    <a:pt x="2834" y="352"/>
                  </a:moveTo>
                  <a:cubicBezTo>
                    <a:pt x="2834" y="378"/>
                    <a:pt x="2812" y="400"/>
                    <a:pt x="2786" y="400"/>
                  </a:cubicBezTo>
                  <a:cubicBezTo>
                    <a:pt x="2759" y="400"/>
                    <a:pt x="2738" y="378"/>
                    <a:pt x="2738" y="352"/>
                  </a:cubicBezTo>
                  <a:cubicBezTo>
                    <a:pt x="2738" y="325"/>
                    <a:pt x="2759" y="304"/>
                    <a:pt x="2786" y="304"/>
                  </a:cubicBezTo>
                  <a:cubicBezTo>
                    <a:pt x="2812" y="304"/>
                    <a:pt x="2834" y="325"/>
                    <a:pt x="2834" y="352"/>
                  </a:cubicBezTo>
                  <a:close/>
                  <a:moveTo>
                    <a:pt x="2936" y="352"/>
                  </a:moveTo>
                  <a:cubicBezTo>
                    <a:pt x="2936" y="378"/>
                    <a:pt x="2914" y="400"/>
                    <a:pt x="2888" y="400"/>
                  </a:cubicBezTo>
                  <a:cubicBezTo>
                    <a:pt x="2861" y="400"/>
                    <a:pt x="2840" y="378"/>
                    <a:pt x="2840" y="352"/>
                  </a:cubicBezTo>
                  <a:cubicBezTo>
                    <a:pt x="2840" y="325"/>
                    <a:pt x="2861" y="304"/>
                    <a:pt x="2888" y="304"/>
                  </a:cubicBezTo>
                  <a:cubicBezTo>
                    <a:pt x="2914" y="304"/>
                    <a:pt x="2936" y="325"/>
                    <a:pt x="2936" y="352"/>
                  </a:cubicBezTo>
                  <a:close/>
                  <a:moveTo>
                    <a:pt x="3037" y="352"/>
                  </a:moveTo>
                  <a:cubicBezTo>
                    <a:pt x="3037" y="378"/>
                    <a:pt x="3015" y="400"/>
                    <a:pt x="2989" y="400"/>
                  </a:cubicBezTo>
                  <a:cubicBezTo>
                    <a:pt x="2962" y="400"/>
                    <a:pt x="2941" y="378"/>
                    <a:pt x="2941" y="352"/>
                  </a:cubicBezTo>
                  <a:cubicBezTo>
                    <a:pt x="2941" y="325"/>
                    <a:pt x="2962" y="304"/>
                    <a:pt x="2989" y="304"/>
                  </a:cubicBezTo>
                  <a:cubicBezTo>
                    <a:pt x="3015" y="304"/>
                    <a:pt x="3037" y="325"/>
                    <a:pt x="3037" y="352"/>
                  </a:cubicBezTo>
                  <a:close/>
                  <a:moveTo>
                    <a:pt x="3138" y="352"/>
                  </a:moveTo>
                  <a:cubicBezTo>
                    <a:pt x="3138" y="378"/>
                    <a:pt x="3116" y="400"/>
                    <a:pt x="3090" y="400"/>
                  </a:cubicBezTo>
                  <a:cubicBezTo>
                    <a:pt x="3063" y="400"/>
                    <a:pt x="3042" y="378"/>
                    <a:pt x="3042" y="352"/>
                  </a:cubicBezTo>
                  <a:cubicBezTo>
                    <a:pt x="3042" y="325"/>
                    <a:pt x="3063" y="304"/>
                    <a:pt x="3090" y="304"/>
                  </a:cubicBezTo>
                  <a:cubicBezTo>
                    <a:pt x="3116" y="304"/>
                    <a:pt x="3138" y="325"/>
                    <a:pt x="3138" y="352"/>
                  </a:cubicBezTo>
                  <a:close/>
                  <a:moveTo>
                    <a:pt x="3240" y="352"/>
                  </a:moveTo>
                  <a:cubicBezTo>
                    <a:pt x="3240" y="378"/>
                    <a:pt x="3218" y="400"/>
                    <a:pt x="3192" y="400"/>
                  </a:cubicBezTo>
                  <a:cubicBezTo>
                    <a:pt x="3165" y="400"/>
                    <a:pt x="3144" y="378"/>
                    <a:pt x="3144" y="352"/>
                  </a:cubicBezTo>
                  <a:cubicBezTo>
                    <a:pt x="3144" y="325"/>
                    <a:pt x="3165" y="304"/>
                    <a:pt x="3192" y="304"/>
                  </a:cubicBezTo>
                  <a:cubicBezTo>
                    <a:pt x="3218" y="304"/>
                    <a:pt x="3240" y="325"/>
                    <a:pt x="3240" y="352"/>
                  </a:cubicBezTo>
                  <a:close/>
                  <a:moveTo>
                    <a:pt x="3341" y="352"/>
                  </a:moveTo>
                  <a:cubicBezTo>
                    <a:pt x="3341" y="378"/>
                    <a:pt x="3319" y="400"/>
                    <a:pt x="3293" y="400"/>
                  </a:cubicBezTo>
                  <a:cubicBezTo>
                    <a:pt x="3266" y="400"/>
                    <a:pt x="3245" y="378"/>
                    <a:pt x="3245" y="352"/>
                  </a:cubicBezTo>
                  <a:cubicBezTo>
                    <a:pt x="3245" y="325"/>
                    <a:pt x="3266" y="304"/>
                    <a:pt x="3293" y="304"/>
                  </a:cubicBezTo>
                  <a:cubicBezTo>
                    <a:pt x="3319" y="304"/>
                    <a:pt x="3341" y="325"/>
                    <a:pt x="3341" y="352"/>
                  </a:cubicBezTo>
                  <a:close/>
                  <a:moveTo>
                    <a:pt x="3442" y="352"/>
                  </a:moveTo>
                  <a:cubicBezTo>
                    <a:pt x="3442" y="378"/>
                    <a:pt x="3420" y="400"/>
                    <a:pt x="3394" y="400"/>
                  </a:cubicBezTo>
                  <a:cubicBezTo>
                    <a:pt x="3367" y="400"/>
                    <a:pt x="3346" y="378"/>
                    <a:pt x="3346" y="352"/>
                  </a:cubicBezTo>
                  <a:cubicBezTo>
                    <a:pt x="3346" y="325"/>
                    <a:pt x="3367" y="304"/>
                    <a:pt x="3394" y="304"/>
                  </a:cubicBezTo>
                  <a:cubicBezTo>
                    <a:pt x="3420" y="304"/>
                    <a:pt x="3442" y="325"/>
                    <a:pt x="3442" y="352"/>
                  </a:cubicBezTo>
                  <a:close/>
                  <a:moveTo>
                    <a:pt x="3544" y="352"/>
                  </a:moveTo>
                  <a:cubicBezTo>
                    <a:pt x="3544" y="378"/>
                    <a:pt x="3522" y="400"/>
                    <a:pt x="3496" y="400"/>
                  </a:cubicBezTo>
                  <a:cubicBezTo>
                    <a:pt x="3469" y="400"/>
                    <a:pt x="3448" y="378"/>
                    <a:pt x="3448" y="352"/>
                  </a:cubicBezTo>
                  <a:cubicBezTo>
                    <a:pt x="3448" y="325"/>
                    <a:pt x="3469" y="304"/>
                    <a:pt x="3496" y="304"/>
                  </a:cubicBezTo>
                  <a:cubicBezTo>
                    <a:pt x="3522" y="304"/>
                    <a:pt x="3544" y="325"/>
                    <a:pt x="3544" y="352"/>
                  </a:cubicBezTo>
                  <a:close/>
                  <a:moveTo>
                    <a:pt x="3645" y="352"/>
                  </a:moveTo>
                  <a:cubicBezTo>
                    <a:pt x="3645" y="378"/>
                    <a:pt x="3623" y="400"/>
                    <a:pt x="3597" y="400"/>
                  </a:cubicBezTo>
                  <a:cubicBezTo>
                    <a:pt x="3570" y="400"/>
                    <a:pt x="3549" y="378"/>
                    <a:pt x="3549" y="352"/>
                  </a:cubicBezTo>
                  <a:cubicBezTo>
                    <a:pt x="3549" y="325"/>
                    <a:pt x="3570" y="304"/>
                    <a:pt x="3597" y="304"/>
                  </a:cubicBezTo>
                  <a:cubicBezTo>
                    <a:pt x="3623" y="304"/>
                    <a:pt x="3645" y="325"/>
                    <a:pt x="3645" y="352"/>
                  </a:cubicBezTo>
                  <a:close/>
                  <a:moveTo>
                    <a:pt x="3746" y="352"/>
                  </a:moveTo>
                  <a:cubicBezTo>
                    <a:pt x="3746" y="378"/>
                    <a:pt x="3724" y="400"/>
                    <a:pt x="3698" y="400"/>
                  </a:cubicBezTo>
                  <a:cubicBezTo>
                    <a:pt x="3671" y="400"/>
                    <a:pt x="3650" y="378"/>
                    <a:pt x="3650" y="352"/>
                  </a:cubicBezTo>
                  <a:cubicBezTo>
                    <a:pt x="3650" y="325"/>
                    <a:pt x="3671" y="304"/>
                    <a:pt x="3698" y="304"/>
                  </a:cubicBezTo>
                  <a:cubicBezTo>
                    <a:pt x="3724" y="304"/>
                    <a:pt x="3746" y="325"/>
                    <a:pt x="3746" y="352"/>
                  </a:cubicBezTo>
                  <a:close/>
                  <a:moveTo>
                    <a:pt x="3848" y="352"/>
                  </a:moveTo>
                  <a:cubicBezTo>
                    <a:pt x="3848" y="378"/>
                    <a:pt x="3826" y="400"/>
                    <a:pt x="3800" y="400"/>
                  </a:cubicBezTo>
                  <a:cubicBezTo>
                    <a:pt x="3773" y="400"/>
                    <a:pt x="3752" y="378"/>
                    <a:pt x="3752" y="352"/>
                  </a:cubicBezTo>
                  <a:cubicBezTo>
                    <a:pt x="3752" y="325"/>
                    <a:pt x="3773" y="304"/>
                    <a:pt x="3800" y="304"/>
                  </a:cubicBezTo>
                  <a:cubicBezTo>
                    <a:pt x="3826" y="304"/>
                    <a:pt x="3848" y="325"/>
                    <a:pt x="3848" y="352"/>
                  </a:cubicBezTo>
                  <a:close/>
                  <a:moveTo>
                    <a:pt x="3949" y="352"/>
                  </a:moveTo>
                  <a:cubicBezTo>
                    <a:pt x="3949" y="378"/>
                    <a:pt x="3927" y="400"/>
                    <a:pt x="3901" y="400"/>
                  </a:cubicBezTo>
                  <a:cubicBezTo>
                    <a:pt x="3874" y="400"/>
                    <a:pt x="3853" y="378"/>
                    <a:pt x="3853" y="352"/>
                  </a:cubicBezTo>
                  <a:cubicBezTo>
                    <a:pt x="3853" y="325"/>
                    <a:pt x="3874" y="304"/>
                    <a:pt x="3901" y="304"/>
                  </a:cubicBezTo>
                  <a:cubicBezTo>
                    <a:pt x="3927" y="304"/>
                    <a:pt x="3949" y="325"/>
                    <a:pt x="3949" y="352"/>
                  </a:cubicBezTo>
                  <a:close/>
                  <a:moveTo>
                    <a:pt x="4050" y="352"/>
                  </a:moveTo>
                  <a:cubicBezTo>
                    <a:pt x="4050" y="378"/>
                    <a:pt x="4028" y="400"/>
                    <a:pt x="4002" y="400"/>
                  </a:cubicBezTo>
                  <a:cubicBezTo>
                    <a:pt x="3975" y="400"/>
                    <a:pt x="3954" y="378"/>
                    <a:pt x="3954" y="352"/>
                  </a:cubicBezTo>
                  <a:cubicBezTo>
                    <a:pt x="3954" y="325"/>
                    <a:pt x="3975" y="304"/>
                    <a:pt x="4002" y="304"/>
                  </a:cubicBezTo>
                  <a:cubicBezTo>
                    <a:pt x="4028" y="304"/>
                    <a:pt x="4050" y="325"/>
                    <a:pt x="4050" y="352"/>
                  </a:cubicBezTo>
                  <a:close/>
                  <a:moveTo>
                    <a:pt x="4152" y="352"/>
                  </a:moveTo>
                  <a:cubicBezTo>
                    <a:pt x="4152" y="378"/>
                    <a:pt x="4130" y="400"/>
                    <a:pt x="4104" y="400"/>
                  </a:cubicBezTo>
                  <a:cubicBezTo>
                    <a:pt x="4077" y="400"/>
                    <a:pt x="4056" y="378"/>
                    <a:pt x="4056" y="352"/>
                  </a:cubicBezTo>
                  <a:cubicBezTo>
                    <a:pt x="4056" y="325"/>
                    <a:pt x="4077" y="304"/>
                    <a:pt x="4104" y="304"/>
                  </a:cubicBezTo>
                  <a:cubicBezTo>
                    <a:pt x="4130" y="304"/>
                    <a:pt x="4152" y="325"/>
                    <a:pt x="4152" y="352"/>
                  </a:cubicBezTo>
                  <a:close/>
                  <a:moveTo>
                    <a:pt x="4253" y="352"/>
                  </a:moveTo>
                  <a:cubicBezTo>
                    <a:pt x="4253" y="378"/>
                    <a:pt x="4231" y="400"/>
                    <a:pt x="4205" y="400"/>
                  </a:cubicBezTo>
                  <a:cubicBezTo>
                    <a:pt x="4178" y="400"/>
                    <a:pt x="4157" y="378"/>
                    <a:pt x="4157" y="352"/>
                  </a:cubicBezTo>
                  <a:cubicBezTo>
                    <a:pt x="4157" y="325"/>
                    <a:pt x="4178" y="304"/>
                    <a:pt x="4205" y="304"/>
                  </a:cubicBezTo>
                  <a:cubicBezTo>
                    <a:pt x="4231" y="304"/>
                    <a:pt x="4253" y="325"/>
                    <a:pt x="4253" y="352"/>
                  </a:cubicBezTo>
                  <a:close/>
                  <a:moveTo>
                    <a:pt x="4354" y="352"/>
                  </a:moveTo>
                  <a:cubicBezTo>
                    <a:pt x="4354" y="378"/>
                    <a:pt x="4332" y="400"/>
                    <a:pt x="4306" y="400"/>
                  </a:cubicBezTo>
                  <a:cubicBezTo>
                    <a:pt x="4279" y="400"/>
                    <a:pt x="4258" y="378"/>
                    <a:pt x="4258" y="352"/>
                  </a:cubicBezTo>
                  <a:cubicBezTo>
                    <a:pt x="4258" y="325"/>
                    <a:pt x="4279" y="304"/>
                    <a:pt x="4306" y="304"/>
                  </a:cubicBezTo>
                  <a:cubicBezTo>
                    <a:pt x="4332" y="304"/>
                    <a:pt x="4354" y="325"/>
                    <a:pt x="4354" y="352"/>
                  </a:cubicBezTo>
                  <a:close/>
                  <a:moveTo>
                    <a:pt x="4456" y="352"/>
                  </a:moveTo>
                  <a:cubicBezTo>
                    <a:pt x="4456" y="378"/>
                    <a:pt x="4434" y="400"/>
                    <a:pt x="4408" y="400"/>
                  </a:cubicBezTo>
                  <a:cubicBezTo>
                    <a:pt x="4381" y="400"/>
                    <a:pt x="4360" y="378"/>
                    <a:pt x="4360" y="352"/>
                  </a:cubicBezTo>
                  <a:cubicBezTo>
                    <a:pt x="4360" y="325"/>
                    <a:pt x="4381" y="304"/>
                    <a:pt x="4408" y="304"/>
                  </a:cubicBezTo>
                  <a:cubicBezTo>
                    <a:pt x="4434" y="304"/>
                    <a:pt x="4456" y="325"/>
                    <a:pt x="4456" y="352"/>
                  </a:cubicBezTo>
                  <a:close/>
                  <a:moveTo>
                    <a:pt x="4557" y="352"/>
                  </a:moveTo>
                  <a:cubicBezTo>
                    <a:pt x="4557" y="378"/>
                    <a:pt x="4535" y="400"/>
                    <a:pt x="4509" y="400"/>
                  </a:cubicBezTo>
                  <a:cubicBezTo>
                    <a:pt x="4482" y="400"/>
                    <a:pt x="4461" y="378"/>
                    <a:pt x="4461" y="352"/>
                  </a:cubicBezTo>
                  <a:cubicBezTo>
                    <a:pt x="4461" y="325"/>
                    <a:pt x="4482" y="304"/>
                    <a:pt x="4509" y="304"/>
                  </a:cubicBezTo>
                  <a:cubicBezTo>
                    <a:pt x="4535" y="304"/>
                    <a:pt x="4557" y="325"/>
                    <a:pt x="4557" y="352"/>
                  </a:cubicBezTo>
                  <a:close/>
                  <a:moveTo>
                    <a:pt x="4658" y="352"/>
                  </a:moveTo>
                  <a:cubicBezTo>
                    <a:pt x="4658" y="378"/>
                    <a:pt x="4636" y="400"/>
                    <a:pt x="4610" y="400"/>
                  </a:cubicBezTo>
                  <a:cubicBezTo>
                    <a:pt x="4583" y="400"/>
                    <a:pt x="4562" y="378"/>
                    <a:pt x="4562" y="352"/>
                  </a:cubicBezTo>
                  <a:cubicBezTo>
                    <a:pt x="4562" y="325"/>
                    <a:pt x="4583" y="304"/>
                    <a:pt x="4610" y="304"/>
                  </a:cubicBezTo>
                  <a:cubicBezTo>
                    <a:pt x="4636" y="304"/>
                    <a:pt x="4658" y="325"/>
                    <a:pt x="4658" y="352"/>
                  </a:cubicBezTo>
                  <a:close/>
                  <a:moveTo>
                    <a:pt x="4760" y="352"/>
                  </a:moveTo>
                  <a:cubicBezTo>
                    <a:pt x="4760" y="378"/>
                    <a:pt x="4738" y="400"/>
                    <a:pt x="4712" y="400"/>
                  </a:cubicBezTo>
                  <a:cubicBezTo>
                    <a:pt x="4685" y="400"/>
                    <a:pt x="4664" y="378"/>
                    <a:pt x="4664" y="352"/>
                  </a:cubicBezTo>
                  <a:cubicBezTo>
                    <a:pt x="4664" y="325"/>
                    <a:pt x="4685" y="304"/>
                    <a:pt x="4712" y="304"/>
                  </a:cubicBezTo>
                  <a:cubicBezTo>
                    <a:pt x="4738" y="304"/>
                    <a:pt x="4760" y="325"/>
                    <a:pt x="4760" y="352"/>
                  </a:cubicBezTo>
                  <a:close/>
                  <a:moveTo>
                    <a:pt x="4861" y="352"/>
                  </a:moveTo>
                  <a:cubicBezTo>
                    <a:pt x="4861" y="378"/>
                    <a:pt x="4839" y="400"/>
                    <a:pt x="4813" y="400"/>
                  </a:cubicBezTo>
                  <a:cubicBezTo>
                    <a:pt x="4786" y="400"/>
                    <a:pt x="4765" y="378"/>
                    <a:pt x="4765" y="352"/>
                  </a:cubicBezTo>
                  <a:cubicBezTo>
                    <a:pt x="4765" y="325"/>
                    <a:pt x="4786" y="304"/>
                    <a:pt x="4813" y="304"/>
                  </a:cubicBezTo>
                  <a:cubicBezTo>
                    <a:pt x="4839" y="304"/>
                    <a:pt x="4861" y="325"/>
                    <a:pt x="4861" y="352"/>
                  </a:cubicBezTo>
                  <a:close/>
                  <a:moveTo>
                    <a:pt x="4962" y="352"/>
                  </a:moveTo>
                  <a:cubicBezTo>
                    <a:pt x="4962" y="378"/>
                    <a:pt x="4940" y="400"/>
                    <a:pt x="4914" y="400"/>
                  </a:cubicBezTo>
                  <a:cubicBezTo>
                    <a:pt x="4887" y="400"/>
                    <a:pt x="4866" y="378"/>
                    <a:pt x="4866" y="352"/>
                  </a:cubicBezTo>
                  <a:cubicBezTo>
                    <a:pt x="4866" y="325"/>
                    <a:pt x="4887" y="304"/>
                    <a:pt x="4914" y="304"/>
                  </a:cubicBezTo>
                  <a:cubicBezTo>
                    <a:pt x="4940" y="304"/>
                    <a:pt x="4962" y="325"/>
                    <a:pt x="4962" y="352"/>
                  </a:cubicBezTo>
                  <a:close/>
                  <a:moveTo>
                    <a:pt x="5064" y="352"/>
                  </a:moveTo>
                  <a:cubicBezTo>
                    <a:pt x="5064" y="378"/>
                    <a:pt x="5042" y="400"/>
                    <a:pt x="5016" y="400"/>
                  </a:cubicBezTo>
                  <a:cubicBezTo>
                    <a:pt x="4989" y="400"/>
                    <a:pt x="4968" y="378"/>
                    <a:pt x="4968" y="352"/>
                  </a:cubicBezTo>
                  <a:cubicBezTo>
                    <a:pt x="4968" y="325"/>
                    <a:pt x="4989" y="304"/>
                    <a:pt x="5016" y="304"/>
                  </a:cubicBezTo>
                  <a:cubicBezTo>
                    <a:pt x="5042" y="304"/>
                    <a:pt x="5064" y="325"/>
                    <a:pt x="5064" y="352"/>
                  </a:cubicBezTo>
                  <a:close/>
                  <a:moveTo>
                    <a:pt x="5165" y="352"/>
                  </a:moveTo>
                  <a:cubicBezTo>
                    <a:pt x="5165" y="378"/>
                    <a:pt x="5143" y="400"/>
                    <a:pt x="5117" y="400"/>
                  </a:cubicBezTo>
                  <a:cubicBezTo>
                    <a:pt x="5090" y="400"/>
                    <a:pt x="5069" y="378"/>
                    <a:pt x="5069" y="352"/>
                  </a:cubicBezTo>
                  <a:cubicBezTo>
                    <a:pt x="5069" y="325"/>
                    <a:pt x="5090" y="304"/>
                    <a:pt x="5117" y="304"/>
                  </a:cubicBezTo>
                  <a:cubicBezTo>
                    <a:pt x="5143" y="304"/>
                    <a:pt x="5165" y="325"/>
                    <a:pt x="5165" y="352"/>
                  </a:cubicBezTo>
                  <a:close/>
                  <a:moveTo>
                    <a:pt x="5266" y="352"/>
                  </a:moveTo>
                  <a:cubicBezTo>
                    <a:pt x="5266" y="378"/>
                    <a:pt x="5244" y="400"/>
                    <a:pt x="5218" y="400"/>
                  </a:cubicBezTo>
                  <a:cubicBezTo>
                    <a:pt x="5191" y="400"/>
                    <a:pt x="5170" y="378"/>
                    <a:pt x="5170" y="352"/>
                  </a:cubicBezTo>
                  <a:cubicBezTo>
                    <a:pt x="5170" y="325"/>
                    <a:pt x="5191" y="304"/>
                    <a:pt x="5218" y="304"/>
                  </a:cubicBezTo>
                  <a:cubicBezTo>
                    <a:pt x="5244" y="304"/>
                    <a:pt x="5266" y="325"/>
                    <a:pt x="5266" y="352"/>
                  </a:cubicBezTo>
                  <a:close/>
                  <a:moveTo>
                    <a:pt x="5368" y="352"/>
                  </a:moveTo>
                  <a:cubicBezTo>
                    <a:pt x="5368" y="378"/>
                    <a:pt x="5346" y="400"/>
                    <a:pt x="5320" y="400"/>
                  </a:cubicBezTo>
                  <a:cubicBezTo>
                    <a:pt x="5293" y="400"/>
                    <a:pt x="5272" y="378"/>
                    <a:pt x="5272" y="352"/>
                  </a:cubicBezTo>
                  <a:cubicBezTo>
                    <a:pt x="5272" y="325"/>
                    <a:pt x="5293" y="304"/>
                    <a:pt x="5320" y="304"/>
                  </a:cubicBezTo>
                  <a:cubicBezTo>
                    <a:pt x="5346" y="304"/>
                    <a:pt x="5368" y="325"/>
                    <a:pt x="5368" y="352"/>
                  </a:cubicBezTo>
                  <a:close/>
                  <a:moveTo>
                    <a:pt x="5469" y="352"/>
                  </a:moveTo>
                  <a:cubicBezTo>
                    <a:pt x="5469" y="378"/>
                    <a:pt x="5447" y="400"/>
                    <a:pt x="5421" y="400"/>
                  </a:cubicBezTo>
                  <a:cubicBezTo>
                    <a:pt x="5394" y="400"/>
                    <a:pt x="5373" y="378"/>
                    <a:pt x="5373" y="352"/>
                  </a:cubicBezTo>
                  <a:cubicBezTo>
                    <a:pt x="5373" y="325"/>
                    <a:pt x="5394" y="304"/>
                    <a:pt x="5421" y="304"/>
                  </a:cubicBezTo>
                  <a:cubicBezTo>
                    <a:pt x="5447" y="304"/>
                    <a:pt x="5469" y="325"/>
                    <a:pt x="5469" y="352"/>
                  </a:cubicBezTo>
                  <a:close/>
                  <a:moveTo>
                    <a:pt x="5570" y="352"/>
                  </a:moveTo>
                  <a:cubicBezTo>
                    <a:pt x="5570" y="378"/>
                    <a:pt x="5548" y="400"/>
                    <a:pt x="5522" y="400"/>
                  </a:cubicBezTo>
                  <a:cubicBezTo>
                    <a:pt x="5495" y="400"/>
                    <a:pt x="5474" y="378"/>
                    <a:pt x="5474" y="352"/>
                  </a:cubicBezTo>
                  <a:cubicBezTo>
                    <a:pt x="5474" y="325"/>
                    <a:pt x="5495" y="304"/>
                    <a:pt x="5522" y="304"/>
                  </a:cubicBezTo>
                  <a:cubicBezTo>
                    <a:pt x="5548" y="304"/>
                    <a:pt x="5570" y="325"/>
                    <a:pt x="5570" y="352"/>
                  </a:cubicBezTo>
                  <a:close/>
                  <a:moveTo>
                    <a:pt x="5672" y="352"/>
                  </a:moveTo>
                  <a:cubicBezTo>
                    <a:pt x="5672" y="378"/>
                    <a:pt x="5650" y="400"/>
                    <a:pt x="5624" y="400"/>
                  </a:cubicBezTo>
                  <a:cubicBezTo>
                    <a:pt x="5597" y="400"/>
                    <a:pt x="5576" y="378"/>
                    <a:pt x="5576" y="352"/>
                  </a:cubicBezTo>
                  <a:cubicBezTo>
                    <a:pt x="5576" y="325"/>
                    <a:pt x="5597" y="304"/>
                    <a:pt x="5624" y="304"/>
                  </a:cubicBezTo>
                  <a:cubicBezTo>
                    <a:pt x="5650" y="304"/>
                    <a:pt x="5672" y="325"/>
                    <a:pt x="5672" y="352"/>
                  </a:cubicBezTo>
                  <a:close/>
                  <a:moveTo>
                    <a:pt x="5773" y="352"/>
                  </a:moveTo>
                  <a:cubicBezTo>
                    <a:pt x="5773" y="378"/>
                    <a:pt x="5751" y="400"/>
                    <a:pt x="5725" y="400"/>
                  </a:cubicBezTo>
                  <a:cubicBezTo>
                    <a:pt x="5698" y="400"/>
                    <a:pt x="5677" y="378"/>
                    <a:pt x="5677" y="352"/>
                  </a:cubicBezTo>
                  <a:cubicBezTo>
                    <a:pt x="5677" y="325"/>
                    <a:pt x="5698" y="304"/>
                    <a:pt x="5725" y="304"/>
                  </a:cubicBezTo>
                  <a:cubicBezTo>
                    <a:pt x="5751" y="304"/>
                    <a:pt x="5773" y="325"/>
                    <a:pt x="5773" y="352"/>
                  </a:cubicBezTo>
                  <a:close/>
                  <a:moveTo>
                    <a:pt x="5874" y="352"/>
                  </a:moveTo>
                  <a:cubicBezTo>
                    <a:pt x="5874" y="378"/>
                    <a:pt x="5852" y="400"/>
                    <a:pt x="5826" y="400"/>
                  </a:cubicBezTo>
                  <a:cubicBezTo>
                    <a:pt x="5799" y="400"/>
                    <a:pt x="5778" y="378"/>
                    <a:pt x="5778" y="352"/>
                  </a:cubicBezTo>
                  <a:cubicBezTo>
                    <a:pt x="5778" y="325"/>
                    <a:pt x="5799" y="304"/>
                    <a:pt x="5826" y="304"/>
                  </a:cubicBezTo>
                  <a:cubicBezTo>
                    <a:pt x="5852" y="304"/>
                    <a:pt x="5874" y="325"/>
                    <a:pt x="5874" y="352"/>
                  </a:cubicBezTo>
                  <a:close/>
                  <a:moveTo>
                    <a:pt x="5976" y="352"/>
                  </a:moveTo>
                  <a:cubicBezTo>
                    <a:pt x="5976" y="378"/>
                    <a:pt x="5954" y="400"/>
                    <a:pt x="5928" y="400"/>
                  </a:cubicBezTo>
                  <a:cubicBezTo>
                    <a:pt x="5901" y="400"/>
                    <a:pt x="5880" y="378"/>
                    <a:pt x="5880" y="352"/>
                  </a:cubicBezTo>
                  <a:cubicBezTo>
                    <a:pt x="5880" y="325"/>
                    <a:pt x="5901" y="304"/>
                    <a:pt x="5928" y="304"/>
                  </a:cubicBezTo>
                  <a:cubicBezTo>
                    <a:pt x="5954" y="304"/>
                    <a:pt x="5976" y="325"/>
                    <a:pt x="5976" y="352"/>
                  </a:cubicBezTo>
                  <a:close/>
                  <a:moveTo>
                    <a:pt x="6077" y="352"/>
                  </a:moveTo>
                  <a:cubicBezTo>
                    <a:pt x="6077" y="378"/>
                    <a:pt x="6055" y="400"/>
                    <a:pt x="6029" y="400"/>
                  </a:cubicBezTo>
                  <a:cubicBezTo>
                    <a:pt x="6002" y="400"/>
                    <a:pt x="5981" y="378"/>
                    <a:pt x="5981" y="352"/>
                  </a:cubicBezTo>
                  <a:cubicBezTo>
                    <a:pt x="5981" y="325"/>
                    <a:pt x="6002" y="304"/>
                    <a:pt x="6029" y="304"/>
                  </a:cubicBezTo>
                  <a:cubicBezTo>
                    <a:pt x="6055" y="304"/>
                    <a:pt x="6077" y="325"/>
                    <a:pt x="6077" y="352"/>
                  </a:cubicBezTo>
                  <a:close/>
                  <a:moveTo>
                    <a:pt x="6178" y="352"/>
                  </a:moveTo>
                  <a:cubicBezTo>
                    <a:pt x="6178" y="378"/>
                    <a:pt x="6156" y="400"/>
                    <a:pt x="6130" y="400"/>
                  </a:cubicBezTo>
                  <a:cubicBezTo>
                    <a:pt x="6103" y="400"/>
                    <a:pt x="6082" y="378"/>
                    <a:pt x="6082" y="352"/>
                  </a:cubicBezTo>
                  <a:cubicBezTo>
                    <a:pt x="6082" y="325"/>
                    <a:pt x="6103" y="304"/>
                    <a:pt x="6130" y="304"/>
                  </a:cubicBezTo>
                  <a:cubicBezTo>
                    <a:pt x="6156" y="304"/>
                    <a:pt x="6178" y="325"/>
                    <a:pt x="6178" y="352"/>
                  </a:cubicBezTo>
                  <a:close/>
                  <a:moveTo>
                    <a:pt x="6280" y="352"/>
                  </a:moveTo>
                  <a:cubicBezTo>
                    <a:pt x="6280" y="378"/>
                    <a:pt x="6258" y="400"/>
                    <a:pt x="6232" y="400"/>
                  </a:cubicBezTo>
                  <a:cubicBezTo>
                    <a:pt x="6205" y="400"/>
                    <a:pt x="6184" y="378"/>
                    <a:pt x="6184" y="352"/>
                  </a:cubicBezTo>
                  <a:cubicBezTo>
                    <a:pt x="6184" y="325"/>
                    <a:pt x="6205" y="304"/>
                    <a:pt x="6232" y="304"/>
                  </a:cubicBezTo>
                  <a:cubicBezTo>
                    <a:pt x="6258" y="304"/>
                    <a:pt x="6280" y="325"/>
                    <a:pt x="6280" y="352"/>
                  </a:cubicBezTo>
                  <a:close/>
                  <a:moveTo>
                    <a:pt x="6381" y="352"/>
                  </a:moveTo>
                  <a:cubicBezTo>
                    <a:pt x="6381" y="378"/>
                    <a:pt x="6359" y="400"/>
                    <a:pt x="6333" y="400"/>
                  </a:cubicBezTo>
                  <a:cubicBezTo>
                    <a:pt x="6306" y="400"/>
                    <a:pt x="6285" y="378"/>
                    <a:pt x="6285" y="352"/>
                  </a:cubicBezTo>
                  <a:cubicBezTo>
                    <a:pt x="6285" y="325"/>
                    <a:pt x="6306" y="304"/>
                    <a:pt x="6333" y="304"/>
                  </a:cubicBezTo>
                  <a:cubicBezTo>
                    <a:pt x="6359" y="304"/>
                    <a:pt x="6381" y="325"/>
                    <a:pt x="6381" y="352"/>
                  </a:cubicBezTo>
                  <a:close/>
                  <a:moveTo>
                    <a:pt x="6482" y="352"/>
                  </a:moveTo>
                  <a:cubicBezTo>
                    <a:pt x="6482" y="378"/>
                    <a:pt x="6460" y="400"/>
                    <a:pt x="6434" y="400"/>
                  </a:cubicBezTo>
                  <a:cubicBezTo>
                    <a:pt x="6407" y="400"/>
                    <a:pt x="6386" y="378"/>
                    <a:pt x="6386" y="352"/>
                  </a:cubicBezTo>
                  <a:cubicBezTo>
                    <a:pt x="6386" y="325"/>
                    <a:pt x="6407" y="304"/>
                    <a:pt x="6434" y="304"/>
                  </a:cubicBezTo>
                  <a:cubicBezTo>
                    <a:pt x="6460" y="304"/>
                    <a:pt x="6482" y="325"/>
                    <a:pt x="6482" y="352"/>
                  </a:cubicBezTo>
                  <a:close/>
                  <a:moveTo>
                    <a:pt x="6584" y="352"/>
                  </a:moveTo>
                  <a:cubicBezTo>
                    <a:pt x="6584" y="378"/>
                    <a:pt x="6562" y="400"/>
                    <a:pt x="6536" y="400"/>
                  </a:cubicBezTo>
                  <a:cubicBezTo>
                    <a:pt x="6509" y="400"/>
                    <a:pt x="6488" y="378"/>
                    <a:pt x="6488" y="352"/>
                  </a:cubicBezTo>
                  <a:cubicBezTo>
                    <a:pt x="6488" y="325"/>
                    <a:pt x="6509" y="304"/>
                    <a:pt x="6536" y="304"/>
                  </a:cubicBezTo>
                  <a:cubicBezTo>
                    <a:pt x="6562" y="304"/>
                    <a:pt x="6584" y="325"/>
                    <a:pt x="6584" y="352"/>
                  </a:cubicBezTo>
                  <a:close/>
                  <a:moveTo>
                    <a:pt x="6685" y="352"/>
                  </a:moveTo>
                  <a:cubicBezTo>
                    <a:pt x="6685" y="378"/>
                    <a:pt x="6663" y="400"/>
                    <a:pt x="6637" y="400"/>
                  </a:cubicBezTo>
                  <a:cubicBezTo>
                    <a:pt x="6610" y="400"/>
                    <a:pt x="6589" y="378"/>
                    <a:pt x="6589" y="352"/>
                  </a:cubicBezTo>
                  <a:cubicBezTo>
                    <a:pt x="6589" y="325"/>
                    <a:pt x="6610" y="304"/>
                    <a:pt x="6637" y="304"/>
                  </a:cubicBezTo>
                  <a:cubicBezTo>
                    <a:pt x="6663" y="304"/>
                    <a:pt x="6685" y="325"/>
                    <a:pt x="6685" y="352"/>
                  </a:cubicBezTo>
                  <a:close/>
                  <a:moveTo>
                    <a:pt x="6786" y="352"/>
                  </a:moveTo>
                  <a:cubicBezTo>
                    <a:pt x="6786" y="378"/>
                    <a:pt x="6764" y="400"/>
                    <a:pt x="6738" y="400"/>
                  </a:cubicBezTo>
                  <a:cubicBezTo>
                    <a:pt x="6711" y="400"/>
                    <a:pt x="6690" y="378"/>
                    <a:pt x="6690" y="352"/>
                  </a:cubicBezTo>
                  <a:cubicBezTo>
                    <a:pt x="6690" y="325"/>
                    <a:pt x="6711" y="304"/>
                    <a:pt x="6738" y="304"/>
                  </a:cubicBezTo>
                  <a:cubicBezTo>
                    <a:pt x="6764" y="304"/>
                    <a:pt x="6786" y="325"/>
                    <a:pt x="6786" y="352"/>
                  </a:cubicBezTo>
                  <a:close/>
                  <a:moveTo>
                    <a:pt x="6888" y="352"/>
                  </a:moveTo>
                  <a:cubicBezTo>
                    <a:pt x="6888" y="378"/>
                    <a:pt x="6866" y="400"/>
                    <a:pt x="6840" y="400"/>
                  </a:cubicBezTo>
                  <a:cubicBezTo>
                    <a:pt x="6813" y="400"/>
                    <a:pt x="6792" y="378"/>
                    <a:pt x="6792" y="352"/>
                  </a:cubicBezTo>
                  <a:cubicBezTo>
                    <a:pt x="6792" y="325"/>
                    <a:pt x="6813" y="304"/>
                    <a:pt x="6840" y="304"/>
                  </a:cubicBezTo>
                  <a:cubicBezTo>
                    <a:pt x="6866" y="304"/>
                    <a:pt x="6888" y="325"/>
                    <a:pt x="6888" y="352"/>
                  </a:cubicBezTo>
                  <a:close/>
                  <a:moveTo>
                    <a:pt x="6989" y="352"/>
                  </a:moveTo>
                  <a:cubicBezTo>
                    <a:pt x="6989" y="378"/>
                    <a:pt x="6967" y="400"/>
                    <a:pt x="6941" y="400"/>
                  </a:cubicBezTo>
                  <a:cubicBezTo>
                    <a:pt x="6914" y="400"/>
                    <a:pt x="6893" y="378"/>
                    <a:pt x="6893" y="352"/>
                  </a:cubicBezTo>
                  <a:cubicBezTo>
                    <a:pt x="6893" y="325"/>
                    <a:pt x="6914" y="304"/>
                    <a:pt x="6941" y="304"/>
                  </a:cubicBezTo>
                  <a:cubicBezTo>
                    <a:pt x="6967" y="304"/>
                    <a:pt x="6989" y="325"/>
                    <a:pt x="6989" y="352"/>
                  </a:cubicBezTo>
                  <a:close/>
                  <a:moveTo>
                    <a:pt x="7090" y="352"/>
                  </a:moveTo>
                  <a:cubicBezTo>
                    <a:pt x="7090" y="378"/>
                    <a:pt x="7068" y="400"/>
                    <a:pt x="7042" y="400"/>
                  </a:cubicBezTo>
                  <a:cubicBezTo>
                    <a:pt x="7015" y="400"/>
                    <a:pt x="6994" y="378"/>
                    <a:pt x="6994" y="352"/>
                  </a:cubicBezTo>
                  <a:cubicBezTo>
                    <a:pt x="6994" y="325"/>
                    <a:pt x="7015" y="304"/>
                    <a:pt x="7042" y="304"/>
                  </a:cubicBezTo>
                  <a:cubicBezTo>
                    <a:pt x="7068" y="304"/>
                    <a:pt x="7090" y="325"/>
                    <a:pt x="7090" y="352"/>
                  </a:cubicBezTo>
                  <a:close/>
                  <a:moveTo>
                    <a:pt x="7192" y="352"/>
                  </a:moveTo>
                  <a:cubicBezTo>
                    <a:pt x="7192" y="378"/>
                    <a:pt x="7170" y="400"/>
                    <a:pt x="7144" y="400"/>
                  </a:cubicBezTo>
                  <a:cubicBezTo>
                    <a:pt x="7117" y="400"/>
                    <a:pt x="7096" y="378"/>
                    <a:pt x="7096" y="352"/>
                  </a:cubicBezTo>
                  <a:cubicBezTo>
                    <a:pt x="7096" y="325"/>
                    <a:pt x="7117" y="304"/>
                    <a:pt x="7144" y="304"/>
                  </a:cubicBezTo>
                  <a:cubicBezTo>
                    <a:pt x="7170" y="304"/>
                    <a:pt x="7192" y="325"/>
                    <a:pt x="7192" y="352"/>
                  </a:cubicBezTo>
                  <a:close/>
                  <a:moveTo>
                    <a:pt x="7293" y="352"/>
                  </a:moveTo>
                  <a:cubicBezTo>
                    <a:pt x="7293" y="378"/>
                    <a:pt x="7271" y="400"/>
                    <a:pt x="7245" y="400"/>
                  </a:cubicBezTo>
                  <a:cubicBezTo>
                    <a:pt x="7218" y="400"/>
                    <a:pt x="7197" y="378"/>
                    <a:pt x="7197" y="352"/>
                  </a:cubicBezTo>
                  <a:cubicBezTo>
                    <a:pt x="7197" y="325"/>
                    <a:pt x="7218" y="304"/>
                    <a:pt x="7245" y="304"/>
                  </a:cubicBezTo>
                  <a:cubicBezTo>
                    <a:pt x="7271" y="304"/>
                    <a:pt x="7293" y="325"/>
                    <a:pt x="7293" y="352"/>
                  </a:cubicBezTo>
                  <a:close/>
                  <a:moveTo>
                    <a:pt x="7394" y="352"/>
                  </a:moveTo>
                  <a:cubicBezTo>
                    <a:pt x="7394" y="378"/>
                    <a:pt x="7372" y="400"/>
                    <a:pt x="7346" y="400"/>
                  </a:cubicBezTo>
                  <a:cubicBezTo>
                    <a:pt x="7319" y="400"/>
                    <a:pt x="7298" y="378"/>
                    <a:pt x="7298" y="352"/>
                  </a:cubicBezTo>
                  <a:cubicBezTo>
                    <a:pt x="7298" y="325"/>
                    <a:pt x="7319" y="304"/>
                    <a:pt x="7346" y="304"/>
                  </a:cubicBezTo>
                  <a:cubicBezTo>
                    <a:pt x="7372" y="304"/>
                    <a:pt x="7394" y="325"/>
                    <a:pt x="7394" y="352"/>
                  </a:cubicBezTo>
                  <a:close/>
                  <a:moveTo>
                    <a:pt x="7496" y="352"/>
                  </a:moveTo>
                  <a:cubicBezTo>
                    <a:pt x="7496" y="378"/>
                    <a:pt x="7474" y="400"/>
                    <a:pt x="7448" y="400"/>
                  </a:cubicBezTo>
                  <a:cubicBezTo>
                    <a:pt x="7421" y="400"/>
                    <a:pt x="7400" y="378"/>
                    <a:pt x="7400" y="352"/>
                  </a:cubicBezTo>
                  <a:cubicBezTo>
                    <a:pt x="7400" y="325"/>
                    <a:pt x="7421" y="304"/>
                    <a:pt x="7448" y="304"/>
                  </a:cubicBezTo>
                  <a:cubicBezTo>
                    <a:pt x="7474" y="304"/>
                    <a:pt x="7496" y="325"/>
                    <a:pt x="7496" y="352"/>
                  </a:cubicBezTo>
                  <a:close/>
                  <a:moveTo>
                    <a:pt x="7597" y="352"/>
                  </a:moveTo>
                  <a:cubicBezTo>
                    <a:pt x="7597" y="378"/>
                    <a:pt x="7575" y="400"/>
                    <a:pt x="7549" y="400"/>
                  </a:cubicBezTo>
                  <a:cubicBezTo>
                    <a:pt x="7522" y="400"/>
                    <a:pt x="7501" y="378"/>
                    <a:pt x="7501" y="352"/>
                  </a:cubicBezTo>
                  <a:cubicBezTo>
                    <a:pt x="7501" y="325"/>
                    <a:pt x="7522" y="304"/>
                    <a:pt x="7549" y="304"/>
                  </a:cubicBezTo>
                  <a:cubicBezTo>
                    <a:pt x="7575" y="304"/>
                    <a:pt x="7597" y="325"/>
                    <a:pt x="7597" y="35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365760" y="2103120"/>
              <a:ext cx="6949440" cy="365760"/>
            </a:xfrm>
            <a:custGeom>
              <a:avLst/>
              <a:gdLst/>
              <a:ahLst/>
              <a:cxnLst/>
              <a:rect l="0" t="0" r="r" b="b"/>
              <a:pathLst>
                <a:path w="7600" h="400" fill="none">
                  <a:moveTo>
                    <a:pt x="34" y="96"/>
                  </a:moveTo>
                  <a:lnTo>
                    <a:pt x="34" y="190"/>
                  </a:lnTo>
                </a:path>
                <a:path w="7600" h="400" fill="none">
                  <a:moveTo>
                    <a:pt x="66" y="96"/>
                  </a:moveTo>
                  <a:lnTo>
                    <a:pt x="66" y="190"/>
                  </a:lnTo>
                </a:path>
                <a:path w="7600" h="400" fill="none">
                  <a:moveTo>
                    <a:pt x="34" y="304"/>
                  </a:moveTo>
                  <a:lnTo>
                    <a:pt x="34" y="210"/>
                  </a:lnTo>
                </a:path>
                <a:path w="7600" h="400" fill="none">
                  <a:moveTo>
                    <a:pt x="66" y="304"/>
                  </a:moveTo>
                  <a:lnTo>
                    <a:pt x="66" y="210"/>
                  </a:lnTo>
                </a:path>
                <a:path w="7600" h="400" fill="none">
                  <a:moveTo>
                    <a:pt x="136" y="96"/>
                  </a:moveTo>
                  <a:lnTo>
                    <a:pt x="136" y="190"/>
                  </a:lnTo>
                </a:path>
                <a:path w="7600" h="400" fill="none">
                  <a:moveTo>
                    <a:pt x="168" y="96"/>
                  </a:moveTo>
                  <a:lnTo>
                    <a:pt x="168" y="190"/>
                  </a:lnTo>
                </a:path>
                <a:path w="7600" h="400" fill="none">
                  <a:moveTo>
                    <a:pt x="136" y="304"/>
                  </a:moveTo>
                  <a:lnTo>
                    <a:pt x="136" y="210"/>
                  </a:lnTo>
                </a:path>
                <a:path w="7600" h="400" fill="none">
                  <a:moveTo>
                    <a:pt x="168" y="304"/>
                  </a:moveTo>
                  <a:lnTo>
                    <a:pt x="168" y="210"/>
                  </a:lnTo>
                </a:path>
                <a:path w="7600" h="400" fill="none">
                  <a:moveTo>
                    <a:pt x="237" y="96"/>
                  </a:moveTo>
                  <a:lnTo>
                    <a:pt x="237" y="190"/>
                  </a:lnTo>
                </a:path>
                <a:path w="7600" h="400" fill="none">
                  <a:moveTo>
                    <a:pt x="269" y="96"/>
                  </a:moveTo>
                  <a:lnTo>
                    <a:pt x="269" y="190"/>
                  </a:lnTo>
                </a:path>
                <a:path w="7600" h="400" fill="none">
                  <a:moveTo>
                    <a:pt x="237" y="304"/>
                  </a:moveTo>
                  <a:lnTo>
                    <a:pt x="237" y="210"/>
                  </a:lnTo>
                </a:path>
                <a:path w="7600" h="400" fill="none">
                  <a:moveTo>
                    <a:pt x="269" y="304"/>
                  </a:moveTo>
                  <a:lnTo>
                    <a:pt x="269" y="210"/>
                  </a:lnTo>
                </a:path>
                <a:path w="7600" h="400" fill="none">
                  <a:moveTo>
                    <a:pt x="338" y="96"/>
                  </a:moveTo>
                  <a:lnTo>
                    <a:pt x="338" y="190"/>
                  </a:lnTo>
                </a:path>
                <a:path w="7600" h="400" fill="none">
                  <a:moveTo>
                    <a:pt x="370" y="96"/>
                  </a:moveTo>
                  <a:lnTo>
                    <a:pt x="370" y="190"/>
                  </a:lnTo>
                </a:path>
                <a:path w="7600" h="400" fill="none">
                  <a:moveTo>
                    <a:pt x="338" y="304"/>
                  </a:moveTo>
                  <a:lnTo>
                    <a:pt x="338" y="210"/>
                  </a:lnTo>
                </a:path>
                <a:path w="7600" h="400" fill="none">
                  <a:moveTo>
                    <a:pt x="370" y="304"/>
                  </a:moveTo>
                  <a:lnTo>
                    <a:pt x="370" y="210"/>
                  </a:lnTo>
                </a:path>
                <a:path w="7600" h="400" fill="none">
                  <a:moveTo>
                    <a:pt x="440" y="96"/>
                  </a:moveTo>
                  <a:lnTo>
                    <a:pt x="440" y="190"/>
                  </a:lnTo>
                </a:path>
                <a:path w="7600" h="400" fill="none">
                  <a:moveTo>
                    <a:pt x="472" y="96"/>
                  </a:moveTo>
                  <a:lnTo>
                    <a:pt x="472" y="190"/>
                  </a:lnTo>
                </a:path>
                <a:path w="7600" h="400" fill="none">
                  <a:moveTo>
                    <a:pt x="440" y="304"/>
                  </a:moveTo>
                  <a:lnTo>
                    <a:pt x="440" y="210"/>
                  </a:lnTo>
                </a:path>
                <a:path w="7600" h="400" fill="none">
                  <a:moveTo>
                    <a:pt x="472" y="304"/>
                  </a:moveTo>
                  <a:lnTo>
                    <a:pt x="472" y="210"/>
                  </a:lnTo>
                </a:path>
                <a:path w="7600" h="400" fill="none">
                  <a:moveTo>
                    <a:pt x="541" y="96"/>
                  </a:moveTo>
                  <a:lnTo>
                    <a:pt x="541" y="190"/>
                  </a:lnTo>
                </a:path>
                <a:path w="7600" h="400" fill="none">
                  <a:moveTo>
                    <a:pt x="573" y="96"/>
                  </a:moveTo>
                  <a:lnTo>
                    <a:pt x="573" y="190"/>
                  </a:lnTo>
                </a:path>
                <a:path w="7600" h="400" fill="none">
                  <a:moveTo>
                    <a:pt x="541" y="304"/>
                  </a:moveTo>
                  <a:lnTo>
                    <a:pt x="541" y="210"/>
                  </a:lnTo>
                </a:path>
                <a:path w="7600" h="400" fill="none">
                  <a:moveTo>
                    <a:pt x="573" y="304"/>
                  </a:moveTo>
                  <a:lnTo>
                    <a:pt x="573" y="210"/>
                  </a:lnTo>
                </a:path>
                <a:path w="7600" h="400" fill="none">
                  <a:moveTo>
                    <a:pt x="642" y="96"/>
                  </a:moveTo>
                  <a:lnTo>
                    <a:pt x="642" y="190"/>
                  </a:lnTo>
                </a:path>
                <a:path w="7600" h="400" fill="none">
                  <a:moveTo>
                    <a:pt x="674" y="96"/>
                  </a:moveTo>
                  <a:lnTo>
                    <a:pt x="674" y="190"/>
                  </a:lnTo>
                </a:path>
                <a:path w="7600" h="400" fill="none">
                  <a:moveTo>
                    <a:pt x="642" y="304"/>
                  </a:moveTo>
                  <a:lnTo>
                    <a:pt x="642" y="210"/>
                  </a:lnTo>
                </a:path>
                <a:path w="7600" h="400" fill="none">
                  <a:moveTo>
                    <a:pt x="674" y="304"/>
                  </a:moveTo>
                  <a:lnTo>
                    <a:pt x="674" y="210"/>
                  </a:lnTo>
                </a:path>
                <a:path w="7600" h="400" fill="none">
                  <a:moveTo>
                    <a:pt x="744" y="96"/>
                  </a:moveTo>
                  <a:lnTo>
                    <a:pt x="744" y="190"/>
                  </a:lnTo>
                </a:path>
                <a:path w="7600" h="400" fill="none">
                  <a:moveTo>
                    <a:pt x="776" y="96"/>
                  </a:moveTo>
                  <a:lnTo>
                    <a:pt x="776" y="190"/>
                  </a:lnTo>
                </a:path>
                <a:path w="7600" h="400" fill="none">
                  <a:moveTo>
                    <a:pt x="744" y="304"/>
                  </a:moveTo>
                  <a:lnTo>
                    <a:pt x="744" y="210"/>
                  </a:lnTo>
                </a:path>
                <a:path w="7600" h="400" fill="none">
                  <a:moveTo>
                    <a:pt x="776" y="304"/>
                  </a:moveTo>
                  <a:lnTo>
                    <a:pt x="776" y="210"/>
                  </a:lnTo>
                </a:path>
                <a:path w="7600" h="400" fill="none">
                  <a:moveTo>
                    <a:pt x="845" y="96"/>
                  </a:moveTo>
                  <a:lnTo>
                    <a:pt x="845" y="190"/>
                  </a:lnTo>
                </a:path>
                <a:path w="7600" h="400" fill="none">
                  <a:moveTo>
                    <a:pt x="877" y="96"/>
                  </a:moveTo>
                  <a:lnTo>
                    <a:pt x="877" y="190"/>
                  </a:lnTo>
                </a:path>
                <a:path w="7600" h="400" fill="none">
                  <a:moveTo>
                    <a:pt x="845" y="304"/>
                  </a:moveTo>
                  <a:lnTo>
                    <a:pt x="845" y="210"/>
                  </a:lnTo>
                </a:path>
                <a:path w="7600" h="400" fill="none">
                  <a:moveTo>
                    <a:pt x="877" y="304"/>
                  </a:moveTo>
                  <a:lnTo>
                    <a:pt x="877" y="210"/>
                  </a:lnTo>
                </a:path>
                <a:path w="7600" h="400" fill="none">
                  <a:moveTo>
                    <a:pt x="946" y="96"/>
                  </a:moveTo>
                  <a:lnTo>
                    <a:pt x="946" y="190"/>
                  </a:lnTo>
                </a:path>
                <a:path w="7600" h="400" fill="none">
                  <a:moveTo>
                    <a:pt x="978" y="96"/>
                  </a:moveTo>
                  <a:lnTo>
                    <a:pt x="978" y="190"/>
                  </a:lnTo>
                </a:path>
                <a:path w="7600" h="400" fill="none">
                  <a:moveTo>
                    <a:pt x="946" y="304"/>
                  </a:moveTo>
                  <a:lnTo>
                    <a:pt x="946" y="210"/>
                  </a:lnTo>
                </a:path>
                <a:path w="7600" h="400" fill="none">
                  <a:moveTo>
                    <a:pt x="978" y="304"/>
                  </a:moveTo>
                  <a:lnTo>
                    <a:pt x="978" y="210"/>
                  </a:lnTo>
                </a:path>
                <a:path w="7600" h="400" fill="none">
                  <a:moveTo>
                    <a:pt x="1048" y="96"/>
                  </a:moveTo>
                  <a:lnTo>
                    <a:pt x="1048" y="190"/>
                  </a:lnTo>
                </a:path>
                <a:path w="7600" h="400" fill="none">
                  <a:moveTo>
                    <a:pt x="1080" y="96"/>
                  </a:moveTo>
                  <a:lnTo>
                    <a:pt x="1080" y="190"/>
                  </a:lnTo>
                </a:path>
                <a:path w="7600" h="400" fill="none">
                  <a:moveTo>
                    <a:pt x="1048" y="304"/>
                  </a:moveTo>
                  <a:lnTo>
                    <a:pt x="1048" y="210"/>
                  </a:lnTo>
                </a:path>
                <a:path w="7600" h="400" fill="none">
                  <a:moveTo>
                    <a:pt x="1080" y="304"/>
                  </a:moveTo>
                  <a:lnTo>
                    <a:pt x="1080" y="210"/>
                  </a:lnTo>
                </a:path>
                <a:path w="7600" h="400" fill="none">
                  <a:moveTo>
                    <a:pt x="1149" y="96"/>
                  </a:moveTo>
                  <a:lnTo>
                    <a:pt x="1149" y="190"/>
                  </a:lnTo>
                </a:path>
                <a:path w="7600" h="400" fill="none">
                  <a:moveTo>
                    <a:pt x="1181" y="96"/>
                  </a:moveTo>
                  <a:lnTo>
                    <a:pt x="1181" y="190"/>
                  </a:lnTo>
                </a:path>
                <a:path w="7600" h="400" fill="none">
                  <a:moveTo>
                    <a:pt x="1149" y="304"/>
                  </a:moveTo>
                  <a:lnTo>
                    <a:pt x="1149" y="210"/>
                  </a:lnTo>
                </a:path>
                <a:path w="7600" h="400" fill="none">
                  <a:moveTo>
                    <a:pt x="1181" y="304"/>
                  </a:moveTo>
                  <a:lnTo>
                    <a:pt x="1181" y="210"/>
                  </a:lnTo>
                </a:path>
                <a:path w="7600" h="400" fill="none">
                  <a:moveTo>
                    <a:pt x="1250" y="96"/>
                  </a:moveTo>
                  <a:lnTo>
                    <a:pt x="1250" y="190"/>
                  </a:lnTo>
                </a:path>
                <a:path w="7600" h="400" fill="none">
                  <a:moveTo>
                    <a:pt x="1282" y="96"/>
                  </a:moveTo>
                  <a:lnTo>
                    <a:pt x="1282" y="190"/>
                  </a:lnTo>
                </a:path>
                <a:path w="7600" h="400" fill="none">
                  <a:moveTo>
                    <a:pt x="1250" y="304"/>
                  </a:moveTo>
                  <a:lnTo>
                    <a:pt x="1250" y="210"/>
                  </a:lnTo>
                </a:path>
                <a:path w="7600" h="400" fill="none">
                  <a:moveTo>
                    <a:pt x="1282" y="304"/>
                  </a:moveTo>
                  <a:lnTo>
                    <a:pt x="1282" y="210"/>
                  </a:lnTo>
                </a:path>
                <a:path w="7600" h="400" fill="none">
                  <a:moveTo>
                    <a:pt x="1352" y="96"/>
                  </a:moveTo>
                  <a:lnTo>
                    <a:pt x="1352" y="190"/>
                  </a:lnTo>
                </a:path>
                <a:path w="7600" h="400" fill="none">
                  <a:moveTo>
                    <a:pt x="1384" y="96"/>
                  </a:moveTo>
                  <a:lnTo>
                    <a:pt x="1384" y="190"/>
                  </a:lnTo>
                </a:path>
                <a:path w="7600" h="400" fill="none">
                  <a:moveTo>
                    <a:pt x="1352" y="304"/>
                  </a:moveTo>
                  <a:lnTo>
                    <a:pt x="1352" y="210"/>
                  </a:lnTo>
                </a:path>
                <a:path w="7600" h="400" fill="none">
                  <a:moveTo>
                    <a:pt x="1384" y="304"/>
                  </a:moveTo>
                  <a:lnTo>
                    <a:pt x="1384" y="210"/>
                  </a:lnTo>
                </a:path>
                <a:path w="7600" h="400" fill="none">
                  <a:moveTo>
                    <a:pt x="1453" y="96"/>
                  </a:moveTo>
                  <a:lnTo>
                    <a:pt x="1453" y="190"/>
                  </a:lnTo>
                </a:path>
                <a:path w="7600" h="400" fill="none">
                  <a:moveTo>
                    <a:pt x="1485" y="96"/>
                  </a:moveTo>
                  <a:lnTo>
                    <a:pt x="1485" y="190"/>
                  </a:lnTo>
                </a:path>
                <a:path w="7600" h="400" fill="none">
                  <a:moveTo>
                    <a:pt x="1453" y="304"/>
                  </a:moveTo>
                  <a:lnTo>
                    <a:pt x="1453" y="210"/>
                  </a:lnTo>
                </a:path>
                <a:path w="7600" h="400" fill="none">
                  <a:moveTo>
                    <a:pt x="1485" y="304"/>
                  </a:moveTo>
                  <a:lnTo>
                    <a:pt x="1485" y="210"/>
                  </a:lnTo>
                </a:path>
                <a:path w="7600" h="400" fill="none">
                  <a:moveTo>
                    <a:pt x="1554" y="96"/>
                  </a:moveTo>
                  <a:lnTo>
                    <a:pt x="1554" y="190"/>
                  </a:lnTo>
                </a:path>
                <a:path w="7600" h="400" fill="none">
                  <a:moveTo>
                    <a:pt x="1586" y="96"/>
                  </a:moveTo>
                  <a:lnTo>
                    <a:pt x="1586" y="190"/>
                  </a:lnTo>
                </a:path>
                <a:path w="7600" h="400" fill="none">
                  <a:moveTo>
                    <a:pt x="1554" y="304"/>
                  </a:moveTo>
                  <a:lnTo>
                    <a:pt x="1554" y="210"/>
                  </a:lnTo>
                </a:path>
                <a:path w="7600" h="400" fill="none">
                  <a:moveTo>
                    <a:pt x="1586" y="304"/>
                  </a:moveTo>
                  <a:lnTo>
                    <a:pt x="1586" y="210"/>
                  </a:lnTo>
                </a:path>
                <a:path w="7600" h="400" fill="none">
                  <a:moveTo>
                    <a:pt x="1656" y="96"/>
                  </a:moveTo>
                  <a:lnTo>
                    <a:pt x="1656" y="190"/>
                  </a:lnTo>
                </a:path>
                <a:path w="7600" h="400" fill="none">
                  <a:moveTo>
                    <a:pt x="1688" y="96"/>
                  </a:moveTo>
                  <a:lnTo>
                    <a:pt x="1688" y="190"/>
                  </a:lnTo>
                </a:path>
                <a:path w="7600" h="400" fill="none">
                  <a:moveTo>
                    <a:pt x="1656" y="304"/>
                  </a:moveTo>
                  <a:lnTo>
                    <a:pt x="1656" y="210"/>
                  </a:lnTo>
                </a:path>
                <a:path w="7600" h="400" fill="none">
                  <a:moveTo>
                    <a:pt x="1688" y="304"/>
                  </a:moveTo>
                  <a:lnTo>
                    <a:pt x="1688" y="210"/>
                  </a:lnTo>
                </a:path>
                <a:path w="7600" h="400" fill="none">
                  <a:moveTo>
                    <a:pt x="1757" y="96"/>
                  </a:moveTo>
                  <a:lnTo>
                    <a:pt x="1757" y="190"/>
                  </a:lnTo>
                </a:path>
                <a:path w="7600" h="400" fill="none">
                  <a:moveTo>
                    <a:pt x="1789" y="96"/>
                  </a:moveTo>
                  <a:lnTo>
                    <a:pt x="1789" y="190"/>
                  </a:lnTo>
                </a:path>
                <a:path w="7600" h="400" fill="none">
                  <a:moveTo>
                    <a:pt x="1757" y="304"/>
                  </a:moveTo>
                  <a:lnTo>
                    <a:pt x="1757" y="210"/>
                  </a:lnTo>
                </a:path>
                <a:path w="7600" h="400" fill="none">
                  <a:moveTo>
                    <a:pt x="1789" y="304"/>
                  </a:moveTo>
                  <a:lnTo>
                    <a:pt x="1789" y="210"/>
                  </a:lnTo>
                </a:path>
                <a:path w="7600" h="400" fill="none">
                  <a:moveTo>
                    <a:pt x="1858" y="96"/>
                  </a:moveTo>
                  <a:lnTo>
                    <a:pt x="1858" y="190"/>
                  </a:lnTo>
                </a:path>
                <a:path w="7600" h="400" fill="none">
                  <a:moveTo>
                    <a:pt x="1890" y="96"/>
                  </a:moveTo>
                  <a:lnTo>
                    <a:pt x="1890" y="190"/>
                  </a:lnTo>
                </a:path>
                <a:path w="7600" h="400" fill="none">
                  <a:moveTo>
                    <a:pt x="1858" y="304"/>
                  </a:moveTo>
                  <a:lnTo>
                    <a:pt x="1858" y="210"/>
                  </a:lnTo>
                </a:path>
                <a:path w="7600" h="400" fill="none">
                  <a:moveTo>
                    <a:pt x="1890" y="304"/>
                  </a:moveTo>
                  <a:lnTo>
                    <a:pt x="1890" y="210"/>
                  </a:lnTo>
                </a:path>
                <a:path w="7600" h="400" fill="none">
                  <a:moveTo>
                    <a:pt x="1960" y="96"/>
                  </a:moveTo>
                  <a:lnTo>
                    <a:pt x="1960" y="190"/>
                  </a:lnTo>
                </a:path>
                <a:path w="7600" h="400" fill="none">
                  <a:moveTo>
                    <a:pt x="1992" y="96"/>
                  </a:moveTo>
                  <a:lnTo>
                    <a:pt x="1992" y="190"/>
                  </a:lnTo>
                </a:path>
                <a:path w="7600" h="400" fill="none">
                  <a:moveTo>
                    <a:pt x="1960" y="304"/>
                  </a:moveTo>
                  <a:lnTo>
                    <a:pt x="1960" y="210"/>
                  </a:lnTo>
                </a:path>
                <a:path w="7600" h="400" fill="none">
                  <a:moveTo>
                    <a:pt x="1992" y="304"/>
                  </a:moveTo>
                  <a:lnTo>
                    <a:pt x="1992" y="210"/>
                  </a:lnTo>
                </a:path>
                <a:path w="7600" h="400" fill="none">
                  <a:moveTo>
                    <a:pt x="2061" y="96"/>
                  </a:moveTo>
                  <a:lnTo>
                    <a:pt x="2061" y="190"/>
                  </a:lnTo>
                </a:path>
                <a:path w="7600" h="400" fill="none">
                  <a:moveTo>
                    <a:pt x="2093" y="96"/>
                  </a:moveTo>
                  <a:lnTo>
                    <a:pt x="2093" y="190"/>
                  </a:lnTo>
                </a:path>
                <a:path w="7600" h="400" fill="none">
                  <a:moveTo>
                    <a:pt x="2061" y="304"/>
                  </a:moveTo>
                  <a:lnTo>
                    <a:pt x="2061" y="210"/>
                  </a:lnTo>
                </a:path>
                <a:path w="7600" h="400" fill="none">
                  <a:moveTo>
                    <a:pt x="2093" y="304"/>
                  </a:moveTo>
                  <a:lnTo>
                    <a:pt x="2093" y="210"/>
                  </a:lnTo>
                </a:path>
                <a:path w="7600" h="400" fill="none">
                  <a:moveTo>
                    <a:pt x="2162" y="96"/>
                  </a:moveTo>
                  <a:lnTo>
                    <a:pt x="2162" y="190"/>
                  </a:lnTo>
                </a:path>
                <a:path w="7600" h="400" fill="none">
                  <a:moveTo>
                    <a:pt x="2194" y="96"/>
                  </a:moveTo>
                  <a:lnTo>
                    <a:pt x="2194" y="190"/>
                  </a:lnTo>
                </a:path>
                <a:path w="7600" h="400" fill="none">
                  <a:moveTo>
                    <a:pt x="2162" y="304"/>
                  </a:moveTo>
                  <a:lnTo>
                    <a:pt x="2162" y="210"/>
                  </a:lnTo>
                </a:path>
                <a:path w="7600" h="400" fill="none">
                  <a:moveTo>
                    <a:pt x="2194" y="304"/>
                  </a:moveTo>
                  <a:lnTo>
                    <a:pt x="2194" y="210"/>
                  </a:lnTo>
                </a:path>
                <a:path w="7600" h="400" fill="none">
                  <a:moveTo>
                    <a:pt x="2264" y="96"/>
                  </a:moveTo>
                  <a:lnTo>
                    <a:pt x="2264" y="190"/>
                  </a:lnTo>
                </a:path>
                <a:path w="7600" h="400" fill="none">
                  <a:moveTo>
                    <a:pt x="2296" y="96"/>
                  </a:moveTo>
                  <a:lnTo>
                    <a:pt x="2296" y="190"/>
                  </a:lnTo>
                </a:path>
                <a:path w="7600" h="400" fill="none">
                  <a:moveTo>
                    <a:pt x="2264" y="304"/>
                  </a:moveTo>
                  <a:lnTo>
                    <a:pt x="2264" y="210"/>
                  </a:lnTo>
                </a:path>
                <a:path w="7600" h="400" fill="none">
                  <a:moveTo>
                    <a:pt x="2296" y="304"/>
                  </a:moveTo>
                  <a:lnTo>
                    <a:pt x="2296" y="210"/>
                  </a:lnTo>
                </a:path>
                <a:path w="7600" h="400" fill="none">
                  <a:moveTo>
                    <a:pt x="2365" y="96"/>
                  </a:moveTo>
                  <a:lnTo>
                    <a:pt x="2365" y="190"/>
                  </a:lnTo>
                </a:path>
                <a:path w="7600" h="400" fill="none">
                  <a:moveTo>
                    <a:pt x="2397" y="96"/>
                  </a:moveTo>
                  <a:lnTo>
                    <a:pt x="2397" y="190"/>
                  </a:lnTo>
                </a:path>
                <a:path w="7600" h="400" fill="none">
                  <a:moveTo>
                    <a:pt x="2365" y="304"/>
                  </a:moveTo>
                  <a:lnTo>
                    <a:pt x="2365" y="210"/>
                  </a:lnTo>
                </a:path>
                <a:path w="7600" h="400" fill="none">
                  <a:moveTo>
                    <a:pt x="2397" y="304"/>
                  </a:moveTo>
                  <a:lnTo>
                    <a:pt x="2397" y="210"/>
                  </a:lnTo>
                </a:path>
                <a:path w="7600" h="400" fill="none">
                  <a:moveTo>
                    <a:pt x="2466" y="96"/>
                  </a:moveTo>
                  <a:lnTo>
                    <a:pt x="2466" y="190"/>
                  </a:lnTo>
                </a:path>
                <a:path w="7600" h="400" fill="none">
                  <a:moveTo>
                    <a:pt x="2498" y="96"/>
                  </a:moveTo>
                  <a:lnTo>
                    <a:pt x="2498" y="190"/>
                  </a:lnTo>
                </a:path>
                <a:path w="7600" h="400" fill="none">
                  <a:moveTo>
                    <a:pt x="2466" y="304"/>
                  </a:moveTo>
                  <a:lnTo>
                    <a:pt x="2466" y="210"/>
                  </a:lnTo>
                </a:path>
                <a:path w="7600" h="400" fill="none">
                  <a:moveTo>
                    <a:pt x="2498" y="304"/>
                  </a:moveTo>
                  <a:lnTo>
                    <a:pt x="2498" y="210"/>
                  </a:lnTo>
                </a:path>
                <a:path w="7600" h="400" fill="none">
                  <a:moveTo>
                    <a:pt x="2568" y="96"/>
                  </a:moveTo>
                  <a:lnTo>
                    <a:pt x="2568" y="190"/>
                  </a:lnTo>
                </a:path>
                <a:path w="7600" h="400" fill="none">
                  <a:moveTo>
                    <a:pt x="2600" y="96"/>
                  </a:moveTo>
                  <a:lnTo>
                    <a:pt x="2600" y="190"/>
                  </a:lnTo>
                </a:path>
                <a:path w="7600" h="400" fill="none">
                  <a:moveTo>
                    <a:pt x="2568" y="304"/>
                  </a:moveTo>
                  <a:lnTo>
                    <a:pt x="2568" y="210"/>
                  </a:lnTo>
                </a:path>
                <a:path w="7600" h="400" fill="none">
                  <a:moveTo>
                    <a:pt x="2600" y="304"/>
                  </a:moveTo>
                  <a:lnTo>
                    <a:pt x="2600" y="210"/>
                  </a:lnTo>
                </a:path>
                <a:path w="7600" h="400" fill="none">
                  <a:moveTo>
                    <a:pt x="2669" y="96"/>
                  </a:moveTo>
                  <a:lnTo>
                    <a:pt x="2669" y="190"/>
                  </a:lnTo>
                </a:path>
                <a:path w="7600" h="400" fill="none">
                  <a:moveTo>
                    <a:pt x="2701" y="96"/>
                  </a:moveTo>
                  <a:lnTo>
                    <a:pt x="2701" y="190"/>
                  </a:lnTo>
                </a:path>
                <a:path w="7600" h="400" fill="none">
                  <a:moveTo>
                    <a:pt x="2669" y="304"/>
                  </a:moveTo>
                  <a:lnTo>
                    <a:pt x="2669" y="210"/>
                  </a:lnTo>
                </a:path>
                <a:path w="7600" h="400" fill="none">
                  <a:moveTo>
                    <a:pt x="2701" y="304"/>
                  </a:moveTo>
                  <a:lnTo>
                    <a:pt x="2701" y="210"/>
                  </a:lnTo>
                </a:path>
                <a:path w="7600" h="400" fill="none">
                  <a:moveTo>
                    <a:pt x="2770" y="96"/>
                  </a:moveTo>
                  <a:lnTo>
                    <a:pt x="2770" y="190"/>
                  </a:lnTo>
                </a:path>
                <a:path w="7600" h="400" fill="none">
                  <a:moveTo>
                    <a:pt x="2802" y="96"/>
                  </a:moveTo>
                  <a:lnTo>
                    <a:pt x="2802" y="190"/>
                  </a:lnTo>
                </a:path>
                <a:path w="7600" h="400" fill="none">
                  <a:moveTo>
                    <a:pt x="2770" y="304"/>
                  </a:moveTo>
                  <a:lnTo>
                    <a:pt x="2770" y="210"/>
                  </a:lnTo>
                </a:path>
                <a:path w="7600" h="400" fill="none">
                  <a:moveTo>
                    <a:pt x="2802" y="304"/>
                  </a:moveTo>
                  <a:lnTo>
                    <a:pt x="2802" y="210"/>
                  </a:lnTo>
                </a:path>
                <a:path w="7600" h="400" fill="none">
                  <a:moveTo>
                    <a:pt x="2872" y="96"/>
                  </a:moveTo>
                  <a:lnTo>
                    <a:pt x="2872" y="190"/>
                  </a:lnTo>
                </a:path>
                <a:path w="7600" h="400" fill="none">
                  <a:moveTo>
                    <a:pt x="2904" y="96"/>
                  </a:moveTo>
                  <a:lnTo>
                    <a:pt x="2904" y="190"/>
                  </a:lnTo>
                </a:path>
                <a:path w="7600" h="400" fill="none">
                  <a:moveTo>
                    <a:pt x="2872" y="304"/>
                  </a:moveTo>
                  <a:lnTo>
                    <a:pt x="2872" y="210"/>
                  </a:lnTo>
                </a:path>
                <a:path w="7600" h="400" fill="none">
                  <a:moveTo>
                    <a:pt x="2904" y="304"/>
                  </a:moveTo>
                  <a:lnTo>
                    <a:pt x="2904" y="210"/>
                  </a:lnTo>
                </a:path>
                <a:path w="7600" h="400" fill="none">
                  <a:moveTo>
                    <a:pt x="2973" y="96"/>
                  </a:moveTo>
                  <a:lnTo>
                    <a:pt x="2973" y="190"/>
                  </a:lnTo>
                </a:path>
                <a:path w="7600" h="400" fill="none">
                  <a:moveTo>
                    <a:pt x="3005" y="96"/>
                  </a:moveTo>
                  <a:lnTo>
                    <a:pt x="3005" y="190"/>
                  </a:lnTo>
                </a:path>
                <a:path w="7600" h="400" fill="none">
                  <a:moveTo>
                    <a:pt x="2973" y="304"/>
                  </a:moveTo>
                  <a:lnTo>
                    <a:pt x="2973" y="210"/>
                  </a:lnTo>
                </a:path>
                <a:path w="7600" h="400" fill="none">
                  <a:moveTo>
                    <a:pt x="3005" y="304"/>
                  </a:moveTo>
                  <a:lnTo>
                    <a:pt x="3005" y="210"/>
                  </a:lnTo>
                </a:path>
                <a:path w="7600" h="400" fill="none">
                  <a:moveTo>
                    <a:pt x="3074" y="96"/>
                  </a:moveTo>
                  <a:lnTo>
                    <a:pt x="3074" y="190"/>
                  </a:lnTo>
                </a:path>
                <a:path w="7600" h="400" fill="none">
                  <a:moveTo>
                    <a:pt x="3106" y="96"/>
                  </a:moveTo>
                  <a:lnTo>
                    <a:pt x="3106" y="190"/>
                  </a:lnTo>
                </a:path>
                <a:path w="7600" h="400" fill="none">
                  <a:moveTo>
                    <a:pt x="3074" y="304"/>
                  </a:moveTo>
                  <a:lnTo>
                    <a:pt x="3074" y="210"/>
                  </a:lnTo>
                </a:path>
                <a:path w="7600" h="400" fill="none">
                  <a:moveTo>
                    <a:pt x="3106" y="304"/>
                  </a:moveTo>
                  <a:lnTo>
                    <a:pt x="3106" y="210"/>
                  </a:lnTo>
                </a:path>
                <a:path w="7600" h="400" fill="none">
                  <a:moveTo>
                    <a:pt x="3176" y="96"/>
                  </a:moveTo>
                  <a:lnTo>
                    <a:pt x="3176" y="190"/>
                  </a:lnTo>
                </a:path>
                <a:path w="7600" h="400" fill="none">
                  <a:moveTo>
                    <a:pt x="3208" y="96"/>
                  </a:moveTo>
                  <a:lnTo>
                    <a:pt x="3208" y="190"/>
                  </a:lnTo>
                </a:path>
                <a:path w="7600" h="400" fill="none">
                  <a:moveTo>
                    <a:pt x="3176" y="304"/>
                  </a:moveTo>
                  <a:lnTo>
                    <a:pt x="3176" y="210"/>
                  </a:lnTo>
                </a:path>
                <a:path w="7600" h="400" fill="none">
                  <a:moveTo>
                    <a:pt x="3208" y="304"/>
                  </a:moveTo>
                  <a:lnTo>
                    <a:pt x="3208" y="210"/>
                  </a:lnTo>
                </a:path>
                <a:path w="7600" h="400" fill="none">
                  <a:moveTo>
                    <a:pt x="3277" y="96"/>
                  </a:moveTo>
                  <a:lnTo>
                    <a:pt x="3277" y="190"/>
                  </a:lnTo>
                </a:path>
                <a:path w="7600" h="400" fill="none">
                  <a:moveTo>
                    <a:pt x="3309" y="96"/>
                  </a:moveTo>
                  <a:lnTo>
                    <a:pt x="3309" y="190"/>
                  </a:lnTo>
                </a:path>
                <a:path w="7600" h="400" fill="none">
                  <a:moveTo>
                    <a:pt x="3277" y="304"/>
                  </a:moveTo>
                  <a:lnTo>
                    <a:pt x="3277" y="210"/>
                  </a:lnTo>
                </a:path>
                <a:path w="7600" h="400" fill="none">
                  <a:moveTo>
                    <a:pt x="3309" y="304"/>
                  </a:moveTo>
                  <a:lnTo>
                    <a:pt x="3309" y="210"/>
                  </a:lnTo>
                </a:path>
                <a:path w="7600" h="400" fill="none">
                  <a:moveTo>
                    <a:pt x="3378" y="96"/>
                  </a:moveTo>
                  <a:lnTo>
                    <a:pt x="3378" y="190"/>
                  </a:lnTo>
                </a:path>
                <a:path w="7600" h="400" fill="none">
                  <a:moveTo>
                    <a:pt x="3410" y="96"/>
                  </a:moveTo>
                  <a:lnTo>
                    <a:pt x="3410" y="190"/>
                  </a:lnTo>
                </a:path>
                <a:path w="7600" h="400" fill="none">
                  <a:moveTo>
                    <a:pt x="3378" y="304"/>
                  </a:moveTo>
                  <a:lnTo>
                    <a:pt x="3378" y="210"/>
                  </a:lnTo>
                </a:path>
                <a:path w="7600" h="400" fill="none">
                  <a:moveTo>
                    <a:pt x="3410" y="304"/>
                  </a:moveTo>
                  <a:lnTo>
                    <a:pt x="3410" y="210"/>
                  </a:lnTo>
                </a:path>
                <a:path w="7600" h="400" fill="none">
                  <a:moveTo>
                    <a:pt x="3480" y="96"/>
                  </a:moveTo>
                  <a:lnTo>
                    <a:pt x="3480" y="190"/>
                  </a:lnTo>
                </a:path>
                <a:path w="7600" h="400" fill="none">
                  <a:moveTo>
                    <a:pt x="3512" y="96"/>
                  </a:moveTo>
                  <a:lnTo>
                    <a:pt x="3512" y="190"/>
                  </a:lnTo>
                </a:path>
                <a:path w="7600" h="400" fill="none">
                  <a:moveTo>
                    <a:pt x="3480" y="304"/>
                  </a:moveTo>
                  <a:lnTo>
                    <a:pt x="3480" y="210"/>
                  </a:lnTo>
                </a:path>
                <a:path w="7600" h="400" fill="none">
                  <a:moveTo>
                    <a:pt x="3512" y="304"/>
                  </a:moveTo>
                  <a:lnTo>
                    <a:pt x="3512" y="210"/>
                  </a:lnTo>
                </a:path>
                <a:path w="7600" h="400" fill="none">
                  <a:moveTo>
                    <a:pt x="3581" y="96"/>
                  </a:moveTo>
                  <a:lnTo>
                    <a:pt x="3581" y="190"/>
                  </a:lnTo>
                </a:path>
                <a:path w="7600" h="400" fill="none">
                  <a:moveTo>
                    <a:pt x="3613" y="96"/>
                  </a:moveTo>
                  <a:lnTo>
                    <a:pt x="3613" y="190"/>
                  </a:lnTo>
                </a:path>
                <a:path w="7600" h="400" fill="none">
                  <a:moveTo>
                    <a:pt x="3581" y="304"/>
                  </a:moveTo>
                  <a:lnTo>
                    <a:pt x="3581" y="210"/>
                  </a:lnTo>
                </a:path>
                <a:path w="7600" h="400" fill="none">
                  <a:moveTo>
                    <a:pt x="3613" y="304"/>
                  </a:moveTo>
                  <a:lnTo>
                    <a:pt x="3613" y="210"/>
                  </a:lnTo>
                </a:path>
                <a:path w="7600" h="400" fill="none">
                  <a:moveTo>
                    <a:pt x="3682" y="96"/>
                  </a:moveTo>
                  <a:lnTo>
                    <a:pt x="3682" y="190"/>
                  </a:lnTo>
                </a:path>
                <a:path w="7600" h="400" fill="none">
                  <a:moveTo>
                    <a:pt x="3714" y="96"/>
                  </a:moveTo>
                  <a:lnTo>
                    <a:pt x="3714" y="190"/>
                  </a:lnTo>
                </a:path>
                <a:path w="7600" h="400" fill="none">
                  <a:moveTo>
                    <a:pt x="3682" y="304"/>
                  </a:moveTo>
                  <a:lnTo>
                    <a:pt x="3682" y="210"/>
                  </a:lnTo>
                </a:path>
                <a:path w="7600" h="400" fill="none">
                  <a:moveTo>
                    <a:pt x="3714" y="304"/>
                  </a:moveTo>
                  <a:lnTo>
                    <a:pt x="3714" y="210"/>
                  </a:lnTo>
                </a:path>
                <a:path w="7600" h="400" fill="none">
                  <a:moveTo>
                    <a:pt x="3784" y="96"/>
                  </a:moveTo>
                  <a:lnTo>
                    <a:pt x="3784" y="190"/>
                  </a:lnTo>
                </a:path>
                <a:path w="7600" h="400" fill="none">
                  <a:moveTo>
                    <a:pt x="3816" y="96"/>
                  </a:moveTo>
                  <a:lnTo>
                    <a:pt x="3816" y="190"/>
                  </a:lnTo>
                </a:path>
                <a:path w="7600" h="400" fill="none">
                  <a:moveTo>
                    <a:pt x="3784" y="304"/>
                  </a:moveTo>
                  <a:lnTo>
                    <a:pt x="3784" y="210"/>
                  </a:lnTo>
                </a:path>
                <a:path w="7600" h="400" fill="none">
                  <a:moveTo>
                    <a:pt x="3816" y="304"/>
                  </a:moveTo>
                  <a:lnTo>
                    <a:pt x="3816" y="210"/>
                  </a:lnTo>
                </a:path>
                <a:path w="7600" h="400" fill="none">
                  <a:moveTo>
                    <a:pt x="3885" y="96"/>
                  </a:moveTo>
                  <a:lnTo>
                    <a:pt x="3885" y="190"/>
                  </a:lnTo>
                </a:path>
                <a:path w="7600" h="400" fill="none">
                  <a:moveTo>
                    <a:pt x="3917" y="96"/>
                  </a:moveTo>
                  <a:lnTo>
                    <a:pt x="3917" y="190"/>
                  </a:lnTo>
                </a:path>
                <a:path w="7600" h="400" fill="none">
                  <a:moveTo>
                    <a:pt x="3885" y="304"/>
                  </a:moveTo>
                  <a:lnTo>
                    <a:pt x="3885" y="210"/>
                  </a:lnTo>
                </a:path>
                <a:path w="7600" h="400" fill="none">
                  <a:moveTo>
                    <a:pt x="3917" y="304"/>
                  </a:moveTo>
                  <a:lnTo>
                    <a:pt x="3917" y="210"/>
                  </a:lnTo>
                </a:path>
                <a:path w="7600" h="400" fill="none">
                  <a:moveTo>
                    <a:pt x="3986" y="96"/>
                  </a:moveTo>
                  <a:lnTo>
                    <a:pt x="3986" y="190"/>
                  </a:lnTo>
                </a:path>
                <a:path w="7600" h="400" fill="none">
                  <a:moveTo>
                    <a:pt x="4018" y="96"/>
                  </a:moveTo>
                  <a:lnTo>
                    <a:pt x="4018" y="190"/>
                  </a:lnTo>
                </a:path>
                <a:path w="7600" h="400" fill="none">
                  <a:moveTo>
                    <a:pt x="3986" y="304"/>
                  </a:moveTo>
                  <a:lnTo>
                    <a:pt x="3986" y="210"/>
                  </a:lnTo>
                </a:path>
                <a:path w="7600" h="400" fill="none">
                  <a:moveTo>
                    <a:pt x="4018" y="304"/>
                  </a:moveTo>
                  <a:lnTo>
                    <a:pt x="4018" y="210"/>
                  </a:lnTo>
                </a:path>
                <a:path w="7600" h="400" fill="none">
                  <a:moveTo>
                    <a:pt x="4088" y="96"/>
                  </a:moveTo>
                  <a:lnTo>
                    <a:pt x="4088" y="190"/>
                  </a:lnTo>
                </a:path>
                <a:path w="7600" h="400" fill="none">
                  <a:moveTo>
                    <a:pt x="4120" y="96"/>
                  </a:moveTo>
                  <a:lnTo>
                    <a:pt x="4120" y="190"/>
                  </a:lnTo>
                </a:path>
                <a:path w="7600" h="400" fill="none">
                  <a:moveTo>
                    <a:pt x="4088" y="304"/>
                  </a:moveTo>
                  <a:lnTo>
                    <a:pt x="4088" y="210"/>
                  </a:lnTo>
                </a:path>
                <a:path w="7600" h="400" fill="none">
                  <a:moveTo>
                    <a:pt x="4120" y="304"/>
                  </a:moveTo>
                  <a:lnTo>
                    <a:pt x="4120" y="210"/>
                  </a:lnTo>
                </a:path>
                <a:path w="7600" h="400" fill="none">
                  <a:moveTo>
                    <a:pt x="4189" y="96"/>
                  </a:moveTo>
                  <a:lnTo>
                    <a:pt x="4189" y="190"/>
                  </a:lnTo>
                </a:path>
                <a:path w="7600" h="400" fill="none">
                  <a:moveTo>
                    <a:pt x="4221" y="96"/>
                  </a:moveTo>
                  <a:lnTo>
                    <a:pt x="4221" y="190"/>
                  </a:lnTo>
                </a:path>
                <a:path w="7600" h="400" fill="none">
                  <a:moveTo>
                    <a:pt x="4189" y="304"/>
                  </a:moveTo>
                  <a:lnTo>
                    <a:pt x="4189" y="210"/>
                  </a:lnTo>
                </a:path>
                <a:path w="7600" h="400" fill="none">
                  <a:moveTo>
                    <a:pt x="4221" y="304"/>
                  </a:moveTo>
                  <a:lnTo>
                    <a:pt x="4221" y="210"/>
                  </a:lnTo>
                </a:path>
                <a:path w="7600" h="400" fill="none">
                  <a:moveTo>
                    <a:pt x="4290" y="96"/>
                  </a:moveTo>
                  <a:lnTo>
                    <a:pt x="4290" y="190"/>
                  </a:lnTo>
                </a:path>
                <a:path w="7600" h="400" fill="none">
                  <a:moveTo>
                    <a:pt x="4322" y="96"/>
                  </a:moveTo>
                  <a:lnTo>
                    <a:pt x="4322" y="190"/>
                  </a:lnTo>
                </a:path>
                <a:path w="7600" h="400" fill="none">
                  <a:moveTo>
                    <a:pt x="4290" y="304"/>
                  </a:moveTo>
                  <a:lnTo>
                    <a:pt x="4290" y="210"/>
                  </a:lnTo>
                </a:path>
                <a:path w="7600" h="400" fill="none">
                  <a:moveTo>
                    <a:pt x="4322" y="304"/>
                  </a:moveTo>
                  <a:lnTo>
                    <a:pt x="4322" y="210"/>
                  </a:lnTo>
                </a:path>
                <a:path w="7600" h="400" fill="none">
                  <a:moveTo>
                    <a:pt x="4392" y="96"/>
                  </a:moveTo>
                  <a:lnTo>
                    <a:pt x="4392" y="190"/>
                  </a:lnTo>
                </a:path>
                <a:path w="7600" h="400" fill="none">
                  <a:moveTo>
                    <a:pt x="4424" y="96"/>
                  </a:moveTo>
                  <a:lnTo>
                    <a:pt x="4424" y="190"/>
                  </a:lnTo>
                </a:path>
                <a:path w="7600" h="400" fill="none">
                  <a:moveTo>
                    <a:pt x="4392" y="304"/>
                  </a:moveTo>
                  <a:lnTo>
                    <a:pt x="4392" y="210"/>
                  </a:lnTo>
                </a:path>
                <a:path w="7600" h="400" fill="none">
                  <a:moveTo>
                    <a:pt x="4424" y="304"/>
                  </a:moveTo>
                  <a:lnTo>
                    <a:pt x="4424" y="210"/>
                  </a:lnTo>
                </a:path>
                <a:path w="7600" h="400" fill="none">
                  <a:moveTo>
                    <a:pt x="4493" y="96"/>
                  </a:moveTo>
                  <a:lnTo>
                    <a:pt x="4493" y="190"/>
                  </a:lnTo>
                </a:path>
                <a:path w="7600" h="400" fill="none">
                  <a:moveTo>
                    <a:pt x="4525" y="96"/>
                  </a:moveTo>
                  <a:lnTo>
                    <a:pt x="4525" y="190"/>
                  </a:lnTo>
                </a:path>
                <a:path w="7600" h="400" fill="none">
                  <a:moveTo>
                    <a:pt x="4493" y="304"/>
                  </a:moveTo>
                  <a:lnTo>
                    <a:pt x="4493" y="210"/>
                  </a:lnTo>
                </a:path>
                <a:path w="7600" h="400" fill="none">
                  <a:moveTo>
                    <a:pt x="4525" y="304"/>
                  </a:moveTo>
                  <a:lnTo>
                    <a:pt x="4525" y="210"/>
                  </a:lnTo>
                </a:path>
                <a:path w="7600" h="400" fill="none">
                  <a:moveTo>
                    <a:pt x="4594" y="96"/>
                  </a:moveTo>
                  <a:lnTo>
                    <a:pt x="4594" y="190"/>
                  </a:lnTo>
                </a:path>
                <a:path w="7600" h="400" fill="none">
                  <a:moveTo>
                    <a:pt x="4626" y="96"/>
                  </a:moveTo>
                  <a:lnTo>
                    <a:pt x="4626" y="190"/>
                  </a:lnTo>
                </a:path>
                <a:path w="7600" h="400" fill="none">
                  <a:moveTo>
                    <a:pt x="4594" y="304"/>
                  </a:moveTo>
                  <a:lnTo>
                    <a:pt x="4594" y="210"/>
                  </a:lnTo>
                </a:path>
                <a:path w="7600" h="400" fill="none">
                  <a:moveTo>
                    <a:pt x="4626" y="304"/>
                  </a:moveTo>
                  <a:lnTo>
                    <a:pt x="4626" y="210"/>
                  </a:lnTo>
                </a:path>
                <a:path w="7600" h="400" fill="none">
                  <a:moveTo>
                    <a:pt x="4696" y="96"/>
                  </a:moveTo>
                  <a:lnTo>
                    <a:pt x="4696" y="190"/>
                  </a:lnTo>
                </a:path>
                <a:path w="7600" h="400" fill="none">
                  <a:moveTo>
                    <a:pt x="4728" y="96"/>
                  </a:moveTo>
                  <a:lnTo>
                    <a:pt x="4728" y="190"/>
                  </a:lnTo>
                </a:path>
                <a:path w="7600" h="400" fill="none">
                  <a:moveTo>
                    <a:pt x="4696" y="304"/>
                  </a:moveTo>
                  <a:lnTo>
                    <a:pt x="4696" y="210"/>
                  </a:lnTo>
                </a:path>
                <a:path w="7600" h="400" fill="none">
                  <a:moveTo>
                    <a:pt x="4728" y="304"/>
                  </a:moveTo>
                  <a:lnTo>
                    <a:pt x="4728" y="210"/>
                  </a:lnTo>
                </a:path>
                <a:path w="7600" h="400" fill="none">
                  <a:moveTo>
                    <a:pt x="4797" y="96"/>
                  </a:moveTo>
                  <a:lnTo>
                    <a:pt x="4797" y="190"/>
                  </a:lnTo>
                </a:path>
                <a:path w="7600" h="400" fill="none">
                  <a:moveTo>
                    <a:pt x="4829" y="96"/>
                  </a:moveTo>
                  <a:lnTo>
                    <a:pt x="4829" y="190"/>
                  </a:lnTo>
                </a:path>
                <a:path w="7600" h="400" fill="none">
                  <a:moveTo>
                    <a:pt x="4797" y="304"/>
                  </a:moveTo>
                  <a:lnTo>
                    <a:pt x="4797" y="210"/>
                  </a:lnTo>
                </a:path>
                <a:path w="7600" h="400" fill="none">
                  <a:moveTo>
                    <a:pt x="4829" y="304"/>
                  </a:moveTo>
                  <a:lnTo>
                    <a:pt x="4829" y="210"/>
                  </a:lnTo>
                </a:path>
                <a:path w="7600" h="400" fill="none">
                  <a:moveTo>
                    <a:pt x="4898" y="96"/>
                  </a:moveTo>
                  <a:lnTo>
                    <a:pt x="4898" y="190"/>
                  </a:lnTo>
                </a:path>
                <a:path w="7600" h="400" fill="none">
                  <a:moveTo>
                    <a:pt x="4930" y="96"/>
                  </a:moveTo>
                  <a:lnTo>
                    <a:pt x="4930" y="190"/>
                  </a:lnTo>
                </a:path>
                <a:path w="7600" h="400" fill="none">
                  <a:moveTo>
                    <a:pt x="4898" y="304"/>
                  </a:moveTo>
                  <a:lnTo>
                    <a:pt x="4898" y="210"/>
                  </a:lnTo>
                </a:path>
                <a:path w="7600" h="400" fill="none">
                  <a:moveTo>
                    <a:pt x="4930" y="304"/>
                  </a:moveTo>
                  <a:lnTo>
                    <a:pt x="4930" y="210"/>
                  </a:lnTo>
                </a:path>
                <a:path w="7600" h="400" fill="none">
                  <a:moveTo>
                    <a:pt x="5000" y="96"/>
                  </a:moveTo>
                  <a:lnTo>
                    <a:pt x="5000" y="190"/>
                  </a:lnTo>
                </a:path>
                <a:path w="7600" h="400" fill="none">
                  <a:moveTo>
                    <a:pt x="5032" y="96"/>
                  </a:moveTo>
                  <a:lnTo>
                    <a:pt x="5032" y="190"/>
                  </a:lnTo>
                </a:path>
                <a:path w="7600" h="400" fill="none">
                  <a:moveTo>
                    <a:pt x="5000" y="304"/>
                  </a:moveTo>
                  <a:lnTo>
                    <a:pt x="5000" y="210"/>
                  </a:lnTo>
                </a:path>
                <a:path w="7600" h="400" fill="none">
                  <a:moveTo>
                    <a:pt x="5032" y="304"/>
                  </a:moveTo>
                  <a:lnTo>
                    <a:pt x="5032" y="210"/>
                  </a:lnTo>
                </a:path>
                <a:path w="7600" h="400" fill="none">
                  <a:moveTo>
                    <a:pt x="5101" y="96"/>
                  </a:moveTo>
                  <a:lnTo>
                    <a:pt x="5101" y="190"/>
                  </a:lnTo>
                </a:path>
                <a:path w="7600" h="400" fill="none">
                  <a:moveTo>
                    <a:pt x="5133" y="96"/>
                  </a:moveTo>
                  <a:lnTo>
                    <a:pt x="5133" y="190"/>
                  </a:lnTo>
                </a:path>
                <a:path w="7600" h="400" fill="none">
                  <a:moveTo>
                    <a:pt x="5101" y="304"/>
                  </a:moveTo>
                  <a:lnTo>
                    <a:pt x="5101" y="210"/>
                  </a:lnTo>
                </a:path>
                <a:path w="7600" h="400" fill="none">
                  <a:moveTo>
                    <a:pt x="5133" y="304"/>
                  </a:moveTo>
                  <a:lnTo>
                    <a:pt x="5133" y="210"/>
                  </a:lnTo>
                </a:path>
                <a:path w="7600" h="400" fill="none">
                  <a:moveTo>
                    <a:pt x="5202" y="96"/>
                  </a:moveTo>
                  <a:lnTo>
                    <a:pt x="5202" y="190"/>
                  </a:lnTo>
                </a:path>
                <a:path w="7600" h="400" fill="none">
                  <a:moveTo>
                    <a:pt x="5234" y="96"/>
                  </a:moveTo>
                  <a:lnTo>
                    <a:pt x="5234" y="190"/>
                  </a:lnTo>
                </a:path>
                <a:path w="7600" h="400" fill="none">
                  <a:moveTo>
                    <a:pt x="5202" y="304"/>
                  </a:moveTo>
                  <a:lnTo>
                    <a:pt x="5202" y="210"/>
                  </a:lnTo>
                </a:path>
                <a:path w="7600" h="400" fill="none">
                  <a:moveTo>
                    <a:pt x="5234" y="304"/>
                  </a:moveTo>
                  <a:lnTo>
                    <a:pt x="5234" y="210"/>
                  </a:lnTo>
                </a:path>
                <a:path w="7600" h="400" fill="none">
                  <a:moveTo>
                    <a:pt x="5304" y="96"/>
                  </a:moveTo>
                  <a:lnTo>
                    <a:pt x="5304" y="190"/>
                  </a:lnTo>
                </a:path>
                <a:path w="7600" h="400" fill="none">
                  <a:moveTo>
                    <a:pt x="5336" y="96"/>
                  </a:moveTo>
                  <a:lnTo>
                    <a:pt x="5336" y="190"/>
                  </a:lnTo>
                </a:path>
                <a:path w="7600" h="400" fill="none">
                  <a:moveTo>
                    <a:pt x="5304" y="304"/>
                  </a:moveTo>
                  <a:lnTo>
                    <a:pt x="5304" y="210"/>
                  </a:lnTo>
                </a:path>
                <a:path w="7600" h="400" fill="none">
                  <a:moveTo>
                    <a:pt x="5336" y="304"/>
                  </a:moveTo>
                  <a:lnTo>
                    <a:pt x="5336" y="210"/>
                  </a:lnTo>
                </a:path>
                <a:path w="7600" h="400" fill="none">
                  <a:moveTo>
                    <a:pt x="5405" y="96"/>
                  </a:moveTo>
                  <a:lnTo>
                    <a:pt x="5405" y="190"/>
                  </a:lnTo>
                </a:path>
                <a:path w="7600" h="400" fill="none">
                  <a:moveTo>
                    <a:pt x="5437" y="96"/>
                  </a:moveTo>
                  <a:lnTo>
                    <a:pt x="5437" y="190"/>
                  </a:lnTo>
                </a:path>
                <a:path w="7600" h="400" fill="none">
                  <a:moveTo>
                    <a:pt x="5405" y="304"/>
                  </a:moveTo>
                  <a:lnTo>
                    <a:pt x="5405" y="210"/>
                  </a:lnTo>
                </a:path>
                <a:path w="7600" h="400" fill="none">
                  <a:moveTo>
                    <a:pt x="5437" y="304"/>
                  </a:moveTo>
                  <a:lnTo>
                    <a:pt x="5437" y="210"/>
                  </a:lnTo>
                </a:path>
                <a:path w="7600" h="400" fill="none">
                  <a:moveTo>
                    <a:pt x="5506" y="96"/>
                  </a:moveTo>
                  <a:lnTo>
                    <a:pt x="5506" y="190"/>
                  </a:lnTo>
                </a:path>
                <a:path w="7600" h="400" fill="none">
                  <a:moveTo>
                    <a:pt x="5538" y="96"/>
                  </a:moveTo>
                  <a:lnTo>
                    <a:pt x="5538" y="190"/>
                  </a:lnTo>
                </a:path>
                <a:path w="7600" h="400" fill="none">
                  <a:moveTo>
                    <a:pt x="5506" y="304"/>
                  </a:moveTo>
                  <a:lnTo>
                    <a:pt x="5506" y="210"/>
                  </a:lnTo>
                </a:path>
                <a:path w="7600" h="400" fill="none">
                  <a:moveTo>
                    <a:pt x="5538" y="304"/>
                  </a:moveTo>
                  <a:lnTo>
                    <a:pt x="5538" y="210"/>
                  </a:lnTo>
                </a:path>
                <a:path w="7600" h="400" fill="none">
                  <a:moveTo>
                    <a:pt x="5608" y="96"/>
                  </a:moveTo>
                  <a:lnTo>
                    <a:pt x="5608" y="190"/>
                  </a:lnTo>
                </a:path>
                <a:path w="7600" h="400" fill="none">
                  <a:moveTo>
                    <a:pt x="5640" y="96"/>
                  </a:moveTo>
                  <a:lnTo>
                    <a:pt x="5640" y="190"/>
                  </a:lnTo>
                </a:path>
                <a:path w="7600" h="400" fill="none">
                  <a:moveTo>
                    <a:pt x="5608" y="304"/>
                  </a:moveTo>
                  <a:lnTo>
                    <a:pt x="5608" y="210"/>
                  </a:lnTo>
                </a:path>
                <a:path w="7600" h="400" fill="none">
                  <a:moveTo>
                    <a:pt x="5640" y="304"/>
                  </a:moveTo>
                  <a:lnTo>
                    <a:pt x="5640" y="210"/>
                  </a:lnTo>
                </a:path>
                <a:path w="7600" h="400" fill="none">
                  <a:moveTo>
                    <a:pt x="5709" y="96"/>
                  </a:moveTo>
                  <a:lnTo>
                    <a:pt x="5709" y="190"/>
                  </a:lnTo>
                </a:path>
                <a:path w="7600" h="400" fill="none">
                  <a:moveTo>
                    <a:pt x="5741" y="96"/>
                  </a:moveTo>
                  <a:lnTo>
                    <a:pt x="5741" y="190"/>
                  </a:lnTo>
                </a:path>
                <a:path w="7600" h="400" fill="none">
                  <a:moveTo>
                    <a:pt x="5709" y="304"/>
                  </a:moveTo>
                  <a:lnTo>
                    <a:pt x="5709" y="210"/>
                  </a:lnTo>
                </a:path>
                <a:path w="7600" h="400" fill="none">
                  <a:moveTo>
                    <a:pt x="5741" y="304"/>
                  </a:moveTo>
                  <a:lnTo>
                    <a:pt x="5741" y="210"/>
                  </a:lnTo>
                </a:path>
                <a:path w="7600" h="400" fill="none">
                  <a:moveTo>
                    <a:pt x="5810" y="96"/>
                  </a:moveTo>
                  <a:lnTo>
                    <a:pt x="5810" y="190"/>
                  </a:lnTo>
                </a:path>
                <a:path w="7600" h="400" fill="none">
                  <a:moveTo>
                    <a:pt x="5842" y="96"/>
                  </a:moveTo>
                  <a:lnTo>
                    <a:pt x="5842" y="190"/>
                  </a:lnTo>
                </a:path>
                <a:path w="7600" h="400" fill="none">
                  <a:moveTo>
                    <a:pt x="5810" y="304"/>
                  </a:moveTo>
                  <a:lnTo>
                    <a:pt x="5810" y="210"/>
                  </a:lnTo>
                </a:path>
                <a:path w="7600" h="400" fill="none">
                  <a:moveTo>
                    <a:pt x="5842" y="304"/>
                  </a:moveTo>
                  <a:lnTo>
                    <a:pt x="5842" y="210"/>
                  </a:lnTo>
                </a:path>
                <a:path w="7600" h="400" fill="none">
                  <a:moveTo>
                    <a:pt x="5912" y="96"/>
                  </a:moveTo>
                  <a:lnTo>
                    <a:pt x="5912" y="190"/>
                  </a:lnTo>
                </a:path>
                <a:path w="7600" h="400" fill="none">
                  <a:moveTo>
                    <a:pt x="5944" y="96"/>
                  </a:moveTo>
                  <a:lnTo>
                    <a:pt x="5944" y="190"/>
                  </a:lnTo>
                </a:path>
                <a:path w="7600" h="400" fill="none">
                  <a:moveTo>
                    <a:pt x="5912" y="304"/>
                  </a:moveTo>
                  <a:lnTo>
                    <a:pt x="5912" y="210"/>
                  </a:lnTo>
                </a:path>
                <a:path w="7600" h="400" fill="none">
                  <a:moveTo>
                    <a:pt x="5944" y="304"/>
                  </a:moveTo>
                  <a:lnTo>
                    <a:pt x="5944" y="210"/>
                  </a:lnTo>
                </a:path>
                <a:path w="7600" h="400" fill="none">
                  <a:moveTo>
                    <a:pt x="6013" y="96"/>
                  </a:moveTo>
                  <a:lnTo>
                    <a:pt x="6013" y="190"/>
                  </a:lnTo>
                </a:path>
                <a:path w="7600" h="400" fill="none">
                  <a:moveTo>
                    <a:pt x="6045" y="96"/>
                  </a:moveTo>
                  <a:lnTo>
                    <a:pt x="6045" y="190"/>
                  </a:lnTo>
                </a:path>
                <a:path w="7600" h="400" fill="none">
                  <a:moveTo>
                    <a:pt x="6013" y="304"/>
                  </a:moveTo>
                  <a:lnTo>
                    <a:pt x="6013" y="210"/>
                  </a:lnTo>
                </a:path>
                <a:path w="7600" h="400" fill="none">
                  <a:moveTo>
                    <a:pt x="6045" y="304"/>
                  </a:moveTo>
                  <a:lnTo>
                    <a:pt x="6045" y="210"/>
                  </a:lnTo>
                </a:path>
                <a:path w="7600" h="400" fill="none">
                  <a:moveTo>
                    <a:pt x="6114" y="96"/>
                  </a:moveTo>
                  <a:lnTo>
                    <a:pt x="6114" y="190"/>
                  </a:lnTo>
                </a:path>
                <a:path w="7600" h="400" fill="none">
                  <a:moveTo>
                    <a:pt x="6146" y="96"/>
                  </a:moveTo>
                  <a:lnTo>
                    <a:pt x="6146" y="190"/>
                  </a:lnTo>
                </a:path>
                <a:path w="7600" h="400" fill="none">
                  <a:moveTo>
                    <a:pt x="6114" y="304"/>
                  </a:moveTo>
                  <a:lnTo>
                    <a:pt x="6114" y="210"/>
                  </a:lnTo>
                </a:path>
                <a:path w="7600" h="400" fill="none">
                  <a:moveTo>
                    <a:pt x="6146" y="304"/>
                  </a:moveTo>
                  <a:lnTo>
                    <a:pt x="6146" y="210"/>
                  </a:lnTo>
                </a:path>
                <a:path w="7600" h="400" fill="none">
                  <a:moveTo>
                    <a:pt x="6216" y="96"/>
                  </a:moveTo>
                  <a:lnTo>
                    <a:pt x="6216" y="190"/>
                  </a:lnTo>
                </a:path>
                <a:path w="7600" h="400" fill="none">
                  <a:moveTo>
                    <a:pt x="6248" y="96"/>
                  </a:moveTo>
                  <a:lnTo>
                    <a:pt x="6248" y="190"/>
                  </a:lnTo>
                </a:path>
                <a:path w="7600" h="400" fill="none">
                  <a:moveTo>
                    <a:pt x="6216" y="304"/>
                  </a:moveTo>
                  <a:lnTo>
                    <a:pt x="6216" y="210"/>
                  </a:lnTo>
                </a:path>
                <a:path w="7600" h="400" fill="none">
                  <a:moveTo>
                    <a:pt x="6248" y="304"/>
                  </a:moveTo>
                  <a:lnTo>
                    <a:pt x="6248" y="210"/>
                  </a:lnTo>
                </a:path>
                <a:path w="7600" h="400" fill="none">
                  <a:moveTo>
                    <a:pt x="6317" y="96"/>
                  </a:moveTo>
                  <a:lnTo>
                    <a:pt x="6317" y="190"/>
                  </a:lnTo>
                </a:path>
                <a:path w="7600" h="400" fill="none">
                  <a:moveTo>
                    <a:pt x="6349" y="96"/>
                  </a:moveTo>
                  <a:lnTo>
                    <a:pt x="6349" y="190"/>
                  </a:lnTo>
                </a:path>
                <a:path w="7600" h="400" fill="none">
                  <a:moveTo>
                    <a:pt x="6317" y="304"/>
                  </a:moveTo>
                  <a:lnTo>
                    <a:pt x="6317" y="210"/>
                  </a:lnTo>
                </a:path>
                <a:path w="7600" h="400" fill="none">
                  <a:moveTo>
                    <a:pt x="6349" y="304"/>
                  </a:moveTo>
                  <a:lnTo>
                    <a:pt x="6349" y="210"/>
                  </a:lnTo>
                </a:path>
                <a:path w="7600" h="400" fill="none">
                  <a:moveTo>
                    <a:pt x="6418" y="96"/>
                  </a:moveTo>
                  <a:lnTo>
                    <a:pt x="6418" y="190"/>
                  </a:lnTo>
                </a:path>
                <a:path w="7600" h="400" fill="none">
                  <a:moveTo>
                    <a:pt x="6450" y="96"/>
                  </a:moveTo>
                  <a:lnTo>
                    <a:pt x="6450" y="190"/>
                  </a:lnTo>
                </a:path>
                <a:path w="7600" h="400" fill="none">
                  <a:moveTo>
                    <a:pt x="6418" y="304"/>
                  </a:moveTo>
                  <a:lnTo>
                    <a:pt x="6418" y="210"/>
                  </a:lnTo>
                </a:path>
                <a:path w="7600" h="400" fill="none">
                  <a:moveTo>
                    <a:pt x="6450" y="304"/>
                  </a:moveTo>
                  <a:lnTo>
                    <a:pt x="6450" y="210"/>
                  </a:lnTo>
                </a:path>
                <a:path w="7600" h="400" fill="none">
                  <a:moveTo>
                    <a:pt x="6520" y="96"/>
                  </a:moveTo>
                  <a:lnTo>
                    <a:pt x="6520" y="190"/>
                  </a:lnTo>
                </a:path>
                <a:path w="7600" h="400" fill="none">
                  <a:moveTo>
                    <a:pt x="6552" y="96"/>
                  </a:moveTo>
                  <a:lnTo>
                    <a:pt x="6552" y="190"/>
                  </a:lnTo>
                </a:path>
                <a:path w="7600" h="400" fill="none">
                  <a:moveTo>
                    <a:pt x="6520" y="304"/>
                  </a:moveTo>
                  <a:lnTo>
                    <a:pt x="6520" y="210"/>
                  </a:lnTo>
                </a:path>
                <a:path w="7600" h="400" fill="none">
                  <a:moveTo>
                    <a:pt x="6552" y="304"/>
                  </a:moveTo>
                  <a:lnTo>
                    <a:pt x="6552" y="210"/>
                  </a:lnTo>
                </a:path>
                <a:path w="7600" h="400" fill="none">
                  <a:moveTo>
                    <a:pt x="6621" y="96"/>
                  </a:moveTo>
                  <a:lnTo>
                    <a:pt x="6621" y="190"/>
                  </a:lnTo>
                </a:path>
                <a:path w="7600" h="400" fill="none">
                  <a:moveTo>
                    <a:pt x="6653" y="96"/>
                  </a:moveTo>
                  <a:lnTo>
                    <a:pt x="6653" y="190"/>
                  </a:lnTo>
                </a:path>
                <a:path w="7600" h="400" fill="none">
                  <a:moveTo>
                    <a:pt x="6621" y="304"/>
                  </a:moveTo>
                  <a:lnTo>
                    <a:pt x="6621" y="210"/>
                  </a:lnTo>
                </a:path>
                <a:path w="7600" h="400" fill="none">
                  <a:moveTo>
                    <a:pt x="6653" y="304"/>
                  </a:moveTo>
                  <a:lnTo>
                    <a:pt x="6653" y="210"/>
                  </a:lnTo>
                </a:path>
                <a:path w="7600" h="400" fill="none">
                  <a:moveTo>
                    <a:pt x="6722" y="96"/>
                  </a:moveTo>
                  <a:lnTo>
                    <a:pt x="6722" y="190"/>
                  </a:lnTo>
                </a:path>
                <a:path w="7600" h="400" fill="none">
                  <a:moveTo>
                    <a:pt x="6754" y="96"/>
                  </a:moveTo>
                  <a:lnTo>
                    <a:pt x="6754" y="190"/>
                  </a:lnTo>
                </a:path>
                <a:path w="7600" h="400" fill="none">
                  <a:moveTo>
                    <a:pt x="6722" y="304"/>
                  </a:moveTo>
                  <a:lnTo>
                    <a:pt x="6722" y="210"/>
                  </a:lnTo>
                </a:path>
                <a:path w="7600" h="400" fill="none">
                  <a:moveTo>
                    <a:pt x="6754" y="304"/>
                  </a:moveTo>
                  <a:lnTo>
                    <a:pt x="6754" y="210"/>
                  </a:lnTo>
                </a:path>
                <a:path w="7600" h="400" fill="none">
                  <a:moveTo>
                    <a:pt x="6824" y="96"/>
                  </a:moveTo>
                  <a:lnTo>
                    <a:pt x="6824" y="190"/>
                  </a:lnTo>
                </a:path>
                <a:path w="7600" h="400" fill="none">
                  <a:moveTo>
                    <a:pt x="6856" y="96"/>
                  </a:moveTo>
                  <a:lnTo>
                    <a:pt x="6856" y="190"/>
                  </a:lnTo>
                </a:path>
                <a:path w="7600" h="400" fill="none">
                  <a:moveTo>
                    <a:pt x="6824" y="304"/>
                  </a:moveTo>
                  <a:lnTo>
                    <a:pt x="6824" y="210"/>
                  </a:lnTo>
                </a:path>
                <a:path w="7600" h="400" fill="none">
                  <a:moveTo>
                    <a:pt x="6856" y="304"/>
                  </a:moveTo>
                  <a:lnTo>
                    <a:pt x="6856" y="210"/>
                  </a:lnTo>
                </a:path>
                <a:path w="7600" h="400" fill="none">
                  <a:moveTo>
                    <a:pt x="6925" y="96"/>
                  </a:moveTo>
                  <a:lnTo>
                    <a:pt x="6925" y="190"/>
                  </a:lnTo>
                </a:path>
                <a:path w="7600" h="400" fill="none">
                  <a:moveTo>
                    <a:pt x="6957" y="96"/>
                  </a:moveTo>
                  <a:lnTo>
                    <a:pt x="6957" y="190"/>
                  </a:lnTo>
                </a:path>
                <a:path w="7600" h="400" fill="none">
                  <a:moveTo>
                    <a:pt x="6925" y="304"/>
                  </a:moveTo>
                  <a:lnTo>
                    <a:pt x="6925" y="210"/>
                  </a:lnTo>
                </a:path>
                <a:path w="7600" h="400" fill="none">
                  <a:moveTo>
                    <a:pt x="6957" y="304"/>
                  </a:moveTo>
                  <a:lnTo>
                    <a:pt x="6957" y="210"/>
                  </a:lnTo>
                </a:path>
                <a:path w="7600" h="400" fill="none">
                  <a:moveTo>
                    <a:pt x="7026" y="96"/>
                  </a:moveTo>
                  <a:lnTo>
                    <a:pt x="7026" y="190"/>
                  </a:lnTo>
                </a:path>
                <a:path w="7600" h="400" fill="none">
                  <a:moveTo>
                    <a:pt x="7058" y="96"/>
                  </a:moveTo>
                  <a:lnTo>
                    <a:pt x="7058" y="190"/>
                  </a:lnTo>
                </a:path>
                <a:path w="7600" h="400" fill="none">
                  <a:moveTo>
                    <a:pt x="7026" y="304"/>
                  </a:moveTo>
                  <a:lnTo>
                    <a:pt x="7026" y="210"/>
                  </a:lnTo>
                </a:path>
                <a:path w="7600" h="400" fill="none">
                  <a:moveTo>
                    <a:pt x="7058" y="304"/>
                  </a:moveTo>
                  <a:lnTo>
                    <a:pt x="7058" y="210"/>
                  </a:lnTo>
                </a:path>
                <a:path w="7600" h="400" fill="none">
                  <a:moveTo>
                    <a:pt x="7128" y="96"/>
                  </a:moveTo>
                  <a:lnTo>
                    <a:pt x="7128" y="190"/>
                  </a:lnTo>
                </a:path>
                <a:path w="7600" h="400" fill="none">
                  <a:moveTo>
                    <a:pt x="7160" y="96"/>
                  </a:moveTo>
                  <a:lnTo>
                    <a:pt x="7160" y="190"/>
                  </a:lnTo>
                </a:path>
                <a:path w="7600" h="400" fill="none">
                  <a:moveTo>
                    <a:pt x="7128" y="304"/>
                  </a:moveTo>
                  <a:lnTo>
                    <a:pt x="7128" y="210"/>
                  </a:lnTo>
                </a:path>
                <a:path w="7600" h="400" fill="none">
                  <a:moveTo>
                    <a:pt x="7160" y="304"/>
                  </a:moveTo>
                  <a:lnTo>
                    <a:pt x="7160" y="210"/>
                  </a:lnTo>
                </a:path>
                <a:path w="7600" h="400" fill="none">
                  <a:moveTo>
                    <a:pt x="7229" y="96"/>
                  </a:moveTo>
                  <a:lnTo>
                    <a:pt x="7229" y="190"/>
                  </a:lnTo>
                </a:path>
                <a:path w="7600" h="400" fill="none">
                  <a:moveTo>
                    <a:pt x="7261" y="96"/>
                  </a:moveTo>
                  <a:lnTo>
                    <a:pt x="7261" y="190"/>
                  </a:lnTo>
                </a:path>
                <a:path w="7600" h="400" fill="none">
                  <a:moveTo>
                    <a:pt x="7229" y="304"/>
                  </a:moveTo>
                  <a:lnTo>
                    <a:pt x="7229" y="210"/>
                  </a:lnTo>
                </a:path>
                <a:path w="7600" h="400" fill="none">
                  <a:moveTo>
                    <a:pt x="7261" y="304"/>
                  </a:moveTo>
                  <a:lnTo>
                    <a:pt x="7261" y="210"/>
                  </a:lnTo>
                </a:path>
                <a:path w="7600" h="400" fill="none">
                  <a:moveTo>
                    <a:pt x="7330" y="96"/>
                  </a:moveTo>
                  <a:lnTo>
                    <a:pt x="7330" y="190"/>
                  </a:lnTo>
                </a:path>
                <a:path w="7600" h="400" fill="none">
                  <a:moveTo>
                    <a:pt x="7362" y="96"/>
                  </a:moveTo>
                  <a:lnTo>
                    <a:pt x="7362" y="190"/>
                  </a:lnTo>
                </a:path>
                <a:path w="7600" h="400" fill="none">
                  <a:moveTo>
                    <a:pt x="7330" y="304"/>
                  </a:moveTo>
                  <a:lnTo>
                    <a:pt x="7330" y="210"/>
                  </a:lnTo>
                </a:path>
                <a:path w="7600" h="400" fill="none">
                  <a:moveTo>
                    <a:pt x="7362" y="304"/>
                  </a:moveTo>
                  <a:lnTo>
                    <a:pt x="7362" y="210"/>
                  </a:lnTo>
                </a:path>
                <a:path w="7600" h="400" fill="none">
                  <a:moveTo>
                    <a:pt x="7432" y="96"/>
                  </a:moveTo>
                  <a:lnTo>
                    <a:pt x="7432" y="190"/>
                  </a:lnTo>
                </a:path>
                <a:path w="7600" h="400" fill="none">
                  <a:moveTo>
                    <a:pt x="7464" y="96"/>
                  </a:moveTo>
                  <a:lnTo>
                    <a:pt x="7464" y="190"/>
                  </a:lnTo>
                </a:path>
                <a:path w="7600" h="400" fill="none">
                  <a:moveTo>
                    <a:pt x="7432" y="304"/>
                  </a:moveTo>
                  <a:lnTo>
                    <a:pt x="7432" y="210"/>
                  </a:lnTo>
                </a:path>
                <a:path w="7600" h="400" fill="none">
                  <a:moveTo>
                    <a:pt x="7464" y="304"/>
                  </a:moveTo>
                  <a:lnTo>
                    <a:pt x="7464" y="210"/>
                  </a:lnTo>
                </a:path>
                <a:path w="7600" h="400" fill="none">
                  <a:moveTo>
                    <a:pt x="7533" y="96"/>
                  </a:moveTo>
                  <a:lnTo>
                    <a:pt x="7533" y="190"/>
                  </a:lnTo>
                </a:path>
                <a:path w="7600" h="400" fill="none">
                  <a:moveTo>
                    <a:pt x="7565" y="96"/>
                  </a:moveTo>
                  <a:lnTo>
                    <a:pt x="7565" y="190"/>
                  </a:lnTo>
                </a:path>
                <a:path w="7600" h="400" fill="none">
                  <a:moveTo>
                    <a:pt x="7533" y="304"/>
                  </a:moveTo>
                  <a:lnTo>
                    <a:pt x="7533" y="210"/>
                  </a:lnTo>
                </a:path>
                <a:path w="7600" h="400" fill="none">
                  <a:moveTo>
                    <a:pt x="7565" y="304"/>
                  </a:moveTo>
                  <a:lnTo>
                    <a:pt x="7565" y="210"/>
                  </a:lnTo>
                </a:path>
              </a:pathLst>
            </a:custGeom>
            <a:noFill/>
            <a:ln w="9525" cap="rnd">
              <a:solidFill>
                <a:srgbClr val="A49887"/>
              </a:solidFill>
              <a:round/>
            </a:ln>
          </p:spPr>
        </p:sp>
      </p:grpSp>
      <p:grpSp>
        <p:nvGrpSpPr>
          <p:cNvPr id="8" name="Receptor de insulina"/>
          <p:cNvGrpSpPr/>
          <p:nvPr/>
        </p:nvGrpSpPr>
        <p:grpSpPr>
          <a:xfrm>
            <a:off x="914400" y="1401318"/>
            <a:ext cx="802386" cy="1668780"/>
            <a:chOff x="914400" y="1401318"/>
            <a:chExt cx="802386" cy="1668780"/>
          </a:xfrm>
        </p:grpSpPr>
        <p:sp>
          <p:nvSpPr>
            <p:cNvPr id="9" name="Forma 8"/>
            <p:cNvSpPr/>
            <p:nvPr/>
          </p:nvSpPr>
          <p:spPr>
            <a:xfrm>
              <a:off x="914400" y="1401318"/>
              <a:ext cx="377190" cy="65151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0" name="Forma 9"/>
            <p:cNvSpPr/>
            <p:nvPr/>
          </p:nvSpPr>
          <p:spPr>
            <a:xfrm flipH="1">
              <a:off x="1339596" y="1401318"/>
              <a:ext cx="377190" cy="65151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1" name="Forma 10"/>
            <p:cNvSpPr/>
            <p:nvPr/>
          </p:nvSpPr>
          <p:spPr>
            <a:xfrm>
              <a:off x="1051560" y="2039112"/>
              <a:ext cx="109728" cy="530352"/>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2" name="Forma 11"/>
            <p:cNvSpPr/>
            <p:nvPr/>
          </p:nvSpPr>
          <p:spPr>
            <a:xfrm>
              <a:off x="969264" y="2555748"/>
              <a:ext cx="274320" cy="51435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3" name="Forma 12"/>
            <p:cNvSpPr/>
            <p:nvPr/>
          </p:nvSpPr>
          <p:spPr>
            <a:xfrm>
              <a:off x="1408176" y="2039112"/>
              <a:ext cx="109728" cy="530352"/>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4" name="Forma 13"/>
            <p:cNvSpPr/>
            <p:nvPr/>
          </p:nvSpPr>
          <p:spPr>
            <a:xfrm>
              <a:off x="1325880" y="2555748"/>
              <a:ext cx="274320" cy="51435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5" name="Forma 14"/>
            <p:cNvSpPr/>
            <p:nvPr/>
          </p:nvSpPr>
          <p:spPr>
            <a:xfrm>
              <a:off x="1154430" y="1901952"/>
              <a:ext cx="274320" cy="68580"/>
            </a:xfrm>
            <a:prstGeom prst="rect">
              <a:avLst/>
            </a:prstGeom>
            <a:solidFill>
              <a:srgbClr val="1B4F72"/>
            </a:solidFill>
            <a:ln>
              <a:noFill/>
            </a:ln>
          </p:spPr>
        </p:sp>
      </p:grpSp>
      <p:sp>
        <p:nvSpPr>
          <p:cNvPr id="16" name="Insulina"/>
          <p:cNvSpPr/>
          <p:nvPr/>
        </p:nvSpPr>
        <p:spPr>
          <a:xfrm>
            <a:off x="1143000" y="914400"/>
            <a:ext cx="411480" cy="41148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Ins</a:t>
            </a:r>
            <a:endParaRPr lang="es-AR" sz="1170" dirty="0">
              <a:latin typeface="Bahnschrift SemiBold Condensed"/>
            </a:endParaRPr>
          </a:p>
        </p:txBody>
      </p:sp>
      <p:sp>
        <p:nvSpPr>
          <p:cNvPr id="17" name="Forma 16"/>
          <p:cNvSpPr/>
          <p:nvPr/>
        </p:nvSpPr>
        <p:spPr>
          <a:xfrm>
            <a:off x="548640" y="3429000"/>
            <a:ext cx="811530" cy="566928"/>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500" b="1" dirty="0">
                <a:solidFill>
                  <a:srgbClr val="1E1E1E"/>
                </a:solidFill>
                <a:latin typeface="Bahnschrift"/>
                <a:ea typeface="Bahnschrift"/>
                <a:cs typeface="Bahnschrift"/>
                <a:sym typeface="Bahnschrift"/>
              </a:rPr>
              <a:t>IRS</a:t>
            </a:r>
            <a:endParaRPr lang="es-AR" sz="1500" dirty="0">
              <a:latin typeface="Bahnschrift"/>
            </a:endParaRPr>
          </a:p>
        </p:txBody>
      </p:sp>
      <p:sp>
        <p:nvSpPr>
          <p:cNvPr id="18" name="Flecha 17_2"/>
          <p:cNvSpPr/>
          <p:nvPr/>
        </p:nvSpPr>
        <p:spPr>
          <a:xfrm>
            <a:off x="1396746" y="3712464"/>
            <a:ext cx="246888" cy="9144"/>
          </a:xfrm>
          <a:custGeom>
            <a:avLst/>
            <a:gdLst/>
            <a:ahLst/>
            <a:cxnLst/>
            <a:rect l="0" t="0" r="r" b="b"/>
            <a:pathLst>
              <a:path w="270" h="10" fill="none">
                <a:moveTo>
                  <a:pt x="0" y="0"/>
                </a:moveTo>
                <a:lnTo>
                  <a:pt x="270" y="0"/>
                </a:lnTo>
              </a:path>
            </a:pathLst>
          </a:custGeom>
          <a:noFill/>
          <a:ln w="31750" cap="rnd">
            <a:solidFill>
              <a:srgbClr val="1E1E1E"/>
            </a:solidFill>
            <a:round/>
            <a:tailEnd type="triangle" w="med" len="med"/>
          </a:ln>
        </p:spPr>
      </p:sp>
      <p:sp>
        <p:nvSpPr>
          <p:cNvPr id="19" name="Forma 19"/>
          <p:cNvSpPr/>
          <p:nvPr/>
        </p:nvSpPr>
        <p:spPr>
          <a:xfrm>
            <a:off x="1680210" y="3429000"/>
            <a:ext cx="811530" cy="566928"/>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500" b="1" dirty="0">
                <a:solidFill>
                  <a:srgbClr val="1E1E1E"/>
                </a:solidFill>
                <a:latin typeface="Bahnschrift"/>
                <a:ea typeface="Bahnschrift"/>
                <a:cs typeface="Bahnschrift"/>
                <a:sym typeface="Bahnschrift"/>
              </a:rPr>
              <a:t>PI3K</a:t>
            </a:r>
            <a:endParaRPr lang="es-AR" sz="1500" dirty="0">
              <a:latin typeface="Bahnschrift"/>
            </a:endParaRPr>
          </a:p>
        </p:txBody>
      </p:sp>
      <p:sp>
        <p:nvSpPr>
          <p:cNvPr id="20" name="Flecha 20_2"/>
          <p:cNvSpPr/>
          <p:nvPr/>
        </p:nvSpPr>
        <p:spPr>
          <a:xfrm>
            <a:off x="2528316" y="3712464"/>
            <a:ext cx="246888" cy="9144"/>
          </a:xfrm>
          <a:custGeom>
            <a:avLst/>
            <a:gdLst/>
            <a:ahLst/>
            <a:cxnLst/>
            <a:rect l="0" t="0" r="r" b="b"/>
            <a:pathLst>
              <a:path w="270" h="10" fill="none">
                <a:moveTo>
                  <a:pt x="0" y="0"/>
                </a:moveTo>
                <a:lnTo>
                  <a:pt x="270" y="0"/>
                </a:lnTo>
              </a:path>
            </a:pathLst>
          </a:custGeom>
          <a:noFill/>
          <a:ln w="31750" cap="rnd">
            <a:solidFill>
              <a:srgbClr val="1E1E1E"/>
            </a:solidFill>
            <a:round/>
            <a:tailEnd type="triangle" w="med" len="med"/>
          </a:ln>
        </p:spPr>
      </p:sp>
      <p:sp>
        <p:nvSpPr>
          <p:cNvPr id="21" name="Forma 22"/>
          <p:cNvSpPr/>
          <p:nvPr/>
        </p:nvSpPr>
        <p:spPr>
          <a:xfrm>
            <a:off x="2811780" y="3429000"/>
            <a:ext cx="811530" cy="566928"/>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500" b="1" dirty="0">
                <a:solidFill>
                  <a:srgbClr val="1E1E1E"/>
                </a:solidFill>
                <a:latin typeface="Bahnschrift"/>
                <a:ea typeface="Bahnschrift"/>
                <a:cs typeface="Bahnschrift"/>
                <a:sym typeface="Bahnschrift"/>
              </a:rPr>
              <a:t>PIP</a:t>
            </a:r>
            <a:r>
              <a:rPr lang="es-AR" sz="1500" b="1" baseline="-25000" dirty="0">
                <a:solidFill>
                  <a:srgbClr val="1E1E1E"/>
                </a:solidFill>
                <a:latin typeface="Bahnschrift"/>
                <a:ea typeface="Bahnschrift"/>
                <a:cs typeface="Bahnschrift"/>
                <a:sym typeface="Bahnschrift"/>
              </a:rPr>
              <a:t>3</a:t>
            </a:r>
            <a:endParaRPr lang="es-AR" sz="1500" dirty="0">
              <a:latin typeface="Bahnschrift"/>
            </a:endParaRPr>
          </a:p>
        </p:txBody>
      </p:sp>
      <p:sp>
        <p:nvSpPr>
          <p:cNvPr id="22" name="Flecha 23_2"/>
          <p:cNvSpPr/>
          <p:nvPr/>
        </p:nvSpPr>
        <p:spPr>
          <a:xfrm>
            <a:off x="3659886" y="3712464"/>
            <a:ext cx="246888" cy="9144"/>
          </a:xfrm>
          <a:custGeom>
            <a:avLst/>
            <a:gdLst/>
            <a:ahLst/>
            <a:cxnLst/>
            <a:rect l="0" t="0" r="r" b="b"/>
            <a:pathLst>
              <a:path w="270" h="10" fill="none">
                <a:moveTo>
                  <a:pt x="0" y="0"/>
                </a:moveTo>
                <a:lnTo>
                  <a:pt x="270" y="0"/>
                </a:lnTo>
              </a:path>
            </a:pathLst>
          </a:custGeom>
          <a:noFill/>
          <a:ln w="31750" cap="rnd">
            <a:solidFill>
              <a:srgbClr val="1E1E1E"/>
            </a:solidFill>
            <a:round/>
            <a:tailEnd type="triangle" w="med" len="med"/>
          </a:ln>
        </p:spPr>
      </p:sp>
      <p:sp>
        <p:nvSpPr>
          <p:cNvPr id="23" name="Forma 25"/>
          <p:cNvSpPr/>
          <p:nvPr/>
        </p:nvSpPr>
        <p:spPr>
          <a:xfrm>
            <a:off x="3943350" y="3429000"/>
            <a:ext cx="811530" cy="56692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500" b="1" dirty="0">
                <a:solidFill>
                  <a:srgbClr val="1E1E1E"/>
                </a:solidFill>
                <a:latin typeface="Bahnschrift"/>
                <a:ea typeface="Bahnschrift"/>
                <a:cs typeface="Bahnschrift"/>
                <a:sym typeface="Bahnschrift"/>
              </a:rPr>
              <a:t>Akt</a:t>
            </a:r>
            <a:endParaRPr lang="es-AR" sz="1500" dirty="0">
              <a:latin typeface="Bahnschrift"/>
            </a:endParaRPr>
          </a:p>
        </p:txBody>
      </p:sp>
      <p:grpSp>
        <p:nvGrpSpPr>
          <p:cNvPr id="24" name="Vesícula GLUT4 1"/>
          <p:cNvGrpSpPr/>
          <p:nvPr/>
        </p:nvGrpSpPr>
        <p:grpSpPr>
          <a:xfrm>
            <a:off x="5120640" y="4754880"/>
            <a:ext cx="640080" cy="640080"/>
            <a:chOff x="5120640" y="4754880"/>
            <a:chExt cx="640080" cy="640080"/>
          </a:xfrm>
        </p:grpSpPr>
        <p:sp>
          <p:nvSpPr>
            <p:cNvPr id="25" name="Forma 27"/>
            <p:cNvSpPr/>
            <p:nvPr/>
          </p:nvSpPr>
          <p:spPr>
            <a:xfrm>
              <a:off x="5120640" y="4754880"/>
              <a:ext cx="640080" cy="640080"/>
            </a:xfrm>
            <a:prstGeom prst="ellipse">
              <a:avLst/>
            </a:prstGeom>
            <a:solidFill>
              <a:srgbClr val="FDEBD0">
                <a:alpha val="80000"/>
              </a:srgbClr>
            </a:solidFill>
            <a:ln w="19050" cap="rnd">
              <a:solidFill>
                <a:srgbClr val="C0392B"/>
              </a:solidFill>
              <a:round/>
            </a:ln>
          </p:spPr>
        </p:sp>
        <p:grpSp>
          <p:nvGrpSpPr>
            <p:cNvPr id="26" name="!!GLUT"/>
            <p:cNvGrpSpPr/>
            <p:nvPr/>
          </p:nvGrpSpPr>
          <p:grpSpPr>
            <a:xfrm>
              <a:off x="5285232" y="4828032"/>
              <a:ext cx="384048" cy="457200"/>
              <a:chOff x="5285232" y="4828032"/>
              <a:chExt cx="384048" cy="457200"/>
            </a:xfrm>
          </p:grpSpPr>
          <p:sp>
            <p:nvSpPr>
              <p:cNvPr id="27" name="Forma 29"/>
              <p:cNvSpPr/>
              <p:nvPr/>
            </p:nvSpPr>
            <p:spPr>
              <a:xfrm>
                <a:off x="5285232" y="482803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sp>
            <p:nvSpPr>
              <p:cNvPr id="28" name="Forma 30"/>
              <p:cNvSpPr/>
              <p:nvPr/>
            </p:nvSpPr>
            <p:spPr>
              <a:xfrm>
                <a:off x="5504688" y="482803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grpSp>
      </p:grpSp>
      <p:grpSp>
        <p:nvGrpSpPr>
          <p:cNvPr id="29" name="Vesícula GLUT4 2"/>
          <p:cNvGrpSpPr/>
          <p:nvPr/>
        </p:nvGrpSpPr>
        <p:grpSpPr>
          <a:xfrm>
            <a:off x="5852160" y="5212080"/>
            <a:ext cx="640080" cy="640080"/>
            <a:chOff x="5852160" y="5212080"/>
            <a:chExt cx="640080" cy="640080"/>
          </a:xfrm>
        </p:grpSpPr>
        <p:sp>
          <p:nvSpPr>
            <p:cNvPr id="30" name="Forma 32"/>
            <p:cNvSpPr/>
            <p:nvPr/>
          </p:nvSpPr>
          <p:spPr>
            <a:xfrm>
              <a:off x="5852160" y="5212080"/>
              <a:ext cx="640080" cy="640080"/>
            </a:xfrm>
            <a:prstGeom prst="ellipse">
              <a:avLst/>
            </a:prstGeom>
            <a:solidFill>
              <a:srgbClr val="FDEBD0">
                <a:alpha val="80000"/>
              </a:srgbClr>
            </a:solidFill>
            <a:ln w="19050" cap="rnd">
              <a:solidFill>
                <a:srgbClr val="C0392B"/>
              </a:solidFill>
              <a:round/>
            </a:ln>
          </p:spPr>
        </p:sp>
        <p:grpSp>
          <p:nvGrpSpPr>
            <p:cNvPr id="31" name="!!GLUT_2"/>
            <p:cNvGrpSpPr/>
            <p:nvPr/>
          </p:nvGrpSpPr>
          <p:grpSpPr>
            <a:xfrm>
              <a:off x="6016752" y="5285232"/>
              <a:ext cx="384048" cy="457200"/>
              <a:chOff x="6016752" y="5285232"/>
              <a:chExt cx="384048" cy="457200"/>
            </a:xfrm>
          </p:grpSpPr>
          <p:sp>
            <p:nvSpPr>
              <p:cNvPr id="32" name="Forma 34"/>
              <p:cNvSpPr/>
              <p:nvPr/>
            </p:nvSpPr>
            <p:spPr>
              <a:xfrm>
                <a:off x="6016752" y="528523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sp>
            <p:nvSpPr>
              <p:cNvPr id="33" name="Forma 35"/>
              <p:cNvSpPr/>
              <p:nvPr/>
            </p:nvSpPr>
            <p:spPr>
              <a:xfrm>
                <a:off x="6236208" y="528523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grpSp>
      </p:grpSp>
      <p:grpSp>
        <p:nvGrpSpPr>
          <p:cNvPr id="34" name="Vesícula GLUT4 3"/>
          <p:cNvGrpSpPr/>
          <p:nvPr/>
        </p:nvGrpSpPr>
        <p:grpSpPr>
          <a:xfrm>
            <a:off x="6492240" y="4572000"/>
            <a:ext cx="640080" cy="640080"/>
            <a:chOff x="6492240" y="4572000"/>
            <a:chExt cx="640080" cy="640080"/>
          </a:xfrm>
        </p:grpSpPr>
        <p:sp>
          <p:nvSpPr>
            <p:cNvPr id="35" name="Forma 37"/>
            <p:cNvSpPr/>
            <p:nvPr/>
          </p:nvSpPr>
          <p:spPr>
            <a:xfrm>
              <a:off x="6492240" y="4572000"/>
              <a:ext cx="640080" cy="640080"/>
            </a:xfrm>
            <a:prstGeom prst="ellipse">
              <a:avLst/>
            </a:prstGeom>
            <a:solidFill>
              <a:srgbClr val="FDEBD0">
                <a:alpha val="80000"/>
              </a:srgbClr>
            </a:solidFill>
            <a:ln w="19050" cap="rnd">
              <a:solidFill>
                <a:srgbClr val="C0392B"/>
              </a:solidFill>
              <a:round/>
            </a:ln>
          </p:spPr>
        </p:sp>
        <p:grpSp>
          <p:nvGrpSpPr>
            <p:cNvPr id="36" name="!!GLUT_3"/>
            <p:cNvGrpSpPr/>
            <p:nvPr/>
          </p:nvGrpSpPr>
          <p:grpSpPr>
            <a:xfrm>
              <a:off x="6656832" y="4645152"/>
              <a:ext cx="384048" cy="457200"/>
              <a:chOff x="6656832" y="4645152"/>
              <a:chExt cx="384048" cy="457200"/>
            </a:xfrm>
          </p:grpSpPr>
          <p:sp>
            <p:nvSpPr>
              <p:cNvPr id="37" name="Forma 39"/>
              <p:cNvSpPr/>
              <p:nvPr/>
            </p:nvSpPr>
            <p:spPr>
              <a:xfrm>
                <a:off x="6656832" y="464515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sp>
            <p:nvSpPr>
              <p:cNvPr id="38" name="Forma 40"/>
              <p:cNvSpPr/>
              <p:nvPr/>
            </p:nvSpPr>
            <p:spPr>
              <a:xfrm>
                <a:off x="6876288" y="4645152"/>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grpSp>
      </p:grpSp>
      <p:sp>
        <p:nvSpPr>
          <p:cNvPr id="39" name="Forma 41"/>
          <p:cNvSpPr txBox="1"/>
          <p:nvPr/>
        </p:nvSpPr>
        <p:spPr>
          <a:xfrm>
            <a:off x="5029200" y="5897880"/>
            <a:ext cx="2377440" cy="45720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922B21"/>
                </a:solidFill>
                <a:latin typeface="Bahnschrift SemiBold Condensed"/>
                <a:ea typeface="Bahnschrift SemiBold Condensed"/>
                <a:cs typeface="Bahnschrift SemiBold Condensed"/>
                <a:sym typeface="Bahnschrift SemiBold Condensed"/>
              </a:rPr>
              <a:t>Vesículas con GLUT4</a:t>
            </a:r>
            <a:endParaRPr lang="es-AR" sz="1250" dirty="0">
              <a:latin typeface="Bahnschrift SemiBold Condensed"/>
            </a:endParaRPr>
          </a:p>
        </p:txBody>
      </p:sp>
      <p:sp>
        <p:nvSpPr>
          <p:cNvPr id="40" name="Glc 0"/>
          <p:cNvSpPr/>
          <p:nvPr/>
        </p:nvSpPr>
        <p:spPr>
          <a:xfrm>
            <a:off x="5212080" y="114300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41" name="Glc 1"/>
          <p:cNvSpPr/>
          <p:nvPr/>
        </p:nvSpPr>
        <p:spPr>
          <a:xfrm>
            <a:off x="5852160" y="114300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42" name="Glc 2"/>
          <p:cNvSpPr/>
          <p:nvPr/>
        </p:nvSpPr>
        <p:spPr>
          <a:xfrm>
            <a:off x="6492240" y="114300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43" name="Forma 45"/>
          <p:cNvSpPr/>
          <p:nvPr/>
        </p:nvSpPr>
        <p:spPr>
          <a:xfrm>
            <a:off x="7680960" y="1005840"/>
            <a:ext cx="4114800" cy="2743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Insulina → receptor </a:t>
            </a:r>
            <a:r>
              <a:rPr lang="es-AR" sz="1650" b="1" dirty="0">
                <a:solidFill>
                  <a:srgbClr val="1E1E1E"/>
                </a:solidFill>
                <a:latin typeface="Bahnschrift"/>
                <a:ea typeface="Bahnschrift"/>
                <a:cs typeface="Bahnschrift"/>
                <a:sym typeface="Bahnschrift"/>
              </a:rPr>
              <a:t>tirosina cinasa</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IRS</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PI3K</a:t>
            </a:r>
            <a:r>
              <a:rPr lang="es-AR" sz="1650" dirty="0">
                <a:solidFill>
                  <a:srgbClr val="1E1E1E"/>
                </a:solidFill>
                <a:latin typeface="Bahnschrift"/>
                <a:ea typeface="Bahnschrift"/>
                <a:cs typeface="Bahnschrift"/>
                <a:sym typeface="Bahnschrift"/>
              </a:rPr>
              <a:t> → PIP</a:t>
            </a:r>
            <a:r>
              <a:rPr lang="es-AR" sz="1650" baseline="-25000" dirty="0">
                <a:solidFill>
                  <a:srgbClr val="1E1E1E"/>
                </a:solidFill>
                <a:latin typeface="Bahnschrift"/>
                <a:ea typeface="Bahnschrift"/>
                <a:cs typeface="Bahnschrift"/>
                <a:sym typeface="Bahnschrift"/>
              </a:rPr>
              <a:t>3</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Akt</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Akt (vía AS160/TBC1D4) promueve la </a:t>
            </a:r>
            <a:r>
              <a:rPr lang="es-AR" sz="1650" b="1" dirty="0">
                <a:solidFill>
                  <a:srgbClr val="1E1E1E"/>
                </a:solidFill>
                <a:latin typeface="Bahnschrift"/>
                <a:ea typeface="Bahnschrift"/>
                <a:cs typeface="Bahnschrift"/>
                <a:sym typeface="Bahnschrift"/>
              </a:rPr>
              <a:t>translocación de GLUT4</a:t>
            </a:r>
            <a:r>
              <a:rPr lang="es-AR" sz="1650" dirty="0">
                <a:solidFill>
                  <a:srgbClr val="1E1E1E"/>
                </a:solidFill>
                <a:latin typeface="Bahnschrift"/>
                <a:ea typeface="Bahnschrift"/>
                <a:cs typeface="Bahnschrift"/>
                <a:sym typeface="Bahnschrift"/>
              </a:rPr>
              <a:t> a la membrana.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glucosa se </a:t>
            </a:r>
            <a:r>
              <a:rPr lang="es-AR" sz="1650" b="1" dirty="0">
                <a:solidFill>
                  <a:srgbClr val="1E1E1E"/>
                </a:solidFill>
                <a:latin typeface="Bahnschrift"/>
                <a:ea typeface="Bahnschrift"/>
                <a:cs typeface="Bahnschrift"/>
                <a:sym typeface="Bahnschrift"/>
              </a:rPr>
              <a:t>oxida</a:t>
            </a:r>
            <a:r>
              <a:rPr lang="es-AR" sz="1650" dirty="0">
                <a:solidFill>
                  <a:srgbClr val="1E1E1E"/>
                </a:solidFill>
                <a:latin typeface="Bahnschrift"/>
                <a:ea typeface="Bahnschrift"/>
                <a:cs typeface="Bahnschrift"/>
                <a:sym typeface="Bahnschrift"/>
              </a:rPr>
              <a:t>, se </a:t>
            </a:r>
            <a:r>
              <a:rPr lang="es-AR" sz="1650" b="1" dirty="0">
                <a:solidFill>
                  <a:srgbClr val="1E1E1E"/>
                </a:solidFill>
                <a:latin typeface="Bahnschrift"/>
                <a:ea typeface="Bahnschrift"/>
                <a:cs typeface="Bahnschrift"/>
                <a:sym typeface="Bahnschrift"/>
              </a:rPr>
              <a:t>almacena</a:t>
            </a:r>
            <a:r>
              <a:rPr lang="es-AR" sz="1650" dirty="0">
                <a:solidFill>
                  <a:srgbClr val="1E1E1E"/>
                </a:solidFill>
                <a:latin typeface="Bahnschrift"/>
                <a:ea typeface="Bahnschrift"/>
                <a:cs typeface="Bahnschrift"/>
                <a:sym typeface="Bahnschrift"/>
              </a:rPr>
              <a:t> (glucógeno) o aporta </a:t>
            </a:r>
            <a:r>
              <a:rPr lang="es-AR" sz="1650" b="1" dirty="0">
                <a:solidFill>
                  <a:srgbClr val="1E1E1E"/>
                </a:solidFill>
                <a:latin typeface="Bahnschrift"/>
                <a:ea typeface="Bahnschrift"/>
                <a:cs typeface="Bahnschrift"/>
                <a:sym typeface="Bahnschrift"/>
              </a:rPr>
              <a:t>glicerol-3-P</a:t>
            </a:r>
            <a:r>
              <a:rPr lang="es-AR" sz="1650" dirty="0">
                <a:solidFill>
                  <a:srgbClr val="1E1E1E"/>
                </a:solidFill>
                <a:latin typeface="Bahnschrift"/>
                <a:ea typeface="Bahnschrift"/>
                <a:cs typeface="Bahnschrift"/>
                <a:sym typeface="Bahnschrift"/>
              </a:rPr>
              <a:t> (adipocito).</a:t>
            </a:r>
            <a:endParaRPr lang="es-AR" sz="1650" dirty="0">
              <a:latin typeface="Bahnschrift"/>
            </a:endParaRPr>
          </a:p>
        </p:txBody>
      </p:sp>
      <p:sp>
        <p:nvSpPr>
          <p:cNvPr id="44" name="Forma 46"/>
          <p:cNvSpPr/>
          <p:nvPr/>
        </p:nvSpPr>
        <p:spPr>
          <a:xfrm>
            <a:off x="7680960" y="3931920"/>
            <a:ext cx="4114800" cy="25603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contracción</a:t>
            </a:r>
            <a:r>
              <a:rPr lang="es-AR" sz="1650" dirty="0">
                <a:solidFill>
                  <a:srgbClr val="1E1E1E"/>
                </a:solidFill>
                <a:latin typeface="Bahnschrift"/>
                <a:ea typeface="Bahnschrift"/>
                <a:cs typeface="Bahnschrift"/>
                <a:sym typeface="Bahnschrift"/>
              </a:rPr>
              <a:t> también transloca GLUT4 por vías </a:t>
            </a:r>
            <a:r>
              <a:rPr lang="es-AR" sz="1650" b="1" dirty="0">
                <a:solidFill>
                  <a:srgbClr val="1E1E1E"/>
                </a:solidFill>
                <a:latin typeface="Bahnschrift"/>
                <a:ea typeface="Bahnschrift"/>
                <a:cs typeface="Bahnschrift"/>
                <a:sym typeface="Bahnschrift"/>
              </a:rPr>
              <a:t>independientes de insulina</a:t>
            </a:r>
            <a:r>
              <a:rPr lang="es-AR" sz="1650" dirty="0">
                <a:solidFill>
                  <a:srgbClr val="1E1E1E"/>
                </a:solidFill>
                <a:latin typeface="Bahnschrift"/>
                <a:ea typeface="Bahnschrift"/>
                <a:cs typeface="Bahnschrift"/>
                <a:sym typeface="Bahnschrift"/>
              </a:rPr>
              <a:t> (AMPK, Ca</a:t>
            </a:r>
            <a:r>
              <a:rPr lang="es-AR" sz="1650" baseline="30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Hígado (GLUT2), eritrocito (GLUT1) y neurona (GLUT3) </a:t>
            </a:r>
            <a:r>
              <a:rPr lang="es-AR" sz="1650" b="1" dirty="0">
                <a:solidFill>
                  <a:srgbClr val="1E1E1E"/>
                </a:solidFill>
                <a:latin typeface="Bahnschrift"/>
                <a:ea typeface="Bahnschrift"/>
                <a:cs typeface="Bahnschrift"/>
                <a:sym typeface="Bahnschrift"/>
              </a:rPr>
              <a:t>no</a:t>
            </a:r>
            <a:r>
              <a:rPr lang="es-AR" sz="1650" dirty="0">
                <a:solidFill>
                  <a:srgbClr val="1E1E1E"/>
                </a:solidFill>
                <a:latin typeface="Bahnschrift"/>
                <a:ea typeface="Bahnschrift"/>
                <a:cs typeface="Bahnschrift"/>
                <a:sym typeface="Bahnschrift"/>
              </a:rPr>
              <a:t> dependen de insulina para captar glucosa.</a:t>
            </a:r>
            <a:endParaRPr lang="es-AR" sz="16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71756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300" b="1" dirty="0">
                <a:solidFill>
                  <a:srgbClr val="1E1E1E"/>
                </a:solidFill>
                <a:latin typeface="Bahnschrift SemiBold Condensed"/>
                <a:ea typeface="Bahnschrift SemiBold Condensed"/>
                <a:cs typeface="Bahnschrift SemiBold Condensed"/>
                <a:sym typeface="Bahnschrift SemiBold Condensed"/>
              </a:rPr>
              <a:t>3 · GLUCOSA EN MÚSCULO Y ADIPOCITO: GLUT4 DEPENDIENTE DE INSULINA</a:t>
            </a:r>
            <a:endParaRPr lang="es-AR" sz="2300" dirty="0">
              <a:latin typeface="Bahnschrift SemiBold Condensed"/>
            </a:endParaRPr>
          </a:p>
        </p:txBody>
      </p:sp>
      <p:sp>
        <p:nvSpPr>
          <p:cNvPr id="4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4"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000 0.1133 E" pathEditMode="relative" ptsTypes="">
                                      <p:cBhvr>
                                        <p:cTn id="4" dur="900" fill="hold"/>
                                        <p:tgtEl>
                                          <p:spTgt spid="16"/>
                                        </p:tgtEl>
                                        <p:attrNameLst>
                                          <p:attrName>ppt_x</p:attrName>
                                          <p:attrName>ppt_y</p:attrName>
                                        </p:attrNameLst>
                                      </p:cBhvr>
                                      <p:rCtr x="0" y="5666"/>
                                    </p:animMotion>
                                  </p:childTnLst>
                                </p:cTn>
                              </p:par>
                            </p:childTnLst>
                          </p:cTn>
                        </p:par>
                        <p:par>
                          <p:cTn id="8" fill="hold">
                            <p:stCondLst>
                              <p:cond delay="900"/>
                            </p:stCondLst>
                            <p:childTnLst>
                              <p:par>
                                <p:cTn id="6" presetID="6" presetClass="emph" presetSubtype="0" fill="hold" grpId="0" nodeType="afterEffect">
                                  <p:stCondLst>
                                    <p:cond delay="0"/>
                                  </p:stCondLst>
                                  <p:childTnLst>
                                    <p:animScale>
                                      <p:cBhvr>
                                        <p:cTn id="7" dur="300" autoRev="1" fill="hold"/>
                                        <p:tgtEl>
                                          <p:spTgt spid="8"/>
                                        </p:tgtEl>
                                      </p:cBhvr>
                                      <p:by x="112000" y="112000"/>
                                    </p:animScale>
                                  </p:childTnLst>
                                </p:cTn>
                              </p:par>
                            </p:childTnLst>
                          </p:cTn>
                        </p:par>
                        <p:par>
                          <p:cTn id="12" fill="hold">
                            <p:stCondLst>
                              <p:cond delay="1200"/>
                            </p:stCondLst>
                            <p:childTnLst>
                              <p:par>
                                <p:cTn id="9" presetID="10" presetClass="entr" presetSubtype="0"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par>
                          <p:cTn id="19" fill="hold">
                            <p:stCondLst>
                              <p:cond delay="1700"/>
                            </p:stCondLst>
                            <p:childTnLst>
                              <p:par>
                                <p:cTn id="13" presetID="22" presetClass="entr" presetSubtype="8"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wipe(left)">
                                      <p:cBhvr>
                                        <p:cTn id="15" dur="6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par>
                          <p:cTn id="26" fill="hold">
                            <p:stCondLst>
                              <p:cond delay="2300"/>
                            </p:stCondLst>
                            <p:childTnLst>
                              <p:par>
                                <p:cTn id="20" presetID="22" presetClass="entr" presetSubtype="8"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left)">
                                      <p:cBhvr>
                                        <p:cTn id="22" dur="600"/>
                                        <p:tgtEl>
                                          <p:spTgt spid="2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33" fill="hold">
                            <p:stCondLst>
                              <p:cond delay="2900"/>
                            </p:stCondLst>
                            <p:childTnLst>
                              <p:par>
                                <p:cTn id="27" presetID="22" presetClass="entr" presetSubtype="8" fill="hold" grpId="0" nodeType="after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wipe(left)">
                                      <p:cBhvr>
                                        <p:cTn id="29" dur="600"/>
                                        <p:tgtEl>
                                          <p:spTgt spid="2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44" fill="hold">
                      <p:stCondLst>
                        <p:cond delay="indefinite"/>
                      </p:stCondLst>
                      <p:childTnLst>
                        <p:par>
                          <p:cTn id="37" fill="hold">
                            <p:stCondLst>
                              <p:cond delay="0"/>
                            </p:stCondLst>
                            <p:childTnLst>
                              <p:par>
                                <p:cTn id="35" presetID="0" presetClass="path" presetSubtype="0" accel="20000" decel="20000" fill="hold" grpId="0" nodeType="clickEffect">
                                  <p:stCondLst>
                                    <p:cond delay="0"/>
                                  </p:stCondLst>
                                  <p:childTnLst>
                                    <p:animMotion origin="layout" path="M 0 0 L 0.0000 -0.3800 E" pathEditMode="relative" ptsTypes="">
                                      <p:cBhvr>
                                        <p:cTn id="36" dur="1400" fill="hold"/>
                                        <p:tgtEl>
                                          <p:spTgt spid="24"/>
                                        </p:tgtEl>
                                        <p:attrNameLst>
                                          <p:attrName>ppt_x</p:attrName>
                                          <p:attrName>ppt_y</p:attrName>
                                        </p:attrNameLst>
                                      </p:cBhvr>
                                      <p:rCtr x="0" y="-19000"/>
                                    </p:animMotion>
                                  </p:childTnLst>
                                </p:cTn>
                              </p:par>
                            </p:childTnLst>
                          </p:cTn>
                        </p:par>
                        <p:par>
                          <p:cTn id="40" fill="hold">
                            <p:stCondLst>
                              <p:cond delay="150"/>
                            </p:stCondLst>
                            <p:childTnLst>
                              <p:par>
                                <p:cTn id="38" presetID="0" presetClass="path" presetSubtype="0" accel="20000" decel="20000" fill="hold" grpId="0" nodeType="afterEffect">
                                  <p:stCondLst>
                                    <p:cond delay="0"/>
                                  </p:stCondLst>
                                  <p:childTnLst>
                                    <p:animMotion origin="layout" path="M 0 0 L -0.0075 -0.4467 E" pathEditMode="relative" ptsTypes="">
                                      <p:cBhvr>
                                        <p:cTn id="39" dur="1600" fill="hold"/>
                                        <p:tgtEl>
                                          <p:spTgt spid="29"/>
                                        </p:tgtEl>
                                        <p:attrNameLst>
                                          <p:attrName>ppt_x</p:attrName>
                                          <p:attrName>ppt_y</p:attrName>
                                        </p:attrNameLst>
                                      </p:cBhvr>
                                      <p:rCtr x="-375" y="-22333"/>
                                    </p:animMotion>
                                  </p:childTnLst>
                                </p:cTn>
                              </p:par>
                            </p:childTnLst>
                          </p:cTn>
                        </p:par>
                        <p:par>
                          <p:cTn id="43" fill="hold">
                            <p:stCondLst>
                              <p:cond delay="450"/>
                            </p:stCondLst>
                            <p:childTnLst>
                              <p:par>
                                <p:cTn id="41" presetID="0" presetClass="path" presetSubtype="0" accel="20000" decel="20000" fill="hold" grpId="0" nodeType="afterEffect">
                                  <p:stCondLst>
                                    <p:cond delay="0"/>
                                  </p:stCondLst>
                                  <p:childTnLst>
                                    <p:animMotion origin="layout" path="M 0 0 L 0.0150 -0.3533 E" pathEditMode="relative" ptsTypes="">
                                      <p:cBhvr>
                                        <p:cTn id="42" dur="1500" fill="hold"/>
                                        <p:tgtEl>
                                          <p:spTgt spid="34"/>
                                        </p:tgtEl>
                                        <p:attrNameLst>
                                          <p:attrName>ppt_x</p:attrName>
                                          <p:attrName>ppt_y</p:attrName>
                                        </p:attrNameLst>
                                      </p:cBhvr>
                                      <p:rCtr x="750" y="-17666"/>
                                    </p:animMotion>
                                  </p:childTnLst>
                                </p:cTn>
                              </p:par>
                            </p:childTnLst>
                          </p:cTn>
                        </p:par>
                      </p:childTnLst>
                    </p:cTn>
                  </p:par>
                  <p:par>
                    <p:cTn id="54" fill="hold">
                      <p:stCondLst>
                        <p:cond delay="indefinite"/>
                      </p:stCondLst>
                      <p:childTnLst>
                        <p:par>
                          <p:cTn id="47" fill="hold">
                            <p:stCondLst>
                              <p:cond delay="0"/>
                            </p:stCondLst>
                            <p:childTnLst>
                              <p:par>
                                <p:cTn id="45" presetID="0" presetClass="path" presetSubtype="0" accel="20000" decel="20000" fill="hold" grpId="0" nodeType="clickEffect">
                                  <p:stCondLst>
                                    <p:cond delay="0"/>
                                  </p:stCondLst>
                                  <p:childTnLst>
                                    <p:animMotion origin="layout" path="M 0 0 L 0.0000 0.2133 E" pathEditMode="relative" ptsTypes="">
                                      <p:cBhvr>
                                        <p:cTn id="46" dur="1000" fill="hold"/>
                                        <p:tgtEl>
                                          <p:spTgt spid="40"/>
                                        </p:tgtEl>
                                        <p:attrNameLst>
                                          <p:attrName>ppt_x</p:attrName>
                                          <p:attrName>ppt_y</p:attrName>
                                        </p:attrNameLst>
                                      </p:cBhvr>
                                      <p:rCtr x="0" y="10666"/>
                                    </p:animMotion>
                                  </p:childTnLst>
                                </p:cTn>
                              </p:par>
                            </p:childTnLst>
                          </p:cTn>
                        </p:par>
                        <p:par>
                          <p:cTn id="50" fill="hold">
                            <p:stCondLst>
                              <p:cond delay="1000"/>
                            </p:stCondLst>
                            <p:childTnLst>
                              <p:par>
                                <p:cTn id="48" presetID="0" presetClass="path" presetSubtype="0" accel="20000" decel="20000" fill="hold" grpId="0" nodeType="afterEffect">
                                  <p:stCondLst>
                                    <p:cond delay="0"/>
                                  </p:stCondLst>
                                  <p:childTnLst>
                                    <p:animMotion origin="layout" path="M 0 0 L 0.0000 0.2133 E" pathEditMode="relative" ptsTypes="">
                                      <p:cBhvr>
                                        <p:cTn id="49" dur="1000" fill="hold"/>
                                        <p:tgtEl>
                                          <p:spTgt spid="41"/>
                                        </p:tgtEl>
                                        <p:attrNameLst>
                                          <p:attrName>ppt_x</p:attrName>
                                          <p:attrName>ppt_y</p:attrName>
                                        </p:attrNameLst>
                                      </p:cBhvr>
                                      <p:rCtr x="0" y="10666"/>
                                    </p:animMotion>
                                  </p:childTnLst>
                                </p:cTn>
                              </p:par>
                            </p:childTnLst>
                          </p:cTn>
                        </p:par>
                        <p:par>
                          <p:cTn id="53" fill="hold">
                            <p:stCondLst>
                              <p:cond delay="2000"/>
                            </p:stCondLst>
                            <p:childTnLst>
                              <p:par>
                                <p:cTn id="51" presetID="0" presetClass="path" presetSubtype="0" accel="20000" decel="20000" fill="hold" grpId="0" nodeType="afterEffect">
                                  <p:stCondLst>
                                    <p:cond delay="0"/>
                                  </p:stCondLst>
                                  <p:childTnLst>
                                    <p:animMotion origin="layout" path="M 0 0 L 0.0000 0.2133 E" pathEditMode="relative" ptsTypes="">
                                      <p:cBhvr>
                                        <p:cTn id="52" dur="1000" fill="hold"/>
                                        <p:tgtEl>
                                          <p:spTgt spid="42"/>
                                        </p:tgtEl>
                                        <p:attrNameLst>
                                          <p:attrName>ppt_x</p:attrName>
                                          <p:attrName>ppt_y</p:attrName>
                                        </p:attrNameLst>
                                      </p:cBhvr>
                                      <p:rCtr x="0" y="10666"/>
                                    </p:animMotion>
                                  </p:childTnLst>
                                </p:cTn>
                              </p:par>
                            </p:childTnLst>
                          </p:cTn>
                        </p:par>
                      </p:childTnLst>
                    </p:cTn>
                  </p:par>
                  <p:par>
                    <p:cTn id="59" fill="hold">
                      <p:stCondLst>
                        <p:cond delay="indefinite"/>
                      </p:stCondLst>
                      <p:childTnLst>
                        <p:par>
                          <p:cTn id="58"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500"/>
                                        <p:tgtEl>
                                          <p:spTgt spid="43"/>
                                        </p:tgtEl>
                                      </p:cBhvr>
                                    </p:animEffect>
                                  </p:childTnLst>
                                </p:cTn>
                              </p:par>
                            </p:childTnLst>
                          </p:cTn>
                        </p:par>
                      </p:childTnLst>
                    </p:cTn>
                  </p:par>
                  <p:par>
                    <p:cTn id="64" fill="hold">
                      <p:stCondLst>
                        <p:cond delay="indefinite"/>
                      </p:stCondLst>
                      <p:childTnLst>
                        <p:par>
                          <p:cTn id="63"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4"/>
                                        </p:tgtEl>
                                        <p:attrNameLst>
                                          <p:attrName>style.visibility</p:attrName>
                                        </p:attrNameLst>
                                      </p:cBhvr>
                                      <p:to>
                                        <p:strVal val="visible"/>
                                      </p:to>
                                    </p:set>
                                    <p:animEffect transition="in" filter="fade">
                                      <p:cBhvr>
                                        <p:cTn id="62"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P spid="22" grpId="0" animBg="1"/>
      <p:bldP spid="23" grpId="0" animBg="1"/>
      <p:bldP spid="40" grpId="0" animBg="1"/>
      <p:bldP spid="41" grpId="0" animBg="1"/>
      <p:bldP spid="42" grpId="0" animBg="1"/>
      <p:bldP spid="43" grpId="0" animBg="1"/>
      <p:bldP spid="44" grpId="0" animBg="1"/>
    </p:bldLst>
  </p:timing>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Luz intestinal"/>
          <p:cNvSpPr/>
          <p:nvPr/>
        </p:nvSpPr>
        <p:spPr>
          <a:xfrm>
            <a:off x="365760" y="960120"/>
            <a:ext cx="11430000" cy="822960"/>
          </a:xfrm>
          <a:prstGeom prst="rect">
            <a:avLst/>
          </a:prstGeom>
          <a:solidFill>
            <a:srgbClr val="FFF3D6">
              <a:alpha val="70000"/>
            </a:srgbClr>
          </a:solidFill>
          <a:ln>
            <a:noFill/>
          </a:ln>
        </p:spPr>
      </p:sp>
      <p:sp>
        <p:nvSpPr>
          <p:cNvPr id="5" name="Forma 4"/>
          <p:cNvSpPr txBox="1"/>
          <p:nvPr/>
        </p:nvSpPr>
        <p:spPr>
          <a:xfrm>
            <a:off x="457200" y="978408"/>
            <a:ext cx="274320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7E5109"/>
                </a:solidFill>
                <a:latin typeface="Bahnschrift SemiBold Condensed"/>
                <a:ea typeface="Bahnschrift SemiBold Condensed"/>
                <a:cs typeface="Bahnschrift SemiBold Condensed"/>
                <a:sym typeface="Bahnschrift SemiBold Condensed"/>
              </a:rPr>
              <a:t>LUZ INTESTINAL</a:t>
            </a:r>
            <a:endParaRPr lang="es-AR" sz="1200" dirty="0">
              <a:latin typeface="Bahnschrift SemiBold Condensed"/>
            </a:endParaRPr>
          </a:p>
        </p:txBody>
      </p:sp>
      <p:sp>
        <p:nvSpPr>
          <p:cNvPr id="6" name="TAG dietario"/>
          <p:cNvSpPr/>
          <p:nvPr/>
        </p:nvSpPr>
        <p:spPr>
          <a:xfrm>
            <a:off x="640080" y="1280160"/>
            <a:ext cx="457200" cy="45720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grpSp>
        <p:nvGrpSpPr>
          <p:cNvPr id="7" name="Micela 0"/>
          <p:cNvGrpSpPr/>
          <p:nvPr/>
        </p:nvGrpSpPr>
        <p:grpSpPr>
          <a:xfrm>
            <a:off x="2194560" y="1234440"/>
            <a:ext cx="502920" cy="502920"/>
            <a:chOff x="2194560" y="1234440"/>
            <a:chExt cx="502920" cy="502920"/>
          </a:xfrm>
        </p:grpSpPr>
        <p:sp>
          <p:nvSpPr>
            <p:cNvPr id="8" name="Forma 7"/>
            <p:cNvSpPr/>
            <p:nvPr/>
          </p:nvSpPr>
          <p:spPr>
            <a:xfrm>
              <a:off x="2194560" y="1234440"/>
              <a:ext cx="502920" cy="502920"/>
            </a:xfrm>
            <a:prstGeom prst="ellipse">
              <a:avLst/>
            </a:prstGeom>
            <a:solidFill>
              <a:srgbClr val="FCF3CF">
                <a:alpha val="90000"/>
              </a:srgbClr>
            </a:solidFill>
            <a:ln w="15875" cap="rnd">
              <a:solidFill>
                <a:srgbClr val="B7950B"/>
              </a:solidFill>
              <a:prstDash val="sysDot"/>
              <a:round/>
            </a:ln>
          </p:spPr>
        </p:sp>
        <p:grpSp>
          <p:nvGrpSpPr>
            <p:cNvPr id="9" name="Ácido graso"/>
            <p:cNvGrpSpPr/>
            <p:nvPr/>
          </p:nvGrpSpPr>
          <p:grpSpPr>
            <a:xfrm>
              <a:off x="2267712" y="1380744"/>
              <a:ext cx="347472" cy="182880"/>
              <a:chOff x="2267712" y="1380744"/>
              <a:chExt cx="347472" cy="182880"/>
            </a:xfrm>
          </p:grpSpPr>
          <p:sp>
            <p:nvSpPr>
              <p:cNvPr id="10" name="Flecha 9_2"/>
              <p:cNvSpPr/>
              <p:nvPr/>
            </p:nvSpPr>
            <p:spPr>
              <a:xfrm>
                <a:off x="2432304" y="1435608"/>
                <a:ext cx="182880" cy="73152"/>
              </a:xfrm>
              <a:custGeom>
                <a:avLst/>
                <a:gdLst/>
                <a:ahLst/>
                <a:cxnLst/>
                <a:rect l="0" t="0" r="r" b="b"/>
                <a:pathLst>
                  <a:path w="200" h="80" fill="none">
                    <a:moveTo>
                      <a:pt x="0" y="0"/>
                    </a:moveTo>
                    <a:lnTo>
                      <a:pt x="24" y="80"/>
                    </a:lnTo>
                    <a:lnTo>
                      <a:pt x="49" y="0"/>
                    </a:lnTo>
                    <a:lnTo>
                      <a:pt x="75" y="80"/>
                    </a:lnTo>
                    <a:lnTo>
                      <a:pt x="100" y="0"/>
                    </a:lnTo>
                    <a:lnTo>
                      <a:pt x="125" y="80"/>
                    </a:lnTo>
                    <a:lnTo>
                      <a:pt x="149" y="0"/>
                    </a:lnTo>
                    <a:lnTo>
                      <a:pt x="174" y="80"/>
                    </a:lnTo>
                    <a:lnTo>
                      <a:pt x="200" y="0"/>
                    </a:lnTo>
                  </a:path>
                </a:pathLst>
              </a:custGeom>
              <a:noFill/>
              <a:ln w="28575" cap="rnd">
                <a:solidFill>
                  <a:srgbClr val="B7950B"/>
                </a:solidFill>
                <a:round/>
              </a:ln>
            </p:spPr>
          </p:sp>
          <p:sp>
            <p:nvSpPr>
              <p:cNvPr id="11" name="Forma 11"/>
              <p:cNvSpPr/>
              <p:nvPr/>
            </p:nvSpPr>
            <p:spPr>
              <a:xfrm>
                <a:off x="2267712" y="13807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grpSp>
        <p:nvGrpSpPr>
          <p:cNvPr id="12" name="Micela 1"/>
          <p:cNvGrpSpPr/>
          <p:nvPr/>
        </p:nvGrpSpPr>
        <p:grpSpPr>
          <a:xfrm>
            <a:off x="2880360" y="1234440"/>
            <a:ext cx="502920" cy="502920"/>
            <a:chOff x="2880360" y="1234440"/>
            <a:chExt cx="502920" cy="502920"/>
          </a:xfrm>
        </p:grpSpPr>
        <p:sp>
          <p:nvSpPr>
            <p:cNvPr id="13" name="Forma 13"/>
            <p:cNvSpPr/>
            <p:nvPr/>
          </p:nvSpPr>
          <p:spPr>
            <a:xfrm>
              <a:off x="2880360" y="1234440"/>
              <a:ext cx="502920" cy="502920"/>
            </a:xfrm>
            <a:prstGeom prst="ellipse">
              <a:avLst/>
            </a:prstGeom>
            <a:solidFill>
              <a:srgbClr val="FCF3CF">
                <a:alpha val="90000"/>
              </a:srgbClr>
            </a:solidFill>
            <a:ln w="15875" cap="rnd">
              <a:solidFill>
                <a:srgbClr val="B7950B"/>
              </a:solidFill>
              <a:prstDash val="sysDot"/>
              <a:round/>
            </a:ln>
          </p:spPr>
        </p:sp>
        <p:grpSp>
          <p:nvGrpSpPr>
            <p:cNvPr id="14" name="Ácido graso_2"/>
            <p:cNvGrpSpPr/>
            <p:nvPr/>
          </p:nvGrpSpPr>
          <p:grpSpPr>
            <a:xfrm>
              <a:off x="2953512" y="1380744"/>
              <a:ext cx="347472" cy="182880"/>
              <a:chOff x="2953512" y="1380744"/>
              <a:chExt cx="347472" cy="182880"/>
            </a:xfrm>
          </p:grpSpPr>
          <p:sp>
            <p:nvSpPr>
              <p:cNvPr id="15" name="Flecha 15_2"/>
              <p:cNvSpPr/>
              <p:nvPr/>
            </p:nvSpPr>
            <p:spPr>
              <a:xfrm>
                <a:off x="3118104" y="1435608"/>
                <a:ext cx="182880" cy="73152"/>
              </a:xfrm>
              <a:custGeom>
                <a:avLst/>
                <a:gdLst/>
                <a:ahLst/>
                <a:cxnLst/>
                <a:rect l="0" t="0" r="r" b="b"/>
                <a:pathLst>
                  <a:path w="200" h="80" fill="none">
                    <a:moveTo>
                      <a:pt x="0" y="0"/>
                    </a:moveTo>
                    <a:lnTo>
                      <a:pt x="24" y="80"/>
                    </a:lnTo>
                    <a:lnTo>
                      <a:pt x="49" y="0"/>
                    </a:lnTo>
                    <a:lnTo>
                      <a:pt x="75" y="80"/>
                    </a:lnTo>
                    <a:lnTo>
                      <a:pt x="100" y="0"/>
                    </a:lnTo>
                    <a:lnTo>
                      <a:pt x="125" y="80"/>
                    </a:lnTo>
                    <a:lnTo>
                      <a:pt x="149" y="0"/>
                    </a:lnTo>
                    <a:lnTo>
                      <a:pt x="174" y="80"/>
                    </a:lnTo>
                    <a:lnTo>
                      <a:pt x="200" y="0"/>
                    </a:lnTo>
                  </a:path>
                </a:pathLst>
              </a:custGeom>
              <a:noFill/>
              <a:ln w="28575" cap="rnd">
                <a:solidFill>
                  <a:srgbClr val="B7950B"/>
                </a:solidFill>
                <a:round/>
              </a:ln>
            </p:spPr>
          </p:sp>
          <p:sp>
            <p:nvSpPr>
              <p:cNvPr id="16" name="Forma 17"/>
              <p:cNvSpPr/>
              <p:nvPr/>
            </p:nvSpPr>
            <p:spPr>
              <a:xfrm>
                <a:off x="2953512" y="13807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grpSp>
        <p:nvGrpSpPr>
          <p:cNvPr id="17" name="Micela 2"/>
          <p:cNvGrpSpPr/>
          <p:nvPr/>
        </p:nvGrpSpPr>
        <p:grpSpPr>
          <a:xfrm>
            <a:off x="3566160" y="1234440"/>
            <a:ext cx="502920" cy="502920"/>
            <a:chOff x="3566160" y="1234440"/>
            <a:chExt cx="502920" cy="502920"/>
          </a:xfrm>
        </p:grpSpPr>
        <p:sp>
          <p:nvSpPr>
            <p:cNvPr id="18" name="Forma 19"/>
            <p:cNvSpPr/>
            <p:nvPr/>
          </p:nvSpPr>
          <p:spPr>
            <a:xfrm>
              <a:off x="3566160" y="1234440"/>
              <a:ext cx="502920" cy="502920"/>
            </a:xfrm>
            <a:prstGeom prst="ellipse">
              <a:avLst/>
            </a:prstGeom>
            <a:solidFill>
              <a:srgbClr val="FCF3CF">
                <a:alpha val="90000"/>
              </a:srgbClr>
            </a:solidFill>
            <a:ln w="15875" cap="rnd">
              <a:solidFill>
                <a:srgbClr val="B7950B"/>
              </a:solidFill>
              <a:prstDash val="sysDot"/>
              <a:round/>
            </a:ln>
          </p:spPr>
        </p:sp>
        <p:grpSp>
          <p:nvGrpSpPr>
            <p:cNvPr id="19" name="Ácido graso_3"/>
            <p:cNvGrpSpPr/>
            <p:nvPr/>
          </p:nvGrpSpPr>
          <p:grpSpPr>
            <a:xfrm>
              <a:off x="3639312" y="1380744"/>
              <a:ext cx="347472" cy="182880"/>
              <a:chOff x="3639312" y="1380744"/>
              <a:chExt cx="347472" cy="182880"/>
            </a:xfrm>
          </p:grpSpPr>
          <p:sp>
            <p:nvSpPr>
              <p:cNvPr id="20" name="Flecha 21_2"/>
              <p:cNvSpPr/>
              <p:nvPr/>
            </p:nvSpPr>
            <p:spPr>
              <a:xfrm>
                <a:off x="3803904" y="1435608"/>
                <a:ext cx="182880" cy="73152"/>
              </a:xfrm>
              <a:custGeom>
                <a:avLst/>
                <a:gdLst/>
                <a:ahLst/>
                <a:cxnLst/>
                <a:rect l="0" t="0" r="r" b="b"/>
                <a:pathLst>
                  <a:path w="200" h="80" fill="none">
                    <a:moveTo>
                      <a:pt x="0" y="0"/>
                    </a:moveTo>
                    <a:lnTo>
                      <a:pt x="25" y="80"/>
                    </a:lnTo>
                    <a:lnTo>
                      <a:pt x="49" y="0"/>
                    </a:lnTo>
                    <a:lnTo>
                      <a:pt x="75" y="80"/>
                    </a:lnTo>
                    <a:lnTo>
                      <a:pt x="99" y="0"/>
                    </a:lnTo>
                    <a:lnTo>
                      <a:pt x="125" y="80"/>
                    </a:lnTo>
                    <a:lnTo>
                      <a:pt x="150" y="0"/>
                    </a:lnTo>
                    <a:lnTo>
                      <a:pt x="174" y="80"/>
                    </a:lnTo>
                    <a:lnTo>
                      <a:pt x="200" y="0"/>
                    </a:lnTo>
                  </a:path>
                </a:pathLst>
              </a:custGeom>
              <a:noFill/>
              <a:ln w="28575" cap="rnd">
                <a:solidFill>
                  <a:srgbClr val="B7950B"/>
                </a:solidFill>
                <a:round/>
              </a:ln>
            </p:spPr>
          </p:sp>
          <p:sp>
            <p:nvSpPr>
              <p:cNvPr id="21" name="Forma 23"/>
              <p:cNvSpPr/>
              <p:nvPr/>
            </p:nvSpPr>
            <p:spPr>
              <a:xfrm>
                <a:off x="3639312" y="13807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grpSp>
        <p:nvGrpSpPr>
          <p:cNvPr id="22" name="Enterocitos"/>
          <p:cNvGrpSpPr/>
          <p:nvPr/>
        </p:nvGrpSpPr>
        <p:grpSpPr>
          <a:xfrm>
            <a:off x="365760" y="1828800"/>
            <a:ext cx="6949440" cy="2834640"/>
            <a:chOff x="365760" y="1828800"/>
            <a:chExt cx="6949440" cy="2834640"/>
          </a:xfrm>
        </p:grpSpPr>
        <p:sp>
          <p:nvSpPr>
            <p:cNvPr id="23" name="Forma 25"/>
            <p:cNvSpPr/>
            <p:nvPr/>
          </p:nvSpPr>
          <p:spPr>
            <a:xfrm>
              <a:off x="365760" y="2112264"/>
              <a:ext cx="1737360" cy="2551176"/>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24" name="Forma 26"/>
            <p:cNvSpPr/>
            <p:nvPr/>
          </p:nvSpPr>
          <p:spPr>
            <a:xfrm>
              <a:off x="365760" y="1828800"/>
              <a:ext cx="1737360" cy="292608"/>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25" name="Forma 27"/>
            <p:cNvSpPr/>
            <p:nvPr/>
          </p:nvSpPr>
          <p:spPr>
            <a:xfrm>
              <a:off x="921715" y="3699662"/>
              <a:ext cx="625450" cy="56692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26" name="Forma 28"/>
            <p:cNvSpPr/>
            <p:nvPr/>
          </p:nvSpPr>
          <p:spPr>
            <a:xfrm>
              <a:off x="2103120" y="2112264"/>
              <a:ext cx="1737360" cy="2551176"/>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27" name="Forma 29"/>
            <p:cNvSpPr/>
            <p:nvPr/>
          </p:nvSpPr>
          <p:spPr>
            <a:xfrm>
              <a:off x="2103120" y="1828800"/>
              <a:ext cx="1737360" cy="292608"/>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28" name="Forma 30"/>
            <p:cNvSpPr/>
            <p:nvPr/>
          </p:nvSpPr>
          <p:spPr>
            <a:xfrm>
              <a:off x="2659075" y="3699662"/>
              <a:ext cx="625450" cy="56692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29" name="Forma 31"/>
            <p:cNvSpPr/>
            <p:nvPr/>
          </p:nvSpPr>
          <p:spPr>
            <a:xfrm>
              <a:off x="3840480" y="2112264"/>
              <a:ext cx="1737360" cy="2551176"/>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30" name="Forma 32"/>
            <p:cNvSpPr/>
            <p:nvPr/>
          </p:nvSpPr>
          <p:spPr>
            <a:xfrm>
              <a:off x="3840480" y="1828800"/>
              <a:ext cx="1737360" cy="292608"/>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31" name="Forma 33"/>
            <p:cNvSpPr/>
            <p:nvPr/>
          </p:nvSpPr>
          <p:spPr>
            <a:xfrm>
              <a:off x="4396435" y="3699662"/>
              <a:ext cx="625450" cy="56692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32" name="Forma 34"/>
            <p:cNvSpPr/>
            <p:nvPr/>
          </p:nvSpPr>
          <p:spPr>
            <a:xfrm>
              <a:off x="5577840" y="2112264"/>
              <a:ext cx="1737360" cy="2551176"/>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33" name="Forma 35"/>
            <p:cNvSpPr/>
            <p:nvPr/>
          </p:nvSpPr>
          <p:spPr>
            <a:xfrm>
              <a:off x="5577840" y="1828800"/>
              <a:ext cx="1737360" cy="292608"/>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34" name="Forma 36"/>
            <p:cNvSpPr/>
            <p:nvPr/>
          </p:nvSpPr>
          <p:spPr>
            <a:xfrm>
              <a:off x="6133795" y="3699662"/>
              <a:ext cx="625450" cy="56692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grpSp>
        <p:nvGrpSpPr>
          <p:cNvPr id="35" name="RE liso"/>
          <p:cNvGrpSpPr/>
          <p:nvPr/>
        </p:nvGrpSpPr>
        <p:grpSpPr>
          <a:xfrm>
            <a:off x="1920240" y="2723693"/>
            <a:ext cx="1463040" cy="707136"/>
            <a:chOff x="1920240" y="2723693"/>
            <a:chExt cx="1463040" cy="707136"/>
          </a:xfrm>
        </p:grpSpPr>
        <p:sp>
          <p:nvSpPr>
            <p:cNvPr id="36" name="Forma 38"/>
            <p:cNvSpPr/>
            <p:nvPr/>
          </p:nvSpPr>
          <p:spPr>
            <a:xfrm>
              <a:off x="1920240" y="2743200"/>
              <a:ext cx="1463040" cy="1828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37" name="Forma 39"/>
            <p:cNvSpPr/>
            <p:nvPr/>
          </p:nvSpPr>
          <p:spPr>
            <a:xfrm>
              <a:off x="1920240" y="2723693"/>
              <a:ext cx="1463040" cy="21945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38" name="Forma 40"/>
            <p:cNvSpPr/>
            <p:nvPr/>
          </p:nvSpPr>
          <p:spPr>
            <a:xfrm>
              <a:off x="1920240" y="2987040"/>
              <a:ext cx="1463040" cy="1828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39" name="Forma 41"/>
            <p:cNvSpPr/>
            <p:nvPr/>
          </p:nvSpPr>
          <p:spPr>
            <a:xfrm>
              <a:off x="1920240" y="2967533"/>
              <a:ext cx="1463040" cy="21945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40" name="Forma 42"/>
            <p:cNvSpPr/>
            <p:nvPr/>
          </p:nvSpPr>
          <p:spPr>
            <a:xfrm>
              <a:off x="1920240" y="3230880"/>
              <a:ext cx="1463040" cy="1828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41" name="Forma 43"/>
            <p:cNvSpPr/>
            <p:nvPr/>
          </p:nvSpPr>
          <p:spPr>
            <a:xfrm>
              <a:off x="1920240" y="3211373"/>
              <a:ext cx="1463040" cy="21945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sp>
        <p:nvSpPr>
          <p:cNvPr id="42" name="TAG reesterificado"/>
          <p:cNvSpPr/>
          <p:nvPr/>
        </p:nvSpPr>
        <p:spPr>
          <a:xfrm>
            <a:off x="3657600" y="2880360"/>
            <a:ext cx="457200" cy="45720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grpSp>
        <p:nvGrpSpPr>
          <p:cNvPr id="43" name="Quilomicrón naciente"/>
          <p:cNvGrpSpPr/>
          <p:nvPr/>
        </p:nvGrpSpPr>
        <p:grpSpPr>
          <a:xfrm>
            <a:off x="5062987" y="2671114"/>
            <a:ext cx="1109213" cy="1306526"/>
            <a:chOff x="5062987" y="2671114"/>
            <a:chExt cx="1109213" cy="1306526"/>
          </a:xfrm>
        </p:grpSpPr>
        <p:sp>
          <p:nvSpPr>
            <p:cNvPr id="44" name="Forma 46"/>
            <p:cNvSpPr/>
            <p:nvPr/>
          </p:nvSpPr>
          <p:spPr>
            <a:xfrm>
              <a:off x="5120640" y="2926080"/>
              <a:ext cx="1051560" cy="105156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5" name="Forma 47"/>
            <p:cNvSpPr/>
            <p:nvPr/>
          </p:nvSpPr>
          <p:spPr>
            <a:xfrm>
              <a:off x="5120640" y="2926080"/>
              <a:ext cx="1051560" cy="1051560"/>
            </a:xfrm>
            <a:custGeom>
              <a:avLst/>
              <a:gdLst/>
              <a:ahLst/>
              <a:cxnLst/>
              <a:rect l="0" t="0" r="r" b="b"/>
              <a:pathLst>
                <a:path w="1000" h="1000">
                  <a:moveTo>
                    <a:pt x="997" y="500"/>
                  </a:moveTo>
                  <a:cubicBezTo>
                    <a:pt x="997" y="514"/>
                    <a:pt x="984" y="527"/>
                    <a:pt x="970" y="527"/>
                  </a:cubicBezTo>
                  <a:cubicBezTo>
                    <a:pt x="955" y="527"/>
                    <a:pt x="943" y="514"/>
                    <a:pt x="943" y="500"/>
                  </a:cubicBezTo>
                  <a:cubicBezTo>
                    <a:pt x="943" y="485"/>
                    <a:pt x="955" y="473"/>
                    <a:pt x="970" y="473"/>
                  </a:cubicBezTo>
                  <a:cubicBezTo>
                    <a:pt x="984" y="473"/>
                    <a:pt x="997" y="485"/>
                    <a:pt x="997" y="500"/>
                  </a:cubicBezTo>
                  <a:close/>
                  <a:moveTo>
                    <a:pt x="993" y="557"/>
                  </a:moveTo>
                  <a:cubicBezTo>
                    <a:pt x="993" y="571"/>
                    <a:pt x="980" y="584"/>
                    <a:pt x="966" y="584"/>
                  </a:cubicBezTo>
                  <a:cubicBezTo>
                    <a:pt x="951" y="584"/>
                    <a:pt x="939" y="571"/>
                    <a:pt x="939" y="557"/>
                  </a:cubicBezTo>
                  <a:cubicBezTo>
                    <a:pt x="939" y="542"/>
                    <a:pt x="951" y="530"/>
                    <a:pt x="966" y="530"/>
                  </a:cubicBezTo>
                  <a:cubicBezTo>
                    <a:pt x="980" y="530"/>
                    <a:pt x="993" y="542"/>
                    <a:pt x="993" y="557"/>
                  </a:cubicBezTo>
                  <a:close/>
                  <a:moveTo>
                    <a:pt x="982" y="614"/>
                  </a:moveTo>
                  <a:cubicBezTo>
                    <a:pt x="982" y="628"/>
                    <a:pt x="969" y="641"/>
                    <a:pt x="955" y="641"/>
                  </a:cubicBezTo>
                  <a:cubicBezTo>
                    <a:pt x="940" y="641"/>
                    <a:pt x="928" y="628"/>
                    <a:pt x="928" y="614"/>
                  </a:cubicBezTo>
                  <a:cubicBezTo>
                    <a:pt x="928" y="599"/>
                    <a:pt x="940" y="587"/>
                    <a:pt x="955" y="587"/>
                  </a:cubicBezTo>
                  <a:cubicBezTo>
                    <a:pt x="969" y="587"/>
                    <a:pt x="982" y="599"/>
                    <a:pt x="982" y="614"/>
                  </a:cubicBezTo>
                  <a:close/>
                  <a:moveTo>
                    <a:pt x="965" y="669"/>
                  </a:moveTo>
                  <a:cubicBezTo>
                    <a:pt x="965" y="683"/>
                    <a:pt x="952" y="696"/>
                    <a:pt x="938" y="696"/>
                  </a:cubicBezTo>
                  <a:cubicBezTo>
                    <a:pt x="923" y="696"/>
                    <a:pt x="911" y="683"/>
                    <a:pt x="911" y="669"/>
                  </a:cubicBezTo>
                  <a:cubicBezTo>
                    <a:pt x="911" y="654"/>
                    <a:pt x="923" y="642"/>
                    <a:pt x="938" y="642"/>
                  </a:cubicBezTo>
                  <a:cubicBezTo>
                    <a:pt x="952" y="642"/>
                    <a:pt x="965" y="654"/>
                    <a:pt x="965" y="669"/>
                  </a:cubicBezTo>
                  <a:close/>
                  <a:moveTo>
                    <a:pt x="941" y="722"/>
                  </a:moveTo>
                  <a:cubicBezTo>
                    <a:pt x="941" y="736"/>
                    <a:pt x="928" y="749"/>
                    <a:pt x="914" y="749"/>
                  </a:cubicBezTo>
                  <a:cubicBezTo>
                    <a:pt x="899" y="749"/>
                    <a:pt x="887" y="736"/>
                    <a:pt x="887" y="722"/>
                  </a:cubicBezTo>
                  <a:cubicBezTo>
                    <a:pt x="887" y="707"/>
                    <a:pt x="899" y="695"/>
                    <a:pt x="914" y="695"/>
                  </a:cubicBezTo>
                  <a:cubicBezTo>
                    <a:pt x="928" y="695"/>
                    <a:pt x="941" y="707"/>
                    <a:pt x="941" y="722"/>
                  </a:cubicBezTo>
                  <a:close/>
                  <a:moveTo>
                    <a:pt x="910" y="771"/>
                  </a:moveTo>
                  <a:cubicBezTo>
                    <a:pt x="910" y="785"/>
                    <a:pt x="897" y="798"/>
                    <a:pt x="883" y="798"/>
                  </a:cubicBezTo>
                  <a:cubicBezTo>
                    <a:pt x="868" y="798"/>
                    <a:pt x="856" y="785"/>
                    <a:pt x="856" y="771"/>
                  </a:cubicBezTo>
                  <a:cubicBezTo>
                    <a:pt x="856" y="756"/>
                    <a:pt x="868" y="744"/>
                    <a:pt x="883" y="744"/>
                  </a:cubicBezTo>
                  <a:cubicBezTo>
                    <a:pt x="897" y="744"/>
                    <a:pt x="910" y="756"/>
                    <a:pt x="910" y="771"/>
                  </a:cubicBezTo>
                  <a:close/>
                  <a:moveTo>
                    <a:pt x="874" y="816"/>
                  </a:moveTo>
                  <a:cubicBezTo>
                    <a:pt x="874" y="830"/>
                    <a:pt x="861" y="843"/>
                    <a:pt x="847" y="843"/>
                  </a:cubicBezTo>
                  <a:cubicBezTo>
                    <a:pt x="832" y="843"/>
                    <a:pt x="820" y="830"/>
                    <a:pt x="820" y="816"/>
                  </a:cubicBezTo>
                  <a:cubicBezTo>
                    <a:pt x="820" y="801"/>
                    <a:pt x="832" y="789"/>
                    <a:pt x="847" y="789"/>
                  </a:cubicBezTo>
                  <a:cubicBezTo>
                    <a:pt x="861" y="789"/>
                    <a:pt x="874" y="801"/>
                    <a:pt x="874" y="816"/>
                  </a:cubicBezTo>
                  <a:close/>
                  <a:moveTo>
                    <a:pt x="832" y="856"/>
                  </a:moveTo>
                  <a:cubicBezTo>
                    <a:pt x="832" y="870"/>
                    <a:pt x="819" y="883"/>
                    <a:pt x="805" y="883"/>
                  </a:cubicBezTo>
                  <a:cubicBezTo>
                    <a:pt x="790" y="883"/>
                    <a:pt x="778" y="870"/>
                    <a:pt x="778" y="856"/>
                  </a:cubicBezTo>
                  <a:cubicBezTo>
                    <a:pt x="778" y="841"/>
                    <a:pt x="790" y="829"/>
                    <a:pt x="805" y="829"/>
                  </a:cubicBezTo>
                  <a:cubicBezTo>
                    <a:pt x="819" y="829"/>
                    <a:pt x="832" y="841"/>
                    <a:pt x="832" y="856"/>
                  </a:cubicBezTo>
                  <a:close/>
                  <a:moveTo>
                    <a:pt x="786" y="891"/>
                  </a:moveTo>
                  <a:cubicBezTo>
                    <a:pt x="786" y="905"/>
                    <a:pt x="773" y="918"/>
                    <a:pt x="759" y="918"/>
                  </a:cubicBezTo>
                  <a:cubicBezTo>
                    <a:pt x="744" y="918"/>
                    <a:pt x="732" y="905"/>
                    <a:pt x="732" y="891"/>
                  </a:cubicBezTo>
                  <a:cubicBezTo>
                    <a:pt x="732" y="876"/>
                    <a:pt x="744" y="864"/>
                    <a:pt x="759" y="864"/>
                  </a:cubicBezTo>
                  <a:cubicBezTo>
                    <a:pt x="773" y="864"/>
                    <a:pt x="786" y="876"/>
                    <a:pt x="786" y="891"/>
                  </a:cubicBezTo>
                  <a:close/>
                  <a:moveTo>
                    <a:pt x="736" y="920"/>
                  </a:moveTo>
                  <a:cubicBezTo>
                    <a:pt x="736" y="934"/>
                    <a:pt x="723" y="947"/>
                    <a:pt x="709" y="947"/>
                  </a:cubicBezTo>
                  <a:cubicBezTo>
                    <a:pt x="694" y="947"/>
                    <a:pt x="682" y="934"/>
                    <a:pt x="682" y="920"/>
                  </a:cubicBezTo>
                  <a:cubicBezTo>
                    <a:pt x="682" y="905"/>
                    <a:pt x="694" y="893"/>
                    <a:pt x="709" y="893"/>
                  </a:cubicBezTo>
                  <a:cubicBezTo>
                    <a:pt x="723" y="893"/>
                    <a:pt x="736" y="905"/>
                    <a:pt x="736" y="920"/>
                  </a:cubicBezTo>
                  <a:close/>
                  <a:moveTo>
                    <a:pt x="683" y="943"/>
                  </a:moveTo>
                  <a:cubicBezTo>
                    <a:pt x="683" y="957"/>
                    <a:pt x="670" y="970"/>
                    <a:pt x="656" y="970"/>
                  </a:cubicBezTo>
                  <a:cubicBezTo>
                    <a:pt x="641" y="970"/>
                    <a:pt x="629" y="957"/>
                    <a:pt x="629" y="943"/>
                  </a:cubicBezTo>
                  <a:cubicBezTo>
                    <a:pt x="629" y="928"/>
                    <a:pt x="641" y="916"/>
                    <a:pt x="656" y="916"/>
                  </a:cubicBezTo>
                  <a:cubicBezTo>
                    <a:pt x="670" y="916"/>
                    <a:pt x="683" y="928"/>
                    <a:pt x="683" y="943"/>
                  </a:cubicBezTo>
                  <a:close/>
                  <a:moveTo>
                    <a:pt x="627" y="959"/>
                  </a:moveTo>
                  <a:cubicBezTo>
                    <a:pt x="627" y="973"/>
                    <a:pt x="614" y="986"/>
                    <a:pt x="600" y="986"/>
                  </a:cubicBezTo>
                  <a:cubicBezTo>
                    <a:pt x="585" y="986"/>
                    <a:pt x="573" y="973"/>
                    <a:pt x="573" y="959"/>
                  </a:cubicBezTo>
                  <a:cubicBezTo>
                    <a:pt x="573" y="944"/>
                    <a:pt x="585" y="932"/>
                    <a:pt x="600" y="932"/>
                  </a:cubicBezTo>
                  <a:cubicBezTo>
                    <a:pt x="614" y="932"/>
                    <a:pt x="627" y="944"/>
                    <a:pt x="627" y="959"/>
                  </a:cubicBezTo>
                  <a:close/>
                  <a:moveTo>
                    <a:pt x="570" y="967"/>
                  </a:moveTo>
                  <a:cubicBezTo>
                    <a:pt x="570" y="981"/>
                    <a:pt x="557" y="994"/>
                    <a:pt x="543" y="994"/>
                  </a:cubicBezTo>
                  <a:cubicBezTo>
                    <a:pt x="528" y="994"/>
                    <a:pt x="516" y="981"/>
                    <a:pt x="516" y="967"/>
                  </a:cubicBezTo>
                  <a:cubicBezTo>
                    <a:pt x="516" y="952"/>
                    <a:pt x="528" y="940"/>
                    <a:pt x="543" y="940"/>
                  </a:cubicBezTo>
                  <a:cubicBezTo>
                    <a:pt x="557" y="940"/>
                    <a:pt x="570" y="952"/>
                    <a:pt x="570" y="967"/>
                  </a:cubicBezTo>
                  <a:close/>
                  <a:moveTo>
                    <a:pt x="512" y="969"/>
                  </a:moveTo>
                  <a:cubicBezTo>
                    <a:pt x="512" y="983"/>
                    <a:pt x="499" y="996"/>
                    <a:pt x="485" y="996"/>
                  </a:cubicBezTo>
                  <a:cubicBezTo>
                    <a:pt x="470" y="996"/>
                    <a:pt x="458" y="983"/>
                    <a:pt x="458" y="969"/>
                  </a:cubicBezTo>
                  <a:cubicBezTo>
                    <a:pt x="458" y="954"/>
                    <a:pt x="470" y="942"/>
                    <a:pt x="485" y="942"/>
                  </a:cubicBezTo>
                  <a:cubicBezTo>
                    <a:pt x="499" y="942"/>
                    <a:pt x="512" y="954"/>
                    <a:pt x="512" y="969"/>
                  </a:cubicBezTo>
                  <a:close/>
                  <a:moveTo>
                    <a:pt x="454" y="964"/>
                  </a:moveTo>
                  <a:cubicBezTo>
                    <a:pt x="454" y="978"/>
                    <a:pt x="441" y="991"/>
                    <a:pt x="427" y="991"/>
                  </a:cubicBezTo>
                  <a:cubicBezTo>
                    <a:pt x="412" y="991"/>
                    <a:pt x="400" y="978"/>
                    <a:pt x="400" y="964"/>
                  </a:cubicBezTo>
                  <a:cubicBezTo>
                    <a:pt x="400" y="949"/>
                    <a:pt x="412" y="937"/>
                    <a:pt x="427" y="937"/>
                  </a:cubicBezTo>
                  <a:cubicBezTo>
                    <a:pt x="441" y="937"/>
                    <a:pt x="454" y="949"/>
                    <a:pt x="454" y="964"/>
                  </a:cubicBezTo>
                  <a:close/>
                  <a:moveTo>
                    <a:pt x="398" y="952"/>
                  </a:moveTo>
                  <a:cubicBezTo>
                    <a:pt x="398" y="966"/>
                    <a:pt x="385" y="979"/>
                    <a:pt x="371" y="979"/>
                  </a:cubicBezTo>
                  <a:cubicBezTo>
                    <a:pt x="356" y="979"/>
                    <a:pt x="344" y="966"/>
                    <a:pt x="344" y="952"/>
                  </a:cubicBezTo>
                  <a:cubicBezTo>
                    <a:pt x="344" y="937"/>
                    <a:pt x="356" y="925"/>
                    <a:pt x="371" y="925"/>
                  </a:cubicBezTo>
                  <a:cubicBezTo>
                    <a:pt x="385" y="925"/>
                    <a:pt x="398" y="937"/>
                    <a:pt x="398" y="952"/>
                  </a:cubicBezTo>
                  <a:close/>
                  <a:moveTo>
                    <a:pt x="343" y="932"/>
                  </a:moveTo>
                  <a:cubicBezTo>
                    <a:pt x="343" y="946"/>
                    <a:pt x="330" y="959"/>
                    <a:pt x="316" y="959"/>
                  </a:cubicBezTo>
                  <a:cubicBezTo>
                    <a:pt x="301" y="959"/>
                    <a:pt x="289" y="946"/>
                    <a:pt x="289" y="932"/>
                  </a:cubicBezTo>
                  <a:cubicBezTo>
                    <a:pt x="289" y="917"/>
                    <a:pt x="301" y="905"/>
                    <a:pt x="316" y="905"/>
                  </a:cubicBezTo>
                  <a:cubicBezTo>
                    <a:pt x="330" y="905"/>
                    <a:pt x="343" y="917"/>
                    <a:pt x="343" y="932"/>
                  </a:cubicBezTo>
                  <a:close/>
                  <a:moveTo>
                    <a:pt x="291" y="907"/>
                  </a:moveTo>
                  <a:cubicBezTo>
                    <a:pt x="291" y="921"/>
                    <a:pt x="278" y="934"/>
                    <a:pt x="264" y="934"/>
                  </a:cubicBezTo>
                  <a:cubicBezTo>
                    <a:pt x="249" y="934"/>
                    <a:pt x="237" y="921"/>
                    <a:pt x="237" y="907"/>
                  </a:cubicBezTo>
                  <a:cubicBezTo>
                    <a:pt x="237" y="892"/>
                    <a:pt x="249" y="880"/>
                    <a:pt x="264" y="880"/>
                  </a:cubicBezTo>
                  <a:cubicBezTo>
                    <a:pt x="278" y="880"/>
                    <a:pt x="291" y="892"/>
                    <a:pt x="291" y="907"/>
                  </a:cubicBezTo>
                  <a:close/>
                  <a:moveTo>
                    <a:pt x="243" y="875"/>
                  </a:moveTo>
                  <a:cubicBezTo>
                    <a:pt x="243" y="889"/>
                    <a:pt x="230" y="902"/>
                    <a:pt x="216" y="902"/>
                  </a:cubicBezTo>
                  <a:cubicBezTo>
                    <a:pt x="201" y="902"/>
                    <a:pt x="189" y="889"/>
                    <a:pt x="189" y="875"/>
                  </a:cubicBezTo>
                  <a:cubicBezTo>
                    <a:pt x="189" y="860"/>
                    <a:pt x="201" y="848"/>
                    <a:pt x="216" y="848"/>
                  </a:cubicBezTo>
                  <a:cubicBezTo>
                    <a:pt x="230" y="848"/>
                    <a:pt x="243" y="860"/>
                    <a:pt x="243" y="875"/>
                  </a:cubicBezTo>
                  <a:close/>
                  <a:moveTo>
                    <a:pt x="199" y="837"/>
                  </a:moveTo>
                  <a:cubicBezTo>
                    <a:pt x="199" y="851"/>
                    <a:pt x="186" y="864"/>
                    <a:pt x="172" y="864"/>
                  </a:cubicBezTo>
                  <a:cubicBezTo>
                    <a:pt x="157" y="864"/>
                    <a:pt x="145" y="851"/>
                    <a:pt x="145" y="837"/>
                  </a:cubicBezTo>
                  <a:cubicBezTo>
                    <a:pt x="145" y="822"/>
                    <a:pt x="157" y="810"/>
                    <a:pt x="172" y="810"/>
                  </a:cubicBezTo>
                  <a:cubicBezTo>
                    <a:pt x="186" y="810"/>
                    <a:pt x="199" y="822"/>
                    <a:pt x="199" y="837"/>
                  </a:cubicBezTo>
                  <a:close/>
                  <a:moveTo>
                    <a:pt x="160" y="794"/>
                  </a:moveTo>
                  <a:cubicBezTo>
                    <a:pt x="160" y="808"/>
                    <a:pt x="147" y="821"/>
                    <a:pt x="133" y="821"/>
                  </a:cubicBezTo>
                  <a:cubicBezTo>
                    <a:pt x="118" y="821"/>
                    <a:pt x="106" y="808"/>
                    <a:pt x="106" y="794"/>
                  </a:cubicBezTo>
                  <a:cubicBezTo>
                    <a:pt x="106" y="779"/>
                    <a:pt x="118" y="767"/>
                    <a:pt x="133" y="767"/>
                  </a:cubicBezTo>
                  <a:cubicBezTo>
                    <a:pt x="147" y="767"/>
                    <a:pt x="160" y="779"/>
                    <a:pt x="160" y="794"/>
                  </a:cubicBezTo>
                  <a:close/>
                  <a:moveTo>
                    <a:pt x="127" y="747"/>
                  </a:moveTo>
                  <a:cubicBezTo>
                    <a:pt x="127" y="761"/>
                    <a:pt x="114" y="774"/>
                    <a:pt x="100" y="774"/>
                  </a:cubicBezTo>
                  <a:cubicBezTo>
                    <a:pt x="85" y="774"/>
                    <a:pt x="73" y="761"/>
                    <a:pt x="73" y="747"/>
                  </a:cubicBezTo>
                  <a:cubicBezTo>
                    <a:pt x="73" y="732"/>
                    <a:pt x="85" y="720"/>
                    <a:pt x="100" y="720"/>
                  </a:cubicBezTo>
                  <a:cubicBezTo>
                    <a:pt x="114" y="720"/>
                    <a:pt x="127" y="732"/>
                    <a:pt x="127" y="747"/>
                  </a:cubicBezTo>
                  <a:close/>
                  <a:moveTo>
                    <a:pt x="100" y="696"/>
                  </a:moveTo>
                  <a:cubicBezTo>
                    <a:pt x="100" y="710"/>
                    <a:pt x="87" y="723"/>
                    <a:pt x="73" y="723"/>
                  </a:cubicBezTo>
                  <a:cubicBezTo>
                    <a:pt x="58" y="723"/>
                    <a:pt x="46" y="710"/>
                    <a:pt x="46" y="696"/>
                  </a:cubicBezTo>
                  <a:cubicBezTo>
                    <a:pt x="46" y="681"/>
                    <a:pt x="58" y="669"/>
                    <a:pt x="73" y="669"/>
                  </a:cubicBezTo>
                  <a:cubicBezTo>
                    <a:pt x="87" y="669"/>
                    <a:pt x="100" y="681"/>
                    <a:pt x="100" y="696"/>
                  </a:cubicBezTo>
                  <a:close/>
                  <a:moveTo>
                    <a:pt x="79" y="642"/>
                  </a:moveTo>
                  <a:cubicBezTo>
                    <a:pt x="79" y="656"/>
                    <a:pt x="66" y="669"/>
                    <a:pt x="52" y="669"/>
                  </a:cubicBezTo>
                  <a:cubicBezTo>
                    <a:pt x="37" y="669"/>
                    <a:pt x="25" y="656"/>
                    <a:pt x="25" y="642"/>
                  </a:cubicBezTo>
                  <a:cubicBezTo>
                    <a:pt x="25" y="627"/>
                    <a:pt x="37" y="615"/>
                    <a:pt x="52" y="615"/>
                  </a:cubicBezTo>
                  <a:cubicBezTo>
                    <a:pt x="66" y="615"/>
                    <a:pt x="79" y="627"/>
                    <a:pt x="79" y="642"/>
                  </a:cubicBezTo>
                  <a:close/>
                  <a:moveTo>
                    <a:pt x="65" y="586"/>
                  </a:moveTo>
                  <a:cubicBezTo>
                    <a:pt x="65" y="600"/>
                    <a:pt x="52" y="613"/>
                    <a:pt x="38" y="613"/>
                  </a:cubicBezTo>
                  <a:cubicBezTo>
                    <a:pt x="23" y="613"/>
                    <a:pt x="11" y="600"/>
                    <a:pt x="11" y="586"/>
                  </a:cubicBezTo>
                  <a:cubicBezTo>
                    <a:pt x="11" y="571"/>
                    <a:pt x="23" y="559"/>
                    <a:pt x="38" y="559"/>
                  </a:cubicBezTo>
                  <a:cubicBezTo>
                    <a:pt x="52" y="559"/>
                    <a:pt x="65" y="571"/>
                    <a:pt x="65" y="586"/>
                  </a:cubicBezTo>
                  <a:close/>
                  <a:moveTo>
                    <a:pt x="57" y="528"/>
                  </a:moveTo>
                  <a:cubicBezTo>
                    <a:pt x="57" y="542"/>
                    <a:pt x="44" y="555"/>
                    <a:pt x="30" y="555"/>
                  </a:cubicBezTo>
                  <a:cubicBezTo>
                    <a:pt x="15" y="555"/>
                    <a:pt x="3" y="542"/>
                    <a:pt x="3" y="528"/>
                  </a:cubicBezTo>
                  <a:cubicBezTo>
                    <a:pt x="3" y="513"/>
                    <a:pt x="15" y="501"/>
                    <a:pt x="30" y="501"/>
                  </a:cubicBezTo>
                  <a:cubicBezTo>
                    <a:pt x="44" y="501"/>
                    <a:pt x="57" y="513"/>
                    <a:pt x="57" y="528"/>
                  </a:cubicBezTo>
                  <a:close/>
                  <a:moveTo>
                    <a:pt x="57" y="471"/>
                  </a:moveTo>
                  <a:cubicBezTo>
                    <a:pt x="57" y="485"/>
                    <a:pt x="44" y="498"/>
                    <a:pt x="30" y="498"/>
                  </a:cubicBezTo>
                  <a:cubicBezTo>
                    <a:pt x="15" y="498"/>
                    <a:pt x="3" y="485"/>
                    <a:pt x="3" y="471"/>
                  </a:cubicBezTo>
                  <a:cubicBezTo>
                    <a:pt x="3" y="456"/>
                    <a:pt x="15" y="444"/>
                    <a:pt x="30" y="444"/>
                  </a:cubicBezTo>
                  <a:cubicBezTo>
                    <a:pt x="44" y="444"/>
                    <a:pt x="57" y="456"/>
                    <a:pt x="57" y="471"/>
                  </a:cubicBezTo>
                  <a:close/>
                  <a:moveTo>
                    <a:pt x="65" y="413"/>
                  </a:moveTo>
                  <a:cubicBezTo>
                    <a:pt x="65" y="427"/>
                    <a:pt x="52" y="440"/>
                    <a:pt x="38" y="440"/>
                  </a:cubicBezTo>
                  <a:cubicBezTo>
                    <a:pt x="23" y="440"/>
                    <a:pt x="11" y="427"/>
                    <a:pt x="11" y="413"/>
                  </a:cubicBezTo>
                  <a:cubicBezTo>
                    <a:pt x="11" y="398"/>
                    <a:pt x="23" y="386"/>
                    <a:pt x="38" y="386"/>
                  </a:cubicBezTo>
                  <a:cubicBezTo>
                    <a:pt x="52" y="386"/>
                    <a:pt x="65" y="398"/>
                    <a:pt x="65" y="413"/>
                  </a:cubicBezTo>
                  <a:close/>
                  <a:moveTo>
                    <a:pt x="79" y="357"/>
                  </a:moveTo>
                  <a:cubicBezTo>
                    <a:pt x="79" y="371"/>
                    <a:pt x="66" y="384"/>
                    <a:pt x="52" y="384"/>
                  </a:cubicBezTo>
                  <a:cubicBezTo>
                    <a:pt x="37" y="384"/>
                    <a:pt x="25" y="371"/>
                    <a:pt x="25" y="357"/>
                  </a:cubicBezTo>
                  <a:cubicBezTo>
                    <a:pt x="25" y="342"/>
                    <a:pt x="37" y="330"/>
                    <a:pt x="52" y="330"/>
                  </a:cubicBezTo>
                  <a:cubicBezTo>
                    <a:pt x="66" y="330"/>
                    <a:pt x="79" y="342"/>
                    <a:pt x="79" y="357"/>
                  </a:cubicBezTo>
                  <a:close/>
                  <a:moveTo>
                    <a:pt x="100" y="303"/>
                  </a:moveTo>
                  <a:cubicBezTo>
                    <a:pt x="100" y="317"/>
                    <a:pt x="87" y="330"/>
                    <a:pt x="73" y="330"/>
                  </a:cubicBezTo>
                  <a:cubicBezTo>
                    <a:pt x="58" y="330"/>
                    <a:pt x="46" y="317"/>
                    <a:pt x="46" y="303"/>
                  </a:cubicBezTo>
                  <a:cubicBezTo>
                    <a:pt x="46" y="288"/>
                    <a:pt x="58" y="276"/>
                    <a:pt x="73" y="276"/>
                  </a:cubicBezTo>
                  <a:cubicBezTo>
                    <a:pt x="87" y="276"/>
                    <a:pt x="100" y="288"/>
                    <a:pt x="100" y="303"/>
                  </a:cubicBezTo>
                  <a:close/>
                  <a:moveTo>
                    <a:pt x="127" y="252"/>
                  </a:moveTo>
                  <a:cubicBezTo>
                    <a:pt x="127" y="266"/>
                    <a:pt x="114" y="279"/>
                    <a:pt x="100" y="279"/>
                  </a:cubicBezTo>
                  <a:cubicBezTo>
                    <a:pt x="85" y="279"/>
                    <a:pt x="73" y="266"/>
                    <a:pt x="73" y="252"/>
                  </a:cubicBezTo>
                  <a:cubicBezTo>
                    <a:pt x="73" y="237"/>
                    <a:pt x="85" y="225"/>
                    <a:pt x="100" y="225"/>
                  </a:cubicBezTo>
                  <a:cubicBezTo>
                    <a:pt x="114" y="225"/>
                    <a:pt x="127" y="237"/>
                    <a:pt x="127" y="252"/>
                  </a:cubicBezTo>
                  <a:close/>
                  <a:moveTo>
                    <a:pt x="160" y="205"/>
                  </a:moveTo>
                  <a:cubicBezTo>
                    <a:pt x="160" y="219"/>
                    <a:pt x="147" y="232"/>
                    <a:pt x="133" y="232"/>
                  </a:cubicBezTo>
                  <a:cubicBezTo>
                    <a:pt x="118" y="232"/>
                    <a:pt x="106" y="219"/>
                    <a:pt x="106" y="205"/>
                  </a:cubicBezTo>
                  <a:cubicBezTo>
                    <a:pt x="106" y="190"/>
                    <a:pt x="118" y="178"/>
                    <a:pt x="133" y="178"/>
                  </a:cubicBezTo>
                  <a:cubicBezTo>
                    <a:pt x="147" y="178"/>
                    <a:pt x="160" y="190"/>
                    <a:pt x="160" y="205"/>
                  </a:cubicBezTo>
                  <a:close/>
                  <a:moveTo>
                    <a:pt x="199" y="162"/>
                  </a:moveTo>
                  <a:cubicBezTo>
                    <a:pt x="199" y="176"/>
                    <a:pt x="186" y="189"/>
                    <a:pt x="172" y="189"/>
                  </a:cubicBezTo>
                  <a:cubicBezTo>
                    <a:pt x="157" y="189"/>
                    <a:pt x="145" y="176"/>
                    <a:pt x="145" y="162"/>
                  </a:cubicBezTo>
                  <a:cubicBezTo>
                    <a:pt x="145" y="147"/>
                    <a:pt x="157" y="135"/>
                    <a:pt x="172" y="135"/>
                  </a:cubicBezTo>
                  <a:cubicBezTo>
                    <a:pt x="186" y="135"/>
                    <a:pt x="199" y="147"/>
                    <a:pt x="199" y="162"/>
                  </a:cubicBezTo>
                  <a:close/>
                  <a:moveTo>
                    <a:pt x="243" y="124"/>
                  </a:moveTo>
                  <a:cubicBezTo>
                    <a:pt x="243" y="138"/>
                    <a:pt x="230" y="151"/>
                    <a:pt x="216" y="151"/>
                  </a:cubicBezTo>
                  <a:cubicBezTo>
                    <a:pt x="201" y="151"/>
                    <a:pt x="189" y="138"/>
                    <a:pt x="189" y="124"/>
                  </a:cubicBezTo>
                  <a:cubicBezTo>
                    <a:pt x="189" y="109"/>
                    <a:pt x="201" y="97"/>
                    <a:pt x="216" y="97"/>
                  </a:cubicBezTo>
                  <a:cubicBezTo>
                    <a:pt x="230" y="97"/>
                    <a:pt x="243" y="109"/>
                    <a:pt x="243" y="124"/>
                  </a:cubicBezTo>
                  <a:close/>
                  <a:moveTo>
                    <a:pt x="292" y="92"/>
                  </a:moveTo>
                  <a:cubicBezTo>
                    <a:pt x="292" y="106"/>
                    <a:pt x="279" y="119"/>
                    <a:pt x="265" y="119"/>
                  </a:cubicBezTo>
                  <a:cubicBezTo>
                    <a:pt x="250" y="119"/>
                    <a:pt x="238" y="106"/>
                    <a:pt x="238" y="92"/>
                  </a:cubicBezTo>
                  <a:cubicBezTo>
                    <a:pt x="238" y="77"/>
                    <a:pt x="250" y="65"/>
                    <a:pt x="265" y="65"/>
                  </a:cubicBezTo>
                  <a:cubicBezTo>
                    <a:pt x="279" y="65"/>
                    <a:pt x="292" y="77"/>
                    <a:pt x="292" y="92"/>
                  </a:cubicBezTo>
                  <a:close/>
                  <a:moveTo>
                    <a:pt x="343" y="67"/>
                  </a:moveTo>
                  <a:cubicBezTo>
                    <a:pt x="343" y="81"/>
                    <a:pt x="330" y="94"/>
                    <a:pt x="316" y="94"/>
                  </a:cubicBezTo>
                  <a:cubicBezTo>
                    <a:pt x="301" y="94"/>
                    <a:pt x="289" y="81"/>
                    <a:pt x="289" y="67"/>
                  </a:cubicBezTo>
                  <a:cubicBezTo>
                    <a:pt x="289" y="52"/>
                    <a:pt x="301" y="40"/>
                    <a:pt x="316" y="40"/>
                  </a:cubicBezTo>
                  <a:cubicBezTo>
                    <a:pt x="330" y="40"/>
                    <a:pt x="343" y="52"/>
                    <a:pt x="343" y="67"/>
                  </a:cubicBezTo>
                  <a:close/>
                  <a:moveTo>
                    <a:pt x="398" y="47"/>
                  </a:moveTo>
                  <a:cubicBezTo>
                    <a:pt x="398" y="61"/>
                    <a:pt x="385" y="74"/>
                    <a:pt x="371" y="74"/>
                  </a:cubicBezTo>
                  <a:cubicBezTo>
                    <a:pt x="356" y="74"/>
                    <a:pt x="344" y="61"/>
                    <a:pt x="344" y="47"/>
                  </a:cubicBezTo>
                  <a:cubicBezTo>
                    <a:pt x="344" y="32"/>
                    <a:pt x="356" y="20"/>
                    <a:pt x="371" y="20"/>
                  </a:cubicBezTo>
                  <a:cubicBezTo>
                    <a:pt x="385" y="20"/>
                    <a:pt x="398" y="32"/>
                    <a:pt x="398" y="47"/>
                  </a:cubicBezTo>
                  <a:close/>
                  <a:moveTo>
                    <a:pt x="454" y="35"/>
                  </a:moveTo>
                  <a:cubicBezTo>
                    <a:pt x="454" y="49"/>
                    <a:pt x="441" y="62"/>
                    <a:pt x="427" y="62"/>
                  </a:cubicBezTo>
                  <a:cubicBezTo>
                    <a:pt x="412" y="62"/>
                    <a:pt x="400" y="49"/>
                    <a:pt x="400" y="35"/>
                  </a:cubicBezTo>
                  <a:cubicBezTo>
                    <a:pt x="400" y="20"/>
                    <a:pt x="412" y="8"/>
                    <a:pt x="427" y="8"/>
                  </a:cubicBezTo>
                  <a:cubicBezTo>
                    <a:pt x="441" y="8"/>
                    <a:pt x="454" y="20"/>
                    <a:pt x="454" y="35"/>
                  </a:cubicBezTo>
                  <a:close/>
                  <a:moveTo>
                    <a:pt x="512" y="30"/>
                  </a:moveTo>
                  <a:cubicBezTo>
                    <a:pt x="512" y="44"/>
                    <a:pt x="499" y="57"/>
                    <a:pt x="485" y="57"/>
                  </a:cubicBezTo>
                  <a:cubicBezTo>
                    <a:pt x="470" y="57"/>
                    <a:pt x="458" y="44"/>
                    <a:pt x="458" y="30"/>
                  </a:cubicBezTo>
                  <a:cubicBezTo>
                    <a:pt x="458" y="15"/>
                    <a:pt x="470" y="3"/>
                    <a:pt x="485" y="3"/>
                  </a:cubicBezTo>
                  <a:cubicBezTo>
                    <a:pt x="499" y="3"/>
                    <a:pt x="512" y="15"/>
                    <a:pt x="512" y="30"/>
                  </a:cubicBezTo>
                  <a:close/>
                  <a:moveTo>
                    <a:pt x="570" y="32"/>
                  </a:moveTo>
                  <a:cubicBezTo>
                    <a:pt x="570" y="46"/>
                    <a:pt x="557" y="59"/>
                    <a:pt x="543" y="59"/>
                  </a:cubicBezTo>
                  <a:cubicBezTo>
                    <a:pt x="528" y="59"/>
                    <a:pt x="516" y="46"/>
                    <a:pt x="516" y="32"/>
                  </a:cubicBezTo>
                  <a:cubicBezTo>
                    <a:pt x="516" y="17"/>
                    <a:pt x="528" y="5"/>
                    <a:pt x="543" y="5"/>
                  </a:cubicBezTo>
                  <a:cubicBezTo>
                    <a:pt x="557" y="5"/>
                    <a:pt x="570" y="17"/>
                    <a:pt x="570" y="32"/>
                  </a:cubicBezTo>
                  <a:close/>
                  <a:moveTo>
                    <a:pt x="627" y="40"/>
                  </a:moveTo>
                  <a:cubicBezTo>
                    <a:pt x="627" y="54"/>
                    <a:pt x="614" y="67"/>
                    <a:pt x="600" y="67"/>
                  </a:cubicBezTo>
                  <a:cubicBezTo>
                    <a:pt x="585" y="67"/>
                    <a:pt x="573" y="54"/>
                    <a:pt x="573" y="40"/>
                  </a:cubicBezTo>
                  <a:cubicBezTo>
                    <a:pt x="573" y="25"/>
                    <a:pt x="585" y="13"/>
                    <a:pt x="600" y="13"/>
                  </a:cubicBezTo>
                  <a:cubicBezTo>
                    <a:pt x="614" y="13"/>
                    <a:pt x="627" y="25"/>
                    <a:pt x="627" y="40"/>
                  </a:cubicBezTo>
                  <a:close/>
                  <a:moveTo>
                    <a:pt x="683" y="56"/>
                  </a:moveTo>
                  <a:cubicBezTo>
                    <a:pt x="683" y="70"/>
                    <a:pt x="670" y="83"/>
                    <a:pt x="656" y="83"/>
                  </a:cubicBezTo>
                  <a:cubicBezTo>
                    <a:pt x="641" y="83"/>
                    <a:pt x="629" y="70"/>
                    <a:pt x="629" y="56"/>
                  </a:cubicBezTo>
                  <a:cubicBezTo>
                    <a:pt x="629" y="41"/>
                    <a:pt x="641" y="29"/>
                    <a:pt x="656" y="29"/>
                  </a:cubicBezTo>
                  <a:cubicBezTo>
                    <a:pt x="670" y="29"/>
                    <a:pt x="683" y="41"/>
                    <a:pt x="683" y="56"/>
                  </a:cubicBezTo>
                  <a:close/>
                  <a:moveTo>
                    <a:pt x="736" y="79"/>
                  </a:moveTo>
                  <a:cubicBezTo>
                    <a:pt x="736" y="93"/>
                    <a:pt x="723" y="106"/>
                    <a:pt x="709" y="106"/>
                  </a:cubicBezTo>
                  <a:cubicBezTo>
                    <a:pt x="694" y="106"/>
                    <a:pt x="682" y="93"/>
                    <a:pt x="682" y="79"/>
                  </a:cubicBezTo>
                  <a:cubicBezTo>
                    <a:pt x="682" y="64"/>
                    <a:pt x="694" y="52"/>
                    <a:pt x="709" y="52"/>
                  </a:cubicBezTo>
                  <a:cubicBezTo>
                    <a:pt x="723" y="52"/>
                    <a:pt x="736" y="64"/>
                    <a:pt x="736" y="79"/>
                  </a:cubicBezTo>
                  <a:close/>
                  <a:moveTo>
                    <a:pt x="786" y="108"/>
                  </a:moveTo>
                  <a:cubicBezTo>
                    <a:pt x="786" y="122"/>
                    <a:pt x="773" y="135"/>
                    <a:pt x="759" y="135"/>
                  </a:cubicBezTo>
                  <a:cubicBezTo>
                    <a:pt x="744" y="135"/>
                    <a:pt x="732" y="122"/>
                    <a:pt x="732" y="108"/>
                  </a:cubicBezTo>
                  <a:cubicBezTo>
                    <a:pt x="732" y="93"/>
                    <a:pt x="744" y="81"/>
                    <a:pt x="759" y="81"/>
                  </a:cubicBezTo>
                  <a:cubicBezTo>
                    <a:pt x="773" y="81"/>
                    <a:pt x="786" y="93"/>
                    <a:pt x="786" y="108"/>
                  </a:cubicBezTo>
                  <a:close/>
                  <a:moveTo>
                    <a:pt x="832" y="143"/>
                  </a:moveTo>
                  <a:cubicBezTo>
                    <a:pt x="832" y="157"/>
                    <a:pt x="819" y="170"/>
                    <a:pt x="805" y="170"/>
                  </a:cubicBezTo>
                  <a:cubicBezTo>
                    <a:pt x="790" y="170"/>
                    <a:pt x="778" y="157"/>
                    <a:pt x="778" y="143"/>
                  </a:cubicBezTo>
                  <a:cubicBezTo>
                    <a:pt x="778" y="128"/>
                    <a:pt x="790" y="116"/>
                    <a:pt x="805" y="116"/>
                  </a:cubicBezTo>
                  <a:cubicBezTo>
                    <a:pt x="819" y="116"/>
                    <a:pt x="832" y="128"/>
                    <a:pt x="832" y="143"/>
                  </a:cubicBezTo>
                  <a:close/>
                  <a:moveTo>
                    <a:pt x="874" y="183"/>
                  </a:moveTo>
                  <a:cubicBezTo>
                    <a:pt x="874" y="197"/>
                    <a:pt x="861" y="210"/>
                    <a:pt x="847" y="210"/>
                  </a:cubicBezTo>
                  <a:cubicBezTo>
                    <a:pt x="832" y="210"/>
                    <a:pt x="820" y="197"/>
                    <a:pt x="820" y="183"/>
                  </a:cubicBezTo>
                  <a:cubicBezTo>
                    <a:pt x="820" y="168"/>
                    <a:pt x="832" y="156"/>
                    <a:pt x="847" y="156"/>
                  </a:cubicBezTo>
                  <a:cubicBezTo>
                    <a:pt x="861" y="156"/>
                    <a:pt x="874" y="168"/>
                    <a:pt x="874" y="183"/>
                  </a:cubicBezTo>
                  <a:close/>
                  <a:moveTo>
                    <a:pt x="910" y="228"/>
                  </a:moveTo>
                  <a:cubicBezTo>
                    <a:pt x="910" y="242"/>
                    <a:pt x="897" y="255"/>
                    <a:pt x="883" y="255"/>
                  </a:cubicBezTo>
                  <a:cubicBezTo>
                    <a:pt x="868" y="255"/>
                    <a:pt x="856" y="242"/>
                    <a:pt x="856" y="228"/>
                  </a:cubicBezTo>
                  <a:cubicBezTo>
                    <a:pt x="856" y="213"/>
                    <a:pt x="868" y="201"/>
                    <a:pt x="883" y="201"/>
                  </a:cubicBezTo>
                  <a:cubicBezTo>
                    <a:pt x="897" y="201"/>
                    <a:pt x="910" y="213"/>
                    <a:pt x="910" y="228"/>
                  </a:cubicBezTo>
                  <a:close/>
                  <a:moveTo>
                    <a:pt x="941" y="277"/>
                  </a:moveTo>
                  <a:cubicBezTo>
                    <a:pt x="941" y="291"/>
                    <a:pt x="928" y="304"/>
                    <a:pt x="914" y="304"/>
                  </a:cubicBezTo>
                  <a:cubicBezTo>
                    <a:pt x="899" y="304"/>
                    <a:pt x="887" y="291"/>
                    <a:pt x="887" y="277"/>
                  </a:cubicBezTo>
                  <a:cubicBezTo>
                    <a:pt x="887" y="262"/>
                    <a:pt x="899" y="250"/>
                    <a:pt x="914" y="250"/>
                  </a:cubicBezTo>
                  <a:cubicBezTo>
                    <a:pt x="928" y="250"/>
                    <a:pt x="941" y="262"/>
                    <a:pt x="941" y="277"/>
                  </a:cubicBezTo>
                  <a:close/>
                  <a:moveTo>
                    <a:pt x="965" y="330"/>
                  </a:moveTo>
                  <a:cubicBezTo>
                    <a:pt x="965" y="344"/>
                    <a:pt x="952" y="357"/>
                    <a:pt x="938" y="357"/>
                  </a:cubicBezTo>
                  <a:cubicBezTo>
                    <a:pt x="923" y="357"/>
                    <a:pt x="911" y="344"/>
                    <a:pt x="911" y="330"/>
                  </a:cubicBezTo>
                  <a:cubicBezTo>
                    <a:pt x="911" y="315"/>
                    <a:pt x="923" y="303"/>
                    <a:pt x="938" y="303"/>
                  </a:cubicBezTo>
                  <a:cubicBezTo>
                    <a:pt x="952" y="303"/>
                    <a:pt x="965" y="315"/>
                    <a:pt x="965" y="330"/>
                  </a:cubicBezTo>
                  <a:close/>
                  <a:moveTo>
                    <a:pt x="982" y="385"/>
                  </a:moveTo>
                  <a:cubicBezTo>
                    <a:pt x="982" y="399"/>
                    <a:pt x="969" y="412"/>
                    <a:pt x="955" y="412"/>
                  </a:cubicBezTo>
                  <a:cubicBezTo>
                    <a:pt x="940" y="412"/>
                    <a:pt x="928" y="399"/>
                    <a:pt x="928" y="385"/>
                  </a:cubicBezTo>
                  <a:cubicBezTo>
                    <a:pt x="928" y="370"/>
                    <a:pt x="940" y="358"/>
                    <a:pt x="955" y="358"/>
                  </a:cubicBezTo>
                  <a:cubicBezTo>
                    <a:pt x="969" y="358"/>
                    <a:pt x="982" y="370"/>
                    <a:pt x="982" y="385"/>
                  </a:cubicBezTo>
                  <a:close/>
                  <a:moveTo>
                    <a:pt x="993" y="442"/>
                  </a:moveTo>
                  <a:cubicBezTo>
                    <a:pt x="993" y="456"/>
                    <a:pt x="980" y="469"/>
                    <a:pt x="966" y="469"/>
                  </a:cubicBezTo>
                  <a:cubicBezTo>
                    <a:pt x="951" y="469"/>
                    <a:pt x="939" y="456"/>
                    <a:pt x="939" y="442"/>
                  </a:cubicBezTo>
                  <a:cubicBezTo>
                    <a:pt x="939" y="427"/>
                    <a:pt x="951" y="415"/>
                    <a:pt x="966" y="415"/>
                  </a:cubicBezTo>
                  <a:cubicBezTo>
                    <a:pt x="980" y="415"/>
                    <a:pt x="993" y="427"/>
                    <a:pt x="993" y="44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6" name="Forma 48"/>
            <p:cNvSpPr/>
            <p:nvPr/>
          </p:nvSpPr>
          <p:spPr>
            <a:xfrm>
              <a:off x="5120640" y="2926080"/>
              <a:ext cx="1051560" cy="1051560"/>
            </a:xfrm>
            <a:custGeom>
              <a:avLst/>
              <a:gdLst/>
              <a:ahLst/>
              <a:cxnLst/>
              <a:rect l="0" t="0" r="r" b="b"/>
              <a:pathLst>
                <a:path w="1000" h="1000" fill="none">
                  <a:moveTo>
                    <a:pt x="30" y="328"/>
                  </a:moveTo>
                  <a:cubicBezTo>
                    <a:pt x="40" y="308"/>
                    <a:pt x="65" y="248"/>
                    <a:pt x="90" y="213"/>
                  </a:cubicBezTo>
                  <a:cubicBezTo>
                    <a:pt x="114" y="177"/>
                    <a:pt x="145" y="143"/>
                    <a:pt x="178" y="116"/>
                  </a:cubicBezTo>
                  <a:cubicBezTo>
                    <a:pt x="211" y="88"/>
                    <a:pt x="248" y="64"/>
                    <a:pt x="288" y="46"/>
                  </a:cubicBezTo>
                  <a:cubicBezTo>
                    <a:pt x="327" y="27"/>
                    <a:pt x="370" y="14"/>
                    <a:pt x="413" y="7"/>
                  </a:cubicBezTo>
                  <a:cubicBezTo>
                    <a:pt x="455" y="0"/>
                    <a:pt x="500" y="-2"/>
                    <a:pt x="543" y="1"/>
                  </a:cubicBezTo>
                  <a:cubicBezTo>
                    <a:pt x="586" y="4"/>
                    <a:pt x="630" y="15"/>
                    <a:pt x="671" y="30"/>
                  </a:cubicBezTo>
                  <a:cubicBezTo>
                    <a:pt x="711" y="44"/>
                    <a:pt x="750" y="65"/>
                    <a:pt x="786" y="90"/>
                  </a:cubicBezTo>
                  <a:cubicBezTo>
                    <a:pt x="821" y="114"/>
                    <a:pt x="866" y="163"/>
                    <a:pt x="883" y="178"/>
                  </a:cubicBezTo>
                </a:path>
              </a:pathLst>
            </a:custGeom>
            <a:noFill/>
            <a:ln w="63500" cap="rnd">
              <a:solidFill>
                <a:srgbClr val="2E4A9E"/>
              </a:solidFill>
              <a:round/>
            </a:ln>
          </p:spPr>
        </p:sp>
        <p:sp>
          <p:nvSpPr>
            <p:cNvPr id="47" name="Forma 49"/>
            <p:cNvSpPr txBox="1"/>
            <p:nvPr/>
          </p:nvSpPr>
          <p:spPr>
            <a:xfrm>
              <a:off x="5062987" y="2671114"/>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20336E"/>
                  </a:solidFill>
                  <a:latin typeface="Bahnschrift SemiBold Condensed"/>
                  <a:ea typeface="Bahnschrift SemiBold Condensed"/>
                  <a:cs typeface="Bahnschrift SemiBold Condensed"/>
                  <a:sym typeface="Bahnschrift SemiBold Condensed"/>
                </a:rPr>
                <a:t>ApoB-48</a:t>
              </a:r>
              <a:endParaRPr lang="es-AR" sz="1050" dirty="0">
                <a:latin typeface="Bahnschrift SemiBold Condensed"/>
              </a:endParaRPr>
            </a:p>
          </p:txBody>
        </p:sp>
        <p:sp>
          <p:nvSpPr>
            <p:cNvPr id="48" name="Forma 50"/>
            <p:cNvSpPr txBox="1"/>
            <p:nvPr/>
          </p:nvSpPr>
          <p:spPr>
            <a:xfrm>
              <a:off x="5120640" y="3241548"/>
              <a:ext cx="1051560" cy="420624"/>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QM</a:t>
              </a:r>
              <a:endParaRPr lang="es-AR" sz="1800" dirty="0">
                <a:latin typeface="Bahnschrift SemiBold Condensed"/>
              </a:endParaRPr>
            </a:p>
          </p:txBody>
        </p:sp>
      </p:grpSp>
      <p:sp>
        <p:nvSpPr>
          <p:cNvPr id="49" name="Quilífero"/>
          <p:cNvSpPr/>
          <p:nvPr/>
        </p:nvSpPr>
        <p:spPr>
          <a:xfrm>
            <a:off x="365760" y="4800600"/>
            <a:ext cx="6949440" cy="685800"/>
          </a:xfrm>
          <a:prstGeom prst="rect">
            <a:avLst/>
          </a:prstGeom>
          <a:gradFill rotWithShape="1">
            <a:gsLst>
              <a:gs pos="0">
                <a:srgbClr val="FDFEFE"/>
              </a:gs>
              <a:gs pos="100000">
                <a:srgbClr val="EAF2F8"/>
              </a:gs>
            </a:gsLst>
            <a:lin ang="5400000" scaled="0"/>
          </a:gradFill>
          <a:ln w="12700" cap="rnd">
            <a:solidFill>
              <a:srgbClr val="85929E"/>
            </a:solidFill>
            <a:round/>
          </a:ln>
        </p:spPr>
        <p:txBody>
          <a:bodyPr wrap="square" lIns="73152" tIns="45720" rIns="73152" bIns="45720" anchor="ctr" rtlCol="0">
            <a:noAutofit/>
          </a:bodyPr>
          <a:lstStyle/>
          <a:p>
            <a:pPr algn="ctr">
              <a:spcAft>
                <a:spcPts val="300"/>
              </a:spcAft>
              <a:buNone/>
            </a:pPr>
            <a:r>
              <a:rPr lang="es-AR" sz="1300" b="1" dirty="0">
                <a:solidFill>
                  <a:srgbClr val="34495E"/>
                </a:solidFill>
                <a:latin typeface="Bahnschrift SemiBold Condensed"/>
                <a:ea typeface="Bahnschrift SemiBold Condensed"/>
                <a:cs typeface="Bahnschrift SemiBold Condensed"/>
                <a:sym typeface="Bahnschrift SemiBold Condensed"/>
              </a:rPr>
              <a:t>VASO LINFÁTICO (QUILÍFERO) → conducto torácico → sangre</a:t>
            </a:r>
            <a:endParaRPr lang="es-AR" sz="1300" dirty="0">
              <a:latin typeface="Bahnschrift SemiBold Condensed"/>
            </a:endParaRPr>
          </a:p>
        </p:txBody>
      </p:sp>
      <p:grpSp>
        <p:nvGrpSpPr>
          <p:cNvPr id="50" name="Paso lípidos 1"/>
          <p:cNvGrpSpPr/>
          <p:nvPr/>
        </p:nvGrpSpPr>
        <p:grpSpPr>
          <a:xfrm>
            <a:off x="7589520" y="941832"/>
            <a:ext cx="4206240" cy="1005840"/>
            <a:chOff x="7589520" y="941832"/>
            <a:chExt cx="4206240" cy="1005840"/>
          </a:xfrm>
        </p:grpSpPr>
        <p:sp>
          <p:nvSpPr>
            <p:cNvPr id="51" name="Paso 1"/>
            <p:cNvSpPr/>
            <p:nvPr/>
          </p:nvSpPr>
          <p:spPr>
            <a:xfrm>
              <a:off x="7589520" y="100584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52" name="Forma 54"/>
            <p:cNvSpPr txBox="1"/>
            <p:nvPr/>
          </p:nvSpPr>
          <p:spPr>
            <a:xfrm>
              <a:off x="8092440" y="941832"/>
              <a:ext cx="3703320" cy="10058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Emulsificación (sales biliares) e hidrólisis por </a:t>
              </a:r>
              <a:r>
                <a:rPr lang="es-AR" sz="1400" b="1" dirty="0">
                  <a:solidFill>
                    <a:srgbClr val="1E1E1E"/>
                  </a:solidFill>
                  <a:latin typeface="Bahnschrift"/>
                  <a:ea typeface="Bahnschrift"/>
                  <a:cs typeface="Bahnschrift"/>
                  <a:sym typeface="Bahnschrift"/>
                </a:rPr>
                <a:t>lipasa pancreática</a:t>
              </a:r>
              <a:r>
                <a:rPr lang="es-AR" sz="1400" dirty="0">
                  <a:solidFill>
                    <a:srgbClr val="1E1E1E"/>
                  </a:solidFill>
                  <a:latin typeface="Bahnschrift"/>
                  <a:ea typeface="Bahnschrift"/>
                  <a:cs typeface="Bahnschrift"/>
                  <a:sym typeface="Bahnschrift"/>
                </a:rPr>
                <a:t> → 2-monoacilglicerol + AG.</a:t>
              </a:r>
              <a:endParaRPr lang="es-AR" sz="1400" dirty="0">
                <a:latin typeface="Bahnschrift"/>
              </a:endParaRPr>
            </a:p>
          </p:txBody>
        </p:sp>
      </p:grpSp>
      <p:grpSp>
        <p:nvGrpSpPr>
          <p:cNvPr id="53" name="Paso lípidos 2"/>
          <p:cNvGrpSpPr/>
          <p:nvPr/>
        </p:nvGrpSpPr>
        <p:grpSpPr>
          <a:xfrm>
            <a:off x="7589520" y="2020824"/>
            <a:ext cx="4206240" cy="1005840"/>
            <a:chOff x="7589520" y="2020824"/>
            <a:chExt cx="4206240" cy="1005840"/>
          </a:xfrm>
        </p:grpSpPr>
        <p:sp>
          <p:nvSpPr>
            <p:cNvPr id="54" name="Paso 2"/>
            <p:cNvSpPr/>
            <p:nvPr/>
          </p:nvSpPr>
          <p:spPr>
            <a:xfrm>
              <a:off x="7589520" y="2084832"/>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55" name="Forma 57"/>
            <p:cNvSpPr txBox="1"/>
            <p:nvPr/>
          </p:nvSpPr>
          <p:spPr>
            <a:xfrm>
              <a:off x="8092440" y="2020824"/>
              <a:ext cx="3703320" cy="10058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Micelas entregan AG y MAG al enterocito.</a:t>
              </a:r>
              <a:endParaRPr lang="es-AR" sz="1400" dirty="0">
                <a:latin typeface="Bahnschrift"/>
              </a:endParaRPr>
            </a:p>
          </p:txBody>
        </p:sp>
      </p:grpSp>
      <p:grpSp>
        <p:nvGrpSpPr>
          <p:cNvPr id="56" name="Paso lípidos 3"/>
          <p:cNvGrpSpPr/>
          <p:nvPr/>
        </p:nvGrpSpPr>
        <p:grpSpPr>
          <a:xfrm>
            <a:off x="7589520" y="3099816"/>
            <a:ext cx="4206240" cy="1005840"/>
            <a:chOff x="7589520" y="3099816"/>
            <a:chExt cx="4206240" cy="1005840"/>
          </a:xfrm>
        </p:grpSpPr>
        <p:sp>
          <p:nvSpPr>
            <p:cNvPr id="57" name="Paso 3"/>
            <p:cNvSpPr/>
            <p:nvPr/>
          </p:nvSpPr>
          <p:spPr>
            <a:xfrm>
              <a:off x="7589520" y="3163824"/>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58" name="Forma 60"/>
            <p:cNvSpPr txBox="1"/>
            <p:nvPr/>
          </p:nvSpPr>
          <p:spPr>
            <a:xfrm>
              <a:off x="8092440" y="3099816"/>
              <a:ext cx="3703320" cy="100584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a:ea typeface="Bahnschrift"/>
                  <a:cs typeface="Bahnschrift"/>
                  <a:sym typeface="Bahnschrift"/>
                </a:rPr>
                <a:t>Reesterificación</a:t>
              </a:r>
              <a:r>
                <a:rPr lang="es-AR" sz="1400" dirty="0">
                  <a:solidFill>
                    <a:srgbClr val="1E1E1E"/>
                  </a:solidFill>
                  <a:latin typeface="Bahnschrift"/>
                  <a:ea typeface="Bahnschrift"/>
                  <a:cs typeface="Bahnschrift"/>
                  <a:sym typeface="Bahnschrift"/>
                </a:rPr>
                <a:t> a TAG en el RE.</a:t>
              </a:r>
              <a:endParaRPr lang="es-AR" sz="1400" dirty="0">
                <a:latin typeface="Bahnschrift"/>
              </a:endParaRPr>
            </a:p>
          </p:txBody>
        </p:sp>
      </p:grpSp>
      <p:grpSp>
        <p:nvGrpSpPr>
          <p:cNvPr id="59" name="Paso lípidos 4"/>
          <p:cNvGrpSpPr/>
          <p:nvPr/>
        </p:nvGrpSpPr>
        <p:grpSpPr>
          <a:xfrm>
            <a:off x="7589520" y="4178808"/>
            <a:ext cx="4206240" cy="1005840"/>
            <a:chOff x="7589520" y="4178808"/>
            <a:chExt cx="4206240" cy="1005840"/>
          </a:xfrm>
        </p:grpSpPr>
        <p:sp>
          <p:nvSpPr>
            <p:cNvPr id="60" name="Paso 4"/>
            <p:cNvSpPr/>
            <p:nvPr/>
          </p:nvSpPr>
          <p:spPr>
            <a:xfrm>
              <a:off x="7589520" y="4242816"/>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sp>
          <p:nvSpPr>
            <p:cNvPr id="61" name="Forma 63"/>
            <p:cNvSpPr txBox="1"/>
            <p:nvPr/>
          </p:nvSpPr>
          <p:spPr>
            <a:xfrm>
              <a:off x="8092440" y="4178808"/>
              <a:ext cx="3703320" cy="10058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Ensamblaje con </a:t>
              </a:r>
              <a:r>
                <a:rPr lang="es-AR" sz="1400" b="1" dirty="0">
                  <a:solidFill>
                    <a:srgbClr val="1E1E1E"/>
                  </a:solidFill>
                  <a:latin typeface="Bahnschrift"/>
                  <a:ea typeface="Bahnschrift"/>
                  <a:cs typeface="Bahnschrift"/>
                  <a:sym typeface="Bahnschrift"/>
                </a:rPr>
                <a:t>ApoB-48</a:t>
              </a:r>
              <a:r>
                <a:rPr lang="es-AR" sz="1400" dirty="0">
                  <a:solidFill>
                    <a:srgbClr val="1E1E1E"/>
                  </a:solidFill>
                  <a:latin typeface="Bahnschrift"/>
                  <a:ea typeface="Bahnschrift"/>
                  <a:cs typeface="Bahnschrift"/>
                  <a:sym typeface="Bahnschrift"/>
                </a:rPr>
                <a:t> (MTP), fosfolípidos y colesterol → </a:t>
              </a:r>
              <a:r>
                <a:rPr lang="es-AR" sz="1400" b="1" dirty="0">
                  <a:solidFill>
                    <a:srgbClr val="1E1E1E"/>
                  </a:solidFill>
                  <a:latin typeface="Bahnschrift"/>
                  <a:ea typeface="Bahnschrift"/>
                  <a:cs typeface="Bahnschrift"/>
                  <a:sym typeface="Bahnschrift"/>
                </a:rPr>
                <a:t>quilomicrón</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62" name="Paso lípidos 5"/>
          <p:cNvGrpSpPr/>
          <p:nvPr/>
        </p:nvGrpSpPr>
        <p:grpSpPr>
          <a:xfrm>
            <a:off x="7589520" y="5257800"/>
            <a:ext cx="4206240" cy="1005840"/>
            <a:chOff x="7589520" y="5257800"/>
            <a:chExt cx="4206240" cy="1005840"/>
          </a:xfrm>
        </p:grpSpPr>
        <p:sp>
          <p:nvSpPr>
            <p:cNvPr id="63" name="Paso 5"/>
            <p:cNvSpPr/>
            <p:nvPr/>
          </p:nvSpPr>
          <p:spPr>
            <a:xfrm>
              <a:off x="7589520" y="5321808"/>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a:t>
              </a:r>
              <a:endParaRPr lang="es-AR" sz="1500" dirty="0">
                <a:latin typeface="Bahnschrift SemiBold Condensed"/>
              </a:endParaRPr>
            </a:p>
          </p:txBody>
        </p:sp>
        <p:sp>
          <p:nvSpPr>
            <p:cNvPr id="64" name="Forma 66"/>
            <p:cNvSpPr txBox="1"/>
            <p:nvPr/>
          </p:nvSpPr>
          <p:spPr>
            <a:xfrm>
              <a:off x="8092440" y="5257800"/>
              <a:ext cx="3703320" cy="10058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Exocitosis basolateral hacia la </a:t>
              </a:r>
              <a:r>
                <a:rPr lang="es-AR" sz="1400" b="1" dirty="0">
                  <a:solidFill>
                    <a:srgbClr val="1E1E1E"/>
                  </a:solidFill>
                  <a:latin typeface="Bahnschrift"/>
                  <a:ea typeface="Bahnschrift"/>
                  <a:cs typeface="Bahnschrift"/>
                  <a:sym typeface="Bahnschrift"/>
                </a:rPr>
                <a:t>linfa</a:t>
              </a:r>
              <a:r>
                <a:rPr lang="es-AR" sz="1400" dirty="0">
                  <a:solidFill>
                    <a:srgbClr val="1E1E1E"/>
                  </a:solidFill>
                  <a:latin typeface="Bahnschrift"/>
                  <a:ea typeface="Bahnschrift"/>
                  <a:cs typeface="Bahnschrift"/>
                  <a:sym typeface="Bahnschrift"/>
                </a:rPr>
                <a:t>; luego a la sangre.</a:t>
              </a:r>
              <a:endParaRPr lang="es-AR" sz="1400" dirty="0">
                <a:latin typeface="Bahnschrift"/>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89318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LÍPIDOS DE LA DIETA: DEL ENTEROCITO AL QUILOMICRÓN</a:t>
            </a:r>
            <a:endParaRPr lang="es-AR" sz="2600" dirty="0">
              <a:latin typeface="Bahnschrift SemiBold Condensed"/>
            </a:endParaRPr>
          </a:p>
        </p:txBody>
      </p:sp>
      <p:sp>
        <p:nvSpPr>
          <p:cNvPr id="6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0"/>
                                        </p:tgtEl>
                                        <p:attrNameLst>
                                          <p:attrName>style.visibility</p:attrName>
                                        </p:attrNameLst>
                                      </p:cBhvr>
                                      <p:to>
                                        <p:strVal val="visible"/>
                                      </p:to>
                                    </p:set>
                                    <p:animEffect transition="in" filter="fade">
                                      <p:cBhvr>
                                        <p:cTn id="5" dur="500"/>
                                        <p:tgtEl>
                                          <p:spTgt spid="50"/>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6"/>
                                        </p:tgtEl>
                                        <p:attrNameLst>
                                          <p:attrName>style.visibility</p:attrName>
                                        </p:attrNameLst>
                                      </p:cBhvr>
                                      <p:to>
                                        <p:strVal val="visible"/>
                                      </p:to>
                                    </p:set>
                                    <p:animEffect transition="in" filter="fade">
                                      <p:cBhvr>
                                        <p:cTn id="9" dur="500"/>
                                        <p:tgtEl>
                                          <p:spTgt spid="6"/>
                                        </p:tgtEl>
                                      </p:cBhvr>
                                    </p:animEffect>
                                  </p:childTnLst>
                                </p:cTn>
                              </p:par>
                            </p:childTnLst>
                          </p:cTn>
                        </p:par>
                      </p:childTnLst>
                    </p:cTn>
                  </p:par>
                  <p:par>
                    <p:cTn id="28" fill="hold">
                      <p:stCondLst>
                        <p:cond delay="indefinite"/>
                      </p:stCondLst>
                      <p:childTnLst>
                        <p:par>
                          <p:cTn id="15"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3"/>
                                        </p:tgtEl>
                                        <p:attrNameLst>
                                          <p:attrName>style.visibility</p:attrName>
                                        </p:attrNameLst>
                                      </p:cBhvr>
                                      <p:to>
                                        <p:strVal val="visible"/>
                                      </p:to>
                                    </p:set>
                                    <p:animEffect transition="in" filter="fade">
                                      <p:cBhvr>
                                        <p:cTn id="14" dur="500"/>
                                        <p:tgtEl>
                                          <p:spTgt spid="53"/>
                                        </p:tgtEl>
                                      </p:cBhvr>
                                    </p:animEffect>
                                  </p:childTnLst>
                                </p:cTn>
                              </p:par>
                            </p:childTnLst>
                          </p:cTn>
                        </p:par>
                        <p:par>
                          <p:cTn id="19"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par>
                          <p:cTn id="23"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par>
                          <p:cTn id="27"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43" fill="hold">
                      <p:stCondLst>
                        <p:cond delay="indefinite"/>
                      </p:stCondLst>
                      <p:childTnLst>
                        <p:par>
                          <p:cTn id="32"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500"/>
                                        <p:tgtEl>
                                          <p:spTgt spid="56"/>
                                        </p:tgtEl>
                                      </p:cBhvr>
                                    </p:animEffect>
                                  </p:childTnLst>
                                </p:cTn>
                              </p:par>
                            </p:childTnLst>
                          </p:cTn>
                        </p:par>
                        <p:par>
                          <p:cTn id="38" fill="hold">
                            <p:stCondLst>
                              <p:cond delay="500"/>
                            </p:stCondLst>
                            <p:childTnLst>
                              <p:par>
                                <p:cTn id="33" presetID="0" presetClass="path" presetSubtype="0" accel="20000" decel="20000" fill="hold" grpId="0" nodeType="afterEffect">
                                  <p:stCondLst>
                                    <p:cond delay="0"/>
                                  </p:stCondLst>
                                  <p:childTnLst>
                                    <p:animMotion origin="layout" path="M 0 0 L -0.0150 0.2333 E" pathEditMode="relative" ptsTypes="">
                                      <p:cBhvr>
                                        <p:cTn id="34" dur="1000" fill="hold"/>
                                        <p:tgtEl>
                                          <p:spTgt spid="12"/>
                                        </p:tgtEl>
                                        <p:attrNameLst>
                                          <p:attrName>ppt_x</p:attrName>
                                          <p:attrName>ppt_y</p:attrName>
                                        </p:attrNameLst>
                                      </p:cBhvr>
                                      <p:rCtr x="-750" y="11666"/>
                                    </p:animMotion>
                                  </p:childTnLst>
                                </p:cTn>
                              </p:par>
                              <p:par>
                                <p:cTn id="35" presetID="10" presetClass="entr" presetSubtype="0"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fade">
                                      <p:cBhvr>
                                        <p:cTn id="37" dur="500"/>
                                        <p:tgtEl>
                                          <p:spTgt spid="35"/>
                                        </p:tgtEl>
                                      </p:cBhvr>
                                    </p:animEffect>
                                  </p:childTnLst>
                                </p:cTn>
                              </p:par>
                            </p:childTnLst>
                          </p:cTn>
                        </p:par>
                        <p:par>
                          <p:cTn id="42" fill="hold">
                            <p:stCondLst>
                              <p:cond delay="1500"/>
                            </p:stCondLst>
                            <p:childTnLst>
                              <p:par>
                                <p:cTn id="39" presetID="10" presetClass="entr" presetSubtype="0" fill="hold" grpId="0" nodeType="afterEffect">
                                  <p:stCondLst>
                                    <p:cond delay="0"/>
                                  </p:stCondLst>
                                  <p:childTnLst>
                                    <p:set>
                                      <p:cBhvr>
                                        <p:cTn id="40" dur="1" fill="hold">
                                          <p:stCondLst>
                                            <p:cond delay="0"/>
                                          </p:stCondLst>
                                        </p:cTn>
                                        <p:tgtEl>
                                          <p:spTgt spid="42"/>
                                        </p:tgtEl>
                                        <p:attrNameLst>
                                          <p:attrName>style.visibility</p:attrName>
                                        </p:attrNameLst>
                                      </p:cBhvr>
                                      <p:to>
                                        <p:strVal val="visible"/>
                                      </p:to>
                                    </p:set>
                                    <p:animEffect transition="in" filter="fade">
                                      <p:cBhvr>
                                        <p:cTn id="41" dur="500"/>
                                        <p:tgtEl>
                                          <p:spTgt spid="42"/>
                                        </p:tgtEl>
                                      </p:cBhvr>
                                    </p:animEffect>
                                  </p:childTnLst>
                                </p:cTn>
                              </p:par>
                            </p:childTnLst>
                          </p:cTn>
                        </p:par>
                      </p:childTnLst>
                    </p:cTn>
                  </p:par>
                  <p:par>
                    <p:cTn id="54"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59"/>
                                        </p:tgtEl>
                                        <p:attrNameLst>
                                          <p:attrName>style.visibility</p:attrName>
                                        </p:attrNameLst>
                                      </p:cBhvr>
                                      <p:to>
                                        <p:strVal val="visible"/>
                                      </p:to>
                                    </p:set>
                                    <p:animEffect transition="in" filter="fade">
                                      <p:cBhvr>
                                        <p:cTn id="46" dur="500"/>
                                        <p:tgtEl>
                                          <p:spTgt spid="59"/>
                                        </p:tgtEl>
                                      </p:cBhvr>
                                    </p:animEffect>
                                  </p:childTnLst>
                                </p:cTn>
                              </p:par>
                            </p:childTnLst>
                          </p:cTn>
                        </p:par>
                        <p:par>
                          <p:cTn id="53" fill="hold">
                            <p:stCondLst>
                              <p:cond delay="500"/>
                            </p:stCondLst>
                            <p:childTnLst>
                              <p:par>
                                <p:cTn id="48" presetID="53" presetClass="entr" presetSubtype="16" fill="hold" grpId="0" nodeType="afterEffect">
                                  <p:stCondLst>
                                    <p:cond delay="0"/>
                                  </p:stCondLst>
                                  <p:childTnLst>
                                    <p:set>
                                      <p:cBhvr>
                                        <p:cTn id="49" dur="1" fill="hold">
                                          <p:stCondLst>
                                            <p:cond delay="0"/>
                                          </p:stCondLst>
                                        </p:cTn>
                                        <p:tgtEl>
                                          <p:spTgt spid="43"/>
                                        </p:tgtEl>
                                        <p:attrNameLst>
                                          <p:attrName>style.visibility</p:attrName>
                                        </p:attrNameLst>
                                      </p:cBhvr>
                                      <p:to>
                                        <p:strVal val="visible"/>
                                      </p:to>
                                    </p:set>
                                    <p:anim calcmode="lin" valueType="num">
                                      <p:cBhvr>
                                        <p:cTn id="50" dur="500" fill="hold"/>
                                        <p:tgtEl>
                                          <p:spTgt spid="43"/>
                                        </p:tgtEl>
                                        <p:attrNameLst>
                                          <p:attrName>ppt_w</p:attrName>
                                        </p:attrNameLst>
                                      </p:cBhvr>
                                      <p:tavLst>
                                        <p:tav tm="0">
                                          <p:val>
                                            <p:fltVal val="0"/>
                                          </p:val>
                                        </p:tav>
                                        <p:tav tm="100000">
                                          <p:val>
                                            <p:strVal val="#ppt_w"/>
                                          </p:val>
                                        </p:tav>
                                      </p:tavLst>
                                    </p:anim>
                                    <p:anim calcmode="lin" valueType="num">
                                      <p:cBhvr>
                                        <p:cTn id="51" dur="500" fill="hold"/>
                                        <p:tgtEl>
                                          <p:spTgt spid="43"/>
                                        </p:tgtEl>
                                        <p:attrNameLst>
                                          <p:attrName>ppt_h</p:attrName>
                                        </p:attrNameLst>
                                      </p:cBhvr>
                                      <p:tavLst>
                                        <p:tav tm="0">
                                          <p:val>
                                            <p:fltVal val="0"/>
                                          </p:val>
                                        </p:tav>
                                        <p:tav tm="100000">
                                          <p:val>
                                            <p:strVal val="#ppt_h"/>
                                          </p:val>
                                        </p:tav>
                                      </p:tavLst>
                                    </p:anim>
                                    <p:animEffect transition="in" filter="fade">
                                      <p:cBhvr>
                                        <p:cTn id="52" dur="500"/>
                                        <p:tgtEl>
                                          <p:spTgt spid="43"/>
                                        </p:tgtEl>
                                      </p:cBhvr>
                                    </p:animEffect>
                                  </p:childTnLst>
                                </p:cTn>
                              </p:par>
                            </p:childTnLst>
                          </p:cTn>
                        </p:par>
                      </p:childTnLst>
                    </p:cTn>
                  </p:par>
                  <p:par>
                    <p:cTn id="62" fill="hold">
                      <p:stCondLst>
                        <p:cond delay="indefinite"/>
                      </p:stCondLst>
                      <p:childTnLst>
                        <p:par>
                          <p:cTn id="58"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fade">
                                      <p:cBhvr>
                                        <p:cTn id="57" dur="500"/>
                                        <p:tgtEl>
                                          <p:spTgt spid="62"/>
                                        </p:tgtEl>
                                      </p:cBhvr>
                                    </p:animEffect>
                                  </p:childTnLst>
                                </p:cTn>
                              </p:par>
                            </p:childTnLst>
                          </p:cTn>
                        </p:par>
                        <p:par>
                          <p:cTn id="61" fill="hold">
                            <p:stCondLst>
                              <p:cond delay="500"/>
                            </p:stCondLst>
                            <p:childTnLst>
                              <p:par>
                                <p:cTn id="59" presetID="0" presetClass="path" presetSubtype="0" accel="20000" decel="20000" fill="hold" grpId="0" nodeType="afterEffect">
                                  <p:stCondLst>
                                    <p:cond delay="0"/>
                                  </p:stCondLst>
                                  <p:childTnLst>
                                    <p:animMotion origin="layout" path="M 0 0 L 0.0300 0.2600 E" pathEditMode="relative" ptsTypes="">
                                      <p:cBhvr>
                                        <p:cTn id="60" dur="1500" fill="hold"/>
                                        <p:tgtEl>
                                          <p:spTgt spid="43"/>
                                        </p:tgtEl>
                                        <p:attrNameLst>
                                          <p:attrName>ppt_x</p:attrName>
                                          <p:attrName>ppt_y</p:attrName>
                                        </p:attrNameLst>
                                      </p:cBhvr>
                                      <p:rCtr x="1500" y="130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2" grpId="0" animBg="1"/>
    </p:bldLst>
  </p:timing>
</p:sld>
</file>

<file path=ppt/slides/slide1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apilar"/>
          <p:cNvGrpSpPr/>
          <p:nvPr/>
        </p:nvGrpSpPr>
        <p:grpSpPr>
          <a:xfrm>
            <a:off x="274320" y="1188720"/>
            <a:ext cx="11612880" cy="1188720"/>
            <a:chOff x="274320" y="1188720"/>
            <a:chExt cx="11612880" cy="1188720"/>
          </a:xfrm>
        </p:grpSpPr>
        <p:sp>
          <p:nvSpPr>
            <p:cNvPr id="5" name="Forma 4"/>
            <p:cNvSpPr/>
            <p:nvPr/>
          </p:nvSpPr>
          <p:spPr>
            <a:xfrm>
              <a:off x="274320" y="1188720"/>
              <a:ext cx="11612880" cy="118872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452628" y="1402690"/>
              <a:ext cx="11256264" cy="760781"/>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1446388" y="1767575"/>
              <a:ext cx="499262" cy="49926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2811552" y="1511122"/>
              <a:ext cx="499262" cy="49926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5608338" y="1704616"/>
              <a:ext cx="499262" cy="49926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7599326" y="1577472"/>
              <a:ext cx="499262" cy="49926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 name="Eritrocito_5"/>
            <p:cNvSpPr/>
            <p:nvPr/>
          </p:nvSpPr>
          <p:spPr>
            <a:xfrm>
              <a:off x="9677301" y="1666229"/>
              <a:ext cx="499262" cy="499262"/>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2" name="!!QM circulante"/>
          <p:cNvGrpSpPr/>
          <p:nvPr/>
        </p:nvGrpSpPr>
        <p:grpSpPr>
          <a:xfrm>
            <a:off x="548640" y="1280160"/>
            <a:ext cx="1005840" cy="1005840"/>
            <a:chOff x="548640" y="1280160"/>
            <a:chExt cx="1005840" cy="1005840"/>
          </a:xfrm>
        </p:grpSpPr>
        <p:sp>
          <p:nvSpPr>
            <p:cNvPr id="13" name="Forma 12"/>
            <p:cNvSpPr/>
            <p:nvPr/>
          </p:nvSpPr>
          <p:spPr>
            <a:xfrm>
              <a:off x="548640" y="1280160"/>
              <a:ext cx="1005840" cy="100584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14" name="Forma 13"/>
            <p:cNvSpPr/>
            <p:nvPr/>
          </p:nvSpPr>
          <p:spPr>
            <a:xfrm>
              <a:off x="548640" y="1280160"/>
              <a:ext cx="1005840" cy="100584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4" y="560"/>
                  </a:moveTo>
                  <a:cubicBezTo>
                    <a:pt x="994" y="575"/>
                    <a:pt x="981" y="588"/>
                    <a:pt x="966" y="588"/>
                  </a:cubicBezTo>
                  <a:cubicBezTo>
                    <a:pt x="950" y="588"/>
                    <a:pt x="938" y="575"/>
                    <a:pt x="938" y="560"/>
                  </a:cubicBezTo>
                  <a:cubicBezTo>
                    <a:pt x="938" y="544"/>
                    <a:pt x="950" y="532"/>
                    <a:pt x="966" y="532"/>
                  </a:cubicBezTo>
                  <a:cubicBezTo>
                    <a:pt x="981" y="532"/>
                    <a:pt x="994" y="544"/>
                    <a:pt x="994" y="560"/>
                  </a:cubicBezTo>
                  <a:close/>
                  <a:moveTo>
                    <a:pt x="982" y="619"/>
                  </a:moveTo>
                  <a:cubicBezTo>
                    <a:pt x="982" y="634"/>
                    <a:pt x="969" y="647"/>
                    <a:pt x="954" y="647"/>
                  </a:cubicBezTo>
                  <a:cubicBezTo>
                    <a:pt x="938" y="647"/>
                    <a:pt x="926" y="634"/>
                    <a:pt x="926" y="619"/>
                  </a:cubicBezTo>
                  <a:cubicBezTo>
                    <a:pt x="926" y="603"/>
                    <a:pt x="938" y="591"/>
                    <a:pt x="954" y="591"/>
                  </a:cubicBezTo>
                  <a:cubicBezTo>
                    <a:pt x="969" y="591"/>
                    <a:pt x="982" y="603"/>
                    <a:pt x="982" y="619"/>
                  </a:cubicBezTo>
                  <a:close/>
                  <a:moveTo>
                    <a:pt x="963" y="676"/>
                  </a:moveTo>
                  <a:cubicBezTo>
                    <a:pt x="963" y="691"/>
                    <a:pt x="950" y="704"/>
                    <a:pt x="935" y="704"/>
                  </a:cubicBezTo>
                  <a:cubicBezTo>
                    <a:pt x="919" y="704"/>
                    <a:pt x="907" y="691"/>
                    <a:pt x="907" y="676"/>
                  </a:cubicBezTo>
                  <a:cubicBezTo>
                    <a:pt x="907" y="660"/>
                    <a:pt x="919" y="648"/>
                    <a:pt x="935" y="648"/>
                  </a:cubicBezTo>
                  <a:cubicBezTo>
                    <a:pt x="950" y="648"/>
                    <a:pt x="963" y="660"/>
                    <a:pt x="963" y="676"/>
                  </a:cubicBezTo>
                  <a:close/>
                  <a:moveTo>
                    <a:pt x="937" y="730"/>
                  </a:moveTo>
                  <a:cubicBezTo>
                    <a:pt x="937" y="745"/>
                    <a:pt x="924" y="758"/>
                    <a:pt x="909" y="758"/>
                  </a:cubicBezTo>
                  <a:cubicBezTo>
                    <a:pt x="893" y="758"/>
                    <a:pt x="881" y="745"/>
                    <a:pt x="881" y="730"/>
                  </a:cubicBezTo>
                  <a:cubicBezTo>
                    <a:pt x="881" y="714"/>
                    <a:pt x="893" y="702"/>
                    <a:pt x="909" y="702"/>
                  </a:cubicBezTo>
                  <a:cubicBezTo>
                    <a:pt x="924" y="702"/>
                    <a:pt x="937" y="714"/>
                    <a:pt x="937" y="730"/>
                  </a:cubicBezTo>
                  <a:close/>
                  <a:moveTo>
                    <a:pt x="904" y="781"/>
                  </a:moveTo>
                  <a:cubicBezTo>
                    <a:pt x="904" y="796"/>
                    <a:pt x="891" y="809"/>
                    <a:pt x="876" y="809"/>
                  </a:cubicBezTo>
                  <a:cubicBezTo>
                    <a:pt x="860" y="809"/>
                    <a:pt x="848" y="796"/>
                    <a:pt x="848" y="781"/>
                  </a:cubicBezTo>
                  <a:cubicBezTo>
                    <a:pt x="848" y="765"/>
                    <a:pt x="860" y="753"/>
                    <a:pt x="876" y="753"/>
                  </a:cubicBezTo>
                  <a:cubicBezTo>
                    <a:pt x="891" y="753"/>
                    <a:pt x="904" y="765"/>
                    <a:pt x="904" y="781"/>
                  </a:cubicBezTo>
                  <a:close/>
                  <a:moveTo>
                    <a:pt x="865" y="826"/>
                  </a:moveTo>
                  <a:cubicBezTo>
                    <a:pt x="865" y="841"/>
                    <a:pt x="852" y="854"/>
                    <a:pt x="837" y="854"/>
                  </a:cubicBezTo>
                  <a:cubicBezTo>
                    <a:pt x="821" y="854"/>
                    <a:pt x="809" y="841"/>
                    <a:pt x="809" y="826"/>
                  </a:cubicBezTo>
                  <a:cubicBezTo>
                    <a:pt x="809" y="810"/>
                    <a:pt x="821" y="798"/>
                    <a:pt x="837" y="798"/>
                  </a:cubicBezTo>
                  <a:cubicBezTo>
                    <a:pt x="852" y="798"/>
                    <a:pt x="865" y="810"/>
                    <a:pt x="865" y="826"/>
                  </a:cubicBezTo>
                  <a:close/>
                  <a:moveTo>
                    <a:pt x="821" y="867"/>
                  </a:moveTo>
                  <a:cubicBezTo>
                    <a:pt x="821" y="882"/>
                    <a:pt x="808" y="895"/>
                    <a:pt x="793" y="895"/>
                  </a:cubicBezTo>
                  <a:cubicBezTo>
                    <a:pt x="777" y="895"/>
                    <a:pt x="765" y="882"/>
                    <a:pt x="765" y="867"/>
                  </a:cubicBezTo>
                  <a:cubicBezTo>
                    <a:pt x="765" y="851"/>
                    <a:pt x="777" y="839"/>
                    <a:pt x="793" y="839"/>
                  </a:cubicBezTo>
                  <a:cubicBezTo>
                    <a:pt x="808" y="839"/>
                    <a:pt x="821" y="851"/>
                    <a:pt x="821" y="867"/>
                  </a:cubicBezTo>
                  <a:close/>
                  <a:moveTo>
                    <a:pt x="771" y="901"/>
                  </a:moveTo>
                  <a:cubicBezTo>
                    <a:pt x="771" y="916"/>
                    <a:pt x="758" y="929"/>
                    <a:pt x="743" y="929"/>
                  </a:cubicBezTo>
                  <a:cubicBezTo>
                    <a:pt x="727" y="929"/>
                    <a:pt x="715" y="916"/>
                    <a:pt x="715" y="901"/>
                  </a:cubicBezTo>
                  <a:cubicBezTo>
                    <a:pt x="715" y="885"/>
                    <a:pt x="727" y="873"/>
                    <a:pt x="743" y="873"/>
                  </a:cubicBezTo>
                  <a:cubicBezTo>
                    <a:pt x="758" y="873"/>
                    <a:pt x="771" y="885"/>
                    <a:pt x="771" y="901"/>
                  </a:cubicBezTo>
                  <a:close/>
                  <a:moveTo>
                    <a:pt x="718" y="929"/>
                  </a:moveTo>
                  <a:cubicBezTo>
                    <a:pt x="718" y="944"/>
                    <a:pt x="705" y="957"/>
                    <a:pt x="690" y="957"/>
                  </a:cubicBezTo>
                  <a:cubicBezTo>
                    <a:pt x="674" y="957"/>
                    <a:pt x="662" y="944"/>
                    <a:pt x="662" y="929"/>
                  </a:cubicBezTo>
                  <a:cubicBezTo>
                    <a:pt x="662" y="913"/>
                    <a:pt x="674" y="901"/>
                    <a:pt x="690" y="901"/>
                  </a:cubicBezTo>
                  <a:cubicBezTo>
                    <a:pt x="705" y="901"/>
                    <a:pt x="718" y="913"/>
                    <a:pt x="718" y="929"/>
                  </a:cubicBezTo>
                  <a:close/>
                  <a:moveTo>
                    <a:pt x="661" y="950"/>
                  </a:moveTo>
                  <a:cubicBezTo>
                    <a:pt x="661" y="965"/>
                    <a:pt x="648" y="978"/>
                    <a:pt x="633" y="978"/>
                  </a:cubicBezTo>
                  <a:cubicBezTo>
                    <a:pt x="617" y="978"/>
                    <a:pt x="605" y="965"/>
                    <a:pt x="605" y="950"/>
                  </a:cubicBezTo>
                  <a:cubicBezTo>
                    <a:pt x="605" y="934"/>
                    <a:pt x="617" y="922"/>
                    <a:pt x="633" y="922"/>
                  </a:cubicBezTo>
                  <a:cubicBezTo>
                    <a:pt x="648" y="922"/>
                    <a:pt x="661" y="934"/>
                    <a:pt x="661" y="950"/>
                  </a:cubicBezTo>
                  <a:close/>
                  <a:moveTo>
                    <a:pt x="603" y="963"/>
                  </a:moveTo>
                  <a:cubicBezTo>
                    <a:pt x="603" y="978"/>
                    <a:pt x="590" y="991"/>
                    <a:pt x="575" y="991"/>
                  </a:cubicBezTo>
                  <a:cubicBezTo>
                    <a:pt x="559" y="991"/>
                    <a:pt x="547" y="978"/>
                    <a:pt x="547" y="963"/>
                  </a:cubicBezTo>
                  <a:cubicBezTo>
                    <a:pt x="547" y="947"/>
                    <a:pt x="559" y="935"/>
                    <a:pt x="575" y="935"/>
                  </a:cubicBezTo>
                  <a:cubicBezTo>
                    <a:pt x="590" y="935"/>
                    <a:pt x="603" y="947"/>
                    <a:pt x="603" y="963"/>
                  </a:cubicBezTo>
                  <a:close/>
                  <a:moveTo>
                    <a:pt x="543" y="969"/>
                  </a:moveTo>
                  <a:cubicBezTo>
                    <a:pt x="543" y="984"/>
                    <a:pt x="530" y="997"/>
                    <a:pt x="515" y="997"/>
                  </a:cubicBezTo>
                  <a:cubicBezTo>
                    <a:pt x="499" y="997"/>
                    <a:pt x="487" y="984"/>
                    <a:pt x="487" y="969"/>
                  </a:cubicBezTo>
                  <a:cubicBezTo>
                    <a:pt x="487" y="953"/>
                    <a:pt x="499" y="941"/>
                    <a:pt x="515" y="941"/>
                  </a:cubicBezTo>
                  <a:cubicBezTo>
                    <a:pt x="530" y="941"/>
                    <a:pt x="543" y="953"/>
                    <a:pt x="543" y="969"/>
                  </a:cubicBezTo>
                  <a:close/>
                  <a:moveTo>
                    <a:pt x="482" y="967"/>
                  </a:moveTo>
                  <a:cubicBezTo>
                    <a:pt x="482" y="982"/>
                    <a:pt x="469" y="995"/>
                    <a:pt x="454" y="995"/>
                  </a:cubicBezTo>
                  <a:cubicBezTo>
                    <a:pt x="438" y="995"/>
                    <a:pt x="426" y="982"/>
                    <a:pt x="426" y="967"/>
                  </a:cubicBezTo>
                  <a:cubicBezTo>
                    <a:pt x="426" y="951"/>
                    <a:pt x="438" y="939"/>
                    <a:pt x="454" y="939"/>
                  </a:cubicBezTo>
                  <a:cubicBezTo>
                    <a:pt x="469" y="939"/>
                    <a:pt x="482" y="951"/>
                    <a:pt x="482" y="967"/>
                  </a:cubicBezTo>
                  <a:close/>
                  <a:moveTo>
                    <a:pt x="423" y="958"/>
                  </a:moveTo>
                  <a:cubicBezTo>
                    <a:pt x="423" y="973"/>
                    <a:pt x="410" y="986"/>
                    <a:pt x="395" y="986"/>
                  </a:cubicBezTo>
                  <a:cubicBezTo>
                    <a:pt x="379" y="986"/>
                    <a:pt x="367" y="973"/>
                    <a:pt x="367" y="958"/>
                  </a:cubicBezTo>
                  <a:cubicBezTo>
                    <a:pt x="367" y="942"/>
                    <a:pt x="379" y="930"/>
                    <a:pt x="395" y="930"/>
                  </a:cubicBezTo>
                  <a:cubicBezTo>
                    <a:pt x="410" y="930"/>
                    <a:pt x="423" y="942"/>
                    <a:pt x="423" y="958"/>
                  </a:cubicBezTo>
                  <a:close/>
                  <a:moveTo>
                    <a:pt x="365" y="941"/>
                  </a:moveTo>
                  <a:cubicBezTo>
                    <a:pt x="365" y="956"/>
                    <a:pt x="352" y="969"/>
                    <a:pt x="337" y="969"/>
                  </a:cubicBezTo>
                  <a:cubicBezTo>
                    <a:pt x="321" y="969"/>
                    <a:pt x="309" y="956"/>
                    <a:pt x="309" y="941"/>
                  </a:cubicBezTo>
                  <a:cubicBezTo>
                    <a:pt x="309" y="925"/>
                    <a:pt x="321" y="913"/>
                    <a:pt x="337" y="913"/>
                  </a:cubicBezTo>
                  <a:cubicBezTo>
                    <a:pt x="352" y="913"/>
                    <a:pt x="365" y="925"/>
                    <a:pt x="365" y="941"/>
                  </a:cubicBezTo>
                  <a:close/>
                  <a:moveTo>
                    <a:pt x="310" y="916"/>
                  </a:moveTo>
                  <a:cubicBezTo>
                    <a:pt x="310" y="931"/>
                    <a:pt x="297" y="944"/>
                    <a:pt x="282" y="944"/>
                  </a:cubicBezTo>
                  <a:cubicBezTo>
                    <a:pt x="266" y="944"/>
                    <a:pt x="254" y="931"/>
                    <a:pt x="254" y="916"/>
                  </a:cubicBezTo>
                  <a:cubicBezTo>
                    <a:pt x="254" y="900"/>
                    <a:pt x="266" y="888"/>
                    <a:pt x="282" y="888"/>
                  </a:cubicBezTo>
                  <a:cubicBezTo>
                    <a:pt x="297" y="888"/>
                    <a:pt x="310" y="900"/>
                    <a:pt x="310" y="916"/>
                  </a:cubicBezTo>
                  <a:close/>
                  <a:moveTo>
                    <a:pt x="259" y="885"/>
                  </a:moveTo>
                  <a:cubicBezTo>
                    <a:pt x="259" y="900"/>
                    <a:pt x="246" y="913"/>
                    <a:pt x="231" y="913"/>
                  </a:cubicBezTo>
                  <a:cubicBezTo>
                    <a:pt x="215" y="913"/>
                    <a:pt x="203" y="900"/>
                    <a:pt x="203" y="885"/>
                  </a:cubicBezTo>
                  <a:cubicBezTo>
                    <a:pt x="203" y="869"/>
                    <a:pt x="215" y="857"/>
                    <a:pt x="231" y="857"/>
                  </a:cubicBezTo>
                  <a:cubicBezTo>
                    <a:pt x="246" y="857"/>
                    <a:pt x="259" y="869"/>
                    <a:pt x="259" y="885"/>
                  </a:cubicBezTo>
                  <a:close/>
                  <a:moveTo>
                    <a:pt x="212" y="847"/>
                  </a:moveTo>
                  <a:cubicBezTo>
                    <a:pt x="212" y="862"/>
                    <a:pt x="199" y="875"/>
                    <a:pt x="184" y="875"/>
                  </a:cubicBezTo>
                  <a:cubicBezTo>
                    <a:pt x="168" y="875"/>
                    <a:pt x="156" y="862"/>
                    <a:pt x="156" y="847"/>
                  </a:cubicBezTo>
                  <a:cubicBezTo>
                    <a:pt x="156" y="831"/>
                    <a:pt x="168" y="819"/>
                    <a:pt x="184" y="819"/>
                  </a:cubicBezTo>
                  <a:cubicBezTo>
                    <a:pt x="199" y="819"/>
                    <a:pt x="212" y="831"/>
                    <a:pt x="212" y="847"/>
                  </a:cubicBezTo>
                  <a:close/>
                  <a:moveTo>
                    <a:pt x="170" y="804"/>
                  </a:moveTo>
                  <a:cubicBezTo>
                    <a:pt x="170" y="819"/>
                    <a:pt x="157" y="832"/>
                    <a:pt x="142" y="832"/>
                  </a:cubicBezTo>
                  <a:cubicBezTo>
                    <a:pt x="126" y="832"/>
                    <a:pt x="114" y="819"/>
                    <a:pt x="114" y="804"/>
                  </a:cubicBezTo>
                  <a:cubicBezTo>
                    <a:pt x="114" y="788"/>
                    <a:pt x="126" y="776"/>
                    <a:pt x="142" y="776"/>
                  </a:cubicBezTo>
                  <a:cubicBezTo>
                    <a:pt x="157" y="776"/>
                    <a:pt x="170" y="788"/>
                    <a:pt x="170" y="804"/>
                  </a:cubicBezTo>
                  <a:close/>
                  <a:moveTo>
                    <a:pt x="134" y="756"/>
                  </a:moveTo>
                  <a:cubicBezTo>
                    <a:pt x="134" y="771"/>
                    <a:pt x="121" y="784"/>
                    <a:pt x="106" y="784"/>
                  </a:cubicBezTo>
                  <a:cubicBezTo>
                    <a:pt x="90" y="784"/>
                    <a:pt x="78" y="771"/>
                    <a:pt x="78" y="756"/>
                  </a:cubicBezTo>
                  <a:cubicBezTo>
                    <a:pt x="78" y="740"/>
                    <a:pt x="90" y="728"/>
                    <a:pt x="106" y="728"/>
                  </a:cubicBezTo>
                  <a:cubicBezTo>
                    <a:pt x="121" y="728"/>
                    <a:pt x="134" y="740"/>
                    <a:pt x="134" y="756"/>
                  </a:cubicBezTo>
                  <a:close/>
                  <a:moveTo>
                    <a:pt x="104" y="703"/>
                  </a:moveTo>
                  <a:cubicBezTo>
                    <a:pt x="104" y="718"/>
                    <a:pt x="91" y="731"/>
                    <a:pt x="76" y="731"/>
                  </a:cubicBezTo>
                  <a:cubicBezTo>
                    <a:pt x="60" y="731"/>
                    <a:pt x="48" y="718"/>
                    <a:pt x="48" y="703"/>
                  </a:cubicBezTo>
                  <a:cubicBezTo>
                    <a:pt x="48" y="687"/>
                    <a:pt x="60" y="675"/>
                    <a:pt x="76" y="675"/>
                  </a:cubicBezTo>
                  <a:cubicBezTo>
                    <a:pt x="91" y="675"/>
                    <a:pt x="104" y="687"/>
                    <a:pt x="104" y="703"/>
                  </a:cubicBezTo>
                  <a:close/>
                  <a:moveTo>
                    <a:pt x="81" y="648"/>
                  </a:moveTo>
                  <a:cubicBezTo>
                    <a:pt x="81" y="663"/>
                    <a:pt x="68" y="676"/>
                    <a:pt x="53" y="676"/>
                  </a:cubicBezTo>
                  <a:cubicBezTo>
                    <a:pt x="37" y="676"/>
                    <a:pt x="25" y="663"/>
                    <a:pt x="25" y="648"/>
                  </a:cubicBezTo>
                  <a:cubicBezTo>
                    <a:pt x="25" y="632"/>
                    <a:pt x="37" y="620"/>
                    <a:pt x="53" y="620"/>
                  </a:cubicBezTo>
                  <a:cubicBezTo>
                    <a:pt x="68" y="620"/>
                    <a:pt x="81" y="632"/>
                    <a:pt x="81" y="648"/>
                  </a:cubicBezTo>
                  <a:close/>
                  <a:moveTo>
                    <a:pt x="66" y="589"/>
                  </a:moveTo>
                  <a:cubicBezTo>
                    <a:pt x="66" y="604"/>
                    <a:pt x="53" y="617"/>
                    <a:pt x="38" y="617"/>
                  </a:cubicBezTo>
                  <a:cubicBezTo>
                    <a:pt x="22" y="617"/>
                    <a:pt x="10" y="604"/>
                    <a:pt x="10" y="589"/>
                  </a:cubicBezTo>
                  <a:cubicBezTo>
                    <a:pt x="10" y="573"/>
                    <a:pt x="22" y="561"/>
                    <a:pt x="38" y="561"/>
                  </a:cubicBezTo>
                  <a:cubicBezTo>
                    <a:pt x="53" y="561"/>
                    <a:pt x="66" y="573"/>
                    <a:pt x="66" y="589"/>
                  </a:cubicBezTo>
                  <a:close/>
                  <a:moveTo>
                    <a:pt x="58" y="530"/>
                  </a:moveTo>
                  <a:cubicBezTo>
                    <a:pt x="58" y="545"/>
                    <a:pt x="45" y="558"/>
                    <a:pt x="30" y="558"/>
                  </a:cubicBezTo>
                  <a:cubicBezTo>
                    <a:pt x="14" y="558"/>
                    <a:pt x="2" y="545"/>
                    <a:pt x="2" y="530"/>
                  </a:cubicBezTo>
                  <a:cubicBezTo>
                    <a:pt x="2" y="514"/>
                    <a:pt x="14" y="502"/>
                    <a:pt x="30" y="502"/>
                  </a:cubicBezTo>
                  <a:cubicBezTo>
                    <a:pt x="45" y="502"/>
                    <a:pt x="58" y="514"/>
                    <a:pt x="58" y="530"/>
                  </a:cubicBezTo>
                  <a:close/>
                  <a:moveTo>
                    <a:pt x="58" y="469"/>
                  </a:moveTo>
                  <a:cubicBezTo>
                    <a:pt x="58" y="484"/>
                    <a:pt x="45" y="497"/>
                    <a:pt x="30" y="497"/>
                  </a:cubicBezTo>
                  <a:cubicBezTo>
                    <a:pt x="14" y="497"/>
                    <a:pt x="2" y="484"/>
                    <a:pt x="2" y="469"/>
                  </a:cubicBezTo>
                  <a:cubicBezTo>
                    <a:pt x="2" y="453"/>
                    <a:pt x="14" y="441"/>
                    <a:pt x="30" y="441"/>
                  </a:cubicBezTo>
                  <a:cubicBezTo>
                    <a:pt x="45" y="441"/>
                    <a:pt x="58" y="453"/>
                    <a:pt x="58" y="469"/>
                  </a:cubicBezTo>
                  <a:close/>
                  <a:moveTo>
                    <a:pt x="66" y="410"/>
                  </a:moveTo>
                  <a:cubicBezTo>
                    <a:pt x="66" y="425"/>
                    <a:pt x="53" y="438"/>
                    <a:pt x="38" y="438"/>
                  </a:cubicBezTo>
                  <a:cubicBezTo>
                    <a:pt x="22" y="438"/>
                    <a:pt x="10" y="425"/>
                    <a:pt x="10" y="410"/>
                  </a:cubicBezTo>
                  <a:cubicBezTo>
                    <a:pt x="10" y="394"/>
                    <a:pt x="22" y="382"/>
                    <a:pt x="38" y="382"/>
                  </a:cubicBezTo>
                  <a:cubicBezTo>
                    <a:pt x="53" y="382"/>
                    <a:pt x="66" y="394"/>
                    <a:pt x="66" y="410"/>
                  </a:cubicBezTo>
                  <a:close/>
                  <a:moveTo>
                    <a:pt x="81" y="351"/>
                  </a:moveTo>
                  <a:cubicBezTo>
                    <a:pt x="81" y="366"/>
                    <a:pt x="68" y="379"/>
                    <a:pt x="53" y="379"/>
                  </a:cubicBezTo>
                  <a:cubicBezTo>
                    <a:pt x="37" y="379"/>
                    <a:pt x="25" y="366"/>
                    <a:pt x="25" y="351"/>
                  </a:cubicBezTo>
                  <a:cubicBezTo>
                    <a:pt x="25" y="335"/>
                    <a:pt x="37" y="323"/>
                    <a:pt x="53" y="323"/>
                  </a:cubicBezTo>
                  <a:cubicBezTo>
                    <a:pt x="68" y="323"/>
                    <a:pt x="81" y="335"/>
                    <a:pt x="81" y="351"/>
                  </a:cubicBezTo>
                  <a:close/>
                  <a:moveTo>
                    <a:pt x="104" y="296"/>
                  </a:moveTo>
                  <a:cubicBezTo>
                    <a:pt x="104" y="311"/>
                    <a:pt x="91" y="324"/>
                    <a:pt x="76" y="324"/>
                  </a:cubicBezTo>
                  <a:cubicBezTo>
                    <a:pt x="60" y="324"/>
                    <a:pt x="48" y="311"/>
                    <a:pt x="48" y="296"/>
                  </a:cubicBezTo>
                  <a:cubicBezTo>
                    <a:pt x="48" y="280"/>
                    <a:pt x="60" y="268"/>
                    <a:pt x="76" y="268"/>
                  </a:cubicBezTo>
                  <a:cubicBezTo>
                    <a:pt x="91" y="268"/>
                    <a:pt x="104" y="280"/>
                    <a:pt x="104" y="296"/>
                  </a:cubicBezTo>
                  <a:close/>
                  <a:moveTo>
                    <a:pt x="134" y="243"/>
                  </a:moveTo>
                  <a:cubicBezTo>
                    <a:pt x="134" y="258"/>
                    <a:pt x="121" y="271"/>
                    <a:pt x="106" y="271"/>
                  </a:cubicBezTo>
                  <a:cubicBezTo>
                    <a:pt x="90" y="271"/>
                    <a:pt x="78" y="258"/>
                    <a:pt x="78" y="243"/>
                  </a:cubicBezTo>
                  <a:cubicBezTo>
                    <a:pt x="78" y="227"/>
                    <a:pt x="90" y="215"/>
                    <a:pt x="106" y="215"/>
                  </a:cubicBezTo>
                  <a:cubicBezTo>
                    <a:pt x="121" y="215"/>
                    <a:pt x="134" y="227"/>
                    <a:pt x="134" y="243"/>
                  </a:cubicBezTo>
                  <a:close/>
                  <a:moveTo>
                    <a:pt x="170" y="195"/>
                  </a:moveTo>
                  <a:cubicBezTo>
                    <a:pt x="170" y="210"/>
                    <a:pt x="157" y="223"/>
                    <a:pt x="142" y="223"/>
                  </a:cubicBezTo>
                  <a:cubicBezTo>
                    <a:pt x="126" y="223"/>
                    <a:pt x="114" y="210"/>
                    <a:pt x="114" y="195"/>
                  </a:cubicBezTo>
                  <a:cubicBezTo>
                    <a:pt x="114" y="179"/>
                    <a:pt x="126" y="167"/>
                    <a:pt x="142" y="167"/>
                  </a:cubicBezTo>
                  <a:cubicBezTo>
                    <a:pt x="157" y="167"/>
                    <a:pt x="170" y="179"/>
                    <a:pt x="170" y="195"/>
                  </a:cubicBezTo>
                  <a:close/>
                  <a:moveTo>
                    <a:pt x="212" y="152"/>
                  </a:moveTo>
                  <a:cubicBezTo>
                    <a:pt x="212" y="167"/>
                    <a:pt x="199" y="180"/>
                    <a:pt x="184" y="180"/>
                  </a:cubicBezTo>
                  <a:cubicBezTo>
                    <a:pt x="168" y="180"/>
                    <a:pt x="156" y="167"/>
                    <a:pt x="156" y="152"/>
                  </a:cubicBezTo>
                  <a:cubicBezTo>
                    <a:pt x="156" y="136"/>
                    <a:pt x="168" y="124"/>
                    <a:pt x="184" y="124"/>
                  </a:cubicBezTo>
                  <a:cubicBezTo>
                    <a:pt x="199" y="124"/>
                    <a:pt x="212" y="136"/>
                    <a:pt x="212" y="152"/>
                  </a:cubicBezTo>
                  <a:close/>
                  <a:moveTo>
                    <a:pt x="259" y="114"/>
                  </a:moveTo>
                  <a:cubicBezTo>
                    <a:pt x="259" y="129"/>
                    <a:pt x="246" y="142"/>
                    <a:pt x="231" y="142"/>
                  </a:cubicBezTo>
                  <a:cubicBezTo>
                    <a:pt x="215" y="142"/>
                    <a:pt x="203" y="129"/>
                    <a:pt x="203" y="114"/>
                  </a:cubicBezTo>
                  <a:cubicBezTo>
                    <a:pt x="203" y="98"/>
                    <a:pt x="215" y="86"/>
                    <a:pt x="231" y="86"/>
                  </a:cubicBezTo>
                  <a:cubicBezTo>
                    <a:pt x="246" y="86"/>
                    <a:pt x="259" y="98"/>
                    <a:pt x="259" y="114"/>
                  </a:cubicBezTo>
                  <a:close/>
                  <a:moveTo>
                    <a:pt x="310" y="83"/>
                  </a:moveTo>
                  <a:cubicBezTo>
                    <a:pt x="310" y="98"/>
                    <a:pt x="297" y="111"/>
                    <a:pt x="282" y="111"/>
                  </a:cubicBezTo>
                  <a:cubicBezTo>
                    <a:pt x="266" y="111"/>
                    <a:pt x="254" y="98"/>
                    <a:pt x="254" y="83"/>
                  </a:cubicBezTo>
                  <a:cubicBezTo>
                    <a:pt x="254" y="67"/>
                    <a:pt x="266" y="55"/>
                    <a:pt x="282" y="55"/>
                  </a:cubicBezTo>
                  <a:cubicBezTo>
                    <a:pt x="297" y="55"/>
                    <a:pt x="310" y="67"/>
                    <a:pt x="310" y="83"/>
                  </a:cubicBezTo>
                  <a:close/>
                  <a:moveTo>
                    <a:pt x="365" y="58"/>
                  </a:moveTo>
                  <a:cubicBezTo>
                    <a:pt x="365" y="73"/>
                    <a:pt x="352" y="86"/>
                    <a:pt x="337" y="86"/>
                  </a:cubicBezTo>
                  <a:cubicBezTo>
                    <a:pt x="321" y="86"/>
                    <a:pt x="309" y="73"/>
                    <a:pt x="309" y="58"/>
                  </a:cubicBezTo>
                  <a:cubicBezTo>
                    <a:pt x="309" y="42"/>
                    <a:pt x="321" y="30"/>
                    <a:pt x="337" y="30"/>
                  </a:cubicBezTo>
                  <a:cubicBezTo>
                    <a:pt x="352" y="30"/>
                    <a:pt x="365" y="42"/>
                    <a:pt x="365" y="58"/>
                  </a:cubicBezTo>
                  <a:close/>
                  <a:moveTo>
                    <a:pt x="423" y="41"/>
                  </a:moveTo>
                  <a:cubicBezTo>
                    <a:pt x="423" y="56"/>
                    <a:pt x="410" y="69"/>
                    <a:pt x="395" y="69"/>
                  </a:cubicBezTo>
                  <a:cubicBezTo>
                    <a:pt x="379" y="69"/>
                    <a:pt x="367" y="56"/>
                    <a:pt x="367" y="41"/>
                  </a:cubicBezTo>
                  <a:cubicBezTo>
                    <a:pt x="367" y="25"/>
                    <a:pt x="379" y="13"/>
                    <a:pt x="395" y="13"/>
                  </a:cubicBezTo>
                  <a:cubicBezTo>
                    <a:pt x="410" y="13"/>
                    <a:pt x="423" y="25"/>
                    <a:pt x="423" y="41"/>
                  </a:cubicBezTo>
                  <a:close/>
                  <a:moveTo>
                    <a:pt x="482" y="32"/>
                  </a:moveTo>
                  <a:cubicBezTo>
                    <a:pt x="482" y="47"/>
                    <a:pt x="469" y="60"/>
                    <a:pt x="454" y="60"/>
                  </a:cubicBezTo>
                  <a:cubicBezTo>
                    <a:pt x="438" y="60"/>
                    <a:pt x="426" y="47"/>
                    <a:pt x="426" y="32"/>
                  </a:cubicBezTo>
                  <a:cubicBezTo>
                    <a:pt x="426" y="16"/>
                    <a:pt x="438" y="4"/>
                    <a:pt x="454" y="4"/>
                  </a:cubicBezTo>
                  <a:cubicBezTo>
                    <a:pt x="469" y="4"/>
                    <a:pt x="482" y="16"/>
                    <a:pt x="482" y="32"/>
                  </a:cubicBezTo>
                  <a:close/>
                  <a:moveTo>
                    <a:pt x="543" y="30"/>
                  </a:moveTo>
                  <a:cubicBezTo>
                    <a:pt x="543" y="45"/>
                    <a:pt x="530" y="58"/>
                    <a:pt x="515" y="58"/>
                  </a:cubicBezTo>
                  <a:cubicBezTo>
                    <a:pt x="499" y="58"/>
                    <a:pt x="487" y="45"/>
                    <a:pt x="487" y="30"/>
                  </a:cubicBezTo>
                  <a:cubicBezTo>
                    <a:pt x="487" y="14"/>
                    <a:pt x="499" y="2"/>
                    <a:pt x="515" y="2"/>
                  </a:cubicBezTo>
                  <a:cubicBezTo>
                    <a:pt x="530" y="2"/>
                    <a:pt x="543" y="14"/>
                    <a:pt x="543" y="30"/>
                  </a:cubicBezTo>
                  <a:close/>
                  <a:moveTo>
                    <a:pt x="603" y="36"/>
                  </a:moveTo>
                  <a:cubicBezTo>
                    <a:pt x="603" y="51"/>
                    <a:pt x="590" y="64"/>
                    <a:pt x="575" y="64"/>
                  </a:cubicBezTo>
                  <a:cubicBezTo>
                    <a:pt x="559" y="64"/>
                    <a:pt x="547" y="51"/>
                    <a:pt x="547" y="36"/>
                  </a:cubicBezTo>
                  <a:cubicBezTo>
                    <a:pt x="547" y="20"/>
                    <a:pt x="559" y="8"/>
                    <a:pt x="575" y="8"/>
                  </a:cubicBezTo>
                  <a:cubicBezTo>
                    <a:pt x="590" y="8"/>
                    <a:pt x="603" y="20"/>
                    <a:pt x="603" y="36"/>
                  </a:cubicBezTo>
                  <a:close/>
                  <a:moveTo>
                    <a:pt x="661" y="49"/>
                  </a:moveTo>
                  <a:cubicBezTo>
                    <a:pt x="661" y="64"/>
                    <a:pt x="648" y="77"/>
                    <a:pt x="633" y="77"/>
                  </a:cubicBezTo>
                  <a:cubicBezTo>
                    <a:pt x="617" y="77"/>
                    <a:pt x="605" y="64"/>
                    <a:pt x="605" y="49"/>
                  </a:cubicBezTo>
                  <a:cubicBezTo>
                    <a:pt x="605" y="33"/>
                    <a:pt x="617" y="21"/>
                    <a:pt x="633" y="21"/>
                  </a:cubicBezTo>
                  <a:cubicBezTo>
                    <a:pt x="648" y="21"/>
                    <a:pt x="661" y="33"/>
                    <a:pt x="661" y="49"/>
                  </a:cubicBezTo>
                  <a:close/>
                  <a:moveTo>
                    <a:pt x="718" y="70"/>
                  </a:moveTo>
                  <a:cubicBezTo>
                    <a:pt x="718" y="85"/>
                    <a:pt x="705" y="98"/>
                    <a:pt x="690" y="98"/>
                  </a:cubicBezTo>
                  <a:cubicBezTo>
                    <a:pt x="674" y="98"/>
                    <a:pt x="662" y="85"/>
                    <a:pt x="662" y="70"/>
                  </a:cubicBezTo>
                  <a:cubicBezTo>
                    <a:pt x="662" y="54"/>
                    <a:pt x="674" y="42"/>
                    <a:pt x="690" y="42"/>
                  </a:cubicBezTo>
                  <a:cubicBezTo>
                    <a:pt x="705" y="42"/>
                    <a:pt x="718" y="54"/>
                    <a:pt x="718" y="70"/>
                  </a:cubicBezTo>
                  <a:close/>
                  <a:moveTo>
                    <a:pt x="771" y="98"/>
                  </a:moveTo>
                  <a:cubicBezTo>
                    <a:pt x="771" y="113"/>
                    <a:pt x="758" y="126"/>
                    <a:pt x="743" y="126"/>
                  </a:cubicBezTo>
                  <a:cubicBezTo>
                    <a:pt x="727" y="126"/>
                    <a:pt x="715" y="113"/>
                    <a:pt x="715" y="98"/>
                  </a:cubicBezTo>
                  <a:cubicBezTo>
                    <a:pt x="715" y="82"/>
                    <a:pt x="727" y="70"/>
                    <a:pt x="743" y="70"/>
                  </a:cubicBezTo>
                  <a:cubicBezTo>
                    <a:pt x="758" y="70"/>
                    <a:pt x="771" y="82"/>
                    <a:pt x="771" y="98"/>
                  </a:cubicBezTo>
                  <a:close/>
                  <a:moveTo>
                    <a:pt x="821" y="132"/>
                  </a:moveTo>
                  <a:cubicBezTo>
                    <a:pt x="821" y="147"/>
                    <a:pt x="808" y="160"/>
                    <a:pt x="793" y="160"/>
                  </a:cubicBezTo>
                  <a:cubicBezTo>
                    <a:pt x="777" y="160"/>
                    <a:pt x="765" y="147"/>
                    <a:pt x="765" y="132"/>
                  </a:cubicBezTo>
                  <a:cubicBezTo>
                    <a:pt x="765" y="116"/>
                    <a:pt x="777" y="104"/>
                    <a:pt x="793" y="104"/>
                  </a:cubicBezTo>
                  <a:cubicBezTo>
                    <a:pt x="808" y="104"/>
                    <a:pt x="821" y="116"/>
                    <a:pt x="821" y="132"/>
                  </a:cubicBezTo>
                  <a:close/>
                  <a:moveTo>
                    <a:pt x="865" y="173"/>
                  </a:moveTo>
                  <a:cubicBezTo>
                    <a:pt x="865" y="188"/>
                    <a:pt x="852" y="201"/>
                    <a:pt x="837" y="201"/>
                  </a:cubicBezTo>
                  <a:cubicBezTo>
                    <a:pt x="821" y="201"/>
                    <a:pt x="809" y="188"/>
                    <a:pt x="809" y="173"/>
                  </a:cubicBezTo>
                  <a:cubicBezTo>
                    <a:pt x="809" y="157"/>
                    <a:pt x="821" y="145"/>
                    <a:pt x="837" y="145"/>
                  </a:cubicBezTo>
                  <a:cubicBezTo>
                    <a:pt x="852" y="145"/>
                    <a:pt x="865" y="157"/>
                    <a:pt x="865" y="173"/>
                  </a:cubicBezTo>
                  <a:close/>
                  <a:moveTo>
                    <a:pt x="904" y="218"/>
                  </a:moveTo>
                  <a:cubicBezTo>
                    <a:pt x="904" y="233"/>
                    <a:pt x="891" y="246"/>
                    <a:pt x="876" y="246"/>
                  </a:cubicBezTo>
                  <a:cubicBezTo>
                    <a:pt x="860" y="246"/>
                    <a:pt x="848" y="233"/>
                    <a:pt x="848" y="218"/>
                  </a:cubicBezTo>
                  <a:cubicBezTo>
                    <a:pt x="848" y="202"/>
                    <a:pt x="860" y="190"/>
                    <a:pt x="876" y="190"/>
                  </a:cubicBezTo>
                  <a:cubicBezTo>
                    <a:pt x="891" y="190"/>
                    <a:pt x="904" y="202"/>
                    <a:pt x="904" y="218"/>
                  </a:cubicBezTo>
                  <a:close/>
                  <a:moveTo>
                    <a:pt x="937" y="269"/>
                  </a:moveTo>
                  <a:cubicBezTo>
                    <a:pt x="937" y="284"/>
                    <a:pt x="924" y="297"/>
                    <a:pt x="909" y="297"/>
                  </a:cubicBezTo>
                  <a:cubicBezTo>
                    <a:pt x="893" y="297"/>
                    <a:pt x="881" y="284"/>
                    <a:pt x="881" y="269"/>
                  </a:cubicBezTo>
                  <a:cubicBezTo>
                    <a:pt x="881" y="253"/>
                    <a:pt x="893" y="241"/>
                    <a:pt x="909" y="241"/>
                  </a:cubicBezTo>
                  <a:cubicBezTo>
                    <a:pt x="924" y="241"/>
                    <a:pt x="937" y="253"/>
                    <a:pt x="937" y="269"/>
                  </a:cubicBezTo>
                  <a:close/>
                  <a:moveTo>
                    <a:pt x="963" y="323"/>
                  </a:moveTo>
                  <a:cubicBezTo>
                    <a:pt x="963" y="338"/>
                    <a:pt x="950" y="351"/>
                    <a:pt x="935" y="351"/>
                  </a:cubicBezTo>
                  <a:cubicBezTo>
                    <a:pt x="919" y="351"/>
                    <a:pt x="907" y="338"/>
                    <a:pt x="907" y="323"/>
                  </a:cubicBezTo>
                  <a:cubicBezTo>
                    <a:pt x="907" y="307"/>
                    <a:pt x="919" y="295"/>
                    <a:pt x="935" y="295"/>
                  </a:cubicBezTo>
                  <a:cubicBezTo>
                    <a:pt x="950" y="295"/>
                    <a:pt x="963" y="307"/>
                    <a:pt x="963" y="323"/>
                  </a:cubicBezTo>
                  <a:close/>
                  <a:moveTo>
                    <a:pt x="982" y="380"/>
                  </a:moveTo>
                  <a:cubicBezTo>
                    <a:pt x="982" y="395"/>
                    <a:pt x="969" y="408"/>
                    <a:pt x="954" y="408"/>
                  </a:cubicBezTo>
                  <a:cubicBezTo>
                    <a:pt x="938" y="408"/>
                    <a:pt x="926" y="395"/>
                    <a:pt x="926" y="380"/>
                  </a:cubicBezTo>
                  <a:cubicBezTo>
                    <a:pt x="926" y="364"/>
                    <a:pt x="938" y="352"/>
                    <a:pt x="954" y="352"/>
                  </a:cubicBezTo>
                  <a:cubicBezTo>
                    <a:pt x="969" y="352"/>
                    <a:pt x="982" y="364"/>
                    <a:pt x="982" y="380"/>
                  </a:cubicBezTo>
                  <a:close/>
                  <a:moveTo>
                    <a:pt x="994" y="439"/>
                  </a:moveTo>
                  <a:cubicBezTo>
                    <a:pt x="994" y="454"/>
                    <a:pt x="981" y="467"/>
                    <a:pt x="966" y="467"/>
                  </a:cubicBezTo>
                  <a:cubicBezTo>
                    <a:pt x="950" y="467"/>
                    <a:pt x="938" y="454"/>
                    <a:pt x="938" y="439"/>
                  </a:cubicBezTo>
                  <a:cubicBezTo>
                    <a:pt x="938" y="423"/>
                    <a:pt x="950" y="411"/>
                    <a:pt x="966" y="411"/>
                  </a:cubicBezTo>
                  <a:cubicBezTo>
                    <a:pt x="981" y="411"/>
                    <a:pt x="994" y="423"/>
                    <a:pt x="994" y="439"/>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15" name="Forma 14"/>
            <p:cNvSpPr/>
            <p:nvPr/>
          </p:nvSpPr>
          <p:spPr>
            <a:xfrm>
              <a:off x="548640" y="1280160"/>
              <a:ext cx="1005840" cy="1005840"/>
            </a:xfrm>
            <a:custGeom>
              <a:avLst/>
              <a:gdLst/>
              <a:ahLst/>
              <a:cxnLst/>
              <a:rect l="0" t="0" r="r" b="b"/>
              <a:pathLst>
                <a:path w="1000" h="1000" fill="none">
                  <a:moveTo>
                    <a:pt x="30" y="328"/>
                  </a:moveTo>
                  <a:cubicBezTo>
                    <a:pt x="40" y="308"/>
                    <a:pt x="65" y="248"/>
                    <a:pt x="90" y="213"/>
                  </a:cubicBezTo>
                  <a:cubicBezTo>
                    <a:pt x="114" y="177"/>
                    <a:pt x="145" y="143"/>
                    <a:pt x="178" y="116"/>
                  </a:cubicBezTo>
                  <a:cubicBezTo>
                    <a:pt x="211" y="88"/>
                    <a:pt x="248" y="64"/>
                    <a:pt x="288" y="46"/>
                  </a:cubicBezTo>
                  <a:cubicBezTo>
                    <a:pt x="327" y="27"/>
                    <a:pt x="370" y="14"/>
                    <a:pt x="413" y="7"/>
                  </a:cubicBezTo>
                  <a:cubicBezTo>
                    <a:pt x="455" y="0"/>
                    <a:pt x="500" y="-2"/>
                    <a:pt x="543" y="1"/>
                  </a:cubicBezTo>
                  <a:cubicBezTo>
                    <a:pt x="586" y="4"/>
                    <a:pt x="630" y="15"/>
                    <a:pt x="671" y="30"/>
                  </a:cubicBezTo>
                  <a:cubicBezTo>
                    <a:pt x="711" y="44"/>
                    <a:pt x="750" y="65"/>
                    <a:pt x="786" y="90"/>
                  </a:cubicBezTo>
                  <a:cubicBezTo>
                    <a:pt x="821" y="114"/>
                    <a:pt x="866" y="163"/>
                    <a:pt x="883" y="178"/>
                  </a:cubicBezTo>
                </a:path>
              </a:pathLst>
            </a:custGeom>
            <a:noFill/>
            <a:ln w="63500" cap="rnd">
              <a:solidFill>
                <a:srgbClr val="2E4A9E"/>
              </a:solidFill>
              <a:round/>
            </a:ln>
          </p:spPr>
        </p:sp>
        <p:sp>
          <p:nvSpPr>
            <p:cNvPr id="16" name="Forma 15"/>
            <p:cNvSpPr txBox="1"/>
            <p:nvPr/>
          </p:nvSpPr>
          <p:spPr>
            <a:xfrm>
              <a:off x="548640" y="1581912"/>
              <a:ext cx="1005840" cy="402336"/>
            </a:xfrm>
            <a:prstGeom prst="rect">
              <a:avLst/>
            </a:prstGeom>
            <a:noFill/>
            <a:ln>
              <a:noFill/>
            </a:ln>
          </p:spPr>
          <p:txBody>
            <a:bodyPr wrap="square" lIns="0" tIns="0" rIns="0" bIns="0" anchor="ctr" rtlCol="0">
              <a:noAutofit/>
            </a:bodyPr>
            <a:lstStyle/>
            <a:p>
              <a:pPr algn="ctr">
                <a:spcAft>
                  <a:spcPts val="300"/>
                </a:spcAft>
                <a:buNone/>
              </a:pPr>
              <a:r>
                <a:rPr lang="es-AR" sz="1760" b="1" dirty="0">
                  <a:solidFill>
                    <a:srgbClr val="1E1E1E"/>
                  </a:solidFill>
                  <a:latin typeface="Bahnschrift SemiBold Condensed"/>
                  <a:ea typeface="Bahnschrift SemiBold Condensed"/>
                  <a:cs typeface="Bahnschrift SemiBold Condensed"/>
                  <a:sym typeface="Bahnschrift SemiBold Condensed"/>
                </a:rPr>
                <a:t>QM</a:t>
              </a:r>
              <a:endParaRPr lang="es-AR" sz="1760" dirty="0">
                <a:latin typeface="Bahnschrift SemiBold Condensed"/>
              </a:endParaRPr>
            </a:p>
          </p:txBody>
        </p:sp>
      </p:grpSp>
      <p:grpSp>
        <p:nvGrpSpPr>
          <p:cNvPr id="17" name="HDL donante"/>
          <p:cNvGrpSpPr/>
          <p:nvPr/>
        </p:nvGrpSpPr>
        <p:grpSpPr>
          <a:xfrm>
            <a:off x="2926080" y="2743200"/>
            <a:ext cx="685800" cy="685800"/>
            <a:chOff x="2926080" y="2743200"/>
            <a:chExt cx="685800" cy="685800"/>
          </a:xfrm>
        </p:grpSpPr>
        <p:sp>
          <p:nvSpPr>
            <p:cNvPr id="18" name="Forma 17"/>
            <p:cNvSpPr/>
            <p:nvPr/>
          </p:nvSpPr>
          <p:spPr>
            <a:xfrm>
              <a:off x="2926080" y="2743200"/>
              <a:ext cx="685800" cy="685800"/>
            </a:xfrm>
            <a:prstGeom prst="ellipse">
              <a:avLst/>
            </a:prstGeom>
            <a:gradFill rotWithShape="1">
              <a:gsLst>
                <a:gs pos="0">
                  <a:srgbClr val="FBEADB"/>
                </a:gs>
                <a:gs pos="70000">
                  <a:srgbClr val="F5CBA7"/>
                </a:gs>
                <a:gs pos="100000">
                  <a:srgbClr val="C4A285"/>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19" name="Forma 18"/>
            <p:cNvSpPr/>
            <p:nvPr/>
          </p:nvSpPr>
          <p:spPr>
            <a:xfrm>
              <a:off x="2926080" y="2743200"/>
              <a:ext cx="685800" cy="6858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9" y="588"/>
                  </a:moveTo>
                  <a:cubicBezTo>
                    <a:pt x="989" y="603"/>
                    <a:pt x="976" y="616"/>
                    <a:pt x="961" y="616"/>
                  </a:cubicBezTo>
                  <a:cubicBezTo>
                    <a:pt x="945" y="616"/>
                    <a:pt x="933" y="603"/>
                    <a:pt x="933" y="588"/>
                  </a:cubicBezTo>
                  <a:cubicBezTo>
                    <a:pt x="933" y="572"/>
                    <a:pt x="945" y="560"/>
                    <a:pt x="961" y="560"/>
                  </a:cubicBezTo>
                  <a:cubicBezTo>
                    <a:pt x="976" y="560"/>
                    <a:pt x="989" y="572"/>
                    <a:pt x="989" y="588"/>
                  </a:cubicBezTo>
                  <a:close/>
                  <a:moveTo>
                    <a:pt x="964" y="674"/>
                  </a:moveTo>
                  <a:cubicBezTo>
                    <a:pt x="964" y="689"/>
                    <a:pt x="951" y="702"/>
                    <a:pt x="936" y="702"/>
                  </a:cubicBezTo>
                  <a:cubicBezTo>
                    <a:pt x="920" y="702"/>
                    <a:pt x="908" y="689"/>
                    <a:pt x="908" y="674"/>
                  </a:cubicBezTo>
                  <a:cubicBezTo>
                    <a:pt x="908" y="658"/>
                    <a:pt x="920" y="646"/>
                    <a:pt x="936" y="646"/>
                  </a:cubicBezTo>
                  <a:cubicBezTo>
                    <a:pt x="951" y="646"/>
                    <a:pt x="964" y="658"/>
                    <a:pt x="964" y="674"/>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68" y="824"/>
                  </a:moveTo>
                  <a:cubicBezTo>
                    <a:pt x="868" y="839"/>
                    <a:pt x="855" y="852"/>
                    <a:pt x="840" y="852"/>
                  </a:cubicBezTo>
                  <a:cubicBezTo>
                    <a:pt x="824" y="852"/>
                    <a:pt x="812" y="839"/>
                    <a:pt x="812" y="824"/>
                  </a:cubicBezTo>
                  <a:cubicBezTo>
                    <a:pt x="812" y="808"/>
                    <a:pt x="824" y="796"/>
                    <a:pt x="840" y="796"/>
                  </a:cubicBezTo>
                  <a:cubicBezTo>
                    <a:pt x="855" y="796"/>
                    <a:pt x="868" y="808"/>
                    <a:pt x="868" y="824"/>
                  </a:cubicBezTo>
                  <a:close/>
                  <a:moveTo>
                    <a:pt x="800" y="882"/>
                  </a:moveTo>
                  <a:cubicBezTo>
                    <a:pt x="800" y="897"/>
                    <a:pt x="787" y="910"/>
                    <a:pt x="772" y="910"/>
                  </a:cubicBezTo>
                  <a:cubicBezTo>
                    <a:pt x="756" y="910"/>
                    <a:pt x="744" y="897"/>
                    <a:pt x="744" y="882"/>
                  </a:cubicBezTo>
                  <a:cubicBezTo>
                    <a:pt x="744" y="866"/>
                    <a:pt x="756" y="854"/>
                    <a:pt x="772" y="854"/>
                  </a:cubicBezTo>
                  <a:cubicBezTo>
                    <a:pt x="787" y="854"/>
                    <a:pt x="800" y="866"/>
                    <a:pt x="800" y="882"/>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38" y="956"/>
                  </a:moveTo>
                  <a:cubicBezTo>
                    <a:pt x="638" y="971"/>
                    <a:pt x="625" y="984"/>
                    <a:pt x="610" y="984"/>
                  </a:cubicBezTo>
                  <a:cubicBezTo>
                    <a:pt x="594" y="984"/>
                    <a:pt x="582" y="971"/>
                    <a:pt x="582" y="956"/>
                  </a:cubicBezTo>
                  <a:cubicBezTo>
                    <a:pt x="582" y="940"/>
                    <a:pt x="594" y="928"/>
                    <a:pt x="610" y="928"/>
                  </a:cubicBezTo>
                  <a:cubicBezTo>
                    <a:pt x="625" y="928"/>
                    <a:pt x="638" y="940"/>
                    <a:pt x="638" y="956"/>
                  </a:cubicBezTo>
                  <a:close/>
                  <a:moveTo>
                    <a:pt x="550" y="969"/>
                  </a:moveTo>
                  <a:cubicBezTo>
                    <a:pt x="550" y="984"/>
                    <a:pt x="537" y="997"/>
                    <a:pt x="522" y="997"/>
                  </a:cubicBezTo>
                  <a:cubicBezTo>
                    <a:pt x="506" y="997"/>
                    <a:pt x="494" y="984"/>
                    <a:pt x="494" y="969"/>
                  </a:cubicBezTo>
                  <a:cubicBezTo>
                    <a:pt x="494" y="953"/>
                    <a:pt x="506" y="941"/>
                    <a:pt x="522" y="941"/>
                  </a:cubicBezTo>
                  <a:cubicBezTo>
                    <a:pt x="537" y="941"/>
                    <a:pt x="550" y="953"/>
                    <a:pt x="550" y="969"/>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74" y="944"/>
                  </a:moveTo>
                  <a:cubicBezTo>
                    <a:pt x="374" y="959"/>
                    <a:pt x="361" y="972"/>
                    <a:pt x="346" y="972"/>
                  </a:cubicBezTo>
                  <a:cubicBezTo>
                    <a:pt x="330" y="972"/>
                    <a:pt x="318" y="959"/>
                    <a:pt x="318" y="944"/>
                  </a:cubicBezTo>
                  <a:cubicBezTo>
                    <a:pt x="318" y="928"/>
                    <a:pt x="330" y="916"/>
                    <a:pt x="346" y="916"/>
                  </a:cubicBezTo>
                  <a:cubicBezTo>
                    <a:pt x="361" y="916"/>
                    <a:pt x="374" y="928"/>
                    <a:pt x="374" y="944"/>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58" y="790"/>
                  </a:moveTo>
                  <a:cubicBezTo>
                    <a:pt x="158" y="805"/>
                    <a:pt x="145" y="818"/>
                    <a:pt x="130" y="818"/>
                  </a:cubicBezTo>
                  <a:cubicBezTo>
                    <a:pt x="114" y="818"/>
                    <a:pt x="102" y="805"/>
                    <a:pt x="102" y="790"/>
                  </a:cubicBezTo>
                  <a:cubicBezTo>
                    <a:pt x="102" y="774"/>
                    <a:pt x="114" y="762"/>
                    <a:pt x="130" y="762"/>
                  </a:cubicBezTo>
                  <a:cubicBezTo>
                    <a:pt x="145" y="762"/>
                    <a:pt x="158" y="774"/>
                    <a:pt x="158" y="790"/>
                  </a:cubicBezTo>
                  <a:close/>
                  <a:moveTo>
                    <a:pt x="110" y="715"/>
                  </a:moveTo>
                  <a:cubicBezTo>
                    <a:pt x="110" y="730"/>
                    <a:pt x="97" y="743"/>
                    <a:pt x="82" y="743"/>
                  </a:cubicBezTo>
                  <a:cubicBezTo>
                    <a:pt x="66" y="743"/>
                    <a:pt x="54" y="730"/>
                    <a:pt x="54" y="715"/>
                  </a:cubicBezTo>
                  <a:cubicBezTo>
                    <a:pt x="54" y="699"/>
                    <a:pt x="66" y="687"/>
                    <a:pt x="82" y="687"/>
                  </a:cubicBezTo>
                  <a:cubicBezTo>
                    <a:pt x="97" y="687"/>
                    <a:pt x="110" y="699"/>
                    <a:pt x="110" y="71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0" y="544"/>
                  </a:moveTo>
                  <a:cubicBezTo>
                    <a:pt x="60" y="559"/>
                    <a:pt x="47" y="572"/>
                    <a:pt x="32" y="572"/>
                  </a:cubicBezTo>
                  <a:cubicBezTo>
                    <a:pt x="16" y="572"/>
                    <a:pt x="4" y="559"/>
                    <a:pt x="4" y="544"/>
                  </a:cubicBezTo>
                  <a:cubicBezTo>
                    <a:pt x="4" y="528"/>
                    <a:pt x="16" y="516"/>
                    <a:pt x="32" y="516"/>
                  </a:cubicBezTo>
                  <a:cubicBezTo>
                    <a:pt x="47" y="516"/>
                    <a:pt x="60" y="528"/>
                    <a:pt x="60" y="544"/>
                  </a:cubicBezTo>
                  <a:close/>
                  <a:moveTo>
                    <a:pt x="60" y="455"/>
                  </a:moveTo>
                  <a:cubicBezTo>
                    <a:pt x="60" y="470"/>
                    <a:pt x="47" y="483"/>
                    <a:pt x="32" y="483"/>
                  </a:cubicBezTo>
                  <a:cubicBezTo>
                    <a:pt x="16" y="483"/>
                    <a:pt x="4" y="470"/>
                    <a:pt x="4" y="455"/>
                  </a:cubicBezTo>
                  <a:cubicBezTo>
                    <a:pt x="4" y="439"/>
                    <a:pt x="16" y="427"/>
                    <a:pt x="32" y="427"/>
                  </a:cubicBezTo>
                  <a:cubicBezTo>
                    <a:pt x="47" y="427"/>
                    <a:pt x="60" y="439"/>
                    <a:pt x="60" y="455"/>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10" y="284"/>
                  </a:moveTo>
                  <a:cubicBezTo>
                    <a:pt x="110" y="299"/>
                    <a:pt x="97" y="312"/>
                    <a:pt x="82" y="312"/>
                  </a:cubicBezTo>
                  <a:cubicBezTo>
                    <a:pt x="66" y="312"/>
                    <a:pt x="54" y="299"/>
                    <a:pt x="54" y="284"/>
                  </a:cubicBezTo>
                  <a:cubicBezTo>
                    <a:pt x="54" y="268"/>
                    <a:pt x="66" y="256"/>
                    <a:pt x="82" y="256"/>
                  </a:cubicBezTo>
                  <a:cubicBezTo>
                    <a:pt x="97" y="256"/>
                    <a:pt x="110" y="268"/>
                    <a:pt x="110" y="284"/>
                  </a:cubicBezTo>
                  <a:close/>
                  <a:moveTo>
                    <a:pt x="158" y="209"/>
                  </a:moveTo>
                  <a:cubicBezTo>
                    <a:pt x="158" y="224"/>
                    <a:pt x="145" y="237"/>
                    <a:pt x="130" y="237"/>
                  </a:cubicBezTo>
                  <a:cubicBezTo>
                    <a:pt x="114" y="237"/>
                    <a:pt x="102" y="224"/>
                    <a:pt x="102" y="209"/>
                  </a:cubicBezTo>
                  <a:cubicBezTo>
                    <a:pt x="102" y="193"/>
                    <a:pt x="114" y="181"/>
                    <a:pt x="130" y="181"/>
                  </a:cubicBezTo>
                  <a:cubicBezTo>
                    <a:pt x="145" y="181"/>
                    <a:pt x="158" y="193"/>
                    <a:pt x="158" y="209"/>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374" y="55"/>
                  </a:moveTo>
                  <a:cubicBezTo>
                    <a:pt x="374" y="70"/>
                    <a:pt x="361" y="83"/>
                    <a:pt x="346" y="83"/>
                  </a:cubicBezTo>
                  <a:cubicBezTo>
                    <a:pt x="330" y="83"/>
                    <a:pt x="318" y="70"/>
                    <a:pt x="318" y="55"/>
                  </a:cubicBezTo>
                  <a:cubicBezTo>
                    <a:pt x="318" y="39"/>
                    <a:pt x="330" y="27"/>
                    <a:pt x="346" y="27"/>
                  </a:cubicBezTo>
                  <a:cubicBezTo>
                    <a:pt x="361" y="27"/>
                    <a:pt x="374" y="39"/>
                    <a:pt x="374" y="55"/>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50" y="30"/>
                  </a:moveTo>
                  <a:cubicBezTo>
                    <a:pt x="550" y="45"/>
                    <a:pt x="537" y="58"/>
                    <a:pt x="522" y="58"/>
                  </a:cubicBezTo>
                  <a:cubicBezTo>
                    <a:pt x="506" y="58"/>
                    <a:pt x="494" y="45"/>
                    <a:pt x="494" y="30"/>
                  </a:cubicBezTo>
                  <a:cubicBezTo>
                    <a:pt x="494" y="14"/>
                    <a:pt x="506" y="2"/>
                    <a:pt x="522" y="2"/>
                  </a:cubicBezTo>
                  <a:cubicBezTo>
                    <a:pt x="537" y="2"/>
                    <a:pt x="550" y="14"/>
                    <a:pt x="550" y="30"/>
                  </a:cubicBezTo>
                  <a:close/>
                  <a:moveTo>
                    <a:pt x="638" y="43"/>
                  </a:moveTo>
                  <a:cubicBezTo>
                    <a:pt x="638" y="58"/>
                    <a:pt x="625" y="71"/>
                    <a:pt x="610" y="71"/>
                  </a:cubicBezTo>
                  <a:cubicBezTo>
                    <a:pt x="594" y="71"/>
                    <a:pt x="582" y="58"/>
                    <a:pt x="582" y="43"/>
                  </a:cubicBezTo>
                  <a:cubicBezTo>
                    <a:pt x="582" y="27"/>
                    <a:pt x="594" y="15"/>
                    <a:pt x="610" y="15"/>
                  </a:cubicBezTo>
                  <a:cubicBezTo>
                    <a:pt x="625" y="15"/>
                    <a:pt x="638" y="27"/>
                    <a:pt x="638" y="43"/>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800" y="117"/>
                  </a:moveTo>
                  <a:cubicBezTo>
                    <a:pt x="800" y="132"/>
                    <a:pt x="787" y="145"/>
                    <a:pt x="772" y="145"/>
                  </a:cubicBezTo>
                  <a:cubicBezTo>
                    <a:pt x="756" y="145"/>
                    <a:pt x="744" y="132"/>
                    <a:pt x="744" y="117"/>
                  </a:cubicBezTo>
                  <a:cubicBezTo>
                    <a:pt x="744" y="101"/>
                    <a:pt x="756" y="89"/>
                    <a:pt x="772" y="89"/>
                  </a:cubicBezTo>
                  <a:cubicBezTo>
                    <a:pt x="787" y="89"/>
                    <a:pt x="800" y="101"/>
                    <a:pt x="800" y="117"/>
                  </a:cubicBezTo>
                  <a:close/>
                  <a:moveTo>
                    <a:pt x="868" y="175"/>
                  </a:moveTo>
                  <a:cubicBezTo>
                    <a:pt x="868" y="190"/>
                    <a:pt x="855" y="203"/>
                    <a:pt x="840" y="203"/>
                  </a:cubicBezTo>
                  <a:cubicBezTo>
                    <a:pt x="824" y="203"/>
                    <a:pt x="812" y="190"/>
                    <a:pt x="812" y="175"/>
                  </a:cubicBezTo>
                  <a:cubicBezTo>
                    <a:pt x="812" y="159"/>
                    <a:pt x="824" y="147"/>
                    <a:pt x="840" y="147"/>
                  </a:cubicBezTo>
                  <a:cubicBezTo>
                    <a:pt x="855" y="147"/>
                    <a:pt x="868" y="159"/>
                    <a:pt x="868" y="175"/>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64" y="325"/>
                  </a:moveTo>
                  <a:cubicBezTo>
                    <a:pt x="964" y="340"/>
                    <a:pt x="951" y="353"/>
                    <a:pt x="936" y="353"/>
                  </a:cubicBezTo>
                  <a:cubicBezTo>
                    <a:pt x="920" y="353"/>
                    <a:pt x="908" y="340"/>
                    <a:pt x="908" y="325"/>
                  </a:cubicBezTo>
                  <a:cubicBezTo>
                    <a:pt x="908" y="309"/>
                    <a:pt x="920" y="297"/>
                    <a:pt x="936" y="297"/>
                  </a:cubicBezTo>
                  <a:cubicBezTo>
                    <a:pt x="951" y="297"/>
                    <a:pt x="964" y="309"/>
                    <a:pt x="964" y="325"/>
                  </a:cubicBezTo>
                  <a:close/>
                  <a:moveTo>
                    <a:pt x="989" y="411"/>
                  </a:moveTo>
                  <a:cubicBezTo>
                    <a:pt x="989" y="426"/>
                    <a:pt x="976" y="439"/>
                    <a:pt x="961" y="439"/>
                  </a:cubicBezTo>
                  <a:cubicBezTo>
                    <a:pt x="945" y="439"/>
                    <a:pt x="933" y="426"/>
                    <a:pt x="933" y="411"/>
                  </a:cubicBezTo>
                  <a:cubicBezTo>
                    <a:pt x="933" y="395"/>
                    <a:pt x="945" y="383"/>
                    <a:pt x="961" y="383"/>
                  </a:cubicBezTo>
                  <a:cubicBezTo>
                    <a:pt x="976" y="383"/>
                    <a:pt x="989" y="395"/>
                    <a:pt x="989" y="411"/>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0" name="Forma 19"/>
            <p:cNvSpPr/>
            <p:nvPr/>
          </p:nvSpPr>
          <p:spPr>
            <a:xfrm>
              <a:off x="2926080" y="2743200"/>
              <a:ext cx="685800" cy="685800"/>
            </a:xfrm>
            <a:custGeom>
              <a:avLst/>
              <a:gdLst/>
              <a:ahLst/>
              <a:cxnLst/>
              <a:rect l="0" t="0" r="r" b="b"/>
              <a:pathLst>
                <a:path w="1000" h="1000" fill="none">
                  <a:moveTo>
                    <a:pt x="0" y="500"/>
                  </a:moveTo>
                  <a:cubicBezTo>
                    <a:pt x="5" y="471"/>
                    <a:pt x="10" y="381"/>
                    <a:pt x="30" y="328"/>
                  </a:cubicBezTo>
                  <a:cubicBezTo>
                    <a:pt x="49" y="274"/>
                    <a:pt x="79" y="221"/>
                    <a:pt x="116" y="178"/>
                  </a:cubicBezTo>
                  <a:cubicBezTo>
                    <a:pt x="152" y="134"/>
                    <a:pt x="199" y="94"/>
                    <a:pt x="249" y="66"/>
                  </a:cubicBezTo>
                  <a:cubicBezTo>
                    <a:pt x="298" y="37"/>
                    <a:pt x="356" y="16"/>
                    <a:pt x="413" y="7"/>
                  </a:cubicBezTo>
                  <a:cubicBezTo>
                    <a:pt x="469" y="-2"/>
                    <a:pt x="529" y="-2"/>
                    <a:pt x="586" y="7"/>
                  </a:cubicBezTo>
                  <a:cubicBezTo>
                    <a:pt x="642" y="16"/>
                    <a:pt x="700" y="37"/>
                    <a:pt x="750" y="66"/>
                  </a:cubicBezTo>
                  <a:cubicBezTo>
                    <a:pt x="799" y="94"/>
                    <a:pt x="846" y="134"/>
                    <a:pt x="883" y="178"/>
                  </a:cubicBezTo>
                  <a:cubicBezTo>
                    <a:pt x="919" y="221"/>
                    <a:pt x="954" y="303"/>
                    <a:pt x="969" y="328"/>
                  </a:cubicBezTo>
                </a:path>
              </a:pathLst>
            </a:custGeom>
            <a:noFill/>
            <a:ln w="50800" cap="rnd">
              <a:solidFill>
                <a:srgbClr val="5DADE2"/>
              </a:solidFill>
              <a:round/>
            </a:ln>
          </p:spPr>
        </p:sp>
        <p:sp>
          <p:nvSpPr>
            <p:cNvPr id="21" name="Forma 20"/>
            <p:cNvSpPr txBox="1"/>
            <p:nvPr/>
          </p:nvSpPr>
          <p:spPr>
            <a:xfrm>
              <a:off x="2926080" y="2948940"/>
              <a:ext cx="685800"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HDL</a:t>
              </a:r>
              <a:endParaRPr lang="es-AR" sz="1200" dirty="0">
                <a:latin typeface="Bahnschrift SemiBold Condensed"/>
              </a:endParaRPr>
            </a:p>
          </p:txBody>
        </p:sp>
      </p:grpSp>
      <p:sp>
        <p:nvSpPr>
          <p:cNvPr id="22" name="Apos transferidas"/>
          <p:cNvSpPr/>
          <p:nvPr/>
        </p:nvSpPr>
        <p:spPr>
          <a:xfrm>
            <a:off x="2286000" y="3520440"/>
            <a:ext cx="1189059" cy="255905"/>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ApoC-II + ApoE</a:t>
            </a:r>
            <a:endParaRPr lang="es-AR" sz="1300" dirty="0">
              <a:latin typeface="Bahnschrift SemiBold Condensed"/>
            </a:endParaRPr>
          </a:p>
        </p:txBody>
      </p:sp>
      <p:sp>
        <p:nvSpPr>
          <p:cNvPr id="23" name="LPL"/>
          <p:cNvSpPr/>
          <p:nvPr/>
        </p:nvSpPr>
        <p:spPr>
          <a:xfrm>
            <a:off x="4754880" y="2423160"/>
            <a:ext cx="129383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LPL (endotelio)</a:t>
            </a:r>
            <a:endParaRPr lang="es-AR" sz="1250" dirty="0">
              <a:latin typeface="Bahnschrift SemiBold Condensed"/>
            </a:endParaRPr>
          </a:p>
        </p:txBody>
      </p:sp>
      <p:grpSp>
        <p:nvGrpSpPr>
          <p:cNvPr id="24" name="AG liberados 1"/>
          <p:cNvGrpSpPr/>
          <p:nvPr/>
        </p:nvGrpSpPr>
        <p:grpSpPr>
          <a:xfrm>
            <a:off x="5102352" y="2980944"/>
            <a:ext cx="658368" cy="182880"/>
            <a:chOff x="5102352" y="2980944"/>
            <a:chExt cx="658368" cy="182880"/>
          </a:xfrm>
        </p:grpSpPr>
        <p:sp>
          <p:nvSpPr>
            <p:cNvPr id="25" name="Flecha 24_2"/>
            <p:cNvSpPr/>
            <p:nvPr/>
          </p:nvSpPr>
          <p:spPr>
            <a:xfrm>
              <a:off x="5266944" y="3035808"/>
              <a:ext cx="493776" cy="128016"/>
            </a:xfrm>
            <a:custGeom>
              <a:avLst/>
              <a:gdLst/>
              <a:ahLst/>
              <a:cxnLst/>
              <a:rect l="0" t="0" r="r" b="b"/>
              <a:pathLst>
                <a:path w="540" h="140" fill="none">
                  <a:moveTo>
                    <a:pt x="0" y="0"/>
                  </a:moveTo>
                  <a:lnTo>
                    <a:pt x="67" y="140"/>
                  </a:lnTo>
                  <a:lnTo>
                    <a:pt x="134" y="0"/>
                  </a:lnTo>
                  <a:lnTo>
                    <a:pt x="202" y="140"/>
                  </a:lnTo>
                  <a:lnTo>
                    <a:pt x="269" y="0"/>
                  </a:lnTo>
                  <a:lnTo>
                    <a:pt x="337" y="140"/>
                  </a:lnTo>
                  <a:lnTo>
                    <a:pt x="405" y="0"/>
                  </a:lnTo>
                  <a:lnTo>
                    <a:pt x="472" y="140"/>
                  </a:lnTo>
                  <a:lnTo>
                    <a:pt x="540" y="0"/>
                  </a:lnTo>
                </a:path>
              </a:pathLst>
            </a:custGeom>
            <a:noFill/>
            <a:ln w="28575" cap="rnd">
              <a:solidFill>
                <a:srgbClr val="B7950B"/>
              </a:solidFill>
              <a:round/>
            </a:ln>
          </p:spPr>
        </p:sp>
        <p:sp>
          <p:nvSpPr>
            <p:cNvPr id="26" name="Forma 26"/>
            <p:cNvSpPr/>
            <p:nvPr/>
          </p:nvSpPr>
          <p:spPr>
            <a:xfrm>
              <a:off x="5102352" y="29809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7" name="AG liberados 2"/>
          <p:cNvGrpSpPr/>
          <p:nvPr/>
        </p:nvGrpSpPr>
        <p:grpSpPr>
          <a:xfrm>
            <a:off x="5650992" y="3209544"/>
            <a:ext cx="658368" cy="182880"/>
            <a:chOff x="5650992" y="3209544"/>
            <a:chExt cx="658368" cy="182880"/>
          </a:xfrm>
        </p:grpSpPr>
        <p:sp>
          <p:nvSpPr>
            <p:cNvPr id="28" name="Flecha 28_2"/>
            <p:cNvSpPr/>
            <p:nvPr/>
          </p:nvSpPr>
          <p:spPr>
            <a:xfrm>
              <a:off x="5815584" y="3264408"/>
              <a:ext cx="493776" cy="128016"/>
            </a:xfrm>
            <a:custGeom>
              <a:avLst/>
              <a:gdLst/>
              <a:ahLst/>
              <a:cxnLst/>
              <a:rect l="0" t="0" r="r" b="b"/>
              <a:pathLst>
                <a:path w="540" h="140" fill="none">
                  <a:moveTo>
                    <a:pt x="0" y="0"/>
                  </a:moveTo>
                  <a:lnTo>
                    <a:pt x="67" y="140"/>
                  </a:lnTo>
                  <a:lnTo>
                    <a:pt x="134" y="0"/>
                  </a:lnTo>
                  <a:lnTo>
                    <a:pt x="202" y="140"/>
                  </a:lnTo>
                  <a:lnTo>
                    <a:pt x="269" y="0"/>
                  </a:lnTo>
                  <a:lnTo>
                    <a:pt x="337" y="140"/>
                  </a:lnTo>
                  <a:lnTo>
                    <a:pt x="405" y="0"/>
                  </a:lnTo>
                  <a:lnTo>
                    <a:pt x="472" y="140"/>
                  </a:lnTo>
                  <a:lnTo>
                    <a:pt x="540" y="0"/>
                  </a:lnTo>
                </a:path>
              </a:pathLst>
            </a:custGeom>
            <a:noFill/>
            <a:ln w="28575" cap="rnd">
              <a:solidFill>
                <a:srgbClr val="B7950B"/>
              </a:solidFill>
              <a:round/>
            </a:ln>
          </p:spPr>
        </p:sp>
        <p:sp>
          <p:nvSpPr>
            <p:cNvPr id="29" name="Forma 30"/>
            <p:cNvSpPr/>
            <p:nvPr/>
          </p:nvSpPr>
          <p:spPr>
            <a:xfrm>
              <a:off x="5650992" y="32095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30" name="Glicerol"/>
          <p:cNvSpPr/>
          <p:nvPr/>
        </p:nvSpPr>
        <p:spPr>
          <a:xfrm>
            <a:off x="6675120" y="1828800"/>
            <a:ext cx="365760" cy="365760"/>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040" b="1" dirty="0">
                <a:solidFill>
                  <a:srgbClr val="1E1E1E"/>
                </a:solidFill>
                <a:latin typeface="Bahnschrift SemiBold Condensed"/>
                <a:ea typeface="Bahnschrift SemiBold Condensed"/>
                <a:cs typeface="Bahnschrift SemiBold Condensed"/>
                <a:sym typeface="Bahnschrift SemiBold Condensed"/>
              </a:rPr>
              <a:t>Gli</a:t>
            </a:r>
            <a:endParaRPr lang="es-AR" sz="1040" dirty="0">
              <a:latin typeface="Bahnschrift SemiBold Condensed"/>
            </a:endParaRPr>
          </a:p>
        </p:txBody>
      </p:sp>
      <p:grpSp>
        <p:nvGrpSpPr>
          <p:cNvPr id="31" name="Fibra muscular"/>
          <p:cNvGrpSpPr/>
          <p:nvPr/>
        </p:nvGrpSpPr>
        <p:grpSpPr>
          <a:xfrm>
            <a:off x="4206240" y="4251960"/>
            <a:ext cx="2834640" cy="502920"/>
            <a:chOff x="4206240" y="4251960"/>
            <a:chExt cx="2834640" cy="502920"/>
          </a:xfrm>
        </p:grpSpPr>
        <p:sp>
          <p:nvSpPr>
            <p:cNvPr id="32" name="Forma 33"/>
            <p:cNvSpPr/>
            <p:nvPr/>
          </p:nvSpPr>
          <p:spPr>
            <a:xfrm>
              <a:off x="4206240" y="4251960"/>
              <a:ext cx="2834640" cy="50292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4"/>
            <p:cNvSpPr/>
            <p:nvPr/>
          </p:nvSpPr>
          <p:spPr>
            <a:xfrm>
              <a:off x="4331970" y="4251960"/>
              <a:ext cx="2583180" cy="502920"/>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34" name="Forma 35"/>
            <p:cNvSpPr/>
            <p:nvPr/>
          </p:nvSpPr>
          <p:spPr>
            <a:xfrm>
              <a:off x="4773168" y="4272077"/>
              <a:ext cx="251460" cy="9052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6"/>
            <p:cNvSpPr/>
            <p:nvPr/>
          </p:nvSpPr>
          <p:spPr>
            <a:xfrm>
              <a:off x="5765292" y="4272077"/>
              <a:ext cx="251460" cy="9052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7"/>
            <p:cNvSpPr/>
            <p:nvPr/>
          </p:nvSpPr>
          <p:spPr>
            <a:xfrm>
              <a:off x="6615684" y="4272077"/>
              <a:ext cx="251460" cy="9052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8"/>
            <p:cNvSpPr/>
            <p:nvPr/>
          </p:nvSpPr>
          <p:spPr>
            <a:xfrm>
              <a:off x="6829654" y="4272077"/>
              <a:ext cx="201168" cy="462686"/>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8" name="Adipocito"/>
          <p:cNvGrpSpPr/>
          <p:nvPr/>
        </p:nvGrpSpPr>
        <p:grpSpPr>
          <a:xfrm>
            <a:off x="7223760" y="3977640"/>
            <a:ext cx="1280160" cy="1280160"/>
            <a:chOff x="7223760" y="3977640"/>
            <a:chExt cx="1280160" cy="1280160"/>
          </a:xfrm>
        </p:grpSpPr>
        <p:sp>
          <p:nvSpPr>
            <p:cNvPr id="39" name="Forma 40"/>
            <p:cNvSpPr/>
            <p:nvPr/>
          </p:nvSpPr>
          <p:spPr>
            <a:xfrm>
              <a:off x="7223760" y="3977640"/>
              <a:ext cx="1280160" cy="128016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0" name="Gota lipídica"/>
            <p:cNvSpPr/>
            <p:nvPr/>
          </p:nvSpPr>
          <p:spPr>
            <a:xfrm>
              <a:off x="7287768" y="4041648"/>
              <a:ext cx="1152144" cy="1152144"/>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1" name="Forma 42"/>
            <p:cNvSpPr/>
            <p:nvPr/>
          </p:nvSpPr>
          <p:spPr>
            <a:xfrm rot="2400000">
              <a:off x="8145475" y="4054450"/>
              <a:ext cx="281635" cy="153619"/>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2" name="Mitocondria"/>
            <p:cNvGrpSpPr/>
            <p:nvPr/>
          </p:nvGrpSpPr>
          <p:grpSpPr>
            <a:xfrm>
              <a:off x="7326173" y="4924958"/>
              <a:ext cx="128016" cy="64008"/>
              <a:chOff x="7326173" y="4924958"/>
              <a:chExt cx="128016" cy="64008"/>
            </a:xfrm>
          </p:grpSpPr>
          <p:sp>
            <p:nvSpPr>
              <p:cNvPr id="43" name="Forma 44"/>
              <p:cNvSpPr/>
              <p:nvPr/>
            </p:nvSpPr>
            <p:spPr>
              <a:xfrm rot="-2400000">
                <a:off x="7326173" y="4924958"/>
                <a:ext cx="128016" cy="64008"/>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4" name="Forma 45"/>
              <p:cNvSpPr/>
              <p:nvPr/>
            </p:nvSpPr>
            <p:spPr>
              <a:xfrm rot="-2400000">
                <a:off x="7335134" y="4933920"/>
                <a:ext cx="110094" cy="46086"/>
              </a:xfrm>
              <a:prstGeom prst="ellipse">
                <a:avLst/>
              </a:prstGeom>
              <a:solidFill>
                <a:srgbClr val="F8D8B4"/>
              </a:solidFill>
              <a:ln w="9525" cap="rnd">
                <a:solidFill>
                  <a:srgbClr val="B2732B"/>
                </a:solidFill>
                <a:round/>
              </a:ln>
            </p:spPr>
          </p:sp>
          <p:sp>
            <p:nvSpPr>
              <p:cNvPr id="45" name="Forma 46"/>
              <p:cNvSpPr/>
              <p:nvPr/>
            </p:nvSpPr>
            <p:spPr>
              <a:xfrm rot="-2400000">
                <a:off x="7335134" y="4933920"/>
                <a:ext cx="110094" cy="4608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46" name="Forma 47"/>
          <p:cNvSpPr txBox="1"/>
          <p:nvPr/>
        </p:nvSpPr>
        <p:spPr>
          <a:xfrm>
            <a:off x="4206240" y="4800600"/>
            <a:ext cx="283464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922B21"/>
                </a:solidFill>
                <a:latin typeface="Bahnschrift SemiBold Condensed"/>
                <a:ea typeface="Bahnschrift SemiBold Condensed"/>
                <a:cs typeface="Bahnschrift SemiBold Condensed"/>
                <a:sym typeface="Bahnschrift SemiBold Condensed"/>
              </a:rPr>
              <a:t>MÚSCULO: oxidación</a:t>
            </a:r>
            <a:endParaRPr lang="es-AR" sz="1250" dirty="0">
              <a:latin typeface="Bahnschrift SemiBold Condensed"/>
            </a:endParaRPr>
          </a:p>
        </p:txBody>
      </p:sp>
      <p:sp>
        <p:nvSpPr>
          <p:cNvPr id="47" name="Forma 48"/>
          <p:cNvSpPr txBox="1"/>
          <p:nvPr/>
        </p:nvSpPr>
        <p:spPr>
          <a:xfrm>
            <a:off x="6949440" y="5303520"/>
            <a:ext cx="182880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ADIPOCITO: reserva</a:t>
            </a:r>
            <a:endParaRPr lang="es-AR" sz="1250" dirty="0">
              <a:latin typeface="Bahnschrift SemiBold Condensed"/>
            </a:endParaRPr>
          </a:p>
        </p:txBody>
      </p:sp>
      <p:grpSp>
        <p:nvGrpSpPr>
          <p:cNvPr id="48" name="Remanente"/>
          <p:cNvGrpSpPr/>
          <p:nvPr/>
        </p:nvGrpSpPr>
        <p:grpSpPr>
          <a:xfrm>
            <a:off x="9509760" y="1417320"/>
            <a:ext cx="685800" cy="685800"/>
            <a:chOff x="9509760" y="1417320"/>
            <a:chExt cx="685800" cy="685800"/>
          </a:xfrm>
        </p:grpSpPr>
        <p:sp>
          <p:nvSpPr>
            <p:cNvPr id="49" name="Forma 50"/>
            <p:cNvSpPr/>
            <p:nvPr/>
          </p:nvSpPr>
          <p:spPr>
            <a:xfrm>
              <a:off x="9509760" y="1417320"/>
              <a:ext cx="685800" cy="685800"/>
            </a:xfrm>
            <a:prstGeom prst="ellipse">
              <a:avLst/>
            </a:prstGeom>
            <a:gradFill rotWithShape="1">
              <a:gsLst>
                <a:gs pos="0">
                  <a:srgbClr val="FAD7A0"/>
                </a:gs>
                <a:gs pos="70000">
                  <a:srgbClr val="F39C12"/>
                </a:gs>
                <a:gs pos="100000">
                  <a:srgbClr val="C27C0E"/>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0" name="Forma 51"/>
            <p:cNvSpPr/>
            <p:nvPr/>
          </p:nvSpPr>
          <p:spPr>
            <a:xfrm>
              <a:off x="9509760" y="1417320"/>
              <a:ext cx="685800" cy="6858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9" y="588"/>
                  </a:moveTo>
                  <a:cubicBezTo>
                    <a:pt x="989" y="603"/>
                    <a:pt x="976" y="616"/>
                    <a:pt x="961" y="616"/>
                  </a:cubicBezTo>
                  <a:cubicBezTo>
                    <a:pt x="945" y="616"/>
                    <a:pt x="933" y="603"/>
                    <a:pt x="933" y="588"/>
                  </a:cubicBezTo>
                  <a:cubicBezTo>
                    <a:pt x="933" y="572"/>
                    <a:pt x="945" y="560"/>
                    <a:pt x="961" y="560"/>
                  </a:cubicBezTo>
                  <a:cubicBezTo>
                    <a:pt x="976" y="560"/>
                    <a:pt x="989" y="572"/>
                    <a:pt x="989" y="588"/>
                  </a:cubicBezTo>
                  <a:close/>
                  <a:moveTo>
                    <a:pt x="964" y="674"/>
                  </a:moveTo>
                  <a:cubicBezTo>
                    <a:pt x="964" y="689"/>
                    <a:pt x="951" y="702"/>
                    <a:pt x="936" y="702"/>
                  </a:cubicBezTo>
                  <a:cubicBezTo>
                    <a:pt x="920" y="702"/>
                    <a:pt x="908" y="689"/>
                    <a:pt x="908" y="674"/>
                  </a:cubicBezTo>
                  <a:cubicBezTo>
                    <a:pt x="908" y="658"/>
                    <a:pt x="920" y="646"/>
                    <a:pt x="936" y="646"/>
                  </a:cubicBezTo>
                  <a:cubicBezTo>
                    <a:pt x="951" y="646"/>
                    <a:pt x="964" y="658"/>
                    <a:pt x="964" y="674"/>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68" y="824"/>
                  </a:moveTo>
                  <a:cubicBezTo>
                    <a:pt x="868" y="839"/>
                    <a:pt x="855" y="852"/>
                    <a:pt x="840" y="852"/>
                  </a:cubicBezTo>
                  <a:cubicBezTo>
                    <a:pt x="824" y="852"/>
                    <a:pt x="812" y="839"/>
                    <a:pt x="812" y="824"/>
                  </a:cubicBezTo>
                  <a:cubicBezTo>
                    <a:pt x="812" y="808"/>
                    <a:pt x="824" y="796"/>
                    <a:pt x="840" y="796"/>
                  </a:cubicBezTo>
                  <a:cubicBezTo>
                    <a:pt x="855" y="796"/>
                    <a:pt x="868" y="808"/>
                    <a:pt x="868" y="824"/>
                  </a:cubicBezTo>
                  <a:close/>
                  <a:moveTo>
                    <a:pt x="800" y="882"/>
                  </a:moveTo>
                  <a:cubicBezTo>
                    <a:pt x="800" y="897"/>
                    <a:pt x="787" y="910"/>
                    <a:pt x="772" y="910"/>
                  </a:cubicBezTo>
                  <a:cubicBezTo>
                    <a:pt x="756" y="910"/>
                    <a:pt x="744" y="897"/>
                    <a:pt x="744" y="882"/>
                  </a:cubicBezTo>
                  <a:cubicBezTo>
                    <a:pt x="744" y="866"/>
                    <a:pt x="756" y="854"/>
                    <a:pt x="772" y="854"/>
                  </a:cubicBezTo>
                  <a:cubicBezTo>
                    <a:pt x="787" y="854"/>
                    <a:pt x="800" y="866"/>
                    <a:pt x="800" y="882"/>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38" y="956"/>
                  </a:moveTo>
                  <a:cubicBezTo>
                    <a:pt x="638" y="971"/>
                    <a:pt x="625" y="984"/>
                    <a:pt x="610" y="984"/>
                  </a:cubicBezTo>
                  <a:cubicBezTo>
                    <a:pt x="594" y="984"/>
                    <a:pt x="582" y="971"/>
                    <a:pt x="582" y="956"/>
                  </a:cubicBezTo>
                  <a:cubicBezTo>
                    <a:pt x="582" y="940"/>
                    <a:pt x="594" y="928"/>
                    <a:pt x="610" y="928"/>
                  </a:cubicBezTo>
                  <a:cubicBezTo>
                    <a:pt x="625" y="928"/>
                    <a:pt x="638" y="940"/>
                    <a:pt x="638" y="956"/>
                  </a:cubicBezTo>
                  <a:close/>
                  <a:moveTo>
                    <a:pt x="550" y="969"/>
                  </a:moveTo>
                  <a:cubicBezTo>
                    <a:pt x="550" y="984"/>
                    <a:pt x="537" y="997"/>
                    <a:pt x="522" y="997"/>
                  </a:cubicBezTo>
                  <a:cubicBezTo>
                    <a:pt x="506" y="997"/>
                    <a:pt x="494" y="984"/>
                    <a:pt x="494" y="969"/>
                  </a:cubicBezTo>
                  <a:cubicBezTo>
                    <a:pt x="494" y="953"/>
                    <a:pt x="506" y="941"/>
                    <a:pt x="522" y="941"/>
                  </a:cubicBezTo>
                  <a:cubicBezTo>
                    <a:pt x="537" y="941"/>
                    <a:pt x="550" y="953"/>
                    <a:pt x="550" y="969"/>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74" y="944"/>
                  </a:moveTo>
                  <a:cubicBezTo>
                    <a:pt x="374" y="959"/>
                    <a:pt x="361" y="972"/>
                    <a:pt x="346" y="972"/>
                  </a:cubicBezTo>
                  <a:cubicBezTo>
                    <a:pt x="330" y="972"/>
                    <a:pt x="318" y="959"/>
                    <a:pt x="318" y="944"/>
                  </a:cubicBezTo>
                  <a:cubicBezTo>
                    <a:pt x="318" y="928"/>
                    <a:pt x="330" y="916"/>
                    <a:pt x="346" y="916"/>
                  </a:cubicBezTo>
                  <a:cubicBezTo>
                    <a:pt x="361" y="916"/>
                    <a:pt x="374" y="928"/>
                    <a:pt x="374" y="944"/>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58" y="790"/>
                  </a:moveTo>
                  <a:cubicBezTo>
                    <a:pt x="158" y="805"/>
                    <a:pt x="145" y="818"/>
                    <a:pt x="130" y="818"/>
                  </a:cubicBezTo>
                  <a:cubicBezTo>
                    <a:pt x="114" y="818"/>
                    <a:pt x="102" y="805"/>
                    <a:pt x="102" y="790"/>
                  </a:cubicBezTo>
                  <a:cubicBezTo>
                    <a:pt x="102" y="774"/>
                    <a:pt x="114" y="762"/>
                    <a:pt x="130" y="762"/>
                  </a:cubicBezTo>
                  <a:cubicBezTo>
                    <a:pt x="145" y="762"/>
                    <a:pt x="158" y="774"/>
                    <a:pt x="158" y="790"/>
                  </a:cubicBezTo>
                  <a:close/>
                  <a:moveTo>
                    <a:pt x="110" y="715"/>
                  </a:moveTo>
                  <a:cubicBezTo>
                    <a:pt x="110" y="730"/>
                    <a:pt x="97" y="743"/>
                    <a:pt x="82" y="743"/>
                  </a:cubicBezTo>
                  <a:cubicBezTo>
                    <a:pt x="66" y="743"/>
                    <a:pt x="54" y="730"/>
                    <a:pt x="54" y="715"/>
                  </a:cubicBezTo>
                  <a:cubicBezTo>
                    <a:pt x="54" y="699"/>
                    <a:pt x="66" y="687"/>
                    <a:pt x="82" y="687"/>
                  </a:cubicBezTo>
                  <a:cubicBezTo>
                    <a:pt x="97" y="687"/>
                    <a:pt x="110" y="699"/>
                    <a:pt x="110" y="71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0" y="544"/>
                  </a:moveTo>
                  <a:cubicBezTo>
                    <a:pt x="60" y="559"/>
                    <a:pt x="47" y="572"/>
                    <a:pt x="32" y="572"/>
                  </a:cubicBezTo>
                  <a:cubicBezTo>
                    <a:pt x="16" y="572"/>
                    <a:pt x="4" y="559"/>
                    <a:pt x="4" y="544"/>
                  </a:cubicBezTo>
                  <a:cubicBezTo>
                    <a:pt x="4" y="528"/>
                    <a:pt x="16" y="516"/>
                    <a:pt x="32" y="516"/>
                  </a:cubicBezTo>
                  <a:cubicBezTo>
                    <a:pt x="47" y="516"/>
                    <a:pt x="60" y="528"/>
                    <a:pt x="60" y="544"/>
                  </a:cubicBezTo>
                  <a:close/>
                  <a:moveTo>
                    <a:pt x="60" y="455"/>
                  </a:moveTo>
                  <a:cubicBezTo>
                    <a:pt x="60" y="470"/>
                    <a:pt x="47" y="483"/>
                    <a:pt x="32" y="483"/>
                  </a:cubicBezTo>
                  <a:cubicBezTo>
                    <a:pt x="16" y="483"/>
                    <a:pt x="4" y="470"/>
                    <a:pt x="4" y="455"/>
                  </a:cubicBezTo>
                  <a:cubicBezTo>
                    <a:pt x="4" y="439"/>
                    <a:pt x="16" y="427"/>
                    <a:pt x="32" y="427"/>
                  </a:cubicBezTo>
                  <a:cubicBezTo>
                    <a:pt x="47" y="427"/>
                    <a:pt x="60" y="439"/>
                    <a:pt x="60" y="455"/>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10" y="284"/>
                  </a:moveTo>
                  <a:cubicBezTo>
                    <a:pt x="110" y="299"/>
                    <a:pt x="97" y="312"/>
                    <a:pt x="82" y="312"/>
                  </a:cubicBezTo>
                  <a:cubicBezTo>
                    <a:pt x="66" y="312"/>
                    <a:pt x="54" y="299"/>
                    <a:pt x="54" y="284"/>
                  </a:cubicBezTo>
                  <a:cubicBezTo>
                    <a:pt x="54" y="268"/>
                    <a:pt x="66" y="256"/>
                    <a:pt x="82" y="256"/>
                  </a:cubicBezTo>
                  <a:cubicBezTo>
                    <a:pt x="97" y="256"/>
                    <a:pt x="110" y="268"/>
                    <a:pt x="110" y="284"/>
                  </a:cubicBezTo>
                  <a:close/>
                  <a:moveTo>
                    <a:pt x="158" y="209"/>
                  </a:moveTo>
                  <a:cubicBezTo>
                    <a:pt x="158" y="224"/>
                    <a:pt x="145" y="237"/>
                    <a:pt x="130" y="237"/>
                  </a:cubicBezTo>
                  <a:cubicBezTo>
                    <a:pt x="114" y="237"/>
                    <a:pt x="102" y="224"/>
                    <a:pt x="102" y="209"/>
                  </a:cubicBezTo>
                  <a:cubicBezTo>
                    <a:pt x="102" y="193"/>
                    <a:pt x="114" y="181"/>
                    <a:pt x="130" y="181"/>
                  </a:cubicBezTo>
                  <a:cubicBezTo>
                    <a:pt x="145" y="181"/>
                    <a:pt x="158" y="193"/>
                    <a:pt x="158" y="209"/>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374" y="55"/>
                  </a:moveTo>
                  <a:cubicBezTo>
                    <a:pt x="374" y="70"/>
                    <a:pt x="361" y="83"/>
                    <a:pt x="346" y="83"/>
                  </a:cubicBezTo>
                  <a:cubicBezTo>
                    <a:pt x="330" y="83"/>
                    <a:pt x="318" y="70"/>
                    <a:pt x="318" y="55"/>
                  </a:cubicBezTo>
                  <a:cubicBezTo>
                    <a:pt x="318" y="39"/>
                    <a:pt x="330" y="27"/>
                    <a:pt x="346" y="27"/>
                  </a:cubicBezTo>
                  <a:cubicBezTo>
                    <a:pt x="361" y="27"/>
                    <a:pt x="374" y="39"/>
                    <a:pt x="374" y="55"/>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50" y="30"/>
                  </a:moveTo>
                  <a:cubicBezTo>
                    <a:pt x="550" y="45"/>
                    <a:pt x="537" y="58"/>
                    <a:pt x="522" y="58"/>
                  </a:cubicBezTo>
                  <a:cubicBezTo>
                    <a:pt x="506" y="58"/>
                    <a:pt x="494" y="45"/>
                    <a:pt x="494" y="30"/>
                  </a:cubicBezTo>
                  <a:cubicBezTo>
                    <a:pt x="494" y="14"/>
                    <a:pt x="506" y="2"/>
                    <a:pt x="522" y="2"/>
                  </a:cubicBezTo>
                  <a:cubicBezTo>
                    <a:pt x="537" y="2"/>
                    <a:pt x="550" y="14"/>
                    <a:pt x="550" y="30"/>
                  </a:cubicBezTo>
                  <a:close/>
                  <a:moveTo>
                    <a:pt x="638" y="43"/>
                  </a:moveTo>
                  <a:cubicBezTo>
                    <a:pt x="638" y="58"/>
                    <a:pt x="625" y="71"/>
                    <a:pt x="610" y="71"/>
                  </a:cubicBezTo>
                  <a:cubicBezTo>
                    <a:pt x="594" y="71"/>
                    <a:pt x="582" y="58"/>
                    <a:pt x="582" y="43"/>
                  </a:cubicBezTo>
                  <a:cubicBezTo>
                    <a:pt x="582" y="27"/>
                    <a:pt x="594" y="15"/>
                    <a:pt x="610" y="15"/>
                  </a:cubicBezTo>
                  <a:cubicBezTo>
                    <a:pt x="625" y="15"/>
                    <a:pt x="638" y="27"/>
                    <a:pt x="638" y="43"/>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800" y="117"/>
                  </a:moveTo>
                  <a:cubicBezTo>
                    <a:pt x="800" y="132"/>
                    <a:pt x="787" y="145"/>
                    <a:pt x="772" y="145"/>
                  </a:cubicBezTo>
                  <a:cubicBezTo>
                    <a:pt x="756" y="145"/>
                    <a:pt x="744" y="132"/>
                    <a:pt x="744" y="117"/>
                  </a:cubicBezTo>
                  <a:cubicBezTo>
                    <a:pt x="744" y="101"/>
                    <a:pt x="756" y="89"/>
                    <a:pt x="772" y="89"/>
                  </a:cubicBezTo>
                  <a:cubicBezTo>
                    <a:pt x="787" y="89"/>
                    <a:pt x="800" y="101"/>
                    <a:pt x="800" y="117"/>
                  </a:cubicBezTo>
                  <a:close/>
                  <a:moveTo>
                    <a:pt x="868" y="175"/>
                  </a:moveTo>
                  <a:cubicBezTo>
                    <a:pt x="868" y="190"/>
                    <a:pt x="855" y="203"/>
                    <a:pt x="840" y="203"/>
                  </a:cubicBezTo>
                  <a:cubicBezTo>
                    <a:pt x="824" y="203"/>
                    <a:pt x="812" y="190"/>
                    <a:pt x="812" y="175"/>
                  </a:cubicBezTo>
                  <a:cubicBezTo>
                    <a:pt x="812" y="159"/>
                    <a:pt x="824" y="147"/>
                    <a:pt x="840" y="147"/>
                  </a:cubicBezTo>
                  <a:cubicBezTo>
                    <a:pt x="855" y="147"/>
                    <a:pt x="868" y="159"/>
                    <a:pt x="868" y="175"/>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64" y="325"/>
                  </a:moveTo>
                  <a:cubicBezTo>
                    <a:pt x="964" y="340"/>
                    <a:pt x="951" y="353"/>
                    <a:pt x="936" y="353"/>
                  </a:cubicBezTo>
                  <a:cubicBezTo>
                    <a:pt x="920" y="353"/>
                    <a:pt x="908" y="340"/>
                    <a:pt x="908" y="325"/>
                  </a:cubicBezTo>
                  <a:cubicBezTo>
                    <a:pt x="908" y="309"/>
                    <a:pt x="920" y="297"/>
                    <a:pt x="936" y="297"/>
                  </a:cubicBezTo>
                  <a:cubicBezTo>
                    <a:pt x="951" y="297"/>
                    <a:pt x="964" y="309"/>
                    <a:pt x="964" y="325"/>
                  </a:cubicBezTo>
                  <a:close/>
                  <a:moveTo>
                    <a:pt x="989" y="411"/>
                  </a:moveTo>
                  <a:cubicBezTo>
                    <a:pt x="989" y="426"/>
                    <a:pt x="976" y="439"/>
                    <a:pt x="961" y="439"/>
                  </a:cubicBezTo>
                  <a:cubicBezTo>
                    <a:pt x="945" y="439"/>
                    <a:pt x="933" y="426"/>
                    <a:pt x="933" y="411"/>
                  </a:cubicBezTo>
                  <a:cubicBezTo>
                    <a:pt x="933" y="395"/>
                    <a:pt x="945" y="383"/>
                    <a:pt x="961" y="383"/>
                  </a:cubicBezTo>
                  <a:cubicBezTo>
                    <a:pt x="976" y="383"/>
                    <a:pt x="989" y="395"/>
                    <a:pt x="989" y="411"/>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1" name="Forma 52"/>
            <p:cNvSpPr/>
            <p:nvPr/>
          </p:nvSpPr>
          <p:spPr>
            <a:xfrm>
              <a:off x="9509760" y="1417320"/>
              <a:ext cx="685800" cy="685800"/>
            </a:xfrm>
            <a:custGeom>
              <a:avLst/>
              <a:gdLst/>
              <a:ahLst/>
              <a:cxnLst/>
              <a:rect l="0" t="0" r="r" b="b"/>
              <a:pathLst>
                <a:path w="1000" h="1000" fill="none">
                  <a:moveTo>
                    <a:pt x="750" y="66"/>
                  </a:moveTo>
                  <a:cubicBezTo>
                    <a:pt x="759" y="72"/>
                    <a:pt x="786" y="89"/>
                    <a:pt x="804" y="103"/>
                  </a:cubicBezTo>
                  <a:cubicBezTo>
                    <a:pt x="821" y="116"/>
                    <a:pt x="837" y="130"/>
                    <a:pt x="853" y="146"/>
                  </a:cubicBezTo>
                  <a:cubicBezTo>
                    <a:pt x="868" y="161"/>
                    <a:pt x="882" y="177"/>
                    <a:pt x="896" y="195"/>
                  </a:cubicBezTo>
                  <a:cubicBezTo>
                    <a:pt x="909" y="212"/>
                    <a:pt x="922" y="230"/>
                    <a:pt x="933" y="249"/>
                  </a:cubicBezTo>
                  <a:cubicBezTo>
                    <a:pt x="943" y="267"/>
                    <a:pt x="952" y="287"/>
                    <a:pt x="961" y="308"/>
                  </a:cubicBezTo>
                  <a:cubicBezTo>
                    <a:pt x="969" y="328"/>
                    <a:pt x="976" y="349"/>
                    <a:pt x="982" y="370"/>
                  </a:cubicBezTo>
                  <a:cubicBezTo>
                    <a:pt x="987" y="391"/>
                    <a:pt x="992" y="412"/>
                    <a:pt x="995" y="434"/>
                  </a:cubicBezTo>
                  <a:cubicBezTo>
                    <a:pt x="998" y="455"/>
                    <a:pt x="999" y="488"/>
                    <a:pt x="1000" y="499"/>
                  </a:cubicBezTo>
                </a:path>
              </a:pathLst>
            </a:custGeom>
            <a:noFill/>
            <a:ln w="50800" cap="rnd">
              <a:solidFill>
                <a:srgbClr val="8E44AD"/>
              </a:solidFill>
              <a:round/>
            </a:ln>
          </p:spPr>
        </p:sp>
        <p:sp>
          <p:nvSpPr>
            <p:cNvPr id="52" name="Forma 53"/>
            <p:cNvSpPr txBox="1"/>
            <p:nvPr/>
          </p:nvSpPr>
          <p:spPr>
            <a:xfrm>
              <a:off x="9509760" y="1623060"/>
              <a:ext cx="685800"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REM</a:t>
              </a:r>
              <a:endParaRPr lang="es-AR" sz="1200" dirty="0">
                <a:latin typeface="Bahnschrift SemiBold Condensed"/>
              </a:endParaRPr>
            </a:p>
          </p:txBody>
        </p:sp>
      </p:grpSp>
      <p:grpSp>
        <p:nvGrpSpPr>
          <p:cNvPr id="53" name="Hígado"/>
          <p:cNvGrpSpPr/>
          <p:nvPr/>
        </p:nvGrpSpPr>
        <p:grpSpPr>
          <a:xfrm>
            <a:off x="9144000" y="3063240"/>
            <a:ext cx="2651760" cy="1874264"/>
            <a:chOff x="9144000" y="3063240"/>
            <a:chExt cx="2651760" cy="1874264"/>
          </a:xfrm>
        </p:grpSpPr>
        <p:sp>
          <p:nvSpPr>
            <p:cNvPr id="54" name="Vesícula biliar"/>
            <p:cNvSpPr/>
            <p:nvPr/>
          </p:nvSpPr>
          <p:spPr>
            <a:xfrm>
              <a:off x="9859975" y="4345631"/>
              <a:ext cx="344729" cy="59187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55" name="Forma 56"/>
            <p:cNvSpPr/>
            <p:nvPr/>
          </p:nvSpPr>
          <p:spPr>
            <a:xfrm>
              <a:off x="9144000" y="3063240"/>
              <a:ext cx="2651760" cy="164409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56" name="Forma 57"/>
            <p:cNvSpPr/>
            <p:nvPr/>
          </p:nvSpPr>
          <p:spPr>
            <a:xfrm>
              <a:off x="9144000" y="3063240"/>
              <a:ext cx="2651760" cy="164409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57" name="Forma 58"/>
            <p:cNvSpPr/>
            <p:nvPr/>
          </p:nvSpPr>
          <p:spPr>
            <a:xfrm>
              <a:off x="9144000" y="3063240"/>
              <a:ext cx="2651760" cy="164409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58" name="Forma 59"/>
          <p:cNvSpPr txBox="1"/>
          <p:nvPr/>
        </p:nvSpPr>
        <p:spPr>
          <a:xfrm>
            <a:off x="9052560" y="4937760"/>
            <a:ext cx="2834640" cy="36576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6E2C00"/>
                </a:solidFill>
                <a:latin typeface="Bahnschrift SemiBold Condensed"/>
                <a:ea typeface="Bahnschrift SemiBold Condensed"/>
                <a:cs typeface="Bahnschrift SemiBold Condensed"/>
                <a:sym typeface="Bahnschrift SemiBold Condensed"/>
              </a:rPr>
              <a:t>Remanentes captados vía </a:t>
            </a:r>
            <a:r>
              <a:rPr lang="es-AR" sz="1300" b="1" dirty="0">
                <a:solidFill>
                  <a:srgbClr val="6E2C00"/>
                </a:solidFill>
                <a:latin typeface="Bahnschrift SemiBold Condensed"/>
                <a:ea typeface="Bahnschrift SemiBold Condensed"/>
                <a:cs typeface="Bahnschrift SemiBold Condensed"/>
                <a:sym typeface="Bahnschrift SemiBold Condensed"/>
              </a:rPr>
              <a:t>ApoE</a:t>
            </a:r>
            <a:endParaRPr lang="es-AR" sz="1300" dirty="0">
              <a:latin typeface="Bahnschrift SemiBold Condensed"/>
            </a:endParaRPr>
          </a:p>
        </p:txBody>
      </p:sp>
      <p:sp>
        <p:nvSpPr>
          <p:cNvPr id="59" name="Forma 60"/>
          <p:cNvSpPr/>
          <p:nvPr/>
        </p:nvSpPr>
        <p:spPr>
          <a:xfrm>
            <a:off x="365760" y="5349240"/>
            <a:ext cx="8503920" cy="1143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Los AG </a:t>
            </a:r>
            <a:r>
              <a:rPr lang="es-AR" sz="1600" b="1" dirty="0">
                <a:solidFill>
                  <a:srgbClr val="1E1E1E"/>
                </a:solidFill>
                <a:latin typeface="Bahnschrift"/>
                <a:ea typeface="Bahnschrift"/>
                <a:cs typeface="Bahnschrift"/>
                <a:sym typeface="Bahnschrift"/>
              </a:rPr>
              <a:t>no son producidos</a:t>
            </a:r>
            <a:r>
              <a:rPr lang="es-AR" sz="1600" dirty="0">
                <a:solidFill>
                  <a:srgbClr val="1E1E1E"/>
                </a:solidFill>
                <a:latin typeface="Bahnschrift"/>
                <a:ea typeface="Bahnschrift"/>
                <a:cs typeface="Bahnschrift"/>
                <a:sym typeface="Bahnschrift"/>
              </a:rPr>
              <a:t> por el quilomicrón: se </a:t>
            </a:r>
            <a:r>
              <a:rPr lang="es-AR" sz="1600" b="1" dirty="0">
                <a:solidFill>
                  <a:srgbClr val="1E1E1E"/>
                </a:solidFill>
                <a:latin typeface="Bahnschrift"/>
                <a:ea typeface="Bahnschrift"/>
                <a:cs typeface="Bahnschrift"/>
                <a:sym typeface="Bahnschrift"/>
              </a:rPr>
              <a:t>liberan de los TAG</a:t>
            </a:r>
            <a:r>
              <a:rPr lang="es-AR" sz="1600" dirty="0">
                <a:solidFill>
                  <a:srgbClr val="1E1E1E"/>
                </a:solidFill>
                <a:latin typeface="Bahnschrift"/>
                <a:ea typeface="Bahnschrift"/>
                <a:cs typeface="Bahnschrift"/>
                <a:sym typeface="Bahnschrift"/>
              </a:rPr>
              <a:t> que transporta. La insulina favorece el direccionamiento posprandial de la grasa hacia el adiposo (según lecho vascular y estado metabólico).</a:t>
            </a:r>
            <a:endParaRPr lang="es-AR" sz="16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66959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QUILOMICRONES EN CIRCULACIÓN: LPL Y REMANENTES</a:t>
            </a:r>
            <a:endParaRPr lang="es-AR" sz="2600" dirty="0">
              <a:latin typeface="Bahnschrift SemiBold Condensed"/>
            </a:endParaRPr>
          </a:p>
        </p:txBody>
      </p:sp>
      <p:sp>
        <p:nvSpPr>
          <p:cNvPr id="6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7"/>
                                        </p:tgtEl>
                                        <p:attrNameLst>
                                          <p:attrName>style.visibility</p:attrName>
                                        </p:attrNameLst>
                                      </p:cBhvr>
                                      <p:to>
                                        <p:strVal val="visible"/>
                                      </p:to>
                                    </p:set>
                                    <p:animEffect transition="in" filter="fade">
                                      <p:cBhvr>
                                        <p:cTn id="5" dur="500"/>
                                        <p:tgtEl>
                                          <p:spTgt spid="17"/>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22"/>
                                        </p:tgtEl>
                                        <p:attrNameLst>
                                          <p:attrName>style.visibility</p:attrName>
                                        </p:attrNameLst>
                                      </p:cBhvr>
                                      <p:to>
                                        <p:strVal val="visible"/>
                                      </p:to>
                                    </p:set>
                                    <p:animEffect transition="in" filter="fade">
                                      <p:cBhvr>
                                        <p:cTn id="9" dur="500"/>
                                        <p:tgtEl>
                                          <p:spTgt spid="22"/>
                                        </p:tgtEl>
                                      </p:cBhvr>
                                    </p:animEffect>
                                  </p:childTnLst>
                                </p:cTn>
                              </p:par>
                            </p:childTnLst>
                          </p:cTn>
                        </p:par>
                        <p:par>
                          <p:cTn id="13" fill="hold">
                            <p:stCondLst>
                              <p:cond delay="1000"/>
                            </p:stCondLst>
                            <p:childTnLst>
                              <p:par>
                                <p:cTn id="11" presetID="0" presetClass="path" presetSubtype="0" accel="20000" decel="20000" fill="hold" grpId="0" nodeType="afterEffect">
                                  <p:stCondLst>
                                    <p:cond delay="0"/>
                                  </p:stCondLst>
                                  <p:childTnLst>
                                    <p:animMotion origin="layout" path="M 0 0 L -0.1125 -0.2600 E" pathEditMode="relative" ptsTypes="">
                                      <p:cBhvr>
                                        <p:cTn id="12" dur="1300" fill="hold"/>
                                        <p:tgtEl>
                                          <p:spTgt spid="22"/>
                                        </p:tgtEl>
                                        <p:attrNameLst>
                                          <p:attrName>ppt_x</p:attrName>
                                          <p:attrName>ppt_y</p:attrName>
                                        </p:attrNameLst>
                                      </p:cBhvr>
                                      <p:rCtr x="-5625" y="-13000"/>
                                    </p:animMotion>
                                  </p:childTnLst>
                                </p:cTn>
                              </p:par>
                            </p:childTnLst>
                          </p:cTn>
                        </p:par>
                      </p:childTnLst>
                    </p:cTn>
                  </p:par>
                  <p:par>
                    <p:cTn id="22" fill="hold">
                      <p:stCondLst>
                        <p:cond delay="indefinite"/>
                      </p:stCondLst>
                      <p:childTnLst>
                        <p:par>
                          <p:cTn id="17" fill="hold">
                            <p:stCondLst>
                              <p:cond delay="0"/>
                            </p:stCondLst>
                            <p:childTnLst>
                              <p:par>
                                <p:cTn id="15" presetID="0" presetClass="path" presetSubtype="0" accel="20000" decel="20000" fill="hold" grpId="0" nodeType="clickEffect">
                                  <p:stCondLst>
                                    <p:cond delay="0"/>
                                  </p:stCondLst>
                                  <p:childTnLst>
                                    <p:animMotion origin="layout" path="M 0 0 L 0.3000 0.0000 E" pathEditMode="relative" ptsTypes="">
                                      <p:cBhvr>
                                        <p:cTn id="16" dur="1800" fill="hold"/>
                                        <p:tgtEl>
                                          <p:spTgt spid="12"/>
                                        </p:tgtEl>
                                        <p:attrNameLst>
                                          <p:attrName>ppt_x</p:attrName>
                                          <p:attrName>ppt_y</p:attrName>
                                        </p:attrNameLst>
                                      </p:cBhvr>
                                      <p:rCtr x="15000" y="0"/>
                                    </p:animMotion>
                                  </p:childTnLst>
                                </p:cTn>
                              </p:par>
                            </p:childTnLst>
                          </p:cTn>
                        </p:par>
                        <p:par>
                          <p:cTn id="21" fill="hold">
                            <p:stCondLst>
                              <p:cond delay="1800"/>
                            </p:stCondLst>
                            <p:childTnLst>
                              <p:par>
                                <p:cTn id="18" presetID="10" presetClass="entr" presetSubtype="0" fill="hold" grpId="0" nodeType="after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500"/>
                                        <p:tgtEl>
                                          <p:spTgt spid="23"/>
                                        </p:tgtEl>
                                      </p:cBhvr>
                                    </p:animEffect>
                                  </p:childTnLst>
                                </p:cTn>
                              </p:par>
                            </p:childTnLst>
                          </p:cTn>
                        </p:par>
                      </p:childTnLst>
                    </p:cTn>
                  </p:par>
                  <p:par>
                    <p:cTn id="37" fill="hold">
                      <p:stCondLst>
                        <p:cond delay="indefinite"/>
                      </p:stCondLst>
                      <p:childTnLst>
                        <p:par>
                          <p:cTn id="29"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500"/>
                                        <p:tgtEl>
                                          <p:spTgt spid="27"/>
                                        </p:tgtEl>
                                      </p:cBhvr>
                                    </p:animEffect>
                                  </p:childTnLst>
                                </p:cTn>
                              </p:par>
                            </p:childTnLst>
                          </p:cTn>
                        </p:par>
                        <p:par>
                          <p:cTn id="36" fill="hold">
                            <p:stCondLst>
                              <p:cond delay="500"/>
                            </p:stCondLst>
                            <p:childTnLst>
                              <p:par>
                                <p:cTn id="30" presetID="22" presetClass="entr" presetSubtype="8" fill="hold" grpId="0" nodeType="after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wipe(left)">
                                      <p:cBhvr>
                                        <p:cTn id="32" dur="600"/>
                                        <p:tgtEl>
                                          <p:spTgt spid="3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childTnLst>
                    </p:cTn>
                  </p:par>
                  <p:par>
                    <p:cTn id="49" fill="hold">
                      <p:stCondLst>
                        <p:cond delay="indefinite"/>
                      </p:stCondLst>
                      <p:childTnLst>
                        <p:par>
                          <p:cTn id="45" fill="hold">
                            <p:stCondLst>
                              <p:cond delay="0"/>
                            </p:stCondLst>
                            <p:childTnLst>
                              <p:par>
                                <p:cTn id="38" presetID="0" presetClass="path" presetSubtype="0" accel="20000" decel="20000" fill="hold" grpId="0" nodeType="clickEffect">
                                  <p:stCondLst>
                                    <p:cond delay="0"/>
                                  </p:stCondLst>
                                  <p:childTnLst>
                                    <p:animMotion origin="layout" path="M 0 0 L -0.0375 0.1867 E" pathEditMode="relative" ptsTypes="">
                                      <p:cBhvr>
                                        <p:cTn id="39" dur="1200" fill="hold"/>
                                        <p:tgtEl>
                                          <p:spTgt spid="24"/>
                                        </p:tgtEl>
                                        <p:attrNameLst>
                                          <p:attrName>ppt_x</p:attrName>
                                          <p:attrName>ppt_y</p:attrName>
                                        </p:attrNameLst>
                                      </p:cBhvr>
                                      <p:rCtr x="-1875" y="9333"/>
                                    </p:animMotion>
                                  </p:childTnLst>
                                </p:cTn>
                              </p:par>
                              <p:par>
                                <p:cTn id="40" presetID="0" presetClass="path" presetSubtype="0" accel="20000" decel="20000" fill="hold" grpId="0" nodeType="withEffect">
                                  <p:stCondLst>
                                    <p:cond delay="0"/>
                                  </p:stCondLst>
                                  <p:childTnLst>
                                    <p:animMotion origin="layout" path="M 0 0 L 0.1500 0.1867 E" pathEditMode="relative" ptsTypes="">
                                      <p:cBhvr>
                                        <p:cTn id="41" dur="1300" fill="hold"/>
                                        <p:tgtEl>
                                          <p:spTgt spid="27"/>
                                        </p:tgtEl>
                                        <p:attrNameLst>
                                          <p:attrName>ppt_x</p:attrName>
                                          <p:attrName>ppt_y</p:attrName>
                                        </p:attrNameLst>
                                      </p:cBhvr>
                                      <p:rCtr x="7500" y="9333"/>
                                    </p:animMotion>
                                  </p:childTnLst>
                                </p:cTn>
                              </p:par>
                              <p:par>
                                <p:cTn id="42" presetID="10" presetClass="entr" presetSubtype="0" fill="hold" grpId="0" nodeType="with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fade">
                                      <p:cBhvr>
                                        <p:cTn id="44" dur="500"/>
                                        <p:tgtEl>
                                          <p:spTgt spid="30"/>
                                        </p:tgtEl>
                                      </p:cBhvr>
                                    </p:animEffect>
                                  </p:childTnLst>
                                </p:cTn>
                              </p:par>
                            </p:childTnLst>
                          </p:cTn>
                        </p:par>
                        <p:par>
                          <p:cTn id="48" fill="hold">
                            <p:stCondLst>
                              <p:cond delay="1300"/>
                            </p:stCondLst>
                            <p:childTnLst>
                              <p:par>
                                <p:cTn id="46" presetID="0" presetClass="path" presetSubtype="0" accel="20000" decel="20000" fill="hold" grpId="0" nodeType="afterEffect">
                                  <p:stCondLst>
                                    <p:cond delay="0"/>
                                  </p:stCondLst>
                                  <p:childTnLst>
                                    <p:animMotion origin="layout" path="M 0 0 L 0.2550 0.2000 E" pathEditMode="relative" ptsTypes="">
                                      <p:cBhvr>
                                        <p:cTn id="47" dur="1500" fill="hold"/>
                                        <p:tgtEl>
                                          <p:spTgt spid="30"/>
                                        </p:tgtEl>
                                        <p:attrNameLst>
                                          <p:attrName>ppt_x</p:attrName>
                                          <p:attrName>ppt_y</p:attrName>
                                        </p:attrNameLst>
                                      </p:cBhvr>
                                      <p:rCtr x="12750" y="10000"/>
                                    </p:animMotion>
                                  </p:childTnLst>
                                </p:cTn>
                              </p:par>
                            </p:childTnLst>
                          </p:cTn>
                        </p:par>
                      </p:childTnLst>
                    </p:cTn>
                  </p:par>
                  <p:par>
                    <p:cTn id="63" fill="hold">
                      <p:stCondLst>
                        <p:cond delay="indefinite"/>
                      </p:stCondLst>
                      <p:childTnLst>
                        <p:par>
                          <p:cTn id="52" fill="hold">
                            <p:stCondLst>
                              <p:cond delay="0"/>
                            </p:stCondLst>
                            <p:childTnLst>
                              <p:par>
                                <p:cTn id="50" presetID="0" presetClass="path" presetSubtype="0" accel="20000" decel="20000" fill="hold" grpId="0" nodeType="clickEffect">
                                  <p:stCondLst>
                                    <p:cond delay="0"/>
                                  </p:stCondLst>
                                  <p:childTnLst>
                                    <p:animMotion origin="layout" path="M 0 0 L 0.3675 0.0000 E" pathEditMode="relative" ptsTypes="">
                                      <p:cBhvr>
                                        <p:cTn id="51" dur="1600" fill="hold"/>
                                        <p:tgtEl>
                                          <p:spTgt spid="12"/>
                                        </p:tgtEl>
                                        <p:attrNameLst>
                                          <p:attrName>ppt_x</p:attrName>
                                          <p:attrName>ppt_y</p:attrName>
                                        </p:attrNameLst>
                                      </p:cBhvr>
                                      <p:rCtr x="18375" y="0"/>
                                    </p:animMotion>
                                  </p:childTnLst>
                                </p:cTn>
                              </p:par>
                            </p:childTnLst>
                          </p:cTn>
                        </p:par>
                        <p:par>
                          <p:cTn id="56" fill="hold">
                            <p:stCondLst>
                              <p:cond delay="1600"/>
                            </p:stCondLst>
                            <p:childTnLst>
                              <p:par>
                                <p:cTn id="53" presetID="10" presetClass="entr" presetSubtype="0" fill="hold" grpId="0" nodeType="after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fade">
                                      <p:cBhvr>
                                        <p:cTn id="55" dur="500"/>
                                        <p:tgtEl>
                                          <p:spTgt spid="48"/>
                                        </p:tgtEl>
                                      </p:cBhvr>
                                    </p:animEffect>
                                  </p:childTnLst>
                                </p:cTn>
                              </p:par>
                            </p:childTnLst>
                          </p:cTn>
                        </p:par>
                        <p:par>
                          <p:cTn id="62" fill="hold">
                            <p:stCondLst>
                              <p:cond delay="2100"/>
                            </p:stCondLst>
                            <p:childTnLst>
                              <p:par>
                                <p:cTn id="57" presetID="0" presetClass="path" presetSubtype="0" accel="20000" decel="20000" fill="hold" grpId="0" nodeType="afterEffect">
                                  <p:stCondLst>
                                    <p:cond delay="0"/>
                                  </p:stCondLst>
                                  <p:childTnLst>
                                    <p:animMotion origin="layout" path="M 0 0 L 0.0450 0.2133 E" pathEditMode="relative" ptsTypes="">
                                      <p:cBhvr>
                                        <p:cTn id="58" dur="1200" fill="hold"/>
                                        <p:tgtEl>
                                          <p:spTgt spid="48"/>
                                        </p:tgtEl>
                                        <p:attrNameLst>
                                          <p:attrName>ppt_x</p:attrName>
                                          <p:attrName>ppt_y</p:attrName>
                                        </p:attrNameLst>
                                      </p:cBhvr>
                                      <p:rCtr x="2250" y="10666"/>
                                    </p:animMotion>
                                  </p:childTnLst>
                                </p:cTn>
                              </p:par>
                              <p:par>
                                <p:cTn id="59" presetID="10" presetClass="entr" presetSubtype="0" fill="hold" grpId="0" nodeType="with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500"/>
                                        <p:tgtEl>
                                          <p:spTgt spid="53"/>
                                        </p:tgtEl>
                                      </p:cBhvr>
                                    </p:animEffect>
                                  </p:childTnLst>
                                </p:cTn>
                              </p:par>
                            </p:childTnLst>
                          </p:cTn>
                        </p:par>
                      </p:childTnLst>
                    </p:cTn>
                  </p:par>
                  <p:par>
                    <p:cTn id="68" fill="hold">
                      <p:stCondLst>
                        <p:cond delay="indefinite"/>
                      </p:stCondLst>
                      <p:childTnLst>
                        <p:par>
                          <p:cTn id="67"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59"/>
                                        </p:tgtEl>
                                        <p:attrNameLst>
                                          <p:attrName>style.visibility</p:attrName>
                                        </p:attrNameLst>
                                      </p:cBhvr>
                                      <p:to>
                                        <p:strVal val="visible"/>
                                      </p:to>
                                    </p:set>
                                    <p:animEffect transition="in" filter="fade">
                                      <p:cBhvr>
                                        <p:cTn id="66"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30" grpId="0" animBg="1"/>
      <p:bldP spid="59" grpId="0" animBg="1"/>
    </p:bldLst>
  </p:timing>
</p:sld>
</file>

<file path=ppt/slides/slide1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Intestino"/>
          <p:cNvGrpSpPr/>
          <p:nvPr/>
        </p:nvGrpSpPr>
        <p:grpSpPr>
          <a:xfrm>
            <a:off x="365760" y="1097280"/>
            <a:ext cx="1828800" cy="1554480"/>
            <a:chOff x="365760" y="1097280"/>
            <a:chExt cx="1828800" cy="1554480"/>
          </a:xfrm>
        </p:grpSpPr>
        <p:sp>
          <p:nvSpPr>
            <p:cNvPr id="5" name="Forma 4"/>
            <p:cNvSpPr/>
            <p:nvPr/>
          </p:nvSpPr>
          <p:spPr>
            <a:xfrm>
              <a:off x="365760" y="1097280"/>
              <a:ext cx="1828800" cy="155448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 name="Forma 5"/>
            <p:cNvSpPr/>
            <p:nvPr/>
          </p:nvSpPr>
          <p:spPr>
            <a:xfrm>
              <a:off x="365760" y="1097280"/>
              <a:ext cx="1828800" cy="155448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7" name="Forma 6"/>
            <p:cNvSpPr/>
            <p:nvPr/>
          </p:nvSpPr>
          <p:spPr>
            <a:xfrm>
              <a:off x="365760" y="10972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8" name="Forma 7"/>
            <p:cNvSpPr/>
            <p:nvPr/>
          </p:nvSpPr>
          <p:spPr>
            <a:xfrm>
              <a:off x="365760" y="10972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9" name="Forma 8"/>
            <p:cNvSpPr/>
            <p:nvPr/>
          </p:nvSpPr>
          <p:spPr>
            <a:xfrm>
              <a:off x="365760" y="1097280"/>
              <a:ext cx="1828800" cy="155448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0" name="Hígado"/>
          <p:cNvGrpSpPr/>
          <p:nvPr/>
        </p:nvGrpSpPr>
        <p:grpSpPr>
          <a:xfrm>
            <a:off x="2743200" y="960120"/>
            <a:ext cx="2743200" cy="1938894"/>
            <a:chOff x="2743200" y="960120"/>
            <a:chExt cx="2743200" cy="1938894"/>
          </a:xfrm>
        </p:grpSpPr>
        <p:sp>
          <p:nvSpPr>
            <p:cNvPr id="11" name="Vesícula biliar"/>
            <p:cNvSpPr/>
            <p:nvPr/>
          </p:nvSpPr>
          <p:spPr>
            <a:xfrm>
              <a:off x="3483864" y="228673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2743200" y="96012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2743200" y="96012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2743200" y="96012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5" name="Músculo"/>
          <p:cNvGrpSpPr/>
          <p:nvPr/>
        </p:nvGrpSpPr>
        <p:grpSpPr>
          <a:xfrm>
            <a:off x="365760" y="4206240"/>
            <a:ext cx="2926080" cy="959754"/>
            <a:chOff x="365760" y="4206240"/>
            <a:chExt cx="2926080" cy="959754"/>
          </a:xfrm>
        </p:grpSpPr>
        <p:grpSp>
          <p:nvGrpSpPr>
            <p:cNvPr id="16" name="Fibra"/>
            <p:cNvGrpSpPr/>
            <p:nvPr/>
          </p:nvGrpSpPr>
          <p:grpSpPr>
            <a:xfrm>
              <a:off x="365760" y="4206240"/>
              <a:ext cx="2809037" cy="468173"/>
              <a:chOff x="365760" y="4206240"/>
              <a:chExt cx="2809037" cy="468173"/>
            </a:xfrm>
          </p:grpSpPr>
          <p:sp>
            <p:nvSpPr>
              <p:cNvPr id="17" name="Forma 16"/>
              <p:cNvSpPr/>
              <p:nvPr/>
            </p:nvSpPr>
            <p:spPr>
              <a:xfrm>
                <a:off x="365760" y="4206240"/>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8" name="Forma 17"/>
              <p:cNvSpPr/>
              <p:nvPr/>
            </p:nvSpPr>
            <p:spPr>
              <a:xfrm>
                <a:off x="482803" y="4206240"/>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19" name="Forma 18"/>
              <p:cNvSpPr/>
              <p:nvPr/>
            </p:nvSpPr>
            <p:spPr>
              <a:xfrm>
                <a:off x="927567" y="42249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19"/>
              <p:cNvSpPr/>
              <p:nvPr/>
            </p:nvSpPr>
            <p:spPr>
              <a:xfrm>
                <a:off x="1910730" y="42249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0"/>
              <p:cNvSpPr/>
              <p:nvPr/>
            </p:nvSpPr>
            <p:spPr>
              <a:xfrm>
                <a:off x="2753441" y="42249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2" name="Forma 21"/>
              <p:cNvSpPr/>
              <p:nvPr/>
            </p:nvSpPr>
            <p:spPr>
              <a:xfrm>
                <a:off x="2978164" y="4224967"/>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3" name="Fibra_2"/>
            <p:cNvGrpSpPr/>
            <p:nvPr/>
          </p:nvGrpSpPr>
          <p:grpSpPr>
            <a:xfrm>
              <a:off x="482803" y="4697821"/>
              <a:ext cx="2809037" cy="468173"/>
              <a:chOff x="482803" y="4697821"/>
              <a:chExt cx="2809037" cy="468173"/>
            </a:xfrm>
          </p:grpSpPr>
          <p:sp>
            <p:nvSpPr>
              <p:cNvPr id="24" name="Forma 23"/>
              <p:cNvSpPr/>
              <p:nvPr/>
            </p:nvSpPr>
            <p:spPr>
              <a:xfrm>
                <a:off x="482803" y="4697821"/>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5" name="Forma 24"/>
              <p:cNvSpPr/>
              <p:nvPr/>
            </p:nvSpPr>
            <p:spPr>
              <a:xfrm>
                <a:off x="599846" y="4697821"/>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26" name="Forma 25"/>
              <p:cNvSpPr/>
              <p:nvPr/>
            </p:nvSpPr>
            <p:spPr>
              <a:xfrm>
                <a:off x="1044611" y="47165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6"/>
              <p:cNvSpPr/>
              <p:nvPr/>
            </p:nvSpPr>
            <p:spPr>
              <a:xfrm>
                <a:off x="2027773" y="47165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2870484" y="47165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3095207" y="4716548"/>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30" name="Flecha Porta"/>
          <p:cNvGrpSpPr/>
          <p:nvPr/>
        </p:nvGrpSpPr>
        <p:grpSpPr>
          <a:xfrm>
            <a:off x="2103120" y="1673352"/>
            <a:ext cx="822960" cy="429768"/>
            <a:chOff x="2103120" y="1673352"/>
            <a:chExt cx="822960" cy="429768"/>
          </a:xfrm>
        </p:grpSpPr>
        <p:sp>
          <p:nvSpPr>
            <p:cNvPr id="31" name="Flecha 30_2"/>
            <p:cNvSpPr/>
            <p:nvPr/>
          </p:nvSpPr>
          <p:spPr>
            <a:xfrm>
              <a:off x="2103120" y="1828800"/>
              <a:ext cx="822960" cy="274320"/>
            </a:xfrm>
            <a:custGeom>
              <a:avLst/>
              <a:gdLst/>
              <a:ahLst/>
              <a:cxnLst/>
              <a:rect l="0" t="0" r="r" b="b"/>
              <a:pathLst>
                <a:path w="900" h="299" fill="none">
                  <a:moveTo>
                    <a:pt x="0" y="299"/>
                  </a:moveTo>
                  <a:lnTo>
                    <a:pt x="900" y="0"/>
                  </a:lnTo>
                </a:path>
              </a:pathLst>
            </a:custGeom>
            <a:noFill/>
            <a:ln w="44450" cap="rnd">
              <a:solidFill>
                <a:srgbClr val="2563B0"/>
              </a:solidFill>
              <a:round/>
              <a:tailEnd type="triangle" w="med" len="med"/>
            </a:ln>
          </p:spPr>
        </p:sp>
        <p:sp>
          <p:nvSpPr>
            <p:cNvPr id="32" name="Forma 32"/>
            <p:cNvSpPr txBox="1"/>
            <p:nvPr/>
          </p:nvSpPr>
          <p:spPr>
            <a:xfrm>
              <a:off x="2103120" y="1673352"/>
              <a:ext cx="82296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Porta</a:t>
              </a:r>
              <a:endParaRPr lang="es-AR" sz="1200" dirty="0">
                <a:latin typeface="Bahnschrift SemiBold Condensed"/>
              </a:endParaRPr>
            </a:p>
          </p:txBody>
        </p:sp>
      </p:grpSp>
      <p:grpSp>
        <p:nvGrpSpPr>
          <p:cNvPr id="33" name="Flecha AA restantes"/>
          <p:cNvGrpSpPr/>
          <p:nvPr/>
        </p:nvGrpSpPr>
        <p:grpSpPr>
          <a:xfrm>
            <a:off x="2331720" y="2743200"/>
            <a:ext cx="1371600" cy="1371600"/>
            <a:chOff x="2331720" y="2743200"/>
            <a:chExt cx="1371600" cy="1371600"/>
          </a:xfrm>
        </p:grpSpPr>
        <p:sp>
          <p:nvSpPr>
            <p:cNvPr id="34" name="Flecha 34_2"/>
            <p:cNvSpPr/>
            <p:nvPr/>
          </p:nvSpPr>
          <p:spPr>
            <a:xfrm>
              <a:off x="2377440" y="2743200"/>
              <a:ext cx="1280160" cy="1371600"/>
            </a:xfrm>
            <a:custGeom>
              <a:avLst/>
              <a:gdLst/>
              <a:ahLst/>
              <a:cxnLst/>
              <a:rect l="0" t="0" r="r" b="b"/>
              <a:pathLst>
                <a:path w="1400" h="1500" fill="none">
                  <a:moveTo>
                    <a:pt x="1400" y="0"/>
                  </a:moveTo>
                  <a:lnTo>
                    <a:pt x="0" y="1500"/>
                  </a:lnTo>
                </a:path>
              </a:pathLst>
            </a:custGeom>
            <a:noFill/>
            <a:ln w="44450" cap="rnd">
              <a:solidFill>
                <a:srgbClr val="2563B0"/>
              </a:solidFill>
              <a:round/>
              <a:tailEnd type="triangle" w="med" len="med"/>
            </a:ln>
          </p:spPr>
        </p:sp>
        <p:sp>
          <p:nvSpPr>
            <p:cNvPr id="35" name="Forma 36"/>
            <p:cNvSpPr txBox="1"/>
            <p:nvPr/>
          </p:nvSpPr>
          <p:spPr>
            <a:xfrm>
              <a:off x="2331720" y="3136392"/>
              <a:ext cx="137160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AA restantes</a:t>
              </a:r>
              <a:endParaRPr lang="es-AR" sz="1200" dirty="0">
                <a:latin typeface="Bahnschrift SemiBold Condensed"/>
              </a:endParaRPr>
            </a:p>
          </p:txBody>
        </p:sp>
      </p:grpSp>
      <p:grpSp>
        <p:nvGrpSpPr>
          <p:cNvPr id="36" name="Recuadro Hígado"/>
          <p:cNvGrpSpPr/>
          <p:nvPr/>
        </p:nvGrpSpPr>
        <p:grpSpPr>
          <a:xfrm>
            <a:off x="5669280" y="1005840"/>
            <a:ext cx="2926080" cy="1600200"/>
            <a:chOff x="5669280" y="1005840"/>
            <a:chExt cx="2926080" cy="1600200"/>
          </a:xfrm>
        </p:grpSpPr>
        <p:sp>
          <p:nvSpPr>
            <p:cNvPr id="37" name="Forma 38"/>
            <p:cNvSpPr/>
            <p:nvPr/>
          </p:nvSpPr>
          <p:spPr>
            <a:xfrm>
              <a:off x="5669280" y="1188720"/>
              <a:ext cx="2926080" cy="14173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Síntesis de </a:t>
              </a:r>
              <a:r>
                <a:rPr lang="es-AR" sz="1600" b="1" dirty="0">
                  <a:solidFill>
                    <a:srgbClr val="1E1E1E"/>
                  </a:solidFill>
                  <a:latin typeface="Bahnschrift"/>
                  <a:ea typeface="Bahnschrift"/>
                  <a:cs typeface="Bahnschrift"/>
                  <a:sym typeface="Bahnschrift"/>
                </a:rPr>
                <a:t>proteínas hepáticas y plasmáticas</a:t>
              </a:r>
              <a:r>
                <a:rPr lang="es-AR" sz="1600" dirty="0">
                  <a:solidFill>
                    <a:srgbClr val="1E1E1E"/>
                  </a:solidFill>
                  <a:latin typeface="Bahnschrift"/>
                  <a:ea typeface="Bahnschrift"/>
                  <a:cs typeface="Bahnschrift"/>
                  <a:sym typeface="Bahnschrift"/>
                </a:rPr>
                <a:t> (albúmina, factores de coagulación).</a:t>
              </a:r>
              <a:endParaRPr lang="es-AR" sz="1600" dirty="0">
                <a:latin typeface="Bahnschrift"/>
              </a:endParaRPr>
            </a:p>
          </p:txBody>
        </p:sp>
        <p:sp>
          <p:nvSpPr>
            <p:cNvPr id="38" name="Forma 39"/>
            <p:cNvSpPr/>
            <p:nvPr/>
          </p:nvSpPr>
          <p:spPr>
            <a:xfrm>
              <a:off x="5779008" y="1005840"/>
              <a:ext cx="85053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HÍGADO</a:t>
              </a:r>
              <a:endParaRPr lang="es-AR" sz="1450" dirty="0">
                <a:latin typeface="Bahnschrift SemiBold Condensed"/>
              </a:endParaRPr>
            </a:p>
          </p:txBody>
        </p:sp>
      </p:grpSp>
      <p:grpSp>
        <p:nvGrpSpPr>
          <p:cNvPr id="39" name="Recuadro BCAA"/>
          <p:cNvGrpSpPr/>
          <p:nvPr/>
        </p:nvGrpSpPr>
        <p:grpSpPr>
          <a:xfrm>
            <a:off x="3566160" y="3703320"/>
            <a:ext cx="2743200" cy="1691640"/>
            <a:chOff x="3566160" y="3703320"/>
            <a:chExt cx="2743200" cy="1691640"/>
          </a:xfrm>
        </p:grpSpPr>
        <p:sp>
          <p:nvSpPr>
            <p:cNvPr id="40" name="Forma 41"/>
            <p:cNvSpPr/>
            <p:nvPr/>
          </p:nvSpPr>
          <p:spPr>
            <a:xfrm>
              <a:off x="3566160" y="3886200"/>
              <a:ext cx="2743200" cy="1508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500" b="1" dirty="0">
                  <a:solidFill>
                    <a:srgbClr val="1E1E1E"/>
                  </a:solidFill>
                  <a:latin typeface="Bahnschrift"/>
                  <a:ea typeface="Bahnschrift"/>
                  <a:cs typeface="Bahnschrift"/>
                  <a:sym typeface="Bahnschrift"/>
                </a:rPr>
                <a:t>Ramificados</a:t>
              </a:r>
              <a:r>
                <a:rPr lang="es-AR" sz="1500" dirty="0">
                  <a:solidFill>
                    <a:srgbClr val="1E1E1E"/>
                  </a:solidFill>
                  <a:latin typeface="Bahnschrift"/>
                  <a:ea typeface="Bahnschrift"/>
                  <a:cs typeface="Bahnschrift"/>
                  <a:sym typeface="Bahnschrift"/>
                </a:rPr>
                <a:t> (leucina, isoleucina, valina): metabolismo </a:t>
              </a:r>
              <a:r>
                <a:rPr lang="es-AR" sz="1500" b="1" dirty="0">
                  <a:solidFill>
                    <a:srgbClr val="1E1E1E"/>
                  </a:solidFill>
                  <a:latin typeface="Bahnschrift"/>
                  <a:ea typeface="Bahnschrift"/>
                  <a:cs typeface="Bahnschrift"/>
                  <a:sym typeface="Bahnschrift"/>
                </a:rPr>
                <a:t>extrahepático</a:t>
              </a:r>
              <a:r>
                <a:rPr lang="es-AR" sz="1500" dirty="0">
                  <a:solidFill>
                    <a:srgbClr val="1E1E1E"/>
                  </a:solidFill>
                  <a:latin typeface="Bahnschrift"/>
                  <a:ea typeface="Bahnschrift"/>
                  <a:cs typeface="Bahnschrift"/>
                  <a:sym typeface="Bahnschrift"/>
                </a:rPr>
                <a:t> importante (músculo).</a:t>
              </a:r>
              <a:endParaRPr lang="es-AR" sz="1500" dirty="0">
                <a:latin typeface="Bahnschrift"/>
              </a:endParaRPr>
            </a:p>
          </p:txBody>
        </p:sp>
        <p:sp>
          <p:nvSpPr>
            <p:cNvPr id="41" name="Forma 42"/>
            <p:cNvSpPr/>
            <p:nvPr/>
          </p:nvSpPr>
          <p:spPr>
            <a:xfrm>
              <a:off x="3675888" y="3703320"/>
              <a:ext cx="71500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BCAA</a:t>
              </a:r>
              <a:endParaRPr lang="es-AR" sz="1450" dirty="0">
                <a:latin typeface="Bahnschrift SemiBold Condensed"/>
              </a:endParaRPr>
            </a:p>
          </p:txBody>
        </p:sp>
      </p:grpSp>
      <p:grpSp>
        <p:nvGrpSpPr>
          <p:cNvPr id="42" name="Esqueletos carbonados"/>
          <p:cNvGrpSpPr/>
          <p:nvPr/>
        </p:nvGrpSpPr>
        <p:grpSpPr>
          <a:xfrm>
            <a:off x="6583680" y="2788920"/>
            <a:ext cx="5212080" cy="2606040"/>
            <a:chOff x="6583680" y="2788920"/>
            <a:chExt cx="5212080" cy="2606040"/>
          </a:xfrm>
        </p:grpSpPr>
        <p:sp>
          <p:nvSpPr>
            <p:cNvPr id="43" name="Forma 44"/>
            <p:cNvSpPr/>
            <p:nvPr/>
          </p:nvSpPr>
          <p:spPr>
            <a:xfrm>
              <a:off x="6583680" y="2788920"/>
              <a:ext cx="5212080" cy="26060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44" name="Forma 45"/>
            <p:cNvSpPr txBox="1"/>
            <p:nvPr/>
          </p:nvSpPr>
          <p:spPr>
            <a:xfrm>
              <a:off x="6720840" y="2834640"/>
              <a:ext cx="4937760" cy="347472"/>
            </a:xfrm>
            <a:prstGeom prst="rect">
              <a:avLst/>
            </a:prstGeom>
            <a:noFill/>
            <a:ln>
              <a:noFill/>
            </a:ln>
          </p:spPr>
          <p:txBody>
            <a:bodyPr wrap="square" lIns="0" tIns="0" rIns="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ENTRADA DE ESQUELETOS CARBONADOS</a:t>
              </a:r>
              <a:endParaRPr lang="es-AR" sz="1400" dirty="0">
                <a:latin typeface="Bahnschrift SemiBold Condensed"/>
              </a:endParaRPr>
            </a:p>
          </p:txBody>
        </p:sp>
        <p:sp>
          <p:nvSpPr>
            <p:cNvPr id="45" name="Forma 46"/>
            <p:cNvSpPr/>
            <p:nvPr/>
          </p:nvSpPr>
          <p:spPr>
            <a:xfrm>
              <a:off x="6812280" y="3337560"/>
              <a:ext cx="1536192" cy="402336"/>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Piruvato</a:t>
              </a:r>
              <a:endParaRPr lang="es-AR" sz="1250" dirty="0">
                <a:latin typeface="Bahnschrift SemiBold Condensed"/>
              </a:endParaRPr>
            </a:p>
          </p:txBody>
        </p:sp>
        <p:sp>
          <p:nvSpPr>
            <p:cNvPr id="46" name="Forma 47"/>
            <p:cNvSpPr/>
            <p:nvPr/>
          </p:nvSpPr>
          <p:spPr>
            <a:xfrm>
              <a:off x="8458200" y="3337560"/>
              <a:ext cx="1536192" cy="402336"/>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Acetil-CoA</a:t>
              </a:r>
              <a:endParaRPr lang="es-AR" sz="1250" dirty="0">
                <a:latin typeface="Bahnschrift SemiBold Condensed"/>
              </a:endParaRPr>
            </a:p>
          </p:txBody>
        </p:sp>
        <p:sp>
          <p:nvSpPr>
            <p:cNvPr id="47" name="Forma 48"/>
            <p:cNvSpPr/>
            <p:nvPr/>
          </p:nvSpPr>
          <p:spPr>
            <a:xfrm>
              <a:off x="10104120" y="3337560"/>
              <a:ext cx="1536192" cy="402336"/>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α-cetoglutarato</a:t>
              </a:r>
              <a:endParaRPr lang="es-AR" sz="1250" dirty="0">
                <a:latin typeface="Bahnschrift SemiBold Condensed"/>
              </a:endParaRPr>
            </a:p>
          </p:txBody>
        </p:sp>
        <p:sp>
          <p:nvSpPr>
            <p:cNvPr id="48" name="Forma 49"/>
            <p:cNvSpPr/>
            <p:nvPr/>
          </p:nvSpPr>
          <p:spPr>
            <a:xfrm>
              <a:off x="6812280" y="3886200"/>
              <a:ext cx="1536192" cy="402336"/>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Succinil-CoA</a:t>
              </a:r>
              <a:endParaRPr lang="es-AR" sz="1250" dirty="0">
                <a:latin typeface="Bahnschrift SemiBold Condensed"/>
              </a:endParaRPr>
            </a:p>
          </p:txBody>
        </p:sp>
        <p:sp>
          <p:nvSpPr>
            <p:cNvPr id="49" name="Forma 50"/>
            <p:cNvSpPr/>
            <p:nvPr/>
          </p:nvSpPr>
          <p:spPr>
            <a:xfrm>
              <a:off x="8458200" y="3886200"/>
              <a:ext cx="1536192" cy="402336"/>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Fumarato</a:t>
              </a:r>
              <a:endParaRPr lang="es-AR" sz="1250" dirty="0">
                <a:latin typeface="Bahnschrift SemiBold Condensed"/>
              </a:endParaRPr>
            </a:p>
          </p:txBody>
        </p:sp>
        <p:sp>
          <p:nvSpPr>
            <p:cNvPr id="50" name="Forma 51"/>
            <p:cNvSpPr/>
            <p:nvPr/>
          </p:nvSpPr>
          <p:spPr>
            <a:xfrm>
              <a:off x="10104120" y="3886200"/>
              <a:ext cx="1536192" cy="402336"/>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Oxaloacetato</a:t>
              </a:r>
              <a:endParaRPr lang="es-AR" sz="1250" dirty="0">
                <a:latin typeface="Bahnschrift SemiBold Condensed"/>
              </a:endParaRPr>
            </a:p>
          </p:txBody>
        </p:sp>
        <p:sp>
          <p:nvSpPr>
            <p:cNvPr id="51" name="Forma 52"/>
            <p:cNvSpPr txBox="1"/>
            <p:nvPr/>
          </p:nvSpPr>
          <p:spPr>
            <a:xfrm>
              <a:off x="6766560" y="4526280"/>
              <a:ext cx="4846320" cy="822960"/>
            </a:xfrm>
            <a:prstGeom prst="rect">
              <a:avLst/>
            </a:prstGeom>
            <a:noFill/>
            <a:ln>
              <a:noFill/>
            </a:ln>
          </p:spPr>
          <p:txBody>
            <a:bodyPr wrap="square" lIns="0" tIns="0" rIns="0" bIns="0" anchor="t" rtlCol="0">
              <a:noAutofit/>
            </a:bodyPr>
            <a:lstStyle/>
            <a:p>
              <a:pPr algn="l">
                <a:spcAft>
                  <a:spcPts val="300"/>
                </a:spcAft>
                <a:buNone/>
              </a:pPr>
              <a:r>
                <a:rPr lang="es-AR" sz="1350" dirty="0">
                  <a:solidFill>
                    <a:srgbClr val="1E1E1E"/>
                  </a:solidFill>
                  <a:latin typeface="Bahnschrift"/>
                  <a:ea typeface="Bahnschrift"/>
                  <a:cs typeface="Bahnschrift"/>
                  <a:sym typeface="Bahnschrift"/>
                </a:rPr>
                <a:t>El </a:t>
              </a:r>
              <a:r>
                <a:rPr lang="es-AR" sz="1350" b="1" dirty="0">
                  <a:solidFill>
                    <a:srgbClr val="1E1E1E"/>
                  </a:solidFill>
                  <a:latin typeface="Bahnschrift"/>
                  <a:ea typeface="Bahnschrift"/>
                  <a:cs typeface="Bahnschrift"/>
                  <a:sym typeface="Bahnschrift"/>
                </a:rPr>
                <a:t>nitrógeno</a:t>
              </a:r>
              <a:r>
                <a:rPr lang="es-AR" sz="1350" dirty="0">
                  <a:solidFill>
                    <a:srgbClr val="1E1E1E"/>
                  </a:solidFill>
                  <a:latin typeface="Bahnschrift"/>
                  <a:ea typeface="Bahnschrift"/>
                  <a:cs typeface="Bahnschrift"/>
                  <a:sym typeface="Bahnschrift"/>
                </a:rPr>
                <a:t> se reutiliza o se elimina vía transaminación, desaminación y </a:t>
              </a:r>
              <a:r>
                <a:rPr lang="es-AR" sz="1350" b="1" dirty="0">
                  <a:solidFill>
                    <a:srgbClr val="1E1E1E"/>
                  </a:solidFill>
                  <a:latin typeface="Bahnschrift"/>
                  <a:ea typeface="Bahnschrift"/>
                  <a:cs typeface="Bahnschrift"/>
                  <a:sym typeface="Bahnschrift"/>
                </a:rPr>
                <a:t>ciclo de la urea</a:t>
              </a:r>
              <a:r>
                <a:rPr lang="es-AR" sz="1350" dirty="0">
                  <a:solidFill>
                    <a:srgbClr val="1E1E1E"/>
                  </a:solidFill>
                  <a:latin typeface="Bahnschrift"/>
                  <a:ea typeface="Bahnschrift"/>
                  <a:cs typeface="Bahnschrift"/>
                  <a:sym typeface="Bahnschrift"/>
                </a:rPr>
                <a:t>.</a:t>
              </a:r>
              <a:endParaRPr lang="es-AR" sz="1350" dirty="0">
                <a:latin typeface="Bahnschrift"/>
              </a:endParaRPr>
            </a:p>
          </p:txBody>
        </p:sp>
      </p:grpSp>
      <p:sp>
        <p:nvSpPr>
          <p:cNvPr id="52" name="Perla"/>
          <p:cNvSpPr/>
          <p:nvPr/>
        </p:nvSpPr>
        <p:spPr>
          <a:xfrm>
            <a:off x="365760" y="5623560"/>
            <a:ext cx="11430000" cy="8686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No hay «glucógeno de aminoácidos»: el balance proteico depende de </a:t>
            </a:r>
            <a:r>
              <a:rPr lang="es-AR" sz="1700" b="1" dirty="0">
                <a:solidFill>
                  <a:srgbClr val="FFFFFF"/>
                </a:solidFill>
                <a:latin typeface="Bahnschrift"/>
                <a:ea typeface="Bahnschrift"/>
                <a:cs typeface="Bahnschrift"/>
                <a:sym typeface="Bahnschrift"/>
              </a:rPr>
              <a:t>síntesis frente a degradación</a:t>
            </a:r>
            <a:r>
              <a:rPr lang="es-AR" sz="1700" dirty="0">
                <a:solidFill>
                  <a:srgbClr val="FFFFFF"/>
                </a:solidFill>
                <a:latin typeface="Bahnschrift"/>
                <a:ea typeface="Bahnschrift"/>
                <a:cs typeface="Bahnschrift"/>
                <a:sym typeface="Bahnschrift"/>
              </a:rPr>
              <a:t>. El exceso de N se elimina como urea.</a:t>
            </a:r>
            <a:endParaRPr lang="es-AR" sz="17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84986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50" b="1" dirty="0">
                <a:solidFill>
                  <a:srgbClr val="1E1E1E"/>
                </a:solidFill>
                <a:latin typeface="Bahnschrift SemiBold Condensed"/>
                <a:ea typeface="Bahnschrift SemiBold Condensed"/>
                <a:cs typeface="Bahnschrift SemiBold Condensed"/>
                <a:sym typeface="Bahnschrift SemiBold Condensed"/>
              </a:rPr>
              <a:t>3 · AMINOÁCIDOS EN SACIEDAD: NO EXISTE UN DEPÓSITO ESPECÍFICO</a:t>
            </a:r>
            <a:endParaRPr lang="es-AR" sz="255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30"/>
                                        </p:tgtEl>
                                        <p:attrNameLst>
                                          <p:attrName>style.visibility</p:attrName>
                                        </p:attrNameLst>
                                      </p:cBhvr>
                                      <p:to>
                                        <p:strVal val="visible"/>
                                      </p:to>
                                    </p:set>
                                    <p:animEffect transition="in" filter="wipe(left)">
                                      <p:cBhvr>
                                        <p:cTn id="5" dur="600"/>
                                        <p:tgtEl>
                                          <p:spTgt spid="30"/>
                                        </p:tgtEl>
                                      </p:cBhvr>
                                    </p:animEffect>
                                  </p:childTnLst>
                                </p:cTn>
                              </p:par>
                            </p:childTnLst>
                          </p:cTn>
                        </p:par>
                        <p:par>
                          <p:cTn id="10" fill="hold">
                            <p:stCondLst>
                              <p:cond delay="600"/>
                            </p:stCondLst>
                            <p:childTnLst>
                              <p:par>
                                <p:cTn id="7" presetID="10" presetClass="entr" presetSubtype="0" fill="hold" grpId="0" nodeType="afterEffect">
                                  <p:stCondLst>
                                    <p:cond delay="0"/>
                                  </p:stCondLst>
                                  <p:childTnLst>
                                    <p:set>
                                      <p:cBhvr>
                                        <p:cTn id="8" dur="1" fill="hold">
                                          <p:stCondLst>
                                            <p:cond delay="0"/>
                                          </p:stCondLst>
                                        </p:cTn>
                                        <p:tgtEl>
                                          <p:spTgt spid="36"/>
                                        </p:tgtEl>
                                        <p:attrNameLst>
                                          <p:attrName>style.visibility</p:attrName>
                                        </p:attrNameLst>
                                      </p:cBhvr>
                                      <p:to>
                                        <p:strVal val="visible"/>
                                      </p:to>
                                    </p:set>
                                    <p:animEffect transition="in" filter="fade">
                                      <p:cBhvr>
                                        <p:cTn id="9" dur="500"/>
                                        <p:tgtEl>
                                          <p:spTgt spid="36"/>
                                        </p:tgtEl>
                                      </p:cBhvr>
                                    </p:animEffect>
                                  </p:childTnLst>
                                </p:cTn>
                              </p:par>
                            </p:childTnLst>
                          </p:cTn>
                        </p:par>
                      </p:childTnLst>
                    </p:cTn>
                  </p:par>
                  <p:par>
                    <p:cTn id="20" fill="hold">
                      <p:stCondLst>
                        <p:cond delay="indefinite"/>
                      </p:stCondLst>
                      <p:childTnLst>
                        <p:par>
                          <p:cTn id="15" fill="hold">
                            <p:stCondLst>
                              <p:cond delay="0"/>
                            </p:stCondLst>
                            <p:childTnLst>
                              <p:par>
                                <p:cTn id="12" presetID="22" presetClass="entr" presetSubtype="2"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right)">
                                      <p:cBhvr>
                                        <p:cTn id="14" dur="600"/>
                                        <p:tgtEl>
                                          <p:spTgt spid="33"/>
                                        </p:tgtEl>
                                      </p:cBhvr>
                                    </p:animEffect>
                                  </p:childTnLst>
                                </p:cTn>
                              </p:par>
                            </p:childTnLst>
                          </p:cTn>
                        </p:par>
                        <p:par>
                          <p:cTn id="19" fill="hold">
                            <p:stCondLst>
                              <p:cond delay="600"/>
                            </p:stCondLst>
                            <p:childTnLst>
                              <p:par>
                                <p:cTn id="16" presetID="10" presetClass="entr" presetSubtype="0"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500"/>
                                        <p:tgtEl>
                                          <p:spTgt spid="39"/>
                                        </p:tgtEl>
                                      </p:cBhvr>
                                    </p:animEffect>
                                  </p:childTnLst>
                                </p:cTn>
                              </p:par>
                            </p:childTnLst>
                          </p:cTn>
                        </p:par>
                      </p:childTnLst>
                    </p:cTn>
                  </p:par>
                  <p:par>
                    <p:cTn id="25" fill="hold">
                      <p:stCondLst>
                        <p:cond delay="indefinite"/>
                      </p:stCondLst>
                      <p:childTnLst>
                        <p:par>
                          <p:cTn id="24"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childTnLst>
                    </p:cTn>
                  </p:par>
                  <p:par>
                    <p:cTn id="30"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2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Hepatocito"/>
          <p:cNvGrpSpPr/>
          <p:nvPr/>
        </p:nvGrpSpPr>
        <p:grpSpPr>
          <a:xfrm>
            <a:off x="365760" y="1188720"/>
            <a:ext cx="4206240" cy="3449117"/>
            <a:chOff x="365760" y="1188720"/>
            <a:chExt cx="4206240" cy="3449117"/>
          </a:xfrm>
        </p:grpSpPr>
        <p:sp>
          <p:nvSpPr>
            <p:cNvPr id="5" name="Forma 4"/>
            <p:cNvSpPr/>
            <p:nvPr/>
          </p:nvSpPr>
          <p:spPr>
            <a:xfrm>
              <a:off x="365760" y="1188720"/>
              <a:ext cx="4206240" cy="3449117"/>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sp>
        <p:nvSpPr>
          <p:cNvPr id="6" name="Núcleo"/>
          <p:cNvSpPr/>
          <p:nvPr/>
        </p:nvSpPr>
        <p:spPr>
          <a:xfrm>
            <a:off x="1554480" y="2103120"/>
            <a:ext cx="1828800" cy="1463040"/>
          </a:xfrm>
          <a:prstGeom prst="ellipse">
            <a:avLst/>
          </a:prstGeom>
          <a:gradFill rotWithShape="1">
            <a:gsLst>
              <a:gs pos="0">
                <a:srgbClr val="B7A4CE"/>
              </a:gs>
              <a:gs pos="55000">
                <a:srgbClr val="7D5BA6"/>
              </a:gs>
              <a:gs pos="100000">
                <a:srgbClr val="573F74"/>
              </a:gs>
            </a:gsLst>
            <a:path path="circle">
              <a:fillToRect l="32000" t="28000" r="68000" b="72000"/>
            </a:path>
          </a:gradFill>
          <a:ln w="19050" cap="rnd">
            <a:solidFill>
              <a:srgbClr val="4A235A"/>
            </a:solidFill>
            <a:round/>
          </a:ln>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NÚCLEO</a:t>
            </a:r>
            <a:endParaRPr lang="es-AR" sz="1400" dirty="0">
              <a:latin typeface="Bahnschrift SemiBold Condensed"/>
            </a:endParaRPr>
          </a:p>
        </p:txBody>
      </p:sp>
      <p:grpSp>
        <p:nvGrpSpPr>
          <p:cNvPr id="7" name="Señal Insulina"/>
          <p:cNvGrpSpPr/>
          <p:nvPr/>
        </p:nvGrpSpPr>
        <p:grpSpPr>
          <a:xfrm>
            <a:off x="3474720" y="1005840"/>
            <a:ext cx="8321040" cy="1828800"/>
            <a:chOff x="3474720" y="1005840"/>
            <a:chExt cx="8321040" cy="1828800"/>
          </a:xfrm>
        </p:grpSpPr>
        <p:sp>
          <p:nvSpPr>
            <p:cNvPr id="8" name="Molécula ins"/>
            <p:cNvSpPr/>
            <p:nvPr/>
          </p:nvSpPr>
          <p:spPr>
            <a:xfrm>
              <a:off x="4937760" y="1389888"/>
              <a:ext cx="502920" cy="5029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9" name="Flecha 8_2"/>
            <p:cNvSpPr/>
            <p:nvPr/>
          </p:nvSpPr>
          <p:spPr>
            <a:xfrm>
              <a:off x="3474720" y="1645920"/>
              <a:ext cx="1417320" cy="1188720"/>
            </a:xfrm>
            <a:custGeom>
              <a:avLst/>
              <a:gdLst/>
              <a:ahLst/>
              <a:cxnLst/>
              <a:rect l="0" t="0" r="r" b="b"/>
              <a:pathLst>
                <a:path w="1549" h="1300" fill="none">
                  <a:moveTo>
                    <a:pt x="1549" y="0"/>
                  </a:moveTo>
                  <a:lnTo>
                    <a:pt x="0" y="1300"/>
                  </a:lnTo>
                </a:path>
              </a:pathLst>
            </a:custGeom>
            <a:noFill/>
            <a:ln w="25400" cap="rnd">
              <a:solidFill>
                <a:srgbClr val="1E8C3A"/>
              </a:solidFill>
              <a:prstDash val="dash"/>
              <a:round/>
              <a:tailEnd type="triangle" w="med" len="med"/>
            </a:ln>
          </p:spPr>
        </p:sp>
        <p:grpSp>
          <p:nvGrpSpPr>
            <p:cNvPr id="10" name="Recuadro Insulina"/>
            <p:cNvGrpSpPr/>
            <p:nvPr/>
          </p:nvGrpSpPr>
          <p:grpSpPr>
            <a:xfrm>
              <a:off x="5623560" y="1005840"/>
              <a:ext cx="6172200" cy="1188720"/>
              <a:chOff x="5623560" y="1005840"/>
              <a:chExt cx="6172200" cy="1188720"/>
            </a:xfrm>
          </p:grpSpPr>
          <p:sp>
            <p:nvSpPr>
              <p:cNvPr id="11" name="Forma 11"/>
              <p:cNvSpPr/>
              <p:nvPr/>
            </p:nvSpPr>
            <p:spPr>
              <a:xfrm>
                <a:off x="5623560" y="1188720"/>
                <a:ext cx="6172200" cy="10058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Promueve almacenamiento y síntesis proteica; favorece </a:t>
                </a:r>
                <a:r>
                  <a:rPr lang="es-AR" sz="1750" b="1" dirty="0">
                    <a:solidFill>
                      <a:srgbClr val="1E1E1E"/>
                    </a:solidFill>
                    <a:latin typeface="Bahnschrift"/>
                    <a:ea typeface="Bahnschrift"/>
                    <a:cs typeface="Bahnschrift"/>
                    <a:sym typeface="Bahnschrift"/>
                  </a:rPr>
                  <a:t>SREBP-1c</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12" name="Forma 12"/>
              <p:cNvSpPr/>
              <p:nvPr/>
            </p:nvSpPr>
            <p:spPr>
              <a:xfrm>
                <a:off x="5733288" y="1005840"/>
                <a:ext cx="106687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INSULINA</a:t>
                </a:r>
                <a:endParaRPr lang="es-AR" sz="1600" dirty="0">
                  <a:latin typeface="Bahnschrift SemiBold Condensed"/>
                </a:endParaRPr>
              </a:p>
            </p:txBody>
          </p:sp>
        </p:grpSp>
      </p:grpSp>
      <p:grpSp>
        <p:nvGrpSpPr>
          <p:cNvPr id="13" name="Señal Leucina"/>
          <p:cNvGrpSpPr/>
          <p:nvPr/>
        </p:nvGrpSpPr>
        <p:grpSpPr>
          <a:xfrm>
            <a:off x="3474720" y="2377440"/>
            <a:ext cx="8321040" cy="1188720"/>
            <a:chOff x="3474720" y="2377440"/>
            <a:chExt cx="8321040" cy="1188720"/>
          </a:xfrm>
        </p:grpSpPr>
        <p:sp>
          <p:nvSpPr>
            <p:cNvPr id="14" name="Molécula aa"/>
            <p:cNvSpPr/>
            <p:nvPr/>
          </p:nvSpPr>
          <p:spPr>
            <a:xfrm>
              <a:off x="4937760" y="2761488"/>
              <a:ext cx="502920" cy="50292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15" name="Flecha 15_2"/>
            <p:cNvSpPr/>
            <p:nvPr/>
          </p:nvSpPr>
          <p:spPr>
            <a:xfrm>
              <a:off x="3474720" y="2834640"/>
              <a:ext cx="1417320" cy="182880"/>
            </a:xfrm>
            <a:custGeom>
              <a:avLst/>
              <a:gdLst/>
              <a:ahLst/>
              <a:cxnLst/>
              <a:rect l="0" t="0" r="r" b="b"/>
              <a:pathLst>
                <a:path w="1549" h="199" fill="none">
                  <a:moveTo>
                    <a:pt x="1549" y="199"/>
                  </a:moveTo>
                  <a:lnTo>
                    <a:pt x="0" y="0"/>
                  </a:lnTo>
                </a:path>
              </a:pathLst>
            </a:custGeom>
            <a:noFill/>
            <a:ln w="25400" cap="rnd">
              <a:solidFill>
                <a:srgbClr val="1E8C3A"/>
              </a:solidFill>
              <a:prstDash val="dash"/>
              <a:round/>
              <a:tailEnd type="triangle" w="med" len="med"/>
            </a:ln>
          </p:spPr>
        </p:sp>
        <p:grpSp>
          <p:nvGrpSpPr>
            <p:cNvPr id="16" name="Recuadro Leucina"/>
            <p:cNvGrpSpPr/>
            <p:nvPr/>
          </p:nvGrpSpPr>
          <p:grpSpPr>
            <a:xfrm>
              <a:off x="5623560" y="2377440"/>
              <a:ext cx="6172200" cy="1188720"/>
              <a:chOff x="5623560" y="2377440"/>
              <a:chExt cx="6172200" cy="1188720"/>
            </a:xfrm>
          </p:grpSpPr>
          <p:sp>
            <p:nvSpPr>
              <p:cNvPr id="17" name="Forma 18"/>
              <p:cNvSpPr/>
              <p:nvPr/>
            </p:nvSpPr>
            <p:spPr>
              <a:xfrm>
                <a:off x="5623560" y="2560320"/>
                <a:ext cx="6172200" cy="1005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Activa </a:t>
                </a:r>
                <a:r>
                  <a:rPr lang="es-AR" sz="1750" b="1" dirty="0">
                    <a:solidFill>
                      <a:srgbClr val="1E1E1E"/>
                    </a:solidFill>
                    <a:latin typeface="Bahnschrift"/>
                    <a:ea typeface="Bahnschrift"/>
                    <a:cs typeface="Bahnschrift"/>
                    <a:sym typeface="Bahnschrift"/>
                  </a:rPr>
                  <a:t>mTORC1</a:t>
                </a:r>
                <a:r>
                  <a:rPr lang="es-AR" sz="1750" dirty="0">
                    <a:solidFill>
                      <a:srgbClr val="1E1E1E"/>
                    </a:solidFill>
                    <a:latin typeface="Bahnschrift"/>
                    <a:ea typeface="Bahnschrift"/>
                    <a:cs typeface="Bahnschrift"/>
                    <a:sym typeface="Bahnschrift"/>
                  </a:rPr>
                  <a:t> cuando hay contexto energético y otros aminoácidos → síntesis proteica.</a:t>
                </a:r>
                <a:endParaRPr lang="es-AR" sz="1750" dirty="0">
                  <a:latin typeface="Bahnschrift"/>
                </a:endParaRPr>
              </a:p>
            </p:txBody>
          </p:sp>
          <p:sp>
            <p:nvSpPr>
              <p:cNvPr id="18" name="Forma 19"/>
              <p:cNvSpPr/>
              <p:nvPr/>
            </p:nvSpPr>
            <p:spPr>
              <a:xfrm>
                <a:off x="5733288" y="2377440"/>
                <a:ext cx="100145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LEUCINA</a:t>
                </a:r>
                <a:endParaRPr lang="es-AR" sz="1600" dirty="0">
                  <a:latin typeface="Bahnschrift SemiBold Condensed"/>
                </a:endParaRPr>
              </a:p>
            </p:txBody>
          </p:sp>
        </p:grpSp>
      </p:grpSp>
      <p:grpSp>
        <p:nvGrpSpPr>
          <p:cNvPr id="19" name="Señal Glucosa"/>
          <p:cNvGrpSpPr/>
          <p:nvPr/>
        </p:nvGrpSpPr>
        <p:grpSpPr>
          <a:xfrm>
            <a:off x="3474720" y="2834640"/>
            <a:ext cx="8321040" cy="2103120"/>
            <a:chOff x="3474720" y="2834640"/>
            <a:chExt cx="8321040" cy="2103120"/>
          </a:xfrm>
        </p:grpSpPr>
        <p:sp>
          <p:nvSpPr>
            <p:cNvPr id="20" name="Molécula glc"/>
            <p:cNvSpPr/>
            <p:nvPr/>
          </p:nvSpPr>
          <p:spPr>
            <a:xfrm>
              <a:off x="4937760" y="4133088"/>
              <a:ext cx="502920" cy="50292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1" name="Flecha 22_2"/>
            <p:cNvSpPr/>
            <p:nvPr/>
          </p:nvSpPr>
          <p:spPr>
            <a:xfrm>
              <a:off x="3474720" y="2834640"/>
              <a:ext cx="1417320" cy="1554480"/>
            </a:xfrm>
            <a:custGeom>
              <a:avLst/>
              <a:gdLst/>
              <a:ahLst/>
              <a:cxnLst/>
              <a:rect l="0" t="0" r="r" b="b"/>
              <a:pathLst>
                <a:path w="1549" h="1699" fill="none">
                  <a:moveTo>
                    <a:pt x="1549" y="1699"/>
                  </a:moveTo>
                  <a:lnTo>
                    <a:pt x="0" y="0"/>
                  </a:lnTo>
                </a:path>
              </a:pathLst>
            </a:custGeom>
            <a:noFill/>
            <a:ln w="25400" cap="rnd">
              <a:solidFill>
                <a:srgbClr val="1E8C3A"/>
              </a:solidFill>
              <a:prstDash val="dash"/>
              <a:round/>
              <a:tailEnd type="triangle" w="med" len="med"/>
            </a:ln>
          </p:spPr>
        </p:sp>
        <p:grpSp>
          <p:nvGrpSpPr>
            <p:cNvPr id="22" name="Recuadro Glucosa"/>
            <p:cNvGrpSpPr/>
            <p:nvPr/>
          </p:nvGrpSpPr>
          <p:grpSpPr>
            <a:xfrm>
              <a:off x="5623560" y="3749040"/>
              <a:ext cx="6172200" cy="1188720"/>
              <a:chOff x="5623560" y="3749040"/>
              <a:chExt cx="6172200" cy="1188720"/>
            </a:xfrm>
          </p:grpSpPr>
          <p:sp>
            <p:nvSpPr>
              <p:cNvPr id="23" name="Forma 25"/>
              <p:cNvSpPr/>
              <p:nvPr/>
            </p:nvSpPr>
            <p:spPr>
              <a:xfrm>
                <a:off x="5623560" y="3931920"/>
                <a:ext cx="6172200" cy="10058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Sus metabolitos activan </a:t>
                </a:r>
                <a:r>
                  <a:rPr lang="es-AR" sz="1750" b="1" dirty="0">
                    <a:solidFill>
                      <a:srgbClr val="1E1E1E"/>
                    </a:solidFill>
                    <a:latin typeface="Bahnschrift"/>
                    <a:ea typeface="Bahnschrift"/>
                    <a:cs typeface="Bahnschrift"/>
                    <a:sym typeface="Bahnschrift"/>
                  </a:rPr>
                  <a:t>ChREBP</a:t>
                </a:r>
                <a:r>
                  <a:rPr lang="es-AR" sz="1750" dirty="0">
                    <a:solidFill>
                      <a:srgbClr val="1E1E1E"/>
                    </a:solidFill>
                    <a:latin typeface="Bahnschrift"/>
                    <a:ea typeface="Bahnschrift"/>
                    <a:cs typeface="Bahnschrift"/>
                    <a:sym typeface="Bahnschrift"/>
                  </a:rPr>
                  <a:t> → genes de glucólisis y lipogénesis.</a:t>
                </a:r>
                <a:endParaRPr lang="es-AR" sz="1750" dirty="0">
                  <a:latin typeface="Bahnschrift"/>
                </a:endParaRPr>
              </a:p>
            </p:txBody>
          </p:sp>
          <p:sp>
            <p:nvSpPr>
              <p:cNvPr id="24" name="Forma 26"/>
              <p:cNvSpPr/>
              <p:nvPr/>
            </p:nvSpPr>
            <p:spPr>
              <a:xfrm>
                <a:off x="5733288" y="3749040"/>
                <a:ext cx="104670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GLUCOSA</a:t>
                </a:r>
                <a:endParaRPr lang="es-AR" sz="1600" dirty="0">
                  <a:latin typeface="Bahnschrift SemiBold Condensed"/>
                </a:endParaRPr>
              </a:p>
            </p:txBody>
          </p:sp>
        </p:grpSp>
      </p:grpSp>
      <p:grpSp>
        <p:nvGrpSpPr>
          <p:cNvPr id="25" name="Señal Exceso energético persistente"/>
          <p:cNvGrpSpPr/>
          <p:nvPr/>
        </p:nvGrpSpPr>
        <p:grpSpPr>
          <a:xfrm>
            <a:off x="3474720" y="2834640"/>
            <a:ext cx="8321040" cy="3474720"/>
            <a:chOff x="3474720" y="2834640"/>
            <a:chExt cx="8321040" cy="3474720"/>
          </a:xfrm>
        </p:grpSpPr>
        <p:sp>
          <p:nvSpPr>
            <p:cNvPr id="26" name="Molécula tag"/>
            <p:cNvSpPr/>
            <p:nvPr/>
          </p:nvSpPr>
          <p:spPr>
            <a:xfrm>
              <a:off x="4937760" y="5504688"/>
              <a:ext cx="502920" cy="50292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27" name="Flecha 29_2"/>
            <p:cNvSpPr/>
            <p:nvPr/>
          </p:nvSpPr>
          <p:spPr>
            <a:xfrm>
              <a:off x="3474720" y="2834640"/>
              <a:ext cx="1417320" cy="2926080"/>
            </a:xfrm>
            <a:custGeom>
              <a:avLst/>
              <a:gdLst/>
              <a:ahLst/>
              <a:cxnLst/>
              <a:rect l="0" t="0" r="r" b="b"/>
              <a:pathLst>
                <a:path w="1549" h="3199" fill="none">
                  <a:moveTo>
                    <a:pt x="1549" y="3199"/>
                  </a:moveTo>
                  <a:lnTo>
                    <a:pt x="0" y="0"/>
                  </a:lnTo>
                </a:path>
              </a:pathLst>
            </a:custGeom>
            <a:noFill/>
            <a:ln w="25400" cap="rnd">
              <a:solidFill>
                <a:srgbClr val="1E8C3A"/>
              </a:solidFill>
              <a:prstDash val="dash"/>
              <a:round/>
              <a:tailEnd type="triangle" w="med" len="med"/>
            </a:ln>
          </p:spPr>
        </p:sp>
        <p:grpSp>
          <p:nvGrpSpPr>
            <p:cNvPr id="28" name="Recuadro Exceso energético persist"/>
            <p:cNvGrpSpPr/>
            <p:nvPr/>
          </p:nvGrpSpPr>
          <p:grpSpPr>
            <a:xfrm>
              <a:off x="5623560" y="5120640"/>
              <a:ext cx="6172200" cy="1188720"/>
              <a:chOff x="5623560" y="5120640"/>
              <a:chExt cx="6172200" cy="1188720"/>
            </a:xfrm>
          </p:grpSpPr>
          <p:sp>
            <p:nvSpPr>
              <p:cNvPr id="29" name="Forma 32"/>
              <p:cNvSpPr/>
              <p:nvPr/>
            </p:nvSpPr>
            <p:spPr>
              <a:xfrm>
                <a:off x="5623560" y="5303520"/>
                <a:ext cx="6172200" cy="10058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Puede incrementar la </a:t>
                </a:r>
                <a:r>
                  <a:rPr lang="es-AR" sz="1750" b="1" dirty="0">
                    <a:solidFill>
                      <a:srgbClr val="1E1E1E"/>
                    </a:solidFill>
                    <a:latin typeface="Bahnschrift"/>
                    <a:ea typeface="Bahnschrift"/>
                    <a:cs typeface="Bahnschrift"/>
                    <a:sym typeface="Bahnschrift"/>
                  </a:rPr>
                  <a:t>secreción hepática de VLDL</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30" name="Forma 33"/>
              <p:cNvSpPr/>
              <p:nvPr/>
            </p:nvSpPr>
            <p:spPr>
              <a:xfrm>
                <a:off x="5733288" y="5120640"/>
                <a:ext cx="305456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EXCESO ENERGÉTICO PERSISTENTE</a:t>
                </a:r>
                <a:endParaRPr lang="es-AR" sz="1600" dirty="0">
                  <a:latin typeface="Bahnschrift SemiBold Condensed"/>
                </a:endParaRPr>
              </a:p>
            </p:txBody>
          </p:sp>
        </p:gr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13325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 · CONEXIÓN REGULADORA DEL ESTADO ALIMENTADO</a:t>
            </a:r>
            <a:endParaRPr lang="es-AR" sz="2600" dirty="0">
              <a:latin typeface="Bahnschrift SemiBold Condensed"/>
            </a:endParaRPr>
          </a:p>
        </p:txBody>
      </p:sp>
      <p:sp>
        <p:nvSpPr>
          <p:cNvPr id="3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7"/>
                                        </p:tgtEl>
                                        <p:attrNameLst>
                                          <p:attrName>style.visibility</p:attrName>
                                        </p:attrNameLst>
                                      </p:cBhvr>
                                      <p:to>
                                        <p:strVal val="visible"/>
                                      </p:to>
                                    </p:set>
                                    <p:animEffect transition="in" filter="fade">
                                      <p:cBhvr>
                                        <p:cTn id="5" dur="500"/>
                                        <p:tgtEl>
                                          <p:spTgt spid="7"/>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fade">
                                      <p:cBhvr>
                                        <p:cTn id="2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Páncreas"/>
          <p:cNvGrpSpPr/>
          <p:nvPr/>
        </p:nvGrpSpPr>
        <p:grpSpPr>
          <a:xfrm>
            <a:off x="365760" y="1097280"/>
            <a:ext cx="4572000" cy="1920240"/>
            <a:chOff x="365760" y="1097280"/>
            <a:chExt cx="4572000" cy="1920240"/>
          </a:xfrm>
        </p:grpSpPr>
        <p:sp>
          <p:nvSpPr>
            <p:cNvPr id="5" name="Forma 4"/>
            <p:cNvSpPr/>
            <p:nvPr/>
          </p:nvSpPr>
          <p:spPr>
            <a:xfrm>
              <a:off x="365760" y="1097280"/>
              <a:ext cx="4572000" cy="1920240"/>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6" name="Forma 5"/>
            <p:cNvSpPr/>
            <p:nvPr/>
          </p:nvSpPr>
          <p:spPr>
            <a:xfrm>
              <a:off x="365760" y="1097280"/>
              <a:ext cx="4572000" cy="1920240"/>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7" name="Islotes"/>
            <p:cNvSpPr/>
            <p:nvPr/>
          </p:nvSpPr>
          <p:spPr>
            <a:xfrm>
              <a:off x="365760" y="1097280"/>
              <a:ext cx="4572000" cy="1920240"/>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8" name="Forma 7"/>
            <p:cNvSpPr/>
            <p:nvPr/>
          </p:nvSpPr>
          <p:spPr>
            <a:xfrm>
              <a:off x="365760" y="1097280"/>
              <a:ext cx="4572000" cy="1920240"/>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9" name="Lupa islote"/>
          <p:cNvSpPr/>
          <p:nvPr/>
        </p:nvSpPr>
        <p:spPr>
          <a:xfrm>
            <a:off x="1508760" y="1783080"/>
            <a:ext cx="457200" cy="457200"/>
          </a:xfrm>
          <a:prstGeom prst="ellipse">
            <a:avLst/>
          </a:prstGeom>
          <a:noFill/>
          <a:ln w="31750" cap="rnd">
            <a:solidFill>
              <a:srgbClr val="C00000"/>
            </a:solidFill>
            <a:round/>
          </a:ln>
        </p:spPr>
      </p:sp>
      <p:sp>
        <p:nvSpPr>
          <p:cNvPr id="10" name="Flecha 9_2"/>
          <p:cNvSpPr/>
          <p:nvPr/>
        </p:nvSpPr>
        <p:spPr>
          <a:xfrm>
            <a:off x="1920240" y="2194560"/>
            <a:ext cx="2606040" cy="822960"/>
          </a:xfrm>
          <a:custGeom>
            <a:avLst/>
            <a:gdLst/>
            <a:ahLst/>
            <a:cxnLst/>
            <a:rect l="0" t="0" r="r" b="b"/>
            <a:pathLst>
              <a:path w="2850" h="899" fill="none">
                <a:moveTo>
                  <a:pt x="0" y="0"/>
                </a:moveTo>
                <a:lnTo>
                  <a:pt x="2850" y="899"/>
                </a:lnTo>
              </a:path>
            </a:pathLst>
          </a:custGeom>
          <a:noFill/>
          <a:ln w="25400" cap="rnd">
            <a:solidFill>
              <a:srgbClr val="1E1E1E"/>
            </a:solidFill>
            <a:prstDash val="dash"/>
            <a:round/>
            <a:tailEnd type="triangle" w="med" len="med"/>
          </a:ln>
        </p:spPr>
      </p:sp>
      <p:grpSp>
        <p:nvGrpSpPr>
          <p:cNvPr id="11" name="Islote ampliado"/>
          <p:cNvGrpSpPr/>
          <p:nvPr/>
        </p:nvGrpSpPr>
        <p:grpSpPr>
          <a:xfrm>
            <a:off x="4396435" y="1836115"/>
            <a:ext cx="3277210" cy="3277210"/>
            <a:chOff x="4396435" y="1836115"/>
            <a:chExt cx="3277210" cy="3277210"/>
          </a:xfrm>
        </p:grpSpPr>
        <p:sp>
          <p:nvSpPr>
            <p:cNvPr id="12" name="Forma 12"/>
            <p:cNvSpPr/>
            <p:nvPr/>
          </p:nvSpPr>
          <p:spPr>
            <a:xfrm>
              <a:off x="4396435" y="1836115"/>
              <a:ext cx="3277210" cy="3277210"/>
            </a:xfrm>
            <a:prstGeom prst="ellipse">
              <a:avLst/>
            </a:prstGeom>
            <a:solidFill>
              <a:srgbClr val="F5CBA7">
                <a:alpha val="60000"/>
              </a:srgbClr>
            </a:solidFill>
            <a:ln w="12700" cap="rnd">
              <a:solidFill>
                <a:srgbClr val="B9770E"/>
              </a:solidFill>
              <a:prstDash val="dash"/>
              <a:round/>
            </a:ln>
          </p:spPr>
        </p:sp>
        <p:sp>
          <p:nvSpPr>
            <p:cNvPr id="13" name="Forma 13"/>
            <p:cNvSpPr/>
            <p:nvPr/>
          </p:nvSpPr>
          <p:spPr>
            <a:xfrm>
              <a:off x="5853623" y="3293303"/>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4" name="Forma 14"/>
            <p:cNvSpPr/>
            <p:nvPr/>
          </p:nvSpPr>
          <p:spPr>
            <a:xfrm>
              <a:off x="5713909" y="2939500"/>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5" name="Forma 15"/>
            <p:cNvSpPr/>
            <p:nvPr/>
          </p:nvSpPr>
          <p:spPr>
            <a:xfrm>
              <a:off x="6043127" y="2963477"/>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6" name="Forma 16"/>
            <p:cNvSpPr/>
            <p:nvPr/>
          </p:nvSpPr>
          <p:spPr>
            <a:xfrm>
              <a:off x="6229645" y="3235821"/>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7" name="Forma 17"/>
            <p:cNvSpPr/>
            <p:nvPr/>
          </p:nvSpPr>
          <p:spPr>
            <a:xfrm>
              <a:off x="6133011" y="3551449"/>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8" name="Forma 18"/>
            <p:cNvSpPr/>
            <p:nvPr/>
          </p:nvSpPr>
          <p:spPr>
            <a:xfrm>
              <a:off x="5825992" y="3672689"/>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19" name="Forma 19"/>
            <p:cNvSpPr/>
            <p:nvPr/>
          </p:nvSpPr>
          <p:spPr>
            <a:xfrm>
              <a:off x="5539780" y="3508243"/>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20" name="Forma 20"/>
            <p:cNvSpPr/>
            <p:nvPr/>
          </p:nvSpPr>
          <p:spPr>
            <a:xfrm>
              <a:off x="5489898" y="3181943"/>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1" name="Forma 21"/>
            <p:cNvSpPr/>
            <p:nvPr/>
          </p:nvSpPr>
          <p:spPr>
            <a:xfrm>
              <a:off x="5298105" y="3813099"/>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2" name="Forma 22"/>
            <p:cNvSpPr/>
            <p:nvPr/>
          </p:nvSpPr>
          <p:spPr>
            <a:xfrm>
              <a:off x="5112633" y="3465700"/>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3" name="Forma 23"/>
            <p:cNvSpPr/>
            <p:nvPr/>
          </p:nvSpPr>
          <p:spPr>
            <a:xfrm>
              <a:off x="5125708" y="3072108"/>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4" name="Forma 24"/>
            <p:cNvSpPr/>
            <p:nvPr/>
          </p:nvSpPr>
          <p:spPr>
            <a:xfrm>
              <a:off x="5333827" y="2737785"/>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25" name="Forma 25"/>
            <p:cNvSpPr/>
            <p:nvPr/>
          </p:nvSpPr>
          <p:spPr>
            <a:xfrm>
              <a:off x="5681226" y="2552313"/>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6" name="Forma 26"/>
            <p:cNvSpPr/>
            <p:nvPr/>
          </p:nvSpPr>
          <p:spPr>
            <a:xfrm>
              <a:off x="6074818" y="2565388"/>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27" name="Forma 27"/>
            <p:cNvSpPr/>
            <p:nvPr/>
          </p:nvSpPr>
          <p:spPr>
            <a:xfrm>
              <a:off x="6409141" y="2773507"/>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8" name="Forma 28"/>
            <p:cNvSpPr/>
            <p:nvPr/>
          </p:nvSpPr>
          <p:spPr>
            <a:xfrm>
              <a:off x="6594613" y="3120906"/>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29" name="Forma 29"/>
            <p:cNvSpPr/>
            <p:nvPr/>
          </p:nvSpPr>
          <p:spPr>
            <a:xfrm>
              <a:off x="6581538" y="3514498"/>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0" name="Forma 30"/>
            <p:cNvSpPr/>
            <p:nvPr/>
          </p:nvSpPr>
          <p:spPr>
            <a:xfrm>
              <a:off x="6373419" y="3848821"/>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1" name="Forma 31"/>
            <p:cNvSpPr/>
            <p:nvPr/>
          </p:nvSpPr>
          <p:spPr>
            <a:xfrm>
              <a:off x="6026020" y="4034293"/>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2" name="Forma 32"/>
            <p:cNvSpPr/>
            <p:nvPr/>
          </p:nvSpPr>
          <p:spPr>
            <a:xfrm>
              <a:off x="5632428" y="4021218"/>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33" name="Forma 33"/>
            <p:cNvSpPr/>
            <p:nvPr/>
          </p:nvSpPr>
          <p:spPr>
            <a:xfrm>
              <a:off x="4751490" y="3440433"/>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34" name="Forma 34"/>
            <p:cNvSpPr/>
            <p:nvPr/>
          </p:nvSpPr>
          <p:spPr>
            <a:xfrm>
              <a:off x="4772765" y="3032361"/>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5" name="Forma 35"/>
            <p:cNvSpPr/>
            <p:nvPr/>
          </p:nvSpPr>
          <p:spPr>
            <a:xfrm>
              <a:off x="4940016" y="2659531"/>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36" name="Forma 36"/>
            <p:cNvSpPr/>
            <p:nvPr/>
          </p:nvSpPr>
          <p:spPr>
            <a:xfrm>
              <a:off x="5230655" y="2372295"/>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7" name="Forma 37"/>
            <p:cNvSpPr/>
            <p:nvPr/>
          </p:nvSpPr>
          <p:spPr>
            <a:xfrm>
              <a:off x="5605429" y="2209447"/>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38" name="Forma 38"/>
            <p:cNvSpPr/>
            <p:nvPr/>
          </p:nvSpPr>
          <p:spPr>
            <a:xfrm>
              <a:off x="6013723" y="2192979"/>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39" name="Forma 39"/>
            <p:cNvSpPr/>
            <p:nvPr/>
          </p:nvSpPr>
          <p:spPr>
            <a:xfrm>
              <a:off x="6400394" y="2325116"/>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40" name="Forma 40"/>
            <p:cNvSpPr/>
            <p:nvPr/>
          </p:nvSpPr>
          <p:spPr>
            <a:xfrm>
              <a:off x="6713222" y="2588012"/>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1" name="Forma 41"/>
            <p:cNvSpPr/>
            <p:nvPr/>
          </p:nvSpPr>
          <p:spPr>
            <a:xfrm>
              <a:off x="6909955" y="2946162"/>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42" name="Forma 42"/>
            <p:cNvSpPr/>
            <p:nvPr/>
          </p:nvSpPr>
          <p:spPr>
            <a:xfrm>
              <a:off x="6964025" y="3351195"/>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43" name="Forma 43"/>
            <p:cNvSpPr/>
            <p:nvPr/>
          </p:nvSpPr>
          <p:spPr>
            <a:xfrm>
              <a:off x="6868130" y="3748409"/>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4" name="Forma 44"/>
            <p:cNvSpPr/>
            <p:nvPr/>
          </p:nvSpPr>
          <p:spPr>
            <a:xfrm>
              <a:off x="6635219" y="4084159"/>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5" name="Forma 45"/>
            <p:cNvSpPr/>
            <p:nvPr/>
          </p:nvSpPr>
          <p:spPr>
            <a:xfrm>
              <a:off x="6296750" y="4313099"/>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46" name="Forma 46"/>
            <p:cNvSpPr/>
            <p:nvPr/>
          </p:nvSpPr>
          <p:spPr>
            <a:xfrm>
              <a:off x="5898433" y="4404310"/>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7" name="Forma 47"/>
            <p:cNvSpPr/>
            <p:nvPr/>
          </p:nvSpPr>
          <p:spPr>
            <a:xfrm>
              <a:off x="5494065" y="4345474"/>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8" name="Forma 48"/>
            <p:cNvSpPr/>
            <p:nvPr/>
          </p:nvSpPr>
          <p:spPr>
            <a:xfrm>
              <a:off x="5138258" y="4144536"/>
              <a:ext cx="362834" cy="362834"/>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β</a:t>
              </a:r>
              <a:endParaRPr lang="es-AR" sz="2880" dirty="0">
                <a:latin typeface="Bahnschrift SemiBold Condensed"/>
              </a:endParaRPr>
            </a:p>
          </p:txBody>
        </p:sp>
        <p:sp>
          <p:nvSpPr>
            <p:cNvPr id="49" name="Forma 49"/>
            <p:cNvSpPr/>
            <p:nvPr/>
          </p:nvSpPr>
          <p:spPr>
            <a:xfrm>
              <a:off x="4879064" y="3828634"/>
              <a:ext cx="362834" cy="362834"/>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2880" b="1" dirty="0">
                  <a:solidFill>
                    <a:srgbClr val="1E1E1E"/>
                  </a:solidFill>
                  <a:latin typeface="Bahnschrift SemiBold Condensed"/>
                  <a:ea typeface="Bahnschrift SemiBold Condensed"/>
                  <a:cs typeface="Bahnschrift SemiBold Condensed"/>
                  <a:sym typeface="Bahnschrift SemiBold Condensed"/>
                </a:rPr>
                <a:t>α</a:t>
              </a:r>
              <a:endParaRPr lang="es-AR" sz="2880" dirty="0">
                <a:latin typeface="Bahnschrift SemiBold Condensed"/>
              </a:endParaRPr>
            </a:p>
          </p:txBody>
        </p:sp>
        <p:sp>
          <p:nvSpPr>
            <p:cNvPr id="50" name="Forma 50"/>
            <p:cNvSpPr/>
            <p:nvPr/>
          </p:nvSpPr>
          <p:spPr>
            <a:xfrm>
              <a:off x="4572000" y="2011680"/>
              <a:ext cx="2926080" cy="2926080"/>
            </a:xfrm>
            <a:custGeom>
              <a:avLst/>
              <a:gdLst/>
              <a:ahLst/>
              <a:cxnLst/>
              <a:rect l="0" t="0" r="r" b="b"/>
              <a:pathLst>
                <a:path w="1000" h="1000" fill="none">
                  <a:moveTo>
                    <a:pt x="0" y="620"/>
                  </a:moveTo>
                  <a:cubicBezTo>
                    <a:pt x="250" y="560"/>
                    <a:pt x="420" y="700"/>
                    <a:pt x="600" y="600"/>
                  </a:cubicBezTo>
                  <a:cubicBezTo>
                    <a:pt x="760" y="520"/>
                    <a:pt x="880" y="560"/>
                    <a:pt x="1000" y="520"/>
                  </a:cubicBezTo>
                </a:path>
              </a:pathLst>
            </a:custGeom>
            <a:noFill/>
            <a:ln w="38100" cap="rnd">
              <a:solidFill>
                <a:srgbClr val="C0392B"/>
              </a:solidFill>
              <a:round/>
            </a:ln>
          </p:spPr>
        </p:sp>
      </p:grpSp>
      <p:grpSp>
        <p:nvGrpSpPr>
          <p:cNvPr id="51" name="Célula β"/>
          <p:cNvGrpSpPr/>
          <p:nvPr/>
        </p:nvGrpSpPr>
        <p:grpSpPr>
          <a:xfrm>
            <a:off x="8001000" y="1051560"/>
            <a:ext cx="3794760" cy="868680"/>
            <a:chOff x="8001000" y="1051560"/>
            <a:chExt cx="3794760" cy="868680"/>
          </a:xfrm>
        </p:grpSpPr>
        <p:sp>
          <p:nvSpPr>
            <p:cNvPr id="52" name="Forma 52"/>
            <p:cNvSpPr/>
            <p:nvPr/>
          </p:nvSpPr>
          <p:spPr>
            <a:xfrm>
              <a:off x="8001000" y="1097280"/>
              <a:ext cx="685800" cy="685800"/>
            </a:xfrm>
            <a:prstGeom prst="ellipse">
              <a:avLst/>
            </a:prstGeom>
            <a:gradFill rotWithShape="1">
              <a:gsLst>
                <a:gs pos="0">
                  <a:srgbClr val="B2D1E5"/>
                </a:gs>
                <a:gs pos="55000">
                  <a:srgbClr val="7FB3D5"/>
                </a:gs>
                <a:gs pos="100000">
                  <a:srgbClr val="5F869F"/>
                </a:gs>
              </a:gsLst>
              <a:path path="circle">
                <a:fillToRect l="32000" t="28000" r="68000" b="72000"/>
              </a:path>
            </a:gradFill>
            <a:ln w="15875" cap="rnd">
              <a:solidFill>
                <a:srgbClr val="3F596A"/>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β</a:t>
              </a:r>
              <a:endParaRPr lang="es-AR" sz="1800" dirty="0">
                <a:latin typeface="Bahnschrift SemiBold Condensed"/>
              </a:endParaRPr>
            </a:p>
          </p:txBody>
        </p:sp>
        <p:sp>
          <p:nvSpPr>
            <p:cNvPr id="53" name="Forma 53"/>
            <p:cNvSpPr/>
            <p:nvPr/>
          </p:nvSpPr>
          <p:spPr>
            <a:xfrm>
              <a:off x="8823960" y="1051560"/>
              <a:ext cx="2971800" cy="868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550" dirty="0">
                  <a:solidFill>
                    <a:srgbClr val="1E1E1E"/>
                  </a:solidFill>
                  <a:latin typeface="Bahnschrift"/>
                  <a:ea typeface="Bahnschrift"/>
                  <a:cs typeface="Bahnschrift"/>
                  <a:sym typeface="Bahnschrift"/>
                </a:rPr>
                <a:t>Insulina (y amilina). Mayoritarias. Sensor de glucosa.</a:t>
              </a:r>
              <a:endParaRPr lang="es-AR" sz="1550" dirty="0">
                <a:latin typeface="Bahnschrift"/>
              </a:endParaRPr>
            </a:p>
          </p:txBody>
        </p:sp>
      </p:grpSp>
      <p:grpSp>
        <p:nvGrpSpPr>
          <p:cNvPr id="54" name="Célula α"/>
          <p:cNvGrpSpPr/>
          <p:nvPr/>
        </p:nvGrpSpPr>
        <p:grpSpPr>
          <a:xfrm>
            <a:off x="8001000" y="2130552"/>
            <a:ext cx="3794760" cy="868680"/>
            <a:chOff x="8001000" y="2130552"/>
            <a:chExt cx="3794760" cy="868680"/>
          </a:xfrm>
        </p:grpSpPr>
        <p:sp>
          <p:nvSpPr>
            <p:cNvPr id="55" name="Forma 55"/>
            <p:cNvSpPr/>
            <p:nvPr/>
          </p:nvSpPr>
          <p:spPr>
            <a:xfrm>
              <a:off x="8001000" y="2176272"/>
              <a:ext cx="685800" cy="685800"/>
            </a:xfrm>
            <a:prstGeom prst="ellipse">
              <a:avLst/>
            </a:prstGeom>
            <a:gradFill rotWithShape="1">
              <a:gsLst>
                <a:gs pos="0">
                  <a:srgbClr val="F6BEB8"/>
                </a:gs>
                <a:gs pos="55000">
                  <a:srgbClr val="F1948A"/>
                </a:gs>
                <a:gs pos="100000">
                  <a:srgbClr val="B46F67"/>
                </a:gs>
              </a:gsLst>
              <a:path path="circle">
                <a:fillToRect l="32000" t="28000" r="68000" b="72000"/>
              </a:path>
            </a:gradFill>
            <a:ln w="15875" cap="rnd">
              <a:solidFill>
                <a:srgbClr val="784A45"/>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α</a:t>
              </a:r>
              <a:endParaRPr lang="es-AR" sz="1800" dirty="0">
                <a:latin typeface="Bahnschrift SemiBold Condensed"/>
              </a:endParaRPr>
            </a:p>
          </p:txBody>
        </p:sp>
        <p:sp>
          <p:nvSpPr>
            <p:cNvPr id="56" name="Forma 56"/>
            <p:cNvSpPr/>
            <p:nvPr/>
          </p:nvSpPr>
          <p:spPr>
            <a:xfrm>
              <a:off x="8823960" y="2130552"/>
              <a:ext cx="2971800" cy="868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550" dirty="0">
                  <a:solidFill>
                    <a:srgbClr val="1E1E1E"/>
                  </a:solidFill>
                  <a:latin typeface="Bahnschrift"/>
                  <a:ea typeface="Bahnschrift"/>
                  <a:cs typeface="Bahnschrift"/>
                  <a:sym typeface="Bahnschrift"/>
                </a:rPr>
                <a:t>Glucagón. Responde a hipoglucemia, aminoácidos y señales autonómicas.</a:t>
              </a:r>
              <a:endParaRPr lang="es-AR" sz="1550" dirty="0">
                <a:latin typeface="Bahnschrift"/>
              </a:endParaRPr>
            </a:p>
          </p:txBody>
        </p:sp>
      </p:grpSp>
      <p:grpSp>
        <p:nvGrpSpPr>
          <p:cNvPr id="57" name="Célula δ"/>
          <p:cNvGrpSpPr/>
          <p:nvPr/>
        </p:nvGrpSpPr>
        <p:grpSpPr>
          <a:xfrm>
            <a:off x="8001000" y="3209544"/>
            <a:ext cx="3794760" cy="868680"/>
            <a:chOff x="8001000" y="3209544"/>
            <a:chExt cx="3794760" cy="868680"/>
          </a:xfrm>
        </p:grpSpPr>
        <p:sp>
          <p:nvSpPr>
            <p:cNvPr id="58" name="Forma 58"/>
            <p:cNvSpPr/>
            <p:nvPr/>
          </p:nvSpPr>
          <p:spPr>
            <a:xfrm>
              <a:off x="8001000" y="3255264"/>
              <a:ext cx="685800" cy="685800"/>
            </a:xfrm>
            <a:prstGeom prst="ellipse">
              <a:avLst/>
            </a:prstGeom>
            <a:gradFill rotWithShape="1">
              <a:gsLst>
                <a:gs pos="0">
                  <a:srgbClr val="FAEAA8"/>
                </a:gs>
                <a:gs pos="55000">
                  <a:srgbClr val="F7DC6F"/>
                </a:gs>
                <a:gs pos="100000">
                  <a:srgbClr val="B9A553"/>
                </a:gs>
              </a:gsLst>
              <a:path path="circle">
                <a:fillToRect l="32000" t="28000" r="68000" b="72000"/>
              </a:path>
            </a:gradFill>
            <a:ln w="15875" cap="rnd">
              <a:solidFill>
                <a:srgbClr val="7B6E37"/>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δ</a:t>
              </a:r>
              <a:endParaRPr lang="es-AR" sz="1800" dirty="0">
                <a:latin typeface="Bahnschrift SemiBold Condensed"/>
              </a:endParaRPr>
            </a:p>
          </p:txBody>
        </p:sp>
        <p:sp>
          <p:nvSpPr>
            <p:cNvPr id="59" name="Forma 59"/>
            <p:cNvSpPr/>
            <p:nvPr/>
          </p:nvSpPr>
          <p:spPr>
            <a:xfrm>
              <a:off x="8823960" y="3209544"/>
              <a:ext cx="2971800" cy="868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00" dirty="0">
                  <a:solidFill>
                    <a:srgbClr val="1E1E1E"/>
                  </a:solidFill>
                  <a:latin typeface="Bahnschrift"/>
                  <a:ea typeface="Bahnschrift"/>
                  <a:cs typeface="Bahnschrift"/>
                  <a:sym typeface="Bahnschrift"/>
                </a:rPr>
                <a:t>Somatostatina: freno paracrino de α y β.</a:t>
              </a:r>
              <a:endParaRPr lang="es-AR" sz="1600" dirty="0">
                <a:latin typeface="Bahnschrift"/>
              </a:endParaRPr>
            </a:p>
          </p:txBody>
        </p:sp>
      </p:grpSp>
      <p:grpSp>
        <p:nvGrpSpPr>
          <p:cNvPr id="60" name="Célula PP"/>
          <p:cNvGrpSpPr/>
          <p:nvPr/>
        </p:nvGrpSpPr>
        <p:grpSpPr>
          <a:xfrm>
            <a:off x="8001000" y="4288536"/>
            <a:ext cx="3794760" cy="868680"/>
            <a:chOff x="8001000" y="4288536"/>
            <a:chExt cx="3794760" cy="868680"/>
          </a:xfrm>
        </p:grpSpPr>
        <p:sp>
          <p:nvSpPr>
            <p:cNvPr id="61" name="Forma 61"/>
            <p:cNvSpPr/>
            <p:nvPr/>
          </p:nvSpPr>
          <p:spPr>
            <a:xfrm>
              <a:off x="8001000" y="4334256"/>
              <a:ext cx="685800" cy="685800"/>
            </a:xfrm>
            <a:prstGeom prst="ellipse">
              <a:avLst/>
            </a:prstGeom>
            <a:gradFill rotWithShape="1">
              <a:gsLst>
                <a:gs pos="0">
                  <a:srgbClr val="DBC3E4"/>
                </a:gs>
                <a:gs pos="55000">
                  <a:srgbClr val="C39BD3"/>
                </a:gs>
                <a:gs pos="100000">
                  <a:srgbClr val="92749E"/>
                </a:gs>
              </a:gsLst>
              <a:path path="circle">
                <a:fillToRect l="32000" t="28000" r="68000" b="72000"/>
              </a:path>
            </a:gradFill>
            <a:ln w="15875" cap="rnd">
              <a:solidFill>
                <a:srgbClr val="614D69"/>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PP</a:t>
              </a:r>
              <a:endParaRPr lang="es-AR" sz="1800" dirty="0">
                <a:latin typeface="Bahnschrift SemiBold Condensed"/>
              </a:endParaRPr>
            </a:p>
          </p:txBody>
        </p:sp>
        <p:sp>
          <p:nvSpPr>
            <p:cNvPr id="62" name="Forma 62"/>
            <p:cNvSpPr/>
            <p:nvPr/>
          </p:nvSpPr>
          <p:spPr>
            <a:xfrm>
              <a:off x="8823960" y="4288536"/>
              <a:ext cx="2971800" cy="868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00" dirty="0">
                  <a:solidFill>
                    <a:srgbClr val="1E1E1E"/>
                  </a:solidFill>
                  <a:latin typeface="Bahnschrift"/>
                  <a:ea typeface="Bahnschrift"/>
                  <a:cs typeface="Bahnschrift"/>
                  <a:sym typeface="Bahnschrift"/>
                </a:rPr>
                <a:t>Polipéptido pancreático (≠ PYY).</a:t>
              </a:r>
              <a:endParaRPr lang="es-AR" sz="1600" dirty="0">
                <a:latin typeface="Bahnschrift"/>
              </a:endParaRPr>
            </a:p>
          </p:txBody>
        </p:sp>
      </p:grpSp>
      <p:sp>
        <p:nvSpPr>
          <p:cNvPr id="63" name="Forma 63"/>
          <p:cNvSpPr/>
          <p:nvPr/>
        </p:nvSpPr>
        <p:spPr>
          <a:xfrm>
            <a:off x="365760" y="3429000"/>
            <a:ext cx="4023360" cy="30175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Islotes: </a:t>
            </a:r>
            <a:r>
              <a:rPr lang="es-AR" sz="1650" b="1" dirty="0">
                <a:solidFill>
                  <a:srgbClr val="1E1E1E"/>
                </a:solidFill>
                <a:latin typeface="Bahnschrift"/>
                <a:ea typeface="Bahnschrift"/>
                <a:cs typeface="Bahnschrift"/>
                <a:sym typeface="Bahnschrift"/>
              </a:rPr>
              <a:t>~1–2 %</a:t>
            </a:r>
            <a:r>
              <a:rPr lang="es-AR" sz="1650" dirty="0">
                <a:solidFill>
                  <a:srgbClr val="1E1E1E"/>
                </a:solidFill>
                <a:latin typeface="Bahnschrift"/>
                <a:ea typeface="Bahnschrift"/>
                <a:cs typeface="Bahnschrift"/>
                <a:sym typeface="Bahnschrift"/>
              </a:rPr>
              <a:t> del volumen pancreático, muy </a:t>
            </a:r>
            <a:r>
              <a:rPr lang="es-AR" sz="1650" b="1" dirty="0">
                <a:solidFill>
                  <a:srgbClr val="1E1E1E"/>
                </a:solidFill>
                <a:latin typeface="Bahnschrift"/>
                <a:ea typeface="Bahnschrift"/>
                <a:cs typeface="Bahnschrift"/>
                <a:sym typeface="Bahnschrift"/>
              </a:rPr>
              <a:t>vascularizados</a:t>
            </a:r>
            <a:r>
              <a:rPr lang="es-AR" sz="1650" dirty="0">
                <a:solidFill>
                  <a:srgbClr val="1E1E1E"/>
                </a:solidFill>
                <a:latin typeface="Bahnschrift"/>
                <a:ea typeface="Bahnschrift"/>
                <a:cs typeface="Bahnschrift"/>
                <a:sym typeface="Bahnschrift"/>
              </a:rPr>
              <a:t> e inervados (vago y simpático).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sangre insular drena a la </a:t>
            </a:r>
            <a:r>
              <a:rPr lang="es-AR" sz="1650" b="1" dirty="0">
                <a:solidFill>
                  <a:srgbClr val="1E1E1E"/>
                </a:solidFill>
                <a:latin typeface="Bahnschrift"/>
                <a:ea typeface="Bahnschrift"/>
                <a:cs typeface="Bahnschrift"/>
                <a:sym typeface="Bahnschrift"/>
              </a:rPr>
              <a:t>vena porta</a:t>
            </a:r>
            <a:r>
              <a:rPr lang="es-AR" sz="1650" dirty="0">
                <a:solidFill>
                  <a:srgbClr val="1E1E1E"/>
                </a:solidFill>
                <a:latin typeface="Bahnschrift"/>
                <a:ea typeface="Bahnschrift"/>
                <a:cs typeface="Bahnschrift"/>
                <a:sym typeface="Bahnschrift"/>
              </a:rPr>
              <a:t>: el hígado recibe las mayores concentraciones de insulina y glucagón.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Comunicación </a:t>
            </a:r>
            <a:r>
              <a:rPr lang="es-AR" sz="1650" b="1" dirty="0">
                <a:solidFill>
                  <a:srgbClr val="1E1E1E"/>
                </a:solidFill>
                <a:latin typeface="Bahnschrift"/>
                <a:ea typeface="Bahnschrift"/>
                <a:cs typeface="Bahnschrift"/>
                <a:sym typeface="Bahnschrift"/>
              </a:rPr>
              <a:t>paracrina</a:t>
            </a:r>
            <a:r>
              <a:rPr lang="es-AR" sz="1650" dirty="0">
                <a:solidFill>
                  <a:srgbClr val="1E1E1E"/>
                </a:solidFill>
                <a:latin typeface="Bahnschrift"/>
                <a:ea typeface="Bahnschrift"/>
                <a:cs typeface="Bahnschrift"/>
                <a:sym typeface="Bahnschrift"/>
              </a:rPr>
              <a:t> entre α, β y δ.</a:t>
            </a:r>
            <a:endParaRPr lang="es-AR" sz="16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92721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EL ISLOTE PANCREÁTICO: ANATOMÍA FUNCIONAL</a:t>
            </a:r>
            <a:endParaRPr lang="es-AR" sz="2600" dirty="0">
              <a:latin typeface="Bahnschrift SemiBold Condensed"/>
            </a:endParaRPr>
          </a:p>
        </p:txBody>
      </p:sp>
      <p:sp>
        <p:nvSpPr>
          <p:cNvPr id="6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10"/>
                                        </p:tgtEl>
                                        <p:attrNameLst>
                                          <p:attrName>style.visibility</p:attrName>
                                        </p:attrNameLst>
                                      </p:cBhvr>
                                      <p:to>
                                        <p:strVal val="visible"/>
                                      </p:to>
                                    </p:set>
                                    <p:animEffect transition="in" filter="wipe(left)">
                                      <p:cBhvr>
                                        <p:cTn id="9" dur="600"/>
                                        <p:tgtEl>
                                          <p:spTgt spid="10"/>
                                        </p:tgtEl>
                                      </p:cBhvr>
                                    </p:animEffect>
                                  </p:childTnLst>
                                </p:cTn>
                              </p:par>
                            </p:childTnLst>
                          </p:cTn>
                        </p:par>
                        <p:par>
                          <p:cTn id="16" fill="hold">
                            <p:stCondLst>
                              <p:cond delay="1100"/>
                            </p:stCondLst>
                            <p:childTnLst>
                              <p:par>
                                <p:cTn id="11" presetID="53" presetClass="entr" presetSubtype="16"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500" fill="hold"/>
                                        <p:tgtEl>
                                          <p:spTgt spid="11"/>
                                        </p:tgtEl>
                                        <p:attrNameLst>
                                          <p:attrName>ppt_w</p:attrName>
                                        </p:attrNameLst>
                                      </p:cBhvr>
                                      <p:tavLst>
                                        <p:tav tm="0">
                                          <p:val>
                                            <p:fltVal val="0"/>
                                          </p:val>
                                        </p:tav>
                                        <p:tav tm="100000">
                                          <p:val>
                                            <p:strVal val="#ppt_w"/>
                                          </p:val>
                                        </p:tav>
                                      </p:tavLst>
                                    </p:anim>
                                    <p:anim calcmode="lin" valueType="num">
                                      <p:cBhvr>
                                        <p:cTn id="14" dur="500" fill="hold"/>
                                        <p:tgtEl>
                                          <p:spTgt spid="11"/>
                                        </p:tgtEl>
                                        <p:attrNameLst>
                                          <p:attrName>ppt_h</p:attrName>
                                        </p:attrNameLst>
                                      </p:cBhvr>
                                      <p:tavLst>
                                        <p:tav tm="0">
                                          <p:val>
                                            <p:fltVal val="0"/>
                                          </p:val>
                                        </p:tav>
                                        <p:tav tm="100000">
                                          <p:val>
                                            <p:strVal val="#ppt_h"/>
                                          </p:val>
                                        </p:tav>
                                      </p:tavLst>
                                    </p:anim>
                                    <p:animEffect transition="in" filter="fade">
                                      <p:cBhvr>
                                        <p:cTn id="15" dur="500"/>
                                        <p:tgtEl>
                                          <p:spTgt spid="11"/>
                                        </p:tgtEl>
                                      </p:cBhvr>
                                    </p:animEffect>
                                  </p:childTnLst>
                                </p:cTn>
                              </p:par>
                            </p:childTnLst>
                          </p:cTn>
                        </p:par>
                      </p:childTnLst>
                    </p:cTn>
                  </p:par>
                  <p:par>
                    <p:cTn id="34"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500"/>
                                        <p:tgtEl>
                                          <p:spTgt spid="51"/>
                                        </p:tgtEl>
                                      </p:cBhvr>
                                    </p:animEffect>
                                  </p:childTnLst>
                                </p:cTn>
                              </p:par>
                            </p:childTnLst>
                          </p:cTn>
                        </p:par>
                        <p:par>
                          <p:cTn id="25"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54"/>
                                        </p:tgtEl>
                                        <p:attrNameLst>
                                          <p:attrName>style.visibility</p:attrName>
                                        </p:attrNameLst>
                                      </p:cBhvr>
                                      <p:to>
                                        <p:strVal val="visible"/>
                                      </p:to>
                                    </p:set>
                                    <p:animEffect transition="in" filter="fade">
                                      <p:cBhvr>
                                        <p:cTn id="24" dur="500"/>
                                        <p:tgtEl>
                                          <p:spTgt spid="54"/>
                                        </p:tgtEl>
                                      </p:cBhvr>
                                    </p:animEffect>
                                  </p:childTnLst>
                                </p:cTn>
                              </p:par>
                            </p:childTnLst>
                          </p:cTn>
                        </p:par>
                        <p:par>
                          <p:cTn id="29"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57"/>
                                        </p:tgtEl>
                                        <p:attrNameLst>
                                          <p:attrName>style.visibility</p:attrName>
                                        </p:attrNameLst>
                                      </p:cBhvr>
                                      <p:to>
                                        <p:strVal val="visible"/>
                                      </p:to>
                                    </p:set>
                                    <p:animEffect transition="in" filter="fade">
                                      <p:cBhvr>
                                        <p:cTn id="28" dur="500"/>
                                        <p:tgtEl>
                                          <p:spTgt spid="57"/>
                                        </p:tgtEl>
                                      </p:cBhvr>
                                    </p:animEffect>
                                  </p:childTnLst>
                                </p:cTn>
                              </p:par>
                            </p:childTnLst>
                          </p:cTn>
                        </p:par>
                        <p:par>
                          <p:cTn id="33"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60"/>
                                        </p:tgtEl>
                                        <p:attrNameLst>
                                          <p:attrName>style.visibility</p:attrName>
                                        </p:attrNameLst>
                                      </p:cBhvr>
                                      <p:to>
                                        <p:strVal val="visible"/>
                                      </p:to>
                                    </p:set>
                                    <p:animEffect transition="in" filter="fade">
                                      <p:cBhvr>
                                        <p:cTn id="32" dur="500"/>
                                        <p:tgtEl>
                                          <p:spTgt spid="60"/>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63"/>
                                        </p:tgtEl>
                                        <p:attrNameLst>
                                          <p:attrName>style.visibility</p:attrName>
                                        </p:attrNameLst>
                                      </p:cBhvr>
                                      <p:to>
                                        <p:strVal val="visible"/>
                                      </p:to>
                                    </p:set>
                                    <p:animEffect transition="in" filter="fade">
                                      <p:cBhvr>
                                        <p:cTn id="3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63" grpId="0" animBg="1"/>
    </p:bldLst>
  </p:timing>
</p:sld>
</file>

<file path=ppt/slides/slide2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abierto"/>
          <p:cNvGrpSpPr/>
          <p:nvPr/>
        </p:nvGrpSpPr>
        <p:grpSpPr>
          <a:xfrm>
            <a:off x="2331720" y="1819656"/>
            <a:ext cx="1733702" cy="914400"/>
            <a:chOff x="2331720" y="1819656"/>
            <a:chExt cx="1733702"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249778"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416198"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(Kir6.2/SUR1)</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anel"/>
          <p:cNvGrpSpPr/>
          <p:nvPr/>
        </p:nvGrpSpPr>
        <p:grpSpPr>
          <a:xfrm>
            <a:off x="8001000" y="1051560"/>
            <a:ext cx="3840480" cy="4526280"/>
            <a:chOff x="8001000" y="1051560"/>
            <a:chExt cx="3840480" cy="4526280"/>
          </a:xfrm>
        </p:grpSpPr>
        <p:sp>
          <p:nvSpPr>
            <p:cNvPr id="77" name="Forma 76"/>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8" name="Paso β"/>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β</a:t>
              </a:r>
              <a:endParaRPr lang="es-AR" sz="1500" dirty="0">
                <a:latin typeface="Bahnschrift SemiBold Condensed"/>
              </a:endParaRPr>
            </a:p>
          </p:txBody>
        </p:sp>
        <p:sp>
          <p:nvSpPr>
            <p:cNvPr id="79" name="Forma 78"/>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Componentes del sensor</a:t>
              </a:r>
              <a:endParaRPr lang="es-AR" sz="1700" dirty="0">
                <a:latin typeface="Bahnschrift SemiBold Condensed"/>
              </a:endParaRPr>
            </a:p>
          </p:txBody>
        </p:sp>
        <p:sp>
          <p:nvSpPr>
            <p:cNvPr id="80" name="Forma 79"/>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GLUT</a:t>
              </a:r>
              <a:r>
                <a:rPr lang="es-AR" sz="1500" dirty="0">
                  <a:solidFill>
                    <a:srgbClr val="1E1E1E"/>
                  </a:solidFill>
                  <a:latin typeface="Bahnschrift"/>
                  <a:ea typeface="Bahnschrift"/>
                  <a:cs typeface="Bahnschrift"/>
                  <a:sym typeface="Bahnschrift"/>
                </a:rPr>
                <a:t>: entrada de glucosa proporcional a su concentración.</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Glucocinasa</a:t>
              </a:r>
              <a:r>
                <a:rPr lang="es-AR" sz="1500" dirty="0">
                  <a:solidFill>
                    <a:srgbClr val="1E1E1E"/>
                  </a:solidFill>
                  <a:latin typeface="Bahnschrift"/>
                  <a:ea typeface="Bahnschrift"/>
                  <a:cs typeface="Bahnschrift"/>
                  <a:sym typeface="Bahnschrift"/>
                </a:rPr>
                <a:t>: fija el umbral (sensor).</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Mitocondria</a:t>
              </a:r>
              <a:r>
                <a:rPr lang="es-AR" sz="1500" dirty="0">
                  <a:solidFill>
                    <a:srgbClr val="1E1E1E"/>
                  </a:solidFill>
                  <a:latin typeface="Bahnschrift"/>
                  <a:ea typeface="Bahnschrift"/>
                  <a:cs typeface="Bahnschrift"/>
                  <a:sym typeface="Bahnschrift"/>
                </a:rPr>
                <a:t>: convierte flujo de glucosa en ATP.</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K</a:t>
              </a:r>
              <a:r>
                <a:rPr lang="es-AR" sz="1500" b="1" baseline="-25000" dirty="0">
                  <a:solidFill>
                    <a:srgbClr val="1E1E1E"/>
                  </a:solidFill>
                  <a:latin typeface="Bahnschrift"/>
                  <a:ea typeface="Bahnschrift"/>
                  <a:cs typeface="Bahnschrift"/>
                  <a:sym typeface="Bahnschrift"/>
                </a:rPr>
                <a:t>ATP</a:t>
              </a:r>
              <a:r>
                <a:rPr lang="es-AR" sz="1500" dirty="0">
                  <a:solidFill>
                    <a:srgbClr val="1E1E1E"/>
                  </a:solidFill>
                  <a:latin typeface="Bahnschrift"/>
                  <a:ea typeface="Bahnschrift"/>
                  <a:cs typeface="Bahnschrift"/>
                  <a:sym typeface="Bahnschrift"/>
                </a:rPr>
                <a:t> (Kir6.2/SUR1) y </a:t>
              </a:r>
              <a:r>
                <a:rPr lang="es-AR" sz="1500" b="1" dirty="0">
                  <a:solidFill>
                    <a:srgbClr val="1E1E1E"/>
                  </a:solidFill>
                  <a:latin typeface="Bahnschrift"/>
                  <a:ea typeface="Bahnschrift"/>
                  <a:cs typeface="Bahnschrift"/>
                  <a:sym typeface="Bahnschrift"/>
                </a:rPr>
                <a:t>Ca</a:t>
              </a:r>
              <a:r>
                <a:rPr lang="es-AR" sz="1500" b="1" baseline="-25000" dirty="0">
                  <a:solidFill>
                    <a:srgbClr val="1E1E1E"/>
                  </a:solidFill>
                  <a:latin typeface="Bahnschrift"/>
                  <a:ea typeface="Bahnschrift"/>
                  <a:cs typeface="Bahnschrift"/>
                  <a:sym typeface="Bahnschrift"/>
                </a:rPr>
                <a:t>V</a:t>
              </a:r>
              <a:r>
                <a:rPr lang="es-AR" sz="1500" dirty="0">
                  <a:solidFill>
                    <a:srgbClr val="1E1E1E"/>
                  </a:solidFill>
                  <a:latin typeface="Bahnschrift"/>
                  <a:ea typeface="Bahnschrift"/>
                  <a:cs typeface="Bahnschrift"/>
                  <a:sym typeface="Bahnschrift"/>
                </a:rPr>
                <a:t>: traducen metabolismo en señal eléctrica.</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Gránulos</a:t>
              </a:r>
              <a:r>
                <a:rPr lang="es-AR" sz="1500" dirty="0">
                  <a:solidFill>
                    <a:srgbClr val="1E1E1E"/>
                  </a:solidFill>
                  <a:latin typeface="Bahnschrift"/>
                  <a:ea typeface="Bahnschrift"/>
                  <a:cs typeface="Bahnschrift"/>
                  <a:sym typeface="Bahnschrift"/>
                </a:rPr>
                <a:t>: insulina almacenada lista para exocitosis.</a:t>
              </a:r>
              <a:endParaRPr lang="es-AR" sz="1500" dirty="0">
                <a:latin typeface="Bahnschrift"/>
              </a:endParaRPr>
            </a:p>
          </p:txBody>
        </p:sp>
      </p:grpSp>
      <p:grpSp>
        <p:nvGrpSpPr>
          <p:cNvPr id="81" name="!!Progreso"/>
          <p:cNvGrpSpPr/>
          <p:nvPr/>
        </p:nvGrpSpPr>
        <p:grpSpPr>
          <a:xfrm>
            <a:off x="8001000" y="5870448"/>
            <a:ext cx="3840480" cy="603504"/>
            <a:chOff x="8001000" y="5870448"/>
            <a:chExt cx="3840480" cy="603504"/>
          </a:xfrm>
        </p:grpSpPr>
        <p:sp>
          <p:nvSpPr>
            <p:cNvPr id="82" name="Forma 81"/>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3" name="Progreso 1"/>
            <p:cNvSpPr/>
            <p:nvPr/>
          </p:nvSpPr>
          <p:spPr>
            <a:xfrm>
              <a:off x="800100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4" name="Progreso 2"/>
            <p:cNvSpPr/>
            <p:nvPr/>
          </p:nvSpPr>
          <p:spPr>
            <a:xfrm>
              <a:off x="838504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5" name="Progreso 3"/>
            <p:cNvSpPr/>
            <p:nvPr/>
          </p:nvSpPr>
          <p:spPr>
            <a:xfrm>
              <a:off x="876909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6" name="Progreso 4"/>
            <p:cNvSpPr/>
            <p:nvPr/>
          </p:nvSpPr>
          <p:spPr>
            <a:xfrm>
              <a:off x="915314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7" name="Progreso 5"/>
            <p:cNvSpPr/>
            <p:nvPr/>
          </p:nvSpPr>
          <p:spPr>
            <a:xfrm>
              <a:off x="953719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8" name="Progreso 6"/>
            <p:cNvSpPr/>
            <p:nvPr/>
          </p:nvSpPr>
          <p:spPr>
            <a:xfrm>
              <a:off x="992124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9"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0"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1"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2"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705163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LA CÉLULA β: ANATOMÍA FUNCIONAL DEL SENSOR</a:t>
            </a:r>
            <a:endParaRPr lang="es-AR" sz="2600" dirty="0">
              <a:latin typeface="Bahnschrift SemiBold Condensed"/>
            </a:endParaRPr>
          </a:p>
        </p:txBody>
      </p:sp>
      <p:sp>
        <p:nvSpPr>
          <p:cNvPr id="9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5" fill="hold">
                            <p:stCondLst>
                              <p:cond delay="0"/>
                            </p:stCondLst>
                            <p:childTnLst>
                              <p:par>
                                <p:cTn id="3" presetID="6" presetClass="emph" presetSubtype="0" fill="hold" grpId="0" nodeType="clickEffect">
                                  <p:stCondLst>
                                    <p:cond delay="0"/>
                                  </p:stCondLst>
                                  <p:childTnLst>
                                    <p:animScale>
                                      <p:cBhvr>
                                        <p:cTn id="4" dur="300" autoRev="1" fill="hold"/>
                                        <p:tgtEl>
                                          <p:spTgt spid="19"/>
                                        </p:tgtEl>
                                      </p:cBhvr>
                                      <p:by x="112000" y="112000"/>
                                    </p:animScale>
                                  </p:childTnLst>
                                </p:cTn>
                              </p:par>
                            </p:childTnLst>
                          </p:cTn>
                        </p:par>
                        <p:par>
                          <p:cTn id="8" fill="hold">
                            <p:stCondLst>
                              <p:cond delay="300"/>
                            </p:stCondLst>
                            <p:childTnLst>
                              <p:par>
                                <p:cTn id="6" presetID="6" presetClass="emph" presetSubtype="0" fill="hold" grpId="0" nodeType="afterEffect">
                                  <p:stCondLst>
                                    <p:cond delay="0"/>
                                  </p:stCondLst>
                                  <p:childTnLst>
                                    <p:animScale>
                                      <p:cBhvr>
                                        <p:cTn id="7" dur="300" autoRev="1" fill="hold"/>
                                        <p:tgtEl>
                                          <p:spTgt spid="23"/>
                                        </p:tgtEl>
                                      </p:cBhvr>
                                      <p:by x="112000" y="112000"/>
                                    </p:animScale>
                                  </p:childTnLst>
                                </p:cTn>
                              </p:par>
                            </p:childTnLst>
                          </p:cTn>
                        </p:par>
                        <p:par>
                          <p:cTn id="11" fill="hold">
                            <p:stCondLst>
                              <p:cond delay="600"/>
                            </p:stCondLst>
                            <p:childTnLst>
                              <p:par>
                                <p:cTn id="9" presetID="6" presetClass="emph" presetSubtype="0" fill="hold" grpId="0" nodeType="afterEffect">
                                  <p:stCondLst>
                                    <p:cond delay="0"/>
                                  </p:stCondLst>
                                  <p:childTnLst>
                                    <p:animScale>
                                      <p:cBhvr>
                                        <p:cTn id="10" dur="300" autoRev="1" fill="hold"/>
                                        <p:tgtEl>
                                          <p:spTgt spid="29"/>
                                        </p:tgtEl>
                                      </p:cBhvr>
                                      <p:by x="112000" y="112000"/>
                                    </p:animScale>
                                  </p:childTnLst>
                                </p:cTn>
                              </p:par>
                            </p:childTnLst>
                          </p:cTn>
                        </p:par>
                        <p:par>
                          <p:cTn id="14" fill="hold">
                            <p:stCondLst>
                              <p:cond delay="900"/>
                            </p:stCondLst>
                            <p:childTnLst>
                              <p:par>
                                <p:cTn id="12" presetID="6" presetClass="emph" presetSubtype="0" fill="hold" grpId="0" nodeType="afterEffect">
                                  <p:stCondLst>
                                    <p:cond delay="0"/>
                                  </p:stCondLst>
                                  <p:childTnLst>
                                    <p:animScale>
                                      <p:cBhvr>
                                        <p:cTn id="13" dur="300" autoRev="1" fill="hold"/>
                                        <p:tgtEl>
                                          <p:spTgt spid="35"/>
                                        </p:tgtEl>
                                      </p:cBhvr>
                                      <p:by x="112000" y="112000"/>
                                    </p:animScale>
                                  </p:childTnLst>
                                </p:cTn>
                              </p:par>
                            </p:childTnLst>
                          </p:cTn>
                        </p:par>
                      </p:childTnLst>
                    </p:cTn>
                  </p:par>
                  <p:par>
                    <p:cTn id="28" fill="hold">
                      <p:stCondLst>
                        <p:cond delay="indefinite"/>
                      </p:stCondLst>
                      <p:childTnLst>
                        <p:par>
                          <p:cTn id="18" fill="hold">
                            <p:stCondLst>
                              <p:cond delay="0"/>
                            </p:stCondLst>
                            <p:childTnLst>
                              <p:par>
                                <p:cTn id="16" presetID="6" presetClass="emph" presetSubtype="0" fill="hold" grpId="0" nodeType="clickEffect">
                                  <p:stCondLst>
                                    <p:cond delay="0"/>
                                  </p:stCondLst>
                                  <p:childTnLst>
                                    <p:animScale>
                                      <p:cBhvr>
                                        <p:cTn id="17" dur="200" autoRev="1" fill="hold"/>
                                        <p:tgtEl>
                                          <p:spTgt spid="39"/>
                                        </p:tgtEl>
                                      </p:cBhvr>
                                      <p:by x="112000" y="112000"/>
                                    </p:animScale>
                                  </p:childTnLst>
                                </p:cTn>
                              </p:par>
                            </p:childTnLst>
                          </p:cTn>
                        </p:par>
                        <p:par>
                          <p:cTn id="21" fill="hold">
                            <p:stCondLst>
                              <p:cond delay="200"/>
                            </p:stCondLst>
                            <p:childTnLst>
                              <p:par>
                                <p:cTn id="19" presetID="6" presetClass="emph" presetSubtype="0" fill="hold" grpId="0" nodeType="afterEffect">
                                  <p:stCondLst>
                                    <p:cond delay="0"/>
                                  </p:stCondLst>
                                  <p:childTnLst>
                                    <p:animScale>
                                      <p:cBhvr>
                                        <p:cTn id="20" dur="200" autoRev="1" fill="hold"/>
                                        <p:tgtEl>
                                          <p:spTgt spid="42"/>
                                        </p:tgtEl>
                                      </p:cBhvr>
                                      <p:by x="112000" y="112000"/>
                                    </p:animScale>
                                  </p:childTnLst>
                                </p:cTn>
                              </p:par>
                            </p:childTnLst>
                          </p:cTn>
                        </p:par>
                        <p:par>
                          <p:cTn id="24" fill="hold">
                            <p:stCondLst>
                              <p:cond delay="400"/>
                            </p:stCondLst>
                            <p:childTnLst>
                              <p:par>
                                <p:cTn id="22" presetID="6" presetClass="emph" presetSubtype="0" fill="hold" grpId="0" nodeType="afterEffect">
                                  <p:stCondLst>
                                    <p:cond delay="0"/>
                                  </p:stCondLst>
                                  <p:childTnLst>
                                    <p:animScale>
                                      <p:cBhvr>
                                        <p:cTn id="23" dur="200" autoRev="1" fill="hold"/>
                                        <p:tgtEl>
                                          <p:spTgt spid="45"/>
                                        </p:tgtEl>
                                      </p:cBhvr>
                                      <p:by x="112000" y="112000"/>
                                    </p:animScale>
                                  </p:childTnLst>
                                </p:cTn>
                              </p:par>
                            </p:childTnLst>
                          </p:cTn>
                        </p:par>
                        <p:par>
                          <p:cTn id="27" fill="hold">
                            <p:stCondLst>
                              <p:cond delay="600"/>
                            </p:stCondLst>
                            <p:childTnLst>
                              <p:par>
                                <p:cTn id="25" presetID="6" presetClass="emph" presetSubtype="0" fill="hold" grpId="0" nodeType="afterEffect">
                                  <p:stCondLst>
                                    <p:cond delay="0"/>
                                  </p:stCondLst>
                                  <p:childTnLst>
                                    <p:animScale>
                                      <p:cBhvr>
                                        <p:cTn id="26" dur="200" autoRev="1" fill="hold"/>
                                        <p:tgtEl>
                                          <p:spTgt spid="48"/>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abierto"/>
          <p:cNvGrpSpPr/>
          <p:nvPr/>
        </p:nvGrpSpPr>
        <p:grpSpPr>
          <a:xfrm>
            <a:off x="2331720" y="1819656"/>
            <a:ext cx="1733702" cy="914400"/>
            <a:chOff x="2331720" y="1819656"/>
            <a:chExt cx="1733702"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249778"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416198"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(Kir6.2/SUR1)</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anel"/>
          <p:cNvGrpSpPr/>
          <p:nvPr/>
        </p:nvGrpSpPr>
        <p:grpSpPr>
          <a:xfrm>
            <a:off x="8001000" y="1051560"/>
            <a:ext cx="3840480" cy="4526280"/>
            <a:chOff x="8001000" y="1051560"/>
            <a:chExt cx="3840480" cy="4526280"/>
          </a:xfrm>
        </p:grpSpPr>
        <p:sp>
          <p:nvSpPr>
            <p:cNvPr id="77" name="Forma 76"/>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8" name="Paso 1–2"/>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1–2</a:t>
              </a:r>
              <a:endParaRPr lang="es-AR" sz="1500" dirty="0">
                <a:latin typeface="Bahnschrift SemiBold Condensed"/>
              </a:endParaRPr>
            </a:p>
          </p:txBody>
        </p:sp>
        <p:sp>
          <p:nvSpPr>
            <p:cNvPr id="79" name="Forma 78"/>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Glucosa ↑ → entrada</a:t>
              </a:r>
              <a:endParaRPr lang="es-AR" sz="1700" dirty="0">
                <a:latin typeface="Bahnschrift SemiBold Condensed"/>
              </a:endParaRPr>
            </a:p>
          </p:txBody>
        </p:sp>
        <p:sp>
          <p:nvSpPr>
            <p:cNvPr id="80" name="Forma 79"/>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Tras la comida aumenta la </a:t>
              </a:r>
              <a:r>
                <a:rPr lang="es-AR" sz="1500" b="1" dirty="0">
                  <a:solidFill>
                    <a:srgbClr val="1E1E1E"/>
                  </a:solidFill>
                  <a:latin typeface="Bahnschrift"/>
                  <a:ea typeface="Bahnschrift"/>
                  <a:cs typeface="Bahnschrift"/>
                  <a:sym typeface="Bahnschrift"/>
                </a:rPr>
                <a:t>glucemia</a:t>
              </a:r>
              <a:r>
                <a:rPr lang="es-AR" sz="1500" dirty="0">
                  <a:solidFill>
                    <a:srgbClr val="1E1E1E"/>
                  </a:solidFill>
                  <a:latin typeface="Bahnschrift"/>
                  <a:ea typeface="Bahnschrift"/>
                  <a:cs typeface="Bahnschrift"/>
                  <a:sym typeface="Bahnschrift"/>
                </a:rPr>
                <a:t> portal y sistémica.</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La glucosa ingresa por </a:t>
              </a:r>
              <a:r>
                <a:rPr lang="es-AR" sz="1500" b="1" dirty="0">
                  <a:solidFill>
                    <a:srgbClr val="1E1E1E"/>
                  </a:solidFill>
                  <a:latin typeface="Bahnschrift"/>
                  <a:ea typeface="Bahnschrift"/>
                  <a:cs typeface="Bahnschrift"/>
                  <a:sym typeface="Bahnschrift"/>
                </a:rPr>
                <a:t>difusión facilitada</a:t>
              </a:r>
              <a:r>
                <a:rPr lang="es-AR" sz="1500" dirty="0">
                  <a:solidFill>
                    <a:srgbClr val="1E1E1E"/>
                  </a:solidFill>
                  <a:latin typeface="Bahnschrift"/>
                  <a:ea typeface="Bahnschrift"/>
                  <a:cs typeface="Bahnschrift"/>
                  <a:sym typeface="Bahnschrift"/>
                </a:rPr>
                <a:t> a través de GLUT, siguiendo su gradiente.</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La entrada </a:t>
              </a:r>
              <a:r>
                <a:rPr lang="es-AR" sz="1500" b="1" dirty="0">
                  <a:solidFill>
                    <a:srgbClr val="1E1E1E"/>
                  </a:solidFill>
                  <a:latin typeface="Bahnschrift"/>
                  <a:ea typeface="Bahnschrift"/>
                  <a:cs typeface="Bahnschrift"/>
                  <a:sym typeface="Bahnschrift"/>
                </a:rPr>
                <a:t>no limita</a:t>
              </a:r>
              <a:r>
                <a:rPr lang="es-AR" sz="1500" dirty="0">
                  <a:solidFill>
                    <a:srgbClr val="1E1E1E"/>
                  </a:solidFill>
                  <a:latin typeface="Bahnschrift"/>
                  <a:ea typeface="Bahnschrift"/>
                  <a:cs typeface="Bahnschrift"/>
                  <a:sym typeface="Bahnschrift"/>
                </a:rPr>
                <a:t> la velocidad: el paso que «decide» es la fosforilación.</a:t>
              </a:r>
              <a:endParaRPr lang="es-AR" sz="1500" dirty="0">
                <a:latin typeface="Bahnschrift"/>
              </a:endParaRPr>
            </a:p>
          </p:txBody>
        </p:sp>
      </p:grpSp>
      <p:grpSp>
        <p:nvGrpSpPr>
          <p:cNvPr id="81" name="!!Progreso"/>
          <p:cNvGrpSpPr/>
          <p:nvPr/>
        </p:nvGrpSpPr>
        <p:grpSpPr>
          <a:xfrm>
            <a:off x="8001000" y="5870448"/>
            <a:ext cx="3840480" cy="603504"/>
            <a:chOff x="8001000" y="5870448"/>
            <a:chExt cx="3840480" cy="603504"/>
          </a:xfrm>
        </p:grpSpPr>
        <p:sp>
          <p:nvSpPr>
            <p:cNvPr id="82" name="Forma 81"/>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3" name="Progreso 1"/>
            <p:cNvSpPr/>
            <p:nvPr/>
          </p:nvSpPr>
          <p:spPr>
            <a:xfrm>
              <a:off x="8001000"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4" name="Progreso 2"/>
            <p:cNvSpPr/>
            <p:nvPr/>
          </p:nvSpPr>
          <p:spPr>
            <a:xfrm>
              <a:off x="8385048"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5" name="Progreso 3"/>
            <p:cNvSpPr/>
            <p:nvPr/>
          </p:nvSpPr>
          <p:spPr>
            <a:xfrm>
              <a:off x="876909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6" name="Progreso 4"/>
            <p:cNvSpPr/>
            <p:nvPr/>
          </p:nvSpPr>
          <p:spPr>
            <a:xfrm>
              <a:off x="915314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7" name="Progreso 5"/>
            <p:cNvSpPr/>
            <p:nvPr/>
          </p:nvSpPr>
          <p:spPr>
            <a:xfrm>
              <a:off x="953719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8" name="Progreso 6"/>
            <p:cNvSpPr/>
            <p:nvPr/>
          </p:nvSpPr>
          <p:spPr>
            <a:xfrm>
              <a:off x="992124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9"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0"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1"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2"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93" name="Glc ext 0"/>
          <p:cNvSpPr/>
          <p:nvPr/>
        </p:nvSpPr>
        <p:spPr>
          <a:xfrm>
            <a:off x="548640" y="100584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94" name="Glc ext 1"/>
          <p:cNvSpPr/>
          <p:nvPr/>
        </p:nvSpPr>
        <p:spPr>
          <a:xfrm>
            <a:off x="1051560" y="132588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95" name="Glc ext 2"/>
          <p:cNvSpPr/>
          <p:nvPr/>
        </p:nvSpPr>
        <p:spPr>
          <a:xfrm>
            <a:off x="1554480" y="100584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96" name="Glc ext 3"/>
          <p:cNvSpPr/>
          <p:nvPr/>
        </p:nvSpPr>
        <p:spPr>
          <a:xfrm>
            <a:off x="2057400" y="132588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833703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PASOS 1–2: GLUCOSA EXTRACELULAR Y ENTRADA POR GLUT</a:t>
            </a:r>
            <a:endParaRPr lang="es-AR" sz="2600" dirty="0">
              <a:latin typeface="Bahnschrift SemiBold Condensed"/>
            </a:endParaRPr>
          </a:p>
        </p:txBody>
      </p:sp>
      <p:sp>
        <p:nvSpPr>
          <p:cNvPr id="9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23</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9"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3"/>
                                        </p:tgtEl>
                                        <p:attrNameLst>
                                          <p:attrName>style.visibility</p:attrName>
                                        </p:attrNameLst>
                                      </p:cBhvr>
                                      <p:to>
                                        <p:strVal val="visible"/>
                                      </p:to>
                                    </p:set>
                                    <p:animEffect transition="in" filter="fade">
                                      <p:cBhvr>
                                        <p:cTn id="5" dur="500"/>
                                        <p:tgtEl>
                                          <p:spTgt spid="93"/>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94"/>
                                        </p:tgtEl>
                                        <p:attrNameLst>
                                          <p:attrName>style.visibility</p:attrName>
                                        </p:attrNameLst>
                                      </p:cBhvr>
                                      <p:to>
                                        <p:strVal val="visible"/>
                                      </p:to>
                                    </p:set>
                                    <p:animEffect transition="in" filter="fade">
                                      <p:cBhvr>
                                        <p:cTn id="9" dur="500"/>
                                        <p:tgtEl>
                                          <p:spTgt spid="94"/>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95"/>
                                        </p:tgtEl>
                                        <p:attrNameLst>
                                          <p:attrName>style.visibility</p:attrName>
                                        </p:attrNameLst>
                                      </p:cBhvr>
                                      <p:to>
                                        <p:strVal val="visible"/>
                                      </p:to>
                                    </p:set>
                                    <p:animEffect transition="in" filter="fade">
                                      <p:cBhvr>
                                        <p:cTn id="13" dur="500"/>
                                        <p:tgtEl>
                                          <p:spTgt spid="95"/>
                                        </p:tgtEl>
                                      </p:cBhvr>
                                    </p:animEffect>
                                  </p:childTnLst>
                                </p:cTn>
                              </p:par>
                            </p:childTnLst>
                          </p:cTn>
                        </p:par>
                        <p:par>
                          <p:cTn id="18"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96"/>
                                        </p:tgtEl>
                                        <p:attrNameLst>
                                          <p:attrName>style.visibility</p:attrName>
                                        </p:attrNameLst>
                                      </p:cBhvr>
                                      <p:to>
                                        <p:strVal val="visible"/>
                                      </p:to>
                                    </p:set>
                                    <p:animEffect transition="in" filter="fade">
                                      <p:cBhvr>
                                        <p:cTn id="17" dur="500"/>
                                        <p:tgtEl>
                                          <p:spTgt spid="96"/>
                                        </p:tgtEl>
                                      </p:cBhvr>
                                    </p:animEffect>
                                  </p:childTnLst>
                                </p:cTn>
                              </p:par>
                            </p:childTnLst>
                          </p:cTn>
                        </p:par>
                      </p:childTnLst>
                    </p:cTn>
                  </p:par>
                  <p:par>
                    <p:cTn id="32" fill="hold">
                      <p:stCondLst>
                        <p:cond delay="indefinite"/>
                      </p:stCondLst>
                      <p:childTnLst>
                        <p:par>
                          <p:cTn id="22" fill="hold">
                            <p:stCondLst>
                              <p:cond delay="0"/>
                            </p:stCondLst>
                            <p:childTnLst>
                              <p:par>
                                <p:cTn id="20" presetID="0" presetClass="path" presetSubtype="0" accel="20000" decel="20000" fill="hold" grpId="0" nodeType="clickEffect">
                                  <p:stCondLst>
                                    <p:cond delay="0"/>
                                  </p:stCondLst>
                                  <p:childTnLst>
                                    <p:animMotion origin="layout" path="M 0 0 L 0.0375 -0.0400 L 0.0375 0.1467 E" pathEditMode="relative" ptsTypes="">
                                      <p:cBhvr>
                                        <p:cTn id="21" dur="1600" fill="hold"/>
                                        <p:tgtEl>
                                          <p:spTgt spid="93"/>
                                        </p:tgtEl>
                                        <p:attrNameLst>
                                          <p:attrName>ppt_x</p:attrName>
                                          <p:attrName>ppt_y</p:attrName>
                                        </p:attrNameLst>
                                      </p:cBhvr>
                                      <p:rCtr x="1875" y="7333"/>
                                    </p:animMotion>
                                  </p:childTnLst>
                                </p:cTn>
                              </p:par>
                            </p:childTnLst>
                          </p:cTn>
                        </p:par>
                        <p:par>
                          <p:cTn id="25" fill="hold">
                            <p:stCondLst>
                              <p:cond delay="300"/>
                            </p:stCondLst>
                            <p:childTnLst>
                              <p:par>
                                <p:cTn id="23" presetID="0" presetClass="path" presetSubtype="0" accel="20000" decel="20000" fill="hold" grpId="0" nodeType="afterEffect">
                                  <p:stCondLst>
                                    <p:cond delay="0"/>
                                  </p:stCondLst>
                                  <p:childTnLst>
                                    <p:animMotion origin="layout" path="M 0 0 L -0.0038 -0.0867 L -0.0038 0.1200 E" pathEditMode="relative" ptsTypes="">
                                      <p:cBhvr>
                                        <p:cTn id="24" dur="1600" fill="hold"/>
                                        <p:tgtEl>
                                          <p:spTgt spid="94"/>
                                        </p:tgtEl>
                                        <p:attrNameLst>
                                          <p:attrName>ppt_x</p:attrName>
                                          <p:attrName>ppt_y</p:attrName>
                                        </p:attrNameLst>
                                      </p:cBhvr>
                                      <p:rCtr x="-187" y="6000"/>
                                    </p:animMotion>
                                  </p:childTnLst>
                                </p:cTn>
                              </p:par>
                            </p:childTnLst>
                          </p:cTn>
                        </p:par>
                        <p:par>
                          <p:cTn id="28" fill="hold">
                            <p:stCondLst>
                              <p:cond delay="900"/>
                            </p:stCondLst>
                            <p:childTnLst>
                              <p:par>
                                <p:cTn id="26" presetID="0" presetClass="path" presetSubtype="0" accel="20000" decel="20000" fill="hold" grpId="0" nodeType="afterEffect">
                                  <p:stCondLst>
                                    <p:cond delay="0"/>
                                  </p:stCondLst>
                                  <p:childTnLst>
                                    <p:animMotion origin="layout" path="M 0 0 L -0.0450 -0.0400 L -0.0450 0.1867 E" pathEditMode="relative" ptsTypes="">
                                      <p:cBhvr>
                                        <p:cTn id="27" dur="1600" fill="hold"/>
                                        <p:tgtEl>
                                          <p:spTgt spid="95"/>
                                        </p:tgtEl>
                                        <p:attrNameLst>
                                          <p:attrName>ppt_x</p:attrName>
                                          <p:attrName>ppt_y</p:attrName>
                                        </p:attrNameLst>
                                      </p:cBhvr>
                                      <p:rCtr x="-2250" y="9333"/>
                                    </p:animMotion>
                                  </p:childTnLst>
                                </p:cTn>
                              </p:par>
                            </p:childTnLst>
                          </p:cTn>
                        </p:par>
                        <p:par>
                          <p:cTn id="31" fill="hold">
                            <p:stCondLst>
                              <p:cond delay="1800"/>
                            </p:stCondLst>
                            <p:childTnLst>
                              <p:par>
                                <p:cTn id="29" presetID="0" presetClass="path" presetSubtype="0" accel="20000" decel="20000" fill="hold" grpId="0" nodeType="afterEffect">
                                  <p:stCondLst>
                                    <p:cond delay="0"/>
                                  </p:stCondLst>
                                  <p:childTnLst>
                                    <p:animMotion origin="layout" path="M 0 0 L -0.0863 -0.0867 L -0.0863 0.1600 E" pathEditMode="relative" ptsTypes="">
                                      <p:cBhvr>
                                        <p:cTn id="30" dur="1600" fill="hold"/>
                                        <p:tgtEl>
                                          <p:spTgt spid="96"/>
                                        </p:tgtEl>
                                        <p:attrNameLst>
                                          <p:attrName>ppt_x</p:attrName>
                                          <p:attrName>ppt_y</p:attrName>
                                        </p:attrNameLst>
                                      </p:cBhvr>
                                      <p:rCtr x="-4312" y="80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94" grpId="0" animBg="1"/>
      <p:bldP spid="95" grpId="0" animBg="1"/>
      <p:bldP spid="96" grpId="0" animBg="1"/>
    </p:bldLst>
  </p:timing>
</p:sld>
</file>

<file path=ppt/slides/slide2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abierto"/>
          <p:cNvGrpSpPr/>
          <p:nvPr/>
        </p:nvGrpSpPr>
        <p:grpSpPr>
          <a:xfrm>
            <a:off x="2331720" y="1819656"/>
            <a:ext cx="1733702" cy="914400"/>
            <a:chOff x="2331720" y="1819656"/>
            <a:chExt cx="1733702"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249778"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416198"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(Kir6.2/SUR1)</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anel"/>
          <p:cNvGrpSpPr/>
          <p:nvPr/>
        </p:nvGrpSpPr>
        <p:grpSpPr>
          <a:xfrm>
            <a:off x="8001000" y="1051560"/>
            <a:ext cx="3840480" cy="4526280"/>
            <a:chOff x="8001000" y="1051560"/>
            <a:chExt cx="3840480" cy="4526280"/>
          </a:xfrm>
        </p:grpSpPr>
        <p:sp>
          <p:nvSpPr>
            <p:cNvPr id="77" name="Forma 76"/>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8" name="Paso 3"/>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79" name="Forma 78"/>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La glucocinasa fija el umbral</a:t>
              </a:r>
              <a:endParaRPr lang="es-AR" sz="1700" dirty="0">
                <a:latin typeface="Bahnschrift SemiBold Condensed"/>
              </a:endParaRPr>
            </a:p>
          </p:txBody>
        </p:sp>
        <p:sp>
          <p:nvSpPr>
            <p:cNvPr id="80" name="Forma 79"/>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Glucocinasa</a:t>
              </a:r>
              <a:r>
                <a:rPr lang="es-AR" sz="1500" dirty="0">
                  <a:solidFill>
                    <a:srgbClr val="1E1E1E"/>
                  </a:solidFill>
                  <a:latin typeface="Bahnschrift"/>
                  <a:ea typeface="Bahnschrift"/>
                  <a:cs typeface="Bahnschrift"/>
                  <a:sym typeface="Bahnschrift"/>
                </a:rPr>
                <a:t> (Km aparente alto, sin inhibición por G6P): su velocidad sigue la glucemia → </a:t>
              </a:r>
              <a:r>
                <a:rPr lang="es-AR" sz="1500" b="1" dirty="0">
                  <a:solidFill>
                    <a:srgbClr val="1E1E1E"/>
                  </a:solidFill>
                  <a:latin typeface="Bahnschrift"/>
                  <a:ea typeface="Bahnschrift"/>
                  <a:cs typeface="Bahnschrift"/>
                  <a:sym typeface="Bahnschrift"/>
                </a:rPr>
                <a:t>sensor de disponibilidad</a:t>
              </a:r>
              <a:r>
                <a:rPr lang="es-AR" sz="1500" dirty="0">
                  <a:solidFill>
                    <a:srgbClr val="1E1E1E"/>
                  </a:solidFill>
                  <a:latin typeface="Bahnschrift"/>
                  <a:ea typeface="Bahnschrift"/>
                  <a:cs typeface="Bahnschrift"/>
                  <a:sym typeface="Bahnschrift"/>
                </a:rPr>
                <a:t>.</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Glucólisis → piruvato → ciclo de Krebs → fosforilación oxidativa</a:t>
              </a:r>
              <a:r>
                <a:rPr lang="es-AR" sz="1500" dirty="0">
                  <a:solidFill>
                    <a:srgbClr val="1E1E1E"/>
                  </a:solidFill>
                  <a:latin typeface="Bahnschrift"/>
                  <a:ea typeface="Bahnschrift"/>
                  <a:cs typeface="Bahnschrift"/>
                  <a:sym typeface="Bahnschrift"/>
                </a:rPr>
                <a:t>.</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Aquí el metabolismo es parte del </a:t>
              </a:r>
              <a:r>
                <a:rPr lang="es-AR" sz="1500" b="1" dirty="0">
                  <a:solidFill>
                    <a:srgbClr val="1E1E1E"/>
                  </a:solidFill>
                  <a:latin typeface="Bahnschrift"/>
                  <a:ea typeface="Bahnschrift"/>
                  <a:cs typeface="Bahnschrift"/>
                  <a:sym typeface="Bahnschrift"/>
                </a:rPr>
                <a:t>sistema de detección</a:t>
              </a:r>
              <a:r>
                <a:rPr lang="es-AR" sz="1500" dirty="0">
                  <a:solidFill>
                    <a:srgbClr val="1E1E1E"/>
                  </a:solidFill>
                  <a:latin typeface="Bahnschrift"/>
                  <a:ea typeface="Bahnschrift"/>
                  <a:cs typeface="Bahnschrift"/>
                  <a:sym typeface="Bahnschrift"/>
                </a:rPr>
                <a:t>, no solo producción de ATP.</a:t>
              </a:r>
              <a:endParaRPr lang="es-AR" sz="1500" dirty="0">
                <a:latin typeface="Bahnschrift"/>
              </a:endParaRPr>
            </a:p>
          </p:txBody>
        </p:sp>
      </p:grpSp>
      <p:grpSp>
        <p:nvGrpSpPr>
          <p:cNvPr id="81" name="!!Progreso"/>
          <p:cNvGrpSpPr/>
          <p:nvPr/>
        </p:nvGrpSpPr>
        <p:grpSpPr>
          <a:xfrm>
            <a:off x="8001000" y="5870448"/>
            <a:ext cx="3840480" cy="603504"/>
            <a:chOff x="8001000" y="5870448"/>
            <a:chExt cx="3840480" cy="603504"/>
          </a:xfrm>
        </p:grpSpPr>
        <p:sp>
          <p:nvSpPr>
            <p:cNvPr id="82" name="Forma 81"/>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3" name="Progreso 1"/>
            <p:cNvSpPr/>
            <p:nvPr/>
          </p:nvSpPr>
          <p:spPr>
            <a:xfrm>
              <a:off x="800100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4" name="Progreso 2"/>
            <p:cNvSpPr/>
            <p:nvPr/>
          </p:nvSpPr>
          <p:spPr>
            <a:xfrm>
              <a:off x="838504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5" name="Progreso 3"/>
            <p:cNvSpPr/>
            <p:nvPr/>
          </p:nvSpPr>
          <p:spPr>
            <a:xfrm>
              <a:off x="8769096"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6" name="Progreso 4"/>
            <p:cNvSpPr/>
            <p:nvPr/>
          </p:nvSpPr>
          <p:spPr>
            <a:xfrm>
              <a:off x="915314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7" name="Progreso 5"/>
            <p:cNvSpPr/>
            <p:nvPr/>
          </p:nvSpPr>
          <p:spPr>
            <a:xfrm>
              <a:off x="953719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8" name="Progreso 6"/>
            <p:cNvSpPr/>
            <p:nvPr/>
          </p:nvSpPr>
          <p:spPr>
            <a:xfrm>
              <a:off x="992124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9"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0"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1"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2"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93" name="Glc intracelular"/>
          <p:cNvSpPr/>
          <p:nvPr/>
        </p:nvSpPr>
        <p:spPr>
          <a:xfrm>
            <a:off x="1097280" y="269748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94" name="GK beta"/>
          <p:cNvSpPr/>
          <p:nvPr/>
        </p:nvSpPr>
        <p:spPr>
          <a:xfrm>
            <a:off x="640080" y="3200400"/>
            <a:ext cx="109475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Glucocinasa</a:t>
            </a:r>
            <a:endParaRPr lang="es-AR" sz="1250" dirty="0">
              <a:latin typeface="Bahnschrift SemiBold Condensed"/>
            </a:endParaRPr>
          </a:p>
        </p:txBody>
      </p:sp>
      <p:sp>
        <p:nvSpPr>
          <p:cNvPr id="95" name="G6P beta"/>
          <p:cNvSpPr/>
          <p:nvPr/>
        </p:nvSpPr>
        <p:spPr>
          <a:xfrm>
            <a:off x="1051560" y="36576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G6P</a:t>
            </a:r>
            <a:endParaRPr lang="es-AR" sz="1300" dirty="0">
              <a:latin typeface="Bahnschrift SemiBold Condensed"/>
            </a:endParaRPr>
          </a:p>
        </p:txBody>
      </p:sp>
      <p:sp>
        <p:nvSpPr>
          <p:cNvPr id="96" name="Flecha 95_2"/>
          <p:cNvSpPr/>
          <p:nvPr/>
        </p:nvSpPr>
        <p:spPr>
          <a:xfrm>
            <a:off x="1508760" y="3886200"/>
            <a:ext cx="594360" cy="9144"/>
          </a:xfrm>
          <a:custGeom>
            <a:avLst/>
            <a:gdLst/>
            <a:ahLst/>
            <a:cxnLst/>
            <a:rect l="0" t="0" r="r" b="b"/>
            <a:pathLst>
              <a:path w="649" h="10" fill="none">
                <a:moveTo>
                  <a:pt x="0" y="0"/>
                </a:moveTo>
                <a:lnTo>
                  <a:pt x="649" y="0"/>
                </a:lnTo>
              </a:path>
            </a:pathLst>
          </a:custGeom>
          <a:noFill/>
          <a:ln w="38100" cap="rnd">
            <a:solidFill>
              <a:srgbClr val="1E8C3A"/>
            </a:solidFill>
            <a:round/>
            <a:tailEnd type="triangle" w="med" len="med"/>
          </a:ln>
        </p:spPr>
      </p:sp>
      <p:sp>
        <p:nvSpPr>
          <p:cNvPr id="97" name="Piruvato beta"/>
          <p:cNvSpPr/>
          <p:nvPr/>
        </p:nvSpPr>
        <p:spPr>
          <a:xfrm>
            <a:off x="914400" y="4251960"/>
            <a:ext cx="770263"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Piruvato</a:t>
            </a:r>
            <a:endParaRPr lang="es-AR" sz="1250" dirty="0">
              <a:latin typeface="Bahnschrift SemiBold Condensed"/>
            </a:endParaRPr>
          </a:p>
        </p:txBody>
      </p:sp>
      <p:sp>
        <p:nvSpPr>
          <p:cNvPr id="98" name="Flecha 98_2"/>
          <p:cNvSpPr/>
          <p:nvPr/>
        </p:nvSpPr>
        <p:spPr>
          <a:xfrm>
            <a:off x="1737360" y="4069080"/>
            <a:ext cx="502920" cy="365760"/>
          </a:xfrm>
          <a:custGeom>
            <a:avLst/>
            <a:gdLst/>
            <a:ahLst/>
            <a:cxnLst/>
            <a:rect l="0" t="0" r="r" b="b"/>
            <a:pathLst>
              <a:path w="550" h="399" fill="none">
                <a:moveTo>
                  <a:pt x="0" y="399"/>
                </a:moveTo>
                <a:lnTo>
                  <a:pt x="550" y="0"/>
                </a:lnTo>
              </a:path>
            </a:pathLst>
          </a:custGeom>
          <a:noFill/>
          <a:ln w="38100" cap="rnd">
            <a:solidFill>
              <a:srgbClr val="1E8C3A"/>
            </a:solidFill>
            <a:round/>
            <a:tailEnd type="triangle" w="med" len="med"/>
          </a:ln>
        </p:spPr>
      </p:sp>
      <p:sp>
        <p:nvSpPr>
          <p:cNvPr id="99" name="Krebs beta"/>
          <p:cNvSpPr/>
          <p:nvPr/>
        </p:nvSpPr>
        <p:spPr>
          <a:xfrm>
            <a:off x="2331720" y="3520440"/>
            <a:ext cx="914400" cy="411480"/>
          </a:xfrm>
          <a:prstGeom prst="ellipse">
            <a:avLst/>
          </a:prstGeom>
          <a:solidFill>
            <a:srgbClr val="FFFFFF">
              <a:alpha val="70000"/>
            </a:srgbClr>
          </a:solidFill>
          <a:ln w="19050" cap="rnd">
            <a:solidFill>
              <a:srgbClr val="1E8C3A"/>
            </a:solidFill>
            <a:round/>
          </a:ln>
        </p:spPr>
        <p:txBody>
          <a:bodyPr wrap="square" lIns="0" tIns="0" rIns="0" bIns="0" anchor="ctr" rtlCol="0">
            <a:noAutofit/>
          </a:bodyPr>
          <a:lstStyle/>
          <a:p>
            <a:pPr algn="ctr">
              <a:spcAft>
                <a:spcPts val="300"/>
              </a:spcAft>
              <a:buNone/>
            </a:pPr>
            <a:r>
              <a:rPr lang="es-AR" sz="1200" b="1" dirty="0">
                <a:solidFill>
                  <a:srgbClr val="1E8C3A"/>
                </a:solidFill>
                <a:latin typeface="Bahnschrift SemiBold Condensed"/>
                <a:ea typeface="Bahnschrift SemiBold Condensed"/>
                <a:cs typeface="Bahnschrift SemiBold Condensed"/>
                <a:sym typeface="Bahnschrift SemiBold Condensed"/>
              </a:rPr>
              <a:t>Krebs</a:t>
            </a:r>
            <a:endParaRPr lang="es-AR" sz="1200" dirty="0">
              <a:latin typeface="Bahnschrift SemiBold Condensed"/>
            </a:endParaRPr>
          </a:p>
        </p:txBody>
      </p:sp>
      <p:sp>
        <p:nvSpPr>
          <p:cNvPr id="100" name="OXPHOS beta"/>
          <p:cNvSpPr/>
          <p:nvPr/>
        </p:nvSpPr>
        <p:spPr>
          <a:xfrm>
            <a:off x="2103120" y="4206240"/>
            <a:ext cx="1562353" cy="226377"/>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Fosforilación oxidativa</a:t>
            </a:r>
            <a:endParaRPr lang="es-AR" sz="1150" dirty="0">
              <a:latin typeface="Bahnschrift SemiBold Condensed"/>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774697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 3: GLUCOCINASA Y METABOLISMO INTRACELULAR</a:t>
            </a:r>
            <a:endParaRPr lang="es-AR" sz="2600" dirty="0">
              <a:latin typeface="Bahnschrift SemiBold Condensed"/>
            </a:endParaRPr>
          </a:p>
        </p:txBody>
      </p:sp>
      <p:sp>
        <p:nvSpPr>
          <p:cNvPr id="10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24</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8"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3"/>
                                        </p:tgtEl>
                                        <p:attrNameLst>
                                          <p:attrName>style.visibility</p:attrName>
                                        </p:attrNameLst>
                                      </p:cBhvr>
                                      <p:to>
                                        <p:strVal val="visible"/>
                                      </p:to>
                                    </p:set>
                                    <p:animEffect transition="in" filter="fade">
                                      <p:cBhvr>
                                        <p:cTn id="5" dur="500"/>
                                        <p:tgtEl>
                                          <p:spTgt spid="93"/>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94"/>
                                        </p:tgtEl>
                                        <p:attrNameLst>
                                          <p:attrName>style.visibility</p:attrName>
                                        </p:attrNameLst>
                                      </p:cBhvr>
                                      <p:to>
                                        <p:strVal val="visible"/>
                                      </p:to>
                                    </p:set>
                                    <p:animEffect transition="in" filter="fade">
                                      <p:cBhvr>
                                        <p:cTn id="9" dur="500"/>
                                        <p:tgtEl>
                                          <p:spTgt spid="94"/>
                                        </p:tgtEl>
                                      </p:cBhvr>
                                    </p:animEffect>
                                  </p:childTnLst>
                                </p:cTn>
                              </p:par>
                            </p:childTnLst>
                          </p:cTn>
                        </p:par>
                        <p:par>
                          <p:cTn id="17" fill="hold">
                            <p:stCondLst>
                              <p:cond delay="1000"/>
                            </p:stCondLst>
                            <p:childTnLst>
                              <p:par>
                                <p:cTn id="11" presetID="10" presetClass="exit" presetSubtype="0" fill="hold" grpId="0" nodeType="afterEffect">
                                  <p:stCondLst>
                                    <p:cond delay="0"/>
                                  </p:stCondLst>
                                  <p:childTnLst>
                                    <p:animEffect transition="out" filter="fade">
                                      <p:cBhvr>
                                        <p:cTn id="12" dur="400"/>
                                        <p:tgtEl>
                                          <p:spTgt spid="93"/>
                                        </p:tgtEl>
                                      </p:cBhvr>
                                    </p:animEffect>
                                    <p:set>
                                      <p:cBhvr>
                                        <p:cTn id="13" dur="1" fill="hold">
                                          <p:stCondLst>
                                            <p:cond delay="399"/>
                                          </p:stCondLst>
                                        </p:cTn>
                                        <p:tgtEl>
                                          <p:spTgt spid="93"/>
                                        </p:tgtEl>
                                        <p:attrNameLst>
                                          <p:attrName>style.visibility</p:attrName>
                                        </p:attrNameLst>
                                      </p:cBhvr>
                                      <p:to>
                                        <p:strVal val="hidden"/>
                                      </p:to>
                                    </p:set>
                                  </p:childTnLst>
                                </p:cTn>
                              </p:par>
                              <p:par>
                                <p:cTn id="14" presetID="10" presetClass="entr" presetSubtype="0" fill="hold" grpId="0"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fade">
                                      <p:cBhvr>
                                        <p:cTn id="16" dur="500"/>
                                        <p:tgtEl>
                                          <p:spTgt spid="95"/>
                                        </p:tgtEl>
                                      </p:cBhvr>
                                    </p:animEffect>
                                  </p:childTnLst>
                                </p:cTn>
                              </p:par>
                            </p:childTnLst>
                          </p:cTn>
                        </p:par>
                      </p:childTnLst>
                    </p:cTn>
                  </p:par>
                  <p:par>
                    <p:cTn id="31" fill="hold">
                      <p:stCondLst>
                        <p:cond delay="indefinite"/>
                      </p:stCondLst>
                      <p:childTnLst>
                        <p:par>
                          <p:cTn id="22"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96"/>
                                        </p:tgtEl>
                                        <p:attrNameLst>
                                          <p:attrName>style.visibility</p:attrName>
                                        </p:attrNameLst>
                                      </p:cBhvr>
                                      <p:to>
                                        <p:strVal val="visible"/>
                                      </p:to>
                                    </p:set>
                                    <p:animEffect transition="in" filter="wipe(left)">
                                      <p:cBhvr>
                                        <p:cTn id="21" dur="600"/>
                                        <p:tgtEl>
                                          <p:spTgt spid="96"/>
                                        </p:tgtEl>
                                      </p:cBhvr>
                                    </p:animEffect>
                                  </p:childTnLst>
                                </p:cTn>
                              </p:par>
                            </p:childTnLst>
                          </p:cTn>
                        </p:par>
                        <p:par>
                          <p:cTn id="26" fill="hold">
                            <p:stCondLst>
                              <p:cond delay="600"/>
                            </p:stCondLst>
                            <p:childTnLst>
                              <p:par>
                                <p:cTn id="23" presetID="10" presetClass="entr" presetSubtype="0" fill="hold" grpId="0" nodeType="afterEffect">
                                  <p:stCondLst>
                                    <p:cond delay="0"/>
                                  </p:stCondLst>
                                  <p:childTnLst>
                                    <p:set>
                                      <p:cBhvr>
                                        <p:cTn id="24" dur="1" fill="hold">
                                          <p:stCondLst>
                                            <p:cond delay="0"/>
                                          </p:stCondLst>
                                        </p:cTn>
                                        <p:tgtEl>
                                          <p:spTgt spid="97"/>
                                        </p:tgtEl>
                                        <p:attrNameLst>
                                          <p:attrName>style.visibility</p:attrName>
                                        </p:attrNameLst>
                                      </p:cBhvr>
                                      <p:to>
                                        <p:strVal val="visible"/>
                                      </p:to>
                                    </p:set>
                                    <p:animEffect transition="in" filter="fade">
                                      <p:cBhvr>
                                        <p:cTn id="25" dur="500"/>
                                        <p:tgtEl>
                                          <p:spTgt spid="97"/>
                                        </p:tgtEl>
                                      </p:cBhvr>
                                    </p:animEffect>
                                  </p:childTnLst>
                                </p:cTn>
                              </p:par>
                            </p:childTnLst>
                          </p:cTn>
                        </p:par>
                        <p:par>
                          <p:cTn id="30" fill="hold">
                            <p:stCondLst>
                              <p:cond delay="1100"/>
                            </p:stCondLst>
                            <p:childTnLst>
                              <p:par>
                                <p:cTn id="27" presetID="22" presetClass="entr" presetSubtype="8" fill="hold" grpId="0" nodeType="afterEffect">
                                  <p:stCondLst>
                                    <p:cond delay="0"/>
                                  </p:stCondLst>
                                  <p:childTnLst>
                                    <p:set>
                                      <p:cBhvr>
                                        <p:cTn id="28" dur="1" fill="hold">
                                          <p:stCondLst>
                                            <p:cond delay="0"/>
                                          </p:stCondLst>
                                        </p:cTn>
                                        <p:tgtEl>
                                          <p:spTgt spid="98"/>
                                        </p:tgtEl>
                                        <p:attrNameLst>
                                          <p:attrName>style.visibility</p:attrName>
                                        </p:attrNameLst>
                                      </p:cBhvr>
                                      <p:to>
                                        <p:strVal val="visible"/>
                                      </p:to>
                                    </p:set>
                                    <p:animEffect transition="in" filter="wipe(left)">
                                      <p:cBhvr>
                                        <p:cTn id="29" dur="600"/>
                                        <p:tgtEl>
                                          <p:spTgt spid="98"/>
                                        </p:tgtEl>
                                      </p:cBhvr>
                                    </p:animEffect>
                                  </p:childTnLst>
                                </p:cTn>
                              </p:par>
                            </p:childTnLst>
                          </p:cTn>
                        </p:par>
                      </p:childTnLst>
                    </p:cTn>
                  </p:par>
                  <p:par>
                    <p:cTn id="45" fill="hold">
                      <p:stCondLst>
                        <p:cond delay="indefinite"/>
                      </p:stCondLst>
                      <p:childTnLst>
                        <p:par>
                          <p:cTn id="37"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99"/>
                                        </p:tgtEl>
                                        <p:attrNameLst>
                                          <p:attrName>style.visibility</p:attrName>
                                        </p:attrNameLst>
                                      </p:cBhvr>
                                      <p:to>
                                        <p:strVal val="visible"/>
                                      </p:to>
                                    </p:set>
                                    <p:anim calcmode="lin" valueType="num">
                                      <p:cBhvr>
                                        <p:cTn id="34" dur="500" fill="hold"/>
                                        <p:tgtEl>
                                          <p:spTgt spid="99"/>
                                        </p:tgtEl>
                                        <p:attrNameLst>
                                          <p:attrName>ppt_w</p:attrName>
                                        </p:attrNameLst>
                                      </p:cBhvr>
                                      <p:tavLst>
                                        <p:tav tm="0">
                                          <p:val>
                                            <p:fltVal val="0"/>
                                          </p:val>
                                        </p:tav>
                                        <p:tav tm="100000">
                                          <p:val>
                                            <p:strVal val="#ppt_w"/>
                                          </p:val>
                                        </p:tav>
                                      </p:tavLst>
                                    </p:anim>
                                    <p:anim calcmode="lin" valueType="num">
                                      <p:cBhvr>
                                        <p:cTn id="35" dur="500" fill="hold"/>
                                        <p:tgtEl>
                                          <p:spTgt spid="99"/>
                                        </p:tgtEl>
                                        <p:attrNameLst>
                                          <p:attrName>ppt_h</p:attrName>
                                        </p:attrNameLst>
                                      </p:cBhvr>
                                      <p:tavLst>
                                        <p:tav tm="0">
                                          <p:val>
                                            <p:fltVal val="0"/>
                                          </p:val>
                                        </p:tav>
                                        <p:tav tm="100000">
                                          <p:val>
                                            <p:strVal val="#ppt_h"/>
                                          </p:val>
                                        </p:tav>
                                      </p:tavLst>
                                    </p:anim>
                                    <p:animEffect transition="in" filter="fade">
                                      <p:cBhvr>
                                        <p:cTn id="36" dur="500"/>
                                        <p:tgtEl>
                                          <p:spTgt spid="99"/>
                                        </p:tgtEl>
                                      </p:cBhvr>
                                    </p:animEffect>
                                  </p:childTnLst>
                                </p:cTn>
                              </p:par>
                            </p:childTnLst>
                          </p:cTn>
                        </p:par>
                        <p:par>
                          <p:cTn id="41" fill="hold">
                            <p:stCondLst>
                              <p:cond delay="500"/>
                            </p:stCondLst>
                            <p:childTnLst>
                              <p:par>
                                <p:cTn id="38" presetID="10" presetClass="entr" presetSubtype="0" fill="hold" grpId="0" nodeType="afterEffect">
                                  <p:stCondLst>
                                    <p:cond delay="0"/>
                                  </p:stCondLst>
                                  <p:childTnLst>
                                    <p:set>
                                      <p:cBhvr>
                                        <p:cTn id="39" dur="1" fill="hold">
                                          <p:stCondLst>
                                            <p:cond delay="0"/>
                                          </p:stCondLst>
                                        </p:cTn>
                                        <p:tgtEl>
                                          <p:spTgt spid="100"/>
                                        </p:tgtEl>
                                        <p:attrNameLst>
                                          <p:attrName>style.visibility</p:attrName>
                                        </p:attrNameLst>
                                      </p:cBhvr>
                                      <p:to>
                                        <p:strVal val="visible"/>
                                      </p:to>
                                    </p:set>
                                    <p:animEffect transition="in" filter="fade">
                                      <p:cBhvr>
                                        <p:cTn id="40" dur="500"/>
                                        <p:tgtEl>
                                          <p:spTgt spid="100"/>
                                        </p:tgtEl>
                                      </p:cBhvr>
                                    </p:animEffect>
                                  </p:childTnLst>
                                </p:cTn>
                              </p:par>
                            </p:childTnLst>
                          </p:cTn>
                        </p:par>
                        <p:par>
                          <p:cTn id="44" fill="hold">
                            <p:stCondLst>
                              <p:cond delay="1000"/>
                            </p:stCondLst>
                            <p:childTnLst>
                              <p:par>
                                <p:cTn id="42" presetID="6" presetClass="emph" presetSubtype="0" fill="hold" grpId="0" nodeType="afterEffect">
                                  <p:stCondLst>
                                    <p:cond delay="0"/>
                                  </p:stCondLst>
                                  <p:childTnLst>
                                    <p:animScale>
                                      <p:cBhvr>
                                        <p:cTn id="43" dur="300" autoRev="1" fill="hold"/>
                                        <p:tgtEl>
                                          <p:spTgt spid="35"/>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94" grpId="0" animBg="1"/>
      <p:bldP spid="95" grpId="0" animBg="1"/>
      <p:bldP spid="96" grpId="0" animBg="1"/>
      <p:bldP spid="97" grpId="0" animBg="1"/>
      <p:bldP spid="98" grpId="0" animBg="1"/>
      <p:bldP spid="99" grpId="0" animBg="1"/>
      <p:bldP spid="100" grpId="0" animBg="1"/>
    </p:bldLst>
  </p:timing>
</p:sld>
</file>

<file path=ppt/slides/slide2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abierto"/>
          <p:cNvGrpSpPr/>
          <p:nvPr/>
        </p:nvGrpSpPr>
        <p:grpSpPr>
          <a:xfrm>
            <a:off x="2331720" y="1819656"/>
            <a:ext cx="1733702" cy="914400"/>
            <a:chOff x="2331720" y="1819656"/>
            <a:chExt cx="1733702"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249778"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416198"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(Kir6.2/SUR1)</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KATP cerrado"/>
          <p:cNvGrpSpPr/>
          <p:nvPr/>
        </p:nvGrpSpPr>
        <p:grpSpPr>
          <a:xfrm>
            <a:off x="2788920" y="1819656"/>
            <a:ext cx="726034" cy="640080"/>
            <a:chOff x="2788920" y="1819656"/>
            <a:chExt cx="726034" cy="640080"/>
          </a:xfrm>
        </p:grpSpPr>
        <p:sp>
          <p:nvSpPr>
            <p:cNvPr id="77" name="Forma 76"/>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78" name="Forma 77"/>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79" name="Forma 78"/>
            <p:cNvSpPr/>
            <p:nvPr/>
          </p:nvSpPr>
          <p:spPr>
            <a:xfrm>
              <a:off x="3156509"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80" name="Forma 79"/>
            <p:cNvSpPr/>
            <p:nvPr/>
          </p:nvSpPr>
          <p:spPr>
            <a:xfrm>
              <a:off x="332293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grpSp>
      <p:grpSp>
        <p:nvGrpSpPr>
          <p:cNvPr id="81" name="!!Panel"/>
          <p:cNvGrpSpPr/>
          <p:nvPr/>
        </p:nvGrpSpPr>
        <p:grpSpPr>
          <a:xfrm>
            <a:off x="8001000" y="1051560"/>
            <a:ext cx="3840480" cy="4526280"/>
            <a:chOff x="8001000" y="1051560"/>
            <a:chExt cx="3840480" cy="4526280"/>
          </a:xfrm>
        </p:grpSpPr>
        <p:sp>
          <p:nvSpPr>
            <p:cNvPr id="82" name="Forma 81"/>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83" name="Paso 4–5"/>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4–5</a:t>
              </a:r>
              <a:endParaRPr lang="es-AR" sz="1500" dirty="0">
                <a:latin typeface="Bahnschrift SemiBold Condensed"/>
              </a:endParaRPr>
            </a:p>
          </p:txBody>
        </p:sp>
        <p:sp>
          <p:nvSpPr>
            <p:cNvPr id="84" name="Forma 83"/>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ATP cierra K</a:t>
              </a:r>
              <a:r>
                <a:rPr lang="es-AR" sz="1700" b="1" baseline="-25000" dirty="0">
                  <a:solidFill>
                    <a:srgbClr val="1E1E1E"/>
                  </a:solidFill>
                  <a:latin typeface="Bahnschrift SemiBold Condensed"/>
                  <a:ea typeface="Bahnschrift SemiBold Condensed"/>
                  <a:cs typeface="Bahnschrift SemiBold Condensed"/>
                  <a:sym typeface="Bahnschrift SemiBold Condensed"/>
                </a:rPr>
                <a:t>ATP</a:t>
              </a:r>
              <a:endParaRPr lang="es-AR" sz="1700" dirty="0">
                <a:latin typeface="Bahnschrift SemiBold Condensed"/>
              </a:endParaRPr>
            </a:p>
          </p:txBody>
        </p:sp>
        <p:sp>
          <p:nvSpPr>
            <p:cNvPr id="85" name="Forma 84"/>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metabolismo oxidativo </a:t>
              </a:r>
              <a:r>
                <a:rPr lang="es-AR" sz="1500" b="1" dirty="0">
                  <a:solidFill>
                    <a:srgbClr val="1E1E1E"/>
                  </a:solidFill>
                  <a:latin typeface="Bahnschrift"/>
                  <a:ea typeface="Bahnschrift"/>
                  <a:cs typeface="Bahnschrift"/>
                  <a:sym typeface="Bahnschrift"/>
                </a:rPr>
                <a:t>aumenta la relación ATP/ADP</a:t>
              </a:r>
              <a:r>
                <a:rPr lang="es-AR" sz="1500" dirty="0">
                  <a:solidFill>
                    <a:srgbClr val="1E1E1E"/>
                  </a:solidFill>
                  <a:latin typeface="Bahnschrift"/>
                  <a:ea typeface="Bahnschrift"/>
                  <a:cs typeface="Bahnschrift"/>
                  <a:sym typeface="Bahnschrift"/>
                </a:rPr>
                <a:t>.</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ATP se une a </a:t>
              </a:r>
              <a:r>
                <a:rPr lang="es-AR" sz="1500" b="1" dirty="0">
                  <a:solidFill>
                    <a:srgbClr val="1E1E1E"/>
                  </a:solidFill>
                  <a:latin typeface="Bahnschrift"/>
                  <a:ea typeface="Bahnschrift"/>
                  <a:cs typeface="Bahnschrift"/>
                  <a:sym typeface="Bahnschrift"/>
                </a:rPr>
                <a:t>Kir6.2</a:t>
              </a:r>
              <a:r>
                <a:rPr lang="es-AR" sz="1500" dirty="0">
                  <a:solidFill>
                    <a:srgbClr val="1E1E1E"/>
                  </a:solidFill>
                  <a:latin typeface="Bahnschrift"/>
                  <a:ea typeface="Bahnschrift"/>
                  <a:cs typeface="Bahnschrift"/>
                  <a:sym typeface="Bahnschrift"/>
                </a:rPr>
                <a:t> y el MgADP deja de activar </a:t>
              </a:r>
              <a:r>
                <a:rPr lang="es-AR" sz="1500" b="1" dirty="0">
                  <a:solidFill>
                    <a:srgbClr val="1E1E1E"/>
                  </a:solidFill>
                  <a:latin typeface="Bahnschrift"/>
                  <a:ea typeface="Bahnschrift"/>
                  <a:cs typeface="Bahnschrift"/>
                  <a:sym typeface="Bahnschrift"/>
                </a:rPr>
                <a:t>SUR1</a:t>
              </a:r>
              <a:r>
                <a:rPr lang="es-AR" sz="1500" dirty="0">
                  <a:solidFill>
                    <a:srgbClr val="1E1E1E"/>
                  </a:solidFill>
                  <a:latin typeface="Bahnschrift"/>
                  <a:ea typeface="Bahnschrift"/>
                  <a:cs typeface="Bahnschrift"/>
                  <a:sym typeface="Bahnschrift"/>
                </a:rPr>
                <a:t> → el canal </a:t>
              </a:r>
              <a:r>
                <a:rPr lang="es-AR" sz="1500" b="1" dirty="0">
                  <a:solidFill>
                    <a:srgbClr val="1E1E1E"/>
                  </a:solidFill>
                  <a:latin typeface="Bahnschrift"/>
                  <a:ea typeface="Bahnschrift"/>
                  <a:cs typeface="Bahnschrift"/>
                  <a:sym typeface="Bahnschrift"/>
                </a:rPr>
                <a:t>se cierra</a:t>
              </a:r>
              <a:r>
                <a:rPr lang="es-AR" sz="1500" dirty="0">
                  <a:solidFill>
                    <a:srgbClr val="1E1E1E"/>
                  </a:solidFill>
                  <a:latin typeface="Bahnschrift"/>
                  <a:ea typeface="Bahnschrift"/>
                  <a:cs typeface="Bahnschrift"/>
                  <a:sym typeface="Bahnschrift"/>
                </a:rPr>
                <a:t>.</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Cesa la salida de K</a:t>
              </a:r>
              <a:r>
                <a:rPr lang="es-AR" sz="1500" baseline="30000" dirty="0">
                  <a:solidFill>
                    <a:srgbClr val="1E1E1E"/>
                  </a:solidFill>
                  <a:latin typeface="Bahnschrift"/>
                  <a:ea typeface="Bahnschrift"/>
                  <a:cs typeface="Bahnschrift"/>
                  <a:sym typeface="Bahnschrift"/>
                </a:rPr>
                <a:t>+</a:t>
              </a:r>
              <a:r>
                <a:rPr lang="es-AR" sz="1500" dirty="0">
                  <a:solidFill>
                    <a:srgbClr val="1E1E1E"/>
                  </a:solidFill>
                  <a:latin typeface="Bahnschrift"/>
                  <a:ea typeface="Bahnschrift"/>
                  <a:cs typeface="Bahnschrift"/>
                  <a:sym typeface="Bahnschrift"/>
                </a:rPr>
                <a:t> que mantenía la membrana </a:t>
              </a:r>
              <a:r>
                <a:rPr lang="es-AR" sz="1500" b="1" dirty="0">
                  <a:solidFill>
                    <a:srgbClr val="1E1E1E"/>
                  </a:solidFill>
                  <a:latin typeface="Bahnschrift"/>
                  <a:ea typeface="Bahnschrift"/>
                  <a:cs typeface="Bahnschrift"/>
                  <a:sym typeface="Bahnschrift"/>
                </a:rPr>
                <a:t>hiperpolarizada</a:t>
              </a:r>
              <a:r>
                <a:rPr lang="es-AR" sz="1500" dirty="0">
                  <a:solidFill>
                    <a:srgbClr val="1E1E1E"/>
                  </a:solidFill>
                  <a:latin typeface="Bahnschrift"/>
                  <a:ea typeface="Bahnschrift"/>
                  <a:cs typeface="Bahnschrift"/>
                  <a:sym typeface="Bahnschrift"/>
                </a:rPr>
                <a:t>.</a:t>
              </a:r>
              <a:endParaRPr lang="es-AR" sz="1500" dirty="0">
                <a:latin typeface="Bahnschrift"/>
              </a:endParaRPr>
            </a:p>
          </p:txBody>
        </p:sp>
      </p:grpSp>
      <p:grpSp>
        <p:nvGrpSpPr>
          <p:cNvPr id="86" name="!!Progreso"/>
          <p:cNvGrpSpPr/>
          <p:nvPr/>
        </p:nvGrpSpPr>
        <p:grpSpPr>
          <a:xfrm>
            <a:off x="8001000" y="5870448"/>
            <a:ext cx="3840480" cy="603504"/>
            <a:chOff x="8001000" y="5870448"/>
            <a:chExt cx="3840480" cy="603504"/>
          </a:xfrm>
        </p:grpSpPr>
        <p:sp>
          <p:nvSpPr>
            <p:cNvPr id="87" name="Forma 86"/>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8" name="Progreso 1"/>
            <p:cNvSpPr/>
            <p:nvPr/>
          </p:nvSpPr>
          <p:spPr>
            <a:xfrm>
              <a:off x="800100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9" name="Progreso 2"/>
            <p:cNvSpPr/>
            <p:nvPr/>
          </p:nvSpPr>
          <p:spPr>
            <a:xfrm>
              <a:off x="838504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90" name="Progreso 3"/>
            <p:cNvSpPr/>
            <p:nvPr/>
          </p:nvSpPr>
          <p:spPr>
            <a:xfrm>
              <a:off x="8769096"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91" name="Progreso 4"/>
            <p:cNvSpPr/>
            <p:nvPr/>
          </p:nvSpPr>
          <p:spPr>
            <a:xfrm>
              <a:off x="9153144"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92" name="Progreso 5"/>
            <p:cNvSpPr/>
            <p:nvPr/>
          </p:nvSpPr>
          <p:spPr>
            <a:xfrm>
              <a:off x="9537192"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93" name="Progreso 6"/>
            <p:cNvSpPr/>
            <p:nvPr/>
          </p:nvSpPr>
          <p:spPr>
            <a:xfrm>
              <a:off x="992124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94"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5"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6"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7"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98" name="ATP 0"/>
          <p:cNvSpPr/>
          <p:nvPr/>
        </p:nvSpPr>
        <p:spPr>
          <a:xfrm>
            <a:off x="2743200" y="3291840"/>
            <a:ext cx="50292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ATP</a:t>
            </a:r>
            <a:endParaRPr lang="es-AR" sz="1092" dirty="0">
              <a:latin typeface="Bahnschrift SemiBold Condensed"/>
            </a:endParaRPr>
          </a:p>
        </p:txBody>
      </p:sp>
      <p:sp>
        <p:nvSpPr>
          <p:cNvPr id="99" name="ATP 1"/>
          <p:cNvSpPr/>
          <p:nvPr/>
        </p:nvSpPr>
        <p:spPr>
          <a:xfrm>
            <a:off x="3200400" y="3566160"/>
            <a:ext cx="50292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ATP</a:t>
            </a:r>
            <a:endParaRPr lang="es-AR" sz="1092" dirty="0">
              <a:latin typeface="Bahnschrift SemiBold Condensed"/>
            </a:endParaRPr>
          </a:p>
        </p:txBody>
      </p:sp>
      <p:sp>
        <p:nvSpPr>
          <p:cNvPr id="100" name="ATP 2"/>
          <p:cNvSpPr/>
          <p:nvPr/>
        </p:nvSpPr>
        <p:spPr>
          <a:xfrm>
            <a:off x="3657600" y="3291840"/>
            <a:ext cx="50292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ATP</a:t>
            </a:r>
            <a:endParaRPr lang="es-AR" sz="1092" dirty="0">
              <a:latin typeface="Bahnschrift SemiBold Condensed"/>
            </a:endParaRPr>
          </a:p>
        </p:txBody>
      </p:sp>
      <p:sp>
        <p:nvSpPr>
          <p:cNvPr id="101" name="ADP"/>
          <p:cNvSpPr/>
          <p:nvPr/>
        </p:nvSpPr>
        <p:spPr>
          <a:xfrm>
            <a:off x="1828800" y="2971800"/>
            <a:ext cx="457200" cy="347472"/>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988" b="1" dirty="0">
                <a:solidFill>
                  <a:srgbClr val="1E1E1E"/>
                </a:solidFill>
                <a:latin typeface="Bahnschrift SemiBold Condensed"/>
                <a:ea typeface="Bahnschrift SemiBold Condensed"/>
                <a:cs typeface="Bahnschrift SemiBold Condensed"/>
                <a:sym typeface="Bahnschrift SemiBold Condensed"/>
              </a:rPr>
              <a:t>ADP</a:t>
            </a:r>
            <a:endParaRPr lang="es-AR" sz="988" dirty="0">
              <a:latin typeface="Bahnschrift SemiBold Condensed"/>
            </a:endParaRPr>
          </a:p>
        </p:txBody>
      </p:sp>
      <p:sp>
        <p:nvSpPr>
          <p:cNvPr id="102" name="K salida 0"/>
          <p:cNvSpPr/>
          <p:nvPr/>
        </p:nvSpPr>
        <p:spPr>
          <a:xfrm>
            <a:off x="2926080" y="2697480"/>
            <a:ext cx="292608" cy="292608"/>
          </a:xfrm>
          <a:prstGeom prst="ellipse">
            <a:avLst/>
          </a:prstGeom>
          <a:gradFill rotWithShape="1">
            <a:gsLst>
              <a:gs pos="0">
                <a:srgbClr val="9F7BAE"/>
              </a:gs>
              <a:gs pos="55000">
                <a:srgbClr val="6C3483"/>
              </a:gs>
              <a:gs pos="100000">
                <a:srgbClr val="562968"/>
              </a:gs>
            </a:gsLst>
            <a:path path="circle">
              <a:fillToRect l="32000" t="28000" r="68000" b="72000"/>
            </a:path>
          </a:gradFill>
          <a:ln w="12700" cap="rnd">
            <a:solidFill>
              <a:srgbClr val="3B1C48"/>
            </a:solidFill>
            <a:round/>
          </a:ln>
        </p:spPr>
        <p:txBody>
          <a:bodyPr wrap="square" lIns="0" tIns="0" rIns="0" bIns="0" anchor="ctr" rtlCol="0">
            <a:noAutofit/>
          </a:bodyPr>
          <a:lstStyle/>
          <a:p>
            <a:pPr algn="ctr">
              <a:spcAft>
                <a:spcPts val="300"/>
              </a:spcAft>
              <a:buNone/>
            </a:pPr>
            <a:r>
              <a:rPr lang="es-AR" sz="952" b="1" dirty="0">
                <a:solidFill>
                  <a:srgbClr val="FFFFFF"/>
                </a:solidFill>
                <a:latin typeface="Bahnschrift SemiBold Condensed"/>
                <a:ea typeface="Bahnschrift SemiBold Condensed"/>
                <a:cs typeface="Bahnschrift SemiBold Condensed"/>
                <a:sym typeface="Bahnschrift SemiBold Condensed"/>
              </a:rPr>
              <a:t>K</a:t>
            </a:r>
            <a:r>
              <a:rPr lang="es-AR" sz="95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52" dirty="0">
              <a:latin typeface="Bahnschrift SemiBold Condensed"/>
            </a:endParaRPr>
          </a:p>
        </p:txBody>
      </p:sp>
      <p:sp>
        <p:nvSpPr>
          <p:cNvPr id="103" name="K salida 1"/>
          <p:cNvSpPr/>
          <p:nvPr/>
        </p:nvSpPr>
        <p:spPr>
          <a:xfrm>
            <a:off x="3200400" y="2697480"/>
            <a:ext cx="292608" cy="292608"/>
          </a:xfrm>
          <a:prstGeom prst="ellipse">
            <a:avLst/>
          </a:prstGeom>
          <a:gradFill rotWithShape="1">
            <a:gsLst>
              <a:gs pos="0">
                <a:srgbClr val="9F7BAE"/>
              </a:gs>
              <a:gs pos="55000">
                <a:srgbClr val="6C3483"/>
              </a:gs>
              <a:gs pos="100000">
                <a:srgbClr val="562968"/>
              </a:gs>
            </a:gsLst>
            <a:path path="circle">
              <a:fillToRect l="32000" t="28000" r="68000" b="72000"/>
            </a:path>
          </a:gradFill>
          <a:ln w="12700" cap="rnd">
            <a:solidFill>
              <a:srgbClr val="3B1C48"/>
            </a:solidFill>
            <a:round/>
          </a:ln>
        </p:spPr>
        <p:txBody>
          <a:bodyPr wrap="square" lIns="0" tIns="0" rIns="0" bIns="0" anchor="ctr" rtlCol="0">
            <a:noAutofit/>
          </a:bodyPr>
          <a:lstStyle/>
          <a:p>
            <a:pPr algn="ctr">
              <a:spcAft>
                <a:spcPts val="300"/>
              </a:spcAft>
              <a:buNone/>
            </a:pPr>
            <a:r>
              <a:rPr lang="es-AR" sz="952" b="1" dirty="0">
                <a:solidFill>
                  <a:srgbClr val="FFFFFF"/>
                </a:solidFill>
                <a:latin typeface="Bahnschrift SemiBold Condensed"/>
                <a:ea typeface="Bahnschrift SemiBold Condensed"/>
                <a:cs typeface="Bahnschrift SemiBold Condensed"/>
                <a:sym typeface="Bahnschrift SemiBold Condensed"/>
              </a:rPr>
              <a:t>K</a:t>
            </a:r>
            <a:r>
              <a:rPr lang="es-AR" sz="95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52" dirty="0">
              <a:latin typeface="Bahnschrift SemiBold Condensed"/>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713037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PASOS 4–5: ↑ ATP/ADP Y CIERRE DEL CANAL K</a:t>
            </a:r>
            <a:r>
              <a:rPr lang="es-AR" sz="2600" b="1" baseline="-25000" dirty="0">
                <a:solidFill>
                  <a:srgbClr val="1E1E1E"/>
                </a:solidFill>
                <a:latin typeface="Bahnschrift SemiBold Condensed"/>
                <a:ea typeface="Bahnschrift SemiBold Condensed"/>
                <a:cs typeface="Bahnschrift SemiBold Condensed"/>
                <a:sym typeface="Bahnschrift SemiBold Condensed"/>
              </a:rPr>
              <a:t>ATP</a:t>
            </a:r>
            <a:endParaRPr lang="es-AR" sz="2600" dirty="0">
              <a:latin typeface="Bahnschrift SemiBold Condensed"/>
            </a:endParaRPr>
          </a:p>
        </p:txBody>
      </p:sp>
      <p:sp>
        <p:nvSpPr>
          <p:cNvPr id="10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25</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9"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113 -0.2067 E" pathEditMode="relative" ptsTypes="">
                                      <p:cBhvr>
                                        <p:cTn id="4" dur="1200" fill="hold"/>
                                        <p:tgtEl>
                                          <p:spTgt spid="102"/>
                                        </p:tgtEl>
                                        <p:attrNameLst>
                                          <p:attrName>ppt_x</p:attrName>
                                          <p:attrName>ppt_y</p:attrName>
                                        </p:attrNameLst>
                                      </p:cBhvr>
                                      <p:rCtr x="562" y="-10333"/>
                                    </p:animMotion>
                                  </p:childTnLst>
                                </p:cTn>
                              </p:par>
                            </p:childTnLst>
                          </p:cTn>
                        </p:par>
                        <p:par>
                          <p:cTn id="8" fill="hold">
                            <p:stCondLst>
                              <p:cond delay="300"/>
                            </p:stCondLst>
                            <p:childTnLst>
                              <p:par>
                                <p:cTn id="6" presetID="0" presetClass="path" presetSubtype="0" accel="20000" decel="20000" fill="hold" grpId="0" nodeType="afterEffect">
                                  <p:stCondLst>
                                    <p:cond delay="0"/>
                                  </p:stCondLst>
                                  <p:childTnLst>
                                    <p:animMotion origin="layout" path="M 0 0 L 0.0113 -0.2067 E" pathEditMode="relative" ptsTypes="">
                                      <p:cBhvr>
                                        <p:cTn id="7" dur="1200" fill="hold"/>
                                        <p:tgtEl>
                                          <p:spTgt spid="103"/>
                                        </p:tgtEl>
                                        <p:attrNameLst>
                                          <p:attrName>ppt_x</p:attrName>
                                          <p:attrName>ppt_y</p:attrName>
                                        </p:attrNameLst>
                                      </p:cBhvr>
                                      <p:rCtr x="562" y="-10333"/>
                                    </p:animMotion>
                                  </p:childTnLst>
                                </p:cTn>
                              </p:par>
                            </p:childTnLst>
                          </p:cTn>
                        </p:par>
                      </p:childTnLst>
                    </p:cTn>
                  </p:par>
                  <p:par>
                    <p:cTn id="34" fill="hold">
                      <p:stCondLst>
                        <p:cond delay="indefinite"/>
                      </p:stCondLst>
                      <p:childTnLst>
                        <p:par>
                          <p:cTn id="13"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1"/>
                                        </p:tgtEl>
                                        <p:attrNameLst>
                                          <p:attrName>style.visibility</p:attrName>
                                        </p:attrNameLst>
                                      </p:cBhvr>
                                      <p:to>
                                        <p:strVal val="visible"/>
                                      </p:to>
                                    </p:set>
                                    <p:animEffect transition="in" filter="fade">
                                      <p:cBhvr>
                                        <p:cTn id="12" dur="500"/>
                                        <p:tgtEl>
                                          <p:spTgt spid="101"/>
                                        </p:tgtEl>
                                      </p:cBhvr>
                                    </p:animEffect>
                                  </p:childTnLst>
                                </p:cTn>
                              </p:par>
                            </p:childTnLst>
                          </p:cTn>
                        </p:par>
                        <p:par>
                          <p:cTn id="17" fill="hold">
                            <p:stCondLst>
                              <p:cond delay="500"/>
                            </p:stCondLst>
                            <p:childTnLst>
                              <p:par>
                                <p:cTn id="14" presetID="10" presetClass="exit" presetSubtype="0" fill="hold" grpId="0" nodeType="afterEffect">
                                  <p:stCondLst>
                                    <p:cond delay="0"/>
                                  </p:stCondLst>
                                  <p:childTnLst>
                                    <p:animEffect transition="out" filter="fade">
                                      <p:cBhvr>
                                        <p:cTn id="15" dur="400"/>
                                        <p:tgtEl>
                                          <p:spTgt spid="101"/>
                                        </p:tgtEl>
                                      </p:cBhvr>
                                    </p:animEffect>
                                    <p:set>
                                      <p:cBhvr>
                                        <p:cTn id="16" dur="1" fill="hold">
                                          <p:stCondLst>
                                            <p:cond delay="399"/>
                                          </p:stCondLst>
                                        </p:cTn>
                                        <p:tgtEl>
                                          <p:spTgt spid="101"/>
                                        </p:tgtEl>
                                        <p:attrNameLst>
                                          <p:attrName>style.visibility</p:attrName>
                                        </p:attrNameLst>
                                      </p:cBhvr>
                                      <p:to>
                                        <p:strVal val="hidden"/>
                                      </p:to>
                                    </p:set>
                                  </p:childTnLst>
                                </p:cTn>
                              </p:par>
                            </p:childTnLst>
                          </p:cTn>
                        </p:par>
                        <p:par>
                          <p:cTn id="33" fill="hold">
                            <p:stCondLst>
                              <p:cond delay="900"/>
                            </p:stCondLst>
                            <p:childTnLst>
                              <p:par>
                                <p:cTn id="18" presetID="53" presetClass="entr" presetSubtype="16" fill="hold" grpId="0" nodeType="afterEffect">
                                  <p:stCondLst>
                                    <p:cond delay="0"/>
                                  </p:stCondLst>
                                  <p:childTnLst>
                                    <p:set>
                                      <p:cBhvr>
                                        <p:cTn id="19" dur="1" fill="hold">
                                          <p:stCondLst>
                                            <p:cond delay="0"/>
                                          </p:stCondLst>
                                        </p:cTn>
                                        <p:tgtEl>
                                          <p:spTgt spid="98"/>
                                        </p:tgtEl>
                                        <p:attrNameLst>
                                          <p:attrName>style.visibility</p:attrName>
                                        </p:attrNameLst>
                                      </p:cBhvr>
                                      <p:to>
                                        <p:strVal val="visible"/>
                                      </p:to>
                                    </p:set>
                                    <p:anim calcmode="lin" valueType="num">
                                      <p:cBhvr>
                                        <p:cTn id="20" dur="500" fill="hold"/>
                                        <p:tgtEl>
                                          <p:spTgt spid="98"/>
                                        </p:tgtEl>
                                        <p:attrNameLst>
                                          <p:attrName>ppt_w</p:attrName>
                                        </p:attrNameLst>
                                      </p:cBhvr>
                                      <p:tavLst>
                                        <p:tav tm="0">
                                          <p:val>
                                            <p:fltVal val="0"/>
                                          </p:val>
                                        </p:tav>
                                        <p:tav tm="100000">
                                          <p:val>
                                            <p:strVal val="#ppt_w"/>
                                          </p:val>
                                        </p:tav>
                                      </p:tavLst>
                                    </p:anim>
                                    <p:anim calcmode="lin" valueType="num">
                                      <p:cBhvr>
                                        <p:cTn id="21" dur="500" fill="hold"/>
                                        <p:tgtEl>
                                          <p:spTgt spid="98"/>
                                        </p:tgtEl>
                                        <p:attrNameLst>
                                          <p:attrName>ppt_h</p:attrName>
                                        </p:attrNameLst>
                                      </p:cBhvr>
                                      <p:tavLst>
                                        <p:tav tm="0">
                                          <p:val>
                                            <p:fltVal val="0"/>
                                          </p:val>
                                        </p:tav>
                                        <p:tav tm="100000">
                                          <p:val>
                                            <p:strVal val="#ppt_h"/>
                                          </p:val>
                                        </p:tav>
                                      </p:tavLst>
                                    </p:anim>
                                    <p:animEffect transition="in" filter="fade">
                                      <p:cBhvr>
                                        <p:cTn id="22" dur="500"/>
                                        <p:tgtEl>
                                          <p:spTgt spid="9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99"/>
                                        </p:tgtEl>
                                        <p:attrNameLst>
                                          <p:attrName>style.visibility</p:attrName>
                                        </p:attrNameLst>
                                      </p:cBhvr>
                                      <p:to>
                                        <p:strVal val="visible"/>
                                      </p:to>
                                    </p:set>
                                    <p:anim calcmode="lin" valueType="num">
                                      <p:cBhvr>
                                        <p:cTn id="25" dur="500" fill="hold"/>
                                        <p:tgtEl>
                                          <p:spTgt spid="99"/>
                                        </p:tgtEl>
                                        <p:attrNameLst>
                                          <p:attrName>ppt_w</p:attrName>
                                        </p:attrNameLst>
                                      </p:cBhvr>
                                      <p:tavLst>
                                        <p:tav tm="0">
                                          <p:val>
                                            <p:fltVal val="0"/>
                                          </p:val>
                                        </p:tav>
                                        <p:tav tm="100000">
                                          <p:val>
                                            <p:strVal val="#ppt_w"/>
                                          </p:val>
                                        </p:tav>
                                      </p:tavLst>
                                    </p:anim>
                                    <p:anim calcmode="lin" valueType="num">
                                      <p:cBhvr>
                                        <p:cTn id="26" dur="500" fill="hold"/>
                                        <p:tgtEl>
                                          <p:spTgt spid="99"/>
                                        </p:tgtEl>
                                        <p:attrNameLst>
                                          <p:attrName>ppt_h</p:attrName>
                                        </p:attrNameLst>
                                      </p:cBhvr>
                                      <p:tavLst>
                                        <p:tav tm="0">
                                          <p:val>
                                            <p:fltVal val="0"/>
                                          </p:val>
                                        </p:tav>
                                        <p:tav tm="100000">
                                          <p:val>
                                            <p:strVal val="#ppt_h"/>
                                          </p:val>
                                        </p:tav>
                                      </p:tavLst>
                                    </p:anim>
                                    <p:animEffect transition="in" filter="fade">
                                      <p:cBhvr>
                                        <p:cTn id="27" dur="500"/>
                                        <p:tgtEl>
                                          <p:spTgt spid="99"/>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00"/>
                                        </p:tgtEl>
                                        <p:attrNameLst>
                                          <p:attrName>style.visibility</p:attrName>
                                        </p:attrNameLst>
                                      </p:cBhvr>
                                      <p:to>
                                        <p:strVal val="visible"/>
                                      </p:to>
                                    </p:set>
                                    <p:anim calcmode="lin" valueType="num">
                                      <p:cBhvr>
                                        <p:cTn id="30" dur="500" fill="hold"/>
                                        <p:tgtEl>
                                          <p:spTgt spid="100"/>
                                        </p:tgtEl>
                                        <p:attrNameLst>
                                          <p:attrName>ppt_w</p:attrName>
                                        </p:attrNameLst>
                                      </p:cBhvr>
                                      <p:tavLst>
                                        <p:tav tm="0">
                                          <p:val>
                                            <p:fltVal val="0"/>
                                          </p:val>
                                        </p:tav>
                                        <p:tav tm="100000">
                                          <p:val>
                                            <p:strVal val="#ppt_w"/>
                                          </p:val>
                                        </p:tav>
                                      </p:tavLst>
                                    </p:anim>
                                    <p:anim calcmode="lin" valueType="num">
                                      <p:cBhvr>
                                        <p:cTn id="31" dur="500" fill="hold"/>
                                        <p:tgtEl>
                                          <p:spTgt spid="100"/>
                                        </p:tgtEl>
                                        <p:attrNameLst>
                                          <p:attrName>ppt_h</p:attrName>
                                        </p:attrNameLst>
                                      </p:cBhvr>
                                      <p:tavLst>
                                        <p:tav tm="0">
                                          <p:val>
                                            <p:fltVal val="0"/>
                                          </p:val>
                                        </p:tav>
                                        <p:tav tm="100000">
                                          <p:val>
                                            <p:strVal val="#ppt_h"/>
                                          </p:val>
                                        </p:tav>
                                      </p:tavLst>
                                    </p:anim>
                                    <p:animEffect transition="in" filter="fade">
                                      <p:cBhvr>
                                        <p:cTn id="32" dur="500"/>
                                        <p:tgtEl>
                                          <p:spTgt spid="100"/>
                                        </p:tgtEl>
                                      </p:cBhvr>
                                    </p:animEffect>
                                  </p:childTnLst>
                                </p:cTn>
                              </p:par>
                            </p:childTnLst>
                          </p:cTn>
                        </p:par>
                      </p:childTnLst>
                    </p:cTn>
                  </p:par>
                  <p:par>
                    <p:cTn id="47" fill="hold">
                      <p:stCondLst>
                        <p:cond delay="indefinite"/>
                      </p:stCondLst>
                      <p:childTnLst>
                        <p:par>
                          <p:cTn id="39" fill="hold">
                            <p:stCondLst>
                              <p:cond delay="0"/>
                            </p:stCondLst>
                            <p:childTnLst>
                              <p:par>
                                <p:cTn id="35" presetID="0" presetClass="path" presetSubtype="0" accel="20000" decel="20000" fill="hold" grpId="0" nodeType="clickEffect">
                                  <p:stCondLst>
                                    <p:cond delay="0"/>
                                  </p:stCondLst>
                                  <p:childTnLst>
                                    <p:animMotion origin="layout" path="M 0 0 L 0.0263 -0.1000 E" pathEditMode="relative" ptsTypes="">
                                      <p:cBhvr>
                                        <p:cTn id="36" dur="900" fill="hold"/>
                                        <p:tgtEl>
                                          <p:spTgt spid="98"/>
                                        </p:tgtEl>
                                        <p:attrNameLst>
                                          <p:attrName>ppt_x</p:attrName>
                                          <p:attrName>ppt_y</p:attrName>
                                        </p:attrNameLst>
                                      </p:cBhvr>
                                      <p:rCtr x="1312" y="-5000"/>
                                    </p:animMotion>
                                  </p:childTnLst>
                                </p:cTn>
                              </p:par>
                              <p:par>
                                <p:cTn id="37" presetID="0" presetClass="path" presetSubtype="0" accel="20000" decel="20000" fill="hold" grpId="0" nodeType="withEffect">
                                  <p:stCondLst>
                                    <p:cond delay="0"/>
                                  </p:stCondLst>
                                  <p:childTnLst>
                                    <p:animMotion origin="layout" path="M 0 0 L -0.0038 -0.1267 E" pathEditMode="relative" ptsTypes="">
                                      <p:cBhvr>
                                        <p:cTn id="38" dur="900" fill="hold"/>
                                        <p:tgtEl>
                                          <p:spTgt spid="99"/>
                                        </p:tgtEl>
                                        <p:attrNameLst>
                                          <p:attrName>ppt_x</p:attrName>
                                          <p:attrName>ppt_y</p:attrName>
                                        </p:attrNameLst>
                                      </p:cBhvr>
                                      <p:rCtr x="-187" y="-6333"/>
                                    </p:animMotion>
                                  </p:childTnLst>
                                </p:cTn>
                              </p:par>
                            </p:childTnLst>
                          </p:cTn>
                        </p:par>
                        <p:par>
                          <p:cTn id="46" fill="hold">
                            <p:stCondLst>
                              <p:cond delay="900"/>
                            </p:stCondLst>
                            <p:childTnLst>
                              <p:par>
                                <p:cTn id="40" presetID="10" presetClass="exit" presetSubtype="0" fill="hold" grpId="0" nodeType="afterEffect">
                                  <p:stCondLst>
                                    <p:cond delay="0"/>
                                  </p:stCondLst>
                                  <p:childTnLst>
                                    <p:animEffect transition="out" filter="fade">
                                      <p:cBhvr>
                                        <p:cTn id="41" dur="400"/>
                                        <p:tgtEl>
                                          <p:spTgt spid="23"/>
                                        </p:tgtEl>
                                      </p:cBhvr>
                                    </p:animEffect>
                                    <p:set>
                                      <p:cBhvr>
                                        <p:cTn id="42" dur="1" fill="hold">
                                          <p:stCondLst>
                                            <p:cond delay="399"/>
                                          </p:stCondLst>
                                        </p:cTn>
                                        <p:tgtEl>
                                          <p:spTgt spid="23"/>
                                        </p:tgtEl>
                                        <p:attrNameLst>
                                          <p:attrName>style.visibility</p:attrName>
                                        </p:attrNameLst>
                                      </p:cBhvr>
                                      <p:to>
                                        <p:strVal val="hidden"/>
                                      </p:to>
                                    </p:set>
                                  </p:childTnLst>
                                </p:cTn>
                              </p:par>
                              <p:par>
                                <p:cTn id="43" presetID="10" presetClass="entr" presetSubtype="0" fill="hold" grpId="0" nodeType="withEffect">
                                  <p:stCondLst>
                                    <p:cond delay="0"/>
                                  </p:stCondLst>
                                  <p:childTnLst>
                                    <p:set>
                                      <p:cBhvr>
                                        <p:cTn id="44" dur="1" fill="hold">
                                          <p:stCondLst>
                                            <p:cond delay="0"/>
                                          </p:stCondLst>
                                        </p:cTn>
                                        <p:tgtEl>
                                          <p:spTgt spid="76"/>
                                        </p:tgtEl>
                                        <p:attrNameLst>
                                          <p:attrName>style.visibility</p:attrName>
                                        </p:attrNameLst>
                                      </p:cBhvr>
                                      <p:to>
                                        <p:strVal val="visible"/>
                                      </p:to>
                                    </p:set>
                                    <p:animEffect transition="in" filter="fade">
                                      <p:cBhvr>
                                        <p:cTn id="45" dur="500"/>
                                        <p:tgtEl>
                                          <p:spTgt spid="76"/>
                                        </p:tgtEl>
                                      </p:cBhvr>
                                    </p:animEffect>
                                  </p:childTnLst>
                                </p:cTn>
                              </p:par>
                            </p:childTnLst>
                          </p:cTn>
                        </p:par>
                      </p:childTnLst>
                    </p:cTn>
                  </p:par>
                  <p:par>
                    <p:cTn id="51" fill="hold">
                      <p:stCondLst>
                        <p:cond delay="indefinite"/>
                      </p:stCondLst>
                      <p:childTnLst>
                        <p:par>
                          <p:cTn id="50" fill="hold">
                            <p:stCondLst>
                              <p:cond delay="0"/>
                            </p:stCondLst>
                            <p:childTnLst>
                              <p:par>
                                <p:cTn id="48" presetID="6" presetClass="emph" presetSubtype="0" fill="hold" grpId="0" nodeType="clickEffect">
                                  <p:stCondLst>
                                    <p:cond delay="0"/>
                                  </p:stCondLst>
                                  <p:childTnLst>
                                    <p:animScale>
                                      <p:cBhvr>
                                        <p:cTn id="49" dur="300" autoRev="1" fill="hold"/>
                                        <p:tgtEl>
                                          <p:spTgt spid="76"/>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1" grpId="0" animBg="1"/>
      <p:bldP spid="98" grpId="0" animBg="1"/>
      <p:bldP spid="99" grpId="0" animBg="1"/>
      <p:bldP spid="100" grpId="0" animBg="1"/>
    </p:bldLst>
  </p:timing>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cerrado"/>
          <p:cNvGrpSpPr/>
          <p:nvPr/>
        </p:nvGrpSpPr>
        <p:grpSpPr>
          <a:xfrm>
            <a:off x="2331720" y="1819656"/>
            <a:ext cx="1640434" cy="914400"/>
            <a:chOff x="2331720" y="1819656"/>
            <a:chExt cx="1640434"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156509"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32293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cerrado</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anel"/>
          <p:cNvGrpSpPr/>
          <p:nvPr/>
        </p:nvGrpSpPr>
        <p:grpSpPr>
          <a:xfrm>
            <a:off x="8001000" y="1051560"/>
            <a:ext cx="3840480" cy="4526280"/>
            <a:chOff x="8001000" y="1051560"/>
            <a:chExt cx="3840480" cy="4526280"/>
          </a:xfrm>
        </p:grpSpPr>
        <p:sp>
          <p:nvSpPr>
            <p:cNvPr id="77" name="Forma 76"/>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8" name="Paso 6"/>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6</a:t>
              </a:r>
              <a:endParaRPr lang="es-AR" sz="1500" dirty="0">
                <a:latin typeface="Bahnschrift SemiBold Condensed"/>
              </a:endParaRPr>
            </a:p>
          </p:txBody>
        </p:sp>
        <p:sp>
          <p:nvSpPr>
            <p:cNvPr id="79" name="Forma 78"/>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La membrana se despolariza</a:t>
              </a:r>
              <a:endParaRPr lang="es-AR" sz="1700" dirty="0">
                <a:latin typeface="Bahnschrift SemiBold Condensed"/>
              </a:endParaRPr>
            </a:p>
          </p:txBody>
        </p:sp>
        <p:sp>
          <p:nvSpPr>
            <p:cNvPr id="80" name="Forma 79"/>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Con K</a:t>
              </a:r>
              <a:r>
                <a:rPr lang="es-AR" sz="1500" baseline="-25000" dirty="0">
                  <a:solidFill>
                    <a:srgbClr val="1E1E1E"/>
                  </a:solidFill>
                  <a:latin typeface="Bahnschrift"/>
                  <a:ea typeface="Bahnschrift"/>
                  <a:cs typeface="Bahnschrift"/>
                  <a:sym typeface="Bahnschrift"/>
                </a:rPr>
                <a:t>ATP</a:t>
              </a:r>
              <a:r>
                <a:rPr lang="es-AR" sz="1500" dirty="0">
                  <a:solidFill>
                    <a:srgbClr val="1E1E1E"/>
                  </a:solidFill>
                  <a:latin typeface="Bahnschrift"/>
                  <a:ea typeface="Bahnschrift"/>
                  <a:cs typeface="Bahnschrift"/>
                  <a:sym typeface="Bahnschrift"/>
                </a:rPr>
                <a:t> cerrado predominan </a:t>
              </a:r>
              <a:r>
                <a:rPr lang="es-AR" sz="1500" b="1" dirty="0">
                  <a:solidFill>
                    <a:srgbClr val="1E1E1E"/>
                  </a:solidFill>
                  <a:latin typeface="Bahnschrift"/>
                  <a:ea typeface="Bahnschrift"/>
                  <a:cs typeface="Bahnschrift"/>
                  <a:sym typeface="Bahnschrift"/>
                </a:rPr>
                <a:t>corrientes despolarizantes</a:t>
              </a:r>
              <a:r>
                <a:rPr lang="es-AR" sz="1500" dirty="0">
                  <a:solidFill>
                    <a:srgbClr val="1E1E1E"/>
                  </a:solidFill>
                  <a:latin typeface="Bahnschrift"/>
                  <a:ea typeface="Bahnschrift"/>
                  <a:cs typeface="Bahnschrift"/>
                  <a:sym typeface="Bahnschrift"/>
                </a:rPr>
                <a:t> de fondo.</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potencial de membrana se vuelve </a:t>
              </a:r>
              <a:r>
                <a:rPr lang="es-AR" sz="1500" b="1" dirty="0">
                  <a:solidFill>
                    <a:srgbClr val="1E1E1E"/>
                  </a:solidFill>
                  <a:latin typeface="Bahnschrift"/>
                  <a:ea typeface="Bahnschrift"/>
                  <a:cs typeface="Bahnschrift"/>
                  <a:sym typeface="Bahnschrift"/>
                </a:rPr>
                <a:t>menos negativo</a:t>
              </a:r>
              <a:r>
                <a:rPr lang="es-AR" sz="1500" dirty="0">
                  <a:solidFill>
                    <a:srgbClr val="1E1E1E"/>
                  </a:solidFill>
                  <a:latin typeface="Bahnschrift"/>
                  <a:ea typeface="Bahnschrift"/>
                  <a:cs typeface="Bahnschrift"/>
                  <a:sym typeface="Bahnschrift"/>
                </a:rPr>
                <a:t> y alcanza el umbral.</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Aparecen </a:t>
              </a:r>
              <a:r>
                <a:rPr lang="es-AR" sz="1500" b="1" dirty="0">
                  <a:solidFill>
                    <a:srgbClr val="1E1E1E"/>
                  </a:solidFill>
                  <a:latin typeface="Bahnschrift"/>
                  <a:ea typeface="Bahnschrift"/>
                  <a:cs typeface="Bahnschrift"/>
                  <a:sym typeface="Bahnschrift"/>
                </a:rPr>
                <a:t>potenciales de acción</a:t>
              </a:r>
              <a:r>
                <a:rPr lang="es-AR" sz="1500" dirty="0">
                  <a:solidFill>
                    <a:srgbClr val="1E1E1E"/>
                  </a:solidFill>
                  <a:latin typeface="Bahnschrift"/>
                  <a:ea typeface="Bahnschrift"/>
                  <a:cs typeface="Bahnschrift"/>
                  <a:sym typeface="Bahnschrift"/>
                </a:rPr>
                <a:t> en ráfagas.</a:t>
              </a:r>
              <a:endParaRPr lang="es-AR" sz="1500" dirty="0">
                <a:latin typeface="Bahnschrift"/>
              </a:endParaRPr>
            </a:p>
          </p:txBody>
        </p:sp>
      </p:grpSp>
      <p:grpSp>
        <p:nvGrpSpPr>
          <p:cNvPr id="81" name="!!Progreso"/>
          <p:cNvGrpSpPr/>
          <p:nvPr/>
        </p:nvGrpSpPr>
        <p:grpSpPr>
          <a:xfrm>
            <a:off x="8001000" y="5870448"/>
            <a:ext cx="3840480" cy="603504"/>
            <a:chOff x="8001000" y="5870448"/>
            <a:chExt cx="3840480" cy="603504"/>
          </a:xfrm>
        </p:grpSpPr>
        <p:sp>
          <p:nvSpPr>
            <p:cNvPr id="82" name="Forma 81"/>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3" name="Progreso 1"/>
            <p:cNvSpPr/>
            <p:nvPr/>
          </p:nvSpPr>
          <p:spPr>
            <a:xfrm>
              <a:off x="800100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4" name="Progreso 2"/>
            <p:cNvSpPr/>
            <p:nvPr/>
          </p:nvSpPr>
          <p:spPr>
            <a:xfrm>
              <a:off x="838504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5" name="Progreso 3"/>
            <p:cNvSpPr/>
            <p:nvPr/>
          </p:nvSpPr>
          <p:spPr>
            <a:xfrm>
              <a:off x="8769096"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6" name="Progreso 4"/>
            <p:cNvSpPr/>
            <p:nvPr/>
          </p:nvSpPr>
          <p:spPr>
            <a:xfrm>
              <a:off x="9153144"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7" name="Progreso 5"/>
            <p:cNvSpPr/>
            <p:nvPr/>
          </p:nvSpPr>
          <p:spPr>
            <a:xfrm>
              <a:off x="9537192"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8" name="Progreso 6"/>
            <p:cNvSpPr/>
            <p:nvPr/>
          </p:nvSpPr>
          <p:spPr>
            <a:xfrm>
              <a:off x="9921240"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9"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0"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1"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2"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grpSp>
        <p:nvGrpSpPr>
          <p:cNvPr id="93" name="!!Cargas despolarizadas"/>
          <p:cNvGrpSpPr/>
          <p:nvPr/>
        </p:nvGrpSpPr>
        <p:grpSpPr>
          <a:xfrm>
            <a:off x="685800" y="1481328"/>
            <a:ext cx="6309360" cy="1280160"/>
            <a:chOff x="685800" y="1481328"/>
            <a:chExt cx="6309360" cy="1280160"/>
          </a:xfrm>
        </p:grpSpPr>
        <p:sp>
          <p:nvSpPr>
            <p:cNvPr id="94" name="Forma 9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95" name="Forma 9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96" name="Forma 9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97" name="Forma 9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98" name="Forma 9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99" name="Forma 9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0" name="Forma 9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1" name="Forma 10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2" name="Forma 10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3" name="Forma 10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4" name="Forma 10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05" name="Forma 10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106" name="Trazado de potencial"/>
          <p:cNvGrpSpPr/>
          <p:nvPr/>
        </p:nvGrpSpPr>
        <p:grpSpPr>
          <a:xfrm>
            <a:off x="822960" y="4526280"/>
            <a:ext cx="3566160" cy="1691640"/>
            <a:chOff x="822960" y="4526280"/>
            <a:chExt cx="3566160" cy="1691640"/>
          </a:xfrm>
        </p:grpSpPr>
        <p:sp>
          <p:nvSpPr>
            <p:cNvPr id="107" name="Forma 106"/>
            <p:cNvSpPr/>
            <p:nvPr/>
          </p:nvSpPr>
          <p:spPr>
            <a:xfrm>
              <a:off x="822960" y="4526280"/>
              <a:ext cx="3566160" cy="1691640"/>
            </a:xfrm>
            <a:prstGeom prst="rect">
              <a:avLst/>
            </a:prstGeom>
            <a:solidFill>
              <a:srgbClr val="FFFFFF">
                <a:alpha val="75000"/>
              </a:srgbClr>
            </a:solidFill>
            <a:ln w="12700" cap="rnd">
              <a:solidFill>
                <a:srgbClr val="1E1E1E"/>
              </a:solidFill>
              <a:round/>
            </a:ln>
          </p:spPr>
        </p:sp>
        <p:sp>
          <p:nvSpPr>
            <p:cNvPr id="108" name="Forma 107"/>
            <p:cNvSpPr txBox="1"/>
            <p:nvPr/>
          </p:nvSpPr>
          <p:spPr>
            <a:xfrm>
              <a:off x="914400" y="4544568"/>
              <a:ext cx="338328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Potencial de membrana (esquema)</a:t>
              </a:r>
              <a:endParaRPr lang="es-AR" sz="1200" dirty="0">
                <a:latin typeface="Bahnschrift SemiBold Condensed"/>
              </a:endParaRPr>
            </a:p>
          </p:txBody>
        </p:sp>
        <p:sp>
          <p:nvSpPr>
            <p:cNvPr id="109" name="Forma 108"/>
            <p:cNvSpPr/>
            <p:nvPr/>
          </p:nvSpPr>
          <p:spPr>
            <a:xfrm>
              <a:off x="914400" y="4846320"/>
              <a:ext cx="3383280" cy="1280160"/>
            </a:xfrm>
            <a:custGeom>
              <a:avLst/>
              <a:gdLst/>
              <a:ahLst/>
              <a:cxnLst/>
              <a:rect l="0" t="0" r="r" b="b"/>
              <a:pathLst>
                <a:path w="1000" h="1000" fill="none">
                  <a:moveTo>
                    <a:pt x="0" y="820"/>
                  </a:moveTo>
                  <a:lnTo>
                    <a:pt x="300" y="820"/>
                  </a:lnTo>
                  <a:cubicBezTo>
                    <a:pt x="350" y="820"/>
                    <a:pt x="380" y="600"/>
                    <a:pt x="420" y="560"/>
                  </a:cubicBezTo>
                  <a:lnTo>
                    <a:pt x="470" y="560"/>
                  </a:lnTo>
                  <a:lnTo>
                    <a:pt x="490" y="120"/>
                  </a:lnTo>
                  <a:lnTo>
                    <a:pt x="510" y="560"/>
                  </a:lnTo>
                  <a:lnTo>
                    <a:pt x="560" y="560"/>
                  </a:lnTo>
                  <a:lnTo>
                    <a:pt x="580" y="120"/>
                  </a:lnTo>
                  <a:lnTo>
                    <a:pt x="600" y="560"/>
                  </a:lnTo>
                  <a:lnTo>
                    <a:pt x="650" y="560"/>
                  </a:lnTo>
                  <a:lnTo>
                    <a:pt x="670" y="120"/>
                  </a:lnTo>
                  <a:lnTo>
                    <a:pt x="690" y="560"/>
                  </a:lnTo>
                  <a:lnTo>
                    <a:pt x="740" y="560"/>
                  </a:lnTo>
                  <a:lnTo>
                    <a:pt x="760" y="120"/>
                  </a:lnTo>
                  <a:lnTo>
                    <a:pt x="780" y="560"/>
                  </a:lnTo>
                  <a:lnTo>
                    <a:pt x="830" y="560"/>
                  </a:lnTo>
                  <a:lnTo>
                    <a:pt x="850" y="120"/>
                  </a:lnTo>
                  <a:lnTo>
                    <a:pt x="870" y="560"/>
                  </a:lnTo>
                  <a:lnTo>
                    <a:pt x="1000" y="560"/>
                  </a:lnTo>
                </a:path>
              </a:pathLst>
            </a:custGeom>
            <a:noFill/>
            <a:ln w="25400" cap="rnd">
              <a:solidFill>
                <a:srgbClr val="C00000"/>
              </a:solidFill>
              <a:round/>
            </a:ln>
          </p:spPr>
        </p:sp>
        <p:sp>
          <p:nvSpPr>
            <p:cNvPr id="110" name="Forma 109"/>
            <p:cNvSpPr txBox="1"/>
            <p:nvPr/>
          </p:nvSpPr>
          <p:spPr>
            <a:xfrm>
              <a:off x="914400" y="5897880"/>
              <a:ext cx="1371600" cy="274320"/>
            </a:xfrm>
            <a:prstGeom prst="rect">
              <a:avLst/>
            </a:prstGeom>
            <a:noFill/>
            <a:ln>
              <a:noFill/>
            </a:ln>
          </p:spPr>
          <p:txBody>
            <a:bodyPr wrap="square" lIns="0" tIns="0" rIns="0" bIns="0" anchor="t" rtlCol="0">
              <a:noAutofit/>
            </a:bodyPr>
            <a:lstStyle/>
            <a:p>
              <a:pPr algn="l">
                <a:spcAft>
                  <a:spcPts val="300"/>
                </a:spcAft>
                <a:buNone/>
              </a:pPr>
              <a:r>
                <a:rPr lang="es-AR" sz="1100" dirty="0">
                  <a:solidFill>
                    <a:srgbClr val="1E1E1E"/>
                  </a:solidFill>
                  <a:latin typeface="Bahnschrift"/>
                  <a:ea typeface="Bahnschrift"/>
                  <a:cs typeface="Bahnschrift"/>
                  <a:sym typeface="Bahnschrift"/>
                </a:rPr>
                <a:t>reposo</a:t>
              </a:r>
              <a:endParaRPr lang="es-AR" sz="1100" dirty="0">
                <a:latin typeface="Bahnschrift"/>
              </a:endParaRPr>
            </a:p>
          </p:txBody>
        </p:sp>
        <p:sp>
          <p:nvSpPr>
            <p:cNvPr id="111" name="Forma 110"/>
            <p:cNvSpPr txBox="1"/>
            <p:nvPr/>
          </p:nvSpPr>
          <p:spPr>
            <a:xfrm>
              <a:off x="2743200" y="5897880"/>
              <a:ext cx="1645920" cy="274320"/>
            </a:xfrm>
            <a:prstGeom prst="rect">
              <a:avLst/>
            </a:prstGeom>
            <a:noFill/>
            <a:ln>
              <a:noFill/>
            </a:ln>
          </p:spPr>
          <p:txBody>
            <a:bodyPr wrap="square" lIns="0" tIns="0" rIns="0" bIns="0" anchor="t" rtlCol="0">
              <a:noAutofit/>
            </a:bodyPr>
            <a:lstStyle/>
            <a:p>
              <a:pPr algn="r">
                <a:spcAft>
                  <a:spcPts val="300"/>
                </a:spcAft>
                <a:buNone/>
              </a:pPr>
              <a:r>
                <a:rPr lang="es-AR" sz="1100" dirty="0">
                  <a:solidFill>
                    <a:srgbClr val="1E1E1E"/>
                  </a:solidFill>
                  <a:latin typeface="Bahnschrift"/>
                  <a:ea typeface="Bahnschrift"/>
                  <a:cs typeface="Bahnschrift"/>
                  <a:sym typeface="Bahnschrift"/>
                </a:rPr>
                <a:t>ráfagas</a:t>
              </a:r>
              <a:endParaRPr lang="es-AR" sz="1100" dirty="0">
                <a:latin typeface="Bahnschrift"/>
              </a:endParaRPr>
            </a:p>
          </p:txBody>
        </p:sp>
      </p:gr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651633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 6: DESPOLARIZACIÓN DE LA MEMBRANA</a:t>
            </a:r>
            <a:endParaRPr lang="es-AR" sz="2600" dirty="0">
              <a:latin typeface="Bahnschrift SemiBold Condensed"/>
            </a:endParaRPr>
          </a:p>
        </p:txBody>
      </p:sp>
      <p:sp>
        <p:nvSpPr>
          <p:cNvPr id="11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26</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xit" presetSubtype="0" fill="hold" grpId="0" nodeType="clickEffect">
                                  <p:stCondLst>
                                    <p:cond delay="0"/>
                                  </p:stCondLst>
                                  <p:childTnLst>
                                    <p:animEffect transition="out" filter="fade">
                                      <p:cBhvr>
                                        <p:cTn id="4" dur="400"/>
                                        <p:tgtEl>
                                          <p:spTgt spid="63"/>
                                        </p:tgtEl>
                                      </p:cBhvr>
                                    </p:animEffect>
                                    <p:set>
                                      <p:cBhvr>
                                        <p:cTn id="5" dur="1" fill="hold">
                                          <p:stCondLst>
                                            <p:cond delay="399"/>
                                          </p:stCondLst>
                                        </p:cTn>
                                        <p:tgtEl>
                                          <p:spTgt spid="63"/>
                                        </p:tgtEl>
                                        <p:attrNameLst>
                                          <p:attrName>style.visibility</p:attrName>
                                        </p:attrNameLst>
                                      </p:cBhvr>
                                      <p:to>
                                        <p:strVal val="hidden"/>
                                      </p:to>
                                    </p:set>
                                  </p:childTnLst>
                                </p:cTn>
                              </p:par>
                            </p:childTnLst>
                          </p:cTn>
                        </p:par>
                        <p:par>
                          <p:cTn id="10" fill="hold">
                            <p:stCondLst>
                              <p:cond delay="400"/>
                            </p:stCondLst>
                            <p:childTnLst>
                              <p:par>
                                <p:cTn id="7" presetID="10" presetClass="entr" presetSubtype="0" fill="hold" grpId="0" nodeType="afterEffect">
                                  <p:stCondLst>
                                    <p:cond delay="0"/>
                                  </p:stCondLst>
                                  <p:childTnLst>
                                    <p:set>
                                      <p:cBhvr>
                                        <p:cTn id="8" dur="1" fill="hold">
                                          <p:stCondLst>
                                            <p:cond delay="0"/>
                                          </p:stCondLst>
                                        </p:cTn>
                                        <p:tgtEl>
                                          <p:spTgt spid="93"/>
                                        </p:tgtEl>
                                        <p:attrNameLst>
                                          <p:attrName>style.visibility</p:attrName>
                                        </p:attrNameLst>
                                      </p:cBhvr>
                                      <p:to>
                                        <p:strVal val="visible"/>
                                      </p:to>
                                    </p:set>
                                    <p:animEffect transition="in" filter="fade">
                                      <p:cBhvr>
                                        <p:cTn id="9" dur="500"/>
                                        <p:tgtEl>
                                          <p:spTgt spid="93"/>
                                        </p:tgtEl>
                                      </p:cBhvr>
                                    </p:animEffect>
                                  </p:childTnLst>
                                </p:cTn>
                              </p:par>
                            </p:childTnLst>
                          </p:cTn>
                        </p:par>
                      </p:childTnLst>
                    </p:cTn>
                  </p:par>
                  <p:par>
                    <p:cTn id="16" fill="hold">
                      <p:stCondLst>
                        <p:cond delay="indefinite"/>
                      </p:stCondLst>
                      <p:childTnLst>
                        <p:par>
                          <p:cTn id="15"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106"/>
                                        </p:tgtEl>
                                        <p:attrNameLst>
                                          <p:attrName>style.visibility</p:attrName>
                                        </p:attrNameLst>
                                      </p:cBhvr>
                                      <p:to>
                                        <p:strVal val="visible"/>
                                      </p:to>
                                    </p:set>
                                    <p:animEffect transition="in" filter="wipe(left)">
                                      <p:cBhvr>
                                        <p:cTn id="14" dur="1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cerrado"/>
          <p:cNvGrpSpPr/>
          <p:nvPr/>
        </p:nvGrpSpPr>
        <p:grpSpPr>
          <a:xfrm>
            <a:off x="2331720" y="1819656"/>
            <a:ext cx="1640434" cy="914400"/>
            <a:chOff x="2331720" y="1819656"/>
            <a:chExt cx="1640434"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156509"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32293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cerrado</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CaV abierto"/>
          <p:cNvGrpSpPr/>
          <p:nvPr/>
        </p:nvGrpSpPr>
        <p:grpSpPr>
          <a:xfrm>
            <a:off x="4892040" y="1819656"/>
            <a:ext cx="819302" cy="640080"/>
            <a:chOff x="4892040" y="1819656"/>
            <a:chExt cx="819302" cy="640080"/>
          </a:xfrm>
        </p:grpSpPr>
        <p:sp>
          <p:nvSpPr>
            <p:cNvPr id="77" name="Forma 76"/>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78" name="Forma 77"/>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79" name="Forma 78"/>
            <p:cNvSpPr/>
            <p:nvPr/>
          </p:nvSpPr>
          <p:spPr>
            <a:xfrm>
              <a:off x="5352898"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80" name="Forma 79"/>
            <p:cNvSpPr/>
            <p:nvPr/>
          </p:nvSpPr>
          <p:spPr>
            <a:xfrm>
              <a:off x="5519318"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grpSp>
      <p:grpSp>
        <p:nvGrpSpPr>
          <p:cNvPr id="81" name="!!Panel"/>
          <p:cNvGrpSpPr/>
          <p:nvPr/>
        </p:nvGrpSpPr>
        <p:grpSpPr>
          <a:xfrm>
            <a:off x="8001000" y="1051560"/>
            <a:ext cx="3840480" cy="4526280"/>
            <a:chOff x="8001000" y="1051560"/>
            <a:chExt cx="3840480" cy="4526280"/>
          </a:xfrm>
        </p:grpSpPr>
        <p:sp>
          <p:nvSpPr>
            <p:cNvPr id="82" name="Forma 81"/>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83" name="Paso 7–8"/>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7–8</a:t>
              </a:r>
              <a:endParaRPr lang="es-AR" sz="1500" dirty="0">
                <a:latin typeface="Bahnschrift SemiBold Condensed"/>
              </a:endParaRPr>
            </a:p>
          </p:txBody>
        </p:sp>
        <p:sp>
          <p:nvSpPr>
            <p:cNvPr id="84" name="Forma 83"/>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Ca</a:t>
              </a:r>
              <a:r>
                <a:rPr lang="es-AR" sz="1700" b="1" baseline="30000" dirty="0">
                  <a:solidFill>
                    <a:srgbClr val="1E1E1E"/>
                  </a:solidFill>
                  <a:latin typeface="Bahnschrift SemiBold Condensed"/>
                  <a:ea typeface="Bahnschrift SemiBold Condensed"/>
                  <a:cs typeface="Bahnschrift SemiBold Condensed"/>
                  <a:sym typeface="Bahnschrift SemiBold Condensed"/>
                </a:rPr>
                <a:t>2+</a:t>
              </a:r>
              <a:r>
                <a:rPr lang="es-AR" sz="1700" b="1" dirty="0">
                  <a:solidFill>
                    <a:srgbClr val="1E1E1E"/>
                  </a:solidFill>
                  <a:latin typeface="Bahnschrift SemiBold Condensed"/>
                  <a:ea typeface="Bahnschrift SemiBold Condensed"/>
                  <a:cs typeface="Bahnschrift SemiBold Condensed"/>
                  <a:sym typeface="Bahnschrift SemiBold Condensed"/>
                </a:rPr>
                <a:t> entra a la célula</a:t>
              </a:r>
              <a:endParaRPr lang="es-AR" sz="1700" dirty="0">
                <a:latin typeface="Bahnschrift SemiBold Condensed"/>
              </a:endParaRPr>
            </a:p>
          </p:txBody>
        </p:sp>
        <p:sp>
          <p:nvSpPr>
            <p:cNvPr id="85" name="Forma 84"/>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La despolarización abre </a:t>
              </a:r>
              <a:r>
                <a:rPr lang="es-AR" sz="1500" b="1" dirty="0">
                  <a:solidFill>
                    <a:srgbClr val="1E1E1E"/>
                  </a:solidFill>
                  <a:latin typeface="Bahnschrift"/>
                  <a:ea typeface="Bahnschrift"/>
                  <a:cs typeface="Bahnschrift"/>
                  <a:sym typeface="Bahnschrift"/>
                </a:rPr>
                <a:t>canales de Ca</a:t>
              </a:r>
              <a:r>
                <a:rPr lang="es-AR" sz="1500" b="1" baseline="30000" dirty="0">
                  <a:solidFill>
                    <a:srgbClr val="1E1E1E"/>
                  </a:solidFill>
                  <a:latin typeface="Bahnschrift"/>
                  <a:ea typeface="Bahnschrift"/>
                  <a:cs typeface="Bahnschrift"/>
                  <a:sym typeface="Bahnschrift"/>
                </a:rPr>
                <a:t>2+</a:t>
              </a:r>
              <a:r>
                <a:rPr lang="es-AR" sz="1500" b="1" dirty="0">
                  <a:solidFill>
                    <a:srgbClr val="1E1E1E"/>
                  </a:solidFill>
                  <a:latin typeface="Bahnschrift"/>
                  <a:ea typeface="Bahnschrift"/>
                  <a:cs typeface="Bahnschrift"/>
                  <a:sym typeface="Bahnschrift"/>
                </a:rPr>
                <a:t> dependientes de voltaje</a:t>
              </a:r>
              <a:r>
                <a:rPr lang="es-AR" sz="1500" dirty="0">
                  <a:solidFill>
                    <a:srgbClr val="1E1E1E"/>
                  </a:solidFill>
                  <a:latin typeface="Bahnschrift"/>
                  <a:ea typeface="Bahnschrift"/>
                  <a:cs typeface="Bahnschrift"/>
                  <a:sym typeface="Bahnschrift"/>
                </a:rPr>
                <a:t> (tipo L y otros).</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Ca</a:t>
              </a:r>
              <a:r>
                <a:rPr lang="es-AR" sz="1500" baseline="30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a:t>
              </a:r>
              <a:r>
                <a:rPr lang="es-AR" sz="1500" b="1" dirty="0">
                  <a:solidFill>
                    <a:srgbClr val="1E1E1E"/>
                  </a:solidFill>
                  <a:latin typeface="Bahnschrift"/>
                  <a:ea typeface="Bahnschrift"/>
                  <a:cs typeface="Bahnschrift"/>
                  <a:sym typeface="Bahnschrift"/>
                </a:rPr>
                <a:t>entra desde el medio extracelular</a:t>
              </a:r>
              <a:r>
                <a:rPr lang="es-AR" sz="1500" dirty="0">
                  <a:solidFill>
                    <a:srgbClr val="1E1E1E"/>
                  </a:solidFill>
                  <a:latin typeface="Bahnschrift"/>
                  <a:ea typeface="Bahnschrift"/>
                  <a:cs typeface="Bahnschrift"/>
                  <a:sym typeface="Bahnschrift"/>
                </a:rPr>
                <a:t> a favor de su gradiente.</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 de Ca</a:t>
              </a:r>
              <a:r>
                <a:rPr lang="es-AR" sz="1500" baseline="30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citosólico es el </a:t>
              </a:r>
              <a:r>
                <a:rPr lang="es-AR" sz="1500" b="1" dirty="0">
                  <a:solidFill>
                    <a:srgbClr val="1E1E1E"/>
                  </a:solidFill>
                  <a:latin typeface="Bahnschrift"/>
                  <a:ea typeface="Bahnschrift"/>
                  <a:cs typeface="Bahnschrift"/>
                  <a:sym typeface="Bahnschrift"/>
                </a:rPr>
                <a:t>disparador</a:t>
              </a:r>
              <a:r>
                <a:rPr lang="es-AR" sz="1500" dirty="0">
                  <a:solidFill>
                    <a:srgbClr val="1E1E1E"/>
                  </a:solidFill>
                  <a:latin typeface="Bahnschrift"/>
                  <a:ea typeface="Bahnschrift"/>
                  <a:cs typeface="Bahnschrift"/>
                  <a:sym typeface="Bahnschrift"/>
                </a:rPr>
                <a:t> de la exocitosis.</a:t>
              </a:r>
              <a:endParaRPr lang="es-AR" sz="1500" dirty="0">
                <a:latin typeface="Bahnschrift"/>
              </a:endParaRPr>
            </a:p>
          </p:txBody>
        </p:sp>
      </p:grpSp>
      <p:grpSp>
        <p:nvGrpSpPr>
          <p:cNvPr id="86" name="!!Progreso"/>
          <p:cNvGrpSpPr/>
          <p:nvPr/>
        </p:nvGrpSpPr>
        <p:grpSpPr>
          <a:xfrm>
            <a:off x="8001000" y="5870448"/>
            <a:ext cx="3840480" cy="603504"/>
            <a:chOff x="8001000" y="5870448"/>
            <a:chExt cx="3840480" cy="603504"/>
          </a:xfrm>
        </p:grpSpPr>
        <p:sp>
          <p:nvSpPr>
            <p:cNvPr id="87" name="Forma 86"/>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8" name="Progreso 1"/>
            <p:cNvSpPr/>
            <p:nvPr/>
          </p:nvSpPr>
          <p:spPr>
            <a:xfrm>
              <a:off x="800100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9" name="Progreso 2"/>
            <p:cNvSpPr/>
            <p:nvPr/>
          </p:nvSpPr>
          <p:spPr>
            <a:xfrm>
              <a:off x="838504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90" name="Progreso 3"/>
            <p:cNvSpPr/>
            <p:nvPr/>
          </p:nvSpPr>
          <p:spPr>
            <a:xfrm>
              <a:off x="8769096"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91" name="Progreso 4"/>
            <p:cNvSpPr/>
            <p:nvPr/>
          </p:nvSpPr>
          <p:spPr>
            <a:xfrm>
              <a:off x="9153144"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92" name="Progreso 5"/>
            <p:cNvSpPr/>
            <p:nvPr/>
          </p:nvSpPr>
          <p:spPr>
            <a:xfrm>
              <a:off x="9537192"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93" name="Progreso 6"/>
            <p:cNvSpPr/>
            <p:nvPr/>
          </p:nvSpPr>
          <p:spPr>
            <a:xfrm>
              <a:off x="992124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94" name="Progreso 7"/>
            <p:cNvSpPr/>
            <p:nvPr/>
          </p:nvSpPr>
          <p:spPr>
            <a:xfrm>
              <a:off x="10305288"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5" name="Progreso 8"/>
            <p:cNvSpPr/>
            <p:nvPr/>
          </p:nvSpPr>
          <p:spPr>
            <a:xfrm>
              <a:off x="10689336"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6"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7"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98" name="Ca 0"/>
          <p:cNvSpPr/>
          <p:nvPr/>
        </p:nvSpPr>
        <p:spPr>
          <a:xfrm>
            <a:off x="4572000" y="1051560"/>
            <a:ext cx="329184" cy="329184"/>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99" name="Ca 1"/>
          <p:cNvSpPr/>
          <p:nvPr/>
        </p:nvSpPr>
        <p:spPr>
          <a:xfrm>
            <a:off x="4937760" y="1325880"/>
            <a:ext cx="329184" cy="329184"/>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100" name="Ca 2"/>
          <p:cNvSpPr/>
          <p:nvPr/>
        </p:nvSpPr>
        <p:spPr>
          <a:xfrm>
            <a:off x="5303520" y="1051560"/>
            <a:ext cx="329184" cy="329184"/>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101" name="Ca 3"/>
          <p:cNvSpPr/>
          <p:nvPr/>
        </p:nvSpPr>
        <p:spPr>
          <a:xfrm>
            <a:off x="5669280" y="1325880"/>
            <a:ext cx="329184" cy="329184"/>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728193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PASOS 7–8: APERTURA DE Ca</a:t>
            </a:r>
            <a:r>
              <a:rPr lang="es-AR" sz="2600" b="1" baseline="-25000" dirty="0">
                <a:solidFill>
                  <a:srgbClr val="1E1E1E"/>
                </a:solidFill>
                <a:latin typeface="Bahnschrift SemiBold Condensed"/>
                <a:ea typeface="Bahnschrift SemiBold Condensed"/>
                <a:cs typeface="Bahnschrift SemiBold Condensed"/>
                <a:sym typeface="Bahnschrift SemiBold Condensed"/>
              </a:rPr>
              <a:t>V</a:t>
            </a:r>
            <a:r>
              <a:rPr lang="es-AR" sz="2600" b="1" dirty="0">
                <a:solidFill>
                  <a:srgbClr val="1E1E1E"/>
                </a:solidFill>
                <a:latin typeface="Bahnschrift SemiBold Condensed"/>
                <a:ea typeface="Bahnschrift SemiBold Condensed"/>
                <a:cs typeface="Bahnschrift SemiBold Condensed"/>
                <a:sym typeface="Bahnschrift SemiBold Condensed"/>
              </a:rPr>
              <a:t> Y ENTRADA DE Ca</a:t>
            </a:r>
            <a:r>
              <a:rPr lang="es-AR" sz="2600" b="1" baseline="30000" dirty="0">
                <a:solidFill>
                  <a:srgbClr val="1E1E1E"/>
                </a:solidFill>
                <a:latin typeface="Bahnschrift SemiBold Condensed"/>
                <a:ea typeface="Bahnschrift SemiBold Condensed"/>
                <a:cs typeface="Bahnschrift SemiBold Condensed"/>
                <a:sym typeface="Bahnschrift SemiBold Condensed"/>
              </a:rPr>
              <a:t>2+</a:t>
            </a:r>
            <a:endParaRPr lang="es-AR" sz="2600" dirty="0">
              <a:latin typeface="Bahnschrift SemiBold Condensed"/>
            </a:endParaRPr>
          </a:p>
        </p:txBody>
      </p:sp>
      <p:sp>
        <p:nvSpPr>
          <p:cNvPr id="10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27</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xit" presetSubtype="0" fill="hold" grpId="0" nodeType="clickEffect">
                                  <p:stCondLst>
                                    <p:cond delay="0"/>
                                  </p:stCondLst>
                                  <p:childTnLst>
                                    <p:animEffect transition="out" filter="fade">
                                      <p:cBhvr>
                                        <p:cTn id="4" dur="400"/>
                                        <p:tgtEl>
                                          <p:spTgt spid="29"/>
                                        </p:tgtEl>
                                      </p:cBhvr>
                                    </p:animEffect>
                                    <p:set>
                                      <p:cBhvr>
                                        <p:cTn id="5" dur="1" fill="hold">
                                          <p:stCondLst>
                                            <p:cond delay="399"/>
                                          </p:stCondLst>
                                        </p:cTn>
                                        <p:tgtEl>
                                          <p:spTgt spid="29"/>
                                        </p:tgtEl>
                                        <p:attrNameLst>
                                          <p:attrName>style.visibility</p:attrName>
                                        </p:attrNameLst>
                                      </p:cBhvr>
                                      <p:to>
                                        <p:strVal val="hidden"/>
                                      </p:to>
                                    </p:set>
                                  </p:childTnLst>
                                </p:cTn>
                              </p:par>
                            </p:childTnLst>
                          </p:cTn>
                        </p:par>
                        <p:par>
                          <p:cTn id="10" fill="hold">
                            <p:stCondLst>
                              <p:cond delay="400"/>
                            </p:stCondLst>
                            <p:childTnLst>
                              <p:par>
                                <p:cTn id="7" presetID="10" presetClass="entr" presetSubtype="0" fill="hold" grpId="0" nodeType="afterEffect">
                                  <p:stCondLst>
                                    <p:cond delay="0"/>
                                  </p:stCondLst>
                                  <p:childTnLst>
                                    <p:set>
                                      <p:cBhvr>
                                        <p:cTn id="8" dur="1" fill="hold">
                                          <p:stCondLst>
                                            <p:cond delay="0"/>
                                          </p:stCondLst>
                                        </p:cTn>
                                        <p:tgtEl>
                                          <p:spTgt spid="76"/>
                                        </p:tgtEl>
                                        <p:attrNameLst>
                                          <p:attrName>style.visibility</p:attrName>
                                        </p:attrNameLst>
                                      </p:cBhvr>
                                      <p:to>
                                        <p:strVal val="visible"/>
                                      </p:to>
                                    </p:set>
                                    <p:animEffect transition="in" filter="fade">
                                      <p:cBhvr>
                                        <p:cTn id="9" dur="500"/>
                                        <p:tgtEl>
                                          <p:spTgt spid="76"/>
                                        </p:tgtEl>
                                      </p:cBhvr>
                                    </p:animEffect>
                                  </p:childTnLst>
                                </p:cTn>
                              </p:par>
                            </p:childTnLst>
                          </p:cTn>
                        </p:par>
                      </p:childTnLst>
                    </p:cTn>
                  </p:par>
                  <p:par>
                    <p:cTn id="28" fill="hold">
                      <p:stCondLst>
                        <p:cond delay="indefinite"/>
                      </p:stCondLst>
                      <p:childTnLst>
                        <p:par>
                          <p:cTn id="15"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98"/>
                                        </p:tgtEl>
                                        <p:attrNameLst>
                                          <p:attrName>style.visibility</p:attrName>
                                        </p:attrNameLst>
                                      </p:cBhvr>
                                      <p:to>
                                        <p:strVal val="visible"/>
                                      </p:to>
                                    </p:set>
                                    <p:animEffect transition="in" filter="fade">
                                      <p:cBhvr>
                                        <p:cTn id="14" dur="500"/>
                                        <p:tgtEl>
                                          <p:spTgt spid="98"/>
                                        </p:tgtEl>
                                      </p:cBhvr>
                                    </p:animEffect>
                                  </p:childTnLst>
                                </p:cTn>
                              </p:par>
                            </p:childTnLst>
                          </p:cTn>
                        </p:par>
                        <p:par>
                          <p:cTn id="19"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99"/>
                                        </p:tgtEl>
                                        <p:attrNameLst>
                                          <p:attrName>style.visibility</p:attrName>
                                        </p:attrNameLst>
                                      </p:cBhvr>
                                      <p:to>
                                        <p:strVal val="visible"/>
                                      </p:to>
                                    </p:set>
                                    <p:animEffect transition="in" filter="fade">
                                      <p:cBhvr>
                                        <p:cTn id="18" dur="500"/>
                                        <p:tgtEl>
                                          <p:spTgt spid="99"/>
                                        </p:tgtEl>
                                      </p:cBhvr>
                                    </p:animEffect>
                                  </p:childTnLst>
                                </p:cTn>
                              </p:par>
                            </p:childTnLst>
                          </p:cTn>
                        </p:par>
                        <p:par>
                          <p:cTn id="23"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100"/>
                                        </p:tgtEl>
                                        <p:attrNameLst>
                                          <p:attrName>style.visibility</p:attrName>
                                        </p:attrNameLst>
                                      </p:cBhvr>
                                      <p:to>
                                        <p:strVal val="visible"/>
                                      </p:to>
                                    </p:set>
                                    <p:animEffect transition="in" filter="fade">
                                      <p:cBhvr>
                                        <p:cTn id="22" dur="500"/>
                                        <p:tgtEl>
                                          <p:spTgt spid="100"/>
                                        </p:tgtEl>
                                      </p:cBhvr>
                                    </p:animEffect>
                                  </p:childTnLst>
                                </p:cTn>
                              </p:par>
                            </p:childTnLst>
                          </p:cTn>
                        </p:par>
                        <p:par>
                          <p:cTn id="27"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101"/>
                                        </p:tgtEl>
                                        <p:attrNameLst>
                                          <p:attrName>style.visibility</p:attrName>
                                        </p:attrNameLst>
                                      </p:cBhvr>
                                      <p:to>
                                        <p:strVal val="visible"/>
                                      </p:to>
                                    </p:set>
                                    <p:animEffect transition="in" filter="fade">
                                      <p:cBhvr>
                                        <p:cTn id="26" dur="500"/>
                                        <p:tgtEl>
                                          <p:spTgt spid="101"/>
                                        </p:tgtEl>
                                      </p:cBhvr>
                                    </p:animEffect>
                                  </p:childTnLst>
                                </p:cTn>
                              </p:par>
                            </p:childTnLst>
                          </p:cTn>
                        </p:par>
                      </p:childTnLst>
                    </p:cTn>
                  </p:par>
                  <p:par>
                    <p:cTn id="41" fill="hold">
                      <p:stCondLst>
                        <p:cond delay="indefinite"/>
                      </p:stCondLst>
                      <p:childTnLst>
                        <p:par>
                          <p:cTn id="31" fill="hold">
                            <p:stCondLst>
                              <p:cond delay="0"/>
                            </p:stCondLst>
                            <p:childTnLst>
                              <p:par>
                                <p:cTn id="29" presetID="0" presetClass="path" presetSubtype="0" accel="20000" decel="20000" fill="hold" grpId="0" nodeType="clickEffect">
                                  <p:stCondLst>
                                    <p:cond delay="0"/>
                                  </p:stCondLst>
                                  <p:childTnLst>
                                    <p:animMotion origin="layout" path="M 0 0 L 0.0465 -0.0467 L 0.0465 0.2867 E" pathEditMode="relative" ptsTypes="">
                                      <p:cBhvr>
                                        <p:cTn id="30" dur="1500" fill="hold"/>
                                        <p:tgtEl>
                                          <p:spTgt spid="98"/>
                                        </p:tgtEl>
                                        <p:attrNameLst>
                                          <p:attrName>ppt_x</p:attrName>
                                          <p:attrName>ppt_y</p:attrName>
                                        </p:attrNameLst>
                                      </p:cBhvr>
                                      <p:rCtr x="2325" y="14333"/>
                                    </p:animMotion>
                                  </p:childTnLst>
                                </p:cTn>
                              </p:par>
                            </p:childTnLst>
                          </p:cTn>
                        </p:par>
                        <p:par>
                          <p:cTn id="34" fill="hold">
                            <p:stCondLst>
                              <p:cond delay="250"/>
                            </p:stCondLst>
                            <p:childTnLst>
                              <p:par>
                                <p:cTn id="32" presetID="0" presetClass="path" presetSubtype="0" accel="20000" decel="20000" fill="hold" grpId="0" nodeType="afterEffect">
                                  <p:stCondLst>
                                    <p:cond delay="0"/>
                                  </p:stCondLst>
                                  <p:childTnLst>
                                    <p:animMotion origin="layout" path="M 0 0 L 0.0165 -0.0867 L 0.0165 0.2627 E" pathEditMode="relative" ptsTypes="">
                                      <p:cBhvr>
                                        <p:cTn id="33" dur="1500" fill="hold"/>
                                        <p:tgtEl>
                                          <p:spTgt spid="99"/>
                                        </p:tgtEl>
                                        <p:attrNameLst>
                                          <p:attrName>ppt_x</p:attrName>
                                          <p:attrName>ppt_y</p:attrName>
                                        </p:attrNameLst>
                                      </p:cBhvr>
                                      <p:rCtr x="825" y="13133"/>
                                    </p:animMotion>
                                  </p:childTnLst>
                                </p:cTn>
                              </p:par>
                            </p:childTnLst>
                          </p:cTn>
                        </p:par>
                        <p:par>
                          <p:cTn id="37" fill="hold">
                            <p:stCondLst>
                              <p:cond delay="750"/>
                            </p:stCondLst>
                            <p:childTnLst>
                              <p:par>
                                <p:cTn id="35" presetID="0" presetClass="path" presetSubtype="0" accel="20000" decel="20000" fill="hold" grpId="0" nodeType="afterEffect">
                                  <p:stCondLst>
                                    <p:cond delay="0"/>
                                  </p:stCondLst>
                                  <p:childTnLst>
                                    <p:animMotion origin="layout" path="M 0 0 L -0.0135 -0.0467 L -0.0135 0.3187 E" pathEditMode="relative" ptsTypes="">
                                      <p:cBhvr>
                                        <p:cTn id="36" dur="1500" fill="hold"/>
                                        <p:tgtEl>
                                          <p:spTgt spid="100"/>
                                        </p:tgtEl>
                                        <p:attrNameLst>
                                          <p:attrName>ppt_x</p:attrName>
                                          <p:attrName>ppt_y</p:attrName>
                                        </p:attrNameLst>
                                      </p:cBhvr>
                                      <p:rCtr x="-675" y="15933"/>
                                    </p:animMotion>
                                  </p:childTnLst>
                                </p:cTn>
                              </p:par>
                            </p:childTnLst>
                          </p:cTn>
                        </p:par>
                        <p:par>
                          <p:cTn id="40" fill="hold">
                            <p:stCondLst>
                              <p:cond delay="1500"/>
                            </p:stCondLst>
                            <p:childTnLst>
                              <p:par>
                                <p:cTn id="38" presetID="0" presetClass="path" presetSubtype="0" accel="20000" decel="20000" fill="hold" grpId="0" nodeType="afterEffect">
                                  <p:stCondLst>
                                    <p:cond delay="0"/>
                                  </p:stCondLst>
                                  <p:childTnLst>
                                    <p:animMotion origin="layout" path="M 0 0 L -0.0435 -0.0867 L -0.0435 0.2947 E" pathEditMode="relative" ptsTypes="">
                                      <p:cBhvr>
                                        <p:cTn id="39" dur="1500" fill="hold"/>
                                        <p:tgtEl>
                                          <p:spTgt spid="101"/>
                                        </p:tgtEl>
                                        <p:attrNameLst>
                                          <p:attrName>ppt_x</p:attrName>
                                          <p:attrName>ppt_y</p:attrName>
                                        </p:attrNameLst>
                                      </p:cBhvr>
                                      <p:rCtr x="-2175" y="1473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99" grpId="0" animBg="1"/>
      <p:bldP spid="100" grpId="0" animBg="1"/>
      <p:bldP spid="101" grpId="0" animBg="1"/>
    </p:bldLst>
  </p:timing>
</p:sld>
</file>

<file path=ppt/slides/slide2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cerrado"/>
          <p:cNvGrpSpPr/>
          <p:nvPr/>
        </p:nvGrpSpPr>
        <p:grpSpPr>
          <a:xfrm>
            <a:off x="2331720" y="1819656"/>
            <a:ext cx="1640434" cy="914400"/>
            <a:chOff x="2331720" y="1819656"/>
            <a:chExt cx="1640434"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156509"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32293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cerrado</a:t>
              </a:r>
              <a:endParaRPr lang="es-AR" sz="1150" dirty="0">
                <a:latin typeface="Bahnschrift SemiBold Condensed"/>
              </a:endParaRPr>
            </a:p>
          </p:txBody>
        </p:sp>
      </p:grpSp>
      <p:grpSp>
        <p:nvGrpSpPr>
          <p:cNvPr id="29" name="!!CaV abierto"/>
          <p:cNvGrpSpPr/>
          <p:nvPr/>
        </p:nvGrpSpPr>
        <p:grpSpPr>
          <a:xfrm>
            <a:off x="4434840" y="1819656"/>
            <a:ext cx="1733702" cy="914400"/>
            <a:chOff x="4434840" y="1819656"/>
            <a:chExt cx="1733702"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352898"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519318"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abierto</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anel"/>
          <p:cNvGrpSpPr/>
          <p:nvPr/>
        </p:nvGrpSpPr>
        <p:grpSpPr>
          <a:xfrm>
            <a:off x="8001000" y="1051560"/>
            <a:ext cx="3840480" cy="4526280"/>
            <a:chOff x="8001000" y="1051560"/>
            <a:chExt cx="3840480" cy="4526280"/>
          </a:xfrm>
        </p:grpSpPr>
        <p:sp>
          <p:nvSpPr>
            <p:cNvPr id="77" name="Forma 76"/>
            <p:cNvSpPr/>
            <p:nvPr/>
          </p:nvSpPr>
          <p:spPr>
            <a:xfrm>
              <a:off x="8001000" y="1051560"/>
              <a:ext cx="3840480" cy="4526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8" name="Paso 9–10"/>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9–10</a:t>
              </a:r>
              <a:endParaRPr lang="es-AR" sz="1500" dirty="0">
                <a:latin typeface="Bahnschrift SemiBold Condensed"/>
              </a:endParaRPr>
            </a:p>
          </p:txBody>
        </p:sp>
        <p:sp>
          <p:nvSpPr>
            <p:cNvPr id="79" name="Forma 78"/>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Exocitosis de gránulos</a:t>
              </a:r>
              <a:endParaRPr lang="es-AR" sz="1700" dirty="0">
                <a:latin typeface="Bahnschrift SemiBold Condensed"/>
              </a:endParaRPr>
            </a:p>
          </p:txBody>
        </p:sp>
        <p:sp>
          <p:nvSpPr>
            <p:cNvPr id="80" name="Forma 79"/>
            <p:cNvSpPr txBox="1"/>
            <p:nvPr/>
          </p:nvSpPr>
          <p:spPr>
            <a:xfrm>
              <a:off x="8183880" y="1783080"/>
              <a:ext cx="3520440" cy="365760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El Ca</a:t>
              </a:r>
              <a:r>
                <a:rPr lang="es-AR" sz="1500" baseline="30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desencadena la </a:t>
              </a:r>
              <a:r>
                <a:rPr lang="es-AR" sz="1500" b="1" dirty="0">
                  <a:solidFill>
                    <a:srgbClr val="1E1E1E"/>
                  </a:solidFill>
                  <a:latin typeface="Bahnschrift"/>
                  <a:ea typeface="Bahnschrift"/>
                  <a:cs typeface="Bahnschrift"/>
                  <a:sym typeface="Bahnschrift"/>
                </a:rPr>
                <a:t>fusión</a:t>
              </a:r>
              <a:r>
                <a:rPr lang="es-AR" sz="1500" dirty="0">
                  <a:solidFill>
                    <a:srgbClr val="1E1E1E"/>
                  </a:solidFill>
                  <a:latin typeface="Bahnschrift"/>
                  <a:ea typeface="Bahnschrift"/>
                  <a:cs typeface="Bahnschrift"/>
                  <a:sym typeface="Bahnschrift"/>
                </a:rPr>
                <a:t> de gránulos con la membrana.</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1.ª fase</a:t>
              </a:r>
              <a:r>
                <a:rPr lang="es-AR" sz="1500" dirty="0">
                  <a:solidFill>
                    <a:srgbClr val="1E1E1E"/>
                  </a:solidFill>
                  <a:latin typeface="Bahnschrift"/>
                  <a:ea typeface="Bahnschrift"/>
                  <a:cs typeface="Bahnschrift"/>
                  <a:sym typeface="Bahnschrift"/>
                </a:rPr>
                <a:t>: gránulos ya </a:t>
              </a:r>
              <a:r>
                <a:rPr lang="es-AR" sz="1500" b="1" dirty="0">
                  <a:solidFill>
                    <a:srgbClr val="1E1E1E"/>
                  </a:solidFill>
                  <a:latin typeface="Bahnschrift"/>
                  <a:ea typeface="Bahnschrift"/>
                  <a:cs typeface="Bahnschrift"/>
                  <a:sym typeface="Bahnschrift"/>
                </a:rPr>
                <a:t>preparados</a:t>
              </a:r>
              <a:r>
                <a:rPr lang="es-AR" sz="1500" dirty="0">
                  <a:solidFill>
                    <a:srgbClr val="1E1E1E"/>
                  </a:solidFill>
                  <a:latin typeface="Bahnschrift"/>
                  <a:ea typeface="Bahnschrift"/>
                  <a:cs typeface="Bahnschrift"/>
                  <a:sym typeface="Bahnschrift"/>
                </a:rPr>
                <a:t> (pool inmediato).</a:t>
              </a:r>
              <a:endParaRPr lang="es-AR" sz="1500" dirty="0">
                <a:latin typeface="Bahnschrift"/>
              </a:endParaRPr>
            </a:p>
            <a:p>
              <a:pPr algn="l" marL="142875" indent="-142875">
                <a:spcAft>
                  <a:spcPts val="500"/>
                </a:spcAft>
                <a:buClr>
                  <a:srgbClr val="1E1E1E"/>
                </a:buClr>
                <a:buFont typeface="Arial"/>
                <a:buChar char="•"/>
              </a:pPr>
              <a:r>
                <a:rPr lang="es-AR" sz="1500" b="1" dirty="0">
                  <a:solidFill>
                    <a:srgbClr val="1E1E1E"/>
                  </a:solidFill>
                  <a:latin typeface="Bahnschrift"/>
                  <a:ea typeface="Bahnschrift"/>
                  <a:cs typeface="Bahnschrift"/>
                  <a:sym typeface="Bahnschrift"/>
                </a:rPr>
                <a:t>2.ª fase</a:t>
              </a:r>
              <a:r>
                <a:rPr lang="es-AR" sz="1500" dirty="0">
                  <a:solidFill>
                    <a:srgbClr val="1E1E1E"/>
                  </a:solidFill>
                  <a:latin typeface="Bahnschrift"/>
                  <a:ea typeface="Bahnschrift"/>
                  <a:cs typeface="Bahnschrift"/>
                  <a:sym typeface="Bahnschrift"/>
                </a:rPr>
                <a:t>: </a:t>
              </a:r>
              <a:r>
                <a:rPr lang="es-AR" sz="1500" b="1" dirty="0">
                  <a:solidFill>
                    <a:srgbClr val="1E1E1E"/>
                  </a:solidFill>
                  <a:latin typeface="Bahnschrift"/>
                  <a:ea typeface="Bahnschrift"/>
                  <a:cs typeface="Bahnschrift"/>
                  <a:sym typeface="Bahnschrift"/>
                </a:rPr>
                <a:t>reclutamiento</a:t>
              </a:r>
              <a:r>
                <a:rPr lang="es-AR" sz="1500" dirty="0">
                  <a:solidFill>
                    <a:srgbClr val="1E1E1E"/>
                  </a:solidFill>
                  <a:latin typeface="Bahnschrift"/>
                  <a:ea typeface="Bahnschrift"/>
                  <a:cs typeface="Bahnschrift"/>
                  <a:sym typeface="Bahnschrift"/>
                </a:rPr>
                <a:t> de gránulos y síntesis sostenida.</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La insulina sale a la sangre portal.</a:t>
              </a:r>
              <a:endParaRPr lang="es-AR" sz="1500" dirty="0">
                <a:latin typeface="Bahnschrift"/>
              </a:endParaRPr>
            </a:p>
          </p:txBody>
        </p:sp>
      </p:grpSp>
      <p:grpSp>
        <p:nvGrpSpPr>
          <p:cNvPr id="81" name="!!Progreso"/>
          <p:cNvGrpSpPr/>
          <p:nvPr/>
        </p:nvGrpSpPr>
        <p:grpSpPr>
          <a:xfrm>
            <a:off x="8001000" y="5870448"/>
            <a:ext cx="3840480" cy="603504"/>
            <a:chOff x="8001000" y="5870448"/>
            <a:chExt cx="3840480" cy="603504"/>
          </a:xfrm>
        </p:grpSpPr>
        <p:sp>
          <p:nvSpPr>
            <p:cNvPr id="82" name="Forma 81"/>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83" name="Progreso 1"/>
            <p:cNvSpPr/>
            <p:nvPr/>
          </p:nvSpPr>
          <p:spPr>
            <a:xfrm>
              <a:off x="800100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84" name="Progreso 2"/>
            <p:cNvSpPr/>
            <p:nvPr/>
          </p:nvSpPr>
          <p:spPr>
            <a:xfrm>
              <a:off x="838504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5" name="Progreso 3"/>
            <p:cNvSpPr/>
            <p:nvPr/>
          </p:nvSpPr>
          <p:spPr>
            <a:xfrm>
              <a:off x="8769096"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6" name="Progreso 4"/>
            <p:cNvSpPr/>
            <p:nvPr/>
          </p:nvSpPr>
          <p:spPr>
            <a:xfrm>
              <a:off x="9153144"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7" name="Progreso 5"/>
            <p:cNvSpPr/>
            <p:nvPr/>
          </p:nvSpPr>
          <p:spPr>
            <a:xfrm>
              <a:off x="9537192"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8" name="Progreso 6"/>
            <p:cNvSpPr/>
            <p:nvPr/>
          </p:nvSpPr>
          <p:spPr>
            <a:xfrm>
              <a:off x="9921240"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9" name="Progreso 7"/>
            <p:cNvSpPr/>
            <p:nvPr/>
          </p:nvSpPr>
          <p:spPr>
            <a:xfrm>
              <a:off x="10305288"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90" name="Progreso 8"/>
            <p:cNvSpPr/>
            <p:nvPr/>
          </p:nvSpPr>
          <p:spPr>
            <a:xfrm>
              <a:off x="10689336" y="6144768"/>
              <a:ext cx="329184" cy="329184"/>
            </a:xfrm>
            <a:prstGeom prst="ellipse">
              <a:avLst/>
            </a:prstGeom>
            <a:solidFill>
              <a:srgbClr val="F8C471"/>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91" name="Progreso 9"/>
            <p:cNvSpPr/>
            <p:nvPr/>
          </p:nvSpPr>
          <p:spPr>
            <a:xfrm>
              <a:off x="11073384"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92" name="Progreso 10"/>
            <p:cNvSpPr/>
            <p:nvPr/>
          </p:nvSpPr>
          <p:spPr>
            <a:xfrm>
              <a:off x="11457432" y="6144768"/>
              <a:ext cx="329184" cy="329184"/>
            </a:xfrm>
            <a:prstGeom prst="ellipse">
              <a:avLst/>
            </a:prstGeom>
            <a:solidFill>
              <a:srgbClr val="FFC000"/>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sp>
        <p:nvSpPr>
          <p:cNvPr id="93" name="Ca int 0"/>
          <p:cNvSpPr/>
          <p:nvPr/>
        </p:nvSpPr>
        <p:spPr>
          <a:xfrm>
            <a:off x="5074920" y="2743200"/>
            <a:ext cx="292608" cy="292608"/>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94" name="Ca int 1"/>
          <p:cNvSpPr/>
          <p:nvPr/>
        </p:nvSpPr>
        <p:spPr>
          <a:xfrm>
            <a:off x="5394960" y="2971800"/>
            <a:ext cx="292608" cy="292608"/>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95" name="Ca int 2"/>
          <p:cNvSpPr/>
          <p:nvPr/>
        </p:nvSpPr>
        <p:spPr>
          <a:xfrm>
            <a:off x="5715000" y="2743200"/>
            <a:ext cx="292608" cy="292608"/>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Ca</a:t>
            </a:r>
            <a:r>
              <a:rPr lang="es-AR" sz="850" b="1" baseline="30000" dirty="0">
                <a:solidFill>
                  <a:srgbClr val="FFFFFF"/>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96" name="Insulina 0"/>
          <p:cNvSpPr/>
          <p:nvPr/>
        </p:nvSpPr>
        <p:spPr>
          <a:xfrm>
            <a:off x="6126480" y="169164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97" name="Insulina 1"/>
          <p:cNvSpPr/>
          <p:nvPr/>
        </p:nvSpPr>
        <p:spPr>
          <a:xfrm>
            <a:off x="6537960" y="169164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98" name="Insulina 2"/>
          <p:cNvSpPr/>
          <p:nvPr/>
        </p:nvSpPr>
        <p:spPr>
          <a:xfrm>
            <a:off x="6949440" y="169164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740140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PASOS 9–10: EXOCITOSIS Y LIBERACIÓN DE INSULINA</a:t>
            </a:r>
            <a:endParaRPr lang="es-AR" sz="2600" dirty="0">
              <a:latin typeface="Bahnschrift SemiBold Condensed"/>
            </a:endParaRPr>
          </a:p>
        </p:txBody>
      </p:sp>
      <p:sp>
        <p:nvSpPr>
          <p:cNvPr id="9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28</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2" fill="hold">
                      <p:stCondLst>
                        <p:cond delay="indefinite"/>
                      </p:stCondLst>
                      <p:childTnLst>
                        <p:par>
                          <p:cTn id="5" fill="hold">
                            <p:stCondLst>
                              <p:cond delay="0"/>
                            </p:stCondLst>
                            <p:childTnLst>
                              <p:par>
                                <p:cTn id="3" presetID="6" presetClass="emph" presetSubtype="0" fill="hold" grpId="0" nodeType="clickEffect">
                                  <p:stCondLst>
                                    <p:cond delay="0"/>
                                  </p:stCondLst>
                                  <p:childTnLst>
                                    <p:animScale>
                                      <p:cBhvr>
                                        <p:cTn id="4" dur="200" autoRev="1" fill="hold"/>
                                        <p:tgtEl>
                                          <p:spTgt spid="93"/>
                                        </p:tgtEl>
                                      </p:cBhvr>
                                      <p:by x="112000" y="112000"/>
                                    </p:animScale>
                                  </p:childTnLst>
                                </p:cTn>
                              </p:par>
                            </p:childTnLst>
                          </p:cTn>
                        </p:par>
                        <p:par>
                          <p:cTn id="8" fill="hold">
                            <p:stCondLst>
                              <p:cond delay="200"/>
                            </p:stCondLst>
                            <p:childTnLst>
                              <p:par>
                                <p:cTn id="6" presetID="6" presetClass="emph" presetSubtype="0" fill="hold" grpId="0" nodeType="afterEffect">
                                  <p:stCondLst>
                                    <p:cond delay="0"/>
                                  </p:stCondLst>
                                  <p:childTnLst>
                                    <p:animScale>
                                      <p:cBhvr>
                                        <p:cTn id="7" dur="200" autoRev="1" fill="hold"/>
                                        <p:tgtEl>
                                          <p:spTgt spid="94"/>
                                        </p:tgtEl>
                                      </p:cBhvr>
                                      <p:by x="112000" y="112000"/>
                                    </p:animScale>
                                  </p:childTnLst>
                                </p:cTn>
                              </p:par>
                            </p:childTnLst>
                          </p:cTn>
                        </p:par>
                        <p:par>
                          <p:cTn id="11" fill="hold">
                            <p:stCondLst>
                              <p:cond delay="400"/>
                            </p:stCondLst>
                            <p:childTnLst>
                              <p:par>
                                <p:cTn id="9" presetID="6" presetClass="emph" presetSubtype="0" fill="hold" grpId="0" nodeType="afterEffect">
                                  <p:stCondLst>
                                    <p:cond delay="0"/>
                                  </p:stCondLst>
                                  <p:childTnLst>
                                    <p:animScale>
                                      <p:cBhvr>
                                        <p:cTn id="10" dur="200" autoRev="1" fill="hold"/>
                                        <p:tgtEl>
                                          <p:spTgt spid="95"/>
                                        </p:tgtEl>
                                      </p:cBhvr>
                                      <p:by x="112000" y="112000"/>
                                    </p:animScale>
                                  </p:childTnLst>
                                </p:cTn>
                              </p:par>
                            </p:childTnLst>
                          </p:cTn>
                        </p:par>
                      </p:childTnLst>
                    </p:cTn>
                  </p:par>
                  <p:par>
                    <p:cTn id="19" fill="hold">
                      <p:stCondLst>
                        <p:cond delay="indefinite"/>
                      </p:stCondLst>
                      <p:childTnLst>
                        <p:par>
                          <p:cTn id="15" fill="hold">
                            <p:stCondLst>
                              <p:cond delay="0"/>
                            </p:stCondLst>
                            <p:childTnLst>
                              <p:par>
                                <p:cTn id="13" presetID="0" presetClass="path" presetSubtype="0" accel="20000" decel="20000" fill="hold" grpId="0" nodeType="clickEffect">
                                  <p:stCondLst>
                                    <p:cond delay="0"/>
                                  </p:stCondLst>
                                  <p:childTnLst>
                                    <p:animMotion origin="layout" path="M 0 0 L 0.0638 -0.1200 E" pathEditMode="relative" ptsTypes="">
                                      <p:cBhvr>
                                        <p:cTn id="14" dur="1300" fill="hold"/>
                                        <p:tgtEl>
                                          <p:spTgt spid="42"/>
                                        </p:tgtEl>
                                        <p:attrNameLst>
                                          <p:attrName>ppt_x</p:attrName>
                                          <p:attrName>ppt_y</p:attrName>
                                        </p:attrNameLst>
                                      </p:cBhvr>
                                      <p:rCtr x="3187" y="-6000"/>
                                    </p:animMotion>
                                  </p:childTnLst>
                                </p:cTn>
                              </p:par>
                            </p:childTnLst>
                          </p:cTn>
                        </p:par>
                        <p:par>
                          <p:cTn id="18" fill="hold">
                            <p:stCondLst>
                              <p:cond delay="200"/>
                            </p:stCondLst>
                            <p:childTnLst>
                              <p:par>
                                <p:cTn id="16" presetID="0" presetClass="path" presetSubtype="0" accel="20000" decel="20000" fill="hold" grpId="0" nodeType="afterEffect">
                                  <p:stCondLst>
                                    <p:cond delay="0"/>
                                  </p:stCondLst>
                                  <p:childTnLst>
                                    <p:animMotion origin="layout" path="M 0 0 L 0.0225 -0.1400 E" pathEditMode="relative" ptsTypes="">
                                      <p:cBhvr>
                                        <p:cTn id="17" dur="1400" fill="hold"/>
                                        <p:tgtEl>
                                          <p:spTgt spid="45"/>
                                        </p:tgtEl>
                                        <p:attrNameLst>
                                          <p:attrName>ppt_x</p:attrName>
                                          <p:attrName>ppt_y</p:attrName>
                                        </p:attrNameLst>
                                      </p:cBhvr>
                                      <p:rCtr x="1125" y="-7000"/>
                                    </p:animMotion>
                                  </p:childTnLst>
                                </p:cTn>
                              </p:par>
                            </p:childTnLst>
                          </p:cTn>
                        </p:par>
                      </p:childTnLst>
                    </p:cTn>
                  </p:par>
                  <p:par>
                    <p:cTn id="43" fill="hold">
                      <p:stCondLst>
                        <p:cond delay="indefinite"/>
                      </p:stCondLst>
                      <p:childTnLst>
                        <p:par>
                          <p:cTn id="26" fill="hold">
                            <p:stCondLst>
                              <p:cond delay="0"/>
                            </p:stCondLst>
                            <p:childTnLst>
                              <p:par>
                                <p:cTn id="20" presetID="10" presetClass="exit" presetSubtype="0" fill="hold" grpId="0" nodeType="clickEffect">
                                  <p:stCondLst>
                                    <p:cond delay="0"/>
                                  </p:stCondLst>
                                  <p:childTnLst>
                                    <p:animEffect transition="out" filter="fade">
                                      <p:cBhvr>
                                        <p:cTn id="21" dur="400"/>
                                        <p:tgtEl>
                                          <p:spTgt spid="42"/>
                                        </p:tgtEl>
                                      </p:cBhvr>
                                    </p:animEffect>
                                    <p:set>
                                      <p:cBhvr>
                                        <p:cTn id="22" dur="1" fill="hold">
                                          <p:stCondLst>
                                            <p:cond delay="399"/>
                                          </p:stCondLst>
                                        </p:cTn>
                                        <p:tgtEl>
                                          <p:spTgt spid="42"/>
                                        </p:tgtEl>
                                        <p:attrNameLst>
                                          <p:attrName>style.visibility</p:attrName>
                                        </p:attrNameLst>
                                      </p:cBhvr>
                                      <p:to>
                                        <p:strVal val="hidden"/>
                                      </p:to>
                                    </p:set>
                                  </p:childTnLst>
                                </p:cTn>
                              </p:par>
                              <p:par>
                                <p:cTn id="23" presetID="10" presetClass="exit" presetSubtype="0" fill="hold" grpId="0" nodeType="withEffect">
                                  <p:stCondLst>
                                    <p:cond delay="0"/>
                                  </p:stCondLst>
                                  <p:childTnLst>
                                    <p:animEffect transition="out" filter="fade">
                                      <p:cBhvr>
                                        <p:cTn id="24" dur="400"/>
                                        <p:tgtEl>
                                          <p:spTgt spid="45"/>
                                        </p:tgtEl>
                                      </p:cBhvr>
                                    </p:animEffect>
                                    <p:set>
                                      <p:cBhvr>
                                        <p:cTn id="25" dur="1" fill="hold">
                                          <p:stCondLst>
                                            <p:cond delay="399"/>
                                          </p:stCondLst>
                                        </p:cTn>
                                        <p:tgtEl>
                                          <p:spTgt spid="45"/>
                                        </p:tgtEl>
                                        <p:attrNameLst>
                                          <p:attrName>style.visibility</p:attrName>
                                        </p:attrNameLst>
                                      </p:cBhvr>
                                      <p:to>
                                        <p:strVal val="hidden"/>
                                      </p:to>
                                    </p:set>
                                  </p:childTnLst>
                                </p:cTn>
                              </p:par>
                            </p:childTnLst>
                          </p:cTn>
                        </p:par>
                        <p:par>
                          <p:cTn id="42" fill="hold">
                            <p:stCondLst>
                              <p:cond delay="400"/>
                            </p:stCondLst>
                            <p:childTnLst>
                              <p:par>
                                <p:cTn id="27" presetID="53" presetClass="entr" presetSubtype="16" fill="hold" grpId="0" nodeType="afterEffect">
                                  <p:stCondLst>
                                    <p:cond delay="0"/>
                                  </p:stCondLst>
                                  <p:childTnLst>
                                    <p:set>
                                      <p:cBhvr>
                                        <p:cTn id="28" dur="1" fill="hold">
                                          <p:stCondLst>
                                            <p:cond delay="0"/>
                                          </p:stCondLst>
                                        </p:cTn>
                                        <p:tgtEl>
                                          <p:spTgt spid="96"/>
                                        </p:tgtEl>
                                        <p:attrNameLst>
                                          <p:attrName>style.visibility</p:attrName>
                                        </p:attrNameLst>
                                      </p:cBhvr>
                                      <p:to>
                                        <p:strVal val="visible"/>
                                      </p:to>
                                    </p:set>
                                    <p:anim calcmode="lin" valueType="num">
                                      <p:cBhvr>
                                        <p:cTn id="29" dur="500" fill="hold"/>
                                        <p:tgtEl>
                                          <p:spTgt spid="96"/>
                                        </p:tgtEl>
                                        <p:attrNameLst>
                                          <p:attrName>ppt_w</p:attrName>
                                        </p:attrNameLst>
                                      </p:cBhvr>
                                      <p:tavLst>
                                        <p:tav tm="0">
                                          <p:val>
                                            <p:fltVal val="0"/>
                                          </p:val>
                                        </p:tav>
                                        <p:tav tm="100000">
                                          <p:val>
                                            <p:strVal val="#ppt_w"/>
                                          </p:val>
                                        </p:tav>
                                      </p:tavLst>
                                    </p:anim>
                                    <p:anim calcmode="lin" valueType="num">
                                      <p:cBhvr>
                                        <p:cTn id="30" dur="500" fill="hold"/>
                                        <p:tgtEl>
                                          <p:spTgt spid="96"/>
                                        </p:tgtEl>
                                        <p:attrNameLst>
                                          <p:attrName>ppt_h</p:attrName>
                                        </p:attrNameLst>
                                      </p:cBhvr>
                                      <p:tavLst>
                                        <p:tav tm="0">
                                          <p:val>
                                            <p:fltVal val="0"/>
                                          </p:val>
                                        </p:tav>
                                        <p:tav tm="100000">
                                          <p:val>
                                            <p:strVal val="#ppt_h"/>
                                          </p:val>
                                        </p:tav>
                                      </p:tavLst>
                                    </p:anim>
                                    <p:animEffect transition="in" filter="fade">
                                      <p:cBhvr>
                                        <p:cTn id="31" dur="500"/>
                                        <p:tgtEl>
                                          <p:spTgt spid="9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97"/>
                                        </p:tgtEl>
                                        <p:attrNameLst>
                                          <p:attrName>style.visibility</p:attrName>
                                        </p:attrNameLst>
                                      </p:cBhvr>
                                      <p:to>
                                        <p:strVal val="visible"/>
                                      </p:to>
                                    </p:set>
                                    <p:anim calcmode="lin" valueType="num">
                                      <p:cBhvr>
                                        <p:cTn id="34" dur="500" fill="hold"/>
                                        <p:tgtEl>
                                          <p:spTgt spid="97"/>
                                        </p:tgtEl>
                                        <p:attrNameLst>
                                          <p:attrName>ppt_w</p:attrName>
                                        </p:attrNameLst>
                                      </p:cBhvr>
                                      <p:tavLst>
                                        <p:tav tm="0">
                                          <p:val>
                                            <p:fltVal val="0"/>
                                          </p:val>
                                        </p:tav>
                                        <p:tav tm="100000">
                                          <p:val>
                                            <p:strVal val="#ppt_w"/>
                                          </p:val>
                                        </p:tav>
                                      </p:tavLst>
                                    </p:anim>
                                    <p:anim calcmode="lin" valueType="num">
                                      <p:cBhvr>
                                        <p:cTn id="35" dur="500" fill="hold"/>
                                        <p:tgtEl>
                                          <p:spTgt spid="97"/>
                                        </p:tgtEl>
                                        <p:attrNameLst>
                                          <p:attrName>ppt_h</p:attrName>
                                        </p:attrNameLst>
                                      </p:cBhvr>
                                      <p:tavLst>
                                        <p:tav tm="0">
                                          <p:val>
                                            <p:fltVal val="0"/>
                                          </p:val>
                                        </p:tav>
                                        <p:tav tm="100000">
                                          <p:val>
                                            <p:strVal val="#ppt_h"/>
                                          </p:val>
                                        </p:tav>
                                      </p:tavLst>
                                    </p:anim>
                                    <p:animEffect transition="in" filter="fade">
                                      <p:cBhvr>
                                        <p:cTn id="36" dur="500"/>
                                        <p:tgtEl>
                                          <p:spTgt spid="97"/>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98"/>
                                        </p:tgtEl>
                                        <p:attrNameLst>
                                          <p:attrName>style.visibility</p:attrName>
                                        </p:attrNameLst>
                                      </p:cBhvr>
                                      <p:to>
                                        <p:strVal val="visible"/>
                                      </p:to>
                                    </p:set>
                                    <p:anim calcmode="lin" valueType="num">
                                      <p:cBhvr>
                                        <p:cTn id="39" dur="500" fill="hold"/>
                                        <p:tgtEl>
                                          <p:spTgt spid="98"/>
                                        </p:tgtEl>
                                        <p:attrNameLst>
                                          <p:attrName>ppt_w</p:attrName>
                                        </p:attrNameLst>
                                      </p:cBhvr>
                                      <p:tavLst>
                                        <p:tav tm="0">
                                          <p:val>
                                            <p:fltVal val="0"/>
                                          </p:val>
                                        </p:tav>
                                        <p:tav tm="100000">
                                          <p:val>
                                            <p:strVal val="#ppt_w"/>
                                          </p:val>
                                        </p:tav>
                                      </p:tavLst>
                                    </p:anim>
                                    <p:anim calcmode="lin" valueType="num">
                                      <p:cBhvr>
                                        <p:cTn id="40" dur="500" fill="hold"/>
                                        <p:tgtEl>
                                          <p:spTgt spid="98"/>
                                        </p:tgtEl>
                                        <p:attrNameLst>
                                          <p:attrName>ppt_h</p:attrName>
                                        </p:attrNameLst>
                                      </p:cBhvr>
                                      <p:tavLst>
                                        <p:tav tm="0">
                                          <p:val>
                                            <p:fltVal val="0"/>
                                          </p:val>
                                        </p:tav>
                                        <p:tav tm="100000">
                                          <p:val>
                                            <p:strVal val="#ppt_h"/>
                                          </p:val>
                                        </p:tav>
                                      </p:tavLst>
                                    </p:anim>
                                    <p:animEffect transition="in" filter="fade">
                                      <p:cBhvr>
                                        <p:cTn id="41" dur="500"/>
                                        <p:tgtEl>
                                          <p:spTgt spid="98"/>
                                        </p:tgtEl>
                                      </p:cBhvr>
                                    </p:animEffect>
                                  </p:childTnLst>
                                </p:cTn>
                              </p:par>
                            </p:childTnLst>
                          </p:cTn>
                        </p:par>
                      </p:childTnLst>
                    </p:cTn>
                  </p:par>
                  <p:par>
                    <p:cTn id="53" fill="hold">
                      <p:stCondLst>
                        <p:cond delay="indefinite"/>
                      </p:stCondLst>
                      <p:childTnLst>
                        <p:par>
                          <p:cTn id="46" fill="hold">
                            <p:stCondLst>
                              <p:cond delay="0"/>
                            </p:stCondLst>
                            <p:childTnLst>
                              <p:par>
                                <p:cTn id="44" presetID="0" presetClass="path" presetSubtype="0" accel="20000" decel="20000" fill="hold" grpId="0" nodeType="clickEffect">
                                  <p:stCondLst>
                                    <p:cond delay="0"/>
                                  </p:stCondLst>
                                  <p:childTnLst>
                                    <p:animMotion origin="layout" path="M 0 0 L -0.0150 -0.1067 E" pathEditMode="relative" ptsTypes="">
                                      <p:cBhvr>
                                        <p:cTn id="45" dur="1300" fill="hold"/>
                                        <p:tgtEl>
                                          <p:spTgt spid="96"/>
                                        </p:tgtEl>
                                        <p:attrNameLst>
                                          <p:attrName>ppt_x</p:attrName>
                                          <p:attrName>ppt_y</p:attrName>
                                        </p:attrNameLst>
                                      </p:cBhvr>
                                      <p:rCtr x="-750" y="-5333"/>
                                    </p:animMotion>
                                  </p:childTnLst>
                                </p:cTn>
                              </p:par>
                            </p:childTnLst>
                          </p:cTn>
                        </p:par>
                        <p:par>
                          <p:cTn id="49" fill="hold">
                            <p:stCondLst>
                              <p:cond delay="200"/>
                            </p:stCondLst>
                            <p:childTnLst>
                              <p:par>
                                <p:cTn id="47" presetID="0" presetClass="path" presetSubtype="0" accel="20000" decel="20000" fill="hold" grpId="0" nodeType="afterEffect">
                                  <p:stCondLst>
                                    <p:cond delay="0"/>
                                  </p:stCondLst>
                                  <p:childTnLst>
                                    <p:animMotion origin="layout" path="M 0 0 L 0.0000 -0.1067 E" pathEditMode="relative" ptsTypes="">
                                      <p:cBhvr>
                                        <p:cTn id="48" dur="1300" fill="hold"/>
                                        <p:tgtEl>
                                          <p:spTgt spid="97"/>
                                        </p:tgtEl>
                                        <p:attrNameLst>
                                          <p:attrName>ppt_x</p:attrName>
                                          <p:attrName>ppt_y</p:attrName>
                                        </p:attrNameLst>
                                      </p:cBhvr>
                                      <p:rCtr x="0" y="-5333"/>
                                    </p:animMotion>
                                  </p:childTnLst>
                                </p:cTn>
                              </p:par>
                            </p:childTnLst>
                          </p:cTn>
                        </p:par>
                        <p:par>
                          <p:cTn id="52" fill="hold">
                            <p:stCondLst>
                              <p:cond delay="600"/>
                            </p:stCondLst>
                            <p:childTnLst>
                              <p:par>
                                <p:cTn id="50" presetID="0" presetClass="path" presetSubtype="0" accel="20000" decel="20000" fill="hold" grpId="0" nodeType="afterEffect">
                                  <p:stCondLst>
                                    <p:cond delay="0"/>
                                  </p:stCondLst>
                                  <p:childTnLst>
                                    <p:animMotion origin="layout" path="M 0 0 L 0.0150 -0.1067 E" pathEditMode="relative" ptsTypes="">
                                      <p:cBhvr>
                                        <p:cTn id="51" dur="1300" fill="hold"/>
                                        <p:tgtEl>
                                          <p:spTgt spid="98"/>
                                        </p:tgtEl>
                                        <p:attrNameLst>
                                          <p:attrName>ppt_x</p:attrName>
                                          <p:attrName>ppt_y</p:attrName>
                                        </p:attrNameLst>
                                      </p:cBhvr>
                                      <p:rCtr x="750" y="-5333"/>
                                    </p:animMotion>
                                  </p:childTnLst>
                                </p:cTn>
                              </p:par>
                            </p:childTnLst>
                          </p:cTn>
                        </p:par>
                      </p:childTnLst>
                    </p:cTn>
                  </p:par>
                  <p:par>
                    <p:cTn id="60" fill="hold">
                      <p:stCondLst>
                        <p:cond delay="indefinite"/>
                      </p:stCondLst>
                      <p:childTnLst>
                        <p:par>
                          <p:cTn id="56" fill="hold">
                            <p:stCondLst>
                              <p:cond delay="0"/>
                            </p:stCondLst>
                            <p:childTnLst>
                              <p:par>
                                <p:cTn id="54" presetID="0" presetClass="path" presetSubtype="0" accel="20000" decel="20000" fill="hold" grpId="0" nodeType="clickEffect">
                                  <p:stCondLst>
                                    <p:cond delay="0"/>
                                  </p:stCondLst>
                                  <p:childTnLst>
                                    <p:animMotion origin="layout" path="M 0 0 L 0.0450 -0.2267 E" pathEditMode="relative" ptsTypes="">
                                      <p:cBhvr>
                                        <p:cTn id="55" dur="1600" fill="hold"/>
                                        <p:tgtEl>
                                          <p:spTgt spid="51"/>
                                        </p:tgtEl>
                                        <p:attrNameLst>
                                          <p:attrName>ppt_x</p:attrName>
                                          <p:attrName>ppt_y</p:attrName>
                                        </p:attrNameLst>
                                      </p:cBhvr>
                                      <p:rCtr x="2250" y="-11333"/>
                                    </p:animMotion>
                                  </p:childTnLst>
                                </p:cTn>
                              </p:par>
                            </p:childTnLst>
                          </p:cTn>
                        </p:par>
                        <p:par>
                          <p:cTn id="59" fill="hold">
                            <p:stCondLst>
                              <p:cond delay="300"/>
                            </p:stCondLst>
                            <p:childTnLst>
                              <p:par>
                                <p:cTn id="57" presetID="0" presetClass="path" presetSubtype="0" accel="20000" decel="20000" fill="hold" grpId="0" nodeType="afterEffect">
                                  <p:stCondLst>
                                    <p:cond delay="0"/>
                                  </p:stCondLst>
                                  <p:childTnLst>
                                    <p:animMotion origin="layout" path="M 0 0 L 0.1200 -0.2333 E" pathEditMode="relative" ptsTypes="">
                                      <p:cBhvr>
                                        <p:cTn id="58" dur="1900" fill="hold"/>
                                        <p:tgtEl>
                                          <p:spTgt spid="48"/>
                                        </p:tgtEl>
                                        <p:attrNameLst>
                                          <p:attrName>ppt_x</p:attrName>
                                          <p:attrName>ppt_y</p:attrName>
                                        </p:attrNameLst>
                                      </p:cBhvr>
                                      <p:rCtr x="6000" y="-116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94" grpId="0" animBg="1"/>
      <p:bldP spid="95" grpId="0" animBg="1"/>
      <p:bldP spid="96" grpId="0" animBg="1"/>
      <p:bldP spid="97" grpId="0" animBg="1"/>
      <p:bldP spid="98" grpId="0" animBg="1"/>
    </p:bldLst>
  </p:timing>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Gráfico bifásico"/>
          <p:cNvGrpSpPr/>
          <p:nvPr/>
        </p:nvGrpSpPr>
        <p:grpSpPr>
          <a:xfrm>
            <a:off x="411480" y="1051560"/>
            <a:ext cx="7040880" cy="5394960"/>
            <a:chOff x="411480" y="1051560"/>
            <a:chExt cx="7040880" cy="5394960"/>
          </a:xfrm>
        </p:grpSpPr>
        <p:sp>
          <p:nvSpPr>
            <p:cNvPr id="5" name="Forma 4"/>
            <p:cNvSpPr/>
            <p:nvPr/>
          </p:nvSpPr>
          <p:spPr>
            <a:xfrm>
              <a:off x="411480" y="1051560"/>
              <a:ext cx="7040880" cy="5394960"/>
            </a:xfrm>
            <a:prstGeom prst="rect">
              <a:avLst/>
            </a:prstGeom>
            <a:solidFill>
              <a:srgbClr val="FFFFFF">
                <a:alpha val="55000"/>
              </a:srgbClr>
            </a:solidFill>
            <a:ln w="15875" cap="rnd">
              <a:solidFill>
                <a:srgbClr val="1E1E1E"/>
              </a:solidFill>
              <a:round/>
            </a:ln>
            <a:effectLst>
              <a:outerShdw blurRad="63500" dist="38100" dir="2700000" algn="tl" rotWithShape="0">
                <a:srgbClr val="000000">
                  <a:alpha val="32000"/>
                </a:srgbClr>
              </a:outerShdw>
            </a:effectLst>
          </p:spPr>
        </p:sp>
        <p:sp>
          <p:nvSpPr>
            <p:cNvPr id="6" name="Flecha 5_2"/>
            <p:cNvSpPr/>
            <p:nvPr/>
          </p:nvSpPr>
          <p:spPr>
            <a:xfrm>
              <a:off x="1005840" y="5806440"/>
              <a:ext cx="6126480" cy="9144"/>
            </a:xfrm>
            <a:custGeom>
              <a:avLst/>
              <a:gdLst/>
              <a:ahLst/>
              <a:cxnLst/>
              <a:rect l="0" t="0" r="r" b="b"/>
              <a:pathLst>
                <a:path w="6699" h="10" fill="none">
                  <a:moveTo>
                    <a:pt x="0" y="0"/>
                  </a:moveTo>
                  <a:lnTo>
                    <a:pt x="6699" y="0"/>
                  </a:lnTo>
                </a:path>
              </a:pathLst>
            </a:custGeom>
            <a:noFill/>
            <a:ln w="22225" cap="rnd">
              <a:solidFill>
                <a:srgbClr val="1E1E1E"/>
              </a:solidFill>
              <a:round/>
              <a:tailEnd type="triangle" w="med" len="med"/>
            </a:ln>
          </p:spPr>
        </p:sp>
        <p:sp>
          <p:nvSpPr>
            <p:cNvPr id="7" name="Flecha 7_2"/>
            <p:cNvSpPr/>
            <p:nvPr/>
          </p:nvSpPr>
          <p:spPr>
            <a:xfrm>
              <a:off x="1005840" y="1371600"/>
              <a:ext cx="9144" cy="4434840"/>
            </a:xfrm>
            <a:custGeom>
              <a:avLst/>
              <a:gdLst/>
              <a:ahLst/>
              <a:cxnLst/>
              <a:rect l="0" t="0" r="r" b="b"/>
              <a:pathLst>
                <a:path w="10" h="4850" fill="none">
                  <a:moveTo>
                    <a:pt x="0" y="4850"/>
                  </a:moveTo>
                  <a:lnTo>
                    <a:pt x="0" y="0"/>
                  </a:lnTo>
                </a:path>
              </a:pathLst>
            </a:custGeom>
            <a:noFill/>
            <a:ln w="22225" cap="rnd">
              <a:solidFill>
                <a:srgbClr val="1E1E1E"/>
              </a:solidFill>
              <a:round/>
              <a:tailEnd type="triangle" w="med" len="med"/>
            </a:ln>
          </p:spPr>
        </p:sp>
        <p:sp>
          <p:nvSpPr>
            <p:cNvPr id="8" name="Forma 9"/>
            <p:cNvSpPr txBox="1"/>
            <p:nvPr/>
          </p:nvSpPr>
          <p:spPr>
            <a:xfrm>
              <a:off x="4754880" y="5897880"/>
              <a:ext cx="2377440" cy="274320"/>
            </a:xfrm>
            <a:prstGeom prst="rect">
              <a:avLst/>
            </a:prstGeom>
            <a:noFill/>
            <a:ln>
              <a:noFill/>
            </a:ln>
          </p:spPr>
          <p:txBody>
            <a:bodyPr wrap="square" lIns="0" tIns="0" rIns="0" bIns="0" anchor="t" rtlCol="0">
              <a:noAutofit/>
            </a:bodyPr>
            <a:lstStyle/>
            <a:p>
              <a:pPr algn="r">
                <a:spcAft>
                  <a:spcPts val="300"/>
                </a:spcAft>
                <a:buNone/>
              </a:pPr>
              <a:r>
                <a:rPr lang="es-AR" sz="1250" dirty="0">
                  <a:solidFill>
                    <a:srgbClr val="1E1E1E"/>
                  </a:solidFill>
                  <a:latin typeface="Bahnschrift"/>
                  <a:ea typeface="Bahnschrift"/>
                  <a:cs typeface="Bahnschrift"/>
                  <a:sym typeface="Bahnschrift"/>
                </a:rPr>
                <a:t>tiempo tras el estímulo</a:t>
              </a:r>
              <a:endParaRPr lang="es-AR" sz="1250" dirty="0">
                <a:latin typeface="Bahnschrift"/>
              </a:endParaRPr>
            </a:p>
          </p:txBody>
        </p:sp>
        <p:sp>
          <p:nvSpPr>
            <p:cNvPr id="9" name="Forma 10"/>
            <p:cNvSpPr txBox="1"/>
            <p:nvPr/>
          </p:nvSpPr>
          <p:spPr>
            <a:xfrm>
              <a:off x="457200" y="1325880"/>
              <a:ext cx="457200" cy="4297680"/>
            </a:xfrm>
            <a:prstGeom prst="rect">
              <a:avLst/>
            </a:prstGeom>
            <a:noFill/>
            <a:ln>
              <a:noFill/>
            </a:ln>
          </p:spPr>
          <p:txBody>
            <a:bodyPr wrap="square" lIns="0" tIns="0" rIns="0" bIns="0" anchor="ctr" rtlCol="0" vert="vert27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Secreción de insulina</a:t>
              </a:r>
              <a:endParaRPr lang="es-AR" sz="1300" dirty="0">
                <a:latin typeface="Bahnschrift SemiBold Condensed"/>
              </a:endParaRPr>
            </a:p>
          </p:txBody>
        </p:sp>
        <p:sp>
          <p:nvSpPr>
            <p:cNvPr id="10" name="Forma 11"/>
            <p:cNvSpPr/>
            <p:nvPr/>
          </p:nvSpPr>
          <p:spPr>
            <a:xfrm>
              <a:off x="1051560" y="1463040"/>
              <a:ext cx="36576" cy="4297680"/>
            </a:xfrm>
            <a:prstGeom prst="rect">
              <a:avLst/>
            </a:prstGeom>
            <a:solidFill>
              <a:srgbClr val="3B82C4">
                <a:alpha val="40000"/>
              </a:srgbClr>
            </a:solidFill>
            <a:ln>
              <a:noFill/>
            </a:ln>
          </p:spPr>
        </p:sp>
        <p:sp>
          <p:nvSpPr>
            <p:cNvPr id="11" name="Forma 12"/>
            <p:cNvSpPr txBox="1"/>
            <p:nvPr/>
          </p:nvSpPr>
          <p:spPr>
            <a:xfrm>
              <a:off x="1143000" y="1417320"/>
              <a:ext cx="201168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1F4E79"/>
                  </a:solidFill>
                  <a:latin typeface="Bahnschrift SemiBold Condensed"/>
                  <a:ea typeface="Bahnschrift SemiBold Condensed"/>
                  <a:cs typeface="Bahnschrift SemiBold Condensed"/>
                  <a:sym typeface="Bahnschrift SemiBold Condensed"/>
                </a:rPr>
                <a:t>↑ glucosa</a:t>
              </a:r>
              <a:endParaRPr lang="es-AR" sz="1250" dirty="0">
                <a:latin typeface="Bahnschrift SemiBold Condensed"/>
              </a:endParaRPr>
            </a:p>
          </p:txBody>
        </p:sp>
      </p:grpSp>
      <p:sp>
        <p:nvSpPr>
          <p:cNvPr id="12" name="Primera fase"/>
          <p:cNvSpPr/>
          <p:nvPr/>
        </p:nvSpPr>
        <p:spPr>
          <a:xfrm>
            <a:off x="1051560" y="1737360"/>
            <a:ext cx="6035040" cy="4023360"/>
          </a:xfrm>
          <a:custGeom>
            <a:avLst/>
            <a:gdLst/>
            <a:ahLst/>
            <a:cxnLst/>
            <a:rect l="0" t="0" r="r" b="b"/>
            <a:pathLst>
              <a:path w="1000" h="1000" fill="none">
                <a:moveTo>
                  <a:pt x="0" y="980"/>
                </a:moveTo>
                <a:lnTo>
                  <a:pt x="40" y="980"/>
                </a:lnTo>
                <a:cubicBezTo>
                  <a:pt x="60" y="980"/>
                  <a:pt x="70" y="50"/>
                  <a:pt x="120" y="50"/>
                </a:cubicBezTo>
                <a:cubicBezTo>
                  <a:pt x="180" y="50"/>
                  <a:pt x="190" y="820"/>
                  <a:pt x="260" y="820"/>
                </a:cubicBezTo>
              </a:path>
            </a:pathLst>
          </a:custGeom>
          <a:noFill/>
          <a:ln w="57150" cap="rnd">
            <a:solidFill>
              <a:srgbClr val="C0392B"/>
            </a:solidFill>
            <a:round/>
          </a:ln>
        </p:spPr>
      </p:sp>
      <p:sp>
        <p:nvSpPr>
          <p:cNvPr id="13" name="Segunda fase"/>
          <p:cNvSpPr/>
          <p:nvPr/>
        </p:nvSpPr>
        <p:spPr>
          <a:xfrm>
            <a:off x="1051560" y="1737360"/>
            <a:ext cx="6035040" cy="4023360"/>
          </a:xfrm>
          <a:custGeom>
            <a:avLst/>
            <a:gdLst/>
            <a:ahLst/>
            <a:cxnLst/>
            <a:rect l="0" t="0" r="r" b="b"/>
            <a:pathLst>
              <a:path w="1000" h="1000" fill="none">
                <a:moveTo>
                  <a:pt x="260" y="820"/>
                </a:moveTo>
                <a:cubicBezTo>
                  <a:pt x="400" y="800"/>
                  <a:pt x="500" y="600"/>
                  <a:pt x="650" y="480"/>
                </a:cubicBezTo>
                <a:cubicBezTo>
                  <a:pt x="780" y="380"/>
                  <a:pt x="880" y="340"/>
                  <a:pt x="1000" y="330"/>
                </a:cubicBezTo>
              </a:path>
            </a:pathLst>
          </a:custGeom>
          <a:noFill/>
          <a:ln w="57150" cap="rnd">
            <a:solidFill>
              <a:srgbClr val="1F4E9A"/>
            </a:solidFill>
            <a:round/>
          </a:ln>
        </p:spPr>
      </p:sp>
      <p:sp>
        <p:nvSpPr>
          <p:cNvPr id="14" name="Rótulo 1.ª fase"/>
          <p:cNvSpPr/>
          <p:nvPr/>
        </p:nvSpPr>
        <p:spPr>
          <a:xfrm>
            <a:off x="1965960" y="1691640"/>
            <a:ext cx="219456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1.ª fase</a:t>
            </a:r>
            <a:r>
              <a:rPr lang="es-AR" sz="1550" dirty="0">
                <a:solidFill>
                  <a:srgbClr val="1E1E1E"/>
                </a:solidFill>
                <a:latin typeface="Bahnschrift"/>
                <a:ea typeface="Bahnschrift"/>
                <a:cs typeface="Bahnschrift"/>
                <a:sym typeface="Bahnschrift"/>
              </a:rPr>
              <a:t>: pico rápido, gránulos preparados</a:t>
            </a:r>
            <a:endParaRPr lang="es-AR" sz="1550" dirty="0">
              <a:latin typeface="Bahnschrift"/>
            </a:endParaRPr>
          </a:p>
        </p:txBody>
      </p:sp>
      <p:sp>
        <p:nvSpPr>
          <p:cNvPr id="15" name="Rótulo 2.ª fase"/>
          <p:cNvSpPr/>
          <p:nvPr/>
        </p:nvSpPr>
        <p:spPr>
          <a:xfrm>
            <a:off x="4846320" y="2743200"/>
            <a:ext cx="2377440" cy="9601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2.ª fase</a:t>
            </a:r>
            <a:r>
              <a:rPr lang="es-AR" sz="1550" dirty="0">
                <a:solidFill>
                  <a:srgbClr val="1E1E1E"/>
                </a:solidFill>
                <a:latin typeface="Bahnschrift"/>
                <a:ea typeface="Bahnschrift"/>
                <a:cs typeface="Bahnschrift"/>
                <a:sym typeface="Bahnschrift"/>
              </a:rPr>
              <a:t>: sostenida, reclutamiento y síntesis</a:t>
            </a:r>
            <a:endParaRPr lang="es-AR" sz="1550" dirty="0">
              <a:latin typeface="Bahnschrift"/>
            </a:endParaRPr>
          </a:p>
        </p:txBody>
      </p:sp>
      <p:grpSp>
        <p:nvGrpSpPr>
          <p:cNvPr id="16" name="Recuadro Mecanismo"/>
          <p:cNvGrpSpPr/>
          <p:nvPr/>
        </p:nvGrpSpPr>
        <p:grpSpPr>
          <a:xfrm>
            <a:off x="7726680" y="1051560"/>
            <a:ext cx="4069080" cy="2743200"/>
            <a:chOff x="7726680" y="1051560"/>
            <a:chExt cx="4069080" cy="2743200"/>
          </a:xfrm>
        </p:grpSpPr>
        <p:sp>
          <p:nvSpPr>
            <p:cNvPr id="17" name="Forma 18"/>
            <p:cNvSpPr/>
            <p:nvPr/>
          </p:nvSpPr>
          <p:spPr>
            <a:xfrm>
              <a:off x="7726680" y="1234440"/>
              <a:ext cx="4069080" cy="25603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Glucocinasa</a:t>
              </a:r>
              <a:r>
                <a:rPr lang="es-AR" sz="1650" dirty="0">
                  <a:solidFill>
                    <a:srgbClr val="1E1E1E"/>
                  </a:solidFill>
                  <a:latin typeface="Bahnschrift"/>
                  <a:ea typeface="Bahnschrift"/>
                  <a:cs typeface="Bahnschrift"/>
                  <a:sym typeface="Bahnschrift"/>
                </a:rPr>
                <a:t> define el umbral; </a:t>
              </a:r>
              <a:r>
                <a:rPr lang="es-AR" sz="1650" b="1" dirty="0">
                  <a:solidFill>
                    <a:srgbClr val="1E1E1E"/>
                  </a:solidFill>
                  <a:latin typeface="Bahnschrift"/>
                  <a:ea typeface="Bahnschrift"/>
                  <a:cs typeface="Bahnschrift"/>
                  <a:sym typeface="Bahnschrift"/>
                </a:rPr>
                <a:t>K</a:t>
              </a:r>
              <a:r>
                <a:rPr lang="es-AR" sz="1650" b="1" baseline="-25000" dirty="0">
                  <a:solidFill>
                    <a:srgbClr val="1E1E1E"/>
                  </a:solidFill>
                  <a:latin typeface="Bahnschrift"/>
                  <a:ea typeface="Bahnschrift"/>
                  <a:cs typeface="Bahnschrift"/>
                  <a:sym typeface="Bahnschrift"/>
                </a:rPr>
                <a:t>ATP</a:t>
              </a:r>
              <a:r>
                <a:rPr lang="es-AR" sz="1650" b="1" dirty="0">
                  <a:solidFill>
                    <a:srgbClr val="1E1E1E"/>
                  </a:solidFill>
                  <a:latin typeface="Bahnschrift"/>
                  <a:ea typeface="Bahnschrift"/>
                  <a:cs typeface="Bahnschrift"/>
                  <a:sym typeface="Bahnschrift"/>
                </a:rPr>
                <a:t>/Ca</a:t>
              </a:r>
              <a:r>
                <a:rPr lang="es-AR" sz="1650" b="1" baseline="30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convierten metabolismo en secreción.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Además del «disparo» por K</a:t>
              </a:r>
              <a:r>
                <a:rPr lang="es-AR" sz="1650" baseline="-25000" dirty="0">
                  <a:solidFill>
                    <a:srgbClr val="1E1E1E"/>
                  </a:solidFill>
                  <a:latin typeface="Bahnschrift"/>
                  <a:ea typeface="Bahnschrift"/>
                  <a:cs typeface="Bahnschrift"/>
                  <a:sym typeface="Bahnschrift"/>
                </a:rPr>
                <a:t>ATP</a:t>
              </a:r>
              <a:r>
                <a:rPr lang="es-AR" sz="1650" dirty="0">
                  <a:solidFill>
                    <a:srgbClr val="1E1E1E"/>
                  </a:solidFill>
                  <a:latin typeface="Bahnschrift"/>
                  <a:ea typeface="Bahnschrift"/>
                  <a:cs typeface="Bahnschrift"/>
                  <a:sym typeface="Bahnschrift"/>
                </a:rPr>
                <a:t> existen vías </a:t>
              </a:r>
              <a:r>
                <a:rPr lang="es-AR" sz="1650" b="1" dirty="0">
                  <a:solidFill>
                    <a:srgbClr val="1E1E1E"/>
                  </a:solidFill>
                  <a:latin typeface="Bahnschrift"/>
                  <a:ea typeface="Bahnschrift"/>
                  <a:cs typeface="Bahnschrift"/>
                  <a:sym typeface="Bahnschrift"/>
                </a:rPr>
                <a:t>amplificadoras</a:t>
              </a:r>
              <a:r>
                <a:rPr lang="es-AR" sz="1650" dirty="0">
                  <a:solidFill>
                    <a:srgbClr val="1E1E1E"/>
                  </a:solidFill>
                  <a:latin typeface="Bahnschrift"/>
                  <a:ea typeface="Bahnschrift"/>
                  <a:cs typeface="Bahnschrift"/>
                  <a:sym typeface="Bahnschrift"/>
                </a:rPr>
                <a:t> dependientes de metabolitos.</a:t>
              </a:r>
              <a:endParaRPr lang="es-AR" sz="1650" dirty="0">
                <a:latin typeface="Bahnschrift"/>
              </a:endParaRPr>
            </a:p>
          </p:txBody>
        </p:sp>
        <p:sp>
          <p:nvSpPr>
            <p:cNvPr id="18" name="Forma 19"/>
            <p:cNvSpPr/>
            <p:nvPr/>
          </p:nvSpPr>
          <p:spPr>
            <a:xfrm>
              <a:off x="7836408" y="1051560"/>
              <a:ext cx="118794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MECANISMO</a:t>
              </a:r>
              <a:endParaRPr lang="es-AR" sz="1500" dirty="0">
                <a:latin typeface="Bahnschrift SemiBold Condensed"/>
              </a:endParaRPr>
            </a:p>
          </p:txBody>
        </p:sp>
      </p:grpSp>
      <p:grpSp>
        <p:nvGrpSpPr>
          <p:cNvPr id="19" name="Recuadro Clínica"/>
          <p:cNvGrpSpPr/>
          <p:nvPr/>
        </p:nvGrpSpPr>
        <p:grpSpPr>
          <a:xfrm>
            <a:off x="7726680" y="3977640"/>
            <a:ext cx="4069080" cy="2468880"/>
            <a:chOff x="7726680" y="3977640"/>
            <a:chExt cx="4069080" cy="2468880"/>
          </a:xfrm>
        </p:grpSpPr>
        <p:sp>
          <p:nvSpPr>
            <p:cNvPr id="20" name="Forma 21"/>
            <p:cNvSpPr/>
            <p:nvPr/>
          </p:nvSpPr>
          <p:spPr>
            <a:xfrm>
              <a:off x="7726680" y="4160520"/>
              <a:ext cx="4069080" cy="2286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En la diabetes tipo 2 temprana se pierde característicamente la </a:t>
              </a:r>
              <a:r>
                <a:rPr lang="es-AR" sz="1650" b="1" dirty="0">
                  <a:solidFill>
                    <a:srgbClr val="1E1E1E"/>
                  </a:solidFill>
                  <a:latin typeface="Bahnschrift"/>
                  <a:ea typeface="Bahnschrift"/>
                  <a:cs typeface="Bahnschrift"/>
                  <a:sym typeface="Bahnschrift"/>
                </a:rPr>
                <a:t>1.ª fase</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ACh vagal</a:t>
              </a:r>
              <a:r>
                <a:rPr lang="es-AR" sz="1650" dirty="0">
                  <a:solidFill>
                    <a:srgbClr val="1E1E1E"/>
                  </a:solidFill>
                  <a:latin typeface="Bahnschrift"/>
                  <a:ea typeface="Bahnschrift"/>
                  <a:cs typeface="Bahnschrift"/>
                  <a:sym typeface="Bahnschrift"/>
                </a:rPr>
                <a:t> (fase cefálica) favorece la liberación.</a:t>
              </a:r>
              <a:endParaRPr lang="es-AR" sz="1650" dirty="0">
                <a:latin typeface="Bahnschrift"/>
              </a:endParaRPr>
            </a:p>
          </p:txBody>
        </p:sp>
        <p:sp>
          <p:nvSpPr>
            <p:cNvPr id="21" name="Forma 22"/>
            <p:cNvSpPr/>
            <p:nvPr/>
          </p:nvSpPr>
          <p:spPr>
            <a:xfrm>
              <a:off x="7836408" y="397764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510306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SECRECIÓN BIFÁSICA DE INSULINA</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900"/>
                                        <p:tgtEl>
                                          <p:spTgt spid="12"/>
                                        </p:tgtEl>
                                      </p:cBhvr>
                                    </p:animEffect>
                                  </p:childTnLst>
                                </p:cTn>
                              </p:par>
                            </p:childTnLst>
                          </p:cTn>
                        </p:par>
                        <p:par>
                          <p:cTn id="15" fill="hold">
                            <p:stCondLst>
                              <p:cond delay="900"/>
                            </p:stCondLst>
                            <p:childTnLst>
                              <p:par>
                                <p:cTn id="12" presetID="10" presetClass="entr" presetSubtype="0"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left)">
                                      <p:cBhvr>
                                        <p:cTn id="19" dur="1500"/>
                                        <p:tgtEl>
                                          <p:spTgt spid="13"/>
                                        </p:tgtEl>
                                      </p:cBhvr>
                                    </p:animEffect>
                                  </p:childTnLst>
                                </p:cTn>
                              </p:par>
                            </p:childTnLst>
                          </p:cTn>
                        </p:par>
                        <p:par>
                          <p:cTn id="24"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30"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35" fill="hold">
                      <p:stCondLst>
                        <p:cond delay="indefinite"/>
                      </p:stCondLst>
                      <p:childTnLst>
                        <p:par>
                          <p:cTn id="34"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3" grpId="0" animBg="1"/>
      <p:bldP spid="15" grpId="0" animBg="1"/>
    </p:bldLst>
  </p:timing>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embrana célula β"/>
          <p:cNvGrpSpPr/>
          <p:nvPr/>
        </p:nvGrpSpPr>
        <p:grpSpPr>
          <a:xfrm>
            <a:off x="365760" y="2148840"/>
            <a:ext cx="7223760" cy="365760"/>
            <a:chOff x="365760" y="2148840"/>
            <a:chExt cx="7223760" cy="365760"/>
          </a:xfrm>
        </p:grpSpPr>
        <p:sp>
          <p:nvSpPr>
            <p:cNvPr id="5" name="Forma 4"/>
            <p:cNvSpPr/>
            <p:nvPr/>
          </p:nvSpPr>
          <p:spPr>
            <a:xfrm>
              <a:off x="365760" y="2214677"/>
              <a:ext cx="7223760" cy="234086"/>
            </a:xfrm>
            <a:prstGeom prst="rect">
              <a:avLst/>
            </a:prstGeom>
            <a:solidFill>
              <a:srgbClr val="FDEBD0"/>
            </a:solidFill>
            <a:ln>
              <a:noFill/>
            </a:ln>
          </p:spPr>
        </p:sp>
        <p:sp>
          <p:nvSpPr>
            <p:cNvPr id="6" name="Forma 5"/>
            <p:cNvSpPr/>
            <p:nvPr/>
          </p:nvSpPr>
          <p:spPr>
            <a:xfrm>
              <a:off x="365760" y="2148840"/>
              <a:ext cx="7223760" cy="365760"/>
            </a:xfrm>
            <a:custGeom>
              <a:avLst/>
              <a:gdLst/>
              <a:ahLst/>
              <a:cxnLst/>
              <a:rect l="0" t="0" r="r" b="b"/>
              <a:pathLst>
                <a:path w="7900" h="40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7" y="47"/>
                  </a:moveTo>
                  <a:cubicBezTo>
                    <a:pt x="197" y="72"/>
                    <a:pt x="175" y="94"/>
                    <a:pt x="150" y="94"/>
                  </a:cubicBezTo>
                  <a:cubicBezTo>
                    <a:pt x="124" y="94"/>
                    <a:pt x="103" y="72"/>
                    <a:pt x="103" y="47"/>
                  </a:cubicBezTo>
                  <a:cubicBezTo>
                    <a:pt x="103" y="21"/>
                    <a:pt x="124" y="0"/>
                    <a:pt x="150" y="0"/>
                  </a:cubicBezTo>
                  <a:cubicBezTo>
                    <a:pt x="175" y="0"/>
                    <a:pt x="197" y="21"/>
                    <a:pt x="197" y="47"/>
                  </a:cubicBezTo>
                  <a:close/>
                  <a:moveTo>
                    <a:pt x="297" y="47"/>
                  </a:moveTo>
                  <a:cubicBezTo>
                    <a:pt x="297" y="72"/>
                    <a:pt x="275" y="94"/>
                    <a:pt x="250" y="94"/>
                  </a:cubicBezTo>
                  <a:cubicBezTo>
                    <a:pt x="224" y="94"/>
                    <a:pt x="203" y="72"/>
                    <a:pt x="203" y="47"/>
                  </a:cubicBezTo>
                  <a:cubicBezTo>
                    <a:pt x="203" y="21"/>
                    <a:pt x="224" y="0"/>
                    <a:pt x="250" y="0"/>
                  </a:cubicBezTo>
                  <a:cubicBezTo>
                    <a:pt x="275" y="0"/>
                    <a:pt x="297" y="21"/>
                    <a:pt x="297" y="47"/>
                  </a:cubicBezTo>
                  <a:close/>
                  <a:moveTo>
                    <a:pt x="397" y="47"/>
                  </a:moveTo>
                  <a:cubicBezTo>
                    <a:pt x="397" y="72"/>
                    <a:pt x="375" y="94"/>
                    <a:pt x="350" y="94"/>
                  </a:cubicBezTo>
                  <a:cubicBezTo>
                    <a:pt x="324" y="94"/>
                    <a:pt x="303" y="72"/>
                    <a:pt x="303" y="47"/>
                  </a:cubicBezTo>
                  <a:cubicBezTo>
                    <a:pt x="303" y="21"/>
                    <a:pt x="324" y="0"/>
                    <a:pt x="350" y="0"/>
                  </a:cubicBezTo>
                  <a:cubicBezTo>
                    <a:pt x="375" y="0"/>
                    <a:pt x="397" y="21"/>
                    <a:pt x="397" y="47"/>
                  </a:cubicBezTo>
                  <a:close/>
                  <a:moveTo>
                    <a:pt x="497" y="47"/>
                  </a:moveTo>
                  <a:cubicBezTo>
                    <a:pt x="497" y="72"/>
                    <a:pt x="475" y="94"/>
                    <a:pt x="450" y="94"/>
                  </a:cubicBezTo>
                  <a:cubicBezTo>
                    <a:pt x="424" y="94"/>
                    <a:pt x="403" y="72"/>
                    <a:pt x="403" y="47"/>
                  </a:cubicBezTo>
                  <a:cubicBezTo>
                    <a:pt x="403" y="21"/>
                    <a:pt x="424" y="0"/>
                    <a:pt x="450" y="0"/>
                  </a:cubicBezTo>
                  <a:cubicBezTo>
                    <a:pt x="475" y="0"/>
                    <a:pt x="497" y="21"/>
                    <a:pt x="497" y="47"/>
                  </a:cubicBezTo>
                  <a:close/>
                  <a:moveTo>
                    <a:pt x="597" y="47"/>
                  </a:moveTo>
                  <a:cubicBezTo>
                    <a:pt x="597" y="72"/>
                    <a:pt x="575" y="94"/>
                    <a:pt x="550" y="94"/>
                  </a:cubicBezTo>
                  <a:cubicBezTo>
                    <a:pt x="524" y="94"/>
                    <a:pt x="503" y="72"/>
                    <a:pt x="503" y="47"/>
                  </a:cubicBezTo>
                  <a:cubicBezTo>
                    <a:pt x="503" y="21"/>
                    <a:pt x="524" y="0"/>
                    <a:pt x="550" y="0"/>
                  </a:cubicBezTo>
                  <a:cubicBezTo>
                    <a:pt x="575" y="0"/>
                    <a:pt x="597" y="21"/>
                    <a:pt x="597" y="47"/>
                  </a:cubicBezTo>
                  <a:close/>
                  <a:moveTo>
                    <a:pt x="697" y="47"/>
                  </a:moveTo>
                  <a:cubicBezTo>
                    <a:pt x="697" y="72"/>
                    <a:pt x="675" y="94"/>
                    <a:pt x="650" y="94"/>
                  </a:cubicBezTo>
                  <a:cubicBezTo>
                    <a:pt x="624" y="94"/>
                    <a:pt x="603" y="72"/>
                    <a:pt x="603" y="47"/>
                  </a:cubicBezTo>
                  <a:cubicBezTo>
                    <a:pt x="603" y="21"/>
                    <a:pt x="624" y="0"/>
                    <a:pt x="650" y="0"/>
                  </a:cubicBezTo>
                  <a:cubicBezTo>
                    <a:pt x="675" y="0"/>
                    <a:pt x="697" y="21"/>
                    <a:pt x="697" y="47"/>
                  </a:cubicBezTo>
                  <a:close/>
                  <a:moveTo>
                    <a:pt x="797" y="47"/>
                  </a:moveTo>
                  <a:cubicBezTo>
                    <a:pt x="797" y="72"/>
                    <a:pt x="775" y="94"/>
                    <a:pt x="750" y="94"/>
                  </a:cubicBezTo>
                  <a:cubicBezTo>
                    <a:pt x="724" y="94"/>
                    <a:pt x="703" y="72"/>
                    <a:pt x="703" y="47"/>
                  </a:cubicBezTo>
                  <a:cubicBezTo>
                    <a:pt x="703" y="21"/>
                    <a:pt x="724" y="0"/>
                    <a:pt x="750" y="0"/>
                  </a:cubicBezTo>
                  <a:cubicBezTo>
                    <a:pt x="775" y="0"/>
                    <a:pt x="797" y="21"/>
                    <a:pt x="797" y="47"/>
                  </a:cubicBezTo>
                  <a:close/>
                  <a:moveTo>
                    <a:pt x="897" y="47"/>
                  </a:moveTo>
                  <a:cubicBezTo>
                    <a:pt x="897" y="72"/>
                    <a:pt x="875" y="94"/>
                    <a:pt x="850" y="94"/>
                  </a:cubicBezTo>
                  <a:cubicBezTo>
                    <a:pt x="824" y="94"/>
                    <a:pt x="803" y="72"/>
                    <a:pt x="803" y="47"/>
                  </a:cubicBezTo>
                  <a:cubicBezTo>
                    <a:pt x="803" y="21"/>
                    <a:pt x="824" y="0"/>
                    <a:pt x="850" y="0"/>
                  </a:cubicBezTo>
                  <a:cubicBezTo>
                    <a:pt x="875" y="0"/>
                    <a:pt x="897" y="21"/>
                    <a:pt x="897" y="47"/>
                  </a:cubicBezTo>
                  <a:close/>
                  <a:moveTo>
                    <a:pt x="997" y="47"/>
                  </a:moveTo>
                  <a:cubicBezTo>
                    <a:pt x="997" y="72"/>
                    <a:pt x="975" y="94"/>
                    <a:pt x="950" y="94"/>
                  </a:cubicBezTo>
                  <a:cubicBezTo>
                    <a:pt x="924" y="94"/>
                    <a:pt x="903" y="72"/>
                    <a:pt x="903" y="47"/>
                  </a:cubicBezTo>
                  <a:cubicBezTo>
                    <a:pt x="903" y="21"/>
                    <a:pt x="924" y="0"/>
                    <a:pt x="950" y="0"/>
                  </a:cubicBezTo>
                  <a:cubicBezTo>
                    <a:pt x="975" y="0"/>
                    <a:pt x="997" y="21"/>
                    <a:pt x="997" y="47"/>
                  </a:cubicBezTo>
                  <a:close/>
                  <a:moveTo>
                    <a:pt x="1097" y="47"/>
                  </a:moveTo>
                  <a:cubicBezTo>
                    <a:pt x="1097" y="72"/>
                    <a:pt x="1075" y="94"/>
                    <a:pt x="1050" y="94"/>
                  </a:cubicBezTo>
                  <a:cubicBezTo>
                    <a:pt x="1024" y="94"/>
                    <a:pt x="1003" y="72"/>
                    <a:pt x="1003" y="47"/>
                  </a:cubicBezTo>
                  <a:cubicBezTo>
                    <a:pt x="1003" y="21"/>
                    <a:pt x="1024" y="0"/>
                    <a:pt x="1050" y="0"/>
                  </a:cubicBezTo>
                  <a:cubicBezTo>
                    <a:pt x="1075" y="0"/>
                    <a:pt x="1097" y="21"/>
                    <a:pt x="1097" y="47"/>
                  </a:cubicBezTo>
                  <a:close/>
                  <a:moveTo>
                    <a:pt x="1197" y="47"/>
                  </a:moveTo>
                  <a:cubicBezTo>
                    <a:pt x="1197" y="72"/>
                    <a:pt x="1175" y="94"/>
                    <a:pt x="1150" y="94"/>
                  </a:cubicBezTo>
                  <a:cubicBezTo>
                    <a:pt x="1124" y="94"/>
                    <a:pt x="1103" y="72"/>
                    <a:pt x="1103" y="47"/>
                  </a:cubicBezTo>
                  <a:cubicBezTo>
                    <a:pt x="1103" y="21"/>
                    <a:pt x="1124" y="0"/>
                    <a:pt x="1150" y="0"/>
                  </a:cubicBezTo>
                  <a:cubicBezTo>
                    <a:pt x="1175" y="0"/>
                    <a:pt x="1197" y="21"/>
                    <a:pt x="1197" y="47"/>
                  </a:cubicBezTo>
                  <a:close/>
                  <a:moveTo>
                    <a:pt x="1297" y="47"/>
                  </a:moveTo>
                  <a:cubicBezTo>
                    <a:pt x="1297" y="72"/>
                    <a:pt x="1275" y="94"/>
                    <a:pt x="1250" y="94"/>
                  </a:cubicBezTo>
                  <a:cubicBezTo>
                    <a:pt x="1224" y="94"/>
                    <a:pt x="1203" y="72"/>
                    <a:pt x="1203" y="47"/>
                  </a:cubicBezTo>
                  <a:cubicBezTo>
                    <a:pt x="1203" y="21"/>
                    <a:pt x="1224" y="0"/>
                    <a:pt x="1250" y="0"/>
                  </a:cubicBezTo>
                  <a:cubicBezTo>
                    <a:pt x="1275" y="0"/>
                    <a:pt x="1297" y="21"/>
                    <a:pt x="1297" y="47"/>
                  </a:cubicBezTo>
                  <a:close/>
                  <a:moveTo>
                    <a:pt x="1397" y="47"/>
                  </a:moveTo>
                  <a:cubicBezTo>
                    <a:pt x="1397" y="72"/>
                    <a:pt x="1375" y="94"/>
                    <a:pt x="1350" y="94"/>
                  </a:cubicBezTo>
                  <a:cubicBezTo>
                    <a:pt x="1324" y="94"/>
                    <a:pt x="1303" y="72"/>
                    <a:pt x="1303" y="47"/>
                  </a:cubicBezTo>
                  <a:cubicBezTo>
                    <a:pt x="1303" y="21"/>
                    <a:pt x="1324" y="0"/>
                    <a:pt x="1350" y="0"/>
                  </a:cubicBezTo>
                  <a:cubicBezTo>
                    <a:pt x="1375" y="0"/>
                    <a:pt x="1397" y="21"/>
                    <a:pt x="1397" y="47"/>
                  </a:cubicBezTo>
                  <a:close/>
                  <a:moveTo>
                    <a:pt x="1497" y="47"/>
                  </a:moveTo>
                  <a:cubicBezTo>
                    <a:pt x="1497" y="72"/>
                    <a:pt x="1475" y="94"/>
                    <a:pt x="1450" y="94"/>
                  </a:cubicBezTo>
                  <a:cubicBezTo>
                    <a:pt x="1424" y="94"/>
                    <a:pt x="1403" y="72"/>
                    <a:pt x="1403" y="47"/>
                  </a:cubicBezTo>
                  <a:cubicBezTo>
                    <a:pt x="1403" y="21"/>
                    <a:pt x="1424" y="0"/>
                    <a:pt x="1450" y="0"/>
                  </a:cubicBezTo>
                  <a:cubicBezTo>
                    <a:pt x="1475" y="0"/>
                    <a:pt x="1497" y="21"/>
                    <a:pt x="1497" y="47"/>
                  </a:cubicBezTo>
                  <a:close/>
                  <a:moveTo>
                    <a:pt x="1597" y="47"/>
                  </a:moveTo>
                  <a:cubicBezTo>
                    <a:pt x="1597" y="72"/>
                    <a:pt x="1575" y="94"/>
                    <a:pt x="1550" y="94"/>
                  </a:cubicBezTo>
                  <a:cubicBezTo>
                    <a:pt x="1524" y="94"/>
                    <a:pt x="1503" y="72"/>
                    <a:pt x="1503" y="47"/>
                  </a:cubicBezTo>
                  <a:cubicBezTo>
                    <a:pt x="1503" y="21"/>
                    <a:pt x="1524" y="0"/>
                    <a:pt x="1550" y="0"/>
                  </a:cubicBezTo>
                  <a:cubicBezTo>
                    <a:pt x="1575" y="0"/>
                    <a:pt x="1597" y="21"/>
                    <a:pt x="1597" y="47"/>
                  </a:cubicBezTo>
                  <a:close/>
                  <a:moveTo>
                    <a:pt x="1697" y="47"/>
                  </a:moveTo>
                  <a:cubicBezTo>
                    <a:pt x="1697" y="72"/>
                    <a:pt x="1675" y="94"/>
                    <a:pt x="1650" y="94"/>
                  </a:cubicBezTo>
                  <a:cubicBezTo>
                    <a:pt x="1624" y="94"/>
                    <a:pt x="1603" y="72"/>
                    <a:pt x="1603" y="47"/>
                  </a:cubicBezTo>
                  <a:cubicBezTo>
                    <a:pt x="1603" y="21"/>
                    <a:pt x="1624" y="0"/>
                    <a:pt x="1650" y="0"/>
                  </a:cubicBezTo>
                  <a:cubicBezTo>
                    <a:pt x="1675" y="0"/>
                    <a:pt x="1697" y="21"/>
                    <a:pt x="1697" y="47"/>
                  </a:cubicBezTo>
                  <a:close/>
                  <a:moveTo>
                    <a:pt x="1797" y="47"/>
                  </a:moveTo>
                  <a:cubicBezTo>
                    <a:pt x="1797" y="72"/>
                    <a:pt x="1775" y="94"/>
                    <a:pt x="1750" y="94"/>
                  </a:cubicBezTo>
                  <a:cubicBezTo>
                    <a:pt x="1724" y="94"/>
                    <a:pt x="1703" y="72"/>
                    <a:pt x="1703" y="47"/>
                  </a:cubicBezTo>
                  <a:cubicBezTo>
                    <a:pt x="1703" y="21"/>
                    <a:pt x="1724" y="0"/>
                    <a:pt x="1750" y="0"/>
                  </a:cubicBezTo>
                  <a:cubicBezTo>
                    <a:pt x="1775" y="0"/>
                    <a:pt x="1797" y="21"/>
                    <a:pt x="1797" y="47"/>
                  </a:cubicBezTo>
                  <a:close/>
                  <a:moveTo>
                    <a:pt x="1897" y="47"/>
                  </a:moveTo>
                  <a:cubicBezTo>
                    <a:pt x="1897" y="72"/>
                    <a:pt x="1875" y="94"/>
                    <a:pt x="1850" y="94"/>
                  </a:cubicBezTo>
                  <a:cubicBezTo>
                    <a:pt x="1824" y="94"/>
                    <a:pt x="1803" y="72"/>
                    <a:pt x="1803" y="47"/>
                  </a:cubicBezTo>
                  <a:cubicBezTo>
                    <a:pt x="1803" y="21"/>
                    <a:pt x="1824" y="0"/>
                    <a:pt x="1850" y="0"/>
                  </a:cubicBezTo>
                  <a:cubicBezTo>
                    <a:pt x="1875" y="0"/>
                    <a:pt x="1897" y="21"/>
                    <a:pt x="1897" y="47"/>
                  </a:cubicBezTo>
                  <a:close/>
                  <a:moveTo>
                    <a:pt x="1997" y="47"/>
                  </a:moveTo>
                  <a:cubicBezTo>
                    <a:pt x="1997" y="72"/>
                    <a:pt x="1975" y="94"/>
                    <a:pt x="1950" y="94"/>
                  </a:cubicBezTo>
                  <a:cubicBezTo>
                    <a:pt x="1924" y="94"/>
                    <a:pt x="1903" y="72"/>
                    <a:pt x="1903" y="47"/>
                  </a:cubicBezTo>
                  <a:cubicBezTo>
                    <a:pt x="1903" y="21"/>
                    <a:pt x="1924" y="0"/>
                    <a:pt x="1950" y="0"/>
                  </a:cubicBezTo>
                  <a:cubicBezTo>
                    <a:pt x="1975" y="0"/>
                    <a:pt x="1997" y="21"/>
                    <a:pt x="1997" y="47"/>
                  </a:cubicBezTo>
                  <a:close/>
                  <a:moveTo>
                    <a:pt x="2097" y="47"/>
                  </a:moveTo>
                  <a:cubicBezTo>
                    <a:pt x="2097" y="72"/>
                    <a:pt x="2075" y="94"/>
                    <a:pt x="2050" y="94"/>
                  </a:cubicBezTo>
                  <a:cubicBezTo>
                    <a:pt x="2024" y="94"/>
                    <a:pt x="2003" y="72"/>
                    <a:pt x="2003" y="47"/>
                  </a:cubicBezTo>
                  <a:cubicBezTo>
                    <a:pt x="2003" y="21"/>
                    <a:pt x="2024" y="0"/>
                    <a:pt x="2050" y="0"/>
                  </a:cubicBezTo>
                  <a:cubicBezTo>
                    <a:pt x="2075" y="0"/>
                    <a:pt x="2097" y="21"/>
                    <a:pt x="2097" y="47"/>
                  </a:cubicBezTo>
                  <a:close/>
                  <a:moveTo>
                    <a:pt x="2197" y="47"/>
                  </a:moveTo>
                  <a:cubicBezTo>
                    <a:pt x="2197" y="72"/>
                    <a:pt x="2175" y="94"/>
                    <a:pt x="2150" y="94"/>
                  </a:cubicBezTo>
                  <a:cubicBezTo>
                    <a:pt x="2124" y="94"/>
                    <a:pt x="2103" y="72"/>
                    <a:pt x="2103" y="47"/>
                  </a:cubicBezTo>
                  <a:cubicBezTo>
                    <a:pt x="2103" y="21"/>
                    <a:pt x="2124" y="0"/>
                    <a:pt x="2150" y="0"/>
                  </a:cubicBezTo>
                  <a:cubicBezTo>
                    <a:pt x="2175" y="0"/>
                    <a:pt x="2197" y="21"/>
                    <a:pt x="2197" y="47"/>
                  </a:cubicBezTo>
                  <a:close/>
                  <a:moveTo>
                    <a:pt x="2297" y="47"/>
                  </a:moveTo>
                  <a:cubicBezTo>
                    <a:pt x="2297" y="72"/>
                    <a:pt x="2275" y="94"/>
                    <a:pt x="2250" y="94"/>
                  </a:cubicBezTo>
                  <a:cubicBezTo>
                    <a:pt x="2224" y="94"/>
                    <a:pt x="2203" y="72"/>
                    <a:pt x="2203" y="47"/>
                  </a:cubicBezTo>
                  <a:cubicBezTo>
                    <a:pt x="2203" y="21"/>
                    <a:pt x="2224" y="0"/>
                    <a:pt x="2250" y="0"/>
                  </a:cubicBezTo>
                  <a:cubicBezTo>
                    <a:pt x="2275" y="0"/>
                    <a:pt x="2297" y="21"/>
                    <a:pt x="2297" y="47"/>
                  </a:cubicBezTo>
                  <a:close/>
                  <a:moveTo>
                    <a:pt x="2397" y="47"/>
                  </a:moveTo>
                  <a:cubicBezTo>
                    <a:pt x="2397" y="72"/>
                    <a:pt x="2375" y="94"/>
                    <a:pt x="2350" y="94"/>
                  </a:cubicBezTo>
                  <a:cubicBezTo>
                    <a:pt x="2324" y="94"/>
                    <a:pt x="2303" y="72"/>
                    <a:pt x="2303" y="47"/>
                  </a:cubicBezTo>
                  <a:cubicBezTo>
                    <a:pt x="2303" y="21"/>
                    <a:pt x="2324" y="0"/>
                    <a:pt x="2350" y="0"/>
                  </a:cubicBezTo>
                  <a:cubicBezTo>
                    <a:pt x="2375" y="0"/>
                    <a:pt x="2397" y="21"/>
                    <a:pt x="2397" y="47"/>
                  </a:cubicBezTo>
                  <a:close/>
                  <a:moveTo>
                    <a:pt x="2497" y="47"/>
                  </a:moveTo>
                  <a:cubicBezTo>
                    <a:pt x="2497" y="72"/>
                    <a:pt x="2475" y="94"/>
                    <a:pt x="2450" y="94"/>
                  </a:cubicBezTo>
                  <a:cubicBezTo>
                    <a:pt x="2424" y="94"/>
                    <a:pt x="2403" y="72"/>
                    <a:pt x="2403" y="47"/>
                  </a:cubicBezTo>
                  <a:cubicBezTo>
                    <a:pt x="2403" y="21"/>
                    <a:pt x="2424" y="0"/>
                    <a:pt x="2450" y="0"/>
                  </a:cubicBezTo>
                  <a:cubicBezTo>
                    <a:pt x="2475" y="0"/>
                    <a:pt x="2497" y="21"/>
                    <a:pt x="2497" y="47"/>
                  </a:cubicBezTo>
                  <a:close/>
                  <a:moveTo>
                    <a:pt x="2597" y="47"/>
                  </a:moveTo>
                  <a:cubicBezTo>
                    <a:pt x="2597" y="72"/>
                    <a:pt x="2575" y="94"/>
                    <a:pt x="2550" y="94"/>
                  </a:cubicBezTo>
                  <a:cubicBezTo>
                    <a:pt x="2524" y="94"/>
                    <a:pt x="2503" y="72"/>
                    <a:pt x="2503" y="47"/>
                  </a:cubicBezTo>
                  <a:cubicBezTo>
                    <a:pt x="2503" y="21"/>
                    <a:pt x="2524" y="0"/>
                    <a:pt x="2550" y="0"/>
                  </a:cubicBezTo>
                  <a:cubicBezTo>
                    <a:pt x="2575" y="0"/>
                    <a:pt x="2597" y="21"/>
                    <a:pt x="2597" y="47"/>
                  </a:cubicBezTo>
                  <a:close/>
                  <a:moveTo>
                    <a:pt x="2697" y="47"/>
                  </a:moveTo>
                  <a:cubicBezTo>
                    <a:pt x="2697" y="72"/>
                    <a:pt x="2675" y="94"/>
                    <a:pt x="2650" y="94"/>
                  </a:cubicBezTo>
                  <a:cubicBezTo>
                    <a:pt x="2624" y="94"/>
                    <a:pt x="2603" y="72"/>
                    <a:pt x="2603" y="47"/>
                  </a:cubicBezTo>
                  <a:cubicBezTo>
                    <a:pt x="2603" y="21"/>
                    <a:pt x="2624" y="0"/>
                    <a:pt x="2650" y="0"/>
                  </a:cubicBezTo>
                  <a:cubicBezTo>
                    <a:pt x="2675" y="0"/>
                    <a:pt x="2697" y="21"/>
                    <a:pt x="2697" y="47"/>
                  </a:cubicBezTo>
                  <a:close/>
                  <a:moveTo>
                    <a:pt x="2797" y="47"/>
                  </a:moveTo>
                  <a:cubicBezTo>
                    <a:pt x="2797" y="72"/>
                    <a:pt x="2775" y="94"/>
                    <a:pt x="2750" y="94"/>
                  </a:cubicBezTo>
                  <a:cubicBezTo>
                    <a:pt x="2724" y="94"/>
                    <a:pt x="2703" y="72"/>
                    <a:pt x="2703" y="47"/>
                  </a:cubicBezTo>
                  <a:cubicBezTo>
                    <a:pt x="2703" y="21"/>
                    <a:pt x="2724" y="0"/>
                    <a:pt x="2750" y="0"/>
                  </a:cubicBezTo>
                  <a:cubicBezTo>
                    <a:pt x="2775" y="0"/>
                    <a:pt x="2797" y="21"/>
                    <a:pt x="2797" y="47"/>
                  </a:cubicBezTo>
                  <a:close/>
                  <a:moveTo>
                    <a:pt x="2897" y="47"/>
                  </a:moveTo>
                  <a:cubicBezTo>
                    <a:pt x="2897" y="72"/>
                    <a:pt x="2875" y="94"/>
                    <a:pt x="2850" y="94"/>
                  </a:cubicBezTo>
                  <a:cubicBezTo>
                    <a:pt x="2824" y="94"/>
                    <a:pt x="2803" y="72"/>
                    <a:pt x="2803" y="47"/>
                  </a:cubicBezTo>
                  <a:cubicBezTo>
                    <a:pt x="2803" y="21"/>
                    <a:pt x="2824" y="0"/>
                    <a:pt x="2850" y="0"/>
                  </a:cubicBezTo>
                  <a:cubicBezTo>
                    <a:pt x="2875" y="0"/>
                    <a:pt x="2897" y="21"/>
                    <a:pt x="2897" y="47"/>
                  </a:cubicBezTo>
                  <a:close/>
                  <a:moveTo>
                    <a:pt x="2997" y="47"/>
                  </a:moveTo>
                  <a:cubicBezTo>
                    <a:pt x="2997" y="72"/>
                    <a:pt x="2975" y="94"/>
                    <a:pt x="2950" y="94"/>
                  </a:cubicBezTo>
                  <a:cubicBezTo>
                    <a:pt x="2924" y="94"/>
                    <a:pt x="2903" y="72"/>
                    <a:pt x="2903" y="47"/>
                  </a:cubicBezTo>
                  <a:cubicBezTo>
                    <a:pt x="2903" y="21"/>
                    <a:pt x="2924" y="0"/>
                    <a:pt x="2950" y="0"/>
                  </a:cubicBezTo>
                  <a:cubicBezTo>
                    <a:pt x="2975" y="0"/>
                    <a:pt x="2997" y="21"/>
                    <a:pt x="2997" y="47"/>
                  </a:cubicBezTo>
                  <a:close/>
                  <a:moveTo>
                    <a:pt x="3097" y="47"/>
                  </a:moveTo>
                  <a:cubicBezTo>
                    <a:pt x="3097" y="72"/>
                    <a:pt x="3075" y="94"/>
                    <a:pt x="3050" y="94"/>
                  </a:cubicBezTo>
                  <a:cubicBezTo>
                    <a:pt x="3024" y="94"/>
                    <a:pt x="3003" y="72"/>
                    <a:pt x="3003" y="47"/>
                  </a:cubicBezTo>
                  <a:cubicBezTo>
                    <a:pt x="3003" y="21"/>
                    <a:pt x="3024" y="0"/>
                    <a:pt x="3050" y="0"/>
                  </a:cubicBezTo>
                  <a:cubicBezTo>
                    <a:pt x="3075" y="0"/>
                    <a:pt x="3097" y="21"/>
                    <a:pt x="3097" y="47"/>
                  </a:cubicBezTo>
                  <a:close/>
                  <a:moveTo>
                    <a:pt x="3197" y="47"/>
                  </a:moveTo>
                  <a:cubicBezTo>
                    <a:pt x="3197" y="72"/>
                    <a:pt x="3175" y="94"/>
                    <a:pt x="3150" y="94"/>
                  </a:cubicBezTo>
                  <a:cubicBezTo>
                    <a:pt x="3124" y="94"/>
                    <a:pt x="3103" y="72"/>
                    <a:pt x="3103" y="47"/>
                  </a:cubicBezTo>
                  <a:cubicBezTo>
                    <a:pt x="3103" y="21"/>
                    <a:pt x="3124" y="0"/>
                    <a:pt x="3150" y="0"/>
                  </a:cubicBezTo>
                  <a:cubicBezTo>
                    <a:pt x="3175" y="0"/>
                    <a:pt x="3197" y="21"/>
                    <a:pt x="3197" y="47"/>
                  </a:cubicBezTo>
                  <a:close/>
                  <a:moveTo>
                    <a:pt x="3297" y="47"/>
                  </a:moveTo>
                  <a:cubicBezTo>
                    <a:pt x="3297" y="72"/>
                    <a:pt x="3275" y="94"/>
                    <a:pt x="3250" y="94"/>
                  </a:cubicBezTo>
                  <a:cubicBezTo>
                    <a:pt x="3224" y="94"/>
                    <a:pt x="3203" y="72"/>
                    <a:pt x="3203" y="47"/>
                  </a:cubicBezTo>
                  <a:cubicBezTo>
                    <a:pt x="3203" y="21"/>
                    <a:pt x="3224" y="0"/>
                    <a:pt x="3250" y="0"/>
                  </a:cubicBezTo>
                  <a:cubicBezTo>
                    <a:pt x="3275" y="0"/>
                    <a:pt x="3297" y="21"/>
                    <a:pt x="3297" y="47"/>
                  </a:cubicBezTo>
                  <a:close/>
                  <a:moveTo>
                    <a:pt x="3397" y="47"/>
                  </a:moveTo>
                  <a:cubicBezTo>
                    <a:pt x="3397" y="72"/>
                    <a:pt x="3375" y="94"/>
                    <a:pt x="3350" y="94"/>
                  </a:cubicBezTo>
                  <a:cubicBezTo>
                    <a:pt x="3324" y="94"/>
                    <a:pt x="3303" y="72"/>
                    <a:pt x="3303" y="47"/>
                  </a:cubicBezTo>
                  <a:cubicBezTo>
                    <a:pt x="3303" y="21"/>
                    <a:pt x="3324" y="0"/>
                    <a:pt x="3350" y="0"/>
                  </a:cubicBezTo>
                  <a:cubicBezTo>
                    <a:pt x="3375" y="0"/>
                    <a:pt x="3397" y="21"/>
                    <a:pt x="3397" y="47"/>
                  </a:cubicBezTo>
                  <a:close/>
                  <a:moveTo>
                    <a:pt x="3497" y="47"/>
                  </a:moveTo>
                  <a:cubicBezTo>
                    <a:pt x="3497" y="72"/>
                    <a:pt x="3475" y="94"/>
                    <a:pt x="3450" y="94"/>
                  </a:cubicBezTo>
                  <a:cubicBezTo>
                    <a:pt x="3424" y="94"/>
                    <a:pt x="3403" y="72"/>
                    <a:pt x="3403" y="47"/>
                  </a:cubicBezTo>
                  <a:cubicBezTo>
                    <a:pt x="3403" y="21"/>
                    <a:pt x="3424" y="0"/>
                    <a:pt x="3450" y="0"/>
                  </a:cubicBezTo>
                  <a:cubicBezTo>
                    <a:pt x="3475" y="0"/>
                    <a:pt x="3497" y="21"/>
                    <a:pt x="3497" y="47"/>
                  </a:cubicBezTo>
                  <a:close/>
                  <a:moveTo>
                    <a:pt x="3597" y="47"/>
                  </a:moveTo>
                  <a:cubicBezTo>
                    <a:pt x="3597" y="72"/>
                    <a:pt x="3575" y="94"/>
                    <a:pt x="3550" y="94"/>
                  </a:cubicBezTo>
                  <a:cubicBezTo>
                    <a:pt x="3524" y="94"/>
                    <a:pt x="3503" y="72"/>
                    <a:pt x="3503" y="47"/>
                  </a:cubicBezTo>
                  <a:cubicBezTo>
                    <a:pt x="3503" y="21"/>
                    <a:pt x="3524" y="0"/>
                    <a:pt x="3550" y="0"/>
                  </a:cubicBezTo>
                  <a:cubicBezTo>
                    <a:pt x="3575" y="0"/>
                    <a:pt x="3597" y="21"/>
                    <a:pt x="3597" y="47"/>
                  </a:cubicBezTo>
                  <a:close/>
                  <a:moveTo>
                    <a:pt x="3697" y="47"/>
                  </a:moveTo>
                  <a:cubicBezTo>
                    <a:pt x="3697" y="72"/>
                    <a:pt x="3675" y="94"/>
                    <a:pt x="3650" y="94"/>
                  </a:cubicBezTo>
                  <a:cubicBezTo>
                    <a:pt x="3624" y="94"/>
                    <a:pt x="3603" y="72"/>
                    <a:pt x="3603" y="47"/>
                  </a:cubicBezTo>
                  <a:cubicBezTo>
                    <a:pt x="3603" y="21"/>
                    <a:pt x="3624" y="0"/>
                    <a:pt x="3650" y="0"/>
                  </a:cubicBezTo>
                  <a:cubicBezTo>
                    <a:pt x="3675" y="0"/>
                    <a:pt x="3697" y="21"/>
                    <a:pt x="3697" y="47"/>
                  </a:cubicBezTo>
                  <a:close/>
                  <a:moveTo>
                    <a:pt x="3797" y="47"/>
                  </a:moveTo>
                  <a:cubicBezTo>
                    <a:pt x="3797" y="72"/>
                    <a:pt x="3775" y="94"/>
                    <a:pt x="3750" y="94"/>
                  </a:cubicBezTo>
                  <a:cubicBezTo>
                    <a:pt x="3724" y="94"/>
                    <a:pt x="3703" y="72"/>
                    <a:pt x="3703" y="47"/>
                  </a:cubicBezTo>
                  <a:cubicBezTo>
                    <a:pt x="3703" y="21"/>
                    <a:pt x="3724" y="0"/>
                    <a:pt x="3750" y="0"/>
                  </a:cubicBezTo>
                  <a:cubicBezTo>
                    <a:pt x="3775" y="0"/>
                    <a:pt x="3797" y="21"/>
                    <a:pt x="3797" y="47"/>
                  </a:cubicBezTo>
                  <a:close/>
                  <a:moveTo>
                    <a:pt x="3897" y="47"/>
                  </a:moveTo>
                  <a:cubicBezTo>
                    <a:pt x="3897" y="72"/>
                    <a:pt x="3875" y="94"/>
                    <a:pt x="3850" y="94"/>
                  </a:cubicBezTo>
                  <a:cubicBezTo>
                    <a:pt x="3824" y="94"/>
                    <a:pt x="3803" y="72"/>
                    <a:pt x="3803" y="47"/>
                  </a:cubicBezTo>
                  <a:cubicBezTo>
                    <a:pt x="3803" y="21"/>
                    <a:pt x="3824" y="0"/>
                    <a:pt x="3850" y="0"/>
                  </a:cubicBezTo>
                  <a:cubicBezTo>
                    <a:pt x="3875" y="0"/>
                    <a:pt x="3897" y="21"/>
                    <a:pt x="3897" y="47"/>
                  </a:cubicBezTo>
                  <a:close/>
                  <a:moveTo>
                    <a:pt x="3997" y="47"/>
                  </a:moveTo>
                  <a:cubicBezTo>
                    <a:pt x="3997" y="72"/>
                    <a:pt x="3975" y="94"/>
                    <a:pt x="3950" y="94"/>
                  </a:cubicBezTo>
                  <a:cubicBezTo>
                    <a:pt x="3924" y="94"/>
                    <a:pt x="3903" y="72"/>
                    <a:pt x="3903" y="47"/>
                  </a:cubicBezTo>
                  <a:cubicBezTo>
                    <a:pt x="3903" y="21"/>
                    <a:pt x="3924" y="0"/>
                    <a:pt x="3950" y="0"/>
                  </a:cubicBezTo>
                  <a:cubicBezTo>
                    <a:pt x="3975" y="0"/>
                    <a:pt x="3997" y="21"/>
                    <a:pt x="3997" y="47"/>
                  </a:cubicBezTo>
                  <a:close/>
                  <a:moveTo>
                    <a:pt x="4097" y="47"/>
                  </a:moveTo>
                  <a:cubicBezTo>
                    <a:pt x="4097" y="72"/>
                    <a:pt x="4075" y="94"/>
                    <a:pt x="4050" y="94"/>
                  </a:cubicBezTo>
                  <a:cubicBezTo>
                    <a:pt x="4024" y="94"/>
                    <a:pt x="4003" y="72"/>
                    <a:pt x="4003" y="47"/>
                  </a:cubicBezTo>
                  <a:cubicBezTo>
                    <a:pt x="4003" y="21"/>
                    <a:pt x="4024" y="0"/>
                    <a:pt x="4050" y="0"/>
                  </a:cubicBezTo>
                  <a:cubicBezTo>
                    <a:pt x="4075" y="0"/>
                    <a:pt x="4097" y="21"/>
                    <a:pt x="4097" y="47"/>
                  </a:cubicBezTo>
                  <a:close/>
                  <a:moveTo>
                    <a:pt x="4197" y="47"/>
                  </a:moveTo>
                  <a:cubicBezTo>
                    <a:pt x="4197" y="72"/>
                    <a:pt x="4175" y="94"/>
                    <a:pt x="4150" y="94"/>
                  </a:cubicBezTo>
                  <a:cubicBezTo>
                    <a:pt x="4124" y="94"/>
                    <a:pt x="4103" y="72"/>
                    <a:pt x="4103" y="47"/>
                  </a:cubicBezTo>
                  <a:cubicBezTo>
                    <a:pt x="4103" y="21"/>
                    <a:pt x="4124" y="0"/>
                    <a:pt x="4150" y="0"/>
                  </a:cubicBezTo>
                  <a:cubicBezTo>
                    <a:pt x="4175" y="0"/>
                    <a:pt x="4197" y="21"/>
                    <a:pt x="4197" y="47"/>
                  </a:cubicBezTo>
                  <a:close/>
                  <a:moveTo>
                    <a:pt x="4297" y="47"/>
                  </a:moveTo>
                  <a:cubicBezTo>
                    <a:pt x="4297" y="72"/>
                    <a:pt x="4275" y="94"/>
                    <a:pt x="4250" y="94"/>
                  </a:cubicBezTo>
                  <a:cubicBezTo>
                    <a:pt x="4224" y="94"/>
                    <a:pt x="4203" y="72"/>
                    <a:pt x="4203" y="47"/>
                  </a:cubicBezTo>
                  <a:cubicBezTo>
                    <a:pt x="4203" y="21"/>
                    <a:pt x="4224" y="0"/>
                    <a:pt x="4250" y="0"/>
                  </a:cubicBezTo>
                  <a:cubicBezTo>
                    <a:pt x="4275" y="0"/>
                    <a:pt x="4297" y="21"/>
                    <a:pt x="4297" y="47"/>
                  </a:cubicBezTo>
                  <a:close/>
                  <a:moveTo>
                    <a:pt x="4397" y="47"/>
                  </a:moveTo>
                  <a:cubicBezTo>
                    <a:pt x="4397" y="72"/>
                    <a:pt x="4375" y="94"/>
                    <a:pt x="4350" y="94"/>
                  </a:cubicBezTo>
                  <a:cubicBezTo>
                    <a:pt x="4324" y="94"/>
                    <a:pt x="4303" y="72"/>
                    <a:pt x="4303" y="47"/>
                  </a:cubicBezTo>
                  <a:cubicBezTo>
                    <a:pt x="4303" y="21"/>
                    <a:pt x="4324" y="0"/>
                    <a:pt x="4350" y="0"/>
                  </a:cubicBezTo>
                  <a:cubicBezTo>
                    <a:pt x="4375" y="0"/>
                    <a:pt x="4397" y="21"/>
                    <a:pt x="4397" y="47"/>
                  </a:cubicBezTo>
                  <a:close/>
                  <a:moveTo>
                    <a:pt x="4497" y="47"/>
                  </a:moveTo>
                  <a:cubicBezTo>
                    <a:pt x="4497" y="72"/>
                    <a:pt x="4475" y="94"/>
                    <a:pt x="4450" y="94"/>
                  </a:cubicBezTo>
                  <a:cubicBezTo>
                    <a:pt x="4424" y="94"/>
                    <a:pt x="4403" y="72"/>
                    <a:pt x="4403" y="47"/>
                  </a:cubicBezTo>
                  <a:cubicBezTo>
                    <a:pt x="4403" y="21"/>
                    <a:pt x="4424" y="0"/>
                    <a:pt x="4450" y="0"/>
                  </a:cubicBezTo>
                  <a:cubicBezTo>
                    <a:pt x="4475" y="0"/>
                    <a:pt x="4497" y="21"/>
                    <a:pt x="4497" y="47"/>
                  </a:cubicBezTo>
                  <a:close/>
                  <a:moveTo>
                    <a:pt x="4597" y="47"/>
                  </a:moveTo>
                  <a:cubicBezTo>
                    <a:pt x="4597" y="72"/>
                    <a:pt x="4575" y="94"/>
                    <a:pt x="4550" y="94"/>
                  </a:cubicBezTo>
                  <a:cubicBezTo>
                    <a:pt x="4524" y="94"/>
                    <a:pt x="4503" y="72"/>
                    <a:pt x="4503" y="47"/>
                  </a:cubicBezTo>
                  <a:cubicBezTo>
                    <a:pt x="4503" y="21"/>
                    <a:pt x="4524" y="0"/>
                    <a:pt x="4550" y="0"/>
                  </a:cubicBezTo>
                  <a:cubicBezTo>
                    <a:pt x="4575" y="0"/>
                    <a:pt x="4597" y="21"/>
                    <a:pt x="4597" y="47"/>
                  </a:cubicBezTo>
                  <a:close/>
                  <a:moveTo>
                    <a:pt x="4697" y="47"/>
                  </a:moveTo>
                  <a:cubicBezTo>
                    <a:pt x="4697" y="72"/>
                    <a:pt x="4675" y="94"/>
                    <a:pt x="4650" y="94"/>
                  </a:cubicBezTo>
                  <a:cubicBezTo>
                    <a:pt x="4624" y="94"/>
                    <a:pt x="4603" y="72"/>
                    <a:pt x="4603" y="47"/>
                  </a:cubicBezTo>
                  <a:cubicBezTo>
                    <a:pt x="4603" y="21"/>
                    <a:pt x="4624" y="0"/>
                    <a:pt x="4650" y="0"/>
                  </a:cubicBezTo>
                  <a:cubicBezTo>
                    <a:pt x="4675" y="0"/>
                    <a:pt x="4697" y="21"/>
                    <a:pt x="4697" y="47"/>
                  </a:cubicBezTo>
                  <a:close/>
                  <a:moveTo>
                    <a:pt x="4797" y="47"/>
                  </a:moveTo>
                  <a:cubicBezTo>
                    <a:pt x="4797" y="72"/>
                    <a:pt x="4775" y="94"/>
                    <a:pt x="4750" y="94"/>
                  </a:cubicBezTo>
                  <a:cubicBezTo>
                    <a:pt x="4724" y="94"/>
                    <a:pt x="4703" y="72"/>
                    <a:pt x="4703" y="47"/>
                  </a:cubicBezTo>
                  <a:cubicBezTo>
                    <a:pt x="4703" y="21"/>
                    <a:pt x="4724" y="0"/>
                    <a:pt x="4750" y="0"/>
                  </a:cubicBezTo>
                  <a:cubicBezTo>
                    <a:pt x="4775" y="0"/>
                    <a:pt x="4797" y="21"/>
                    <a:pt x="4797" y="47"/>
                  </a:cubicBezTo>
                  <a:close/>
                  <a:moveTo>
                    <a:pt x="4897" y="47"/>
                  </a:moveTo>
                  <a:cubicBezTo>
                    <a:pt x="4897" y="72"/>
                    <a:pt x="4875" y="94"/>
                    <a:pt x="4850" y="94"/>
                  </a:cubicBezTo>
                  <a:cubicBezTo>
                    <a:pt x="4824" y="94"/>
                    <a:pt x="4803" y="72"/>
                    <a:pt x="4803" y="47"/>
                  </a:cubicBezTo>
                  <a:cubicBezTo>
                    <a:pt x="4803" y="21"/>
                    <a:pt x="4824" y="0"/>
                    <a:pt x="4850" y="0"/>
                  </a:cubicBezTo>
                  <a:cubicBezTo>
                    <a:pt x="4875" y="0"/>
                    <a:pt x="4897" y="21"/>
                    <a:pt x="4897" y="47"/>
                  </a:cubicBezTo>
                  <a:close/>
                  <a:moveTo>
                    <a:pt x="4997" y="47"/>
                  </a:moveTo>
                  <a:cubicBezTo>
                    <a:pt x="4997" y="72"/>
                    <a:pt x="4975" y="94"/>
                    <a:pt x="4950" y="94"/>
                  </a:cubicBezTo>
                  <a:cubicBezTo>
                    <a:pt x="4924" y="94"/>
                    <a:pt x="4903" y="72"/>
                    <a:pt x="4903" y="47"/>
                  </a:cubicBezTo>
                  <a:cubicBezTo>
                    <a:pt x="4903" y="21"/>
                    <a:pt x="4924" y="0"/>
                    <a:pt x="4950" y="0"/>
                  </a:cubicBezTo>
                  <a:cubicBezTo>
                    <a:pt x="4975" y="0"/>
                    <a:pt x="4997" y="21"/>
                    <a:pt x="4997" y="47"/>
                  </a:cubicBezTo>
                  <a:close/>
                  <a:moveTo>
                    <a:pt x="5097" y="47"/>
                  </a:moveTo>
                  <a:cubicBezTo>
                    <a:pt x="5097" y="72"/>
                    <a:pt x="5075" y="94"/>
                    <a:pt x="5050" y="94"/>
                  </a:cubicBezTo>
                  <a:cubicBezTo>
                    <a:pt x="5024" y="94"/>
                    <a:pt x="5003" y="72"/>
                    <a:pt x="5003" y="47"/>
                  </a:cubicBezTo>
                  <a:cubicBezTo>
                    <a:pt x="5003" y="21"/>
                    <a:pt x="5024" y="0"/>
                    <a:pt x="5050" y="0"/>
                  </a:cubicBezTo>
                  <a:cubicBezTo>
                    <a:pt x="5075" y="0"/>
                    <a:pt x="5097" y="21"/>
                    <a:pt x="5097" y="47"/>
                  </a:cubicBezTo>
                  <a:close/>
                  <a:moveTo>
                    <a:pt x="5197" y="47"/>
                  </a:moveTo>
                  <a:cubicBezTo>
                    <a:pt x="5197" y="72"/>
                    <a:pt x="5175" y="94"/>
                    <a:pt x="5150" y="94"/>
                  </a:cubicBezTo>
                  <a:cubicBezTo>
                    <a:pt x="5124" y="94"/>
                    <a:pt x="5103" y="72"/>
                    <a:pt x="5103" y="47"/>
                  </a:cubicBezTo>
                  <a:cubicBezTo>
                    <a:pt x="5103" y="21"/>
                    <a:pt x="5124" y="0"/>
                    <a:pt x="5150" y="0"/>
                  </a:cubicBezTo>
                  <a:cubicBezTo>
                    <a:pt x="5175" y="0"/>
                    <a:pt x="5197" y="21"/>
                    <a:pt x="5197" y="47"/>
                  </a:cubicBezTo>
                  <a:close/>
                  <a:moveTo>
                    <a:pt x="5297" y="47"/>
                  </a:moveTo>
                  <a:cubicBezTo>
                    <a:pt x="5297" y="72"/>
                    <a:pt x="5275" y="94"/>
                    <a:pt x="5250" y="94"/>
                  </a:cubicBezTo>
                  <a:cubicBezTo>
                    <a:pt x="5224" y="94"/>
                    <a:pt x="5203" y="72"/>
                    <a:pt x="5203" y="47"/>
                  </a:cubicBezTo>
                  <a:cubicBezTo>
                    <a:pt x="5203" y="21"/>
                    <a:pt x="5224" y="0"/>
                    <a:pt x="5250" y="0"/>
                  </a:cubicBezTo>
                  <a:cubicBezTo>
                    <a:pt x="5275" y="0"/>
                    <a:pt x="5297" y="21"/>
                    <a:pt x="5297" y="47"/>
                  </a:cubicBezTo>
                  <a:close/>
                  <a:moveTo>
                    <a:pt x="5397" y="47"/>
                  </a:moveTo>
                  <a:cubicBezTo>
                    <a:pt x="5397" y="72"/>
                    <a:pt x="5375" y="94"/>
                    <a:pt x="5350" y="94"/>
                  </a:cubicBezTo>
                  <a:cubicBezTo>
                    <a:pt x="5324" y="94"/>
                    <a:pt x="5303" y="72"/>
                    <a:pt x="5303" y="47"/>
                  </a:cubicBezTo>
                  <a:cubicBezTo>
                    <a:pt x="5303" y="21"/>
                    <a:pt x="5324" y="0"/>
                    <a:pt x="5350" y="0"/>
                  </a:cubicBezTo>
                  <a:cubicBezTo>
                    <a:pt x="5375" y="0"/>
                    <a:pt x="5397" y="21"/>
                    <a:pt x="5397" y="47"/>
                  </a:cubicBezTo>
                  <a:close/>
                  <a:moveTo>
                    <a:pt x="5497" y="47"/>
                  </a:moveTo>
                  <a:cubicBezTo>
                    <a:pt x="5497" y="72"/>
                    <a:pt x="5475" y="94"/>
                    <a:pt x="5450" y="94"/>
                  </a:cubicBezTo>
                  <a:cubicBezTo>
                    <a:pt x="5424" y="94"/>
                    <a:pt x="5403" y="72"/>
                    <a:pt x="5403" y="47"/>
                  </a:cubicBezTo>
                  <a:cubicBezTo>
                    <a:pt x="5403" y="21"/>
                    <a:pt x="5424" y="0"/>
                    <a:pt x="5450" y="0"/>
                  </a:cubicBezTo>
                  <a:cubicBezTo>
                    <a:pt x="5475" y="0"/>
                    <a:pt x="5497" y="21"/>
                    <a:pt x="5497" y="47"/>
                  </a:cubicBezTo>
                  <a:close/>
                  <a:moveTo>
                    <a:pt x="5597" y="47"/>
                  </a:moveTo>
                  <a:cubicBezTo>
                    <a:pt x="5597" y="72"/>
                    <a:pt x="5575" y="94"/>
                    <a:pt x="5550" y="94"/>
                  </a:cubicBezTo>
                  <a:cubicBezTo>
                    <a:pt x="5524" y="94"/>
                    <a:pt x="5503" y="72"/>
                    <a:pt x="5503" y="47"/>
                  </a:cubicBezTo>
                  <a:cubicBezTo>
                    <a:pt x="5503" y="21"/>
                    <a:pt x="5524" y="0"/>
                    <a:pt x="5550" y="0"/>
                  </a:cubicBezTo>
                  <a:cubicBezTo>
                    <a:pt x="5575" y="0"/>
                    <a:pt x="5597" y="21"/>
                    <a:pt x="5597" y="47"/>
                  </a:cubicBezTo>
                  <a:close/>
                  <a:moveTo>
                    <a:pt x="5697" y="47"/>
                  </a:moveTo>
                  <a:cubicBezTo>
                    <a:pt x="5697" y="72"/>
                    <a:pt x="5675" y="94"/>
                    <a:pt x="5650" y="94"/>
                  </a:cubicBezTo>
                  <a:cubicBezTo>
                    <a:pt x="5624" y="94"/>
                    <a:pt x="5603" y="72"/>
                    <a:pt x="5603" y="47"/>
                  </a:cubicBezTo>
                  <a:cubicBezTo>
                    <a:pt x="5603" y="21"/>
                    <a:pt x="5624" y="0"/>
                    <a:pt x="5650" y="0"/>
                  </a:cubicBezTo>
                  <a:cubicBezTo>
                    <a:pt x="5675" y="0"/>
                    <a:pt x="5697" y="21"/>
                    <a:pt x="5697" y="47"/>
                  </a:cubicBezTo>
                  <a:close/>
                  <a:moveTo>
                    <a:pt x="5797" y="47"/>
                  </a:moveTo>
                  <a:cubicBezTo>
                    <a:pt x="5797" y="72"/>
                    <a:pt x="5775" y="94"/>
                    <a:pt x="5750" y="94"/>
                  </a:cubicBezTo>
                  <a:cubicBezTo>
                    <a:pt x="5724" y="94"/>
                    <a:pt x="5703" y="72"/>
                    <a:pt x="5703" y="47"/>
                  </a:cubicBezTo>
                  <a:cubicBezTo>
                    <a:pt x="5703" y="21"/>
                    <a:pt x="5724" y="0"/>
                    <a:pt x="5750" y="0"/>
                  </a:cubicBezTo>
                  <a:cubicBezTo>
                    <a:pt x="5775" y="0"/>
                    <a:pt x="5797" y="21"/>
                    <a:pt x="5797" y="47"/>
                  </a:cubicBezTo>
                  <a:close/>
                  <a:moveTo>
                    <a:pt x="5897" y="47"/>
                  </a:moveTo>
                  <a:cubicBezTo>
                    <a:pt x="5897" y="72"/>
                    <a:pt x="5875" y="94"/>
                    <a:pt x="5850" y="94"/>
                  </a:cubicBezTo>
                  <a:cubicBezTo>
                    <a:pt x="5824" y="94"/>
                    <a:pt x="5803" y="72"/>
                    <a:pt x="5803" y="47"/>
                  </a:cubicBezTo>
                  <a:cubicBezTo>
                    <a:pt x="5803" y="21"/>
                    <a:pt x="5824" y="0"/>
                    <a:pt x="5850" y="0"/>
                  </a:cubicBezTo>
                  <a:cubicBezTo>
                    <a:pt x="5875" y="0"/>
                    <a:pt x="5897" y="21"/>
                    <a:pt x="5897" y="47"/>
                  </a:cubicBezTo>
                  <a:close/>
                  <a:moveTo>
                    <a:pt x="5997" y="47"/>
                  </a:moveTo>
                  <a:cubicBezTo>
                    <a:pt x="5997" y="72"/>
                    <a:pt x="5975" y="94"/>
                    <a:pt x="5950" y="94"/>
                  </a:cubicBezTo>
                  <a:cubicBezTo>
                    <a:pt x="5924" y="94"/>
                    <a:pt x="5903" y="72"/>
                    <a:pt x="5903" y="47"/>
                  </a:cubicBezTo>
                  <a:cubicBezTo>
                    <a:pt x="5903" y="21"/>
                    <a:pt x="5924" y="0"/>
                    <a:pt x="5950" y="0"/>
                  </a:cubicBezTo>
                  <a:cubicBezTo>
                    <a:pt x="5975" y="0"/>
                    <a:pt x="5997" y="21"/>
                    <a:pt x="5997" y="47"/>
                  </a:cubicBezTo>
                  <a:close/>
                  <a:moveTo>
                    <a:pt x="6097" y="47"/>
                  </a:moveTo>
                  <a:cubicBezTo>
                    <a:pt x="6097" y="72"/>
                    <a:pt x="6075" y="94"/>
                    <a:pt x="6050" y="94"/>
                  </a:cubicBezTo>
                  <a:cubicBezTo>
                    <a:pt x="6024" y="94"/>
                    <a:pt x="6003" y="72"/>
                    <a:pt x="6003" y="47"/>
                  </a:cubicBezTo>
                  <a:cubicBezTo>
                    <a:pt x="6003" y="21"/>
                    <a:pt x="6024" y="0"/>
                    <a:pt x="6050" y="0"/>
                  </a:cubicBezTo>
                  <a:cubicBezTo>
                    <a:pt x="6075" y="0"/>
                    <a:pt x="6097" y="21"/>
                    <a:pt x="6097" y="47"/>
                  </a:cubicBezTo>
                  <a:close/>
                  <a:moveTo>
                    <a:pt x="6197" y="47"/>
                  </a:moveTo>
                  <a:cubicBezTo>
                    <a:pt x="6197" y="72"/>
                    <a:pt x="6175" y="94"/>
                    <a:pt x="6150" y="94"/>
                  </a:cubicBezTo>
                  <a:cubicBezTo>
                    <a:pt x="6124" y="94"/>
                    <a:pt x="6103" y="72"/>
                    <a:pt x="6103" y="47"/>
                  </a:cubicBezTo>
                  <a:cubicBezTo>
                    <a:pt x="6103" y="21"/>
                    <a:pt x="6124" y="0"/>
                    <a:pt x="6150" y="0"/>
                  </a:cubicBezTo>
                  <a:cubicBezTo>
                    <a:pt x="6175" y="0"/>
                    <a:pt x="6197" y="21"/>
                    <a:pt x="6197" y="47"/>
                  </a:cubicBezTo>
                  <a:close/>
                  <a:moveTo>
                    <a:pt x="6297" y="47"/>
                  </a:moveTo>
                  <a:cubicBezTo>
                    <a:pt x="6297" y="72"/>
                    <a:pt x="6275" y="94"/>
                    <a:pt x="6250" y="94"/>
                  </a:cubicBezTo>
                  <a:cubicBezTo>
                    <a:pt x="6224" y="94"/>
                    <a:pt x="6203" y="72"/>
                    <a:pt x="6203" y="47"/>
                  </a:cubicBezTo>
                  <a:cubicBezTo>
                    <a:pt x="6203" y="21"/>
                    <a:pt x="6224" y="0"/>
                    <a:pt x="6250" y="0"/>
                  </a:cubicBezTo>
                  <a:cubicBezTo>
                    <a:pt x="6275" y="0"/>
                    <a:pt x="6297" y="21"/>
                    <a:pt x="6297" y="47"/>
                  </a:cubicBezTo>
                  <a:close/>
                  <a:moveTo>
                    <a:pt x="6397" y="47"/>
                  </a:moveTo>
                  <a:cubicBezTo>
                    <a:pt x="6397" y="72"/>
                    <a:pt x="6375" y="94"/>
                    <a:pt x="6350" y="94"/>
                  </a:cubicBezTo>
                  <a:cubicBezTo>
                    <a:pt x="6324" y="94"/>
                    <a:pt x="6303" y="72"/>
                    <a:pt x="6303" y="47"/>
                  </a:cubicBezTo>
                  <a:cubicBezTo>
                    <a:pt x="6303" y="21"/>
                    <a:pt x="6324" y="0"/>
                    <a:pt x="6350" y="0"/>
                  </a:cubicBezTo>
                  <a:cubicBezTo>
                    <a:pt x="6375" y="0"/>
                    <a:pt x="6397" y="21"/>
                    <a:pt x="6397" y="47"/>
                  </a:cubicBezTo>
                  <a:close/>
                  <a:moveTo>
                    <a:pt x="6497" y="47"/>
                  </a:moveTo>
                  <a:cubicBezTo>
                    <a:pt x="6497" y="72"/>
                    <a:pt x="6475" y="94"/>
                    <a:pt x="6450" y="94"/>
                  </a:cubicBezTo>
                  <a:cubicBezTo>
                    <a:pt x="6424" y="94"/>
                    <a:pt x="6403" y="72"/>
                    <a:pt x="6403" y="47"/>
                  </a:cubicBezTo>
                  <a:cubicBezTo>
                    <a:pt x="6403" y="21"/>
                    <a:pt x="6424" y="0"/>
                    <a:pt x="6450" y="0"/>
                  </a:cubicBezTo>
                  <a:cubicBezTo>
                    <a:pt x="6475" y="0"/>
                    <a:pt x="6497" y="21"/>
                    <a:pt x="6497" y="47"/>
                  </a:cubicBezTo>
                  <a:close/>
                  <a:moveTo>
                    <a:pt x="6597" y="47"/>
                  </a:moveTo>
                  <a:cubicBezTo>
                    <a:pt x="6597" y="72"/>
                    <a:pt x="6575" y="94"/>
                    <a:pt x="6550" y="94"/>
                  </a:cubicBezTo>
                  <a:cubicBezTo>
                    <a:pt x="6524" y="94"/>
                    <a:pt x="6503" y="72"/>
                    <a:pt x="6503" y="47"/>
                  </a:cubicBezTo>
                  <a:cubicBezTo>
                    <a:pt x="6503" y="21"/>
                    <a:pt x="6524" y="0"/>
                    <a:pt x="6550" y="0"/>
                  </a:cubicBezTo>
                  <a:cubicBezTo>
                    <a:pt x="6575" y="0"/>
                    <a:pt x="6597" y="21"/>
                    <a:pt x="6597" y="47"/>
                  </a:cubicBezTo>
                  <a:close/>
                  <a:moveTo>
                    <a:pt x="6697" y="47"/>
                  </a:moveTo>
                  <a:cubicBezTo>
                    <a:pt x="6697" y="72"/>
                    <a:pt x="6675" y="94"/>
                    <a:pt x="6650" y="94"/>
                  </a:cubicBezTo>
                  <a:cubicBezTo>
                    <a:pt x="6624" y="94"/>
                    <a:pt x="6603" y="72"/>
                    <a:pt x="6603" y="47"/>
                  </a:cubicBezTo>
                  <a:cubicBezTo>
                    <a:pt x="6603" y="21"/>
                    <a:pt x="6624" y="0"/>
                    <a:pt x="6650" y="0"/>
                  </a:cubicBezTo>
                  <a:cubicBezTo>
                    <a:pt x="6675" y="0"/>
                    <a:pt x="6697" y="21"/>
                    <a:pt x="6697" y="47"/>
                  </a:cubicBezTo>
                  <a:close/>
                  <a:moveTo>
                    <a:pt x="6797" y="47"/>
                  </a:moveTo>
                  <a:cubicBezTo>
                    <a:pt x="6797" y="72"/>
                    <a:pt x="6775" y="94"/>
                    <a:pt x="6750" y="94"/>
                  </a:cubicBezTo>
                  <a:cubicBezTo>
                    <a:pt x="6724" y="94"/>
                    <a:pt x="6703" y="72"/>
                    <a:pt x="6703" y="47"/>
                  </a:cubicBezTo>
                  <a:cubicBezTo>
                    <a:pt x="6703" y="21"/>
                    <a:pt x="6724" y="0"/>
                    <a:pt x="6750" y="0"/>
                  </a:cubicBezTo>
                  <a:cubicBezTo>
                    <a:pt x="6775" y="0"/>
                    <a:pt x="6797" y="21"/>
                    <a:pt x="6797" y="47"/>
                  </a:cubicBezTo>
                  <a:close/>
                  <a:moveTo>
                    <a:pt x="6897" y="47"/>
                  </a:moveTo>
                  <a:cubicBezTo>
                    <a:pt x="6897" y="72"/>
                    <a:pt x="6875" y="94"/>
                    <a:pt x="6850" y="94"/>
                  </a:cubicBezTo>
                  <a:cubicBezTo>
                    <a:pt x="6824" y="94"/>
                    <a:pt x="6803" y="72"/>
                    <a:pt x="6803" y="47"/>
                  </a:cubicBezTo>
                  <a:cubicBezTo>
                    <a:pt x="6803" y="21"/>
                    <a:pt x="6824" y="0"/>
                    <a:pt x="6850" y="0"/>
                  </a:cubicBezTo>
                  <a:cubicBezTo>
                    <a:pt x="6875" y="0"/>
                    <a:pt x="6897" y="21"/>
                    <a:pt x="6897" y="47"/>
                  </a:cubicBezTo>
                  <a:close/>
                  <a:moveTo>
                    <a:pt x="6997" y="47"/>
                  </a:moveTo>
                  <a:cubicBezTo>
                    <a:pt x="6997" y="72"/>
                    <a:pt x="6975" y="94"/>
                    <a:pt x="6950" y="94"/>
                  </a:cubicBezTo>
                  <a:cubicBezTo>
                    <a:pt x="6924" y="94"/>
                    <a:pt x="6903" y="72"/>
                    <a:pt x="6903" y="47"/>
                  </a:cubicBezTo>
                  <a:cubicBezTo>
                    <a:pt x="6903" y="21"/>
                    <a:pt x="6924" y="0"/>
                    <a:pt x="6950" y="0"/>
                  </a:cubicBezTo>
                  <a:cubicBezTo>
                    <a:pt x="6975" y="0"/>
                    <a:pt x="6997" y="21"/>
                    <a:pt x="6997" y="47"/>
                  </a:cubicBezTo>
                  <a:close/>
                  <a:moveTo>
                    <a:pt x="7097" y="47"/>
                  </a:moveTo>
                  <a:cubicBezTo>
                    <a:pt x="7097" y="72"/>
                    <a:pt x="7075" y="94"/>
                    <a:pt x="7050" y="94"/>
                  </a:cubicBezTo>
                  <a:cubicBezTo>
                    <a:pt x="7024" y="94"/>
                    <a:pt x="7003" y="72"/>
                    <a:pt x="7003" y="47"/>
                  </a:cubicBezTo>
                  <a:cubicBezTo>
                    <a:pt x="7003" y="21"/>
                    <a:pt x="7024" y="0"/>
                    <a:pt x="7050" y="0"/>
                  </a:cubicBezTo>
                  <a:cubicBezTo>
                    <a:pt x="7075" y="0"/>
                    <a:pt x="7097" y="21"/>
                    <a:pt x="7097" y="47"/>
                  </a:cubicBezTo>
                  <a:close/>
                  <a:moveTo>
                    <a:pt x="7197" y="47"/>
                  </a:moveTo>
                  <a:cubicBezTo>
                    <a:pt x="7197" y="72"/>
                    <a:pt x="7175" y="94"/>
                    <a:pt x="7150" y="94"/>
                  </a:cubicBezTo>
                  <a:cubicBezTo>
                    <a:pt x="7124" y="94"/>
                    <a:pt x="7103" y="72"/>
                    <a:pt x="7103" y="47"/>
                  </a:cubicBezTo>
                  <a:cubicBezTo>
                    <a:pt x="7103" y="21"/>
                    <a:pt x="7124" y="0"/>
                    <a:pt x="7150" y="0"/>
                  </a:cubicBezTo>
                  <a:cubicBezTo>
                    <a:pt x="7175" y="0"/>
                    <a:pt x="7197" y="21"/>
                    <a:pt x="7197" y="47"/>
                  </a:cubicBezTo>
                  <a:close/>
                  <a:moveTo>
                    <a:pt x="7297" y="47"/>
                  </a:moveTo>
                  <a:cubicBezTo>
                    <a:pt x="7297" y="72"/>
                    <a:pt x="7275" y="94"/>
                    <a:pt x="7250" y="94"/>
                  </a:cubicBezTo>
                  <a:cubicBezTo>
                    <a:pt x="7224" y="94"/>
                    <a:pt x="7203" y="72"/>
                    <a:pt x="7203" y="47"/>
                  </a:cubicBezTo>
                  <a:cubicBezTo>
                    <a:pt x="7203" y="21"/>
                    <a:pt x="7224" y="0"/>
                    <a:pt x="7250" y="0"/>
                  </a:cubicBezTo>
                  <a:cubicBezTo>
                    <a:pt x="7275" y="0"/>
                    <a:pt x="7297" y="21"/>
                    <a:pt x="7297" y="47"/>
                  </a:cubicBezTo>
                  <a:close/>
                  <a:moveTo>
                    <a:pt x="7397" y="47"/>
                  </a:moveTo>
                  <a:cubicBezTo>
                    <a:pt x="7397" y="72"/>
                    <a:pt x="7375" y="94"/>
                    <a:pt x="7350" y="94"/>
                  </a:cubicBezTo>
                  <a:cubicBezTo>
                    <a:pt x="7324" y="94"/>
                    <a:pt x="7303" y="72"/>
                    <a:pt x="7303" y="47"/>
                  </a:cubicBezTo>
                  <a:cubicBezTo>
                    <a:pt x="7303" y="21"/>
                    <a:pt x="7324" y="0"/>
                    <a:pt x="7350" y="0"/>
                  </a:cubicBezTo>
                  <a:cubicBezTo>
                    <a:pt x="7375" y="0"/>
                    <a:pt x="7397" y="21"/>
                    <a:pt x="7397" y="47"/>
                  </a:cubicBezTo>
                  <a:close/>
                  <a:moveTo>
                    <a:pt x="7497" y="47"/>
                  </a:moveTo>
                  <a:cubicBezTo>
                    <a:pt x="7497" y="72"/>
                    <a:pt x="7475" y="94"/>
                    <a:pt x="7450" y="94"/>
                  </a:cubicBezTo>
                  <a:cubicBezTo>
                    <a:pt x="7424" y="94"/>
                    <a:pt x="7403" y="72"/>
                    <a:pt x="7403" y="47"/>
                  </a:cubicBezTo>
                  <a:cubicBezTo>
                    <a:pt x="7403" y="21"/>
                    <a:pt x="7424" y="0"/>
                    <a:pt x="7450" y="0"/>
                  </a:cubicBezTo>
                  <a:cubicBezTo>
                    <a:pt x="7475" y="0"/>
                    <a:pt x="7497" y="21"/>
                    <a:pt x="7497" y="47"/>
                  </a:cubicBezTo>
                  <a:close/>
                  <a:moveTo>
                    <a:pt x="7597" y="47"/>
                  </a:moveTo>
                  <a:cubicBezTo>
                    <a:pt x="7597" y="72"/>
                    <a:pt x="7575" y="94"/>
                    <a:pt x="7550" y="94"/>
                  </a:cubicBezTo>
                  <a:cubicBezTo>
                    <a:pt x="7524" y="94"/>
                    <a:pt x="7503" y="72"/>
                    <a:pt x="7503" y="47"/>
                  </a:cubicBezTo>
                  <a:cubicBezTo>
                    <a:pt x="7503" y="21"/>
                    <a:pt x="7524" y="0"/>
                    <a:pt x="7550" y="0"/>
                  </a:cubicBezTo>
                  <a:cubicBezTo>
                    <a:pt x="7575" y="0"/>
                    <a:pt x="7597" y="21"/>
                    <a:pt x="7597" y="47"/>
                  </a:cubicBezTo>
                  <a:close/>
                  <a:moveTo>
                    <a:pt x="7697" y="47"/>
                  </a:moveTo>
                  <a:cubicBezTo>
                    <a:pt x="7697" y="72"/>
                    <a:pt x="7675" y="94"/>
                    <a:pt x="7650" y="94"/>
                  </a:cubicBezTo>
                  <a:cubicBezTo>
                    <a:pt x="7624" y="94"/>
                    <a:pt x="7603" y="72"/>
                    <a:pt x="7603" y="47"/>
                  </a:cubicBezTo>
                  <a:cubicBezTo>
                    <a:pt x="7603" y="21"/>
                    <a:pt x="7624" y="0"/>
                    <a:pt x="7650" y="0"/>
                  </a:cubicBezTo>
                  <a:cubicBezTo>
                    <a:pt x="7675" y="0"/>
                    <a:pt x="7697" y="21"/>
                    <a:pt x="7697" y="47"/>
                  </a:cubicBezTo>
                  <a:close/>
                  <a:moveTo>
                    <a:pt x="7797" y="47"/>
                  </a:moveTo>
                  <a:cubicBezTo>
                    <a:pt x="7797" y="72"/>
                    <a:pt x="7775" y="94"/>
                    <a:pt x="7750" y="94"/>
                  </a:cubicBezTo>
                  <a:cubicBezTo>
                    <a:pt x="7724" y="94"/>
                    <a:pt x="7703" y="72"/>
                    <a:pt x="7703" y="47"/>
                  </a:cubicBezTo>
                  <a:cubicBezTo>
                    <a:pt x="7703" y="21"/>
                    <a:pt x="7724" y="0"/>
                    <a:pt x="7750" y="0"/>
                  </a:cubicBezTo>
                  <a:cubicBezTo>
                    <a:pt x="7775" y="0"/>
                    <a:pt x="7797" y="21"/>
                    <a:pt x="7797" y="47"/>
                  </a:cubicBezTo>
                  <a:close/>
                  <a:moveTo>
                    <a:pt x="7897" y="47"/>
                  </a:moveTo>
                  <a:cubicBezTo>
                    <a:pt x="7897" y="72"/>
                    <a:pt x="7875" y="94"/>
                    <a:pt x="7850" y="94"/>
                  </a:cubicBezTo>
                  <a:cubicBezTo>
                    <a:pt x="7824" y="94"/>
                    <a:pt x="7803" y="72"/>
                    <a:pt x="7803" y="47"/>
                  </a:cubicBezTo>
                  <a:cubicBezTo>
                    <a:pt x="7803" y="21"/>
                    <a:pt x="7824" y="0"/>
                    <a:pt x="7850" y="0"/>
                  </a:cubicBezTo>
                  <a:cubicBezTo>
                    <a:pt x="7875" y="0"/>
                    <a:pt x="7897" y="21"/>
                    <a:pt x="7897" y="47"/>
                  </a:cubicBezTo>
                  <a:close/>
                  <a:moveTo>
                    <a:pt x="97" y="353"/>
                  </a:moveTo>
                  <a:cubicBezTo>
                    <a:pt x="97" y="378"/>
                    <a:pt x="75" y="400"/>
                    <a:pt x="50" y="400"/>
                  </a:cubicBezTo>
                  <a:cubicBezTo>
                    <a:pt x="24" y="400"/>
                    <a:pt x="3" y="378"/>
                    <a:pt x="3" y="353"/>
                  </a:cubicBezTo>
                  <a:cubicBezTo>
                    <a:pt x="3" y="327"/>
                    <a:pt x="24" y="306"/>
                    <a:pt x="50" y="306"/>
                  </a:cubicBezTo>
                  <a:cubicBezTo>
                    <a:pt x="75" y="306"/>
                    <a:pt x="97" y="327"/>
                    <a:pt x="97" y="353"/>
                  </a:cubicBezTo>
                  <a:close/>
                  <a:moveTo>
                    <a:pt x="197" y="353"/>
                  </a:moveTo>
                  <a:cubicBezTo>
                    <a:pt x="197" y="378"/>
                    <a:pt x="175" y="400"/>
                    <a:pt x="150" y="400"/>
                  </a:cubicBezTo>
                  <a:cubicBezTo>
                    <a:pt x="124" y="400"/>
                    <a:pt x="103" y="378"/>
                    <a:pt x="103" y="353"/>
                  </a:cubicBezTo>
                  <a:cubicBezTo>
                    <a:pt x="103" y="327"/>
                    <a:pt x="124" y="306"/>
                    <a:pt x="150" y="306"/>
                  </a:cubicBezTo>
                  <a:cubicBezTo>
                    <a:pt x="175" y="306"/>
                    <a:pt x="197" y="327"/>
                    <a:pt x="197" y="353"/>
                  </a:cubicBezTo>
                  <a:close/>
                  <a:moveTo>
                    <a:pt x="297" y="353"/>
                  </a:moveTo>
                  <a:cubicBezTo>
                    <a:pt x="297" y="378"/>
                    <a:pt x="275" y="400"/>
                    <a:pt x="250" y="400"/>
                  </a:cubicBezTo>
                  <a:cubicBezTo>
                    <a:pt x="224" y="400"/>
                    <a:pt x="203" y="378"/>
                    <a:pt x="203" y="353"/>
                  </a:cubicBezTo>
                  <a:cubicBezTo>
                    <a:pt x="203" y="327"/>
                    <a:pt x="224" y="306"/>
                    <a:pt x="250" y="306"/>
                  </a:cubicBezTo>
                  <a:cubicBezTo>
                    <a:pt x="275" y="306"/>
                    <a:pt x="297" y="327"/>
                    <a:pt x="297" y="353"/>
                  </a:cubicBezTo>
                  <a:close/>
                  <a:moveTo>
                    <a:pt x="397" y="353"/>
                  </a:moveTo>
                  <a:cubicBezTo>
                    <a:pt x="397" y="378"/>
                    <a:pt x="375" y="400"/>
                    <a:pt x="350" y="400"/>
                  </a:cubicBezTo>
                  <a:cubicBezTo>
                    <a:pt x="324" y="400"/>
                    <a:pt x="303" y="378"/>
                    <a:pt x="303" y="353"/>
                  </a:cubicBezTo>
                  <a:cubicBezTo>
                    <a:pt x="303" y="327"/>
                    <a:pt x="324" y="306"/>
                    <a:pt x="350" y="306"/>
                  </a:cubicBezTo>
                  <a:cubicBezTo>
                    <a:pt x="375" y="306"/>
                    <a:pt x="397" y="327"/>
                    <a:pt x="397" y="353"/>
                  </a:cubicBezTo>
                  <a:close/>
                  <a:moveTo>
                    <a:pt x="497" y="353"/>
                  </a:moveTo>
                  <a:cubicBezTo>
                    <a:pt x="497" y="378"/>
                    <a:pt x="475" y="400"/>
                    <a:pt x="450" y="400"/>
                  </a:cubicBezTo>
                  <a:cubicBezTo>
                    <a:pt x="424" y="400"/>
                    <a:pt x="403" y="378"/>
                    <a:pt x="403" y="353"/>
                  </a:cubicBezTo>
                  <a:cubicBezTo>
                    <a:pt x="403" y="327"/>
                    <a:pt x="424" y="306"/>
                    <a:pt x="450" y="306"/>
                  </a:cubicBezTo>
                  <a:cubicBezTo>
                    <a:pt x="475" y="306"/>
                    <a:pt x="497" y="327"/>
                    <a:pt x="497" y="353"/>
                  </a:cubicBezTo>
                  <a:close/>
                  <a:moveTo>
                    <a:pt x="597" y="353"/>
                  </a:moveTo>
                  <a:cubicBezTo>
                    <a:pt x="597" y="378"/>
                    <a:pt x="575" y="400"/>
                    <a:pt x="550" y="400"/>
                  </a:cubicBezTo>
                  <a:cubicBezTo>
                    <a:pt x="524" y="400"/>
                    <a:pt x="503" y="378"/>
                    <a:pt x="503" y="353"/>
                  </a:cubicBezTo>
                  <a:cubicBezTo>
                    <a:pt x="503" y="327"/>
                    <a:pt x="524" y="306"/>
                    <a:pt x="550" y="306"/>
                  </a:cubicBezTo>
                  <a:cubicBezTo>
                    <a:pt x="575" y="306"/>
                    <a:pt x="597" y="327"/>
                    <a:pt x="597" y="353"/>
                  </a:cubicBezTo>
                  <a:close/>
                  <a:moveTo>
                    <a:pt x="697" y="353"/>
                  </a:moveTo>
                  <a:cubicBezTo>
                    <a:pt x="697" y="378"/>
                    <a:pt x="675" y="400"/>
                    <a:pt x="650" y="400"/>
                  </a:cubicBezTo>
                  <a:cubicBezTo>
                    <a:pt x="624" y="400"/>
                    <a:pt x="603" y="378"/>
                    <a:pt x="603" y="353"/>
                  </a:cubicBezTo>
                  <a:cubicBezTo>
                    <a:pt x="603" y="327"/>
                    <a:pt x="624" y="306"/>
                    <a:pt x="650" y="306"/>
                  </a:cubicBezTo>
                  <a:cubicBezTo>
                    <a:pt x="675" y="306"/>
                    <a:pt x="697" y="327"/>
                    <a:pt x="697" y="353"/>
                  </a:cubicBezTo>
                  <a:close/>
                  <a:moveTo>
                    <a:pt x="797" y="353"/>
                  </a:moveTo>
                  <a:cubicBezTo>
                    <a:pt x="797" y="378"/>
                    <a:pt x="775" y="400"/>
                    <a:pt x="750" y="400"/>
                  </a:cubicBezTo>
                  <a:cubicBezTo>
                    <a:pt x="724" y="400"/>
                    <a:pt x="703" y="378"/>
                    <a:pt x="703" y="353"/>
                  </a:cubicBezTo>
                  <a:cubicBezTo>
                    <a:pt x="703" y="327"/>
                    <a:pt x="724" y="306"/>
                    <a:pt x="750" y="306"/>
                  </a:cubicBezTo>
                  <a:cubicBezTo>
                    <a:pt x="775" y="306"/>
                    <a:pt x="797" y="327"/>
                    <a:pt x="797" y="353"/>
                  </a:cubicBezTo>
                  <a:close/>
                  <a:moveTo>
                    <a:pt x="897" y="353"/>
                  </a:moveTo>
                  <a:cubicBezTo>
                    <a:pt x="897" y="378"/>
                    <a:pt x="875" y="400"/>
                    <a:pt x="850" y="400"/>
                  </a:cubicBezTo>
                  <a:cubicBezTo>
                    <a:pt x="824" y="400"/>
                    <a:pt x="803" y="378"/>
                    <a:pt x="803" y="353"/>
                  </a:cubicBezTo>
                  <a:cubicBezTo>
                    <a:pt x="803" y="327"/>
                    <a:pt x="824" y="306"/>
                    <a:pt x="850" y="306"/>
                  </a:cubicBezTo>
                  <a:cubicBezTo>
                    <a:pt x="875" y="306"/>
                    <a:pt x="897" y="327"/>
                    <a:pt x="897" y="353"/>
                  </a:cubicBezTo>
                  <a:close/>
                  <a:moveTo>
                    <a:pt x="997" y="353"/>
                  </a:moveTo>
                  <a:cubicBezTo>
                    <a:pt x="997" y="378"/>
                    <a:pt x="975" y="400"/>
                    <a:pt x="950" y="400"/>
                  </a:cubicBezTo>
                  <a:cubicBezTo>
                    <a:pt x="924" y="400"/>
                    <a:pt x="903" y="378"/>
                    <a:pt x="903" y="353"/>
                  </a:cubicBezTo>
                  <a:cubicBezTo>
                    <a:pt x="903" y="327"/>
                    <a:pt x="924" y="306"/>
                    <a:pt x="950" y="306"/>
                  </a:cubicBezTo>
                  <a:cubicBezTo>
                    <a:pt x="975" y="306"/>
                    <a:pt x="997" y="327"/>
                    <a:pt x="997" y="353"/>
                  </a:cubicBezTo>
                  <a:close/>
                  <a:moveTo>
                    <a:pt x="1097" y="353"/>
                  </a:moveTo>
                  <a:cubicBezTo>
                    <a:pt x="1097" y="378"/>
                    <a:pt x="1075" y="400"/>
                    <a:pt x="1050" y="400"/>
                  </a:cubicBezTo>
                  <a:cubicBezTo>
                    <a:pt x="1024" y="400"/>
                    <a:pt x="1003" y="378"/>
                    <a:pt x="1003" y="353"/>
                  </a:cubicBezTo>
                  <a:cubicBezTo>
                    <a:pt x="1003" y="327"/>
                    <a:pt x="1024" y="306"/>
                    <a:pt x="1050" y="306"/>
                  </a:cubicBezTo>
                  <a:cubicBezTo>
                    <a:pt x="1075" y="306"/>
                    <a:pt x="1097" y="327"/>
                    <a:pt x="1097" y="353"/>
                  </a:cubicBezTo>
                  <a:close/>
                  <a:moveTo>
                    <a:pt x="1197" y="353"/>
                  </a:moveTo>
                  <a:cubicBezTo>
                    <a:pt x="1197" y="378"/>
                    <a:pt x="1175" y="400"/>
                    <a:pt x="1150" y="400"/>
                  </a:cubicBezTo>
                  <a:cubicBezTo>
                    <a:pt x="1124" y="400"/>
                    <a:pt x="1103" y="378"/>
                    <a:pt x="1103" y="353"/>
                  </a:cubicBezTo>
                  <a:cubicBezTo>
                    <a:pt x="1103" y="327"/>
                    <a:pt x="1124" y="306"/>
                    <a:pt x="1150" y="306"/>
                  </a:cubicBezTo>
                  <a:cubicBezTo>
                    <a:pt x="1175" y="306"/>
                    <a:pt x="1197" y="327"/>
                    <a:pt x="1197" y="353"/>
                  </a:cubicBezTo>
                  <a:close/>
                  <a:moveTo>
                    <a:pt x="1297" y="353"/>
                  </a:moveTo>
                  <a:cubicBezTo>
                    <a:pt x="1297" y="378"/>
                    <a:pt x="1275" y="400"/>
                    <a:pt x="1250" y="400"/>
                  </a:cubicBezTo>
                  <a:cubicBezTo>
                    <a:pt x="1224" y="400"/>
                    <a:pt x="1203" y="378"/>
                    <a:pt x="1203" y="353"/>
                  </a:cubicBezTo>
                  <a:cubicBezTo>
                    <a:pt x="1203" y="327"/>
                    <a:pt x="1224" y="306"/>
                    <a:pt x="1250" y="306"/>
                  </a:cubicBezTo>
                  <a:cubicBezTo>
                    <a:pt x="1275" y="306"/>
                    <a:pt x="1297" y="327"/>
                    <a:pt x="1297" y="353"/>
                  </a:cubicBezTo>
                  <a:close/>
                  <a:moveTo>
                    <a:pt x="1397" y="353"/>
                  </a:moveTo>
                  <a:cubicBezTo>
                    <a:pt x="1397" y="378"/>
                    <a:pt x="1375" y="400"/>
                    <a:pt x="1350" y="400"/>
                  </a:cubicBezTo>
                  <a:cubicBezTo>
                    <a:pt x="1324" y="400"/>
                    <a:pt x="1303" y="378"/>
                    <a:pt x="1303" y="353"/>
                  </a:cubicBezTo>
                  <a:cubicBezTo>
                    <a:pt x="1303" y="327"/>
                    <a:pt x="1324" y="306"/>
                    <a:pt x="1350" y="306"/>
                  </a:cubicBezTo>
                  <a:cubicBezTo>
                    <a:pt x="1375" y="306"/>
                    <a:pt x="1397" y="327"/>
                    <a:pt x="1397" y="353"/>
                  </a:cubicBezTo>
                  <a:close/>
                  <a:moveTo>
                    <a:pt x="1497" y="353"/>
                  </a:moveTo>
                  <a:cubicBezTo>
                    <a:pt x="1497" y="378"/>
                    <a:pt x="1475" y="400"/>
                    <a:pt x="1450" y="400"/>
                  </a:cubicBezTo>
                  <a:cubicBezTo>
                    <a:pt x="1424" y="400"/>
                    <a:pt x="1403" y="378"/>
                    <a:pt x="1403" y="353"/>
                  </a:cubicBezTo>
                  <a:cubicBezTo>
                    <a:pt x="1403" y="327"/>
                    <a:pt x="1424" y="306"/>
                    <a:pt x="1450" y="306"/>
                  </a:cubicBezTo>
                  <a:cubicBezTo>
                    <a:pt x="1475" y="306"/>
                    <a:pt x="1497" y="327"/>
                    <a:pt x="1497" y="353"/>
                  </a:cubicBezTo>
                  <a:close/>
                  <a:moveTo>
                    <a:pt x="1597" y="353"/>
                  </a:moveTo>
                  <a:cubicBezTo>
                    <a:pt x="1597" y="378"/>
                    <a:pt x="1575" y="400"/>
                    <a:pt x="1550" y="400"/>
                  </a:cubicBezTo>
                  <a:cubicBezTo>
                    <a:pt x="1524" y="400"/>
                    <a:pt x="1503" y="378"/>
                    <a:pt x="1503" y="353"/>
                  </a:cubicBezTo>
                  <a:cubicBezTo>
                    <a:pt x="1503" y="327"/>
                    <a:pt x="1524" y="306"/>
                    <a:pt x="1550" y="306"/>
                  </a:cubicBezTo>
                  <a:cubicBezTo>
                    <a:pt x="1575" y="306"/>
                    <a:pt x="1597" y="327"/>
                    <a:pt x="1597" y="353"/>
                  </a:cubicBezTo>
                  <a:close/>
                  <a:moveTo>
                    <a:pt x="1697" y="353"/>
                  </a:moveTo>
                  <a:cubicBezTo>
                    <a:pt x="1697" y="378"/>
                    <a:pt x="1675" y="400"/>
                    <a:pt x="1650" y="400"/>
                  </a:cubicBezTo>
                  <a:cubicBezTo>
                    <a:pt x="1624" y="400"/>
                    <a:pt x="1603" y="378"/>
                    <a:pt x="1603" y="353"/>
                  </a:cubicBezTo>
                  <a:cubicBezTo>
                    <a:pt x="1603" y="327"/>
                    <a:pt x="1624" y="306"/>
                    <a:pt x="1650" y="306"/>
                  </a:cubicBezTo>
                  <a:cubicBezTo>
                    <a:pt x="1675" y="306"/>
                    <a:pt x="1697" y="327"/>
                    <a:pt x="1697" y="353"/>
                  </a:cubicBezTo>
                  <a:close/>
                  <a:moveTo>
                    <a:pt x="1797" y="353"/>
                  </a:moveTo>
                  <a:cubicBezTo>
                    <a:pt x="1797" y="378"/>
                    <a:pt x="1775" y="400"/>
                    <a:pt x="1750" y="400"/>
                  </a:cubicBezTo>
                  <a:cubicBezTo>
                    <a:pt x="1724" y="400"/>
                    <a:pt x="1703" y="378"/>
                    <a:pt x="1703" y="353"/>
                  </a:cubicBezTo>
                  <a:cubicBezTo>
                    <a:pt x="1703" y="327"/>
                    <a:pt x="1724" y="306"/>
                    <a:pt x="1750" y="306"/>
                  </a:cubicBezTo>
                  <a:cubicBezTo>
                    <a:pt x="1775" y="306"/>
                    <a:pt x="1797" y="327"/>
                    <a:pt x="1797" y="353"/>
                  </a:cubicBezTo>
                  <a:close/>
                  <a:moveTo>
                    <a:pt x="1897" y="353"/>
                  </a:moveTo>
                  <a:cubicBezTo>
                    <a:pt x="1897" y="378"/>
                    <a:pt x="1875" y="400"/>
                    <a:pt x="1850" y="400"/>
                  </a:cubicBezTo>
                  <a:cubicBezTo>
                    <a:pt x="1824" y="400"/>
                    <a:pt x="1803" y="378"/>
                    <a:pt x="1803" y="353"/>
                  </a:cubicBezTo>
                  <a:cubicBezTo>
                    <a:pt x="1803" y="327"/>
                    <a:pt x="1824" y="306"/>
                    <a:pt x="1850" y="306"/>
                  </a:cubicBezTo>
                  <a:cubicBezTo>
                    <a:pt x="1875" y="306"/>
                    <a:pt x="1897" y="327"/>
                    <a:pt x="1897" y="353"/>
                  </a:cubicBezTo>
                  <a:close/>
                  <a:moveTo>
                    <a:pt x="1997" y="353"/>
                  </a:moveTo>
                  <a:cubicBezTo>
                    <a:pt x="1997" y="378"/>
                    <a:pt x="1975" y="400"/>
                    <a:pt x="1950" y="400"/>
                  </a:cubicBezTo>
                  <a:cubicBezTo>
                    <a:pt x="1924" y="400"/>
                    <a:pt x="1903" y="378"/>
                    <a:pt x="1903" y="353"/>
                  </a:cubicBezTo>
                  <a:cubicBezTo>
                    <a:pt x="1903" y="327"/>
                    <a:pt x="1924" y="306"/>
                    <a:pt x="1950" y="306"/>
                  </a:cubicBezTo>
                  <a:cubicBezTo>
                    <a:pt x="1975" y="306"/>
                    <a:pt x="1997" y="327"/>
                    <a:pt x="1997" y="353"/>
                  </a:cubicBezTo>
                  <a:close/>
                  <a:moveTo>
                    <a:pt x="2097" y="353"/>
                  </a:moveTo>
                  <a:cubicBezTo>
                    <a:pt x="2097" y="378"/>
                    <a:pt x="2075" y="400"/>
                    <a:pt x="2050" y="400"/>
                  </a:cubicBezTo>
                  <a:cubicBezTo>
                    <a:pt x="2024" y="400"/>
                    <a:pt x="2003" y="378"/>
                    <a:pt x="2003" y="353"/>
                  </a:cubicBezTo>
                  <a:cubicBezTo>
                    <a:pt x="2003" y="327"/>
                    <a:pt x="2024" y="306"/>
                    <a:pt x="2050" y="306"/>
                  </a:cubicBezTo>
                  <a:cubicBezTo>
                    <a:pt x="2075" y="306"/>
                    <a:pt x="2097" y="327"/>
                    <a:pt x="2097" y="353"/>
                  </a:cubicBezTo>
                  <a:close/>
                  <a:moveTo>
                    <a:pt x="2197" y="353"/>
                  </a:moveTo>
                  <a:cubicBezTo>
                    <a:pt x="2197" y="378"/>
                    <a:pt x="2175" y="400"/>
                    <a:pt x="2150" y="400"/>
                  </a:cubicBezTo>
                  <a:cubicBezTo>
                    <a:pt x="2124" y="400"/>
                    <a:pt x="2103" y="378"/>
                    <a:pt x="2103" y="353"/>
                  </a:cubicBezTo>
                  <a:cubicBezTo>
                    <a:pt x="2103" y="327"/>
                    <a:pt x="2124" y="306"/>
                    <a:pt x="2150" y="306"/>
                  </a:cubicBezTo>
                  <a:cubicBezTo>
                    <a:pt x="2175" y="306"/>
                    <a:pt x="2197" y="327"/>
                    <a:pt x="2197" y="353"/>
                  </a:cubicBezTo>
                  <a:close/>
                  <a:moveTo>
                    <a:pt x="2297" y="353"/>
                  </a:moveTo>
                  <a:cubicBezTo>
                    <a:pt x="2297" y="378"/>
                    <a:pt x="2275" y="400"/>
                    <a:pt x="2250" y="400"/>
                  </a:cubicBezTo>
                  <a:cubicBezTo>
                    <a:pt x="2224" y="400"/>
                    <a:pt x="2203" y="378"/>
                    <a:pt x="2203" y="353"/>
                  </a:cubicBezTo>
                  <a:cubicBezTo>
                    <a:pt x="2203" y="327"/>
                    <a:pt x="2224" y="306"/>
                    <a:pt x="2250" y="306"/>
                  </a:cubicBezTo>
                  <a:cubicBezTo>
                    <a:pt x="2275" y="306"/>
                    <a:pt x="2297" y="327"/>
                    <a:pt x="2297" y="353"/>
                  </a:cubicBezTo>
                  <a:close/>
                  <a:moveTo>
                    <a:pt x="2397" y="353"/>
                  </a:moveTo>
                  <a:cubicBezTo>
                    <a:pt x="2397" y="378"/>
                    <a:pt x="2375" y="400"/>
                    <a:pt x="2350" y="400"/>
                  </a:cubicBezTo>
                  <a:cubicBezTo>
                    <a:pt x="2324" y="400"/>
                    <a:pt x="2303" y="378"/>
                    <a:pt x="2303" y="353"/>
                  </a:cubicBezTo>
                  <a:cubicBezTo>
                    <a:pt x="2303" y="327"/>
                    <a:pt x="2324" y="306"/>
                    <a:pt x="2350" y="306"/>
                  </a:cubicBezTo>
                  <a:cubicBezTo>
                    <a:pt x="2375" y="306"/>
                    <a:pt x="2397" y="327"/>
                    <a:pt x="2397" y="353"/>
                  </a:cubicBezTo>
                  <a:close/>
                  <a:moveTo>
                    <a:pt x="2497" y="353"/>
                  </a:moveTo>
                  <a:cubicBezTo>
                    <a:pt x="2497" y="378"/>
                    <a:pt x="2475" y="400"/>
                    <a:pt x="2450" y="400"/>
                  </a:cubicBezTo>
                  <a:cubicBezTo>
                    <a:pt x="2424" y="400"/>
                    <a:pt x="2403" y="378"/>
                    <a:pt x="2403" y="353"/>
                  </a:cubicBezTo>
                  <a:cubicBezTo>
                    <a:pt x="2403" y="327"/>
                    <a:pt x="2424" y="306"/>
                    <a:pt x="2450" y="306"/>
                  </a:cubicBezTo>
                  <a:cubicBezTo>
                    <a:pt x="2475" y="306"/>
                    <a:pt x="2497" y="327"/>
                    <a:pt x="2497" y="353"/>
                  </a:cubicBezTo>
                  <a:close/>
                  <a:moveTo>
                    <a:pt x="2597" y="353"/>
                  </a:moveTo>
                  <a:cubicBezTo>
                    <a:pt x="2597" y="378"/>
                    <a:pt x="2575" y="400"/>
                    <a:pt x="2550" y="400"/>
                  </a:cubicBezTo>
                  <a:cubicBezTo>
                    <a:pt x="2524" y="400"/>
                    <a:pt x="2503" y="378"/>
                    <a:pt x="2503" y="353"/>
                  </a:cubicBezTo>
                  <a:cubicBezTo>
                    <a:pt x="2503" y="327"/>
                    <a:pt x="2524" y="306"/>
                    <a:pt x="2550" y="306"/>
                  </a:cubicBezTo>
                  <a:cubicBezTo>
                    <a:pt x="2575" y="306"/>
                    <a:pt x="2597" y="327"/>
                    <a:pt x="2597" y="353"/>
                  </a:cubicBezTo>
                  <a:close/>
                  <a:moveTo>
                    <a:pt x="2697" y="353"/>
                  </a:moveTo>
                  <a:cubicBezTo>
                    <a:pt x="2697" y="378"/>
                    <a:pt x="2675" y="400"/>
                    <a:pt x="2650" y="400"/>
                  </a:cubicBezTo>
                  <a:cubicBezTo>
                    <a:pt x="2624" y="400"/>
                    <a:pt x="2603" y="378"/>
                    <a:pt x="2603" y="353"/>
                  </a:cubicBezTo>
                  <a:cubicBezTo>
                    <a:pt x="2603" y="327"/>
                    <a:pt x="2624" y="306"/>
                    <a:pt x="2650" y="306"/>
                  </a:cubicBezTo>
                  <a:cubicBezTo>
                    <a:pt x="2675" y="306"/>
                    <a:pt x="2697" y="327"/>
                    <a:pt x="2697" y="353"/>
                  </a:cubicBezTo>
                  <a:close/>
                  <a:moveTo>
                    <a:pt x="2797" y="353"/>
                  </a:moveTo>
                  <a:cubicBezTo>
                    <a:pt x="2797" y="378"/>
                    <a:pt x="2775" y="400"/>
                    <a:pt x="2750" y="400"/>
                  </a:cubicBezTo>
                  <a:cubicBezTo>
                    <a:pt x="2724" y="400"/>
                    <a:pt x="2703" y="378"/>
                    <a:pt x="2703" y="353"/>
                  </a:cubicBezTo>
                  <a:cubicBezTo>
                    <a:pt x="2703" y="327"/>
                    <a:pt x="2724" y="306"/>
                    <a:pt x="2750" y="306"/>
                  </a:cubicBezTo>
                  <a:cubicBezTo>
                    <a:pt x="2775" y="306"/>
                    <a:pt x="2797" y="327"/>
                    <a:pt x="2797" y="353"/>
                  </a:cubicBezTo>
                  <a:close/>
                  <a:moveTo>
                    <a:pt x="2897" y="353"/>
                  </a:moveTo>
                  <a:cubicBezTo>
                    <a:pt x="2897" y="378"/>
                    <a:pt x="2875" y="400"/>
                    <a:pt x="2850" y="400"/>
                  </a:cubicBezTo>
                  <a:cubicBezTo>
                    <a:pt x="2824" y="400"/>
                    <a:pt x="2803" y="378"/>
                    <a:pt x="2803" y="353"/>
                  </a:cubicBezTo>
                  <a:cubicBezTo>
                    <a:pt x="2803" y="327"/>
                    <a:pt x="2824" y="306"/>
                    <a:pt x="2850" y="306"/>
                  </a:cubicBezTo>
                  <a:cubicBezTo>
                    <a:pt x="2875" y="306"/>
                    <a:pt x="2897" y="327"/>
                    <a:pt x="2897" y="353"/>
                  </a:cubicBezTo>
                  <a:close/>
                  <a:moveTo>
                    <a:pt x="2997" y="353"/>
                  </a:moveTo>
                  <a:cubicBezTo>
                    <a:pt x="2997" y="378"/>
                    <a:pt x="2975" y="400"/>
                    <a:pt x="2950" y="400"/>
                  </a:cubicBezTo>
                  <a:cubicBezTo>
                    <a:pt x="2924" y="400"/>
                    <a:pt x="2903" y="378"/>
                    <a:pt x="2903" y="353"/>
                  </a:cubicBezTo>
                  <a:cubicBezTo>
                    <a:pt x="2903" y="327"/>
                    <a:pt x="2924" y="306"/>
                    <a:pt x="2950" y="306"/>
                  </a:cubicBezTo>
                  <a:cubicBezTo>
                    <a:pt x="2975" y="306"/>
                    <a:pt x="2997" y="327"/>
                    <a:pt x="2997" y="353"/>
                  </a:cubicBezTo>
                  <a:close/>
                  <a:moveTo>
                    <a:pt x="3097" y="353"/>
                  </a:moveTo>
                  <a:cubicBezTo>
                    <a:pt x="3097" y="378"/>
                    <a:pt x="3075" y="400"/>
                    <a:pt x="3050" y="400"/>
                  </a:cubicBezTo>
                  <a:cubicBezTo>
                    <a:pt x="3024" y="400"/>
                    <a:pt x="3003" y="378"/>
                    <a:pt x="3003" y="353"/>
                  </a:cubicBezTo>
                  <a:cubicBezTo>
                    <a:pt x="3003" y="327"/>
                    <a:pt x="3024" y="306"/>
                    <a:pt x="3050" y="306"/>
                  </a:cubicBezTo>
                  <a:cubicBezTo>
                    <a:pt x="3075" y="306"/>
                    <a:pt x="3097" y="327"/>
                    <a:pt x="3097" y="353"/>
                  </a:cubicBezTo>
                  <a:close/>
                  <a:moveTo>
                    <a:pt x="3197" y="353"/>
                  </a:moveTo>
                  <a:cubicBezTo>
                    <a:pt x="3197" y="378"/>
                    <a:pt x="3175" y="400"/>
                    <a:pt x="3150" y="400"/>
                  </a:cubicBezTo>
                  <a:cubicBezTo>
                    <a:pt x="3124" y="400"/>
                    <a:pt x="3103" y="378"/>
                    <a:pt x="3103" y="353"/>
                  </a:cubicBezTo>
                  <a:cubicBezTo>
                    <a:pt x="3103" y="327"/>
                    <a:pt x="3124" y="306"/>
                    <a:pt x="3150" y="306"/>
                  </a:cubicBezTo>
                  <a:cubicBezTo>
                    <a:pt x="3175" y="306"/>
                    <a:pt x="3197" y="327"/>
                    <a:pt x="3197" y="353"/>
                  </a:cubicBezTo>
                  <a:close/>
                  <a:moveTo>
                    <a:pt x="3297" y="353"/>
                  </a:moveTo>
                  <a:cubicBezTo>
                    <a:pt x="3297" y="378"/>
                    <a:pt x="3275" y="400"/>
                    <a:pt x="3250" y="400"/>
                  </a:cubicBezTo>
                  <a:cubicBezTo>
                    <a:pt x="3224" y="400"/>
                    <a:pt x="3203" y="378"/>
                    <a:pt x="3203" y="353"/>
                  </a:cubicBezTo>
                  <a:cubicBezTo>
                    <a:pt x="3203" y="327"/>
                    <a:pt x="3224" y="306"/>
                    <a:pt x="3250" y="306"/>
                  </a:cubicBezTo>
                  <a:cubicBezTo>
                    <a:pt x="3275" y="306"/>
                    <a:pt x="3297" y="327"/>
                    <a:pt x="3297" y="353"/>
                  </a:cubicBezTo>
                  <a:close/>
                  <a:moveTo>
                    <a:pt x="3397" y="353"/>
                  </a:moveTo>
                  <a:cubicBezTo>
                    <a:pt x="3397" y="378"/>
                    <a:pt x="3375" y="400"/>
                    <a:pt x="3350" y="400"/>
                  </a:cubicBezTo>
                  <a:cubicBezTo>
                    <a:pt x="3324" y="400"/>
                    <a:pt x="3303" y="378"/>
                    <a:pt x="3303" y="353"/>
                  </a:cubicBezTo>
                  <a:cubicBezTo>
                    <a:pt x="3303" y="327"/>
                    <a:pt x="3324" y="306"/>
                    <a:pt x="3350" y="306"/>
                  </a:cubicBezTo>
                  <a:cubicBezTo>
                    <a:pt x="3375" y="306"/>
                    <a:pt x="3397" y="327"/>
                    <a:pt x="3397" y="353"/>
                  </a:cubicBezTo>
                  <a:close/>
                  <a:moveTo>
                    <a:pt x="3497" y="353"/>
                  </a:moveTo>
                  <a:cubicBezTo>
                    <a:pt x="3497" y="378"/>
                    <a:pt x="3475" y="400"/>
                    <a:pt x="3450" y="400"/>
                  </a:cubicBezTo>
                  <a:cubicBezTo>
                    <a:pt x="3424" y="400"/>
                    <a:pt x="3403" y="378"/>
                    <a:pt x="3403" y="353"/>
                  </a:cubicBezTo>
                  <a:cubicBezTo>
                    <a:pt x="3403" y="327"/>
                    <a:pt x="3424" y="306"/>
                    <a:pt x="3450" y="306"/>
                  </a:cubicBezTo>
                  <a:cubicBezTo>
                    <a:pt x="3475" y="306"/>
                    <a:pt x="3497" y="327"/>
                    <a:pt x="3497" y="353"/>
                  </a:cubicBezTo>
                  <a:close/>
                  <a:moveTo>
                    <a:pt x="3597" y="353"/>
                  </a:moveTo>
                  <a:cubicBezTo>
                    <a:pt x="3597" y="378"/>
                    <a:pt x="3575" y="400"/>
                    <a:pt x="3550" y="400"/>
                  </a:cubicBezTo>
                  <a:cubicBezTo>
                    <a:pt x="3524" y="400"/>
                    <a:pt x="3503" y="378"/>
                    <a:pt x="3503" y="353"/>
                  </a:cubicBezTo>
                  <a:cubicBezTo>
                    <a:pt x="3503" y="327"/>
                    <a:pt x="3524" y="306"/>
                    <a:pt x="3550" y="306"/>
                  </a:cubicBezTo>
                  <a:cubicBezTo>
                    <a:pt x="3575" y="306"/>
                    <a:pt x="3597" y="327"/>
                    <a:pt x="3597" y="353"/>
                  </a:cubicBezTo>
                  <a:close/>
                  <a:moveTo>
                    <a:pt x="3697" y="353"/>
                  </a:moveTo>
                  <a:cubicBezTo>
                    <a:pt x="3697" y="378"/>
                    <a:pt x="3675" y="400"/>
                    <a:pt x="3650" y="400"/>
                  </a:cubicBezTo>
                  <a:cubicBezTo>
                    <a:pt x="3624" y="400"/>
                    <a:pt x="3603" y="378"/>
                    <a:pt x="3603" y="353"/>
                  </a:cubicBezTo>
                  <a:cubicBezTo>
                    <a:pt x="3603" y="327"/>
                    <a:pt x="3624" y="306"/>
                    <a:pt x="3650" y="306"/>
                  </a:cubicBezTo>
                  <a:cubicBezTo>
                    <a:pt x="3675" y="306"/>
                    <a:pt x="3697" y="327"/>
                    <a:pt x="3697" y="353"/>
                  </a:cubicBezTo>
                  <a:close/>
                  <a:moveTo>
                    <a:pt x="3797" y="353"/>
                  </a:moveTo>
                  <a:cubicBezTo>
                    <a:pt x="3797" y="378"/>
                    <a:pt x="3775" y="400"/>
                    <a:pt x="3750" y="400"/>
                  </a:cubicBezTo>
                  <a:cubicBezTo>
                    <a:pt x="3724" y="400"/>
                    <a:pt x="3703" y="378"/>
                    <a:pt x="3703" y="353"/>
                  </a:cubicBezTo>
                  <a:cubicBezTo>
                    <a:pt x="3703" y="327"/>
                    <a:pt x="3724" y="306"/>
                    <a:pt x="3750" y="306"/>
                  </a:cubicBezTo>
                  <a:cubicBezTo>
                    <a:pt x="3775" y="306"/>
                    <a:pt x="3797" y="327"/>
                    <a:pt x="3797" y="353"/>
                  </a:cubicBezTo>
                  <a:close/>
                  <a:moveTo>
                    <a:pt x="3897" y="353"/>
                  </a:moveTo>
                  <a:cubicBezTo>
                    <a:pt x="3897" y="378"/>
                    <a:pt x="3875" y="400"/>
                    <a:pt x="3850" y="400"/>
                  </a:cubicBezTo>
                  <a:cubicBezTo>
                    <a:pt x="3824" y="400"/>
                    <a:pt x="3803" y="378"/>
                    <a:pt x="3803" y="353"/>
                  </a:cubicBezTo>
                  <a:cubicBezTo>
                    <a:pt x="3803" y="327"/>
                    <a:pt x="3824" y="306"/>
                    <a:pt x="3850" y="306"/>
                  </a:cubicBezTo>
                  <a:cubicBezTo>
                    <a:pt x="3875" y="306"/>
                    <a:pt x="3897" y="327"/>
                    <a:pt x="3897" y="353"/>
                  </a:cubicBezTo>
                  <a:close/>
                  <a:moveTo>
                    <a:pt x="3997" y="353"/>
                  </a:moveTo>
                  <a:cubicBezTo>
                    <a:pt x="3997" y="378"/>
                    <a:pt x="3975" y="400"/>
                    <a:pt x="3950" y="400"/>
                  </a:cubicBezTo>
                  <a:cubicBezTo>
                    <a:pt x="3924" y="400"/>
                    <a:pt x="3903" y="378"/>
                    <a:pt x="3903" y="353"/>
                  </a:cubicBezTo>
                  <a:cubicBezTo>
                    <a:pt x="3903" y="327"/>
                    <a:pt x="3924" y="306"/>
                    <a:pt x="3950" y="306"/>
                  </a:cubicBezTo>
                  <a:cubicBezTo>
                    <a:pt x="3975" y="306"/>
                    <a:pt x="3997" y="327"/>
                    <a:pt x="3997" y="353"/>
                  </a:cubicBezTo>
                  <a:close/>
                  <a:moveTo>
                    <a:pt x="4097" y="353"/>
                  </a:moveTo>
                  <a:cubicBezTo>
                    <a:pt x="4097" y="378"/>
                    <a:pt x="4075" y="400"/>
                    <a:pt x="4050" y="400"/>
                  </a:cubicBezTo>
                  <a:cubicBezTo>
                    <a:pt x="4024" y="400"/>
                    <a:pt x="4003" y="378"/>
                    <a:pt x="4003" y="353"/>
                  </a:cubicBezTo>
                  <a:cubicBezTo>
                    <a:pt x="4003" y="327"/>
                    <a:pt x="4024" y="306"/>
                    <a:pt x="4050" y="306"/>
                  </a:cubicBezTo>
                  <a:cubicBezTo>
                    <a:pt x="4075" y="306"/>
                    <a:pt x="4097" y="327"/>
                    <a:pt x="4097" y="353"/>
                  </a:cubicBezTo>
                  <a:close/>
                  <a:moveTo>
                    <a:pt x="4197" y="353"/>
                  </a:moveTo>
                  <a:cubicBezTo>
                    <a:pt x="4197" y="378"/>
                    <a:pt x="4175" y="400"/>
                    <a:pt x="4150" y="400"/>
                  </a:cubicBezTo>
                  <a:cubicBezTo>
                    <a:pt x="4124" y="400"/>
                    <a:pt x="4103" y="378"/>
                    <a:pt x="4103" y="353"/>
                  </a:cubicBezTo>
                  <a:cubicBezTo>
                    <a:pt x="4103" y="327"/>
                    <a:pt x="4124" y="306"/>
                    <a:pt x="4150" y="306"/>
                  </a:cubicBezTo>
                  <a:cubicBezTo>
                    <a:pt x="4175" y="306"/>
                    <a:pt x="4197" y="327"/>
                    <a:pt x="4197" y="353"/>
                  </a:cubicBezTo>
                  <a:close/>
                  <a:moveTo>
                    <a:pt x="4297" y="353"/>
                  </a:moveTo>
                  <a:cubicBezTo>
                    <a:pt x="4297" y="378"/>
                    <a:pt x="4275" y="400"/>
                    <a:pt x="4250" y="400"/>
                  </a:cubicBezTo>
                  <a:cubicBezTo>
                    <a:pt x="4224" y="400"/>
                    <a:pt x="4203" y="378"/>
                    <a:pt x="4203" y="353"/>
                  </a:cubicBezTo>
                  <a:cubicBezTo>
                    <a:pt x="4203" y="327"/>
                    <a:pt x="4224" y="306"/>
                    <a:pt x="4250" y="306"/>
                  </a:cubicBezTo>
                  <a:cubicBezTo>
                    <a:pt x="4275" y="306"/>
                    <a:pt x="4297" y="327"/>
                    <a:pt x="4297" y="353"/>
                  </a:cubicBezTo>
                  <a:close/>
                  <a:moveTo>
                    <a:pt x="4397" y="353"/>
                  </a:moveTo>
                  <a:cubicBezTo>
                    <a:pt x="4397" y="378"/>
                    <a:pt x="4375" y="400"/>
                    <a:pt x="4350" y="400"/>
                  </a:cubicBezTo>
                  <a:cubicBezTo>
                    <a:pt x="4324" y="400"/>
                    <a:pt x="4303" y="378"/>
                    <a:pt x="4303" y="353"/>
                  </a:cubicBezTo>
                  <a:cubicBezTo>
                    <a:pt x="4303" y="327"/>
                    <a:pt x="4324" y="306"/>
                    <a:pt x="4350" y="306"/>
                  </a:cubicBezTo>
                  <a:cubicBezTo>
                    <a:pt x="4375" y="306"/>
                    <a:pt x="4397" y="327"/>
                    <a:pt x="4397" y="353"/>
                  </a:cubicBezTo>
                  <a:close/>
                  <a:moveTo>
                    <a:pt x="4497" y="353"/>
                  </a:moveTo>
                  <a:cubicBezTo>
                    <a:pt x="4497" y="378"/>
                    <a:pt x="4475" y="400"/>
                    <a:pt x="4450" y="400"/>
                  </a:cubicBezTo>
                  <a:cubicBezTo>
                    <a:pt x="4424" y="400"/>
                    <a:pt x="4403" y="378"/>
                    <a:pt x="4403" y="353"/>
                  </a:cubicBezTo>
                  <a:cubicBezTo>
                    <a:pt x="4403" y="327"/>
                    <a:pt x="4424" y="306"/>
                    <a:pt x="4450" y="306"/>
                  </a:cubicBezTo>
                  <a:cubicBezTo>
                    <a:pt x="4475" y="306"/>
                    <a:pt x="4497" y="327"/>
                    <a:pt x="4497" y="353"/>
                  </a:cubicBezTo>
                  <a:close/>
                  <a:moveTo>
                    <a:pt x="4597" y="353"/>
                  </a:moveTo>
                  <a:cubicBezTo>
                    <a:pt x="4597" y="378"/>
                    <a:pt x="4575" y="400"/>
                    <a:pt x="4550" y="400"/>
                  </a:cubicBezTo>
                  <a:cubicBezTo>
                    <a:pt x="4524" y="400"/>
                    <a:pt x="4503" y="378"/>
                    <a:pt x="4503" y="353"/>
                  </a:cubicBezTo>
                  <a:cubicBezTo>
                    <a:pt x="4503" y="327"/>
                    <a:pt x="4524" y="306"/>
                    <a:pt x="4550" y="306"/>
                  </a:cubicBezTo>
                  <a:cubicBezTo>
                    <a:pt x="4575" y="306"/>
                    <a:pt x="4597" y="327"/>
                    <a:pt x="4597" y="353"/>
                  </a:cubicBezTo>
                  <a:close/>
                  <a:moveTo>
                    <a:pt x="4697" y="353"/>
                  </a:moveTo>
                  <a:cubicBezTo>
                    <a:pt x="4697" y="378"/>
                    <a:pt x="4675" y="400"/>
                    <a:pt x="4650" y="400"/>
                  </a:cubicBezTo>
                  <a:cubicBezTo>
                    <a:pt x="4624" y="400"/>
                    <a:pt x="4603" y="378"/>
                    <a:pt x="4603" y="353"/>
                  </a:cubicBezTo>
                  <a:cubicBezTo>
                    <a:pt x="4603" y="327"/>
                    <a:pt x="4624" y="306"/>
                    <a:pt x="4650" y="306"/>
                  </a:cubicBezTo>
                  <a:cubicBezTo>
                    <a:pt x="4675" y="306"/>
                    <a:pt x="4697" y="327"/>
                    <a:pt x="4697" y="353"/>
                  </a:cubicBezTo>
                  <a:close/>
                  <a:moveTo>
                    <a:pt x="4797" y="353"/>
                  </a:moveTo>
                  <a:cubicBezTo>
                    <a:pt x="4797" y="378"/>
                    <a:pt x="4775" y="400"/>
                    <a:pt x="4750" y="400"/>
                  </a:cubicBezTo>
                  <a:cubicBezTo>
                    <a:pt x="4724" y="400"/>
                    <a:pt x="4703" y="378"/>
                    <a:pt x="4703" y="353"/>
                  </a:cubicBezTo>
                  <a:cubicBezTo>
                    <a:pt x="4703" y="327"/>
                    <a:pt x="4724" y="306"/>
                    <a:pt x="4750" y="306"/>
                  </a:cubicBezTo>
                  <a:cubicBezTo>
                    <a:pt x="4775" y="306"/>
                    <a:pt x="4797" y="327"/>
                    <a:pt x="4797" y="353"/>
                  </a:cubicBezTo>
                  <a:close/>
                  <a:moveTo>
                    <a:pt x="4897" y="353"/>
                  </a:moveTo>
                  <a:cubicBezTo>
                    <a:pt x="4897" y="378"/>
                    <a:pt x="4875" y="400"/>
                    <a:pt x="4850" y="400"/>
                  </a:cubicBezTo>
                  <a:cubicBezTo>
                    <a:pt x="4824" y="400"/>
                    <a:pt x="4803" y="378"/>
                    <a:pt x="4803" y="353"/>
                  </a:cubicBezTo>
                  <a:cubicBezTo>
                    <a:pt x="4803" y="327"/>
                    <a:pt x="4824" y="306"/>
                    <a:pt x="4850" y="306"/>
                  </a:cubicBezTo>
                  <a:cubicBezTo>
                    <a:pt x="4875" y="306"/>
                    <a:pt x="4897" y="327"/>
                    <a:pt x="4897" y="353"/>
                  </a:cubicBezTo>
                  <a:close/>
                  <a:moveTo>
                    <a:pt x="4997" y="353"/>
                  </a:moveTo>
                  <a:cubicBezTo>
                    <a:pt x="4997" y="378"/>
                    <a:pt x="4975" y="400"/>
                    <a:pt x="4950" y="400"/>
                  </a:cubicBezTo>
                  <a:cubicBezTo>
                    <a:pt x="4924" y="400"/>
                    <a:pt x="4903" y="378"/>
                    <a:pt x="4903" y="353"/>
                  </a:cubicBezTo>
                  <a:cubicBezTo>
                    <a:pt x="4903" y="327"/>
                    <a:pt x="4924" y="306"/>
                    <a:pt x="4950" y="306"/>
                  </a:cubicBezTo>
                  <a:cubicBezTo>
                    <a:pt x="4975" y="306"/>
                    <a:pt x="4997" y="327"/>
                    <a:pt x="4997" y="353"/>
                  </a:cubicBezTo>
                  <a:close/>
                  <a:moveTo>
                    <a:pt x="5097" y="353"/>
                  </a:moveTo>
                  <a:cubicBezTo>
                    <a:pt x="5097" y="378"/>
                    <a:pt x="5075" y="400"/>
                    <a:pt x="5050" y="400"/>
                  </a:cubicBezTo>
                  <a:cubicBezTo>
                    <a:pt x="5024" y="400"/>
                    <a:pt x="5003" y="378"/>
                    <a:pt x="5003" y="353"/>
                  </a:cubicBezTo>
                  <a:cubicBezTo>
                    <a:pt x="5003" y="327"/>
                    <a:pt x="5024" y="306"/>
                    <a:pt x="5050" y="306"/>
                  </a:cubicBezTo>
                  <a:cubicBezTo>
                    <a:pt x="5075" y="306"/>
                    <a:pt x="5097" y="327"/>
                    <a:pt x="5097" y="353"/>
                  </a:cubicBezTo>
                  <a:close/>
                  <a:moveTo>
                    <a:pt x="5197" y="353"/>
                  </a:moveTo>
                  <a:cubicBezTo>
                    <a:pt x="5197" y="378"/>
                    <a:pt x="5175" y="400"/>
                    <a:pt x="5150" y="400"/>
                  </a:cubicBezTo>
                  <a:cubicBezTo>
                    <a:pt x="5124" y="400"/>
                    <a:pt x="5103" y="378"/>
                    <a:pt x="5103" y="353"/>
                  </a:cubicBezTo>
                  <a:cubicBezTo>
                    <a:pt x="5103" y="327"/>
                    <a:pt x="5124" y="306"/>
                    <a:pt x="5150" y="306"/>
                  </a:cubicBezTo>
                  <a:cubicBezTo>
                    <a:pt x="5175" y="306"/>
                    <a:pt x="5197" y="327"/>
                    <a:pt x="5197" y="353"/>
                  </a:cubicBezTo>
                  <a:close/>
                  <a:moveTo>
                    <a:pt x="5297" y="353"/>
                  </a:moveTo>
                  <a:cubicBezTo>
                    <a:pt x="5297" y="378"/>
                    <a:pt x="5275" y="400"/>
                    <a:pt x="5250" y="400"/>
                  </a:cubicBezTo>
                  <a:cubicBezTo>
                    <a:pt x="5224" y="400"/>
                    <a:pt x="5203" y="378"/>
                    <a:pt x="5203" y="353"/>
                  </a:cubicBezTo>
                  <a:cubicBezTo>
                    <a:pt x="5203" y="327"/>
                    <a:pt x="5224" y="306"/>
                    <a:pt x="5250" y="306"/>
                  </a:cubicBezTo>
                  <a:cubicBezTo>
                    <a:pt x="5275" y="306"/>
                    <a:pt x="5297" y="327"/>
                    <a:pt x="5297" y="353"/>
                  </a:cubicBezTo>
                  <a:close/>
                  <a:moveTo>
                    <a:pt x="5397" y="353"/>
                  </a:moveTo>
                  <a:cubicBezTo>
                    <a:pt x="5397" y="378"/>
                    <a:pt x="5375" y="400"/>
                    <a:pt x="5350" y="400"/>
                  </a:cubicBezTo>
                  <a:cubicBezTo>
                    <a:pt x="5324" y="400"/>
                    <a:pt x="5303" y="378"/>
                    <a:pt x="5303" y="353"/>
                  </a:cubicBezTo>
                  <a:cubicBezTo>
                    <a:pt x="5303" y="327"/>
                    <a:pt x="5324" y="306"/>
                    <a:pt x="5350" y="306"/>
                  </a:cubicBezTo>
                  <a:cubicBezTo>
                    <a:pt x="5375" y="306"/>
                    <a:pt x="5397" y="327"/>
                    <a:pt x="5397" y="353"/>
                  </a:cubicBezTo>
                  <a:close/>
                  <a:moveTo>
                    <a:pt x="5497" y="353"/>
                  </a:moveTo>
                  <a:cubicBezTo>
                    <a:pt x="5497" y="378"/>
                    <a:pt x="5475" y="400"/>
                    <a:pt x="5450" y="400"/>
                  </a:cubicBezTo>
                  <a:cubicBezTo>
                    <a:pt x="5424" y="400"/>
                    <a:pt x="5403" y="378"/>
                    <a:pt x="5403" y="353"/>
                  </a:cubicBezTo>
                  <a:cubicBezTo>
                    <a:pt x="5403" y="327"/>
                    <a:pt x="5424" y="306"/>
                    <a:pt x="5450" y="306"/>
                  </a:cubicBezTo>
                  <a:cubicBezTo>
                    <a:pt x="5475" y="306"/>
                    <a:pt x="5497" y="327"/>
                    <a:pt x="5497" y="353"/>
                  </a:cubicBezTo>
                  <a:close/>
                  <a:moveTo>
                    <a:pt x="5597" y="353"/>
                  </a:moveTo>
                  <a:cubicBezTo>
                    <a:pt x="5597" y="378"/>
                    <a:pt x="5575" y="400"/>
                    <a:pt x="5550" y="400"/>
                  </a:cubicBezTo>
                  <a:cubicBezTo>
                    <a:pt x="5524" y="400"/>
                    <a:pt x="5503" y="378"/>
                    <a:pt x="5503" y="353"/>
                  </a:cubicBezTo>
                  <a:cubicBezTo>
                    <a:pt x="5503" y="327"/>
                    <a:pt x="5524" y="306"/>
                    <a:pt x="5550" y="306"/>
                  </a:cubicBezTo>
                  <a:cubicBezTo>
                    <a:pt x="5575" y="306"/>
                    <a:pt x="5597" y="327"/>
                    <a:pt x="5597" y="353"/>
                  </a:cubicBezTo>
                  <a:close/>
                  <a:moveTo>
                    <a:pt x="5697" y="353"/>
                  </a:moveTo>
                  <a:cubicBezTo>
                    <a:pt x="5697" y="378"/>
                    <a:pt x="5675" y="400"/>
                    <a:pt x="5650" y="400"/>
                  </a:cubicBezTo>
                  <a:cubicBezTo>
                    <a:pt x="5624" y="400"/>
                    <a:pt x="5603" y="378"/>
                    <a:pt x="5603" y="353"/>
                  </a:cubicBezTo>
                  <a:cubicBezTo>
                    <a:pt x="5603" y="327"/>
                    <a:pt x="5624" y="306"/>
                    <a:pt x="5650" y="306"/>
                  </a:cubicBezTo>
                  <a:cubicBezTo>
                    <a:pt x="5675" y="306"/>
                    <a:pt x="5697" y="327"/>
                    <a:pt x="5697" y="353"/>
                  </a:cubicBezTo>
                  <a:close/>
                  <a:moveTo>
                    <a:pt x="5797" y="353"/>
                  </a:moveTo>
                  <a:cubicBezTo>
                    <a:pt x="5797" y="378"/>
                    <a:pt x="5775" y="400"/>
                    <a:pt x="5750" y="400"/>
                  </a:cubicBezTo>
                  <a:cubicBezTo>
                    <a:pt x="5724" y="400"/>
                    <a:pt x="5703" y="378"/>
                    <a:pt x="5703" y="353"/>
                  </a:cubicBezTo>
                  <a:cubicBezTo>
                    <a:pt x="5703" y="327"/>
                    <a:pt x="5724" y="306"/>
                    <a:pt x="5750" y="306"/>
                  </a:cubicBezTo>
                  <a:cubicBezTo>
                    <a:pt x="5775" y="306"/>
                    <a:pt x="5797" y="327"/>
                    <a:pt x="5797" y="353"/>
                  </a:cubicBezTo>
                  <a:close/>
                  <a:moveTo>
                    <a:pt x="5897" y="353"/>
                  </a:moveTo>
                  <a:cubicBezTo>
                    <a:pt x="5897" y="378"/>
                    <a:pt x="5875" y="400"/>
                    <a:pt x="5850" y="400"/>
                  </a:cubicBezTo>
                  <a:cubicBezTo>
                    <a:pt x="5824" y="400"/>
                    <a:pt x="5803" y="378"/>
                    <a:pt x="5803" y="353"/>
                  </a:cubicBezTo>
                  <a:cubicBezTo>
                    <a:pt x="5803" y="327"/>
                    <a:pt x="5824" y="306"/>
                    <a:pt x="5850" y="306"/>
                  </a:cubicBezTo>
                  <a:cubicBezTo>
                    <a:pt x="5875" y="306"/>
                    <a:pt x="5897" y="327"/>
                    <a:pt x="5897" y="353"/>
                  </a:cubicBezTo>
                  <a:close/>
                  <a:moveTo>
                    <a:pt x="5997" y="353"/>
                  </a:moveTo>
                  <a:cubicBezTo>
                    <a:pt x="5997" y="378"/>
                    <a:pt x="5975" y="400"/>
                    <a:pt x="5950" y="400"/>
                  </a:cubicBezTo>
                  <a:cubicBezTo>
                    <a:pt x="5924" y="400"/>
                    <a:pt x="5903" y="378"/>
                    <a:pt x="5903" y="353"/>
                  </a:cubicBezTo>
                  <a:cubicBezTo>
                    <a:pt x="5903" y="327"/>
                    <a:pt x="5924" y="306"/>
                    <a:pt x="5950" y="306"/>
                  </a:cubicBezTo>
                  <a:cubicBezTo>
                    <a:pt x="5975" y="306"/>
                    <a:pt x="5997" y="327"/>
                    <a:pt x="5997" y="353"/>
                  </a:cubicBezTo>
                  <a:close/>
                  <a:moveTo>
                    <a:pt x="6097" y="353"/>
                  </a:moveTo>
                  <a:cubicBezTo>
                    <a:pt x="6097" y="378"/>
                    <a:pt x="6075" y="400"/>
                    <a:pt x="6050" y="400"/>
                  </a:cubicBezTo>
                  <a:cubicBezTo>
                    <a:pt x="6024" y="400"/>
                    <a:pt x="6003" y="378"/>
                    <a:pt x="6003" y="353"/>
                  </a:cubicBezTo>
                  <a:cubicBezTo>
                    <a:pt x="6003" y="327"/>
                    <a:pt x="6024" y="306"/>
                    <a:pt x="6050" y="306"/>
                  </a:cubicBezTo>
                  <a:cubicBezTo>
                    <a:pt x="6075" y="306"/>
                    <a:pt x="6097" y="327"/>
                    <a:pt x="6097" y="353"/>
                  </a:cubicBezTo>
                  <a:close/>
                  <a:moveTo>
                    <a:pt x="6197" y="353"/>
                  </a:moveTo>
                  <a:cubicBezTo>
                    <a:pt x="6197" y="378"/>
                    <a:pt x="6175" y="400"/>
                    <a:pt x="6150" y="400"/>
                  </a:cubicBezTo>
                  <a:cubicBezTo>
                    <a:pt x="6124" y="400"/>
                    <a:pt x="6103" y="378"/>
                    <a:pt x="6103" y="353"/>
                  </a:cubicBezTo>
                  <a:cubicBezTo>
                    <a:pt x="6103" y="327"/>
                    <a:pt x="6124" y="306"/>
                    <a:pt x="6150" y="306"/>
                  </a:cubicBezTo>
                  <a:cubicBezTo>
                    <a:pt x="6175" y="306"/>
                    <a:pt x="6197" y="327"/>
                    <a:pt x="6197" y="353"/>
                  </a:cubicBezTo>
                  <a:close/>
                  <a:moveTo>
                    <a:pt x="6297" y="353"/>
                  </a:moveTo>
                  <a:cubicBezTo>
                    <a:pt x="6297" y="378"/>
                    <a:pt x="6275" y="400"/>
                    <a:pt x="6250" y="400"/>
                  </a:cubicBezTo>
                  <a:cubicBezTo>
                    <a:pt x="6224" y="400"/>
                    <a:pt x="6203" y="378"/>
                    <a:pt x="6203" y="353"/>
                  </a:cubicBezTo>
                  <a:cubicBezTo>
                    <a:pt x="6203" y="327"/>
                    <a:pt x="6224" y="306"/>
                    <a:pt x="6250" y="306"/>
                  </a:cubicBezTo>
                  <a:cubicBezTo>
                    <a:pt x="6275" y="306"/>
                    <a:pt x="6297" y="327"/>
                    <a:pt x="6297" y="353"/>
                  </a:cubicBezTo>
                  <a:close/>
                  <a:moveTo>
                    <a:pt x="6397" y="353"/>
                  </a:moveTo>
                  <a:cubicBezTo>
                    <a:pt x="6397" y="378"/>
                    <a:pt x="6375" y="400"/>
                    <a:pt x="6350" y="400"/>
                  </a:cubicBezTo>
                  <a:cubicBezTo>
                    <a:pt x="6324" y="400"/>
                    <a:pt x="6303" y="378"/>
                    <a:pt x="6303" y="353"/>
                  </a:cubicBezTo>
                  <a:cubicBezTo>
                    <a:pt x="6303" y="327"/>
                    <a:pt x="6324" y="306"/>
                    <a:pt x="6350" y="306"/>
                  </a:cubicBezTo>
                  <a:cubicBezTo>
                    <a:pt x="6375" y="306"/>
                    <a:pt x="6397" y="327"/>
                    <a:pt x="6397" y="353"/>
                  </a:cubicBezTo>
                  <a:close/>
                  <a:moveTo>
                    <a:pt x="6497" y="353"/>
                  </a:moveTo>
                  <a:cubicBezTo>
                    <a:pt x="6497" y="378"/>
                    <a:pt x="6475" y="400"/>
                    <a:pt x="6450" y="400"/>
                  </a:cubicBezTo>
                  <a:cubicBezTo>
                    <a:pt x="6424" y="400"/>
                    <a:pt x="6403" y="378"/>
                    <a:pt x="6403" y="353"/>
                  </a:cubicBezTo>
                  <a:cubicBezTo>
                    <a:pt x="6403" y="327"/>
                    <a:pt x="6424" y="306"/>
                    <a:pt x="6450" y="306"/>
                  </a:cubicBezTo>
                  <a:cubicBezTo>
                    <a:pt x="6475" y="306"/>
                    <a:pt x="6497" y="327"/>
                    <a:pt x="6497" y="353"/>
                  </a:cubicBezTo>
                  <a:close/>
                  <a:moveTo>
                    <a:pt x="6597" y="353"/>
                  </a:moveTo>
                  <a:cubicBezTo>
                    <a:pt x="6597" y="378"/>
                    <a:pt x="6575" y="400"/>
                    <a:pt x="6550" y="400"/>
                  </a:cubicBezTo>
                  <a:cubicBezTo>
                    <a:pt x="6524" y="400"/>
                    <a:pt x="6503" y="378"/>
                    <a:pt x="6503" y="353"/>
                  </a:cubicBezTo>
                  <a:cubicBezTo>
                    <a:pt x="6503" y="327"/>
                    <a:pt x="6524" y="306"/>
                    <a:pt x="6550" y="306"/>
                  </a:cubicBezTo>
                  <a:cubicBezTo>
                    <a:pt x="6575" y="306"/>
                    <a:pt x="6597" y="327"/>
                    <a:pt x="6597" y="353"/>
                  </a:cubicBezTo>
                  <a:close/>
                  <a:moveTo>
                    <a:pt x="6697" y="353"/>
                  </a:moveTo>
                  <a:cubicBezTo>
                    <a:pt x="6697" y="378"/>
                    <a:pt x="6675" y="400"/>
                    <a:pt x="6650" y="400"/>
                  </a:cubicBezTo>
                  <a:cubicBezTo>
                    <a:pt x="6624" y="400"/>
                    <a:pt x="6603" y="378"/>
                    <a:pt x="6603" y="353"/>
                  </a:cubicBezTo>
                  <a:cubicBezTo>
                    <a:pt x="6603" y="327"/>
                    <a:pt x="6624" y="306"/>
                    <a:pt x="6650" y="306"/>
                  </a:cubicBezTo>
                  <a:cubicBezTo>
                    <a:pt x="6675" y="306"/>
                    <a:pt x="6697" y="327"/>
                    <a:pt x="6697" y="353"/>
                  </a:cubicBezTo>
                  <a:close/>
                  <a:moveTo>
                    <a:pt x="6797" y="353"/>
                  </a:moveTo>
                  <a:cubicBezTo>
                    <a:pt x="6797" y="378"/>
                    <a:pt x="6775" y="400"/>
                    <a:pt x="6750" y="400"/>
                  </a:cubicBezTo>
                  <a:cubicBezTo>
                    <a:pt x="6724" y="400"/>
                    <a:pt x="6703" y="378"/>
                    <a:pt x="6703" y="353"/>
                  </a:cubicBezTo>
                  <a:cubicBezTo>
                    <a:pt x="6703" y="327"/>
                    <a:pt x="6724" y="306"/>
                    <a:pt x="6750" y="306"/>
                  </a:cubicBezTo>
                  <a:cubicBezTo>
                    <a:pt x="6775" y="306"/>
                    <a:pt x="6797" y="327"/>
                    <a:pt x="6797" y="353"/>
                  </a:cubicBezTo>
                  <a:close/>
                  <a:moveTo>
                    <a:pt x="6897" y="353"/>
                  </a:moveTo>
                  <a:cubicBezTo>
                    <a:pt x="6897" y="378"/>
                    <a:pt x="6875" y="400"/>
                    <a:pt x="6850" y="400"/>
                  </a:cubicBezTo>
                  <a:cubicBezTo>
                    <a:pt x="6824" y="400"/>
                    <a:pt x="6803" y="378"/>
                    <a:pt x="6803" y="353"/>
                  </a:cubicBezTo>
                  <a:cubicBezTo>
                    <a:pt x="6803" y="327"/>
                    <a:pt x="6824" y="306"/>
                    <a:pt x="6850" y="306"/>
                  </a:cubicBezTo>
                  <a:cubicBezTo>
                    <a:pt x="6875" y="306"/>
                    <a:pt x="6897" y="327"/>
                    <a:pt x="6897" y="353"/>
                  </a:cubicBezTo>
                  <a:close/>
                  <a:moveTo>
                    <a:pt x="6997" y="353"/>
                  </a:moveTo>
                  <a:cubicBezTo>
                    <a:pt x="6997" y="378"/>
                    <a:pt x="6975" y="400"/>
                    <a:pt x="6950" y="400"/>
                  </a:cubicBezTo>
                  <a:cubicBezTo>
                    <a:pt x="6924" y="400"/>
                    <a:pt x="6903" y="378"/>
                    <a:pt x="6903" y="353"/>
                  </a:cubicBezTo>
                  <a:cubicBezTo>
                    <a:pt x="6903" y="327"/>
                    <a:pt x="6924" y="306"/>
                    <a:pt x="6950" y="306"/>
                  </a:cubicBezTo>
                  <a:cubicBezTo>
                    <a:pt x="6975" y="306"/>
                    <a:pt x="6997" y="327"/>
                    <a:pt x="6997" y="353"/>
                  </a:cubicBezTo>
                  <a:close/>
                  <a:moveTo>
                    <a:pt x="7097" y="353"/>
                  </a:moveTo>
                  <a:cubicBezTo>
                    <a:pt x="7097" y="378"/>
                    <a:pt x="7075" y="400"/>
                    <a:pt x="7050" y="400"/>
                  </a:cubicBezTo>
                  <a:cubicBezTo>
                    <a:pt x="7024" y="400"/>
                    <a:pt x="7003" y="378"/>
                    <a:pt x="7003" y="353"/>
                  </a:cubicBezTo>
                  <a:cubicBezTo>
                    <a:pt x="7003" y="327"/>
                    <a:pt x="7024" y="306"/>
                    <a:pt x="7050" y="306"/>
                  </a:cubicBezTo>
                  <a:cubicBezTo>
                    <a:pt x="7075" y="306"/>
                    <a:pt x="7097" y="327"/>
                    <a:pt x="7097" y="353"/>
                  </a:cubicBezTo>
                  <a:close/>
                  <a:moveTo>
                    <a:pt x="7197" y="353"/>
                  </a:moveTo>
                  <a:cubicBezTo>
                    <a:pt x="7197" y="378"/>
                    <a:pt x="7175" y="400"/>
                    <a:pt x="7150" y="400"/>
                  </a:cubicBezTo>
                  <a:cubicBezTo>
                    <a:pt x="7124" y="400"/>
                    <a:pt x="7103" y="378"/>
                    <a:pt x="7103" y="353"/>
                  </a:cubicBezTo>
                  <a:cubicBezTo>
                    <a:pt x="7103" y="327"/>
                    <a:pt x="7124" y="306"/>
                    <a:pt x="7150" y="306"/>
                  </a:cubicBezTo>
                  <a:cubicBezTo>
                    <a:pt x="7175" y="306"/>
                    <a:pt x="7197" y="327"/>
                    <a:pt x="7197" y="353"/>
                  </a:cubicBezTo>
                  <a:close/>
                  <a:moveTo>
                    <a:pt x="7297" y="353"/>
                  </a:moveTo>
                  <a:cubicBezTo>
                    <a:pt x="7297" y="378"/>
                    <a:pt x="7275" y="400"/>
                    <a:pt x="7250" y="400"/>
                  </a:cubicBezTo>
                  <a:cubicBezTo>
                    <a:pt x="7224" y="400"/>
                    <a:pt x="7203" y="378"/>
                    <a:pt x="7203" y="353"/>
                  </a:cubicBezTo>
                  <a:cubicBezTo>
                    <a:pt x="7203" y="327"/>
                    <a:pt x="7224" y="306"/>
                    <a:pt x="7250" y="306"/>
                  </a:cubicBezTo>
                  <a:cubicBezTo>
                    <a:pt x="7275" y="306"/>
                    <a:pt x="7297" y="327"/>
                    <a:pt x="7297" y="353"/>
                  </a:cubicBezTo>
                  <a:close/>
                  <a:moveTo>
                    <a:pt x="7397" y="353"/>
                  </a:moveTo>
                  <a:cubicBezTo>
                    <a:pt x="7397" y="378"/>
                    <a:pt x="7375" y="400"/>
                    <a:pt x="7350" y="400"/>
                  </a:cubicBezTo>
                  <a:cubicBezTo>
                    <a:pt x="7324" y="400"/>
                    <a:pt x="7303" y="378"/>
                    <a:pt x="7303" y="353"/>
                  </a:cubicBezTo>
                  <a:cubicBezTo>
                    <a:pt x="7303" y="327"/>
                    <a:pt x="7324" y="306"/>
                    <a:pt x="7350" y="306"/>
                  </a:cubicBezTo>
                  <a:cubicBezTo>
                    <a:pt x="7375" y="306"/>
                    <a:pt x="7397" y="327"/>
                    <a:pt x="7397" y="353"/>
                  </a:cubicBezTo>
                  <a:close/>
                  <a:moveTo>
                    <a:pt x="7497" y="353"/>
                  </a:moveTo>
                  <a:cubicBezTo>
                    <a:pt x="7497" y="378"/>
                    <a:pt x="7475" y="400"/>
                    <a:pt x="7450" y="400"/>
                  </a:cubicBezTo>
                  <a:cubicBezTo>
                    <a:pt x="7424" y="400"/>
                    <a:pt x="7403" y="378"/>
                    <a:pt x="7403" y="353"/>
                  </a:cubicBezTo>
                  <a:cubicBezTo>
                    <a:pt x="7403" y="327"/>
                    <a:pt x="7424" y="306"/>
                    <a:pt x="7450" y="306"/>
                  </a:cubicBezTo>
                  <a:cubicBezTo>
                    <a:pt x="7475" y="306"/>
                    <a:pt x="7497" y="327"/>
                    <a:pt x="7497" y="353"/>
                  </a:cubicBezTo>
                  <a:close/>
                  <a:moveTo>
                    <a:pt x="7597" y="353"/>
                  </a:moveTo>
                  <a:cubicBezTo>
                    <a:pt x="7597" y="378"/>
                    <a:pt x="7575" y="400"/>
                    <a:pt x="7550" y="400"/>
                  </a:cubicBezTo>
                  <a:cubicBezTo>
                    <a:pt x="7524" y="400"/>
                    <a:pt x="7503" y="378"/>
                    <a:pt x="7503" y="353"/>
                  </a:cubicBezTo>
                  <a:cubicBezTo>
                    <a:pt x="7503" y="327"/>
                    <a:pt x="7524" y="306"/>
                    <a:pt x="7550" y="306"/>
                  </a:cubicBezTo>
                  <a:cubicBezTo>
                    <a:pt x="7575" y="306"/>
                    <a:pt x="7597" y="327"/>
                    <a:pt x="7597" y="353"/>
                  </a:cubicBezTo>
                  <a:close/>
                  <a:moveTo>
                    <a:pt x="7697" y="353"/>
                  </a:moveTo>
                  <a:cubicBezTo>
                    <a:pt x="7697" y="378"/>
                    <a:pt x="7675" y="400"/>
                    <a:pt x="7650" y="400"/>
                  </a:cubicBezTo>
                  <a:cubicBezTo>
                    <a:pt x="7624" y="400"/>
                    <a:pt x="7603" y="378"/>
                    <a:pt x="7603" y="353"/>
                  </a:cubicBezTo>
                  <a:cubicBezTo>
                    <a:pt x="7603" y="327"/>
                    <a:pt x="7624" y="306"/>
                    <a:pt x="7650" y="306"/>
                  </a:cubicBezTo>
                  <a:cubicBezTo>
                    <a:pt x="7675" y="306"/>
                    <a:pt x="7697" y="327"/>
                    <a:pt x="7697" y="353"/>
                  </a:cubicBezTo>
                  <a:close/>
                  <a:moveTo>
                    <a:pt x="7797" y="353"/>
                  </a:moveTo>
                  <a:cubicBezTo>
                    <a:pt x="7797" y="378"/>
                    <a:pt x="7775" y="400"/>
                    <a:pt x="7750" y="400"/>
                  </a:cubicBezTo>
                  <a:cubicBezTo>
                    <a:pt x="7724" y="400"/>
                    <a:pt x="7703" y="378"/>
                    <a:pt x="7703" y="353"/>
                  </a:cubicBezTo>
                  <a:cubicBezTo>
                    <a:pt x="7703" y="327"/>
                    <a:pt x="7724" y="306"/>
                    <a:pt x="7750" y="306"/>
                  </a:cubicBezTo>
                  <a:cubicBezTo>
                    <a:pt x="7775" y="306"/>
                    <a:pt x="7797" y="327"/>
                    <a:pt x="7797" y="353"/>
                  </a:cubicBezTo>
                  <a:close/>
                  <a:moveTo>
                    <a:pt x="7897" y="353"/>
                  </a:moveTo>
                  <a:cubicBezTo>
                    <a:pt x="7897" y="378"/>
                    <a:pt x="7875" y="400"/>
                    <a:pt x="7850" y="400"/>
                  </a:cubicBezTo>
                  <a:cubicBezTo>
                    <a:pt x="7824" y="400"/>
                    <a:pt x="7803" y="378"/>
                    <a:pt x="7803" y="353"/>
                  </a:cubicBezTo>
                  <a:cubicBezTo>
                    <a:pt x="7803" y="327"/>
                    <a:pt x="7824" y="306"/>
                    <a:pt x="7850" y="306"/>
                  </a:cubicBezTo>
                  <a:cubicBezTo>
                    <a:pt x="7875" y="306"/>
                    <a:pt x="7897" y="327"/>
                    <a:pt x="7897" y="35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365760" y="2148840"/>
              <a:ext cx="7223760" cy="365760"/>
            </a:xfrm>
            <a:custGeom>
              <a:avLst/>
              <a:gdLst/>
              <a:ahLst/>
              <a:cxnLst/>
              <a:rect l="0" t="0" r="r" b="b"/>
              <a:pathLst>
                <a:path w="7900" h="400" fill="none">
                  <a:moveTo>
                    <a:pt x="35" y="94"/>
                  </a:moveTo>
                  <a:lnTo>
                    <a:pt x="35" y="190"/>
                  </a:lnTo>
                </a:path>
                <a:path w="7900" h="400" fill="none">
                  <a:moveTo>
                    <a:pt x="65" y="94"/>
                  </a:moveTo>
                  <a:lnTo>
                    <a:pt x="65" y="190"/>
                  </a:lnTo>
                </a:path>
                <a:path w="7900" h="400" fill="none">
                  <a:moveTo>
                    <a:pt x="35" y="306"/>
                  </a:moveTo>
                  <a:lnTo>
                    <a:pt x="35" y="210"/>
                  </a:lnTo>
                </a:path>
                <a:path w="7900" h="400" fill="none">
                  <a:moveTo>
                    <a:pt x="65" y="306"/>
                  </a:moveTo>
                  <a:lnTo>
                    <a:pt x="65" y="210"/>
                  </a:lnTo>
                </a:path>
                <a:path w="7900" h="400" fill="none">
                  <a:moveTo>
                    <a:pt x="135" y="94"/>
                  </a:moveTo>
                  <a:lnTo>
                    <a:pt x="135" y="190"/>
                  </a:lnTo>
                </a:path>
                <a:path w="7900" h="400" fill="none">
                  <a:moveTo>
                    <a:pt x="165" y="94"/>
                  </a:moveTo>
                  <a:lnTo>
                    <a:pt x="165" y="190"/>
                  </a:lnTo>
                </a:path>
                <a:path w="7900" h="400" fill="none">
                  <a:moveTo>
                    <a:pt x="135" y="306"/>
                  </a:moveTo>
                  <a:lnTo>
                    <a:pt x="135" y="210"/>
                  </a:lnTo>
                </a:path>
                <a:path w="7900" h="400" fill="none">
                  <a:moveTo>
                    <a:pt x="165" y="306"/>
                  </a:moveTo>
                  <a:lnTo>
                    <a:pt x="165" y="210"/>
                  </a:lnTo>
                </a:path>
                <a:path w="7900" h="400" fill="none">
                  <a:moveTo>
                    <a:pt x="235" y="94"/>
                  </a:moveTo>
                  <a:lnTo>
                    <a:pt x="235" y="190"/>
                  </a:lnTo>
                </a:path>
                <a:path w="7900" h="400" fill="none">
                  <a:moveTo>
                    <a:pt x="265" y="94"/>
                  </a:moveTo>
                  <a:lnTo>
                    <a:pt x="265" y="190"/>
                  </a:lnTo>
                </a:path>
                <a:path w="7900" h="400" fill="none">
                  <a:moveTo>
                    <a:pt x="235" y="306"/>
                  </a:moveTo>
                  <a:lnTo>
                    <a:pt x="235" y="210"/>
                  </a:lnTo>
                </a:path>
                <a:path w="7900" h="400" fill="none">
                  <a:moveTo>
                    <a:pt x="265" y="306"/>
                  </a:moveTo>
                  <a:lnTo>
                    <a:pt x="265" y="210"/>
                  </a:lnTo>
                </a:path>
                <a:path w="7900" h="400" fill="none">
                  <a:moveTo>
                    <a:pt x="335" y="94"/>
                  </a:moveTo>
                  <a:lnTo>
                    <a:pt x="335" y="190"/>
                  </a:lnTo>
                </a:path>
                <a:path w="7900" h="400" fill="none">
                  <a:moveTo>
                    <a:pt x="365" y="94"/>
                  </a:moveTo>
                  <a:lnTo>
                    <a:pt x="365" y="190"/>
                  </a:lnTo>
                </a:path>
                <a:path w="7900" h="400" fill="none">
                  <a:moveTo>
                    <a:pt x="335" y="306"/>
                  </a:moveTo>
                  <a:lnTo>
                    <a:pt x="335" y="210"/>
                  </a:lnTo>
                </a:path>
                <a:path w="7900" h="400" fill="none">
                  <a:moveTo>
                    <a:pt x="365" y="306"/>
                  </a:moveTo>
                  <a:lnTo>
                    <a:pt x="365" y="210"/>
                  </a:lnTo>
                </a:path>
                <a:path w="7900" h="400" fill="none">
                  <a:moveTo>
                    <a:pt x="435" y="94"/>
                  </a:moveTo>
                  <a:lnTo>
                    <a:pt x="435" y="190"/>
                  </a:lnTo>
                </a:path>
                <a:path w="7900" h="400" fill="none">
                  <a:moveTo>
                    <a:pt x="465" y="94"/>
                  </a:moveTo>
                  <a:lnTo>
                    <a:pt x="465" y="190"/>
                  </a:lnTo>
                </a:path>
                <a:path w="7900" h="400" fill="none">
                  <a:moveTo>
                    <a:pt x="435" y="306"/>
                  </a:moveTo>
                  <a:lnTo>
                    <a:pt x="435" y="210"/>
                  </a:lnTo>
                </a:path>
                <a:path w="7900" h="400" fill="none">
                  <a:moveTo>
                    <a:pt x="465" y="306"/>
                  </a:moveTo>
                  <a:lnTo>
                    <a:pt x="465" y="210"/>
                  </a:lnTo>
                </a:path>
                <a:path w="7900" h="400" fill="none">
                  <a:moveTo>
                    <a:pt x="535" y="94"/>
                  </a:moveTo>
                  <a:lnTo>
                    <a:pt x="535" y="190"/>
                  </a:lnTo>
                </a:path>
                <a:path w="7900" h="400" fill="none">
                  <a:moveTo>
                    <a:pt x="565" y="94"/>
                  </a:moveTo>
                  <a:lnTo>
                    <a:pt x="565" y="190"/>
                  </a:lnTo>
                </a:path>
                <a:path w="7900" h="400" fill="none">
                  <a:moveTo>
                    <a:pt x="535" y="306"/>
                  </a:moveTo>
                  <a:lnTo>
                    <a:pt x="535" y="210"/>
                  </a:lnTo>
                </a:path>
                <a:path w="7900" h="400" fill="none">
                  <a:moveTo>
                    <a:pt x="565" y="306"/>
                  </a:moveTo>
                  <a:lnTo>
                    <a:pt x="565" y="210"/>
                  </a:lnTo>
                </a:path>
                <a:path w="7900" h="400" fill="none">
                  <a:moveTo>
                    <a:pt x="635" y="94"/>
                  </a:moveTo>
                  <a:lnTo>
                    <a:pt x="635" y="190"/>
                  </a:lnTo>
                </a:path>
                <a:path w="7900" h="400" fill="none">
                  <a:moveTo>
                    <a:pt x="665" y="94"/>
                  </a:moveTo>
                  <a:lnTo>
                    <a:pt x="665" y="190"/>
                  </a:lnTo>
                </a:path>
                <a:path w="7900" h="400" fill="none">
                  <a:moveTo>
                    <a:pt x="635" y="306"/>
                  </a:moveTo>
                  <a:lnTo>
                    <a:pt x="635" y="210"/>
                  </a:lnTo>
                </a:path>
                <a:path w="7900" h="400" fill="none">
                  <a:moveTo>
                    <a:pt x="665" y="306"/>
                  </a:moveTo>
                  <a:lnTo>
                    <a:pt x="665" y="210"/>
                  </a:lnTo>
                </a:path>
                <a:path w="7900" h="400" fill="none">
                  <a:moveTo>
                    <a:pt x="735" y="94"/>
                  </a:moveTo>
                  <a:lnTo>
                    <a:pt x="735" y="190"/>
                  </a:lnTo>
                </a:path>
                <a:path w="7900" h="400" fill="none">
                  <a:moveTo>
                    <a:pt x="765" y="94"/>
                  </a:moveTo>
                  <a:lnTo>
                    <a:pt x="765" y="190"/>
                  </a:lnTo>
                </a:path>
                <a:path w="7900" h="400" fill="none">
                  <a:moveTo>
                    <a:pt x="735" y="306"/>
                  </a:moveTo>
                  <a:lnTo>
                    <a:pt x="735" y="210"/>
                  </a:lnTo>
                </a:path>
                <a:path w="7900" h="400" fill="none">
                  <a:moveTo>
                    <a:pt x="765" y="306"/>
                  </a:moveTo>
                  <a:lnTo>
                    <a:pt x="765" y="210"/>
                  </a:lnTo>
                </a:path>
                <a:path w="7900" h="400" fill="none">
                  <a:moveTo>
                    <a:pt x="835" y="94"/>
                  </a:moveTo>
                  <a:lnTo>
                    <a:pt x="835" y="190"/>
                  </a:lnTo>
                </a:path>
                <a:path w="7900" h="400" fill="none">
                  <a:moveTo>
                    <a:pt x="865" y="94"/>
                  </a:moveTo>
                  <a:lnTo>
                    <a:pt x="865" y="190"/>
                  </a:lnTo>
                </a:path>
                <a:path w="7900" h="400" fill="none">
                  <a:moveTo>
                    <a:pt x="835" y="306"/>
                  </a:moveTo>
                  <a:lnTo>
                    <a:pt x="835" y="210"/>
                  </a:lnTo>
                </a:path>
                <a:path w="7900" h="400" fill="none">
                  <a:moveTo>
                    <a:pt x="865" y="306"/>
                  </a:moveTo>
                  <a:lnTo>
                    <a:pt x="865" y="210"/>
                  </a:lnTo>
                </a:path>
                <a:path w="7900" h="400" fill="none">
                  <a:moveTo>
                    <a:pt x="935" y="94"/>
                  </a:moveTo>
                  <a:lnTo>
                    <a:pt x="935" y="190"/>
                  </a:lnTo>
                </a:path>
                <a:path w="7900" h="400" fill="none">
                  <a:moveTo>
                    <a:pt x="965" y="94"/>
                  </a:moveTo>
                  <a:lnTo>
                    <a:pt x="965" y="190"/>
                  </a:lnTo>
                </a:path>
                <a:path w="7900" h="400" fill="none">
                  <a:moveTo>
                    <a:pt x="935" y="306"/>
                  </a:moveTo>
                  <a:lnTo>
                    <a:pt x="935" y="210"/>
                  </a:lnTo>
                </a:path>
                <a:path w="7900" h="400" fill="none">
                  <a:moveTo>
                    <a:pt x="965" y="306"/>
                  </a:moveTo>
                  <a:lnTo>
                    <a:pt x="965" y="210"/>
                  </a:lnTo>
                </a:path>
                <a:path w="7900" h="400" fill="none">
                  <a:moveTo>
                    <a:pt x="1035" y="94"/>
                  </a:moveTo>
                  <a:lnTo>
                    <a:pt x="1035" y="190"/>
                  </a:lnTo>
                </a:path>
                <a:path w="7900" h="400" fill="none">
                  <a:moveTo>
                    <a:pt x="1065" y="94"/>
                  </a:moveTo>
                  <a:lnTo>
                    <a:pt x="1065" y="190"/>
                  </a:lnTo>
                </a:path>
                <a:path w="7900" h="400" fill="none">
                  <a:moveTo>
                    <a:pt x="1035" y="306"/>
                  </a:moveTo>
                  <a:lnTo>
                    <a:pt x="1035" y="210"/>
                  </a:lnTo>
                </a:path>
                <a:path w="7900" h="400" fill="none">
                  <a:moveTo>
                    <a:pt x="1065" y="306"/>
                  </a:moveTo>
                  <a:lnTo>
                    <a:pt x="1065" y="210"/>
                  </a:lnTo>
                </a:path>
                <a:path w="7900" h="400" fill="none">
                  <a:moveTo>
                    <a:pt x="1135" y="94"/>
                  </a:moveTo>
                  <a:lnTo>
                    <a:pt x="1135" y="190"/>
                  </a:lnTo>
                </a:path>
                <a:path w="7900" h="400" fill="none">
                  <a:moveTo>
                    <a:pt x="1165" y="94"/>
                  </a:moveTo>
                  <a:lnTo>
                    <a:pt x="1165" y="190"/>
                  </a:lnTo>
                </a:path>
                <a:path w="7900" h="400" fill="none">
                  <a:moveTo>
                    <a:pt x="1135" y="306"/>
                  </a:moveTo>
                  <a:lnTo>
                    <a:pt x="1135" y="210"/>
                  </a:lnTo>
                </a:path>
                <a:path w="7900" h="400" fill="none">
                  <a:moveTo>
                    <a:pt x="1165" y="306"/>
                  </a:moveTo>
                  <a:lnTo>
                    <a:pt x="1165" y="210"/>
                  </a:lnTo>
                </a:path>
                <a:path w="7900" h="400" fill="none">
                  <a:moveTo>
                    <a:pt x="1235" y="94"/>
                  </a:moveTo>
                  <a:lnTo>
                    <a:pt x="1235" y="190"/>
                  </a:lnTo>
                </a:path>
                <a:path w="7900" h="400" fill="none">
                  <a:moveTo>
                    <a:pt x="1265" y="94"/>
                  </a:moveTo>
                  <a:lnTo>
                    <a:pt x="1265" y="190"/>
                  </a:lnTo>
                </a:path>
                <a:path w="7900" h="400" fill="none">
                  <a:moveTo>
                    <a:pt x="1235" y="306"/>
                  </a:moveTo>
                  <a:lnTo>
                    <a:pt x="1235" y="210"/>
                  </a:lnTo>
                </a:path>
                <a:path w="7900" h="400" fill="none">
                  <a:moveTo>
                    <a:pt x="1265" y="306"/>
                  </a:moveTo>
                  <a:lnTo>
                    <a:pt x="1265" y="210"/>
                  </a:lnTo>
                </a:path>
                <a:path w="7900" h="400" fill="none">
                  <a:moveTo>
                    <a:pt x="1335" y="94"/>
                  </a:moveTo>
                  <a:lnTo>
                    <a:pt x="1335" y="190"/>
                  </a:lnTo>
                </a:path>
                <a:path w="7900" h="400" fill="none">
                  <a:moveTo>
                    <a:pt x="1365" y="94"/>
                  </a:moveTo>
                  <a:lnTo>
                    <a:pt x="1365" y="190"/>
                  </a:lnTo>
                </a:path>
                <a:path w="7900" h="400" fill="none">
                  <a:moveTo>
                    <a:pt x="1335" y="306"/>
                  </a:moveTo>
                  <a:lnTo>
                    <a:pt x="1335" y="210"/>
                  </a:lnTo>
                </a:path>
                <a:path w="7900" h="400" fill="none">
                  <a:moveTo>
                    <a:pt x="1365" y="306"/>
                  </a:moveTo>
                  <a:lnTo>
                    <a:pt x="1365" y="210"/>
                  </a:lnTo>
                </a:path>
                <a:path w="7900" h="400" fill="none">
                  <a:moveTo>
                    <a:pt x="1435" y="94"/>
                  </a:moveTo>
                  <a:lnTo>
                    <a:pt x="1435" y="190"/>
                  </a:lnTo>
                </a:path>
                <a:path w="7900" h="400" fill="none">
                  <a:moveTo>
                    <a:pt x="1465" y="94"/>
                  </a:moveTo>
                  <a:lnTo>
                    <a:pt x="1465" y="190"/>
                  </a:lnTo>
                </a:path>
                <a:path w="7900" h="400" fill="none">
                  <a:moveTo>
                    <a:pt x="1435" y="306"/>
                  </a:moveTo>
                  <a:lnTo>
                    <a:pt x="1435" y="210"/>
                  </a:lnTo>
                </a:path>
                <a:path w="7900" h="400" fill="none">
                  <a:moveTo>
                    <a:pt x="1465" y="306"/>
                  </a:moveTo>
                  <a:lnTo>
                    <a:pt x="1465" y="210"/>
                  </a:lnTo>
                </a:path>
                <a:path w="7900" h="400" fill="none">
                  <a:moveTo>
                    <a:pt x="1535" y="94"/>
                  </a:moveTo>
                  <a:lnTo>
                    <a:pt x="1535" y="190"/>
                  </a:lnTo>
                </a:path>
                <a:path w="7900" h="400" fill="none">
                  <a:moveTo>
                    <a:pt x="1565" y="94"/>
                  </a:moveTo>
                  <a:lnTo>
                    <a:pt x="1565" y="190"/>
                  </a:lnTo>
                </a:path>
                <a:path w="7900" h="400" fill="none">
                  <a:moveTo>
                    <a:pt x="1535" y="306"/>
                  </a:moveTo>
                  <a:lnTo>
                    <a:pt x="1535" y="210"/>
                  </a:lnTo>
                </a:path>
                <a:path w="7900" h="400" fill="none">
                  <a:moveTo>
                    <a:pt x="1565" y="306"/>
                  </a:moveTo>
                  <a:lnTo>
                    <a:pt x="1565" y="210"/>
                  </a:lnTo>
                </a:path>
                <a:path w="7900" h="400" fill="none">
                  <a:moveTo>
                    <a:pt x="1635" y="94"/>
                  </a:moveTo>
                  <a:lnTo>
                    <a:pt x="1635" y="190"/>
                  </a:lnTo>
                </a:path>
                <a:path w="7900" h="400" fill="none">
                  <a:moveTo>
                    <a:pt x="1665" y="94"/>
                  </a:moveTo>
                  <a:lnTo>
                    <a:pt x="1665" y="190"/>
                  </a:lnTo>
                </a:path>
                <a:path w="7900" h="400" fill="none">
                  <a:moveTo>
                    <a:pt x="1635" y="306"/>
                  </a:moveTo>
                  <a:lnTo>
                    <a:pt x="1635" y="210"/>
                  </a:lnTo>
                </a:path>
                <a:path w="7900" h="400" fill="none">
                  <a:moveTo>
                    <a:pt x="1665" y="306"/>
                  </a:moveTo>
                  <a:lnTo>
                    <a:pt x="1665" y="210"/>
                  </a:lnTo>
                </a:path>
                <a:path w="7900" h="400" fill="none">
                  <a:moveTo>
                    <a:pt x="1735" y="94"/>
                  </a:moveTo>
                  <a:lnTo>
                    <a:pt x="1735" y="190"/>
                  </a:lnTo>
                </a:path>
                <a:path w="7900" h="400" fill="none">
                  <a:moveTo>
                    <a:pt x="1765" y="94"/>
                  </a:moveTo>
                  <a:lnTo>
                    <a:pt x="1765" y="190"/>
                  </a:lnTo>
                </a:path>
                <a:path w="7900" h="400" fill="none">
                  <a:moveTo>
                    <a:pt x="1735" y="306"/>
                  </a:moveTo>
                  <a:lnTo>
                    <a:pt x="1735" y="210"/>
                  </a:lnTo>
                </a:path>
                <a:path w="7900" h="400" fill="none">
                  <a:moveTo>
                    <a:pt x="1765" y="306"/>
                  </a:moveTo>
                  <a:lnTo>
                    <a:pt x="1765" y="210"/>
                  </a:lnTo>
                </a:path>
                <a:path w="7900" h="400" fill="none">
                  <a:moveTo>
                    <a:pt x="1835" y="94"/>
                  </a:moveTo>
                  <a:lnTo>
                    <a:pt x="1835" y="190"/>
                  </a:lnTo>
                </a:path>
                <a:path w="7900" h="400" fill="none">
                  <a:moveTo>
                    <a:pt x="1865" y="94"/>
                  </a:moveTo>
                  <a:lnTo>
                    <a:pt x="1865" y="190"/>
                  </a:lnTo>
                </a:path>
                <a:path w="7900" h="400" fill="none">
                  <a:moveTo>
                    <a:pt x="1835" y="306"/>
                  </a:moveTo>
                  <a:lnTo>
                    <a:pt x="1835" y="210"/>
                  </a:lnTo>
                </a:path>
                <a:path w="7900" h="400" fill="none">
                  <a:moveTo>
                    <a:pt x="1865" y="306"/>
                  </a:moveTo>
                  <a:lnTo>
                    <a:pt x="1865" y="210"/>
                  </a:lnTo>
                </a:path>
                <a:path w="7900" h="400" fill="none">
                  <a:moveTo>
                    <a:pt x="1935" y="94"/>
                  </a:moveTo>
                  <a:lnTo>
                    <a:pt x="1935" y="190"/>
                  </a:lnTo>
                </a:path>
                <a:path w="7900" h="400" fill="none">
                  <a:moveTo>
                    <a:pt x="1965" y="94"/>
                  </a:moveTo>
                  <a:lnTo>
                    <a:pt x="1965" y="190"/>
                  </a:lnTo>
                </a:path>
                <a:path w="7900" h="400" fill="none">
                  <a:moveTo>
                    <a:pt x="1935" y="306"/>
                  </a:moveTo>
                  <a:lnTo>
                    <a:pt x="1935" y="210"/>
                  </a:lnTo>
                </a:path>
                <a:path w="7900" h="400" fill="none">
                  <a:moveTo>
                    <a:pt x="1965" y="306"/>
                  </a:moveTo>
                  <a:lnTo>
                    <a:pt x="1965" y="210"/>
                  </a:lnTo>
                </a:path>
                <a:path w="7900" h="400" fill="none">
                  <a:moveTo>
                    <a:pt x="2035" y="94"/>
                  </a:moveTo>
                  <a:lnTo>
                    <a:pt x="2035" y="190"/>
                  </a:lnTo>
                </a:path>
                <a:path w="7900" h="400" fill="none">
                  <a:moveTo>
                    <a:pt x="2065" y="94"/>
                  </a:moveTo>
                  <a:lnTo>
                    <a:pt x="2065" y="190"/>
                  </a:lnTo>
                </a:path>
                <a:path w="7900" h="400" fill="none">
                  <a:moveTo>
                    <a:pt x="2035" y="306"/>
                  </a:moveTo>
                  <a:lnTo>
                    <a:pt x="2035" y="210"/>
                  </a:lnTo>
                </a:path>
                <a:path w="7900" h="400" fill="none">
                  <a:moveTo>
                    <a:pt x="2065" y="306"/>
                  </a:moveTo>
                  <a:lnTo>
                    <a:pt x="2065" y="210"/>
                  </a:lnTo>
                </a:path>
                <a:path w="7900" h="400" fill="none">
                  <a:moveTo>
                    <a:pt x="2135" y="94"/>
                  </a:moveTo>
                  <a:lnTo>
                    <a:pt x="2135" y="190"/>
                  </a:lnTo>
                </a:path>
                <a:path w="7900" h="400" fill="none">
                  <a:moveTo>
                    <a:pt x="2165" y="94"/>
                  </a:moveTo>
                  <a:lnTo>
                    <a:pt x="2165" y="190"/>
                  </a:lnTo>
                </a:path>
                <a:path w="7900" h="400" fill="none">
                  <a:moveTo>
                    <a:pt x="2135" y="306"/>
                  </a:moveTo>
                  <a:lnTo>
                    <a:pt x="2135" y="210"/>
                  </a:lnTo>
                </a:path>
                <a:path w="7900" h="400" fill="none">
                  <a:moveTo>
                    <a:pt x="2165" y="306"/>
                  </a:moveTo>
                  <a:lnTo>
                    <a:pt x="2165" y="210"/>
                  </a:lnTo>
                </a:path>
                <a:path w="7900" h="400" fill="none">
                  <a:moveTo>
                    <a:pt x="2235" y="94"/>
                  </a:moveTo>
                  <a:lnTo>
                    <a:pt x="2235" y="190"/>
                  </a:lnTo>
                </a:path>
                <a:path w="7900" h="400" fill="none">
                  <a:moveTo>
                    <a:pt x="2265" y="94"/>
                  </a:moveTo>
                  <a:lnTo>
                    <a:pt x="2265" y="190"/>
                  </a:lnTo>
                </a:path>
                <a:path w="7900" h="400" fill="none">
                  <a:moveTo>
                    <a:pt x="2235" y="306"/>
                  </a:moveTo>
                  <a:lnTo>
                    <a:pt x="2235" y="210"/>
                  </a:lnTo>
                </a:path>
                <a:path w="7900" h="400" fill="none">
                  <a:moveTo>
                    <a:pt x="2265" y="306"/>
                  </a:moveTo>
                  <a:lnTo>
                    <a:pt x="2265" y="210"/>
                  </a:lnTo>
                </a:path>
                <a:path w="7900" h="400" fill="none">
                  <a:moveTo>
                    <a:pt x="2335" y="94"/>
                  </a:moveTo>
                  <a:lnTo>
                    <a:pt x="2335" y="190"/>
                  </a:lnTo>
                </a:path>
                <a:path w="7900" h="400" fill="none">
                  <a:moveTo>
                    <a:pt x="2365" y="94"/>
                  </a:moveTo>
                  <a:lnTo>
                    <a:pt x="2365" y="190"/>
                  </a:lnTo>
                </a:path>
                <a:path w="7900" h="400" fill="none">
                  <a:moveTo>
                    <a:pt x="2335" y="306"/>
                  </a:moveTo>
                  <a:lnTo>
                    <a:pt x="2335" y="210"/>
                  </a:lnTo>
                </a:path>
                <a:path w="7900" h="400" fill="none">
                  <a:moveTo>
                    <a:pt x="2365" y="306"/>
                  </a:moveTo>
                  <a:lnTo>
                    <a:pt x="2365" y="210"/>
                  </a:lnTo>
                </a:path>
                <a:path w="7900" h="400" fill="none">
                  <a:moveTo>
                    <a:pt x="2435" y="94"/>
                  </a:moveTo>
                  <a:lnTo>
                    <a:pt x="2435" y="190"/>
                  </a:lnTo>
                </a:path>
                <a:path w="7900" h="400" fill="none">
                  <a:moveTo>
                    <a:pt x="2465" y="94"/>
                  </a:moveTo>
                  <a:lnTo>
                    <a:pt x="2465" y="190"/>
                  </a:lnTo>
                </a:path>
                <a:path w="7900" h="400" fill="none">
                  <a:moveTo>
                    <a:pt x="2435" y="306"/>
                  </a:moveTo>
                  <a:lnTo>
                    <a:pt x="2435" y="210"/>
                  </a:lnTo>
                </a:path>
                <a:path w="7900" h="400" fill="none">
                  <a:moveTo>
                    <a:pt x="2465" y="306"/>
                  </a:moveTo>
                  <a:lnTo>
                    <a:pt x="2465" y="210"/>
                  </a:lnTo>
                </a:path>
                <a:path w="7900" h="400" fill="none">
                  <a:moveTo>
                    <a:pt x="2535" y="94"/>
                  </a:moveTo>
                  <a:lnTo>
                    <a:pt x="2535" y="190"/>
                  </a:lnTo>
                </a:path>
                <a:path w="7900" h="400" fill="none">
                  <a:moveTo>
                    <a:pt x="2565" y="94"/>
                  </a:moveTo>
                  <a:lnTo>
                    <a:pt x="2565" y="190"/>
                  </a:lnTo>
                </a:path>
                <a:path w="7900" h="400" fill="none">
                  <a:moveTo>
                    <a:pt x="2535" y="306"/>
                  </a:moveTo>
                  <a:lnTo>
                    <a:pt x="2535" y="210"/>
                  </a:lnTo>
                </a:path>
                <a:path w="7900" h="400" fill="none">
                  <a:moveTo>
                    <a:pt x="2565" y="306"/>
                  </a:moveTo>
                  <a:lnTo>
                    <a:pt x="2565" y="210"/>
                  </a:lnTo>
                </a:path>
                <a:path w="7900" h="400" fill="none">
                  <a:moveTo>
                    <a:pt x="2635" y="94"/>
                  </a:moveTo>
                  <a:lnTo>
                    <a:pt x="2635" y="190"/>
                  </a:lnTo>
                </a:path>
                <a:path w="7900" h="400" fill="none">
                  <a:moveTo>
                    <a:pt x="2665" y="94"/>
                  </a:moveTo>
                  <a:lnTo>
                    <a:pt x="2665" y="190"/>
                  </a:lnTo>
                </a:path>
                <a:path w="7900" h="400" fill="none">
                  <a:moveTo>
                    <a:pt x="2635" y="306"/>
                  </a:moveTo>
                  <a:lnTo>
                    <a:pt x="2635" y="210"/>
                  </a:lnTo>
                </a:path>
                <a:path w="7900" h="400" fill="none">
                  <a:moveTo>
                    <a:pt x="2665" y="306"/>
                  </a:moveTo>
                  <a:lnTo>
                    <a:pt x="2665" y="210"/>
                  </a:lnTo>
                </a:path>
                <a:path w="7900" h="400" fill="none">
                  <a:moveTo>
                    <a:pt x="2735" y="94"/>
                  </a:moveTo>
                  <a:lnTo>
                    <a:pt x="2735" y="190"/>
                  </a:lnTo>
                </a:path>
                <a:path w="7900" h="400" fill="none">
                  <a:moveTo>
                    <a:pt x="2765" y="94"/>
                  </a:moveTo>
                  <a:lnTo>
                    <a:pt x="2765" y="190"/>
                  </a:lnTo>
                </a:path>
                <a:path w="7900" h="400" fill="none">
                  <a:moveTo>
                    <a:pt x="2735" y="306"/>
                  </a:moveTo>
                  <a:lnTo>
                    <a:pt x="2735" y="210"/>
                  </a:lnTo>
                </a:path>
                <a:path w="7900" h="400" fill="none">
                  <a:moveTo>
                    <a:pt x="2765" y="306"/>
                  </a:moveTo>
                  <a:lnTo>
                    <a:pt x="2765" y="210"/>
                  </a:lnTo>
                </a:path>
                <a:path w="7900" h="400" fill="none">
                  <a:moveTo>
                    <a:pt x="2835" y="94"/>
                  </a:moveTo>
                  <a:lnTo>
                    <a:pt x="2835" y="190"/>
                  </a:lnTo>
                </a:path>
                <a:path w="7900" h="400" fill="none">
                  <a:moveTo>
                    <a:pt x="2865" y="94"/>
                  </a:moveTo>
                  <a:lnTo>
                    <a:pt x="2865" y="190"/>
                  </a:lnTo>
                </a:path>
                <a:path w="7900" h="400" fill="none">
                  <a:moveTo>
                    <a:pt x="2835" y="306"/>
                  </a:moveTo>
                  <a:lnTo>
                    <a:pt x="2835" y="210"/>
                  </a:lnTo>
                </a:path>
                <a:path w="7900" h="400" fill="none">
                  <a:moveTo>
                    <a:pt x="2865" y="306"/>
                  </a:moveTo>
                  <a:lnTo>
                    <a:pt x="2865" y="210"/>
                  </a:lnTo>
                </a:path>
                <a:path w="7900" h="400" fill="none">
                  <a:moveTo>
                    <a:pt x="2935" y="94"/>
                  </a:moveTo>
                  <a:lnTo>
                    <a:pt x="2935" y="190"/>
                  </a:lnTo>
                </a:path>
                <a:path w="7900" h="400" fill="none">
                  <a:moveTo>
                    <a:pt x="2965" y="94"/>
                  </a:moveTo>
                  <a:lnTo>
                    <a:pt x="2965" y="190"/>
                  </a:lnTo>
                </a:path>
                <a:path w="7900" h="400" fill="none">
                  <a:moveTo>
                    <a:pt x="2935" y="306"/>
                  </a:moveTo>
                  <a:lnTo>
                    <a:pt x="2935" y="210"/>
                  </a:lnTo>
                </a:path>
                <a:path w="7900" h="400" fill="none">
                  <a:moveTo>
                    <a:pt x="2965" y="306"/>
                  </a:moveTo>
                  <a:lnTo>
                    <a:pt x="2965" y="210"/>
                  </a:lnTo>
                </a:path>
                <a:path w="7900" h="400" fill="none">
                  <a:moveTo>
                    <a:pt x="3035" y="94"/>
                  </a:moveTo>
                  <a:lnTo>
                    <a:pt x="3035" y="190"/>
                  </a:lnTo>
                </a:path>
                <a:path w="7900" h="400" fill="none">
                  <a:moveTo>
                    <a:pt x="3065" y="94"/>
                  </a:moveTo>
                  <a:lnTo>
                    <a:pt x="3065" y="190"/>
                  </a:lnTo>
                </a:path>
                <a:path w="7900" h="400" fill="none">
                  <a:moveTo>
                    <a:pt x="3035" y="306"/>
                  </a:moveTo>
                  <a:lnTo>
                    <a:pt x="3035" y="210"/>
                  </a:lnTo>
                </a:path>
                <a:path w="7900" h="400" fill="none">
                  <a:moveTo>
                    <a:pt x="3065" y="306"/>
                  </a:moveTo>
                  <a:lnTo>
                    <a:pt x="3065" y="210"/>
                  </a:lnTo>
                </a:path>
                <a:path w="7900" h="400" fill="none">
                  <a:moveTo>
                    <a:pt x="3135" y="94"/>
                  </a:moveTo>
                  <a:lnTo>
                    <a:pt x="3135" y="190"/>
                  </a:lnTo>
                </a:path>
                <a:path w="7900" h="400" fill="none">
                  <a:moveTo>
                    <a:pt x="3165" y="94"/>
                  </a:moveTo>
                  <a:lnTo>
                    <a:pt x="3165" y="190"/>
                  </a:lnTo>
                </a:path>
                <a:path w="7900" h="400" fill="none">
                  <a:moveTo>
                    <a:pt x="3135" y="306"/>
                  </a:moveTo>
                  <a:lnTo>
                    <a:pt x="3135" y="210"/>
                  </a:lnTo>
                </a:path>
                <a:path w="7900" h="400" fill="none">
                  <a:moveTo>
                    <a:pt x="3165" y="306"/>
                  </a:moveTo>
                  <a:lnTo>
                    <a:pt x="3165" y="210"/>
                  </a:lnTo>
                </a:path>
                <a:path w="7900" h="400" fill="none">
                  <a:moveTo>
                    <a:pt x="3235" y="94"/>
                  </a:moveTo>
                  <a:lnTo>
                    <a:pt x="3235" y="190"/>
                  </a:lnTo>
                </a:path>
                <a:path w="7900" h="400" fill="none">
                  <a:moveTo>
                    <a:pt x="3265" y="94"/>
                  </a:moveTo>
                  <a:lnTo>
                    <a:pt x="3265" y="190"/>
                  </a:lnTo>
                </a:path>
                <a:path w="7900" h="400" fill="none">
                  <a:moveTo>
                    <a:pt x="3235" y="306"/>
                  </a:moveTo>
                  <a:lnTo>
                    <a:pt x="3235" y="210"/>
                  </a:lnTo>
                </a:path>
                <a:path w="7900" h="400" fill="none">
                  <a:moveTo>
                    <a:pt x="3265" y="306"/>
                  </a:moveTo>
                  <a:lnTo>
                    <a:pt x="3265" y="210"/>
                  </a:lnTo>
                </a:path>
                <a:path w="7900" h="400" fill="none">
                  <a:moveTo>
                    <a:pt x="3335" y="94"/>
                  </a:moveTo>
                  <a:lnTo>
                    <a:pt x="3335" y="190"/>
                  </a:lnTo>
                </a:path>
                <a:path w="7900" h="400" fill="none">
                  <a:moveTo>
                    <a:pt x="3365" y="94"/>
                  </a:moveTo>
                  <a:lnTo>
                    <a:pt x="3365" y="190"/>
                  </a:lnTo>
                </a:path>
                <a:path w="7900" h="400" fill="none">
                  <a:moveTo>
                    <a:pt x="3335" y="306"/>
                  </a:moveTo>
                  <a:lnTo>
                    <a:pt x="3335" y="210"/>
                  </a:lnTo>
                </a:path>
                <a:path w="7900" h="400" fill="none">
                  <a:moveTo>
                    <a:pt x="3365" y="306"/>
                  </a:moveTo>
                  <a:lnTo>
                    <a:pt x="3365" y="210"/>
                  </a:lnTo>
                </a:path>
                <a:path w="7900" h="400" fill="none">
                  <a:moveTo>
                    <a:pt x="3435" y="94"/>
                  </a:moveTo>
                  <a:lnTo>
                    <a:pt x="3435" y="190"/>
                  </a:lnTo>
                </a:path>
                <a:path w="7900" h="400" fill="none">
                  <a:moveTo>
                    <a:pt x="3465" y="94"/>
                  </a:moveTo>
                  <a:lnTo>
                    <a:pt x="3465" y="190"/>
                  </a:lnTo>
                </a:path>
                <a:path w="7900" h="400" fill="none">
                  <a:moveTo>
                    <a:pt x="3435" y="306"/>
                  </a:moveTo>
                  <a:lnTo>
                    <a:pt x="3435" y="210"/>
                  </a:lnTo>
                </a:path>
                <a:path w="7900" h="400" fill="none">
                  <a:moveTo>
                    <a:pt x="3465" y="306"/>
                  </a:moveTo>
                  <a:lnTo>
                    <a:pt x="3465" y="210"/>
                  </a:lnTo>
                </a:path>
                <a:path w="7900" h="400" fill="none">
                  <a:moveTo>
                    <a:pt x="3535" y="94"/>
                  </a:moveTo>
                  <a:lnTo>
                    <a:pt x="3535" y="190"/>
                  </a:lnTo>
                </a:path>
                <a:path w="7900" h="400" fill="none">
                  <a:moveTo>
                    <a:pt x="3565" y="94"/>
                  </a:moveTo>
                  <a:lnTo>
                    <a:pt x="3565" y="190"/>
                  </a:lnTo>
                </a:path>
                <a:path w="7900" h="400" fill="none">
                  <a:moveTo>
                    <a:pt x="3535" y="306"/>
                  </a:moveTo>
                  <a:lnTo>
                    <a:pt x="3535" y="210"/>
                  </a:lnTo>
                </a:path>
                <a:path w="7900" h="400" fill="none">
                  <a:moveTo>
                    <a:pt x="3565" y="306"/>
                  </a:moveTo>
                  <a:lnTo>
                    <a:pt x="3565" y="210"/>
                  </a:lnTo>
                </a:path>
                <a:path w="7900" h="400" fill="none">
                  <a:moveTo>
                    <a:pt x="3635" y="94"/>
                  </a:moveTo>
                  <a:lnTo>
                    <a:pt x="3635" y="190"/>
                  </a:lnTo>
                </a:path>
                <a:path w="7900" h="400" fill="none">
                  <a:moveTo>
                    <a:pt x="3665" y="94"/>
                  </a:moveTo>
                  <a:lnTo>
                    <a:pt x="3665" y="190"/>
                  </a:lnTo>
                </a:path>
                <a:path w="7900" h="400" fill="none">
                  <a:moveTo>
                    <a:pt x="3635" y="306"/>
                  </a:moveTo>
                  <a:lnTo>
                    <a:pt x="3635" y="210"/>
                  </a:lnTo>
                </a:path>
                <a:path w="7900" h="400" fill="none">
                  <a:moveTo>
                    <a:pt x="3665" y="306"/>
                  </a:moveTo>
                  <a:lnTo>
                    <a:pt x="3665" y="210"/>
                  </a:lnTo>
                </a:path>
                <a:path w="7900" h="400" fill="none">
                  <a:moveTo>
                    <a:pt x="3735" y="94"/>
                  </a:moveTo>
                  <a:lnTo>
                    <a:pt x="3735" y="190"/>
                  </a:lnTo>
                </a:path>
                <a:path w="7900" h="400" fill="none">
                  <a:moveTo>
                    <a:pt x="3765" y="94"/>
                  </a:moveTo>
                  <a:lnTo>
                    <a:pt x="3765" y="190"/>
                  </a:lnTo>
                </a:path>
                <a:path w="7900" h="400" fill="none">
                  <a:moveTo>
                    <a:pt x="3735" y="306"/>
                  </a:moveTo>
                  <a:lnTo>
                    <a:pt x="3735" y="210"/>
                  </a:lnTo>
                </a:path>
                <a:path w="7900" h="400" fill="none">
                  <a:moveTo>
                    <a:pt x="3765" y="306"/>
                  </a:moveTo>
                  <a:lnTo>
                    <a:pt x="3765" y="210"/>
                  </a:lnTo>
                </a:path>
                <a:path w="7900" h="400" fill="none">
                  <a:moveTo>
                    <a:pt x="3835" y="94"/>
                  </a:moveTo>
                  <a:lnTo>
                    <a:pt x="3835" y="190"/>
                  </a:lnTo>
                </a:path>
                <a:path w="7900" h="400" fill="none">
                  <a:moveTo>
                    <a:pt x="3865" y="94"/>
                  </a:moveTo>
                  <a:lnTo>
                    <a:pt x="3865" y="190"/>
                  </a:lnTo>
                </a:path>
                <a:path w="7900" h="400" fill="none">
                  <a:moveTo>
                    <a:pt x="3835" y="306"/>
                  </a:moveTo>
                  <a:lnTo>
                    <a:pt x="3835" y="210"/>
                  </a:lnTo>
                </a:path>
                <a:path w="7900" h="400" fill="none">
                  <a:moveTo>
                    <a:pt x="3865" y="306"/>
                  </a:moveTo>
                  <a:lnTo>
                    <a:pt x="3865" y="210"/>
                  </a:lnTo>
                </a:path>
                <a:path w="7900" h="400" fill="none">
                  <a:moveTo>
                    <a:pt x="3935" y="94"/>
                  </a:moveTo>
                  <a:lnTo>
                    <a:pt x="3935" y="190"/>
                  </a:lnTo>
                </a:path>
                <a:path w="7900" h="400" fill="none">
                  <a:moveTo>
                    <a:pt x="3965" y="94"/>
                  </a:moveTo>
                  <a:lnTo>
                    <a:pt x="3965" y="190"/>
                  </a:lnTo>
                </a:path>
                <a:path w="7900" h="400" fill="none">
                  <a:moveTo>
                    <a:pt x="3935" y="306"/>
                  </a:moveTo>
                  <a:lnTo>
                    <a:pt x="3935" y="210"/>
                  </a:lnTo>
                </a:path>
                <a:path w="7900" h="400" fill="none">
                  <a:moveTo>
                    <a:pt x="3965" y="306"/>
                  </a:moveTo>
                  <a:lnTo>
                    <a:pt x="3965" y="210"/>
                  </a:lnTo>
                </a:path>
                <a:path w="7900" h="400" fill="none">
                  <a:moveTo>
                    <a:pt x="4035" y="94"/>
                  </a:moveTo>
                  <a:lnTo>
                    <a:pt x="4035" y="190"/>
                  </a:lnTo>
                </a:path>
                <a:path w="7900" h="400" fill="none">
                  <a:moveTo>
                    <a:pt x="4065" y="94"/>
                  </a:moveTo>
                  <a:lnTo>
                    <a:pt x="4065" y="190"/>
                  </a:lnTo>
                </a:path>
                <a:path w="7900" h="400" fill="none">
                  <a:moveTo>
                    <a:pt x="4035" y="306"/>
                  </a:moveTo>
                  <a:lnTo>
                    <a:pt x="4035" y="210"/>
                  </a:lnTo>
                </a:path>
                <a:path w="7900" h="400" fill="none">
                  <a:moveTo>
                    <a:pt x="4065" y="306"/>
                  </a:moveTo>
                  <a:lnTo>
                    <a:pt x="4065" y="210"/>
                  </a:lnTo>
                </a:path>
                <a:path w="7900" h="400" fill="none">
                  <a:moveTo>
                    <a:pt x="4135" y="94"/>
                  </a:moveTo>
                  <a:lnTo>
                    <a:pt x="4135" y="190"/>
                  </a:lnTo>
                </a:path>
                <a:path w="7900" h="400" fill="none">
                  <a:moveTo>
                    <a:pt x="4165" y="94"/>
                  </a:moveTo>
                  <a:lnTo>
                    <a:pt x="4165" y="190"/>
                  </a:lnTo>
                </a:path>
                <a:path w="7900" h="400" fill="none">
                  <a:moveTo>
                    <a:pt x="4135" y="306"/>
                  </a:moveTo>
                  <a:lnTo>
                    <a:pt x="4135" y="210"/>
                  </a:lnTo>
                </a:path>
                <a:path w="7900" h="400" fill="none">
                  <a:moveTo>
                    <a:pt x="4165" y="306"/>
                  </a:moveTo>
                  <a:lnTo>
                    <a:pt x="4165" y="210"/>
                  </a:lnTo>
                </a:path>
                <a:path w="7900" h="400" fill="none">
                  <a:moveTo>
                    <a:pt x="4235" y="94"/>
                  </a:moveTo>
                  <a:lnTo>
                    <a:pt x="4235" y="190"/>
                  </a:lnTo>
                </a:path>
                <a:path w="7900" h="400" fill="none">
                  <a:moveTo>
                    <a:pt x="4265" y="94"/>
                  </a:moveTo>
                  <a:lnTo>
                    <a:pt x="4265" y="190"/>
                  </a:lnTo>
                </a:path>
                <a:path w="7900" h="400" fill="none">
                  <a:moveTo>
                    <a:pt x="4235" y="306"/>
                  </a:moveTo>
                  <a:lnTo>
                    <a:pt x="4235" y="210"/>
                  </a:lnTo>
                </a:path>
                <a:path w="7900" h="400" fill="none">
                  <a:moveTo>
                    <a:pt x="4265" y="306"/>
                  </a:moveTo>
                  <a:lnTo>
                    <a:pt x="4265" y="210"/>
                  </a:lnTo>
                </a:path>
                <a:path w="7900" h="400" fill="none">
                  <a:moveTo>
                    <a:pt x="4335" y="94"/>
                  </a:moveTo>
                  <a:lnTo>
                    <a:pt x="4335" y="190"/>
                  </a:lnTo>
                </a:path>
                <a:path w="7900" h="400" fill="none">
                  <a:moveTo>
                    <a:pt x="4365" y="94"/>
                  </a:moveTo>
                  <a:lnTo>
                    <a:pt x="4365" y="190"/>
                  </a:lnTo>
                </a:path>
                <a:path w="7900" h="400" fill="none">
                  <a:moveTo>
                    <a:pt x="4335" y="306"/>
                  </a:moveTo>
                  <a:lnTo>
                    <a:pt x="4335" y="210"/>
                  </a:lnTo>
                </a:path>
                <a:path w="7900" h="400" fill="none">
                  <a:moveTo>
                    <a:pt x="4365" y="306"/>
                  </a:moveTo>
                  <a:lnTo>
                    <a:pt x="4365" y="210"/>
                  </a:lnTo>
                </a:path>
                <a:path w="7900" h="400" fill="none">
                  <a:moveTo>
                    <a:pt x="4435" y="94"/>
                  </a:moveTo>
                  <a:lnTo>
                    <a:pt x="4435" y="190"/>
                  </a:lnTo>
                </a:path>
                <a:path w="7900" h="400" fill="none">
                  <a:moveTo>
                    <a:pt x="4465" y="94"/>
                  </a:moveTo>
                  <a:lnTo>
                    <a:pt x="4465" y="190"/>
                  </a:lnTo>
                </a:path>
                <a:path w="7900" h="400" fill="none">
                  <a:moveTo>
                    <a:pt x="4435" y="306"/>
                  </a:moveTo>
                  <a:lnTo>
                    <a:pt x="4435" y="210"/>
                  </a:lnTo>
                </a:path>
                <a:path w="7900" h="400" fill="none">
                  <a:moveTo>
                    <a:pt x="4465" y="306"/>
                  </a:moveTo>
                  <a:lnTo>
                    <a:pt x="4465" y="210"/>
                  </a:lnTo>
                </a:path>
                <a:path w="7900" h="400" fill="none">
                  <a:moveTo>
                    <a:pt x="4535" y="94"/>
                  </a:moveTo>
                  <a:lnTo>
                    <a:pt x="4535" y="190"/>
                  </a:lnTo>
                </a:path>
                <a:path w="7900" h="400" fill="none">
                  <a:moveTo>
                    <a:pt x="4565" y="94"/>
                  </a:moveTo>
                  <a:lnTo>
                    <a:pt x="4565" y="190"/>
                  </a:lnTo>
                </a:path>
                <a:path w="7900" h="400" fill="none">
                  <a:moveTo>
                    <a:pt x="4535" y="306"/>
                  </a:moveTo>
                  <a:lnTo>
                    <a:pt x="4535" y="210"/>
                  </a:lnTo>
                </a:path>
                <a:path w="7900" h="400" fill="none">
                  <a:moveTo>
                    <a:pt x="4565" y="306"/>
                  </a:moveTo>
                  <a:lnTo>
                    <a:pt x="4565" y="210"/>
                  </a:lnTo>
                </a:path>
                <a:path w="7900" h="400" fill="none">
                  <a:moveTo>
                    <a:pt x="4635" y="94"/>
                  </a:moveTo>
                  <a:lnTo>
                    <a:pt x="4635" y="190"/>
                  </a:lnTo>
                </a:path>
                <a:path w="7900" h="400" fill="none">
                  <a:moveTo>
                    <a:pt x="4665" y="94"/>
                  </a:moveTo>
                  <a:lnTo>
                    <a:pt x="4665" y="190"/>
                  </a:lnTo>
                </a:path>
                <a:path w="7900" h="400" fill="none">
                  <a:moveTo>
                    <a:pt x="4635" y="306"/>
                  </a:moveTo>
                  <a:lnTo>
                    <a:pt x="4635" y="210"/>
                  </a:lnTo>
                </a:path>
                <a:path w="7900" h="400" fill="none">
                  <a:moveTo>
                    <a:pt x="4665" y="306"/>
                  </a:moveTo>
                  <a:lnTo>
                    <a:pt x="4665" y="210"/>
                  </a:lnTo>
                </a:path>
                <a:path w="7900" h="400" fill="none">
                  <a:moveTo>
                    <a:pt x="4735" y="94"/>
                  </a:moveTo>
                  <a:lnTo>
                    <a:pt x="4735" y="190"/>
                  </a:lnTo>
                </a:path>
                <a:path w="7900" h="400" fill="none">
                  <a:moveTo>
                    <a:pt x="4765" y="94"/>
                  </a:moveTo>
                  <a:lnTo>
                    <a:pt x="4765" y="190"/>
                  </a:lnTo>
                </a:path>
                <a:path w="7900" h="400" fill="none">
                  <a:moveTo>
                    <a:pt x="4735" y="306"/>
                  </a:moveTo>
                  <a:lnTo>
                    <a:pt x="4735" y="210"/>
                  </a:lnTo>
                </a:path>
                <a:path w="7900" h="400" fill="none">
                  <a:moveTo>
                    <a:pt x="4765" y="306"/>
                  </a:moveTo>
                  <a:lnTo>
                    <a:pt x="4765" y="210"/>
                  </a:lnTo>
                </a:path>
                <a:path w="7900" h="400" fill="none">
                  <a:moveTo>
                    <a:pt x="4835" y="94"/>
                  </a:moveTo>
                  <a:lnTo>
                    <a:pt x="4835" y="190"/>
                  </a:lnTo>
                </a:path>
                <a:path w="7900" h="400" fill="none">
                  <a:moveTo>
                    <a:pt x="4865" y="94"/>
                  </a:moveTo>
                  <a:lnTo>
                    <a:pt x="4865" y="190"/>
                  </a:lnTo>
                </a:path>
                <a:path w="7900" h="400" fill="none">
                  <a:moveTo>
                    <a:pt x="4835" y="306"/>
                  </a:moveTo>
                  <a:lnTo>
                    <a:pt x="4835" y="210"/>
                  </a:lnTo>
                </a:path>
                <a:path w="7900" h="400" fill="none">
                  <a:moveTo>
                    <a:pt x="4865" y="306"/>
                  </a:moveTo>
                  <a:lnTo>
                    <a:pt x="4865" y="210"/>
                  </a:lnTo>
                </a:path>
                <a:path w="7900" h="400" fill="none">
                  <a:moveTo>
                    <a:pt x="4935" y="94"/>
                  </a:moveTo>
                  <a:lnTo>
                    <a:pt x="4935" y="190"/>
                  </a:lnTo>
                </a:path>
                <a:path w="7900" h="400" fill="none">
                  <a:moveTo>
                    <a:pt x="4965" y="94"/>
                  </a:moveTo>
                  <a:lnTo>
                    <a:pt x="4965" y="190"/>
                  </a:lnTo>
                </a:path>
                <a:path w="7900" h="400" fill="none">
                  <a:moveTo>
                    <a:pt x="4935" y="306"/>
                  </a:moveTo>
                  <a:lnTo>
                    <a:pt x="4935" y="210"/>
                  </a:lnTo>
                </a:path>
                <a:path w="7900" h="400" fill="none">
                  <a:moveTo>
                    <a:pt x="4965" y="306"/>
                  </a:moveTo>
                  <a:lnTo>
                    <a:pt x="4965" y="210"/>
                  </a:lnTo>
                </a:path>
                <a:path w="7900" h="400" fill="none">
                  <a:moveTo>
                    <a:pt x="5035" y="94"/>
                  </a:moveTo>
                  <a:lnTo>
                    <a:pt x="5035" y="190"/>
                  </a:lnTo>
                </a:path>
                <a:path w="7900" h="400" fill="none">
                  <a:moveTo>
                    <a:pt x="5065" y="94"/>
                  </a:moveTo>
                  <a:lnTo>
                    <a:pt x="5065" y="190"/>
                  </a:lnTo>
                </a:path>
                <a:path w="7900" h="400" fill="none">
                  <a:moveTo>
                    <a:pt x="5035" y="306"/>
                  </a:moveTo>
                  <a:lnTo>
                    <a:pt x="5035" y="210"/>
                  </a:lnTo>
                </a:path>
                <a:path w="7900" h="400" fill="none">
                  <a:moveTo>
                    <a:pt x="5065" y="306"/>
                  </a:moveTo>
                  <a:lnTo>
                    <a:pt x="5065" y="210"/>
                  </a:lnTo>
                </a:path>
                <a:path w="7900" h="400" fill="none">
                  <a:moveTo>
                    <a:pt x="5135" y="94"/>
                  </a:moveTo>
                  <a:lnTo>
                    <a:pt x="5135" y="190"/>
                  </a:lnTo>
                </a:path>
                <a:path w="7900" h="400" fill="none">
                  <a:moveTo>
                    <a:pt x="5165" y="94"/>
                  </a:moveTo>
                  <a:lnTo>
                    <a:pt x="5165" y="190"/>
                  </a:lnTo>
                </a:path>
                <a:path w="7900" h="400" fill="none">
                  <a:moveTo>
                    <a:pt x="5135" y="306"/>
                  </a:moveTo>
                  <a:lnTo>
                    <a:pt x="5135" y="210"/>
                  </a:lnTo>
                </a:path>
                <a:path w="7900" h="400" fill="none">
                  <a:moveTo>
                    <a:pt x="5165" y="306"/>
                  </a:moveTo>
                  <a:lnTo>
                    <a:pt x="5165" y="210"/>
                  </a:lnTo>
                </a:path>
                <a:path w="7900" h="400" fill="none">
                  <a:moveTo>
                    <a:pt x="5235" y="94"/>
                  </a:moveTo>
                  <a:lnTo>
                    <a:pt x="5235" y="190"/>
                  </a:lnTo>
                </a:path>
                <a:path w="7900" h="400" fill="none">
                  <a:moveTo>
                    <a:pt x="5265" y="94"/>
                  </a:moveTo>
                  <a:lnTo>
                    <a:pt x="5265" y="190"/>
                  </a:lnTo>
                </a:path>
                <a:path w="7900" h="400" fill="none">
                  <a:moveTo>
                    <a:pt x="5235" y="306"/>
                  </a:moveTo>
                  <a:lnTo>
                    <a:pt x="5235" y="210"/>
                  </a:lnTo>
                </a:path>
                <a:path w="7900" h="400" fill="none">
                  <a:moveTo>
                    <a:pt x="5265" y="306"/>
                  </a:moveTo>
                  <a:lnTo>
                    <a:pt x="5265" y="210"/>
                  </a:lnTo>
                </a:path>
                <a:path w="7900" h="400" fill="none">
                  <a:moveTo>
                    <a:pt x="5335" y="94"/>
                  </a:moveTo>
                  <a:lnTo>
                    <a:pt x="5335" y="190"/>
                  </a:lnTo>
                </a:path>
                <a:path w="7900" h="400" fill="none">
                  <a:moveTo>
                    <a:pt x="5365" y="94"/>
                  </a:moveTo>
                  <a:lnTo>
                    <a:pt x="5365" y="190"/>
                  </a:lnTo>
                </a:path>
                <a:path w="7900" h="400" fill="none">
                  <a:moveTo>
                    <a:pt x="5335" y="306"/>
                  </a:moveTo>
                  <a:lnTo>
                    <a:pt x="5335" y="210"/>
                  </a:lnTo>
                </a:path>
                <a:path w="7900" h="400" fill="none">
                  <a:moveTo>
                    <a:pt x="5365" y="306"/>
                  </a:moveTo>
                  <a:lnTo>
                    <a:pt x="5365" y="210"/>
                  </a:lnTo>
                </a:path>
                <a:path w="7900" h="400" fill="none">
                  <a:moveTo>
                    <a:pt x="5435" y="94"/>
                  </a:moveTo>
                  <a:lnTo>
                    <a:pt x="5435" y="190"/>
                  </a:lnTo>
                </a:path>
                <a:path w="7900" h="400" fill="none">
                  <a:moveTo>
                    <a:pt x="5465" y="94"/>
                  </a:moveTo>
                  <a:lnTo>
                    <a:pt x="5465" y="190"/>
                  </a:lnTo>
                </a:path>
                <a:path w="7900" h="400" fill="none">
                  <a:moveTo>
                    <a:pt x="5435" y="306"/>
                  </a:moveTo>
                  <a:lnTo>
                    <a:pt x="5435" y="210"/>
                  </a:lnTo>
                </a:path>
                <a:path w="7900" h="400" fill="none">
                  <a:moveTo>
                    <a:pt x="5465" y="306"/>
                  </a:moveTo>
                  <a:lnTo>
                    <a:pt x="5465" y="210"/>
                  </a:lnTo>
                </a:path>
                <a:path w="7900" h="400" fill="none">
                  <a:moveTo>
                    <a:pt x="5535" y="94"/>
                  </a:moveTo>
                  <a:lnTo>
                    <a:pt x="5535" y="190"/>
                  </a:lnTo>
                </a:path>
                <a:path w="7900" h="400" fill="none">
                  <a:moveTo>
                    <a:pt x="5565" y="94"/>
                  </a:moveTo>
                  <a:lnTo>
                    <a:pt x="5565" y="190"/>
                  </a:lnTo>
                </a:path>
                <a:path w="7900" h="400" fill="none">
                  <a:moveTo>
                    <a:pt x="5535" y="306"/>
                  </a:moveTo>
                  <a:lnTo>
                    <a:pt x="5535" y="210"/>
                  </a:lnTo>
                </a:path>
                <a:path w="7900" h="400" fill="none">
                  <a:moveTo>
                    <a:pt x="5565" y="306"/>
                  </a:moveTo>
                  <a:lnTo>
                    <a:pt x="5565" y="210"/>
                  </a:lnTo>
                </a:path>
                <a:path w="7900" h="400" fill="none">
                  <a:moveTo>
                    <a:pt x="5635" y="94"/>
                  </a:moveTo>
                  <a:lnTo>
                    <a:pt x="5635" y="190"/>
                  </a:lnTo>
                </a:path>
                <a:path w="7900" h="400" fill="none">
                  <a:moveTo>
                    <a:pt x="5665" y="94"/>
                  </a:moveTo>
                  <a:lnTo>
                    <a:pt x="5665" y="190"/>
                  </a:lnTo>
                </a:path>
                <a:path w="7900" h="400" fill="none">
                  <a:moveTo>
                    <a:pt x="5635" y="306"/>
                  </a:moveTo>
                  <a:lnTo>
                    <a:pt x="5635" y="210"/>
                  </a:lnTo>
                </a:path>
                <a:path w="7900" h="400" fill="none">
                  <a:moveTo>
                    <a:pt x="5665" y="306"/>
                  </a:moveTo>
                  <a:lnTo>
                    <a:pt x="5665" y="210"/>
                  </a:lnTo>
                </a:path>
                <a:path w="7900" h="400" fill="none">
                  <a:moveTo>
                    <a:pt x="5735" y="94"/>
                  </a:moveTo>
                  <a:lnTo>
                    <a:pt x="5735" y="190"/>
                  </a:lnTo>
                </a:path>
                <a:path w="7900" h="400" fill="none">
                  <a:moveTo>
                    <a:pt x="5765" y="94"/>
                  </a:moveTo>
                  <a:lnTo>
                    <a:pt x="5765" y="190"/>
                  </a:lnTo>
                </a:path>
                <a:path w="7900" h="400" fill="none">
                  <a:moveTo>
                    <a:pt x="5735" y="306"/>
                  </a:moveTo>
                  <a:lnTo>
                    <a:pt x="5735" y="210"/>
                  </a:lnTo>
                </a:path>
                <a:path w="7900" h="400" fill="none">
                  <a:moveTo>
                    <a:pt x="5765" y="306"/>
                  </a:moveTo>
                  <a:lnTo>
                    <a:pt x="5765" y="210"/>
                  </a:lnTo>
                </a:path>
                <a:path w="7900" h="400" fill="none">
                  <a:moveTo>
                    <a:pt x="5835" y="94"/>
                  </a:moveTo>
                  <a:lnTo>
                    <a:pt x="5835" y="190"/>
                  </a:lnTo>
                </a:path>
                <a:path w="7900" h="400" fill="none">
                  <a:moveTo>
                    <a:pt x="5865" y="94"/>
                  </a:moveTo>
                  <a:lnTo>
                    <a:pt x="5865" y="190"/>
                  </a:lnTo>
                </a:path>
                <a:path w="7900" h="400" fill="none">
                  <a:moveTo>
                    <a:pt x="5835" y="306"/>
                  </a:moveTo>
                  <a:lnTo>
                    <a:pt x="5835" y="210"/>
                  </a:lnTo>
                </a:path>
                <a:path w="7900" h="400" fill="none">
                  <a:moveTo>
                    <a:pt x="5865" y="306"/>
                  </a:moveTo>
                  <a:lnTo>
                    <a:pt x="5865" y="210"/>
                  </a:lnTo>
                </a:path>
                <a:path w="7900" h="400" fill="none">
                  <a:moveTo>
                    <a:pt x="5935" y="94"/>
                  </a:moveTo>
                  <a:lnTo>
                    <a:pt x="5935" y="190"/>
                  </a:lnTo>
                </a:path>
                <a:path w="7900" h="400" fill="none">
                  <a:moveTo>
                    <a:pt x="5965" y="94"/>
                  </a:moveTo>
                  <a:lnTo>
                    <a:pt x="5965" y="190"/>
                  </a:lnTo>
                </a:path>
                <a:path w="7900" h="400" fill="none">
                  <a:moveTo>
                    <a:pt x="5935" y="306"/>
                  </a:moveTo>
                  <a:lnTo>
                    <a:pt x="5935" y="210"/>
                  </a:lnTo>
                </a:path>
                <a:path w="7900" h="400" fill="none">
                  <a:moveTo>
                    <a:pt x="5965" y="306"/>
                  </a:moveTo>
                  <a:lnTo>
                    <a:pt x="5965" y="210"/>
                  </a:lnTo>
                </a:path>
                <a:path w="7900" h="400" fill="none">
                  <a:moveTo>
                    <a:pt x="6035" y="94"/>
                  </a:moveTo>
                  <a:lnTo>
                    <a:pt x="6035" y="190"/>
                  </a:lnTo>
                </a:path>
                <a:path w="7900" h="400" fill="none">
                  <a:moveTo>
                    <a:pt x="6065" y="94"/>
                  </a:moveTo>
                  <a:lnTo>
                    <a:pt x="6065" y="190"/>
                  </a:lnTo>
                </a:path>
                <a:path w="7900" h="400" fill="none">
                  <a:moveTo>
                    <a:pt x="6035" y="306"/>
                  </a:moveTo>
                  <a:lnTo>
                    <a:pt x="6035" y="210"/>
                  </a:lnTo>
                </a:path>
                <a:path w="7900" h="400" fill="none">
                  <a:moveTo>
                    <a:pt x="6065" y="306"/>
                  </a:moveTo>
                  <a:lnTo>
                    <a:pt x="6065" y="210"/>
                  </a:lnTo>
                </a:path>
                <a:path w="7900" h="400" fill="none">
                  <a:moveTo>
                    <a:pt x="6135" y="94"/>
                  </a:moveTo>
                  <a:lnTo>
                    <a:pt x="6135" y="190"/>
                  </a:lnTo>
                </a:path>
                <a:path w="7900" h="400" fill="none">
                  <a:moveTo>
                    <a:pt x="6165" y="94"/>
                  </a:moveTo>
                  <a:lnTo>
                    <a:pt x="6165" y="190"/>
                  </a:lnTo>
                </a:path>
                <a:path w="7900" h="400" fill="none">
                  <a:moveTo>
                    <a:pt x="6135" y="306"/>
                  </a:moveTo>
                  <a:lnTo>
                    <a:pt x="6135" y="210"/>
                  </a:lnTo>
                </a:path>
                <a:path w="7900" h="400" fill="none">
                  <a:moveTo>
                    <a:pt x="6165" y="306"/>
                  </a:moveTo>
                  <a:lnTo>
                    <a:pt x="6165" y="210"/>
                  </a:lnTo>
                </a:path>
                <a:path w="7900" h="400" fill="none">
                  <a:moveTo>
                    <a:pt x="6235" y="94"/>
                  </a:moveTo>
                  <a:lnTo>
                    <a:pt x="6235" y="190"/>
                  </a:lnTo>
                </a:path>
                <a:path w="7900" h="400" fill="none">
                  <a:moveTo>
                    <a:pt x="6265" y="94"/>
                  </a:moveTo>
                  <a:lnTo>
                    <a:pt x="6265" y="190"/>
                  </a:lnTo>
                </a:path>
                <a:path w="7900" h="400" fill="none">
                  <a:moveTo>
                    <a:pt x="6235" y="306"/>
                  </a:moveTo>
                  <a:lnTo>
                    <a:pt x="6235" y="210"/>
                  </a:lnTo>
                </a:path>
                <a:path w="7900" h="400" fill="none">
                  <a:moveTo>
                    <a:pt x="6265" y="306"/>
                  </a:moveTo>
                  <a:lnTo>
                    <a:pt x="6265" y="210"/>
                  </a:lnTo>
                </a:path>
                <a:path w="7900" h="400" fill="none">
                  <a:moveTo>
                    <a:pt x="6335" y="94"/>
                  </a:moveTo>
                  <a:lnTo>
                    <a:pt x="6335" y="190"/>
                  </a:lnTo>
                </a:path>
                <a:path w="7900" h="400" fill="none">
                  <a:moveTo>
                    <a:pt x="6365" y="94"/>
                  </a:moveTo>
                  <a:lnTo>
                    <a:pt x="6365" y="190"/>
                  </a:lnTo>
                </a:path>
                <a:path w="7900" h="400" fill="none">
                  <a:moveTo>
                    <a:pt x="6335" y="306"/>
                  </a:moveTo>
                  <a:lnTo>
                    <a:pt x="6335" y="210"/>
                  </a:lnTo>
                </a:path>
                <a:path w="7900" h="400" fill="none">
                  <a:moveTo>
                    <a:pt x="6365" y="306"/>
                  </a:moveTo>
                  <a:lnTo>
                    <a:pt x="6365" y="210"/>
                  </a:lnTo>
                </a:path>
                <a:path w="7900" h="400" fill="none">
                  <a:moveTo>
                    <a:pt x="6435" y="94"/>
                  </a:moveTo>
                  <a:lnTo>
                    <a:pt x="6435" y="190"/>
                  </a:lnTo>
                </a:path>
                <a:path w="7900" h="400" fill="none">
                  <a:moveTo>
                    <a:pt x="6465" y="94"/>
                  </a:moveTo>
                  <a:lnTo>
                    <a:pt x="6465" y="190"/>
                  </a:lnTo>
                </a:path>
                <a:path w="7900" h="400" fill="none">
                  <a:moveTo>
                    <a:pt x="6435" y="306"/>
                  </a:moveTo>
                  <a:lnTo>
                    <a:pt x="6435" y="210"/>
                  </a:lnTo>
                </a:path>
                <a:path w="7900" h="400" fill="none">
                  <a:moveTo>
                    <a:pt x="6465" y="306"/>
                  </a:moveTo>
                  <a:lnTo>
                    <a:pt x="6465" y="210"/>
                  </a:lnTo>
                </a:path>
                <a:path w="7900" h="400" fill="none">
                  <a:moveTo>
                    <a:pt x="6535" y="94"/>
                  </a:moveTo>
                  <a:lnTo>
                    <a:pt x="6535" y="190"/>
                  </a:lnTo>
                </a:path>
                <a:path w="7900" h="400" fill="none">
                  <a:moveTo>
                    <a:pt x="6565" y="94"/>
                  </a:moveTo>
                  <a:lnTo>
                    <a:pt x="6565" y="190"/>
                  </a:lnTo>
                </a:path>
                <a:path w="7900" h="400" fill="none">
                  <a:moveTo>
                    <a:pt x="6535" y="306"/>
                  </a:moveTo>
                  <a:lnTo>
                    <a:pt x="6535" y="210"/>
                  </a:lnTo>
                </a:path>
                <a:path w="7900" h="400" fill="none">
                  <a:moveTo>
                    <a:pt x="6565" y="306"/>
                  </a:moveTo>
                  <a:lnTo>
                    <a:pt x="6565" y="210"/>
                  </a:lnTo>
                </a:path>
                <a:path w="7900" h="400" fill="none">
                  <a:moveTo>
                    <a:pt x="6635" y="94"/>
                  </a:moveTo>
                  <a:lnTo>
                    <a:pt x="6635" y="190"/>
                  </a:lnTo>
                </a:path>
                <a:path w="7900" h="400" fill="none">
                  <a:moveTo>
                    <a:pt x="6665" y="94"/>
                  </a:moveTo>
                  <a:lnTo>
                    <a:pt x="6665" y="190"/>
                  </a:lnTo>
                </a:path>
                <a:path w="7900" h="400" fill="none">
                  <a:moveTo>
                    <a:pt x="6635" y="306"/>
                  </a:moveTo>
                  <a:lnTo>
                    <a:pt x="6635" y="210"/>
                  </a:lnTo>
                </a:path>
                <a:path w="7900" h="400" fill="none">
                  <a:moveTo>
                    <a:pt x="6665" y="306"/>
                  </a:moveTo>
                  <a:lnTo>
                    <a:pt x="6665" y="210"/>
                  </a:lnTo>
                </a:path>
                <a:path w="7900" h="400" fill="none">
                  <a:moveTo>
                    <a:pt x="6735" y="94"/>
                  </a:moveTo>
                  <a:lnTo>
                    <a:pt x="6735" y="190"/>
                  </a:lnTo>
                </a:path>
                <a:path w="7900" h="400" fill="none">
                  <a:moveTo>
                    <a:pt x="6765" y="94"/>
                  </a:moveTo>
                  <a:lnTo>
                    <a:pt x="6765" y="190"/>
                  </a:lnTo>
                </a:path>
                <a:path w="7900" h="400" fill="none">
                  <a:moveTo>
                    <a:pt x="6735" y="306"/>
                  </a:moveTo>
                  <a:lnTo>
                    <a:pt x="6735" y="210"/>
                  </a:lnTo>
                </a:path>
                <a:path w="7900" h="400" fill="none">
                  <a:moveTo>
                    <a:pt x="6765" y="306"/>
                  </a:moveTo>
                  <a:lnTo>
                    <a:pt x="6765" y="210"/>
                  </a:lnTo>
                </a:path>
                <a:path w="7900" h="400" fill="none">
                  <a:moveTo>
                    <a:pt x="6835" y="94"/>
                  </a:moveTo>
                  <a:lnTo>
                    <a:pt x="6835" y="190"/>
                  </a:lnTo>
                </a:path>
                <a:path w="7900" h="400" fill="none">
                  <a:moveTo>
                    <a:pt x="6865" y="94"/>
                  </a:moveTo>
                  <a:lnTo>
                    <a:pt x="6865" y="190"/>
                  </a:lnTo>
                </a:path>
                <a:path w="7900" h="400" fill="none">
                  <a:moveTo>
                    <a:pt x="6835" y="306"/>
                  </a:moveTo>
                  <a:lnTo>
                    <a:pt x="6835" y="210"/>
                  </a:lnTo>
                </a:path>
                <a:path w="7900" h="400" fill="none">
                  <a:moveTo>
                    <a:pt x="6865" y="306"/>
                  </a:moveTo>
                  <a:lnTo>
                    <a:pt x="6865" y="210"/>
                  </a:lnTo>
                </a:path>
                <a:path w="7900" h="400" fill="none">
                  <a:moveTo>
                    <a:pt x="6935" y="94"/>
                  </a:moveTo>
                  <a:lnTo>
                    <a:pt x="6935" y="190"/>
                  </a:lnTo>
                </a:path>
                <a:path w="7900" h="400" fill="none">
                  <a:moveTo>
                    <a:pt x="6965" y="94"/>
                  </a:moveTo>
                  <a:lnTo>
                    <a:pt x="6965" y="190"/>
                  </a:lnTo>
                </a:path>
                <a:path w="7900" h="400" fill="none">
                  <a:moveTo>
                    <a:pt x="6935" y="306"/>
                  </a:moveTo>
                  <a:lnTo>
                    <a:pt x="6935" y="210"/>
                  </a:lnTo>
                </a:path>
                <a:path w="7900" h="400" fill="none">
                  <a:moveTo>
                    <a:pt x="6965" y="306"/>
                  </a:moveTo>
                  <a:lnTo>
                    <a:pt x="6965" y="210"/>
                  </a:lnTo>
                </a:path>
                <a:path w="7900" h="400" fill="none">
                  <a:moveTo>
                    <a:pt x="7035" y="94"/>
                  </a:moveTo>
                  <a:lnTo>
                    <a:pt x="7035" y="190"/>
                  </a:lnTo>
                </a:path>
                <a:path w="7900" h="400" fill="none">
                  <a:moveTo>
                    <a:pt x="7065" y="94"/>
                  </a:moveTo>
                  <a:lnTo>
                    <a:pt x="7065" y="190"/>
                  </a:lnTo>
                </a:path>
                <a:path w="7900" h="400" fill="none">
                  <a:moveTo>
                    <a:pt x="7035" y="306"/>
                  </a:moveTo>
                  <a:lnTo>
                    <a:pt x="7035" y="210"/>
                  </a:lnTo>
                </a:path>
                <a:path w="7900" h="400" fill="none">
                  <a:moveTo>
                    <a:pt x="7065" y="306"/>
                  </a:moveTo>
                  <a:lnTo>
                    <a:pt x="7065" y="210"/>
                  </a:lnTo>
                </a:path>
                <a:path w="7900" h="400" fill="none">
                  <a:moveTo>
                    <a:pt x="7135" y="94"/>
                  </a:moveTo>
                  <a:lnTo>
                    <a:pt x="7135" y="190"/>
                  </a:lnTo>
                </a:path>
                <a:path w="7900" h="400" fill="none">
                  <a:moveTo>
                    <a:pt x="7165" y="94"/>
                  </a:moveTo>
                  <a:lnTo>
                    <a:pt x="7165" y="190"/>
                  </a:lnTo>
                </a:path>
                <a:path w="7900" h="400" fill="none">
                  <a:moveTo>
                    <a:pt x="7135" y="306"/>
                  </a:moveTo>
                  <a:lnTo>
                    <a:pt x="7135" y="210"/>
                  </a:lnTo>
                </a:path>
                <a:path w="7900" h="400" fill="none">
                  <a:moveTo>
                    <a:pt x="7165" y="306"/>
                  </a:moveTo>
                  <a:lnTo>
                    <a:pt x="7165" y="210"/>
                  </a:lnTo>
                </a:path>
                <a:path w="7900" h="400" fill="none">
                  <a:moveTo>
                    <a:pt x="7235" y="94"/>
                  </a:moveTo>
                  <a:lnTo>
                    <a:pt x="7235" y="190"/>
                  </a:lnTo>
                </a:path>
                <a:path w="7900" h="400" fill="none">
                  <a:moveTo>
                    <a:pt x="7265" y="94"/>
                  </a:moveTo>
                  <a:lnTo>
                    <a:pt x="7265" y="190"/>
                  </a:lnTo>
                </a:path>
                <a:path w="7900" h="400" fill="none">
                  <a:moveTo>
                    <a:pt x="7235" y="306"/>
                  </a:moveTo>
                  <a:lnTo>
                    <a:pt x="7235" y="210"/>
                  </a:lnTo>
                </a:path>
                <a:path w="7900" h="400" fill="none">
                  <a:moveTo>
                    <a:pt x="7265" y="306"/>
                  </a:moveTo>
                  <a:lnTo>
                    <a:pt x="7265" y="210"/>
                  </a:lnTo>
                </a:path>
                <a:path w="7900" h="400" fill="none">
                  <a:moveTo>
                    <a:pt x="7335" y="94"/>
                  </a:moveTo>
                  <a:lnTo>
                    <a:pt x="7335" y="190"/>
                  </a:lnTo>
                </a:path>
                <a:path w="7900" h="400" fill="none">
                  <a:moveTo>
                    <a:pt x="7365" y="94"/>
                  </a:moveTo>
                  <a:lnTo>
                    <a:pt x="7365" y="190"/>
                  </a:lnTo>
                </a:path>
                <a:path w="7900" h="400" fill="none">
                  <a:moveTo>
                    <a:pt x="7335" y="306"/>
                  </a:moveTo>
                  <a:lnTo>
                    <a:pt x="7335" y="210"/>
                  </a:lnTo>
                </a:path>
                <a:path w="7900" h="400" fill="none">
                  <a:moveTo>
                    <a:pt x="7365" y="306"/>
                  </a:moveTo>
                  <a:lnTo>
                    <a:pt x="7365" y="210"/>
                  </a:lnTo>
                </a:path>
                <a:path w="7900" h="400" fill="none">
                  <a:moveTo>
                    <a:pt x="7435" y="94"/>
                  </a:moveTo>
                  <a:lnTo>
                    <a:pt x="7435" y="190"/>
                  </a:lnTo>
                </a:path>
                <a:path w="7900" h="400" fill="none">
                  <a:moveTo>
                    <a:pt x="7465" y="94"/>
                  </a:moveTo>
                  <a:lnTo>
                    <a:pt x="7465" y="190"/>
                  </a:lnTo>
                </a:path>
                <a:path w="7900" h="400" fill="none">
                  <a:moveTo>
                    <a:pt x="7435" y="306"/>
                  </a:moveTo>
                  <a:lnTo>
                    <a:pt x="7435" y="210"/>
                  </a:lnTo>
                </a:path>
                <a:path w="7900" h="400" fill="none">
                  <a:moveTo>
                    <a:pt x="7465" y="306"/>
                  </a:moveTo>
                  <a:lnTo>
                    <a:pt x="7465" y="210"/>
                  </a:lnTo>
                </a:path>
                <a:path w="7900" h="400" fill="none">
                  <a:moveTo>
                    <a:pt x="7535" y="94"/>
                  </a:moveTo>
                  <a:lnTo>
                    <a:pt x="7535" y="190"/>
                  </a:lnTo>
                </a:path>
                <a:path w="7900" h="400" fill="none">
                  <a:moveTo>
                    <a:pt x="7565" y="94"/>
                  </a:moveTo>
                  <a:lnTo>
                    <a:pt x="7565" y="190"/>
                  </a:lnTo>
                </a:path>
                <a:path w="7900" h="400" fill="none">
                  <a:moveTo>
                    <a:pt x="7535" y="306"/>
                  </a:moveTo>
                  <a:lnTo>
                    <a:pt x="7535" y="210"/>
                  </a:lnTo>
                </a:path>
                <a:path w="7900" h="400" fill="none">
                  <a:moveTo>
                    <a:pt x="7565" y="306"/>
                  </a:moveTo>
                  <a:lnTo>
                    <a:pt x="7565" y="210"/>
                  </a:lnTo>
                </a:path>
                <a:path w="7900" h="400" fill="none">
                  <a:moveTo>
                    <a:pt x="7635" y="94"/>
                  </a:moveTo>
                  <a:lnTo>
                    <a:pt x="7635" y="190"/>
                  </a:lnTo>
                </a:path>
                <a:path w="7900" h="400" fill="none">
                  <a:moveTo>
                    <a:pt x="7665" y="94"/>
                  </a:moveTo>
                  <a:lnTo>
                    <a:pt x="7665" y="190"/>
                  </a:lnTo>
                </a:path>
                <a:path w="7900" h="400" fill="none">
                  <a:moveTo>
                    <a:pt x="7635" y="306"/>
                  </a:moveTo>
                  <a:lnTo>
                    <a:pt x="7635" y="210"/>
                  </a:lnTo>
                </a:path>
                <a:path w="7900" h="400" fill="none">
                  <a:moveTo>
                    <a:pt x="7665" y="306"/>
                  </a:moveTo>
                  <a:lnTo>
                    <a:pt x="7665" y="210"/>
                  </a:lnTo>
                </a:path>
                <a:path w="7900" h="400" fill="none">
                  <a:moveTo>
                    <a:pt x="7735" y="94"/>
                  </a:moveTo>
                  <a:lnTo>
                    <a:pt x="7735" y="190"/>
                  </a:lnTo>
                </a:path>
                <a:path w="7900" h="400" fill="none">
                  <a:moveTo>
                    <a:pt x="7765" y="94"/>
                  </a:moveTo>
                  <a:lnTo>
                    <a:pt x="7765" y="190"/>
                  </a:lnTo>
                </a:path>
                <a:path w="7900" h="400" fill="none">
                  <a:moveTo>
                    <a:pt x="7735" y="306"/>
                  </a:moveTo>
                  <a:lnTo>
                    <a:pt x="7735" y="210"/>
                  </a:lnTo>
                </a:path>
                <a:path w="7900" h="400" fill="none">
                  <a:moveTo>
                    <a:pt x="7765" y="306"/>
                  </a:moveTo>
                  <a:lnTo>
                    <a:pt x="7765" y="210"/>
                  </a:lnTo>
                </a:path>
                <a:path w="7900" h="400" fill="none">
                  <a:moveTo>
                    <a:pt x="7835" y="94"/>
                  </a:moveTo>
                  <a:lnTo>
                    <a:pt x="7835" y="190"/>
                  </a:lnTo>
                </a:path>
                <a:path w="7900" h="400" fill="none">
                  <a:moveTo>
                    <a:pt x="7865" y="94"/>
                  </a:moveTo>
                  <a:lnTo>
                    <a:pt x="7865" y="190"/>
                  </a:lnTo>
                </a:path>
                <a:path w="7900" h="400" fill="none">
                  <a:moveTo>
                    <a:pt x="7835" y="306"/>
                  </a:moveTo>
                  <a:lnTo>
                    <a:pt x="7835" y="210"/>
                  </a:lnTo>
                </a:path>
                <a:path w="7900" h="400" fill="none">
                  <a:moveTo>
                    <a:pt x="7865" y="306"/>
                  </a:moveTo>
                  <a:lnTo>
                    <a:pt x="7865" y="210"/>
                  </a:lnTo>
                </a:path>
              </a:pathLst>
            </a:custGeom>
            <a:noFill/>
            <a:ln w="9525" cap="rnd">
              <a:solidFill>
                <a:srgbClr val="A49887"/>
              </a:solidFill>
              <a:round/>
            </a:ln>
          </p:spPr>
        </p:sp>
      </p:grpSp>
      <p:sp>
        <p:nvSpPr>
          <p:cNvPr id="8" name="Citosol"/>
          <p:cNvSpPr/>
          <p:nvPr/>
        </p:nvSpPr>
        <p:spPr>
          <a:xfrm>
            <a:off x="365760" y="2514600"/>
            <a:ext cx="7223760" cy="3977640"/>
          </a:xfrm>
          <a:prstGeom prst="rect">
            <a:avLst/>
          </a:prstGeom>
          <a:solidFill>
            <a:srgbClr val="FDE2D2">
              <a:alpha val="70000"/>
            </a:srgbClr>
          </a:solidFill>
          <a:ln>
            <a:noFill/>
          </a:ln>
        </p:spPr>
      </p:sp>
      <p:grpSp>
        <p:nvGrpSpPr>
          <p:cNvPr id="9" name="Intestino (células L y K)"/>
          <p:cNvGrpSpPr/>
          <p:nvPr/>
        </p:nvGrpSpPr>
        <p:grpSpPr>
          <a:xfrm>
            <a:off x="365760" y="868680"/>
            <a:ext cx="1143000" cy="971550"/>
            <a:chOff x="365760" y="868680"/>
            <a:chExt cx="1143000" cy="971550"/>
          </a:xfrm>
        </p:grpSpPr>
        <p:sp>
          <p:nvSpPr>
            <p:cNvPr id="10" name="Forma 9"/>
            <p:cNvSpPr/>
            <p:nvPr/>
          </p:nvSpPr>
          <p:spPr>
            <a:xfrm>
              <a:off x="365760" y="868680"/>
              <a:ext cx="1143000" cy="97155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1" name="Forma 10"/>
            <p:cNvSpPr/>
            <p:nvPr/>
          </p:nvSpPr>
          <p:spPr>
            <a:xfrm>
              <a:off x="365760" y="868680"/>
              <a:ext cx="1143000" cy="97155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12" name="Forma 11"/>
            <p:cNvSpPr/>
            <p:nvPr/>
          </p:nvSpPr>
          <p:spPr>
            <a:xfrm>
              <a:off x="365760" y="868680"/>
              <a:ext cx="1143000" cy="97155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3" name="Forma 12"/>
            <p:cNvSpPr/>
            <p:nvPr/>
          </p:nvSpPr>
          <p:spPr>
            <a:xfrm>
              <a:off x="365760" y="868680"/>
              <a:ext cx="1143000" cy="97155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4" name="Forma 13"/>
            <p:cNvSpPr/>
            <p:nvPr/>
          </p:nvSpPr>
          <p:spPr>
            <a:xfrm>
              <a:off x="365760" y="868680"/>
              <a:ext cx="1143000" cy="97155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15" name="GLP-1"/>
          <p:cNvSpPr/>
          <p:nvPr/>
        </p:nvSpPr>
        <p:spPr>
          <a:xfrm>
            <a:off x="1645920" y="960120"/>
            <a:ext cx="777240" cy="457200"/>
          </a:xfrm>
          <a:prstGeom prst="roundRect">
            <a:avLst>
              <a:gd name="adj" fmla="val 50000"/>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60" b="1" dirty="0">
                <a:solidFill>
                  <a:srgbClr val="FFFFFF"/>
                </a:solidFill>
                <a:latin typeface="Bahnschrift SemiBold Condensed"/>
                <a:ea typeface="Bahnschrift SemiBold Condensed"/>
                <a:cs typeface="Bahnschrift SemiBold Condensed"/>
                <a:sym typeface="Bahnschrift SemiBold Condensed"/>
              </a:rPr>
              <a:t>GLP-1</a:t>
            </a:r>
            <a:endParaRPr lang="es-AR" sz="1060" dirty="0">
              <a:latin typeface="Bahnschrift SemiBold Condensed"/>
            </a:endParaRPr>
          </a:p>
        </p:txBody>
      </p:sp>
      <p:sp>
        <p:nvSpPr>
          <p:cNvPr id="16" name="GIP"/>
          <p:cNvSpPr/>
          <p:nvPr/>
        </p:nvSpPr>
        <p:spPr>
          <a:xfrm>
            <a:off x="2514600" y="960120"/>
            <a:ext cx="685800" cy="457200"/>
          </a:xfrm>
          <a:prstGeom prst="roundRect">
            <a:avLst>
              <a:gd name="adj" fmla="val 50000"/>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GIP</a:t>
            </a:r>
            <a:endParaRPr lang="es-AR" sz="1300" dirty="0">
              <a:latin typeface="Bahnschrift SemiBold Condensed"/>
            </a:endParaRPr>
          </a:p>
        </p:txBody>
      </p:sp>
      <p:grpSp>
        <p:nvGrpSpPr>
          <p:cNvPr id="17" name="Receptor GLP-1R / GIPR"/>
          <p:cNvGrpSpPr/>
          <p:nvPr/>
        </p:nvGrpSpPr>
        <p:grpSpPr>
          <a:xfrm>
            <a:off x="2468880" y="1714500"/>
            <a:ext cx="1499159" cy="982980"/>
            <a:chOff x="2468880" y="1714500"/>
            <a:chExt cx="1499159" cy="982980"/>
          </a:xfrm>
        </p:grpSpPr>
        <p:sp>
          <p:nvSpPr>
            <p:cNvPr id="18" name="Forma 17"/>
            <p:cNvSpPr/>
            <p:nvPr/>
          </p:nvSpPr>
          <p:spPr>
            <a:xfrm>
              <a:off x="2743200"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9" name="Forma 18"/>
            <p:cNvSpPr/>
            <p:nvPr/>
          </p:nvSpPr>
          <p:spPr>
            <a:xfrm>
              <a:off x="2878988"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0" name="Forma 19"/>
            <p:cNvSpPr/>
            <p:nvPr/>
          </p:nvSpPr>
          <p:spPr>
            <a:xfrm>
              <a:off x="3014777"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1" name="Forma 20"/>
            <p:cNvSpPr/>
            <p:nvPr/>
          </p:nvSpPr>
          <p:spPr>
            <a:xfrm>
              <a:off x="3150565"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2" name="Forma 21"/>
            <p:cNvSpPr/>
            <p:nvPr/>
          </p:nvSpPr>
          <p:spPr>
            <a:xfrm>
              <a:off x="3286354"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3" name="Forma 22"/>
            <p:cNvSpPr/>
            <p:nvPr/>
          </p:nvSpPr>
          <p:spPr>
            <a:xfrm>
              <a:off x="3422142"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4" name="Forma 23"/>
            <p:cNvSpPr/>
            <p:nvPr/>
          </p:nvSpPr>
          <p:spPr>
            <a:xfrm>
              <a:off x="3557930" y="2084832"/>
              <a:ext cx="106985" cy="530352"/>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25" name="Forma 24"/>
            <p:cNvSpPr/>
            <p:nvPr/>
          </p:nvSpPr>
          <p:spPr>
            <a:xfrm>
              <a:off x="2743200" y="2002536"/>
              <a:ext cx="950519" cy="694944"/>
            </a:xfrm>
            <a:custGeom>
              <a:avLst/>
              <a:gdLst/>
              <a:ahLst/>
              <a:cxnLst/>
              <a:rect l="0" t="0" r="r" b="b"/>
              <a:pathLst>
                <a:path w="1000" h="1400" fill="none">
                  <a:moveTo>
                    <a:pt x="56" y="1190"/>
                  </a:moveTo>
                  <a:quadBezTo>
                    <a:pt x="127" y="1400"/>
                    <a:pt x="199" y="1190"/>
                  </a:quadBezTo>
                </a:path>
                <a:path w="1000" h="1400" fill="none">
                  <a:moveTo>
                    <a:pt x="199" y="210"/>
                  </a:moveTo>
                  <a:quadBezTo>
                    <a:pt x="270" y="0"/>
                    <a:pt x="341" y="210"/>
                  </a:quadBezTo>
                </a:path>
                <a:path w="1000" h="1400" fill="none">
                  <a:moveTo>
                    <a:pt x="341" y="1190"/>
                  </a:moveTo>
                  <a:quadBezTo>
                    <a:pt x="412" y="1400"/>
                    <a:pt x="484" y="1190"/>
                  </a:quadBezTo>
                </a:path>
                <a:path w="1000" h="1400" fill="none">
                  <a:moveTo>
                    <a:pt x="484" y="210"/>
                  </a:moveTo>
                  <a:quadBezTo>
                    <a:pt x="555" y="0"/>
                    <a:pt x="627" y="210"/>
                  </a:quadBezTo>
                </a:path>
                <a:path w="1000" h="1400" fill="none">
                  <a:moveTo>
                    <a:pt x="627" y="1190"/>
                  </a:moveTo>
                  <a:quadBezTo>
                    <a:pt x="698" y="1400"/>
                    <a:pt x="770" y="1190"/>
                  </a:quadBezTo>
                </a:path>
                <a:path w="1000" h="1400" fill="none">
                  <a:moveTo>
                    <a:pt x="770" y="210"/>
                  </a:moveTo>
                  <a:quadBezTo>
                    <a:pt x="841" y="0"/>
                    <a:pt x="913" y="210"/>
                  </a:quadBezTo>
                </a:path>
              </a:pathLst>
            </a:custGeom>
            <a:noFill/>
            <a:ln w="19050" cap="rnd">
              <a:solidFill>
                <a:srgbClr val="3E6750"/>
              </a:solidFill>
              <a:round/>
            </a:ln>
          </p:spPr>
        </p:sp>
        <p:sp>
          <p:nvSpPr>
            <p:cNvPr id="26" name="Forma 25"/>
            <p:cNvSpPr txBox="1"/>
            <p:nvPr/>
          </p:nvSpPr>
          <p:spPr>
            <a:xfrm>
              <a:off x="2468880" y="1714500"/>
              <a:ext cx="1499159"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325240"/>
                  </a:solidFill>
                  <a:latin typeface="Bahnschrift SemiBold Condensed"/>
                  <a:ea typeface="Bahnschrift SemiBold Condensed"/>
                  <a:cs typeface="Bahnschrift SemiBold Condensed"/>
                  <a:sym typeface="Bahnschrift SemiBold Condensed"/>
                </a:rPr>
                <a:t>GLP-1R / GIPR</a:t>
              </a:r>
              <a:endParaRPr lang="es-AR" sz="1200" dirty="0">
                <a:latin typeface="Bahnschrift SemiBold Condensed"/>
              </a:endParaRPr>
            </a:p>
          </p:txBody>
        </p:sp>
      </p:grpSp>
      <p:grpSp>
        <p:nvGrpSpPr>
          <p:cNvPr id="27" name="Gs"/>
          <p:cNvGrpSpPr/>
          <p:nvPr/>
        </p:nvGrpSpPr>
        <p:grpSpPr>
          <a:xfrm>
            <a:off x="2834640" y="2788920"/>
            <a:ext cx="881482" cy="608076"/>
            <a:chOff x="2834640" y="2788920"/>
            <a:chExt cx="881482" cy="608076"/>
          </a:xfrm>
        </p:grpSpPr>
        <p:sp>
          <p:nvSpPr>
            <p:cNvPr id="28" name="Forma 27"/>
            <p:cNvSpPr/>
            <p:nvPr/>
          </p:nvSpPr>
          <p:spPr>
            <a:xfrm>
              <a:off x="2926080" y="2788920"/>
              <a:ext cx="452628" cy="370332"/>
            </a:xfrm>
            <a:prstGeom prst="ellipse">
              <a:avLst/>
            </a:prstGeom>
            <a:gradFill rotWithShape="1">
              <a:gsLst>
                <a:gs pos="0">
                  <a:srgbClr val="F9CF8D"/>
                </a:gs>
                <a:gs pos="55000">
                  <a:srgbClr val="F5B041"/>
                </a:gs>
                <a:gs pos="100000">
                  <a:srgbClr val="B78430"/>
                </a:gs>
              </a:gsLst>
              <a:path path="circle">
                <a:fillToRect l="32000" t="28000" r="68000" b="72000"/>
              </a:path>
            </a:gradFill>
            <a:ln w="15875" cap="rnd">
              <a:solidFill>
                <a:srgbClr val="7A5820"/>
              </a:solidFill>
              <a:round/>
            </a:ln>
          </p:spPr>
          <p:txBody>
            <a:bodyPr wrap="square" lIns="0" tIns="0" rIns="0" bIns="0" anchor="ctr" rtlCol="0">
              <a:noAutofit/>
            </a:bodyPr>
            <a:lstStyle/>
            <a:p>
              <a:pPr algn="ctr">
                <a:spcAft>
                  <a:spcPts val="300"/>
                </a:spcAft>
                <a:buNone/>
              </a:pPr>
              <a:r>
                <a:rPr lang="es-AR" sz="1000" b="1" dirty="0">
                  <a:solidFill>
                    <a:srgbClr val="1E1E1E"/>
                  </a:solidFill>
                  <a:latin typeface="Bahnschrift SemiBold Condensed"/>
                  <a:ea typeface="Bahnschrift SemiBold Condensed"/>
                  <a:cs typeface="Bahnschrift SemiBold Condensed"/>
                  <a:sym typeface="Bahnschrift SemiBold Condensed"/>
                </a:rPr>
                <a:t>α·GTP</a:t>
              </a:r>
              <a:endParaRPr lang="es-AR" sz="1000" dirty="0">
                <a:latin typeface="Bahnschrift SemiBold Condensed"/>
              </a:endParaRPr>
            </a:p>
          </p:txBody>
        </p:sp>
        <p:sp>
          <p:nvSpPr>
            <p:cNvPr id="29" name="Forma 28"/>
            <p:cNvSpPr/>
            <p:nvPr/>
          </p:nvSpPr>
          <p:spPr>
            <a:xfrm>
              <a:off x="3337560" y="2805379"/>
              <a:ext cx="263347" cy="263347"/>
            </a:xfrm>
            <a:prstGeom prst="ellipse">
              <a:avLst/>
            </a:prstGeom>
            <a:gradFill rotWithShape="1">
              <a:gsLst>
                <a:gs pos="0">
                  <a:srgbClr val="CEE6F6"/>
                </a:gs>
                <a:gs pos="55000">
                  <a:srgbClr val="AED6F1"/>
                </a:gs>
                <a:gs pos="100000">
                  <a:srgbClr val="82A0B4"/>
                </a:gs>
              </a:gsLst>
              <a:path path="circle">
                <a:fillToRect l="32000" t="28000" r="68000" b="72000"/>
              </a:path>
            </a:gradFill>
            <a:ln w="12700" cap="rnd">
              <a:solidFill>
                <a:srgbClr val="2471A3"/>
              </a:solidFill>
              <a:round/>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β</a:t>
              </a:r>
              <a:endParaRPr lang="es-AR" sz="1100" dirty="0">
                <a:latin typeface="Bahnschrift SemiBold Condensed"/>
              </a:endParaRPr>
            </a:p>
          </p:txBody>
        </p:sp>
        <p:sp>
          <p:nvSpPr>
            <p:cNvPr id="30" name="Forma 29"/>
            <p:cNvSpPr/>
            <p:nvPr/>
          </p:nvSpPr>
          <p:spPr>
            <a:xfrm>
              <a:off x="3551530" y="2788920"/>
              <a:ext cx="164592" cy="164592"/>
            </a:xfrm>
            <a:prstGeom prst="ellipse">
              <a:avLst/>
            </a:prstGeom>
            <a:gradFill rotWithShape="1">
              <a:gsLst>
                <a:gs pos="0">
                  <a:srgbClr val="E4D2EB"/>
                </a:gs>
                <a:gs pos="55000">
                  <a:srgbClr val="D2B4DE"/>
                </a:gs>
                <a:gs pos="100000">
                  <a:srgbClr val="9D87A6"/>
                </a:gs>
              </a:gsLst>
              <a:path path="circle">
                <a:fillToRect l="32000" t="28000" r="68000" b="72000"/>
              </a:path>
            </a:gradFill>
            <a:ln w="12700" cap="rnd">
              <a:solidFill>
                <a:srgbClr val="6C3483"/>
              </a:solidFill>
              <a:round/>
            </a:ln>
          </p:spPr>
          <p:txBody>
            <a:bodyPr wrap="square" lIns="0" tIns="0" rIns="0" bIns="0" anchor="ctr" rtlCol="0">
              <a:noAutofit/>
            </a:bodyPr>
            <a:lstStyle/>
            <a:p>
              <a:pPr algn="ctr">
                <a:spcAft>
                  <a:spcPts val="300"/>
                </a:spcAft>
                <a:buNone/>
              </a:pPr>
              <a:r>
                <a:rPr lang="es-AR" sz="900" b="1" dirty="0">
                  <a:solidFill>
                    <a:srgbClr val="1E1E1E"/>
                  </a:solidFill>
                  <a:latin typeface="Bahnschrift SemiBold Condensed"/>
                  <a:ea typeface="Bahnschrift SemiBold Condensed"/>
                  <a:cs typeface="Bahnschrift SemiBold Condensed"/>
                  <a:sym typeface="Bahnschrift SemiBold Condensed"/>
                </a:rPr>
                <a:t>γ</a:t>
              </a:r>
              <a:endParaRPr lang="es-AR" sz="900" dirty="0">
                <a:latin typeface="Bahnschrift SemiBold Condensed"/>
              </a:endParaRPr>
            </a:p>
          </p:txBody>
        </p:sp>
        <p:sp>
          <p:nvSpPr>
            <p:cNvPr id="31" name="Forma 30"/>
            <p:cNvSpPr txBox="1"/>
            <p:nvPr/>
          </p:nvSpPr>
          <p:spPr>
            <a:xfrm>
              <a:off x="2834640" y="3159252"/>
              <a:ext cx="800100" cy="237744"/>
            </a:xfrm>
            <a:prstGeom prst="rect">
              <a:avLst/>
            </a:prstGeom>
            <a:noFill/>
            <a:ln>
              <a:noFill/>
            </a:ln>
          </p:spPr>
          <p:txBody>
            <a:bodyPr wrap="square" lIns="0" tIns="0" rIns="0" bIns="0" anchor="ctr" rtlCol="0">
              <a:noAutofit/>
            </a:bodyPr>
            <a:lstStyle/>
            <a:p>
              <a:pPr algn="ctr">
                <a:spcAft>
                  <a:spcPts val="300"/>
                </a:spcAft>
                <a:buNone/>
              </a:pPr>
              <a:r>
                <a:rPr lang="es-AR" sz="1100" b="1" dirty="0">
                  <a:solidFill>
                    <a:srgbClr val="62461A"/>
                  </a:solidFill>
                  <a:latin typeface="Bahnschrift SemiBold Condensed"/>
                  <a:ea typeface="Bahnschrift SemiBold Condensed"/>
                  <a:cs typeface="Bahnschrift SemiBold Condensed"/>
                  <a:sym typeface="Bahnschrift SemiBold Condensed"/>
                </a:rPr>
                <a:t>Gs</a:t>
              </a:r>
              <a:endParaRPr lang="es-AR" sz="1100" dirty="0">
                <a:latin typeface="Bahnschrift SemiBold Condensed"/>
              </a:endParaRPr>
            </a:p>
          </p:txBody>
        </p:sp>
      </p:grpSp>
      <p:sp>
        <p:nvSpPr>
          <p:cNvPr id="32" name="AC"/>
          <p:cNvSpPr/>
          <p:nvPr/>
        </p:nvSpPr>
        <p:spPr>
          <a:xfrm>
            <a:off x="4206240" y="2834640"/>
            <a:ext cx="1413077"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Adenilato ciclasa</a:t>
            </a:r>
            <a:endParaRPr lang="es-AR" sz="1250" dirty="0">
              <a:latin typeface="Bahnschrift SemiBold Condensed"/>
            </a:endParaRPr>
          </a:p>
        </p:txBody>
      </p:sp>
      <p:sp>
        <p:nvSpPr>
          <p:cNvPr id="33" name="AMPc"/>
          <p:cNvSpPr/>
          <p:nvPr/>
        </p:nvSpPr>
        <p:spPr>
          <a:xfrm>
            <a:off x="4709160" y="3429000"/>
            <a:ext cx="68580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AMPc</a:t>
            </a:r>
            <a:endParaRPr lang="es-AR" sz="1050" dirty="0">
              <a:latin typeface="Bahnschrift SemiBold Condensed"/>
            </a:endParaRPr>
          </a:p>
        </p:txBody>
      </p:sp>
      <p:sp>
        <p:nvSpPr>
          <p:cNvPr id="34" name="PKA"/>
          <p:cNvSpPr/>
          <p:nvPr/>
        </p:nvSpPr>
        <p:spPr>
          <a:xfrm>
            <a:off x="3657600" y="4160520"/>
            <a:ext cx="58244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PKA</a:t>
            </a:r>
            <a:endParaRPr lang="es-AR" sz="1250" dirty="0">
              <a:latin typeface="Bahnschrift SemiBold Condensed"/>
            </a:endParaRPr>
          </a:p>
        </p:txBody>
      </p:sp>
      <p:sp>
        <p:nvSpPr>
          <p:cNvPr id="35" name="Epac2"/>
          <p:cNvSpPr/>
          <p:nvPr/>
        </p:nvSpPr>
        <p:spPr>
          <a:xfrm>
            <a:off x="5074920" y="4160520"/>
            <a:ext cx="71137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Epac2</a:t>
            </a:r>
            <a:endParaRPr lang="es-AR" sz="1250" dirty="0">
              <a:latin typeface="Bahnschrift SemiBold Condensed"/>
            </a:endParaRPr>
          </a:p>
        </p:txBody>
      </p:sp>
      <p:grpSp>
        <p:nvGrpSpPr>
          <p:cNvPr id="36" name="Gránulo 0"/>
          <p:cNvGrpSpPr/>
          <p:nvPr/>
        </p:nvGrpSpPr>
        <p:grpSpPr>
          <a:xfrm>
            <a:off x="5120640" y="4937760"/>
            <a:ext cx="411480" cy="411480"/>
            <a:chOff x="5120640" y="4937760"/>
            <a:chExt cx="411480" cy="411480"/>
          </a:xfrm>
        </p:grpSpPr>
        <p:sp>
          <p:nvSpPr>
            <p:cNvPr id="37" name="Forma 36"/>
            <p:cNvSpPr/>
            <p:nvPr/>
          </p:nvSpPr>
          <p:spPr>
            <a:xfrm>
              <a:off x="5120640" y="4937760"/>
              <a:ext cx="411480" cy="411480"/>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38" name="Forma 37"/>
            <p:cNvSpPr/>
            <p:nvPr/>
          </p:nvSpPr>
          <p:spPr>
            <a:xfrm>
              <a:off x="5244084" y="5061204"/>
              <a:ext cx="164592" cy="164592"/>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39" name="Gránulo 1"/>
          <p:cNvGrpSpPr/>
          <p:nvPr/>
        </p:nvGrpSpPr>
        <p:grpSpPr>
          <a:xfrm>
            <a:off x="5623560" y="5212080"/>
            <a:ext cx="411480" cy="411480"/>
            <a:chOff x="5623560" y="5212080"/>
            <a:chExt cx="411480" cy="411480"/>
          </a:xfrm>
        </p:grpSpPr>
        <p:sp>
          <p:nvSpPr>
            <p:cNvPr id="40" name="Forma 39"/>
            <p:cNvSpPr/>
            <p:nvPr/>
          </p:nvSpPr>
          <p:spPr>
            <a:xfrm>
              <a:off x="5623560" y="5212080"/>
              <a:ext cx="411480" cy="411480"/>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5747004" y="5335524"/>
              <a:ext cx="164592" cy="164592"/>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2"/>
          <p:cNvGrpSpPr/>
          <p:nvPr/>
        </p:nvGrpSpPr>
        <p:grpSpPr>
          <a:xfrm>
            <a:off x="6126480" y="4937760"/>
            <a:ext cx="411480" cy="411480"/>
            <a:chOff x="6126480" y="4937760"/>
            <a:chExt cx="411480" cy="411480"/>
          </a:xfrm>
        </p:grpSpPr>
        <p:sp>
          <p:nvSpPr>
            <p:cNvPr id="43" name="Forma 42"/>
            <p:cNvSpPr/>
            <p:nvPr/>
          </p:nvSpPr>
          <p:spPr>
            <a:xfrm>
              <a:off x="6126480" y="4937760"/>
              <a:ext cx="411480" cy="411480"/>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6249924" y="5061204"/>
              <a:ext cx="164592" cy="164592"/>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3"/>
          <p:cNvGrpSpPr/>
          <p:nvPr/>
        </p:nvGrpSpPr>
        <p:grpSpPr>
          <a:xfrm>
            <a:off x="6629400" y="5212080"/>
            <a:ext cx="411480" cy="411480"/>
            <a:chOff x="6629400" y="5212080"/>
            <a:chExt cx="411480" cy="411480"/>
          </a:xfrm>
        </p:grpSpPr>
        <p:sp>
          <p:nvSpPr>
            <p:cNvPr id="46" name="Forma 45"/>
            <p:cNvSpPr/>
            <p:nvPr/>
          </p:nvSpPr>
          <p:spPr>
            <a:xfrm>
              <a:off x="6629400" y="5212080"/>
              <a:ext cx="411480" cy="411480"/>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752844" y="5335524"/>
              <a:ext cx="164592" cy="164592"/>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sp>
        <p:nvSpPr>
          <p:cNvPr id="48" name="Flecha 47_2"/>
          <p:cNvSpPr/>
          <p:nvPr/>
        </p:nvSpPr>
        <p:spPr>
          <a:xfrm>
            <a:off x="3886200" y="3794760"/>
            <a:ext cx="137160" cy="320040"/>
          </a:xfrm>
          <a:custGeom>
            <a:avLst/>
            <a:gdLst/>
            <a:ahLst/>
            <a:cxnLst/>
            <a:rect l="0" t="0" r="r" b="b"/>
            <a:pathLst>
              <a:path w="150" h="349" fill="none">
                <a:moveTo>
                  <a:pt x="150" y="0"/>
                </a:moveTo>
                <a:lnTo>
                  <a:pt x="0" y="349"/>
                </a:lnTo>
              </a:path>
            </a:pathLst>
          </a:custGeom>
          <a:noFill/>
          <a:ln w="31750" cap="rnd">
            <a:solidFill>
              <a:srgbClr val="1E8C3A"/>
            </a:solidFill>
            <a:round/>
            <a:tailEnd type="triangle" w="med" len="med"/>
          </a:ln>
        </p:spPr>
      </p:sp>
      <p:sp>
        <p:nvSpPr>
          <p:cNvPr id="49" name="Flecha 49_2"/>
          <p:cNvSpPr/>
          <p:nvPr/>
        </p:nvSpPr>
        <p:spPr>
          <a:xfrm>
            <a:off x="5120640" y="3840480"/>
            <a:ext cx="228600" cy="274320"/>
          </a:xfrm>
          <a:custGeom>
            <a:avLst/>
            <a:gdLst/>
            <a:ahLst/>
            <a:cxnLst/>
            <a:rect l="0" t="0" r="r" b="b"/>
            <a:pathLst>
              <a:path w="250" h="299" fill="none">
                <a:moveTo>
                  <a:pt x="0" y="0"/>
                </a:moveTo>
                <a:lnTo>
                  <a:pt x="250" y="299"/>
                </a:lnTo>
              </a:path>
            </a:pathLst>
          </a:custGeom>
          <a:noFill/>
          <a:ln w="31750" cap="rnd">
            <a:solidFill>
              <a:srgbClr val="1E8C3A"/>
            </a:solidFill>
            <a:round/>
            <a:tailEnd type="triangle" w="med" len="med"/>
          </a:ln>
        </p:spPr>
      </p:sp>
      <p:sp>
        <p:nvSpPr>
          <p:cNvPr id="50" name="Flecha 51_2"/>
          <p:cNvSpPr/>
          <p:nvPr/>
        </p:nvSpPr>
        <p:spPr>
          <a:xfrm>
            <a:off x="4023360" y="4480560"/>
            <a:ext cx="1280160" cy="457200"/>
          </a:xfrm>
          <a:custGeom>
            <a:avLst/>
            <a:gdLst/>
            <a:ahLst/>
            <a:cxnLst/>
            <a:rect l="0" t="0" r="r" b="b"/>
            <a:pathLst>
              <a:path w="1399" h="500" fill="none">
                <a:moveTo>
                  <a:pt x="0" y="0"/>
                </a:moveTo>
                <a:lnTo>
                  <a:pt x="1399" y="500"/>
                </a:lnTo>
              </a:path>
            </a:pathLst>
          </a:custGeom>
          <a:noFill/>
          <a:ln w="31750" cap="rnd">
            <a:solidFill>
              <a:srgbClr val="1E8C3A"/>
            </a:solidFill>
            <a:round/>
            <a:tailEnd type="triangle" w="med" len="med"/>
          </a:ln>
        </p:spPr>
      </p:sp>
      <p:sp>
        <p:nvSpPr>
          <p:cNvPr id="51" name="Flecha 53_2"/>
          <p:cNvSpPr/>
          <p:nvPr/>
        </p:nvSpPr>
        <p:spPr>
          <a:xfrm>
            <a:off x="5486400" y="4480560"/>
            <a:ext cx="274320" cy="411480"/>
          </a:xfrm>
          <a:custGeom>
            <a:avLst/>
            <a:gdLst/>
            <a:ahLst/>
            <a:cxnLst/>
            <a:rect l="0" t="0" r="r" b="b"/>
            <a:pathLst>
              <a:path w="299" h="449" fill="none">
                <a:moveTo>
                  <a:pt x="0" y="0"/>
                </a:moveTo>
                <a:lnTo>
                  <a:pt x="299" y="449"/>
                </a:lnTo>
              </a:path>
            </a:pathLst>
          </a:custGeom>
          <a:noFill/>
          <a:ln w="31750" cap="rnd">
            <a:solidFill>
              <a:srgbClr val="1E8C3A"/>
            </a:solidFill>
            <a:round/>
            <a:tailEnd type="triangle" w="med" len="med"/>
          </a:ln>
        </p:spPr>
      </p:sp>
      <p:grpSp>
        <p:nvGrpSpPr>
          <p:cNvPr id="52" name="Recuadro Señal"/>
          <p:cNvGrpSpPr/>
          <p:nvPr/>
        </p:nvGrpSpPr>
        <p:grpSpPr>
          <a:xfrm>
            <a:off x="7863840" y="1005840"/>
            <a:ext cx="3931920" cy="2194560"/>
            <a:chOff x="7863840" y="1005840"/>
            <a:chExt cx="3931920" cy="2194560"/>
          </a:xfrm>
        </p:grpSpPr>
        <p:sp>
          <p:nvSpPr>
            <p:cNvPr id="53" name="Forma 56"/>
            <p:cNvSpPr/>
            <p:nvPr/>
          </p:nvSpPr>
          <p:spPr>
            <a:xfrm>
              <a:off x="7863840" y="1188720"/>
              <a:ext cx="3931920" cy="2011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GLP-1</a:t>
              </a:r>
              <a:r>
                <a:rPr lang="es-AR" sz="1650" dirty="0">
                  <a:solidFill>
                    <a:srgbClr val="1E1E1E"/>
                  </a:solidFill>
                  <a:latin typeface="Bahnschrift"/>
                  <a:ea typeface="Bahnschrift"/>
                  <a:cs typeface="Bahnschrift"/>
                  <a:sym typeface="Bahnschrift"/>
                </a:rPr>
                <a:t> (células L) y </a:t>
              </a:r>
              <a:r>
                <a:rPr lang="es-AR" sz="1650" b="1" dirty="0">
                  <a:solidFill>
                    <a:srgbClr val="1E1E1E"/>
                  </a:solidFill>
                  <a:latin typeface="Bahnschrift"/>
                  <a:ea typeface="Bahnschrift"/>
                  <a:cs typeface="Bahnschrift"/>
                  <a:sym typeface="Bahnschrift"/>
                </a:rPr>
                <a:t>GIP</a:t>
              </a:r>
              <a:r>
                <a:rPr lang="es-AR" sz="1650" dirty="0">
                  <a:solidFill>
                    <a:srgbClr val="1E1E1E"/>
                  </a:solidFill>
                  <a:latin typeface="Bahnschrift"/>
                  <a:ea typeface="Bahnschrift"/>
                  <a:cs typeface="Bahnschrift"/>
                  <a:sym typeface="Bahnschrift"/>
                </a:rPr>
                <a:t> (células K) se liberan al llegar nutrientes al intestino.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Receptores acoplados a </a:t>
              </a:r>
              <a:r>
                <a:rPr lang="es-AR" sz="1650" b="1" dirty="0">
                  <a:solidFill>
                    <a:srgbClr val="1E1E1E"/>
                  </a:solidFill>
                  <a:latin typeface="Bahnschrift"/>
                  <a:ea typeface="Bahnschrift"/>
                  <a:cs typeface="Bahnschrift"/>
                  <a:sym typeface="Bahnschrift"/>
                </a:rPr>
                <a:t>Gs</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AMPc</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PKA</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Epac2</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54" name="Forma 57"/>
            <p:cNvSpPr/>
            <p:nvPr/>
          </p:nvSpPr>
          <p:spPr>
            <a:xfrm>
              <a:off x="7973568" y="1005840"/>
              <a:ext cx="81042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SEÑAL</a:t>
              </a:r>
              <a:endParaRPr lang="es-AR" sz="1500" dirty="0">
                <a:latin typeface="Bahnschrift SemiBold Condensed"/>
              </a:endParaRPr>
            </a:p>
          </p:txBody>
        </p:sp>
      </p:grpSp>
      <p:grpSp>
        <p:nvGrpSpPr>
          <p:cNvPr id="55" name="Recuadro Dependencia de glucosa"/>
          <p:cNvGrpSpPr/>
          <p:nvPr/>
        </p:nvGrpSpPr>
        <p:grpSpPr>
          <a:xfrm>
            <a:off x="7863840" y="3383280"/>
            <a:ext cx="3931920" cy="1600200"/>
            <a:chOff x="7863840" y="3383280"/>
            <a:chExt cx="3931920" cy="1600200"/>
          </a:xfrm>
        </p:grpSpPr>
        <p:sp>
          <p:nvSpPr>
            <p:cNvPr id="56" name="Forma 59"/>
            <p:cNvSpPr/>
            <p:nvPr/>
          </p:nvSpPr>
          <p:spPr>
            <a:xfrm>
              <a:off x="7863840" y="3566160"/>
              <a:ext cx="3931920" cy="14173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Potencian la secreción </a:t>
              </a:r>
              <a:r>
                <a:rPr lang="es-AR" sz="1700" b="1" dirty="0">
                  <a:solidFill>
                    <a:srgbClr val="1E1E1E"/>
                  </a:solidFill>
                  <a:latin typeface="Bahnschrift"/>
                  <a:ea typeface="Bahnschrift"/>
                  <a:cs typeface="Bahnschrift"/>
                  <a:sym typeface="Bahnschrift"/>
                </a:rPr>
                <a:t>solo si la glucosa está elevada</a:t>
              </a:r>
              <a:r>
                <a:rPr lang="es-AR" sz="1700" dirty="0">
                  <a:solidFill>
                    <a:srgbClr val="1E1E1E"/>
                  </a:solidFill>
                  <a:latin typeface="Bahnschrift"/>
                  <a:ea typeface="Bahnschrift"/>
                  <a:cs typeface="Bahnschrift"/>
                  <a:sym typeface="Bahnschrift"/>
                </a:rPr>
                <a:t>: amplifican, no disparan.</a:t>
              </a:r>
              <a:endParaRPr lang="es-AR" sz="1700" dirty="0">
                <a:latin typeface="Bahnschrift"/>
              </a:endParaRPr>
            </a:p>
          </p:txBody>
        </p:sp>
        <p:sp>
          <p:nvSpPr>
            <p:cNvPr id="57" name="Forma 60"/>
            <p:cNvSpPr/>
            <p:nvPr/>
          </p:nvSpPr>
          <p:spPr>
            <a:xfrm>
              <a:off x="7973568" y="3383280"/>
              <a:ext cx="235797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DEPENDENCIA DE GLUCOSA</a:t>
              </a:r>
              <a:endParaRPr lang="es-AR" sz="1550" dirty="0">
                <a:latin typeface="Bahnschrift SemiBold Condensed"/>
              </a:endParaRPr>
            </a:p>
          </p:txBody>
        </p:sp>
      </p:grpSp>
      <p:sp>
        <p:nvSpPr>
          <p:cNvPr id="58" name="Forma 61"/>
          <p:cNvSpPr/>
          <p:nvPr/>
        </p:nvSpPr>
        <p:spPr>
          <a:xfrm>
            <a:off x="7863840" y="5166360"/>
            <a:ext cx="3931920" cy="13258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Efecto incretina</a:t>
            </a:r>
            <a:r>
              <a:rPr lang="es-AR" sz="1650" dirty="0">
                <a:solidFill>
                  <a:srgbClr val="1E1E1E"/>
                </a:solidFill>
                <a:latin typeface="Bahnschrift"/>
                <a:ea typeface="Bahnschrift"/>
                <a:cs typeface="Bahnschrift"/>
                <a:sym typeface="Bahnschrift"/>
              </a:rPr>
              <a:t>: más insulina tras glucosa oral que por vía venosa.</a:t>
            </a:r>
            <a:endParaRPr lang="es-AR" sz="1650" dirty="0">
              <a:latin typeface="Bahnschrift"/>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656474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AMPLIFICACIÓN POR INCRETINAS: GLP-1 Y GIP</a:t>
            </a:r>
            <a:endParaRPr lang="es-AR" sz="2600" dirty="0">
              <a:latin typeface="Bahnschrift SemiBold Condensed"/>
            </a:endParaRPr>
          </a:p>
        </p:txBody>
      </p:sp>
      <p:sp>
        <p:nvSpPr>
          <p:cNvPr id="5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5"/>
                                        </p:tgtEl>
                                        <p:attrNameLst>
                                          <p:attrName>style.visibility</p:attrName>
                                        </p:attrNameLst>
                                      </p:cBhvr>
                                      <p:to>
                                        <p:strVal val="visible"/>
                                      </p:to>
                                    </p:set>
                                    <p:animEffect transition="in" filter="fade">
                                      <p:cBhvr>
                                        <p:cTn id="5" dur="500"/>
                                        <p:tgtEl>
                                          <p:spTgt spid="15"/>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16"/>
                                        </p:tgtEl>
                                        <p:attrNameLst>
                                          <p:attrName>style.visibility</p:attrName>
                                        </p:attrNameLst>
                                      </p:cBhvr>
                                      <p:to>
                                        <p:strVal val="visible"/>
                                      </p:to>
                                    </p:set>
                                    <p:animEffect transition="in" filter="fade">
                                      <p:cBhvr>
                                        <p:cTn id="8" dur="500"/>
                                        <p:tgtEl>
                                          <p:spTgt spid="16"/>
                                        </p:tgtEl>
                                      </p:cBhvr>
                                    </p:animEffect>
                                  </p:childTnLst>
                                </p:cTn>
                              </p:par>
                            </p:childTnLst>
                          </p:cTn>
                        </p:par>
                        <p:par>
                          <p:cTn id="14" fill="hold">
                            <p:stCondLst>
                              <p:cond delay="500"/>
                            </p:stCondLst>
                            <p:childTnLst>
                              <p:par>
                                <p:cTn id="10" presetID="0" presetClass="path" presetSubtype="0" accel="20000" decel="20000" fill="hold" grpId="0" nodeType="afterEffect">
                                  <p:stCondLst>
                                    <p:cond delay="0"/>
                                  </p:stCondLst>
                                  <p:childTnLst>
                                    <p:animMotion origin="layout" path="M 0 0 L 0.1163 0.1400 E" pathEditMode="relative" ptsTypes="">
                                      <p:cBhvr>
                                        <p:cTn id="11" dur="1100" fill="hold"/>
                                        <p:tgtEl>
                                          <p:spTgt spid="15"/>
                                        </p:tgtEl>
                                        <p:attrNameLst>
                                          <p:attrName>ppt_x</p:attrName>
                                          <p:attrName>ppt_y</p:attrName>
                                        </p:attrNameLst>
                                      </p:cBhvr>
                                      <p:rCtr x="5812" y="7000"/>
                                    </p:animMotion>
                                  </p:childTnLst>
                                </p:cTn>
                              </p:par>
                              <p:par>
                                <p:cTn id="12" presetID="0" presetClass="path" presetSubtype="0" accel="20000" decel="20000" fill="hold" grpId="0" nodeType="withEffect">
                                  <p:stCondLst>
                                    <p:cond delay="0"/>
                                  </p:stCondLst>
                                  <p:childTnLst>
                                    <p:animMotion origin="layout" path="M 0 0 L 0.0450 0.1400 E" pathEditMode="relative" ptsTypes="">
                                      <p:cBhvr>
                                        <p:cTn id="13" dur="1100" fill="hold"/>
                                        <p:tgtEl>
                                          <p:spTgt spid="16"/>
                                        </p:tgtEl>
                                        <p:attrNameLst>
                                          <p:attrName>ppt_x</p:attrName>
                                          <p:attrName>ppt_y</p:attrName>
                                        </p:attrNameLst>
                                      </p:cBhvr>
                                      <p:rCtr x="2250" y="7000"/>
                                    </p:animMotion>
                                  </p:childTnLst>
                                </p:cTn>
                              </p:par>
                            </p:childTnLst>
                          </p:cTn>
                        </p:par>
                      </p:childTnLst>
                    </p:cTn>
                  </p:par>
                  <p:par>
                    <p:cTn id="33" fill="hold">
                      <p:stCondLst>
                        <p:cond delay="indefinite"/>
                      </p:stCondLst>
                      <p:childTnLst>
                        <p:par>
                          <p:cTn id="18" fill="hold">
                            <p:stCondLst>
                              <p:cond delay="0"/>
                            </p:stCondLst>
                            <p:childTnLst>
                              <p:par>
                                <p:cTn id="16" presetID="6" presetClass="emph" presetSubtype="0" fill="hold" grpId="0" nodeType="clickEffect">
                                  <p:stCondLst>
                                    <p:cond delay="0"/>
                                  </p:stCondLst>
                                  <p:childTnLst>
                                    <p:animScale>
                                      <p:cBhvr>
                                        <p:cTn id="17" dur="300" autoRev="1" fill="hold"/>
                                        <p:tgtEl>
                                          <p:spTgt spid="17"/>
                                        </p:tgtEl>
                                      </p:cBhvr>
                                      <p:by x="112000" y="112000"/>
                                    </p:animScale>
                                  </p:childTnLst>
                                </p:cTn>
                              </p:par>
                            </p:childTnLst>
                          </p:cTn>
                        </p:par>
                        <p:par>
                          <p:cTn id="22" fill="hold">
                            <p:stCondLst>
                              <p:cond delay="300"/>
                            </p:stCondLst>
                            <p:childTnLst>
                              <p:par>
                                <p:cTn id="19" presetID="10" presetClass="entr" presetSubtype="0" fill="hold" grpId="0" nodeType="after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par>
                          <p:cTn id="26" fill="hold">
                            <p:stCondLst>
                              <p:cond delay="800"/>
                            </p:stCondLst>
                            <p:childTnLst>
                              <p:par>
                                <p:cTn id="23" presetID="10"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childTnLst>
                          </p:cTn>
                        </p:par>
                        <p:par>
                          <p:cTn id="32" fill="hold">
                            <p:stCondLst>
                              <p:cond delay="1300"/>
                            </p:stCondLst>
                            <p:childTnLst>
                              <p:par>
                                <p:cTn id="27" presetID="53" presetClass="entr" presetSubtype="16" fill="hold" grpId="0" nodeType="afterEffect">
                                  <p:stCondLst>
                                    <p:cond delay="0"/>
                                  </p:stCondLst>
                                  <p:childTnLst>
                                    <p:set>
                                      <p:cBhvr>
                                        <p:cTn id="28" dur="1" fill="hold">
                                          <p:stCondLst>
                                            <p:cond delay="0"/>
                                          </p:stCondLst>
                                        </p:cTn>
                                        <p:tgtEl>
                                          <p:spTgt spid="33"/>
                                        </p:tgtEl>
                                        <p:attrNameLst>
                                          <p:attrName>style.visibility</p:attrName>
                                        </p:attrNameLst>
                                      </p:cBhvr>
                                      <p:to>
                                        <p:strVal val="visible"/>
                                      </p:to>
                                    </p:set>
                                    <p:anim calcmode="lin" valueType="num">
                                      <p:cBhvr>
                                        <p:cTn id="29" dur="500" fill="hold"/>
                                        <p:tgtEl>
                                          <p:spTgt spid="33"/>
                                        </p:tgtEl>
                                        <p:attrNameLst>
                                          <p:attrName>ppt_w</p:attrName>
                                        </p:attrNameLst>
                                      </p:cBhvr>
                                      <p:tavLst>
                                        <p:tav tm="0">
                                          <p:val>
                                            <p:fltVal val="0"/>
                                          </p:val>
                                        </p:tav>
                                        <p:tav tm="100000">
                                          <p:val>
                                            <p:strVal val="#ppt_w"/>
                                          </p:val>
                                        </p:tav>
                                      </p:tavLst>
                                    </p:anim>
                                    <p:anim calcmode="lin" valueType="num">
                                      <p:cBhvr>
                                        <p:cTn id="30" dur="500" fill="hold"/>
                                        <p:tgtEl>
                                          <p:spTgt spid="33"/>
                                        </p:tgtEl>
                                        <p:attrNameLst>
                                          <p:attrName>ppt_h</p:attrName>
                                        </p:attrNameLst>
                                      </p:cBhvr>
                                      <p:tavLst>
                                        <p:tav tm="0">
                                          <p:val>
                                            <p:fltVal val="0"/>
                                          </p:val>
                                        </p:tav>
                                        <p:tav tm="100000">
                                          <p:val>
                                            <p:strVal val="#ppt_h"/>
                                          </p:val>
                                        </p:tav>
                                      </p:tavLst>
                                    </p:anim>
                                    <p:animEffect transition="in" filter="fade">
                                      <p:cBhvr>
                                        <p:cTn id="31" dur="500"/>
                                        <p:tgtEl>
                                          <p:spTgt spid="33"/>
                                        </p:tgtEl>
                                      </p:cBhvr>
                                    </p:animEffect>
                                  </p:childTnLst>
                                </p:cTn>
                              </p:par>
                            </p:childTnLst>
                          </p:cTn>
                        </p:par>
                      </p:childTnLst>
                    </p:cTn>
                  </p:par>
                  <p:par>
                    <p:cTn id="48" fill="hold">
                      <p:stCondLst>
                        <p:cond delay="indefinite"/>
                      </p:stCondLst>
                      <p:childTnLst>
                        <p:par>
                          <p:cTn id="37" fill="hold">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8"/>
                                        </p:tgtEl>
                                        <p:attrNameLst>
                                          <p:attrName>style.visibility</p:attrName>
                                        </p:attrNameLst>
                                      </p:cBhvr>
                                      <p:to>
                                        <p:strVal val="visible"/>
                                      </p:to>
                                    </p:set>
                                    <p:animEffect transition="in" filter="wipe(up)">
                                      <p:cBhvr>
                                        <p:cTn id="36" dur="600"/>
                                        <p:tgtEl>
                                          <p:spTgt spid="48"/>
                                        </p:tgtEl>
                                      </p:cBhvr>
                                    </p:animEffect>
                                  </p:childTnLst>
                                </p:cTn>
                              </p:par>
                            </p:childTnLst>
                          </p:cTn>
                        </p:par>
                        <p:par>
                          <p:cTn id="47" fill="hold">
                            <p:stCondLst>
                              <p:cond delay="600"/>
                            </p:stCondLst>
                            <p:childTnLst>
                              <p:par>
                                <p:cTn id="38" presetID="10" presetClass="entr" presetSubtype="0" fill="hold" grpId="0" nodeType="after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fade">
                                      <p:cBhvr>
                                        <p:cTn id="40" dur="500"/>
                                        <p:tgtEl>
                                          <p:spTgt spid="34"/>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wipe(up)">
                                      <p:cBhvr>
                                        <p:cTn id="43" dur="600"/>
                                        <p:tgtEl>
                                          <p:spTgt spid="4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childTnLst>
                          </p:cTn>
                        </p:par>
                      </p:childTnLst>
                    </p:cTn>
                  </p:par>
                  <p:par>
                    <p:cTn id="65" fill="hold">
                      <p:stCondLst>
                        <p:cond delay="indefinite"/>
                      </p:stCondLst>
                      <p:childTnLst>
                        <p:par>
                          <p:cTn id="55"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50"/>
                                        </p:tgtEl>
                                        <p:attrNameLst>
                                          <p:attrName>style.visibility</p:attrName>
                                        </p:attrNameLst>
                                      </p:cBhvr>
                                      <p:to>
                                        <p:strVal val="visible"/>
                                      </p:to>
                                    </p:set>
                                    <p:animEffect transition="in" filter="wipe(left)">
                                      <p:cBhvr>
                                        <p:cTn id="51" dur="600"/>
                                        <p:tgtEl>
                                          <p:spTgt spid="50"/>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wipe(up)">
                                      <p:cBhvr>
                                        <p:cTn id="54" dur="600"/>
                                        <p:tgtEl>
                                          <p:spTgt spid="51"/>
                                        </p:tgtEl>
                                      </p:cBhvr>
                                    </p:animEffect>
                                  </p:childTnLst>
                                </p:cTn>
                              </p:par>
                            </p:childTnLst>
                          </p:cTn>
                        </p:par>
                        <p:par>
                          <p:cTn id="64" fill="hold">
                            <p:stCondLst>
                              <p:cond delay="600"/>
                            </p:stCondLst>
                            <p:childTnLst>
                              <p:par>
                                <p:cTn id="56" presetID="6" presetClass="emph" presetSubtype="0" fill="hold" grpId="0" nodeType="afterEffect">
                                  <p:stCondLst>
                                    <p:cond delay="0"/>
                                  </p:stCondLst>
                                  <p:childTnLst>
                                    <p:animScale>
                                      <p:cBhvr>
                                        <p:cTn id="57" dur="300" autoRev="1" fill="hold"/>
                                        <p:tgtEl>
                                          <p:spTgt spid="36"/>
                                        </p:tgtEl>
                                      </p:cBhvr>
                                      <p:by x="112000" y="112000"/>
                                    </p:animScale>
                                  </p:childTnLst>
                                </p:cTn>
                              </p:par>
                              <p:par>
                                <p:cTn id="58" presetID="6" presetClass="emph" presetSubtype="0" fill="hold" grpId="0" nodeType="withEffect">
                                  <p:stCondLst>
                                    <p:cond delay="0"/>
                                  </p:stCondLst>
                                  <p:childTnLst>
                                    <p:animScale>
                                      <p:cBhvr>
                                        <p:cTn id="59" dur="300" autoRev="1" fill="hold"/>
                                        <p:tgtEl>
                                          <p:spTgt spid="39"/>
                                        </p:tgtEl>
                                      </p:cBhvr>
                                      <p:by x="112000" y="112000"/>
                                    </p:animScale>
                                  </p:childTnLst>
                                </p:cTn>
                              </p:par>
                              <p:par>
                                <p:cTn id="60" presetID="6" presetClass="emph" presetSubtype="0" fill="hold" grpId="0" nodeType="withEffect">
                                  <p:stCondLst>
                                    <p:cond delay="0"/>
                                  </p:stCondLst>
                                  <p:childTnLst>
                                    <p:animScale>
                                      <p:cBhvr>
                                        <p:cTn id="61" dur="300" autoRev="1" fill="hold"/>
                                        <p:tgtEl>
                                          <p:spTgt spid="42"/>
                                        </p:tgtEl>
                                      </p:cBhvr>
                                      <p:by x="112000" y="112000"/>
                                    </p:animScale>
                                  </p:childTnLst>
                                </p:cTn>
                              </p:par>
                              <p:par>
                                <p:cTn id="62" presetID="6" presetClass="emph" presetSubtype="0" fill="hold" grpId="0" nodeType="withEffect">
                                  <p:stCondLst>
                                    <p:cond delay="0"/>
                                  </p:stCondLst>
                                  <p:childTnLst>
                                    <p:animScale>
                                      <p:cBhvr>
                                        <p:cTn id="63" dur="300" autoRev="1" fill="hold"/>
                                        <p:tgtEl>
                                          <p:spTgt spid="45"/>
                                        </p:tgtEl>
                                      </p:cBhvr>
                                      <p:by x="112000" y="112000"/>
                                    </p:animScale>
                                  </p:childTnLst>
                                </p:cTn>
                              </p:par>
                            </p:childTnLst>
                          </p:cTn>
                        </p:par>
                      </p:childTnLst>
                    </p:cTn>
                  </p:par>
                  <p:par>
                    <p:cTn id="70" fill="hold">
                      <p:stCondLst>
                        <p:cond delay="indefinite"/>
                      </p:stCondLst>
                      <p:childTnLst>
                        <p:par>
                          <p:cTn id="69"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52"/>
                                        </p:tgtEl>
                                        <p:attrNameLst>
                                          <p:attrName>style.visibility</p:attrName>
                                        </p:attrNameLst>
                                      </p:cBhvr>
                                      <p:to>
                                        <p:strVal val="visible"/>
                                      </p:to>
                                    </p:set>
                                    <p:animEffect transition="in" filter="fade">
                                      <p:cBhvr>
                                        <p:cTn id="68" dur="500"/>
                                        <p:tgtEl>
                                          <p:spTgt spid="52"/>
                                        </p:tgtEl>
                                      </p:cBhvr>
                                    </p:animEffect>
                                  </p:childTnLst>
                                </p:cTn>
                              </p:par>
                            </p:childTnLst>
                          </p:cTn>
                        </p:par>
                      </p:childTnLst>
                    </p:cTn>
                  </p:par>
                  <p:par>
                    <p:cTn id="75" fill="hold">
                      <p:stCondLst>
                        <p:cond delay="indefinite"/>
                      </p:stCondLst>
                      <p:childTnLst>
                        <p:par>
                          <p:cTn id="74"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fade">
                                      <p:cBhvr>
                                        <p:cTn id="73" dur="500"/>
                                        <p:tgtEl>
                                          <p:spTgt spid="55"/>
                                        </p:tgtEl>
                                      </p:cBhvr>
                                    </p:animEffect>
                                  </p:childTnLst>
                                </p:cTn>
                              </p:par>
                            </p:childTnLst>
                          </p:cTn>
                        </p:par>
                      </p:childTnLst>
                    </p:cTn>
                  </p:par>
                  <p:par>
                    <p:cTn id="80" fill="hold">
                      <p:stCondLst>
                        <p:cond delay="indefinite"/>
                      </p:stCondLst>
                      <p:childTnLst>
                        <p:par>
                          <p:cTn id="79"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58"/>
                                        </p:tgtEl>
                                        <p:attrNameLst>
                                          <p:attrName>style.visibility</p:attrName>
                                        </p:attrNameLst>
                                      </p:cBhvr>
                                      <p:to>
                                        <p:strVal val="visible"/>
                                      </p:to>
                                    </p:set>
                                    <p:animEffect transition="in" filter="fade">
                                      <p:cBhvr>
                                        <p:cTn id="78"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32" grpId="0" animBg="1"/>
      <p:bldP spid="33" grpId="0" animBg="1"/>
      <p:bldP spid="48" grpId="0" animBg="1"/>
      <p:bldP spid="34" grpId="0" animBg="1"/>
      <p:bldP spid="49" grpId="0" animBg="1"/>
      <p:bldP spid="35" grpId="0" animBg="1"/>
      <p:bldP spid="50" grpId="0" animBg="1"/>
      <p:bldP spid="51" grpId="0" animBg="1"/>
      <p:bldP spid="58" grpId="0" animBg="1"/>
    </p:bldLst>
  </p:timing>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Rótulo extracelular"/>
          <p:cNvSpPr txBox="1"/>
          <p:nvPr/>
        </p:nvSpPr>
        <p:spPr>
          <a:xfrm>
            <a:off x="457200" y="960120"/>
            <a:ext cx="4114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A3B12"/>
                </a:solidFill>
                <a:latin typeface="Bahnschrift SemiBold Condensed"/>
                <a:ea typeface="Bahnschrift SemiBold Condensed"/>
                <a:cs typeface="Bahnschrift SemiBold Condensed"/>
                <a:sym typeface="Bahnschrift SemiBold Condensed"/>
              </a:rPr>
              <a:t>MEDIO EXTRACELULAR</a:t>
            </a:r>
            <a:endParaRPr lang="es-AR" sz="1400" dirty="0">
              <a:latin typeface="Bahnschrift SemiBold Condensed"/>
            </a:endParaRPr>
          </a:p>
        </p:txBody>
      </p:sp>
      <p:grpSp>
        <p:nvGrpSpPr>
          <p:cNvPr id="5" name="!!Célula beta"/>
          <p:cNvGrpSpPr/>
          <p:nvPr/>
        </p:nvGrpSpPr>
        <p:grpSpPr>
          <a:xfrm>
            <a:off x="365760" y="2148840"/>
            <a:ext cx="7315200" cy="4343400"/>
            <a:chOff x="365760" y="2148840"/>
            <a:chExt cx="7315200" cy="4343400"/>
          </a:xfrm>
        </p:grpSpPr>
        <p:sp>
          <p:nvSpPr>
            <p:cNvPr id="6" name="Forma 5"/>
            <p:cNvSpPr/>
            <p:nvPr/>
          </p:nvSpPr>
          <p:spPr>
            <a:xfrm>
              <a:off x="365760" y="2148840"/>
              <a:ext cx="7315200" cy="4343400"/>
            </a:xfrm>
            <a:prstGeom prst="roundRect">
              <a:avLst>
                <a:gd name="adj" fmla="val 16000"/>
              </a:avLst>
            </a:prstGeom>
            <a:gradFill rotWithShape="1">
              <a:gsLst>
                <a:gs pos="0">
                  <a:srgbClr val="FFF1E8"/>
                </a:gs>
                <a:gs pos="100000">
                  <a:srgbClr val="F9CDB8"/>
                </a:gs>
              </a:gsLst>
              <a:path path="circle">
                <a:fillToRect l="50000" t="50000" r="50000" b="50000"/>
              </a:path>
            </a:gradFill>
            <a:ln w="114300" cap="rnd">
              <a:solidFill>
                <a:srgbClr val="B94A48"/>
              </a:solidFill>
              <a:round/>
            </a:ln>
            <a:effectLst>
              <a:outerShdw blurRad="101600" dist="50800" dir="2700000" algn="tl" rotWithShape="0">
                <a:srgbClr val="000000">
                  <a:alpha val="30000"/>
                </a:srgbClr>
              </a:outerShdw>
            </a:effectLst>
          </p:spPr>
        </p:sp>
        <p:sp>
          <p:nvSpPr>
            <p:cNvPr id="7" name="Forma 6"/>
            <p:cNvSpPr/>
            <p:nvPr/>
          </p:nvSpPr>
          <p:spPr>
            <a:xfrm>
              <a:off x="384048" y="2167128"/>
              <a:ext cx="7278624" cy="4306824"/>
            </a:xfrm>
            <a:prstGeom prst="roundRect">
              <a:avLst>
                <a:gd name="adj" fmla="val 16000"/>
              </a:avLst>
            </a:prstGeom>
            <a:noFill/>
            <a:ln w="50800" cap="rnd">
              <a:solidFill>
                <a:srgbClr val="F5CBA7"/>
              </a:solidFill>
              <a:round/>
            </a:ln>
          </p:spPr>
        </p:sp>
        <p:grpSp>
          <p:nvGrpSpPr>
            <p:cNvPr id="8" name="Núcleo"/>
            <p:cNvGrpSpPr/>
            <p:nvPr/>
          </p:nvGrpSpPr>
          <p:grpSpPr>
            <a:xfrm>
              <a:off x="950976" y="4537710"/>
              <a:ext cx="1316736" cy="1185062"/>
              <a:chOff x="950976" y="4537710"/>
              <a:chExt cx="1316736" cy="1185062"/>
            </a:xfrm>
          </p:grpSpPr>
          <p:sp>
            <p:nvSpPr>
              <p:cNvPr id="9" name="Forma 8"/>
              <p:cNvSpPr/>
              <p:nvPr/>
            </p:nvSpPr>
            <p:spPr>
              <a:xfrm>
                <a:off x="950976" y="4537710"/>
                <a:ext cx="1316736" cy="118506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5679" y="4932731"/>
                <a:ext cx="289682" cy="263347"/>
              </a:xfrm>
              <a:prstGeom prst="ellipse">
                <a:avLst/>
              </a:prstGeom>
              <a:solidFill>
                <a:srgbClr val="513B6B"/>
              </a:solidFill>
              <a:ln>
                <a:noFill/>
              </a:ln>
            </p:spPr>
          </p:sp>
        </p:grpSp>
        <p:grpSp>
          <p:nvGrpSpPr>
            <p:cNvPr id="11" name="Retículo endoplasmático"/>
            <p:cNvGrpSpPr/>
            <p:nvPr/>
          </p:nvGrpSpPr>
          <p:grpSpPr>
            <a:xfrm>
              <a:off x="2560320" y="4992319"/>
              <a:ext cx="1243584" cy="839724"/>
              <a:chOff x="2560320" y="4992319"/>
              <a:chExt cx="1243584" cy="839724"/>
            </a:xfrm>
          </p:grpSpPr>
          <p:sp>
            <p:nvSpPr>
              <p:cNvPr id="12" name="Forma 11"/>
              <p:cNvSpPr/>
              <p:nvPr/>
            </p:nvSpPr>
            <p:spPr>
              <a:xfrm>
                <a:off x="2560320" y="501548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2560320" y="499231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2560320" y="530504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2560320" y="528187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6" name="Forma 15"/>
              <p:cNvSpPr/>
              <p:nvPr/>
            </p:nvSpPr>
            <p:spPr>
              <a:xfrm>
                <a:off x="2560320" y="5594604"/>
                <a:ext cx="1243584" cy="21717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7" name="Forma 16"/>
              <p:cNvSpPr/>
              <p:nvPr/>
            </p:nvSpPr>
            <p:spPr>
              <a:xfrm>
                <a:off x="2560320" y="5571439"/>
                <a:ext cx="1243584" cy="260604"/>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sp>
        <p:nvSpPr>
          <p:cNvPr id="18" name="!!Rótulo citosol"/>
          <p:cNvSpPr txBox="1"/>
          <p:nvPr/>
        </p:nvSpPr>
        <p:spPr>
          <a:xfrm>
            <a:off x="5120640" y="6035040"/>
            <a:ext cx="246888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 LA CÉLULA β</a:t>
            </a:r>
            <a:endParaRPr lang="es-AR" sz="1250" dirty="0">
              <a:latin typeface="Bahnschrift SemiBold Condensed"/>
            </a:endParaRPr>
          </a:p>
        </p:txBody>
      </p:sp>
      <p:grpSp>
        <p:nvGrpSpPr>
          <p:cNvPr id="19" name="!!GLUT"/>
          <p:cNvGrpSpPr/>
          <p:nvPr/>
        </p:nvGrpSpPr>
        <p:grpSpPr>
          <a:xfrm>
            <a:off x="594360" y="1856232"/>
            <a:ext cx="1207740" cy="822960"/>
            <a:chOff x="594360" y="1856232"/>
            <a:chExt cx="1207740" cy="822960"/>
          </a:xfrm>
        </p:grpSpPr>
        <p:sp>
          <p:nvSpPr>
            <p:cNvPr id="20" name="Forma 19"/>
            <p:cNvSpPr/>
            <p:nvPr/>
          </p:nvSpPr>
          <p:spPr>
            <a:xfrm>
              <a:off x="960120"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1" name="Forma 20"/>
            <p:cNvSpPr/>
            <p:nvPr/>
          </p:nvSpPr>
          <p:spPr>
            <a:xfrm>
              <a:off x="1232245" y="1856232"/>
              <a:ext cx="204094" cy="566928"/>
            </a:xfrm>
            <a:prstGeom prst="roundRect">
              <a:avLst>
                <a:gd name="adj" fmla="val 45000"/>
              </a:avLst>
            </a:prstGeom>
            <a:gradFill rotWithShape="1">
              <a:gsLst>
                <a:gs pos="0">
                  <a:srgbClr val="41799E"/>
                </a:gs>
                <a:gs pos="30000">
                  <a:srgbClr val="95C9EC"/>
                </a:gs>
                <a:gs pos="55000">
                  <a:srgbClr val="5DADE2"/>
                </a:gs>
                <a:gs pos="100000">
                  <a:srgbClr val="41799E"/>
                </a:gs>
              </a:gsLst>
              <a:lin ang="5400000" scaled="0"/>
            </a:gradFill>
            <a:ln w="15875" cap="rnd">
              <a:solidFill>
                <a:srgbClr val="2E5671"/>
              </a:solidFill>
              <a:round/>
            </a:ln>
          </p:spPr>
        </p:sp>
        <p:sp>
          <p:nvSpPr>
            <p:cNvPr id="22" name="Forma 21"/>
            <p:cNvSpPr txBox="1"/>
            <p:nvPr/>
          </p:nvSpPr>
          <p:spPr>
            <a:xfrm>
              <a:off x="594360" y="2441448"/>
              <a:ext cx="120774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GLUT1/3 (GLUT2)</a:t>
              </a:r>
              <a:endParaRPr lang="es-AR" sz="1150" dirty="0">
                <a:latin typeface="Bahnschrift SemiBold Condensed"/>
              </a:endParaRPr>
            </a:p>
          </p:txBody>
        </p:sp>
      </p:grpSp>
      <p:grpSp>
        <p:nvGrpSpPr>
          <p:cNvPr id="23" name="!!KATP abierto"/>
          <p:cNvGrpSpPr/>
          <p:nvPr/>
        </p:nvGrpSpPr>
        <p:grpSpPr>
          <a:xfrm>
            <a:off x="2331720" y="1819656"/>
            <a:ext cx="1733702" cy="914400"/>
            <a:chOff x="2331720" y="1819656"/>
            <a:chExt cx="1733702" cy="914400"/>
          </a:xfrm>
        </p:grpSpPr>
        <p:sp>
          <p:nvSpPr>
            <p:cNvPr id="24" name="Forma 23"/>
            <p:cNvSpPr/>
            <p:nvPr/>
          </p:nvSpPr>
          <p:spPr>
            <a:xfrm>
              <a:off x="2788920"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5" name="Forma 24"/>
            <p:cNvSpPr/>
            <p:nvPr/>
          </p:nvSpPr>
          <p:spPr>
            <a:xfrm>
              <a:off x="2980944"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6" name="Forma 25"/>
            <p:cNvSpPr/>
            <p:nvPr/>
          </p:nvSpPr>
          <p:spPr>
            <a:xfrm>
              <a:off x="3249778" y="1819656"/>
              <a:ext cx="166421" cy="640080"/>
            </a:xfrm>
            <a:prstGeom prst="roundRect">
              <a:avLst>
                <a:gd name="adj" fmla="val 40000"/>
              </a:avLst>
            </a:prstGeom>
            <a:gradFill rotWithShape="1">
              <a:gsLst>
                <a:gs pos="0">
                  <a:srgbClr val="632F79"/>
                </a:gs>
                <a:gs pos="30000">
                  <a:srgbClr val="B585C9"/>
                </a:gs>
                <a:gs pos="55000">
                  <a:srgbClr val="8E44AD"/>
                </a:gs>
                <a:gs pos="100000">
                  <a:srgbClr val="632F79"/>
                </a:gs>
              </a:gsLst>
              <a:lin ang="5400000" scaled="0"/>
            </a:gradFill>
            <a:ln w="15875" cap="rnd">
              <a:solidFill>
                <a:srgbClr val="472256"/>
              </a:solidFill>
              <a:round/>
            </a:ln>
          </p:spPr>
        </p:sp>
        <p:sp>
          <p:nvSpPr>
            <p:cNvPr id="27" name="Forma 26"/>
            <p:cNvSpPr/>
            <p:nvPr/>
          </p:nvSpPr>
          <p:spPr>
            <a:xfrm>
              <a:off x="3416198" y="1870862"/>
              <a:ext cx="192024" cy="537667"/>
            </a:xfrm>
            <a:prstGeom prst="roundRect">
              <a:avLst>
                <a:gd name="adj" fmla="val 40000"/>
              </a:avLst>
            </a:prstGeom>
            <a:gradFill rotWithShape="1">
              <a:gsLst>
                <a:gs pos="0">
                  <a:srgbClr val="92749E"/>
                </a:gs>
                <a:gs pos="30000">
                  <a:srgbClr val="D5B9E0"/>
                </a:gs>
                <a:gs pos="55000">
                  <a:srgbClr val="C39BD3"/>
                </a:gs>
                <a:gs pos="100000">
                  <a:srgbClr val="92749E"/>
                </a:gs>
              </a:gsLst>
              <a:lin ang="5400000" scaled="0"/>
            </a:gradFill>
            <a:ln w="12700" cap="rnd">
              <a:solidFill>
                <a:srgbClr val="614D69"/>
              </a:solidFill>
              <a:round/>
            </a:ln>
          </p:spPr>
        </p:sp>
        <p:sp>
          <p:nvSpPr>
            <p:cNvPr id="28" name="Forma 27"/>
            <p:cNvSpPr txBox="1"/>
            <p:nvPr/>
          </p:nvSpPr>
          <p:spPr>
            <a:xfrm>
              <a:off x="2331720" y="2478024"/>
              <a:ext cx="1733702"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472256"/>
                  </a:solidFill>
                  <a:latin typeface="Bahnschrift SemiBold Condensed"/>
                  <a:ea typeface="Bahnschrift SemiBold Condensed"/>
                  <a:cs typeface="Bahnschrift SemiBold Condensed"/>
                  <a:sym typeface="Bahnschrift SemiBold Condensed"/>
                </a:rPr>
                <a:t>K</a:t>
              </a:r>
              <a:r>
                <a:rPr lang="es-AR" sz="1150" b="1" baseline="-25000" dirty="0">
                  <a:solidFill>
                    <a:srgbClr val="472256"/>
                  </a:solidFill>
                  <a:latin typeface="Bahnschrift SemiBold Condensed"/>
                  <a:ea typeface="Bahnschrift SemiBold Condensed"/>
                  <a:cs typeface="Bahnschrift SemiBold Condensed"/>
                  <a:sym typeface="Bahnschrift SemiBold Condensed"/>
                </a:rPr>
                <a:t>ATP</a:t>
              </a:r>
              <a:r>
                <a:rPr lang="es-AR" sz="1150" b="1" dirty="0">
                  <a:solidFill>
                    <a:srgbClr val="472256"/>
                  </a:solidFill>
                  <a:latin typeface="Bahnschrift SemiBold Condensed"/>
                  <a:ea typeface="Bahnschrift SemiBold Condensed"/>
                  <a:cs typeface="Bahnschrift SemiBold Condensed"/>
                  <a:sym typeface="Bahnschrift SemiBold Condensed"/>
                </a:rPr>
                <a:t> (Kir6.2/SUR1)</a:t>
              </a:r>
              <a:endParaRPr lang="es-AR" sz="1150" dirty="0">
                <a:latin typeface="Bahnschrift SemiBold Condensed"/>
              </a:endParaRPr>
            </a:p>
          </p:txBody>
        </p:sp>
      </p:grpSp>
      <p:grpSp>
        <p:nvGrpSpPr>
          <p:cNvPr id="29" name="!!CaV cerrado"/>
          <p:cNvGrpSpPr/>
          <p:nvPr/>
        </p:nvGrpSpPr>
        <p:grpSpPr>
          <a:xfrm>
            <a:off x="4434840" y="1819656"/>
            <a:ext cx="1640434" cy="914400"/>
            <a:chOff x="4434840" y="1819656"/>
            <a:chExt cx="1640434" cy="914400"/>
          </a:xfrm>
        </p:grpSpPr>
        <p:sp>
          <p:nvSpPr>
            <p:cNvPr id="30" name="Forma 29"/>
            <p:cNvSpPr/>
            <p:nvPr/>
          </p:nvSpPr>
          <p:spPr>
            <a:xfrm>
              <a:off x="489204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1" name="Forma 30"/>
            <p:cNvSpPr/>
            <p:nvPr/>
          </p:nvSpPr>
          <p:spPr>
            <a:xfrm>
              <a:off x="5084064"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2" name="Forma 31"/>
            <p:cNvSpPr/>
            <p:nvPr/>
          </p:nvSpPr>
          <p:spPr>
            <a:xfrm>
              <a:off x="5259629" y="1819656"/>
              <a:ext cx="166421" cy="640080"/>
            </a:xfrm>
            <a:prstGeom prst="roundRect">
              <a:avLst>
                <a:gd name="adj" fmla="val 40000"/>
              </a:avLst>
            </a:prstGeom>
            <a:gradFill rotWithShape="1">
              <a:gsLst>
                <a:gs pos="0">
                  <a:srgbClr val="933A00"/>
                </a:gs>
                <a:gs pos="30000">
                  <a:srgbClr val="E28F59"/>
                </a:gs>
                <a:gs pos="55000">
                  <a:srgbClr val="D35400"/>
                </a:gs>
                <a:gs pos="100000">
                  <a:srgbClr val="933A00"/>
                </a:gs>
              </a:gsLst>
              <a:lin ang="5400000" scaled="0"/>
            </a:gradFill>
            <a:ln w="15875" cap="rnd">
              <a:solidFill>
                <a:srgbClr val="692A00"/>
              </a:solidFill>
              <a:round/>
            </a:ln>
          </p:spPr>
        </p:sp>
        <p:sp>
          <p:nvSpPr>
            <p:cNvPr id="33" name="Forma 32"/>
            <p:cNvSpPr/>
            <p:nvPr/>
          </p:nvSpPr>
          <p:spPr>
            <a:xfrm>
              <a:off x="5426050" y="1870862"/>
              <a:ext cx="192024" cy="537667"/>
            </a:xfrm>
            <a:prstGeom prst="roundRect">
              <a:avLst>
                <a:gd name="adj" fmla="val 40000"/>
              </a:avLst>
            </a:prstGeom>
            <a:gradFill rotWithShape="1">
              <a:gsLst>
                <a:gs pos="0">
                  <a:srgbClr val="B7987D"/>
                </a:gs>
                <a:gs pos="30000">
                  <a:srgbClr val="F8DAC1"/>
                </a:gs>
                <a:gs pos="55000">
                  <a:srgbClr val="F5CBA7"/>
                </a:gs>
                <a:gs pos="100000">
                  <a:srgbClr val="B7987D"/>
                </a:gs>
              </a:gsLst>
              <a:lin ang="5400000" scaled="0"/>
            </a:gradFill>
            <a:ln w="12700" cap="rnd">
              <a:solidFill>
                <a:srgbClr val="7A6553"/>
              </a:solidFill>
              <a:round/>
            </a:ln>
          </p:spPr>
        </p:sp>
        <p:sp>
          <p:nvSpPr>
            <p:cNvPr id="34" name="Forma 33"/>
            <p:cNvSpPr txBox="1"/>
            <p:nvPr/>
          </p:nvSpPr>
          <p:spPr>
            <a:xfrm>
              <a:off x="4434840" y="2478024"/>
              <a:ext cx="1640434" cy="256032"/>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692A00"/>
                  </a:solidFill>
                  <a:latin typeface="Bahnschrift SemiBold Condensed"/>
                  <a:ea typeface="Bahnschrift SemiBold Condensed"/>
                  <a:cs typeface="Bahnschrift SemiBold Condensed"/>
                  <a:sym typeface="Bahnschrift SemiBold Condensed"/>
                </a:rPr>
                <a:t>Ca</a:t>
              </a:r>
              <a:r>
                <a:rPr lang="es-AR" sz="1150" b="1" baseline="-25000" dirty="0">
                  <a:solidFill>
                    <a:srgbClr val="692A00"/>
                  </a:solidFill>
                  <a:latin typeface="Bahnschrift SemiBold Condensed"/>
                  <a:ea typeface="Bahnschrift SemiBold Condensed"/>
                  <a:cs typeface="Bahnschrift SemiBold Condensed"/>
                  <a:sym typeface="Bahnschrift SemiBold Condensed"/>
                </a:rPr>
                <a:t>V</a:t>
              </a:r>
              <a:r>
                <a:rPr lang="es-AR" sz="1150" b="1" dirty="0">
                  <a:solidFill>
                    <a:srgbClr val="692A00"/>
                  </a:solidFill>
                  <a:latin typeface="Bahnschrift SemiBold Condensed"/>
                  <a:ea typeface="Bahnschrift SemiBold Condensed"/>
                  <a:cs typeface="Bahnschrift SemiBold Condensed"/>
                  <a:sym typeface="Bahnschrift SemiBold Condensed"/>
                </a:rPr>
                <a:t> (voltaje-dep.)</a:t>
              </a:r>
              <a:endParaRPr lang="es-AR" sz="1150" dirty="0">
                <a:latin typeface="Bahnschrift SemiBold Condensed"/>
              </a:endParaRPr>
            </a:p>
          </p:txBody>
        </p:sp>
      </p:grpSp>
      <p:grpSp>
        <p:nvGrpSpPr>
          <p:cNvPr id="35" name="!!Mitocondria beta"/>
          <p:cNvGrpSpPr/>
          <p:nvPr/>
        </p:nvGrpSpPr>
        <p:grpSpPr>
          <a:xfrm>
            <a:off x="2057400" y="3429000"/>
            <a:ext cx="1417320" cy="708660"/>
            <a:chOff x="2057400" y="3429000"/>
            <a:chExt cx="1417320" cy="708660"/>
          </a:xfrm>
        </p:grpSpPr>
        <p:sp>
          <p:nvSpPr>
            <p:cNvPr id="36" name="Forma 35"/>
            <p:cNvSpPr/>
            <p:nvPr/>
          </p:nvSpPr>
          <p:spPr>
            <a:xfrm>
              <a:off x="2057400" y="3429000"/>
              <a:ext cx="1417320" cy="70866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a:off x="2156612" y="3528212"/>
              <a:ext cx="1218895" cy="510235"/>
            </a:xfrm>
            <a:prstGeom prst="ellipse">
              <a:avLst/>
            </a:prstGeom>
            <a:solidFill>
              <a:srgbClr val="F8D8B4"/>
            </a:solidFill>
            <a:ln w="9525" cap="rnd">
              <a:solidFill>
                <a:srgbClr val="B2732B"/>
              </a:solidFill>
              <a:round/>
            </a:ln>
          </p:spPr>
        </p:sp>
        <p:sp>
          <p:nvSpPr>
            <p:cNvPr id="38" name="Forma 37"/>
            <p:cNvSpPr/>
            <p:nvPr/>
          </p:nvSpPr>
          <p:spPr>
            <a:xfrm>
              <a:off x="2156612" y="3528212"/>
              <a:ext cx="1218895" cy="51023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9" name="!!Gránulo 0"/>
          <p:cNvGrpSpPr/>
          <p:nvPr/>
        </p:nvGrpSpPr>
        <p:grpSpPr>
          <a:xfrm>
            <a:off x="4754880" y="3383280"/>
            <a:ext cx="438912" cy="438912"/>
            <a:chOff x="4754880" y="3383280"/>
            <a:chExt cx="438912" cy="438912"/>
          </a:xfrm>
        </p:grpSpPr>
        <p:sp>
          <p:nvSpPr>
            <p:cNvPr id="40" name="Forma 39"/>
            <p:cNvSpPr/>
            <p:nvPr/>
          </p:nvSpPr>
          <p:spPr>
            <a:xfrm>
              <a:off x="4754880" y="33832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1" name="Forma 40"/>
            <p:cNvSpPr/>
            <p:nvPr/>
          </p:nvSpPr>
          <p:spPr>
            <a:xfrm>
              <a:off x="4886554" y="35149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2" name="!!Gránulo 1"/>
          <p:cNvGrpSpPr/>
          <p:nvPr/>
        </p:nvGrpSpPr>
        <p:grpSpPr>
          <a:xfrm>
            <a:off x="5486400" y="3154680"/>
            <a:ext cx="438912" cy="438912"/>
            <a:chOff x="5486400" y="3154680"/>
            <a:chExt cx="438912" cy="438912"/>
          </a:xfrm>
        </p:grpSpPr>
        <p:sp>
          <p:nvSpPr>
            <p:cNvPr id="43" name="Forma 42"/>
            <p:cNvSpPr/>
            <p:nvPr/>
          </p:nvSpPr>
          <p:spPr>
            <a:xfrm>
              <a:off x="5486400" y="31546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4" name="Forma 43"/>
            <p:cNvSpPr/>
            <p:nvPr/>
          </p:nvSpPr>
          <p:spPr>
            <a:xfrm>
              <a:off x="5618074" y="32863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5" name="!!Gránulo 2"/>
          <p:cNvGrpSpPr/>
          <p:nvPr/>
        </p:nvGrpSpPr>
        <p:grpSpPr>
          <a:xfrm>
            <a:off x="6217920" y="3429000"/>
            <a:ext cx="438912" cy="438912"/>
            <a:chOff x="6217920" y="3429000"/>
            <a:chExt cx="438912" cy="438912"/>
          </a:xfrm>
        </p:grpSpPr>
        <p:sp>
          <p:nvSpPr>
            <p:cNvPr id="46" name="Forma 45"/>
            <p:cNvSpPr/>
            <p:nvPr/>
          </p:nvSpPr>
          <p:spPr>
            <a:xfrm>
              <a:off x="6217920" y="34290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47" name="Forma 46"/>
            <p:cNvSpPr/>
            <p:nvPr/>
          </p:nvSpPr>
          <p:spPr>
            <a:xfrm>
              <a:off x="6349594" y="35606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48" name="!!Gránulo 3"/>
          <p:cNvGrpSpPr/>
          <p:nvPr/>
        </p:nvGrpSpPr>
        <p:grpSpPr>
          <a:xfrm>
            <a:off x="5120640" y="4069080"/>
            <a:ext cx="438912" cy="438912"/>
            <a:chOff x="5120640" y="4069080"/>
            <a:chExt cx="438912" cy="438912"/>
          </a:xfrm>
        </p:grpSpPr>
        <p:sp>
          <p:nvSpPr>
            <p:cNvPr id="49" name="Forma 48"/>
            <p:cNvSpPr/>
            <p:nvPr/>
          </p:nvSpPr>
          <p:spPr>
            <a:xfrm>
              <a:off x="5120640" y="40690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0" name="Forma 49"/>
            <p:cNvSpPr/>
            <p:nvPr/>
          </p:nvSpPr>
          <p:spPr>
            <a:xfrm>
              <a:off x="5252314" y="42007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1" name="!!Gránulo 4"/>
          <p:cNvGrpSpPr/>
          <p:nvPr/>
        </p:nvGrpSpPr>
        <p:grpSpPr>
          <a:xfrm>
            <a:off x="5897880" y="4023360"/>
            <a:ext cx="438912" cy="438912"/>
            <a:chOff x="5897880" y="4023360"/>
            <a:chExt cx="438912" cy="438912"/>
          </a:xfrm>
        </p:grpSpPr>
        <p:sp>
          <p:nvSpPr>
            <p:cNvPr id="52" name="Forma 51"/>
            <p:cNvSpPr/>
            <p:nvPr/>
          </p:nvSpPr>
          <p:spPr>
            <a:xfrm>
              <a:off x="5897880" y="402336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3" name="Forma 52"/>
            <p:cNvSpPr/>
            <p:nvPr/>
          </p:nvSpPr>
          <p:spPr>
            <a:xfrm>
              <a:off x="6029554" y="415503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4" name="!!Gránulo 5"/>
          <p:cNvGrpSpPr/>
          <p:nvPr/>
        </p:nvGrpSpPr>
        <p:grpSpPr>
          <a:xfrm>
            <a:off x="6583680" y="4206240"/>
            <a:ext cx="438912" cy="438912"/>
            <a:chOff x="6583680" y="4206240"/>
            <a:chExt cx="438912" cy="438912"/>
          </a:xfrm>
        </p:grpSpPr>
        <p:sp>
          <p:nvSpPr>
            <p:cNvPr id="55" name="Forma 54"/>
            <p:cNvSpPr/>
            <p:nvPr/>
          </p:nvSpPr>
          <p:spPr>
            <a:xfrm>
              <a:off x="6583680" y="420624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6" name="Forma 55"/>
            <p:cNvSpPr/>
            <p:nvPr/>
          </p:nvSpPr>
          <p:spPr>
            <a:xfrm>
              <a:off x="6715354" y="433791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57" name="!!Gránulo 6"/>
          <p:cNvGrpSpPr/>
          <p:nvPr/>
        </p:nvGrpSpPr>
        <p:grpSpPr>
          <a:xfrm>
            <a:off x="4846320" y="4800600"/>
            <a:ext cx="438912" cy="438912"/>
            <a:chOff x="4846320" y="4800600"/>
            <a:chExt cx="438912" cy="438912"/>
          </a:xfrm>
        </p:grpSpPr>
        <p:sp>
          <p:nvSpPr>
            <p:cNvPr id="58" name="Forma 57"/>
            <p:cNvSpPr/>
            <p:nvPr/>
          </p:nvSpPr>
          <p:spPr>
            <a:xfrm>
              <a:off x="4846320" y="480060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59" name="Forma 58"/>
            <p:cNvSpPr/>
            <p:nvPr/>
          </p:nvSpPr>
          <p:spPr>
            <a:xfrm>
              <a:off x="4977994" y="493227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0" name="!!Gránulo 7"/>
          <p:cNvGrpSpPr/>
          <p:nvPr/>
        </p:nvGrpSpPr>
        <p:grpSpPr>
          <a:xfrm>
            <a:off x="5623560" y="4754880"/>
            <a:ext cx="438912" cy="438912"/>
            <a:chOff x="5623560" y="4754880"/>
            <a:chExt cx="438912" cy="438912"/>
          </a:xfrm>
        </p:grpSpPr>
        <p:sp>
          <p:nvSpPr>
            <p:cNvPr id="61" name="Forma 60"/>
            <p:cNvSpPr/>
            <p:nvPr/>
          </p:nvSpPr>
          <p:spPr>
            <a:xfrm>
              <a:off x="5623560" y="4754880"/>
              <a:ext cx="438912" cy="438912"/>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62" name="Forma 61"/>
            <p:cNvSpPr/>
            <p:nvPr/>
          </p:nvSpPr>
          <p:spPr>
            <a:xfrm>
              <a:off x="5755234" y="4886554"/>
              <a:ext cx="175565" cy="175565"/>
            </a:xfrm>
            <a:prstGeom prst="ellipse">
              <a:avLst/>
            </a:prstGeom>
            <a:gradFill rotWithShape="1">
              <a:gsLst>
                <a:gs pos="0">
                  <a:srgbClr val="6283B8"/>
                </a:gs>
                <a:gs pos="55000">
                  <a:srgbClr val="1F4E9A"/>
                </a:gs>
                <a:gs pos="100000">
                  <a:srgbClr val="183E7B"/>
                </a:gs>
              </a:gsLst>
              <a:path path="circle">
                <a:fillToRect l="32000" t="28000" r="68000" b="72000"/>
              </a:path>
            </a:gradFill>
            <a:ln>
              <a:noFill/>
            </a:ln>
          </p:spPr>
        </p:sp>
      </p:grpSp>
      <p:grpSp>
        <p:nvGrpSpPr>
          <p:cNvPr id="63" name="!!Cargas de membrana"/>
          <p:cNvGrpSpPr/>
          <p:nvPr/>
        </p:nvGrpSpPr>
        <p:grpSpPr>
          <a:xfrm>
            <a:off x="685800" y="1481328"/>
            <a:ext cx="6309360" cy="1280160"/>
            <a:chOff x="685800" y="1481328"/>
            <a:chExt cx="6309360" cy="1280160"/>
          </a:xfrm>
        </p:grpSpPr>
        <p:sp>
          <p:nvSpPr>
            <p:cNvPr id="64" name="Forma 63"/>
            <p:cNvSpPr txBox="1"/>
            <p:nvPr/>
          </p:nvSpPr>
          <p:spPr>
            <a:xfrm>
              <a:off x="685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5" name="Forma 64"/>
            <p:cNvSpPr txBox="1"/>
            <p:nvPr/>
          </p:nvSpPr>
          <p:spPr>
            <a:xfrm>
              <a:off x="685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6" name="Forma 65"/>
            <p:cNvSpPr txBox="1"/>
            <p:nvPr/>
          </p:nvSpPr>
          <p:spPr>
            <a:xfrm>
              <a:off x="182880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7" name="Forma 66"/>
            <p:cNvSpPr txBox="1"/>
            <p:nvPr/>
          </p:nvSpPr>
          <p:spPr>
            <a:xfrm>
              <a:off x="182880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8" name="Forma 67"/>
            <p:cNvSpPr txBox="1"/>
            <p:nvPr/>
          </p:nvSpPr>
          <p:spPr>
            <a:xfrm>
              <a:off x="3703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69" name="Forma 68"/>
            <p:cNvSpPr txBox="1"/>
            <p:nvPr/>
          </p:nvSpPr>
          <p:spPr>
            <a:xfrm>
              <a:off x="3703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0" name="Forma 69"/>
            <p:cNvSpPr txBox="1"/>
            <p:nvPr/>
          </p:nvSpPr>
          <p:spPr>
            <a:xfrm>
              <a:off x="4434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1" name="Forma 70"/>
            <p:cNvSpPr txBox="1"/>
            <p:nvPr/>
          </p:nvSpPr>
          <p:spPr>
            <a:xfrm>
              <a:off x="4434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2" name="Forma 71"/>
            <p:cNvSpPr txBox="1"/>
            <p:nvPr/>
          </p:nvSpPr>
          <p:spPr>
            <a:xfrm>
              <a:off x="598932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3" name="Forma 72"/>
            <p:cNvSpPr txBox="1"/>
            <p:nvPr/>
          </p:nvSpPr>
          <p:spPr>
            <a:xfrm>
              <a:off x="598932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4" name="Forma 73"/>
            <p:cNvSpPr txBox="1"/>
            <p:nvPr/>
          </p:nvSpPr>
          <p:spPr>
            <a:xfrm>
              <a:off x="6720840" y="148132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C0000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75" name="Forma 74"/>
            <p:cNvSpPr txBox="1"/>
            <p:nvPr/>
          </p:nvSpPr>
          <p:spPr>
            <a:xfrm>
              <a:off x="6720840" y="2487168"/>
              <a:ext cx="274320" cy="274320"/>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2563B0"/>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grpSp>
      <p:grpSp>
        <p:nvGrpSpPr>
          <p:cNvPr id="76" name="!!Progreso"/>
          <p:cNvGrpSpPr/>
          <p:nvPr/>
        </p:nvGrpSpPr>
        <p:grpSpPr>
          <a:xfrm>
            <a:off x="8001000" y="5870448"/>
            <a:ext cx="3840480" cy="603504"/>
            <a:chOff x="8001000" y="5870448"/>
            <a:chExt cx="3840480" cy="603504"/>
          </a:xfrm>
        </p:grpSpPr>
        <p:sp>
          <p:nvSpPr>
            <p:cNvPr id="77" name="Forma 76"/>
            <p:cNvSpPr txBox="1"/>
            <p:nvPr/>
          </p:nvSpPr>
          <p:spPr>
            <a:xfrm>
              <a:off x="8001000" y="5870448"/>
              <a:ext cx="3840480" cy="256032"/>
            </a:xfrm>
            <a:prstGeom prst="rect">
              <a:avLst/>
            </a:prstGeom>
            <a:noFill/>
            <a:ln>
              <a:noFill/>
            </a:ln>
          </p:spPr>
          <p:txBody>
            <a:bodyPr wrap="square" lIns="0" tIns="0" rIns="0" bIns="0" anchor="t" rtlCol="0">
              <a:noAutofit/>
            </a:bodyPr>
            <a:lstStyle/>
            <a:p>
              <a:pPr algn="l">
                <a:spcAft>
                  <a:spcPts val="300"/>
                </a:spcAft>
                <a:buNone/>
              </a:pPr>
              <a:r>
                <a:rPr lang="es-AR" sz="1150" b="1" dirty="0">
                  <a:solidFill>
                    <a:srgbClr val="5A2D0C"/>
                  </a:solidFill>
                  <a:latin typeface="Bahnschrift SemiBold Condensed"/>
                  <a:ea typeface="Bahnschrift SemiBold Condensed"/>
                  <a:cs typeface="Bahnschrift SemiBold Condensed"/>
                  <a:sym typeface="Bahnschrift SemiBold Condensed"/>
                </a:rPr>
                <a:t>SECUENCIA DE SECRECIÓN</a:t>
              </a:r>
              <a:endParaRPr lang="es-AR" sz="1150" dirty="0">
                <a:latin typeface="Bahnschrift SemiBold Condensed"/>
              </a:endParaRPr>
            </a:p>
          </p:txBody>
        </p:sp>
        <p:sp>
          <p:nvSpPr>
            <p:cNvPr id="78" name="Progreso 1"/>
            <p:cNvSpPr/>
            <p:nvPr/>
          </p:nvSpPr>
          <p:spPr>
            <a:xfrm>
              <a:off x="800100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a:t>
              </a:r>
              <a:endParaRPr lang="es-AR" sz="1050" dirty="0">
                <a:latin typeface="Bahnschrift SemiBold Condensed"/>
              </a:endParaRPr>
            </a:p>
          </p:txBody>
        </p:sp>
        <p:sp>
          <p:nvSpPr>
            <p:cNvPr id="79" name="Progreso 2"/>
            <p:cNvSpPr/>
            <p:nvPr/>
          </p:nvSpPr>
          <p:spPr>
            <a:xfrm>
              <a:off x="838504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a:t>
              </a:r>
              <a:endParaRPr lang="es-AR" sz="1050" dirty="0">
                <a:latin typeface="Bahnschrift SemiBold Condensed"/>
              </a:endParaRPr>
            </a:p>
          </p:txBody>
        </p:sp>
        <p:sp>
          <p:nvSpPr>
            <p:cNvPr id="80" name="Progreso 3"/>
            <p:cNvSpPr/>
            <p:nvPr/>
          </p:nvSpPr>
          <p:spPr>
            <a:xfrm>
              <a:off x="876909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a:t>
              </a:r>
              <a:endParaRPr lang="es-AR" sz="1050" dirty="0">
                <a:latin typeface="Bahnschrift SemiBold Condensed"/>
              </a:endParaRPr>
            </a:p>
          </p:txBody>
        </p:sp>
        <p:sp>
          <p:nvSpPr>
            <p:cNvPr id="81" name="Progreso 4"/>
            <p:cNvSpPr/>
            <p:nvPr/>
          </p:nvSpPr>
          <p:spPr>
            <a:xfrm>
              <a:off x="915314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a:t>
              </a:r>
              <a:endParaRPr lang="es-AR" sz="1050" dirty="0">
                <a:latin typeface="Bahnschrift SemiBold Condensed"/>
              </a:endParaRPr>
            </a:p>
          </p:txBody>
        </p:sp>
        <p:sp>
          <p:nvSpPr>
            <p:cNvPr id="82" name="Progreso 5"/>
            <p:cNvSpPr/>
            <p:nvPr/>
          </p:nvSpPr>
          <p:spPr>
            <a:xfrm>
              <a:off x="953719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a:t>
              </a:r>
              <a:endParaRPr lang="es-AR" sz="1050" dirty="0">
                <a:latin typeface="Bahnschrift SemiBold Condensed"/>
              </a:endParaRPr>
            </a:p>
          </p:txBody>
        </p:sp>
        <p:sp>
          <p:nvSpPr>
            <p:cNvPr id="83" name="Progreso 6"/>
            <p:cNvSpPr/>
            <p:nvPr/>
          </p:nvSpPr>
          <p:spPr>
            <a:xfrm>
              <a:off x="9921240"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a:t>
              </a:r>
              <a:endParaRPr lang="es-AR" sz="1050" dirty="0">
                <a:latin typeface="Bahnschrift SemiBold Condensed"/>
              </a:endParaRPr>
            </a:p>
          </p:txBody>
        </p:sp>
        <p:sp>
          <p:nvSpPr>
            <p:cNvPr id="84" name="Progreso 7"/>
            <p:cNvSpPr/>
            <p:nvPr/>
          </p:nvSpPr>
          <p:spPr>
            <a:xfrm>
              <a:off x="10305288"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a:t>
              </a:r>
              <a:endParaRPr lang="es-AR" sz="1050" dirty="0">
                <a:latin typeface="Bahnschrift SemiBold Condensed"/>
              </a:endParaRPr>
            </a:p>
          </p:txBody>
        </p:sp>
        <p:sp>
          <p:nvSpPr>
            <p:cNvPr id="85" name="Progreso 8"/>
            <p:cNvSpPr/>
            <p:nvPr/>
          </p:nvSpPr>
          <p:spPr>
            <a:xfrm>
              <a:off x="10689336"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a:t>
              </a:r>
              <a:endParaRPr lang="es-AR" sz="1050" dirty="0">
                <a:latin typeface="Bahnschrift SemiBold Condensed"/>
              </a:endParaRPr>
            </a:p>
          </p:txBody>
        </p:sp>
        <p:sp>
          <p:nvSpPr>
            <p:cNvPr id="86" name="Progreso 9"/>
            <p:cNvSpPr/>
            <p:nvPr/>
          </p:nvSpPr>
          <p:spPr>
            <a:xfrm>
              <a:off x="11073384"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9</a:t>
              </a:r>
              <a:endParaRPr lang="es-AR" sz="1050" dirty="0">
                <a:latin typeface="Bahnschrift SemiBold Condensed"/>
              </a:endParaRPr>
            </a:p>
          </p:txBody>
        </p:sp>
        <p:sp>
          <p:nvSpPr>
            <p:cNvPr id="87" name="Progreso 10"/>
            <p:cNvSpPr/>
            <p:nvPr/>
          </p:nvSpPr>
          <p:spPr>
            <a:xfrm>
              <a:off x="11457432" y="6144768"/>
              <a:ext cx="329184" cy="329184"/>
            </a:xfrm>
            <a:prstGeom prst="ellipse">
              <a:avLst/>
            </a:prstGeom>
            <a:solidFill>
              <a:srgbClr val="EEEEEE"/>
            </a:solidFill>
            <a:ln w="12700" cap="rnd">
              <a:solidFill>
                <a:srgbClr val="1E1E1E"/>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10</a:t>
              </a:r>
              <a:endParaRPr lang="es-AR" sz="1050" dirty="0">
                <a:latin typeface="Bahnschrift SemiBold Condensed"/>
              </a:endParaRPr>
            </a:p>
          </p:txBody>
        </p:sp>
      </p:grpSp>
      <p:grpSp>
        <p:nvGrpSpPr>
          <p:cNvPr id="88" name="!!Panel"/>
          <p:cNvGrpSpPr/>
          <p:nvPr/>
        </p:nvGrpSpPr>
        <p:grpSpPr>
          <a:xfrm>
            <a:off x="8001000" y="1051560"/>
            <a:ext cx="3840480" cy="3063240"/>
            <a:chOff x="8001000" y="1051560"/>
            <a:chExt cx="3840480" cy="3063240"/>
          </a:xfrm>
        </p:grpSpPr>
        <p:sp>
          <p:nvSpPr>
            <p:cNvPr id="89" name="Forma 88"/>
            <p:cNvSpPr/>
            <p:nvPr/>
          </p:nvSpPr>
          <p:spPr>
            <a:xfrm>
              <a:off x="8001000" y="1051560"/>
              <a:ext cx="3840480" cy="30632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90" name="Paso β"/>
            <p:cNvSpPr/>
            <p:nvPr/>
          </p:nvSpPr>
          <p:spPr>
            <a:xfrm>
              <a:off x="8138160" y="1170432"/>
              <a:ext cx="502920" cy="50292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β</a:t>
              </a:r>
              <a:endParaRPr lang="es-AR" sz="1500" dirty="0">
                <a:latin typeface="Bahnschrift SemiBold Condensed"/>
              </a:endParaRPr>
            </a:p>
          </p:txBody>
        </p:sp>
        <p:sp>
          <p:nvSpPr>
            <p:cNvPr id="91" name="Forma 90"/>
            <p:cNvSpPr txBox="1"/>
            <p:nvPr/>
          </p:nvSpPr>
          <p:spPr>
            <a:xfrm>
              <a:off x="8732520" y="1143000"/>
              <a:ext cx="3017520" cy="566928"/>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Ayuno: K</a:t>
              </a:r>
              <a:r>
                <a:rPr lang="es-AR" sz="1700" b="1" baseline="-25000" dirty="0">
                  <a:solidFill>
                    <a:srgbClr val="1E1E1E"/>
                  </a:solidFill>
                  <a:latin typeface="Bahnschrift SemiBold Condensed"/>
                  <a:ea typeface="Bahnschrift SemiBold Condensed"/>
                  <a:cs typeface="Bahnschrift SemiBold Condensed"/>
                  <a:sym typeface="Bahnschrift SemiBold Condensed"/>
                </a:rPr>
                <a:t>ATP</a:t>
              </a:r>
              <a:r>
                <a:rPr lang="es-AR" sz="1700" b="1" dirty="0">
                  <a:solidFill>
                    <a:srgbClr val="1E1E1E"/>
                  </a:solidFill>
                  <a:latin typeface="Bahnschrift SemiBold Condensed"/>
                  <a:ea typeface="Bahnschrift SemiBold Condensed"/>
                  <a:cs typeface="Bahnschrift SemiBold Condensed"/>
                  <a:sym typeface="Bahnschrift SemiBold Condensed"/>
                </a:rPr>
                <a:t> abiertos</a:t>
              </a:r>
              <a:endParaRPr lang="es-AR" sz="1700" dirty="0">
                <a:latin typeface="Bahnschrift SemiBold Condensed"/>
              </a:endParaRPr>
            </a:p>
          </p:txBody>
        </p:sp>
        <p:sp>
          <p:nvSpPr>
            <p:cNvPr id="92" name="Forma 91"/>
            <p:cNvSpPr txBox="1"/>
            <p:nvPr/>
          </p:nvSpPr>
          <p:spPr>
            <a:xfrm>
              <a:off x="8183880" y="1783080"/>
              <a:ext cx="3520440" cy="2194560"/>
            </a:xfrm>
            <a:prstGeom prst="rect">
              <a:avLst/>
            </a:prstGeom>
            <a:noFill/>
            <a:ln>
              <a:noFill/>
            </a:ln>
          </p:spPr>
          <p:txBody>
            <a:bodyPr wrap="square" lIns="0" tIns="0" rIns="0" bIns="0" anchor="t" rtlCol="0">
              <a:noAutofit/>
            </a:bodyPr>
            <a:lstStyle/>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 metabolismo de glucosa → ↓ ATP/ADP.</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K</a:t>
              </a:r>
              <a:r>
                <a:rPr lang="es-AR" sz="1500" baseline="-25000" dirty="0">
                  <a:solidFill>
                    <a:srgbClr val="1E1E1E"/>
                  </a:solidFill>
                  <a:latin typeface="Bahnschrift"/>
                  <a:ea typeface="Bahnschrift"/>
                  <a:cs typeface="Bahnschrift"/>
                  <a:sym typeface="Bahnschrift"/>
                </a:rPr>
                <a:t>ATP</a:t>
              </a:r>
              <a:r>
                <a:rPr lang="es-AR" sz="1500" dirty="0">
                  <a:solidFill>
                    <a:srgbClr val="1E1E1E"/>
                  </a:solidFill>
                  <a:latin typeface="Bahnschrift"/>
                  <a:ea typeface="Bahnschrift"/>
                  <a:cs typeface="Bahnschrift"/>
                  <a:sym typeface="Bahnschrift"/>
                </a:rPr>
                <a:t> </a:t>
              </a:r>
              <a:r>
                <a:rPr lang="es-AR" sz="1500" b="1" dirty="0">
                  <a:solidFill>
                    <a:srgbClr val="1E1E1E"/>
                  </a:solidFill>
                  <a:latin typeface="Bahnschrift"/>
                  <a:ea typeface="Bahnschrift"/>
                  <a:cs typeface="Bahnschrift"/>
                  <a:sym typeface="Bahnschrift"/>
                </a:rPr>
                <a:t>relativamente abiertos</a:t>
              </a:r>
              <a:r>
                <a:rPr lang="es-AR" sz="1500" dirty="0">
                  <a:solidFill>
                    <a:srgbClr val="1E1E1E"/>
                  </a:solidFill>
                  <a:latin typeface="Bahnschrift"/>
                  <a:ea typeface="Bahnschrift"/>
                  <a:cs typeface="Bahnschrift"/>
                  <a:sym typeface="Bahnschrift"/>
                </a:rPr>
                <a:t> → salida de K</a:t>
              </a:r>
              <a:r>
                <a:rPr lang="es-AR" sz="1500" baseline="30000" dirty="0">
                  <a:solidFill>
                    <a:srgbClr val="1E1E1E"/>
                  </a:solidFill>
                  <a:latin typeface="Bahnschrift"/>
                  <a:ea typeface="Bahnschrift"/>
                  <a:cs typeface="Bahnschrift"/>
                  <a:sym typeface="Bahnschrift"/>
                </a:rPr>
                <a:t>+</a:t>
              </a:r>
              <a:r>
                <a:rPr lang="es-AR" sz="1500" dirty="0">
                  <a:solidFill>
                    <a:srgbClr val="1E1E1E"/>
                  </a:solidFill>
                  <a:latin typeface="Bahnschrift"/>
                  <a:ea typeface="Bahnschrift"/>
                  <a:cs typeface="Bahnschrift"/>
                  <a:sym typeface="Bahnschrift"/>
                </a:rPr>
                <a:t> → </a:t>
              </a:r>
              <a:r>
                <a:rPr lang="es-AR" sz="1500" b="1" dirty="0">
                  <a:solidFill>
                    <a:srgbClr val="1E1E1E"/>
                  </a:solidFill>
                  <a:latin typeface="Bahnschrift"/>
                  <a:ea typeface="Bahnschrift"/>
                  <a:cs typeface="Bahnschrift"/>
                  <a:sym typeface="Bahnschrift"/>
                </a:rPr>
                <a:t>hiperpolarización</a:t>
              </a:r>
              <a:r>
                <a:rPr lang="es-AR" sz="1500" dirty="0">
                  <a:solidFill>
                    <a:srgbClr val="1E1E1E"/>
                  </a:solidFill>
                  <a:latin typeface="Bahnschrift"/>
                  <a:ea typeface="Bahnschrift"/>
                  <a:cs typeface="Bahnschrift"/>
                  <a:sym typeface="Bahnschrift"/>
                </a:rPr>
                <a:t>.</a:t>
              </a:r>
              <a:endParaRPr lang="es-AR" sz="1500" dirty="0">
                <a:latin typeface="Bahnschrift"/>
              </a:endParaRPr>
            </a:p>
            <a:p>
              <a:pPr algn="l" marL="142875" indent="-142875">
                <a:spcAft>
                  <a:spcPts val="500"/>
                </a:spcAft>
                <a:buClr>
                  <a:srgbClr val="1E1E1E"/>
                </a:buClr>
                <a:buFont typeface="Arial"/>
                <a:buChar char="•"/>
              </a:pPr>
              <a:r>
                <a:rPr lang="es-AR" sz="1500" dirty="0">
                  <a:solidFill>
                    <a:srgbClr val="1E1E1E"/>
                  </a:solidFill>
                  <a:latin typeface="Bahnschrift"/>
                  <a:ea typeface="Bahnschrift"/>
                  <a:cs typeface="Bahnschrift"/>
                  <a:sym typeface="Bahnschrift"/>
                </a:rPr>
                <a:t>Ca</a:t>
              </a:r>
              <a:r>
                <a:rPr lang="es-AR" sz="1500" baseline="-25000" dirty="0">
                  <a:solidFill>
                    <a:srgbClr val="1E1E1E"/>
                  </a:solidFill>
                  <a:latin typeface="Bahnschrift"/>
                  <a:ea typeface="Bahnschrift"/>
                  <a:cs typeface="Bahnschrift"/>
                  <a:sym typeface="Bahnschrift"/>
                </a:rPr>
                <a:t>V</a:t>
              </a:r>
              <a:r>
                <a:rPr lang="es-AR" sz="1500" dirty="0">
                  <a:solidFill>
                    <a:srgbClr val="1E1E1E"/>
                  </a:solidFill>
                  <a:latin typeface="Bahnschrift"/>
                  <a:ea typeface="Bahnschrift"/>
                  <a:cs typeface="Bahnschrift"/>
                  <a:sym typeface="Bahnschrift"/>
                </a:rPr>
                <a:t> cerrados → ↓ Ca</a:t>
              </a:r>
              <a:r>
                <a:rPr lang="es-AR" sz="1500" baseline="30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 ↓ exocitosis.</a:t>
              </a:r>
              <a:endParaRPr lang="es-AR" sz="1500" dirty="0">
                <a:latin typeface="Bahnschrift"/>
              </a:endParaRPr>
            </a:p>
          </p:txBody>
        </p:sp>
      </p:grpSp>
      <p:sp>
        <p:nvSpPr>
          <p:cNvPr id="93" name="Perla"/>
          <p:cNvSpPr/>
          <p:nvPr/>
        </p:nvSpPr>
        <p:spPr>
          <a:xfrm>
            <a:off x="8001000" y="4251960"/>
            <a:ext cx="3840480" cy="15087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Persiste una </a:t>
            </a:r>
            <a:r>
              <a:rPr lang="es-AR" sz="1650" b="1" dirty="0">
                <a:solidFill>
                  <a:srgbClr val="FFFFFF"/>
                </a:solidFill>
                <a:latin typeface="Bahnschrift"/>
                <a:ea typeface="Bahnschrift"/>
                <a:cs typeface="Bahnschrift"/>
                <a:sym typeface="Bahnschrift"/>
              </a:rPr>
              <a:t>secreción basal</a:t>
            </a:r>
            <a:r>
              <a:rPr lang="es-AR" sz="1650" dirty="0">
                <a:solidFill>
                  <a:srgbClr val="FFFFFF"/>
                </a:solidFill>
                <a:latin typeface="Bahnschrift"/>
                <a:ea typeface="Bahnschrift"/>
                <a:cs typeface="Bahnschrift"/>
                <a:sym typeface="Bahnschrift"/>
              </a:rPr>
              <a:t> indispensable para frenar la lipólisis y la cetogénesis extremas.</a:t>
            </a:r>
            <a:endParaRPr lang="es-AR" sz="1650" dirty="0">
              <a:latin typeface="Bahnschrift"/>
            </a:endParaRPr>
          </a:p>
        </p:txBody>
      </p:sp>
      <p:sp>
        <p:nvSpPr>
          <p:cNvPr id="94" name="K salida 0"/>
          <p:cNvSpPr/>
          <p:nvPr/>
        </p:nvSpPr>
        <p:spPr>
          <a:xfrm>
            <a:off x="2926080" y="2697480"/>
            <a:ext cx="292608" cy="292608"/>
          </a:xfrm>
          <a:prstGeom prst="ellipse">
            <a:avLst/>
          </a:prstGeom>
          <a:gradFill rotWithShape="1">
            <a:gsLst>
              <a:gs pos="0">
                <a:srgbClr val="9F7BAE"/>
              </a:gs>
              <a:gs pos="55000">
                <a:srgbClr val="6C3483"/>
              </a:gs>
              <a:gs pos="100000">
                <a:srgbClr val="562968"/>
              </a:gs>
            </a:gsLst>
            <a:path path="circle">
              <a:fillToRect l="32000" t="28000" r="68000" b="72000"/>
            </a:path>
          </a:gradFill>
          <a:ln w="12700" cap="rnd">
            <a:solidFill>
              <a:srgbClr val="3B1C48"/>
            </a:solidFill>
            <a:round/>
          </a:ln>
        </p:spPr>
        <p:txBody>
          <a:bodyPr wrap="square" lIns="0" tIns="0" rIns="0" bIns="0" anchor="ctr" rtlCol="0">
            <a:noAutofit/>
          </a:bodyPr>
          <a:lstStyle/>
          <a:p>
            <a:pPr algn="ctr">
              <a:spcAft>
                <a:spcPts val="300"/>
              </a:spcAft>
              <a:buNone/>
            </a:pPr>
            <a:r>
              <a:rPr lang="es-AR" sz="952" b="1" dirty="0">
                <a:solidFill>
                  <a:srgbClr val="FFFFFF"/>
                </a:solidFill>
                <a:latin typeface="Bahnschrift SemiBold Condensed"/>
                <a:ea typeface="Bahnschrift SemiBold Condensed"/>
                <a:cs typeface="Bahnschrift SemiBold Condensed"/>
                <a:sym typeface="Bahnschrift SemiBold Condensed"/>
              </a:rPr>
              <a:t>K</a:t>
            </a:r>
            <a:r>
              <a:rPr lang="es-AR" sz="95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52" dirty="0">
              <a:latin typeface="Bahnschrift SemiBold Condensed"/>
            </a:endParaRPr>
          </a:p>
        </p:txBody>
      </p:sp>
      <p:sp>
        <p:nvSpPr>
          <p:cNvPr id="95" name="K salida 1"/>
          <p:cNvSpPr/>
          <p:nvPr/>
        </p:nvSpPr>
        <p:spPr>
          <a:xfrm>
            <a:off x="3200400" y="2697480"/>
            <a:ext cx="292608" cy="292608"/>
          </a:xfrm>
          <a:prstGeom prst="ellipse">
            <a:avLst/>
          </a:prstGeom>
          <a:gradFill rotWithShape="1">
            <a:gsLst>
              <a:gs pos="0">
                <a:srgbClr val="9F7BAE"/>
              </a:gs>
              <a:gs pos="55000">
                <a:srgbClr val="6C3483"/>
              </a:gs>
              <a:gs pos="100000">
                <a:srgbClr val="562968"/>
              </a:gs>
            </a:gsLst>
            <a:path path="circle">
              <a:fillToRect l="32000" t="28000" r="68000" b="72000"/>
            </a:path>
          </a:gradFill>
          <a:ln w="12700" cap="rnd">
            <a:solidFill>
              <a:srgbClr val="3B1C48"/>
            </a:solidFill>
            <a:round/>
          </a:ln>
        </p:spPr>
        <p:txBody>
          <a:bodyPr wrap="square" lIns="0" tIns="0" rIns="0" bIns="0" anchor="ctr" rtlCol="0">
            <a:noAutofit/>
          </a:bodyPr>
          <a:lstStyle/>
          <a:p>
            <a:pPr algn="ctr">
              <a:spcAft>
                <a:spcPts val="300"/>
              </a:spcAft>
              <a:buNone/>
            </a:pPr>
            <a:r>
              <a:rPr lang="es-AR" sz="952" b="1" dirty="0">
                <a:solidFill>
                  <a:srgbClr val="FFFFFF"/>
                </a:solidFill>
                <a:latin typeface="Bahnschrift SemiBold Condensed"/>
                <a:ea typeface="Bahnschrift SemiBold Condensed"/>
                <a:cs typeface="Bahnschrift SemiBold Condensed"/>
                <a:sym typeface="Bahnschrift SemiBold Condensed"/>
              </a:rPr>
              <a:t>K</a:t>
            </a:r>
            <a:r>
              <a:rPr lang="es-AR" sz="95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52" dirty="0">
              <a:latin typeface="Bahnschrift SemiBold Condensed"/>
            </a:endParaRPr>
          </a:p>
        </p:txBody>
      </p:sp>
      <p:sp>
        <p:nvSpPr>
          <p:cNvPr id="96" name="K salida 2"/>
          <p:cNvSpPr/>
          <p:nvPr/>
        </p:nvSpPr>
        <p:spPr>
          <a:xfrm>
            <a:off x="3474720" y="2697480"/>
            <a:ext cx="292608" cy="292608"/>
          </a:xfrm>
          <a:prstGeom prst="ellipse">
            <a:avLst/>
          </a:prstGeom>
          <a:gradFill rotWithShape="1">
            <a:gsLst>
              <a:gs pos="0">
                <a:srgbClr val="9F7BAE"/>
              </a:gs>
              <a:gs pos="55000">
                <a:srgbClr val="6C3483"/>
              </a:gs>
              <a:gs pos="100000">
                <a:srgbClr val="562968"/>
              </a:gs>
            </a:gsLst>
            <a:path path="circle">
              <a:fillToRect l="32000" t="28000" r="68000" b="72000"/>
            </a:path>
          </a:gradFill>
          <a:ln w="12700" cap="rnd">
            <a:solidFill>
              <a:srgbClr val="3B1C48"/>
            </a:solidFill>
            <a:round/>
          </a:ln>
        </p:spPr>
        <p:txBody>
          <a:bodyPr wrap="square" lIns="0" tIns="0" rIns="0" bIns="0" anchor="ctr" rtlCol="0">
            <a:noAutofit/>
          </a:bodyPr>
          <a:lstStyle/>
          <a:p>
            <a:pPr algn="ctr">
              <a:spcAft>
                <a:spcPts val="300"/>
              </a:spcAft>
              <a:buNone/>
            </a:pPr>
            <a:r>
              <a:rPr lang="es-AR" sz="952" b="1" dirty="0">
                <a:solidFill>
                  <a:srgbClr val="FFFFFF"/>
                </a:solidFill>
                <a:latin typeface="Bahnschrift SemiBold Condensed"/>
                <a:ea typeface="Bahnschrift SemiBold Condensed"/>
                <a:cs typeface="Bahnschrift SemiBold Condensed"/>
                <a:sym typeface="Bahnschrift SemiBold Condensed"/>
              </a:rPr>
              <a:t>K</a:t>
            </a:r>
            <a:r>
              <a:rPr lang="es-AR" sz="95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52" dirty="0">
              <a:latin typeface="Bahnschrift SemiBold Condensed"/>
            </a:endParaRPr>
          </a:p>
        </p:txBody>
      </p:sp>
      <p:sp>
        <p:nvSpPr>
          <p:cNvPr id="97" name="Forma 96"/>
          <p:cNvSpPr/>
          <p:nvPr/>
        </p:nvSpPr>
        <p:spPr>
          <a:xfrm>
            <a:off x="548640" y="5074920"/>
            <a:ext cx="4023360" cy="12344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Diabetes tipo 1</a:t>
            </a:r>
            <a:r>
              <a:rPr lang="es-AR" sz="1550" dirty="0">
                <a:solidFill>
                  <a:srgbClr val="1E1E1E"/>
                </a:solidFill>
                <a:latin typeface="Bahnschrift"/>
                <a:ea typeface="Bahnschrift"/>
                <a:cs typeface="Bahnschrift"/>
                <a:sym typeface="Bahnschrift"/>
              </a:rPr>
              <a:t>: sin insulina se pierde este freno </a:t>
            </a:r>
            <a:r>
              <a:rPr lang="es-AR" sz="1550" b="1" dirty="0">
                <a:solidFill>
                  <a:srgbClr val="1E1E1E"/>
                </a:solidFill>
                <a:latin typeface="Bahnschrift"/>
                <a:ea typeface="Bahnschrift"/>
                <a:cs typeface="Bahnschrift"/>
                <a:sym typeface="Bahnschrift"/>
              </a:rPr>
              <a:t>aun con abundante glucosa extracelular</a:t>
            </a:r>
            <a:r>
              <a:rPr lang="es-AR" sz="1550" dirty="0">
                <a:solidFill>
                  <a:srgbClr val="1E1E1E"/>
                </a:solidFill>
                <a:latin typeface="Bahnschrift"/>
                <a:ea typeface="Bahnschrift"/>
                <a:cs typeface="Bahnschrift"/>
                <a:sym typeface="Bahnschrift"/>
              </a:rPr>
              <a:t> → riesgo de cetoacidosis.</a:t>
            </a:r>
            <a:endParaRPr lang="es-AR" sz="1550" dirty="0">
              <a:latin typeface="Bahnschrift"/>
            </a:endParaRPr>
          </a:p>
        </p:txBody>
      </p:sp>
      <p:sp>
        <p:nvSpPr>
          <p:cNvPr id="2" name="Etiqueta sección"/>
          <p:cNvSpPr/>
          <p:nvPr/>
        </p:nvSpPr>
        <p:spPr>
          <a:xfrm>
            <a:off x="10207260" y="201168"/>
            <a:ext cx="171011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INSULINA</a:t>
            </a:r>
            <a:endParaRPr lang="es-AR" sz="1300" dirty="0">
              <a:latin typeface="Bahnschrift SemiBold Condensed"/>
            </a:endParaRPr>
          </a:p>
        </p:txBody>
      </p:sp>
      <p:sp>
        <p:nvSpPr>
          <p:cNvPr id="3" name="Título"/>
          <p:cNvSpPr/>
          <p:nvPr/>
        </p:nvSpPr>
        <p:spPr>
          <a:xfrm>
            <a:off x="274320" y="146304"/>
            <a:ext cx="664428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CÉLULA β EN AYUNO: FRENO DE LA SECRECIÓN</a:t>
            </a:r>
            <a:endParaRPr lang="es-AR" sz="2600" dirty="0">
              <a:latin typeface="Bahnschrift SemiBold Condensed"/>
            </a:endParaRPr>
          </a:p>
        </p:txBody>
      </p:sp>
      <p:sp>
        <p:nvSpPr>
          <p:cNvPr id="9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2"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075 -0.2133 E" pathEditMode="relative" ptsTypes="">
                                      <p:cBhvr>
                                        <p:cTn id="4" dur="1200" fill="hold"/>
                                        <p:tgtEl>
                                          <p:spTgt spid="94"/>
                                        </p:tgtEl>
                                        <p:attrNameLst>
                                          <p:attrName>ppt_x</p:attrName>
                                          <p:attrName>ppt_y</p:attrName>
                                        </p:attrNameLst>
                                      </p:cBhvr>
                                      <p:rCtr x="375" y="-10666"/>
                                    </p:animMotion>
                                  </p:childTnLst>
                                </p:cTn>
                              </p:par>
                            </p:childTnLst>
                          </p:cTn>
                        </p:par>
                        <p:par>
                          <p:cTn id="8" fill="hold">
                            <p:stCondLst>
                              <p:cond delay="300"/>
                            </p:stCondLst>
                            <p:childTnLst>
                              <p:par>
                                <p:cTn id="6" presetID="0" presetClass="path" presetSubtype="0" accel="20000" decel="20000" fill="hold" grpId="0" nodeType="afterEffect">
                                  <p:stCondLst>
                                    <p:cond delay="0"/>
                                  </p:stCondLst>
                                  <p:childTnLst>
                                    <p:animMotion origin="layout" path="M 0 0 L 0.0075 -0.2133 E" pathEditMode="relative" ptsTypes="">
                                      <p:cBhvr>
                                        <p:cTn id="7" dur="1200" fill="hold"/>
                                        <p:tgtEl>
                                          <p:spTgt spid="95"/>
                                        </p:tgtEl>
                                        <p:attrNameLst>
                                          <p:attrName>ppt_x</p:attrName>
                                          <p:attrName>ppt_y</p:attrName>
                                        </p:attrNameLst>
                                      </p:cBhvr>
                                      <p:rCtr x="375" y="-10666"/>
                                    </p:animMotion>
                                  </p:childTnLst>
                                </p:cTn>
                              </p:par>
                            </p:childTnLst>
                          </p:cTn>
                        </p:par>
                        <p:par>
                          <p:cTn id="11" fill="hold">
                            <p:stCondLst>
                              <p:cond delay="900"/>
                            </p:stCondLst>
                            <p:childTnLst>
                              <p:par>
                                <p:cTn id="9" presetID="0" presetClass="path" presetSubtype="0" accel="20000" decel="20000" fill="hold" grpId="0" nodeType="afterEffect">
                                  <p:stCondLst>
                                    <p:cond delay="0"/>
                                  </p:stCondLst>
                                  <p:childTnLst>
                                    <p:animMotion origin="layout" path="M 0 0 L 0.0075 -0.2133 E" pathEditMode="relative" ptsTypes="">
                                      <p:cBhvr>
                                        <p:cTn id="10" dur="1200" fill="hold"/>
                                        <p:tgtEl>
                                          <p:spTgt spid="96"/>
                                        </p:tgtEl>
                                        <p:attrNameLst>
                                          <p:attrName>ppt_x</p:attrName>
                                          <p:attrName>ppt_y</p:attrName>
                                        </p:attrNameLst>
                                      </p:cBhvr>
                                      <p:rCtr x="375" y="-10666"/>
                                    </p:animMotion>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93"/>
                                        </p:tgtEl>
                                        <p:attrNameLst>
                                          <p:attrName>style.visibility</p:attrName>
                                        </p:attrNameLst>
                                      </p:cBhvr>
                                      <p:to>
                                        <p:strVal val="visible"/>
                                      </p:to>
                                    </p:set>
                                    <p:anim calcmode="lin" valueType="num">
                                      <p:cBhvr>
                                        <p:cTn id="15" dur="500" fill="hold"/>
                                        <p:tgtEl>
                                          <p:spTgt spid="93"/>
                                        </p:tgtEl>
                                        <p:attrNameLst>
                                          <p:attrName>ppt_w</p:attrName>
                                        </p:attrNameLst>
                                      </p:cBhvr>
                                      <p:tavLst>
                                        <p:tav tm="0">
                                          <p:val>
                                            <p:fltVal val="0"/>
                                          </p:val>
                                        </p:tav>
                                        <p:tav tm="100000">
                                          <p:val>
                                            <p:strVal val="#ppt_w"/>
                                          </p:val>
                                        </p:tav>
                                      </p:tavLst>
                                    </p:anim>
                                    <p:anim calcmode="lin" valueType="num">
                                      <p:cBhvr>
                                        <p:cTn id="16" dur="500" fill="hold"/>
                                        <p:tgtEl>
                                          <p:spTgt spid="93"/>
                                        </p:tgtEl>
                                        <p:attrNameLst>
                                          <p:attrName>ppt_h</p:attrName>
                                        </p:attrNameLst>
                                      </p:cBhvr>
                                      <p:tavLst>
                                        <p:tav tm="0">
                                          <p:val>
                                            <p:fltVal val="0"/>
                                          </p:val>
                                        </p:tav>
                                        <p:tav tm="100000">
                                          <p:val>
                                            <p:strVal val="#ppt_h"/>
                                          </p:val>
                                        </p:tav>
                                      </p:tavLst>
                                    </p:anim>
                                    <p:animEffect transition="in" filter="fade">
                                      <p:cBhvr>
                                        <p:cTn id="17" dur="500"/>
                                        <p:tgtEl>
                                          <p:spTgt spid="93"/>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7"/>
                                        </p:tgtEl>
                                        <p:attrNameLst>
                                          <p:attrName>style.visibility</p:attrName>
                                        </p:attrNameLst>
                                      </p:cBhvr>
                                      <p:to>
                                        <p:strVal val="visible"/>
                                      </p:to>
                                    </p:set>
                                    <p:animEffect transition="in" filter="fade">
                                      <p:cBhvr>
                                        <p:cTn id="22"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95" grpId="0" animBg="1"/>
      <p:bldP spid="96" grpId="0" animBg="1"/>
      <p:bldP spid="93" grpId="0" animBg="1"/>
      <p:bldP spid="97" grpId="0" animBg="1"/>
    </p:bldLst>
  </p:timing>
</p:sld>
</file>

<file path=ppt/slides/slide3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élula alfa"/>
          <p:cNvGrpSpPr/>
          <p:nvPr/>
        </p:nvGrpSpPr>
        <p:grpSpPr>
          <a:xfrm>
            <a:off x="411480" y="1143000"/>
            <a:ext cx="4206240" cy="3840480"/>
            <a:chOff x="411480" y="1143000"/>
            <a:chExt cx="4206240" cy="3840480"/>
          </a:xfrm>
        </p:grpSpPr>
        <p:sp>
          <p:nvSpPr>
            <p:cNvPr id="5" name="Forma 4"/>
            <p:cNvSpPr/>
            <p:nvPr/>
          </p:nvSpPr>
          <p:spPr>
            <a:xfrm>
              <a:off x="411480" y="1143000"/>
              <a:ext cx="4206240" cy="3840480"/>
            </a:xfrm>
            <a:prstGeom prst="roundRect">
              <a:avLst>
                <a:gd name="adj" fmla="val 22000"/>
              </a:avLst>
            </a:prstGeom>
            <a:gradFill rotWithShape="1">
              <a:gsLst>
                <a:gs pos="0">
                  <a:srgbClr val="FDEDEC"/>
                </a:gs>
                <a:gs pos="100000">
                  <a:srgbClr val="F5B7B1"/>
                </a:gs>
              </a:gsLst>
              <a:path path="circle">
                <a:fillToRect l="50000" t="50000" r="50000" b="50000"/>
              </a:path>
            </a:gradFill>
            <a:ln w="88900" cap="rnd">
              <a:solidFill>
                <a:srgbClr val="C0392B"/>
              </a:solidFill>
              <a:round/>
            </a:ln>
            <a:effectLst>
              <a:outerShdw blurRad="63500" dist="38100" dir="2700000" algn="tl" rotWithShape="0">
                <a:srgbClr val="000000">
                  <a:alpha val="32000"/>
                </a:srgbClr>
              </a:outerShdw>
            </a:effectLst>
          </p:spPr>
        </p:sp>
        <p:grpSp>
          <p:nvGrpSpPr>
            <p:cNvPr id="6" name="Núcleo"/>
            <p:cNvGrpSpPr/>
            <p:nvPr/>
          </p:nvGrpSpPr>
          <p:grpSpPr>
            <a:xfrm>
              <a:off x="868680" y="3108960"/>
              <a:ext cx="1097280" cy="987552"/>
              <a:chOff x="868680" y="3108960"/>
              <a:chExt cx="1097280" cy="987552"/>
            </a:xfrm>
          </p:grpSpPr>
          <p:sp>
            <p:nvSpPr>
              <p:cNvPr id="7" name="Forma 6"/>
              <p:cNvSpPr/>
              <p:nvPr/>
            </p:nvSpPr>
            <p:spPr>
              <a:xfrm>
                <a:off x="868680" y="3108960"/>
                <a:ext cx="1097280" cy="98755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8" name="Forma 7"/>
              <p:cNvSpPr/>
              <p:nvPr/>
            </p:nvSpPr>
            <p:spPr>
              <a:xfrm>
                <a:off x="1439266" y="3438144"/>
                <a:ext cx="241402" cy="219456"/>
              </a:xfrm>
              <a:prstGeom prst="ellipse">
                <a:avLst/>
              </a:prstGeom>
              <a:solidFill>
                <a:srgbClr val="513B6B"/>
              </a:solidFill>
              <a:ln>
                <a:noFill/>
              </a:ln>
            </p:spPr>
          </p:sp>
        </p:grpSp>
        <p:grpSp>
          <p:nvGrpSpPr>
            <p:cNvPr id="9" name="Gránulo de insulina"/>
            <p:cNvGrpSpPr/>
            <p:nvPr/>
          </p:nvGrpSpPr>
          <p:grpSpPr>
            <a:xfrm>
              <a:off x="2194560" y="1828800"/>
              <a:ext cx="384048" cy="384048"/>
              <a:chOff x="2194560" y="1828800"/>
              <a:chExt cx="384048" cy="384048"/>
            </a:xfrm>
          </p:grpSpPr>
          <p:sp>
            <p:nvSpPr>
              <p:cNvPr id="10" name="Forma 9"/>
              <p:cNvSpPr/>
              <p:nvPr/>
            </p:nvSpPr>
            <p:spPr>
              <a:xfrm>
                <a:off x="2194560" y="182880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11" name="Forma 10"/>
              <p:cNvSpPr/>
              <p:nvPr/>
            </p:nvSpPr>
            <p:spPr>
              <a:xfrm>
                <a:off x="2309774" y="194401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12" name="Gránulo de insulina_2"/>
            <p:cNvGrpSpPr/>
            <p:nvPr/>
          </p:nvGrpSpPr>
          <p:grpSpPr>
            <a:xfrm>
              <a:off x="2697480" y="1828800"/>
              <a:ext cx="384048" cy="384048"/>
              <a:chOff x="2697480" y="1828800"/>
              <a:chExt cx="384048" cy="384048"/>
            </a:xfrm>
          </p:grpSpPr>
          <p:sp>
            <p:nvSpPr>
              <p:cNvPr id="13" name="Forma 12"/>
              <p:cNvSpPr/>
              <p:nvPr/>
            </p:nvSpPr>
            <p:spPr>
              <a:xfrm>
                <a:off x="2697480" y="182880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14" name="Forma 13"/>
              <p:cNvSpPr/>
              <p:nvPr/>
            </p:nvSpPr>
            <p:spPr>
              <a:xfrm>
                <a:off x="2812694" y="194401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15" name="Gránulo de insulina_3"/>
            <p:cNvGrpSpPr/>
            <p:nvPr/>
          </p:nvGrpSpPr>
          <p:grpSpPr>
            <a:xfrm>
              <a:off x="3200400" y="1828800"/>
              <a:ext cx="384048" cy="384048"/>
              <a:chOff x="3200400" y="1828800"/>
              <a:chExt cx="384048" cy="384048"/>
            </a:xfrm>
          </p:grpSpPr>
          <p:sp>
            <p:nvSpPr>
              <p:cNvPr id="16" name="Forma 15"/>
              <p:cNvSpPr/>
              <p:nvPr/>
            </p:nvSpPr>
            <p:spPr>
              <a:xfrm>
                <a:off x="3200400" y="182880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17" name="Forma 16"/>
              <p:cNvSpPr/>
              <p:nvPr/>
            </p:nvSpPr>
            <p:spPr>
              <a:xfrm>
                <a:off x="3315614" y="194401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18" name="Gránulo de insulina_4"/>
            <p:cNvGrpSpPr/>
            <p:nvPr/>
          </p:nvGrpSpPr>
          <p:grpSpPr>
            <a:xfrm>
              <a:off x="3703320" y="1828800"/>
              <a:ext cx="384048" cy="384048"/>
              <a:chOff x="3703320" y="1828800"/>
              <a:chExt cx="384048" cy="384048"/>
            </a:xfrm>
          </p:grpSpPr>
          <p:sp>
            <p:nvSpPr>
              <p:cNvPr id="19" name="Forma 18"/>
              <p:cNvSpPr/>
              <p:nvPr/>
            </p:nvSpPr>
            <p:spPr>
              <a:xfrm>
                <a:off x="3703320" y="182880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20" name="Forma 19"/>
              <p:cNvSpPr/>
              <p:nvPr/>
            </p:nvSpPr>
            <p:spPr>
              <a:xfrm>
                <a:off x="3818534" y="194401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21" name="Gránulo de insulina_5"/>
            <p:cNvGrpSpPr/>
            <p:nvPr/>
          </p:nvGrpSpPr>
          <p:grpSpPr>
            <a:xfrm>
              <a:off x="2194560" y="2377440"/>
              <a:ext cx="384048" cy="384048"/>
              <a:chOff x="2194560" y="2377440"/>
              <a:chExt cx="384048" cy="384048"/>
            </a:xfrm>
          </p:grpSpPr>
          <p:sp>
            <p:nvSpPr>
              <p:cNvPr id="22" name="Forma 21"/>
              <p:cNvSpPr/>
              <p:nvPr/>
            </p:nvSpPr>
            <p:spPr>
              <a:xfrm>
                <a:off x="2194560" y="237744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23" name="Forma 22"/>
              <p:cNvSpPr/>
              <p:nvPr/>
            </p:nvSpPr>
            <p:spPr>
              <a:xfrm>
                <a:off x="2309774" y="249265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24" name="Gránulo de insulina_6"/>
            <p:cNvGrpSpPr/>
            <p:nvPr/>
          </p:nvGrpSpPr>
          <p:grpSpPr>
            <a:xfrm>
              <a:off x="2697480" y="2377440"/>
              <a:ext cx="384048" cy="384048"/>
              <a:chOff x="2697480" y="2377440"/>
              <a:chExt cx="384048" cy="384048"/>
            </a:xfrm>
          </p:grpSpPr>
          <p:sp>
            <p:nvSpPr>
              <p:cNvPr id="25" name="Forma 24"/>
              <p:cNvSpPr/>
              <p:nvPr/>
            </p:nvSpPr>
            <p:spPr>
              <a:xfrm>
                <a:off x="2697480" y="237744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26" name="Forma 25"/>
              <p:cNvSpPr/>
              <p:nvPr/>
            </p:nvSpPr>
            <p:spPr>
              <a:xfrm>
                <a:off x="2812694" y="249265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grpSp>
          <p:nvGrpSpPr>
            <p:cNvPr id="27" name="Gránulo de insulina_7"/>
            <p:cNvGrpSpPr/>
            <p:nvPr/>
          </p:nvGrpSpPr>
          <p:grpSpPr>
            <a:xfrm>
              <a:off x="3200400" y="2377440"/>
              <a:ext cx="384048" cy="384048"/>
              <a:chOff x="3200400" y="2377440"/>
              <a:chExt cx="384048" cy="384048"/>
            </a:xfrm>
          </p:grpSpPr>
          <p:sp>
            <p:nvSpPr>
              <p:cNvPr id="28" name="Forma 27"/>
              <p:cNvSpPr/>
              <p:nvPr/>
            </p:nvSpPr>
            <p:spPr>
              <a:xfrm>
                <a:off x="3200400" y="2377440"/>
                <a:ext cx="384048" cy="384048"/>
              </a:xfrm>
              <a:prstGeom prst="ellipse">
                <a:avLst/>
              </a:prstGeom>
              <a:gradFill rotWithShape="1">
                <a:gsLst>
                  <a:gs pos="0">
                    <a:srgbClr val="FFFFFF"/>
                  </a:gs>
                  <a:gs pos="100000">
                    <a:srgbClr val="D6E4F5"/>
                  </a:gs>
                </a:gsLst>
                <a:path path="circle">
                  <a:fillToRect l="40000" t="40000" r="60000" b="60000"/>
                </a:path>
              </a:gradFill>
              <a:ln w="12700" cap="rnd">
                <a:solidFill>
                  <a:srgbClr val="5B7DB1"/>
                </a:solidFill>
                <a:round/>
              </a:ln>
            </p:spPr>
          </p:sp>
          <p:sp>
            <p:nvSpPr>
              <p:cNvPr id="29" name="Forma 28"/>
              <p:cNvSpPr/>
              <p:nvPr/>
            </p:nvSpPr>
            <p:spPr>
              <a:xfrm>
                <a:off x="3315614" y="2492654"/>
                <a:ext cx="153619" cy="153619"/>
              </a:xfrm>
              <a:prstGeom prst="ellipse">
                <a:avLst/>
              </a:prstGeom>
              <a:gradFill rotWithShape="1">
                <a:gsLst>
                  <a:gs pos="0">
                    <a:srgbClr val="E0874C"/>
                  </a:gs>
                  <a:gs pos="55000">
                    <a:srgbClr val="D35400"/>
                  </a:gs>
                  <a:gs pos="100000">
                    <a:srgbClr val="A84300"/>
                  </a:gs>
                </a:gsLst>
                <a:path path="circle">
                  <a:fillToRect l="32000" t="28000" r="68000" b="72000"/>
                </a:path>
              </a:gradFill>
              <a:ln>
                <a:noFill/>
              </a:ln>
            </p:spPr>
          </p:sp>
        </p:grpSp>
        <p:sp>
          <p:nvSpPr>
            <p:cNvPr id="30" name="Forma 29"/>
            <p:cNvSpPr txBox="1"/>
            <p:nvPr/>
          </p:nvSpPr>
          <p:spPr>
            <a:xfrm>
              <a:off x="548640" y="1234440"/>
              <a:ext cx="3931920" cy="365760"/>
            </a:xfrm>
            <a:prstGeom prst="rect">
              <a:avLst/>
            </a:prstGeom>
            <a:noFill/>
            <a:ln>
              <a:noFill/>
            </a:ln>
          </p:spPr>
          <p:txBody>
            <a:bodyPr wrap="square" lIns="0" tIns="0" rIns="0" bIns="0" anchor="t" rtlCol="0">
              <a:noAutofit/>
            </a:bodyPr>
            <a:lstStyle/>
            <a:p>
              <a:pPr algn="ctr">
                <a:spcAft>
                  <a:spcPts val="300"/>
                </a:spcAft>
                <a:buNone/>
              </a:pPr>
              <a:r>
                <a:rPr lang="es-AR" sz="1600" b="1" dirty="0">
                  <a:solidFill>
                    <a:srgbClr val="922B21"/>
                  </a:solidFill>
                  <a:latin typeface="Bahnschrift SemiBold Condensed"/>
                  <a:ea typeface="Bahnschrift SemiBold Condensed"/>
                  <a:cs typeface="Bahnschrift SemiBold Condensed"/>
                  <a:sym typeface="Bahnschrift SemiBold Condensed"/>
                </a:rPr>
                <a:t>CÉLULA α</a:t>
              </a:r>
              <a:endParaRPr lang="es-AR" sz="1600" dirty="0">
                <a:latin typeface="Bahnschrift SemiBold Condensed"/>
              </a:endParaRPr>
            </a:p>
          </p:txBody>
        </p:sp>
      </p:grpSp>
      <p:sp>
        <p:nvSpPr>
          <p:cNvPr id="31" name="Glucagón 0"/>
          <p:cNvSpPr/>
          <p:nvPr/>
        </p:nvSpPr>
        <p:spPr>
          <a:xfrm>
            <a:off x="2377440" y="5120640"/>
            <a:ext cx="384048" cy="384048"/>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Gcg</a:t>
            </a:r>
            <a:endParaRPr lang="es-AR" sz="1092" dirty="0">
              <a:latin typeface="Bahnschrift SemiBold Condensed"/>
            </a:endParaRPr>
          </a:p>
        </p:txBody>
      </p:sp>
      <p:sp>
        <p:nvSpPr>
          <p:cNvPr id="32" name="Glucagón 1"/>
          <p:cNvSpPr/>
          <p:nvPr/>
        </p:nvSpPr>
        <p:spPr>
          <a:xfrm>
            <a:off x="2880360" y="5120640"/>
            <a:ext cx="384048" cy="384048"/>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Gcg</a:t>
            </a:r>
            <a:endParaRPr lang="es-AR" sz="1092" dirty="0">
              <a:latin typeface="Bahnschrift SemiBold Condensed"/>
            </a:endParaRPr>
          </a:p>
        </p:txBody>
      </p:sp>
      <p:sp>
        <p:nvSpPr>
          <p:cNvPr id="33" name="Glucagón 2"/>
          <p:cNvSpPr/>
          <p:nvPr/>
        </p:nvSpPr>
        <p:spPr>
          <a:xfrm>
            <a:off x="3383280" y="5120640"/>
            <a:ext cx="384048" cy="384048"/>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Gcg</a:t>
            </a:r>
            <a:endParaRPr lang="es-AR" sz="1092" dirty="0">
              <a:latin typeface="Bahnschrift SemiBold Condensed"/>
            </a:endParaRPr>
          </a:p>
        </p:txBody>
      </p:sp>
      <p:grpSp>
        <p:nvGrpSpPr>
          <p:cNvPr id="34" name="Recuadro Estimulan"/>
          <p:cNvGrpSpPr/>
          <p:nvPr/>
        </p:nvGrpSpPr>
        <p:grpSpPr>
          <a:xfrm>
            <a:off x="4846320" y="1051560"/>
            <a:ext cx="3383280" cy="2331720"/>
            <a:chOff x="4846320" y="1051560"/>
            <a:chExt cx="3383280" cy="2331720"/>
          </a:xfrm>
        </p:grpSpPr>
        <p:sp>
          <p:nvSpPr>
            <p:cNvPr id="35" name="Forma 34"/>
            <p:cNvSpPr/>
            <p:nvPr/>
          </p:nvSpPr>
          <p:spPr>
            <a:xfrm>
              <a:off x="4846320" y="1234440"/>
              <a:ext cx="3383280" cy="2148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Hipoglucemia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Señales autonómicas</a:t>
              </a:r>
              <a:r>
                <a:rPr lang="es-AR" sz="1700" dirty="0">
                  <a:solidFill>
                    <a:srgbClr val="1E1E1E"/>
                  </a:solidFill>
                  <a:latin typeface="Bahnschrift"/>
                  <a:ea typeface="Bahnschrift"/>
                  <a:cs typeface="Bahnschrift"/>
                  <a:sym typeface="Bahnschrift"/>
                </a:rPr>
                <a:t> (simpático, adrenalina)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Aminoácidos</a:t>
              </a:r>
              <a:r>
                <a:rPr lang="es-AR" sz="1700" dirty="0">
                  <a:solidFill>
                    <a:srgbClr val="1E1E1E"/>
                  </a:solidFill>
                  <a:latin typeface="Bahnschrift"/>
                  <a:ea typeface="Bahnschrift"/>
                  <a:cs typeface="Bahnschrift"/>
                  <a:sym typeface="Bahnschrift"/>
                </a:rPr>
                <a:t> (comida proteica)</a:t>
              </a:r>
              <a:endParaRPr lang="es-AR" sz="1700" dirty="0">
                <a:latin typeface="Bahnschrift"/>
              </a:endParaRPr>
            </a:p>
          </p:txBody>
        </p:sp>
        <p:sp>
          <p:nvSpPr>
            <p:cNvPr id="36" name="Forma 35"/>
            <p:cNvSpPr/>
            <p:nvPr/>
          </p:nvSpPr>
          <p:spPr>
            <a:xfrm>
              <a:off x="4956048" y="1051560"/>
              <a:ext cx="1198009"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ESTIMULAN</a:t>
              </a:r>
              <a:endParaRPr lang="es-AR" sz="1550" dirty="0">
                <a:latin typeface="Bahnschrift SemiBold Condensed"/>
              </a:endParaRPr>
            </a:p>
          </p:txBody>
        </p:sp>
      </p:grpSp>
      <p:grpSp>
        <p:nvGrpSpPr>
          <p:cNvPr id="37" name="Recuadro Frenan"/>
          <p:cNvGrpSpPr/>
          <p:nvPr/>
        </p:nvGrpSpPr>
        <p:grpSpPr>
          <a:xfrm>
            <a:off x="4846320" y="3566160"/>
            <a:ext cx="3383280" cy="1965960"/>
            <a:chOff x="4846320" y="3566160"/>
            <a:chExt cx="3383280" cy="1965960"/>
          </a:xfrm>
        </p:grpSpPr>
        <p:sp>
          <p:nvSpPr>
            <p:cNvPr id="38" name="Forma 37"/>
            <p:cNvSpPr/>
            <p:nvPr/>
          </p:nvSpPr>
          <p:spPr>
            <a:xfrm>
              <a:off x="4846320" y="3749040"/>
              <a:ext cx="3383280" cy="17830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Glucosa</a:t>
              </a:r>
              <a:r>
                <a:rPr lang="es-AR" sz="1700" dirty="0">
                  <a:solidFill>
                    <a:srgbClr val="1E1E1E"/>
                  </a:solidFill>
                  <a:latin typeface="Bahnschrift"/>
                  <a:ea typeface="Bahnschrift"/>
                  <a:cs typeface="Bahnschrift"/>
                  <a:sym typeface="Bahnschrift"/>
                </a:rPr>
                <a:t> elevada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Insulina</a:t>
              </a:r>
              <a:r>
                <a:rPr lang="es-AR" sz="1700" dirty="0">
                  <a:solidFill>
                    <a:srgbClr val="1E1E1E"/>
                  </a:solidFill>
                  <a:latin typeface="Bahnschrift"/>
                  <a:ea typeface="Bahnschrift"/>
                  <a:cs typeface="Bahnschrift"/>
                  <a:sym typeface="Bahnschrift"/>
                </a:rPr>
                <a:t> (paracrina)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Somatostatina</a:t>
              </a:r>
              <a:r>
                <a:rPr lang="es-AR" sz="1700" dirty="0">
                  <a:solidFill>
                    <a:srgbClr val="1E1E1E"/>
                  </a:solidFill>
                  <a:latin typeface="Bahnschrift"/>
                  <a:ea typeface="Bahnschrift"/>
                  <a:cs typeface="Bahnschrift"/>
                  <a:sym typeface="Bahnschrift"/>
                </a:rPr>
                <a:t> (células δ)</a:t>
              </a:r>
              <a:endParaRPr lang="es-AR" sz="1700" dirty="0">
                <a:latin typeface="Bahnschrift"/>
              </a:endParaRPr>
            </a:p>
          </p:txBody>
        </p:sp>
        <p:sp>
          <p:nvSpPr>
            <p:cNvPr id="39" name="Forma 38"/>
            <p:cNvSpPr/>
            <p:nvPr/>
          </p:nvSpPr>
          <p:spPr>
            <a:xfrm>
              <a:off x="4956048" y="3566160"/>
              <a:ext cx="940222"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FRENAN</a:t>
              </a:r>
              <a:endParaRPr lang="es-AR" sz="1550" dirty="0">
                <a:latin typeface="Bahnschrift SemiBold Condensed"/>
              </a:endParaRPr>
            </a:p>
          </p:txBody>
        </p:sp>
      </p:grpSp>
      <p:grpSp>
        <p:nvGrpSpPr>
          <p:cNvPr id="40" name="Recuadro Precisión"/>
          <p:cNvGrpSpPr/>
          <p:nvPr/>
        </p:nvGrpSpPr>
        <p:grpSpPr>
          <a:xfrm>
            <a:off x="8412480" y="1051560"/>
            <a:ext cx="3383280" cy="2468880"/>
            <a:chOff x="8412480" y="1051560"/>
            <a:chExt cx="3383280" cy="2468880"/>
          </a:xfrm>
        </p:grpSpPr>
        <p:sp>
          <p:nvSpPr>
            <p:cNvPr id="41" name="Forma 40"/>
            <p:cNvSpPr/>
            <p:nvPr/>
          </p:nvSpPr>
          <p:spPr>
            <a:xfrm>
              <a:off x="8412480" y="1234440"/>
              <a:ext cx="3383280" cy="2286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mecanismo electrofisiológico es </a:t>
              </a:r>
              <a:r>
                <a:rPr lang="es-AR" sz="1650" b="1" dirty="0">
                  <a:solidFill>
                    <a:srgbClr val="1E1E1E"/>
                  </a:solidFill>
                  <a:latin typeface="Bahnschrift"/>
                  <a:ea typeface="Bahnschrift"/>
                  <a:cs typeface="Bahnschrift"/>
                  <a:sym typeface="Bahnschrift"/>
                </a:rPr>
                <a:t>más complejo</a:t>
              </a:r>
              <a:r>
                <a:rPr lang="es-AR" sz="1650" dirty="0">
                  <a:solidFill>
                    <a:srgbClr val="1E1E1E"/>
                  </a:solidFill>
                  <a:latin typeface="Bahnschrift"/>
                  <a:ea typeface="Bahnschrift"/>
                  <a:cs typeface="Bahnschrift"/>
                  <a:sym typeface="Bahnschrift"/>
                </a:rPr>
                <a:t> que «ATP bajo abre K</a:t>
              </a:r>
              <a:r>
                <a:rPr lang="es-AR" sz="1650" baseline="-25000" dirty="0">
                  <a:solidFill>
                    <a:srgbClr val="1E1E1E"/>
                  </a:solidFill>
                  <a:latin typeface="Bahnschrift"/>
                  <a:ea typeface="Bahnschrift"/>
                  <a:cs typeface="Bahnschrift"/>
                  <a:sym typeface="Bahnschrift"/>
                </a:rPr>
                <a:t>ATP</a:t>
              </a:r>
              <a:r>
                <a:rPr lang="es-AR" sz="1650" dirty="0">
                  <a:solidFill>
                    <a:srgbClr val="1E1E1E"/>
                  </a:solidFill>
                  <a:latin typeface="Bahnschrift"/>
                  <a:ea typeface="Bahnschrift"/>
                  <a:cs typeface="Bahnschrift"/>
                  <a:sym typeface="Bahnschrift"/>
                </a:rPr>
                <a:t>»: intervienen distintas conductancias iónicas, excitabilidad y regulación </a:t>
              </a:r>
              <a:r>
                <a:rPr lang="es-AR" sz="1650" b="1" dirty="0">
                  <a:solidFill>
                    <a:srgbClr val="1E1E1E"/>
                  </a:solidFill>
                  <a:latin typeface="Bahnschrift"/>
                  <a:ea typeface="Bahnschrift"/>
                  <a:cs typeface="Bahnschrift"/>
                  <a:sym typeface="Bahnschrift"/>
                </a:rPr>
                <a:t>paracrina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2" name="Forma 41"/>
            <p:cNvSpPr/>
            <p:nvPr/>
          </p:nvSpPr>
          <p:spPr>
            <a:xfrm>
              <a:off x="8522208" y="1051560"/>
              <a:ext cx="110191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PRECISIÓN</a:t>
              </a:r>
              <a:endParaRPr lang="es-AR" sz="1500" dirty="0">
                <a:latin typeface="Bahnschrift SemiBold Condensed"/>
              </a:endParaRPr>
            </a:p>
          </p:txBody>
        </p:sp>
      </p:grpSp>
      <p:grpSp>
        <p:nvGrpSpPr>
          <p:cNvPr id="43" name="Recuadro Comida proteica"/>
          <p:cNvGrpSpPr/>
          <p:nvPr/>
        </p:nvGrpSpPr>
        <p:grpSpPr>
          <a:xfrm>
            <a:off x="8412480" y="3703320"/>
            <a:ext cx="3383280" cy="2743200"/>
            <a:chOff x="8412480" y="3703320"/>
            <a:chExt cx="3383280" cy="2743200"/>
          </a:xfrm>
        </p:grpSpPr>
        <p:sp>
          <p:nvSpPr>
            <p:cNvPr id="44" name="Forma 43"/>
            <p:cNvSpPr/>
            <p:nvPr/>
          </p:nvSpPr>
          <p:spPr>
            <a:xfrm>
              <a:off x="8412480" y="3886200"/>
              <a:ext cx="3383280" cy="25603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Una </a:t>
              </a:r>
              <a:r>
                <a:rPr lang="es-AR" sz="1650" b="1" dirty="0">
                  <a:solidFill>
                    <a:srgbClr val="1E1E1E"/>
                  </a:solidFill>
                  <a:latin typeface="Bahnschrift"/>
                  <a:ea typeface="Bahnschrift"/>
                  <a:cs typeface="Bahnschrift"/>
                  <a:sym typeface="Bahnschrift"/>
                </a:rPr>
                <a:t>comida proteica</a:t>
              </a:r>
              <a:r>
                <a:rPr lang="es-AR" sz="1650" dirty="0">
                  <a:solidFill>
                    <a:srgbClr val="1E1E1E"/>
                  </a:solidFill>
                  <a:latin typeface="Bahnschrift"/>
                  <a:ea typeface="Bahnschrift"/>
                  <a:cs typeface="Bahnschrift"/>
                  <a:sym typeface="Bahnschrift"/>
                </a:rPr>
                <a:t> puede elevar </a:t>
              </a:r>
              <a:r>
                <a:rPr lang="es-AR" sz="1650" b="1" dirty="0">
                  <a:solidFill>
                    <a:srgbClr val="1E1E1E"/>
                  </a:solidFill>
                  <a:latin typeface="Bahnschrift"/>
                  <a:ea typeface="Bahnschrift"/>
                  <a:cs typeface="Bahnschrift"/>
                  <a:sym typeface="Bahnschrift"/>
                </a:rPr>
                <a:t>insulina y glucagón a la vez</a:t>
              </a:r>
              <a:r>
                <a:rPr lang="es-AR" sz="1650" dirty="0">
                  <a:solidFill>
                    <a:srgbClr val="1E1E1E"/>
                  </a:solidFill>
                  <a:latin typeface="Bahnschrift"/>
                  <a:ea typeface="Bahnschrift"/>
                  <a:cs typeface="Bahnschrift"/>
                  <a:sym typeface="Bahnschrift"/>
                </a:rPr>
                <a:t>: se favorece el destino de los aminoácidos </a:t>
              </a:r>
              <a:r>
                <a:rPr lang="es-AR" sz="1650" b="1" dirty="0">
                  <a:solidFill>
                    <a:srgbClr val="1E1E1E"/>
                  </a:solidFill>
                  <a:latin typeface="Bahnschrift"/>
                  <a:ea typeface="Bahnschrift"/>
                  <a:cs typeface="Bahnschrift"/>
                  <a:sym typeface="Bahnschrift"/>
                </a:rPr>
                <a:t>sin hipoglucemia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5" name="Forma 44"/>
            <p:cNvSpPr/>
            <p:nvPr/>
          </p:nvSpPr>
          <p:spPr>
            <a:xfrm>
              <a:off x="8522208" y="3703320"/>
              <a:ext cx="164842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COMIDA PROTEICA</a:t>
              </a:r>
              <a:endParaRPr lang="es-AR" sz="1500" dirty="0">
                <a:latin typeface="Bahnschrift SemiBold Condensed"/>
              </a:endParaRPr>
            </a:p>
          </p:txBody>
        </p:sp>
      </p:grpSp>
      <p:sp>
        <p:nvSpPr>
          <p:cNvPr id="46" name="Forma 45"/>
          <p:cNvSpPr/>
          <p:nvPr/>
        </p:nvSpPr>
        <p:spPr>
          <a:xfrm>
            <a:off x="411480" y="5669280"/>
            <a:ext cx="7818120" cy="8229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GLP-1</a:t>
            </a:r>
            <a:r>
              <a:rPr lang="es-AR" sz="1650" dirty="0">
                <a:solidFill>
                  <a:srgbClr val="1E1E1E"/>
                </a:solidFill>
                <a:latin typeface="Bahnschrift"/>
                <a:ea typeface="Bahnschrift"/>
                <a:cs typeface="Bahnschrift"/>
                <a:sym typeface="Bahnschrift"/>
              </a:rPr>
              <a:t> tiende a </a:t>
            </a:r>
            <a:r>
              <a:rPr lang="es-AR" sz="1650" b="1" dirty="0">
                <a:solidFill>
                  <a:srgbClr val="1E1E1E"/>
                </a:solidFill>
                <a:latin typeface="Bahnschrift"/>
                <a:ea typeface="Bahnschrift"/>
                <a:cs typeface="Bahnschrift"/>
                <a:sym typeface="Bahnschrift"/>
              </a:rPr>
              <a:t>suprimir</a:t>
            </a:r>
            <a:r>
              <a:rPr lang="es-AR" sz="1650" dirty="0">
                <a:solidFill>
                  <a:srgbClr val="1E1E1E"/>
                </a:solidFill>
                <a:latin typeface="Bahnschrift"/>
                <a:ea typeface="Bahnschrift"/>
                <a:cs typeface="Bahnschrift"/>
                <a:sym typeface="Bahnschrift"/>
              </a:rPr>
              <a:t> el glucagón cuando la glucosa no está baja; </a:t>
            </a:r>
            <a:r>
              <a:rPr lang="es-AR" sz="1650" b="1" dirty="0">
                <a:solidFill>
                  <a:srgbClr val="1E1E1E"/>
                </a:solidFill>
                <a:latin typeface="Bahnschrift"/>
                <a:ea typeface="Bahnschrift"/>
                <a:cs typeface="Bahnschrift"/>
                <a:sym typeface="Bahnschrift"/>
              </a:rPr>
              <a:t>GIP</a:t>
            </a:r>
            <a:r>
              <a:rPr lang="es-AR" sz="1650" dirty="0">
                <a:solidFill>
                  <a:srgbClr val="1E1E1E"/>
                </a:solidFill>
                <a:latin typeface="Bahnschrift"/>
                <a:ea typeface="Bahnschrift"/>
                <a:cs typeface="Bahnschrift"/>
                <a:sym typeface="Bahnschrift"/>
              </a:rPr>
              <a:t> puede favorecerlo en determinadas glucemias.</a:t>
            </a:r>
            <a:endParaRPr lang="es-AR" sz="16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541724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CÉLULA α: SECRECIÓN DE GLUCAGÓN</a:t>
            </a:r>
            <a:endParaRPr lang="es-AR" sz="2600" dirty="0">
              <a:latin typeface="Bahnschrift SemiBold Condensed"/>
            </a:endParaRPr>
          </a:p>
        </p:txBody>
      </p:sp>
      <p:sp>
        <p:nvSpPr>
          <p:cNvPr id="4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4"/>
                                        </p:tgtEl>
                                        <p:attrNameLst>
                                          <p:attrName>style.visibility</p:attrName>
                                        </p:attrNameLst>
                                      </p:cBhvr>
                                      <p:to>
                                        <p:strVal val="visible"/>
                                      </p:to>
                                    </p:set>
                                    <p:animEffect transition="in" filter="fade">
                                      <p:cBhvr>
                                        <p:cTn id="5" dur="500"/>
                                        <p:tgtEl>
                                          <p:spTgt spid="34"/>
                                        </p:tgtEl>
                                      </p:cBhvr>
                                    </p:animEffect>
                                  </p:childTnLst>
                                </p:cTn>
                              </p:par>
                            </p:childTnLst>
                          </p:cTn>
                        </p:par>
                      </p:childTnLst>
                    </p:cTn>
                  </p:par>
                  <p:par>
                    <p:cTn id="26" fill="hold">
                      <p:stCondLst>
                        <p:cond delay="indefinite"/>
                      </p:stCondLst>
                      <p:childTnLst>
                        <p:par>
                          <p:cTn id="13" fill="hold">
                            <p:stCondLst>
                              <p:cond delay="0"/>
                            </p:stCondLst>
                            <p:childTnLst>
                              <p:par>
                                <p:cTn id="8" presetID="53" presetClass="entr" presetSubtype="16" fill="hold" grpId="0" nodeType="clickEffect">
                                  <p:stCondLst>
                                    <p:cond delay="0"/>
                                  </p:stCondLst>
                                  <p:childTnLst>
                                    <p:set>
                                      <p:cBhvr>
                                        <p:cTn id="9" dur="1" fill="hold">
                                          <p:stCondLst>
                                            <p:cond delay="0"/>
                                          </p:stCondLst>
                                        </p:cTn>
                                        <p:tgtEl>
                                          <p:spTgt spid="31"/>
                                        </p:tgtEl>
                                        <p:attrNameLst>
                                          <p:attrName>style.visibility</p:attrName>
                                        </p:attrNameLst>
                                      </p:cBhvr>
                                      <p:to>
                                        <p:strVal val="visible"/>
                                      </p:to>
                                    </p:set>
                                    <p:anim calcmode="lin" valueType="num">
                                      <p:cBhvr>
                                        <p:cTn id="10" dur="500" fill="hold"/>
                                        <p:tgtEl>
                                          <p:spTgt spid="31"/>
                                        </p:tgtEl>
                                        <p:attrNameLst>
                                          <p:attrName>ppt_w</p:attrName>
                                        </p:attrNameLst>
                                      </p:cBhvr>
                                      <p:tavLst>
                                        <p:tav tm="0">
                                          <p:val>
                                            <p:fltVal val="0"/>
                                          </p:val>
                                        </p:tav>
                                        <p:tav tm="100000">
                                          <p:val>
                                            <p:strVal val="#ppt_w"/>
                                          </p:val>
                                        </p:tav>
                                      </p:tavLst>
                                    </p:anim>
                                    <p:anim calcmode="lin" valueType="num">
                                      <p:cBhvr>
                                        <p:cTn id="11" dur="500" fill="hold"/>
                                        <p:tgtEl>
                                          <p:spTgt spid="31"/>
                                        </p:tgtEl>
                                        <p:attrNameLst>
                                          <p:attrName>ppt_h</p:attrName>
                                        </p:attrNameLst>
                                      </p:cBhvr>
                                      <p:tavLst>
                                        <p:tav tm="0">
                                          <p:val>
                                            <p:fltVal val="0"/>
                                          </p:val>
                                        </p:tav>
                                        <p:tav tm="100000">
                                          <p:val>
                                            <p:strVal val="#ppt_h"/>
                                          </p:val>
                                        </p:tav>
                                      </p:tavLst>
                                    </p:anim>
                                    <p:animEffect transition="in" filter="fade">
                                      <p:cBhvr>
                                        <p:cTn id="12" dur="500"/>
                                        <p:tgtEl>
                                          <p:spTgt spid="31"/>
                                        </p:tgtEl>
                                      </p:cBhvr>
                                    </p:animEffect>
                                  </p:childTnLst>
                                </p:cTn>
                              </p:par>
                            </p:childTnLst>
                          </p:cTn>
                        </p:par>
                        <p:par>
                          <p:cTn id="19"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32"/>
                                        </p:tgtEl>
                                        <p:attrNameLst>
                                          <p:attrName>style.visibility</p:attrName>
                                        </p:attrNameLst>
                                      </p:cBhvr>
                                      <p:to>
                                        <p:strVal val="visible"/>
                                      </p:to>
                                    </p:set>
                                    <p:anim calcmode="lin" valueType="num">
                                      <p:cBhvr>
                                        <p:cTn id="16" dur="500" fill="hold"/>
                                        <p:tgtEl>
                                          <p:spTgt spid="32"/>
                                        </p:tgtEl>
                                        <p:attrNameLst>
                                          <p:attrName>ppt_w</p:attrName>
                                        </p:attrNameLst>
                                      </p:cBhvr>
                                      <p:tavLst>
                                        <p:tav tm="0">
                                          <p:val>
                                            <p:fltVal val="0"/>
                                          </p:val>
                                        </p:tav>
                                        <p:tav tm="100000">
                                          <p:val>
                                            <p:strVal val="#ppt_w"/>
                                          </p:val>
                                        </p:tav>
                                      </p:tavLst>
                                    </p:anim>
                                    <p:anim calcmode="lin" valueType="num">
                                      <p:cBhvr>
                                        <p:cTn id="17" dur="500" fill="hold"/>
                                        <p:tgtEl>
                                          <p:spTgt spid="32"/>
                                        </p:tgtEl>
                                        <p:attrNameLst>
                                          <p:attrName>ppt_h</p:attrName>
                                        </p:attrNameLst>
                                      </p:cBhvr>
                                      <p:tavLst>
                                        <p:tav tm="0">
                                          <p:val>
                                            <p:fltVal val="0"/>
                                          </p:val>
                                        </p:tav>
                                        <p:tav tm="100000">
                                          <p:val>
                                            <p:strVal val="#ppt_h"/>
                                          </p:val>
                                        </p:tav>
                                      </p:tavLst>
                                    </p:anim>
                                    <p:animEffect transition="in" filter="fade">
                                      <p:cBhvr>
                                        <p:cTn id="18" dur="500"/>
                                        <p:tgtEl>
                                          <p:spTgt spid="32"/>
                                        </p:tgtEl>
                                      </p:cBhvr>
                                    </p:animEffect>
                                  </p:childTnLst>
                                </p:cTn>
                              </p:par>
                            </p:childTnLst>
                          </p:cTn>
                        </p:par>
                        <p:par>
                          <p:cTn id="25" fill="hold">
                            <p:stCondLst>
                              <p:cond delay="1000"/>
                            </p:stCondLst>
                            <p:childTnLst>
                              <p:par>
                                <p:cTn id="20" presetID="53" presetClass="entr" presetSubtype="16" fill="hold" grpId="0" nodeType="after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p:cTn id="22" dur="500" fill="hold"/>
                                        <p:tgtEl>
                                          <p:spTgt spid="33"/>
                                        </p:tgtEl>
                                        <p:attrNameLst>
                                          <p:attrName>ppt_w</p:attrName>
                                        </p:attrNameLst>
                                      </p:cBhvr>
                                      <p:tavLst>
                                        <p:tav tm="0">
                                          <p:val>
                                            <p:fltVal val="0"/>
                                          </p:val>
                                        </p:tav>
                                        <p:tav tm="100000">
                                          <p:val>
                                            <p:strVal val="#ppt_w"/>
                                          </p:val>
                                        </p:tav>
                                      </p:tavLst>
                                    </p:anim>
                                    <p:anim calcmode="lin" valueType="num">
                                      <p:cBhvr>
                                        <p:cTn id="23" dur="500" fill="hold"/>
                                        <p:tgtEl>
                                          <p:spTgt spid="33"/>
                                        </p:tgtEl>
                                        <p:attrNameLst>
                                          <p:attrName>ppt_h</p:attrName>
                                        </p:attrNameLst>
                                      </p:cBhvr>
                                      <p:tavLst>
                                        <p:tav tm="0">
                                          <p:val>
                                            <p:fltVal val="0"/>
                                          </p:val>
                                        </p:tav>
                                        <p:tav tm="100000">
                                          <p:val>
                                            <p:strVal val="#ppt_h"/>
                                          </p:val>
                                        </p:tav>
                                      </p:tavLst>
                                    </p:anim>
                                    <p:animEffect transition="in" filter="fade">
                                      <p:cBhvr>
                                        <p:cTn id="24" dur="500"/>
                                        <p:tgtEl>
                                          <p:spTgt spid="33"/>
                                        </p:tgtEl>
                                      </p:cBhvr>
                                    </p:animEffect>
                                  </p:childTnLst>
                                </p:cTn>
                              </p:par>
                            </p:childTnLst>
                          </p:cTn>
                        </p:par>
                      </p:childTnLst>
                    </p:cTn>
                  </p:par>
                  <p:par>
                    <p:cTn id="31"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37"/>
                                        </p:tgtEl>
                                        <p:attrNameLst>
                                          <p:attrName>style.visibility</p:attrName>
                                        </p:attrNameLst>
                                      </p:cBhvr>
                                      <p:to>
                                        <p:strVal val="visible"/>
                                      </p:to>
                                    </p:set>
                                    <p:animEffect transition="in" filter="fade">
                                      <p:cBhvr>
                                        <p:cTn id="29" dur="500"/>
                                        <p:tgtEl>
                                          <p:spTgt spid="37"/>
                                        </p:tgtEl>
                                      </p:cBhvr>
                                    </p:animEffect>
                                  </p:childTnLst>
                                </p:cTn>
                              </p:par>
                            </p:childTnLst>
                          </p:cTn>
                        </p:par>
                      </p:childTnLst>
                    </p:cTn>
                  </p:par>
                  <p:par>
                    <p:cTn id="36"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childTnLst>
                          </p:cTn>
                        </p:par>
                      </p:childTnLst>
                    </p:cTn>
                  </p:par>
                  <p:par>
                    <p:cTn id="41" fill="hold">
                      <p:stCondLst>
                        <p:cond delay="indefinite"/>
                      </p:stCondLst>
                      <p:childTnLst>
                        <p:par>
                          <p:cTn id="40"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childTnLst>
                                </p:cTn>
                              </p:par>
                            </p:childTnLst>
                          </p:cTn>
                        </p:par>
                      </p:childTnLst>
                    </p:cTn>
                  </p:par>
                  <p:par>
                    <p:cTn id="46" fill="hold">
                      <p:stCondLst>
                        <p:cond delay="indefinite"/>
                      </p:stCondLst>
                      <p:childTnLst>
                        <p:par>
                          <p:cTn id="45"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fade">
                                      <p:cBhvr>
                                        <p:cTn id="4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46" grpId="0" animBg="1"/>
    </p:bldLst>
  </p:timing>
</p:sld>
</file>

<file path=ppt/slides/slide3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embrana hepatocito"/>
          <p:cNvGrpSpPr/>
          <p:nvPr/>
        </p:nvGrpSpPr>
        <p:grpSpPr>
          <a:xfrm>
            <a:off x="365760" y="2057400"/>
            <a:ext cx="7315200" cy="365760"/>
            <a:chOff x="365760" y="2057400"/>
            <a:chExt cx="7315200" cy="365760"/>
          </a:xfrm>
        </p:grpSpPr>
        <p:sp>
          <p:nvSpPr>
            <p:cNvPr id="5" name="Forma 4"/>
            <p:cNvSpPr/>
            <p:nvPr/>
          </p:nvSpPr>
          <p:spPr>
            <a:xfrm>
              <a:off x="365760" y="2123237"/>
              <a:ext cx="7315200" cy="234086"/>
            </a:xfrm>
            <a:prstGeom prst="rect">
              <a:avLst/>
            </a:prstGeom>
            <a:solidFill>
              <a:srgbClr val="FDEBD0"/>
            </a:solidFill>
            <a:ln>
              <a:noFill/>
            </a:ln>
          </p:spPr>
        </p:sp>
        <p:sp>
          <p:nvSpPr>
            <p:cNvPr id="6" name="Forma 5"/>
            <p:cNvSpPr/>
            <p:nvPr/>
          </p:nvSpPr>
          <p:spPr>
            <a:xfrm>
              <a:off x="365760" y="2057400"/>
              <a:ext cx="7315200" cy="365760"/>
            </a:xfrm>
            <a:custGeom>
              <a:avLst/>
              <a:gdLst/>
              <a:ahLst/>
              <a:cxnLst/>
              <a:rect l="0" t="0" r="r" b="b"/>
              <a:pathLst>
                <a:path w="8000" h="40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7" y="47"/>
                  </a:moveTo>
                  <a:cubicBezTo>
                    <a:pt x="197" y="72"/>
                    <a:pt x="175" y="94"/>
                    <a:pt x="150" y="94"/>
                  </a:cubicBezTo>
                  <a:cubicBezTo>
                    <a:pt x="124" y="94"/>
                    <a:pt x="103" y="72"/>
                    <a:pt x="103" y="47"/>
                  </a:cubicBezTo>
                  <a:cubicBezTo>
                    <a:pt x="103" y="21"/>
                    <a:pt x="124" y="0"/>
                    <a:pt x="150" y="0"/>
                  </a:cubicBezTo>
                  <a:cubicBezTo>
                    <a:pt x="175" y="0"/>
                    <a:pt x="197" y="21"/>
                    <a:pt x="197" y="47"/>
                  </a:cubicBezTo>
                  <a:close/>
                  <a:moveTo>
                    <a:pt x="297" y="47"/>
                  </a:moveTo>
                  <a:cubicBezTo>
                    <a:pt x="297" y="72"/>
                    <a:pt x="275" y="94"/>
                    <a:pt x="250" y="94"/>
                  </a:cubicBezTo>
                  <a:cubicBezTo>
                    <a:pt x="224" y="94"/>
                    <a:pt x="203" y="72"/>
                    <a:pt x="203" y="47"/>
                  </a:cubicBezTo>
                  <a:cubicBezTo>
                    <a:pt x="203" y="21"/>
                    <a:pt x="224" y="0"/>
                    <a:pt x="250" y="0"/>
                  </a:cubicBezTo>
                  <a:cubicBezTo>
                    <a:pt x="275" y="0"/>
                    <a:pt x="297" y="21"/>
                    <a:pt x="297" y="47"/>
                  </a:cubicBezTo>
                  <a:close/>
                  <a:moveTo>
                    <a:pt x="397" y="47"/>
                  </a:moveTo>
                  <a:cubicBezTo>
                    <a:pt x="397" y="72"/>
                    <a:pt x="375" y="94"/>
                    <a:pt x="350" y="94"/>
                  </a:cubicBezTo>
                  <a:cubicBezTo>
                    <a:pt x="324" y="94"/>
                    <a:pt x="303" y="72"/>
                    <a:pt x="303" y="47"/>
                  </a:cubicBezTo>
                  <a:cubicBezTo>
                    <a:pt x="303" y="21"/>
                    <a:pt x="324" y="0"/>
                    <a:pt x="350" y="0"/>
                  </a:cubicBezTo>
                  <a:cubicBezTo>
                    <a:pt x="375" y="0"/>
                    <a:pt x="397" y="21"/>
                    <a:pt x="397" y="47"/>
                  </a:cubicBezTo>
                  <a:close/>
                  <a:moveTo>
                    <a:pt x="497" y="47"/>
                  </a:moveTo>
                  <a:cubicBezTo>
                    <a:pt x="497" y="72"/>
                    <a:pt x="475" y="94"/>
                    <a:pt x="450" y="94"/>
                  </a:cubicBezTo>
                  <a:cubicBezTo>
                    <a:pt x="424" y="94"/>
                    <a:pt x="403" y="72"/>
                    <a:pt x="403" y="47"/>
                  </a:cubicBezTo>
                  <a:cubicBezTo>
                    <a:pt x="403" y="21"/>
                    <a:pt x="424" y="0"/>
                    <a:pt x="450" y="0"/>
                  </a:cubicBezTo>
                  <a:cubicBezTo>
                    <a:pt x="475" y="0"/>
                    <a:pt x="497" y="21"/>
                    <a:pt x="497" y="47"/>
                  </a:cubicBezTo>
                  <a:close/>
                  <a:moveTo>
                    <a:pt x="597" y="47"/>
                  </a:moveTo>
                  <a:cubicBezTo>
                    <a:pt x="597" y="72"/>
                    <a:pt x="575" y="94"/>
                    <a:pt x="550" y="94"/>
                  </a:cubicBezTo>
                  <a:cubicBezTo>
                    <a:pt x="524" y="94"/>
                    <a:pt x="503" y="72"/>
                    <a:pt x="503" y="47"/>
                  </a:cubicBezTo>
                  <a:cubicBezTo>
                    <a:pt x="503" y="21"/>
                    <a:pt x="524" y="0"/>
                    <a:pt x="550" y="0"/>
                  </a:cubicBezTo>
                  <a:cubicBezTo>
                    <a:pt x="575" y="0"/>
                    <a:pt x="597" y="21"/>
                    <a:pt x="597" y="47"/>
                  </a:cubicBezTo>
                  <a:close/>
                  <a:moveTo>
                    <a:pt x="697" y="47"/>
                  </a:moveTo>
                  <a:cubicBezTo>
                    <a:pt x="697" y="72"/>
                    <a:pt x="675" y="94"/>
                    <a:pt x="650" y="94"/>
                  </a:cubicBezTo>
                  <a:cubicBezTo>
                    <a:pt x="624" y="94"/>
                    <a:pt x="603" y="72"/>
                    <a:pt x="603" y="47"/>
                  </a:cubicBezTo>
                  <a:cubicBezTo>
                    <a:pt x="603" y="21"/>
                    <a:pt x="624" y="0"/>
                    <a:pt x="650" y="0"/>
                  </a:cubicBezTo>
                  <a:cubicBezTo>
                    <a:pt x="675" y="0"/>
                    <a:pt x="697" y="21"/>
                    <a:pt x="697" y="47"/>
                  </a:cubicBezTo>
                  <a:close/>
                  <a:moveTo>
                    <a:pt x="797" y="47"/>
                  </a:moveTo>
                  <a:cubicBezTo>
                    <a:pt x="797" y="72"/>
                    <a:pt x="775" y="94"/>
                    <a:pt x="750" y="94"/>
                  </a:cubicBezTo>
                  <a:cubicBezTo>
                    <a:pt x="724" y="94"/>
                    <a:pt x="703" y="72"/>
                    <a:pt x="703" y="47"/>
                  </a:cubicBezTo>
                  <a:cubicBezTo>
                    <a:pt x="703" y="21"/>
                    <a:pt x="724" y="0"/>
                    <a:pt x="750" y="0"/>
                  </a:cubicBezTo>
                  <a:cubicBezTo>
                    <a:pt x="775" y="0"/>
                    <a:pt x="797" y="21"/>
                    <a:pt x="797" y="47"/>
                  </a:cubicBezTo>
                  <a:close/>
                  <a:moveTo>
                    <a:pt x="897" y="47"/>
                  </a:moveTo>
                  <a:cubicBezTo>
                    <a:pt x="897" y="72"/>
                    <a:pt x="875" y="94"/>
                    <a:pt x="850" y="94"/>
                  </a:cubicBezTo>
                  <a:cubicBezTo>
                    <a:pt x="824" y="94"/>
                    <a:pt x="803" y="72"/>
                    <a:pt x="803" y="47"/>
                  </a:cubicBezTo>
                  <a:cubicBezTo>
                    <a:pt x="803" y="21"/>
                    <a:pt x="824" y="0"/>
                    <a:pt x="850" y="0"/>
                  </a:cubicBezTo>
                  <a:cubicBezTo>
                    <a:pt x="875" y="0"/>
                    <a:pt x="897" y="21"/>
                    <a:pt x="897" y="47"/>
                  </a:cubicBezTo>
                  <a:close/>
                  <a:moveTo>
                    <a:pt x="997" y="47"/>
                  </a:moveTo>
                  <a:cubicBezTo>
                    <a:pt x="997" y="72"/>
                    <a:pt x="975" y="94"/>
                    <a:pt x="950" y="94"/>
                  </a:cubicBezTo>
                  <a:cubicBezTo>
                    <a:pt x="924" y="94"/>
                    <a:pt x="903" y="72"/>
                    <a:pt x="903" y="47"/>
                  </a:cubicBezTo>
                  <a:cubicBezTo>
                    <a:pt x="903" y="21"/>
                    <a:pt x="924" y="0"/>
                    <a:pt x="950" y="0"/>
                  </a:cubicBezTo>
                  <a:cubicBezTo>
                    <a:pt x="975" y="0"/>
                    <a:pt x="997" y="21"/>
                    <a:pt x="997" y="47"/>
                  </a:cubicBezTo>
                  <a:close/>
                  <a:moveTo>
                    <a:pt x="1097" y="47"/>
                  </a:moveTo>
                  <a:cubicBezTo>
                    <a:pt x="1097" y="72"/>
                    <a:pt x="1075" y="94"/>
                    <a:pt x="1050" y="94"/>
                  </a:cubicBezTo>
                  <a:cubicBezTo>
                    <a:pt x="1024" y="94"/>
                    <a:pt x="1003" y="72"/>
                    <a:pt x="1003" y="47"/>
                  </a:cubicBezTo>
                  <a:cubicBezTo>
                    <a:pt x="1003" y="21"/>
                    <a:pt x="1024" y="0"/>
                    <a:pt x="1050" y="0"/>
                  </a:cubicBezTo>
                  <a:cubicBezTo>
                    <a:pt x="1075" y="0"/>
                    <a:pt x="1097" y="21"/>
                    <a:pt x="1097" y="47"/>
                  </a:cubicBezTo>
                  <a:close/>
                  <a:moveTo>
                    <a:pt x="1197" y="47"/>
                  </a:moveTo>
                  <a:cubicBezTo>
                    <a:pt x="1197" y="72"/>
                    <a:pt x="1175" y="94"/>
                    <a:pt x="1150" y="94"/>
                  </a:cubicBezTo>
                  <a:cubicBezTo>
                    <a:pt x="1124" y="94"/>
                    <a:pt x="1103" y="72"/>
                    <a:pt x="1103" y="47"/>
                  </a:cubicBezTo>
                  <a:cubicBezTo>
                    <a:pt x="1103" y="21"/>
                    <a:pt x="1124" y="0"/>
                    <a:pt x="1150" y="0"/>
                  </a:cubicBezTo>
                  <a:cubicBezTo>
                    <a:pt x="1175" y="0"/>
                    <a:pt x="1197" y="21"/>
                    <a:pt x="1197" y="47"/>
                  </a:cubicBezTo>
                  <a:close/>
                  <a:moveTo>
                    <a:pt x="1297" y="47"/>
                  </a:moveTo>
                  <a:cubicBezTo>
                    <a:pt x="1297" y="72"/>
                    <a:pt x="1275" y="94"/>
                    <a:pt x="1250" y="94"/>
                  </a:cubicBezTo>
                  <a:cubicBezTo>
                    <a:pt x="1224" y="94"/>
                    <a:pt x="1203" y="72"/>
                    <a:pt x="1203" y="47"/>
                  </a:cubicBezTo>
                  <a:cubicBezTo>
                    <a:pt x="1203" y="21"/>
                    <a:pt x="1224" y="0"/>
                    <a:pt x="1250" y="0"/>
                  </a:cubicBezTo>
                  <a:cubicBezTo>
                    <a:pt x="1275" y="0"/>
                    <a:pt x="1297" y="21"/>
                    <a:pt x="1297" y="47"/>
                  </a:cubicBezTo>
                  <a:close/>
                  <a:moveTo>
                    <a:pt x="1397" y="47"/>
                  </a:moveTo>
                  <a:cubicBezTo>
                    <a:pt x="1397" y="72"/>
                    <a:pt x="1375" y="94"/>
                    <a:pt x="1350" y="94"/>
                  </a:cubicBezTo>
                  <a:cubicBezTo>
                    <a:pt x="1324" y="94"/>
                    <a:pt x="1303" y="72"/>
                    <a:pt x="1303" y="47"/>
                  </a:cubicBezTo>
                  <a:cubicBezTo>
                    <a:pt x="1303" y="21"/>
                    <a:pt x="1324" y="0"/>
                    <a:pt x="1350" y="0"/>
                  </a:cubicBezTo>
                  <a:cubicBezTo>
                    <a:pt x="1375" y="0"/>
                    <a:pt x="1397" y="21"/>
                    <a:pt x="1397" y="47"/>
                  </a:cubicBezTo>
                  <a:close/>
                  <a:moveTo>
                    <a:pt x="1497" y="47"/>
                  </a:moveTo>
                  <a:cubicBezTo>
                    <a:pt x="1497" y="72"/>
                    <a:pt x="1475" y="94"/>
                    <a:pt x="1450" y="94"/>
                  </a:cubicBezTo>
                  <a:cubicBezTo>
                    <a:pt x="1424" y="94"/>
                    <a:pt x="1403" y="72"/>
                    <a:pt x="1403" y="47"/>
                  </a:cubicBezTo>
                  <a:cubicBezTo>
                    <a:pt x="1403" y="21"/>
                    <a:pt x="1424" y="0"/>
                    <a:pt x="1450" y="0"/>
                  </a:cubicBezTo>
                  <a:cubicBezTo>
                    <a:pt x="1475" y="0"/>
                    <a:pt x="1497" y="21"/>
                    <a:pt x="1497" y="47"/>
                  </a:cubicBezTo>
                  <a:close/>
                  <a:moveTo>
                    <a:pt x="1597" y="47"/>
                  </a:moveTo>
                  <a:cubicBezTo>
                    <a:pt x="1597" y="72"/>
                    <a:pt x="1575" y="94"/>
                    <a:pt x="1550" y="94"/>
                  </a:cubicBezTo>
                  <a:cubicBezTo>
                    <a:pt x="1524" y="94"/>
                    <a:pt x="1503" y="72"/>
                    <a:pt x="1503" y="47"/>
                  </a:cubicBezTo>
                  <a:cubicBezTo>
                    <a:pt x="1503" y="21"/>
                    <a:pt x="1524" y="0"/>
                    <a:pt x="1550" y="0"/>
                  </a:cubicBezTo>
                  <a:cubicBezTo>
                    <a:pt x="1575" y="0"/>
                    <a:pt x="1597" y="21"/>
                    <a:pt x="1597" y="47"/>
                  </a:cubicBezTo>
                  <a:close/>
                  <a:moveTo>
                    <a:pt x="1697" y="47"/>
                  </a:moveTo>
                  <a:cubicBezTo>
                    <a:pt x="1697" y="72"/>
                    <a:pt x="1675" y="94"/>
                    <a:pt x="1650" y="94"/>
                  </a:cubicBezTo>
                  <a:cubicBezTo>
                    <a:pt x="1624" y="94"/>
                    <a:pt x="1603" y="72"/>
                    <a:pt x="1603" y="47"/>
                  </a:cubicBezTo>
                  <a:cubicBezTo>
                    <a:pt x="1603" y="21"/>
                    <a:pt x="1624" y="0"/>
                    <a:pt x="1650" y="0"/>
                  </a:cubicBezTo>
                  <a:cubicBezTo>
                    <a:pt x="1675" y="0"/>
                    <a:pt x="1697" y="21"/>
                    <a:pt x="1697" y="47"/>
                  </a:cubicBezTo>
                  <a:close/>
                  <a:moveTo>
                    <a:pt x="1797" y="47"/>
                  </a:moveTo>
                  <a:cubicBezTo>
                    <a:pt x="1797" y="72"/>
                    <a:pt x="1775" y="94"/>
                    <a:pt x="1750" y="94"/>
                  </a:cubicBezTo>
                  <a:cubicBezTo>
                    <a:pt x="1724" y="94"/>
                    <a:pt x="1703" y="72"/>
                    <a:pt x="1703" y="47"/>
                  </a:cubicBezTo>
                  <a:cubicBezTo>
                    <a:pt x="1703" y="21"/>
                    <a:pt x="1724" y="0"/>
                    <a:pt x="1750" y="0"/>
                  </a:cubicBezTo>
                  <a:cubicBezTo>
                    <a:pt x="1775" y="0"/>
                    <a:pt x="1797" y="21"/>
                    <a:pt x="1797" y="47"/>
                  </a:cubicBezTo>
                  <a:close/>
                  <a:moveTo>
                    <a:pt x="1897" y="47"/>
                  </a:moveTo>
                  <a:cubicBezTo>
                    <a:pt x="1897" y="72"/>
                    <a:pt x="1875" y="94"/>
                    <a:pt x="1850" y="94"/>
                  </a:cubicBezTo>
                  <a:cubicBezTo>
                    <a:pt x="1824" y="94"/>
                    <a:pt x="1803" y="72"/>
                    <a:pt x="1803" y="47"/>
                  </a:cubicBezTo>
                  <a:cubicBezTo>
                    <a:pt x="1803" y="21"/>
                    <a:pt x="1824" y="0"/>
                    <a:pt x="1850" y="0"/>
                  </a:cubicBezTo>
                  <a:cubicBezTo>
                    <a:pt x="1875" y="0"/>
                    <a:pt x="1897" y="21"/>
                    <a:pt x="1897" y="47"/>
                  </a:cubicBezTo>
                  <a:close/>
                  <a:moveTo>
                    <a:pt x="1997" y="47"/>
                  </a:moveTo>
                  <a:cubicBezTo>
                    <a:pt x="1997" y="72"/>
                    <a:pt x="1975" y="94"/>
                    <a:pt x="1950" y="94"/>
                  </a:cubicBezTo>
                  <a:cubicBezTo>
                    <a:pt x="1924" y="94"/>
                    <a:pt x="1903" y="72"/>
                    <a:pt x="1903" y="47"/>
                  </a:cubicBezTo>
                  <a:cubicBezTo>
                    <a:pt x="1903" y="21"/>
                    <a:pt x="1924" y="0"/>
                    <a:pt x="1950" y="0"/>
                  </a:cubicBezTo>
                  <a:cubicBezTo>
                    <a:pt x="1975" y="0"/>
                    <a:pt x="1997" y="21"/>
                    <a:pt x="1997" y="47"/>
                  </a:cubicBezTo>
                  <a:close/>
                  <a:moveTo>
                    <a:pt x="2097" y="47"/>
                  </a:moveTo>
                  <a:cubicBezTo>
                    <a:pt x="2097" y="72"/>
                    <a:pt x="2075" y="94"/>
                    <a:pt x="2050" y="94"/>
                  </a:cubicBezTo>
                  <a:cubicBezTo>
                    <a:pt x="2024" y="94"/>
                    <a:pt x="2003" y="72"/>
                    <a:pt x="2003" y="47"/>
                  </a:cubicBezTo>
                  <a:cubicBezTo>
                    <a:pt x="2003" y="21"/>
                    <a:pt x="2024" y="0"/>
                    <a:pt x="2050" y="0"/>
                  </a:cubicBezTo>
                  <a:cubicBezTo>
                    <a:pt x="2075" y="0"/>
                    <a:pt x="2097" y="21"/>
                    <a:pt x="2097" y="47"/>
                  </a:cubicBezTo>
                  <a:close/>
                  <a:moveTo>
                    <a:pt x="2197" y="47"/>
                  </a:moveTo>
                  <a:cubicBezTo>
                    <a:pt x="2197" y="72"/>
                    <a:pt x="2175" y="94"/>
                    <a:pt x="2150" y="94"/>
                  </a:cubicBezTo>
                  <a:cubicBezTo>
                    <a:pt x="2124" y="94"/>
                    <a:pt x="2103" y="72"/>
                    <a:pt x="2103" y="47"/>
                  </a:cubicBezTo>
                  <a:cubicBezTo>
                    <a:pt x="2103" y="21"/>
                    <a:pt x="2124" y="0"/>
                    <a:pt x="2150" y="0"/>
                  </a:cubicBezTo>
                  <a:cubicBezTo>
                    <a:pt x="2175" y="0"/>
                    <a:pt x="2197" y="21"/>
                    <a:pt x="2197" y="47"/>
                  </a:cubicBezTo>
                  <a:close/>
                  <a:moveTo>
                    <a:pt x="2297" y="47"/>
                  </a:moveTo>
                  <a:cubicBezTo>
                    <a:pt x="2297" y="72"/>
                    <a:pt x="2275" y="94"/>
                    <a:pt x="2250" y="94"/>
                  </a:cubicBezTo>
                  <a:cubicBezTo>
                    <a:pt x="2224" y="94"/>
                    <a:pt x="2203" y="72"/>
                    <a:pt x="2203" y="47"/>
                  </a:cubicBezTo>
                  <a:cubicBezTo>
                    <a:pt x="2203" y="21"/>
                    <a:pt x="2224" y="0"/>
                    <a:pt x="2250" y="0"/>
                  </a:cubicBezTo>
                  <a:cubicBezTo>
                    <a:pt x="2275" y="0"/>
                    <a:pt x="2297" y="21"/>
                    <a:pt x="2297" y="47"/>
                  </a:cubicBezTo>
                  <a:close/>
                  <a:moveTo>
                    <a:pt x="2397" y="47"/>
                  </a:moveTo>
                  <a:cubicBezTo>
                    <a:pt x="2397" y="72"/>
                    <a:pt x="2375" y="94"/>
                    <a:pt x="2350" y="94"/>
                  </a:cubicBezTo>
                  <a:cubicBezTo>
                    <a:pt x="2324" y="94"/>
                    <a:pt x="2303" y="72"/>
                    <a:pt x="2303" y="47"/>
                  </a:cubicBezTo>
                  <a:cubicBezTo>
                    <a:pt x="2303" y="21"/>
                    <a:pt x="2324" y="0"/>
                    <a:pt x="2350" y="0"/>
                  </a:cubicBezTo>
                  <a:cubicBezTo>
                    <a:pt x="2375" y="0"/>
                    <a:pt x="2397" y="21"/>
                    <a:pt x="2397" y="47"/>
                  </a:cubicBezTo>
                  <a:close/>
                  <a:moveTo>
                    <a:pt x="2497" y="47"/>
                  </a:moveTo>
                  <a:cubicBezTo>
                    <a:pt x="2497" y="72"/>
                    <a:pt x="2475" y="94"/>
                    <a:pt x="2450" y="94"/>
                  </a:cubicBezTo>
                  <a:cubicBezTo>
                    <a:pt x="2424" y="94"/>
                    <a:pt x="2403" y="72"/>
                    <a:pt x="2403" y="47"/>
                  </a:cubicBezTo>
                  <a:cubicBezTo>
                    <a:pt x="2403" y="21"/>
                    <a:pt x="2424" y="0"/>
                    <a:pt x="2450" y="0"/>
                  </a:cubicBezTo>
                  <a:cubicBezTo>
                    <a:pt x="2475" y="0"/>
                    <a:pt x="2497" y="21"/>
                    <a:pt x="2497" y="47"/>
                  </a:cubicBezTo>
                  <a:close/>
                  <a:moveTo>
                    <a:pt x="2597" y="47"/>
                  </a:moveTo>
                  <a:cubicBezTo>
                    <a:pt x="2597" y="72"/>
                    <a:pt x="2575" y="94"/>
                    <a:pt x="2550" y="94"/>
                  </a:cubicBezTo>
                  <a:cubicBezTo>
                    <a:pt x="2524" y="94"/>
                    <a:pt x="2503" y="72"/>
                    <a:pt x="2503" y="47"/>
                  </a:cubicBezTo>
                  <a:cubicBezTo>
                    <a:pt x="2503" y="21"/>
                    <a:pt x="2524" y="0"/>
                    <a:pt x="2550" y="0"/>
                  </a:cubicBezTo>
                  <a:cubicBezTo>
                    <a:pt x="2575" y="0"/>
                    <a:pt x="2597" y="21"/>
                    <a:pt x="2597" y="47"/>
                  </a:cubicBezTo>
                  <a:close/>
                  <a:moveTo>
                    <a:pt x="2697" y="47"/>
                  </a:moveTo>
                  <a:cubicBezTo>
                    <a:pt x="2697" y="72"/>
                    <a:pt x="2675" y="94"/>
                    <a:pt x="2650" y="94"/>
                  </a:cubicBezTo>
                  <a:cubicBezTo>
                    <a:pt x="2624" y="94"/>
                    <a:pt x="2603" y="72"/>
                    <a:pt x="2603" y="47"/>
                  </a:cubicBezTo>
                  <a:cubicBezTo>
                    <a:pt x="2603" y="21"/>
                    <a:pt x="2624" y="0"/>
                    <a:pt x="2650" y="0"/>
                  </a:cubicBezTo>
                  <a:cubicBezTo>
                    <a:pt x="2675" y="0"/>
                    <a:pt x="2697" y="21"/>
                    <a:pt x="2697" y="47"/>
                  </a:cubicBezTo>
                  <a:close/>
                  <a:moveTo>
                    <a:pt x="2797" y="47"/>
                  </a:moveTo>
                  <a:cubicBezTo>
                    <a:pt x="2797" y="72"/>
                    <a:pt x="2775" y="94"/>
                    <a:pt x="2750" y="94"/>
                  </a:cubicBezTo>
                  <a:cubicBezTo>
                    <a:pt x="2724" y="94"/>
                    <a:pt x="2703" y="72"/>
                    <a:pt x="2703" y="47"/>
                  </a:cubicBezTo>
                  <a:cubicBezTo>
                    <a:pt x="2703" y="21"/>
                    <a:pt x="2724" y="0"/>
                    <a:pt x="2750" y="0"/>
                  </a:cubicBezTo>
                  <a:cubicBezTo>
                    <a:pt x="2775" y="0"/>
                    <a:pt x="2797" y="21"/>
                    <a:pt x="2797" y="47"/>
                  </a:cubicBezTo>
                  <a:close/>
                  <a:moveTo>
                    <a:pt x="2897" y="47"/>
                  </a:moveTo>
                  <a:cubicBezTo>
                    <a:pt x="2897" y="72"/>
                    <a:pt x="2875" y="94"/>
                    <a:pt x="2850" y="94"/>
                  </a:cubicBezTo>
                  <a:cubicBezTo>
                    <a:pt x="2824" y="94"/>
                    <a:pt x="2803" y="72"/>
                    <a:pt x="2803" y="47"/>
                  </a:cubicBezTo>
                  <a:cubicBezTo>
                    <a:pt x="2803" y="21"/>
                    <a:pt x="2824" y="0"/>
                    <a:pt x="2850" y="0"/>
                  </a:cubicBezTo>
                  <a:cubicBezTo>
                    <a:pt x="2875" y="0"/>
                    <a:pt x="2897" y="21"/>
                    <a:pt x="2897" y="47"/>
                  </a:cubicBezTo>
                  <a:close/>
                  <a:moveTo>
                    <a:pt x="2997" y="47"/>
                  </a:moveTo>
                  <a:cubicBezTo>
                    <a:pt x="2997" y="72"/>
                    <a:pt x="2975" y="94"/>
                    <a:pt x="2950" y="94"/>
                  </a:cubicBezTo>
                  <a:cubicBezTo>
                    <a:pt x="2924" y="94"/>
                    <a:pt x="2903" y="72"/>
                    <a:pt x="2903" y="47"/>
                  </a:cubicBezTo>
                  <a:cubicBezTo>
                    <a:pt x="2903" y="21"/>
                    <a:pt x="2924" y="0"/>
                    <a:pt x="2950" y="0"/>
                  </a:cubicBezTo>
                  <a:cubicBezTo>
                    <a:pt x="2975" y="0"/>
                    <a:pt x="2997" y="21"/>
                    <a:pt x="2997" y="47"/>
                  </a:cubicBezTo>
                  <a:close/>
                  <a:moveTo>
                    <a:pt x="3097" y="47"/>
                  </a:moveTo>
                  <a:cubicBezTo>
                    <a:pt x="3097" y="72"/>
                    <a:pt x="3075" y="94"/>
                    <a:pt x="3050" y="94"/>
                  </a:cubicBezTo>
                  <a:cubicBezTo>
                    <a:pt x="3024" y="94"/>
                    <a:pt x="3003" y="72"/>
                    <a:pt x="3003" y="47"/>
                  </a:cubicBezTo>
                  <a:cubicBezTo>
                    <a:pt x="3003" y="21"/>
                    <a:pt x="3024" y="0"/>
                    <a:pt x="3050" y="0"/>
                  </a:cubicBezTo>
                  <a:cubicBezTo>
                    <a:pt x="3075" y="0"/>
                    <a:pt x="3097" y="21"/>
                    <a:pt x="3097" y="47"/>
                  </a:cubicBezTo>
                  <a:close/>
                  <a:moveTo>
                    <a:pt x="3197" y="47"/>
                  </a:moveTo>
                  <a:cubicBezTo>
                    <a:pt x="3197" y="72"/>
                    <a:pt x="3175" y="94"/>
                    <a:pt x="3150" y="94"/>
                  </a:cubicBezTo>
                  <a:cubicBezTo>
                    <a:pt x="3124" y="94"/>
                    <a:pt x="3103" y="72"/>
                    <a:pt x="3103" y="47"/>
                  </a:cubicBezTo>
                  <a:cubicBezTo>
                    <a:pt x="3103" y="21"/>
                    <a:pt x="3124" y="0"/>
                    <a:pt x="3150" y="0"/>
                  </a:cubicBezTo>
                  <a:cubicBezTo>
                    <a:pt x="3175" y="0"/>
                    <a:pt x="3197" y="21"/>
                    <a:pt x="3197" y="47"/>
                  </a:cubicBezTo>
                  <a:close/>
                  <a:moveTo>
                    <a:pt x="3297" y="47"/>
                  </a:moveTo>
                  <a:cubicBezTo>
                    <a:pt x="3297" y="72"/>
                    <a:pt x="3275" y="94"/>
                    <a:pt x="3250" y="94"/>
                  </a:cubicBezTo>
                  <a:cubicBezTo>
                    <a:pt x="3224" y="94"/>
                    <a:pt x="3203" y="72"/>
                    <a:pt x="3203" y="47"/>
                  </a:cubicBezTo>
                  <a:cubicBezTo>
                    <a:pt x="3203" y="21"/>
                    <a:pt x="3224" y="0"/>
                    <a:pt x="3250" y="0"/>
                  </a:cubicBezTo>
                  <a:cubicBezTo>
                    <a:pt x="3275" y="0"/>
                    <a:pt x="3297" y="21"/>
                    <a:pt x="3297" y="47"/>
                  </a:cubicBezTo>
                  <a:close/>
                  <a:moveTo>
                    <a:pt x="3397" y="47"/>
                  </a:moveTo>
                  <a:cubicBezTo>
                    <a:pt x="3397" y="72"/>
                    <a:pt x="3375" y="94"/>
                    <a:pt x="3350" y="94"/>
                  </a:cubicBezTo>
                  <a:cubicBezTo>
                    <a:pt x="3324" y="94"/>
                    <a:pt x="3303" y="72"/>
                    <a:pt x="3303" y="47"/>
                  </a:cubicBezTo>
                  <a:cubicBezTo>
                    <a:pt x="3303" y="21"/>
                    <a:pt x="3324" y="0"/>
                    <a:pt x="3350" y="0"/>
                  </a:cubicBezTo>
                  <a:cubicBezTo>
                    <a:pt x="3375" y="0"/>
                    <a:pt x="3397" y="21"/>
                    <a:pt x="3397" y="47"/>
                  </a:cubicBezTo>
                  <a:close/>
                  <a:moveTo>
                    <a:pt x="3497" y="47"/>
                  </a:moveTo>
                  <a:cubicBezTo>
                    <a:pt x="3497" y="72"/>
                    <a:pt x="3475" y="94"/>
                    <a:pt x="3450" y="94"/>
                  </a:cubicBezTo>
                  <a:cubicBezTo>
                    <a:pt x="3424" y="94"/>
                    <a:pt x="3403" y="72"/>
                    <a:pt x="3403" y="47"/>
                  </a:cubicBezTo>
                  <a:cubicBezTo>
                    <a:pt x="3403" y="21"/>
                    <a:pt x="3424" y="0"/>
                    <a:pt x="3450" y="0"/>
                  </a:cubicBezTo>
                  <a:cubicBezTo>
                    <a:pt x="3475" y="0"/>
                    <a:pt x="3497" y="21"/>
                    <a:pt x="3497" y="47"/>
                  </a:cubicBezTo>
                  <a:close/>
                  <a:moveTo>
                    <a:pt x="3597" y="47"/>
                  </a:moveTo>
                  <a:cubicBezTo>
                    <a:pt x="3597" y="72"/>
                    <a:pt x="3575" y="94"/>
                    <a:pt x="3550" y="94"/>
                  </a:cubicBezTo>
                  <a:cubicBezTo>
                    <a:pt x="3524" y="94"/>
                    <a:pt x="3503" y="72"/>
                    <a:pt x="3503" y="47"/>
                  </a:cubicBezTo>
                  <a:cubicBezTo>
                    <a:pt x="3503" y="21"/>
                    <a:pt x="3524" y="0"/>
                    <a:pt x="3550" y="0"/>
                  </a:cubicBezTo>
                  <a:cubicBezTo>
                    <a:pt x="3575" y="0"/>
                    <a:pt x="3597" y="21"/>
                    <a:pt x="3597" y="47"/>
                  </a:cubicBezTo>
                  <a:close/>
                  <a:moveTo>
                    <a:pt x="3697" y="47"/>
                  </a:moveTo>
                  <a:cubicBezTo>
                    <a:pt x="3697" y="72"/>
                    <a:pt x="3675" y="94"/>
                    <a:pt x="3650" y="94"/>
                  </a:cubicBezTo>
                  <a:cubicBezTo>
                    <a:pt x="3624" y="94"/>
                    <a:pt x="3603" y="72"/>
                    <a:pt x="3603" y="47"/>
                  </a:cubicBezTo>
                  <a:cubicBezTo>
                    <a:pt x="3603" y="21"/>
                    <a:pt x="3624" y="0"/>
                    <a:pt x="3650" y="0"/>
                  </a:cubicBezTo>
                  <a:cubicBezTo>
                    <a:pt x="3675" y="0"/>
                    <a:pt x="3697" y="21"/>
                    <a:pt x="3697" y="47"/>
                  </a:cubicBezTo>
                  <a:close/>
                  <a:moveTo>
                    <a:pt x="3797" y="47"/>
                  </a:moveTo>
                  <a:cubicBezTo>
                    <a:pt x="3797" y="72"/>
                    <a:pt x="3775" y="94"/>
                    <a:pt x="3750" y="94"/>
                  </a:cubicBezTo>
                  <a:cubicBezTo>
                    <a:pt x="3724" y="94"/>
                    <a:pt x="3703" y="72"/>
                    <a:pt x="3703" y="47"/>
                  </a:cubicBezTo>
                  <a:cubicBezTo>
                    <a:pt x="3703" y="21"/>
                    <a:pt x="3724" y="0"/>
                    <a:pt x="3750" y="0"/>
                  </a:cubicBezTo>
                  <a:cubicBezTo>
                    <a:pt x="3775" y="0"/>
                    <a:pt x="3797" y="21"/>
                    <a:pt x="3797" y="47"/>
                  </a:cubicBezTo>
                  <a:close/>
                  <a:moveTo>
                    <a:pt x="3897" y="47"/>
                  </a:moveTo>
                  <a:cubicBezTo>
                    <a:pt x="3897" y="72"/>
                    <a:pt x="3875" y="94"/>
                    <a:pt x="3850" y="94"/>
                  </a:cubicBezTo>
                  <a:cubicBezTo>
                    <a:pt x="3824" y="94"/>
                    <a:pt x="3803" y="72"/>
                    <a:pt x="3803" y="47"/>
                  </a:cubicBezTo>
                  <a:cubicBezTo>
                    <a:pt x="3803" y="21"/>
                    <a:pt x="3824" y="0"/>
                    <a:pt x="3850" y="0"/>
                  </a:cubicBezTo>
                  <a:cubicBezTo>
                    <a:pt x="3875" y="0"/>
                    <a:pt x="3897" y="21"/>
                    <a:pt x="3897" y="47"/>
                  </a:cubicBezTo>
                  <a:close/>
                  <a:moveTo>
                    <a:pt x="3997" y="47"/>
                  </a:moveTo>
                  <a:cubicBezTo>
                    <a:pt x="3997" y="72"/>
                    <a:pt x="3975" y="94"/>
                    <a:pt x="3950" y="94"/>
                  </a:cubicBezTo>
                  <a:cubicBezTo>
                    <a:pt x="3924" y="94"/>
                    <a:pt x="3903" y="72"/>
                    <a:pt x="3903" y="47"/>
                  </a:cubicBezTo>
                  <a:cubicBezTo>
                    <a:pt x="3903" y="21"/>
                    <a:pt x="3924" y="0"/>
                    <a:pt x="3950" y="0"/>
                  </a:cubicBezTo>
                  <a:cubicBezTo>
                    <a:pt x="3975" y="0"/>
                    <a:pt x="3997" y="21"/>
                    <a:pt x="3997" y="47"/>
                  </a:cubicBezTo>
                  <a:close/>
                  <a:moveTo>
                    <a:pt x="4097" y="47"/>
                  </a:moveTo>
                  <a:cubicBezTo>
                    <a:pt x="4097" y="72"/>
                    <a:pt x="4075" y="94"/>
                    <a:pt x="4050" y="94"/>
                  </a:cubicBezTo>
                  <a:cubicBezTo>
                    <a:pt x="4024" y="94"/>
                    <a:pt x="4003" y="72"/>
                    <a:pt x="4003" y="47"/>
                  </a:cubicBezTo>
                  <a:cubicBezTo>
                    <a:pt x="4003" y="21"/>
                    <a:pt x="4024" y="0"/>
                    <a:pt x="4050" y="0"/>
                  </a:cubicBezTo>
                  <a:cubicBezTo>
                    <a:pt x="4075" y="0"/>
                    <a:pt x="4097" y="21"/>
                    <a:pt x="4097" y="47"/>
                  </a:cubicBezTo>
                  <a:close/>
                  <a:moveTo>
                    <a:pt x="4197" y="47"/>
                  </a:moveTo>
                  <a:cubicBezTo>
                    <a:pt x="4197" y="72"/>
                    <a:pt x="4175" y="94"/>
                    <a:pt x="4150" y="94"/>
                  </a:cubicBezTo>
                  <a:cubicBezTo>
                    <a:pt x="4124" y="94"/>
                    <a:pt x="4103" y="72"/>
                    <a:pt x="4103" y="47"/>
                  </a:cubicBezTo>
                  <a:cubicBezTo>
                    <a:pt x="4103" y="21"/>
                    <a:pt x="4124" y="0"/>
                    <a:pt x="4150" y="0"/>
                  </a:cubicBezTo>
                  <a:cubicBezTo>
                    <a:pt x="4175" y="0"/>
                    <a:pt x="4197" y="21"/>
                    <a:pt x="4197" y="47"/>
                  </a:cubicBezTo>
                  <a:close/>
                  <a:moveTo>
                    <a:pt x="4297" y="47"/>
                  </a:moveTo>
                  <a:cubicBezTo>
                    <a:pt x="4297" y="72"/>
                    <a:pt x="4275" y="94"/>
                    <a:pt x="4250" y="94"/>
                  </a:cubicBezTo>
                  <a:cubicBezTo>
                    <a:pt x="4224" y="94"/>
                    <a:pt x="4203" y="72"/>
                    <a:pt x="4203" y="47"/>
                  </a:cubicBezTo>
                  <a:cubicBezTo>
                    <a:pt x="4203" y="21"/>
                    <a:pt x="4224" y="0"/>
                    <a:pt x="4250" y="0"/>
                  </a:cubicBezTo>
                  <a:cubicBezTo>
                    <a:pt x="4275" y="0"/>
                    <a:pt x="4297" y="21"/>
                    <a:pt x="4297" y="47"/>
                  </a:cubicBezTo>
                  <a:close/>
                  <a:moveTo>
                    <a:pt x="4397" y="47"/>
                  </a:moveTo>
                  <a:cubicBezTo>
                    <a:pt x="4397" y="72"/>
                    <a:pt x="4375" y="94"/>
                    <a:pt x="4350" y="94"/>
                  </a:cubicBezTo>
                  <a:cubicBezTo>
                    <a:pt x="4324" y="94"/>
                    <a:pt x="4303" y="72"/>
                    <a:pt x="4303" y="47"/>
                  </a:cubicBezTo>
                  <a:cubicBezTo>
                    <a:pt x="4303" y="21"/>
                    <a:pt x="4324" y="0"/>
                    <a:pt x="4350" y="0"/>
                  </a:cubicBezTo>
                  <a:cubicBezTo>
                    <a:pt x="4375" y="0"/>
                    <a:pt x="4397" y="21"/>
                    <a:pt x="4397" y="47"/>
                  </a:cubicBezTo>
                  <a:close/>
                  <a:moveTo>
                    <a:pt x="4497" y="47"/>
                  </a:moveTo>
                  <a:cubicBezTo>
                    <a:pt x="4497" y="72"/>
                    <a:pt x="4475" y="94"/>
                    <a:pt x="4450" y="94"/>
                  </a:cubicBezTo>
                  <a:cubicBezTo>
                    <a:pt x="4424" y="94"/>
                    <a:pt x="4403" y="72"/>
                    <a:pt x="4403" y="47"/>
                  </a:cubicBezTo>
                  <a:cubicBezTo>
                    <a:pt x="4403" y="21"/>
                    <a:pt x="4424" y="0"/>
                    <a:pt x="4450" y="0"/>
                  </a:cubicBezTo>
                  <a:cubicBezTo>
                    <a:pt x="4475" y="0"/>
                    <a:pt x="4497" y="21"/>
                    <a:pt x="4497" y="47"/>
                  </a:cubicBezTo>
                  <a:close/>
                  <a:moveTo>
                    <a:pt x="4597" y="47"/>
                  </a:moveTo>
                  <a:cubicBezTo>
                    <a:pt x="4597" y="72"/>
                    <a:pt x="4575" y="94"/>
                    <a:pt x="4550" y="94"/>
                  </a:cubicBezTo>
                  <a:cubicBezTo>
                    <a:pt x="4524" y="94"/>
                    <a:pt x="4503" y="72"/>
                    <a:pt x="4503" y="47"/>
                  </a:cubicBezTo>
                  <a:cubicBezTo>
                    <a:pt x="4503" y="21"/>
                    <a:pt x="4524" y="0"/>
                    <a:pt x="4550" y="0"/>
                  </a:cubicBezTo>
                  <a:cubicBezTo>
                    <a:pt x="4575" y="0"/>
                    <a:pt x="4597" y="21"/>
                    <a:pt x="4597" y="47"/>
                  </a:cubicBezTo>
                  <a:close/>
                  <a:moveTo>
                    <a:pt x="4697" y="47"/>
                  </a:moveTo>
                  <a:cubicBezTo>
                    <a:pt x="4697" y="72"/>
                    <a:pt x="4675" y="94"/>
                    <a:pt x="4650" y="94"/>
                  </a:cubicBezTo>
                  <a:cubicBezTo>
                    <a:pt x="4624" y="94"/>
                    <a:pt x="4603" y="72"/>
                    <a:pt x="4603" y="47"/>
                  </a:cubicBezTo>
                  <a:cubicBezTo>
                    <a:pt x="4603" y="21"/>
                    <a:pt x="4624" y="0"/>
                    <a:pt x="4650" y="0"/>
                  </a:cubicBezTo>
                  <a:cubicBezTo>
                    <a:pt x="4675" y="0"/>
                    <a:pt x="4697" y="21"/>
                    <a:pt x="4697" y="47"/>
                  </a:cubicBezTo>
                  <a:close/>
                  <a:moveTo>
                    <a:pt x="4797" y="47"/>
                  </a:moveTo>
                  <a:cubicBezTo>
                    <a:pt x="4797" y="72"/>
                    <a:pt x="4775" y="94"/>
                    <a:pt x="4750" y="94"/>
                  </a:cubicBezTo>
                  <a:cubicBezTo>
                    <a:pt x="4724" y="94"/>
                    <a:pt x="4703" y="72"/>
                    <a:pt x="4703" y="47"/>
                  </a:cubicBezTo>
                  <a:cubicBezTo>
                    <a:pt x="4703" y="21"/>
                    <a:pt x="4724" y="0"/>
                    <a:pt x="4750" y="0"/>
                  </a:cubicBezTo>
                  <a:cubicBezTo>
                    <a:pt x="4775" y="0"/>
                    <a:pt x="4797" y="21"/>
                    <a:pt x="4797" y="47"/>
                  </a:cubicBezTo>
                  <a:close/>
                  <a:moveTo>
                    <a:pt x="4897" y="47"/>
                  </a:moveTo>
                  <a:cubicBezTo>
                    <a:pt x="4897" y="72"/>
                    <a:pt x="4875" y="94"/>
                    <a:pt x="4850" y="94"/>
                  </a:cubicBezTo>
                  <a:cubicBezTo>
                    <a:pt x="4824" y="94"/>
                    <a:pt x="4803" y="72"/>
                    <a:pt x="4803" y="47"/>
                  </a:cubicBezTo>
                  <a:cubicBezTo>
                    <a:pt x="4803" y="21"/>
                    <a:pt x="4824" y="0"/>
                    <a:pt x="4850" y="0"/>
                  </a:cubicBezTo>
                  <a:cubicBezTo>
                    <a:pt x="4875" y="0"/>
                    <a:pt x="4897" y="21"/>
                    <a:pt x="4897" y="47"/>
                  </a:cubicBezTo>
                  <a:close/>
                  <a:moveTo>
                    <a:pt x="4997" y="47"/>
                  </a:moveTo>
                  <a:cubicBezTo>
                    <a:pt x="4997" y="72"/>
                    <a:pt x="4975" y="94"/>
                    <a:pt x="4950" y="94"/>
                  </a:cubicBezTo>
                  <a:cubicBezTo>
                    <a:pt x="4924" y="94"/>
                    <a:pt x="4903" y="72"/>
                    <a:pt x="4903" y="47"/>
                  </a:cubicBezTo>
                  <a:cubicBezTo>
                    <a:pt x="4903" y="21"/>
                    <a:pt x="4924" y="0"/>
                    <a:pt x="4950" y="0"/>
                  </a:cubicBezTo>
                  <a:cubicBezTo>
                    <a:pt x="4975" y="0"/>
                    <a:pt x="4997" y="21"/>
                    <a:pt x="4997" y="47"/>
                  </a:cubicBezTo>
                  <a:close/>
                  <a:moveTo>
                    <a:pt x="5097" y="47"/>
                  </a:moveTo>
                  <a:cubicBezTo>
                    <a:pt x="5097" y="72"/>
                    <a:pt x="5075" y="94"/>
                    <a:pt x="5050" y="94"/>
                  </a:cubicBezTo>
                  <a:cubicBezTo>
                    <a:pt x="5024" y="94"/>
                    <a:pt x="5003" y="72"/>
                    <a:pt x="5003" y="47"/>
                  </a:cubicBezTo>
                  <a:cubicBezTo>
                    <a:pt x="5003" y="21"/>
                    <a:pt x="5024" y="0"/>
                    <a:pt x="5050" y="0"/>
                  </a:cubicBezTo>
                  <a:cubicBezTo>
                    <a:pt x="5075" y="0"/>
                    <a:pt x="5097" y="21"/>
                    <a:pt x="5097" y="47"/>
                  </a:cubicBezTo>
                  <a:close/>
                  <a:moveTo>
                    <a:pt x="5197" y="47"/>
                  </a:moveTo>
                  <a:cubicBezTo>
                    <a:pt x="5197" y="72"/>
                    <a:pt x="5175" y="94"/>
                    <a:pt x="5150" y="94"/>
                  </a:cubicBezTo>
                  <a:cubicBezTo>
                    <a:pt x="5124" y="94"/>
                    <a:pt x="5103" y="72"/>
                    <a:pt x="5103" y="47"/>
                  </a:cubicBezTo>
                  <a:cubicBezTo>
                    <a:pt x="5103" y="21"/>
                    <a:pt x="5124" y="0"/>
                    <a:pt x="5150" y="0"/>
                  </a:cubicBezTo>
                  <a:cubicBezTo>
                    <a:pt x="5175" y="0"/>
                    <a:pt x="5197" y="21"/>
                    <a:pt x="5197" y="47"/>
                  </a:cubicBezTo>
                  <a:close/>
                  <a:moveTo>
                    <a:pt x="5297" y="47"/>
                  </a:moveTo>
                  <a:cubicBezTo>
                    <a:pt x="5297" y="72"/>
                    <a:pt x="5275" y="94"/>
                    <a:pt x="5250" y="94"/>
                  </a:cubicBezTo>
                  <a:cubicBezTo>
                    <a:pt x="5224" y="94"/>
                    <a:pt x="5203" y="72"/>
                    <a:pt x="5203" y="47"/>
                  </a:cubicBezTo>
                  <a:cubicBezTo>
                    <a:pt x="5203" y="21"/>
                    <a:pt x="5224" y="0"/>
                    <a:pt x="5250" y="0"/>
                  </a:cubicBezTo>
                  <a:cubicBezTo>
                    <a:pt x="5275" y="0"/>
                    <a:pt x="5297" y="21"/>
                    <a:pt x="5297" y="47"/>
                  </a:cubicBezTo>
                  <a:close/>
                  <a:moveTo>
                    <a:pt x="5397" y="47"/>
                  </a:moveTo>
                  <a:cubicBezTo>
                    <a:pt x="5397" y="72"/>
                    <a:pt x="5375" y="94"/>
                    <a:pt x="5350" y="94"/>
                  </a:cubicBezTo>
                  <a:cubicBezTo>
                    <a:pt x="5324" y="94"/>
                    <a:pt x="5303" y="72"/>
                    <a:pt x="5303" y="47"/>
                  </a:cubicBezTo>
                  <a:cubicBezTo>
                    <a:pt x="5303" y="21"/>
                    <a:pt x="5324" y="0"/>
                    <a:pt x="5350" y="0"/>
                  </a:cubicBezTo>
                  <a:cubicBezTo>
                    <a:pt x="5375" y="0"/>
                    <a:pt x="5397" y="21"/>
                    <a:pt x="5397" y="47"/>
                  </a:cubicBezTo>
                  <a:close/>
                  <a:moveTo>
                    <a:pt x="5497" y="47"/>
                  </a:moveTo>
                  <a:cubicBezTo>
                    <a:pt x="5497" y="72"/>
                    <a:pt x="5475" y="94"/>
                    <a:pt x="5450" y="94"/>
                  </a:cubicBezTo>
                  <a:cubicBezTo>
                    <a:pt x="5424" y="94"/>
                    <a:pt x="5403" y="72"/>
                    <a:pt x="5403" y="47"/>
                  </a:cubicBezTo>
                  <a:cubicBezTo>
                    <a:pt x="5403" y="21"/>
                    <a:pt x="5424" y="0"/>
                    <a:pt x="5450" y="0"/>
                  </a:cubicBezTo>
                  <a:cubicBezTo>
                    <a:pt x="5475" y="0"/>
                    <a:pt x="5497" y="21"/>
                    <a:pt x="5497" y="47"/>
                  </a:cubicBezTo>
                  <a:close/>
                  <a:moveTo>
                    <a:pt x="5597" y="47"/>
                  </a:moveTo>
                  <a:cubicBezTo>
                    <a:pt x="5597" y="72"/>
                    <a:pt x="5575" y="94"/>
                    <a:pt x="5550" y="94"/>
                  </a:cubicBezTo>
                  <a:cubicBezTo>
                    <a:pt x="5524" y="94"/>
                    <a:pt x="5503" y="72"/>
                    <a:pt x="5503" y="47"/>
                  </a:cubicBezTo>
                  <a:cubicBezTo>
                    <a:pt x="5503" y="21"/>
                    <a:pt x="5524" y="0"/>
                    <a:pt x="5550" y="0"/>
                  </a:cubicBezTo>
                  <a:cubicBezTo>
                    <a:pt x="5575" y="0"/>
                    <a:pt x="5597" y="21"/>
                    <a:pt x="5597" y="47"/>
                  </a:cubicBezTo>
                  <a:close/>
                  <a:moveTo>
                    <a:pt x="5697" y="47"/>
                  </a:moveTo>
                  <a:cubicBezTo>
                    <a:pt x="5697" y="72"/>
                    <a:pt x="5675" y="94"/>
                    <a:pt x="5650" y="94"/>
                  </a:cubicBezTo>
                  <a:cubicBezTo>
                    <a:pt x="5624" y="94"/>
                    <a:pt x="5603" y="72"/>
                    <a:pt x="5603" y="47"/>
                  </a:cubicBezTo>
                  <a:cubicBezTo>
                    <a:pt x="5603" y="21"/>
                    <a:pt x="5624" y="0"/>
                    <a:pt x="5650" y="0"/>
                  </a:cubicBezTo>
                  <a:cubicBezTo>
                    <a:pt x="5675" y="0"/>
                    <a:pt x="5697" y="21"/>
                    <a:pt x="5697" y="47"/>
                  </a:cubicBezTo>
                  <a:close/>
                  <a:moveTo>
                    <a:pt x="5797" y="47"/>
                  </a:moveTo>
                  <a:cubicBezTo>
                    <a:pt x="5797" y="72"/>
                    <a:pt x="5775" y="94"/>
                    <a:pt x="5750" y="94"/>
                  </a:cubicBezTo>
                  <a:cubicBezTo>
                    <a:pt x="5724" y="94"/>
                    <a:pt x="5703" y="72"/>
                    <a:pt x="5703" y="47"/>
                  </a:cubicBezTo>
                  <a:cubicBezTo>
                    <a:pt x="5703" y="21"/>
                    <a:pt x="5724" y="0"/>
                    <a:pt x="5750" y="0"/>
                  </a:cubicBezTo>
                  <a:cubicBezTo>
                    <a:pt x="5775" y="0"/>
                    <a:pt x="5797" y="21"/>
                    <a:pt x="5797" y="47"/>
                  </a:cubicBezTo>
                  <a:close/>
                  <a:moveTo>
                    <a:pt x="5897" y="47"/>
                  </a:moveTo>
                  <a:cubicBezTo>
                    <a:pt x="5897" y="72"/>
                    <a:pt x="5875" y="94"/>
                    <a:pt x="5850" y="94"/>
                  </a:cubicBezTo>
                  <a:cubicBezTo>
                    <a:pt x="5824" y="94"/>
                    <a:pt x="5803" y="72"/>
                    <a:pt x="5803" y="47"/>
                  </a:cubicBezTo>
                  <a:cubicBezTo>
                    <a:pt x="5803" y="21"/>
                    <a:pt x="5824" y="0"/>
                    <a:pt x="5850" y="0"/>
                  </a:cubicBezTo>
                  <a:cubicBezTo>
                    <a:pt x="5875" y="0"/>
                    <a:pt x="5897" y="21"/>
                    <a:pt x="5897" y="47"/>
                  </a:cubicBezTo>
                  <a:close/>
                  <a:moveTo>
                    <a:pt x="5997" y="47"/>
                  </a:moveTo>
                  <a:cubicBezTo>
                    <a:pt x="5997" y="72"/>
                    <a:pt x="5975" y="94"/>
                    <a:pt x="5950" y="94"/>
                  </a:cubicBezTo>
                  <a:cubicBezTo>
                    <a:pt x="5924" y="94"/>
                    <a:pt x="5903" y="72"/>
                    <a:pt x="5903" y="47"/>
                  </a:cubicBezTo>
                  <a:cubicBezTo>
                    <a:pt x="5903" y="21"/>
                    <a:pt x="5924" y="0"/>
                    <a:pt x="5950" y="0"/>
                  </a:cubicBezTo>
                  <a:cubicBezTo>
                    <a:pt x="5975" y="0"/>
                    <a:pt x="5997" y="21"/>
                    <a:pt x="5997" y="47"/>
                  </a:cubicBezTo>
                  <a:close/>
                  <a:moveTo>
                    <a:pt x="6097" y="47"/>
                  </a:moveTo>
                  <a:cubicBezTo>
                    <a:pt x="6097" y="72"/>
                    <a:pt x="6075" y="94"/>
                    <a:pt x="6050" y="94"/>
                  </a:cubicBezTo>
                  <a:cubicBezTo>
                    <a:pt x="6024" y="94"/>
                    <a:pt x="6003" y="72"/>
                    <a:pt x="6003" y="47"/>
                  </a:cubicBezTo>
                  <a:cubicBezTo>
                    <a:pt x="6003" y="21"/>
                    <a:pt x="6024" y="0"/>
                    <a:pt x="6050" y="0"/>
                  </a:cubicBezTo>
                  <a:cubicBezTo>
                    <a:pt x="6075" y="0"/>
                    <a:pt x="6097" y="21"/>
                    <a:pt x="6097" y="47"/>
                  </a:cubicBezTo>
                  <a:close/>
                  <a:moveTo>
                    <a:pt x="6197" y="47"/>
                  </a:moveTo>
                  <a:cubicBezTo>
                    <a:pt x="6197" y="72"/>
                    <a:pt x="6175" y="94"/>
                    <a:pt x="6150" y="94"/>
                  </a:cubicBezTo>
                  <a:cubicBezTo>
                    <a:pt x="6124" y="94"/>
                    <a:pt x="6103" y="72"/>
                    <a:pt x="6103" y="47"/>
                  </a:cubicBezTo>
                  <a:cubicBezTo>
                    <a:pt x="6103" y="21"/>
                    <a:pt x="6124" y="0"/>
                    <a:pt x="6150" y="0"/>
                  </a:cubicBezTo>
                  <a:cubicBezTo>
                    <a:pt x="6175" y="0"/>
                    <a:pt x="6197" y="21"/>
                    <a:pt x="6197" y="47"/>
                  </a:cubicBezTo>
                  <a:close/>
                  <a:moveTo>
                    <a:pt x="6297" y="47"/>
                  </a:moveTo>
                  <a:cubicBezTo>
                    <a:pt x="6297" y="72"/>
                    <a:pt x="6275" y="94"/>
                    <a:pt x="6250" y="94"/>
                  </a:cubicBezTo>
                  <a:cubicBezTo>
                    <a:pt x="6224" y="94"/>
                    <a:pt x="6203" y="72"/>
                    <a:pt x="6203" y="47"/>
                  </a:cubicBezTo>
                  <a:cubicBezTo>
                    <a:pt x="6203" y="21"/>
                    <a:pt x="6224" y="0"/>
                    <a:pt x="6250" y="0"/>
                  </a:cubicBezTo>
                  <a:cubicBezTo>
                    <a:pt x="6275" y="0"/>
                    <a:pt x="6297" y="21"/>
                    <a:pt x="6297" y="47"/>
                  </a:cubicBezTo>
                  <a:close/>
                  <a:moveTo>
                    <a:pt x="6397" y="47"/>
                  </a:moveTo>
                  <a:cubicBezTo>
                    <a:pt x="6397" y="72"/>
                    <a:pt x="6375" y="94"/>
                    <a:pt x="6350" y="94"/>
                  </a:cubicBezTo>
                  <a:cubicBezTo>
                    <a:pt x="6324" y="94"/>
                    <a:pt x="6303" y="72"/>
                    <a:pt x="6303" y="47"/>
                  </a:cubicBezTo>
                  <a:cubicBezTo>
                    <a:pt x="6303" y="21"/>
                    <a:pt x="6324" y="0"/>
                    <a:pt x="6350" y="0"/>
                  </a:cubicBezTo>
                  <a:cubicBezTo>
                    <a:pt x="6375" y="0"/>
                    <a:pt x="6397" y="21"/>
                    <a:pt x="6397" y="47"/>
                  </a:cubicBezTo>
                  <a:close/>
                  <a:moveTo>
                    <a:pt x="6497" y="47"/>
                  </a:moveTo>
                  <a:cubicBezTo>
                    <a:pt x="6497" y="72"/>
                    <a:pt x="6475" y="94"/>
                    <a:pt x="6450" y="94"/>
                  </a:cubicBezTo>
                  <a:cubicBezTo>
                    <a:pt x="6424" y="94"/>
                    <a:pt x="6403" y="72"/>
                    <a:pt x="6403" y="47"/>
                  </a:cubicBezTo>
                  <a:cubicBezTo>
                    <a:pt x="6403" y="21"/>
                    <a:pt x="6424" y="0"/>
                    <a:pt x="6450" y="0"/>
                  </a:cubicBezTo>
                  <a:cubicBezTo>
                    <a:pt x="6475" y="0"/>
                    <a:pt x="6497" y="21"/>
                    <a:pt x="6497" y="47"/>
                  </a:cubicBezTo>
                  <a:close/>
                  <a:moveTo>
                    <a:pt x="6597" y="47"/>
                  </a:moveTo>
                  <a:cubicBezTo>
                    <a:pt x="6597" y="72"/>
                    <a:pt x="6575" y="94"/>
                    <a:pt x="6550" y="94"/>
                  </a:cubicBezTo>
                  <a:cubicBezTo>
                    <a:pt x="6524" y="94"/>
                    <a:pt x="6503" y="72"/>
                    <a:pt x="6503" y="47"/>
                  </a:cubicBezTo>
                  <a:cubicBezTo>
                    <a:pt x="6503" y="21"/>
                    <a:pt x="6524" y="0"/>
                    <a:pt x="6550" y="0"/>
                  </a:cubicBezTo>
                  <a:cubicBezTo>
                    <a:pt x="6575" y="0"/>
                    <a:pt x="6597" y="21"/>
                    <a:pt x="6597" y="47"/>
                  </a:cubicBezTo>
                  <a:close/>
                  <a:moveTo>
                    <a:pt x="6697" y="47"/>
                  </a:moveTo>
                  <a:cubicBezTo>
                    <a:pt x="6697" y="72"/>
                    <a:pt x="6675" y="94"/>
                    <a:pt x="6650" y="94"/>
                  </a:cubicBezTo>
                  <a:cubicBezTo>
                    <a:pt x="6624" y="94"/>
                    <a:pt x="6603" y="72"/>
                    <a:pt x="6603" y="47"/>
                  </a:cubicBezTo>
                  <a:cubicBezTo>
                    <a:pt x="6603" y="21"/>
                    <a:pt x="6624" y="0"/>
                    <a:pt x="6650" y="0"/>
                  </a:cubicBezTo>
                  <a:cubicBezTo>
                    <a:pt x="6675" y="0"/>
                    <a:pt x="6697" y="21"/>
                    <a:pt x="6697" y="47"/>
                  </a:cubicBezTo>
                  <a:close/>
                  <a:moveTo>
                    <a:pt x="6797" y="47"/>
                  </a:moveTo>
                  <a:cubicBezTo>
                    <a:pt x="6797" y="72"/>
                    <a:pt x="6775" y="94"/>
                    <a:pt x="6750" y="94"/>
                  </a:cubicBezTo>
                  <a:cubicBezTo>
                    <a:pt x="6724" y="94"/>
                    <a:pt x="6703" y="72"/>
                    <a:pt x="6703" y="47"/>
                  </a:cubicBezTo>
                  <a:cubicBezTo>
                    <a:pt x="6703" y="21"/>
                    <a:pt x="6724" y="0"/>
                    <a:pt x="6750" y="0"/>
                  </a:cubicBezTo>
                  <a:cubicBezTo>
                    <a:pt x="6775" y="0"/>
                    <a:pt x="6797" y="21"/>
                    <a:pt x="6797" y="47"/>
                  </a:cubicBezTo>
                  <a:close/>
                  <a:moveTo>
                    <a:pt x="6897" y="47"/>
                  </a:moveTo>
                  <a:cubicBezTo>
                    <a:pt x="6897" y="72"/>
                    <a:pt x="6875" y="94"/>
                    <a:pt x="6850" y="94"/>
                  </a:cubicBezTo>
                  <a:cubicBezTo>
                    <a:pt x="6824" y="94"/>
                    <a:pt x="6803" y="72"/>
                    <a:pt x="6803" y="47"/>
                  </a:cubicBezTo>
                  <a:cubicBezTo>
                    <a:pt x="6803" y="21"/>
                    <a:pt x="6824" y="0"/>
                    <a:pt x="6850" y="0"/>
                  </a:cubicBezTo>
                  <a:cubicBezTo>
                    <a:pt x="6875" y="0"/>
                    <a:pt x="6897" y="21"/>
                    <a:pt x="6897" y="47"/>
                  </a:cubicBezTo>
                  <a:close/>
                  <a:moveTo>
                    <a:pt x="6997" y="47"/>
                  </a:moveTo>
                  <a:cubicBezTo>
                    <a:pt x="6997" y="72"/>
                    <a:pt x="6975" y="94"/>
                    <a:pt x="6950" y="94"/>
                  </a:cubicBezTo>
                  <a:cubicBezTo>
                    <a:pt x="6924" y="94"/>
                    <a:pt x="6903" y="72"/>
                    <a:pt x="6903" y="47"/>
                  </a:cubicBezTo>
                  <a:cubicBezTo>
                    <a:pt x="6903" y="21"/>
                    <a:pt x="6924" y="0"/>
                    <a:pt x="6950" y="0"/>
                  </a:cubicBezTo>
                  <a:cubicBezTo>
                    <a:pt x="6975" y="0"/>
                    <a:pt x="6997" y="21"/>
                    <a:pt x="6997" y="47"/>
                  </a:cubicBezTo>
                  <a:close/>
                  <a:moveTo>
                    <a:pt x="7097" y="47"/>
                  </a:moveTo>
                  <a:cubicBezTo>
                    <a:pt x="7097" y="72"/>
                    <a:pt x="7075" y="94"/>
                    <a:pt x="7050" y="94"/>
                  </a:cubicBezTo>
                  <a:cubicBezTo>
                    <a:pt x="7024" y="94"/>
                    <a:pt x="7003" y="72"/>
                    <a:pt x="7003" y="47"/>
                  </a:cubicBezTo>
                  <a:cubicBezTo>
                    <a:pt x="7003" y="21"/>
                    <a:pt x="7024" y="0"/>
                    <a:pt x="7050" y="0"/>
                  </a:cubicBezTo>
                  <a:cubicBezTo>
                    <a:pt x="7075" y="0"/>
                    <a:pt x="7097" y="21"/>
                    <a:pt x="7097" y="47"/>
                  </a:cubicBezTo>
                  <a:close/>
                  <a:moveTo>
                    <a:pt x="7197" y="47"/>
                  </a:moveTo>
                  <a:cubicBezTo>
                    <a:pt x="7197" y="72"/>
                    <a:pt x="7175" y="94"/>
                    <a:pt x="7150" y="94"/>
                  </a:cubicBezTo>
                  <a:cubicBezTo>
                    <a:pt x="7124" y="94"/>
                    <a:pt x="7103" y="72"/>
                    <a:pt x="7103" y="47"/>
                  </a:cubicBezTo>
                  <a:cubicBezTo>
                    <a:pt x="7103" y="21"/>
                    <a:pt x="7124" y="0"/>
                    <a:pt x="7150" y="0"/>
                  </a:cubicBezTo>
                  <a:cubicBezTo>
                    <a:pt x="7175" y="0"/>
                    <a:pt x="7197" y="21"/>
                    <a:pt x="7197" y="47"/>
                  </a:cubicBezTo>
                  <a:close/>
                  <a:moveTo>
                    <a:pt x="7297" y="47"/>
                  </a:moveTo>
                  <a:cubicBezTo>
                    <a:pt x="7297" y="72"/>
                    <a:pt x="7275" y="94"/>
                    <a:pt x="7250" y="94"/>
                  </a:cubicBezTo>
                  <a:cubicBezTo>
                    <a:pt x="7224" y="94"/>
                    <a:pt x="7203" y="72"/>
                    <a:pt x="7203" y="47"/>
                  </a:cubicBezTo>
                  <a:cubicBezTo>
                    <a:pt x="7203" y="21"/>
                    <a:pt x="7224" y="0"/>
                    <a:pt x="7250" y="0"/>
                  </a:cubicBezTo>
                  <a:cubicBezTo>
                    <a:pt x="7275" y="0"/>
                    <a:pt x="7297" y="21"/>
                    <a:pt x="7297" y="47"/>
                  </a:cubicBezTo>
                  <a:close/>
                  <a:moveTo>
                    <a:pt x="7397" y="47"/>
                  </a:moveTo>
                  <a:cubicBezTo>
                    <a:pt x="7397" y="72"/>
                    <a:pt x="7375" y="94"/>
                    <a:pt x="7350" y="94"/>
                  </a:cubicBezTo>
                  <a:cubicBezTo>
                    <a:pt x="7324" y="94"/>
                    <a:pt x="7303" y="72"/>
                    <a:pt x="7303" y="47"/>
                  </a:cubicBezTo>
                  <a:cubicBezTo>
                    <a:pt x="7303" y="21"/>
                    <a:pt x="7324" y="0"/>
                    <a:pt x="7350" y="0"/>
                  </a:cubicBezTo>
                  <a:cubicBezTo>
                    <a:pt x="7375" y="0"/>
                    <a:pt x="7397" y="21"/>
                    <a:pt x="7397" y="47"/>
                  </a:cubicBezTo>
                  <a:close/>
                  <a:moveTo>
                    <a:pt x="7497" y="47"/>
                  </a:moveTo>
                  <a:cubicBezTo>
                    <a:pt x="7497" y="72"/>
                    <a:pt x="7475" y="94"/>
                    <a:pt x="7450" y="94"/>
                  </a:cubicBezTo>
                  <a:cubicBezTo>
                    <a:pt x="7424" y="94"/>
                    <a:pt x="7403" y="72"/>
                    <a:pt x="7403" y="47"/>
                  </a:cubicBezTo>
                  <a:cubicBezTo>
                    <a:pt x="7403" y="21"/>
                    <a:pt x="7424" y="0"/>
                    <a:pt x="7450" y="0"/>
                  </a:cubicBezTo>
                  <a:cubicBezTo>
                    <a:pt x="7475" y="0"/>
                    <a:pt x="7497" y="21"/>
                    <a:pt x="7497" y="47"/>
                  </a:cubicBezTo>
                  <a:close/>
                  <a:moveTo>
                    <a:pt x="7597" y="47"/>
                  </a:moveTo>
                  <a:cubicBezTo>
                    <a:pt x="7597" y="72"/>
                    <a:pt x="7575" y="94"/>
                    <a:pt x="7550" y="94"/>
                  </a:cubicBezTo>
                  <a:cubicBezTo>
                    <a:pt x="7524" y="94"/>
                    <a:pt x="7503" y="72"/>
                    <a:pt x="7503" y="47"/>
                  </a:cubicBezTo>
                  <a:cubicBezTo>
                    <a:pt x="7503" y="21"/>
                    <a:pt x="7524" y="0"/>
                    <a:pt x="7550" y="0"/>
                  </a:cubicBezTo>
                  <a:cubicBezTo>
                    <a:pt x="7575" y="0"/>
                    <a:pt x="7597" y="21"/>
                    <a:pt x="7597" y="47"/>
                  </a:cubicBezTo>
                  <a:close/>
                  <a:moveTo>
                    <a:pt x="7697" y="47"/>
                  </a:moveTo>
                  <a:cubicBezTo>
                    <a:pt x="7697" y="72"/>
                    <a:pt x="7675" y="94"/>
                    <a:pt x="7650" y="94"/>
                  </a:cubicBezTo>
                  <a:cubicBezTo>
                    <a:pt x="7624" y="94"/>
                    <a:pt x="7603" y="72"/>
                    <a:pt x="7603" y="47"/>
                  </a:cubicBezTo>
                  <a:cubicBezTo>
                    <a:pt x="7603" y="21"/>
                    <a:pt x="7624" y="0"/>
                    <a:pt x="7650" y="0"/>
                  </a:cubicBezTo>
                  <a:cubicBezTo>
                    <a:pt x="7675" y="0"/>
                    <a:pt x="7697" y="21"/>
                    <a:pt x="7697" y="47"/>
                  </a:cubicBezTo>
                  <a:close/>
                  <a:moveTo>
                    <a:pt x="7797" y="47"/>
                  </a:moveTo>
                  <a:cubicBezTo>
                    <a:pt x="7797" y="72"/>
                    <a:pt x="7775" y="94"/>
                    <a:pt x="7750" y="94"/>
                  </a:cubicBezTo>
                  <a:cubicBezTo>
                    <a:pt x="7724" y="94"/>
                    <a:pt x="7703" y="72"/>
                    <a:pt x="7703" y="47"/>
                  </a:cubicBezTo>
                  <a:cubicBezTo>
                    <a:pt x="7703" y="21"/>
                    <a:pt x="7724" y="0"/>
                    <a:pt x="7750" y="0"/>
                  </a:cubicBezTo>
                  <a:cubicBezTo>
                    <a:pt x="7775" y="0"/>
                    <a:pt x="7797" y="21"/>
                    <a:pt x="7797" y="47"/>
                  </a:cubicBezTo>
                  <a:close/>
                  <a:moveTo>
                    <a:pt x="7897" y="47"/>
                  </a:moveTo>
                  <a:cubicBezTo>
                    <a:pt x="7897" y="72"/>
                    <a:pt x="7875" y="94"/>
                    <a:pt x="7850" y="94"/>
                  </a:cubicBezTo>
                  <a:cubicBezTo>
                    <a:pt x="7824" y="94"/>
                    <a:pt x="7803" y="72"/>
                    <a:pt x="7803" y="47"/>
                  </a:cubicBezTo>
                  <a:cubicBezTo>
                    <a:pt x="7803" y="21"/>
                    <a:pt x="7824" y="0"/>
                    <a:pt x="7850" y="0"/>
                  </a:cubicBezTo>
                  <a:cubicBezTo>
                    <a:pt x="7875" y="0"/>
                    <a:pt x="7897" y="21"/>
                    <a:pt x="7897" y="47"/>
                  </a:cubicBezTo>
                  <a:close/>
                  <a:moveTo>
                    <a:pt x="7997" y="47"/>
                  </a:moveTo>
                  <a:cubicBezTo>
                    <a:pt x="7997" y="72"/>
                    <a:pt x="7975" y="94"/>
                    <a:pt x="7950" y="94"/>
                  </a:cubicBezTo>
                  <a:cubicBezTo>
                    <a:pt x="7924" y="94"/>
                    <a:pt x="7903" y="72"/>
                    <a:pt x="7903" y="47"/>
                  </a:cubicBezTo>
                  <a:cubicBezTo>
                    <a:pt x="7903" y="21"/>
                    <a:pt x="7924" y="0"/>
                    <a:pt x="7950" y="0"/>
                  </a:cubicBezTo>
                  <a:cubicBezTo>
                    <a:pt x="7975" y="0"/>
                    <a:pt x="7997" y="21"/>
                    <a:pt x="7997" y="47"/>
                  </a:cubicBezTo>
                  <a:close/>
                  <a:moveTo>
                    <a:pt x="97" y="353"/>
                  </a:moveTo>
                  <a:cubicBezTo>
                    <a:pt x="97" y="378"/>
                    <a:pt x="75" y="400"/>
                    <a:pt x="50" y="400"/>
                  </a:cubicBezTo>
                  <a:cubicBezTo>
                    <a:pt x="24" y="400"/>
                    <a:pt x="3" y="378"/>
                    <a:pt x="3" y="353"/>
                  </a:cubicBezTo>
                  <a:cubicBezTo>
                    <a:pt x="3" y="327"/>
                    <a:pt x="24" y="306"/>
                    <a:pt x="50" y="306"/>
                  </a:cubicBezTo>
                  <a:cubicBezTo>
                    <a:pt x="75" y="306"/>
                    <a:pt x="97" y="327"/>
                    <a:pt x="97" y="353"/>
                  </a:cubicBezTo>
                  <a:close/>
                  <a:moveTo>
                    <a:pt x="197" y="353"/>
                  </a:moveTo>
                  <a:cubicBezTo>
                    <a:pt x="197" y="378"/>
                    <a:pt x="175" y="400"/>
                    <a:pt x="150" y="400"/>
                  </a:cubicBezTo>
                  <a:cubicBezTo>
                    <a:pt x="124" y="400"/>
                    <a:pt x="103" y="378"/>
                    <a:pt x="103" y="353"/>
                  </a:cubicBezTo>
                  <a:cubicBezTo>
                    <a:pt x="103" y="327"/>
                    <a:pt x="124" y="306"/>
                    <a:pt x="150" y="306"/>
                  </a:cubicBezTo>
                  <a:cubicBezTo>
                    <a:pt x="175" y="306"/>
                    <a:pt x="197" y="327"/>
                    <a:pt x="197" y="353"/>
                  </a:cubicBezTo>
                  <a:close/>
                  <a:moveTo>
                    <a:pt x="297" y="353"/>
                  </a:moveTo>
                  <a:cubicBezTo>
                    <a:pt x="297" y="378"/>
                    <a:pt x="275" y="400"/>
                    <a:pt x="250" y="400"/>
                  </a:cubicBezTo>
                  <a:cubicBezTo>
                    <a:pt x="224" y="400"/>
                    <a:pt x="203" y="378"/>
                    <a:pt x="203" y="353"/>
                  </a:cubicBezTo>
                  <a:cubicBezTo>
                    <a:pt x="203" y="327"/>
                    <a:pt x="224" y="306"/>
                    <a:pt x="250" y="306"/>
                  </a:cubicBezTo>
                  <a:cubicBezTo>
                    <a:pt x="275" y="306"/>
                    <a:pt x="297" y="327"/>
                    <a:pt x="297" y="353"/>
                  </a:cubicBezTo>
                  <a:close/>
                  <a:moveTo>
                    <a:pt x="397" y="353"/>
                  </a:moveTo>
                  <a:cubicBezTo>
                    <a:pt x="397" y="378"/>
                    <a:pt x="375" y="400"/>
                    <a:pt x="350" y="400"/>
                  </a:cubicBezTo>
                  <a:cubicBezTo>
                    <a:pt x="324" y="400"/>
                    <a:pt x="303" y="378"/>
                    <a:pt x="303" y="353"/>
                  </a:cubicBezTo>
                  <a:cubicBezTo>
                    <a:pt x="303" y="327"/>
                    <a:pt x="324" y="306"/>
                    <a:pt x="350" y="306"/>
                  </a:cubicBezTo>
                  <a:cubicBezTo>
                    <a:pt x="375" y="306"/>
                    <a:pt x="397" y="327"/>
                    <a:pt x="397" y="353"/>
                  </a:cubicBezTo>
                  <a:close/>
                  <a:moveTo>
                    <a:pt x="497" y="353"/>
                  </a:moveTo>
                  <a:cubicBezTo>
                    <a:pt x="497" y="378"/>
                    <a:pt x="475" y="400"/>
                    <a:pt x="450" y="400"/>
                  </a:cubicBezTo>
                  <a:cubicBezTo>
                    <a:pt x="424" y="400"/>
                    <a:pt x="403" y="378"/>
                    <a:pt x="403" y="353"/>
                  </a:cubicBezTo>
                  <a:cubicBezTo>
                    <a:pt x="403" y="327"/>
                    <a:pt x="424" y="306"/>
                    <a:pt x="450" y="306"/>
                  </a:cubicBezTo>
                  <a:cubicBezTo>
                    <a:pt x="475" y="306"/>
                    <a:pt x="497" y="327"/>
                    <a:pt x="497" y="353"/>
                  </a:cubicBezTo>
                  <a:close/>
                  <a:moveTo>
                    <a:pt x="597" y="353"/>
                  </a:moveTo>
                  <a:cubicBezTo>
                    <a:pt x="597" y="378"/>
                    <a:pt x="575" y="400"/>
                    <a:pt x="550" y="400"/>
                  </a:cubicBezTo>
                  <a:cubicBezTo>
                    <a:pt x="524" y="400"/>
                    <a:pt x="503" y="378"/>
                    <a:pt x="503" y="353"/>
                  </a:cubicBezTo>
                  <a:cubicBezTo>
                    <a:pt x="503" y="327"/>
                    <a:pt x="524" y="306"/>
                    <a:pt x="550" y="306"/>
                  </a:cubicBezTo>
                  <a:cubicBezTo>
                    <a:pt x="575" y="306"/>
                    <a:pt x="597" y="327"/>
                    <a:pt x="597" y="353"/>
                  </a:cubicBezTo>
                  <a:close/>
                  <a:moveTo>
                    <a:pt x="697" y="353"/>
                  </a:moveTo>
                  <a:cubicBezTo>
                    <a:pt x="697" y="378"/>
                    <a:pt x="675" y="400"/>
                    <a:pt x="650" y="400"/>
                  </a:cubicBezTo>
                  <a:cubicBezTo>
                    <a:pt x="624" y="400"/>
                    <a:pt x="603" y="378"/>
                    <a:pt x="603" y="353"/>
                  </a:cubicBezTo>
                  <a:cubicBezTo>
                    <a:pt x="603" y="327"/>
                    <a:pt x="624" y="306"/>
                    <a:pt x="650" y="306"/>
                  </a:cubicBezTo>
                  <a:cubicBezTo>
                    <a:pt x="675" y="306"/>
                    <a:pt x="697" y="327"/>
                    <a:pt x="697" y="353"/>
                  </a:cubicBezTo>
                  <a:close/>
                  <a:moveTo>
                    <a:pt x="797" y="353"/>
                  </a:moveTo>
                  <a:cubicBezTo>
                    <a:pt x="797" y="378"/>
                    <a:pt x="775" y="400"/>
                    <a:pt x="750" y="400"/>
                  </a:cubicBezTo>
                  <a:cubicBezTo>
                    <a:pt x="724" y="400"/>
                    <a:pt x="703" y="378"/>
                    <a:pt x="703" y="353"/>
                  </a:cubicBezTo>
                  <a:cubicBezTo>
                    <a:pt x="703" y="327"/>
                    <a:pt x="724" y="306"/>
                    <a:pt x="750" y="306"/>
                  </a:cubicBezTo>
                  <a:cubicBezTo>
                    <a:pt x="775" y="306"/>
                    <a:pt x="797" y="327"/>
                    <a:pt x="797" y="353"/>
                  </a:cubicBezTo>
                  <a:close/>
                  <a:moveTo>
                    <a:pt x="897" y="353"/>
                  </a:moveTo>
                  <a:cubicBezTo>
                    <a:pt x="897" y="378"/>
                    <a:pt x="875" y="400"/>
                    <a:pt x="850" y="400"/>
                  </a:cubicBezTo>
                  <a:cubicBezTo>
                    <a:pt x="824" y="400"/>
                    <a:pt x="803" y="378"/>
                    <a:pt x="803" y="353"/>
                  </a:cubicBezTo>
                  <a:cubicBezTo>
                    <a:pt x="803" y="327"/>
                    <a:pt x="824" y="306"/>
                    <a:pt x="850" y="306"/>
                  </a:cubicBezTo>
                  <a:cubicBezTo>
                    <a:pt x="875" y="306"/>
                    <a:pt x="897" y="327"/>
                    <a:pt x="897" y="353"/>
                  </a:cubicBezTo>
                  <a:close/>
                  <a:moveTo>
                    <a:pt x="997" y="353"/>
                  </a:moveTo>
                  <a:cubicBezTo>
                    <a:pt x="997" y="378"/>
                    <a:pt x="975" y="400"/>
                    <a:pt x="950" y="400"/>
                  </a:cubicBezTo>
                  <a:cubicBezTo>
                    <a:pt x="924" y="400"/>
                    <a:pt x="903" y="378"/>
                    <a:pt x="903" y="353"/>
                  </a:cubicBezTo>
                  <a:cubicBezTo>
                    <a:pt x="903" y="327"/>
                    <a:pt x="924" y="306"/>
                    <a:pt x="950" y="306"/>
                  </a:cubicBezTo>
                  <a:cubicBezTo>
                    <a:pt x="975" y="306"/>
                    <a:pt x="997" y="327"/>
                    <a:pt x="997" y="353"/>
                  </a:cubicBezTo>
                  <a:close/>
                  <a:moveTo>
                    <a:pt x="1097" y="353"/>
                  </a:moveTo>
                  <a:cubicBezTo>
                    <a:pt x="1097" y="378"/>
                    <a:pt x="1075" y="400"/>
                    <a:pt x="1050" y="400"/>
                  </a:cubicBezTo>
                  <a:cubicBezTo>
                    <a:pt x="1024" y="400"/>
                    <a:pt x="1003" y="378"/>
                    <a:pt x="1003" y="353"/>
                  </a:cubicBezTo>
                  <a:cubicBezTo>
                    <a:pt x="1003" y="327"/>
                    <a:pt x="1024" y="306"/>
                    <a:pt x="1050" y="306"/>
                  </a:cubicBezTo>
                  <a:cubicBezTo>
                    <a:pt x="1075" y="306"/>
                    <a:pt x="1097" y="327"/>
                    <a:pt x="1097" y="353"/>
                  </a:cubicBezTo>
                  <a:close/>
                  <a:moveTo>
                    <a:pt x="1197" y="353"/>
                  </a:moveTo>
                  <a:cubicBezTo>
                    <a:pt x="1197" y="378"/>
                    <a:pt x="1175" y="400"/>
                    <a:pt x="1150" y="400"/>
                  </a:cubicBezTo>
                  <a:cubicBezTo>
                    <a:pt x="1124" y="400"/>
                    <a:pt x="1103" y="378"/>
                    <a:pt x="1103" y="353"/>
                  </a:cubicBezTo>
                  <a:cubicBezTo>
                    <a:pt x="1103" y="327"/>
                    <a:pt x="1124" y="306"/>
                    <a:pt x="1150" y="306"/>
                  </a:cubicBezTo>
                  <a:cubicBezTo>
                    <a:pt x="1175" y="306"/>
                    <a:pt x="1197" y="327"/>
                    <a:pt x="1197" y="353"/>
                  </a:cubicBezTo>
                  <a:close/>
                  <a:moveTo>
                    <a:pt x="1297" y="353"/>
                  </a:moveTo>
                  <a:cubicBezTo>
                    <a:pt x="1297" y="378"/>
                    <a:pt x="1275" y="400"/>
                    <a:pt x="1250" y="400"/>
                  </a:cubicBezTo>
                  <a:cubicBezTo>
                    <a:pt x="1224" y="400"/>
                    <a:pt x="1203" y="378"/>
                    <a:pt x="1203" y="353"/>
                  </a:cubicBezTo>
                  <a:cubicBezTo>
                    <a:pt x="1203" y="327"/>
                    <a:pt x="1224" y="306"/>
                    <a:pt x="1250" y="306"/>
                  </a:cubicBezTo>
                  <a:cubicBezTo>
                    <a:pt x="1275" y="306"/>
                    <a:pt x="1297" y="327"/>
                    <a:pt x="1297" y="353"/>
                  </a:cubicBezTo>
                  <a:close/>
                  <a:moveTo>
                    <a:pt x="1397" y="353"/>
                  </a:moveTo>
                  <a:cubicBezTo>
                    <a:pt x="1397" y="378"/>
                    <a:pt x="1375" y="400"/>
                    <a:pt x="1350" y="400"/>
                  </a:cubicBezTo>
                  <a:cubicBezTo>
                    <a:pt x="1324" y="400"/>
                    <a:pt x="1303" y="378"/>
                    <a:pt x="1303" y="353"/>
                  </a:cubicBezTo>
                  <a:cubicBezTo>
                    <a:pt x="1303" y="327"/>
                    <a:pt x="1324" y="306"/>
                    <a:pt x="1350" y="306"/>
                  </a:cubicBezTo>
                  <a:cubicBezTo>
                    <a:pt x="1375" y="306"/>
                    <a:pt x="1397" y="327"/>
                    <a:pt x="1397" y="353"/>
                  </a:cubicBezTo>
                  <a:close/>
                  <a:moveTo>
                    <a:pt x="1497" y="353"/>
                  </a:moveTo>
                  <a:cubicBezTo>
                    <a:pt x="1497" y="378"/>
                    <a:pt x="1475" y="400"/>
                    <a:pt x="1450" y="400"/>
                  </a:cubicBezTo>
                  <a:cubicBezTo>
                    <a:pt x="1424" y="400"/>
                    <a:pt x="1403" y="378"/>
                    <a:pt x="1403" y="353"/>
                  </a:cubicBezTo>
                  <a:cubicBezTo>
                    <a:pt x="1403" y="327"/>
                    <a:pt x="1424" y="306"/>
                    <a:pt x="1450" y="306"/>
                  </a:cubicBezTo>
                  <a:cubicBezTo>
                    <a:pt x="1475" y="306"/>
                    <a:pt x="1497" y="327"/>
                    <a:pt x="1497" y="353"/>
                  </a:cubicBezTo>
                  <a:close/>
                  <a:moveTo>
                    <a:pt x="1597" y="353"/>
                  </a:moveTo>
                  <a:cubicBezTo>
                    <a:pt x="1597" y="378"/>
                    <a:pt x="1575" y="400"/>
                    <a:pt x="1550" y="400"/>
                  </a:cubicBezTo>
                  <a:cubicBezTo>
                    <a:pt x="1524" y="400"/>
                    <a:pt x="1503" y="378"/>
                    <a:pt x="1503" y="353"/>
                  </a:cubicBezTo>
                  <a:cubicBezTo>
                    <a:pt x="1503" y="327"/>
                    <a:pt x="1524" y="306"/>
                    <a:pt x="1550" y="306"/>
                  </a:cubicBezTo>
                  <a:cubicBezTo>
                    <a:pt x="1575" y="306"/>
                    <a:pt x="1597" y="327"/>
                    <a:pt x="1597" y="353"/>
                  </a:cubicBezTo>
                  <a:close/>
                  <a:moveTo>
                    <a:pt x="1697" y="353"/>
                  </a:moveTo>
                  <a:cubicBezTo>
                    <a:pt x="1697" y="378"/>
                    <a:pt x="1675" y="400"/>
                    <a:pt x="1650" y="400"/>
                  </a:cubicBezTo>
                  <a:cubicBezTo>
                    <a:pt x="1624" y="400"/>
                    <a:pt x="1603" y="378"/>
                    <a:pt x="1603" y="353"/>
                  </a:cubicBezTo>
                  <a:cubicBezTo>
                    <a:pt x="1603" y="327"/>
                    <a:pt x="1624" y="306"/>
                    <a:pt x="1650" y="306"/>
                  </a:cubicBezTo>
                  <a:cubicBezTo>
                    <a:pt x="1675" y="306"/>
                    <a:pt x="1697" y="327"/>
                    <a:pt x="1697" y="353"/>
                  </a:cubicBezTo>
                  <a:close/>
                  <a:moveTo>
                    <a:pt x="1797" y="353"/>
                  </a:moveTo>
                  <a:cubicBezTo>
                    <a:pt x="1797" y="378"/>
                    <a:pt x="1775" y="400"/>
                    <a:pt x="1750" y="400"/>
                  </a:cubicBezTo>
                  <a:cubicBezTo>
                    <a:pt x="1724" y="400"/>
                    <a:pt x="1703" y="378"/>
                    <a:pt x="1703" y="353"/>
                  </a:cubicBezTo>
                  <a:cubicBezTo>
                    <a:pt x="1703" y="327"/>
                    <a:pt x="1724" y="306"/>
                    <a:pt x="1750" y="306"/>
                  </a:cubicBezTo>
                  <a:cubicBezTo>
                    <a:pt x="1775" y="306"/>
                    <a:pt x="1797" y="327"/>
                    <a:pt x="1797" y="353"/>
                  </a:cubicBezTo>
                  <a:close/>
                  <a:moveTo>
                    <a:pt x="1897" y="353"/>
                  </a:moveTo>
                  <a:cubicBezTo>
                    <a:pt x="1897" y="378"/>
                    <a:pt x="1875" y="400"/>
                    <a:pt x="1850" y="400"/>
                  </a:cubicBezTo>
                  <a:cubicBezTo>
                    <a:pt x="1824" y="400"/>
                    <a:pt x="1803" y="378"/>
                    <a:pt x="1803" y="353"/>
                  </a:cubicBezTo>
                  <a:cubicBezTo>
                    <a:pt x="1803" y="327"/>
                    <a:pt x="1824" y="306"/>
                    <a:pt x="1850" y="306"/>
                  </a:cubicBezTo>
                  <a:cubicBezTo>
                    <a:pt x="1875" y="306"/>
                    <a:pt x="1897" y="327"/>
                    <a:pt x="1897" y="353"/>
                  </a:cubicBezTo>
                  <a:close/>
                  <a:moveTo>
                    <a:pt x="1997" y="353"/>
                  </a:moveTo>
                  <a:cubicBezTo>
                    <a:pt x="1997" y="378"/>
                    <a:pt x="1975" y="400"/>
                    <a:pt x="1950" y="400"/>
                  </a:cubicBezTo>
                  <a:cubicBezTo>
                    <a:pt x="1924" y="400"/>
                    <a:pt x="1903" y="378"/>
                    <a:pt x="1903" y="353"/>
                  </a:cubicBezTo>
                  <a:cubicBezTo>
                    <a:pt x="1903" y="327"/>
                    <a:pt x="1924" y="306"/>
                    <a:pt x="1950" y="306"/>
                  </a:cubicBezTo>
                  <a:cubicBezTo>
                    <a:pt x="1975" y="306"/>
                    <a:pt x="1997" y="327"/>
                    <a:pt x="1997" y="353"/>
                  </a:cubicBezTo>
                  <a:close/>
                  <a:moveTo>
                    <a:pt x="2097" y="353"/>
                  </a:moveTo>
                  <a:cubicBezTo>
                    <a:pt x="2097" y="378"/>
                    <a:pt x="2075" y="400"/>
                    <a:pt x="2050" y="400"/>
                  </a:cubicBezTo>
                  <a:cubicBezTo>
                    <a:pt x="2024" y="400"/>
                    <a:pt x="2003" y="378"/>
                    <a:pt x="2003" y="353"/>
                  </a:cubicBezTo>
                  <a:cubicBezTo>
                    <a:pt x="2003" y="327"/>
                    <a:pt x="2024" y="306"/>
                    <a:pt x="2050" y="306"/>
                  </a:cubicBezTo>
                  <a:cubicBezTo>
                    <a:pt x="2075" y="306"/>
                    <a:pt x="2097" y="327"/>
                    <a:pt x="2097" y="353"/>
                  </a:cubicBezTo>
                  <a:close/>
                  <a:moveTo>
                    <a:pt x="2197" y="353"/>
                  </a:moveTo>
                  <a:cubicBezTo>
                    <a:pt x="2197" y="378"/>
                    <a:pt x="2175" y="400"/>
                    <a:pt x="2150" y="400"/>
                  </a:cubicBezTo>
                  <a:cubicBezTo>
                    <a:pt x="2124" y="400"/>
                    <a:pt x="2103" y="378"/>
                    <a:pt x="2103" y="353"/>
                  </a:cubicBezTo>
                  <a:cubicBezTo>
                    <a:pt x="2103" y="327"/>
                    <a:pt x="2124" y="306"/>
                    <a:pt x="2150" y="306"/>
                  </a:cubicBezTo>
                  <a:cubicBezTo>
                    <a:pt x="2175" y="306"/>
                    <a:pt x="2197" y="327"/>
                    <a:pt x="2197" y="353"/>
                  </a:cubicBezTo>
                  <a:close/>
                  <a:moveTo>
                    <a:pt x="2297" y="353"/>
                  </a:moveTo>
                  <a:cubicBezTo>
                    <a:pt x="2297" y="378"/>
                    <a:pt x="2275" y="400"/>
                    <a:pt x="2250" y="400"/>
                  </a:cubicBezTo>
                  <a:cubicBezTo>
                    <a:pt x="2224" y="400"/>
                    <a:pt x="2203" y="378"/>
                    <a:pt x="2203" y="353"/>
                  </a:cubicBezTo>
                  <a:cubicBezTo>
                    <a:pt x="2203" y="327"/>
                    <a:pt x="2224" y="306"/>
                    <a:pt x="2250" y="306"/>
                  </a:cubicBezTo>
                  <a:cubicBezTo>
                    <a:pt x="2275" y="306"/>
                    <a:pt x="2297" y="327"/>
                    <a:pt x="2297" y="353"/>
                  </a:cubicBezTo>
                  <a:close/>
                  <a:moveTo>
                    <a:pt x="2397" y="353"/>
                  </a:moveTo>
                  <a:cubicBezTo>
                    <a:pt x="2397" y="378"/>
                    <a:pt x="2375" y="400"/>
                    <a:pt x="2350" y="400"/>
                  </a:cubicBezTo>
                  <a:cubicBezTo>
                    <a:pt x="2324" y="400"/>
                    <a:pt x="2303" y="378"/>
                    <a:pt x="2303" y="353"/>
                  </a:cubicBezTo>
                  <a:cubicBezTo>
                    <a:pt x="2303" y="327"/>
                    <a:pt x="2324" y="306"/>
                    <a:pt x="2350" y="306"/>
                  </a:cubicBezTo>
                  <a:cubicBezTo>
                    <a:pt x="2375" y="306"/>
                    <a:pt x="2397" y="327"/>
                    <a:pt x="2397" y="353"/>
                  </a:cubicBezTo>
                  <a:close/>
                  <a:moveTo>
                    <a:pt x="2497" y="353"/>
                  </a:moveTo>
                  <a:cubicBezTo>
                    <a:pt x="2497" y="378"/>
                    <a:pt x="2475" y="400"/>
                    <a:pt x="2450" y="400"/>
                  </a:cubicBezTo>
                  <a:cubicBezTo>
                    <a:pt x="2424" y="400"/>
                    <a:pt x="2403" y="378"/>
                    <a:pt x="2403" y="353"/>
                  </a:cubicBezTo>
                  <a:cubicBezTo>
                    <a:pt x="2403" y="327"/>
                    <a:pt x="2424" y="306"/>
                    <a:pt x="2450" y="306"/>
                  </a:cubicBezTo>
                  <a:cubicBezTo>
                    <a:pt x="2475" y="306"/>
                    <a:pt x="2497" y="327"/>
                    <a:pt x="2497" y="353"/>
                  </a:cubicBezTo>
                  <a:close/>
                  <a:moveTo>
                    <a:pt x="2597" y="353"/>
                  </a:moveTo>
                  <a:cubicBezTo>
                    <a:pt x="2597" y="378"/>
                    <a:pt x="2575" y="400"/>
                    <a:pt x="2550" y="400"/>
                  </a:cubicBezTo>
                  <a:cubicBezTo>
                    <a:pt x="2524" y="400"/>
                    <a:pt x="2503" y="378"/>
                    <a:pt x="2503" y="353"/>
                  </a:cubicBezTo>
                  <a:cubicBezTo>
                    <a:pt x="2503" y="327"/>
                    <a:pt x="2524" y="306"/>
                    <a:pt x="2550" y="306"/>
                  </a:cubicBezTo>
                  <a:cubicBezTo>
                    <a:pt x="2575" y="306"/>
                    <a:pt x="2597" y="327"/>
                    <a:pt x="2597" y="353"/>
                  </a:cubicBezTo>
                  <a:close/>
                  <a:moveTo>
                    <a:pt x="2697" y="353"/>
                  </a:moveTo>
                  <a:cubicBezTo>
                    <a:pt x="2697" y="378"/>
                    <a:pt x="2675" y="400"/>
                    <a:pt x="2650" y="400"/>
                  </a:cubicBezTo>
                  <a:cubicBezTo>
                    <a:pt x="2624" y="400"/>
                    <a:pt x="2603" y="378"/>
                    <a:pt x="2603" y="353"/>
                  </a:cubicBezTo>
                  <a:cubicBezTo>
                    <a:pt x="2603" y="327"/>
                    <a:pt x="2624" y="306"/>
                    <a:pt x="2650" y="306"/>
                  </a:cubicBezTo>
                  <a:cubicBezTo>
                    <a:pt x="2675" y="306"/>
                    <a:pt x="2697" y="327"/>
                    <a:pt x="2697" y="353"/>
                  </a:cubicBezTo>
                  <a:close/>
                  <a:moveTo>
                    <a:pt x="2797" y="353"/>
                  </a:moveTo>
                  <a:cubicBezTo>
                    <a:pt x="2797" y="378"/>
                    <a:pt x="2775" y="400"/>
                    <a:pt x="2750" y="400"/>
                  </a:cubicBezTo>
                  <a:cubicBezTo>
                    <a:pt x="2724" y="400"/>
                    <a:pt x="2703" y="378"/>
                    <a:pt x="2703" y="353"/>
                  </a:cubicBezTo>
                  <a:cubicBezTo>
                    <a:pt x="2703" y="327"/>
                    <a:pt x="2724" y="306"/>
                    <a:pt x="2750" y="306"/>
                  </a:cubicBezTo>
                  <a:cubicBezTo>
                    <a:pt x="2775" y="306"/>
                    <a:pt x="2797" y="327"/>
                    <a:pt x="2797" y="353"/>
                  </a:cubicBezTo>
                  <a:close/>
                  <a:moveTo>
                    <a:pt x="2897" y="353"/>
                  </a:moveTo>
                  <a:cubicBezTo>
                    <a:pt x="2897" y="378"/>
                    <a:pt x="2875" y="400"/>
                    <a:pt x="2850" y="400"/>
                  </a:cubicBezTo>
                  <a:cubicBezTo>
                    <a:pt x="2824" y="400"/>
                    <a:pt x="2803" y="378"/>
                    <a:pt x="2803" y="353"/>
                  </a:cubicBezTo>
                  <a:cubicBezTo>
                    <a:pt x="2803" y="327"/>
                    <a:pt x="2824" y="306"/>
                    <a:pt x="2850" y="306"/>
                  </a:cubicBezTo>
                  <a:cubicBezTo>
                    <a:pt x="2875" y="306"/>
                    <a:pt x="2897" y="327"/>
                    <a:pt x="2897" y="353"/>
                  </a:cubicBezTo>
                  <a:close/>
                  <a:moveTo>
                    <a:pt x="2997" y="353"/>
                  </a:moveTo>
                  <a:cubicBezTo>
                    <a:pt x="2997" y="378"/>
                    <a:pt x="2975" y="400"/>
                    <a:pt x="2950" y="400"/>
                  </a:cubicBezTo>
                  <a:cubicBezTo>
                    <a:pt x="2924" y="400"/>
                    <a:pt x="2903" y="378"/>
                    <a:pt x="2903" y="353"/>
                  </a:cubicBezTo>
                  <a:cubicBezTo>
                    <a:pt x="2903" y="327"/>
                    <a:pt x="2924" y="306"/>
                    <a:pt x="2950" y="306"/>
                  </a:cubicBezTo>
                  <a:cubicBezTo>
                    <a:pt x="2975" y="306"/>
                    <a:pt x="2997" y="327"/>
                    <a:pt x="2997" y="353"/>
                  </a:cubicBezTo>
                  <a:close/>
                  <a:moveTo>
                    <a:pt x="3097" y="353"/>
                  </a:moveTo>
                  <a:cubicBezTo>
                    <a:pt x="3097" y="378"/>
                    <a:pt x="3075" y="400"/>
                    <a:pt x="3050" y="400"/>
                  </a:cubicBezTo>
                  <a:cubicBezTo>
                    <a:pt x="3024" y="400"/>
                    <a:pt x="3003" y="378"/>
                    <a:pt x="3003" y="353"/>
                  </a:cubicBezTo>
                  <a:cubicBezTo>
                    <a:pt x="3003" y="327"/>
                    <a:pt x="3024" y="306"/>
                    <a:pt x="3050" y="306"/>
                  </a:cubicBezTo>
                  <a:cubicBezTo>
                    <a:pt x="3075" y="306"/>
                    <a:pt x="3097" y="327"/>
                    <a:pt x="3097" y="353"/>
                  </a:cubicBezTo>
                  <a:close/>
                  <a:moveTo>
                    <a:pt x="3197" y="353"/>
                  </a:moveTo>
                  <a:cubicBezTo>
                    <a:pt x="3197" y="378"/>
                    <a:pt x="3175" y="400"/>
                    <a:pt x="3150" y="400"/>
                  </a:cubicBezTo>
                  <a:cubicBezTo>
                    <a:pt x="3124" y="400"/>
                    <a:pt x="3103" y="378"/>
                    <a:pt x="3103" y="353"/>
                  </a:cubicBezTo>
                  <a:cubicBezTo>
                    <a:pt x="3103" y="327"/>
                    <a:pt x="3124" y="306"/>
                    <a:pt x="3150" y="306"/>
                  </a:cubicBezTo>
                  <a:cubicBezTo>
                    <a:pt x="3175" y="306"/>
                    <a:pt x="3197" y="327"/>
                    <a:pt x="3197" y="353"/>
                  </a:cubicBezTo>
                  <a:close/>
                  <a:moveTo>
                    <a:pt x="3297" y="353"/>
                  </a:moveTo>
                  <a:cubicBezTo>
                    <a:pt x="3297" y="378"/>
                    <a:pt x="3275" y="400"/>
                    <a:pt x="3250" y="400"/>
                  </a:cubicBezTo>
                  <a:cubicBezTo>
                    <a:pt x="3224" y="400"/>
                    <a:pt x="3203" y="378"/>
                    <a:pt x="3203" y="353"/>
                  </a:cubicBezTo>
                  <a:cubicBezTo>
                    <a:pt x="3203" y="327"/>
                    <a:pt x="3224" y="306"/>
                    <a:pt x="3250" y="306"/>
                  </a:cubicBezTo>
                  <a:cubicBezTo>
                    <a:pt x="3275" y="306"/>
                    <a:pt x="3297" y="327"/>
                    <a:pt x="3297" y="353"/>
                  </a:cubicBezTo>
                  <a:close/>
                  <a:moveTo>
                    <a:pt x="3397" y="353"/>
                  </a:moveTo>
                  <a:cubicBezTo>
                    <a:pt x="3397" y="378"/>
                    <a:pt x="3375" y="400"/>
                    <a:pt x="3350" y="400"/>
                  </a:cubicBezTo>
                  <a:cubicBezTo>
                    <a:pt x="3324" y="400"/>
                    <a:pt x="3303" y="378"/>
                    <a:pt x="3303" y="353"/>
                  </a:cubicBezTo>
                  <a:cubicBezTo>
                    <a:pt x="3303" y="327"/>
                    <a:pt x="3324" y="306"/>
                    <a:pt x="3350" y="306"/>
                  </a:cubicBezTo>
                  <a:cubicBezTo>
                    <a:pt x="3375" y="306"/>
                    <a:pt x="3397" y="327"/>
                    <a:pt x="3397" y="353"/>
                  </a:cubicBezTo>
                  <a:close/>
                  <a:moveTo>
                    <a:pt x="3497" y="353"/>
                  </a:moveTo>
                  <a:cubicBezTo>
                    <a:pt x="3497" y="378"/>
                    <a:pt x="3475" y="400"/>
                    <a:pt x="3450" y="400"/>
                  </a:cubicBezTo>
                  <a:cubicBezTo>
                    <a:pt x="3424" y="400"/>
                    <a:pt x="3403" y="378"/>
                    <a:pt x="3403" y="353"/>
                  </a:cubicBezTo>
                  <a:cubicBezTo>
                    <a:pt x="3403" y="327"/>
                    <a:pt x="3424" y="306"/>
                    <a:pt x="3450" y="306"/>
                  </a:cubicBezTo>
                  <a:cubicBezTo>
                    <a:pt x="3475" y="306"/>
                    <a:pt x="3497" y="327"/>
                    <a:pt x="3497" y="353"/>
                  </a:cubicBezTo>
                  <a:close/>
                  <a:moveTo>
                    <a:pt x="3597" y="353"/>
                  </a:moveTo>
                  <a:cubicBezTo>
                    <a:pt x="3597" y="378"/>
                    <a:pt x="3575" y="400"/>
                    <a:pt x="3550" y="400"/>
                  </a:cubicBezTo>
                  <a:cubicBezTo>
                    <a:pt x="3524" y="400"/>
                    <a:pt x="3503" y="378"/>
                    <a:pt x="3503" y="353"/>
                  </a:cubicBezTo>
                  <a:cubicBezTo>
                    <a:pt x="3503" y="327"/>
                    <a:pt x="3524" y="306"/>
                    <a:pt x="3550" y="306"/>
                  </a:cubicBezTo>
                  <a:cubicBezTo>
                    <a:pt x="3575" y="306"/>
                    <a:pt x="3597" y="327"/>
                    <a:pt x="3597" y="353"/>
                  </a:cubicBezTo>
                  <a:close/>
                  <a:moveTo>
                    <a:pt x="3697" y="353"/>
                  </a:moveTo>
                  <a:cubicBezTo>
                    <a:pt x="3697" y="378"/>
                    <a:pt x="3675" y="400"/>
                    <a:pt x="3650" y="400"/>
                  </a:cubicBezTo>
                  <a:cubicBezTo>
                    <a:pt x="3624" y="400"/>
                    <a:pt x="3603" y="378"/>
                    <a:pt x="3603" y="353"/>
                  </a:cubicBezTo>
                  <a:cubicBezTo>
                    <a:pt x="3603" y="327"/>
                    <a:pt x="3624" y="306"/>
                    <a:pt x="3650" y="306"/>
                  </a:cubicBezTo>
                  <a:cubicBezTo>
                    <a:pt x="3675" y="306"/>
                    <a:pt x="3697" y="327"/>
                    <a:pt x="3697" y="353"/>
                  </a:cubicBezTo>
                  <a:close/>
                  <a:moveTo>
                    <a:pt x="3797" y="353"/>
                  </a:moveTo>
                  <a:cubicBezTo>
                    <a:pt x="3797" y="378"/>
                    <a:pt x="3775" y="400"/>
                    <a:pt x="3750" y="400"/>
                  </a:cubicBezTo>
                  <a:cubicBezTo>
                    <a:pt x="3724" y="400"/>
                    <a:pt x="3703" y="378"/>
                    <a:pt x="3703" y="353"/>
                  </a:cubicBezTo>
                  <a:cubicBezTo>
                    <a:pt x="3703" y="327"/>
                    <a:pt x="3724" y="306"/>
                    <a:pt x="3750" y="306"/>
                  </a:cubicBezTo>
                  <a:cubicBezTo>
                    <a:pt x="3775" y="306"/>
                    <a:pt x="3797" y="327"/>
                    <a:pt x="3797" y="353"/>
                  </a:cubicBezTo>
                  <a:close/>
                  <a:moveTo>
                    <a:pt x="3897" y="353"/>
                  </a:moveTo>
                  <a:cubicBezTo>
                    <a:pt x="3897" y="378"/>
                    <a:pt x="3875" y="400"/>
                    <a:pt x="3850" y="400"/>
                  </a:cubicBezTo>
                  <a:cubicBezTo>
                    <a:pt x="3824" y="400"/>
                    <a:pt x="3803" y="378"/>
                    <a:pt x="3803" y="353"/>
                  </a:cubicBezTo>
                  <a:cubicBezTo>
                    <a:pt x="3803" y="327"/>
                    <a:pt x="3824" y="306"/>
                    <a:pt x="3850" y="306"/>
                  </a:cubicBezTo>
                  <a:cubicBezTo>
                    <a:pt x="3875" y="306"/>
                    <a:pt x="3897" y="327"/>
                    <a:pt x="3897" y="353"/>
                  </a:cubicBezTo>
                  <a:close/>
                  <a:moveTo>
                    <a:pt x="3997" y="353"/>
                  </a:moveTo>
                  <a:cubicBezTo>
                    <a:pt x="3997" y="378"/>
                    <a:pt x="3975" y="400"/>
                    <a:pt x="3950" y="400"/>
                  </a:cubicBezTo>
                  <a:cubicBezTo>
                    <a:pt x="3924" y="400"/>
                    <a:pt x="3903" y="378"/>
                    <a:pt x="3903" y="353"/>
                  </a:cubicBezTo>
                  <a:cubicBezTo>
                    <a:pt x="3903" y="327"/>
                    <a:pt x="3924" y="306"/>
                    <a:pt x="3950" y="306"/>
                  </a:cubicBezTo>
                  <a:cubicBezTo>
                    <a:pt x="3975" y="306"/>
                    <a:pt x="3997" y="327"/>
                    <a:pt x="3997" y="353"/>
                  </a:cubicBezTo>
                  <a:close/>
                  <a:moveTo>
                    <a:pt x="4097" y="353"/>
                  </a:moveTo>
                  <a:cubicBezTo>
                    <a:pt x="4097" y="378"/>
                    <a:pt x="4075" y="400"/>
                    <a:pt x="4050" y="400"/>
                  </a:cubicBezTo>
                  <a:cubicBezTo>
                    <a:pt x="4024" y="400"/>
                    <a:pt x="4003" y="378"/>
                    <a:pt x="4003" y="353"/>
                  </a:cubicBezTo>
                  <a:cubicBezTo>
                    <a:pt x="4003" y="327"/>
                    <a:pt x="4024" y="306"/>
                    <a:pt x="4050" y="306"/>
                  </a:cubicBezTo>
                  <a:cubicBezTo>
                    <a:pt x="4075" y="306"/>
                    <a:pt x="4097" y="327"/>
                    <a:pt x="4097" y="353"/>
                  </a:cubicBezTo>
                  <a:close/>
                  <a:moveTo>
                    <a:pt x="4197" y="353"/>
                  </a:moveTo>
                  <a:cubicBezTo>
                    <a:pt x="4197" y="378"/>
                    <a:pt x="4175" y="400"/>
                    <a:pt x="4150" y="400"/>
                  </a:cubicBezTo>
                  <a:cubicBezTo>
                    <a:pt x="4124" y="400"/>
                    <a:pt x="4103" y="378"/>
                    <a:pt x="4103" y="353"/>
                  </a:cubicBezTo>
                  <a:cubicBezTo>
                    <a:pt x="4103" y="327"/>
                    <a:pt x="4124" y="306"/>
                    <a:pt x="4150" y="306"/>
                  </a:cubicBezTo>
                  <a:cubicBezTo>
                    <a:pt x="4175" y="306"/>
                    <a:pt x="4197" y="327"/>
                    <a:pt x="4197" y="353"/>
                  </a:cubicBezTo>
                  <a:close/>
                  <a:moveTo>
                    <a:pt x="4297" y="353"/>
                  </a:moveTo>
                  <a:cubicBezTo>
                    <a:pt x="4297" y="378"/>
                    <a:pt x="4275" y="400"/>
                    <a:pt x="4250" y="400"/>
                  </a:cubicBezTo>
                  <a:cubicBezTo>
                    <a:pt x="4224" y="400"/>
                    <a:pt x="4203" y="378"/>
                    <a:pt x="4203" y="353"/>
                  </a:cubicBezTo>
                  <a:cubicBezTo>
                    <a:pt x="4203" y="327"/>
                    <a:pt x="4224" y="306"/>
                    <a:pt x="4250" y="306"/>
                  </a:cubicBezTo>
                  <a:cubicBezTo>
                    <a:pt x="4275" y="306"/>
                    <a:pt x="4297" y="327"/>
                    <a:pt x="4297" y="353"/>
                  </a:cubicBezTo>
                  <a:close/>
                  <a:moveTo>
                    <a:pt x="4397" y="353"/>
                  </a:moveTo>
                  <a:cubicBezTo>
                    <a:pt x="4397" y="378"/>
                    <a:pt x="4375" y="400"/>
                    <a:pt x="4350" y="400"/>
                  </a:cubicBezTo>
                  <a:cubicBezTo>
                    <a:pt x="4324" y="400"/>
                    <a:pt x="4303" y="378"/>
                    <a:pt x="4303" y="353"/>
                  </a:cubicBezTo>
                  <a:cubicBezTo>
                    <a:pt x="4303" y="327"/>
                    <a:pt x="4324" y="306"/>
                    <a:pt x="4350" y="306"/>
                  </a:cubicBezTo>
                  <a:cubicBezTo>
                    <a:pt x="4375" y="306"/>
                    <a:pt x="4397" y="327"/>
                    <a:pt x="4397" y="353"/>
                  </a:cubicBezTo>
                  <a:close/>
                  <a:moveTo>
                    <a:pt x="4497" y="353"/>
                  </a:moveTo>
                  <a:cubicBezTo>
                    <a:pt x="4497" y="378"/>
                    <a:pt x="4475" y="400"/>
                    <a:pt x="4450" y="400"/>
                  </a:cubicBezTo>
                  <a:cubicBezTo>
                    <a:pt x="4424" y="400"/>
                    <a:pt x="4403" y="378"/>
                    <a:pt x="4403" y="353"/>
                  </a:cubicBezTo>
                  <a:cubicBezTo>
                    <a:pt x="4403" y="327"/>
                    <a:pt x="4424" y="306"/>
                    <a:pt x="4450" y="306"/>
                  </a:cubicBezTo>
                  <a:cubicBezTo>
                    <a:pt x="4475" y="306"/>
                    <a:pt x="4497" y="327"/>
                    <a:pt x="4497" y="353"/>
                  </a:cubicBezTo>
                  <a:close/>
                  <a:moveTo>
                    <a:pt x="4597" y="353"/>
                  </a:moveTo>
                  <a:cubicBezTo>
                    <a:pt x="4597" y="378"/>
                    <a:pt x="4575" y="400"/>
                    <a:pt x="4550" y="400"/>
                  </a:cubicBezTo>
                  <a:cubicBezTo>
                    <a:pt x="4524" y="400"/>
                    <a:pt x="4503" y="378"/>
                    <a:pt x="4503" y="353"/>
                  </a:cubicBezTo>
                  <a:cubicBezTo>
                    <a:pt x="4503" y="327"/>
                    <a:pt x="4524" y="306"/>
                    <a:pt x="4550" y="306"/>
                  </a:cubicBezTo>
                  <a:cubicBezTo>
                    <a:pt x="4575" y="306"/>
                    <a:pt x="4597" y="327"/>
                    <a:pt x="4597" y="353"/>
                  </a:cubicBezTo>
                  <a:close/>
                  <a:moveTo>
                    <a:pt x="4697" y="353"/>
                  </a:moveTo>
                  <a:cubicBezTo>
                    <a:pt x="4697" y="378"/>
                    <a:pt x="4675" y="400"/>
                    <a:pt x="4650" y="400"/>
                  </a:cubicBezTo>
                  <a:cubicBezTo>
                    <a:pt x="4624" y="400"/>
                    <a:pt x="4603" y="378"/>
                    <a:pt x="4603" y="353"/>
                  </a:cubicBezTo>
                  <a:cubicBezTo>
                    <a:pt x="4603" y="327"/>
                    <a:pt x="4624" y="306"/>
                    <a:pt x="4650" y="306"/>
                  </a:cubicBezTo>
                  <a:cubicBezTo>
                    <a:pt x="4675" y="306"/>
                    <a:pt x="4697" y="327"/>
                    <a:pt x="4697" y="353"/>
                  </a:cubicBezTo>
                  <a:close/>
                  <a:moveTo>
                    <a:pt x="4797" y="353"/>
                  </a:moveTo>
                  <a:cubicBezTo>
                    <a:pt x="4797" y="378"/>
                    <a:pt x="4775" y="400"/>
                    <a:pt x="4750" y="400"/>
                  </a:cubicBezTo>
                  <a:cubicBezTo>
                    <a:pt x="4724" y="400"/>
                    <a:pt x="4703" y="378"/>
                    <a:pt x="4703" y="353"/>
                  </a:cubicBezTo>
                  <a:cubicBezTo>
                    <a:pt x="4703" y="327"/>
                    <a:pt x="4724" y="306"/>
                    <a:pt x="4750" y="306"/>
                  </a:cubicBezTo>
                  <a:cubicBezTo>
                    <a:pt x="4775" y="306"/>
                    <a:pt x="4797" y="327"/>
                    <a:pt x="4797" y="353"/>
                  </a:cubicBezTo>
                  <a:close/>
                  <a:moveTo>
                    <a:pt x="4897" y="353"/>
                  </a:moveTo>
                  <a:cubicBezTo>
                    <a:pt x="4897" y="378"/>
                    <a:pt x="4875" y="400"/>
                    <a:pt x="4850" y="400"/>
                  </a:cubicBezTo>
                  <a:cubicBezTo>
                    <a:pt x="4824" y="400"/>
                    <a:pt x="4803" y="378"/>
                    <a:pt x="4803" y="353"/>
                  </a:cubicBezTo>
                  <a:cubicBezTo>
                    <a:pt x="4803" y="327"/>
                    <a:pt x="4824" y="306"/>
                    <a:pt x="4850" y="306"/>
                  </a:cubicBezTo>
                  <a:cubicBezTo>
                    <a:pt x="4875" y="306"/>
                    <a:pt x="4897" y="327"/>
                    <a:pt x="4897" y="353"/>
                  </a:cubicBezTo>
                  <a:close/>
                  <a:moveTo>
                    <a:pt x="4997" y="353"/>
                  </a:moveTo>
                  <a:cubicBezTo>
                    <a:pt x="4997" y="378"/>
                    <a:pt x="4975" y="400"/>
                    <a:pt x="4950" y="400"/>
                  </a:cubicBezTo>
                  <a:cubicBezTo>
                    <a:pt x="4924" y="400"/>
                    <a:pt x="4903" y="378"/>
                    <a:pt x="4903" y="353"/>
                  </a:cubicBezTo>
                  <a:cubicBezTo>
                    <a:pt x="4903" y="327"/>
                    <a:pt x="4924" y="306"/>
                    <a:pt x="4950" y="306"/>
                  </a:cubicBezTo>
                  <a:cubicBezTo>
                    <a:pt x="4975" y="306"/>
                    <a:pt x="4997" y="327"/>
                    <a:pt x="4997" y="353"/>
                  </a:cubicBezTo>
                  <a:close/>
                  <a:moveTo>
                    <a:pt x="5097" y="353"/>
                  </a:moveTo>
                  <a:cubicBezTo>
                    <a:pt x="5097" y="378"/>
                    <a:pt x="5075" y="400"/>
                    <a:pt x="5050" y="400"/>
                  </a:cubicBezTo>
                  <a:cubicBezTo>
                    <a:pt x="5024" y="400"/>
                    <a:pt x="5003" y="378"/>
                    <a:pt x="5003" y="353"/>
                  </a:cubicBezTo>
                  <a:cubicBezTo>
                    <a:pt x="5003" y="327"/>
                    <a:pt x="5024" y="306"/>
                    <a:pt x="5050" y="306"/>
                  </a:cubicBezTo>
                  <a:cubicBezTo>
                    <a:pt x="5075" y="306"/>
                    <a:pt x="5097" y="327"/>
                    <a:pt x="5097" y="353"/>
                  </a:cubicBezTo>
                  <a:close/>
                  <a:moveTo>
                    <a:pt x="5197" y="353"/>
                  </a:moveTo>
                  <a:cubicBezTo>
                    <a:pt x="5197" y="378"/>
                    <a:pt x="5175" y="400"/>
                    <a:pt x="5150" y="400"/>
                  </a:cubicBezTo>
                  <a:cubicBezTo>
                    <a:pt x="5124" y="400"/>
                    <a:pt x="5103" y="378"/>
                    <a:pt x="5103" y="353"/>
                  </a:cubicBezTo>
                  <a:cubicBezTo>
                    <a:pt x="5103" y="327"/>
                    <a:pt x="5124" y="306"/>
                    <a:pt x="5150" y="306"/>
                  </a:cubicBezTo>
                  <a:cubicBezTo>
                    <a:pt x="5175" y="306"/>
                    <a:pt x="5197" y="327"/>
                    <a:pt x="5197" y="353"/>
                  </a:cubicBezTo>
                  <a:close/>
                  <a:moveTo>
                    <a:pt x="5297" y="353"/>
                  </a:moveTo>
                  <a:cubicBezTo>
                    <a:pt x="5297" y="378"/>
                    <a:pt x="5275" y="400"/>
                    <a:pt x="5250" y="400"/>
                  </a:cubicBezTo>
                  <a:cubicBezTo>
                    <a:pt x="5224" y="400"/>
                    <a:pt x="5203" y="378"/>
                    <a:pt x="5203" y="353"/>
                  </a:cubicBezTo>
                  <a:cubicBezTo>
                    <a:pt x="5203" y="327"/>
                    <a:pt x="5224" y="306"/>
                    <a:pt x="5250" y="306"/>
                  </a:cubicBezTo>
                  <a:cubicBezTo>
                    <a:pt x="5275" y="306"/>
                    <a:pt x="5297" y="327"/>
                    <a:pt x="5297" y="353"/>
                  </a:cubicBezTo>
                  <a:close/>
                  <a:moveTo>
                    <a:pt x="5397" y="353"/>
                  </a:moveTo>
                  <a:cubicBezTo>
                    <a:pt x="5397" y="378"/>
                    <a:pt x="5375" y="400"/>
                    <a:pt x="5350" y="400"/>
                  </a:cubicBezTo>
                  <a:cubicBezTo>
                    <a:pt x="5324" y="400"/>
                    <a:pt x="5303" y="378"/>
                    <a:pt x="5303" y="353"/>
                  </a:cubicBezTo>
                  <a:cubicBezTo>
                    <a:pt x="5303" y="327"/>
                    <a:pt x="5324" y="306"/>
                    <a:pt x="5350" y="306"/>
                  </a:cubicBezTo>
                  <a:cubicBezTo>
                    <a:pt x="5375" y="306"/>
                    <a:pt x="5397" y="327"/>
                    <a:pt x="5397" y="353"/>
                  </a:cubicBezTo>
                  <a:close/>
                  <a:moveTo>
                    <a:pt x="5497" y="353"/>
                  </a:moveTo>
                  <a:cubicBezTo>
                    <a:pt x="5497" y="378"/>
                    <a:pt x="5475" y="400"/>
                    <a:pt x="5450" y="400"/>
                  </a:cubicBezTo>
                  <a:cubicBezTo>
                    <a:pt x="5424" y="400"/>
                    <a:pt x="5403" y="378"/>
                    <a:pt x="5403" y="353"/>
                  </a:cubicBezTo>
                  <a:cubicBezTo>
                    <a:pt x="5403" y="327"/>
                    <a:pt x="5424" y="306"/>
                    <a:pt x="5450" y="306"/>
                  </a:cubicBezTo>
                  <a:cubicBezTo>
                    <a:pt x="5475" y="306"/>
                    <a:pt x="5497" y="327"/>
                    <a:pt x="5497" y="353"/>
                  </a:cubicBezTo>
                  <a:close/>
                  <a:moveTo>
                    <a:pt x="5597" y="353"/>
                  </a:moveTo>
                  <a:cubicBezTo>
                    <a:pt x="5597" y="378"/>
                    <a:pt x="5575" y="400"/>
                    <a:pt x="5550" y="400"/>
                  </a:cubicBezTo>
                  <a:cubicBezTo>
                    <a:pt x="5524" y="400"/>
                    <a:pt x="5503" y="378"/>
                    <a:pt x="5503" y="353"/>
                  </a:cubicBezTo>
                  <a:cubicBezTo>
                    <a:pt x="5503" y="327"/>
                    <a:pt x="5524" y="306"/>
                    <a:pt x="5550" y="306"/>
                  </a:cubicBezTo>
                  <a:cubicBezTo>
                    <a:pt x="5575" y="306"/>
                    <a:pt x="5597" y="327"/>
                    <a:pt x="5597" y="353"/>
                  </a:cubicBezTo>
                  <a:close/>
                  <a:moveTo>
                    <a:pt x="5697" y="353"/>
                  </a:moveTo>
                  <a:cubicBezTo>
                    <a:pt x="5697" y="378"/>
                    <a:pt x="5675" y="400"/>
                    <a:pt x="5650" y="400"/>
                  </a:cubicBezTo>
                  <a:cubicBezTo>
                    <a:pt x="5624" y="400"/>
                    <a:pt x="5603" y="378"/>
                    <a:pt x="5603" y="353"/>
                  </a:cubicBezTo>
                  <a:cubicBezTo>
                    <a:pt x="5603" y="327"/>
                    <a:pt x="5624" y="306"/>
                    <a:pt x="5650" y="306"/>
                  </a:cubicBezTo>
                  <a:cubicBezTo>
                    <a:pt x="5675" y="306"/>
                    <a:pt x="5697" y="327"/>
                    <a:pt x="5697" y="353"/>
                  </a:cubicBezTo>
                  <a:close/>
                  <a:moveTo>
                    <a:pt x="5797" y="353"/>
                  </a:moveTo>
                  <a:cubicBezTo>
                    <a:pt x="5797" y="378"/>
                    <a:pt x="5775" y="400"/>
                    <a:pt x="5750" y="400"/>
                  </a:cubicBezTo>
                  <a:cubicBezTo>
                    <a:pt x="5724" y="400"/>
                    <a:pt x="5703" y="378"/>
                    <a:pt x="5703" y="353"/>
                  </a:cubicBezTo>
                  <a:cubicBezTo>
                    <a:pt x="5703" y="327"/>
                    <a:pt x="5724" y="306"/>
                    <a:pt x="5750" y="306"/>
                  </a:cubicBezTo>
                  <a:cubicBezTo>
                    <a:pt x="5775" y="306"/>
                    <a:pt x="5797" y="327"/>
                    <a:pt x="5797" y="353"/>
                  </a:cubicBezTo>
                  <a:close/>
                  <a:moveTo>
                    <a:pt x="5897" y="353"/>
                  </a:moveTo>
                  <a:cubicBezTo>
                    <a:pt x="5897" y="378"/>
                    <a:pt x="5875" y="400"/>
                    <a:pt x="5850" y="400"/>
                  </a:cubicBezTo>
                  <a:cubicBezTo>
                    <a:pt x="5824" y="400"/>
                    <a:pt x="5803" y="378"/>
                    <a:pt x="5803" y="353"/>
                  </a:cubicBezTo>
                  <a:cubicBezTo>
                    <a:pt x="5803" y="327"/>
                    <a:pt x="5824" y="306"/>
                    <a:pt x="5850" y="306"/>
                  </a:cubicBezTo>
                  <a:cubicBezTo>
                    <a:pt x="5875" y="306"/>
                    <a:pt x="5897" y="327"/>
                    <a:pt x="5897" y="353"/>
                  </a:cubicBezTo>
                  <a:close/>
                  <a:moveTo>
                    <a:pt x="5997" y="353"/>
                  </a:moveTo>
                  <a:cubicBezTo>
                    <a:pt x="5997" y="378"/>
                    <a:pt x="5975" y="400"/>
                    <a:pt x="5950" y="400"/>
                  </a:cubicBezTo>
                  <a:cubicBezTo>
                    <a:pt x="5924" y="400"/>
                    <a:pt x="5903" y="378"/>
                    <a:pt x="5903" y="353"/>
                  </a:cubicBezTo>
                  <a:cubicBezTo>
                    <a:pt x="5903" y="327"/>
                    <a:pt x="5924" y="306"/>
                    <a:pt x="5950" y="306"/>
                  </a:cubicBezTo>
                  <a:cubicBezTo>
                    <a:pt x="5975" y="306"/>
                    <a:pt x="5997" y="327"/>
                    <a:pt x="5997" y="353"/>
                  </a:cubicBezTo>
                  <a:close/>
                  <a:moveTo>
                    <a:pt x="6097" y="353"/>
                  </a:moveTo>
                  <a:cubicBezTo>
                    <a:pt x="6097" y="378"/>
                    <a:pt x="6075" y="400"/>
                    <a:pt x="6050" y="400"/>
                  </a:cubicBezTo>
                  <a:cubicBezTo>
                    <a:pt x="6024" y="400"/>
                    <a:pt x="6003" y="378"/>
                    <a:pt x="6003" y="353"/>
                  </a:cubicBezTo>
                  <a:cubicBezTo>
                    <a:pt x="6003" y="327"/>
                    <a:pt x="6024" y="306"/>
                    <a:pt x="6050" y="306"/>
                  </a:cubicBezTo>
                  <a:cubicBezTo>
                    <a:pt x="6075" y="306"/>
                    <a:pt x="6097" y="327"/>
                    <a:pt x="6097" y="353"/>
                  </a:cubicBezTo>
                  <a:close/>
                  <a:moveTo>
                    <a:pt x="6197" y="353"/>
                  </a:moveTo>
                  <a:cubicBezTo>
                    <a:pt x="6197" y="378"/>
                    <a:pt x="6175" y="400"/>
                    <a:pt x="6150" y="400"/>
                  </a:cubicBezTo>
                  <a:cubicBezTo>
                    <a:pt x="6124" y="400"/>
                    <a:pt x="6103" y="378"/>
                    <a:pt x="6103" y="353"/>
                  </a:cubicBezTo>
                  <a:cubicBezTo>
                    <a:pt x="6103" y="327"/>
                    <a:pt x="6124" y="306"/>
                    <a:pt x="6150" y="306"/>
                  </a:cubicBezTo>
                  <a:cubicBezTo>
                    <a:pt x="6175" y="306"/>
                    <a:pt x="6197" y="327"/>
                    <a:pt x="6197" y="353"/>
                  </a:cubicBezTo>
                  <a:close/>
                  <a:moveTo>
                    <a:pt x="6297" y="353"/>
                  </a:moveTo>
                  <a:cubicBezTo>
                    <a:pt x="6297" y="378"/>
                    <a:pt x="6275" y="400"/>
                    <a:pt x="6250" y="400"/>
                  </a:cubicBezTo>
                  <a:cubicBezTo>
                    <a:pt x="6224" y="400"/>
                    <a:pt x="6203" y="378"/>
                    <a:pt x="6203" y="353"/>
                  </a:cubicBezTo>
                  <a:cubicBezTo>
                    <a:pt x="6203" y="327"/>
                    <a:pt x="6224" y="306"/>
                    <a:pt x="6250" y="306"/>
                  </a:cubicBezTo>
                  <a:cubicBezTo>
                    <a:pt x="6275" y="306"/>
                    <a:pt x="6297" y="327"/>
                    <a:pt x="6297" y="353"/>
                  </a:cubicBezTo>
                  <a:close/>
                  <a:moveTo>
                    <a:pt x="6397" y="353"/>
                  </a:moveTo>
                  <a:cubicBezTo>
                    <a:pt x="6397" y="378"/>
                    <a:pt x="6375" y="400"/>
                    <a:pt x="6350" y="400"/>
                  </a:cubicBezTo>
                  <a:cubicBezTo>
                    <a:pt x="6324" y="400"/>
                    <a:pt x="6303" y="378"/>
                    <a:pt x="6303" y="353"/>
                  </a:cubicBezTo>
                  <a:cubicBezTo>
                    <a:pt x="6303" y="327"/>
                    <a:pt x="6324" y="306"/>
                    <a:pt x="6350" y="306"/>
                  </a:cubicBezTo>
                  <a:cubicBezTo>
                    <a:pt x="6375" y="306"/>
                    <a:pt x="6397" y="327"/>
                    <a:pt x="6397" y="353"/>
                  </a:cubicBezTo>
                  <a:close/>
                  <a:moveTo>
                    <a:pt x="6497" y="353"/>
                  </a:moveTo>
                  <a:cubicBezTo>
                    <a:pt x="6497" y="378"/>
                    <a:pt x="6475" y="400"/>
                    <a:pt x="6450" y="400"/>
                  </a:cubicBezTo>
                  <a:cubicBezTo>
                    <a:pt x="6424" y="400"/>
                    <a:pt x="6403" y="378"/>
                    <a:pt x="6403" y="353"/>
                  </a:cubicBezTo>
                  <a:cubicBezTo>
                    <a:pt x="6403" y="327"/>
                    <a:pt x="6424" y="306"/>
                    <a:pt x="6450" y="306"/>
                  </a:cubicBezTo>
                  <a:cubicBezTo>
                    <a:pt x="6475" y="306"/>
                    <a:pt x="6497" y="327"/>
                    <a:pt x="6497" y="353"/>
                  </a:cubicBezTo>
                  <a:close/>
                  <a:moveTo>
                    <a:pt x="6597" y="353"/>
                  </a:moveTo>
                  <a:cubicBezTo>
                    <a:pt x="6597" y="378"/>
                    <a:pt x="6575" y="400"/>
                    <a:pt x="6550" y="400"/>
                  </a:cubicBezTo>
                  <a:cubicBezTo>
                    <a:pt x="6524" y="400"/>
                    <a:pt x="6503" y="378"/>
                    <a:pt x="6503" y="353"/>
                  </a:cubicBezTo>
                  <a:cubicBezTo>
                    <a:pt x="6503" y="327"/>
                    <a:pt x="6524" y="306"/>
                    <a:pt x="6550" y="306"/>
                  </a:cubicBezTo>
                  <a:cubicBezTo>
                    <a:pt x="6575" y="306"/>
                    <a:pt x="6597" y="327"/>
                    <a:pt x="6597" y="353"/>
                  </a:cubicBezTo>
                  <a:close/>
                  <a:moveTo>
                    <a:pt x="6697" y="353"/>
                  </a:moveTo>
                  <a:cubicBezTo>
                    <a:pt x="6697" y="378"/>
                    <a:pt x="6675" y="400"/>
                    <a:pt x="6650" y="400"/>
                  </a:cubicBezTo>
                  <a:cubicBezTo>
                    <a:pt x="6624" y="400"/>
                    <a:pt x="6603" y="378"/>
                    <a:pt x="6603" y="353"/>
                  </a:cubicBezTo>
                  <a:cubicBezTo>
                    <a:pt x="6603" y="327"/>
                    <a:pt x="6624" y="306"/>
                    <a:pt x="6650" y="306"/>
                  </a:cubicBezTo>
                  <a:cubicBezTo>
                    <a:pt x="6675" y="306"/>
                    <a:pt x="6697" y="327"/>
                    <a:pt x="6697" y="353"/>
                  </a:cubicBezTo>
                  <a:close/>
                  <a:moveTo>
                    <a:pt x="6797" y="353"/>
                  </a:moveTo>
                  <a:cubicBezTo>
                    <a:pt x="6797" y="378"/>
                    <a:pt x="6775" y="400"/>
                    <a:pt x="6750" y="400"/>
                  </a:cubicBezTo>
                  <a:cubicBezTo>
                    <a:pt x="6724" y="400"/>
                    <a:pt x="6703" y="378"/>
                    <a:pt x="6703" y="353"/>
                  </a:cubicBezTo>
                  <a:cubicBezTo>
                    <a:pt x="6703" y="327"/>
                    <a:pt x="6724" y="306"/>
                    <a:pt x="6750" y="306"/>
                  </a:cubicBezTo>
                  <a:cubicBezTo>
                    <a:pt x="6775" y="306"/>
                    <a:pt x="6797" y="327"/>
                    <a:pt x="6797" y="353"/>
                  </a:cubicBezTo>
                  <a:close/>
                  <a:moveTo>
                    <a:pt x="6897" y="353"/>
                  </a:moveTo>
                  <a:cubicBezTo>
                    <a:pt x="6897" y="378"/>
                    <a:pt x="6875" y="400"/>
                    <a:pt x="6850" y="400"/>
                  </a:cubicBezTo>
                  <a:cubicBezTo>
                    <a:pt x="6824" y="400"/>
                    <a:pt x="6803" y="378"/>
                    <a:pt x="6803" y="353"/>
                  </a:cubicBezTo>
                  <a:cubicBezTo>
                    <a:pt x="6803" y="327"/>
                    <a:pt x="6824" y="306"/>
                    <a:pt x="6850" y="306"/>
                  </a:cubicBezTo>
                  <a:cubicBezTo>
                    <a:pt x="6875" y="306"/>
                    <a:pt x="6897" y="327"/>
                    <a:pt x="6897" y="353"/>
                  </a:cubicBezTo>
                  <a:close/>
                  <a:moveTo>
                    <a:pt x="6997" y="353"/>
                  </a:moveTo>
                  <a:cubicBezTo>
                    <a:pt x="6997" y="378"/>
                    <a:pt x="6975" y="400"/>
                    <a:pt x="6950" y="400"/>
                  </a:cubicBezTo>
                  <a:cubicBezTo>
                    <a:pt x="6924" y="400"/>
                    <a:pt x="6903" y="378"/>
                    <a:pt x="6903" y="353"/>
                  </a:cubicBezTo>
                  <a:cubicBezTo>
                    <a:pt x="6903" y="327"/>
                    <a:pt x="6924" y="306"/>
                    <a:pt x="6950" y="306"/>
                  </a:cubicBezTo>
                  <a:cubicBezTo>
                    <a:pt x="6975" y="306"/>
                    <a:pt x="6997" y="327"/>
                    <a:pt x="6997" y="353"/>
                  </a:cubicBezTo>
                  <a:close/>
                  <a:moveTo>
                    <a:pt x="7097" y="353"/>
                  </a:moveTo>
                  <a:cubicBezTo>
                    <a:pt x="7097" y="378"/>
                    <a:pt x="7075" y="400"/>
                    <a:pt x="7050" y="400"/>
                  </a:cubicBezTo>
                  <a:cubicBezTo>
                    <a:pt x="7024" y="400"/>
                    <a:pt x="7003" y="378"/>
                    <a:pt x="7003" y="353"/>
                  </a:cubicBezTo>
                  <a:cubicBezTo>
                    <a:pt x="7003" y="327"/>
                    <a:pt x="7024" y="306"/>
                    <a:pt x="7050" y="306"/>
                  </a:cubicBezTo>
                  <a:cubicBezTo>
                    <a:pt x="7075" y="306"/>
                    <a:pt x="7097" y="327"/>
                    <a:pt x="7097" y="353"/>
                  </a:cubicBezTo>
                  <a:close/>
                  <a:moveTo>
                    <a:pt x="7197" y="353"/>
                  </a:moveTo>
                  <a:cubicBezTo>
                    <a:pt x="7197" y="378"/>
                    <a:pt x="7175" y="400"/>
                    <a:pt x="7150" y="400"/>
                  </a:cubicBezTo>
                  <a:cubicBezTo>
                    <a:pt x="7124" y="400"/>
                    <a:pt x="7103" y="378"/>
                    <a:pt x="7103" y="353"/>
                  </a:cubicBezTo>
                  <a:cubicBezTo>
                    <a:pt x="7103" y="327"/>
                    <a:pt x="7124" y="306"/>
                    <a:pt x="7150" y="306"/>
                  </a:cubicBezTo>
                  <a:cubicBezTo>
                    <a:pt x="7175" y="306"/>
                    <a:pt x="7197" y="327"/>
                    <a:pt x="7197" y="353"/>
                  </a:cubicBezTo>
                  <a:close/>
                  <a:moveTo>
                    <a:pt x="7297" y="353"/>
                  </a:moveTo>
                  <a:cubicBezTo>
                    <a:pt x="7297" y="378"/>
                    <a:pt x="7275" y="400"/>
                    <a:pt x="7250" y="400"/>
                  </a:cubicBezTo>
                  <a:cubicBezTo>
                    <a:pt x="7224" y="400"/>
                    <a:pt x="7203" y="378"/>
                    <a:pt x="7203" y="353"/>
                  </a:cubicBezTo>
                  <a:cubicBezTo>
                    <a:pt x="7203" y="327"/>
                    <a:pt x="7224" y="306"/>
                    <a:pt x="7250" y="306"/>
                  </a:cubicBezTo>
                  <a:cubicBezTo>
                    <a:pt x="7275" y="306"/>
                    <a:pt x="7297" y="327"/>
                    <a:pt x="7297" y="353"/>
                  </a:cubicBezTo>
                  <a:close/>
                  <a:moveTo>
                    <a:pt x="7397" y="353"/>
                  </a:moveTo>
                  <a:cubicBezTo>
                    <a:pt x="7397" y="378"/>
                    <a:pt x="7375" y="400"/>
                    <a:pt x="7350" y="400"/>
                  </a:cubicBezTo>
                  <a:cubicBezTo>
                    <a:pt x="7324" y="400"/>
                    <a:pt x="7303" y="378"/>
                    <a:pt x="7303" y="353"/>
                  </a:cubicBezTo>
                  <a:cubicBezTo>
                    <a:pt x="7303" y="327"/>
                    <a:pt x="7324" y="306"/>
                    <a:pt x="7350" y="306"/>
                  </a:cubicBezTo>
                  <a:cubicBezTo>
                    <a:pt x="7375" y="306"/>
                    <a:pt x="7397" y="327"/>
                    <a:pt x="7397" y="353"/>
                  </a:cubicBezTo>
                  <a:close/>
                  <a:moveTo>
                    <a:pt x="7497" y="353"/>
                  </a:moveTo>
                  <a:cubicBezTo>
                    <a:pt x="7497" y="378"/>
                    <a:pt x="7475" y="400"/>
                    <a:pt x="7450" y="400"/>
                  </a:cubicBezTo>
                  <a:cubicBezTo>
                    <a:pt x="7424" y="400"/>
                    <a:pt x="7403" y="378"/>
                    <a:pt x="7403" y="353"/>
                  </a:cubicBezTo>
                  <a:cubicBezTo>
                    <a:pt x="7403" y="327"/>
                    <a:pt x="7424" y="306"/>
                    <a:pt x="7450" y="306"/>
                  </a:cubicBezTo>
                  <a:cubicBezTo>
                    <a:pt x="7475" y="306"/>
                    <a:pt x="7497" y="327"/>
                    <a:pt x="7497" y="353"/>
                  </a:cubicBezTo>
                  <a:close/>
                  <a:moveTo>
                    <a:pt x="7597" y="353"/>
                  </a:moveTo>
                  <a:cubicBezTo>
                    <a:pt x="7597" y="378"/>
                    <a:pt x="7575" y="400"/>
                    <a:pt x="7550" y="400"/>
                  </a:cubicBezTo>
                  <a:cubicBezTo>
                    <a:pt x="7524" y="400"/>
                    <a:pt x="7503" y="378"/>
                    <a:pt x="7503" y="353"/>
                  </a:cubicBezTo>
                  <a:cubicBezTo>
                    <a:pt x="7503" y="327"/>
                    <a:pt x="7524" y="306"/>
                    <a:pt x="7550" y="306"/>
                  </a:cubicBezTo>
                  <a:cubicBezTo>
                    <a:pt x="7575" y="306"/>
                    <a:pt x="7597" y="327"/>
                    <a:pt x="7597" y="353"/>
                  </a:cubicBezTo>
                  <a:close/>
                  <a:moveTo>
                    <a:pt x="7697" y="353"/>
                  </a:moveTo>
                  <a:cubicBezTo>
                    <a:pt x="7697" y="378"/>
                    <a:pt x="7675" y="400"/>
                    <a:pt x="7650" y="400"/>
                  </a:cubicBezTo>
                  <a:cubicBezTo>
                    <a:pt x="7624" y="400"/>
                    <a:pt x="7603" y="378"/>
                    <a:pt x="7603" y="353"/>
                  </a:cubicBezTo>
                  <a:cubicBezTo>
                    <a:pt x="7603" y="327"/>
                    <a:pt x="7624" y="306"/>
                    <a:pt x="7650" y="306"/>
                  </a:cubicBezTo>
                  <a:cubicBezTo>
                    <a:pt x="7675" y="306"/>
                    <a:pt x="7697" y="327"/>
                    <a:pt x="7697" y="353"/>
                  </a:cubicBezTo>
                  <a:close/>
                  <a:moveTo>
                    <a:pt x="7797" y="353"/>
                  </a:moveTo>
                  <a:cubicBezTo>
                    <a:pt x="7797" y="378"/>
                    <a:pt x="7775" y="400"/>
                    <a:pt x="7750" y="400"/>
                  </a:cubicBezTo>
                  <a:cubicBezTo>
                    <a:pt x="7724" y="400"/>
                    <a:pt x="7703" y="378"/>
                    <a:pt x="7703" y="353"/>
                  </a:cubicBezTo>
                  <a:cubicBezTo>
                    <a:pt x="7703" y="327"/>
                    <a:pt x="7724" y="306"/>
                    <a:pt x="7750" y="306"/>
                  </a:cubicBezTo>
                  <a:cubicBezTo>
                    <a:pt x="7775" y="306"/>
                    <a:pt x="7797" y="327"/>
                    <a:pt x="7797" y="353"/>
                  </a:cubicBezTo>
                  <a:close/>
                  <a:moveTo>
                    <a:pt x="7897" y="353"/>
                  </a:moveTo>
                  <a:cubicBezTo>
                    <a:pt x="7897" y="378"/>
                    <a:pt x="7875" y="400"/>
                    <a:pt x="7850" y="400"/>
                  </a:cubicBezTo>
                  <a:cubicBezTo>
                    <a:pt x="7824" y="400"/>
                    <a:pt x="7803" y="378"/>
                    <a:pt x="7803" y="353"/>
                  </a:cubicBezTo>
                  <a:cubicBezTo>
                    <a:pt x="7803" y="327"/>
                    <a:pt x="7824" y="306"/>
                    <a:pt x="7850" y="306"/>
                  </a:cubicBezTo>
                  <a:cubicBezTo>
                    <a:pt x="7875" y="306"/>
                    <a:pt x="7897" y="327"/>
                    <a:pt x="7897" y="353"/>
                  </a:cubicBezTo>
                  <a:close/>
                  <a:moveTo>
                    <a:pt x="7997" y="353"/>
                  </a:moveTo>
                  <a:cubicBezTo>
                    <a:pt x="7997" y="378"/>
                    <a:pt x="7975" y="400"/>
                    <a:pt x="7950" y="400"/>
                  </a:cubicBezTo>
                  <a:cubicBezTo>
                    <a:pt x="7924" y="400"/>
                    <a:pt x="7903" y="378"/>
                    <a:pt x="7903" y="353"/>
                  </a:cubicBezTo>
                  <a:cubicBezTo>
                    <a:pt x="7903" y="327"/>
                    <a:pt x="7924" y="306"/>
                    <a:pt x="7950" y="306"/>
                  </a:cubicBezTo>
                  <a:cubicBezTo>
                    <a:pt x="7975" y="306"/>
                    <a:pt x="7997" y="327"/>
                    <a:pt x="7997" y="35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365760" y="2057400"/>
              <a:ext cx="7315200" cy="365760"/>
            </a:xfrm>
            <a:custGeom>
              <a:avLst/>
              <a:gdLst/>
              <a:ahLst/>
              <a:cxnLst/>
              <a:rect l="0" t="0" r="r" b="b"/>
              <a:pathLst>
                <a:path w="8000" h="400" fill="none">
                  <a:moveTo>
                    <a:pt x="35" y="94"/>
                  </a:moveTo>
                  <a:lnTo>
                    <a:pt x="35" y="190"/>
                  </a:lnTo>
                </a:path>
                <a:path w="8000" h="400" fill="none">
                  <a:moveTo>
                    <a:pt x="65" y="94"/>
                  </a:moveTo>
                  <a:lnTo>
                    <a:pt x="65" y="190"/>
                  </a:lnTo>
                </a:path>
                <a:path w="8000" h="400" fill="none">
                  <a:moveTo>
                    <a:pt x="35" y="306"/>
                  </a:moveTo>
                  <a:lnTo>
                    <a:pt x="35" y="210"/>
                  </a:lnTo>
                </a:path>
                <a:path w="8000" h="400" fill="none">
                  <a:moveTo>
                    <a:pt x="65" y="306"/>
                  </a:moveTo>
                  <a:lnTo>
                    <a:pt x="65" y="210"/>
                  </a:lnTo>
                </a:path>
                <a:path w="8000" h="400" fill="none">
                  <a:moveTo>
                    <a:pt x="135" y="94"/>
                  </a:moveTo>
                  <a:lnTo>
                    <a:pt x="135" y="190"/>
                  </a:lnTo>
                </a:path>
                <a:path w="8000" h="400" fill="none">
                  <a:moveTo>
                    <a:pt x="165" y="94"/>
                  </a:moveTo>
                  <a:lnTo>
                    <a:pt x="165" y="190"/>
                  </a:lnTo>
                </a:path>
                <a:path w="8000" h="400" fill="none">
                  <a:moveTo>
                    <a:pt x="135" y="306"/>
                  </a:moveTo>
                  <a:lnTo>
                    <a:pt x="135" y="210"/>
                  </a:lnTo>
                </a:path>
                <a:path w="8000" h="400" fill="none">
                  <a:moveTo>
                    <a:pt x="165" y="306"/>
                  </a:moveTo>
                  <a:lnTo>
                    <a:pt x="165" y="210"/>
                  </a:lnTo>
                </a:path>
                <a:path w="8000" h="400" fill="none">
                  <a:moveTo>
                    <a:pt x="235" y="94"/>
                  </a:moveTo>
                  <a:lnTo>
                    <a:pt x="235" y="190"/>
                  </a:lnTo>
                </a:path>
                <a:path w="8000" h="400" fill="none">
                  <a:moveTo>
                    <a:pt x="265" y="94"/>
                  </a:moveTo>
                  <a:lnTo>
                    <a:pt x="265" y="190"/>
                  </a:lnTo>
                </a:path>
                <a:path w="8000" h="400" fill="none">
                  <a:moveTo>
                    <a:pt x="235" y="306"/>
                  </a:moveTo>
                  <a:lnTo>
                    <a:pt x="235" y="210"/>
                  </a:lnTo>
                </a:path>
                <a:path w="8000" h="400" fill="none">
                  <a:moveTo>
                    <a:pt x="265" y="306"/>
                  </a:moveTo>
                  <a:lnTo>
                    <a:pt x="265" y="210"/>
                  </a:lnTo>
                </a:path>
                <a:path w="8000" h="400" fill="none">
                  <a:moveTo>
                    <a:pt x="335" y="94"/>
                  </a:moveTo>
                  <a:lnTo>
                    <a:pt x="335" y="190"/>
                  </a:lnTo>
                </a:path>
                <a:path w="8000" h="400" fill="none">
                  <a:moveTo>
                    <a:pt x="365" y="94"/>
                  </a:moveTo>
                  <a:lnTo>
                    <a:pt x="365" y="190"/>
                  </a:lnTo>
                </a:path>
                <a:path w="8000" h="400" fill="none">
                  <a:moveTo>
                    <a:pt x="335" y="306"/>
                  </a:moveTo>
                  <a:lnTo>
                    <a:pt x="335" y="210"/>
                  </a:lnTo>
                </a:path>
                <a:path w="8000" h="400" fill="none">
                  <a:moveTo>
                    <a:pt x="365" y="306"/>
                  </a:moveTo>
                  <a:lnTo>
                    <a:pt x="365" y="210"/>
                  </a:lnTo>
                </a:path>
                <a:path w="8000" h="400" fill="none">
                  <a:moveTo>
                    <a:pt x="435" y="94"/>
                  </a:moveTo>
                  <a:lnTo>
                    <a:pt x="435" y="190"/>
                  </a:lnTo>
                </a:path>
                <a:path w="8000" h="400" fill="none">
                  <a:moveTo>
                    <a:pt x="465" y="94"/>
                  </a:moveTo>
                  <a:lnTo>
                    <a:pt x="465" y="190"/>
                  </a:lnTo>
                </a:path>
                <a:path w="8000" h="400" fill="none">
                  <a:moveTo>
                    <a:pt x="435" y="306"/>
                  </a:moveTo>
                  <a:lnTo>
                    <a:pt x="435" y="210"/>
                  </a:lnTo>
                </a:path>
                <a:path w="8000" h="400" fill="none">
                  <a:moveTo>
                    <a:pt x="465" y="306"/>
                  </a:moveTo>
                  <a:lnTo>
                    <a:pt x="465" y="210"/>
                  </a:lnTo>
                </a:path>
                <a:path w="8000" h="400" fill="none">
                  <a:moveTo>
                    <a:pt x="535" y="94"/>
                  </a:moveTo>
                  <a:lnTo>
                    <a:pt x="535" y="190"/>
                  </a:lnTo>
                </a:path>
                <a:path w="8000" h="400" fill="none">
                  <a:moveTo>
                    <a:pt x="565" y="94"/>
                  </a:moveTo>
                  <a:lnTo>
                    <a:pt x="565" y="190"/>
                  </a:lnTo>
                </a:path>
                <a:path w="8000" h="400" fill="none">
                  <a:moveTo>
                    <a:pt x="535" y="306"/>
                  </a:moveTo>
                  <a:lnTo>
                    <a:pt x="535" y="210"/>
                  </a:lnTo>
                </a:path>
                <a:path w="8000" h="400" fill="none">
                  <a:moveTo>
                    <a:pt x="565" y="306"/>
                  </a:moveTo>
                  <a:lnTo>
                    <a:pt x="565" y="210"/>
                  </a:lnTo>
                </a:path>
                <a:path w="8000" h="400" fill="none">
                  <a:moveTo>
                    <a:pt x="635" y="94"/>
                  </a:moveTo>
                  <a:lnTo>
                    <a:pt x="635" y="190"/>
                  </a:lnTo>
                </a:path>
                <a:path w="8000" h="400" fill="none">
                  <a:moveTo>
                    <a:pt x="665" y="94"/>
                  </a:moveTo>
                  <a:lnTo>
                    <a:pt x="665" y="190"/>
                  </a:lnTo>
                </a:path>
                <a:path w="8000" h="400" fill="none">
                  <a:moveTo>
                    <a:pt x="635" y="306"/>
                  </a:moveTo>
                  <a:lnTo>
                    <a:pt x="635" y="210"/>
                  </a:lnTo>
                </a:path>
                <a:path w="8000" h="400" fill="none">
                  <a:moveTo>
                    <a:pt x="665" y="306"/>
                  </a:moveTo>
                  <a:lnTo>
                    <a:pt x="665" y="210"/>
                  </a:lnTo>
                </a:path>
                <a:path w="8000" h="400" fill="none">
                  <a:moveTo>
                    <a:pt x="735" y="94"/>
                  </a:moveTo>
                  <a:lnTo>
                    <a:pt x="735" y="190"/>
                  </a:lnTo>
                </a:path>
                <a:path w="8000" h="400" fill="none">
                  <a:moveTo>
                    <a:pt x="765" y="94"/>
                  </a:moveTo>
                  <a:lnTo>
                    <a:pt x="765" y="190"/>
                  </a:lnTo>
                </a:path>
                <a:path w="8000" h="400" fill="none">
                  <a:moveTo>
                    <a:pt x="735" y="306"/>
                  </a:moveTo>
                  <a:lnTo>
                    <a:pt x="735" y="210"/>
                  </a:lnTo>
                </a:path>
                <a:path w="8000" h="400" fill="none">
                  <a:moveTo>
                    <a:pt x="765" y="306"/>
                  </a:moveTo>
                  <a:lnTo>
                    <a:pt x="765" y="210"/>
                  </a:lnTo>
                </a:path>
                <a:path w="8000" h="400" fill="none">
                  <a:moveTo>
                    <a:pt x="835" y="94"/>
                  </a:moveTo>
                  <a:lnTo>
                    <a:pt x="835" y="190"/>
                  </a:lnTo>
                </a:path>
                <a:path w="8000" h="400" fill="none">
                  <a:moveTo>
                    <a:pt x="865" y="94"/>
                  </a:moveTo>
                  <a:lnTo>
                    <a:pt x="865" y="190"/>
                  </a:lnTo>
                </a:path>
                <a:path w="8000" h="400" fill="none">
                  <a:moveTo>
                    <a:pt x="835" y="306"/>
                  </a:moveTo>
                  <a:lnTo>
                    <a:pt x="835" y="210"/>
                  </a:lnTo>
                </a:path>
                <a:path w="8000" h="400" fill="none">
                  <a:moveTo>
                    <a:pt x="865" y="306"/>
                  </a:moveTo>
                  <a:lnTo>
                    <a:pt x="865" y="210"/>
                  </a:lnTo>
                </a:path>
                <a:path w="8000" h="400" fill="none">
                  <a:moveTo>
                    <a:pt x="935" y="94"/>
                  </a:moveTo>
                  <a:lnTo>
                    <a:pt x="935" y="190"/>
                  </a:lnTo>
                </a:path>
                <a:path w="8000" h="400" fill="none">
                  <a:moveTo>
                    <a:pt x="965" y="94"/>
                  </a:moveTo>
                  <a:lnTo>
                    <a:pt x="965" y="190"/>
                  </a:lnTo>
                </a:path>
                <a:path w="8000" h="400" fill="none">
                  <a:moveTo>
                    <a:pt x="935" y="306"/>
                  </a:moveTo>
                  <a:lnTo>
                    <a:pt x="935" y="210"/>
                  </a:lnTo>
                </a:path>
                <a:path w="8000" h="400" fill="none">
                  <a:moveTo>
                    <a:pt x="965" y="306"/>
                  </a:moveTo>
                  <a:lnTo>
                    <a:pt x="965" y="210"/>
                  </a:lnTo>
                </a:path>
                <a:path w="8000" h="400" fill="none">
                  <a:moveTo>
                    <a:pt x="1035" y="94"/>
                  </a:moveTo>
                  <a:lnTo>
                    <a:pt x="1035" y="190"/>
                  </a:lnTo>
                </a:path>
                <a:path w="8000" h="400" fill="none">
                  <a:moveTo>
                    <a:pt x="1065" y="94"/>
                  </a:moveTo>
                  <a:lnTo>
                    <a:pt x="1065" y="190"/>
                  </a:lnTo>
                </a:path>
                <a:path w="8000" h="400" fill="none">
                  <a:moveTo>
                    <a:pt x="1035" y="306"/>
                  </a:moveTo>
                  <a:lnTo>
                    <a:pt x="1035" y="210"/>
                  </a:lnTo>
                </a:path>
                <a:path w="8000" h="400" fill="none">
                  <a:moveTo>
                    <a:pt x="1065" y="306"/>
                  </a:moveTo>
                  <a:lnTo>
                    <a:pt x="1065" y="210"/>
                  </a:lnTo>
                </a:path>
                <a:path w="8000" h="400" fill="none">
                  <a:moveTo>
                    <a:pt x="1135" y="94"/>
                  </a:moveTo>
                  <a:lnTo>
                    <a:pt x="1135" y="190"/>
                  </a:lnTo>
                </a:path>
                <a:path w="8000" h="400" fill="none">
                  <a:moveTo>
                    <a:pt x="1165" y="94"/>
                  </a:moveTo>
                  <a:lnTo>
                    <a:pt x="1165" y="190"/>
                  </a:lnTo>
                </a:path>
                <a:path w="8000" h="400" fill="none">
                  <a:moveTo>
                    <a:pt x="1135" y="306"/>
                  </a:moveTo>
                  <a:lnTo>
                    <a:pt x="1135" y="210"/>
                  </a:lnTo>
                </a:path>
                <a:path w="8000" h="400" fill="none">
                  <a:moveTo>
                    <a:pt x="1165" y="306"/>
                  </a:moveTo>
                  <a:lnTo>
                    <a:pt x="1165" y="210"/>
                  </a:lnTo>
                </a:path>
                <a:path w="8000" h="400" fill="none">
                  <a:moveTo>
                    <a:pt x="1235" y="94"/>
                  </a:moveTo>
                  <a:lnTo>
                    <a:pt x="1235" y="190"/>
                  </a:lnTo>
                </a:path>
                <a:path w="8000" h="400" fill="none">
                  <a:moveTo>
                    <a:pt x="1265" y="94"/>
                  </a:moveTo>
                  <a:lnTo>
                    <a:pt x="1265" y="190"/>
                  </a:lnTo>
                </a:path>
                <a:path w="8000" h="400" fill="none">
                  <a:moveTo>
                    <a:pt x="1235" y="306"/>
                  </a:moveTo>
                  <a:lnTo>
                    <a:pt x="1235" y="210"/>
                  </a:lnTo>
                </a:path>
                <a:path w="8000" h="400" fill="none">
                  <a:moveTo>
                    <a:pt x="1265" y="306"/>
                  </a:moveTo>
                  <a:lnTo>
                    <a:pt x="1265" y="210"/>
                  </a:lnTo>
                </a:path>
                <a:path w="8000" h="400" fill="none">
                  <a:moveTo>
                    <a:pt x="1335" y="94"/>
                  </a:moveTo>
                  <a:lnTo>
                    <a:pt x="1335" y="190"/>
                  </a:lnTo>
                </a:path>
                <a:path w="8000" h="400" fill="none">
                  <a:moveTo>
                    <a:pt x="1365" y="94"/>
                  </a:moveTo>
                  <a:lnTo>
                    <a:pt x="1365" y="190"/>
                  </a:lnTo>
                </a:path>
                <a:path w="8000" h="400" fill="none">
                  <a:moveTo>
                    <a:pt x="1335" y="306"/>
                  </a:moveTo>
                  <a:lnTo>
                    <a:pt x="1335" y="210"/>
                  </a:lnTo>
                </a:path>
                <a:path w="8000" h="400" fill="none">
                  <a:moveTo>
                    <a:pt x="1365" y="306"/>
                  </a:moveTo>
                  <a:lnTo>
                    <a:pt x="1365" y="210"/>
                  </a:lnTo>
                </a:path>
                <a:path w="8000" h="400" fill="none">
                  <a:moveTo>
                    <a:pt x="1435" y="94"/>
                  </a:moveTo>
                  <a:lnTo>
                    <a:pt x="1435" y="190"/>
                  </a:lnTo>
                </a:path>
                <a:path w="8000" h="400" fill="none">
                  <a:moveTo>
                    <a:pt x="1465" y="94"/>
                  </a:moveTo>
                  <a:lnTo>
                    <a:pt x="1465" y="190"/>
                  </a:lnTo>
                </a:path>
                <a:path w="8000" h="400" fill="none">
                  <a:moveTo>
                    <a:pt x="1435" y="306"/>
                  </a:moveTo>
                  <a:lnTo>
                    <a:pt x="1435" y="210"/>
                  </a:lnTo>
                </a:path>
                <a:path w="8000" h="400" fill="none">
                  <a:moveTo>
                    <a:pt x="1465" y="306"/>
                  </a:moveTo>
                  <a:lnTo>
                    <a:pt x="1465" y="210"/>
                  </a:lnTo>
                </a:path>
                <a:path w="8000" h="400" fill="none">
                  <a:moveTo>
                    <a:pt x="1535" y="94"/>
                  </a:moveTo>
                  <a:lnTo>
                    <a:pt x="1535" y="190"/>
                  </a:lnTo>
                </a:path>
                <a:path w="8000" h="400" fill="none">
                  <a:moveTo>
                    <a:pt x="1565" y="94"/>
                  </a:moveTo>
                  <a:lnTo>
                    <a:pt x="1565" y="190"/>
                  </a:lnTo>
                </a:path>
                <a:path w="8000" h="400" fill="none">
                  <a:moveTo>
                    <a:pt x="1535" y="306"/>
                  </a:moveTo>
                  <a:lnTo>
                    <a:pt x="1535" y="210"/>
                  </a:lnTo>
                </a:path>
                <a:path w="8000" h="400" fill="none">
                  <a:moveTo>
                    <a:pt x="1565" y="306"/>
                  </a:moveTo>
                  <a:lnTo>
                    <a:pt x="1565" y="210"/>
                  </a:lnTo>
                </a:path>
                <a:path w="8000" h="400" fill="none">
                  <a:moveTo>
                    <a:pt x="1635" y="94"/>
                  </a:moveTo>
                  <a:lnTo>
                    <a:pt x="1635" y="190"/>
                  </a:lnTo>
                </a:path>
                <a:path w="8000" h="400" fill="none">
                  <a:moveTo>
                    <a:pt x="1665" y="94"/>
                  </a:moveTo>
                  <a:lnTo>
                    <a:pt x="1665" y="190"/>
                  </a:lnTo>
                </a:path>
                <a:path w="8000" h="400" fill="none">
                  <a:moveTo>
                    <a:pt x="1635" y="306"/>
                  </a:moveTo>
                  <a:lnTo>
                    <a:pt x="1635" y="210"/>
                  </a:lnTo>
                </a:path>
                <a:path w="8000" h="400" fill="none">
                  <a:moveTo>
                    <a:pt x="1665" y="306"/>
                  </a:moveTo>
                  <a:lnTo>
                    <a:pt x="1665" y="210"/>
                  </a:lnTo>
                </a:path>
                <a:path w="8000" h="400" fill="none">
                  <a:moveTo>
                    <a:pt x="1735" y="94"/>
                  </a:moveTo>
                  <a:lnTo>
                    <a:pt x="1735" y="190"/>
                  </a:lnTo>
                </a:path>
                <a:path w="8000" h="400" fill="none">
                  <a:moveTo>
                    <a:pt x="1765" y="94"/>
                  </a:moveTo>
                  <a:lnTo>
                    <a:pt x="1765" y="190"/>
                  </a:lnTo>
                </a:path>
                <a:path w="8000" h="400" fill="none">
                  <a:moveTo>
                    <a:pt x="1735" y="306"/>
                  </a:moveTo>
                  <a:lnTo>
                    <a:pt x="1735" y="210"/>
                  </a:lnTo>
                </a:path>
                <a:path w="8000" h="400" fill="none">
                  <a:moveTo>
                    <a:pt x="1765" y="306"/>
                  </a:moveTo>
                  <a:lnTo>
                    <a:pt x="1765" y="210"/>
                  </a:lnTo>
                </a:path>
                <a:path w="8000" h="400" fill="none">
                  <a:moveTo>
                    <a:pt x="1835" y="94"/>
                  </a:moveTo>
                  <a:lnTo>
                    <a:pt x="1835" y="190"/>
                  </a:lnTo>
                </a:path>
                <a:path w="8000" h="400" fill="none">
                  <a:moveTo>
                    <a:pt x="1865" y="94"/>
                  </a:moveTo>
                  <a:lnTo>
                    <a:pt x="1865" y="190"/>
                  </a:lnTo>
                </a:path>
                <a:path w="8000" h="400" fill="none">
                  <a:moveTo>
                    <a:pt x="1835" y="306"/>
                  </a:moveTo>
                  <a:lnTo>
                    <a:pt x="1835" y="210"/>
                  </a:lnTo>
                </a:path>
                <a:path w="8000" h="400" fill="none">
                  <a:moveTo>
                    <a:pt x="1865" y="306"/>
                  </a:moveTo>
                  <a:lnTo>
                    <a:pt x="1865" y="210"/>
                  </a:lnTo>
                </a:path>
                <a:path w="8000" h="400" fill="none">
                  <a:moveTo>
                    <a:pt x="1935" y="94"/>
                  </a:moveTo>
                  <a:lnTo>
                    <a:pt x="1935" y="190"/>
                  </a:lnTo>
                </a:path>
                <a:path w="8000" h="400" fill="none">
                  <a:moveTo>
                    <a:pt x="1965" y="94"/>
                  </a:moveTo>
                  <a:lnTo>
                    <a:pt x="1965" y="190"/>
                  </a:lnTo>
                </a:path>
                <a:path w="8000" h="400" fill="none">
                  <a:moveTo>
                    <a:pt x="1935" y="306"/>
                  </a:moveTo>
                  <a:lnTo>
                    <a:pt x="1935" y="210"/>
                  </a:lnTo>
                </a:path>
                <a:path w="8000" h="400" fill="none">
                  <a:moveTo>
                    <a:pt x="1965" y="306"/>
                  </a:moveTo>
                  <a:lnTo>
                    <a:pt x="1965" y="210"/>
                  </a:lnTo>
                </a:path>
                <a:path w="8000" h="400" fill="none">
                  <a:moveTo>
                    <a:pt x="2035" y="94"/>
                  </a:moveTo>
                  <a:lnTo>
                    <a:pt x="2035" y="190"/>
                  </a:lnTo>
                </a:path>
                <a:path w="8000" h="400" fill="none">
                  <a:moveTo>
                    <a:pt x="2065" y="94"/>
                  </a:moveTo>
                  <a:lnTo>
                    <a:pt x="2065" y="190"/>
                  </a:lnTo>
                </a:path>
                <a:path w="8000" h="400" fill="none">
                  <a:moveTo>
                    <a:pt x="2035" y="306"/>
                  </a:moveTo>
                  <a:lnTo>
                    <a:pt x="2035" y="210"/>
                  </a:lnTo>
                </a:path>
                <a:path w="8000" h="400" fill="none">
                  <a:moveTo>
                    <a:pt x="2065" y="306"/>
                  </a:moveTo>
                  <a:lnTo>
                    <a:pt x="2065" y="210"/>
                  </a:lnTo>
                </a:path>
                <a:path w="8000" h="400" fill="none">
                  <a:moveTo>
                    <a:pt x="2135" y="94"/>
                  </a:moveTo>
                  <a:lnTo>
                    <a:pt x="2135" y="190"/>
                  </a:lnTo>
                </a:path>
                <a:path w="8000" h="400" fill="none">
                  <a:moveTo>
                    <a:pt x="2165" y="94"/>
                  </a:moveTo>
                  <a:lnTo>
                    <a:pt x="2165" y="190"/>
                  </a:lnTo>
                </a:path>
                <a:path w="8000" h="400" fill="none">
                  <a:moveTo>
                    <a:pt x="2135" y="306"/>
                  </a:moveTo>
                  <a:lnTo>
                    <a:pt x="2135" y="210"/>
                  </a:lnTo>
                </a:path>
                <a:path w="8000" h="400" fill="none">
                  <a:moveTo>
                    <a:pt x="2165" y="306"/>
                  </a:moveTo>
                  <a:lnTo>
                    <a:pt x="2165" y="210"/>
                  </a:lnTo>
                </a:path>
                <a:path w="8000" h="400" fill="none">
                  <a:moveTo>
                    <a:pt x="2235" y="94"/>
                  </a:moveTo>
                  <a:lnTo>
                    <a:pt x="2235" y="190"/>
                  </a:lnTo>
                </a:path>
                <a:path w="8000" h="400" fill="none">
                  <a:moveTo>
                    <a:pt x="2265" y="94"/>
                  </a:moveTo>
                  <a:lnTo>
                    <a:pt x="2265" y="190"/>
                  </a:lnTo>
                </a:path>
                <a:path w="8000" h="400" fill="none">
                  <a:moveTo>
                    <a:pt x="2235" y="306"/>
                  </a:moveTo>
                  <a:lnTo>
                    <a:pt x="2235" y="210"/>
                  </a:lnTo>
                </a:path>
                <a:path w="8000" h="400" fill="none">
                  <a:moveTo>
                    <a:pt x="2265" y="306"/>
                  </a:moveTo>
                  <a:lnTo>
                    <a:pt x="2265" y="210"/>
                  </a:lnTo>
                </a:path>
                <a:path w="8000" h="400" fill="none">
                  <a:moveTo>
                    <a:pt x="2335" y="94"/>
                  </a:moveTo>
                  <a:lnTo>
                    <a:pt x="2335" y="190"/>
                  </a:lnTo>
                </a:path>
                <a:path w="8000" h="400" fill="none">
                  <a:moveTo>
                    <a:pt x="2365" y="94"/>
                  </a:moveTo>
                  <a:lnTo>
                    <a:pt x="2365" y="190"/>
                  </a:lnTo>
                </a:path>
                <a:path w="8000" h="400" fill="none">
                  <a:moveTo>
                    <a:pt x="2335" y="306"/>
                  </a:moveTo>
                  <a:lnTo>
                    <a:pt x="2335" y="210"/>
                  </a:lnTo>
                </a:path>
                <a:path w="8000" h="400" fill="none">
                  <a:moveTo>
                    <a:pt x="2365" y="306"/>
                  </a:moveTo>
                  <a:lnTo>
                    <a:pt x="2365" y="210"/>
                  </a:lnTo>
                </a:path>
                <a:path w="8000" h="400" fill="none">
                  <a:moveTo>
                    <a:pt x="2435" y="94"/>
                  </a:moveTo>
                  <a:lnTo>
                    <a:pt x="2435" y="190"/>
                  </a:lnTo>
                </a:path>
                <a:path w="8000" h="400" fill="none">
                  <a:moveTo>
                    <a:pt x="2465" y="94"/>
                  </a:moveTo>
                  <a:lnTo>
                    <a:pt x="2465" y="190"/>
                  </a:lnTo>
                </a:path>
                <a:path w="8000" h="400" fill="none">
                  <a:moveTo>
                    <a:pt x="2435" y="306"/>
                  </a:moveTo>
                  <a:lnTo>
                    <a:pt x="2435" y="210"/>
                  </a:lnTo>
                </a:path>
                <a:path w="8000" h="400" fill="none">
                  <a:moveTo>
                    <a:pt x="2465" y="306"/>
                  </a:moveTo>
                  <a:lnTo>
                    <a:pt x="2465" y="210"/>
                  </a:lnTo>
                </a:path>
                <a:path w="8000" h="400" fill="none">
                  <a:moveTo>
                    <a:pt x="2535" y="94"/>
                  </a:moveTo>
                  <a:lnTo>
                    <a:pt x="2535" y="190"/>
                  </a:lnTo>
                </a:path>
                <a:path w="8000" h="400" fill="none">
                  <a:moveTo>
                    <a:pt x="2565" y="94"/>
                  </a:moveTo>
                  <a:lnTo>
                    <a:pt x="2565" y="190"/>
                  </a:lnTo>
                </a:path>
                <a:path w="8000" h="400" fill="none">
                  <a:moveTo>
                    <a:pt x="2535" y="306"/>
                  </a:moveTo>
                  <a:lnTo>
                    <a:pt x="2535" y="210"/>
                  </a:lnTo>
                </a:path>
                <a:path w="8000" h="400" fill="none">
                  <a:moveTo>
                    <a:pt x="2565" y="306"/>
                  </a:moveTo>
                  <a:lnTo>
                    <a:pt x="2565" y="210"/>
                  </a:lnTo>
                </a:path>
                <a:path w="8000" h="400" fill="none">
                  <a:moveTo>
                    <a:pt x="2635" y="94"/>
                  </a:moveTo>
                  <a:lnTo>
                    <a:pt x="2635" y="190"/>
                  </a:lnTo>
                </a:path>
                <a:path w="8000" h="400" fill="none">
                  <a:moveTo>
                    <a:pt x="2665" y="94"/>
                  </a:moveTo>
                  <a:lnTo>
                    <a:pt x="2665" y="190"/>
                  </a:lnTo>
                </a:path>
                <a:path w="8000" h="400" fill="none">
                  <a:moveTo>
                    <a:pt x="2635" y="306"/>
                  </a:moveTo>
                  <a:lnTo>
                    <a:pt x="2635" y="210"/>
                  </a:lnTo>
                </a:path>
                <a:path w="8000" h="400" fill="none">
                  <a:moveTo>
                    <a:pt x="2665" y="306"/>
                  </a:moveTo>
                  <a:lnTo>
                    <a:pt x="2665" y="210"/>
                  </a:lnTo>
                </a:path>
                <a:path w="8000" h="400" fill="none">
                  <a:moveTo>
                    <a:pt x="2735" y="94"/>
                  </a:moveTo>
                  <a:lnTo>
                    <a:pt x="2735" y="190"/>
                  </a:lnTo>
                </a:path>
                <a:path w="8000" h="400" fill="none">
                  <a:moveTo>
                    <a:pt x="2765" y="94"/>
                  </a:moveTo>
                  <a:lnTo>
                    <a:pt x="2765" y="190"/>
                  </a:lnTo>
                </a:path>
                <a:path w="8000" h="400" fill="none">
                  <a:moveTo>
                    <a:pt x="2735" y="306"/>
                  </a:moveTo>
                  <a:lnTo>
                    <a:pt x="2735" y="210"/>
                  </a:lnTo>
                </a:path>
                <a:path w="8000" h="400" fill="none">
                  <a:moveTo>
                    <a:pt x="2765" y="306"/>
                  </a:moveTo>
                  <a:lnTo>
                    <a:pt x="2765" y="210"/>
                  </a:lnTo>
                </a:path>
                <a:path w="8000" h="400" fill="none">
                  <a:moveTo>
                    <a:pt x="2835" y="94"/>
                  </a:moveTo>
                  <a:lnTo>
                    <a:pt x="2835" y="190"/>
                  </a:lnTo>
                </a:path>
                <a:path w="8000" h="400" fill="none">
                  <a:moveTo>
                    <a:pt x="2865" y="94"/>
                  </a:moveTo>
                  <a:lnTo>
                    <a:pt x="2865" y="190"/>
                  </a:lnTo>
                </a:path>
                <a:path w="8000" h="400" fill="none">
                  <a:moveTo>
                    <a:pt x="2835" y="306"/>
                  </a:moveTo>
                  <a:lnTo>
                    <a:pt x="2835" y="210"/>
                  </a:lnTo>
                </a:path>
                <a:path w="8000" h="400" fill="none">
                  <a:moveTo>
                    <a:pt x="2865" y="306"/>
                  </a:moveTo>
                  <a:lnTo>
                    <a:pt x="2865" y="210"/>
                  </a:lnTo>
                </a:path>
                <a:path w="8000" h="400" fill="none">
                  <a:moveTo>
                    <a:pt x="2935" y="94"/>
                  </a:moveTo>
                  <a:lnTo>
                    <a:pt x="2935" y="190"/>
                  </a:lnTo>
                </a:path>
                <a:path w="8000" h="400" fill="none">
                  <a:moveTo>
                    <a:pt x="2965" y="94"/>
                  </a:moveTo>
                  <a:lnTo>
                    <a:pt x="2965" y="190"/>
                  </a:lnTo>
                </a:path>
                <a:path w="8000" h="400" fill="none">
                  <a:moveTo>
                    <a:pt x="2935" y="306"/>
                  </a:moveTo>
                  <a:lnTo>
                    <a:pt x="2935" y="210"/>
                  </a:lnTo>
                </a:path>
                <a:path w="8000" h="400" fill="none">
                  <a:moveTo>
                    <a:pt x="2965" y="306"/>
                  </a:moveTo>
                  <a:lnTo>
                    <a:pt x="2965" y="210"/>
                  </a:lnTo>
                </a:path>
                <a:path w="8000" h="400" fill="none">
                  <a:moveTo>
                    <a:pt x="3035" y="94"/>
                  </a:moveTo>
                  <a:lnTo>
                    <a:pt x="3035" y="190"/>
                  </a:lnTo>
                </a:path>
                <a:path w="8000" h="400" fill="none">
                  <a:moveTo>
                    <a:pt x="3065" y="94"/>
                  </a:moveTo>
                  <a:lnTo>
                    <a:pt x="3065" y="190"/>
                  </a:lnTo>
                </a:path>
                <a:path w="8000" h="400" fill="none">
                  <a:moveTo>
                    <a:pt x="3035" y="306"/>
                  </a:moveTo>
                  <a:lnTo>
                    <a:pt x="3035" y="210"/>
                  </a:lnTo>
                </a:path>
                <a:path w="8000" h="400" fill="none">
                  <a:moveTo>
                    <a:pt x="3065" y="306"/>
                  </a:moveTo>
                  <a:lnTo>
                    <a:pt x="3065" y="210"/>
                  </a:lnTo>
                </a:path>
                <a:path w="8000" h="400" fill="none">
                  <a:moveTo>
                    <a:pt x="3135" y="94"/>
                  </a:moveTo>
                  <a:lnTo>
                    <a:pt x="3135" y="190"/>
                  </a:lnTo>
                </a:path>
                <a:path w="8000" h="400" fill="none">
                  <a:moveTo>
                    <a:pt x="3165" y="94"/>
                  </a:moveTo>
                  <a:lnTo>
                    <a:pt x="3165" y="190"/>
                  </a:lnTo>
                </a:path>
                <a:path w="8000" h="400" fill="none">
                  <a:moveTo>
                    <a:pt x="3135" y="306"/>
                  </a:moveTo>
                  <a:lnTo>
                    <a:pt x="3135" y="210"/>
                  </a:lnTo>
                </a:path>
                <a:path w="8000" h="400" fill="none">
                  <a:moveTo>
                    <a:pt x="3165" y="306"/>
                  </a:moveTo>
                  <a:lnTo>
                    <a:pt x="3165" y="210"/>
                  </a:lnTo>
                </a:path>
                <a:path w="8000" h="400" fill="none">
                  <a:moveTo>
                    <a:pt x="3235" y="94"/>
                  </a:moveTo>
                  <a:lnTo>
                    <a:pt x="3235" y="190"/>
                  </a:lnTo>
                </a:path>
                <a:path w="8000" h="400" fill="none">
                  <a:moveTo>
                    <a:pt x="3265" y="94"/>
                  </a:moveTo>
                  <a:lnTo>
                    <a:pt x="3265" y="190"/>
                  </a:lnTo>
                </a:path>
                <a:path w="8000" h="400" fill="none">
                  <a:moveTo>
                    <a:pt x="3235" y="306"/>
                  </a:moveTo>
                  <a:lnTo>
                    <a:pt x="3235" y="210"/>
                  </a:lnTo>
                </a:path>
                <a:path w="8000" h="400" fill="none">
                  <a:moveTo>
                    <a:pt x="3265" y="306"/>
                  </a:moveTo>
                  <a:lnTo>
                    <a:pt x="3265" y="210"/>
                  </a:lnTo>
                </a:path>
                <a:path w="8000" h="400" fill="none">
                  <a:moveTo>
                    <a:pt x="3335" y="94"/>
                  </a:moveTo>
                  <a:lnTo>
                    <a:pt x="3335" y="190"/>
                  </a:lnTo>
                </a:path>
                <a:path w="8000" h="400" fill="none">
                  <a:moveTo>
                    <a:pt x="3365" y="94"/>
                  </a:moveTo>
                  <a:lnTo>
                    <a:pt x="3365" y="190"/>
                  </a:lnTo>
                </a:path>
                <a:path w="8000" h="400" fill="none">
                  <a:moveTo>
                    <a:pt x="3335" y="306"/>
                  </a:moveTo>
                  <a:lnTo>
                    <a:pt x="3335" y="210"/>
                  </a:lnTo>
                </a:path>
                <a:path w="8000" h="400" fill="none">
                  <a:moveTo>
                    <a:pt x="3365" y="306"/>
                  </a:moveTo>
                  <a:lnTo>
                    <a:pt x="3365" y="210"/>
                  </a:lnTo>
                </a:path>
                <a:path w="8000" h="400" fill="none">
                  <a:moveTo>
                    <a:pt x="3435" y="94"/>
                  </a:moveTo>
                  <a:lnTo>
                    <a:pt x="3435" y="190"/>
                  </a:lnTo>
                </a:path>
                <a:path w="8000" h="400" fill="none">
                  <a:moveTo>
                    <a:pt x="3465" y="94"/>
                  </a:moveTo>
                  <a:lnTo>
                    <a:pt x="3465" y="190"/>
                  </a:lnTo>
                </a:path>
                <a:path w="8000" h="400" fill="none">
                  <a:moveTo>
                    <a:pt x="3435" y="306"/>
                  </a:moveTo>
                  <a:lnTo>
                    <a:pt x="3435" y="210"/>
                  </a:lnTo>
                </a:path>
                <a:path w="8000" h="400" fill="none">
                  <a:moveTo>
                    <a:pt x="3465" y="306"/>
                  </a:moveTo>
                  <a:lnTo>
                    <a:pt x="3465" y="210"/>
                  </a:lnTo>
                </a:path>
                <a:path w="8000" h="400" fill="none">
                  <a:moveTo>
                    <a:pt x="3535" y="94"/>
                  </a:moveTo>
                  <a:lnTo>
                    <a:pt x="3535" y="190"/>
                  </a:lnTo>
                </a:path>
                <a:path w="8000" h="400" fill="none">
                  <a:moveTo>
                    <a:pt x="3565" y="94"/>
                  </a:moveTo>
                  <a:lnTo>
                    <a:pt x="3565" y="190"/>
                  </a:lnTo>
                </a:path>
                <a:path w="8000" h="400" fill="none">
                  <a:moveTo>
                    <a:pt x="3535" y="306"/>
                  </a:moveTo>
                  <a:lnTo>
                    <a:pt x="3535" y="210"/>
                  </a:lnTo>
                </a:path>
                <a:path w="8000" h="400" fill="none">
                  <a:moveTo>
                    <a:pt x="3565" y="306"/>
                  </a:moveTo>
                  <a:lnTo>
                    <a:pt x="3565" y="210"/>
                  </a:lnTo>
                </a:path>
                <a:path w="8000" h="400" fill="none">
                  <a:moveTo>
                    <a:pt x="3635" y="94"/>
                  </a:moveTo>
                  <a:lnTo>
                    <a:pt x="3635" y="190"/>
                  </a:lnTo>
                </a:path>
                <a:path w="8000" h="400" fill="none">
                  <a:moveTo>
                    <a:pt x="3665" y="94"/>
                  </a:moveTo>
                  <a:lnTo>
                    <a:pt x="3665" y="190"/>
                  </a:lnTo>
                </a:path>
                <a:path w="8000" h="400" fill="none">
                  <a:moveTo>
                    <a:pt x="3635" y="306"/>
                  </a:moveTo>
                  <a:lnTo>
                    <a:pt x="3635" y="210"/>
                  </a:lnTo>
                </a:path>
                <a:path w="8000" h="400" fill="none">
                  <a:moveTo>
                    <a:pt x="3665" y="306"/>
                  </a:moveTo>
                  <a:lnTo>
                    <a:pt x="3665" y="210"/>
                  </a:lnTo>
                </a:path>
                <a:path w="8000" h="400" fill="none">
                  <a:moveTo>
                    <a:pt x="3735" y="94"/>
                  </a:moveTo>
                  <a:lnTo>
                    <a:pt x="3735" y="190"/>
                  </a:lnTo>
                </a:path>
                <a:path w="8000" h="400" fill="none">
                  <a:moveTo>
                    <a:pt x="3765" y="94"/>
                  </a:moveTo>
                  <a:lnTo>
                    <a:pt x="3765" y="190"/>
                  </a:lnTo>
                </a:path>
                <a:path w="8000" h="400" fill="none">
                  <a:moveTo>
                    <a:pt x="3735" y="306"/>
                  </a:moveTo>
                  <a:lnTo>
                    <a:pt x="3735" y="210"/>
                  </a:lnTo>
                </a:path>
                <a:path w="8000" h="400" fill="none">
                  <a:moveTo>
                    <a:pt x="3765" y="306"/>
                  </a:moveTo>
                  <a:lnTo>
                    <a:pt x="3765" y="210"/>
                  </a:lnTo>
                </a:path>
                <a:path w="8000" h="400" fill="none">
                  <a:moveTo>
                    <a:pt x="3835" y="94"/>
                  </a:moveTo>
                  <a:lnTo>
                    <a:pt x="3835" y="190"/>
                  </a:lnTo>
                </a:path>
                <a:path w="8000" h="400" fill="none">
                  <a:moveTo>
                    <a:pt x="3865" y="94"/>
                  </a:moveTo>
                  <a:lnTo>
                    <a:pt x="3865" y="190"/>
                  </a:lnTo>
                </a:path>
                <a:path w="8000" h="400" fill="none">
                  <a:moveTo>
                    <a:pt x="3835" y="306"/>
                  </a:moveTo>
                  <a:lnTo>
                    <a:pt x="3835" y="210"/>
                  </a:lnTo>
                </a:path>
                <a:path w="8000" h="400" fill="none">
                  <a:moveTo>
                    <a:pt x="3865" y="306"/>
                  </a:moveTo>
                  <a:lnTo>
                    <a:pt x="3865" y="210"/>
                  </a:lnTo>
                </a:path>
                <a:path w="8000" h="400" fill="none">
                  <a:moveTo>
                    <a:pt x="3935" y="94"/>
                  </a:moveTo>
                  <a:lnTo>
                    <a:pt x="3935" y="190"/>
                  </a:lnTo>
                </a:path>
                <a:path w="8000" h="400" fill="none">
                  <a:moveTo>
                    <a:pt x="3965" y="94"/>
                  </a:moveTo>
                  <a:lnTo>
                    <a:pt x="3965" y="190"/>
                  </a:lnTo>
                </a:path>
                <a:path w="8000" h="400" fill="none">
                  <a:moveTo>
                    <a:pt x="3935" y="306"/>
                  </a:moveTo>
                  <a:lnTo>
                    <a:pt x="3935" y="210"/>
                  </a:lnTo>
                </a:path>
                <a:path w="8000" h="400" fill="none">
                  <a:moveTo>
                    <a:pt x="3965" y="306"/>
                  </a:moveTo>
                  <a:lnTo>
                    <a:pt x="3965" y="210"/>
                  </a:lnTo>
                </a:path>
                <a:path w="8000" h="400" fill="none">
                  <a:moveTo>
                    <a:pt x="4035" y="94"/>
                  </a:moveTo>
                  <a:lnTo>
                    <a:pt x="4035" y="190"/>
                  </a:lnTo>
                </a:path>
                <a:path w="8000" h="400" fill="none">
                  <a:moveTo>
                    <a:pt x="4065" y="94"/>
                  </a:moveTo>
                  <a:lnTo>
                    <a:pt x="4065" y="190"/>
                  </a:lnTo>
                </a:path>
                <a:path w="8000" h="400" fill="none">
                  <a:moveTo>
                    <a:pt x="4035" y="306"/>
                  </a:moveTo>
                  <a:lnTo>
                    <a:pt x="4035" y="210"/>
                  </a:lnTo>
                </a:path>
                <a:path w="8000" h="400" fill="none">
                  <a:moveTo>
                    <a:pt x="4065" y="306"/>
                  </a:moveTo>
                  <a:lnTo>
                    <a:pt x="4065" y="210"/>
                  </a:lnTo>
                </a:path>
                <a:path w="8000" h="400" fill="none">
                  <a:moveTo>
                    <a:pt x="4135" y="94"/>
                  </a:moveTo>
                  <a:lnTo>
                    <a:pt x="4135" y="190"/>
                  </a:lnTo>
                </a:path>
                <a:path w="8000" h="400" fill="none">
                  <a:moveTo>
                    <a:pt x="4165" y="94"/>
                  </a:moveTo>
                  <a:lnTo>
                    <a:pt x="4165" y="190"/>
                  </a:lnTo>
                </a:path>
                <a:path w="8000" h="400" fill="none">
                  <a:moveTo>
                    <a:pt x="4135" y="306"/>
                  </a:moveTo>
                  <a:lnTo>
                    <a:pt x="4135" y="210"/>
                  </a:lnTo>
                </a:path>
                <a:path w="8000" h="400" fill="none">
                  <a:moveTo>
                    <a:pt x="4165" y="306"/>
                  </a:moveTo>
                  <a:lnTo>
                    <a:pt x="4165" y="210"/>
                  </a:lnTo>
                </a:path>
                <a:path w="8000" h="400" fill="none">
                  <a:moveTo>
                    <a:pt x="4235" y="94"/>
                  </a:moveTo>
                  <a:lnTo>
                    <a:pt x="4235" y="190"/>
                  </a:lnTo>
                </a:path>
                <a:path w="8000" h="400" fill="none">
                  <a:moveTo>
                    <a:pt x="4265" y="94"/>
                  </a:moveTo>
                  <a:lnTo>
                    <a:pt x="4265" y="190"/>
                  </a:lnTo>
                </a:path>
                <a:path w="8000" h="400" fill="none">
                  <a:moveTo>
                    <a:pt x="4235" y="306"/>
                  </a:moveTo>
                  <a:lnTo>
                    <a:pt x="4235" y="210"/>
                  </a:lnTo>
                </a:path>
                <a:path w="8000" h="400" fill="none">
                  <a:moveTo>
                    <a:pt x="4265" y="306"/>
                  </a:moveTo>
                  <a:lnTo>
                    <a:pt x="4265" y="210"/>
                  </a:lnTo>
                </a:path>
                <a:path w="8000" h="400" fill="none">
                  <a:moveTo>
                    <a:pt x="4335" y="94"/>
                  </a:moveTo>
                  <a:lnTo>
                    <a:pt x="4335" y="190"/>
                  </a:lnTo>
                </a:path>
                <a:path w="8000" h="400" fill="none">
                  <a:moveTo>
                    <a:pt x="4365" y="94"/>
                  </a:moveTo>
                  <a:lnTo>
                    <a:pt x="4365" y="190"/>
                  </a:lnTo>
                </a:path>
                <a:path w="8000" h="400" fill="none">
                  <a:moveTo>
                    <a:pt x="4335" y="306"/>
                  </a:moveTo>
                  <a:lnTo>
                    <a:pt x="4335" y="210"/>
                  </a:lnTo>
                </a:path>
                <a:path w="8000" h="400" fill="none">
                  <a:moveTo>
                    <a:pt x="4365" y="306"/>
                  </a:moveTo>
                  <a:lnTo>
                    <a:pt x="4365" y="210"/>
                  </a:lnTo>
                </a:path>
                <a:path w="8000" h="400" fill="none">
                  <a:moveTo>
                    <a:pt x="4435" y="94"/>
                  </a:moveTo>
                  <a:lnTo>
                    <a:pt x="4435" y="190"/>
                  </a:lnTo>
                </a:path>
                <a:path w="8000" h="400" fill="none">
                  <a:moveTo>
                    <a:pt x="4465" y="94"/>
                  </a:moveTo>
                  <a:lnTo>
                    <a:pt x="4465" y="190"/>
                  </a:lnTo>
                </a:path>
                <a:path w="8000" h="400" fill="none">
                  <a:moveTo>
                    <a:pt x="4435" y="306"/>
                  </a:moveTo>
                  <a:lnTo>
                    <a:pt x="4435" y="210"/>
                  </a:lnTo>
                </a:path>
                <a:path w="8000" h="400" fill="none">
                  <a:moveTo>
                    <a:pt x="4465" y="306"/>
                  </a:moveTo>
                  <a:lnTo>
                    <a:pt x="4465" y="210"/>
                  </a:lnTo>
                </a:path>
                <a:path w="8000" h="400" fill="none">
                  <a:moveTo>
                    <a:pt x="4535" y="94"/>
                  </a:moveTo>
                  <a:lnTo>
                    <a:pt x="4535" y="190"/>
                  </a:lnTo>
                </a:path>
                <a:path w="8000" h="400" fill="none">
                  <a:moveTo>
                    <a:pt x="4565" y="94"/>
                  </a:moveTo>
                  <a:lnTo>
                    <a:pt x="4565" y="190"/>
                  </a:lnTo>
                </a:path>
                <a:path w="8000" h="400" fill="none">
                  <a:moveTo>
                    <a:pt x="4535" y="306"/>
                  </a:moveTo>
                  <a:lnTo>
                    <a:pt x="4535" y="210"/>
                  </a:lnTo>
                </a:path>
                <a:path w="8000" h="400" fill="none">
                  <a:moveTo>
                    <a:pt x="4565" y="306"/>
                  </a:moveTo>
                  <a:lnTo>
                    <a:pt x="4565" y="210"/>
                  </a:lnTo>
                </a:path>
                <a:path w="8000" h="400" fill="none">
                  <a:moveTo>
                    <a:pt x="4635" y="94"/>
                  </a:moveTo>
                  <a:lnTo>
                    <a:pt x="4635" y="190"/>
                  </a:lnTo>
                </a:path>
                <a:path w="8000" h="400" fill="none">
                  <a:moveTo>
                    <a:pt x="4665" y="94"/>
                  </a:moveTo>
                  <a:lnTo>
                    <a:pt x="4665" y="190"/>
                  </a:lnTo>
                </a:path>
                <a:path w="8000" h="400" fill="none">
                  <a:moveTo>
                    <a:pt x="4635" y="306"/>
                  </a:moveTo>
                  <a:lnTo>
                    <a:pt x="4635" y="210"/>
                  </a:lnTo>
                </a:path>
                <a:path w="8000" h="400" fill="none">
                  <a:moveTo>
                    <a:pt x="4665" y="306"/>
                  </a:moveTo>
                  <a:lnTo>
                    <a:pt x="4665" y="210"/>
                  </a:lnTo>
                </a:path>
                <a:path w="8000" h="400" fill="none">
                  <a:moveTo>
                    <a:pt x="4735" y="94"/>
                  </a:moveTo>
                  <a:lnTo>
                    <a:pt x="4735" y="190"/>
                  </a:lnTo>
                </a:path>
                <a:path w="8000" h="400" fill="none">
                  <a:moveTo>
                    <a:pt x="4765" y="94"/>
                  </a:moveTo>
                  <a:lnTo>
                    <a:pt x="4765" y="190"/>
                  </a:lnTo>
                </a:path>
                <a:path w="8000" h="400" fill="none">
                  <a:moveTo>
                    <a:pt x="4735" y="306"/>
                  </a:moveTo>
                  <a:lnTo>
                    <a:pt x="4735" y="210"/>
                  </a:lnTo>
                </a:path>
                <a:path w="8000" h="400" fill="none">
                  <a:moveTo>
                    <a:pt x="4765" y="306"/>
                  </a:moveTo>
                  <a:lnTo>
                    <a:pt x="4765" y="210"/>
                  </a:lnTo>
                </a:path>
                <a:path w="8000" h="400" fill="none">
                  <a:moveTo>
                    <a:pt x="4835" y="94"/>
                  </a:moveTo>
                  <a:lnTo>
                    <a:pt x="4835" y="190"/>
                  </a:lnTo>
                </a:path>
                <a:path w="8000" h="400" fill="none">
                  <a:moveTo>
                    <a:pt x="4865" y="94"/>
                  </a:moveTo>
                  <a:lnTo>
                    <a:pt x="4865" y="190"/>
                  </a:lnTo>
                </a:path>
                <a:path w="8000" h="400" fill="none">
                  <a:moveTo>
                    <a:pt x="4835" y="306"/>
                  </a:moveTo>
                  <a:lnTo>
                    <a:pt x="4835" y="210"/>
                  </a:lnTo>
                </a:path>
                <a:path w="8000" h="400" fill="none">
                  <a:moveTo>
                    <a:pt x="4865" y="306"/>
                  </a:moveTo>
                  <a:lnTo>
                    <a:pt x="4865" y="210"/>
                  </a:lnTo>
                </a:path>
                <a:path w="8000" h="400" fill="none">
                  <a:moveTo>
                    <a:pt x="4935" y="94"/>
                  </a:moveTo>
                  <a:lnTo>
                    <a:pt x="4935" y="190"/>
                  </a:lnTo>
                </a:path>
                <a:path w="8000" h="400" fill="none">
                  <a:moveTo>
                    <a:pt x="4965" y="94"/>
                  </a:moveTo>
                  <a:lnTo>
                    <a:pt x="4965" y="190"/>
                  </a:lnTo>
                </a:path>
                <a:path w="8000" h="400" fill="none">
                  <a:moveTo>
                    <a:pt x="4935" y="306"/>
                  </a:moveTo>
                  <a:lnTo>
                    <a:pt x="4935" y="210"/>
                  </a:lnTo>
                </a:path>
                <a:path w="8000" h="400" fill="none">
                  <a:moveTo>
                    <a:pt x="4965" y="306"/>
                  </a:moveTo>
                  <a:lnTo>
                    <a:pt x="4965" y="210"/>
                  </a:lnTo>
                </a:path>
                <a:path w="8000" h="400" fill="none">
                  <a:moveTo>
                    <a:pt x="5035" y="94"/>
                  </a:moveTo>
                  <a:lnTo>
                    <a:pt x="5035" y="190"/>
                  </a:lnTo>
                </a:path>
                <a:path w="8000" h="400" fill="none">
                  <a:moveTo>
                    <a:pt x="5065" y="94"/>
                  </a:moveTo>
                  <a:lnTo>
                    <a:pt x="5065" y="190"/>
                  </a:lnTo>
                </a:path>
                <a:path w="8000" h="400" fill="none">
                  <a:moveTo>
                    <a:pt x="5035" y="306"/>
                  </a:moveTo>
                  <a:lnTo>
                    <a:pt x="5035" y="210"/>
                  </a:lnTo>
                </a:path>
                <a:path w="8000" h="400" fill="none">
                  <a:moveTo>
                    <a:pt x="5065" y="306"/>
                  </a:moveTo>
                  <a:lnTo>
                    <a:pt x="5065" y="210"/>
                  </a:lnTo>
                </a:path>
                <a:path w="8000" h="400" fill="none">
                  <a:moveTo>
                    <a:pt x="5135" y="94"/>
                  </a:moveTo>
                  <a:lnTo>
                    <a:pt x="5135" y="190"/>
                  </a:lnTo>
                </a:path>
                <a:path w="8000" h="400" fill="none">
                  <a:moveTo>
                    <a:pt x="5165" y="94"/>
                  </a:moveTo>
                  <a:lnTo>
                    <a:pt x="5165" y="190"/>
                  </a:lnTo>
                </a:path>
                <a:path w="8000" h="400" fill="none">
                  <a:moveTo>
                    <a:pt x="5135" y="306"/>
                  </a:moveTo>
                  <a:lnTo>
                    <a:pt x="5135" y="210"/>
                  </a:lnTo>
                </a:path>
                <a:path w="8000" h="400" fill="none">
                  <a:moveTo>
                    <a:pt x="5165" y="306"/>
                  </a:moveTo>
                  <a:lnTo>
                    <a:pt x="5165" y="210"/>
                  </a:lnTo>
                </a:path>
                <a:path w="8000" h="400" fill="none">
                  <a:moveTo>
                    <a:pt x="5235" y="94"/>
                  </a:moveTo>
                  <a:lnTo>
                    <a:pt x="5235" y="190"/>
                  </a:lnTo>
                </a:path>
                <a:path w="8000" h="400" fill="none">
                  <a:moveTo>
                    <a:pt x="5265" y="94"/>
                  </a:moveTo>
                  <a:lnTo>
                    <a:pt x="5265" y="190"/>
                  </a:lnTo>
                </a:path>
                <a:path w="8000" h="400" fill="none">
                  <a:moveTo>
                    <a:pt x="5235" y="306"/>
                  </a:moveTo>
                  <a:lnTo>
                    <a:pt x="5235" y="210"/>
                  </a:lnTo>
                </a:path>
                <a:path w="8000" h="400" fill="none">
                  <a:moveTo>
                    <a:pt x="5265" y="306"/>
                  </a:moveTo>
                  <a:lnTo>
                    <a:pt x="5265" y="210"/>
                  </a:lnTo>
                </a:path>
                <a:path w="8000" h="400" fill="none">
                  <a:moveTo>
                    <a:pt x="5335" y="94"/>
                  </a:moveTo>
                  <a:lnTo>
                    <a:pt x="5335" y="190"/>
                  </a:lnTo>
                </a:path>
                <a:path w="8000" h="400" fill="none">
                  <a:moveTo>
                    <a:pt x="5365" y="94"/>
                  </a:moveTo>
                  <a:lnTo>
                    <a:pt x="5365" y="190"/>
                  </a:lnTo>
                </a:path>
                <a:path w="8000" h="400" fill="none">
                  <a:moveTo>
                    <a:pt x="5335" y="306"/>
                  </a:moveTo>
                  <a:lnTo>
                    <a:pt x="5335" y="210"/>
                  </a:lnTo>
                </a:path>
                <a:path w="8000" h="400" fill="none">
                  <a:moveTo>
                    <a:pt x="5365" y="306"/>
                  </a:moveTo>
                  <a:lnTo>
                    <a:pt x="5365" y="210"/>
                  </a:lnTo>
                </a:path>
                <a:path w="8000" h="400" fill="none">
                  <a:moveTo>
                    <a:pt x="5435" y="94"/>
                  </a:moveTo>
                  <a:lnTo>
                    <a:pt x="5435" y="190"/>
                  </a:lnTo>
                </a:path>
                <a:path w="8000" h="400" fill="none">
                  <a:moveTo>
                    <a:pt x="5465" y="94"/>
                  </a:moveTo>
                  <a:lnTo>
                    <a:pt x="5465" y="190"/>
                  </a:lnTo>
                </a:path>
                <a:path w="8000" h="400" fill="none">
                  <a:moveTo>
                    <a:pt x="5435" y="306"/>
                  </a:moveTo>
                  <a:lnTo>
                    <a:pt x="5435" y="210"/>
                  </a:lnTo>
                </a:path>
                <a:path w="8000" h="400" fill="none">
                  <a:moveTo>
                    <a:pt x="5465" y="306"/>
                  </a:moveTo>
                  <a:lnTo>
                    <a:pt x="5465" y="210"/>
                  </a:lnTo>
                </a:path>
                <a:path w="8000" h="400" fill="none">
                  <a:moveTo>
                    <a:pt x="5535" y="94"/>
                  </a:moveTo>
                  <a:lnTo>
                    <a:pt x="5535" y="190"/>
                  </a:lnTo>
                </a:path>
                <a:path w="8000" h="400" fill="none">
                  <a:moveTo>
                    <a:pt x="5565" y="94"/>
                  </a:moveTo>
                  <a:lnTo>
                    <a:pt x="5565" y="190"/>
                  </a:lnTo>
                </a:path>
                <a:path w="8000" h="400" fill="none">
                  <a:moveTo>
                    <a:pt x="5535" y="306"/>
                  </a:moveTo>
                  <a:lnTo>
                    <a:pt x="5535" y="210"/>
                  </a:lnTo>
                </a:path>
                <a:path w="8000" h="400" fill="none">
                  <a:moveTo>
                    <a:pt x="5565" y="306"/>
                  </a:moveTo>
                  <a:lnTo>
                    <a:pt x="5565" y="210"/>
                  </a:lnTo>
                </a:path>
                <a:path w="8000" h="400" fill="none">
                  <a:moveTo>
                    <a:pt x="5635" y="94"/>
                  </a:moveTo>
                  <a:lnTo>
                    <a:pt x="5635" y="190"/>
                  </a:lnTo>
                </a:path>
                <a:path w="8000" h="400" fill="none">
                  <a:moveTo>
                    <a:pt x="5665" y="94"/>
                  </a:moveTo>
                  <a:lnTo>
                    <a:pt x="5665" y="190"/>
                  </a:lnTo>
                </a:path>
                <a:path w="8000" h="400" fill="none">
                  <a:moveTo>
                    <a:pt x="5635" y="306"/>
                  </a:moveTo>
                  <a:lnTo>
                    <a:pt x="5635" y="210"/>
                  </a:lnTo>
                </a:path>
                <a:path w="8000" h="400" fill="none">
                  <a:moveTo>
                    <a:pt x="5665" y="306"/>
                  </a:moveTo>
                  <a:lnTo>
                    <a:pt x="5665" y="210"/>
                  </a:lnTo>
                </a:path>
                <a:path w="8000" h="400" fill="none">
                  <a:moveTo>
                    <a:pt x="5735" y="94"/>
                  </a:moveTo>
                  <a:lnTo>
                    <a:pt x="5735" y="190"/>
                  </a:lnTo>
                </a:path>
                <a:path w="8000" h="400" fill="none">
                  <a:moveTo>
                    <a:pt x="5765" y="94"/>
                  </a:moveTo>
                  <a:lnTo>
                    <a:pt x="5765" y="190"/>
                  </a:lnTo>
                </a:path>
                <a:path w="8000" h="400" fill="none">
                  <a:moveTo>
                    <a:pt x="5735" y="306"/>
                  </a:moveTo>
                  <a:lnTo>
                    <a:pt x="5735" y="210"/>
                  </a:lnTo>
                </a:path>
                <a:path w="8000" h="400" fill="none">
                  <a:moveTo>
                    <a:pt x="5765" y="306"/>
                  </a:moveTo>
                  <a:lnTo>
                    <a:pt x="5765" y="210"/>
                  </a:lnTo>
                </a:path>
                <a:path w="8000" h="400" fill="none">
                  <a:moveTo>
                    <a:pt x="5835" y="94"/>
                  </a:moveTo>
                  <a:lnTo>
                    <a:pt x="5835" y="190"/>
                  </a:lnTo>
                </a:path>
                <a:path w="8000" h="400" fill="none">
                  <a:moveTo>
                    <a:pt x="5865" y="94"/>
                  </a:moveTo>
                  <a:lnTo>
                    <a:pt x="5865" y="190"/>
                  </a:lnTo>
                </a:path>
                <a:path w="8000" h="400" fill="none">
                  <a:moveTo>
                    <a:pt x="5835" y="306"/>
                  </a:moveTo>
                  <a:lnTo>
                    <a:pt x="5835" y="210"/>
                  </a:lnTo>
                </a:path>
                <a:path w="8000" h="400" fill="none">
                  <a:moveTo>
                    <a:pt x="5865" y="306"/>
                  </a:moveTo>
                  <a:lnTo>
                    <a:pt x="5865" y="210"/>
                  </a:lnTo>
                </a:path>
                <a:path w="8000" h="400" fill="none">
                  <a:moveTo>
                    <a:pt x="5935" y="94"/>
                  </a:moveTo>
                  <a:lnTo>
                    <a:pt x="5935" y="190"/>
                  </a:lnTo>
                </a:path>
                <a:path w="8000" h="400" fill="none">
                  <a:moveTo>
                    <a:pt x="5965" y="94"/>
                  </a:moveTo>
                  <a:lnTo>
                    <a:pt x="5965" y="190"/>
                  </a:lnTo>
                </a:path>
                <a:path w="8000" h="400" fill="none">
                  <a:moveTo>
                    <a:pt x="5935" y="306"/>
                  </a:moveTo>
                  <a:lnTo>
                    <a:pt x="5935" y="210"/>
                  </a:lnTo>
                </a:path>
                <a:path w="8000" h="400" fill="none">
                  <a:moveTo>
                    <a:pt x="5965" y="306"/>
                  </a:moveTo>
                  <a:lnTo>
                    <a:pt x="5965" y="210"/>
                  </a:lnTo>
                </a:path>
                <a:path w="8000" h="400" fill="none">
                  <a:moveTo>
                    <a:pt x="6035" y="94"/>
                  </a:moveTo>
                  <a:lnTo>
                    <a:pt x="6035" y="190"/>
                  </a:lnTo>
                </a:path>
                <a:path w="8000" h="400" fill="none">
                  <a:moveTo>
                    <a:pt x="6065" y="94"/>
                  </a:moveTo>
                  <a:lnTo>
                    <a:pt x="6065" y="190"/>
                  </a:lnTo>
                </a:path>
                <a:path w="8000" h="400" fill="none">
                  <a:moveTo>
                    <a:pt x="6035" y="306"/>
                  </a:moveTo>
                  <a:lnTo>
                    <a:pt x="6035" y="210"/>
                  </a:lnTo>
                </a:path>
                <a:path w="8000" h="400" fill="none">
                  <a:moveTo>
                    <a:pt x="6065" y="306"/>
                  </a:moveTo>
                  <a:lnTo>
                    <a:pt x="6065" y="210"/>
                  </a:lnTo>
                </a:path>
                <a:path w="8000" h="400" fill="none">
                  <a:moveTo>
                    <a:pt x="6135" y="94"/>
                  </a:moveTo>
                  <a:lnTo>
                    <a:pt x="6135" y="190"/>
                  </a:lnTo>
                </a:path>
                <a:path w="8000" h="400" fill="none">
                  <a:moveTo>
                    <a:pt x="6165" y="94"/>
                  </a:moveTo>
                  <a:lnTo>
                    <a:pt x="6165" y="190"/>
                  </a:lnTo>
                </a:path>
                <a:path w="8000" h="400" fill="none">
                  <a:moveTo>
                    <a:pt x="6135" y="306"/>
                  </a:moveTo>
                  <a:lnTo>
                    <a:pt x="6135" y="210"/>
                  </a:lnTo>
                </a:path>
                <a:path w="8000" h="400" fill="none">
                  <a:moveTo>
                    <a:pt x="6165" y="306"/>
                  </a:moveTo>
                  <a:lnTo>
                    <a:pt x="6165" y="210"/>
                  </a:lnTo>
                </a:path>
                <a:path w="8000" h="400" fill="none">
                  <a:moveTo>
                    <a:pt x="6235" y="94"/>
                  </a:moveTo>
                  <a:lnTo>
                    <a:pt x="6235" y="190"/>
                  </a:lnTo>
                </a:path>
                <a:path w="8000" h="400" fill="none">
                  <a:moveTo>
                    <a:pt x="6265" y="94"/>
                  </a:moveTo>
                  <a:lnTo>
                    <a:pt x="6265" y="190"/>
                  </a:lnTo>
                </a:path>
                <a:path w="8000" h="400" fill="none">
                  <a:moveTo>
                    <a:pt x="6235" y="306"/>
                  </a:moveTo>
                  <a:lnTo>
                    <a:pt x="6235" y="210"/>
                  </a:lnTo>
                </a:path>
                <a:path w="8000" h="400" fill="none">
                  <a:moveTo>
                    <a:pt x="6265" y="306"/>
                  </a:moveTo>
                  <a:lnTo>
                    <a:pt x="6265" y="210"/>
                  </a:lnTo>
                </a:path>
                <a:path w="8000" h="400" fill="none">
                  <a:moveTo>
                    <a:pt x="6335" y="94"/>
                  </a:moveTo>
                  <a:lnTo>
                    <a:pt x="6335" y="190"/>
                  </a:lnTo>
                </a:path>
                <a:path w="8000" h="400" fill="none">
                  <a:moveTo>
                    <a:pt x="6365" y="94"/>
                  </a:moveTo>
                  <a:lnTo>
                    <a:pt x="6365" y="190"/>
                  </a:lnTo>
                </a:path>
                <a:path w="8000" h="400" fill="none">
                  <a:moveTo>
                    <a:pt x="6335" y="306"/>
                  </a:moveTo>
                  <a:lnTo>
                    <a:pt x="6335" y="210"/>
                  </a:lnTo>
                </a:path>
                <a:path w="8000" h="400" fill="none">
                  <a:moveTo>
                    <a:pt x="6365" y="306"/>
                  </a:moveTo>
                  <a:lnTo>
                    <a:pt x="6365" y="210"/>
                  </a:lnTo>
                </a:path>
                <a:path w="8000" h="400" fill="none">
                  <a:moveTo>
                    <a:pt x="6435" y="94"/>
                  </a:moveTo>
                  <a:lnTo>
                    <a:pt x="6435" y="190"/>
                  </a:lnTo>
                </a:path>
                <a:path w="8000" h="400" fill="none">
                  <a:moveTo>
                    <a:pt x="6465" y="94"/>
                  </a:moveTo>
                  <a:lnTo>
                    <a:pt x="6465" y="190"/>
                  </a:lnTo>
                </a:path>
                <a:path w="8000" h="400" fill="none">
                  <a:moveTo>
                    <a:pt x="6435" y="306"/>
                  </a:moveTo>
                  <a:lnTo>
                    <a:pt x="6435" y="210"/>
                  </a:lnTo>
                </a:path>
                <a:path w="8000" h="400" fill="none">
                  <a:moveTo>
                    <a:pt x="6465" y="306"/>
                  </a:moveTo>
                  <a:lnTo>
                    <a:pt x="6465" y="210"/>
                  </a:lnTo>
                </a:path>
                <a:path w="8000" h="400" fill="none">
                  <a:moveTo>
                    <a:pt x="6535" y="94"/>
                  </a:moveTo>
                  <a:lnTo>
                    <a:pt x="6535" y="190"/>
                  </a:lnTo>
                </a:path>
                <a:path w="8000" h="400" fill="none">
                  <a:moveTo>
                    <a:pt x="6565" y="94"/>
                  </a:moveTo>
                  <a:lnTo>
                    <a:pt x="6565" y="190"/>
                  </a:lnTo>
                </a:path>
                <a:path w="8000" h="400" fill="none">
                  <a:moveTo>
                    <a:pt x="6535" y="306"/>
                  </a:moveTo>
                  <a:lnTo>
                    <a:pt x="6535" y="210"/>
                  </a:lnTo>
                </a:path>
                <a:path w="8000" h="400" fill="none">
                  <a:moveTo>
                    <a:pt x="6565" y="306"/>
                  </a:moveTo>
                  <a:lnTo>
                    <a:pt x="6565" y="210"/>
                  </a:lnTo>
                </a:path>
                <a:path w="8000" h="400" fill="none">
                  <a:moveTo>
                    <a:pt x="6635" y="94"/>
                  </a:moveTo>
                  <a:lnTo>
                    <a:pt x="6635" y="190"/>
                  </a:lnTo>
                </a:path>
                <a:path w="8000" h="400" fill="none">
                  <a:moveTo>
                    <a:pt x="6665" y="94"/>
                  </a:moveTo>
                  <a:lnTo>
                    <a:pt x="6665" y="190"/>
                  </a:lnTo>
                </a:path>
                <a:path w="8000" h="400" fill="none">
                  <a:moveTo>
                    <a:pt x="6635" y="306"/>
                  </a:moveTo>
                  <a:lnTo>
                    <a:pt x="6635" y="210"/>
                  </a:lnTo>
                </a:path>
                <a:path w="8000" h="400" fill="none">
                  <a:moveTo>
                    <a:pt x="6665" y="306"/>
                  </a:moveTo>
                  <a:lnTo>
                    <a:pt x="6665" y="210"/>
                  </a:lnTo>
                </a:path>
                <a:path w="8000" h="400" fill="none">
                  <a:moveTo>
                    <a:pt x="6735" y="94"/>
                  </a:moveTo>
                  <a:lnTo>
                    <a:pt x="6735" y="190"/>
                  </a:lnTo>
                </a:path>
                <a:path w="8000" h="400" fill="none">
                  <a:moveTo>
                    <a:pt x="6765" y="94"/>
                  </a:moveTo>
                  <a:lnTo>
                    <a:pt x="6765" y="190"/>
                  </a:lnTo>
                </a:path>
                <a:path w="8000" h="400" fill="none">
                  <a:moveTo>
                    <a:pt x="6735" y="306"/>
                  </a:moveTo>
                  <a:lnTo>
                    <a:pt x="6735" y="210"/>
                  </a:lnTo>
                </a:path>
                <a:path w="8000" h="400" fill="none">
                  <a:moveTo>
                    <a:pt x="6765" y="306"/>
                  </a:moveTo>
                  <a:lnTo>
                    <a:pt x="6765" y="210"/>
                  </a:lnTo>
                </a:path>
                <a:path w="8000" h="400" fill="none">
                  <a:moveTo>
                    <a:pt x="6835" y="94"/>
                  </a:moveTo>
                  <a:lnTo>
                    <a:pt x="6835" y="190"/>
                  </a:lnTo>
                </a:path>
                <a:path w="8000" h="400" fill="none">
                  <a:moveTo>
                    <a:pt x="6865" y="94"/>
                  </a:moveTo>
                  <a:lnTo>
                    <a:pt x="6865" y="190"/>
                  </a:lnTo>
                </a:path>
                <a:path w="8000" h="400" fill="none">
                  <a:moveTo>
                    <a:pt x="6835" y="306"/>
                  </a:moveTo>
                  <a:lnTo>
                    <a:pt x="6835" y="210"/>
                  </a:lnTo>
                </a:path>
                <a:path w="8000" h="400" fill="none">
                  <a:moveTo>
                    <a:pt x="6865" y="306"/>
                  </a:moveTo>
                  <a:lnTo>
                    <a:pt x="6865" y="210"/>
                  </a:lnTo>
                </a:path>
                <a:path w="8000" h="400" fill="none">
                  <a:moveTo>
                    <a:pt x="6935" y="94"/>
                  </a:moveTo>
                  <a:lnTo>
                    <a:pt x="6935" y="190"/>
                  </a:lnTo>
                </a:path>
                <a:path w="8000" h="400" fill="none">
                  <a:moveTo>
                    <a:pt x="6965" y="94"/>
                  </a:moveTo>
                  <a:lnTo>
                    <a:pt x="6965" y="190"/>
                  </a:lnTo>
                </a:path>
                <a:path w="8000" h="400" fill="none">
                  <a:moveTo>
                    <a:pt x="6935" y="306"/>
                  </a:moveTo>
                  <a:lnTo>
                    <a:pt x="6935" y="210"/>
                  </a:lnTo>
                </a:path>
                <a:path w="8000" h="400" fill="none">
                  <a:moveTo>
                    <a:pt x="6965" y="306"/>
                  </a:moveTo>
                  <a:lnTo>
                    <a:pt x="6965" y="210"/>
                  </a:lnTo>
                </a:path>
                <a:path w="8000" h="400" fill="none">
                  <a:moveTo>
                    <a:pt x="7035" y="94"/>
                  </a:moveTo>
                  <a:lnTo>
                    <a:pt x="7035" y="190"/>
                  </a:lnTo>
                </a:path>
                <a:path w="8000" h="400" fill="none">
                  <a:moveTo>
                    <a:pt x="7065" y="94"/>
                  </a:moveTo>
                  <a:lnTo>
                    <a:pt x="7065" y="190"/>
                  </a:lnTo>
                </a:path>
                <a:path w="8000" h="400" fill="none">
                  <a:moveTo>
                    <a:pt x="7035" y="306"/>
                  </a:moveTo>
                  <a:lnTo>
                    <a:pt x="7035" y="210"/>
                  </a:lnTo>
                </a:path>
                <a:path w="8000" h="400" fill="none">
                  <a:moveTo>
                    <a:pt x="7065" y="306"/>
                  </a:moveTo>
                  <a:lnTo>
                    <a:pt x="7065" y="210"/>
                  </a:lnTo>
                </a:path>
                <a:path w="8000" h="400" fill="none">
                  <a:moveTo>
                    <a:pt x="7135" y="94"/>
                  </a:moveTo>
                  <a:lnTo>
                    <a:pt x="7135" y="190"/>
                  </a:lnTo>
                </a:path>
                <a:path w="8000" h="400" fill="none">
                  <a:moveTo>
                    <a:pt x="7165" y="94"/>
                  </a:moveTo>
                  <a:lnTo>
                    <a:pt x="7165" y="190"/>
                  </a:lnTo>
                </a:path>
                <a:path w="8000" h="400" fill="none">
                  <a:moveTo>
                    <a:pt x="7135" y="306"/>
                  </a:moveTo>
                  <a:lnTo>
                    <a:pt x="7135" y="210"/>
                  </a:lnTo>
                </a:path>
                <a:path w="8000" h="400" fill="none">
                  <a:moveTo>
                    <a:pt x="7165" y="306"/>
                  </a:moveTo>
                  <a:lnTo>
                    <a:pt x="7165" y="210"/>
                  </a:lnTo>
                </a:path>
                <a:path w="8000" h="400" fill="none">
                  <a:moveTo>
                    <a:pt x="7235" y="94"/>
                  </a:moveTo>
                  <a:lnTo>
                    <a:pt x="7235" y="190"/>
                  </a:lnTo>
                </a:path>
                <a:path w="8000" h="400" fill="none">
                  <a:moveTo>
                    <a:pt x="7265" y="94"/>
                  </a:moveTo>
                  <a:lnTo>
                    <a:pt x="7265" y="190"/>
                  </a:lnTo>
                </a:path>
                <a:path w="8000" h="400" fill="none">
                  <a:moveTo>
                    <a:pt x="7235" y="306"/>
                  </a:moveTo>
                  <a:lnTo>
                    <a:pt x="7235" y="210"/>
                  </a:lnTo>
                </a:path>
                <a:path w="8000" h="400" fill="none">
                  <a:moveTo>
                    <a:pt x="7265" y="306"/>
                  </a:moveTo>
                  <a:lnTo>
                    <a:pt x="7265" y="210"/>
                  </a:lnTo>
                </a:path>
                <a:path w="8000" h="400" fill="none">
                  <a:moveTo>
                    <a:pt x="7335" y="94"/>
                  </a:moveTo>
                  <a:lnTo>
                    <a:pt x="7335" y="190"/>
                  </a:lnTo>
                </a:path>
                <a:path w="8000" h="400" fill="none">
                  <a:moveTo>
                    <a:pt x="7365" y="94"/>
                  </a:moveTo>
                  <a:lnTo>
                    <a:pt x="7365" y="190"/>
                  </a:lnTo>
                </a:path>
                <a:path w="8000" h="400" fill="none">
                  <a:moveTo>
                    <a:pt x="7335" y="306"/>
                  </a:moveTo>
                  <a:lnTo>
                    <a:pt x="7335" y="210"/>
                  </a:lnTo>
                </a:path>
                <a:path w="8000" h="400" fill="none">
                  <a:moveTo>
                    <a:pt x="7365" y="306"/>
                  </a:moveTo>
                  <a:lnTo>
                    <a:pt x="7365" y="210"/>
                  </a:lnTo>
                </a:path>
                <a:path w="8000" h="400" fill="none">
                  <a:moveTo>
                    <a:pt x="7435" y="94"/>
                  </a:moveTo>
                  <a:lnTo>
                    <a:pt x="7435" y="190"/>
                  </a:lnTo>
                </a:path>
                <a:path w="8000" h="400" fill="none">
                  <a:moveTo>
                    <a:pt x="7465" y="94"/>
                  </a:moveTo>
                  <a:lnTo>
                    <a:pt x="7465" y="190"/>
                  </a:lnTo>
                </a:path>
                <a:path w="8000" h="400" fill="none">
                  <a:moveTo>
                    <a:pt x="7435" y="306"/>
                  </a:moveTo>
                  <a:lnTo>
                    <a:pt x="7435" y="210"/>
                  </a:lnTo>
                </a:path>
                <a:path w="8000" h="400" fill="none">
                  <a:moveTo>
                    <a:pt x="7465" y="306"/>
                  </a:moveTo>
                  <a:lnTo>
                    <a:pt x="7465" y="210"/>
                  </a:lnTo>
                </a:path>
                <a:path w="8000" h="400" fill="none">
                  <a:moveTo>
                    <a:pt x="7535" y="94"/>
                  </a:moveTo>
                  <a:lnTo>
                    <a:pt x="7535" y="190"/>
                  </a:lnTo>
                </a:path>
                <a:path w="8000" h="400" fill="none">
                  <a:moveTo>
                    <a:pt x="7565" y="94"/>
                  </a:moveTo>
                  <a:lnTo>
                    <a:pt x="7565" y="190"/>
                  </a:lnTo>
                </a:path>
                <a:path w="8000" h="400" fill="none">
                  <a:moveTo>
                    <a:pt x="7535" y="306"/>
                  </a:moveTo>
                  <a:lnTo>
                    <a:pt x="7535" y="210"/>
                  </a:lnTo>
                </a:path>
                <a:path w="8000" h="400" fill="none">
                  <a:moveTo>
                    <a:pt x="7565" y="306"/>
                  </a:moveTo>
                  <a:lnTo>
                    <a:pt x="7565" y="210"/>
                  </a:lnTo>
                </a:path>
                <a:path w="8000" h="400" fill="none">
                  <a:moveTo>
                    <a:pt x="7635" y="94"/>
                  </a:moveTo>
                  <a:lnTo>
                    <a:pt x="7635" y="190"/>
                  </a:lnTo>
                </a:path>
                <a:path w="8000" h="400" fill="none">
                  <a:moveTo>
                    <a:pt x="7665" y="94"/>
                  </a:moveTo>
                  <a:lnTo>
                    <a:pt x="7665" y="190"/>
                  </a:lnTo>
                </a:path>
                <a:path w="8000" h="400" fill="none">
                  <a:moveTo>
                    <a:pt x="7635" y="306"/>
                  </a:moveTo>
                  <a:lnTo>
                    <a:pt x="7635" y="210"/>
                  </a:lnTo>
                </a:path>
                <a:path w="8000" h="400" fill="none">
                  <a:moveTo>
                    <a:pt x="7665" y="306"/>
                  </a:moveTo>
                  <a:lnTo>
                    <a:pt x="7665" y="210"/>
                  </a:lnTo>
                </a:path>
                <a:path w="8000" h="400" fill="none">
                  <a:moveTo>
                    <a:pt x="7735" y="94"/>
                  </a:moveTo>
                  <a:lnTo>
                    <a:pt x="7735" y="190"/>
                  </a:lnTo>
                </a:path>
                <a:path w="8000" h="400" fill="none">
                  <a:moveTo>
                    <a:pt x="7765" y="94"/>
                  </a:moveTo>
                  <a:lnTo>
                    <a:pt x="7765" y="190"/>
                  </a:lnTo>
                </a:path>
                <a:path w="8000" h="400" fill="none">
                  <a:moveTo>
                    <a:pt x="7735" y="306"/>
                  </a:moveTo>
                  <a:lnTo>
                    <a:pt x="7735" y="210"/>
                  </a:lnTo>
                </a:path>
                <a:path w="8000" h="400" fill="none">
                  <a:moveTo>
                    <a:pt x="7765" y="306"/>
                  </a:moveTo>
                  <a:lnTo>
                    <a:pt x="7765" y="210"/>
                  </a:lnTo>
                </a:path>
                <a:path w="8000" h="400" fill="none">
                  <a:moveTo>
                    <a:pt x="7835" y="94"/>
                  </a:moveTo>
                  <a:lnTo>
                    <a:pt x="7835" y="190"/>
                  </a:lnTo>
                </a:path>
                <a:path w="8000" h="400" fill="none">
                  <a:moveTo>
                    <a:pt x="7865" y="94"/>
                  </a:moveTo>
                  <a:lnTo>
                    <a:pt x="7865" y="190"/>
                  </a:lnTo>
                </a:path>
                <a:path w="8000" h="400" fill="none">
                  <a:moveTo>
                    <a:pt x="7835" y="306"/>
                  </a:moveTo>
                  <a:lnTo>
                    <a:pt x="7835" y="210"/>
                  </a:lnTo>
                </a:path>
                <a:path w="8000" h="400" fill="none">
                  <a:moveTo>
                    <a:pt x="7865" y="306"/>
                  </a:moveTo>
                  <a:lnTo>
                    <a:pt x="7865" y="210"/>
                  </a:lnTo>
                </a:path>
                <a:path w="8000" h="400" fill="none">
                  <a:moveTo>
                    <a:pt x="7935" y="94"/>
                  </a:moveTo>
                  <a:lnTo>
                    <a:pt x="7935" y="190"/>
                  </a:lnTo>
                </a:path>
                <a:path w="8000" h="400" fill="none">
                  <a:moveTo>
                    <a:pt x="7965" y="94"/>
                  </a:moveTo>
                  <a:lnTo>
                    <a:pt x="7965" y="190"/>
                  </a:lnTo>
                </a:path>
                <a:path w="8000" h="400" fill="none">
                  <a:moveTo>
                    <a:pt x="7935" y="306"/>
                  </a:moveTo>
                  <a:lnTo>
                    <a:pt x="7935" y="210"/>
                  </a:lnTo>
                </a:path>
                <a:path w="8000" h="400" fill="none">
                  <a:moveTo>
                    <a:pt x="7965" y="306"/>
                  </a:moveTo>
                  <a:lnTo>
                    <a:pt x="7965" y="210"/>
                  </a:lnTo>
                </a:path>
              </a:pathLst>
            </a:custGeom>
            <a:noFill/>
            <a:ln w="9525" cap="rnd">
              <a:solidFill>
                <a:srgbClr val="A49887"/>
              </a:solidFill>
              <a:round/>
            </a:ln>
          </p:spPr>
        </p:sp>
      </p:grpSp>
      <p:sp>
        <p:nvSpPr>
          <p:cNvPr id="8" name="Citosol hepatocito"/>
          <p:cNvSpPr/>
          <p:nvPr/>
        </p:nvSpPr>
        <p:spPr>
          <a:xfrm>
            <a:off x="365760" y="2423160"/>
            <a:ext cx="7315200" cy="4069080"/>
          </a:xfrm>
          <a:prstGeom prst="rect">
            <a:avLst/>
          </a:prstGeom>
          <a:solidFill>
            <a:srgbClr val="F5CBA7">
              <a:alpha val="55000"/>
            </a:srgbClr>
          </a:solidFill>
          <a:ln>
            <a:noFill/>
          </a:ln>
        </p:spPr>
      </p:sp>
      <p:sp>
        <p:nvSpPr>
          <p:cNvPr id="9" name="Forma 8"/>
          <p:cNvSpPr txBox="1"/>
          <p:nvPr/>
        </p:nvSpPr>
        <p:spPr>
          <a:xfrm>
            <a:off x="457200" y="6126480"/>
            <a:ext cx="3657600" cy="32004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7A3B12"/>
                </a:solidFill>
                <a:latin typeface="Bahnschrift SemiBold Condensed"/>
                <a:ea typeface="Bahnschrift SemiBold Condensed"/>
                <a:cs typeface="Bahnschrift SemiBold Condensed"/>
                <a:sym typeface="Bahnschrift SemiBold Condensed"/>
              </a:rPr>
              <a:t>CITOSOL DEL HEPATOCITO</a:t>
            </a:r>
            <a:endParaRPr lang="es-AR" sz="1250" dirty="0">
              <a:latin typeface="Bahnschrift SemiBold Condensed"/>
            </a:endParaRPr>
          </a:p>
        </p:txBody>
      </p:sp>
      <p:sp>
        <p:nvSpPr>
          <p:cNvPr id="10" name="Glucagón"/>
          <p:cNvSpPr/>
          <p:nvPr/>
        </p:nvSpPr>
        <p:spPr>
          <a:xfrm>
            <a:off x="1097280" y="914400"/>
            <a:ext cx="502920" cy="502920"/>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Gcg</a:t>
            </a:r>
            <a:endParaRPr lang="es-AR" sz="1300" dirty="0">
              <a:latin typeface="Bahnschrift SemiBold Condensed"/>
            </a:endParaRPr>
          </a:p>
        </p:txBody>
      </p:sp>
      <p:grpSp>
        <p:nvGrpSpPr>
          <p:cNvPr id="11" name="GCGR"/>
          <p:cNvGrpSpPr/>
          <p:nvPr/>
        </p:nvGrpSpPr>
        <p:grpSpPr>
          <a:xfrm>
            <a:off x="640080" y="1597914"/>
            <a:ext cx="1551965" cy="1017270"/>
            <a:chOff x="640080" y="1597914"/>
            <a:chExt cx="1551965" cy="1017270"/>
          </a:xfrm>
        </p:grpSpPr>
        <p:sp>
          <p:nvSpPr>
            <p:cNvPr id="12" name="Forma 11"/>
            <p:cNvSpPr/>
            <p:nvPr/>
          </p:nvSpPr>
          <p:spPr>
            <a:xfrm>
              <a:off x="914400"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3" name="Forma 12"/>
            <p:cNvSpPr/>
            <p:nvPr/>
          </p:nvSpPr>
          <p:spPr>
            <a:xfrm>
              <a:off x="1057732"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4" name="Forma 13"/>
            <p:cNvSpPr/>
            <p:nvPr/>
          </p:nvSpPr>
          <p:spPr>
            <a:xfrm>
              <a:off x="1201064"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5" name="Forma 14"/>
            <p:cNvSpPr/>
            <p:nvPr/>
          </p:nvSpPr>
          <p:spPr>
            <a:xfrm>
              <a:off x="1344397"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6" name="Forma 15"/>
            <p:cNvSpPr/>
            <p:nvPr/>
          </p:nvSpPr>
          <p:spPr>
            <a:xfrm>
              <a:off x="1487729"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7" name="Forma 16"/>
            <p:cNvSpPr/>
            <p:nvPr/>
          </p:nvSpPr>
          <p:spPr>
            <a:xfrm>
              <a:off x="1631061"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8" name="Forma 17"/>
            <p:cNvSpPr/>
            <p:nvPr/>
          </p:nvSpPr>
          <p:spPr>
            <a:xfrm>
              <a:off x="1774393" y="1988820"/>
              <a:ext cx="112928" cy="539496"/>
            </a:xfrm>
            <a:prstGeom prst="roundRect">
              <a:avLst>
                <a:gd name="adj" fmla="val 50000"/>
              </a:avLst>
            </a:prstGeom>
            <a:gradFill rotWithShape="1">
              <a:gsLst>
                <a:gs pos="0">
                  <a:srgbClr val="579070"/>
                </a:gs>
                <a:gs pos="30000">
                  <a:srgbClr val="AADFC1"/>
                </a:gs>
                <a:gs pos="55000">
                  <a:srgbClr val="7DCEA0"/>
                </a:gs>
                <a:gs pos="100000">
                  <a:srgbClr val="579070"/>
                </a:gs>
              </a:gsLst>
              <a:lin ang="5400000" scaled="0"/>
            </a:gradFill>
            <a:ln w="12700" cap="rnd">
              <a:solidFill>
                <a:srgbClr val="3E6750"/>
              </a:solidFill>
              <a:round/>
            </a:ln>
          </p:spPr>
        </p:sp>
        <p:sp>
          <p:nvSpPr>
            <p:cNvPr id="19" name="Forma 18"/>
            <p:cNvSpPr/>
            <p:nvPr/>
          </p:nvSpPr>
          <p:spPr>
            <a:xfrm>
              <a:off x="914400" y="1901952"/>
              <a:ext cx="1003325" cy="713232"/>
            </a:xfrm>
            <a:custGeom>
              <a:avLst/>
              <a:gdLst/>
              <a:ahLst/>
              <a:cxnLst/>
              <a:rect l="0" t="0" r="r" b="b"/>
              <a:pathLst>
                <a:path w="1000" h="1400" fill="none">
                  <a:moveTo>
                    <a:pt x="56" y="1190"/>
                  </a:moveTo>
                  <a:quadBezTo>
                    <a:pt x="127" y="1400"/>
                    <a:pt x="199" y="1190"/>
                  </a:quadBezTo>
                </a:path>
                <a:path w="1000" h="1400" fill="none">
                  <a:moveTo>
                    <a:pt x="199" y="210"/>
                  </a:moveTo>
                  <a:quadBezTo>
                    <a:pt x="270" y="0"/>
                    <a:pt x="341" y="210"/>
                  </a:quadBezTo>
                </a:path>
                <a:path w="1000" h="1400" fill="none">
                  <a:moveTo>
                    <a:pt x="341" y="1190"/>
                  </a:moveTo>
                  <a:quadBezTo>
                    <a:pt x="412" y="1400"/>
                    <a:pt x="484" y="1190"/>
                  </a:quadBezTo>
                </a:path>
                <a:path w="1000" h="1400" fill="none">
                  <a:moveTo>
                    <a:pt x="484" y="210"/>
                  </a:moveTo>
                  <a:quadBezTo>
                    <a:pt x="555" y="0"/>
                    <a:pt x="627" y="210"/>
                  </a:quadBezTo>
                </a:path>
                <a:path w="1000" h="1400" fill="none">
                  <a:moveTo>
                    <a:pt x="627" y="1190"/>
                  </a:moveTo>
                  <a:quadBezTo>
                    <a:pt x="698" y="1400"/>
                    <a:pt x="770" y="1190"/>
                  </a:quadBezTo>
                </a:path>
                <a:path w="1000" h="1400" fill="none">
                  <a:moveTo>
                    <a:pt x="770" y="210"/>
                  </a:moveTo>
                  <a:quadBezTo>
                    <a:pt x="841" y="0"/>
                    <a:pt x="913" y="210"/>
                  </a:quadBezTo>
                </a:path>
              </a:pathLst>
            </a:custGeom>
            <a:noFill/>
            <a:ln w="19050" cap="rnd">
              <a:solidFill>
                <a:srgbClr val="3E6750"/>
              </a:solidFill>
              <a:round/>
            </a:ln>
          </p:spPr>
        </p:sp>
        <p:sp>
          <p:nvSpPr>
            <p:cNvPr id="20" name="Forma 19"/>
            <p:cNvSpPr txBox="1"/>
            <p:nvPr/>
          </p:nvSpPr>
          <p:spPr>
            <a:xfrm>
              <a:off x="640080" y="1597914"/>
              <a:ext cx="1551965"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325240"/>
                  </a:solidFill>
                  <a:latin typeface="Bahnschrift SemiBold Condensed"/>
                  <a:ea typeface="Bahnschrift SemiBold Condensed"/>
                  <a:cs typeface="Bahnschrift SemiBold Condensed"/>
                  <a:sym typeface="Bahnschrift SemiBold Condensed"/>
                </a:rPr>
                <a:t>GCGR</a:t>
              </a:r>
              <a:endParaRPr lang="es-AR" sz="1200" dirty="0">
                <a:latin typeface="Bahnschrift SemiBold Condensed"/>
              </a:endParaRPr>
            </a:p>
          </p:txBody>
        </p:sp>
      </p:grpSp>
      <p:grpSp>
        <p:nvGrpSpPr>
          <p:cNvPr id="21" name="Gαs"/>
          <p:cNvGrpSpPr/>
          <p:nvPr/>
        </p:nvGrpSpPr>
        <p:grpSpPr>
          <a:xfrm>
            <a:off x="1188720" y="2697480"/>
            <a:ext cx="925373" cy="628650"/>
            <a:chOff x="1188720" y="2697480"/>
            <a:chExt cx="925373" cy="628650"/>
          </a:xfrm>
        </p:grpSpPr>
        <p:sp>
          <p:nvSpPr>
            <p:cNvPr id="22" name="Forma 21"/>
            <p:cNvSpPr/>
            <p:nvPr/>
          </p:nvSpPr>
          <p:spPr>
            <a:xfrm>
              <a:off x="1280160" y="2697480"/>
              <a:ext cx="477774" cy="390906"/>
            </a:xfrm>
            <a:prstGeom prst="ellipse">
              <a:avLst/>
            </a:prstGeom>
            <a:gradFill rotWithShape="1">
              <a:gsLst>
                <a:gs pos="0">
                  <a:srgbClr val="F9CF8D"/>
                </a:gs>
                <a:gs pos="55000">
                  <a:srgbClr val="F5B041"/>
                </a:gs>
                <a:gs pos="100000">
                  <a:srgbClr val="B78430"/>
                </a:gs>
              </a:gsLst>
              <a:path path="circle">
                <a:fillToRect l="32000" t="28000" r="68000" b="72000"/>
              </a:path>
            </a:gradFill>
            <a:ln w="15875" cap="rnd">
              <a:solidFill>
                <a:srgbClr val="7A5820"/>
              </a:solidFill>
              <a:round/>
            </a:ln>
          </p:spPr>
          <p:txBody>
            <a:bodyPr wrap="square" lIns="0" tIns="0" rIns="0" bIns="0" anchor="ctr" rtlCol="0">
              <a:noAutofit/>
            </a:bodyPr>
            <a:lstStyle/>
            <a:p>
              <a:pPr algn="ctr">
                <a:spcAft>
                  <a:spcPts val="300"/>
                </a:spcAft>
                <a:buNone/>
              </a:pPr>
              <a:r>
                <a:rPr lang="es-AR" sz="1000" b="1" dirty="0">
                  <a:solidFill>
                    <a:srgbClr val="1E1E1E"/>
                  </a:solidFill>
                  <a:latin typeface="Bahnschrift SemiBold Condensed"/>
                  <a:ea typeface="Bahnschrift SemiBold Condensed"/>
                  <a:cs typeface="Bahnschrift SemiBold Condensed"/>
                  <a:sym typeface="Bahnschrift SemiBold Condensed"/>
                </a:rPr>
                <a:t>α·GTP</a:t>
              </a:r>
              <a:endParaRPr lang="es-AR" sz="1000" dirty="0">
                <a:latin typeface="Bahnschrift SemiBold Condensed"/>
              </a:endParaRPr>
            </a:p>
          </p:txBody>
        </p:sp>
        <p:sp>
          <p:nvSpPr>
            <p:cNvPr id="23" name="Forma 22"/>
            <p:cNvSpPr/>
            <p:nvPr/>
          </p:nvSpPr>
          <p:spPr>
            <a:xfrm>
              <a:off x="1714500" y="2714854"/>
              <a:ext cx="277978" cy="277978"/>
            </a:xfrm>
            <a:prstGeom prst="ellipse">
              <a:avLst/>
            </a:prstGeom>
            <a:gradFill rotWithShape="1">
              <a:gsLst>
                <a:gs pos="0">
                  <a:srgbClr val="CEE6F6"/>
                </a:gs>
                <a:gs pos="55000">
                  <a:srgbClr val="AED6F1"/>
                </a:gs>
                <a:gs pos="100000">
                  <a:srgbClr val="82A0B4"/>
                </a:gs>
              </a:gsLst>
              <a:path path="circle">
                <a:fillToRect l="32000" t="28000" r="68000" b="72000"/>
              </a:path>
            </a:gradFill>
            <a:ln w="12700" cap="rnd">
              <a:solidFill>
                <a:srgbClr val="2471A3"/>
              </a:solidFill>
              <a:round/>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β</a:t>
              </a:r>
              <a:endParaRPr lang="es-AR" sz="1100" dirty="0">
                <a:latin typeface="Bahnschrift SemiBold Condensed"/>
              </a:endParaRPr>
            </a:p>
          </p:txBody>
        </p:sp>
        <p:sp>
          <p:nvSpPr>
            <p:cNvPr id="24" name="Forma 23"/>
            <p:cNvSpPr/>
            <p:nvPr/>
          </p:nvSpPr>
          <p:spPr>
            <a:xfrm>
              <a:off x="1940357" y="2697480"/>
              <a:ext cx="173736" cy="173736"/>
            </a:xfrm>
            <a:prstGeom prst="ellipse">
              <a:avLst/>
            </a:prstGeom>
            <a:gradFill rotWithShape="1">
              <a:gsLst>
                <a:gs pos="0">
                  <a:srgbClr val="E4D2EB"/>
                </a:gs>
                <a:gs pos="55000">
                  <a:srgbClr val="D2B4DE"/>
                </a:gs>
                <a:gs pos="100000">
                  <a:srgbClr val="9D87A6"/>
                </a:gs>
              </a:gsLst>
              <a:path path="circle">
                <a:fillToRect l="32000" t="28000" r="68000" b="72000"/>
              </a:path>
            </a:gradFill>
            <a:ln w="12700" cap="rnd">
              <a:solidFill>
                <a:srgbClr val="6C3483"/>
              </a:solidFill>
              <a:round/>
            </a:ln>
          </p:spPr>
          <p:txBody>
            <a:bodyPr wrap="square" lIns="0" tIns="0" rIns="0" bIns="0" anchor="ctr" rtlCol="0">
              <a:noAutofit/>
            </a:bodyPr>
            <a:lstStyle/>
            <a:p>
              <a:pPr algn="ctr">
                <a:spcAft>
                  <a:spcPts val="300"/>
                </a:spcAft>
                <a:buNone/>
              </a:pPr>
              <a:r>
                <a:rPr lang="es-AR" sz="900" b="1" dirty="0">
                  <a:solidFill>
                    <a:srgbClr val="1E1E1E"/>
                  </a:solidFill>
                  <a:latin typeface="Bahnschrift SemiBold Condensed"/>
                  <a:ea typeface="Bahnschrift SemiBold Condensed"/>
                  <a:cs typeface="Bahnschrift SemiBold Condensed"/>
                  <a:sym typeface="Bahnschrift SemiBold Condensed"/>
                </a:rPr>
                <a:t>γ</a:t>
              </a:r>
              <a:endParaRPr lang="es-AR" sz="900" dirty="0">
                <a:latin typeface="Bahnschrift SemiBold Condensed"/>
              </a:endParaRPr>
            </a:p>
          </p:txBody>
        </p:sp>
        <p:sp>
          <p:nvSpPr>
            <p:cNvPr id="25" name="Forma 24"/>
            <p:cNvSpPr txBox="1"/>
            <p:nvPr/>
          </p:nvSpPr>
          <p:spPr>
            <a:xfrm>
              <a:off x="1188720" y="3088386"/>
              <a:ext cx="834390" cy="237744"/>
            </a:xfrm>
            <a:prstGeom prst="rect">
              <a:avLst/>
            </a:prstGeom>
            <a:noFill/>
            <a:ln>
              <a:noFill/>
            </a:ln>
          </p:spPr>
          <p:txBody>
            <a:bodyPr wrap="square" lIns="0" tIns="0" rIns="0" bIns="0" anchor="ctr" rtlCol="0">
              <a:noAutofit/>
            </a:bodyPr>
            <a:lstStyle/>
            <a:p>
              <a:pPr algn="ctr">
                <a:spcAft>
                  <a:spcPts val="300"/>
                </a:spcAft>
                <a:buNone/>
              </a:pPr>
              <a:r>
                <a:rPr lang="es-AR" sz="1100" b="1" dirty="0">
                  <a:solidFill>
                    <a:srgbClr val="62461A"/>
                  </a:solidFill>
                  <a:latin typeface="Bahnschrift SemiBold Condensed"/>
                  <a:ea typeface="Bahnschrift SemiBold Condensed"/>
                  <a:cs typeface="Bahnschrift SemiBold Condensed"/>
                  <a:sym typeface="Bahnschrift SemiBold Condensed"/>
                </a:rPr>
                <a:t>Gs</a:t>
              </a:r>
              <a:endParaRPr lang="es-AR" sz="1100" dirty="0">
                <a:latin typeface="Bahnschrift SemiBold Condensed"/>
              </a:endParaRPr>
            </a:p>
          </p:txBody>
        </p:sp>
      </p:grpSp>
      <p:sp>
        <p:nvSpPr>
          <p:cNvPr id="26" name="Adenilato ciclasa"/>
          <p:cNvSpPr/>
          <p:nvPr/>
        </p:nvSpPr>
        <p:spPr>
          <a:xfrm>
            <a:off x="2926080" y="1965960"/>
            <a:ext cx="1188720" cy="548640"/>
          </a:xfrm>
          <a:prstGeom prst="roundRect">
            <a:avLst/>
          </a:prstGeom>
          <a:gradFill rotWithShape="1">
            <a:gsLst>
              <a:gs pos="0">
                <a:srgbClr val="734984"/>
              </a:gs>
              <a:gs pos="30000">
                <a:srgbClr val="C49DD4"/>
              </a:gs>
              <a:gs pos="55000">
                <a:srgbClr val="A569BD"/>
              </a:gs>
              <a:gs pos="100000">
                <a:srgbClr val="734984"/>
              </a:gs>
            </a:gsLst>
            <a:lin ang="5400000" scaled="0"/>
          </a:gradFill>
          <a:ln w="15875" cap="rnd">
            <a:solidFill>
              <a:srgbClr val="5B2C6F"/>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Adenilato</a:t>
            </a:r>
            <a:endParaRPr lang="es-AR" sz="1100" dirty="0">
              <a:latin typeface="Bahnschrift SemiBold Condensed"/>
            </a:endParaRPr>
          </a:p>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ciclasa</a:t>
            </a:r>
            <a:endParaRPr lang="es-AR" sz="1100" dirty="0">
              <a:latin typeface="Bahnschrift SemiBold Condensed"/>
            </a:endParaRPr>
          </a:p>
        </p:txBody>
      </p:sp>
      <p:sp>
        <p:nvSpPr>
          <p:cNvPr id="27" name="ATP"/>
          <p:cNvSpPr/>
          <p:nvPr/>
        </p:nvSpPr>
        <p:spPr>
          <a:xfrm>
            <a:off x="2971800" y="2880360"/>
            <a:ext cx="54864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ATP</a:t>
            </a:r>
            <a:endParaRPr lang="es-AR" sz="1092" dirty="0">
              <a:latin typeface="Bahnschrift SemiBold Condensed"/>
            </a:endParaRPr>
          </a:p>
        </p:txBody>
      </p:sp>
      <p:sp>
        <p:nvSpPr>
          <p:cNvPr id="28" name="AMPc"/>
          <p:cNvSpPr/>
          <p:nvPr/>
        </p:nvSpPr>
        <p:spPr>
          <a:xfrm>
            <a:off x="3886200" y="2926080"/>
            <a:ext cx="68580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AMPc</a:t>
            </a:r>
            <a:endParaRPr lang="es-AR" sz="1050" dirty="0">
              <a:latin typeface="Bahnschrift SemiBold Condensed"/>
            </a:endParaRPr>
          </a:p>
        </p:txBody>
      </p:sp>
      <p:sp>
        <p:nvSpPr>
          <p:cNvPr id="29" name="PKA"/>
          <p:cNvSpPr/>
          <p:nvPr/>
        </p:nvSpPr>
        <p:spPr>
          <a:xfrm>
            <a:off x="3840480" y="3657600"/>
            <a:ext cx="1097280" cy="548640"/>
          </a:xfrm>
          <a:prstGeom prst="roundRect">
            <a:avLst/>
          </a:prstGeom>
          <a:gradFill rotWithShape="1">
            <a:gsLst>
              <a:gs pos="0">
                <a:srgbClr val="88DBCB"/>
              </a:gs>
              <a:gs pos="55000">
                <a:srgbClr val="48C9B0"/>
              </a:gs>
              <a:gs pos="100000">
                <a:srgbClr val="369684"/>
              </a:gs>
            </a:gsLst>
            <a:path path="circle">
              <a:fillToRect l="32000" t="28000" r="68000" b="72000"/>
            </a:path>
          </a:gradFill>
          <a:ln w="15875" cap="rnd">
            <a:solidFill>
              <a:srgbClr val="117A6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PKA</a:t>
            </a:r>
            <a:endParaRPr lang="es-AR" sz="1500" dirty="0">
              <a:latin typeface="Bahnschrift SemiBold Condensed"/>
            </a:endParaRPr>
          </a:p>
        </p:txBody>
      </p:sp>
      <p:sp>
        <p:nvSpPr>
          <p:cNvPr id="30" name="Flecha 29_2"/>
          <p:cNvSpPr/>
          <p:nvPr/>
        </p:nvSpPr>
        <p:spPr>
          <a:xfrm>
            <a:off x="4224528" y="3337560"/>
            <a:ext cx="118872" cy="301752"/>
          </a:xfrm>
          <a:custGeom>
            <a:avLst/>
            <a:gdLst/>
            <a:ahLst/>
            <a:cxnLst/>
            <a:rect l="0" t="0" r="r" b="b"/>
            <a:pathLst>
              <a:path w="129" h="330" fill="none">
                <a:moveTo>
                  <a:pt x="0" y="0"/>
                </a:moveTo>
                <a:lnTo>
                  <a:pt x="129" y="330"/>
                </a:lnTo>
              </a:path>
            </a:pathLst>
          </a:custGeom>
          <a:noFill/>
          <a:ln w="31750" cap="rnd">
            <a:solidFill>
              <a:srgbClr val="1E8C3A"/>
            </a:solidFill>
            <a:round/>
            <a:tailEnd type="triangle" w="med" len="med"/>
          </a:ln>
        </p:spPr>
      </p:sp>
      <p:grpSp>
        <p:nvGrpSpPr>
          <p:cNvPr id="31" name="Blanco PKA Fosforilasa cina"/>
          <p:cNvGrpSpPr/>
          <p:nvPr/>
        </p:nvGrpSpPr>
        <p:grpSpPr>
          <a:xfrm>
            <a:off x="411480" y="4224528"/>
            <a:ext cx="3977640" cy="1810512"/>
            <a:chOff x="411480" y="4224528"/>
            <a:chExt cx="3977640" cy="1810512"/>
          </a:xfrm>
        </p:grpSpPr>
        <p:sp>
          <p:nvSpPr>
            <p:cNvPr id="32" name="Flecha 32_2"/>
            <p:cNvSpPr/>
            <p:nvPr/>
          </p:nvSpPr>
          <p:spPr>
            <a:xfrm>
              <a:off x="1097280" y="4224528"/>
              <a:ext cx="3291840" cy="667512"/>
            </a:xfrm>
            <a:custGeom>
              <a:avLst/>
              <a:gdLst/>
              <a:ahLst/>
              <a:cxnLst/>
              <a:rect l="0" t="0" r="r" b="b"/>
              <a:pathLst>
                <a:path w="3599" h="729" fill="none">
                  <a:moveTo>
                    <a:pt x="3599" y="0"/>
                  </a:moveTo>
                  <a:lnTo>
                    <a:pt x="0" y="729"/>
                  </a:lnTo>
                </a:path>
              </a:pathLst>
            </a:custGeom>
            <a:noFill/>
            <a:ln w="28575" cap="rnd">
              <a:solidFill>
                <a:srgbClr val="1E8C3A"/>
              </a:solidFill>
              <a:round/>
              <a:tailEnd type="triangle" w="med" len="med"/>
            </a:ln>
          </p:spPr>
        </p:sp>
        <p:sp>
          <p:nvSpPr>
            <p:cNvPr id="33" name="Signo +"/>
            <p:cNvSpPr/>
            <p:nvPr/>
          </p:nvSpPr>
          <p:spPr>
            <a:xfrm>
              <a:off x="960120" y="4846320"/>
              <a:ext cx="256032" cy="256032"/>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34" name="Forma 35"/>
            <p:cNvSpPr/>
            <p:nvPr/>
          </p:nvSpPr>
          <p:spPr>
            <a:xfrm>
              <a:off x="411480" y="5166360"/>
              <a:ext cx="1371600" cy="868680"/>
            </a:xfrm>
            <a:prstGeom prst="rect">
              <a:avLst/>
            </a:prstGeom>
            <a:solidFill>
              <a:srgbClr val="CDE8C4"/>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dirty="0">
                  <a:solidFill>
                    <a:srgbClr val="1E1E1E"/>
                  </a:solidFill>
                  <a:latin typeface="Bahnschrift"/>
                  <a:ea typeface="Bahnschrift"/>
                  <a:cs typeface="Bahnschrift"/>
                  <a:sym typeface="Bahnschrift"/>
                </a:rPr>
                <a:t>Fosforilasa cinasa → </a:t>
              </a:r>
              <a:r>
                <a:rPr lang="es-AR" sz="1200" b="1" dirty="0">
                  <a:solidFill>
                    <a:srgbClr val="1E1E1E"/>
                  </a:solidFill>
                  <a:latin typeface="Bahnschrift"/>
                  <a:ea typeface="Bahnschrift"/>
                  <a:cs typeface="Bahnschrift"/>
                  <a:sym typeface="Bahnschrift"/>
                </a:rPr>
                <a:t>glucógeno fosforilasa a</a:t>
              </a:r>
              <a:endParaRPr lang="es-AR" sz="1200" dirty="0">
                <a:latin typeface="Bahnschrift"/>
              </a:endParaRPr>
            </a:p>
          </p:txBody>
        </p:sp>
      </p:grpSp>
      <p:grpSp>
        <p:nvGrpSpPr>
          <p:cNvPr id="35" name="Blanco PKA Glucógeno sintas"/>
          <p:cNvGrpSpPr/>
          <p:nvPr/>
        </p:nvGrpSpPr>
        <p:grpSpPr>
          <a:xfrm>
            <a:off x="1828800" y="4224528"/>
            <a:ext cx="2560320" cy="1810512"/>
            <a:chOff x="1828800" y="4224528"/>
            <a:chExt cx="2560320" cy="1810512"/>
          </a:xfrm>
        </p:grpSpPr>
        <p:sp>
          <p:nvSpPr>
            <p:cNvPr id="36" name="Flecha 37_2"/>
            <p:cNvSpPr/>
            <p:nvPr/>
          </p:nvSpPr>
          <p:spPr>
            <a:xfrm>
              <a:off x="2514600" y="4224528"/>
              <a:ext cx="1874520" cy="667512"/>
            </a:xfrm>
            <a:custGeom>
              <a:avLst/>
              <a:gdLst/>
              <a:ahLst/>
              <a:cxnLst/>
              <a:rect l="0" t="0" r="r" b="b"/>
              <a:pathLst>
                <a:path w="2050" h="729" fill="none">
                  <a:moveTo>
                    <a:pt x="2050" y="0"/>
                  </a:moveTo>
                  <a:lnTo>
                    <a:pt x="0" y="729"/>
                  </a:lnTo>
                </a:path>
              </a:pathLst>
            </a:custGeom>
            <a:noFill/>
            <a:ln w="28575" cap="rnd">
              <a:solidFill>
                <a:srgbClr val="C00000"/>
              </a:solidFill>
              <a:round/>
              <a:tailEnd type="triangle" w="med" len="med"/>
            </a:ln>
          </p:spPr>
        </p:sp>
        <p:sp>
          <p:nvSpPr>
            <p:cNvPr id="37" name="Signo −"/>
            <p:cNvSpPr/>
            <p:nvPr/>
          </p:nvSpPr>
          <p:spPr>
            <a:xfrm>
              <a:off x="2377440" y="4846320"/>
              <a:ext cx="256032" cy="256032"/>
            </a:xfrm>
            <a:prstGeom prst="ellipse">
              <a:avLst/>
            </a:prstGeom>
            <a:solidFill>
              <a:srgbClr val="C00000"/>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38" name="Forma 40"/>
            <p:cNvSpPr/>
            <p:nvPr/>
          </p:nvSpPr>
          <p:spPr>
            <a:xfrm>
              <a:off x="1828800" y="5166360"/>
              <a:ext cx="1371600" cy="868680"/>
            </a:xfrm>
            <a:prstGeom prst="rect">
              <a:avLst/>
            </a:prstGeom>
            <a:solidFill>
              <a:srgbClr val="FAD3BC"/>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a:ea typeface="Bahnschrift"/>
                  <a:cs typeface="Bahnschrift"/>
                  <a:sym typeface="Bahnschrift"/>
                </a:rPr>
                <a:t>Glucógeno sintasa</a:t>
              </a:r>
              <a:r>
                <a:rPr lang="es-AR" sz="1200" dirty="0">
                  <a:solidFill>
                    <a:srgbClr val="1E1E1E"/>
                  </a:solidFill>
                  <a:latin typeface="Bahnschrift"/>
                  <a:ea typeface="Bahnschrift"/>
                  <a:cs typeface="Bahnschrift"/>
                  <a:sym typeface="Bahnschrift"/>
                </a:rPr>
                <a:t> (fosforilada)</a:t>
              </a:r>
              <a:endParaRPr lang="es-AR" sz="1200" dirty="0">
                <a:latin typeface="Bahnschrift"/>
              </a:endParaRPr>
            </a:p>
          </p:txBody>
        </p:sp>
      </p:grpSp>
      <p:grpSp>
        <p:nvGrpSpPr>
          <p:cNvPr id="39" name="Blanco PKA PFK-2/FBPasa-2 →"/>
          <p:cNvGrpSpPr/>
          <p:nvPr/>
        </p:nvGrpSpPr>
        <p:grpSpPr>
          <a:xfrm>
            <a:off x="3246120" y="4224528"/>
            <a:ext cx="1371600" cy="1810512"/>
            <a:chOff x="3246120" y="4224528"/>
            <a:chExt cx="1371600" cy="1810512"/>
          </a:xfrm>
        </p:grpSpPr>
        <p:sp>
          <p:nvSpPr>
            <p:cNvPr id="40" name="Flecha 42_2"/>
            <p:cNvSpPr/>
            <p:nvPr/>
          </p:nvSpPr>
          <p:spPr>
            <a:xfrm>
              <a:off x="3931920" y="4224528"/>
              <a:ext cx="457200" cy="667512"/>
            </a:xfrm>
            <a:custGeom>
              <a:avLst/>
              <a:gdLst/>
              <a:ahLst/>
              <a:cxnLst/>
              <a:rect l="0" t="0" r="r" b="b"/>
              <a:pathLst>
                <a:path w="500" h="729" fill="none">
                  <a:moveTo>
                    <a:pt x="500" y="0"/>
                  </a:moveTo>
                  <a:lnTo>
                    <a:pt x="0" y="729"/>
                  </a:lnTo>
                </a:path>
              </a:pathLst>
            </a:custGeom>
            <a:noFill/>
            <a:ln w="28575" cap="rnd">
              <a:solidFill>
                <a:srgbClr val="C00000"/>
              </a:solidFill>
              <a:round/>
              <a:tailEnd type="triangle" w="med" len="med"/>
            </a:ln>
          </p:spPr>
        </p:sp>
        <p:sp>
          <p:nvSpPr>
            <p:cNvPr id="41" name="Signo −_2"/>
            <p:cNvSpPr/>
            <p:nvPr/>
          </p:nvSpPr>
          <p:spPr>
            <a:xfrm>
              <a:off x="3794760" y="4846320"/>
              <a:ext cx="256032" cy="256032"/>
            </a:xfrm>
            <a:prstGeom prst="ellipse">
              <a:avLst/>
            </a:prstGeom>
            <a:solidFill>
              <a:srgbClr val="C00000"/>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42" name="Forma 45"/>
            <p:cNvSpPr/>
            <p:nvPr/>
          </p:nvSpPr>
          <p:spPr>
            <a:xfrm>
              <a:off x="3246120" y="5166360"/>
              <a:ext cx="1371600" cy="868680"/>
            </a:xfrm>
            <a:prstGeom prst="rect">
              <a:avLst/>
            </a:prstGeom>
            <a:solidFill>
              <a:srgbClr val="FAD3BC"/>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a:ea typeface="Bahnschrift"/>
                  <a:cs typeface="Bahnschrift"/>
                  <a:sym typeface="Bahnschrift"/>
                </a:rPr>
                <a:t>PFK-2/FBPasa-2</a:t>
              </a:r>
              <a:r>
                <a:rPr lang="es-AR" sz="1200" dirty="0">
                  <a:solidFill>
                    <a:srgbClr val="1E1E1E"/>
                  </a:solidFill>
                  <a:latin typeface="Bahnschrift"/>
                  <a:ea typeface="Bahnschrift"/>
                  <a:cs typeface="Bahnschrift"/>
                  <a:sym typeface="Bahnschrift"/>
                </a:rPr>
                <a:t> → ↓ F2,6BP</a:t>
              </a:r>
              <a:endParaRPr lang="es-AR" sz="1200" dirty="0">
                <a:latin typeface="Bahnschrift"/>
              </a:endParaRPr>
            </a:p>
          </p:txBody>
        </p:sp>
      </p:grpSp>
      <p:grpSp>
        <p:nvGrpSpPr>
          <p:cNvPr id="43" name="Blanco PKA Piruvato cinasa "/>
          <p:cNvGrpSpPr/>
          <p:nvPr/>
        </p:nvGrpSpPr>
        <p:grpSpPr>
          <a:xfrm>
            <a:off x="4389120" y="4224528"/>
            <a:ext cx="1645920" cy="1810512"/>
            <a:chOff x="4389120" y="4224528"/>
            <a:chExt cx="1645920" cy="1810512"/>
          </a:xfrm>
        </p:grpSpPr>
        <p:sp>
          <p:nvSpPr>
            <p:cNvPr id="44" name="Flecha 47_2"/>
            <p:cNvSpPr/>
            <p:nvPr/>
          </p:nvSpPr>
          <p:spPr>
            <a:xfrm>
              <a:off x="4389120" y="4224528"/>
              <a:ext cx="960120" cy="667512"/>
            </a:xfrm>
            <a:custGeom>
              <a:avLst/>
              <a:gdLst/>
              <a:ahLst/>
              <a:cxnLst/>
              <a:rect l="0" t="0" r="r" b="b"/>
              <a:pathLst>
                <a:path w="1050" h="729" fill="none">
                  <a:moveTo>
                    <a:pt x="0" y="0"/>
                  </a:moveTo>
                  <a:lnTo>
                    <a:pt x="1050" y="729"/>
                  </a:lnTo>
                </a:path>
              </a:pathLst>
            </a:custGeom>
            <a:noFill/>
            <a:ln w="28575" cap="rnd">
              <a:solidFill>
                <a:srgbClr val="C00000"/>
              </a:solidFill>
              <a:round/>
              <a:tailEnd type="triangle" w="med" len="med"/>
            </a:ln>
          </p:spPr>
        </p:sp>
        <p:sp>
          <p:nvSpPr>
            <p:cNvPr id="45" name="Signo −_3"/>
            <p:cNvSpPr/>
            <p:nvPr/>
          </p:nvSpPr>
          <p:spPr>
            <a:xfrm>
              <a:off x="5212080" y="4846320"/>
              <a:ext cx="256032" cy="256032"/>
            </a:xfrm>
            <a:prstGeom prst="ellipse">
              <a:avLst/>
            </a:prstGeom>
            <a:solidFill>
              <a:srgbClr val="C00000"/>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46" name="Forma 50"/>
            <p:cNvSpPr/>
            <p:nvPr/>
          </p:nvSpPr>
          <p:spPr>
            <a:xfrm>
              <a:off x="4663440" y="5166360"/>
              <a:ext cx="1371600" cy="868680"/>
            </a:xfrm>
            <a:prstGeom prst="rect">
              <a:avLst/>
            </a:prstGeom>
            <a:solidFill>
              <a:srgbClr val="FAD3BC"/>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a:ea typeface="Bahnschrift"/>
                  <a:cs typeface="Bahnschrift"/>
                  <a:sym typeface="Bahnschrift"/>
                </a:rPr>
                <a:t>Piruvato cinasa L</a:t>
              </a:r>
              <a:endParaRPr lang="es-AR" sz="1200" dirty="0">
                <a:latin typeface="Bahnschrift"/>
              </a:endParaRPr>
            </a:p>
          </p:txBody>
        </p:sp>
      </p:grpSp>
      <p:grpSp>
        <p:nvGrpSpPr>
          <p:cNvPr id="47" name="Blanco PKA CREB → ↑ PCK1, G"/>
          <p:cNvGrpSpPr/>
          <p:nvPr/>
        </p:nvGrpSpPr>
        <p:grpSpPr>
          <a:xfrm>
            <a:off x="4389120" y="4224528"/>
            <a:ext cx="3063240" cy="1810512"/>
            <a:chOff x="4389120" y="4224528"/>
            <a:chExt cx="3063240" cy="1810512"/>
          </a:xfrm>
        </p:grpSpPr>
        <p:sp>
          <p:nvSpPr>
            <p:cNvPr id="48" name="Flecha 52_2"/>
            <p:cNvSpPr/>
            <p:nvPr/>
          </p:nvSpPr>
          <p:spPr>
            <a:xfrm>
              <a:off x="4389120" y="4224528"/>
              <a:ext cx="2377440" cy="667512"/>
            </a:xfrm>
            <a:custGeom>
              <a:avLst/>
              <a:gdLst/>
              <a:ahLst/>
              <a:cxnLst/>
              <a:rect l="0" t="0" r="r" b="b"/>
              <a:pathLst>
                <a:path w="2600" h="729" fill="none">
                  <a:moveTo>
                    <a:pt x="0" y="0"/>
                  </a:moveTo>
                  <a:lnTo>
                    <a:pt x="2600" y="729"/>
                  </a:lnTo>
                </a:path>
              </a:pathLst>
            </a:custGeom>
            <a:noFill/>
            <a:ln w="28575" cap="rnd">
              <a:solidFill>
                <a:srgbClr val="1E8C3A"/>
              </a:solidFill>
              <a:round/>
              <a:tailEnd type="triangle" w="med" len="med"/>
            </a:ln>
          </p:spPr>
        </p:sp>
        <p:sp>
          <p:nvSpPr>
            <p:cNvPr id="49" name="Signo +_2"/>
            <p:cNvSpPr/>
            <p:nvPr/>
          </p:nvSpPr>
          <p:spPr>
            <a:xfrm>
              <a:off x="6629400" y="4846320"/>
              <a:ext cx="256032" cy="256032"/>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50" name="Forma 55"/>
            <p:cNvSpPr/>
            <p:nvPr/>
          </p:nvSpPr>
          <p:spPr>
            <a:xfrm>
              <a:off x="6080760" y="5166360"/>
              <a:ext cx="1371600" cy="868680"/>
            </a:xfrm>
            <a:prstGeom prst="rect">
              <a:avLst/>
            </a:prstGeom>
            <a:solidFill>
              <a:srgbClr val="CDE8C4"/>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a:ea typeface="Bahnschrift"/>
                  <a:cs typeface="Bahnschrift"/>
                  <a:sym typeface="Bahnschrift"/>
                </a:rPr>
                <a:t>CREB</a:t>
              </a:r>
              <a:r>
                <a:rPr lang="es-AR" sz="1200" dirty="0">
                  <a:solidFill>
                    <a:srgbClr val="1E1E1E"/>
                  </a:solidFill>
                  <a:latin typeface="Bahnschrift"/>
                  <a:ea typeface="Bahnschrift"/>
                  <a:cs typeface="Bahnschrift"/>
                  <a:sym typeface="Bahnschrift"/>
                </a:rPr>
                <a:t> → ↑ PCK1, G6PC</a:t>
              </a:r>
              <a:endParaRPr lang="es-AR" sz="1200" dirty="0">
                <a:latin typeface="Bahnschrift"/>
              </a:endParaRPr>
            </a:p>
          </p:txBody>
        </p:sp>
      </p:grpSp>
      <p:grpSp>
        <p:nvGrpSpPr>
          <p:cNvPr id="51" name="Recuadro Resultado hepático"/>
          <p:cNvGrpSpPr/>
          <p:nvPr/>
        </p:nvGrpSpPr>
        <p:grpSpPr>
          <a:xfrm>
            <a:off x="7955280" y="1005840"/>
            <a:ext cx="3840480" cy="3017520"/>
            <a:chOff x="7955280" y="1005840"/>
            <a:chExt cx="3840480" cy="3017520"/>
          </a:xfrm>
        </p:grpSpPr>
        <p:sp>
          <p:nvSpPr>
            <p:cNvPr id="52" name="Forma 57"/>
            <p:cNvSpPr/>
            <p:nvPr/>
          </p:nvSpPr>
          <p:spPr>
            <a:xfrm>
              <a:off x="7955280" y="1188720"/>
              <a:ext cx="3840480" cy="28346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 glucogenólisis</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 gluconeogénesis</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 glucólisis</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 lipogénesis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 ACC (también vía AMPK) → ↓ malonil-CoA</a:t>
              </a:r>
              <a:endParaRPr lang="es-AR" sz="1750" dirty="0">
                <a:latin typeface="Bahnschrift"/>
              </a:endParaRPr>
            </a:p>
          </p:txBody>
        </p:sp>
        <p:sp>
          <p:nvSpPr>
            <p:cNvPr id="53" name="Forma 58"/>
            <p:cNvSpPr/>
            <p:nvPr/>
          </p:nvSpPr>
          <p:spPr>
            <a:xfrm>
              <a:off x="8065008" y="1005840"/>
              <a:ext cx="201899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RESULTADO HEPÁTICO</a:t>
              </a:r>
              <a:endParaRPr lang="es-AR" sz="1600" dirty="0">
                <a:latin typeface="Bahnschrift SemiBold Condensed"/>
              </a:endParaRPr>
            </a:p>
          </p:txBody>
        </p:sp>
      </p:grpSp>
      <p:sp>
        <p:nvSpPr>
          <p:cNvPr id="54" name="Perla"/>
          <p:cNvSpPr/>
          <p:nvPr/>
        </p:nvSpPr>
        <p:spPr>
          <a:xfrm>
            <a:off x="7955280" y="4251960"/>
            <a:ext cx="3840480" cy="21945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No asumir que el glucagón sea el activador directo </a:t>
            </a:r>
            <a:r>
              <a:rPr lang="es-AR" sz="1600" b="1" dirty="0">
                <a:solidFill>
                  <a:srgbClr val="FFFFFF"/>
                </a:solidFill>
                <a:latin typeface="Bahnschrift"/>
                <a:ea typeface="Bahnschrift"/>
                <a:cs typeface="Bahnschrift"/>
                <a:sym typeface="Bahnschrift"/>
              </a:rPr>
              <a:t>dominante</a:t>
            </a:r>
            <a:r>
              <a:rPr lang="es-AR" sz="1600" dirty="0">
                <a:solidFill>
                  <a:srgbClr val="FFFFFF"/>
                </a:solidFill>
                <a:latin typeface="Bahnschrift"/>
                <a:ea typeface="Bahnschrift"/>
                <a:cs typeface="Bahnschrift"/>
                <a:sym typeface="Bahnschrift"/>
              </a:rPr>
              <a:t> de la lipólisis adiposa humana: allí importan el </a:t>
            </a:r>
            <a:r>
              <a:rPr lang="es-AR" sz="1600" b="1" dirty="0">
                <a:solidFill>
                  <a:srgbClr val="FFFFFF"/>
                </a:solidFill>
                <a:latin typeface="Bahnschrift"/>
                <a:ea typeface="Bahnschrift"/>
                <a:cs typeface="Bahnschrift"/>
                <a:sym typeface="Bahnschrift"/>
              </a:rPr>
              <a:t>descenso de insulina</a:t>
            </a:r>
            <a:r>
              <a:rPr lang="es-AR" sz="1600" dirty="0">
                <a:solidFill>
                  <a:srgbClr val="FFFFFF"/>
                </a:solidFill>
                <a:latin typeface="Bahnschrift"/>
                <a:ea typeface="Bahnschrift"/>
                <a:cs typeface="Bahnschrift"/>
                <a:sym typeface="Bahnschrift"/>
              </a:rPr>
              <a:t> y las </a:t>
            </a:r>
            <a:r>
              <a:rPr lang="es-AR" sz="1600" b="1" dirty="0">
                <a:solidFill>
                  <a:srgbClr val="FFFFFF"/>
                </a:solidFill>
                <a:latin typeface="Bahnschrift"/>
                <a:ea typeface="Bahnschrift"/>
                <a:cs typeface="Bahnschrift"/>
                <a:sym typeface="Bahnschrift"/>
              </a:rPr>
              <a:t>catecolaminas</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sp>
        <p:nvSpPr>
          <p:cNvPr id="2" name="Etiqueta sección"/>
          <p:cNvSpPr/>
          <p:nvPr/>
        </p:nvSpPr>
        <p:spPr>
          <a:xfrm>
            <a:off x="10104811" y="201168"/>
            <a:ext cx="181256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HEPATOCITO EN AYUNO</a:t>
            </a:r>
            <a:endParaRPr lang="es-AR" sz="1300" dirty="0">
              <a:latin typeface="Bahnschrift SemiBold Condensed"/>
            </a:endParaRPr>
          </a:p>
        </p:txBody>
      </p:sp>
      <p:sp>
        <p:nvSpPr>
          <p:cNvPr id="3" name="Título"/>
          <p:cNvSpPr/>
          <p:nvPr/>
        </p:nvSpPr>
        <p:spPr>
          <a:xfrm>
            <a:off x="274320" y="146304"/>
            <a:ext cx="625281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RECEPTOR DE GLUCAGÓN: Gs → AMPc → PKA</a:t>
            </a:r>
            <a:endParaRPr lang="es-AR" sz="2600" dirty="0">
              <a:latin typeface="Bahnschrift SemiBold Condensed"/>
            </a:endParaRPr>
          </a:p>
        </p:txBody>
      </p:sp>
      <p:sp>
        <p:nvSpPr>
          <p:cNvPr id="5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9"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113 0.1200 E" pathEditMode="relative" ptsTypes="">
                                      <p:cBhvr>
                                        <p:cTn id="4" dur="900" fill="hold"/>
                                        <p:tgtEl>
                                          <p:spTgt spid="10"/>
                                        </p:tgtEl>
                                        <p:attrNameLst>
                                          <p:attrName>ppt_x</p:attrName>
                                          <p:attrName>ppt_y</p:attrName>
                                        </p:attrNameLst>
                                      </p:cBhvr>
                                      <p:rCtr x="562" y="6000"/>
                                    </p:animMotion>
                                  </p:childTnLst>
                                </p:cTn>
                              </p:par>
                            </p:childTnLst>
                          </p:cTn>
                        </p:par>
                        <p:par>
                          <p:cTn id="8" fill="hold">
                            <p:stCondLst>
                              <p:cond delay="900"/>
                            </p:stCondLst>
                            <p:childTnLst>
                              <p:par>
                                <p:cTn id="6" presetID="6" presetClass="emph" presetSubtype="0" fill="hold" grpId="0" nodeType="afterEffect">
                                  <p:stCondLst>
                                    <p:cond delay="0"/>
                                  </p:stCondLst>
                                  <p:childTnLst>
                                    <p:animScale>
                                      <p:cBhvr>
                                        <p:cTn id="7" dur="300" autoRev="1" fill="hold"/>
                                        <p:tgtEl>
                                          <p:spTgt spid="11"/>
                                        </p:tgtEl>
                                      </p:cBhvr>
                                      <p:by x="112000" y="112000"/>
                                    </p:animScale>
                                  </p:childTnLst>
                                </p:cTn>
                              </p:par>
                            </p:childTnLst>
                          </p:cTn>
                        </p:par>
                      </p:childTnLst>
                    </p:cTn>
                  </p:par>
                  <p:par>
                    <p:cTn id="20" fill="hold">
                      <p:stCondLst>
                        <p:cond delay="indefinite"/>
                      </p:stCondLst>
                      <p:childTnLst>
                        <p:par>
                          <p:cTn id="13"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par>
                          <p:cTn id="16" fill="hold">
                            <p:stCondLst>
                              <p:cond delay="500"/>
                            </p:stCondLst>
                            <p:childTnLst>
                              <p:par>
                                <p:cTn id="14" presetID="0" presetClass="path" presetSubtype="0" accel="20000" decel="20000" fill="hold" grpId="0" nodeType="afterEffect">
                                  <p:stCondLst>
                                    <p:cond delay="0"/>
                                  </p:stCondLst>
                                  <p:childTnLst>
                                    <p:animMotion origin="layout" path="M 0 0 L 0.1163 -0.0267 E" pathEditMode="relative" ptsTypes="">
                                      <p:cBhvr>
                                        <p:cTn id="15" dur="900" fill="hold"/>
                                        <p:tgtEl>
                                          <p:spTgt spid="21"/>
                                        </p:tgtEl>
                                        <p:attrNameLst>
                                          <p:attrName>ppt_x</p:attrName>
                                          <p:attrName>ppt_y</p:attrName>
                                        </p:attrNameLst>
                                      </p:cBhvr>
                                      <p:rCtr x="5812" y="-1333"/>
                                    </p:animMotion>
                                  </p:childTnLst>
                                </p:cTn>
                              </p:par>
                            </p:childTnLst>
                          </p:cTn>
                        </p:par>
                        <p:par>
                          <p:cTn id="19" fill="hold">
                            <p:stCondLst>
                              <p:cond delay="1400"/>
                            </p:stCondLst>
                            <p:childTnLst>
                              <p:par>
                                <p:cTn id="17" presetID="6" presetClass="emph" presetSubtype="0" fill="hold" grpId="0" nodeType="afterEffect">
                                  <p:stCondLst>
                                    <p:cond delay="0"/>
                                  </p:stCondLst>
                                  <p:childTnLst>
                                    <p:animScale>
                                      <p:cBhvr>
                                        <p:cTn id="18" dur="300" autoRev="1" fill="hold"/>
                                        <p:tgtEl>
                                          <p:spTgt spid="26"/>
                                        </p:tgtEl>
                                      </p:cBhvr>
                                      <p:by x="112000" y="112000"/>
                                    </p:animScale>
                                  </p:childTnLst>
                                </p:cTn>
                              </p:par>
                            </p:childTnLst>
                          </p:cTn>
                        </p:par>
                      </p:childTnLst>
                    </p:cTn>
                  </p:par>
                  <p:par>
                    <p:cTn id="34" fill="hold">
                      <p:stCondLst>
                        <p:cond delay="indefinite"/>
                      </p:stCondLst>
                      <p:childTnLst>
                        <p:par>
                          <p:cTn id="24"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fade">
                                      <p:cBhvr>
                                        <p:cTn id="23" dur="500"/>
                                        <p:tgtEl>
                                          <p:spTgt spid="27"/>
                                        </p:tgtEl>
                                      </p:cBhvr>
                                    </p:animEffect>
                                  </p:childTnLst>
                                </p:cTn>
                              </p:par>
                            </p:childTnLst>
                          </p:cTn>
                        </p:par>
                        <p:par>
                          <p:cTn id="33" fill="hold">
                            <p:stCondLst>
                              <p:cond delay="500"/>
                            </p:stCondLst>
                            <p:childTnLst>
                              <p:par>
                                <p:cTn id="25" presetID="10" presetClass="exit" presetSubtype="0" fill="hold" grpId="0" nodeType="afterEffect">
                                  <p:stCondLst>
                                    <p:cond delay="0"/>
                                  </p:stCondLst>
                                  <p:childTnLst>
                                    <p:animEffect transition="out" filter="fade">
                                      <p:cBhvr>
                                        <p:cTn id="26" dur="400"/>
                                        <p:tgtEl>
                                          <p:spTgt spid="27"/>
                                        </p:tgtEl>
                                      </p:cBhvr>
                                    </p:animEffect>
                                    <p:set>
                                      <p:cBhvr>
                                        <p:cTn id="27" dur="1" fill="hold">
                                          <p:stCondLst>
                                            <p:cond delay="399"/>
                                          </p:stCondLst>
                                        </p:cTn>
                                        <p:tgtEl>
                                          <p:spTgt spid="27"/>
                                        </p:tgtEl>
                                        <p:attrNameLst>
                                          <p:attrName>style.visibility</p:attrName>
                                        </p:attrNameLst>
                                      </p:cBhvr>
                                      <p:to>
                                        <p:strVal val="hidden"/>
                                      </p:to>
                                    </p:set>
                                  </p:childTnLst>
                                </p:cTn>
                              </p:par>
                              <p:par>
                                <p:cTn id="28" presetID="53" presetClass="entr" presetSubtype="16" fill="hold" grpId="0" nodeType="with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p:cTn id="30" dur="500" fill="hold"/>
                                        <p:tgtEl>
                                          <p:spTgt spid="28"/>
                                        </p:tgtEl>
                                        <p:attrNameLst>
                                          <p:attrName>ppt_w</p:attrName>
                                        </p:attrNameLst>
                                      </p:cBhvr>
                                      <p:tavLst>
                                        <p:tav tm="0">
                                          <p:val>
                                            <p:fltVal val="0"/>
                                          </p:val>
                                        </p:tav>
                                        <p:tav tm="100000">
                                          <p:val>
                                            <p:strVal val="#ppt_w"/>
                                          </p:val>
                                        </p:tav>
                                      </p:tavLst>
                                    </p:anim>
                                    <p:anim calcmode="lin" valueType="num">
                                      <p:cBhvr>
                                        <p:cTn id="31" dur="500" fill="hold"/>
                                        <p:tgtEl>
                                          <p:spTgt spid="28"/>
                                        </p:tgtEl>
                                        <p:attrNameLst>
                                          <p:attrName>ppt_h</p:attrName>
                                        </p:attrNameLst>
                                      </p:cBhvr>
                                      <p:tavLst>
                                        <p:tav tm="0">
                                          <p:val>
                                            <p:fltVal val="0"/>
                                          </p:val>
                                        </p:tav>
                                        <p:tav tm="100000">
                                          <p:val>
                                            <p:strVal val="#ppt_h"/>
                                          </p:val>
                                        </p:tav>
                                      </p:tavLst>
                                    </p:anim>
                                    <p:animEffect transition="in" filter="fade">
                                      <p:cBhvr>
                                        <p:cTn id="32" dur="500"/>
                                        <p:tgtEl>
                                          <p:spTgt spid="28"/>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wipe(up)">
                                      <p:cBhvr>
                                        <p:cTn id="37" dur="600"/>
                                        <p:tgtEl>
                                          <p:spTgt spid="30"/>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29"/>
                                        </p:tgtEl>
                                        <p:attrNameLst>
                                          <p:attrName>style.visibility</p:attrName>
                                        </p:attrNameLst>
                                      </p:cBhvr>
                                      <p:to>
                                        <p:strVal val="visible"/>
                                      </p:to>
                                    </p:set>
                                    <p:animEffect transition="in" filter="fade">
                                      <p:cBhvr>
                                        <p:cTn id="41" dur="500"/>
                                        <p:tgtEl>
                                          <p:spTgt spid="29"/>
                                        </p:tgtEl>
                                      </p:cBhvr>
                                    </p:animEffect>
                                  </p:childTnLst>
                                </p:cTn>
                              </p:par>
                            </p:childTnLst>
                          </p:cTn>
                        </p:par>
                      </p:childTnLst>
                    </p:cTn>
                  </p:par>
                  <p:par>
                    <p:cTn id="64"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500"/>
                                        <p:tgtEl>
                                          <p:spTgt spid="31"/>
                                        </p:tgtEl>
                                      </p:cBhvr>
                                    </p:animEffect>
                                  </p:childTnLst>
                                </p:cTn>
                              </p:par>
                            </p:childTnLst>
                          </p:cTn>
                        </p:par>
                        <p:par>
                          <p:cTn id="51" fill="hold">
                            <p:stCondLst>
                              <p:cond delay="500"/>
                            </p:stCondLst>
                            <p:childTnLst>
                              <p:par>
                                <p:cTn id="48" presetID="10" presetClass="entr" presetSubtype="0" fill="hold" grpId="0" nodeType="after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500"/>
                                        <p:tgtEl>
                                          <p:spTgt spid="35"/>
                                        </p:tgtEl>
                                      </p:cBhvr>
                                    </p:animEffect>
                                  </p:childTnLst>
                                </p:cTn>
                              </p:par>
                            </p:childTnLst>
                          </p:cTn>
                        </p:par>
                        <p:par>
                          <p:cTn id="55"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39"/>
                                        </p:tgtEl>
                                        <p:attrNameLst>
                                          <p:attrName>style.visibility</p:attrName>
                                        </p:attrNameLst>
                                      </p:cBhvr>
                                      <p:to>
                                        <p:strVal val="visible"/>
                                      </p:to>
                                    </p:set>
                                    <p:animEffect transition="in" filter="fade">
                                      <p:cBhvr>
                                        <p:cTn id="54" dur="500"/>
                                        <p:tgtEl>
                                          <p:spTgt spid="39"/>
                                        </p:tgtEl>
                                      </p:cBhvr>
                                    </p:animEffect>
                                  </p:childTnLst>
                                </p:cTn>
                              </p:par>
                            </p:childTnLst>
                          </p:cTn>
                        </p:par>
                        <p:par>
                          <p:cTn id="59" fill="hold">
                            <p:stCondLst>
                              <p:cond delay="1500"/>
                            </p:stCondLst>
                            <p:childTnLst>
                              <p:par>
                                <p:cTn id="56" presetID="10" presetClass="entr" presetSubtype="0" fill="hold" grpId="0"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fade">
                                      <p:cBhvr>
                                        <p:cTn id="58" dur="500"/>
                                        <p:tgtEl>
                                          <p:spTgt spid="43"/>
                                        </p:tgtEl>
                                      </p:cBhvr>
                                    </p:animEffect>
                                  </p:childTnLst>
                                </p:cTn>
                              </p:par>
                            </p:childTnLst>
                          </p:cTn>
                        </p:par>
                        <p:par>
                          <p:cTn id="63" fill="hold">
                            <p:stCondLst>
                              <p:cond delay="2000"/>
                            </p:stCondLst>
                            <p:childTnLst>
                              <p:par>
                                <p:cTn id="60" presetID="10" presetClass="entr" presetSubtype="0" fill="hold" grpId="0" nodeType="after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fade">
                                      <p:cBhvr>
                                        <p:cTn id="62" dur="500"/>
                                        <p:tgtEl>
                                          <p:spTgt spid="47"/>
                                        </p:tgtEl>
                                      </p:cBhvr>
                                    </p:animEffect>
                                  </p:childTnLst>
                                </p:cTn>
                              </p:par>
                            </p:childTnLst>
                          </p:cTn>
                        </p:par>
                      </p:childTnLst>
                    </p:cTn>
                  </p:par>
                  <p:par>
                    <p:cTn id="69" fill="hold">
                      <p:stCondLst>
                        <p:cond delay="indefinite"/>
                      </p:stCondLst>
                      <p:childTnLst>
                        <p:par>
                          <p:cTn id="68"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500"/>
                                        <p:tgtEl>
                                          <p:spTgt spid="51"/>
                                        </p:tgtEl>
                                      </p:cBhvr>
                                    </p:animEffect>
                                  </p:childTnLst>
                                </p:cTn>
                              </p:par>
                            </p:childTnLst>
                          </p:cTn>
                        </p:par>
                      </p:childTnLst>
                    </p:cTn>
                  </p:par>
                  <p:par>
                    <p:cTn id="74" fill="hold">
                      <p:stCondLst>
                        <p:cond delay="indefinite"/>
                      </p:stCondLst>
                      <p:childTnLst>
                        <p:par>
                          <p:cTn id="73"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4"/>
                                        </p:tgtEl>
                                        <p:attrNameLst>
                                          <p:attrName>style.visibility</p:attrName>
                                        </p:attrNameLst>
                                      </p:cBhvr>
                                      <p:to>
                                        <p:strVal val="visible"/>
                                      </p:to>
                                    </p:set>
                                    <p:animEffect transition="in" filter="fade">
                                      <p:cBhvr>
                                        <p:cTn id="72"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6" grpId="0" animBg="1"/>
      <p:bldP spid="27" grpId="0" animBg="1"/>
      <p:bldP spid="28" grpId="0" animBg="1"/>
      <p:bldP spid="30" grpId="0" animBg="1"/>
      <p:bldP spid="29" grpId="0" animBg="1"/>
      <p:bldP spid="54" grpId="0" animBg="1"/>
    </p:bldLst>
  </p:timing>
</p:sld>
</file>

<file path=ppt/slides/slide3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Tabla hormonas"/>
          <p:cNvGraphicFramePr>
            <a:graphicFrameLocks noGrp="1"/>
          </p:cNvGraphicFramePr>
          <p:nvPr/>
        </p:nvGraphicFramePr>
        <p:xfrm>
          <a:off x="365760" y="1051560"/>
          <a:ext cx="11430000" cy="3968496"/>
        </p:xfrm>
        <a:graphic>
          <a:graphicData uri="http://schemas.openxmlformats.org/drawingml/2006/table">
            <a:tbl>
              <a:tblPr firstRow="1" bandRow="1"/>
              <a:tblGrid>
                <a:gridCol w="1590261"/>
                <a:gridCol w="2087217"/>
                <a:gridCol w="2782957"/>
                <a:gridCol w="4969565"/>
              </a:tblGrid>
              <a:tr h="566928">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Hormona</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Receptor</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Transducción</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Efecto metabólico principal</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Insulina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IR (tirosina cinasa)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IRS → PI3K → Akt; rama MAPK</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Almacenamiento: GLUT4, glucógeno, lipogénesis; ↓ lipólisis y ↓ producción hepática de glucosa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Glucagón</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GCGR (GPCR)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Gs → AC → AMPc → PKA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Hígado: ↑ glucogenólisis y gluconeogénesis; ↓ glucólisis y lipogénesis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Somatostatina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SSTR (GPCR)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Gi → ↓ AMPc</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Freno paracrino de α y β</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Adrenalina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Receptores α y β</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β: Gs–AMPc; α</a:t>
                      </a:r>
                      <a:r>
                        <a:rPr lang="es-AR" sz="1500" baseline="-25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Gi; α</a:t>
                      </a:r>
                      <a:r>
                        <a:rPr lang="es-AR" sz="1500" baseline="-25000" dirty="0">
                          <a:solidFill>
                            <a:srgbClr val="1E1E1E"/>
                          </a:solidFill>
                          <a:latin typeface="Bahnschrift"/>
                          <a:ea typeface="Bahnschrift"/>
                          <a:cs typeface="Bahnschrift"/>
                          <a:sym typeface="Bahnschrift"/>
                        </a:rPr>
                        <a:t>1</a:t>
                      </a:r>
                      <a:r>
                        <a:rPr lang="es-AR" sz="1500" dirty="0">
                          <a:solidFill>
                            <a:srgbClr val="1E1E1E"/>
                          </a:solidFill>
                          <a:latin typeface="Bahnschrift"/>
                          <a:ea typeface="Bahnschrift"/>
                          <a:cs typeface="Bahnschrift"/>
                          <a:sym typeface="Bahnschrift"/>
                        </a:rPr>
                        <a:t>: Gq</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Efectos dependientes de tejido: glucogenólisis, lipólisis, ↓ insulina (α</a:t>
                      </a:r>
                      <a:r>
                        <a:rPr lang="es-AR" sz="1500" baseline="-25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GLP-1 / GIP</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GLP-1R / GIPR (GPCR)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Gs → AMPc → PKA/Epac2</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Potencian la secreción de insulina dependiente de glucosa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500" b="1" dirty="0">
                          <a:solidFill>
                            <a:srgbClr val="1E1E1E"/>
                          </a:solidFill>
                          <a:latin typeface="Bahnschrift"/>
                          <a:ea typeface="Bahnschrift"/>
                          <a:cs typeface="Bahnschrift"/>
                          <a:sym typeface="Bahnschrift"/>
                        </a:rPr>
                        <a:t>Cortisol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GR (intracelular)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Factor de transcripción (GRE)</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Coopera con CREB/FOXO1: ↑ PCK1, G6PC; proteólisis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5" name="Perla"/>
          <p:cNvSpPr/>
          <p:nvPr/>
        </p:nvSpPr>
        <p:spPr>
          <a:xfrm>
            <a:off x="365760" y="5248656"/>
            <a:ext cx="11430000" cy="6858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El </a:t>
            </a:r>
            <a:r>
              <a:rPr lang="es-AR" sz="1800" b="1" dirty="0">
                <a:solidFill>
                  <a:srgbClr val="FFFFFF"/>
                </a:solidFill>
                <a:latin typeface="Bahnschrift"/>
                <a:ea typeface="Bahnschrift"/>
                <a:cs typeface="Bahnschrift"/>
                <a:sym typeface="Bahnschrift"/>
              </a:rPr>
              <a:t>balance insulina/glucagón</a:t>
            </a:r>
            <a:r>
              <a:rPr lang="es-AR" sz="1800" dirty="0">
                <a:solidFill>
                  <a:srgbClr val="FFFFFF"/>
                </a:solidFill>
                <a:latin typeface="Bahnschrift"/>
                <a:ea typeface="Bahnschrift"/>
                <a:cs typeface="Bahnschrift"/>
                <a:sym typeface="Bahnschrift"/>
              </a:rPr>
              <a:t> importa más que observar una hormona aislada.</a:t>
            </a:r>
            <a:endParaRPr lang="es-AR" sz="18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38422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CUADRO DE HORMONAS, RECEPTORES Y VÍAS</a:t>
            </a:r>
            <a:endParaRPr lang="es-AR" sz="2600" dirty="0">
              <a:latin typeface="Bahnschrift SemiBold Condensed"/>
            </a:endParaRPr>
          </a:p>
        </p:txBody>
      </p:sp>
      <p:sp>
        <p:nvSpPr>
          <p:cNvPr id="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4" fill="hold">
                      <p:stCondLst>
                        <p:cond delay="indefinite"/>
                      </p:stCondLst>
                      <p:childTnLst>
                        <p:par>
                          <p:cTn id="13" fill="hold">
                            <p:stCondLst>
                              <p:cond delay="0"/>
                            </p:stCondLst>
                            <p:childTnLst>
                              <p:par>
                                <p:cTn id="8" presetID="53" presetClass="entr" presetSubtype="16"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500" fill="hold"/>
                                        <p:tgtEl>
                                          <p:spTgt spid="5"/>
                                        </p:tgtEl>
                                        <p:attrNameLst>
                                          <p:attrName>ppt_w</p:attrName>
                                        </p:attrNameLst>
                                      </p:cBhvr>
                                      <p:tavLst>
                                        <p:tav tm="0">
                                          <p:val>
                                            <p:fltVal val="0"/>
                                          </p:val>
                                        </p:tav>
                                        <p:tav tm="100000">
                                          <p:val>
                                            <p:strVal val="#ppt_w"/>
                                          </p:val>
                                        </p:tav>
                                      </p:tavLst>
                                    </p:anim>
                                    <p:anim calcmode="lin" valueType="num">
                                      <p:cBhvr>
                                        <p:cTn id="11" dur="500" fill="hold"/>
                                        <p:tgtEl>
                                          <p:spTgt spid="5"/>
                                        </p:tgtEl>
                                        <p:attrNameLst>
                                          <p:attrName>ppt_h</p:attrName>
                                        </p:attrNameLst>
                                      </p:cBhvr>
                                      <p:tavLst>
                                        <p:tav tm="0">
                                          <p:val>
                                            <p:fltVal val="0"/>
                                          </p:val>
                                        </p:tav>
                                        <p:tav tm="100000">
                                          <p:val>
                                            <p:strVal val="#ppt_h"/>
                                          </p:val>
                                        </p:tav>
                                      </p:tavLst>
                                    </p:anim>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línica Mutaciones de glucocinasa"/>
          <p:cNvGrpSpPr/>
          <p:nvPr/>
        </p:nvGrpSpPr>
        <p:grpSpPr>
          <a:xfrm>
            <a:off x="365760" y="1051560"/>
            <a:ext cx="5577840" cy="2148840"/>
            <a:chOff x="365760" y="1051560"/>
            <a:chExt cx="5577840" cy="2148840"/>
          </a:xfrm>
        </p:grpSpPr>
        <p:grpSp>
          <p:nvGrpSpPr>
            <p:cNvPr id="5" name="Recuadro Mutaciones de glucocinasa"/>
            <p:cNvGrpSpPr/>
            <p:nvPr/>
          </p:nvGrpSpPr>
          <p:grpSpPr>
            <a:xfrm>
              <a:off x="365760" y="1051560"/>
              <a:ext cx="5577840" cy="2148840"/>
              <a:chOff x="365760" y="1051560"/>
              <a:chExt cx="5577840" cy="2148840"/>
            </a:xfrm>
          </p:grpSpPr>
          <p:sp>
            <p:nvSpPr>
              <p:cNvPr id="6" name="Forma 5"/>
              <p:cNvSpPr/>
              <p:nvPr/>
            </p:nvSpPr>
            <p:spPr>
              <a:xfrm>
                <a:off x="365760" y="1234440"/>
                <a:ext cx="5577840" cy="1965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Inactivantes</a:t>
                </a:r>
                <a:r>
                  <a:rPr lang="es-AR" sz="1700" dirty="0">
                    <a:solidFill>
                      <a:srgbClr val="1E1E1E"/>
                    </a:solidFill>
                    <a:latin typeface="Bahnschrift"/>
                    <a:ea typeface="Bahnschrift"/>
                    <a:cs typeface="Bahnschrift"/>
                    <a:sym typeface="Bahnschrift"/>
                  </a:rPr>
                  <a:t>: umbral más alto → hiperglucemia leve estable.</a:t>
                </a:r>
                <a:endParaRPr lang="es-AR" sz="1700" dirty="0">
                  <a:latin typeface="Bahnschrift"/>
                </a:endParaRPr>
              </a:p>
              <a:p>
                <a:pPr algn="l">
                  <a:spcAft>
                    <a:spcPts val="400"/>
                  </a:spcAft>
                  <a:buNone/>
                </a:pPr>
                <a:r>
                  <a:rPr lang="es-AR" sz="1700" b="1" dirty="0">
                    <a:solidFill>
                      <a:srgbClr val="1E1E1E"/>
                    </a:solidFill>
                    <a:latin typeface="Bahnschrift"/>
                    <a:ea typeface="Bahnschrift"/>
                    <a:cs typeface="Bahnschrift"/>
                    <a:sym typeface="Bahnschrift"/>
                  </a:rPr>
                  <a:t>Activantes</a:t>
                </a:r>
                <a:r>
                  <a:rPr lang="es-AR" sz="1700" dirty="0">
                    <a:solidFill>
                      <a:srgbClr val="1E1E1E"/>
                    </a:solidFill>
                    <a:latin typeface="Bahnschrift"/>
                    <a:ea typeface="Bahnschrift"/>
                    <a:cs typeface="Bahnschrift"/>
                    <a:sym typeface="Bahnschrift"/>
                  </a:rPr>
                  <a:t>: umbral más bajo → hipoglucemia por hiperinsulinismo.</a:t>
                </a:r>
                <a:endParaRPr lang="es-AR" sz="1700" dirty="0">
                  <a:latin typeface="Bahnschrift"/>
                </a:endParaRPr>
              </a:p>
            </p:txBody>
          </p:sp>
          <p:sp>
            <p:nvSpPr>
              <p:cNvPr id="7" name="Forma 6"/>
              <p:cNvSpPr/>
              <p:nvPr/>
            </p:nvSpPr>
            <p:spPr>
              <a:xfrm>
                <a:off x="475488" y="1051560"/>
                <a:ext cx="262018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MUTACIONES DE GLUCOCINASA</a:t>
                </a:r>
                <a:endParaRPr lang="es-AR" sz="1550" dirty="0">
                  <a:latin typeface="Bahnschrift SemiBold Condensed"/>
                </a:endParaRPr>
              </a:p>
            </p:txBody>
          </p:sp>
        </p:grpSp>
        <p:sp>
          <p:nvSpPr>
            <p:cNvPr id="8" name="Paso GK"/>
            <p:cNvSpPr/>
            <p:nvPr/>
          </p:nvSpPr>
          <p:spPr>
            <a:xfrm>
              <a:off x="5212080" y="2423160"/>
              <a:ext cx="640080" cy="6400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GK</a:t>
              </a:r>
              <a:endParaRPr lang="es-AR" sz="1500" dirty="0">
                <a:latin typeface="Bahnschrift SemiBold Condensed"/>
              </a:endParaRPr>
            </a:p>
          </p:txBody>
        </p:sp>
      </p:grpSp>
      <p:grpSp>
        <p:nvGrpSpPr>
          <p:cNvPr id="9" name="Clínica Defectos de KATP"/>
          <p:cNvGrpSpPr/>
          <p:nvPr/>
        </p:nvGrpSpPr>
        <p:grpSpPr>
          <a:xfrm>
            <a:off x="6126480" y="1051560"/>
            <a:ext cx="5577840" cy="2148840"/>
            <a:chOff x="6126480" y="1051560"/>
            <a:chExt cx="5577840" cy="2148840"/>
          </a:xfrm>
        </p:grpSpPr>
        <p:grpSp>
          <p:nvGrpSpPr>
            <p:cNvPr id="10" name="Recuadro Defectos de KATP"/>
            <p:cNvGrpSpPr/>
            <p:nvPr/>
          </p:nvGrpSpPr>
          <p:grpSpPr>
            <a:xfrm>
              <a:off x="6126480" y="1051560"/>
              <a:ext cx="5577840" cy="2148840"/>
              <a:chOff x="6126480" y="1051560"/>
              <a:chExt cx="5577840" cy="2148840"/>
            </a:xfrm>
          </p:grpSpPr>
          <p:sp>
            <p:nvSpPr>
              <p:cNvPr id="11" name="Forma 10"/>
              <p:cNvSpPr/>
              <p:nvPr/>
            </p:nvSpPr>
            <p:spPr>
              <a:xfrm>
                <a:off x="6126480" y="1234440"/>
                <a:ext cx="5577840" cy="19659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Kir6.2/SUR1</a:t>
                </a:r>
                <a:r>
                  <a:rPr lang="es-AR" sz="1700" dirty="0">
                    <a:solidFill>
                      <a:srgbClr val="1E1E1E"/>
                    </a:solidFill>
                    <a:latin typeface="Bahnschrift"/>
                    <a:ea typeface="Bahnschrift"/>
                    <a:cs typeface="Bahnschrift"/>
                    <a:sym typeface="Bahnschrift"/>
                  </a:rPr>
                  <a:t> con pérdida de función → canal cerrado → hiperinsulinismo congénito.</a:t>
                </a:r>
                <a:endParaRPr lang="es-AR" sz="1700" dirty="0">
                  <a:latin typeface="Bahnschrift"/>
                </a:endParaRPr>
              </a:p>
              <a:p>
                <a:pPr algn="l">
                  <a:spcAft>
                    <a:spcPts val="400"/>
                  </a:spcAft>
                  <a:buNone/>
                </a:pPr>
                <a:r>
                  <a:rPr lang="es-AR" sz="1700" dirty="0">
                    <a:solidFill>
                      <a:srgbClr val="1E1E1E"/>
                    </a:solidFill>
                    <a:latin typeface="Bahnschrift"/>
                    <a:ea typeface="Bahnschrift"/>
                    <a:cs typeface="Bahnschrift"/>
                    <a:sym typeface="Bahnschrift"/>
                  </a:rPr>
                  <a:t>Con ganancia de función → canal abierto → diabetes neonatal.</a:t>
                </a:r>
                <a:endParaRPr lang="es-AR" sz="1700" dirty="0">
                  <a:latin typeface="Bahnschrift"/>
                </a:endParaRPr>
              </a:p>
            </p:txBody>
          </p:sp>
          <p:sp>
            <p:nvSpPr>
              <p:cNvPr id="12" name="Forma 11"/>
              <p:cNvSpPr/>
              <p:nvPr/>
            </p:nvSpPr>
            <p:spPr>
              <a:xfrm>
                <a:off x="6236208" y="1051560"/>
                <a:ext cx="178214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DEFECTOS DE K</a:t>
                </a:r>
                <a:r>
                  <a:rPr lang="es-AR" sz="1550" b="1" baseline="-25000" dirty="0">
                    <a:solidFill>
                      <a:srgbClr val="1E1E1E"/>
                    </a:solidFill>
                    <a:latin typeface="Bahnschrift SemiBold Condensed"/>
                    <a:ea typeface="Bahnschrift SemiBold Condensed"/>
                    <a:cs typeface="Bahnschrift SemiBold Condensed"/>
                    <a:sym typeface="Bahnschrift SemiBold Condensed"/>
                  </a:rPr>
                  <a:t>ATP</a:t>
                </a:r>
                <a:endParaRPr lang="es-AR" sz="1550" dirty="0">
                  <a:latin typeface="Bahnschrift SemiBold Condensed"/>
                </a:endParaRPr>
              </a:p>
            </p:txBody>
          </p:sp>
        </p:grpSp>
        <p:sp>
          <p:nvSpPr>
            <p:cNvPr id="13" name="Paso K_{ATP}"/>
            <p:cNvSpPr/>
            <p:nvPr/>
          </p:nvSpPr>
          <p:spPr>
            <a:xfrm>
              <a:off x="10972800" y="2423160"/>
              <a:ext cx="640080" cy="6400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K</a:t>
              </a:r>
              <a:r>
                <a:rPr lang="es-AR" sz="1500" b="1" baseline="-25000" dirty="0">
                  <a:solidFill>
                    <a:srgbClr val="1E1E1E"/>
                  </a:solidFill>
                  <a:latin typeface="Bahnschrift SemiBold Condensed"/>
                  <a:ea typeface="Bahnschrift SemiBold Condensed"/>
                  <a:cs typeface="Bahnschrift SemiBold Condensed"/>
                  <a:sym typeface="Bahnschrift SemiBold Condensed"/>
                </a:rPr>
                <a:t>ATP</a:t>
              </a:r>
              <a:endParaRPr lang="es-AR" sz="1500" dirty="0">
                <a:latin typeface="Bahnschrift SemiBold Condensed"/>
              </a:endParaRPr>
            </a:p>
          </p:txBody>
        </p:sp>
      </p:grpSp>
      <p:grpSp>
        <p:nvGrpSpPr>
          <p:cNvPr id="14" name="Clínica Sulfonilureas"/>
          <p:cNvGrpSpPr/>
          <p:nvPr/>
        </p:nvGrpSpPr>
        <p:grpSpPr>
          <a:xfrm>
            <a:off x="365760" y="3383280"/>
            <a:ext cx="5577840" cy="2148840"/>
            <a:chOff x="365760" y="3383280"/>
            <a:chExt cx="5577840" cy="2148840"/>
          </a:xfrm>
        </p:grpSpPr>
        <p:grpSp>
          <p:nvGrpSpPr>
            <p:cNvPr id="15" name="Recuadro Sulfonilureas"/>
            <p:cNvGrpSpPr/>
            <p:nvPr/>
          </p:nvGrpSpPr>
          <p:grpSpPr>
            <a:xfrm>
              <a:off x="365760" y="3383280"/>
              <a:ext cx="5577840" cy="2148840"/>
              <a:chOff x="365760" y="3383280"/>
              <a:chExt cx="5577840" cy="2148840"/>
            </a:xfrm>
          </p:grpSpPr>
          <p:sp>
            <p:nvSpPr>
              <p:cNvPr id="16" name="Forma 15"/>
              <p:cNvSpPr/>
              <p:nvPr/>
            </p:nvSpPr>
            <p:spPr>
              <a:xfrm>
                <a:off x="365760" y="3566160"/>
                <a:ext cx="5577840" cy="19659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Se unen a </a:t>
                </a:r>
                <a:r>
                  <a:rPr lang="es-AR" sz="1700" b="1" dirty="0">
                    <a:solidFill>
                      <a:srgbClr val="1E1E1E"/>
                    </a:solidFill>
                    <a:latin typeface="Bahnschrift"/>
                    <a:ea typeface="Bahnschrift"/>
                    <a:cs typeface="Bahnschrift"/>
                    <a:sym typeface="Bahnschrift"/>
                  </a:rPr>
                  <a:t>SUR1</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cierran K</a:t>
                </a:r>
                <a:r>
                  <a:rPr lang="es-AR" sz="1700" b="1" baseline="-25000" dirty="0">
                    <a:solidFill>
                      <a:srgbClr val="1E1E1E"/>
                    </a:solidFill>
                    <a:latin typeface="Bahnschrift"/>
                    <a:ea typeface="Bahnschrift"/>
                    <a:cs typeface="Bahnschrift"/>
                    <a:sym typeface="Bahnschrift"/>
                  </a:rPr>
                  <a:t>ATP</a:t>
                </a:r>
                <a:r>
                  <a:rPr lang="es-AR" sz="1700" dirty="0">
                    <a:solidFill>
                      <a:srgbClr val="1E1E1E"/>
                    </a:solidFill>
                    <a:latin typeface="Bahnschrift"/>
                    <a:ea typeface="Bahnschrift"/>
                    <a:cs typeface="Bahnschrift"/>
                    <a:sym typeface="Bahnschrift"/>
                  </a:rPr>
                  <a:t> independientemente de la glucosa → riesgo de </a:t>
                </a:r>
                <a:r>
                  <a:rPr lang="es-AR" sz="1700" b="1" dirty="0">
                    <a:solidFill>
                      <a:srgbClr val="1E1E1E"/>
                    </a:solidFill>
                    <a:latin typeface="Bahnschrift"/>
                    <a:ea typeface="Bahnschrift"/>
                    <a:cs typeface="Bahnschrift"/>
                    <a:sym typeface="Bahnschrift"/>
                  </a:rPr>
                  <a:t>hipoglucemia</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17" name="Forma 16"/>
              <p:cNvSpPr/>
              <p:nvPr/>
            </p:nvSpPr>
            <p:spPr>
              <a:xfrm>
                <a:off x="475488" y="3383280"/>
                <a:ext cx="155550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SULFONILUREAS</a:t>
                </a:r>
                <a:endParaRPr lang="es-AR" sz="1550" dirty="0">
                  <a:latin typeface="Bahnschrift SemiBold Condensed"/>
                </a:endParaRPr>
              </a:p>
            </p:txBody>
          </p:sp>
        </p:grpSp>
        <p:sp>
          <p:nvSpPr>
            <p:cNvPr id="18" name="Paso SU"/>
            <p:cNvSpPr/>
            <p:nvPr/>
          </p:nvSpPr>
          <p:spPr>
            <a:xfrm>
              <a:off x="5212080" y="4754880"/>
              <a:ext cx="640080" cy="6400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SU</a:t>
              </a:r>
              <a:endParaRPr lang="es-AR" sz="1500" dirty="0">
                <a:latin typeface="Bahnschrift SemiBold Condensed"/>
              </a:endParaRPr>
            </a:p>
          </p:txBody>
        </p:sp>
      </p:grpSp>
      <p:grpSp>
        <p:nvGrpSpPr>
          <p:cNvPr id="19" name="Clínica Agonistas de GLP-1"/>
          <p:cNvGrpSpPr/>
          <p:nvPr/>
        </p:nvGrpSpPr>
        <p:grpSpPr>
          <a:xfrm>
            <a:off x="6126480" y="3383280"/>
            <a:ext cx="5577840" cy="2148840"/>
            <a:chOff x="6126480" y="3383280"/>
            <a:chExt cx="5577840" cy="2148840"/>
          </a:xfrm>
        </p:grpSpPr>
        <p:grpSp>
          <p:nvGrpSpPr>
            <p:cNvPr id="20" name="Recuadro Agonistas de GLP-1"/>
            <p:cNvGrpSpPr/>
            <p:nvPr/>
          </p:nvGrpSpPr>
          <p:grpSpPr>
            <a:xfrm>
              <a:off x="6126480" y="3383280"/>
              <a:ext cx="5577840" cy="2148840"/>
              <a:chOff x="6126480" y="3383280"/>
              <a:chExt cx="5577840" cy="2148840"/>
            </a:xfrm>
          </p:grpSpPr>
          <p:sp>
            <p:nvSpPr>
              <p:cNvPr id="21" name="Forma 20"/>
              <p:cNvSpPr/>
              <p:nvPr/>
            </p:nvSpPr>
            <p:spPr>
              <a:xfrm>
                <a:off x="6126480" y="3566160"/>
                <a:ext cx="5577840" cy="1965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Potencian la insulina </a:t>
                </a:r>
                <a:r>
                  <a:rPr lang="es-AR" sz="1700" b="1" dirty="0">
                    <a:solidFill>
                      <a:srgbClr val="1E1E1E"/>
                    </a:solidFill>
                    <a:latin typeface="Bahnschrift"/>
                    <a:ea typeface="Bahnschrift"/>
                    <a:cs typeface="Bahnschrift"/>
                    <a:sym typeface="Bahnschrift"/>
                  </a:rPr>
                  <a:t>según la glucosa</a:t>
                </a:r>
                <a:r>
                  <a:rPr lang="es-AR" sz="1700" dirty="0">
                    <a:solidFill>
                      <a:srgbClr val="1E1E1E"/>
                    </a:solidFill>
                    <a:latin typeface="Bahnschrift"/>
                    <a:ea typeface="Bahnschrift"/>
                    <a:cs typeface="Bahnschrift"/>
                    <a:sym typeface="Bahnschrift"/>
                  </a:rPr>
                  <a:t>; enlentecen el vaciamiento gástrico y aumentan la saciedad.</a:t>
                </a:r>
                <a:endParaRPr lang="es-AR" sz="1700" dirty="0">
                  <a:latin typeface="Bahnschrift"/>
                </a:endParaRPr>
              </a:p>
            </p:txBody>
          </p:sp>
          <p:sp>
            <p:nvSpPr>
              <p:cNvPr id="22" name="Forma 21"/>
              <p:cNvSpPr/>
              <p:nvPr/>
            </p:nvSpPr>
            <p:spPr>
              <a:xfrm>
                <a:off x="6236208" y="3383280"/>
                <a:ext cx="18751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AGONISTAS DE GLP-1</a:t>
                </a:r>
                <a:endParaRPr lang="es-AR" sz="1550" dirty="0">
                  <a:latin typeface="Bahnschrift SemiBold Condensed"/>
                </a:endParaRPr>
              </a:p>
            </p:txBody>
          </p:sp>
        </p:grpSp>
        <p:sp>
          <p:nvSpPr>
            <p:cNvPr id="23" name="Paso GLP-1"/>
            <p:cNvSpPr/>
            <p:nvPr/>
          </p:nvSpPr>
          <p:spPr>
            <a:xfrm>
              <a:off x="10972800" y="4754880"/>
              <a:ext cx="640080" cy="6400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GLP-1</a:t>
              </a:r>
              <a:endParaRPr lang="es-AR" sz="1500" dirty="0">
                <a:latin typeface="Bahnschrift SemiBold Condensed"/>
              </a:endParaRPr>
            </a:p>
          </p:txBody>
        </p:sp>
      </p:grpSp>
      <p:sp>
        <p:nvSpPr>
          <p:cNvPr id="24" name="Perla"/>
          <p:cNvSpPr/>
          <p:nvPr/>
        </p:nvSpPr>
        <p:spPr>
          <a:xfrm>
            <a:off x="365760" y="5760720"/>
            <a:ext cx="11430000" cy="7315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Ningún fármaco reemplaza la integración de órganos: el efecto final depende de hígado, músculo y adiposo.</a:t>
            </a:r>
            <a:endParaRPr lang="es-AR" sz="17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35456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4 · CORRELATO CLÍNICO: EL UMBRAL SECRETOR</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3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Organismo"/>
          <p:cNvGrpSpPr/>
          <p:nvPr/>
        </p:nvGrpSpPr>
        <p:grpSpPr>
          <a:xfrm>
            <a:off x="2011680" y="868680"/>
            <a:ext cx="2811780" cy="5623560"/>
            <a:chOff x="2011680" y="868680"/>
            <a:chExt cx="2811780" cy="5623560"/>
          </a:xfrm>
        </p:grpSpPr>
        <p:sp>
          <p:nvSpPr>
            <p:cNvPr id="5" name="Forma 4"/>
            <p:cNvSpPr/>
            <p:nvPr/>
          </p:nvSpPr>
          <p:spPr>
            <a:xfrm>
              <a:off x="2011680" y="868680"/>
              <a:ext cx="2811780" cy="5623560"/>
            </a:xfrm>
            <a:custGeom>
              <a:avLst/>
              <a:gdLst/>
              <a:ahLst/>
              <a:cxnLst/>
              <a:rect l="0" t="0" r="r" b="b"/>
              <a:pathLst>
                <a:path w="500" h="1000">
                  <a:moveTo>
                    <a:pt x="225" y="150"/>
                  </a:moveTo>
                  <a:cubicBezTo>
                    <a:pt x="229" y="148"/>
                    <a:pt x="270" y="148"/>
                    <a:pt x="275" y="150"/>
                  </a:cubicBezTo>
                  <a:cubicBezTo>
                    <a:pt x="279" y="151"/>
                    <a:pt x="282" y="167"/>
                    <a:pt x="290" y="170"/>
                  </a:cubicBezTo>
                  <a:cubicBezTo>
                    <a:pt x="297" y="173"/>
                    <a:pt x="361" y="185"/>
                    <a:pt x="370" y="190"/>
                  </a:cubicBezTo>
                  <a:cubicBezTo>
                    <a:pt x="378" y="194"/>
                    <a:pt x="401" y="219"/>
                    <a:pt x="405" y="230"/>
                  </a:cubicBezTo>
                  <a:cubicBezTo>
                    <a:pt x="408" y="240"/>
                    <a:pt x="417" y="313"/>
                    <a:pt x="420" y="330"/>
                  </a:cubicBezTo>
                  <a:cubicBezTo>
                    <a:pt x="422" y="346"/>
                    <a:pt x="430" y="434"/>
                    <a:pt x="432" y="450"/>
                  </a:cubicBezTo>
                  <a:cubicBezTo>
                    <a:pt x="433" y="465"/>
                    <a:pt x="441" y="532"/>
                    <a:pt x="440" y="540"/>
                  </a:cubicBezTo>
                  <a:cubicBezTo>
                    <a:pt x="438" y="547"/>
                    <a:pt x="415" y="554"/>
                    <a:pt x="412" y="548"/>
                  </a:cubicBezTo>
                  <a:cubicBezTo>
                    <a:pt x="408" y="541"/>
                    <a:pt x="397" y="470"/>
                    <a:pt x="395" y="455"/>
                  </a:cubicBezTo>
                  <a:cubicBezTo>
                    <a:pt x="392" y="439"/>
                    <a:pt x="380" y="349"/>
                    <a:pt x="378" y="340"/>
                  </a:cubicBezTo>
                  <a:cubicBezTo>
                    <a:pt x="375" y="330"/>
                    <a:pt x="366" y="320"/>
                    <a:pt x="365" y="330"/>
                  </a:cubicBezTo>
                  <a:cubicBezTo>
                    <a:pt x="363" y="339"/>
                    <a:pt x="361" y="453"/>
                    <a:pt x="360" y="470"/>
                  </a:cubicBezTo>
                  <a:cubicBezTo>
                    <a:pt x="358" y="486"/>
                    <a:pt x="350" y="527"/>
                    <a:pt x="350" y="545"/>
                  </a:cubicBezTo>
                  <a:cubicBezTo>
                    <a:pt x="349" y="562"/>
                    <a:pt x="355" y="676"/>
                    <a:pt x="355" y="700"/>
                  </a:cubicBezTo>
                  <a:cubicBezTo>
                    <a:pt x="354" y="723"/>
                    <a:pt x="343" y="840"/>
                    <a:pt x="342" y="860"/>
                  </a:cubicBezTo>
                  <a:cubicBezTo>
                    <a:pt x="340" y="879"/>
                    <a:pt x="343" y="951"/>
                    <a:pt x="340" y="960"/>
                  </a:cubicBezTo>
                  <a:cubicBezTo>
                    <a:pt x="336" y="968"/>
                    <a:pt x="296" y="979"/>
                    <a:pt x="292" y="972"/>
                  </a:cubicBezTo>
                  <a:cubicBezTo>
                    <a:pt x="287" y="964"/>
                    <a:pt x="283" y="881"/>
                    <a:pt x="282" y="860"/>
                  </a:cubicBezTo>
                  <a:cubicBezTo>
                    <a:pt x="280" y="838"/>
                    <a:pt x="272" y="709"/>
                    <a:pt x="270" y="690"/>
                  </a:cubicBezTo>
                  <a:cubicBezTo>
                    <a:pt x="267" y="670"/>
                    <a:pt x="253" y="600"/>
                    <a:pt x="250" y="600"/>
                  </a:cubicBezTo>
                  <a:cubicBezTo>
                    <a:pt x="247" y="600"/>
                    <a:pt x="232" y="670"/>
                    <a:pt x="230" y="690"/>
                  </a:cubicBezTo>
                  <a:cubicBezTo>
                    <a:pt x="227" y="709"/>
                    <a:pt x="219" y="838"/>
                    <a:pt x="218" y="860"/>
                  </a:cubicBezTo>
                  <a:cubicBezTo>
                    <a:pt x="216" y="881"/>
                    <a:pt x="212" y="964"/>
                    <a:pt x="208" y="972"/>
                  </a:cubicBezTo>
                  <a:cubicBezTo>
                    <a:pt x="203" y="979"/>
                    <a:pt x="163" y="968"/>
                    <a:pt x="160" y="960"/>
                  </a:cubicBezTo>
                  <a:cubicBezTo>
                    <a:pt x="156" y="951"/>
                    <a:pt x="159" y="879"/>
                    <a:pt x="158" y="860"/>
                  </a:cubicBezTo>
                  <a:cubicBezTo>
                    <a:pt x="156" y="840"/>
                    <a:pt x="145" y="723"/>
                    <a:pt x="145" y="700"/>
                  </a:cubicBezTo>
                  <a:cubicBezTo>
                    <a:pt x="144" y="676"/>
                    <a:pt x="150" y="562"/>
                    <a:pt x="150" y="545"/>
                  </a:cubicBezTo>
                  <a:cubicBezTo>
                    <a:pt x="149" y="527"/>
                    <a:pt x="141" y="486"/>
                    <a:pt x="140" y="470"/>
                  </a:cubicBezTo>
                  <a:cubicBezTo>
                    <a:pt x="138" y="453"/>
                    <a:pt x="136" y="339"/>
                    <a:pt x="135" y="330"/>
                  </a:cubicBezTo>
                  <a:cubicBezTo>
                    <a:pt x="133" y="320"/>
                    <a:pt x="124" y="330"/>
                    <a:pt x="122" y="340"/>
                  </a:cubicBezTo>
                  <a:cubicBezTo>
                    <a:pt x="119" y="349"/>
                    <a:pt x="107" y="439"/>
                    <a:pt x="105" y="455"/>
                  </a:cubicBezTo>
                  <a:cubicBezTo>
                    <a:pt x="102" y="470"/>
                    <a:pt x="91" y="541"/>
                    <a:pt x="88" y="548"/>
                  </a:cubicBezTo>
                  <a:cubicBezTo>
                    <a:pt x="84" y="554"/>
                    <a:pt x="61" y="547"/>
                    <a:pt x="60" y="540"/>
                  </a:cubicBezTo>
                  <a:cubicBezTo>
                    <a:pt x="58" y="532"/>
                    <a:pt x="66" y="465"/>
                    <a:pt x="68" y="450"/>
                  </a:cubicBezTo>
                  <a:cubicBezTo>
                    <a:pt x="69" y="434"/>
                    <a:pt x="77" y="346"/>
                    <a:pt x="80" y="330"/>
                  </a:cubicBezTo>
                  <a:cubicBezTo>
                    <a:pt x="82" y="313"/>
                    <a:pt x="91" y="240"/>
                    <a:pt x="95" y="230"/>
                  </a:cubicBezTo>
                  <a:cubicBezTo>
                    <a:pt x="98" y="219"/>
                    <a:pt x="121" y="194"/>
                    <a:pt x="130" y="190"/>
                  </a:cubicBezTo>
                  <a:cubicBezTo>
                    <a:pt x="138" y="185"/>
                    <a:pt x="202" y="173"/>
                    <a:pt x="210" y="170"/>
                  </a:cubicBezTo>
                  <a:cubicBezTo>
                    <a:pt x="217" y="167"/>
                    <a:pt x="220" y="151"/>
                    <a:pt x="225" y="150"/>
                  </a:cubicBezTo>
                  <a:close/>
                </a:path>
              </a:pathLst>
            </a:custGeom>
            <a:solidFill>
              <a:srgbClr val="F8D5C2">
                <a:alpha val="70000"/>
              </a:srgbClr>
            </a:solidFill>
            <a:ln w="22225" cap="rnd">
              <a:solidFill>
                <a:srgbClr val="A0522D"/>
              </a:solidFill>
              <a:round/>
            </a:ln>
          </p:spPr>
        </p:sp>
        <p:sp>
          <p:nvSpPr>
            <p:cNvPr id="6" name="Forma 5"/>
            <p:cNvSpPr/>
            <p:nvPr/>
          </p:nvSpPr>
          <p:spPr>
            <a:xfrm>
              <a:off x="2011680" y="868680"/>
              <a:ext cx="2811780" cy="5623560"/>
            </a:xfrm>
            <a:custGeom>
              <a:avLst/>
              <a:gdLst/>
              <a:ahLst/>
              <a:cxnLst/>
              <a:rect l="0" t="0" r="r" b="b"/>
              <a:pathLst>
                <a:path w="500" h="1000">
                  <a:moveTo>
                    <a:pt x="312" y="85"/>
                  </a:moveTo>
                  <a:cubicBezTo>
                    <a:pt x="312" y="123"/>
                    <a:pt x="284" y="155"/>
                    <a:pt x="250" y="155"/>
                  </a:cubicBezTo>
                  <a:cubicBezTo>
                    <a:pt x="215" y="155"/>
                    <a:pt x="188" y="123"/>
                    <a:pt x="188" y="85"/>
                  </a:cubicBezTo>
                  <a:cubicBezTo>
                    <a:pt x="188" y="46"/>
                    <a:pt x="215" y="15"/>
                    <a:pt x="250" y="15"/>
                  </a:cubicBezTo>
                  <a:cubicBezTo>
                    <a:pt x="284" y="15"/>
                    <a:pt x="312" y="46"/>
                    <a:pt x="312" y="85"/>
                  </a:cubicBezTo>
                  <a:close/>
                </a:path>
              </a:pathLst>
            </a:custGeom>
            <a:solidFill>
              <a:srgbClr val="F8D5C2">
                <a:alpha val="70000"/>
              </a:srgbClr>
            </a:solidFill>
            <a:ln w="22225" cap="rnd">
              <a:solidFill>
                <a:srgbClr val="A0522D"/>
              </a:solidFill>
              <a:round/>
            </a:ln>
          </p:spPr>
        </p:sp>
      </p:grpSp>
      <p:grpSp>
        <p:nvGrpSpPr>
          <p:cNvPr id="7" name="!!Cerebro"/>
          <p:cNvGrpSpPr/>
          <p:nvPr/>
        </p:nvGrpSpPr>
        <p:grpSpPr>
          <a:xfrm>
            <a:off x="3227832" y="1005840"/>
            <a:ext cx="502920" cy="392278"/>
            <a:chOff x="3227832" y="1005840"/>
            <a:chExt cx="502920" cy="392278"/>
          </a:xfrm>
        </p:grpSpPr>
        <p:sp>
          <p:nvSpPr>
            <p:cNvPr id="8" name="Cerebelo"/>
            <p:cNvSpPr/>
            <p:nvPr/>
          </p:nvSpPr>
          <p:spPr>
            <a:xfrm>
              <a:off x="3227832" y="1005840"/>
              <a:ext cx="502920" cy="392278"/>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9" name="Forma 8"/>
            <p:cNvSpPr/>
            <p:nvPr/>
          </p:nvSpPr>
          <p:spPr>
            <a:xfrm>
              <a:off x="3227832" y="1005840"/>
              <a:ext cx="502920" cy="392278"/>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10" name="Forma 9"/>
            <p:cNvSpPr/>
            <p:nvPr/>
          </p:nvSpPr>
          <p:spPr>
            <a:xfrm>
              <a:off x="3227832" y="1005840"/>
              <a:ext cx="502920" cy="392278"/>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11" name="Forma 10"/>
            <p:cNvSpPr/>
            <p:nvPr/>
          </p:nvSpPr>
          <p:spPr>
            <a:xfrm>
              <a:off x="3227832" y="1005840"/>
              <a:ext cx="502920" cy="392278"/>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12" name="!!Corazón"/>
          <p:cNvGrpSpPr/>
          <p:nvPr/>
        </p:nvGrpSpPr>
        <p:grpSpPr>
          <a:xfrm>
            <a:off x="3611880" y="2103120"/>
            <a:ext cx="320040" cy="336042"/>
            <a:chOff x="3611880" y="2103120"/>
            <a:chExt cx="320040" cy="336042"/>
          </a:xfrm>
        </p:grpSpPr>
        <p:sp>
          <p:nvSpPr>
            <p:cNvPr id="13" name="Forma 12"/>
            <p:cNvSpPr/>
            <p:nvPr/>
          </p:nvSpPr>
          <p:spPr>
            <a:xfrm>
              <a:off x="3611880" y="2103120"/>
              <a:ext cx="320040" cy="336042"/>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14" name="Forma 13"/>
            <p:cNvSpPr/>
            <p:nvPr/>
          </p:nvSpPr>
          <p:spPr>
            <a:xfrm>
              <a:off x="3611880" y="2103120"/>
              <a:ext cx="320040" cy="336042"/>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grpSp>
        <p:nvGrpSpPr>
          <p:cNvPr id="15" name="!!Hígado"/>
          <p:cNvGrpSpPr/>
          <p:nvPr/>
        </p:nvGrpSpPr>
        <p:grpSpPr>
          <a:xfrm>
            <a:off x="3017520" y="2514600"/>
            <a:ext cx="777240" cy="549353"/>
            <a:chOff x="3017520" y="2514600"/>
            <a:chExt cx="777240" cy="549353"/>
          </a:xfrm>
        </p:grpSpPr>
        <p:sp>
          <p:nvSpPr>
            <p:cNvPr id="16" name="Vesícula biliar"/>
            <p:cNvSpPr/>
            <p:nvPr/>
          </p:nvSpPr>
          <p:spPr>
            <a:xfrm>
              <a:off x="3227375" y="2890473"/>
              <a:ext cx="101041" cy="173480"/>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7" name="Forma 16"/>
            <p:cNvSpPr/>
            <p:nvPr/>
          </p:nvSpPr>
          <p:spPr>
            <a:xfrm>
              <a:off x="3017520" y="2514600"/>
              <a:ext cx="777240" cy="481889"/>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8" name="Forma 17"/>
            <p:cNvSpPr/>
            <p:nvPr/>
          </p:nvSpPr>
          <p:spPr>
            <a:xfrm>
              <a:off x="3017520" y="2514600"/>
              <a:ext cx="777240" cy="481889"/>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9" name="Forma 18"/>
            <p:cNvSpPr/>
            <p:nvPr/>
          </p:nvSpPr>
          <p:spPr>
            <a:xfrm>
              <a:off x="3017520" y="2514600"/>
              <a:ext cx="777240" cy="481889"/>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0" name="!!Páncreas"/>
          <p:cNvGrpSpPr/>
          <p:nvPr/>
        </p:nvGrpSpPr>
        <p:grpSpPr>
          <a:xfrm>
            <a:off x="3611880" y="2880360"/>
            <a:ext cx="502920" cy="211226"/>
            <a:chOff x="3611880" y="2880360"/>
            <a:chExt cx="502920" cy="211226"/>
          </a:xfrm>
        </p:grpSpPr>
        <p:sp>
          <p:nvSpPr>
            <p:cNvPr id="21" name="Forma 20"/>
            <p:cNvSpPr/>
            <p:nvPr/>
          </p:nvSpPr>
          <p:spPr>
            <a:xfrm>
              <a:off x="3611880" y="2880360"/>
              <a:ext cx="502920" cy="211226"/>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22" name="Forma 21"/>
            <p:cNvSpPr/>
            <p:nvPr/>
          </p:nvSpPr>
          <p:spPr>
            <a:xfrm>
              <a:off x="3611880" y="2880360"/>
              <a:ext cx="502920" cy="211226"/>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23" name="Islotes"/>
            <p:cNvSpPr/>
            <p:nvPr/>
          </p:nvSpPr>
          <p:spPr>
            <a:xfrm>
              <a:off x="3611880" y="2880360"/>
              <a:ext cx="502920" cy="211226"/>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4" name="Forma 23"/>
            <p:cNvSpPr/>
            <p:nvPr/>
          </p:nvSpPr>
          <p:spPr>
            <a:xfrm>
              <a:off x="3611880" y="2880360"/>
              <a:ext cx="502920" cy="211226"/>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25" name="!!Intestino"/>
          <p:cNvGrpSpPr/>
          <p:nvPr/>
        </p:nvGrpSpPr>
        <p:grpSpPr>
          <a:xfrm>
            <a:off x="3246120" y="3108960"/>
            <a:ext cx="685800" cy="582930"/>
            <a:chOff x="3246120" y="3108960"/>
            <a:chExt cx="685800" cy="582930"/>
          </a:xfrm>
        </p:grpSpPr>
        <p:sp>
          <p:nvSpPr>
            <p:cNvPr id="26" name="Forma 25"/>
            <p:cNvSpPr/>
            <p:nvPr/>
          </p:nvSpPr>
          <p:spPr>
            <a:xfrm>
              <a:off x="3246120" y="3108960"/>
              <a:ext cx="685800" cy="58293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27" name="Forma 26"/>
            <p:cNvSpPr/>
            <p:nvPr/>
          </p:nvSpPr>
          <p:spPr>
            <a:xfrm>
              <a:off x="3246120" y="3108960"/>
              <a:ext cx="685800" cy="58293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28" name="Forma 27"/>
            <p:cNvSpPr/>
            <p:nvPr/>
          </p:nvSpPr>
          <p:spPr>
            <a:xfrm>
              <a:off x="3246120" y="310896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29" name="Forma 28"/>
            <p:cNvSpPr/>
            <p:nvPr/>
          </p:nvSpPr>
          <p:spPr>
            <a:xfrm>
              <a:off x="3246120" y="310896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30" name="Forma 29"/>
            <p:cNvSpPr/>
            <p:nvPr/>
          </p:nvSpPr>
          <p:spPr>
            <a:xfrm>
              <a:off x="3246120" y="3108960"/>
              <a:ext cx="685800" cy="58293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31" name="!!Músculo"/>
          <p:cNvGrpSpPr/>
          <p:nvPr/>
        </p:nvGrpSpPr>
        <p:grpSpPr>
          <a:xfrm>
            <a:off x="2971800" y="4114800"/>
            <a:ext cx="777240" cy="254935"/>
            <a:chOff x="2971800" y="4114800"/>
            <a:chExt cx="777240" cy="254935"/>
          </a:xfrm>
        </p:grpSpPr>
        <p:grpSp>
          <p:nvGrpSpPr>
            <p:cNvPr id="32" name="Fibra"/>
            <p:cNvGrpSpPr/>
            <p:nvPr/>
          </p:nvGrpSpPr>
          <p:grpSpPr>
            <a:xfrm>
              <a:off x="2971800" y="4114800"/>
              <a:ext cx="746150" cy="124358"/>
              <a:chOff x="2971800" y="4114800"/>
              <a:chExt cx="746150" cy="124358"/>
            </a:xfrm>
          </p:grpSpPr>
          <p:sp>
            <p:nvSpPr>
              <p:cNvPr id="33" name="Forma 32"/>
              <p:cNvSpPr/>
              <p:nvPr/>
            </p:nvSpPr>
            <p:spPr>
              <a:xfrm>
                <a:off x="2971800" y="4114800"/>
                <a:ext cx="746150" cy="124358"/>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4" name="Forma 33"/>
              <p:cNvSpPr/>
              <p:nvPr/>
            </p:nvSpPr>
            <p:spPr>
              <a:xfrm>
                <a:off x="3002890" y="4114800"/>
                <a:ext cx="683971" cy="124358"/>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35" name="Forma 34"/>
              <p:cNvSpPr/>
              <p:nvPr/>
            </p:nvSpPr>
            <p:spPr>
              <a:xfrm>
                <a:off x="3121030" y="4119774"/>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3382183" y="4119774"/>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3606028" y="4119774"/>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8" name="Forma 37"/>
              <p:cNvSpPr/>
              <p:nvPr/>
            </p:nvSpPr>
            <p:spPr>
              <a:xfrm>
                <a:off x="3665720" y="4119774"/>
                <a:ext cx="49743" cy="11441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9" name="Fibra_2"/>
            <p:cNvGrpSpPr/>
            <p:nvPr/>
          </p:nvGrpSpPr>
          <p:grpSpPr>
            <a:xfrm>
              <a:off x="3002890" y="4245376"/>
              <a:ext cx="746150" cy="124358"/>
              <a:chOff x="3002890" y="4245376"/>
              <a:chExt cx="746150" cy="124358"/>
            </a:xfrm>
          </p:grpSpPr>
          <p:sp>
            <p:nvSpPr>
              <p:cNvPr id="40" name="Forma 39"/>
              <p:cNvSpPr/>
              <p:nvPr/>
            </p:nvSpPr>
            <p:spPr>
              <a:xfrm>
                <a:off x="3002890" y="4245376"/>
                <a:ext cx="746150" cy="124358"/>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41" name="Forma 40"/>
              <p:cNvSpPr/>
              <p:nvPr/>
            </p:nvSpPr>
            <p:spPr>
              <a:xfrm>
                <a:off x="3033979" y="4245376"/>
                <a:ext cx="683971" cy="124358"/>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42" name="Forma 41"/>
              <p:cNvSpPr/>
              <p:nvPr/>
            </p:nvSpPr>
            <p:spPr>
              <a:xfrm>
                <a:off x="3152120" y="4250351"/>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3" name="Forma 42"/>
              <p:cNvSpPr/>
              <p:nvPr/>
            </p:nvSpPr>
            <p:spPr>
              <a:xfrm>
                <a:off x="3413272" y="4250351"/>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4" name="Forma 43"/>
              <p:cNvSpPr/>
              <p:nvPr/>
            </p:nvSpPr>
            <p:spPr>
              <a:xfrm>
                <a:off x="3637117" y="4250351"/>
                <a:ext cx="62179" cy="223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5" name="Forma 44"/>
              <p:cNvSpPr/>
              <p:nvPr/>
            </p:nvSpPr>
            <p:spPr>
              <a:xfrm>
                <a:off x="3696809" y="4250351"/>
                <a:ext cx="49743" cy="11441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46" name="!!Adipocito"/>
          <p:cNvGrpSpPr/>
          <p:nvPr/>
        </p:nvGrpSpPr>
        <p:grpSpPr>
          <a:xfrm>
            <a:off x="4160520" y="3520440"/>
            <a:ext cx="384048" cy="384048"/>
            <a:chOff x="4160520" y="3520440"/>
            <a:chExt cx="384048" cy="384048"/>
          </a:xfrm>
        </p:grpSpPr>
        <p:sp>
          <p:nvSpPr>
            <p:cNvPr id="47" name="Forma 46"/>
            <p:cNvSpPr/>
            <p:nvPr/>
          </p:nvSpPr>
          <p:spPr>
            <a:xfrm>
              <a:off x="4160520" y="3520440"/>
              <a:ext cx="384048" cy="384048"/>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8" name="Gota lipídica"/>
            <p:cNvSpPr/>
            <p:nvPr/>
          </p:nvSpPr>
          <p:spPr>
            <a:xfrm>
              <a:off x="4179722" y="3539642"/>
              <a:ext cx="345643" cy="345643"/>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9" name="Forma 48"/>
            <p:cNvSpPr/>
            <p:nvPr/>
          </p:nvSpPr>
          <p:spPr>
            <a:xfrm rot="2400000">
              <a:off x="4437035" y="3543483"/>
              <a:ext cx="84491" cy="4608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0" name="Mitocondria"/>
            <p:cNvGrpSpPr/>
            <p:nvPr/>
          </p:nvGrpSpPr>
          <p:grpSpPr>
            <a:xfrm>
              <a:off x="4191244" y="3804636"/>
              <a:ext cx="38405" cy="19202"/>
              <a:chOff x="4191244" y="3804636"/>
              <a:chExt cx="38405" cy="19202"/>
            </a:xfrm>
          </p:grpSpPr>
          <p:sp>
            <p:nvSpPr>
              <p:cNvPr id="51" name="Forma 50"/>
              <p:cNvSpPr/>
              <p:nvPr/>
            </p:nvSpPr>
            <p:spPr>
              <a:xfrm rot="-2400000">
                <a:off x="4191244" y="3804636"/>
                <a:ext cx="38405" cy="192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2" name="Forma 51"/>
              <p:cNvSpPr/>
              <p:nvPr/>
            </p:nvSpPr>
            <p:spPr>
              <a:xfrm rot="-2400000">
                <a:off x="4193932" y="3807324"/>
                <a:ext cx="33028" cy="13826"/>
              </a:xfrm>
              <a:prstGeom prst="ellipse">
                <a:avLst/>
              </a:prstGeom>
              <a:solidFill>
                <a:srgbClr val="F8D8B4"/>
              </a:solidFill>
              <a:ln w="9525" cap="rnd">
                <a:solidFill>
                  <a:srgbClr val="B2732B"/>
                </a:solidFill>
                <a:round/>
              </a:ln>
            </p:spPr>
          </p:sp>
          <p:sp>
            <p:nvSpPr>
              <p:cNvPr id="53" name="Forma 52"/>
              <p:cNvSpPr/>
              <p:nvPr/>
            </p:nvSpPr>
            <p:spPr>
              <a:xfrm rot="-2400000">
                <a:off x="4193932" y="3807324"/>
                <a:ext cx="33028" cy="1382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54" name="Rótulo hígado"/>
          <p:cNvSpPr/>
          <p:nvPr/>
        </p:nvSpPr>
        <p:spPr>
          <a:xfrm>
            <a:off x="457200" y="2606040"/>
            <a:ext cx="661211" cy="24606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Hígado</a:t>
            </a:r>
            <a:endParaRPr lang="es-AR" sz="1250" dirty="0">
              <a:latin typeface="Bahnschrift SemiBold Condensed"/>
            </a:endParaRPr>
          </a:p>
        </p:txBody>
      </p:sp>
      <p:sp>
        <p:nvSpPr>
          <p:cNvPr id="55" name="Rótulo páncreas"/>
          <p:cNvSpPr/>
          <p:nvPr/>
        </p:nvSpPr>
        <p:spPr>
          <a:xfrm>
            <a:off x="5120640" y="2880360"/>
            <a:ext cx="829035" cy="24606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Páncreas</a:t>
            </a:r>
            <a:endParaRPr lang="es-AR" sz="1250" dirty="0">
              <a:latin typeface="Bahnschrift SemiBold Condensed"/>
            </a:endParaRPr>
          </a:p>
        </p:txBody>
      </p:sp>
      <p:sp>
        <p:nvSpPr>
          <p:cNvPr id="56" name="Rótulo músculo"/>
          <p:cNvSpPr/>
          <p:nvPr/>
        </p:nvSpPr>
        <p:spPr>
          <a:xfrm>
            <a:off x="457200" y="4160520"/>
            <a:ext cx="749030" cy="24606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Músculo</a:t>
            </a:r>
            <a:endParaRPr lang="es-AR" sz="1250" dirty="0">
              <a:latin typeface="Bahnschrift SemiBold Condensed"/>
            </a:endParaRPr>
          </a:p>
        </p:txBody>
      </p:sp>
      <p:sp>
        <p:nvSpPr>
          <p:cNvPr id="57" name="Rótulo adiposo"/>
          <p:cNvSpPr/>
          <p:nvPr/>
        </p:nvSpPr>
        <p:spPr>
          <a:xfrm>
            <a:off x="5120640" y="3611880"/>
            <a:ext cx="741726" cy="24606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Adiposo</a:t>
            </a:r>
            <a:endParaRPr lang="es-AR" sz="1250" dirty="0">
              <a:latin typeface="Bahnschrift SemiBold Condensed"/>
            </a:endParaRPr>
          </a:p>
        </p:txBody>
      </p:sp>
      <p:sp>
        <p:nvSpPr>
          <p:cNvPr id="58" name="Flecha 57_2"/>
          <p:cNvSpPr/>
          <p:nvPr/>
        </p:nvSpPr>
        <p:spPr>
          <a:xfrm>
            <a:off x="1325880" y="2743200"/>
            <a:ext cx="1737360" cy="9144"/>
          </a:xfrm>
          <a:custGeom>
            <a:avLst/>
            <a:gdLst/>
            <a:ahLst/>
            <a:cxnLst/>
            <a:rect l="0" t="0" r="r" b="b"/>
            <a:pathLst>
              <a:path w="1900" h="10" fill="none">
                <a:moveTo>
                  <a:pt x="0" y="0"/>
                </a:moveTo>
                <a:lnTo>
                  <a:pt x="1900" y="0"/>
                </a:lnTo>
              </a:path>
            </a:pathLst>
          </a:custGeom>
          <a:noFill/>
          <a:ln w="12700" cap="rnd">
            <a:solidFill>
              <a:srgbClr val="1E1E1E"/>
            </a:solidFill>
            <a:round/>
          </a:ln>
        </p:spPr>
      </p:sp>
      <p:sp>
        <p:nvSpPr>
          <p:cNvPr id="59" name="Flecha 59_2"/>
          <p:cNvSpPr/>
          <p:nvPr/>
        </p:nvSpPr>
        <p:spPr>
          <a:xfrm>
            <a:off x="4114800" y="3017520"/>
            <a:ext cx="1005840" cy="9144"/>
          </a:xfrm>
          <a:custGeom>
            <a:avLst/>
            <a:gdLst/>
            <a:ahLst/>
            <a:cxnLst/>
            <a:rect l="0" t="0" r="r" b="b"/>
            <a:pathLst>
              <a:path w="1099" h="10" fill="none">
                <a:moveTo>
                  <a:pt x="1099" y="0"/>
                </a:moveTo>
                <a:lnTo>
                  <a:pt x="0" y="0"/>
                </a:lnTo>
              </a:path>
            </a:pathLst>
          </a:custGeom>
          <a:noFill/>
          <a:ln w="12700" cap="rnd">
            <a:solidFill>
              <a:srgbClr val="1E1E1E"/>
            </a:solidFill>
            <a:round/>
          </a:ln>
        </p:spPr>
      </p:sp>
      <p:sp>
        <p:nvSpPr>
          <p:cNvPr id="60" name="Flecha 61_2"/>
          <p:cNvSpPr/>
          <p:nvPr/>
        </p:nvSpPr>
        <p:spPr>
          <a:xfrm>
            <a:off x="1325880" y="4297680"/>
            <a:ext cx="1691640" cy="9144"/>
          </a:xfrm>
          <a:custGeom>
            <a:avLst/>
            <a:gdLst/>
            <a:ahLst/>
            <a:cxnLst/>
            <a:rect l="0" t="0" r="r" b="b"/>
            <a:pathLst>
              <a:path w="1849" h="10" fill="none">
                <a:moveTo>
                  <a:pt x="0" y="0"/>
                </a:moveTo>
                <a:lnTo>
                  <a:pt x="1849" y="0"/>
                </a:lnTo>
              </a:path>
            </a:pathLst>
          </a:custGeom>
          <a:noFill/>
          <a:ln w="12700" cap="rnd">
            <a:solidFill>
              <a:srgbClr val="1E1E1E"/>
            </a:solidFill>
            <a:round/>
          </a:ln>
        </p:spPr>
      </p:sp>
      <p:sp>
        <p:nvSpPr>
          <p:cNvPr id="61" name="Flecha 63_2"/>
          <p:cNvSpPr/>
          <p:nvPr/>
        </p:nvSpPr>
        <p:spPr>
          <a:xfrm>
            <a:off x="4526280" y="3703320"/>
            <a:ext cx="594360" cy="45720"/>
          </a:xfrm>
          <a:custGeom>
            <a:avLst/>
            <a:gdLst/>
            <a:ahLst/>
            <a:cxnLst/>
            <a:rect l="0" t="0" r="r" b="b"/>
            <a:pathLst>
              <a:path w="649" h="49" fill="none">
                <a:moveTo>
                  <a:pt x="649" y="49"/>
                </a:moveTo>
                <a:lnTo>
                  <a:pt x="0" y="0"/>
                </a:lnTo>
              </a:path>
            </a:pathLst>
          </a:custGeom>
          <a:noFill/>
          <a:ln w="12700" cap="rnd">
            <a:solidFill>
              <a:srgbClr val="1E1E1E"/>
            </a:solidFill>
            <a:round/>
          </a:ln>
        </p:spPr>
      </p:sp>
      <p:sp>
        <p:nvSpPr>
          <p:cNvPr id="62" name="Insulina 0"/>
          <p:cNvSpPr/>
          <p:nvPr/>
        </p:nvSpPr>
        <p:spPr>
          <a:xfrm>
            <a:off x="3794760" y="2926080"/>
            <a:ext cx="274320" cy="2743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Ins</a:t>
            </a:r>
            <a:endParaRPr lang="es-AR" sz="850" dirty="0">
              <a:latin typeface="Bahnschrift SemiBold Condensed"/>
            </a:endParaRPr>
          </a:p>
        </p:txBody>
      </p:sp>
      <p:sp>
        <p:nvSpPr>
          <p:cNvPr id="63" name="Insulina 1"/>
          <p:cNvSpPr/>
          <p:nvPr/>
        </p:nvSpPr>
        <p:spPr>
          <a:xfrm>
            <a:off x="3794760" y="2926080"/>
            <a:ext cx="274320" cy="2743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Ins</a:t>
            </a:r>
            <a:endParaRPr lang="es-AR" sz="850" dirty="0">
              <a:latin typeface="Bahnschrift SemiBold Condensed"/>
            </a:endParaRPr>
          </a:p>
        </p:txBody>
      </p:sp>
      <p:sp>
        <p:nvSpPr>
          <p:cNvPr id="64" name="Insulina 2"/>
          <p:cNvSpPr/>
          <p:nvPr/>
        </p:nvSpPr>
        <p:spPr>
          <a:xfrm>
            <a:off x="3794760" y="2926080"/>
            <a:ext cx="274320" cy="2743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Ins</a:t>
            </a:r>
            <a:endParaRPr lang="es-AR" sz="850" dirty="0">
              <a:latin typeface="Bahnschrift SemiBold Condensed"/>
            </a:endParaRPr>
          </a:p>
        </p:txBody>
      </p:sp>
      <p:grpSp>
        <p:nvGrpSpPr>
          <p:cNvPr id="65" name="!!Texto secuencia"/>
          <p:cNvGrpSpPr/>
          <p:nvPr/>
        </p:nvGrpSpPr>
        <p:grpSpPr>
          <a:xfrm>
            <a:off x="8001000" y="1051560"/>
            <a:ext cx="3794760" cy="3657600"/>
            <a:chOff x="8001000" y="1051560"/>
            <a:chExt cx="3794760" cy="3657600"/>
          </a:xfrm>
        </p:grpSpPr>
        <p:sp>
          <p:nvSpPr>
            <p:cNvPr id="66" name="Forma 69"/>
            <p:cNvSpPr/>
            <p:nvPr/>
          </p:nvSpPr>
          <p:spPr>
            <a:xfrm>
              <a:off x="8001000" y="1234440"/>
              <a:ext cx="379476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insulina se secreta a la </a:t>
              </a:r>
              <a:r>
                <a:rPr lang="es-AR" sz="1750" b="1" dirty="0">
                  <a:solidFill>
                    <a:srgbClr val="1E1E1E"/>
                  </a:solidFill>
                  <a:latin typeface="Bahnschrift"/>
                  <a:ea typeface="Bahnschrift"/>
                  <a:cs typeface="Bahnschrift"/>
                  <a:sym typeface="Bahnschrift"/>
                </a:rPr>
                <a:t>vena porta</a:t>
              </a:r>
              <a:r>
                <a:rPr lang="es-AR" sz="1750" dirty="0">
                  <a:solidFill>
                    <a:srgbClr val="1E1E1E"/>
                  </a:solidFill>
                  <a:latin typeface="Bahnschrift"/>
                  <a:ea typeface="Bahnschrift"/>
                  <a:cs typeface="Bahnschrift"/>
                  <a:sym typeface="Bahnschrift"/>
                </a:rPr>
                <a:t>: el </a:t>
              </a:r>
              <a:r>
                <a:rPr lang="es-AR" sz="1750" b="1" dirty="0">
                  <a:solidFill>
                    <a:srgbClr val="1E1E1E"/>
                  </a:solidFill>
                  <a:latin typeface="Bahnschrift"/>
                  <a:ea typeface="Bahnschrift"/>
                  <a:cs typeface="Bahnschrift"/>
                  <a:sym typeface="Bahnschrift"/>
                </a:rPr>
                <a:t>hígado</a:t>
              </a:r>
              <a:r>
                <a:rPr lang="es-AR" sz="1750" dirty="0">
                  <a:solidFill>
                    <a:srgbClr val="1E1E1E"/>
                  </a:solidFill>
                  <a:latin typeface="Bahnschrift"/>
                  <a:ea typeface="Bahnschrift"/>
                  <a:cs typeface="Bahnschrift"/>
                  <a:sym typeface="Bahnschrift"/>
                </a:rPr>
                <a:t> es el primer y principal blanco.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Luego alcanza la circulación sistémica: </a:t>
              </a:r>
              <a:r>
                <a:rPr lang="es-AR" sz="1750" b="1" dirty="0">
                  <a:solidFill>
                    <a:srgbClr val="1E1E1E"/>
                  </a:solidFill>
                  <a:latin typeface="Bahnschrift"/>
                  <a:ea typeface="Bahnschrift"/>
                  <a:cs typeface="Bahnschrift"/>
                  <a:sym typeface="Bahnschrift"/>
                </a:rPr>
                <a:t>músculo</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tejido adiposo</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Una misma señal produce respuestas </a:t>
              </a:r>
              <a:r>
                <a:rPr lang="es-AR" sz="1750" b="1" dirty="0">
                  <a:solidFill>
                    <a:srgbClr val="1E1E1E"/>
                  </a:solidFill>
                  <a:latin typeface="Bahnschrift"/>
                  <a:ea typeface="Bahnschrift"/>
                  <a:cs typeface="Bahnschrift"/>
                  <a:sym typeface="Bahnschrift"/>
                </a:rPr>
                <a:t>distintas en cada tejido</a:t>
              </a:r>
              <a:r>
                <a:rPr lang="es-AR" sz="1750" dirty="0">
                  <a:solidFill>
                    <a:srgbClr val="1E1E1E"/>
                  </a:solidFill>
                  <a:latin typeface="Bahnschrift"/>
                  <a:ea typeface="Bahnschrift"/>
                  <a:cs typeface="Bahnschrift"/>
                  <a:sym typeface="Bahnschrift"/>
                </a:rPr>
                <a:t>, según receptores, enzimas y transportadores.</a:t>
              </a:r>
              <a:endParaRPr lang="es-AR" sz="1750" dirty="0">
                <a:latin typeface="Bahnschrift"/>
              </a:endParaRPr>
            </a:p>
          </p:txBody>
        </p:sp>
        <p:sp>
          <p:nvSpPr>
            <p:cNvPr id="67" name="Forma 70"/>
            <p:cNvSpPr/>
            <p:nvPr/>
          </p:nvSpPr>
          <p:spPr>
            <a:xfrm>
              <a:off x="8110728" y="1051560"/>
              <a:ext cx="123735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ORGANISMO</a:t>
              </a:r>
              <a:endParaRPr lang="es-AR" sz="1600" dirty="0">
                <a:latin typeface="Bahnschrift SemiBold Condensed"/>
              </a:endParaRPr>
            </a:p>
          </p:txBody>
        </p:sp>
      </p:grpSp>
      <p:sp>
        <p:nvSpPr>
          <p:cNvPr id="2" name="Etiqueta sección"/>
          <p:cNvSpPr/>
          <p:nvPr/>
        </p:nvSpPr>
        <p:spPr>
          <a:xfrm>
            <a:off x="9959940" y="201168"/>
            <a:ext cx="195743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1/6</a:t>
            </a:r>
            <a:endParaRPr lang="es-AR" sz="1300" dirty="0">
              <a:latin typeface="Bahnschrift SemiBold Condensed"/>
            </a:endParaRPr>
          </a:p>
        </p:txBody>
      </p:sp>
      <p:sp>
        <p:nvSpPr>
          <p:cNvPr id="3" name="Título"/>
          <p:cNvSpPr/>
          <p:nvPr/>
        </p:nvSpPr>
        <p:spPr>
          <a:xfrm>
            <a:off x="274320" y="146304"/>
            <a:ext cx="682340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SEÑAL DE INSULINA: DEL ORGANISMO A LA CÉLULA</a:t>
            </a:r>
            <a:endParaRPr lang="es-AR" sz="2600" dirty="0">
              <a:latin typeface="Bahnschrift SemiBold Condensed"/>
            </a:endParaRPr>
          </a:p>
        </p:txBody>
      </p:sp>
      <p:sp>
        <p:nvSpPr>
          <p:cNvPr id="6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8" fill="hold">
                      <p:stCondLst>
                        <p:cond delay="indefinite"/>
                      </p:stCondLst>
                      <p:childTnLst>
                        <p:par>
                          <p:cTn id="27"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4"/>
                                        </p:tgtEl>
                                        <p:attrNameLst>
                                          <p:attrName>style.visibility</p:attrName>
                                        </p:attrNameLst>
                                      </p:cBhvr>
                                      <p:to>
                                        <p:strVal val="visible"/>
                                      </p:to>
                                    </p:set>
                                    <p:animEffect transition="in" filter="fade">
                                      <p:cBhvr>
                                        <p:cTn id="5" dur="500"/>
                                        <p:tgtEl>
                                          <p:spTgt spid="54"/>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55"/>
                                        </p:tgtEl>
                                        <p:attrNameLst>
                                          <p:attrName>style.visibility</p:attrName>
                                        </p:attrNameLst>
                                      </p:cBhvr>
                                      <p:to>
                                        <p:strVal val="visible"/>
                                      </p:to>
                                    </p:set>
                                    <p:animEffect transition="in" filter="fade">
                                      <p:cBhvr>
                                        <p:cTn id="8" dur="500"/>
                                        <p:tgtEl>
                                          <p:spTgt spid="55"/>
                                        </p:tgtEl>
                                      </p:cBhvr>
                                    </p:animEffect>
                                  </p:childTnLst>
                                </p:cTn>
                              </p:par>
                              <p:par>
                                <p:cTn id="9" presetID="10" presetClass="entr" presetSubtype="0"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fade">
                                      <p:cBhvr>
                                        <p:cTn id="11" dur="500"/>
                                        <p:tgtEl>
                                          <p:spTgt spid="56"/>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7"/>
                                        </p:tgtEl>
                                        <p:attrNameLst>
                                          <p:attrName>style.visibility</p:attrName>
                                        </p:attrNameLst>
                                      </p:cBhvr>
                                      <p:to>
                                        <p:strVal val="visible"/>
                                      </p:to>
                                    </p:set>
                                    <p:animEffect transition="in" filter="fade">
                                      <p:cBhvr>
                                        <p:cTn id="14" dur="500"/>
                                        <p:tgtEl>
                                          <p:spTgt spid="5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58"/>
                                        </p:tgtEl>
                                        <p:attrNameLst>
                                          <p:attrName>style.visibility</p:attrName>
                                        </p:attrNameLst>
                                      </p:cBhvr>
                                      <p:to>
                                        <p:strVal val="visible"/>
                                      </p:to>
                                    </p:set>
                                    <p:animEffect transition="in" filter="fade">
                                      <p:cBhvr>
                                        <p:cTn id="17" dur="500"/>
                                        <p:tgtEl>
                                          <p:spTgt spid="5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fade">
                                      <p:cBhvr>
                                        <p:cTn id="20" dur="500"/>
                                        <p:tgtEl>
                                          <p:spTgt spid="5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61"/>
                                        </p:tgtEl>
                                        <p:attrNameLst>
                                          <p:attrName>style.visibility</p:attrName>
                                        </p:attrNameLst>
                                      </p:cBhvr>
                                      <p:to>
                                        <p:strVal val="visible"/>
                                      </p:to>
                                    </p:set>
                                    <p:animEffect transition="in" filter="fade">
                                      <p:cBhvr>
                                        <p:cTn id="26" dur="500"/>
                                        <p:tgtEl>
                                          <p:spTgt spid="61"/>
                                        </p:tgtEl>
                                      </p:cBhvr>
                                    </p:animEffect>
                                  </p:childTnLst>
                                </p:cTn>
                              </p:par>
                            </p:childTnLst>
                          </p:cTn>
                        </p:par>
                      </p:childTnLst>
                    </p:cTn>
                  </p:par>
                  <p:par>
                    <p:cTn id="52" fill="hold">
                      <p:stCondLst>
                        <p:cond delay="indefinite"/>
                      </p:stCondLst>
                      <p:childTnLst>
                        <p:par>
                          <p:cTn id="44"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62"/>
                                        </p:tgtEl>
                                        <p:attrNameLst>
                                          <p:attrName>style.visibility</p:attrName>
                                        </p:attrNameLst>
                                      </p:cBhvr>
                                      <p:to>
                                        <p:strVal val="visible"/>
                                      </p:to>
                                    </p:set>
                                    <p:anim calcmode="lin" valueType="num">
                                      <p:cBhvr>
                                        <p:cTn id="31" dur="500" fill="hold"/>
                                        <p:tgtEl>
                                          <p:spTgt spid="62"/>
                                        </p:tgtEl>
                                        <p:attrNameLst>
                                          <p:attrName>ppt_w</p:attrName>
                                        </p:attrNameLst>
                                      </p:cBhvr>
                                      <p:tavLst>
                                        <p:tav tm="0">
                                          <p:val>
                                            <p:fltVal val="0"/>
                                          </p:val>
                                        </p:tav>
                                        <p:tav tm="100000">
                                          <p:val>
                                            <p:strVal val="#ppt_w"/>
                                          </p:val>
                                        </p:tav>
                                      </p:tavLst>
                                    </p:anim>
                                    <p:anim calcmode="lin" valueType="num">
                                      <p:cBhvr>
                                        <p:cTn id="32" dur="500" fill="hold"/>
                                        <p:tgtEl>
                                          <p:spTgt spid="62"/>
                                        </p:tgtEl>
                                        <p:attrNameLst>
                                          <p:attrName>ppt_h</p:attrName>
                                        </p:attrNameLst>
                                      </p:cBhvr>
                                      <p:tavLst>
                                        <p:tav tm="0">
                                          <p:val>
                                            <p:fltVal val="0"/>
                                          </p:val>
                                        </p:tav>
                                        <p:tav tm="100000">
                                          <p:val>
                                            <p:strVal val="#ppt_h"/>
                                          </p:val>
                                        </p:tav>
                                      </p:tavLst>
                                    </p:anim>
                                    <p:animEffect transition="in" filter="fade">
                                      <p:cBhvr>
                                        <p:cTn id="33" dur="500"/>
                                        <p:tgtEl>
                                          <p:spTgt spid="62"/>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63"/>
                                        </p:tgtEl>
                                        <p:attrNameLst>
                                          <p:attrName>style.visibility</p:attrName>
                                        </p:attrNameLst>
                                      </p:cBhvr>
                                      <p:to>
                                        <p:strVal val="visible"/>
                                      </p:to>
                                    </p:set>
                                    <p:anim calcmode="lin" valueType="num">
                                      <p:cBhvr>
                                        <p:cTn id="36" dur="500" fill="hold"/>
                                        <p:tgtEl>
                                          <p:spTgt spid="63"/>
                                        </p:tgtEl>
                                        <p:attrNameLst>
                                          <p:attrName>ppt_w</p:attrName>
                                        </p:attrNameLst>
                                      </p:cBhvr>
                                      <p:tavLst>
                                        <p:tav tm="0">
                                          <p:val>
                                            <p:fltVal val="0"/>
                                          </p:val>
                                        </p:tav>
                                        <p:tav tm="100000">
                                          <p:val>
                                            <p:strVal val="#ppt_w"/>
                                          </p:val>
                                        </p:tav>
                                      </p:tavLst>
                                    </p:anim>
                                    <p:anim calcmode="lin" valueType="num">
                                      <p:cBhvr>
                                        <p:cTn id="37" dur="500" fill="hold"/>
                                        <p:tgtEl>
                                          <p:spTgt spid="63"/>
                                        </p:tgtEl>
                                        <p:attrNameLst>
                                          <p:attrName>ppt_h</p:attrName>
                                        </p:attrNameLst>
                                      </p:cBhvr>
                                      <p:tavLst>
                                        <p:tav tm="0">
                                          <p:val>
                                            <p:fltVal val="0"/>
                                          </p:val>
                                        </p:tav>
                                        <p:tav tm="100000">
                                          <p:val>
                                            <p:strVal val="#ppt_h"/>
                                          </p:val>
                                        </p:tav>
                                      </p:tavLst>
                                    </p:anim>
                                    <p:animEffect transition="in" filter="fade">
                                      <p:cBhvr>
                                        <p:cTn id="38" dur="500"/>
                                        <p:tgtEl>
                                          <p:spTgt spid="63"/>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64"/>
                                        </p:tgtEl>
                                        <p:attrNameLst>
                                          <p:attrName>style.visibility</p:attrName>
                                        </p:attrNameLst>
                                      </p:cBhvr>
                                      <p:to>
                                        <p:strVal val="visible"/>
                                      </p:to>
                                    </p:set>
                                    <p:anim calcmode="lin" valueType="num">
                                      <p:cBhvr>
                                        <p:cTn id="41" dur="500" fill="hold"/>
                                        <p:tgtEl>
                                          <p:spTgt spid="64"/>
                                        </p:tgtEl>
                                        <p:attrNameLst>
                                          <p:attrName>ppt_w</p:attrName>
                                        </p:attrNameLst>
                                      </p:cBhvr>
                                      <p:tavLst>
                                        <p:tav tm="0">
                                          <p:val>
                                            <p:fltVal val="0"/>
                                          </p:val>
                                        </p:tav>
                                        <p:tav tm="100000">
                                          <p:val>
                                            <p:strVal val="#ppt_w"/>
                                          </p:val>
                                        </p:tav>
                                      </p:tavLst>
                                    </p:anim>
                                    <p:anim calcmode="lin" valueType="num">
                                      <p:cBhvr>
                                        <p:cTn id="42" dur="500" fill="hold"/>
                                        <p:tgtEl>
                                          <p:spTgt spid="64"/>
                                        </p:tgtEl>
                                        <p:attrNameLst>
                                          <p:attrName>ppt_h</p:attrName>
                                        </p:attrNameLst>
                                      </p:cBhvr>
                                      <p:tavLst>
                                        <p:tav tm="0">
                                          <p:val>
                                            <p:fltVal val="0"/>
                                          </p:val>
                                        </p:tav>
                                        <p:tav tm="100000">
                                          <p:val>
                                            <p:strVal val="#ppt_h"/>
                                          </p:val>
                                        </p:tav>
                                      </p:tavLst>
                                    </p:anim>
                                    <p:animEffect transition="in" filter="fade">
                                      <p:cBhvr>
                                        <p:cTn id="43" dur="500"/>
                                        <p:tgtEl>
                                          <p:spTgt spid="64"/>
                                        </p:tgtEl>
                                      </p:cBhvr>
                                    </p:animEffect>
                                  </p:childTnLst>
                                </p:cTn>
                              </p:par>
                            </p:childTnLst>
                          </p:cTn>
                        </p:par>
                        <p:par>
                          <p:cTn id="51" fill="hold">
                            <p:stCondLst>
                              <p:cond delay="500"/>
                            </p:stCondLst>
                            <p:childTnLst>
                              <p:par>
                                <p:cTn id="45" presetID="0" presetClass="path" presetSubtype="0" accel="20000" decel="20000" fill="hold" grpId="0" nodeType="afterEffect">
                                  <p:stCondLst>
                                    <p:cond delay="0"/>
                                  </p:stCondLst>
                                  <p:childTnLst>
                                    <p:animMotion origin="layout" path="M 0 0 L -0.0450 -0.0200 E" pathEditMode="relative" ptsTypes="">
                                      <p:cBhvr>
                                        <p:cTn id="46" dur="1000" fill="hold"/>
                                        <p:tgtEl>
                                          <p:spTgt spid="62"/>
                                        </p:tgtEl>
                                        <p:attrNameLst>
                                          <p:attrName>ppt_x</p:attrName>
                                          <p:attrName>ppt_y</p:attrName>
                                        </p:attrNameLst>
                                      </p:cBhvr>
                                      <p:rCtr x="-2250" y="-1000"/>
                                    </p:animMotion>
                                  </p:childTnLst>
                                </p:cTn>
                              </p:par>
                              <p:par>
                                <p:cTn id="47" presetID="0" presetClass="path" presetSubtype="0" accel="20000" decel="20000" fill="hold" grpId="0" nodeType="withEffect">
                                  <p:stCondLst>
                                    <p:cond delay="0"/>
                                  </p:stCondLst>
                                  <p:childTnLst>
                                    <p:animMotion origin="layout" path="M 0 0 L -0.0488 0.1800 E" pathEditMode="relative" ptsTypes="">
                                      <p:cBhvr>
                                        <p:cTn id="48" dur="1300" fill="hold"/>
                                        <p:tgtEl>
                                          <p:spTgt spid="63"/>
                                        </p:tgtEl>
                                        <p:attrNameLst>
                                          <p:attrName>ppt_x</p:attrName>
                                          <p:attrName>ppt_y</p:attrName>
                                        </p:attrNameLst>
                                      </p:cBhvr>
                                      <p:rCtr x="-2437" y="9000"/>
                                    </p:animMotion>
                                  </p:childTnLst>
                                </p:cTn>
                              </p:par>
                              <p:par>
                                <p:cTn id="49" presetID="0" presetClass="path" presetSubtype="0" accel="20000" decel="20000" fill="hold" grpId="0" nodeType="withEffect">
                                  <p:stCondLst>
                                    <p:cond delay="0"/>
                                  </p:stCondLst>
                                  <p:childTnLst>
                                    <p:animMotion origin="layout" path="M 0 0 L 0.0413 0.1000 E" pathEditMode="relative" ptsTypes="">
                                      <p:cBhvr>
                                        <p:cTn id="50" dur="1200" fill="hold"/>
                                        <p:tgtEl>
                                          <p:spTgt spid="64"/>
                                        </p:tgtEl>
                                        <p:attrNameLst>
                                          <p:attrName>ppt_x</p:attrName>
                                          <p:attrName>ppt_y</p:attrName>
                                        </p:attrNameLst>
                                      </p:cBhvr>
                                      <p:rCtr x="2062" y="5000"/>
                                    </p:animMotion>
                                  </p:childTnLst>
                                </p:cTn>
                              </p:par>
                            </p:childTnLst>
                          </p:cTn>
                        </p:par>
                      </p:childTnLst>
                    </p:cTn>
                  </p:par>
                  <p:par>
                    <p:cTn id="57" fill="hold">
                      <p:stCondLst>
                        <p:cond delay="indefinite"/>
                      </p:stCondLst>
                      <p:childTnLst>
                        <p:par>
                          <p:cTn id="56"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fade">
                                      <p:cBhvr>
                                        <p:cTn id="5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Lst>
  </p:timing>
</p:sld>
</file>

<file path=ppt/slides/slide3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Organismo"/>
          <p:cNvGrpSpPr/>
          <p:nvPr/>
        </p:nvGrpSpPr>
        <p:grpSpPr>
          <a:xfrm>
            <a:off x="-5486400" y="-2743200"/>
            <a:ext cx="10058400" cy="20116800"/>
            <a:chOff x="-5486400" y="-2743200"/>
            <a:chExt cx="10058400" cy="20116800"/>
          </a:xfrm>
        </p:grpSpPr>
        <p:sp>
          <p:nvSpPr>
            <p:cNvPr id="5" name="Forma 4"/>
            <p:cNvSpPr/>
            <p:nvPr/>
          </p:nvSpPr>
          <p:spPr>
            <a:xfrm>
              <a:off x="-5486400" y="-2743200"/>
              <a:ext cx="10058400" cy="20116800"/>
            </a:xfrm>
            <a:custGeom>
              <a:avLst/>
              <a:gdLst/>
              <a:ahLst/>
              <a:cxnLst/>
              <a:rect l="0" t="0" r="r" b="b"/>
              <a:pathLst>
                <a:path w="500" h="1000">
                  <a:moveTo>
                    <a:pt x="225" y="150"/>
                  </a:moveTo>
                  <a:cubicBezTo>
                    <a:pt x="229" y="148"/>
                    <a:pt x="270" y="148"/>
                    <a:pt x="275" y="150"/>
                  </a:cubicBezTo>
                  <a:cubicBezTo>
                    <a:pt x="279" y="151"/>
                    <a:pt x="282" y="167"/>
                    <a:pt x="290" y="170"/>
                  </a:cubicBezTo>
                  <a:cubicBezTo>
                    <a:pt x="297" y="173"/>
                    <a:pt x="361" y="185"/>
                    <a:pt x="370" y="190"/>
                  </a:cubicBezTo>
                  <a:cubicBezTo>
                    <a:pt x="378" y="194"/>
                    <a:pt x="401" y="219"/>
                    <a:pt x="405" y="230"/>
                  </a:cubicBezTo>
                  <a:cubicBezTo>
                    <a:pt x="408" y="240"/>
                    <a:pt x="417" y="313"/>
                    <a:pt x="420" y="330"/>
                  </a:cubicBezTo>
                  <a:cubicBezTo>
                    <a:pt x="422" y="346"/>
                    <a:pt x="430" y="434"/>
                    <a:pt x="432" y="450"/>
                  </a:cubicBezTo>
                  <a:cubicBezTo>
                    <a:pt x="433" y="465"/>
                    <a:pt x="441" y="532"/>
                    <a:pt x="440" y="540"/>
                  </a:cubicBezTo>
                  <a:cubicBezTo>
                    <a:pt x="438" y="547"/>
                    <a:pt x="415" y="554"/>
                    <a:pt x="412" y="548"/>
                  </a:cubicBezTo>
                  <a:cubicBezTo>
                    <a:pt x="408" y="541"/>
                    <a:pt x="397" y="470"/>
                    <a:pt x="395" y="455"/>
                  </a:cubicBezTo>
                  <a:cubicBezTo>
                    <a:pt x="392" y="439"/>
                    <a:pt x="380" y="349"/>
                    <a:pt x="378" y="340"/>
                  </a:cubicBezTo>
                  <a:cubicBezTo>
                    <a:pt x="375" y="330"/>
                    <a:pt x="366" y="320"/>
                    <a:pt x="365" y="330"/>
                  </a:cubicBezTo>
                  <a:cubicBezTo>
                    <a:pt x="363" y="339"/>
                    <a:pt x="361" y="453"/>
                    <a:pt x="360" y="470"/>
                  </a:cubicBezTo>
                  <a:cubicBezTo>
                    <a:pt x="358" y="486"/>
                    <a:pt x="350" y="527"/>
                    <a:pt x="350" y="545"/>
                  </a:cubicBezTo>
                  <a:cubicBezTo>
                    <a:pt x="349" y="562"/>
                    <a:pt x="355" y="676"/>
                    <a:pt x="355" y="700"/>
                  </a:cubicBezTo>
                  <a:cubicBezTo>
                    <a:pt x="354" y="723"/>
                    <a:pt x="343" y="840"/>
                    <a:pt x="342" y="860"/>
                  </a:cubicBezTo>
                  <a:cubicBezTo>
                    <a:pt x="340" y="879"/>
                    <a:pt x="343" y="951"/>
                    <a:pt x="340" y="960"/>
                  </a:cubicBezTo>
                  <a:cubicBezTo>
                    <a:pt x="336" y="968"/>
                    <a:pt x="296" y="979"/>
                    <a:pt x="292" y="972"/>
                  </a:cubicBezTo>
                  <a:cubicBezTo>
                    <a:pt x="287" y="964"/>
                    <a:pt x="283" y="881"/>
                    <a:pt x="282" y="860"/>
                  </a:cubicBezTo>
                  <a:cubicBezTo>
                    <a:pt x="280" y="838"/>
                    <a:pt x="272" y="709"/>
                    <a:pt x="270" y="690"/>
                  </a:cubicBezTo>
                  <a:cubicBezTo>
                    <a:pt x="267" y="670"/>
                    <a:pt x="253" y="600"/>
                    <a:pt x="250" y="600"/>
                  </a:cubicBezTo>
                  <a:cubicBezTo>
                    <a:pt x="247" y="600"/>
                    <a:pt x="232" y="670"/>
                    <a:pt x="230" y="690"/>
                  </a:cubicBezTo>
                  <a:cubicBezTo>
                    <a:pt x="227" y="709"/>
                    <a:pt x="219" y="838"/>
                    <a:pt x="218" y="860"/>
                  </a:cubicBezTo>
                  <a:cubicBezTo>
                    <a:pt x="216" y="881"/>
                    <a:pt x="212" y="964"/>
                    <a:pt x="208" y="972"/>
                  </a:cubicBezTo>
                  <a:cubicBezTo>
                    <a:pt x="203" y="979"/>
                    <a:pt x="163" y="968"/>
                    <a:pt x="160" y="960"/>
                  </a:cubicBezTo>
                  <a:cubicBezTo>
                    <a:pt x="156" y="951"/>
                    <a:pt x="159" y="879"/>
                    <a:pt x="158" y="860"/>
                  </a:cubicBezTo>
                  <a:cubicBezTo>
                    <a:pt x="156" y="840"/>
                    <a:pt x="145" y="723"/>
                    <a:pt x="145" y="700"/>
                  </a:cubicBezTo>
                  <a:cubicBezTo>
                    <a:pt x="144" y="676"/>
                    <a:pt x="150" y="562"/>
                    <a:pt x="150" y="545"/>
                  </a:cubicBezTo>
                  <a:cubicBezTo>
                    <a:pt x="149" y="527"/>
                    <a:pt x="141" y="486"/>
                    <a:pt x="140" y="470"/>
                  </a:cubicBezTo>
                  <a:cubicBezTo>
                    <a:pt x="138" y="453"/>
                    <a:pt x="136" y="339"/>
                    <a:pt x="135" y="330"/>
                  </a:cubicBezTo>
                  <a:cubicBezTo>
                    <a:pt x="133" y="320"/>
                    <a:pt x="124" y="330"/>
                    <a:pt x="122" y="340"/>
                  </a:cubicBezTo>
                  <a:cubicBezTo>
                    <a:pt x="119" y="349"/>
                    <a:pt x="107" y="439"/>
                    <a:pt x="105" y="455"/>
                  </a:cubicBezTo>
                  <a:cubicBezTo>
                    <a:pt x="102" y="470"/>
                    <a:pt x="91" y="541"/>
                    <a:pt x="88" y="548"/>
                  </a:cubicBezTo>
                  <a:cubicBezTo>
                    <a:pt x="84" y="554"/>
                    <a:pt x="61" y="547"/>
                    <a:pt x="60" y="540"/>
                  </a:cubicBezTo>
                  <a:cubicBezTo>
                    <a:pt x="58" y="532"/>
                    <a:pt x="66" y="465"/>
                    <a:pt x="68" y="450"/>
                  </a:cubicBezTo>
                  <a:cubicBezTo>
                    <a:pt x="69" y="434"/>
                    <a:pt x="77" y="346"/>
                    <a:pt x="80" y="330"/>
                  </a:cubicBezTo>
                  <a:cubicBezTo>
                    <a:pt x="82" y="313"/>
                    <a:pt x="91" y="240"/>
                    <a:pt x="95" y="230"/>
                  </a:cubicBezTo>
                  <a:cubicBezTo>
                    <a:pt x="98" y="219"/>
                    <a:pt x="121" y="194"/>
                    <a:pt x="130" y="190"/>
                  </a:cubicBezTo>
                  <a:cubicBezTo>
                    <a:pt x="138" y="185"/>
                    <a:pt x="202" y="173"/>
                    <a:pt x="210" y="170"/>
                  </a:cubicBezTo>
                  <a:cubicBezTo>
                    <a:pt x="217" y="167"/>
                    <a:pt x="220" y="151"/>
                    <a:pt x="225" y="150"/>
                  </a:cubicBezTo>
                  <a:close/>
                </a:path>
              </a:pathLst>
            </a:custGeom>
            <a:solidFill>
              <a:srgbClr val="F8D5C2">
                <a:alpha val="70000"/>
              </a:srgbClr>
            </a:solidFill>
            <a:ln w="22225" cap="rnd">
              <a:solidFill>
                <a:srgbClr val="A0522D"/>
              </a:solidFill>
              <a:round/>
            </a:ln>
          </p:spPr>
        </p:sp>
        <p:sp>
          <p:nvSpPr>
            <p:cNvPr id="6" name="Forma 5"/>
            <p:cNvSpPr/>
            <p:nvPr/>
          </p:nvSpPr>
          <p:spPr>
            <a:xfrm>
              <a:off x="-5486400" y="-2743200"/>
              <a:ext cx="10058400" cy="20116800"/>
            </a:xfrm>
            <a:custGeom>
              <a:avLst/>
              <a:gdLst/>
              <a:ahLst/>
              <a:cxnLst/>
              <a:rect l="0" t="0" r="r" b="b"/>
              <a:pathLst>
                <a:path w="500" h="1000">
                  <a:moveTo>
                    <a:pt x="312" y="85"/>
                  </a:moveTo>
                  <a:cubicBezTo>
                    <a:pt x="312" y="123"/>
                    <a:pt x="284" y="155"/>
                    <a:pt x="250" y="155"/>
                  </a:cubicBezTo>
                  <a:cubicBezTo>
                    <a:pt x="215" y="155"/>
                    <a:pt x="188" y="123"/>
                    <a:pt x="188" y="85"/>
                  </a:cubicBezTo>
                  <a:cubicBezTo>
                    <a:pt x="188" y="46"/>
                    <a:pt x="215" y="15"/>
                    <a:pt x="250" y="15"/>
                  </a:cubicBezTo>
                  <a:cubicBezTo>
                    <a:pt x="284" y="15"/>
                    <a:pt x="312" y="46"/>
                    <a:pt x="312" y="85"/>
                  </a:cubicBezTo>
                  <a:close/>
                </a:path>
              </a:pathLst>
            </a:custGeom>
            <a:solidFill>
              <a:srgbClr val="F8D5C2">
                <a:alpha val="70000"/>
              </a:srgbClr>
            </a:solidFill>
            <a:ln w="22225" cap="rnd">
              <a:solidFill>
                <a:srgbClr val="A0522D"/>
              </a:solidFill>
              <a:round/>
            </a:ln>
          </p:spPr>
        </p:sp>
      </p:grpSp>
      <p:grpSp>
        <p:nvGrpSpPr>
          <p:cNvPr id="7" name="!!Hígado"/>
          <p:cNvGrpSpPr/>
          <p:nvPr/>
        </p:nvGrpSpPr>
        <p:grpSpPr>
          <a:xfrm>
            <a:off x="457200" y="1280160"/>
            <a:ext cx="6949440" cy="4911864"/>
            <a:chOff x="457200" y="1280160"/>
            <a:chExt cx="6949440" cy="4911864"/>
          </a:xfrm>
        </p:grpSpPr>
        <p:sp>
          <p:nvSpPr>
            <p:cNvPr id="8" name="Vesícula biliar"/>
            <p:cNvSpPr/>
            <p:nvPr/>
          </p:nvSpPr>
          <p:spPr>
            <a:xfrm>
              <a:off x="2333549" y="4640909"/>
              <a:ext cx="903427" cy="155111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9" name="Forma 8"/>
            <p:cNvSpPr/>
            <p:nvPr/>
          </p:nvSpPr>
          <p:spPr>
            <a:xfrm>
              <a:off x="457200" y="1280160"/>
              <a:ext cx="6949440" cy="430865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0" name="Forma 9"/>
            <p:cNvSpPr/>
            <p:nvPr/>
          </p:nvSpPr>
          <p:spPr>
            <a:xfrm>
              <a:off x="457200" y="1280160"/>
              <a:ext cx="6949440" cy="430865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1" name="Forma 10"/>
            <p:cNvSpPr/>
            <p:nvPr/>
          </p:nvSpPr>
          <p:spPr>
            <a:xfrm>
              <a:off x="457200" y="1280160"/>
              <a:ext cx="6949440" cy="430865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2" name="!!Páncreas"/>
          <p:cNvGrpSpPr/>
          <p:nvPr/>
        </p:nvGrpSpPr>
        <p:grpSpPr>
          <a:xfrm>
            <a:off x="4206240" y="5166360"/>
            <a:ext cx="2743200" cy="1152144"/>
            <a:chOff x="4206240" y="5166360"/>
            <a:chExt cx="2743200" cy="1152144"/>
          </a:xfrm>
        </p:grpSpPr>
        <p:sp>
          <p:nvSpPr>
            <p:cNvPr id="13" name="Forma 12"/>
            <p:cNvSpPr/>
            <p:nvPr/>
          </p:nvSpPr>
          <p:spPr>
            <a:xfrm>
              <a:off x="4206240" y="5166360"/>
              <a:ext cx="2743200" cy="115214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4" name="Forma 13"/>
            <p:cNvSpPr/>
            <p:nvPr/>
          </p:nvSpPr>
          <p:spPr>
            <a:xfrm>
              <a:off x="4206240" y="5166360"/>
              <a:ext cx="2743200" cy="115214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5" name="Islotes"/>
            <p:cNvSpPr/>
            <p:nvPr/>
          </p:nvSpPr>
          <p:spPr>
            <a:xfrm>
              <a:off x="4206240" y="5166360"/>
              <a:ext cx="2743200" cy="115214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16" name="Forma 15"/>
            <p:cNvSpPr/>
            <p:nvPr/>
          </p:nvSpPr>
          <p:spPr>
            <a:xfrm>
              <a:off x="4206240" y="5166360"/>
              <a:ext cx="2743200" cy="115214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17" name="!!Insulina portal 0"/>
          <p:cNvSpPr/>
          <p:nvPr/>
        </p:nvSpPr>
        <p:spPr>
          <a:xfrm>
            <a:off x="4754880" y="493776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18" name="!!Insulina portal 1"/>
          <p:cNvSpPr/>
          <p:nvPr/>
        </p:nvSpPr>
        <p:spPr>
          <a:xfrm>
            <a:off x="5394960" y="475488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19" name="!!Insulina portal 2"/>
          <p:cNvSpPr/>
          <p:nvPr/>
        </p:nvSpPr>
        <p:spPr>
          <a:xfrm>
            <a:off x="5943600" y="498348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grpSp>
        <p:nvGrpSpPr>
          <p:cNvPr id="20" name="!!Texto secuencia"/>
          <p:cNvGrpSpPr/>
          <p:nvPr/>
        </p:nvGrpSpPr>
        <p:grpSpPr>
          <a:xfrm>
            <a:off x="8001000" y="1051560"/>
            <a:ext cx="3794760" cy="3657600"/>
            <a:chOff x="8001000" y="1051560"/>
            <a:chExt cx="3794760" cy="3657600"/>
          </a:xfrm>
        </p:grpSpPr>
        <p:sp>
          <p:nvSpPr>
            <p:cNvPr id="21" name="Forma 20"/>
            <p:cNvSpPr/>
            <p:nvPr/>
          </p:nvSpPr>
          <p:spPr>
            <a:xfrm>
              <a:off x="8001000" y="1234440"/>
              <a:ext cx="379476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insulina portal alcanza concentraciones </a:t>
              </a:r>
              <a:r>
                <a:rPr lang="es-AR" sz="1750" b="1" dirty="0">
                  <a:solidFill>
                    <a:srgbClr val="1E1E1E"/>
                  </a:solidFill>
                  <a:latin typeface="Bahnschrift"/>
                  <a:ea typeface="Bahnschrift"/>
                  <a:cs typeface="Bahnschrift"/>
                  <a:sym typeface="Bahnschrift"/>
                </a:rPr>
                <a:t>mayores</a:t>
              </a:r>
              <a:r>
                <a:rPr lang="es-AR" sz="1750" dirty="0">
                  <a:solidFill>
                    <a:srgbClr val="1E1E1E"/>
                  </a:solidFill>
                  <a:latin typeface="Bahnschrift"/>
                  <a:ea typeface="Bahnschrift"/>
                  <a:cs typeface="Bahnschrift"/>
                  <a:sym typeface="Bahnschrift"/>
                </a:rPr>
                <a:t> que en sangre periférica.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Una fracción importante se </a:t>
              </a:r>
              <a:r>
                <a:rPr lang="es-AR" sz="1750" b="1" dirty="0">
                  <a:solidFill>
                    <a:srgbClr val="1E1E1E"/>
                  </a:solidFill>
                  <a:latin typeface="Bahnschrift"/>
                  <a:ea typeface="Bahnschrift"/>
                  <a:cs typeface="Bahnschrift"/>
                  <a:sym typeface="Bahnschrift"/>
                </a:rPr>
                <a:t>degrada en el hígado</a:t>
              </a:r>
              <a:r>
                <a:rPr lang="es-AR" sz="1750" dirty="0">
                  <a:solidFill>
                    <a:srgbClr val="1E1E1E"/>
                  </a:solidFill>
                  <a:latin typeface="Bahnschrift"/>
                  <a:ea typeface="Bahnschrift"/>
                  <a:cs typeface="Bahnschrift"/>
                  <a:sym typeface="Bahnschrift"/>
                </a:rPr>
                <a:t> en el primer paso.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Efectos hepáticos: ↓ producción de glucosa, ↑ glucógeno, ↑ lipogénesis.</a:t>
              </a:r>
              <a:endParaRPr lang="es-AR" sz="1750" dirty="0">
                <a:latin typeface="Bahnschrift"/>
              </a:endParaRPr>
            </a:p>
          </p:txBody>
        </p:sp>
        <p:sp>
          <p:nvSpPr>
            <p:cNvPr id="22" name="Forma 21"/>
            <p:cNvSpPr/>
            <p:nvPr/>
          </p:nvSpPr>
          <p:spPr>
            <a:xfrm>
              <a:off x="8110728" y="1051560"/>
              <a:ext cx="90448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HÍGADO</a:t>
              </a:r>
              <a:endParaRPr lang="es-AR" sz="1600" dirty="0">
                <a:latin typeface="Bahnschrift SemiBold Condensed"/>
              </a:endParaRPr>
            </a:p>
          </p:txBody>
        </p:sp>
      </p:grpSp>
      <p:sp>
        <p:nvSpPr>
          <p:cNvPr id="2" name="Etiqueta sección"/>
          <p:cNvSpPr/>
          <p:nvPr/>
        </p:nvSpPr>
        <p:spPr>
          <a:xfrm>
            <a:off x="9932210" y="201168"/>
            <a:ext cx="198516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2/6</a:t>
            </a:r>
            <a:endParaRPr lang="es-AR" sz="1300" dirty="0">
              <a:latin typeface="Bahnschrift SemiBold Condensed"/>
            </a:endParaRPr>
          </a:p>
        </p:txBody>
      </p:sp>
      <p:sp>
        <p:nvSpPr>
          <p:cNvPr id="3" name="Título"/>
          <p:cNvSpPr/>
          <p:nvPr/>
        </p:nvSpPr>
        <p:spPr>
          <a:xfrm>
            <a:off x="274320" y="146304"/>
            <a:ext cx="728447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SEÑAL DE INSULINA: EL HÍGADO COMO PRIMER BLANCO</a:t>
            </a:r>
            <a:endParaRPr lang="es-AR" sz="2600" dirty="0">
              <a:latin typeface="Bahnschrift SemiBold Condensed"/>
            </a:endParaRPr>
          </a:p>
        </p:txBody>
      </p:sp>
      <p:sp>
        <p:nvSpPr>
          <p:cNvPr id="2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37</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0"/>
                                        </p:tgtEl>
                                        <p:attrNameLst>
                                          <p:attrName>style.visibility</p:attrName>
                                        </p:attrNameLst>
                                      </p:cBhvr>
                                      <p:to>
                                        <p:strVal val="visible"/>
                                      </p:to>
                                    </p:set>
                                    <p:animEffect transition="in" filter="fade">
                                      <p:cBhvr>
                                        <p:cTn id="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Hígado"/>
          <p:cNvGrpSpPr/>
          <p:nvPr/>
        </p:nvGrpSpPr>
        <p:grpSpPr>
          <a:xfrm>
            <a:off x="320040" y="5120640"/>
            <a:ext cx="2011680" cy="1421855"/>
            <a:chOff x="320040" y="5120640"/>
            <a:chExt cx="2011680" cy="1421855"/>
          </a:xfrm>
        </p:grpSpPr>
        <p:sp>
          <p:nvSpPr>
            <p:cNvPr id="5" name="Vesícula biliar"/>
            <p:cNvSpPr/>
            <p:nvPr/>
          </p:nvSpPr>
          <p:spPr>
            <a:xfrm>
              <a:off x="863194" y="6093488"/>
              <a:ext cx="261518" cy="449007"/>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20040" y="5120640"/>
              <a:ext cx="2011680" cy="124724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20040" y="5120640"/>
              <a:ext cx="2011680" cy="124724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20040" y="5120640"/>
              <a:ext cx="2011680" cy="124724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9" name="!!Hepatocito"/>
          <p:cNvGrpSpPr/>
          <p:nvPr/>
        </p:nvGrpSpPr>
        <p:grpSpPr>
          <a:xfrm>
            <a:off x="2103120" y="960120"/>
            <a:ext cx="5669280" cy="4648810"/>
            <a:chOff x="2103120" y="960120"/>
            <a:chExt cx="5669280" cy="4648810"/>
          </a:xfrm>
        </p:grpSpPr>
        <p:sp>
          <p:nvSpPr>
            <p:cNvPr id="10" name="Forma 9"/>
            <p:cNvSpPr/>
            <p:nvPr/>
          </p:nvSpPr>
          <p:spPr>
            <a:xfrm>
              <a:off x="2103120" y="960120"/>
              <a:ext cx="5669280" cy="4648810"/>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nvGrpSpPr>
            <p:cNvPr id="11" name="Núcleo hepatocito"/>
            <p:cNvGrpSpPr/>
            <p:nvPr/>
          </p:nvGrpSpPr>
          <p:grpSpPr>
            <a:xfrm>
              <a:off x="4370832" y="2633691"/>
              <a:ext cx="1247242" cy="1122517"/>
              <a:chOff x="4370832" y="2633691"/>
              <a:chExt cx="1247242" cy="1122517"/>
            </a:xfrm>
          </p:grpSpPr>
          <p:sp>
            <p:nvSpPr>
              <p:cNvPr id="12" name="Forma 11"/>
              <p:cNvSpPr/>
              <p:nvPr/>
            </p:nvSpPr>
            <p:spPr>
              <a:xfrm>
                <a:off x="4370832" y="2633691"/>
                <a:ext cx="1247242" cy="1122517"/>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3" name="Forma 12"/>
              <p:cNvSpPr/>
              <p:nvPr/>
            </p:nvSpPr>
            <p:spPr>
              <a:xfrm>
                <a:off x="5019398" y="3007864"/>
                <a:ext cx="274393" cy="249448"/>
              </a:xfrm>
              <a:prstGeom prst="ellipse">
                <a:avLst/>
              </a:prstGeom>
              <a:solidFill>
                <a:srgbClr val="513B6B"/>
              </a:solidFill>
              <a:ln>
                <a:noFill/>
              </a:ln>
            </p:spPr>
          </p:sp>
        </p:grpSp>
        <p:grpSp>
          <p:nvGrpSpPr>
            <p:cNvPr id="14" name="Retículo endoplasmático"/>
            <p:cNvGrpSpPr/>
            <p:nvPr/>
          </p:nvGrpSpPr>
          <p:grpSpPr>
            <a:xfrm>
              <a:off x="2783434" y="1630168"/>
              <a:ext cx="1360627" cy="988647"/>
              <a:chOff x="2783434" y="1630168"/>
              <a:chExt cx="1360627" cy="988647"/>
            </a:xfrm>
          </p:grpSpPr>
          <p:sp>
            <p:nvSpPr>
              <p:cNvPr id="15" name="Forma 14"/>
              <p:cNvSpPr/>
              <p:nvPr/>
            </p:nvSpPr>
            <p:spPr>
              <a:xfrm>
                <a:off x="2783434" y="1657441"/>
                <a:ext cx="1360627" cy="25568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6" name="Forma 15"/>
              <p:cNvSpPr/>
              <p:nvPr/>
            </p:nvSpPr>
            <p:spPr>
              <a:xfrm>
                <a:off x="2783434" y="1630168"/>
                <a:ext cx="1360627" cy="3068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7" name="Forma 16"/>
              <p:cNvSpPr/>
              <p:nvPr/>
            </p:nvSpPr>
            <p:spPr>
              <a:xfrm>
                <a:off x="2783434" y="1998354"/>
                <a:ext cx="1360627" cy="25568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8" name="Forma 17"/>
              <p:cNvSpPr/>
              <p:nvPr/>
            </p:nvSpPr>
            <p:spPr>
              <a:xfrm>
                <a:off x="2783434" y="1971081"/>
                <a:ext cx="1360627" cy="3068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9" name="Forma 18"/>
              <p:cNvSpPr/>
              <p:nvPr/>
            </p:nvSpPr>
            <p:spPr>
              <a:xfrm>
                <a:off x="2783434" y="2339267"/>
                <a:ext cx="1360627" cy="255685"/>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20" name="Forma 19"/>
              <p:cNvSpPr/>
              <p:nvPr/>
            </p:nvSpPr>
            <p:spPr>
              <a:xfrm>
                <a:off x="2783434" y="2311994"/>
                <a:ext cx="1360627" cy="3068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nvGrpSpPr>
            <p:cNvPr id="21" name="Mitocondria"/>
            <p:cNvGrpSpPr/>
            <p:nvPr/>
          </p:nvGrpSpPr>
          <p:grpSpPr>
            <a:xfrm>
              <a:off x="5844845" y="1889882"/>
              <a:ext cx="907085" cy="453542"/>
              <a:chOff x="5844845" y="1889882"/>
              <a:chExt cx="907085" cy="453542"/>
            </a:xfrm>
          </p:grpSpPr>
          <p:sp>
            <p:nvSpPr>
              <p:cNvPr id="22" name="Forma 21"/>
              <p:cNvSpPr/>
              <p:nvPr/>
            </p:nvSpPr>
            <p:spPr>
              <a:xfrm>
                <a:off x="5844845" y="1889882"/>
                <a:ext cx="907085" cy="45354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3" name="Forma 22"/>
              <p:cNvSpPr/>
              <p:nvPr/>
            </p:nvSpPr>
            <p:spPr>
              <a:xfrm>
                <a:off x="5908341" y="1953378"/>
                <a:ext cx="780093" cy="326551"/>
              </a:xfrm>
              <a:prstGeom prst="ellipse">
                <a:avLst/>
              </a:prstGeom>
              <a:solidFill>
                <a:srgbClr val="F8D8B4"/>
              </a:solidFill>
              <a:ln w="9525" cap="rnd">
                <a:solidFill>
                  <a:srgbClr val="B2732B"/>
                </a:solidFill>
                <a:round/>
              </a:ln>
            </p:spPr>
          </p:sp>
          <p:sp>
            <p:nvSpPr>
              <p:cNvPr id="24" name="Forma 23"/>
              <p:cNvSpPr/>
              <p:nvPr/>
            </p:nvSpPr>
            <p:spPr>
              <a:xfrm>
                <a:off x="5908341" y="1953378"/>
                <a:ext cx="780093" cy="32655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5" name="Mitocondria_2"/>
            <p:cNvGrpSpPr/>
            <p:nvPr/>
          </p:nvGrpSpPr>
          <p:grpSpPr>
            <a:xfrm>
              <a:off x="6071616" y="3842382"/>
              <a:ext cx="907085" cy="453542"/>
              <a:chOff x="6071616" y="3842382"/>
              <a:chExt cx="907085" cy="453542"/>
            </a:xfrm>
          </p:grpSpPr>
          <p:sp>
            <p:nvSpPr>
              <p:cNvPr id="26" name="Forma 25"/>
              <p:cNvSpPr/>
              <p:nvPr/>
            </p:nvSpPr>
            <p:spPr>
              <a:xfrm rot="1500000">
                <a:off x="6071616" y="3842382"/>
                <a:ext cx="907085" cy="45354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7" name="Forma 26"/>
              <p:cNvSpPr/>
              <p:nvPr/>
            </p:nvSpPr>
            <p:spPr>
              <a:xfrm rot="1500000">
                <a:off x="6135112" y="3905878"/>
                <a:ext cx="780093" cy="326551"/>
              </a:xfrm>
              <a:prstGeom prst="ellipse">
                <a:avLst/>
              </a:prstGeom>
              <a:solidFill>
                <a:srgbClr val="F8D8B4"/>
              </a:solidFill>
              <a:ln w="9525" cap="rnd">
                <a:solidFill>
                  <a:srgbClr val="B2732B"/>
                </a:solidFill>
                <a:round/>
              </a:ln>
            </p:spPr>
          </p:sp>
          <p:sp>
            <p:nvSpPr>
              <p:cNvPr id="28" name="Forma 27"/>
              <p:cNvSpPr/>
              <p:nvPr/>
            </p:nvSpPr>
            <p:spPr>
              <a:xfrm rot="1500000">
                <a:off x="6135112" y="3905878"/>
                <a:ext cx="780093" cy="32655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9" name="Mitocondria_3"/>
            <p:cNvGrpSpPr/>
            <p:nvPr/>
          </p:nvGrpSpPr>
          <p:grpSpPr>
            <a:xfrm>
              <a:off x="3236976" y="3842382"/>
              <a:ext cx="907085" cy="453542"/>
              <a:chOff x="3236976" y="3842382"/>
              <a:chExt cx="907085" cy="453542"/>
            </a:xfrm>
          </p:grpSpPr>
          <p:sp>
            <p:nvSpPr>
              <p:cNvPr id="30" name="Forma 29"/>
              <p:cNvSpPr/>
              <p:nvPr/>
            </p:nvSpPr>
            <p:spPr>
              <a:xfrm rot="-1200000">
                <a:off x="3236976" y="3842382"/>
                <a:ext cx="907085" cy="45354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1" name="Forma 30"/>
              <p:cNvSpPr/>
              <p:nvPr/>
            </p:nvSpPr>
            <p:spPr>
              <a:xfrm rot="-1200000">
                <a:off x="3300472" y="3905878"/>
                <a:ext cx="780093" cy="326551"/>
              </a:xfrm>
              <a:prstGeom prst="ellipse">
                <a:avLst/>
              </a:prstGeom>
              <a:solidFill>
                <a:srgbClr val="F8D8B4"/>
              </a:solidFill>
              <a:ln w="9525" cap="rnd">
                <a:solidFill>
                  <a:srgbClr val="B2732B"/>
                </a:solidFill>
                <a:round/>
              </a:ln>
            </p:spPr>
          </p:sp>
          <p:sp>
            <p:nvSpPr>
              <p:cNvPr id="32" name="Forma 31"/>
              <p:cNvSpPr/>
              <p:nvPr/>
            </p:nvSpPr>
            <p:spPr>
              <a:xfrm rot="-1200000">
                <a:off x="3300472" y="3905878"/>
                <a:ext cx="780093" cy="32655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33" name="Mitocondria_4"/>
            <p:cNvGrpSpPr/>
            <p:nvPr/>
          </p:nvGrpSpPr>
          <p:grpSpPr>
            <a:xfrm>
              <a:off x="4654296" y="4446727"/>
              <a:ext cx="907085" cy="453542"/>
              <a:chOff x="4654296" y="4446727"/>
              <a:chExt cx="907085" cy="453542"/>
            </a:xfrm>
          </p:grpSpPr>
          <p:sp>
            <p:nvSpPr>
              <p:cNvPr id="34" name="Forma 33"/>
              <p:cNvSpPr/>
              <p:nvPr/>
            </p:nvSpPr>
            <p:spPr>
              <a:xfrm rot="600000">
                <a:off x="4654296" y="4446727"/>
                <a:ext cx="907085" cy="45354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5" name="Forma 34"/>
              <p:cNvSpPr/>
              <p:nvPr/>
            </p:nvSpPr>
            <p:spPr>
              <a:xfrm rot="600000">
                <a:off x="4717792" y="4510223"/>
                <a:ext cx="780093" cy="326551"/>
              </a:xfrm>
              <a:prstGeom prst="ellipse">
                <a:avLst/>
              </a:prstGeom>
              <a:solidFill>
                <a:srgbClr val="F8D8B4"/>
              </a:solidFill>
              <a:ln w="9525" cap="rnd">
                <a:solidFill>
                  <a:srgbClr val="B2732B"/>
                </a:solidFill>
                <a:round/>
              </a:ln>
            </p:spPr>
          </p:sp>
          <p:sp>
            <p:nvSpPr>
              <p:cNvPr id="36" name="Forma 35"/>
              <p:cNvSpPr/>
              <p:nvPr/>
            </p:nvSpPr>
            <p:spPr>
              <a:xfrm rot="600000">
                <a:off x="4717792" y="4510223"/>
                <a:ext cx="780093" cy="32655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37" name="Glucógeno"/>
            <p:cNvSpPr/>
            <p:nvPr/>
          </p:nvSpPr>
          <p:spPr>
            <a:xfrm>
              <a:off x="5618074" y="2819644"/>
              <a:ext cx="1247242" cy="836786"/>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path>
              </a:pathLst>
            </a:custGeom>
            <a:solidFill>
              <a:srgbClr val="B03A6E"/>
            </a:solidFill>
            <a:ln>
              <a:noFill/>
            </a:ln>
          </p:spPr>
        </p:sp>
        <p:sp>
          <p:nvSpPr>
            <p:cNvPr id="38" name="Gotas lipídicas"/>
            <p:cNvSpPr/>
            <p:nvPr/>
          </p:nvSpPr>
          <p:spPr>
            <a:xfrm>
              <a:off x="2953512" y="2726668"/>
              <a:ext cx="1133856" cy="929762"/>
            </a:xfrm>
            <a:custGeom>
              <a:avLst/>
              <a:gdLst/>
              <a:ahLst/>
              <a:cxnLst/>
              <a:rect l="0" t="0" r="r" b="b"/>
              <a:pathLst>
                <a:path w="1000" h="1000">
                  <a:moveTo>
                    <a:pt x="460" y="300"/>
                  </a:moveTo>
                  <a:cubicBezTo>
                    <a:pt x="460" y="388"/>
                    <a:pt x="388" y="460"/>
                    <a:pt x="300" y="460"/>
                  </a:cubicBezTo>
                  <a:cubicBezTo>
                    <a:pt x="211" y="460"/>
                    <a:pt x="140" y="388"/>
                    <a:pt x="140" y="300"/>
                  </a:cubicBezTo>
                  <a:cubicBezTo>
                    <a:pt x="140" y="211"/>
                    <a:pt x="211" y="140"/>
                    <a:pt x="300" y="140"/>
                  </a:cubicBezTo>
                  <a:cubicBezTo>
                    <a:pt x="388" y="140"/>
                    <a:pt x="460" y="211"/>
                    <a:pt x="460" y="300"/>
                  </a:cubicBezTo>
                  <a:close/>
                  <a:moveTo>
                    <a:pt x="820" y="650"/>
                  </a:moveTo>
                  <a:cubicBezTo>
                    <a:pt x="820" y="716"/>
                    <a:pt x="766" y="770"/>
                    <a:pt x="700" y="770"/>
                  </a:cubicBezTo>
                  <a:cubicBezTo>
                    <a:pt x="633" y="770"/>
                    <a:pt x="580" y="716"/>
                    <a:pt x="580" y="650"/>
                  </a:cubicBezTo>
                  <a:cubicBezTo>
                    <a:pt x="580" y="583"/>
                    <a:pt x="633" y="530"/>
                    <a:pt x="700" y="530"/>
                  </a:cubicBezTo>
                  <a:cubicBezTo>
                    <a:pt x="766" y="530"/>
                    <a:pt x="820" y="583"/>
                    <a:pt x="820" y="65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sp>
        <p:nvSpPr>
          <p:cNvPr id="39" name="!!Insulina portal 0"/>
          <p:cNvSpPr/>
          <p:nvPr/>
        </p:nvSpPr>
        <p:spPr>
          <a:xfrm>
            <a:off x="1828800" y="128016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0" name="!!Insulina portal 1"/>
          <p:cNvSpPr/>
          <p:nvPr/>
        </p:nvSpPr>
        <p:spPr>
          <a:xfrm>
            <a:off x="2011680" y="192024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1" name="!!Insulina portal 2"/>
          <p:cNvSpPr/>
          <p:nvPr/>
        </p:nvSpPr>
        <p:spPr>
          <a:xfrm>
            <a:off x="1737360" y="256032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2" name="Resalte membrana"/>
          <p:cNvSpPr/>
          <p:nvPr/>
        </p:nvSpPr>
        <p:spPr>
          <a:xfrm>
            <a:off x="1965960" y="1051560"/>
            <a:ext cx="548640" cy="3931920"/>
          </a:xfrm>
          <a:prstGeom prst="ellipse">
            <a:avLst/>
          </a:prstGeom>
          <a:noFill/>
          <a:ln w="38100" cap="rnd">
            <a:solidFill>
              <a:srgbClr val="C00000"/>
            </a:solidFill>
            <a:prstDash val="dash"/>
            <a:round/>
          </a:ln>
        </p:spPr>
      </p:sp>
      <p:grpSp>
        <p:nvGrpSpPr>
          <p:cNvPr id="43" name="!!Texto secuencia"/>
          <p:cNvGrpSpPr/>
          <p:nvPr/>
        </p:nvGrpSpPr>
        <p:grpSpPr>
          <a:xfrm>
            <a:off x="8001000" y="1051560"/>
            <a:ext cx="3794760" cy="3657600"/>
            <a:chOff x="8001000" y="1051560"/>
            <a:chExt cx="3794760" cy="3657600"/>
          </a:xfrm>
        </p:grpSpPr>
        <p:sp>
          <p:nvSpPr>
            <p:cNvPr id="44" name="Forma 43"/>
            <p:cNvSpPr/>
            <p:nvPr/>
          </p:nvSpPr>
          <p:spPr>
            <a:xfrm>
              <a:off x="8001000" y="1234440"/>
              <a:ext cx="379476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señal comienza en la </a:t>
              </a:r>
              <a:r>
                <a:rPr lang="es-AR" sz="1750" b="1" dirty="0">
                  <a:solidFill>
                    <a:srgbClr val="1E1E1E"/>
                  </a:solidFill>
                  <a:latin typeface="Bahnschrift"/>
                  <a:ea typeface="Bahnschrift"/>
                  <a:cs typeface="Bahnschrift"/>
                  <a:sym typeface="Bahnschrift"/>
                </a:rPr>
                <a:t>membrana plasmática</a:t>
              </a:r>
              <a:r>
                <a:rPr lang="es-AR" sz="1750" dirty="0">
                  <a:solidFill>
                    <a:srgbClr val="1E1E1E"/>
                  </a:solidFill>
                  <a:latin typeface="Bahnschrift"/>
                  <a:ea typeface="Bahnschrift"/>
                  <a:cs typeface="Bahnschrift"/>
                  <a:sym typeface="Bahnschrift"/>
                </a:rPr>
                <a:t> sinusoidal del hepatocito.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Allí se encuentra el </a:t>
              </a:r>
              <a:r>
                <a:rPr lang="es-AR" sz="1750" b="1" dirty="0">
                  <a:solidFill>
                    <a:srgbClr val="1E1E1E"/>
                  </a:solidFill>
                  <a:latin typeface="Bahnschrift"/>
                  <a:ea typeface="Bahnschrift"/>
                  <a:cs typeface="Bahnschrift"/>
                  <a:sym typeface="Bahnschrift"/>
                </a:rPr>
                <a:t>receptor de insulina</a:t>
              </a:r>
              <a:r>
                <a:rPr lang="es-AR" sz="1750" dirty="0">
                  <a:solidFill>
                    <a:srgbClr val="1E1E1E"/>
                  </a:solidFill>
                  <a:latin typeface="Bahnschrift"/>
                  <a:ea typeface="Bahnschrift"/>
                  <a:cs typeface="Bahnschrift"/>
                  <a:sym typeface="Bahnschrift"/>
                </a:rPr>
                <a:t>, una tirosina cinasa.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respuesta intracelular combina </a:t>
              </a:r>
              <a:r>
                <a:rPr lang="es-AR" sz="1750" b="1" dirty="0">
                  <a:solidFill>
                    <a:srgbClr val="1E1E1E"/>
                  </a:solidFill>
                  <a:latin typeface="Bahnschrift"/>
                  <a:ea typeface="Bahnschrift"/>
                  <a:cs typeface="Bahnschrift"/>
                  <a:sym typeface="Bahnschrift"/>
                </a:rPr>
                <a:t>fosforilación</a:t>
              </a:r>
              <a:r>
                <a:rPr lang="es-AR" sz="1750" dirty="0">
                  <a:solidFill>
                    <a:srgbClr val="1E1E1E"/>
                  </a:solidFill>
                  <a:latin typeface="Bahnschrift"/>
                  <a:ea typeface="Bahnschrift"/>
                  <a:cs typeface="Bahnschrift"/>
                  <a:sym typeface="Bahnschrift"/>
                </a:rPr>
                <a:t> (minutos) y </a:t>
              </a:r>
              <a:r>
                <a:rPr lang="es-AR" sz="1750" b="1" dirty="0">
                  <a:solidFill>
                    <a:srgbClr val="1E1E1E"/>
                  </a:solidFill>
                  <a:latin typeface="Bahnschrift"/>
                  <a:ea typeface="Bahnschrift"/>
                  <a:cs typeface="Bahnschrift"/>
                  <a:sym typeface="Bahnschrift"/>
                </a:rPr>
                <a:t>transcripción</a:t>
              </a:r>
              <a:r>
                <a:rPr lang="es-AR" sz="1750" dirty="0">
                  <a:solidFill>
                    <a:srgbClr val="1E1E1E"/>
                  </a:solidFill>
                  <a:latin typeface="Bahnschrift"/>
                  <a:ea typeface="Bahnschrift"/>
                  <a:cs typeface="Bahnschrift"/>
                  <a:sym typeface="Bahnschrift"/>
                </a:rPr>
                <a:t> (horas).</a:t>
              </a:r>
              <a:endParaRPr lang="es-AR" sz="1750" dirty="0">
                <a:latin typeface="Bahnschrift"/>
              </a:endParaRPr>
            </a:p>
          </p:txBody>
        </p:sp>
        <p:sp>
          <p:nvSpPr>
            <p:cNvPr id="45" name="Forma 44"/>
            <p:cNvSpPr/>
            <p:nvPr/>
          </p:nvSpPr>
          <p:spPr>
            <a:xfrm>
              <a:off x="8110728" y="1051560"/>
              <a:ext cx="128844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HEPATOCITO</a:t>
              </a:r>
              <a:endParaRPr lang="es-AR" sz="1600" dirty="0">
                <a:latin typeface="Bahnschrift SemiBold Condensed"/>
              </a:endParaRPr>
            </a:p>
          </p:txBody>
        </p:sp>
      </p:grpSp>
      <p:sp>
        <p:nvSpPr>
          <p:cNvPr id="2" name="Etiqueta sección"/>
          <p:cNvSpPr/>
          <p:nvPr/>
        </p:nvSpPr>
        <p:spPr>
          <a:xfrm>
            <a:off x="9933080" y="201168"/>
            <a:ext cx="198429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3/6</a:t>
            </a:r>
            <a:endParaRPr lang="es-AR" sz="1300" dirty="0">
              <a:latin typeface="Bahnschrift SemiBold Condensed"/>
            </a:endParaRPr>
          </a:p>
        </p:txBody>
      </p:sp>
      <p:sp>
        <p:nvSpPr>
          <p:cNvPr id="3" name="Título"/>
          <p:cNvSpPr/>
          <p:nvPr/>
        </p:nvSpPr>
        <p:spPr>
          <a:xfrm>
            <a:off x="274320" y="146304"/>
            <a:ext cx="502638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SEÑAL DE INSULINA: EL HEPATOCITO</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38</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0"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2"/>
                                        </p:tgtEl>
                                        <p:attrNameLst>
                                          <p:attrName>style.visibility</p:attrName>
                                        </p:attrNameLst>
                                      </p:cBhvr>
                                      <p:to>
                                        <p:strVal val="visible"/>
                                      </p:to>
                                    </p:set>
                                    <p:animEffect transition="in" filter="fade">
                                      <p:cBhvr>
                                        <p:cTn id="5" dur="500"/>
                                        <p:tgtEl>
                                          <p:spTgt spid="42"/>
                                        </p:tgtEl>
                                      </p:cBhvr>
                                    </p:animEffect>
                                  </p:childTnLst>
                                </p:cTn>
                              </p:par>
                            </p:childTnLst>
                          </p:cTn>
                        </p:par>
                        <p:par>
                          <p:cTn id="9" fill="hold">
                            <p:stCondLst>
                              <p:cond delay="500"/>
                            </p:stCondLst>
                            <p:childTnLst>
                              <p:par>
                                <p:cTn id="7" presetID="6" presetClass="emph" presetSubtype="0" fill="hold" grpId="0" nodeType="afterEffect">
                                  <p:stCondLst>
                                    <p:cond delay="0"/>
                                  </p:stCondLst>
                                  <p:childTnLst>
                                    <p:animScale>
                                      <p:cBhvr>
                                        <p:cTn id="8" dur="300" autoRev="1" fill="hold"/>
                                        <p:tgtEl>
                                          <p:spTgt spid="42"/>
                                        </p:tgtEl>
                                      </p:cBhvr>
                                      <p:by x="112000" y="112000"/>
                                    </p:animScale>
                                  </p:childTnLst>
                                </p:cTn>
                              </p:par>
                            </p:childTnLst>
                          </p:cTn>
                        </p:par>
                      </p:childTnLst>
                    </p:cTn>
                  </p:par>
                  <p:par>
                    <p:cTn id="15" fill="hold">
                      <p:stCondLst>
                        <p:cond delay="indefinite"/>
                      </p:stCondLst>
                      <p:childTnLst>
                        <p:par>
                          <p:cTn id="14"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fade">
                                      <p:cBhvr>
                                        <p:cTn id="1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3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Hepatocito"/>
          <p:cNvGrpSpPr/>
          <p:nvPr/>
        </p:nvGrpSpPr>
        <p:grpSpPr>
          <a:xfrm>
            <a:off x="-914400" y="2514600"/>
            <a:ext cx="20116800" cy="16495776"/>
            <a:chOff x="-914400" y="2514600"/>
            <a:chExt cx="20116800" cy="16495776"/>
          </a:xfrm>
        </p:grpSpPr>
        <p:sp>
          <p:nvSpPr>
            <p:cNvPr id="5" name="Forma 4"/>
            <p:cNvSpPr/>
            <p:nvPr/>
          </p:nvSpPr>
          <p:spPr>
            <a:xfrm>
              <a:off x="-914400" y="2514600"/>
              <a:ext cx="20116800" cy="16495776"/>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nvGrpSpPr>
            <p:cNvPr id="6" name="Núcleo hepatocito"/>
            <p:cNvGrpSpPr/>
            <p:nvPr/>
          </p:nvGrpSpPr>
          <p:grpSpPr>
            <a:xfrm>
              <a:off x="7132320" y="8453079"/>
              <a:ext cx="4425696" cy="3983126"/>
              <a:chOff x="7132320" y="8453079"/>
              <a:chExt cx="4425696" cy="3983126"/>
            </a:xfrm>
          </p:grpSpPr>
          <p:sp>
            <p:nvSpPr>
              <p:cNvPr id="7" name="Forma 6"/>
              <p:cNvSpPr/>
              <p:nvPr/>
            </p:nvSpPr>
            <p:spPr>
              <a:xfrm>
                <a:off x="7132320" y="8453079"/>
                <a:ext cx="4425696" cy="3983126"/>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8" name="Forma 7"/>
              <p:cNvSpPr/>
              <p:nvPr/>
            </p:nvSpPr>
            <p:spPr>
              <a:xfrm>
                <a:off x="9433682" y="9780788"/>
                <a:ext cx="973653" cy="885139"/>
              </a:xfrm>
              <a:prstGeom prst="ellipse">
                <a:avLst/>
              </a:prstGeom>
              <a:solidFill>
                <a:srgbClr val="513B6B"/>
              </a:solidFill>
              <a:ln>
                <a:noFill/>
              </a:ln>
            </p:spPr>
          </p:sp>
        </p:grpSp>
        <p:grpSp>
          <p:nvGrpSpPr>
            <p:cNvPr id="9" name="Retículo endoplasmático"/>
            <p:cNvGrpSpPr/>
            <p:nvPr/>
          </p:nvGrpSpPr>
          <p:grpSpPr>
            <a:xfrm>
              <a:off x="1499616" y="4892191"/>
              <a:ext cx="4828032" cy="3508102"/>
              <a:chOff x="1499616" y="4892191"/>
              <a:chExt cx="4828032" cy="3508102"/>
            </a:xfrm>
          </p:grpSpPr>
          <p:sp>
            <p:nvSpPr>
              <p:cNvPr id="10" name="Forma 9"/>
              <p:cNvSpPr/>
              <p:nvPr/>
            </p:nvSpPr>
            <p:spPr>
              <a:xfrm>
                <a:off x="1499616" y="4988966"/>
                <a:ext cx="4828032" cy="907268"/>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1" name="Forma 10"/>
              <p:cNvSpPr/>
              <p:nvPr/>
            </p:nvSpPr>
            <p:spPr>
              <a:xfrm>
                <a:off x="1499616" y="4892191"/>
                <a:ext cx="4828032" cy="10887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2" name="Forma 11"/>
              <p:cNvSpPr/>
              <p:nvPr/>
            </p:nvSpPr>
            <p:spPr>
              <a:xfrm>
                <a:off x="1499616" y="6198657"/>
                <a:ext cx="4828032" cy="907268"/>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3" name="Forma 12"/>
              <p:cNvSpPr/>
              <p:nvPr/>
            </p:nvSpPr>
            <p:spPr>
              <a:xfrm>
                <a:off x="1499616" y="6101881"/>
                <a:ext cx="4828032" cy="10887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14" name="Forma 13"/>
              <p:cNvSpPr/>
              <p:nvPr/>
            </p:nvSpPr>
            <p:spPr>
              <a:xfrm>
                <a:off x="1499616" y="7408347"/>
                <a:ext cx="4828032" cy="907268"/>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15" name="Forma 14"/>
              <p:cNvSpPr/>
              <p:nvPr/>
            </p:nvSpPr>
            <p:spPr>
              <a:xfrm>
                <a:off x="1499616" y="7311572"/>
                <a:ext cx="4828032" cy="1088721"/>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grpSp>
          <p:nvGrpSpPr>
            <p:cNvPr id="16" name="Mitocondria"/>
            <p:cNvGrpSpPr/>
            <p:nvPr/>
          </p:nvGrpSpPr>
          <p:grpSpPr>
            <a:xfrm>
              <a:off x="12362688" y="5813755"/>
              <a:ext cx="3218688" cy="1609344"/>
              <a:chOff x="12362688" y="5813755"/>
              <a:chExt cx="3218688" cy="1609344"/>
            </a:xfrm>
          </p:grpSpPr>
          <p:sp>
            <p:nvSpPr>
              <p:cNvPr id="17" name="Forma 16"/>
              <p:cNvSpPr/>
              <p:nvPr/>
            </p:nvSpPr>
            <p:spPr>
              <a:xfrm>
                <a:off x="12362688" y="5813755"/>
                <a:ext cx="3218688" cy="160934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a:off x="12587996" y="6039063"/>
                <a:ext cx="2768072" cy="1158728"/>
              </a:xfrm>
              <a:prstGeom prst="ellipse">
                <a:avLst/>
              </a:prstGeom>
              <a:solidFill>
                <a:srgbClr val="F8D8B4"/>
              </a:solidFill>
              <a:ln w="9525" cap="rnd">
                <a:solidFill>
                  <a:srgbClr val="B2732B"/>
                </a:solidFill>
                <a:round/>
              </a:ln>
            </p:spPr>
          </p:sp>
          <p:sp>
            <p:nvSpPr>
              <p:cNvPr id="19" name="Forma 18"/>
              <p:cNvSpPr/>
              <p:nvPr/>
            </p:nvSpPr>
            <p:spPr>
              <a:xfrm>
                <a:off x="12587996" y="6039063"/>
                <a:ext cx="2768072" cy="11587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0" name="Mitocondria_2"/>
            <p:cNvGrpSpPr/>
            <p:nvPr/>
          </p:nvGrpSpPr>
          <p:grpSpPr>
            <a:xfrm>
              <a:off x="13167360" y="12741981"/>
              <a:ext cx="3218688" cy="1609344"/>
              <a:chOff x="13167360" y="12741981"/>
              <a:chExt cx="3218688" cy="1609344"/>
            </a:xfrm>
          </p:grpSpPr>
          <p:sp>
            <p:nvSpPr>
              <p:cNvPr id="21" name="Forma 20"/>
              <p:cNvSpPr/>
              <p:nvPr/>
            </p:nvSpPr>
            <p:spPr>
              <a:xfrm rot="1500000">
                <a:off x="13167360" y="12741981"/>
                <a:ext cx="3218688" cy="160934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2" name="Forma 21"/>
              <p:cNvSpPr/>
              <p:nvPr/>
            </p:nvSpPr>
            <p:spPr>
              <a:xfrm rot="1500000">
                <a:off x="13392668" y="12967289"/>
                <a:ext cx="2768072" cy="1158728"/>
              </a:xfrm>
              <a:prstGeom prst="ellipse">
                <a:avLst/>
              </a:prstGeom>
              <a:solidFill>
                <a:srgbClr val="F8D8B4"/>
              </a:solidFill>
              <a:ln w="9525" cap="rnd">
                <a:solidFill>
                  <a:srgbClr val="B2732B"/>
                </a:solidFill>
                <a:round/>
              </a:ln>
            </p:spPr>
          </p:sp>
          <p:sp>
            <p:nvSpPr>
              <p:cNvPr id="23" name="Forma 22"/>
              <p:cNvSpPr/>
              <p:nvPr/>
            </p:nvSpPr>
            <p:spPr>
              <a:xfrm rot="1500000">
                <a:off x="13392668" y="12967289"/>
                <a:ext cx="2768072" cy="11587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4" name="Mitocondria_3"/>
            <p:cNvGrpSpPr/>
            <p:nvPr/>
          </p:nvGrpSpPr>
          <p:grpSpPr>
            <a:xfrm>
              <a:off x="3108960" y="12741981"/>
              <a:ext cx="3218688" cy="1609344"/>
              <a:chOff x="3108960" y="12741981"/>
              <a:chExt cx="3218688" cy="1609344"/>
            </a:xfrm>
          </p:grpSpPr>
          <p:sp>
            <p:nvSpPr>
              <p:cNvPr id="25" name="Forma 24"/>
              <p:cNvSpPr/>
              <p:nvPr/>
            </p:nvSpPr>
            <p:spPr>
              <a:xfrm rot="-1200000">
                <a:off x="3108960" y="12741981"/>
                <a:ext cx="3218688" cy="160934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6" name="Forma 25"/>
              <p:cNvSpPr/>
              <p:nvPr/>
            </p:nvSpPr>
            <p:spPr>
              <a:xfrm rot="-1200000">
                <a:off x="3334268" y="12967289"/>
                <a:ext cx="2768072" cy="1158728"/>
              </a:xfrm>
              <a:prstGeom prst="ellipse">
                <a:avLst/>
              </a:prstGeom>
              <a:solidFill>
                <a:srgbClr val="F8D8B4"/>
              </a:solidFill>
              <a:ln w="9525" cap="rnd">
                <a:solidFill>
                  <a:srgbClr val="B2732B"/>
                </a:solidFill>
                <a:round/>
              </a:ln>
            </p:spPr>
          </p:sp>
          <p:sp>
            <p:nvSpPr>
              <p:cNvPr id="27" name="Forma 26"/>
              <p:cNvSpPr/>
              <p:nvPr/>
            </p:nvSpPr>
            <p:spPr>
              <a:xfrm rot="-1200000">
                <a:off x="3334268" y="12967289"/>
                <a:ext cx="2768072" cy="11587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8" name="Mitocondria_4"/>
            <p:cNvGrpSpPr/>
            <p:nvPr/>
          </p:nvGrpSpPr>
          <p:grpSpPr>
            <a:xfrm>
              <a:off x="8138160" y="14886432"/>
              <a:ext cx="3218688" cy="1609344"/>
              <a:chOff x="8138160" y="14886432"/>
              <a:chExt cx="3218688" cy="1609344"/>
            </a:xfrm>
          </p:grpSpPr>
          <p:sp>
            <p:nvSpPr>
              <p:cNvPr id="29" name="Forma 28"/>
              <p:cNvSpPr/>
              <p:nvPr/>
            </p:nvSpPr>
            <p:spPr>
              <a:xfrm rot="600000">
                <a:off x="8138160" y="14886432"/>
                <a:ext cx="3218688" cy="160934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0" name="Forma 29"/>
              <p:cNvSpPr/>
              <p:nvPr/>
            </p:nvSpPr>
            <p:spPr>
              <a:xfrm rot="600000">
                <a:off x="8363468" y="15111740"/>
                <a:ext cx="2768072" cy="1158728"/>
              </a:xfrm>
              <a:prstGeom prst="ellipse">
                <a:avLst/>
              </a:prstGeom>
              <a:solidFill>
                <a:srgbClr val="F8D8B4"/>
              </a:solidFill>
              <a:ln w="9525" cap="rnd">
                <a:solidFill>
                  <a:srgbClr val="B2732B"/>
                </a:solidFill>
                <a:round/>
              </a:ln>
            </p:spPr>
          </p:sp>
          <p:sp>
            <p:nvSpPr>
              <p:cNvPr id="31" name="Forma 30"/>
              <p:cNvSpPr/>
              <p:nvPr/>
            </p:nvSpPr>
            <p:spPr>
              <a:xfrm rot="600000">
                <a:off x="8363468" y="15111740"/>
                <a:ext cx="2768072" cy="11587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32" name="Glucógeno"/>
            <p:cNvSpPr/>
            <p:nvPr/>
          </p:nvSpPr>
          <p:spPr>
            <a:xfrm>
              <a:off x="11558016" y="9112910"/>
              <a:ext cx="4425696" cy="2969240"/>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path>
              </a:pathLst>
            </a:custGeom>
            <a:solidFill>
              <a:srgbClr val="B03A6E"/>
            </a:solidFill>
            <a:ln>
              <a:noFill/>
            </a:ln>
          </p:spPr>
        </p:sp>
        <p:sp>
          <p:nvSpPr>
            <p:cNvPr id="33" name="Gotas lipídicas"/>
            <p:cNvSpPr/>
            <p:nvPr/>
          </p:nvSpPr>
          <p:spPr>
            <a:xfrm>
              <a:off x="2103120" y="8782995"/>
              <a:ext cx="4023360" cy="3299155"/>
            </a:xfrm>
            <a:custGeom>
              <a:avLst/>
              <a:gdLst/>
              <a:ahLst/>
              <a:cxnLst/>
              <a:rect l="0" t="0" r="r" b="b"/>
              <a:pathLst>
                <a:path w="1000" h="1000">
                  <a:moveTo>
                    <a:pt x="460" y="300"/>
                  </a:moveTo>
                  <a:cubicBezTo>
                    <a:pt x="460" y="388"/>
                    <a:pt x="388" y="460"/>
                    <a:pt x="300" y="460"/>
                  </a:cubicBezTo>
                  <a:cubicBezTo>
                    <a:pt x="211" y="460"/>
                    <a:pt x="140" y="388"/>
                    <a:pt x="140" y="300"/>
                  </a:cubicBezTo>
                  <a:cubicBezTo>
                    <a:pt x="140" y="211"/>
                    <a:pt x="211" y="140"/>
                    <a:pt x="300" y="140"/>
                  </a:cubicBezTo>
                  <a:cubicBezTo>
                    <a:pt x="388" y="140"/>
                    <a:pt x="460" y="211"/>
                    <a:pt x="460" y="300"/>
                  </a:cubicBezTo>
                  <a:close/>
                  <a:moveTo>
                    <a:pt x="820" y="650"/>
                  </a:moveTo>
                  <a:cubicBezTo>
                    <a:pt x="820" y="716"/>
                    <a:pt x="766" y="770"/>
                    <a:pt x="700" y="770"/>
                  </a:cubicBezTo>
                  <a:cubicBezTo>
                    <a:pt x="633" y="770"/>
                    <a:pt x="580" y="716"/>
                    <a:pt x="580" y="650"/>
                  </a:cubicBezTo>
                  <a:cubicBezTo>
                    <a:pt x="580" y="583"/>
                    <a:pt x="633" y="530"/>
                    <a:pt x="700" y="530"/>
                  </a:cubicBezTo>
                  <a:cubicBezTo>
                    <a:pt x="766" y="530"/>
                    <a:pt x="820" y="583"/>
                    <a:pt x="820" y="65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grpSp>
        <p:nvGrpSpPr>
          <p:cNvPr id="34" name="!!Membrana"/>
          <p:cNvGrpSpPr/>
          <p:nvPr/>
        </p:nvGrpSpPr>
        <p:grpSpPr>
          <a:xfrm>
            <a:off x="274320" y="2377440"/>
            <a:ext cx="7498080" cy="411480"/>
            <a:chOff x="274320" y="2377440"/>
            <a:chExt cx="7498080" cy="411480"/>
          </a:xfrm>
        </p:grpSpPr>
        <p:sp>
          <p:nvSpPr>
            <p:cNvPr id="35" name="Forma 34"/>
            <p:cNvSpPr/>
            <p:nvPr/>
          </p:nvSpPr>
          <p:spPr>
            <a:xfrm>
              <a:off x="274320" y="2451506"/>
              <a:ext cx="7498080" cy="263347"/>
            </a:xfrm>
            <a:prstGeom prst="rect">
              <a:avLst/>
            </a:prstGeom>
            <a:solidFill>
              <a:srgbClr val="FDEBD0"/>
            </a:solidFill>
            <a:ln>
              <a:noFill/>
            </a:ln>
          </p:spPr>
        </p:sp>
        <p:sp>
          <p:nvSpPr>
            <p:cNvPr id="36" name="Forma 35"/>
            <p:cNvSpPr/>
            <p:nvPr/>
          </p:nvSpPr>
          <p:spPr>
            <a:xfrm>
              <a:off x="274320" y="2377440"/>
              <a:ext cx="7498080" cy="411480"/>
            </a:xfrm>
            <a:custGeom>
              <a:avLst/>
              <a:gdLst/>
              <a:ahLst/>
              <a:cxnLst/>
              <a:rect l="0" t="0" r="r" b="b"/>
              <a:pathLst>
                <a:path w="8200" h="450">
                  <a:moveTo>
                    <a:pt x="98" y="48"/>
                  </a:moveTo>
                  <a:cubicBezTo>
                    <a:pt x="98" y="74"/>
                    <a:pt x="76" y="96"/>
                    <a:pt x="50" y="96"/>
                  </a:cubicBezTo>
                  <a:cubicBezTo>
                    <a:pt x="23" y="96"/>
                    <a:pt x="2" y="74"/>
                    <a:pt x="2" y="48"/>
                  </a:cubicBezTo>
                  <a:cubicBezTo>
                    <a:pt x="2" y="21"/>
                    <a:pt x="23" y="0"/>
                    <a:pt x="50" y="0"/>
                  </a:cubicBezTo>
                  <a:cubicBezTo>
                    <a:pt x="76" y="0"/>
                    <a:pt x="98" y="21"/>
                    <a:pt x="98" y="48"/>
                  </a:cubicBezTo>
                  <a:close/>
                  <a:moveTo>
                    <a:pt x="199" y="48"/>
                  </a:moveTo>
                  <a:cubicBezTo>
                    <a:pt x="199" y="74"/>
                    <a:pt x="177" y="96"/>
                    <a:pt x="151" y="96"/>
                  </a:cubicBezTo>
                  <a:cubicBezTo>
                    <a:pt x="124" y="96"/>
                    <a:pt x="103" y="74"/>
                    <a:pt x="103" y="48"/>
                  </a:cubicBezTo>
                  <a:cubicBezTo>
                    <a:pt x="103" y="21"/>
                    <a:pt x="124" y="0"/>
                    <a:pt x="151" y="0"/>
                  </a:cubicBezTo>
                  <a:cubicBezTo>
                    <a:pt x="177" y="0"/>
                    <a:pt x="199" y="21"/>
                    <a:pt x="199" y="48"/>
                  </a:cubicBezTo>
                  <a:close/>
                  <a:moveTo>
                    <a:pt x="301" y="48"/>
                  </a:moveTo>
                  <a:cubicBezTo>
                    <a:pt x="301" y="74"/>
                    <a:pt x="279" y="96"/>
                    <a:pt x="253" y="96"/>
                  </a:cubicBezTo>
                  <a:cubicBezTo>
                    <a:pt x="226" y="96"/>
                    <a:pt x="205" y="74"/>
                    <a:pt x="205" y="48"/>
                  </a:cubicBezTo>
                  <a:cubicBezTo>
                    <a:pt x="205" y="21"/>
                    <a:pt x="226" y="0"/>
                    <a:pt x="253" y="0"/>
                  </a:cubicBezTo>
                  <a:cubicBezTo>
                    <a:pt x="279" y="0"/>
                    <a:pt x="301" y="21"/>
                    <a:pt x="301" y="48"/>
                  </a:cubicBezTo>
                  <a:close/>
                  <a:moveTo>
                    <a:pt x="402" y="48"/>
                  </a:moveTo>
                  <a:cubicBezTo>
                    <a:pt x="402" y="74"/>
                    <a:pt x="380" y="96"/>
                    <a:pt x="354" y="96"/>
                  </a:cubicBezTo>
                  <a:cubicBezTo>
                    <a:pt x="327" y="96"/>
                    <a:pt x="306" y="74"/>
                    <a:pt x="306" y="48"/>
                  </a:cubicBezTo>
                  <a:cubicBezTo>
                    <a:pt x="306" y="21"/>
                    <a:pt x="327" y="0"/>
                    <a:pt x="354" y="0"/>
                  </a:cubicBezTo>
                  <a:cubicBezTo>
                    <a:pt x="380" y="0"/>
                    <a:pt x="402" y="21"/>
                    <a:pt x="402" y="48"/>
                  </a:cubicBezTo>
                  <a:close/>
                  <a:moveTo>
                    <a:pt x="503" y="48"/>
                  </a:moveTo>
                  <a:cubicBezTo>
                    <a:pt x="503" y="74"/>
                    <a:pt x="481" y="96"/>
                    <a:pt x="455" y="96"/>
                  </a:cubicBezTo>
                  <a:cubicBezTo>
                    <a:pt x="428" y="96"/>
                    <a:pt x="407" y="74"/>
                    <a:pt x="407" y="48"/>
                  </a:cubicBezTo>
                  <a:cubicBezTo>
                    <a:pt x="407" y="21"/>
                    <a:pt x="428" y="0"/>
                    <a:pt x="455" y="0"/>
                  </a:cubicBezTo>
                  <a:cubicBezTo>
                    <a:pt x="481" y="0"/>
                    <a:pt x="503" y="21"/>
                    <a:pt x="503" y="48"/>
                  </a:cubicBezTo>
                  <a:close/>
                  <a:moveTo>
                    <a:pt x="604" y="48"/>
                  </a:moveTo>
                  <a:cubicBezTo>
                    <a:pt x="604" y="74"/>
                    <a:pt x="582" y="96"/>
                    <a:pt x="556" y="96"/>
                  </a:cubicBezTo>
                  <a:cubicBezTo>
                    <a:pt x="529" y="96"/>
                    <a:pt x="508" y="74"/>
                    <a:pt x="508" y="48"/>
                  </a:cubicBezTo>
                  <a:cubicBezTo>
                    <a:pt x="508" y="21"/>
                    <a:pt x="529" y="0"/>
                    <a:pt x="556" y="0"/>
                  </a:cubicBezTo>
                  <a:cubicBezTo>
                    <a:pt x="582" y="0"/>
                    <a:pt x="604" y="21"/>
                    <a:pt x="604" y="48"/>
                  </a:cubicBezTo>
                  <a:close/>
                  <a:moveTo>
                    <a:pt x="706" y="48"/>
                  </a:moveTo>
                  <a:cubicBezTo>
                    <a:pt x="706" y="74"/>
                    <a:pt x="684" y="96"/>
                    <a:pt x="658" y="96"/>
                  </a:cubicBezTo>
                  <a:cubicBezTo>
                    <a:pt x="631" y="96"/>
                    <a:pt x="610" y="74"/>
                    <a:pt x="610" y="48"/>
                  </a:cubicBezTo>
                  <a:cubicBezTo>
                    <a:pt x="610" y="21"/>
                    <a:pt x="631" y="0"/>
                    <a:pt x="658" y="0"/>
                  </a:cubicBezTo>
                  <a:cubicBezTo>
                    <a:pt x="684" y="0"/>
                    <a:pt x="706" y="21"/>
                    <a:pt x="706" y="48"/>
                  </a:cubicBezTo>
                  <a:close/>
                  <a:moveTo>
                    <a:pt x="807" y="48"/>
                  </a:moveTo>
                  <a:cubicBezTo>
                    <a:pt x="807" y="74"/>
                    <a:pt x="785" y="96"/>
                    <a:pt x="759" y="96"/>
                  </a:cubicBezTo>
                  <a:cubicBezTo>
                    <a:pt x="732" y="96"/>
                    <a:pt x="711" y="74"/>
                    <a:pt x="711" y="48"/>
                  </a:cubicBezTo>
                  <a:cubicBezTo>
                    <a:pt x="711" y="21"/>
                    <a:pt x="732" y="0"/>
                    <a:pt x="759" y="0"/>
                  </a:cubicBezTo>
                  <a:cubicBezTo>
                    <a:pt x="785" y="0"/>
                    <a:pt x="807" y="21"/>
                    <a:pt x="807" y="48"/>
                  </a:cubicBezTo>
                  <a:close/>
                  <a:moveTo>
                    <a:pt x="908" y="48"/>
                  </a:moveTo>
                  <a:cubicBezTo>
                    <a:pt x="908" y="74"/>
                    <a:pt x="886" y="96"/>
                    <a:pt x="860" y="96"/>
                  </a:cubicBezTo>
                  <a:cubicBezTo>
                    <a:pt x="833" y="96"/>
                    <a:pt x="812" y="74"/>
                    <a:pt x="812" y="48"/>
                  </a:cubicBezTo>
                  <a:cubicBezTo>
                    <a:pt x="812" y="21"/>
                    <a:pt x="833" y="0"/>
                    <a:pt x="860" y="0"/>
                  </a:cubicBezTo>
                  <a:cubicBezTo>
                    <a:pt x="886" y="0"/>
                    <a:pt x="908" y="21"/>
                    <a:pt x="908" y="48"/>
                  </a:cubicBezTo>
                  <a:close/>
                  <a:moveTo>
                    <a:pt x="1009" y="48"/>
                  </a:moveTo>
                  <a:cubicBezTo>
                    <a:pt x="1009" y="74"/>
                    <a:pt x="987" y="96"/>
                    <a:pt x="961" y="96"/>
                  </a:cubicBezTo>
                  <a:cubicBezTo>
                    <a:pt x="934" y="96"/>
                    <a:pt x="913" y="74"/>
                    <a:pt x="913" y="48"/>
                  </a:cubicBezTo>
                  <a:cubicBezTo>
                    <a:pt x="913" y="21"/>
                    <a:pt x="934" y="0"/>
                    <a:pt x="961" y="0"/>
                  </a:cubicBezTo>
                  <a:cubicBezTo>
                    <a:pt x="987" y="0"/>
                    <a:pt x="1009" y="21"/>
                    <a:pt x="1009" y="48"/>
                  </a:cubicBezTo>
                  <a:close/>
                  <a:moveTo>
                    <a:pt x="1110" y="48"/>
                  </a:moveTo>
                  <a:cubicBezTo>
                    <a:pt x="1110" y="74"/>
                    <a:pt x="1088" y="96"/>
                    <a:pt x="1062" y="96"/>
                  </a:cubicBezTo>
                  <a:cubicBezTo>
                    <a:pt x="1035" y="96"/>
                    <a:pt x="1014" y="74"/>
                    <a:pt x="1014" y="48"/>
                  </a:cubicBezTo>
                  <a:cubicBezTo>
                    <a:pt x="1014" y="21"/>
                    <a:pt x="1035" y="0"/>
                    <a:pt x="1062" y="0"/>
                  </a:cubicBezTo>
                  <a:cubicBezTo>
                    <a:pt x="1088" y="0"/>
                    <a:pt x="1110" y="21"/>
                    <a:pt x="1110" y="48"/>
                  </a:cubicBezTo>
                  <a:close/>
                  <a:moveTo>
                    <a:pt x="1212" y="48"/>
                  </a:moveTo>
                  <a:cubicBezTo>
                    <a:pt x="1212" y="74"/>
                    <a:pt x="1190" y="96"/>
                    <a:pt x="1164" y="96"/>
                  </a:cubicBezTo>
                  <a:cubicBezTo>
                    <a:pt x="1137" y="96"/>
                    <a:pt x="1116" y="74"/>
                    <a:pt x="1116" y="48"/>
                  </a:cubicBezTo>
                  <a:cubicBezTo>
                    <a:pt x="1116" y="21"/>
                    <a:pt x="1137" y="0"/>
                    <a:pt x="1164" y="0"/>
                  </a:cubicBezTo>
                  <a:cubicBezTo>
                    <a:pt x="1190" y="0"/>
                    <a:pt x="1212" y="21"/>
                    <a:pt x="1212" y="48"/>
                  </a:cubicBezTo>
                  <a:close/>
                  <a:moveTo>
                    <a:pt x="1313" y="48"/>
                  </a:moveTo>
                  <a:cubicBezTo>
                    <a:pt x="1313" y="74"/>
                    <a:pt x="1291" y="96"/>
                    <a:pt x="1265" y="96"/>
                  </a:cubicBezTo>
                  <a:cubicBezTo>
                    <a:pt x="1238" y="96"/>
                    <a:pt x="1217" y="74"/>
                    <a:pt x="1217" y="48"/>
                  </a:cubicBezTo>
                  <a:cubicBezTo>
                    <a:pt x="1217" y="21"/>
                    <a:pt x="1238" y="0"/>
                    <a:pt x="1265" y="0"/>
                  </a:cubicBezTo>
                  <a:cubicBezTo>
                    <a:pt x="1291" y="0"/>
                    <a:pt x="1313" y="21"/>
                    <a:pt x="1313" y="48"/>
                  </a:cubicBezTo>
                  <a:close/>
                  <a:moveTo>
                    <a:pt x="1414" y="48"/>
                  </a:moveTo>
                  <a:cubicBezTo>
                    <a:pt x="1414" y="74"/>
                    <a:pt x="1392" y="96"/>
                    <a:pt x="1366" y="96"/>
                  </a:cubicBezTo>
                  <a:cubicBezTo>
                    <a:pt x="1339" y="96"/>
                    <a:pt x="1318" y="74"/>
                    <a:pt x="1318" y="48"/>
                  </a:cubicBezTo>
                  <a:cubicBezTo>
                    <a:pt x="1318" y="21"/>
                    <a:pt x="1339" y="0"/>
                    <a:pt x="1366" y="0"/>
                  </a:cubicBezTo>
                  <a:cubicBezTo>
                    <a:pt x="1392" y="0"/>
                    <a:pt x="1414" y="21"/>
                    <a:pt x="1414" y="48"/>
                  </a:cubicBezTo>
                  <a:close/>
                  <a:moveTo>
                    <a:pt x="1515" y="48"/>
                  </a:moveTo>
                  <a:cubicBezTo>
                    <a:pt x="1515" y="74"/>
                    <a:pt x="1493" y="96"/>
                    <a:pt x="1467" y="96"/>
                  </a:cubicBezTo>
                  <a:cubicBezTo>
                    <a:pt x="1440" y="96"/>
                    <a:pt x="1419" y="74"/>
                    <a:pt x="1419" y="48"/>
                  </a:cubicBezTo>
                  <a:cubicBezTo>
                    <a:pt x="1419" y="21"/>
                    <a:pt x="1440" y="0"/>
                    <a:pt x="1467" y="0"/>
                  </a:cubicBezTo>
                  <a:cubicBezTo>
                    <a:pt x="1493" y="0"/>
                    <a:pt x="1515" y="21"/>
                    <a:pt x="1515" y="48"/>
                  </a:cubicBezTo>
                  <a:close/>
                  <a:moveTo>
                    <a:pt x="1617" y="48"/>
                  </a:moveTo>
                  <a:cubicBezTo>
                    <a:pt x="1617" y="74"/>
                    <a:pt x="1595" y="96"/>
                    <a:pt x="1569" y="96"/>
                  </a:cubicBezTo>
                  <a:cubicBezTo>
                    <a:pt x="1542" y="96"/>
                    <a:pt x="1521" y="74"/>
                    <a:pt x="1521" y="48"/>
                  </a:cubicBezTo>
                  <a:cubicBezTo>
                    <a:pt x="1521" y="21"/>
                    <a:pt x="1542" y="0"/>
                    <a:pt x="1569" y="0"/>
                  </a:cubicBezTo>
                  <a:cubicBezTo>
                    <a:pt x="1595" y="0"/>
                    <a:pt x="1617" y="21"/>
                    <a:pt x="1617" y="48"/>
                  </a:cubicBezTo>
                  <a:close/>
                  <a:moveTo>
                    <a:pt x="1718" y="48"/>
                  </a:moveTo>
                  <a:cubicBezTo>
                    <a:pt x="1718" y="74"/>
                    <a:pt x="1696" y="96"/>
                    <a:pt x="1670" y="96"/>
                  </a:cubicBezTo>
                  <a:cubicBezTo>
                    <a:pt x="1643" y="96"/>
                    <a:pt x="1622" y="74"/>
                    <a:pt x="1622" y="48"/>
                  </a:cubicBezTo>
                  <a:cubicBezTo>
                    <a:pt x="1622" y="21"/>
                    <a:pt x="1643" y="0"/>
                    <a:pt x="1670" y="0"/>
                  </a:cubicBezTo>
                  <a:cubicBezTo>
                    <a:pt x="1696" y="0"/>
                    <a:pt x="1718" y="21"/>
                    <a:pt x="1718" y="48"/>
                  </a:cubicBezTo>
                  <a:close/>
                  <a:moveTo>
                    <a:pt x="1819" y="48"/>
                  </a:moveTo>
                  <a:cubicBezTo>
                    <a:pt x="1819" y="74"/>
                    <a:pt x="1797" y="96"/>
                    <a:pt x="1771" y="96"/>
                  </a:cubicBezTo>
                  <a:cubicBezTo>
                    <a:pt x="1744" y="96"/>
                    <a:pt x="1723" y="74"/>
                    <a:pt x="1723" y="48"/>
                  </a:cubicBezTo>
                  <a:cubicBezTo>
                    <a:pt x="1723" y="21"/>
                    <a:pt x="1744" y="0"/>
                    <a:pt x="1771" y="0"/>
                  </a:cubicBezTo>
                  <a:cubicBezTo>
                    <a:pt x="1797" y="0"/>
                    <a:pt x="1819" y="21"/>
                    <a:pt x="1819" y="48"/>
                  </a:cubicBezTo>
                  <a:close/>
                  <a:moveTo>
                    <a:pt x="1920" y="48"/>
                  </a:moveTo>
                  <a:cubicBezTo>
                    <a:pt x="1920" y="74"/>
                    <a:pt x="1898" y="96"/>
                    <a:pt x="1872" y="96"/>
                  </a:cubicBezTo>
                  <a:cubicBezTo>
                    <a:pt x="1845" y="96"/>
                    <a:pt x="1824" y="74"/>
                    <a:pt x="1824" y="48"/>
                  </a:cubicBezTo>
                  <a:cubicBezTo>
                    <a:pt x="1824" y="21"/>
                    <a:pt x="1845" y="0"/>
                    <a:pt x="1872" y="0"/>
                  </a:cubicBezTo>
                  <a:cubicBezTo>
                    <a:pt x="1898" y="0"/>
                    <a:pt x="1920" y="21"/>
                    <a:pt x="1920" y="48"/>
                  </a:cubicBezTo>
                  <a:close/>
                  <a:moveTo>
                    <a:pt x="2022" y="48"/>
                  </a:moveTo>
                  <a:cubicBezTo>
                    <a:pt x="2022" y="74"/>
                    <a:pt x="2000" y="96"/>
                    <a:pt x="1974" y="96"/>
                  </a:cubicBezTo>
                  <a:cubicBezTo>
                    <a:pt x="1947" y="96"/>
                    <a:pt x="1926" y="74"/>
                    <a:pt x="1926" y="48"/>
                  </a:cubicBezTo>
                  <a:cubicBezTo>
                    <a:pt x="1926" y="21"/>
                    <a:pt x="1947" y="0"/>
                    <a:pt x="1974" y="0"/>
                  </a:cubicBezTo>
                  <a:cubicBezTo>
                    <a:pt x="2000" y="0"/>
                    <a:pt x="2022" y="21"/>
                    <a:pt x="2022" y="48"/>
                  </a:cubicBezTo>
                  <a:close/>
                  <a:moveTo>
                    <a:pt x="2123" y="48"/>
                  </a:moveTo>
                  <a:cubicBezTo>
                    <a:pt x="2123" y="74"/>
                    <a:pt x="2101" y="96"/>
                    <a:pt x="2075" y="96"/>
                  </a:cubicBezTo>
                  <a:cubicBezTo>
                    <a:pt x="2048" y="96"/>
                    <a:pt x="2027" y="74"/>
                    <a:pt x="2027" y="48"/>
                  </a:cubicBezTo>
                  <a:cubicBezTo>
                    <a:pt x="2027" y="21"/>
                    <a:pt x="2048" y="0"/>
                    <a:pt x="2075" y="0"/>
                  </a:cubicBezTo>
                  <a:cubicBezTo>
                    <a:pt x="2101" y="0"/>
                    <a:pt x="2123" y="21"/>
                    <a:pt x="2123" y="48"/>
                  </a:cubicBezTo>
                  <a:close/>
                  <a:moveTo>
                    <a:pt x="2224" y="48"/>
                  </a:moveTo>
                  <a:cubicBezTo>
                    <a:pt x="2224" y="74"/>
                    <a:pt x="2202" y="96"/>
                    <a:pt x="2176" y="96"/>
                  </a:cubicBezTo>
                  <a:cubicBezTo>
                    <a:pt x="2149" y="96"/>
                    <a:pt x="2128" y="74"/>
                    <a:pt x="2128" y="48"/>
                  </a:cubicBezTo>
                  <a:cubicBezTo>
                    <a:pt x="2128" y="21"/>
                    <a:pt x="2149" y="0"/>
                    <a:pt x="2176" y="0"/>
                  </a:cubicBezTo>
                  <a:cubicBezTo>
                    <a:pt x="2202" y="0"/>
                    <a:pt x="2224" y="21"/>
                    <a:pt x="2224" y="48"/>
                  </a:cubicBezTo>
                  <a:close/>
                  <a:moveTo>
                    <a:pt x="2325" y="48"/>
                  </a:moveTo>
                  <a:cubicBezTo>
                    <a:pt x="2325" y="74"/>
                    <a:pt x="2303" y="96"/>
                    <a:pt x="2277" y="96"/>
                  </a:cubicBezTo>
                  <a:cubicBezTo>
                    <a:pt x="2250" y="96"/>
                    <a:pt x="2229" y="74"/>
                    <a:pt x="2229" y="48"/>
                  </a:cubicBezTo>
                  <a:cubicBezTo>
                    <a:pt x="2229" y="21"/>
                    <a:pt x="2250" y="0"/>
                    <a:pt x="2277" y="0"/>
                  </a:cubicBezTo>
                  <a:cubicBezTo>
                    <a:pt x="2303" y="0"/>
                    <a:pt x="2325" y="21"/>
                    <a:pt x="2325" y="48"/>
                  </a:cubicBezTo>
                  <a:close/>
                  <a:moveTo>
                    <a:pt x="2427" y="48"/>
                  </a:moveTo>
                  <a:cubicBezTo>
                    <a:pt x="2427" y="74"/>
                    <a:pt x="2405" y="96"/>
                    <a:pt x="2379" y="96"/>
                  </a:cubicBezTo>
                  <a:cubicBezTo>
                    <a:pt x="2352" y="96"/>
                    <a:pt x="2331" y="74"/>
                    <a:pt x="2331" y="48"/>
                  </a:cubicBezTo>
                  <a:cubicBezTo>
                    <a:pt x="2331" y="21"/>
                    <a:pt x="2352" y="0"/>
                    <a:pt x="2379" y="0"/>
                  </a:cubicBezTo>
                  <a:cubicBezTo>
                    <a:pt x="2405" y="0"/>
                    <a:pt x="2427" y="21"/>
                    <a:pt x="2427" y="48"/>
                  </a:cubicBezTo>
                  <a:close/>
                  <a:moveTo>
                    <a:pt x="2528" y="48"/>
                  </a:moveTo>
                  <a:cubicBezTo>
                    <a:pt x="2528" y="74"/>
                    <a:pt x="2506" y="96"/>
                    <a:pt x="2480" y="96"/>
                  </a:cubicBezTo>
                  <a:cubicBezTo>
                    <a:pt x="2453" y="96"/>
                    <a:pt x="2432" y="74"/>
                    <a:pt x="2432" y="48"/>
                  </a:cubicBezTo>
                  <a:cubicBezTo>
                    <a:pt x="2432" y="21"/>
                    <a:pt x="2453" y="0"/>
                    <a:pt x="2480" y="0"/>
                  </a:cubicBezTo>
                  <a:cubicBezTo>
                    <a:pt x="2506" y="0"/>
                    <a:pt x="2528" y="21"/>
                    <a:pt x="2528" y="48"/>
                  </a:cubicBezTo>
                  <a:close/>
                  <a:moveTo>
                    <a:pt x="2629" y="48"/>
                  </a:moveTo>
                  <a:cubicBezTo>
                    <a:pt x="2629" y="74"/>
                    <a:pt x="2607" y="96"/>
                    <a:pt x="2581" y="96"/>
                  </a:cubicBezTo>
                  <a:cubicBezTo>
                    <a:pt x="2554" y="96"/>
                    <a:pt x="2533" y="74"/>
                    <a:pt x="2533" y="48"/>
                  </a:cubicBezTo>
                  <a:cubicBezTo>
                    <a:pt x="2533" y="21"/>
                    <a:pt x="2554" y="0"/>
                    <a:pt x="2581" y="0"/>
                  </a:cubicBezTo>
                  <a:cubicBezTo>
                    <a:pt x="2607" y="0"/>
                    <a:pt x="2629" y="21"/>
                    <a:pt x="2629" y="48"/>
                  </a:cubicBezTo>
                  <a:close/>
                  <a:moveTo>
                    <a:pt x="2730" y="48"/>
                  </a:moveTo>
                  <a:cubicBezTo>
                    <a:pt x="2730" y="74"/>
                    <a:pt x="2708" y="96"/>
                    <a:pt x="2682" y="96"/>
                  </a:cubicBezTo>
                  <a:cubicBezTo>
                    <a:pt x="2655" y="96"/>
                    <a:pt x="2634" y="74"/>
                    <a:pt x="2634" y="48"/>
                  </a:cubicBezTo>
                  <a:cubicBezTo>
                    <a:pt x="2634" y="21"/>
                    <a:pt x="2655" y="0"/>
                    <a:pt x="2682" y="0"/>
                  </a:cubicBezTo>
                  <a:cubicBezTo>
                    <a:pt x="2708" y="0"/>
                    <a:pt x="2730" y="21"/>
                    <a:pt x="2730" y="48"/>
                  </a:cubicBezTo>
                  <a:close/>
                  <a:moveTo>
                    <a:pt x="2831" y="48"/>
                  </a:moveTo>
                  <a:cubicBezTo>
                    <a:pt x="2831" y="74"/>
                    <a:pt x="2809" y="96"/>
                    <a:pt x="2783" y="96"/>
                  </a:cubicBezTo>
                  <a:cubicBezTo>
                    <a:pt x="2756" y="96"/>
                    <a:pt x="2735" y="74"/>
                    <a:pt x="2735" y="48"/>
                  </a:cubicBezTo>
                  <a:cubicBezTo>
                    <a:pt x="2735" y="21"/>
                    <a:pt x="2756" y="0"/>
                    <a:pt x="2783" y="0"/>
                  </a:cubicBezTo>
                  <a:cubicBezTo>
                    <a:pt x="2809" y="0"/>
                    <a:pt x="2831" y="21"/>
                    <a:pt x="2831" y="48"/>
                  </a:cubicBezTo>
                  <a:close/>
                  <a:moveTo>
                    <a:pt x="2933" y="48"/>
                  </a:moveTo>
                  <a:cubicBezTo>
                    <a:pt x="2933" y="74"/>
                    <a:pt x="2911" y="96"/>
                    <a:pt x="2885" y="96"/>
                  </a:cubicBezTo>
                  <a:cubicBezTo>
                    <a:pt x="2858" y="96"/>
                    <a:pt x="2837" y="74"/>
                    <a:pt x="2837" y="48"/>
                  </a:cubicBezTo>
                  <a:cubicBezTo>
                    <a:pt x="2837" y="21"/>
                    <a:pt x="2858" y="0"/>
                    <a:pt x="2885" y="0"/>
                  </a:cubicBezTo>
                  <a:cubicBezTo>
                    <a:pt x="2911" y="0"/>
                    <a:pt x="2933" y="21"/>
                    <a:pt x="2933" y="48"/>
                  </a:cubicBezTo>
                  <a:close/>
                  <a:moveTo>
                    <a:pt x="3034" y="48"/>
                  </a:moveTo>
                  <a:cubicBezTo>
                    <a:pt x="3034" y="74"/>
                    <a:pt x="3012" y="96"/>
                    <a:pt x="2986" y="96"/>
                  </a:cubicBezTo>
                  <a:cubicBezTo>
                    <a:pt x="2959" y="96"/>
                    <a:pt x="2938" y="74"/>
                    <a:pt x="2938" y="48"/>
                  </a:cubicBezTo>
                  <a:cubicBezTo>
                    <a:pt x="2938" y="21"/>
                    <a:pt x="2959" y="0"/>
                    <a:pt x="2986" y="0"/>
                  </a:cubicBezTo>
                  <a:cubicBezTo>
                    <a:pt x="3012" y="0"/>
                    <a:pt x="3034" y="21"/>
                    <a:pt x="3034" y="48"/>
                  </a:cubicBezTo>
                  <a:close/>
                  <a:moveTo>
                    <a:pt x="3135" y="48"/>
                  </a:moveTo>
                  <a:cubicBezTo>
                    <a:pt x="3135" y="74"/>
                    <a:pt x="3113" y="96"/>
                    <a:pt x="3087" y="96"/>
                  </a:cubicBezTo>
                  <a:cubicBezTo>
                    <a:pt x="3060" y="96"/>
                    <a:pt x="3039" y="74"/>
                    <a:pt x="3039" y="48"/>
                  </a:cubicBezTo>
                  <a:cubicBezTo>
                    <a:pt x="3039" y="21"/>
                    <a:pt x="3060" y="0"/>
                    <a:pt x="3087" y="0"/>
                  </a:cubicBezTo>
                  <a:cubicBezTo>
                    <a:pt x="3113" y="0"/>
                    <a:pt x="3135" y="21"/>
                    <a:pt x="3135" y="48"/>
                  </a:cubicBezTo>
                  <a:close/>
                  <a:moveTo>
                    <a:pt x="3236" y="48"/>
                  </a:moveTo>
                  <a:cubicBezTo>
                    <a:pt x="3236" y="74"/>
                    <a:pt x="3214" y="96"/>
                    <a:pt x="3188" y="96"/>
                  </a:cubicBezTo>
                  <a:cubicBezTo>
                    <a:pt x="3161" y="96"/>
                    <a:pt x="3140" y="74"/>
                    <a:pt x="3140" y="48"/>
                  </a:cubicBezTo>
                  <a:cubicBezTo>
                    <a:pt x="3140" y="21"/>
                    <a:pt x="3161" y="0"/>
                    <a:pt x="3188" y="0"/>
                  </a:cubicBezTo>
                  <a:cubicBezTo>
                    <a:pt x="3214" y="0"/>
                    <a:pt x="3236" y="21"/>
                    <a:pt x="3236" y="48"/>
                  </a:cubicBezTo>
                  <a:close/>
                  <a:moveTo>
                    <a:pt x="3338" y="48"/>
                  </a:moveTo>
                  <a:cubicBezTo>
                    <a:pt x="3338" y="74"/>
                    <a:pt x="3316" y="96"/>
                    <a:pt x="3290" y="96"/>
                  </a:cubicBezTo>
                  <a:cubicBezTo>
                    <a:pt x="3263" y="96"/>
                    <a:pt x="3242" y="74"/>
                    <a:pt x="3242" y="48"/>
                  </a:cubicBezTo>
                  <a:cubicBezTo>
                    <a:pt x="3242" y="21"/>
                    <a:pt x="3263" y="0"/>
                    <a:pt x="3290" y="0"/>
                  </a:cubicBezTo>
                  <a:cubicBezTo>
                    <a:pt x="3316" y="0"/>
                    <a:pt x="3338" y="21"/>
                    <a:pt x="3338" y="48"/>
                  </a:cubicBezTo>
                  <a:close/>
                  <a:moveTo>
                    <a:pt x="3439" y="48"/>
                  </a:moveTo>
                  <a:cubicBezTo>
                    <a:pt x="3439" y="74"/>
                    <a:pt x="3417" y="96"/>
                    <a:pt x="3391" y="96"/>
                  </a:cubicBezTo>
                  <a:cubicBezTo>
                    <a:pt x="3364" y="96"/>
                    <a:pt x="3343" y="74"/>
                    <a:pt x="3343" y="48"/>
                  </a:cubicBezTo>
                  <a:cubicBezTo>
                    <a:pt x="3343" y="21"/>
                    <a:pt x="3364" y="0"/>
                    <a:pt x="3391" y="0"/>
                  </a:cubicBezTo>
                  <a:cubicBezTo>
                    <a:pt x="3417" y="0"/>
                    <a:pt x="3439" y="21"/>
                    <a:pt x="3439" y="48"/>
                  </a:cubicBezTo>
                  <a:close/>
                  <a:moveTo>
                    <a:pt x="3540" y="48"/>
                  </a:moveTo>
                  <a:cubicBezTo>
                    <a:pt x="3540" y="74"/>
                    <a:pt x="3518" y="96"/>
                    <a:pt x="3492" y="96"/>
                  </a:cubicBezTo>
                  <a:cubicBezTo>
                    <a:pt x="3465" y="96"/>
                    <a:pt x="3444" y="74"/>
                    <a:pt x="3444" y="48"/>
                  </a:cubicBezTo>
                  <a:cubicBezTo>
                    <a:pt x="3444" y="21"/>
                    <a:pt x="3465" y="0"/>
                    <a:pt x="3492" y="0"/>
                  </a:cubicBezTo>
                  <a:cubicBezTo>
                    <a:pt x="3518" y="0"/>
                    <a:pt x="3540" y="21"/>
                    <a:pt x="3540" y="48"/>
                  </a:cubicBezTo>
                  <a:close/>
                  <a:moveTo>
                    <a:pt x="3641" y="48"/>
                  </a:moveTo>
                  <a:cubicBezTo>
                    <a:pt x="3641" y="74"/>
                    <a:pt x="3619" y="96"/>
                    <a:pt x="3593" y="96"/>
                  </a:cubicBezTo>
                  <a:cubicBezTo>
                    <a:pt x="3566" y="96"/>
                    <a:pt x="3545" y="74"/>
                    <a:pt x="3545" y="48"/>
                  </a:cubicBezTo>
                  <a:cubicBezTo>
                    <a:pt x="3545" y="21"/>
                    <a:pt x="3566" y="0"/>
                    <a:pt x="3593" y="0"/>
                  </a:cubicBezTo>
                  <a:cubicBezTo>
                    <a:pt x="3619" y="0"/>
                    <a:pt x="3641" y="21"/>
                    <a:pt x="3641" y="48"/>
                  </a:cubicBezTo>
                  <a:close/>
                  <a:moveTo>
                    <a:pt x="3743" y="48"/>
                  </a:moveTo>
                  <a:cubicBezTo>
                    <a:pt x="3743" y="74"/>
                    <a:pt x="3721" y="96"/>
                    <a:pt x="3695" y="96"/>
                  </a:cubicBezTo>
                  <a:cubicBezTo>
                    <a:pt x="3668" y="96"/>
                    <a:pt x="3647" y="74"/>
                    <a:pt x="3647" y="48"/>
                  </a:cubicBezTo>
                  <a:cubicBezTo>
                    <a:pt x="3647" y="21"/>
                    <a:pt x="3668" y="0"/>
                    <a:pt x="3695" y="0"/>
                  </a:cubicBezTo>
                  <a:cubicBezTo>
                    <a:pt x="3721" y="0"/>
                    <a:pt x="3743" y="21"/>
                    <a:pt x="3743" y="48"/>
                  </a:cubicBezTo>
                  <a:close/>
                  <a:moveTo>
                    <a:pt x="3844" y="48"/>
                  </a:moveTo>
                  <a:cubicBezTo>
                    <a:pt x="3844" y="74"/>
                    <a:pt x="3822" y="96"/>
                    <a:pt x="3796" y="96"/>
                  </a:cubicBezTo>
                  <a:cubicBezTo>
                    <a:pt x="3769" y="96"/>
                    <a:pt x="3748" y="74"/>
                    <a:pt x="3748" y="48"/>
                  </a:cubicBezTo>
                  <a:cubicBezTo>
                    <a:pt x="3748" y="21"/>
                    <a:pt x="3769" y="0"/>
                    <a:pt x="3796" y="0"/>
                  </a:cubicBezTo>
                  <a:cubicBezTo>
                    <a:pt x="3822" y="0"/>
                    <a:pt x="3844" y="21"/>
                    <a:pt x="3844" y="48"/>
                  </a:cubicBezTo>
                  <a:close/>
                  <a:moveTo>
                    <a:pt x="3945" y="48"/>
                  </a:moveTo>
                  <a:cubicBezTo>
                    <a:pt x="3945" y="74"/>
                    <a:pt x="3923" y="96"/>
                    <a:pt x="3897" y="96"/>
                  </a:cubicBezTo>
                  <a:cubicBezTo>
                    <a:pt x="3870" y="96"/>
                    <a:pt x="3849" y="74"/>
                    <a:pt x="3849" y="48"/>
                  </a:cubicBezTo>
                  <a:cubicBezTo>
                    <a:pt x="3849" y="21"/>
                    <a:pt x="3870" y="0"/>
                    <a:pt x="3897" y="0"/>
                  </a:cubicBezTo>
                  <a:cubicBezTo>
                    <a:pt x="3923" y="0"/>
                    <a:pt x="3945" y="21"/>
                    <a:pt x="3945" y="48"/>
                  </a:cubicBezTo>
                  <a:close/>
                  <a:moveTo>
                    <a:pt x="4046" y="48"/>
                  </a:moveTo>
                  <a:cubicBezTo>
                    <a:pt x="4046" y="74"/>
                    <a:pt x="4024" y="96"/>
                    <a:pt x="3998" y="96"/>
                  </a:cubicBezTo>
                  <a:cubicBezTo>
                    <a:pt x="3971" y="96"/>
                    <a:pt x="3950" y="74"/>
                    <a:pt x="3950" y="48"/>
                  </a:cubicBezTo>
                  <a:cubicBezTo>
                    <a:pt x="3950" y="21"/>
                    <a:pt x="3971" y="0"/>
                    <a:pt x="3998" y="0"/>
                  </a:cubicBezTo>
                  <a:cubicBezTo>
                    <a:pt x="4024" y="0"/>
                    <a:pt x="4046" y="21"/>
                    <a:pt x="4046" y="48"/>
                  </a:cubicBezTo>
                  <a:close/>
                  <a:moveTo>
                    <a:pt x="4148" y="48"/>
                  </a:moveTo>
                  <a:cubicBezTo>
                    <a:pt x="4148" y="74"/>
                    <a:pt x="4126" y="96"/>
                    <a:pt x="4100" y="96"/>
                  </a:cubicBezTo>
                  <a:cubicBezTo>
                    <a:pt x="4073" y="96"/>
                    <a:pt x="4052" y="74"/>
                    <a:pt x="4052" y="48"/>
                  </a:cubicBezTo>
                  <a:cubicBezTo>
                    <a:pt x="4052" y="21"/>
                    <a:pt x="4073" y="0"/>
                    <a:pt x="4100" y="0"/>
                  </a:cubicBezTo>
                  <a:cubicBezTo>
                    <a:pt x="4126" y="0"/>
                    <a:pt x="4148" y="21"/>
                    <a:pt x="4148" y="48"/>
                  </a:cubicBezTo>
                  <a:close/>
                  <a:moveTo>
                    <a:pt x="4249" y="48"/>
                  </a:moveTo>
                  <a:cubicBezTo>
                    <a:pt x="4249" y="74"/>
                    <a:pt x="4227" y="96"/>
                    <a:pt x="4201" y="96"/>
                  </a:cubicBezTo>
                  <a:cubicBezTo>
                    <a:pt x="4174" y="96"/>
                    <a:pt x="4153" y="74"/>
                    <a:pt x="4153" y="48"/>
                  </a:cubicBezTo>
                  <a:cubicBezTo>
                    <a:pt x="4153" y="21"/>
                    <a:pt x="4174" y="0"/>
                    <a:pt x="4201" y="0"/>
                  </a:cubicBezTo>
                  <a:cubicBezTo>
                    <a:pt x="4227" y="0"/>
                    <a:pt x="4249" y="21"/>
                    <a:pt x="4249" y="48"/>
                  </a:cubicBezTo>
                  <a:close/>
                  <a:moveTo>
                    <a:pt x="4350" y="48"/>
                  </a:moveTo>
                  <a:cubicBezTo>
                    <a:pt x="4350" y="74"/>
                    <a:pt x="4328" y="96"/>
                    <a:pt x="4302" y="96"/>
                  </a:cubicBezTo>
                  <a:cubicBezTo>
                    <a:pt x="4275" y="96"/>
                    <a:pt x="4254" y="74"/>
                    <a:pt x="4254" y="48"/>
                  </a:cubicBezTo>
                  <a:cubicBezTo>
                    <a:pt x="4254" y="21"/>
                    <a:pt x="4275" y="0"/>
                    <a:pt x="4302" y="0"/>
                  </a:cubicBezTo>
                  <a:cubicBezTo>
                    <a:pt x="4328" y="0"/>
                    <a:pt x="4350" y="21"/>
                    <a:pt x="4350" y="48"/>
                  </a:cubicBezTo>
                  <a:close/>
                  <a:moveTo>
                    <a:pt x="4451" y="48"/>
                  </a:moveTo>
                  <a:cubicBezTo>
                    <a:pt x="4451" y="74"/>
                    <a:pt x="4429" y="96"/>
                    <a:pt x="4403" y="96"/>
                  </a:cubicBezTo>
                  <a:cubicBezTo>
                    <a:pt x="4376" y="96"/>
                    <a:pt x="4355" y="74"/>
                    <a:pt x="4355" y="48"/>
                  </a:cubicBezTo>
                  <a:cubicBezTo>
                    <a:pt x="4355" y="21"/>
                    <a:pt x="4376" y="0"/>
                    <a:pt x="4403" y="0"/>
                  </a:cubicBezTo>
                  <a:cubicBezTo>
                    <a:pt x="4429" y="0"/>
                    <a:pt x="4451" y="21"/>
                    <a:pt x="4451" y="48"/>
                  </a:cubicBezTo>
                  <a:close/>
                  <a:moveTo>
                    <a:pt x="4552" y="48"/>
                  </a:moveTo>
                  <a:cubicBezTo>
                    <a:pt x="4552" y="74"/>
                    <a:pt x="4530" y="96"/>
                    <a:pt x="4504" y="96"/>
                  </a:cubicBezTo>
                  <a:cubicBezTo>
                    <a:pt x="4477" y="96"/>
                    <a:pt x="4456" y="74"/>
                    <a:pt x="4456" y="48"/>
                  </a:cubicBezTo>
                  <a:cubicBezTo>
                    <a:pt x="4456" y="21"/>
                    <a:pt x="4477" y="0"/>
                    <a:pt x="4504" y="0"/>
                  </a:cubicBezTo>
                  <a:cubicBezTo>
                    <a:pt x="4530" y="0"/>
                    <a:pt x="4552" y="21"/>
                    <a:pt x="4552" y="48"/>
                  </a:cubicBezTo>
                  <a:close/>
                  <a:moveTo>
                    <a:pt x="4654" y="48"/>
                  </a:moveTo>
                  <a:cubicBezTo>
                    <a:pt x="4654" y="74"/>
                    <a:pt x="4632" y="96"/>
                    <a:pt x="4606" y="96"/>
                  </a:cubicBezTo>
                  <a:cubicBezTo>
                    <a:pt x="4579" y="96"/>
                    <a:pt x="4558" y="74"/>
                    <a:pt x="4558" y="48"/>
                  </a:cubicBezTo>
                  <a:cubicBezTo>
                    <a:pt x="4558" y="21"/>
                    <a:pt x="4579" y="0"/>
                    <a:pt x="4606" y="0"/>
                  </a:cubicBezTo>
                  <a:cubicBezTo>
                    <a:pt x="4632" y="0"/>
                    <a:pt x="4654" y="21"/>
                    <a:pt x="4654" y="48"/>
                  </a:cubicBezTo>
                  <a:close/>
                  <a:moveTo>
                    <a:pt x="4755" y="48"/>
                  </a:moveTo>
                  <a:cubicBezTo>
                    <a:pt x="4755" y="74"/>
                    <a:pt x="4733" y="96"/>
                    <a:pt x="4707" y="96"/>
                  </a:cubicBezTo>
                  <a:cubicBezTo>
                    <a:pt x="4680" y="96"/>
                    <a:pt x="4659" y="74"/>
                    <a:pt x="4659" y="48"/>
                  </a:cubicBezTo>
                  <a:cubicBezTo>
                    <a:pt x="4659" y="21"/>
                    <a:pt x="4680" y="0"/>
                    <a:pt x="4707" y="0"/>
                  </a:cubicBezTo>
                  <a:cubicBezTo>
                    <a:pt x="4733" y="0"/>
                    <a:pt x="4755" y="21"/>
                    <a:pt x="4755" y="48"/>
                  </a:cubicBezTo>
                  <a:close/>
                  <a:moveTo>
                    <a:pt x="4856" y="48"/>
                  </a:moveTo>
                  <a:cubicBezTo>
                    <a:pt x="4856" y="74"/>
                    <a:pt x="4834" y="96"/>
                    <a:pt x="4808" y="96"/>
                  </a:cubicBezTo>
                  <a:cubicBezTo>
                    <a:pt x="4781" y="96"/>
                    <a:pt x="4760" y="74"/>
                    <a:pt x="4760" y="48"/>
                  </a:cubicBezTo>
                  <a:cubicBezTo>
                    <a:pt x="4760" y="21"/>
                    <a:pt x="4781" y="0"/>
                    <a:pt x="4808" y="0"/>
                  </a:cubicBezTo>
                  <a:cubicBezTo>
                    <a:pt x="4834" y="0"/>
                    <a:pt x="4856" y="21"/>
                    <a:pt x="4856" y="48"/>
                  </a:cubicBezTo>
                  <a:close/>
                  <a:moveTo>
                    <a:pt x="4957" y="48"/>
                  </a:moveTo>
                  <a:cubicBezTo>
                    <a:pt x="4957" y="74"/>
                    <a:pt x="4935" y="96"/>
                    <a:pt x="4909" y="96"/>
                  </a:cubicBezTo>
                  <a:cubicBezTo>
                    <a:pt x="4882" y="96"/>
                    <a:pt x="4861" y="74"/>
                    <a:pt x="4861" y="48"/>
                  </a:cubicBezTo>
                  <a:cubicBezTo>
                    <a:pt x="4861" y="21"/>
                    <a:pt x="4882" y="0"/>
                    <a:pt x="4909" y="0"/>
                  </a:cubicBezTo>
                  <a:cubicBezTo>
                    <a:pt x="4935" y="0"/>
                    <a:pt x="4957" y="21"/>
                    <a:pt x="4957" y="48"/>
                  </a:cubicBezTo>
                  <a:close/>
                  <a:moveTo>
                    <a:pt x="5059" y="48"/>
                  </a:moveTo>
                  <a:cubicBezTo>
                    <a:pt x="5059" y="74"/>
                    <a:pt x="5037" y="96"/>
                    <a:pt x="5011" y="96"/>
                  </a:cubicBezTo>
                  <a:cubicBezTo>
                    <a:pt x="4984" y="96"/>
                    <a:pt x="4963" y="74"/>
                    <a:pt x="4963" y="48"/>
                  </a:cubicBezTo>
                  <a:cubicBezTo>
                    <a:pt x="4963" y="21"/>
                    <a:pt x="4984" y="0"/>
                    <a:pt x="5011" y="0"/>
                  </a:cubicBezTo>
                  <a:cubicBezTo>
                    <a:pt x="5037" y="0"/>
                    <a:pt x="5059" y="21"/>
                    <a:pt x="5059" y="48"/>
                  </a:cubicBezTo>
                  <a:close/>
                  <a:moveTo>
                    <a:pt x="5160" y="48"/>
                  </a:moveTo>
                  <a:cubicBezTo>
                    <a:pt x="5160" y="74"/>
                    <a:pt x="5138" y="96"/>
                    <a:pt x="5112" y="96"/>
                  </a:cubicBezTo>
                  <a:cubicBezTo>
                    <a:pt x="5085" y="96"/>
                    <a:pt x="5064" y="74"/>
                    <a:pt x="5064" y="48"/>
                  </a:cubicBezTo>
                  <a:cubicBezTo>
                    <a:pt x="5064" y="21"/>
                    <a:pt x="5085" y="0"/>
                    <a:pt x="5112" y="0"/>
                  </a:cubicBezTo>
                  <a:cubicBezTo>
                    <a:pt x="5138" y="0"/>
                    <a:pt x="5160" y="21"/>
                    <a:pt x="5160" y="48"/>
                  </a:cubicBezTo>
                  <a:close/>
                  <a:moveTo>
                    <a:pt x="5261" y="48"/>
                  </a:moveTo>
                  <a:cubicBezTo>
                    <a:pt x="5261" y="74"/>
                    <a:pt x="5239" y="96"/>
                    <a:pt x="5213" y="96"/>
                  </a:cubicBezTo>
                  <a:cubicBezTo>
                    <a:pt x="5186" y="96"/>
                    <a:pt x="5165" y="74"/>
                    <a:pt x="5165" y="48"/>
                  </a:cubicBezTo>
                  <a:cubicBezTo>
                    <a:pt x="5165" y="21"/>
                    <a:pt x="5186" y="0"/>
                    <a:pt x="5213" y="0"/>
                  </a:cubicBezTo>
                  <a:cubicBezTo>
                    <a:pt x="5239" y="0"/>
                    <a:pt x="5261" y="21"/>
                    <a:pt x="5261" y="48"/>
                  </a:cubicBezTo>
                  <a:close/>
                  <a:moveTo>
                    <a:pt x="5362" y="48"/>
                  </a:moveTo>
                  <a:cubicBezTo>
                    <a:pt x="5362" y="74"/>
                    <a:pt x="5340" y="96"/>
                    <a:pt x="5314" y="96"/>
                  </a:cubicBezTo>
                  <a:cubicBezTo>
                    <a:pt x="5287" y="96"/>
                    <a:pt x="5266" y="74"/>
                    <a:pt x="5266" y="48"/>
                  </a:cubicBezTo>
                  <a:cubicBezTo>
                    <a:pt x="5266" y="21"/>
                    <a:pt x="5287" y="0"/>
                    <a:pt x="5314" y="0"/>
                  </a:cubicBezTo>
                  <a:cubicBezTo>
                    <a:pt x="5340" y="0"/>
                    <a:pt x="5362" y="21"/>
                    <a:pt x="5362" y="48"/>
                  </a:cubicBezTo>
                  <a:close/>
                  <a:moveTo>
                    <a:pt x="5464" y="48"/>
                  </a:moveTo>
                  <a:cubicBezTo>
                    <a:pt x="5464" y="74"/>
                    <a:pt x="5442" y="96"/>
                    <a:pt x="5416" y="96"/>
                  </a:cubicBezTo>
                  <a:cubicBezTo>
                    <a:pt x="5389" y="96"/>
                    <a:pt x="5368" y="74"/>
                    <a:pt x="5368" y="48"/>
                  </a:cubicBezTo>
                  <a:cubicBezTo>
                    <a:pt x="5368" y="21"/>
                    <a:pt x="5389" y="0"/>
                    <a:pt x="5416" y="0"/>
                  </a:cubicBezTo>
                  <a:cubicBezTo>
                    <a:pt x="5442" y="0"/>
                    <a:pt x="5464" y="21"/>
                    <a:pt x="5464" y="48"/>
                  </a:cubicBezTo>
                  <a:close/>
                  <a:moveTo>
                    <a:pt x="5565" y="48"/>
                  </a:moveTo>
                  <a:cubicBezTo>
                    <a:pt x="5565" y="74"/>
                    <a:pt x="5543" y="96"/>
                    <a:pt x="5517" y="96"/>
                  </a:cubicBezTo>
                  <a:cubicBezTo>
                    <a:pt x="5490" y="96"/>
                    <a:pt x="5469" y="74"/>
                    <a:pt x="5469" y="48"/>
                  </a:cubicBezTo>
                  <a:cubicBezTo>
                    <a:pt x="5469" y="21"/>
                    <a:pt x="5490" y="0"/>
                    <a:pt x="5517" y="0"/>
                  </a:cubicBezTo>
                  <a:cubicBezTo>
                    <a:pt x="5543" y="0"/>
                    <a:pt x="5565" y="21"/>
                    <a:pt x="5565" y="48"/>
                  </a:cubicBezTo>
                  <a:close/>
                  <a:moveTo>
                    <a:pt x="5666" y="48"/>
                  </a:moveTo>
                  <a:cubicBezTo>
                    <a:pt x="5666" y="74"/>
                    <a:pt x="5644" y="96"/>
                    <a:pt x="5618" y="96"/>
                  </a:cubicBezTo>
                  <a:cubicBezTo>
                    <a:pt x="5591" y="96"/>
                    <a:pt x="5570" y="74"/>
                    <a:pt x="5570" y="48"/>
                  </a:cubicBezTo>
                  <a:cubicBezTo>
                    <a:pt x="5570" y="21"/>
                    <a:pt x="5591" y="0"/>
                    <a:pt x="5618" y="0"/>
                  </a:cubicBezTo>
                  <a:cubicBezTo>
                    <a:pt x="5644" y="0"/>
                    <a:pt x="5666" y="21"/>
                    <a:pt x="5666" y="48"/>
                  </a:cubicBezTo>
                  <a:close/>
                  <a:moveTo>
                    <a:pt x="5767" y="48"/>
                  </a:moveTo>
                  <a:cubicBezTo>
                    <a:pt x="5767" y="74"/>
                    <a:pt x="5745" y="96"/>
                    <a:pt x="5719" y="96"/>
                  </a:cubicBezTo>
                  <a:cubicBezTo>
                    <a:pt x="5692" y="96"/>
                    <a:pt x="5671" y="74"/>
                    <a:pt x="5671" y="48"/>
                  </a:cubicBezTo>
                  <a:cubicBezTo>
                    <a:pt x="5671" y="21"/>
                    <a:pt x="5692" y="0"/>
                    <a:pt x="5719" y="0"/>
                  </a:cubicBezTo>
                  <a:cubicBezTo>
                    <a:pt x="5745" y="0"/>
                    <a:pt x="5767" y="21"/>
                    <a:pt x="5767" y="48"/>
                  </a:cubicBezTo>
                  <a:close/>
                  <a:moveTo>
                    <a:pt x="5868" y="48"/>
                  </a:moveTo>
                  <a:cubicBezTo>
                    <a:pt x="5868" y="74"/>
                    <a:pt x="5846" y="96"/>
                    <a:pt x="5820" y="96"/>
                  </a:cubicBezTo>
                  <a:cubicBezTo>
                    <a:pt x="5793" y="96"/>
                    <a:pt x="5772" y="74"/>
                    <a:pt x="5772" y="48"/>
                  </a:cubicBezTo>
                  <a:cubicBezTo>
                    <a:pt x="5772" y="21"/>
                    <a:pt x="5793" y="0"/>
                    <a:pt x="5820" y="0"/>
                  </a:cubicBezTo>
                  <a:cubicBezTo>
                    <a:pt x="5846" y="0"/>
                    <a:pt x="5868" y="21"/>
                    <a:pt x="5868" y="48"/>
                  </a:cubicBezTo>
                  <a:close/>
                  <a:moveTo>
                    <a:pt x="5970" y="48"/>
                  </a:moveTo>
                  <a:cubicBezTo>
                    <a:pt x="5970" y="74"/>
                    <a:pt x="5948" y="96"/>
                    <a:pt x="5922" y="96"/>
                  </a:cubicBezTo>
                  <a:cubicBezTo>
                    <a:pt x="5895" y="96"/>
                    <a:pt x="5874" y="74"/>
                    <a:pt x="5874" y="48"/>
                  </a:cubicBezTo>
                  <a:cubicBezTo>
                    <a:pt x="5874" y="21"/>
                    <a:pt x="5895" y="0"/>
                    <a:pt x="5922" y="0"/>
                  </a:cubicBezTo>
                  <a:cubicBezTo>
                    <a:pt x="5948" y="0"/>
                    <a:pt x="5970" y="21"/>
                    <a:pt x="5970" y="48"/>
                  </a:cubicBezTo>
                  <a:close/>
                  <a:moveTo>
                    <a:pt x="6071" y="48"/>
                  </a:moveTo>
                  <a:cubicBezTo>
                    <a:pt x="6071" y="74"/>
                    <a:pt x="6049" y="96"/>
                    <a:pt x="6023" y="96"/>
                  </a:cubicBezTo>
                  <a:cubicBezTo>
                    <a:pt x="5996" y="96"/>
                    <a:pt x="5975" y="74"/>
                    <a:pt x="5975" y="48"/>
                  </a:cubicBezTo>
                  <a:cubicBezTo>
                    <a:pt x="5975" y="21"/>
                    <a:pt x="5996" y="0"/>
                    <a:pt x="6023" y="0"/>
                  </a:cubicBezTo>
                  <a:cubicBezTo>
                    <a:pt x="6049" y="0"/>
                    <a:pt x="6071" y="21"/>
                    <a:pt x="6071" y="48"/>
                  </a:cubicBezTo>
                  <a:close/>
                  <a:moveTo>
                    <a:pt x="6172" y="48"/>
                  </a:moveTo>
                  <a:cubicBezTo>
                    <a:pt x="6172" y="74"/>
                    <a:pt x="6150" y="96"/>
                    <a:pt x="6124" y="96"/>
                  </a:cubicBezTo>
                  <a:cubicBezTo>
                    <a:pt x="6097" y="96"/>
                    <a:pt x="6076" y="74"/>
                    <a:pt x="6076" y="48"/>
                  </a:cubicBezTo>
                  <a:cubicBezTo>
                    <a:pt x="6076" y="21"/>
                    <a:pt x="6097" y="0"/>
                    <a:pt x="6124" y="0"/>
                  </a:cubicBezTo>
                  <a:cubicBezTo>
                    <a:pt x="6150" y="0"/>
                    <a:pt x="6172" y="21"/>
                    <a:pt x="6172" y="48"/>
                  </a:cubicBezTo>
                  <a:close/>
                  <a:moveTo>
                    <a:pt x="6273" y="48"/>
                  </a:moveTo>
                  <a:cubicBezTo>
                    <a:pt x="6273" y="74"/>
                    <a:pt x="6251" y="96"/>
                    <a:pt x="6225" y="96"/>
                  </a:cubicBezTo>
                  <a:cubicBezTo>
                    <a:pt x="6198" y="96"/>
                    <a:pt x="6177" y="74"/>
                    <a:pt x="6177" y="48"/>
                  </a:cubicBezTo>
                  <a:cubicBezTo>
                    <a:pt x="6177" y="21"/>
                    <a:pt x="6198" y="0"/>
                    <a:pt x="6225" y="0"/>
                  </a:cubicBezTo>
                  <a:cubicBezTo>
                    <a:pt x="6251" y="0"/>
                    <a:pt x="6273" y="21"/>
                    <a:pt x="6273" y="48"/>
                  </a:cubicBezTo>
                  <a:close/>
                  <a:moveTo>
                    <a:pt x="6375" y="48"/>
                  </a:moveTo>
                  <a:cubicBezTo>
                    <a:pt x="6375" y="74"/>
                    <a:pt x="6353" y="96"/>
                    <a:pt x="6327" y="96"/>
                  </a:cubicBezTo>
                  <a:cubicBezTo>
                    <a:pt x="6300" y="96"/>
                    <a:pt x="6279" y="74"/>
                    <a:pt x="6279" y="48"/>
                  </a:cubicBezTo>
                  <a:cubicBezTo>
                    <a:pt x="6279" y="21"/>
                    <a:pt x="6300" y="0"/>
                    <a:pt x="6327" y="0"/>
                  </a:cubicBezTo>
                  <a:cubicBezTo>
                    <a:pt x="6353" y="0"/>
                    <a:pt x="6375" y="21"/>
                    <a:pt x="6375" y="48"/>
                  </a:cubicBezTo>
                  <a:close/>
                  <a:moveTo>
                    <a:pt x="6476" y="48"/>
                  </a:moveTo>
                  <a:cubicBezTo>
                    <a:pt x="6476" y="74"/>
                    <a:pt x="6454" y="96"/>
                    <a:pt x="6428" y="96"/>
                  </a:cubicBezTo>
                  <a:cubicBezTo>
                    <a:pt x="6401" y="96"/>
                    <a:pt x="6380" y="74"/>
                    <a:pt x="6380" y="48"/>
                  </a:cubicBezTo>
                  <a:cubicBezTo>
                    <a:pt x="6380" y="21"/>
                    <a:pt x="6401" y="0"/>
                    <a:pt x="6428" y="0"/>
                  </a:cubicBezTo>
                  <a:cubicBezTo>
                    <a:pt x="6454" y="0"/>
                    <a:pt x="6476" y="21"/>
                    <a:pt x="6476" y="48"/>
                  </a:cubicBezTo>
                  <a:close/>
                  <a:moveTo>
                    <a:pt x="6577" y="48"/>
                  </a:moveTo>
                  <a:cubicBezTo>
                    <a:pt x="6577" y="74"/>
                    <a:pt x="6555" y="96"/>
                    <a:pt x="6529" y="96"/>
                  </a:cubicBezTo>
                  <a:cubicBezTo>
                    <a:pt x="6502" y="96"/>
                    <a:pt x="6481" y="74"/>
                    <a:pt x="6481" y="48"/>
                  </a:cubicBezTo>
                  <a:cubicBezTo>
                    <a:pt x="6481" y="21"/>
                    <a:pt x="6502" y="0"/>
                    <a:pt x="6529" y="0"/>
                  </a:cubicBezTo>
                  <a:cubicBezTo>
                    <a:pt x="6555" y="0"/>
                    <a:pt x="6577" y="21"/>
                    <a:pt x="6577" y="48"/>
                  </a:cubicBezTo>
                  <a:close/>
                  <a:moveTo>
                    <a:pt x="6678" y="48"/>
                  </a:moveTo>
                  <a:cubicBezTo>
                    <a:pt x="6678" y="74"/>
                    <a:pt x="6656" y="96"/>
                    <a:pt x="6630" y="96"/>
                  </a:cubicBezTo>
                  <a:cubicBezTo>
                    <a:pt x="6603" y="96"/>
                    <a:pt x="6582" y="74"/>
                    <a:pt x="6582" y="48"/>
                  </a:cubicBezTo>
                  <a:cubicBezTo>
                    <a:pt x="6582" y="21"/>
                    <a:pt x="6603" y="0"/>
                    <a:pt x="6630" y="0"/>
                  </a:cubicBezTo>
                  <a:cubicBezTo>
                    <a:pt x="6656" y="0"/>
                    <a:pt x="6678" y="21"/>
                    <a:pt x="6678" y="48"/>
                  </a:cubicBezTo>
                  <a:close/>
                  <a:moveTo>
                    <a:pt x="6780" y="48"/>
                  </a:moveTo>
                  <a:cubicBezTo>
                    <a:pt x="6780" y="74"/>
                    <a:pt x="6758" y="96"/>
                    <a:pt x="6732" y="96"/>
                  </a:cubicBezTo>
                  <a:cubicBezTo>
                    <a:pt x="6705" y="96"/>
                    <a:pt x="6684" y="74"/>
                    <a:pt x="6684" y="48"/>
                  </a:cubicBezTo>
                  <a:cubicBezTo>
                    <a:pt x="6684" y="21"/>
                    <a:pt x="6705" y="0"/>
                    <a:pt x="6732" y="0"/>
                  </a:cubicBezTo>
                  <a:cubicBezTo>
                    <a:pt x="6758" y="0"/>
                    <a:pt x="6780" y="21"/>
                    <a:pt x="6780" y="48"/>
                  </a:cubicBezTo>
                  <a:close/>
                  <a:moveTo>
                    <a:pt x="6881" y="48"/>
                  </a:moveTo>
                  <a:cubicBezTo>
                    <a:pt x="6881" y="74"/>
                    <a:pt x="6859" y="96"/>
                    <a:pt x="6833" y="96"/>
                  </a:cubicBezTo>
                  <a:cubicBezTo>
                    <a:pt x="6806" y="96"/>
                    <a:pt x="6785" y="74"/>
                    <a:pt x="6785" y="48"/>
                  </a:cubicBezTo>
                  <a:cubicBezTo>
                    <a:pt x="6785" y="21"/>
                    <a:pt x="6806" y="0"/>
                    <a:pt x="6833" y="0"/>
                  </a:cubicBezTo>
                  <a:cubicBezTo>
                    <a:pt x="6859" y="0"/>
                    <a:pt x="6881" y="21"/>
                    <a:pt x="6881" y="48"/>
                  </a:cubicBezTo>
                  <a:close/>
                  <a:moveTo>
                    <a:pt x="6982" y="48"/>
                  </a:moveTo>
                  <a:cubicBezTo>
                    <a:pt x="6982" y="74"/>
                    <a:pt x="6960" y="96"/>
                    <a:pt x="6934" y="96"/>
                  </a:cubicBezTo>
                  <a:cubicBezTo>
                    <a:pt x="6907" y="96"/>
                    <a:pt x="6886" y="74"/>
                    <a:pt x="6886" y="48"/>
                  </a:cubicBezTo>
                  <a:cubicBezTo>
                    <a:pt x="6886" y="21"/>
                    <a:pt x="6907" y="0"/>
                    <a:pt x="6934" y="0"/>
                  </a:cubicBezTo>
                  <a:cubicBezTo>
                    <a:pt x="6960" y="0"/>
                    <a:pt x="6982" y="21"/>
                    <a:pt x="6982" y="48"/>
                  </a:cubicBezTo>
                  <a:close/>
                  <a:moveTo>
                    <a:pt x="7083" y="48"/>
                  </a:moveTo>
                  <a:cubicBezTo>
                    <a:pt x="7083" y="74"/>
                    <a:pt x="7061" y="96"/>
                    <a:pt x="7035" y="96"/>
                  </a:cubicBezTo>
                  <a:cubicBezTo>
                    <a:pt x="7008" y="96"/>
                    <a:pt x="6987" y="74"/>
                    <a:pt x="6987" y="48"/>
                  </a:cubicBezTo>
                  <a:cubicBezTo>
                    <a:pt x="6987" y="21"/>
                    <a:pt x="7008" y="0"/>
                    <a:pt x="7035" y="0"/>
                  </a:cubicBezTo>
                  <a:cubicBezTo>
                    <a:pt x="7061" y="0"/>
                    <a:pt x="7083" y="21"/>
                    <a:pt x="7083" y="48"/>
                  </a:cubicBezTo>
                  <a:close/>
                  <a:moveTo>
                    <a:pt x="7185" y="48"/>
                  </a:moveTo>
                  <a:cubicBezTo>
                    <a:pt x="7185" y="74"/>
                    <a:pt x="7163" y="96"/>
                    <a:pt x="7137" y="96"/>
                  </a:cubicBezTo>
                  <a:cubicBezTo>
                    <a:pt x="7110" y="96"/>
                    <a:pt x="7089" y="74"/>
                    <a:pt x="7089" y="48"/>
                  </a:cubicBezTo>
                  <a:cubicBezTo>
                    <a:pt x="7089" y="21"/>
                    <a:pt x="7110" y="0"/>
                    <a:pt x="7137" y="0"/>
                  </a:cubicBezTo>
                  <a:cubicBezTo>
                    <a:pt x="7163" y="0"/>
                    <a:pt x="7185" y="21"/>
                    <a:pt x="7185" y="48"/>
                  </a:cubicBezTo>
                  <a:close/>
                  <a:moveTo>
                    <a:pt x="7286" y="48"/>
                  </a:moveTo>
                  <a:cubicBezTo>
                    <a:pt x="7286" y="74"/>
                    <a:pt x="7264" y="96"/>
                    <a:pt x="7238" y="96"/>
                  </a:cubicBezTo>
                  <a:cubicBezTo>
                    <a:pt x="7211" y="96"/>
                    <a:pt x="7190" y="74"/>
                    <a:pt x="7190" y="48"/>
                  </a:cubicBezTo>
                  <a:cubicBezTo>
                    <a:pt x="7190" y="21"/>
                    <a:pt x="7211" y="0"/>
                    <a:pt x="7238" y="0"/>
                  </a:cubicBezTo>
                  <a:cubicBezTo>
                    <a:pt x="7264" y="0"/>
                    <a:pt x="7286" y="21"/>
                    <a:pt x="7286" y="48"/>
                  </a:cubicBezTo>
                  <a:close/>
                  <a:moveTo>
                    <a:pt x="7387" y="48"/>
                  </a:moveTo>
                  <a:cubicBezTo>
                    <a:pt x="7387" y="74"/>
                    <a:pt x="7365" y="96"/>
                    <a:pt x="7339" y="96"/>
                  </a:cubicBezTo>
                  <a:cubicBezTo>
                    <a:pt x="7312" y="96"/>
                    <a:pt x="7291" y="74"/>
                    <a:pt x="7291" y="48"/>
                  </a:cubicBezTo>
                  <a:cubicBezTo>
                    <a:pt x="7291" y="21"/>
                    <a:pt x="7312" y="0"/>
                    <a:pt x="7339" y="0"/>
                  </a:cubicBezTo>
                  <a:cubicBezTo>
                    <a:pt x="7365" y="0"/>
                    <a:pt x="7387" y="21"/>
                    <a:pt x="7387" y="48"/>
                  </a:cubicBezTo>
                  <a:close/>
                  <a:moveTo>
                    <a:pt x="7488" y="48"/>
                  </a:moveTo>
                  <a:cubicBezTo>
                    <a:pt x="7488" y="74"/>
                    <a:pt x="7466" y="96"/>
                    <a:pt x="7440" y="96"/>
                  </a:cubicBezTo>
                  <a:cubicBezTo>
                    <a:pt x="7413" y="96"/>
                    <a:pt x="7392" y="74"/>
                    <a:pt x="7392" y="48"/>
                  </a:cubicBezTo>
                  <a:cubicBezTo>
                    <a:pt x="7392" y="21"/>
                    <a:pt x="7413" y="0"/>
                    <a:pt x="7440" y="0"/>
                  </a:cubicBezTo>
                  <a:cubicBezTo>
                    <a:pt x="7466" y="0"/>
                    <a:pt x="7488" y="21"/>
                    <a:pt x="7488" y="48"/>
                  </a:cubicBezTo>
                  <a:close/>
                  <a:moveTo>
                    <a:pt x="7589" y="48"/>
                  </a:moveTo>
                  <a:cubicBezTo>
                    <a:pt x="7589" y="74"/>
                    <a:pt x="7567" y="96"/>
                    <a:pt x="7541" y="96"/>
                  </a:cubicBezTo>
                  <a:cubicBezTo>
                    <a:pt x="7514" y="96"/>
                    <a:pt x="7493" y="74"/>
                    <a:pt x="7493" y="48"/>
                  </a:cubicBezTo>
                  <a:cubicBezTo>
                    <a:pt x="7493" y="21"/>
                    <a:pt x="7514" y="0"/>
                    <a:pt x="7541" y="0"/>
                  </a:cubicBezTo>
                  <a:cubicBezTo>
                    <a:pt x="7567" y="0"/>
                    <a:pt x="7589" y="21"/>
                    <a:pt x="7589" y="48"/>
                  </a:cubicBezTo>
                  <a:close/>
                  <a:moveTo>
                    <a:pt x="7691" y="48"/>
                  </a:moveTo>
                  <a:cubicBezTo>
                    <a:pt x="7691" y="74"/>
                    <a:pt x="7669" y="96"/>
                    <a:pt x="7643" y="96"/>
                  </a:cubicBezTo>
                  <a:cubicBezTo>
                    <a:pt x="7616" y="96"/>
                    <a:pt x="7595" y="74"/>
                    <a:pt x="7595" y="48"/>
                  </a:cubicBezTo>
                  <a:cubicBezTo>
                    <a:pt x="7595" y="21"/>
                    <a:pt x="7616" y="0"/>
                    <a:pt x="7643" y="0"/>
                  </a:cubicBezTo>
                  <a:cubicBezTo>
                    <a:pt x="7669" y="0"/>
                    <a:pt x="7691" y="21"/>
                    <a:pt x="7691" y="48"/>
                  </a:cubicBezTo>
                  <a:close/>
                  <a:moveTo>
                    <a:pt x="7792" y="48"/>
                  </a:moveTo>
                  <a:cubicBezTo>
                    <a:pt x="7792" y="74"/>
                    <a:pt x="7770" y="96"/>
                    <a:pt x="7744" y="96"/>
                  </a:cubicBezTo>
                  <a:cubicBezTo>
                    <a:pt x="7717" y="96"/>
                    <a:pt x="7696" y="74"/>
                    <a:pt x="7696" y="48"/>
                  </a:cubicBezTo>
                  <a:cubicBezTo>
                    <a:pt x="7696" y="21"/>
                    <a:pt x="7717" y="0"/>
                    <a:pt x="7744" y="0"/>
                  </a:cubicBezTo>
                  <a:cubicBezTo>
                    <a:pt x="7770" y="0"/>
                    <a:pt x="7792" y="21"/>
                    <a:pt x="7792" y="48"/>
                  </a:cubicBezTo>
                  <a:close/>
                  <a:moveTo>
                    <a:pt x="7893" y="48"/>
                  </a:moveTo>
                  <a:cubicBezTo>
                    <a:pt x="7893" y="74"/>
                    <a:pt x="7871" y="96"/>
                    <a:pt x="7845" y="96"/>
                  </a:cubicBezTo>
                  <a:cubicBezTo>
                    <a:pt x="7818" y="96"/>
                    <a:pt x="7797" y="74"/>
                    <a:pt x="7797" y="48"/>
                  </a:cubicBezTo>
                  <a:cubicBezTo>
                    <a:pt x="7797" y="21"/>
                    <a:pt x="7818" y="0"/>
                    <a:pt x="7845" y="0"/>
                  </a:cubicBezTo>
                  <a:cubicBezTo>
                    <a:pt x="7871" y="0"/>
                    <a:pt x="7893" y="21"/>
                    <a:pt x="7893" y="48"/>
                  </a:cubicBezTo>
                  <a:close/>
                  <a:moveTo>
                    <a:pt x="7994" y="48"/>
                  </a:moveTo>
                  <a:cubicBezTo>
                    <a:pt x="7994" y="74"/>
                    <a:pt x="7972" y="96"/>
                    <a:pt x="7946" y="96"/>
                  </a:cubicBezTo>
                  <a:cubicBezTo>
                    <a:pt x="7919" y="96"/>
                    <a:pt x="7898" y="74"/>
                    <a:pt x="7898" y="48"/>
                  </a:cubicBezTo>
                  <a:cubicBezTo>
                    <a:pt x="7898" y="21"/>
                    <a:pt x="7919" y="0"/>
                    <a:pt x="7946" y="0"/>
                  </a:cubicBezTo>
                  <a:cubicBezTo>
                    <a:pt x="7972" y="0"/>
                    <a:pt x="7994" y="21"/>
                    <a:pt x="7994" y="48"/>
                  </a:cubicBezTo>
                  <a:close/>
                  <a:moveTo>
                    <a:pt x="8096" y="48"/>
                  </a:moveTo>
                  <a:cubicBezTo>
                    <a:pt x="8096" y="74"/>
                    <a:pt x="8074" y="96"/>
                    <a:pt x="8048" y="96"/>
                  </a:cubicBezTo>
                  <a:cubicBezTo>
                    <a:pt x="8021" y="96"/>
                    <a:pt x="8000" y="74"/>
                    <a:pt x="8000" y="48"/>
                  </a:cubicBezTo>
                  <a:cubicBezTo>
                    <a:pt x="8000" y="21"/>
                    <a:pt x="8021" y="0"/>
                    <a:pt x="8048" y="0"/>
                  </a:cubicBezTo>
                  <a:cubicBezTo>
                    <a:pt x="8074" y="0"/>
                    <a:pt x="8096" y="21"/>
                    <a:pt x="8096" y="48"/>
                  </a:cubicBezTo>
                  <a:close/>
                  <a:moveTo>
                    <a:pt x="8197" y="48"/>
                  </a:moveTo>
                  <a:cubicBezTo>
                    <a:pt x="8197" y="74"/>
                    <a:pt x="8175" y="96"/>
                    <a:pt x="8149" y="96"/>
                  </a:cubicBezTo>
                  <a:cubicBezTo>
                    <a:pt x="8122" y="96"/>
                    <a:pt x="8101" y="74"/>
                    <a:pt x="8101" y="48"/>
                  </a:cubicBezTo>
                  <a:cubicBezTo>
                    <a:pt x="8101" y="21"/>
                    <a:pt x="8122" y="0"/>
                    <a:pt x="8149" y="0"/>
                  </a:cubicBezTo>
                  <a:cubicBezTo>
                    <a:pt x="8175" y="0"/>
                    <a:pt x="8197" y="21"/>
                    <a:pt x="8197" y="48"/>
                  </a:cubicBezTo>
                  <a:close/>
                  <a:moveTo>
                    <a:pt x="98" y="402"/>
                  </a:moveTo>
                  <a:cubicBezTo>
                    <a:pt x="98" y="428"/>
                    <a:pt x="76" y="450"/>
                    <a:pt x="50" y="450"/>
                  </a:cubicBezTo>
                  <a:cubicBezTo>
                    <a:pt x="23" y="450"/>
                    <a:pt x="2" y="428"/>
                    <a:pt x="2" y="402"/>
                  </a:cubicBezTo>
                  <a:cubicBezTo>
                    <a:pt x="2" y="375"/>
                    <a:pt x="23" y="354"/>
                    <a:pt x="50" y="354"/>
                  </a:cubicBezTo>
                  <a:cubicBezTo>
                    <a:pt x="76" y="354"/>
                    <a:pt x="98" y="375"/>
                    <a:pt x="98" y="402"/>
                  </a:cubicBezTo>
                  <a:close/>
                  <a:moveTo>
                    <a:pt x="199" y="402"/>
                  </a:moveTo>
                  <a:cubicBezTo>
                    <a:pt x="199" y="428"/>
                    <a:pt x="177" y="450"/>
                    <a:pt x="151" y="450"/>
                  </a:cubicBezTo>
                  <a:cubicBezTo>
                    <a:pt x="124" y="450"/>
                    <a:pt x="103" y="428"/>
                    <a:pt x="103" y="402"/>
                  </a:cubicBezTo>
                  <a:cubicBezTo>
                    <a:pt x="103" y="375"/>
                    <a:pt x="124" y="354"/>
                    <a:pt x="151" y="354"/>
                  </a:cubicBezTo>
                  <a:cubicBezTo>
                    <a:pt x="177" y="354"/>
                    <a:pt x="199" y="375"/>
                    <a:pt x="199" y="402"/>
                  </a:cubicBezTo>
                  <a:close/>
                  <a:moveTo>
                    <a:pt x="301" y="402"/>
                  </a:moveTo>
                  <a:cubicBezTo>
                    <a:pt x="301" y="428"/>
                    <a:pt x="279" y="450"/>
                    <a:pt x="253" y="450"/>
                  </a:cubicBezTo>
                  <a:cubicBezTo>
                    <a:pt x="226" y="450"/>
                    <a:pt x="205" y="428"/>
                    <a:pt x="205" y="402"/>
                  </a:cubicBezTo>
                  <a:cubicBezTo>
                    <a:pt x="205" y="375"/>
                    <a:pt x="226" y="354"/>
                    <a:pt x="253" y="354"/>
                  </a:cubicBezTo>
                  <a:cubicBezTo>
                    <a:pt x="279" y="354"/>
                    <a:pt x="301" y="375"/>
                    <a:pt x="301" y="402"/>
                  </a:cubicBezTo>
                  <a:close/>
                  <a:moveTo>
                    <a:pt x="402" y="402"/>
                  </a:moveTo>
                  <a:cubicBezTo>
                    <a:pt x="402" y="428"/>
                    <a:pt x="380" y="450"/>
                    <a:pt x="354" y="450"/>
                  </a:cubicBezTo>
                  <a:cubicBezTo>
                    <a:pt x="327" y="450"/>
                    <a:pt x="306" y="428"/>
                    <a:pt x="306" y="402"/>
                  </a:cubicBezTo>
                  <a:cubicBezTo>
                    <a:pt x="306" y="375"/>
                    <a:pt x="327" y="354"/>
                    <a:pt x="354" y="354"/>
                  </a:cubicBezTo>
                  <a:cubicBezTo>
                    <a:pt x="380" y="354"/>
                    <a:pt x="402" y="375"/>
                    <a:pt x="402" y="402"/>
                  </a:cubicBezTo>
                  <a:close/>
                  <a:moveTo>
                    <a:pt x="503" y="402"/>
                  </a:moveTo>
                  <a:cubicBezTo>
                    <a:pt x="503" y="428"/>
                    <a:pt x="481" y="450"/>
                    <a:pt x="455" y="450"/>
                  </a:cubicBezTo>
                  <a:cubicBezTo>
                    <a:pt x="428" y="450"/>
                    <a:pt x="407" y="428"/>
                    <a:pt x="407" y="402"/>
                  </a:cubicBezTo>
                  <a:cubicBezTo>
                    <a:pt x="407" y="375"/>
                    <a:pt x="428" y="354"/>
                    <a:pt x="455" y="354"/>
                  </a:cubicBezTo>
                  <a:cubicBezTo>
                    <a:pt x="481" y="354"/>
                    <a:pt x="503" y="375"/>
                    <a:pt x="503" y="402"/>
                  </a:cubicBezTo>
                  <a:close/>
                  <a:moveTo>
                    <a:pt x="604" y="402"/>
                  </a:moveTo>
                  <a:cubicBezTo>
                    <a:pt x="604" y="428"/>
                    <a:pt x="582" y="450"/>
                    <a:pt x="556" y="450"/>
                  </a:cubicBezTo>
                  <a:cubicBezTo>
                    <a:pt x="529" y="450"/>
                    <a:pt x="508" y="428"/>
                    <a:pt x="508" y="402"/>
                  </a:cubicBezTo>
                  <a:cubicBezTo>
                    <a:pt x="508" y="375"/>
                    <a:pt x="529" y="354"/>
                    <a:pt x="556" y="354"/>
                  </a:cubicBezTo>
                  <a:cubicBezTo>
                    <a:pt x="582" y="354"/>
                    <a:pt x="604" y="375"/>
                    <a:pt x="604" y="402"/>
                  </a:cubicBezTo>
                  <a:close/>
                  <a:moveTo>
                    <a:pt x="706" y="402"/>
                  </a:moveTo>
                  <a:cubicBezTo>
                    <a:pt x="706" y="428"/>
                    <a:pt x="684" y="450"/>
                    <a:pt x="658" y="450"/>
                  </a:cubicBezTo>
                  <a:cubicBezTo>
                    <a:pt x="631" y="450"/>
                    <a:pt x="610" y="428"/>
                    <a:pt x="610" y="402"/>
                  </a:cubicBezTo>
                  <a:cubicBezTo>
                    <a:pt x="610" y="375"/>
                    <a:pt x="631" y="354"/>
                    <a:pt x="658" y="354"/>
                  </a:cubicBezTo>
                  <a:cubicBezTo>
                    <a:pt x="684" y="354"/>
                    <a:pt x="706" y="375"/>
                    <a:pt x="706" y="402"/>
                  </a:cubicBezTo>
                  <a:close/>
                  <a:moveTo>
                    <a:pt x="807" y="402"/>
                  </a:moveTo>
                  <a:cubicBezTo>
                    <a:pt x="807" y="428"/>
                    <a:pt x="785" y="450"/>
                    <a:pt x="759" y="450"/>
                  </a:cubicBezTo>
                  <a:cubicBezTo>
                    <a:pt x="732" y="450"/>
                    <a:pt x="711" y="428"/>
                    <a:pt x="711" y="402"/>
                  </a:cubicBezTo>
                  <a:cubicBezTo>
                    <a:pt x="711" y="375"/>
                    <a:pt x="732" y="354"/>
                    <a:pt x="759" y="354"/>
                  </a:cubicBezTo>
                  <a:cubicBezTo>
                    <a:pt x="785" y="354"/>
                    <a:pt x="807" y="375"/>
                    <a:pt x="807" y="402"/>
                  </a:cubicBezTo>
                  <a:close/>
                  <a:moveTo>
                    <a:pt x="908" y="402"/>
                  </a:moveTo>
                  <a:cubicBezTo>
                    <a:pt x="908" y="428"/>
                    <a:pt x="886" y="450"/>
                    <a:pt x="860" y="450"/>
                  </a:cubicBezTo>
                  <a:cubicBezTo>
                    <a:pt x="833" y="450"/>
                    <a:pt x="812" y="428"/>
                    <a:pt x="812" y="402"/>
                  </a:cubicBezTo>
                  <a:cubicBezTo>
                    <a:pt x="812" y="375"/>
                    <a:pt x="833" y="354"/>
                    <a:pt x="860" y="354"/>
                  </a:cubicBezTo>
                  <a:cubicBezTo>
                    <a:pt x="886" y="354"/>
                    <a:pt x="908" y="375"/>
                    <a:pt x="908" y="402"/>
                  </a:cubicBezTo>
                  <a:close/>
                  <a:moveTo>
                    <a:pt x="1009" y="402"/>
                  </a:moveTo>
                  <a:cubicBezTo>
                    <a:pt x="1009" y="428"/>
                    <a:pt x="987" y="450"/>
                    <a:pt x="961" y="450"/>
                  </a:cubicBezTo>
                  <a:cubicBezTo>
                    <a:pt x="934" y="450"/>
                    <a:pt x="913" y="428"/>
                    <a:pt x="913" y="402"/>
                  </a:cubicBezTo>
                  <a:cubicBezTo>
                    <a:pt x="913" y="375"/>
                    <a:pt x="934" y="354"/>
                    <a:pt x="961" y="354"/>
                  </a:cubicBezTo>
                  <a:cubicBezTo>
                    <a:pt x="987" y="354"/>
                    <a:pt x="1009" y="375"/>
                    <a:pt x="1009" y="402"/>
                  </a:cubicBezTo>
                  <a:close/>
                  <a:moveTo>
                    <a:pt x="1110" y="402"/>
                  </a:moveTo>
                  <a:cubicBezTo>
                    <a:pt x="1110" y="428"/>
                    <a:pt x="1088" y="450"/>
                    <a:pt x="1062" y="450"/>
                  </a:cubicBezTo>
                  <a:cubicBezTo>
                    <a:pt x="1035" y="450"/>
                    <a:pt x="1014" y="428"/>
                    <a:pt x="1014" y="402"/>
                  </a:cubicBezTo>
                  <a:cubicBezTo>
                    <a:pt x="1014" y="375"/>
                    <a:pt x="1035" y="354"/>
                    <a:pt x="1062" y="354"/>
                  </a:cubicBezTo>
                  <a:cubicBezTo>
                    <a:pt x="1088" y="354"/>
                    <a:pt x="1110" y="375"/>
                    <a:pt x="1110" y="402"/>
                  </a:cubicBezTo>
                  <a:close/>
                  <a:moveTo>
                    <a:pt x="1212" y="402"/>
                  </a:moveTo>
                  <a:cubicBezTo>
                    <a:pt x="1212" y="428"/>
                    <a:pt x="1190" y="450"/>
                    <a:pt x="1164" y="450"/>
                  </a:cubicBezTo>
                  <a:cubicBezTo>
                    <a:pt x="1137" y="450"/>
                    <a:pt x="1116" y="428"/>
                    <a:pt x="1116" y="402"/>
                  </a:cubicBezTo>
                  <a:cubicBezTo>
                    <a:pt x="1116" y="375"/>
                    <a:pt x="1137" y="354"/>
                    <a:pt x="1164" y="354"/>
                  </a:cubicBezTo>
                  <a:cubicBezTo>
                    <a:pt x="1190" y="354"/>
                    <a:pt x="1212" y="375"/>
                    <a:pt x="1212" y="402"/>
                  </a:cubicBezTo>
                  <a:close/>
                  <a:moveTo>
                    <a:pt x="1313" y="402"/>
                  </a:moveTo>
                  <a:cubicBezTo>
                    <a:pt x="1313" y="428"/>
                    <a:pt x="1291" y="450"/>
                    <a:pt x="1265" y="450"/>
                  </a:cubicBezTo>
                  <a:cubicBezTo>
                    <a:pt x="1238" y="450"/>
                    <a:pt x="1217" y="428"/>
                    <a:pt x="1217" y="402"/>
                  </a:cubicBezTo>
                  <a:cubicBezTo>
                    <a:pt x="1217" y="375"/>
                    <a:pt x="1238" y="354"/>
                    <a:pt x="1265" y="354"/>
                  </a:cubicBezTo>
                  <a:cubicBezTo>
                    <a:pt x="1291" y="354"/>
                    <a:pt x="1313" y="375"/>
                    <a:pt x="1313" y="402"/>
                  </a:cubicBezTo>
                  <a:close/>
                  <a:moveTo>
                    <a:pt x="1414" y="402"/>
                  </a:moveTo>
                  <a:cubicBezTo>
                    <a:pt x="1414" y="428"/>
                    <a:pt x="1392" y="450"/>
                    <a:pt x="1366" y="450"/>
                  </a:cubicBezTo>
                  <a:cubicBezTo>
                    <a:pt x="1339" y="450"/>
                    <a:pt x="1318" y="428"/>
                    <a:pt x="1318" y="402"/>
                  </a:cubicBezTo>
                  <a:cubicBezTo>
                    <a:pt x="1318" y="375"/>
                    <a:pt x="1339" y="354"/>
                    <a:pt x="1366" y="354"/>
                  </a:cubicBezTo>
                  <a:cubicBezTo>
                    <a:pt x="1392" y="354"/>
                    <a:pt x="1414" y="375"/>
                    <a:pt x="1414" y="402"/>
                  </a:cubicBezTo>
                  <a:close/>
                  <a:moveTo>
                    <a:pt x="1515" y="402"/>
                  </a:moveTo>
                  <a:cubicBezTo>
                    <a:pt x="1515" y="428"/>
                    <a:pt x="1493" y="450"/>
                    <a:pt x="1467" y="450"/>
                  </a:cubicBezTo>
                  <a:cubicBezTo>
                    <a:pt x="1440" y="450"/>
                    <a:pt x="1419" y="428"/>
                    <a:pt x="1419" y="402"/>
                  </a:cubicBezTo>
                  <a:cubicBezTo>
                    <a:pt x="1419" y="375"/>
                    <a:pt x="1440" y="354"/>
                    <a:pt x="1467" y="354"/>
                  </a:cubicBezTo>
                  <a:cubicBezTo>
                    <a:pt x="1493" y="354"/>
                    <a:pt x="1515" y="375"/>
                    <a:pt x="1515" y="402"/>
                  </a:cubicBezTo>
                  <a:close/>
                  <a:moveTo>
                    <a:pt x="1617" y="402"/>
                  </a:moveTo>
                  <a:cubicBezTo>
                    <a:pt x="1617" y="428"/>
                    <a:pt x="1595" y="450"/>
                    <a:pt x="1569" y="450"/>
                  </a:cubicBezTo>
                  <a:cubicBezTo>
                    <a:pt x="1542" y="450"/>
                    <a:pt x="1521" y="428"/>
                    <a:pt x="1521" y="402"/>
                  </a:cubicBezTo>
                  <a:cubicBezTo>
                    <a:pt x="1521" y="375"/>
                    <a:pt x="1542" y="354"/>
                    <a:pt x="1569" y="354"/>
                  </a:cubicBezTo>
                  <a:cubicBezTo>
                    <a:pt x="1595" y="354"/>
                    <a:pt x="1617" y="375"/>
                    <a:pt x="1617" y="402"/>
                  </a:cubicBezTo>
                  <a:close/>
                  <a:moveTo>
                    <a:pt x="1718" y="402"/>
                  </a:moveTo>
                  <a:cubicBezTo>
                    <a:pt x="1718" y="428"/>
                    <a:pt x="1696" y="450"/>
                    <a:pt x="1670" y="450"/>
                  </a:cubicBezTo>
                  <a:cubicBezTo>
                    <a:pt x="1643" y="450"/>
                    <a:pt x="1622" y="428"/>
                    <a:pt x="1622" y="402"/>
                  </a:cubicBezTo>
                  <a:cubicBezTo>
                    <a:pt x="1622" y="375"/>
                    <a:pt x="1643" y="354"/>
                    <a:pt x="1670" y="354"/>
                  </a:cubicBezTo>
                  <a:cubicBezTo>
                    <a:pt x="1696" y="354"/>
                    <a:pt x="1718" y="375"/>
                    <a:pt x="1718" y="402"/>
                  </a:cubicBezTo>
                  <a:close/>
                  <a:moveTo>
                    <a:pt x="1819" y="402"/>
                  </a:moveTo>
                  <a:cubicBezTo>
                    <a:pt x="1819" y="428"/>
                    <a:pt x="1797" y="450"/>
                    <a:pt x="1771" y="450"/>
                  </a:cubicBezTo>
                  <a:cubicBezTo>
                    <a:pt x="1744" y="450"/>
                    <a:pt x="1723" y="428"/>
                    <a:pt x="1723" y="402"/>
                  </a:cubicBezTo>
                  <a:cubicBezTo>
                    <a:pt x="1723" y="375"/>
                    <a:pt x="1744" y="354"/>
                    <a:pt x="1771" y="354"/>
                  </a:cubicBezTo>
                  <a:cubicBezTo>
                    <a:pt x="1797" y="354"/>
                    <a:pt x="1819" y="375"/>
                    <a:pt x="1819" y="402"/>
                  </a:cubicBezTo>
                  <a:close/>
                  <a:moveTo>
                    <a:pt x="1920" y="402"/>
                  </a:moveTo>
                  <a:cubicBezTo>
                    <a:pt x="1920" y="428"/>
                    <a:pt x="1898" y="450"/>
                    <a:pt x="1872" y="450"/>
                  </a:cubicBezTo>
                  <a:cubicBezTo>
                    <a:pt x="1845" y="450"/>
                    <a:pt x="1824" y="428"/>
                    <a:pt x="1824" y="402"/>
                  </a:cubicBezTo>
                  <a:cubicBezTo>
                    <a:pt x="1824" y="375"/>
                    <a:pt x="1845" y="354"/>
                    <a:pt x="1872" y="354"/>
                  </a:cubicBezTo>
                  <a:cubicBezTo>
                    <a:pt x="1898" y="354"/>
                    <a:pt x="1920" y="375"/>
                    <a:pt x="1920" y="402"/>
                  </a:cubicBezTo>
                  <a:close/>
                  <a:moveTo>
                    <a:pt x="2022" y="402"/>
                  </a:moveTo>
                  <a:cubicBezTo>
                    <a:pt x="2022" y="428"/>
                    <a:pt x="2000" y="450"/>
                    <a:pt x="1974" y="450"/>
                  </a:cubicBezTo>
                  <a:cubicBezTo>
                    <a:pt x="1947" y="450"/>
                    <a:pt x="1926" y="428"/>
                    <a:pt x="1926" y="402"/>
                  </a:cubicBezTo>
                  <a:cubicBezTo>
                    <a:pt x="1926" y="375"/>
                    <a:pt x="1947" y="354"/>
                    <a:pt x="1974" y="354"/>
                  </a:cubicBezTo>
                  <a:cubicBezTo>
                    <a:pt x="2000" y="354"/>
                    <a:pt x="2022" y="375"/>
                    <a:pt x="2022" y="402"/>
                  </a:cubicBezTo>
                  <a:close/>
                  <a:moveTo>
                    <a:pt x="2123" y="402"/>
                  </a:moveTo>
                  <a:cubicBezTo>
                    <a:pt x="2123" y="428"/>
                    <a:pt x="2101" y="450"/>
                    <a:pt x="2075" y="450"/>
                  </a:cubicBezTo>
                  <a:cubicBezTo>
                    <a:pt x="2048" y="450"/>
                    <a:pt x="2027" y="428"/>
                    <a:pt x="2027" y="402"/>
                  </a:cubicBezTo>
                  <a:cubicBezTo>
                    <a:pt x="2027" y="375"/>
                    <a:pt x="2048" y="354"/>
                    <a:pt x="2075" y="354"/>
                  </a:cubicBezTo>
                  <a:cubicBezTo>
                    <a:pt x="2101" y="354"/>
                    <a:pt x="2123" y="375"/>
                    <a:pt x="2123" y="402"/>
                  </a:cubicBezTo>
                  <a:close/>
                  <a:moveTo>
                    <a:pt x="2224" y="402"/>
                  </a:moveTo>
                  <a:cubicBezTo>
                    <a:pt x="2224" y="428"/>
                    <a:pt x="2202" y="450"/>
                    <a:pt x="2176" y="450"/>
                  </a:cubicBezTo>
                  <a:cubicBezTo>
                    <a:pt x="2149" y="450"/>
                    <a:pt x="2128" y="428"/>
                    <a:pt x="2128" y="402"/>
                  </a:cubicBezTo>
                  <a:cubicBezTo>
                    <a:pt x="2128" y="375"/>
                    <a:pt x="2149" y="354"/>
                    <a:pt x="2176" y="354"/>
                  </a:cubicBezTo>
                  <a:cubicBezTo>
                    <a:pt x="2202" y="354"/>
                    <a:pt x="2224" y="375"/>
                    <a:pt x="2224" y="402"/>
                  </a:cubicBezTo>
                  <a:close/>
                  <a:moveTo>
                    <a:pt x="2325" y="402"/>
                  </a:moveTo>
                  <a:cubicBezTo>
                    <a:pt x="2325" y="428"/>
                    <a:pt x="2303" y="450"/>
                    <a:pt x="2277" y="450"/>
                  </a:cubicBezTo>
                  <a:cubicBezTo>
                    <a:pt x="2250" y="450"/>
                    <a:pt x="2229" y="428"/>
                    <a:pt x="2229" y="402"/>
                  </a:cubicBezTo>
                  <a:cubicBezTo>
                    <a:pt x="2229" y="375"/>
                    <a:pt x="2250" y="354"/>
                    <a:pt x="2277" y="354"/>
                  </a:cubicBezTo>
                  <a:cubicBezTo>
                    <a:pt x="2303" y="354"/>
                    <a:pt x="2325" y="375"/>
                    <a:pt x="2325" y="402"/>
                  </a:cubicBezTo>
                  <a:close/>
                  <a:moveTo>
                    <a:pt x="2427" y="402"/>
                  </a:moveTo>
                  <a:cubicBezTo>
                    <a:pt x="2427" y="428"/>
                    <a:pt x="2405" y="450"/>
                    <a:pt x="2379" y="450"/>
                  </a:cubicBezTo>
                  <a:cubicBezTo>
                    <a:pt x="2352" y="450"/>
                    <a:pt x="2331" y="428"/>
                    <a:pt x="2331" y="402"/>
                  </a:cubicBezTo>
                  <a:cubicBezTo>
                    <a:pt x="2331" y="375"/>
                    <a:pt x="2352" y="354"/>
                    <a:pt x="2379" y="354"/>
                  </a:cubicBezTo>
                  <a:cubicBezTo>
                    <a:pt x="2405" y="354"/>
                    <a:pt x="2427" y="375"/>
                    <a:pt x="2427" y="402"/>
                  </a:cubicBezTo>
                  <a:close/>
                  <a:moveTo>
                    <a:pt x="2528" y="402"/>
                  </a:moveTo>
                  <a:cubicBezTo>
                    <a:pt x="2528" y="428"/>
                    <a:pt x="2506" y="450"/>
                    <a:pt x="2480" y="450"/>
                  </a:cubicBezTo>
                  <a:cubicBezTo>
                    <a:pt x="2453" y="450"/>
                    <a:pt x="2432" y="428"/>
                    <a:pt x="2432" y="402"/>
                  </a:cubicBezTo>
                  <a:cubicBezTo>
                    <a:pt x="2432" y="375"/>
                    <a:pt x="2453" y="354"/>
                    <a:pt x="2480" y="354"/>
                  </a:cubicBezTo>
                  <a:cubicBezTo>
                    <a:pt x="2506" y="354"/>
                    <a:pt x="2528" y="375"/>
                    <a:pt x="2528" y="402"/>
                  </a:cubicBezTo>
                  <a:close/>
                  <a:moveTo>
                    <a:pt x="2629" y="402"/>
                  </a:moveTo>
                  <a:cubicBezTo>
                    <a:pt x="2629" y="428"/>
                    <a:pt x="2607" y="450"/>
                    <a:pt x="2581" y="450"/>
                  </a:cubicBezTo>
                  <a:cubicBezTo>
                    <a:pt x="2554" y="450"/>
                    <a:pt x="2533" y="428"/>
                    <a:pt x="2533" y="402"/>
                  </a:cubicBezTo>
                  <a:cubicBezTo>
                    <a:pt x="2533" y="375"/>
                    <a:pt x="2554" y="354"/>
                    <a:pt x="2581" y="354"/>
                  </a:cubicBezTo>
                  <a:cubicBezTo>
                    <a:pt x="2607" y="354"/>
                    <a:pt x="2629" y="375"/>
                    <a:pt x="2629" y="402"/>
                  </a:cubicBezTo>
                  <a:close/>
                  <a:moveTo>
                    <a:pt x="2730" y="402"/>
                  </a:moveTo>
                  <a:cubicBezTo>
                    <a:pt x="2730" y="428"/>
                    <a:pt x="2708" y="450"/>
                    <a:pt x="2682" y="450"/>
                  </a:cubicBezTo>
                  <a:cubicBezTo>
                    <a:pt x="2655" y="450"/>
                    <a:pt x="2634" y="428"/>
                    <a:pt x="2634" y="402"/>
                  </a:cubicBezTo>
                  <a:cubicBezTo>
                    <a:pt x="2634" y="375"/>
                    <a:pt x="2655" y="354"/>
                    <a:pt x="2682" y="354"/>
                  </a:cubicBezTo>
                  <a:cubicBezTo>
                    <a:pt x="2708" y="354"/>
                    <a:pt x="2730" y="375"/>
                    <a:pt x="2730" y="402"/>
                  </a:cubicBezTo>
                  <a:close/>
                  <a:moveTo>
                    <a:pt x="2831" y="402"/>
                  </a:moveTo>
                  <a:cubicBezTo>
                    <a:pt x="2831" y="428"/>
                    <a:pt x="2809" y="450"/>
                    <a:pt x="2783" y="450"/>
                  </a:cubicBezTo>
                  <a:cubicBezTo>
                    <a:pt x="2756" y="450"/>
                    <a:pt x="2735" y="428"/>
                    <a:pt x="2735" y="402"/>
                  </a:cubicBezTo>
                  <a:cubicBezTo>
                    <a:pt x="2735" y="375"/>
                    <a:pt x="2756" y="354"/>
                    <a:pt x="2783" y="354"/>
                  </a:cubicBezTo>
                  <a:cubicBezTo>
                    <a:pt x="2809" y="354"/>
                    <a:pt x="2831" y="375"/>
                    <a:pt x="2831" y="402"/>
                  </a:cubicBezTo>
                  <a:close/>
                  <a:moveTo>
                    <a:pt x="2933" y="402"/>
                  </a:moveTo>
                  <a:cubicBezTo>
                    <a:pt x="2933" y="428"/>
                    <a:pt x="2911" y="450"/>
                    <a:pt x="2885" y="450"/>
                  </a:cubicBezTo>
                  <a:cubicBezTo>
                    <a:pt x="2858" y="450"/>
                    <a:pt x="2837" y="428"/>
                    <a:pt x="2837" y="402"/>
                  </a:cubicBezTo>
                  <a:cubicBezTo>
                    <a:pt x="2837" y="375"/>
                    <a:pt x="2858" y="354"/>
                    <a:pt x="2885" y="354"/>
                  </a:cubicBezTo>
                  <a:cubicBezTo>
                    <a:pt x="2911" y="354"/>
                    <a:pt x="2933" y="375"/>
                    <a:pt x="2933" y="402"/>
                  </a:cubicBezTo>
                  <a:close/>
                  <a:moveTo>
                    <a:pt x="3034" y="402"/>
                  </a:moveTo>
                  <a:cubicBezTo>
                    <a:pt x="3034" y="428"/>
                    <a:pt x="3012" y="450"/>
                    <a:pt x="2986" y="450"/>
                  </a:cubicBezTo>
                  <a:cubicBezTo>
                    <a:pt x="2959" y="450"/>
                    <a:pt x="2938" y="428"/>
                    <a:pt x="2938" y="402"/>
                  </a:cubicBezTo>
                  <a:cubicBezTo>
                    <a:pt x="2938" y="375"/>
                    <a:pt x="2959" y="354"/>
                    <a:pt x="2986" y="354"/>
                  </a:cubicBezTo>
                  <a:cubicBezTo>
                    <a:pt x="3012" y="354"/>
                    <a:pt x="3034" y="375"/>
                    <a:pt x="3034" y="402"/>
                  </a:cubicBezTo>
                  <a:close/>
                  <a:moveTo>
                    <a:pt x="3135" y="402"/>
                  </a:moveTo>
                  <a:cubicBezTo>
                    <a:pt x="3135" y="428"/>
                    <a:pt x="3113" y="450"/>
                    <a:pt x="3087" y="450"/>
                  </a:cubicBezTo>
                  <a:cubicBezTo>
                    <a:pt x="3060" y="450"/>
                    <a:pt x="3039" y="428"/>
                    <a:pt x="3039" y="402"/>
                  </a:cubicBezTo>
                  <a:cubicBezTo>
                    <a:pt x="3039" y="375"/>
                    <a:pt x="3060" y="354"/>
                    <a:pt x="3087" y="354"/>
                  </a:cubicBezTo>
                  <a:cubicBezTo>
                    <a:pt x="3113" y="354"/>
                    <a:pt x="3135" y="375"/>
                    <a:pt x="3135" y="402"/>
                  </a:cubicBezTo>
                  <a:close/>
                  <a:moveTo>
                    <a:pt x="3236" y="402"/>
                  </a:moveTo>
                  <a:cubicBezTo>
                    <a:pt x="3236" y="428"/>
                    <a:pt x="3214" y="450"/>
                    <a:pt x="3188" y="450"/>
                  </a:cubicBezTo>
                  <a:cubicBezTo>
                    <a:pt x="3161" y="450"/>
                    <a:pt x="3140" y="428"/>
                    <a:pt x="3140" y="402"/>
                  </a:cubicBezTo>
                  <a:cubicBezTo>
                    <a:pt x="3140" y="375"/>
                    <a:pt x="3161" y="354"/>
                    <a:pt x="3188" y="354"/>
                  </a:cubicBezTo>
                  <a:cubicBezTo>
                    <a:pt x="3214" y="354"/>
                    <a:pt x="3236" y="375"/>
                    <a:pt x="3236" y="402"/>
                  </a:cubicBezTo>
                  <a:close/>
                  <a:moveTo>
                    <a:pt x="3338" y="402"/>
                  </a:moveTo>
                  <a:cubicBezTo>
                    <a:pt x="3338" y="428"/>
                    <a:pt x="3316" y="450"/>
                    <a:pt x="3290" y="450"/>
                  </a:cubicBezTo>
                  <a:cubicBezTo>
                    <a:pt x="3263" y="450"/>
                    <a:pt x="3242" y="428"/>
                    <a:pt x="3242" y="402"/>
                  </a:cubicBezTo>
                  <a:cubicBezTo>
                    <a:pt x="3242" y="375"/>
                    <a:pt x="3263" y="354"/>
                    <a:pt x="3290" y="354"/>
                  </a:cubicBezTo>
                  <a:cubicBezTo>
                    <a:pt x="3316" y="354"/>
                    <a:pt x="3338" y="375"/>
                    <a:pt x="3338" y="402"/>
                  </a:cubicBezTo>
                  <a:close/>
                  <a:moveTo>
                    <a:pt x="3439" y="402"/>
                  </a:moveTo>
                  <a:cubicBezTo>
                    <a:pt x="3439" y="428"/>
                    <a:pt x="3417" y="450"/>
                    <a:pt x="3391" y="450"/>
                  </a:cubicBezTo>
                  <a:cubicBezTo>
                    <a:pt x="3364" y="450"/>
                    <a:pt x="3343" y="428"/>
                    <a:pt x="3343" y="402"/>
                  </a:cubicBezTo>
                  <a:cubicBezTo>
                    <a:pt x="3343" y="375"/>
                    <a:pt x="3364" y="354"/>
                    <a:pt x="3391" y="354"/>
                  </a:cubicBezTo>
                  <a:cubicBezTo>
                    <a:pt x="3417" y="354"/>
                    <a:pt x="3439" y="375"/>
                    <a:pt x="3439" y="402"/>
                  </a:cubicBezTo>
                  <a:close/>
                  <a:moveTo>
                    <a:pt x="3540" y="402"/>
                  </a:moveTo>
                  <a:cubicBezTo>
                    <a:pt x="3540" y="428"/>
                    <a:pt x="3518" y="450"/>
                    <a:pt x="3492" y="450"/>
                  </a:cubicBezTo>
                  <a:cubicBezTo>
                    <a:pt x="3465" y="450"/>
                    <a:pt x="3444" y="428"/>
                    <a:pt x="3444" y="402"/>
                  </a:cubicBezTo>
                  <a:cubicBezTo>
                    <a:pt x="3444" y="375"/>
                    <a:pt x="3465" y="354"/>
                    <a:pt x="3492" y="354"/>
                  </a:cubicBezTo>
                  <a:cubicBezTo>
                    <a:pt x="3518" y="354"/>
                    <a:pt x="3540" y="375"/>
                    <a:pt x="3540" y="402"/>
                  </a:cubicBezTo>
                  <a:close/>
                  <a:moveTo>
                    <a:pt x="3641" y="402"/>
                  </a:moveTo>
                  <a:cubicBezTo>
                    <a:pt x="3641" y="428"/>
                    <a:pt x="3619" y="450"/>
                    <a:pt x="3593" y="450"/>
                  </a:cubicBezTo>
                  <a:cubicBezTo>
                    <a:pt x="3566" y="450"/>
                    <a:pt x="3545" y="428"/>
                    <a:pt x="3545" y="402"/>
                  </a:cubicBezTo>
                  <a:cubicBezTo>
                    <a:pt x="3545" y="375"/>
                    <a:pt x="3566" y="354"/>
                    <a:pt x="3593" y="354"/>
                  </a:cubicBezTo>
                  <a:cubicBezTo>
                    <a:pt x="3619" y="354"/>
                    <a:pt x="3641" y="375"/>
                    <a:pt x="3641" y="402"/>
                  </a:cubicBezTo>
                  <a:close/>
                  <a:moveTo>
                    <a:pt x="3743" y="402"/>
                  </a:moveTo>
                  <a:cubicBezTo>
                    <a:pt x="3743" y="428"/>
                    <a:pt x="3721" y="450"/>
                    <a:pt x="3695" y="450"/>
                  </a:cubicBezTo>
                  <a:cubicBezTo>
                    <a:pt x="3668" y="450"/>
                    <a:pt x="3647" y="428"/>
                    <a:pt x="3647" y="402"/>
                  </a:cubicBezTo>
                  <a:cubicBezTo>
                    <a:pt x="3647" y="375"/>
                    <a:pt x="3668" y="354"/>
                    <a:pt x="3695" y="354"/>
                  </a:cubicBezTo>
                  <a:cubicBezTo>
                    <a:pt x="3721" y="354"/>
                    <a:pt x="3743" y="375"/>
                    <a:pt x="3743" y="402"/>
                  </a:cubicBezTo>
                  <a:close/>
                  <a:moveTo>
                    <a:pt x="3844" y="402"/>
                  </a:moveTo>
                  <a:cubicBezTo>
                    <a:pt x="3844" y="428"/>
                    <a:pt x="3822" y="450"/>
                    <a:pt x="3796" y="450"/>
                  </a:cubicBezTo>
                  <a:cubicBezTo>
                    <a:pt x="3769" y="450"/>
                    <a:pt x="3748" y="428"/>
                    <a:pt x="3748" y="402"/>
                  </a:cubicBezTo>
                  <a:cubicBezTo>
                    <a:pt x="3748" y="375"/>
                    <a:pt x="3769" y="354"/>
                    <a:pt x="3796" y="354"/>
                  </a:cubicBezTo>
                  <a:cubicBezTo>
                    <a:pt x="3822" y="354"/>
                    <a:pt x="3844" y="375"/>
                    <a:pt x="3844" y="402"/>
                  </a:cubicBezTo>
                  <a:close/>
                  <a:moveTo>
                    <a:pt x="3945" y="402"/>
                  </a:moveTo>
                  <a:cubicBezTo>
                    <a:pt x="3945" y="428"/>
                    <a:pt x="3923" y="450"/>
                    <a:pt x="3897" y="450"/>
                  </a:cubicBezTo>
                  <a:cubicBezTo>
                    <a:pt x="3870" y="450"/>
                    <a:pt x="3849" y="428"/>
                    <a:pt x="3849" y="402"/>
                  </a:cubicBezTo>
                  <a:cubicBezTo>
                    <a:pt x="3849" y="375"/>
                    <a:pt x="3870" y="354"/>
                    <a:pt x="3897" y="354"/>
                  </a:cubicBezTo>
                  <a:cubicBezTo>
                    <a:pt x="3923" y="354"/>
                    <a:pt x="3945" y="375"/>
                    <a:pt x="3945" y="402"/>
                  </a:cubicBezTo>
                  <a:close/>
                  <a:moveTo>
                    <a:pt x="4046" y="402"/>
                  </a:moveTo>
                  <a:cubicBezTo>
                    <a:pt x="4046" y="428"/>
                    <a:pt x="4024" y="450"/>
                    <a:pt x="3998" y="450"/>
                  </a:cubicBezTo>
                  <a:cubicBezTo>
                    <a:pt x="3971" y="450"/>
                    <a:pt x="3950" y="428"/>
                    <a:pt x="3950" y="402"/>
                  </a:cubicBezTo>
                  <a:cubicBezTo>
                    <a:pt x="3950" y="375"/>
                    <a:pt x="3971" y="354"/>
                    <a:pt x="3998" y="354"/>
                  </a:cubicBezTo>
                  <a:cubicBezTo>
                    <a:pt x="4024" y="354"/>
                    <a:pt x="4046" y="375"/>
                    <a:pt x="4046" y="402"/>
                  </a:cubicBezTo>
                  <a:close/>
                  <a:moveTo>
                    <a:pt x="4148" y="402"/>
                  </a:moveTo>
                  <a:cubicBezTo>
                    <a:pt x="4148" y="428"/>
                    <a:pt x="4126" y="450"/>
                    <a:pt x="4100" y="450"/>
                  </a:cubicBezTo>
                  <a:cubicBezTo>
                    <a:pt x="4073" y="450"/>
                    <a:pt x="4052" y="428"/>
                    <a:pt x="4052" y="402"/>
                  </a:cubicBezTo>
                  <a:cubicBezTo>
                    <a:pt x="4052" y="375"/>
                    <a:pt x="4073" y="354"/>
                    <a:pt x="4100" y="354"/>
                  </a:cubicBezTo>
                  <a:cubicBezTo>
                    <a:pt x="4126" y="354"/>
                    <a:pt x="4148" y="375"/>
                    <a:pt x="4148" y="402"/>
                  </a:cubicBezTo>
                  <a:close/>
                  <a:moveTo>
                    <a:pt x="4249" y="402"/>
                  </a:moveTo>
                  <a:cubicBezTo>
                    <a:pt x="4249" y="428"/>
                    <a:pt x="4227" y="450"/>
                    <a:pt x="4201" y="450"/>
                  </a:cubicBezTo>
                  <a:cubicBezTo>
                    <a:pt x="4174" y="450"/>
                    <a:pt x="4153" y="428"/>
                    <a:pt x="4153" y="402"/>
                  </a:cubicBezTo>
                  <a:cubicBezTo>
                    <a:pt x="4153" y="375"/>
                    <a:pt x="4174" y="354"/>
                    <a:pt x="4201" y="354"/>
                  </a:cubicBezTo>
                  <a:cubicBezTo>
                    <a:pt x="4227" y="354"/>
                    <a:pt x="4249" y="375"/>
                    <a:pt x="4249" y="402"/>
                  </a:cubicBezTo>
                  <a:close/>
                  <a:moveTo>
                    <a:pt x="4350" y="402"/>
                  </a:moveTo>
                  <a:cubicBezTo>
                    <a:pt x="4350" y="428"/>
                    <a:pt x="4328" y="450"/>
                    <a:pt x="4302" y="450"/>
                  </a:cubicBezTo>
                  <a:cubicBezTo>
                    <a:pt x="4275" y="450"/>
                    <a:pt x="4254" y="428"/>
                    <a:pt x="4254" y="402"/>
                  </a:cubicBezTo>
                  <a:cubicBezTo>
                    <a:pt x="4254" y="375"/>
                    <a:pt x="4275" y="354"/>
                    <a:pt x="4302" y="354"/>
                  </a:cubicBezTo>
                  <a:cubicBezTo>
                    <a:pt x="4328" y="354"/>
                    <a:pt x="4350" y="375"/>
                    <a:pt x="4350" y="402"/>
                  </a:cubicBezTo>
                  <a:close/>
                  <a:moveTo>
                    <a:pt x="4451" y="402"/>
                  </a:moveTo>
                  <a:cubicBezTo>
                    <a:pt x="4451" y="428"/>
                    <a:pt x="4429" y="450"/>
                    <a:pt x="4403" y="450"/>
                  </a:cubicBezTo>
                  <a:cubicBezTo>
                    <a:pt x="4376" y="450"/>
                    <a:pt x="4355" y="428"/>
                    <a:pt x="4355" y="402"/>
                  </a:cubicBezTo>
                  <a:cubicBezTo>
                    <a:pt x="4355" y="375"/>
                    <a:pt x="4376" y="354"/>
                    <a:pt x="4403" y="354"/>
                  </a:cubicBezTo>
                  <a:cubicBezTo>
                    <a:pt x="4429" y="354"/>
                    <a:pt x="4451" y="375"/>
                    <a:pt x="4451" y="402"/>
                  </a:cubicBezTo>
                  <a:close/>
                  <a:moveTo>
                    <a:pt x="4552" y="402"/>
                  </a:moveTo>
                  <a:cubicBezTo>
                    <a:pt x="4552" y="428"/>
                    <a:pt x="4530" y="450"/>
                    <a:pt x="4504" y="450"/>
                  </a:cubicBezTo>
                  <a:cubicBezTo>
                    <a:pt x="4477" y="450"/>
                    <a:pt x="4456" y="428"/>
                    <a:pt x="4456" y="402"/>
                  </a:cubicBezTo>
                  <a:cubicBezTo>
                    <a:pt x="4456" y="375"/>
                    <a:pt x="4477" y="354"/>
                    <a:pt x="4504" y="354"/>
                  </a:cubicBezTo>
                  <a:cubicBezTo>
                    <a:pt x="4530" y="354"/>
                    <a:pt x="4552" y="375"/>
                    <a:pt x="4552" y="402"/>
                  </a:cubicBezTo>
                  <a:close/>
                  <a:moveTo>
                    <a:pt x="4654" y="402"/>
                  </a:moveTo>
                  <a:cubicBezTo>
                    <a:pt x="4654" y="428"/>
                    <a:pt x="4632" y="450"/>
                    <a:pt x="4606" y="450"/>
                  </a:cubicBezTo>
                  <a:cubicBezTo>
                    <a:pt x="4579" y="450"/>
                    <a:pt x="4558" y="428"/>
                    <a:pt x="4558" y="402"/>
                  </a:cubicBezTo>
                  <a:cubicBezTo>
                    <a:pt x="4558" y="375"/>
                    <a:pt x="4579" y="354"/>
                    <a:pt x="4606" y="354"/>
                  </a:cubicBezTo>
                  <a:cubicBezTo>
                    <a:pt x="4632" y="354"/>
                    <a:pt x="4654" y="375"/>
                    <a:pt x="4654" y="402"/>
                  </a:cubicBezTo>
                  <a:close/>
                  <a:moveTo>
                    <a:pt x="4755" y="402"/>
                  </a:moveTo>
                  <a:cubicBezTo>
                    <a:pt x="4755" y="428"/>
                    <a:pt x="4733" y="450"/>
                    <a:pt x="4707" y="450"/>
                  </a:cubicBezTo>
                  <a:cubicBezTo>
                    <a:pt x="4680" y="450"/>
                    <a:pt x="4659" y="428"/>
                    <a:pt x="4659" y="402"/>
                  </a:cubicBezTo>
                  <a:cubicBezTo>
                    <a:pt x="4659" y="375"/>
                    <a:pt x="4680" y="354"/>
                    <a:pt x="4707" y="354"/>
                  </a:cubicBezTo>
                  <a:cubicBezTo>
                    <a:pt x="4733" y="354"/>
                    <a:pt x="4755" y="375"/>
                    <a:pt x="4755" y="402"/>
                  </a:cubicBezTo>
                  <a:close/>
                  <a:moveTo>
                    <a:pt x="4856" y="402"/>
                  </a:moveTo>
                  <a:cubicBezTo>
                    <a:pt x="4856" y="428"/>
                    <a:pt x="4834" y="450"/>
                    <a:pt x="4808" y="450"/>
                  </a:cubicBezTo>
                  <a:cubicBezTo>
                    <a:pt x="4781" y="450"/>
                    <a:pt x="4760" y="428"/>
                    <a:pt x="4760" y="402"/>
                  </a:cubicBezTo>
                  <a:cubicBezTo>
                    <a:pt x="4760" y="375"/>
                    <a:pt x="4781" y="354"/>
                    <a:pt x="4808" y="354"/>
                  </a:cubicBezTo>
                  <a:cubicBezTo>
                    <a:pt x="4834" y="354"/>
                    <a:pt x="4856" y="375"/>
                    <a:pt x="4856" y="402"/>
                  </a:cubicBezTo>
                  <a:close/>
                  <a:moveTo>
                    <a:pt x="4957" y="402"/>
                  </a:moveTo>
                  <a:cubicBezTo>
                    <a:pt x="4957" y="428"/>
                    <a:pt x="4935" y="450"/>
                    <a:pt x="4909" y="450"/>
                  </a:cubicBezTo>
                  <a:cubicBezTo>
                    <a:pt x="4882" y="450"/>
                    <a:pt x="4861" y="428"/>
                    <a:pt x="4861" y="402"/>
                  </a:cubicBezTo>
                  <a:cubicBezTo>
                    <a:pt x="4861" y="375"/>
                    <a:pt x="4882" y="354"/>
                    <a:pt x="4909" y="354"/>
                  </a:cubicBezTo>
                  <a:cubicBezTo>
                    <a:pt x="4935" y="354"/>
                    <a:pt x="4957" y="375"/>
                    <a:pt x="4957" y="402"/>
                  </a:cubicBezTo>
                  <a:close/>
                  <a:moveTo>
                    <a:pt x="5059" y="402"/>
                  </a:moveTo>
                  <a:cubicBezTo>
                    <a:pt x="5059" y="428"/>
                    <a:pt x="5037" y="450"/>
                    <a:pt x="5011" y="450"/>
                  </a:cubicBezTo>
                  <a:cubicBezTo>
                    <a:pt x="4984" y="450"/>
                    <a:pt x="4963" y="428"/>
                    <a:pt x="4963" y="402"/>
                  </a:cubicBezTo>
                  <a:cubicBezTo>
                    <a:pt x="4963" y="375"/>
                    <a:pt x="4984" y="354"/>
                    <a:pt x="5011" y="354"/>
                  </a:cubicBezTo>
                  <a:cubicBezTo>
                    <a:pt x="5037" y="354"/>
                    <a:pt x="5059" y="375"/>
                    <a:pt x="5059" y="402"/>
                  </a:cubicBezTo>
                  <a:close/>
                  <a:moveTo>
                    <a:pt x="5160" y="402"/>
                  </a:moveTo>
                  <a:cubicBezTo>
                    <a:pt x="5160" y="428"/>
                    <a:pt x="5138" y="450"/>
                    <a:pt x="5112" y="450"/>
                  </a:cubicBezTo>
                  <a:cubicBezTo>
                    <a:pt x="5085" y="450"/>
                    <a:pt x="5064" y="428"/>
                    <a:pt x="5064" y="402"/>
                  </a:cubicBezTo>
                  <a:cubicBezTo>
                    <a:pt x="5064" y="375"/>
                    <a:pt x="5085" y="354"/>
                    <a:pt x="5112" y="354"/>
                  </a:cubicBezTo>
                  <a:cubicBezTo>
                    <a:pt x="5138" y="354"/>
                    <a:pt x="5160" y="375"/>
                    <a:pt x="5160" y="402"/>
                  </a:cubicBezTo>
                  <a:close/>
                  <a:moveTo>
                    <a:pt x="5261" y="402"/>
                  </a:moveTo>
                  <a:cubicBezTo>
                    <a:pt x="5261" y="428"/>
                    <a:pt x="5239" y="450"/>
                    <a:pt x="5213" y="450"/>
                  </a:cubicBezTo>
                  <a:cubicBezTo>
                    <a:pt x="5186" y="450"/>
                    <a:pt x="5165" y="428"/>
                    <a:pt x="5165" y="402"/>
                  </a:cubicBezTo>
                  <a:cubicBezTo>
                    <a:pt x="5165" y="375"/>
                    <a:pt x="5186" y="354"/>
                    <a:pt x="5213" y="354"/>
                  </a:cubicBezTo>
                  <a:cubicBezTo>
                    <a:pt x="5239" y="354"/>
                    <a:pt x="5261" y="375"/>
                    <a:pt x="5261" y="402"/>
                  </a:cubicBezTo>
                  <a:close/>
                  <a:moveTo>
                    <a:pt x="5362" y="402"/>
                  </a:moveTo>
                  <a:cubicBezTo>
                    <a:pt x="5362" y="428"/>
                    <a:pt x="5340" y="450"/>
                    <a:pt x="5314" y="450"/>
                  </a:cubicBezTo>
                  <a:cubicBezTo>
                    <a:pt x="5287" y="450"/>
                    <a:pt x="5266" y="428"/>
                    <a:pt x="5266" y="402"/>
                  </a:cubicBezTo>
                  <a:cubicBezTo>
                    <a:pt x="5266" y="375"/>
                    <a:pt x="5287" y="354"/>
                    <a:pt x="5314" y="354"/>
                  </a:cubicBezTo>
                  <a:cubicBezTo>
                    <a:pt x="5340" y="354"/>
                    <a:pt x="5362" y="375"/>
                    <a:pt x="5362" y="402"/>
                  </a:cubicBezTo>
                  <a:close/>
                  <a:moveTo>
                    <a:pt x="5464" y="402"/>
                  </a:moveTo>
                  <a:cubicBezTo>
                    <a:pt x="5464" y="428"/>
                    <a:pt x="5442" y="450"/>
                    <a:pt x="5416" y="450"/>
                  </a:cubicBezTo>
                  <a:cubicBezTo>
                    <a:pt x="5389" y="450"/>
                    <a:pt x="5368" y="428"/>
                    <a:pt x="5368" y="402"/>
                  </a:cubicBezTo>
                  <a:cubicBezTo>
                    <a:pt x="5368" y="375"/>
                    <a:pt x="5389" y="354"/>
                    <a:pt x="5416" y="354"/>
                  </a:cubicBezTo>
                  <a:cubicBezTo>
                    <a:pt x="5442" y="354"/>
                    <a:pt x="5464" y="375"/>
                    <a:pt x="5464" y="402"/>
                  </a:cubicBezTo>
                  <a:close/>
                  <a:moveTo>
                    <a:pt x="5565" y="402"/>
                  </a:moveTo>
                  <a:cubicBezTo>
                    <a:pt x="5565" y="428"/>
                    <a:pt x="5543" y="450"/>
                    <a:pt x="5517" y="450"/>
                  </a:cubicBezTo>
                  <a:cubicBezTo>
                    <a:pt x="5490" y="450"/>
                    <a:pt x="5469" y="428"/>
                    <a:pt x="5469" y="402"/>
                  </a:cubicBezTo>
                  <a:cubicBezTo>
                    <a:pt x="5469" y="375"/>
                    <a:pt x="5490" y="354"/>
                    <a:pt x="5517" y="354"/>
                  </a:cubicBezTo>
                  <a:cubicBezTo>
                    <a:pt x="5543" y="354"/>
                    <a:pt x="5565" y="375"/>
                    <a:pt x="5565" y="402"/>
                  </a:cubicBezTo>
                  <a:close/>
                  <a:moveTo>
                    <a:pt x="5666" y="402"/>
                  </a:moveTo>
                  <a:cubicBezTo>
                    <a:pt x="5666" y="428"/>
                    <a:pt x="5644" y="450"/>
                    <a:pt x="5618" y="450"/>
                  </a:cubicBezTo>
                  <a:cubicBezTo>
                    <a:pt x="5591" y="450"/>
                    <a:pt x="5570" y="428"/>
                    <a:pt x="5570" y="402"/>
                  </a:cubicBezTo>
                  <a:cubicBezTo>
                    <a:pt x="5570" y="375"/>
                    <a:pt x="5591" y="354"/>
                    <a:pt x="5618" y="354"/>
                  </a:cubicBezTo>
                  <a:cubicBezTo>
                    <a:pt x="5644" y="354"/>
                    <a:pt x="5666" y="375"/>
                    <a:pt x="5666" y="402"/>
                  </a:cubicBezTo>
                  <a:close/>
                  <a:moveTo>
                    <a:pt x="5767" y="402"/>
                  </a:moveTo>
                  <a:cubicBezTo>
                    <a:pt x="5767" y="428"/>
                    <a:pt x="5745" y="450"/>
                    <a:pt x="5719" y="450"/>
                  </a:cubicBezTo>
                  <a:cubicBezTo>
                    <a:pt x="5692" y="450"/>
                    <a:pt x="5671" y="428"/>
                    <a:pt x="5671" y="402"/>
                  </a:cubicBezTo>
                  <a:cubicBezTo>
                    <a:pt x="5671" y="375"/>
                    <a:pt x="5692" y="354"/>
                    <a:pt x="5719" y="354"/>
                  </a:cubicBezTo>
                  <a:cubicBezTo>
                    <a:pt x="5745" y="354"/>
                    <a:pt x="5767" y="375"/>
                    <a:pt x="5767" y="402"/>
                  </a:cubicBezTo>
                  <a:close/>
                  <a:moveTo>
                    <a:pt x="5868" y="402"/>
                  </a:moveTo>
                  <a:cubicBezTo>
                    <a:pt x="5868" y="428"/>
                    <a:pt x="5846" y="450"/>
                    <a:pt x="5820" y="450"/>
                  </a:cubicBezTo>
                  <a:cubicBezTo>
                    <a:pt x="5793" y="450"/>
                    <a:pt x="5772" y="428"/>
                    <a:pt x="5772" y="402"/>
                  </a:cubicBezTo>
                  <a:cubicBezTo>
                    <a:pt x="5772" y="375"/>
                    <a:pt x="5793" y="354"/>
                    <a:pt x="5820" y="354"/>
                  </a:cubicBezTo>
                  <a:cubicBezTo>
                    <a:pt x="5846" y="354"/>
                    <a:pt x="5868" y="375"/>
                    <a:pt x="5868" y="402"/>
                  </a:cubicBezTo>
                  <a:close/>
                  <a:moveTo>
                    <a:pt x="5970" y="402"/>
                  </a:moveTo>
                  <a:cubicBezTo>
                    <a:pt x="5970" y="428"/>
                    <a:pt x="5948" y="450"/>
                    <a:pt x="5922" y="450"/>
                  </a:cubicBezTo>
                  <a:cubicBezTo>
                    <a:pt x="5895" y="450"/>
                    <a:pt x="5874" y="428"/>
                    <a:pt x="5874" y="402"/>
                  </a:cubicBezTo>
                  <a:cubicBezTo>
                    <a:pt x="5874" y="375"/>
                    <a:pt x="5895" y="354"/>
                    <a:pt x="5922" y="354"/>
                  </a:cubicBezTo>
                  <a:cubicBezTo>
                    <a:pt x="5948" y="354"/>
                    <a:pt x="5970" y="375"/>
                    <a:pt x="5970" y="402"/>
                  </a:cubicBezTo>
                  <a:close/>
                  <a:moveTo>
                    <a:pt x="6071" y="402"/>
                  </a:moveTo>
                  <a:cubicBezTo>
                    <a:pt x="6071" y="428"/>
                    <a:pt x="6049" y="450"/>
                    <a:pt x="6023" y="450"/>
                  </a:cubicBezTo>
                  <a:cubicBezTo>
                    <a:pt x="5996" y="450"/>
                    <a:pt x="5975" y="428"/>
                    <a:pt x="5975" y="402"/>
                  </a:cubicBezTo>
                  <a:cubicBezTo>
                    <a:pt x="5975" y="375"/>
                    <a:pt x="5996" y="354"/>
                    <a:pt x="6023" y="354"/>
                  </a:cubicBezTo>
                  <a:cubicBezTo>
                    <a:pt x="6049" y="354"/>
                    <a:pt x="6071" y="375"/>
                    <a:pt x="6071" y="402"/>
                  </a:cubicBezTo>
                  <a:close/>
                  <a:moveTo>
                    <a:pt x="6172" y="402"/>
                  </a:moveTo>
                  <a:cubicBezTo>
                    <a:pt x="6172" y="428"/>
                    <a:pt x="6150" y="450"/>
                    <a:pt x="6124" y="450"/>
                  </a:cubicBezTo>
                  <a:cubicBezTo>
                    <a:pt x="6097" y="450"/>
                    <a:pt x="6076" y="428"/>
                    <a:pt x="6076" y="402"/>
                  </a:cubicBezTo>
                  <a:cubicBezTo>
                    <a:pt x="6076" y="375"/>
                    <a:pt x="6097" y="354"/>
                    <a:pt x="6124" y="354"/>
                  </a:cubicBezTo>
                  <a:cubicBezTo>
                    <a:pt x="6150" y="354"/>
                    <a:pt x="6172" y="375"/>
                    <a:pt x="6172" y="402"/>
                  </a:cubicBezTo>
                  <a:close/>
                  <a:moveTo>
                    <a:pt x="6273" y="402"/>
                  </a:moveTo>
                  <a:cubicBezTo>
                    <a:pt x="6273" y="428"/>
                    <a:pt x="6251" y="450"/>
                    <a:pt x="6225" y="450"/>
                  </a:cubicBezTo>
                  <a:cubicBezTo>
                    <a:pt x="6198" y="450"/>
                    <a:pt x="6177" y="428"/>
                    <a:pt x="6177" y="402"/>
                  </a:cubicBezTo>
                  <a:cubicBezTo>
                    <a:pt x="6177" y="375"/>
                    <a:pt x="6198" y="354"/>
                    <a:pt x="6225" y="354"/>
                  </a:cubicBezTo>
                  <a:cubicBezTo>
                    <a:pt x="6251" y="354"/>
                    <a:pt x="6273" y="375"/>
                    <a:pt x="6273" y="402"/>
                  </a:cubicBezTo>
                  <a:close/>
                  <a:moveTo>
                    <a:pt x="6375" y="402"/>
                  </a:moveTo>
                  <a:cubicBezTo>
                    <a:pt x="6375" y="428"/>
                    <a:pt x="6353" y="450"/>
                    <a:pt x="6327" y="450"/>
                  </a:cubicBezTo>
                  <a:cubicBezTo>
                    <a:pt x="6300" y="450"/>
                    <a:pt x="6279" y="428"/>
                    <a:pt x="6279" y="402"/>
                  </a:cubicBezTo>
                  <a:cubicBezTo>
                    <a:pt x="6279" y="375"/>
                    <a:pt x="6300" y="354"/>
                    <a:pt x="6327" y="354"/>
                  </a:cubicBezTo>
                  <a:cubicBezTo>
                    <a:pt x="6353" y="354"/>
                    <a:pt x="6375" y="375"/>
                    <a:pt x="6375" y="402"/>
                  </a:cubicBezTo>
                  <a:close/>
                  <a:moveTo>
                    <a:pt x="6476" y="402"/>
                  </a:moveTo>
                  <a:cubicBezTo>
                    <a:pt x="6476" y="428"/>
                    <a:pt x="6454" y="450"/>
                    <a:pt x="6428" y="450"/>
                  </a:cubicBezTo>
                  <a:cubicBezTo>
                    <a:pt x="6401" y="450"/>
                    <a:pt x="6380" y="428"/>
                    <a:pt x="6380" y="402"/>
                  </a:cubicBezTo>
                  <a:cubicBezTo>
                    <a:pt x="6380" y="375"/>
                    <a:pt x="6401" y="354"/>
                    <a:pt x="6428" y="354"/>
                  </a:cubicBezTo>
                  <a:cubicBezTo>
                    <a:pt x="6454" y="354"/>
                    <a:pt x="6476" y="375"/>
                    <a:pt x="6476" y="402"/>
                  </a:cubicBezTo>
                  <a:close/>
                  <a:moveTo>
                    <a:pt x="6577" y="402"/>
                  </a:moveTo>
                  <a:cubicBezTo>
                    <a:pt x="6577" y="428"/>
                    <a:pt x="6555" y="450"/>
                    <a:pt x="6529" y="450"/>
                  </a:cubicBezTo>
                  <a:cubicBezTo>
                    <a:pt x="6502" y="450"/>
                    <a:pt x="6481" y="428"/>
                    <a:pt x="6481" y="402"/>
                  </a:cubicBezTo>
                  <a:cubicBezTo>
                    <a:pt x="6481" y="375"/>
                    <a:pt x="6502" y="354"/>
                    <a:pt x="6529" y="354"/>
                  </a:cubicBezTo>
                  <a:cubicBezTo>
                    <a:pt x="6555" y="354"/>
                    <a:pt x="6577" y="375"/>
                    <a:pt x="6577" y="402"/>
                  </a:cubicBezTo>
                  <a:close/>
                  <a:moveTo>
                    <a:pt x="6678" y="402"/>
                  </a:moveTo>
                  <a:cubicBezTo>
                    <a:pt x="6678" y="428"/>
                    <a:pt x="6656" y="450"/>
                    <a:pt x="6630" y="450"/>
                  </a:cubicBezTo>
                  <a:cubicBezTo>
                    <a:pt x="6603" y="450"/>
                    <a:pt x="6582" y="428"/>
                    <a:pt x="6582" y="402"/>
                  </a:cubicBezTo>
                  <a:cubicBezTo>
                    <a:pt x="6582" y="375"/>
                    <a:pt x="6603" y="354"/>
                    <a:pt x="6630" y="354"/>
                  </a:cubicBezTo>
                  <a:cubicBezTo>
                    <a:pt x="6656" y="354"/>
                    <a:pt x="6678" y="375"/>
                    <a:pt x="6678" y="402"/>
                  </a:cubicBezTo>
                  <a:close/>
                  <a:moveTo>
                    <a:pt x="6780" y="402"/>
                  </a:moveTo>
                  <a:cubicBezTo>
                    <a:pt x="6780" y="428"/>
                    <a:pt x="6758" y="450"/>
                    <a:pt x="6732" y="450"/>
                  </a:cubicBezTo>
                  <a:cubicBezTo>
                    <a:pt x="6705" y="450"/>
                    <a:pt x="6684" y="428"/>
                    <a:pt x="6684" y="402"/>
                  </a:cubicBezTo>
                  <a:cubicBezTo>
                    <a:pt x="6684" y="375"/>
                    <a:pt x="6705" y="354"/>
                    <a:pt x="6732" y="354"/>
                  </a:cubicBezTo>
                  <a:cubicBezTo>
                    <a:pt x="6758" y="354"/>
                    <a:pt x="6780" y="375"/>
                    <a:pt x="6780" y="402"/>
                  </a:cubicBezTo>
                  <a:close/>
                  <a:moveTo>
                    <a:pt x="6881" y="402"/>
                  </a:moveTo>
                  <a:cubicBezTo>
                    <a:pt x="6881" y="428"/>
                    <a:pt x="6859" y="450"/>
                    <a:pt x="6833" y="450"/>
                  </a:cubicBezTo>
                  <a:cubicBezTo>
                    <a:pt x="6806" y="450"/>
                    <a:pt x="6785" y="428"/>
                    <a:pt x="6785" y="402"/>
                  </a:cubicBezTo>
                  <a:cubicBezTo>
                    <a:pt x="6785" y="375"/>
                    <a:pt x="6806" y="354"/>
                    <a:pt x="6833" y="354"/>
                  </a:cubicBezTo>
                  <a:cubicBezTo>
                    <a:pt x="6859" y="354"/>
                    <a:pt x="6881" y="375"/>
                    <a:pt x="6881" y="402"/>
                  </a:cubicBezTo>
                  <a:close/>
                  <a:moveTo>
                    <a:pt x="6982" y="402"/>
                  </a:moveTo>
                  <a:cubicBezTo>
                    <a:pt x="6982" y="428"/>
                    <a:pt x="6960" y="450"/>
                    <a:pt x="6934" y="450"/>
                  </a:cubicBezTo>
                  <a:cubicBezTo>
                    <a:pt x="6907" y="450"/>
                    <a:pt x="6886" y="428"/>
                    <a:pt x="6886" y="402"/>
                  </a:cubicBezTo>
                  <a:cubicBezTo>
                    <a:pt x="6886" y="375"/>
                    <a:pt x="6907" y="354"/>
                    <a:pt x="6934" y="354"/>
                  </a:cubicBezTo>
                  <a:cubicBezTo>
                    <a:pt x="6960" y="354"/>
                    <a:pt x="6982" y="375"/>
                    <a:pt x="6982" y="402"/>
                  </a:cubicBezTo>
                  <a:close/>
                  <a:moveTo>
                    <a:pt x="7083" y="402"/>
                  </a:moveTo>
                  <a:cubicBezTo>
                    <a:pt x="7083" y="428"/>
                    <a:pt x="7061" y="450"/>
                    <a:pt x="7035" y="450"/>
                  </a:cubicBezTo>
                  <a:cubicBezTo>
                    <a:pt x="7008" y="450"/>
                    <a:pt x="6987" y="428"/>
                    <a:pt x="6987" y="402"/>
                  </a:cubicBezTo>
                  <a:cubicBezTo>
                    <a:pt x="6987" y="375"/>
                    <a:pt x="7008" y="354"/>
                    <a:pt x="7035" y="354"/>
                  </a:cubicBezTo>
                  <a:cubicBezTo>
                    <a:pt x="7061" y="354"/>
                    <a:pt x="7083" y="375"/>
                    <a:pt x="7083" y="402"/>
                  </a:cubicBezTo>
                  <a:close/>
                  <a:moveTo>
                    <a:pt x="7185" y="402"/>
                  </a:moveTo>
                  <a:cubicBezTo>
                    <a:pt x="7185" y="428"/>
                    <a:pt x="7163" y="450"/>
                    <a:pt x="7137" y="450"/>
                  </a:cubicBezTo>
                  <a:cubicBezTo>
                    <a:pt x="7110" y="450"/>
                    <a:pt x="7089" y="428"/>
                    <a:pt x="7089" y="402"/>
                  </a:cubicBezTo>
                  <a:cubicBezTo>
                    <a:pt x="7089" y="375"/>
                    <a:pt x="7110" y="354"/>
                    <a:pt x="7137" y="354"/>
                  </a:cubicBezTo>
                  <a:cubicBezTo>
                    <a:pt x="7163" y="354"/>
                    <a:pt x="7185" y="375"/>
                    <a:pt x="7185" y="402"/>
                  </a:cubicBezTo>
                  <a:close/>
                  <a:moveTo>
                    <a:pt x="7286" y="402"/>
                  </a:moveTo>
                  <a:cubicBezTo>
                    <a:pt x="7286" y="428"/>
                    <a:pt x="7264" y="450"/>
                    <a:pt x="7238" y="450"/>
                  </a:cubicBezTo>
                  <a:cubicBezTo>
                    <a:pt x="7211" y="450"/>
                    <a:pt x="7190" y="428"/>
                    <a:pt x="7190" y="402"/>
                  </a:cubicBezTo>
                  <a:cubicBezTo>
                    <a:pt x="7190" y="375"/>
                    <a:pt x="7211" y="354"/>
                    <a:pt x="7238" y="354"/>
                  </a:cubicBezTo>
                  <a:cubicBezTo>
                    <a:pt x="7264" y="354"/>
                    <a:pt x="7286" y="375"/>
                    <a:pt x="7286" y="402"/>
                  </a:cubicBezTo>
                  <a:close/>
                  <a:moveTo>
                    <a:pt x="7387" y="402"/>
                  </a:moveTo>
                  <a:cubicBezTo>
                    <a:pt x="7387" y="428"/>
                    <a:pt x="7365" y="450"/>
                    <a:pt x="7339" y="450"/>
                  </a:cubicBezTo>
                  <a:cubicBezTo>
                    <a:pt x="7312" y="450"/>
                    <a:pt x="7291" y="428"/>
                    <a:pt x="7291" y="402"/>
                  </a:cubicBezTo>
                  <a:cubicBezTo>
                    <a:pt x="7291" y="375"/>
                    <a:pt x="7312" y="354"/>
                    <a:pt x="7339" y="354"/>
                  </a:cubicBezTo>
                  <a:cubicBezTo>
                    <a:pt x="7365" y="354"/>
                    <a:pt x="7387" y="375"/>
                    <a:pt x="7387" y="402"/>
                  </a:cubicBezTo>
                  <a:close/>
                  <a:moveTo>
                    <a:pt x="7488" y="402"/>
                  </a:moveTo>
                  <a:cubicBezTo>
                    <a:pt x="7488" y="428"/>
                    <a:pt x="7466" y="450"/>
                    <a:pt x="7440" y="450"/>
                  </a:cubicBezTo>
                  <a:cubicBezTo>
                    <a:pt x="7413" y="450"/>
                    <a:pt x="7392" y="428"/>
                    <a:pt x="7392" y="402"/>
                  </a:cubicBezTo>
                  <a:cubicBezTo>
                    <a:pt x="7392" y="375"/>
                    <a:pt x="7413" y="354"/>
                    <a:pt x="7440" y="354"/>
                  </a:cubicBezTo>
                  <a:cubicBezTo>
                    <a:pt x="7466" y="354"/>
                    <a:pt x="7488" y="375"/>
                    <a:pt x="7488" y="402"/>
                  </a:cubicBezTo>
                  <a:close/>
                  <a:moveTo>
                    <a:pt x="7589" y="402"/>
                  </a:moveTo>
                  <a:cubicBezTo>
                    <a:pt x="7589" y="428"/>
                    <a:pt x="7567" y="450"/>
                    <a:pt x="7541" y="450"/>
                  </a:cubicBezTo>
                  <a:cubicBezTo>
                    <a:pt x="7514" y="450"/>
                    <a:pt x="7493" y="428"/>
                    <a:pt x="7493" y="402"/>
                  </a:cubicBezTo>
                  <a:cubicBezTo>
                    <a:pt x="7493" y="375"/>
                    <a:pt x="7514" y="354"/>
                    <a:pt x="7541" y="354"/>
                  </a:cubicBezTo>
                  <a:cubicBezTo>
                    <a:pt x="7567" y="354"/>
                    <a:pt x="7589" y="375"/>
                    <a:pt x="7589" y="402"/>
                  </a:cubicBezTo>
                  <a:close/>
                  <a:moveTo>
                    <a:pt x="7691" y="402"/>
                  </a:moveTo>
                  <a:cubicBezTo>
                    <a:pt x="7691" y="428"/>
                    <a:pt x="7669" y="450"/>
                    <a:pt x="7643" y="450"/>
                  </a:cubicBezTo>
                  <a:cubicBezTo>
                    <a:pt x="7616" y="450"/>
                    <a:pt x="7595" y="428"/>
                    <a:pt x="7595" y="402"/>
                  </a:cubicBezTo>
                  <a:cubicBezTo>
                    <a:pt x="7595" y="375"/>
                    <a:pt x="7616" y="354"/>
                    <a:pt x="7643" y="354"/>
                  </a:cubicBezTo>
                  <a:cubicBezTo>
                    <a:pt x="7669" y="354"/>
                    <a:pt x="7691" y="375"/>
                    <a:pt x="7691" y="402"/>
                  </a:cubicBezTo>
                  <a:close/>
                  <a:moveTo>
                    <a:pt x="7792" y="402"/>
                  </a:moveTo>
                  <a:cubicBezTo>
                    <a:pt x="7792" y="428"/>
                    <a:pt x="7770" y="450"/>
                    <a:pt x="7744" y="450"/>
                  </a:cubicBezTo>
                  <a:cubicBezTo>
                    <a:pt x="7717" y="450"/>
                    <a:pt x="7696" y="428"/>
                    <a:pt x="7696" y="402"/>
                  </a:cubicBezTo>
                  <a:cubicBezTo>
                    <a:pt x="7696" y="375"/>
                    <a:pt x="7717" y="354"/>
                    <a:pt x="7744" y="354"/>
                  </a:cubicBezTo>
                  <a:cubicBezTo>
                    <a:pt x="7770" y="354"/>
                    <a:pt x="7792" y="375"/>
                    <a:pt x="7792" y="402"/>
                  </a:cubicBezTo>
                  <a:close/>
                  <a:moveTo>
                    <a:pt x="7893" y="402"/>
                  </a:moveTo>
                  <a:cubicBezTo>
                    <a:pt x="7893" y="428"/>
                    <a:pt x="7871" y="450"/>
                    <a:pt x="7845" y="450"/>
                  </a:cubicBezTo>
                  <a:cubicBezTo>
                    <a:pt x="7818" y="450"/>
                    <a:pt x="7797" y="428"/>
                    <a:pt x="7797" y="402"/>
                  </a:cubicBezTo>
                  <a:cubicBezTo>
                    <a:pt x="7797" y="375"/>
                    <a:pt x="7818" y="354"/>
                    <a:pt x="7845" y="354"/>
                  </a:cubicBezTo>
                  <a:cubicBezTo>
                    <a:pt x="7871" y="354"/>
                    <a:pt x="7893" y="375"/>
                    <a:pt x="7893" y="402"/>
                  </a:cubicBezTo>
                  <a:close/>
                  <a:moveTo>
                    <a:pt x="7994" y="402"/>
                  </a:moveTo>
                  <a:cubicBezTo>
                    <a:pt x="7994" y="428"/>
                    <a:pt x="7972" y="450"/>
                    <a:pt x="7946" y="450"/>
                  </a:cubicBezTo>
                  <a:cubicBezTo>
                    <a:pt x="7919" y="450"/>
                    <a:pt x="7898" y="428"/>
                    <a:pt x="7898" y="402"/>
                  </a:cubicBezTo>
                  <a:cubicBezTo>
                    <a:pt x="7898" y="375"/>
                    <a:pt x="7919" y="354"/>
                    <a:pt x="7946" y="354"/>
                  </a:cubicBezTo>
                  <a:cubicBezTo>
                    <a:pt x="7972" y="354"/>
                    <a:pt x="7994" y="375"/>
                    <a:pt x="7994" y="402"/>
                  </a:cubicBezTo>
                  <a:close/>
                  <a:moveTo>
                    <a:pt x="8096" y="402"/>
                  </a:moveTo>
                  <a:cubicBezTo>
                    <a:pt x="8096" y="428"/>
                    <a:pt x="8074" y="450"/>
                    <a:pt x="8048" y="450"/>
                  </a:cubicBezTo>
                  <a:cubicBezTo>
                    <a:pt x="8021" y="450"/>
                    <a:pt x="8000" y="428"/>
                    <a:pt x="8000" y="402"/>
                  </a:cubicBezTo>
                  <a:cubicBezTo>
                    <a:pt x="8000" y="375"/>
                    <a:pt x="8021" y="354"/>
                    <a:pt x="8048" y="354"/>
                  </a:cubicBezTo>
                  <a:cubicBezTo>
                    <a:pt x="8074" y="354"/>
                    <a:pt x="8096" y="375"/>
                    <a:pt x="8096" y="402"/>
                  </a:cubicBezTo>
                  <a:close/>
                  <a:moveTo>
                    <a:pt x="8197" y="402"/>
                  </a:moveTo>
                  <a:cubicBezTo>
                    <a:pt x="8197" y="428"/>
                    <a:pt x="8175" y="450"/>
                    <a:pt x="8149" y="450"/>
                  </a:cubicBezTo>
                  <a:cubicBezTo>
                    <a:pt x="8122" y="450"/>
                    <a:pt x="8101" y="428"/>
                    <a:pt x="8101" y="402"/>
                  </a:cubicBezTo>
                  <a:cubicBezTo>
                    <a:pt x="8101" y="375"/>
                    <a:pt x="8122" y="354"/>
                    <a:pt x="8149" y="354"/>
                  </a:cubicBezTo>
                  <a:cubicBezTo>
                    <a:pt x="8175" y="354"/>
                    <a:pt x="8197" y="375"/>
                    <a:pt x="8197" y="40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37" name="Forma 36"/>
            <p:cNvSpPr/>
            <p:nvPr/>
          </p:nvSpPr>
          <p:spPr>
            <a:xfrm>
              <a:off x="274320" y="2377440"/>
              <a:ext cx="7498080" cy="411480"/>
            </a:xfrm>
            <a:custGeom>
              <a:avLst/>
              <a:gdLst/>
              <a:ahLst/>
              <a:cxnLst/>
              <a:rect l="0" t="0" r="r" b="b"/>
              <a:pathLst>
                <a:path w="8200" h="450" fill="none">
                  <a:moveTo>
                    <a:pt x="34" y="96"/>
                  </a:moveTo>
                  <a:lnTo>
                    <a:pt x="34" y="215"/>
                  </a:lnTo>
                </a:path>
                <a:path w="8200" h="450" fill="none">
                  <a:moveTo>
                    <a:pt x="66" y="96"/>
                  </a:moveTo>
                  <a:lnTo>
                    <a:pt x="66" y="215"/>
                  </a:lnTo>
                </a:path>
                <a:path w="8200" h="450" fill="none">
                  <a:moveTo>
                    <a:pt x="34" y="354"/>
                  </a:moveTo>
                  <a:lnTo>
                    <a:pt x="34" y="235"/>
                  </a:lnTo>
                </a:path>
                <a:path w="8200" h="450" fill="none">
                  <a:moveTo>
                    <a:pt x="66" y="354"/>
                  </a:moveTo>
                  <a:lnTo>
                    <a:pt x="66" y="235"/>
                  </a:lnTo>
                </a:path>
                <a:path w="8200" h="450" fill="none">
                  <a:moveTo>
                    <a:pt x="135" y="96"/>
                  </a:moveTo>
                  <a:lnTo>
                    <a:pt x="135" y="215"/>
                  </a:lnTo>
                </a:path>
                <a:path w="8200" h="450" fill="none">
                  <a:moveTo>
                    <a:pt x="167" y="96"/>
                  </a:moveTo>
                  <a:lnTo>
                    <a:pt x="167" y="215"/>
                  </a:lnTo>
                </a:path>
                <a:path w="8200" h="450" fill="none">
                  <a:moveTo>
                    <a:pt x="135" y="354"/>
                  </a:moveTo>
                  <a:lnTo>
                    <a:pt x="135" y="235"/>
                  </a:lnTo>
                </a:path>
                <a:path w="8200" h="450" fill="none">
                  <a:moveTo>
                    <a:pt x="167" y="354"/>
                  </a:moveTo>
                  <a:lnTo>
                    <a:pt x="167" y="235"/>
                  </a:lnTo>
                </a:path>
                <a:path w="8200" h="450" fill="none">
                  <a:moveTo>
                    <a:pt x="237" y="96"/>
                  </a:moveTo>
                  <a:lnTo>
                    <a:pt x="237" y="215"/>
                  </a:lnTo>
                </a:path>
                <a:path w="8200" h="450" fill="none">
                  <a:moveTo>
                    <a:pt x="269" y="96"/>
                  </a:moveTo>
                  <a:lnTo>
                    <a:pt x="269" y="215"/>
                  </a:lnTo>
                </a:path>
                <a:path w="8200" h="450" fill="none">
                  <a:moveTo>
                    <a:pt x="237" y="354"/>
                  </a:moveTo>
                  <a:lnTo>
                    <a:pt x="237" y="235"/>
                  </a:lnTo>
                </a:path>
                <a:path w="8200" h="450" fill="none">
                  <a:moveTo>
                    <a:pt x="269" y="354"/>
                  </a:moveTo>
                  <a:lnTo>
                    <a:pt x="269" y="235"/>
                  </a:lnTo>
                </a:path>
                <a:path w="8200" h="450" fill="none">
                  <a:moveTo>
                    <a:pt x="338" y="96"/>
                  </a:moveTo>
                  <a:lnTo>
                    <a:pt x="338" y="215"/>
                  </a:lnTo>
                </a:path>
                <a:path w="8200" h="450" fill="none">
                  <a:moveTo>
                    <a:pt x="370" y="96"/>
                  </a:moveTo>
                  <a:lnTo>
                    <a:pt x="370" y="215"/>
                  </a:lnTo>
                </a:path>
                <a:path w="8200" h="450" fill="none">
                  <a:moveTo>
                    <a:pt x="338" y="354"/>
                  </a:moveTo>
                  <a:lnTo>
                    <a:pt x="338" y="235"/>
                  </a:lnTo>
                </a:path>
                <a:path w="8200" h="450" fill="none">
                  <a:moveTo>
                    <a:pt x="370" y="354"/>
                  </a:moveTo>
                  <a:lnTo>
                    <a:pt x="370" y="235"/>
                  </a:lnTo>
                </a:path>
                <a:path w="8200" h="450" fill="none">
                  <a:moveTo>
                    <a:pt x="439" y="96"/>
                  </a:moveTo>
                  <a:lnTo>
                    <a:pt x="439" y="215"/>
                  </a:lnTo>
                </a:path>
                <a:path w="8200" h="450" fill="none">
                  <a:moveTo>
                    <a:pt x="471" y="96"/>
                  </a:moveTo>
                  <a:lnTo>
                    <a:pt x="471" y="215"/>
                  </a:lnTo>
                </a:path>
                <a:path w="8200" h="450" fill="none">
                  <a:moveTo>
                    <a:pt x="439" y="354"/>
                  </a:moveTo>
                  <a:lnTo>
                    <a:pt x="439" y="235"/>
                  </a:lnTo>
                </a:path>
                <a:path w="8200" h="450" fill="none">
                  <a:moveTo>
                    <a:pt x="471" y="354"/>
                  </a:moveTo>
                  <a:lnTo>
                    <a:pt x="471" y="235"/>
                  </a:lnTo>
                </a:path>
                <a:path w="8200" h="450" fill="none">
                  <a:moveTo>
                    <a:pt x="540" y="96"/>
                  </a:moveTo>
                  <a:lnTo>
                    <a:pt x="540" y="215"/>
                  </a:lnTo>
                </a:path>
                <a:path w="8200" h="450" fill="none">
                  <a:moveTo>
                    <a:pt x="572" y="96"/>
                  </a:moveTo>
                  <a:lnTo>
                    <a:pt x="572" y="215"/>
                  </a:lnTo>
                </a:path>
                <a:path w="8200" h="450" fill="none">
                  <a:moveTo>
                    <a:pt x="540" y="354"/>
                  </a:moveTo>
                  <a:lnTo>
                    <a:pt x="540" y="235"/>
                  </a:lnTo>
                </a:path>
                <a:path w="8200" h="450" fill="none">
                  <a:moveTo>
                    <a:pt x="572" y="354"/>
                  </a:moveTo>
                  <a:lnTo>
                    <a:pt x="572" y="235"/>
                  </a:lnTo>
                </a:path>
                <a:path w="8200" h="450" fill="none">
                  <a:moveTo>
                    <a:pt x="642" y="96"/>
                  </a:moveTo>
                  <a:lnTo>
                    <a:pt x="642" y="215"/>
                  </a:lnTo>
                </a:path>
                <a:path w="8200" h="450" fill="none">
                  <a:moveTo>
                    <a:pt x="674" y="96"/>
                  </a:moveTo>
                  <a:lnTo>
                    <a:pt x="674" y="215"/>
                  </a:lnTo>
                </a:path>
                <a:path w="8200" h="450" fill="none">
                  <a:moveTo>
                    <a:pt x="642" y="354"/>
                  </a:moveTo>
                  <a:lnTo>
                    <a:pt x="642" y="235"/>
                  </a:lnTo>
                </a:path>
                <a:path w="8200" h="450" fill="none">
                  <a:moveTo>
                    <a:pt x="674" y="354"/>
                  </a:moveTo>
                  <a:lnTo>
                    <a:pt x="674" y="235"/>
                  </a:lnTo>
                </a:path>
                <a:path w="8200" h="450" fill="none">
                  <a:moveTo>
                    <a:pt x="743" y="96"/>
                  </a:moveTo>
                  <a:lnTo>
                    <a:pt x="743" y="215"/>
                  </a:lnTo>
                </a:path>
                <a:path w="8200" h="450" fill="none">
                  <a:moveTo>
                    <a:pt x="775" y="96"/>
                  </a:moveTo>
                  <a:lnTo>
                    <a:pt x="775" y="215"/>
                  </a:lnTo>
                </a:path>
                <a:path w="8200" h="450" fill="none">
                  <a:moveTo>
                    <a:pt x="743" y="354"/>
                  </a:moveTo>
                  <a:lnTo>
                    <a:pt x="743" y="235"/>
                  </a:lnTo>
                </a:path>
                <a:path w="8200" h="450" fill="none">
                  <a:moveTo>
                    <a:pt x="775" y="354"/>
                  </a:moveTo>
                  <a:lnTo>
                    <a:pt x="775" y="235"/>
                  </a:lnTo>
                </a:path>
                <a:path w="8200" h="450" fill="none">
                  <a:moveTo>
                    <a:pt x="844" y="96"/>
                  </a:moveTo>
                  <a:lnTo>
                    <a:pt x="844" y="215"/>
                  </a:lnTo>
                </a:path>
                <a:path w="8200" h="450" fill="none">
                  <a:moveTo>
                    <a:pt x="876" y="96"/>
                  </a:moveTo>
                  <a:lnTo>
                    <a:pt x="876" y="215"/>
                  </a:lnTo>
                </a:path>
                <a:path w="8200" h="450" fill="none">
                  <a:moveTo>
                    <a:pt x="844" y="354"/>
                  </a:moveTo>
                  <a:lnTo>
                    <a:pt x="844" y="235"/>
                  </a:lnTo>
                </a:path>
                <a:path w="8200" h="450" fill="none">
                  <a:moveTo>
                    <a:pt x="876" y="354"/>
                  </a:moveTo>
                  <a:lnTo>
                    <a:pt x="876" y="235"/>
                  </a:lnTo>
                </a:path>
                <a:path w="8200" h="450" fill="none">
                  <a:moveTo>
                    <a:pt x="945" y="96"/>
                  </a:moveTo>
                  <a:lnTo>
                    <a:pt x="945" y="215"/>
                  </a:lnTo>
                </a:path>
                <a:path w="8200" h="450" fill="none">
                  <a:moveTo>
                    <a:pt x="977" y="96"/>
                  </a:moveTo>
                  <a:lnTo>
                    <a:pt x="977" y="215"/>
                  </a:lnTo>
                </a:path>
                <a:path w="8200" h="450" fill="none">
                  <a:moveTo>
                    <a:pt x="945" y="354"/>
                  </a:moveTo>
                  <a:lnTo>
                    <a:pt x="945" y="235"/>
                  </a:lnTo>
                </a:path>
                <a:path w="8200" h="450" fill="none">
                  <a:moveTo>
                    <a:pt x="977" y="354"/>
                  </a:moveTo>
                  <a:lnTo>
                    <a:pt x="977" y="235"/>
                  </a:lnTo>
                </a:path>
                <a:path w="8200" h="450" fill="none">
                  <a:moveTo>
                    <a:pt x="1046" y="96"/>
                  </a:moveTo>
                  <a:lnTo>
                    <a:pt x="1046" y="215"/>
                  </a:lnTo>
                </a:path>
                <a:path w="8200" h="450" fill="none">
                  <a:moveTo>
                    <a:pt x="1078" y="96"/>
                  </a:moveTo>
                  <a:lnTo>
                    <a:pt x="1078" y="215"/>
                  </a:lnTo>
                </a:path>
                <a:path w="8200" h="450" fill="none">
                  <a:moveTo>
                    <a:pt x="1046" y="354"/>
                  </a:moveTo>
                  <a:lnTo>
                    <a:pt x="1046" y="235"/>
                  </a:lnTo>
                </a:path>
                <a:path w="8200" h="450" fill="none">
                  <a:moveTo>
                    <a:pt x="1078" y="354"/>
                  </a:moveTo>
                  <a:lnTo>
                    <a:pt x="1078" y="235"/>
                  </a:lnTo>
                </a:path>
                <a:path w="8200" h="450" fill="none">
                  <a:moveTo>
                    <a:pt x="1148" y="96"/>
                  </a:moveTo>
                  <a:lnTo>
                    <a:pt x="1148" y="215"/>
                  </a:lnTo>
                </a:path>
                <a:path w="8200" h="450" fill="none">
                  <a:moveTo>
                    <a:pt x="1180" y="96"/>
                  </a:moveTo>
                  <a:lnTo>
                    <a:pt x="1180" y="215"/>
                  </a:lnTo>
                </a:path>
                <a:path w="8200" h="450" fill="none">
                  <a:moveTo>
                    <a:pt x="1148" y="354"/>
                  </a:moveTo>
                  <a:lnTo>
                    <a:pt x="1148" y="235"/>
                  </a:lnTo>
                </a:path>
                <a:path w="8200" h="450" fill="none">
                  <a:moveTo>
                    <a:pt x="1180" y="354"/>
                  </a:moveTo>
                  <a:lnTo>
                    <a:pt x="1180" y="235"/>
                  </a:lnTo>
                </a:path>
                <a:path w="8200" h="450" fill="none">
                  <a:moveTo>
                    <a:pt x="1249" y="96"/>
                  </a:moveTo>
                  <a:lnTo>
                    <a:pt x="1249" y="215"/>
                  </a:lnTo>
                </a:path>
                <a:path w="8200" h="450" fill="none">
                  <a:moveTo>
                    <a:pt x="1281" y="96"/>
                  </a:moveTo>
                  <a:lnTo>
                    <a:pt x="1281" y="215"/>
                  </a:lnTo>
                </a:path>
                <a:path w="8200" h="450" fill="none">
                  <a:moveTo>
                    <a:pt x="1249" y="354"/>
                  </a:moveTo>
                  <a:lnTo>
                    <a:pt x="1249" y="235"/>
                  </a:lnTo>
                </a:path>
                <a:path w="8200" h="450" fill="none">
                  <a:moveTo>
                    <a:pt x="1281" y="354"/>
                  </a:moveTo>
                  <a:lnTo>
                    <a:pt x="1281" y="235"/>
                  </a:lnTo>
                </a:path>
                <a:path w="8200" h="450" fill="none">
                  <a:moveTo>
                    <a:pt x="1350" y="96"/>
                  </a:moveTo>
                  <a:lnTo>
                    <a:pt x="1350" y="215"/>
                  </a:lnTo>
                </a:path>
                <a:path w="8200" h="450" fill="none">
                  <a:moveTo>
                    <a:pt x="1382" y="96"/>
                  </a:moveTo>
                  <a:lnTo>
                    <a:pt x="1382" y="215"/>
                  </a:lnTo>
                </a:path>
                <a:path w="8200" h="450" fill="none">
                  <a:moveTo>
                    <a:pt x="1350" y="354"/>
                  </a:moveTo>
                  <a:lnTo>
                    <a:pt x="1350" y="235"/>
                  </a:lnTo>
                </a:path>
                <a:path w="8200" h="450" fill="none">
                  <a:moveTo>
                    <a:pt x="1382" y="354"/>
                  </a:moveTo>
                  <a:lnTo>
                    <a:pt x="1382" y="235"/>
                  </a:lnTo>
                </a:path>
                <a:path w="8200" h="450" fill="none">
                  <a:moveTo>
                    <a:pt x="1451" y="96"/>
                  </a:moveTo>
                  <a:lnTo>
                    <a:pt x="1451" y="215"/>
                  </a:lnTo>
                </a:path>
                <a:path w="8200" h="450" fill="none">
                  <a:moveTo>
                    <a:pt x="1483" y="96"/>
                  </a:moveTo>
                  <a:lnTo>
                    <a:pt x="1483" y="215"/>
                  </a:lnTo>
                </a:path>
                <a:path w="8200" h="450" fill="none">
                  <a:moveTo>
                    <a:pt x="1451" y="354"/>
                  </a:moveTo>
                  <a:lnTo>
                    <a:pt x="1451" y="235"/>
                  </a:lnTo>
                </a:path>
                <a:path w="8200" h="450" fill="none">
                  <a:moveTo>
                    <a:pt x="1483" y="354"/>
                  </a:moveTo>
                  <a:lnTo>
                    <a:pt x="1483" y="235"/>
                  </a:lnTo>
                </a:path>
                <a:path w="8200" h="450" fill="none">
                  <a:moveTo>
                    <a:pt x="1553" y="96"/>
                  </a:moveTo>
                  <a:lnTo>
                    <a:pt x="1553" y="215"/>
                  </a:lnTo>
                </a:path>
                <a:path w="8200" h="450" fill="none">
                  <a:moveTo>
                    <a:pt x="1585" y="96"/>
                  </a:moveTo>
                  <a:lnTo>
                    <a:pt x="1585" y="215"/>
                  </a:lnTo>
                </a:path>
                <a:path w="8200" h="450" fill="none">
                  <a:moveTo>
                    <a:pt x="1553" y="354"/>
                  </a:moveTo>
                  <a:lnTo>
                    <a:pt x="1553" y="235"/>
                  </a:lnTo>
                </a:path>
                <a:path w="8200" h="450" fill="none">
                  <a:moveTo>
                    <a:pt x="1585" y="354"/>
                  </a:moveTo>
                  <a:lnTo>
                    <a:pt x="1585" y="235"/>
                  </a:lnTo>
                </a:path>
                <a:path w="8200" h="450" fill="none">
                  <a:moveTo>
                    <a:pt x="1654" y="96"/>
                  </a:moveTo>
                  <a:lnTo>
                    <a:pt x="1654" y="215"/>
                  </a:lnTo>
                </a:path>
                <a:path w="8200" h="450" fill="none">
                  <a:moveTo>
                    <a:pt x="1686" y="96"/>
                  </a:moveTo>
                  <a:lnTo>
                    <a:pt x="1686" y="215"/>
                  </a:lnTo>
                </a:path>
                <a:path w="8200" h="450" fill="none">
                  <a:moveTo>
                    <a:pt x="1654" y="354"/>
                  </a:moveTo>
                  <a:lnTo>
                    <a:pt x="1654" y="235"/>
                  </a:lnTo>
                </a:path>
                <a:path w="8200" h="450" fill="none">
                  <a:moveTo>
                    <a:pt x="1686" y="354"/>
                  </a:moveTo>
                  <a:lnTo>
                    <a:pt x="1686" y="235"/>
                  </a:lnTo>
                </a:path>
                <a:path w="8200" h="450" fill="none">
                  <a:moveTo>
                    <a:pt x="1755" y="96"/>
                  </a:moveTo>
                  <a:lnTo>
                    <a:pt x="1755" y="215"/>
                  </a:lnTo>
                </a:path>
                <a:path w="8200" h="450" fill="none">
                  <a:moveTo>
                    <a:pt x="1787" y="96"/>
                  </a:moveTo>
                  <a:lnTo>
                    <a:pt x="1787" y="215"/>
                  </a:lnTo>
                </a:path>
                <a:path w="8200" h="450" fill="none">
                  <a:moveTo>
                    <a:pt x="1755" y="354"/>
                  </a:moveTo>
                  <a:lnTo>
                    <a:pt x="1755" y="235"/>
                  </a:lnTo>
                </a:path>
                <a:path w="8200" h="450" fill="none">
                  <a:moveTo>
                    <a:pt x="1787" y="354"/>
                  </a:moveTo>
                  <a:lnTo>
                    <a:pt x="1787" y="235"/>
                  </a:lnTo>
                </a:path>
                <a:path w="8200" h="450" fill="none">
                  <a:moveTo>
                    <a:pt x="1856" y="96"/>
                  </a:moveTo>
                  <a:lnTo>
                    <a:pt x="1856" y="215"/>
                  </a:lnTo>
                </a:path>
                <a:path w="8200" h="450" fill="none">
                  <a:moveTo>
                    <a:pt x="1888" y="96"/>
                  </a:moveTo>
                  <a:lnTo>
                    <a:pt x="1888" y="215"/>
                  </a:lnTo>
                </a:path>
                <a:path w="8200" h="450" fill="none">
                  <a:moveTo>
                    <a:pt x="1856" y="354"/>
                  </a:moveTo>
                  <a:lnTo>
                    <a:pt x="1856" y="235"/>
                  </a:lnTo>
                </a:path>
                <a:path w="8200" h="450" fill="none">
                  <a:moveTo>
                    <a:pt x="1888" y="354"/>
                  </a:moveTo>
                  <a:lnTo>
                    <a:pt x="1888" y="235"/>
                  </a:lnTo>
                </a:path>
                <a:path w="8200" h="450" fill="none">
                  <a:moveTo>
                    <a:pt x="1958" y="96"/>
                  </a:moveTo>
                  <a:lnTo>
                    <a:pt x="1958" y="215"/>
                  </a:lnTo>
                </a:path>
                <a:path w="8200" h="450" fill="none">
                  <a:moveTo>
                    <a:pt x="1990" y="96"/>
                  </a:moveTo>
                  <a:lnTo>
                    <a:pt x="1990" y="215"/>
                  </a:lnTo>
                </a:path>
                <a:path w="8200" h="450" fill="none">
                  <a:moveTo>
                    <a:pt x="1958" y="354"/>
                  </a:moveTo>
                  <a:lnTo>
                    <a:pt x="1958" y="235"/>
                  </a:lnTo>
                </a:path>
                <a:path w="8200" h="450" fill="none">
                  <a:moveTo>
                    <a:pt x="1990" y="354"/>
                  </a:moveTo>
                  <a:lnTo>
                    <a:pt x="1990" y="235"/>
                  </a:lnTo>
                </a:path>
                <a:path w="8200" h="450" fill="none">
                  <a:moveTo>
                    <a:pt x="2059" y="96"/>
                  </a:moveTo>
                  <a:lnTo>
                    <a:pt x="2059" y="215"/>
                  </a:lnTo>
                </a:path>
                <a:path w="8200" h="450" fill="none">
                  <a:moveTo>
                    <a:pt x="2091" y="96"/>
                  </a:moveTo>
                  <a:lnTo>
                    <a:pt x="2091" y="215"/>
                  </a:lnTo>
                </a:path>
                <a:path w="8200" h="450" fill="none">
                  <a:moveTo>
                    <a:pt x="2059" y="354"/>
                  </a:moveTo>
                  <a:lnTo>
                    <a:pt x="2059" y="235"/>
                  </a:lnTo>
                </a:path>
                <a:path w="8200" h="450" fill="none">
                  <a:moveTo>
                    <a:pt x="2091" y="354"/>
                  </a:moveTo>
                  <a:lnTo>
                    <a:pt x="2091" y="235"/>
                  </a:lnTo>
                </a:path>
                <a:path w="8200" h="450" fill="none">
                  <a:moveTo>
                    <a:pt x="2160" y="96"/>
                  </a:moveTo>
                  <a:lnTo>
                    <a:pt x="2160" y="215"/>
                  </a:lnTo>
                </a:path>
                <a:path w="8200" h="450" fill="none">
                  <a:moveTo>
                    <a:pt x="2192" y="96"/>
                  </a:moveTo>
                  <a:lnTo>
                    <a:pt x="2192" y="215"/>
                  </a:lnTo>
                </a:path>
                <a:path w="8200" h="450" fill="none">
                  <a:moveTo>
                    <a:pt x="2160" y="354"/>
                  </a:moveTo>
                  <a:lnTo>
                    <a:pt x="2160" y="235"/>
                  </a:lnTo>
                </a:path>
                <a:path w="8200" h="450" fill="none">
                  <a:moveTo>
                    <a:pt x="2192" y="354"/>
                  </a:moveTo>
                  <a:lnTo>
                    <a:pt x="2192" y="235"/>
                  </a:lnTo>
                </a:path>
                <a:path w="8200" h="450" fill="none">
                  <a:moveTo>
                    <a:pt x="2261" y="96"/>
                  </a:moveTo>
                  <a:lnTo>
                    <a:pt x="2261" y="215"/>
                  </a:lnTo>
                </a:path>
                <a:path w="8200" h="450" fill="none">
                  <a:moveTo>
                    <a:pt x="2293" y="96"/>
                  </a:moveTo>
                  <a:lnTo>
                    <a:pt x="2293" y="215"/>
                  </a:lnTo>
                </a:path>
                <a:path w="8200" h="450" fill="none">
                  <a:moveTo>
                    <a:pt x="2261" y="354"/>
                  </a:moveTo>
                  <a:lnTo>
                    <a:pt x="2261" y="235"/>
                  </a:lnTo>
                </a:path>
                <a:path w="8200" h="450" fill="none">
                  <a:moveTo>
                    <a:pt x="2293" y="354"/>
                  </a:moveTo>
                  <a:lnTo>
                    <a:pt x="2293" y="235"/>
                  </a:lnTo>
                </a:path>
                <a:path w="8200" h="450" fill="none">
                  <a:moveTo>
                    <a:pt x="2363" y="96"/>
                  </a:moveTo>
                  <a:lnTo>
                    <a:pt x="2363" y="215"/>
                  </a:lnTo>
                </a:path>
                <a:path w="8200" h="450" fill="none">
                  <a:moveTo>
                    <a:pt x="2395" y="96"/>
                  </a:moveTo>
                  <a:lnTo>
                    <a:pt x="2395" y="215"/>
                  </a:lnTo>
                </a:path>
                <a:path w="8200" h="450" fill="none">
                  <a:moveTo>
                    <a:pt x="2363" y="354"/>
                  </a:moveTo>
                  <a:lnTo>
                    <a:pt x="2363" y="235"/>
                  </a:lnTo>
                </a:path>
                <a:path w="8200" h="450" fill="none">
                  <a:moveTo>
                    <a:pt x="2395" y="354"/>
                  </a:moveTo>
                  <a:lnTo>
                    <a:pt x="2395" y="235"/>
                  </a:lnTo>
                </a:path>
                <a:path w="8200" h="450" fill="none">
                  <a:moveTo>
                    <a:pt x="2464" y="96"/>
                  </a:moveTo>
                  <a:lnTo>
                    <a:pt x="2464" y="215"/>
                  </a:lnTo>
                </a:path>
                <a:path w="8200" h="450" fill="none">
                  <a:moveTo>
                    <a:pt x="2496" y="96"/>
                  </a:moveTo>
                  <a:lnTo>
                    <a:pt x="2496" y="215"/>
                  </a:lnTo>
                </a:path>
                <a:path w="8200" h="450" fill="none">
                  <a:moveTo>
                    <a:pt x="2464" y="354"/>
                  </a:moveTo>
                  <a:lnTo>
                    <a:pt x="2464" y="235"/>
                  </a:lnTo>
                </a:path>
                <a:path w="8200" h="450" fill="none">
                  <a:moveTo>
                    <a:pt x="2496" y="354"/>
                  </a:moveTo>
                  <a:lnTo>
                    <a:pt x="2496" y="235"/>
                  </a:lnTo>
                </a:path>
                <a:path w="8200" h="450" fill="none">
                  <a:moveTo>
                    <a:pt x="2565" y="96"/>
                  </a:moveTo>
                  <a:lnTo>
                    <a:pt x="2565" y="215"/>
                  </a:lnTo>
                </a:path>
                <a:path w="8200" h="450" fill="none">
                  <a:moveTo>
                    <a:pt x="2597" y="96"/>
                  </a:moveTo>
                  <a:lnTo>
                    <a:pt x="2597" y="215"/>
                  </a:lnTo>
                </a:path>
                <a:path w="8200" h="450" fill="none">
                  <a:moveTo>
                    <a:pt x="2565" y="354"/>
                  </a:moveTo>
                  <a:lnTo>
                    <a:pt x="2565" y="235"/>
                  </a:lnTo>
                </a:path>
                <a:path w="8200" h="450" fill="none">
                  <a:moveTo>
                    <a:pt x="2597" y="354"/>
                  </a:moveTo>
                  <a:lnTo>
                    <a:pt x="2597" y="235"/>
                  </a:lnTo>
                </a:path>
                <a:path w="8200" h="450" fill="none">
                  <a:moveTo>
                    <a:pt x="2666" y="96"/>
                  </a:moveTo>
                  <a:lnTo>
                    <a:pt x="2666" y="215"/>
                  </a:lnTo>
                </a:path>
                <a:path w="8200" h="450" fill="none">
                  <a:moveTo>
                    <a:pt x="2698" y="96"/>
                  </a:moveTo>
                  <a:lnTo>
                    <a:pt x="2698" y="215"/>
                  </a:lnTo>
                </a:path>
                <a:path w="8200" h="450" fill="none">
                  <a:moveTo>
                    <a:pt x="2666" y="354"/>
                  </a:moveTo>
                  <a:lnTo>
                    <a:pt x="2666" y="235"/>
                  </a:lnTo>
                </a:path>
                <a:path w="8200" h="450" fill="none">
                  <a:moveTo>
                    <a:pt x="2698" y="354"/>
                  </a:moveTo>
                  <a:lnTo>
                    <a:pt x="2698" y="235"/>
                  </a:lnTo>
                </a:path>
                <a:path w="8200" h="450" fill="none">
                  <a:moveTo>
                    <a:pt x="2767" y="96"/>
                  </a:moveTo>
                  <a:lnTo>
                    <a:pt x="2767" y="215"/>
                  </a:lnTo>
                </a:path>
                <a:path w="8200" h="450" fill="none">
                  <a:moveTo>
                    <a:pt x="2799" y="96"/>
                  </a:moveTo>
                  <a:lnTo>
                    <a:pt x="2799" y="215"/>
                  </a:lnTo>
                </a:path>
                <a:path w="8200" h="450" fill="none">
                  <a:moveTo>
                    <a:pt x="2767" y="354"/>
                  </a:moveTo>
                  <a:lnTo>
                    <a:pt x="2767" y="235"/>
                  </a:lnTo>
                </a:path>
                <a:path w="8200" h="450" fill="none">
                  <a:moveTo>
                    <a:pt x="2799" y="354"/>
                  </a:moveTo>
                  <a:lnTo>
                    <a:pt x="2799" y="235"/>
                  </a:lnTo>
                </a:path>
                <a:path w="8200" h="450" fill="none">
                  <a:moveTo>
                    <a:pt x="2869" y="96"/>
                  </a:moveTo>
                  <a:lnTo>
                    <a:pt x="2869" y="215"/>
                  </a:lnTo>
                </a:path>
                <a:path w="8200" h="450" fill="none">
                  <a:moveTo>
                    <a:pt x="2901" y="96"/>
                  </a:moveTo>
                  <a:lnTo>
                    <a:pt x="2901" y="215"/>
                  </a:lnTo>
                </a:path>
                <a:path w="8200" h="450" fill="none">
                  <a:moveTo>
                    <a:pt x="2869" y="354"/>
                  </a:moveTo>
                  <a:lnTo>
                    <a:pt x="2869" y="235"/>
                  </a:lnTo>
                </a:path>
                <a:path w="8200" h="450" fill="none">
                  <a:moveTo>
                    <a:pt x="2901" y="354"/>
                  </a:moveTo>
                  <a:lnTo>
                    <a:pt x="2901" y="235"/>
                  </a:lnTo>
                </a:path>
                <a:path w="8200" h="450" fill="none">
                  <a:moveTo>
                    <a:pt x="2970" y="96"/>
                  </a:moveTo>
                  <a:lnTo>
                    <a:pt x="2970" y="215"/>
                  </a:lnTo>
                </a:path>
                <a:path w="8200" h="450" fill="none">
                  <a:moveTo>
                    <a:pt x="3002" y="96"/>
                  </a:moveTo>
                  <a:lnTo>
                    <a:pt x="3002" y="215"/>
                  </a:lnTo>
                </a:path>
                <a:path w="8200" h="450" fill="none">
                  <a:moveTo>
                    <a:pt x="2970" y="354"/>
                  </a:moveTo>
                  <a:lnTo>
                    <a:pt x="2970" y="235"/>
                  </a:lnTo>
                </a:path>
                <a:path w="8200" h="450" fill="none">
                  <a:moveTo>
                    <a:pt x="3002" y="354"/>
                  </a:moveTo>
                  <a:lnTo>
                    <a:pt x="3002" y="235"/>
                  </a:lnTo>
                </a:path>
                <a:path w="8200" h="450" fill="none">
                  <a:moveTo>
                    <a:pt x="3071" y="96"/>
                  </a:moveTo>
                  <a:lnTo>
                    <a:pt x="3071" y="215"/>
                  </a:lnTo>
                </a:path>
                <a:path w="8200" h="450" fill="none">
                  <a:moveTo>
                    <a:pt x="3103" y="96"/>
                  </a:moveTo>
                  <a:lnTo>
                    <a:pt x="3103" y="215"/>
                  </a:lnTo>
                </a:path>
                <a:path w="8200" h="450" fill="none">
                  <a:moveTo>
                    <a:pt x="3071" y="354"/>
                  </a:moveTo>
                  <a:lnTo>
                    <a:pt x="3071" y="235"/>
                  </a:lnTo>
                </a:path>
                <a:path w="8200" h="450" fill="none">
                  <a:moveTo>
                    <a:pt x="3103" y="354"/>
                  </a:moveTo>
                  <a:lnTo>
                    <a:pt x="3103" y="235"/>
                  </a:lnTo>
                </a:path>
                <a:path w="8200" h="450" fill="none">
                  <a:moveTo>
                    <a:pt x="3172" y="96"/>
                  </a:moveTo>
                  <a:lnTo>
                    <a:pt x="3172" y="215"/>
                  </a:lnTo>
                </a:path>
                <a:path w="8200" h="450" fill="none">
                  <a:moveTo>
                    <a:pt x="3204" y="96"/>
                  </a:moveTo>
                  <a:lnTo>
                    <a:pt x="3204" y="215"/>
                  </a:lnTo>
                </a:path>
                <a:path w="8200" h="450" fill="none">
                  <a:moveTo>
                    <a:pt x="3172" y="354"/>
                  </a:moveTo>
                  <a:lnTo>
                    <a:pt x="3172" y="235"/>
                  </a:lnTo>
                </a:path>
                <a:path w="8200" h="450" fill="none">
                  <a:moveTo>
                    <a:pt x="3204" y="354"/>
                  </a:moveTo>
                  <a:lnTo>
                    <a:pt x="3204" y="235"/>
                  </a:lnTo>
                </a:path>
                <a:path w="8200" h="450" fill="none">
                  <a:moveTo>
                    <a:pt x="3274" y="96"/>
                  </a:moveTo>
                  <a:lnTo>
                    <a:pt x="3274" y="215"/>
                  </a:lnTo>
                </a:path>
                <a:path w="8200" h="450" fill="none">
                  <a:moveTo>
                    <a:pt x="3306" y="96"/>
                  </a:moveTo>
                  <a:lnTo>
                    <a:pt x="3306" y="215"/>
                  </a:lnTo>
                </a:path>
                <a:path w="8200" h="450" fill="none">
                  <a:moveTo>
                    <a:pt x="3274" y="354"/>
                  </a:moveTo>
                  <a:lnTo>
                    <a:pt x="3274" y="235"/>
                  </a:lnTo>
                </a:path>
                <a:path w="8200" h="450" fill="none">
                  <a:moveTo>
                    <a:pt x="3306" y="354"/>
                  </a:moveTo>
                  <a:lnTo>
                    <a:pt x="3306" y="235"/>
                  </a:lnTo>
                </a:path>
                <a:path w="8200" h="450" fill="none">
                  <a:moveTo>
                    <a:pt x="3375" y="96"/>
                  </a:moveTo>
                  <a:lnTo>
                    <a:pt x="3375" y="215"/>
                  </a:lnTo>
                </a:path>
                <a:path w="8200" h="450" fill="none">
                  <a:moveTo>
                    <a:pt x="3407" y="96"/>
                  </a:moveTo>
                  <a:lnTo>
                    <a:pt x="3407" y="215"/>
                  </a:lnTo>
                </a:path>
                <a:path w="8200" h="450" fill="none">
                  <a:moveTo>
                    <a:pt x="3375" y="354"/>
                  </a:moveTo>
                  <a:lnTo>
                    <a:pt x="3375" y="235"/>
                  </a:lnTo>
                </a:path>
                <a:path w="8200" h="450" fill="none">
                  <a:moveTo>
                    <a:pt x="3407" y="354"/>
                  </a:moveTo>
                  <a:lnTo>
                    <a:pt x="3407" y="235"/>
                  </a:lnTo>
                </a:path>
                <a:path w="8200" h="450" fill="none">
                  <a:moveTo>
                    <a:pt x="3476" y="96"/>
                  </a:moveTo>
                  <a:lnTo>
                    <a:pt x="3476" y="215"/>
                  </a:lnTo>
                </a:path>
                <a:path w="8200" h="450" fill="none">
                  <a:moveTo>
                    <a:pt x="3508" y="96"/>
                  </a:moveTo>
                  <a:lnTo>
                    <a:pt x="3508" y="215"/>
                  </a:lnTo>
                </a:path>
                <a:path w="8200" h="450" fill="none">
                  <a:moveTo>
                    <a:pt x="3476" y="354"/>
                  </a:moveTo>
                  <a:lnTo>
                    <a:pt x="3476" y="235"/>
                  </a:lnTo>
                </a:path>
                <a:path w="8200" h="450" fill="none">
                  <a:moveTo>
                    <a:pt x="3508" y="354"/>
                  </a:moveTo>
                  <a:lnTo>
                    <a:pt x="3508" y="235"/>
                  </a:lnTo>
                </a:path>
                <a:path w="8200" h="450" fill="none">
                  <a:moveTo>
                    <a:pt x="3577" y="96"/>
                  </a:moveTo>
                  <a:lnTo>
                    <a:pt x="3577" y="215"/>
                  </a:lnTo>
                </a:path>
                <a:path w="8200" h="450" fill="none">
                  <a:moveTo>
                    <a:pt x="3609" y="96"/>
                  </a:moveTo>
                  <a:lnTo>
                    <a:pt x="3609" y="215"/>
                  </a:lnTo>
                </a:path>
                <a:path w="8200" h="450" fill="none">
                  <a:moveTo>
                    <a:pt x="3577" y="354"/>
                  </a:moveTo>
                  <a:lnTo>
                    <a:pt x="3577" y="235"/>
                  </a:lnTo>
                </a:path>
                <a:path w="8200" h="450" fill="none">
                  <a:moveTo>
                    <a:pt x="3609" y="354"/>
                  </a:moveTo>
                  <a:lnTo>
                    <a:pt x="3609" y="235"/>
                  </a:lnTo>
                </a:path>
                <a:path w="8200" h="450" fill="none">
                  <a:moveTo>
                    <a:pt x="3679" y="96"/>
                  </a:moveTo>
                  <a:lnTo>
                    <a:pt x="3679" y="215"/>
                  </a:lnTo>
                </a:path>
                <a:path w="8200" h="450" fill="none">
                  <a:moveTo>
                    <a:pt x="3711" y="96"/>
                  </a:moveTo>
                  <a:lnTo>
                    <a:pt x="3711" y="215"/>
                  </a:lnTo>
                </a:path>
                <a:path w="8200" h="450" fill="none">
                  <a:moveTo>
                    <a:pt x="3679" y="354"/>
                  </a:moveTo>
                  <a:lnTo>
                    <a:pt x="3679" y="235"/>
                  </a:lnTo>
                </a:path>
                <a:path w="8200" h="450" fill="none">
                  <a:moveTo>
                    <a:pt x="3711" y="354"/>
                  </a:moveTo>
                  <a:lnTo>
                    <a:pt x="3711" y="235"/>
                  </a:lnTo>
                </a:path>
                <a:path w="8200" h="450" fill="none">
                  <a:moveTo>
                    <a:pt x="3780" y="96"/>
                  </a:moveTo>
                  <a:lnTo>
                    <a:pt x="3780" y="215"/>
                  </a:lnTo>
                </a:path>
                <a:path w="8200" h="450" fill="none">
                  <a:moveTo>
                    <a:pt x="3812" y="96"/>
                  </a:moveTo>
                  <a:lnTo>
                    <a:pt x="3812" y="215"/>
                  </a:lnTo>
                </a:path>
                <a:path w="8200" h="450" fill="none">
                  <a:moveTo>
                    <a:pt x="3780" y="354"/>
                  </a:moveTo>
                  <a:lnTo>
                    <a:pt x="3780" y="235"/>
                  </a:lnTo>
                </a:path>
                <a:path w="8200" h="450" fill="none">
                  <a:moveTo>
                    <a:pt x="3812" y="354"/>
                  </a:moveTo>
                  <a:lnTo>
                    <a:pt x="3812" y="235"/>
                  </a:lnTo>
                </a:path>
                <a:path w="8200" h="450" fill="none">
                  <a:moveTo>
                    <a:pt x="3881" y="96"/>
                  </a:moveTo>
                  <a:lnTo>
                    <a:pt x="3881" y="215"/>
                  </a:lnTo>
                </a:path>
                <a:path w="8200" h="450" fill="none">
                  <a:moveTo>
                    <a:pt x="3913" y="96"/>
                  </a:moveTo>
                  <a:lnTo>
                    <a:pt x="3913" y="215"/>
                  </a:lnTo>
                </a:path>
                <a:path w="8200" h="450" fill="none">
                  <a:moveTo>
                    <a:pt x="3881" y="354"/>
                  </a:moveTo>
                  <a:lnTo>
                    <a:pt x="3881" y="235"/>
                  </a:lnTo>
                </a:path>
                <a:path w="8200" h="450" fill="none">
                  <a:moveTo>
                    <a:pt x="3913" y="354"/>
                  </a:moveTo>
                  <a:lnTo>
                    <a:pt x="3913" y="235"/>
                  </a:lnTo>
                </a:path>
                <a:path w="8200" h="450" fill="none">
                  <a:moveTo>
                    <a:pt x="3982" y="96"/>
                  </a:moveTo>
                  <a:lnTo>
                    <a:pt x="3982" y="215"/>
                  </a:lnTo>
                </a:path>
                <a:path w="8200" h="450" fill="none">
                  <a:moveTo>
                    <a:pt x="4014" y="96"/>
                  </a:moveTo>
                  <a:lnTo>
                    <a:pt x="4014" y="215"/>
                  </a:lnTo>
                </a:path>
                <a:path w="8200" h="450" fill="none">
                  <a:moveTo>
                    <a:pt x="3982" y="354"/>
                  </a:moveTo>
                  <a:lnTo>
                    <a:pt x="3982" y="235"/>
                  </a:lnTo>
                </a:path>
                <a:path w="8200" h="450" fill="none">
                  <a:moveTo>
                    <a:pt x="4014" y="354"/>
                  </a:moveTo>
                  <a:lnTo>
                    <a:pt x="4014" y="235"/>
                  </a:lnTo>
                </a:path>
                <a:path w="8200" h="450" fill="none">
                  <a:moveTo>
                    <a:pt x="4084" y="96"/>
                  </a:moveTo>
                  <a:lnTo>
                    <a:pt x="4084" y="215"/>
                  </a:lnTo>
                </a:path>
                <a:path w="8200" h="450" fill="none">
                  <a:moveTo>
                    <a:pt x="4116" y="96"/>
                  </a:moveTo>
                  <a:lnTo>
                    <a:pt x="4116" y="215"/>
                  </a:lnTo>
                </a:path>
                <a:path w="8200" h="450" fill="none">
                  <a:moveTo>
                    <a:pt x="4084" y="354"/>
                  </a:moveTo>
                  <a:lnTo>
                    <a:pt x="4084" y="235"/>
                  </a:lnTo>
                </a:path>
                <a:path w="8200" h="450" fill="none">
                  <a:moveTo>
                    <a:pt x="4116" y="354"/>
                  </a:moveTo>
                  <a:lnTo>
                    <a:pt x="4116" y="235"/>
                  </a:lnTo>
                </a:path>
                <a:path w="8200" h="450" fill="none">
                  <a:moveTo>
                    <a:pt x="4185" y="96"/>
                  </a:moveTo>
                  <a:lnTo>
                    <a:pt x="4185" y="215"/>
                  </a:lnTo>
                </a:path>
                <a:path w="8200" h="450" fill="none">
                  <a:moveTo>
                    <a:pt x="4217" y="96"/>
                  </a:moveTo>
                  <a:lnTo>
                    <a:pt x="4217" y="215"/>
                  </a:lnTo>
                </a:path>
                <a:path w="8200" h="450" fill="none">
                  <a:moveTo>
                    <a:pt x="4185" y="354"/>
                  </a:moveTo>
                  <a:lnTo>
                    <a:pt x="4185" y="235"/>
                  </a:lnTo>
                </a:path>
                <a:path w="8200" h="450" fill="none">
                  <a:moveTo>
                    <a:pt x="4217" y="354"/>
                  </a:moveTo>
                  <a:lnTo>
                    <a:pt x="4217" y="235"/>
                  </a:lnTo>
                </a:path>
                <a:path w="8200" h="450" fill="none">
                  <a:moveTo>
                    <a:pt x="4286" y="96"/>
                  </a:moveTo>
                  <a:lnTo>
                    <a:pt x="4286" y="215"/>
                  </a:lnTo>
                </a:path>
                <a:path w="8200" h="450" fill="none">
                  <a:moveTo>
                    <a:pt x="4318" y="96"/>
                  </a:moveTo>
                  <a:lnTo>
                    <a:pt x="4318" y="215"/>
                  </a:lnTo>
                </a:path>
                <a:path w="8200" h="450" fill="none">
                  <a:moveTo>
                    <a:pt x="4286" y="354"/>
                  </a:moveTo>
                  <a:lnTo>
                    <a:pt x="4286" y="235"/>
                  </a:lnTo>
                </a:path>
                <a:path w="8200" h="450" fill="none">
                  <a:moveTo>
                    <a:pt x="4318" y="354"/>
                  </a:moveTo>
                  <a:lnTo>
                    <a:pt x="4318" y="235"/>
                  </a:lnTo>
                </a:path>
                <a:path w="8200" h="450" fill="none">
                  <a:moveTo>
                    <a:pt x="4387" y="96"/>
                  </a:moveTo>
                  <a:lnTo>
                    <a:pt x="4387" y="215"/>
                  </a:lnTo>
                </a:path>
                <a:path w="8200" h="450" fill="none">
                  <a:moveTo>
                    <a:pt x="4419" y="96"/>
                  </a:moveTo>
                  <a:lnTo>
                    <a:pt x="4419" y="215"/>
                  </a:lnTo>
                </a:path>
                <a:path w="8200" h="450" fill="none">
                  <a:moveTo>
                    <a:pt x="4387" y="354"/>
                  </a:moveTo>
                  <a:lnTo>
                    <a:pt x="4387" y="235"/>
                  </a:lnTo>
                </a:path>
                <a:path w="8200" h="450" fill="none">
                  <a:moveTo>
                    <a:pt x="4419" y="354"/>
                  </a:moveTo>
                  <a:lnTo>
                    <a:pt x="4419" y="235"/>
                  </a:lnTo>
                </a:path>
                <a:path w="8200" h="450" fill="none">
                  <a:moveTo>
                    <a:pt x="4488" y="96"/>
                  </a:moveTo>
                  <a:lnTo>
                    <a:pt x="4488" y="215"/>
                  </a:lnTo>
                </a:path>
                <a:path w="8200" h="450" fill="none">
                  <a:moveTo>
                    <a:pt x="4520" y="96"/>
                  </a:moveTo>
                  <a:lnTo>
                    <a:pt x="4520" y="215"/>
                  </a:lnTo>
                </a:path>
                <a:path w="8200" h="450" fill="none">
                  <a:moveTo>
                    <a:pt x="4488" y="354"/>
                  </a:moveTo>
                  <a:lnTo>
                    <a:pt x="4488" y="235"/>
                  </a:lnTo>
                </a:path>
                <a:path w="8200" h="450" fill="none">
                  <a:moveTo>
                    <a:pt x="4520" y="354"/>
                  </a:moveTo>
                  <a:lnTo>
                    <a:pt x="4520" y="235"/>
                  </a:lnTo>
                </a:path>
                <a:path w="8200" h="450" fill="none">
                  <a:moveTo>
                    <a:pt x="4590" y="96"/>
                  </a:moveTo>
                  <a:lnTo>
                    <a:pt x="4590" y="215"/>
                  </a:lnTo>
                </a:path>
                <a:path w="8200" h="450" fill="none">
                  <a:moveTo>
                    <a:pt x="4622" y="96"/>
                  </a:moveTo>
                  <a:lnTo>
                    <a:pt x="4622" y="215"/>
                  </a:lnTo>
                </a:path>
                <a:path w="8200" h="450" fill="none">
                  <a:moveTo>
                    <a:pt x="4590" y="354"/>
                  </a:moveTo>
                  <a:lnTo>
                    <a:pt x="4590" y="235"/>
                  </a:lnTo>
                </a:path>
                <a:path w="8200" h="450" fill="none">
                  <a:moveTo>
                    <a:pt x="4622" y="354"/>
                  </a:moveTo>
                  <a:lnTo>
                    <a:pt x="4622" y="235"/>
                  </a:lnTo>
                </a:path>
                <a:path w="8200" h="450" fill="none">
                  <a:moveTo>
                    <a:pt x="4691" y="96"/>
                  </a:moveTo>
                  <a:lnTo>
                    <a:pt x="4691" y="215"/>
                  </a:lnTo>
                </a:path>
                <a:path w="8200" h="450" fill="none">
                  <a:moveTo>
                    <a:pt x="4723" y="96"/>
                  </a:moveTo>
                  <a:lnTo>
                    <a:pt x="4723" y="215"/>
                  </a:lnTo>
                </a:path>
                <a:path w="8200" h="450" fill="none">
                  <a:moveTo>
                    <a:pt x="4691" y="354"/>
                  </a:moveTo>
                  <a:lnTo>
                    <a:pt x="4691" y="235"/>
                  </a:lnTo>
                </a:path>
                <a:path w="8200" h="450" fill="none">
                  <a:moveTo>
                    <a:pt x="4723" y="354"/>
                  </a:moveTo>
                  <a:lnTo>
                    <a:pt x="4723" y="235"/>
                  </a:lnTo>
                </a:path>
                <a:path w="8200" h="450" fill="none">
                  <a:moveTo>
                    <a:pt x="4792" y="96"/>
                  </a:moveTo>
                  <a:lnTo>
                    <a:pt x="4792" y="215"/>
                  </a:lnTo>
                </a:path>
                <a:path w="8200" h="450" fill="none">
                  <a:moveTo>
                    <a:pt x="4824" y="96"/>
                  </a:moveTo>
                  <a:lnTo>
                    <a:pt x="4824" y="215"/>
                  </a:lnTo>
                </a:path>
                <a:path w="8200" h="450" fill="none">
                  <a:moveTo>
                    <a:pt x="4792" y="354"/>
                  </a:moveTo>
                  <a:lnTo>
                    <a:pt x="4792" y="235"/>
                  </a:lnTo>
                </a:path>
                <a:path w="8200" h="450" fill="none">
                  <a:moveTo>
                    <a:pt x="4824" y="354"/>
                  </a:moveTo>
                  <a:lnTo>
                    <a:pt x="4824" y="235"/>
                  </a:lnTo>
                </a:path>
                <a:path w="8200" h="450" fill="none">
                  <a:moveTo>
                    <a:pt x="4893" y="96"/>
                  </a:moveTo>
                  <a:lnTo>
                    <a:pt x="4893" y="215"/>
                  </a:lnTo>
                </a:path>
                <a:path w="8200" h="450" fill="none">
                  <a:moveTo>
                    <a:pt x="4925" y="96"/>
                  </a:moveTo>
                  <a:lnTo>
                    <a:pt x="4925" y="215"/>
                  </a:lnTo>
                </a:path>
                <a:path w="8200" h="450" fill="none">
                  <a:moveTo>
                    <a:pt x="4893" y="354"/>
                  </a:moveTo>
                  <a:lnTo>
                    <a:pt x="4893" y="235"/>
                  </a:lnTo>
                </a:path>
                <a:path w="8200" h="450" fill="none">
                  <a:moveTo>
                    <a:pt x="4925" y="354"/>
                  </a:moveTo>
                  <a:lnTo>
                    <a:pt x="4925" y="235"/>
                  </a:lnTo>
                </a:path>
                <a:path w="8200" h="450" fill="none">
                  <a:moveTo>
                    <a:pt x="4995" y="96"/>
                  </a:moveTo>
                  <a:lnTo>
                    <a:pt x="4995" y="215"/>
                  </a:lnTo>
                </a:path>
                <a:path w="8200" h="450" fill="none">
                  <a:moveTo>
                    <a:pt x="5027" y="96"/>
                  </a:moveTo>
                  <a:lnTo>
                    <a:pt x="5027" y="215"/>
                  </a:lnTo>
                </a:path>
                <a:path w="8200" h="450" fill="none">
                  <a:moveTo>
                    <a:pt x="4995" y="354"/>
                  </a:moveTo>
                  <a:lnTo>
                    <a:pt x="4995" y="235"/>
                  </a:lnTo>
                </a:path>
                <a:path w="8200" h="450" fill="none">
                  <a:moveTo>
                    <a:pt x="5027" y="354"/>
                  </a:moveTo>
                  <a:lnTo>
                    <a:pt x="5027" y="235"/>
                  </a:lnTo>
                </a:path>
                <a:path w="8200" h="450" fill="none">
                  <a:moveTo>
                    <a:pt x="5096" y="96"/>
                  </a:moveTo>
                  <a:lnTo>
                    <a:pt x="5096" y="215"/>
                  </a:lnTo>
                </a:path>
                <a:path w="8200" h="450" fill="none">
                  <a:moveTo>
                    <a:pt x="5128" y="96"/>
                  </a:moveTo>
                  <a:lnTo>
                    <a:pt x="5128" y="215"/>
                  </a:lnTo>
                </a:path>
                <a:path w="8200" h="450" fill="none">
                  <a:moveTo>
                    <a:pt x="5096" y="354"/>
                  </a:moveTo>
                  <a:lnTo>
                    <a:pt x="5096" y="235"/>
                  </a:lnTo>
                </a:path>
                <a:path w="8200" h="450" fill="none">
                  <a:moveTo>
                    <a:pt x="5128" y="354"/>
                  </a:moveTo>
                  <a:lnTo>
                    <a:pt x="5128" y="235"/>
                  </a:lnTo>
                </a:path>
                <a:path w="8200" h="450" fill="none">
                  <a:moveTo>
                    <a:pt x="5197" y="96"/>
                  </a:moveTo>
                  <a:lnTo>
                    <a:pt x="5197" y="215"/>
                  </a:lnTo>
                </a:path>
                <a:path w="8200" h="450" fill="none">
                  <a:moveTo>
                    <a:pt x="5229" y="96"/>
                  </a:moveTo>
                  <a:lnTo>
                    <a:pt x="5229" y="215"/>
                  </a:lnTo>
                </a:path>
                <a:path w="8200" h="450" fill="none">
                  <a:moveTo>
                    <a:pt x="5197" y="354"/>
                  </a:moveTo>
                  <a:lnTo>
                    <a:pt x="5197" y="235"/>
                  </a:lnTo>
                </a:path>
                <a:path w="8200" h="450" fill="none">
                  <a:moveTo>
                    <a:pt x="5229" y="354"/>
                  </a:moveTo>
                  <a:lnTo>
                    <a:pt x="5229" y="235"/>
                  </a:lnTo>
                </a:path>
                <a:path w="8200" h="450" fill="none">
                  <a:moveTo>
                    <a:pt x="5298" y="96"/>
                  </a:moveTo>
                  <a:lnTo>
                    <a:pt x="5298" y="215"/>
                  </a:lnTo>
                </a:path>
                <a:path w="8200" h="450" fill="none">
                  <a:moveTo>
                    <a:pt x="5330" y="96"/>
                  </a:moveTo>
                  <a:lnTo>
                    <a:pt x="5330" y="215"/>
                  </a:lnTo>
                </a:path>
                <a:path w="8200" h="450" fill="none">
                  <a:moveTo>
                    <a:pt x="5298" y="354"/>
                  </a:moveTo>
                  <a:lnTo>
                    <a:pt x="5298" y="235"/>
                  </a:lnTo>
                </a:path>
                <a:path w="8200" h="450" fill="none">
                  <a:moveTo>
                    <a:pt x="5330" y="354"/>
                  </a:moveTo>
                  <a:lnTo>
                    <a:pt x="5330" y="235"/>
                  </a:lnTo>
                </a:path>
                <a:path w="8200" h="450" fill="none">
                  <a:moveTo>
                    <a:pt x="5400" y="96"/>
                  </a:moveTo>
                  <a:lnTo>
                    <a:pt x="5400" y="215"/>
                  </a:lnTo>
                </a:path>
                <a:path w="8200" h="450" fill="none">
                  <a:moveTo>
                    <a:pt x="5432" y="96"/>
                  </a:moveTo>
                  <a:lnTo>
                    <a:pt x="5432" y="215"/>
                  </a:lnTo>
                </a:path>
                <a:path w="8200" h="450" fill="none">
                  <a:moveTo>
                    <a:pt x="5400" y="354"/>
                  </a:moveTo>
                  <a:lnTo>
                    <a:pt x="5400" y="235"/>
                  </a:lnTo>
                </a:path>
                <a:path w="8200" h="450" fill="none">
                  <a:moveTo>
                    <a:pt x="5432" y="354"/>
                  </a:moveTo>
                  <a:lnTo>
                    <a:pt x="5432" y="235"/>
                  </a:lnTo>
                </a:path>
                <a:path w="8200" h="450" fill="none">
                  <a:moveTo>
                    <a:pt x="5501" y="96"/>
                  </a:moveTo>
                  <a:lnTo>
                    <a:pt x="5501" y="215"/>
                  </a:lnTo>
                </a:path>
                <a:path w="8200" h="450" fill="none">
                  <a:moveTo>
                    <a:pt x="5533" y="96"/>
                  </a:moveTo>
                  <a:lnTo>
                    <a:pt x="5533" y="215"/>
                  </a:lnTo>
                </a:path>
                <a:path w="8200" h="450" fill="none">
                  <a:moveTo>
                    <a:pt x="5501" y="354"/>
                  </a:moveTo>
                  <a:lnTo>
                    <a:pt x="5501" y="235"/>
                  </a:lnTo>
                </a:path>
                <a:path w="8200" h="450" fill="none">
                  <a:moveTo>
                    <a:pt x="5533" y="354"/>
                  </a:moveTo>
                  <a:lnTo>
                    <a:pt x="5533" y="235"/>
                  </a:lnTo>
                </a:path>
                <a:path w="8200" h="450" fill="none">
                  <a:moveTo>
                    <a:pt x="5602" y="96"/>
                  </a:moveTo>
                  <a:lnTo>
                    <a:pt x="5602" y="215"/>
                  </a:lnTo>
                </a:path>
                <a:path w="8200" h="450" fill="none">
                  <a:moveTo>
                    <a:pt x="5634" y="96"/>
                  </a:moveTo>
                  <a:lnTo>
                    <a:pt x="5634" y="215"/>
                  </a:lnTo>
                </a:path>
                <a:path w="8200" h="450" fill="none">
                  <a:moveTo>
                    <a:pt x="5602" y="354"/>
                  </a:moveTo>
                  <a:lnTo>
                    <a:pt x="5602" y="235"/>
                  </a:lnTo>
                </a:path>
                <a:path w="8200" h="450" fill="none">
                  <a:moveTo>
                    <a:pt x="5634" y="354"/>
                  </a:moveTo>
                  <a:lnTo>
                    <a:pt x="5634" y="235"/>
                  </a:lnTo>
                </a:path>
                <a:path w="8200" h="450" fill="none">
                  <a:moveTo>
                    <a:pt x="5703" y="96"/>
                  </a:moveTo>
                  <a:lnTo>
                    <a:pt x="5703" y="215"/>
                  </a:lnTo>
                </a:path>
                <a:path w="8200" h="450" fill="none">
                  <a:moveTo>
                    <a:pt x="5735" y="96"/>
                  </a:moveTo>
                  <a:lnTo>
                    <a:pt x="5735" y="215"/>
                  </a:lnTo>
                </a:path>
                <a:path w="8200" h="450" fill="none">
                  <a:moveTo>
                    <a:pt x="5703" y="354"/>
                  </a:moveTo>
                  <a:lnTo>
                    <a:pt x="5703" y="235"/>
                  </a:lnTo>
                </a:path>
                <a:path w="8200" h="450" fill="none">
                  <a:moveTo>
                    <a:pt x="5735" y="354"/>
                  </a:moveTo>
                  <a:lnTo>
                    <a:pt x="5735" y="235"/>
                  </a:lnTo>
                </a:path>
                <a:path w="8200" h="450" fill="none">
                  <a:moveTo>
                    <a:pt x="5804" y="96"/>
                  </a:moveTo>
                  <a:lnTo>
                    <a:pt x="5804" y="215"/>
                  </a:lnTo>
                </a:path>
                <a:path w="8200" h="450" fill="none">
                  <a:moveTo>
                    <a:pt x="5836" y="96"/>
                  </a:moveTo>
                  <a:lnTo>
                    <a:pt x="5836" y="215"/>
                  </a:lnTo>
                </a:path>
                <a:path w="8200" h="450" fill="none">
                  <a:moveTo>
                    <a:pt x="5804" y="354"/>
                  </a:moveTo>
                  <a:lnTo>
                    <a:pt x="5804" y="235"/>
                  </a:lnTo>
                </a:path>
                <a:path w="8200" h="450" fill="none">
                  <a:moveTo>
                    <a:pt x="5836" y="354"/>
                  </a:moveTo>
                  <a:lnTo>
                    <a:pt x="5836" y="235"/>
                  </a:lnTo>
                </a:path>
                <a:path w="8200" h="450" fill="none">
                  <a:moveTo>
                    <a:pt x="5906" y="96"/>
                  </a:moveTo>
                  <a:lnTo>
                    <a:pt x="5906" y="215"/>
                  </a:lnTo>
                </a:path>
                <a:path w="8200" h="450" fill="none">
                  <a:moveTo>
                    <a:pt x="5938" y="96"/>
                  </a:moveTo>
                  <a:lnTo>
                    <a:pt x="5938" y="215"/>
                  </a:lnTo>
                </a:path>
                <a:path w="8200" h="450" fill="none">
                  <a:moveTo>
                    <a:pt x="5906" y="354"/>
                  </a:moveTo>
                  <a:lnTo>
                    <a:pt x="5906" y="235"/>
                  </a:lnTo>
                </a:path>
                <a:path w="8200" h="450" fill="none">
                  <a:moveTo>
                    <a:pt x="5938" y="354"/>
                  </a:moveTo>
                  <a:lnTo>
                    <a:pt x="5938" y="235"/>
                  </a:lnTo>
                </a:path>
                <a:path w="8200" h="450" fill="none">
                  <a:moveTo>
                    <a:pt x="6007" y="96"/>
                  </a:moveTo>
                  <a:lnTo>
                    <a:pt x="6007" y="215"/>
                  </a:lnTo>
                </a:path>
                <a:path w="8200" h="450" fill="none">
                  <a:moveTo>
                    <a:pt x="6039" y="96"/>
                  </a:moveTo>
                  <a:lnTo>
                    <a:pt x="6039" y="215"/>
                  </a:lnTo>
                </a:path>
                <a:path w="8200" h="450" fill="none">
                  <a:moveTo>
                    <a:pt x="6007" y="354"/>
                  </a:moveTo>
                  <a:lnTo>
                    <a:pt x="6007" y="235"/>
                  </a:lnTo>
                </a:path>
                <a:path w="8200" h="450" fill="none">
                  <a:moveTo>
                    <a:pt x="6039" y="354"/>
                  </a:moveTo>
                  <a:lnTo>
                    <a:pt x="6039" y="235"/>
                  </a:lnTo>
                </a:path>
                <a:path w="8200" h="450" fill="none">
                  <a:moveTo>
                    <a:pt x="6108" y="96"/>
                  </a:moveTo>
                  <a:lnTo>
                    <a:pt x="6108" y="215"/>
                  </a:lnTo>
                </a:path>
                <a:path w="8200" h="450" fill="none">
                  <a:moveTo>
                    <a:pt x="6140" y="96"/>
                  </a:moveTo>
                  <a:lnTo>
                    <a:pt x="6140" y="215"/>
                  </a:lnTo>
                </a:path>
                <a:path w="8200" h="450" fill="none">
                  <a:moveTo>
                    <a:pt x="6108" y="354"/>
                  </a:moveTo>
                  <a:lnTo>
                    <a:pt x="6108" y="235"/>
                  </a:lnTo>
                </a:path>
                <a:path w="8200" h="450" fill="none">
                  <a:moveTo>
                    <a:pt x="6140" y="354"/>
                  </a:moveTo>
                  <a:lnTo>
                    <a:pt x="6140" y="235"/>
                  </a:lnTo>
                </a:path>
                <a:path w="8200" h="450" fill="none">
                  <a:moveTo>
                    <a:pt x="6209" y="96"/>
                  </a:moveTo>
                  <a:lnTo>
                    <a:pt x="6209" y="215"/>
                  </a:lnTo>
                </a:path>
                <a:path w="8200" h="450" fill="none">
                  <a:moveTo>
                    <a:pt x="6241" y="96"/>
                  </a:moveTo>
                  <a:lnTo>
                    <a:pt x="6241" y="215"/>
                  </a:lnTo>
                </a:path>
                <a:path w="8200" h="450" fill="none">
                  <a:moveTo>
                    <a:pt x="6209" y="354"/>
                  </a:moveTo>
                  <a:lnTo>
                    <a:pt x="6209" y="235"/>
                  </a:lnTo>
                </a:path>
                <a:path w="8200" h="450" fill="none">
                  <a:moveTo>
                    <a:pt x="6241" y="354"/>
                  </a:moveTo>
                  <a:lnTo>
                    <a:pt x="6241" y="235"/>
                  </a:lnTo>
                </a:path>
                <a:path w="8200" h="450" fill="none">
                  <a:moveTo>
                    <a:pt x="6311" y="96"/>
                  </a:moveTo>
                  <a:lnTo>
                    <a:pt x="6311" y="215"/>
                  </a:lnTo>
                </a:path>
                <a:path w="8200" h="450" fill="none">
                  <a:moveTo>
                    <a:pt x="6343" y="96"/>
                  </a:moveTo>
                  <a:lnTo>
                    <a:pt x="6343" y="215"/>
                  </a:lnTo>
                </a:path>
                <a:path w="8200" h="450" fill="none">
                  <a:moveTo>
                    <a:pt x="6311" y="354"/>
                  </a:moveTo>
                  <a:lnTo>
                    <a:pt x="6311" y="235"/>
                  </a:lnTo>
                </a:path>
                <a:path w="8200" h="450" fill="none">
                  <a:moveTo>
                    <a:pt x="6343" y="354"/>
                  </a:moveTo>
                  <a:lnTo>
                    <a:pt x="6343" y="235"/>
                  </a:lnTo>
                </a:path>
                <a:path w="8200" h="450" fill="none">
                  <a:moveTo>
                    <a:pt x="6412" y="96"/>
                  </a:moveTo>
                  <a:lnTo>
                    <a:pt x="6412" y="215"/>
                  </a:lnTo>
                </a:path>
                <a:path w="8200" h="450" fill="none">
                  <a:moveTo>
                    <a:pt x="6444" y="96"/>
                  </a:moveTo>
                  <a:lnTo>
                    <a:pt x="6444" y="215"/>
                  </a:lnTo>
                </a:path>
                <a:path w="8200" h="450" fill="none">
                  <a:moveTo>
                    <a:pt x="6412" y="354"/>
                  </a:moveTo>
                  <a:lnTo>
                    <a:pt x="6412" y="235"/>
                  </a:lnTo>
                </a:path>
                <a:path w="8200" h="450" fill="none">
                  <a:moveTo>
                    <a:pt x="6444" y="354"/>
                  </a:moveTo>
                  <a:lnTo>
                    <a:pt x="6444" y="235"/>
                  </a:lnTo>
                </a:path>
                <a:path w="8200" h="450" fill="none">
                  <a:moveTo>
                    <a:pt x="6513" y="96"/>
                  </a:moveTo>
                  <a:lnTo>
                    <a:pt x="6513" y="215"/>
                  </a:lnTo>
                </a:path>
                <a:path w="8200" h="450" fill="none">
                  <a:moveTo>
                    <a:pt x="6545" y="96"/>
                  </a:moveTo>
                  <a:lnTo>
                    <a:pt x="6545" y="215"/>
                  </a:lnTo>
                </a:path>
                <a:path w="8200" h="450" fill="none">
                  <a:moveTo>
                    <a:pt x="6513" y="354"/>
                  </a:moveTo>
                  <a:lnTo>
                    <a:pt x="6513" y="235"/>
                  </a:lnTo>
                </a:path>
                <a:path w="8200" h="450" fill="none">
                  <a:moveTo>
                    <a:pt x="6545" y="354"/>
                  </a:moveTo>
                  <a:lnTo>
                    <a:pt x="6545" y="235"/>
                  </a:lnTo>
                </a:path>
                <a:path w="8200" h="450" fill="none">
                  <a:moveTo>
                    <a:pt x="6614" y="96"/>
                  </a:moveTo>
                  <a:lnTo>
                    <a:pt x="6614" y="215"/>
                  </a:lnTo>
                </a:path>
                <a:path w="8200" h="450" fill="none">
                  <a:moveTo>
                    <a:pt x="6646" y="96"/>
                  </a:moveTo>
                  <a:lnTo>
                    <a:pt x="6646" y="215"/>
                  </a:lnTo>
                </a:path>
                <a:path w="8200" h="450" fill="none">
                  <a:moveTo>
                    <a:pt x="6614" y="354"/>
                  </a:moveTo>
                  <a:lnTo>
                    <a:pt x="6614" y="235"/>
                  </a:lnTo>
                </a:path>
                <a:path w="8200" h="450" fill="none">
                  <a:moveTo>
                    <a:pt x="6646" y="354"/>
                  </a:moveTo>
                  <a:lnTo>
                    <a:pt x="6646" y="235"/>
                  </a:lnTo>
                </a:path>
                <a:path w="8200" h="450" fill="none">
                  <a:moveTo>
                    <a:pt x="6716" y="96"/>
                  </a:moveTo>
                  <a:lnTo>
                    <a:pt x="6716" y="215"/>
                  </a:lnTo>
                </a:path>
                <a:path w="8200" h="450" fill="none">
                  <a:moveTo>
                    <a:pt x="6748" y="96"/>
                  </a:moveTo>
                  <a:lnTo>
                    <a:pt x="6748" y="215"/>
                  </a:lnTo>
                </a:path>
                <a:path w="8200" h="450" fill="none">
                  <a:moveTo>
                    <a:pt x="6716" y="354"/>
                  </a:moveTo>
                  <a:lnTo>
                    <a:pt x="6716" y="235"/>
                  </a:lnTo>
                </a:path>
                <a:path w="8200" h="450" fill="none">
                  <a:moveTo>
                    <a:pt x="6748" y="354"/>
                  </a:moveTo>
                  <a:lnTo>
                    <a:pt x="6748" y="235"/>
                  </a:lnTo>
                </a:path>
                <a:path w="8200" h="450" fill="none">
                  <a:moveTo>
                    <a:pt x="6817" y="96"/>
                  </a:moveTo>
                  <a:lnTo>
                    <a:pt x="6817" y="215"/>
                  </a:lnTo>
                </a:path>
                <a:path w="8200" h="450" fill="none">
                  <a:moveTo>
                    <a:pt x="6849" y="96"/>
                  </a:moveTo>
                  <a:lnTo>
                    <a:pt x="6849" y="215"/>
                  </a:lnTo>
                </a:path>
                <a:path w="8200" h="450" fill="none">
                  <a:moveTo>
                    <a:pt x="6817" y="354"/>
                  </a:moveTo>
                  <a:lnTo>
                    <a:pt x="6817" y="235"/>
                  </a:lnTo>
                </a:path>
                <a:path w="8200" h="450" fill="none">
                  <a:moveTo>
                    <a:pt x="6849" y="354"/>
                  </a:moveTo>
                  <a:lnTo>
                    <a:pt x="6849" y="235"/>
                  </a:lnTo>
                </a:path>
                <a:path w="8200" h="450" fill="none">
                  <a:moveTo>
                    <a:pt x="6918" y="96"/>
                  </a:moveTo>
                  <a:lnTo>
                    <a:pt x="6918" y="215"/>
                  </a:lnTo>
                </a:path>
                <a:path w="8200" h="450" fill="none">
                  <a:moveTo>
                    <a:pt x="6950" y="96"/>
                  </a:moveTo>
                  <a:lnTo>
                    <a:pt x="6950" y="215"/>
                  </a:lnTo>
                </a:path>
                <a:path w="8200" h="450" fill="none">
                  <a:moveTo>
                    <a:pt x="6918" y="354"/>
                  </a:moveTo>
                  <a:lnTo>
                    <a:pt x="6918" y="235"/>
                  </a:lnTo>
                </a:path>
                <a:path w="8200" h="450" fill="none">
                  <a:moveTo>
                    <a:pt x="6950" y="354"/>
                  </a:moveTo>
                  <a:lnTo>
                    <a:pt x="6950" y="235"/>
                  </a:lnTo>
                </a:path>
                <a:path w="8200" h="450" fill="none">
                  <a:moveTo>
                    <a:pt x="7019" y="96"/>
                  </a:moveTo>
                  <a:lnTo>
                    <a:pt x="7019" y="215"/>
                  </a:lnTo>
                </a:path>
                <a:path w="8200" h="450" fill="none">
                  <a:moveTo>
                    <a:pt x="7051" y="96"/>
                  </a:moveTo>
                  <a:lnTo>
                    <a:pt x="7051" y="215"/>
                  </a:lnTo>
                </a:path>
                <a:path w="8200" h="450" fill="none">
                  <a:moveTo>
                    <a:pt x="7019" y="354"/>
                  </a:moveTo>
                  <a:lnTo>
                    <a:pt x="7019" y="235"/>
                  </a:lnTo>
                </a:path>
                <a:path w="8200" h="450" fill="none">
                  <a:moveTo>
                    <a:pt x="7051" y="354"/>
                  </a:moveTo>
                  <a:lnTo>
                    <a:pt x="7051" y="235"/>
                  </a:lnTo>
                </a:path>
                <a:path w="8200" h="450" fill="none">
                  <a:moveTo>
                    <a:pt x="7121" y="96"/>
                  </a:moveTo>
                  <a:lnTo>
                    <a:pt x="7121" y="215"/>
                  </a:lnTo>
                </a:path>
                <a:path w="8200" h="450" fill="none">
                  <a:moveTo>
                    <a:pt x="7153" y="96"/>
                  </a:moveTo>
                  <a:lnTo>
                    <a:pt x="7153" y="215"/>
                  </a:lnTo>
                </a:path>
                <a:path w="8200" h="450" fill="none">
                  <a:moveTo>
                    <a:pt x="7121" y="354"/>
                  </a:moveTo>
                  <a:lnTo>
                    <a:pt x="7121" y="235"/>
                  </a:lnTo>
                </a:path>
                <a:path w="8200" h="450" fill="none">
                  <a:moveTo>
                    <a:pt x="7153" y="354"/>
                  </a:moveTo>
                  <a:lnTo>
                    <a:pt x="7153" y="235"/>
                  </a:lnTo>
                </a:path>
                <a:path w="8200" h="450" fill="none">
                  <a:moveTo>
                    <a:pt x="7222" y="96"/>
                  </a:moveTo>
                  <a:lnTo>
                    <a:pt x="7222" y="215"/>
                  </a:lnTo>
                </a:path>
                <a:path w="8200" h="450" fill="none">
                  <a:moveTo>
                    <a:pt x="7254" y="96"/>
                  </a:moveTo>
                  <a:lnTo>
                    <a:pt x="7254" y="215"/>
                  </a:lnTo>
                </a:path>
                <a:path w="8200" h="450" fill="none">
                  <a:moveTo>
                    <a:pt x="7222" y="354"/>
                  </a:moveTo>
                  <a:lnTo>
                    <a:pt x="7222" y="235"/>
                  </a:lnTo>
                </a:path>
                <a:path w="8200" h="450" fill="none">
                  <a:moveTo>
                    <a:pt x="7254" y="354"/>
                  </a:moveTo>
                  <a:lnTo>
                    <a:pt x="7254" y="235"/>
                  </a:lnTo>
                </a:path>
                <a:path w="8200" h="450" fill="none">
                  <a:moveTo>
                    <a:pt x="7323" y="96"/>
                  </a:moveTo>
                  <a:lnTo>
                    <a:pt x="7323" y="215"/>
                  </a:lnTo>
                </a:path>
                <a:path w="8200" h="450" fill="none">
                  <a:moveTo>
                    <a:pt x="7355" y="96"/>
                  </a:moveTo>
                  <a:lnTo>
                    <a:pt x="7355" y="215"/>
                  </a:lnTo>
                </a:path>
                <a:path w="8200" h="450" fill="none">
                  <a:moveTo>
                    <a:pt x="7323" y="354"/>
                  </a:moveTo>
                  <a:lnTo>
                    <a:pt x="7323" y="235"/>
                  </a:lnTo>
                </a:path>
                <a:path w="8200" h="450" fill="none">
                  <a:moveTo>
                    <a:pt x="7355" y="354"/>
                  </a:moveTo>
                  <a:lnTo>
                    <a:pt x="7355" y="235"/>
                  </a:lnTo>
                </a:path>
                <a:path w="8200" h="450" fill="none">
                  <a:moveTo>
                    <a:pt x="7424" y="96"/>
                  </a:moveTo>
                  <a:lnTo>
                    <a:pt x="7424" y="215"/>
                  </a:lnTo>
                </a:path>
                <a:path w="8200" h="450" fill="none">
                  <a:moveTo>
                    <a:pt x="7456" y="96"/>
                  </a:moveTo>
                  <a:lnTo>
                    <a:pt x="7456" y="215"/>
                  </a:lnTo>
                </a:path>
                <a:path w="8200" h="450" fill="none">
                  <a:moveTo>
                    <a:pt x="7424" y="354"/>
                  </a:moveTo>
                  <a:lnTo>
                    <a:pt x="7424" y="235"/>
                  </a:lnTo>
                </a:path>
                <a:path w="8200" h="450" fill="none">
                  <a:moveTo>
                    <a:pt x="7456" y="354"/>
                  </a:moveTo>
                  <a:lnTo>
                    <a:pt x="7456" y="235"/>
                  </a:lnTo>
                </a:path>
                <a:path w="8200" h="450" fill="none">
                  <a:moveTo>
                    <a:pt x="7525" y="96"/>
                  </a:moveTo>
                  <a:lnTo>
                    <a:pt x="7525" y="215"/>
                  </a:lnTo>
                </a:path>
                <a:path w="8200" h="450" fill="none">
                  <a:moveTo>
                    <a:pt x="7557" y="96"/>
                  </a:moveTo>
                  <a:lnTo>
                    <a:pt x="7557" y="215"/>
                  </a:lnTo>
                </a:path>
                <a:path w="8200" h="450" fill="none">
                  <a:moveTo>
                    <a:pt x="7525" y="354"/>
                  </a:moveTo>
                  <a:lnTo>
                    <a:pt x="7525" y="235"/>
                  </a:lnTo>
                </a:path>
                <a:path w="8200" h="450" fill="none">
                  <a:moveTo>
                    <a:pt x="7557" y="354"/>
                  </a:moveTo>
                  <a:lnTo>
                    <a:pt x="7557" y="235"/>
                  </a:lnTo>
                </a:path>
                <a:path w="8200" h="450" fill="none">
                  <a:moveTo>
                    <a:pt x="7627" y="96"/>
                  </a:moveTo>
                  <a:lnTo>
                    <a:pt x="7627" y="215"/>
                  </a:lnTo>
                </a:path>
                <a:path w="8200" h="450" fill="none">
                  <a:moveTo>
                    <a:pt x="7659" y="96"/>
                  </a:moveTo>
                  <a:lnTo>
                    <a:pt x="7659" y="215"/>
                  </a:lnTo>
                </a:path>
                <a:path w="8200" h="450" fill="none">
                  <a:moveTo>
                    <a:pt x="7627" y="354"/>
                  </a:moveTo>
                  <a:lnTo>
                    <a:pt x="7627" y="235"/>
                  </a:lnTo>
                </a:path>
                <a:path w="8200" h="450" fill="none">
                  <a:moveTo>
                    <a:pt x="7659" y="354"/>
                  </a:moveTo>
                  <a:lnTo>
                    <a:pt x="7659" y="235"/>
                  </a:lnTo>
                </a:path>
                <a:path w="8200" h="450" fill="none">
                  <a:moveTo>
                    <a:pt x="7728" y="96"/>
                  </a:moveTo>
                  <a:lnTo>
                    <a:pt x="7728" y="215"/>
                  </a:lnTo>
                </a:path>
                <a:path w="8200" h="450" fill="none">
                  <a:moveTo>
                    <a:pt x="7760" y="96"/>
                  </a:moveTo>
                  <a:lnTo>
                    <a:pt x="7760" y="215"/>
                  </a:lnTo>
                </a:path>
                <a:path w="8200" h="450" fill="none">
                  <a:moveTo>
                    <a:pt x="7728" y="354"/>
                  </a:moveTo>
                  <a:lnTo>
                    <a:pt x="7728" y="235"/>
                  </a:lnTo>
                </a:path>
                <a:path w="8200" h="450" fill="none">
                  <a:moveTo>
                    <a:pt x="7760" y="354"/>
                  </a:moveTo>
                  <a:lnTo>
                    <a:pt x="7760" y="235"/>
                  </a:lnTo>
                </a:path>
                <a:path w="8200" h="450" fill="none">
                  <a:moveTo>
                    <a:pt x="7829" y="96"/>
                  </a:moveTo>
                  <a:lnTo>
                    <a:pt x="7829" y="215"/>
                  </a:lnTo>
                </a:path>
                <a:path w="8200" h="450" fill="none">
                  <a:moveTo>
                    <a:pt x="7861" y="96"/>
                  </a:moveTo>
                  <a:lnTo>
                    <a:pt x="7861" y="215"/>
                  </a:lnTo>
                </a:path>
                <a:path w="8200" h="450" fill="none">
                  <a:moveTo>
                    <a:pt x="7829" y="354"/>
                  </a:moveTo>
                  <a:lnTo>
                    <a:pt x="7829" y="235"/>
                  </a:lnTo>
                </a:path>
                <a:path w="8200" h="450" fill="none">
                  <a:moveTo>
                    <a:pt x="7861" y="354"/>
                  </a:moveTo>
                  <a:lnTo>
                    <a:pt x="7861" y="235"/>
                  </a:lnTo>
                </a:path>
                <a:path w="8200" h="450" fill="none">
                  <a:moveTo>
                    <a:pt x="7930" y="96"/>
                  </a:moveTo>
                  <a:lnTo>
                    <a:pt x="7930" y="215"/>
                  </a:lnTo>
                </a:path>
                <a:path w="8200" h="450" fill="none">
                  <a:moveTo>
                    <a:pt x="7962" y="96"/>
                  </a:moveTo>
                  <a:lnTo>
                    <a:pt x="7962" y="215"/>
                  </a:lnTo>
                </a:path>
                <a:path w="8200" h="450" fill="none">
                  <a:moveTo>
                    <a:pt x="7930" y="354"/>
                  </a:moveTo>
                  <a:lnTo>
                    <a:pt x="7930" y="235"/>
                  </a:lnTo>
                </a:path>
                <a:path w="8200" h="450" fill="none">
                  <a:moveTo>
                    <a:pt x="7962" y="354"/>
                  </a:moveTo>
                  <a:lnTo>
                    <a:pt x="7962" y="235"/>
                  </a:lnTo>
                </a:path>
                <a:path w="8200" h="450" fill="none">
                  <a:moveTo>
                    <a:pt x="8032" y="96"/>
                  </a:moveTo>
                  <a:lnTo>
                    <a:pt x="8032" y="215"/>
                  </a:lnTo>
                </a:path>
                <a:path w="8200" h="450" fill="none">
                  <a:moveTo>
                    <a:pt x="8064" y="96"/>
                  </a:moveTo>
                  <a:lnTo>
                    <a:pt x="8064" y="215"/>
                  </a:lnTo>
                </a:path>
                <a:path w="8200" h="450" fill="none">
                  <a:moveTo>
                    <a:pt x="8032" y="354"/>
                  </a:moveTo>
                  <a:lnTo>
                    <a:pt x="8032" y="235"/>
                  </a:lnTo>
                </a:path>
                <a:path w="8200" h="450" fill="none">
                  <a:moveTo>
                    <a:pt x="8064" y="354"/>
                  </a:moveTo>
                  <a:lnTo>
                    <a:pt x="8064" y="235"/>
                  </a:lnTo>
                </a:path>
                <a:path w="8200" h="450" fill="none">
                  <a:moveTo>
                    <a:pt x="8133" y="96"/>
                  </a:moveTo>
                  <a:lnTo>
                    <a:pt x="8133" y="215"/>
                  </a:lnTo>
                </a:path>
                <a:path w="8200" h="450" fill="none">
                  <a:moveTo>
                    <a:pt x="8165" y="96"/>
                  </a:moveTo>
                  <a:lnTo>
                    <a:pt x="8165" y="215"/>
                  </a:lnTo>
                </a:path>
                <a:path w="8200" h="450" fill="none">
                  <a:moveTo>
                    <a:pt x="8133" y="354"/>
                  </a:moveTo>
                  <a:lnTo>
                    <a:pt x="8133" y="235"/>
                  </a:lnTo>
                </a:path>
                <a:path w="8200" h="450" fill="none">
                  <a:moveTo>
                    <a:pt x="8165" y="354"/>
                  </a:moveTo>
                  <a:lnTo>
                    <a:pt x="8165" y="235"/>
                  </a:lnTo>
                </a:path>
              </a:pathLst>
            </a:custGeom>
            <a:noFill/>
            <a:ln w="9525" cap="rnd">
              <a:solidFill>
                <a:srgbClr val="A49887"/>
              </a:solidFill>
              <a:round/>
            </a:ln>
          </p:spPr>
        </p:sp>
      </p:grpSp>
      <p:grpSp>
        <p:nvGrpSpPr>
          <p:cNvPr id="38" name="!!Receptor de insulina"/>
          <p:cNvGrpSpPr/>
          <p:nvPr/>
        </p:nvGrpSpPr>
        <p:grpSpPr>
          <a:xfrm>
            <a:off x="3291840" y="1751076"/>
            <a:ext cx="748894" cy="1627632"/>
            <a:chOff x="3291840" y="1751076"/>
            <a:chExt cx="748894" cy="1627632"/>
          </a:xfrm>
        </p:grpSpPr>
        <p:sp>
          <p:nvSpPr>
            <p:cNvPr id="39" name="Forma 38"/>
            <p:cNvSpPr/>
            <p:nvPr/>
          </p:nvSpPr>
          <p:spPr>
            <a:xfrm>
              <a:off x="3291840" y="1751076"/>
              <a:ext cx="352044" cy="608076"/>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40" name="Forma 39"/>
            <p:cNvSpPr/>
            <p:nvPr/>
          </p:nvSpPr>
          <p:spPr>
            <a:xfrm flipH="1">
              <a:off x="3688690" y="1751076"/>
              <a:ext cx="352044" cy="608076"/>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41" name="Forma 40"/>
            <p:cNvSpPr/>
            <p:nvPr/>
          </p:nvSpPr>
          <p:spPr>
            <a:xfrm>
              <a:off x="3419856" y="2346350"/>
              <a:ext cx="102413" cy="565099"/>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42" name="Forma 41"/>
            <p:cNvSpPr/>
            <p:nvPr/>
          </p:nvSpPr>
          <p:spPr>
            <a:xfrm>
              <a:off x="3343046" y="2898648"/>
              <a:ext cx="256032" cy="48006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43" name="Forma 42"/>
            <p:cNvSpPr/>
            <p:nvPr/>
          </p:nvSpPr>
          <p:spPr>
            <a:xfrm>
              <a:off x="3752698" y="2346350"/>
              <a:ext cx="102413" cy="565099"/>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44" name="Forma 43"/>
            <p:cNvSpPr/>
            <p:nvPr/>
          </p:nvSpPr>
          <p:spPr>
            <a:xfrm>
              <a:off x="3675888" y="2898648"/>
              <a:ext cx="256032" cy="48006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45" name="Forma 44"/>
            <p:cNvSpPr/>
            <p:nvPr/>
          </p:nvSpPr>
          <p:spPr>
            <a:xfrm>
              <a:off x="3515868" y="2218334"/>
              <a:ext cx="256032" cy="64008"/>
            </a:xfrm>
            <a:prstGeom prst="rect">
              <a:avLst/>
            </a:prstGeom>
            <a:solidFill>
              <a:srgbClr val="1B4F72"/>
            </a:solidFill>
            <a:ln>
              <a:noFill/>
            </a:ln>
          </p:spPr>
        </p:sp>
      </p:grpSp>
      <p:sp>
        <p:nvSpPr>
          <p:cNvPr id="46" name="!!Insulina portal 0"/>
          <p:cNvSpPr/>
          <p:nvPr/>
        </p:nvSpPr>
        <p:spPr>
          <a:xfrm>
            <a:off x="1097280" y="109728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7" name="!!Insulina portal 1"/>
          <p:cNvSpPr/>
          <p:nvPr/>
        </p:nvSpPr>
        <p:spPr>
          <a:xfrm>
            <a:off x="2194560" y="91440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8" name="!!Insulina portal 2"/>
          <p:cNvSpPr/>
          <p:nvPr/>
        </p:nvSpPr>
        <p:spPr>
          <a:xfrm>
            <a:off x="5303520" y="118872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49" name="!!Rótulo exterior"/>
          <p:cNvSpPr txBox="1"/>
          <p:nvPr/>
        </p:nvSpPr>
        <p:spPr>
          <a:xfrm>
            <a:off x="365760" y="914400"/>
            <a:ext cx="274320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ESPACIO DE DISSE</a:t>
            </a:r>
            <a:endParaRPr lang="es-AR" sz="1300" dirty="0">
              <a:latin typeface="Bahnschrift SemiBold Condensed"/>
            </a:endParaRPr>
          </a:p>
        </p:txBody>
      </p:sp>
      <p:sp>
        <p:nvSpPr>
          <p:cNvPr id="50" name="!!Rótulo citosol"/>
          <p:cNvSpPr txBox="1"/>
          <p:nvPr/>
        </p:nvSpPr>
        <p:spPr>
          <a:xfrm>
            <a:off x="365760" y="6080760"/>
            <a:ext cx="274320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CITOSOL</a:t>
            </a:r>
            <a:endParaRPr lang="es-AR" sz="1300" dirty="0">
              <a:latin typeface="Bahnschrift SemiBold Condensed"/>
            </a:endParaRPr>
          </a:p>
        </p:txBody>
      </p:sp>
      <p:grpSp>
        <p:nvGrpSpPr>
          <p:cNvPr id="51" name="!!Texto secuencia"/>
          <p:cNvGrpSpPr/>
          <p:nvPr/>
        </p:nvGrpSpPr>
        <p:grpSpPr>
          <a:xfrm>
            <a:off x="8001000" y="1051560"/>
            <a:ext cx="3794760" cy="3657600"/>
            <a:chOff x="8001000" y="1051560"/>
            <a:chExt cx="3794760" cy="3657600"/>
          </a:xfrm>
        </p:grpSpPr>
        <p:sp>
          <p:nvSpPr>
            <p:cNvPr id="52" name="Forma 51"/>
            <p:cNvSpPr/>
            <p:nvPr/>
          </p:nvSpPr>
          <p:spPr>
            <a:xfrm>
              <a:off x="8001000" y="1234440"/>
              <a:ext cx="379476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Bicapa lipídica</a:t>
              </a:r>
              <a:r>
                <a:rPr lang="es-AR" sz="1750" dirty="0">
                  <a:solidFill>
                    <a:srgbClr val="1E1E1E"/>
                  </a:solidFill>
                  <a:latin typeface="Bahnschrift"/>
                  <a:ea typeface="Bahnschrift"/>
                  <a:cs typeface="Bahnschrift"/>
                  <a:sym typeface="Bahnschrift"/>
                </a:rPr>
                <a:t>: cabezas polares hacia el agua, colas hidrofóbicas al centro.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El receptor la </a:t>
              </a:r>
              <a:r>
                <a:rPr lang="es-AR" sz="1750" b="1" dirty="0">
                  <a:solidFill>
                    <a:srgbClr val="1E1E1E"/>
                  </a:solidFill>
                  <a:latin typeface="Bahnschrift"/>
                  <a:ea typeface="Bahnschrift"/>
                  <a:cs typeface="Bahnschrift"/>
                  <a:sym typeface="Bahnschrift"/>
                </a:rPr>
                <a:t>atraviesa</a:t>
              </a:r>
              <a:r>
                <a:rPr lang="es-AR" sz="1750" dirty="0">
                  <a:solidFill>
                    <a:srgbClr val="1E1E1E"/>
                  </a:solidFill>
                  <a:latin typeface="Bahnschrift"/>
                  <a:ea typeface="Bahnschrift"/>
                  <a:cs typeface="Bahnschrift"/>
                  <a:sym typeface="Bahnschrift"/>
                </a:rPr>
                <a:t>: dominio extracelular (α) que une insulina y dominio intracelular (β) con actividad </a:t>
              </a:r>
              <a:r>
                <a:rPr lang="es-AR" sz="1750" b="1" dirty="0">
                  <a:solidFill>
                    <a:srgbClr val="1E1E1E"/>
                  </a:solidFill>
                  <a:latin typeface="Bahnschrift"/>
                  <a:ea typeface="Bahnschrift"/>
                  <a:cs typeface="Bahnschrift"/>
                  <a:sym typeface="Bahnschrift"/>
                </a:rPr>
                <a:t>tirosina cinasa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53" name="Forma 52"/>
            <p:cNvSpPr/>
            <p:nvPr/>
          </p:nvSpPr>
          <p:spPr>
            <a:xfrm>
              <a:off x="8110728" y="1051560"/>
              <a:ext cx="121081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MEMBRANA</a:t>
              </a:r>
              <a:endParaRPr lang="es-AR" sz="1600" dirty="0">
                <a:latin typeface="Bahnschrift SemiBold Condensed"/>
              </a:endParaRPr>
            </a:p>
          </p:txBody>
        </p:sp>
      </p:grpSp>
      <p:sp>
        <p:nvSpPr>
          <p:cNvPr id="2" name="Etiqueta sección"/>
          <p:cNvSpPr/>
          <p:nvPr/>
        </p:nvSpPr>
        <p:spPr>
          <a:xfrm>
            <a:off x="9922124" y="201168"/>
            <a:ext cx="199525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4/6</a:t>
            </a:r>
            <a:endParaRPr lang="es-AR" sz="1300" dirty="0">
              <a:latin typeface="Bahnschrift SemiBold Condensed"/>
            </a:endParaRPr>
          </a:p>
        </p:txBody>
      </p:sp>
      <p:sp>
        <p:nvSpPr>
          <p:cNvPr id="3" name="Título"/>
          <p:cNvSpPr/>
          <p:nvPr/>
        </p:nvSpPr>
        <p:spPr>
          <a:xfrm>
            <a:off x="274320" y="146304"/>
            <a:ext cx="660428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SEÑAL DE INSULINA: LA MEMBRANA PLASMÁTICA</a:t>
            </a:r>
            <a:endParaRPr lang="es-AR" sz="2600" dirty="0">
              <a:latin typeface="Bahnschrift SemiBold Condensed"/>
            </a:endParaRPr>
          </a:p>
        </p:txBody>
      </p:sp>
      <p:sp>
        <p:nvSpPr>
          <p:cNvPr id="5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39</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4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embrana"/>
          <p:cNvGrpSpPr/>
          <p:nvPr/>
        </p:nvGrpSpPr>
        <p:grpSpPr>
          <a:xfrm>
            <a:off x="274320" y="2926080"/>
            <a:ext cx="7498080" cy="411480"/>
            <a:chOff x="274320" y="2926080"/>
            <a:chExt cx="7498080" cy="411480"/>
          </a:xfrm>
        </p:grpSpPr>
        <p:sp>
          <p:nvSpPr>
            <p:cNvPr id="5" name="Forma 4"/>
            <p:cNvSpPr/>
            <p:nvPr/>
          </p:nvSpPr>
          <p:spPr>
            <a:xfrm>
              <a:off x="274320" y="3000146"/>
              <a:ext cx="7498080" cy="263347"/>
            </a:xfrm>
            <a:prstGeom prst="rect">
              <a:avLst/>
            </a:prstGeom>
            <a:solidFill>
              <a:srgbClr val="FDEBD0"/>
            </a:solidFill>
            <a:ln>
              <a:noFill/>
            </a:ln>
          </p:spPr>
        </p:sp>
        <p:sp>
          <p:nvSpPr>
            <p:cNvPr id="6" name="Forma 5"/>
            <p:cNvSpPr/>
            <p:nvPr/>
          </p:nvSpPr>
          <p:spPr>
            <a:xfrm>
              <a:off x="274320" y="2926080"/>
              <a:ext cx="7498080" cy="411480"/>
            </a:xfrm>
            <a:custGeom>
              <a:avLst/>
              <a:gdLst/>
              <a:ahLst/>
              <a:cxnLst/>
              <a:rect l="0" t="0" r="r" b="b"/>
              <a:pathLst>
                <a:path w="8200" h="450">
                  <a:moveTo>
                    <a:pt x="98" y="48"/>
                  </a:moveTo>
                  <a:cubicBezTo>
                    <a:pt x="98" y="74"/>
                    <a:pt x="76" y="96"/>
                    <a:pt x="50" y="96"/>
                  </a:cubicBezTo>
                  <a:cubicBezTo>
                    <a:pt x="23" y="96"/>
                    <a:pt x="2" y="74"/>
                    <a:pt x="2" y="48"/>
                  </a:cubicBezTo>
                  <a:cubicBezTo>
                    <a:pt x="2" y="21"/>
                    <a:pt x="23" y="0"/>
                    <a:pt x="50" y="0"/>
                  </a:cubicBezTo>
                  <a:cubicBezTo>
                    <a:pt x="76" y="0"/>
                    <a:pt x="98" y="21"/>
                    <a:pt x="98" y="48"/>
                  </a:cubicBezTo>
                  <a:close/>
                  <a:moveTo>
                    <a:pt x="199" y="48"/>
                  </a:moveTo>
                  <a:cubicBezTo>
                    <a:pt x="199" y="74"/>
                    <a:pt x="177" y="96"/>
                    <a:pt x="151" y="96"/>
                  </a:cubicBezTo>
                  <a:cubicBezTo>
                    <a:pt x="124" y="96"/>
                    <a:pt x="103" y="74"/>
                    <a:pt x="103" y="48"/>
                  </a:cubicBezTo>
                  <a:cubicBezTo>
                    <a:pt x="103" y="21"/>
                    <a:pt x="124" y="0"/>
                    <a:pt x="151" y="0"/>
                  </a:cubicBezTo>
                  <a:cubicBezTo>
                    <a:pt x="177" y="0"/>
                    <a:pt x="199" y="21"/>
                    <a:pt x="199" y="48"/>
                  </a:cubicBezTo>
                  <a:close/>
                  <a:moveTo>
                    <a:pt x="301" y="48"/>
                  </a:moveTo>
                  <a:cubicBezTo>
                    <a:pt x="301" y="74"/>
                    <a:pt x="279" y="96"/>
                    <a:pt x="253" y="96"/>
                  </a:cubicBezTo>
                  <a:cubicBezTo>
                    <a:pt x="226" y="96"/>
                    <a:pt x="205" y="74"/>
                    <a:pt x="205" y="48"/>
                  </a:cubicBezTo>
                  <a:cubicBezTo>
                    <a:pt x="205" y="21"/>
                    <a:pt x="226" y="0"/>
                    <a:pt x="253" y="0"/>
                  </a:cubicBezTo>
                  <a:cubicBezTo>
                    <a:pt x="279" y="0"/>
                    <a:pt x="301" y="21"/>
                    <a:pt x="301" y="48"/>
                  </a:cubicBezTo>
                  <a:close/>
                  <a:moveTo>
                    <a:pt x="402" y="48"/>
                  </a:moveTo>
                  <a:cubicBezTo>
                    <a:pt x="402" y="74"/>
                    <a:pt x="380" y="96"/>
                    <a:pt x="354" y="96"/>
                  </a:cubicBezTo>
                  <a:cubicBezTo>
                    <a:pt x="327" y="96"/>
                    <a:pt x="306" y="74"/>
                    <a:pt x="306" y="48"/>
                  </a:cubicBezTo>
                  <a:cubicBezTo>
                    <a:pt x="306" y="21"/>
                    <a:pt x="327" y="0"/>
                    <a:pt x="354" y="0"/>
                  </a:cubicBezTo>
                  <a:cubicBezTo>
                    <a:pt x="380" y="0"/>
                    <a:pt x="402" y="21"/>
                    <a:pt x="402" y="48"/>
                  </a:cubicBezTo>
                  <a:close/>
                  <a:moveTo>
                    <a:pt x="503" y="48"/>
                  </a:moveTo>
                  <a:cubicBezTo>
                    <a:pt x="503" y="74"/>
                    <a:pt x="481" y="96"/>
                    <a:pt x="455" y="96"/>
                  </a:cubicBezTo>
                  <a:cubicBezTo>
                    <a:pt x="428" y="96"/>
                    <a:pt x="407" y="74"/>
                    <a:pt x="407" y="48"/>
                  </a:cubicBezTo>
                  <a:cubicBezTo>
                    <a:pt x="407" y="21"/>
                    <a:pt x="428" y="0"/>
                    <a:pt x="455" y="0"/>
                  </a:cubicBezTo>
                  <a:cubicBezTo>
                    <a:pt x="481" y="0"/>
                    <a:pt x="503" y="21"/>
                    <a:pt x="503" y="48"/>
                  </a:cubicBezTo>
                  <a:close/>
                  <a:moveTo>
                    <a:pt x="604" y="48"/>
                  </a:moveTo>
                  <a:cubicBezTo>
                    <a:pt x="604" y="74"/>
                    <a:pt x="582" y="96"/>
                    <a:pt x="556" y="96"/>
                  </a:cubicBezTo>
                  <a:cubicBezTo>
                    <a:pt x="529" y="96"/>
                    <a:pt x="508" y="74"/>
                    <a:pt x="508" y="48"/>
                  </a:cubicBezTo>
                  <a:cubicBezTo>
                    <a:pt x="508" y="21"/>
                    <a:pt x="529" y="0"/>
                    <a:pt x="556" y="0"/>
                  </a:cubicBezTo>
                  <a:cubicBezTo>
                    <a:pt x="582" y="0"/>
                    <a:pt x="604" y="21"/>
                    <a:pt x="604" y="48"/>
                  </a:cubicBezTo>
                  <a:close/>
                  <a:moveTo>
                    <a:pt x="706" y="48"/>
                  </a:moveTo>
                  <a:cubicBezTo>
                    <a:pt x="706" y="74"/>
                    <a:pt x="684" y="96"/>
                    <a:pt x="658" y="96"/>
                  </a:cubicBezTo>
                  <a:cubicBezTo>
                    <a:pt x="631" y="96"/>
                    <a:pt x="610" y="74"/>
                    <a:pt x="610" y="48"/>
                  </a:cubicBezTo>
                  <a:cubicBezTo>
                    <a:pt x="610" y="21"/>
                    <a:pt x="631" y="0"/>
                    <a:pt x="658" y="0"/>
                  </a:cubicBezTo>
                  <a:cubicBezTo>
                    <a:pt x="684" y="0"/>
                    <a:pt x="706" y="21"/>
                    <a:pt x="706" y="48"/>
                  </a:cubicBezTo>
                  <a:close/>
                  <a:moveTo>
                    <a:pt x="807" y="48"/>
                  </a:moveTo>
                  <a:cubicBezTo>
                    <a:pt x="807" y="74"/>
                    <a:pt x="785" y="96"/>
                    <a:pt x="759" y="96"/>
                  </a:cubicBezTo>
                  <a:cubicBezTo>
                    <a:pt x="732" y="96"/>
                    <a:pt x="711" y="74"/>
                    <a:pt x="711" y="48"/>
                  </a:cubicBezTo>
                  <a:cubicBezTo>
                    <a:pt x="711" y="21"/>
                    <a:pt x="732" y="0"/>
                    <a:pt x="759" y="0"/>
                  </a:cubicBezTo>
                  <a:cubicBezTo>
                    <a:pt x="785" y="0"/>
                    <a:pt x="807" y="21"/>
                    <a:pt x="807" y="48"/>
                  </a:cubicBezTo>
                  <a:close/>
                  <a:moveTo>
                    <a:pt x="908" y="48"/>
                  </a:moveTo>
                  <a:cubicBezTo>
                    <a:pt x="908" y="74"/>
                    <a:pt x="886" y="96"/>
                    <a:pt x="860" y="96"/>
                  </a:cubicBezTo>
                  <a:cubicBezTo>
                    <a:pt x="833" y="96"/>
                    <a:pt x="812" y="74"/>
                    <a:pt x="812" y="48"/>
                  </a:cubicBezTo>
                  <a:cubicBezTo>
                    <a:pt x="812" y="21"/>
                    <a:pt x="833" y="0"/>
                    <a:pt x="860" y="0"/>
                  </a:cubicBezTo>
                  <a:cubicBezTo>
                    <a:pt x="886" y="0"/>
                    <a:pt x="908" y="21"/>
                    <a:pt x="908" y="48"/>
                  </a:cubicBezTo>
                  <a:close/>
                  <a:moveTo>
                    <a:pt x="1009" y="48"/>
                  </a:moveTo>
                  <a:cubicBezTo>
                    <a:pt x="1009" y="74"/>
                    <a:pt x="987" y="96"/>
                    <a:pt x="961" y="96"/>
                  </a:cubicBezTo>
                  <a:cubicBezTo>
                    <a:pt x="934" y="96"/>
                    <a:pt x="913" y="74"/>
                    <a:pt x="913" y="48"/>
                  </a:cubicBezTo>
                  <a:cubicBezTo>
                    <a:pt x="913" y="21"/>
                    <a:pt x="934" y="0"/>
                    <a:pt x="961" y="0"/>
                  </a:cubicBezTo>
                  <a:cubicBezTo>
                    <a:pt x="987" y="0"/>
                    <a:pt x="1009" y="21"/>
                    <a:pt x="1009" y="48"/>
                  </a:cubicBezTo>
                  <a:close/>
                  <a:moveTo>
                    <a:pt x="1110" y="48"/>
                  </a:moveTo>
                  <a:cubicBezTo>
                    <a:pt x="1110" y="74"/>
                    <a:pt x="1088" y="96"/>
                    <a:pt x="1062" y="96"/>
                  </a:cubicBezTo>
                  <a:cubicBezTo>
                    <a:pt x="1035" y="96"/>
                    <a:pt x="1014" y="74"/>
                    <a:pt x="1014" y="48"/>
                  </a:cubicBezTo>
                  <a:cubicBezTo>
                    <a:pt x="1014" y="21"/>
                    <a:pt x="1035" y="0"/>
                    <a:pt x="1062" y="0"/>
                  </a:cubicBezTo>
                  <a:cubicBezTo>
                    <a:pt x="1088" y="0"/>
                    <a:pt x="1110" y="21"/>
                    <a:pt x="1110" y="48"/>
                  </a:cubicBezTo>
                  <a:close/>
                  <a:moveTo>
                    <a:pt x="1212" y="48"/>
                  </a:moveTo>
                  <a:cubicBezTo>
                    <a:pt x="1212" y="74"/>
                    <a:pt x="1190" y="96"/>
                    <a:pt x="1164" y="96"/>
                  </a:cubicBezTo>
                  <a:cubicBezTo>
                    <a:pt x="1137" y="96"/>
                    <a:pt x="1116" y="74"/>
                    <a:pt x="1116" y="48"/>
                  </a:cubicBezTo>
                  <a:cubicBezTo>
                    <a:pt x="1116" y="21"/>
                    <a:pt x="1137" y="0"/>
                    <a:pt x="1164" y="0"/>
                  </a:cubicBezTo>
                  <a:cubicBezTo>
                    <a:pt x="1190" y="0"/>
                    <a:pt x="1212" y="21"/>
                    <a:pt x="1212" y="48"/>
                  </a:cubicBezTo>
                  <a:close/>
                  <a:moveTo>
                    <a:pt x="1313" y="48"/>
                  </a:moveTo>
                  <a:cubicBezTo>
                    <a:pt x="1313" y="74"/>
                    <a:pt x="1291" y="96"/>
                    <a:pt x="1265" y="96"/>
                  </a:cubicBezTo>
                  <a:cubicBezTo>
                    <a:pt x="1238" y="96"/>
                    <a:pt x="1217" y="74"/>
                    <a:pt x="1217" y="48"/>
                  </a:cubicBezTo>
                  <a:cubicBezTo>
                    <a:pt x="1217" y="21"/>
                    <a:pt x="1238" y="0"/>
                    <a:pt x="1265" y="0"/>
                  </a:cubicBezTo>
                  <a:cubicBezTo>
                    <a:pt x="1291" y="0"/>
                    <a:pt x="1313" y="21"/>
                    <a:pt x="1313" y="48"/>
                  </a:cubicBezTo>
                  <a:close/>
                  <a:moveTo>
                    <a:pt x="1414" y="48"/>
                  </a:moveTo>
                  <a:cubicBezTo>
                    <a:pt x="1414" y="74"/>
                    <a:pt x="1392" y="96"/>
                    <a:pt x="1366" y="96"/>
                  </a:cubicBezTo>
                  <a:cubicBezTo>
                    <a:pt x="1339" y="96"/>
                    <a:pt x="1318" y="74"/>
                    <a:pt x="1318" y="48"/>
                  </a:cubicBezTo>
                  <a:cubicBezTo>
                    <a:pt x="1318" y="21"/>
                    <a:pt x="1339" y="0"/>
                    <a:pt x="1366" y="0"/>
                  </a:cubicBezTo>
                  <a:cubicBezTo>
                    <a:pt x="1392" y="0"/>
                    <a:pt x="1414" y="21"/>
                    <a:pt x="1414" y="48"/>
                  </a:cubicBezTo>
                  <a:close/>
                  <a:moveTo>
                    <a:pt x="1515" y="48"/>
                  </a:moveTo>
                  <a:cubicBezTo>
                    <a:pt x="1515" y="74"/>
                    <a:pt x="1493" y="96"/>
                    <a:pt x="1467" y="96"/>
                  </a:cubicBezTo>
                  <a:cubicBezTo>
                    <a:pt x="1440" y="96"/>
                    <a:pt x="1419" y="74"/>
                    <a:pt x="1419" y="48"/>
                  </a:cubicBezTo>
                  <a:cubicBezTo>
                    <a:pt x="1419" y="21"/>
                    <a:pt x="1440" y="0"/>
                    <a:pt x="1467" y="0"/>
                  </a:cubicBezTo>
                  <a:cubicBezTo>
                    <a:pt x="1493" y="0"/>
                    <a:pt x="1515" y="21"/>
                    <a:pt x="1515" y="48"/>
                  </a:cubicBezTo>
                  <a:close/>
                  <a:moveTo>
                    <a:pt x="1617" y="48"/>
                  </a:moveTo>
                  <a:cubicBezTo>
                    <a:pt x="1617" y="74"/>
                    <a:pt x="1595" y="96"/>
                    <a:pt x="1569" y="96"/>
                  </a:cubicBezTo>
                  <a:cubicBezTo>
                    <a:pt x="1542" y="96"/>
                    <a:pt x="1521" y="74"/>
                    <a:pt x="1521" y="48"/>
                  </a:cubicBezTo>
                  <a:cubicBezTo>
                    <a:pt x="1521" y="21"/>
                    <a:pt x="1542" y="0"/>
                    <a:pt x="1569" y="0"/>
                  </a:cubicBezTo>
                  <a:cubicBezTo>
                    <a:pt x="1595" y="0"/>
                    <a:pt x="1617" y="21"/>
                    <a:pt x="1617" y="48"/>
                  </a:cubicBezTo>
                  <a:close/>
                  <a:moveTo>
                    <a:pt x="1718" y="48"/>
                  </a:moveTo>
                  <a:cubicBezTo>
                    <a:pt x="1718" y="74"/>
                    <a:pt x="1696" y="96"/>
                    <a:pt x="1670" y="96"/>
                  </a:cubicBezTo>
                  <a:cubicBezTo>
                    <a:pt x="1643" y="96"/>
                    <a:pt x="1622" y="74"/>
                    <a:pt x="1622" y="48"/>
                  </a:cubicBezTo>
                  <a:cubicBezTo>
                    <a:pt x="1622" y="21"/>
                    <a:pt x="1643" y="0"/>
                    <a:pt x="1670" y="0"/>
                  </a:cubicBezTo>
                  <a:cubicBezTo>
                    <a:pt x="1696" y="0"/>
                    <a:pt x="1718" y="21"/>
                    <a:pt x="1718" y="48"/>
                  </a:cubicBezTo>
                  <a:close/>
                  <a:moveTo>
                    <a:pt x="1819" y="48"/>
                  </a:moveTo>
                  <a:cubicBezTo>
                    <a:pt x="1819" y="74"/>
                    <a:pt x="1797" y="96"/>
                    <a:pt x="1771" y="96"/>
                  </a:cubicBezTo>
                  <a:cubicBezTo>
                    <a:pt x="1744" y="96"/>
                    <a:pt x="1723" y="74"/>
                    <a:pt x="1723" y="48"/>
                  </a:cubicBezTo>
                  <a:cubicBezTo>
                    <a:pt x="1723" y="21"/>
                    <a:pt x="1744" y="0"/>
                    <a:pt x="1771" y="0"/>
                  </a:cubicBezTo>
                  <a:cubicBezTo>
                    <a:pt x="1797" y="0"/>
                    <a:pt x="1819" y="21"/>
                    <a:pt x="1819" y="48"/>
                  </a:cubicBezTo>
                  <a:close/>
                  <a:moveTo>
                    <a:pt x="1920" y="48"/>
                  </a:moveTo>
                  <a:cubicBezTo>
                    <a:pt x="1920" y="74"/>
                    <a:pt x="1898" y="96"/>
                    <a:pt x="1872" y="96"/>
                  </a:cubicBezTo>
                  <a:cubicBezTo>
                    <a:pt x="1845" y="96"/>
                    <a:pt x="1824" y="74"/>
                    <a:pt x="1824" y="48"/>
                  </a:cubicBezTo>
                  <a:cubicBezTo>
                    <a:pt x="1824" y="21"/>
                    <a:pt x="1845" y="0"/>
                    <a:pt x="1872" y="0"/>
                  </a:cubicBezTo>
                  <a:cubicBezTo>
                    <a:pt x="1898" y="0"/>
                    <a:pt x="1920" y="21"/>
                    <a:pt x="1920" y="48"/>
                  </a:cubicBezTo>
                  <a:close/>
                  <a:moveTo>
                    <a:pt x="2022" y="48"/>
                  </a:moveTo>
                  <a:cubicBezTo>
                    <a:pt x="2022" y="74"/>
                    <a:pt x="2000" y="96"/>
                    <a:pt x="1974" y="96"/>
                  </a:cubicBezTo>
                  <a:cubicBezTo>
                    <a:pt x="1947" y="96"/>
                    <a:pt x="1926" y="74"/>
                    <a:pt x="1926" y="48"/>
                  </a:cubicBezTo>
                  <a:cubicBezTo>
                    <a:pt x="1926" y="21"/>
                    <a:pt x="1947" y="0"/>
                    <a:pt x="1974" y="0"/>
                  </a:cubicBezTo>
                  <a:cubicBezTo>
                    <a:pt x="2000" y="0"/>
                    <a:pt x="2022" y="21"/>
                    <a:pt x="2022" y="48"/>
                  </a:cubicBezTo>
                  <a:close/>
                  <a:moveTo>
                    <a:pt x="2123" y="48"/>
                  </a:moveTo>
                  <a:cubicBezTo>
                    <a:pt x="2123" y="74"/>
                    <a:pt x="2101" y="96"/>
                    <a:pt x="2075" y="96"/>
                  </a:cubicBezTo>
                  <a:cubicBezTo>
                    <a:pt x="2048" y="96"/>
                    <a:pt x="2027" y="74"/>
                    <a:pt x="2027" y="48"/>
                  </a:cubicBezTo>
                  <a:cubicBezTo>
                    <a:pt x="2027" y="21"/>
                    <a:pt x="2048" y="0"/>
                    <a:pt x="2075" y="0"/>
                  </a:cubicBezTo>
                  <a:cubicBezTo>
                    <a:pt x="2101" y="0"/>
                    <a:pt x="2123" y="21"/>
                    <a:pt x="2123" y="48"/>
                  </a:cubicBezTo>
                  <a:close/>
                  <a:moveTo>
                    <a:pt x="2224" y="48"/>
                  </a:moveTo>
                  <a:cubicBezTo>
                    <a:pt x="2224" y="74"/>
                    <a:pt x="2202" y="96"/>
                    <a:pt x="2176" y="96"/>
                  </a:cubicBezTo>
                  <a:cubicBezTo>
                    <a:pt x="2149" y="96"/>
                    <a:pt x="2128" y="74"/>
                    <a:pt x="2128" y="48"/>
                  </a:cubicBezTo>
                  <a:cubicBezTo>
                    <a:pt x="2128" y="21"/>
                    <a:pt x="2149" y="0"/>
                    <a:pt x="2176" y="0"/>
                  </a:cubicBezTo>
                  <a:cubicBezTo>
                    <a:pt x="2202" y="0"/>
                    <a:pt x="2224" y="21"/>
                    <a:pt x="2224" y="48"/>
                  </a:cubicBezTo>
                  <a:close/>
                  <a:moveTo>
                    <a:pt x="2325" y="48"/>
                  </a:moveTo>
                  <a:cubicBezTo>
                    <a:pt x="2325" y="74"/>
                    <a:pt x="2303" y="96"/>
                    <a:pt x="2277" y="96"/>
                  </a:cubicBezTo>
                  <a:cubicBezTo>
                    <a:pt x="2250" y="96"/>
                    <a:pt x="2229" y="74"/>
                    <a:pt x="2229" y="48"/>
                  </a:cubicBezTo>
                  <a:cubicBezTo>
                    <a:pt x="2229" y="21"/>
                    <a:pt x="2250" y="0"/>
                    <a:pt x="2277" y="0"/>
                  </a:cubicBezTo>
                  <a:cubicBezTo>
                    <a:pt x="2303" y="0"/>
                    <a:pt x="2325" y="21"/>
                    <a:pt x="2325" y="48"/>
                  </a:cubicBezTo>
                  <a:close/>
                  <a:moveTo>
                    <a:pt x="2427" y="48"/>
                  </a:moveTo>
                  <a:cubicBezTo>
                    <a:pt x="2427" y="74"/>
                    <a:pt x="2405" y="96"/>
                    <a:pt x="2379" y="96"/>
                  </a:cubicBezTo>
                  <a:cubicBezTo>
                    <a:pt x="2352" y="96"/>
                    <a:pt x="2331" y="74"/>
                    <a:pt x="2331" y="48"/>
                  </a:cubicBezTo>
                  <a:cubicBezTo>
                    <a:pt x="2331" y="21"/>
                    <a:pt x="2352" y="0"/>
                    <a:pt x="2379" y="0"/>
                  </a:cubicBezTo>
                  <a:cubicBezTo>
                    <a:pt x="2405" y="0"/>
                    <a:pt x="2427" y="21"/>
                    <a:pt x="2427" y="48"/>
                  </a:cubicBezTo>
                  <a:close/>
                  <a:moveTo>
                    <a:pt x="2528" y="48"/>
                  </a:moveTo>
                  <a:cubicBezTo>
                    <a:pt x="2528" y="74"/>
                    <a:pt x="2506" y="96"/>
                    <a:pt x="2480" y="96"/>
                  </a:cubicBezTo>
                  <a:cubicBezTo>
                    <a:pt x="2453" y="96"/>
                    <a:pt x="2432" y="74"/>
                    <a:pt x="2432" y="48"/>
                  </a:cubicBezTo>
                  <a:cubicBezTo>
                    <a:pt x="2432" y="21"/>
                    <a:pt x="2453" y="0"/>
                    <a:pt x="2480" y="0"/>
                  </a:cubicBezTo>
                  <a:cubicBezTo>
                    <a:pt x="2506" y="0"/>
                    <a:pt x="2528" y="21"/>
                    <a:pt x="2528" y="48"/>
                  </a:cubicBezTo>
                  <a:close/>
                  <a:moveTo>
                    <a:pt x="2629" y="48"/>
                  </a:moveTo>
                  <a:cubicBezTo>
                    <a:pt x="2629" y="74"/>
                    <a:pt x="2607" y="96"/>
                    <a:pt x="2581" y="96"/>
                  </a:cubicBezTo>
                  <a:cubicBezTo>
                    <a:pt x="2554" y="96"/>
                    <a:pt x="2533" y="74"/>
                    <a:pt x="2533" y="48"/>
                  </a:cubicBezTo>
                  <a:cubicBezTo>
                    <a:pt x="2533" y="21"/>
                    <a:pt x="2554" y="0"/>
                    <a:pt x="2581" y="0"/>
                  </a:cubicBezTo>
                  <a:cubicBezTo>
                    <a:pt x="2607" y="0"/>
                    <a:pt x="2629" y="21"/>
                    <a:pt x="2629" y="48"/>
                  </a:cubicBezTo>
                  <a:close/>
                  <a:moveTo>
                    <a:pt x="2730" y="48"/>
                  </a:moveTo>
                  <a:cubicBezTo>
                    <a:pt x="2730" y="74"/>
                    <a:pt x="2708" y="96"/>
                    <a:pt x="2682" y="96"/>
                  </a:cubicBezTo>
                  <a:cubicBezTo>
                    <a:pt x="2655" y="96"/>
                    <a:pt x="2634" y="74"/>
                    <a:pt x="2634" y="48"/>
                  </a:cubicBezTo>
                  <a:cubicBezTo>
                    <a:pt x="2634" y="21"/>
                    <a:pt x="2655" y="0"/>
                    <a:pt x="2682" y="0"/>
                  </a:cubicBezTo>
                  <a:cubicBezTo>
                    <a:pt x="2708" y="0"/>
                    <a:pt x="2730" y="21"/>
                    <a:pt x="2730" y="48"/>
                  </a:cubicBezTo>
                  <a:close/>
                  <a:moveTo>
                    <a:pt x="2831" y="48"/>
                  </a:moveTo>
                  <a:cubicBezTo>
                    <a:pt x="2831" y="74"/>
                    <a:pt x="2809" y="96"/>
                    <a:pt x="2783" y="96"/>
                  </a:cubicBezTo>
                  <a:cubicBezTo>
                    <a:pt x="2756" y="96"/>
                    <a:pt x="2735" y="74"/>
                    <a:pt x="2735" y="48"/>
                  </a:cubicBezTo>
                  <a:cubicBezTo>
                    <a:pt x="2735" y="21"/>
                    <a:pt x="2756" y="0"/>
                    <a:pt x="2783" y="0"/>
                  </a:cubicBezTo>
                  <a:cubicBezTo>
                    <a:pt x="2809" y="0"/>
                    <a:pt x="2831" y="21"/>
                    <a:pt x="2831" y="48"/>
                  </a:cubicBezTo>
                  <a:close/>
                  <a:moveTo>
                    <a:pt x="2933" y="48"/>
                  </a:moveTo>
                  <a:cubicBezTo>
                    <a:pt x="2933" y="74"/>
                    <a:pt x="2911" y="96"/>
                    <a:pt x="2885" y="96"/>
                  </a:cubicBezTo>
                  <a:cubicBezTo>
                    <a:pt x="2858" y="96"/>
                    <a:pt x="2837" y="74"/>
                    <a:pt x="2837" y="48"/>
                  </a:cubicBezTo>
                  <a:cubicBezTo>
                    <a:pt x="2837" y="21"/>
                    <a:pt x="2858" y="0"/>
                    <a:pt x="2885" y="0"/>
                  </a:cubicBezTo>
                  <a:cubicBezTo>
                    <a:pt x="2911" y="0"/>
                    <a:pt x="2933" y="21"/>
                    <a:pt x="2933" y="48"/>
                  </a:cubicBezTo>
                  <a:close/>
                  <a:moveTo>
                    <a:pt x="3034" y="48"/>
                  </a:moveTo>
                  <a:cubicBezTo>
                    <a:pt x="3034" y="74"/>
                    <a:pt x="3012" y="96"/>
                    <a:pt x="2986" y="96"/>
                  </a:cubicBezTo>
                  <a:cubicBezTo>
                    <a:pt x="2959" y="96"/>
                    <a:pt x="2938" y="74"/>
                    <a:pt x="2938" y="48"/>
                  </a:cubicBezTo>
                  <a:cubicBezTo>
                    <a:pt x="2938" y="21"/>
                    <a:pt x="2959" y="0"/>
                    <a:pt x="2986" y="0"/>
                  </a:cubicBezTo>
                  <a:cubicBezTo>
                    <a:pt x="3012" y="0"/>
                    <a:pt x="3034" y="21"/>
                    <a:pt x="3034" y="48"/>
                  </a:cubicBezTo>
                  <a:close/>
                  <a:moveTo>
                    <a:pt x="3135" y="48"/>
                  </a:moveTo>
                  <a:cubicBezTo>
                    <a:pt x="3135" y="74"/>
                    <a:pt x="3113" y="96"/>
                    <a:pt x="3087" y="96"/>
                  </a:cubicBezTo>
                  <a:cubicBezTo>
                    <a:pt x="3060" y="96"/>
                    <a:pt x="3039" y="74"/>
                    <a:pt x="3039" y="48"/>
                  </a:cubicBezTo>
                  <a:cubicBezTo>
                    <a:pt x="3039" y="21"/>
                    <a:pt x="3060" y="0"/>
                    <a:pt x="3087" y="0"/>
                  </a:cubicBezTo>
                  <a:cubicBezTo>
                    <a:pt x="3113" y="0"/>
                    <a:pt x="3135" y="21"/>
                    <a:pt x="3135" y="48"/>
                  </a:cubicBezTo>
                  <a:close/>
                  <a:moveTo>
                    <a:pt x="3236" y="48"/>
                  </a:moveTo>
                  <a:cubicBezTo>
                    <a:pt x="3236" y="74"/>
                    <a:pt x="3214" y="96"/>
                    <a:pt x="3188" y="96"/>
                  </a:cubicBezTo>
                  <a:cubicBezTo>
                    <a:pt x="3161" y="96"/>
                    <a:pt x="3140" y="74"/>
                    <a:pt x="3140" y="48"/>
                  </a:cubicBezTo>
                  <a:cubicBezTo>
                    <a:pt x="3140" y="21"/>
                    <a:pt x="3161" y="0"/>
                    <a:pt x="3188" y="0"/>
                  </a:cubicBezTo>
                  <a:cubicBezTo>
                    <a:pt x="3214" y="0"/>
                    <a:pt x="3236" y="21"/>
                    <a:pt x="3236" y="48"/>
                  </a:cubicBezTo>
                  <a:close/>
                  <a:moveTo>
                    <a:pt x="3338" y="48"/>
                  </a:moveTo>
                  <a:cubicBezTo>
                    <a:pt x="3338" y="74"/>
                    <a:pt x="3316" y="96"/>
                    <a:pt x="3290" y="96"/>
                  </a:cubicBezTo>
                  <a:cubicBezTo>
                    <a:pt x="3263" y="96"/>
                    <a:pt x="3242" y="74"/>
                    <a:pt x="3242" y="48"/>
                  </a:cubicBezTo>
                  <a:cubicBezTo>
                    <a:pt x="3242" y="21"/>
                    <a:pt x="3263" y="0"/>
                    <a:pt x="3290" y="0"/>
                  </a:cubicBezTo>
                  <a:cubicBezTo>
                    <a:pt x="3316" y="0"/>
                    <a:pt x="3338" y="21"/>
                    <a:pt x="3338" y="48"/>
                  </a:cubicBezTo>
                  <a:close/>
                  <a:moveTo>
                    <a:pt x="3439" y="48"/>
                  </a:moveTo>
                  <a:cubicBezTo>
                    <a:pt x="3439" y="74"/>
                    <a:pt x="3417" y="96"/>
                    <a:pt x="3391" y="96"/>
                  </a:cubicBezTo>
                  <a:cubicBezTo>
                    <a:pt x="3364" y="96"/>
                    <a:pt x="3343" y="74"/>
                    <a:pt x="3343" y="48"/>
                  </a:cubicBezTo>
                  <a:cubicBezTo>
                    <a:pt x="3343" y="21"/>
                    <a:pt x="3364" y="0"/>
                    <a:pt x="3391" y="0"/>
                  </a:cubicBezTo>
                  <a:cubicBezTo>
                    <a:pt x="3417" y="0"/>
                    <a:pt x="3439" y="21"/>
                    <a:pt x="3439" y="48"/>
                  </a:cubicBezTo>
                  <a:close/>
                  <a:moveTo>
                    <a:pt x="3540" y="48"/>
                  </a:moveTo>
                  <a:cubicBezTo>
                    <a:pt x="3540" y="74"/>
                    <a:pt x="3518" y="96"/>
                    <a:pt x="3492" y="96"/>
                  </a:cubicBezTo>
                  <a:cubicBezTo>
                    <a:pt x="3465" y="96"/>
                    <a:pt x="3444" y="74"/>
                    <a:pt x="3444" y="48"/>
                  </a:cubicBezTo>
                  <a:cubicBezTo>
                    <a:pt x="3444" y="21"/>
                    <a:pt x="3465" y="0"/>
                    <a:pt x="3492" y="0"/>
                  </a:cubicBezTo>
                  <a:cubicBezTo>
                    <a:pt x="3518" y="0"/>
                    <a:pt x="3540" y="21"/>
                    <a:pt x="3540" y="48"/>
                  </a:cubicBezTo>
                  <a:close/>
                  <a:moveTo>
                    <a:pt x="3641" y="48"/>
                  </a:moveTo>
                  <a:cubicBezTo>
                    <a:pt x="3641" y="74"/>
                    <a:pt x="3619" y="96"/>
                    <a:pt x="3593" y="96"/>
                  </a:cubicBezTo>
                  <a:cubicBezTo>
                    <a:pt x="3566" y="96"/>
                    <a:pt x="3545" y="74"/>
                    <a:pt x="3545" y="48"/>
                  </a:cubicBezTo>
                  <a:cubicBezTo>
                    <a:pt x="3545" y="21"/>
                    <a:pt x="3566" y="0"/>
                    <a:pt x="3593" y="0"/>
                  </a:cubicBezTo>
                  <a:cubicBezTo>
                    <a:pt x="3619" y="0"/>
                    <a:pt x="3641" y="21"/>
                    <a:pt x="3641" y="48"/>
                  </a:cubicBezTo>
                  <a:close/>
                  <a:moveTo>
                    <a:pt x="3743" y="48"/>
                  </a:moveTo>
                  <a:cubicBezTo>
                    <a:pt x="3743" y="74"/>
                    <a:pt x="3721" y="96"/>
                    <a:pt x="3695" y="96"/>
                  </a:cubicBezTo>
                  <a:cubicBezTo>
                    <a:pt x="3668" y="96"/>
                    <a:pt x="3647" y="74"/>
                    <a:pt x="3647" y="48"/>
                  </a:cubicBezTo>
                  <a:cubicBezTo>
                    <a:pt x="3647" y="21"/>
                    <a:pt x="3668" y="0"/>
                    <a:pt x="3695" y="0"/>
                  </a:cubicBezTo>
                  <a:cubicBezTo>
                    <a:pt x="3721" y="0"/>
                    <a:pt x="3743" y="21"/>
                    <a:pt x="3743" y="48"/>
                  </a:cubicBezTo>
                  <a:close/>
                  <a:moveTo>
                    <a:pt x="3844" y="48"/>
                  </a:moveTo>
                  <a:cubicBezTo>
                    <a:pt x="3844" y="74"/>
                    <a:pt x="3822" y="96"/>
                    <a:pt x="3796" y="96"/>
                  </a:cubicBezTo>
                  <a:cubicBezTo>
                    <a:pt x="3769" y="96"/>
                    <a:pt x="3748" y="74"/>
                    <a:pt x="3748" y="48"/>
                  </a:cubicBezTo>
                  <a:cubicBezTo>
                    <a:pt x="3748" y="21"/>
                    <a:pt x="3769" y="0"/>
                    <a:pt x="3796" y="0"/>
                  </a:cubicBezTo>
                  <a:cubicBezTo>
                    <a:pt x="3822" y="0"/>
                    <a:pt x="3844" y="21"/>
                    <a:pt x="3844" y="48"/>
                  </a:cubicBezTo>
                  <a:close/>
                  <a:moveTo>
                    <a:pt x="3945" y="48"/>
                  </a:moveTo>
                  <a:cubicBezTo>
                    <a:pt x="3945" y="74"/>
                    <a:pt x="3923" y="96"/>
                    <a:pt x="3897" y="96"/>
                  </a:cubicBezTo>
                  <a:cubicBezTo>
                    <a:pt x="3870" y="96"/>
                    <a:pt x="3849" y="74"/>
                    <a:pt x="3849" y="48"/>
                  </a:cubicBezTo>
                  <a:cubicBezTo>
                    <a:pt x="3849" y="21"/>
                    <a:pt x="3870" y="0"/>
                    <a:pt x="3897" y="0"/>
                  </a:cubicBezTo>
                  <a:cubicBezTo>
                    <a:pt x="3923" y="0"/>
                    <a:pt x="3945" y="21"/>
                    <a:pt x="3945" y="48"/>
                  </a:cubicBezTo>
                  <a:close/>
                  <a:moveTo>
                    <a:pt x="4046" y="48"/>
                  </a:moveTo>
                  <a:cubicBezTo>
                    <a:pt x="4046" y="74"/>
                    <a:pt x="4024" y="96"/>
                    <a:pt x="3998" y="96"/>
                  </a:cubicBezTo>
                  <a:cubicBezTo>
                    <a:pt x="3971" y="96"/>
                    <a:pt x="3950" y="74"/>
                    <a:pt x="3950" y="48"/>
                  </a:cubicBezTo>
                  <a:cubicBezTo>
                    <a:pt x="3950" y="21"/>
                    <a:pt x="3971" y="0"/>
                    <a:pt x="3998" y="0"/>
                  </a:cubicBezTo>
                  <a:cubicBezTo>
                    <a:pt x="4024" y="0"/>
                    <a:pt x="4046" y="21"/>
                    <a:pt x="4046" y="48"/>
                  </a:cubicBezTo>
                  <a:close/>
                  <a:moveTo>
                    <a:pt x="4148" y="48"/>
                  </a:moveTo>
                  <a:cubicBezTo>
                    <a:pt x="4148" y="74"/>
                    <a:pt x="4126" y="96"/>
                    <a:pt x="4100" y="96"/>
                  </a:cubicBezTo>
                  <a:cubicBezTo>
                    <a:pt x="4073" y="96"/>
                    <a:pt x="4052" y="74"/>
                    <a:pt x="4052" y="48"/>
                  </a:cubicBezTo>
                  <a:cubicBezTo>
                    <a:pt x="4052" y="21"/>
                    <a:pt x="4073" y="0"/>
                    <a:pt x="4100" y="0"/>
                  </a:cubicBezTo>
                  <a:cubicBezTo>
                    <a:pt x="4126" y="0"/>
                    <a:pt x="4148" y="21"/>
                    <a:pt x="4148" y="48"/>
                  </a:cubicBezTo>
                  <a:close/>
                  <a:moveTo>
                    <a:pt x="4249" y="48"/>
                  </a:moveTo>
                  <a:cubicBezTo>
                    <a:pt x="4249" y="74"/>
                    <a:pt x="4227" y="96"/>
                    <a:pt x="4201" y="96"/>
                  </a:cubicBezTo>
                  <a:cubicBezTo>
                    <a:pt x="4174" y="96"/>
                    <a:pt x="4153" y="74"/>
                    <a:pt x="4153" y="48"/>
                  </a:cubicBezTo>
                  <a:cubicBezTo>
                    <a:pt x="4153" y="21"/>
                    <a:pt x="4174" y="0"/>
                    <a:pt x="4201" y="0"/>
                  </a:cubicBezTo>
                  <a:cubicBezTo>
                    <a:pt x="4227" y="0"/>
                    <a:pt x="4249" y="21"/>
                    <a:pt x="4249" y="48"/>
                  </a:cubicBezTo>
                  <a:close/>
                  <a:moveTo>
                    <a:pt x="4350" y="48"/>
                  </a:moveTo>
                  <a:cubicBezTo>
                    <a:pt x="4350" y="74"/>
                    <a:pt x="4328" y="96"/>
                    <a:pt x="4302" y="96"/>
                  </a:cubicBezTo>
                  <a:cubicBezTo>
                    <a:pt x="4275" y="96"/>
                    <a:pt x="4254" y="74"/>
                    <a:pt x="4254" y="48"/>
                  </a:cubicBezTo>
                  <a:cubicBezTo>
                    <a:pt x="4254" y="21"/>
                    <a:pt x="4275" y="0"/>
                    <a:pt x="4302" y="0"/>
                  </a:cubicBezTo>
                  <a:cubicBezTo>
                    <a:pt x="4328" y="0"/>
                    <a:pt x="4350" y="21"/>
                    <a:pt x="4350" y="48"/>
                  </a:cubicBezTo>
                  <a:close/>
                  <a:moveTo>
                    <a:pt x="4451" y="48"/>
                  </a:moveTo>
                  <a:cubicBezTo>
                    <a:pt x="4451" y="74"/>
                    <a:pt x="4429" y="96"/>
                    <a:pt x="4403" y="96"/>
                  </a:cubicBezTo>
                  <a:cubicBezTo>
                    <a:pt x="4376" y="96"/>
                    <a:pt x="4355" y="74"/>
                    <a:pt x="4355" y="48"/>
                  </a:cubicBezTo>
                  <a:cubicBezTo>
                    <a:pt x="4355" y="21"/>
                    <a:pt x="4376" y="0"/>
                    <a:pt x="4403" y="0"/>
                  </a:cubicBezTo>
                  <a:cubicBezTo>
                    <a:pt x="4429" y="0"/>
                    <a:pt x="4451" y="21"/>
                    <a:pt x="4451" y="48"/>
                  </a:cubicBezTo>
                  <a:close/>
                  <a:moveTo>
                    <a:pt x="4552" y="48"/>
                  </a:moveTo>
                  <a:cubicBezTo>
                    <a:pt x="4552" y="74"/>
                    <a:pt x="4530" y="96"/>
                    <a:pt x="4504" y="96"/>
                  </a:cubicBezTo>
                  <a:cubicBezTo>
                    <a:pt x="4477" y="96"/>
                    <a:pt x="4456" y="74"/>
                    <a:pt x="4456" y="48"/>
                  </a:cubicBezTo>
                  <a:cubicBezTo>
                    <a:pt x="4456" y="21"/>
                    <a:pt x="4477" y="0"/>
                    <a:pt x="4504" y="0"/>
                  </a:cubicBezTo>
                  <a:cubicBezTo>
                    <a:pt x="4530" y="0"/>
                    <a:pt x="4552" y="21"/>
                    <a:pt x="4552" y="48"/>
                  </a:cubicBezTo>
                  <a:close/>
                  <a:moveTo>
                    <a:pt x="4654" y="48"/>
                  </a:moveTo>
                  <a:cubicBezTo>
                    <a:pt x="4654" y="74"/>
                    <a:pt x="4632" y="96"/>
                    <a:pt x="4606" y="96"/>
                  </a:cubicBezTo>
                  <a:cubicBezTo>
                    <a:pt x="4579" y="96"/>
                    <a:pt x="4558" y="74"/>
                    <a:pt x="4558" y="48"/>
                  </a:cubicBezTo>
                  <a:cubicBezTo>
                    <a:pt x="4558" y="21"/>
                    <a:pt x="4579" y="0"/>
                    <a:pt x="4606" y="0"/>
                  </a:cubicBezTo>
                  <a:cubicBezTo>
                    <a:pt x="4632" y="0"/>
                    <a:pt x="4654" y="21"/>
                    <a:pt x="4654" y="48"/>
                  </a:cubicBezTo>
                  <a:close/>
                  <a:moveTo>
                    <a:pt x="4755" y="48"/>
                  </a:moveTo>
                  <a:cubicBezTo>
                    <a:pt x="4755" y="74"/>
                    <a:pt x="4733" y="96"/>
                    <a:pt x="4707" y="96"/>
                  </a:cubicBezTo>
                  <a:cubicBezTo>
                    <a:pt x="4680" y="96"/>
                    <a:pt x="4659" y="74"/>
                    <a:pt x="4659" y="48"/>
                  </a:cubicBezTo>
                  <a:cubicBezTo>
                    <a:pt x="4659" y="21"/>
                    <a:pt x="4680" y="0"/>
                    <a:pt x="4707" y="0"/>
                  </a:cubicBezTo>
                  <a:cubicBezTo>
                    <a:pt x="4733" y="0"/>
                    <a:pt x="4755" y="21"/>
                    <a:pt x="4755" y="48"/>
                  </a:cubicBezTo>
                  <a:close/>
                  <a:moveTo>
                    <a:pt x="4856" y="48"/>
                  </a:moveTo>
                  <a:cubicBezTo>
                    <a:pt x="4856" y="74"/>
                    <a:pt x="4834" y="96"/>
                    <a:pt x="4808" y="96"/>
                  </a:cubicBezTo>
                  <a:cubicBezTo>
                    <a:pt x="4781" y="96"/>
                    <a:pt x="4760" y="74"/>
                    <a:pt x="4760" y="48"/>
                  </a:cubicBezTo>
                  <a:cubicBezTo>
                    <a:pt x="4760" y="21"/>
                    <a:pt x="4781" y="0"/>
                    <a:pt x="4808" y="0"/>
                  </a:cubicBezTo>
                  <a:cubicBezTo>
                    <a:pt x="4834" y="0"/>
                    <a:pt x="4856" y="21"/>
                    <a:pt x="4856" y="48"/>
                  </a:cubicBezTo>
                  <a:close/>
                  <a:moveTo>
                    <a:pt x="4957" y="48"/>
                  </a:moveTo>
                  <a:cubicBezTo>
                    <a:pt x="4957" y="74"/>
                    <a:pt x="4935" y="96"/>
                    <a:pt x="4909" y="96"/>
                  </a:cubicBezTo>
                  <a:cubicBezTo>
                    <a:pt x="4882" y="96"/>
                    <a:pt x="4861" y="74"/>
                    <a:pt x="4861" y="48"/>
                  </a:cubicBezTo>
                  <a:cubicBezTo>
                    <a:pt x="4861" y="21"/>
                    <a:pt x="4882" y="0"/>
                    <a:pt x="4909" y="0"/>
                  </a:cubicBezTo>
                  <a:cubicBezTo>
                    <a:pt x="4935" y="0"/>
                    <a:pt x="4957" y="21"/>
                    <a:pt x="4957" y="48"/>
                  </a:cubicBezTo>
                  <a:close/>
                  <a:moveTo>
                    <a:pt x="5059" y="48"/>
                  </a:moveTo>
                  <a:cubicBezTo>
                    <a:pt x="5059" y="74"/>
                    <a:pt x="5037" y="96"/>
                    <a:pt x="5011" y="96"/>
                  </a:cubicBezTo>
                  <a:cubicBezTo>
                    <a:pt x="4984" y="96"/>
                    <a:pt x="4963" y="74"/>
                    <a:pt x="4963" y="48"/>
                  </a:cubicBezTo>
                  <a:cubicBezTo>
                    <a:pt x="4963" y="21"/>
                    <a:pt x="4984" y="0"/>
                    <a:pt x="5011" y="0"/>
                  </a:cubicBezTo>
                  <a:cubicBezTo>
                    <a:pt x="5037" y="0"/>
                    <a:pt x="5059" y="21"/>
                    <a:pt x="5059" y="48"/>
                  </a:cubicBezTo>
                  <a:close/>
                  <a:moveTo>
                    <a:pt x="5160" y="48"/>
                  </a:moveTo>
                  <a:cubicBezTo>
                    <a:pt x="5160" y="74"/>
                    <a:pt x="5138" y="96"/>
                    <a:pt x="5112" y="96"/>
                  </a:cubicBezTo>
                  <a:cubicBezTo>
                    <a:pt x="5085" y="96"/>
                    <a:pt x="5064" y="74"/>
                    <a:pt x="5064" y="48"/>
                  </a:cubicBezTo>
                  <a:cubicBezTo>
                    <a:pt x="5064" y="21"/>
                    <a:pt x="5085" y="0"/>
                    <a:pt x="5112" y="0"/>
                  </a:cubicBezTo>
                  <a:cubicBezTo>
                    <a:pt x="5138" y="0"/>
                    <a:pt x="5160" y="21"/>
                    <a:pt x="5160" y="48"/>
                  </a:cubicBezTo>
                  <a:close/>
                  <a:moveTo>
                    <a:pt x="5261" y="48"/>
                  </a:moveTo>
                  <a:cubicBezTo>
                    <a:pt x="5261" y="74"/>
                    <a:pt x="5239" y="96"/>
                    <a:pt x="5213" y="96"/>
                  </a:cubicBezTo>
                  <a:cubicBezTo>
                    <a:pt x="5186" y="96"/>
                    <a:pt x="5165" y="74"/>
                    <a:pt x="5165" y="48"/>
                  </a:cubicBezTo>
                  <a:cubicBezTo>
                    <a:pt x="5165" y="21"/>
                    <a:pt x="5186" y="0"/>
                    <a:pt x="5213" y="0"/>
                  </a:cubicBezTo>
                  <a:cubicBezTo>
                    <a:pt x="5239" y="0"/>
                    <a:pt x="5261" y="21"/>
                    <a:pt x="5261" y="48"/>
                  </a:cubicBezTo>
                  <a:close/>
                  <a:moveTo>
                    <a:pt x="5362" y="48"/>
                  </a:moveTo>
                  <a:cubicBezTo>
                    <a:pt x="5362" y="74"/>
                    <a:pt x="5340" y="96"/>
                    <a:pt x="5314" y="96"/>
                  </a:cubicBezTo>
                  <a:cubicBezTo>
                    <a:pt x="5287" y="96"/>
                    <a:pt x="5266" y="74"/>
                    <a:pt x="5266" y="48"/>
                  </a:cubicBezTo>
                  <a:cubicBezTo>
                    <a:pt x="5266" y="21"/>
                    <a:pt x="5287" y="0"/>
                    <a:pt x="5314" y="0"/>
                  </a:cubicBezTo>
                  <a:cubicBezTo>
                    <a:pt x="5340" y="0"/>
                    <a:pt x="5362" y="21"/>
                    <a:pt x="5362" y="48"/>
                  </a:cubicBezTo>
                  <a:close/>
                  <a:moveTo>
                    <a:pt x="5464" y="48"/>
                  </a:moveTo>
                  <a:cubicBezTo>
                    <a:pt x="5464" y="74"/>
                    <a:pt x="5442" y="96"/>
                    <a:pt x="5416" y="96"/>
                  </a:cubicBezTo>
                  <a:cubicBezTo>
                    <a:pt x="5389" y="96"/>
                    <a:pt x="5368" y="74"/>
                    <a:pt x="5368" y="48"/>
                  </a:cubicBezTo>
                  <a:cubicBezTo>
                    <a:pt x="5368" y="21"/>
                    <a:pt x="5389" y="0"/>
                    <a:pt x="5416" y="0"/>
                  </a:cubicBezTo>
                  <a:cubicBezTo>
                    <a:pt x="5442" y="0"/>
                    <a:pt x="5464" y="21"/>
                    <a:pt x="5464" y="48"/>
                  </a:cubicBezTo>
                  <a:close/>
                  <a:moveTo>
                    <a:pt x="5565" y="48"/>
                  </a:moveTo>
                  <a:cubicBezTo>
                    <a:pt x="5565" y="74"/>
                    <a:pt x="5543" y="96"/>
                    <a:pt x="5517" y="96"/>
                  </a:cubicBezTo>
                  <a:cubicBezTo>
                    <a:pt x="5490" y="96"/>
                    <a:pt x="5469" y="74"/>
                    <a:pt x="5469" y="48"/>
                  </a:cubicBezTo>
                  <a:cubicBezTo>
                    <a:pt x="5469" y="21"/>
                    <a:pt x="5490" y="0"/>
                    <a:pt x="5517" y="0"/>
                  </a:cubicBezTo>
                  <a:cubicBezTo>
                    <a:pt x="5543" y="0"/>
                    <a:pt x="5565" y="21"/>
                    <a:pt x="5565" y="48"/>
                  </a:cubicBezTo>
                  <a:close/>
                  <a:moveTo>
                    <a:pt x="5666" y="48"/>
                  </a:moveTo>
                  <a:cubicBezTo>
                    <a:pt x="5666" y="74"/>
                    <a:pt x="5644" y="96"/>
                    <a:pt x="5618" y="96"/>
                  </a:cubicBezTo>
                  <a:cubicBezTo>
                    <a:pt x="5591" y="96"/>
                    <a:pt x="5570" y="74"/>
                    <a:pt x="5570" y="48"/>
                  </a:cubicBezTo>
                  <a:cubicBezTo>
                    <a:pt x="5570" y="21"/>
                    <a:pt x="5591" y="0"/>
                    <a:pt x="5618" y="0"/>
                  </a:cubicBezTo>
                  <a:cubicBezTo>
                    <a:pt x="5644" y="0"/>
                    <a:pt x="5666" y="21"/>
                    <a:pt x="5666" y="48"/>
                  </a:cubicBezTo>
                  <a:close/>
                  <a:moveTo>
                    <a:pt x="5767" y="48"/>
                  </a:moveTo>
                  <a:cubicBezTo>
                    <a:pt x="5767" y="74"/>
                    <a:pt x="5745" y="96"/>
                    <a:pt x="5719" y="96"/>
                  </a:cubicBezTo>
                  <a:cubicBezTo>
                    <a:pt x="5692" y="96"/>
                    <a:pt x="5671" y="74"/>
                    <a:pt x="5671" y="48"/>
                  </a:cubicBezTo>
                  <a:cubicBezTo>
                    <a:pt x="5671" y="21"/>
                    <a:pt x="5692" y="0"/>
                    <a:pt x="5719" y="0"/>
                  </a:cubicBezTo>
                  <a:cubicBezTo>
                    <a:pt x="5745" y="0"/>
                    <a:pt x="5767" y="21"/>
                    <a:pt x="5767" y="48"/>
                  </a:cubicBezTo>
                  <a:close/>
                  <a:moveTo>
                    <a:pt x="5868" y="48"/>
                  </a:moveTo>
                  <a:cubicBezTo>
                    <a:pt x="5868" y="74"/>
                    <a:pt x="5846" y="96"/>
                    <a:pt x="5820" y="96"/>
                  </a:cubicBezTo>
                  <a:cubicBezTo>
                    <a:pt x="5793" y="96"/>
                    <a:pt x="5772" y="74"/>
                    <a:pt x="5772" y="48"/>
                  </a:cubicBezTo>
                  <a:cubicBezTo>
                    <a:pt x="5772" y="21"/>
                    <a:pt x="5793" y="0"/>
                    <a:pt x="5820" y="0"/>
                  </a:cubicBezTo>
                  <a:cubicBezTo>
                    <a:pt x="5846" y="0"/>
                    <a:pt x="5868" y="21"/>
                    <a:pt x="5868" y="48"/>
                  </a:cubicBezTo>
                  <a:close/>
                  <a:moveTo>
                    <a:pt x="5970" y="48"/>
                  </a:moveTo>
                  <a:cubicBezTo>
                    <a:pt x="5970" y="74"/>
                    <a:pt x="5948" y="96"/>
                    <a:pt x="5922" y="96"/>
                  </a:cubicBezTo>
                  <a:cubicBezTo>
                    <a:pt x="5895" y="96"/>
                    <a:pt x="5874" y="74"/>
                    <a:pt x="5874" y="48"/>
                  </a:cubicBezTo>
                  <a:cubicBezTo>
                    <a:pt x="5874" y="21"/>
                    <a:pt x="5895" y="0"/>
                    <a:pt x="5922" y="0"/>
                  </a:cubicBezTo>
                  <a:cubicBezTo>
                    <a:pt x="5948" y="0"/>
                    <a:pt x="5970" y="21"/>
                    <a:pt x="5970" y="48"/>
                  </a:cubicBezTo>
                  <a:close/>
                  <a:moveTo>
                    <a:pt x="6071" y="48"/>
                  </a:moveTo>
                  <a:cubicBezTo>
                    <a:pt x="6071" y="74"/>
                    <a:pt x="6049" y="96"/>
                    <a:pt x="6023" y="96"/>
                  </a:cubicBezTo>
                  <a:cubicBezTo>
                    <a:pt x="5996" y="96"/>
                    <a:pt x="5975" y="74"/>
                    <a:pt x="5975" y="48"/>
                  </a:cubicBezTo>
                  <a:cubicBezTo>
                    <a:pt x="5975" y="21"/>
                    <a:pt x="5996" y="0"/>
                    <a:pt x="6023" y="0"/>
                  </a:cubicBezTo>
                  <a:cubicBezTo>
                    <a:pt x="6049" y="0"/>
                    <a:pt x="6071" y="21"/>
                    <a:pt x="6071" y="48"/>
                  </a:cubicBezTo>
                  <a:close/>
                  <a:moveTo>
                    <a:pt x="6172" y="48"/>
                  </a:moveTo>
                  <a:cubicBezTo>
                    <a:pt x="6172" y="74"/>
                    <a:pt x="6150" y="96"/>
                    <a:pt x="6124" y="96"/>
                  </a:cubicBezTo>
                  <a:cubicBezTo>
                    <a:pt x="6097" y="96"/>
                    <a:pt x="6076" y="74"/>
                    <a:pt x="6076" y="48"/>
                  </a:cubicBezTo>
                  <a:cubicBezTo>
                    <a:pt x="6076" y="21"/>
                    <a:pt x="6097" y="0"/>
                    <a:pt x="6124" y="0"/>
                  </a:cubicBezTo>
                  <a:cubicBezTo>
                    <a:pt x="6150" y="0"/>
                    <a:pt x="6172" y="21"/>
                    <a:pt x="6172" y="48"/>
                  </a:cubicBezTo>
                  <a:close/>
                  <a:moveTo>
                    <a:pt x="6273" y="48"/>
                  </a:moveTo>
                  <a:cubicBezTo>
                    <a:pt x="6273" y="74"/>
                    <a:pt x="6251" y="96"/>
                    <a:pt x="6225" y="96"/>
                  </a:cubicBezTo>
                  <a:cubicBezTo>
                    <a:pt x="6198" y="96"/>
                    <a:pt x="6177" y="74"/>
                    <a:pt x="6177" y="48"/>
                  </a:cubicBezTo>
                  <a:cubicBezTo>
                    <a:pt x="6177" y="21"/>
                    <a:pt x="6198" y="0"/>
                    <a:pt x="6225" y="0"/>
                  </a:cubicBezTo>
                  <a:cubicBezTo>
                    <a:pt x="6251" y="0"/>
                    <a:pt x="6273" y="21"/>
                    <a:pt x="6273" y="48"/>
                  </a:cubicBezTo>
                  <a:close/>
                  <a:moveTo>
                    <a:pt x="6375" y="48"/>
                  </a:moveTo>
                  <a:cubicBezTo>
                    <a:pt x="6375" y="74"/>
                    <a:pt x="6353" y="96"/>
                    <a:pt x="6327" y="96"/>
                  </a:cubicBezTo>
                  <a:cubicBezTo>
                    <a:pt x="6300" y="96"/>
                    <a:pt x="6279" y="74"/>
                    <a:pt x="6279" y="48"/>
                  </a:cubicBezTo>
                  <a:cubicBezTo>
                    <a:pt x="6279" y="21"/>
                    <a:pt x="6300" y="0"/>
                    <a:pt x="6327" y="0"/>
                  </a:cubicBezTo>
                  <a:cubicBezTo>
                    <a:pt x="6353" y="0"/>
                    <a:pt x="6375" y="21"/>
                    <a:pt x="6375" y="48"/>
                  </a:cubicBezTo>
                  <a:close/>
                  <a:moveTo>
                    <a:pt x="6476" y="48"/>
                  </a:moveTo>
                  <a:cubicBezTo>
                    <a:pt x="6476" y="74"/>
                    <a:pt x="6454" y="96"/>
                    <a:pt x="6428" y="96"/>
                  </a:cubicBezTo>
                  <a:cubicBezTo>
                    <a:pt x="6401" y="96"/>
                    <a:pt x="6380" y="74"/>
                    <a:pt x="6380" y="48"/>
                  </a:cubicBezTo>
                  <a:cubicBezTo>
                    <a:pt x="6380" y="21"/>
                    <a:pt x="6401" y="0"/>
                    <a:pt x="6428" y="0"/>
                  </a:cubicBezTo>
                  <a:cubicBezTo>
                    <a:pt x="6454" y="0"/>
                    <a:pt x="6476" y="21"/>
                    <a:pt x="6476" y="48"/>
                  </a:cubicBezTo>
                  <a:close/>
                  <a:moveTo>
                    <a:pt x="6577" y="48"/>
                  </a:moveTo>
                  <a:cubicBezTo>
                    <a:pt x="6577" y="74"/>
                    <a:pt x="6555" y="96"/>
                    <a:pt x="6529" y="96"/>
                  </a:cubicBezTo>
                  <a:cubicBezTo>
                    <a:pt x="6502" y="96"/>
                    <a:pt x="6481" y="74"/>
                    <a:pt x="6481" y="48"/>
                  </a:cubicBezTo>
                  <a:cubicBezTo>
                    <a:pt x="6481" y="21"/>
                    <a:pt x="6502" y="0"/>
                    <a:pt x="6529" y="0"/>
                  </a:cubicBezTo>
                  <a:cubicBezTo>
                    <a:pt x="6555" y="0"/>
                    <a:pt x="6577" y="21"/>
                    <a:pt x="6577" y="48"/>
                  </a:cubicBezTo>
                  <a:close/>
                  <a:moveTo>
                    <a:pt x="6678" y="48"/>
                  </a:moveTo>
                  <a:cubicBezTo>
                    <a:pt x="6678" y="74"/>
                    <a:pt x="6656" y="96"/>
                    <a:pt x="6630" y="96"/>
                  </a:cubicBezTo>
                  <a:cubicBezTo>
                    <a:pt x="6603" y="96"/>
                    <a:pt x="6582" y="74"/>
                    <a:pt x="6582" y="48"/>
                  </a:cubicBezTo>
                  <a:cubicBezTo>
                    <a:pt x="6582" y="21"/>
                    <a:pt x="6603" y="0"/>
                    <a:pt x="6630" y="0"/>
                  </a:cubicBezTo>
                  <a:cubicBezTo>
                    <a:pt x="6656" y="0"/>
                    <a:pt x="6678" y="21"/>
                    <a:pt x="6678" y="48"/>
                  </a:cubicBezTo>
                  <a:close/>
                  <a:moveTo>
                    <a:pt x="6780" y="48"/>
                  </a:moveTo>
                  <a:cubicBezTo>
                    <a:pt x="6780" y="74"/>
                    <a:pt x="6758" y="96"/>
                    <a:pt x="6732" y="96"/>
                  </a:cubicBezTo>
                  <a:cubicBezTo>
                    <a:pt x="6705" y="96"/>
                    <a:pt x="6684" y="74"/>
                    <a:pt x="6684" y="48"/>
                  </a:cubicBezTo>
                  <a:cubicBezTo>
                    <a:pt x="6684" y="21"/>
                    <a:pt x="6705" y="0"/>
                    <a:pt x="6732" y="0"/>
                  </a:cubicBezTo>
                  <a:cubicBezTo>
                    <a:pt x="6758" y="0"/>
                    <a:pt x="6780" y="21"/>
                    <a:pt x="6780" y="48"/>
                  </a:cubicBezTo>
                  <a:close/>
                  <a:moveTo>
                    <a:pt x="6881" y="48"/>
                  </a:moveTo>
                  <a:cubicBezTo>
                    <a:pt x="6881" y="74"/>
                    <a:pt x="6859" y="96"/>
                    <a:pt x="6833" y="96"/>
                  </a:cubicBezTo>
                  <a:cubicBezTo>
                    <a:pt x="6806" y="96"/>
                    <a:pt x="6785" y="74"/>
                    <a:pt x="6785" y="48"/>
                  </a:cubicBezTo>
                  <a:cubicBezTo>
                    <a:pt x="6785" y="21"/>
                    <a:pt x="6806" y="0"/>
                    <a:pt x="6833" y="0"/>
                  </a:cubicBezTo>
                  <a:cubicBezTo>
                    <a:pt x="6859" y="0"/>
                    <a:pt x="6881" y="21"/>
                    <a:pt x="6881" y="48"/>
                  </a:cubicBezTo>
                  <a:close/>
                  <a:moveTo>
                    <a:pt x="6982" y="48"/>
                  </a:moveTo>
                  <a:cubicBezTo>
                    <a:pt x="6982" y="74"/>
                    <a:pt x="6960" y="96"/>
                    <a:pt x="6934" y="96"/>
                  </a:cubicBezTo>
                  <a:cubicBezTo>
                    <a:pt x="6907" y="96"/>
                    <a:pt x="6886" y="74"/>
                    <a:pt x="6886" y="48"/>
                  </a:cubicBezTo>
                  <a:cubicBezTo>
                    <a:pt x="6886" y="21"/>
                    <a:pt x="6907" y="0"/>
                    <a:pt x="6934" y="0"/>
                  </a:cubicBezTo>
                  <a:cubicBezTo>
                    <a:pt x="6960" y="0"/>
                    <a:pt x="6982" y="21"/>
                    <a:pt x="6982" y="48"/>
                  </a:cubicBezTo>
                  <a:close/>
                  <a:moveTo>
                    <a:pt x="7083" y="48"/>
                  </a:moveTo>
                  <a:cubicBezTo>
                    <a:pt x="7083" y="74"/>
                    <a:pt x="7061" y="96"/>
                    <a:pt x="7035" y="96"/>
                  </a:cubicBezTo>
                  <a:cubicBezTo>
                    <a:pt x="7008" y="96"/>
                    <a:pt x="6987" y="74"/>
                    <a:pt x="6987" y="48"/>
                  </a:cubicBezTo>
                  <a:cubicBezTo>
                    <a:pt x="6987" y="21"/>
                    <a:pt x="7008" y="0"/>
                    <a:pt x="7035" y="0"/>
                  </a:cubicBezTo>
                  <a:cubicBezTo>
                    <a:pt x="7061" y="0"/>
                    <a:pt x="7083" y="21"/>
                    <a:pt x="7083" y="48"/>
                  </a:cubicBezTo>
                  <a:close/>
                  <a:moveTo>
                    <a:pt x="7185" y="48"/>
                  </a:moveTo>
                  <a:cubicBezTo>
                    <a:pt x="7185" y="74"/>
                    <a:pt x="7163" y="96"/>
                    <a:pt x="7137" y="96"/>
                  </a:cubicBezTo>
                  <a:cubicBezTo>
                    <a:pt x="7110" y="96"/>
                    <a:pt x="7089" y="74"/>
                    <a:pt x="7089" y="48"/>
                  </a:cubicBezTo>
                  <a:cubicBezTo>
                    <a:pt x="7089" y="21"/>
                    <a:pt x="7110" y="0"/>
                    <a:pt x="7137" y="0"/>
                  </a:cubicBezTo>
                  <a:cubicBezTo>
                    <a:pt x="7163" y="0"/>
                    <a:pt x="7185" y="21"/>
                    <a:pt x="7185" y="48"/>
                  </a:cubicBezTo>
                  <a:close/>
                  <a:moveTo>
                    <a:pt x="7286" y="48"/>
                  </a:moveTo>
                  <a:cubicBezTo>
                    <a:pt x="7286" y="74"/>
                    <a:pt x="7264" y="96"/>
                    <a:pt x="7238" y="96"/>
                  </a:cubicBezTo>
                  <a:cubicBezTo>
                    <a:pt x="7211" y="96"/>
                    <a:pt x="7190" y="74"/>
                    <a:pt x="7190" y="48"/>
                  </a:cubicBezTo>
                  <a:cubicBezTo>
                    <a:pt x="7190" y="21"/>
                    <a:pt x="7211" y="0"/>
                    <a:pt x="7238" y="0"/>
                  </a:cubicBezTo>
                  <a:cubicBezTo>
                    <a:pt x="7264" y="0"/>
                    <a:pt x="7286" y="21"/>
                    <a:pt x="7286" y="48"/>
                  </a:cubicBezTo>
                  <a:close/>
                  <a:moveTo>
                    <a:pt x="7387" y="48"/>
                  </a:moveTo>
                  <a:cubicBezTo>
                    <a:pt x="7387" y="74"/>
                    <a:pt x="7365" y="96"/>
                    <a:pt x="7339" y="96"/>
                  </a:cubicBezTo>
                  <a:cubicBezTo>
                    <a:pt x="7312" y="96"/>
                    <a:pt x="7291" y="74"/>
                    <a:pt x="7291" y="48"/>
                  </a:cubicBezTo>
                  <a:cubicBezTo>
                    <a:pt x="7291" y="21"/>
                    <a:pt x="7312" y="0"/>
                    <a:pt x="7339" y="0"/>
                  </a:cubicBezTo>
                  <a:cubicBezTo>
                    <a:pt x="7365" y="0"/>
                    <a:pt x="7387" y="21"/>
                    <a:pt x="7387" y="48"/>
                  </a:cubicBezTo>
                  <a:close/>
                  <a:moveTo>
                    <a:pt x="7488" y="48"/>
                  </a:moveTo>
                  <a:cubicBezTo>
                    <a:pt x="7488" y="74"/>
                    <a:pt x="7466" y="96"/>
                    <a:pt x="7440" y="96"/>
                  </a:cubicBezTo>
                  <a:cubicBezTo>
                    <a:pt x="7413" y="96"/>
                    <a:pt x="7392" y="74"/>
                    <a:pt x="7392" y="48"/>
                  </a:cubicBezTo>
                  <a:cubicBezTo>
                    <a:pt x="7392" y="21"/>
                    <a:pt x="7413" y="0"/>
                    <a:pt x="7440" y="0"/>
                  </a:cubicBezTo>
                  <a:cubicBezTo>
                    <a:pt x="7466" y="0"/>
                    <a:pt x="7488" y="21"/>
                    <a:pt x="7488" y="48"/>
                  </a:cubicBezTo>
                  <a:close/>
                  <a:moveTo>
                    <a:pt x="7589" y="48"/>
                  </a:moveTo>
                  <a:cubicBezTo>
                    <a:pt x="7589" y="74"/>
                    <a:pt x="7567" y="96"/>
                    <a:pt x="7541" y="96"/>
                  </a:cubicBezTo>
                  <a:cubicBezTo>
                    <a:pt x="7514" y="96"/>
                    <a:pt x="7493" y="74"/>
                    <a:pt x="7493" y="48"/>
                  </a:cubicBezTo>
                  <a:cubicBezTo>
                    <a:pt x="7493" y="21"/>
                    <a:pt x="7514" y="0"/>
                    <a:pt x="7541" y="0"/>
                  </a:cubicBezTo>
                  <a:cubicBezTo>
                    <a:pt x="7567" y="0"/>
                    <a:pt x="7589" y="21"/>
                    <a:pt x="7589" y="48"/>
                  </a:cubicBezTo>
                  <a:close/>
                  <a:moveTo>
                    <a:pt x="7691" y="48"/>
                  </a:moveTo>
                  <a:cubicBezTo>
                    <a:pt x="7691" y="74"/>
                    <a:pt x="7669" y="96"/>
                    <a:pt x="7643" y="96"/>
                  </a:cubicBezTo>
                  <a:cubicBezTo>
                    <a:pt x="7616" y="96"/>
                    <a:pt x="7595" y="74"/>
                    <a:pt x="7595" y="48"/>
                  </a:cubicBezTo>
                  <a:cubicBezTo>
                    <a:pt x="7595" y="21"/>
                    <a:pt x="7616" y="0"/>
                    <a:pt x="7643" y="0"/>
                  </a:cubicBezTo>
                  <a:cubicBezTo>
                    <a:pt x="7669" y="0"/>
                    <a:pt x="7691" y="21"/>
                    <a:pt x="7691" y="48"/>
                  </a:cubicBezTo>
                  <a:close/>
                  <a:moveTo>
                    <a:pt x="7792" y="48"/>
                  </a:moveTo>
                  <a:cubicBezTo>
                    <a:pt x="7792" y="74"/>
                    <a:pt x="7770" y="96"/>
                    <a:pt x="7744" y="96"/>
                  </a:cubicBezTo>
                  <a:cubicBezTo>
                    <a:pt x="7717" y="96"/>
                    <a:pt x="7696" y="74"/>
                    <a:pt x="7696" y="48"/>
                  </a:cubicBezTo>
                  <a:cubicBezTo>
                    <a:pt x="7696" y="21"/>
                    <a:pt x="7717" y="0"/>
                    <a:pt x="7744" y="0"/>
                  </a:cubicBezTo>
                  <a:cubicBezTo>
                    <a:pt x="7770" y="0"/>
                    <a:pt x="7792" y="21"/>
                    <a:pt x="7792" y="48"/>
                  </a:cubicBezTo>
                  <a:close/>
                  <a:moveTo>
                    <a:pt x="7893" y="48"/>
                  </a:moveTo>
                  <a:cubicBezTo>
                    <a:pt x="7893" y="74"/>
                    <a:pt x="7871" y="96"/>
                    <a:pt x="7845" y="96"/>
                  </a:cubicBezTo>
                  <a:cubicBezTo>
                    <a:pt x="7818" y="96"/>
                    <a:pt x="7797" y="74"/>
                    <a:pt x="7797" y="48"/>
                  </a:cubicBezTo>
                  <a:cubicBezTo>
                    <a:pt x="7797" y="21"/>
                    <a:pt x="7818" y="0"/>
                    <a:pt x="7845" y="0"/>
                  </a:cubicBezTo>
                  <a:cubicBezTo>
                    <a:pt x="7871" y="0"/>
                    <a:pt x="7893" y="21"/>
                    <a:pt x="7893" y="48"/>
                  </a:cubicBezTo>
                  <a:close/>
                  <a:moveTo>
                    <a:pt x="7994" y="48"/>
                  </a:moveTo>
                  <a:cubicBezTo>
                    <a:pt x="7994" y="74"/>
                    <a:pt x="7972" y="96"/>
                    <a:pt x="7946" y="96"/>
                  </a:cubicBezTo>
                  <a:cubicBezTo>
                    <a:pt x="7919" y="96"/>
                    <a:pt x="7898" y="74"/>
                    <a:pt x="7898" y="48"/>
                  </a:cubicBezTo>
                  <a:cubicBezTo>
                    <a:pt x="7898" y="21"/>
                    <a:pt x="7919" y="0"/>
                    <a:pt x="7946" y="0"/>
                  </a:cubicBezTo>
                  <a:cubicBezTo>
                    <a:pt x="7972" y="0"/>
                    <a:pt x="7994" y="21"/>
                    <a:pt x="7994" y="48"/>
                  </a:cubicBezTo>
                  <a:close/>
                  <a:moveTo>
                    <a:pt x="8096" y="48"/>
                  </a:moveTo>
                  <a:cubicBezTo>
                    <a:pt x="8096" y="74"/>
                    <a:pt x="8074" y="96"/>
                    <a:pt x="8048" y="96"/>
                  </a:cubicBezTo>
                  <a:cubicBezTo>
                    <a:pt x="8021" y="96"/>
                    <a:pt x="8000" y="74"/>
                    <a:pt x="8000" y="48"/>
                  </a:cubicBezTo>
                  <a:cubicBezTo>
                    <a:pt x="8000" y="21"/>
                    <a:pt x="8021" y="0"/>
                    <a:pt x="8048" y="0"/>
                  </a:cubicBezTo>
                  <a:cubicBezTo>
                    <a:pt x="8074" y="0"/>
                    <a:pt x="8096" y="21"/>
                    <a:pt x="8096" y="48"/>
                  </a:cubicBezTo>
                  <a:close/>
                  <a:moveTo>
                    <a:pt x="8197" y="48"/>
                  </a:moveTo>
                  <a:cubicBezTo>
                    <a:pt x="8197" y="74"/>
                    <a:pt x="8175" y="96"/>
                    <a:pt x="8149" y="96"/>
                  </a:cubicBezTo>
                  <a:cubicBezTo>
                    <a:pt x="8122" y="96"/>
                    <a:pt x="8101" y="74"/>
                    <a:pt x="8101" y="48"/>
                  </a:cubicBezTo>
                  <a:cubicBezTo>
                    <a:pt x="8101" y="21"/>
                    <a:pt x="8122" y="0"/>
                    <a:pt x="8149" y="0"/>
                  </a:cubicBezTo>
                  <a:cubicBezTo>
                    <a:pt x="8175" y="0"/>
                    <a:pt x="8197" y="21"/>
                    <a:pt x="8197" y="48"/>
                  </a:cubicBezTo>
                  <a:close/>
                  <a:moveTo>
                    <a:pt x="98" y="402"/>
                  </a:moveTo>
                  <a:cubicBezTo>
                    <a:pt x="98" y="428"/>
                    <a:pt x="76" y="450"/>
                    <a:pt x="50" y="450"/>
                  </a:cubicBezTo>
                  <a:cubicBezTo>
                    <a:pt x="23" y="450"/>
                    <a:pt x="2" y="428"/>
                    <a:pt x="2" y="402"/>
                  </a:cubicBezTo>
                  <a:cubicBezTo>
                    <a:pt x="2" y="375"/>
                    <a:pt x="23" y="354"/>
                    <a:pt x="50" y="354"/>
                  </a:cubicBezTo>
                  <a:cubicBezTo>
                    <a:pt x="76" y="354"/>
                    <a:pt x="98" y="375"/>
                    <a:pt x="98" y="402"/>
                  </a:cubicBezTo>
                  <a:close/>
                  <a:moveTo>
                    <a:pt x="199" y="402"/>
                  </a:moveTo>
                  <a:cubicBezTo>
                    <a:pt x="199" y="428"/>
                    <a:pt x="177" y="450"/>
                    <a:pt x="151" y="450"/>
                  </a:cubicBezTo>
                  <a:cubicBezTo>
                    <a:pt x="124" y="450"/>
                    <a:pt x="103" y="428"/>
                    <a:pt x="103" y="402"/>
                  </a:cubicBezTo>
                  <a:cubicBezTo>
                    <a:pt x="103" y="375"/>
                    <a:pt x="124" y="354"/>
                    <a:pt x="151" y="354"/>
                  </a:cubicBezTo>
                  <a:cubicBezTo>
                    <a:pt x="177" y="354"/>
                    <a:pt x="199" y="375"/>
                    <a:pt x="199" y="402"/>
                  </a:cubicBezTo>
                  <a:close/>
                  <a:moveTo>
                    <a:pt x="301" y="402"/>
                  </a:moveTo>
                  <a:cubicBezTo>
                    <a:pt x="301" y="428"/>
                    <a:pt x="279" y="450"/>
                    <a:pt x="253" y="450"/>
                  </a:cubicBezTo>
                  <a:cubicBezTo>
                    <a:pt x="226" y="450"/>
                    <a:pt x="205" y="428"/>
                    <a:pt x="205" y="402"/>
                  </a:cubicBezTo>
                  <a:cubicBezTo>
                    <a:pt x="205" y="375"/>
                    <a:pt x="226" y="354"/>
                    <a:pt x="253" y="354"/>
                  </a:cubicBezTo>
                  <a:cubicBezTo>
                    <a:pt x="279" y="354"/>
                    <a:pt x="301" y="375"/>
                    <a:pt x="301" y="402"/>
                  </a:cubicBezTo>
                  <a:close/>
                  <a:moveTo>
                    <a:pt x="402" y="402"/>
                  </a:moveTo>
                  <a:cubicBezTo>
                    <a:pt x="402" y="428"/>
                    <a:pt x="380" y="450"/>
                    <a:pt x="354" y="450"/>
                  </a:cubicBezTo>
                  <a:cubicBezTo>
                    <a:pt x="327" y="450"/>
                    <a:pt x="306" y="428"/>
                    <a:pt x="306" y="402"/>
                  </a:cubicBezTo>
                  <a:cubicBezTo>
                    <a:pt x="306" y="375"/>
                    <a:pt x="327" y="354"/>
                    <a:pt x="354" y="354"/>
                  </a:cubicBezTo>
                  <a:cubicBezTo>
                    <a:pt x="380" y="354"/>
                    <a:pt x="402" y="375"/>
                    <a:pt x="402" y="402"/>
                  </a:cubicBezTo>
                  <a:close/>
                  <a:moveTo>
                    <a:pt x="503" y="402"/>
                  </a:moveTo>
                  <a:cubicBezTo>
                    <a:pt x="503" y="428"/>
                    <a:pt x="481" y="450"/>
                    <a:pt x="455" y="450"/>
                  </a:cubicBezTo>
                  <a:cubicBezTo>
                    <a:pt x="428" y="450"/>
                    <a:pt x="407" y="428"/>
                    <a:pt x="407" y="402"/>
                  </a:cubicBezTo>
                  <a:cubicBezTo>
                    <a:pt x="407" y="375"/>
                    <a:pt x="428" y="354"/>
                    <a:pt x="455" y="354"/>
                  </a:cubicBezTo>
                  <a:cubicBezTo>
                    <a:pt x="481" y="354"/>
                    <a:pt x="503" y="375"/>
                    <a:pt x="503" y="402"/>
                  </a:cubicBezTo>
                  <a:close/>
                  <a:moveTo>
                    <a:pt x="604" y="402"/>
                  </a:moveTo>
                  <a:cubicBezTo>
                    <a:pt x="604" y="428"/>
                    <a:pt x="582" y="450"/>
                    <a:pt x="556" y="450"/>
                  </a:cubicBezTo>
                  <a:cubicBezTo>
                    <a:pt x="529" y="450"/>
                    <a:pt x="508" y="428"/>
                    <a:pt x="508" y="402"/>
                  </a:cubicBezTo>
                  <a:cubicBezTo>
                    <a:pt x="508" y="375"/>
                    <a:pt x="529" y="354"/>
                    <a:pt x="556" y="354"/>
                  </a:cubicBezTo>
                  <a:cubicBezTo>
                    <a:pt x="582" y="354"/>
                    <a:pt x="604" y="375"/>
                    <a:pt x="604" y="402"/>
                  </a:cubicBezTo>
                  <a:close/>
                  <a:moveTo>
                    <a:pt x="706" y="402"/>
                  </a:moveTo>
                  <a:cubicBezTo>
                    <a:pt x="706" y="428"/>
                    <a:pt x="684" y="450"/>
                    <a:pt x="658" y="450"/>
                  </a:cubicBezTo>
                  <a:cubicBezTo>
                    <a:pt x="631" y="450"/>
                    <a:pt x="610" y="428"/>
                    <a:pt x="610" y="402"/>
                  </a:cubicBezTo>
                  <a:cubicBezTo>
                    <a:pt x="610" y="375"/>
                    <a:pt x="631" y="354"/>
                    <a:pt x="658" y="354"/>
                  </a:cubicBezTo>
                  <a:cubicBezTo>
                    <a:pt x="684" y="354"/>
                    <a:pt x="706" y="375"/>
                    <a:pt x="706" y="402"/>
                  </a:cubicBezTo>
                  <a:close/>
                  <a:moveTo>
                    <a:pt x="807" y="402"/>
                  </a:moveTo>
                  <a:cubicBezTo>
                    <a:pt x="807" y="428"/>
                    <a:pt x="785" y="450"/>
                    <a:pt x="759" y="450"/>
                  </a:cubicBezTo>
                  <a:cubicBezTo>
                    <a:pt x="732" y="450"/>
                    <a:pt x="711" y="428"/>
                    <a:pt x="711" y="402"/>
                  </a:cubicBezTo>
                  <a:cubicBezTo>
                    <a:pt x="711" y="375"/>
                    <a:pt x="732" y="354"/>
                    <a:pt x="759" y="354"/>
                  </a:cubicBezTo>
                  <a:cubicBezTo>
                    <a:pt x="785" y="354"/>
                    <a:pt x="807" y="375"/>
                    <a:pt x="807" y="402"/>
                  </a:cubicBezTo>
                  <a:close/>
                  <a:moveTo>
                    <a:pt x="908" y="402"/>
                  </a:moveTo>
                  <a:cubicBezTo>
                    <a:pt x="908" y="428"/>
                    <a:pt x="886" y="450"/>
                    <a:pt x="860" y="450"/>
                  </a:cubicBezTo>
                  <a:cubicBezTo>
                    <a:pt x="833" y="450"/>
                    <a:pt x="812" y="428"/>
                    <a:pt x="812" y="402"/>
                  </a:cubicBezTo>
                  <a:cubicBezTo>
                    <a:pt x="812" y="375"/>
                    <a:pt x="833" y="354"/>
                    <a:pt x="860" y="354"/>
                  </a:cubicBezTo>
                  <a:cubicBezTo>
                    <a:pt x="886" y="354"/>
                    <a:pt x="908" y="375"/>
                    <a:pt x="908" y="402"/>
                  </a:cubicBezTo>
                  <a:close/>
                  <a:moveTo>
                    <a:pt x="1009" y="402"/>
                  </a:moveTo>
                  <a:cubicBezTo>
                    <a:pt x="1009" y="428"/>
                    <a:pt x="987" y="450"/>
                    <a:pt x="961" y="450"/>
                  </a:cubicBezTo>
                  <a:cubicBezTo>
                    <a:pt x="934" y="450"/>
                    <a:pt x="913" y="428"/>
                    <a:pt x="913" y="402"/>
                  </a:cubicBezTo>
                  <a:cubicBezTo>
                    <a:pt x="913" y="375"/>
                    <a:pt x="934" y="354"/>
                    <a:pt x="961" y="354"/>
                  </a:cubicBezTo>
                  <a:cubicBezTo>
                    <a:pt x="987" y="354"/>
                    <a:pt x="1009" y="375"/>
                    <a:pt x="1009" y="402"/>
                  </a:cubicBezTo>
                  <a:close/>
                  <a:moveTo>
                    <a:pt x="1110" y="402"/>
                  </a:moveTo>
                  <a:cubicBezTo>
                    <a:pt x="1110" y="428"/>
                    <a:pt x="1088" y="450"/>
                    <a:pt x="1062" y="450"/>
                  </a:cubicBezTo>
                  <a:cubicBezTo>
                    <a:pt x="1035" y="450"/>
                    <a:pt x="1014" y="428"/>
                    <a:pt x="1014" y="402"/>
                  </a:cubicBezTo>
                  <a:cubicBezTo>
                    <a:pt x="1014" y="375"/>
                    <a:pt x="1035" y="354"/>
                    <a:pt x="1062" y="354"/>
                  </a:cubicBezTo>
                  <a:cubicBezTo>
                    <a:pt x="1088" y="354"/>
                    <a:pt x="1110" y="375"/>
                    <a:pt x="1110" y="402"/>
                  </a:cubicBezTo>
                  <a:close/>
                  <a:moveTo>
                    <a:pt x="1212" y="402"/>
                  </a:moveTo>
                  <a:cubicBezTo>
                    <a:pt x="1212" y="428"/>
                    <a:pt x="1190" y="450"/>
                    <a:pt x="1164" y="450"/>
                  </a:cubicBezTo>
                  <a:cubicBezTo>
                    <a:pt x="1137" y="450"/>
                    <a:pt x="1116" y="428"/>
                    <a:pt x="1116" y="402"/>
                  </a:cubicBezTo>
                  <a:cubicBezTo>
                    <a:pt x="1116" y="375"/>
                    <a:pt x="1137" y="354"/>
                    <a:pt x="1164" y="354"/>
                  </a:cubicBezTo>
                  <a:cubicBezTo>
                    <a:pt x="1190" y="354"/>
                    <a:pt x="1212" y="375"/>
                    <a:pt x="1212" y="402"/>
                  </a:cubicBezTo>
                  <a:close/>
                  <a:moveTo>
                    <a:pt x="1313" y="402"/>
                  </a:moveTo>
                  <a:cubicBezTo>
                    <a:pt x="1313" y="428"/>
                    <a:pt x="1291" y="450"/>
                    <a:pt x="1265" y="450"/>
                  </a:cubicBezTo>
                  <a:cubicBezTo>
                    <a:pt x="1238" y="450"/>
                    <a:pt x="1217" y="428"/>
                    <a:pt x="1217" y="402"/>
                  </a:cubicBezTo>
                  <a:cubicBezTo>
                    <a:pt x="1217" y="375"/>
                    <a:pt x="1238" y="354"/>
                    <a:pt x="1265" y="354"/>
                  </a:cubicBezTo>
                  <a:cubicBezTo>
                    <a:pt x="1291" y="354"/>
                    <a:pt x="1313" y="375"/>
                    <a:pt x="1313" y="402"/>
                  </a:cubicBezTo>
                  <a:close/>
                  <a:moveTo>
                    <a:pt x="1414" y="402"/>
                  </a:moveTo>
                  <a:cubicBezTo>
                    <a:pt x="1414" y="428"/>
                    <a:pt x="1392" y="450"/>
                    <a:pt x="1366" y="450"/>
                  </a:cubicBezTo>
                  <a:cubicBezTo>
                    <a:pt x="1339" y="450"/>
                    <a:pt x="1318" y="428"/>
                    <a:pt x="1318" y="402"/>
                  </a:cubicBezTo>
                  <a:cubicBezTo>
                    <a:pt x="1318" y="375"/>
                    <a:pt x="1339" y="354"/>
                    <a:pt x="1366" y="354"/>
                  </a:cubicBezTo>
                  <a:cubicBezTo>
                    <a:pt x="1392" y="354"/>
                    <a:pt x="1414" y="375"/>
                    <a:pt x="1414" y="402"/>
                  </a:cubicBezTo>
                  <a:close/>
                  <a:moveTo>
                    <a:pt x="1515" y="402"/>
                  </a:moveTo>
                  <a:cubicBezTo>
                    <a:pt x="1515" y="428"/>
                    <a:pt x="1493" y="450"/>
                    <a:pt x="1467" y="450"/>
                  </a:cubicBezTo>
                  <a:cubicBezTo>
                    <a:pt x="1440" y="450"/>
                    <a:pt x="1419" y="428"/>
                    <a:pt x="1419" y="402"/>
                  </a:cubicBezTo>
                  <a:cubicBezTo>
                    <a:pt x="1419" y="375"/>
                    <a:pt x="1440" y="354"/>
                    <a:pt x="1467" y="354"/>
                  </a:cubicBezTo>
                  <a:cubicBezTo>
                    <a:pt x="1493" y="354"/>
                    <a:pt x="1515" y="375"/>
                    <a:pt x="1515" y="402"/>
                  </a:cubicBezTo>
                  <a:close/>
                  <a:moveTo>
                    <a:pt x="1617" y="402"/>
                  </a:moveTo>
                  <a:cubicBezTo>
                    <a:pt x="1617" y="428"/>
                    <a:pt x="1595" y="450"/>
                    <a:pt x="1569" y="450"/>
                  </a:cubicBezTo>
                  <a:cubicBezTo>
                    <a:pt x="1542" y="450"/>
                    <a:pt x="1521" y="428"/>
                    <a:pt x="1521" y="402"/>
                  </a:cubicBezTo>
                  <a:cubicBezTo>
                    <a:pt x="1521" y="375"/>
                    <a:pt x="1542" y="354"/>
                    <a:pt x="1569" y="354"/>
                  </a:cubicBezTo>
                  <a:cubicBezTo>
                    <a:pt x="1595" y="354"/>
                    <a:pt x="1617" y="375"/>
                    <a:pt x="1617" y="402"/>
                  </a:cubicBezTo>
                  <a:close/>
                  <a:moveTo>
                    <a:pt x="1718" y="402"/>
                  </a:moveTo>
                  <a:cubicBezTo>
                    <a:pt x="1718" y="428"/>
                    <a:pt x="1696" y="450"/>
                    <a:pt x="1670" y="450"/>
                  </a:cubicBezTo>
                  <a:cubicBezTo>
                    <a:pt x="1643" y="450"/>
                    <a:pt x="1622" y="428"/>
                    <a:pt x="1622" y="402"/>
                  </a:cubicBezTo>
                  <a:cubicBezTo>
                    <a:pt x="1622" y="375"/>
                    <a:pt x="1643" y="354"/>
                    <a:pt x="1670" y="354"/>
                  </a:cubicBezTo>
                  <a:cubicBezTo>
                    <a:pt x="1696" y="354"/>
                    <a:pt x="1718" y="375"/>
                    <a:pt x="1718" y="402"/>
                  </a:cubicBezTo>
                  <a:close/>
                  <a:moveTo>
                    <a:pt x="1819" y="402"/>
                  </a:moveTo>
                  <a:cubicBezTo>
                    <a:pt x="1819" y="428"/>
                    <a:pt x="1797" y="450"/>
                    <a:pt x="1771" y="450"/>
                  </a:cubicBezTo>
                  <a:cubicBezTo>
                    <a:pt x="1744" y="450"/>
                    <a:pt x="1723" y="428"/>
                    <a:pt x="1723" y="402"/>
                  </a:cubicBezTo>
                  <a:cubicBezTo>
                    <a:pt x="1723" y="375"/>
                    <a:pt x="1744" y="354"/>
                    <a:pt x="1771" y="354"/>
                  </a:cubicBezTo>
                  <a:cubicBezTo>
                    <a:pt x="1797" y="354"/>
                    <a:pt x="1819" y="375"/>
                    <a:pt x="1819" y="402"/>
                  </a:cubicBezTo>
                  <a:close/>
                  <a:moveTo>
                    <a:pt x="1920" y="402"/>
                  </a:moveTo>
                  <a:cubicBezTo>
                    <a:pt x="1920" y="428"/>
                    <a:pt x="1898" y="450"/>
                    <a:pt x="1872" y="450"/>
                  </a:cubicBezTo>
                  <a:cubicBezTo>
                    <a:pt x="1845" y="450"/>
                    <a:pt x="1824" y="428"/>
                    <a:pt x="1824" y="402"/>
                  </a:cubicBezTo>
                  <a:cubicBezTo>
                    <a:pt x="1824" y="375"/>
                    <a:pt x="1845" y="354"/>
                    <a:pt x="1872" y="354"/>
                  </a:cubicBezTo>
                  <a:cubicBezTo>
                    <a:pt x="1898" y="354"/>
                    <a:pt x="1920" y="375"/>
                    <a:pt x="1920" y="402"/>
                  </a:cubicBezTo>
                  <a:close/>
                  <a:moveTo>
                    <a:pt x="2022" y="402"/>
                  </a:moveTo>
                  <a:cubicBezTo>
                    <a:pt x="2022" y="428"/>
                    <a:pt x="2000" y="450"/>
                    <a:pt x="1974" y="450"/>
                  </a:cubicBezTo>
                  <a:cubicBezTo>
                    <a:pt x="1947" y="450"/>
                    <a:pt x="1926" y="428"/>
                    <a:pt x="1926" y="402"/>
                  </a:cubicBezTo>
                  <a:cubicBezTo>
                    <a:pt x="1926" y="375"/>
                    <a:pt x="1947" y="354"/>
                    <a:pt x="1974" y="354"/>
                  </a:cubicBezTo>
                  <a:cubicBezTo>
                    <a:pt x="2000" y="354"/>
                    <a:pt x="2022" y="375"/>
                    <a:pt x="2022" y="402"/>
                  </a:cubicBezTo>
                  <a:close/>
                  <a:moveTo>
                    <a:pt x="2123" y="402"/>
                  </a:moveTo>
                  <a:cubicBezTo>
                    <a:pt x="2123" y="428"/>
                    <a:pt x="2101" y="450"/>
                    <a:pt x="2075" y="450"/>
                  </a:cubicBezTo>
                  <a:cubicBezTo>
                    <a:pt x="2048" y="450"/>
                    <a:pt x="2027" y="428"/>
                    <a:pt x="2027" y="402"/>
                  </a:cubicBezTo>
                  <a:cubicBezTo>
                    <a:pt x="2027" y="375"/>
                    <a:pt x="2048" y="354"/>
                    <a:pt x="2075" y="354"/>
                  </a:cubicBezTo>
                  <a:cubicBezTo>
                    <a:pt x="2101" y="354"/>
                    <a:pt x="2123" y="375"/>
                    <a:pt x="2123" y="402"/>
                  </a:cubicBezTo>
                  <a:close/>
                  <a:moveTo>
                    <a:pt x="2224" y="402"/>
                  </a:moveTo>
                  <a:cubicBezTo>
                    <a:pt x="2224" y="428"/>
                    <a:pt x="2202" y="450"/>
                    <a:pt x="2176" y="450"/>
                  </a:cubicBezTo>
                  <a:cubicBezTo>
                    <a:pt x="2149" y="450"/>
                    <a:pt x="2128" y="428"/>
                    <a:pt x="2128" y="402"/>
                  </a:cubicBezTo>
                  <a:cubicBezTo>
                    <a:pt x="2128" y="375"/>
                    <a:pt x="2149" y="354"/>
                    <a:pt x="2176" y="354"/>
                  </a:cubicBezTo>
                  <a:cubicBezTo>
                    <a:pt x="2202" y="354"/>
                    <a:pt x="2224" y="375"/>
                    <a:pt x="2224" y="402"/>
                  </a:cubicBezTo>
                  <a:close/>
                  <a:moveTo>
                    <a:pt x="2325" y="402"/>
                  </a:moveTo>
                  <a:cubicBezTo>
                    <a:pt x="2325" y="428"/>
                    <a:pt x="2303" y="450"/>
                    <a:pt x="2277" y="450"/>
                  </a:cubicBezTo>
                  <a:cubicBezTo>
                    <a:pt x="2250" y="450"/>
                    <a:pt x="2229" y="428"/>
                    <a:pt x="2229" y="402"/>
                  </a:cubicBezTo>
                  <a:cubicBezTo>
                    <a:pt x="2229" y="375"/>
                    <a:pt x="2250" y="354"/>
                    <a:pt x="2277" y="354"/>
                  </a:cubicBezTo>
                  <a:cubicBezTo>
                    <a:pt x="2303" y="354"/>
                    <a:pt x="2325" y="375"/>
                    <a:pt x="2325" y="402"/>
                  </a:cubicBezTo>
                  <a:close/>
                  <a:moveTo>
                    <a:pt x="2427" y="402"/>
                  </a:moveTo>
                  <a:cubicBezTo>
                    <a:pt x="2427" y="428"/>
                    <a:pt x="2405" y="450"/>
                    <a:pt x="2379" y="450"/>
                  </a:cubicBezTo>
                  <a:cubicBezTo>
                    <a:pt x="2352" y="450"/>
                    <a:pt x="2331" y="428"/>
                    <a:pt x="2331" y="402"/>
                  </a:cubicBezTo>
                  <a:cubicBezTo>
                    <a:pt x="2331" y="375"/>
                    <a:pt x="2352" y="354"/>
                    <a:pt x="2379" y="354"/>
                  </a:cubicBezTo>
                  <a:cubicBezTo>
                    <a:pt x="2405" y="354"/>
                    <a:pt x="2427" y="375"/>
                    <a:pt x="2427" y="402"/>
                  </a:cubicBezTo>
                  <a:close/>
                  <a:moveTo>
                    <a:pt x="2528" y="402"/>
                  </a:moveTo>
                  <a:cubicBezTo>
                    <a:pt x="2528" y="428"/>
                    <a:pt x="2506" y="450"/>
                    <a:pt x="2480" y="450"/>
                  </a:cubicBezTo>
                  <a:cubicBezTo>
                    <a:pt x="2453" y="450"/>
                    <a:pt x="2432" y="428"/>
                    <a:pt x="2432" y="402"/>
                  </a:cubicBezTo>
                  <a:cubicBezTo>
                    <a:pt x="2432" y="375"/>
                    <a:pt x="2453" y="354"/>
                    <a:pt x="2480" y="354"/>
                  </a:cubicBezTo>
                  <a:cubicBezTo>
                    <a:pt x="2506" y="354"/>
                    <a:pt x="2528" y="375"/>
                    <a:pt x="2528" y="402"/>
                  </a:cubicBezTo>
                  <a:close/>
                  <a:moveTo>
                    <a:pt x="2629" y="402"/>
                  </a:moveTo>
                  <a:cubicBezTo>
                    <a:pt x="2629" y="428"/>
                    <a:pt x="2607" y="450"/>
                    <a:pt x="2581" y="450"/>
                  </a:cubicBezTo>
                  <a:cubicBezTo>
                    <a:pt x="2554" y="450"/>
                    <a:pt x="2533" y="428"/>
                    <a:pt x="2533" y="402"/>
                  </a:cubicBezTo>
                  <a:cubicBezTo>
                    <a:pt x="2533" y="375"/>
                    <a:pt x="2554" y="354"/>
                    <a:pt x="2581" y="354"/>
                  </a:cubicBezTo>
                  <a:cubicBezTo>
                    <a:pt x="2607" y="354"/>
                    <a:pt x="2629" y="375"/>
                    <a:pt x="2629" y="402"/>
                  </a:cubicBezTo>
                  <a:close/>
                  <a:moveTo>
                    <a:pt x="2730" y="402"/>
                  </a:moveTo>
                  <a:cubicBezTo>
                    <a:pt x="2730" y="428"/>
                    <a:pt x="2708" y="450"/>
                    <a:pt x="2682" y="450"/>
                  </a:cubicBezTo>
                  <a:cubicBezTo>
                    <a:pt x="2655" y="450"/>
                    <a:pt x="2634" y="428"/>
                    <a:pt x="2634" y="402"/>
                  </a:cubicBezTo>
                  <a:cubicBezTo>
                    <a:pt x="2634" y="375"/>
                    <a:pt x="2655" y="354"/>
                    <a:pt x="2682" y="354"/>
                  </a:cubicBezTo>
                  <a:cubicBezTo>
                    <a:pt x="2708" y="354"/>
                    <a:pt x="2730" y="375"/>
                    <a:pt x="2730" y="402"/>
                  </a:cubicBezTo>
                  <a:close/>
                  <a:moveTo>
                    <a:pt x="2831" y="402"/>
                  </a:moveTo>
                  <a:cubicBezTo>
                    <a:pt x="2831" y="428"/>
                    <a:pt x="2809" y="450"/>
                    <a:pt x="2783" y="450"/>
                  </a:cubicBezTo>
                  <a:cubicBezTo>
                    <a:pt x="2756" y="450"/>
                    <a:pt x="2735" y="428"/>
                    <a:pt x="2735" y="402"/>
                  </a:cubicBezTo>
                  <a:cubicBezTo>
                    <a:pt x="2735" y="375"/>
                    <a:pt x="2756" y="354"/>
                    <a:pt x="2783" y="354"/>
                  </a:cubicBezTo>
                  <a:cubicBezTo>
                    <a:pt x="2809" y="354"/>
                    <a:pt x="2831" y="375"/>
                    <a:pt x="2831" y="402"/>
                  </a:cubicBezTo>
                  <a:close/>
                  <a:moveTo>
                    <a:pt x="2933" y="402"/>
                  </a:moveTo>
                  <a:cubicBezTo>
                    <a:pt x="2933" y="428"/>
                    <a:pt x="2911" y="450"/>
                    <a:pt x="2885" y="450"/>
                  </a:cubicBezTo>
                  <a:cubicBezTo>
                    <a:pt x="2858" y="450"/>
                    <a:pt x="2837" y="428"/>
                    <a:pt x="2837" y="402"/>
                  </a:cubicBezTo>
                  <a:cubicBezTo>
                    <a:pt x="2837" y="375"/>
                    <a:pt x="2858" y="354"/>
                    <a:pt x="2885" y="354"/>
                  </a:cubicBezTo>
                  <a:cubicBezTo>
                    <a:pt x="2911" y="354"/>
                    <a:pt x="2933" y="375"/>
                    <a:pt x="2933" y="402"/>
                  </a:cubicBezTo>
                  <a:close/>
                  <a:moveTo>
                    <a:pt x="3034" y="402"/>
                  </a:moveTo>
                  <a:cubicBezTo>
                    <a:pt x="3034" y="428"/>
                    <a:pt x="3012" y="450"/>
                    <a:pt x="2986" y="450"/>
                  </a:cubicBezTo>
                  <a:cubicBezTo>
                    <a:pt x="2959" y="450"/>
                    <a:pt x="2938" y="428"/>
                    <a:pt x="2938" y="402"/>
                  </a:cubicBezTo>
                  <a:cubicBezTo>
                    <a:pt x="2938" y="375"/>
                    <a:pt x="2959" y="354"/>
                    <a:pt x="2986" y="354"/>
                  </a:cubicBezTo>
                  <a:cubicBezTo>
                    <a:pt x="3012" y="354"/>
                    <a:pt x="3034" y="375"/>
                    <a:pt x="3034" y="402"/>
                  </a:cubicBezTo>
                  <a:close/>
                  <a:moveTo>
                    <a:pt x="3135" y="402"/>
                  </a:moveTo>
                  <a:cubicBezTo>
                    <a:pt x="3135" y="428"/>
                    <a:pt x="3113" y="450"/>
                    <a:pt x="3087" y="450"/>
                  </a:cubicBezTo>
                  <a:cubicBezTo>
                    <a:pt x="3060" y="450"/>
                    <a:pt x="3039" y="428"/>
                    <a:pt x="3039" y="402"/>
                  </a:cubicBezTo>
                  <a:cubicBezTo>
                    <a:pt x="3039" y="375"/>
                    <a:pt x="3060" y="354"/>
                    <a:pt x="3087" y="354"/>
                  </a:cubicBezTo>
                  <a:cubicBezTo>
                    <a:pt x="3113" y="354"/>
                    <a:pt x="3135" y="375"/>
                    <a:pt x="3135" y="402"/>
                  </a:cubicBezTo>
                  <a:close/>
                  <a:moveTo>
                    <a:pt x="3236" y="402"/>
                  </a:moveTo>
                  <a:cubicBezTo>
                    <a:pt x="3236" y="428"/>
                    <a:pt x="3214" y="450"/>
                    <a:pt x="3188" y="450"/>
                  </a:cubicBezTo>
                  <a:cubicBezTo>
                    <a:pt x="3161" y="450"/>
                    <a:pt x="3140" y="428"/>
                    <a:pt x="3140" y="402"/>
                  </a:cubicBezTo>
                  <a:cubicBezTo>
                    <a:pt x="3140" y="375"/>
                    <a:pt x="3161" y="354"/>
                    <a:pt x="3188" y="354"/>
                  </a:cubicBezTo>
                  <a:cubicBezTo>
                    <a:pt x="3214" y="354"/>
                    <a:pt x="3236" y="375"/>
                    <a:pt x="3236" y="402"/>
                  </a:cubicBezTo>
                  <a:close/>
                  <a:moveTo>
                    <a:pt x="3338" y="402"/>
                  </a:moveTo>
                  <a:cubicBezTo>
                    <a:pt x="3338" y="428"/>
                    <a:pt x="3316" y="450"/>
                    <a:pt x="3290" y="450"/>
                  </a:cubicBezTo>
                  <a:cubicBezTo>
                    <a:pt x="3263" y="450"/>
                    <a:pt x="3242" y="428"/>
                    <a:pt x="3242" y="402"/>
                  </a:cubicBezTo>
                  <a:cubicBezTo>
                    <a:pt x="3242" y="375"/>
                    <a:pt x="3263" y="354"/>
                    <a:pt x="3290" y="354"/>
                  </a:cubicBezTo>
                  <a:cubicBezTo>
                    <a:pt x="3316" y="354"/>
                    <a:pt x="3338" y="375"/>
                    <a:pt x="3338" y="402"/>
                  </a:cubicBezTo>
                  <a:close/>
                  <a:moveTo>
                    <a:pt x="3439" y="402"/>
                  </a:moveTo>
                  <a:cubicBezTo>
                    <a:pt x="3439" y="428"/>
                    <a:pt x="3417" y="450"/>
                    <a:pt x="3391" y="450"/>
                  </a:cubicBezTo>
                  <a:cubicBezTo>
                    <a:pt x="3364" y="450"/>
                    <a:pt x="3343" y="428"/>
                    <a:pt x="3343" y="402"/>
                  </a:cubicBezTo>
                  <a:cubicBezTo>
                    <a:pt x="3343" y="375"/>
                    <a:pt x="3364" y="354"/>
                    <a:pt x="3391" y="354"/>
                  </a:cubicBezTo>
                  <a:cubicBezTo>
                    <a:pt x="3417" y="354"/>
                    <a:pt x="3439" y="375"/>
                    <a:pt x="3439" y="402"/>
                  </a:cubicBezTo>
                  <a:close/>
                  <a:moveTo>
                    <a:pt x="3540" y="402"/>
                  </a:moveTo>
                  <a:cubicBezTo>
                    <a:pt x="3540" y="428"/>
                    <a:pt x="3518" y="450"/>
                    <a:pt x="3492" y="450"/>
                  </a:cubicBezTo>
                  <a:cubicBezTo>
                    <a:pt x="3465" y="450"/>
                    <a:pt x="3444" y="428"/>
                    <a:pt x="3444" y="402"/>
                  </a:cubicBezTo>
                  <a:cubicBezTo>
                    <a:pt x="3444" y="375"/>
                    <a:pt x="3465" y="354"/>
                    <a:pt x="3492" y="354"/>
                  </a:cubicBezTo>
                  <a:cubicBezTo>
                    <a:pt x="3518" y="354"/>
                    <a:pt x="3540" y="375"/>
                    <a:pt x="3540" y="402"/>
                  </a:cubicBezTo>
                  <a:close/>
                  <a:moveTo>
                    <a:pt x="3641" y="402"/>
                  </a:moveTo>
                  <a:cubicBezTo>
                    <a:pt x="3641" y="428"/>
                    <a:pt x="3619" y="450"/>
                    <a:pt x="3593" y="450"/>
                  </a:cubicBezTo>
                  <a:cubicBezTo>
                    <a:pt x="3566" y="450"/>
                    <a:pt x="3545" y="428"/>
                    <a:pt x="3545" y="402"/>
                  </a:cubicBezTo>
                  <a:cubicBezTo>
                    <a:pt x="3545" y="375"/>
                    <a:pt x="3566" y="354"/>
                    <a:pt x="3593" y="354"/>
                  </a:cubicBezTo>
                  <a:cubicBezTo>
                    <a:pt x="3619" y="354"/>
                    <a:pt x="3641" y="375"/>
                    <a:pt x="3641" y="402"/>
                  </a:cubicBezTo>
                  <a:close/>
                  <a:moveTo>
                    <a:pt x="3743" y="402"/>
                  </a:moveTo>
                  <a:cubicBezTo>
                    <a:pt x="3743" y="428"/>
                    <a:pt x="3721" y="450"/>
                    <a:pt x="3695" y="450"/>
                  </a:cubicBezTo>
                  <a:cubicBezTo>
                    <a:pt x="3668" y="450"/>
                    <a:pt x="3647" y="428"/>
                    <a:pt x="3647" y="402"/>
                  </a:cubicBezTo>
                  <a:cubicBezTo>
                    <a:pt x="3647" y="375"/>
                    <a:pt x="3668" y="354"/>
                    <a:pt x="3695" y="354"/>
                  </a:cubicBezTo>
                  <a:cubicBezTo>
                    <a:pt x="3721" y="354"/>
                    <a:pt x="3743" y="375"/>
                    <a:pt x="3743" y="402"/>
                  </a:cubicBezTo>
                  <a:close/>
                  <a:moveTo>
                    <a:pt x="3844" y="402"/>
                  </a:moveTo>
                  <a:cubicBezTo>
                    <a:pt x="3844" y="428"/>
                    <a:pt x="3822" y="450"/>
                    <a:pt x="3796" y="450"/>
                  </a:cubicBezTo>
                  <a:cubicBezTo>
                    <a:pt x="3769" y="450"/>
                    <a:pt x="3748" y="428"/>
                    <a:pt x="3748" y="402"/>
                  </a:cubicBezTo>
                  <a:cubicBezTo>
                    <a:pt x="3748" y="375"/>
                    <a:pt x="3769" y="354"/>
                    <a:pt x="3796" y="354"/>
                  </a:cubicBezTo>
                  <a:cubicBezTo>
                    <a:pt x="3822" y="354"/>
                    <a:pt x="3844" y="375"/>
                    <a:pt x="3844" y="402"/>
                  </a:cubicBezTo>
                  <a:close/>
                  <a:moveTo>
                    <a:pt x="3945" y="402"/>
                  </a:moveTo>
                  <a:cubicBezTo>
                    <a:pt x="3945" y="428"/>
                    <a:pt x="3923" y="450"/>
                    <a:pt x="3897" y="450"/>
                  </a:cubicBezTo>
                  <a:cubicBezTo>
                    <a:pt x="3870" y="450"/>
                    <a:pt x="3849" y="428"/>
                    <a:pt x="3849" y="402"/>
                  </a:cubicBezTo>
                  <a:cubicBezTo>
                    <a:pt x="3849" y="375"/>
                    <a:pt x="3870" y="354"/>
                    <a:pt x="3897" y="354"/>
                  </a:cubicBezTo>
                  <a:cubicBezTo>
                    <a:pt x="3923" y="354"/>
                    <a:pt x="3945" y="375"/>
                    <a:pt x="3945" y="402"/>
                  </a:cubicBezTo>
                  <a:close/>
                  <a:moveTo>
                    <a:pt x="4046" y="402"/>
                  </a:moveTo>
                  <a:cubicBezTo>
                    <a:pt x="4046" y="428"/>
                    <a:pt x="4024" y="450"/>
                    <a:pt x="3998" y="450"/>
                  </a:cubicBezTo>
                  <a:cubicBezTo>
                    <a:pt x="3971" y="450"/>
                    <a:pt x="3950" y="428"/>
                    <a:pt x="3950" y="402"/>
                  </a:cubicBezTo>
                  <a:cubicBezTo>
                    <a:pt x="3950" y="375"/>
                    <a:pt x="3971" y="354"/>
                    <a:pt x="3998" y="354"/>
                  </a:cubicBezTo>
                  <a:cubicBezTo>
                    <a:pt x="4024" y="354"/>
                    <a:pt x="4046" y="375"/>
                    <a:pt x="4046" y="402"/>
                  </a:cubicBezTo>
                  <a:close/>
                  <a:moveTo>
                    <a:pt x="4148" y="402"/>
                  </a:moveTo>
                  <a:cubicBezTo>
                    <a:pt x="4148" y="428"/>
                    <a:pt x="4126" y="450"/>
                    <a:pt x="4100" y="450"/>
                  </a:cubicBezTo>
                  <a:cubicBezTo>
                    <a:pt x="4073" y="450"/>
                    <a:pt x="4052" y="428"/>
                    <a:pt x="4052" y="402"/>
                  </a:cubicBezTo>
                  <a:cubicBezTo>
                    <a:pt x="4052" y="375"/>
                    <a:pt x="4073" y="354"/>
                    <a:pt x="4100" y="354"/>
                  </a:cubicBezTo>
                  <a:cubicBezTo>
                    <a:pt x="4126" y="354"/>
                    <a:pt x="4148" y="375"/>
                    <a:pt x="4148" y="402"/>
                  </a:cubicBezTo>
                  <a:close/>
                  <a:moveTo>
                    <a:pt x="4249" y="402"/>
                  </a:moveTo>
                  <a:cubicBezTo>
                    <a:pt x="4249" y="428"/>
                    <a:pt x="4227" y="450"/>
                    <a:pt x="4201" y="450"/>
                  </a:cubicBezTo>
                  <a:cubicBezTo>
                    <a:pt x="4174" y="450"/>
                    <a:pt x="4153" y="428"/>
                    <a:pt x="4153" y="402"/>
                  </a:cubicBezTo>
                  <a:cubicBezTo>
                    <a:pt x="4153" y="375"/>
                    <a:pt x="4174" y="354"/>
                    <a:pt x="4201" y="354"/>
                  </a:cubicBezTo>
                  <a:cubicBezTo>
                    <a:pt x="4227" y="354"/>
                    <a:pt x="4249" y="375"/>
                    <a:pt x="4249" y="402"/>
                  </a:cubicBezTo>
                  <a:close/>
                  <a:moveTo>
                    <a:pt x="4350" y="402"/>
                  </a:moveTo>
                  <a:cubicBezTo>
                    <a:pt x="4350" y="428"/>
                    <a:pt x="4328" y="450"/>
                    <a:pt x="4302" y="450"/>
                  </a:cubicBezTo>
                  <a:cubicBezTo>
                    <a:pt x="4275" y="450"/>
                    <a:pt x="4254" y="428"/>
                    <a:pt x="4254" y="402"/>
                  </a:cubicBezTo>
                  <a:cubicBezTo>
                    <a:pt x="4254" y="375"/>
                    <a:pt x="4275" y="354"/>
                    <a:pt x="4302" y="354"/>
                  </a:cubicBezTo>
                  <a:cubicBezTo>
                    <a:pt x="4328" y="354"/>
                    <a:pt x="4350" y="375"/>
                    <a:pt x="4350" y="402"/>
                  </a:cubicBezTo>
                  <a:close/>
                  <a:moveTo>
                    <a:pt x="4451" y="402"/>
                  </a:moveTo>
                  <a:cubicBezTo>
                    <a:pt x="4451" y="428"/>
                    <a:pt x="4429" y="450"/>
                    <a:pt x="4403" y="450"/>
                  </a:cubicBezTo>
                  <a:cubicBezTo>
                    <a:pt x="4376" y="450"/>
                    <a:pt x="4355" y="428"/>
                    <a:pt x="4355" y="402"/>
                  </a:cubicBezTo>
                  <a:cubicBezTo>
                    <a:pt x="4355" y="375"/>
                    <a:pt x="4376" y="354"/>
                    <a:pt x="4403" y="354"/>
                  </a:cubicBezTo>
                  <a:cubicBezTo>
                    <a:pt x="4429" y="354"/>
                    <a:pt x="4451" y="375"/>
                    <a:pt x="4451" y="402"/>
                  </a:cubicBezTo>
                  <a:close/>
                  <a:moveTo>
                    <a:pt x="4552" y="402"/>
                  </a:moveTo>
                  <a:cubicBezTo>
                    <a:pt x="4552" y="428"/>
                    <a:pt x="4530" y="450"/>
                    <a:pt x="4504" y="450"/>
                  </a:cubicBezTo>
                  <a:cubicBezTo>
                    <a:pt x="4477" y="450"/>
                    <a:pt x="4456" y="428"/>
                    <a:pt x="4456" y="402"/>
                  </a:cubicBezTo>
                  <a:cubicBezTo>
                    <a:pt x="4456" y="375"/>
                    <a:pt x="4477" y="354"/>
                    <a:pt x="4504" y="354"/>
                  </a:cubicBezTo>
                  <a:cubicBezTo>
                    <a:pt x="4530" y="354"/>
                    <a:pt x="4552" y="375"/>
                    <a:pt x="4552" y="402"/>
                  </a:cubicBezTo>
                  <a:close/>
                  <a:moveTo>
                    <a:pt x="4654" y="402"/>
                  </a:moveTo>
                  <a:cubicBezTo>
                    <a:pt x="4654" y="428"/>
                    <a:pt x="4632" y="450"/>
                    <a:pt x="4606" y="450"/>
                  </a:cubicBezTo>
                  <a:cubicBezTo>
                    <a:pt x="4579" y="450"/>
                    <a:pt x="4558" y="428"/>
                    <a:pt x="4558" y="402"/>
                  </a:cubicBezTo>
                  <a:cubicBezTo>
                    <a:pt x="4558" y="375"/>
                    <a:pt x="4579" y="354"/>
                    <a:pt x="4606" y="354"/>
                  </a:cubicBezTo>
                  <a:cubicBezTo>
                    <a:pt x="4632" y="354"/>
                    <a:pt x="4654" y="375"/>
                    <a:pt x="4654" y="402"/>
                  </a:cubicBezTo>
                  <a:close/>
                  <a:moveTo>
                    <a:pt x="4755" y="402"/>
                  </a:moveTo>
                  <a:cubicBezTo>
                    <a:pt x="4755" y="428"/>
                    <a:pt x="4733" y="450"/>
                    <a:pt x="4707" y="450"/>
                  </a:cubicBezTo>
                  <a:cubicBezTo>
                    <a:pt x="4680" y="450"/>
                    <a:pt x="4659" y="428"/>
                    <a:pt x="4659" y="402"/>
                  </a:cubicBezTo>
                  <a:cubicBezTo>
                    <a:pt x="4659" y="375"/>
                    <a:pt x="4680" y="354"/>
                    <a:pt x="4707" y="354"/>
                  </a:cubicBezTo>
                  <a:cubicBezTo>
                    <a:pt x="4733" y="354"/>
                    <a:pt x="4755" y="375"/>
                    <a:pt x="4755" y="402"/>
                  </a:cubicBezTo>
                  <a:close/>
                  <a:moveTo>
                    <a:pt x="4856" y="402"/>
                  </a:moveTo>
                  <a:cubicBezTo>
                    <a:pt x="4856" y="428"/>
                    <a:pt x="4834" y="450"/>
                    <a:pt x="4808" y="450"/>
                  </a:cubicBezTo>
                  <a:cubicBezTo>
                    <a:pt x="4781" y="450"/>
                    <a:pt x="4760" y="428"/>
                    <a:pt x="4760" y="402"/>
                  </a:cubicBezTo>
                  <a:cubicBezTo>
                    <a:pt x="4760" y="375"/>
                    <a:pt x="4781" y="354"/>
                    <a:pt x="4808" y="354"/>
                  </a:cubicBezTo>
                  <a:cubicBezTo>
                    <a:pt x="4834" y="354"/>
                    <a:pt x="4856" y="375"/>
                    <a:pt x="4856" y="402"/>
                  </a:cubicBezTo>
                  <a:close/>
                  <a:moveTo>
                    <a:pt x="4957" y="402"/>
                  </a:moveTo>
                  <a:cubicBezTo>
                    <a:pt x="4957" y="428"/>
                    <a:pt x="4935" y="450"/>
                    <a:pt x="4909" y="450"/>
                  </a:cubicBezTo>
                  <a:cubicBezTo>
                    <a:pt x="4882" y="450"/>
                    <a:pt x="4861" y="428"/>
                    <a:pt x="4861" y="402"/>
                  </a:cubicBezTo>
                  <a:cubicBezTo>
                    <a:pt x="4861" y="375"/>
                    <a:pt x="4882" y="354"/>
                    <a:pt x="4909" y="354"/>
                  </a:cubicBezTo>
                  <a:cubicBezTo>
                    <a:pt x="4935" y="354"/>
                    <a:pt x="4957" y="375"/>
                    <a:pt x="4957" y="402"/>
                  </a:cubicBezTo>
                  <a:close/>
                  <a:moveTo>
                    <a:pt x="5059" y="402"/>
                  </a:moveTo>
                  <a:cubicBezTo>
                    <a:pt x="5059" y="428"/>
                    <a:pt x="5037" y="450"/>
                    <a:pt x="5011" y="450"/>
                  </a:cubicBezTo>
                  <a:cubicBezTo>
                    <a:pt x="4984" y="450"/>
                    <a:pt x="4963" y="428"/>
                    <a:pt x="4963" y="402"/>
                  </a:cubicBezTo>
                  <a:cubicBezTo>
                    <a:pt x="4963" y="375"/>
                    <a:pt x="4984" y="354"/>
                    <a:pt x="5011" y="354"/>
                  </a:cubicBezTo>
                  <a:cubicBezTo>
                    <a:pt x="5037" y="354"/>
                    <a:pt x="5059" y="375"/>
                    <a:pt x="5059" y="402"/>
                  </a:cubicBezTo>
                  <a:close/>
                  <a:moveTo>
                    <a:pt x="5160" y="402"/>
                  </a:moveTo>
                  <a:cubicBezTo>
                    <a:pt x="5160" y="428"/>
                    <a:pt x="5138" y="450"/>
                    <a:pt x="5112" y="450"/>
                  </a:cubicBezTo>
                  <a:cubicBezTo>
                    <a:pt x="5085" y="450"/>
                    <a:pt x="5064" y="428"/>
                    <a:pt x="5064" y="402"/>
                  </a:cubicBezTo>
                  <a:cubicBezTo>
                    <a:pt x="5064" y="375"/>
                    <a:pt x="5085" y="354"/>
                    <a:pt x="5112" y="354"/>
                  </a:cubicBezTo>
                  <a:cubicBezTo>
                    <a:pt x="5138" y="354"/>
                    <a:pt x="5160" y="375"/>
                    <a:pt x="5160" y="402"/>
                  </a:cubicBezTo>
                  <a:close/>
                  <a:moveTo>
                    <a:pt x="5261" y="402"/>
                  </a:moveTo>
                  <a:cubicBezTo>
                    <a:pt x="5261" y="428"/>
                    <a:pt x="5239" y="450"/>
                    <a:pt x="5213" y="450"/>
                  </a:cubicBezTo>
                  <a:cubicBezTo>
                    <a:pt x="5186" y="450"/>
                    <a:pt x="5165" y="428"/>
                    <a:pt x="5165" y="402"/>
                  </a:cubicBezTo>
                  <a:cubicBezTo>
                    <a:pt x="5165" y="375"/>
                    <a:pt x="5186" y="354"/>
                    <a:pt x="5213" y="354"/>
                  </a:cubicBezTo>
                  <a:cubicBezTo>
                    <a:pt x="5239" y="354"/>
                    <a:pt x="5261" y="375"/>
                    <a:pt x="5261" y="402"/>
                  </a:cubicBezTo>
                  <a:close/>
                  <a:moveTo>
                    <a:pt x="5362" y="402"/>
                  </a:moveTo>
                  <a:cubicBezTo>
                    <a:pt x="5362" y="428"/>
                    <a:pt x="5340" y="450"/>
                    <a:pt x="5314" y="450"/>
                  </a:cubicBezTo>
                  <a:cubicBezTo>
                    <a:pt x="5287" y="450"/>
                    <a:pt x="5266" y="428"/>
                    <a:pt x="5266" y="402"/>
                  </a:cubicBezTo>
                  <a:cubicBezTo>
                    <a:pt x="5266" y="375"/>
                    <a:pt x="5287" y="354"/>
                    <a:pt x="5314" y="354"/>
                  </a:cubicBezTo>
                  <a:cubicBezTo>
                    <a:pt x="5340" y="354"/>
                    <a:pt x="5362" y="375"/>
                    <a:pt x="5362" y="402"/>
                  </a:cubicBezTo>
                  <a:close/>
                  <a:moveTo>
                    <a:pt x="5464" y="402"/>
                  </a:moveTo>
                  <a:cubicBezTo>
                    <a:pt x="5464" y="428"/>
                    <a:pt x="5442" y="450"/>
                    <a:pt x="5416" y="450"/>
                  </a:cubicBezTo>
                  <a:cubicBezTo>
                    <a:pt x="5389" y="450"/>
                    <a:pt x="5368" y="428"/>
                    <a:pt x="5368" y="402"/>
                  </a:cubicBezTo>
                  <a:cubicBezTo>
                    <a:pt x="5368" y="375"/>
                    <a:pt x="5389" y="354"/>
                    <a:pt x="5416" y="354"/>
                  </a:cubicBezTo>
                  <a:cubicBezTo>
                    <a:pt x="5442" y="354"/>
                    <a:pt x="5464" y="375"/>
                    <a:pt x="5464" y="402"/>
                  </a:cubicBezTo>
                  <a:close/>
                  <a:moveTo>
                    <a:pt x="5565" y="402"/>
                  </a:moveTo>
                  <a:cubicBezTo>
                    <a:pt x="5565" y="428"/>
                    <a:pt x="5543" y="450"/>
                    <a:pt x="5517" y="450"/>
                  </a:cubicBezTo>
                  <a:cubicBezTo>
                    <a:pt x="5490" y="450"/>
                    <a:pt x="5469" y="428"/>
                    <a:pt x="5469" y="402"/>
                  </a:cubicBezTo>
                  <a:cubicBezTo>
                    <a:pt x="5469" y="375"/>
                    <a:pt x="5490" y="354"/>
                    <a:pt x="5517" y="354"/>
                  </a:cubicBezTo>
                  <a:cubicBezTo>
                    <a:pt x="5543" y="354"/>
                    <a:pt x="5565" y="375"/>
                    <a:pt x="5565" y="402"/>
                  </a:cubicBezTo>
                  <a:close/>
                  <a:moveTo>
                    <a:pt x="5666" y="402"/>
                  </a:moveTo>
                  <a:cubicBezTo>
                    <a:pt x="5666" y="428"/>
                    <a:pt x="5644" y="450"/>
                    <a:pt x="5618" y="450"/>
                  </a:cubicBezTo>
                  <a:cubicBezTo>
                    <a:pt x="5591" y="450"/>
                    <a:pt x="5570" y="428"/>
                    <a:pt x="5570" y="402"/>
                  </a:cubicBezTo>
                  <a:cubicBezTo>
                    <a:pt x="5570" y="375"/>
                    <a:pt x="5591" y="354"/>
                    <a:pt x="5618" y="354"/>
                  </a:cubicBezTo>
                  <a:cubicBezTo>
                    <a:pt x="5644" y="354"/>
                    <a:pt x="5666" y="375"/>
                    <a:pt x="5666" y="402"/>
                  </a:cubicBezTo>
                  <a:close/>
                  <a:moveTo>
                    <a:pt x="5767" y="402"/>
                  </a:moveTo>
                  <a:cubicBezTo>
                    <a:pt x="5767" y="428"/>
                    <a:pt x="5745" y="450"/>
                    <a:pt x="5719" y="450"/>
                  </a:cubicBezTo>
                  <a:cubicBezTo>
                    <a:pt x="5692" y="450"/>
                    <a:pt x="5671" y="428"/>
                    <a:pt x="5671" y="402"/>
                  </a:cubicBezTo>
                  <a:cubicBezTo>
                    <a:pt x="5671" y="375"/>
                    <a:pt x="5692" y="354"/>
                    <a:pt x="5719" y="354"/>
                  </a:cubicBezTo>
                  <a:cubicBezTo>
                    <a:pt x="5745" y="354"/>
                    <a:pt x="5767" y="375"/>
                    <a:pt x="5767" y="402"/>
                  </a:cubicBezTo>
                  <a:close/>
                  <a:moveTo>
                    <a:pt x="5868" y="402"/>
                  </a:moveTo>
                  <a:cubicBezTo>
                    <a:pt x="5868" y="428"/>
                    <a:pt x="5846" y="450"/>
                    <a:pt x="5820" y="450"/>
                  </a:cubicBezTo>
                  <a:cubicBezTo>
                    <a:pt x="5793" y="450"/>
                    <a:pt x="5772" y="428"/>
                    <a:pt x="5772" y="402"/>
                  </a:cubicBezTo>
                  <a:cubicBezTo>
                    <a:pt x="5772" y="375"/>
                    <a:pt x="5793" y="354"/>
                    <a:pt x="5820" y="354"/>
                  </a:cubicBezTo>
                  <a:cubicBezTo>
                    <a:pt x="5846" y="354"/>
                    <a:pt x="5868" y="375"/>
                    <a:pt x="5868" y="402"/>
                  </a:cubicBezTo>
                  <a:close/>
                  <a:moveTo>
                    <a:pt x="5970" y="402"/>
                  </a:moveTo>
                  <a:cubicBezTo>
                    <a:pt x="5970" y="428"/>
                    <a:pt x="5948" y="450"/>
                    <a:pt x="5922" y="450"/>
                  </a:cubicBezTo>
                  <a:cubicBezTo>
                    <a:pt x="5895" y="450"/>
                    <a:pt x="5874" y="428"/>
                    <a:pt x="5874" y="402"/>
                  </a:cubicBezTo>
                  <a:cubicBezTo>
                    <a:pt x="5874" y="375"/>
                    <a:pt x="5895" y="354"/>
                    <a:pt x="5922" y="354"/>
                  </a:cubicBezTo>
                  <a:cubicBezTo>
                    <a:pt x="5948" y="354"/>
                    <a:pt x="5970" y="375"/>
                    <a:pt x="5970" y="402"/>
                  </a:cubicBezTo>
                  <a:close/>
                  <a:moveTo>
                    <a:pt x="6071" y="402"/>
                  </a:moveTo>
                  <a:cubicBezTo>
                    <a:pt x="6071" y="428"/>
                    <a:pt x="6049" y="450"/>
                    <a:pt x="6023" y="450"/>
                  </a:cubicBezTo>
                  <a:cubicBezTo>
                    <a:pt x="5996" y="450"/>
                    <a:pt x="5975" y="428"/>
                    <a:pt x="5975" y="402"/>
                  </a:cubicBezTo>
                  <a:cubicBezTo>
                    <a:pt x="5975" y="375"/>
                    <a:pt x="5996" y="354"/>
                    <a:pt x="6023" y="354"/>
                  </a:cubicBezTo>
                  <a:cubicBezTo>
                    <a:pt x="6049" y="354"/>
                    <a:pt x="6071" y="375"/>
                    <a:pt x="6071" y="402"/>
                  </a:cubicBezTo>
                  <a:close/>
                  <a:moveTo>
                    <a:pt x="6172" y="402"/>
                  </a:moveTo>
                  <a:cubicBezTo>
                    <a:pt x="6172" y="428"/>
                    <a:pt x="6150" y="450"/>
                    <a:pt x="6124" y="450"/>
                  </a:cubicBezTo>
                  <a:cubicBezTo>
                    <a:pt x="6097" y="450"/>
                    <a:pt x="6076" y="428"/>
                    <a:pt x="6076" y="402"/>
                  </a:cubicBezTo>
                  <a:cubicBezTo>
                    <a:pt x="6076" y="375"/>
                    <a:pt x="6097" y="354"/>
                    <a:pt x="6124" y="354"/>
                  </a:cubicBezTo>
                  <a:cubicBezTo>
                    <a:pt x="6150" y="354"/>
                    <a:pt x="6172" y="375"/>
                    <a:pt x="6172" y="402"/>
                  </a:cubicBezTo>
                  <a:close/>
                  <a:moveTo>
                    <a:pt x="6273" y="402"/>
                  </a:moveTo>
                  <a:cubicBezTo>
                    <a:pt x="6273" y="428"/>
                    <a:pt x="6251" y="450"/>
                    <a:pt x="6225" y="450"/>
                  </a:cubicBezTo>
                  <a:cubicBezTo>
                    <a:pt x="6198" y="450"/>
                    <a:pt x="6177" y="428"/>
                    <a:pt x="6177" y="402"/>
                  </a:cubicBezTo>
                  <a:cubicBezTo>
                    <a:pt x="6177" y="375"/>
                    <a:pt x="6198" y="354"/>
                    <a:pt x="6225" y="354"/>
                  </a:cubicBezTo>
                  <a:cubicBezTo>
                    <a:pt x="6251" y="354"/>
                    <a:pt x="6273" y="375"/>
                    <a:pt x="6273" y="402"/>
                  </a:cubicBezTo>
                  <a:close/>
                  <a:moveTo>
                    <a:pt x="6375" y="402"/>
                  </a:moveTo>
                  <a:cubicBezTo>
                    <a:pt x="6375" y="428"/>
                    <a:pt x="6353" y="450"/>
                    <a:pt x="6327" y="450"/>
                  </a:cubicBezTo>
                  <a:cubicBezTo>
                    <a:pt x="6300" y="450"/>
                    <a:pt x="6279" y="428"/>
                    <a:pt x="6279" y="402"/>
                  </a:cubicBezTo>
                  <a:cubicBezTo>
                    <a:pt x="6279" y="375"/>
                    <a:pt x="6300" y="354"/>
                    <a:pt x="6327" y="354"/>
                  </a:cubicBezTo>
                  <a:cubicBezTo>
                    <a:pt x="6353" y="354"/>
                    <a:pt x="6375" y="375"/>
                    <a:pt x="6375" y="402"/>
                  </a:cubicBezTo>
                  <a:close/>
                  <a:moveTo>
                    <a:pt x="6476" y="402"/>
                  </a:moveTo>
                  <a:cubicBezTo>
                    <a:pt x="6476" y="428"/>
                    <a:pt x="6454" y="450"/>
                    <a:pt x="6428" y="450"/>
                  </a:cubicBezTo>
                  <a:cubicBezTo>
                    <a:pt x="6401" y="450"/>
                    <a:pt x="6380" y="428"/>
                    <a:pt x="6380" y="402"/>
                  </a:cubicBezTo>
                  <a:cubicBezTo>
                    <a:pt x="6380" y="375"/>
                    <a:pt x="6401" y="354"/>
                    <a:pt x="6428" y="354"/>
                  </a:cubicBezTo>
                  <a:cubicBezTo>
                    <a:pt x="6454" y="354"/>
                    <a:pt x="6476" y="375"/>
                    <a:pt x="6476" y="402"/>
                  </a:cubicBezTo>
                  <a:close/>
                  <a:moveTo>
                    <a:pt x="6577" y="402"/>
                  </a:moveTo>
                  <a:cubicBezTo>
                    <a:pt x="6577" y="428"/>
                    <a:pt x="6555" y="450"/>
                    <a:pt x="6529" y="450"/>
                  </a:cubicBezTo>
                  <a:cubicBezTo>
                    <a:pt x="6502" y="450"/>
                    <a:pt x="6481" y="428"/>
                    <a:pt x="6481" y="402"/>
                  </a:cubicBezTo>
                  <a:cubicBezTo>
                    <a:pt x="6481" y="375"/>
                    <a:pt x="6502" y="354"/>
                    <a:pt x="6529" y="354"/>
                  </a:cubicBezTo>
                  <a:cubicBezTo>
                    <a:pt x="6555" y="354"/>
                    <a:pt x="6577" y="375"/>
                    <a:pt x="6577" y="402"/>
                  </a:cubicBezTo>
                  <a:close/>
                  <a:moveTo>
                    <a:pt x="6678" y="402"/>
                  </a:moveTo>
                  <a:cubicBezTo>
                    <a:pt x="6678" y="428"/>
                    <a:pt x="6656" y="450"/>
                    <a:pt x="6630" y="450"/>
                  </a:cubicBezTo>
                  <a:cubicBezTo>
                    <a:pt x="6603" y="450"/>
                    <a:pt x="6582" y="428"/>
                    <a:pt x="6582" y="402"/>
                  </a:cubicBezTo>
                  <a:cubicBezTo>
                    <a:pt x="6582" y="375"/>
                    <a:pt x="6603" y="354"/>
                    <a:pt x="6630" y="354"/>
                  </a:cubicBezTo>
                  <a:cubicBezTo>
                    <a:pt x="6656" y="354"/>
                    <a:pt x="6678" y="375"/>
                    <a:pt x="6678" y="402"/>
                  </a:cubicBezTo>
                  <a:close/>
                  <a:moveTo>
                    <a:pt x="6780" y="402"/>
                  </a:moveTo>
                  <a:cubicBezTo>
                    <a:pt x="6780" y="428"/>
                    <a:pt x="6758" y="450"/>
                    <a:pt x="6732" y="450"/>
                  </a:cubicBezTo>
                  <a:cubicBezTo>
                    <a:pt x="6705" y="450"/>
                    <a:pt x="6684" y="428"/>
                    <a:pt x="6684" y="402"/>
                  </a:cubicBezTo>
                  <a:cubicBezTo>
                    <a:pt x="6684" y="375"/>
                    <a:pt x="6705" y="354"/>
                    <a:pt x="6732" y="354"/>
                  </a:cubicBezTo>
                  <a:cubicBezTo>
                    <a:pt x="6758" y="354"/>
                    <a:pt x="6780" y="375"/>
                    <a:pt x="6780" y="402"/>
                  </a:cubicBezTo>
                  <a:close/>
                  <a:moveTo>
                    <a:pt x="6881" y="402"/>
                  </a:moveTo>
                  <a:cubicBezTo>
                    <a:pt x="6881" y="428"/>
                    <a:pt x="6859" y="450"/>
                    <a:pt x="6833" y="450"/>
                  </a:cubicBezTo>
                  <a:cubicBezTo>
                    <a:pt x="6806" y="450"/>
                    <a:pt x="6785" y="428"/>
                    <a:pt x="6785" y="402"/>
                  </a:cubicBezTo>
                  <a:cubicBezTo>
                    <a:pt x="6785" y="375"/>
                    <a:pt x="6806" y="354"/>
                    <a:pt x="6833" y="354"/>
                  </a:cubicBezTo>
                  <a:cubicBezTo>
                    <a:pt x="6859" y="354"/>
                    <a:pt x="6881" y="375"/>
                    <a:pt x="6881" y="402"/>
                  </a:cubicBezTo>
                  <a:close/>
                  <a:moveTo>
                    <a:pt x="6982" y="402"/>
                  </a:moveTo>
                  <a:cubicBezTo>
                    <a:pt x="6982" y="428"/>
                    <a:pt x="6960" y="450"/>
                    <a:pt x="6934" y="450"/>
                  </a:cubicBezTo>
                  <a:cubicBezTo>
                    <a:pt x="6907" y="450"/>
                    <a:pt x="6886" y="428"/>
                    <a:pt x="6886" y="402"/>
                  </a:cubicBezTo>
                  <a:cubicBezTo>
                    <a:pt x="6886" y="375"/>
                    <a:pt x="6907" y="354"/>
                    <a:pt x="6934" y="354"/>
                  </a:cubicBezTo>
                  <a:cubicBezTo>
                    <a:pt x="6960" y="354"/>
                    <a:pt x="6982" y="375"/>
                    <a:pt x="6982" y="402"/>
                  </a:cubicBezTo>
                  <a:close/>
                  <a:moveTo>
                    <a:pt x="7083" y="402"/>
                  </a:moveTo>
                  <a:cubicBezTo>
                    <a:pt x="7083" y="428"/>
                    <a:pt x="7061" y="450"/>
                    <a:pt x="7035" y="450"/>
                  </a:cubicBezTo>
                  <a:cubicBezTo>
                    <a:pt x="7008" y="450"/>
                    <a:pt x="6987" y="428"/>
                    <a:pt x="6987" y="402"/>
                  </a:cubicBezTo>
                  <a:cubicBezTo>
                    <a:pt x="6987" y="375"/>
                    <a:pt x="7008" y="354"/>
                    <a:pt x="7035" y="354"/>
                  </a:cubicBezTo>
                  <a:cubicBezTo>
                    <a:pt x="7061" y="354"/>
                    <a:pt x="7083" y="375"/>
                    <a:pt x="7083" y="402"/>
                  </a:cubicBezTo>
                  <a:close/>
                  <a:moveTo>
                    <a:pt x="7185" y="402"/>
                  </a:moveTo>
                  <a:cubicBezTo>
                    <a:pt x="7185" y="428"/>
                    <a:pt x="7163" y="450"/>
                    <a:pt x="7137" y="450"/>
                  </a:cubicBezTo>
                  <a:cubicBezTo>
                    <a:pt x="7110" y="450"/>
                    <a:pt x="7089" y="428"/>
                    <a:pt x="7089" y="402"/>
                  </a:cubicBezTo>
                  <a:cubicBezTo>
                    <a:pt x="7089" y="375"/>
                    <a:pt x="7110" y="354"/>
                    <a:pt x="7137" y="354"/>
                  </a:cubicBezTo>
                  <a:cubicBezTo>
                    <a:pt x="7163" y="354"/>
                    <a:pt x="7185" y="375"/>
                    <a:pt x="7185" y="402"/>
                  </a:cubicBezTo>
                  <a:close/>
                  <a:moveTo>
                    <a:pt x="7286" y="402"/>
                  </a:moveTo>
                  <a:cubicBezTo>
                    <a:pt x="7286" y="428"/>
                    <a:pt x="7264" y="450"/>
                    <a:pt x="7238" y="450"/>
                  </a:cubicBezTo>
                  <a:cubicBezTo>
                    <a:pt x="7211" y="450"/>
                    <a:pt x="7190" y="428"/>
                    <a:pt x="7190" y="402"/>
                  </a:cubicBezTo>
                  <a:cubicBezTo>
                    <a:pt x="7190" y="375"/>
                    <a:pt x="7211" y="354"/>
                    <a:pt x="7238" y="354"/>
                  </a:cubicBezTo>
                  <a:cubicBezTo>
                    <a:pt x="7264" y="354"/>
                    <a:pt x="7286" y="375"/>
                    <a:pt x="7286" y="402"/>
                  </a:cubicBezTo>
                  <a:close/>
                  <a:moveTo>
                    <a:pt x="7387" y="402"/>
                  </a:moveTo>
                  <a:cubicBezTo>
                    <a:pt x="7387" y="428"/>
                    <a:pt x="7365" y="450"/>
                    <a:pt x="7339" y="450"/>
                  </a:cubicBezTo>
                  <a:cubicBezTo>
                    <a:pt x="7312" y="450"/>
                    <a:pt x="7291" y="428"/>
                    <a:pt x="7291" y="402"/>
                  </a:cubicBezTo>
                  <a:cubicBezTo>
                    <a:pt x="7291" y="375"/>
                    <a:pt x="7312" y="354"/>
                    <a:pt x="7339" y="354"/>
                  </a:cubicBezTo>
                  <a:cubicBezTo>
                    <a:pt x="7365" y="354"/>
                    <a:pt x="7387" y="375"/>
                    <a:pt x="7387" y="402"/>
                  </a:cubicBezTo>
                  <a:close/>
                  <a:moveTo>
                    <a:pt x="7488" y="402"/>
                  </a:moveTo>
                  <a:cubicBezTo>
                    <a:pt x="7488" y="428"/>
                    <a:pt x="7466" y="450"/>
                    <a:pt x="7440" y="450"/>
                  </a:cubicBezTo>
                  <a:cubicBezTo>
                    <a:pt x="7413" y="450"/>
                    <a:pt x="7392" y="428"/>
                    <a:pt x="7392" y="402"/>
                  </a:cubicBezTo>
                  <a:cubicBezTo>
                    <a:pt x="7392" y="375"/>
                    <a:pt x="7413" y="354"/>
                    <a:pt x="7440" y="354"/>
                  </a:cubicBezTo>
                  <a:cubicBezTo>
                    <a:pt x="7466" y="354"/>
                    <a:pt x="7488" y="375"/>
                    <a:pt x="7488" y="402"/>
                  </a:cubicBezTo>
                  <a:close/>
                  <a:moveTo>
                    <a:pt x="7589" y="402"/>
                  </a:moveTo>
                  <a:cubicBezTo>
                    <a:pt x="7589" y="428"/>
                    <a:pt x="7567" y="450"/>
                    <a:pt x="7541" y="450"/>
                  </a:cubicBezTo>
                  <a:cubicBezTo>
                    <a:pt x="7514" y="450"/>
                    <a:pt x="7493" y="428"/>
                    <a:pt x="7493" y="402"/>
                  </a:cubicBezTo>
                  <a:cubicBezTo>
                    <a:pt x="7493" y="375"/>
                    <a:pt x="7514" y="354"/>
                    <a:pt x="7541" y="354"/>
                  </a:cubicBezTo>
                  <a:cubicBezTo>
                    <a:pt x="7567" y="354"/>
                    <a:pt x="7589" y="375"/>
                    <a:pt x="7589" y="402"/>
                  </a:cubicBezTo>
                  <a:close/>
                  <a:moveTo>
                    <a:pt x="7691" y="402"/>
                  </a:moveTo>
                  <a:cubicBezTo>
                    <a:pt x="7691" y="428"/>
                    <a:pt x="7669" y="450"/>
                    <a:pt x="7643" y="450"/>
                  </a:cubicBezTo>
                  <a:cubicBezTo>
                    <a:pt x="7616" y="450"/>
                    <a:pt x="7595" y="428"/>
                    <a:pt x="7595" y="402"/>
                  </a:cubicBezTo>
                  <a:cubicBezTo>
                    <a:pt x="7595" y="375"/>
                    <a:pt x="7616" y="354"/>
                    <a:pt x="7643" y="354"/>
                  </a:cubicBezTo>
                  <a:cubicBezTo>
                    <a:pt x="7669" y="354"/>
                    <a:pt x="7691" y="375"/>
                    <a:pt x="7691" y="402"/>
                  </a:cubicBezTo>
                  <a:close/>
                  <a:moveTo>
                    <a:pt x="7792" y="402"/>
                  </a:moveTo>
                  <a:cubicBezTo>
                    <a:pt x="7792" y="428"/>
                    <a:pt x="7770" y="450"/>
                    <a:pt x="7744" y="450"/>
                  </a:cubicBezTo>
                  <a:cubicBezTo>
                    <a:pt x="7717" y="450"/>
                    <a:pt x="7696" y="428"/>
                    <a:pt x="7696" y="402"/>
                  </a:cubicBezTo>
                  <a:cubicBezTo>
                    <a:pt x="7696" y="375"/>
                    <a:pt x="7717" y="354"/>
                    <a:pt x="7744" y="354"/>
                  </a:cubicBezTo>
                  <a:cubicBezTo>
                    <a:pt x="7770" y="354"/>
                    <a:pt x="7792" y="375"/>
                    <a:pt x="7792" y="402"/>
                  </a:cubicBezTo>
                  <a:close/>
                  <a:moveTo>
                    <a:pt x="7893" y="402"/>
                  </a:moveTo>
                  <a:cubicBezTo>
                    <a:pt x="7893" y="428"/>
                    <a:pt x="7871" y="450"/>
                    <a:pt x="7845" y="450"/>
                  </a:cubicBezTo>
                  <a:cubicBezTo>
                    <a:pt x="7818" y="450"/>
                    <a:pt x="7797" y="428"/>
                    <a:pt x="7797" y="402"/>
                  </a:cubicBezTo>
                  <a:cubicBezTo>
                    <a:pt x="7797" y="375"/>
                    <a:pt x="7818" y="354"/>
                    <a:pt x="7845" y="354"/>
                  </a:cubicBezTo>
                  <a:cubicBezTo>
                    <a:pt x="7871" y="354"/>
                    <a:pt x="7893" y="375"/>
                    <a:pt x="7893" y="402"/>
                  </a:cubicBezTo>
                  <a:close/>
                  <a:moveTo>
                    <a:pt x="7994" y="402"/>
                  </a:moveTo>
                  <a:cubicBezTo>
                    <a:pt x="7994" y="428"/>
                    <a:pt x="7972" y="450"/>
                    <a:pt x="7946" y="450"/>
                  </a:cubicBezTo>
                  <a:cubicBezTo>
                    <a:pt x="7919" y="450"/>
                    <a:pt x="7898" y="428"/>
                    <a:pt x="7898" y="402"/>
                  </a:cubicBezTo>
                  <a:cubicBezTo>
                    <a:pt x="7898" y="375"/>
                    <a:pt x="7919" y="354"/>
                    <a:pt x="7946" y="354"/>
                  </a:cubicBezTo>
                  <a:cubicBezTo>
                    <a:pt x="7972" y="354"/>
                    <a:pt x="7994" y="375"/>
                    <a:pt x="7994" y="402"/>
                  </a:cubicBezTo>
                  <a:close/>
                  <a:moveTo>
                    <a:pt x="8096" y="402"/>
                  </a:moveTo>
                  <a:cubicBezTo>
                    <a:pt x="8096" y="428"/>
                    <a:pt x="8074" y="450"/>
                    <a:pt x="8048" y="450"/>
                  </a:cubicBezTo>
                  <a:cubicBezTo>
                    <a:pt x="8021" y="450"/>
                    <a:pt x="8000" y="428"/>
                    <a:pt x="8000" y="402"/>
                  </a:cubicBezTo>
                  <a:cubicBezTo>
                    <a:pt x="8000" y="375"/>
                    <a:pt x="8021" y="354"/>
                    <a:pt x="8048" y="354"/>
                  </a:cubicBezTo>
                  <a:cubicBezTo>
                    <a:pt x="8074" y="354"/>
                    <a:pt x="8096" y="375"/>
                    <a:pt x="8096" y="402"/>
                  </a:cubicBezTo>
                  <a:close/>
                  <a:moveTo>
                    <a:pt x="8197" y="402"/>
                  </a:moveTo>
                  <a:cubicBezTo>
                    <a:pt x="8197" y="428"/>
                    <a:pt x="8175" y="450"/>
                    <a:pt x="8149" y="450"/>
                  </a:cubicBezTo>
                  <a:cubicBezTo>
                    <a:pt x="8122" y="450"/>
                    <a:pt x="8101" y="428"/>
                    <a:pt x="8101" y="402"/>
                  </a:cubicBezTo>
                  <a:cubicBezTo>
                    <a:pt x="8101" y="375"/>
                    <a:pt x="8122" y="354"/>
                    <a:pt x="8149" y="354"/>
                  </a:cubicBezTo>
                  <a:cubicBezTo>
                    <a:pt x="8175" y="354"/>
                    <a:pt x="8197" y="375"/>
                    <a:pt x="8197" y="40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274320" y="2926080"/>
              <a:ext cx="7498080" cy="411480"/>
            </a:xfrm>
            <a:custGeom>
              <a:avLst/>
              <a:gdLst/>
              <a:ahLst/>
              <a:cxnLst/>
              <a:rect l="0" t="0" r="r" b="b"/>
              <a:pathLst>
                <a:path w="8200" h="450" fill="none">
                  <a:moveTo>
                    <a:pt x="34" y="96"/>
                  </a:moveTo>
                  <a:lnTo>
                    <a:pt x="34" y="215"/>
                  </a:lnTo>
                </a:path>
                <a:path w="8200" h="450" fill="none">
                  <a:moveTo>
                    <a:pt x="66" y="96"/>
                  </a:moveTo>
                  <a:lnTo>
                    <a:pt x="66" y="215"/>
                  </a:lnTo>
                </a:path>
                <a:path w="8200" h="450" fill="none">
                  <a:moveTo>
                    <a:pt x="34" y="354"/>
                  </a:moveTo>
                  <a:lnTo>
                    <a:pt x="34" y="235"/>
                  </a:lnTo>
                </a:path>
                <a:path w="8200" h="450" fill="none">
                  <a:moveTo>
                    <a:pt x="66" y="354"/>
                  </a:moveTo>
                  <a:lnTo>
                    <a:pt x="66" y="235"/>
                  </a:lnTo>
                </a:path>
                <a:path w="8200" h="450" fill="none">
                  <a:moveTo>
                    <a:pt x="135" y="96"/>
                  </a:moveTo>
                  <a:lnTo>
                    <a:pt x="135" y="215"/>
                  </a:lnTo>
                </a:path>
                <a:path w="8200" h="450" fill="none">
                  <a:moveTo>
                    <a:pt x="167" y="96"/>
                  </a:moveTo>
                  <a:lnTo>
                    <a:pt x="167" y="215"/>
                  </a:lnTo>
                </a:path>
                <a:path w="8200" h="450" fill="none">
                  <a:moveTo>
                    <a:pt x="135" y="354"/>
                  </a:moveTo>
                  <a:lnTo>
                    <a:pt x="135" y="235"/>
                  </a:lnTo>
                </a:path>
                <a:path w="8200" h="450" fill="none">
                  <a:moveTo>
                    <a:pt x="167" y="354"/>
                  </a:moveTo>
                  <a:lnTo>
                    <a:pt x="167" y="235"/>
                  </a:lnTo>
                </a:path>
                <a:path w="8200" h="450" fill="none">
                  <a:moveTo>
                    <a:pt x="237" y="96"/>
                  </a:moveTo>
                  <a:lnTo>
                    <a:pt x="237" y="215"/>
                  </a:lnTo>
                </a:path>
                <a:path w="8200" h="450" fill="none">
                  <a:moveTo>
                    <a:pt x="269" y="96"/>
                  </a:moveTo>
                  <a:lnTo>
                    <a:pt x="269" y="215"/>
                  </a:lnTo>
                </a:path>
                <a:path w="8200" h="450" fill="none">
                  <a:moveTo>
                    <a:pt x="237" y="354"/>
                  </a:moveTo>
                  <a:lnTo>
                    <a:pt x="237" y="235"/>
                  </a:lnTo>
                </a:path>
                <a:path w="8200" h="450" fill="none">
                  <a:moveTo>
                    <a:pt x="269" y="354"/>
                  </a:moveTo>
                  <a:lnTo>
                    <a:pt x="269" y="235"/>
                  </a:lnTo>
                </a:path>
                <a:path w="8200" h="450" fill="none">
                  <a:moveTo>
                    <a:pt x="338" y="96"/>
                  </a:moveTo>
                  <a:lnTo>
                    <a:pt x="338" y="215"/>
                  </a:lnTo>
                </a:path>
                <a:path w="8200" h="450" fill="none">
                  <a:moveTo>
                    <a:pt x="370" y="96"/>
                  </a:moveTo>
                  <a:lnTo>
                    <a:pt x="370" y="215"/>
                  </a:lnTo>
                </a:path>
                <a:path w="8200" h="450" fill="none">
                  <a:moveTo>
                    <a:pt x="338" y="354"/>
                  </a:moveTo>
                  <a:lnTo>
                    <a:pt x="338" y="235"/>
                  </a:lnTo>
                </a:path>
                <a:path w="8200" h="450" fill="none">
                  <a:moveTo>
                    <a:pt x="370" y="354"/>
                  </a:moveTo>
                  <a:lnTo>
                    <a:pt x="370" y="235"/>
                  </a:lnTo>
                </a:path>
                <a:path w="8200" h="450" fill="none">
                  <a:moveTo>
                    <a:pt x="439" y="96"/>
                  </a:moveTo>
                  <a:lnTo>
                    <a:pt x="439" y="215"/>
                  </a:lnTo>
                </a:path>
                <a:path w="8200" h="450" fill="none">
                  <a:moveTo>
                    <a:pt x="471" y="96"/>
                  </a:moveTo>
                  <a:lnTo>
                    <a:pt x="471" y="215"/>
                  </a:lnTo>
                </a:path>
                <a:path w="8200" h="450" fill="none">
                  <a:moveTo>
                    <a:pt x="439" y="354"/>
                  </a:moveTo>
                  <a:lnTo>
                    <a:pt x="439" y="235"/>
                  </a:lnTo>
                </a:path>
                <a:path w="8200" h="450" fill="none">
                  <a:moveTo>
                    <a:pt x="471" y="354"/>
                  </a:moveTo>
                  <a:lnTo>
                    <a:pt x="471" y="235"/>
                  </a:lnTo>
                </a:path>
                <a:path w="8200" h="450" fill="none">
                  <a:moveTo>
                    <a:pt x="540" y="96"/>
                  </a:moveTo>
                  <a:lnTo>
                    <a:pt x="540" y="215"/>
                  </a:lnTo>
                </a:path>
                <a:path w="8200" h="450" fill="none">
                  <a:moveTo>
                    <a:pt x="572" y="96"/>
                  </a:moveTo>
                  <a:lnTo>
                    <a:pt x="572" y="215"/>
                  </a:lnTo>
                </a:path>
                <a:path w="8200" h="450" fill="none">
                  <a:moveTo>
                    <a:pt x="540" y="354"/>
                  </a:moveTo>
                  <a:lnTo>
                    <a:pt x="540" y="235"/>
                  </a:lnTo>
                </a:path>
                <a:path w="8200" h="450" fill="none">
                  <a:moveTo>
                    <a:pt x="572" y="354"/>
                  </a:moveTo>
                  <a:lnTo>
                    <a:pt x="572" y="235"/>
                  </a:lnTo>
                </a:path>
                <a:path w="8200" h="450" fill="none">
                  <a:moveTo>
                    <a:pt x="642" y="96"/>
                  </a:moveTo>
                  <a:lnTo>
                    <a:pt x="642" y="215"/>
                  </a:lnTo>
                </a:path>
                <a:path w="8200" h="450" fill="none">
                  <a:moveTo>
                    <a:pt x="674" y="96"/>
                  </a:moveTo>
                  <a:lnTo>
                    <a:pt x="674" y="215"/>
                  </a:lnTo>
                </a:path>
                <a:path w="8200" h="450" fill="none">
                  <a:moveTo>
                    <a:pt x="642" y="354"/>
                  </a:moveTo>
                  <a:lnTo>
                    <a:pt x="642" y="235"/>
                  </a:lnTo>
                </a:path>
                <a:path w="8200" h="450" fill="none">
                  <a:moveTo>
                    <a:pt x="674" y="354"/>
                  </a:moveTo>
                  <a:lnTo>
                    <a:pt x="674" y="235"/>
                  </a:lnTo>
                </a:path>
                <a:path w="8200" h="450" fill="none">
                  <a:moveTo>
                    <a:pt x="743" y="96"/>
                  </a:moveTo>
                  <a:lnTo>
                    <a:pt x="743" y="215"/>
                  </a:lnTo>
                </a:path>
                <a:path w="8200" h="450" fill="none">
                  <a:moveTo>
                    <a:pt x="775" y="96"/>
                  </a:moveTo>
                  <a:lnTo>
                    <a:pt x="775" y="215"/>
                  </a:lnTo>
                </a:path>
                <a:path w="8200" h="450" fill="none">
                  <a:moveTo>
                    <a:pt x="743" y="354"/>
                  </a:moveTo>
                  <a:lnTo>
                    <a:pt x="743" y="235"/>
                  </a:lnTo>
                </a:path>
                <a:path w="8200" h="450" fill="none">
                  <a:moveTo>
                    <a:pt x="775" y="354"/>
                  </a:moveTo>
                  <a:lnTo>
                    <a:pt x="775" y="235"/>
                  </a:lnTo>
                </a:path>
                <a:path w="8200" h="450" fill="none">
                  <a:moveTo>
                    <a:pt x="844" y="96"/>
                  </a:moveTo>
                  <a:lnTo>
                    <a:pt x="844" y="215"/>
                  </a:lnTo>
                </a:path>
                <a:path w="8200" h="450" fill="none">
                  <a:moveTo>
                    <a:pt x="876" y="96"/>
                  </a:moveTo>
                  <a:lnTo>
                    <a:pt x="876" y="215"/>
                  </a:lnTo>
                </a:path>
                <a:path w="8200" h="450" fill="none">
                  <a:moveTo>
                    <a:pt x="844" y="354"/>
                  </a:moveTo>
                  <a:lnTo>
                    <a:pt x="844" y="235"/>
                  </a:lnTo>
                </a:path>
                <a:path w="8200" h="450" fill="none">
                  <a:moveTo>
                    <a:pt x="876" y="354"/>
                  </a:moveTo>
                  <a:lnTo>
                    <a:pt x="876" y="235"/>
                  </a:lnTo>
                </a:path>
                <a:path w="8200" h="450" fill="none">
                  <a:moveTo>
                    <a:pt x="945" y="96"/>
                  </a:moveTo>
                  <a:lnTo>
                    <a:pt x="945" y="215"/>
                  </a:lnTo>
                </a:path>
                <a:path w="8200" h="450" fill="none">
                  <a:moveTo>
                    <a:pt x="977" y="96"/>
                  </a:moveTo>
                  <a:lnTo>
                    <a:pt x="977" y="215"/>
                  </a:lnTo>
                </a:path>
                <a:path w="8200" h="450" fill="none">
                  <a:moveTo>
                    <a:pt x="945" y="354"/>
                  </a:moveTo>
                  <a:lnTo>
                    <a:pt x="945" y="235"/>
                  </a:lnTo>
                </a:path>
                <a:path w="8200" h="450" fill="none">
                  <a:moveTo>
                    <a:pt x="977" y="354"/>
                  </a:moveTo>
                  <a:lnTo>
                    <a:pt x="977" y="235"/>
                  </a:lnTo>
                </a:path>
                <a:path w="8200" h="450" fill="none">
                  <a:moveTo>
                    <a:pt x="1046" y="96"/>
                  </a:moveTo>
                  <a:lnTo>
                    <a:pt x="1046" y="215"/>
                  </a:lnTo>
                </a:path>
                <a:path w="8200" h="450" fill="none">
                  <a:moveTo>
                    <a:pt x="1078" y="96"/>
                  </a:moveTo>
                  <a:lnTo>
                    <a:pt x="1078" y="215"/>
                  </a:lnTo>
                </a:path>
                <a:path w="8200" h="450" fill="none">
                  <a:moveTo>
                    <a:pt x="1046" y="354"/>
                  </a:moveTo>
                  <a:lnTo>
                    <a:pt x="1046" y="235"/>
                  </a:lnTo>
                </a:path>
                <a:path w="8200" h="450" fill="none">
                  <a:moveTo>
                    <a:pt x="1078" y="354"/>
                  </a:moveTo>
                  <a:lnTo>
                    <a:pt x="1078" y="235"/>
                  </a:lnTo>
                </a:path>
                <a:path w="8200" h="450" fill="none">
                  <a:moveTo>
                    <a:pt x="1148" y="96"/>
                  </a:moveTo>
                  <a:lnTo>
                    <a:pt x="1148" y="215"/>
                  </a:lnTo>
                </a:path>
                <a:path w="8200" h="450" fill="none">
                  <a:moveTo>
                    <a:pt x="1180" y="96"/>
                  </a:moveTo>
                  <a:lnTo>
                    <a:pt x="1180" y="215"/>
                  </a:lnTo>
                </a:path>
                <a:path w="8200" h="450" fill="none">
                  <a:moveTo>
                    <a:pt x="1148" y="354"/>
                  </a:moveTo>
                  <a:lnTo>
                    <a:pt x="1148" y="235"/>
                  </a:lnTo>
                </a:path>
                <a:path w="8200" h="450" fill="none">
                  <a:moveTo>
                    <a:pt x="1180" y="354"/>
                  </a:moveTo>
                  <a:lnTo>
                    <a:pt x="1180" y="235"/>
                  </a:lnTo>
                </a:path>
                <a:path w="8200" h="450" fill="none">
                  <a:moveTo>
                    <a:pt x="1249" y="96"/>
                  </a:moveTo>
                  <a:lnTo>
                    <a:pt x="1249" y="215"/>
                  </a:lnTo>
                </a:path>
                <a:path w="8200" h="450" fill="none">
                  <a:moveTo>
                    <a:pt x="1281" y="96"/>
                  </a:moveTo>
                  <a:lnTo>
                    <a:pt x="1281" y="215"/>
                  </a:lnTo>
                </a:path>
                <a:path w="8200" h="450" fill="none">
                  <a:moveTo>
                    <a:pt x="1249" y="354"/>
                  </a:moveTo>
                  <a:lnTo>
                    <a:pt x="1249" y="235"/>
                  </a:lnTo>
                </a:path>
                <a:path w="8200" h="450" fill="none">
                  <a:moveTo>
                    <a:pt x="1281" y="354"/>
                  </a:moveTo>
                  <a:lnTo>
                    <a:pt x="1281" y="235"/>
                  </a:lnTo>
                </a:path>
                <a:path w="8200" h="450" fill="none">
                  <a:moveTo>
                    <a:pt x="1350" y="96"/>
                  </a:moveTo>
                  <a:lnTo>
                    <a:pt x="1350" y="215"/>
                  </a:lnTo>
                </a:path>
                <a:path w="8200" h="450" fill="none">
                  <a:moveTo>
                    <a:pt x="1382" y="96"/>
                  </a:moveTo>
                  <a:lnTo>
                    <a:pt x="1382" y="215"/>
                  </a:lnTo>
                </a:path>
                <a:path w="8200" h="450" fill="none">
                  <a:moveTo>
                    <a:pt x="1350" y="354"/>
                  </a:moveTo>
                  <a:lnTo>
                    <a:pt x="1350" y="235"/>
                  </a:lnTo>
                </a:path>
                <a:path w="8200" h="450" fill="none">
                  <a:moveTo>
                    <a:pt x="1382" y="354"/>
                  </a:moveTo>
                  <a:lnTo>
                    <a:pt x="1382" y="235"/>
                  </a:lnTo>
                </a:path>
                <a:path w="8200" h="450" fill="none">
                  <a:moveTo>
                    <a:pt x="1451" y="96"/>
                  </a:moveTo>
                  <a:lnTo>
                    <a:pt x="1451" y="215"/>
                  </a:lnTo>
                </a:path>
                <a:path w="8200" h="450" fill="none">
                  <a:moveTo>
                    <a:pt x="1483" y="96"/>
                  </a:moveTo>
                  <a:lnTo>
                    <a:pt x="1483" y="215"/>
                  </a:lnTo>
                </a:path>
                <a:path w="8200" h="450" fill="none">
                  <a:moveTo>
                    <a:pt x="1451" y="354"/>
                  </a:moveTo>
                  <a:lnTo>
                    <a:pt x="1451" y="235"/>
                  </a:lnTo>
                </a:path>
                <a:path w="8200" h="450" fill="none">
                  <a:moveTo>
                    <a:pt x="1483" y="354"/>
                  </a:moveTo>
                  <a:lnTo>
                    <a:pt x="1483" y="235"/>
                  </a:lnTo>
                </a:path>
                <a:path w="8200" h="450" fill="none">
                  <a:moveTo>
                    <a:pt x="1553" y="96"/>
                  </a:moveTo>
                  <a:lnTo>
                    <a:pt x="1553" y="215"/>
                  </a:lnTo>
                </a:path>
                <a:path w="8200" h="450" fill="none">
                  <a:moveTo>
                    <a:pt x="1585" y="96"/>
                  </a:moveTo>
                  <a:lnTo>
                    <a:pt x="1585" y="215"/>
                  </a:lnTo>
                </a:path>
                <a:path w="8200" h="450" fill="none">
                  <a:moveTo>
                    <a:pt x="1553" y="354"/>
                  </a:moveTo>
                  <a:lnTo>
                    <a:pt x="1553" y="235"/>
                  </a:lnTo>
                </a:path>
                <a:path w="8200" h="450" fill="none">
                  <a:moveTo>
                    <a:pt x="1585" y="354"/>
                  </a:moveTo>
                  <a:lnTo>
                    <a:pt x="1585" y="235"/>
                  </a:lnTo>
                </a:path>
                <a:path w="8200" h="450" fill="none">
                  <a:moveTo>
                    <a:pt x="1654" y="96"/>
                  </a:moveTo>
                  <a:lnTo>
                    <a:pt x="1654" y="215"/>
                  </a:lnTo>
                </a:path>
                <a:path w="8200" h="450" fill="none">
                  <a:moveTo>
                    <a:pt x="1686" y="96"/>
                  </a:moveTo>
                  <a:lnTo>
                    <a:pt x="1686" y="215"/>
                  </a:lnTo>
                </a:path>
                <a:path w="8200" h="450" fill="none">
                  <a:moveTo>
                    <a:pt x="1654" y="354"/>
                  </a:moveTo>
                  <a:lnTo>
                    <a:pt x="1654" y="235"/>
                  </a:lnTo>
                </a:path>
                <a:path w="8200" h="450" fill="none">
                  <a:moveTo>
                    <a:pt x="1686" y="354"/>
                  </a:moveTo>
                  <a:lnTo>
                    <a:pt x="1686" y="235"/>
                  </a:lnTo>
                </a:path>
                <a:path w="8200" h="450" fill="none">
                  <a:moveTo>
                    <a:pt x="1755" y="96"/>
                  </a:moveTo>
                  <a:lnTo>
                    <a:pt x="1755" y="215"/>
                  </a:lnTo>
                </a:path>
                <a:path w="8200" h="450" fill="none">
                  <a:moveTo>
                    <a:pt x="1787" y="96"/>
                  </a:moveTo>
                  <a:lnTo>
                    <a:pt x="1787" y="215"/>
                  </a:lnTo>
                </a:path>
                <a:path w="8200" h="450" fill="none">
                  <a:moveTo>
                    <a:pt x="1755" y="354"/>
                  </a:moveTo>
                  <a:lnTo>
                    <a:pt x="1755" y="235"/>
                  </a:lnTo>
                </a:path>
                <a:path w="8200" h="450" fill="none">
                  <a:moveTo>
                    <a:pt x="1787" y="354"/>
                  </a:moveTo>
                  <a:lnTo>
                    <a:pt x="1787" y="235"/>
                  </a:lnTo>
                </a:path>
                <a:path w="8200" h="450" fill="none">
                  <a:moveTo>
                    <a:pt x="1856" y="96"/>
                  </a:moveTo>
                  <a:lnTo>
                    <a:pt x="1856" y="215"/>
                  </a:lnTo>
                </a:path>
                <a:path w="8200" h="450" fill="none">
                  <a:moveTo>
                    <a:pt x="1888" y="96"/>
                  </a:moveTo>
                  <a:lnTo>
                    <a:pt x="1888" y="215"/>
                  </a:lnTo>
                </a:path>
                <a:path w="8200" h="450" fill="none">
                  <a:moveTo>
                    <a:pt x="1856" y="354"/>
                  </a:moveTo>
                  <a:lnTo>
                    <a:pt x="1856" y="235"/>
                  </a:lnTo>
                </a:path>
                <a:path w="8200" h="450" fill="none">
                  <a:moveTo>
                    <a:pt x="1888" y="354"/>
                  </a:moveTo>
                  <a:lnTo>
                    <a:pt x="1888" y="235"/>
                  </a:lnTo>
                </a:path>
                <a:path w="8200" h="450" fill="none">
                  <a:moveTo>
                    <a:pt x="1958" y="96"/>
                  </a:moveTo>
                  <a:lnTo>
                    <a:pt x="1958" y="215"/>
                  </a:lnTo>
                </a:path>
                <a:path w="8200" h="450" fill="none">
                  <a:moveTo>
                    <a:pt x="1990" y="96"/>
                  </a:moveTo>
                  <a:lnTo>
                    <a:pt x="1990" y="215"/>
                  </a:lnTo>
                </a:path>
                <a:path w="8200" h="450" fill="none">
                  <a:moveTo>
                    <a:pt x="1958" y="354"/>
                  </a:moveTo>
                  <a:lnTo>
                    <a:pt x="1958" y="235"/>
                  </a:lnTo>
                </a:path>
                <a:path w="8200" h="450" fill="none">
                  <a:moveTo>
                    <a:pt x="1990" y="354"/>
                  </a:moveTo>
                  <a:lnTo>
                    <a:pt x="1990" y="235"/>
                  </a:lnTo>
                </a:path>
                <a:path w="8200" h="450" fill="none">
                  <a:moveTo>
                    <a:pt x="2059" y="96"/>
                  </a:moveTo>
                  <a:lnTo>
                    <a:pt x="2059" y="215"/>
                  </a:lnTo>
                </a:path>
                <a:path w="8200" h="450" fill="none">
                  <a:moveTo>
                    <a:pt x="2091" y="96"/>
                  </a:moveTo>
                  <a:lnTo>
                    <a:pt x="2091" y="215"/>
                  </a:lnTo>
                </a:path>
                <a:path w="8200" h="450" fill="none">
                  <a:moveTo>
                    <a:pt x="2059" y="354"/>
                  </a:moveTo>
                  <a:lnTo>
                    <a:pt x="2059" y="235"/>
                  </a:lnTo>
                </a:path>
                <a:path w="8200" h="450" fill="none">
                  <a:moveTo>
                    <a:pt x="2091" y="354"/>
                  </a:moveTo>
                  <a:lnTo>
                    <a:pt x="2091" y="235"/>
                  </a:lnTo>
                </a:path>
                <a:path w="8200" h="450" fill="none">
                  <a:moveTo>
                    <a:pt x="2160" y="96"/>
                  </a:moveTo>
                  <a:lnTo>
                    <a:pt x="2160" y="215"/>
                  </a:lnTo>
                </a:path>
                <a:path w="8200" h="450" fill="none">
                  <a:moveTo>
                    <a:pt x="2192" y="96"/>
                  </a:moveTo>
                  <a:lnTo>
                    <a:pt x="2192" y="215"/>
                  </a:lnTo>
                </a:path>
                <a:path w="8200" h="450" fill="none">
                  <a:moveTo>
                    <a:pt x="2160" y="354"/>
                  </a:moveTo>
                  <a:lnTo>
                    <a:pt x="2160" y="235"/>
                  </a:lnTo>
                </a:path>
                <a:path w="8200" h="450" fill="none">
                  <a:moveTo>
                    <a:pt x="2192" y="354"/>
                  </a:moveTo>
                  <a:lnTo>
                    <a:pt x="2192" y="235"/>
                  </a:lnTo>
                </a:path>
                <a:path w="8200" h="450" fill="none">
                  <a:moveTo>
                    <a:pt x="2261" y="96"/>
                  </a:moveTo>
                  <a:lnTo>
                    <a:pt x="2261" y="215"/>
                  </a:lnTo>
                </a:path>
                <a:path w="8200" h="450" fill="none">
                  <a:moveTo>
                    <a:pt x="2293" y="96"/>
                  </a:moveTo>
                  <a:lnTo>
                    <a:pt x="2293" y="215"/>
                  </a:lnTo>
                </a:path>
                <a:path w="8200" h="450" fill="none">
                  <a:moveTo>
                    <a:pt x="2261" y="354"/>
                  </a:moveTo>
                  <a:lnTo>
                    <a:pt x="2261" y="235"/>
                  </a:lnTo>
                </a:path>
                <a:path w="8200" h="450" fill="none">
                  <a:moveTo>
                    <a:pt x="2293" y="354"/>
                  </a:moveTo>
                  <a:lnTo>
                    <a:pt x="2293" y="235"/>
                  </a:lnTo>
                </a:path>
                <a:path w="8200" h="450" fill="none">
                  <a:moveTo>
                    <a:pt x="2363" y="96"/>
                  </a:moveTo>
                  <a:lnTo>
                    <a:pt x="2363" y="215"/>
                  </a:lnTo>
                </a:path>
                <a:path w="8200" h="450" fill="none">
                  <a:moveTo>
                    <a:pt x="2395" y="96"/>
                  </a:moveTo>
                  <a:lnTo>
                    <a:pt x="2395" y="215"/>
                  </a:lnTo>
                </a:path>
                <a:path w="8200" h="450" fill="none">
                  <a:moveTo>
                    <a:pt x="2363" y="354"/>
                  </a:moveTo>
                  <a:lnTo>
                    <a:pt x="2363" y="235"/>
                  </a:lnTo>
                </a:path>
                <a:path w="8200" h="450" fill="none">
                  <a:moveTo>
                    <a:pt x="2395" y="354"/>
                  </a:moveTo>
                  <a:lnTo>
                    <a:pt x="2395" y="235"/>
                  </a:lnTo>
                </a:path>
                <a:path w="8200" h="450" fill="none">
                  <a:moveTo>
                    <a:pt x="2464" y="96"/>
                  </a:moveTo>
                  <a:lnTo>
                    <a:pt x="2464" y="215"/>
                  </a:lnTo>
                </a:path>
                <a:path w="8200" h="450" fill="none">
                  <a:moveTo>
                    <a:pt x="2496" y="96"/>
                  </a:moveTo>
                  <a:lnTo>
                    <a:pt x="2496" y="215"/>
                  </a:lnTo>
                </a:path>
                <a:path w="8200" h="450" fill="none">
                  <a:moveTo>
                    <a:pt x="2464" y="354"/>
                  </a:moveTo>
                  <a:lnTo>
                    <a:pt x="2464" y="235"/>
                  </a:lnTo>
                </a:path>
                <a:path w="8200" h="450" fill="none">
                  <a:moveTo>
                    <a:pt x="2496" y="354"/>
                  </a:moveTo>
                  <a:lnTo>
                    <a:pt x="2496" y="235"/>
                  </a:lnTo>
                </a:path>
                <a:path w="8200" h="450" fill="none">
                  <a:moveTo>
                    <a:pt x="2565" y="96"/>
                  </a:moveTo>
                  <a:lnTo>
                    <a:pt x="2565" y="215"/>
                  </a:lnTo>
                </a:path>
                <a:path w="8200" h="450" fill="none">
                  <a:moveTo>
                    <a:pt x="2597" y="96"/>
                  </a:moveTo>
                  <a:lnTo>
                    <a:pt x="2597" y="215"/>
                  </a:lnTo>
                </a:path>
                <a:path w="8200" h="450" fill="none">
                  <a:moveTo>
                    <a:pt x="2565" y="354"/>
                  </a:moveTo>
                  <a:lnTo>
                    <a:pt x="2565" y="235"/>
                  </a:lnTo>
                </a:path>
                <a:path w="8200" h="450" fill="none">
                  <a:moveTo>
                    <a:pt x="2597" y="354"/>
                  </a:moveTo>
                  <a:lnTo>
                    <a:pt x="2597" y="235"/>
                  </a:lnTo>
                </a:path>
                <a:path w="8200" h="450" fill="none">
                  <a:moveTo>
                    <a:pt x="2666" y="96"/>
                  </a:moveTo>
                  <a:lnTo>
                    <a:pt x="2666" y="215"/>
                  </a:lnTo>
                </a:path>
                <a:path w="8200" h="450" fill="none">
                  <a:moveTo>
                    <a:pt x="2698" y="96"/>
                  </a:moveTo>
                  <a:lnTo>
                    <a:pt x="2698" y="215"/>
                  </a:lnTo>
                </a:path>
                <a:path w="8200" h="450" fill="none">
                  <a:moveTo>
                    <a:pt x="2666" y="354"/>
                  </a:moveTo>
                  <a:lnTo>
                    <a:pt x="2666" y="235"/>
                  </a:lnTo>
                </a:path>
                <a:path w="8200" h="450" fill="none">
                  <a:moveTo>
                    <a:pt x="2698" y="354"/>
                  </a:moveTo>
                  <a:lnTo>
                    <a:pt x="2698" y="235"/>
                  </a:lnTo>
                </a:path>
                <a:path w="8200" h="450" fill="none">
                  <a:moveTo>
                    <a:pt x="2767" y="96"/>
                  </a:moveTo>
                  <a:lnTo>
                    <a:pt x="2767" y="215"/>
                  </a:lnTo>
                </a:path>
                <a:path w="8200" h="450" fill="none">
                  <a:moveTo>
                    <a:pt x="2799" y="96"/>
                  </a:moveTo>
                  <a:lnTo>
                    <a:pt x="2799" y="215"/>
                  </a:lnTo>
                </a:path>
                <a:path w="8200" h="450" fill="none">
                  <a:moveTo>
                    <a:pt x="2767" y="354"/>
                  </a:moveTo>
                  <a:lnTo>
                    <a:pt x="2767" y="235"/>
                  </a:lnTo>
                </a:path>
                <a:path w="8200" h="450" fill="none">
                  <a:moveTo>
                    <a:pt x="2799" y="354"/>
                  </a:moveTo>
                  <a:lnTo>
                    <a:pt x="2799" y="235"/>
                  </a:lnTo>
                </a:path>
                <a:path w="8200" h="450" fill="none">
                  <a:moveTo>
                    <a:pt x="2869" y="96"/>
                  </a:moveTo>
                  <a:lnTo>
                    <a:pt x="2869" y="215"/>
                  </a:lnTo>
                </a:path>
                <a:path w="8200" h="450" fill="none">
                  <a:moveTo>
                    <a:pt x="2901" y="96"/>
                  </a:moveTo>
                  <a:lnTo>
                    <a:pt x="2901" y="215"/>
                  </a:lnTo>
                </a:path>
                <a:path w="8200" h="450" fill="none">
                  <a:moveTo>
                    <a:pt x="2869" y="354"/>
                  </a:moveTo>
                  <a:lnTo>
                    <a:pt x="2869" y="235"/>
                  </a:lnTo>
                </a:path>
                <a:path w="8200" h="450" fill="none">
                  <a:moveTo>
                    <a:pt x="2901" y="354"/>
                  </a:moveTo>
                  <a:lnTo>
                    <a:pt x="2901" y="235"/>
                  </a:lnTo>
                </a:path>
                <a:path w="8200" h="450" fill="none">
                  <a:moveTo>
                    <a:pt x="2970" y="96"/>
                  </a:moveTo>
                  <a:lnTo>
                    <a:pt x="2970" y="215"/>
                  </a:lnTo>
                </a:path>
                <a:path w="8200" h="450" fill="none">
                  <a:moveTo>
                    <a:pt x="3002" y="96"/>
                  </a:moveTo>
                  <a:lnTo>
                    <a:pt x="3002" y="215"/>
                  </a:lnTo>
                </a:path>
                <a:path w="8200" h="450" fill="none">
                  <a:moveTo>
                    <a:pt x="2970" y="354"/>
                  </a:moveTo>
                  <a:lnTo>
                    <a:pt x="2970" y="235"/>
                  </a:lnTo>
                </a:path>
                <a:path w="8200" h="450" fill="none">
                  <a:moveTo>
                    <a:pt x="3002" y="354"/>
                  </a:moveTo>
                  <a:lnTo>
                    <a:pt x="3002" y="235"/>
                  </a:lnTo>
                </a:path>
                <a:path w="8200" h="450" fill="none">
                  <a:moveTo>
                    <a:pt x="3071" y="96"/>
                  </a:moveTo>
                  <a:lnTo>
                    <a:pt x="3071" y="215"/>
                  </a:lnTo>
                </a:path>
                <a:path w="8200" h="450" fill="none">
                  <a:moveTo>
                    <a:pt x="3103" y="96"/>
                  </a:moveTo>
                  <a:lnTo>
                    <a:pt x="3103" y="215"/>
                  </a:lnTo>
                </a:path>
                <a:path w="8200" h="450" fill="none">
                  <a:moveTo>
                    <a:pt x="3071" y="354"/>
                  </a:moveTo>
                  <a:lnTo>
                    <a:pt x="3071" y="235"/>
                  </a:lnTo>
                </a:path>
                <a:path w="8200" h="450" fill="none">
                  <a:moveTo>
                    <a:pt x="3103" y="354"/>
                  </a:moveTo>
                  <a:lnTo>
                    <a:pt x="3103" y="235"/>
                  </a:lnTo>
                </a:path>
                <a:path w="8200" h="450" fill="none">
                  <a:moveTo>
                    <a:pt x="3172" y="96"/>
                  </a:moveTo>
                  <a:lnTo>
                    <a:pt x="3172" y="215"/>
                  </a:lnTo>
                </a:path>
                <a:path w="8200" h="450" fill="none">
                  <a:moveTo>
                    <a:pt x="3204" y="96"/>
                  </a:moveTo>
                  <a:lnTo>
                    <a:pt x="3204" y="215"/>
                  </a:lnTo>
                </a:path>
                <a:path w="8200" h="450" fill="none">
                  <a:moveTo>
                    <a:pt x="3172" y="354"/>
                  </a:moveTo>
                  <a:lnTo>
                    <a:pt x="3172" y="235"/>
                  </a:lnTo>
                </a:path>
                <a:path w="8200" h="450" fill="none">
                  <a:moveTo>
                    <a:pt x="3204" y="354"/>
                  </a:moveTo>
                  <a:lnTo>
                    <a:pt x="3204" y="235"/>
                  </a:lnTo>
                </a:path>
                <a:path w="8200" h="450" fill="none">
                  <a:moveTo>
                    <a:pt x="3274" y="96"/>
                  </a:moveTo>
                  <a:lnTo>
                    <a:pt x="3274" y="215"/>
                  </a:lnTo>
                </a:path>
                <a:path w="8200" h="450" fill="none">
                  <a:moveTo>
                    <a:pt x="3306" y="96"/>
                  </a:moveTo>
                  <a:lnTo>
                    <a:pt x="3306" y="215"/>
                  </a:lnTo>
                </a:path>
                <a:path w="8200" h="450" fill="none">
                  <a:moveTo>
                    <a:pt x="3274" y="354"/>
                  </a:moveTo>
                  <a:lnTo>
                    <a:pt x="3274" y="235"/>
                  </a:lnTo>
                </a:path>
                <a:path w="8200" h="450" fill="none">
                  <a:moveTo>
                    <a:pt x="3306" y="354"/>
                  </a:moveTo>
                  <a:lnTo>
                    <a:pt x="3306" y="235"/>
                  </a:lnTo>
                </a:path>
                <a:path w="8200" h="450" fill="none">
                  <a:moveTo>
                    <a:pt x="3375" y="96"/>
                  </a:moveTo>
                  <a:lnTo>
                    <a:pt x="3375" y="215"/>
                  </a:lnTo>
                </a:path>
                <a:path w="8200" h="450" fill="none">
                  <a:moveTo>
                    <a:pt x="3407" y="96"/>
                  </a:moveTo>
                  <a:lnTo>
                    <a:pt x="3407" y="215"/>
                  </a:lnTo>
                </a:path>
                <a:path w="8200" h="450" fill="none">
                  <a:moveTo>
                    <a:pt x="3375" y="354"/>
                  </a:moveTo>
                  <a:lnTo>
                    <a:pt x="3375" y="235"/>
                  </a:lnTo>
                </a:path>
                <a:path w="8200" h="450" fill="none">
                  <a:moveTo>
                    <a:pt x="3407" y="354"/>
                  </a:moveTo>
                  <a:lnTo>
                    <a:pt x="3407" y="235"/>
                  </a:lnTo>
                </a:path>
                <a:path w="8200" h="450" fill="none">
                  <a:moveTo>
                    <a:pt x="3476" y="96"/>
                  </a:moveTo>
                  <a:lnTo>
                    <a:pt x="3476" y="215"/>
                  </a:lnTo>
                </a:path>
                <a:path w="8200" h="450" fill="none">
                  <a:moveTo>
                    <a:pt x="3508" y="96"/>
                  </a:moveTo>
                  <a:lnTo>
                    <a:pt x="3508" y="215"/>
                  </a:lnTo>
                </a:path>
                <a:path w="8200" h="450" fill="none">
                  <a:moveTo>
                    <a:pt x="3476" y="354"/>
                  </a:moveTo>
                  <a:lnTo>
                    <a:pt x="3476" y="235"/>
                  </a:lnTo>
                </a:path>
                <a:path w="8200" h="450" fill="none">
                  <a:moveTo>
                    <a:pt x="3508" y="354"/>
                  </a:moveTo>
                  <a:lnTo>
                    <a:pt x="3508" y="235"/>
                  </a:lnTo>
                </a:path>
                <a:path w="8200" h="450" fill="none">
                  <a:moveTo>
                    <a:pt x="3577" y="96"/>
                  </a:moveTo>
                  <a:lnTo>
                    <a:pt x="3577" y="215"/>
                  </a:lnTo>
                </a:path>
                <a:path w="8200" h="450" fill="none">
                  <a:moveTo>
                    <a:pt x="3609" y="96"/>
                  </a:moveTo>
                  <a:lnTo>
                    <a:pt x="3609" y="215"/>
                  </a:lnTo>
                </a:path>
                <a:path w="8200" h="450" fill="none">
                  <a:moveTo>
                    <a:pt x="3577" y="354"/>
                  </a:moveTo>
                  <a:lnTo>
                    <a:pt x="3577" y="235"/>
                  </a:lnTo>
                </a:path>
                <a:path w="8200" h="450" fill="none">
                  <a:moveTo>
                    <a:pt x="3609" y="354"/>
                  </a:moveTo>
                  <a:lnTo>
                    <a:pt x="3609" y="235"/>
                  </a:lnTo>
                </a:path>
                <a:path w="8200" h="450" fill="none">
                  <a:moveTo>
                    <a:pt x="3679" y="96"/>
                  </a:moveTo>
                  <a:lnTo>
                    <a:pt x="3679" y="215"/>
                  </a:lnTo>
                </a:path>
                <a:path w="8200" h="450" fill="none">
                  <a:moveTo>
                    <a:pt x="3711" y="96"/>
                  </a:moveTo>
                  <a:lnTo>
                    <a:pt x="3711" y="215"/>
                  </a:lnTo>
                </a:path>
                <a:path w="8200" h="450" fill="none">
                  <a:moveTo>
                    <a:pt x="3679" y="354"/>
                  </a:moveTo>
                  <a:lnTo>
                    <a:pt x="3679" y="235"/>
                  </a:lnTo>
                </a:path>
                <a:path w="8200" h="450" fill="none">
                  <a:moveTo>
                    <a:pt x="3711" y="354"/>
                  </a:moveTo>
                  <a:lnTo>
                    <a:pt x="3711" y="235"/>
                  </a:lnTo>
                </a:path>
                <a:path w="8200" h="450" fill="none">
                  <a:moveTo>
                    <a:pt x="3780" y="96"/>
                  </a:moveTo>
                  <a:lnTo>
                    <a:pt x="3780" y="215"/>
                  </a:lnTo>
                </a:path>
                <a:path w="8200" h="450" fill="none">
                  <a:moveTo>
                    <a:pt x="3812" y="96"/>
                  </a:moveTo>
                  <a:lnTo>
                    <a:pt x="3812" y="215"/>
                  </a:lnTo>
                </a:path>
                <a:path w="8200" h="450" fill="none">
                  <a:moveTo>
                    <a:pt x="3780" y="354"/>
                  </a:moveTo>
                  <a:lnTo>
                    <a:pt x="3780" y="235"/>
                  </a:lnTo>
                </a:path>
                <a:path w="8200" h="450" fill="none">
                  <a:moveTo>
                    <a:pt x="3812" y="354"/>
                  </a:moveTo>
                  <a:lnTo>
                    <a:pt x="3812" y="235"/>
                  </a:lnTo>
                </a:path>
                <a:path w="8200" h="450" fill="none">
                  <a:moveTo>
                    <a:pt x="3881" y="96"/>
                  </a:moveTo>
                  <a:lnTo>
                    <a:pt x="3881" y="215"/>
                  </a:lnTo>
                </a:path>
                <a:path w="8200" h="450" fill="none">
                  <a:moveTo>
                    <a:pt x="3913" y="96"/>
                  </a:moveTo>
                  <a:lnTo>
                    <a:pt x="3913" y="215"/>
                  </a:lnTo>
                </a:path>
                <a:path w="8200" h="450" fill="none">
                  <a:moveTo>
                    <a:pt x="3881" y="354"/>
                  </a:moveTo>
                  <a:lnTo>
                    <a:pt x="3881" y="235"/>
                  </a:lnTo>
                </a:path>
                <a:path w="8200" h="450" fill="none">
                  <a:moveTo>
                    <a:pt x="3913" y="354"/>
                  </a:moveTo>
                  <a:lnTo>
                    <a:pt x="3913" y="235"/>
                  </a:lnTo>
                </a:path>
                <a:path w="8200" h="450" fill="none">
                  <a:moveTo>
                    <a:pt x="3982" y="96"/>
                  </a:moveTo>
                  <a:lnTo>
                    <a:pt x="3982" y="215"/>
                  </a:lnTo>
                </a:path>
                <a:path w="8200" h="450" fill="none">
                  <a:moveTo>
                    <a:pt x="4014" y="96"/>
                  </a:moveTo>
                  <a:lnTo>
                    <a:pt x="4014" y="215"/>
                  </a:lnTo>
                </a:path>
                <a:path w="8200" h="450" fill="none">
                  <a:moveTo>
                    <a:pt x="3982" y="354"/>
                  </a:moveTo>
                  <a:lnTo>
                    <a:pt x="3982" y="235"/>
                  </a:lnTo>
                </a:path>
                <a:path w="8200" h="450" fill="none">
                  <a:moveTo>
                    <a:pt x="4014" y="354"/>
                  </a:moveTo>
                  <a:lnTo>
                    <a:pt x="4014" y="235"/>
                  </a:lnTo>
                </a:path>
                <a:path w="8200" h="450" fill="none">
                  <a:moveTo>
                    <a:pt x="4084" y="96"/>
                  </a:moveTo>
                  <a:lnTo>
                    <a:pt x="4084" y="215"/>
                  </a:lnTo>
                </a:path>
                <a:path w="8200" h="450" fill="none">
                  <a:moveTo>
                    <a:pt x="4116" y="96"/>
                  </a:moveTo>
                  <a:lnTo>
                    <a:pt x="4116" y="215"/>
                  </a:lnTo>
                </a:path>
                <a:path w="8200" h="450" fill="none">
                  <a:moveTo>
                    <a:pt x="4084" y="354"/>
                  </a:moveTo>
                  <a:lnTo>
                    <a:pt x="4084" y="235"/>
                  </a:lnTo>
                </a:path>
                <a:path w="8200" h="450" fill="none">
                  <a:moveTo>
                    <a:pt x="4116" y="354"/>
                  </a:moveTo>
                  <a:lnTo>
                    <a:pt x="4116" y="235"/>
                  </a:lnTo>
                </a:path>
                <a:path w="8200" h="450" fill="none">
                  <a:moveTo>
                    <a:pt x="4185" y="96"/>
                  </a:moveTo>
                  <a:lnTo>
                    <a:pt x="4185" y="215"/>
                  </a:lnTo>
                </a:path>
                <a:path w="8200" h="450" fill="none">
                  <a:moveTo>
                    <a:pt x="4217" y="96"/>
                  </a:moveTo>
                  <a:lnTo>
                    <a:pt x="4217" y="215"/>
                  </a:lnTo>
                </a:path>
                <a:path w="8200" h="450" fill="none">
                  <a:moveTo>
                    <a:pt x="4185" y="354"/>
                  </a:moveTo>
                  <a:lnTo>
                    <a:pt x="4185" y="235"/>
                  </a:lnTo>
                </a:path>
                <a:path w="8200" h="450" fill="none">
                  <a:moveTo>
                    <a:pt x="4217" y="354"/>
                  </a:moveTo>
                  <a:lnTo>
                    <a:pt x="4217" y="235"/>
                  </a:lnTo>
                </a:path>
                <a:path w="8200" h="450" fill="none">
                  <a:moveTo>
                    <a:pt x="4286" y="96"/>
                  </a:moveTo>
                  <a:lnTo>
                    <a:pt x="4286" y="215"/>
                  </a:lnTo>
                </a:path>
                <a:path w="8200" h="450" fill="none">
                  <a:moveTo>
                    <a:pt x="4318" y="96"/>
                  </a:moveTo>
                  <a:lnTo>
                    <a:pt x="4318" y="215"/>
                  </a:lnTo>
                </a:path>
                <a:path w="8200" h="450" fill="none">
                  <a:moveTo>
                    <a:pt x="4286" y="354"/>
                  </a:moveTo>
                  <a:lnTo>
                    <a:pt x="4286" y="235"/>
                  </a:lnTo>
                </a:path>
                <a:path w="8200" h="450" fill="none">
                  <a:moveTo>
                    <a:pt x="4318" y="354"/>
                  </a:moveTo>
                  <a:lnTo>
                    <a:pt x="4318" y="235"/>
                  </a:lnTo>
                </a:path>
                <a:path w="8200" h="450" fill="none">
                  <a:moveTo>
                    <a:pt x="4387" y="96"/>
                  </a:moveTo>
                  <a:lnTo>
                    <a:pt x="4387" y="215"/>
                  </a:lnTo>
                </a:path>
                <a:path w="8200" h="450" fill="none">
                  <a:moveTo>
                    <a:pt x="4419" y="96"/>
                  </a:moveTo>
                  <a:lnTo>
                    <a:pt x="4419" y="215"/>
                  </a:lnTo>
                </a:path>
                <a:path w="8200" h="450" fill="none">
                  <a:moveTo>
                    <a:pt x="4387" y="354"/>
                  </a:moveTo>
                  <a:lnTo>
                    <a:pt x="4387" y="235"/>
                  </a:lnTo>
                </a:path>
                <a:path w="8200" h="450" fill="none">
                  <a:moveTo>
                    <a:pt x="4419" y="354"/>
                  </a:moveTo>
                  <a:lnTo>
                    <a:pt x="4419" y="235"/>
                  </a:lnTo>
                </a:path>
                <a:path w="8200" h="450" fill="none">
                  <a:moveTo>
                    <a:pt x="4488" y="96"/>
                  </a:moveTo>
                  <a:lnTo>
                    <a:pt x="4488" y="215"/>
                  </a:lnTo>
                </a:path>
                <a:path w="8200" h="450" fill="none">
                  <a:moveTo>
                    <a:pt x="4520" y="96"/>
                  </a:moveTo>
                  <a:lnTo>
                    <a:pt x="4520" y="215"/>
                  </a:lnTo>
                </a:path>
                <a:path w="8200" h="450" fill="none">
                  <a:moveTo>
                    <a:pt x="4488" y="354"/>
                  </a:moveTo>
                  <a:lnTo>
                    <a:pt x="4488" y="235"/>
                  </a:lnTo>
                </a:path>
                <a:path w="8200" h="450" fill="none">
                  <a:moveTo>
                    <a:pt x="4520" y="354"/>
                  </a:moveTo>
                  <a:lnTo>
                    <a:pt x="4520" y="235"/>
                  </a:lnTo>
                </a:path>
                <a:path w="8200" h="450" fill="none">
                  <a:moveTo>
                    <a:pt x="4590" y="96"/>
                  </a:moveTo>
                  <a:lnTo>
                    <a:pt x="4590" y="215"/>
                  </a:lnTo>
                </a:path>
                <a:path w="8200" h="450" fill="none">
                  <a:moveTo>
                    <a:pt x="4622" y="96"/>
                  </a:moveTo>
                  <a:lnTo>
                    <a:pt x="4622" y="215"/>
                  </a:lnTo>
                </a:path>
                <a:path w="8200" h="450" fill="none">
                  <a:moveTo>
                    <a:pt x="4590" y="354"/>
                  </a:moveTo>
                  <a:lnTo>
                    <a:pt x="4590" y="235"/>
                  </a:lnTo>
                </a:path>
                <a:path w="8200" h="450" fill="none">
                  <a:moveTo>
                    <a:pt x="4622" y="354"/>
                  </a:moveTo>
                  <a:lnTo>
                    <a:pt x="4622" y="235"/>
                  </a:lnTo>
                </a:path>
                <a:path w="8200" h="450" fill="none">
                  <a:moveTo>
                    <a:pt x="4691" y="96"/>
                  </a:moveTo>
                  <a:lnTo>
                    <a:pt x="4691" y="215"/>
                  </a:lnTo>
                </a:path>
                <a:path w="8200" h="450" fill="none">
                  <a:moveTo>
                    <a:pt x="4723" y="96"/>
                  </a:moveTo>
                  <a:lnTo>
                    <a:pt x="4723" y="215"/>
                  </a:lnTo>
                </a:path>
                <a:path w="8200" h="450" fill="none">
                  <a:moveTo>
                    <a:pt x="4691" y="354"/>
                  </a:moveTo>
                  <a:lnTo>
                    <a:pt x="4691" y="235"/>
                  </a:lnTo>
                </a:path>
                <a:path w="8200" h="450" fill="none">
                  <a:moveTo>
                    <a:pt x="4723" y="354"/>
                  </a:moveTo>
                  <a:lnTo>
                    <a:pt x="4723" y="235"/>
                  </a:lnTo>
                </a:path>
                <a:path w="8200" h="450" fill="none">
                  <a:moveTo>
                    <a:pt x="4792" y="96"/>
                  </a:moveTo>
                  <a:lnTo>
                    <a:pt x="4792" y="215"/>
                  </a:lnTo>
                </a:path>
                <a:path w="8200" h="450" fill="none">
                  <a:moveTo>
                    <a:pt x="4824" y="96"/>
                  </a:moveTo>
                  <a:lnTo>
                    <a:pt x="4824" y="215"/>
                  </a:lnTo>
                </a:path>
                <a:path w="8200" h="450" fill="none">
                  <a:moveTo>
                    <a:pt x="4792" y="354"/>
                  </a:moveTo>
                  <a:lnTo>
                    <a:pt x="4792" y="235"/>
                  </a:lnTo>
                </a:path>
                <a:path w="8200" h="450" fill="none">
                  <a:moveTo>
                    <a:pt x="4824" y="354"/>
                  </a:moveTo>
                  <a:lnTo>
                    <a:pt x="4824" y="235"/>
                  </a:lnTo>
                </a:path>
                <a:path w="8200" h="450" fill="none">
                  <a:moveTo>
                    <a:pt x="4893" y="96"/>
                  </a:moveTo>
                  <a:lnTo>
                    <a:pt x="4893" y="215"/>
                  </a:lnTo>
                </a:path>
                <a:path w="8200" h="450" fill="none">
                  <a:moveTo>
                    <a:pt x="4925" y="96"/>
                  </a:moveTo>
                  <a:lnTo>
                    <a:pt x="4925" y="215"/>
                  </a:lnTo>
                </a:path>
                <a:path w="8200" h="450" fill="none">
                  <a:moveTo>
                    <a:pt x="4893" y="354"/>
                  </a:moveTo>
                  <a:lnTo>
                    <a:pt x="4893" y="235"/>
                  </a:lnTo>
                </a:path>
                <a:path w="8200" h="450" fill="none">
                  <a:moveTo>
                    <a:pt x="4925" y="354"/>
                  </a:moveTo>
                  <a:lnTo>
                    <a:pt x="4925" y="235"/>
                  </a:lnTo>
                </a:path>
                <a:path w="8200" h="450" fill="none">
                  <a:moveTo>
                    <a:pt x="4995" y="96"/>
                  </a:moveTo>
                  <a:lnTo>
                    <a:pt x="4995" y="215"/>
                  </a:lnTo>
                </a:path>
                <a:path w="8200" h="450" fill="none">
                  <a:moveTo>
                    <a:pt x="5027" y="96"/>
                  </a:moveTo>
                  <a:lnTo>
                    <a:pt x="5027" y="215"/>
                  </a:lnTo>
                </a:path>
                <a:path w="8200" h="450" fill="none">
                  <a:moveTo>
                    <a:pt x="4995" y="354"/>
                  </a:moveTo>
                  <a:lnTo>
                    <a:pt x="4995" y="235"/>
                  </a:lnTo>
                </a:path>
                <a:path w="8200" h="450" fill="none">
                  <a:moveTo>
                    <a:pt x="5027" y="354"/>
                  </a:moveTo>
                  <a:lnTo>
                    <a:pt x="5027" y="235"/>
                  </a:lnTo>
                </a:path>
                <a:path w="8200" h="450" fill="none">
                  <a:moveTo>
                    <a:pt x="5096" y="96"/>
                  </a:moveTo>
                  <a:lnTo>
                    <a:pt x="5096" y="215"/>
                  </a:lnTo>
                </a:path>
                <a:path w="8200" h="450" fill="none">
                  <a:moveTo>
                    <a:pt x="5128" y="96"/>
                  </a:moveTo>
                  <a:lnTo>
                    <a:pt x="5128" y="215"/>
                  </a:lnTo>
                </a:path>
                <a:path w="8200" h="450" fill="none">
                  <a:moveTo>
                    <a:pt x="5096" y="354"/>
                  </a:moveTo>
                  <a:lnTo>
                    <a:pt x="5096" y="235"/>
                  </a:lnTo>
                </a:path>
                <a:path w="8200" h="450" fill="none">
                  <a:moveTo>
                    <a:pt x="5128" y="354"/>
                  </a:moveTo>
                  <a:lnTo>
                    <a:pt x="5128" y="235"/>
                  </a:lnTo>
                </a:path>
                <a:path w="8200" h="450" fill="none">
                  <a:moveTo>
                    <a:pt x="5197" y="96"/>
                  </a:moveTo>
                  <a:lnTo>
                    <a:pt x="5197" y="215"/>
                  </a:lnTo>
                </a:path>
                <a:path w="8200" h="450" fill="none">
                  <a:moveTo>
                    <a:pt x="5229" y="96"/>
                  </a:moveTo>
                  <a:lnTo>
                    <a:pt x="5229" y="215"/>
                  </a:lnTo>
                </a:path>
                <a:path w="8200" h="450" fill="none">
                  <a:moveTo>
                    <a:pt x="5197" y="354"/>
                  </a:moveTo>
                  <a:lnTo>
                    <a:pt x="5197" y="235"/>
                  </a:lnTo>
                </a:path>
                <a:path w="8200" h="450" fill="none">
                  <a:moveTo>
                    <a:pt x="5229" y="354"/>
                  </a:moveTo>
                  <a:lnTo>
                    <a:pt x="5229" y="235"/>
                  </a:lnTo>
                </a:path>
                <a:path w="8200" h="450" fill="none">
                  <a:moveTo>
                    <a:pt x="5298" y="96"/>
                  </a:moveTo>
                  <a:lnTo>
                    <a:pt x="5298" y="215"/>
                  </a:lnTo>
                </a:path>
                <a:path w="8200" h="450" fill="none">
                  <a:moveTo>
                    <a:pt x="5330" y="96"/>
                  </a:moveTo>
                  <a:lnTo>
                    <a:pt x="5330" y="215"/>
                  </a:lnTo>
                </a:path>
                <a:path w="8200" h="450" fill="none">
                  <a:moveTo>
                    <a:pt x="5298" y="354"/>
                  </a:moveTo>
                  <a:lnTo>
                    <a:pt x="5298" y="235"/>
                  </a:lnTo>
                </a:path>
                <a:path w="8200" h="450" fill="none">
                  <a:moveTo>
                    <a:pt x="5330" y="354"/>
                  </a:moveTo>
                  <a:lnTo>
                    <a:pt x="5330" y="235"/>
                  </a:lnTo>
                </a:path>
                <a:path w="8200" h="450" fill="none">
                  <a:moveTo>
                    <a:pt x="5400" y="96"/>
                  </a:moveTo>
                  <a:lnTo>
                    <a:pt x="5400" y="215"/>
                  </a:lnTo>
                </a:path>
                <a:path w="8200" h="450" fill="none">
                  <a:moveTo>
                    <a:pt x="5432" y="96"/>
                  </a:moveTo>
                  <a:lnTo>
                    <a:pt x="5432" y="215"/>
                  </a:lnTo>
                </a:path>
                <a:path w="8200" h="450" fill="none">
                  <a:moveTo>
                    <a:pt x="5400" y="354"/>
                  </a:moveTo>
                  <a:lnTo>
                    <a:pt x="5400" y="235"/>
                  </a:lnTo>
                </a:path>
                <a:path w="8200" h="450" fill="none">
                  <a:moveTo>
                    <a:pt x="5432" y="354"/>
                  </a:moveTo>
                  <a:lnTo>
                    <a:pt x="5432" y="235"/>
                  </a:lnTo>
                </a:path>
                <a:path w="8200" h="450" fill="none">
                  <a:moveTo>
                    <a:pt x="5501" y="96"/>
                  </a:moveTo>
                  <a:lnTo>
                    <a:pt x="5501" y="215"/>
                  </a:lnTo>
                </a:path>
                <a:path w="8200" h="450" fill="none">
                  <a:moveTo>
                    <a:pt x="5533" y="96"/>
                  </a:moveTo>
                  <a:lnTo>
                    <a:pt x="5533" y="215"/>
                  </a:lnTo>
                </a:path>
                <a:path w="8200" h="450" fill="none">
                  <a:moveTo>
                    <a:pt x="5501" y="354"/>
                  </a:moveTo>
                  <a:lnTo>
                    <a:pt x="5501" y="235"/>
                  </a:lnTo>
                </a:path>
                <a:path w="8200" h="450" fill="none">
                  <a:moveTo>
                    <a:pt x="5533" y="354"/>
                  </a:moveTo>
                  <a:lnTo>
                    <a:pt x="5533" y="235"/>
                  </a:lnTo>
                </a:path>
                <a:path w="8200" h="450" fill="none">
                  <a:moveTo>
                    <a:pt x="5602" y="96"/>
                  </a:moveTo>
                  <a:lnTo>
                    <a:pt x="5602" y="215"/>
                  </a:lnTo>
                </a:path>
                <a:path w="8200" h="450" fill="none">
                  <a:moveTo>
                    <a:pt x="5634" y="96"/>
                  </a:moveTo>
                  <a:lnTo>
                    <a:pt x="5634" y="215"/>
                  </a:lnTo>
                </a:path>
                <a:path w="8200" h="450" fill="none">
                  <a:moveTo>
                    <a:pt x="5602" y="354"/>
                  </a:moveTo>
                  <a:lnTo>
                    <a:pt x="5602" y="235"/>
                  </a:lnTo>
                </a:path>
                <a:path w="8200" h="450" fill="none">
                  <a:moveTo>
                    <a:pt x="5634" y="354"/>
                  </a:moveTo>
                  <a:lnTo>
                    <a:pt x="5634" y="235"/>
                  </a:lnTo>
                </a:path>
                <a:path w="8200" h="450" fill="none">
                  <a:moveTo>
                    <a:pt x="5703" y="96"/>
                  </a:moveTo>
                  <a:lnTo>
                    <a:pt x="5703" y="215"/>
                  </a:lnTo>
                </a:path>
                <a:path w="8200" h="450" fill="none">
                  <a:moveTo>
                    <a:pt x="5735" y="96"/>
                  </a:moveTo>
                  <a:lnTo>
                    <a:pt x="5735" y="215"/>
                  </a:lnTo>
                </a:path>
                <a:path w="8200" h="450" fill="none">
                  <a:moveTo>
                    <a:pt x="5703" y="354"/>
                  </a:moveTo>
                  <a:lnTo>
                    <a:pt x="5703" y="235"/>
                  </a:lnTo>
                </a:path>
                <a:path w="8200" h="450" fill="none">
                  <a:moveTo>
                    <a:pt x="5735" y="354"/>
                  </a:moveTo>
                  <a:lnTo>
                    <a:pt x="5735" y="235"/>
                  </a:lnTo>
                </a:path>
                <a:path w="8200" h="450" fill="none">
                  <a:moveTo>
                    <a:pt x="5804" y="96"/>
                  </a:moveTo>
                  <a:lnTo>
                    <a:pt x="5804" y="215"/>
                  </a:lnTo>
                </a:path>
                <a:path w="8200" h="450" fill="none">
                  <a:moveTo>
                    <a:pt x="5836" y="96"/>
                  </a:moveTo>
                  <a:lnTo>
                    <a:pt x="5836" y="215"/>
                  </a:lnTo>
                </a:path>
                <a:path w="8200" h="450" fill="none">
                  <a:moveTo>
                    <a:pt x="5804" y="354"/>
                  </a:moveTo>
                  <a:lnTo>
                    <a:pt x="5804" y="235"/>
                  </a:lnTo>
                </a:path>
                <a:path w="8200" h="450" fill="none">
                  <a:moveTo>
                    <a:pt x="5836" y="354"/>
                  </a:moveTo>
                  <a:lnTo>
                    <a:pt x="5836" y="235"/>
                  </a:lnTo>
                </a:path>
                <a:path w="8200" h="450" fill="none">
                  <a:moveTo>
                    <a:pt x="5906" y="96"/>
                  </a:moveTo>
                  <a:lnTo>
                    <a:pt x="5906" y="215"/>
                  </a:lnTo>
                </a:path>
                <a:path w="8200" h="450" fill="none">
                  <a:moveTo>
                    <a:pt x="5938" y="96"/>
                  </a:moveTo>
                  <a:lnTo>
                    <a:pt x="5938" y="215"/>
                  </a:lnTo>
                </a:path>
                <a:path w="8200" h="450" fill="none">
                  <a:moveTo>
                    <a:pt x="5906" y="354"/>
                  </a:moveTo>
                  <a:lnTo>
                    <a:pt x="5906" y="235"/>
                  </a:lnTo>
                </a:path>
                <a:path w="8200" h="450" fill="none">
                  <a:moveTo>
                    <a:pt x="5938" y="354"/>
                  </a:moveTo>
                  <a:lnTo>
                    <a:pt x="5938" y="235"/>
                  </a:lnTo>
                </a:path>
                <a:path w="8200" h="450" fill="none">
                  <a:moveTo>
                    <a:pt x="6007" y="96"/>
                  </a:moveTo>
                  <a:lnTo>
                    <a:pt x="6007" y="215"/>
                  </a:lnTo>
                </a:path>
                <a:path w="8200" h="450" fill="none">
                  <a:moveTo>
                    <a:pt x="6039" y="96"/>
                  </a:moveTo>
                  <a:lnTo>
                    <a:pt x="6039" y="215"/>
                  </a:lnTo>
                </a:path>
                <a:path w="8200" h="450" fill="none">
                  <a:moveTo>
                    <a:pt x="6007" y="354"/>
                  </a:moveTo>
                  <a:lnTo>
                    <a:pt x="6007" y="235"/>
                  </a:lnTo>
                </a:path>
                <a:path w="8200" h="450" fill="none">
                  <a:moveTo>
                    <a:pt x="6039" y="354"/>
                  </a:moveTo>
                  <a:lnTo>
                    <a:pt x="6039" y="235"/>
                  </a:lnTo>
                </a:path>
                <a:path w="8200" h="450" fill="none">
                  <a:moveTo>
                    <a:pt x="6108" y="96"/>
                  </a:moveTo>
                  <a:lnTo>
                    <a:pt x="6108" y="215"/>
                  </a:lnTo>
                </a:path>
                <a:path w="8200" h="450" fill="none">
                  <a:moveTo>
                    <a:pt x="6140" y="96"/>
                  </a:moveTo>
                  <a:lnTo>
                    <a:pt x="6140" y="215"/>
                  </a:lnTo>
                </a:path>
                <a:path w="8200" h="450" fill="none">
                  <a:moveTo>
                    <a:pt x="6108" y="354"/>
                  </a:moveTo>
                  <a:lnTo>
                    <a:pt x="6108" y="235"/>
                  </a:lnTo>
                </a:path>
                <a:path w="8200" h="450" fill="none">
                  <a:moveTo>
                    <a:pt x="6140" y="354"/>
                  </a:moveTo>
                  <a:lnTo>
                    <a:pt x="6140" y="235"/>
                  </a:lnTo>
                </a:path>
                <a:path w="8200" h="450" fill="none">
                  <a:moveTo>
                    <a:pt x="6209" y="96"/>
                  </a:moveTo>
                  <a:lnTo>
                    <a:pt x="6209" y="215"/>
                  </a:lnTo>
                </a:path>
                <a:path w="8200" h="450" fill="none">
                  <a:moveTo>
                    <a:pt x="6241" y="96"/>
                  </a:moveTo>
                  <a:lnTo>
                    <a:pt x="6241" y="215"/>
                  </a:lnTo>
                </a:path>
                <a:path w="8200" h="450" fill="none">
                  <a:moveTo>
                    <a:pt x="6209" y="354"/>
                  </a:moveTo>
                  <a:lnTo>
                    <a:pt x="6209" y="235"/>
                  </a:lnTo>
                </a:path>
                <a:path w="8200" h="450" fill="none">
                  <a:moveTo>
                    <a:pt x="6241" y="354"/>
                  </a:moveTo>
                  <a:lnTo>
                    <a:pt x="6241" y="235"/>
                  </a:lnTo>
                </a:path>
                <a:path w="8200" h="450" fill="none">
                  <a:moveTo>
                    <a:pt x="6311" y="96"/>
                  </a:moveTo>
                  <a:lnTo>
                    <a:pt x="6311" y="215"/>
                  </a:lnTo>
                </a:path>
                <a:path w="8200" h="450" fill="none">
                  <a:moveTo>
                    <a:pt x="6343" y="96"/>
                  </a:moveTo>
                  <a:lnTo>
                    <a:pt x="6343" y="215"/>
                  </a:lnTo>
                </a:path>
                <a:path w="8200" h="450" fill="none">
                  <a:moveTo>
                    <a:pt x="6311" y="354"/>
                  </a:moveTo>
                  <a:lnTo>
                    <a:pt x="6311" y="235"/>
                  </a:lnTo>
                </a:path>
                <a:path w="8200" h="450" fill="none">
                  <a:moveTo>
                    <a:pt x="6343" y="354"/>
                  </a:moveTo>
                  <a:lnTo>
                    <a:pt x="6343" y="235"/>
                  </a:lnTo>
                </a:path>
                <a:path w="8200" h="450" fill="none">
                  <a:moveTo>
                    <a:pt x="6412" y="96"/>
                  </a:moveTo>
                  <a:lnTo>
                    <a:pt x="6412" y="215"/>
                  </a:lnTo>
                </a:path>
                <a:path w="8200" h="450" fill="none">
                  <a:moveTo>
                    <a:pt x="6444" y="96"/>
                  </a:moveTo>
                  <a:lnTo>
                    <a:pt x="6444" y="215"/>
                  </a:lnTo>
                </a:path>
                <a:path w="8200" h="450" fill="none">
                  <a:moveTo>
                    <a:pt x="6412" y="354"/>
                  </a:moveTo>
                  <a:lnTo>
                    <a:pt x="6412" y="235"/>
                  </a:lnTo>
                </a:path>
                <a:path w="8200" h="450" fill="none">
                  <a:moveTo>
                    <a:pt x="6444" y="354"/>
                  </a:moveTo>
                  <a:lnTo>
                    <a:pt x="6444" y="235"/>
                  </a:lnTo>
                </a:path>
                <a:path w="8200" h="450" fill="none">
                  <a:moveTo>
                    <a:pt x="6513" y="96"/>
                  </a:moveTo>
                  <a:lnTo>
                    <a:pt x="6513" y="215"/>
                  </a:lnTo>
                </a:path>
                <a:path w="8200" h="450" fill="none">
                  <a:moveTo>
                    <a:pt x="6545" y="96"/>
                  </a:moveTo>
                  <a:lnTo>
                    <a:pt x="6545" y="215"/>
                  </a:lnTo>
                </a:path>
                <a:path w="8200" h="450" fill="none">
                  <a:moveTo>
                    <a:pt x="6513" y="354"/>
                  </a:moveTo>
                  <a:lnTo>
                    <a:pt x="6513" y="235"/>
                  </a:lnTo>
                </a:path>
                <a:path w="8200" h="450" fill="none">
                  <a:moveTo>
                    <a:pt x="6545" y="354"/>
                  </a:moveTo>
                  <a:lnTo>
                    <a:pt x="6545" y="235"/>
                  </a:lnTo>
                </a:path>
                <a:path w="8200" h="450" fill="none">
                  <a:moveTo>
                    <a:pt x="6614" y="96"/>
                  </a:moveTo>
                  <a:lnTo>
                    <a:pt x="6614" y="215"/>
                  </a:lnTo>
                </a:path>
                <a:path w="8200" h="450" fill="none">
                  <a:moveTo>
                    <a:pt x="6646" y="96"/>
                  </a:moveTo>
                  <a:lnTo>
                    <a:pt x="6646" y="215"/>
                  </a:lnTo>
                </a:path>
                <a:path w="8200" h="450" fill="none">
                  <a:moveTo>
                    <a:pt x="6614" y="354"/>
                  </a:moveTo>
                  <a:lnTo>
                    <a:pt x="6614" y="235"/>
                  </a:lnTo>
                </a:path>
                <a:path w="8200" h="450" fill="none">
                  <a:moveTo>
                    <a:pt x="6646" y="354"/>
                  </a:moveTo>
                  <a:lnTo>
                    <a:pt x="6646" y="235"/>
                  </a:lnTo>
                </a:path>
                <a:path w="8200" h="450" fill="none">
                  <a:moveTo>
                    <a:pt x="6716" y="96"/>
                  </a:moveTo>
                  <a:lnTo>
                    <a:pt x="6716" y="215"/>
                  </a:lnTo>
                </a:path>
                <a:path w="8200" h="450" fill="none">
                  <a:moveTo>
                    <a:pt x="6748" y="96"/>
                  </a:moveTo>
                  <a:lnTo>
                    <a:pt x="6748" y="215"/>
                  </a:lnTo>
                </a:path>
                <a:path w="8200" h="450" fill="none">
                  <a:moveTo>
                    <a:pt x="6716" y="354"/>
                  </a:moveTo>
                  <a:lnTo>
                    <a:pt x="6716" y="235"/>
                  </a:lnTo>
                </a:path>
                <a:path w="8200" h="450" fill="none">
                  <a:moveTo>
                    <a:pt x="6748" y="354"/>
                  </a:moveTo>
                  <a:lnTo>
                    <a:pt x="6748" y="235"/>
                  </a:lnTo>
                </a:path>
                <a:path w="8200" h="450" fill="none">
                  <a:moveTo>
                    <a:pt x="6817" y="96"/>
                  </a:moveTo>
                  <a:lnTo>
                    <a:pt x="6817" y="215"/>
                  </a:lnTo>
                </a:path>
                <a:path w="8200" h="450" fill="none">
                  <a:moveTo>
                    <a:pt x="6849" y="96"/>
                  </a:moveTo>
                  <a:lnTo>
                    <a:pt x="6849" y="215"/>
                  </a:lnTo>
                </a:path>
                <a:path w="8200" h="450" fill="none">
                  <a:moveTo>
                    <a:pt x="6817" y="354"/>
                  </a:moveTo>
                  <a:lnTo>
                    <a:pt x="6817" y="235"/>
                  </a:lnTo>
                </a:path>
                <a:path w="8200" h="450" fill="none">
                  <a:moveTo>
                    <a:pt x="6849" y="354"/>
                  </a:moveTo>
                  <a:lnTo>
                    <a:pt x="6849" y="235"/>
                  </a:lnTo>
                </a:path>
                <a:path w="8200" h="450" fill="none">
                  <a:moveTo>
                    <a:pt x="6918" y="96"/>
                  </a:moveTo>
                  <a:lnTo>
                    <a:pt x="6918" y="215"/>
                  </a:lnTo>
                </a:path>
                <a:path w="8200" h="450" fill="none">
                  <a:moveTo>
                    <a:pt x="6950" y="96"/>
                  </a:moveTo>
                  <a:lnTo>
                    <a:pt x="6950" y="215"/>
                  </a:lnTo>
                </a:path>
                <a:path w="8200" h="450" fill="none">
                  <a:moveTo>
                    <a:pt x="6918" y="354"/>
                  </a:moveTo>
                  <a:lnTo>
                    <a:pt x="6918" y="235"/>
                  </a:lnTo>
                </a:path>
                <a:path w="8200" h="450" fill="none">
                  <a:moveTo>
                    <a:pt x="6950" y="354"/>
                  </a:moveTo>
                  <a:lnTo>
                    <a:pt x="6950" y="235"/>
                  </a:lnTo>
                </a:path>
                <a:path w="8200" h="450" fill="none">
                  <a:moveTo>
                    <a:pt x="7019" y="96"/>
                  </a:moveTo>
                  <a:lnTo>
                    <a:pt x="7019" y="215"/>
                  </a:lnTo>
                </a:path>
                <a:path w="8200" h="450" fill="none">
                  <a:moveTo>
                    <a:pt x="7051" y="96"/>
                  </a:moveTo>
                  <a:lnTo>
                    <a:pt x="7051" y="215"/>
                  </a:lnTo>
                </a:path>
                <a:path w="8200" h="450" fill="none">
                  <a:moveTo>
                    <a:pt x="7019" y="354"/>
                  </a:moveTo>
                  <a:lnTo>
                    <a:pt x="7019" y="235"/>
                  </a:lnTo>
                </a:path>
                <a:path w="8200" h="450" fill="none">
                  <a:moveTo>
                    <a:pt x="7051" y="354"/>
                  </a:moveTo>
                  <a:lnTo>
                    <a:pt x="7051" y="235"/>
                  </a:lnTo>
                </a:path>
                <a:path w="8200" h="450" fill="none">
                  <a:moveTo>
                    <a:pt x="7121" y="96"/>
                  </a:moveTo>
                  <a:lnTo>
                    <a:pt x="7121" y="215"/>
                  </a:lnTo>
                </a:path>
                <a:path w="8200" h="450" fill="none">
                  <a:moveTo>
                    <a:pt x="7153" y="96"/>
                  </a:moveTo>
                  <a:lnTo>
                    <a:pt x="7153" y="215"/>
                  </a:lnTo>
                </a:path>
                <a:path w="8200" h="450" fill="none">
                  <a:moveTo>
                    <a:pt x="7121" y="354"/>
                  </a:moveTo>
                  <a:lnTo>
                    <a:pt x="7121" y="235"/>
                  </a:lnTo>
                </a:path>
                <a:path w="8200" h="450" fill="none">
                  <a:moveTo>
                    <a:pt x="7153" y="354"/>
                  </a:moveTo>
                  <a:lnTo>
                    <a:pt x="7153" y="235"/>
                  </a:lnTo>
                </a:path>
                <a:path w="8200" h="450" fill="none">
                  <a:moveTo>
                    <a:pt x="7222" y="96"/>
                  </a:moveTo>
                  <a:lnTo>
                    <a:pt x="7222" y="215"/>
                  </a:lnTo>
                </a:path>
                <a:path w="8200" h="450" fill="none">
                  <a:moveTo>
                    <a:pt x="7254" y="96"/>
                  </a:moveTo>
                  <a:lnTo>
                    <a:pt x="7254" y="215"/>
                  </a:lnTo>
                </a:path>
                <a:path w="8200" h="450" fill="none">
                  <a:moveTo>
                    <a:pt x="7222" y="354"/>
                  </a:moveTo>
                  <a:lnTo>
                    <a:pt x="7222" y="235"/>
                  </a:lnTo>
                </a:path>
                <a:path w="8200" h="450" fill="none">
                  <a:moveTo>
                    <a:pt x="7254" y="354"/>
                  </a:moveTo>
                  <a:lnTo>
                    <a:pt x="7254" y="235"/>
                  </a:lnTo>
                </a:path>
                <a:path w="8200" h="450" fill="none">
                  <a:moveTo>
                    <a:pt x="7323" y="96"/>
                  </a:moveTo>
                  <a:lnTo>
                    <a:pt x="7323" y="215"/>
                  </a:lnTo>
                </a:path>
                <a:path w="8200" h="450" fill="none">
                  <a:moveTo>
                    <a:pt x="7355" y="96"/>
                  </a:moveTo>
                  <a:lnTo>
                    <a:pt x="7355" y="215"/>
                  </a:lnTo>
                </a:path>
                <a:path w="8200" h="450" fill="none">
                  <a:moveTo>
                    <a:pt x="7323" y="354"/>
                  </a:moveTo>
                  <a:lnTo>
                    <a:pt x="7323" y="235"/>
                  </a:lnTo>
                </a:path>
                <a:path w="8200" h="450" fill="none">
                  <a:moveTo>
                    <a:pt x="7355" y="354"/>
                  </a:moveTo>
                  <a:lnTo>
                    <a:pt x="7355" y="235"/>
                  </a:lnTo>
                </a:path>
                <a:path w="8200" h="450" fill="none">
                  <a:moveTo>
                    <a:pt x="7424" y="96"/>
                  </a:moveTo>
                  <a:lnTo>
                    <a:pt x="7424" y="215"/>
                  </a:lnTo>
                </a:path>
                <a:path w="8200" h="450" fill="none">
                  <a:moveTo>
                    <a:pt x="7456" y="96"/>
                  </a:moveTo>
                  <a:lnTo>
                    <a:pt x="7456" y="215"/>
                  </a:lnTo>
                </a:path>
                <a:path w="8200" h="450" fill="none">
                  <a:moveTo>
                    <a:pt x="7424" y="354"/>
                  </a:moveTo>
                  <a:lnTo>
                    <a:pt x="7424" y="235"/>
                  </a:lnTo>
                </a:path>
                <a:path w="8200" h="450" fill="none">
                  <a:moveTo>
                    <a:pt x="7456" y="354"/>
                  </a:moveTo>
                  <a:lnTo>
                    <a:pt x="7456" y="235"/>
                  </a:lnTo>
                </a:path>
                <a:path w="8200" h="450" fill="none">
                  <a:moveTo>
                    <a:pt x="7525" y="96"/>
                  </a:moveTo>
                  <a:lnTo>
                    <a:pt x="7525" y="215"/>
                  </a:lnTo>
                </a:path>
                <a:path w="8200" h="450" fill="none">
                  <a:moveTo>
                    <a:pt x="7557" y="96"/>
                  </a:moveTo>
                  <a:lnTo>
                    <a:pt x="7557" y="215"/>
                  </a:lnTo>
                </a:path>
                <a:path w="8200" h="450" fill="none">
                  <a:moveTo>
                    <a:pt x="7525" y="354"/>
                  </a:moveTo>
                  <a:lnTo>
                    <a:pt x="7525" y="235"/>
                  </a:lnTo>
                </a:path>
                <a:path w="8200" h="450" fill="none">
                  <a:moveTo>
                    <a:pt x="7557" y="354"/>
                  </a:moveTo>
                  <a:lnTo>
                    <a:pt x="7557" y="235"/>
                  </a:lnTo>
                </a:path>
                <a:path w="8200" h="450" fill="none">
                  <a:moveTo>
                    <a:pt x="7627" y="96"/>
                  </a:moveTo>
                  <a:lnTo>
                    <a:pt x="7627" y="215"/>
                  </a:lnTo>
                </a:path>
                <a:path w="8200" h="450" fill="none">
                  <a:moveTo>
                    <a:pt x="7659" y="96"/>
                  </a:moveTo>
                  <a:lnTo>
                    <a:pt x="7659" y="215"/>
                  </a:lnTo>
                </a:path>
                <a:path w="8200" h="450" fill="none">
                  <a:moveTo>
                    <a:pt x="7627" y="354"/>
                  </a:moveTo>
                  <a:lnTo>
                    <a:pt x="7627" y="235"/>
                  </a:lnTo>
                </a:path>
                <a:path w="8200" h="450" fill="none">
                  <a:moveTo>
                    <a:pt x="7659" y="354"/>
                  </a:moveTo>
                  <a:lnTo>
                    <a:pt x="7659" y="235"/>
                  </a:lnTo>
                </a:path>
                <a:path w="8200" h="450" fill="none">
                  <a:moveTo>
                    <a:pt x="7728" y="96"/>
                  </a:moveTo>
                  <a:lnTo>
                    <a:pt x="7728" y="215"/>
                  </a:lnTo>
                </a:path>
                <a:path w="8200" h="450" fill="none">
                  <a:moveTo>
                    <a:pt x="7760" y="96"/>
                  </a:moveTo>
                  <a:lnTo>
                    <a:pt x="7760" y="215"/>
                  </a:lnTo>
                </a:path>
                <a:path w="8200" h="450" fill="none">
                  <a:moveTo>
                    <a:pt x="7728" y="354"/>
                  </a:moveTo>
                  <a:lnTo>
                    <a:pt x="7728" y="235"/>
                  </a:lnTo>
                </a:path>
                <a:path w="8200" h="450" fill="none">
                  <a:moveTo>
                    <a:pt x="7760" y="354"/>
                  </a:moveTo>
                  <a:lnTo>
                    <a:pt x="7760" y="235"/>
                  </a:lnTo>
                </a:path>
                <a:path w="8200" h="450" fill="none">
                  <a:moveTo>
                    <a:pt x="7829" y="96"/>
                  </a:moveTo>
                  <a:lnTo>
                    <a:pt x="7829" y="215"/>
                  </a:lnTo>
                </a:path>
                <a:path w="8200" h="450" fill="none">
                  <a:moveTo>
                    <a:pt x="7861" y="96"/>
                  </a:moveTo>
                  <a:lnTo>
                    <a:pt x="7861" y="215"/>
                  </a:lnTo>
                </a:path>
                <a:path w="8200" h="450" fill="none">
                  <a:moveTo>
                    <a:pt x="7829" y="354"/>
                  </a:moveTo>
                  <a:lnTo>
                    <a:pt x="7829" y="235"/>
                  </a:lnTo>
                </a:path>
                <a:path w="8200" h="450" fill="none">
                  <a:moveTo>
                    <a:pt x="7861" y="354"/>
                  </a:moveTo>
                  <a:lnTo>
                    <a:pt x="7861" y="235"/>
                  </a:lnTo>
                </a:path>
                <a:path w="8200" h="450" fill="none">
                  <a:moveTo>
                    <a:pt x="7930" y="96"/>
                  </a:moveTo>
                  <a:lnTo>
                    <a:pt x="7930" y="215"/>
                  </a:lnTo>
                </a:path>
                <a:path w="8200" h="450" fill="none">
                  <a:moveTo>
                    <a:pt x="7962" y="96"/>
                  </a:moveTo>
                  <a:lnTo>
                    <a:pt x="7962" y="215"/>
                  </a:lnTo>
                </a:path>
                <a:path w="8200" h="450" fill="none">
                  <a:moveTo>
                    <a:pt x="7930" y="354"/>
                  </a:moveTo>
                  <a:lnTo>
                    <a:pt x="7930" y="235"/>
                  </a:lnTo>
                </a:path>
                <a:path w="8200" h="450" fill="none">
                  <a:moveTo>
                    <a:pt x="7962" y="354"/>
                  </a:moveTo>
                  <a:lnTo>
                    <a:pt x="7962" y="235"/>
                  </a:lnTo>
                </a:path>
                <a:path w="8200" h="450" fill="none">
                  <a:moveTo>
                    <a:pt x="8032" y="96"/>
                  </a:moveTo>
                  <a:lnTo>
                    <a:pt x="8032" y="215"/>
                  </a:lnTo>
                </a:path>
                <a:path w="8200" h="450" fill="none">
                  <a:moveTo>
                    <a:pt x="8064" y="96"/>
                  </a:moveTo>
                  <a:lnTo>
                    <a:pt x="8064" y="215"/>
                  </a:lnTo>
                </a:path>
                <a:path w="8200" h="450" fill="none">
                  <a:moveTo>
                    <a:pt x="8032" y="354"/>
                  </a:moveTo>
                  <a:lnTo>
                    <a:pt x="8032" y="235"/>
                  </a:lnTo>
                </a:path>
                <a:path w="8200" h="450" fill="none">
                  <a:moveTo>
                    <a:pt x="8064" y="354"/>
                  </a:moveTo>
                  <a:lnTo>
                    <a:pt x="8064" y="235"/>
                  </a:lnTo>
                </a:path>
                <a:path w="8200" h="450" fill="none">
                  <a:moveTo>
                    <a:pt x="8133" y="96"/>
                  </a:moveTo>
                  <a:lnTo>
                    <a:pt x="8133" y="215"/>
                  </a:lnTo>
                </a:path>
                <a:path w="8200" h="450" fill="none">
                  <a:moveTo>
                    <a:pt x="8165" y="96"/>
                  </a:moveTo>
                  <a:lnTo>
                    <a:pt x="8165" y="215"/>
                  </a:lnTo>
                </a:path>
                <a:path w="8200" h="450" fill="none">
                  <a:moveTo>
                    <a:pt x="8133" y="354"/>
                  </a:moveTo>
                  <a:lnTo>
                    <a:pt x="8133" y="235"/>
                  </a:lnTo>
                </a:path>
                <a:path w="8200" h="450" fill="none">
                  <a:moveTo>
                    <a:pt x="8165" y="354"/>
                  </a:moveTo>
                  <a:lnTo>
                    <a:pt x="8165" y="235"/>
                  </a:lnTo>
                </a:path>
              </a:pathLst>
            </a:custGeom>
            <a:noFill/>
            <a:ln w="9525" cap="rnd">
              <a:solidFill>
                <a:srgbClr val="A49887"/>
              </a:solidFill>
              <a:round/>
            </a:ln>
          </p:spPr>
        </p:sp>
      </p:grpSp>
      <p:grpSp>
        <p:nvGrpSpPr>
          <p:cNvPr id="8" name="!!Receptor de insulina"/>
          <p:cNvGrpSpPr/>
          <p:nvPr/>
        </p:nvGrpSpPr>
        <p:grpSpPr>
          <a:xfrm>
            <a:off x="2788920" y="1531620"/>
            <a:ext cx="1604772" cy="3017520"/>
            <a:chOff x="2788920" y="1531620"/>
            <a:chExt cx="1604772" cy="3017520"/>
          </a:xfrm>
        </p:grpSpPr>
        <p:sp>
          <p:nvSpPr>
            <p:cNvPr id="9" name="Forma 8"/>
            <p:cNvSpPr/>
            <p:nvPr/>
          </p:nvSpPr>
          <p:spPr>
            <a:xfrm>
              <a:off x="2788920" y="1531620"/>
              <a:ext cx="754380" cy="130302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0" name="Forma 9"/>
            <p:cNvSpPr/>
            <p:nvPr/>
          </p:nvSpPr>
          <p:spPr>
            <a:xfrm flipH="1">
              <a:off x="3639312" y="1531620"/>
              <a:ext cx="754380" cy="130302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1" name="Forma 10"/>
            <p:cNvSpPr/>
            <p:nvPr/>
          </p:nvSpPr>
          <p:spPr>
            <a:xfrm>
              <a:off x="3063240" y="2807208"/>
              <a:ext cx="219456" cy="740664"/>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2" name="Forma 11"/>
            <p:cNvSpPr/>
            <p:nvPr/>
          </p:nvSpPr>
          <p:spPr>
            <a:xfrm>
              <a:off x="2898648" y="3520440"/>
              <a:ext cx="548640" cy="102870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3" name="Forma 12"/>
            <p:cNvSpPr/>
            <p:nvPr/>
          </p:nvSpPr>
          <p:spPr>
            <a:xfrm>
              <a:off x="3776472" y="2807208"/>
              <a:ext cx="219456" cy="740664"/>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4" name="Forma 13"/>
            <p:cNvSpPr/>
            <p:nvPr/>
          </p:nvSpPr>
          <p:spPr>
            <a:xfrm>
              <a:off x="3611880" y="3520440"/>
              <a:ext cx="548640" cy="102870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5" name="Forma 14"/>
            <p:cNvSpPr/>
            <p:nvPr/>
          </p:nvSpPr>
          <p:spPr>
            <a:xfrm>
              <a:off x="3268980" y="2532888"/>
              <a:ext cx="548640" cy="137160"/>
            </a:xfrm>
            <a:prstGeom prst="rect">
              <a:avLst/>
            </a:prstGeom>
            <a:solidFill>
              <a:srgbClr val="1B4F72"/>
            </a:solidFill>
            <a:ln>
              <a:noFill/>
            </a:ln>
          </p:spPr>
        </p:sp>
      </p:grpSp>
      <p:sp>
        <p:nvSpPr>
          <p:cNvPr id="16" name="!!Insulina portal 0"/>
          <p:cNvSpPr/>
          <p:nvPr/>
        </p:nvSpPr>
        <p:spPr>
          <a:xfrm>
            <a:off x="3246120" y="914400"/>
            <a:ext cx="502920" cy="50292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17" name="!!Insulina portal 1"/>
          <p:cNvSpPr/>
          <p:nvPr/>
        </p:nvSpPr>
        <p:spPr>
          <a:xfrm>
            <a:off x="914400" y="100584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18" name="!!Insulina portal 2"/>
          <p:cNvSpPr/>
          <p:nvPr/>
        </p:nvSpPr>
        <p:spPr>
          <a:xfrm>
            <a:off x="6035040" y="1188720"/>
            <a:ext cx="365760" cy="36576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Ins</a:t>
            </a:r>
            <a:endParaRPr lang="es-AR" sz="1040" dirty="0">
              <a:latin typeface="Bahnschrift SemiBold Condensed"/>
            </a:endParaRPr>
          </a:p>
        </p:txBody>
      </p:sp>
      <p:sp>
        <p:nvSpPr>
          <p:cNvPr id="19" name="!!Rótulo exterior"/>
          <p:cNvSpPr txBox="1"/>
          <p:nvPr/>
        </p:nvSpPr>
        <p:spPr>
          <a:xfrm>
            <a:off x="365760" y="914400"/>
            <a:ext cx="274320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ESPACIO DE DISSE</a:t>
            </a:r>
            <a:endParaRPr lang="es-AR" sz="1300" dirty="0">
              <a:latin typeface="Bahnschrift SemiBold Condensed"/>
            </a:endParaRPr>
          </a:p>
        </p:txBody>
      </p:sp>
      <p:sp>
        <p:nvSpPr>
          <p:cNvPr id="20" name="!!Rótulo citosol"/>
          <p:cNvSpPr txBox="1"/>
          <p:nvPr/>
        </p:nvSpPr>
        <p:spPr>
          <a:xfrm>
            <a:off x="365760" y="6080760"/>
            <a:ext cx="2743200" cy="27432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CITOSOL</a:t>
            </a:r>
            <a:endParaRPr lang="es-AR" sz="1300" dirty="0">
              <a:latin typeface="Bahnschrift SemiBold Condensed"/>
            </a:endParaRPr>
          </a:p>
        </p:txBody>
      </p:sp>
      <p:sp>
        <p:nvSpPr>
          <p:cNvPr id="21" name="Fosfato 0"/>
          <p:cNvSpPr/>
          <p:nvPr/>
        </p:nvSpPr>
        <p:spPr>
          <a:xfrm>
            <a:off x="2606040" y="4160520"/>
            <a:ext cx="310896" cy="310896"/>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24" b="1" dirty="0">
                <a:solidFill>
                  <a:srgbClr val="1E1E1E"/>
                </a:solidFill>
                <a:latin typeface="Bahnschrift SemiBold Condensed"/>
                <a:ea typeface="Bahnschrift SemiBold Condensed"/>
                <a:cs typeface="Bahnschrift SemiBold Condensed"/>
                <a:sym typeface="Bahnschrift SemiBold Condensed"/>
              </a:rPr>
              <a:t>P</a:t>
            </a:r>
            <a:endParaRPr lang="es-AR" sz="1124" dirty="0">
              <a:latin typeface="Bahnschrift SemiBold Condensed"/>
            </a:endParaRPr>
          </a:p>
        </p:txBody>
      </p:sp>
      <p:sp>
        <p:nvSpPr>
          <p:cNvPr id="22" name="Fosfato 1"/>
          <p:cNvSpPr/>
          <p:nvPr/>
        </p:nvSpPr>
        <p:spPr>
          <a:xfrm>
            <a:off x="3977640" y="4206240"/>
            <a:ext cx="310896" cy="310896"/>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24" b="1" dirty="0">
                <a:solidFill>
                  <a:srgbClr val="1E1E1E"/>
                </a:solidFill>
                <a:latin typeface="Bahnschrift SemiBold Condensed"/>
                <a:ea typeface="Bahnschrift SemiBold Condensed"/>
                <a:cs typeface="Bahnschrift SemiBold Condensed"/>
                <a:sym typeface="Bahnschrift SemiBold Condensed"/>
              </a:rPr>
              <a:t>P</a:t>
            </a:r>
            <a:endParaRPr lang="es-AR" sz="1124" dirty="0">
              <a:latin typeface="Bahnschrift SemiBold Condensed"/>
            </a:endParaRPr>
          </a:p>
        </p:txBody>
      </p:sp>
      <p:sp>
        <p:nvSpPr>
          <p:cNvPr id="23" name="Fosfato 2"/>
          <p:cNvSpPr/>
          <p:nvPr/>
        </p:nvSpPr>
        <p:spPr>
          <a:xfrm>
            <a:off x="2606040" y="4800600"/>
            <a:ext cx="310896" cy="310896"/>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24" b="1" dirty="0">
                <a:solidFill>
                  <a:srgbClr val="1E1E1E"/>
                </a:solidFill>
                <a:latin typeface="Bahnschrift SemiBold Condensed"/>
                <a:ea typeface="Bahnschrift SemiBold Condensed"/>
                <a:cs typeface="Bahnschrift SemiBold Condensed"/>
                <a:sym typeface="Bahnschrift SemiBold Condensed"/>
              </a:rPr>
              <a:t>P</a:t>
            </a:r>
            <a:endParaRPr lang="es-AR" sz="1124" dirty="0">
              <a:latin typeface="Bahnschrift SemiBold Condensed"/>
            </a:endParaRPr>
          </a:p>
        </p:txBody>
      </p:sp>
      <p:sp>
        <p:nvSpPr>
          <p:cNvPr id="24" name="Fosfato 3"/>
          <p:cNvSpPr/>
          <p:nvPr/>
        </p:nvSpPr>
        <p:spPr>
          <a:xfrm>
            <a:off x="3977640" y="4846320"/>
            <a:ext cx="310896" cy="310896"/>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24" b="1" dirty="0">
                <a:solidFill>
                  <a:srgbClr val="1E1E1E"/>
                </a:solidFill>
                <a:latin typeface="Bahnschrift SemiBold Condensed"/>
                <a:ea typeface="Bahnschrift SemiBold Condensed"/>
                <a:cs typeface="Bahnschrift SemiBold Condensed"/>
                <a:sym typeface="Bahnschrift SemiBold Condensed"/>
              </a:rPr>
              <a:t>P</a:t>
            </a:r>
            <a:endParaRPr lang="es-AR" sz="1124" dirty="0">
              <a:latin typeface="Bahnschrift SemiBold Condensed"/>
            </a:endParaRPr>
          </a:p>
        </p:txBody>
      </p:sp>
      <p:sp>
        <p:nvSpPr>
          <p:cNvPr id="25" name="IRS"/>
          <p:cNvSpPr/>
          <p:nvPr/>
        </p:nvSpPr>
        <p:spPr>
          <a:xfrm>
            <a:off x="4480560" y="5074920"/>
            <a:ext cx="1188720" cy="502920"/>
          </a:xfrm>
          <a:prstGeom prst="roundRect">
            <a:avLst/>
          </a:prstGeom>
          <a:gradFill rotWithShape="1">
            <a:gsLst>
              <a:gs pos="0">
                <a:srgbClr val="F9CF8D"/>
              </a:gs>
              <a:gs pos="55000">
                <a:srgbClr val="F5B041"/>
              </a:gs>
              <a:gs pos="100000">
                <a:srgbClr val="C48C34"/>
              </a:gs>
            </a:gsLst>
            <a:path path="circle">
              <a:fillToRect l="32000" t="28000" r="68000" b="72000"/>
            </a:path>
          </a:gradFill>
          <a:ln w="15875" cap="rnd">
            <a:solidFill>
              <a:srgbClr val="9C640C"/>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IRS-1/2</a:t>
            </a:r>
            <a:endParaRPr lang="es-AR" sz="1300" dirty="0">
              <a:latin typeface="Bahnschrift SemiBold Condensed"/>
            </a:endParaRPr>
          </a:p>
        </p:txBody>
      </p:sp>
      <p:sp>
        <p:nvSpPr>
          <p:cNvPr id="26" name="Fosfato IRS"/>
          <p:cNvSpPr/>
          <p:nvPr/>
        </p:nvSpPr>
        <p:spPr>
          <a:xfrm>
            <a:off x="5440680" y="4937760"/>
            <a:ext cx="292608" cy="292608"/>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72" b="1" dirty="0">
                <a:solidFill>
                  <a:srgbClr val="1E1E1E"/>
                </a:solidFill>
                <a:latin typeface="Bahnschrift SemiBold Condensed"/>
                <a:ea typeface="Bahnschrift SemiBold Condensed"/>
                <a:cs typeface="Bahnschrift SemiBold Condensed"/>
                <a:sym typeface="Bahnschrift SemiBold Condensed"/>
              </a:rPr>
              <a:t>P</a:t>
            </a:r>
            <a:endParaRPr lang="es-AR" sz="1072" dirty="0">
              <a:latin typeface="Bahnschrift SemiBold Condensed"/>
            </a:endParaRPr>
          </a:p>
        </p:txBody>
      </p:sp>
      <p:grpSp>
        <p:nvGrpSpPr>
          <p:cNvPr id="27" name="!!Texto secuencia"/>
          <p:cNvGrpSpPr/>
          <p:nvPr/>
        </p:nvGrpSpPr>
        <p:grpSpPr>
          <a:xfrm>
            <a:off x="8001000" y="1051560"/>
            <a:ext cx="3794760" cy="3657600"/>
            <a:chOff x="8001000" y="1051560"/>
            <a:chExt cx="3794760" cy="3657600"/>
          </a:xfrm>
        </p:grpSpPr>
        <p:sp>
          <p:nvSpPr>
            <p:cNvPr id="28" name="Forma 27"/>
            <p:cNvSpPr/>
            <p:nvPr/>
          </p:nvSpPr>
          <p:spPr>
            <a:xfrm>
              <a:off x="8001000" y="1234440"/>
              <a:ext cx="379476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insulina se une a las subunidades </a:t>
              </a:r>
              <a:r>
                <a:rPr lang="es-AR" sz="1750" b="1" dirty="0">
                  <a:solidFill>
                    <a:srgbClr val="1E1E1E"/>
                  </a:solidFill>
                  <a:latin typeface="Bahnschrift"/>
                  <a:ea typeface="Bahnschrift"/>
                  <a:cs typeface="Bahnschrift"/>
                  <a:sym typeface="Bahnschrift"/>
                </a:rPr>
                <a:t>α</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Cambio conformacional → </a:t>
              </a:r>
              <a:r>
                <a:rPr lang="es-AR" sz="1750" b="1" dirty="0">
                  <a:solidFill>
                    <a:srgbClr val="1E1E1E"/>
                  </a:solidFill>
                  <a:latin typeface="Bahnschrift"/>
                  <a:ea typeface="Bahnschrift"/>
                  <a:cs typeface="Bahnschrift"/>
                  <a:sym typeface="Bahnschrift"/>
                </a:rPr>
                <a:t>autofosforilación</a:t>
              </a:r>
              <a:r>
                <a:rPr lang="es-AR" sz="1750" dirty="0">
                  <a:solidFill>
                    <a:srgbClr val="1E1E1E"/>
                  </a:solidFill>
                  <a:latin typeface="Bahnschrift"/>
                  <a:ea typeface="Bahnschrift"/>
                  <a:cs typeface="Bahnschrift"/>
                  <a:sym typeface="Bahnschrift"/>
                </a:rPr>
                <a:t> en tirosinas de las subunidades </a:t>
              </a:r>
              <a:r>
                <a:rPr lang="es-AR" sz="1750" b="1" dirty="0">
                  <a:solidFill>
                    <a:srgbClr val="1E1E1E"/>
                  </a:solidFill>
                  <a:latin typeface="Bahnschrift"/>
                  <a:ea typeface="Bahnschrift"/>
                  <a:cs typeface="Bahnschrift"/>
                  <a:sym typeface="Bahnschrift"/>
                </a:rPr>
                <a:t>β</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Las fosfotirosinas reclutan </a:t>
              </a:r>
              <a:r>
                <a:rPr lang="es-AR" sz="1750" b="1" dirty="0">
                  <a:solidFill>
                    <a:srgbClr val="1E1E1E"/>
                  </a:solidFill>
                  <a:latin typeface="Bahnschrift"/>
                  <a:ea typeface="Bahnschrift"/>
                  <a:cs typeface="Bahnschrift"/>
                  <a:sym typeface="Bahnschrift"/>
                </a:rPr>
                <a:t>IRS</a:t>
              </a:r>
              <a:r>
                <a:rPr lang="es-AR" sz="1750" dirty="0">
                  <a:solidFill>
                    <a:srgbClr val="1E1E1E"/>
                  </a:solidFill>
                  <a:latin typeface="Bahnschrift"/>
                  <a:ea typeface="Bahnschrift"/>
                  <a:cs typeface="Bahnschrift"/>
                  <a:sym typeface="Bahnschrift"/>
                </a:rPr>
                <a:t>, que también se fosforila y sirve de plataforma.</a:t>
              </a:r>
              <a:endParaRPr lang="es-AR" sz="1750" dirty="0">
                <a:latin typeface="Bahnschrift"/>
              </a:endParaRPr>
            </a:p>
          </p:txBody>
        </p:sp>
        <p:sp>
          <p:nvSpPr>
            <p:cNvPr id="29" name="Forma 28"/>
            <p:cNvSpPr/>
            <p:nvPr/>
          </p:nvSpPr>
          <p:spPr>
            <a:xfrm>
              <a:off x="8110728" y="1051560"/>
              <a:ext cx="114167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RECEPTOR</a:t>
              </a:r>
              <a:endParaRPr lang="es-AR" sz="1600" dirty="0">
                <a:latin typeface="Bahnschrift SemiBold Condensed"/>
              </a:endParaRPr>
            </a:p>
          </p:txBody>
        </p:sp>
      </p:grpSp>
      <p:sp>
        <p:nvSpPr>
          <p:cNvPr id="2" name="Etiqueta sección"/>
          <p:cNvSpPr/>
          <p:nvPr/>
        </p:nvSpPr>
        <p:spPr>
          <a:xfrm>
            <a:off x="9932380" y="201168"/>
            <a:ext cx="198499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5/6</a:t>
            </a:r>
            <a:endParaRPr lang="es-AR" sz="1300" dirty="0">
              <a:latin typeface="Bahnschrift SemiBold Condensed"/>
            </a:endParaRPr>
          </a:p>
        </p:txBody>
      </p:sp>
      <p:sp>
        <p:nvSpPr>
          <p:cNvPr id="3" name="Título"/>
          <p:cNvSpPr/>
          <p:nvPr/>
        </p:nvSpPr>
        <p:spPr>
          <a:xfrm>
            <a:off x="274320" y="146304"/>
            <a:ext cx="508968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RECEPTOR DE INSULINA: ACTIVACIÓN</a:t>
            </a:r>
            <a:endParaRPr lang="es-AR" sz="2600" dirty="0">
              <a:latin typeface="Bahnschrift SemiBold Condensed"/>
            </a:endParaRPr>
          </a:p>
        </p:txBody>
      </p:sp>
      <p:sp>
        <p:nvSpPr>
          <p:cNvPr id="3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40</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9"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038 0.1400 E" pathEditMode="relative" ptsTypes="">
                                      <p:cBhvr>
                                        <p:cTn id="4" dur="1100" fill="hold"/>
                                        <p:tgtEl>
                                          <p:spTgt spid="16"/>
                                        </p:tgtEl>
                                        <p:attrNameLst>
                                          <p:attrName>ppt_x</p:attrName>
                                          <p:attrName>ppt_y</p:attrName>
                                        </p:attrNameLst>
                                      </p:cBhvr>
                                      <p:rCtr x="187" y="7000"/>
                                    </p:animMotion>
                                  </p:childTnLst>
                                </p:cTn>
                              </p:par>
                            </p:childTnLst>
                          </p:cTn>
                        </p:par>
                        <p:par>
                          <p:cTn id="8" fill="hold">
                            <p:stCondLst>
                              <p:cond delay="1100"/>
                            </p:stCondLst>
                            <p:childTnLst>
                              <p:par>
                                <p:cTn id="6" presetID="6" presetClass="emph" presetSubtype="0" fill="hold" grpId="0" nodeType="afterEffect">
                                  <p:stCondLst>
                                    <p:cond delay="0"/>
                                  </p:stCondLst>
                                  <p:childTnLst>
                                    <p:animScale>
                                      <p:cBhvr>
                                        <p:cTn id="7" dur="300" autoRev="1" fill="hold"/>
                                        <p:tgtEl>
                                          <p:spTgt spid="16"/>
                                        </p:tgtEl>
                                      </p:cBhvr>
                                      <p:by x="112000" y="112000"/>
                                    </p:animScale>
                                  </p:childTnLst>
                                </p:cTn>
                              </p:par>
                            </p:childTnLst>
                          </p:cTn>
                        </p:par>
                      </p:childTnLst>
                    </p:cTn>
                  </p:par>
                  <p:par>
                    <p:cTn id="31" fill="hold">
                      <p:stCondLst>
                        <p:cond delay="indefinite"/>
                      </p:stCondLst>
                      <p:childTnLst>
                        <p:par>
                          <p:cTn id="30"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fltVal val="0"/>
                                          </p:val>
                                        </p:tav>
                                        <p:tav tm="100000">
                                          <p:val>
                                            <p:strVal val="#ppt_h"/>
                                          </p:val>
                                        </p:tav>
                                      </p:tavLst>
                                    </p:anim>
                                    <p:animEffect transition="in" filter="fade">
                                      <p:cBhvr>
                                        <p:cTn id="14" dur="500"/>
                                        <p:tgtEl>
                                          <p:spTgt spid="21"/>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p:cTn id="17" dur="500" fill="hold"/>
                                        <p:tgtEl>
                                          <p:spTgt spid="22"/>
                                        </p:tgtEl>
                                        <p:attrNameLst>
                                          <p:attrName>ppt_w</p:attrName>
                                        </p:attrNameLst>
                                      </p:cBhvr>
                                      <p:tavLst>
                                        <p:tav tm="0">
                                          <p:val>
                                            <p:fltVal val="0"/>
                                          </p:val>
                                        </p:tav>
                                        <p:tav tm="100000">
                                          <p:val>
                                            <p:strVal val="#ppt_w"/>
                                          </p:val>
                                        </p:tav>
                                      </p:tavLst>
                                    </p:anim>
                                    <p:anim calcmode="lin" valueType="num">
                                      <p:cBhvr>
                                        <p:cTn id="18" dur="500" fill="hold"/>
                                        <p:tgtEl>
                                          <p:spTgt spid="22"/>
                                        </p:tgtEl>
                                        <p:attrNameLst>
                                          <p:attrName>ppt_h</p:attrName>
                                        </p:attrNameLst>
                                      </p:cBhvr>
                                      <p:tavLst>
                                        <p:tav tm="0">
                                          <p:val>
                                            <p:fltVal val="0"/>
                                          </p:val>
                                        </p:tav>
                                        <p:tav tm="100000">
                                          <p:val>
                                            <p:strVal val="#ppt_h"/>
                                          </p:val>
                                        </p:tav>
                                      </p:tavLst>
                                    </p:anim>
                                    <p:animEffect transition="in" filter="fade">
                                      <p:cBhvr>
                                        <p:cTn id="19" dur="500"/>
                                        <p:tgtEl>
                                          <p:spTgt spid="22"/>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childTnLst>
                          </p:cTn>
                        </p:par>
                      </p:childTnLst>
                    </p:cTn>
                  </p:par>
                  <p:par>
                    <p:cTn id="45"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childTnLst>
                          </p:cTn>
                        </p:par>
                        <p:par>
                          <p:cTn id="38" fill="hold">
                            <p:stCondLst>
                              <p:cond delay="500"/>
                            </p:stCondLst>
                            <p:childTnLst>
                              <p:par>
                                <p:cTn id="36" presetID="0" presetClass="path" presetSubtype="0" accel="20000" decel="20000" fill="hold" grpId="0" nodeType="afterEffect">
                                  <p:stCondLst>
                                    <p:cond delay="0"/>
                                  </p:stCondLst>
                                  <p:childTnLst>
                                    <p:animMotion origin="layout" path="M 0 0 L -0.0300 -0.0333 E" pathEditMode="relative" ptsTypes="">
                                      <p:cBhvr>
                                        <p:cTn id="37" dur="800" fill="hold"/>
                                        <p:tgtEl>
                                          <p:spTgt spid="25"/>
                                        </p:tgtEl>
                                        <p:attrNameLst>
                                          <p:attrName>ppt_x</p:attrName>
                                          <p:attrName>ppt_y</p:attrName>
                                        </p:attrNameLst>
                                      </p:cBhvr>
                                      <p:rCtr x="-1500" y="-1666"/>
                                    </p:animMotion>
                                  </p:childTnLst>
                                </p:cTn>
                              </p:par>
                            </p:childTnLst>
                          </p:cTn>
                        </p:par>
                        <p:par>
                          <p:cTn id="44" fill="hold">
                            <p:stCondLst>
                              <p:cond delay="1300"/>
                            </p:stCondLst>
                            <p:childTnLst>
                              <p:par>
                                <p:cTn id="39" presetID="53" presetClass="entr" presetSubtype="16"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 calcmode="lin" valueType="num">
                                      <p:cBhvr>
                                        <p:cTn id="41" dur="500" fill="hold"/>
                                        <p:tgtEl>
                                          <p:spTgt spid="26"/>
                                        </p:tgtEl>
                                        <p:attrNameLst>
                                          <p:attrName>ppt_w</p:attrName>
                                        </p:attrNameLst>
                                      </p:cBhvr>
                                      <p:tavLst>
                                        <p:tav tm="0">
                                          <p:val>
                                            <p:fltVal val="0"/>
                                          </p:val>
                                        </p:tav>
                                        <p:tav tm="100000">
                                          <p:val>
                                            <p:strVal val="#ppt_w"/>
                                          </p:val>
                                        </p:tav>
                                      </p:tavLst>
                                    </p:anim>
                                    <p:anim calcmode="lin" valueType="num">
                                      <p:cBhvr>
                                        <p:cTn id="42" dur="500" fill="hold"/>
                                        <p:tgtEl>
                                          <p:spTgt spid="26"/>
                                        </p:tgtEl>
                                        <p:attrNameLst>
                                          <p:attrName>ppt_h</p:attrName>
                                        </p:attrNameLst>
                                      </p:cBhvr>
                                      <p:tavLst>
                                        <p:tav tm="0">
                                          <p:val>
                                            <p:fltVal val="0"/>
                                          </p:val>
                                        </p:tav>
                                        <p:tav tm="100000">
                                          <p:val>
                                            <p:strVal val="#ppt_h"/>
                                          </p:val>
                                        </p:tav>
                                      </p:tavLst>
                                    </p:anim>
                                    <p:animEffect transition="in" filter="fade">
                                      <p:cBhvr>
                                        <p:cTn id="4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1" grpId="0" animBg="1"/>
      <p:bldP spid="22" grpId="0" animBg="1"/>
      <p:bldP spid="23" grpId="0" animBg="1"/>
      <p:bldP spid="24" grpId="0" animBg="1"/>
      <p:bldP spid="25" grpId="0" animBg="1"/>
      <p:bldP spid="26" grpId="0" animBg="1"/>
    </p:bldLst>
  </p:timing>
</p:sld>
</file>

<file path=ppt/slides/slide4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embrana"/>
          <p:cNvGrpSpPr/>
          <p:nvPr/>
        </p:nvGrpSpPr>
        <p:grpSpPr>
          <a:xfrm>
            <a:off x="274320" y="1600200"/>
            <a:ext cx="11612880" cy="365760"/>
            <a:chOff x="274320" y="1600200"/>
            <a:chExt cx="11612880" cy="365760"/>
          </a:xfrm>
        </p:grpSpPr>
        <p:sp>
          <p:nvSpPr>
            <p:cNvPr id="5" name="Forma 4"/>
            <p:cNvSpPr/>
            <p:nvPr/>
          </p:nvSpPr>
          <p:spPr>
            <a:xfrm>
              <a:off x="274320" y="1666037"/>
              <a:ext cx="11612880" cy="234086"/>
            </a:xfrm>
            <a:prstGeom prst="rect">
              <a:avLst/>
            </a:prstGeom>
            <a:solidFill>
              <a:srgbClr val="FDEBD0"/>
            </a:solidFill>
            <a:ln>
              <a:noFill/>
            </a:ln>
          </p:spPr>
        </p:sp>
        <p:sp>
          <p:nvSpPr>
            <p:cNvPr id="6" name="Forma 5"/>
            <p:cNvSpPr/>
            <p:nvPr/>
          </p:nvSpPr>
          <p:spPr>
            <a:xfrm>
              <a:off x="274320" y="1600200"/>
              <a:ext cx="11612880" cy="365760"/>
            </a:xfrm>
            <a:custGeom>
              <a:avLst/>
              <a:gdLst/>
              <a:ahLst/>
              <a:cxnLst/>
              <a:rect l="0" t="0" r="r" b="b"/>
              <a:pathLst>
                <a:path w="12700" h="40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8" y="47"/>
                  </a:moveTo>
                  <a:cubicBezTo>
                    <a:pt x="198" y="72"/>
                    <a:pt x="176" y="94"/>
                    <a:pt x="151" y="94"/>
                  </a:cubicBezTo>
                  <a:cubicBezTo>
                    <a:pt x="125" y="94"/>
                    <a:pt x="104" y="72"/>
                    <a:pt x="104" y="47"/>
                  </a:cubicBezTo>
                  <a:cubicBezTo>
                    <a:pt x="104" y="21"/>
                    <a:pt x="125" y="0"/>
                    <a:pt x="151" y="0"/>
                  </a:cubicBezTo>
                  <a:cubicBezTo>
                    <a:pt x="176" y="0"/>
                    <a:pt x="198" y="21"/>
                    <a:pt x="198" y="47"/>
                  </a:cubicBezTo>
                  <a:close/>
                  <a:moveTo>
                    <a:pt x="298" y="47"/>
                  </a:moveTo>
                  <a:cubicBezTo>
                    <a:pt x="298" y="72"/>
                    <a:pt x="276" y="94"/>
                    <a:pt x="251" y="94"/>
                  </a:cubicBezTo>
                  <a:cubicBezTo>
                    <a:pt x="225" y="94"/>
                    <a:pt x="204" y="72"/>
                    <a:pt x="204" y="47"/>
                  </a:cubicBezTo>
                  <a:cubicBezTo>
                    <a:pt x="204" y="21"/>
                    <a:pt x="225" y="0"/>
                    <a:pt x="251" y="0"/>
                  </a:cubicBezTo>
                  <a:cubicBezTo>
                    <a:pt x="276" y="0"/>
                    <a:pt x="298" y="21"/>
                    <a:pt x="298" y="47"/>
                  </a:cubicBezTo>
                  <a:close/>
                  <a:moveTo>
                    <a:pt x="399" y="47"/>
                  </a:moveTo>
                  <a:cubicBezTo>
                    <a:pt x="399" y="72"/>
                    <a:pt x="377" y="94"/>
                    <a:pt x="352" y="94"/>
                  </a:cubicBezTo>
                  <a:cubicBezTo>
                    <a:pt x="326" y="94"/>
                    <a:pt x="305" y="72"/>
                    <a:pt x="305" y="47"/>
                  </a:cubicBezTo>
                  <a:cubicBezTo>
                    <a:pt x="305" y="21"/>
                    <a:pt x="326" y="0"/>
                    <a:pt x="352" y="0"/>
                  </a:cubicBezTo>
                  <a:cubicBezTo>
                    <a:pt x="377" y="0"/>
                    <a:pt x="399" y="21"/>
                    <a:pt x="399" y="47"/>
                  </a:cubicBezTo>
                  <a:close/>
                  <a:moveTo>
                    <a:pt x="500" y="47"/>
                  </a:moveTo>
                  <a:cubicBezTo>
                    <a:pt x="500" y="72"/>
                    <a:pt x="478" y="94"/>
                    <a:pt x="453" y="94"/>
                  </a:cubicBezTo>
                  <a:cubicBezTo>
                    <a:pt x="427" y="94"/>
                    <a:pt x="406" y="72"/>
                    <a:pt x="406" y="47"/>
                  </a:cubicBezTo>
                  <a:cubicBezTo>
                    <a:pt x="406" y="21"/>
                    <a:pt x="427" y="0"/>
                    <a:pt x="453" y="0"/>
                  </a:cubicBezTo>
                  <a:cubicBezTo>
                    <a:pt x="478" y="0"/>
                    <a:pt x="500" y="21"/>
                    <a:pt x="500" y="47"/>
                  </a:cubicBezTo>
                  <a:close/>
                  <a:moveTo>
                    <a:pt x="601" y="47"/>
                  </a:moveTo>
                  <a:cubicBezTo>
                    <a:pt x="601" y="72"/>
                    <a:pt x="579" y="94"/>
                    <a:pt x="554" y="94"/>
                  </a:cubicBezTo>
                  <a:cubicBezTo>
                    <a:pt x="528" y="94"/>
                    <a:pt x="507" y="72"/>
                    <a:pt x="507" y="47"/>
                  </a:cubicBezTo>
                  <a:cubicBezTo>
                    <a:pt x="507" y="21"/>
                    <a:pt x="528" y="0"/>
                    <a:pt x="554" y="0"/>
                  </a:cubicBezTo>
                  <a:cubicBezTo>
                    <a:pt x="579" y="0"/>
                    <a:pt x="601" y="21"/>
                    <a:pt x="601" y="47"/>
                  </a:cubicBezTo>
                  <a:close/>
                  <a:moveTo>
                    <a:pt x="702" y="47"/>
                  </a:moveTo>
                  <a:cubicBezTo>
                    <a:pt x="702" y="72"/>
                    <a:pt x="680" y="94"/>
                    <a:pt x="655" y="94"/>
                  </a:cubicBezTo>
                  <a:cubicBezTo>
                    <a:pt x="629" y="94"/>
                    <a:pt x="608" y="72"/>
                    <a:pt x="608" y="47"/>
                  </a:cubicBezTo>
                  <a:cubicBezTo>
                    <a:pt x="608" y="21"/>
                    <a:pt x="629" y="0"/>
                    <a:pt x="655" y="0"/>
                  </a:cubicBezTo>
                  <a:cubicBezTo>
                    <a:pt x="680" y="0"/>
                    <a:pt x="702" y="21"/>
                    <a:pt x="702" y="47"/>
                  </a:cubicBezTo>
                  <a:close/>
                  <a:moveTo>
                    <a:pt x="802" y="47"/>
                  </a:moveTo>
                  <a:cubicBezTo>
                    <a:pt x="802" y="72"/>
                    <a:pt x="780" y="94"/>
                    <a:pt x="755" y="94"/>
                  </a:cubicBezTo>
                  <a:cubicBezTo>
                    <a:pt x="729" y="94"/>
                    <a:pt x="708" y="72"/>
                    <a:pt x="708" y="47"/>
                  </a:cubicBezTo>
                  <a:cubicBezTo>
                    <a:pt x="708" y="21"/>
                    <a:pt x="729" y="0"/>
                    <a:pt x="755" y="0"/>
                  </a:cubicBezTo>
                  <a:cubicBezTo>
                    <a:pt x="780" y="0"/>
                    <a:pt x="802" y="21"/>
                    <a:pt x="802" y="47"/>
                  </a:cubicBezTo>
                  <a:close/>
                  <a:moveTo>
                    <a:pt x="903" y="47"/>
                  </a:moveTo>
                  <a:cubicBezTo>
                    <a:pt x="903" y="72"/>
                    <a:pt x="881" y="94"/>
                    <a:pt x="856" y="94"/>
                  </a:cubicBezTo>
                  <a:cubicBezTo>
                    <a:pt x="830" y="94"/>
                    <a:pt x="809" y="72"/>
                    <a:pt x="809" y="47"/>
                  </a:cubicBezTo>
                  <a:cubicBezTo>
                    <a:pt x="809" y="21"/>
                    <a:pt x="830" y="0"/>
                    <a:pt x="856" y="0"/>
                  </a:cubicBezTo>
                  <a:cubicBezTo>
                    <a:pt x="881" y="0"/>
                    <a:pt x="903" y="21"/>
                    <a:pt x="903" y="47"/>
                  </a:cubicBezTo>
                  <a:close/>
                  <a:moveTo>
                    <a:pt x="1004" y="47"/>
                  </a:moveTo>
                  <a:cubicBezTo>
                    <a:pt x="1004" y="72"/>
                    <a:pt x="982" y="94"/>
                    <a:pt x="957" y="94"/>
                  </a:cubicBezTo>
                  <a:cubicBezTo>
                    <a:pt x="931" y="94"/>
                    <a:pt x="910" y="72"/>
                    <a:pt x="910" y="47"/>
                  </a:cubicBezTo>
                  <a:cubicBezTo>
                    <a:pt x="910" y="21"/>
                    <a:pt x="931" y="0"/>
                    <a:pt x="957" y="0"/>
                  </a:cubicBezTo>
                  <a:cubicBezTo>
                    <a:pt x="982" y="0"/>
                    <a:pt x="1004" y="21"/>
                    <a:pt x="1004" y="47"/>
                  </a:cubicBezTo>
                  <a:close/>
                  <a:moveTo>
                    <a:pt x="1105" y="47"/>
                  </a:moveTo>
                  <a:cubicBezTo>
                    <a:pt x="1105" y="72"/>
                    <a:pt x="1083" y="94"/>
                    <a:pt x="1058" y="94"/>
                  </a:cubicBezTo>
                  <a:cubicBezTo>
                    <a:pt x="1032" y="94"/>
                    <a:pt x="1011" y="72"/>
                    <a:pt x="1011" y="47"/>
                  </a:cubicBezTo>
                  <a:cubicBezTo>
                    <a:pt x="1011" y="21"/>
                    <a:pt x="1032" y="0"/>
                    <a:pt x="1058" y="0"/>
                  </a:cubicBezTo>
                  <a:cubicBezTo>
                    <a:pt x="1083" y="0"/>
                    <a:pt x="1105" y="21"/>
                    <a:pt x="1105" y="47"/>
                  </a:cubicBezTo>
                  <a:close/>
                  <a:moveTo>
                    <a:pt x="1206" y="47"/>
                  </a:moveTo>
                  <a:cubicBezTo>
                    <a:pt x="1206" y="72"/>
                    <a:pt x="1184" y="94"/>
                    <a:pt x="1159" y="94"/>
                  </a:cubicBezTo>
                  <a:cubicBezTo>
                    <a:pt x="1133" y="94"/>
                    <a:pt x="1112" y="72"/>
                    <a:pt x="1112" y="47"/>
                  </a:cubicBezTo>
                  <a:cubicBezTo>
                    <a:pt x="1112" y="21"/>
                    <a:pt x="1133" y="0"/>
                    <a:pt x="1159" y="0"/>
                  </a:cubicBezTo>
                  <a:cubicBezTo>
                    <a:pt x="1184" y="0"/>
                    <a:pt x="1206" y="21"/>
                    <a:pt x="1206" y="47"/>
                  </a:cubicBezTo>
                  <a:close/>
                  <a:moveTo>
                    <a:pt x="1306" y="47"/>
                  </a:moveTo>
                  <a:cubicBezTo>
                    <a:pt x="1306" y="72"/>
                    <a:pt x="1284" y="94"/>
                    <a:pt x="1259" y="94"/>
                  </a:cubicBezTo>
                  <a:cubicBezTo>
                    <a:pt x="1233" y="94"/>
                    <a:pt x="1212" y="72"/>
                    <a:pt x="1212" y="47"/>
                  </a:cubicBezTo>
                  <a:cubicBezTo>
                    <a:pt x="1212" y="21"/>
                    <a:pt x="1233" y="0"/>
                    <a:pt x="1259" y="0"/>
                  </a:cubicBezTo>
                  <a:cubicBezTo>
                    <a:pt x="1284" y="0"/>
                    <a:pt x="1306" y="21"/>
                    <a:pt x="1306" y="47"/>
                  </a:cubicBezTo>
                  <a:close/>
                  <a:moveTo>
                    <a:pt x="1407" y="47"/>
                  </a:moveTo>
                  <a:cubicBezTo>
                    <a:pt x="1407" y="72"/>
                    <a:pt x="1385" y="94"/>
                    <a:pt x="1360" y="94"/>
                  </a:cubicBezTo>
                  <a:cubicBezTo>
                    <a:pt x="1334" y="94"/>
                    <a:pt x="1313" y="72"/>
                    <a:pt x="1313" y="47"/>
                  </a:cubicBezTo>
                  <a:cubicBezTo>
                    <a:pt x="1313" y="21"/>
                    <a:pt x="1334" y="0"/>
                    <a:pt x="1360" y="0"/>
                  </a:cubicBezTo>
                  <a:cubicBezTo>
                    <a:pt x="1385" y="0"/>
                    <a:pt x="1407" y="21"/>
                    <a:pt x="1407" y="47"/>
                  </a:cubicBezTo>
                  <a:close/>
                  <a:moveTo>
                    <a:pt x="1508" y="47"/>
                  </a:moveTo>
                  <a:cubicBezTo>
                    <a:pt x="1508" y="72"/>
                    <a:pt x="1486" y="94"/>
                    <a:pt x="1461" y="94"/>
                  </a:cubicBezTo>
                  <a:cubicBezTo>
                    <a:pt x="1435" y="94"/>
                    <a:pt x="1414" y="72"/>
                    <a:pt x="1414" y="47"/>
                  </a:cubicBezTo>
                  <a:cubicBezTo>
                    <a:pt x="1414" y="21"/>
                    <a:pt x="1435" y="0"/>
                    <a:pt x="1461" y="0"/>
                  </a:cubicBezTo>
                  <a:cubicBezTo>
                    <a:pt x="1486" y="0"/>
                    <a:pt x="1508" y="21"/>
                    <a:pt x="1508" y="47"/>
                  </a:cubicBezTo>
                  <a:close/>
                  <a:moveTo>
                    <a:pt x="1609" y="47"/>
                  </a:moveTo>
                  <a:cubicBezTo>
                    <a:pt x="1609" y="72"/>
                    <a:pt x="1587" y="94"/>
                    <a:pt x="1562" y="94"/>
                  </a:cubicBezTo>
                  <a:cubicBezTo>
                    <a:pt x="1536" y="94"/>
                    <a:pt x="1515" y="72"/>
                    <a:pt x="1515" y="47"/>
                  </a:cubicBezTo>
                  <a:cubicBezTo>
                    <a:pt x="1515" y="21"/>
                    <a:pt x="1536" y="0"/>
                    <a:pt x="1562" y="0"/>
                  </a:cubicBezTo>
                  <a:cubicBezTo>
                    <a:pt x="1587" y="0"/>
                    <a:pt x="1609" y="21"/>
                    <a:pt x="1609" y="47"/>
                  </a:cubicBezTo>
                  <a:close/>
                  <a:moveTo>
                    <a:pt x="1710" y="47"/>
                  </a:moveTo>
                  <a:cubicBezTo>
                    <a:pt x="1710" y="72"/>
                    <a:pt x="1688" y="94"/>
                    <a:pt x="1663" y="94"/>
                  </a:cubicBezTo>
                  <a:cubicBezTo>
                    <a:pt x="1637" y="94"/>
                    <a:pt x="1616" y="72"/>
                    <a:pt x="1616" y="47"/>
                  </a:cubicBezTo>
                  <a:cubicBezTo>
                    <a:pt x="1616" y="21"/>
                    <a:pt x="1637" y="0"/>
                    <a:pt x="1663" y="0"/>
                  </a:cubicBezTo>
                  <a:cubicBezTo>
                    <a:pt x="1688" y="0"/>
                    <a:pt x="1710" y="21"/>
                    <a:pt x="1710" y="47"/>
                  </a:cubicBezTo>
                  <a:close/>
                  <a:moveTo>
                    <a:pt x="1810" y="47"/>
                  </a:moveTo>
                  <a:cubicBezTo>
                    <a:pt x="1810" y="72"/>
                    <a:pt x="1788" y="94"/>
                    <a:pt x="1763" y="94"/>
                  </a:cubicBezTo>
                  <a:cubicBezTo>
                    <a:pt x="1737" y="94"/>
                    <a:pt x="1716" y="72"/>
                    <a:pt x="1716" y="47"/>
                  </a:cubicBezTo>
                  <a:cubicBezTo>
                    <a:pt x="1716" y="21"/>
                    <a:pt x="1737" y="0"/>
                    <a:pt x="1763" y="0"/>
                  </a:cubicBezTo>
                  <a:cubicBezTo>
                    <a:pt x="1788" y="0"/>
                    <a:pt x="1810" y="21"/>
                    <a:pt x="1810" y="47"/>
                  </a:cubicBezTo>
                  <a:close/>
                  <a:moveTo>
                    <a:pt x="1911" y="47"/>
                  </a:moveTo>
                  <a:cubicBezTo>
                    <a:pt x="1911" y="72"/>
                    <a:pt x="1889" y="94"/>
                    <a:pt x="1864" y="94"/>
                  </a:cubicBezTo>
                  <a:cubicBezTo>
                    <a:pt x="1838" y="94"/>
                    <a:pt x="1817" y="72"/>
                    <a:pt x="1817" y="47"/>
                  </a:cubicBezTo>
                  <a:cubicBezTo>
                    <a:pt x="1817" y="21"/>
                    <a:pt x="1838" y="0"/>
                    <a:pt x="1864" y="0"/>
                  </a:cubicBezTo>
                  <a:cubicBezTo>
                    <a:pt x="1889" y="0"/>
                    <a:pt x="1911" y="21"/>
                    <a:pt x="1911" y="47"/>
                  </a:cubicBezTo>
                  <a:close/>
                  <a:moveTo>
                    <a:pt x="2012" y="47"/>
                  </a:moveTo>
                  <a:cubicBezTo>
                    <a:pt x="2012" y="72"/>
                    <a:pt x="1990" y="94"/>
                    <a:pt x="1965" y="94"/>
                  </a:cubicBezTo>
                  <a:cubicBezTo>
                    <a:pt x="1939" y="94"/>
                    <a:pt x="1918" y="72"/>
                    <a:pt x="1918" y="47"/>
                  </a:cubicBezTo>
                  <a:cubicBezTo>
                    <a:pt x="1918" y="21"/>
                    <a:pt x="1939" y="0"/>
                    <a:pt x="1965" y="0"/>
                  </a:cubicBezTo>
                  <a:cubicBezTo>
                    <a:pt x="1990" y="0"/>
                    <a:pt x="2012" y="21"/>
                    <a:pt x="2012" y="47"/>
                  </a:cubicBezTo>
                  <a:close/>
                  <a:moveTo>
                    <a:pt x="2113" y="47"/>
                  </a:moveTo>
                  <a:cubicBezTo>
                    <a:pt x="2113" y="72"/>
                    <a:pt x="2091" y="94"/>
                    <a:pt x="2066" y="94"/>
                  </a:cubicBezTo>
                  <a:cubicBezTo>
                    <a:pt x="2040" y="94"/>
                    <a:pt x="2019" y="72"/>
                    <a:pt x="2019" y="47"/>
                  </a:cubicBezTo>
                  <a:cubicBezTo>
                    <a:pt x="2019" y="21"/>
                    <a:pt x="2040" y="0"/>
                    <a:pt x="2066" y="0"/>
                  </a:cubicBezTo>
                  <a:cubicBezTo>
                    <a:pt x="2091" y="0"/>
                    <a:pt x="2113" y="21"/>
                    <a:pt x="2113" y="47"/>
                  </a:cubicBezTo>
                  <a:close/>
                  <a:moveTo>
                    <a:pt x="2214" y="47"/>
                  </a:moveTo>
                  <a:cubicBezTo>
                    <a:pt x="2214" y="72"/>
                    <a:pt x="2192" y="94"/>
                    <a:pt x="2167" y="94"/>
                  </a:cubicBezTo>
                  <a:cubicBezTo>
                    <a:pt x="2141" y="94"/>
                    <a:pt x="2120" y="72"/>
                    <a:pt x="2120" y="47"/>
                  </a:cubicBezTo>
                  <a:cubicBezTo>
                    <a:pt x="2120" y="21"/>
                    <a:pt x="2141" y="0"/>
                    <a:pt x="2167" y="0"/>
                  </a:cubicBezTo>
                  <a:cubicBezTo>
                    <a:pt x="2192" y="0"/>
                    <a:pt x="2214" y="21"/>
                    <a:pt x="2214" y="47"/>
                  </a:cubicBezTo>
                  <a:close/>
                  <a:moveTo>
                    <a:pt x="2314" y="47"/>
                  </a:moveTo>
                  <a:cubicBezTo>
                    <a:pt x="2314" y="72"/>
                    <a:pt x="2292" y="94"/>
                    <a:pt x="2267" y="94"/>
                  </a:cubicBezTo>
                  <a:cubicBezTo>
                    <a:pt x="2241" y="94"/>
                    <a:pt x="2220" y="72"/>
                    <a:pt x="2220" y="47"/>
                  </a:cubicBezTo>
                  <a:cubicBezTo>
                    <a:pt x="2220" y="21"/>
                    <a:pt x="2241" y="0"/>
                    <a:pt x="2267" y="0"/>
                  </a:cubicBezTo>
                  <a:cubicBezTo>
                    <a:pt x="2292" y="0"/>
                    <a:pt x="2314" y="21"/>
                    <a:pt x="2314" y="47"/>
                  </a:cubicBezTo>
                  <a:close/>
                  <a:moveTo>
                    <a:pt x="2415" y="47"/>
                  </a:moveTo>
                  <a:cubicBezTo>
                    <a:pt x="2415" y="72"/>
                    <a:pt x="2393" y="94"/>
                    <a:pt x="2368" y="94"/>
                  </a:cubicBezTo>
                  <a:cubicBezTo>
                    <a:pt x="2342" y="94"/>
                    <a:pt x="2321" y="72"/>
                    <a:pt x="2321" y="47"/>
                  </a:cubicBezTo>
                  <a:cubicBezTo>
                    <a:pt x="2321" y="21"/>
                    <a:pt x="2342" y="0"/>
                    <a:pt x="2368" y="0"/>
                  </a:cubicBezTo>
                  <a:cubicBezTo>
                    <a:pt x="2393" y="0"/>
                    <a:pt x="2415" y="21"/>
                    <a:pt x="2415" y="47"/>
                  </a:cubicBezTo>
                  <a:close/>
                  <a:moveTo>
                    <a:pt x="2516" y="47"/>
                  </a:moveTo>
                  <a:cubicBezTo>
                    <a:pt x="2516" y="72"/>
                    <a:pt x="2494" y="94"/>
                    <a:pt x="2469" y="94"/>
                  </a:cubicBezTo>
                  <a:cubicBezTo>
                    <a:pt x="2443" y="94"/>
                    <a:pt x="2422" y="72"/>
                    <a:pt x="2422" y="47"/>
                  </a:cubicBezTo>
                  <a:cubicBezTo>
                    <a:pt x="2422" y="21"/>
                    <a:pt x="2443" y="0"/>
                    <a:pt x="2469" y="0"/>
                  </a:cubicBezTo>
                  <a:cubicBezTo>
                    <a:pt x="2494" y="0"/>
                    <a:pt x="2516" y="21"/>
                    <a:pt x="2516" y="47"/>
                  </a:cubicBezTo>
                  <a:close/>
                  <a:moveTo>
                    <a:pt x="2617" y="47"/>
                  </a:moveTo>
                  <a:cubicBezTo>
                    <a:pt x="2617" y="72"/>
                    <a:pt x="2595" y="94"/>
                    <a:pt x="2570" y="94"/>
                  </a:cubicBezTo>
                  <a:cubicBezTo>
                    <a:pt x="2544" y="94"/>
                    <a:pt x="2523" y="72"/>
                    <a:pt x="2523" y="47"/>
                  </a:cubicBezTo>
                  <a:cubicBezTo>
                    <a:pt x="2523" y="21"/>
                    <a:pt x="2544" y="0"/>
                    <a:pt x="2570" y="0"/>
                  </a:cubicBezTo>
                  <a:cubicBezTo>
                    <a:pt x="2595" y="0"/>
                    <a:pt x="2617" y="21"/>
                    <a:pt x="2617" y="47"/>
                  </a:cubicBezTo>
                  <a:close/>
                  <a:moveTo>
                    <a:pt x="2718" y="47"/>
                  </a:moveTo>
                  <a:cubicBezTo>
                    <a:pt x="2718" y="72"/>
                    <a:pt x="2696" y="94"/>
                    <a:pt x="2671" y="94"/>
                  </a:cubicBezTo>
                  <a:cubicBezTo>
                    <a:pt x="2645" y="94"/>
                    <a:pt x="2624" y="72"/>
                    <a:pt x="2624" y="47"/>
                  </a:cubicBezTo>
                  <a:cubicBezTo>
                    <a:pt x="2624" y="21"/>
                    <a:pt x="2645" y="0"/>
                    <a:pt x="2671" y="0"/>
                  </a:cubicBezTo>
                  <a:cubicBezTo>
                    <a:pt x="2696" y="0"/>
                    <a:pt x="2718" y="21"/>
                    <a:pt x="2718" y="47"/>
                  </a:cubicBezTo>
                  <a:close/>
                  <a:moveTo>
                    <a:pt x="2818" y="47"/>
                  </a:moveTo>
                  <a:cubicBezTo>
                    <a:pt x="2818" y="72"/>
                    <a:pt x="2796" y="94"/>
                    <a:pt x="2771" y="94"/>
                  </a:cubicBezTo>
                  <a:cubicBezTo>
                    <a:pt x="2745" y="94"/>
                    <a:pt x="2724" y="72"/>
                    <a:pt x="2724" y="47"/>
                  </a:cubicBezTo>
                  <a:cubicBezTo>
                    <a:pt x="2724" y="21"/>
                    <a:pt x="2745" y="0"/>
                    <a:pt x="2771" y="0"/>
                  </a:cubicBezTo>
                  <a:cubicBezTo>
                    <a:pt x="2796" y="0"/>
                    <a:pt x="2818" y="21"/>
                    <a:pt x="2818" y="47"/>
                  </a:cubicBezTo>
                  <a:close/>
                  <a:moveTo>
                    <a:pt x="2919" y="47"/>
                  </a:moveTo>
                  <a:cubicBezTo>
                    <a:pt x="2919" y="72"/>
                    <a:pt x="2897" y="94"/>
                    <a:pt x="2872" y="94"/>
                  </a:cubicBezTo>
                  <a:cubicBezTo>
                    <a:pt x="2846" y="94"/>
                    <a:pt x="2825" y="72"/>
                    <a:pt x="2825" y="47"/>
                  </a:cubicBezTo>
                  <a:cubicBezTo>
                    <a:pt x="2825" y="21"/>
                    <a:pt x="2846" y="0"/>
                    <a:pt x="2872" y="0"/>
                  </a:cubicBezTo>
                  <a:cubicBezTo>
                    <a:pt x="2897" y="0"/>
                    <a:pt x="2919" y="21"/>
                    <a:pt x="2919" y="47"/>
                  </a:cubicBezTo>
                  <a:close/>
                  <a:moveTo>
                    <a:pt x="3020" y="47"/>
                  </a:moveTo>
                  <a:cubicBezTo>
                    <a:pt x="3020" y="72"/>
                    <a:pt x="2998" y="94"/>
                    <a:pt x="2973" y="94"/>
                  </a:cubicBezTo>
                  <a:cubicBezTo>
                    <a:pt x="2947" y="94"/>
                    <a:pt x="2926" y="72"/>
                    <a:pt x="2926" y="47"/>
                  </a:cubicBezTo>
                  <a:cubicBezTo>
                    <a:pt x="2926" y="21"/>
                    <a:pt x="2947" y="0"/>
                    <a:pt x="2973" y="0"/>
                  </a:cubicBezTo>
                  <a:cubicBezTo>
                    <a:pt x="2998" y="0"/>
                    <a:pt x="3020" y="21"/>
                    <a:pt x="3020" y="47"/>
                  </a:cubicBezTo>
                  <a:close/>
                  <a:moveTo>
                    <a:pt x="3121" y="47"/>
                  </a:moveTo>
                  <a:cubicBezTo>
                    <a:pt x="3121" y="72"/>
                    <a:pt x="3099" y="94"/>
                    <a:pt x="3074" y="94"/>
                  </a:cubicBezTo>
                  <a:cubicBezTo>
                    <a:pt x="3048" y="94"/>
                    <a:pt x="3027" y="72"/>
                    <a:pt x="3027" y="47"/>
                  </a:cubicBezTo>
                  <a:cubicBezTo>
                    <a:pt x="3027" y="21"/>
                    <a:pt x="3048" y="0"/>
                    <a:pt x="3074" y="0"/>
                  </a:cubicBezTo>
                  <a:cubicBezTo>
                    <a:pt x="3099" y="0"/>
                    <a:pt x="3121" y="21"/>
                    <a:pt x="3121" y="47"/>
                  </a:cubicBezTo>
                  <a:close/>
                  <a:moveTo>
                    <a:pt x="3222" y="47"/>
                  </a:moveTo>
                  <a:cubicBezTo>
                    <a:pt x="3222" y="72"/>
                    <a:pt x="3200" y="94"/>
                    <a:pt x="3175" y="94"/>
                  </a:cubicBezTo>
                  <a:cubicBezTo>
                    <a:pt x="3149" y="94"/>
                    <a:pt x="3128" y="72"/>
                    <a:pt x="3128" y="47"/>
                  </a:cubicBezTo>
                  <a:cubicBezTo>
                    <a:pt x="3128" y="21"/>
                    <a:pt x="3149" y="0"/>
                    <a:pt x="3175" y="0"/>
                  </a:cubicBezTo>
                  <a:cubicBezTo>
                    <a:pt x="3200" y="0"/>
                    <a:pt x="3222" y="21"/>
                    <a:pt x="3222" y="47"/>
                  </a:cubicBezTo>
                  <a:close/>
                  <a:moveTo>
                    <a:pt x="3322" y="47"/>
                  </a:moveTo>
                  <a:cubicBezTo>
                    <a:pt x="3322" y="72"/>
                    <a:pt x="3300" y="94"/>
                    <a:pt x="3275" y="94"/>
                  </a:cubicBezTo>
                  <a:cubicBezTo>
                    <a:pt x="3249" y="94"/>
                    <a:pt x="3228" y="72"/>
                    <a:pt x="3228" y="47"/>
                  </a:cubicBezTo>
                  <a:cubicBezTo>
                    <a:pt x="3228" y="21"/>
                    <a:pt x="3249" y="0"/>
                    <a:pt x="3275" y="0"/>
                  </a:cubicBezTo>
                  <a:cubicBezTo>
                    <a:pt x="3300" y="0"/>
                    <a:pt x="3322" y="21"/>
                    <a:pt x="3322" y="47"/>
                  </a:cubicBezTo>
                  <a:close/>
                  <a:moveTo>
                    <a:pt x="3423" y="47"/>
                  </a:moveTo>
                  <a:cubicBezTo>
                    <a:pt x="3423" y="72"/>
                    <a:pt x="3401" y="94"/>
                    <a:pt x="3376" y="94"/>
                  </a:cubicBezTo>
                  <a:cubicBezTo>
                    <a:pt x="3350" y="94"/>
                    <a:pt x="3329" y="72"/>
                    <a:pt x="3329" y="47"/>
                  </a:cubicBezTo>
                  <a:cubicBezTo>
                    <a:pt x="3329" y="21"/>
                    <a:pt x="3350" y="0"/>
                    <a:pt x="3376" y="0"/>
                  </a:cubicBezTo>
                  <a:cubicBezTo>
                    <a:pt x="3401" y="0"/>
                    <a:pt x="3423" y="21"/>
                    <a:pt x="3423" y="47"/>
                  </a:cubicBezTo>
                  <a:close/>
                  <a:moveTo>
                    <a:pt x="3524" y="47"/>
                  </a:moveTo>
                  <a:cubicBezTo>
                    <a:pt x="3524" y="72"/>
                    <a:pt x="3502" y="94"/>
                    <a:pt x="3477" y="94"/>
                  </a:cubicBezTo>
                  <a:cubicBezTo>
                    <a:pt x="3451" y="94"/>
                    <a:pt x="3430" y="72"/>
                    <a:pt x="3430" y="47"/>
                  </a:cubicBezTo>
                  <a:cubicBezTo>
                    <a:pt x="3430" y="21"/>
                    <a:pt x="3451" y="0"/>
                    <a:pt x="3477" y="0"/>
                  </a:cubicBezTo>
                  <a:cubicBezTo>
                    <a:pt x="3502" y="0"/>
                    <a:pt x="3524" y="21"/>
                    <a:pt x="3524" y="47"/>
                  </a:cubicBezTo>
                  <a:close/>
                  <a:moveTo>
                    <a:pt x="3625" y="47"/>
                  </a:moveTo>
                  <a:cubicBezTo>
                    <a:pt x="3625" y="72"/>
                    <a:pt x="3603" y="94"/>
                    <a:pt x="3578" y="94"/>
                  </a:cubicBezTo>
                  <a:cubicBezTo>
                    <a:pt x="3552" y="94"/>
                    <a:pt x="3531" y="72"/>
                    <a:pt x="3531" y="47"/>
                  </a:cubicBezTo>
                  <a:cubicBezTo>
                    <a:pt x="3531" y="21"/>
                    <a:pt x="3552" y="0"/>
                    <a:pt x="3578" y="0"/>
                  </a:cubicBezTo>
                  <a:cubicBezTo>
                    <a:pt x="3603" y="0"/>
                    <a:pt x="3625" y="21"/>
                    <a:pt x="3625" y="47"/>
                  </a:cubicBezTo>
                  <a:close/>
                  <a:moveTo>
                    <a:pt x="3725" y="47"/>
                  </a:moveTo>
                  <a:cubicBezTo>
                    <a:pt x="3725" y="72"/>
                    <a:pt x="3703" y="94"/>
                    <a:pt x="3678" y="94"/>
                  </a:cubicBezTo>
                  <a:cubicBezTo>
                    <a:pt x="3652" y="94"/>
                    <a:pt x="3631" y="72"/>
                    <a:pt x="3631" y="47"/>
                  </a:cubicBezTo>
                  <a:cubicBezTo>
                    <a:pt x="3631" y="21"/>
                    <a:pt x="3652" y="0"/>
                    <a:pt x="3678" y="0"/>
                  </a:cubicBezTo>
                  <a:cubicBezTo>
                    <a:pt x="3703" y="0"/>
                    <a:pt x="3725" y="21"/>
                    <a:pt x="3725" y="47"/>
                  </a:cubicBezTo>
                  <a:close/>
                  <a:moveTo>
                    <a:pt x="3826" y="47"/>
                  </a:moveTo>
                  <a:cubicBezTo>
                    <a:pt x="3826" y="72"/>
                    <a:pt x="3804" y="94"/>
                    <a:pt x="3779" y="94"/>
                  </a:cubicBezTo>
                  <a:cubicBezTo>
                    <a:pt x="3753" y="94"/>
                    <a:pt x="3732" y="72"/>
                    <a:pt x="3732" y="47"/>
                  </a:cubicBezTo>
                  <a:cubicBezTo>
                    <a:pt x="3732" y="21"/>
                    <a:pt x="3753" y="0"/>
                    <a:pt x="3779" y="0"/>
                  </a:cubicBezTo>
                  <a:cubicBezTo>
                    <a:pt x="3804" y="0"/>
                    <a:pt x="3826" y="21"/>
                    <a:pt x="3826" y="47"/>
                  </a:cubicBezTo>
                  <a:close/>
                  <a:moveTo>
                    <a:pt x="3927" y="47"/>
                  </a:moveTo>
                  <a:cubicBezTo>
                    <a:pt x="3927" y="72"/>
                    <a:pt x="3905" y="94"/>
                    <a:pt x="3880" y="94"/>
                  </a:cubicBezTo>
                  <a:cubicBezTo>
                    <a:pt x="3854" y="94"/>
                    <a:pt x="3833" y="72"/>
                    <a:pt x="3833" y="47"/>
                  </a:cubicBezTo>
                  <a:cubicBezTo>
                    <a:pt x="3833" y="21"/>
                    <a:pt x="3854" y="0"/>
                    <a:pt x="3880" y="0"/>
                  </a:cubicBezTo>
                  <a:cubicBezTo>
                    <a:pt x="3905" y="0"/>
                    <a:pt x="3927" y="21"/>
                    <a:pt x="3927" y="47"/>
                  </a:cubicBezTo>
                  <a:close/>
                  <a:moveTo>
                    <a:pt x="4028" y="47"/>
                  </a:moveTo>
                  <a:cubicBezTo>
                    <a:pt x="4028" y="72"/>
                    <a:pt x="4006" y="94"/>
                    <a:pt x="3981" y="94"/>
                  </a:cubicBezTo>
                  <a:cubicBezTo>
                    <a:pt x="3955" y="94"/>
                    <a:pt x="3934" y="72"/>
                    <a:pt x="3934" y="47"/>
                  </a:cubicBezTo>
                  <a:cubicBezTo>
                    <a:pt x="3934" y="21"/>
                    <a:pt x="3955" y="0"/>
                    <a:pt x="3981" y="0"/>
                  </a:cubicBezTo>
                  <a:cubicBezTo>
                    <a:pt x="4006" y="0"/>
                    <a:pt x="4028" y="21"/>
                    <a:pt x="4028" y="47"/>
                  </a:cubicBezTo>
                  <a:close/>
                  <a:moveTo>
                    <a:pt x="4129" y="47"/>
                  </a:moveTo>
                  <a:cubicBezTo>
                    <a:pt x="4129" y="72"/>
                    <a:pt x="4107" y="94"/>
                    <a:pt x="4082" y="94"/>
                  </a:cubicBezTo>
                  <a:cubicBezTo>
                    <a:pt x="4056" y="94"/>
                    <a:pt x="4035" y="72"/>
                    <a:pt x="4035" y="47"/>
                  </a:cubicBezTo>
                  <a:cubicBezTo>
                    <a:pt x="4035" y="21"/>
                    <a:pt x="4056" y="0"/>
                    <a:pt x="4082" y="0"/>
                  </a:cubicBezTo>
                  <a:cubicBezTo>
                    <a:pt x="4107" y="0"/>
                    <a:pt x="4129" y="21"/>
                    <a:pt x="4129" y="47"/>
                  </a:cubicBezTo>
                  <a:close/>
                  <a:moveTo>
                    <a:pt x="4229" y="47"/>
                  </a:moveTo>
                  <a:cubicBezTo>
                    <a:pt x="4229" y="72"/>
                    <a:pt x="4207" y="94"/>
                    <a:pt x="4182" y="94"/>
                  </a:cubicBezTo>
                  <a:cubicBezTo>
                    <a:pt x="4156" y="94"/>
                    <a:pt x="4135" y="72"/>
                    <a:pt x="4135" y="47"/>
                  </a:cubicBezTo>
                  <a:cubicBezTo>
                    <a:pt x="4135" y="21"/>
                    <a:pt x="4156" y="0"/>
                    <a:pt x="4182" y="0"/>
                  </a:cubicBezTo>
                  <a:cubicBezTo>
                    <a:pt x="4207" y="0"/>
                    <a:pt x="4229" y="21"/>
                    <a:pt x="4229" y="47"/>
                  </a:cubicBezTo>
                  <a:close/>
                  <a:moveTo>
                    <a:pt x="4330" y="47"/>
                  </a:moveTo>
                  <a:cubicBezTo>
                    <a:pt x="4330" y="72"/>
                    <a:pt x="4308" y="94"/>
                    <a:pt x="4283" y="94"/>
                  </a:cubicBezTo>
                  <a:cubicBezTo>
                    <a:pt x="4257" y="94"/>
                    <a:pt x="4236" y="72"/>
                    <a:pt x="4236" y="47"/>
                  </a:cubicBezTo>
                  <a:cubicBezTo>
                    <a:pt x="4236" y="21"/>
                    <a:pt x="4257" y="0"/>
                    <a:pt x="4283" y="0"/>
                  </a:cubicBezTo>
                  <a:cubicBezTo>
                    <a:pt x="4308" y="0"/>
                    <a:pt x="4330" y="21"/>
                    <a:pt x="4330" y="47"/>
                  </a:cubicBezTo>
                  <a:close/>
                  <a:moveTo>
                    <a:pt x="4431" y="47"/>
                  </a:moveTo>
                  <a:cubicBezTo>
                    <a:pt x="4431" y="72"/>
                    <a:pt x="4409" y="94"/>
                    <a:pt x="4384" y="94"/>
                  </a:cubicBezTo>
                  <a:cubicBezTo>
                    <a:pt x="4358" y="94"/>
                    <a:pt x="4337" y="72"/>
                    <a:pt x="4337" y="47"/>
                  </a:cubicBezTo>
                  <a:cubicBezTo>
                    <a:pt x="4337" y="21"/>
                    <a:pt x="4358" y="0"/>
                    <a:pt x="4384" y="0"/>
                  </a:cubicBezTo>
                  <a:cubicBezTo>
                    <a:pt x="4409" y="0"/>
                    <a:pt x="4431" y="21"/>
                    <a:pt x="4431" y="47"/>
                  </a:cubicBezTo>
                  <a:close/>
                  <a:moveTo>
                    <a:pt x="4532" y="47"/>
                  </a:moveTo>
                  <a:cubicBezTo>
                    <a:pt x="4532" y="72"/>
                    <a:pt x="4510" y="94"/>
                    <a:pt x="4485" y="94"/>
                  </a:cubicBezTo>
                  <a:cubicBezTo>
                    <a:pt x="4459" y="94"/>
                    <a:pt x="4438" y="72"/>
                    <a:pt x="4438" y="47"/>
                  </a:cubicBezTo>
                  <a:cubicBezTo>
                    <a:pt x="4438" y="21"/>
                    <a:pt x="4459" y="0"/>
                    <a:pt x="4485" y="0"/>
                  </a:cubicBezTo>
                  <a:cubicBezTo>
                    <a:pt x="4510" y="0"/>
                    <a:pt x="4532" y="21"/>
                    <a:pt x="4532" y="47"/>
                  </a:cubicBezTo>
                  <a:close/>
                  <a:moveTo>
                    <a:pt x="4633" y="47"/>
                  </a:moveTo>
                  <a:cubicBezTo>
                    <a:pt x="4633" y="72"/>
                    <a:pt x="4611" y="94"/>
                    <a:pt x="4586" y="94"/>
                  </a:cubicBezTo>
                  <a:cubicBezTo>
                    <a:pt x="4560" y="94"/>
                    <a:pt x="4539" y="72"/>
                    <a:pt x="4539" y="47"/>
                  </a:cubicBezTo>
                  <a:cubicBezTo>
                    <a:pt x="4539" y="21"/>
                    <a:pt x="4560" y="0"/>
                    <a:pt x="4586" y="0"/>
                  </a:cubicBezTo>
                  <a:cubicBezTo>
                    <a:pt x="4611" y="0"/>
                    <a:pt x="4633" y="21"/>
                    <a:pt x="4633" y="47"/>
                  </a:cubicBezTo>
                  <a:close/>
                  <a:moveTo>
                    <a:pt x="4733" y="47"/>
                  </a:moveTo>
                  <a:cubicBezTo>
                    <a:pt x="4733" y="72"/>
                    <a:pt x="4711" y="94"/>
                    <a:pt x="4686" y="94"/>
                  </a:cubicBezTo>
                  <a:cubicBezTo>
                    <a:pt x="4660" y="94"/>
                    <a:pt x="4639" y="72"/>
                    <a:pt x="4639" y="47"/>
                  </a:cubicBezTo>
                  <a:cubicBezTo>
                    <a:pt x="4639" y="21"/>
                    <a:pt x="4660" y="0"/>
                    <a:pt x="4686" y="0"/>
                  </a:cubicBezTo>
                  <a:cubicBezTo>
                    <a:pt x="4711" y="0"/>
                    <a:pt x="4733" y="21"/>
                    <a:pt x="4733" y="47"/>
                  </a:cubicBezTo>
                  <a:close/>
                  <a:moveTo>
                    <a:pt x="4834" y="47"/>
                  </a:moveTo>
                  <a:cubicBezTo>
                    <a:pt x="4834" y="72"/>
                    <a:pt x="4812" y="94"/>
                    <a:pt x="4787" y="94"/>
                  </a:cubicBezTo>
                  <a:cubicBezTo>
                    <a:pt x="4761" y="94"/>
                    <a:pt x="4740" y="72"/>
                    <a:pt x="4740" y="47"/>
                  </a:cubicBezTo>
                  <a:cubicBezTo>
                    <a:pt x="4740" y="21"/>
                    <a:pt x="4761" y="0"/>
                    <a:pt x="4787" y="0"/>
                  </a:cubicBezTo>
                  <a:cubicBezTo>
                    <a:pt x="4812" y="0"/>
                    <a:pt x="4834" y="21"/>
                    <a:pt x="4834" y="47"/>
                  </a:cubicBezTo>
                  <a:close/>
                  <a:moveTo>
                    <a:pt x="4935" y="47"/>
                  </a:moveTo>
                  <a:cubicBezTo>
                    <a:pt x="4935" y="72"/>
                    <a:pt x="4913" y="94"/>
                    <a:pt x="4888" y="94"/>
                  </a:cubicBezTo>
                  <a:cubicBezTo>
                    <a:pt x="4862" y="94"/>
                    <a:pt x="4841" y="72"/>
                    <a:pt x="4841" y="47"/>
                  </a:cubicBezTo>
                  <a:cubicBezTo>
                    <a:pt x="4841" y="21"/>
                    <a:pt x="4862" y="0"/>
                    <a:pt x="4888" y="0"/>
                  </a:cubicBezTo>
                  <a:cubicBezTo>
                    <a:pt x="4913" y="0"/>
                    <a:pt x="4935" y="21"/>
                    <a:pt x="4935" y="47"/>
                  </a:cubicBezTo>
                  <a:close/>
                  <a:moveTo>
                    <a:pt x="5036" y="47"/>
                  </a:moveTo>
                  <a:cubicBezTo>
                    <a:pt x="5036" y="72"/>
                    <a:pt x="5014" y="94"/>
                    <a:pt x="4989" y="94"/>
                  </a:cubicBezTo>
                  <a:cubicBezTo>
                    <a:pt x="4963" y="94"/>
                    <a:pt x="4942" y="72"/>
                    <a:pt x="4942" y="47"/>
                  </a:cubicBezTo>
                  <a:cubicBezTo>
                    <a:pt x="4942" y="21"/>
                    <a:pt x="4963" y="0"/>
                    <a:pt x="4989" y="0"/>
                  </a:cubicBezTo>
                  <a:cubicBezTo>
                    <a:pt x="5014" y="0"/>
                    <a:pt x="5036" y="21"/>
                    <a:pt x="5036" y="47"/>
                  </a:cubicBezTo>
                  <a:close/>
                  <a:moveTo>
                    <a:pt x="5137" y="47"/>
                  </a:moveTo>
                  <a:cubicBezTo>
                    <a:pt x="5137" y="72"/>
                    <a:pt x="5115" y="94"/>
                    <a:pt x="5090" y="94"/>
                  </a:cubicBezTo>
                  <a:cubicBezTo>
                    <a:pt x="5064" y="94"/>
                    <a:pt x="5043" y="72"/>
                    <a:pt x="5043" y="47"/>
                  </a:cubicBezTo>
                  <a:cubicBezTo>
                    <a:pt x="5043" y="21"/>
                    <a:pt x="5064" y="0"/>
                    <a:pt x="5090" y="0"/>
                  </a:cubicBezTo>
                  <a:cubicBezTo>
                    <a:pt x="5115" y="0"/>
                    <a:pt x="5137" y="21"/>
                    <a:pt x="5137" y="47"/>
                  </a:cubicBezTo>
                  <a:close/>
                  <a:moveTo>
                    <a:pt x="5237" y="47"/>
                  </a:moveTo>
                  <a:cubicBezTo>
                    <a:pt x="5237" y="72"/>
                    <a:pt x="5215" y="94"/>
                    <a:pt x="5190" y="94"/>
                  </a:cubicBezTo>
                  <a:cubicBezTo>
                    <a:pt x="5164" y="94"/>
                    <a:pt x="5143" y="72"/>
                    <a:pt x="5143" y="47"/>
                  </a:cubicBezTo>
                  <a:cubicBezTo>
                    <a:pt x="5143" y="21"/>
                    <a:pt x="5164" y="0"/>
                    <a:pt x="5190" y="0"/>
                  </a:cubicBezTo>
                  <a:cubicBezTo>
                    <a:pt x="5215" y="0"/>
                    <a:pt x="5237" y="21"/>
                    <a:pt x="5237" y="47"/>
                  </a:cubicBezTo>
                  <a:close/>
                  <a:moveTo>
                    <a:pt x="5338" y="47"/>
                  </a:moveTo>
                  <a:cubicBezTo>
                    <a:pt x="5338" y="72"/>
                    <a:pt x="5316" y="94"/>
                    <a:pt x="5291" y="94"/>
                  </a:cubicBezTo>
                  <a:cubicBezTo>
                    <a:pt x="5265" y="94"/>
                    <a:pt x="5244" y="72"/>
                    <a:pt x="5244" y="47"/>
                  </a:cubicBezTo>
                  <a:cubicBezTo>
                    <a:pt x="5244" y="21"/>
                    <a:pt x="5265" y="0"/>
                    <a:pt x="5291" y="0"/>
                  </a:cubicBezTo>
                  <a:cubicBezTo>
                    <a:pt x="5316" y="0"/>
                    <a:pt x="5338" y="21"/>
                    <a:pt x="5338" y="47"/>
                  </a:cubicBezTo>
                  <a:close/>
                  <a:moveTo>
                    <a:pt x="5439" y="47"/>
                  </a:moveTo>
                  <a:cubicBezTo>
                    <a:pt x="5439" y="72"/>
                    <a:pt x="5417" y="94"/>
                    <a:pt x="5392" y="94"/>
                  </a:cubicBezTo>
                  <a:cubicBezTo>
                    <a:pt x="5366" y="94"/>
                    <a:pt x="5345" y="72"/>
                    <a:pt x="5345" y="47"/>
                  </a:cubicBezTo>
                  <a:cubicBezTo>
                    <a:pt x="5345" y="21"/>
                    <a:pt x="5366" y="0"/>
                    <a:pt x="5392" y="0"/>
                  </a:cubicBezTo>
                  <a:cubicBezTo>
                    <a:pt x="5417" y="0"/>
                    <a:pt x="5439" y="21"/>
                    <a:pt x="5439" y="47"/>
                  </a:cubicBezTo>
                  <a:close/>
                  <a:moveTo>
                    <a:pt x="5540" y="47"/>
                  </a:moveTo>
                  <a:cubicBezTo>
                    <a:pt x="5540" y="72"/>
                    <a:pt x="5518" y="94"/>
                    <a:pt x="5493" y="94"/>
                  </a:cubicBezTo>
                  <a:cubicBezTo>
                    <a:pt x="5467" y="94"/>
                    <a:pt x="5446" y="72"/>
                    <a:pt x="5446" y="47"/>
                  </a:cubicBezTo>
                  <a:cubicBezTo>
                    <a:pt x="5446" y="21"/>
                    <a:pt x="5467" y="0"/>
                    <a:pt x="5493" y="0"/>
                  </a:cubicBezTo>
                  <a:cubicBezTo>
                    <a:pt x="5518" y="0"/>
                    <a:pt x="5540" y="21"/>
                    <a:pt x="5540" y="47"/>
                  </a:cubicBezTo>
                  <a:close/>
                  <a:moveTo>
                    <a:pt x="5641" y="47"/>
                  </a:moveTo>
                  <a:cubicBezTo>
                    <a:pt x="5641" y="72"/>
                    <a:pt x="5619" y="94"/>
                    <a:pt x="5594" y="94"/>
                  </a:cubicBezTo>
                  <a:cubicBezTo>
                    <a:pt x="5568" y="94"/>
                    <a:pt x="5547" y="72"/>
                    <a:pt x="5547" y="47"/>
                  </a:cubicBezTo>
                  <a:cubicBezTo>
                    <a:pt x="5547" y="21"/>
                    <a:pt x="5568" y="0"/>
                    <a:pt x="5594" y="0"/>
                  </a:cubicBezTo>
                  <a:cubicBezTo>
                    <a:pt x="5619" y="0"/>
                    <a:pt x="5641" y="21"/>
                    <a:pt x="5641" y="47"/>
                  </a:cubicBezTo>
                  <a:close/>
                  <a:moveTo>
                    <a:pt x="5741" y="47"/>
                  </a:moveTo>
                  <a:cubicBezTo>
                    <a:pt x="5741" y="72"/>
                    <a:pt x="5719" y="94"/>
                    <a:pt x="5694" y="94"/>
                  </a:cubicBezTo>
                  <a:cubicBezTo>
                    <a:pt x="5668" y="94"/>
                    <a:pt x="5647" y="72"/>
                    <a:pt x="5647" y="47"/>
                  </a:cubicBezTo>
                  <a:cubicBezTo>
                    <a:pt x="5647" y="21"/>
                    <a:pt x="5668" y="0"/>
                    <a:pt x="5694" y="0"/>
                  </a:cubicBezTo>
                  <a:cubicBezTo>
                    <a:pt x="5719" y="0"/>
                    <a:pt x="5741" y="21"/>
                    <a:pt x="5741" y="47"/>
                  </a:cubicBezTo>
                  <a:close/>
                  <a:moveTo>
                    <a:pt x="5842" y="47"/>
                  </a:moveTo>
                  <a:cubicBezTo>
                    <a:pt x="5842" y="72"/>
                    <a:pt x="5820" y="94"/>
                    <a:pt x="5795" y="94"/>
                  </a:cubicBezTo>
                  <a:cubicBezTo>
                    <a:pt x="5769" y="94"/>
                    <a:pt x="5748" y="72"/>
                    <a:pt x="5748" y="47"/>
                  </a:cubicBezTo>
                  <a:cubicBezTo>
                    <a:pt x="5748" y="21"/>
                    <a:pt x="5769" y="0"/>
                    <a:pt x="5795" y="0"/>
                  </a:cubicBezTo>
                  <a:cubicBezTo>
                    <a:pt x="5820" y="0"/>
                    <a:pt x="5842" y="21"/>
                    <a:pt x="5842" y="47"/>
                  </a:cubicBezTo>
                  <a:close/>
                  <a:moveTo>
                    <a:pt x="5943" y="47"/>
                  </a:moveTo>
                  <a:cubicBezTo>
                    <a:pt x="5943" y="72"/>
                    <a:pt x="5921" y="94"/>
                    <a:pt x="5896" y="94"/>
                  </a:cubicBezTo>
                  <a:cubicBezTo>
                    <a:pt x="5870" y="94"/>
                    <a:pt x="5849" y="72"/>
                    <a:pt x="5849" y="47"/>
                  </a:cubicBezTo>
                  <a:cubicBezTo>
                    <a:pt x="5849" y="21"/>
                    <a:pt x="5870" y="0"/>
                    <a:pt x="5896" y="0"/>
                  </a:cubicBezTo>
                  <a:cubicBezTo>
                    <a:pt x="5921" y="0"/>
                    <a:pt x="5943" y="21"/>
                    <a:pt x="5943" y="47"/>
                  </a:cubicBezTo>
                  <a:close/>
                  <a:moveTo>
                    <a:pt x="6044" y="47"/>
                  </a:moveTo>
                  <a:cubicBezTo>
                    <a:pt x="6044" y="72"/>
                    <a:pt x="6022" y="94"/>
                    <a:pt x="5997" y="94"/>
                  </a:cubicBezTo>
                  <a:cubicBezTo>
                    <a:pt x="5971" y="94"/>
                    <a:pt x="5950" y="72"/>
                    <a:pt x="5950" y="47"/>
                  </a:cubicBezTo>
                  <a:cubicBezTo>
                    <a:pt x="5950" y="21"/>
                    <a:pt x="5971" y="0"/>
                    <a:pt x="5997" y="0"/>
                  </a:cubicBezTo>
                  <a:cubicBezTo>
                    <a:pt x="6022" y="0"/>
                    <a:pt x="6044" y="21"/>
                    <a:pt x="6044" y="47"/>
                  </a:cubicBezTo>
                  <a:close/>
                  <a:moveTo>
                    <a:pt x="6145" y="47"/>
                  </a:moveTo>
                  <a:cubicBezTo>
                    <a:pt x="6145" y="72"/>
                    <a:pt x="6123" y="94"/>
                    <a:pt x="6098" y="94"/>
                  </a:cubicBezTo>
                  <a:cubicBezTo>
                    <a:pt x="6072" y="94"/>
                    <a:pt x="6051" y="72"/>
                    <a:pt x="6051" y="47"/>
                  </a:cubicBezTo>
                  <a:cubicBezTo>
                    <a:pt x="6051" y="21"/>
                    <a:pt x="6072" y="0"/>
                    <a:pt x="6098" y="0"/>
                  </a:cubicBezTo>
                  <a:cubicBezTo>
                    <a:pt x="6123" y="0"/>
                    <a:pt x="6145" y="21"/>
                    <a:pt x="6145" y="47"/>
                  </a:cubicBezTo>
                  <a:close/>
                  <a:moveTo>
                    <a:pt x="6245" y="47"/>
                  </a:moveTo>
                  <a:cubicBezTo>
                    <a:pt x="6245" y="72"/>
                    <a:pt x="6223" y="94"/>
                    <a:pt x="6198" y="94"/>
                  </a:cubicBezTo>
                  <a:cubicBezTo>
                    <a:pt x="6172" y="94"/>
                    <a:pt x="6151" y="72"/>
                    <a:pt x="6151" y="47"/>
                  </a:cubicBezTo>
                  <a:cubicBezTo>
                    <a:pt x="6151" y="21"/>
                    <a:pt x="6172" y="0"/>
                    <a:pt x="6198" y="0"/>
                  </a:cubicBezTo>
                  <a:cubicBezTo>
                    <a:pt x="6223" y="0"/>
                    <a:pt x="6245" y="21"/>
                    <a:pt x="6245" y="47"/>
                  </a:cubicBezTo>
                  <a:close/>
                  <a:moveTo>
                    <a:pt x="6346" y="47"/>
                  </a:moveTo>
                  <a:cubicBezTo>
                    <a:pt x="6346" y="72"/>
                    <a:pt x="6324" y="94"/>
                    <a:pt x="6299" y="94"/>
                  </a:cubicBezTo>
                  <a:cubicBezTo>
                    <a:pt x="6273" y="94"/>
                    <a:pt x="6252" y="72"/>
                    <a:pt x="6252" y="47"/>
                  </a:cubicBezTo>
                  <a:cubicBezTo>
                    <a:pt x="6252" y="21"/>
                    <a:pt x="6273" y="0"/>
                    <a:pt x="6299" y="0"/>
                  </a:cubicBezTo>
                  <a:cubicBezTo>
                    <a:pt x="6324" y="0"/>
                    <a:pt x="6346" y="21"/>
                    <a:pt x="6346" y="47"/>
                  </a:cubicBezTo>
                  <a:close/>
                  <a:moveTo>
                    <a:pt x="6447" y="47"/>
                  </a:moveTo>
                  <a:cubicBezTo>
                    <a:pt x="6447" y="72"/>
                    <a:pt x="6425" y="94"/>
                    <a:pt x="6400" y="94"/>
                  </a:cubicBezTo>
                  <a:cubicBezTo>
                    <a:pt x="6374" y="94"/>
                    <a:pt x="6353" y="72"/>
                    <a:pt x="6353" y="47"/>
                  </a:cubicBezTo>
                  <a:cubicBezTo>
                    <a:pt x="6353" y="21"/>
                    <a:pt x="6374" y="0"/>
                    <a:pt x="6400" y="0"/>
                  </a:cubicBezTo>
                  <a:cubicBezTo>
                    <a:pt x="6425" y="0"/>
                    <a:pt x="6447" y="21"/>
                    <a:pt x="6447" y="47"/>
                  </a:cubicBezTo>
                  <a:close/>
                  <a:moveTo>
                    <a:pt x="6548" y="47"/>
                  </a:moveTo>
                  <a:cubicBezTo>
                    <a:pt x="6548" y="72"/>
                    <a:pt x="6526" y="94"/>
                    <a:pt x="6501" y="94"/>
                  </a:cubicBezTo>
                  <a:cubicBezTo>
                    <a:pt x="6475" y="94"/>
                    <a:pt x="6454" y="72"/>
                    <a:pt x="6454" y="47"/>
                  </a:cubicBezTo>
                  <a:cubicBezTo>
                    <a:pt x="6454" y="21"/>
                    <a:pt x="6475" y="0"/>
                    <a:pt x="6501" y="0"/>
                  </a:cubicBezTo>
                  <a:cubicBezTo>
                    <a:pt x="6526" y="0"/>
                    <a:pt x="6548" y="21"/>
                    <a:pt x="6548" y="47"/>
                  </a:cubicBezTo>
                  <a:close/>
                  <a:moveTo>
                    <a:pt x="6648" y="47"/>
                  </a:moveTo>
                  <a:cubicBezTo>
                    <a:pt x="6648" y="72"/>
                    <a:pt x="6626" y="94"/>
                    <a:pt x="6601" y="94"/>
                  </a:cubicBezTo>
                  <a:cubicBezTo>
                    <a:pt x="6575" y="94"/>
                    <a:pt x="6554" y="72"/>
                    <a:pt x="6554" y="47"/>
                  </a:cubicBezTo>
                  <a:cubicBezTo>
                    <a:pt x="6554" y="21"/>
                    <a:pt x="6575" y="0"/>
                    <a:pt x="6601" y="0"/>
                  </a:cubicBezTo>
                  <a:cubicBezTo>
                    <a:pt x="6626" y="0"/>
                    <a:pt x="6648" y="21"/>
                    <a:pt x="6648" y="47"/>
                  </a:cubicBezTo>
                  <a:close/>
                  <a:moveTo>
                    <a:pt x="6749" y="47"/>
                  </a:moveTo>
                  <a:cubicBezTo>
                    <a:pt x="6749" y="72"/>
                    <a:pt x="6727" y="94"/>
                    <a:pt x="6702" y="94"/>
                  </a:cubicBezTo>
                  <a:cubicBezTo>
                    <a:pt x="6676" y="94"/>
                    <a:pt x="6655" y="72"/>
                    <a:pt x="6655" y="47"/>
                  </a:cubicBezTo>
                  <a:cubicBezTo>
                    <a:pt x="6655" y="21"/>
                    <a:pt x="6676" y="0"/>
                    <a:pt x="6702" y="0"/>
                  </a:cubicBezTo>
                  <a:cubicBezTo>
                    <a:pt x="6727" y="0"/>
                    <a:pt x="6749" y="21"/>
                    <a:pt x="6749" y="47"/>
                  </a:cubicBezTo>
                  <a:close/>
                  <a:moveTo>
                    <a:pt x="6850" y="47"/>
                  </a:moveTo>
                  <a:cubicBezTo>
                    <a:pt x="6850" y="72"/>
                    <a:pt x="6828" y="94"/>
                    <a:pt x="6803" y="94"/>
                  </a:cubicBezTo>
                  <a:cubicBezTo>
                    <a:pt x="6777" y="94"/>
                    <a:pt x="6756" y="72"/>
                    <a:pt x="6756" y="47"/>
                  </a:cubicBezTo>
                  <a:cubicBezTo>
                    <a:pt x="6756" y="21"/>
                    <a:pt x="6777" y="0"/>
                    <a:pt x="6803" y="0"/>
                  </a:cubicBezTo>
                  <a:cubicBezTo>
                    <a:pt x="6828" y="0"/>
                    <a:pt x="6850" y="21"/>
                    <a:pt x="6850" y="47"/>
                  </a:cubicBezTo>
                  <a:close/>
                  <a:moveTo>
                    <a:pt x="6951" y="47"/>
                  </a:moveTo>
                  <a:cubicBezTo>
                    <a:pt x="6951" y="72"/>
                    <a:pt x="6929" y="94"/>
                    <a:pt x="6904" y="94"/>
                  </a:cubicBezTo>
                  <a:cubicBezTo>
                    <a:pt x="6878" y="94"/>
                    <a:pt x="6857" y="72"/>
                    <a:pt x="6857" y="47"/>
                  </a:cubicBezTo>
                  <a:cubicBezTo>
                    <a:pt x="6857" y="21"/>
                    <a:pt x="6878" y="0"/>
                    <a:pt x="6904" y="0"/>
                  </a:cubicBezTo>
                  <a:cubicBezTo>
                    <a:pt x="6929" y="0"/>
                    <a:pt x="6951" y="21"/>
                    <a:pt x="6951" y="47"/>
                  </a:cubicBezTo>
                  <a:close/>
                  <a:moveTo>
                    <a:pt x="7052" y="47"/>
                  </a:moveTo>
                  <a:cubicBezTo>
                    <a:pt x="7052" y="72"/>
                    <a:pt x="7030" y="94"/>
                    <a:pt x="7005" y="94"/>
                  </a:cubicBezTo>
                  <a:cubicBezTo>
                    <a:pt x="6979" y="94"/>
                    <a:pt x="6958" y="72"/>
                    <a:pt x="6958" y="47"/>
                  </a:cubicBezTo>
                  <a:cubicBezTo>
                    <a:pt x="6958" y="21"/>
                    <a:pt x="6979" y="0"/>
                    <a:pt x="7005" y="0"/>
                  </a:cubicBezTo>
                  <a:cubicBezTo>
                    <a:pt x="7030" y="0"/>
                    <a:pt x="7052" y="21"/>
                    <a:pt x="7052" y="47"/>
                  </a:cubicBezTo>
                  <a:close/>
                  <a:moveTo>
                    <a:pt x="7152" y="47"/>
                  </a:moveTo>
                  <a:cubicBezTo>
                    <a:pt x="7152" y="72"/>
                    <a:pt x="7130" y="94"/>
                    <a:pt x="7105" y="94"/>
                  </a:cubicBezTo>
                  <a:cubicBezTo>
                    <a:pt x="7079" y="94"/>
                    <a:pt x="7058" y="72"/>
                    <a:pt x="7058" y="47"/>
                  </a:cubicBezTo>
                  <a:cubicBezTo>
                    <a:pt x="7058" y="21"/>
                    <a:pt x="7079" y="0"/>
                    <a:pt x="7105" y="0"/>
                  </a:cubicBezTo>
                  <a:cubicBezTo>
                    <a:pt x="7130" y="0"/>
                    <a:pt x="7152" y="21"/>
                    <a:pt x="7152" y="47"/>
                  </a:cubicBezTo>
                  <a:close/>
                  <a:moveTo>
                    <a:pt x="7253" y="47"/>
                  </a:moveTo>
                  <a:cubicBezTo>
                    <a:pt x="7253" y="72"/>
                    <a:pt x="7231" y="94"/>
                    <a:pt x="7206" y="94"/>
                  </a:cubicBezTo>
                  <a:cubicBezTo>
                    <a:pt x="7180" y="94"/>
                    <a:pt x="7159" y="72"/>
                    <a:pt x="7159" y="47"/>
                  </a:cubicBezTo>
                  <a:cubicBezTo>
                    <a:pt x="7159" y="21"/>
                    <a:pt x="7180" y="0"/>
                    <a:pt x="7206" y="0"/>
                  </a:cubicBezTo>
                  <a:cubicBezTo>
                    <a:pt x="7231" y="0"/>
                    <a:pt x="7253" y="21"/>
                    <a:pt x="7253" y="47"/>
                  </a:cubicBezTo>
                  <a:close/>
                  <a:moveTo>
                    <a:pt x="7354" y="47"/>
                  </a:moveTo>
                  <a:cubicBezTo>
                    <a:pt x="7354" y="72"/>
                    <a:pt x="7332" y="94"/>
                    <a:pt x="7307" y="94"/>
                  </a:cubicBezTo>
                  <a:cubicBezTo>
                    <a:pt x="7281" y="94"/>
                    <a:pt x="7260" y="72"/>
                    <a:pt x="7260" y="47"/>
                  </a:cubicBezTo>
                  <a:cubicBezTo>
                    <a:pt x="7260" y="21"/>
                    <a:pt x="7281" y="0"/>
                    <a:pt x="7307" y="0"/>
                  </a:cubicBezTo>
                  <a:cubicBezTo>
                    <a:pt x="7332" y="0"/>
                    <a:pt x="7354" y="21"/>
                    <a:pt x="7354" y="47"/>
                  </a:cubicBezTo>
                  <a:close/>
                  <a:moveTo>
                    <a:pt x="7455" y="47"/>
                  </a:moveTo>
                  <a:cubicBezTo>
                    <a:pt x="7455" y="72"/>
                    <a:pt x="7433" y="94"/>
                    <a:pt x="7408" y="94"/>
                  </a:cubicBezTo>
                  <a:cubicBezTo>
                    <a:pt x="7382" y="94"/>
                    <a:pt x="7361" y="72"/>
                    <a:pt x="7361" y="47"/>
                  </a:cubicBezTo>
                  <a:cubicBezTo>
                    <a:pt x="7361" y="21"/>
                    <a:pt x="7382" y="0"/>
                    <a:pt x="7408" y="0"/>
                  </a:cubicBezTo>
                  <a:cubicBezTo>
                    <a:pt x="7433" y="0"/>
                    <a:pt x="7455" y="21"/>
                    <a:pt x="7455" y="47"/>
                  </a:cubicBezTo>
                  <a:close/>
                  <a:moveTo>
                    <a:pt x="7556" y="47"/>
                  </a:moveTo>
                  <a:cubicBezTo>
                    <a:pt x="7556" y="72"/>
                    <a:pt x="7534" y="94"/>
                    <a:pt x="7509" y="94"/>
                  </a:cubicBezTo>
                  <a:cubicBezTo>
                    <a:pt x="7483" y="94"/>
                    <a:pt x="7462" y="72"/>
                    <a:pt x="7462" y="47"/>
                  </a:cubicBezTo>
                  <a:cubicBezTo>
                    <a:pt x="7462" y="21"/>
                    <a:pt x="7483" y="0"/>
                    <a:pt x="7509" y="0"/>
                  </a:cubicBezTo>
                  <a:cubicBezTo>
                    <a:pt x="7534" y="0"/>
                    <a:pt x="7556" y="21"/>
                    <a:pt x="7556" y="47"/>
                  </a:cubicBezTo>
                  <a:close/>
                  <a:moveTo>
                    <a:pt x="7656" y="47"/>
                  </a:moveTo>
                  <a:cubicBezTo>
                    <a:pt x="7656" y="72"/>
                    <a:pt x="7634" y="94"/>
                    <a:pt x="7609" y="94"/>
                  </a:cubicBezTo>
                  <a:cubicBezTo>
                    <a:pt x="7583" y="94"/>
                    <a:pt x="7562" y="72"/>
                    <a:pt x="7562" y="47"/>
                  </a:cubicBezTo>
                  <a:cubicBezTo>
                    <a:pt x="7562" y="21"/>
                    <a:pt x="7583" y="0"/>
                    <a:pt x="7609" y="0"/>
                  </a:cubicBezTo>
                  <a:cubicBezTo>
                    <a:pt x="7634" y="0"/>
                    <a:pt x="7656" y="21"/>
                    <a:pt x="7656" y="47"/>
                  </a:cubicBezTo>
                  <a:close/>
                  <a:moveTo>
                    <a:pt x="7757" y="47"/>
                  </a:moveTo>
                  <a:cubicBezTo>
                    <a:pt x="7757" y="72"/>
                    <a:pt x="7735" y="94"/>
                    <a:pt x="7710" y="94"/>
                  </a:cubicBezTo>
                  <a:cubicBezTo>
                    <a:pt x="7684" y="94"/>
                    <a:pt x="7663" y="72"/>
                    <a:pt x="7663" y="47"/>
                  </a:cubicBezTo>
                  <a:cubicBezTo>
                    <a:pt x="7663" y="21"/>
                    <a:pt x="7684" y="0"/>
                    <a:pt x="7710" y="0"/>
                  </a:cubicBezTo>
                  <a:cubicBezTo>
                    <a:pt x="7735" y="0"/>
                    <a:pt x="7757" y="21"/>
                    <a:pt x="7757" y="47"/>
                  </a:cubicBezTo>
                  <a:close/>
                  <a:moveTo>
                    <a:pt x="7858" y="47"/>
                  </a:moveTo>
                  <a:cubicBezTo>
                    <a:pt x="7858" y="72"/>
                    <a:pt x="7836" y="94"/>
                    <a:pt x="7811" y="94"/>
                  </a:cubicBezTo>
                  <a:cubicBezTo>
                    <a:pt x="7785" y="94"/>
                    <a:pt x="7764" y="72"/>
                    <a:pt x="7764" y="47"/>
                  </a:cubicBezTo>
                  <a:cubicBezTo>
                    <a:pt x="7764" y="21"/>
                    <a:pt x="7785" y="0"/>
                    <a:pt x="7811" y="0"/>
                  </a:cubicBezTo>
                  <a:cubicBezTo>
                    <a:pt x="7836" y="0"/>
                    <a:pt x="7858" y="21"/>
                    <a:pt x="7858" y="47"/>
                  </a:cubicBezTo>
                  <a:close/>
                  <a:moveTo>
                    <a:pt x="7959" y="47"/>
                  </a:moveTo>
                  <a:cubicBezTo>
                    <a:pt x="7959" y="72"/>
                    <a:pt x="7937" y="94"/>
                    <a:pt x="7912" y="94"/>
                  </a:cubicBezTo>
                  <a:cubicBezTo>
                    <a:pt x="7886" y="94"/>
                    <a:pt x="7865" y="72"/>
                    <a:pt x="7865" y="47"/>
                  </a:cubicBezTo>
                  <a:cubicBezTo>
                    <a:pt x="7865" y="21"/>
                    <a:pt x="7886" y="0"/>
                    <a:pt x="7912" y="0"/>
                  </a:cubicBezTo>
                  <a:cubicBezTo>
                    <a:pt x="7937" y="0"/>
                    <a:pt x="7959" y="21"/>
                    <a:pt x="7959" y="47"/>
                  </a:cubicBezTo>
                  <a:close/>
                  <a:moveTo>
                    <a:pt x="8060" y="47"/>
                  </a:moveTo>
                  <a:cubicBezTo>
                    <a:pt x="8060" y="72"/>
                    <a:pt x="8038" y="94"/>
                    <a:pt x="8013" y="94"/>
                  </a:cubicBezTo>
                  <a:cubicBezTo>
                    <a:pt x="7987" y="94"/>
                    <a:pt x="7966" y="72"/>
                    <a:pt x="7966" y="47"/>
                  </a:cubicBezTo>
                  <a:cubicBezTo>
                    <a:pt x="7966" y="21"/>
                    <a:pt x="7987" y="0"/>
                    <a:pt x="8013" y="0"/>
                  </a:cubicBezTo>
                  <a:cubicBezTo>
                    <a:pt x="8038" y="0"/>
                    <a:pt x="8060" y="21"/>
                    <a:pt x="8060" y="47"/>
                  </a:cubicBezTo>
                  <a:close/>
                  <a:moveTo>
                    <a:pt x="8160" y="47"/>
                  </a:moveTo>
                  <a:cubicBezTo>
                    <a:pt x="8160" y="72"/>
                    <a:pt x="8138" y="94"/>
                    <a:pt x="8113" y="94"/>
                  </a:cubicBezTo>
                  <a:cubicBezTo>
                    <a:pt x="8087" y="94"/>
                    <a:pt x="8066" y="72"/>
                    <a:pt x="8066" y="47"/>
                  </a:cubicBezTo>
                  <a:cubicBezTo>
                    <a:pt x="8066" y="21"/>
                    <a:pt x="8087" y="0"/>
                    <a:pt x="8113" y="0"/>
                  </a:cubicBezTo>
                  <a:cubicBezTo>
                    <a:pt x="8138" y="0"/>
                    <a:pt x="8160" y="21"/>
                    <a:pt x="8160" y="47"/>
                  </a:cubicBezTo>
                  <a:close/>
                  <a:moveTo>
                    <a:pt x="8261" y="47"/>
                  </a:moveTo>
                  <a:cubicBezTo>
                    <a:pt x="8261" y="72"/>
                    <a:pt x="8239" y="94"/>
                    <a:pt x="8214" y="94"/>
                  </a:cubicBezTo>
                  <a:cubicBezTo>
                    <a:pt x="8188" y="94"/>
                    <a:pt x="8167" y="72"/>
                    <a:pt x="8167" y="47"/>
                  </a:cubicBezTo>
                  <a:cubicBezTo>
                    <a:pt x="8167" y="21"/>
                    <a:pt x="8188" y="0"/>
                    <a:pt x="8214" y="0"/>
                  </a:cubicBezTo>
                  <a:cubicBezTo>
                    <a:pt x="8239" y="0"/>
                    <a:pt x="8261" y="21"/>
                    <a:pt x="8261" y="47"/>
                  </a:cubicBezTo>
                  <a:close/>
                  <a:moveTo>
                    <a:pt x="8362" y="47"/>
                  </a:moveTo>
                  <a:cubicBezTo>
                    <a:pt x="8362" y="72"/>
                    <a:pt x="8340" y="94"/>
                    <a:pt x="8315" y="94"/>
                  </a:cubicBezTo>
                  <a:cubicBezTo>
                    <a:pt x="8289" y="94"/>
                    <a:pt x="8268" y="72"/>
                    <a:pt x="8268" y="47"/>
                  </a:cubicBezTo>
                  <a:cubicBezTo>
                    <a:pt x="8268" y="21"/>
                    <a:pt x="8289" y="0"/>
                    <a:pt x="8315" y="0"/>
                  </a:cubicBezTo>
                  <a:cubicBezTo>
                    <a:pt x="8340" y="0"/>
                    <a:pt x="8362" y="21"/>
                    <a:pt x="8362" y="47"/>
                  </a:cubicBezTo>
                  <a:close/>
                  <a:moveTo>
                    <a:pt x="8463" y="47"/>
                  </a:moveTo>
                  <a:cubicBezTo>
                    <a:pt x="8463" y="72"/>
                    <a:pt x="8441" y="94"/>
                    <a:pt x="8416" y="94"/>
                  </a:cubicBezTo>
                  <a:cubicBezTo>
                    <a:pt x="8390" y="94"/>
                    <a:pt x="8369" y="72"/>
                    <a:pt x="8369" y="47"/>
                  </a:cubicBezTo>
                  <a:cubicBezTo>
                    <a:pt x="8369" y="21"/>
                    <a:pt x="8390" y="0"/>
                    <a:pt x="8416" y="0"/>
                  </a:cubicBezTo>
                  <a:cubicBezTo>
                    <a:pt x="8441" y="0"/>
                    <a:pt x="8463" y="21"/>
                    <a:pt x="8463" y="47"/>
                  </a:cubicBezTo>
                  <a:close/>
                  <a:moveTo>
                    <a:pt x="8564" y="47"/>
                  </a:moveTo>
                  <a:cubicBezTo>
                    <a:pt x="8564" y="72"/>
                    <a:pt x="8542" y="94"/>
                    <a:pt x="8517" y="94"/>
                  </a:cubicBezTo>
                  <a:cubicBezTo>
                    <a:pt x="8491" y="94"/>
                    <a:pt x="8470" y="72"/>
                    <a:pt x="8470" y="47"/>
                  </a:cubicBezTo>
                  <a:cubicBezTo>
                    <a:pt x="8470" y="21"/>
                    <a:pt x="8491" y="0"/>
                    <a:pt x="8517" y="0"/>
                  </a:cubicBezTo>
                  <a:cubicBezTo>
                    <a:pt x="8542" y="0"/>
                    <a:pt x="8564" y="21"/>
                    <a:pt x="8564" y="47"/>
                  </a:cubicBezTo>
                  <a:close/>
                  <a:moveTo>
                    <a:pt x="8664" y="47"/>
                  </a:moveTo>
                  <a:cubicBezTo>
                    <a:pt x="8664" y="72"/>
                    <a:pt x="8642" y="94"/>
                    <a:pt x="8617" y="94"/>
                  </a:cubicBezTo>
                  <a:cubicBezTo>
                    <a:pt x="8591" y="94"/>
                    <a:pt x="8570" y="72"/>
                    <a:pt x="8570" y="47"/>
                  </a:cubicBezTo>
                  <a:cubicBezTo>
                    <a:pt x="8570" y="21"/>
                    <a:pt x="8591" y="0"/>
                    <a:pt x="8617" y="0"/>
                  </a:cubicBezTo>
                  <a:cubicBezTo>
                    <a:pt x="8642" y="0"/>
                    <a:pt x="8664" y="21"/>
                    <a:pt x="8664" y="47"/>
                  </a:cubicBezTo>
                  <a:close/>
                  <a:moveTo>
                    <a:pt x="8765" y="47"/>
                  </a:moveTo>
                  <a:cubicBezTo>
                    <a:pt x="8765" y="72"/>
                    <a:pt x="8743" y="94"/>
                    <a:pt x="8718" y="94"/>
                  </a:cubicBezTo>
                  <a:cubicBezTo>
                    <a:pt x="8692" y="94"/>
                    <a:pt x="8671" y="72"/>
                    <a:pt x="8671" y="47"/>
                  </a:cubicBezTo>
                  <a:cubicBezTo>
                    <a:pt x="8671" y="21"/>
                    <a:pt x="8692" y="0"/>
                    <a:pt x="8718" y="0"/>
                  </a:cubicBezTo>
                  <a:cubicBezTo>
                    <a:pt x="8743" y="0"/>
                    <a:pt x="8765" y="21"/>
                    <a:pt x="8765" y="47"/>
                  </a:cubicBezTo>
                  <a:close/>
                  <a:moveTo>
                    <a:pt x="8866" y="47"/>
                  </a:moveTo>
                  <a:cubicBezTo>
                    <a:pt x="8866" y="72"/>
                    <a:pt x="8844" y="94"/>
                    <a:pt x="8819" y="94"/>
                  </a:cubicBezTo>
                  <a:cubicBezTo>
                    <a:pt x="8793" y="94"/>
                    <a:pt x="8772" y="72"/>
                    <a:pt x="8772" y="47"/>
                  </a:cubicBezTo>
                  <a:cubicBezTo>
                    <a:pt x="8772" y="21"/>
                    <a:pt x="8793" y="0"/>
                    <a:pt x="8819" y="0"/>
                  </a:cubicBezTo>
                  <a:cubicBezTo>
                    <a:pt x="8844" y="0"/>
                    <a:pt x="8866" y="21"/>
                    <a:pt x="8866" y="47"/>
                  </a:cubicBezTo>
                  <a:close/>
                  <a:moveTo>
                    <a:pt x="8967" y="47"/>
                  </a:moveTo>
                  <a:cubicBezTo>
                    <a:pt x="8967" y="72"/>
                    <a:pt x="8945" y="94"/>
                    <a:pt x="8920" y="94"/>
                  </a:cubicBezTo>
                  <a:cubicBezTo>
                    <a:pt x="8894" y="94"/>
                    <a:pt x="8873" y="72"/>
                    <a:pt x="8873" y="47"/>
                  </a:cubicBezTo>
                  <a:cubicBezTo>
                    <a:pt x="8873" y="21"/>
                    <a:pt x="8894" y="0"/>
                    <a:pt x="8920" y="0"/>
                  </a:cubicBezTo>
                  <a:cubicBezTo>
                    <a:pt x="8945" y="0"/>
                    <a:pt x="8967" y="21"/>
                    <a:pt x="8967" y="47"/>
                  </a:cubicBezTo>
                  <a:close/>
                  <a:moveTo>
                    <a:pt x="9068" y="47"/>
                  </a:moveTo>
                  <a:cubicBezTo>
                    <a:pt x="9068" y="72"/>
                    <a:pt x="9046" y="94"/>
                    <a:pt x="9021" y="94"/>
                  </a:cubicBezTo>
                  <a:cubicBezTo>
                    <a:pt x="8995" y="94"/>
                    <a:pt x="8974" y="72"/>
                    <a:pt x="8974" y="47"/>
                  </a:cubicBezTo>
                  <a:cubicBezTo>
                    <a:pt x="8974" y="21"/>
                    <a:pt x="8995" y="0"/>
                    <a:pt x="9021" y="0"/>
                  </a:cubicBezTo>
                  <a:cubicBezTo>
                    <a:pt x="9046" y="0"/>
                    <a:pt x="9068" y="21"/>
                    <a:pt x="9068" y="47"/>
                  </a:cubicBezTo>
                  <a:close/>
                  <a:moveTo>
                    <a:pt x="9168" y="47"/>
                  </a:moveTo>
                  <a:cubicBezTo>
                    <a:pt x="9168" y="72"/>
                    <a:pt x="9146" y="94"/>
                    <a:pt x="9121" y="94"/>
                  </a:cubicBezTo>
                  <a:cubicBezTo>
                    <a:pt x="9095" y="94"/>
                    <a:pt x="9074" y="72"/>
                    <a:pt x="9074" y="47"/>
                  </a:cubicBezTo>
                  <a:cubicBezTo>
                    <a:pt x="9074" y="21"/>
                    <a:pt x="9095" y="0"/>
                    <a:pt x="9121" y="0"/>
                  </a:cubicBezTo>
                  <a:cubicBezTo>
                    <a:pt x="9146" y="0"/>
                    <a:pt x="9168" y="21"/>
                    <a:pt x="9168" y="47"/>
                  </a:cubicBezTo>
                  <a:close/>
                  <a:moveTo>
                    <a:pt x="9269" y="47"/>
                  </a:moveTo>
                  <a:cubicBezTo>
                    <a:pt x="9269" y="72"/>
                    <a:pt x="9247" y="94"/>
                    <a:pt x="9222" y="94"/>
                  </a:cubicBezTo>
                  <a:cubicBezTo>
                    <a:pt x="9196" y="94"/>
                    <a:pt x="9175" y="72"/>
                    <a:pt x="9175" y="47"/>
                  </a:cubicBezTo>
                  <a:cubicBezTo>
                    <a:pt x="9175" y="21"/>
                    <a:pt x="9196" y="0"/>
                    <a:pt x="9222" y="0"/>
                  </a:cubicBezTo>
                  <a:cubicBezTo>
                    <a:pt x="9247" y="0"/>
                    <a:pt x="9269" y="21"/>
                    <a:pt x="9269" y="47"/>
                  </a:cubicBezTo>
                  <a:close/>
                  <a:moveTo>
                    <a:pt x="9370" y="47"/>
                  </a:moveTo>
                  <a:cubicBezTo>
                    <a:pt x="9370" y="72"/>
                    <a:pt x="9348" y="94"/>
                    <a:pt x="9323" y="94"/>
                  </a:cubicBezTo>
                  <a:cubicBezTo>
                    <a:pt x="9297" y="94"/>
                    <a:pt x="9276" y="72"/>
                    <a:pt x="9276" y="47"/>
                  </a:cubicBezTo>
                  <a:cubicBezTo>
                    <a:pt x="9276" y="21"/>
                    <a:pt x="9297" y="0"/>
                    <a:pt x="9323" y="0"/>
                  </a:cubicBezTo>
                  <a:cubicBezTo>
                    <a:pt x="9348" y="0"/>
                    <a:pt x="9370" y="21"/>
                    <a:pt x="9370" y="47"/>
                  </a:cubicBezTo>
                  <a:close/>
                  <a:moveTo>
                    <a:pt x="9471" y="47"/>
                  </a:moveTo>
                  <a:cubicBezTo>
                    <a:pt x="9471" y="72"/>
                    <a:pt x="9449" y="94"/>
                    <a:pt x="9424" y="94"/>
                  </a:cubicBezTo>
                  <a:cubicBezTo>
                    <a:pt x="9398" y="94"/>
                    <a:pt x="9377" y="72"/>
                    <a:pt x="9377" y="47"/>
                  </a:cubicBezTo>
                  <a:cubicBezTo>
                    <a:pt x="9377" y="21"/>
                    <a:pt x="9398" y="0"/>
                    <a:pt x="9424" y="0"/>
                  </a:cubicBezTo>
                  <a:cubicBezTo>
                    <a:pt x="9449" y="0"/>
                    <a:pt x="9471" y="21"/>
                    <a:pt x="9471" y="47"/>
                  </a:cubicBezTo>
                  <a:close/>
                  <a:moveTo>
                    <a:pt x="9572" y="47"/>
                  </a:moveTo>
                  <a:cubicBezTo>
                    <a:pt x="9572" y="72"/>
                    <a:pt x="9550" y="94"/>
                    <a:pt x="9525" y="94"/>
                  </a:cubicBezTo>
                  <a:cubicBezTo>
                    <a:pt x="9499" y="94"/>
                    <a:pt x="9478" y="72"/>
                    <a:pt x="9478" y="47"/>
                  </a:cubicBezTo>
                  <a:cubicBezTo>
                    <a:pt x="9478" y="21"/>
                    <a:pt x="9499" y="0"/>
                    <a:pt x="9525" y="0"/>
                  </a:cubicBezTo>
                  <a:cubicBezTo>
                    <a:pt x="9550" y="0"/>
                    <a:pt x="9572" y="21"/>
                    <a:pt x="9572" y="47"/>
                  </a:cubicBezTo>
                  <a:close/>
                  <a:moveTo>
                    <a:pt x="9672" y="47"/>
                  </a:moveTo>
                  <a:cubicBezTo>
                    <a:pt x="9672" y="72"/>
                    <a:pt x="9650" y="94"/>
                    <a:pt x="9625" y="94"/>
                  </a:cubicBezTo>
                  <a:cubicBezTo>
                    <a:pt x="9599" y="94"/>
                    <a:pt x="9578" y="72"/>
                    <a:pt x="9578" y="47"/>
                  </a:cubicBezTo>
                  <a:cubicBezTo>
                    <a:pt x="9578" y="21"/>
                    <a:pt x="9599" y="0"/>
                    <a:pt x="9625" y="0"/>
                  </a:cubicBezTo>
                  <a:cubicBezTo>
                    <a:pt x="9650" y="0"/>
                    <a:pt x="9672" y="21"/>
                    <a:pt x="9672" y="47"/>
                  </a:cubicBezTo>
                  <a:close/>
                  <a:moveTo>
                    <a:pt x="9773" y="47"/>
                  </a:moveTo>
                  <a:cubicBezTo>
                    <a:pt x="9773" y="72"/>
                    <a:pt x="9751" y="94"/>
                    <a:pt x="9726" y="94"/>
                  </a:cubicBezTo>
                  <a:cubicBezTo>
                    <a:pt x="9700" y="94"/>
                    <a:pt x="9679" y="72"/>
                    <a:pt x="9679" y="47"/>
                  </a:cubicBezTo>
                  <a:cubicBezTo>
                    <a:pt x="9679" y="21"/>
                    <a:pt x="9700" y="0"/>
                    <a:pt x="9726" y="0"/>
                  </a:cubicBezTo>
                  <a:cubicBezTo>
                    <a:pt x="9751" y="0"/>
                    <a:pt x="9773" y="21"/>
                    <a:pt x="9773" y="47"/>
                  </a:cubicBezTo>
                  <a:close/>
                  <a:moveTo>
                    <a:pt x="9874" y="47"/>
                  </a:moveTo>
                  <a:cubicBezTo>
                    <a:pt x="9874" y="72"/>
                    <a:pt x="9852" y="94"/>
                    <a:pt x="9827" y="94"/>
                  </a:cubicBezTo>
                  <a:cubicBezTo>
                    <a:pt x="9801" y="94"/>
                    <a:pt x="9780" y="72"/>
                    <a:pt x="9780" y="47"/>
                  </a:cubicBezTo>
                  <a:cubicBezTo>
                    <a:pt x="9780" y="21"/>
                    <a:pt x="9801" y="0"/>
                    <a:pt x="9827" y="0"/>
                  </a:cubicBezTo>
                  <a:cubicBezTo>
                    <a:pt x="9852" y="0"/>
                    <a:pt x="9874" y="21"/>
                    <a:pt x="9874" y="47"/>
                  </a:cubicBezTo>
                  <a:close/>
                  <a:moveTo>
                    <a:pt x="9975" y="47"/>
                  </a:moveTo>
                  <a:cubicBezTo>
                    <a:pt x="9975" y="72"/>
                    <a:pt x="9953" y="94"/>
                    <a:pt x="9928" y="94"/>
                  </a:cubicBezTo>
                  <a:cubicBezTo>
                    <a:pt x="9902" y="94"/>
                    <a:pt x="9881" y="72"/>
                    <a:pt x="9881" y="47"/>
                  </a:cubicBezTo>
                  <a:cubicBezTo>
                    <a:pt x="9881" y="21"/>
                    <a:pt x="9902" y="0"/>
                    <a:pt x="9928" y="0"/>
                  </a:cubicBezTo>
                  <a:cubicBezTo>
                    <a:pt x="9953" y="0"/>
                    <a:pt x="9975" y="21"/>
                    <a:pt x="9975" y="47"/>
                  </a:cubicBezTo>
                  <a:close/>
                  <a:moveTo>
                    <a:pt x="10075" y="47"/>
                  </a:moveTo>
                  <a:cubicBezTo>
                    <a:pt x="10075" y="72"/>
                    <a:pt x="10053" y="94"/>
                    <a:pt x="10028" y="94"/>
                  </a:cubicBezTo>
                  <a:cubicBezTo>
                    <a:pt x="10002" y="94"/>
                    <a:pt x="9981" y="72"/>
                    <a:pt x="9981" y="47"/>
                  </a:cubicBezTo>
                  <a:cubicBezTo>
                    <a:pt x="9981" y="21"/>
                    <a:pt x="10002" y="0"/>
                    <a:pt x="10028" y="0"/>
                  </a:cubicBezTo>
                  <a:cubicBezTo>
                    <a:pt x="10053" y="0"/>
                    <a:pt x="10075" y="21"/>
                    <a:pt x="10075" y="47"/>
                  </a:cubicBezTo>
                  <a:close/>
                  <a:moveTo>
                    <a:pt x="10176" y="47"/>
                  </a:moveTo>
                  <a:cubicBezTo>
                    <a:pt x="10176" y="72"/>
                    <a:pt x="10154" y="94"/>
                    <a:pt x="10129" y="94"/>
                  </a:cubicBezTo>
                  <a:cubicBezTo>
                    <a:pt x="10103" y="94"/>
                    <a:pt x="10082" y="72"/>
                    <a:pt x="10082" y="47"/>
                  </a:cubicBezTo>
                  <a:cubicBezTo>
                    <a:pt x="10082" y="21"/>
                    <a:pt x="10103" y="0"/>
                    <a:pt x="10129" y="0"/>
                  </a:cubicBezTo>
                  <a:cubicBezTo>
                    <a:pt x="10154" y="0"/>
                    <a:pt x="10176" y="21"/>
                    <a:pt x="10176" y="47"/>
                  </a:cubicBezTo>
                  <a:close/>
                  <a:moveTo>
                    <a:pt x="10277" y="47"/>
                  </a:moveTo>
                  <a:cubicBezTo>
                    <a:pt x="10277" y="72"/>
                    <a:pt x="10255" y="94"/>
                    <a:pt x="10230" y="94"/>
                  </a:cubicBezTo>
                  <a:cubicBezTo>
                    <a:pt x="10204" y="94"/>
                    <a:pt x="10183" y="72"/>
                    <a:pt x="10183" y="47"/>
                  </a:cubicBezTo>
                  <a:cubicBezTo>
                    <a:pt x="10183" y="21"/>
                    <a:pt x="10204" y="0"/>
                    <a:pt x="10230" y="0"/>
                  </a:cubicBezTo>
                  <a:cubicBezTo>
                    <a:pt x="10255" y="0"/>
                    <a:pt x="10277" y="21"/>
                    <a:pt x="10277" y="47"/>
                  </a:cubicBezTo>
                  <a:close/>
                  <a:moveTo>
                    <a:pt x="10378" y="47"/>
                  </a:moveTo>
                  <a:cubicBezTo>
                    <a:pt x="10378" y="72"/>
                    <a:pt x="10356" y="94"/>
                    <a:pt x="10331" y="94"/>
                  </a:cubicBezTo>
                  <a:cubicBezTo>
                    <a:pt x="10305" y="94"/>
                    <a:pt x="10284" y="72"/>
                    <a:pt x="10284" y="47"/>
                  </a:cubicBezTo>
                  <a:cubicBezTo>
                    <a:pt x="10284" y="21"/>
                    <a:pt x="10305" y="0"/>
                    <a:pt x="10331" y="0"/>
                  </a:cubicBezTo>
                  <a:cubicBezTo>
                    <a:pt x="10356" y="0"/>
                    <a:pt x="10378" y="21"/>
                    <a:pt x="10378" y="47"/>
                  </a:cubicBezTo>
                  <a:close/>
                  <a:moveTo>
                    <a:pt x="10479" y="47"/>
                  </a:moveTo>
                  <a:cubicBezTo>
                    <a:pt x="10479" y="72"/>
                    <a:pt x="10457" y="94"/>
                    <a:pt x="10432" y="94"/>
                  </a:cubicBezTo>
                  <a:cubicBezTo>
                    <a:pt x="10406" y="94"/>
                    <a:pt x="10385" y="72"/>
                    <a:pt x="10385" y="47"/>
                  </a:cubicBezTo>
                  <a:cubicBezTo>
                    <a:pt x="10385" y="21"/>
                    <a:pt x="10406" y="0"/>
                    <a:pt x="10432" y="0"/>
                  </a:cubicBezTo>
                  <a:cubicBezTo>
                    <a:pt x="10457" y="0"/>
                    <a:pt x="10479" y="21"/>
                    <a:pt x="10479" y="47"/>
                  </a:cubicBezTo>
                  <a:close/>
                  <a:moveTo>
                    <a:pt x="10579" y="47"/>
                  </a:moveTo>
                  <a:cubicBezTo>
                    <a:pt x="10579" y="72"/>
                    <a:pt x="10557" y="94"/>
                    <a:pt x="10532" y="94"/>
                  </a:cubicBezTo>
                  <a:cubicBezTo>
                    <a:pt x="10506" y="94"/>
                    <a:pt x="10485" y="72"/>
                    <a:pt x="10485" y="47"/>
                  </a:cubicBezTo>
                  <a:cubicBezTo>
                    <a:pt x="10485" y="21"/>
                    <a:pt x="10506" y="0"/>
                    <a:pt x="10532" y="0"/>
                  </a:cubicBezTo>
                  <a:cubicBezTo>
                    <a:pt x="10557" y="0"/>
                    <a:pt x="10579" y="21"/>
                    <a:pt x="10579" y="47"/>
                  </a:cubicBezTo>
                  <a:close/>
                  <a:moveTo>
                    <a:pt x="10680" y="47"/>
                  </a:moveTo>
                  <a:cubicBezTo>
                    <a:pt x="10680" y="72"/>
                    <a:pt x="10658" y="94"/>
                    <a:pt x="10633" y="94"/>
                  </a:cubicBezTo>
                  <a:cubicBezTo>
                    <a:pt x="10607" y="94"/>
                    <a:pt x="10586" y="72"/>
                    <a:pt x="10586" y="47"/>
                  </a:cubicBezTo>
                  <a:cubicBezTo>
                    <a:pt x="10586" y="21"/>
                    <a:pt x="10607" y="0"/>
                    <a:pt x="10633" y="0"/>
                  </a:cubicBezTo>
                  <a:cubicBezTo>
                    <a:pt x="10658" y="0"/>
                    <a:pt x="10680" y="21"/>
                    <a:pt x="10680" y="47"/>
                  </a:cubicBezTo>
                  <a:close/>
                  <a:moveTo>
                    <a:pt x="10781" y="47"/>
                  </a:moveTo>
                  <a:cubicBezTo>
                    <a:pt x="10781" y="72"/>
                    <a:pt x="10759" y="94"/>
                    <a:pt x="10734" y="94"/>
                  </a:cubicBezTo>
                  <a:cubicBezTo>
                    <a:pt x="10708" y="94"/>
                    <a:pt x="10687" y="72"/>
                    <a:pt x="10687" y="47"/>
                  </a:cubicBezTo>
                  <a:cubicBezTo>
                    <a:pt x="10687" y="21"/>
                    <a:pt x="10708" y="0"/>
                    <a:pt x="10734" y="0"/>
                  </a:cubicBezTo>
                  <a:cubicBezTo>
                    <a:pt x="10759" y="0"/>
                    <a:pt x="10781" y="21"/>
                    <a:pt x="10781" y="47"/>
                  </a:cubicBezTo>
                  <a:close/>
                  <a:moveTo>
                    <a:pt x="10882" y="47"/>
                  </a:moveTo>
                  <a:cubicBezTo>
                    <a:pt x="10882" y="72"/>
                    <a:pt x="10860" y="94"/>
                    <a:pt x="10835" y="94"/>
                  </a:cubicBezTo>
                  <a:cubicBezTo>
                    <a:pt x="10809" y="94"/>
                    <a:pt x="10788" y="72"/>
                    <a:pt x="10788" y="47"/>
                  </a:cubicBezTo>
                  <a:cubicBezTo>
                    <a:pt x="10788" y="21"/>
                    <a:pt x="10809" y="0"/>
                    <a:pt x="10835" y="0"/>
                  </a:cubicBezTo>
                  <a:cubicBezTo>
                    <a:pt x="10860" y="0"/>
                    <a:pt x="10882" y="21"/>
                    <a:pt x="10882" y="47"/>
                  </a:cubicBezTo>
                  <a:close/>
                  <a:moveTo>
                    <a:pt x="10983" y="47"/>
                  </a:moveTo>
                  <a:cubicBezTo>
                    <a:pt x="10983" y="72"/>
                    <a:pt x="10961" y="94"/>
                    <a:pt x="10936" y="94"/>
                  </a:cubicBezTo>
                  <a:cubicBezTo>
                    <a:pt x="10910" y="94"/>
                    <a:pt x="10889" y="72"/>
                    <a:pt x="10889" y="47"/>
                  </a:cubicBezTo>
                  <a:cubicBezTo>
                    <a:pt x="10889" y="21"/>
                    <a:pt x="10910" y="0"/>
                    <a:pt x="10936" y="0"/>
                  </a:cubicBezTo>
                  <a:cubicBezTo>
                    <a:pt x="10961" y="0"/>
                    <a:pt x="10983" y="21"/>
                    <a:pt x="10983" y="47"/>
                  </a:cubicBezTo>
                  <a:close/>
                  <a:moveTo>
                    <a:pt x="11083" y="47"/>
                  </a:moveTo>
                  <a:cubicBezTo>
                    <a:pt x="11083" y="72"/>
                    <a:pt x="11061" y="94"/>
                    <a:pt x="11036" y="94"/>
                  </a:cubicBezTo>
                  <a:cubicBezTo>
                    <a:pt x="11010" y="94"/>
                    <a:pt x="10989" y="72"/>
                    <a:pt x="10989" y="47"/>
                  </a:cubicBezTo>
                  <a:cubicBezTo>
                    <a:pt x="10989" y="21"/>
                    <a:pt x="11010" y="0"/>
                    <a:pt x="11036" y="0"/>
                  </a:cubicBezTo>
                  <a:cubicBezTo>
                    <a:pt x="11061" y="0"/>
                    <a:pt x="11083" y="21"/>
                    <a:pt x="11083" y="47"/>
                  </a:cubicBezTo>
                  <a:close/>
                  <a:moveTo>
                    <a:pt x="11184" y="47"/>
                  </a:moveTo>
                  <a:cubicBezTo>
                    <a:pt x="11184" y="72"/>
                    <a:pt x="11162" y="94"/>
                    <a:pt x="11137" y="94"/>
                  </a:cubicBezTo>
                  <a:cubicBezTo>
                    <a:pt x="11111" y="94"/>
                    <a:pt x="11090" y="72"/>
                    <a:pt x="11090" y="47"/>
                  </a:cubicBezTo>
                  <a:cubicBezTo>
                    <a:pt x="11090" y="21"/>
                    <a:pt x="11111" y="0"/>
                    <a:pt x="11137" y="0"/>
                  </a:cubicBezTo>
                  <a:cubicBezTo>
                    <a:pt x="11162" y="0"/>
                    <a:pt x="11184" y="21"/>
                    <a:pt x="11184" y="47"/>
                  </a:cubicBezTo>
                  <a:close/>
                  <a:moveTo>
                    <a:pt x="11285" y="47"/>
                  </a:moveTo>
                  <a:cubicBezTo>
                    <a:pt x="11285" y="72"/>
                    <a:pt x="11263" y="94"/>
                    <a:pt x="11238" y="94"/>
                  </a:cubicBezTo>
                  <a:cubicBezTo>
                    <a:pt x="11212" y="94"/>
                    <a:pt x="11191" y="72"/>
                    <a:pt x="11191" y="47"/>
                  </a:cubicBezTo>
                  <a:cubicBezTo>
                    <a:pt x="11191" y="21"/>
                    <a:pt x="11212" y="0"/>
                    <a:pt x="11238" y="0"/>
                  </a:cubicBezTo>
                  <a:cubicBezTo>
                    <a:pt x="11263" y="0"/>
                    <a:pt x="11285" y="21"/>
                    <a:pt x="11285" y="47"/>
                  </a:cubicBezTo>
                  <a:close/>
                  <a:moveTo>
                    <a:pt x="11386" y="47"/>
                  </a:moveTo>
                  <a:cubicBezTo>
                    <a:pt x="11386" y="72"/>
                    <a:pt x="11364" y="94"/>
                    <a:pt x="11339" y="94"/>
                  </a:cubicBezTo>
                  <a:cubicBezTo>
                    <a:pt x="11313" y="94"/>
                    <a:pt x="11292" y="72"/>
                    <a:pt x="11292" y="47"/>
                  </a:cubicBezTo>
                  <a:cubicBezTo>
                    <a:pt x="11292" y="21"/>
                    <a:pt x="11313" y="0"/>
                    <a:pt x="11339" y="0"/>
                  </a:cubicBezTo>
                  <a:cubicBezTo>
                    <a:pt x="11364" y="0"/>
                    <a:pt x="11386" y="21"/>
                    <a:pt x="11386" y="47"/>
                  </a:cubicBezTo>
                  <a:close/>
                  <a:moveTo>
                    <a:pt x="11487" y="47"/>
                  </a:moveTo>
                  <a:cubicBezTo>
                    <a:pt x="11487" y="72"/>
                    <a:pt x="11465" y="94"/>
                    <a:pt x="11440" y="94"/>
                  </a:cubicBezTo>
                  <a:cubicBezTo>
                    <a:pt x="11414" y="94"/>
                    <a:pt x="11393" y="72"/>
                    <a:pt x="11393" y="47"/>
                  </a:cubicBezTo>
                  <a:cubicBezTo>
                    <a:pt x="11393" y="21"/>
                    <a:pt x="11414" y="0"/>
                    <a:pt x="11440" y="0"/>
                  </a:cubicBezTo>
                  <a:cubicBezTo>
                    <a:pt x="11465" y="0"/>
                    <a:pt x="11487" y="21"/>
                    <a:pt x="11487" y="47"/>
                  </a:cubicBezTo>
                  <a:close/>
                  <a:moveTo>
                    <a:pt x="11587" y="47"/>
                  </a:moveTo>
                  <a:cubicBezTo>
                    <a:pt x="11587" y="72"/>
                    <a:pt x="11565" y="94"/>
                    <a:pt x="11540" y="94"/>
                  </a:cubicBezTo>
                  <a:cubicBezTo>
                    <a:pt x="11514" y="94"/>
                    <a:pt x="11493" y="72"/>
                    <a:pt x="11493" y="47"/>
                  </a:cubicBezTo>
                  <a:cubicBezTo>
                    <a:pt x="11493" y="21"/>
                    <a:pt x="11514" y="0"/>
                    <a:pt x="11540" y="0"/>
                  </a:cubicBezTo>
                  <a:cubicBezTo>
                    <a:pt x="11565" y="0"/>
                    <a:pt x="11587" y="21"/>
                    <a:pt x="11587" y="47"/>
                  </a:cubicBezTo>
                  <a:close/>
                  <a:moveTo>
                    <a:pt x="11688" y="47"/>
                  </a:moveTo>
                  <a:cubicBezTo>
                    <a:pt x="11688" y="72"/>
                    <a:pt x="11666" y="94"/>
                    <a:pt x="11641" y="94"/>
                  </a:cubicBezTo>
                  <a:cubicBezTo>
                    <a:pt x="11615" y="94"/>
                    <a:pt x="11594" y="72"/>
                    <a:pt x="11594" y="47"/>
                  </a:cubicBezTo>
                  <a:cubicBezTo>
                    <a:pt x="11594" y="21"/>
                    <a:pt x="11615" y="0"/>
                    <a:pt x="11641" y="0"/>
                  </a:cubicBezTo>
                  <a:cubicBezTo>
                    <a:pt x="11666" y="0"/>
                    <a:pt x="11688" y="21"/>
                    <a:pt x="11688" y="47"/>
                  </a:cubicBezTo>
                  <a:close/>
                  <a:moveTo>
                    <a:pt x="11789" y="47"/>
                  </a:moveTo>
                  <a:cubicBezTo>
                    <a:pt x="11789" y="72"/>
                    <a:pt x="11767" y="94"/>
                    <a:pt x="11742" y="94"/>
                  </a:cubicBezTo>
                  <a:cubicBezTo>
                    <a:pt x="11716" y="94"/>
                    <a:pt x="11695" y="72"/>
                    <a:pt x="11695" y="47"/>
                  </a:cubicBezTo>
                  <a:cubicBezTo>
                    <a:pt x="11695" y="21"/>
                    <a:pt x="11716" y="0"/>
                    <a:pt x="11742" y="0"/>
                  </a:cubicBezTo>
                  <a:cubicBezTo>
                    <a:pt x="11767" y="0"/>
                    <a:pt x="11789" y="21"/>
                    <a:pt x="11789" y="47"/>
                  </a:cubicBezTo>
                  <a:close/>
                  <a:moveTo>
                    <a:pt x="11890" y="47"/>
                  </a:moveTo>
                  <a:cubicBezTo>
                    <a:pt x="11890" y="72"/>
                    <a:pt x="11868" y="94"/>
                    <a:pt x="11843" y="94"/>
                  </a:cubicBezTo>
                  <a:cubicBezTo>
                    <a:pt x="11817" y="94"/>
                    <a:pt x="11796" y="72"/>
                    <a:pt x="11796" y="47"/>
                  </a:cubicBezTo>
                  <a:cubicBezTo>
                    <a:pt x="11796" y="21"/>
                    <a:pt x="11817" y="0"/>
                    <a:pt x="11843" y="0"/>
                  </a:cubicBezTo>
                  <a:cubicBezTo>
                    <a:pt x="11868" y="0"/>
                    <a:pt x="11890" y="21"/>
                    <a:pt x="11890" y="47"/>
                  </a:cubicBezTo>
                  <a:close/>
                  <a:moveTo>
                    <a:pt x="11991" y="47"/>
                  </a:moveTo>
                  <a:cubicBezTo>
                    <a:pt x="11991" y="72"/>
                    <a:pt x="11969" y="94"/>
                    <a:pt x="11944" y="94"/>
                  </a:cubicBezTo>
                  <a:cubicBezTo>
                    <a:pt x="11918" y="94"/>
                    <a:pt x="11897" y="72"/>
                    <a:pt x="11897" y="47"/>
                  </a:cubicBezTo>
                  <a:cubicBezTo>
                    <a:pt x="11897" y="21"/>
                    <a:pt x="11918" y="0"/>
                    <a:pt x="11944" y="0"/>
                  </a:cubicBezTo>
                  <a:cubicBezTo>
                    <a:pt x="11969" y="0"/>
                    <a:pt x="11991" y="21"/>
                    <a:pt x="11991" y="47"/>
                  </a:cubicBezTo>
                  <a:close/>
                  <a:moveTo>
                    <a:pt x="12091" y="47"/>
                  </a:moveTo>
                  <a:cubicBezTo>
                    <a:pt x="12091" y="72"/>
                    <a:pt x="12069" y="94"/>
                    <a:pt x="12044" y="94"/>
                  </a:cubicBezTo>
                  <a:cubicBezTo>
                    <a:pt x="12018" y="94"/>
                    <a:pt x="11997" y="72"/>
                    <a:pt x="11997" y="47"/>
                  </a:cubicBezTo>
                  <a:cubicBezTo>
                    <a:pt x="11997" y="21"/>
                    <a:pt x="12018" y="0"/>
                    <a:pt x="12044" y="0"/>
                  </a:cubicBezTo>
                  <a:cubicBezTo>
                    <a:pt x="12069" y="0"/>
                    <a:pt x="12091" y="21"/>
                    <a:pt x="12091" y="47"/>
                  </a:cubicBezTo>
                  <a:close/>
                  <a:moveTo>
                    <a:pt x="12192" y="47"/>
                  </a:moveTo>
                  <a:cubicBezTo>
                    <a:pt x="12192" y="72"/>
                    <a:pt x="12170" y="94"/>
                    <a:pt x="12145" y="94"/>
                  </a:cubicBezTo>
                  <a:cubicBezTo>
                    <a:pt x="12119" y="94"/>
                    <a:pt x="12098" y="72"/>
                    <a:pt x="12098" y="47"/>
                  </a:cubicBezTo>
                  <a:cubicBezTo>
                    <a:pt x="12098" y="21"/>
                    <a:pt x="12119" y="0"/>
                    <a:pt x="12145" y="0"/>
                  </a:cubicBezTo>
                  <a:cubicBezTo>
                    <a:pt x="12170" y="0"/>
                    <a:pt x="12192" y="21"/>
                    <a:pt x="12192" y="47"/>
                  </a:cubicBezTo>
                  <a:close/>
                  <a:moveTo>
                    <a:pt x="12293" y="47"/>
                  </a:moveTo>
                  <a:cubicBezTo>
                    <a:pt x="12293" y="72"/>
                    <a:pt x="12271" y="94"/>
                    <a:pt x="12246" y="94"/>
                  </a:cubicBezTo>
                  <a:cubicBezTo>
                    <a:pt x="12220" y="94"/>
                    <a:pt x="12199" y="72"/>
                    <a:pt x="12199" y="47"/>
                  </a:cubicBezTo>
                  <a:cubicBezTo>
                    <a:pt x="12199" y="21"/>
                    <a:pt x="12220" y="0"/>
                    <a:pt x="12246" y="0"/>
                  </a:cubicBezTo>
                  <a:cubicBezTo>
                    <a:pt x="12271" y="0"/>
                    <a:pt x="12293" y="21"/>
                    <a:pt x="12293" y="47"/>
                  </a:cubicBezTo>
                  <a:close/>
                  <a:moveTo>
                    <a:pt x="12394" y="47"/>
                  </a:moveTo>
                  <a:cubicBezTo>
                    <a:pt x="12394" y="72"/>
                    <a:pt x="12372" y="94"/>
                    <a:pt x="12347" y="94"/>
                  </a:cubicBezTo>
                  <a:cubicBezTo>
                    <a:pt x="12321" y="94"/>
                    <a:pt x="12300" y="72"/>
                    <a:pt x="12300" y="47"/>
                  </a:cubicBezTo>
                  <a:cubicBezTo>
                    <a:pt x="12300" y="21"/>
                    <a:pt x="12321" y="0"/>
                    <a:pt x="12347" y="0"/>
                  </a:cubicBezTo>
                  <a:cubicBezTo>
                    <a:pt x="12372" y="0"/>
                    <a:pt x="12394" y="21"/>
                    <a:pt x="12394" y="47"/>
                  </a:cubicBezTo>
                  <a:close/>
                  <a:moveTo>
                    <a:pt x="12495" y="47"/>
                  </a:moveTo>
                  <a:cubicBezTo>
                    <a:pt x="12495" y="72"/>
                    <a:pt x="12473" y="94"/>
                    <a:pt x="12448" y="94"/>
                  </a:cubicBezTo>
                  <a:cubicBezTo>
                    <a:pt x="12422" y="94"/>
                    <a:pt x="12401" y="72"/>
                    <a:pt x="12401" y="47"/>
                  </a:cubicBezTo>
                  <a:cubicBezTo>
                    <a:pt x="12401" y="21"/>
                    <a:pt x="12422" y="0"/>
                    <a:pt x="12448" y="0"/>
                  </a:cubicBezTo>
                  <a:cubicBezTo>
                    <a:pt x="12473" y="0"/>
                    <a:pt x="12495" y="21"/>
                    <a:pt x="12495" y="47"/>
                  </a:cubicBezTo>
                  <a:close/>
                  <a:moveTo>
                    <a:pt x="12595" y="47"/>
                  </a:moveTo>
                  <a:cubicBezTo>
                    <a:pt x="12595" y="72"/>
                    <a:pt x="12573" y="94"/>
                    <a:pt x="12548" y="94"/>
                  </a:cubicBezTo>
                  <a:cubicBezTo>
                    <a:pt x="12522" y="94"/>
                    <a:pt x="12501" y="72"/>
                    <a:pt x="12501" y="47"/>
                  </a:cubicBezTo>
                  <a:cubicBezTo>
                    <a:pt x="12501" y="21"/>
                    <a:pt x="12522" y="0"/>
                    <a:pt x="12548" y="0"/>
                  </a:cubicBezTo>
                  <a:cubicBezTo>
                    <a:pt x="12573" y="0"/>
                    <a:pt x="12595" y="21"/>
                    <a:pt x="12595" y="47"/>
                  </a:cubicBezTo>
                  <a:close/>
                  <a:moveTo>
                    <a:pt x="12696" y="47"/>
                  </a:moveTo>
                  <a:cubicBezTo>
                    <a:pt x="12696" y="72"/>
                    <a:pt x="12674" y="94"/>
                    <a:pt x="12649" y="94"/>
                  </a:cubicBezTo>
                  <a:cubicBezTo>
                    <a:pt x="12623" y="94"/>
                    <a:pt x="12602" y="72"/>
                    <a:pt x="12602" y="47"/>
                  </a:cubicBezTo>
                  <a:cubicBezTo>
                    <a:pt x="12602" y="21"/>
                    <a:pt x="12623" y="0"/>
                    <a:pt x="12649" y="0"/>
                  </a:cubicBezTo>
                  <a:cubicBezTo>
                    <a:pt x="12674" y="0"/>
                    <a:pt x="12696" y="21"/>
                    <a:pt x="12696" y="47"/>
                  </a:cubicBezTo>
                  <a:close/>
                  <a:moveTo>
                    <a:pt x="97" y="353"/>
                  </a:moveTo>
                  <a:cubicBezTo>
                    <a:pt x="97" y="378"/>
                    <a:pt x="75" y="400"/>
                    <a:pt x="50" y="400"/>
                  </a:cubicBezTo>
                  <a:cubicBezTo>
                    <a:pt x="24" y="400"/>
                    <a:pt x="3" y="378"/>
                    <a:pt x="3" y="353"/>
                  </a:cubicBezTo>
                  <a:cubicBezTo>
                    <a:pt x="3" y="327"/>
                    <a:pt x="24" y="306"/>
                    <a:pt x="50" y="306"/>
                  </a:cubicBezTo>
                  <a:cubicBezTo>
                    <a:pt x="75" y="306"/>
                    <a:pt x="97" y="327"/>
                    <a:pt x="97" y="353"/>
                  </a:cubicBezTo>
                  <a:close/>
                  <a:moveTo>
                    <a:pt x="198" y="353"/>
                  </a:moveTo>
                  <a:cubicBezTo>
                    <a:pt x="198" y="378"/>
                    <a:pt x="176" y="400"/>
                    <a:pt x="151" y="400"/>
                  </a:cubicBezTo>
                  <a:cubicBezTo>
                    <a:pt x="125" y="400"/>
                    <a:pt x="104" y="378"/>
                    <a:pt x="104" y="353"/>
                  </a:cubicBezTo>
                  <a:cubicBezTo>
                    <a:pt x="104" y="327"/>
                    <a:pt x="125" y="306"/>
                    <a:pt x="151" y="306"/>
                  </a:cubicBezTo>
                  <a:cubicBezTo>
                    <a:pt x="176" y="306"/>
                    <a:pt x="198" y="327"/>
                    <a:pt x="198" y="353"/>
                  </a:cubicBezTo>
                  <a:close/>
                  <a:moveTo>
                    <a:pt x="298" y="353"/>
                  </a:moveTo>
                  <a:cubicBezTo>
                    <a:pt x="298" y="378"/>
                    <a:pt x="276" y="400"/>
                    <a:pt x="251" y="400"/>
                  </a:cubicBezTo>
                  <a:cubicBezTo>
                    <a:pt x="225" y="400"/>
                    <a:pt x="204" y="378"/>
                    <a:pt x="204" y="353"/>
                  </a:cubicBezTo>
                  <a:cubicBezTo>
                    <a:pt x="204" y="327"/>
                    <a:pt x="225" y="306"/>
                    <a:pt x="251" y="306"/>
                  </a:cubicBezTo>
                  <a:cubicBezTo>
                    <a:pt x="276" y="306"/>
                    <a:pt x="298" y="327"/>
                    <a:pt x="298" y="353"/>
                  </a:cubicBezTo>
                  <a:close/>
                  <a:moveTo>
                    <a:pt x="399" y="353"/>
                  </a:moveTo>
                  <a:cubicBezTo>
                    <a:pt x="399" y="378"/>
                    <a:pt x="377" y="400"/>
                    <a:pt x="352" y="400"/>
                  </a:cubicBezTo>
                  <a:cubicBezTo>
                    <a:pt x="326" y="400"/>
                    <a:pt x="305" y="378"/>
                    <a:pt x="305" y="353"/>
                  </a:cubicBezTo>
                  <a:cubicBezTo>
                    <a:pt x="305" y="327"/>
                    <a:pt x="326" y="306"/>
                    <a:pt x="352" y="306"/>
                  </a:cubicBezTo>
                  <a:cubicBezTo>
                    <a:pt x="377" y="306"/>
                    <a:pt x="399" y="327"/>
                    <a:pt x="399" y="353"/>
                  </a:cubicBezTo>
                  <a:close/>
                  <a:moveTo>
                    <a:pt x="500" y="353"/>
                  </a:moveTo>
                  <a:cubicBezTo>
                    <a:pt x="500" y="378"/>
                    <a:pt x="478" y="400"/>
                    <a:pt x="453" y="400"/>
                  </a:cubicBezTo>
                  <a:cubicBezTo>
                    <a:pt x="427" y="400"/>
                    <a:pt x="406" y="378"/>
                    <a:pt x="406" y="353"/>
                  </a:cubicBezTo>
                  <a:cubicBezTo>
                    <a:pt x="406" y="327"/>
                    <a:pt x="427" y="306"/>
                    <a:pt x="453" y="306"/>
                  </a:cubicBezTo>
                  <a:cubicBezTo>
                    <a:pt x="478" y="306"/>
                    <a:pt x="500" y="327"/>
                    <a:pt x="500" y="353"/>
                  </a:cubicBezTo>
                  <a:close/>
                  <a:moveTo>
                    <a:pt x="601" y="353"/>
                  </a:moveTo>
                  <a:cubicBezTo>
                    <a:pt x="601" y="378"/>
                    <a:pt x="579" y="400"/>
                    <a:pt x="554" y="400"/>
                  </a:cubicBezTo>
                  <a:cubicBezTo>
                    <a:pt x="528" y="400"/>
                    <a:pt x="507" y="378"/>
                    <a:pt x="507" y="353"/>
                  </a:cubicBezTo>
                  <a:cubicBezTo>
                    <a:pt x="507" y="327"/>
                    <a:pt x="528" y="306"/>
                    <a:pt x="554" y="306"/>
                  </a:cubicBezTo>
                  <a:cubicBezTo>
                    <a:pt x="579" y="306"/>
                    <a:pt x="601" y="327"/>
                    <a:pt x="601" y="353"/>
                  </a:cubicBezTo>
                  <a:close/>
                  <a:moveTo>
                    <a:pt x="702" y="353"/>
                  </a:moveTo>
                  <a:cubicBezTo>
                    <a:pt x="702" y="378"/>
                    <a:pt x="680" y="400"/>
                    <a:pt x="655" y="400"/>
                  </a:cubicBezTo>
                  <a:cubicBezTo>
                    <a:pt x="629" y="400"/>
                    <a:pt x="608" y="378"/>
                    <a:pt x="608" y="353"/>
                  </a:cubicBezTo>
                  <a:cubicBezTo>
                    <a:pt x="608" y="327"/>
                    <a:pt x="629" y="306"/>
                    <a:pt x="655" y="306"/>
                  </a:cubicBezTo>
                  <a:cubicBezTo>
                    <a:pt x="680" y="306"/>
                    <a:pt x="702" y="327"/>
                    <a:pt x="702" y="353"/>
                  </a:cubicBezTo>
                  <a:close/>
                  <a:moveTo>
                    <a:pt x="802" y="353"/>
                  </a:moveTo>
                  <a:cubicBezTo>
                    <a:pt x="802" y="378"/>
                    <a:pt x="780" y="400"/>
                    <a:pt x="755" y="400"/>
                  </a:cubicBezTo>
                  <a:cubicBezTo>
                    <a:pt x="729" y="400"/>
                    <a:pt x="708" y="378"/>
                    <a:pt x="708" y="353"/>
                  </a:cubicBezTo>
                  <a:cubicBezTo>
                    <a:pt x="708" y="327"/>
                    <a:pt x="729" y="306"/>
                    <a:pt x="755" y="306"/>
                  </a:cubicBezTo>
                  <a:cubicBezTo>
                    <a:pt x="780" y="306"/>
                    <a:pt x="802" y="327"/>
                    <a:pt x="802" y="353"/>
                  </a:cubicBezTo>
                  <a:close/>
                  <a:moveTo>
                    <a:pt x="903" y="353"/>
                  </a:moveTo>
                  <a:cubicBezTo>
                    <a:pt x="903" y="378"/>
                    <a:pt x="881" y="400"/>
                    <a:pt x="856" y="400"/>
                  </a:cubicBezTo>
                  <a:cubicBezTo>
                    <a:pt x="830" y="400"/>
                    <a:pt x="809" y="378"/>
                    <a:pt x="809" y="353"/>
                  </a:cubicBezTo>
                  <a:cubicBezTo>
                    <a:pt x="809" y="327"/>
                    <a:pt x="830" y="306"/>
                    <a:pt x="856" y="306"/>
                  </a:cubicBezTo>
                  <a:cubicBezTo>
                    <a:pt x="881" y="306"/>
                    <a:pt x="903" y="327"/>
                    <a:pt x="903" y="353"/>
                  </a:cubicBezTo>
                  <a:close/>
                  <a:moveTo>
                    <a:pt x="1004" y="353"/>
                  </a:moveTo>
                  <a:cubicBezTo>
                    <a:pt x="1004" y="378"/>
                    <a:pt x="982" y="400"/>
                    <a:pt x="957" y="400"/>
                  </a:cubicBezTo>
                  <a:cubicBezTo>
                    <a:pt x="931" y="400"/>
                    <a:pt x="910" y="378"/>
                    <a:pt x="910" y="353"/>
                  </a:cubicBezTo>
                  <a:cubicBezTo>
                    <a:pt x="910" y="327"/>
                    <a:pt x="931" y="306"/>
                    <a:pt x="957" y="306"/>
                  </a:cubicBezTo>
                  <a:cubicBezTo>
                    <a:pt x="982" y="306"/>
                    <a:pt x="1004" y="327"/>
                    <a:pt x="1004" y="353"/>
                  </a:cubicBezTo>
                  <a:close/>
                  <a:moveTo>
                    <a:pt x="1105" y="353"/>
                  </a:moveTo>
                  <a:cubicBezTo>
                    <a:pt x="1105" y="378"/>
                    <a:pt x="1083" y="400"/>
                    <a:pt x="1058" y="400"/>
                  </a:cubicBezTo>
                  <a:cubicBezTo>
                    <a:pt x="1032" y="400"/>
                    <a:pt x="1011" y="378"/>
                    <a:pt x="1011" y="353"/>
                  </a:cubicBezTo>
                  <a:cubicBezTo>
                    <a:pt x="1011" y="327"/>
                    <a:pt x="1032" y="306"/>
                    <a:pt x="1058" y="306"/>
                  </a:cubicBezTo>
                  <a:cubicBezTo>
                    <a:pt x="1083" y="306"/>
                    <a:pt x="1105" y="327"/>
                    <a:pt x="1105" y="353"/>
                  </a:cubicBezTo>
                  <a:close/>
                  <a:moveTo>
                    <a:pt x="1206" y="353"/>
                  </a:moveTo>
                  <a:cubicBezTo>
                    <a:pt x="1206" y="378"/>
                    <a:pt x="1184" y="400"/>
                    <a:pt x="1159" y="400"/>
                  </a:cubicBezTo>
                  <a:cubicBezTo>
                    <a:pt x="1133" y="400"/>
                    <a:pt x="1112" y="378"/>
                    <a:pt x="1112" y="353"/>
                  </a:cubicBezTo>
                  <a:cubicBezTo>
                    <a:pt x="1112" y="327"/>
                    <a:pt x="1133" y="306"/>
                    <a:pt x="1159" y="306"/>
                  </a:cubicBezTo>
                  <a:cubicBezTo>
                    <a:pt x="1184" y="306"/>
                    <a:pt x="1206" y="327"/>
                    <a:pt x="1206" y="353"/>
                  </a:cubicBezTo>
                  <a:close/>
                  <a:moveTo>
                    <a:pt x="1306" y="353"/>
                  </a:moveTo>
                  <a:cubicBezTo>
                    <a:pt x="1306" y="378"/>
                    <a:pt x="1284" y="400"/>
                    <a:pt x="1259" y="400"/>
                  </a:cubicBezTo>
                  <a:cubicBezTo>
                    <a:pt x="1233" y="400"/>
                    <a:pt x="1212" y="378"/>
                    <a:pt x="1212" y="353"/>
                  </a:cubicBezTo>
                  <a:cubicBezTo>
                    <a:pt x="1212" y="327"/>
                    <a:pt x="1233" y="306"/>
                    <a:pt x="1259" y="306"/>
                  </a:cubicBezTo>
                  <a:cubicBezTo>
                    <a:pt x="1284" y="306"/>
                    <a:pt x="1306" y="327"/>
                    <a:pt x="1306" y="353"/>
                  </a:cubicBezTo>
                  <a:close/>
                  <a:moveTo>
                    <a:pt x="1407" y="353"/>
                  </a:moveTo>
                  <a:cubicBezTo>
                    <a:pt x="1407" y="378"/>
                    <a:pt x="1385" y="400"/>
                    <a:pt x="1360" y="400"/>
                  </a:cubicBezTo>
                  <a:cubicBezTo>
                    <a:pt x="1334" y="400"/>
                    <a:pt x="1313" y="378"/>
                    <a:pt x="1313" y="353"/>
                  </a:cubicBezTo>
                  <a:cubicBezTo>
                    <a:pt x="1313" y="327"/>
                    <a:pt x="1334" y="306"/>
                    <a:pt x="1360" y="306"/>
                  </a:cubicBezTo>
                  <a:cubicBezTo>
                    <a:pt x="1385" y="306"/>
                    <a:pt x="1407" y="327"/>
                    <a:pt x="1407" y="353"/>
                  </a:cubicBezTo>
                  <a:close/>
                  <a:moveTo>
                    <a:pt x="1508" y="353"/>
                  </a:moveTo>
                  <a:cubicBezTo>
                    <a:pt x="1508" y="378"/>
                    <a:pt x="1486" y="400"/>
                    <a:pt x="1461" y="400"/>
                  </a:cubicBezTo>
                  <a:cubicBezTo>
                    <a:pt x="1435" y="400"/>
                    <a:pt x="1414" y="378"/>
                    <a:pt x="1414" y="353"/>
                  </a:cubicBezTo>
                  <a:cubicBezTo>
                    <a:pt x="1414" y="327"/>
                    <a:pt x="1435" y="306"/>
                    <a:pt x="1461" y="306"/>
                  </a:cubicBezTo>
                  <a:cubicBezTo>
                    <a:pt x="1486" y="306"/>
                    <a:pt x="1508" y="327"/>
                    <a:pt x="1508" y="353"/>
                  </a:cubicBezTo>
                  <a:close/>
                  <a:moveTo>
                    <a:pt x="1609" y="353"/>
                  </a:moveTo>
                  <a:cubicBezTo>
                    <a:pt x="1609" y="378"/>
                    <a:pt x="1587" y="400"/>
                    <a:pt x="1562" y="400"/>
                  </a:cubicBezTo>
                  <a:cubicBezTo>
                    <a:pt x="1536" y="400"/>
                    <a:pt x="1515" y="378"/>
                    <a:pt x="1515" y="353"/>
                  </a:cubicBezTo>
                  <a:cubicBezTo>
                    <a:pt x="1515" y="327"/>
                    <a:pt x="1536" y="306"/>
                    <a:pt x="1562" y="306"/>
                  </a:cubicBezTo>
                  <a:cubicBezTo>
                    <a:pt x="1587" y="306"/>
                    <a:pt x="1609" y="327"/>
                    <a:pt x="1609" y="353"/>
                  </a:cubicBezTo>
                  <a:close/>
                  <a:moveTo>
                    <a:pt x="1710" y="353"/>
                  </a:moveTo>
                  <a:cubicBezTo>
                    <a:pt x="1710" y="378"/>
                    <a:pt x="1688" y="400"/>
                    <a:pt x="1663" y="400"/>
                  </a:cubicBezTo>
                  <a:cubicBezTo>
                    <a:pt x="1637" y="400"/>
                    <a:pt x="1616" y="378"/>
                    <a:pt x="1616" y="353"/>
                  </a:cubicBezTo>
                  <a:cubicBezTo>
                    <a:pt x="1616" y="327"/>
                    <a:pt x="1637" y="306"/>
                    <a:pt x="1663" y="306"/>
                  </a:cubicBezTo>
                  <a:cubicBezTo>
                    <a:pt x="1688" y="306"/>
                    <a:pt x="1710" y="327"/>
                    <a:pt x="1710" y="353"/>
                  </a:cubicBezTo>
                  <a:close/>
                  <a:moveTo>
                    <a:pt x="1810" y="353"/>
                  </a:moveTo>
                  <a:cubicBezTo>
                    <a:pt x="1810" y="378"/>
                    <a:pt x="1788" y="400"/>
                    <a:pt x="1763" y="400"/>
                  </a:cubicBezTo>
                  <a:cubicBezTo>
                    <a:pt x="1737" y="400"/>
                    <a:pt x="1716" y="378"/>
                    <a:pt x="1716" y="353"/>
                  </a:cubicBezTo>
                  <a:cubicBezTo>
                    <a:pt x="1716" y="327"/>
                    <a:pt x="1737" y="306"/>
                    <a:pt x="1763" y="306"/>
                  </a:cubicBezTo>
                  <a:cubicBezTo>
                    <a:pt x="1788" y="306"/>
                    <a:pt x="1810" y="327"/>
                    <a:pt x="1810" y="353"/>
                  </a:cubicBezTo>
                  <a:close/>
                  <a:moveTo>
                    <a:pt x="1911" y="353"/>
                  </a:moveTo>
                  <a:cubicBezTo>
                    <a:pt x="1911" y="378"/>
                    <a:pt x="1889" y="400"/>
                    <a:pt x="1864" y="400"/>
                  </a:cubicBezTo>
                  <a:cubicBezTo>
                    <a:pt x="1838" y="400"/>
                    <a:pt x="1817" y="378"/>
                    <a:pt x="1817" y="353"/>
                  </a:cubicBezTo>
                  <a:cubicBezTo>
                    <a:pt x="1817" y="327"/>
                    <a:pt x="1838" y="306"/>
                    <a:pt x="1864" y="306"/>
                  </a:cubicBezTo>
                  <a:cubicBezTo>
                    <a:pt x="1889" y="306"/>
                    <a:pt x="1911" y="327"/>
                    <a:pt x="1911" y="353"/>
                  </a:cubicBezTo>
                  <a:close/>
                  <a:moveTo>
                    <a:pt x="2012" y="353"/>
                  </a:moveTo>
                  <a:cubicBezTo>
                    <a:pt x="2012" y="378"/>
                    <a:pt x="1990" y="400"/>
                    <a:pt x="1965" y="400"/>
                  </a:cubicBezTo>
                  <a:cubicBezTo>
                    <a:pt x="1939" y="400"/>
                    <a:pt x="1918" y="378"/>
                    <a:pt x="1918" y="353"/>
                  </a:cubicBezTo>
                  <a:cubicBezTo>
                    <a:pt x="1918" y="327"/>
                    <a:pt x="1939" y="306"/>
                    <a:pt x="1965" y="306"/>
                  </a:cubicBezTo>
                  <a:cubicBezTo>
                    <a:pt x="1990" y="306"/>
                    <a:pt x="2012" y="327"/>
                    <a:pt x="2012" y="353"/>
                  </a:cubicBezTo>
                  <a:close/>
                  <a:moveTo>
                    <a:pt x="2113" y="353"/>
                  </a:moveTo>
                  <a:cubicBezTo>
                    <a:pt x="2113" y="378"/>
                    <a:pt x="2091" y="400"/>
                    <a:pt x="2066" y="400"/>
                  </a:cubicBezTo>
                  <a:cubicBezTo>
                    <a:pt x="2040" y="400"/>
                    <a:pt x="2019" y="378"/>
                    <a:pt x="2019" y="353"/>
                  </a:cubicBezTo>
                  <a:cubicBezTo>
                    <a:pt x="2019" y="327"/>
                    <a:pt x="2040" y="306"/>
                    <a:pt x="2066" y="306"/>
                  </a:cubicBezTo>
                  <a:cubicBezTo>
                    <a:pt x="2091" y="306"/>
                    <a:pt x="2113" y="327"/>
                    <a:pt x="2113" y="353"/>
                  </a:cubicBezTo>
                  <a:close/>
                  <a:moveTo>
                    <a:pt x="2214" y="353"/>
                  </a:moveTo>
                  <a:cubicBezTo>
                    <a:pt x="2214" y="378"/>
                    <a:pt x="2192" y="400"/>
                    <a:pt x="2167" y="400"/>
                  </a:cubicBezTo>
                  <a:cubicBezTo>
                    <a:pt x="2141" y="400"/>
                    <a:pt x="2120" y="378"/>
                    <a:pt x="2120" y="353"/>
                  </a:cubicBezTo>
                  <a:cubicBezTo>
                    <a:pt x="2120" y="327"/>
                    <a:pt x="2141" y="306"/>
                    <a:pt x="2167" y="306"/>
                  </a:cubicBezTo>
                  <a:cubicBezTo>
                    <a:pt x="2192" y="306"/>
                    <a:pt x="2214" y="327"/>
                    <a:pt x="2214" y="353"/>
                  </a:cubicBezTo>
                  <a:close/>
                  <a:moveTo>
                    <a:pt x="2314" y="353"/>
                  </a:moveTo>
                  <a:cubicBezTo>
                    <a:pt x="2314" y="378"/>
                    <a:pt x="2292" y="400"/>
                    <a:pt x="2267" y="400"/>
                  </a:cubicBezTo>
                  <a:cubicBezTo>
                    <a:pt x="2241" y="400"/>
                    <a:pt x="2220" y="378"/>
                    <a:pt x="2220" y="353"/>
                  </a:cubicBezTo>
                  <a:cubicBezTo>
                    <a:pt x="2220" y="327"/>
                    <a:pt x="2241" y="306"/>
                    <a:pt x="2267" y="306"/>
                  </a:cubicBezTo>
                  <a:cubicBezTo>
                    <a:pt x="2292" y="306"/>
                    <a:pt x="2314" y="327"/>
                    <a:pt x="2314" y="353"/>
                  </a:cubicBezTo>
                  <a:close/>
                  <a:moveTo>
                    <a:pt x="2415" y="353"/>
                  </a:moveTo>
                  <a:cubicBezTo>
                    <a:pt x="2415" y="378"/>
                    <a:pt x="2393" y="400"/>
                    <a:pt x="2368" y="400"/>
                  </a:cubicBezTo>
                  <a:cubicBezTo>
                    <a:pt x="2342" y="400"/>
                    <a:pt x="2321" y="378"/>
                    <a:pt x="2321" y="353"/>
                  </a:cubicBezTo>
                  <a:cubicBezTo>
                    <a:pt x="2321" y="327"/>
                    <a:pt x="2342" y="306"/>
                    <a:pt x="2368" y="306"/>
                  </a:cubicBezTo>
                  <a:cubicBezTo>
                    <a:pt x="2393" y="306"/>
                    <a:pt x="2415" y="327"/>
                    <a:pt x="2415" y="353"/>
                  </a:cubicBezTo>
                  <a:close/>
                  <a:moveTo>
                    <a:pt x="2516" y="353"/>
                  </a:moveTo>
                  <a:cubicBezTo>
                    <a:pt x="2516" y="378"/>
                    <a:pt x="2494" y="400"/>
                    <a:pt x="2469" y="400"/>
                  </a:cubicBezTo>
                  <a:cubicBezTo>
                    <a:pt x="2443" y="400"/>
                    <a:pt x="2422" y="378"/>
                    <a:pt x="2422" y="353"/>
                  </a:cubicBezTo>
                  <a:cubicBezTo>
                    <a:pt x="2422" y="327"/>
                    <a:pt x="2443" y="306"/>
                    <a:pt x="2469" y="306"/>
                  </a:cubicBezTo>
                  <a:cubicBezTo>
                    <a:pt x="2494" y="306"/>
                    <a:pt x="2516" y="327"/>
                    <a:pt x="2516" y="353"/>
                  </a:cubicBezTo>
                  <a:close/>
                  <a:moveTo>
                    <a:pt x="2617" y="353"/>
                  </a:moveTo>
                  <a:cubicBezTo>
                    <a:pt x="2617" y="378"/>
                    <a:pt x="2595" y="400"/>
                    <a:pt x="2570" y="400"/>
                  </a:cubicBezTo>
                  <a:cubicBezTo>
                    <a:pt x="2544" y="400"/>
                    <a:pt x="2523" y="378"/>
                    <a:pt x="2523" y="353"/>
                  </a:cubicBezTo>
                  <a:cubicBezTo>
                    <a:pt x="2523" y="327"/>
                    <a:pt x="2544" y="306"/>
                    <a:pt x="2570" y="306"/>
                  </a:cubicBezTo>
                  <a:cubicBezTo>
                    <a:pt x="2595" y="306"/>
                    <a:pt x="2617" y="327"/>
                    <a:pt x="2617" y="353"/>
                  </a:cubicBezTo>
                  <a:close/>
                  <a:moveTo>
                    <a:pt x="2718" y="353"/>
                  </a:moveTo>
                  <a:cubicBezTo>
                    <a:pt x="2718" y="378"/>
                    <a:pt x="2696" y="400"/>
                    <a:pt x="2671" y="400"/>
                  </a:cubicBezTo>
                  <a:cubicBezTo>
                    <a:pt x="2645" y="400"/>
                    <a:pt x="2624" y="378"/>
                    <a:pt x="2624" y="353"/>
                  </a:cubicBezTo>
                  <a:cubicBezTo>
                    <a:pt x="2624" y="327"/>
                    <a:pt x="2645" y="306"/>
                    <a:pt x="2671" y="306"/>
                  </a:cubicBezTo>
                  <a:cubicBezTo>
                    <a:pt x="2696" y="306"/>
                    <a:pt x="2718" y="327"/>
                    <a:pt x="2718" y="353"/>
                  </a:cubicBezTo>
                  <a:close/>
                  <a:moveTo>
                    <a:pt x="2818" y="353"/>
                  </a:moveTo>
                  <a:cubicBezTo>
                    <a:pt x="2818" y="378"/>
                    <a:pt x="2796" y="400"/>
                    <a:pt x="2771" y="400"/>
                  </a:cubicBezTo>
                  <a:cubicBezTo>
                    <a:pt x="2745" y="400"/>
                    <a:pt x="2724" y="378"/>
                    <a:pt x="2724" y="353"/>
                  </a:cubicBezTo>
                  <a:cubicBezTo>
                    <a:pt x="2724" y="327"/>
                    <a:pt x="2745" y="306"/>
                    <a:pt x="2771" y="306"/>
                  </a:cubicBezTo>
                  <a:cubicBezTo>
                    <a:pt x="2796" y="306"/>
                    <a:pt x="2818" y="327"/>
                    <a:pt x="2818" y="353"/>
                  </a:cubicBezTo>
                  <a:close/>
                  <a:moveTo>
                    <a:pt x="2919" y="353"/>
                  </a:moveTo>
                  <a:cubicBezTo>
                    <a:pt x="2919" y="378"/>
                    <a:pt x="2897" y="400"/>
                    <a:pt x="2872" y="400"/>
                  </a:cubicBezTo>
                  <a:cubicBezTo>
                    <a:pt x="2846" y="400"/>
                    <a:pt x="2825" y="378"/>
                    <a:pt x="2825" y="353"/>
                  </a:cubicBezTo>
                  <a:cubicBezTo>
                    <a:pt x="2825" y="327"/>
                    <a:pt x="2846" y="306"/>
                    <a:pt x="2872" y="306"/>
                  </a:cubicBezTo>
                  <a:cubicBezTo>
                    <a:pt x="2897" y="306"/>
                    <a:pt x="2919" y="327"/>
                    <a:pt x="2919" y="353"/>
                  </a:cubicBezTo>
                  <a:close/>
                  <a:moveTo>
                    <a:pt x="3020" y="353"/>
                  </a:moveTo>
                  <a:cubicBezTo>
                    <a:pt x="3020" y="378"/>
                    <a:pt x="2998" y="400"/>
                    <a:pt x="2973" y="400"/>
                  </a:cubicBezTo>
                  <a:cubicBezTo>
                    <a:pt x="2947" y="400"/>
                    <a:pt x="2926" y="378"/>
                    <a:pt x="2926" y="353"/>
                  </a:cubicBezTo>
                  <a:cubicBezTo>
                    <a:pt x="2926" y="327"/>
                    <a:pt x="2947" y="306"/>
                    <a:pt x="2973" y="306"/>
                  </a:cubicBezTo>
                  <a:cubicBezTo>
                    <a:pt x="2998" y="306"/>
                    <a:pt x="3020" y="327"/>
                    <a:pt x="3020" y="353"/>
                  </a:cubicBezTo>
                  <a:close/>
                  <a:moveTo>
                    <a:pt x="3121" y="353"/>
                  </a:moveTo>
                  <a:cubicBezTo>
                    <a:pt x="3121" y="378"/>
                    <a:pt x="3099" y="400"/>
                    <a:pt x="3074" y="400"/>
                  </a:cubicBezTo>
                  <a:cubicBezTo>
                    <a:pt x="3048" y="400"/>
                    <a:pt x="3027" y="378"/>
                    <a:pt x="3027" y="353"/>
                  </a:cubicBezTo>
                  <a:cubicBezTo>
                    <a:pt x="3027" y="327"/>
                    <a:pt x="3048" y="306"/>
                    <a:pt x="3074" y="306"/>
                  </a:cubicBezTo>
                  <a:cubicBezTo>
                    <a:pt x="3099" y="306"/>
                    <a:pt x="3121" y="327"/>
                    <a:pt x="3121" y="353"/>
                  </a:cubicBezTo>
                  <a:close/>
                  <a:moveTo>
                    <a:pt x="3222" y="353"/>
                  </a:moveTo>
                  <a:cubicBezTo>
                    <a:pt x="3222" y="378"/>
                    <a:pt x="3200" y="400"/>
                    <a:pt x="3175" y="400"/>
                  </a:cubicBezTo>
                  <a:cubicBezTo>
                    <a:pt x="3149" y="400"/>
                    <a:pt x="3128" y="378"/>
                    <a:pt x="3128" y="353"/>
                  </a:cubicBezTo>
                  <a:cubicBezTo>
                    <a:pt x="3128" y="327"/>
                    <a:pt x="3149" y="306"/>
                    <a:pt x="3175" y="306"/>
                  </a:cubicBezTo>
                  <a:cubicBezTo>
                    <a:pt x="3200" y="306"/>
                    <a:pt x="3222" y="327"/>
                    <a:pt x="3222" y="353"/>
                  </a:cubicBezTo>
                  <a:close/>
                  <a:moveTo>
                    <a:pt x="3322" y="353"/>
                  </a:moveTo>
                  <a:cubicBezTo>
                    <a:pt x="3322" y="378"/>
                    <a:pt x="3300" y="400"/>
                    <a:pt x="3275" y="400"/>
                  </a:cubicBezTo>
                  <a:cubicBezTo>
                    <a:pt x="3249" y="400"/>
                    <a:pt x="3228" y="378"/>
                    <a:pt x="3228" y="353"/>
                  </a:cubicBezTo>
                  <a:cubicBezTo>
                    <a:pt x="3228" y="327"/>
                    <a:pt x="3249" y="306"/>
                    <a:pt x="3275" y="306"/>
                  </a:cubicBezTo>
                  <a:cubicBezTo>
                    <a:pt x="3300" y="306"/>
                    <a:pt x="3322" y="327"/>
                    <a:pt x="3322" y="353"/>
                  </a:cubicBezTo>
                  <a:close/>
                  <a:moveTo>
                    <a:pt x="3423" y="353"/>
                  </a:moveTo>
                  <a:cubicBezTo>
                    <a:pt x="3423" y="378"/>
                    <a:pt x="3401" y="400"/>
                    <a:pt x="3376" y="400"/>
                  </a:cubicBezTo>
                  <a:cubicBezTo>
                    <a:pt x="3350" y="400"/>
                    <a:pt x="3329" y="378"/>
                    <a:pt x="3329" y="353"/>
                  </a:cubicBezTo>
                  <a:cubicBezTo>
                    <a:pt x="3329" y="327"/>
                    <a:pt x="3350" y="306"/>
                    <a:pt x="3376" y="306"/>
                  </a:cubicBezTo>
                  <a:cubicBezTo>
                    <a:pt x="3401" y="306"/>
                    <a:pt x="3423" y="327"/>
                    <a:pt x="3423" y="353"/>
                  </a:cubicBezTo>
                  <a:close/>
                  <a:moveTo>
                    <a:pt x="3524" y="353"/>
                  </a:moveTo>
                  <a:cubicBezTo>
                    <a:pt x="3524" y="378"/>
                    <a:pt x="3502" y="400"/>
                    <a:pt x="3477" y="400"/>
                  </a:cubicBezTo>
                  <a:cubicBezTo>
                    <a:pt x="3451" y="400"/>
                    <a:pt x="3430" y="378"/>
                    <a:pt x="3430" y="353"/>
                  </a:cubicBezTo>
                  <a:cubicBezTo>
                    <a:pt x="3430" y="327"/>
                    <a:pt x="3451" y="306"/>
                    <a:pt x="3477" y="306"/>
                  </a:cubicBezTo>
                  <a:cubicBezTo>
                    <a:pt x="3502" y="306"/>
                    <a:pt x="3524" y="327"/>
                    <a:pt x="3524" y="353"/>
                  </a:cubicBezTo>
                  <a:close/>
                  <a:moveTo>
                    <a:pt x="3625" y="353"/>
                  </a:moveTo>
                  <a:cubicBezTo>
                    <a:pt x="3625" y="378"/>
                    <a:pt x="3603" y="400"/>
                    <a:pt x="3578" y="400"/>
                  </a:cubicBezTo>
                  <a:cubicBezTo>
                    <a:pt x="3552" y="400"/>
                    <a:pt x="3531" y="378"/>
                    <a:pt x="3531" y="353"/>
                  </a:cubicBezTo>
                  <a:cubicBezTo>
                    <a:pt x="3531" y="327"/>
                    <a:pt x="3552" y="306"/>
                    <a:pt x="3578" y="306"/>
                  </a:cubicBezTo>
                  <a:cubicBezTo>
                    <a:pt x="3603" y="306"/>
                    <a:pt x="3625" y="327"/>
                    <a:pt x="3625" y="353"/>
                  </a:cubicBezTo>
                  <a:close/>
                  <a:moveTo>
                    <a:pt x="3725" y="353"/>
                  </a:moveTo>
                  <a:cubicBezTo>
                    <a:pt x="3725" y="378"/>
                    <a:pt x="3703" y="400"/>
                    <a:pt x="3678" y="400"/>
                  </a:cubicBezTo>
                  <a:cubicBezTo>
                    <a:pt x="3652" y="400"/>
                    <a:pt x="3631" y="378"/>
                    <a:pt x="3631" y="353"/>
                  </a:cubicBezTo>
                  <a:cubicBezTo>
                    <a:pt x="3631" y="327"/>
                    <a:pt x="3652" y="306"/>
                    <a:pt x="3678" y="306"/>
                  </a:cubicBezTo>
                  <a:cubicBezTo>
                    <a:pt x="3703" y="306"/>
                    <a:pt x="3725" y="327"/>
                    <a:pt x="3725" y="353"/>
                  </a:cubicBezTo>
                  <a:close/>
                  <a:moveTo>
                    <a:pt x="3826" y="353"/>
                  </a:moveTo>
                  <a:cubicBezTo>
                    <a:pt x="3826" y="378"/>
                    <a:pt x="3804" y="400"/>
                    <a:pt x="3779" y="400"/>
                  </a:cubicBezTo>
                  <a:cubicBezTo>
                    <a:pt x="3753" y="400"/>
                    <a:pt x="3732" y="378"/>
                    <a:pt x="3732" y="353"/>
                  </a:cubicBezTo>
                  <a:cubicBezTo>
                    <a:pt x="3732" y="327"/>
                    <a:pt x="3753" y="306"/>
                    <a:pt x="3779" y="306"/>
                  </a:cubicBezTo>
                  <a:cubicBezTo>
                    <a:pt x="3804" y="306"/>
                    <a:pt x="3826" y="327"/>
                    <a:pt x="3826" y="353"/>
                  </a:cubicBezTo>
                  <a:close/>
                  <a:moveTo>
                    <a:pt x="3927" y="353"/>
                  </a:moveTo>
                  <a:cubicBezTo>
                    <a:pt x="3927" y="378"/>
                    <a:pt x="3905" y="400"/>
                    <a:pt x="3880" y="400"/>
                  </a:cubicBezTo>
                  <a:cubicBezTo>
                    <a:pt x="3854" y="400"/>
                    <a:pt x="3833" y="378"/>
                    <a:pt x="3833" y="353"/>
                  </a:cubicBezTo>
                  <a:cubicBezTo>
                    <a:pt x="3833" y="327"/>
                    <a:pt x="3854" y="306"/>
                    <a:pt x="3880" y="306"/>
                  </a:cubicBezTo>
                  <a:cubicBezTo>
                    <a:pt x="3905" y="306"/>
                    <a:pt x="3927" y="327"/>
                    <a:pt x="3927" y="353"/>
                  </a:cubicBezTo>
                  <a:close/>
                  <a:moveTo>
                    <a:pt x="4028" y="353"/>
                  </a:moveTo>
                  <a:cubicBezTo>
                    <a:pt x="4028" y="378"/>
                    <a:pt x="4006" y="400"/>
                    <a:pt x="3981" y="400"/>
                  </a:cubicBezTo>
                  <a:cubicBezTo>
                    <a:pt x="3955" y="400"/>
                    <a:pt x="3934" y="378"/>
                    <a:pt x="3934" y="353"/>
                  </a:cubicBezTo>
                  <a:cubicBezTo>
                    <a:pt x="3934" y="327"/>
                    <a:pt x="3955" y="306"/>
                    <a:pt x="3981" y="306"/>
                  </a:cubicBezTo>
                  <a:cubicBezTo>
                    <a:pt x="4006" y="306"/>
                    <a:pt x="4028" y="327"/>
                    <a:pt x="4028" y="353"/>
                  </a:cubicBezTo>
                  <a:close/>
                  <a:moveTo>
                    <a:pt x="4129" y="353"/>
                  </a:moveTo>
                  <a:cubicBezTo>
                    <a:pt x="4129" y="378"/>
                    <a:pt x="4107" y="400"/>
                    <a:pt x="4082" y="400"/>
                  </a:cubicBezTo>
                  <a:cubicBezTo>
                    <a:pt x="4056" y="400"/>
                    <a:pt x="4035" y="378"/>
                    <a:pt x="4035" y="353"/>
                  </a:cubicBezTo>
                  <a:cubicBezTo>
                    <a:pt x="4035" y="327"/>
                    <a:pt x="4056" y="306"/>
                    <a:pt x="4082" y="306"/>
                  </a:cubicBezTo>
                  <a:cubicBezTo>
                    <a:pt x="4107" y="306"/>
                    <a:pt x="4129" y="327"/>
                    <a:pt x="4129" y="353"/>
                  </a:cubicBezTo>
                  <a:close/>
                  <a:moveTo>
                    <a:pt x="4229" y="353"/>
                  </a:moveTo>
                  <a:cubicBezTo>
                    <a:pt x="4229" y="378"/>
                    <a:pt x="4207" y="400"/>
                    <a:pt x="4182" y="400"/>
                  </a:cubicBezTo>
                  <a:cubicBezTo>
                    <a:pt x="4156" y="400"/>
                    <a:pt x="4135" y="378"/>
                    <a:pt x="4135" y="353"/>
                  </a:cubicBezTo>
                  <a:cubicBezTo>
                    <a:pt x="4135" y="327"/>
                    <a:pt x="4156" y="306"/>
                    <a:pt x="4182" y="306"/>
                  </a:cubicBezTo>
                  <a:cubicBezTo>
                    <a:pt x="4207" y="306"/>
                    <a:pt x="4229" y="327"/>
                    <a:pt x="4229" y="353"/>
                  </a:cubicBezTo>
                  <a:close/>
                  <a:moveTo>
                    <a:pt x="4330" y="353"/>
                  </a:moveTo>
                  <a:cubicBezTo>
                    <a:pt x="4330" y="378"/>
                    <a:pt x="4308" y="400"/>
                    <a:pt x="4283" y="400"/>
                  </a:cubicBezTo>
                  <a:cubicBezTo>
                    <a:pt x="4257" y="400"/>
                    <a:pt x="4236" y="378"/>
                    <a:pt x="4236" y="353"/>
                  </a:cubicBezTo>
                  <a:cubicBezTo>
                    <a:pt x="4236" y="327"/>
                    <a:pt x="4257" y="306"/>
                    <a:pt x="4283" y="306"/>
                  </a:cubicBezTo>
                  <a:cubicBezTo>
                    <a:pt x="4308" y="306"/>
                    <a:pt x="4330" y="327"/>
                    <a:pt x="4330" y="353"/>
                  </a:cubicBezTo>
                  <a:close/>
                  <a:moveTo>
                    <a:pt x="4431" y="353"/>
                  </a:moveTo>
                  <a:cubicBezTo>
                    <a:pt x="4431" y="378"/>
                    <a:pt x="4409" y="400"/>
                    <a:pt x="4384" y="400"/>
                  </a:cubicBezTo>
                  <a:cubicBezTo>
                    <a:pt x="4358" y="400"/>
                    <a:pt x="4337" y="378"/>
                    <a:pt x="4337" y="353"/>
                  </a:cubicBezTo>
                  <a:cubicBezTo>
                    <a:pt x="4337" y="327"/>
                    <a:pt x="4358" y="306"/>
                    <a:pt x="4384" y="306"/>
                  </a:cubicBezTo>
                  <a:cubicBezTo>
                    <a:pt x="4409" y="306"/>
                    <a:pt x="4431" y="327"/>
                    <a:pt x="4431" y="353"/>
                  </a:cubicBezTo>
                  <a:close/>
                  <a:moveTo>
                    <a:pt x="4532" y="353"/>
                  </a:moveTo>
                  <a:cubicBezTo>
                    <a:pt x="4532" y="378"/>
                    <a:pt x="4510" y="400"/>
                    <a:pt x="4485" y="400"/>
                  </a:cubicBezTo>
                  <a:cubicBezTo>
                    <a:pt x="4459" y="400"/>
                    <a:pt x="4438" y="378"/>
                    <a:pt x="4438" y="353"/>
                  </a:cubicBezTo>
                  <a:cubicBezTo>
                    <a:pt x="4438" y="327"/>
                    <a:pt x="4459" y="306"/>
                    <a:pt x="4485" y="306"/>
                  </a:cubicBezTo>
                  <a:cubicBezTo>
                    <a:pt x="4510" y="306"/>
                    <a:pt x="4532" y="327"/>
                    <a:pt x="4532" y="353"/>
                  </a:cubicBezTo>
                  <a:close/>
                  <a:moveTo>
                    <a:pt x="4633" y="353"/>
                  </a:moveTo>
                  <a:cubicBezTo>
                    <a:pt x="4633" y="378"/>
                    <a:pt x="4611" y="400"/>
                    <a:pt x="4586" y="400"/>
                  </a:cubicBezTo>
                  <a:cubicBezTo>
                    <a:pt x="4560" y="400"/>
                    <a:pt x="4539" y="378"/>
                    <a:pt x="4539" y="353"/>
                  </a:cubicBezTo>
                  <a:cubicBezTo>
                    <a:pt x="4539" y="327"/>
                    <a:pt x="4560" y="306"/>
                    <a:pt x="4586" y="306"/>
                  </a:cubicBezTo>
                  <a:cubicBezTo>
                    <a:pt x="4611" y="306"/>
                    <a:pt x="4633" y="327"/>
                    <a:pt x="4633" y="353"/>
                  </a:cubicBezTo>
                  <a:close/>
                  <a:moveTo>
                    <a:pt x="4733" y="353"/>
                  </a:moveTo>
                  <a:cubicBezTo>
                    <a:pt x="4733" y="378"/>
                    <a:pt x="4711" y="400"/>
                    <a:pt x="4686" y="400"/>
                  </a:cubicBezTo>
                  <a:cubicBezTo>
                    <a:pt x="4660" y="400"/>
                    <a:pt x="4639" y="378"/>
                    <a:pt x="4639" y="353"/>
                  </a:cubicBezTo>
                  <a:cubicBezTo>
                    <a:pt x="4639" y="327"/>
                    <a:pt x="4660" y="306"/>
                    <a:pt x="4686" y="306"/>
                  </a:cubicBezTo>
                  <a:cubicBezTo>
                    <a:pt x="4711" y="306"/>
                    <a:pt x="4733" y="327"/>
                    <a:pt x="4733" y="353"/>
                  </a:cubicBezTo>
                  <a:close/>
                  <a:moveTo>
                    <a:pt x="4834" y="353"/>
                  </a:moveTo>
                  <a:cubicBezTo>
                    <a:pt x="4834" y="378"/>
                    <a:pt x="4812" y="400"/>
                    <a:pt x="4787" y="400"/>
                  </a:cubicBezTo>
                  <a:cubicBezTo>
                    <a:pt x="4761" y="400"/>
                    <a:pt x="4740" y="378"/>
                    <a:pt x="4740" y="353"/>
                  </a:cubicBezTo>
                  <a:cubicBezTo>
                    <a:pt x="4740" y="327"/>
                    <a:pt x="4761" y="306"/>
                    <a:pt x="4787" y="306"/>
                  </a:cubicBezTo>
                  <a:cubicBezTo>
                    <a:pt x="4812" y="306"/>
                    <a:pt x="4834" y="327"/>
                    <a:pt x="4834" y="353"/>
                  </a:cubicBezTo>
                  <a:close/>
                  <a:moveTo>
                    <a:pt x="4935" y="353"/>
                  </a:moveTo>
                  <a:cubicBezTo>
                    <a:pt x="4935" y="378"/>
                    <a:pt x="4913" y="400"/>
                    <a:pt x="4888" y="400"/>
                  </a:cubicBezTo>
                  <a:cubicBezTo>
                    <a:pt x="4862" y="400"/>
                    <a:pt x="4841" y="378"/>
                    <a:pt x="4841" y="353"/>
                  </a:cubicBezTo>
                  <a:cubicBezTo>
                    <a:pt x="4841" y="327"/>
                    <a:pt x="4862" y="306"/>
                    <a:pt x="4888" y="306"/>
                  </a:cubicBezTo>
                  <a:cubicBezTo>
                    <a:pt x="4913" y="306"/>
                    <a:pt x="4935" y="327"/>
                    <a:pt x="4935" y="353"/>
                  </a:cubicBezTo>
                  <a:close/>
                  <a:moveTo>
                    <a:pt x="5036" y="353"/>
                  </a:moveTo>
                  <a:cubicBezTo>
                    <a:pt x="5036" y="378"/>
                    <a:pt x="5014" y="400"/>
                    <a:pt x="4989" y="400"/>
                  </a:cubicBezTo>
                  <a:cubicBezTo>
                    <a:pt x="4963" y="400"/>
                    <a:pt x="4942" y="378"/>
                    <a:pt x="4942" y="353"/>
                  </a:cubicBezTo>
                  <a:cubicBezTo>
                    <a:pt x="4942" y="327"/>
                    <a:pt x="4963" y="306"/>
                    <a:pt x="4989" y="306"/>
                  </a:cubicBezTo>
                  <a:cubicBezTo>
                    <a:pt x="5014" y="306"/>
                    <a:pt x="5036" y="327"/>
                    <a:pt x="5036" y="353"/>
                  </a:cubicBezTo>
                  <a:close/>
                  <a:moveTo>
                    <a:pt x="5137" y="353"/>
                  </a:moveTo>
                  <a:cubicBezTo>
                    <a:pt x="5137" y="378"/>
                    <a:pt x="5115" y="400"/>
                    <a:pt x="5090" y="400"/>
                  </a:cubicBezTo>
                  <a:cubicBezTo>
                    <a:pt x="5064" y="400"/>
                    <a:pt x="5043" y="378"/>
                    <a:pt x="5043" y="353"/>
                  </a:cubicBezTo>
                  <a:cubicBezTo>
                    <a:pt x="5043" y="327"/>
                    <a:pt x="5064" y="306"/>
                    <a:pt x="5090" y="306"/>
                  </a:cubicBezTo>
                  <a:cubicBezTo>
                    <a:pt x="5115" y="306"/>
                    <a:pt x="5137" y="327"/>
                    <a:pt x="5137" y="353"/>
                  </a:cubicBezTo>
                  <a:close/>
                  <a:moveTo>
                    <a:pt x="5237" y="353"/>
                  </a:moveTo>
                  <a:cubicBezTo>
                    <a:pt x="5237" y="378"/>
                    <a:pt x="5215" y="400"/>
                    <a:pt x="5190" y="400"/>
                  </a:cubicBezTo>
                  <a:cubicBezTo>
                    <a:pt x="5164" y="400"/>
                    <a:pt x="5143" y="378"/>
                    <a:pt x="5143" y="353"/>
                  </a:cubicBezTo>
                  <a:cubicBezTo>
                    <a:pt x="5143" y="327"/>
                    <a:pt x="5164" y="306"/>
                    <a:pt x="5190" y="306"/>
                  </a:cubicBezTo>
                  <a:cubicBezTo>
                    <a:pt x="5215" y="306"/>
                    <a:pt x="5237" y="327"/>
                    <a:pt x="5237" y="353"/>
                  </a:cubicBezTo>
                  <a:close/>
                  <a:moveTo>
                    <a:pt x="5338" y="353"/>
                  </a:moveTo>
                  <a:cubicBezTo>
                    <a:pt x="5338" y="378"/>
                    <a:pt x="5316" y="400"/>
                    <a:pt x="5291" y="400"/>
                  </a:cubicBezTo>
                  <a:cubicBezTo>
                    <a:pt x="5265" y="400"/>
                    <a:pt x="5244" y="378"/>
                    <a:pt x="5244" y="353"/>
                  </a:cubicBezTo>
                  <a:cubicBezTo>
                    <a:pt x="5244" y="327"/>
                    <a:pt x="5265" y="306"/>
                    <a:pt x="5291" y="306"/>
                  </a:cubicBezTo>
                  <a:cubicBezTo>
                    <a:pt x="5316" y="306"/>
                    <a:pt x="5338" y="327"/>
                    <a:pt x="5338" y="353"/>
                  </a:cubicBezTo>
                  <a:close/>
                  <a:moveTo>
                    <a:pt x="5439" y="353"/>
                  </a:moveTo>
                  <a:cubicBezTo>
                    <a:pt x="5439" y="378"/>
                    <a:pt x="5417" y="400"/>
                    <a:pt x="5392" y="400"/>
                  </a:cubicBezTo>
                  <a:cubicBezTo>
                    <a:pt x="5366" y="400"/>
                    <a:pt x="5345" y="378"/>
                    <a:pt x="5345" y="353"/>
                  </a:cubicBezTo>
                  <a:cubicBezTo>
                    <a:pt x="5345" y="327"/>
                    <a:pt x="5366" y="306"/>
                    <a:pt x="5392" y="306"/>
                  </a:cubicBezTo>
                  <a:cubicBezTo>
                    <a:pt x="5417" y="306"/>
                    <a:pt x="5439" y="327"/>
                    <a:pt x="5439" y="353"/>
                  </a:cubicBezTo>
                  <a:close/>
                  <a:moveTo>
                    <a:pt x="5540" y="353"/>
                  </a:moveTo>
                  <a:cubicBezTo>
                    <a:pt x="5540" y="378"/>
                    <a:pt x="5518" y="400"/>
                    <a:pt x="5493" y="400"/>
                  </a:cubicBezTo>
                  <a:cubicBezTo>
                    <a:pt x="5467" y="400"/>
                    <a:pt x="5446" y="378"/>
                    <a:pt x="5446" y="353"/>
                  </a:cubicBezTo>
                  <a:cubicBezTo>
                    <a:pt x="5446" y="327"/>
                    <a:pt x="5467" y="306"/>
                    <a:pt x="5493" y="306"/>
                  </a:cubicBezTo>
                  <a:cubicBezTo>
                    <a:pt x="5518" y="306"/>
                    <a:pt x="5540" y="327"/>
                    <a:pt x="5540" y="353"/>
                  </a:cubicBezTo>
                  <a:close/>
                  <a:moveTo>
                    <a:pt x="5641" y="353"/>
                  </a:moveTo>
                  <a:cubicBezTo>
                    <a:pt x="5641" y="378"/>
                    <a:pt x="5619" y="400"/>
                    <a:pt x="5594" y="400"/>
                  </a:cubicBezTo>
                  <a:cubicBezTo>
                    <a:pt x="5568" y="400"/>
                    <a:pt x="5547" y="378"/>
                    <a:pt x="5547" y="353"/>
                  </a:cubicBezTo>
                  <a:cubicBezTo>
                    <a:pt x="5547" y="327"/>
                    <a:pt x="5568" y="306"/>
                    <a:pt x="5594" y="306"/>
                  </a:cubicBezTo>
                  <a:cubicBezTo>
                    <a:pt x="5619" y="306"/>
                    <a:pt x="5641" y="327"/>
                    <a:pt x="5641" y="353"/>
                  </a:cubicBezTo>
                  <a:close/>
                  <a:moveTo>
                    <a:pt x="5741" y="353"/>
                  </a:moveTo>
                  <a:cubicBezTo>
                    <a:pt x="5741" y="378"/>
                    <a:pt x="5719" y="400"/>
                    <a:pt x="5694" y="400"/>
                  </a:cubicBezTo>
                  <a:cubicBezTo>
                    <a:pt x="5668" y="400"/>
                    <a:pt x="5647" y="378"/>
                    <a:pt x="5647" y="353"/>
                  </a:cubicBezTo>
                  <a:cubicBezTo>
                    <a:pt x="5647" y="327"/>
                    <a:pt x="5668" y="306"/>
                    <a:pt x="5694" y="306"/>
                  </a:cubicBezTo>
                  <a:cubicBezTo>
                    <a:pt x="5719" y="306"/>
                    <a:pt x="5741" y="327"/>
                    <a:pt x="5741" y="353"/>
                  </a:cubicBezTo>
                  <a:close/>
                  <a:moveTo>
                    <a:pt x="5842" y="353"/>
                  </a:moveTo>
                  <a:cubicBezTo>
                    <a:pt x="5842" y="378"/>
                    <a:pt x="5820" y="400"/>
                    <a:pt x="5795" y="400"/>
                  </a:cubicBezTo>
                  <a:cubicBezTo>
                    <a:pt x="5769" y="400"/>
                    <a:pt x="5748" y="378"/>
                    <a:pt x="5748" y="353"/>
                  </a:cubicBezTo>
                  <a:cubicBezTo>
                    <a:pt x="5748" y="327"/>
                    <a:pt x="5769" y="306"/>
                    <a:pt x="5795" y="306"/>
                  </a:cubicBezTo>
                  <a:cubicBezTo>
                    <a:pt x="5820" y="306"/>
                    <a:pt x="5842" y="327"/>
                    <a:pt x="5842" y="353"/>
                  </a:cubicBezTo>
                  <a:close/>
                  <a:moveTo>
                    <a:pt x="5943" y="353"/>
                  </a:moveTo>
                  <a:cubicBezTo>
                    <a:pt x="5943" y="378"/>
                    <a:pt x="5921" y="400"/>
                    <a:pt x="5896" y="400"/>
                  </a:cubicBezTo>
                  <a:cubicBezTo>
                    <a:pt x="5870" y="400"/>
                    <a:pt x="5849" y="378"/>
                    <a:pt x="5849" y="353"/>
                  </a:cubicBezTo>
                  <a:cubicBezTo>
                    <a:pt x="5849" y="327"/>
                    <a:pt x="5870" y="306"/>
                    <a:pt x="5896" y="306"/>
                  </a:cubicBezTo>
                  <a:cubicBezTo>
                    <a:pt x="5921" y="306"/>
                    <a:pt x="5943" y="327"/>
                    <a:pt x="5943" y="353"/>
                  </a:cubicBezTo>
                  <a:close/>
                  <a:moveTo>
                    <a:pt x="6044" y="353"/>
                  </a:moveTo>
                  <a:cubicBezTo>
                    <a:pt x="6044" y="378"/>
                    <a:pt x="6022" y="400"/>
                    <a:pt x="5997" y="400"/>
                  </a:cubicBezTo>
                  <a:cubicBezTo>
                    <a:pt x="5971" y="400"/>
                    <a:pt x="5950" y="378"/>
                    <a:pt x="5950" y="353"/>
                  </a:cubicBezTo>
                  <a:cubicBezTo>
                    <a:pt x="5950" y="327"/>
                    <a:pt x="5971" y="306"/>
                    <a:pt x="5997" y="306"/>
                  </a:cubicBezTo>
                  <a:cubicBezTo>
                    <a:pt x="6022" y="306"/>
                    <a:pt x="6044" y="327"/>
                    <a:pt x="6044" y="353"/>
                  </a:cubicBezTo>
                  <a:close/>
                  <a:moveTo>
                    <a:pt x="6145" y="353"/>
                  </a:moveTo>
                  <a:cubicBezTo>
                    <a:pt x="6145" y="378"/>
                    <a:pt x="6123" y="400"/>
                    <a:pt x="6098" y="400"/>
                  </a:cubicBezTo>
                  <a:cubicBezTo>
                    <a:pt x="6072" y="400"/>
                    <a:pt x="6051" y="378"/>
                    <a:pt x="6051" y="353"/>
                  </a:cubicBezTo>
                  <a:cubicBezTo>
                    <a:pt x="6051" y="327"/>
                    <a:pt x="6072" y="306"/>
                    <a:pt x="6098" y="306"/>
                  </a:cubicBezTo>
                  <a:cubicBezTo>
                    <a:pt x="6123" y="306"/>
                    <a:pt x="6145" y="327"/>
                    <a:pt x="6145" y="353"/>
                  </a:cubicBezTo>
                  <a:close/>
                  <a:moveTo>
                    <a:pt x="6245" y="353"/>
                  </a:moveTo>
                  <a:cubicBezTo>
                    <a:pt x="6245" y="378"/>
                    <a:pt x="6223" y="400"/>
                    <a:pt x="6198" y="400"/>
                  </a:cubicBezTo>
                  <a:cubicBezTo>
                    <a:pt x="6172" y="400"/>
                    <a:pt x="6151" y="378"/>
                    <a:pt x="6151" y="353"/>
                  </a:cubicBezTo>
                  <a:cubicBezTo>
                    <a:pt x="6151" y="327"/>
                    <a:pt x="6172" y="306"/>
                    <a:pt x="6198" y="306"/>
                  </a:cubicBezTo>
                  <a:cubicBezTo>
                    <a:pt x="6223" y="306"/>
                    <a:pt x="6245" y="327"/>
                    <a:pt x="6245" y="353"/>
                  </a:cubicBezTo>
                  <a:close/>
                  <a:moveTo>
                    <a:pt x="6346" y="353"/>
                  </a:moveTo>
                  <a:cubicBezTo>
                    <a:pt x="6346" y="378"/>
                    <a:pt x="6324" y="400"/>
                    <a:pt x="6299" y="400"/>
                  </a:cubicBezTo>
                  <a:cubicBezTo>
                    <a:pt x="6273" y="400"/>
                    <a:pt x="6252" y="378"/>
                    <a:pt x="6252" y="353"/>
                  </a:cubicBezTo>
                  <a:cubicBezTo>
                    <a:pt x="6252" y="327"/>
                    <a:pt x="6273" y="306"/>
                    <a:pt x="6299" y="306"/>
                  </a:cubicBezTo>
                  <a:cubicBezTo>
                    <a:pt x="6324" y="306"/>
                    <a:pt x="6346" y="327"/>
                    <a:pt x="6346" y="353"/>
                  </a:cubicBezTo>
                  <a:close/>
                  <a:moveTo>
                    <a:pt x="6447" y="353"/>
                  </a:moveTo>
                  <a:cubicBezTo>
                    <a:pt x="6447" y="378"/>
                    <a:pt x="6425" y="400"/>
                    <a:pt x="6400" y="400"/>
                  </a:cubicBezTo>
                  <a:cubicBezTo>
                    <a:pt x="6374" y="400"/>
                    <a:pt x="6353" y="378"/>
                    <a:pt x="6353" y="353"/>
                  </a:cubicBezTo>
                  <a:cubicBezTo>
                    <a:pt x="6353" y="327"/>
                    <a:pt x="6374" y="306"/>
                    <a:pt x="6400" y="306"/>
                  </a:cubicBezTo>
                  <a:cubicBezTo>
                    <a:pt x="6425" y="306"/>
                    <a:pt x="6447" y="327"/>
                    <a:pt x="6447" y="353"/>
                  </a:cubicBezTo>
                  <a:close/>
                  <a:moveTo>
                    <a:pt x="6548" y="353"/>
                  </a:moveTo>
                  <a:cubicBezTo>
                    <a:pt x="6548" y="378"/>
                    <a:pt x="6526" y="400"/>
                    <a:pt x="6501" y="400"/>
                  </a:cubicBezTo>
                  <a:cubicBezTo>
                    <a:pt x="6475" y="400"/>
                    <a:pt x="6454" y="378"/>
                    <a:pt x="6454" y="353"/>
                  </a:cubicBezTo>
                  <a:cubicBezTo>
                    <a:pt x="6454" y="327"/>
                    <a:pt x="6475" y="306"/>
                    <a:pt x="6501" y="306"/>
                  </a:cubicBezTo>
                  <a:cubicBezTo>
                    <a:pt x="6526" y="306"/>
                    <a:pt x="6548" y="327"/>
                    <a:pt x="6548" y="353"/>
                  </a:cubicBezTo>
                  <a:close/>
                  <a:moveTo>
                    <a:pt x="6648" y="353"/>
                  </a:moveTo>
                  <a:cubicBezTo>
                    <a:pt x="6648" y="378"/>
                    <a:pt x="6626" y="400"/>
                    <a:pt x="6601" y="400"/>
                  </a:cubicBezTo>
                  <a:cubicBezTo>
                    <a:pt x="6575" y="400"/>
                    <a:pt x="6554" y="378"/>
                    <a:pt x="6554" y="353"/>
                  </a:cubicBezTo>
                  <a:cubicBezTo>
                    <a:pt x="6554" y="327"/>
                    <a:pt x="6575" y="306"/>
                    <a:pt x="6601" y="306"/>
                  </a:cubicBezTo>
                  <a:cubicBezTo>
                    <a:pt x="6626" y="306"/>
                    <a:pt x="6648" y="327"/>
                    <a:pt x="6648" y="353"/>
                  </a:cubicBezTo>
                  <a:close/>
                  <a:moveTo>
                    <a:pt x="6749" y="353"/>
                  </a:moveTo>
                  <a:cubicBezTo>
                    <a:pt x="6749" y="378"/>
                    <a:pt x="6727" y="400"/>
                    <a:pt x="6702" y="400"/>
                  </a:cubicBezTo>
                  <a:cubicBezTo>
                    <a:pt x="6676" y="400"/>
                    <a:pt x="6655" y="378"/>
                    <a:pt x="6655" y="353"/>
                  </a:cubicBezTo>
                  <a:cubicBezTo>
                    <a:pt x="6655" y="327"/>
                    <a:pt x="6676" y="306"/>
                    <a:pt x="6702" y="306"/>
                  </a:cubicBezTo>
                  <a:cubicBezTo>
                    <a:pt x="6727" y="306"/>
                    <a:pt x="6749" y="327"/>
                    <a:pt x="6749" y="353"/>
                  </a:cubicBezTo>
                  <a:close/>
                  <a:moveTo>
                    <a:pt x="6850" y="353"/>
                  </a:moveTo>
                  <a:cubicBezTo>
                    <a:pt x="6850" y="378"/>
                    <a:pt x="6828" y="400"/>
                    <a:pt x="6803" y="400"/>
                  </a:cubicBezTo>
                  <a:cubicBezTo>
                    <a:pt x="6777" y="400"/>
                    <a:pt x="6756" y="378"/>
                    <a:pt x="6756" y="353"/>
                  </a:cubicBezTo>
                  <a:cubicBezTo>
                    <a:pt x="6756" y="327"/>
                    <a:pt x="6777" y="306"/>
                    <a:pt x="6803" y="306"/>
                  </a:cubicBezTo>
                  <a:cubicBezTo>
                    <a:pt x="6828" y="306"/>
                    <a:pt x="6850" y="327"/>
                    <a:pt x="6850" y="353"/>
                  </a:cubicBezTo>
                  <a:close/>
                  <a:moveTo>
                    <a:pt x="6951" y="353"/>
                  </a:moveTo>
                  <a:cubicBezTo>
                    <a:pt x="6951" y="378"/>
                    <a:pt x="6929" y="400"/>
                    <a:pt x="6904" y="400"/>
                  </a:cubicBezTo>
                  <a:cubicBezTo>
                    <a:pt x="6878" y="400"/>
                    <a:pt x="6857" y="378"/>
                    <a:pt x="6857" y="353"/>
                  </a:cubicBezTo>
                  <a:cubicBezTo>
                    <a:pt x="6857" y="327"/>
                    <a:pt x="6878" y="306"/>
                    <a:pt x="6904" y="306"/>
                  </a:cubicBezTo>
                  <a:cubicBezTo>
                    <a:pt x="6929" y="306"/>
                    <a:pt x="6951" y="327"/>
                    <a:pt x="6951" y="353"/>
                  </a:cubicBezTo>
                  <a:close/>
                  <a:moveTo>
                    <a:pt x="7052" y="353"/>
                  </a:moveTo>
                  <a:cubicBezTo>
                    <a:pt x="7052" y="378"/>
                    <a:pt x="7030" y="400"/>
                    <a:pt x="7005" y="400"/>
                  </a:cubicBezTo>
                  <a:cubicBezTo>
                    <a:pt x="6979" y="400"/>
                    <a:pt x="6958" y="378"/>
                    <a:pt x="6958" y="353"/>
                  </a:cubicBezTo>
                  <a:cubicBezTo>
                    <a:pt x="6958" y="327"/>
                    <a:pt x="6979" y="306"/>
                    <a:pt x="7005" y="306"/>
                  </a:cubicBezTo>
                  <a:cubicBezTo>
                    <a:pt x="7030" y="306"/>
                    <a:pt x="7052" y="327"/>
                    <a:pt x="7052" y="353"/>
                  </a:cubicBezTo>
                  <a:close/>
                  <a:moveTo>
                    <a:pt x="7152" y="353"/>
                  </a:moveTo>
                  <a:cubicBezTo>
                    <a:pt x="7152" y="378"/>
                    <a:pt x="7130" y="400"/>
                    <a:pt x="7105" y="400"/>
                  </a:cubicBezTo>
                  <a:cubicBezTo>
                    <a:pt x="7079" y="400"/>
                    <a:pt x="7058" y="378"/>
                    <a:pt x="7058" y="353"/>
                  </a:cubicBezTo>
                  <a:cubicBezTo>
                    <a:pt x="7058" y="327"/>
                    <a:pt x="7079" y="306"/>
                    <a:pt x="7105" y="306"/>
                  </a:cubicBezTo>
                  <a:cubicBezTo>
                    <a:pt x="7130" y="306"/>
                    <a:pt x="7152" y="327"/>
                    <a:pt x="7152" y="353"/>
                  </a:cubicBezTo>
                  <a:close/>
                  <a:moveTo>
                    <a:pt x="7253" y="353"/>
                  </a:moveTo>
                  <a:cubicBezTo>
                    <a:pt x="7253" y="378"/>
                    <a:pt x="7231" y="400"/>
                    <a:pt x="7206" y="400"/>
                  </a:cubicBezTo>
                  <a:cubicBezTo>
                    <a:pt x="7180" y="400"/>
                    <a:pt x="7159" y="378"/>
                    <a:pt x="7159" y="353"/>
                  </a:cubicBezTo>
                  <a:cubicBezTo>
                    <a:pt x="7159" y="327"/>
                    <a:pt x="7180" y="306"/>
                    <a:pt x="7206" y="306"/>
                  </a:cubicBezTo>
                  <a:cubicBezTo>
                    <a:pt x="7231" y="306"/>
                    <a:pt x="7253" y="327"/>
                    <a:pt x="7253" y="353"/>
                  </a:cubicBezTo>
                  <a:close/>
                  <a:moveTo>
                    <a:pt x="7354" y="353"/>
                  </a:moveTo>
                  <a:cubicBezTo>
                    <a:pt x="7354" y="378"/>
                    <a:pt x="7332" y="400"/>
                    <a:pt x="7307" y="400"/>
                  </a:cubicBezTo>
                  <a:cubicBezTo>
                    <a:pt x="7281" y="400"/>
                    <a:pt x="7260" y="378"/>
                    <a:pt x="7260" y="353"/>
                  </a:cubicBezTo>
                  <a:cubicBezTo>
                    <a:pt x="7260" y="327"/>
                    <a:pt x="7281" y="306"/>
                    <a:pt x="7307" y="306"/>
                  </a:cubicBezTo>
                  <a:cubicBezTo>
                    <a:pt x="7332" y="306"/>
                    <a:pt x="7354" y="327"/>
                    <a:pt x="7354" y="353"/>
                  </a:cubicBezTo>
                  <a:close/>
                  <a:moveTo>
                    <a:pt x="7455" y="353"/>
                  </a:moveTo>
                  <a:cubicBezTo>
                    <a:pt x="7455" y="378"/>
                    <a:pt x="7433" y="400"/>
                    <a:pt x="7408" y="400"/>
                  </a:cubicBezTo>
                  <a:cubicBezTo>
                    <a:pt x="7382" y="400"/>
                    <a:pt x="7361" y="378"/>
                    <a:pt x="7361" y="353"/>
                  </a:cubicBezTo>
                  <a:cubicBezTo>
                    <a:pt x="7361" y="327"/>
                    <a:pt x="7382" y="306"/>
                    <a:pt x="7408" y="306"/>
                  </a:cubicBezTo>
                  <a:cubicBezTo>
                    <a:pt x="7433" y="306"/>
                    <a:pt x="7455" y="327"/>
                    <a:pt x="7455" y="353"/>
                  </a:cubicBezTo>
                  <a:close/>
                  <a:moveTo>
                    <a:pt x="7556" y="353"/>
                  </a:moveTo>
                  <a:cubicBezTo>
                    <a:pt x="7556" y="378"/>
                    <a:pt x="7534" y="400"/>
                    <a:pt x="7509" y="400"/>
                  </a:cubicBezTo>
                  <a:cubicBezTo>
                    <a:pt x="7483" y="400"/>
                    <a:pt x="7462" y="378"/>
                    <a:pt x="7462" y="353"/>
                  </a:cubicBezTo>
                  <a:cubicBezTo>
                    <a:pt x="7462" y="327"/>
                    <a:pt x="7483" y="306"/>
                    <a:pt x="7509" y="306"/>
                  </a:cubicBezTo>
                  <a:cubicBezTo>
                    <a:pt x="7534" y="306"/>
                    <a:pt x="7556" y="327"/>
                    <a:pt x="7556" y="353"/>
                  </a:cubicBezTo>
                  <a:close/>
                  <a:moveTo>
                    <a:pt x="7656" y="353"/>
                  </a:moveTo>
                  <a:cubicBezTo>
                    <a:pt x="7656" y="378"/>
                    <a:pt x="7634" y="400"/>
                    <a:pt x="7609" y="400"/>
                  </a:cubicBezTo>
                  <a:cubicBezTo>
                    <a:pt x="7583" y="400"/>
                    <a:pt x="7562" y="378"/>
                    <a:pt x="7562" y="353"/>
                  </a:cubicBezTo>
                  <a:cubicBezTo>
                    <a:pt x="7562" y="327"/>
                    <a:pt x="7583" y="306"/>
                    <a:pt x="7609" y="306"/>
                  </a:cubicBezTo>
                  <a:cubicBezTo>
                    <a:pt x="7634" y="306"/>
                    <a:pt x="7656" y="327"/>
                    <a:pt x="7656" y="353"/>
                  </a:cubicBezTo>
                  <a:close/>
                  <a:moveTo>
                    <a:pt x="7757" y="353"/>
                  </a:moveTo>
                  <a:cubicBezTo>
                    <a:pt x="7757" y="378"/>
                    <a:pt x="7735" y="400"/>
                    <a:pt x="7710" y="400"/>
                  </a:cubicBezTo>
                  <a:cubicBezTo>
                    <a:pt x="7684" y="400"/>
                    <a:pt x="7663" y="378"/>
                    <a:pt x="7663" y="353"/>
                  </a:cubicBezTo>
                  <a:cubicBezTo>
                    <a:pt x="7663" y="327"/>
                    <a:pt x="7684" y="306"/>
                    <a:pt x="7710" y="306"/>
                  </a:cubicBezTo>
                  <a:cubicBezTo>
                    <a:pt x="7735" y="306"/>
                    <a:pt x="7757" y="327"/>
                    <a:pt x="7757" y="353"/>
                  </a:cubicBezTo>
                  <a:close/>
                  <a:moveTo>
                    <a:pt x="7858" y="353"/>
                  </a:moveTo>
                  <a:cubicBezTo>
                    <a:pt x="7858" y="378"/>
                    <a:pt x="7836" y="400"/>
                    <a:pt x="7811" y="400"/>
                  </a:cubicBezTo>
                  <a:cubicBezTo>
                    <a:pt x="7785" y="400"/>
                    <a:pt x="7764" y="378"/>
                    <a:pt x="7764" y="353"/>
                  </a:cubicBezTo>
                  <a:cubicBezTo>
                    <a:pt x="7764" y="327"/>
                    <a:pt x="7785" y="306"/>
                    <a:pt x="7811" y="306"/>
                  </a:cubicBezTo>
                  <a:cubicBezTo>
                    <a:pt x="7836" y="306"/>
                    <a:pt x="7858" y="327"/>
                    <a:pt x="7858" y="353"/>
                  </a:cubicBezTo>
                  <a:close/>
                  <a:moveTo>
                    <a:pt x="7959" y="353"/>
                  </a:moveTo>
                  <a:cubicBezTo>
                    <a:pt x="7959" y="378"/>
                    <a:pt x="7937" y="400"/>
                    <a:pt x="7912" y="400"/>
                  </a:cubicBezTo>
                  <a:cubicBezTo>
                    <a:pt x="7886" y="400"/>
                    <a:pt x="7865" y="378"/>
                    <a:pt x="7865" y="353"/>
                  </a:cubicBezTo>
                  <a:cubicBezTo>
                    <a:pt x="7865" y="327"/>
                    <a:pt x="7886" y="306"/>
                    <a:pt x="7912" y="306"/>
                  </a:cubicBezTo>
                  <a:cubicBezTo>
                    <a:pt x="7937" y="306"/>
                    <a:pt x="7959" y="327"/>
                    <a:pt x="7959" y="353"/>
                  </a:cubicBezTo>
                  <a:close/>
                  <a:moveTo>
                    <a:pt x="8060" y="353"/>
                  </a:moveTo>
                  <a:cubicBezTo>
                    <a:pt x="8060" y="378"/>
                    <a:pt x="8038" y="400"/>
                    <a:pt x="8013" y="400"/>
                  </a:cubicBezTo>
                  <a:cubicBezTo>
                    <a:pt x="7987" y="400"/>
                    <a:pt x="7966" y="378"/>
                    <a:pt x="7966" y="353"/>
                  </a:cubicBezTo>
                  <a:cubicBezTo>
                    <a:pt x="7966" y="327"/>
                    <a:pt x="7987" y="306"/>
                    <a:pt x="8013" y="306"/>
                  </a:cubicBezTo>
                  <a:cubicBezTo>
                    <a:pt x="8038" y="306"/>
                    <a:pt x="8060" y="327"/>
                    <a:pt x="8060" y="353"/>
                  </a:cubicBezTo>
                  <a:close/>
                  <a:moveTo>
                    <a:pt x="8160" y="353"/>
                  </a:moveTo>
                  <a:cubicBezTo>
                    <a:pt x="8160" y="378"/>
                    <a:pt x="8138" y="400"/>
                    <a:pt x="8113" y="400"/>
                  </a:cubicBezTo>
                  <a:cubicBezTo>
                    <a:pt x="8087" y="400"/>
                    <a:pt x="8066" y="378"/>
                    <a:pt x="8066" y="353"/>
                  </a:cubicBezTo>
                  <a:cubicBezTo>
                    <a:pt x="8066" y="327"/>
                    <a:pt x="8087" y="306"/>
                    <a:pt x="8113" y="306"/>
                  </a:cubicBezTo>
                  <a:cubicBezTo>
                    <a:pt x="8138" y="306"/>
                    <a:pt x="8160" y="327"/>
                    <a:pt x="8160" y="353"/>
                  </a:cubicBezTo>
                  <a:close/>
                  <a:moveTo>
                    <a:pt x="8261" y="353"/>
                  </a:moveTo>
                  <a:cubicBezTo>
                    <a:pt x="8261" y="378"/>
                    <a:pt x="8239" y="400"/>
                    <a:pt x="8214" y="400"/>
                  </a:cubicBezTo>
                  <a:cubicBezTo>
                    <a:pt x="8188" y="400"/>
                    <a:pt x="8167" y="378"/>
                    <a:pt x="8167" y="353"/>
                  </a:cubicBezTo>
                  <a:cubicBezTo>
                    <a:pt x="8167" y="327"/>
                    <a:pt x="8188" y="306"/>
                    <a:pt x="8214" y="306"/>
                  </a:cubicBezTo>
                  <a:cubicBezTo>
                    <a:pt x="8239" y="306"/>
                    <a:pt x="8261" y="327"/>
                    <a:pt x="8261" y="353"/>
                  </a:cubicBezTo>
                  <a:close/>
                  <a:moveTo>
                    <a:pt x="8362" y="353"/>
                  </a:moveTo>
                  <a:cubicBezTo>
                    <a:pt x="8362" y="378"/>
                    <a:pt x="8340" y="400"/>
                    <a:pt x="8315" y="400"/>
                  </a:cubicBezTo>
                  <a:cubicBezTo>
                    <a:pt x="8289" y="400"/>
                    <a:pt x="8268" y="378"/>
                    <a:pt x="8268" y="353"/>
                  </a:cubicBezTo>
                  <a:cubicBezTo>
                    <a:pt x="8268" y="327"/>
                    <a:pt x="8289" y="306"/>
                    <a:pt x="8315" y="306"/>
                  </a:cubicBezTo>
                  <a:cubicBezTo>
                    <a:pt x="8340" y="306"/>
                    <a:pt x="8362" y="327"/>
                    <a:pt x="8362" y="353"/>
                  </a:cubicBezTo>
                  <a:close/>
                  <a:moveTo>
                    <a:pt x="8463" y="353"/>
                  </a:moveTo>
                  <a:cubicBezTo>
                    <a:pt x="8463" y="378"/>
                    <a:pt x="8441" y="400"/>
                    <a:pt x="8416" y="400"/>
                  </a:cubicBezTo>
                  <a:cubicBezTo>
                    <a:pt x="8390" y="400"/>
                    <a:pt x="8369" y="378"/>
                    <a:pt x="8369" y="353"/>
                  </a:cubicBezTo>
                  <a:cubicBezTo>
                    <a:pt x="8369" y="327"/>
                    <a:pt x="8390" y="306"/>
                    <a:pt x="8416" y="306"/>
                  </a:cubicBezTo>
                  <a:cubicBezTo>
                    <a:pt x="8441" y="306"/>
                    <a:pt x="8463" y="327"/>
                    <a:pt x="8463" y="353"/>
                  </a:cubicBezTo>
                  <a:close/>
                  <a:moveTo>
                    <a:pt x="8564" y="353"/>
                  </a:moveTo>
                  <a:cubicBezTo>
                    <a:pt x="8564" y="378"/>
                    <a:pt x="8542" y="400"/>
                    <a:pt x="8517" y="400"/>
                  </a:cubicBezTo>
                  <a:cubicBezTo>
                    <a:pt x="8491" y="400"/>
                    <a:pt x="8470" y="378"/>
                    <a:pt x="8470" y="353"/>
                  </a:cubicBezTo>
                  <a:cubicBezTo>
                    <a:pt x="8470" y="327"/>
                    <a:pt x="8491" y="306"/>
                    <a:pt x="8517" y="306"/>
                  </a:cubicBezTo>
                  <a:cubicBezTo>
                    <a:pt x="8542" y="306"/>
                    <a:pt x="8564" y="327"/>
                    <a:pt x="8564" y="353"/>
                  </a:cubicBezTo>
                  <a:close/>
                  <a:moveTo>
                    <a:pt x="8664" y="353"/>
                  </a:moveTo>
                  <a:cubicBezTo>
                    <a:pt x="8664" y="378"/>
                    <a:pt x="8642" y="400"/>
                    <a:pt x="8617" y="400"/>
                  </a:cubicBezTo>
                  <a:cubicBezTo>
                    <a:pt x="8591" y="400"/>
                    <a:pt x="8570" y="378"/>
                    <a:pt x="8570" y="353"/>
                  </a:cubicBezTo>
                  <a:cubicBezTo>
                    <a:pt x="8570" y="327"/>
                    <a:pt x="8591" y="306"/>
                    <a:pt x="8617" y="306"/>
                  </a:cubicBezTo>
                  <a:cubicBezTo>
                    <a:pt x="8642" y="306"/>
                    <a:pt x="8664" y="327"/>
                    <a:pt x="8664" y="353"/>
                  </a:cubicBezTo>
                  <a:close/>
                  <a:moveTo>
                    <a:pt x="8765" y="353"/>
                  </a:moveTo>
                  <a:cubicBezTo>
                    <a:pt x="8765" y="378"/>
                    <a:pt x="8743" y="400"/>
                    <a:pt x="8718" y="400"/>
                  </a:cubicBezTo>
                  <a:cubicBezTo>
                    <a:pt x="8692" y="400"/>
                    <a:pt x="8671" y="378"/>
                    <a:pt x="8671" y="353"/>
                  </a:cubicBezTo>
                  <a:cubicBezTo>
                    <a:pt x="8671" y="327"/>
                    <a:pt x="8692" y="306"/>
                    <a:pt x="8718" y="306"/>
                  </a:cubicBezTo>
                  <a:cubicBezTo>
                    <a:pt x="8743" y="306"/>
                    <a:pt x="8765" y="327"/>
                    <a:pt x="8765" y="353"/>
                  </a:cubicBezTo>
                  <a:close/>
                  <a:moveTo>
                    <a:pt x="8866" y="353"/>
                  </a:moveTo>
                  <a:cubicBezTo>
                    <a:pt x="8866" y="378"/>
                    <a:pt x="8844" y="400"/>
                    <a:pt x="8819" y="400"/>
                  </a:cubicBezTo>
                  <a:cubicBezTo>
                    <a:pt x="8793" y="400"/>
                    <a:pt x="8772" y="378"/>
                    <a:pt x="8772" y="353"/>
                  </a:cubicBezTo>
                  <a:cubicBezTo>
                    <a:pt x="8772" y="327"/>
                    <a:pt x="8793" y="306"/>
                    <a:pt x="8819" y="306"/>
                  </a:cubicBezTo>
                  <a:cubicBezTo>
                    <a:pt x="8844" y="306"/>
                    <a:pt x="8866" y="327"/>
                    <a:pt x="8866" y="353"/>
                  </a:cubicBezTo>
                  <a:close/>
                  <a:moveTo>
                    <a:pt x="8967" y="353"/>
                  </a:moveTo>
                  <a:cubicBezTo>
                    <a:pt x="8967" y="378"/>
                    <a:pt x="8945" y="400"/>
                    <a:pt x="8920" y="400"/>
                  </a:cubicBezTo>
                  <a:cubicBezTo>
                    <a:pt x="8894" y="400"/>
                    <a:pt x="8873" y="378"/>
                    <a:pt x="8873" y="353"/>
                  </a:cubicBezTo>
                  <a:cubicBezTo>
                    <a:pt x="8873" y="327"/>
                    <a:pt x="8894" y="306"/>
                    <a:pt x="8920" y="306"/>
                  </a:cubicBezTo>
                  <a:cubicBezTo>
                    <a:pt x="8945" y="306"/>
                    <a:pt x="8967" y="327"/>
                    <a:pt x="8967" y="353"/>
                  </a:cubicBezTo>
                  <a:close/>
                  <a:moveTo>
                    <a:pt x="9068" y="353"/>
                  </a:moveTo>
                  <a:cubicBezTo>
                    <a:pt x="9068" y="378"/>
                    <a:pt x="9046" y="400"/>
                    <a:pt x="9021" y="400"/>
                  </a:cubicBezTo>
                  <a:cubicBezTo>
                    <a:pt x="8995" y="400"/>
                    <a:pt x="8974" y="378"/>
                    <a:pt x="8974" y="353"/>
                  </a:cubicBezTo>
                  <a:cubicBezTo>
                    <a:pt x="8974" y="327"/>
                    <a:pt x="8995" y="306"/>
                    <a:pt x="9021" y="306"/>
                  </a:cubicBezTo>
                  <a:cubicBezTo>
                    <a:pt x="9046" y="306"/>
                    <a:pt x="9068" y="327"/>
                    <a:pt x="9068" y="353"/>
                  </a:cubicBezTo>
                  <a:close/>
                  <a:moveTo>
                    <a:pt x="9168" y="353"/>
                  </a:moveTo>
                  <a:cubicBezTo>
                    <a:pt x="9168" y="378"/>
                    <a:pt x="9146" y="400"/>
                    <a:pt x="9121" y="400"/>
                  </a:cubicBezTo>
                  <a:cubicBezTo>
                    <a:pt x="9095" y="400"/>
                    <a:pt x="9074" y="378"/>
                    <a:pt x="9074" y="353"/>
                  </a:cubicBezTo>
                  <a:cubicBezTo>
                    <a:pt x="9074" y="327"/>
                    <a:pt x="9095" y="306"/>
                    <a:pt x="9121" y="306"/>
                  </a:cubicBezTo>
                  <a:cubicBezTo>
                    <a:pt x="9146" y="306"/>
                    <a:pt x="9168" y="327"/>
                    <a:pt x="9168" y="353"/>
                  </a:cubicBezTo>
                  <a:close/>
                  <a:moveTo>
                    <a:pt x="9269" y="353"/>
                  </a:moveTo>
                  <a:cubicBezTo>
                    <a:pt x="9269" y="378"/>
                    <a:pt x="9247" y="400"/>
                    <a:pt x="9222" y="400"/>
                  </a:cubicBezTo>
                  <a:cubicBezTo>
                    <a:pt x="9196" y="400"/>
                    <a:pt x="9175" y="378"/>
                    <a:pt x="9175" y="353"/>
                  </a:cubicBezTo>
                  <a:cubicBezTo>
                    <a:pt x="9175" y="327"/>
                    <a:pt x="9196" y="306"/>
                    <a:pt x="9222" y="306"/>
                  </a:cubicBezTo>
                  <a:cubicBezTo>
                    <a:pt x="9247" y="306"/>
                    <a:pt x="9269" y="327"/>
                    <a:pt x="9269" y="353"/>
                  </a:cubicBezTo>
                  <a:close/>
                  <a:moveTo>
                    <a:pt x="9370" y="353"/>
                  </a:moveTo>
                  <a:cubicBezTo>
                    <a:pt x="9370" y="378"/>
                    <a:pt x="9348" y="400"/>
                    <a:pt x="9323" y="400"/>
                  </a:cubicBezTo>
                  <a:cubicBezTo>
                    <a:pt x="9297" y="400"/>
                    <a:pt x="9276" y="378"/>
                    <a:pt x="9276" y="353"/>
                  </a:cubicBezTo>
                  <a:cubicBezTo>
                    <a:pt x="9276" y="327"/>
                    <a:pt x="9297" y="306"/>
                    <a:pt x="9323" y="306"/>
                  </a:cubicBezTo>
                  <a:cubicBezTo>
                    <a:pt x="9348" y="306"/>
                    <a:pt x="9370" y="327"/>
                    <a:pt x="9370" y="353"/>
                  </a:cubicBezTo>
                  <a:close/>
                  <a:moveTo>
                    <a:pt x="9471" y="353"/>
                  </a:moveTo>
                  <a:cubicBezTo>
                    <a:pt x="9471" y="378"/>
                    <a:pt x="9449" y="400"/>
                    <a:pt x="9424" y="400"/>
                  </a:cubicBezTo>
                  <a:cubicBezTo>
                    <a:pt x="9398" y="400"/>
                    <a:pt x="9377" y="378"/>
                    <a:pt x="9377" y="353"/>
                  </a:cubicBezTo>
                  <a:cubicBezTo>
                    <a:pt x="9377" y="327"/>
                    <a:pt x="9398" y="306"/>
                    <a:pt x="9424" y="306"/>
                  </a:cubicBezTo>
                  <a:cubicBezTo>
                    <a:pt x="9449" y="306"/>
                    <a:pt x="9471" y="327"/>
                    <a:pt x="9471" y="353"/>
                  </a:cubicBezTo>
                  <a:close/>
                  <a:moveTo>
                    <a:pt x="9572" y="353"/>
                  </a:moveTo>
                  <a:cubicBezTo>
                    <a:pt x="9572" y="378"/>
                    <a:pt x="9550" y="400"/>
                    <a:pt x="9525" y="400"/>
                  </a:cubicBezTo>
                  <a:cubicBezTo>
                    <a:pt x="9499" y="400"/>
                    <a:pt x="9478" y="378"/>
                    <a:pt x="9478" y="353"/>
                  </a:cubicBezTo>
                  <a:cubicBezTo>
                    <a:pt x="9478" y="327"/>
                    <a:pt x="9499" y="306"/>
                    <a:pt x="9525" y="306"/>
                  </a:cubicBezTo>
                  <a:cubicBezTo>
                    <a:pt x="9550" y="306"/>
                    <a:pt x="9572" y="327"/>
                    <a:pt x="9572" y="353"/>
                  </a:cubicBezTo>
                  <a:close/>
                  <a:moveTo>
                    <a:pt x="9672" y="353"/>
                  </a:moveTo>
                  <a:cubicBezTo>
                    <a:pt x="9672" y="378"/>
                    <a:pt x="9650" y="400"/>
                    <a:pt x="9625" y="400"/>
                  </a:cubicBezTo>
                  <a:cubicBezTo>
                    <a:pt x="9599" y="400"/>
                    <a:pt x="9578" y="378"/>
                    <a:pt x="9578" y="353"/>
                  </a:cubicBezTo>
                  <a:cubicBezTo>
                    <a:pt x="9578" y="327"/>
                    <a:pt x="9599" y="306"/>
                    <a:pt x="9625" y="306"/>
                  </a:cubicBezTo>
                  <a:cubicBezTo>
                    <a:pt x="9650" y="306"/>
                    <a:pt x="9672" y="327"/>
                    <a:pt x="9672" y="353"/>
                  </a:cubicBezTo>
                  <a:close/>
                  <a:moveTo>
                    <a:pt x="9773" y="353"/>
                  </a:moveTo>
                  <a:cubicBezTo>
                    <a:pt x="9773" y="378"/>
                    <a:pt x="9751" y="400"/>
                    <a:pt x="9726" y="400"/>
                  </a:cubicBezTo>
                  <a:cubicBezTo>
                    <a:pt x="9700" y="400"/>
                    <a:pt x="9679" y="378"/>
                    <a:pt x="9679" y="353"/>
                  </a:cubicBezTo>
                  <a:cubicBezTo>
                    <a:pt x="9679" y="327"/>
                    <a:pt x="9700" y="306"/>
                    <a:pt x="9726" y="306"/>
                  </a:cubicBezTo>
                  <a:cubicBezTo>
                    <a:pt x="9751" y="306"/>
                    <a:pt x="9773" y="327"/>
                    <a:pt x="9773" y="353"/>
                  </a:cubicBezTo>
                  <a:close/>
                  <a:moveTo>
                    <a:pt x="9874" y="353"/>
                  </a:moveTo>
                  <a:cubicBezTo>
                    <a:pt x="9874" y="378"/>
                    <a:pt x="9852" y="400"/>
                    <a:pt x="9827" y="400"/>
                  </a:cubicBezTo>
                  <a:cubicBezTo>
                    <a:pt x="9801" y="400"/>
                    <a:pt x="9780" y="378"/>
                    <a:pt x="9780" y="353"/>
                  </a:cubicBezTo>
                  <a:cubicBezTo>
                    <a:pt x="9780" y="327"/>
                    <a:pt x="9801" y="306"/>
                    <a:pt x="9827" y="306"/>
                  </a:cubicBezTo>
                  <a:cubicBezTo>
                    <a:pt x="9852" y="306"/>
                    <a:pt x="9874" y="327"/>
                    <a:pt x="9874" y="353"/>
                  </a:cubicBezTo>
                  <a:close/>
                  <a:moveTo>
                    <a:pt x="9975" y="353"/>
                  </a:moveTo>
                  <a:cubicBezTo>
                    <a:pt x="9975" y="378"/>
                    <a:pt x="9953" y="400"/>
                    <a:pt x="9928" y="400"/>
                  </a:cubicBezTo>
                  <a:cubicBezTo>
                    <a:pt x="9902" y="400"/>
                    <a:pt x="9881" y="378"/>
                    <a:pt x="9881" y="353"/>
                  </a:cubicBezTo>
                  <a:cubicBezTo>
                    <a:pt x="9881" y="327"/>
                    <a:pt x="9902" y="306"/>
                    <a:pt x="9928" y="306"/>
                  </a:cubicBezTo>
                  <a:cubicBezTo>
                    <a:pt x="9953" y="306"/>
                    <a:pt x="9975" y="327"/>
                    <a:pt x="9975" y="353"/>
                  </a:cubicBezTo>
                  <a:close/>
                  <a:moveTo>
                    <a:pt x="10075" y="353"/>
                  </a:moveTo>
                  <a:cubicBezTo>
                    <a:pt x="10075" y="378"/>
                    <a:pt x="10053" y="400"/>
                    <a:pt x="10028" y="400"/>
                  </a:cubicBezTo>
                  <a:cubicBezTo>
                    <a:pt x="10002" y="400"/>
                    <a:pt x="9981" y="378"/>
                    <a:pt x="9981" y="353"/>
                  </a:cubicBezTo>
                  <a:cubicBezTo>
                    <a:pt x="9981" y="327"/>
                    <a:pt x="10002" y="306"/>
                    <a:pt x="10028" y="306"/>
                  </a:cubicBezTo>
                  <a:cubicBezTo>
                    <a:pt x="10053" y="306"/>
                    <a:pt x="10075" y="327"/>
                    <a:pt x="10075" y="353"/>
                  </a:cubicBezTo>
                  <a:close/>
                  <a:moveTo>
                    <a:pt x="10176" y="353"/>
                  </a:moveTo>
                  <a:cubicBezTo>
                    <a:pt x="10176" y="378"/>
                    <a:pt x="10154" y="400"/>
                    <a:pt x="10129" y="400"/>
                  </a:cubicBezTo>
                  <a:cubicBezTo>
                    <a:pt x="10103" y="400"/>
                    <a:pt x="10082" y="378"/>
                    <a:pt x="10082" y="353"/>
                  </a:cubicBezTo>
                  <a:cubicBezTo>
                    <a:pt x="10082" y="327"/>
                    <a:pt x="10103" y="306"/>
                    <a:pt x="10129" y="306"/>
                  </a:cubicBezTo>
                  <a:cubicBezTo>
                    <a:pt x="10154" y="306"/>
                    <a:pt x="10176" y="327"/>
                    <a:pt x="10176" y="353"/>
                  </a:cubicBezTo>
                  <a:close/>
                  <a:moveTo>
                    <a:pt x="10277" y="353"/>
                  </a:moveTo>
                  <a:cubicBezTo>
                    <a:pt x="10277" y="378"/>
                    <a:pt x="10255" y="400"/>
                    <a:pt x="10230" y="400"/>
                  </a:cubicBezTo>
                  <a:cubicBezTo>
                    <a:pt x="10204" y="400"/>
                    <a:pt x="10183" y="378"/>
                    <a:pt x="10183" y="353"/>
                  </a:cubicBezTo>
                  <a:cubicBezTo>
                    <a:pt x="10183" y="327"/>
                    <a:pt x="10204" y="306"/>
                    <a:pt x="10230" y="306"/>
                  </a:cubicBezTo>
                  <a:cubicBezTo>
                    <a:pt x="10255" y="306"/>
                    <a:pt x="10277" y="327"/>
                    <a:pt x="10277" y="353"/>
                  </a:cubicBezTo>
                  <a:close/>
                  <a:moveTo>
                    <a:pt x="10378" y="353"/>
                  </a:moveTo>
                  <a:cubicBezTo>
                    <a:pt x="10378" y="378"/>
                    <a:pt x="10356" y="400"/>
                    <a:pt x="10331" y="400"/>
                  </a:cubicBezTo>
                  <a:cubicBezTo>
                    <a:pt x="10305" y="400"/>
                    <a:pt x="10284" y="378"/>
                    <a:pt x="10284" y="353"/>
                  </a:cubicBezTo>
                  <a:cubicBezTo>
                    <a:pt x="10284" y="327"/>
                    <a:pt x="10305" y="306"/>
                    <a:pt x="10331" y="306"/>
                  </a:cubicBezTo>
                  <a:cubicBezTo>
                    <a:pt x="10356" y="306"/>
                    <a:pt x="10378" y="327"/>
                    <a:pt x="10378" y="353"/>
                  </a:cubicBezTo>
                  <a:close/>
                  <a:moveTo>
                    <a:pt x="10479" y="353"/>
                  </a:moveTo>
                  <a:cubicBezTo>
                    <a:pt x="10479" y="378"/>
                    <a:pt x="10457" y="400"/>
                    <a:pt x="10432" y="400"/>
                  </a:cubicBezTo>
                  <a:cubicBezTo>
                    <a:pt x="10406" y="400"/>
                    <a:pt x="10385" y="378"/>
                    <a:pt x="10385" y="353"/>
                  </a:cubicBezTo>
                  <a:cubicBezTo>
                    <a:pt x="10385" y="327"/>
                    <a:pt x="10406" y="306"/>
                    <a:pt x="10432" y="306"/>
                  </a:cubicBezTo>
                  <a:cubicBezTo>
                    <a:pt x="10457" y="306"/>
                    <a:pt x="10479" y="327"/>
                    <a:pt x="10479" y="353"/>
                  </a:cubicBezTo>
                  <a:close/>
                  <a:moveTo>
                    <a:pt x="10579" y="353"/>
                  </a:moveTo>
                  <a:cubicBezTo>
                    <a:pt x="10579" y="378"/>
                    <a:pt x="10557" y="400"/>
                    <a:pt x="10532" y="400"/>
                  </a:cubicBezTo>
                  <a:cubicBezTo>
                    <a:pt x="10506" y="400"/>
                    <a:pt x="10485" y="378"/>
                    <a:pt x="10485" y="353"/>
                  </a:cubicBezTo>
                  <a:cubicBezTo>
                    <a:pt x="10485" y="327"/>
                    <a:pt x="10506" y="306"/>
                    <a:pt x="10532" y="306"/>
                  </a:cubicBezTo>
                  <a:cubicBezTo>
                    <a:pt x="10557" y="306"/>
                    <a:pt x="10579" y="327"/>
                    <a:pt x="10579" y="353"/>
                  </a:cubicBezTo>
                  <a:close/>
                  <a:moveTo>
                    <a:pt x="10680" y="353"/>
                  </a:moveTo>
                  <a:cubicBezTo>
                    <a:pt x="10680" y="378"/>
                    <a:pt x="10658" y="400"/>
                    <a:pt x="10633" y="400"/>
                  </a:cubicBezTo>
                  <a:cubicBezTo>
                    <a:pt x="10607" y="400"/>
                    <a:pt x="10586" y="378"/>
                    <a:pt x="10586" y="353"/>
                  </a:cubicBezTo>
                  <a:cubicBezTo>
                    <a:pt x="10586" y="327"/>
                    <a:pt x="10607" y="306"/>
                    <a:pt x="10633" y="306"/>
                  </a:cubicBezTo>
                  <a:cubicBezTo>
                    <a:pt x="10658" y="306"/>
                    <a:pt x="10680" y="327"/>
                    <a:pt x="10680" y="353"/>
                  </a:cubicBezTo>
                  <a:close/>
                  <a:moveTo>
                    <a:pt x="10781" y="353"/>
                  </a:moveTo>
                  <a:cubicBezTo>
                    <a:pt x="10781" y="378"/>
                    <a:pt x="10759" y="400"/>
                    <a:pt x="10734" y="400"/>
                  </a:cubicBezTo>
                  <a:cubicBezTo>
                    <a:pt x="10708" y="400"/>
                    <a:pt x="10687" y="378"/>
                    <a:pt x="10687" y="353"/>
                  </a:cubicBezTo>
                  <a:cubicBezTo>
                    <a:pt x="10687" y="327"/>
                    <a:pt x="10708" y="306"/>
                    <a:pt x="10734" y="306"/>
                  </a:cubicBezTo>
                  <a:cubicBezTo>
                    <a:pt x="10759" y="306"/>
                    <a:pt x="10781" y="327"/>
                    <a:pt x="10781" y="353"/>
                  </a:cubicBezTo>
                  <a:close/>
                  <a:moveTo>
                    <a:pt x="10882" y="353"/>
                  </a:moveTo>
                  <a:cubicBezTo>
                    <a:pt x="10882" y="378"/>
                    <a:pt x="10860" y="400"/>
                    <a:pt x="10835" y="400"/>
                  </a:cubicBezTo>
                  <a:cubicBezTo>
                    <a:pt x="10809" y="400"/>
                    <a:pt x="10788" y="378"/>
                    <a:pt x="10788" y="353"/>
                  </a:cubicBezTo>
                  <a:cubicBezTo>
                    <a:pt x="10788" y="327"/>
                    <a:pt x="10809" y="306"/>
                    <a:pt x="10835" y="306"/>
                  </a:cubicBezTo>
                  <a:cubicBezTo>
                    <a:pt x="10860" y="306"/>
                    <a:pt x="10882" y="327"/>
                    <a:pt x="10882" y="353"/>
                  </a:cubicBezTo>
                  <a:close/>
                  <a:moveTo>
                    <a:pt x="10983" y="353"/>
                  </a:moveTo>
                  <a:cubicBezTo>
                    <a:pt x="10983" y="378"/>
                    <a:pt x="10961" y="400"/>
                    <a:pt x="10936" y="400"/>
                  </a:cubicBezTo>
                  <a:cubicBezTo>
                    <a:pt x="10910" y="400"/>
                    <a:pt x="10889" y="378"/>
                    <a:pt x="10889" y="353"/>
                  </a:cubicBezTo>
                  <a:cubicBezTo>
                    <a:pt x="10889" y="327"/>
                    <a:pt x="10910" y="306"/>
                    <a:pt x="10936" y="306"/>
                  </a:cubicBezTo>
                  <a:cubicBezTo>
                    <a:pt x="10961" y="306"/>
                    <a:pt x="10983" y="327"/>
                    <a:pt x="10983" y="353"/>
                  </a:cubicBezTo>
                  <a:close/>
                  <a:moveTo>
                    <a:pt x="11083" y="353"/>
                  </a:moveTo>
                  <a:cubicBezTo>
                    <a:pt x="11083" y="378"/>
                    <a:pt x="11061" y="400"/>
                    <a:pt x="11036" y="400"/>
                  </a:cubicBezTo>
                  <a:cubicBezTo>
                    <a:pt x="11010" y="400"/>
                    <a:pt x="10989" y="378"/>
                    <a:pt x="10989" y="353"/>
                  </a:cubicBezTo>
                  <a:cubicBezTo>
                    <a:pt x="10989" y="327"/>
                    <a:pt x="11010" y="306"/>
                    <a:pt x="11036" y="306"/>
                  </a:cubicBezTo>
                  <a:cubicBezTo>
                    <a:pt x="11061" y="306"/>
                    <a:pt x="11083" y="327"/>
                    <a:pt x="11083" y="353"/>
                  </a:cubicBezTo>
                  <a:close/>
                  <a:moveTo>
                    <a:pt x="11184" y="353"/>
                  </a:moveTo>
                  <a:cubicBezTo>
                    <a:pt x="11184" y="378"/>
                    <a:pt x="11162" y="400"/>
                    <a:pt x="11137" y="400"/>
                  </a:cubicBezTo>
                  <a:cubicBezTo>
                    <a:pt x="11111" y="400"/>
                    <a:pt x="11090" y="378"/>
                    <a:pt x="11090" y="353"/>
                  </a:cubicBezTo>
                  <a:cubicBezTo>
                    <a:pt x="11090" y="327"/>
                    <a:pt x="11111" y="306"/>
                    <a:pt x="11137" y="306"/>
                  </a:cubicBezTo>
                  <a:cubicBezTo>
                    <a:pt x="11162" y="306"/>
                    <a:pt x="11184" y="327"/>
                    <a:pt x="11184" y="353"/>
                  </a:cubicBezTo>
                  <a:close/>
                  <a:moveTo>
                    <a:pt x="11285" y="353"/>
                  </a:moveTo>
                  <a:cubicBezTo>
                    <a:pt x="11285" y="378"/>
                    <a:pt x="11263" y="400"/>
                    <a:pt x="11238" y="400"/>
                  </a:cubicBezTo>
                  <a:cubicBezTo>
                    <a:pt x="11212" y="400"/>
                    <a:pt x="11191" y="378"/>
                    <a:pt x="11191" y="353"/>
                  </a:cubicBezTo>
                  <a:cubicBezTo>
                    <a:pt x="11191" y="327"/>
                    <a:pt x="11212" y="306"/>
                    <a:pt x="11238" y="306"/>
                  </a:cubicBezTo>
                  <a:cubicBezTo>
                    <a:pt x="11263" y="306"/>
                    <a:pt x="11285" y="327"/>
                    <a:pt x="11285" y="353"/>
                  </a:cubicBezTo>
                  <a:close/>
                  <a:moveTo>
                    <a:pt x="11386" y="353"/>
                  </a:moveTo>
                  <a:cubicBezTo>
                    <a:pt x="11386" y="378"/>
                    <a:pt x="11364" y="400"/>
                    <a:pt x="11339" y="400"/>
                  </a:cubicBezTo>
                  <a:cubicBezTo>
                    <a:pt x="11313" y="400"/>
                    <a:pt x="11292" y="378"/>
                    <a:pt x="11292" y="353"/>
                  </a:cubicBezTo>
                  <a:cubicBezTo>
                    <a:pt x="11292" y="327"/>
                    <a:pt x="11313" y="306"/>
                    <a:pt x="11339" y="306"/>
                  </a:cubicBezTo>
                  <a:cubicBezTo>
                    <a:pt x="11364" y="306"/>
                    <a:pt x="11386" y="327"/>
                    <a:pt x="11386" y="353"/>
                  </a:cubicBezTo>
                  <a:close/>
                  <a:moveTo>
                    <a:pt x="11487" y="353"/>
                  </a:moveTo>
                  <a:cubicBezTo>
                    <a:pt x="11487" y="378"/>
                    <a:pt x="11465" y="400"/>
                    <a:pt x="11440" y="400"/>
                  </a:cubicBezTo>
                  <a:cubicBezTo>
                    <a:pt x="11414" y="400"/>
                    <a:pt x="11393" y="378"/>
                    <a:pt x="11393" y="353"/>
                  </a:cubicBezTo>
                  <a:cubicBezTo>
                    <a:pt x="11393" y="327"/>
                    <a:pt x="11414" y="306"/>
                    <a:pt x="11440" y="306"/>
                  </a:cubicBezTo>
                  <a:cubicBezTo>
                    <a:pt x="11465" y="306"/>
                    <a:pt x="11487" y="327"/>
                    <a:pt x="11487" y="353"/>
                  </a:cubicBezTo>
                  <a:close/>
                  <a:moveTo>
                    <a:pt x="11587" y="353"/>
                  </a:moveTo>
                  <a:cubicBezTo>
                    <a:pt x="11587" y="378"/>
                    <a:pt x="11565" y="400"/>
                    <a:pt x="11540" y="400"/>
                  </a:cubicBezTo>
                  <a:cubicBezTo>
                    <a:pt x="11514" y="400"/>
                    <a:pt x="11493" y="378"/>
                    <a:pt x="11493" y="353"/>
                  </a:cubicBezTo>
                  <a:cubicBezTo>
                    <a:pt x="11493" y="327"/>
                    <a:pt x="11514" y="306"/>
                    <a:pt x="11540" y="306"/>
                  </a:cubicBezTo>
                  <a:cubicBezTo>
                    <a:pt x="11565" y="306"/>
                    <a:pt x="11587" y="327"/>
                    <a:pt x="11587" y="353"/>
                  </a:cubicBezTo>
                  <a:close/>
                  <a:moveTo>
                    <a:pt x="11688" y="353"/>
                  </a:moveTo>
                  <a:cubicBezTo>
                    <a:pt x="11688" y="378"/>
                    <a:pt x="11666" y="400"/>
                    <a:pt x="11641" y="400"/>
                  </a:cubicBezTo>
                  <a:cubicBezTo>
                    <a:pt x="11615" y="400"/>
                    <a:pt x="11594" y="378"/>
                    <a:pt x="11594" y="353"/>
                  </a:cubicBezTo>
                  <a:cubicBezTo>
                    <a:pt x="11594" y="327"/>
                    <a:pt x="11615" y="306"/>
                    <a:pt x="11641" y="306"/>
                  </a:cubicBezTo>
                  <a:cubicBezTo>
                    <a:pt x="11666" y="306"/>
                    <a:pt x="11688" y="327"/>
                    <a:pt x="11688" y="353"/>
                  </a:cubicBezTo>
                  <a:close/>
                  <a:moveTo>
                    <a:pt x="11789" y="353"/>
                  </a:moveTo>
                  <a:cubicBezTo>
                    <a:pt x="11789" y="378"/>
                    <a:pt x="11767" y="400"/>
                    <a:pt x="11742" y="400"/>
                  </a:cubicBezTo>
                  <a:cubicBezTo>
                    <a:pt x="11716" y="400"/>
                    <a:pt x="11695" y="378"/>
                    <a:pt x="11695" y="353"/>
                  </a:cubicBezTo>
                  <a:cubicBezTo>
                    <a:pt x="11695" y="327"/>
                    <a:pt x="11716" y="306"/>
                    <a:pt x="11742" y="306"/>
                  </a:cubicBezTo>
                  <a:cubicBezTo>
                    <a:pt x="11767" y="306"/>
                    <a:pt x="11789" y="327"/>
                    <a:pt x="11789" y="353"/>
                  </a:cubicBezTo>
                  <a:close/>
                  <a:moveTo>
                    <a:pt x="11890" y="353"/>
                  </a:moveTo>
                  <a:cubicBezTo>
                    <a:pt x="11890" y="378"/>
                    <a:pt x="11868" y="400"/>
                    <a:pt x="11843" y="400"/>
                  </a:cubicBezTo>
                  <a:cubicBezTo>
                    <a:pt x="11817" y="400"/>
                    <a:pt x="11796" y="378"/>
                    <a:pt x="11796" y="353"/>
                  </a:cubicBezTo>
                  <a:cubicBezTo>
                    <a:pt x="11796" y="327"/>
                    <a:pt x="11817" y="306"/>
                    <a:pt x="11843" y="306"/>
                  </a:cubicBezTo>
                  <a:cubicBezTo>
                    <a:pt x="11868" y="306"/>
                    <a:pt x="11890" y="327"/>
                    <a:pt x="11890" y="353"/>
                  </a:cubicBezTo>
                  <a:close/>
                  <a:moveTo>
                    <a:pt x="11991" y="353"/>
                  </a:moveTo>
                  <a:cubicBezTo>
                    <a:pt x="11991" y="378"/>
                    <a:pt x="11969" y="400"/>
                    <a:pt x="11944" y="400"/>
                  </a:cubicBezTo>
                  <a:cubicBezTo>
                    <a:pt x="11918" y="400"/>
                    <a:pt x="11897" y="378"/>
                    <a:pt x="11897" y="353"/>
                  </a:cubicBezTo>
                  <a:cubicBezTo>
                    <a:pt x="11897" y="327"/>
                    <a:pt x="11918" y="306"/>
                    <a:pt x="11944" y="306"/>
                  </a:cubicBezTo>
                  <a:cubicBezTo>
                    <a:pt x="11969" y="306"/>
                    <a:pt x="11991" y="327"/>
                    <a:pt x="11991" y="353"/>
                  </a:cubicBezTo>
                  <a:close/>
                  <a:moveTo>
                    <a:pt x="12091" y="353"/>
                  </a:moveTo>
                  <a:cubicBezTo>
                    <a:pt x="12091" y="378"/>
                    <a:pt x="12069" y="400"/>
                    <a:pt x="12044" y="400"/>
                  </a:cubicBezTo>
                  <a:cubicBezTo>
                    <a:pt x="12018" y="400"/>
                    <a:pt x="11997" y="378"/>
                    <a:pt x="11997" y="353"/>
                  </a:cubicBezTo>
                  <a:cubicBezTo>
                    <a:pt x="11997" y="327"/>
                    <a:pt x="12018" y="306"/>
                    <a:pt x="12044" y="306"/>
                  </a:cubicBezTo>
                  <a:cubicBezTo>
                    <a:pt x="12069" y="306"/>
                    <a:pt x="12091" y="327"/>
                    <a:pt x="12091" y="353"/>
                  </a:cubicBezTo>
                  <a:close/>
                  <a:moveTo>
                    <a:pt x="12192" y="353"/>
                  </a:moveTo>
                  <a:cubicBezTo>
                    <a:pt x="12192" y="378"/>
                    <a:pt x="12170" y="400"/>
                    <a:pt x="12145" y="400"/>
                  </a:cubicBezTo>
                  <a:cubicBezTo>
                    <a:pt x="12119" y="400"/>
                    <a:pt x="12098" y="378"/>
                    <a:pt x="12098" y="353"/>
                  </a:cubicBezTo>
                  <a:cubicBezTo>
                    <a:pt x="12098" y="327"/>
                    <a:pt x="12119" y="306"/>
                    <a:pt x="12145" y="306"/>
                  </a:cubicBezTo>
                  <a:cubicBezTo>
                    <a:pt x="12170" y="306"/>
                    <a:pt x="12192" y="327"/>
                    <a:pt x="12192" y="353"/>
                  </a:cubicBezTo>
                  <a:close/>
                  <a:moveTo>
                    <a:pt x="12293" y="353"/>
                  </a:moveTo>
                  <a:cubicBezTo>
                    <a:pt x="12293" y="378"/>
                    <a:pt x="12271" y="400"/>
                    <a:pt x="12246" y="400"/>
                  </a:cubicBezTo>
                  <a:cubicBezTo>
                    <a:pt x="12220" y="400"/>
                    <a:pt x="12199" y="378"/>
                    <a:pt x="12199" y="353"/>
                  </a:cubicBezTo>
                  <a:cubicBezTo>
                    <a:pt x="12199" y="327"/>
                    <a:pt x="12220" y="306"/>
                    <a:pt x="12246" y="306"/>
                  </a:cubicBezTo>
                  <a:cubicBezTo>
                    <a:pt x="12271" y="306"/>
                    <a:pt x="12293" y="327"/>
                    <a:pt x="12293" y="353"/>
                  </a:cubicBezTo>
                  <a:close/>
                  <a:moveTo>
                    <a:pt x="12394" y="353"/>
                  </a:moveTo>
                  <a:cubicBezTo>
                    <a:pt x="12394" y="378"/>
                    <a:pt x="12372" y="400"/>
                    <a:pt x="12347" y="400"/>
                  </a:cubicBezTo>
                  <a:cubicBezTo>
                    <a:pt x="12321" y="400"/>
                    <a:pt x="12300" y="378"/>
                    <a:pt x="12300" y="353"/>
                  </a:cubicBezTo>
                  <a:cubicBezTo>
                    <a:pt x="12300" y="327"/>
                    <a:pt x="12321" y="306"/>
                    <a:pt x="12347" y="306"/>
                  </a:cubicBezTo>
                  <a:cubicBezTo>
                    <a:pt x="12372" y="306"/>
                    <a:pt x="12394" y="327"/>
                    <a:pt x="12394" y="353"/>
                  </a:cubicBezTo>
                  <a:close/>
                  <a:moveTo>
                    <a:pt x="12495" y="353"/>
                  </a:moveTo>
                  <a:cubicBezTo>
                    <a:pt x="12495" y="378"/>
                    <a:pt x="12473" y="400"/>
                    <a:pt x="12448" y="400"/>
                  </a:cubicBezTo>
                  <a:cubicBezTo>
                    <a:pt x="12422" y="400"/>
                    <a:pt x="12401" y="378"/>
                    <a:pt x="12401" y="353"/>
                  </a:cubicBezTo>
                  <a:cubicBezTo>
                    <a:pt x="12401" y="327"/>
                    <a:pt x="12422" y="306"/>
                    <a:pt x="12448" y="306"/>
                  </a:cubicBezTo>
                  <a:cubicBezTo>
                    <a:pt x="12473" y="306"/>
                    <a:pt x="12495" y="327"/>
                    <a:pt x="12495" y="353"/>
                  </a:cubicBezTo>
                  <a:close/>
                  <a:moveTo>
                    <a:pt x="12595" y="353"/>
                  </a:moveTo>
                  <a:cubicBezTo>
                    <a:pt x="12595" y="378"/>
                    <a:pt x="12573" y="400"/>
                    <a:pt x="12548" y="400"/>
                  </a:cubicBezTo>
                  <a:cubicBezTo>
                    <a:pt x="12522" y="400"/>
                    <a:pt x="12501" y="378"/>
                    <a:pt x="12501" y="353"/>
                  </a:cubicBezTo>
                  <a:cubicBezTo>
                    <a:pt x="12501" y="327"/>
                    <a:pt x="12522" y="306"/>
                    <a:pt x="12548" y="306"/>
                  </a:cubicBezTo>
                  <a:cubicBezTo>
                    <a:pt x="12573" y="306"/>
                    <a:pt x="12595" y="327"/>
                    <a:pt x="12595" y="353"/>
                  </a:cubicBezTo>
                  <a:close/>
                  <a:moveTo>
                    <a:pt x="12696" y="353"/>
                  </a:moveTo>
                  <a:cubicBezTo>
                    <a:pt x="12696" y="378"/>
                    <a:pt x="12674" y="400"/>
                    <a:pt x="12649" y="400"/>
                  </a:cubicBezTo>
                  <a:cubicBezTo>
                    <a:pt x="12623" y="400"/>
                    <a:pt x="12602" y="378"/>
                    <a:pt x="12602" y="353"/>
                  </a:cubicBezTo>
                  <a:cubicBezTo>
                    <a:pt x="12602" y="327"/>
                    <a:pt x="12623" y="306"/>
                    <a:pt x="12649" y="306"/>
                  </a:cubicBezTo>
                  <a:cubicBezTo>
                    <a:pt x="12674" y="306"/>
                    <a:pt x="12696" y="327"/>
                    <a:pt x="12696" y="35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274320" y="1600200"/>
              <a:ext cx="11612880" cy="365760"/>
            </a:xfrm>
            <a:custGeom>
              <a:avLst/>
              <a:gdLst/>
              <a:ahLst/>
              <a:cxnLst/>
              <a:rect l="0" t="0" r="r" b="b"/>
              <a:pathLst>
                <a:path w="12700" h="400" fill="none">
                  <a:moveTo>
                    <a:pt x="35" y="94"/>
                  </a:moveTo>
                  <a:lnTo>
                    <a:pt x="35" y="190"/>
                  </a:lnTo>
                </a:path>
                <a:path w="12700" h="400" fill="none">
                  <a:moveTo>
                    <a:pt x="65" y="94"/>
                  </a:moveTo>
                  <a:lnTo>
                    <a:pt x="65" y="190"/>
                  </a:lnTo>
                </a:path>
                <a:path w="12700" h="400" fill="none">
                  <a:moveTo>
                    <a:pt x="35" y="306"/>
                  </a:moveTo>
                  <a:lnTo>
                    <a:pt x="35" y="210"/>
                  </a:lnTo>
                </a:path>
                <a:path w="12700" h="400" fill="none">
                  <a:moveTo>
                    <a:pt x="65" y="306"/>
                  </a:moveTo>
                  <a:lnTo>
                    <a:pt x="65" y="210"/>
                  </a:lnTo>
                </a:path>
                <a:path w="12700" h="400" fill="none">
                  <a:moveTo>
                    <a:pt x="136" y="94"/>
                  </a:moveTo>
                  <a:lnTo>
                    <a:pt x="136" y="190"/>
                  </a:lnTo>
                </a:path>
                <a:path w="12700" h="400" fill="none">
                  <a:moveTo>
                    <a:pt x="166" y="94"/>
                  </a:moveTo>
                  <a:lnTo>
                    <a:pt x="166" y="190"/>
                  </a:lnTo>
                </a:path>
                <a:path w="12700" h="400" fill="none">
                  <a:moveTo>
                    <a:pt x="136" y="306"/>
                  </a:moveTo>
                  <a:lnTo>
                    <a:pt x="136" y="210"/>
                  </a:lnTo>
                </a:path>
                <a:path w="12700" h="400" fill="none">
                  <a:moveTo>
                    <a:pt x="166" y="306"/>
                  </a:moveTo>
                  <a:lnTo>
                    <a:pt x="166" y="210"/>
                  </a:lnTo>
                </a:path>
                <a:path w="12700" h="400" fill="none">
                  <a:moveTo>
                    <a:pt x="236" y="94"/>
                  </a:moveTo>
                  <a:lnTo>
                    <a:pt x="236" y="190"/>
                  </a:lnTo>
                </a:path>
                <a:path w="12700" h="400" fill="none">
                  <a:moveTo>
                    <a:pt x="266" y="94"/>
                  </a:moveTo>
                  <a:lnTo>
                    <a:pt x="266" y="190"/>
                  </a:lnTo>
                </a:path>
                <a:path w="12700" h="400" fill="none">
                  <a:moveTo>
                    <a:pt x="236" y="306"/>
                  </a:moveTo>
                  <a:lnTo>
                    <a:pt x="236" y="210"/>
                  </a:lnTo>
                </a:path>
                <a:path w="12700" h="400" fill="none">
                  <a:moveTo>
                    <a:pt x="266" y="306"/>
                  </a:moveTo>
                  <a:lnTo>
                    <a:pt x="266" y="210"/>
                  </a:lnTo>
                </a:path>
                <a:path w="12700" h="400" fill="none">
                  <a:moveTo>
                    <a:pt x="337" y="94"/>
                  </a:moveTo>
                  <a:lnTo>
                    <a:pt x="337" y="190"/>
                  </a:lnTo>
                </a:path>
                <a:path w="12700" h="400" fill="none">
                  <a:moveTo>
                    <a:pt x="367" y="94"/>
                  </a:moveTo>
                  <a:lnTo>
                    <a:pt x="367" y="190"/>
                  </a:lnTo>
                </a:path>
                <a:path w="12700" h="400" fill="none">
                  <a:moveTo>
                    <a:pt x="337" y="306"/>
                  </a:moveTo>
                  <a:lnTo>
                    <a:pt x="337" y="210"/>
                  </a:lnTo>
                </a:path>
                <a:path w="12700" h="400" fill="none">
                  <a:moveTo>
                    <a:pt x="367" y="306"/>
                  </a:moveTo>
                  <a:lnTo>
                    <a:pt x="367" y="210"/>
                  </a:lnTo>
                </a:path>
                <a:path w="12700" h="400" fill="none">
                  <a:moveTo>
                    <a:pt x="438" y="94"/>
                  </a:moveTo>
                  <a:lnTo>
                    <a:pt x="438" y="190"/>
                  </a:lnTo>
                </a:path>
                <a:path w="12700" h="400" fill="none">
                  <a:moveTo>
                    <a:pt x="468" y="94"/>
                  </a:moveTo>
                  <a:lnTo>
                    <a:pt x="468" y="190"/>
                  </a:lnTo>
                </a:path>
                <a:path w="12700" h="400" fill="none">
                  <a:moveTo>
                    <a:pt x="438" y="306"/>
                  </a:moveTo>
                  <a:lnTo>
                    <a:pt x="438" y="210"/>
                  </a:lnTo>
                </a:path>
                <a:path w="12700" h="400" fill="none">
                  <a:moveTo>
                    <a:pt x="468" y="306"/>
                  </a:moveTo>
                  <a:lnTo>
                    <a:pt x="468" y="210"/>
                  </a:lnTo>
                </a:path>
                <a:path w="12700" h="400" fill="none">
                  <a:moveTo>
                    <a:pt x="539" y="94"/>
                  </a:moveTo>
                  <a:lnTo>
                    <a:pt x="539" y="190"/>
                  </a:lnTo>
                </a:path>
                <a:path w="12700" h="400" fill="none">
                  <a:moveTo>
                    <a:pt x="569" y="94"/>
                  </a:moveTo>
                  <a:lnTo>
                    <a:pt x="569" y="190"/>
                  </a:lnTo>
                </a:path>
                <a:path w="12700" h="400" fill="none">
                  <a:moveTo>
                    <a:pt x="539" y="306"/>
                  </a:moveTo>
                  <a:lnTo>
                    <a:pt x="539" y="210"/>
                  </a:lnTo>
                </a:path>
                <a:path w="12700" h="400" fill="none">
                  <a:moveTo>
                    <a:pt x="569" y="306"/>
                  </a:moveTo>
                  <a:lnTo>
                    <a:pt x="569" y="210"/>
                  </a:lnTo>
                </a:path>
                <a:path w="12700" h="400" fill="none">
                  <a:moveTo>
                    <a:pt x="640" y="94"/>
                  </a:moveTo>
                  <a:lnTo>
                    <a:pt x="640" y="190"/>
                  </a:lnTo>
                </a:path>
                <a:path w="12700" h="400" fill="none">
                  <a:moveTo>
                    <a:pt x="670" y="94"/>
                  </a:moveTo>
                  <a:lnTo>
                    <a:pt x="670" y="190"/>
                  </a:lnTo>
                </a:path>
                <a:path w="12700" h="400" fill="none">
                  <a:moveTo>
                    <a:pt x="640" y="306"/>
                  </a:moveTo>
                  <a:lnTo>
                    <a:pt x="640" y="210"/>
                  </a:lnTo>
                </a:path>
                <a:path w="12700" h="400" fill="none">
                  <a:moveTo>
                    <a:pt x="670" y="306"/>
                  </a:moveTo>
                  <a:lnTo>
                    <a:pt x="670" y="210"/>
                  </a:lnTo>
                </a:path>
                <a:path w="12700" h="400" fill="none">
                  <a:moveTo>
                    <a:pt x="740" y="94"/>
                  </a:moveTo>
                  <a:lnTo>
                    <a:pt x="740" y="190"/>
                  </a:lnTo>
                </a:path>
                <a:path w="12700" h="400" fill="none">
                  <a:moveTo>
                    <a:pt x="770" y="94"/>
                  </a:moveTo>
                  <a:lnTo>
                    <a:pt x="770" y="190"/>
                  </a:lnTo>
                </a:path>
                <a:path w="12700" h="400" fill="none">
                  <a:moveTo>
                    <a:pt x="740" y="306"/>
                  </a:moveTo>
                  <a:lnTo>
                    <a:pt x="740" y="210"/>
                  </a:lnTo>
                </a:path>
                <a:path w="12700" h="400" fill="none">
                  <a:moveTo>
                    <a:pt x="770" y="306"/>
                  </a:moveTo>
                  <a:lnTo>
                    <a:pt x="770" y="210"/>
                  </a:lnTo>
                </a:path>
                <a:path w="12700" h="400" fill="none">
                  <a:moveTo>
                    <a:pt x="841" y="94"/>
                  </a:moveTo>
                  <a:lnTo>
                    <a:pt x="841" y="190"/>
                  </a:lnTo>
                </a:path>
                <a:path w="12700" h="400" fill="none">
                  <a:moveTo>
                    <a:pt x="871" y="94"/>
                  </a:moveTo>
                  <a:lnTo>
                    <a:pt x="871" y="190"/>
                  </a:lnTo>
                </a:path>
                <a:path w="12700" h="400" fill="none">
                  <a:moveTo>
                    <a:pt x="841" y="306"/>
                  </a:moveTo>
                  <a:lnTo>
                    <a:pt x="841" y="210"/>
                  </a:lnTo>
                </a:path>
                <a:path w="12700" h="400" fill="none">
                  <a:moveTo>
                    <a:pt x="871" y="306"/>
                  </a:moveTo>
                  <a:lnTo>
                    <a:pt x="871" y="210"/>
                  </a:lnTo>
                </a:path>
                <a:path w="12700" h="400" fill="none">
                  <a:moveTo>
                    <a:pt x="942" y="94"/>
                  </a:moveTo>
                  <a:lnTo>
                    <a:pt x="942" y="190"/>
                  </a:lnTo>
                </a:path>
                <a:path w="12700" h="400" fill="none">
                  <a:moveTo>
                    <a:pt x="972" y="94"/>
                  </a:moveTo>
                  <a:lnTo>
                    <a:pt x="972" y="190"/>
                  </a:lnTo>
                </a:path>
                <a:path w="12700" h="400" fill="none">
                  <a:moveTo>
                    <a:pt x="942" y="306"/>
                  </a:moveTo>
                  <a:lnTo>
                    <a:pt x="942" y="210"/>
                  </a:lnTo>
                </a:path>
                <a:path w="12700" h="400" fill="none">
                  <a:moveTo>
                    <a:pt x="972" y="306"/>
                  </a:moveTo>
                  <a:lnTo>
                    <a:pt x="972" y="210"/>
                  </a:lnTo>
                </a:path>
                <a:path w="12700" h="400" fill="none">
                  <a:moveTo>
                    <a:pt x="1043" y="94"/>
                  </a:moveTo>
                  <a:lnTo>
                    <a:pt x="1043" y="190"/>
                  </a:lnTo>
                </a:path>
                <a:path w="12700" h="400" fill="none">
                  <a:moveTo>
                    <a:pt x="1073" y="94"/>
                  </a:moveTo>
                  <a:lnTo>
                    <a:pt x="1073" y="190"/>
                  </a:lnTo>
                </a:path>
                <a:path w="12700" h="400" fill="none">
                  <a:moveTo>
                    <a:pt x="1043" y="306"/>
                  </a:moveTo>
                  <a:lnTo>
                    <a:pt x="1043" y="210"/>
                  </a:lnTo>
                </a:path>
                <a:path w="12700" h="400" fill="none">
                  <a:moveTo>
                    <a:pt x="1073" y="306"/>
                  </a:moveTo>
                  <a:lnTo>
                    <a:pt x="1073" y="210"/>
                  </a:lnTo>
                </a:path>
                <a:path w="12700" h="400" fill="none">
                  <a:moveTo>
                    <a:pt x="1144" y="94"/>
                  </a:moveTo>
                  <a:lnTo>
                    <a:pt x="1144" y="190"/>
                  </a:lnTo>
                </a:path>
                <a:path w="12700" h="400" fill="none">
                  <a:moveTo>
                    <a:pt x="1174" y="94"/>
                  </a:moveTo>
                  <a:lnTo>
                    <a:pt x="1174" y="190"/>
                  </a:lnTo>
                </a:path>
                <a:path w="12700" h="400" fill="none">
                  <a:moveTo>
                    <a:pt x="1144" y="306"/>
                  </a:moveTo>
                  <a:lnTo>
                    <a:pt x="1144" y="210"/>
                  </a:lnTo>
                </a:path>
                <a:path w="12700" h="400" fill="none">
                  <a:moveTo>
                    <a:pt x="1174" y="306"/>
                  </a:moveTo>
                  <a:lnTo>
                    <a:pt x="1174" y="210"/>
                  </a:lnTo>
                </a:path>
                <a:path w="12700" h="400" fill="none">
                  <a:moveTo>
                    <a:pt x="1244" y="94"/>
                  </a:moveTo>
                  <a:lnTo>
                    <a:pt x="1244" y="190"/>
                  </a:lnTo>
                </a:path>
                <a:path w="12700" h="400" fill="none">
                  <a:moveTo>
                    <a:pt x="1274" y="94"/>
                  </a:moveTo>
                  <a:lnTo>
                    <a:pt x="1274" y="190"/>
                  </a:lnTo>
                </a:path>
                <a:path w="12700" h="400" fill="none">
                  <a:moveTo>
                    <a:pt x="1244" y="306"/>
                  </a:moveTo>
                  <a:lnTo>
                    <a:pt x="1244" y="210"/>
                  </a:lnTo>
                </a:path>
                <a:path w="12700" h="400" fill="none">
                  <a:moveTo>
                    <a:pt x="1274" y="306"/>
                  </a:moveTo>
                  <a:lnTo>
                    <a:pt x="1274" y="210"/>
                  </a:lnTo>
                </a:path>
                <a:path w="12700" h="400" fill="none">
                  <a:moveTo>
                    <a:pt x="1345" y="94"/>
                  </a:moveTo>
                  <a:lnTo>
                    <a:pt x="1345" y="190"/>
                  </a:lnTo>
                </a:path>
                <a:path w="12700" h="400" fill="none">
                  <a:moveTo>
                    <a:pt x="1375" y="94"/>
                  </a:moveTo>
                  <a:lnTo>
                    <a:pt x="1375" y="190"/>
                  </a:lnTo>
                </a:path>
                <a:path w="12700" h="400" fill="none">
                  <a:moveTo>
                    <a:pt x="1345" y="306"/>
                  </a:moveTo>
                  <a:lnTo>
                    <a:pt x="1345" y="210"/>
                  </a:lnTo>
                </a:path>
                <a:path w="12700" h="400" fill="none">
                  <a:moveTo>
                    <a:pt x="1375" y="306"/>
                  </a:moveTo>
                  <a:lnTo>
                    <a:pt x="1375" y="210"/>
                  </a:lnTo>
                </a:path>
                <a:path w="12700" h="400" fill="none">
                  <a:moveTo>
                    <a:pt x="1446" y="94"/>
                  </a:moveTo>
                  <a:lnTo>
                    <a:pt x="1446" y="190"/>
                  </a:lnTo>
                </a:path>
                <a:path w="12700" h="400" fill="none">
                  <a:moveTo>
                    <a:pt x="1476" y="94"/>
                  </a:moveTo>
                  <a:lnTo>
                    <a:pt x="1476" y="190"/>
                  </a:lnTo>
                </a:path>
                <a:path w="12700" h="400" fill="none">
                  <a:moveTo>
                    <a:pt x="1446" y="306"/>
                  </a:moveTo>
                  <a:lnTo>
                    <a:pt x="1446" y="210"/>
                  </a:lnTo>
                </a:path>
                <a:path w="12700" h="400" fill="none">
                  <a:moveTo>
                    <a:pt x="1476" y="306"/>
                  </a:moveTo>
                  <a:lnTo>
                    <a:pt x="1476" y="210"/>
                  </a:lnTo>
                </a:path>
                <a:path w="12700" h="400" fill="none">
                  <a:moveTo>
                    <a:pt x="1547" y="94"/>
                  </a:moveTo>
                  <a:lnTo>
                    <a:pt x="1547" y="190"/>
                  </a:lnTo>
                </a:path>
                <a:path w="12700" h="400" fill="none">
                  <a:moveTo>
                    <a:pt x="1577" y="94"/>
                  </a:moveTo>
                  <a:lnTo>
                    <a:pt x="1577" y="190"/>
                  </a:lnTo>
                </a:path>
                <a:path w="12700" h="400" fill="none">
                  <a:moveTo>
                    <a:pt x="1547" y="306"/>
                  </a:moveTo>
                  <a:lnTo>
                    <a:pt x="1547" y="210"/>
                  </a:lnTo>
                </a:path>
                <a:path w="12700" h="400" fill="none">
                  <a:moveTo>
                    <a:pt x="1577" y="306"/>
                  </a:moveTo>
                  <a:lnTo>
                    <a:pt x="1577" y="210"/>
                  </a:lnTo>
                </a:path>
                <a:path w="12700" h="400" fill="none">
                  <a:moveTo>
                    <a:pt x="1648" y="94"/>
                  </a:moveTo>
                  <a:lnTo>
                    <a:pt x="1648" y="190"/>
                  </a:lnTo>
                </a:path>
                <a:path w="12700" h="400" fill="none">
                  <a:moveTo>
                    <a:pt x="1678" y="94"/>
                  </a:moveTo>
                  <a:lnTo>
                    <a:pt x="1678" y="190"/>
                  </a:lnTo>
                </a:path>
                <a:path w="12700" h="400" fill="none">
                  <a:moveTo>
                    <a:pt x="1648" y="306"/>
                  </a:moveTo>
                  <a:lnTo>
                    <a:pt x="1648" y="210"/>
                  </a:lnTo>
                </a:path>
                <a:path w="12700" h="400" fill="none">
                  <a:moveTo>
                    <a:pt x="1678" y="306"/>
                  </a:moveTo>
                  <a:lnTo>
                    <a:pt x="1678" y="210"/>
                  </a:lnTo>
                </a:path>
                <a:path w="12700" h="400" fill="none">
                  <a:moveTo>
                    <a:pt x="1748" y="94"/>
                  </a:moveTo>
                  <a:lnTo>
                    <a:pt x="1748" y="190"/>
                  </a:lnTo>
                </a:path>
                <a:path w="12700" h="400" fill="none">
                  <a:moveTo>
                    <a:pt x="1778" y="94"/>
                  </a:moveTo>
                  <a:lnTo>
                    <a:pt x="1778" y="190"/>
                  </a:lnTo>
                </a:path>
                <a:path w="12700" h="400" fill="none">
                  <a:moveTo>
                    <a:pt x="1748" y="306"/>
                  </a:moveTo>
                  <a:lnTo>
                    <a:pt x="1748" y="210"/>
                  </a:lnTo>
                </a:path>
                <a:path w="12700" h="400" fill="none">
                  <a:moveTo>
                    <a:pt x="1778" y="306"/>
                  </a:moveTo>
                  <a:lnTo>
                    <a:pt x="1778" y="210"/>
                  </a:lnTo>
                </a:path>
                <a:path w="12700" h="400" fill="none">
                  <a:moveTo>
                    <a:pt x="1849" y="94"/>
                  </a:moveTo>
                  <a:lnTo>
                    <a:pt x="1849" y="190"/>
                  </a:lnTo>
                </a:path>
                <a:path w="12700" h="400" fill="none">
                  <a:moveTo>
                    <a:pt x="1879" y="94"/>
                  </a:moveTo>
                  <a:lnTo>
                    <a:pt x="1879" y="190"/>
                  </a:lnTo>
                </a:path>
                <a:path w="12700" h="400" fill="none">
                  <a:moveTo>
                    <a:pt x="1849" y="306"/>
                  </a:moveTo>
                  <a:lnTo>
                    <a:pt x="1849" y="210"/>
                  </a:lnTo>
                </a:path>
                <a:path w="12700" h="400" fill="none">
                  <a:moveTo>
                    <a:pt x="1879" y="306"/>
                  </a:moveTo>
                  <a:lnTo>
                    <a:pt x="1879" y="210"/>
                  </a:lnTo>
                </a:path>
                <a:path w="12700" h="400" fill="none">
                  <a:moveTo>
                    <a:pt x="1950" y="94"/>
                  </a:moveTo>
                  <a:lnTo>
                    <a:pt x="1950" y="190"/>
                  </a:lnTo>
                </a:path>
                <a:path w="12700" h="400" fill="none">
                  <a:moveTo>
                    <a:pt x="1980" y="94"/>
                  </a:moveTo>
                  <a:lnTo>
                    <a:pt x="1980" y="190"/>
                  </a:lnTo>
                </a:path>
                <a:path w="12700" h="400" fill="none">
                  <a:moveTo>
                    <a:pt x="1950" y="306"/>
                  </a:moveTo>
                  <a:lnTo>
                    <a:pt x="1950" y="210"/>
                  </a:lnTo>
                </a:path>
                <a:path w="12700" h="400" fill="none">
                  <a:moveTo>
                    <a:pt x="1980" y="306"/>
                  </a:moveTo>
                  <a:lnTo>
                    <a:pt x="1980" y="210"/>
                  </a:lnTo>
                </a:path>
                <a:path w="12700" h="400" fill="none">
                  <a:moveTo>
                    <a:pt x="2051" y="94"/>
                  </a:moveTo>
                  <a:lnTo>
                    <a:pt x="2051" y="190"/>
                  </a:lnTo>
                </a:path>
                <a:path w="12700" h="400" fill="none">
                  <a:moveTo>
                    <a:pt x="2081" y="94"/>
                  </a:moveTo>
                  <a:lnTo>
                    <a:pt x="2081" y="190"/>
                  </a:lnTo>
                </a:path>
                <a:path w="12700" h="400" fill="none">
                  <a:moveTo>
                    <a:pt x="2051" y="306"/>
                  </a:moveTo>
                  <a:lnTo>
                    <a:pt x="2051" y="210"/>
                  </a:lnTo>
                </a:path>
                <a:path w="12700" h="400" fill="none">
                  <a:moveTo>
                    <a:pt x="2081" y="306"/>
                  </a:moveTo>
                  <a:lnTo>
                    <a:pt x="2081" y="210"/>
                  </a:lnTo>
                </a:path>
                <a:path w="12700" h="400" fill="none">
                  <a:moveTo>
                    <a:pt x="2152" y="94"/>
                  </a:moveTo>
                  <a:lnTo>
                    <a:pt x="2152" y="190"/>
                  </a:lnTo>
                </a:path>
                <a:path w="12700" h="400" fill="none">
                  <a:moveTo>
                    <a:pt x="2182" y="94"/>
                  </a:moveTo>
                  <a:lnTo>
                    <a:pt x="2182" y="190"/>
                  </a:lnTo>
                </a:path>
                <a:path w="12700" h="400" fill="none">
                  <a:moveTo>
                    <a:pt x="2152" y="306"/>
                  </a:moveTo>
                  <a:lnTo>
                    <a:pt x="2152" y="210"/>
                  </a:lnTo>
                </a:path>
                <a:path w="12700" h="400" fill="none">
                  <a:moveTo>
                    <a:pt x="2182" y="306"/>
                  </a:moveTo>
                  <a:lnTo>
                    <a:pt x="2182" y="210"/>
                  </a:lnTo>
                </a:path>
                <a:path w="12700" h="400" fill="none">
                  <a:moveTo>
                    <a:pt x="2252" y="94"/>
                  </a:moveTo>
                  <a:lnTo>
                    <a:pt x="2252" y="190"/>
                  </a:lnTo>
                </a:path>
                <a:path w="12700" h="400" fill="none">
                  <a:moveTo>
                    <a:pt x="2282" y="94"/>
                  </a:moveTo>
                  <a:lnTo>
                    <a:pt x="2282" y="190"/>
                  </a:lnTo>
                </a:path>
                <a:path w="12700" h="400" fill="none">
                  <a:moveTo>
                    <a:pt x="2252" y="306"/>
                  </a:moveTo>
                  <a:lnTo>
                    <a:pt x="2252" y="210"/>
                  </a:lnTo>
                </a:path>
                <a:path w="12700" h="400" fill="none">
                  <a:moveTo>
                    <a:pt x="2282" y="306"/>
                  </a:moveTo>
                  <a:lnTo>
                    <a:pt x="2282" y="210"/>
                  </a:lnTo>
                </a:path>
                <a:path w="12700" h="400" fill="none">
                  <a:moveTo>
                    <a:pt x="2353" y="94"/>
                  </a:moveTo>
                  <a:lnTo>
                    <a:pt x="2353" y="190"/>
                  </a:lnTo>
                </a:path>
                <a:path w="12700" h="400" fill="none">
                  <a:moveTo>
                    <a:pt x="2383" y="94"/>
                  </a:moveTo>
                  <a:lnTo>
                    <a:pt x="2383" y="190"/>
                  </a:lnTo>
                </a:path>
                <a:path w="12700" h="400" fill="none">
                  <a:moveTo>
                    <a:pt x="2353" y="306"/>
                  </a:moveTo>
                  <a:lnTo>
                    <a:pt x="2353" y="210"/>
                  </a:lnTo>
                </a:path>
                <a:path w="12700" h="400" fill="none">
                  <a:moveTo>
                    <a:pt x="2383" y="306"/>
                  </a:moveTo>
                  <a:lnTo>
                    <a:pt x="2383" y="210"/>
                  </a:lnTo>
                </a:path>
                <a:path w="12700" h="400" fill="none">
                  <a:moveTo>
                    <a:pt x="2454" y="94"/>
                  </a:moveTo>
                  <a:lnTo>
                    <a:pt x="2454" y="190"/>
                  </a:lnTo>
                </a:path>
                <a:path w="12700" h="400" fill="none">
                  <a:moveTo>
                    <a:pt x="2484" y="94"/>
                  </a:moveTo>
                  <a:lnTo>
                    <a:pt x="2484" y="190"/>
                  </a:lnTo>
                </a:path>
                <a:path w="12700" h="400" fill="none">
                  <a:moveTo>
                    <a:pt x="2454" y="306"/>
                  </a:moveTo>
                  <a:lnTo>
                    <a:pt x="2454" y="210"/>
                  </a:lnTo>
                </a:path>
                <a:path w="12700" h="400" fill="none">
                  <a:moveTo>
                    <a:pt x="2484" y="306"/>
                  </a:moveTo>
                  <a:lnTo>
                    <a:pt x="2484" y="210"/>
                  </a:lnTo>
                </a:path>
                <a:path w="12700" h="400" fill="none">
                  <a:moveTo>
                    <a:pt x="2555" y="94"/>
                  </a:moveTo>
                  <a:lnTo>
                    <a:pt x="2555" y="190"/>
                  </a:lnTo>
                </a:path>
                <a:path w="12700" h="400" fill="none">
                  <a:moveTo>
                    <a:pt x="2585" y="94"/>
                  </a:moveTo>
                  <a:lnTo>
                    <a:pt x="2585" y="190"/>
                  </a:lnTo>
                </a:path>
                <a:path w="12700" h="400" fill="none">
                  <a:moveTo>
                    <a:pt x="2555" y="306"/>
                  </a:moveTo>
                  <a:lnTo>
                    <a:pt x="2555" y="210"/>
                  </a:lnTo>
                </a:path>
                <a:path w="12700" h="400" fill="none">
                  <a:moveTo>
                    <a:pt x="2585" y="306"/>
                  </a:moveTo>
                  <a:lnTo>
                    <a:pt x="2585" y="210"/>
                  </a:lnTo>
                </a:path>
                <a:path w="12700" h="400" fill="none">
                  <a:moveTo>
                    <a:pt x="2656" y="94"/>
                  </a:moveTo>
                  <a:lnTo>
                    <a:pt x="2656" y="190"/>
                  </a:lnTo>
                </a:path>
                <a:path w="12700" h="400" fill="none">
                  <a:moveTo>
                    <a:pt x="2686" y="94"/>
                  </a:moveTo>
                  <a:lnTo>
                    <a:pt x="2686" y="190"/>
                  </a:lnTo>
                </a:path>
                <a:path w="12700" h="400" fill="none">
                  <a:moveTo>
                    <a:pt x="2656" y="306"/>
                  </a:moveTo>
                  <a:lnTo>
                    <a:pt x="2656" y="210"/>
                  </a:lnTo>
                </a:path>
                <a:path w="12700" h="400" fill="none">
                  <a:moveTo>
                    <a:pt x="2686" y="306"/>
                  </a:moveTo>
                  <a:lnTo>
                    <a:pt x="2686" y="210"/>
                  </a:lnTo>
                </a:path>
                <a:path w="12700" h="400" fill="none">
                  <a:moveTo>
                    <a:pt x="2756" y="94"/>
                  </a:moveTo>
                  <a:lnTo>
                    <a:pt x="2756" y="190"/>
                  </a:lnTo>
                </a:path>
                <a:path w="12700" h="400" fill="none">
                  <a:moveTo>
                    <a:pt x="2786" y="94"/>
                  </a:moveTo>
                  <a:lnTo>
                    <a:pt x="2786" y="190"/>
                  </a:lnTo>
                </a:path>
                <a:path w="12700" h="400" fill="none">
                  <a:moveTo>
                    <a:pt x="2756" y="306"/>
                  </a:moveTo>
                  <a:lnTo>
                    <a:pt x="2756" y="210"/>
                  </a:lnTo>
                </a:path>
                <a:path w="12700" h="400" fill="none">
                  <a:moveTo>
                    <a:pt x="2786" y="306"/>
                  </a:moveTo>
                  <a:lnTo>
                    <a:pt x="2786" y="210"/>
                  </a:lnTo>
                </a:path>
                <a:path w="12700" h="400" fill="none">
                  <a:moveTo>
                    <a:pt x="2857" y="94"/>
                  </a:moveTo>
                  <a:lnTo>
                    <a:pt x="2857" y="190"/>
                  </a:lnTo>
                </a:path>
                <a:path w="12700" h="400" fill="none">
                  <a:moveTo>
                    <a:pt x="2887" y="94"/>
                  </a:moveTo>
                  <a:lnTo>
                    <a:pt x="2887" y="190"/>
                  </a:lnTo>
                </a:path>
                <a:path w="12700" h="400" fill="none">
                  <a:moveTo>
                    <a:pt x="2857" y="306"/>
                  </a:moveTo>
                  <a:lnTo>
                    <a:pt x="2857" y="210"/>
                  </a:lnTo>
                </a:path>
                <a:path w="12700" h="400" fill="none">
                  <a:moveTo>
                    <a:pt x="2887" y="306"/>
                  </a:moveTo>
                  <a:lnTo>
                    <a:pt x="2887" y="210"/>
                  </a:lnTo>
                </a:path>
                <a:path w="12700" h="400" fill="none">
                  <a:moveTo>
                    <a:pt x="2958" y="94"/>
                  </a:moveTo>
                  <a:lnTo>
                    <a:pt x="2958" y="190"/>
                  </a:lnTo>
                </a:path>
                <a:path w="12700" h="400" fill="none">
                  <a:moveTo>
                    <a:pt x="2988" y="94"/>
                  </a:moveTo>
                  <a:lnTo>
                    <a:pt x="2988" y="190"/>
                  </a:lnTo>
                </a:path>
                <a:path w="12700" h="400" fill="none">
                  <a:moveTo>
                    <a:pt x="2958" y="306"/>
                  </a:moveTo>
                  <a:lnTo>
                    <a:pt x="2958" y="210"/>
                  </a:lnTo>
                </a:path>
                <a:path w="12700" h="400" fill="none">
                  <a:moveTo>
                    <a:pt x="2988" y="306"/>
                  </a:moveTo>
                  <a:lnTo>
                    <a:pt x="2988" y="210"/>
                  </a:lnTo>
                </a:path>
                <a:path w="12700" h="400" fill="none">
                  <a:moveTo>
                    <a:pt x="3059" y="94"/>
                  </a:moveTo>
                  <a:lnTo>
                    <a:pt x="3059" y="190"/>
                  </a:lnTo>
                </a:path>
                <a:path w="12700" h="400" fill="none">
                  <a:moveTo>
                    <a:pt x="3089" y="94"/>
                  </a:moveTo>
                  <a:lnTo>
                    <a:pt x="3089" y="190"/>
                  </a:lnTo>
                </a:path>
                <a:path w="12700" h="400" fill="none">
                  <a:moveTo>
                    <a:pt x="3059" y="306"/>
                  </a:moveTo>
                  <a:lnTo>
                    <a:pt x="3059" y="210"/>
                  </a:lnTo>
                </a:path>
                <a:path w="12700" h="400" fill="none">
                  <a:moveTo>
                    <a:pt x="3089" y="306"/>
                  </a:moveTo>
                  <a:lnTo>
                    <a:pt x="3089" y="210"/>
                  </a:lnTo>
                </a:path>
                <a:path w="12700" h="400" fill="none">
                  <a:moveTo>
                    <a:pt x="3160" y="94"/>
                  </a:moveTo>
                  <a:lnTo>
                    <a:pt x="3160" y="190"/>
                  </a:lnTo>
                </a:path>
                <a:path w="12700" h="400" fill="none">
                  <a:moveTo>
                    <a:pt x="3190" y="94"/>
                  </a:moveTo>
                  <a:lnTo>
                    <a:pt x="3190" y="190"/>
                  </a:lnTo>
                </a:path>
                <a:path w="12700" h="400" fill="none">
                  <a:moveTo>
                    <a:pt x="3160" y="306"/>
                  </a:moveTo>
                  <a:lnTo>
                    <a:pt x="3160" y="210"/>
                  </a:lnTo>
                </a:path>
                <a:path w="12700" h="400" fill="none">
                  <a:moveTo>
                    <a:pt x="3190" y="306"/>
                  </a:moveTo>
                  <a:lnTo>
                    <a:pt x="3190" y="210"/>
                  </a:lnTo>
                </a:path>
                <a:path w="12700" h="400" fill="none">
                  <a:moveTo>
                    <a:pt x="3260" y="94"/>
                  </a:moveTo>
                  <a:lnTo>
                    <a:pt x="3260" y="190"/>
                  </a:lnTo>
                </a:path>
                <a:path w="12700" h="400" fill="none">
                  <a:moveTo>
                    <a:pt x="3290" y="94"/>
                  </a:moveTo>
                  <a:lnTo>
                    <a:pt x="3290" y="190"/>
                  </a:lnTo>
                </a:path>
                <a:path w="12700" h="400" fill="none">
                  <a:moveTo>
                    <a:pt x="3260" y="306"/>
                  </a:moveTo>
                  <a:lnTo>
                    <a:pt x="3260" y="210"/>
                  </a:lnTo>
                </a:path>
                <a:path w="12700" h="400" fill="none">
                  <a:moveTo>
                    <a:pt x="3290" y="306"/>
                  </a:moveTo>
                  <a:lnTo>
                    <a:pt x="3290" y="210"/>
                  </a:lnTo>
                </a:path>
                <a:path w="12700" h="400" fill="none">
                  <a:moveTo>
                    <a:pt x="3361" y="94"/>
                  </a:moveTo>
                  <a:lnTo>
                    <a:pt x="3361" y="190"/>
                  </a:lnTo>
                </a:path>
                <a:path w="12700" h="400" fill="none">
                  <a:moveTo>
                    <a:pt x="3391" y="94"/>
                  </a:moveTo>
                  <a:lnTo>
                    <a:pt x="3391" y="190"/>
                  </a:lnTo>
                </a:path>
                <a:path w="12700" h="400" fill="none">
                  <a:moveTo>
                    <a:pt x="3361" y="306"/>
                  </a:moveTo>
                  <a:lnTo>
                    <a:pt x="3361" y="210"/>
                  </a:lnTo>
                </a:path>
                <a:path w="12700" h="400" fill="none">
                  <a:moveTo>
                    <a:pt x="3391" y="306"/>
                  </a:moveTo>
                  <a:lnTo>
                    <a:pt x="3391" y="210"/>
                  </a:lnTo>
                </a:path>
                <a:path w="12700" h="400" fill="none">
                  <a:moveTo>
                    <a:pt x="3462" y="94"/>
                  </a:moveTo>
                  <a:lnTo>
                    <a:pt x="3462" y="190"/>
                  </a:lnTo>
                </a:path>
                <a:path w="12700" h="400" fill="none">
                  <a:moveTo>
                    <a:pt x="3492" y="94"/>
                  </a:moveTo>
                  <a:lnTo>
                    <a:pt x="3492" y="190"/>
                  </a:lnTo>
                </a:path>
                <a:path w="12700" h="400" fill="none">
                  <a:moveTo>
                    <a:pt x="3462" y="306"/>
                  </a:moveTo>
                  <a:lnTo>
                    <a:pt x="3462" y="210"/>
                  </a:lnTo>
                </a:path>
                <a:path w="12700" h="400" fill="none">
                  <a:moveTo>
                    <a:pt x="3492" y="306"/>
                  </a:moveTo>
                  <a:lnTo>
                    <a:pt x="3492" y="210"/>
                  </a:lnTo>
                </a:path>
                <a:path w="12700" h="400" fill="none">
                  <a:moveTo>
                    <a:pt x="3563" y="94"/>
                  </a:moveTo>
                  <a:lnTo>
                    <a:pt x="3563" y="190"/>
                  </a:lnTo>
                </a:path>
                <a:path w="12700" h="400" fill="none">
                  <a:moveTo>
                    <a:pt x="3593" y="94"/>
                  </a:moveTo>
                  <a:lnTo>
                    <a:pt x="3593" y="190"/>
                  </a:lnTo>
                </a:path>
                <a:path w="12700" h="400" fill="none">
                  <a:moveTo>
                    <a:pt x="3563" y="306"/>
                  </a:moveTo>
                  <a:lnTo>
                    <a:pt x="3563" y="210"/>
                  </a:lnTo>
                </a:path>
                <a:path w="12700" h="400" fill="none">
                  <a:moveTo>
                    <a:pt x="3593" y="306"/>
                  </a:moveTo>
                  <a:lnTo>
                    <a:pt x="3593" y="210"/>
                  </a:lnTo>
                </a:path>
                <a:path w="12700" h="400" fill="none">
                  <a:moveTo>
                    <a:pt x="3663" y="94"/>
                  </a:moveTo>
                  <a:lnTo>
                    <a:pt x="3663" y="190"/>
                  </a:lnTo>
                </a:path>
                <a:path w="12700" h="400" fill="none">
                  <a:moveTo>
                    <a:pt x="3693" y="94"/>
                  </a:moveTo>
                  <a:lnTo>
                    <a:pt x="3693" y="190"/>
                  </a:lnTo>
                </a:path>
                <a:path w="12700" h="400" fill="none">
                  <a:moveTo>
                    <a:pt x="3663" y="306"/>
                  </a:moveTo>
                  <a:lnTo>
                    <a:pt x="3663" y="210"/>
                  </a:lnTo>
                </a:path>
                <a:path w="12700" h="400" fill="none">
                  <a:moveTo>
                    <a:pt x="3693" y="306"/>
                  </a:moveTo>
                  <a:lnTo>
                    <a:pt x="3693" y="210"/>
                  </a:lnTo>
                </a:path>
                <a:path w="12700" h="400" fill="none">
                  <a:moveTo>
                    <a:pt x="3764" y="94"/>
                  </a:moveTo>
                  <a:lnTo>
                    <a:pt x="3764" y="190"/>
                  </a:lnTo>
                </a:path>
                <a:path w="12700" h="400" fill="none">
                  <a:moveTo>
                    <a:pt x="3794" y="94"/>
                  </a:moveTo>
                  <a:lnTo>
                    <a:pt x="3794" y="190"/>
                  </a:lnTo>
                </a:path>
                <a:path w="12700" h="400" fill="none">
                  <a:moveTo>
                    <a:pt x="3764" y="306"/>
                  </a:moveTo>
                  <a:lnTo>
                    <a:pt x="3764" y="210"/>
                  </a:lnTo>
                </a:path>
                <a:path w="12700" h="400" fill="none">
                  <a:moveTo>
                    <a:pt x="3794" y="306"/>
                  </a:moveTo>
                  <a:lnTo>
                    <a:pt x="3794" y="210"/>
                  </a:lnTo>
                </a:path>
                <a:path w="12700" h="400" fill="none">
                  <a:moveTo>
                    <a:pt x="3865" y="94"/>
                  </a:moveTo>
                  <a:lnTo>
                    <a:pt x="3865" y="190"/>
                  </a:lnTo>
                </a:path>
                <a:path w="12700" h="400" fill="none">
                  <a:moveTo>
                    <a:pt x="3895" y="94"/>
                  </a:moveTo>
                  <a:lnTo>
                    <a:pt x="3895" y="190"/>
                  </a:lnTo>
                </a:path>
                <a:path w="12700" h="400" fill="none">
                  <a:moveTo>
                    <a:pt x="3865" y="306"/>
                  </a:moveTo>
                  <a:lnTo>
                    <a:pt x="3865" y="210"/>
                  </a:lnTo>
                </a:path>
                <a:path w="12700" h="400" fill="none">
                  <a:moveTo>
                    <a:pt x="3895" y="306"/>
                  </a:moveTo>
                  <a:lnTo>
                    <a:pt x="3895" y="210"/>
                  </a:lnTo>
                </a:path>
                <a:path w="12700" h="400" fill="none">
                  <a:moveTo>
                    <a:pt x="3966" y="94"/>
                  </a:moveTo>
                  <a:lnTo>
                    <a:pt x="3966" y="190"/>
                  </a:lnTo>
                </a:path>
                <a:path w="12700" h="400" fill="none">
                  <a:moveTo>
                    <a:pt x="3996" y="94"/>
                  </a:moveTo>
                  <a:lnTo>
                    <a:pt x="3996" y="190"/>
                  </a:lnTo>
                </a:path>
                <a:path w="12700" h="400" fill="none">
                  <a:moveTo>
                    <a:pt x="3966" y="306"/>
                  </a:moveTo>
                  <a:lnTo>
                    <a:pt x="3966" y="210"/>
                  </a:lnTo>
                </a:path>
                <a:path w="12700" h="400" fill="none">
                  <a:moveTo>
                    <a:pt x="3996" y="306"/>
                  </a:moveTo>
                  <a:lnTo>
                    <a:pt x="3996" y="210"/>
                  </a:lnTo>
                </a:path>
                <a:path w="12700" h="400" fill="none">
                  <a:moveTo>
                    <a:pt x="4067" y="94"/>
                  </a:moveTo>
                  <a:lnTo>
                    <a:pt x="4067" y="190"/>
                  </a:lnTo>
                </a:path>
                <a:path w="12700" h="400" fill="none">
                  <a:moveTo>
                    <a:pt x="4097" y="94"/>
                  </a:moveTo>
                  <a:lnTo>
                    <a:pt x="4097" y="190"/>
                  </a:lnTo>
                </a:path>
                <a:path w="12700" h="400" fill="none">
                  <a:moveTo>
                    <a:pt x="4067" y="306"/>
                  </a:moveTo>
                  <a:lnTo>
                    <a:pt x="4067" y="210"/>
                  </a:lnTo>
                </a:path>
                <a:path w="12700" h="400" fill="none">
                  <a:moveTo>
                    <a:pt x="4097" y="306"/>
                  </a:moveTo>
                  <a:lnTo>
                    <a:pt x="4097" y="210"/>
                  </a:lnTo>
                </a:path>
                <a:path w="12700" h="400" fill="none">
                  <a:moveTo>
                    <a:pt x="4167" y="94"/>
                  </a:moveTo>
                  <a:lnTo>
                    <a:pt x="4167" y="190"/>
                  </a:lnTo>
                </a:path>
                <a:path w="12700" h="400" fill="none">
                  <a:moveTo>
                    <a:pt x="4197" y="94"/>
                  </a:moveTo>
                  <a:lnTo>
                    <a:pt x="4197" y="190"/>
                  </a:lnTo>
                </a:path>
                <a:path w="12700" h="400" fill="none">
                  <a:moveTo>
                    <a:pt x="4167" y="306"/>
                  </a:moveTo>
                  <a:lnTo>
                    <a:pt x="4167" y="210"/>
                  </a:lnTo>
                </a:path>
                <a:path w="12700" h="400" fill="none">
                  <a:moveTo>
                    <a:pt x="4197" y="306"/>
                  </a:moveTo>
                  <a:lnTo>
                    <a:pt x="4197" y="210"/>
                  </a:lnTo>
                </a:path>
                <a:path w="12700" h="400" fill="none">
                  <a:moveTo>
                    <a:pt x="4268" y="94"/>
                  </a:moveTo>
                  <a:lnTo>
                    <a:pt x="4268" y="190"/>
                  </a:lnTo>
                </a:path>
                <a:path w="12700" h="400" fill="none">
                  <a:moveTo>
                    <a:pt x="4298" y="94"/>
                  </a:moveTo>
                  <a:lnTo>
                    <a:pt x="4298" y="190"/>
                  </a:lnTo>
                </a:path>
                <a:path w="12700" h="400" fill="none">
                  <a:moveTo>
                    <a:pt x="4268" y="306"/>
                  </a:moveTo>
                  <a:lnTo>
                    <a:pt x="4268" y="210"/>
                  </a:lnTo>
                </a:path>
                <a:path w="12700" h="400" fill="none">
                  <a:moveTo>
                    <a:pt x="4298" y="306"/>
                  </a:moveTo>
                  <a:lnTo>
                    <a:pt x="4298" y="210"/>
                  </a:lnTo>
                </a:path>
                <a:path w="12700" h="400" fill="none">
                  <a:moveTo>
                    <a:pt x="4369" y="94"/>
                  </a:moveTo>
                  <a:lnTo>
                    <a:pt x="4369" y="190"/>
                  </a:lnTo>
                </a:path>
                <a:path w="12700" h="400" fill="none">
                  <a:moveTo>
                    <a:pt x="4399" y="94"/>
                  </a:moveTo>
                  <a:lnTo>
                    <a:pt x="4399" y="190"/>
                  </a:lnTo>
                </a:path>
                <a:path w="12700" h="400" fill="none">
                  <a:moveTo>
                    <a:pt x="4369" y="306"/>
                  </a:moveTo>
                  <a:lnTo>
                    <a:pt x="4369" y="210"/>
                  </a:lnTo>
                </a:path>
                <a:path w="12700" h="400" fill="none">
                  <a:moveTo>
                    <a:pt x="4399" y="306"/>
                  </a:moveTo>
                  <a:lnTo>
                    <a:pt x="4399" y="210"/>
                  </a:lnTo>
                </a:path>
                <a:path w="12700" h="400" fill="none">
                  <a:moveTo>
                    <a:pt x="4470" y="94"/>
                  </a:moveTo>
                  <a:lnTo>
                    <a:pt x="4470" y="190"/>
                  </a:lnTo>
                </a:path>
                <a:path w="12700" h="400" fill="none">
                  <a:moveTo>
                    <a:pt x="4500" y="94"/>
                  </a:moveTo>
                  <a:lnTo>
                    <a:pt x="4500" y="190"/>
                  </a:lnTo>
                </a:path>
                <a:path w="12700" h="400" fill="none">
                  <a:moveTo>
                    <a:pt x="4470" y="306"/>
                  </a:moveTo>
                  <a:lnTo>
                    <a:pt x="4470" y="210"/>
                  </a:lnTo>
                </a:path>
                <a:path w="12700" h="400" fill="none">
                  <a:moveTo>
                    <a:pt x="4500" y="306"/>
                  </a:moveTo>
                  <a:lnTo>
                    <a:pt x="4500" y="210"/>
                  </a:lnTo>
                </a:path>
                <a:path w="12700" h="400" fill="none">
                  <a:moveTo>
                    <a:pt x="4571" y="94"/>
                  </a:moveTo>
                  <a:lnTo>
                    <a:pt x="4571" y="190"/>
                  </a:lnTo>
                </a:path>
                <a:path w="12700" h="400" fill="none">
                  <a:moveTo>
                    <a:pt x="4601" y="94"/>
                  </a:moveTo>
                  <a:lnTo>
                    <a:pt x="4601" y="190"/>
                  </a:lnTo>
                </a:path>
                <a:path w="12700" h="400" fill="none">
                  <a:moveTo>
                    <a:pt x="4571" y="306"/>
                  </a:moveTo>
                  <a:lnTo>
                    <a:pt x="4571" y="210"/>
                  </a:lnTo>
                </a:path>
                <a:path w="12700" h="400" fill="none">
                  <a:moveTo>
                    <a:pt x="4601" y="306"/>
                  </a:moveTo>
                  <a:lnTo>
                    <a:pt x="4601" y="210"/>
                  </a:lnTo>
                </a:path>
                <a:path w="12700" h="400" fill="none">
                  <a:moveTo>
                    <a:pt x="4671" y="94"/>
                  </a:moveTo>
                  <a:lnTo>
                    <a:pt x="4671" y="190"/>
                  </a:lnTo>
                </a:path>
                <a:path w="12700" h="400" fill="none">
                  <a:moveTo>
                    <a:pt x="4701" y="94"/>
                  </a:moveTo>
                  <a:lnTo>
                    <a:pt x="4701" y="190"/>
                  </a:lnTo>
                </a:path>
                <a:path w="12700" h="400" fill="none">
                  <a:moveTo>
                    <a:pt x="4671" y="306"/>
                  </a:moveTo>
                  <a:lnTo>
                    <a:pt x="4671" y="210"/>
                  </a:lnTo>
                </a:path>
                <a:path w="12700" h="400" fill="none">
                  <a:moveTo>
                    <a:pt x="4701" y="306"/>
                  </a:moveTo>
                  <a:lnTo>
                    <a:pt x="4701" y="210"/>
                  </a:lnTo>
                </a:path>
                <a:path w="12700" h="400" fill="none">
                  <a:moveTo>
                    <a:pt x="4772" y="94"/>
                  </a:moveTo>
                  <a:lnTo>
                    <a:pt x="4772" y="190"/>
                  </a:lnTo>
                </a:path>
                <a:path w="12700" h="400" fill="none">
                  <a:moveTo>
                    <a:pt x="4802" y="94"/>
                  </a:moveTo>
                  <a:lnTo>
                    <a:pt x="4802" y="190"/>
                  </a:lnTo>
                </a:path>
                <a:path w="12700" h="400" fill="none">
                  <a:moveTo>
                    <a:pt x="4772" y="306"/>
                  </a:moveTo>
                  <a:lnTo>
                    <a:pt x="4772" y="210"/>
                  </a:lnTo>
                </a:path>
                <a:path w="12700" h="400" fill="none">
                  <a:moveTo>
                    <a:pt x="4802" y="306"/>
                  </a:moveTo>
                  <a:lnTo>
                    <a:pt x="4802" y="210"/>
                  </a:lnTo>
                </a:path>
                <a:path w="12700" h="400" fill="none">
                  <a:moveTo>
                    <a:pt x="4873" y="94"/>
                  </a:moveTo>
                  <a:lnTo>
                    <a:pt x="4873" y="190"/>
                  </a:lnTo>
                </a:path>
                <a:path w="12700" h="400" fill="none">
                  <a:moveTo>
                    <a:pt x="4903" y="94"/>
                  </a:moveTo>
                  <a:lnTo>
                    <a:pt x="4903" y="190"/>
                  </a:lnTo>
                </a:path>
                <a:path w="12700" h="400" fill="none">
                  <a:moveTo>
                    <a:pt x="4873" y="306"/>
                  </a:moveTo>
                  <a:lnTo>
                    <a:pt x="4873" y="210"/>
                  </a:lnTo>
                </a:path>
                <a:path w="12700" h="400" fill="none">
                  <a:moveTo>
                    <a:pt x="4903" y="306"/>
                  </a:moveTo>
                  <a:lnTo>
                    <a:pt x="4903" y="210"/>
                  </a:lnTo>
                </a:path>
                <a:path w="12700" h="400" fill="none">
                  <a:moveTo>
                    <a:pt x="4974" y="94"/>
                  </a:moveTo>
                  <a:lnTo>
                    <a:pt x="4974" y="190"/>
                  </a:lnTo>
                </a:path>
                <a:path w="12700" h="400" fill="none">
                  <a:moveTo>
                    <a:pt x="5004" y="94"/>
                  </a:moveTo>
                  <a:lnTo>
                    <a:pt x="5004" y="190"/>
                  </a:lnTo>
                </a:path>
                <a:path w="12700" h="400" fill="none">
                  <a:moveTo>
                    <a:pt x="4974" y="306"/>
                  </a:moveTo>
                  <a:lnTo>
                    <a:pt x="4974" y="210"/>
                  </a:lnTo>
                </a:path>
                <a:path w="12700" h="400" fill="none">
                  <a:moveTo>
                    <a:pt x="5004" y="306"/>
                  </a:moveTo>
                  <a:lnTo>
                    <a:pt x="5004" y="210"/>
                  </a:lnTo>
                </a:path>
                <a:path w="12700" h="400" fill="none">
                  <a:moveTo>
                    <a:pt x="5075" y="94"/>
                  </a:moveTo>
                  <a:lnTo>
                    <a:pt x="5075" y="190"/>
                  </a:lnTo>
                </a:path>
                <a:path w="12700" h="400" fill="none">
                  <a:moveTo>
                    <a:pt x="5105" y="94"/>
                  </a:moveTo>
                  <a:lnTo>
                    <a:pt x="5105" y="190"/>
                  </a:lnTo>
                </a:path>
                <a:path w="12700" h="400" fill="none">
                  <a:moveTo>
                    <a:pt x="5075" y="306"/>
                  </a:moveTo>
                  <a:lnTo>
                    <a:pt x="5075" y="210"/>
                  </a:lnTo>
                </a:path>
                <a:path w="12700" h="400" fill="none">
                  <a:moveTo>
                    <a:pt x="5105" y="306"/>
                  </a:moveTo>
                  <a:lnTo>
                    <a:pt x="5105" y="210"/>
                  </a:lnTo>
                </a:path>
                <a:path w="12700" h="400" fill="none">
                  <a:moveTo>
                    <a:pt x="5175" y="94"/>
                  </a:moveTo>
                  <a:lnTo>
                    <a:pt x="5175" y="190"/>
                  </a:lnTo>
                </a:path>
                <a:path w="12700" h="400" fill="none">
                  <a:moveTo>
                    <a:pt x="5205" y="94"/>
                  </a:moveTo>
                  <a:lnTo>
                    <a:pt x="5205" y="190"/>
                  </a:lnTo>
                </a:path>
                <a:path w="12700" h="400" fill="none">
                  <a:moveTo>
                    <a:pt x="5175" y="306"/>
                  </a:moveTo>
                  <a:lnTo>
                    <a:pt x="5175" y="210"/>
                  </a:lnTo>
                </a:path>
                <a:path w="12700" h="400" fill="none">
                  <a:moveTo>
                    <a:pt x="5205" y="306"/>
                  </a:moveTo>
                  <a:lnTo>
                    <a:pt x="5205" y="210"/>
                  </a:lnTo>
                </a:path>
                <a:path w="12700" h="400" fill="none">
                  <a:moveTo>
                    <a:pt x="5276" y="94"/>
                  </a:moveTo>
                  <a:lnTo>
                    <a:pt x="5276" y="190"/>
                  </a:lnTo>
                </a:path>
                <a:path w="12700" h="400" fill="none">
                  <a:moveTo>
                    <a:pt x="5306" y="94"/>
                  </a:moveTo>
                  <a:lnTo>
                    <a:pt x="5306" y="190"/>
                  </a:lnTo>
                </a:path>
                <a:path w="12700" h="400" fill="none">
                  <a:moveTo>
                    <a:pt x="5276" y="306"/>
                  </a:moveTo>
                  <a:lnTo>
                    <a:pt x="5276" y="210"/>
                  </a:lnTo>
                </a:path>
                <a:path w="12700" h="400" fill="none">
                  <a:moveTo>
                    <a:pt x="5306" y="306"/>
                  </a:moveTo>
                  <a:lnTo>
                    <a:pt x="5306" y="210"/>
                  </a:lnTo>
                </a:path>
                <a:path w="12700" h="400" fill="none">
                  <a:moveTo>
                    <a:pt x="5377" y="94"/>
                  </a:moveTo>
                  <a:lnTo>
                    <a:pt x="5377" y="190"/>
                  </a:lnTo>
                </a:path>
                <a:path w="12700" h="400" fill="none">
                  <a:moveTo>
                    <a:pt x="5407" y="94"/>
                  </a:moveTo>
                  <a:lnTo>
                    <a:pt x="5407" y="190"/>
                  </a:lnTo>
                </a:path>
                <a:path w="12700" h="400" fill="none">
                  <a:moveTo>
                    <a:pt x="5377" y="306"/>
                  </a:moveTo>
                  <a:lnTo>
                    <a:pt x="5377" y="210"/>
                  </a:lnTo>
                </a:path>
                <a:path w="12700" h="400" fill="none">
                  <a:moveTo>
                    <a:pt x="5407" y="306"/>
                  </a:moveTo>
                  <a:lnTo>
                    <a:pt x="5407" y="210"/>
                  </a:lnTo>
                </a:path>
                <a:path w="12700" h="400" fill="none">
                  <a:moveTo>
                    <a:pt x="5478" y="94"/>
                  </a:moveTo>
                  <a:lnTo>
                    <a:pt x="5478" y="190"/>
                  </a:lnTo>
                </a:path>
                <a:path w="12700" h="400" fill="none">
                  <a:moveTo>
                    <a:pt x="5508" y="94"/>
                  </a:moveTo>
                  <a:lnTo>
                    <a:pt x="5508" y="190"/>
                  </a:lnTo>
                </a:path>
                <a:path w="12700" h="400" fill="none">
                  <a:moveTo>
                    <a:pt x="5478" y="306"/>
                  </a:moveTo>
                  <a:lnTo>
                    <a:pt x="5478" y="210"/>
                  </a:lnTo>
                </a:path>
                <a:path w="12700" h="400" fill="none">
                  <a:moveTo>
                    <a:pt x="5508" y="306"/>
                  </a:moveTo>
                  <a:lnTo>
                    <a:pt x="5508" y="210"/>
                  </a:lnTo>
                </a:path>
                <a:path w="12700" h="400" fill="none">
                  <a:moveTo>
                    <a:pt x="5579" y="94"/>
                  </a:moveTo>
                  <a:lnTo>
                    <a:pt x="5579" y="190"/>
                  </a:lnTo>
                </a:path>
                <a:path w="12700" h="400" fill="none">
                  <a:moveTo>
                    <a:pt x="5609" y="94"/>
                  </a:moveTo>
                  <a:lnTo>
                    <a:pt x="5609" y="190"/>
                  </a:lnTo>
                </a:path>
                <a:path w="12700" h="400" fill="none">
                  <a:moveTo>
                    <a:pt x="5579" y="306"/>
                  </a:moveTo>
                  <a:lnTo>
                    <a:pt x="5579" y="210"/>
                  </a:lnTo>
                </a:path>
                <a:path w="12700" h="400" fill="none">
                  <a:moveTo>
                    <a:pt x="5609" y="306"/>
                  </a:moveTo>
                  <a:lnTo>
                    <a:pt x="5609" y="210"/>
                  </a:lnTo>
                </a:path>
                <a:path w="12700" h="400" fill="none">
                  <a:moveTo>
                    <a:pt x="5679" y="94"/>
                  </a:moveTo>
                  <a:lnTo>
                    <a:pt x="5679" y="190"/>
                  </a:lnTo>
                </a:path>
                <a:path w="12700" h="400" fill="none">
                  <a:moveTo>
                    <a:pt x="5709" y="94"/>
                  </a:moveTo>
                  <a:lnTo>
                    <a:pt x="5709" y="190"/>
                  </a:lnTo>
                </a:path>
                <a:path w="12700" h="400" fill="none">
                  <a:moveTo>
                    <a:pt x="5679" y="306"/>
                  </a:moveTo>
                  <a:lnTo>
                    <a:pt x="5679" y="210"/>
                  </a:lnTo>
                </a:path>
                <a:path w="12700" h="400" fill="none">
                  <a:moveTo>
                    <a:pt x="5709" y="306"/>
                  </a:moveTo>
                  <a:lnTo>
                    <a:pt x="5709" y="210"/>
                  </a:lnTo>
                </a:path>
                <a:path w="12700" h="400" fill="none">
                  <a:moveTo>
                    <a:pt x="5780" y="94"/>
                  </a:moveTo>
                  <a:lnTo>
                    <a:pt x="5780" y="190"/>
                  </a:lnTo>
                </a:path>
                <a:path w="12700" h="400" fill="none">
                  <a:moveTo>
                    <a:pt x="5810" y="94"/>
                  </a:moveTo>
                  <a:lnTo>
                    <a:pt x="5810" y="190"/>
                  </a:lnTo>
                </a:path>
                <a:path w="12700" h="400" fill="none">
                  <a:moveTo>
                    <a:pt x="5780" y="306"/>
                  </a:moveTo>
                  <a:lnTo>
                    <a:pt x="5780" y="210"/>
                  </a:lnTo>
                </a:path>
                <a:path w="12700" h="400" fill="none">
                  <a:moveTo>
                    <a:pt x="5810" y="306"/>
                  </a:moveTo>
                  <a:lnTo>
                    <a:pt x="5810" y="210"/>
                  </a:lnTo>
                </a:path>
                <a:path w="12700" h="400" fill="none">
                  <a:moveTo>
                    <a:pt x="5881" y="94"/>
                  </a:moveTo>
                  <a:lnTo>
                    <a:pt x="5881" y="190"/>
                  </a:lnTo>
                </a:path>
                <a:path w="12700" h="400" fill="none">
                  <a:moveTo>
                    <a:pt x="5911" y="94"/>
                  </a:moveTo>
                  <a:lnTo>
                    <a:pt x="5911" y="190"/>
                  </a:lnTo>
                </a:path>
                <a:path w="12700" h="400" fill="none">
                  <a:moveTo>
                    <a:pt x="5881" y="306"/>
                  </a:moveTo>
                  <a:lnTo>
                    <a:pt x="5881" y="210"/>
                  </a:lnTo>
                </a:path>
                <a:path w="12700" h="400" fill="none">
                  <a:moveTo>
                    <a:pt x="5911" y="306"/>
                  </a:moveTo>
                  <a:lnTo>
                    <a:pt x="5911" y="210"/>
                  </a:lnTo>
                </a:path>
                <a:path w="12700" h="400" fill="none">
                  <a:moveTo>
                    <a:pt x="5982" y="94"/>
                  </a:moveTo>
                  <a:lnTo>
                    <a:pt x="5982" y="190"/>
                  </a:lnTo>
                </a:path>
                <a:path w="12700" h="400" fill="none">
                  <a:moveTo>
                    <a:pt x="6012" y="94"/>
                  </a:moveTo>
                  <a:lnTo>
                    <a:pt x="6012" y="190"/>
                  </a:lnTo>
                </a:path>
                <a:path w="12700" h="400" fill="none">
                  <a:moveTo>
                    <a:pt x="5982" y="306"/>
                  </a:moveTo>
                  <a:lnTo>
                    <a:pt x="5982" y="210"/>
                  </a:lnTo>
                </a:path>
                <a:path w="12700" h="400" fill="none">
                  <a:moveTo>
                    <a:pt x="6012" y="306"/>
                  </a:moveTo>
                  <a:lnTo>
                    <a:pt x="6012" y="210"/>
                  </a:lnTo>
                </a:path>
                <a:path w="12700" h="400" fill="none">
                  <a:moveTo>
                    <a:pt x="6083" y="94"/>
                  </a:moveTo>
                  <a:lnTo>
                    <a:pt x="6083" y="190"/>
                  </a:lnTo>
                </a:path>
                <a:path w="12700" h="400" fill="none">
                  <a:moveTo>
                    <a:pt x="6113" y="94"/>
                  </a:moveTo>
                  <a:lnTo>
                    <a:pt x="6113" y="190"/>
                  </a:lnTo>
                </a:path>
                <a:path w="12700" h="400" fill="none">
                  <a:moveTo>
                    <a:pt x="6083" y="306"/>
                  </a:moveTo>
                  <a:lnTo>
                    <a:pt x="6083" y="210"/>
                  </a:lnTo>
                </a:path>
                <a:path w="12700" h="400" fill="none">
                  <a:moveTo>
                    <a:pt x="6113" y="306"/>
                  </a:moveTo>
                  <a:lnTo>
                    <a:pt x="6113" y="210"/>
                  </a:lnTo>
                </a:path>
                <a:path w="12700" h="400" fill="none">
                  <a:moveTo>
                    <a:pt x="6183" y="94"/>
                  </a:moveTo>
                  <a:lnTo>
                    <a:pt x="6183" y="190"/>
                  </a:lnTo>
                </a:path>
                <a:path w="12700" h="400" fill="none">
                  <a:moveTo>
                    <a:pt x="6213" y="94"/>
                  </a:moveTo>
                  <a:lnTo>
                    <a:pt x="6213" y="190"/>
                  </a:lnTo>
                </a:path>
                <a:path w="12700" h="400" fill="none">
                  <a:moveTo>
                    <a:pt x="6183" y="306"/>
                  </a:moveTo>
                  <a:lnTo>
                    <a:pt x="6183" y="210"/>
                  </a:lnTo>
                </a:path>
                <a:path w="12700" h="400" fill="none">
                  <a:moveTo>
                    <a:pt x="6213" y="306"/>
                  </a:moveTo>
                  <a:lnTo>
                    <a:pt x="6213" y="210"/>
                  </a:lnTo>
                </a:path>
                <a:path w="12700" h="400" fill="none">
                  <a:moveTo>
                    <a:pt x="6284" y="94"/>
                  </a:moveTo>
                  <a:lnTo>
                    <a:pt x="6284" y="190"/>
                  </a:lnTo>
                </a:path>
                <a:path w="12700" h="400" fill="none">
                  <a:moveTo>
                    <a:pt x="6314" y="94"/>
                  </a:moveTo>
                  <a:lnTo>
                    <a:pt x="6314" y="190"/>
                  </a:lnTo>
                </a:path>
                <a:path w="12700" h="400" fill="none">
                  <a:moveTo>
                    <a:pt x="6284" y="306"/>
                  </a:moveTo>
                  <a:lnTo>
                    <a:pt x="6284" y="210"/>
                  </a:lnTo>
                </a:path>
                <a:path w="12700" h="400" fill="none">
                  <a:moveTo>
                    <a:pt x="6314" y="306"/>
                  </a:moveTo>
                  <a:lnTo>
                    <a:pt x="6314" y="210"/>
                  </a:lnTo>
                </a:path>
                <a:path w="12700" h="400" fill="none">
                  <a:moveTo>
                    <a:pt x="6385" y="94"/>
                  </a:moveTo>
                  <a:lnTo>
                    <a:pt x="6385" y="190"/>
                  </a:lnTo>
                </a:path>
                <a:path w="12700" h="400" fill="none">
                  <a:moveTo>
                    <a:pt x="6415" y="94"/>
                  </a:moveTo>
                  <a:lnTo>
                    <a:pt x="6415" y="190"/>
                  </a:lnTo>
                </a:path>
                <a:path w="12700" h="400" fill="none">
                  <a:moveTo>
                    <a:pt x="6385" y="306"/>
                  </a:moveTo>
                  <a:lnTo>
                    <a:pt x="6385" y="210"/>
                  </a:lnTo>
                </a:path>
                <a:path w="12700" h="400" fill="none">
                  <a:moveTo>
                    <a:pt x="6415" y="306"/>
                  </a:moveTo>
                  <a:lnTo>
                    <a:pt x="6415" y="210"/>
                  </a:lnTo>
                </a:path>
                <a:path w="12700" h="400" fill="none">
                  <a:moveTo>
                    <a:pt x="6486" y="94"/>
                  </a:moveTo>
                  <a:lnTo>
                    <a:pt x="6486" y="190"/>
                  </a:lnTo>
                </a:path>
                <a:path w="12700" h="400" fill="none">
                  <a:moveTo>
                    <a:pt x="6516" y="94"/>
                  </a:moveTo>
                  <a:lnTo>
                    <a:pt x="6516" y="190"/>
                  </a:lnTo>
                </a:path>
                <a:path w="12700" h="400" fill="none">
                  <a:moveTo>
                    <a:pt x="6486" y="306"/>
                  </a:moveTo>
                  <a:lnTo>
                    <a:pt x="6486" y="210"/>
                  </a:lnTo>
                </a:path>
                <a:path w="12700" h="400" fill="none">
                  <a:moveTo>
                    <a:pt x="6516" y="306"/>
                  </a:moveTo>
                  <a:lnTo>
                    <a:pt x="6516" y="210"/>
                  </a:lnTo>
                </a:path>
                <a:path w="12700" h="400" fill="none">
                  <a:moveTo>
                    <a:pt x="6586" y="94"/>
                  </a:moveTo>
                  <a:lnTo>
                    <a:pt x="6586" y="190"/>
                  </a:lnTo>
                </a:path>
                <a:path w="12700" h="400" fill="none">
                  <a:moveTo>
                    <a:pt x="6616" y="94"/>
                  </a:moveTo>
                  <a:lnTo>
                    <a:pt x="6616" y="190"/>
                  </a:lnTo>
                </a:path>
                <a:path w="12700" h="400" fill="none">
                  <a:moveTo>
                    <a:pt x="6586" y="306"/>
                  </a:moveTo>
                  <a:lnTo>
                    <a:pt x="6586" y="210"/>
                  </a:lnTo>
                </a:path>
                <a:path w="12700" h="400" fill="none">
                  <a:moveTo>
                    <a:pt x="6616" y="306"/>
                  </a:moveTo>
                  <a:lnTo>
                    <a:pt x="6616" y="210"/>
                  </a:lnTo>
                </a:path>
                <a:path w="12700" h="400" fill="none">
                  <a:moveTo>
                    <a:pt x="6687" y="94"/>
                  </a:moveTo>
                  <a:lnTo>
                    <a:pt x="6687" y="190"/>
                  </a:lnTo>
                </a:path>
                <a:path w="12700" h="400" fill="none">
                  <a:moveTo>
                    <a:pt x="6717" y="94"/>
                  </a:moveTo>
                  <a:lnTo>
                    <a:pt x="6717" y="190"/>
                  </a:lnTo>
                </a:path>
                <a:path w="12700" h="400" fill="none">
                  <a:moveTo>
                    <a:pt x="6687" y="306"/>
                  </a:moveTo>
                  <a:lnTo>
                    <a:pt x="6687" y="210"/>
                  </a:lnTo>
                </a:path>
                <a:path w="12700" h="400" fill="none">
                  <a:moveTo>
                    <a:pt x="6717" y="306"/>
                  </a:moveTo>
                  <a:lnTo>
                    <a:pt x="6717" y="210"/>
                  </a:lnTo>
                </a:path>
                <a:path w="12700" h="400" fill="none">
                  <a:moveTo>
                    <a:pt x="6788" y="94"/>
                  </a:moveTo>
                  <a:lnTo>
                    <a:pt x="6788" y="190"/>
                  </a:lnTo>
                </a:path>
                <a:path w="12700" h="400" fill="none">
                  <a:moveTo>
                    <a:pt x="6818" y="94"/>
                  </a:moveTo>
                  <a:lnTo>
                    <a:pt x="6818" y="190"/>
                  </a:lnTo>
                </a:path>
                <a:path w="12700" h="400" fill="none">
                  <a:moveTo>
                    <a:pt x="6788" y="306"/>
                  </a:moveTo>
                  <a:lnTo>
                    <a:pt x="6788" y="210"/>
                  </a:lnTo>
                </a:path>
                <a:path w="12700" h="400" fill="none">
                  <a:moveTo>
                    <a:pt x="6818" y="306"/>
                  </a:moveTo>
                  <a:lnTo>
                    <a:pt x="6818" y="210"/>
                  </a:lnTo>
                </a:path>
                <a:path w="12700" h="400" fill="none">
                  <a:moveTo>
                    <a:pt x="6889" y="94"/>
                  </a:moveTo>
                  <a:lnTo>
                    <a:pt x="6889" y="190"/>
                  </a:lnTo>
                </a:path>
                <a:path w="12700" h="400" fill="none">
                  <a:moveTo>
                    <a:pt x="6919" y="94"/>
                  </a:moveTo>
                  <a:lnTo>
                    <a:pt x="6919" y="190"/>
                  </a:lnTo>
                </a:path>
                <a:path w="12700" h="400" fill="none">
                  <a:moveTo>
                    <a:pt x="6889" y="306"/>
                  </a:moveTo>
                  <a:lnTo>
                    <a:pt x="6889" y="210"/>
                  </a:lnTo>
                </a:path>
                <a:path w="12700" h="400" fill="none">
                  <a:moveTo>
                    <a:pt x="6919" y="306"/>
                  </a:moveTo>
                  <a:lnTo>
                    <a:pt x="6919" y="210"/>
                  </a:lnTo>
                </a:path>
                <a:path w="12700" h="400" fill="none">
                  <a:moveTo>
                    <a:pt x="6990" y="94"/>
                  </a:moveTo>
                  <a:lnTo>
                    <a:pt x="6990" y="190"/>
                  </a:lnTo>
                </a:path>
                <a:path w="12700" h="400" fill="none">
                  <a:moveTo>
                    <a:pt x="7020" y="94"/>
                  </a:moveTo>
                  <a:lnTo>
                    <a:pt x="7020" y="190"/>
                  </a:lnTo>
                </a:path>
                <a:path w="12700" h="400" fill="none">
                  <a:moveTo>
                    <a:pt x="6990" y="306"/>
                  </a:moveTo>
                  <a:lnTo>
                    <a:pt x="6990" y="210"/>
                  </a:lnTo>
                </a:path>
                <a:path w="12700" h="400" fill="none">
                  <a:moveTo>
                    <a:pt x="7020" y="306"/>
                  </a:moveTo>
                  <a:lnTo>
                    <a:pt x="7020" y="210"/>
                  </a:lnTo>
                </a:path>
                <a:path w="12700" h="400" fill="none">
                  <a:moveTo>
                    <a:pt x="7090" y="94"/>
                  </a:moveTo>
                  <a:lnTo>
                    <a:pt x="7090" y="190"/>
                  </a:lnTo>
                </a:path>
                <a:path w="12700" h="400" fill="none">
                  <a:moveTo>
                    <a:pt x="7120" y="94"/>
                  </a:moveTo>
                  <a:lnTo>
                    <a:pt x="7120" y="190"/>
                  </a:lnTo>
                </a:path>
                <a:path w="12700" h="400" fill="none">
                  <a:moveTo>
                    <a:pt x="7090" y="306"/>
                  </a:moveTo>
                  <a:lnTo>
                    <a:pt x="7090" y="210"/>
                  </a:lnTo>
                </a:path>
                <a:path w="12700" h="400" fill="none">
                  <a:moveTo>
                    <a:pt x="7120" y="306"/>
                  </a:moveTo>
                  <a:lnTo>
                    <a:pt x="7120" y="210"/>
                  </a:lnTo>
                </a:path>
                <a:path w="12700" h="400" fill="none">
                  <a:moveTo>
                    <a:pt x="7191" y="94"/>
                  </a:moveTo>
                  <a:lnTo>
                    <a:pt x="7191" y="190"/>
                  </a:lnTo>
                </a:path>
                <a:path w="12700" h="400" fill="none">
                  <a:moveTo>
                    <a:pt x="7221" y="94"/>
                  </a:moveTo>
                  <a:lnTo>
                    <a:pt x="7221" y="190"/>
                  </a:lnTo>
                </a:path>
                <a:path w="12700" h="400" fill="none">
                  <a:moveTo>
                    <a:pt x="7191" y="306"/>
                  </a:moveTo>
                  <a:lnTo>
                    <a:pt x="7191" y="210"/>
                  </a:lnTo>
                </a:path>
                <a:path w="12700" h="400" fill="none">
                  <a:moveTo>
                    <a:pt x="7221" y="306"/>
                  </a:moveTo>
                  <a:lnTo>
                    <a:pt x="7221" y="210"/>
                  </a:lnTo>
                </a:path>
                <a:path w="12700" h="400" fill="none">
                  <a:moveTo>
                    <a:pt x="7292" y="94"/>
                  </a:moveTo>
                  <a:lnTo>
                    <a:pt x="7292" y="190"/>
                  </a:lnTo>
                </a:path>
                <a:path w="12700" h="400" fill="none">
                  <a:moveTo>
                    <a:pt x="7322" y="94"/>
                  </a:moveTo>
                  <a:lnTo>
                    <a:pt x="7322" y="190"/>
                  </a:lnTo>
                </a:path>
                <a:path w="12700" h="400" fill="none">
                  <a:moveTo>
                    <a:pt x="7292" y="306"/>
                  </a:moveTo>
                  <a:lnTo>
                    <a:pt x="7292" y="210"/>
                  </a:lnTo>
                </a:path>
                <a:path w="12700" h="400" fill="none">
                  <a:moveTo>
                    <a:pt x="7322" y="306"/>
                  </a:moveTo>
                  <a:lnTo>
                    <a:pt x="7322" y="210"/>
                  </a:lnTo>
                </a:path>
                <a:path w="12700" h="400" fill="none">
                  <a:moveTo>
                    <a:pt x="7393" y="94"/>
                  </a:moveTo>
                  <a:lnTo>
                    <a:pt x="7393" y="190"/>
                  </a:lnTo>
                </a:path>
                <a:path w="12700" h="400" fill="none">
                  <a:moveTo>
                    <a:pt x="7423" y="94"/>
                  </a:moveTo>
                  <a:lnTo>
                    <a:pt x="7423" y="190"/>
                  </a:lnTo>
                </a:path>
                <a:path w="12700" h="400" fill="none">
                  <a:moveTo>
                    <a:pt x="7393" y="306"/>
                  </a:moveTo>
                  <a:lnTo>
                    <a:pt x="7393" y="210"/>
                  </a:lnTo>
                </a:path>
                <a:path w="12700" h="400" fill="none">
                  <a:moveTo>
                    <a:pt x="7423" y="306"/>
                  </a:moveTo>
                  <a:lnTo>
                    <a:pt x="7423" y="210"/>
                  </a:lnTo>
                </a:path>
                <a:path w="12700" h="400" fill="none">
                  <a:moveTo>
                    <a:pt x="7494" y="94"/>
                  </a:moveTo>
                  <a:lnTo>
                    <a:pt x="7494" y="190"/>
                  </a:lnTo>
                </a:path>
                <a:path w="12700" h="400" fill="none">
                  <a:moveTo>
                    <a:pt x="7524" y="94"/>
                  </a:moveTo>
                  <a:lnTo>
                    <a:pt x="7524" y="190"/>
                  </a:lnTo>
                </a:path>
                <a:path w="12700" h="400" fill="none">
                  <a:moveTo>
                    <a:pt x="7494" y="306"/>
                  </a:moveTo>
                  <a:lnTo>
                    <a:pt x="7494" y="210"/>
                  </a:lnTo>
                </a:path>
                <a:path w="12700" h="400" fill="none">
                  <a:moveTo>
                    <a:pt x="7524" y="306"/>
                  </a:moveTo>
                  <a:lnTo>
                    <a:pt x="7524" y="210"/>
                  </a:lnTo>
                </a:path>
                <a:path w="12700" h="400" fill="none">
                  <a:moveTo>
                    <a:pt x="7594" y="94"/>
                  </a:moveTo>
                  <a:lnTo>
                    <a:pt x="7594" y="190"/>
                  </a:lnTo>
                </a:path>
                <a:path w="12700" h="400" fill="none">
                  <a:moveTo>
                    <a:pt x="7624" y="94"/>
                  </a:moveTo>
                  <a:lnTo>
                    <a:pt x="7624" y="190"/>
                  </a:lnTo>
                </a:path>
                <a:path w="12700" h="400" fill="none">
                  <a:moveTo>
                    <a:pt x="7594" y="306"/>
                  </a:moveTo>
                  <a:lnTo>
                    <a:pt x="7594" y="210"/>
                  </a:lnTo>
                </a:path>
                <a:path w="12700" h="400" fill="none">
                  <a:moveTo>
                    <a:pt x="7624" y="306"/>
                  </a:moveTo>
                  <a:lnTo>
                    <a:pt x="7624" y="210"/>
                  </a:lnTo>
                </a:path>
                <a:path w="12700" h="400" fill="none">
                  <a:moveTo>
                    <a:pt x="7695" y="94"/>
                  </a:moveTo>
                  <a:lnTo>
                    <a:pt x="7695" y="190"/>
                  </a:lnTo>
                </a:path>
                <a:path w="12700" h="400" fill="none">
                  <a:moveTo>
                    <a:pt x="7725" y="94"/>
                  </a:moveTo>
                  <a:lnTo>
                    <a:pt x="7725" y="190"/>
                  </a:lnTo>
                </a:path>
                <a:path w="12700" h="400" fill="none">
                  <a:moveTo>
                    <a:pt x="7695" y="306"/>
                  </a:moveTo>
                  <a:lnTo>
                    <a:pt x="7695" y="210"/>
                  </a:lnTo>
                </a:path>
                <a:path w="12700" h="400" fill="none">
                  <a:moveTo>
                    <a:pt x="7725" y="306"/>
                  </a:moveTo>
                  <a:lnTo>
                    <a:pt x="7725" y="210"/>
                  </a:lnTo>
                </a:path>
                <a:path w="12700" h="400" fill="none">
                  <a:moveTo>
                    <a:pt x="7796" y="94"/>
                  </a:moveTo>
                  <a:lnTo>
                    <a:pt x="7796" y="190"/>
                  </a:lnTo>
                </a:path>
                <a:path w="12700" h="400" fill="none">
                  <a:moveTo>
                    <a:pt x="7826" y="94"/>
                  </a:moveTo>
                  <a:lnTo>
                    <a:pt x="7826" y="190"/>
                  </a:lnTo>
                </a:path>
                <a:path w="12700" h="400" fill="none">
                  <a:moveTo>
                    <a:pt x="7796" y="306"/>
                  </a:moveTo>
                  <a:lnTo>
                    <a:pt x="7796" y="210"/>
                  </a:lnTo>
                </a:path>
                <a:path w="12700" h="400" fill="none">
                  <a:moveTo>
                    <a:pt x="7826" y="306"/>
                  </a:moveTo>
                  <a:lnTo>
                    <a:pt x="7826" y="210"/>
                  </a:lnTo>
                </a:path>
                <a:path w="12700" h="400" fill="none">
                  <a:moveTo>
                    <a:pt x="7897" y="94"/>
                  </a:moveTo>
                  <a:lnTo>
                    <a:pt x="7897" y="190"/>
                  </a:lnTo>
                </a:path>
                <a:path w="12700" h="400" fill="none">
                  <a:moveTo>
                    <a:pt x="7927" y="94"/>
                  </a:moveTo>
                  <a:lnTo>
                    <a:pt x="7927" y="190"/>
                  </a:lnTo>
                </a:path>
                <a:path w="12700" h="400" fill="none">
                  <a:moveTo>
                    <a:pt x="7897" y="306"/>
                  </a:moveTo>
                  <a:lnTo>
                    <a:pt x="7897" y="210"/>
                  </a:lnTo>
                </a:path>
                <a:path w="12700" h="400" fill="none">
                  <a:moveTo>
                    <a:pt x="7927" y="306"/>
                  </a:moveTo>
                  <a:lnTo>
                    <a:pt x="7927" y="210"/>
                  </a:lnTo>
                </a:path>
                <a:path w="12700" h="400" fill="none">
                  <a:moveTo>
                    <a:pt x="7998" y="94"/>
                  </a:moveTo>
                  <a:lnTo>
                    <a:pt x="7998" y="190"/>
                  </a:lnTo>
                </a:path>
                <a:path w="12700" h="400" fill="none">
                  <a:moveTo>
                    <a:pt x="8028" y="94"/>
                  </a:moveTo>
                  <a:lnTo>
                    <a:pt x="8028" y="190"/>
                  </a:lnTo>
                </a:path>
                <a:path w="12700" h="400" fill="none">
                  <a:moveTo>
                    <a:pt x="7998" y="306"/>
                  </a:moveTo>
                  <a:lnTo>
                    <a:pt x="7998" y="210"/>
                  </a:lnTo>
                </a:path>
                <a:path w="12700" h="400" fill="none">
                  <a:moveTo>
                    <a:pt x="8028" y="306"/>
                  </a:moveTo>
                  <a:lnTo>
                    <a:pt x="8028" y="210"/>
                  </a:lnTo>
                </a:path>
                <a:path w="12700" h="400" fill="none">
                  <a:moveTo>
                    <a:pt x="8098" y="94"/>
                  </a:moveTo>
                  <a:lnTo>
                    <a:pt x="8098" y="190"/>
                  </a:lnTo>
                </a:path>
                <a:path w="12700" h="400" fill="none">
                  <a:moveTo>
                    <a:pt x="8128" y="94"/>
                  </a:moveTo>
                  <a:lnTo>
                    <a:pt x="8128" y="190"/>
                  </a:lnTo>
                </a:path>
                <a:path w="12700" h="400" fill="none">
                  <a:moveTo>
                    <a:pt x="8098" y="306"/>
                  </a:moveTo>
                  <a:lnTo>
                    <a:pt x="8098" y="210"/>
                  </a:lnTo>
                </a:path>
                <a:path w="12700" h="400" fill="none">
                  <a:moveTo>
                    <a:pt x="8128" y="306"/>
                  </a:moveTo>
                  <a:lnTo>
                    <a:pt x="8128" y="210"/>
                  </a:lnTo>
                </a:path>
                <a:path w="12700" h="400" fill="none">
                  <a:moveTo>
                    <a:pt x="8199" y="94"/>
                  </a:moveTo>
                  <a:lnTo>
                    <a:pt x="8199" y="190"/>
                  </a:lnTo>
                </a:path>
                <a:path w="12700" h="400" fill="none">
                  <a:moveTo>
                    <a:pt x="8229" y="94"/>
                  </a:moveTo>
                  <a:lnTo>
                    <a:pt x="8229" y="190"/>
                  </a:lnTo>
                </a:path>
                <a:path w="12700" h="400" fill="none">
                  <a:moveTo>
                    <a:pt x="8199" y="306"/>
                  </a:moveTo>
                  <a:lnTo>
                    <a:pt x="8199" y="210"/>
                  </a:lnTo>
                </a:path>
                <a:path w="12700" h="400" fill="none">
                  <a:moveTo>
                    <a:pt x="8229" y="306"/>
                  </a:moveTo>
                  <a:lnTo>
                    <a:pt x="8229" y="210"/>
                  </a:lnTo>
                </a:path>
                <a:path w="12700" h="400" fill="none">
                  <a:moveTo>
                    <a:pt x="8300" y="94"/>
                  </a:moveTo>
                  <a:lnTo>
                    <a:pt x="8300" y="190"/>
                  </a:lnTo>
                </a:path>
                <a:path w="12700" h="400" fill="none">
                  <a:moveTo>
                    <a:pt x="8330" y="94"/>
                  </a:moveTo>
                  <a:lnTo>
                    <a:pt x="8330" y="190"/>
                  </a:lnTo>
                </a:path>
                <a:path w="12700" h="400" fill="none">
                  <a:moveTo>
                    <a:pt x="8300" y="306"/>
                  </a:moveTo>
                  <a:lnTo>
                    <a:pt x="8300" y="210"/>
                  </a:lnTo>
                </a:path>
                <a:path w="12700" h="400" fill="none">
                  <a:moveTo>
                    <a:pt x="8330" y="306"/>
                  </a:moveTo>
                  <a:lnTo>
                    <a:pt x="8330" y="210"/>
                  </a:lnTo>
                </a:path>
                <a:path w="12700" h="400" fill="none">
                  <a:moveTo>
                    <a:pt x="8401" y="94"/>
                  </a:moveTo>
                  <a:lnTo>
                    <a:pt x="8401" y="190"/>
                  </a:lnTo>
                </a:path>
                <a:path w="12700" h="400" fill="none">
                  <a:moveTo>
                    <a:pt x="8431" y="94"/>
                  </a:moveTo>
                  <a:lnTo>
                    <a:pt x="8431" y="190"/>
                  </a:lnTo>
                </a:path>
                <a:path w="12700" h="400" fill="none">
                  <a:moveTo>
                    <a:pt x="8401" y="306"/>
                  </a:moveTo>
                  <a:lnTo>
                    <a:pt x="8401" y="210"/>
                  </a:lnTo>
                </a:path>
                <a:path w="12700" h="400" fill="none">
                  <a:moveTo>
                    <a:pt x="8431" y="306"/>
                  </a:moveTo>
                  <a:lnTo>
                    <a:pt x="8431" y="210"/>
                  </a:lnTo>
                </a:path>
                <a:path w="12700" h="400" fill="none">
                  <a:moveTo>
                    <a:pt x="8502" y="94"/>
                  </a:moveTo>
                  <a:lnTo>
                    <a:pt x="8502" y="190"/>
                  </a:lnTo>
                </a:path>
                <a:path w="12700" h="400" fill="none">
                  <a:moveTo>
                    <a:pt x="8532" y="94"/>
                  </a:moveTo>
                  <a:lnTo>
                    <a:pt x="8532" y="190"/>
                  </a:lnTo>
                </a:path>
                <a:path w="12700" h="400" fill="none">
                  <a:moveTo>
                    <a:pt x="8502" y="306"/>
                  </a:moveTo>
                  <a:lnTo>
                    <a:pt x="8502" y="210"/>
                  </a:lnTo>
                </a:path>
                <a:path w="12700" h="400" fill="none">
                  <a:moveTo>
                    <a:pt x="8532" y="306"/>
                  </a:moveTo>
                  <a:lnTo>
                    <a:pt x="8532" y="210"/>
                  </a:lnTo>
                </a:path>
                <a:path w="12700" h="400" fill="none">
                  <a:moveTo>
                    <a:pt x="8602" y="94"/>
                  </a:moveTo>
                  <a:lnTo>
                    <a:pt x="8602" y="190"/>
                  </a:lnTo>
                </a:path>
                <a:path w="12700" h="400" fill="none">
                  <a:moveTo>
                    <a:pt x="8632" y="94"/>
                  </a:moveTo>
                  <a:lnTo>
                    <a:pt x="8632" y="190"/>
                  </a:lnTo>
                </a:path>
                <a:path w="12700" h="400" fill="none">
                  <a:moveTo>
                    <a:pt x="8602" y="306"/>
                  </a:moveTo>
                  <a:lnTo>
                    <a:pt x="8602" y="210"/>
                  </a:lnTo>
                </a:path>
                <a:path w="12700" h="400" fill="none">
                  <a:moveTo>
                    <a:pt x="8632" y="306"/>
                  </a:moveTo>
                  <a:lnTo>
                    <a:pt x="8632" y="210"/>
                  </a:lnTo>
                </a:path>
                <a:path w="12700" h="400" fill="none">
                  <a:moveTo>
                    <a:pt x="8703" y="94"/>
                  </a:moveTo>
                  <a:lnTo>
                    <a:pt x="8703" y="190"/>
                  </a:lnTo>
                </a:path>
                <a:path w="12700" h="400" fill="none">
                  <a:moveTo>
                    <a:pt x="8733" y="94"/>
                  </a:moveTo>
                  <a:lnTo>
                    <a:pt x="8733" y="190"/>
                  </a:lnTo>
                </a:path>
                <a:path w="12700" h="400" fill="none">
                  <a:moveTo>
                    <a:pt x="8703" y="306"/>
                  </a:moveTo>
                  <a:lnTo>
                    <a:pt x="8703" y="210"/>
                  </a:lnTo>
                </a:path>
                <a:path w="12700" h="400" fill="none">
                  <a:moveTo>
                    <a:pt x="8733" y="306"/>
                  </a:moveTo>
                  <a:lnTo>
                    <a:pt x="8733" y="210"/>
                  </a:lnTo>
                </a:path>
                <a:path w="12700" h="400" fill="none">
                  <a:moveTo>
                    <a:pt x="8804" y="94"/>
                  </a:moveTo>
                  <a:lnTo>
                    <a:pt x="8804" y="190"/>
                  </a:lnTo>
                </a:path>
                <a:path w="12700" h="400" fill="none">
                  <a:moveTo>
                    <a:pt x="8834" y="94"/>
                  </a:moveTo>
                  <a:lnTo>
                    <a:pt x="8834" y="190"/>
                  </a:lnTo>
                </a:path>
                <a:path w="12700" h="400" fill="none">
                  <a:moveTo>
                    <a:pt x="8804" y="306"/>
                  </a:moveTo>
                  <a:lnTo>
                    <a:pt x="8804" y="210"/>
                  </a:lnTo>
                </a:path>
                <a:path w="12700" h="400" fill="none">
                  <a:moveTo>
                    <a:pt x="8834" y="306"/>
                  </a:moveTo>
                  <a:lnTo>
                    <a:pt x="8834" y="210"/>
                  </a:lnTo>
                </a:path>
                <a:path w="12700" h="400" fill="none">
                  <a:moveTo>
                    <a:pt x="8905" y="94"/>
                  </a:moveTo>
                  <a:lnTo>
                    <a:pt x="8905" y="190"/>
                  </a:lnTo>
                </a:path>
                <a:path w="12700" h="400" fill="none">
                  <a:moveTo>
                    <a:pt x="8935" y="94"/>
                  </a:moveTo>
                  <a:lnTo>
                    <a:pt x="8935" y="190"/>
                  </a:lnTo>
                </a:path>
                <a:path w="12700" h="400" fill="none">
                  <a:moveTo>
                    <a:pt x="8905" y="306"/>
                  </a:moveTo>
                  <a:lnTo>
                    <a:pt x="8905" y="210"/>
                  </a:lnTo>
                </a:path>
                <a:path w="12700" h="400" fill="none">
                  <a:moveTo>
                    <a:pt x="8935" y="306"/>
                  </a:moveTo>
                  <a:lnTo>
                    <a:pt x="8935" y="210"/>
                  </a:lnTo>
                </a:path>
                <a:path w="12700" h="400" fill="none">
                  <a:moveTo>
                    <a:pt x="9006" y="94"/>
                  </a:moveTo>
                  <a:lnTo>
                    <a:pt x="9006" y="190"/>
                  </a:lnTo>
                </a:path>
                <a:path w="12700" h="400" fill="none">
                  <a:moveTo>
                    <a:pt x="9036" y="94"/>
                  </a:moveTo>
                  <a:lnTo>
                    <a:pt x="9036" y="190"/>
                  </a:lnTo>
                </a:path>
                <a:path w="12700" h="400" fill="none">
                  <a:moveTo>
                    <a:pt x="9006" y="306"/>
                  </a:moveTo>
                  <a:lnTo>
                    <a:pt x="9006" y="210"/>
                  </a:lnTo>
                </a:path>
                <a:path w="12700" h="400" fill="none">
                  <a:moveTo>
                    <a:pt x="9036" y="306"/>
                  </a:moveTo>
                  <a:lnTo>
                    <a:pt x="9036" y="210"/>
                  </a:lnTo>
                </a:path>
                <a:path w="12700" h="400" fill="none">
                  <a:moveTo>
                    <a:pt x="9106" y="94"/>
                  </a:moveTo>
                  <a:lnTo>
                    <a:pt x="9106" y="190"/>
                  </a:lnTo>
                </a:path>
                <a:path w="12700" h="400" fill="none">
                  <a:moveTo>
                    <a:pt x="9136" y="94"/>
                  </a:moveTo>
                  <a:lnTo>
                    <a:pt x="9136" y="190"/>
                  </a:lnTo>
                </a:path>
                <a:path w="12700" h="400" fill="none">
                  <a:moveTo>
                    <a:pt x="9106" y="306"/>
                  </a:moveTo>
                  <a:lnTo>
                    <a:pt x="9106" y="210"/>
                  </a:lnTo>
                </a:path>
                <a:path w="12700" h="400" fill="none">
                  <a:moveTo>
                    <a:pt x="9136" y="306"/>
                  </a:moveTo>
                  <a:lnTo>
                    <a:pt x="9136" y="210"/>
                  </a:lnTo>
                </a:path>
                <a:path w="12700" h="400" fill="none">
                  <a:moveTo>
                    <a:pt x="9207" y="94"/>
                  </a:moveTo>
                  <a:lnTo>
                    <a:pt x="9207" y="190"/>
                  </a:lnTo>
                </a:path>
                <a:path w="12700" h="400" fill="none">
                  <a:moveTo>
                    <a:pt x="9237" y="94"/>
                  </a:moveTo>
                  <a:lnTo>
                    <a:pt x="9237" y="190"/>
                  </a:lnTo>
                </a:path>
                <a:path w="12700" h="400" fill="none">
                  <a:moveTo>
                    <a:pt x="9207" y="306"/>
                  </a:moveTo>
                  <a:lnTo>
                    <a:pt x="9207" y="210"/>
                  </a:lnTo>
                </a:path>
                <a:path w="12700" h="400" fill="none">
                  <a:moveTo>
                    <a:pt x="9237" y="306"/>
                  </a:moveTo>
                  <a:lnTo>
                    <a:pt x="9237" y="210"/>
                  </a:lnTo>
                </a:path>
                <a:path w="12700" h="400" fill="none">
                  <a:moveTo>
                    <a:pt x="9308" y="94"/>
                  </a:moveTo>
                  <a:lnTo>
                    <a:pt x="9308" y="190"/>
                  </a:lnTo>
                </a:path>
                <a:path w="12700" h="400" fill="none">
                  <a:moveTo>
                    <a:pt x="9338" y="94"/>
                  </a:moveTo>
                  <a:lnTo>
                    <a:pt x="9338" y="190"/>
                  </a:lnTo>
                </a:path>
                <a:path w="12700" h="400" fill="none">
                  <a:moveTo>
                    <a:pt x="9308" y="306"/>
                  </a:moveTo>
                  <a:lnTo>
                    <a:pt x="9308" y="210"/>
                  </a:lnTo>
                </a:path>
                <a:path w="12700" h="400" fill="none">
                  <a:moveTo>
                    <a:pt x="9338" y="306"/>
                  </a:moveTo>
                  <a:lnTo>
                    <a:pt x="9338" y="210"/>
                  </a:lnTo>
                </a:path>
                <a:path w="12700" h="400" fill="none">
                  <a:moveTo>
                    <a:pt x="9409" y="94"/>
                  </a:moveTo>
                  <a:lnTo>
                    <a:pt x="9409" y="190"/>
                  </a:lnTo>
                </a:path>
                <a:path w="12700" h="400" fill="none">
                  <a:moveTo>
                    <a:pt x="9439" y="94"/>
                  </a:moveTo>
                  <a:lnTo>
                    <a:pt x="9439" y="190"/>
                  </a:lnTo>
                </a:path>
                <a:path w="12700" h="400" fill="none">
                  <a:moveTo>
                    <a:pt x="9409" y="306"/>
                  </a:moveTo>
                  <a:lnTo>
                    <a:pt x="9409" y="210"/>
                  </a:lnTo>
                </a:path>
                <a:path w="12700" h="400" fill="none">
                  <a:moveTo>
                    <a:pt x="9439" y="306"/>
                  </a:moveTo>
                  <a:lnTo>
                    <a:pt x="9439" y="210"/>
                  </a:lnTo>
                </a:path>
                <a:path w="12700" h="400" fill="none">
                  <a:moveTo>
                    <a:pt x="9510" y="94"/>
                  </a:moveTo>
                  <a:lnTo>
                    <a:pt x="9510" y="190"/>
                  </a:lnTo>
                </a:path>
                <a:path w="12700" h="400" fill="none">
                  <a:moveTo>
                    <a:pt x="9540" y="94"/>
                  </a:moveTo>
                  <a:lnTo>
                    <a:pt x="9540" y="190"/>
                  </a:lnTo>
                </a:path>
                <a:path w="12700" h="400" fill="none">
                  <a:moveTo>
                    <a:pt x="9510" y="306"/>
                  </a:moveTo>
                  <a:lnTo>
                    <a:pt x="9510" y="210"/>
                  </a:lnTo>
                </a:path>
                <a:path w="12700" h="400" fill="none">
                  <a:moveTo>
                    <a:pt x="9540" y="306"/>
                  </a:moveTo>
                  <a:lnTo>
                    <a:pt x="9540" y="210"/>
                  </a:lnTo>
                </a:path>
                <a:path w="12700" h="400" fill="none">
                  <a:moveTo>
                    <a:pt x="9610" y="94"/>
                  </a:moveTo>
                  <a:lnTo>
                    <a:pt x="9610" y="190"/>
                  </a:lnTo>
                </a:path>
                <a:path w="12700" h="400" fill="none">
                  <a:moveTo>
                    <a:pt x="9640" y="94"/>
                  </a:moveTo>
                  <a:lnTo>
                    <a:pt x="9640" y="190"/>
                  </a:lnTo>
                </a:path>
                <a:path w="12700" h="400" fill="none">
                  <a:moveTo>
                    <a:pt x="9610" y="306"/>
                  </a:moveTo>
                  <a:lnTo>
                    <a:pt x="9610" y="210"/>
                  </a:lnTo>
                </a:path>
                <a:path w="12700" h="400" fill="none">
                  <a:moveTo>
                    <a:pt x="9640" y="306"/>
                  </a:moveTo>
                  <a:lnTo>
                    <a:pt x="9640" y="210"/>
                  </a:lnTo>
                </a:path>
                <a:path w="12700" h="400" fill="none">
                  <a:moveTo>
                    <a:pt x="9711" y="94"/>
                  </a:moveTo>
                  <a:lnTo>
                    <a:pt x="9711" y="190"/>
                  </a:lnTo>
                </a:path>
                <a:path w="12700" h="400" fill="none">
                  <a:moveTo>
                    <a:pt x="9741" y="94"/>
                  </a:moveTo>
                  <a:lnTo>
                    <a:pt x="9741" y="190"/>
                  </a:lnTo>
                </a:path>
                <a:path w="12700" h="400" fill="none">
                  <a:moveTo>
                    <a:pt x="9711" y="306"/>
                  </a:moveTo>
                  <a:lnTo>
                    <a:pt x="9711" y="210"/>
                  </a:lnTo>
                </a:path>
                <a:path w="12700" h="400" fill="none">
                  <a:moveTo>
                    <a:pt x="9741" y="306"/>
                  </a:moveTo>
                  <a:lnTo>
                    <a:pt x="9741" y="210"/>
                  </a:lnTo>
                </a:path>
                <a:path w="12700" h="400" fill="none">
                  <a:moveTo>
                    <a:pt x="9812" y="94"/>
                  </a:moveTo>
                  <a:lnTo>
                    <a:pt x="9812" y="190"/>
                  </a:lnTo>
                </a:path>
                <a:path w="12700" h="400" fill="none">
                  <a:moveTo>
                    <a:pt x="9842" y="94"/>
                  </a:moveTo>
                  <a:lnTo>
                    <a:pt x="9842" y="190"/>
                  </a:lnTo>
                </a:path>
                <a:path w="12700" h="400" fill="none">
                  <a:moveTo>
                    <a:pt x="9812" y="306"/>
                  </a:moveTo>
                  <a:lnTo>
                    <a:pt x="9812" y="210"/>
                  </a:lnTo>
                </a:path>
                <a:path w="12700" h="400" fill="none">
                  <a:moveTo>
                    <a:pt x="9842" y="306"/>
                  </a:moveTo>
                  <a:lnTo>
                    <a:pt x="9842" y="210"/>
                  </a:lnTo>
                </a:path>
                <a:path w="12700" h="400" fill="none">
                  <a:moveTo>
                    <a:pt x="9913" y="94"/>
                  </a:moveTo>
                  <a:lnTo>
                    <a:pt x="9913" y="190"/>
                  </a:lnTo>
                </a:path>
                <a:path w="12700" h="400" fill="none">
                  <a:moveTo>
                    <a:pt x="9943" y="94"/>
                  </a:moveTo>
                  <a:lnTo>
                    <a:pt x="9943" y="190"/>
                  </a:lnTo>
                </a:path>
                <a:path w="12700" h="400" fill="none">
                  <a:moveTo>
                    <a:pt x="9913" y="306"/>
                  </a:moveTo>
                  <a:lnTo>
                    <a:pt x="9913" y="210"/>
                  </a:lnTo>
                </a:path>
                <a:path w="12700" h="400" fill="none">
                  <a:moveTo>
                    <a:pt x="9943" y="306"/>
                  </a:moveTo>
                  <a:lnTo>
                    <a:pt x="9943" y="210"/>
                  </a:lnTo>
                </a:path>
                <a:path w="12700" h="400" fill="none">
                  <a:moveTo>
                    <a:pt x="10013" y="94"/>
                  </a:moveTo>
                  <a:lnTo>
                    <a:pt x="10013" y="190"/>
                  </a:lnTo>
                </a:path>
                <a:path w="12700" h="400" fill="none">
                  <a:moveTo>
                    <a:pt x="10043" y="94"/>
                  </a:moveTo>
                  <a:lnTo>
                    <a:pt x="10043" y="190"/>
                  </a:lnTo>
                </a:path>
                <a:path w="12700" h="400" fill="none">
                  <a:moveTo>
                    <a:pt x="10013" y="306"/>
                  </a:moveTo>
                  <a:lnTo>
                    <a:pt x="10013" y="210"/>
                  </a:lnTo>
                </a:path>
                <a:path w="12700" h="400" fill="none">
                  <a:moveTo>
                    <a:pt x="10043" y="306"/>
                  </a:moveTo>
                  <a:lnTo>
                    <a:pt x="10043" y="210"/>
                  </a:lnTo>
                </a:path>
                <a:path w="12700" h="400" fill="none">
                  <a:moveTo>
                    <a:pt x="10114" y="94"/>
                  </a:moveTo>
                  <a:lnTo>
                    <a:pt x="10114" y="190"/>
                  </a:lnTo>
                </a:path>
                <a:path w="12700" h="400" fill="none">
                  <a:moveTo>
                    <a:pt x="10144" y="94"/>
                  </a:moveTo>
                  <a:lnTo>
                    <a:pt x="10144" y="190"/>
                  </a:lnTo>
                </a:path>
                <a:path w="12700" h="400" fill="none">
                  <a:moveTo>
                    <a:pt x="10114" y="306"/>
                  </a:moveTo>
                  <a:lnTo>
                    <a:pt x="10114" y="210"/>
                  </a:lnTo>
                </a:path>
                <a:path w="12700" h="400" fill="none">
                  <a:moveTo>
                    <a:pt x="10144" y="306"/>
                  </a:moveTo>
                  <a:lnTo>
                    <a:pt x="10144" y="210"/>
                  </a:lnTo>
                </a:path>
                <a:path w="12700" h="400" fill="none">
                  <a:moveTo>
                    <a:pt x="10215" y="94"/>
                  </a:moveTo>
                  <a:lnTo>
                    <a:pt x="10215" y="190"/>
                  </a:lnTo>
                </a:path>
                <a:path w="12700" h="400" fill="none">
                  <a:moveTo>
                    <a:pt x="10245" y="94"/>
                  </a:moveTo>
                  <a:lnTo>
                    <a:pt x="10245" y="190"/>
                  </a:lnTo>
                </a:path>
                <a:path w="12700" h="400" fill="none">
                  <a:moveTo>
                    <a:pt x="10215" y="306"/>
                  </a:moveTo>
                  <a:lnTo>
                    <a:pt x="10215" y="210"/>
                  </a:lnTo>
                </a:path>
                <a:path w="12700" h="400" fill="none">
                  <a:moveTo>
                    <a:pt x="10245" y="306"/>
                  </a:moveTo>
                  <a:lnTo>
                    <a:pt x="10245" y="210"/>
                  </a:lnTo>
                </a:path>
                <a:path w="12700" h="400" fill="none">
                  <a:moveTo>
                    <a:pt x="10316" y="94"/>
                  </a:moveTo>
                  <a:lnTo>
                    <a:pt x="10316" y="190"/>
                  </a:lnTo>
                </a:path>
                <a:path w="12700" h="400" fill="none">
                  <a:moveTo>
                    <a:pt x="10346" y="94"/>
                  </a:moveTo>
                  <a:lnTo>
                    <a:pt x="10346" y="190"/>
                  </a:lnTo>
                </a:path>
                <a:path w="12700" h="400" fill="none">
                  <a:moveTo>
                    <a:pt x="10316" y="306"/>
                  </a:moveTo>
                  <a:lnTo>
                    <a:pt x="10316" y="210"/>
                  </a:lnTo>
                </a:path>
                <a:path w="12700" h="400" fill="none">
                  <a:moveTo>
                    <a:pt x="10346" y="306"/>
                  </a:moveTo>
                  <a:lnTo>
                    <a:pt x="10346" y="210"/>
                  </a:lnTo>
                </a:path>
                <a:path w="12700" h="400" fill="none">
                  <a:moveTo>
                    <a:pt x="10417" y="94"/>
                  </a:moveTo>
                  <a:lnTo>
                    <a:pt x="10417" y="190"/>
                  </a:lnTo>
                </a:path>
                <a:path w="12700" h="400" fill="none">
                  <a:moveTo>
                    <a:pt x="10447" y="94"/>
                  </a:moveTo>
                  <a:lnTo>
                    <a:pt x="10447" y="190"/>
                  </a:lnTo>
                </a:path>
                <a:path w="12700" h="400" fill="none">
                  <a:moveTo>
                    <a:pt x="10417" y="306"/>
                  </a:moveTo>
                  <a:lnTo>
                    <a:pt x="10417" y="210"/>
                  </a:lnTo>
                </a:path>
                <a:path w="12700" h="400" fill="none">
                  <a:moveTo>
                    <a:pt x="10447" y="306"/>
                  </a:moveTo>
                  <a:lnTo>
                    <a:pt x="10447" y="210"/>
                  </a:lnTo>
                </a:path>
                <a:path w="12700" h="400" fill="none">
                  <a:moveTo>
                    <a:pt x="10517" y="94"/>
                  </a:moveTo>
                  <a:lnTo>
                    <a:pt x="10517" y="190"/>
                  </a:lnTo>
                </a:path>
                <a:path w="12700" h="400" fill="none">
                  <a:moveTo>
                    <a:pt x="10547" y="94"/>
                  </a:moveTo>
                  <a:lnTo>
                    <a:pt x="10547" y="190"/>
                  </a:lnTo>
                </a:path>
                <a:path w="12700" h="400" fill="none">
                  <a:moveTo>
                    <a:pt x="10517" y="306"/>
                  </a:moveTo>
                  <a:lnTo>
                    <a:pt x="10517" y="210"/>
                  </a:lnTo>
                </a:path>
                <a:path w="12700" h="400" fill="none">
                  <a:moveTo>
                    <a:pt x="10547" y="306"/>
                  </a:moveTo>
                  <a:lnTo>
                    <a:pt x="10547" y="210"/>
                  </a:lnTo>
                </a:path>
                <a:path w="12700" h="400" fill="none">
                  <a:moveTo>
                    <a:pt x="10618" y="94"/>
                  </a:moveTo>
                  <a:lnTo>
                    <a:pt x="10618" y="190"/>
                  </a:lnTo>
                </a:path>
                <a:path w="12700" h="400" fill="none">
                  <a:moveTo>
                    <a:pt x="10648" y="94"/>
                  </a:moveTo>
                  <a:lnTo>
                    <a:pt x="10648" y="190"/>
                  </a:lnTo>
                </a:path>
                <a:path w="12700" h="400" fill="none">
                  <a:moveTo>
                    <a:pt x="10618" y="306"/>
                  </a:moveTo>
                  <a:lnTo>
                    <a:pt x="10618" y="210"/>
                  </a:lnTo>
                </a:path>
                <a:path w="12700" h="400" fill="none">
                  <a:moveTo>
                    <a:pt x="10648" y="306"/>
                  </a:moveTo>
                  <a:lnTo>
                    <a:pt x="10648" y="210"/>
                  </a:lnTo>
                </a:path>
                <a:path w="12700" h="400" fill="none">
                  <a:moveTo>
                    <a:pt x="10719" y="94"/>
                  </a:moveTo>
                  <a:lnTo>
                    <a:pt x="10719" y="190"/>
                  </a:lnTo>
                </a:path>
                <a:path w="12700" h="400" fill="none">
                  <a:moveTo>
                    <a:pt x="10749" y="94"/>
                  </a:moveTo>
                  <a:lnTo>
                    <a:pt x="10749" y="190"/>
                  </a:lnTo>
                </a:path>
                <a:path w="12700" h="400" fill="none">
                  <a:moveTo>
                    <a:pt x="10719" y="306"/>
                  </a:moveTo>
                  <a:lnTo>
                    <a:pt x="10719" y="210"/>
                  </a:lnTo>
                </a:path>
                <a:path w="12700" h="400" fill="none">
                  <a:moveTo>
                    <a:pt x="10749" y="306"/>
                  </a:moveTo>
                  <a:lnTo>
                    <a:pt x="10749" y="210"/>
                  </a:lnTo>
                </a:path>
                <a:path w="12700" h="400" fill="none">
                  <a:moveTo>
                    <a:pt x="10820" y="94"/>
                  </a:moveTo>
                  <a:lnTo>
                    <a:pt x="10820" y="190"/>
                  </a:lnTo>
                </a:path>
                <a:path w="12700" h="400" fill="none">
                  <a:moveTo>
                    <a:pt x="10850" y="94"/>
                  </a:moveTo>
                  <a:lnTo>
                    <a:pt x="10850" y="190"/>
                  </a:lnTo>
                </a:path>
                <a:path w="12700" h="400" fill="none">
                  <a:moveTo>
                    <a:pt x="10820" y="306"/>
                  </a:moveTo>
                  <a:lnTo>
                    <a:pt x="10820" y="210"/>
                  </a:lnTo>
                </a:path>
                <a:path w="12700" h="400" fill="none">
                  <a:moveTo>
                    <a:pt x="10850" y="306"/>
                  </a:moveTo>
                  <a:lnTo>
                    <a:pt x="10850" y="210"/>
                  </a:lnTo>
                </a:path>
                <a:path w="12700" h="400" fill="none">
                  <a:moveTo>
                    <a:pt x="10921" y="94"/>
                  </a:moveTo>
                  <a:lnTo>
                    <a:pt x="10921" y="190"/>
                  </a:lnTo>
                </a:path>
                <a:path w="12700" h="400" fill="none">
                  <a:moveTo>
                    <a:pt x="10951" y="94"/>
                  </a:moveTo>
                  <a:lnTo>
                    <a:pt x="10951" y="190"/>
                  </a:lnTo>
                </a:path>
                <a:path w="12700" h="400" fill="none">
                  <a:moveTo>
                    <a:pt x="10921" y="306"/>
                  </a:moveTo>
                  <a:lnTo>
                    <a:pt x="10921" y="210"/>
                  </a:lnTo>
                </a:path>
                <a:path w="12700" h="400" fill="none">
                  <a:moveTo>
                    <a:pt x="10951" y="306"/>
                  </a:moveTo>
                  <a:lnTo>
                    <a:pt x="10951" y="210"/>
                  </a:lnTo>
                </a:path>
                <a:path w="12700" h="400" fill="none">
                  <a:moveTo>
                    <a:pt x="11021" y="94"/>
                  </a:moveTo>
                  <a:lnTo>
                    <a:pt x="11021" y="190"/>
                  </a:lnTo>
                </a:path>
                <a:path w="12700" h="400" fill="none">
                  <a:moveTo>
                    <a:pt x="11051" y="94"/>
                  </a:moveTo>
                  <a:lnTo>
                    <a:pt x="11051" y="190"/>
                  </a:lnTo>
                </a:path>
                <a:path w="12700" h="400" fill="none">
                  <a:moveTo>
                    <a:pt x="11021" y="306"/>
                  </a:moveTo>
                  <a:lnTo>
                    <a:pt x="11021" y="210"/>
                  </a:lnTo>
                </a:path>
                <a:path w="12700" h="400" fill="none">
                  <a:moveTo>
                    <a:pt x="11051" y="306"/>
                  </a:moveTo>
                  <a:lnTo>
                    <a:pt x="11051" y="210"/>
                  </a:lnTo>
                </a:path>
                <a:path w="12700" h="400" fill="none">
                  <a:moveTo>
                    <a:pt x="11122" y="94"/>
                  </a:moveTo>
                  <a:lnTo>
                    <a:pt x="11122" y="190"/>
                  </a:lnTo>
                </a:path>
                <a:path w="12700" h="400" fill="none">
                  <a:moveTo>
                    <a:pt x="11152" y="94"/>
                  </a:moveTo>
                  <a:lnTo>
                    <a:pt x="11152" y="190"/>
                  </a:lnTo>
                </a:path>
                <a:path w="12700" h="400" fill="none">
                  <a:moveTo>
                    <a:pt x="11122" y="306"/>
                  </a:moveTo>
                  <a:lnTo>
                    <a:pt x="11122" y="210"/>
                  </a:lnTo>
                </a:path>
                <a:path w="12700" h="400" fill="none">
                  <a:moveTo>
                    <a:pt x="11152" y="306"/>
                  </a:moveTo>
                  <a:lnTo>
                    <a:pt x="11152" y="210"/>
                  </a:lnTo>
                </a:path>
                <a:path w="12700" h="400" fill="none">
                  <a:moveTo>
                    <a:pt x="11223" y="94"/>
                  </a:moveTo>
                  <a:lnTo>
                    <a:pt x="11223" y="190"/>
                  </a:lnTo>
                </a:path>
                <a:path w="12700" h="400" fill="none">
                  <a:moveTo>
                    <a:pt x="11253" y="94"/>
                  </a:moveTo>
                  <a:lnTo>
                    <a:pt x="11253" y="190"/>
                  </a:lnTo>
                </a:path>
                <a:path w="12700" h="400" fill="none">
                  <a:moveTo>
                    <a:pt x="11223" y="306"/>
                  </a:moveTo>
                  <a:lnTo>
                    <a:pt x="11223" y="210"/>
                  </a:lnTo>
                </a:path>
                <a:path w="12700" h="400" fill="none">
                  <a:moveTo>
                    <a:pt x="11253" y="306"/>
                  </a:moveTo>
                  <a:lnTo>
                    <a:pt x="11253" y="210"/>
                  </a:lnTo>
                </a:path>
                <a:path w="12700" h="400" fill="none">
                  <a:moveTo>
                    <a:pt x="11324" y="94"/>
                  </a:moveTo>
                  <a:lnTo>
                    <a:pt x="11324" y="190"/>
                  </a:lnTo>
                </a:path>
                <a:path w="12700" h="400" fill="none">
                  <a:moveTo>
                    <a:pt x="11354" y="94"/>
                  </a:moveTo>
                  <a:lnTo>
                    <a:pt x="11354" y="190"/>
                  </a:lnTo>
                </a:path>
                <a:path w="12700" h="400" fill="none">
                  <a:moveTo>
                    <a:pt x="11324" y="306"/>
                  </a:moveTo>
                  <a:lnTo>
                    <a:pt x="11324" y="210"/>
                  </a:lnTo>
                </a:path>
                <a:path w="12700" h="400" fill="none">
                  <a:moveTo>
                    <a:pt x="11354" y="306"/>
                  </a:moveTo>
                  <a:lnTo>
                    <a:pt x="11354" y="210"/>
                  </a:lnTo>
                </a:path>
                <a:path w="12700" h="400" fill="none">
                  <a:moveTo>
                    <a:pt x="11425" y="94"/>
                  </a:moveTo>
                  <a:lnTo>
                    <a:pt x="11425" y="190"/>
                  </a:lnTo>
                </a:path>
                <a:path w="12700" h="400" fill="none">
                  <a:moveTo>
                    <a:pt x="11455" y="94"/>
                  </a:moveTo>
                  <a:lnTo>
                    <a:pt x="11455" y="190"/>
                  </a:lnTo>
                </a:path>
                <a:path w="12700" h="400" fill="none">
                  <a:moveTo>
                    <a:pt x="11425" y="306"/>
                  </a:moveTo>
                  <a:lnTo>
                    <a:pt x="11425" y="210"/>
                  </a:lnTo>
                </a:path>
                <a:path w="12700" h="400" fill="none">
                  <a:moveTo>
                    <a:pt x="11455" y="306"/>
                  </a:moveTo>
                  <a:lnTo>
                    <a:pt x="11455" y="210"/>
                  </a:lnTo>
                </a:path>
                <a:path w="12700" h="400" fill="none">
                  <a:moveTo>
                    <a:pt x="11525" y="94"/>
                  </a:moveTo>
                  <a:lnTo>
                    <a:pt x="11525" y="190"/>
                  </a:lnTo>
                </a:path>
                <a:path w="12700" h="400" fill="none">
                  <a:moveTo>
                    <a:pt x="11555" y="94"/>
                  </a:moveTo>
                  <a:lnTo>
                    <a:pt x="11555" y="190"/>
                  </a:lnTo>
                </a:path>
                <a:path w="12700" h="400" fill="none">
                  <a:moveTo>
                    <a:pt x="11525" y="306"/>
                  </a:moveTo>
                  <a:lnTo>
                    <a:pt x="11525" y="210"/>
                  </a:lnTo>
                </a:path>
                <a:path w="12700" h="400" fill="none">
                  <a:moveTo>
                    <a:pt x="11555" y="306"/>
                  </a:moveTo>
                  <a:lnTo>
                    <a:pt x="11555" y="210"/>
                  </a:lnTo>
                </a:path>
                <a:path w="12700" h="400" fill="none">
                  <a:moveTo>
                    <a:pt x="11626" y="94"/>
                  </a:moveTo>
                  <a:lnTo>
                    <a:pt x="11626" y="190"/>
                  </a:lnTo>
                </a:path>
                <a:path w="12700" h="400" fill="none">
                  <a:moveTo>
                    <a:pt x="11656" y="94"/>
                  </a:moveTo>
                  <a:lnTo>
                    <a:pt x="11656" y="190"/>
                  </a:lnTo>
                </a:path>
                <a:path w="12700" h="400" fill="none">
                  <a:moveTo>
                    <a:pt x="11626" y="306"/>
                  </a:moveTo>
                  <a:lnTo>
                    <a:pt x="11626" y="210"/>
                  </a:lnTo>
                </a:path>
                <a:path w="12700" h="400" fill="none">
                  <a:moveTo>
                    <a:pt x="11656" y="306"/>
                  </a:moveTo>
                  <a:lnTo>
                    <a:pt x="11656" y="210"/>
                  </a:lnTo>
                </a:path>
                <a:path w="12700" h="400" fill="none">
                  <a:moveTo>
                    <a:pt x="11727" y="94"/>
                  </a:moveTo>
                  <a:lnTo>
                    <a:pt x="11727" y="190"/>
                  </a:lnTo>
                </a:path>
                <a:path w="12700" h="400" fill="none">
                  <a:moveTo>
                    <a:pt x="11757" y="94"/>
                  </a:moveTo>
                  <a:lnTo>
                    <a:pt x="11757" y="190"/>
                  </a:lnTo>
                </a:path>
                <a:path w="12700" h="400" fill="none">
                  <a:moveTo>
                    <a:pt x="11727" y="306"/>
                  </a:moveTo>
                  <a:lnTo>
                    <a:pt x="11727" y="210"/>
                  </a:lnTo>
                </a:path>
                <a:path w="12700" h="400" fill="none">
                  <a:moveTo>
                    <a:pt x="11757" y="306"/>
                  </a:moveTo>
                  <a:lnTo>
                    <a:pt x="11757" y="210"/>
                  </a:lnTo>
                </a:path>
                <a:path w="12700" h="400" fill="none">
                  <a:moveTo>
                    <a:pt x="11828" y="94"/>
                  </a:moveTo>
                  <a:lnTo>
                    <a:pt x="11828" y="190"/>
                  </a:lnTo>
                </a:path>
                <a:path w="12700" h="400" fill="none">
                  <a:moveTo>
                    <a:pt x="11858" y="94"/>
                  </a:moveTo>
                  <a:lnTo>
                    <a:pt x="11858" y="190"/>
                  </a:lnTo>
                </a:path>
                <a:path w="12700" h="400" fill="none">
                  <a:moveTo>
                    <a:pt x="11828" y="306"/>
                  </a:moveTo>
                  <a:lnTo>
                    <a:pt x="11828" y="210"/>
                  </a:lnTo>
                </a:path>
                <a:path w="12700" h="400" fill="none">
                  <a:moveTo>
                    <a:pt x="11858" y="306"/>
                  </a:moveTo>
                  <a:lnTo>
                    <a:pt x="11858" y="210"/>
                  </a:lnTo>
                </a:path>
                <a:path w="12700" h="400" fill="none">
                  <a:moveTo>
                    <a:pt x="11929" y="94"/>
                  </a:moveTo>
                  <a:lnTo>
                    <a:pt x="11929" y="190"/>
                  </a:lnTo>
                </a:path>
                <a:path w="12700" h="400" fill="none">
                  <a:moveTo>
                    <a:pt x="11959" y="94"/>
                  </a:moveTo>
                  <a:lnTo>
                    <a:pt x="11959" y="190"/>
                  </a:lnTo>
                </a:path>
                <a:path w="12700" h="400" fill="none">
                  <a:moveTo>
                    <a:pt x="11929" y="306"/>
                  </a:moveTo>
                  <a:lnTo>
                    <a:pt x="11929" y="210"/>
                  </a:lnTo>
                </a:path>
                <a:path w="12700" h="400" fill="none">
                  <a:moveTo>
                    <a:pt x="11959" y="306"/>
                  </a:moveTo>
                  <a:lnTo>
                    <a:pt x="11959" y="210"/>
                  </a:lnTo>
                </a:path>
                <a:path w="12700" h="400" fill="none">
                  <a:moveTo>
                    <a:pt x="12029" y="94"/>
                  </a:moveTo>
                  <a:lnTo>
                    <a:pt x="12029" y="190"/>
                  </a:lnTo>
                </a:path>
                <a:path w="12700" h="400" fill="none">
                  <a:moveTo>
                    <a:pt x="12059" y="94"/>
                  </a:moveTo>
                  <a:lnTo>
                    <a:pt x="12059" y="190"/>
                  </a:lnTo>
                </a:path>
                <a:path w="12700" h="400" fill="none">
                  <a:moveTo>
                    <a:pt x="12029" y="306"/>
                  </a:moveTo>
                  <a:lnTo>
                    <a:pt x="12029" y="210"/>
                  </a:lnTo>
                </a:path>
                <a:path w="12700" h="400" fill="none">
                  <a:moveTo>
                    <a:pt x="12059" y="306"/>
                  </a:moveTo>
                  <a:lnTo>
                    <a:pt x="12059" y="210"/>
                  </a:lnTo>
                </a:path>
                <a:path w="12700" h="400" fill="none">
                  <a:moveTo>
                    <a:pt x="12130" y="94"/>
                  </a:moveTo>
                  <a:lnTo>
                    <a:pt x="12130" y="190"/>
                  </a:lnTo>
                </a:path>
                <a:path w="12700" h="400" fill="none">
                  <a:moveTo>
                    <a:pt x="12160" y="94"/>
                  </a:moveTo>
                  <a:lnTo>
                    <a:pt x="12160" y="190"/>
                  </a:lnTo>
                </a:path>
                <a:path w="12700" h="400" fill="none">
                  <a:moveTo>
                    <a:pt x="12130" y="306"/>
                  </a:moveTo>
                  <a:lnTo>
                    <a:pt x="12130" y="210"/>
                  </a:lnTo>
                </a:path>
                <a:path w="12700" h="400" fill="none">
                  <a:moveTo>
                    <a:pt x="12160" y="306"/>
                  </a:moveTo>
                  <a:lnTo>
                    <a:pt x="12160" y="210"/>
                  </a:lnTo>
                </a:path>
                <a:path w="12700" h="400" fill="none">
                  <a:moveTo>
                    <a:pt x="12231" y="94"/>
                  </a:moveTo>
                  <a:lnTo>
                    <a:pt x="12231" y="190"/>
                  </a:lnTo>
                </a:path>
                <a:path w="12700" h="400" fill="none">
                  <a:moveTo>
                    <a:pt x="12261" y="94"/>
                  </a:moveTo>
                  <a:lnTo>
                    <a:pt x="12261" y="190"/>
                  </a:lnTo>
                </a:path>
                <a:path w="12700" h="400" fill="none">
                  <a:moveTo>
                    <a:pt x="12231" y="306"/>
                  </a:moveTo>
                  <a:lnTo>
                    <a:pt x="12231" y="210"/>
                  </a:lnTo>
                </a:path>
                <a:path w="12700" h="400" fill="none">
                  <a:moveTo>
                    <a:pt x="12261" y="306"/>
                  </a:moveTo>
                  <a:lnTo>
                    <a:pt x="12261" y="210"/>
                  </a:lnTo>
                </a:path>
                <a:path w="12700" h="400" fill="none">
                  <a:moveTo>
                    <a:pt x="12332" y="94"/>
                  </a:moveTo>
                  <a:lnTo>
                    <a:pt x="12332" y="190"/>
                  </a:lnTo>
                </a:path>
                <a:path w="12700" h="400" fill="none">
                  <a:moveTo>
                    <a:pt x="12362" y="94"/>
                  </a:moveTo>
                  <a:lnTo>
                    <a:pt x="12362" y="190"/>
                  </a:lnTo>
                </a:path>
                <a:path w="12700" h="400" fill="none">
                  <a:moveTo>
                    <a:pt x="12332" y="306"/>
                  </a:moveTo>
                  <a:lnTo>
                    <a:pt x="12332" y="210"/>
                  </a:lnTo>
                </a:path>
                <a:path w="12700" h="400" fill="none">
                  <a:moveTo>
                    <a:pt x="12362" y="306"/>
                  </a:moveTo>
                  <a:lnTo>
                    <a:pt x="12362" y="210"/>
                  </a:lnTo>
                </a:path>
                <a:path w="12700" h="400" fill="none">
                  <a:moveTo>
                    <a:pt x="12433" y="94"/>
                  </a:moveTo>
                  <a:lnTo>
                    <a:pt x="12433" y="190"/>
                  </a:lnTo>
                </a:path>
                <a:path w="12700" h="400" fill="none">
                  <a:moveTo>
                    <a:pt x="12463" y="94"/>
                  </a:moveTo>
                  <a:lnTo>
                    <a:pt x="12463" y="190"/>
                  </a:lnTo>
                </a:path>
                <a:path w="12700" h="400" fill="none">
                  <a:moveTo>
                    <a:pt x="12433" y="306"/>
                  </a:moveTo>
                  <a:lnTo>
                    <a:pt x="12433" y="210"/>
                  </a:lnTo>
                </a:path>
                <a:path w="12700" h="400" fill="none">
                  <a:moveTo>
                    <a:pt x="12463" y="306"/>
                  </a:moveTo>
                  <a:lnTo>
                    <a:pt x="12463" y="210"/>
                  </a:lnTo>
                </a:path>
                <a:path w="12700" h="400" fill="none">
                  <a:moveTo>
                    <a:pt x="12533" y="94"/>
                  </a:moveTo>
                  <a:lnTo>
                    <a:pt x="12533" y="190"/>
                  </a:lnTo>
                </a:path>
                <a:path w="12700" h="400" fill="none">
                  <a:moveTo>
                    <a:pt x="12563" y="94"/>
                  </a:moveTo>
                  <a:lnTo>
                    <a:pt x="12563" y="190"/>
                  </a:lnTo>
                </a:path>
                <a:path w="12700" h="400" fill="none">
                  <a:moveTo>
                    <a:pt x="12533" y="306"/>
                  </a:moveTo>
                  <a:lnTo>
                    <a:pt x="12533" y="210"/>
                  </a:lnTo>
                </a:path>
                <a:path w="12700" h="400" fill="none">
                  <a:moveTo>
                    <a:pt x="12563" y="306"/>
                  </a:moveTo>
                  <a:lnTo>
                    <a:pt x="12563" y="210"/>
                  </a:lnTo>
                </a:path>
                <a:path w="12700" h="400" fill="none">
                  <a:moveTo>
                    <a:pt x="12634" y="94"/>
                  </a:moveTo>
                  <a:lnTo>
                    <a:pt x="12634" y="190"/>
                  </a:lnTo>
                </a:path>
                <a:path w="12700" h="400" fill="none">
                  <a:moveTo>
                    <a:pt x="12664" y="94"/>
                  </a:moveTo>
                  <a:lnTo>
                    <a:pt x="12664" y="190"/>
                  </a:lnTo>
                </a:path>
                <a:path w="12700" h="400" fill="none">
                  <a:moveTo>
                    <a:pt x="12634" y="306"/>
                  </a:moveTo>
                  <a:lnTo>
                    <a:pt x="12634" y="210"/>
                  </a:lnTo>
                </a:path>
                <a:path w="12700" h="400" fill="none">
                  <a:moveTo>
                    <a:pt x="12664" y="306"/>
                  </a:moveTo>
                  <a:lnTo>
                    <a:pt x="12664" y="210"/>
                  </a:lnTo>
                </a:path>
              </a:pathLst>
            </a:custGeom>
            <a:noFill/>
            <a:ln w="9525" cap="rnd">
              <a:solidFill>
                <a:srgbClr val="A49887"/>
              </a:solidFill>
              <a:round/>
            </a:ln>
          </p:spPr>
        </p:sp>
      </p:grpSp>
      <p:grpSp>
        <p:nvGrpSpPr>
          <p:cNvPr id="8" name="!!Receptor de insulina"/>
          <p:cNvGrpSpPr/>
          <p:nvPr/>
        </p:nvGrpSpPr>
        <p:grpSpPr>
          <a:xfrm>
            <a:off x="685800" y="907542"/>
            <a:ext cx="802386" cy="1668780"/>
            <a:chOff x="685800" y="907542"/>
            <a:chExt cx="802386" cy="1668780"/>
          </a:xfrm>
        </p:grpSpPr>
        <p:sp>
          <p:nvSpPr>
            <p:cNvPr id="9" name="Forma 8"/>
            <p:cNvSpPr/>
            <p:nvPr/>
          </p:nvSpPr>
          <p:spPr>
            <a:xfrm>
              <a:off x="685800" y="907542"/>
              <a:ext cx="377190" cy="65151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0" name="Forma 9"/>
            <p:cNvSpPr/>
            <p:nvPr/>
          </p:nvSpPr>
          <p:spPr>
            <a:xfrm flipH="1">
              <a:off x="1110996" y="907542"/>
              <a:ext cx="377190" cy="651510"/>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1" name="Forma 10"/>
            <p:cNvSpPr/>
            <p:nvPr/>
          </p:nvSpPr>
          <p:spPr>
            <a:xfrm>
              <a:off x="822960" y="1545336"/>
              <a:ext cx="109728" cy="530352"/>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2" name="Forma 11"/>
            <p:cNvSpPr/>
            <p:nvPr/>
          </p:nvSpPr>
          <p:spPr>
            <a:xfrm>
              <a:off x="740664" y="2061972"/>
              <a:ext cx="274320" cy="51435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3" name="Forma 12"/>
            <p:cNvSpPr/>
            <p:nvPr/>
          </p:nvSpPr>
          <p:spPr>
            <a:xfrm>
              <a:off x="1179576" y="1545336"/>
              <a:ext cx="109728" cy="530352"/>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4" name="Forma 13"/>
            <p:cNvSpPr/>
            <p:nvPr/>
          </p:nvSpPr>
          <p:spPr>
            <a:xfrm>
              <a:off x="1097280" y="2061972"/>
              <a:ext cx="274320" cy="51435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5" name="Forma 14"/>
            <p:cNvSpPr/>
            <p:nvPr/>
          </p:nvSpPr>
          <p:spPr>
            <a:xfrm>
              <a:off x="925830" y="1408176"/>
              <a:ext cx="274320" cy="68580"/>
            </a:xfrm>
            <a:prstGeom prst="rect">
              <a:avLst/>
            </a:prstGeom>
            <a:solidFill>
              <a:srgbClr val="1B4F72"/>
            </a:solidFill>
            <a:ln>
              <a:noFill/>
            </a:ln>
          </p:spPr>
        </p:sp>
      </p:grpSp>
      <p:sp>
        <p:nvSpPr>
          <p:cNvPr id="16" name="!!Insulina portal 0"/>
          <p:cNvSpPr/>
          <p:nvPr/>
        </p:nvSpPr>
        <p:spPr>
          <a:xfrm>
            <a:off x="868680" y="685800"/>
            <a:ext cx="384048" cy="384048"/>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Ins</a:t>
            </a:r>
            <a:endParaRPr lang="es-AR" sz="1092" dirty="0">
              <a:latin typeface="Bahnschrift SemiBold Condensed"/>
            </a:endParaRPr>
          </a:p>
        </p:txBody>
      </p:sp>
      <p:sp>
        <p:nvSpPr>
          <p:cNvPr id="17" name="IRS"/>
          <p:cNvSpPr/>
          <p:nvPr/>
        </p:nvSpPr>
        <p:spPr>
          <a:xfrm>
            <a:off x="1783080" y="2240280"/>
            <a:ext cx="1097280" cy="457200"/>
          </a:xfrm>
          <a:prstGeom prst="roundRect">
            <a:avLst/>
          </a:prstGeom>
          <a:gradFill rotWithShape="1">
            <a:gsLst>
              <a:gs pos="0">
                <a:srgbClr val="F9CF8D"/>
              </a:gs>
              <a:gs pos="55000">
                <a:srgbClr val="F5B041"/>
              </a:gs>
              <a:gs pos="100000">
                <a:srgbClr val="C48C34"/>
              </a:gs>
            </a:gsLst>
            <a:path path="circle">
              <a:fillToRect l="32000" t="28000" r="68000" b="72000"/>
            </a:path>
          </a:gradFill>
          <a:ln w="15875" cap="rnd">
            <a:solidFill>
              <a:srgbClr val="9C640C"/>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IRS</a:t>
            </a:r>
            <a:endParaRPr lang="es-AR" sz="1400" dirty="0">
              <a:latin typeface="Bahnschrift SemiBold Condensed"/>
            </a:endParaRPr>
          </a:p>
        </p:txBody>
      </p:sp>
      <p:sp>
        <p:nvSpPr>
          <p:cNvPr id="18" name="PI3K"/>
          <p:cNvSpPr/>
          <p:nvPr/>
        </p:nvSpPr>
        <p:spPr>
          <a:xfrm>
            <a:off x="3246120" y="2240280"/>
            <a:ext cx="1097280" cy="457200"/>
          </a:xfrm>
          <a:prstGeom prst="roundRect">
            <a:avLst/>
          </a:prstGeom>
          <a:gradFill rotWithShape="1">
            <a:gsLst>
              <a:gs pos="0">
                <a:srgbClr val="B5D9F1"/>
              </a:gs>
              <a:gs pos="55000">
                <a:srgbClr val="85C1E9"/>
              </a:gs>
              <a:gs pos="100000">
                <a:srgbClr val="6A9ABA"/>
              </a:gs>
            </a:gsLst>
            <a:path path="circle">
              <a:fillToRect l="32000" t="28000" r="68000" b="72000"/>
            </a:path>
          </a:gradFill>
          <a:ln w="15875" cap="rnd">
            <a:solidFill>
              <a:srgbClr val="1F618D"/>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PI3K</a:t>
            </a:r>
            <a:endParaRPr lang="es-AR" sz="1400" dirty="0">
              <a:latin typeface="Bahnschrift SemiBold Condensed"/>
            </a:endParaRPr>
          </a:p>
        </p:txBody>
      </p:sp>
      <p:sp>
        <p:nvSpPr>
          <p:cNvPr id="19" name="PIP3"/>
          <p:cNvSpPr/>
          <p:nvPr/>
        </p:nvSpPr>
        <p:spPr>
          <a:xfrm>
            <a:off x="3154680" y="1280160"/>
            <a:ext cx="932312" cy="246062"/>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PIP</a:t>
            </a:r>
            <a:r>
              <a:rPr lang="es-AR" sz="1250" b="1" baseline="-25000" dirty="0">
                <a:solidFill>
                  <a:srgbClr val="1E1E1E"/>
                </a:solidFill>
                <a:latin typeface="Bahnschrift SemiBold Condensed"/>
                <a:ea typeface="Bahnschrift SemiBold Condensed"/>
                <a:cs typeface="Bahnschrift SemiBold Condensed"/>
                <a:sym typeface="Bahnschrift SemiBold Condensed"/>
              </a:rPr>
              <a:t>2</a:t>
            </a:r>
            <a:r>
              <a:rPr lang="es-AR" sz="1250" b="1" dirty="0">
                <a:solidFill>
                  <a:srgbClr val="1E1E1E"/>
                </a:solidFill>
                <a:latin typeface="Bahnschrift SemiBold Condensed"/>
                <a:ea typeface="Bahnschrift SemiBold Condensed"/>
                <a:cs typeface="Bahnschrift SemiBold Condensed"/>
                <a:sym typeface="Bahnschrift SemiBold Condensed"/>
              </a:rPr>
              <a:t> → PIP</a:t>
            </a:r>
            <a:r>
              <a:rPr lang="es-AR" sz="1250" b="1" baseline="-25000" dirty="0">
                <a:solidFill>
                  <a:srgbClr val="1E1E1E"/>
                </a:solidFill>
                <a:latin typeface="Bahnschrift SemiBold Condensed"/>
                <a:ea typeface="Bahnschrift SemiBold Condensed"/>
                <a:cs typeface="Bahnschrift SemiBold Condensed"/>
                <a:sym typeface="Bahnschrift SemiBold Condensed"/>
              </a:rPr>
              <a:t>3</a:t>
            </a:r>
            <a:endParaRPr lang="es-AR" sz="1250" dirty="0">
              <a:latin typeface="Bahnschrift SemiBold Condensed"/>
            </a:endParaRPr>
          </a:p>
        </p:txBody>
      </p:sp>
      <p:sp>
        <p:nvSpPr>
          <p:cNvPr id="20" name="PDK1"/>
          <p:cNvSpPr/>
          <p:nvPr/>
        </p:nvSpPr>
        <p:spPr>
          <a:xfrm>
            <a:off x="4754880" y="2240280"/>
            <a:ext cx="1097280" cy="457200"/>
          </a:xfrm>
          <a:prstGeom prst="roundRect">
            <a:avLst/>
          </a:prstGeom>
          <a:gradFill rotWithShape="1">
            <a:gsLst>
              <a:gs pos="0">
                <a:srgbClr val="D6BBE1"/>
              </a:gs>
              <a:gs pos="55000">
                <a:srgbClr val="BB8FCE"/>
              </a:gs>
              <a:gs pos="100000">
                <a:srgbClr val="9572A4"/>
              </a:gs>
            </a:gsLst>
            <a:path path="circle">
              <a:fillToRect l="32000" t="28000" r="68000" b="72000"/>
            </a:path>
          </a:gradFill>
          <a:ln w="15875" cap="rnd">
            <a:solidFill>
              <a:srgbClr val="6C3483"/>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PDK1</a:t>
            </a:r>
            <a:endParaRPr lang="es-AR" sz="1400" dirty="0">
              <a:latin typeface="Bahnschrift SemiBold Condensed"/>
            </a:endParaRPr>
          </a:p>
        </p:txBody>
      </p:sp>
      <p:sp>
        <p:nvSpPr>
          <p:cNvPr id="21" name="Akt"/>
          <p:cNvSpPr/>
          <p:nvPr/>
        </p:nvSpPr>
        <p:spPr>
          <a:xfrm>
            <a:off x="6263640" y="2148840"/>
            <a:ext cx="1371600" cy="640080"/>
          </a:xfrm>
          <a:prstGeom prst="roundRect">
            <a:avLst/>
          </a:prstGeom>
          <a:gradFill rotWithShape="1">
            <a:gsLst>
              <a:gs pos="0">
                <a:srgbClr val="9AE6BA"/>
              </a:gs>
              <a:gs pos="55000">
                <a:srgbClr val="58D68D"/>
              </a:gs>
              <a:gs pos="100000">
                <a:srgbClr val="42A069"/>
              </a:gs>
            </a:gsLst>
            <a:path path="circle">
              <a:fillToRect l="32000" t="28000" r="68000" b="72000"/>
            </a:path>
          </a:gradFill>
          <a:ln w="190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Akt (PKB)</a:t>
            </a:r>
            <a:endParaRPr lang="es-AR" sz="1600" dirty="0">
              <a:latin typeface="Bahnschrift SemiBold Condensed"/>
            </a:endParaRPr>
          </a:p>
        </p:txBody>
      </p:sp>
      <p:sp>
        <p:nvSpPr>
          <p:cNvPr id="22" name="Flecha 21_2"/>
          <p:cNvSpPr/>
          <p:nvPr/>
        </p:nvSpPr>
        <p:spPr>
          <a:xfrm>
            <a:off x="2880360" y="2468880"/>
            <a:ext cx="347472" cy="9144"/>
          </a:xfrm>
          <a:custGeom>
            <a:avLst/>
            <a:gdLst/>
            <a:ahLst/>
            <a:cxnLst/>
            <a:rect l="0" t="0" r="r" b="b"/>
            <a:pathLst>
              <a:path w="379" h="10" fill="none">
                <a:moveTo>
                  <a:pt x="0" y="0"/>
                </a:moveTo>
                <a:lnTo>
                  <a:pt x="379" y="0"/>
                </a:lnTo>
              </a:path>
            </a:pathLst>
          </a:custGeom>
          <a:noFill/>
          <a:ln w="31750" cap="rnd">
            <a:solidFill>
              <a:srgbClr val="1E8C3A"/>
            </a:solidFill>
            <a:round/>
            <a:tailEnd type="triangle" w="med" len="med"/>
          </a:ln>
        </p:spPr>
      </p:sp>
      <p:sp>
        <p:nvSpPr>
          <p:cNvPr id="23" name="Flecha 23_2"/>
          <p:cNvSpPr/>
          <p:nvPr/>
        </p:nvSpPr>
        <p:spPr>
          <a:xfrm>
            <a:off x="3657600" y="1691640"/>
            <a:ext cx="137160" cy="548640"/>
          </a:xfrm>
          <a:custGeom>
            <a:avLst/>
            <a:gdLst/>
            <a:ahLst/>
            <a:cxnLst/>
            <a:rect l="0" t="0" r="r" b="b"/>
            <a:pathLst>
              <a:path w="150" h="600" fill="none">
                <a:moveTo>
                  <a:pt x="150" y="600"/>
                </a:moveTo>
                <a:lnTo>
                  <a:pt x="0" y="0"/>
                </a:lnTo>
              </a:path>
            </a:pathLst>
          </a:custGeom>
          <a:noFill/>
          <a:ln w="31750" cap="rnd">
            <a:solidFill>
              <a:srgbClr val="1E8C3A"/>
            </a:solidFill>
            <a:round/>
            <a:tailEnd type="triangle" w="med" len="med"/>
          </a:ln>
        </p:spPr>
      </p:sp>
      <p:sp>
        <p:nvSpPr>
          <p:cNvPr id="24" name="Flecha 25_2"/>
          <p:cNvSpPr/>
          <p:nvPr/>
        </p:nvSpPr>
        <p:spPr>
          <a:xfrm>
            <a:off x="4361688" y="2468880"/>
            <a:ext cx="374904" cy="9144"/>
          </a:xfrm>
          <a:custGeom>
            <a:avLst/>
            <a:gdLst/>
            <a:ahLst/>
            <a:cxnLst/>
            <a:rect l="0" t="0" r="r" b="b"/>
            <a:pathLst>
              <a:path w="410" h="10" fill="none">
                <a:moveTo>
                  <a:pt x="0" y="0"/>
                </a:moveTo>
                <a:lnTo>
                  <a:pt x="410" y="0"/>
                </a:lnTo>
              </a:path>
            </a:pathLst>
          </a:custGeom>
          <a:noFill/>
          <a:ln w="31750" cap="rnd">
            <a:solidFill>
              <a:srgbClr val="1E8C3A"/>
            </a:solidFill>
            <a:round/>
            <a:tailEnd type="triangle" w="med" len="med"/>
          </a:ln>
        </p:spPr>
      </p:sp>
      <p:sp>
        <p:nvSpPr>
          <p:cNvPr id="25" name="Flecha 27_2"/>
          <p:cNvSpPr/>
          <p:nvPr/>
        </p:nvSpPr>
        <p:spPr>
          <a:xfrm>
            <a:off x="5870448" y="2468880"/>
            <a:ext cx="374904" cy="9144"/>
          </a:xfrm>
          <a:custGeom>
            <a:avLst/>
            <a:gdLst/>
            <a:ahLst/>
            <a:cxnLst/>
            <a:rect l="0" t="0" r="r" b="b"/>
            <a:pathLst>
              <a:path w="410" h="10" fill="none">
                <a:moveTo>
                  <a:pt x="0" y="0"/>
                </a:moveTo>
                <a:lnTo>
                  <a:pt x="410" y="0"/>
                </a:lnTo>
              </a:path>
            </a:pathLst>
          </a:custGeom>
          <a:noFill/>
          <a:ln w="31750" cap="rnd">
            <a:solidFill>
              <a:srgbClr val="1E8C3A"/>
            </a:solidFill>
            <a:round/>
            <a:tailEnd type="triangle" w="med" len="med"/>
          </a:ln>
        </p:spPr>
      </p:sp>
      <p:grpSp>
        <p:nvGrpSpPr>
          <p:cNvPr id="26" name="Blanco Akt 0"/>
          <p:cNvGrpSpPr/>
          <p:nvPr/>
        </p:nvGrpSpPr>
        <p:grpSpPr>
          <a:xfrm>
            <a:off x="7653528" y="2103120"/>
            <a:ext cx="4187952" cy="804672"/>
            <a:chOff x="7653528" y="2103120"/>
            <a:chExt cx="4187952" cy="804672"/>
          </a:xfrm>
        </p:grpSpPr>
        <p:sp>
          <p:nvSpPr>
            <p:cNvPr id="27" name="Flecha 30_2"/>
            <p:cNvSpPr/>
            <p:nvPr/>
          </p:nvSpPr>
          <p:spPr>
            <a:xfrm>
              <a:off x="7653528" y="2468880"/>
              <a:ext cx="320040" cy="18288"/>
            </a:xfrm>
            <a:custGeom>
              <a:avLst/>
              <a:gdLst/>
              <a:ahLst/>
              <a:cxnLst/>
              <a:rect l="0" t="0" r="r" b="b"/>
              <a:pathLst>
                <a:path w="350" h="19" fill="none">
                  <a:moveTo>
                    <a:pt x="0" y="0"/>
                  </a:moveTo>
                  <a:lnTo>
                    <a:pt x="350" y="19"/>
                  </a:lnTo>
                </a:path>
              </a:pathLst>
            </a:custGeom>
            <a:noFill/>
            <a:ln w="25400" cap="rnd">
              <a:solidFill>
                <a:srgbClr val="1E8C3A"/>
              </a:solidFill>
              <a:round/>
              <a:tailEnd type="triangle" w="med" len="med"/>
            </a:ln>
          </p:spPr>
        </p:sp>
        <p:sp>
          <p:nvSpPr>
            <p:cNvPr id="28" name="Forma 32"/>
            <p:cNvSpPr/>
            <p:nvPr/>
          </p:nvSpPr>
          <p:spPr>
            <a:xfrm>
              <a:off x="8001000" y="2103120"/>
              <a:ext cx="3840480" cy="804672"/>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dirty="0">
                  <a:solidFill>
                    <a:srgbClr val="1E1E1E"/>
                  </a:solidFill>
                  <a:latin typeface="Bahnschrift"/>
                  <a:ea typeface="Bahnschrift"/>
                  <a:cs typeface="Bahnschrift"/>
                  <a:sym typeface="Bahnschrift"/>
                </a:rPr>
                <a:t>AS160 → </a:t>
              </a:r>
              <a:r>
                <a:rPr lang="es-AR" sz="1300" b="1" dirty="0">
                  <a:solidFill>
                    <a:srgbClr val="1E1E1E"/>
                  </a:solidFill>
                  <a:latin typeface="Bahnschrift"/>
                  <a:ea typeface="Bahnschrift"/>
                  <a:cs typeface="Bahnschrift"/>
                  <a:sym typeface="Bahnschrift"/>
                </a:rPr>
                <a:t>GLUT4</a:t>
              </a:r>
              <a:r>
                <a:rPr lang="es-AR" sz="1300" dirty="0">
                  <a:solidFill>
                    <a:srgbClr val="1E1E1E"/>
                  </a:solidFill>
                  <a:latin typeface="Bahnschrift"/>
                  <a:ea typeface="Bahnschrift"/>
                  <a:cs typeface="Bahnschrift"/>
                  <a:sym typeface="Bahnschrift"/>
                </a:rPr>
                <a:t> a membrana</a:t>
              </a:r>
              <a:endParaRPr lang="es-AR" sz="1300" dirty="0">
                <a:latin typeface="Bahnschrift"/>
              </a:endParaRPr>
            </a:p>
            <a:p>
              <a:pPr algn="l">
                <a:spcAft>
                  <a:spcPts val="400"/>
                </a:spcAft>
                <a:buNone/>
              </a:pPr>
              <a:r>
                <a:rPr lang="es-AR" sz="1300" i="1" dirty="0">
                  <a:solidFill>
                    <a:srgbClr val="1E1E1E"/>
                  </a:solidFill>
                  <a:latin typeface="Bahnschrift"/>
                  <a:ea typeface="Bahnschrift"/>
                  <a:cs typeface="Bahnschrift"/>
                  <a:sym typeface="Bahnschrift"/>
                </a:rPr>
                <a:t>Músculo y adiposo: ↑ captación</a:t>
              </a:r>
              <a:endParaRPr lang="es-AR" sz="1300" dirty="0">
                <a:latin typeface="Bahnschrift"/>
              </a:endParaRPr>
            </a:p>
          </p:txBody>
        </p:sp>
      </p:grpSp>
      <p:grpSp>
        <p:nvGrpSpPr>
          <p:cNvPr id="29" name="Blanco Akt 1"/>
          <p:cNvGrpSpPr/>
          <p:nvPr/>
        </p:nvGrpSpPr>
        <p:grpSpPr>
          <a:xfrm>
            <a:off x="7653528" y="2468880"/>
            <a:ext cx="4187952" cy="1335024"/>
            <a:chOff x="7653528" y="2468880"/>
            <a:chExt cx="4187952" cy="1335024"/>
          </a:xfrm>
        </p:grpSpPr>
        <p:sp>
          <p:nvSpPr>
            <p:cNvPr id="30" name="Flecha 34_2"/>
            <p:cNvSpPr/>
            <p:nvPr/>
          </p:nvSpPr>
          <p:spPr>
            <a:xfrm>
              <a:off x="7653528" y="2468880"/>
              <a:ext cx="320040" cy="914400"/>
            </a:xfrm>
            <a:custGeom>
              <a:avLst/>
              <a:gdLst/>
              <a:ahLst/>
              <a:cxnLst/>
              <a:rect l="0" t="0" r="r" b="b"/>
              <a:pathLst>
                <a:path w="350" h="999" fill="none">
                  <a:moveTo>
                    <a:pt x="0" y="0"/>
                  </a:moveTo>
                  <a:lnTo>
                    <a:pt x="350" y="999"/>
                  </a:lnTo>
                </a:path>
              </a:pathLst>
            </a:custGeom>
            <a:noFill/>
            <a:ln w="25400" cap="rnd">
              <a:solidFill>
                <a:srgbClr val="1E8C3A"/>
              </a:solidFill>
              <a:round/>
              <a:tailEnd type="triangle" w="med" len="med"/>
            </a:ln>
          </p:spPr>
        </p:sp>
        <p:sp>
          <p:nvSpPr>
            <p:cNvPr id="31" name="Forma 36"/>
            <p:cNvSpPr/>
            <p:nvPr/>
          </p:nvSpPr>
          <p:spPr>
            <a:xfrm>
              <a:off x="8001000" y="2999232"/>
              <a:ext cx="3840480" cy="804672"/>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b="1" dirty="0">
                  <a:solidFill>
                    <a:srgbClr val="1E1E1E"/>
                  </a:solidFill>
                  <a:latin typeface="Bahnschrift"/>
                  <a:ea typeface="Bahnschrift"/>
                  <a:cs typeface="Bahnschrift"/>
                  <a:sym typeface="Bahnschrift"/>
                </a:rPr>
                <a:t>GSK3</a:t>
              </a:r>
              <a:r>
                <a:rPr lang="es-AR" sz="1300" dirty="0">
                  <a:solidFill>
                    <a:srgbClr val="1E1E1E"/>
                  </a:solidFill>
                  <a:latin typeface="Bahnschrift"/>
                  <a:ea typeface="Bahnschrift"/>
                  <a:cs typeface="Bahnschrift"/>
                  <a:sym typeface="Bahnschrift"/>
                </a:rPr>
                <a:t> inhibida → glucógeno sintasa activa</a:t>
              </a:r>
              <a:endParaRPr lang="es-AR" sz="1300" dirty="0">
                <a:latin typeface="Bahnschrift"/>
              </a:endParaRPr>
            </a:p>
            <a:p>
              <a:pPr algn="l">
                <a:spcAft>
                  <a:spcPts val="400"/>
                </a:spcAft>
                <a:buNone/>
              </a:pPr>
              <a:r>
                <a:rPr lang="es-AR" sz="1300" i="1" dirty="0">
                  <a:solidFill>
                    <a:srgbClr val="1E1E1E"/>
                  </a:solidFill>
                  <a:latin typeface="Bahnschrift"/>
                  <a:ea typeface="Bahnschrift"/>
                  <a:cs typeface="Bahnschrift"/>
                  <a:sym typeface="Bahnschrift"/>
                </a:rPr>
                <a:t>↑ glucogenogénesis</a:t>
              </a:r>
              <a:endParaRPr lang="es-AR" sz="1300" dirty="0">
                <a:latin typeface="Bahnschrift"/>
              </a:endParaRPr>
            </a:p>
          </p:txBody>
        </p:sp>
      </p:grpSp>
      <p:grpSp>
        <p:nvGrpSpPr>
          <p:cNvPr id="32" name="Blanco Akt 2"/>
          <p:cNvGrpSpPr/>
          <p:nvPr/>
        </p:nvGrpSpPr>
        <p:grpSpPr>
          <a:xfrm>
            <a:off x="7653528" y="2468880"/>
            <a:ext cx="4187952" cy="2231136"/>
            <a:chOff x="7653528" y="2468880"/>
            <a:chExt cx="4187952" cy="2231136"/>
          </a:xfrm>
        </p:grpSpPr>
        <p:sp>
          <p:nvSpPr>
            <p:cNvPr id="33" name="Flecha 38_2"/>
            <p:cNvSpPr/>
            <p:nvPr/>
          </p:nvSpPr>
          <p:spPr>
            <a:xfrm>
              <a:off x="7653528" y="2468880"/>
              <a:ext cx="320040" cy="1810512"/>
            </a:xfrm>
            <a:custGeom>
              <a:avLst/>
              <a:gdLst/>
              <a:ahLst/>
              <a:cxnLst/>
              <a:rect l="0" t="0" r="r" b="b"/>
              <a:pathLst>
                <a:path w="350" h="1979" fill="none">
                  <a:moveTo>
                    <a:pt x="0" y="0"/>
                  </a:moveTo>
                  <a:lnTo>
                    <a:pt x="350" y="1979"/>
                  </a:lnTo>
                </a:path>
              </a:pathLst>
            </a:custGeom>
            <a:noFill/>
            <a:ln w="25400" cap="rnd">
              <a:solidFill>
                <a:srgbClr val="1E8C3A"/>
              </a:solidFill>
              <a:round/>
              <a:tailEnd type="triangle" w="med" len="med"/>
            </a:ln>
          </p:spPr>
        </p:sp>
        <p:sp>
          <p:nvSpPr>
            <p:cNvPr id="34" name="Forma 40"/>
            <p:cNvSpPr/>
            <p:nvPr/>
          </p:nvSpPr>
          <p:spPr>
            <a:xfrm>
              <a:off x="8001000" y="3895344"/>
              <a:ext cx="3840480" cy="804672"/>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b="1" dirty="0">
                  <a:solidFill>
                    <a:srgbClr val="1E1E1E"/>
                  </a:solidFill>
                  <a:latin typeface="Bahnschrift"/>
                  <a:ea typeface="Bahnschrift"/>
                  <a:cs typeface="Bahnschrift"/>
                  <a:sym typeface="Bahnschrift"/>
                </a:rPr>
                <a:t>FOXO1</a:t>
              </a:r>
              <a:r>
                <a:rPr lang="es-AR" sz="1300" dirty="0">
                  <a:solidFill>
                    <a:srgbClr val="1E1E1E"/>
                  </a:solidFill>
                  <a:latin typeface="Bahnschrift"/>
                  <a:ea typeface="Bahnschrift"/>
                  <a:cs typeface="Bahnschrift"/>
                  <a:sym typeface="Bahnschrift"/>
                </a:rPr>
                <a:t> fosforilado → sale del núcleo</a:t>
              </a:r>
              <a:endParaRPr lang="es-AR" sz="1300" dirty="0">
                <a:latin typeface="Bahnschrift"/>
              </a:endParaRPr>
            </a:p>
            <a:p>
              <a:pPr algn="l">
                <a:spcAft>
                  <a:spcPts val="400"/>
                </a:spcAft>
                <a:buNone/>
              </a:pPr>
              <a:r>
                <a:rPr lang="es-AR" sz="1300" i="1" dirty="0">
                  <a:solidFill>
                    <a:srgbClr val="1E1E1E"/>
                  </a:solidFill>
                  <a:latin typeface="Bahnschrift"/>
                  <a:ea typeface="Bahnschrift"/>
                  <a:cs typeface="Bahnschrift"/>
                  <a:sym typeface="Bahnschrift"/>
                </a:rPr>
                <a:t>↓ PCK1 y G6PC</a:t>
              </a:r>
              <a:endParaRPr lang="es-AR" sz="1300" dirty="0">
                <a:latin typeface="Bahnschrift"/>
              </a:endParaRPr>
            </a:p>
          </p:txBody>
        </p:sp>
      </p:grpSp>
      <p:grpSp>
        <p:nvGrpSpPr>
          <p:cNvPr id="35" name="Blanco Akt 3"/>
          <p:cNvGrpSpPr/>
          <p:nvPr/>
        </p:nvGrpSpPr>
        <p:grpSpPr>
          <a:xfrm>
            <a:off x="7653528" y="2468880"/>
            <a:ext cx="4187952" cy="3127248"/>
            <a:chOff x="7653528" y="2468880"/>
            <a:chExt cx="4187952" cy="3127248"/>
          </a:xfrm>
        </p:grpSpPr>
        <p:sp>
          <p:nvSpPr>
            <p:cNvPr id="36" name="Flecha 42_2"/>
            <p:cNvSpPr/>
            <p:nvPr/>
          </p:nvSpPr>
          <p:spPr>
            <a:xfrm>
              <a:off x="7653528" y="2468880"/>
              <a:ext cx="320040" cy="2706624"/>
            </a:xfrm>
            <a:custGeom>
              <a:avLst/>
              <a:gdLst/>
              <a:ahLst/>
              <a:cxnLst/>
              <a:rect l="0" t="0" r="r" b="b"/>
              <a:pathLst>
                <a:path w="350" h="2960" fill="none">
                  <a:moveTo>
                    <a:pt x="0" y="0"/>
                  </a:moveTo>
                  <a:lnTo>
                    <a:pt x="350" y="2960"/>
                  </a:lnTo>
                </a:path>
              </a:pathLst>
            </a:custGeom>
            <a:noFill/>
            <a:ln w="25400" cap="rnd">
              <a:solidFill>
                <a:srgbClr val="1E8C3A"/>
              </a:solidFill>
              <a:round/>
              <a:tailEnd type="triangle" w="med" len="med"/>
            </a:ln>
          </p:spPr>
        </p:sp>
        <p:sp>
          <p:nvSpPr>
            <p:cNvPr id="37" name="Forma 44"/>
            <p:cNvSpPr/>
            <p:nvPr/>
          </p:nvSpPr>
          <p:spPr>
            <a:xfrm>
              <a:off x="8001000" y="4791456"/>
              <a:ext cx="3840480" cy="804672"/>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b="1" dirty="0">
                  <a:solidFill>
                    <a:srgbClr val="1E1E1E"/>
                  </a:solidFill>
                  <a:latin typeface="Bahnschrift"/>
                  <a:ea typeface="Bahnschrift"/>
                  <a:cs typeface="Bahnschrift"/>
                  <a:sym typeface="Bahnschrift"/>
                </a:rPr>
                <a:t>PDE3B</a:t>
              </a:r>
              <a:r>
                <a:rPr lang="es-AR" sz="1300" dirty="0">
                  <a:solidFill>
                    <a:srgbClr val="1E1E1E"/>
                  </a:solidFill>
                  <a:latin typeface="Bahnschrift"/>
                  <a:ea typeface="Bahnschrift"/>
                  <a:cs typeface="Bahnschrift"/>
                  <a:sym typeface="Bahnschrift"/>
                </a:rPr>
                <a:t> → ↓ AMPc</a:t>
              </a:r>
              <a:endParaRPr lang="es-AR" sz="1300" dirty="0">
                <a:latin typeface="Bahnschrift"/>
              </a:endParaRPr>
            </a:p>
            <a:p>
              <a:pPr algn="l">
                <a:spcAft>
                  <a:spcPts val="400"/>
                </a:spcAft>
                <a:buNone/>
              </a:pPr>
              <a:r>
                <a:rPr lang="es-AR" sz="1300" i="1" dirty="0">
                  <a:solidFill>
                    <a:srgbClr val="1E1E1E"/>
                  </a:solidFill>
                  <a:latin typeface="Bahnschrift"/>
                  <a:ea typeface="Bahnschrift"/>
                  <a:cs typeface="Bahnschrift"/>
                  <a:sym typeface="Bahnschrift"/>
                </a:rPr>
                <a:t>↓ PKA: ↓ lipólisis y glucogenólisis</a:t>
              </a:r>
              <a:endParaRPr lang="es-AR" sz="1300" dirty="0">
                <a:latin typeface="Bahnschrift"/>
              </a:endParaRPr>
            </a:p>
          </p:txBody>
        </p:sp>
      </p:grpSp>
      <p:grpSp>
        <p:nvGrpSpPr>
          <p:cNvPr id="38" name="Blanco Akt 4"/>
          <p:cNvGrpSpPr/>
          <p:nvPr/>
        </p:nvGrpSpPr>
        <p:grpSpPr>
          <a:xfrm>
            <a:off x="7653528" y="2468880"/>
            <a:ext cx="4187952" cy="4023360"/>
            <a:chOff x="7653528" y="2468880"/>
            <a:chExt cx="4187952" cy="4023360"/>
          </a:xfrm>
        </p:grpSpPr>
        <p:sp>
          <p:nvSpPr>
            <p:cNvPr id="39" name="Flecha 46_2"/>
            <p:cNvSpPr/>
            <p:nvPr/>
          </p:nvSpPr>
          <p:spPr>
            <a:xfrm>
              <a:off x="7653528" y="2468880"/>
              <a:ext cx="320040" cy="3602736"/>
            </a:xfrm>
            <a:custGeom>
              <a:avLst/>
              <a:gdLst/>
              <a:ahLst/>
              <a:cxnLst/>
              <a:rect l="0" t="0" r="r" b="b"/>
              <a:pathLst>
                <a:path w="350" h="3939" fill="none">
                  <a:moveTo>
                    <a:pt x="0" y="0"/>
                  </a:moveTo>
                  <a:lnTo>
                    <a:pt x="350" y="3939"/>
                  </a:lnTo>
                </a:path>
              </a:pathLst>
            </a:custGeom>
            <a:noFill/>
            <a:ln w="25400" cap="rnd">
              <a:solidFill>
                <a:srgbClr val="1E8C3A"/>
              </a:solidFill>
              <a:round/>
              <a:tailEnd type="triangle" w="med" len="med"/>
            </a:ln>
          </p:spPr>
        </p:sp>
        <p:sp>
          <p:nvSpPr>
            <p:cNvPr id="40" name="Forma 48"/>
            <p:cNvSpPr/>
            <p:nvPr/>
          </p:nvSpPr>
          <p:spPr>
            <a:xfrm>
              <a:off x="8001000" y="5687568"/>
              <a:ext cx="3840480" cy="804672"/>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b="1" dirty="0">
                  <a:solidFill>
                    <a:srgbClr val="1E1E1E"/>
                  </a:solidFill>
                  <a:latin typeface="Bahnschrift"/>
                  <a:ea typeface="Bahnschrift"/>
                  <a:cs typeface="Bahnschrift"/>
                  <a:sym typeface="Bahnschrift"/>
                </a:rPr>
                <a:t>mTORC1</a:t>
              </a:r>
              <a:r>
                <a:rPr lang="es-AR" sz="1300" dirty="0">
                  <a:solidFill>
                    <a:srgbClr val="1E1E1E"/>
                  </a:solidFill>
                  <a:latin typeface="Bahnschrift"/>
                  <a:ea typeface="Bahnschrift"/>
                  <a:cs typeface="Bahnschrift"/>
                  <a:sym typeface="Bahnschrift"/>
                </a:rPr>
                <a:t> → síntesis proteica</a:t>
              </a:r>
              <a:endParaRPr lang="es-AR" sz="1300" dirty="0">
                <a:latin typeface="Bahnschrift"/>
              </a:endParaRPr>
            </a:p>
            <a:p>
              <a:pPr algn="l">
                <a:spcAft>
                  <a:spcPts val="400"/>
                </a:spcAft>
                <a:buNone/>
              </a:pPr>
              <a:r>
                <a:rPr lang="es-AR" sz="1300" i="1" dirty="0">
                  <a:solidFill>
                    <a:srgbClr val="1E1E1E"/>
                  </a:solidFill>
                  <a:latin typeface="Bahnschrift"/>
                  <a:ea typeface="Bahnschrift"/>
                  <a:cs typeface="Bahnschrift"/>
                  <a:sym typeface="Bahnschrift"/>
                </a:rPr>
                <a:t>+ SREBP-1c: lipogénesis</a:t>
              </a:r>
              <a:endParaRPr lang="es-AR" sz="1300" dirty="0">
                <a:latin typeface="Bahnschrift"/>
              </a:endParaRPr>
            </a:p>
          </p:txBody>
        </p:sp>
      </p:grpSp>
      <p:grpSp>
        <p:nvGrpSpPr>
          <p:cNvPr id="41" name="Recuadro Crecimiento"/>
          <p:cNvGrpSpPr/>
          <p:nvPr/>
        </p:nvGrpSpPr>
        <p:grpSpPr>
          <a:xfrm>
            <a:off x="365760" y="3246120"/>
            <a:ext cx="4206240" cy="1463040"/>
            <a:chOff x="365760" y="3246120"/>
            <a:chExt cx="4206240" cy="1463040"/>
          </a:xfrm>
        </p:grpSpPr>
        <p:sp>
          <p:nvSpPr>
            <p:cNvPr id="42" name="Forma 50"/>
            <p:cNvSpPr/>
            <p:nvPr/>
          </p:nvSpPr>
          <p:spPr>
            <a:xfrm>
              <a:off x="365760" y="3429000"/>
              <a:ext cx="4206240" cy="12801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Rama MAPK</a:t>
              </a:r>
              <a:r>
                <a:rPr lang="es-AR" sz="1600" dirty="0">
                  <a:solidFill>
                    <a:srgbClr val="1E1E1E"/>
                  </a:solidFill>
                  <a:latin typeface="Bahnschrift"/>
                  <a:ea typeface="Bahnschrift"/>
                  <a:cs typeface="Bahnschrift"/>
                  <a:sym typeface="Bahnschrift"/>
                </a:rPr>
                <a:t>: IRS/Shc → Grb2–SOS → Ras → Raf → MEK → </a:t>
              </a:r>
              <a:r>
                <a:rPr lang="es-AR" sz="1600" b="1" dirty="0">
                  <a:solidFill>
                    <a:srgbClr val="1E1E1E"/>
                  </a:solidFill>
                  <a:latin typeface="Bahnschrift"/>
                  <a:ea typeface="Bahnschrift"/>
                  <a:cs typeface="Bahnschrift"/>
                  <a:sym typeface="Bahnschrift"/>
                </a:rPr>
                <a:t>ERK</a:t>
              </a:r>
              <a:r>
                <a:rPr lang="es-AR" sz="1600" dirty="0">
                  <a:solidFill>
                    <a:srgbClr val="1E1E1E"/>
                  </a:solidFill>
                  <a:latin typeface="Bahnschrift"/>
                  <a:ea typeface="Bahnschrift"/>
                  <a:cs typeface="Bahnschrift"/>
                  <a:sym typeface="Bahnschrift"/>
                </a:rPr>
                <a:t> → expresión génica, crecimiento y proliferación.</a:t>
              </a:r>
              <a:endParaRPr lang="es-AR" sz="1600" dirty="0">
                <a:latin typeface="Bahnschrift"/>
              </a:endParaRPr>
            </a:p>
          </p:txBody>
        </p:sp>
        <p:sp>
          <p:nvSpPr>
            <p:cNvPr id="43" name="Forma 51"/>
            <p:cNvSpPr/>
            <p:nvPr/>
          </p:nvSpPr>
          <p:spPr>
            <a:xfrm>
              <a:off x="475488" y="3246120"/>
              <a:ext cx="127538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CRECIMIENTO</a:t>
              </a:r>
              <a:endParaRPr lang="es-AR" sz="1450" dirty="0">
                <a:latin typeface="Bahnschrift SemiBold Condensed"/>
              </a:endParaRPr>
            </a:p>
          </p:txBody>
        </p:sp>
      </p:grpSp>
      <p:sp>
        <p:nvSpPr>
          <p:cNvPr id="44" name="Flecha 52_2"/>
          <p:cNvSpPr/>
          <p:nvPr/>
        </p:nvSpPr>
        <p:spPr>
          <a:xfrm>
            <a:off x="2286000" y="2724912"/>
            <a:ext cx="9144" cy="475488"/>
          </a:xfrm>
          <a:custGeom>
            <a:avLst/>
            <a:gdLst/>
            <a:ahLst/>
            <a:cxnLst/>
            <a:rect l="0" t="0" r="r" b="b"/>
            <a:pathLst>
              <a:path w="10" h="520" fill="none">
                <a:moveTo>
                  <a:pt x="0" y="0"/>
                </a:moveTo>
                <a:lnTo>
                  <a:pt x="0" y="520"/>
                </a:lnTo>
              </a:path>
            </a:pathLst>
          </a:custGeom>
          <a:noFill/>
          <a:ln w="31750" cap="rnd">
            <a:solidFill>
              <a:srgbClr val="6C3483"/>
            </a:solidFill>
            <a:round/>
            <a:tailEnd type="triangle" w="med" len="med"/>
          </a:ln>
        </p:spPr>
      </p:sp>
      <p:sp>
        <p:nvSpPr>
          <p:cNvPr id="45" name="Forma 54"/>
          <p:cNvSpPr/>
          <p:nvPr/>
        </p:nvSpPr>
        <p:spPr>
          <a:xfrm>
            <a:off x="365760" y="4983480"/>
            <a:ext cx="7269480" cy="15087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Escalas</a:t>
            </a:r>
            <a:r>
              <a:rPr lang="es-AR" sz="1600" dirty="0">
                <a:solidFill>
                  <a:srgbClr val="1E1E1E"/>
                </a:solidFill>
                <a:latin typeface="Bahnschrift"/>
                <a:ea typeface="Bahnschrift"/>
                <a:cs typeface="Bahnschrift"/>
                <a:sym typeface="Bahnschrift"/>
              </a:rPr>
              <a:t>: fosforilación de enzimas en </a:t>
            </a:r>
            <a:r>
              <a:rPr lang="es-AR" sz="1600" b="1" dirty="0">
                <a:solidFill>
                  <a:srgbClr val="1E1E1E"/>
                </a:solidFill>
                <a:latin typeface="Bahnschrift"/>
                <a:ea typeface="Bahnschrift"/>
                <a:cs typeface="Bahnschrift"/>
                <a:sym typeface="Bahnschrift"/>
              </a:rPr>
              <a:t>minutos</a:t>
            </a:r>
            <a:r>
              <a:rPr lang="es-AR" sz="1600" dirty="0">
                <a:solidFill>
                  <a:srgbClr val="1E1E1E"/>
                </a:solidFill>
                <a:latin typeface="Bahnschrift"/>
                <a:ea typeface="Bahnschrift"/>
                <a:cs typeface="Bahnschrift"/>
                <a:sym typeface="Bahnschrift"/>
              </a:rPr>
              <a:t> (GLUT4, GSK3, PDE3B); cambio de </a:t>
            </a:r>
            <a:r>
              <a:rPr lang="es-AR" sz="1600" b="1" dirty="0">
                <a:solidFill>
                  <a:srgbClr val="1E1E1E"/>
                </a:solidFill>
                <a:latin typeface="Bahnschrift"/>
                <a:ea typeface="Bahnschrift"/>
                <a:cs typeface="Bahnschrift"/>
                <a:sym typeface="Bahnschrift"/>
              </a:rPr>
              <a:t>transcripción</a:t>
            </a:r>
            <a:r>
              <a:rPr lang="es-AR" sz="1600" dirty="0">
                <a:solidFill>
                  <a:srgbClr val="1E1E1E"/>
                </a:solidFill>
                <a:latin typeface="Bahnschrift"/>
                <a:ea typeface="Bahnschrift"/>
                <a:cs typeface="Bahnschrift"/>
                <a:sym typeface="Bahnschrift"/>
              </a:rPr>
              <a:t> en </a:t>
            </a:r>
            <a:r>
              <a:rPr lang="es-AR" sz="1600" b="1" dirty="0">
                <a:solidFill>
                  <a:srgbClr val="1E1E1E"/>
                </a:solidFill>
                <a:latin typeface="Bahnschrift"/>
                <a:ea typeface="Bahnschrift"/>
                <a:cs typeface="Bahnschrift"/>
                <a:sym typeface="Bahnschrift"/>
              </a:rPr>
              <a:t>horas</a:t>
            </a:r>
            <a:r>
              <a:rPr lang="es-AR" sz="1600" dirty="0">
                <a:solidFill>
                  <a:srgbClr val="1E1E1E"/>
                </a:solidFill>
                <a:latin typeface="Bahnschrift"/>
                <a:ea typeface="Bahnschrift"/>
                <a:cs typeface="Bahnschrift"/>
                <a:sym typeface="Bahnschrift"/>
              </a:rPr>
              <a:t> (FOXO1, SREBP-1c). La señal se apaga por fosfatasas (PTEN, PTP1B) y degradación del complejo.</a:t>
            </a:r>
            <a:endParaRPr lang="es-AR" sz="1600" dirty="0">
              <a:latin typeface="Bahnschrift"/>
            </a:endParaRPr>
          </a:p>
        </p:txBody>
      </p:sp>
      <p:sp>
        <p:nvSpPr>
          <p:cNvPr id="2" name="Etiqueta sección"/>
          <p:cNvSpPr/>
          <p:nvPr/>
        </p:nvSpPr>
        <p:spPr>
          <a:xfrm>
            <a:off x="9932210" y="201168"/>
            <a:ext cx="198516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1 · 6/6</a:t>
            </a:r>
            <a:endParaRPr lang="es-AR" sz="1300" dirty="0">
              <a:latin typeface="Bahnschrift SemiBold Condensed"/>
            </a:endParaRPr>
          </a:p>
        </p:txBody>
      </p:sp>
      <p:sp>
        <p:nvSpPr>
          <p:cNvPr id="3" name="Título"/>
          <p:cNvSpPr/>
          <p:nvPr/>
        </p:nvSpPr>
        <p:spPr>
          <a:xfrm>
            <a:off x="274320" y="146304"/>
            <a:ext cx="632874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SEÑALIZACIÓN INTRACELULAR DE LA INSULINA</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41</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7"/>
                                        </p:tgtEl>
                                        <p:attrNameLst>
                                          <p:attrName>style.visibility</p:attrName>
                                        </p:attrNameLst>
                                      </p:cBhvr>
                                      <p:to>
                                        <p:strVal val="visible"/>
                                      </p:to>
                                    </p:set>
                                    <p:animEffect transition="in" filter="fade">
                                      <p:cBhvr>
                                        <p:cTn id="5" dur="500"/>
                                        <p:tgtEl>
                                          <p:spTgt spid="17"/>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22"/>
                                        </p:tgtEl>
                                        <p:attrNameLst>
                                          <p:attrName>style.visibility</p:attrName>
                                        </p:attrNameLst>
                                      </p:cBhvr>
                                      <p:to>
                                        <p:strVal val="visible"/>
                                      </p:to>
                                    </p:set>
                                    <p:animEffect transition="in" filter="wipe(left)">
                                      <p:cBhvr>
                                        <p:cTn id="9" dur="600"/>
                                        <p:tgtEl>
                                          <p:spTgt spid="22"/>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childTnLst>
                    </p:cTn>
                  </p:par>
                  <p:par>
                    <p:cTn id="42" fill="hold">
                      <p:stCondLst>
                        <p:cond delay="indefinite"/>
                      </p:stCondLst>
                      <p:childTnLst>
                        <p:par>
                          <p:cTn id="19" fill="hold">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wipe(down)">
                                      <p:cBhvr>
                                        <p:cTn id="18" dur="600"/>
                                        <p:tgtEl>
                                          <p:spTgt spid="23"/>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par>
                          <p:cTn id="27" fill="hold">
                            <p:stCondLst>
                              <p:cond delay="1100"/>
                            </p:stCondLst>
                            <p:childTnLst>
                              <p:par>
                                <p:cTn id="24" presetID="22" presetClass="entr" presetSubtype="8" fill="hold" grpId="0" nodeType="after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wipe(left)">
                                      <p:cBhvr>
                                        <p:cTn id="26" dur="600"/>
                                        <p:tgtEl>
                                          <p:spTgt spid="24"/>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5" fill="hold">
                            <p:stCondLst>
                              <p:cond delay="2200"/>
                            </p:stCondLst>
                            <p:childTnLst>
                              <p:par>
                                <p:cTn id="32" presetID="22" presetClass="entr" presetSubtype="8" fill="hold" grpId="0" nodeType="after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wipe(left)">
                                      <p:cBhvr>
                                        <p:cTn id="34" dur="600"/>
                                        <p:tgtEl>
                                          <p:spTgt spid="25"/>
                                        </p:tgtEl>
                                      </p:cBhvr>
                                    </p:animEffect>
                                  </p:childTnLst>
                                </p:cTn>
                              </p:par>
                            </p:childTnLst>
                          </p:cTn>
                        </p:par>
                        <p:par>
                          <p:cTn id="41" fill="hold">
                            <p:stCondLst>
                              <p:cond delay="2800"/>
                            </p:stCondLst>
                            <p:childTnLst>
                              <p:par>
                                <p:cTn id="36" presetID="53" presetClass="entr" presetSubtype="16" fill="hold" grpId="0" nodeType="after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p:cTn id="38" dur="500" fill="hold"/>
                                        <p:tgtEl>
                                          <p:spTgt spid="21"/>
                                        </p:tgtEl>
                                        <p:attrNameLst>
                                          <p:attrName>ppt_w</p:attrName>
                                        </p:attrNameLst>
                                      </p:cBhvr>
                                      <p:tavLst>
                                        <p:tav tm="0">
                                          <p:val>
                                            <p:fltVal val="0"/>
                                          </p:val>
                                        </p:tav>
                                        <p:tav tm="100000">
                                          <p:val>
                                            <p:strVal val="#ppt_w"/>
                                          </p:val>
                                        </p:tav>
                                      </p:tavLst>
                                    </p:anim>
                                    <p:anim calcmode="lin" valueType="num">
                                      <p:cBhvr>
                                        <p:cTn id="39" dur="500" fill="hold"/>
                                        <p:tgtEl>
                                          <p:spTgt spid="21"/>
                                        </p:tgtEl>
                                        <p:attrNameLst>
                                          <p:attrName>ppt_h</p:attrName>
                                        </p:attrNameLst>
                                      </p:cBhvr>
                                      <p:tavLst>
                                        <p:tav tm="0">
                                          <p:val>
                                            <p:fltVal val="0"/>
                                          </p:val>
                                        </p:tav>
                                        <p:tav tm="100000">
                                          <p:val>
                                            <p:strVal val="#ppt_h"/>
                                          </p:val>
                                        </p:tav>
                                      </p:tavLst>
                                    </p:anim>
                                    <p:animEffect transition="in" filter="fade">
                                      <p:cBhvr>
                                        <p:cTn id="40" dur="500"/>
                                        <p:tgtEl>
                                          <p:spTgt spid="21"/>
                                        </p:tgtEl>
                                      </p:cBhvr>
                                    </p:animEffect>
                                  </p:childTnLst>
                                </p:cTn>
                              </p:par>
                            </p:childTnLst>
                          </p:cTn>
                        </p:par>
                      </p:childTnLst>
                    </p:cTn>
                  </p:par>
                  <p:par>
                    <p:cTn id="63" fill="hold">
                      <p:stCondLst>
                        <p:cond delay="indefinite"/>
                      </p:stCondLst>
                      <p:childTnLst>
                        <p:par>
                          <p:cTn id="46"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par>
                          <p:cTn id="50" fill="hold">
                            <p:stCondLst>
                              <p:cond delay="500"/>
                            </p:stCondLst>
                            <p:childTnLst>
                              <p:par>
                                <p:cTn id="47" presetID="10" presetClass="entr" presetSubtype="0" fill="hold" grpId="0" nodeType="after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childTnLst>
                          </p:cTn>
                        </p:par>
                        <p:par>
                          <p:cTn id="54" fill="hold">
                            <p:stCondLst>
                              <p:cond delay="1000"/>
                            </p:stCondLst>
                            <p:childTnLst>
                              <p:par>
                                <p:cTn id="51" presetID="10" presetClass="entr" presetSubtype="0"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Effect transition="in" filter="fade">
                                      <p:cBhvr>
                                        <p:cTn id="53" dur="500"/>
                                        <p:tgtEl>
                                          <p:spTgt spid="32"/>
                                        </p:tgtEl>
                                      </p:cBhvr>
                                    </p:animEffect>
                                  </p:childTnLst>
                                </p:cTn>
                              </p:par>
                            </p:childTnLst>
                          </p:cTn>
                        </p:par>
                        <p:par>
                          <p:cTn id="58" fill="hold">
                            <p:stCondLst>
                              <p:cond delay="1500"/>
                            </p:stCondLst>
                            <p:childTnLst>
                              <p:par>
                                <p:cTn id="55" presetID="10" presetClass="entr" presetSubtype="0" fill="hold" grpId="0" nodeType="after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childTnLst>
                          </p:cTn>
                        </p:par>
                        <p:par>
                          <p:cTn id="62" fill="hold">
                            <p:stCondLst>
                              <p:cond delay="2000"/>
                            </p:stCondLst>
                            <p:childTnLst>
                              <p:par>
                                <p:cTn id="59" presetID="10" presetClass="entr" presetSubtype="0" fill="hold" grpId="0" nodeType="after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500"/>
                                        <p:tgtEl>
                                          <p:spTgt spid="38"/>
                                        </p:tgtEl>
                                      </p:cBhvr>
                                    </p:animEffect>
                                  </p:childTnLst>
                                </p:cTn>
                              </p:par>
                            </p:childTnLst>
                          </p:cTn>
                        </p:par>
                      </p:childTnLst>
                    </p:cTn>
                  </p:par>
                  <p:par>
                    <p:cTn id="72" fill="hold">
                      <p:stCondLst>
                        <p:cond delay="indefinite"/>
                      </p:stCondLst>
                      <p:childTnLst>
                        <p:par>
                          <p:cTn id="67" fill="hold">
                            <p:stCondLst>
                              <p:cond delay="0"/>
                            </p:stCondLst>
                            <p:childTnLst>
                              <p:par>
                                <p:cTn id="64" presetID="22" presetClass="entr" presetSubtype="1" fill="hold" grpId="0" nodeType="clickEffect">
                                  <p:stCondLst>
                                    <p:cond delay="0"/>
                                  </p:stCondLst>
                                  <p:childTnLst>
                                    <p:set>
                                      <p:cBhvr>
                                        <p:cTn id="65" dur="1" fill="hold">
                                          <p:stCondLst>
                                            <p:cond delay="0"/>
                                          </p:stCondLst>
                                        </p:cTn>
                                        <p:tgtEl>
                                          <p:spTgt spid="44"/>
                                        </p:tgtEl>
                                        <p:attrNameLst>
                                          <p:attrName>style.visibility</p:attrName>
                                        </p:attrNameLst>
                                      </p:cBhvr>
                                      <p:to>
                                        <p:strVal val="visible"/>
                                      </p:to>
                                    </p:set>
                                    <p:animEffect transition="in" filter="wipe(up)">
                                      <p:cBhvr>
                                        <p:cTn id="66" dur="600"/>
                                        <p:tgtEl>
                                          <p:spTgt spid="44"/>
                                        </p:tgtEl>
                                      </p:cBhvr>
                                    </p:animEffect>
                                  </p:childTnLst>
                                </p:cTn>
                              </p:par>
                            </p:childTnLst>
                          </p:cTn>
                        </p:par>
                        <p:par>
                          <p:cTn id="71" fill="hold">
                            <p:stCondLst>
                              <p:cond delay="600"/>
                            </p:stCondLst>
                            <p:childTnLst>
                              <p:par>
                                <p:cTn id="68" presetID="10" presetClass="entr" presetSubtype="0" fill="hold" grpId="0"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fade">
                                      <p:cBhvr>
                                        <p:cTn id="70" dur="500"/>
                                        <p:tgtEl>
                                          <p:spTgt spid="41"/>
                                        </p:tgtEl>
                                      </p:cBhvr>
                                    </p:animEffect>
                                  </p:childTnLst>
                                </p:cTn>
                              </p:par>
                            </p:childTnLst>
                          </p:cTn>
                        </p:par>
                      </p:childTnLst>
                    </p:cTn>
                  </p:par>
                  <p:par>
                    <p:cTn id="77" fill="hold">
                      <p:stCondLst>
                        <p:cond delay="indefinite"/>
                      </p:stCondLst>
                      <p:childTnLst>
                        <p:par>
                          <p:cTn id="76"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45"/>
                                        </p:tgtEl>
                                        <p:attrNameLst>
                                          <p:attrName>style.visibility</p:attrName>
                                        </p:attrNameLst>
                                      </p:cBhvr>
                                      <p:to>
                                        <p:strVal val="visible"/>
                                      </p:to>
                                    </p:set>
                                    <p:animEffect transition="in" filter="fade">
                                      <p:cBhvr>
                                        <p:cTn id="7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 grpId="0" animBg="1"/>
      <p:bldP spid="18" grpId="0" animBg="1"/>
      <p:bldP spid="23" grpId="0" animBg="1"/>
      <p:bldP spid="19" grpId="0" animBg="1"/>
      <p:bldP spid="24" grpId="0" animBg="1"/>
      <p:bldP spid="20" grpId="0" animBg="1"/>
      <p:bldP spid="25" grpId="0" animBg="1"/>
      <p:bldP spid="21" grpId="0" animBg="1"/>
      <p:bldP spid="44" grpId="0" animBg="1"/>
      <p:bldP spid="45" grpId="0" animBg="1"/>
    </p:bldLst>
  </p:timing>
</p:sld>
</file>

<file path=ppt/slides/slide4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Tabla GLUT"/>
          <p:cNvGraphicFramePr>
            <a:graphicFrameLocks noGrp="1"/>
          </p:cNvGraphicFramePr>
          <p:nvPr/>
        </p:nvGraphicFramePr>
        <p:xfrm>
          <a:off x="365760" y="1051560"/>
          <a:ext cx="8321040" cy="3947160"/>
        </p:xfrm>
        <a:graphic>
          <a:graphicData uri="http://schemas.openxmlformats.org/drawingml/2006/table">
            <a:tbl>
              <a:tblPr firstRow="1" bandRow="1"/>
              <a:tblGrid>
                <a:gridCol w="1371600"/>
                <a:gridCol w="2926080"/>
                <a:gridCol w="2743200"/>
                <a:gridCol w="1280160"/>
              </a:tblGrid>
              <a:tr h="518160">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Transportador</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Tejidos principales</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Características</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¿Depende de insulina?</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708660">
                <a:tc>
                  <a:txBody>
                    <a:bodyPr/>
                    <a:lstStyle/>
                    <a:p>
                      <a:pPr algn="l">
                        <a:spcAft>
                          <a:spcPts val="100"/>
                        </a:spcAft>
                        <a:buNone/>
                      </a:pPr>
                      <a:r>
                        <a:rPr lang="es-AR" sz="1350" b="1" dirty="0">
                          <a:solidFill>
                            <a:srgbClr val="1E1E1E"/>
                          </a:solidFill>
                          <a:latin typeface="Bahnschrift"/>
                          <a:ea typeface="Bahnschrift"/>
                          <a:cs typeface="Bahnschrift"/>
                          <a:sym typeface="Bahnschrift"/>
                        </a:rPr>
                        <a:t>GLUT1</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Eritrocito, barrera hematoencefálica, astrocito, glándula mamaria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Captación basal de alta afinidad</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708660">
                <a:tc>
                  <a:txBody>
                    <a:bodyPr/>
                    <a:lstStyle/>
                    <a:p>
                      <a:pPr algn="l">
                        <a:spcAft>
                          <a:spcPts val="100"/>
                        </a:spcAft>
                        <a:buNone/>
                      </a:pPr>
                      <a:r>
                        <a:rPr lang="es-AR" sz="1350" b="1" dirty="0">
                          <a:solidFill>
                            <a:srgbClr val="1E1E1E"/>
                          </a:solidFill>
                          <a:latin typeface="Bahnschrift"/>
                          <a:ea typeface="Bahnschrift"/>
                          <a:cs typeface="Bahnschrift"/>
                          <a:sym typeface="Bahnschrift"/>
                        </a:rPr>
                        <a:t>GLUT2</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Hepatocito, enterocito (basolateral), túbulo renal; islote (roedor)</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Baja afinidad, alta capacidad, </a:t>
                      </a:r>
                      <a:r>
                        <a:rPr lang="es-AR" sz="1350" b="1" dirty="0">
                          <a:solidFill>
                            <a:srgbClr val="1E1E1E"/>
                          </a:solidFill>
                          <a:latin typeface="Bahnschrift"/>
                          <a:ea typeface="Bahnschrift"/>
                          <a:cs typeface="Bahnschrift"/>
                          <a:sym typeface="Bahnschrift"/>
                        </a:rPr>
                        <a:t>bidireccional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GLUT3</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Neurona; célula β humana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Muy alta afinidad: entrada estable aun con glucemia baja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GLUT4</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Músculo esquelético y cardíaco, adipocito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Vesículas intracelulares que </a:t>
                      </a:r>
                      <a:r>
                        <a:rPr lang="es-AR" sz="1350" b="1" dirty="0">
                          <a:solidFill>
                            <a:srgbClr val="1E1E1E"/>
                          </a:solidFill>
                          <a:latin typeface="Bahnschrift"/>
                          <a:ea typeface="Bahnschrift"/>
                          <a:cs typeface="Bahnschrift"/>
                          <a:sym typeface="Bahnschrift"/>
                        </a:rPr>
                        <a:t>translocan</a:t>
                      </a:r>
                      <a:r>
                        <a:rPr lang="es-AR" sz="1350" dirty="0">
                          <a:solidFill>
                            <a:srgbClr val="1E1E1E"/>
                          </a:solidFill>
                          <a:latin typeface="Bahnschrift"/>
                          <a:ea typeface="Bahnschrift"/>
                          <a:cs typeface="Bahnschrift"/>
                          <a:sym typeface="Bahnschrift"/>
                        </a:rPr>
                        <a:t> a membrana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Sí</a:t>
                      </a:r>
                      <a:r>
                        <a:rPr lang="es-AR" sz="1350" dirty="0">
                          <a:solidFill>
                            <a:srgbClr val="1E1E1E"/>
                          </a:solidFill>
                          <a:latin typeface="Bahnschrift"/>
                          <a:ea typeface="Bahnschrift"/>
                          <a:cs typeface="Bahnschrift"/>
                          <a:sym typeface="Bahnschrift"/>
                        </a:rPr>
                        <a:t> (y contracción)</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GLUT5</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Enterocito (apical), otros</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Transporta </a:t>
                      </a:r>
                      <a:r>
                        <a:rPr lang="es-AR" sz="1350" b="1" dirty="0">
                          <a:solidFill>
                            <a:srgbClr val="1E1E1E"/>
                          </a:solidFill>
                          <a:latin typeface="Bahnschrift"/>
                          <a:ea typeface="Bahnschrift"/>
                          <a:cs typeface="Bahnschrift"/>
                          <a:sym typeface="Bahnschrift"/>
                        </a:rPr>
                        <a:t>fructosa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SGLT1</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Enterocito (apical)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Cotransporte Na</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–glucosa (activo secundario)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grpSp>
        <p:nvGrpSpPr>
          <p:cNvPr id="5" name="Membrana esquema"/>
          <p:cNvGrpSpPr/>
          <p:nvPr/>
        </p:nvGrpSpPr>
        <p:grpSpPr>
          <a:xfrm>
            <a:off x="9692640" y="1051560"/>
            <a:ext cx="384048" cy="5394960"/>
            <a:chOff x="9692640" y="1051560"/>
            <a:chExt cx="384048" cy="5394960"/>
          </a:xfrm>
        </p:grpSpPr>
        <p:sp>
          <p:nvSpPr>
            <p:cNvPr id="6" name="Forma 5"/>
            <p:cNvSpPr/>
            <p:nvPr/>
          </p:nvSpPr>
          <p:spPr>
            <a:xfrm>
              <a:off x="9761769" y="1051560"/>
              <a:ext cx="245791" cy="5394960"/>
            </a:xfrm>
            <a:prstGeom prst="rect">
              <a:avLst/>
            </a:prstGeom>
            <a:solidFill>
              <a:srgbClr val="FDEBD0"/>
            </a:solidFill>
            <a:ln>
              <a:noFill/>
            </a:ln>
          </p:spPr>
        </p:sp>
        <p:sp>
          <p:nvSpPr>
            <p:cNvPr id="7" name="Forma 6"/>
            <p:cNvSpPr/>
            <p:nvPr/>
          </p:nvSpPr>
          <p:spPr>
            <a:xfrm>
              <a:off x="9692640" y="1051560"/>
              <a:ext cx="384048" cy="5394960"/>
            </a:xfrm>
            <a:custGeom>
              <a:avLst/>
              <a:gdLst/>
              <a:ahLst/>
              <a:cxnLst/>
              <a:rect l="0" t="0" r="r" b="b"/>
              <a:pathLst>
                <a:path w="420" h="5900">
                  <a:moveTo>
                    <a:pt x="94" y="50"/>
                  </a:moveTo>
                  <a:cubicBezTo>
                    <a:pt x="94" y="75"/>
                    <a:pt x="72" y="97"/>
                    <a:pt x="47" y="97"/>
                  </a:cubicBezTo>
                  <a:cubicBezTo>
                    <a:pt x="21" y="97"/>
                    <a:pt x="0" y="75"/>
                    <a:pt x="0" y="50"/>
                  </a:cubicBezTo>
                  <a:cubicBezTo>
                    <a:pt x="0" y="24"/>
                    <a:pt x="21" y="3"/>
                    <a:pt x="47" y="3"/>
                  </a:cubicBezTo>
                  <a:cubicBezTo>
                    <a:pt x="72" y="3"/>
                    <a:pt x="94" y="24"/>
                    <a:pt x="94" y="50"/>
                  </a:cubicBezTo>
                  <a:close/>
                  <a:moveTo>
                    <a:pt x="94" y="150"/>
                  </a:moveTo>
                  <a:cubicBezTo>
                    <a:pt x="94" y="175"/>
                    <a:pt x="72" y="197"/>
                    <a:pt x="47" y="197"/>
                  </a:cubicBezTo>
                  <a:cubicBezTo>
                    <a:pt x="21" y="197"/>
                    <a:pt x="0" y="175"/>
                    <a:pt x="0" y="150"/>
                  </a:cubicBezTo>
                  <a:cubicBezTo>
                    <a:pt x="0" y="124"/>
                    <a:pt x="21" y="103"/>
                    <a:pt x="47" y="103"/>
                  </a:cubicBezTo>
                  <a:cubicBezTo>
                    <a:pt x="72" y="103"/>
                    <a:pt x="94" y="124"/>
                    <a:pt x="94" y="150"/>
                  </a:cubicBezTo>
                  <a:close/>
                  <a:moveTo>
                    <a:pt x="94" y="250"/>
                  </a:moveTo>
                  <a:cubicBezTo>
                    <a:pt x="94" y="275"/>
                    <a:pt x="72" y="297"/>
                    <a:pt x="47" y="297"/>
                  </a:cubicBezTo>
                  <a:cubicBezTo>
                    <a:pt x="21" y="297"/>
                    <a:pt x="0" y="275"/>
                    <a:pt x="0" y="250"/>
                  </a:cubicBezTo>
                  <a:cubicBezTo>
                    <a:pt x="0" y="224"/>
                    <a:pt x="21" y="203"/>
                    <a:pt x="47" y="203"/>
                  </a:cubicBezTo>
                  <a:cubicBezTo>
                    <a:pt x="72" y="203"/>
                    <a:pt x="94" y="224"/>
                    <a:pt x="94" y="250"/>
                  </a:cubicBezTo>
                  <a:close/>
                  <a:moveTo>
                    <a:pt x="94" y="350"/>
                  </a:moveTo>
                  <a:cubicBezTo>
                    <a:pt x="94" y="375"/>
                    <a:pt x="72" y="397"/>
                    <a:pt x="47" y="397"/>
                  </a:cubicBezTo>
                  <a:cubicBezTo>
                    <a:pt x="21" y="397"/>
                    <a:pt x="0" y="375"/>
                    <a:pt x="0" y="350"/>
                  </a:cubicBezTo>
                  <a:cubicBezTo>
                    <a:pt x="0" y="324"/>
                    <a:pt x="21" y="303"/>
                    <a:pt x="47" y="303"/>
                  </a:cubicBezTo>
                  <a:cubicBezTo>
                    <a:pt x="72" y="303"/>
                    <a:pt x="94" y="324"/>
                    <a:pt x="94" y="350"/>
                  </a:cubicBezTo>
                  <a:close/>
                  <a:moveTo>
                    <a:pt x="94" y="450"/>
                  </a:moveTo>
                  <a:cubicBezTo>
                    <a:pt x="94" y="475"/>
                    <a:pt x="72" y="497"/>
                    <a:pt x="47" y="497"/>
                  </a:cubicBezTo>
                  <a:cubicBezTo>
                    <a:pt x="21" y="497"/>
                    <a:pt x="0" y="475"/>
                    <a:pt x="0" y="450"/>
                  </a:cubicBezTo>
                  <a:cubicBezTo>
                    <a:pt x="0" y="424"/>
                    <a:pt x="21" y="403"/>
                    <a:pt x="47" y="403"/>
                  </a:cubicBezTo>
                  <a:cubicBezTo>
                    <a:pt x="72" y="403"/>
                    <a:pt x="94" y="424"/>
                    <a:pt x="94" y="450"/>
                  </a:cubicBezTo>
                  <a:close/>
                  <a:moveTo>
                    <a:pt x="94" y="550"/>
                  </a:moveTo>
                  <a:cubicBezTo>
                    <a:pt x="94" y="575"/>
                    <a:pt x="72" y="597"/>
                    <a:pt x="47" y="597"/>
                  </a:cubicBezTo>
                  <a:cubicBezTo>
                    <a:pt x="21" y="597"/>
                    <a:pt x="0" y="575"/>
                    <a:pt x="0" y="550"/>
                  </a:cubicBezTo>
                  <a:cubicBezTo>
                    <a:pt x="0" y="524"/>
                    <a:pt x="21" y="503"/>
                    <a:pt x="47" y="503"/>
                  </a:cubicBezTo>
                  <a:cubicBezTo>
                    <a:pt x="72" y="503"/>
                    <a:pt x="94" y="524"/>
                    <a:pt x="94" y="550"/>
                  </a:cubicBezTo>
                  <a:close/>
                  <a:moveTo>
                    <a:pt x="94" y="650"/>
                  </a:moveTo>
                  <a:cubicBezTo>
                    <a:pt x="94" y="675"/>
                    <a:pt x="72" y="697"/>
                    <a:pt x="47" y="697"/>
                  </a:cubicBezTo>
                  <a:cubicBezTo>
                    <a:pt x="21" y="697"/>
                    <a:pt x="0" y="675"/>
                    <a:pt x="0" y="650"/>
                  </a:cubicBezTo>
                  <a:cubicBezTo>
                    <a:pt x="0" y="624"/>
                    <a:pt x="21" y="603"/>
                    <a:pt x="47" y="603"/>
                  </a:cubicBezTo>
                  <a:cubicBezTo>
                    <a:pt x="72" y="603"/>
                    <a:pt x="94" y="624"/>
                    <a:pt x="94" y="650"/>
                  </a:cubicBezTo>
                  <a:close/>
                  <a:moveTo>
                    <a:pt x="94" y="750"/>
                  </a:moveTo>
                  <a:cubicBezTo>
                    <a:pt x="94" y="775"/>
                    <a:pt x="72" y="797"/>
                    <a:pt x="47" y="797"/>
                  </a:cubicBezTo>
                  <a:cubicBezTo>
                    <a:pt x="21" y="797"/>
                    <a:pt x="0" y="775"/>
                    <a:pt x="0" y="750"/>
                  </a:cubicBezTo>
                  <a:cubicBezTo>
                    <a:pt x="0" y="724"/>
                    <a:pt x="21" y="703"/>
                    <a:pt x="47" y="703"/>
                  </a:cubicBezTo>
                  <a:cubicBezTo>
                    <a:pt x="72" y="703"/>
                    <a:pt x="94" y="724"/>
                    <a:pt x="94" y="750"/>
                  </a:cubicBezTo>
                  <a:close/>
                  <a:moveTo>
                    <a:pt x="94" y="850"/>
                  </a:moveTo>
                  <a:cubicBezTo>
                    <a:pt x="94" y="875"/>
                    <a:pt x="72" y="897"/>
                    <a:pt x="47" y="897"/>
                  </a:cubicBezTo>
                  <a:cubicBezTo>
                    <a:pt x="21" y="897"/>
                    <a:pt x="0" y="875"/>
                    <a:pt x="0" y="850"/>
                  </a:cubicBezTo>
                  <a:cubicBezTo>
                    <a:pt x="0" y="824"/>
                    <a:pt x="21" y="803"/>
                    <a:pt x="47" y="803"/>
                  </a:cubicBezTo>
                  <a:cubicBezTo>
                    <a:pt x="72" y="803"/>
                    <a:pt x="94" y="824"/>
                    <a:pt x="94" y="850"/>
                  </a:cubicBezTo>
                  <a:close/>
                  <a:moveTo>
                    <a:pt x="94" y="950"/>
                  </a:moveTo>
                  <a:cubicBezTo>
                    <a:pt x="94" y="975"/>
                    <a:pt x="72" y="997"/>
                    <a:pt x="47" y="997"/>
                  </a:cubicBezTo>
                  <a:cubicBezTo>
                    <a:pt x="21" y="997"/>
                    <a:pt x="0" y="975"/>
                    <a:pt x="0" y="950"/>
                  </a:cubicBezTo>
                  <a:cubicBezTo>
                    <a:pt x="0" y="924"/>
                    <a:pt x="21" y="903"/>
                    <a:pt x="47" y="903"/>
                  </a:cubicBezTo>
                  <a:cubicBezTo>
                    <a:pt x="72" y="903"/>
                    <a:pt x="94" y="924"/>
                    <a:pt x="94" y="950"/>
                  </a:cubicBezTo>
                  <a:close/>
                  <a:moveTo>
                    <a:pt x="94" y="1050"/>
                  </a:moveTo>
                  <a:cubicBezTo>
                    <a:pt x="94" y="1075"/>
                    <a:pt x="72" y="1097"/>
                    <a:pt x="47" y="1097"/>
                  </a:cubicBezTo>
                  <a:cubicBezTo>
                    <a:pt x="21" y="1097"/>
                    <a:pt x="0" y="1075"/>
                    <a:pt x="0" y="1050"/>
                  </a:cubicBezTo>
                  <a:cubicBezTo>
                    <a:pt x="0" y="1024"/>
                    <a:pt x="21" y="1003"/>
                    <a:pt x="47" y="1003"/>
                  </a:cubicBezTo>
                  <a:cubicBezTo>
                    <a:pt x="72" y="1003"/>
                    <a:pt x="94" y="1024"/>
                    <a:pt x="94" y="1050"/>
                  </a:cubicBezTo>
                  <a:close/>
                  <a:moveTo>
                    <a:pt x="94" y="1150"/>
                  </a:moveTo>
                  <a:cubicBezTo>
                    <a:pt x="94" y="1175"/>
                    <a:pt x="72" y="1197"/>
                    <a:pt x="47" y="1197"/>
                  </a:cubicBezTo>
                  <a:cubicBezTo>
                    <a:pt x="21" y="1197"/>
                    <a:pt x="0" y="1175"/>
                    <a:pt x="0" y="1150"/>
                  </a:cubicBezTo>
                  <a:cubicBezTo>
                    <a:pt x="0" y="1124"/>
                    <a:pt x="21" y="1103"/>
                    <a:pt x="47" y="1103"/>
                  </a:cubicBezTo>
                  <a:cubicBezTo>
                    <a:pt x="72" y="1103"/>
                    <a:pt x="94" y="1124"/>
                    <a:pt x="94" y="1150"/>
                  </a:cubicBezTo>
                  <a:close/>
                  <a:moveTo>
                    <a:pt x="94" y="1250"/>
                  </a:moveTo>
                  <a:cubicBezTo>
                    <a:pt x="94" y="1275"/>
                    <a:pt x="72" y="1297"/>
                    <a:pt x="47" y="1297"/>
                  </a:cubicBezTo>
                  <a:cubicBezTo>
                    <a:pt x="21" y="1297"/>
                    <a:pt x="0" y="1275"/>
                    <a:pt x="0" y="1250"/>
                  </a:cubicBezTo>
                  <a:cubicBezTo>
                    <a:pt x="0" y="1224"/>
                    <a:pt x="21" y="1203"/>
                    <a:pt x="47" y="1203"/>
                  </a:cubicBezTo>
                  <a:cubicBezTo>
                    <a:pt x="72" y="1203"/>
                    <a:pt x="94" y="1224"/>
                    <a:pt x="94" y="1250"/>
                  </a:cubicBezTo>
                  <a:close/>
                  <a:moveTo>
                    <a:pt x="94" y="1350"/>
                  </a:moveTo>
                  <a:cubicBezTo>
                    <a:pt x="94" y="1375"/>
                    <a:pt x="72" y="1397"/>
                    <a:pt x="47" y="1397"/>
                  </a:cubicBezTo>
                  <a:cubicBezTo>
                    <a:pt x="21" y="1397"/>
                    <a:pt x="0" y="1375"/>
                    <a:pt x="0" y="1350"/>
                  </a:cubicBezTo>
                  <a:cubicBezTo>
                    <a:pt x="0" y="1324"/>
                    <a:pt x="21" y="1303"/>
                    <a:pt x="47" y="1303"/>
                  </a:cubicBezTo>
                  <a:cubicBezTo>
                    <a:pt x="72" y="1303"/>
                    <a:pt x="94" y="1324"/>
                    <a:pt x="94" y="1350"/>
                  </a:cubicBezTo>
                  <a:close/>
                  <a:moveTo>
                    <a:pt x="94" y="1450"/>
                  </a:moveTo>
                  <a:cubicBezTo>
                    <a:pt x="94" y="1475"/>
                    <a:pt x="72" y="1497"/>
                    <a:pt x="47" y="1497"/>
                  </a:cubicBezTo>
                  <a:cubicBezTo>
                    <a:pt x="21" y="1497"/>
                    <a:pt x="0" y="1475"/>
                    <a:pt x="0" y="1450"/>
                  </a:cubicBezTo>
                  <a:cubicBezTo>
                    <a:pt x="0" y="1424"/>
                    <a:pt x="21" y="1403"/>
                    <a:pt x="47" y="1403"/>
                  </a:cubicBezTo>
                  <a:cubicBezTo>
                    <a:pt x="72" y="1403"/>
                    <a:pt x="94" y="1424"/>
                    <a:pt x="94" y="1450"/>
                  </a:cubicBezTo>
                  <a:close/>
                  <a:moveTo>
                    <a:pt x="94" y="1550"/>
                  </a:moveTo>
                  <a:cubicBezTo>
                    <a:pt x="94" y="1575"/>
                    <a:pt x="72" y="1597"/>
                    <a:pt x="47" y="1597"/>
                  </a:cubicBezTo>
                  <a:cubicBezTo>
                    <a:pt x="21" y="1597"/>
                    <a:pt x="0" y="1575"/>
                    <a:pt x="0" y="1550"/>
                  </a:cubicBezTo>
                  <a:cubicBezTo>
                    <a:pt x="0" y="1524"/>
                    <a:pt x="21" y="1503"/>
                    <a:pt x="47" y="1503"/>
                  </a:cubicBezTo>
                  <a:cubicBezTo>
                    <a:pt x="72" y="1503"/>
                    <a:pt x="94" y="1524"/>
                    <a:pt x="94" y="1550"/>
                  </a:cubicBezTo>
                  <a:close/>
                  <a:moveTo>
                    <a:pt x="94" y="1650"/>
                  </a:moveTo>
                  <a:cubicBezTo>
                    <a:pt x="94" y="1675"/>
                    <a:pt x="72" y="1697"/>
                    <a:pt x="47" y="1697"/>
                  </a:cubicBezTo>
                  <a:cubicBezTo>
                    <a:pt x="21" y="1697"/>
                    <a:pt x="0" y="1675"/>
                    <a:pt x="0" y="1650"/>
                  </a:cubicBezTo>
                  <a:cubicBezTo>
                    <a:pt x="0" y="1624"/>
                    <a:pt x="21" y="1603"/>
                    <a:pt x="47" y="1603"/>
                  </a:cubicBezTo>
                  <a:cubicBezTo>
                    <a:pt x="72" y="1603"/>
                    <a:pt x="94" y="1624"/>
                    <a:pt x="94" y="1650"/>
                  </a:cubicBezTo>
                  <a:close/>
                  <a:moveTo>
                    <a:pt x="94" y="1750"/>
                  </a:moveTo>
                  <a:cubicBezTo>
                    <a:pt x="94" y="1775"/>
                    <a:pt x="72" y="1797"/>
                    <a:pt x="47" y="1797"/>
                  </a:cubicBezTo>
                  <a:cubicBezTo>
                    <a:pt x="21" y="1797"/>
                    <a:pt x="0" y="1775"/>
                    <a:pt x="0" y="1750"/>
                  </a:cubicBezTo>
                  <a:cubicBezTo>
                    <a:pt x="0" y="1724"/>
                    <a:pt x="21" y="1703"/>
                    <a:pt x="47" y="1703"/>
                  </a:cubicBezTo>
                  <a:cubicBezTo>
                    <a:pt x="72" y="1703"/>
                    <a:pt x="94" y="1724"/>
                    <a:pt x="94" y="1750"/>
                  </a:cubicBezTo>
                  <a:close/>
                  <a:moveTo>
                    <a:pt x="94" y="1850"/>
                  </a:moveTo>
                  <a:cubicBezTo>
                    <a:pt x="94" y="1875"/>
                    <a:pt x="72" y="1897"/>
                    <a:pt x="47" y="1897"/>
                  </a:cubicBezTo>
                  <a:cubicBezTo>
                    <a:pt x="21" y="1897"/>
                    <a:pt x="0" y="1875"/>
                    <a:pt x="0" y="1850"/>
                  </a:cubicBezTo>
                  <a:cubicBezTo>
                    <a:pt x="0" y="1824"/>
                    <a:pt x="21" y="1803"/>
                    <a:pt x="47" y="1803"/>
                  </a:cubicBezTo>
                  <a:cubicBezTo>
                    <a:pt x="72" y="1803"/>
                    <a:pt x="94" y="1824"/>
                    <a:pt x="94" y="1850"/>
                  </a:cubicBezTo>
                  <a:close/>
                  <a:moveTo>
                    <a:pt x="94" y="1950"/>
                  </a:moveTo>
                  <a:cubicBezTo>
                    <a:pt x="94" y="1975"/>
                    <a:pt x="72" y="1997"/>
                    <a:pt x="47" y="1997"/>
                  </a:cubicBezTo>
                  <a:cubicBezTo>
                    <a:pt x="21" y="1997"/>
                    <a:pt x="0" y="1975"/>
                    <a:pt x="0" y="1950"/>
                  </a:cubicBezTo>
                  <a:cubicBezTo>
                    <a:pt x="0" y="1924"/>
                    <a:pt x="21" y="1903"/>
                    <a:pt x="47" y="1903"/>
                  </a:cubicBezTo>
                  <a:cubicBezTo>
                    <a:pt x="72" y="1903"/>
                    <a:pt x="94" y="1924"/>
                    <a:pt x="94" y="1950"/>
                  </a:cubicBezTo>
                  <a:close/>
                  <a:moveTo>
                    <a:pt x="94" y="2050"/>
                  </a:moveTo>
                  <a:cubicBezTo>
                    <a:pt x="94" y="2075"/>
                    <a:pt x="72" y="2097"/>
                    <a:pt x="47" y="2097"/>
                  </a:cubicBezTo>
                  <a:cubicBezTo>
                    <a:pt x="21" y="2097"/>
                    <a:pt x="0" y="2075"/>
                    <a:pt x="0" y="2050"/>
                  </a:cubicBezTo>
                  <a:cubicBezTo>
                    <a:pt x="0" y="2024"/>
                    <a:pt x="21" y="2003"/>
                    <a:pt x="47" y="2003"/>
                  </a:cubicBezTo>
                  <a:cubicBezTo>
                    <a:pt x="72" y="2003"/>
                    <a:pt x="94" y="2024"/>
                    <a:pt x="94" y="2050"/>
                  </a:cubicBezTo>
                  <a:close/>
                  <a:moveTo>
                    <a:pt x="94" y="2150"/>
                  </a:moveTo>
                  <a:cubicBezTo>
                    <a:pt x="94" y="2175"/>
                    <a:pt x="72" y="2197"/>
                    <a:pt x="47" y="2197"/>
                  </a:cubicBezTo>
                  <a:cubicBezTo>
                    <a:pt x="21" y="2197"/>
                    <a:pt x="0" y="2175"/>
                    <a:pt x="0" y="2150"/>
                  </a:cubicBezTo>
                  <a:cubicBezTo>
                    <a:pt x="0" y="2124"/>
                    <a:pt x="21" y="2103"/>
                    <a:pt x="47" y="2103"/>
                  </a:cubicBezTo>
                  <a:cubicBezTo>
                    <a:pt x="72" y="2103"/>
                    <a:pt x="94" y="2124"/>
                    <a:pt x="94" y="2150"/>
                  </a:cubicBezTo>
                  <a:close/>
                  <a:moveTo>
                    <a:pt x="94" y="2250"/>
                  </a:moveTo>
                  <a:cubicBezTo>
                    <a:pt x="94" y="2275"/>
                    <a:pt x="72" y="2297"/>
                    <a:pt x="47" y="2297"/>
                  </a:cubicBezTo>
                  <a:cubicBezTo>
                    <a:pt x="21" y="2297"/>
                    <a:pt x="0" y="2275"/>
                    <a:pt x="0" y="2250"/>
                  </a:cubicBezTo>
                  <a:cubicBezTo>
                    <a:pt x="0" y="2224"/>
                    <a:pt x="21" y="2203"/>
                    <a:pt x="47" y="2203"/>
                  </a:cubicBezTo>
                  <a:cubicBezTo>
                    <a:pt x="72" y="2203"/>
                    <a:pt x="94" y="2224"/>
                    <a:pt x="94" y="2250"/>
                  </a:cubicBezTo>
                  <a:close/>
                  <a:moveTo>
                    <a:pt x="94" y="2350"/>
                  </a:moveTo>
                  <a:cubicBezTo>
                    <a:pt x="94" y="2375"/>
                    <a:pt x="72" y="2397"/>
                    <a:pt x="47" y="2397"/>
                  </a:cubicBezTo>
                  <a:cubicBezTo>
                    <a:pt x="21" y="2397"/>
                    <a:pt x="0" y="2375"/>
                    <a:pt x="0" y="2350"/>
                  </a:cubicBezTo>
                  <a:cubicBezTo>
                    <a:pt x="0" y="2324"/>
                    <a:pt x="21" y="2303"/>
                    <a:pt x="47" y="2303"/>
                  </a:cubicBezTo>
                  <a:cubicBezTo>
                    <a:pt x="72" y="2303"/>
                    <a:pt x="94" y="2324"/>
                    <a:pt x="94" y="2350"/>
                  </a:cubicBezTo>
                  <a:close/>
                  <a:moveTo>
                    <a:pt x="94" y="2450"/>
                  </a:moveTo>
                  <a:cubicBezTo>
                    <a:pt x="94" y="2475"/>
                    <a:pt x="72" y="2497"/>
                    <a:pt x="47" y="2497"/>
                  </a:cubicBezTo>
                  <a:cubicBezTo>
                    <a:pt x="21" y="2497"/>
                    <a:pt x="0" y="2475"/>
                    <a:pt x="0" y="2450"/>
                  </a:cubicBezTo>
                  <a:cubicBezTo>
                    <a:pt x="0" y="2424"/>
                    <a:pt x="21" y="2403"/>
                    <a:pt x="47" y="2403"/>
                  </a:cubicBezTo>
                  <a:cubicBezTo>
                    <a:pt x="72" y="2403"/>
                    <a:pt x="94" y="2424"/>
                    <a:pt x="94" y="2450"/>
                  </a:cubicBezTo>
                  <a:close/>
                  <a:moveTo>
                    <a:pt x="94" y="2550"/>
                  </a:moveTo>
                  <a:cubicBezTo>
                    <a:pt x="94" y="2575"/>
                    <a:pt x="72" y="2597"/>
                    <a:pt x="47" y="2597"/>
                  </a:cubicBezTo>
                  <a:cubicBezTo>
                    <a:pt x="21" y="2597"/>
                    <a:pt x="0" y="2575"/>
                    <a:pt x="0" y="2550"/>
                  </a:cubicBezTo>
                  <a:cubicBezTo>
                    <a:pt x="0" y="2524"/>
                    <a:pt x="21" y="2503"/>
                    <a:pt x="47" y="2503"/>
                  </a:cubicBezTo>
                  <a:cubicBezTo>
                    <a:pt x="72" y="2503"/>
                    <a:pt x="94" y="2524"/>
                    <a:pt x="94" y="2550"/>
                  </a:cubicBezTo>
                  <a:close/>
                  <a:moveTo>
                    <a:pt x="94" y="2650"/>
                  </a:moveTo>
                  <a:cubicBezTo>
                    <a:pt x="94" y="2675"/>
                    <a:pt x="72" y="2697"/>
                    <a:pt x="47" y="2697"/>
                  </a:cubicBezTo>
                  <a:cubicBezTo>
                    <a:pt x="21" y="2697"/>
                    <a:pt x="0" y="2675"/>
                    <a:pt x="0" y="2650"/>
                  </a:cubicBezTo>
                  <a:cubicBezTo>
                    <a:pt x="0" y="2624"/>
                    <a:pt x="21" y="2603"/>
                    <a:pt x="47" y="2603"/>
                  </a:cubicBezTo>
                  <a:cubicBezTo>
                    <a:pt x="72" y="2603"/>
                    <a:pt x="94" y="2624"/>
                    <a:pt x="94" y="2650"/>
                  </a:cubicBezTo>
                  <a:close/>
                  <a:moveTo>
                    <a:pt x="94" y="2750"/>
                  </a:moveTo>
                  <a:cubicBezTo>
                    <a:pt x="94" y="2775"/>
                    <a:pt x="72" y="2797"/>
                    <a:pt x="47" y="2797"/>
                  </a:cubicBezTo>
                  <a:cubicBezTo>
                    <a:pt x="21" y="2797"/>
                    <a:pt x="0" y="2775"/>
                    <a:pt x="0" y="2750"/>
                  </a:cubicBezTo>
                  <a:cubicBezTo>
                    <a:pt x="0" y="2724"/>
                    <a:pt x="21" y="2703"/>
                    <a:pt x="47" y="2703"/>
                  </a:cubicBezTo>
                  <a:cubicBezTo>
                    <a:pt x="72" y="2703"/>
                    <a:pt x="94" y="2724"/>
                    <a:pt x="94" y="2750"/>
                  </a:cubicBezTo>
                  <a:close/>
                  <a:moveTo>
                    <a:pt x="94" y="2850"/>
                  </a:moveTo>
                  <a:cubicBezTo>
                    <a:pt x="94" y="2875"/>
                    <a:pt x="72" y="2897"/>
                    <a:pt x="47" y="2897"/>
                  </a:cubicBezTo>
                  <a:cubicBezTo>
                    <a:pt x="21" y="2897"/>
                    <a:pt x="0" y="2875"/>
                    <a:pt x="0" y="2850"/>
                  </a:cubicBezTo>
                  <a:cubicBezTo>
                    <a:pt x="0" y="2824"/>
                    <a:pt x="21" y="2803"/>
                    <a:pt x="47" y="2803"/>
                  </a:cubicBezTo>
                  <a:cubicBezTo>
                    <a:pt x="72" y="2803"/>
                    <a:pt x="94" y="2824"/>
                    <a:pt x="94" y="2850"/>
                  </a:cubicBezTo>
                  <a:close/>
                  <a:moveTo>
                    <a:pt x="94" y="2950"/>
                  </a:moveTo>
                  <a:cubicBezTo>
                    <a:pt x="94" y="2975"/>
                    <a:pt x="72" y="2997"/>
                    <a:pt x="47" y="2997"/>
                  </a:cubicBezTo>
                  <a:cubicBezTo>
                    <a:pt x="21" y="2997"/>
                    <a:pt x="0" y="2975"/>
                    <a:pt x="0" y="2950"/>
                  </a:cubicBezTo>
                  <a:cubicBezTo>
                    <a:pt x="0" y="2924"/>
                    <a:pt x="21" y="2903"/>
                    <a:pt x="47" y="2903"/>
                  </a:cubicBezTo>
                  <a:cubicBezTo>
                    <a:pt x="72" y="2903"/>
                    <a:pt x="94" y="2924"/>
                    <a:pt x="94" y="2950"/>
                  </a:cubicBezTo>
                  <a:close/>
                  <a:moveTo>
                    <a:pt x="94" y="3050"/>
                  </a:moveTo>
                  <a:cubicBezTo>
                    <a:pt x="94" y="3075"/>
                    <a:pt x="72" y="3097"/>
                    <a:pt x="47" y="3097"/>
                  </a:cubicBezTo>
                  <a:cubicBezTo>
                    <a:pt x="21" y="3097"/>
                    <a:pt x="0" y="3075"/>
                    <a:pt x="0" y="3050"/>
                  </a:cubicBezTo>
                  <a:cubicBezTo>
                    <a:pt x="0" y="3024"/>
                    <a:pt x="21" y="3003"/>
                    <a:pt x="47" y="3003"/>
                  </a:cubicBezTo>
                  <a:cubicBezTo>
                    <a:pt x="72" y="3003"/>
                    <a:pt x="94" y="3024"/>
                    <a:pt x="94" y="3050"/>
                  </a:cubicBezTo>
                  <a:close/>
                  <a:moveTo>
                    <a:pt x="94" y="3150"/>
                  </a:moveTo>
                  <a:cubicBezTo>
                    <a:pt x="94" y="3175"/>
                    <a:pt x="72" y="3197"/>
                    <a:pt x="47" y="3197"/>
                  </a:cubicBezTo>
                  <a:cubicBezTo>
                    <a:pt x="21" y="3197"/>
                    <a:pt x="0" y="3175"/>
                    <a:pt x="0" y="3150"/>
                  </a:cubicBezTo>
                  <a:cubicBezTo>
                    <a:pt x="0" y="3124"/>
                    <a:pt x="21" y="3103"/>
                    <a:pt x="47" y="3103"/>
                  </a:cubicBezTo>
                  <a:cubicBezTo>
                    <a:pt x="72" y="3103"/>
                    <a:pt x="94" y="3124"/>
                    <a:pt x="94" y="3150"/>
                  </a:cubicBezTo>
                  <a:close/>
                  <a:moveTo>
                    <a:pt x="94" y="3250"/>
                  </a:moveTo>
                  <a:cubicBezTo>
                    <a:pt x="94" y="3275"/>
                    <a:pt x="72" y="3297"/>
                    <a:pt x="47" y="3297"/>
                  </a:cubicBezTo>
                  <a:cubicBezTo>
                    <a:pt x="21" y="3297"/>
                    <a:pt x="0" y="3275"/>
                    <a:pt x="0" y="3250"/>
                  </a:cubicBezTo>
                  <a:cubicBezTo>
                    <a:pt x="0" y="3224"/>
                    <a:pt x="21" y="3203"/>
                    <a:pt x="47" y="3203"/>
                  </a:cubicBezTo>
                  <a:cubicBezTo>
                    <a:pt x="72" y="3203"/>
                    <a:pt x="94" y="3224"/>
                    <a:pt x="94" y="3250"/>
                  </a:cubicBezTo>
                  <a:close/>
                  <a:moveTo>
                    <a:pt x="94" y="3350"/>
                  </a:moveTo>
                  <a:cubicBezTo>
                    <a:pt x="94" y="3375"/>
                    <a:pt x="72" y="3397"/>
                    <a:pt x="47" y="3397"/>
                  </a:cubicBezTo>
                  <a:cubicBezTo>
                    <a:pt x="21" y="3397"/>
                    <a:pt x="0" y="3375"/>
                    <a:pt x="0" y="3350"/>
                  </a:cubicBezTo>
                  <a:cubicBezTo>
                    <a:pt x="0" y="3324"/>
                    <a:pt x="21" y="3303"/>
                    <a:pt x="47" y="3303"/>
                  </a:cubicBezTo>
                  <a:cubicBezTo>
                    <a:pt x="72" y="3303"/>
                    <a:pt x="94" y="3324"/>
                    <a:pt x="94" y="3350"/>
                  </a:cubicBezTo>
                  <a:close/>
                  <a:moveTo>
                    <a:pt x="94" y="3450"/>
                  </a:moveTo>
                  <a:cubicBezTo>
                    <a:pt x="94" y="3475"/>
                    <a:pt x="72" y="3497"/>
                    <a:pt x="47" y="3497"/>
                  </a:cubicBezTo>
                  <a:cubicBezTo>
                    <a:pt x="21" y="3497"/>
                    <a:pt x="0" y="3475"/>
                    <a:pt x="0" y="3450"/>
                  </a:cubicBezTo>
                  <a:cubicBezTo>
                    <a:pt x="0" y="3424"/>
                    <a:pt x="21" y="3403"/>
                    <a:pt x="47" y="3403"/>
                  </a:cubicBezTo>
                  <a:cubicBezTo>
                    <a:pt x="72" y="3403"/>
                    <a:pt x="94" y="3424"/>
                    <a:pt x="94" y="3450"/>
                  </a:cubicBezTo>
                  <a:close/>
                  <a:moveTo>
                    <a:pt x="94" y="3550"/>
                  </a:moveTo>
                  <a:cubicBezTo>
                    <a:pt x="94" y="3575"/>
                    <a:pt x="72" y="3597"/>
                    <a:pt x="47" y="3597"/>
                  </a:cubicBezTo>
                  <a:cubicBezTo>
                    <a:pt x="21" y="3597"/>
                    <a:pt x="0" y="3575"/>
                    <a:pt x="0" y="3550"/>
                  </a:cubicBezTo>
                  <a:cubicBezTo>
                    <a:pt x="0" y="3524"/>
                    <a:pt x="21" y="3503"/>
                    <a:pt x="47" y="3503"/>
                  </a:cubicBezTo>
                  <a:cubicBezTo>
                    <a:pt x="72" y="3503"/>
                    <a:pt x="94" y="3524"/>
                    <a:pt x="94" y="3550"/>
                  </a:cubicBezTo>
                  <a:close/>
                  <a:moveTo>
                    <a:pt x="94" y="3650"/>
                  </a:moveTo>
                  <a:cubicBezTo>
                    <a:pt x="94" y="3675"/>
                    <a:pt x="72" y="3697"/>
                    <a:pt x="47" y="3697"/>
                  </a:cubicBezTo>
                  <a:cubicBezTo>
                    <a:pt x="21" y="3697"/>
                    <a:pt x="0" y="3675"/>
                    <a:pt x="0" y="3650"/>
                  </a:cubicBezTo>
                  <a:cubicBezTo>
                    <a:pt x="0" y="3624"/>
                    <a:pt x="21" y="3603"/>
                    <a:pt x="47" y="3603"/>
                  </a:cubicBezTo>
                  <a:cubicBezTo>
                    <a:pt x="72" y="3603"/>
                    <a:pt x="94" y="3624"/>
                    <a:pt x="94" y="3650"/>
                  </a:cubicBezTo>
                  <a:close/>
                  <a:moveTo>
                    <a:pt x="94" y="3750"/>
                  </a:moveTo>
                  <a:cubicBezTo>
                    <a:pt x="94" y="3775"/>
                    <a:pt x="72" y="3797"/>
                    <a:pt x="47" y="3797"/>
                  </a:cubicBezTo>
                  <a:cubicBezTo>
                    <a:pt x="21" y="3797"/>
                    <a:pt x="0" y="3775"/>
                    <a:pt x="0" y="3750"/>
                  </a:cubicBezTo>
                  <a:cubicBezTo>
                    <a:pt x="0" y="3724"/>
                    <a:pt x="21" y="3703"/>
                    <a:pt x="47" y="3703"/>
                  </a:cubicBezTo>
                  <a:cubicBezTo>
                    <a:pt x="72" y="3703"/>
                    <a:pt x="94" y="3724"/>
                    <a:pt x="94" y="3750"/>
                  </a:cubicBezTo>
                  <a:close/>
                  <a:moveTo>
                    <a:pt x="94" y="3850"/>
                  </a:moveTo>
                  <a:cubicBezTo>
                    <a:pt x="94" y="3875"/>
                    <a:pt x="72" y="3897"/>
                    <a:pt x="47" y="3897"/>
                  </a:cubicBezTo>
                  <a:cubicBezTo>
                    <a:pt x="21" y="3897"/>
                    <a:pt x="0" y="3875"/>
                    <a:pt x="0" y="3850"/>
                  </a:cubicBezTo>
                  <a:cubicBezTo>
                    <a:pt x="0" y="3824"/>
                    <a:pt x="21" y="3803"/>
                    <a:pt x="47" y="3803"/>
                  </a:cubicBezTo>
                  <a:cubicBezTo>
                    <a:pt x="72" y="3803"/>
                    <a:pt x="94" y="3824"/>
                    <a:pt x="94" y="3850"/>
                  </a:cubicBezTo>
                  <a:close/>
                  <a:moveTo>
                    <a:pt x="94" y="3950"/>
                  </a:moveTo>
                  <a:cubicBezTo>
                    <a:pt x="94" y="3975"/>
                    <a:pt x="72" y="3997"/>
                    <a:pt x="47" y="3997"/>
                  </a:cubicBezTo>
                  <a:cubicBezTo>
                    <a:pt x="21" y="3997"/>
                    <a:pt x="0" y="3975"/>
                    <a:pt x="0" y="3950"/>
                  </a:cubicBezTo>
                  <a:cubicBezTo>
                    <a:pt x="0" y="3924"/>
                    <a:pt x="21" y="3903"/>
                    <a:pt x="47" y="3903"/>
                  </a:cubicBezTo>
                  <a:cubicBezTo>
                    <a:pt x="72" y="3903"/>
                    <a:pt x="94" y="3924"/>
                    <a:pt x="94" y="3950"/>
                  </a:cubicBezTo>
                  <a:close/>
                  <a:moveTo>
                    <a:pt x="94" y="4050"/>
                  </a:moveTo>
                  <a:cubicBezTo>
                    <a:pt x="94" y="4075"/>
                    <a:pt x="72" y="4097"/>
                    <a:pt x="47" y="4097"/>
                  </a:cubicBezTo>
                  <a:cubicBezTo>
                    <a:pt x="21" y="4097"/>
                    <a:pt x="0" y="4075"/>
                    <a:pt x="0" y="4050"/>
                  </a:cubicBezTo>
                  <a:cubicBezTo>
                    <a:pt x="0" y="4024"/>
                    <a:pt x="21" y="4003"/>
                    <a:pt x="47" y="4003"/>
                  </a:cubicBezTo>
                  <a:cubicBezTo>
                    <a:pt x="72" y="4003"/>
                    <a:pt x="94" y="4024"/>
                    <a:pt x="94" y="4050"/>
                  </a:cubicBezTo>
                  <a:close/>
                  <a:moveTo>
                    <a:pt x="94" y="4150"/>
                  </a:moveTo>
                  <a:cubicBezTo>
                    <a:pt x="94" y="4175"/>
                    <a:pt x="72" y="4197"/>
                    <a:pt x="47" y="4197"/>
                  </a:cubicBezTo>
                  <a:cubicBezTo>
                    <a:pt x="21" y="4197"/>
                    <a:pt x="0" y="4175"/>
                    <a:pt x="0" y="4150"/>
                  </a:cubicBezTo>
                  <a:cubicBezTo>
                    <a:pt x="0" y="4124"/>
                    <a:pt x="21" y="4103"/>
                    <a:pt x="47" y="4103"/>
                  </a:cubicBezTo>
                  <a:cubicBezTo>
                    <a:pt x="72" y="4103"/>
                    <a:pt x="94" y="4124"/>
                    <a:pt x="94" y="4150"/>
                  </a:cubicBezTo>
                  <a:close/>
                  <a:moveTo>
                    <a:pt x="94" y="4250"/>
                  </a:moveTo>
                  <a:cubicBezTo>
                    <a:pt x="94" y="4275"/>
                    <a:pt x="72" y="4297"/>
                    <a:pt x="47" y="4297"/>
                  </a:cubicBezTo>
                  <a:cubicBezTo>
                    <a:pt x="21" y="4297"/>
                    <a:pt x="0" y="4275"/>
                    <a:pt x="0" y="4250"/>
                  </a:cubicBezTo>
                  <a:cubicBezTo>
                    <a:pt x="0" y="4224"/>
                    <a:pt x="21" y="4203"/>
                    <a:pt x="47" y="4203"/>
                  </a:cubicBezTo>
                  <a:cubicBezTo>
                    <a:pt x="72" y="4203"/>
                    <a:pt x="94" y="4224"/>
                    <a:pt x="94" y="4250"/>
                  </a:cubicBezTo>
                  <a:close/>
                  <a:moveTo>
                    <a:pt x="94" y="4350"/>
                  </a:moveTo>
                  <a:cubicBezTo>
                    <a:pt x="94" y="4375"/>
                    <a:pt x="72" y="4397"/>
                    <a:pt x="47" y="4397"/>
                  </a:cubicBezTo>
                  <a:cubicBezTo>
                    <a:pt x="21" y="4397"/>
                    <a:pt x="0" y="4375"/>
                    <a:pt x="0" y="4350"/>
                  </a:cubicBezTo>
                  <a:cubicBezTo>
                    <a:pt x="0" y="4324"/>
                    <a:pt x="21" y="4303"/>
                    <a:pt x="47" y="4303"/>
                  </a:cubicBezTo>
                  <a:cubicBezTo>
                    <a:pt x="72" y="4303"/>
                    <a:pt x="94" y="4324"/>
                    <a:pt x="94" y="4350"/>
                  </a:cubicBezTo>
                  <a:close/>
                  <a:moveTo>
                    <a:pt x="94" y="4450"/>
                  </a:moveTo>
                  <a:cubicBezTo>
                    <a:pt x="94" y="4475"/>
                    <a:pt x="72" y="4497"/>
                    <a:pt x="47" y="4497"/>
                  </a:cubicBezTo>
                  <a:cubicBezTo>
                    <a:pt x="21" y="4497"/>
                    <a:pt x="0" y="4475"/>
                    <a:pt x="0" y="4450"/>
                  </a:cubicBezTo>
                  <a:cubicBezTo>
                    <a:pt x="0" y="4424"/>
                    <a:pt x="21" y="4403"/>
                    <a:pt x="47" y="4403"/>
                  </a:cubicBezTo>
                  <a:cubicBezTo>
                    <a:pt x="72" y="4403"/>
                    <a:pt x="94" y="4424"/>
                    <a:pt x="94" y="4450"/>
                  </a:cubicBezTo>
                  <a:close/>
                  <a:moveTo>
                    <a:pt x="94" y="4550"/>
                  </a:moveTo>
                  <a:cubicBezTo>
                    <a:pt x="94" y="4575"/>
                    <a:pt x="72" y="4597"/>
                    <a:pt x="47" y="4597"/>
                  </a:cubicBezTo>
                  <a:cubicBezTo>
                    <a:pt x="21" y="4597"/>
                    <a:pt x="0" y="4575"/>
                    <a:pt x="0" y="4550"/>
                  </a:cubicBezTo>
                  <a:cubicBezTo>
                    <a:pt x="0" y="4524"/>
                    <a:pt x="21" y="4503"/>
                    <a:pt x="47" y="4503"/>
                  </a:cubicBezTo>
                  <a:cubicBezTo>
                    <a:pt x="72" y="4503"/>
                    <a:pt x="94" y="4524"/>
                    <a:pt x="94" y="4550"/>
                  </a:cubicBezTo>
                  <a:close/>
                  <a:moveTo>
                    <a:pt x="94" y="4650"/>
                  </a:moveTo>
                  <a:cubicBezTo>
                    <a:pt x="94" y="4675"/>
                    <a:pt x="72" y="4697"/>
                    <a:pt x="47" y="4697"/>
                  </a:cubicBezTo>
                  <a:cubicBezTo>
                    <a:pt x="21" y="4697"/>
                    <a:pt x="0" y="4675"/>
                    <a:pt x="0" y="4650"/>
                  </a:cubicBezTo>
                  <a:cubicBezTo>
                    <a:pt x="0" y="4624"/>
                    <a:pt x="21" y="4603"/>
                    <a:pt x="47" y="4603"/>
                  </a:cubicBezTo>
                  <a:cubicBezTo>
                    <a:pt x="72" y="4603"/>
                    <a:pt x="94" y="4624"/>
                    <a:pt x="94" y="4650"/>
                  </a:cubicBezTo>
                  <a:close/>
                  <a:moveTo>
                    <a:pt x="94" y="4750"/>
                  </a:moveTo>
                  <a:cubicBezTo>
                    <a:pt x="94" y="4775"/>
                    <a:pt x="72" y="4797"/>
                    <a:pt x="47" y="4797"/>
                  </a:cubicBezTo>
                  <a:cubicBezTo>
                    <a:pt x="21" y="4797"/>
                    <a:pt x="0" y="4775"/>
                    <a:pt x="0" y="4750"/>
                  </a:cubicBezTo>
                  <a:cubicBezTo>
                    <a:pt x="0" y="4724"/>
                    <a:pt x="21" y="4703"/>
                    <a:pt x="47" y="4703"/>
                  </a:cubicBezTo>
                  <a:cubicBezTo>
                    <a:pt x="72" y="4703"/>
                    <a:pt x="94" y="4724"/>
                    <a:pt x="94" y="4750"/>
                  </a:cubicBezTo>
                  <a:close/>
                  <a:moveTo>
                    <a:pt x="94" y="4850"/>
                  </a:moveTo>
                  <a:cubicBezTo>
                    <a:pt x="94" y="4875"/>
                    <a:pt x="72" y="4897"/>
                    <a:pt x="47" y="4897"/>
                  </a:cubicBezTo>
                  <a:cubicBezTo>
                    <a:pt x="21" y="4897"/>
                    <a:pt x="0" y="4875"/>
                    <a:pt x="0" y="4850"/>
                  </a:cubicBezTo>
                  <a:cubicBezTo>
                    <a:pt x="0" y="4824"/>
                    <a:pt x="21" y="4803"/>
                    <a:pt x="47" y="4803"/>
                  </a:cubicBezTo>
                  <a:cubicBezTo>
                    <a:pt x="72" y="4803"/>
                    <a:pt x="94" y="4824"/>
                    <a:pt x="94" y="4850"/>
                  </a:cubicBezTo>
                  <a:close/>
                  <a:moveTo>
                    <a:pt x="94" y="4950"/>
                  </a:moveTo>
                  <a:cubicBezTo>
                    <a:pt x="94" y="4975"/>
                    <a:pt x="72" y="4997"/>
                    <a:pt x="47" y="4997"/>
                  </a:cubicBezTo>
                  <a:cubicBezTo>
                    <a:pt x="21" y="4997"/>
                    <a:pt x="0" y="4975"/>
                    <a:pt x="0" y="4950"/>
                  </a:cubicBezTo>
                  <a:cubicBezTo>
                    <a:pt x="0" y="4924"/>
                    <a:pt x="21" y="4903"/>
                    <a:pt x="47" y="4903"/>
                  </a:cubicBezTo>
                  <a:cubicBezTo>
                    <a:pt x="72" y="4903"/>
                    <a:pt x="94" y="4924"/>
                    <a:pt x="94" y="4950"/>
                  </a:cubicBezTo>
                  <a:close/>
                  <a:moveTo>
                    <a:pt x="94" y="5050"/>
                  </a:moveTo>
                  <a:cubicBezTo>
                    <a:pt x="94" y="5075"/>
                    <a:pt x="72" y="5097"/>
                    <a:pt x="47" y="5097"/>
                  </a:cubicBezTo>
                  <a:cubicBezTo>
                    <a:pt x="21" y="5097"/>
                    <a:pt x="0" y="5075"/>
                    <a:pt x="0" y="5050"/>
                  </a:cubicBezTo>
                  <a:cubicBezTo>
                    <a:pt x="0" y="5024"/>
                    <a:pt x="21" y="5003"/>
                    <a:pt x="47" y="5003"/>
                  </a:cubicBezTo>
                  <a:cubicBezTo>
                    <a:pt x="72" y="5003"/>
                    <a:pt x="94" y="5024"/>
                    <a:pt x="94" y="5050"/>
                  </a:cubicBezTo>
                  <a:close/>
                  <a:moveTo>
                    <a:pt x="94" y="5150"/>
                  </a:moveTo>
                  <a:cubicBezTo>
                    <a:pt x="94" y="5175"/>
                    <a:pt x="72" y="5197"/>
                    <a:pt x="47" y="5197"/>
                  </a:cubicBezTo>
                  <a:cubicBezTo>
                    <a:pt x="21" y="5197"/>
                    <a:pt x="0" y="5175"/>
                    <a:pt x="0" y="5150"/>
                  </a:cubicBezTo>
                  <a:cubicBezTo>
                    <a:pt x="0" y="5124"/>
                    <a:pt x="21" y="5103"/>
                    <a:pt x="47" y="5103"/>
                  </a:cubicBezTo>
                  <a:cubicBezTo>
                    <a:pt x="72" y="5103"/>
                    <a:pt x="94" y="5124"/>
                    <a:pt x="94" y="5150"/>
                  </a:cubicBezTo>
                  <a:close/>
                  <a:moveTo>
                    <a:pt x="94" y="5250"/>
                  </a:moveTo>
                  <a:cubicBezTo>
                    <a:pt x="94" y="5275"/>
                    <a:pt x="72" y="5297"/>
                    <a:pt x="47" y="5297"/>
                  </a:cubicBezTo>
                  <a:cubicBezTo>
                    <a:pt x="21" y="5297"/>
                    <a:pt x="0" y="5275"/>
                    <a:pt x="0" y="5250"/>
                  </a:cubicBezTo>
                  <a:cubicBezTo>
                    <a:pt x="0" y="5224"/>
                    <a:pt x="21" y="5203"/>
                    <a:pt x="47" y="5203"/>
                  </a:cubicBezTo>
                  <a:cubicBezTo>
                    <a:pt x="72" y="5203"/>
                    <a:pt x="94" y="5224"/>
                    <a:pt x="94" y="5250"/>
                  </a:cubicBezTo>
                  <a:close/>
                  <a:moveTo>
                    <a:pt x="94" y="5350"/>
                  </a:moveTo>
                  <a:cubicBezTo>
                    <a:pt x="94" y="5375"/>
                    <a:pt x="72" y="5397"/>
                    <a:pt x="47" y="5397"/>
                  </a:cubicBezTo>
                  <a:cubicBezTo>
                    <a:pt x="21" y="5397"/>
                    <a:pt x="0" y="5375"/>
                    <a:pt x="0" y="5350"/>
                  </a:cubicBezTo>
                  <a:cubicBezTo>
                    <a:pt x="0" y="5324"/>
                    <a:pt x="21" y="5303"/>
                    <a:pt x="47" y="5303"/>
                  </a:cubicBezTo>
                  <a:cubicBezTo>
                    <a:pt x="72" y="5303"/>
                    <a:pt x="94" y="5324"/>
                    <a:pt x="94" y="5350"/>
                  </a:cubicBezTo>
                  <a:close/>
                  <a:moveTo>
                    <a:pt x="94" y="5450"/>
                  </a:moveTo>
                  <a:cubicBezTo>
                    <a:pt x="94" y="5475"/>
                    <a:pt x="72" y="5497"/>
                    <a:pt x="47" y="5497"/>
                  </a:cubicBezTo>
                  <a:cubicBezTo>
                    <a:pt x="21" y="5497"/>
                    <a:pt x="0" y="5475"/>
                    <a:pt x="0" y="5450"/>
                  </a:cubicBezTo>
                  <a:cubicBezTo>
                    <a:pt x="0" y="5424"/>
                    <a:pt x="21" y="5403"/>
                    <a:pt x="47" y="5403"/>
                  </a:cubicBezTo>
                  <a:cubicBezTo>
                    <a:pt x="72" y="5403"/>
                    <a:pt x="94" y="5424"/>
                    <a:pt x="94" y="5450"/>
                  </a:cubicBezTo>
                  <a:close/>
                  <a:moveTo>
                    <a:pt x="94" y="5550"/>
                  </a:moveTo>
                  <a:cubicBezTo>
                    <a:pt x="94" y="5575"/>
                    <a:pt x="72" y="5597"/>
                    <a:pt x="47" y="5597"/>
                  </a:cubicBezTo>
                  <a:cubicBezTo>
                    <a:pt x="21" y="5597"/>
                    <a:pt x="0" y="5575"/>
                    <a:pt x="0" y="5550"/>
                  </a:cubicBezTo>
                  <a:cubicBezTo>
                    <a:pt x="0" y="5524"/>
                    <a:pt x="21" y="5503"/>
                    <a:pt x="47" y="5503"/>
                  </a:cubicBezTo>
                  <a:cubicBezTo>
                    <a:pt x="72" y="5503"/>
                    <a:pt x="94" y="5524"/>
                    <a:pt x="94" y="5550"/>
                  </a:cubicBezTo>
                  <a:close/>
                  <a:moveTo>
                    <a:pt x="94" y="5650"/>
                  </a:moveTo>
                  <a:cubicBezTo>
                    <a:pt x="94" y="5675"/>
                    <a:pt x="72" y="5697"/>
                    <a:pt x="47" y="5697"/>
                  </a:cubicBezTo>
                  <a:cubicBezTo>
                    <a:pt x="21" y="5697"/>
                    <a:pt x="0" y="5675"/>
                    <a:pt x="0" y="5650"/>
                  </a:cubicBezTo>
                  <a:cubicBezTo>
                    <a:pt x="0" y="5624"/>
                    <a:pt x="21" y="5603"/>
                    <a:pt x="47" y="5603"/>
                  </a:cubicBezTo>
                  <a:cubicBezTo>
                    <a:pt x="72" y="5603"/>
                    <a:pt x="94" y="5624"/>
                    <a:pt x="94" y="5650"/>
                  </a:cubicBezTo>
                  <a:close/>
                  <a:moveTo>
                    <a:pt x="94" y="5750"/>
                  </a:moveTo>
                  <a:cubicBezTo>
                    <a:pt x="94" y="5775"/>
                    <a:pt x="72" y="5797"/>
                    <a:pt x="47" y="5797"/>
                  </a:cubicBezTo>
                  <a:cubicBezTo>
                    <a:pt x="21" y="5797"/>
                    <a:pt x="0" y="5775"/>
                    <a:pt x="0" y="5750"/>
                  </a:cubicBezTo>
                  <a:cubicBezTo>
                    <a:pt x="0" y="5724"/>
                    <a:pt x="21" y="5703"/>
                    <a:pt x="47" y="5703"/>
                  </a:cubicBezTo>
                  <a:cubicBezTo>
                    <a:pt x="72" y="5703"/>
                    <a:pt x="94" y="5724"/>
                    <a:pt x="94" y="5750"/>
                  </a:cubicBezTo>
                  <a:close/>
                  <a:moveTo>
                    <a:pt x="94" y="5850"/>
                  </a:moveTo>
                  <a:cubicBezTo>
                    <a:pt x="94" y="5875"/>
                    <a:pt x="72" y="5897"/>
                    <a:pt x="47" y="5897"/>
                  </a:cubicBezTo>
                  <a:cubicBezTo>
                    <a:pt x="21" y="5897"/>
                    <a:pt x="0" y="5875"/>
                    <a:pt x="0" y="5850"/>
                  </a:cubicBezTo>
                  <a:cubicBezTo>
                    <a:pt x="0" y="5824"/>
                    <a:pt x="21" y="5803"/>
                    <a:pt x="47" y="5803"/>
                  </a:cubicBezTo>
                  <a:cubicBezTo>
                    <a:pt x="72" y="5803"/>
                    <a:pt x="94" y="5824"/>
                    <a:pt x="94" y="5850"/>
                  </a:cubicBezTo>
                  <a:close/>
                  <a:moveTo>
                    <a:pt x="420" y="50"/>
                  </a:moveTo>
                  <a:cubicBezTo>
                    <a:pt x="420" y="75"/>
                    <a:pt x="398" y="97"/>
                    <a:pt x="373" y="97"/>
                  </a:cubicBezTo>
                  <a:cubicBezTo>
                    <a:pt x="347" y="97"/>
                    <a:pt x="326" y="75"/>
                    <a:pt x="326" y="50"/>
                  </a:cubicBezTo>
                  <a:cubicBezTo>
                    <a:pt x="326" y="24"/>
                    <a:pt x="347" y="3"/>
                    <a:pt x="373" y="3"/>
                  </a:cubicBezTo>
                  <a:cubicBezTo>
                    <a:pt x="398" y="3"/>
                    <a:pt x="420" y="24"/>
                    <a:pt x="420" y="50"/>
                  </a:cubicBezTo>
                  <a:close/>
                  <a:moveTo>
                    <a:pt x="420" y="150"/>
                  </a:moveTo>
                  <a:cubicBezTo>
                    <a:pt x="420" y="175"/>
                    <a:pt x="398" y="197"/>
                    <a:pt x="373" y="197"/>
                  </a:cubicBezTo>
                  <a:cubicBezTo>
                    <a:pt x="347" y="197"/>
                    <a:pt x="326" y="175"/>
                    <a:pt x="326" y="150"/>
                  </a:cubicBezTo>
                  <a:cubicBezTo>
                    <a:pt x="326" y="124"/>
                    <a:pt x="347" y="103"/>
                    <a:pt x="373" y="103"/>
                  </a:cubicBezTo>
                  <a:cubicBezTo>
                    <a:pt x="398" y="103"/>
                    <a:pt x="420" y="124"/>
                    <a:pt x="420" y="150"/>
                  </a:cubicBezTo>
                  <a:close/>
                  <a:moveTo>
                    <a:pt x="420" y="250"/>
                  </a:moveTo>
                  <a:cubicBezTo>
                    <a:pt x="420" y="275"/>
                    <a:pt x="398" y="297"/>
                    <a:pt x="373" y="297"/>
                  </a:cubicBezTo>
                  <a:cubicBezTo>
                    <a:pt x="347" y="297"/>
                    <a:pt x="326" y="275"/>
                    <a:pt x="326" y="250"/>
                  </a:cubicBezTo>
                  <a:cubicBezTo>
                    <a:pt x="326" y="224"/>
                    <a:pt x="347" y="203"/>
                    <a:pt x="373" y="203"/>
                  </a:cubicBezTo>
                  <a:cubicBezTo>
                    <a:pt x="398" y="203"/>
                    <a:pt x="420" y="224"/>
                    <a:pt x="420" y="250"/>
                  </a:cubicBezTo>
                  <a:close/>
                  <a:moveTo>
                    <a:pt x="420" y="350"/>
                  </a:moveTo>
                  <a:cubicBezTo>
                    <a:pt x="420" y="375"/>
                    <a:pt x="398" y="397"/>
                    <a:pt x="373" y="397"/>
                  </a:cubicBezTo>
                  <a:cubicBezTo>
                    <a:pt x="347" y="397"/>
                    <a:pt x="326" y="375"/>
                    <a:pt x="326" y="350"/>
                  </a:cubicBezTo>
                  <a:cubicBezTo>
                    <a:pt x="326" y="324"/>
                    <a:pt x="347" y="303"/>
                    <a:pt x="373" y="303"/>
                  </a:cubicBezTo>
                  <a:cubicBezTo>
                    <a:pt x="398" y="303"/>
                    <a:pt x="420" y="324"/>
                    <a:pt x="420" y="350"/>
                  </a:cubicBezTo>
                  <a:close/>
                  <a:moveTo>
                    <a:pt x="420" y="450"/>
                  </a:moveTo>
                  <a:cubicBezTo>
                    <a:pt x="420" y="475"/>
                    <a:pt x="398" y="497"/>
                    <a:pt x="373" y="497"/>
                  </a:cubicBezTo>
                  <a:cubicBezTo>
                    <a:pt x="347" y="497"/>
                    <a:pt x="326" y="475"/>
                    <a:pt x="326" y="450"/>
                  </a:cubicBezTo>
                  <a:cubicBezTo>
                    <a:pt x="326" y="424"/>
                    <a:pt x="347" y="403"/>
                    <a:pt x="373" y="403"/>
                  </a:cubicBezTo>
                  <a:cubicBezTo>
                    <a:pt x="398" y="403"/>
                    <a:pt x="420" y="424"/>
                    <a:pt x="420" y="450"/>
                  </a:cubicBezTo>
                  <a:close/>
                  <a:moveTo>
                    <a:pt x="420" y="550"/>
                  </a:moveTo>
                  <a:cubicBezTo>
                    <a:pt x="420" y="575"/>
                    <a:pt x="398" y="597"/>
                    <a:pt x="373" y="597"/>
                  </a:cubicBezTo>
                  <a:cubicBezTo>
                    <a:pt x="347" y="597"/>
                    <a:pt x="326" y="575"/>
                    <a:pt x="326" y="550"/>
                  </a:cubicBezTo>
                  <a:cubicBezTo>
                    <a:pt x="326" y="524"/>
                    <a:pt x="347" y="503"/>
                    <a:pt x="373" y="503"/>
                  </a:cubicBezTo>
                  <a:cubicBezTo>
                    <a:pt x="398" y="503"/>
                    <a:pt x="420" y="524"/>
                    <a:pt x="420" y="550"/>
                  </a:cubicBezTo>
                  <a:close/>
                  <a:moveTo>
                    <a:pt x="420" y="650"/>
                  </a:moveTo>
                  <a:cubicBezTo>
                    <a:pt x="420" y="675"/>
                    <a:pt x="398" y="697"/>
                    <a:pt x="373" y="697"/>
                  </a:cubicBezTo>
                  <a:cubicBezTo>
                    <a:pt x="347" y="697"/>
                    <a:pt x="326" y="675"/>
                    <a:pt x="326" y="650"/>
                  </a:cubicBezTo>
                  <a:cubicBezTo>
                    <a:pt x="326" y="624"/>
                    <a:pt x="347" y="603"/>
                    <a:pt x="373" y="603"/>
                  </a:cubicBezTo>
                  <a:cubicBezTo>
                    <a:pt x="398" y="603"/>
                    <a:pt x="420" y="624"/>
                    <a:pt x="420" y="650"/>
                  </a:cubicBezTo>
                  <a:close/>
                  <a:moveTo>
                    <a:pt x="420" y="750"/>
                  </a:moveTo>
                  <a:cubicBezTo>
                    <a:pt x="420" y="775"/>
                    <a:pt x="398" y="797"/>
                    <a:pt x="373" y="797"/>
                  </a:cubicBezTo>
                  <a:cubicBezTo>
                    <a:pt x="347" y="797"/>
                    <a:pt x="326" y="775"/>
                    <a:pt x="326" y="750"/>
                  </a:cubicBezTo>
                  <a:cubicBezTo>
                    <a:pt x="326" y="724"/>
                    <a:pt x="347" y="703"/>
                    <a:pt x="373" y="703"/>
                  </a:cubicBezTo>
                  <a:cubicBezTo>
                    <a:pt x="398" y="703"/>
                    <a:pt x="420" y="724"/>
                    <a:pt x="420" y="750"/>
                  </a:cubicBezTo>
                  <a:close/>
                  <a:moveTo>
                    <a:pt x="420" y="850"/>
                  </a:moveTo>
                  <a:cubicBezTo>
                    <a:pt x="420" y="875"/>
                    <a:pt x="398" y="897"/>
                    <a:pt x="373" y="897"/>
                  </a:cubicBezTo>
                  <a:cubicBezTo>
                    <a:pt x="347" y="897"/>
                    <a:pt x="326" y="875"/>
                    <a:pt x="326" y="850"/>
                  </a:cubicBezTo>
                  <a:cubicBezTo>
                    <a:pt x="326" y="824"/>
                    <a:pt x="347" y="803"/>
                    <a:pt x="373" y="803"/>
                  </a:cubicBezTo>
                  <a:cubicBezTo>
                    <a:pt x="398" y="803"/>
                    <a:pt x="420" y="824"/>
                    <a:pt x="420" y="850"/>
                  </a:cubicBezTo>
                  <a:close/>
                  <a:moveTo>
                    <a:pt x="420" y="950"/>
                  </a:moveTo>
                  <a:cubicBezTo>
                    <a:pt x="420" y="975"/>
                    <a:pt x="398" y="997"/>
                    <a:pt x="373" y="997"/>
                  </a:cubicBezTo>
                  <a:cubicBezTo>
                    <a:pt x="347" y="997"/>
                    <a:pt x="326" y="975"/>
                    <a:pt x="326" y="950"/>
                  </a:cubicBezTo>
                  <a:cubicBezTo>
                    <a:pt x="326" y="924"/>
                    <a:pt x="347" y="903"/>
                    <a:pt x="373" y="903"/>
                  </a:cubicBezTo>
                  <a:cubicBezTo>
                    <a:pt x="398" y="903"/>
                    <a:pt x="420" y="924"/>
                    <a:pt x="420" y="950"/>
                  </a:cubicBezTo>
                  <a:close/>
                  <a:moveTo>
                    <a:pt x="420" y="1050"/>
                  </a:moveTo>
                  <a:cubicBezTo>
                    <a:pt x="420" y="1075"/>
                    <a:pt x="398" y="1097"/>
                    <a:pt x="373" y="1097"/>
                  </a:cubicBezTo>
                  <a:cubicBezTo>
                    <a:pt x="347" y="1097"/>
                    <a:pt x="326" y="1075"/>
                    <a:pt x="326" y="1050"/>
                  </a:cubicBezTo>
                  <a:cubicBezTo>
                    <a:pt x="326" y="1024"/>
                    <a:pt x="347" y="1003"/>
                    <a:pt x="373" y="1003"/>
                  </a:cubicBezTo>
                  <a:cubicBezTo>
                    <a:pt x="398" y="1003"/>
                    <a:pt x="420" y="1024"/>
                    <a:pt x="420" y="1050"/>
                  </a:cubicBezTo>
                  <a:close/>
                  <a:moveTo>
                    <a:pt x="420" y="1150"/>
                  </a:moveTo>
                  <a:cubicBezTo>
                    <a:pt x="420" y="1175"/>
                    <a:pt x="398" y="1197"/>
                    <a:pt x="373" y="1197"/>
                  </a:cubicBezTo>
                  <a:cubicBezTo>
                    <a:pt x="347" y="1197"/>
                    <a:pt x="326" y="1175"/>
                    <a:pt x="326" y="1150"/>
                  </a:cubicBezTo>
                  <a:cubicBezTo>
                    <a:pt x="326" y="1124"/>
                    <a:pt x="347" y="1103"/>
                    <a:pt x="373" y="1103"/>
                  </a:cubicBezTo>
                  <a:cubicBezTo>
                    <a:pt x="398" y="1103"/>
                    <a:pt x="420" y="1124"/>
                    <a:pt x="420" y="1150"/>
                  </a:cubicBezTo>
                  <a:close/>
                  <a:moveTo>
                    <a:pt x="420" y="1250"/>
                  </a:moveTo>
                  <a:cubicBezTo>
                    <a:pt x="420" y="1275"/>
                    <a:pt x="398" y="1297"/>
                    <a:pt x="373" y="1297"/>
                  </a:cubicBezTo>
                  <a:cubicBezTo>
                    <a:pt x="347" y="1297"/>
                    <a:pt x="326" y="1275"/>
                    <a:pt x="326" y="1250"/>
                  </a:cubicBezTo>
                  <a:cubicBezTo>
                    <a:pt x="326" y="1224"/>
                    <a:pt x="347" y="1203"/>
                    <a:pt x="373" y="1203"/>
                  </a:cubicBezTo>
                  <a:cubicBezTo>
                    <a:pt x="398" y="1203"/>
                    <a:pt x="420" y="1224"/>
                    <a:pt x="420" y="1250"/>
                  </a:cubicBezTo>
                  <a:close/>
                  <a:moveTo>
                    <a:pt x="420" y="1350"/>
                  </a:moveTo>
                  <a:cubicBezTo>
                    <a:pt x="420" y="1375"/>
                    <a:pt x="398" y="1397"/>
                    <a:pt x="373" y="1397"/>
                  </a:cubicBezTo>
                  <a:cubicBezTo>
                    <a:pt x="347" y="1397"/>
                    <a:pt x="326" y="1375"/>
                    <a:pt x="326" y="1350"/>
                  </a:cubicBezTo>
                  <a:cubicBezTo>
                    <a:pt x="326" y="1324"/>
                    <a:pt x="347" y="1303"/>
                    <a:pt x="373" y="1303"/>
                  </a:cubicBezTo>
                  <a:cubicBezTo>
                    <a:pt x="398" y="1303"/>
                    <a:pt x="420" y="1324"/>
                    <a:pt x="420" y="1350"/>
                  </a:cubicBezTo>
                  <a:close/>
                  <a:moveTo>
                    <a:pt x="420" y="1450"/>
                  </a:moveTo>
                  <a:cubicBezTo>
                    <a:pt x="420" y="1475"/>
                    <a:pt x="398" y="1497"/>
                    <a:pt x="373" y="1497"/>
                  </a:cubicBezTo>
                  <a:cubicBezTo>
                    <a:pt x="347" y="1497"/>
                    <a:pt x="326" y="1475"/>
                    <a:pt x="326" y="1450"/>
                  </a:cubicBezTo>
                  <a:cubicBezTo>
                    <a:pt x="326" y="1424"/>
                    <a:pt x="347" y="1403"/>
                    <a:pt x="373" y="1403"/>
                  </a:cubicBezTo>
                  <a:cubicBezTo>
                    <a:pt x="398" y="1403"/>
                    <a:pt x="420" y="1424"/>
                    <a:pt x="420" y="1450"/>
                  </a:cubicBezTo>
                  <a:close/>
                  <a:moveTo>
                    <a:pt x="420" y="1550"/>
                  </a:moveTo>
                  <a:cubicBezTo>
                    <a:pt x="420" y="1575"/>
                    <a:pt x="398" y="1597"/>
                    <a:pt x="373" y="1597"/>
                  </a:cubicBezTo>
                  <a:cubicBezTo>
                    <a:pt x="347" y="1597"/>
                    <a:pt x="326" y="1575"/>
                    <a:pt x="326" y="1550"/>
                  </a:cubicBezTo>
                  <a:cubicBezTo>
                    <a:pt x="326" y="1524"/>
                    <a:pt x="347" y="1503"/>
                    <a:pt x="373" y="1503"/>
                  </a:cubicBezTo>
                  <a:cubicBezTo>
                    <a:pt x="398" y="1503"/>
                    <a:pt x="420" y="1524"/>
                    <a:pt x="420" y="1550"/>
                  </a:cubicBezTo>
                  <a:close/>
                  <a:moveTo>
                    <a:pt x="420" y="1650"/>
                  </a:moveTo>
                  <a:cubicBezTo>
                    <a:pt x="420" y="1675"/>
                    <a:pt x="398" y="1697"/>
                    <a:pt x="373" y="1697"/>
                  </a:cubicBezTo>
                  <a:cubicBezTo>
                    <a:pt x="347" y="1697"/>
                    <a:pt x="326" y="1675"/>
                    <a:pt x="326" y="1650"/>
                  </a:cubicBezTo>
                  <a:cubicBezTo>
                    <a:pt x="326" y="1624"/>
                    <a:pt x="347" y="1603"/>
                    <a:pt x="373" y="1603"/>
                  </a:cubicBezTo>
                  <a:cubicBezTo>
                    <a:pt x="398" y="1603"/>
                    <a:pt x="420" y="1624"/>
                    <a:pt x="420" y="1650"/>
                  </a:cubicBezTo>
                  <a:close/>
                  <a:moveTo>
                    <a:pt x="420" y="1750"/>
                  </a:moveTo>
                  <a:cubicBezTo>
                    <a:pt x="420" y="1775"/>
                    <a:pt x="398" y="1797"/>
                    <a:pt x="373" y="1797"/>
                  </a:cubicBezTo>
                  <a:cubicBezTo>
                    <a:pt x="347" y="1797"/>
                    <a:pt x="326" y="1775"/>
                    <a:pt x="326" y="1750"/>
                  </a:cubicBezTo>
                  <a:cubicBezTo>
                    <a:pt x="326" y="1724"/>
                    <a:pt x="347" y="1703"/>
                    <a:pt x="373" y="1703"/>
                  </a:cubicBezTo>
                  <a:cubicBezTo>
                    <a:pt x="398" y="1703"/>
                    <a:pt x="420" y="1724"/>
                    <a:pt x="420" y="1750"/>
                  </a:cubicBezTo>
                  <a:close/>
                  <a:moveTo>
                    <a:pt x="420" y="1850"/>
                  </a:moveTo>
                  <a:cubicBezTo>
                    <a:pt x="420" y="1875"/>
                    <a:pt x="398" y="1897"/>
                    <a:pt x="373" y="1897"/>
                  </a:cubicBezTo>
                  <a:cubicBezTo>
                    <a:pt x="347" y="1897"/>
                    <a:pt x="326" y="1875"/>
                    <a:pt x="326" y="1850"/>
                  </a:cubicBezTo>
                  <a:cubicBezTo>
                    <a:pt x="326" y="1824"/>
                    <a:pt x="347" y="1803"/>
                    <a:pt x="373" y="1803"/>
                  </a:cubicBezTo>
                  <a:cubicBezTo>
                    <a:pt x="398" y="1803"/>
                    <a:pt x="420" y="1824"/>
                    <a:pt x="420" y="1850"/>
                  </a:cubicBezTo>
                  <a:close/>
                  <a:moveTo>
                    <a:pt x="420" y="1950"/>
                  </a:moveTo>
                  <a:cubicBezTo>
                    <a:pt x="420" y="1975"/>
                    <a:pt x="398" y="1997"/>
                    <a:pt x="373" y="1997"/>
                  </a:cubicBezTo>
                  <a:cubicBezTo>
                    <a:pt x="347" y="1997"/>
                    <a:pt x="326" y="1975"/>
                    <a:pt x="326" y="1950"/>
                  </a:cubicBezTo>
                  <a:cubicBezTo>
                    <a:pt x="326" y="1924"/>
                    <a:pt x="347" y="1903"/>
                    <a:pt x="373" y="1903"/>
                  </a:cubicBezTo>
                  <a:cubicBezTo>
                    <a:pt x="398" y="1903"/>
                    <a:pt x="420" y="1924"/>
                    <a:pt x="420" y="1950"/>
                  </a:cubicBezTo>
                  <a:close/>
                  <a:moveTo>
                    <a:pt x="420" y="2050"/>
                  </a:moveTo>
                  <a:cubicBezTo>
                    <a:pt x="420" y="2075"/>
                    <a:pt x="398" y="2097"/>
                    <a:pt x="373" y="2097"/>
                  </a:cubicBezTo>
                  <a:cubicBezTo>
                    <a:pt x="347" y="2097"/>
                    <a:pt x="326" y="2075"/>
                    <a:pt x="326" y="2050"/>
                  </a:cubicBezTo>
                  <a:cubicBezTo>
                    <a:pt x="326" y="2024"/>
                    <a:pt x="347" y="2003"/>
                    <a:pt x="373" y="2003"/>
                  </a:cubicBezTo>
                  <a:cubicBezTo>
                    <a:pt x="398" y="2003"/>
                    <a:pt x="420" y="2024"/>
                    <a:pt x="420" y="2050"/>
                  </a:cubicBezTo>
                  <a:close/>
                  <a:moveTo>
                    <a:pt x="420" y="2150"/>
                  </a:moveTo>
                  <a:cubicBezTo>
                    <a:pt x="420" y="2175"/>
                    <a:pt x="398" y="2197"/>
                    <a:pt x="373" y="2197"/>
                  </a:cubicBezTo>
                  <a:cubicBezTo>
                    <a:pt x="347" y="2197"/>
                    <a:pt x="326" y="2175"/>
                    <a:pt x="326" y="2150"/>
                  </a:cubicBezTo>
                  <a:cubicBezTo>
                    <a:pt x="326" y="2124"/>
                    <a:pt x="347" y="2103"/>
                    <a:pt x="373" y="2103"/>
                  </a:cubicBezTo>
                  <a:cubicBezTo>
                    <a:pt x="398" y="2103"/>
                    <a:pt x="420" y="2124"/>
                    <a:pt x="420" y="2150"/>
                  </a:cubicBezTo>
                  <a:close/>
                  <a:moveTo>
                    <a:pt x="420" y="2250"/>
                  </a:moveTo>
                  <a:cubicBezTo>
                    <a:pt x="420" y="2275"/>
                    <a:pt x="398" y="2297"/>
                    <a:pt x="373" y="2297"/>
                  </a:cubicBezTo>
                  <a:cubicBezTo>
                    <a:pt x="347" y="2297"/>
                    <a:pt x="326" y="2275"/>
                    <a:pt x="326" y="2250"/>
                  </a:cubicBezTo>
                  <a:cubicBezTo>
                    <a:pt x="326" y="2224"/>
                    <a:pt x="347" y="2203"/>
                    <a:pt x="373" y="2203"/>
                  </a:cubicBezTo>
                  <a:cubicBezTo>
                    <a:pt x="398" y="2203"/>
                    <a:pt x="420" y="2224"/>
                    <a:pt x="420" y="2250"/>
                  </a:cubicBezTo>
                  <a:close/>
                  <a:moveTo>
                    <a:pt x="420" y="2350"/>
                  </a:moveTo>
                  <a:cubicBezTo>
                    <a:pt x="420" y="2375"/>
                    <a:pt x="398" y="2397"/>
                    <a:pt x="373" y="2397"/>
                  </a:cubicBezTo>
                  <a:cubicBezTo>
                    <a:pt x="347" y="2397"/>
                    <a:pt x="326" y="2375"/>
                    <a:pt x="326" y="2350"/>
                  </a:cubicBezTo>
                  <a:cubicBezTo>
                    <a:pt x="326" y="2324"/>
                    <a:pt x="347" y="2303"/>
                    <a:pt x="373" y="2303"/>
                  </a:cubicBezTo>
                  <a:cubicBezTo>
                    <a:pt x="398" y="2303"/>
                    <a:pt x="420" y="2324"/>
                    <a:pt x="420" y="2350"/>
                  </a:cubicBezTo>
                  <a:close/>
                  <a:moveTo>
                    <a:pt x="420" y="2450"/>
                  </a:moveTo>
                  <a:cubicBezTo>
                    <a:pt x="420" y="2475"/>
                    <a:pt x="398" y="2497"/>
                    <a:pt x="373" y="2497"/>
                  </a:cubicBezTo>
                  <a:cubicBezTo>
                    <a:pt x="347" y="2497"/>
                    <a:pt x="326" y="2475"/>
                    <a:pt x="326" y="2450"/>
                  </a:cubicBezTo>
                  <a:cubicBezTo>
                    <a:pt x="326" y="2424"/>
                    <a:pt x="347" y="2403"/>
                    <a:pt x="373" y="2403"/>
                  </a:cubicBezTo>
                  <a:cubicBezTo>
                    <a:pt x="398" y="2403"/>
                    <a:pt x="420" y="2424"/>
                    <a:pt x="420" y="2450"/>
                  </a:cubicBezTo>
                  <a:close/>
                  <a:moveTo>
                    <a:pt x="420" y="2550"/>
                  </a:moveTo>
                  <a:cubicBezTo>
                    <a:pt x="420" y="2575"/>
                    <a:pt x="398" y="2597"/>
                    <a:pt x="373" y="2597"/>
                  </a:cubicBezTo>
                  <a:cubicBezTo>
                    <a:pt x="347" y="2597"/>
                    <a:pt x="326" y="2575"/>
                    <a:pt x="326" y="2550"/>
                  </a:cubicBezTo>
                  <a:cubicBezTo>
                    <a:pt x="326" y="2524"/>
                    <a:pt x="347" y="2503"/>
                    <a:pt x="373" y="2503"/>
                  </a:cubicBezTo>
                  <a:cubicBezTo>
                    <a:pt x="398" y="2503"/>
                    <a:pt x="420" y="2524"/>
                    <a:pt x="420" y="2550"/>
                  </a:cubicBezTo>
                  <a:close/>
                  <a:moveTo>
                    <a:pt x="420" y="2650"/>
                  </a:moveTo>
                  <a:cubicBezTo>
                    <a:pt x="420" y="2675"/>
                    <a:pt x="398" y="2697"/>
                    <a:pt x="373" y="2697"/>
                  </a:cubicBezTo>
                  <a:cubicBezTo>
                    <a:pt x="347" y="2697"/>
                    <a:pt x="326" y="2675"/>
                    <a:pt x="326" y="2650"/>
                  </a:cubicBezTo>
                  <a:cubicBezTo>
                    <a:pt x="326" y="2624"/>
                    <a:pt x="347" y="2603"/>
                    <a:pt x="373" y="2603"/>
                  </a:cubicBezTo>
                  <a:cubicBezTo>
                    <a:pt x="398" y="2603"/>
                    <a:pt x="420" y="2624"/>
                    <a:pt x="420" y="2650"/>
                  </a:cubicBezTo>
                  <a:close/>
                  <a:moveTo>
                    <a:pt x="420" y="2750"/>
                  </a:moveTo>
                  <a:cubicBezTo>
                    <a:pt x="420" y="2775"/>
                    <a:pt x="398" y="2797"/>
                    <a:pt x="373" y="2797"/>
                  </a:cubicBezTo>
                  <a:cubicBezTo>
                    <a:pt x="347" y="2797"/>
                    <a:pt x="326" y="2775"/>
                    <a:pt x="326" y="2750"/>
                  </a:cubicBezTo>
                  <a:cubicBezTo>
                    <a:pt x="326" y="2724"/>
                    <a:pt x="347" y="2703"/>
                    <a:pt x="373" y="2703"/>
                  </a:cubicBezTo>
                  <a:cubicBezTo>
                    <a:pt x="398" y="2703"/>
                    <a:pt x="420" y="2724"/>
                    <a:pt x="420" y="2750"/>
                  </a:cubicBezTo>
                  <a:close/>
                  <a:moveTo>
                    <a:pt x="420" y="2850"/>
                  </a:moveTo>
                  <a:cubicBezTo>
                    <a:pt x="420" y="2875"/>
                    <a:pt x="398" y="2897"/>
                    <a:pt x="373" y="2897"/>
                  </a:cubicBezTo>
                  <a:cubicBezTo>
                    <a:pt x="347" y="2897"/>
                    <a:pt x="326" y="2875"/>
                    <a:pt x="326" y="2850"/>
                  </a:cubicBezTo>
                  <a:cubicBezTo>
                    <a:pt x="326" y="2824"/>
                    <a:pt x="347" y="2803"/>
                    <a:pt x="373" y="2803"/>
                  </a:cubicBezTo>
                  <a:cubicBezTo>
                    <a:pt x="398" y="2803"/>
                    <a:pt x="420" y="2824"/>
                    <a:pt x="420" y="2850"/>
                  </a:cubicBezTo>
                  <a:close/>
                  <a:moveTo>
                    <a:pt x="420" y="2950"/>
                  </a:moveTo>
                  <a:cubicBezTo>
                    <a:pt x="420" y="2975"/>
                    <a:pt x="398" y="2997"/>
                    <a:pt x="373" y="2997"/>
                  </a:cubicBezTo>
                  <a:cubicBezTo>
                    <a:pt x="347" y="2997"/>
                    <a:pt x="326" y="2975"/>
                    <a:pt x="326" y="2950"/>
                  </a:cubicBezTo>
                  <a:cubicBezTo>
                    <a:pt x="326" y="2924"/>
                    <a:pt x="347" y="2903"/>
                    <a:pt x="373" y="2903"/>
                  </a:cubicBezTo>
                  <a:cubicBezTo>
                    <a:pt x="398" y="2903"/>
                    <a:pt x="420" y="2924"/>
                    <a:pt x="420" y="2950"/>
                  </a:cubicBezTo>
                  <a:close/>
                  <a:moveTo>
                    <a:pt x="420" y="3050"/>
                  </a:moveTo>
                  <a:cubicBezTo>
                    <a:pt x="420" y="3075"/>
                    <a:pt x="398" y="3097"/>
                    <a:pt x="373" y="3097"/>
                  </a:cubicBezTo>
                  <a:cubicBezTo>
                    <a:pt x="347" y="3097"/>
                    <a:pt x="326" y="3075"/>
                    <a:pt x="326" y="3050"/>
                  </a:cubicBezTo>
                  <a:cubicBezTo>
                    <a:pt x="326" y="3024"/>
                    <a:pt x="347" y="3003"/>
                    <a:pt x="373" y="3003"/>
                  </a:cubicBezTo>
                  <a:cubicBezTo>
                    <a:pt x="398" y="3003"/>
                    <a:pt x="420" y="3024"/>
                    <a:pt x="420" y="3050"/>
                  </a:cubicBezTo>
                  <a:close/>
                  <a:moveTo>
                    <a:pt x="420" y="3150"/>
                  </a:moveTo>
                  <a:cubicBezTo>
                    <a:pt x="420" y="3175"/>
                    <a:pt x="398" y="3197"/>
                    <a:pt x="373" y="3197"/>
                  </a:cubicBezTo>
                  <a:cubicBezTo>
                    <a:pt x="347" y="3197"/>
                    <a:pt x="326" y="3175"/>
                    <a:pt x="326" y="3150"/>
                  </a:cubicBezTo>
                  <a:cubicBezTo>
                    <a:pt x="326" y="3124"/>
                    <a:pt x="347" y="3103"/>
                    <a:pt x="373" y="3103"/>
                  </a:cubicBezTo>
                  <a:cubicBezTo>
                    <a:pt x="398" y="3103"/>
                    <a:pt x="420" y="3124"/>
                    <a:pt x="420" y="3150"/>
                  </a:cubicBezTo>
                  <a:close/>
                  <a:moveTo>
                    <a:pt x="420" y="3250"/>
                  </a:moveTo>
                  <a:cubicBezTo>
                    <a:pt x="420" y="3275"/>
                    <a:pt x="398" y="3297"/>
                    <a:pt x="373" y="3297"/>
                  </a:cubicBezTo>
                  <a:cubicBezTo>
                    <a:pt x="347" y="3297"/>
                    <a:pt x="326" y="3275"/>
                    <a:pt x="326" y="3250"/>
                  </a:cubicBezTo>
                  <a:cubicBezTo>
                    <a:pt x="326" y="3224"/>
                    <a:pt x="347" y="3203"/>
                    <a:pt x="373" y="3203"/>
                  </a:cubicBezTo>
                  <a:cubicBezTo>
                    <a:pt x="398" y="3203"/>
                    <a:pt x="420" y="3224"/>
                    <a:pt x="420" y="3250"/>
                  </a:cubicBezTo>
                  <a:close/>
                  <a:moveTo>
                    <a:pt x="420" y="3350"/>
                  </a:moveTo>
                  <a:cubicBezTo>
                    <a:pt x="420" y="3375"/>
                    <a:pt x="398" y="3397"/>
                    <a:pt x="373" y="3397"/>
                  </a:cubicBezTo>
                  <a:cubicBezTo>
                    <a:pt x="347" y="3397"/>
                    <a:pt x="326" y="3375"/>
                    <a:pt x="326" y="3350"/>
                  </a:cubicBezTo>
                  <a:cubicBezTo>
                    <a:pt x="326" y="3324"/>
                    <a:pt x="347" y="3303"/>
                    <a:pt x="373" y="3303"/>
                  </a:cubicBezTo>
                  <a:cubicBezTo>
                    <a:pt x="398" y="3303"/>
                    <a:pt x="420" y="3324"/>
                    <a:pt x="420" y="3350"/>
                  </a:cubicBezTo>
                  <a:close/>
                  <a:moveTo>
                    <a:pt x="420" y="3450"/>
                  </a:moveTo>
                  <a:cubicBezTo>
                    <a:pt x="420" y="3475"/>
                    <a:pt x="398" y="3497"/>
                    <a:pt x="373" y="3497"/>
                  </a:cubicBezTo>
                  <a:cubicBezTo>
                    <a:pt x="347" y="3497"/>
                    <a:pt x="326" y="3475"/>
                    <a:pt x="326" y="3450"/>
                  </a:cubicBezTo>
                  <a:cubicBezTo>
                    <a:pt x="326" y="3424"/>
                    <a:pt x="347" y="3403"/>
                    <a:pt x="373" y="3403"/>
                  </a:cubicBezTo>
                  <a:cubicBezTo>
                    <a:pt x="398" y="3403"/>
                    <a:pt x="420" y="3424"/>
                    <a:pt x="420" y="3450"/>
                  </a:cubicBezTo>
                  <a:close/>
                  <a:moveTo>
                    <a:pt x="420" y="3550"/>
                  </a:moveTo>
                  <a:cubicBezTo>
                    <a:pt x="420" y="3575"/>
                    <a:pt x="398" y="3597"/>
                    <a:pt x="373" y="3597"/>
                  </a:cubicBezTo>
                  <a:cubicBezTo>
                    <a:pt x="347" y="3597"/>
                    <a:pt x="326" y="3575"/>
                    <a:pt x="326" y="3550"/>
                  </a:cubicBezTo>
                  <a:cubicBezTo>
                    <a:pt x="326" y="3524"/>
                    <a:pt x="347" y="3503"/>
                    <a:pt x="373" y="3503"/>
                  </a:cubicBezTo>
                  <a:cubicBezTo>
                    <a:pt x="398" y="3503"/>
                    <a:pt x="420" y="3524"/>
                    <a:pt x="420" y="3550"/>
                  </a:cubicBezTo>
                  <a:close/>
                  <a:moveTo>
                    <a:pt x="420" y="3650"/>
                  </a:moveTo>
                  <a:cubicBezTo>
                    <a:pt x="420" y="3675"/>
                    <a:pt x="398" y="3697"/>
                    <a:pt x="373" y="3697"/>
                  </a:cubicBezTo>
                  <a:cubicBezTo>
                    <a:pt x="347" y="3697"/>
                    <a:pt x="326" y="3675"/>
                    <a:pt x="326" y="3650"/>
                  </a:cubicBezTo>
                  <a:cubicBezTo>
                    <a:pt x="326" y="3624"/>
                    <a:pt x="347" y="3603"/>
                    <a:pt x="373" y="3603"/>
                  </a:cubicBezTo>
                  <a:cubicBezTo>
                    <a:pt x="398" y="3603"/>
                    <a:pt x="420" y="3624"/>
                    <a:pt x="420" y="3650"/>
                  </a:cubicBezTo>
                  <a:close/>
                  <a:moveTo>
                    <a:pt x="420" y="3750"/>
                  </a:moveTo>
                  <a:cubicBezTo>
                    <a:pt x="420" y="3775"/>
                    <a:pt x="398" y="3797"/>
                    <a:pt x="373" y="3797"/>
                  </a:cubicBezTo>
                  <a:cubicBezTo>
                    <a:pt x="347" y="3797"/>
                    <a:pt x="326" y="3775"/>
                    <a:pt x="326" y="3750"/>
                  </a:cubicBezTo>
                  <a:cubicBezTo>
                    <a:pt x="326" y="3724"/>
                    <a:pt x="347" y="3703"/>
                    <a:pt x="373" y="3703"/>
                  </a:cubicBezTo>
                  <a:cubicBezTo>
                    <a:pt x="398" y="3703"/>
                    <a:pt x="420" y="3724"/>
                    <a:pt x="420" y="3750"/>
                  </a:cubicBezTo>
                  <a:close/>
                  <a:moveTo>
                    <a:pt x="420" y="3850"/>
                  </a:moveTo>
                  <a:cubicBezTo>
                    <a:pt x="420" y="3875"/>
                    <a:pt x="398" y="3897"/>
                    <a:pt x="373" y="3897"/>
                  </a:cubicBezTo>
                  <a:cubicBezTo>
                    <a:pt x="347" y="3897"/>
                    <a:pt x="326" y="3875"/>
                    <a:pt x="326" y="3850"/>
                  </a:cubicBezTo>
                  <a:cubicBezTo>
                    <a:pt x="326" y="3824"/>
                    <a:pt x="347" y="3803"/>
                    <a:pt x="373" y="3803"/>
                  </a:cubicBezTo>
                  <a:cubicBezTo>
                    <a:pt x="398" y="3803"/>
                    <a:pt x="420" y="3824"/>
                    <a:pt x="420" y="3850"/>
                  </a:cubicBezTo>
                  <a:close/>
                  <a:moveTo>
                    <a:pt x="420" y="3950"/>
                  </a:moveTo>
                  <a:cubicBezTo>
                    <a:pt x="420" y="3975"/>
                    <a:pt x="398" y="3997"/>
                    <a:pt x="373" y="3997"/>
                  </a:cubicBezTo>
                  <a:cubicBezTo>
                    <a:pt x="347" y="3997"/>
                    <a:pt x="326" y="3975"/>
                    <a:pt x="326" y="3950"/>
                  </a:cubicBezTo>
                  <a:cubicBezTo>
                    <a:pt x="326" y="3924"/>
                    <a:pt x="347" y="3903"/>
                    <a:pt x="373" y="3903"/>
                  </a:cubicBezTo>
                  <a:cubicBezTo>
                    <a:pt x="398" y="3903"/>
                    <a:pt x="420" y="3924"/>
                    <a:pt x="420" y="3950"/>
                  </a:cubicBezTo>
                  <a:close/>
                  <a:moveTo>
                    <a:pt x="420" y="4050"/>
                  </a:moveTo>
                  <a:cubicBezTo>
                    <a:pt x="420" y="4075"/>
                    <a:pt x="398" y="4097"/>
                    <a:pt x="373" y="4097"/>
                  </a:cubicBezTo>
                  <a:cubicBezTo>
                    <a:pt x="347" y="4097"/>
                    <a:pt x="326" y="4075"/>
                    <a:pt x="326" y="4050"/>
                  </a:cubicBezTo>
                  <a:cubicBezTo>
                    <a:pt x="326" y="4024"/>
                    <a:pt x="347" y="4003"/>
                    <a:pt x="373" y="4003"/>
                  </a:cubicBezTo>
                  <a:cubicBezTo>
                    <a:pt x="398" y="4003"/>
                    <a:pt x="420" y="4024"/>
                    <a:pt x="420" y="4050"/>
                  </a:cubicBezTo>
                  <a:close/>
                  <a:moveTo>
                    <a:pt x="420" y="4150"/>
                  </a:moveTo>
                  <a:cubicBezTo>
                    <a:pt x="420" y="4175"/>
                    <a:pt x="398" y="4197"/>
                    <a:pt x="373" y="4197"/>
                  </a:cubicBezTo>
                  <a:cubicBezTo>
                    <a:pt x="347" y="4197"/>
                    <a:pt x="326" y="4175"/>
                    <a:pt x="326" y="4150"/>
                  </a:cubicBezTo>
                  <a:cubicBezTo>
                    <a:pt x="326" y="4124"/>
                    <a:pt x="347" y="4103"/>
                    <a:pt x="373" y="4103"/>
                  </a:cubicBezTo>
                  <a:cubicBezTo>
                    <a:pt x="398" y="4103"/>
                    <a:pt x="420" y="4124"/>
                    <a:pt x="420" y="4150"/>
                  </a:cubicBezTo>
                  <a:close/>
                  <a:moveTo>
                    <a:pt x="420" y="4250"/>
                  </a:moveTo>
                  <a:cubicBezTo>
                    <a:pt x="420" y="4275"/>
                    <a:pt x="398" y="4297"/>
                    <a:pt x="373" y="4297"/>
                  </a:cubicBezTo>
                  <a:cubicBezTo>
                    <a:pt x="347" y="4297"/>
                    <a:pt x="326" y="4275"/>
                    <a:pt x="326" y="4250"/>
                  </a:cubicBezTo>
                  <a:cubicBezTo>
                    <a:pt x="326" y="4224"/>
                    <a:pt x="347" y="4203"/>
                    <a:pt x="373" y="4203"/>
                  </a:cubicBezTo>
                  <a:cubicBezTo>
                    <a:pt x="398" y="4203"/>
                    <a:pt x="420" y="4224"/>
                    <a:pt x="420" y="4250"/>
                  </a:cubicBezTo>
                  <a:close/>
                  <a:moveTo>
                    <a:pt x="420" y="4350"/>
                  </a:moveTo>
                  <a:cubicBezTo>
                    <a:pt x="420" y="4375"/>
                    <a:pt x="398" y="4397"/>
                    <a:pt x="373" y="4397"/>
                  </a:cubicBezTo>
                  <a:cubicBezTo>
                    <a:pt x="347" y="4397"/>
                    <a:pt x="326" y="4375"/>
                    <a:pt x="326" y="4350"/>
                  </a:cubicBezTo>
                  <a:cubicBezTo>
                    <a:pt x="326" y="4324"/>
                    <a:pt x="347" y="4303"/>
                    <a:pt x="373" y="4303"/>
                  </a:cubicBezTo>
                  <a:cubicBezTo>
                    <a:pt x="398" y="4303"/>
                    <a:pt x="420" y="4324"/>
                    <a:pt x="420" y="4350"/>
                  </a:cubicBezTo>
                  <a:close/>
                  <a:moveTo>
                    <a:pt x="420" y="4450"/>
                  </a:moveTo>
                  <a:cubicBezTo>
                    <a:pt x="420" y="4475"/>
                    <a:pt x="398" y="4497"/>
                    <a:pt x="373" y="4497"/>
                  </a:cubicBezTo>
                  <a:cubicBezTo>
                    <a:pt x="347" y="4497"/>
                    <a:pt x="326" y="4475"/>
                    <a:pt x="326" y="4450"/>
                  </a:cubicBezTo>
                  <a:cubicBezTo>
                    <a:pt x="326" y="4424"/>
                    <a:pt x="347" y="4403"/>
                    <a:pt x="373" y="4403"/>
                  </a:cubicBezTo>
                  <a:cubicBezTo>
                    <a:pt x="398" y="4403"/>
                    <a:pt x="420" y="4424"/>
                    <a:pt x="420" y="4450"/>
                  </a:cubicBezTo>
                  <a:close/>
                  <a:moveTo>
                    <a:pt x="420" y="4550"/>
                  </a:moveTo>
                  <a:cubicBezTo>
                    <a:pt x="420" y="4575"/>
                    <a:pt x="398" y="4597"/>
                    <a:pt x="373" y="4597"/>
                  </a:cubicBezTo>
                  <a:cubicBezTo>
                    <a:pt x="347" y="4597"/>
                    <a:pt x="326" y="4575"/>
                    <a:pt x="326" y="4550"/>
                  </a:cubicBezTo>
                  <a:cubicBezTo>
                    <a:pt x="326" y="4524"/>
                    <a:pt x="347" y="4503"/>
                    <a:pt x="373" y="4503"/>
                  </a:cubicBezTo>
                  <a:cubicBezTo>
                    <a:pt x="398" y="4503"/>
                    <a:pt x="420" y="4524"/>
                    <a:pt x="420" y="4550"/>
                  </a:cubicBezTo>
                  <a:close/>
                  <a:moveTo>
                    <a:pt x="420" y="4650"/>
                  </a:moveTo>
                  <a:cubicBezTo>
                    <a:pt x="420" y="4675"/>
                    <a:pt x="398" y="4697"/>
                    <a:pt x="373" y="4697"/>
                  </a:cubicBezTo>
                  <a:cubicBezTo>
                    <a:pt x="347" y="4697"/>
                    <a:pt x="326" y="4675"/>
                    <a:pt x="326" y="4650"/>
                  </a:cubicBezTo>
                  <a:cubicBezTo>
                    <a:pt x="326" y="4624"/>
                    <a:pt x="347" y="4603"/>
                    <a:pt x="373" y="4603"/>
                  </a:cubicBezTo>
                  <a:cubicBezTo>
                    <a:pt x="398" y="4603"/>
                    <a:pt x="420" y="4624"/>
                    <a:pt x="420" y="4650"/>
                  </a:cubicBezTo>
                  <a:close/>
                  <a:moveTo>
                    <a:pt x="420" y="4750"/>
                  </a:moveTo>
                  <a:cubicBezTo>
                    <a:pt x="420" y="4775"/>
                    <a:pt x="398" y="4797"/>
                    <a:pt x="373" y="4797"/>
                  </a:cubicBezTo>
                  <a:cubicBezTo>
                    <a:pt x="347" y="4797"/>
                    <a:pt x="326" y="4775"/>
                    <a:pt x="326" y="4750"/>
                  </a:cubicBezTo>
                  <a:cubicBezTo>
                    <a:pt x="326" y="4724"/>
                    <a:pt x="347" y="4703"/>
                    <a:pt x="373" y="4703"/>
                  </a:cubicBezTo>
                  <a:cubicBezTo>
                    <a:pt x="398" y="4703"/>
                    <a:pt x="420" y="4724"/>
                    <a:pt x="420" y="4750"/>
                  </a:cubicBezTo>
                  <a:close/>
                  <a:moveTo>
                    <a:pt x="420" y="4850"/>
                  </a:moveTo>
                  <a:cubicBezTo>
                    <a:pt x="420" y="4875"/>
                    <a:pt x="398" y="4897"/>
                    <a:pt x="373" y="4897"/>
                  </a:cubicBezTo>
                  <a:cubicBezTo>
                    <a:pt x="347" y="4897"/>
                    <a:pt x="326" y="4875"/>
                    <a:pt x="326" y="4850"/>
                  </a:cubicBezTo>
                  <a:cubicBezTo>
                    <a:pt x="326" y="4824"/>
                    <a:pt x="347" y="4803"/>
                    <a:pt x="373" y="4803"/>
                  </a:cubicBezTo>
                  <a:cubicBezTo>
                    <a:pt x="398" y="4803"/>
                    <a:pt x="420" y="4824"/>
                    <a:pt x="420" y="4850"/>
                  </a:cubicBezTo>
                  <a:close/>
                  <a:moveTo>
                    <a:pt x="420" y="4950"/>
                  </a:moveTo>
                  <a:cubicBezTo>
                    <a:pt x="420" y="4975"/>
                    <a:pt x="398" y="4997"/>
                    <a:pt x="373" y="4997"/>
                  </a:cubicBezTo>
                  <a:cubicBezTo>
                    <a:pt x="347" y="4997"/>
                    <a:pt x="326" y="4975"/>
                    <a:pt x="326" y="4950"/>
                  </a:cubicBezTo>
                  <a:cubicBezTo>
                    <a:pt x="326" y="4924"/>
                    <a:pt x="347" y="4903"/>
                    <a:pt x="373" y="4903"/>
                  </a:cubicBezTo>
                  <a:cubicBezTo>
                    <a:pt x="398" y="4903"/>
                    <a:pt x="420" y="4924"/>
                    <a:pt x="420" y="4950"/>
                  </a:cubicBezTo>
                  <a:close/>
                  <a:moveTo>
                    <a:pt x="420" y="5050"/>
                  </a:moveTo>
                  <a:cubicBezTo>
                    <a:pt x="420" y="5075"/>
                    <a:pt x="398" y="5097"/>
                    <a:pt x="373" y="5097"/>
                  </a:cubicBezTo>
                  <a:cubicBezTo>
                    <a:pt x="347" y="5097"/>
                    <a:pt x="326" y="5075"/>
                    <a:pt x="326" y="5050"/>
                  </a:cubicBezTo>
                  <a:cubicBezTo>
                    <a:pt x="326" y="5024"/>
                    <a:pt x="347" y="5003"/>
                    <a:pt x="373" y="5003"/>
                  </a:cubicBezTo>
                  <a:cubicBezTo>
                    <a:pt x="398" y="5003"/>
                    <a:pt x="420" y="5024"/>
                    <a:pt x="420" y="5050"/>
                  </a:cubicBezTo>
                  <a:close/>
                  <a:moveTo>
                    <a:pt x="420" y="5150"/>
                  </a:moveTo>
                  <a:cubicBezTo>
                    <a:pt x="420" y="5175"/>
                    <a:pt x="398" y="5197"/>
                    <a:pt x="373" y="5197"/>
                  </a:cubicBezTo>
                  <a:cubicBezTo>
                    <a:pt x="347" y="5197"/>
                    <a:pt x="326" y="5175"/>
                    <a:pt x="326" y="5150"/>
                  </a:cubicBezTo>
                  <a:cubicBezTo>
                    <a:pt x="326" y="5124"/>
                    <a:pt x="347" y="5103"/>
                    <a:pt x="373" y="5103"/>
                  </a:cubicBezTo>
                  <a:cubicBezTo>
                    <a:pt x="398" y="5103"/>
                    <a:pt x="420" y="5124"/>
                    <a:pt x="420" y="5150"/>
                  </a:cubicBezTo>
                  <a:close/>
                  <a:moveTo>
                    <a:pt x="420" y="5250"/>
                  </a:moveTo>
                  <a:cubicBezTo>
                    <a:pt x="420" y="5275"/>
                    <a:pt x="398" y="5297"/>
                    <a:pt x="373" y="5297"/>
                  </a:cubicBezTo>
                  <a:cubicBezTo>
                    <a:pt x="347" y="5297"/>
                    <a:pt x="326" y="5275"/>
                    <a:pt x="326" y="5250"/>
                  </a:cubicBezTo>
                  <a:cubicBezTo>
                    <a:pt x="326" y="5224"/>
                    <a:pt x="347" y="5203"/>
                    <a:pt x="373" y="5203"/>
                  </a:cubicBezTo>
                  <a:cubicBezTo>
                    <a:pt x="398" y="5203"/>
                    <a:pt x="420" y="5224"/>
                    <a:pt x="420" y="5250"/>
                  </a:cubicBezTo>
                  <a:close/>
                  <a:moveTo>
                    <a:pt x="420" y="5350"/>
                  </a:moveTo>
                  <a:cubicBezTo>
                    <a:pt x="420" y="5375"/>
                    <a:pt x="398" y="5397"/>
                    <a:pt x="373" y="5397"/>
                  </a:cubicBezTo>
                  <a:cubicBezTo>
                    <a:pt x="347" y="5397"/>
                    <a:pt x="326" y="5375"/>
                    <a:pt x="326" y="5350"/>
                  </a:cubicBezTo>
                  <a:cubicBezTo>
                    <a:pt x="326" y="5324"/>
                    <a:pt x="347" y="5303"/>
                    <a:pt x="373" y="5303"/>
                  </a:cubicBezTo>
                  <a:cubicBezTo>
                    <a:pt x="398" y="5303"/>
                    <a:pt x="420" y="5324"/>
                    <a:pt x="420" y="5350"/>
                  </a:cubicBezTo>
                  <a:close/>
                  <a:moveTo>
                    <a:pt x="420" y="5450"/>
                  </a:moveTo>
                  <a:cubicBezTo>
                    <a:pt x="420" y="5475"/>
                    <a:pt x="398" y="5497"/>
                    <a:pt x="373" y="5497"/>
                  </a:cubicBezTo>
                  <a:cubicBezTo>
                    <a:pt x="347" y="5497"/>
                    <a:pt x="326" y="5475"/>
                    <a:pt x="326" y="5450"/>
                  </a:cubicBezTo>
                  <a:cubicBezTo>
                    <a:pt x="326" y="5424"/>
                    <a:pt x="347" y="5403"/>
                    <a:pt x="373" y="5403"/>
                  </a:cubicBezTo>
                  <a:cubicBezTo>
                    <a:pt x="398" y="5403"/>
                    <a:pt x="420" y="5424"/>
                    <a:pt x="420" y="5450"/>
                  </a:cubicBezTo>
                  <a:close/>
                  <a:moveTo>
                    <a:pt x="420" y="5550"/>
                  </a:moveTo>
                  <a:cubicBezTo>
                    <a:pt x="420" y="5575"/>
                    <a:pt x="398" y="5597"/>
                    <a:pt x="373" y="5597"/>
                  </a:cubicBezTo>
                  <a:cubicBezTo>
                    <a:pt x="347" y="5597"/>
                    <a:pt x="326" y="5575"/>
                    <a:pt x="326" y="5550"/>
                  </a:cubicBezTo>
                  <a:cubicBezTo>
                    <a:pt x="326" y="5524"/>
                    <a:pt x="347" y="5503"/>
                    <a:pt x="373" y="5503"/>
                  </a:cubicBezTo>
                  <a:cubicBezTo>
                    <a:pt x="398" y="5503"/>
                    <a:pt x="420" y="5524"/>
                    <a:pt x="420" y="5550"/>
                  </a:cubicBezTo>
                  <a:close/>
                  <a:moveTo>
                    <a:pt x="420" y="5650"/>
                  </a:moveTo>
                  <a:cubicBezTo>
                    <a:pt x="420" y="5675"/>
                    <a:pt x="398" y="5697"/>
                    <a:pt x="373" y="5697"/>
                  </a:cubicBezTo>
                  <a:cubicBezTo>
                    <a:pt x="347" y="5697"/>
                    <a:pt x="326" y="5675"/>
                    <a:pt x="326" y="5650"/>
                  </a:cubicBezTo>
                  <a:cubicBezTo>
                    <a:pt x="326" y="5624"/>
                    <a:pt x="347" y="5603"/>
                    <a:pt x="373" y="5603"/>
                  </a:cubicBezTo>
                  <a:cubicBezTo>
                    <a:pt x="398" y="5603"/>
                    <a:pt x="420" y="5624"/>
                    <a:pt x="420" y="5650"/>
                  </a:cubicBezTo>
                  <a:close/>
                  <a:moveTo>
                    <a:pt x="420" y="5750"/>
                  </a:moveTo>
                  <a:cubicBezTo>
                    <a:pt x="420" y="5775"/>
                    <a:pt x="398" y="5797"/>
                    <a:pt x="373" y="5797"/>
                  </a:cubicBezTo>
                  <a:cubicBezTo>
                    <a:pt x="347" y="5797"/>
                    <a:pt x="326" y="5775"/>
                    <a:pt x="326" y="5750"/>
                  </a:cubicBezTo>
                  <a:cubicBezTo>
                    <a:pt x="326" y="5724"/>
                    <a:pt x="347" y="5703"/>
                    <a:pt x="373" y="5703"/>
                  </a:cubicBezTo>
                  <a:cubicBezTo>
                    <a:pt x="398" y="5703"/>
                    <a:pt x="420" y="5724"/>
                    <a:pt x="420" y="5750"/>
                  </a:cubicBezTo>
                  <a:close/>
                  <a:moveTo>
                    <a:pt x="420" y="5850"/>
                  </a:moveTo>
                  <a:cubicBezTo>
                    <a:pt x="420" y="5875"/>
                    <a:pt x="398" y="5897"/>
                    <a:pt x="373" y="5897"/>
                  </a:cubicBezTo>
                  <a:cubicBezTo>
                    <a:pt x="347" y="5897"/>
                    <a:pt x="326" y="5875"/>
                    <a:pt x="326" y="5850"/>
                  </a:cubicBezTo>
                  <a:cubicBezTo>
                    <a:pt x="326" y="5824"/>
                    <a:pt x="347" y="5803"/>
                    <a:pt x="373" y="5803"/>
                  </a:cubicBezTo>
                  <a:cubicBezTo>
                    <a:pt x="398" y="5803"/>
                    <a:pt x="420" y="5824"/>
                    <a:pt x="420" y="5850"/>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grpSp>
      <p:grpSp>
        <p:nvGrpSpPr>
          <p:cNvPr id="8" name="Ícono GLUT1"/>
          <p:cNvGrpSpPr/>
          <p:nvPr/>
        </p:nvGrpSpPr>
        <p:grpSpPr>
          <a:xfrm>
            <a:off x="8915400" y="1280160"/>
            <a:ext cx="2926080" cy="553029"/>
            <a:chOff x="8915400" y="1280160"/>
            <a:chExt cx="2926080" cy="553029"/>
          </a:xfrm>
        </p:grpSpPr>
        <p:grpSp>
          <p:nvGrpSpPr>
            <p:cNvPr id="9" name="!!GLUT"/>
            <p:cNvGrpSpPr/>
            <p:nvPr/>
          </p:nvGrpSpPr>
          <p:grpSpPr>
            <a:xfrm>
              <a:off x="9555480" y="1280160"/>
              <a:ext cx="658368" cy="553029"/>
              <a:chOff x="9555480" y="1280160"/>
              <a:chExt cx="658368" cy="553029"/>
            </a:xfrm>
          </p:grpSpPr>
          <p:sp>
            <p:nvSpPr>
              <p:cNvPr id="10" name="Forma 9"/>
              <p:cNvSpPr/>
              <p:nvPr/>
            </p:nvSpPr>
            <p:spPr>
              <a:xfrm>
                <a:off x="9555480" y="1280160"/>
                <a:ext cx="658368" cy="237012"/>
              </a:xfrm>
              <a:prstGeom prst="roundRect">
                <a:avLst>
                  <a:gd name="adj" fmla="val 45000"/>
                </a:avLst>
              </a:prstGeom>
              <a:gradFill rotWithShape="1">
                <a:gsLst>
                  <a:gs pos="0">
                    <a:srgbClr val="5D87A3"/>
                  </a:gs>
                  <a:gs pos="40000">
                    <a:srgbClr val="AFD6F0"/>
                  </a:gs>
                  <a:gs pos="100000">
                    <a:srgbClr val="5D87A3"/>
                  </a:gs>
                </a:gsLst>
                <a:lin ang="0" scaled="0"/>
              </a:gradFill>
              <a:ln w="15875" cap="rnd">
                <a:solidFill>
                  <a:srgbClr val="426074"/>
                </a:solidFill>
                <a:round/>
              </a:ln>
            </p:spPr>
          </p:sp>
          <p:sp>
            <p:nvSpPr>
              <p:cNvPr id="11" name="Forma 10"/>
              <p:cNvSpPr/>
              <p:nvPr/>
            </p:nvSpPr>
            <p:spPr>
              <a:xfrm>
                <a:off x="9555480" y="1596177"/>
                <a:ext cx="658368" cy="237012"/>
              </a:xfrm>
              <a:prstGeom prst="roundRect">
                <a:avLst>
                  <a:gd name="adj" fmla="val 45000"/>
                </a:avLst>
              </a:prstGeom>
              <a:gradFill rotWithShape="1">
                <a:gsLst>
                  <a:gs pos="0">
                    <a:srgbClr val="5D87A3"/>
                  </a:gs>
                  <a:gs pos="40000">
                    <a:srgbClr val="AFD6F0"/>
                  </a:gs>
                  <a:gs pos="100000">
                    <a:srgbClr val="5D87A3"/>
                  </a:gs>
                </a:gsLst>
                <a:lin ang="0" scaled="0"/>
              </a:gradFill>
              <a:ln w="15875" cap="rnd">
                <a:solidFill>
                  <a:srgbClr val="426074"/>
                </a:solidFill>
                <a:round/>
              </a:ln>
            </p:spPr>
          </p:sp>
        </p:grpSp>
        <p:sp>
          <p:nvSpPr>
            <p:cNvPr id="12" name="Forma 11"/>
            <p:cNvSpPr txBox="1"/>
            <p:nvPr/>
          </p:nvSpPr>
          <p:spPr>
            <a:xfrm>
              <a:off x="10287000" y="1325880"/>
              <a:ext cx="155448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GLUT1</a:t>
              </a:r>
              <a:endParaRPr lang="es-AR" sz="1400" dirty="0">
                <a:latin typeface="Bahnschrift SemiBold Condensed"/>
              </a:endParaRPr>
            </a:p>
          </p:txBody>
        </p:sp>
        <p:sp>
          <p:nvSpPr>
            <p:cNvPr id="13" name="Molécula glc"/>
            <p:cNvSpPr/>
            <p:nvPr/>
          </p:nvSpPr>
          <p:spPr>
            <a:xfrm>
              <a:off x="8915400" y="1335024"/>
              <a:ext cx="365760" cy="36576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Glc</a:t>
              </a:r>
              <a:endParaRPr lang="es-AR" sz="1040" dirty="0">
                <a:latin typeface="Bahnschrift SemiBold Condensed"/>
              </a:endParaRPr>
            </a:p>
          </p:txBody>
        </p:sp>
      </p:grpSp>
      <p:grpSp>
        <p:nvGrpSpPr>
          <p:cNvPr id="14" name="Ícono GLUT2"/>
          <p:cNvGrpSpPr/>
          <p:nvPr/>
        </p:nvGrpSpPr>
        <p:grpSpPr>
          <a:xfrm>
            <a:off x="8915400" y="2377440"/>
            <a:ext cx="2926080" cy="553029"/>
            <a:chOff x="8915400" y="2377440"/>
            <a:chExt cx="2926080" cy="553029"/>
          </a:xfrm>
        </p:grpSpPr>
        <p:grpSp>
          <p:nvGrpSpPr>
            <p:cNvPr id="15" name="!!GLUT_2"/>
            <p:cNvGrpSpPr/>
            <p:nvPr/>
          </p:nvGrpSpPr>
          <p:grpSpPr>
            <a:xfrm>
              <a:off x="9555480" y="2377440"/>
              <a:ext cx="658368" cy="553029"/>
              <a:chOff x="9555480" y="2377440"/>
              <a:chExt cx="658368" cy="553029"/>
            </a:xfrm>
          </p:grpSpPr>
          <p:sp>
            <p:nvSpPr>
              <p:cNvPr id="16" name="Forma 15"/>
              <p:cNvSpPr/>
              <p:nvPr/>
            </p:nvSpPr>
            <p:spPr>
              <a:xfrm>
                <a:off x="9555480" y="2377440"/>
                <a:ext cx="658368" cy="237012"/>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17" name="Forma 16"/>
              <p:cNvSpPr/>
              <p:nvPr/>
            </p:nvSpPr>
            <p:spPr>
              <a:xfrm>
                <a:off x="9555480" y="2693457"/>
                <a:ext cx="658368" cy="237012"/>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grpSp>
        <p:sp>
          <p:nvSpPr>
            <p:cNvPr id="18" name="Forma 17"/>
            <p:cNvSpPr txBox="1"/>
            <p:nvPr/>
          </p:nvSpPr>
          <p:spPr>
            <a:xfrm>
              <a:off x="10287000" y="2423160"/>
              <a:ext cx="155448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GLUT2</a:t>
              </a:r>
              <a:endParaRPr lang="es-AR" sz="1400" dirty="0">
                <a:latin typeface="Bahnschrift SemiBold Condensed"/>
              </a:endParaRPr>
            </a:p>
          </p:txBody>
        </p:sp>
        <p:sp>
          <p:nvSpPr>
            <p:cNvPr id="19" name="Molécula glc_2"/>
            <p:cNvSpPr/>
            <p:nvPr/>
          </p:nvSpPr>
          <p:spPr>
            <a:xfrm>
              <a:off x="8915400" y="2432304"/>
              <a:ext cx="365760" cy="36576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Glc</a:t>
              </a:r>
              <a:endParaRPr lang="es-AR" sz="1040" dirty="0">
                <a:latin typeface="Bahnschrift SemiBold Condensed"/>
              </a:endParaRPr>
            </a:p>
          </p:txBody>
        </p:sp>
      </p:grpSp>
      <p:grpSp>
        <p:nvGrpSpPr>
          <p:cNvPr id="20" name="Ícono GLUT3"/>
          <p:cNvGrpSpPr/>
          <p:nvPr/>
        </p:nvGrpSpPr>
        <p:grpSpPr>
          <a:xfrm>
            <a:off x="8915400" y="3474720"/>
            <a:ext cx="2926080" cy="553029"/>
            <a:chOff x="8915400" y="3474720"/>
            <a:chExt cx="2926080" cy="553029"/>
          </a:xfrm>
        </p:grpSpPr>
        <p:grpSp>
          <p:nvGrpSpPr>
            <p:cNvPr id="21" name="!!GLUT_3"/>
            <p:cNvGrpSpPr/>
            <p:nvPr/>
          </p:nvGrpSpPr>
          <p:grpSpPr>
            <a:xfrm>
              <a:off x="9555480" y="3474720"/>
              <a:ext cx="658368" cy="553029"/>
              <a:chOff x="9555480" y="3474720"/>
              <a:chExt cx="658368" cy="553029"/>
            </a:xfrm>
          </p:grpSpPr>
          <p:sp>
            <p:nvSpPr>
              <p:cNvPr id="22" name="Forma 21"/>
              <p:cNvSpPr/>
              <p:nvPr/>
            </p:nvSpPr>
            <p:spPr>
              <a:xfrm>
                <a:off x="9555480" y="3474720"/>
                <a:ext cx="658368" cy="237012"/>
              </a:xfrm>
              <a:prstGeom prst="roundRect">
                <a:avLst>
                  <a:gd name="adj" fmla="val 45000"/>
                </a:avLst>
              </a:prstGeom>
              <a:gradFill rotWithShape="1">
                <a:gsLst>
                  <a:gs pos="0">
                    <a:srgbClr val="205D87"/>
                  </a:gs>
                  <a:gs pos="40000">
                    <a:srgbClr val="77B0D6"/>
                  </a:gs>
                  <a:gs pos="100000">
                    <a:srgbClr val="205D87"/>
                  </a:gs>
                </a:gsLst>
                <a:lin ang="0" scaled="0"/>
              </a:gradFill>
              <a:ln w="15875" cap="rnd">
                <a:solidFill>
                  <a:srgbClr val="174360"/>
                </a:solidFill>
                <a:round/>
              </a:ln>
            </p:spPr>
          </p:sp>
          <p:sp>
            <p:nvSpPr>
              <p:cNvPr id="23" name="Forma 22"/>
              <p:cNvSpPr/>
              <p:nvPr/>
            </p:nvSpPr>
            <p:spPr>
              <a:xfrm>
                <a:off x="9555480" y="3790737"/>
                <a:ext cx="658368" cy="237012"/>
              </a:xfrm>
              <a:prstGeom prst="roundRect">
                <a:avLst>
                  <a:gd name="adj" fmla="val 45000"/>
                </a:avLst>
              </a:prstGeom>
              <a:gradFill rotWithShape="1">
                <a:gsLst>
                  <a:gs pos="0">
                    <a:srgbClr val="205D87"/>
                  </a:gs>
                  <a:gs pos="40000">
                    <a:srgbClr val="77B0D6"/>
                  </a:gs>
                  <a:gs pos="100000">
                    <a:srgbClr val="205D87"/>
                  </a:gs>
                </a:gsLst>
                <a:lin ang="0" scaled="0"/>
              </a:gradFill>
              <a:ln w="15875" cap="rnd">
                <a:solidFill>
                  <a:srgbClr val="174360"/>
                </a:solidFill>
                <a:round/>
              </a:ln>
            </p:spPr>
          </p:sp>
        </p:grpSp>
        <p:sp>
          <p:nvSpPr>
            <p:cNvPr id="24" name="Forma 23"/>
            <p:cNvSpPr txBox="1"/>
            <p:nvPr/>
          </p:nvSpPr>
          <p:spPr>
            <a:xfrm>
              <a:off x="10287000" y="3520440"/>
              <a:ext cx="155448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GLUT3</a:t>
              </a:r>
              <a:endParaRPr lang="es-AR" sz="1400" dirty="0">
                <a:latin typeface="Bahnschrift SemiBold Condensed"/>
              </a:endParaRPr>
            </a:p>
          </p:txBody>
        </p:sp>
        <p:sp>
          <p:nvSpPr>
            <p:cNvPr id="25" name="Molécula glc_3"/>
            <p:cNvSpPr/>
            <p:nvPr/>
          </p:nvSpPr>
          <p:spPr>
            <a:xfrm>
              <a:off x="8915400" y="3529584"/>
              <a:ext cx="365760" cy="36576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Glc</a:t>
              </a:r>
              <a:endParaRPr lang="es-AR" sz="1040" dirty="0">
                <a:latin typeface="Bahnschrift SemiBold Condensed"/>
              </a:endParaRPr>
            </a:p>
          </p:txBody>
        </p:sp>
      </p:grpSp>
      <p:grpSp>
        <p:nvGrpSpPr>
          <p:cNvPr id="26" name="Ícono GLUT4"/>
          <p:cNvGrpSpPr/>
          <p:nvPr/>
        </p:nvGrpSpPr>
        <p:grpSpPr>
          <a:xfrm>
            <a:off x="8915400" y="4572000"/>
            <a:ext cx="2926080" cy="553029"/>
            <a:chOff x="8915400" y="4572000"/>
            <a:chExt cx="2926080" cy="553029"/>
          </a:xfrm>
        </p:grpSpPr>
        <p:grpSp>
          <p:nvGrpSpPr>
            <p:cNvPr id="27" name="!!GLUT_4"/>
            <p:cNvGrpSpPr/>
            <p:nvPr/>
          </p:nvGrpSpPr>
          <p:grpSpPr>
            <a:xfrm>
              <a:off x="9555480" y="4572000"/>
              <a:ext cx="658368" cy="553029"/>
              <a:chOff x="9555480" y="4572000"/>
              <a:chExt cx="658368" cy="553029"/>
            </a:xfrm>
          </p:grpSpPr>
          <p:sp>
            <p:nvSpPr>
              <p:cNvPr id="28" name="Forma 27"/>
              <p:cNvSpPr/>
              <p:nvPr/>
            </p:nvSpPr>
            <p:spPr>
              <a:xfrm>
                <a:off x="9555480" y="4572000"/>
                <a:ext cx="658368" cy="237012"/>
              </a:xfrm>
              <a:prstGeom prst="roundRect">
                <a:avLst>
                  <a:gd name="adj" fmla="val 45000"/>
                </a:avLst>
              </a:prstGeom>
              <a:gradFill rotWithShape="1">
                <a:gsLst>
                  <a:gs pos="0">
                    <a:srgbClr val="12374F"/>
                  </a:gs>
                  <a:gs pos="40000">
                    <a:srgbClr val="6A8CA3"/>
                  </a:gs>
                  <a:gs pos="100000">
                    <a:srgbClr val="12374F"/>
                  </a:gs>
                </a:gsLst>
                <a:lin ang="0" scaled="0"/>
              </a:gradFill>
              <a:ln w="15875" cap="rnd">
                <a:solidFill>
                  <a:srgbClr val="0D2739"/>
                </a:solidFill>
                <a:round/>
              </a:ln>
            </p:spPr>
          </p:sp>
          <p:sp>
            <p:nvSpPr>
              <p:cNvPr id="29" name="Forma 28"/>
              <p:cNvSpPr/>
              <p:nvPr/>
            </p:nvSpPr>
            <p:spPr>
              <a:xfrm>
                <a:off x="9555480" y="4888017"/>
                <a:ext cx="658368" cy="237012"/>
              </a:xfrm>
              <a:prstGeom prst="roundRect">
                <a:avLst>
                  <a:gd name="adj" fmla="val 45000"/>
                </a:avLst>
              </a:prstGeom>
              <a:gradFill rotWithShape="1">
                <a:gsLst>
                  <a:gs pos="0">
                    <a:srgbClr val="12374F"/>
                  </a:gs>
                  <a:gs pos="40000">
                    <a:srgbClr val="6A8CA3"/>
                  </a:gs>
                  <a:gs pos="100000">
                    <a:srgbClr val="12374F"/>
                  </a:gs>
                </a:gsLst>
                <a:lin ang="0" scaled="0"/>
              </a:gradFill>
              <a:ln w="15875" cap="rnd">
                <a:solidFill>
                  <a:srgbClr val="0D2739"/>
                </a:solidFill>
                <a:round/>
              </a:ln>
            </p:spPr>
          </p:sp>
        </p:grpSp>
        <p:sp>
          <p:nvSpPr>
            <p:cNvPr id="30" name="Forma 29"/>
            <p:cNvSpPr txBox="1"/>
            <p:nvPr/>
          </p:nvSpPr>
          <p:spPr>
            <a:xfrm>
              <a:off x="10287000" y="4617720"/>
              <a:ext cx="155448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GLUT4</a:t>
              </a:r>
              <a:endParaRPr lang="es-AR" sz="1400" dirty="0">
                <a:latin typeface="Bahnschrift SemiBold Condensed"/>
              </a:endParaRPr>
            </a:p>
          </p:txBody>
        </p:sp>
        <p:sp>
          <p:nvSpPr>
            <p:cNvPr id="31" name="Molécula glc_4"/>
            <p:cNvSpPr/>
            <p:nvPr/>
          </p:nvSpPr>
          <p:spPr>
            <a:xfrm>
              <a:off x="8915400" y="4626864"/>
              <a:ext cx="365760" cy="36576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Glc</a:t>
              </a:r>
              <a:endParaRPr lang="es-AR" sz="1040" dirty="0">
                <a:latin typeface="Bahnschrift SemiBold Condensed"/>
              </a:endParaRPr>
            </a:p>
          </p:txBody>
        </p:sp>
      </p:grpSp>
      <p:sp>
        <p:nvSpPr>
          <p:cNvPr id="32" name="Perla"/>
          <p:cNvSpPr/>
          <p:nvPr/>
        </p:nvSpPr>
        <p:spPr>
          <a:xfrm>
            <a:off x="365760" y="5227320"/>
            <a:ext cx="8321040" cy="8686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Solo </a:t>
            </a:r>
            <a:r>
              <a:rPr lang="es-AR" sz="1650" b="1" dirty="0">
                <a:solidFill>
                  <a:srgbClr val="FFFFFF"/>
                </a:solidFill>
                <a:latin typeface="Bahnschrift"/>
                <a:ea typeface="Bahnschrift"/>
                <a:cs typeface="Bahnschrift"/>
                <a:sym typeface="Bahnschrift"/>
              </a:rPr>
              <a:t>GLUT4</a:t>
            </a:r>
            <a:r>
              <a:rPr lang="es-AR" sz="1650" dirty="0">
                <a:solidFill>
                  <a:srgbClr val="FFFFFF"/>
                </a:solidFill>
                <a:latin typeface="Bahnschrift"/>
                <a:ea typeface="Bahnschrift"/>
                <a:cs typeface="Bahnschrift"/>
                <a:sym typeface="Bahnschrift"/>
              </a:rPr>
              <a:t> convierte la señal de insulina en mayor captación. El hígado capta por </a:t>
            </a:r>
            <a:r>
              <a:rPr lang="es-AR" sz="1650" b="1" dirty="0">
                <a:solidFill>
                  <a:srgbClr val="FFFFFF"/>
                </a:solidFill>
                <a:latin typeface="Bahnschrift"/>
                <a:ea typeface="Bahnschrift"/>
                <a:cs typeface="Bahnschrift"/>
                <a:sym typeface="Bahnschrift"/>
              </a:rPr>
              <a:t>GLUT2</a:t>
            </a:r>
            <a:r>
              <a:rPr lang="es-AR" sz="1650" dirty="0">
                <a:solidFill>
                  <a:srgbClr val="FFFFFF"/>
                </a:solidFill>
                <a:latin typeface="Bahnschrift"/>
                <a:ea typeface="Bahnschrift"/>
                <a:cs typeface="Bahnschrift"/>
                <a:sym typeface="Bahnschrift"/>
              </a:rPr>
              <a:t> según la glucemia portal.</a:t>
            </a:r>
            <a:endParaRPr lang="es-AR" sz="16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21852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ESQUEMA DE TRANSPORTADORES DE GLUCOSA</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24"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par>
                          <p:cTn id="15"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par>
                          <p:cTn id="19"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childTnLst>
                          </p:cTn>
                        </p:par>
                        <p:par>
                          <p:cTn id="23"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urva glucémica"/>
          <p:cNvGrpSpPr/>
          <p:nvPr/>
        </p:nvGrpSpPr>
        <p:grpSpPr>
          <a:xfrm>
            <a:off x="365760" y="1051560"/>
            <a:ext cx="5852160" cy="3657600"/>
            <a:chOff x="365760" y="1051560"/>
            <a:chExt cx="5852160" cy="3657600"/>
          </a:xfrm>
        </p:grpSpPr>
        <p:sp>
          <p:nvSpPr>
            <p:cNvPr id="5" name="Forma 4"/>
            <p:cNvSpPr/>
            <p:nvPr/>
          </p:nvSpPr>
          <p:spPr>
            <a:xfrm>
              <a:off x="365760" y="1051560"/>
              <a:ext cx="5852160" cy="3657600"/>
            </a:xfrm>
            <a:prstGeom prst="rect">
              <a:avLst/>
            </a:prstGeom>
            <a:solidFill>
              <a:srgbClr val="FFFFFF">
                <a:alpha val="55000"/>
              </a:srgbClr>
            </a:solidFill>
            <a:ln w="15875" cap="rnd">
              <a:solidFill>
                <a:srgbClr val="1E1E1E"/>
              </a:solidFill>
              <a:round/>
            </a:ln>
            <a:effectLst>
              <a:outerShdw blurRad="63500" dist="38100" dir="2700000" algn="tl" rotWithShape="0">
                <a:srgbClr val="000000">
                  <a:alpha val="32000"/>
                </a:srgbClr>
              </a:outerShdw>
            </a:effectLst>
          </p:spPr>
        </p:sp>
        <p:sp>
          <p:nvSpPr>
            <p:cNvPr id="6" name="Flecha 5_2"/>
            <p:cNvSpPr/>
            <p:nvPr/>
          </p:nvSpPr>
          <p:spPr>
            <a:xfrm>
              <a:off x="822960" y="4251960"/>
              <a:ext cx="5120640" cy="9144"/>
            </a:xfrm>
            <a:custGeom>
              <a:avLst/>
              <a:gdLst/>
              <a:ahLst/>
              <a:cxnLst/>
              <a:rect l="0" t="0" r="r" b="b"/>
              <a:pathLst>
                <a:path w="5600" h="10" fill="none">
                  <a:moveTo>
                    <a:pt x="0" y="0"/>
                  </a:moveTo>
                  <a:lnTo>
                    <a:pt x="5600" y="0"/>
                  </a:lnTo>
                </a:path>
              </a:pathLst>
            </a:custGeom>
            <a:noFill/>
            <a:ln w="19050" cap="rnd">
              <a:solidFill>
                <a:srgbClr val="1E1E1E"/>
              </a:solidFill>
              <a:round/>
              <a:tailEnd type="triangle" w="med" len="med"/>
            </a:ln>
          </p:spPr>
        </p:sp>
        <p:sp>
          <p:nvSpPr>
            <p:cNvPr id="7" name="Flecha 7_2"/>
            <p:cNvSpPr/>
            <p:nvPr/>
          </p:nvSpPr>
          <p:spPr>
            <a:xfrm>
              <a:off x="822960" y="1325880"/>
              <a:ext cx="9144" cy="2926080"/>
            </a:xfrm>
            <a:custGeom>
              <a:avLst/>
              <a:gdLst/>
              <a:ahLst/>
              <a:cxnLst/>
              <a:rect l="0" t="0" r="r" b="b"/>
              <a:pathLst>
                <a:path w="10" h="3200" fill="none">
                  <a:moveTo>
                    <a:pt x="0" y="3200"/>
                  </a:moveTo>
                  <a:lnTo>
                    <a:pt x="0" y="0"/>
                  </a:lnTo>
                </a:path>
              </a:pathLst>
            </a:custGeom>
            <a:noFill/>
            <a:ln w="19050" cap="rnd">
              <a:solidFill>
                <a:srgbClr val="1E1E1E"/>
              </a:solidFill>
              <a:round/>
              <a:tailEnd type="triangle" w="med" len="med"/>
            </a:ln>
          </p:spPr>
        </p:sp>
        <p:sp>
          <p:nvSpPr>
            <p:cNvPr id="8" name="Forma 9"/>
            <p:cNvSpPr txBox="1"/>
            <p:nvPr/>
          </p:nvSpPr>
          <p:spPr>
            <a:xfrm>
              <a:off x="411480" y="1371600"/>
              <a:ext cx="365760" cy="2834640"/>
            </a:xfrm>
            <a:prstGeom prst="rect">
              <a:avLst/>
            </a:prstGeom>
            <a:noFill/>
            <a:ln>
              <a:noFill/>
            </a:ln>
          </p:spPr>
          <p:txBody>
            <a:bodyPr wrap="square" lIns="0" tIns="0" rIns="0" bIns="0" anchor="ctr" rtlCol="0" vert="vert27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Glucemia</a:t>
              </a:r>
              <a:endParaRPr lang="es-AR" sz="1250" dirty="0">
                <a:latin typeface="Bahnschrift SemiBold Condensed"/>
              </a:endParaRPr>
            </a:p>
          </p:txBody>
        </p:sp>
        <p:sp>
          <p:nvSpPr>
            <p:cNvPr id="9" name="Forma 10"/>
            <p:cNvSpPr txBox="1"/>
            <p:nvPr/>
          </p:nvSpPr>
          <p:spPr>
            <a:xfrm>
              <a:off x="4114800" y="4297680"/>
              <a:ext cx="1920240" cy="274320"/>
            </a:xfrm>
            <a:prstGeom prst="rect">
              <a:avLst/>
            </a:prstGeom>
            <a:noFill/>
            <a:ln>
              <a:noFill/>
            </a:ln>
          </p:spPr>
          <p:txBody>
            <a:bodyPr wrap="square" lIns="0" tIns="0" rIns="0" bIns="0" anchor="t" rtlCol="0">
              <a:noAutofit/>
            </a:bodyPr>
            <a:lstStyle/>
            <a:p>
              <a:pPr algn="r">
                <a:spcAft>
                  <a:spcPts val="300"/>
                </a:spcAft>
                <a:buNone/>
              </a:pPr>
              <a:r>
                <a:rPr lang="es-AR" sz="1200" dirty="0">
                  <a:solidFill>
                    <a:srgbClr val="1E1E1E"/>
                  </a:solidFill>
                  <a:latin typeface="Bahnschrift"/>
                  <a:ea typeface="Bahnschrift"/>
                  <a:cs typeface="Bahnschrift"/>
                  <a:sym typeface="Bahnschrift"/>
                </a:rPr>
                <a:t>minutos tras comer</a:t>
              </a:r>
              <a:endParaRPr lang="es-AR" sz="1200" dirty="0">
                <a:latin typeface="Bahnschrift"/>
              </a:endParaRPr>
            </a:p>
          </p:txBody>
        </p:sp>
        <p:sp>
          <p:nvSpPr>
            <p:cNvPr id="10" name="Flecha 11_2"/>
            <p:cNvSpPr/>
            <p:nvPr/>
          </p:nvSpPr>
          <p:spPr>
            <a:xfrm>
              <a:off x="868680" y="3520440"/>
              <a:ext cx="4983480" cy="9144"/>
            </a:xfrm>
            <a:custGeom>
              <a:avLst/>
              <a:gdLst/>
              <a:ahLst/>
              <a:cxnLst/>
              <a:rect l="0" t="0" r="r" b="b"/>
              <a:pathLst>
                <a:path w="5450" h="10" fill="none">
                  <a:moveTo>
                    <a:pt x="0" y="0"/>
                  </a:moveTo>
                  <a:lnTo>
                    <a:pt x="5450" y="0"/>
                  </a:lnTo>
                </a:path>
              </a:pathLst>
            </a:custGeom>
            <a:noFill/>
            <a:ln w="15875" cap="rnd">
              <a:solidFill>
                <a:srgbClr val="7F8C8D"/>
              </a:solidFill>
              <a:prstDash val="dash"/>
              <a:round/>
            </a:ln>
          </p:spPr>
        </p:sp>
        <p:sp>
          <p:nvSpPr>
            <p:cNvPr id="11" name="Forma 13"/>
            <p:cNvSpPr txBox="1"/>
            <p:nvPr/>
          </p:nvSpPr>
          <p:spPr>
            <a:xfrm>
              <a:off x="4754880" y="3246120"/>
              <a:ext cx="1188720" cy="274320"/>
            </a:xfrm>
            <a:prstGeom prst="rect">
              <a:avLst/>
            </a:prstGeom>
            <a:noFill/>
            <a:ln>
              <a:noFill/>
            </a:ln>
          </p:spPr>
          <p:txBody>
            <a:bodyPr wrap="square" lIns="0" tIns="0" rIns="0" bIns="0" anchor="t" rtlCol="0">
              <a:noAutofit/>
            </a:bodyPr>
            <a:lstStyle/>
            <a:p>
              <a:pPr algn="r">
                <a:spcAft>
                  <a:spcPts val="300"/>
                </a:spcAft>
                <a:buNone/>
              </a:pPr>
              <a:r>
                <a:rPr lang="es-AR" sz="1200" b="1" dirty="0">
                  <a:solidFill>
                    <a:srgbClr val="5D6D7E"/>
                  </a:solidFill>
                  <a:latin typeface="Bahnschrift SemiBold Condensed"/>
                  <a:ea typeface="Bahnschrift SemiBold Condensed"/>
                  <a:cs typeface="Bahnschrift SemiBold Condensed"/>
                  <a:sym typeface="Bahnschrift SemiBold Condensed"/>
                </a:rPr>
                <a:t>basal</a:t>
              </a:r>
              <a:endParaRPr lang="es-AR" sz="1200" dirty="0">
                <a:latin typeface="Bahnschrift SemiBold Condensed"/>
              </a:endParaRPr>
            </a:p>
          </p:txBody>
        </p:sp>
      </p:grpSp>
      <p:sp>
        <p:nvSpPr>
          <p:cNvPr id="12" name="Curva glucemia"/>
          <p:cNvSpPr/>
          <p:nvPr/>
        </p:nvSpPr>
        <p:spPr>
          <a:xfrm>
            <a:off x="868680" y="1554480"/>
            <a:ext cx="5029200" cy="1965960"/>
          </a:xfrm>
          <a:custGeom>
            <a:avLst/>
            <a:gdLst/>
            <a:ahLst/>
            <a:cxnLst/>
            <a:rect l="0" t="0" r="r" b="b"/>
            <a:pathLst>
              <a:path w="1000" h="1000" fill="none">
                <a:moveTo>
                  <a:pt x="0" y="1000"/>
                </a:moveTo>
                <a:cubicBezTo>
                  <a:pt x="80" y="1000"/>
                  <a:pt x="120" y="100"/>
                  <a:pt x="220" y="60"/>
                </a:cubicBezTo>
                <a:cubicBezTo>
                  <a:pt x="330" y="20"/>
                  <a:pt x="420" y="450"/>
                  <a:pt x="560" y="800"/>
                </a:cubicBezTo>
                <a:cubicBezTo>
                  <a:pt x="680" y="1000"/>
                  <a:pt x="800" y="1000"/>
                  <a:pt x="1000" y="1000"/>
                </a:cubicBezTo>
              </a:path>
            </a:pathLst>
          </a:custGeom>
          <a:noFill/>
          <a:ln w="50800" cap="rnd">
            <a:solidFill>
              <a:srgbClr val="2E86C1"/>
            </a:solidFill>
            <a:round/>
          </a:ln>
        </p:spPr>
      </p:sp>
      <p:sp>
        <p:nvSpPr>
          <p:cNvPr id="13" name="Ejemplo curva"/>
          <p:cNvSpPr/>
          <p:nvPr/>
        </p:nvSpPr>
        <p:spPr>
          <a:xfrm>
            <a:off x="2011680" y="1234440"/>
            <a:ext cx="2834640" cy="6858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dirty="0">
                <a:solidFill>
                  <a:srgbClr val="1E1E1E"/>
                </a:solidFill>
                <a:latin typeface="Bahnschrift"/>
                <a:ea typeface="Bahnschrift"/>
                <a:cs typeface="Bahnschrift"/>
                <a:sym typeface="Bahnschrift"/>
              </a:rPr>
              <a:t>Ejemplo: pico ~30 min, basal ~2 h</a:t>
            </a:r>
            <a:endParaRPr lang="es-AR" sz="1550" dirty="0">
              <a:latin typeface="Bahnschrift"/>
            </a:endParaRPr>
          </a:p>
        </p:txBody>
      </p:sp>
      <p:sp>
        <p:nvSpPr>
          <p:cNvPr id="14" name="Ecuación balance"/>
          <p:cNvSpPr/>
          <p:nvPr/>
        </p:nvSpPr>
        <p:spPr>
          <a:xfrm>
            <a:off x="365760" y="4892040"/>
            <a:ext cx="5852160" cy="77724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000" dirty="0">
                <a:solidFill>
                  <a:srgbClr val="1E1E1E"/>
                </a:solidFill>
                <a:latin typeface="Bahnschrift SemiBold Condensed"/>
                <a:ea typeface="Bahnschrift SemiBold Condensed"/>
                <a:cs typeface="Bahnschrift SemiBold Condensed"/>
                <a:sym typeface="Bahnschrift SemiBold Condensed"/>
              </a:rPr>
              <a:t>Δ glucemia = </a:t>
            </a:r>
            <a:r>
              <a:rPr lang="es-AR" sz="2000" b="1" dirty="0">
                <a:solidFill>
                  <a:srgbClr val="1E1E1E"/>
                </a:solidFill>
                <a:latin typeface="Bahnschrift SemiBold Condensed"/>
                <a:ea typeface="Bahnschrift SemiBold Condensed"/>
                <a:cs typeface="Bahnschrift SemiBold Condensed"/>
                <a:sym typeface="Bahnschrift SemiBold Condensed"/>
              </a:rPr>
              <a:t>Ra</a:t>
            </a:r>
            <a:r>
              <a:rPr lang="es-AR" sz="2000" dirty="0">
                <a:solidFill>
                  <a:srgbClr val="1E1E1E"/>
                </a:solidFill>
                <a:latin typeface="Bahnschrift SemiBold Condensed"/>
                <a:ea typeface="Bahnschrift SemiBold Condensed"/>
                <a:cs typeface="Bahnschrift SemiBold Condensed"/>
                <a:sym typeface="Bahnschrift SemiBold Condensed"/>
              </a:rPr>
              <a:t> (entrada) − </a:t>
            </a:r>
            <a:r>
              <a:rPr lang="es-AR" sz="2000" b="1" dirty="0">
                <a:solidFill>
                  <a:srgbClr val="1E1E1E"/>
                </a:solidFill>
                <a:latin typeface="Bahnschrift SemiBold Condensed"/>
                <a:ea typeface="Bahnschrift SemiBold Condensed"/>
                <a:cs typeface="Bahnschrift SemiBold Condensed"/>
                <a:sym typeface="Bahnschrift SemiBold Condensed"/>
              </a:rPr>
              <a:t>Rd</a:t>
            </a:r>
            <a:r>
              <a:rPr lang="es-AR" sz="2000" dirty="0">
                <a:solidFill>
                  <a:srgbClr val="1E1E1E"/>
                </a:solidFill>
                <a:latin typeface="Bahnschrift SemiBold Condensed"/>
                <a:ea typeface="Bahnschrift SemiBold Condensed"/>
                <a:cs typeface="Bahnschrift SemiBold Condensed"/>
                <a:sym typeface="Bahnschrift SemiBold Condensed"/>
              </a:rPr>
              <a:t> (desaparición)</a:t>
            </a:r>
            <a:endParaRPr lang="es-AR" sz="2000" dirty="0">
              <a:latin typeface="Bahnschrift SemiBold Condensed"/>
            </a:endParaRPr>
          </a:p>
        </p:txBody>
      </p:sp>
      <p:sp>
        <p:nvSpPr>
          <p:cNvPr id="15" name="Forma 17"/>
          <p:cNvSpPr/>
          <p:nvPr/>
        </p:nvSpPr>
        <p:spPr>
          <a:xfrm>
            <a:off x="365760" y="5806440"/>
            <a:ext cx="5852160" cy="685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patrón es un </a:t>
            </a:r>
            <a:r>
              <a:rPr lang="es-AR" sz="1650" b="1" dirty="0">
                <a:solidFill>
                  <a:srgbClr val="1E1E1E"/>
                </a:solidFill>
                <a:latin typeface="Bahnschrift"/>
                <a:ea typeface="Bahnschrift"/>
                <a:cs typeface="Bahnschrift"/>
                <a:sym typeface="Bahnschrift"/>
              </a:rPr>
              <a:t>ejemplo, no una ley</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grpSp>
        <p:nvGrpSpPr>
          <p:cNvPr id="16" name="Recuadro La forma de la curva depe"/>
          <p:cNvGrpSpPr/>
          <p:nvPr/>
        </p:nvGrpSpPr>
        <p:grpSpPr>
          <a:xfrm>
            <a:off x="6492240" y="1051560"/>
            <a:ext cx="5303520" cy="2377440"/>
            <a:chOff x="6492240" y="1051560"/>
            <a:chExt cx="5303520" cy="2377440"/>
          </a:xfrm>
        </p:grpSpPr>
        <p:sp>
          <p:nvSpPr>
            <p:cNvPr id="17" name="Forma 19"/>
            <p:cNvSpPr/>
            <p:nvPr/>
          </p:nvSpPr>
          <p:spPr>
            <a:xfrm>
              <a:off x="6492240" y="1234440"/>
              <a:ext cx="5303520" cy="2194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Carga glucémica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Líquidos frente a sólidos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Incretinas y </a:t>
              </a:r>
              <a:r>
                <a:rPr lang="es-AR" sz="1750" b="1" dirty="0">
                  <a:solidFill>
                    <a:srgbClr val="1E1E1E"/>
                  </a:solidFill>
                  <a:latin typeface="Bahnschrift"/>
                  <a:ea typeface="Bahnschrift"/>
                  <a:cs typeface="Bahnschrift"/>
                  <a:sym typeface="Bahnschrift"/>
                </a:rPr>
                <a:t>vaciamiento gástrico</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Sensibilidad</a:t>
              </a:r>
              <a:r>
                <a:rPr lang="es-AR" sz="1750" dirty="0">
                  <a:solidFill>
                    <a:srgbClr val="1E1E1E"/>
                  </a:solidFill>
                  <a:latin typeface="Bahnschrift"/>
                  <a:ea typeface="Bahnschrift"/>
                  <a:cs typeface="Bahnschrift"/>
                  <a:sym typeface="Bahnschrift"/>
                </a:rPr>
                <a:t> a la insulina</a:t>
              </a:r>
              <a:endParaRPr lang="es-AR" sz="1750" dirty="0">
                <a:latin typeface="Bahnschrift"/>
              </a:endParaRPr>
            </a:p>
          </p:txBody>
        </p:sp>
        <p:sp>
          <p:nvSpPr>
            <p:cNvPr id="18" name="Forma 20"/>
            <p:cNvSpPr/>
            <p:nvPr/>
          </p:nvSpPr>
          <p:spPr>
            <a:xfrm>
              <a:off x="6601968" y="1051560"/>
              <a:ext cx="316242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LA FORMA DE LA CURVA DEPENDE DE</a:t>
              </a:r>
              <a:endParaRPr lang="es-AR" sz="1600" dirty="0">
                <a:latin typeface="Bahnschrift SemiBold Condensed"/>
              </a:endParaRPr>
            </a:p>
          </p:txBody>
        </p:sp>
      </p:grpSp>
      <p:grpSp>
        <p:nvGrpSpPr>
          <p:cNvPr id="19" name="Recuadro Entrada"/>
          <p:cNvGrpSpPr/>
          <p:nvPr/>
        </p:nvGrpSpPr>
        <p:grpSpPr>
          <a:xfrm>
            <a:off x="6492240" y="3611880"/>
            <a:ext cx="2560320" cy="2880360"/>
            <a:chOff x="6492240" y="3611880"/>
            <a:chExt cx="2560320" cy="2880360"/>
          </a:xfrm>
        </p:grpSpPr>
        <p:sp>
          <p:nvSpPr>
            <p:cNvPr id="20" name="Forma 22"/>
            <p:cNvSpPr/>
            <p:nvPr/>
          </p:nvSpPr>
          <p:spPr>
            <a:xfrm>
              <a:off x="6492240" y="3794760"/>
              <a:ext cx="2560320" cy="26974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Ra</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absorción intestinal</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producción </a:t>
              </a:r>
              <a:r>
                <a:rPr lang="es-AR" sz="1700" b="1" dirty="0">
                  <a:solidFill>
                    <a:srgbClr val="1E1E1E"/>
                  </a:solidFill>
                  <a:latin typeface="Bahnschrift"/>
                  <a:ea typeface="Bahnschrift"/>
                  <a:cs typeface="Bahnschrift"/>
                  <a:sym typeface="Bahnschrift"/>
                </a:rPr>
                <a:t>endógena</a:t>
              </a:r>
              <a:r>
                <a:rPr lang="es-AR" sz="1700" dirty="0">
                  <a:solidFill>
                    <a:srgbClr val="1E1E1E"/>
                  </a:solidFill>
                  <a:latin typeface="Bahnschrift"/>
                  <a:ea typeface="Bahnschrift"/>
                  <a:cs typeface="Bahnschrift"/>
                  <a:sym typeface="Bahnschrift"/>
                </a:rPr>
                <a:t> (hígado ± riñón)</a:t>
              </a:r>
              <a:endParaRPr lang="es-AR" sz="1700" dirty="0">
                <a:latin typeface="Bahnschrift"/>
              </a:endParaRPr>
            </a:p>
          </p:txBody>
        </p:sp>
        <p:sp>
          <p:nvSpPr>
            <p:cNvPr id="21" name="Forma 23"/>
            <p:cNvSpPr/>
            <p:nvPr/>
          </p:nvSpPr>
          <p:spPr>
            <a:xfrm>
              <a:off x="6601968" y="3611880"/>
              <a:ext cx="104702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ENTRADA</a:t>
              </a:r>
              <a:endParaRPr lang="es-AR" sz="1550" dirty="0">
                <a:latin typeface="Bahnschrift SemiBold Condensed"/>
              </a:endParaRPr>
            </a:p>
          </p:txBody>
        </p:sp>
      </p:grpSp>
      <p:grpSp>
        <p:nvGrpSpPr>
          <p:cNvPr id="22" name="Recuadro Desaparición"/>
          <p:cNvGrpSpPr/>
          <p:nvPr/>
        </p:nvGrpSpPr>
        <p:grpSpPr>
          <a:xfrm>
            <a:off x="9235440" y="3611880"/>
            <a:ext cx="2560320" cy="2880360"/>
            <a:chOff x="9235440" y="3611880"/>
            <a:chExt cx="2560320" cy="2880360"/>
          </a:xfrm>
        </p:grpSpPr>
        <p:sp>
          <p:nvSpPr>
            <p:cNvPr id="23" name="Forma 25"/>
            <p:cNvSpPr/>
            <p:nvPr/>
          </p:nvSpPr>
          <p:spPr>
            <a:xfrm>
              <a:off x="9235440" y="3794760"/>
              <a:ext cx="2560320" cy="26974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Rd</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captación </a:t>
              </a:r>
              <a:r>
                <a:rPr lang="es-AR" sz="1700" b="1" dirty="0">
                  <a:solidFill>
                    <a:srgbClr val="1E1E1E"/>
                  </a:solidFill>
                  <a:latin typeface="Bahnschrift"/>
                  <a:ea typeface="Bahnschrift"/>
                  <a:cs typeface="Bahnschrift"/>
                  <a:sym typeface="Bahnschrift"/>
                </a:rPr>
                <a:t>muscular</a:t>
              </a:r>
              <a:r>
                <a:rPr lang="es-AR" sz="1700" dirty="0">
                  <a:solidFill>
                    <a:srgbClr val="1E1E1E"/>
                  </a:solidFill>
                  <a:latin typeface="Bahnschrift"/>
                  <a:ea typeface="Bahnschrift"/>
                  <a:cs typeface="Bahnschrift"/>
                  <a:sym typeface="Bahnschrift"/>
                </a:rPr>
                <a:t> y adiposa (insulina)</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cerebro, eritrocitos (independiente)</a:t>
              </a:r>
              <a:endParaRPr lang="es-AR" sz="1700" dirty="0">
                <a:latin typeface="Bahnschrift"/>
              </a:endParaRPr>
            </a:p>
          </p:txBody>
        </p:sp>
        <p:sp>
          <p:nvSpPr>
            <p:cNvPr id="24" name="Forma 26"/>
            <p:cNvSpPr/>
            <p:nvPr/>
          </p:nvSpPr>
          <p:spPr>
            <a:xfrm>
              <a:off x="9345168" y="3611880"/>
              <a:ext cx="143477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DESAPARICIÓN</a:t>
              </a:r>
              <a:endParaRPr lang="es-AR" sz="155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76164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5 · POR QUÉ LA GLUCEMIA VUELVE A LA BASAL DESPUÉS DE COMER</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12"/>
                                        </p:tgtEl>
                                        <p:attrNameLst>
                                          <p:attrName>style.visibility</p:attrName>
                                        </p:attrNameLst>
                                      </p:cBhvr>
                                      <p:to>
                                        <p:strVal val="visible"/>
                                      </p:to>
                                    </p:set>
                                    <p:animEffect transition="in" filter="wipe(left)">
                                      <p:cBhvr>
                                        <p:cTn id="9" dur="1600"/>
                                        <p:tgtEl>
                                          <p:spTgt spid="12"/>
                                        </p:tgtEl>
                                      </p:cBhvr>
                                    </p:animEffect>
                                  </p:childTnLst>
                                </p:cTn>
                              </p:par>
                            </p:childTnLst>
                          </p:cTn>
                        </p:par>
                        <p:par>
                          <p:cTn id="14" fill="hold">
                            <p:stCondLst>
                              <p:cond delay="2100"/>
                            </p:stCondLst>
                            <p:childTnLst>
                              <p:par>
                                <p:cTn id="11" presetID="10" presetClass="entr" presetSubtype="0"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par>
                    <p:cTn id="26" fill="hold">
                      <p:stCondLst>
                        <p:cond delay="indefinite"/>
                      </p:stCondLst>
                      <p:childTnLst>
                        <p:par>
                          <p:cTn id="21"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p:cTn id="18" dur="500" fill="hold"/>
                                        <p:tgtEl>
                                          <p:spTgt spid="14"/>
                                        </p:tgtEl>
                                        <p:attrNameLst>
                                          <p:attrName>ppt_w</p:attrName>
                                        </p:attrNameLst>
                                      </p:cBhvr>
                                      <p:tavLst>
                                        <p:tav tm="0">
                                          <p:val>
                                            <p:fltVal val="0"/>
                                          </p:val>
                                        </p:tav>
                                        <p:tav tm="100000">
                                          <p:val>
                                            <p:strVal val="#ppt_w"/>
                                          </p:val>
                                        </p:tav>
                                      </p:tavLst>
                                    </p:anim>
                                    <p:anim calcmode="lin" valueType="num">
                                      <p:cBhvr>
                                        <p:cTn id="19" dur="500" fill="hold"/>
                                        <p:tgtEl>
                                          <p:spTgt spid="14"/>
                                        </p:tgtEl>
                                        <p:attrNameLst>
                                          <p:attrName>ppt_h</p:attrName>
                                        </p:attrNameLst>
                                      </p:cBhvr>
                                      <p:tavLst>
                                        <p:tav tm="0">
                                          <p:val>
                                            <p:fltVal val="0"/>
                                          </p:val>
                                        </p:tav>
                                        <p:tav tm="100000">
                                          <p:val>
                                            <p:strVal val="#ppt_h"/>
                                          </p:val>
                                        </p:tav>
                                      </p:tavLst>
                                    </p:anim>
                                    <p:animEffect transition="in" filter="fade">
                                      <p:cBhvr>
                                        <p:cTn id="20" dur="500"/>
                                        <p:tgtEl>
                                          <p:spTgt spid="14"/>
                                        </p:tgtEl>
                                      </p:cBhvr>
                                    </p:animEffect>
                                  </p:childTnLst>
                                </p:cTn>
                              </p:par>
                            </p:childTnLst>
                          </p:cTn>
                        </p:par>
                        <p:par>
                          <p:cTn id="25"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par>
                    <p:cTn id="35"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par>
                          <p:cTn id="34" fill="hold">
                            <p:stCondLst>
                              <p:cond delay="500"/>
                            </p:stCondLst>
                            <p:childTnLst>
                              <p:par>
                                <p:cTn id="31" presetID="10" presetClass="entr" presetSubtype="0"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childTnLst>
                          </p:cTn>
                        </p:par>
                      </p:childTnLst>
                    </p:cTn>
                  </p:par>
                  <p:par>
                    <p:cTn id="40" fill="hold">
                      <p:stCondLst>
                        <p:cond delay="indefinite"/>
                      </p:stCondLst>
                      <p:childTnLst>
                        <p:par>
                          <p:cTn id="39"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
</file>

<file path=ppt/slides/slide4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Intestino"/>
          <p:cNvGrpSpPr/>
          <p:nvPr/>
        </p:nvGrpSpPr>
        <p:grpSpPr>
          <a:xfrm>
            <a:off x="365760" y="1097280"/>
            <a:ext cx="2377440" cy="2020824"/>
            <a:chOff x="365760" y="1097280"/>
            <a:chExt cx="2377440" cy="2020824"/>
          </a:xfrm>
        </p:grpSpPr>
        <p:sp>
          <p:nvSpPr>
            <p:cNvPr id="5" name="Forma 4"/>
            <p:cNvSpPr/>
            <p:nvPr/>
          </p:nvSpPr>
          <p:spPr>
            <a:xfrm>
              <a:off x="365760" y="1097280"/>
              <a:ext cx="2377440" cy="202082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 name="Forma 5"/>
            <p:cNvSpPr/>
            <p:nvPr/>
          </p:nvSpPr>
          <p:spPr>
            <a:xfrm>
              <a:off x="365760" y="1097280"/>
              <a:ext cx="2377440" cy="202082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7" name="Forma 6"/>
            <p:cNvSpPr/>
            <p:nvPr/>
          </p:nvSpPr>
          <p:spPr>
            <a:xfrm>
              <a:off x="365760" y="10972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8" name="Forma 7"/>
            <p:cNvSpPr/>
            <p:nvPr/>
          </p:nvSpPr>
          <p:spPr>
            <a:xfrm>
              <a:off x="365760" y="10972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9" name="Forma 8"/>
            <p:cNvSpPr/>
            <p:nvPr/>
          </p:nvSpPr>
          <p:spPr>
            <a:xfrm>
              <a:off x="365760" y="10972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0" name="Páncreas"/>
          <p:cNvGrpSpPr/>
          <p:nvPr/>
        </p:nvGrpSpPr>
        <p:grpSpPr>
          <a:xfrm>
            <a:off x="3108960" y="1234440"/>
            <a:ext cx="2743200" cy="1152144"/>
            <a:chOff x="3108960" y="1234440"/>
            <a:chExt cx="2743200" cy="1152144"/>
          </a:xfrm>
        </p:grpSpPr>
        <p:sp>
          <p:nvSpPr>
            <p:cNvPr id="11" name="Forma 10"/>
            <p:cNvSpPr/>
            <p:nvPr/>
          </p:nvSpPr>
          <p:spPr>
            <a:xfrm>
              <a:off x="3108960" y="1234440"/>
              <a:ext cx="2743200" cy="115214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2" name="Forma 11"/>
            <p:cNvSpPr/>
            <p:nvPr/>
          </p:nvSpPr>
          <p:spPr>
            <a:xfrm>
              <a:off x="3108960" y="1234440"/>
              <a:ext cx="2743200" cy="115214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3" name="Islotes"/>
            <p:cNvSpPr/>
            <p:nvPr/>
          </p:nvSpPr>
          <p:spPr>
            <a:xfrm>
              <a:off x="3108960" y="1234440"/>
              <a:ext cx="2743200" cy="115214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14" name="Forma 13"/>
            <p:cNvSpPr/>
            <p:nvPr/>
          </p:nvSpPr>
          <p:spPr>
            <a:xfrm>
              <a:off x="3108960" y="1234440"/>
              <a:ext cx="2743200" cy="115214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15" name="Islote"/>
          <p:cNvGrpSpPr/>
          <p:nvPr/>
        </p:nvGrpSpPr>
        <p:grpSpPr>
          <a:xfrm>
            <a:off x="3935578" y="2426818"/>
            <a:ext cx="1638605" cy="1638605"/>
            <a:chOff x="3935578" y="2426818"/>
            <a:chExt cx="1638605" cy="1638605"/>
          </a:xfrm>
        </p:grpSpPr>
        <p:sp>
          <p:nvSpPr>
            <p:cNvPr id="16" name="Forma 15"/>
            <p:cNvSpPr/>
            <p:nvPr/>
          </p:nvSpPr>
          <p:spPr>
            <a:xfrm>
              <a:off x="3935578" y="2426818"/>
              <a:ext cx="1638605" cy="1638605"/>
            </a:xfrm>
            <a:prstGeom prst="ellipse">
              <a:avLst/>
            </a:prstGeom>
            <a:solidFill>
              <a:srgbClr val="F5CBA7">
                <a:alpha val="60000"/>
              </a:srgbClr>
            </a:solidFill>
            <a:ln w="12700" cap="rnd">
              <a:solidFill>
                <a:srgbClr val="B9770E"/>
              </a:solidFill>
              <a:prstDash val="dash"/>
              <a:round/>
            </a:ln>
          </p:spPr>
        </p:sp>
        <p:sp>
          <p:nvSpPr>
            <p:cNvPr id="17" name="Forma 16"/>
            <p:cNvSpPr/>
            <p:nvPr/>
          </p:nvSpPr>
          <p:spPr>
            <a:xfrm>
              <a:off x="4664172" y="3155412"/>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18" name="Forma 17"/>
            <p:cNvSpPr/>
            <p:nvPr/>
          </p:nvSpPr>
          <p:spPr>
            <a:xfrm>
              <a:off x="4594314" y="2978510"/>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19" name="Forma 18"/>
            <p:cNvSpPr/>
            <p:nvPr/>
          </p:nvSpPr>
          <p:spPr>
            <a:xfrm>
              <a:off x="4758924" y="2990499"/>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0" name="Forma 19"/>
            <p:cNvSpPr/>
            <p:nvPr/>
          </p:nvSpPr>
          <p:spPr>
            <a:xfrm>
              <a:off x="4852183" y="3126670"/>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1" name="Forma 20"/>
            <p:cNvSpPr/>
            <p:nvPr/>
          </p:nvSpPr>
          <p:spPr>
            <a:xfrm>
              <a:off x="4803865" y="3284485"/>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2" name="Forma 21"/>
            <p:cNvSpPr/>
            <p:nvPr/>
          </p:nvSpPr>
          <p:spPr>
            <a:xfrm>
              <a:off x="4650356" y="3345104"/>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3" name="Forma 22"/>
            <p:cNvSpPr/>
            <p:nvPr/>
          </p:nvSpPr>
          <p:spPr>
            <a:xfrm>
              <a:off x="4507250" y="3262881"/>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24" name="Forma 23"/>
            <p:cNvSpPr/>
            <p:nvPr/>
          </p:nvSpPr>
          <p:spPr>
            <a:xfrm>
              <a:off x="4482309" y="3099732"/>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5" name="Forma 24"/>
            <p:cNvSpPr/>
            <p:nvPr/>
          </p:nvSpPr>
          <p:spPr>
            <a:xfrm>
              <a:off x="4386413" y="3415309"/>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6" name="Forma 25"/>
            <p:cNvSpPr/>
            <p:nvPr/>
          </p:nvSpPr>
          <p:spPr>
            <a:xfrm>
              <a:off x="4293676" y="3241610"/>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7" name="Forma 26"/>
            <p:cNvSpPr/>
            <p:nvPr/>
          </p:nvSpPr>
          <p:spPr>
            <a:xfrm>
              <a:off x="4300214" y="3044814"/>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28" name="Forma 27"/>
            <p:cNvSpPr/>
            <p:nvPr/>
          </p:nvSpPr>
          <p:spPr>
            <a:xfrm>
              <a:off x="4404274" y="2877653"/>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29" name="Forma 28"/>
            <p:cNvSpPr/>
            <p:nvPr/>
          </p:nvSpPr>
          <p:spPr>
            <a:xfrm>
              <a:off x="4577973" y="2784916"/>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30" name="Forma 29"/>
            <p:cNvSpPr/>
            <p:nvPr/>
          </p:nvSpPr>
          <p:spPr>
            <a:xfrm>
              <a:off x="4774769" y="2791454"/>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31" name="Forma 30"/>
            <p:cNvSpPr/>
            <p:nvPr/>
          </p:nvSpPr>
          <p:spPr>
            <a:xfrm>
              <a:off x="4941930" y="2895514"/>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32" name="Forma 31"/>
            <p:cNvSpPr/>
            <p:nvPr/>
          </p:nvSpPr>
          <p:spPr>
            <a:xfrm>
              <a:off x="5034667" y="3069213"/>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33" name="Forma 32"/>
            <p:cNvSpPr/>
            <p:nvPr/>
          </p:nvSpPr>
          <p:spPr>
            <a:xfrm>
              <a:off x="5028129" y="3266009"/>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34" name="Forma 33"/>
            <p:cNvSpPr/>
            <p:nvPr/>
          </p:nvSpPr>
          <p:spPr>
            <a:xfrm>
              <a:off x="4924069" y="3433170"/>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35" name="Forma 34"/>
            <p:cNvSpPr/>
            <p:nvPr/>
          </p:nvSpPr>
          <p:spPr>
            <a:xfrm>
              <a:off x="4750370" y="3525907"/>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36" name="Forma 35"/>
            <p:cNvSpPr/>
            <p:nvPr/>
          </p:nvSpPr>
          <p:spPr>
            <a:xfrm>
              <a:off x="4553574" y="3519369"/>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37" name="Forma 36"/>
            <p:cNvSpPr/>
            <p:nvPr/>
          </p:nvSpPr>
          <p:spPr>
            <a:xfrm>
              <a:off x="4113105" y="3228977"/>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38" name="Forma 37"/>
            <p:cNvSpPr/>
            <p:nvPr/>
          </p:nvSpPr>
          <p:spPr>
            <a:xfrm>
              <a:off x="4123742" y="3024941"/>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39" name="Forma 38"/>
            <p:cNvSpPr/>
            <p:nvPr/>
          </p:nvSpPr>
          <p:spPr>
            <a:xfrm>
              <a:off x="4207368" y="2838526"/>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40" name="Forma 39"/>
            <p:cNvSpPr/>
            <p:nvPr/>
          </p:nvSpPr>
          <p:spPr>
            <a:xfrm>
              <a:off x="4352687" y="2694908"/>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41" name="Forma 40"/>
            <p:cNvSpPr/>
            <p:nvPr/>
          </p:nvSpPr>
          <p:spPr>
            <a:xfrm>
              <a:off x="4540074" y="2613483"/>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42" name="Forma 41"/>
            <p:cNvSpPr/>
            <p:nvPr/>
          </p:nvSpPr>
          <p:spPr>
            <a:xfrm>
              <a:off x="4744221" y="2605250"/>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43" name="Forma 42"/>
            <p:cNvSpPr/>
            <p:nvPr/>
          </p:nvSpPr>
          <p:spPr>
            <a:xfrm>
              <a:off x="4937557" y="2671318"/>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44" name="Forma 43"/>
            <p:cNvSpPr/>
            <p:nvPr/>
          </p:nvSpPr>
          <p:spPr>
            <a:xfrm>
              <a:off x="5093971" y="2802766"/>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45" name="Forma 44"/>
            <p:cNvSpPr/>
            <p:nvPr/>
          </p:nvSpPr>
          <p:spPr>
            <a:xfrm>
              <a:off x="5192338" y="2981841"/>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46" name="Forma 45"/>
            <p:cNvSpPr/>
            <p:nvPr/>
          </p:nvSpPr>
          <p:spPr>
            <a:xfrm>
              <a:off x="5219373" y="3184357"/>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47" name="Forma 46"/>
            <p:cNvSpPr/>
            <p:nvPr/>
          </p:nvSpPr>
          <p:spPr>
            <a:xfrm>
              <a:off x="5171425" y="3382964"/>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48" name="Forma 47"/>
            <p:cNvSpPr/>
            <p:nvPr/>
          </p:nvSpPr>
          <p:spPr>
            <a:xfrm>
              <a:off x="5054969" y="3550839"/>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49" name="Forma 48"/>
            <p:cNvSpPr/>
            <p:nvPr/>
          </p:nvSpPr>
          <p:spPr>
            <a:xfrm>
              <a:off x="4885735" y="3665309"/>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50" name="Forma 49"/>
            <p:cNvSpPr/>
            <p:nvPr/>
          </p:nvSpPr>
          <p:spPr>
            <a:xfrm>
              <a:off x="4686577" y="3710915"/>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51" name="Forma 50"/>
            <p:cNvSpPr/>
            <p:nvPr/>
          </p:nvSpPr>
          <p:spPr>
            <a:xfrm>
              <a:off x="4484393" y="3681497"/>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52" name="Forma 51"/>
            <p:cNvSpPr/>
            <p:nvPr/>
          </p:nvSpPr>
          <p:spPr>
            <a:xfrm>
              <a:off x="4306489" y="3581028"/>
              <a:ext cx="181417" cy="181417"/>
            </a:xfrm>
            <a:prstGeom prst="ellipse">
              <a:avLst/>
            </a:prstGeom>
            <a:gradFill rotWithShape="1">
              <a:gsLst>
                <a:gs pos="0">
                  <a:srgbClr val="B2D1E5"/>
                </a:gs>
                <a:gs pos="55000">
                  <a:srgbClr val="7FB3D5"/>
                </a:gs>
                <a:gs pos="100000">
                  <a:srgbClr val="5F869F"/>
                </a:gs>
              </a:gsLst>
              <a:path path="circle">
                <a:fillToRect l="32000" t="28000" r="68000" b="72000"/>
              </a:path>
            </a:gradFill>
            <a:ln w="9525" cap="rnd">
              <a:solidFill>
                <a:srgbClr val="3F596A"/>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β</a:t>
              </a:r>
              <a:endParaRPr lang="es-AR" sz="1440" dirty="0">
                <a:latin typeface="Bahnschrift SemiBold Condensed"/>
              </a:endParaRPr>
            </a:p>
          </p:txBody>
        </p:sp>
        <p:sp>
          <p:nvSpPr>
            <p:cNvPr id="53" name="Forma 52"/>
            <p:cNvSpPr/>
            <p:nvPr/>
          </p:nvSpPr>
          <p:spPr>
            <a:xfrm>
              <a:off x="4176892" y="3423077"/>
              <a:ext cx="181417" cy="181417"/>
            </a:xfrm>
            <a:prstGeom prst="ellipse">
              <a:avLst/>
            </a:prstGeom>
            <a:gradFill rotWithShape="1">
              <a:gsLst>
                <a:gs pos="0">
                  <a:srgbClr val="F6BEB8"/>
                </a:gs>
                <a:gs pos="55000">
                  <a:srgbClr val="F1948A"/>
                </a:gs>
                <a:gs pos="100000">
                  <a:srgbClr val="B46F67"/>
                </a:gs>
              </a:gsLst>
              <a:path path="circle">
                <a:fillToRect l="32000" t="28000" r="68000" b="72000"/>
              </a:path>
            </a:gradFill>
            <a:ln w="9525" cap="rnd">
              <a:solidFill>
                <a:srgbClr val="784A45"/>
              </a:solidFill>
              <a:round/>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α</a:t>
              </a:r>
              <a:endParaRPr lang="es-AR" sz="1440" dirty="0">
                <a:latin typeface="Bahnschrift SemiBold Condensed"/>
              </a:endParaRPr>
            </a:p>
          </p:txBody>
        </p:sp>
        <p:sp>
          <p:nvSpPr>
            <p:cNvPr id="54" name="Forma 53"/>
            <p:cNvSpPr/>
            <p:nvPr/>
          </p:nvSpPr>
          <p:spPr>
            <a:xfrm>
              <a:off x="4023360" y="2514600"/>
              <a:ext cx="1463040" cy="1463040"/>
            </a:xfrm>
            <a:custGeom>
              <a:avLst/>
              <a:gdLst/>
              <a:ahLst/>
              <a:cxnLst/>
              <a:rect l="0" t="0" r="r" b="b"/>
              <a:pathLst>
                <a:path w="1000" h="1000" fill="none">
                  <a:moveTo>
                    <a:pt x="0" y="620"/>
                  </a:moveTo>
                  <a:cubicBezTo>
                    <a:pt x="250" y="560"/>
                    <a:pt x="420" y="700"/>
                    <a:pt x="600" y="600"/>
                  </a:cubicBezTo>
                  <a:cubicBezTo>
                    <a:pt x="760" y="520"/>
                    <a:pt x="880" y="560"/>
                    <a:pt x="1000" y="520"/>
                  </a:cubicBezTo>
                </a:path>
              </a:pathLst>
            </a:custGeom>
            <a:noFill/>
            <a:ln w="38100" cap="rnd">
              <a:solidFill>
                <a:srgbClr val="C0392B"/>
              </a:solidFill>
              <a:round/>
            </a:ln>
          </p:spPr>
        </p:sp>
      </p:grpSp>
      <p:grpSp>
        <p:nvGrpSpPr>
          <p:cNvPr id="55" name="Flecha GLP-1 · GIP"/>
          <p:cNvGrpSpPr/>
          <p:nvPr/>
        </p:nvGrpSpPr>
        <p:grpSpPr>
          <a:xfrm>
            <a:off x="2560320" y="2194560"/>
            <a:ext cx="1463040" cy="914400"/>
            <a:chOff x="2560320" y="2194560"/>
            <a:chExt cx="1463040" cy="914400"/>
          </a:xfrm>
        </p:grpSpPr>
        <p:sp>
          <p:nvSpPr>
            <p:cNvPr id="56" name="Flecha 55_2"/>
            <p:cNvSpPr/>
            <p:nvPr/>
          </p:nvSpPr>
          <p:spPr>
            <a:xfrm>
              <a:off x="2651760" y="2194560"/>
              <a:ext cx="1371600" cy="914400"/>
            </a:xfrm>
            <a:custGeom>
              <a:avLst/>
              <a:gdLst/>
              <a:ahLst/>
              <a:cxnLst/>
              <a:rect l="0" t="0" r="r" b="b"/>
              <a:pathLst>
                <a:path w="1500" h="1000" fill="none">
                  <a:moveTo>
                    <a:pt x="0" y="0"/>
                  </a:moveTo>
                  <a:lnTo>
                    <a:pt x="1500" y="1000"/>
                  </a:lnTo>
                </a:path>
              </a:pathLst>
            </a:custGeom>
            <a:noFill/>
            <a:ln w="38100" cap="rnd">
              <a:solidFill>
                <a:srgbClr val="1E8C3A"/>
              </a:solidFill>
              <a:round/>
              <a:tailEnd type="triangle" w="med" len="med"/>
            </a:ln>
          </p:spPr>
        </p:sp>
        <p:sp>
          <p:nvSpPr>
            <p:cNvPr id="57" name="Forma 57"/>
            <p:cNvSpPr txBox="1"/>
            <p:nvPr/>
          </p:nvSpPr>
          <p:spPr>
            <a:xfrm>
              <a:off x="2560320" y="2788920"/>
              <a:ext cx="146304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8C3A"/>
                  </a:solidFill>
                  <a:latin typeface="Bahnschrift SemiBold Condensed"/>
                  <a:ea typeface="Bahnschrift SemiBold Condensed"/>
                  <a:cs typeface="Bahnschrift SemiBold Condensed"/>
                  <a:sym typeface="Bahnschrift SemiBold Condensed"/>
                </a:rPr>
                <a:t>GLP-1 · GIP</a:t>
              </a:r>
              <a:endParaRPr lang="es-AR" sz="1200" dirty="0">
                <a:latin typeface="Bahnschrift SemiBold Condensed"/>
              </a:endParaRPr>
            </a:p>
          </p:txBody>
        </p:sp>
      </p:grpSp>
      <p:grpSp>
        <p:nvGrpSpPr>
          <p:cNvPr id="58" name="Flecha Vago (ACh)"/>
          <p:cNvGrpSpPr/>
          <p:nvPr/>
        </p:nvGrpSpPr>
        <p:grpSpPr>
          <a:xfrm>
            <a:off x="3291840" y="914400"/>
            <a:ext cx="1600200" cy="1600200"/>
            <a:chOff x="3291840" y="914400"/>
            <a:chExt cx="1600200" cy="1600200"/>
          </a:xfrm>
        </p:grpSpPr>
        <p:sp>
          <p:nvSpPr>
            <p:cNvPr id="59" name="Flecha 59_2"/>
            <p:cNvSpPr/>
            <p:nvPr/>
          </p:nvSpPr>
          <p:spPr>
            <a:xfrm>
              <a:off x="3291840" y="914400"/>
              <a:ext cx="914400" cy="1600200"/>
            </a:xfrm>
            <a:custGeom>
              <a:avLst/>
              <a:gdLst/>
              <a:ahLst/>
              <a:cxnLst/>
              <a:rect l="0" t="0" r="r" b="b"/>
              <a:pathLst>
                <a:path w="999" h="1750" fill="none">
                  <a:moveTo>
                    <a:pt x="0" y="0"/>
                  </a:moveTo>
                  <a:lnTo>
                    <a:pt x="999" y="1750"/>
                  </a:lnTo>
                </a:path>
              </a:pathLst>
            </a:custGeom>
            <a:noFill/>
            <a:ln w="31750" cap="rnd">
              <a:solidFill>
                <a:srgbClr val="1E8C3A"/>
              </a:solidFill>
              <a:prstDash val="dash"/>
              <a:round/>
              <a:tailEnd type="triangle" w="med" len="med"/>
            </a:ln>
          </p:spPr>
        </p:sp>
        <p:sp>
          <p:nvSpPr>
            <p:cNvPr id="60" name="Forma 61"/>
            <p:cNvSpPr txBox="1"/>
            <p:nvPr/>
          </p:nvSpPr>
          <p:spPr>
            <a:xfrm>
              <a:off x="3520440" y="914400"/>
              <a:ext cx="137160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8C3A"/>
                  </a:solidFill>
                  <a:latin typeface="Bahnschrift SemiBold Condensed"/>
                  <a:ea typeface="Bahnschrift SemiBold Condensed"/>
                  <a:cs typeface="Bahnschrift SemiBold Condensed"/>
                  <a:sym typeface="Bahnschrift SemiBold Condensed"/>
                </a:rPr>
                <a:t>Vago (ACh)</a:t>
              </a:r>
              <a:endParaRPr lang="es-AR" sz="1200" dirty="0">
                <a:latin typeface="Bahnschrift SemiBold Condensed"/>
              </a:endParaRPr>
            </a:p>
          </p:txBody>
        </p:sp>
      </p:grpSp>
      <p:sp>
        <p:nvSpPr>
          <p:cNvPr id="61" name="Paso Intestino"/>
          <p:cNvSpPr/>
          <p:nvPr/>
        </p:nvSpPr>
        <p:spPr>
          <a:xfrm>
            <a:off x="6172200" y="1005840"/>
            <a:ext cx="5623560" cy="987552"/>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Intestino</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SGLT1</a:t>
            </a:r>
            <a:r>
              <a:rPr lang="es-AR" sz="1650" dirty="0">
                <a:solidFill>
                  <a:srgbClr val="1E1E1E"/>
                </a:solidFill>
                <a:latin typeface="Bahnschrift"/>
                <a:ea typeface="Bahnschrift"/>
                <a:cs typeface="Bahnschrift"/>
                <a:sym typeface="Bahnschrift"/>
              </a:rPr>
              <a:t> apical y </a:t>
            </a:r>
            <a:r>
              <a:rPr lang="es-AR" sz="1650" b="1" dirty="0">
                <a:solidFill>
                  <a:srgbClr val="1E1E1E"/>
                </a:solidFill>
                <a:latin typeface="Bahnschrift"/>
                <a:ea typeface="Bahnschrift"/>
                <a:cs typeface="Bahnschrift"/>
                <a:sym typeface="Bahnschrift"/>
              </a:rPr>
              <a:t>GLUT2</a:t>
            </a:r>
            <a:r>
              <a:rPr lang="es-AR" sz="1650" dirty="0">
                <a:solidFill>
                  <a:srgbClr val="1E1E1E"/>
                </a:solidFill>
                <a:latin typeface="Bahnschrift"/>
                <a:ea typeface="Bahnschrift"/>
                <a:cs typeface="Bahnschrift"/>
                <a:sym typeface="Bahnschrift"/>
              </a:rPr>
              <a:t> basolateral absorben glucosa; células L/K secretan </a:t>
            </a:r>
            <a:r>
              <a:rPr lang="es-AR" sz="1650" b="1" dirty="0">
                <a:solidFill>
                  <a:srgbClr val="1E1E1E"/>
                </a:solidFill>
                <a:latin typeface="Bahnschrift"/>
                <a:ea typeface="Bahnschrift"/>
                <a:cs typeface="Bahnschrift"/>
                <a:sym typeface="Bahnschrift"/>
              </a:rPr>
              <a:t>GLP-1/GIP</a:t>
            </a:r>
            <a:r>
              <a:rPr lang="es-AR" sz="1650" dirty="0">
                <a:solidFill>
                  <a:srgbClr val="1E1E1E"/>
                </a:solidFill>
                <a:latin typeface="Bahnschrift"/>
                <a:ea typeface="Bahnschrift"/>
                <a:cs typeface="Bahnschrift"/>
                <a:sym typeface="Bahnschrift"/>
              </a:rPr>
              <a:t>; activación </a:t>
            </a:r>
            <a:r>
              <a:rPr lang="es-AR" sz="1650" b="1" dirty="0">
                <a:solidFill>
                  <a:srgbClr val="1E1E1E"/>
                </a:solidFill>
                <a:latin typeface="Bahnschrift"/>
                <a:ea typeface="Bahnschrift"/>
                <a:cs typeface="Bahnschrift"/>
                <a:sym typeface="Bahnschrift"/>
              </a:rPr>
              <a:t>vagal</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62" name="Paso Célula β"/>
          <p:cNvSpPr/>
          <p:nvPr/>
        </p:nvSpPr>
        <p:spPr>
          <a:xfrm>
            <a:off x="6172200" y="2103120"/>
            <a:ext cx="5623560" cy="987552"/>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Célula β</a:t>
            </a:r>
            <a:r>
              <a:rPr lang="es-AR" sz="1650" dirty="0">
                <a:solidFill>
                  <a:srgbClr val="1E1E1E"/>
                </a:solidFill>
                <a:latin typeface="Bahnschrift"/>
                <a:ea typeface="Bahnschrift"/>
                <a:cs typeface="Bahnschrift"/>
                <a:sym typeface="Bahnschrift"/>
              </a:rPr>
              <a:t>: Aumento </a:t>
            </a:r>
            <a:r>
              <a:rPr lang="es-AR" sz="1650" b="1" dirty="0">
                <a:solidFill>
                  <a:srgbClr val="1E1E1E"/>
                </a:solidFill>
                <a:latin typeface="Bahnschrift"/>
                <a:ea typeface="Bahnschrift"/>
                <a:cs typeface="Bahnschrift"/>
                <a:sym typeface="Bahnschrift"/>
              </a:rPr>
              <a:t>bifásico</a:t>
            </a:r>
            <a:r>
              <a:rPr lang="es-AR" sz="1650" dirty="0">
                <a:solidFill>
                  <a:srgbClr val="1E1E1E"/>
                </a:solidFill>
                <a:latin typeface="Bahnschrift"/>
                <a:ea typeface="Bahnschrift"/>
                <a:cs typeface="Bahnschrift"/>
                <a:sym typeface="Bahnschrift"/>
              </a:rPr>
              <a:t> de insulina.</a:t>
            </a:r>
            <a:endParaRPr lang="es-AR" sz="1650" dirty="0">
              <a:latin typeface="Bahnschrift"/>
            </a:endParaRPr>
          </a:p>
        </p:txBody>
      </p:sp>
      <p:sp>
        <p:nvSpPr>
          <p:cNvPr id="63" name="Paso Célula α"/>
          <p:cNvSpPr/>
          <p:nvPr/>
        </p:nvSpPr>
        <p:spPr>
          <a:xfrm>
            <a:off x="6172200" y="3200400"/>
            <a:ext cx="5623560" cy="987552"/>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Célula α</a:t>
            </a:r>
            <a:r>
              <a:rPr lang="es-AR" sz="1650" dirty="0">
                <a:solidFill>
                  <a:srgbClr val="1E1E1E"/>
                </a:solidFill>
                <a:latin typeface="Bahnschrift"/>
                <a:ea typeface="Bahnschrift"/>
                <a:cs typeface="Bahnschrift"/>
                <a:sym typeface="Bahnschrift"/>
              </a:rPr>
              <a:t>: Ajusta (reduce) el </a:t>
            </a:r>
            <a:r>
              <a:rPr lang="es-AR" sz="1650" b="1" dirty="0">
                <a:solidFill>
                  <a:srgbClr val="1E1E1E"/>
                </a:solidFill>
                <a:latin typeface="Bahnschrift"/>
                <a:ea typeface="Bahnschrift"/>
                <a:cs typeface="Bahnschrift"/>
                <a:sym typeface="Bahnschrift"/>
              </a:rPr>
              <a:t>glucagón</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64" name="Paso Célula δ"/>
          <p:cNvSpPr/>
          <p:nvPr/>
        </p:nvSpPr>
        <p:spPr>
          <a:xfrm>
            <a:off x="6172200" y="4297680"/>
            <a:ext cx="5623560" cy="987552"/>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Célula δ</a:t>
            </a:r>
            <a:r>
              <a:rPr lang="es-AR" sz="1650" dirty="0">
                <a:solidFill>
                  <a:srgbClr val="1E1E1E"/>
                </a:solidFill>
                <a:latin typeface="Bahnschrift"/>
                <a:ea typeface="Bahnschrift"/>
                <a:cs typeface="Bahnschrift"/>
                <a:sym typeface="Bahnschrift"/>
              </a:rPr>
              <a:t>: Libera </a:t>
            </a:r>
            <a:r>
              <a:rPr lang="es-AR" sz="1650" b="1" dirty="0">
                <a:solidFill>
                  <a:srgbClr val="1E1E1E"/>
                </a:solidFill>
                <a:latin typeface="Bahnschrift"/>
                <a:ea typeface="Bahnschrift"/>
                <a:cs typeface="Bahnschrift"/>
                <a:sym typeface="Bahnschrift"/>
              </a:rPr>
              <a:t>somatostatina</a:t>
            </a:r>
            <a:r>
              <a:rPr lang="es-AR" sz="1650" dirty="0">
                <a:solidFill>
                  <a:srgbClr val="1E1E1E"/>
                </a:solidFill>
                <a:latin typeface="Bahnschrift"/>
                <a:ea typeface="Bahnschrift"/>
                <a:cs typeface="Bahnschrift"/>
                <a:sym typeface="Bahnschrift"/>
              </a:rPr>
              <a:t> (freno paracrino).</a:t>
            </a:r>
            <a:endParaRPr lang="es-AR" sz="1650" dirty="0">
              <a:latin typeface="Bahnschrift"/>
            </a:endParaRPr>
          </a:p>
        </p:txBody>
      </p:sp>
      <p:sp>
        <p:nvSpPr>
          <p:cNvPr id="65" name="Paso Resultado"/>
          <p:cNvSpPr/>
          <p:nvPr/>
        </p:nvSpPr>
        <p:spPr>
          <a:xfrm>
            <a:off x="6172200" y="5394960"/>
            <a:ext cx="5623560" cy="987552"/>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Resultado</a:t>
            </a:r>
            <a:r>
              <a:rPr lang="es-AR" sz="1650" dirty="0">
                <a:solidFill>
                  <a:srgbClr val="1E1E1E"/>
                </a:solidFill>
                <a:latin typeface="Bahnschrift"/>
                <a:ea typeface="Bahnschrift"/>
                <a:cs typeface="Bahnschrift"/>
                <a:sym typeface="Bahnschrift"/>
              </a:rPr>
              <a:t>: La insulina </a:t>
            </a:r>
            <a:r>
              <a:rPr lang="es-AR" sz="1650" b="1" dirty="0">
                <a:solidFill>
                  <a:srgbClr val="1E1E1E"/>
                </a:solidFill>
                <a:latin typeface="Bahnschrift"/>
                <a:ea typeface="Bahnschrift"/>
                <a:cs typeface="Bahnschrift"/>
                <a:sym typeface="Bahnschrift"/>
              </a:rPr>
              <a:t>reduce la producción endógena</a:t>
            </a:r>
            <a:r>
              <a:rPr lang="es-AR" sz="1650" dirty="0">
                <a:solidFill>
                  <a:srgbClr val="1E1E1E"/>
                </a:solidFill>
                <a:latin typeface="Bahnschrift"/>
                <a:ea typeface="Bahnschrift"/>
                <a:cs typeface="Bahnschrift"/>
                <a:sym typeface="Bahnschrift"/>
              </a:rPr>
              <a:t> de glucosa y </a:t>
            </a:r>
            <a:r>
              <a:rPr lang="es-AR" sz="1650" b="1" dirty="0">
                <a:solidFill>
                  <a:srgbClr val="1E1E1E"/>
                </a:solidFill>
                <a:latin typeface="Bahnschrift"/>
                <a:ea typeface="Bahnschrift"/>
                <a:cs typeface="Bahnschrift"/>
                <a:sym typeface="Bahnschrift"/>
              </a:rPr>
              <a:t>facilita la captación</a:t>
            </a:r>
            <a:r>
              <a:rPr lang="es-AR" sz="1650" dirty="0">
                <a:solidFill>
                  <a:srgbClr val="1E1E1E"/>
                </a:solidFill>
                <a:latin typeface="Bahnschrift"/>
                <a:ea typeface="Bahnschrift"/>
                <a:cs typeface="Bahnschrift"/>
                <a:sym typeface="Bahnschrift"/>
              </a:rPr>
              <a:t> muscular y adiposa.</a:t>
            </a:r>
            <a:endParaRPr lang="es-AR" sz="1650" dirty="0">
              <a:latin typeface="Bahnschrift"/>
            </a:endParaRPr>
          </a:p>
        </p:txBody>
      </p:sp>
      <p:sp>
        <p:nvSpPr>
          <p:cNvPr id="66" name="Forma 67"/>
          <p:cNvSpPr/>
          <p:nvPr/>
        </p:nvSpPr>
        <p:spPr>
          <a:xfrm>
            <a:off x="365760" y="4343400"/>
            <a:ext cx="5394960" cy="2148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islote integra </a:t>
            </a:r>
            <a:r>
              <a:rPr lang="es-AR" sz="1700" b="1" dirty="0">
                <a:solidFill>
                  <a:srgbClr val="1E1E1E"/>
                </a:solidFill>
                <a:latin typeface="Bahnschrift"/>
                <a:ea typeface="Bahnschrift"/>
                <a:cs typeface="Bahnschrift"/>
                <a:sym typeface="Bahnschrift"/>
              </a:rPr>
              <a:t>nutrientes</a:t>
            </a:r>
            <a:r>
              <a:rPr lang="es-AR" sz="1700" dirty="0">
                <a:solidFill>
                  <a:srgbClr val="1E1E1E"/>
                </a:solidFill>
                <a:latin typeface="Bahnschrift"/>
                <a:ea typeface="Bahnschrift"/>
                <a:cs typeface="Bahnschrift"/>
                <a:sym typeface="Bahnschrift"/>
              </a:rPr>
              <a:t> (glucosa, aminoácidos), </a:t>
            </a:r>
            <a:r>
              <a:rPr lang="es-AR" sz="1700" b="1" dirty="0">
                <a:solidFill>
                  <a:srgbClr val="1E1E1E"/>
                </a:solidFill>
                <a:latin typeface="Bahnschrift"/>
                <a:ea typeface="Bahnschrift"/>
                <a:cs typeface="Bahnschrift"/>
                <a:sym typeface="Bahnschrift"/>
              </a:rPr>
              <a:t>hormonas intestinales</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señales nerviosas</a:t>
            </a:r>
            <a:r>
              <a:rPr lang="es-AR" sz="1700" dirty="0">
                <a:solidFill>
                  <a:srgbClr val="1E1E1E"/>
                </a:solidFill>
                <a:latin typeface="Bahnschrift"/>
                <a:ea typeface="Bahnschrift"/>
                <a:cs typeface="Bahnschrift"/>
                <a:sym typeface="Bahnschrift"/>
              </a:rPr>
              <a:t>: la respuesta empieza antes de que la glucemia alcance su pico.</a:t>
            </a:r>
            <a:endParaRPr lang="es-AR" sz="17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39972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5 · INTESTINO E ISLOTE: LA RESPUESTA INICIAL</a:t>
            </a:r>
            <a:endParaRPr lang="es-AR" sz="2600" dirty="0">
              <a:latin typeface="Bahnschrift SemiBold Condensed"/>
            </a:endParaRPr>
          </a:p>
        </p:txBody>
      </p:sp>
      <p:sp>
        <p:nvSpPr>
          <p:cNvPr id="6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1"/>
                                        </p:tgtEl>
                                        <p:attrNameLst>
                                          <p:attrName>style.visibility</p:attrName>
                                        </p:attrNameLst>
                                      </p:cBhvr>
                                      <p:to>
                                        <p:strVal val="visible"/>
                                      </p:to>
                                    </p:set>
                                    <p:animEffect transition="in" filter="fade">
                                      <p:cBhvr>
                                        <p:cTn id="5" dur="500"/>
                                        <p:tgtEl>
                                          <p:spTgt spid="61"/>
                                        </p:tgtEl>
                                      </p:cBhvr>
                                    </p:animEffect>
                                  </p:childTnLst>
                                </p:cTn>
                              </p:par>
                            </p:childTnLst>
                          </p:cTn>
                        </p:par>
                        <p:par>
                          <p:cTn id="13"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55"/>
                                        </p:tgtEl>
                                        <p:attrNameLst>
                                          <p:attrName>style.visibility</p:attrName>
                                        </p:attrNameLst>
                                      </p:cBhvr>
                                      <p:to>
                                        <p:strVal val="visible"/>
                                      </p:to>
                                    </p:set>
                                    <p:animEffect transition="in" filter="wipe(left)">
                                      <p:cBhvr>
                                        <p:cTn id="9" dur="600"/>
                                        <p:tgtEl>
                                          <p:spTgt spid="55"/>
                                        </p:tgtEl>
                                      </p:cBhvr>
                                    </p:animEffect>
                                  </p:childTnLst>
                                </p:cTn>
                              </p:par>
                              <p:par>
                                <p:cTn id="10" presetID="22" presetClass="entr" presetSubtype="1" fill="hold" grpId="0" nodeType="with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wipe(up)">
                                      <p:cBhvr>
                                        <p:cTn id="12" dur="600"/>
                                        <p:tgtEl>
                                          <p:spTgt spid="58"/>
                                        </p:tgtEl>
                                      </p:cBhvr>
                                    </p:animEffect>
                                  </p:childTnLst>
                                </p:cTn>
                              </p:par>
                            </p:childTnLst>
                          </p:cTn>
                        </p:par>
                      </p:childTnLst>
                    </p:cTn>
                  </p:par>
                  <p:par>
                    <p:cTn id="19"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fade">
                                      <p:cBhvr>
                                        <p:cTn id="17" dur="500"/>
                                        <p:tgtEl>
                                          <p:spTgt spid="62"/>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3"/>
                                        </p:tgtEl>
                                        <p:attrNameLst>
                                          <p:attrName>style.visibility</p:attrName>
                                        </p:attrNameLst>
                                      </p:cBhvr>
                                      <p:to>
                                        <p:strVal val="visible"/>
                                      </p:to>
                                    </p:set>
                                    <p:animEffect transition="in" filter="fade">
                                      <p:cBhvr>
                                        <p:cTn id="22" dur="500"/>
                                        <p:tgtEl>
                                          <p:spTgt spid="63"/>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4"/>
                                        </p:tgtEl>
                                        <p:attrNameLst>
                                          <p:attrName>style.visibility</p:attrName>
                                        </p:attrNameLst>
                                      </p:cBhvr>
                                      <p:to>
                                        <p:strVal val="visible"/>
                                      </p:to>
                                    </p:set>
                                    <p:animEffect transition="in" filter="fade">
                                      <p:cBhvr>
                                        <p:cTn id="27" dur="500"/>
                                        <p:tgtEl>
                                          <p:spTgt spid="64"/>
                                        </p:tgtEl>
                                      </p:cBhvr>
                                    </p:animEffect>
                                  </p:childTnLst>
                                </p:cTn>
                              </p:par>
                            </p:childTnLst>
                          </p:cTn>
                        </p:par>
                      </p:childTnLst>
                    </p:cTn>
                  </p:par>
                  <p:par>
                    <p:cTn id="34" fill="hold">
                      <p:stCondLst>
                        <p:cond delay="indefinite"/>
                      </p:stCondLst>
                      <p:childTnLst>
                        <p:par>
                          <p:cTn id="33"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5"/>
                                        </p:tgtEl>
                                        <p:attrNameLst>
                                          <p:attrName>style.visibility</p:attrName>
                                        </p:attrNameLst>
                                      </p:cBhvr>
                                      <p:to>
                                        <p:strVal val="visible"/>
                                      </p:to>
                                    </p:set>
                                    <p:animEffect transition="in" filter="fade">
                                      <p:cBhvr>
                                        <p:cTn id="32" dur="500"/>
                                        <p:tgtEl>
                                          <p:spTgt spid="65"/>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66"/>
                                        </p:tgtEl>
                                        <p:attrNameLst>
                                          <p:attrName>style.visibility</p:attrName>
                                        </p:attrNameLst>
                                      </p:cBhvr>
                                      <p:to>
                                        <p:strVal val="visible"/>
                                      </p:to>
                                    </p:set>
                                    <p:animEffect transition="in" filter="fade">
                                      <p:cBhvr>
                                        <p:cTn id="3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63" grpId="0" animBg="1"/>
      <p:bldP spid="64" grpId="0" animBg="1"/>
      <p:bldP spid="65" grpId="0" animBg="1"/>
      <p:bldP spid="66" grpId="0" animBg="1"/>
    </p:bldLst>
  </p:timing>
</p:sld>
</file>

<file path=ppt/slides/slide4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Hepatocito"/>
          <p:cNvGrpSpPr/>
          <p:nvPr/>
        </p:nvGrpSpPr>
        <p:grpSpPr>
          <a:xfrm>
            <a:off x="320040" y="1005840"/>
            <a:ext cx="5120640" cy="4198925"/>
            <a:chOff x="320040" y="1005840"/>
            <a:chExt cx="5120640" cy="4198925"/>
          </a:xfrm>
        </p:grpSpPr>
        <p:sp>
          <p:nvSpPr>
            <p:cNvPr id="5" name="Forma 4"/>
            <p:cNvSpPr/>
            <p:nvPr/>
          </p:nvSpPr>
          <p:spPr>
            <a:xfrm>
              <a:off x="320040" y="1005840"/>
              <a:ext cx="5120640" cy="4198925"/>
            </a:xfrm>
            <a:custGeom>
              <a:avLst/>
              <a:gdLst/>
              <a:ahLst/>
              <a:cxnLst/>
              <a:rect l="0" t="0" r="r" b="b"/>
              <a:pathLst>
                <a:path w="1000" h="1000">
                  <a:moveTo>
                    <a:pt x="120" y="80"/>
                  </a:moveTo>
                  <a:cubicBezTo>
                    <a:pt x="164" y="38"/>
                    <a:pt x="430" y="19"/>
                    <a:pt x="500" y="20"/>
                  </a:cubicBezTo>
                  <a:cubicBezTo>
                    <a:pt x="569" y="20"/>
                    <a:pt x="836" y="50"/>
                    <a:pt x="880" y="90"/>
                  </a:cubicBezTo>
                  <a:cubicBezTo>
                    <a:pt x="924" y="129"/>
                    <a:pt x="981" y="375"/>
                    <a:pt x="980" y="450"/>
                  </a:cubicBezTo>
                  <a:cubicBezTo>
                    <a:pt x="978" y="524"/>
                    <a:pt x="905" y="851"/>
                    <a:pt x="860" y="900"/>
                  </a:cubicBezTo>
                  <a:cubicBezTo>
                    <a:pt x="814" y="948"/>
                    <a:pt x="548" y="980"/>
                    <a:pt x="480" y="980"/>
                  </a:cubicBezTo>
                  <a:cubicBezTo>
                    <a:pt x="411" y="980"/>
                    <a:pt x="152" y="946"/>
                    <a:pt x="110" y="900"/>
                  </a:cubicBezTo>
                  <a:cubicBezTo>
                    <a:pt x="67" y="853"/>
                    <a:pt x="19" y="545"/>
                    <a:pt x="20" y="470"/>
                  </a:cubicBezTo>
                  <a:cubicBezTo>
                    <a:pt x="20" y="394"/>
                    <a:pt x="76" y="121"/>
                    <a:pt x="120" y="80"/>
                  </a:cubicBezTo>
                  <a:close/>
                </a:path>
              </a:pathLst>
            </a:custGeom>
            <a:gradFill rotWithShape="1">
              <a:gsLst>
                <a:gs pos="0">
                  <a:srgbClr val="F2CABE"/>
                </a:gs>
                <a:gs pos="55000">
                  <a:srgbClr val="E8A08A"/>
                </a:gs>
                <a:gs pos="100000">
                  <a:srgbClr val="AE7867"/>
                </a:gs>
              </a:gsLst>
              <a:path path="circle">
                <a:fillToRect l="32000" t="28000" r="68000" b="72000"/>
              </a:path>
            </a:gradFill>
            <a:ln w="25400" cap="rnd">
              <a:solidFill>
                <a:srgbClr val="68483E"/>
              </a:solidFill>
              <a:round/>
            </a:ln>
            <a:effectLst>
              <a:outerShdw blurRad="101600" dist="50800" dir="2700000" algn="tl" rotWithShape="0">
                <a:srgbClr val="000000">
                  <a:alpha val="30000"/>
                </a:srgbClr>
              </a:outerShdw>
            </a:effectLst>
          </p:spPr>
        </p:sp>
      </p:grpSp>
      <p:sp>
        <p:nvSpPr>
          <p:cNvPr id="6" name="Núcleo"/>
          <p:cNvSpPr/>
          <p:nvPr/>
        </p:nvSpPr>
        <p:spPr>
          <a:xfrm>
            <a:off x="914400" y="1600200"/>
            <a:ext cx="1554480" cy="1188720"/>
          </a:xfrm>
          <a:prstGeom prst="ellipse">
            <a:avLst/>
          </a:prstGeom>
          <a:gradFill rotWithShape="1">
            <a:gsLst>
              <a:gs pos="0">
                <a:srgbClr val="B7A4CE"/>
              </a:gs>
              <a:gs pos="55000">
                <a:srgbClr val="7D5BA6"/>
              </a:gs>
              <a:gs pos="100000">
                <a:srgbClr val="573F74"/>
              </a:gs>
            </a:gsLst>
            <a:path path="circle">
              <a:fillToRect l="32000" t="28000" r="68000" b="72000"/>
            </a:path>
          </a:gradFill>
          <a:ln w="15875" cap="rnd">
            <a:solidFill>
              <a:srgbClr val="4A235A"/>
            </a:solidFill>
            <a:round/>
          </a:ln>
        </p:spPr>
        <p:txBody>
          <a:bodyPr wrap="square" lIns="73152" tIns="45720" rIns="73152" bIns="4572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NÚCLEO</a:t>
            </a:r>
            <a:endParaRPr lang="es-AR" sz="1300" dirty="0">
              <a:latin typeface="Bahnschrift SemiBold Condensed"/>
            </a:endParaRPr>
          </a:p>
        </p:txBody>
      </p:sp>
      <p:sp>
        <p:nvSpPr>
          <p:cNvPr id="7" name="Insulina"/>
          <p:cNvSpPr/>
          <p:nvPr/>
        </p:nvSpPr>
        <p:spPr>
          <a:xfrm>
            <a:off x="182880" y="4206240"/>
            <a:ext cx="457200" cy="45720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8" name="Akt hígado"/>
          <p:cNvSpPr/>
          <p:nvPr/>
        </p:nvSpPr>
        <p:spPr>
          <a:xfrm>
            <a:off x="914400" y="4251960"/>
            <a:ext cx="542531"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Akt</a:t>
            </a:r>
            <a:endParaRPr lang="es-AR" sz="1250" dirty="0">
              <a:latin typeface="Bahnschrift SemiBold Condensed"/>
            </a:endParaRPr>
          </a:p>
        </p:txBody>
      </p:sp>
      <p:sp>
        <p:nvSpPr>
          <p:cNvPr id="9" name="FOXO1 núcleo"/>
          <p:cNvSpPr/>
          <p:nvPr/>
        </p:nvSpPr>
        <p:spPr>
          <a:xfrm>
            <a:off x="1325880" y="2011680"/>
            <a:ext cx="822960" cy="384048"/>
          </a:xfrm>
          <a:prstGeom prst="roundRect">
            <a:avLst/>
          </a:prstGeom>
          <a:solidFill>
            <a:srgbClr val="FAD3BC"/>
          </a:solidFill>
          <a:ln w="19050" cap="rnd">
            <a:solidFill>
              <a:srgbClr val="C00000"/>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FOXO1</a:t>
            </a:r>
            <a:endParaRPr lang="es-AR" sz="1200" dirty="0">
              <a:latin typeface="Bahnschrift SemiBold Condensed"/>
            </a:endParaRPr>
          </a:p>
        </p:txBody>
      </p:sp>
      <p:sp>
        <p:nvSpPr>
          <p:cNvPr id="10" name="Genes gluconeogénicos"/>
          <p:cNvSpPr/>
          <p:nvPr/>
        </p:nvSpPr>
        <p:spPr>
          <a:xfrm>
            <a:off x="2606040" y="1737360"/>
            <a:ext cx="1171648" cy="246062"/>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 PCK1 · ↓ G6PC</a:t>
            </a:r>
            <a:endParaRPr lang="es-AR" sz="1250" dirty="0">
              <a:latin typeface="Bahnschrift SemiBold Condensed"/>
            </a:endParaRPr>
          </a:p>
        </p:txBody>
      </p:sp>
      <p:sp>
        <p:nvSpPr>
          <p:cNvPr id="11" name="PP1"/>
          <p:cNvSpPr/>
          <p:nvPr/>
        </p:nvSpPr>
        <p:spPr>
          <a:xfrm>
            <a:off x="2926080" y="3108960"/>
            <a:ext cx="129943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PP1 (fosfatasa)</a:t>
            </a:r>
            <a:endParaRPr lang="es-AR" sz="1250" dirty="0">
              <a:latin typeface="Bahnschrift SemiBold Condensed"/>
            </a:endParaRPr>
          </a:p>
        </p:txBody>
      </p:sp>
      <p:sp>
        <p:nvSpPr>
          <p:cNvPr id="12" name="GS activa"/>
          <p:cNvSpPr/>
          <p:nvPr/>
        </p:nvSpPr>
        <p:spPr>
          <a:xfrm>
            <a:off x="2926080" y="3611880"/>
            <a:ext cx="1497614"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Glucógeno sintasa ↑</a:t>
            </a:r>
            <a:endParaRPr lang="es-AR" sz="1250" dirty="0">
              <a:latin typeface="Bahnschrift SemiBold Condensed"/>
            </a:endParaRPr>
          </a:p>
        </p:txBody>
      </p:sp>
      <p:sp>
        <p:nvSpPr>
          <p:cNvPr id="13" name="GP inactiva"/>
          <p:cNvSpPr/>
          <p:nvPr/>
        </p:nvSpPr>
        <p:spPr>
          <a:xfrm>
            <a:off x="2926080" y="4069080"/>
            <a:ext cx="1047818" cy="246062"/>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Fosforilasa ↓</a:t>
            </a:r>
            <a:endParaRPr lang="es-AR" sz="1250" dirty="0">
              <a:latin typeface="Bahnschrift SemiBold Condensed"/>
            </a:endParaRPr>
          </a:p>
        </p:txBody>
      </p:sp>
      <p:sp>
        <p:nvSpPr>
          <p:cNvPr id="14" name="F26BP"/>
          <p:cNvSpPr/>
          <p:nvPr/>
        </p:nvSpPr>
        <p:spPr>
          <a:xfrm>
            <a:off x="1280160" y="4709160"/>
            <a:ext cx="790328"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F2,6BP ↑</a:t>
            </a:r>
            <a:endParaRPr lang="es-AR" sz="1300" dirty="0">
              <a:latin typeface="Bahnschrift SemiBold Condensed"/>
            </a:endParaRPr>
          </a:p>
        </p:txBody>
      </p:sp>
      <p:sp>
        <p:nvSpPr>
          <p:cNvPr id="15" name="PFK1"/>
          <p:cNvSpPr/>
          <p:nvPr/>
        </p:nvSpPr>
        <p:spPr>
          <a:xfrm>
            <a:off x="2514600" y="4572000"/>
            <a:ext cx="1441729"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PFK-1 ↑ (glucólisis)</a:t>
            </a:r>
            <a:endParaRPr lang="es-AR" sz="1250" dirty="0">
              <a:latin typeface="Bahnschrift SemiBold Condensed"/>
            </a:endParaRPr>
          </a:p>
        </p:txBody>
      </p:sp>
      <p:sp>
        <p:nvSpPr>
          <p:cNvPr id="16" name="FBPasa1"/>
          <p:cNvSpPr/>
          <p:nvPr/>
        </p:nvSpPr>
        <p:spPr>
          <a:xfrm>
            <a:off x="2514600" y="5010912"/>
            <a:ext cx="1312634" cy="246062"/>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FBPasa-1 ↓ (GNG)</a:t>
            </a:r>
            <a:endParaRPr lang="es-AR" sz="1250" dirty="0">
              <a:latin typeface="Bahnschrift SemiBold Condensed"/>
            </a:endParaRPr>
          </a:p>
        </p:txBody>
      </p:sp>
      <p:sp>
        <p:nvSpPr>
          <p:cNvPr id="17" name="Flecha 16_2"/>
          <p:cNvSpPr/>
          <p:nvPr/>
        </p:nvSpPr>
        <p:spPr>
          <a:xfrm>
            <a:off x="640080" y="4407408"/>
            <a:ext cx="274320" cy="27432"/>
          </a:xfrm>
          <a:custGeom>
            <a:avLst/>
            <a:gdLst/>
            <a:ahLst/>
            <a:cxnLst/>
            <a:rect l="0" t="0" r="r" b="b"/>
            <a:pathLst>
              <a:path w="300" h="29" fill="none">
                <a:moveTo>
                  <a:pt x="0" y="29"/>
                </a:moveTo>
                <a:lnTo>
                  <a:pt x="300" y="0"/>
                </a:lnTo>
              </a:path>
            </a:pathLst>
          </a:custGeom>
          <a:noFill/>
          <a:ln w="31750" cap="rnd">
            <a:solidFill>
              <a:srgbClr val="1E8C3A"/>
            </a:solidFill>
            <a:round/>
            <a:tailEnd type="triangle" w="med" len="med"/>
          </a:ln>
        </p:spPr>
      </p:sp>
      <p:sp>
        <p:nvSpPr>
          <p:cNvPr id="18" name="Flecha 18_2"/>
          <p:cNvSpPr/>
          <p:nvPr/>
        </p:nvSpPr>
        <p:spPr>
          <a:xfrm>
            <a:off x="1234440" y="2432304"/>
            <a:ext cx="457200" cy="1792224"/>
          </a:xfrm>
          <a:custGeom>
            <a:avLst/>
            <a:gdLst/>
            <a:ahLst/>
            <a:cxnLst/>
            <a:rect l="0" t="0" r="r" b="b"/>
            <a:pathLst>
              <a:path w="500" h="1960" fill="none">
                <a:moveTo>
                  <a:pt x="0" y="1960"/>
                </a:moveTo>
                <a:lnTo>
                  <a:pt x="500" y="0"/>
                </a:lnTo>
              </a:path>
            </a:pathLst>
          </a:custGeom>
          <a:noFill/>
          <a:ln w="25400" cap="rnd">
            <a:solidFill>
              <a:srgbClr val="1E8C3A"/>
            </a:solidFill>
            <a:round/>
            <a:tailEnd type="triangle" w="med" len="med"/>
          </a:ln>
        </p:spPr>
      </p:sp>
      <p:sp>
        <p:nvSpPr>
          <p:cNvPr id="19" name="Flecha 20_2"/>
          <p:cNvSpPr/>
          <p:nvPr/>
        </p:nvSpPr>
        <p:spPr>
          <a:xfrm>
            <a:off x="1600200" y="4553712"/>
            <a:ext cx="9144" cy="128016"/>
          </a:xfrm>
          <a:custGeom>
            <a:avLst/>
            <a:gdLst/>
            <a:ahLst/>
            <a:cxnLst/>
            <a:rect l="0" t="0" r="r" b="b"/>
            <a:pathLst>
              <a:path w="10" h="139" fill="none">
                <a:moveTo>
                  <a:pt x="0" y="0"/>
                </a:moveTo>
                <a:lnTo>
                  <a:pt x="0" y="139"/>
                </a:lnTo>
              </a:path>
            </a:pathLst>
          </a:custGeom>
          <a:noFill/>
          <a:ln w="25400" cap="rnd">
            <a:solidFill>
              <a:srgbClr val="1E8C3A"/>
            </a:solidFill>
            <a:round/>
            <a:tailEnd type="triangle" w="med" len="med"/>
          </a:ln>
        </p:spPr>
      </p:sp>
      <p:grpSp>
        <p:nvGrpSpPr>
          <p:cNvPr id="20" name="Recuadro 1 · Genes"/>
          <p:cNvGrpSpPr/>
          <p:nvPr/>
        </p:nvGrpSpPr>
        <p:grpSpPr>
          <a:xfrm>
            <a:off x="5760720" y="1005840"/>
            <a:ext cx="6035040" cy="1828800"/>
            <a:chOff x="5760720" y="1005840"/>
            <a:chExt cx="6035040" cy="1828800"/>
          </a:xfrm>
        </p:grpSpPr>
        <p:sp>
          <p:nvSpPr>
            <p:cNvPr id="21" name="Forma 23"/>
            <p:cNvSpPr/>
            <p:nvPr/>
          </p:nvSpPr>
          <p:spPr>
            <a:xfrm>
              <a:off x="5760720" y="1188720"/>
              <a:ext cx="6035040" cy="1645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Transcripción</a:t>
              </a:r>
              <a:r>
                <a:rPr lang="es-AR" sz="1700" dirty="0">
                  <a:solidFill>
                    <a:srgbClr val="1E1E1E"/>
                  </a:solidFill>
                  <a:latin typeface="Bahnschrift"/>
                  <a:ea typeface="Bahnschrift"/>
                  <a:cs typeface="Bahnschrift"/>
                  <a:sym typeface="Bahnschrift"/>
                </a:rPr>
                <a:t>: Akt fosforila </a:t>
              </a:r>
              <a:r>
                <a:rPr lang="es-AR" sz="1700" b="1" dirty="0">
                  <a:solidFill>
                    <a:srgbClr val="1E1E1E"/>
                  </a:solidFill>
                  <a:latin typeface="Bahnschrift"/>
                  <a:ea typeface="Bahnschrift"/>
                  <a:cs typeface="Bahnschrift"/>
                  <a:sym typeface="Bahnschrift"/>
                </a:rPr>
                <a:t>FOXO1</a:t>
              </a:r>
              <a:r>
                <a:rPr lang="es-AR" sz="1700" dirty="0">
                  <a:solidFill>
                    <a:srgbClr val="1E1E1E"/>
                  </a:solidFill>
                  <a:latin typeface="Bahnschrift"/>
                  <a:ea typeface="Bahnschrift"/>
                  <a:cs typeface="Bahnschrift"/>
                  <a:sym typeface="Bahnschrift"/>
                </a:rPr>
                <a:t> → exclusión nuclear → ↓ </a:t>
              </a:r>
              <a:r>
                <a:rPr lang="es-AR" sz="1700" b="1" dirty="0">
                  <a:solidFill>
                    <a:srgbClr val="1E1E1E"/>
                  </a:solidFill>
                  <a:latin typeface="Bahnschrift"/>
                  <a:ea typeface="Bahnschrift"/>
                  <a:cs typeface="Bahnschrift"/>
                  <a:sym typeface="Bahnschrift"/>
                </a:rPr>
                <a:t>PCK1/PEPCK</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G6PC</a:t>
              </a:r>
              <a:r>
                <a:rPr lang="es-AR" sz="1700" dirty="0">
                  <a:solidFill>
                    <a:srgbClr val="1E1E1E"/>
                  </a:solidFill>
                  <a:latin typeface="Bahnschrift"/>
                  <a:ea typeface="Bahnschrift"/>
                  <a:cs typeface="Bahnschrift"/>
                  <a:sym typeface="Bahnschrift"/>
                </a:rPr>
                <a:t> (horas).</a:t>
              </a:r>
              <a:endParaRPr lang="es-AR" sz="1700" dirty="0">
                <a:latin typeface="Bahnschrift"/>
              </a:endParaRPr>
            </a:p>
          </p:txBody>
        </p:sp>
        <p:sp>
          <p:nvSpPr>
            <p:cNvPr id="22" name="Forma 24"/>
            <p:cNvSpPr/>
            <p:nvPr/>
          </p:nvSpPr>
          <p:spPr>
            <a:xfrm>
              <a:off x="5870448" y="1005840"/>
              <a:ext cx="101583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1 · GENES</a:t>
              </a:r>
              <a:endParaRPr lang="es-AR" sz="1550" dirty="0">
                <a:latin typeface="Bahnschrift SemiBold Condensed"/>
              </a:endParaRPr>
            </a:p>
          </p:txBody>
        </p:sp>
      </p:grpSp>
      <p:grpSp>
        <p:nvGrpSpPr>
          <p:cNvPr id="23" name="Recuadro 2 · Glucógeno"/>
          <p:cNvGrpSpPr/>
          <p:nvPr/>
        </p:nvGrpSpPr>
        <p:grpSpPr>
          <a:xfrm>
            <a:off x="5760720" y="2971800"/>
            <a:ext cx="6035040" cy="1691640"/>
            <a:chOff x="5760720" y="2971800"/>
            <a:chExt cx="6035040" cy="1691640"/>
          </a:xfrm>
        </p:grpSpPr>
        <p:sp>
          <p:nvSpPr>
            <p:cNvPr id="24" name="Forma 26"/>
            <p:cNvSpPr/>
            <p:nvPr/>
          </p:nvSpPr>
          <p:spPr>
            <a:xfrm>
              <a:off x="5760720" y="3154680"/>
              <a:ext cx="6035040" cy="1508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Glucógeno</a:t>
              </a:r>
              <a:r>
                <a:rPr lang="es-AR" sz="1700" dirty="0">
                  <a:solidFill>
                    <a:srgbClr val="1E1E1E"/>
                  </a:solidFill>
                  <a:latin typeface="Bahnschrift"/>
                  <a:ea typeface="Bahnschrift"/>
                  <a:cs typeface="Bahnschrift"/>
                  <a:sym typeface="Bahnschrift"/>
                </a:rPr>
                <a:t>: desfosforilación de glucógeno sintasa (activa) y fosforilasa (inactiva) → </a:t>
              </a:r>
              <a:r>
                <a:rPr lang="es-AR" sz="1700" b="1" dirty="0">
                  <a:solidFill>
                    <a:srgbClr val="1E1E1E"/>
                  </a:solidFill>
                  <a:latin typeface="Bahnschrift"/>
                  <a:ea typeface="Bahnschrift"/>
                  <a:cs typeface="Bahnschrift"/>
                  <a:sym typeface="Bahnschrift"/>
                </a:rPr>
                <a:t>glucogenogénesis</a:t>
              </a:r>
              <a:r>
                <a:rPr lang="es-AR" sz="1700" dirty="0">
                  <a:solidFill>
                    <a:srgbClr val="1E1E1E"/>
                  </a:solidFill>
                  <a:latin typeface="Bahnschrift"/>
                  <a:ea typeface="Bahnschrift"/>
                  <a:cs typeface="Bahnschrift"/>
                  <a:sym typeface="Bahnschrift"/>
                </a:rPr>
                <a:t> (minutos).</a:t>
              </a:r>
              <a:endParaRPr lang="es-AR" sz="1700" dirty="0">
                <a:latin typeface="Bahnschrift"/>
              </a:endParaRPr>
            </a:p>
          </p:txBody>
        </p:sp>
        <p:sp>
          <p:nvSpPr>
            <p:cNvPr id="25" name="Forma 27"/>
            <p:cNvSpPr/>
            <p:nvPr/>
          </p:nvSpPr>
          <p:spPr>
            <a:xfrm>
              <a:off x="5870448" y="2971800"/>
              <a:ext cx="145373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2 · GLUCÓGENO</a:t>
              </a:r>
              <a:endParaRPr lang="es-AR" sz="1550" dirty="0">
                <a:latin typeface="Bahnschrift SemiBold Condensed"/>
              </a:endParaRPr>
            </a:p>
          </p:txBody>
        </p:sp>
      </p:grpSp>
      <p:grpSp>
        <p:nvGrpSpPr>
          <p:cNvPr id="26" name="Recuadro 3 · Glucólisis"/>
          <p:cNvGrpSpPr/>
          <p:nvPr/>
        </p:nvGrpSpPr>
        <p:grpSpPr>
          <a:xfrm>
            <a:off x="5760720" y="4800600"/>
            <a:ext cx="6035040" cy="1691640"/>
            <a:chOff x="5760720" y="4800600"/>
            <a:chExt cx="6035040" cy="1691640"/>
          </a:xfrm>
        </p:grpSpPr>
        <p:sp>
          <p:nvSpPr>
            <p:cNvPr id="27" name="Forma 29"/>
            <p:cNvSpPr/>
            <p:nvPr/>
          </p:nvSpPr>
          <p:spPr>
            <a:xfrm>
              <a:off x="5760720" y="4983480"/>
              <a:ext cx="6035040" cy="1508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F2,6BP</a:t>
              </a:r>
              <a:r>
                <a:rPr lang="es-AR" sz="1700" dirty="0">
                  <a:solidFill>
                    <a:srgbClr val="1E1E1E"/>
                  </a:solidFill>
                  <a:latin typeface="Bahnschrift"/>
                  <a:ea typeface="Bahnschrift"/>
                  <a:cs typeface="Bahnschrift"/>
                  <a:sym typeface="Bahnschrift"/>
                </a:rPr>
                <a:t> alta activa </a:t>
              </a:r>
              <a:r>
                <a:rPr lang="es-AR" sz="1700" b="1" dirty="0">
                  <a:solidFill>
                    <a:srgbClr val="1E1E1E"/>
                  </a:solidFill>
                  <a:latin typeface="Bahnschrift"/>
                  <a:ea typeface="Bahnschrift"/>
                  <a:cs typeface="Bahnschrift"/>
                  <a:sym typeface="Bahnschrift"/>
                </a:rPr>
                <a:t>PFK-1</a:t>
              </a:r>
              <a:r>
                <a:rPr lang="es-AR" sz="1700" dirty="0">
                  <a:solidFill>
                    <a:srgbClr val="1E1E1E"/>
                  </a:solidFill>
                  <a:latin typeface="Bahnschrift"/>
                  <a:ea typeface="Bahnschrift"/>
                  <a:cs typeface="Bahnschrift"/>
                  <a:sym typeface="Bahnschrift"/>
                </a:rPr>
                <a:t> e inhibe </a:t>
              </a:r>
              <a:r>
                <a:rPr lang="es-AR" sz="1700" b="1" dirty="0">
                  <a:solidFill>
                    <a:srgbClr val="1E1E1E"/>
                  </a:solidFill>
                  <a:latin typeface="Bahnschrift"/>
                  <a:ea typeface="Bahnschrift"/>
                  <a:cs typeface="Bahnschrift"/>
                  <a:sym typeface="Bahnschrift"/>
                </a:rPr>
                <a:t>FBPasa-1</a:t>
              </a:r>
              <a:r>
                <a:rPr lang="es-AR" sz="1700" dirty="0">
                  <a:solidFill>
                    <a:srgbClr val="1E1E1E"/>
                  </a:solidFill>
                  <a:latin typeface="Bahnschrift"/>
                  <a:ea typeface="Bahnschrift"/>
                  <a:cs typeface="Bahnschrift"/>
                  <a:sym typeface="Bahnschrift"/>
                </a:rPr>
                <a:t> → glucólisis. Se frenan gluconeogénesis y glucogenólisis.</a:t>
              </a:r>
              <a:endParaRPr lang="es-AR" sz="1700" dirty="0">
                <a:latin typeface="Bahnschrift"/>
              </a:endParaRPr>
            </a:p>
          </p:txBody>
        </p:sp>
        <p:sp>
          <p:nvSpPr>
            <p:cNvPr id="28" name="Forma 30"/>
            <p:cNvSpPr/>
            <p:nvPr/>
          </p:nvSpPr>
          <p:spPr>
            <a:xfrm>
              <a:off x="5870448" y="4800600"/>
              <a:ext cx="143161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3 · GLUCÓLISIS</a:t>
              </a:r>
              <a:endParaRPr lang="es-AR" sz="155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44856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5 · HÍGADO: «CERRAR LA CANILLA» DE GLUCOSA</a:t>
            </a:r>
            <a:endParaRPr lang="es-AR" sz="2600" dirty="0">
              <a:latin typeface="Bahnschrift SemiBold Condensed"/>
            </a:endParaRPr>
          </a:p>
        </p:txBody>
      </p:sp>
      <p:sp>
        <p:nvSpPr>
          <p:cNvPr id="2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188 0.0000 E" pathEditMode="relative" ptsTypes="">
                                      <p:cBhvr>
                                        <p:cTn id="4" dur="700" fill="hold"/>
                                        <p:tgtEl>
                                          <p:spTgt spid="7"/>
                                        </p:tgtEl>
                                        <p:attrNameLst>
                                          <p:attrName>ppt_x</p:attrName>
                                          <p:attrName>ppt_y</p:attrName>
                                        </p:attrNameLst>
                                      </p:cBhvr>
                                      <p:rCtr x="937" y="0"/>
                                    </p:animMotion>
                                  </p:childTnLst>
                                </p:cTn>
                              </p:par>
                            </p:childTnLst>
                          </p:cTn>
                        </p:par>
                        <p:par>
                          <p:cTn id="9" fill="hold">
                            <p:stCondLst>
                              <p:cond delay="700"/>
                            </p:stCondLst>
                            <p:childTnLst>
                              <p:par>
                                <p:cTn id="6" presetID="22" presetClass="entr" presetSubtype="8" fill="hold" grpId="0" nodeType="afterEffect">
                                  <p:stCondLst>
                                    <p:cond delay="0"/>
                                  </p:stCondLst>
                                  <p:childTnLst>
                                    <p:set>
                                      <p:cBhvr>
                                        <p:cTn id="7" dur="1" fill="hold">
                                          <p:stCondLst>
                                            <p:cond delay="0"/>
                                          </p:stCondLst>
                                        </p:cTn>
                                        <p:tgtEl>
                                          <p:spTgt spid="17"/>
                                        </p:tgtEl>
                                        <p:attrNameLst>
                                          <p:attrName>style.visibility</p:attrName>
                                        </p:attrNameLst>
                                      </p:cBhvr>
                                      <p:to>
                                        <p:strVal val="visible"/>
                                      </p:to>
                                    </p:set>
                                    <p:animEffect transition="in" filter="wipe(left)">
                                      <p:cBhvr>
                                        <p:cTn id="8" dur="600"/>
                                        <p:tgtEl>
                                          <p:spTgt spid="17"/>
                                        </p:tgtEl>
                                      </p:cBhvr>
                                    </p:animEffect>
                                  </p:childTnLst>
                                </p:cTn>
                              </p:par>
                            </p:childTnLst>
                          </p:cTn>
                        </p:par>
                        <p:par>
                          <p:cTn id="13" fill="hold">
                            <p:stCondLst>
                              <p:cond delay="1300"/>
                            </p:stCondLst>
                            <p:childTnLst>
                              <p:par>
                                <p:cTn id="10" presetID="10" presetClass="entr" presetSubtype="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36" fill="hold">
                      <p:stCondLst>
                        <p:cond delay="indefinite"/>
                      </p:stCondLst>
                      <p:childTnLst>
                        <p:par>
                          <p:cTn id="18"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600"/>
                                        <p:tgtEl>
                                          <p:spTgt spid="18"/>
                                        </p:tgtEl>
                                      </p:cBhvr>
                                    </p:animEffect>
                                  </p:childTnLst>
                                </p:cTn>
                              </p:par>
                            </p:childTnLst>
                          </p:cTn>
                        </p:par>
                        <p:par>
                          <p:cTn id="22" fill="hold">
                            <p:stCondLst>
                              <p:cond delay="6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5" fill="hold">
                            <p:stCondLst>
                              <p:cond delay="1100"/>
                            </p:stCondLst>
                            <p:childTnLst>
                              <p:par>
                                <p:cTn id="23" presetID="0" presetClass="path" presetSubtype="0" accel="20000" decel="20000" fill="hold" grpId="0" nodeType="afterEffect">
                                  <p:stCondLst>
                                    <p:cond delay="0"/>
                                  </p:stCondLst>
                                  <p:childTnLst>
                                    <p:animMotion origin="layout" path="M 0 0 L 0.0000 0.1333 E" pathEditMode="relative" ptsTypes="">
                                      <p:cBhvr>
                                        <p:cTn id="24" dur="1000" fill="hold"/>
                                        <p:tgtEl>
                                          <p:spTgt spid="9"/>
                                        </p:tgtEl>
                                        <p:attrNameLst>
                                          <p:attrName>ppt_x</p:attrName>
                                          <p:attrName>ppt_y</p:attrName>
                                        </p:attrNameLst>
                                      </p:cBhvr>
                                      <p:rCtr x="0" y="6666"/>
                                    </p:animMotion>
                                  </p:childTnLst>
                                </p:cTn>
                              </p:par>
                            </p:childTnLst>
                          </p:cTn>
                        </p:par>
                        <p:par>
                          <p:cTn id="35" fill="hold">
                            <p:stCondLst>
                              <p:cond delay="2100"/>
                            </p:stCondLst>
                            <p:childTnLst>
                              <p:par>
                                <p:cTn id="26" presetID="10" presetClass="exit" presetSubtype="0" fill="hold" grpId="0" nodeType="afterEffect">
                                  <p:stCondLst>
                                    <p:cond delay="0"/>
                                  </p:stCondLst>
                                  <p:childTnLst>
                                    <p:animEffect transition="out" filter="fade">
                                      <p:cBhvr>
                                        <p:cTn id="27" dur="400"/>
                                        <p:tgtEl>
                                          <p:spTgt spid="9"/>
                                        </p:tgtEl>
                                      </p:cBhvr>
                                    </p:animEffect>
                                    <p:set>
                                      <p:cBhvr>
                                        <p:cTn id="28" dur="1" fill="hold">
                                          <p:stCondLst>
                                            <p:cond delay="399"/>
                                          </p:stCondLst>
                                        </p:cTn>
                                        <p:tgtEl>
                                          <p:spTgt spid="9"/>
                                        </p:tgtEl>
                                        <p:attrNameLst>
                                          <p:attrName>style.visibility</p:attrName>
                                        </p:attrNameLst>
                                      </p:cBhvr>
                                      <p:to>
                                        <p:strVal val="hidden"/>
                                      </p:to>
                                    </p:se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childTnLst>
                          </p:cTn>
                        </p:par>
                      </p:childTnLst>
                    </p:cTn>
                  </p:par>
                  <p:par>
                    <p:cTn id="51" fill="hold">
                      <p:stCondLst>
                        <p:cond delay="indefinite"/>
                      </p:stCondLst>
                      <p:childTnLst>
                        <p:par>
                          <p:cTn id="40"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childTnLst>
                          </p:cTn>
                        </p:par>
                        <p:par>
                          <p:cTn id="50" fill="hold">
                            <p:stCondLst>
                              <p:cond delay="500"/>
                            </p:stCondLst>
                            <p:childTnLst>
                              <p:par>
                                <p:cTn id="41" presetID="10" presetClass="entr" presetSubtype="0" fill="hold" grpId="0"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childTnLst>
                    </p:cTn>
                  </p:par>
                  <p:par>
                    <p:cTn id="70" fill="hold">
                      <p:stCondLst>
                        <p:cond delay="indefinite"/>
                      </p:stCondLst>
                      <p:childTnLst>
                        <p:par>
                          <p:cTn id="55" fill="hold">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wipe(up)">
                                      <p:cBhvr>
                                        <p:cTn id="54" dur="600"/>
                                        <p:tgtEl>
                                          <p:spTgt spid="19"/>
                                        </p:tgtEl>
                                      </p:cBhvr>
                                    </p:animEffect>
                                  </p:childTnLst>
                                </p:cTn>
                              </p:par>
                            </p:childTnLst>
                          </p:cTn>
                        </p:par>
                        <p:par>
                          <p:cTn id="59" fill="hold">
                            <p:stCondLst>
                              <p:cond delay="600"/>
                            </p:stCondLst>
                            <p:childTnLst>
                              <p:par>
                                <p:cTn id="56" presetID="10" presetClass="entr" presetSubtype="0" fill="hold" grpId="0" nodeType="after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par>
                          <p:cTn id="69" fill="hold">
                            <p:stCondLst>
                              <p:cond delay="1100"/>
                            </p:stCondLst>
                            <p:childTnLst>
                              <p:par>
                                <p:cTn id="60" presetID="10" presetClass="entr" presetSubtype="0" fill="hold" grpId="0" nodeType="after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7" grpId="0" animBg="1"/>
      <p:bldP spid="8" grpId="0" animBg="1"/>
      <p:bldP spid="18" grpId="0" animBg="1"/>
      <p:bldP spid="9" grpId="0" animBg="1"/>
      <p:bldP spid="10" grpId="0" animBg="1"/>
      <p:bldP spid="11" grpId="0" animBg="1"/>
      <p:bldP spid="12" grpId="0" animBg="1"/>
      <p:bldP spid="13" grpId="0" animBg="1"/>
      <p:bldP spid="19" grpId="0" animBg="1"/>
      <p:bldP spid="14" grpId="0" animBg="1"/>
      <p:bldP spid="15" grpId="0" animBg="1"/>
      <p:bldP spid="16" grpId="0" animBg="1"/>
    </p:bldLst>
  </p:timing>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Músculo"/>
          <p:cNvGrpSpPr/>
          <p:nvPr/>
        </p:nvGrpSpPr>
        <p:grpSpPr>
          <a:xfrm>
            <a:off x="365760" y="1097280"/>
            <a:ext cx="5120640" cy="1679570"/>
            <a:chOff x="365760" y="1097280"/>
            <a:chExt cx="5120640" cy="1679570"/>
          </a:xfrm>
        </p:grpSpPr>
        <p:grpSp>
          <p:nvGrpSpPr>
            <p:cNvPr id="5" name="Fibra"/>
            <p:cNvGrpSpPr/>
            <p:nvPr/>
          </p:nvGrpSpPr>
          <p:grpSpPr>
            <a:xfrm>
              <a:off x="365760" y="1097280"/>
              <a:ext cx="4915814" cy="819302"/>
              <a:chOff x="365760" y="1097280"/>
              <a:chExt cx="4915814" cy="819302"/>
            </a:xfrm>
          </p:grpSpPr>
          <p:sp>
            <p:nvSpPr>
              <p:cNvPr id="6" name="Forma 5"/>
              <p:cNvSpPr/>
              <p:nvPr/>
            </p:nvSpPr>
            <p:spPr>
              <a:xfrm>
                <a:off x="365760" y="1097280"/>
                <a:ext cx="4915814" cy="819302"/>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570586" y="1097280"/>
                <a:ext cx="4506163" cy="819302"/>
              </a:xfrm>
              <a:custGeom>
                <a:avLst/>
                <a:gdLst/>
                <a:ahLst/>
                <a:cxnLst/>
                <a:rect l="0" t="0" r="r" b="b"/>
                <a:pathLst>
                  <a:path w="1000" h="1000" fill="none">
                    <a:moveTo>
                      <a:pt x="8" y="80"/>
                    </a:moveTo>
                    <a:lnTo>
                      <a:pt x="8" y="920"/>
                    </a:lnTo>
                  </a:path>
                  <a:path w="1000" h="1000" fill="none">
                    <a:moveTo>
                      <a:pt x="25" y="80"/>
                    </a:moveTo>
                    <a:lnTo>
                      <a:pt x="25" y="920"/>
                    </a:lnTo>
                  </a:path>
                  <a:path w="1000" h="1000" fill="none">
                    <a:moveTo>
                      <a:pt x="42" y="80"/>
                    </a:moveTo>
                    <a:lnTo>
                      <a:pt x="42" y="920"/>
                    </a:lnTo>
                  </a:path>
                  <a:path w="1000" h="1000" fill="none">
                    <a:moveTo>
                      <a:pt x="59" y="80"/>
                    </a:moveTo>
                    <a:lnTo>
                      <a:pt x="59" y="920"/>
                    </a:lnTo>
                  </a:path>
                  <a:path w="1000" h="1000" fill="none">
                    <a:moveTo>
                      <a:pt x="76" y="80"/>
                    </a:moveTo>
                    <a:lnTo>
                      <a:pt x="76" y="920"/>
                    </a:lnTo>
                  </a:path>
                  <a:path w="1000" h="1000" fill="none">
                    <a:moveTo>
                      <a:pt x="93" y="80"/>
                    </a:moveTo>
                    <a:lnTo>
                      <a:pt x="93" y="920"/>
                    </a:lnTo>
                  </a:path>
                  <a:path w="1000" h="1000" fill="none">
                    <a:moveTo>
                      <a:pt x="110" y="80"/>
                    </a:moveTo>
                    <a:lnTo>
                      <a:pt x="110" y="920"/>
                    </a:lnTo>
                  </a:path>
                  <a:path w="1000" h="1000" fill="none">
                    <a:moveTo>
                      <a:pt x="127" y="80"/>
                    </a:moveTo>
                    <a:lnTo>
                      <a:pt x="127" y="920"/>
                    </a:lnTo>
                  </a:path>
                  <a:path w="1000" h="1000" fill="none">
                    <a:moveTo>
                      <a:pt x="144" y="80"/>
                    </a:moveTo>
                    <a:lnTo>
                      <a:pt x="144" y="920"/>
                    </a:lnTo>
                  </a:path>
                  <a:path w="1000" h="1000" fill="none">
                    <a:moveTo>
                      <a:pt x="161" y="80"/>
                    </a:moveTo>
                    <a:lnTo>
                      <a:pt x="161" y="920"/>
                    </a:lnTo>
                  </a:path>
                  <a:path w="1000" h="1000" fill="none">
                    <a:moveTo>
                      <a:pt x="177" y="80"/>
                    </a:moveTo>
                    <a:lnTo>
                      <a:pt x="177" y="920"/>
                    </a:lnTo>
                  </a:path>
                  <a:path w="1000" h="1000" fill="none">
                    <a:moveTo>
                      <a:pt x="194" y="80"/>
                    </a:moveTo>
                    <a:lnTo>
                      <a:pt x="194" y="920"/>
                    </a:lnTo>
                  </a:path>
                  <a:path w="1000" h="1000" fill="none">
                    <a:moveTo>
                      <a:pt x="211" y="80"/>
                    </a:moveTo>
                    <a:lnTo>
                      <a:pt x="211" y="920"/>
                    </a:lnTo>
                  </a:path>
                  <a:path w="1000" h="1000" fill="none">
                    <a:moveTo>
                      <a:pt x="228" y="80"/>
                    </a:moveTo>
                    <a:lnTo>
                      <a:pt x="228" y="920"/>
                    </a:lnTo>
                  </a:path>
                  <a:path w="1000" h="1000" fill="none">
                    <a:moveTo>
                      <a:pt x="245" y="80"/>
                    </a:moveTo>
                    <a:lnTo>
                      <a:pt x="245" y="920"/>
                    </a:lnTo>
                  </a:path>
                  <a:path w="1000" h="1000" fill="none">
                    <a:moveTo>
                      <a:pt x="262" y="80"/>
                    </a:moveTo>
                    <a:lnTo>
                      <a:pt x="262" y="920"/>
                    </a:lnTo>
                  </a:path>
                  <a:path w="1000" h="1000" fill="none">
                    <a:moveTo>
                      <a:pt x="279" y="80"/>
                    </a:moveTo>
                    <a:lnTo>
                      <a:pt x="279" y="920"/>
                    </a:lnTo>
                  </a:path>
                  <a:path w="1000" h="1000" fill="none">
                    <a:moveTo>
                      <a:pt x="296" y="80"/>
                    </a:moveTo>
                    <a:lnTo>
                      <a:pt x="296" y="920"/>
                    </a:lnTo>
                  </a:path>
                  <a:path w="1000" h="1000" fill="none">
                    <a:moveTo>
                      <a:pt x="313" y="80"/>
                    </a:moveTo>
                    <a:lnTo>
                      <a:pt x="313" y="920"/>
                    </a:lnTo>
                  </a:path>
                  <a:path w="1000" h="1000" fill="none">
                    <a:moveTo>
                      <a:pt x="330" y="80"/>
                    </a:moveTo>
                    <a:lnTo>
                      <a:pt x="330" y="920"/>
                    </a:lnTo>
                  </a:path>
                  <a:path w="1000" h="1000" fill="none">
                    <a:moveTo>
                      <a:pt x="347" y="80"/>
                    </a:moveTo>
                    <a:lnTo>
                      <a:pt x="347" y="920"/>
                    </a:lnTo>
                  </a:path>
                  <a:path w="1000" h="1000" fill="none">
                    <a:moveTo>
                      <a:pt x="364" y="80"/>
                    </a:moveTo>
                    <a:lnTo>
                      <a:pt x="364" y="920"/>
                    </a:lnTo>
                  </a:path>
                  <a:path w="1000" h="1000" fill="none">
                    <a:moveTo>
                      <a:pt x="381" y="80"/>
                    </a:moveTo>
                    <a:lnTo>
                      <a:pt x="381" y="920"/>
                    </a:lnTo>
                  </a:path>
                  <a:path w="1000" h="1000" fill="none">
                    <a:moveTo>
                      <a:pt x="398" y="80"/>
                    </a:moveTo>
                    <a:lnTo>
                      <a:pt x="398" y="920"/>
                    </a:lnTo>
                  </a:path>
                  <a:path w="1000" h="1000" fill="none">
                    <a:moveTo>
                      <a:pt x="415" y="80"/>
                    </a:moveTo>
                    <a:lnTo>
                      <a:pt x="415" y="920"/>
                    </a:lnTo>
                  </a:path>
                  <a:path w="1000" h="1000" fill="none">
                    <a:moveTo>
                      <a:pt x="432" y="80"/>
                    </a:moveTo>
                    <a:lnTo>
                      <a:pt x="432" y="920"/>
                    </a:lnTo>
                  </a:path>
                  <a:path w="1000" h="1000" fill="none">
                    <a:moveTo>
                      <a:pt x="449" y="80"/>
                    </a:moveTo>
                    <a:lnTo>
                      <a:pt x="449" y="920"/>
                    </a:lnTo>
                  </a:path>
                  <a:path w="1000" h="1000" fill="none">
                    <a:moveTo>
                      <a:pt x="466" y="80"/>
                    </a:moveTo>
                    <a:lnTo>
                      <a:pt x="466" y="920"/>
                    </a:lnTo>
                  </a:path>
                  <a:path w="1000" h="1000" fill="none">
                    <a:moveTo>
                      <a:pt x="483" y="80"/>
                    </a:moveTo>
                    <a:lnTo>
                      <a:pt x="483" y="920"/>
                    </a:lnTo>
                  </a:path>
                  <a:path w="1000" h="1000" fill="none">
                    <a:moveTo>
                      <a:pt x="500" y="80"/>
                    </a:moveTo>
                    <a:lnTo>
                      <a:pt x="500" y="920"/>
                    </a:lnTo>
                  </a:path>
                  <a:path w="1000" h="1000" fill="none">
                    <a:moveTo>
                      <a:pt x="516" y="80"/>
                    </a:moveTo>
                    <a:lnTo>
                      <a:pt x="516" y="920"/>
                    </a:lnTo>
                  </a:path>
                  <a:path w="1000" h="1000" fill="none">
                    <a:moveTo>
                      <a:pt x="533" y="80"/>
                    </a:moveTo>
                    <a:lnTo>
                      <a:pt x="533" y="920"/>
                    </a:lnTo>
                  </a:path>
                  <a:path w="1000" h="1000" fill="none">
                    <a:moveTo>
                      <a:pt x="550" y="80"/>
                    </a:moveTo>
                    <a:lnTo>
                      <a:pt x="550" y="920"/>
                    </a:lnTo>
                  </a:path>
                  <a:path w="1000" h="1000" fill="none">
                    <a:moveTo>
                      <a:pt x="567" y="80"/>
                    </a:moveTo>
                    <a:lnTo>
                      <a:pt x="567" y="920"/>
                    </a:lnTo>
                  </a:path>
                  <a:path w="1000" h="1000" fill="none">
                    <a:moveTo>
                      <a:pt x="584" y="80"/>
                    </a:moveTo>
                    <a:lnTo>
                      <a:pt x="584" y="920"/>
                    </a:lnTo>
                  </a:path>
                  <a:path w="1000" h="1000" fill="none">
                    <a:moveTo>
                      <a:pt x="601" y="80"/>
                    </a:moveTo>
                    <a:lnTo>
                      <a:pt x="601" y="920"/>
                    </a:lnTo>
                  </a:path>
                  <a:path w="1000" h="1000" fill="none">
                    <a:moveTo>
                      <a:pt x="618" y="80"/>
                    </a:moveTo>
                    <a:lnTo>
                      <a:pt x="618" y="920"/>
                    </a:lnTo>
                  </a:path>
                  <a:path w="1000" h="1000" fill="none">
                    <a:moveTo>
                      <a:pt x="635" y="80"/>
                    </a:moveTo>
                    <a:lnTo>
                      <a:pt x="635" y="920"/>
                    </a:lnTo>
                  </a:path>
                  <a:path w="1000" h="1000" fill="none">
                    <a:moveTo>
                      <a:pt x="652" y="80"/>
                    </a:moveTo>
                    <a:lnTo>
                      <a:pt x="652" y="920"/>
                    </a:lnTo>
                  </a:path>
                  <a:path w="1000" h="1000" fill="none">
                    <a:moveTo>
                      <a:pt x="669" y="80"/>
                    </a:moveTo>
                    <a:lnTo>
                      <a:pt x="669" y="920"/>
                    </a:lnTo>
                  </a:path>
                  <a:path w="1000" h="1000" fill="none">
                    <a:moveTo>
                      <a:pt x="686" y="80"/>
                    </a:moveTo>
                    <a:lnTo>
                      <a:pt x="686" y="920"/>
                    </a:lnTo>
                  </a:path>
                  <a:path w="1000" h="1000" fill="none">
                    <a:moveTo>
                      <a:pt x="703" y="80"/>
                    </a:moveTo>
                    <a:lnTo>
                      <a:pt x="703" y="920"/>
                    </a:lnTo>
                  </a:path>
                  <a:path w="1000" h="1000" fill="none">
                    <a:moveTo>
                      <a:pt x="720" y="80"/>
                    </a:moveTo>
                    <a:lnTo>
                      <a:pt x="720" y="920"/>
                    </a:lnTo>
                  </a:path>
                  <a:path w="1000" h="1000" fill="none">
                    <a:moveTo>
                      <a:pt x="737" y="80"/>
                    </a:moveTo>
                    <a:lnTo>
                      <a:pt x="737" y="920"/>
                    </a:lnTo>
                  </a:path>
                  <a:path w="1000" h="1000" fill="none">
                    <a:moveTo>
                      <a:pt x="754" y="80"/>
                    </a:moveTo>
                    <a:lnTo>
                      <a:pt x="754" y="920"/>
                    </a:lnTo>
                  </a:path>
                  <a:path w="1000" h="1000" fill="none">
                    <a:moveTo>
                      <a:pt x="771" y="80"/>
                    </a:moveTo>
                    <a:lnTo>
                      <a:pt x="771" y="920"/>
                    </a:lnTo>
                  </a:path>
                  <a:path w="1000" h="1000" fill="none">
                    <a:moveTo>
                      <a:pt x="788" y="80"/>
                    </a:moveTo>
                    <a:lnTo>
                      <a:pt x="788" y="920"/>
                    </a:lnTo>
                  </a:path>
                  <a:path w="1000" h="1000" fill="none">
                    <a:moveTo>
                      <a:pt x="805" y="80"/>
                    </a:moveTo>
                    <a:lnTo>
                      <a:pt x="805" y="920"/>
                    </a:lnTo>
                  </a:path>
                  <a:path w="1000" h="1000" fill="none">
                    <a:moveTo>
                      <a:pt x="822" y="80"/>
                    </a:moveTo>
                    <a:lnTo>
                      <a:pt x="822" y="920"/>
                    </a:lnTo>
                  </a:path>
                  <a:path w="1000" h="1000" fill="none">
                    <a:moveTo>
                      <a:pt x="838" y="80"/>
                    </a:moveTo>
                    <a:lnTo>
                      <a:pt x="838" y="920"/>
                    </a:lnTo>
                  </a:path>
                  <a:path w="1000" h="1000" fill="none">
                    <a:moveTo>
                      <a:pt x="855" y="80"/>
                    </a:moveTo>
                    <a:lnTo>
                      <a:pt x="855" y="920"/>
                    </a:lnTo>
                  </a:path>
                  <a:path w="1000" h="1000" fill="none">
                    <a:moveTo>
                      <a:pt x="872" y="80"/>
                    </a:moveTo>
                    <a:lnTo>
                      <a:pt x="872" y="920"/>
                    </a:lnTo>
                  </a:path>
                  <a:path w="1000" h="1000" fill="none">
                    <a:moveTo>
                      <a:pt x="889" y="80"/>
                    </a:moveTo>
                    <a:lnTo>
                      <a:pt x="889" y="920"/>
                    </a:lnTo>
                  </a:path>
                  <a:path w="1000" h="1000" fill="none">
                    <a:moveTo>
                      <a:pt x="906" y="80"/>
                    </a:moveTo>
                    <a:lnTo>
                      <a:pt x="906" y="920"/>
                    </a:lnTo>
                  </a:path>
                  <a:path w="1000" h="1000" fill="none">
                    <a:moveTo>
                      <a:pt x="923" y="80"/>
                    </a:moveTo>
                    <a:lnTo>
                      <a:pt x="923" y="920"/>
                    </a:lnTo>
                  </a:path>
                  <a:path w="1000" h="1000" fill="none">
                    <a:moveTo>
                      <a:pt x="940" y="80"/>
                    </a:moveTo>
                    <a:lnTo>
                      <a:pt x="940" y="920"/>
                    </a:lnTo>
                  </a:path>
                  <a:path w="1000" h="1000" fill="none">
                    <a:moveTo>
                      <a:pt x="957" y="80"/>
                    </a:moveTo>
                    <a:lnTo>
                      <a:pt x="957" y="920"/>
                    </a:lnTo>
                  </a:path>
                  <a:path w="1000" h="1000" fill="none">
                    <a:moveTo>
                      <a:pt x="974" y="80"/>
                    </a:moveTo>
                    <a:lnTo>
                      <a:pt x="974" y="920"/>
                    </a:lnTo>
                  </a:path>
                  <a:path w="1000" h="1000" fill="none">
                    <a:moveTo>
                      <a:pt x="991" y="80"/>
                    </a:moveTo>
                    <a:lnTo>
                      <a:pt x="991" y="920"/>
                    </a:lnTo>
                  </a:path>
                </a:pathLst>
              </a:custGeom>
              <a:noFill/>
              <a:ln w="12700" cap="rnd">
                <a:solidFill>
                  <a:srgbClr val="822E27"/>
                </a:solidFill>
                <a:round/>
              </a:ln>
            </p:spPr>
          </p:sp>
          <p:sp>
            <p:nvSpPr>
              <p:cNvPr id="8" name="Forma 7"/>
              <p:cNvSpPr/>
              <p:nvPr/>
            </p:nvSpPr>
            <p:spPr>
              <a:xfrm>
                <a:off x="1348923" y="1130052"/>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3069458" y="1130052"/>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4544202" y="1130052"/>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4937467" y="1130052"/>
                <a:ext cx="327721" cy="753758"/>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570586" y="1957548"/>
              <a:ext cx="4915814" cy="819302"/>
              <a:chOff x="570586" y="1957548"/>
              <a:chExt cx="4915814" cy="819302"/>
            </a:xfrm>
          </p:grpSpPr>
          <p:sp>
            <p:nvSpPr>
              <p:cNvPr id="13" name="Forma 12"/>
              <p:cNvSpPr/>
              <p:nvPr/>
            </p:nvSpPr>
            <p:spPr>
              <a:xfrm>
                <a:off x="570586" y="1957548"/>
                <a:ext cx="4915814" cy="819302"/>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775411" y="1957548"/>
                <a:ext cx="4506163" cy="819302"/>
              </a:xfrm>
              <a:custGeom>
                <a:avLst/>
                <a:gdLst/>
                <a:ahLst/>
                <a:cxnLst/>
                <a:rect l="0" t="0" r="r" b="b"/>
                <a:pathLst>
                  <a:path w="1000" h="1000" fill="none">
                    <a:moveTo>
                      <a:pt x="8" y="80"/>
                    </a:moveTo>
                    <a:lnTo>
                      <a:pt x="8" y="920"/>
                    </a:lnTo>
                  </a:path>
                  <a:path w="1000" h="1000" fill="none">
                    <a:moveTo>
                      <a:pt x="25" y="80"/>
                    </a:moveTo>
                    <a:lnTo>
                      <a:pt x="25" y="920"/>
                    </a:lnTo>
                  </a:path>
                  <a:path w="1000" h="1000" fill="none">
                    <a:moveTo>
                      <a:pt x="42" y="80"/>
                    </a:moveTo>
                    <a:lnTo>
                      <a:pt x="42" y="920"/>
                    </a:lnTo>
                  </a:path>
                  <a:path w="1000" h="1000" fill="none">
                    <a:moveTo>
                      <a:pt x="59" y="80"/>
                    </a:moveTo>
                    <a:lnTo>
                      <a:pt x="59" y="920"/>
                    </a:lnTo>
                  </a:path>
                  <a:path w="1000" h="1000" fill="none">
                    <a:moveTo>
                      <a:pt x="76" y="80"/>
                    </a:moveTo>
                    <a:lnTo>
                      <a:pt x="76" y="920"/>
                    </a:lnTo>
                  </a:path>
                  <a:path w="1000" h="1000" fill="none">
                    <a:moveTo>
                      <a:pt x="93" y="80"/>
                    </a:moveTo>
                    <a:lnTo>
                      <a:pt x="93" y="920"/>
                    </a:lnTo>
                  </a:path>
                  <a:path w="1000" h="1000" fill="none">
                    <a:moveTo>
                      <a:pt x="110" y="80"/>
                    </a:moveTo>
                    <a:lnTo>
                      <a:pt x="110" y="920"/>
                    </a:lnTo>
                  </a:path>
                  <a:path w="1000" h="1000" fill="none">
                    <a:moveTo>
                      <a:pt x="127" y="80"/>
                    </a:moveTo>
                    <a:lnTo>
                      <a:pt x="127" y="920"/>
                    </a:lnTo>
                  </a:path>
                  <a:path w="1000" h="1000" fill="none">
                    <a:moveTo>
                      <a:pt x="144" y="80"/>
                    </a:moveTo>
                    <a:lnTo>
                      <a:pt x="144" y="920"/>
                    </a:lnTo>
                  </a:path>
                  <a:path w="1000" h="1000" fill="none">
                    <a:moveTo>
                      <a:pt x="161" y="80"/>
                    </a:moveTo>
                    <a:lnTo>
                      <a:pt x="161" y="920"/>
                    </a:lnTo>
                  </a:path>
                  <a:path w="1000" h="1000" fill="none">
                    <a:moveTo>
                      <a:pt x="177" y="80"/>
                    </a:moveTo>
                    <a:lnTo>
                      <a:pt x="177" y="920"/>
                    </a:lnTo>
                  </a:path>
                  <a:path w="1000" h="1000" fill="none">
                    <a:moveTo>
                      <a:pt x="194" y="80"/>
                    </a:moveTo>
                    <a:lnTo>
                      <a:pt x="194" y="920"/>
                    </a:lnTo>
                  </a:path>
                  <a:path w="1000" h="1000" fill="none">
                    <a:moveTo>
                      <a:pt x="211" y="80"/>
                    </a:moveTo>
                    <a:lnTo>
                      <a:pt x="211" y="920"/>
                    </a:lnTo>
                  </a:path>
                  <a:path w="1000" h="1000" fill="none">
                    <a:moveTo>
                      <a:pt x="228" y="80"/>
                    </a:moveTo>
                    <a:lnTo>
                      <a:pt x="228" y="920"/>
                    </a:lnTo>
                  </a:path>
                  <a:path w="1000" h="1000" fill="none">
                    <a:moveTo>
                      <a:pt x="245" y="80"/>
                    </a:moveTo>
                    <a:lnTo>
                      <a:pt x="245" y="920"/>
                    </a:lnTo>
                  </a:path>
                  <a:path w="1000" h="1000" fill="none">
                    <a:moveTo>
                      <a:pt x="262" y="80"/>
                    </a:moveTo>
                    <a:lnTo>
                      <a:pt x="262" y="920"/>
                    </a:lnTo>
                  </a:path>
                  <a:path w="1000" h="1000" fill="none">
                    <a:moveTo>
                      <a:pt x="279" y="80"/>
                    </a:moveTo>
                    <a:lnTo>
                      <a:pt x="279" y="920"/>
                    </a:lnTo>
                  </a:path>
                  <a:path w="1000" h="1000" fill="none">
                    <a:moveTo>
                      <a:pt x="296" y="80"/>
                    </a:moveTo>
                    <a:lnTo>
                      <a:pt x="296" y="920"/>
                    </a:lnTo>
                  </a:path>
                  <a:path w="1000" h="1000" fill="none">
                    <a:moveTo>
                      <a:pt x="313" y="80"/>
                    </a:moveTo>
                    <a:lnTo>
                      <a:pt x="313" y="920"/>
                    </a:lnTo>
                  </a:path>
                  <a:path w="1000" h="1000" fill="none">
                    <a:moveTo>
                      <a:pt x="330" y="80"/>
                    </a:moveTo>
                    <a:lnTo>
                      <a:pt x="330" y="920"/>
                    </a:lnTo>
                  </a:path>
                  <a:path w="1000" h="1000" fill="none">
                    <a:moveTo>
                      <a:pt x="347" y="80"/>
                    </a:moveTo>
                    <a:lnTo>
                      <a:pt x="347" y="920"/>
                    </a:lnTo>
                  </a:path>
                  <a:path w="1000" h="1000" fill="none">
                    <a:moveTo>
                      <a:pt x="364" y="80"/>
                    </a:moveTo>
                    <a:lnTo>
                      <a:pt x="364" y="920"/>
                    </a:lnTo>
                  </a:path>
                  <a:path w="1000" h="1000" fill="none">
                    <a:moveTo>
                      <a:pt x="381" y="80"/>
                    </a:moveTo>
                    <a:lnTo>
                      <a:pt x="381" y="920"/>
                    </a:lnTo>
                  </a:path>
                  <a:path w="1000" h="1000" fill="none">
                    <a:moveTo>
                      <a:pt x="398" y="80"/>
                    </a:moveTo>
                    <a:lnTo>
                      <a:pt x="398" y="920"/>
                    </a:lnTo>
                  </a:path>
                  <a:path w="1000" h="1000" fill="none">
                    <a:moveTo>
                      <a:pt x="415" y="80"/>
                    </a:moveTo>
                    <a:lnTo>
                      <a:pt x="415" y="920"/>
                    </a:lnTo>
                  </a:path>
                  <a:path w="1000" h="1000" fill="none">
                    <a:moveTo>
                      <a:pt x="432" y="80"/>
                    </a:moveTo>
                    <a:lnTo>
                      <a:pt x="432" y="920"/>
                    </a:lnTo>
                  </a:path>
                  <a:path w="1000" h="1000" fill="none">
                    <a:moveTo>
                      <a:pt x="449" y="80"/>
                    </a:moveTo>
                    <a:lnTo>
                      <a:pt x="449" y="920"/>
                    </a:lnTo>
                  </a:path>
                  <a:path w="1000" h="1000" fill="none">
                    <a:moveTo>
                      <a:pt x="466" y="80"/>
                    </a:moveTo>
                    <a:lnTo>
                      <a:pt x="466" y="920"/>
                    </a:lnTo>
                  </a:path>
                  <a:path w="1000" h="1000" fill="none">
                    <a:moveTo>
                      <a:pt x="483" y="80"/>
                    </a:moveTo>
                    <a:lnTo>
                      <a:pt x="483" y="920"/>
                    </a:lnTo>
                  </a:path>
                  <a:path w="1000" h="1000" fill="none">
                    <a:moveTo>
                      <a:pt x="500" y="80"/>
                    </a:moveTo>
                    <a:lnTo>
                      <a:pt x="500" y="920"/>
                    </a:lnTo>
                  </a:path>
                  <a:path w="1000" h="1000" fill="none">
                    <a:moveTo>
                      <a:pt x="516" y="80"/>
                    </a:moveTo>
                    <a:lnTo>
                      <a:pt x="516" y="920"/>
                    </a:lnTo>
                  </a:path>
                  <a:path w="1000" h="1000" fill="none">
                    <a:moveTo>
                      <a:pt x="533" y="80"/>
                    </a:moveTo>
                    <a:lnTo>
                      <a:pt x="533" y="920"/>
                    </a:lnTo>
                  </a:path>
                  <a:path w="1000" h="1000" fill="none">
                    <a:moveTo>
                      <a:pt x="550" y="80"/>
                    </a:moveTo>
                    <a:lnTo>
                      <a:pt x="550" y="920"/>
                    </a:lnTo>
                  </a:path>
                  <a:path w="1000" h="1000" fill="none">
                    <a:moveTo>
                      <a:pt x="567" y="80"/>
                    </a:moveTo>
                    <a:lnTo>
                      <a:pt x="567" y="920"/>
                    </a:lnTo>
                  </a:path>
                  <a:path w="1000" h="1000" fill="none">
                    <a:moveTo>
                      <a:pt x="584" y="80"/>
                    </a:moveTo>
                    <a:lnTo>
                      <a:pt x="584" y="920"/>
                    </a:lnTo>
                  </a:path>
                  <a:path w="1000" h="1000" fill="none">
                    <a:moveTo>
                      <a:pt x="601" y="80"/>
                    </a:moveTo>
                    <a:lnTo>
                      <a:pt x="601" y="920"/>
                    </a:lnTo>
                  </a:path>
                  <a:path w="1000" h="1000" fill="none">
                    <a:moveTo>
                      <a:pt x="618" y="80"/>
                    </a:moveTo>
                    <a:lnTo>
                      <a:pt x="618" y="920"/>
                    </a:lnTo>
                  </a:path>
                  <a:path w="1000" h="1000" fill="none">
                    <a:moveTo>
                      <a:pt x="635" y="80"/>
                    </a:moveTo>
                    <a:lnTo>
                      <a:pt x="635" y="920"/>
                    </a:lnTo>
                  </a:path>
                  <a:path w="1000" h="1000" fill="none">
                    <a:moveTo>
                      <a:pt x="652" y="80"/>
                    </a:moveTo>
                    <a:lnTo>
                      <a:pt x="652" y="920"/>
                    </a:lnTo>
                  </a:path>
                  <a:path w="1000" h="1000" fill="none">
                    <a:moveTo>
                      <a:pt x="669" y="80"/>
                    </a:moveTo>
                    <a:lnTo>
                      <a:pt x="669" y="920"/>
                    </a:lnTo>
                  </a:path>
                  <a:path w="1000" h="1000" fill="none">
                    <a:moveTo>
                      <a:pt x="686" y="80"/>
                    </a:moveTo>
                    <a:lnTo>
                      <a:pt x="686" y="920"/>
                    </a:lnTo>
                  </a:path>
                  <a:path w="1000" h="1000" fill="none">
                    <a:moveTo>
                      <a:pt x="703" y="80"/>
                    </a:moveTo>
                    <a:lnTo>
                      <a:pt x="703" y="920"/>
                    </a:lnTo>
                  </a:path>
                  <a:path w="1000" h="1000" fill="none">
                    <a:moveTo>
                      <a:pt x="720" y="80"/>
                    </a:moveTo>
                    <a:lnTo>
                      <a:pt x="720" y="920"/>
                    </a:lnTo>
                  </a:path>
                  <a:path w="1000" h="1000" fill="none">
                    <a:moveTo>
                      <a:pt x="737" y="80"/>
                    </a:moveTo>
                    <a:lnTo>
                      <a:pt x="737" y="920"/>
                    </a:lnTo>
                  </a:path>
                  <a:path w="1000" h="1000" fill="none">
                    <a:moveTo>
                      <a:pt x="754" y="80"/>
                    </a:moveTo>
                    <a:lnTo>
                      <a:pt x="754" y="920"/>
                    </a:lnTo>
                  </a:path>
                  <a:path w="1000" h="1000" fill="none">
                    <a:moveTo>
                      <a:pt x="771" y="80"/>
                    </a:moveTo>
                    <a:lnTo>
                      <a:pt x="771" y="920"/>
                    </a:lnTo>
                  </a:path>
                  <a:path w="1000" h="1000" fill="none">
                    <a:moveTo>
                      <a:pt x="788" y="80"/>
                    </a:moveTo>
                    <a:lnTo>
                      <a:pt x="788" y="920"/>
                    </a:lnTo>
                  </a:path>
                  <a:path w="1000" h="1000" fill="none">
                    <a:moveTo>
                      <a:pt x="805" y="80"/>
                    </a:moveTo>
                    <a:lnTo>
                      <a:pt x="805" y="920"/>
                    </a:lnTo>
                  </a:path>
                  <a:path w="1000" h="1000" fill="none">
                    <a:moveTo>
                      <a:pt x="822" y="80"/>
                    </a:moveTo>
                    <a:lnTo>
                      <a:pt x="822" y="920"/>
                    </a:lnTo>
                  </a:path>
                  <a:path w="1000" h="1000" fill="none">
                    <a:moveTo>
                      <a:pt x="838" y="80"/>
                    </a:moveTo>
                    <a:lnTo>
                      <a:pt x="838" y="920"/>
                    </a:lnTo>
                  </a:path>
                  <a:path w="1000" h="1000" fill="none">
                    <a:moveTo>
                      <a:pt x="855" y="80"/>
                    </a:moveTo>
                    <a:lnTo>
                      <a:pt x="855" y="920"/>
                    </a:lnTo>
                  </a:path>
                  <a:path w="1000" h="1000" fill="none">
                    <a:moveTo>
                      <a:pt x="872" y="80"/>
                    </a:moveTo>
                    <a:lnTo>
                      <a:pt x="872" y="920"/>
                    </a:lnTo>
                  </a:path>
                  <a:path w="1000" h="1000" fill="none">
                    <a:moveTo>
                      <a:pt x="889" y="80"/>
                    </a:moveTo>
                    <a:lnTo>
                      <a:pt x="889" y="920"/>
                    </a:lnTo>
                  </a:path>
                  <a:path w="1000" h="1000" fill="none">
                    <a:moveTo>
                      <a:pt x="906" y="80"/>
                    </a:moveTo>
                    <a:lnTo>
                      <a:pt x="906" y="920"/>
                    </a:lnTo>
                  </a:path>
                  <a:path w="1000" h="1000" fill="none">
                    <a:moveTo>
                      <a:pt x="923" y="80"/>
                    </a:moveTo>
                    <a:lnTo>
                      <a:pt x="923" y="920"/>
                    </a:lnTo>
                  </a:path>
                  <a:path w="1000" h="1000" fill="none">
                    <a:moveTo>
                      <a:pt x="940" y="80"/>
                    </a:moveTo>
                    <a:lnTo>
                      <a:pt x="940" y="920"/>
                    </a:lnTo>
                  </a:path>
                  <a:path w="1000" h="1000" fill="none">
                    <a:moveTo>
                      <a:pt x="957" y="80"/>
                    </a:moveTo>
                    <a:lnTo>
                      <a:pt x="957" y="920"/>
                    </a:lnTo>
                  </a:path>
                  <a:path w="1000" h="1000" fill="none">
                    <a:moveTo>
                      <a:pt x="974" y="80"/>
                    </a:moveTo>
                    <a:lnTo>
                      <a:pt x="974" y="920"/>
                    </a:lnTo>
                  </a:path>
                  <a:path w="1000" h="1000" fill="none">
                    <a:moveTo>
                      <a:pt x="991" y="80"/>
                    </a:moveTo>
                    <a:lnTo>
                      <a:pt x="991" y="920"/>
                    </a:lnTo>
                  </a:path>
                </a:pathLst>
              </a:custGeom>
              <a:noFill/>
              <a:ln w="12700" cap="rnd">
                <a:solidFill>
                  <a:srgbClr val="822E27"/>
                </a:solidFill>
                <a:round/>
              </a:ln>
            </p:spPr>
          </p:sp>
          <p:sp>
            <p:nvSpPr>
              <p:cNvPr id="15" name="Forma 14"/>
              <p:cNvSpPr/>
              <p:nvPr/>
            </p:nvSpPr>
            <p:spPr>
              <a:xfrm>
                <a:off x="1553748" y="1990320"/>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3274284" y="1990320"/>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4749028" y="1990320"/>
                <a:ext cx="409651" cy="14747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5142293" y="1990320"/>
                <a:ext cx="327721" cy="753758"/>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19" name="Recuadro Músculo esquelético"/>
          <p:cNvGrpSpPr/>
          <p:nvPr/>
        </p:nvGrpSpPr>
        <p:grpSpPr>
          <a:xfrm>
            <a:off x="365760" y="2606040"/>
            <a:ext cx="5394960" cy="2331720"/>
            <a:chOff x="365760" y="2606040"/>
            <a:chExt cx="5394960" cy="2331720"/>
          </a:xfrm>
        </p:grpSpPr>
        <p:sp>
          <p:nvSpPr>
            <p:cNvPr id="20" name="Forma 19"/>
            <p:cNvSpPr/>
            <p:nvPr/>
          </p:nvSpPr>
          <p:spPr>
            <a:xfrm>
              <a:off x="365760" y="2788920"/>
              <a:ext cx="5394960" cy="2148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Capta gran parte de la carga periférica estimulada por insulina.</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GLUT4</a:t>
              </a:r>
              <a:r>
                <a:rPr lang="es-AR" sz="1550" dirty="0">
                  <a:solidFill>
                    <a:srgbClr val="1E1E1E"/>
                  </a:solidFill>
                  <a:latin typeface="Bahnschrift"/>
                  <a:ea typeface="Bahnschrift"/>
                  <a:cs typeface="Bahnschrift"/>
                  <a:sym typeface="Bahnschrift"/>
                </a:rPr>
                <a:t> transloca; </a:t>
              </a:r>
              <a:r>
                <a:rPr lang="es-AR" sz="1550" b="1" dirty="0">
                  <a:solidFill>
                    <a:srgbClr val="1E1E1E"/>
                  </a:solidFill>
                  <a:latin typeface="Bahnschrift"/>
                  <a:ea typeface="Bahnschrift"/>
                  <a:cs typeface="Bahnschrift"/>
                  <a:sym typeface="Bahnschrift"/>
                </a:rPr>
                <a:t>hexocinasa II</a:t>
              </a:r>
              <a:r>
                <a:rPr lang="es-AR" sz="1550" dirty="0">
                  <a:solidFill>
                    <a:srgbClr val="1E1E1E"/>
                  </a:solidFill>
                  <a:latin typeface="Bahnschrift"/>
                  <a:ea typeface="Bahnschrift"/>
                  <a:cs typeface="Bahnschrift"/>
                  <a:sym typeface="Bahnschrift"/>
                </a:rPr>
                <a:t> retiene glucosa como G6P.</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Glucógeno sintasa</a:t>
              </a:r>
              <a:r>
                <a:rPr lang="es-AR" sz="1550" dirty="0">
                  <a:solidFill>
                    <a:srgbClr val="1E1E1E"/>
                  </a:solidFill>
                  <a:latin typeface="Bahnschrift"/>
                  <a:ea typeface="Bahnschrift"/>
                  <a:cs typeface="Bahnschrift"/>
                  <a:sym typeface="Bahnschrift"/>
                </a:rPr>
                <a:t> almacena; </a:t>
              </a:r>
              <a:r>
                <a:rPr lang="es-AR" sz="1550" b="1" dirty="0">
                  <a:solidFill>
                    <a:srgbClr val="1E1E1E"/>
                  </a:solidFill>
                  <a:latin typeface="Bahnschrift"/>
                  <a:ea typeface="Bahnschrift"/>
                  <a:cs typeface="Bahnschrift"/>
                  <a:sym typeface="Bahnschrift"/>
                </a:rPr>
                <a:t>PDH</a:t>
              </a:r>
              <a:r>
                <a:rPr lang="es-AR" sz="1550" dirty="0">
                  <a:solidFill>
                    <a:srgbClr val="1E1E1E"/>
                  </a:solidFill>
                  <a:latin typeface="Bahnschrift"/>
                  <a:ea typeface="Bahnschrift"/>
                  <a:cs typeface="Bahnschrift"/>
                  <a:sym typeface="Bahnschrift"/>
                </a:rPr>
                <a:t> deriva piruvato a acetil-CoA.</a:t>
              </a:r>
              <a:endParaRPr lang="es-AR" sz="1550" dirty="0">
                <a:latin typeface="Bahnschrift"/>
              </a:endParaRPr>
            </a:p>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La </a:t>
              </a:r>
              <a:r>
                <a:rPr lang="es-AR" sz="1550" b="1" dirty="0">
                  <a:solidFill>
                    <a:srgbClr val="1E1E1E"/>
                  </a:solidFill>
                  <a:latin typeface="Bahnschrift"/>
                  <a:ea typeface="Bahnschrift"/>
                  <a:cs typeface="Bahnschrift"/>
                  <a:sym typeface="Bahnschrift"/>
                </a:rPr>
                <a:t>contracción</a:t>
              </a:r>
              <a:r>
                <a:rPr lang="es-AR" sz="1550" dirty="0">
                  <a:solidFill>
                    <a:srgbClr val="1E1E1E"/>
                  </a:solidFill>
                  <a:latin typeface="Bahnschrift"/>
                  <a:ea typeface="Bahnschrift"/>
                  <a:cs typeface="Bahnschrift"/>
                  <a:sym typeface="Bahnschrift"/>
                </a:rPr>
                <a:t> facilita GLUT4 (AMPK, Ca</a:t>
              </a:r>
              <a:r>
                <a:rPr lang="es-AR" sz="1550" baseline="30000" dirty="0">
                  <a:solidFill>
                    <a:srgbClr val="1E1E1E"/>
                  </a:solidFill>
                  <a:latin typeface="Bahnschrift"/>
                  <a:ea typeface="Bahnschrift"/>
                  <a:cs typeface="Bahnschrift"/>
                  <a:sym typeface="Bahnschrift"/>
                </a:rPr>
                <a:t>2+</a:t>
              </a:r>
              <a:r>
                <a:rPr lang="es-AR" sz="1550" dirty="0">
                  <a:solidFill>
                    <a:srgbClr val="1E1E1E"/>
                  </a:solidFill>
                  <a:latin typeface="Bahnschrift"/>
                  <a:ea typeface="Bahnschrift"/>
                  <a:cs typeface="Bahnschrift"/>
                  <a:sym typeface="Bahnschrift"/>
                </a:rPr>
                <a:t>).</a:t>
              </a:r>
              <a:endParaRPr lang="es-AR" sz="1550" dirty="0">
                <a:latin typeface="Bahnschrift"/>
              </a:endParaRPr>
            </a:p>
          </p:txBody>
        </p:sp>
        <p:sp>
          <p:nvSpPr>
            <p:cNvPr id="21" name="Forma 20"/>
            <p:cNvSpPr/>
            <p:nvPr/>
          </p:nvSpPr>
          <p:spPr>
            <a:xfrm>
              <a:off x="475488" y="2606040"/>
              <a:ext cx="203751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MÚSCULO ESQUELÉTICO</a:t>
              </a:r>
              <a:endParaRPr lang="es-AR" sz="1500" dirty="0">
                <a:latin typeface="Bahnschrift SemiBold Condensed"/>
              </a:endParaRPr>
            </a:p>
          </p:txBody>
        </p:sp>
      </p:grpSp>
      <p:grpSp>
        <p:nvGrpSpPr>
          <p:cNvPr id="22" name="Adipocito"/>
          <p:cNvGrpSpPr/>
          <p:nvPr/>
        </p:nvGrpSpPr>
        <p:grpSpPr>
          <a:xfrm>
            <a:off x="6400800" y="960120"/>
            <a:ext cx="1600200" cy="1600200"/>
            <a:chOff x="6400800" y="960120"/>
            <a:chExt cx="1600200" cy="1600200"/>
          </a:xfrm>
        </p:grpSpPr>
        <p:sp>
          <p:nvSpPr>
            <p:cNvPr id="23" name="Forma 22"/>
            <p:cNvSpPr/>
            <p:nvPr/>
          </p:nvSpPr>
          <p:spPr>
            <a:xfrm>
              <a:off x="6400800" y="960120"/>
              <a:ext cx="1600200" cy="160020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4" name="Gota lipídica"/>
            <p:cNvSpPr/>
            <p:nvPr/>
          </p:nvSpPr>
          <p:spPr>
            <a:xfrm>
              <a:off x="6480810" y="1040130"/>
              <a:ext cx="1440180" cy="1440180"/>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5" name="Forma 24"/>
            <p:cNvSpPr/>
            <p:nvPr/>
          </p:nvSpPr>
          <p:spPr>
            <a:xfrm rot="2400000">
              <a:off x="7552944" y="1056132"/>
              <a:ext cx="352044" cy="19202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6" name="Mitocondria"/>
            <p:cNvGrpSpPr/>
            <p:nvPr/>
          </p:nvGrpSpPr>
          <p:grpSpPr>
            <a:xfrm>
              <a:off x="6528816" y="2144268"/>
              <a:ext cx="160020" cy="80010"/>
              <a:chOff x="6528816" y="2144268"/>
              <a:chExt cx="160020" cy="80010"/>
            </a:xfrm>
          </p:grpSpPr>
          <p:sp>
            <p:nvSpPr>
              <p:cNvPr id="27" name="Forma 26"/>
              <p:cNvSpPr/>
              <p:nvPr/>
            </p:nvSpPr>
            <p:spPr>
              <a:xfrm rot="-2400000">
                <a:off x="6528816" y="2144268"/>
                <a:ext cx="160020" cy="8001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8" name="Forma 27"/>
              <p:cNvSpPr/>
              <p:nvPr/>
            </p:nvSpPr>
            <p:spPr>
              <a:xfrm rot="-2400000">
                <a:off x="6540017" y="2155469"/>
                <a:ext cx="137617" cy="57607"/>
              </a:xfrm>
              <a:prstGeom prst="ellipse">
                <a:avLst/>
              </a:prstGeom>
              <a:solidFill>
                <a:srgbClr val="F8D8B4"/>
              </a:solidFill>
              <a:ln w="9525" cap="rnd">
                <a:solidFill>
                  <a:srgbClr val="B2732B"/>
                </a:solidFill>
                <a:round/>
              </a:ln>
            </p:spPr>
          </p:sp>
          <p:sp>
            <p:nvSpPr>
              <p:cNvPr id="29" name="Forma 28"/>
              <p:cNvSpPr/>
              <p:nvPr/>
            </p:nvSpPr>
            <p:spPr>
              <a:xfrm rot="-2400000">
                <a:off x="6540017" y="2155469"/>
                <a:ext cx="137617" cy="5760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0" name="Adipocito 2"/>
          <p:cNvGrpSpPr/>
          <p:nvPr/>
        </p:nvGrpSpPr>
        <p:grpSpPr>
          <a:xfrm>
            <a:off x="7863840" y="1234440"/>
            <a:ext cx="1280160" cy="1280160"/>
            <a:chOff x="7863840" y="1234440"/>
            <a:chExt cx="1280160" cy="1280160"/>
          </a:xfrm>
        </p:grpSpPr>
        <p:sp>
          <p:nvSpPr>
            <p:cNvPr id="31" name="Forma 30"/>
            <p:cNvSpPr/>
            <p:nvPr/>
          </p:nvSpPr>
          <p:spPr>
            <a:xfrm>
              <a:off x="7863840" y="1234440"/>
              <a:ext cx="1280160" cy="128016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2" name="Gota lipídica_2"/>
            <p:cNvSpPr/>
            <p:nvPr/>
          </p:nvSpPr>
          <p:spPr>
            <a:xfrm>
              <a:off x="7927848" y="1298448"/>
              <a:ext cx="1152144" cy="1152144"/>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3" name="Forma 32"/>
            <p:cNvSpPr/>
            <p:nvPr/>
          </p:nvSpPr>
          <p:spPr>
            <a:xfrm rot="2400000">
              <a:off x="8785555" y="1311250"/>
              <a:ext cx="281635" cy="153619"/>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4" name="Mitocondria_2"/>
            <p:cNvGrpSpPr/>
            <p:nvPr/>
          </p:nvGrpSpPr>
          <p:grpSpPr>
            <a:xfrm>
              <a:off x="7966253" y="2181758"/>
              <a:ext cx="128016" cy="64008"/>
              <a:chOff x="7966253" y="2181758"/>
              <a:chExt cx="128016" cy="64008"/>
            </a:xfrm>
          </p:grpSpPr>
          <p:sp>
            <p:nvSpPr>
              <p:cNvPr id="35" name="Forma 34"/>
              <p:cNvSpPr/>
              <p:nvPr/>
            </p:nvSpPr>
            <p:spPr>
              <a:xfrm rot="-2400000">
                <a:off x="7966253" y="2181758"/>
                <a:ext cx="128016" cy="64008"/>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6" name="Forma 35"/>
              <p:cNvSpPr/>
              <p:nvPr/>
            </p:nvSpPr>
            <p:spPr>
              <a:xfrm rot="-2400000">
                <a:off x="7975214" y="2190720"/>
                <a:ext cx="110094" cy="46086"/>
              </a:xfrm>
              <a:prstGeom prst="ellipse">
                <a:avLst/>
              </a:prstGeom>
              <a:solidFill>
                <a:srgbClr val="F8D8B4"/>
              </a:solidFill>
              <a:ln w="9525" cap="rnd">
                <a:solidFill>
                  <a:srgbClr val="B2732B"/>
                </a:solidFill>
                <a:round/>
              </a:ln>
            </p:spPr>
          </p:sp>
          <p:sp>
            <p:nvSpPr>
              <p:cNvPr id="37" name="Forma 36"/>
              <p:cNvSpPr/>
              <p:nvPr/>
            </p:nvSpPr>
            <p:spPr>
              <a:xfrm rot="-2400000">
                <a:off x="7975214" y="2190720"/>
                <a:ext cx="110094" cy="4608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8" name="Recuadro Adiposo blanco"/>
          <p:cNvGrpSpPr/>
          <p:nvPr/>
        </p:nvGrpSpPr>
        <p:grpSpPr>
          <a:xfrm>
            <a:off x="6126480" y="2971800"/>
            <a:ext cx="5669280" cy="1965960"/>
            <a:chOff x="6126480" y="2971800"/>
            <a:chExt cx="5669280" cy="1965960"/>
          </a:xfrm>
        </p:grpSpPr>
        <p:sp>
          <p:nvSpPr>
            <p:cNvPr id="39" name="Forma 38"/>
            <p:cNvSpPr/>
            <p:nvPr/>
          </p:nvSpPr>
          <p:spPr>
            <a:xfrm>
              <a:off x="6126480" y="3154680"/>
              <a:ext cx="5669280" cy="17830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GLUT4</a:t>
              </a:r>
              <a:r>
                <a:rPr lang="es-AR" sz="1650" dirty="0">
                  <a:solidFill>
                    <a:srgbClr val="1E1E1E"/>
                  </a:solidFill>
                  <a:latin typeface="Bahnschrift"/>
                  <a:ea typeface="Bahnschrift"/>
                  <a:cs typeface="Bahnschrift"/>
                  <a:sym typeface="Bahnschrift"/>
                </a:rPr>
                <a:t> aporta glucosa para ATP y </a:t>
              </a:r>
              <a:r>
                <a:rPr lang="es-AR" sz="1650" b="1" dirty="0">
                  <a:solidFill>
                    <a:srgbClr val="1E1E1E"/>
                  </a:solidFill>
                  <a:latin typeface="Bahnschrift"/>
                  <a:ea typeface="Bahnschrift"/>
                  <a:cs typeface="Bahnschrift"/>
                  <a:sym typeface="Bahnschrift"/>
                </a:rPr>
                <a:t>glicerol-3-P</a:t>
              </a:r>
              <a:r>
                <a:rPr lang="es-AR" sz="1650" dirty="0">
                  <a:solidFill>
                    <a:srgbClr val="1E1E1E"/>
                  </a:solidFill>
                  <a:latin typeface="Bahnschrift"/>
                  <a:ea typeface="Bahnschrift"/>
                  <a:cs typeface="Bahnschrift"/>
                  <a:sym typeface="Bahnschrift"/>
                </a:rPr>
                <a:t> (desde DHAP) → reesterificación.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Insulina → </a:t>
              </a:r>
              <a:r>
                <a:rPr lang="es-AR" sz="1650" b="1" dirty="0">
                  <a:solidFill>
                    <a:srgbClr val="1E1E1E"/>
                  </a:solidFill>
                  <a:latin typeface="Bahnschrift"/>
                  <a:ea typeface="Bahnschrift"/>
                  <a:cs typeface="Bahnschrift"/>
                  <a:sym typeface="Bahnschrift"/>
                </a:rPr>
                <a:t>PDE3B</a:t>
              </a:r>
              <a:r>
                <a:rPr lang="es-AR" sz="1650" dirty="0">
                  <a:solidFill>
                    <a:srgbClr val="1E1E1E"/>
                  </a:solidFill>
                  <a:latin typeface="Bahnschrift"/>
                  <a:ea typeface="Bahnschrift"/>
                  <a:cs typeface="Bahnschrift"/>
                  <a:sym typeface="Bahnschrift"/>
                </a:rPr>
                <a:t> → ↓ AMPc/PKA → ↓ fosforilación de </a:t>
              </a:r>
              <a:r>
                <a:rPr lang="es-AR" sz="1650" b="1" dirty="0">
                  <a:solidFill>
                    <a:srgbClr val="1E1E1E"/>
                  </a:solidFill>
                  <a:latin typeface="Bahnschrift"/>
                  <a:ea typeface="Bahnschrift"/>
                  <a:cs typeface="Bahnschrift"/>
                  <a:sym typeface="Bahnschrift"/>
                </a:rPr>
                <a:t>perilipina/HSL</a:t>
              </a:r>
              <a:r>
                <a:rPr lang="es-AR" sz="1650" dirty="0">
                  <a:solidFill>
                    <a:srgbClr val="1E1E1E"/>
                  </a:solidFill>
                  <a:latin typeface="Bahnschrift"/>
                  <a:ea typeface="Bahnschrift"/>
                  <a:cs typeface="Bahnschrift"/>
                  <a:sym typeface="Bahnschrift"/>
                </a:rPr>
                <a:t> → ↓ lipólisis.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Favorece el depósito de TAG captados tras </a:t>
              </a:r>
              <a:r>
                <a:rPr lang="es-AR" sz="1650" b="1" dirty="0">
                  <a:solidFill>
                    <a:srgbClr val="1E1E1E"/>
                  </a:solidFill>
                  <a:latin typeface="Bahnschrift"/>
                  <a:ea typeface="Bahnschrift"/>
                  <a:cs typeface="Bahnschrift"/>
                  <a:sym typeface="Bahnschrift"/>
                </a:rPr>
                <a:t>LPL</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0" name="Forma 39"/>
            <p:cNvSpPr/>
            <p:nvPr/>
          </p:nvSpPr>
          <p:spPr>
            <a:xfrm>
              <a:off x="6236208" y="2971800"/>
              <a:ext cx="159495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ADIPOSO BLANCO</a:t>
              </a:r>
              <a:endParaRPr lang="es-AR" sz="1500" dirty="0">
                <a:latin typeface="Bahnschrift SemiBold Condensed"/>
              </a:endParaRPr>
            </a:p>
          </p:txBody>
        </p:sp>
      </p:grpSp>
      <p:sp>
        <p:nvSpPr>
          <p:cNvPr id="41" name="Forma 40"/>
          <p:cNvSpPr/>
          <p:nvPr/>
        </p:nvSpPr>
        <p:spPr>
          <a:xfrm>
            <a:off x="9281160" y="1051560"/>
            <a:ext cx="2514600" cy="268834"/>
          </a:xfrm>
          <a:prstGeom prst="rect">
            <a:avLst/>
          </a:prstGeom>
          <a:solidFill>
            <a:srgbClr val="F4B183"/>
          </a:solidFill>
          <a:ln w="15875" cap="rnd">
            <a:solidFill>
              <a:srgbClr val="1E1E1E"/>
            </a:solidFill>
            <a:round/>
          </a:ln>
        </p:spPr>
        <p:txBody>
          <a:bodyPr wrap="square" lIns="73152" tIns="27432" rIns="73152" bIns="27432" anchor="ctr" rtlCol="0">
            <a:noAutofit/>
          </a:bodyPr>
          <a:lstStyle/>
          <a:p>
            <a:pPr algn="ctr">
              <a:spcAft>
                <a:spcPts val="300"/>
              </a:spcAft>
              <a:buNone/>
            </a:pPr>
            <a:r>
              <a:rPr lang="es-AR" sz="1150" b="1" dirty="0">
                <a:solidFill>
                  <a:srgbClr val="1E1E1E"/>
                </a:solidFill>
                <a:latin typeface="Bahnschrift"/>
                <a:ea typeface="Bahnschrift"/>
                <a:cs typeface="Bahnschrift"/>
                <a:sym typeface="Bahnschrift"/>
              </a:rPr>
              <a:t>Insulina</a:t>
            </a:r>
            <a:endParaRPr lang="es-AR" sz="1150" dirty="0">
              <a:latin typeface="Bahnschrift"/>
            </a:endParaRPr>
          </a:p>
        </p:txBody>
      </p:sp>
      <p:sp>
        <p:nvSpPr>
          <p:cNvPr id="42" name="Flecha 41_2"/>
          <p:cNvSpPr/>
          <p:nvPr/>
        </p:nvSpPr>
        <p:spPr>
          <a:xfrm>
            <a:off x="10538460" y="1347826"/>
            <a:ext cx="9144" cy="54864"/>
          </a:xfrm>
          <a:custGeom>
            <a:avLst/>
            <a:gdLst/>
            <a:ahLst/>
            <a:cxnLst/>
            <a:rect l="0" t="0" r="r" b="b"/>
            <a:pathLst>
              <a:path w="10" h="59" fill="none">
                <a:moveTo>
                  <a:pt x="0" y="0"/>
                </a:moveTo>
                <a:lnTo>
                  <a:pt x="0" y="59"/>
                </a:lnTo>
              </a:path>
            </a:pathLst>
          </a:custGeom>
          <a:noFill/>
          <a:ln w="31750" cap="rnd">
            <a:solidFill>
              <a:srgbClr val="1E8C3A"/>
            </a:solidFill>
            <a:round/>
            <a:tailEnd type="triangle" w="med" len="med"/>
          </a:ln>
        </p:spPr>
      </p:sp>
      <p:sp>
        <p:nvSpPr>
          <p:cNvPr id="43" name="Forma 43"/>
          <p:cNvSpPr/>
          <p:nvPr/>
        </p:nvSpPr>
        <p:spPr>
          <a:xfrm>
            <a:off x="9281160" y="1430122"/>
            <a:ext cx="2514600" cy="268834"/>
          </a:xfrm>
          <a:prstGeom prst="rect">
            <a:avLst/>
          </a:prstGeom>
          <a:solidFill>
            <a:srgbClr val="F4B183"/>
          </a:solidFill>
          <a:ln w="15875" cap="rnd">
            <a:solidFill>
              <a:srgbClr val="1E1E1E"/>
            </a:solidFill>
            <a:round/>
          </a:ln>
        </p:spPr>
        <p:txBody>
          <a:bodyPr wrap="square" lIns="73152" tIns="27432" rIns="73152" bIns="27432" anchor="ctr" rtlCol="0">
            <a:noAutofit/>
          </a:bodyPr>
          <a:lstStyle/>
          <a:p>
            <a:pPr algn="ctr">
              <a:spcAft>
                <a:spcPts val="300"/>
              </a:spcAft>
              <a:buNone/>
            </a:pPr>
            <a:r>
              <a:rPr lang="es-AR" sz="1150" b="1" dirty="0">
                <a:solidFill>
                  <a:srgbClr val="1E1E1E"/>
                </a:solidFill>
                <a:latin typeface="Bahnschrift"/>
                <a:ea typeface="Bahnschrift"/>
                <a:cs typeface="Bahnschrift"/>
                <a:sym typeface="Bahnschrift"/>
              </a:rPr>
              <a:t>PDE3B ↑</a:t>
            </a:r>
            <a:endParaRPr lang="es-AR" sz="1150" dirty="0">
              <a:latin typeface="Bahnschrift"/>
            </a:endParaRPr>
          </a:p>
        </p:txBody>
      </p:sp>
      <p:sp>
        <p:nvSpPr>
          <p:cNvPr id="44" name="Flecha 44_2"/>
          <p:cNvSpPr/>
          <p:nvPr/>
        </p:nvSpPr>
        <p:spPr>
          <a:xfrm>
            <a:off x="10538460" y="1726387"/>
            <a:ext cx="9144" cy="54864"/>
          </a:xfrm>
          <a:custGeom>
            <a:avLst/>
            <a:gdLst/>
            <a:ahLst/>
            <a:cxnLst/>
            <a:rect l="0" t="0" r="r" b="b"/>
            <a:pathLst>
              <a:path w="10" h="60" fill="none">
                <a:moveTo>
                  <a:pt x="0" y="0"/>
                </a:moveTo>
                <a:lnTo>
                  <a:pt x="0" y="60"/>
                </a:lnTo>
              </a:path>
            </a:pathLst>
          </a:custGeom>
          <a:noFill/>
          <a:ln w="31750" cap="rnd">
            <a:solidFill>
              <a:srgbClr val="1E8C3A"/>
            </a:solidFill>
            <a:round/>
            <a:tailEnd type="triangle" w="med" len="med"/>
          </a:ln>
        </p:spPr>
      </p:sp>
      <p:sp>
        <p:nvSpPr>
          <p:cNvPr id="45" name="Forma 46"/>
          <p:cNvSpPr/>
          <p:nvPr/>
        </p:nvSpPr>
        <p:spPr>
          <a:xfrm>
            <a:off x="9281160" y="1808683"/>
            <a:ext cx="2514600" cy="268834"/>
          </a:xfrm>
          <a:prstGeom prst="rect">
            <a:avLst/>
          </a:prstGeom>
          <a:solidFill>
            <a:srgbClr val="F4B183"/>
          </a:solidFill>
          <a:ln w="15875" cap="rnd">
            <a:solidFill>
              <a:srgbClr val="1E1E1E"/>
            </a:solidFill>
            <a:round/>
          </a:ln>
        </p:spPr>
        <p:txBody>
          <a:bodyPr wrap="square" lIns="73152" tIns="27432" rIns="73152" bIns="27432" anchor="ctr" rtlCol="0">
            <a:noAutofit/>
          </a:bodyPr>
          <a:lstStyle/>
          <a:p>
            <a:pPr algn="ctr">
              <a:spcAft>
                <a:spcPts val="300"/>
              </a:spcAft>
              <a:buNone/>
            </a:pPr>
            <a:r>
              <a:rPr lang="es-AR" sz="1150" b="1" dirty="0">
                <a:solidFill>
                  <a:srgbClr val="1E1E1E"/>
                </a:solidFill>
                <a:latin typeface="Bahnschrift"/>
                <a:ea typeface="Bahnschrift"/>
                <a:cs typeface="Bahnschrift"/>
                <a:sym typeface="Bahnschrift"/>
              </a:rPr>
              <a:t>AMPc ↓</a:t>
            </a:r>
            <a:endParaRPr lang="es-AR" sz="1150" dirty="0">
              <a:latin typeface="Bahnschrift"/>
            </a:endParaRPr>
          </a:p>
        </p:txBody>
      </p:sp>
      <p:sp>
        <p:nvSpPr>
          <p:cNvPr id="46" name="Flecha 47_2"/>
          <p:cNvSpPr/>
          <p:nvPr/>
        </p:nvSpPr>
        <p:spPr>
          <a:xfrm>
            <a:off x="10538460" y="2104949"/>
            <a:ext cx="9144" cy="54864"/>
          </a:xfrm>
          <a:custGeom>
            <a:avLst/>
            <a:gdLst/>
            <a:ahLst/>
            <a:cxnLst/>
            <a:rect l="0" t="0" r="r" b="b"/>
            <a:pathLst>
              <a:path w="10" h="60" fill="none">
                <a:moveTo>
                  <a:pt x="0" y="0"/>
                </a:moveTo>
                <a:lnTo>
                  <a:pt x="0" y="60"/>
                </a:lnTo>
              </a:path>
            </a:pathLst>
          </a:custGeom>
          <a:noFill/>
          <a:ln w="31750" cap="rnd">
            <a:solidFill>
              <a:srgbClr val="1E8C3A"/>
            </a:solidFill>
            <a:round/>
            <a:tailEnd type="triangle" w="med" len="med"/>
          </a:ln>
        </p:spPr>
      </p:sp>
      <p:sp>
        <p:nvSpPr>
          <p:cNvPr id="47" name="Forma 49"/>
          <p:cNvSpPr/>
          <p:nvPr/>
        </p:nvSpPr>
        <p:spPr>
          <a:xfrm>
            <a:off x="9281160" y="2187245"/>
            <a:ext cx="2514600" cy="268834"/>
          </a:xfrm>
          <a:prstGeom prst="rect">
            <a:avLst/>
          </a:prstGeom>
          <a:solidFill>
            <a:srgbClr val="F4B183"/>
          </a:solidFill>
          <a:ln w="15875" cap="rnd">
            <a:solidFill>
              <a:srgbClr val="1E1E1E"/>
            </a:solidFill>
            <a:round/>
          </a:ln>
        </p:spPr>
        <p:txBody>
          <a:bodyPr wrap="square" lIns="73152" tIns="27432" rIns="73152" bIns="27432" anchor="ctr" rtlCol="0">
            <a:noAutofit/>
          </a:bodyPr>
          <a:lstStyle/>
          <a:p>
            <a:pPr algn="ctr">
              <a:spcAft>
                <a:spcPts val="300"/>
              </a:spcAft>
              <a:buNone/>
            </a:pPr>
            <a:r>
              <a:rPr lang="es-AR" sz="1150" b="1" dirty="0">
                <a:solidFill>
                  <a:srgbClr val="1E1E1E"/>
                </a:solidFill>
                <a:latin typeface="Bahnschrift"/>
                <a:ea typeface="Bahnschrift"/>
                <a:cs typeface="Bahnschrift"/>
                <a:sym typeface="Bahnschrift"/>
              </a:rPr>
              <a:t>PKA ↓</a:t>
            </a:r>
            <a:endParaRPr lang="es-AR" sz="1150" dirty="0">
              <a:latin typeface="Bahnschrift"/>
            </a:endParaRPr>
          </a:p>
        </p:txBody>
      </p:sp>
      <p:sp>
        <p:nvSpPr>
          <p:cNvPr id="48" name="Flecha 50_2"/>
          <p:cNvSpPr/>
          <p:nvPr/>
        </p:nvSpPr>
        <p:spPr>
          <a:xfrm>
            <a:off x="10538460" y="2483510"/>
            <a:ext cx="9144" cy="54864"/>
          </a:xfrm>
          <a:custGeom>
            <a:avLst/>
            <a:gdLst/>
            <a:ahLst/>
            <a:cxnLst/>
            <a:rect l="0" t="0" r="r" b="b"/>
            <a:pathLst>
              <a:path w="10" h="60" fill="none">
                <a:moveTo>
                  <a:pt x="0" y="0"/>
                </a:moveTo>
                <a:lnTo>
                  <a:pt x="0" y="60"/>
                </a:lnTo>
              </a:path>
            </a:pathLst>
          </a:custGeom>
          <a:noFill/>
          <a:ln w="31750" cap="rnd">
            <a:solidFill>
              <a:srgbClr val="1E8C3A"/>
            </a:solidFill>
            <a:round/>
            <a:tailEnd type="triangle" w="med" len="med"/>
          </a:ln>
        </p:spPr>
      </p:sp>
      <p:sp>
        <p:nvSpPr>
          <p:cNvPr id="49" name="Forma 52"/>
          <p:cNvSpPr/>
          <p:nvPr/>
        </p:nvSpPr>
        <p:spPr>
          <a:xfrm>
            <a:off x="9281160" y="2565806"/>
            <a:ext cx="2514600" cy="268834"/>
          </a:xfrm>
          <a:prstGeom prst="rect">
            <a:avLst/>
          </a:prstGeom>
          <a:solidFill>
            <a:srgbClr val="F4B183"/>
          </a:solidFill>
          <a:ln w="15875" cap="rnd">
            <a:solidFill>
              <a:srgbClr val="1E1E1E"/>
            </a:solidFill>
            <a:round/>
          </a:ln>
        </p:spPr>
        <p:txBody>
          <a:bodyPr wrap="square" lIns="73152" tIns="27432" rIns="73152" bIns="27432" anchor="ctr" rtlCol="0">
            <a:noAutofit/>
          </a:bodyPr>
          <a:lstStyle/>
          <a:p>
            <a:pPr algn="ctr">
              <a:spcAft>
                <a:spcPts val="300"/>
              </a:spcAft>
              <a:buNone/>
            </a:pPr>
            <a:r>
              <a:rPr lang="es-AR" sz="1150" b="1" dirty="0">
                <a:solidFill>
                  <a:srgbClr val="1E1E1E"/>
                </a:solidFill>
                <a:latin typeface="Bahnschrift"/>
                <a:ea typeface="Bahnschrift"/>
                <a:cs typeface="Bahnschrift"/>
                <a:sym typeface="Bahnschrift"/>
              </a:rPr>
              <a:t>HSL/perilipina ↓</a:t>
            </a:r>
            <a:endParaRPr lang="es-AR" sz="1150" dirty="0">
              <a:latin typeface="Bahnschrift"/>
            </a:endParaRPr>
          </a:p>
        </p:txBody>
      </p:sp>
      <p:sp>
        <p:nvSpPr>
          <p:cNvPr id="50" name="Perla"/>
          <p:cNvSpPr/>
          <p:nvPr/>
        </p:nvSpPr>
        <p:spPr>
          <a:xfrm>
            <a:off x="365760" y="5166360"/>
            <a:ext cx="11430000" cy="13258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Al </a:t>
            </a:r>
            <a:r>
              <a:rPr lang="es-AR" sz="1750" b="1" dirty="0">
                <a:solidFill>
                  <a:srgbClr val="FFFFFF"/>
                </a:solidFill>
                <a:latin typeface="Bahnschrift"/>
                <a:ea typeface="Bahnschrift"/>
                <a:cs typeface="Bahnschrift"/>
                <a:sym typeface="Bahnschrift"/>
              </a:rPr>
              <a:t>disminuir los AG plasmáticos</a:t>
            </a:r>
            <a:r>
              <a:rPr lang="es-AR" sz="1750" dirty="0">
                <a:solidFill>
                  <a:srgbClr val="FFFFFF"/>
                </a:solidFill>
                <a:latin typeface="Bahnschrift"/>
                <a:ea typeface="Bahnschrift"/>
                <a:cs typeface="Bahnschrift"/>
                <a:sym typeface="Bahnschrift"/>
              </a:rPr>
              <a:t> (antilipólisis) también </a:t>
            </a:r>
            <a:r>
              <a:rPr lang="es-AR" sz="1750" b="1" dirty="0">
                <a:solidFill>
                  <a:srgbClr val="FFFFFF"/>
                </a:solidFill>
                <a:latin typeface="Bahnschrift"/>
                <a:ea typeface="Bahnschrift"/>
                <a:cs typeface="Bahnschrift"/>
                <a:sym typeface="Bahnschrift"/>
              </a:rPr>
              <a:t>mejora la acción de la insulina</a:t>
            </a:r>
            <a:r>
              <a:rPr lang="es-AR" sz="1750" dirty="0">
                <a:solidFill>
                  <a:srgbClr val="FFFFFF"/>
                </a:solidFill>
                <a:latin typeface="Bahnschrift"/>
                <a:ea typeface="Bahnschrift"/>
                <a:cs typeface="Bahnschrift"/>
                <a:sym typeface="Bahnschrift"/>
              </a:rPr>
              <a:t> en músculo e hígado: el adipocito regula la sensibilidad de los demás tejidos.</a:t>
            </a:r>
            <a:endParaRPr lang="es-AR" sz="17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38709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5 · MÚSCULO Y ADIPOSO: «ABRIR EL SUMIDERO»</a:t>
            </a:r>
            <a:endParaRPr lang="es-AR" sz="2600" dirty="0">
              <a:latin typeface="Bahnschrift SemiBold Condensed"/>
            </a:endParaRPr>
          </a:p>
        </p:txBody>
      </p:sp>
      <p:sp>
        <p:nvSpPr>
          <p:cNvPr id="5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9"/>
                                        </p:tgtEl>
                                        <p:attrNameLst>
                                          <p:attrName>style.visibility</p:attrName>
                                        </p:attrNameLst>
                                      </p:cBhvr>
                                      <p:to>
                                        <p:strVal val="visible"/>
                                      </p:to>
                                    </p:set>
                                    <p:animEffect transition="in" filter="fade">
                                      <p:cBhvr>
                                        <p:cTn id="5" dur="500"/>
                                        <p:tgtEl>
                                          <p:spTgt spid="1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childTnLst>
                          </p:cTn>
                        </p:par>
                      </p:childTnLst>
                    </p:cTn>
                  </p:par>
                  <p:par>
                    <p:cTn id="26" fill="hold">
                      <p:stCondLst>
                        <p:cond delay="indefinite"/>
                      </p:stCondLst>
                      <p:childTnLst>
                        <p:par>
                          <p:cTn id="21"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2"/>
                                        </p:tgtEl>
                                        <p:attrNameLst>
                                          <p:attrName>style.visibility</p:attrName>
                                        </p:attrNameLst>
                                      </p:cBhvr>
                                      <p:to>
                                        <p:strVal val="visible"/>
                                      </p:to>
                                    </p:set>
                                    <p:animEffect transition="in" filter="wipe(left)">
                                      <p:cBhvr>
                                        <p:cTn id="20" dur="600"/>
                                        <p:tgtEl>
                                          <p:spTgt spid="42"/>
                                        </p:tgtEl>
                                      </p:cBhvr>
                                    </p:animEffect>
                                  </p:childTnLst>
                                </p:cTn>
                              </p:par>
                            </p:childTnLst>
                          </p:cTn>
                        </p:par>
                        <p:par>
                          <p:cTn id="25" fill="hold">
                            <p:stCondLst>
                              <p:cond delay="600"/>
                            </p:stCondLst>
                            <p:childTnLst>
                              <p:par>
                                <p:cTn id="22" presetID="10" presetClass="entr" presetSubtype="0" fill="hold" grpId="0" nodeType="afterEffect">
                                  <p:stCondLst>
                                    <p:cond delay="0"/>
                                  </p:stCondLst>
                                  <p:childTnLst>
                                    <p:set>
                                      <p:cBhvr>
                                        <p:cTn id="23" dur="1" fill="hold">
                                          <p:stCondLst>
                                            <p:cond delay="0"/>
                                          </p:stCondLst>
                                        </p:cTn>
                                        <p:tgtEl>
                                          <p:spTgt spid="43"/>
                                        </p:tgtEl>
                                        <p:attrNameLst>
                                          <p:attrName>style.visibility</p:attrName>
                                        </p:attrNameLst>
                                      </p:cBhvr>
                                      <p:to>
                                        <p:strVal val="visible"/>
                                      </p:to>
                                    </p:set>
                                    <p:animEffect transition="in" filter="fade">
                                      <p:cBhvr>
                                        <p:cTn id="24" dur="500"/>
                                        <p:tgtEl>
                                          <p:spTgt spid="43"/>
                                        </p:tgtEl>
                                      </p:cBhvr>
                                    </p:animEffect>
                                  </p:childTnLst>
                                </p:cTn>
                              </p:par>
                            </p:childTnLst>
                          </p:cTn>
                        </p:par>
                      </p:childTnLst>
                    </p:cTn>
                  </p:par>
                  <p:par>
                    <p:cTn id="35" fill="hold">
                      <p:stCondLst>
                        <p:cond delay="indefinite"/>
                      </p:stCondLst>
                      <p:childTnLst>
                        <p:par>
                          <p:cTn id="30"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wipe(left)">
                                      <p:cBhvr>
                                        <p:cTn id="29" dur="600"/>
                                        <p:tgtEl>
                                          <p:spTgt spid="44"/>
                                        </p:tgtEl>
                                      </p:cBhvr>
                                    </p:animEffect>
                                  </p:childTnLst>
                                </p:cTn>
                              </p:par>
                            </p:childTnLst>
                          </p:cTn>
                        </p:par>
                        <p:par>
                          <p:cTn id="34" fill="hold">
                            <p:stCondLst>
                              <p:cond delay="600"/>
                            </p:stCondLst>
                            <p:childTnLst>
                              <p:par>
                                <p:cTn id="31" presetID="10" presetClass="entr" presetSubtype="0" fill="hold" grpId="0" nodeType="after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fade">
                                      <p:cBhvr>
                                        <p:cTn id="33" dur="500"/>
                                        <p:tgtEl>
                                          <p:spTgt spid="45"/>
                                        </p:tgtEl>
                                      </p:cBhvr>
                                    </p:animEffect>
                                  </p:childTnLst>
                                </p:cTn>
                              </p:par>
                            </p:childTnLst>
                          </p:cTn>
                        </p:par>
                      </p:childTnLst>
                    </p:cTn>
                  </p:par>
                  <p:par>
                    <p:cTn id="44" fill="hold">
                      <p:stCondLst>
                        <p:cond delay="indefinite"/>
                      </p:stCondLst>
                      <p:childTnLst>
                        <p:par>
                          <p:cTn id="39"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46"/>
                                        </p:tgtEl>
                                        <p:attrNameLst>
                                          <p:attrName>style.visibility</p:attrName>
                                        </p:attrNameLst>
                                      </p:cBhvr>
                                      <p:to>
                                        <p:strVal val="visible"/>
                                      </p:to>
                                    </p:set>
                                    <p:animEffect transition="in" filter="wipe(left)">
                                      <p:cBhvr>
                                        <p:cTn id="38" dur="600"/>
                                        <p:tgtEl>
                                          <p:spTgt spid="46"/>
                                        </p:tgtEl>
                                      </p:cBhvr>
                                    </p:animEffect>
                                  </p:childTnLst>
                                </p:cTn>
                              </p:par>
                            </p:childTnLst>
                          </p:cTn>
                        </p:par>
                        <p:par>
                          <p:cTn id="43" fill="hold">
                            <p:stCondLst>
                              <p:cond delay="600"/>
                            </p:stCondLst>
                            <p:childTnLst>
                              <p:par>
                                <p:cTn id="40" presetID="10" presetClass="entr" presetSubtype="0" fill="hold" grpId="0" nodeType="after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fade">
                                      <p:cBhvr>
                                        <p:cTn id="42" dur="500"/>
                                        <p:tgtEl>
                                          <p:spTgt spid="47"/>
                                        </p:tgtEl>
                                      </p:cBhvr>
                                    </p:animEffect>
                                  </p:childTnLst>
                                </p:cTn>
                              </p:par>
                            </p:childTnLst>
                          </p:cTn>
                        </p:par>
                      </p:childTnLst>
                    </p:cTn>
                  </p:par>
                  <p:par>
                    <p:cTn id="53" fill="hold">
                      <p:stCondLst>
                        <p:cond delay="indefinite"/>
                      </p:stCondLst>
                      <p:childTnLst>
                        <p:par>
                          <p:cTn id="48"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wipe(left)">
                                      <p:cBhvr>
                                        <p:cTn id="47" dur="600"/>
                                        <p:tgtEl>
                                          <p:spTgt spid="48"/>
                                        </p:tgtEl>
                                      </p:cBhvr>
                                    </p:animEffect>
                                  </p:childTnLst>
                                </p:cTn>
                              </p:par>
                            </p:childTnLst>
                          </p:cTn>
                        </p:par>
                        <p:par>
                          <p:cTn id="52" fill="hold">
                            <p:stCondLst>
                              <p:cond delay="600"/>
                            </p:stCondLst>
                            <p:childTnLst>
                              <p:par>
                                <p:cTn id="49" presetID="10" presetClass="entr" presetSubtype="0" fill="hold" grpId="0" nodeType="afterEffect">
                                  <p:stCondLst>
                                    <p:cond delay="0"/>
                                  </p:stCondLst>
                                  <p:childTnLst>
                                    <p:set>
                                      <p:cBhvr>
                                        <p:cTn id="50" dur="1" fill="hold">
                                          <p:stCondLst>
                                            <p:cond delay="0"/>
                                          </p:stCondLst>
                                        </p:cTn>
                                        <p:tgtEl>
                                          <p:spTgt spid="49"/>
                                        </p:tgtEl>
                                        <p:attrNameLst>
                                          <p:attrName>style.visibility</p:attrName>
                                        </p:attrNameLst>
                                      </p:cBhvr>
                                      <p:to>
                                        <p:strVal val="visible"/>
                                      </p:to>
                                    </p:set>
                                    <p:animEffect transition="in" filter="fade">
                                      <p:cBhvr>
                                        <p:cTn id="51" dur="500"/>
                                        <p:tgtEl>
                                          <p:spTgt spid="49"/>
                                        </p:tgtEl>
                                      </p:cBhvr>
                                    </p:animEffect>
                                  </p:childTnLst>
                                </p:cTn>
                              </p:par>
                            </p:childTnLst>
                          </p:cTn>
                        </p:par>
                      </p:childTnLst>
                    </p:cTn>
                  </p:par>
                  <p:par>
                    <p:cTn id="58" fill="hold">
                      <p:stCondLst>
                        <p:cond delay="indefinite"/>
                      </p:stCondLst>
                      <p:childTnLst>
                        <p:par>
                          <p:cTn id="57"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50"/>
                                        </p:tgtEl>
                                        <p:attrNameLst>
                                          <p:attrName>style.visibility</p:attrName>
                                        </p:attrNameLst>
                                      </p:cBhvr>
                                      <p:to>
                                        <p:strVal val="visible"/>
                                      </p:to>
                                    </p:set>
                                    <p:animEffect transition="in" filter="fade">
                                      <p:cBhvr>
                                        <p:cTn id="56"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Lst>
  </p:timing>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Pool de glucosa plasmática"/>
          <p:cNvGrpSpPr/>
          <p:nvPr/>
        </p:nvGrpSpPr>
        <p:grpSpPr>
          <a:xfrm>
            <a:off x="4754880" y="2286000"/>
            <a:ext cx="2377440" cy="2743200"/>
            <a:chOff x="4754880" y="2286000"/>
            <a:chExt cx="2377440" cy="2743200"/>
          </a:xfrm>
        </p:grpSpPr>
        <p:sp>
          <p:nvSpPr>
            <p:cNvPr id="5" name="Forma 4"/>
            <p:cNvSpPr/>
            <p:nvPr/>
          </p:nvSpPr>
          <p:spPr>
            <a:xfrm>
              <a:off x="4754880" y="2286000"/>
              <a:ext cx="2377440" cy="2743200"/>
            </a:xfrm>
            <a:prstGeom prst="rect">
              <a:avLst/>
            </a:prstGeom>
            <a:solidFill>
              <a:srgbClr val="FFFFFF">
                <a:alpha val="45000"/>
              </a:srgbClr>
            </a:solidFill>
            <a:ln w="25400" cap="rnd">
              <a:solidFill>
                <a:srgbClr val="1E1E1E"/>
              </a:solidFill>
              <a:round/>
            </a:ln>
          </p:spPr>
        </p:sp>
        <p:sp>
          <p:nvSpPr>
            <p:cNvPr id="6" name="Forma 5"/>
            <p:cNvSpPr/>
            <p:nvPr/>
          </p:nvSpPr>
          <p:spPr>
            <a:xfrm>
              <a:off x="4782312" y="3657600"/>
              <a:ext cx="2322576" cy="1344168"/>
            </a:xfrm>
            <a:prstGeom prst="rect">
              <a:avLst/>
            </a:prstGeom>
            <a:gradFill rotWithShape="1">
              <a:gsLst>
                <a:gs pos="0">
                  <a:srgbClr val="85C1E9"/>
                </a:gs>
                <a:gs pos="100000">
                  <a:srgbClr val="2E86C1"/>
                </a:gs>
              </a:gsLst>
              <a:lin ang="5400000" scaled="0"/>
            </a:gradFill>
            <a:ln>
              <a:noFill/>
            </a:ln>
          </p:spPr>
        </p:sp>
      </p:grpSp>
      <p:sp>
        <p:nvSpPr>
          <p:cNvPr id="7" name="Forma 6"/>
          <p:cNvSpPr txBox="1"/>
          <p:nvPr/>
        </p:nvSpPr>
        <p:spPr>
          <a:xfrm>
            <a:off x="4754880" y="5074920"/>
            <a:ext cx="2377440" cy="320040"/>
          </a:xfrm>
          <a:prstGeom prst="rect">
            <a:avLst/>
          </a:prstGeom>
          <a:noFill/>
          <a:ln>
            <a:noFill/>
          </a:ln>
        </p:spPr>
        <p:txBody>
          <a:bodyPr wrap="square" lIns="0" tIns="0" rIns="0" bIns="0" anchor="t" rtlCol="0">
            <a:noAutofit/>
          </a:bodyPr>
          <a:lstStyle/>
          <a:p>
            <a:pPr algn="ctr">
              <a:spcAft>
                <a:spcPts val="300"/>
              </a:spcAft>
              <a:buNone/>
            </a:pPr>
            <a:r>
              <a:rPr lang="es-AR" sz="1350" b="1" dirty="0">
                <a:solidFill>
                  <a:srgbClr val="1F4E79"/>
                </a:solidFill>
                <a:latin typeface="Bahnschrift SemiBold Condensed"/>
                <a:ea typeface="Bahnschrift SemiBold Condensed"/>
                <a:cs typeface="Bahnschrift SemiBold Condensed"/>
                <a:sym typeface="Bahnschrift SemiBold Condensed"/>
              </a:rPr>
              <a:t>GLUCOSA PLASMÁTICA</a:t>
            </a:r>
            <a:endParaRPr lang="es-AR" sz="1350" dirty="0">
              <a:latin typeface="Bahnschrift SemiBold Condensed"/>
            </a:endParaRPr>
          </a:p>
        </p:txBody>
      </p:sp>
      <p:sp>
        <p:nvSpPr>
          <p:cNvPr id="8" name="Nivel elevado"/>
          <p:cNvSpPr/>
          <p:nvPr/>
        </p:nvSpPr>
        <p:spPr>
          <a:xfrm>
            <a:off x="4782312" y="2743200"/>
            <a:ext cx="2322576" cy="914400"/>
          </a:xfrm>
          <a:prstGeom prst="rect">
            <a:avLst/>
          </a:prstGeom>
          <a:solidFill>
            <a:srgbClr val="2E86C1">
              <a:alpha val="60000"/>
            </a:srgbClr>
          </a:solidFill>
          <a:ln>
            <a:noFill/>
          </a:ln>
        </p:spPr>
      </p:sp>
      <p:grpSp>
        <p:nvGrpSpPr>
          <p:cNvPr id="9" name="Intestino"/>
          <p:cNvGrpSpPr/>
          <p:nvPr/>
        </p:nvGrpSpPr>
        <p:grpSpPr>
          <a:xfrm>
            <a:off x="365760" y="1005840"/>
            <a:ext cx="1645920" cy="1399032"/>
            <a:chOff x="365760" y="1005840"/>
            <a:chExt cx="1645920" cy="1399032"/>
          </a:xfrm>
        </p:grpSpPr>
        <p:sp>
          <p:nvSpPr>
            <p:cNvPr id="10" name="Forma 9"/>
            <p:cNvSpPr/>
            <p:nvPr/>
          </p:nvSpPr>
          <p:spPr>
            <a:xfrm>
              <a:off x="365760" y="1005840"/>
              <a:ext cx="1645920" cy="1399032"/>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1" name="Forma 10"/>
            <p:cNvSpPr/>
            <p:nvPr/>
          </p:nvSpPr>
          <p:spPr>
            <a:xfrm>
              <a:off x="365760" y="1005840"/>
              <a:ext cx="1645920" cy="1399032"/>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12" name="Forma 11"/>
            <p:cNvSpPr/>
            <p:nvPr/>
          </p:nvSpPr>
          <p:spPr>
            <a:xfrm>
              <a:off x="365760" y="1005840"/>
              <a:ext cx="1645920" cy="1399032"/>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3" name="Forma 12"/>
            <p:cNvSpPr/>
            <p:nvPr/>
          </p:nvSpPr>
          <p:spPr>
            <a:xfrm>
              <a:off x="365760" y="1005840"/>
              <a:ext cx="1645920" cy="1399032"/>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4" name="Forma 13"/>
            <p:cNvSpPr/>
            <p:nvPr/>
          </p:nvSpPr>
          <p:spPr>
            <a:xfrm>
              <a:off x="365760" y="1005840"/>
              <a:ext cx="1645920" cy="1399032"/>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5" name="Hígado"/>
          <p:cNvGrpSpPr/>
          <p:nvPr/>
        </p:nvGrpSpPr>
        <p:grpSpPr>
          <a:xfrm>
            <a:off x="365760" y="3291840"/>
            <a:ext cx="2377440" cy="1680375"/>
            <a:chOff x="365760" y="3291840"/>
            <a:chExt cx="2377440" cy="1680375"/>
          </a:xfrm>
        </p:grpSpPr>
        <p:sp>
          <p:nvSpPr>
            <p:cNvPr id="16" name="Vesícula biliar"/>
            <p:cNvSpPr/>
            <p:nvPr/>
          </p:nvSpPr>
          <p:spPr>
            <a:xfrm>
              <a:off x="1007669" y="444157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7" name="Forma 16"/>
            <p:cNvSpPr/>
            <p:nvPr/>
          </p:nvSpPr>
          <p:spPr>
            <a:xfrm>
              <a:off x="365760" y="329184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8" name="Forma 17"/>
            <p:cNvSpPr/>
            <p:nvPr/>
          </p:nvSpPr>
          <p:spPr>
            <a:xfrm>
              <a:off x="365760" y="329184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9" name="Forma 18"/>
            <p:cNvSpPr/>
            <p:nvPr/>
          </p:nvSpPr>
          <p:spPr>
            <a:xfrm>
              <a:off x="365760" y="329184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0" name="Músculo"/>
          <p:cNvGrpSpPr/>
          <p:nvPr/>
        </p:nvGrpSpPr>
        <p:grpSpPr>
          <a:xfrm>
            <a:off x="8229600" y="1188720"/>
            <a:ext cx="3474720" cy="1139708"/>
            <a:chOff x="8229600" y="1188720"/>
            <a:chExt cx="3474720" cy="1139708"/>
          </a:xfrm>
        </p:grpSpPr>
        <p:grpSp>
          <p:nvGrpSpPr>
            <p:cNvPr id="21" name="Fibra"/>
            <p:cNvGrpSpPr/>
            <p:nvPr/>
          </p:nvGrpSpPr>
          <p:grpSpPr>
            <a:xfrm>
              <a:off x="8229600" y="1188720"/>
              <a:ext cx="3335731" cy="555955"/>
              <a:chOff x="8229600" y="1188720"/>
              <a:chExt cx="3335731" cy="555955"/>
            </a:xfrm>
          </p:grpSpPr>
          <p:sp>
            <p:nvSpPr>
              <p:cNvPr id="22" name="Forma 21"/>
              <p:cNvSpPr/>
              <p:nvPr/>
            </p:nvSpPr>
            <p:spPr>
              <a:xfrm>
                <a:off x="8229600" y="1188720"/>
                <a:ext cx="3335731" cy="555955"/>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3" name="Forma 22"/>
              <p:cNvSpPr/>
              <p:nvPr/>
            </p:nvSpPr>
            <p:spPr>
              <a:xfrm>
                <a:off x="8368589" y="1188720"/>
                <a:ext cx="3057754" cy="555955"/>
              </a:xfrm>
              <a:custGeom>
                <a:avLst/>
                <a:gdLst/>
                <a:ahLst/>
                <a:cxnLst/>
                <a:rect l="0" t="0" r="r" b="b"/>
                <a:pathLst>
                  <a:path w="1000" h="1000" fill="none">
                    <a:moveTo>
                      <a:pt x="12" y="80"/>
                    </a:moveTo>
                    <a:lnTo>
                      <a:pt x="12" y="920"/>
                    </a:lnTo>
                  </a:path>
                  <a:path w="1000" h="1000" fill="none">
                    <a:moveTo>
                      <a:pt x="37" y="80"/>
                    </a:moveTo>
                    <a:lnTo>
                      <a:pt x="37" y="920"/>
                    </a:lnTo>
                  </a:path>
                  <a:path w="1000" h="1000" fill="none">
                    <a:moveTo>
                      <a:pt x="62" y="80"/>
                    </a:moveTo>
                    <a:lnTo>
                      <a:pt x="62" y="920"/>
                    </a:lnTo>
                  </a:path>
                  <a:path w="1000" h="1000" fill="none">
                    <a:moveTo>
                      <a:pt x="87" y="80"/>
                    </a:moveTo>
                    <a:lnTo>
                      <a:pt x="87" y="920"/>
                    </a:lnTo>
                  </a:path>
                  <a:path w="1000" h="1000" fill="none">
                    <a:moveTo>
                      <a:pt x="112" y="80"/>
                    </a:moveTo>
                    <a:lnTo>
                      <a:pt x="112" y="920"/>
                    </a:lnTo>
                  </a:path>
                  <a:path w="1000" h="1000" fill="none">
                    <a:moveTo>
                      <a:pt x="137" y="80"/>
                    </a:moveTo>
                    <a:lnTo>
                      <a:pt x="137" y="920"/>
                    </a:lnTo>
                  </a:path>
                  <a:path w="1000" h="1000" fill="none">
                    <a:moveTo>
                      <a:pt x="162" y="80"/>
                    </a:moveTo>
                    <a:lnTo>
                      <a:pt x="162" y="920"/>
                    </a:lnTo>
                  </a:path>
                  <a:path w="1000" h="1000" fill="none">
                    <a:moveTo>
                      <a:pt x="187" y="80"/>
                    </a:moveTo>
                    <a:lnTo>
                      <a:pt x="187" y="920"/>
                    </a:lnTo>
                  </a:path>
                  <a:path w="1000" h="1000" fill="none">
                    <a:moveTo>
                      <a:pt x="212" y="80"/>
                    </a:moveTo>
                    <a:lnTo>
                      <a:pt x="212" y="920"/>
                    </a:lnTo>
                  </a:path>
                  <a:path w="1000" h="1000" fill="none">
                    <a:moveTo>
                      <a:pt x="237" y="80"/>
                    </a:moveTo>
                    <a:lnTo>
                      <a:pt x="237" y="920"/>
                    </a:lnTo>
                  </a:path>
                  <a:path w="1000" h="1000" fill="none">
                    <a:moveTo>
                      <a:pt x="262" y="80"/>
                    </a:moveTo>
                    <a:lnTo>
                      <a:pt x="262" y="920"/>
                    </a:lnTo>
                  </a:path>
                  <a:path w="1000" h="1000" fill="none">
                    <a:moveTo>
                      <a:pt x="287" y="80"/>
                    </a:moveTo>
                    <a:lnTo>
                      <a:pt x="287" y="920"/>
                    </a:lnTo>
                  </a:path>
                  <a:path w="1000" h="1000" fill="none">
                    <a:moveTo>
                      <a:pt x="312" y="80"/>
                    </a:moveTo>
                    <a:lnTo>
                      <a:pt x="312" y="920"/>
                    </a:lnTo>
                  </a:path>
                  <a:path w="1000" h="1000" fill="none">
                    <a:moveTo>
                      <a:pt x="337" y="80"/>
                    </a:moveTo>
                    <a:lnTo>
                      <a:pt x="337" y="920"/>
                    </a:lnTo>
                  </a:path>
                  <a:path w="1000" h="1000" fill="none">
                    <a:moveTo>
                      <a:pt x="362" y="80"/>
                    </a:moveTo>
                    <a:lnTo>
                      <a:pt x="362" y="920"/>
                    </a:lnTo>
                  </a:path>
                  <a:path w="1000" h="1000" fill="none">
                    <a:moveTo>
                      <a:pt x="387" y="80"/>
                    </a:moveTo>
                    <a:lnTo>
                      <a:pt x="387" y="920"/>
                    </a:lnTo>
                  </a:path>
                  <a:path w="1000" h="1000" fill="none">
                    <a:moveTo>
                      <a:pt x="412" y="80"/>
                    </a:moveTo>
                    <a:lnTo>
                      <a:pt x="412" y="920"/>
                    </a:lnTo>
                  </a:path>
                  <a:path w="1000" h="1000" fill="none">
                    <a:moveTo>
                      <a:pt x="437" y="80"/>
                    </a:moveTo>
                    <a:lnTo>
                      <a:pt x="437" y="920"/>
                    </a:lnTo>
                  </a:path>
                  <a:path w="1000" h="1000" fill="none">
                    <a:moveTo>
                      <a:pt x="462" y="80"/>
                    </a:moveTo>
                    <a:lnTo>
                      <a:pt x="462" y="920"/>
                    </a:lnTo>
                  </a:path>
                  <a:path w="1000" h="1000" fill="none">
                    <a:moveTo>
                      <a:pt x="487" y="80"/>
                    </a:moveTo>
                    <a:lnTo>
                      <a:pt x="487" y="920"/>
                    </a:lnTo>
                  </a:path>
                  <a:path w="1000" h="1000" fill="none">
                    <a:moveTo>
                      <a:pt x="512" y="80"/>
                    </a:moveTo>
                    <a:lnTo>
                      <a:pt x="512" y="920"/>
                    </a:lnTo>
                  </a:path>
                  <a:path w="1000" h="1000" fill="none">
                    <a:moveTo>
                      <a:pt x="537" y="80"/>
                    </a:moveTo>
                    <a:lnTo>
                      <a:pt x="537" y="920"/>
                    </a:lnTo>
                  </a:path>
                  <a:path w="1000" h="1000" fill="none">
                    <a:moveTo>
                      <a:pt x="562" y="80"/>
                    </a:moveTo>
                    <a:lnTo>
                      <a:pt x="562" y="920"/>
                    </a:lnTo>
                  </a:path>
                  <a:path w="1000" h="1000" fill="none">
                    <a:moveTo>
                      <a:pt x="587" y="80"/>
                    </a:moveTo>
                    <a:lnTo>
                      <a:pt x="587" y="920"/>
                    </a:lnTo>
                  </a:path>
                  <a:path w="1000" h="1000" fill="none">
                    <a:moveTo>
                      <a:pt x="612" y="80"/>
                    </a:moveTo>
                    <a:lnTo>
                      <a:pt x="612" y="920"/>
                    </a:lnTo>
                  </a:path>
                  <a:path w="1000" h="1000" fill="none">
                    <a:moveTo>
                      <a:pt x="637" y="80"/>
                    </a:moveTo>
                    <a:lnTo>
                      <a:pt x="637" y="920"/>
                    </a:lnTo>
                  </a:path>
                  <a:path w="1000" h="1000" fill="none">
                    <a:moveTo>
                      <a:pt x="662" y="80"/>
                    </a:moveTo>
                    <a:lnTo>
                      <a:pt x="662" y="920"/>
                    </a:lnTo>
                  </a:path>
                  <a:path w="1000" h="1000" fill="none">
                    <a:moveTo>
                      <a:pt x="687" y="80"/>
                    </a:moveTo>
                    <a:lnTo>
                      <a:pt x="687" y="920"/>
                    </a:lnTo>
                  </a:path>
                  <a:path w="1000" h="1000" fill="none">
                    <a:moveTo>
                      <a:pt x="712" y="80"/>
                    </a:moveTo>
                    <a:lnTo>
                      <a:pt x="712" y="920"/>
                    </a:lnTo>
                  </a:path>
                  <a:path w="1000" h="1000" fill="none">
                    <a:moveTo>
                      <a:pt x="737" y="80"/>
                    </a:moveTo>
                    <a:lnTo>
                      <a:pt x="737" y="920"/>
                    </a:lnTo>
                  </a:path>
                  <a:path w="1000" h="1000" fill="none">
                    <a:moveTo>
                      <a:pt x="762" y="80"/>
                    </a:moveTo>
                    <a:lnTo>
                      <a:pt x="762" y="920"/>
                    </a:lnTo>
                  </a:path>
                  <a:path w="1000" h="1000" fill="none">
                    <a:moveTo>
                      <a:pt x="787" y="80"/>
                    </a:moveTo>
                    <a:lnTo>
                      <a:pt x="787" y="920"/>
                    </a:lnTo>
                  </a:path>
                  <a:path w="1000" h="1000" fill="none">
                    <a:moveTo>
                      <a:pt x="812" y="80"/>
                    </a:moveTo>
                    <a:lnTo>
                      <a:pt x="812" y="920"/>
                    </a:lnTo>
                  </a:path>
                  <a:path w="1000" h="1000" fill="none">
                    <a:moveTo>
                      <a:pt x="837" y="80"/>
                    </a:moveTo>
                    <a:lnTo>
                      <a:pt x="837" y="920"/>
                    </a:lnTo>
                  </a:path>
                  <a:path w="1000" h="1000" fill="none">
                    <a:moveTo>
                      <a:pt x="862" y="80"/>
                    </a:moveTo>
                    <a:lnTo>
                      <a:pt x="862" y="920"/>
                    </a:lnTo>
                  </a:path>
                  <a:path w="1000" h="1000" fill="none">
                    <a:moveTo>
                      <a:pt x="887" y="80"/>
                    </a:moveTo>
                    <a:lnTo>
                      <a:pt x="887" y="920"/>
                    </a:lnTo>
                  </a:path>
                  <a:path w="1000" h="1000" fill="none">
                    <a:moveTo>
                      <a:pt x="912" y="80"/>
                    </a:moveTo>
                    <a:lnTo>
                      <a:pt x="912" y="920"/>
                    </a:lnTo>
                  </a:path>
                  <a:path w="1000" h="1000" fill="none">
                    <a:moveTo>
                      <a:pt x="937" y="80"/>
                    </a:moveTo>
                    <a:lnTo>
                      <a:pt x="937" y="920"/>
                    </a:lnTo>
                  </a:path>
                  <a:path w="1000" h="1000" fill="none">
                    <a:moveTo>
                      <a:pt x="962" y="80"/>
                    </a:moveTo>
                    <a:lnTo>
                      <a:pt x="962" y="920"/>
                    </a:lnTo>
                  </a:path>
                  <a:path w="1000" h="1000" fill="none">
                    <a:moveTo>
                      <a:pt x="987" y="80"/>
                    </a:moveTo>
                    <a:lnTo>
                      <a:pt x="987" y="920"/>
                    </a:lnTo>
                  </a:path>
                </a:pathLst>
              </a:custGeom>
              <a:noFill/>
              <a:ln w="12700" cap="rnd">
                <a:solidFill>
                  <a:srgbClr val="822E27"/>
                </a:solidFill>
                <a:round/>
              </a:ln>
            </p:spPr>
          </p:sp>
          <p:sp>
            <p:nvSpPr>
              <p:cNvPr id="24" name="Forma 23"/>
              <p:cNvSpPr/>
              <p:nvPr/>
            </p:nvSpPr>
            <p:spPr>
              <a:xfrm>
                <a:off x="8896746" y="1210958"/>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10064252" y="1210958"/>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6" name="Forma 25"/>
              <p:cNvSpPr/>
              <p:nvPr/>
            </p:nvSpPr>
            <p:spPr>
              <a:xfrm>
                <a:off x="11064972" y="1210958"/>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6"/>
              <p:cNvSpPr/>
              <p:nvPr/>
            </p:nvSpPr>
            <p:spPr>
              <a:xfrm>
                <a:off x="11331830" y="1210958"/>
                <a:ext cx="222382" cy="51147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8" name="Fibra_2"/>
            <p:cNvGrpSpPr/>
            <p:nvPr/>
          </p:nvGrpSpPr>
          <p:grpSpPr>
            <a:xfrm>
              <a:off x="8368589" y="1772473"/>
              <a:ext cx="3335731" cy="555955"/>
              <a:chOff x="8368589" y="1772473"/>
              <a:chExt cx="3335731" cy="555955"/>
            </a:xfrm>
          </p:grpSpPr>
          <p:sp>
            <p:nvSpPr>
              <p:cNvPr id="29" name="Forma 28"/>
              <p:cNvSpPr/>
              <p:nvPr/>
            </p:nvSpPr>
            <p:spPr>
              <a:xfrm>
                <a:off x="8368589" y="1772473"/>
                <a:ext cx="3335731" cy="555955"/>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0" name="Forma 29"/>
              <p:cNvSpPr/>
              <p:nvPr/>
            </p:nvSpPr>
            <p:spPr>
              <a:xfrm>
                <a:off x="8507578" y="1772473"/>
                <a:ext cx="3057754" cy="555955"/>
              </a:xfrm>
              <a:custGeom>
                <a:avLst/>
                <a:gdLst/>
                <a:ahLst/>
                <a:cxnLst/>
                <a:rect l="0" t="0" r="r" b="b"/>
                <a:pathLst>
                  <a:path w="1000" h="1000" fill="none">
                    <a:moveTo>
                      <a:pt x="12" y="80"/>
                    </a:moveTo>
                    <a:lnTo>
                      <a:pt x="12" y="920"/>
                    </a:lnTo>
                  </a:path>
                  <a:path w="1000" h="1000" fill="none">
                    <a:moveTo>
                      <a:pt x="37" y="80"/>
                    </a:moveTo>
                    <a:lnTo>
                      <a:pt x="37" y="920"/>
                    </a:lnTo>
                  </a:path>
                  <a:path w="1000" h="1000" fill="none">
                    <a:moveTo>
                      <a:pt x="62" y="80"/>
                    </a:moveTo>
                    <a:lnTo>
                      <a:pt x="62" y="920"/>
                    </a:lnTo>
                  </a:path>
                  <a:path w="1000" h="1000" fill="none">
                    <a:moveTo>
                      <a:pt x="87" y="80"/>
                    </a:moveTo>
                    <a:lnTo>
                      <a:pt x="87" y="920"/>
                    </a:lnTo>
                  </a:path>
                  <a:path w="1000" h="1000" fill="none">
                    <a:moveTo>
                      <a:pt x="112" y="80"/>
                    </a:moveTo>
                    <a:lnTo>
                      <a:pt x="112" y="920"/>
                    </a:lnTo>
                  </a:path>
                  <a:path w="1000" h="1000" fill="none">
                    <a:moveTo>
                      <a:pt x="137" y="80"/>
                    </a:moveTo>
                    <a:lnTo>
                      <a:pt x="137" y="920"/>
                    </a:lnTo>
                  </a:path>
                  <a:path w="1000" h="1000" fill="none">
                    <a:moveTo>
                      <a:pt x="162" y="80"/>
                    </a:moveTo>
                    <a:lnTo>
                      <a:pt x="162" y="920"/>
                    </a:lnTo>
                  </a:path>
                  <a:path w="1000" h="1000" fill="none">
                    <a:moveTo>
                      <a:pt x="187" y="80"/>
                    </a:moveTo>
                    <a:lnTo>
                      <a:pt x="187" y="920"/>
                    </a:lnTo>
                  </a:path>
                  <a:path w="1000" h="1000" fill="none">
                    <a:moveTo>
                      <a:pt x="212" y="80"/>
                    </a:moveTo>
                    <a:lnTo>
                      <a:pt x="212" y="920"/>
                    </a:lnTo>
                  </a:path>
                  <a:path w="1000" h="1000" fill="none">
                    <a:moveTo>
                      <a:pt x="237" y="80"/>
                    </a:moveTo>
                    <a:lnTo>
                      <a:pt x="237" y="920"/>
                    </a:lnTo>
                  </a:path>
                  <a:path w="1000" h="1000" fill="none">
                    <a:moveTo>
                      <a:pt x="262" y="80"/>
                    </a:moveTo>
                    <a:lnTo>
                      <a:pt x="262" y="920"/>
                    </a:lnTo>
                  </a:path>
                  <a:path w="1000" h="1000" fill="none">
                    <a:moveTo>
                      <a:pt x="287" y="80"/>
                    </a:moveTo>
                    <a:lnTo>
                      <a:pt x="287" y="920"/>
                    </a:lnTo>
                  </a:path>
                  <a:path w="1000" h="1000" fill="none">
                    <a:moveTo>
                      <a:pt x="312" y="80"/>
                    </a:moveTo>
                    <a:lnTo>
                      <a:pt x="312" y="920"/>
                    </a:lnTo>
                  </a:path>
                  <a:path w="1000" h="1000" fill="none">
                    <a:moveTo>
                      <a:pt x="337" y="80"/>
                    </a:moveTo>
                    <a:lnTo>
                      <a:pt x="337" y="920"/>
                    </a:lnTo>
                  </a:path>
                  <a:path w="1000" h="1000" fill="none">
                    <a:moveTo>
                      <a:pt x="362" y="80"/>
                    </a:moveTo>
                    <a:lnTo>
                      <a:pt x="362" y="920"/>
                    </a:lnTo>
                  </a:path>
                  <a:path w="1000" h="1000" fill="none">
                    <a:moveTo>
                      <a:pt x="387" y="80"/>
                    </a:moveTo>
                    <a:lnTo>
                      <a:pt x="387" y="920"/>
                    </a:lnTo>
                  </a:path>
                  <a:path w="1000" h="1000" fill="none">
                    <a:moveTo>
                      <a:pt x="412" y="80"/>
                    </a:moveTo>
                    <a:lnTo>
                      <a:pt x="412" y="920"/>
                    </a:lnTo>
                  </a:path>
                  <a:path w="1000" h="1000" fill="none">
                    <a:moveTo>
                      <a:pt x="437" y="80"/>
                    </a:moveTo>
                    <a:lnTo>
                      <a:pt x="437" y="920"/>
                    </a:lnTo>
                  </a:path>
                  <a:path w="1000" h="1000" fill="none">
                    <a:moveTo>
                      <a:pt x="462" y="80"/>
                    </a:moveTo>
                    <a:lnTo>
                      <a:pt x="462" y="920"/>
                    </a:lnTo>
                  </a:path>
                  <a:path w="1000" h="1000" fill="none">
                    <a:moveTo>
                      <a:pt x="487" y="80"/>
                    </a:moveTo>
                    <a:lnTo>
                      <a:pt x="487" y="920"/>
                    </a:lnTo>
                  </a:path>
                  <a:path w="1000" h="1000" fill="none">
                    <a:moveTo>
                      <a:pt x="512" y="80"/>
                    </a:moveTo>
                    <a:lnTo>
                      <a:pt x="512" y="920"/>
                    </a:lnTo>
                  </a:path>
                  <a:path w="1000" h="1000" fill="none">
                    <a:moveTo>
                      <a:pt x="537" y="80"/>
                    </a:moveTo>
                    <a:lnTo>
                      <a:pt x="537" y="920"/>
                    </a:lnTo>
                  </a:path>
                  <a:path w="1000" h="1000" fill="none">
                    <a:moveTo>
                      <a:pt x="562" y="80"/>
                    </a:moveTo>
                    <a:lnTo>
                      <a:pt x="562" y="920"/>
                    </a:lnTo>
                  </a:path>
                  <a:path w="1000" h="1000" fill="none">
                    <a:moveTo>
                      <a:pt x="587" y="80"/>
                    </a:moveTo>
                    <a:lnTo>
                      <a:pt x="587" y="920"/>
                    </a:lnTo>
                  </a:path>
                  <a:path w="1000" h="1000" fill="none">
                    <a:moveTo>
                      <a:pt x="612" y="80"/>
                    </a:moveTo>
                    <a:lnTo>
                      <a:pt x="612" y="920"/>
                    </a:lnTo>
                  </a:path>
                  <a:path w="1000" h="1000" fill="none">
                    <a:moveTo>
                      <a:pt x="637" y="80"/>
                    </a:moveTo>
                    <a:lnTo>
                      <a:pt x="637" y="920"/>
                    </a:lnTo>
                  </a:path>
                  <a:path w="1000" h="1000" fill="none">
                    <a:moveTo>
                      <a:pt x="662" y="80"/>
                    </a:moveTo>
                    <a:lnTo>
                      <a:pt x="662" y="920"/>
                    </a:lnTo>
                  </a:path>
                  <a:path w="1000" h="1000" fill="none">
                    <a:moveTo>
                      <a:pt x="687" y="80"/>
                    </a:moveTo>
                    <a:lnTo>
                      <a:pt x="687" y="920"/>
                    </a:lnTo>
                  </a:path>
                  <a:path w="1000" h="1000" fill="none">
                    <a:moveTo>
                      <a:pt x="712" y="80"/>
                    </a:moveTo>
                    <a:lnTo>
                      <a:pt x="712" y="920"/>
                    </a:lnTo>
                  </a:path>
                  <a:path w="1000" h="1000" fill="none">
                    <a:moveTo>
                      <a:pt x="737" y="80"/>
                    </a:moveTo>
                    <a:lnTo>
                      <a:pt x="737" y="920"/>
                    </a:lnTo>
                  </a:path>
                  <a:path w="1000" h="1000" fill="none">
                    <a:moveTo>
                      <a:pt x="762" y="80"/>
                    </a:moveTo>
                    <a:lnTo>
                      <a:pt x="762" y="920"/>
                    </a:lnTo>
                  </a:path>
                  <a:path w="1000" h="1000" fill="none">
                    <a:moveTo>
                      <a:pt x="787" y="80"/>
                    </a:moveTo>
                    <a:lnTo>
                      <a:pt x="787" y="920"/>
                    </a:lnTo>
                  </a:path>
                  <a:path w="1000" h="1000" fill="none">
                    <a:moveTo>
                      <a:pt x="812" y="80"/>
                    </a:moveTo>
                    <a:lnTo>
                      <a:pt x="812" y="920"/>
                    </a:lnTo>
                  </a:path>
                  <a:path w="1000" h="1000" fill="none">
                    <a:moveTo>
                      <a:pt x="837" y="80"/>
                    </a:moveTo>
                    <a:lnTo>
                      <a:pt x="837" y="920"/>
                    </a:lnTo>
                  </a:path>
                  <a:path w="1000" h="1000" fill="none">
                    <a:moveTo>
                      <a:pt x="862" y="80"/>
                    </a:moveTo>
                    <a:lnTo>
                      <a:pt x="862" y="920"/>
                    </a:lnTo>
                  </a:path>
                  <a:path w="1000" h="1000" fill="none">
                    <a:moveTo>
                      <a:pt x="887" y="80"/>
                    </a:moveTo>
                    <a:lnTo>
                      <a:pt x="887" y="920"/>
                    </a:lnTo>
                  </a:path>
                  <a:path w="1000" h="1000" fill="none">
                    <a:moveTo>
                      <a:pt x="912" y="80"/>
                    </a:moveTo>
                    <a:lnTo>
                      <a:pt x="912" y="920"/>
                    </a:lnTo>
                  </a:path>
                  <a:path w="1000" h="1000" fill="none">
                    <a:moveTo>
                      <a:pt x="937" y="80"/>
                    </a:moveTo>
                    <a:lnTo>
                      <a:pt x="937" y="920"/>
                    </a:lnTo>
                  </a:path>
                  <a:path w="1000" h="1000" fill="none">
                    <a:moveTo>
                      <a:pt x="962" y="80"/>
                    </a:moveTo>
                    <a:lnTo>
                      <a:pt x="962" y="920"/>
                    </a:lnTo>
                  </a:path>
                  <a:path w="1000" h="1000" fill="none">
                    <a:moveTo>
                      <a:pt x="987" y="80"/>
                    </a:moveTo>
                    <a:lnTo>
                      <a:pt x="987" y="920"/>
                    </a:lnTo>
                  </a:path>
                </a:pathLst>
              </a:custGeom>
              <a:noFill/>
              <a:ln w="12700" cap="rnd">
                <a:solidFill>
                  <a:srgbClr val="822E27"/>
                </a:solidFill>
                <a:round/>
              </a:ln>
            </p:spPr>
          </p:sp>
          <p:sp>
            <p:nvSpPr>
              <p:cNvPr id="31" name="Forma 30"/>
              <p:cNvSpPr/>
              <p:nvPr/>
            </p:nvSpPr>
            <p:spPr>
              <a:xfrm>
                <a:off x="9035735" y="1794711"/>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10203241" y="1794711"/>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3" name="Forma 32"/>
              <p:cNvSpPr/>
              <p:nvPr/>
            </p:nvSpPr>
            <p:spPr>
              <a:xfrm>
                <a:off x="11203960" y="1794711"/>
                <a:ext cx="277978" cy="100072"/>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4" name="Forma 33"/>
              <p:cNvSpPr/>
              <p:nvPr/>
            </p:nvSpPr>
            <p:spPr>
              <a:xfrm>
                <a:off x="11470819" y="1794711"/>
                <a:ext cx="222382" cy="51147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35" name="Adipocito"/>
          <p:cNvGrpSpPr/>
          <p:nvPr/>
        </p:nvGrpSpPr>
        <p:grpSpPr>
          <a:xfrm>
            <a:off x="9692640" y="3566160"/>
            <a:ext cx="1188720" cy="1188720"/>
            <a:chOff x="9692640" y="3566160"/>
            <a:chExt cx="1188720" cy="1188720"/>
          </a:xfrm>
        </p:grpSpPr>
        <p:sp>
          <p:nvSpPr>
            <p:cNvPr id="36" name="Forma 35"/>
            <p:cNvSpPr/>
            <p:nvPr/>
          </p:nvSpPr>
          <p:spPr>
            <a:xfrm>
              <a:off x="9692640" y="3566160"/>
              <a:ext cx="1188720" cy="118872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7" name="Gota lipídica"/>
            <p:cNvSpPr/>
            <p:nvPr/>
          </p:nvSpPr>
          <p:spPr>
            <a:xfrm>
              <a:off x="9752076" y="3625596"/>
              <a:ext cx="1069848" cy="106984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8" name="Forma 37"/>
            <p:cNvSpPr/>
            <p:nvPr/>
          </p:nvSpPr>
          <p:spPr>
            <a:xfrm rot="2400000">
              <a:off x="10548518" y="3637483"/>
              <a:ext cx="261518" cy="14264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9" name="Mitocondria"/>
            <p:cNvGrpSpPr/>
            <p:nvPr/>
          </p:nvGrpSpPr>
          <p:grpSpPr>
            <a:xfrm>
              <a:off x="9787738" y="4445813"/>
              <a:ext cx="118872" cy="59436"/>
              <a:chOff x="9787738" y="4445813"/>
              <a:chExt cx="118872" cy="59436"/>
            </a:xfrm>
          </p:grpSpPr>
          <p:sp>
            <p:nvSpPr>
              <p:cNvPr id="40" name="Forma 39"/>
              <p:cNvSpPr/>
              <p:nvPr/>
            </p:nvSpPr>
            <p:spPr>
              <a:xfrm rot="-2400000">
                <a:off x="9787738" y="4445813"/>
                <a:ext cx="118872" cy="5943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1" name="Forma 40"/>
              <p:cNvSpPr/>
              <p:nvPr/>
            </p:nvSpPr>
            <p:spPr>
              <a:xfrm rot="-2400000">
                <a:off x="9796059" y="4454134"/>
                <a:ext cx="102230" cy="42794"/>
              </a:xfrm>
              <a:prstGeom prst="ellipse">
                <a:avLst/>
              </a:prstGeom>
              <a:solidFill>
                <a:srgbClr val="F8D8B4"/>
              </a:solidFill>
              <a:ln w="9525" cap="rnd">
                <a:solidFill>
                  <a:srgbClr val="B2732B"/>
                </a:solidFill>
                <a:round/>
              </a:ln>
            </p:spPr>
          </p:sp>
          <p:sp>
            <p:nvSpPr>
              <p:cNvPr id="42" name="Forma 41"/>
              <p:cNvSpPr/>
              <p:nvPr/>
            </p:nvSpPr>
            <p:spPr>
              <a:xfrm rot="-2400000">
                <a:off x="9796059" y="4454134"/>
                <a:ext cx="102230" cy="42794"/>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3" name="Páncreas"/>
          <p:cNvGrpSpPr/>
          <p:nvPr/>
        </p:nvGrpSpPr>
        <p:grpSpPr>
          <a:xfrm>
            <a:off x="4572000" y="914400"/>
            <a:ext cx="2651760" cy="1113739"/>
            <a:chOff x="4572000" y="914400"/>
            <a:chExt cx="2651760" cy="1113739"/>
          </a:xfrm>
        </p:grpSpPr>
        <p:sp>
          <p:nvSpPr>
            <p:cNvPr id="44" name="Forma 43"/>
            <p:cNvSpPr/>
            <p:nvPr/>
          </p:nvSpPr>
          <p:spPr>
            <a:xfrm>
              <a:off x="4572000" y="914400"/>
              <a:ext cx="2651760" cy="1113739"/>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45" name="Forma 44"/>
            <p:cNvSpPr/>
            <p:nvPr/>
          </p:nvSpPr>
          <p:spPr>
            <a:xfrm>
              <a:off x="4572000" y="914400"/>
              <a:ext cx="2651760" cy="1113739"/>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46" name="Islotes"/>
            <p:cNvSpPr/>
            <p:nvPr/>
          </p:nvSpPr>
          <p:spPr>
            <a:xfrm>
              <a:off x="4572000" y="914400"/>
              <a:ext cx="2651760" cy="1113739"/>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47" name="Forma 46"/>
            <p:cNvSpPr/>
            <p:nvPr/>
          </p:nvSpPr>
          <p:spPr>
            <a:xfrm>
              <a:off x="4572000" y="914400"/>
              <a:ext cx="2651760" cy="1113739"/>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48" name="Entrada intestinal"/>
          <p:cNvSpPr/>
          <p:nvPr/>
        </p:nvSpPr>
        <p:spPr>
          <a:xfrm>
            <a:off x="2011680" y="1737360"/>
            <a:ext cx="2560320" cy="731520"/>
          </a:xfrm>
          <a:custGeom>
            <a:avLst/>
            <a:gdLst/>
            <a:ahLst/>
            <a:cxnLst/>
            <a:rect l="0" t="0" r="r" b="b"/>
            <a:pathLst>
              <a:path w="2800" h="800" fill="none">
                <a:moveTo>
                  <a:pt x="0" y="0"/>
                </a:moveTo>
                <a:lnTo>
                  <a:pt x="2800" y="800"/>
                </a:lnTo>
              </a:path>
            </a:pathLst>
          </a:custGeom>
          <a:noFill/>
          <a:ln w="114300" cap="rnd">
            <a:solidFill>
              <a:srgbClr val="2563B0"/>
            </a:solidFill>
            <a:round/>
            <a:tailEnd type="triangle" w="med" len="med"/>
          </a:ln>
        </p:spPr>
      </p:sp>
      <p:sp>
        <p:nvSpPr>
          <p:cNvPr id="49" name="Producción hepática"/>
          <p:cNvSpPr/>
          <p:nvPr/>
        </p:nvSpPr>
        <p:spPr>
          <a:xfrm>
            <a:off x="2788920" y="3657600"/>
            <a:ext cx="1783080" cy="274320"/>
          </a:xfrm>
          <a:custGeom>
            <a:avLst/>
            <a:gdLst/>
            <a:ahLst/>
            <a:cxnLst/>
            <a:rect l="0" t="0" r="r" b="b"/>
            <a:pathLst>
              <a:path w="1950" h="299" fill="none">
                <a:moveTo>
                  <a:pt x="0" y="299"/>
                </a:moveTo>
                <a:lnTo>
                  <a:pt x="1950" y="0"/>
                </a:lnTo>
              </a:path>
            </a:pathLst>
          </a:custGeom>
          <a:noFill/>
          <a:ln w="114300" cap="rnd">
            <a:solidFill>
              <a:srgbClr val="2563B0"/>
            </a:solidFill>
            <a:round/>
            <a:tailEnd type="triangle" w="med" len="med"/>
          </a:ln>
        </p:spPr>
      </p:sp>
      <p:sp>
        <p:nvSpPr>
          <p:cNvPr id="50" name="Producción hepática reducida"/>
          <p:cNvSpPr/>
          <p:nvPr/>
        </p:nvSpPr>
        <p:spPr>
          <a:xfrm>
            <a:off x="2788920" y="3657600"/>
            <a:ext cx="1783080" cy="274320"/>
          </a:xfrm>
          <a:custGeom>
            <a:avLst/>
            <a:gdLst/>
            <a:ahLst/>
            <a:cxnLst/>
            <a:rect l="0" t="0" r="r" b="b"/>
            <a:pathLst>
              <a:path w="1950" h="299" fill="none">
                <a:moveTo>
                  <a:pt x="0" y="299"/>
                </a:moveTo>
                <a:lnTo>
                  <a:pt x="1950" y="0"/>
                </a:lnTo>
              </a:path>
            </a:pathLst>
          </a:custGeom>
          <a:noFill/>
          <a:ln w="31750" cap="rnd">
            <a:solidFill>
              <a:srgbClr val="2563B0"/>
            </a:solidFill>
            <a:round/>
            <a:tailEnd type="triangle" w="med" len="med"/>
          </a:ln>
        </p:spPr>
      </p:sp>
      <p:sp>
        <p:nvSpPr>
          <p:cNvPr id="51" name="Captación muscular"/>
          <p:cNvSpPr/>
          <p:nvPr/>
        </p:nvSpPr>
        <p:spPr>
          <a:xfrm>
            <a:off x="7269480" y="2194560"/>
            <a:ext cx="960120" cy="1097280"/>
          </a:xfrm>
          <a:custGeom>
            <a:avLst/>
            <a:gdLst/>
            <a:ahLst/>
            <a:cxnLst/>
            <a:rect l="0" t="0" r="r" b="b"/>
            <a:pathLst>
              <a:path w="1049" h="1200" fill="none">
                <a:moveTo>
                  <a:pt x="0" y="1200"/>
                </a:moveTo>
                <a:lnTo>
                  <a:pt x="1049" y="0"/>
                </a:lnTo>
              </a:path>
            </a:pathLst>
          </a:custGeom>
          <a:noFill/>
          <a:ln w="114300" cap="rnd">
            <a:solidFill>
              <a:srgbClr val="2563B0"/>
            </a:solidFill>
            <a:round/>
            <a:tailEnd type="triangle" w="med" len="med"/>
          </a:ln>
        </p:spPr>
      </p:sp>
      <p:sp>
        <p:nvSpPr>
          <p:cNvPr id="52" name="Captación adiposa"/>
          <p:cNvSpPr/>
          <p:nvPr/>
        </p:nvSpPr>
        <p:spPr>
          <a:xfrm>
            <a:off x="7269480" y="4206240"/>
            <a:ext cx="2331720" cy="9144"/>
          </a:xfrm>
          <a:custGeom>
            <a:avLst/>
            <a:gdLst/>
            <a:ahLst/>
            <a:cxnLst/>
            <a:rect l="0" t="0" r="r" b="b"/>
            <a:pathLst>
              <a:path w="2550" h="10" fill="none">
                <a:moveTo>
                  <a:pt x="0" y="0"/>
                </a:moveTo>
                <a:lnTo>
                  <a:pt x="2550" y="0"/>
                </a:lnTo>
              </a:path>
            </a:pathLst>
          </a:custGeom>
          <a:noFill/>
          <a:ln w="114300" cap="rnd">
            <a:solidFill>
              <a:srgbClr val="2563B0"/>
            </a:solidFill>
            <a:round/>
            <a:tailEnd type="triangle" w="med" len="med"/>
          </a:ln>
        </p:spPr>
      </p:sp>
      <p:grpSp>
        <p:nvGrpSpPr>
          <p:cNvPr id="53" name="Paso integrador 1"/>
          <p:cNvGrpSpPr/>
          <p:nvPr/>
        </p:nvGrpSpPr>
        <p:grpSpPr>
          <a:xfrm>
            <a:off x="411480" y="5623560"/>
            <a:ext cx="2331720" cy="640080"/>
            <a:chOff x="411480" y="5623560"/>
            <a:chExt cx="2331720" cy="640080"/>
          </a:xfrm>
        </p:grpSpPr>
        <p:sp>
          <p:nvSpPr>
            <p:cNvPr id="54" name="Paso 1"/>
            <p:cNvSpPr/>
            <p:nvPr/>
          </p:nvSpPr>
          <p:spPr>
            <a:xfrm>
              <a:off x="411480" y="5715000"/>
              <a:ext cx="411480" cy="4114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55" name="Forma 54"/>
            <p:cNvSpPr txBox="1"/>
            <p:nvPr/>
          </p:nvSpPr>
          <p:spPr>
            <a:xfrm>
              <a:off x="914400" y="5623560"/>
              <a:ext cx="1828800" cy="6400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Absorción → glucemia ↑</a:t>
              </a:r>
              <a:endParaRPr lang="es-AR" sz="1300" dirty="0">
                <a:latin typeface="Bahnschrift"/>
              </a:endParaRPr>
            </a:p>
          </p:txBody>
        </p:sp>
      </p:grpSp>
      <p:grpSp>
        <p:nvGrpSpPr>
          <p:cNvPr id="56" name="Paso integrador 2"/>
          <p:cNvGrpSpPr/>
          <p:nvPr/>
        </p:nvGrpSpPr>
        <p:grpSpPr>
          <a:xfrm>
            <a:off x="2743200" y="5623560"/>
            <a:ext cx="2331720" cy="640080"/>
            <a:chOff x="2743200" y="5623560"/>
            <a:chExt cx="2331720" cy="640080"/>
          </a:xfrm>
        </p:grpSpPr>
        <p:sp>
          <p:nvSpPr>
            <p:cNvPr id="57" name="Paso 2"/>
            <p:cNvSpPr/>
            <p:nvPr/>
          </p:nvSpPr>
          <p:spPr>
            <a:xfrm>
              <a:off x="2743200" y="5715000"/>
              <a:ext cx="411480" cy="4114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58" name="Forma 57"/>
            <p:cNvSpPr txBox="1"/>
            <p:nvPr/>
          </p:nvSpPr>
          <p:spPr>
            <a:xfrm>
              <a:off x="3246120" y="5623560"/>
              <a:ext cx="1828800" cy="6400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Islote responde: insulina ↑, glucagón ↓</a:t>
              </a:r>
              <a:endParaRPr lang="es-AR" sz="1300" dirty="0">
                <a:latin typeface="Bahnschrift"/>
              </a:endParaRPr>
            </a:p>
          </p:txBody>
        </p:sp>
      </p:grpSp>
      <p:grpSp>
        <p:nvGrpSpPr>
          <p:cNvPr id="59" name="Paso integrador 3"/>
          <p:cNvGrpSpPr/>
          <p:nvPr/>
        </p:nvGrpSpPr>
        <p:grpSpPr>
          <a:xfrm>
            <a:off x="5074920" y="5623560"/>
            <a:ext cx="2331720" cy="640080"/>
            <a:chOff x="5074920" y="5623560"/>
            <a:chExt cx="2331720" cy="640080"/>
          </a:xfrm>
        </p:grpSpPr>
        <p:sp>
          <p:nvSpPr>
            <p:cNvPr id="60" name="Paso 3"/>
            <p:cNvSpPr/>
            <p:nvPr/>
          </p:nvSpPr>
          <p:spPr>
            <a:xfrm>
              <a:off x="5074920" y="5715000"/>
              <a:ext cx="411480" cy="4114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61" name="Forma 60"/>
            <p:cNvSpPr txBox="1"/>
            <p:nvPr/>
          </p:nvSpPr>
          <p:spPr>
            <a:xfrm>
              <a:off x="5577840" y="5623560"/>
              <a:ext cx="1828800" cy="6400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Hígado </a:t>
              </a:r>
              <a:r>
                <a:rPr lang="es-AR" sz="1300" b="1" dirty="0">
                  <a:solidFill>
                    <a:srgbClr val="1E1E1E"/>
                  </a:solidFill>
                  <a:latin typeface="Bahnschrift"/>
                  <a:ea typeface="Bahnschrift"/>
                  <a:cs typeface="Bahnschrift"/>
                  <a:sym typeface="Bahnschrift"/>
                </a:rPr>
                <a:t>cierra la canilla</a:t>
              </a:r>
              <a:endParaRPr lang="es-AR" sz="1300" dirty="0">
                <a:latin typeface="Bahnschrift"/>
              </a:endParaRPr>
            </a:p>
          </p:txBody>
        </p:sp>
      </p:grpSp>
      <p:grpSp>
        <p:nvGrpSpPr>
          <p:cNvPr id="62" name="Paso integrador 4"/>
          <p:cNvGrpSpPr/>
          <p:nvPr/>
        </p:nvGrpSpPr>
        <p:grpSpPr>
          <a:xfrm>
            <a:off x="7406640" y="5623560"/>
            <a:ext cx="2331720" cy="640080"/>
            <a:chOff x="7406640" y="5623560"/>
            <a:chExt cx="2331720" cy="640080"/>
          </a:xfrm>
        </p:grpSpPr>
        <p:sp>
          <p:nvSpPr>
            <p:cNvPr id="63" name="Paso 4"/>
            <p:cNvSpPr/>
            <p:nvPr/>
          </p:nvSpPr>
          <p:spPr>
            <a:xfrm>
              <a:off x="7406640" y="5715000"/>
              <a:ext cx="411480" cy="4114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sp>
          <p:nvSpPr>
            <p:cNvPr id="64" name="Forma 63"/>
            <p:cNvSpPr txBox="1"/>
            <p:nvPr/>
          </p:nvSpPr>
          <p:spPr>
            <a:xfrm>
              <a:off x="7909560" y="5623560"/>
              <a:ext cx="1828800" cy="6400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Periferia </a:t>
              </a:r>
              <a:r>
                <a:rPr lang="es-AR" sz="1300" b="1" dirty="0">
                  <a:solidFill>
                    <a:srgbClr val="1E1E1E"/>
                  </a:solidFill>
                  <a:latin typeface="Bahnschrift"/>
                  <a:ea typeface="Bahnschrift"/>
                  <a:cs typeface="Bahnschrift"/>
                  <a:sym typeface="Bahnschrift"/>
                </a:rPr>
                <a:t>abre el sumidero</a:t>
              </a:r>
              <a:endParaRPr lang="es-AR" sz="1300" dirty="0">
                <a:latin typeface="Bahnschrift"/>
              </a:endParaRPr>
            </a:p>
          </p:txBody>
        </p:sp>
      </p:grpSp>
      <p:grpSp>
        <p:nvGrpSpPr>
          <p:cNvPr id="65" name="Paso integrador 5"/>
          <p:cNvGrpSpPr/>
          <p:nvPr/>
        </p:nvGrpSpPr>
        <p:grpSpPr>
          <a:xfrm>
            <a:off x="9738360" y="5623560"/>
            <a:ext cx="2331720" cy="640080"/>
            <a:chOff x="9738360" y="5623560"/>
            <a:chExt cx="2331720" cy="640080"/>
          </a:xfrm>
        </p:grpSpPr>
        <p:sp>
          <p:nvSpPr>
            <p:cNvPr id="66" name="Paso 5"/>
            <p:cNvSpPr/>
            <p:nvPr/>
          </p:nvSpPr>
          <p:spPr>
            <a:xfrm>
              <a:off x="9738360" y="5715000"/>
              <a:ext cx="411480" cy="41148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a:t>
              </a:r>
              <a:endParaRPr lang="es-AR" sz="1500" dirty="0">
                <a:latin typeface="Bahnschrift SemiBold Condensed"/>
              </a:endParaRPr>
            </a:p>
          </p:txBody>
        </p:sp>
        <p:sp>
          <p:nvSpPr>
            <p:cNvPr id="67" name="Forma 66"/>
            <p:cNvSpPr txBox="1"/>
            <p:nvPr/>
          </p:nvSpPr>
          <p:spPr>
            <a:xfrm>
              <a:off x="10241280" y="5623560"/>
              <a:ext cx="1828800" cy="6400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Retorno al rango basal</a:t>
              </a:r>
              <a:endParaRPr lang="es-AR" sz="1300" dirty="0">
                <a:latin typeface="Bahnschrift"/>
              </a:endParaRPr>
            </a:p>
          </p:txBody>
        </p:sp>
      </p:grpSp>
      <p:sp>
        <p:nvSpPr>
          <p:cNvPr id="68" name="Falla"/>
          <p:cNvSpPr/>
          <p:nvPr/>
        </p:nvSpPr>
        <p:spPr>
          <a:xfrm>
            <a:off x="8229600" y="4800600"/>
            <a:ext cx="3566160" cy="7772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dirty="0">
                <a:solidFill>
                  <a:srgbClr val="FFFFFF"/>
                </a:solidFill>
                <a:latin typeface="Bahnschrift"/>
                <a:ea typeface="Bahnschrift"/>
                <a:cs typeface="Bahnschrift"/>
                <a:sym typeface="Bahnschrift"/>
              </a:rPr>
              <a:t>Falla hepática </a:t>
            </a:r>
            <a:r>
              <a:rPr lang="es-AR" sz="1550" b="1" dirty="0">
                <a:solidFill>
                  <a:srgbClr val="FFFFFF"/>
                </a:solidFill>
                <a:latin typeface="Bahnschrift"/>
                <a:ea typeface="Bahnschrift"/>
                <a:cs typeface="Bahnschrift"/>
                <a:sym typeface="Bahnschrift"/>
              </a:rPr>
              <a:t>o</a:t>
            </a:r>
            <a:r>
              <a:rPr lang="es-AR" sz="1550" dirty="0">
                <a:solidFill>
                  <a:srgbClr val="FFFFFF"/>
                </a:solidFill>
                <a:latin typeface="Bahnschrift"/>
                <a:ea typeface="Bahnschrift"/>
                <a:cs typeface="Bahnschrift"/>
                <a:sym typeface="Bahnschrift"/>
              </a:rPr>
              <a:t> periférica → hiperglucemia prolongada.</a:t>
            </a:r>
            <a:endParaRPr lang="es-AR" sz="15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83999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5 · MECANISMO INTEGRADOR: CANILLA Y SUMIDERO</a:t>
            </a:r>
            <a:endParaRPr lang="es-AR" sz="2600" dirty="0">
              <a:latin typeface="Bahnschrift SemiBold Condensed"/>
            </a:endParaRPr>
          </a:p>
        </p:txBody>
      </p:sp>
      <p:sp>
        <p:nvSpPr>
          <p:cNvPr id="6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3"/>
                                        </p:tgtEl>
                                        <p:attrNameLst>
                                          <p:attrName>style.visibility</p:attrName>
                                        </p:attrNameLst>
                                      </p:cBhvr>
                                      <p:to>
                                        <p:strVal val="visible"/>
                                      </p:to>
                                    </p:set>
                                    <p:animEffect transition="in" filter="fade">
                                      <p:cBhvr>
                                        <p:cTn id="5" dur="500"/>
                                        <p:tgtEl>
                                          <p:spTgt spid="53"/>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48"/>
                                        </p:tgtEl>
                                        <p:attrNameLst>
                                          <p:attrName>style.visibility</p:attrName>
                                        </p:attrNameLst>
                                      </p:cBhvr>
                                      <p:to>
                                        <p:strVal val="visible"/>
                                      </p:to>
                                    </p:set>
                                    <p:animEffect transition="in" filter="wipe(left)">
                                      <p:cBhvr>
                                        <p:cTn id="9" dur="600"/>
                                        <p:tgtEl>
                                          <p:spTgt spid="48"/>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23" fill="hold">
                      <p:stCondLst>
                        <p:cond delay="indefinite"/>
                      </p:stCondLst>
                      <p:childTnLst>
                        <p:par>
                          <p:cTn id="19"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fade">
                                      <p:cBhvr>
                                        <p:cTn id="18" dur="500"/>
                                        <p:tgtEl>
                                          <p:spTgt spid="56"/>
                                        </p:tgtEl>
                                      </p:cBhvr>
                                    </p:animEffect>
                                  </p:childTnLst>
                                </p:cTn>
                              </p:par>
                            </p:childTnLst>
                          </p:cTn>
                        </p:par>
                        <p:par>
                          <p:cTn id="22" fill="hold">
                            <p:stCondLst>
                              <p:cond delay="500"/>
                            </p:stCondLst>
                            <p:childTnLst>
                              <p:par>
                                <p:cTn id="20" presetID="6" presetClass="emph" presetSubtype="0" fill="hold" grpId="0" nodeType="afterEffect">
                                  <p:stCondLst>
                                    <p:cond delay="0"/>
                                  </p:stCondLst>
                                  <p:childTnLst>
                                    <p:animScale>
                                      <p:cBhvr>
                                        <p:cTn id="21" dur="300" autoRev="1" fill="hold"/>
                                        <p:tgtEl>
                                          <p:spTgt spid="43"/>
                                        </p:tgtEl>
                                      </p:cBhvr>
                                      <p:by x="112000" y="112000"/>
                                    </p:animScale>
                                  </p:childTnLst>
                                </p:cTn>
                              </p:par>
                            </p:childTnLst>
                          </p:cTn>
                        </p:par>
                      </p:childTnLst>
                    </p:cTn>
                  </p:par>
                  <p:par>
                    <p:cTn id="35" fill="hold">
                      <p:stCondLst>
                        <p:cond delay="indefinite"/>
                      </p:stCondLst>
                      <p:childTnLst>
                        <p:par>
                          <p:cTn id="27"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fade">
                                      <p:cBhvr>
                                        <p:cTn id="26" dur="500"/>
                                        <p:tgtEl>
                                          <p:spTgt spid="59"/>
                                        </p:tgtEl>
                                      </p:cBhvr>
                                    </p:animEffect>
                                  </p:childTnLst>
                                </p:cTn>
                              </p:par>
                            </p:childTnLst>
                          </p:cTn>
                        </p:par>
                        <p:par>
                          <p:cTn id="34" fill="hold">
                            <p:stCondLst>
                              <p:cond delay="500"/>
                            </p:stCondLst>
                            <p:childTnLst>
                              <p:par>
                                <p:cTn id="28" presetID="10" presetClass="exit" presetSubtype="0" fill="hold" grpId="0" nodeType="afterEffect">
                                  <p:stCondLst>
                                    <p:cond delay="0"/>
                                  </p:stCondLst>
                                  <p:childTnLst>
                                    <p:animEffect transition="out" filter="fade">
                                      <p:cBhvr>
                                        <p:cTn id="29" dur="400"/>
                                        <p:tgtEl>
                                          <p:spTgt spid="49"/>
                                        </p:tgtEl>
                                      </p:cBhvr>
                                    </p:animEffect>
                                    <p:set>
                                      <p:cBhvr>
                                        <p:cTn id="30" dur="1" fill="hold">
                                          <p:stCondLst>
                                            <p:cond delay="399"/>
                                          </p:stCondLst>
                                        </p:cTn>
                                        <p:tgtEl>
                                          <p:spTgt spid="49"/>
                                        </p:tgtEl>
                                        <p:attrNameLst>
                                          <p:attrName>style.visibility</p:attrName>
                                        </p:attrNameLst>
                                      </p:cBhvr>
                                      <p:to>
                                        <p:strVal val="hidden"/>
                                      </p:to>
                                    </p:set>
                                  </p:childTnLst>
                                </p:cTn>
                              </p:par>
                              <p:par>
                                <p:cTn id="31" presetID="10" presetClass="entr" presetSubtype="0"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Effect transition="in" filter="fade">
                                      <p:cBhvr>
                                        <p:cTn id="33" dur="500"/>
                                        <p:tgtEl>
                                          <p:spTgt spid="50"/>
                                        </p:tgtEl>
                                      </p:cBhvr>
                                    </p:animEffect>
                                  </p:childTnLst>
                                </p:cTn>
                              </p:par>
                            </p:childTnLst>
                          </p:cTn>
                        </p:par>
                      </p:childTnLst>
                    </p:cTn>
                  </p:par>
                  <p:par>
                    <p:cTn id="47" fill="hold">
                      <p:stCondLst>
                        <p:cond delay="indefinite"/>
                      </p:stCondLst>
                      <p:childTnLst>
                        <p:par>
                          <p:cTn id="39"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62"/>
                                        </p:tgtEl>
                                        <p:attrNameLst>
                                          <p:attrName>style.visibility</p:attrName>
                                        </p:attrNameLst>
                                      </p:cBhvr>
                                      <p:to>
                                        <p:strVal val="visible"/>
                                      </p:to>
                                    </p:set>
                                    <p:animEffect transition="in" filter="fade">
                                      <p:cBhvr>
                                        <p:cTn id="38" dur="500"/>
                                        <p:tgtEl>
                                          <p:spTgt spid="62"/>
                                        </p:tgtEl>
                                      </p:cBhvr>
                                    </p:animEffect>
                                  </p:childTnLst>
                                </p:cTn>
                              </p:par>
                            </p:childTnLst>
                          </p:cTn>
                        </p:par>
                        <p:par>
                          <p:cTn id="46" fill="hold">
                            <p:stCondLst>
                              <p:cond delay="500"/>
                            </p:stCondLst>
                            <p:childTnLst>
                              <p:par>
                                <p:cTn id="40" presetID="22" presetClass="entr" presetSubtype="8" fill="hold" grpId="0" nodeType="afterEffect">
                                  <p:stCondLst>
                                    <p:cond delay="0"/>
                                  </p:stCondLst>
                                  <p:childTnLst>
                                    <p:set>
                                      <p:cBhvr>
                                        <p:cTn id="41" dur="1" fill="hold">
                                          <p:stCondLst>
                                            <p:cond delay="0"/>
                                          </p:stCondLst>
                                        </p:cTn>
                                        <p:tgtEl>
                                          <p:spTgt spid="51"/>
                                        </p:tgtEl>
                                        <p:attrNameLst>
                                          <p:attrName>style.visibility</p:attrName>
                                        </p:attrNameLst>
                                      </p:cBhvr>
                                      <p:to>
                                        <p:strVal val="visible"/>
                                      </p:to>
                                    </p:set>
                                    <p:animEffect transition="in" filter="wipe(left)">
                                      <p:cBhvr>
                                        <p:cTn id="42" dur="600"/>
                                        <p:tgtEl>
                                          <p:spTgt spid="51"/>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52"/>
                                        </p:tgtEl>
                                        <p:attrNameLst>
                                          <p:attrName>style.visibility</p:attrName>
                                        </p:attrNameLst>
                                      </p:cBhvr>
                                      <p:to>
                                        <p:strVal val="visible"/>
                                      </p:to>
                                    </p:set>
                                    <p:animEffect transition="in" filter="wipe(left)">
                                      <p:cBhvr>
                                        <p:cTn id="45" dur="600"/>
                                        <p:tgtEl>
                                          <p:spTgt spid="52"/>
                                        </p:tgtEl>
                                      </p:cBhvr>
                                    </p:animEffect>
                                  </p:childTnLst>
                                </p:cTn>
                              </p:par>
                            </p:childTnLst>
                          </p:cTn>
                        </p:par>
                      </p:childTnLst>
                    </p:cTn>
                  </p:par>
                  <p:par>
                    <p:cTn id="56" fill="hold">
                      <p:stCondLst>
                        <p:cond delay="indefinite"/>
                      </p:stCondLst>
                      <p:childTnLst>
                        <p:par>
                          <p:cTn id="51"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65"/>
                                        </p:tgtEl>
                                        <p:attrNameLst>
                                          <p:attrName>style.visibility</p:attrName>
                                        </p:attrNameLst>
                                      </p:cBhvr>
                                      <p:to>
                                        <p:strVal val="visible"/>
                                      </p:to>
                                    </p:set>
                                    <p:animEffect transition="in" filter="fade">
                                      <p:cBhvr>
                                        <p:cTn id="50" dur="500"/>
                                        <p:tgtEl>
                                          <p:spTgt spid="65"/>
                                        </p:tgtEl>
                                      </p:cBhvr>
                                    </p:animEffect>
                                  </p:childTnLst>
                                </p:cTn>
                              </p:par>
                            </p:childTnLst>
                          </p:cTn>
                        </p:par>
                        <p:par>
                          <p:cTn id="55" fill="hold">
                            <p:stCondLst>
                              <p:cond delay="500"/>
                            </p:stCondLst>
                            <p:childTnLst>
                              <p:par>
                                <p:cTn id="52" presetID="10" presetClass="exit" presetSubtype="0" fill="hold" grpId="0" nodeType="afterEffect">
                                  <p:stCondLst>
                                    <p:cond delay="0"/>
                                  </p:stCondLst>
                                  <p:childTnLst>
                                    <p:animEffect transition="out" filter="fade">
                                      <p:cBhvr>
                                        <p:cTn id="53" dur="1200"/>
                                        <p:tgtEl>
                                          <p:spTgt spid="8"/>
                                        </p:tgtEl>
                                      </p:cBhvr>
                                    </p:animEffect>
                                    <p:set>
                                      <p:cBhvr>
                                        <p:cTn id="54" dur="1" fill="hold">
                                          <p:stCondLst>
                                            <p:cond delay="1199"/>
                                          </p:stCondLst>
                                        </p:cTn>
                                        <p:tgtEl>
                                          <p:spTgt spid="8"/>
                                        </p:tgtEl>
                                        <p:attrNameLst>
                                          <p:attrName>style.visibility</p:attrName>
                                        </p:attrNameLst>
                                      </p:cBhvr>
                                      <p:to>
                                        <p:strVal val="hidden"/>
                                      </p:to>
                                    </p:set>
                                  </p:childTnLst>
                                </p:cTn>
                              </p:par>
                            </p:childTnLst>
                          </p:cTn>
                        </p:par>
                      </p:childTnLst>
                    </p:cTn>
                  </p:par>
                  <p:par>
                    <p:cTn id="63" fill="hold">
                      <p:stCondLst>
                        <p:cond delay="indefinite"/>
                      </p:stCondLst>
                      <p:childTnLst>
                        <p:par>
                          <p:cTn id="62"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68"/>
                                        </p:tgtEl>
                                        <p:attrNameLst>
                                          <p:attrName>style.visibility</p:attrName>
                                        </p:attrNameLst>
                                      </p:cBhvr>
                                      <p:to>
                                        <p:strVal val="visible"/>
                                      </p:to>
                                    </p:set>
                                    <p:anim calcmode="lin" valueType="num">
                                      <p:cBhvr>
                                        <p:cTn id="59" dur="500" fill="hold"/>
                                        <p:tgtEl>
                                          <p:spTgt spid="68"/>
                                        </p:tgtEl>
                                        <p:attrNameLst>
                                          <p:attrName>ppt_w</p:attrName>
                                        </p:attrNameLst>
                                      </p:cBhvr>
                                      <p:tavLst>
                                        <p:tav tm="0">
                                          <p:val>
                                            <p:fltVal val="0"/>
                                          </p:val>
                                        </p:tav>
                                        <p:tav tm="100000">
                                          <p:val>
                                            <p:strVal val="#ppt_w"/>
                                          </p:val>
                                        </p:tav>
                                      </p:tavLst>
                                    </p:anim>
                                    <p:anim calcmode="lin" valueType="num">
                                      <p:cBhvr>
                                        <p:cTn id="60" dur="500" fill="hold"/>
                                        <p:tgtEl>
                                          <p:spTgt spid="68"/>
                                        </p:tgtEl>
                                        <p:attrNameLst>
                                          <p:attrName>ppt_h</p:attrName>
                                        </p:attrNameLst>
                                      </p:cBhvr>
                                      <p:tavLst>
                                        <p:tav tm="0">
                                          <p:val>
                                            <p:fltVal val="0"/>
                                          </p:val>
                                        </p:tav>
                                        <p:tav tm="100000">
                                          <p:val>
                                            <p:strVal val="#ppt_h"/>
                                          </p:val>
                                        </p:tav>
                                      </p:tavLst>
                                    </p:anim>
                                    <p:animEffect transition="in" filter="fade">
                                      <p:cBhvr>
                                        <p:cTn id="6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8" grpId="0" animBg="1"/>
      <p:bldP spid="49" grpId="0" animBg="1"/>
      <p:bldP spid="50" grpId="0" animBg="1"/>
      <p:bldP spid="51" grpId="0" animBg="1"/>
      <p:bldP spid="52" grpId="0" animBg="1"/>
      <p:bldP spid="68" grpId="0" animBg="1"/>
    </p:bldLst>
  </p:timing>
</p:sld>
</file>

<file path=ppt/slides/slide4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Hepatocito fondo"/>
          <p:cNvSpPr/>
          <p:nvPr/>
        </p:nvSpPr>
        <p:spPr>
          <a:xfrm>
            <a:off x="274320" y="914400"/>
            <a:ext cx="8229600" cy="5623560"/>
          </a:xfrm>
          <a:prstGeom prst="roundRect">
            <a:avLst>
              <a:gd name="adj" fmla="val 6000"/>
            </a:avLst>
          </a:prstGeom>
          <a:solidFill>
            <a:srgbClr val="F5CBA7">
              <a:alpha val="60000"/>
            </a:srgbClr>
          </a:solidFill>
          <a:ln w="25400" cap="rnd">
            <a:solidFill>
              <a:srgbClr val="A04000"/>
            </a:solidFill>
            <a:round/>
          </a:ln>
        </p:spPr>
      </p:sp>
      <p:sp>
        <p:nvSpPr>
          <p:cNvPr id="5" name="Forma 4"/>
          <p:cNvSpPr txBox="1"/>
          <p:nvPr/>
        </p:nvSpPr>
        <p:spPr>
          <a:xfrm>
            <a:off x="411480" y="6172200"/>
            <a:ext cx="274320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7A3B12"/>
                </a:solidFill>
                <a:latin typeface="Bahnschrift SemiBold Condensed"/>
                <a:ea typeface="Bahnschrift SemiBold Condensed"/>
                <a:cs typeface="Bahnschrift SemiBold Condensed"/>
                <a:sym typeface="Bahnschrift SemiBold Condensed"/>
              </a:rPr>
              <a:t>HEPATOCITO (CITOSOL)</a:t>
            </a:r>
            <a:endParaRPr lang="es-AR" sz="1200" dirty="0">
              <a:latin typeface="Bahnschrift SemiBold Condensed"/>
            </a:endParaRPr>
          </a:p>
        </p:txBody>
      </p:sp>
      <p:sp>
        <p:nvSpPr>
          <p:cNvPr id="6" name="Glucólisis Glucosa"/>
          <p:cNvSpPr/>
          <p:nvPr/>
        </p:nvSpPr>
        <p:spPr>
          <a:xfrm>
            <a:off x="502920" y="1051560"/>
            <a:ext cx="1920240" cy="3657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a:t>
            </a:r>
            <a:endParaRPr lang="es-AR" sz="1300" dirty="0">
              <a:latin typeface="Bahnschrift SemiBold Condensed"/>
            </a:endParaRPr>
          </a:p>
        </p:txBody>
      </p:sp>
      <p:grpSp>
        <p:nvGrpSpPr>
          <p:cNvPr id="7" name="Glucólisis paso 1"/>
          <p:cNvGrpSpPr/>
          <p:nvPr/>
        </p:nvGrpSpPr>
        <p:grpSpPr>
          <a:xfrm>
            <a:off x="1463040" y="1403604"/>
            <a:ext cx="1033519" cy="274320"/>
            <a:chOff x="1463040" y="1403604"/>
            <a:chExt cx="1033519" cy="274320"/>
          </a:xfrm>
        </p:grpSpPr>
        <p:sp>
          <p:nvSpPr>
            <p:cNvPr id="8" name="Flecha 7_2"/>
            <p:cNvSpPr/>
            <p:nvPr/>
          </p:nvSpPr>
          <p:spPr>
            <a:xfrm>
              <a:off x="1463040" y="1444752"/>
              <a:ext cx="9144" cy="210312"/>
            </a:xfrm>
            <a:custGeom>
              <a:avLst/>
              <a:gdLst/>
              <a:ahLst/>
              <a:cxnLst/>
              <a:rect l="0" t="0" r="r" b="b"/>
              <a:pathLst>
                <a:path w="10" h="229" fill="none">
                  <a:moveTo>
                    <a:pt x="0" y="0"/>
                  </a:moveTo>
                  <a:lnTo>
                    <a:pt x="0" y="229"/>
                  </a:lnTo>
                </a:path>
              </a:pathLst>
            </a:custGeom>
            <a:noFill/>
            <a:ln w="44450" cap="rnd">
              <a:solidFill>
                <a:srgbClr val="1E1E1E"/>
              </a:solidFill>
              <a:round/>
              <a:tailEnd type="triangle" w="med" len="med"/>
            </a:ln>
          </p:spPr>
        </p:sp>
        <p:sp>
          <p:nvSpPr>
            <p:cNvPr id="9" name="Enzima Glucocinasa"/>
            <p:cNvSpPr/>
            <p:nvPr/>
          </p:nvSpPr>
          <p:spPr>
            <a:xfrm>
              <a:off x="1572768" y="1403604"/>
              <a:ext cx="92379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Glucocinasa</a:t>
              </a:r>
              <a:endParaRPr lang="es-AR" sz="1150" dirty="0">
                <a:latin typeface="Bahnschrift SemiBold Condensed"/>
              </a:endParaRPr>
            </a:p>
          </p:txBody>
        </p:sp>
      </p:grpSp>
      <p:sp>
        <p:nvSpPr>
          <p:cNvPr id="10" name="Glucólisis Glucosa-6-P"/>
          <p:cNvSpPr/>
          <p:nvPr/>
        </p:nvSpPr>
        <p:spPr>
          <a:xfrm>
            <a:off x="502920" y="1682496"/>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Glucosa-6-P</a:t>
            </a:r>
            <a:endParaRPr lang="es-AR" sz="1300" dirty="0">
              <a:latin typeface="Bahnschrift SemiBold Condensed"/>
            </a:endParaRPr>
          </a:p>
        </p:txBody>
      </p:sp>
      <p:grpSp>
        <p:nvGrpSpPr>
          <p:cNvPr id="11" name="Glucólisis paso 2"/>
          <p:cNvGrpSpPr/>
          <p:nvPr/>
        </p:nvGrpSpPr>
        <p:grpSpPr>
          <a:xfrm>
            <a:off x="1463040" y="2075688"/>
            <a:ext cx="9144" cy="210312"/>
            <a:chOff x="1463040" y="2075688"/>
            <a:chExt cx="9144" cy="210312"/>
          </a:xfrm>
        </p:grpSpPr>
        <p:sp>
          <p:nvSpPr>
            <p:cNvPr id="12" name="Flecha 12_2"/>
            <p:cNvSpPr/>
            <p:nvPr/>
          </p:nvSpPr>
          <p:spPr>
            <a:xfrm>
              <a:off x="1463040" y="2075688"/>
              <a:ext cx="9144" cy="210312"/>
            </a:xfrm>
            <a:custGeom>
              <a:avLst/>
              <a:gdLst/>
              <a:ahLst/>
              <a:cxnLst/>
              <a:rect l="0" t="0" r="r" b="b"/>
              <a:pathLst>
                <a:path w="10" h="230" fill="none">
                  <a:moveTo>
                    <a:pt x="0" y="0"/>
                  </a:moveTo>
                  <a:lnTo>
                    <a:pt x="0" y="230"/>
                  </a:lnTo>
                </a:path>
              </a:pathLst>
            </a:custGeom>
            <a:noFill/>
            <a:ln w="25400" cap="rnd">
              <a:solidFill>
                <a:srgbClr val="1E1E1E"/>
              </a:solidFill>
              <a:round/>
              <a:headEnd type="triangle" w="med" len="med"/>
              <a:tailEnd type="triangle" w="med" len="med"/>
            </a:ln>
          </p:spPr>
        </p:sp>
      </p:grpSp>
      <p:sp>
        <p:nvSpPr>
          <p:cNvPr id="13" name="Glucólisis Fructosa-6-P"/>
          <p:cNvSpPr/>
          <p:nvPr/>
        </p:nvSpPr>
        <p:spPr>
          <a:xfrm>
            <a:off x="502920" y="2313432"/>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Fructosa-6-P</a:t>
            </a:r>
            <a:endParaRPr lang="es-AR" sz="1300" dirty="0">
              <a:latin typeface="Bahnschrift SemiBold Condensed"/>
            </a:endParaRPr>
          </a:p>
        </p:txBody>
      </p:sp>
      <p:grpSp>
        <p:nvGrpSpPr>
          <p:cNvPr id="14" name="Glucólisis paso 3"/>
          <p:cNvGrpSpPr/>
          <p:nvPr/>
        </p:nvGrpSpPr>
        <p:grpSpPr>
          <a:xfrm>
            <a:off x="1463040" y="2665476"/>
            <a:ext cx="647528" cy="274320"/>
            <a:chOff x="1463040" y="2665476"/>
            <a:chExt cx="647528" cy="274320"/>
          </a:xfrm>
        </p:grpSpPr>
        <p:sp>
          <p:nvSpPr>
            <p:cNvPr id="15" name="Flecha 16_2"/>
            <p:cNvSpPr/>
            <p:nvPr/>
          </p:nvSpPr>
          <p:spPr>
            <a:xfrm>
              <a:off x="1463040" y="2706624"/>
              <a:ext cx="9144" cy="210312"/>
            </a:xfrm>
            <a:custGeom>
              <a:avLst/>
              <a:gdLst/>
              <a:ahLst/>
              <a:cxnLst/>
              <a:rect l="0" t="0" r="r" b="b"/>
              <a:pathLst>
                <a:path w="10" h="230" fill="none">
                  <a:moveTo>
                    <a:pt x="0" y="0"/>
                  </a:moveTo>
                  <a:lnTo>
                    <a:pt x="0" y="230"/>
                  </a:lnTo>
                </a:path>
              </a:pathLst>
            </a:custGeom>
            <a:noFill/>
            <a:ln w="44450" cap="rnd">
              <a:solidFill>
                <a:srgbClr val="1E1E1E"/>
              </a:solidFill>
              <a:round/>
              <a:tailEnd type="triangle" w="med" len="med"/>
            </a:ln>
          </p:spPr>
        </p:sp>
        <p:sp>
          <p:nvSpPr>
            <p:cNvPr id="16" name="Enzima PFK-1"/>
            <p:cNvSpPr/>
            <p:nvPr/>
          </p:nvSpPr>
          <p:spPr>
            <a:xfrm>
              <a:off x="1572768" y="2665476"/>
              <a:ext cx="537800"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PFK-1</a:t>
              </a:r>
              <a:endParaRPr lang="es-AR" sz="1150" dirty="0">
                <a:latin typeface="Bahnschrift SemiBold Condensed"/>
              </a:endParaRPr>
            </a:p>
          </p:txBody>
        </p:sp>
      </p:grpSp>
      <p:sp>
        <p:nvSpPr>
          <p:cNvPr id="17" name="Glucólisis Fructosa-1,6-bisP"/>
          <p:cNvSpPr/>
          <p:nvPr/>
        </p:nvSpPr>
        <p:spPr>
          <a:xfrm>
            <a:off x="502920" y="2944368"/>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Fructosa-1,6-bisP</a:t>
            </a:r>
            <a:endParaRPr lang="es-AR" sz="1300" dirty="0">
              <a:latin typeface="Bahnschrift SemiBold Condensed"/>
            </a:endParaRPr>
          </a:p>
        </p:txBody>
      </p:sp>
      <p:grpSp>
        <p:nvGrpSpPr>
          <p:cNvPr id="18" name="Glucólisis paso 4"/>
          <p:cNvGrpSpPr/>
          <p:nvPr/>
        </p:nvGrpSpPr>
        <p:grpSpPr>
          <a:xfrm>
            <a:off x="1463040" y="3296412"/>
            <a:ext cx="827879" cy="274320"/>
            <a:chOff x="1463040" y="3296412"/>
            <a:chExt cx="827879" cy="274320"/>
          </a:xfrm>
        </p:grpSpPr>
        <p:sp>
          <p:nvSpPr>
            <p:cNvPr id="19" name="Flecha 21_2"/>
            <p:cNvSpPr/>
            <p:nvPr/>
          </p:nvSpPr>
          <p:spPr>
            <a:xfrm>
              <a:off x="1463040" y="3337560"/>
              <a:ext cx="9144" cy="210312"/>
            </a:xfrm>
            <a:custGeom>
              <a:avLst/>
              <a:gdLst/>
              <a:ahLst/>
              <a:cxnLst/>
              <a:rect l="0" t="0" r="r" b="b"/>
              <a:pathLst>
                <a:path w="10" h="230" fill="none">
                  <a:moveTo>
                    <a:pt x="0" y="0"/>
                  </a:moveTo>
                  <a:lnTo>
                    <a:pt x="0" y="230"/>
                  </a:lnTo>
                </a:path>
              </a:pathLst>
            </a:custGeom>
            <a:noFill/>
            <a:ln w="25400" cap="rnd">
              <a:solidFill>
                <a:srgbClr val="1E1E1E"/>
              </a:solidFill>
              <a:round/>
              <a:headEnd type="triangle" w="med" len="med"/>
              <a:tailEnd type="triangle" w="med" len="med"/>
            </a:ln>
          </p:spPr>
        </p:sp>
        <p:sp>
          <p:nvSpPr>
            <p:cNvPr id="20" name="Enzima Aldolasa"/>
            <p:cNvSpPr/>
            <p:nvPr/>
          </p:nvSpPr>
          <p:spPr>
            <a:xfrm>
              <a:off x="1572768" y="3296412"/>
              <a:ext cx="71815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Aldolasa</a:t>
              </a:r>
              <a:endParaRPr lang="es-AR" sz="1150" dirty="0">
                <a:latin typeface="Bahnschrift SemiBold Condensed"/>
              </a:endParaRPr>
            </a:p>
          </p:txBody>
        </p:sp>
      </p:grpSp>
      <p:sp>
        <p:nvSpPr>
          <p:cNvPr id="21" name="Glucólisis Triosas fosfato"/>
          <p:cNvSpPr/>
          <p:nvPr/>
        </p:nvSpPr>
        <p:spPr>
          <a:xfrm>
            <a:off x="502920" y="3575304"/>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Triosas fosfato</a:t>
            </a:r>
            <a:endParaRPr lang="es-AR" sz="1300" dirty="0">
              <a:latin typeface="Bahnschrift SemiBold Condensed"/>
            </a:endParaRPr>
          </a:p>
        </p:txBody>
      </p:sp>
      <p:grpSp>
        <p:nvGrpSpPr>
          <p:cNvPr id="22" name="Glucólisis paso 5"/>
          <p:cNvGrpSpPr/>
          <p:nvPr/>
        </p:nvGrpSpPr>
        <p:grpSpPr>
          <a:xfrm>
            <a:off x="1463040" y="3927348"/>
            <a:ext cx="1122463" cy="274320"/>
            <a:chOff x="1463040" y="3927348"/>
            <a:chExt cx="1122463" cy="274320"/>
          </a:xfrm>
        </p:grpSpPr>
        <p:sp>
          <p:nvSpPr>
            <p:cNvPr id="23" name="Flecha 26_2"/>
            <p:cNvSpPr/>
            <p:nvPr/>
          </p:nvSpPr>
          <p:spPr>
            <a:xfrm>
              <a:off x="1463040" y="3968496"/>
              <a:ext cx="9144" cy="210312"/>
            </a:xfrm>
            <a:custGeom>
              <a:avLst/>
              <a:gdLst/>
              <a:ahLst/>
              <a:cxnLst/>
              <a:rect l="0" t="0" r="r" b="b"/>
              <a:pathLst>
                <a:path w="10" h="229" fill="none">
                  <a:moveTo>
                    <a:pt x="0" y="0"/>
                  </a:moveTo>
                  <a:lnTo>
                    <a:pt x="0" y="229"/>
                  </a:lnTo>
                </a:path>
              </a:pathLst>
            </a:custGeom>
            <a:noFill/>
            <a:ln w="25400" cap="rnd">
              <a:solidFill>
                <a:srgbClr val="1E1E1E"/>
              </a:solidFill>
              <a:round/>
              <a:headEnd type="triangle" w="med" len="med"/>
              <a:tailEnd type="triangle" w="med" len="med"/>
            </a:ln>
          </p:spPr>
        </p:sp>
        <p:sp>
          <p:nvSpPr>
            <p:cNvPr id="24" name="Enzima varias etapas"/>
            <p:cNvSpPr/>
            <p:nvPr/>
          </p:nvSpPr>
          <p:spPr>
            <a:xfrm>
              <a:off x="1572768" y="3927348"/>
              <a:ext cx="101273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varias etapas</a:t>
              </a:r>
              <a:endParaRPr lang="es-AR" sz="1150" dirty="0">
                <a:latin typeface="Bahnschrift SemiBold Condensed"/>
              </a:endParaRPr>
            </a:p>
          </p:txBody>
        </p:sp>
      </p:grpSp>
      <p:sp>
        <p:nvSpPr>
          <p:cNvPr id="25" name="Glucólisis Fosfoenolpiruvato"/>
          <p:cNvSpPr/>
          <p:nvPr/>
        </p:nvSpPr>
        <p:spPr>
          <a:xfrm>
            <a:off x="502920" y="4206240"/>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Fosfoenolpiruvato</a:t>
            </a:r>
            <a:endParaRPr lang="es-AR" sz="1300" dirty="0">
              <a:latin typeface="Bahnschrift SemiBold Condensed"/>
            </a:endParaRPr>
          </a:p>
        </p:txBody>
      </p:sp>
      <p:grpSp>
        <p:nvGrpSpPr>
          <p:cNvPr id="26" name="Glucólisis paso 6"/>
          <p:cNvGrpSpPr/>
          <p:nvPr/>
        </p:nvGrpSpPr>
        <p:grpSpPr>
          <a:xfrm>
            <a:off x="1463040" y="4558284"/>
            <a:ext cx="1334834" cy="274320"/>
            <a:chOff x="1463040" y="4558284"/>
            <a:chExt cx="1334834" cy="274320"/>
          </a:xfrm>
        </p:grpSpPr>
        <p:sp>
          <p:nvSpPr>
            <p:cNvPr id="27" name="Flecha 31_2"/>
            <p:cNvSpPr/>
            <p:nvPr/>
          </p:nvSpPr>
          <p:spPr>
            <a:xfrm>
              <a:off x="1463040" y="4599432"/>
              <a:ext cx="9144" cy="210312"/>
            </a:xfrm>
            <a:custGeom>
              <a:avLst/>
              <a:gdLst/>
              <a:ahLst/>
              <a:cxnLst/>
              <a:rect l="0" t="0" r="r" b="b"/>
              <a:pathLst>
                <a:path w="10" h="229" fill="none">
                  <a:moveTo>
                    <a:pt x="0" y="0"/>
                  </a:moveTo>
                  <a:lnTo>
                    <a:pt x="0" y="229"/>
                  </a:lnTo>
                </a:path>
              </a:pathLst>
            </a:custGeom>
            <a:noFill/>
            <a:ln w="44450" cap="rnd">
              <a:solidFill>
                <a:srgbClr val="1E1E1E"/>
              </a:solidFill>
              <a:round/>
              <a:tailEnd type="triangle" w="med" len="med"/>
            </a:ln>
          </p:spPr>
        </p:sp>
        <p:sp>
          <p:nvSpPr>
            <p:cNvPr id="28" name="Enzima Piruvato cinasa L"/>
            <p:cNvSpPr/>
            <p:nvPr/>
          </p:nvSpPr>
          <p:spPr>
            <a:xfrm>
              <a:off x="1572768" y="4558284"/>
              <a:ext cx="122510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Piruvato cinasa L</a:t>
              </a:r>
              <a:endParaRPr lang="es-AR" sz="1150" dirty="0">
                <a:latin typeface="Bahnschrift SemiBold Condensed"/>
              </a:endParaRPr>
            </a:p>
          </p:txBody>
        </p:sp>
      </p:grpSp>
      <p:sp>
        <p:nvSpPr>
          <p:cNvPr id="29" name="Glucólisis Piruvato"/>
          <p:cNvSpPr/>
          <p:nvPr/>
        </p:nvSpPr>
        <p:spPr>
          <a:xfrm>
            <a:off x="502920" y="4837176"/>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Piruvato</a:t>
            </a:r>
            <a:endParaRPr lang="es-AR" sz="1300" dirty="0">
              <a:latin typeface="Bahnschrift SemiBold Condensed"/>
            </a:endParaRPr>
          </a:p>
        </p:txBody>
      </p:sp>
      <p:grpSp>
        <p:nvGrpSpPr>
          <p:cNvPr id="30" name="Glucólisis paso 7"/>
          <p:cNvGrpSpPr/>
          <p:nvPr/>
        </p:nvGrpSpPr>
        <p:grpSpPr>
          <a:xfrm>
            <a:off x="1463040" y="5189220"/>
            <a:ext cx="1392332" cy="274320"/>
            <a:chOff x="1463040" y="5189220"/>
            <a:chExt cx="1392332" cy="274320"/>
          </a:xfrm>
        </p:grpSpPr>
        <p:sp>
          <p:nvSpPr>
            <p:cNvPr id="31" name="Flecha 36_2"/>
            <p:cNvSpPr/>
            <p:nvPr/>
          </p:nvSpPr>
          <p:spPr>
            <a:xfrm>
              <a:off x="1463040" y="5230368"/>
              <a:ext cx="9144" cy="210312"/>
            </a:xfrm>
            <a:custGeom>
              <a:avLst/>
              <a:gdLst/>
              <a:ahLst/>
              <a:cxnLst/>
              <a:rect l="0" t="0" r="r" b="b"/>
              <a:pathLst>
                <a:path w="10" h="229" fill="none">
                  <a:moveTo>
                    <a:pt x="0" y="0"/>
                  </a:moveTo>
                  <a:lnTo>
                    <a:pt x="0" y="229"/>
                  </a:lnTo>
                </a:path>
              </a:pathLst>
            </a:custGeom>
            <a:noFill/>
            <a:ln w="44450" cap="rnd">
              <a:solidFill>
                <a:srgbClr val="1E1E1E"/>
              </a:solidFill>
              <a:round/>
              <a:tailEnd type="triangle" w="med" len="med"/>
            </a:ln>
          </p:spPr>
        </p:sp>
        <p:sp>
          <p:nvSpPr>
            <p:cNvPr id="32" name="Enzima PDH (mitocondria)"/>
            <p:cNvSpPr/>
            <p:nvPr/>
          </p:nvSpPr>
          <p:spPr>
            <a:xfrm>
              <a:off x="1572768" y="5189220"/>
              <a:ext cx="1282604"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PDH (mitocondria)</a:t>
              </a:r>
              <a:endParaRPr lang="es-AR" sz="1150" dirty="0">
                <a:latin typeface="Bahnschrift SemiBold Condensed"/>
              </a:endParaRPr>
            </a:p>
          </p:txBody>
        </p:sp>
      </p:grpSp>
      <p:sp>
        <p:nvSpPr>
          <p:cNvPr id="33" name="Glucólisis Acetil-CoA"/>
          <p:cNvSpPr/>
          <p:nvPr/>
        </p:nvSpPr>
        <p:spPr>
          <a:xfrm>
            <a:off x="502920" y="5468112"/>
            <a:ext cx="192024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Acetil-CoA</a:t>
            </a:r>
            <a:endParaRPr lang="es-AR" sz="1300" dirty="0">
              <a:latin typeface="Bahnschrift SemiBold Condensed"/>
            </a:endParaRPr>
          </a:p>
        </p:txBody>
      </p:sp>
      <p:sp>
        <p:nvSpPr>
          <p:cNvPr id="34" name="Glucogenogénesis Glc-1-P"/>
          <p:cNvSpPr/>
          <p:nvPr/>
        </p:nvSpPr>
        <p:spPr>
          <a:xfrm>
            <a:off x="4251960" y="1682496"/>
            <a:ext cx="118872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Glc-1-P</a:t>
            </a:r>
            <a:endParaRPr lang="es-AR" sz="1300" dirty="0">
              <a:latin typeface="Bahnschrift SemiBold Condensed"/>
            </a:endParaRPr>
          </a:p>
        </p:txBody>
      </p:sp>
      <p:grpSp>
        <p:nvGrpSpPr>
          <p:cNvPr id="35" name="Glucogenogénesis paso 1"/>
          <p:cNvGrpSpPr/>
          <p:nvPr/>
        </p:nvGrpSpPr>
        <p:grpSpPr>
          <a:xfrm>
            <a:off x="5486400" y="1865376"/>
            <a:ext cx="137160" cy="9144"/>
            <a:chOff x="5486400" y="1865376"/>
            <a:chExt cx="137160" cy="9144"/>
          </a:xfrm>
        </p:grpSpPr>
        <p:sp>
          <p:nvSpPr>
            <p:cNvPr id="36" name="Flecha 42_2"/>
            <p:cNvSpPr/>
            <p:nvPr/>
          </p:nvSpPr>
          <p:spPr>
            <a:xfrm>
              <a:off x="5486400" y="1865376"/>
              <a:ext cx="137160" cy="9144"/>
            </a:xfrm>
            <a:custGeom>
              <a:avLst/>
              <a:gdLst/>
              <a:ahLst/>
              <a:cxnLst/>
              <a:rect l="0" t="0" r="r" b="b"/>
              <a:pathLst>
                <a:path w="150" h="10" fill="none">
                  <a:moveTo>
                    <a:pt x="0" y="0"/>
                  </a:moveTo>
                  <a:lnTo>
                    <a:pt x="150" y="0"/>
                  </a:lnTo>
                </a:path>
              </a:pathLst>
            </a:custGeom>
            <a:noFill/>
            <a:ln w="25400" cap="rnd">
              <a:solidFill>
                <a:srgbClr val="1E1E1E"/>
              </a:solidFill>
              <a:round/>
              <a:headEnd type="triangle" w="med" len="med"/>
              <a:tailEnd type="triangle" w="med" len="med"/>
            </a:ln>
          </p:spPr>
        </p:sp>
      </p:grpSp>
      <p:sp>
        <p:nvSpPr>
          <p:cNvPr id="37" name="Glucogenogénesis UDP-glucosa"/>
          <p:cNvSpPr/>
          <p:nvPr/>
        </p:nvSpPr>
        <p:spPr>
          <a:xfrm>
            <a:off x="5669280" y="1682496"/>
            <a:ext cx="118872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UDP-glucosa</a:t>
            </a:r>
            <a:endParaRPr lang="es-AR" sz="1300" dirty="0">
              <a:latin typeface="Bahnschrift SemiBold Condensed"/>
            </a:endParaRPr>
          </a:p>
        </p:txBody>
      </p:sp>
      <p:grpSp>
        <p:nvGrpSpPr>
          <p:cNvPr id="38" name="Glucogenogénesis paso 2"/>
          <p:cNvGrpSpPr/>
          <p:nvPr/>
        </p:nvGrpSpPr>
        <p:grpSpPr>
          <a:xfrm>
            <a:off x="6903720" y="1865376"/>
            <a:ext cx="137160" cy="9144"/>
            <a:chOff x="6903720" y="1865376"/>
            <a:chExt cx="137160" cy="9144"/>
          </a:xfrm>
        </p:grpSpPr>
        <p:sp>
          <p:nvSpPr>
            <p:cNvPr id="39" name="Flecha 46_2"/>
            <p:cNvSpPr/>
            <p:nvPr/>
          </p:nvSpPr>
          <p:spPr>
            <a:xfrm>
              <a:off x="6903720" y="1865376"/>
              <a:ext cx="137160" cy="9144"/>
            </a:xfrm>
            <a:custGeom>
              <a:avLst/>
              <a:gdLst/>
              <a:ahLst/>
              <a:cxnLst/>
              <a:rect l="0" t="0" r="r" b="b"/>
              <a:pathLst>
                <a:path w="150" h="10" fill="none">
                  <a:moveTo>
                    <a:pt x="0" y="0"/>
                  </a:moveTo>
                  <a:lnTo>
                    <a:pt x="150" y="0"/>
                  </a:lnTo>
                </a:path>
              </a:pathLst>
            </a:custGeom>
            <a:noFill/>
            <a:ln w="25400" cap="rnd">
              <a:solidFill>
                <a:srgbClr val="1E1E1E"/>
              </a:solidFill>
              <a:round/>
              <a:headEnd type="triangle" w="med" len="med"/>
              <a:tailEnd type="triangle" w="med" len="med"/>
            </a:ln>
          </p:spPr>
        </p:sp>
      </p:grpSp>
      <p:sp>
        <p:nvSpPr>
          <p:cNvPr id="40" name="Glucogenogénesis Glucógeno"/>
          <p:cNvSpPr/>
          <p:nvPr/>
        </p:nvSpPr>
        <p:spPr>
          <a:xfrm>
            <a:off x="7086600" y="1682496"/>
            <a:ext cx="1188720" cy="365760"/>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Glucógeno</a:t>
            </a:r>
            <a:endParaRPr lang="es-AR" sz="1300" dirty="0">
              <a:latin typeface="Bahnschrift SemiBold Condensed"/>
            </a:endParaRPr>
          </a:p>
        </p:txBody>
      </p:sp>
      <p:sp>
        <p:nvSpPr>
          <p:cNvPr id="41" name="Flecha 49_2"/>
          <p:cNvSpPr/>
          <p:nvPr/>
        </p:nvSpPr>
        <p:spPr>
          <a:xfrm>
            <a:off x="2441448" y="1865376"/>
            <a:ext cx="1792224" cy="9144"/>
          </a:xfrm>
          <a:custGeom>
            <a:avLst/>
            <a:gdLst/>
            <a:ahLst/>
            <a:cxnLst/>
            <a:rect l="0" t="0" r="r" b="b"/>
            <a:pathLst>
              <a:path w="1960" h="10" fill="none">
                <a:moveTo>
                  <a:pt x="0" y="0"/>
                </a:moveTo>
                <a:lnTo>
                  <a:pt x="1960" y="0"/>
                </a:lnTo>
              </a:path>
            </a:pathLst>
          </a:custGeom>
          <a:noFill/>
          <a:ln w="25400" cap="rnd">
            <a:solidFill>
              <a:srgbClr val="1E1E1E"/>
            </a:solidFill>
            <a:round/>
            <a:headEnd type="triangle" w="med" len="med"/>
            <a:tailEnd type="triangle" w="med" len="med"/>
          </a:ln>
        </p:spPr>
      </p:sp>
      <p:sp>
        <p:nvSpPr>
          <p:cNvPr id="42" name="Vía pentosas"/>
          <p:cNvSpPr/>
          <p:nvPr/>
        </p:nvSpPr>
        <p:spPr>
          <a:xfrm>
            <a:off x="4251960" y="2377440"/>
            <a:ext cx="1939299" cy="236220"/>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G6PDH → NADPH + ribosa-5-P</a:t>
            </a:r>
            <a:endParaRPr lang="es-AR" sz="1200" dirty="0">
              <a:latin typeface="Bahnschrift SemiBold Condensed"/>
            </a:endParaRPr>
          </a:p>
        </p:txBody>
      </p:sp>
      <p:sp>
        <p:nvSpPr>
          <p:cNvPr id="43" name="Flecha 52_2"/>
          <p:cNvSpPr/>
          <p:nvPr/>
        </p:nvSpPr>
        <p:spPr>
          <a:xfrm>
            <a:off x="2441448" y="2011680"/>
            <a:ext cx="1764792" cy="530352"/>
          </a:xfrm>
          <a:custGeom>
            <a:avLst/>
            <a:gdLst/>
            <a:ahLst/>
            <a:cxnLst/>
            <a:rect l="0" t="0" r="r" b="b"/>
            <a:pathLst>
              <a:path w="1929" h="579" fill="none">
                <a:moveTo>
                  <a:pt x="0" y="0"/>
                </a:moveTo>
                <a:lnTo>
                  <a:pt x="1929" y="579"/>
                </a:lnTo>
              </a:path>
            </a:pathLst>
          </a:custGeom>
          <a:noFill/>
          <a:ln w="25400" cap="rnd">
            <a:solidFill>
              <a:srgbClr val="1E1E1E"/>
            </a:solidFill>
            <a:round/>
            <a:tailEnd type="triangle" w="med" len="med"/>
          </a:ln>
        </p:spPr>
      </p:sp>
      <p:sp>
        <p:nvSpPr>
          <p:cNvPr id="44" name="Lipogénesis Citrato"/>
          <p:cNvSpPr/>
          <p:nvPr/>
        </p:nvSpPr>
        <p:spPr>
          <a:xfrm>
            <a:off x="4251960" y="5468112"/>
            <a:ext cx="118872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Citrato</a:t>
            </a:r>
            <a:endParaRPr lang="es-AR" sz="1300" dirty="0">
              <a:latin typeface="Bahnschrift SemiBold Condensed"/>
            </a:endParaRPr>
          </a:p>
        </p:txBody>
      </p:sp>
      <p:grpSp>
        <p:nvGrpSpPr>
          <p:cNvPr id="45" name="Lipogénesis paso 1"/>
          <p:cNvGrpSpPr/>
          <p:nvPr/>
        </p:nvGrpSpPr>
        <p:grpSpPr>
          <a:xfrm>
            <a:off x="5486400" y="5650992"/>
            <a:ext cx="137160" cy="9144"/>
            <a:chOff x="5486400" y="5650992"/>
            <a:chExt cx="137160" cy="9144"/>
          </a:xfrm>
        </p:grpSpPr>
        <p:sp>
          <p:nvSpPr>
            <p:cNvPr id="46" name="Flecha 56_2"/>
            <p:cNvSpPr/>
            <p:nvPr/>
          </p:nvSpPr>
          <p:spPr>
            <a:xfrm>
              <a:off x="5486400" y="5650992"/>
              <a:ext cx="137160" cy="9144"/>
            </a:xfrm>
            <a:custGeom>
              <a:avLst/>
              <a:gdLst/>
              <a:ahLst/>
              <a:cxnLst/>
              <a:rect l="0" t="0" r="r" b="b"/>
              <a:pathLst>
                <a:path w="150" h="10" fill="none">
                  <a:moveTo>
                    <a:pt x="0" y="0"/>
                  </a:moveTo>
                  <a:lnTo>
                    <a:pt x="150" y="0"/>
                  </a:lnTo>
                </a:path>
              </a:pathLst>
            </a:custGeom>
            <a:noFill/>
            <a:ln w="44450" cap="rnd">
              <a:solidFill>
                <a:srgbClr val="1E1E1E"/>
              </a:solidFill>
              <a:round/>
              <a:tailEnd type="triangle" w="med" len="med"/>
            </a:ln>
          </p:spPr>
        </p:sp>
      </p:grpSp>
      <p:sp>
        <p:nvSpPr>
          <p:cNvPr id="47" name="Lipogénesis Malonil-CoA"/>
          <p:cNvSpPr/>
          <p:nvPr/>
        </p:nvSpPr>
        <p:spPr>
          <a:xfrm>
            <a:off x="5669280" y="5468112"/>
            <a:ext cx="118872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Malonil-CoA</a:t>
            </a:r>
            <a:endParaRPr lang="es-AR" sz="1300" dirty="0">
              <a:latin typeface="Bahnschrift SemiBold Condensed"/>
            </a:endParaRPr>
          </a:p>
        </p:txBody>
      </p:sp>
      <p:grpSp>
        <p:nvGrpSpPr>
          <p:cNvPr id="48" name="Lipogénesis paso 2"/>
          <p:cNvGrpSpPr/>
          <p:nvPr/>
        </p:nvGrpSpPr>
        <p:grpSpPr>
          <a:xfrm>
            <a:off x="6751079" y="5084064"/>
            <a:ext cx="442443" cy="576072"/>
            <a:chOff x="6751079" y="5084064"/>
            <a:chExt cx="442443" cy="576072"/>
          </a:xfrm>
        </p:grpSpPr>
        <p:sp>
          <p:nvSpPr>
            <p:cNvPr id="49" name="Flecha 60_2"/>
            <p:cNvSpPr/>
            <p:nvPr/>
          </p:nvSpPr>
          <p:spPr>
            <a:xfrm>
              <a:off x="6903720" y="5650992"/>
              <a:ext cx="137160" cy="9144"/>
            </a:xfrm>
            <a:custGeom>
              <a:avLst/>
              <a:gdLst/>
              <a:ahLst/>
              <a:cxnLst/>
              <a:rect l="0" t="0" r="r" b="b"/>
              <a:pathLst>
                <a:path w="150" h="10" fill="none">
                  <a:moveTo>
                    <a:pt x="0" y="0"/>
                  </a:moveTo>
                  <a:lnTo>
                    <a:pt x="150" y="0"/>
                  </a:lnTo>
                </a:path>
              </a:pathLst>
            </a:custGeom>
            <a:noFill/>
            <a:ln w="44450" cap="rnd">
              <a:solidFill>
                <a:srgbClr val="1E1E1E"/>
              </a:solidFill>
              <a:round/>
              <a:tailEnd type="triangle" w="med" len="med"/>
            </a:ln>
          </p:spPr>
        </p:sp>
        <p:sp>
          <p:nvSpPr>
            <p:cNvPr id="50" name="Enzima ACC"/>
            <p:cNvSpPr/>
            <p:nvPr/>
          </p:nvSpPr>
          <p:spPr>
            <a:xfrm>
              <a:off x="6751079" y="5084064"/>
              <a:ext cx="44244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ACC</a:t>
              </a:r>
              <a:endParaRPr lang="es-AR" sz="1150" dirty="0">
                <a:latin typeface="Bahnschrift SemiBold Condensed"/>
              </a:endParaRPr>
            </a:p>
          </p:txBody>
        </p:sp>
      </p:grpSp>
      <p:sp>
        <p:nvSpPr>
          <p:cNvPr id="51" name="Lipogénesis AG → TAG/VLDL"/>
          <p:cNvSpPr/>
          <p:nvPr/>
        </p:nvSpPr>
        <p:spPr>
          <a:xfrm>
            <a:off x="7086600" y="5468112"/>
            <a:ext cx="1188720" cy="36576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AG → TAG/VLDL</a:t>
            </a:r>
            <a:endParaRPr lang="es-AR" sz="1300" dirty="0">
              <a:latin typeface="Bahnschrift SemiBold Condensed"/>
            </a:endParaRPr>
          </a:p>
        </p:txBody>
      </p:sp>
      <p:sp>
        <p:nvSpPr>
          <p:cNvPr id="52" name="Flecha 64_2"/>
          <p:cNvSpPr/>
          <p:nvPr/>
        </p:nvSpPr>
        <p:spPr>
          <a:xfrm>
            <a:off x="2441448" y="5641848"/>
            <a:ext cx="1792224" cy="9144"/>
          </a:xfrm>
          <a:custGeom>
            <a:avLst/>
            <a:gdLst/>
            <a:ahLst/>
            <a:cxnLst/>
            <a:rect l="0" t="0" r="r" b="b"/>
            <a:pathLst>
              <a:path w="1960" h="10" fill="none">
                <a:moveTo>
                  <a:pt x="0" y="0"/>
                </a:moveTo>
                <a:lnTo>
                  <a:pt x="1960" y="0"/>
                </a:lnTo>
              </a:path>
            </a:pathLst>
          </a:custGeom>
          <a:noFill/>
          <a:ln w="38100" cap="rnd">
            <a:solidFill>
              <a:srgbClr val="1E1E1E"/>
            </a:solidFill>
            <a:round/>
            <a:tailEnd type="triangle" w="med" len="med"/>
          </a:ln>
        </p:spPr>
      </p:sp>
      <p:grpSp>
        <p:nvGrpSpPr>
          <p:cNvPr id="53" name="Recuadro Interruptores"/>
          <p:cNvGrpSpPr/>
          <p:nvPr/>
        </p:nvGrpSpPr>
        <p:grpSpPr>
          <a:xfrm>
            <a:off x="8732520" y="914400"/>
            <a:ext cx="3063240" cy="3886200"/>
            <a:chOff x="8732520" y="914400"/>
            <a:chExt cx="3063240" cy="3886200"/>
          </a:xfrm>
        </p:grpSpPr>
        <p:sp>
          <p:nvSpPr>
            <p:cNvPr id="54" name="Forma 67"/>
            <p:cNvSpPr/>
            <p:nvPr/>
          </p:nvSpPr>
          <p:spPr>
            <a:xfrm>
              <a:off x="8732520" y="1097280"/>
              <a:ext cx="3063240" cy="37033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Glucocinasa</a:t>
              </a:r>
              <a:r>
                <a:rPr lang="es-AR" sz="1550" dirty="0">
                  <a:solidFill>
                    <a:srgbClr val="1E1E1E"/>
                  </a:solidFill>
                  <a:latin typeface="Bahnschrift"/>
                  <a:ea typeface="Bahnschrift"/>
                  <a:cs typeface="Bahnschrift"/>
                  <a:sym typeface="Bahnschrift"/>
                </a:rPr>
                <a:t>: Km aparente alto; liberada de </a:t>
              </a:r>
              <a:r>
                <a:rPr lang="es-AR" sz="1550" b="1" dirty="0">
                  <a:solidFill>
                    <a:srgbClr val="1E1E1E"/>
                  </a:solidFill>
                  <a:latin typeface="Bahnschrift"/>
                  <a:ea typeface="Bahnschrift"/>
                  <a:cs typeface="Bahnschrift"/>
                  <a:sym typeface="Bahnschrift"/>
                </a:rPr>
                <a:t>GKRP</a:t>
              </a:r>
              <a:r>
                <a:rPr lang="es-AR" sz="1550" dirty="0">
                  <a:solidFill>
                    <a:srgbClr val="1E1E1E"/>
                  </a:solidFill>
                  <a:latin typeface="Bahnschrift"/>
                  <a:ea typeface="Bahnschrift"/>
                  <a:cs typeface="Bahnschrift"/>
                  <a:sym typeface="Bahnschrift"/>
                </a:rPr>
                <a:t> al subir glucosa</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PFK-1</a:t>
              </a:r>
              <a:r>
                <a:rPr lang="es-AR" sz="1550" dirty="0">
                  <a:solidFill>
                    <a:srgbClr val="1E1E1E"/>
                  </a:solidFill>
                  <a:latin typeface="Bahnschrift"/>
                  <a:ea typeface="Bahnschrift"/>
                  <a:cs typeface="Bahnschrift"/>
                  <a:sym typeface="Bahnschrift"/>
                </a:rPr>
                <a:t>: activada por </a:t>
              </a:r>
              <a:r>
                <a:rPr lang="es-AR" sz="1550" b="1" dirty="0">
                  <a:solidFill>
                    <a:srgbClr val="1E1E1E"/>
                  </a:solidFill>
                  <a:latin typeface="Bahnschrift"/>
                  <a:ea typeface="Bahnschrift"/>
                  <a:cs typeface="Bahnschrift"/>
                  <a:sym typeface="Bahnschrift"/>
                </a:rPr>
                <a:t>F2,6BP</a:t>
              </a:r>
              <a:r>
                <a:rPr lang="es-AR" sz="1550" dirty="0">
                  <a:solidFill>
                    <a:srgbClr val="1E1E1E"/>
                  </a:solidFill>
                  <a:latin typeface="Bahnschrift"/>
                  <a:ea typeface="Bahnschrift"/>
                  <a:cs typeface="Bahnschrift"/>
                  <a:sym typeface="Bahnschrift"/>
                </a:rPr>
                <a:t> (alta con insulina)</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PK-L</a:t>
              </a:r>
              <a:r>
                <a:rPr lang="es-AR" sz="1550" dirty="0">
                  <a:solidFill>
                    <a:srgbClr val="1E1E1E"/>
                  </a:solidFill>
                  <a:latin typeface="Bahnschrift"/>
                  <a:ea typeface="Bahnschrift"/>
                  <a:cs typeface="Bahnschrift"/>
                  <a:sym typeface="Bahnschrift"/>
                </a:rPr>
                <a:t>: activa </a:t>
              </a:r>
              <a:r>
                <a:rPr lang="es-AR" sz="1550" b="1" dirty="0">
                  <a:solidFill>
                    <a:srgbClr val="1E1E1E"/>
                  </a:solidFill>
                  <a:latin typeface="Bahnschrift"/>
                  <a:ea typeface="Bahnschrift"/>
                  <a:cs typeface="Bahnschrift"/>
                  <a:sym typeface="Bahnschrift"/>
                </a:rPr>
                <a:t>desfosforilada</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PDH</a:t>
              </a:r>
              <a:r>
                <a:rPr lang="es-AR" sz="1550" dirty="0">
                  <a:solidFill>
                    <a:srgbClr val="1E1E1E"/>
                  </a:solidFill>
                  <a:latin typeface="Bahnschrift"/>
                  <a:ea typeface="Bahnschrift"/>
                  <a:cs typeface="Bahnschrift"/>
                  <a:sym typeface="Bahnschrift"/>
                </a:rPr>
                <a:t>: activa desfosforilada; piruvato e insulina</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G. sintasa</a:t>
              </a:r>
              <a:r>
                <a:rPr lang="es-AR" sz="1550" dirty="0">
                  <a:solidFill>
                    <a:srgbClr val="1E1E1E"/>
                  </a:solidFill>
                  <a:latin typeface="Bahnschrift"/>
                  <a:ea typeface="Bahnschrift"/>
                  <a:cs typeface="Bahnschrift"/>
                  <a:sym typeface="Bahnschrift"/>
                </a:rPr>
                <a:t>: activa por </a:t>
              </a:r>
              <a:r>
                <a:rPr lang="es-AR" sz="1550" b="1" dirty="0">
                  <a:solidFill>
                    <a:srgbClr val="1E1E1E"/>
                  </a:solidFill>
                  <a:latin typeface="Bahnschrift"/>
                  <a:ea typeface="Bahnschrift"/>
                  <a:cs typeface="Bahnschrift"/>
                  <a:sym typeface="Bahnschrift"/>
                </a:rPr>
                <a:t>desfosforilación</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G6PDH</a:t>
              </a:r>
              <a:r>
                <a:rPr lang="es-AR" sz="1550" dirty="0">
                  <a:solidFill>
                    <a:srgbClr val="1E1E1E"/>
                  </a:solidFill>
                  <a:latin typeface="Bahnschrift"/>
                  <a:ea typeface="Bahnschrift"/>
                  <a:cs typeface="Bahnschrift"/>
                  <a:sym typeface="Bahnschrift"/>
                </a:rPr>
                <a:t>: NADPH para biosíntesis</a:t>
              </a:r>
              <a:endParaRPr lang="es-AR" sz="1550" dirty="0">
                <a:latin typeface="Bahnschrift"/>
              </a:endParaRPr>
            </a:p>
          </p:txBody>
        </p:sp>
        <p:sp>
          <p:nvSpPr>
            <p:cNvPr id="55" name="Forma 68"/>
            <p:cNvSpPr/>
            <p:nvPr/>
          </p:nvSpPr>
          <p:spPr>
            <a:xfrm>
              <a:off x="8842248" y="914400"/>
              <a:ext cx="145567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INTERRUPTORES</a:t>
              </a:r>
              <a:endParaRPr lang="es-AR" sz="1400" dirty="0">
                <a:latin typeface="Bahnschrift SemiBold Condensed"/>
              </a:endParaRPr>
            </a:p>
          </p:txBody>
        </p:sp>
      </p:grpSp>
      <p:sp>
        <p:nvSpPr>
          <p:cNvPr id="56" name="Perla"/>
          <p:cNvSpPr/>
          <p:nvPr/>
        </p:nvSpPr>
        <p:spPr>
          <a:xfrm>
            <a:off x="8732520" y="4983480"/>
            <a:ext cx="30632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FFFFFF"/>
                </a:solidFill>
                <a:latin typeface="Bahnschrift"/>
                <a:ea typeface="Bahnschrift"/>
                <a:cs typeface="Bahnschrift"/>
                <a:sym typeface="Bahnschrift"/>
              </a:rPr>
              <a:t>Objetivo</a:t>
            </a:r>
            <a:r>
              <a:rPr lang="es-AR" sz="1600" dirty="0">
                <a:solidFill>
                  <a:srgbClr val="FFFFFF"/>
                </a:solidFill>
                <a:latin typeface="Bahnschrift"/>
                <a:ea typeface="Bahnschrift"/>
                <a:cs typeface="Bahnschrift"/>
                <a:sym typeface="Bahnschrift"/>
              </a:rPr>
              <a:t>: amortiguar la glucemia y canalizar carbonos hacia reserva y oxidación.</a:t>
            </a:r>
            <a:endParaRPr lang="es-AR" sz="16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661946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HEPATOCITO POSPRANDIAL: RUTAS Y ENZIMAS</a:t>
            </a:r>
            <a:endParaRPr lang="es-AR" sz="2600" dirty="0">
              <a:latin typeface="Bahnschrift SemiBold Condensed"/>
            </a:endParaRPr>
          </a:p>
        </p:txBody>
      </p:sp>
      <p:sp>
        <p:nvSpPr>
          <p:cNvPr id="5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
                                        </p:tgtEl>
                                        <p:attrNameLst>
                                          <p:attrName>style.visibility</p:attrName>
                                        </p:attrNameLst>
                                      </p:cBhvr>
                                      <p:to>
                                        <p:strVal val="visible"/>
                                      </p:to>
                                    </p:set>
                                    <p:animEffect transition="in" filter="fade">
                                      <p:cBhvr>
                                        <p:cTn id="5" dur="500"/>
                                        <p:tgtEl>
                                          <p:spTgt spid="6"/>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7"/>
                                        </p:tgtEl>
                                        <p:attrNameLst>
                                          <p:attrName>style.visibility</p:attrName>
                                        </p:attrNameLst>
                                      </p:cBhvr>
                                      <p:to>
                                        <p:strVal val="visible"/>
                                      </p:to>
                                    </p:set>
                                    <p:animEffect transition="in" filter="wipe(up)">
                                      <p:cBhvr>
                                        <p:cTn id="9" dur="600"/>
                                        <p:tgtEl>
                                          <p:spTgt spid="7"/>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par>
                    <p:cTn id="32" fill="hold">
                      <p:stCondLst>
                        <p:cond delay="indefinite"/>
                      </p:stCondLst>
                      <p:childTnLst>
                        <p:par>
                          <p:cTn id="19"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up)">
                                      <p:cBhvr>
                                        <p:cTn id="18" dur="600"/>
                                        <p:tgtEl>
                                          <p:spTgt spid="11"/>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7" fill="hold">
                            <p:stCondLst>
                              <p:cond delay="1100"/>
                            </p:stCondLst>
                            <p:childTnLst>
                              <p:par>
                                <p:cTn id="24" presetID="22" presetClass="entr" presetSubtype="1" fill="hold" grpId="0" nodeType="after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wipe(up)">
                                      <p:cBhvr>
                                        <p:cTn id="26" dur="600"/>
                                        <p:tgtEl>
                                          <p:spTgt spid="14"/>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49" fill="hold">
                      <p:stCondLst>
                        <p:cond delay="indefinite"/>
                      </p:stCondLst>
                      <p:childTnLst>
                        <p:par>
                          <p:cTn id="36"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up)">
                                      <p:cBhvr>
                                        <p:cTn id="35" dur="600"/>
                                        <p:tgtEl>
                                          <p:spTgt spid="18"/>
                                        </p:tgtEl>
                                      </p:cBhvr>
                                    </p:animEffect>
                                  </p:childTnLst>
                                </p:cTn>
                              </p:par>
                            </p:childTnLst>
                          </p:cTn>
                        </p:par>
                        <p:par>
                          <p:cTn id="40" fill="hold">
                            <p:stCondLst>
                              <p:cond delay="600"/>
                            </p:stCondLst>
                            <p:childTnLst>
                              <p:par>
                                <p:cTn id="37" presetID="10" presetClass="entr" presetSubtype="0"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fade">
                                      <p:cBhvr>
                                        <p:cTn id="39" dur="500"/>
                                        <p:tgtEl>
                                          <p:spTgt spid="21"/>
                                        </p:tgtEl>
                                      </p:cBhvr>
                                    </p:animEffect>
                                  </p:childTnLst>
                                </p:cTn>
                              </p:par>
                            </p:childTnLst>
                          </p:cTn>
                        </p:par>
                        <p:par>
                          <p:cTn id="44" fill="hold">
                            <p:stCondLst>
                              <p:cond delay="1100"/>
                            </p:stCondLst>
                            <p:childTnLst>
                              <p:par>
                                <p:cTn id="41" presetID="22" presetClass="entr" presetSubtype="1" fill="hold" grpId="0"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wipe(up)">
                                      <p:cBhvr>
                                        <p:cTn id="43" dur="600"/>
                                        <p:tgtEl>
                                          <p:spTgt spid="22"/>
                                        </p:tgtEl>
                                      </p:cBhvr>
                                    </p:animEffect>
                                  </p:childTnLst>
                                </p:cTn>
                              </p:par>
                            </p:childTnLst>
                          </p:cTn>
                        </p:par>
                        <p:par>
                          <p:cTn id="48" fill="hold">
                            <p:stCondLst>
                              <p:cond delay="1700"/>
                            </p:stCondLst>
                            <p:childTnLst>
                              <p:par>
                                <p:cTn id="45" presetID="10" presetClass="entr" presetSubtype="0" fill="hold" grpId="0" nodeType="after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childTnLst>
                          </p:cTn>
                        </p:par>
                      </p:childTnLst>
                    </p:cTn>
                  </p:par>
                  <p:par>
                    <p:cTn id="66" fill="hold">
                      <p:stCondLst>
                        <p:cond delay="indefinite"/>
                      </p:stCondLst>
                      <p:childTnLst>
                        <p:par>
                          <p:cTn id="53" fill="hold">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26"/>
                                        </p:tgtEl>
                                        <p:attrNameLst>
                                          <p:attrName>style.visibility</p:attrName>
                                        </p:attrNameLst>
                                      </p:cBhvr>
                                      <p:to>
                                        <p:strVal val="visible"/>
                                      </p:to>
                                    </p:set>
                                    <p:animEffect transition="in" filter="wipe(up)">
                                      <p:cBhvr>
                                        <p:cTn id="52" dur="600"/>
                                        <p:tgtEl>
                                          <p:spTgt spid="26"/>
                                        </p:tgtEl>
                                      </p:cBhvr>
                                    </p:animEffect>
                                  </p:childTnLst>
                                </p:cTn>
                              </p:par>
                            </p:childTnLst>
                          </p:cTn>
                        </p:par>
                        <p:par>
                          <p:cTn id="57" fill="hold">
                            <p:stCondLst>
                              <p:cond delay="600"/>
                            </p:stCondLst>
                            <p:childTnLst>
                              <p:par>
                                <p:cTn id="54" presetID="10" presetClass="entr" presetSubtype="0" fill="hold" grpId="0" nodeType="after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fade">
                                      <p:cBhvr>
                                        <p:cTn id="56" dur="500"/>
                                        <p:tgtEl>
                                          <p:spTgt spid="29"/>
                                        </p:tgtEl>
                                      </p:cBhvr>
                                    </p:animEffect>
                                  </p:childTnLst>
                                </p:cTn>
                              </p:par>
                            </p:childTnLst>
                          </p:cTn>
                        </p:par>
                        <p:par>
                          <p:cTn id="61" fill="hold">
                            <p:stCondLst>
                              <p:cond delay="1100"/>
                            </p:stCondLst>
                            <p:childTnLst>
                              <p:par>
                                <p:cTn id="58" presetID="22"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ipe(up)">
                                      <p:cBhvr>
                                        <p:cTn id="60" dur="600"/>
                                        <p:tgtEl>
                                          <p:spTgt spid="30"/>
                                        </p:tgtEl>
                                      </p:cBhvr>
                                    </p:animEffect>
                                  </p:childTnLst>
                                </p:cTn>
                              </p:par>
                            </p:childTnLst>
                          </p:cTn>
                        </p:par>
                        <p:par>
                          <p:cTn id="65" fill="hold">
                            <p:stCondLst>
                              <p:cond delay="1700"/>
                            </p:stCondLst>
                            <p:childTnLst>
                              <p:par>
                                <p:cTn id="62" presetID="10" presetClass="entr" presetSubtype="0" fill="hold" grpId="0" nodeType="afterEffect">
                                  <p:stCondLst>
                                    <p:cond delay="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500"/>
                                        <p:tgtEl>
                                          <p:spTgt spid="33"/>
                                        </p:tgtEl>
                                      </p:cBhvr>
                                    </p:animEffect>
                                  </p:childTnLst>
                                </p:cTn>
                              </p:par>
                            </p:childTnLst>
                          </p:cTn>
                        </p:par>
                      </p:childTnLst>
                    </p:cTn>
                  </p:par>
                  <p:par>
                    <p:cTn id="91" fill="hold">
                      <p:stCondLst>
                        <p:cond delay="indefinite"/>
                      </p:stCondLst>
                      <p:childTnLst>
                        <p:par>
                          <p:cTn id="70"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wipe(left)">
                                      <p:cBhvr>
                                        <p:cTn id="69" dur="600"/>
                                        <p:tgtEl>
                                          <p:spTgt spid="41"/>
                                        </p:tgtEl>
                                      </p:cBhvr>
                                    </p:animEffect>
                                  </p:childTnLst>
                                </p:cTn>
                              </p:par>
                            </p:childTnLst>
                          </p:cTn>
                        </p:par>
                        <p:par>
                          <p:cTn id="74" fill="hold">
                            <p:stCondLst>
                              <p:cond delay="600"/>
                            </p:stCondLst>
                            <p:childTnLst>
                              <p:par>
                                <p:cTn id="71" presetID="10" presetClass="entr" presetSubtype="0" fill="hold" grpId="0" nodeType="afterEffect">
                                  <p:stCondLst>
                                    <p:cond delay="0"/>
                                  </p:stCondLst>
                                  <p:childTnLst>
                                    <p:set>
                                      <p:cBhvr>
                                        <p:cTn id="72" dur="1" fill="hold">
                                          <p:stCondLst>
                                            <p:cond delay="0"/>
                                          </p:stCondLst>
                                        </p:cTn>
                                        <p:tgtEl>
                                          <p:spTgt spid="34"/>
                                        </p:tgtEl>
                                        <p:attrNameLst>
                                          <p:attrName>style.visibility</p:attrName>
                                        </p:attrNameLst>
                                      </p:cBhvr>
                                      <p:to>
                                        <p:strVal val="visible"/>
                                      </p:to>
                                    </p:set>
                                    <p:animEffect transition="in" filter="fade">
                                      <p:cBhvr>
                                        <p:cTn id="73" dur="500"/>
                                        <p:tgtEl>
                                          <p:spTgt spid="34"/>
                                        </p:tgtEl>
                                      </p:cBhvr>
                                    </p:animEffect>
                                  </p:childTnLst>
                                </p:cTn>
                              </p:par>
                            </p:childTnLst>
                          </p:cTn>
                        </p:par>
                        <p:par>
                          <p:cTn id="78" fill="hold">
                            <p:stCondLst>
                              <p:cond delay="1100"/>
                            </p:stCondLst>
                            <p:childTnLst>
                              <p:par>
                                <p:cTn id="75" presetID="22" presetClass="entr" presetSubtype="8" fill="hold" grpId="0" nodeType="afterEffect">
                                  <p:stCondLst>
                                    <p:cond delay="0"/>
                                  </p:stCondLst>
                                  <p:childTnLst>
                                    <p:set>
                                      <p:cBhvr>
                                        <p:cTn id="76" dur="1" fill="hold">
                                          <p:stCondLst>
                                            <p:cond delay="0"/>
                                          </p:stCondLst>
                                        </p:cTn>
                                        <p:tgtEl>
                                          <p:spTgt spid="35"/>
                                        </p:tgtEl>
                                        <p:attrNameLst>
                                          <p:attrName>style.visibility</p:attrName>
                                        </p:attrNameLst>
                                      </p:cBhvr>
                                      <p:to>
                                        <p:strVal val="visible"/>
                                      </p:to>
                                    </p:set>
                                    <p:animEffect transition="in" filter="wipe(left)">
                                      <p:cBhvr>
                                        <p:cTn id="77" dur="600"/>
                                        <p:tgtEl>
                                          <p:spTgt spid="35"/>
                                        </p:tgtEl>
                                      </p:cBhvr>
                                    </p:animEffect>
                                  </p:childTnLst>
                                </p:cTn>
                              </p:par>
                            </p:childTnLst>
                          </p:cTn>
                        </p:par>
                        <p:par>
                          <p:cTn id="82" fill="hold">
                            <p:stCondLst>
                              <p:cond delay="1700"/>
                            </p:stCondLst>
                            <p:childTnLst>
                              <p:par>
                                <p:cTn id="79" presetID="10" presetClass="entr" presetSubtype="0" fill="hold" grpId="0" nodeType="afterEffect">
                                  <p:stCondLst>
                                    <p:cond delay="0"/>
                                  </p:stCondLst>
                                  <p:childTnLst>
                                    <p:set>
                                      <p:cBhvr>
                                        <p:cTn id="80" dur="1" fill="hold">
                                          <p:stCondLst>
                                            <p:cond delay="0"/>
                                          </p:stCondLst>
                                        </p:cTn>
                                        <p:tgtEl>
                                          <p:spTgt spid="37"/>
                                        </p:tgtEl>
                                        <p:attrNameLst>
                                          <p:attrName>style.visibility</p:attrName>
                                        </p:attrNameLst>
                                      </p:cBhvr>
                                      <p:to>
                                        <p:strVal val="visible"/>
                                      </p:to>
                                    </p:set>
                                    <p:animEffect transition="in" filter="fade">
                                      <p:cBhvr>
                                        <p:cTn id="81" dur="500"/>
                                        <p:tgtEl>
                                          <p:spTgt spid="37"/>
                                        </p:tgtEl>
                                      </p:cBhvr>
                                    </p:animEffect>
                                  </p:childTnLst>
                                </p:cTn>
                              </p:par>
                            </p:childTnLst>
                          </p:cTn>
                        </p:par>
                        <p:par>
                          <p:cTn id="86" fill="hold">
                            <p:stCondLst>
                              <p:cond delay="2200"/>
                            </p:stCondLst>
                            <p:childTnLst>
                              <p:par>
                                <p:cTn id="83" presetID="22" presetClass="entr" presetSubtype="8" fill="hold" grpId="0" nodeType="afterEffect">
                                  <p:stCondLst>
                                    <p:cond delay="0"/>
                                  </p:stCondLst>
                                  <p:childTnLst>
                                    <p:set>
                                      <p:cBhvr>
                                        <p:cTn id="84" dur="1" fill="hold">
                                          <p:stCondLst>
                                            <p:cond delay="0"/>
                                          </p:stCondLst>
                                        </p:cTn>
                                        <p:tgtEl>
                                          <p:spTgt spid="38"/>
                                        </p:tgtEl>
                                        <p:attrNameLst>
                                          <p:attrName>style.visibility</p:attrName>
                                        </p:attrNameLst>
                                      </p:cBhvr>
                                      <p:to>
                                        <p:strVal val="visible"/>
                                      </p:to>
                                    </p:set>
                                    <p:animEffect transition="in" filter="wipe(left)">
                                      <p:cBhvr>
                                        <p:cTn id="85" dur="600"/>
                                        <p:tgtEl>
                                          <p:spTgt spid="38"/>
                                        </p:tgtEl>
                                      </p:cBhvr>
                                    </p:animEffect>
                                  </p:childTnLst>
                                </p:cTn>
                              </p:par>
                            </p:childTnLst>
                          </p:cTn>
                        </p:par>
                        <p:par>
                          <p:cTn id="90" fill="hold">
                            <p:stCondLst>
                              <p:cond delay="2800"/>
                            </p:stCondLst>
                            <p:childTnLst>
                              <p:par>
                                <p:cTn id="87" presetID="10" presetClass="entr" presetSubtype="0" fill="hold" grpId="0" nodeType="afterEffect">
                                  <p:stCondLst>
                                    <p:cond delay="0"/>
                                  </p:stCondLst>
                                  <p:childTnLst>
                                    <p:set>
                                      <p:cBhvr>
                                        <p:cTn id="88" dur="1" fill="hold">
                                          <p:stCondLst>
                                            <p:cond delay="0"/>
                                          </p:stCondLst>
                                        </p:cTn>
                                        <p:tgtEl>
                                          <p:spTgt spid="40"/>
                                        </p:tgtEl>
                                        <p:attrNameLst>
                                          <p:attrName>style.visibility</p:attrName>
                                        </p:attrNameLst>
                                      </p:cBhvr>
                                      <p:to>
                                        <p:strVal val="visible"/>
                                      </p:to>
                                    </p:set>
                                    <p:animEffect transition="in" filter="fade">
                                      <p:cBhvr>
                                        <p:cTn id="89" dur="500"/>
                                        <p:tgtEl>
                                          <p:spTgt spid="40"/>
                                        </p:tgtEl>
                                      </p:cBhvr>
                                    </p:animEffect>
                                  </p:childTnLst>
                                </p:cTn>
                              </p:par>
                            </p:childTnLst>
                          </p:cTn>
                        </p:par>
                      </p:childTnLst>
                    </p:cTn>
                  </p:par>
                  <p:par>
                    <p:cTn id="100" fill="hold">
                      <p:stCondLst>
                        <p:cond delay="indefinite"/>
                      </p:stCondLst>
                      <p:childTnLst>
                        <p:par>
                          <p:cTn id="95"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43"/>
                                        </p:tgtEl>
                                        <p:attrNameLst>
                                          <p:attrName>style.visibility</p:attrName>
                                        </p:attrNameLst>
                                      </p:cBhvr>
                                      <p:to>
                                        <p:strVal val="visible"/>
                                      </p:to>
                                    </p:set>
                                    <p:animEffect transition="in" filter="wipe(left)">
                                      <p:cBhvr>
                                        <p:cTn id="94" dur="600"/>
                                        <p:tgtEl>
                                          <p:spTgt spid="43"/>
                                        </p:tgtEl>
                                      </p:cBhvr>
                                    </p:animEffect>
                                  </p:childTnLst>
                                </p:cTn>
                              </p:par>
                            </p:childTnLst>
                          </p:cTn>
                        </p:par>
                        <p:par>
                          <p:cTn id="99" fill="hold">
                            <p:stCondLst>
                              <p:cond delay="600"/>
                            </p:stCondLst>
                            <p:childTnLst>
                              <p:par>
                                <p:cTn id="96" presetID="10" presetClass="entr" presetSubtype="0" fill="hold" grpId="0" nodeType="afterEffect">
                                  <p:stCondLst>
                                    <p:cond delay="0"/>
                                  </p:stCondLst>
                                  <p:childTnLst>
                                    <p:set>
                                      <p:cBhvr>
                                        <p:cTn id="97" dur="1" fill="hold">
                                          <p:stCondLst>
                                            <p:cond delay="0"/>
                                          </p:stCondLst>
                                        </p:cTn>
                                        <p:tgtEl>
                                          <p:spTgt spid="42"/>
                                        </p:tgtEl>
                                        <p:attrNameLst>
                                          <p:attrName>style.visibility</p:attrName>
                                        </p:attrNameLst>
                                      </p:cBhvr>
                                      <p:to>
                                        <p:strVal val="visible"/>
                                      </p:to>
                                    </p:set>
                                    <p:animEffect transition="in" filter="fade">
                                      <p:cBhvr>
                                        <p:cTn id="98" dur="500"/>
                                        <p:tgtEl>
                                          <p:spTgt spid="42"/>
                                        </p:tgtEl>
                                      </p:cBhvr>
                                    </p:animEffect>
                                  </p:childTnLst>
                                </p:cTn>
                              </p:par>
                            </p:childTnLst>
                          </p:cTn>
                        </p:par>
                      </p:childTnLst>
                    </p:cTn>
                  </p:par>
                  <p:par>
                    <p:cTn id="125" fill="hold">
                      <p:stCondLst>
                        <p:cond delay="indefinite"/>
                      </p:stCondLst>
                      <p:childTnLst>
                        <p:par>
                          <p:cTn id="104" fill="hold">
                            <p:stCondLst>
                              <p:cond delay="0"/>
                            </p:stCondLst>
                            <p:childTnLst>
                              <p:par>
                                <p:cTn id="101" presetID="22" presetClass="entr" presetSubtype="8" fill="hold" grpId="0" nodeType="clickEffect">
                                  <p:stCondLst>
                                    <p:cond delay="0"/>
                                  </p:stCondLst>
                                  <p:childTnLst>
                                    <p:set>
                                      <p:cBhvr>
                                        <p:cTn id="102" dur="1" fill="hold">
                                          <p:stCondLst>
                                            <p:cond delay="0"/>
                                          </p:stCondLst>
                                        </p:cTn>
                                        <p:tgtEl>
                                          <p:spTgt spid="52"/>
                                        </p:tgtEl>
                                        <p:attrNameLst>
                                          <p:attrName>style.visibility</p:attrName>
                                        </p:attrNameLst>
                                      </p:cBhvr>
                                      <p:to>
                                        <p:strVal val="visible"/>
                                      </p:to>
                                    </p:set>
                                    <p:animEffect transition="in" filter="wipe(left)">
                                      <p:cBhvr>
                                        <p:cTn id="103" dur="600"/>
                                        <p:tgtEl>
                                          <p:spTgt spid="52"/>
                                        </p:tgtEl>
                                      </p:cBhvr>
                                    </p:animEffect>
                                  </p:childTnLst>
                                </p:cTn>
                              </p:par>
                            </p:childTnLst>
                          </p:cTn>
                        </p:par>
                        <p:par>
                          <p:cTn id="108" fill="hold">
                            <p:stCondLst>
                              <p:cond delay="600"/>
                            </p:stCondLst>
                            <p:childTnLst>
                              <p:par>
                                <p:cTn id="105" presetID="10" presetClass="entr" presetSubtype="0" fill="hold" grpId="0" nodeType="afterEffect">
                                  <p:stCondLst>
                                    <p:cond delay="0"/>
                                  </p:stCondLst>
                                  <p:childTnLst>
                                    <p:set>
                                      <p:cBhvr>
                                        <p:cTn id="106" dur="1" fill="hold">
                                          <p:stCondLst>
                                            <p:cond delay="0"/>
                                          </p:stCondLst>
                                        </p:cTn>
                                        <p:tgtEl>
                                          <p:spTgt spid="44"/>
                                        </p:tgtEl>
                                        <p:attrNameLst>
                                          <p:attrName>style.visibility</p:attrName>
                                        </p:attrNameLst>
                                      </p:cBhvr>
                                      <p:to>
                                        <p:strVal val="visible"/>
                                      </p:to>
                                    </p:set>
                                    <p:animEffect transition="in" filter="fade">
                                      <p:cBhvr>
                                        <p:cTn id="107" dur="500"/>
                                        <p:tgtEl>
                                          <p:spTgt spid="44"/>
                                        </p:tgtEl>
                                      </p:cBhvr>
                                    </p:animEffect>
                                  </p:childTnLst>
                                </p:cTn>
                              </p:par>
                            </p:childTnLst>
                          </p:cTn>
                        </p:par>
                        <p:par>
                          <p:cTn id="112" fill="hold">
                            <p:stCondLst>
                              <p:cond delay="1100"/>
                            </p:stCondLst>
                            <p:childTnLst>
                              <p:par>
                                <p:cTn id="109" presetID="22" presetClass="entr" presetSubtype="8" fill="hold" grpId="0" nodeType="afterEffect">
                                  <p:stCondLst>
                                    <p:cond delay="0"/>
                                  </p:stCondLst>
                                  <p:childTnLst>
                                    <p:set>
                                      <p:cBhvr>
                                        <p:cTn id="110" dur="1" fill="hold">
                                          <p:stCondLst>
                                            <p:cond delay="0"/>
                                          </p:stCondLst>
                                        </p:cTn>
                                        <p:tgtEl>
                                          <p:spTgt spid="45"/>
                                        </p:tgtEl>
                                        <p:attrNameLst>
                                          <p:attrName>style.visibility</p:attrName>
                                        </p:attrNameLst>
                                      </p:cBhvr>
                                      <p:to>
                                        <p:strVal val="visible"/>
                                      </p:to>
                                    </p:set>
                                    <p:animEffect transition="in" filter="wipe(left)">
                                      <p:cBhvr>
                                        <p:cTn id="111" dur="600"/>
                                        <p:tgtEl>
                                          <p:spTgt spid="45"/>
                                        </p:tgtEl>
                                      </p:cBhvr>
                                    </p:animEffect>
                                  </p:childTnLst>
                                </p:cTn>
                              </p:par>
                            </p:childTnLst>
                          </p:cTn>
                        </p:par>
                        <p:par>
                          <p:cTn id="116" fill="hold">
                            <p:stCondLst>
                              <p:cond delay="1700"/>
                            </p:stCondLst>
                            <p:childTnLst>
                              <p:par>
                                <p:cTn id="113" presetID="10" presetClass="entr" presetSubtype="0" fill="hold" grpId="0" nodeType="afterEffect">
                                  <p:stCondLst>
                                    <p:cond delay="0"/>
                                  </p:stCondLst>
                                  <p:childTnLst>
                                    <p:set>
                                      <p:cBhvr>
                                        <p:cTn id="114" dur="1" fill="hold">
                                          <p:stCondLst>
                                            <p:cond delay="0"/>
                                          </p:stCondLst>
                                        </p:cTn>
                                        <p:tgtEl>
                                          <p:spTgt spid="47"/>
                                        </p:tgtEl>
                                        <p:attrNameLst>
                                          <p:attrName>style.visibility</p:attrName>
                                        </p:attrNameLst>
                                      </p:cBhvr>
                                      <p:to>
                                        <p:strVal val="visible"/>
                                      </p:to>
                                    </p:set>
                                    <p:animEffect transition="in" filter="fade">
                                      <p:cBhvr>
                                        <p:cTn id="115" dur="500"/>
                                        <p:tgtEl>
                                          <p:spTgt spid="47"/>
                                        </p:tgtEl>
                                      </p:cBhvr>
                                    </p:animEffect>
                                  </p:childTnLst>
                                </p:cTn>
                              </p:par>
                            </p:childTnLst>
                          </p:cTn>
                        </p:par>
                        <p:par>
                          <p:cTn id="120" fill="hold">
                            <p:stCondLst>
                              <p:cond delay="2200"/>
                            </p:stCondLst>
                            <p:childTnLst>
                              <p:par>
                                <p:cTn id="117" presetID="22" presetClass="entr" presetSubtype="8" fill="hold" grpId="0" nodeType="afterEffect">
                                  <p:stCondLst>
                                    <p:cond delay="0"/>
                                  </p:stCondLst>
                                  <p:childTnLst>
                                    <p:set>
                                      <p:cBhvr>
                                        <p:cTn id="118" dur="1" fill="hold">
                                          <p:stCondLst>
                                            <p:cond delay="0"/>
                                          </p:stCondLst>
                                        </p:cTn>
                                        <p:tgtEl>
                                          <p:spTgt spid="48"/>
                                        </p:tgtEl>
                                        <p:attrNameLst>
                                          <p:attrName>style.visibility</p:attrName>
                                        </p:attrNameLst>
                                      </p:cBhvr>
                                      <p:to>
                                        <p:strVal val="visible"/>
                                      </p:to>
                                    </p:set>
                                    <p:animEffect transition="in" filter="wipe(left)">
                                      <p:cBhvr>
                                        <p:cTn id="119" dur="600"/>
                                        <p:tgtEl>
                                          <p:spTgt spid="48"/>
                                        </p:tgtEl>
                                      </p:cBhvr>
                                    </p:animEffect>
                                  </p:childTnLst>
                                </p:cTn>
                              </p:par>
                            </p:childTnLst>
                          </p:cTn>
                        </p:par>
                        <p:par>
                          <p:cTn id="124" fill="hold">
                            <p:stCondLst>
                              <p:cond delay="2800"/>
                            </p:stCondLst>
                            <p:childTnLst>
                              <p:par>
                                <p:cTn id="121" presetID="10" presetClass="entr" presetSubtype="0" fill="hold" grpId="0" nodeType="afterEffect">
                                  <p:stCondLst>
                                    <p:cond delay="0"/>
                                  </p:stCondLst>
                                  <p:childTnLst>
                                    <p:set>
                                      <p:cBhvr>
                                        <p:cTn id="122" dur="1" fill="hold">
                                          <p:stCondLst>
                                            <p:cond delay="0"/>
                                          </p:stCondLst>
                                        </p:cTn>
                                        <p:tgtEl>
                                          <p:spTgt spid="51"/>
                                        </p:tgtEl>
                                        <p:attrNameLst>
                                          <p:attrName>style.visibility</p:attrName>
                                        </p:attrNameLst>
                                      </p:cBhvr>
                                      <p:to>
                                        <p:strVal val="visible"/>
                                      </p:to>
                                    </p:set>
                                    <p:animEffect transition="in" filter="fade">
                                      <p:cBhvr>
                                        <p:cTn id="123" dur="500"/>
                                        <p:tgtEl>
                                          <p:spTgt spid="51"/>
                                        </p:tgtEl>
                                      </p:cBhvr>
                                    </p:animEffect>
                                  </p:childTnLst>
                                </p:cTn>
                              </p:par>
                            </p:childTnLst>
                          </p:cTn>
                        </p:par>
                      </p:childTnLst>
                    </p:cTn>
                  </p:par>
                  <p:par>
                    <p:cTn id="130" fill="hold">
                      <p:stCondLst>
                        <p:cond delay="indefinite"/>
                      </p:stCondLst>
                      <p:childTnLst>
                        <p:par>
                          <p:cTn id="129"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53"/>
                                        </p:tgtEl>
                                        <p:attrNameLst>
                                          <p:attrName>style.visibility</p:attrName>
                                        </p:attrNameLst>
                                      </p:cBhvr>
                                      <p:to>
                                        <p:strVal val="visible"/>
                                      </p:to>
                                    </p:set>
                                    <p:animEffect transition="in" filter="fade">
                                      <p:cBhvr>
                                        <p:cTn id="128" dur="500"/>
                                        <p:tgtEl>
                                          <p:spTgt spid="53"/>
                                        </p:tgtEl>
                                      </p:cBhvr>
                                    </p:animEffect>
                                  </p:childTnLst>
                                </p:cTn>
                              </p:par>
                            </p:childTnLst>
                          </p:cTn>
                        </p:par>
                      </p:childTnLst>
                    </p:cTn>
                  </p:par>
                  <p:par>
                    <p:cTn id="135" fill="hold">
                      <p:stCondLst>
                        <p:cond delay="indefinite"/>
                      </p:stCondLst>
                      <p:childTnLst>
                        <p:par>
                          <p:cTn id="134"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56"/>
                                        </p:tgtEl>
                                        <p:attrNameLst>
                                          <p:attrName>style.visibility</p:attrName>
                                        </p:attrNameLst>
                                      </p:cBhvr>
                                      <p:to>
                                        <p:strVal val="visible"/>
                                      </p:to>
                                    </p:set>
                                    <p:animEffect transition="in" filter="fade">
                                      <p:cBhvr>
                                        <p:cTn id="133"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3" grpId="0" animBg="1"/>
      <p:bldP spid="17" grpId="0" animBg="1"/>
      <p:bldP spid="21" grpId="0" animBg="1"/>
      <p:bldP spid="25" grpId="0" animBg="1"/>
      <p:bldP spid="29" grpId="0" animBg="1"/>
      <p:bldP spid="33" grpId="0" animBg="1"/>
      <p:bldP spid="41" grpId="0" animBg="1"/>
      <p:bldP spid="34" grpId="0" animBg="1"/>
      <p:bldP spid="37" grpId="0" animBg="1"/>
      <p:bldP spid="40" grpId="0" animBg="1"/>
      <p:bldP spid="43" grpId="0" animBg="1"/>
      <p:bldP spid="42" grpId="0" animBg="1"/>
      <p:bldP spid="52" grpId="0" animBg="1"/>
      <p:bldP spid="44" grpId="0" animBg="1"/>
      <p:bldP spid="47" grpId="0" animBg="1"/>
      <p:bldP spid="51" grpId="0" animBg="1"/>
      <p:bldP spid="56" grpId="0" animBg="1"/>
    </p:bldLst>
  </p:timing>
</p:sld>
</file>

<file path=ppt/slides/slide4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Adipocito grande"/>
          <p:cNvGrpSpPr/>
          <p:nvPr/>
        </p:nvGrpSpPr>
        <p:grpSpPr>
          <a:xfrm>
            <a:off x="365760" y="1051560"/>
            <a:ext cx="5303520" cy="5303520"/>
            <a:chOff x="365760" y="1051560"/>
            <a:chExt cx="5303520" cy="5303520"/>
          </a:xfrm>
        </p:grpSpPr>
        <p:sp>
          <p:nvSpPr>
            <p:cNvPr id="5" name="Forma 4"/>
            <p:cNvSpPr/>
            <p:nvPr/>
          </p:nvSpPr>
          <p:spPr>
            <a:xfrm>
              <a:off x="365760" y="1051560"/>
              <a:ext cx="5303520" cy="530352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630936" y="1316736"/>
              <a:ext cx="4773168" cy="477316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4184294" y="1369771"/>
              <a:ext cx="1166774" cy="63642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790042" y="4976165"/>
              <a:ext cx="530352" cy="265176"/>
              <a:chOff x="790042" y="4976165"/>
              <a:chExt cx="530352" cy="265176"/>
            </a:xfrm>
          </p:grpSpPr>
          <p:sp>
            <p:nvSpPr>
              <p:cNvPr id="9" name="Forma 8"/>
              <p:cNvSpPr/>
              <p:nvPr/>
            </p:nvSpPr>
            <p:spPr>
              <a:xfrm rot="-2400000">
                <a:off x="790042" y="4976165"/>
                <a:ext cx="530352" cy="26517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827166" y="5013289"/>
                <a:ext cx="456103" cy="190927"/>
              </a:xfrm>
              <a:prstGeom prst="ellipse">
                <a:avLst/>
              </a:prstGeom>
              <a:solidFill>
                <a:srgbClr val="F8D8B4"/>
              </a:solidFill>
              <a:ln w="9525" cap="rnd">
                <a:solidFill>
                  <a:srgbClr val="B2732B"/>
                </a:solidFill>
                <a:round/>
              </a:ln>
            </p:spPr>
          </p:sp>
          <p:sp>
            <p:nvSpPr>
              <p:cNvPr id="11" name="Forma 10"/>
              <p:cNvSpPr/>
              <p:nvPr/>
            </p:nvSpPr>
            <p:spPr>
              <a:xfrm rot="-2400000">
                <a:off x="827166" y="5013289"/>
                <a:ext cx="456103" cy="19092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12" name="!!GLUT"/>
          <p:cNvGrpSpPr/>
          <p:nvPr/>
        </p:nvGrpSpPr>
        <p:grpSpPr>
          <a:xfrm>
            <a:off x="137160" y="3108960"/>
            <a:ext cx="822960" cy="811987"/>
            <a:chOff x="137160" y="3108960"/>
            <a:chExt cx="822960" cy="811987"/>
          </a:xfrm>
        </p:grpSpPr>
        <p:sp>
          <p:nvSpPr>
            <p:cNvPr id="13" name="Forma 12"/>
            <p:cNvSpPr/>
            <p:nvPr/>
          </p:nvSpPr>
          <p:spPr>
            <a:xfrm>
              <a:off x="228600" y="3383280"/>
              <a:ext cx="640080" cy="230429"/>
            </a:xfrm>
            <a:prstGeom prst="roundRect">
              <a:avLst>
                <a:gd name="adj" fmla="val 45000"/>
              </a:avLst>
            </a:prstGeom>
            <a:gradFill rotWithShape="1">
              <a:gsLst>
                <a:gs pos="0">
                  <a:srgbClr val="12374F"/>
                </a:gs>
                <a:gs pos="40000">
                  <a:srgbClr val="6A8CA3"/>
                </a:gs>
                <a:gs pos="100000">
                  <a:srgbClr val="12374F"/>
                </a:gs>
              </a:gsLst>
              <a:lin ang="0" scaled="0"/>
            </a:gradFill>
            <a:ln w="15875" cap="rnd">
              <a:solidFill>
                <a:srgbClr val="0D2739"/>
              </a:solidFill>
              <a:round/>
            </a:ln>
          </p:spPr>
        </p:sp>
        <p:sp>
          <p:nvSpPr>
            <p:cNvPr id="14" name="Forma 13"/>
            <p:cNvSpPr/>
            <p:nvPr/>
          </p:nvSpPr>
          <p:spPr>
            <a:xfrm>
              <a:off x="228600" y="3690518"/>
              <a:ext cx="640080" cy="230429"/>
            </a:xfrm>
            <a:prstGeom prst="roundRect">
              <a:avLst>
                <a:gd name="adj" fmla="val 45000"/>
              </a:avLst>
            </a:prstGeom>
            <a:gradFill rotWithShape="1">
              <a:gsLst>
                <a:gs pos="0">
                  <a:srgbClr val="12374F"/>
                </a:gs>
                <a:gs pos="40000">
                  <a:srgbClr val="6A8CA3"/>
                </a:gs>
                <a:gs pos="100000">
                  <a:srgbClr val="12374F"/>
                </a:gs>
              </a:gsLst>
              <a:lin ang="0" scaled="0"/>
            </a:gradFill>
            <a:ln w="15875" cap="rnd">
              <a:solidFill>
                <a:srgbClr val="0D2739"/>
              </a:solidFill>
              <a:round/>
            </a:ln>
          </p:spPr>
        </p:sp>
        <p:sp>
          <p:nvSpPr>
            <p:cNvPr id="15" name="Forma 14"/>
            <p:cNvSpPr txBox="1"/>
            <p:nvPr/>
          </p:nvSpPr>
          <p:spPr>
            <a:xfrm>
              <a:off x="137160" y="3108960"/>
              <a:ext cx="82296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0C2333"/>
                  </a:solidFill>
                  <a:latin typeface="Bahnschrift SemiBold Condensed"/>
                  <a:ea typeface="Bahnschrift SemiBold Condensed"/>
                  <a:cs typeface="Bahnschrift SemiBold Condensed"/>
                  <a:sym typeface="Bahnschrift SemiBold Condensed"/>
                </a:rPr>
                <a:t>GLUT4</a:t>
              </a:r>
              <a:endParaRPr lang="es-AR" sz="1150" dirty="0">
                <a:latin typeface="Bahnschrift SemiBold Condensed"/>
              </a:endParaRPr>
            </a:p>
          </p:txBody>
        </p:sp>
      </p:grpSp>
      <p:sp>
        <p:nvSpPr>
          <p:cNvPr id="16" name="Ruta adipocito Glucosa"/>
          <p:cNvSpPr/>
          <p:nvPr/>
        </p:nvSpPr>
        <p:spPr>
          <a:xfrm>
            <a:off x="1188720" y="2103120"/>
            <a:ext cx="1463040" cy="3657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a:t>
            </a:r>
            <a:endParaRPr lang="es-AR" sz="1300" dirty="0">
              <a:latin typeface="Bahnschrift SemiBold Condensed"/>
            </a:endParaRPr>
          </a:p>
        </p:txBody>
      </p:sp>
      <p:grpSp>
        <p:nvGrpSpPr>
          <p:cNvPr id="17" name="Ruta adipocito paso 1"/>
          <p:cNvGrpSpPr/>
          <p:nvPr/>
        </p:nvGrpSpPr>
        <p:grpSpPr>
          <a:xfrm>
            <a:off x="1920240" y="2496312"/>
            <a:ext cx="9144" cy="356616"/>
            <a:chOff x="1920240" y="2496312"/>
            <a:chExt cx="9144" cy="356616"/>
          </a:xfrm>
        </p:grpSpPr>
        <p:sp>
          <p:nvSpPr>
            <p:cNvPr id="18" name="Flecha 17_2"/>
            <p:cNvSpPr/>
            <p:nvPr/>
          </p:nvSpPr>
          <p:spPr>
            <a:xfrm>
              <a:off x="1920240" y="24963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grpSp>
      <p:sp>
        <p:nvSpPr>
          <p:cNvPr id="19" name="Ruta adipocito G6P"/>
          <p:cNvSpPr/>
          <p:nvPr/>
        </p:nvSpPr>
        <p:spPr>
          <a:xfrm>
            <a:off x="1188720" y="2880360"/>
            <a:ext cx="14630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G6P</a:t>
            </a:r>
            <a:endParaRPr lang="es-AR" sz="1300" dirty="0">
              <a:latin typeface="Bahnschrift SemiBold Condensed"/>
            </a:endParaRPr>
          </a:p>
        </p:txBody>
      </p:sp>
      <p:grpSp>
        <p:nvGrpSpPr>
          <p:cNvPr id="20" name="Ruta adipocito paso 2"/>
          <p:cNvGrpSpPr/>
          <p:nvPr/>
        </p:nvGrpSpPr>
        <p:grpSpPr>
          <a:xfrm>
            <a:off x="1920240" y="3273552"/>
            <a:ext cx="882214" cy="356616"/>
            <a:chOff x="1920240" y="3273552"/>
            <a:chExt cx="882214" cy="356616"/>
          </a:xfrm>
        </p:grpSpPr>
        <p:sp>
          <p:nvSpPr>
            <p:cNvPr id="21" name="Flecha 21_2"/>
            <p:cNvSpPr/>
            <p:nvPr/>
          </p:nvSpPr>
          <p:spPr>
            <a:xfrm>
              <a:off x="1920240" y="3273552"/>
              <a:ext cx="9144" cy="356616"/>
            </a:xfrm>
            <a:custGeom>
              <a:avLst/>
              <a:gdLst/>
              <a:ahLst/>
              <a:cxnLst/>
              <a:rect l="0" t="0" r="r" b="b"/>
              <a:pathLst>
                <a:path w="10" h="390" fill="none">
                  <a:moveTo>
                    <a:pt x="0" y="0"/>
                  </a:moveTo>
                  <a:lnTo>
                    <a:pt x="0" y="390"/>
                  </a:lnTo>
                </a:path>
              </a:pathLst>
            </a:custGeom>
            <a:noFill/>
            <a:ln w="25400" cap="rnd">
              <a:solidFill>
                <a:srgbClr val="1E1E1E"/>
              </a:solidFill>
              <a:round/>
              <a:headEnd type="triangle" w="med" len="med"/>
              <a:tailEnd type="triangle" w="med" len="med"/>
            </a:ln>
          </p:spPr>
        </p:sp>
        <p:sp>
          <p:nvSpPr>
            <p:cNvPr id="22" name="Enzima glucólisis"/>
            <p:cNvSpPr/>
            <p:nvPr/>
          </p:nvSpPr>
          <p:spPr>
            <a:xfrm>
              <a:off x="2029968" y="3305556"/>
              <a:ext cx="77248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glucólisis</a:t>
              </a:r>
              <a:endParaRPr lang="es-AR" sz="1150" dirty="0">
                <a:latin typeface="Bahnschrift SemiBold Condensed"/>
              </a:endParaRPr>
            </a:p>
          </p:txBody>
        </p:sp>
      </p:grpSp>
      <p:sp>
        <p:nvSpPr>
          <p:cNvPr id="23" name="Ruta adipocito DHAP"/>
          <p:cNvSpPr/>
          <p:nvPr/>
        </p:nvSpPr>
        <p:spPr>
          <a:xfrm>
            <a:off x="1188720" y="3657600"/>
            <a:ext cx="14630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DHAP</a:t>
            </a:r>
            <a:endParaRPr lang="es-AR" sz="1300" dirty="0">
              <a:latin typeface="Bahnschrift SemiBold Condensed"/>
            </a:endParaRPr>
          </a:p>
        </p:txBody>
      </p:sp>
      <p:grpSp>
        <p:nvGrpSpPr>
          <p:cNvPr id="24" name="Ruta adipocito paso 3"/>
          <p:cNvGrpSpPr/>
          <p:nvPr/>
        </p:nvGrpSpPr>
        <p:grpSpPr>
          <a:xfrm>
            <a:off x="1920240" y="4050792"/>
            <a:ext cx="728637" cy="356616"/>
            <a:chOff x="1920240" y="4050792"/>
            <a:chExt cx="728637" cy="356616"/>
          </a:xfrm>
        </p:grpSpPr>
        <p:sp>
          <p:nvSpPr>
            <p:cNvPr id="25" name="Flecha 26_2"/>
            <p:cNvSpPr/>
            <p:nvPr/>
          </p:nvSpPr>
          <p:spPr>
            <a:xfrm>
              <a:off x="1920240" y="4050792"/>
              <a:ext cx="9144" cy="356616"/>
            </a:xfrm>
            <a:custGeom>
              <a:avLst/>
              <a:gdLst/>
              <a:ahLst/>
              <a:cxnLst/>
              <a:rect l="0" t="0" r="r" b="b"/>
              <a:pathLst>
                <a:path w="10" h="389" fill="none">
                  <a:moveTo>
                    <a:pt x="0" y="0"/>
                  </a:moveTo>
                  <a:lnTo>
                    <a:pt x="0" y="389"/>
                  </a:lnTo>
                </a:path>
              </a:pathLst>
            </a:custGeom>
            <a:noFill/>
            <a:ln w="25400" cap="rnd">
              <a:solidFill>
                <a:srgbClr val="1E1E1E"/>
              </a:solidFill>
              <a:round/>
              <a:headEnd type="triangle" w="med" len="med"/>
              <a:tailEnd type="triangle" w="med" len="med"/>
            </a:ln>
          </p:spPr>
        </p:sp>
        <p:sp>
          <p:nvSpPr>
            <p:cNvPr id="26" name="Enzima G3P DH"/>
            <p:cNvSpPr/>
            <p:nvPr/>
          </p:nvSpPr>
          <p:spPr>
            <a:xfrm>
              <a:off x="2029968" y="4082796"/>
              <a:ext cx="6189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G3P DH</a:t>
              </a:r>
              <a:endParaRPr lang="es-AR" sz="1150" dirty="0">
                <a:latin typeface="Bahnschrift SemiBold Condensed"/>
              </a:endParaRPr>
            </a:p>
          </p:txBody>
        </p:sp>
      </p:grpSp>
      <p:sp>
        <p:nvSpPr>
          <p:cNvPr id="27" name="Ruta adipocito Glicerol-3-P"/>
          <p:cNvSpPr/>
          <p:nvPr/>
        </p:nvSpPr>
        <p:spPr>
          <a:xfrm>
            <a:off x="1188720" y="4434840"/>
            <a:ext cx="146304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Glicerol-3-P</a:t>
            </a:r>
            <a:endParaRPr lang="es-AR" sz="1300" dirty="0">
              <a:latin typeface="Bahnschrift SemiBold Condensed"/>
            </a:endParaRPr>
          </a:p>
        </p:txBody>
      </p:sp>
      <p:sp>
        <p:nvSpPr>
          <p:cNvPr id="28" name="Activación AG AG (desde LPL)"/>
          <p:cNvSpPr/>
          <p:nvPr/>
        </p:nvSpPr>
        <p:spPr>
          <a:xfrm>
            <a:off x="3337560" y="2103120"/>
            <a:ext cx="160020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AG (desde LPL)</a:t>
            </a:r>
            <a:endParaRPr lang="es-AR" sz="1300" dirty="0">
              <a:latin typeface="Bahnschrift SemiBold Condensed"/>
            </a:endParaRPr>
          </a:p>
        </p:txBody>
      </p:sp>
      <p:grpSp>
        <p:nvGrpSpPr>
          <p:cNvPr id="29" name="Activación AG paso 1"/>
          <p:cNvGrpSpPr/>
          <p:nvPr/>
        </p:nvGrpSpPr>
        <p:grpSpPr>
          <a:xfrm>
            <a:off x="4137660" y="2496312"/>
            <a:ext cx="1390931" cy="356616"/>
            <a:chOff x="4137660" y="2496312"/>
            <a:chExt cx="1390931" cy="356616"/>
          </a:xfrm>
        </p:grpSpPr>
        <p:sp>
          <p:nvSpPr>
            <p:cNvPr id="30" name="Flecha 32_2"/>
            <p:cNvSpPr/>
            <p:nvPr/>
          </p:nvSpPr>
          <p:spPr>
            <a:xfrm>
              <a:off x="4137660" y="24963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31" name="Enzima acil-CoA sintetasa"/>
            <p:cNvSpPr/>
            <p:nvPr/>
          </p:nvSpPr>
          <p:spPr>
            <a:xfrm>
              <a:off x="4247388" y="2528316"/>
              <a:ext cx="128120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acil-CoA sintetasa</a:t>
              </a:r>
              <a:endParaRPr lang="es-AR" sz="1150" dirty="0">
                <a:latin typeface="Bahnschrift SemiBold Condensed"/>
              </a:endParaRPr>
            </a:p>
          </p:txBody>
        </p:sp>
      </p:grpSp>
      <p:sp>
        <p:nvSpPr>
          <p:cNvPr id="32" name="Activación AG Acil-CoA"/>
          <p:cNvSpPr/>
          <p:nvPr/>
        </p:nvSpPr>
        <p:spPr>
          <a:xfrm>
            <a:off x="3337560" y="2880360"/>
            <a:ext cx="160020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Acil-CoA</a:t>
            </a:r>
            <a:endParaRPr lang="es-AR" sz="1300" dirty="0">
              <a:latin typeface="Bahnschrift SemiBold Condensed"/>
            </a:endParaRPr>
          </a:p>
        </p:txBody>
      </p:sp>
      <p:sp>
        <p:nvSpPr>
          <p:cNvPr id="33" name="TAG"/>
          <p:cNvSpPr/>
          <p:nvPr/>
        </p:nvSpPr>
        <p:spPr>
          <a:xfrm>
            <a:off x="2377440" y="4983480"/>
            <a:ext cx="2194560" cy="548640"/>
          </a:xfrm>
          <a:prstGeom prst="roundRect">
            <a:avLst/>
          </a:prstGeom>
          <a:gradFill rotWithShape="1">
            <a:gsLst>
              <a:gs pos="0">
                <a:srgbClr val="F8E28B"/>
              </a:gs>
              <a:gs pos="55000">
                <a:srgbClr val="F4D03F"/>
              </a:gs>
              <a:gs pos="100000">
                <a:srgbClr val="C3A632"/>
              </a:gs>
            </a:gsLst>
            <a:path path="circle">
              <a:fillToRect l="32000" t="28000" r="68000" b="72000"/>
            </a:path>
          </a:gradFill>
          <a:ln w="19050" cap="rnd">
            <a:solidFill>
              <a:srgbClr val="9A7D0A"/>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TAG (gota lipídica)</a:t>
            </a:r>
            <a:endParaRPr lang="es-AR" sz="1400" dirty="0">
              <a:latin typeface="Bahnschrift SemiBold Condensed"/>
            </a:endParaRPr>
          </a:p>
        </p:txBody>
      </p:sp>
      <p:sp>
        <p:nvSpPr>
          <p:cNvPr id="34" name="Flecha 37_2"/>
          <p:cNvSpPr/>
          <p:nvPr/>
        </p:nvSpPr>
        <p:spPr>
          <a:xfrm>
            <a:off x="1920240" y="4818888"/>
            <a:ext cx="822960" cy="146304"/>
          </a:xfrm>
          <a:custGeom>
            <a:avLst/>
            <a:gdLst/>
            <a:ahLst/>
            <a:cxnLst/>
            <a:rect l="0" t="0" r="r" b="b"/>
            <a:pathLst>
              <a:path w="899" h="160" fill="none">
                <a:moveTo>
                  <a:pt x="0" y="0"/>
                </a:moveTo>
                <a:lnTo>
                  <a:pt x="899" y="160"/>
                </a:lnTo>
              </a:path>
            </a:pathLst>
          </a:custGeom>
          <a:noFill/>
          <a:ln w="38100" cap="rnd">
            <a:solidFill>
              <a:srgbClr val="1E8C3A"/>
            </a:solidFill>
            <a:round/>
            <a:tailEnd type="triangle" w="med" len="med"/>
          </a:ln>
        </p:spPr>
      </p:sp>
      <p:sp>
        <p:nvSpPr>
          <p:cNvPr id="35" name="Flecha 39_2"/>
          <p:cNvSpPr/>
          <p:nvPr/>
        </p:nvSpPr>
        <p:spPr>
          <a:xfrm>
            <a:off x="3657600" y="3291840"/>
            <a:ext cx="457200" cy="1673352"/>
          </a:xfrm>
          <a:custGeom>
            <a:avLst/>
            <a:gdLst/>
            <a:ahLst/>
            <a:cxnLst/>
            <a:rect l="0" t="0" r="r" b="b"/>
            <a:pathLst>
              <a:path w="500" h="1829" fill="none">
                <a:moveTo>
                  <a:pt x="500" y="0"/>
                </a:moveTo>
                <a:lnTo>
                  <a:pt x="0" y="1829"/>
                </a:lnTo>
              </a:path>
            </a:pathLst>
          </a:custGeom>
          <a:noFill/>
          <a:ln w="38100" cap="rnd">
            <a:solidFill>
              <a:srgbClr val="1E8C3A"/>
            </a:solidFill>
            <a:round/>
            <a:tailEnd type="triangle" w="med" len="med"/>
          </a:ln>
        </p:spPr>
      </p:sp>
      <p:grpSp>
        <p:nvGrpSpPr>
          <p:cNvPr id="36" name="Recuadro Clave"/>
          <p:cNvGrpSpPr/>
          <p:nvPr/>
        </p:nvGrpSpPr>
        <p:grpSpPr>
          <a:xfrm>
            <a:off x="5989320" y="1005840"/>
            <a:ext cx="5806440" cy="1600200"/>
            <a:chOff x="5989320" y="1005840"/>
            <a:chExt cx="5806440" cy="1600200"/>
          </a:xfrm>
        </p:grpSpPr>
        <p:sp>
          <p:nvSpPr>
            <p:cNvPr id="37" name="Forma 42"/>
            <p:cNvSpPr/>
            <p:nvPr/>
          </p:nvSpPr>
          <p:spPr>
            <a:xfrm>
              <a:off x="5989320" y="1188720"/>
              <a:ext cx="5806440" cy="14173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adipocito blanco posee </a:t>
              </a:r>
              <a:r>
                <a:rPr lang="es-AR" sz="1650" b="1" dirty="0">
                  <a:solidFill>
                    <a:srgbClr val="1E1E1E"/>
                  </a:solidFill>
                  <a:latin typeface="Bahnschrift"/>
                  <a:ea typeface="Bahnschrift"/>
                  <a:cs typeface="Bahnschrift"/>
                  <a:sym typeface="Bahnschrift"/>
                </a:rPr>
                <a:t>poca glicerol cinasa</a:t>
              </a:r>
              <a:r>
                <a:rPr lang="es-AR" sz="1650" dirty="0">
                  <a:solidFill>
                    <a:srgbClr val="1E1E1E"/>
                  </a:solidFill>
                  <a:latin typeface="Bahnschrift"/>
                  <a:ea typeface="Bahnschrift"/>
                  <a:cs typeface="Bahnschrift"/>
                  <a:sym typeface="Bahnschrift"/>
                </a:rPr>
                <a:t>: depende especialmente de la </a:t>
              </a:r>
              <a:r>
                <a:rPr lang="es-AR" sz="1650" b="1" dirty="0">
                  <a:solidFill>
                    <a:srgbClr val="1E1E1E"/>
                  </a:solidFill>
                  <a:latin typeface="Bahnschrift"/>
                  <a:ea typeface="Bahnschrift"/>
                  <a:cs typeface="Bahnschrift"/>
                  <a:sym typeface="Bahnschrift"/>
                </a:rPr>
                <a:t>glucosa</a:t>
              </a:r>
              <a:r>
                <a:rPr lang="es-AR" sz="1650" dirty="0">
                  <a:solidFill>
                    <a:srgbClr val="1E1E1E"/>
                  </a:solidFill>
                  <a:latin typeface="Bahnschrift"/>
                  <a:ea typeface="Bahnschrift"/>
                  <a:cs typeface="Bahnschrift"/>
                  <a:sym typeface="Bahnschrift"/>
                </a:rPr>
                <a:t> para el esqueleto de glicerol (también existe </a:t>
              </a:r>
              <a:r>
                <a:rPr lang="es-AR" sz="1650" b="1" dirty="0">
                  <a:solidFill>
                    <a:srgbClr val="1E1E1E"/>
                  </a:solidFill>
                  <a:latin typeface="Bahnschrift"/>
                  <a:ea typeface="Bahnschrift"/>
                  <a:cs typeface="Bahnschrift"/>
                  <a:sym typeface="Bahnschrift"/>
                </a:rPr>
                <a:t>gliceroneogénesis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8" name="Forma 43"/>
            <p:cNvSpPr/>
            <p:nvPr/>
          </p:nvSpPr>
          <p:spPr>
            <a:xfrm>
              <a:off x="6099048" y="1005840"/>
              <a:ext cx="79537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CLAVE</a:t>
              </a:r>
              <a:endParaRPr lang="es-AR" sz="1500" dirty="0">
                <a:latin typeface="Bahnschrift SemiBold Condensed"/>
              </a:endParaRPr>
            </a:p>
          </p:txBody>
        </p:sp>
      </p:grpSp>
      <p:grpSp>
        <p:nvGrpSpPr>
          <p:cNvPr id="39" name="Recuadro Rutas"/>
          <p:cNvGrpSpPr/>
          <p:nvPr/>
        </p:nvGrpSpPr>
        <p:grpSpPr>
          <a:xfrm>
            <a:off x="5989320" y="2788920"/>
            <a:ext cx="5806440" cy="1463040"/>
            <a:chOff x="5989320" y="2788920"/>
            <a:chExt cx="5806440" cy="1463040"/>
          </a:xfrm>
        </p:grpSpPr>
        <p:sp>
          <p:nvSpPr>
            <p:cNvPr id="40" name="Forma 45"/>
            <p:cNvSpPr/>
            <p:nvPr/>
          </p:nvSpPr>
          <p:spPr>
            <a:xfrm>
              <a:off x="5989320" y="2971800"/>
              <a:ext cx="5806440" cy="12801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Glucólisis aporta ATP y </a:t>
              </a:r>
              <a:r>
                <a:rPr lang="es-AR" sz="1650" b="1" dirty="0">
                  <a:solidFill>
                    <a:srgbClr val="1E1E1E"/>
                  </a:solidFill>
                  <a:latin typeface="Bahnschrift"/>
                  <a:ea typeface="Bahnschrift"/>
                  <a:cs typeface="Bahnschrift"/>
                  <a:sym typeface="Bahnschrift"/>
                </a:rPr>
                <a:t>DHAP → glicerol-3-P</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Vía de las pentosas</a:t>
              </a:r>
              <a:r>
                <a:rPr lang="es-AR" sz="1650" dirty="0">
                  <a:solidFill>
                    <a:srgbClr val="1E1E1E"/>
                  </a:solidFill>
                  <a:latin typeface="Bahnschrift"/>
                  <a:ea typeface="Bahnschrift"/>
                  <a:cs typeface="Bahnschrift"/>
                  <a:sym typeface="Bahnschrift"/>
                </a:rPr>
                <a:t> aporta NADPH.</a:t>
              </a:r>
              <a:endParaRPr lang="es-AR" sz="1650" dirty="0">
                <a:latin typeface="Bahnschrift"/>
              </a:endParaRPr>
            </a:p>
          </p:txBody>
        </p:sp>
        <p:sp>
          <p:nvSpPr>
            <p:cNvPr id="41" name="Forma 46"/>
            <p:cNvSpPr/>
            <p:nvPr/>
          </p:nvSpPr>
          <p:spPr>
            <a:xfrm>
              <a:off x="6099048" y="2788920"/>
              <a:ext cx="80186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RUTAS</a:t>
              </a:r>
              <a:endParaRPr lang="es-AR" sz="1500" dirty="0">
                <a:latin typeface="Bahnschrift SemiBold Condensed"/>
              </a:endParaRPr>
            </a:p>
          </p:txBody>
        </p:sp>
      </p:grpSp>
      <p:grpSp>
        <p:nvGrpSpPr>
          <p:cNvPr id="42" name="Recuadro Regulación"/>
          <p:cNvGrpSpPr/>
          <p:nvPr/>
        </p:nvGrpSpPr>
        <p:grpSpPr>
          <a:xfrm>
            <a:off x="5989320" y="4434840"/>
            <a:ext cx="5806440" cy="2057400"/>
            <a:chOff x="5989320" y="4434840"/>
            <a:chExt cx="5806440" cy="2057400"/>
          </a:xfrm>
        </p:grpSpPr>
        <p:sp>
          <p:nvSpPr>
            <p:cNvPr id="43" name="Forma 48"/>
            <p:cNvSpPr/>
            <p:nvPr/>
          </p:nvSpPr>
          <p:spPr>
            <a:xfrm>
              <a:off x="5989320" y="4617720"/>
              <a:ext cx="580644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Insulina</a:t>
              </a:r>
              <a:r>
                <a:rPr lang="es-AR" sz="1650" dirty="0">
                  <a:solidFill>
                    <a:srgbClr val="1E1E1E"/>
                  </a:solidFill>
                  <a:latin typeface="Bahnschrift"/>
                  <a:ea typeface="Bahnschrift"/>
                  <a:cs typeface="Bahnschrift"/>
                  <a:sym typeface="Bahnschrift"/>
                </a:rPr>
                <a:t> favorece la síntesis de TAG y suprime </a:t>
              </a:r>
              <a:r>
                <a:rPr lang="es-AR" sz="1650" b="1" dirty="0">
                  <a:solidFill>
                    <a:srgbClr val="1E1E1E"/>
                  </a:solidFill>
                  <a:latin typeface="Bahnschrift"/>
                  <a:ea typeface="Bahnschrift"/>
                  <a:cs typeface="Bahnschrift"/>
                  <a:sym typeface="Bahnschrift"/>
                </a:rPr>
                <a:t>ATGL/HSL</a:t>
              </a:r>
              <a:r>
                <a:rPr lang="es-AR" sz="1650" dirty="0">
                  <a:solidFill>
                    <a:srgbClr val="1E1E1E"/>
                  </a:solidFill>
                  <a:latin typeface="Bahnschrift"/>
                  <a:ea typeface="Bahnschrift"/>
                  <a:cs typeface="Bahnschrift"/>
                  <a:sym typeface="Bahnschrift"/>
                </a:rPr>
                <a:t> (sistema de lipólisis).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Aumenta la </a:t>
              </a:r>
              <a:r>
                <a:rPr lang="es-AR" sz="1650" b="1" dirty="0">
                  <a:solidFill>
                    <a:srgbClr val="1E1E1E"/>
                  </a:solidFill>
                  <a:latin typeface="Bahnschrift"/>
                  <a:ea typeface="Bahnschrift"/>
                  <a:cs typeface="Bahnschrift"/>
                  <a:sym typeface="Bahnschrift"/>
                </a:rPr>
                <a:t>LPL</a:t>
              </a:r>
              <a:r>
                <a:rPr lang="es-AR" sz="1650" dirty="0">
                  <a:solidFill>
                    <a:srgbClr val="1E1E1E"/>
                  </a:solidFill>
                  <a:latin typeface="Bahnschrift"/>
                  <a:ea typeface="Bahnschrift"/>
                  <a:cs typeface="Bahnschrift"/>
                  <a:sym typeface="Bahnschrift"/>
                </a:rPr>
                <a:t> del lecho adiposo: capta AG de QM y VLDL.</a:t>
              </a:r>
              <a:endParaRPr lang="es-AR" sz="1650" dirty="0">
                <a:latin typeface="Bahnschrift"/>
              </a:endParaRPr>
            </a:p>
          </p:txBody>
        </p:sp>
        <p:sp>
          <p:nvSpPr>
            <p:cNvPr id="44" name="Forma 49"/>
            <p:cNvSpPr/>
            <p:nvPr/>
          </p:nvSpPr>
          <p:spPr>
            <a:xfrm>
              <a:off x="6099048" y="4434840"/>
              <a:ext cx="124909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REGULACIÓN</a:t>
              </a:r>
              <a:endParaRPr lang="es-AR" sz="150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33558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ADIPOCITO POSPRANDIAL: GLUCOSA PARA EL GLICEROL-3-P</a:t>
            </a:r>
            <a:endParaRPr lang="es-AR" sz="2600" dirty="0">
              <a:latin typeface="Bahnschrift SemiBold Condensed"/>
            </a:endParaRPr>
          </a:p>
        </p:txBody>
      </p:sp>
      <p:sp>
        <p:nvSpPr>
          <p:cNvPr id="4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49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2"/>
                                        </p:tgtEl>
                                        <p:attrNameLst>
                                          <p:attrName>style.visibility</p:attrName>
                                        </p:attrNameLst>
                                      </p:cBhvr>
                                      <p:to>
                                        <p:strVal val="visible"/>
                                      </p:to>
                                    </p:set>
                                    <p:animEffect transition="in" filter="fade">
                                      <p:cBhvr>
                                        <p:cTn id="5" dur="500"/>
                                        <p:tgtEl>
                                          <p:spTgt spid="12"/>
                                        </p:tgtEl>
                                      </p:cBhvr>
                                    </p:animEffect>
                                  </p:childTnLst>
                                </p:cTn>
                              </p:par>
                            </p:childTnLst>
                          </p:cTn>
                        </p:par>
                      </p:childTnLst>
                    </p:cTn>
                  </p:par>
                  <p:par>
                    <p:cTn id="36"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par>
                          <p:cTn id="15"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wipe(up)">
                                      <p:cBhvr>
                                        <p:cTn id="14" dur="600"/>
                                        <p:tgtEl>
                                          <p:spTgt spid="17"/>
                                        </p:tgtEl>
                                      </p:cBhvr>
                                    </p:animEffect>
                                  </p:childTnLst>
                                </p:cTn>
                              </p:par>
                            </p:childTnLst>
                          </p:cTn>
                        </p:par>
                        <p:par>
                          <p:cTn id="19" fill="hold">
                            <p:stCondLst>
                              <p:cond delay="11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par>
                          <p:cTn id="23" fill="hold">
                            <p:stCondLst>
                              <p:cond delay="1600"/>
                            </p:stCondLst>
                            <p:childTnLst>
                              <p:par>
                                <p:cTn id="20" presetID="22" presetClass="entr" presetSubtype="1"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up)">
                                      <p:cBhvr>
                                        <p:cTn id="22" dur="600"/>
                                        <p:tgtEl>
                                          <p:spTgt spid="20"/>
                                        </p:tgtEl>
                                      </p:cBhvr>
                                    </p:animEffect>
                                  </p:childTnLst>
                                </p:cTn>
                              </p:par>
                            </p:childTnLst>
                          </p:cTn>
                        </p:par>
                        <p:par>
                          <p:cTn id="27" fill="hold">
                            <p:stCondLst>
                              <p:cond delay="2200"/>
                            </p:stCondLst>
                            <p:childTnLst>
                              <p:par>
                                <p:cTn id="24" presetID="10"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par>
                          <p:cTn id="31" fill="hold">
                            <p:stCondLst>
                              <p:cond delay="2700"/>
                            </p:stCondLst>
                            <p:childTnLst>
                              <p:par>
                                <p:cTn id="28" presetID="22" presetClass="entr" presetSubtype="1" fill="hold" grpId="0" nodeType="after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wipe(up)">
                                      <p:cBhvr>
                                        <p:cTn id="30" dur="600"/>
                                        <p:tgtEl>
                                          <p:spTgt spid="24"/>
                                        </p:tgtEl>
                                      </p:cBhvr>
                                    </p:animEffect>
                                  </p:childTnLst>
                                </p:cTn>
                              </p:par>
                            </p:childTnLst>
                          </p:cTn>
                        </p:par>
                        <p:par>
                          <p:cTn id="35" fill="hold">
                            <p:stCondLst>
                              <p:cond delay="3300"/>
                            </p:stCondLst>
                            <p:childTnLst>
                              <p:par>
                                <p:cTn id="32" presetID="10" presetClass="entr" presetSubtype="0" fill="hold" grpId="0"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childTnLst>
                    </p:cTn>
                  </p:par>
                  <p:par>
                    <p:cTn id="49" fill="hold">
                      <p:stCondLst>
                        <p:cond delay="indefinite"/>
                      </p:stCondLst>
                      <p:childTnLst>
                        <p:par>
                          <p:cTn id="40"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fade">
                                      <p:cBhvr>
                                        <p:cTn id="39" dur="500"/>
                                        <p:tgtEl>
                                          <p:spTgt spid="28"/>
                                        </p:tgtEl>
                                      </p:cBhvr>
                                    </p:animEffect>
                                  </p:childTnLst>
                                </p:cTn>
                              </p:par>
                            </p:childTnLst>
                          </p:cTn>
                        </p:par>
                        <p:par>
                          <p:cTn id="44" fill="hold">
                            <p:stCondLst>
                              <p:cond delay="500"/>
                            </p:stCondLst>
                            <p:childTnLst>
                              <p:par>
                                <p:cTn id="41" presetID="22" presetClass="entr" presetSubtype="1"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up)">
                                      <p:cBhvr>
                                        <p:cTn id="43" dur="600"/>
                                        <p:tgtEl>
                                          <p:spTgt spid="29"/>
                                        </p:tgtEl>
                                      </p:cBhvr>
                                    </p:animEffect>
                                  </p:childTnLst>
                                </p:cTn>
                              </p:par>
                            </p:childTnLst>
                          </p:cTn>
                        </p:par>
                        <p:par>
                          <p:cTn id="48" fill="hold">
                            <p:stCondLst>
                              <p:cond delay="1100"/>
                            </p:stCondLst>
                            <p:childTnLst>
                              <p:par>
                                <p:cTn id="45" presetID="10" presetClass="entr" presetSubtype="0" fill="hold" grpId="0" nodeType="after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childTnLst>
                    </p:cTn>
                  </p:par>
                  <p:par>
                    <p:cTn id="63" fill="hold">
                      <p:stCondLst>
                        <p:cond delay="indefinite"/>
                      </p:stCondLst>
                      <p:childTnLst>
                        <p:par>
                          <p:cTn id="56"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wipe(left)">
                                      <p:cBhvr>
                                        <p:cTn id="52" dur="600"/>
                                        <p:tgtEl>
                                          <p:spTgt spid="34"/>
                                        </p:tgtEl>
                                      </p:cBhvr>
                                    </p:animEffect>
                                  </p:childTnLst>
                                </p:cTn>
                              </p:par>
                              <p:par>
                                <p:cTn id="53" presetID="22" presetClass="entr" presetSubtype="1"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Effect transition="in" filter="wipe(up)">
                                      <p:cBhvr>
                                        <p:cTn id="55" dur="600"/>
                                        <p:tgtEl>
                                          <p:spTgt spid="35"/>
                                        </p:tgtEl>
                                      </p:cBhvr>
                                    </p:animEffect>
                                  </p:childTnLst>
                                </p:cTn>
                              </p:par>
                            </p:childTnLst>
                          </p:cTn>
                        </p:par>
                        <p:par>
                          <p:cTn id="62" fill="hold">
                            <p:stCondLst>
                              <p:cond delay="600"/>
                            </p:stCondLst>
                            <p:childTnLst>
                              <p:par>
                                <p:cTn id="57" presetID="53" presetClass="entr" presetSubtype="16"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p:cTn id="59" dur="500" fill="hold"/>
                                        <p:tgtEl>
                                          <p:spTgt spid="33"/>
                                        </p:tgtEl>
                                        <p:attrNameLst>
                                          <p:attrName>ppt_w</p:attrName>
                                        </p:attrNameLst>
                                      </p:cBhvr>
                                      <p:tavLst>
                                        <p:tav tm="0">
                                          <p:val>
                                            <p:fltVal val="0"/>
                                          </p:val>
                                        </p:tav>
                                        <p:tav tm="100000">
                                          <p:val>
                                            <p:strVal val="#ppt_w"/>
                                          </p:val>
                                        </p:tav>
                                      </p:tavLst>
                                    </p:anim>
                                    <p:anim calcmode="lin" valueType="num">
                                      <p:cBhvr>
                                        <p:cTn id="60" dur="500" fill="hold"/>
                                        <p:tgtEl>
                                          <p:spTgt spid="33"/>
                                        </p:tgtEl>
                                        <p:attrNameLst>
                                          <p:attrName>ppt_h</p:attrName>
                                        </p:attrNameLst>
                                      </p:cBhvr>
                                      <p:tavLst>
                                        <p:tav tm="0">
                                          <p:val>
                                            <p:fltVal val="0"/>
                                          </p:val>
                                        </p:tav>
                                        <p:tav tm="100000">
                                          <p:val>
                                            <p:strVal val="#ppt_h"/>
                                          </p:val>
                                        </p:tav>
                                      </p:tavLst>
                                    </p:anim>
                                    <p:animEffect transition="in" filter="fade">
                                      <p:cBhvr>
                                        <p:cTn id="61" dur="500"/>
                                        <p:tgtEl>
                                          <p:spTgt spid="33"/>
                                        </p:tgtEl>
                                      </p:cBhvr>
                                    </p:animEffect>
                                  </p:childTnLst>
                                </p:cTn>
                              </p:par>
                            </p:childTnLst>
                          </p:cTn>
                        </p:par>
                      </p:childTnLst>
                    </p:cTn>
                  </p:par>
                  <p:par>
                    <p:cTn id="68" fill="hold">
                      <p:stCondLst>
                        <p:cond delay="indefinite"/>
                      </p:stCondLst>
                      <p:childTnLst>
                        <p:par>
                          <p:cTn id="67"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6"/>
                                        </p:tgtEl>
                                        <p:attrNameLst>
                                          <p:attrName>style.visibility</p:attrName>
                                        </p:attrNameLst>
                                      </p:cBhvr>
                                      <p:to>
                                        <p:strVal val="visible"/>
                                      </p:to>
                                    </p:set>
                                    <p:animEffect transition="in" filter="fade">
                                      <p:cBhvr>
                                        <p:cTn id="66" dur="500"/>
                                        <p:tgtEl>
                                          <p:spTgt spid="36"/>
                                        </p:tgtEl>
                                      </p:cBhvr>
                                    </p:animEffect>
                                  </p:childTnLst>
                                </p:cTn>
                              </p:par>
                            </p:childTnLst>
                          </p:cTn>
                        </p:par>
                      </p:childTnLst>
                    </p:cTn>
                  </p:par>
                  <p:par>
                    <p:cTn id="73" fill="hold">
                      <p:stCondLst>
                        <p:cond delay="indefinite"/>
                      </p:stCondLst>
                      <p:childTnLst>
                        <p:par>
                          <p:cTn id="72"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childTnLst>
                          </p:cTn>
                        </p:par>
                      </p:childTnLst>
                    </p:cTn>
                  </p:par>
                  <p:par>
                    <p:cTn id="78" fill="hold">
                      <p:stCondLst>
                        <p:cond delay="indefinite"/>
                      </p:stCondLst>
                      <p:childTnLst>
                        <p:par>
                          <p:cTn id="77"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42"/>
                                        </p:tgtEl>
                                        <p:attrNameLst>
                                          <p:attrName>style.visibility</p:attrName>
                                        </p:attrNameLst>
                                      </p:cBhvr>
                                      <p:to>
                                        <p:strVal val="visible"/>
                                      </p:to>
                                    </p:set>
                                    <p:animEffect transition="in" filter="fade">
                                      <p:cBhvr>
                                        <p:cTn id="7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animBg="1"/>
      <p:bldP spid="23" grpId="0" animBg="1"/>
      <p:bldP spid="27" grpId="0" animBg="1"/>
      <p:bldP spid="28" grpId="0" animBg="1"/>
      <p:bldP spid="32" grpId="0" animBg="1"/>
      <p:bldP spid="34" grpId="0" animBg="1"/>
      <p:bldP spid="35" grpId="0" animBg="1"/>
      <p:bldP spid="33" grpId="0" animBg="1"/>
    </p:bldLst>
  </p:timing>
</p:sld>
</file>

<file path=ppt/slides/slide5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4" name="Eritrocito grande"/>
          <p:cNvSpPr/>
          <p:nvPr/>
        </p:nvSpPr>
        <p:spPr>
          <a:xfrm>
            <a:off x="274320" y="1097280"/>
            <a:ext cx="5120640" cy="512064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5" name="Forma 4"/>
          <p:cNvSpPr txBox="1"/>
          <p:nvPr/>
        </p:nvSpPr>
        <p:spPr>
          <a:xfrm>
            <a:off x="457200" y="6035040"/>
            <a:ext cx="4572000" cy="36576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7B1F17"/>
                </a:solidFill>
                <a:latin typeface="Bahnschrift SemiBold Condensed"/>
                <a:ea typeface="Bahnschrift SemiBold Condensed"/>
                <a:cs typeface="Bahnschrift SemiBold Condensed"/>
                <a:sym typeface="Bahnschrift SemiBold Condensed"/>
              </a:rPr>
              <a:t>Sin núcleo · sin mitocondrias</a:t>
            </a:r>
            <a:endParaRPr lang="es-AR" sz="1500" dirty="0">
              <a:latin typeface="Bahnschrift SemiBold Condensed"/>
            </a:endParaRPr>
          </a:p>
        </p:txBody>
      </p:sp>
      <p:grpSp>
        <p:nvGrpSpPr>
          <p:cNvPr id="6" name="!!GLUT"/>
          <p:cNvGrpSpPr/>
          <p:nvPr/>
        </p:nvGrpSpPr>
        <p:grpSpPr>
          <a:xfrm>
            <a:off x="0" y="3108960"/>
            <a:ext cx="822960" cy="811987"/>
            <a:chOff x="0" y="3108960"/>
            <a:chExt cx="822960" cy="811987"/>
          </a:xfrm>
        </p:grpSpPr>
        <p:sp>
          <p:nvSpPr>
            <p:cNvPr id="7" name="Forma 6"/>
            <p:cNvSpPr/>
            <p:nvPr/>
          </p:nvSpPr>
          <p:spPr>
            <a:xfrm>
              <a:off x="91440" y="3383280"/>
              <a:ext cx="640080" cy="230429"/>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8" name="Forma 7"/>
            <p:cNvSpPr/>
            <p:nvPr/>
          </p:nvSpPr>
          <p:spPr>
            <a:xfrm>
              <a:off x="91440" y="3690518"/>
              <a:ext cx="640080" cy="230429"/>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9" name="Forma 8"/>
            <p:cNvSpPr txBox="1"/>
            <p:nvPr/>
          </p:nvSpPr>
          <p:spPr>
            <a:xfrm>
              <a:off x="0" y="3108960"/>
              <a:ext cx="82296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GLUT1</a:t>
              </a:r>
              <a:endParaRPr lang="es-AR" sz="1150" dirty="0">
                <a:latin typeface="Bahnschrift SemiBold Condensed"/>
              </a:endParaRPr>
            </a:p>
          </p:txBody>
        </p:sp>
      </p:grpSp>
      <p:sp>
        <p:nvSpPr>
          <p:cNvPr id="10" name="Glucólisis eritrocito Glucosa"/>
          <p:cNvSpPr/>
          <p:nvPr/>
        </p:nvSpPr>
        <p:spPr>
          <a:xfrm>
            <a:off x="1920240" y="1600200"/>
            <a:ext cx="1737360" cy="3657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a:t>
            </a:r>
            <a:endParaRPr lang="es-AR" sz="1300" dirty="0">
              <a:latin typeface="Bahnschrift SemiBold Condensed"/>
            </a:endParaRPr>
          </a:p>
        </p:txBody>
      </p:sp>
      <p:grpSp>
        <p:nvGrpSpPr>
          <p:cNvPr id="11" name="Glucólisis eritrocito paso 1"/>
          <p:cNvGrpSpPr/>
          <p:nvPr/>
        </p:nvGrpSpPr>
        <p:grpSpPr>
          <a:xfrm>
            <a:off x="2788920" y="1993392"/>
            <a:ext cx="993835" cy="292608"/>
            <a:chOff x="2788920" y="1993392"/>
            <a:chExt cx="993835" cy="292608"/>
          </a:xfrm>
        </p:grpSpPr>
        <p:sp>
          <p:nvSpPr>
            <p:cNvPr id="12" name="Flecha 11_2"/>
            <p:cNvSpPr/>
            <p:nvPr/>
          </p:nvSpPr>
          <p:spPr>
            <a:xfrm>
              <a:off x="2788920" y="1993392"/>
              <a:ext cx="9144" cy="292608"/>
            </a:xfrm>
            <a:custGeom>
              <a:avLst/>
              <a:gdLst/>
              <a:ahLst/>
              <a:cxnLst/>
              <a:rect l="0" t="0" r="r" b="b"/>
              <a:pathLst>
                <a:path w="10" h="320" fill="none">
                  <a:moveTo>
                    <a:pt x="0" y="0"/>
                  </a:moveTo>
                  <a:lnTo>
                    <a:pt x="0" y="320"/>
                  </a:lnTo>
                </a:path>
              </a:pathLst>
            </a:custGeom>
            <a:noFill/>
            <a:ln w="44450" cap="rnd">
              <a:solidFill>
                <a:srgbClr val="1E1E1E"/>
              </a:solidFill>
              <a:round/>
              <a:tailEnd type="triangle" w="med" len="med"/>
            </a:ln>
          </p:spPr>
        </p:sp>
        <p:sp>
          <p:nvSpPr>
            <p:cNvPr id="13" name="Enzima hexocinasa"/>
            <p:cNvSpPr/>
            <p:nvPr/>
          </p:nvSpPr>
          <p:spPr>
            <a:xfrm>
              <a:off x="2898648" y="1993392"/>
              <a:ext cx="884107"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hexocinasa</a:t>
              </a:r>
              <a:endParaRPr lang="es-AR" sz="1150" dirty="0">
                <a:latin typeface="Bahnschrift SemiBold Condensed"/>
              </a:endParaRPr>
            </a:p>
          </p:txBody>
        </p:sp>
      </p:grpSp>
      <p:sp>
        <p:nvSpPr>
          <p:cNvPr id="14" name="Glucólisis eritrocito G6P"/>
          <p:cNvSpPr/>
          <p:nvPr/>
        </p:nvSpPr>
        <p:spPr>
          <a:xfrm>
            <a:off x="1920240" y="2313432"/>
            <a:ext cx="17373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G6P</a:t>
            </a:r>
            <a:endParaRPr lang="es-AR" sz="1300" dirty="0">
              <a:latin typeface="Bahnschrift SemiBold Condensed"/>
            </a:endParaRPr>
          </a:p>
        </p:txBody>
      </p:sp>
      <p:grpSp>
        <p:nvGrpSpPr>
          <p:cNvPr id="15" name="Glucólisis eritrocito paso 2"/>
          <p:cNvGrpSpPr/>
          <p:nvPr/>
        </p:nvGrpSpPr>
        <p:grpSpPr>
          <a:xfrm>
            <a:off x="2788920" y="2706624"/>
            <a:ext cx="882214" cy="292608"/>
            <a:chOff x="2788920" y="2706624"/>
            <a:chExt cx="882214" cy="292608"/>
          </a:xfrm>
        </p:grpSpPr>
        <p:sp>
          <p:nvSpPr>
            <p:cNvPr id="16" name="Flecha 16_2"/>
            <p:cNvSpPr/>
            <p:nvPr/>
          </p:nvSpPr>
          <p:spPr>
            <a:xfrm>
              <a:off x="2788920" y="2706624"/>
              <a:ext cx="9144" cy="292608"/>
            </a:xfrm>
            <a:custGeom>
              <a:avLst/>
              <a:gdLst/>
              <a:ahLst/>
              <a:cxnLst/>
              <a:rect l="0" t="0" r="r" b="b"/>
              <a:pathLst>
                <a:path w="10" h="320" fill="none">
                  <a:moveTo>
                    <a:pt x="0" y="0"/>
                  </a:moveTo>
                  <a:lnTo>
                    <a:pt x="0" y="320"/>
                  </a:lnTo>
                </a:path>
              </a:pathLst>
            </a:custGeom>
            <a:noFill/>
            <a:ln w="25400" cap="rnd">
              <a:solidFill>
                <a:srgbClr val="1E1E1E"/>
              </a:solidFill>
              <a:round/>
              <a:headEnd type="triangle" w="med" len="med"/>
              <a:tailEnd type="triangle" w="med" len="med"/>
            </a:ln>
          </p:spPr>
        </p:sp>
        <p:sp>
          <p:nvSpPr>
            <p:cNvPr id="17" name="Enzima glucólisis"/>
            <p:cNvSpPr/>
            <p:nvPr/>
          </p:nvSpPr>
          <p:spPr>
            <a:xfrm>
              <a:off x="2898648" y="2706624"/>
              <a:ext cx="77248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glucólisis</a:t>
              </a:r>
              <a:endParaRPr lang="es-AR" sz="1150" dirty="0">
                <a:latin typeface="Bahnschrift SemiBold Condensed"/>
              </a:endParaRPr>
            </a:p>
          </p:txBody>
        </p:sp>
      </p:grpSp>
      <p:sp>
        <p:nvSpPr>
          <p:cNvPr id="18" name="Glucólisis eritrocito 1,3-BPG"/>
          <p:cNvSpPr/>
          <p:nvPr/>
        </p:nvSpPr>
        <p:spPr>
          <a:xfrm>
            <a:off x="1920240" y="3026664"/>
            <a:ext cx="17373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1,3-BPG</a:t>
            </a:r>
            <a:endParaRPr lang="es-AR" sz="1300" dirty="0">
              <a:latin typeface="Bahnschrift SemiBold Condensed"/>
            </a:endParaRPr>
          </a:p>
        </p:txBody>
      </p:sp>
      <p:grpSp>
        <p:nvGrpSpPr>
          <p:cNvPr id="19" name="Glucólisis eritrocito paso 3"/>
          <p:cNvGrpSpPr/>
          <p:nvPr/>
        </p:nvGrpSpPr>
        <p:grpSpPr>
          <a:xfrm>
            <a:off x="2788920" y="3419856"/>
            <a:ext cx="9144" cy="292608"/>
            <a:chOff x="2788920" y="3419856"/>
            <a:chExt cx="9144" cy="292608"/>
          </a:xfrm>
        </p:grpSpPr>
        <p:sp>
          <p:nvSpPr>
            <p:cNvPr id="20" name="Flecha 21_2"/>
            <p:cNvSpPr/>
            <p:nvPr/>
          </p:nvSpPr>
          <p:spPr>
            <a:xfrm>
              <a:off x="2788920" y="3419856"/>
              <a:ext cx="9144" cy="292608"/>
            </a:xfrm>
            <a:custGeom>
              <a:avLst/>
              <a:gdLst/>
              <a:ahLst/>
              <a:cxnLst/>
              <a:rect l="0" t="0" r="r" b="b"/>
              <a:pathLst>
                <a:path w="10" h="320" fill="none">
                  <a:moveTo>
                    <a:pt x="0" y="0"/>
                  </a:moveTo>
                  <a:lnTo>
                    <a:pt x="0" y="320"/>
                  </a:lnTo>
                </a:path>
              </a:pathLst>
            </a:custGeom>
            <a:noFill/>
            <a:ln w="25400" cap="rnd">
              <a:solidFill>
                <a:srgbClr val="1E1E1E"/>
              </a:solidFill>
              <a:round/>
              <a:headEnd type="triangle" w="med" len="med"/>
              <a:tailEnd type="triangle" w="med" len="med"/>
            </a:ln>
          </p:spPr>
        </p:sp>
      </p:grpSp>
      <p:sp>
        <p:nvSpPr>
          <p:cNvPr id="21" name="Glucólisis eritrocito 3-fosfoglicerato"/>
          <p:cNvSpPr/>
          <p:nvPr/>
        </p:nvSpPr>
        <p:spPr>
          <a:xfrm>
            <a:off x="1920240" y="3739896"/>
            <a:ext cx="17373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3-fosfoglicerato</a:t>
            </a:r>
            <a:endParaRPr lang="es-AR" sz="1300" dirty="0">
              <a:latin typeface="Bahnschrift SemiBold Condensed"/>
            </a:endParaRPr>
          </a:p>
        </p:txBody>
      </p:sp>
      <p:grpSp>
        <p:nvGrpSpPr>
          <p:cNvPr id="22" name="Glucólisis eritrocito paso 4"/>
          <p:cNvGrpSpPr/>
          <p:nvPr/>
        </p:nvGrpSpPr>
        <p:grpSpPr>
          <a:xfrm>
            <a:off x="2788920" y="4133088"/>
            <a:ext cx="882214" cy="292608"/>
            <a:chOff x="2788920" y="4133088"/>
            <a:chExt cx="882214" cy="292608"/>
          </a:xfrm>
        </p:grpSpPr>
        <p:sp>
          <p:nvSpPr>
            <p:cNvPr id="23" name="Flecha 25_2"/>
            <p:cNvSpPr/>
            <p:nvPr/>
          </p:nvSpPr>
          <p:spPr>
            <a:xfrm>
              <a:off x="2788920" y="4133088"/>
              <a:ext cx="9144" cy="292608"/>
            </a:xfrm>
            <a:custGeom>
              <a:avLst/>
              <a:gdLst/>
              <a:ahLst/>
              <a:cxnLst/>
              <a:rect l="0" t="0" r="r" b="b"/>
              <a:pathLst>
                <a:path w="10" h="319" fill="none">
                  <a:moveTo>
                    <a:pt x="0" y="0"/>
                  </a:moveTo>
                  <a:lnTo>
                    <a:pt x="0" y="319"/>
                  </a:lnTo>
                </a:path>
              </a:pathLst>
            </a:custGeom>
            <a:noFill/>
            <a:ln w="44450" cap="rnd">
              <a:solidFill>
                <a:srgbClr val="1E1E1E"/>
              </a:solidFill>
              <a:round/>
              <a:tailEnd type="triangle" w="med" len="med"/>
            </a:ln>
          </p:spPr>
        </p:sp>
        <p:sp>
          <p:nvSpPr>
            <p:cNvPr id="24" name="Enzima glucólisis_2"/>
            <p:cNvSpPr/>
            <p:nvPr/>
          </p:nvSpPr>
          <p:spPr>
            <a:xfrm>
              <a:off x="2898648" y="4133088"/>
              <a:ext cx="77248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glucólisis</a:t>
              </a:r>
              <a:endParaRPr lang="es-AR" sz="1150" dirty="0">
                <a:latin typeface="Bahnschrift SemiBold Condensed"/>
              </a:endParaRPr>
            </a:p>
          </p:txBody>
        </p:sp>
      </p:grpSp>
      <p:sp>
        <p:nvSpPr>
          <p:cNvPr id="25" name="Glucólisis eritrocito Piruvato"/>
          <p:cNvSpPr/>
          <p:nvPr/>
        </p:nvSpPr>
        <p:spPr>
          <a:xfrm>
            <a:off x="1920240" y="4453128"/>
            <a:ext cx="17373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Piruvato</a:t>
            </a:r>
            <a:endParaRPr lang="es-AR" sz="1300" dirty="0">
              <a:latin typeface="Bahnschrift SemiBold Condensed"/>
            </a:endParaRPr>
          </a:p>
        </p:txBody>
      </p:sp>
      <p:grpSp>
        <p:nvGrpSpPr>
          <p:cNvPr id="26" name="Glucólisis eritrocito paso 5"/>
          <p:cNvGrpSpPr/>
          <p:nvPr/>
        </p:nvGrpSpPr>
        <p:grpSpPr>
          <a:xfrm>
            <a:off x="2788920" y="4846320"/>
            <a:ext cx="547967" cy="292608"/>
            <a:chOff x="2788920" y="4846320"/>
            <a:chExt cx="547967" cy="292608"/>
          </a:xfrm>
        </p:grpSpPr>
        <p:sp>
          <p:nvSpPr>
            <p:cNvPr id="27" name="Flecha 30_2"/>
            <p:cNvSpPr/>
            <p:nvPr/>
          </p:nvSpPr>
          <p:spPr>
            <a:xfrm>
              <a:off x="2788920" y="4846320"/>
              <a:ext cx="9144" cy="292608"/>
            </a:xfrm>
            <a:custGeom>
              <a:avLst/>
              <a:gdLst/>
              <a:ahLst/>
              <a:cxnLst/>
              <a:rect l="0" t="0" r="r" b="b"/>
              <a:pathLst>
                <a:path w="10" h="319" fill="none">
                  <a:moveTo>
                    <a:pt x="0" y="0"/>
                  </a:moveTo>
                  <a:lnTo>
                    <a:pt x="0" y="319"/>
                  </a:lnTo>
                </a:path>
              </a:pathLst>
            </a:custGeom>
            <a:noFill/>
            <a:ln w="25400" cap="rnd">
              <a:solidFill>
                <a:srgbClr val="1E1E1E"/>
              </a:solidFill>
              <a:round/>
              <a:headEnd type="triangle" w="med" len="med"/>
              <a:tailEnd type="triangle" w="med" len="med"/>
            </a:ln>
          </p:spPr>
        </p:sp>
        <p:sp>
          <p:nvSpPr>
            <p:cNvPr id="28" name="Enzima LDH"/>
            <p:cNvSpPr/>
            <p:nvPr/>
          </p:nvSpPr>
          <p:spPr>
            <a:xfrm>
              <a:off x="2898648" y="4846320"/>
              <a:ext cx="43823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LDH</a:t>
              </a:r>
              <a:endParaRPr lang="es-AR" sz="1150" dirty="0">
                <a:latin typeface="Bahnschrift SemiBold Condensed"/>
              </a:endParaRPr>
            </a:p>
          </p:txBody>
        </p:sp>
      </p:grpSp>
      <p:sp>
        <p:nvSpPr>
          <p:cNvPr id="29" name="Glucólisis eritrocito Lactato"/>
          <p:cNvSpPr/>
          <p:nvPr/>
        </p:nvSpPr>
        <p:spPr>
          <a:xfrm>
            <a:off x="1920240" y="5166360"/>
            <a:ext cx="1737360" cy="365760"/>
          </a:xfrm>
          <a:prstGeom prst="roundRect">
            <a:avLst>
              <a:gd name="adj" fmla="val 30000"/>
            </a:avLst>
          </a:prstGeom>
          <a:solidFill>
            <a:srgbClr val="D1B4DE"/>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Lactato</a:t>
            </a:r>
            <a:endParaRPr lang="es-AR" sz="1300" dirty="0">
              <a:latin typeface="Bahnschrift SemiBold Condensed"/>
            </a:endParaRPr>
          </a:p>
        </p:txBody>
      </p:sp>
      <p:sp>
        <p:nvSpPr>
          <p:cNvPr id="30" name="23BPG"/>
          <p:cNvSpPr/>
          <p:nvPr/>
        </p:nvSpPr>
        <p:spPr>
          <a:xfrm>
            <a:off x="3886200" y="3127248"/>
            <a:ext cx="746525"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2,3-BPG</a:t>
            </a:r>
            <a:endParaRPr lang="es-AR" sz="1300" dirty="0">
              <a:latin typeface="Bahnschrift SemiBold Condensed"/>
            </a:endParaRPr>
          </a:p>
        </p:txBody>
      </p:sp>
      <p:sp>
        <p:nvSpPr>
          <p:cNvPr id="31" name="Flecha 35_2"/>
          <p:cNvSpPr/>
          <p:nvPr/>
        </p:nvSpPr>
        <p:spPr>
          <a:xfrm>
            <a:off x="3685032" y="3081528"/>
            <a:ext cx="338328" cy="45720"/>
          </a:xfrm>
          <a:custGeom>
            <a:avLst/>
            <a:gdLst/>
            <a:ahLst/>
            <a:cxnLst/>
            <a:rect l="0" t="0" r="r" b="b"/>
            <a:pathLst>
              <a:path w="370" h="49" fill="none">
                <a:moveTo>
                  <a:pt x="0" y="0"/>
                </a:moveTo>
                <a:lnTo>
                  <a:pt x="370" y="49"/>
                </a:lnTo>
              </a:path>
            </a:pathLst>
          </a:custGeom>
          <a:noFill/>
          <a:ln w="25400" cap="rnd">
            <a:solidFill>
              <a:srgbClr val="8E44AD"/>
            </a:solidFill>
            <a:round/>
            <a:tailEnd type="triangle" w="med" len="med"/>
          </a:ln>
        </p:spPr>
      </p:sp>
      <p:sp>
        <p:nvSpPr>
          <p:cNvPr id="32" name="Flecha 37_2"/>
          <p:cNvSpPr/>
          <p:nvPr/>
        </p:nvSpPr>
        <p:spPr>
          <a:xfrm>
            <a:off x="3703320" y="3511296"/>
            <a:ext cx="502920" cy="256032"/>
          </a:xfrm>
          <a:custGeom>
            <a:avLst/>
            <a:gdLst/>
            <a:ahLst/>
            <a:cxnLst/>
            <a:rect l="0" t="0" r="r" b="b"/>
            <a:pathLst>
              <a:path w="549" h="280" fill="none">
                <a:moveTo>
                  <a:pt x="549" y="0"/>
                </a:moveTo>
                <a:lnTo>
                  <a:pt x="0" y="280"/>
                </a:lnTo>
              </a:path>
            </a:pathLst>
          </a:custGeom>
          <a:noFill/>
          <a:ln w="25400" cap="rnd">
            <a:solidFill>
              <a:srgbClr val="8E44AD"/>
            </a:solidFill>
            <a:round/>
            <a:tailEnd type="triangle" w="med" len="med"/>
          </a:ln>
        </p:spPr>
      </p:sp>
      <p:sp>
        <p:nvSpPr>
          <p:cNvPr id="33" name="G6PDH eritrocito"/>
          <p:cNvSpPr/>
          <p:nvPr/>
        </p:nvSpPr>
        <p:spPr>
          <a:xfrm>
            <a:off x="3749040" y="1965960"/>
            <a:ext cx="1197977" cy="246062"/>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G6PDH → NADPH</a:t>
            </a:r>
            <a:endParaRPr lang="es-AR" sz="1250" dirty="0">
              <a:latin typeface="Bahnschrift SemiBold Condensed"/>
            </a:endParaRPr>
          </a:p>
        </p:txBody>
      </p:sp>
      <p:sp>
        <p:nvSpPr>
          <p:cNvPr id="34" name="Flecha 40_2"/>
          <p:cNvSpPr/>
          <p:nvPr/>
        </p:nvSpPr>
        <p:spPr>
          <a:xfrm>
            <a:off x="3685032" y="2313432"/>
            <a:ext cx="201168" cy="18288"/>
          </a:xfrm>
          <a:custGeom>
            <a:avLst/>
            <a:gdLst/>
            <a:ahLst/>
            <a:cxnLst/>
            <a:rect l="0" t="0" r="r" b="b"/>
            <a:pathLst>
              <a:path w="219" h="20" fill="none">
                <a:moveTo>
                  <a:pt x="0" y="20"/>
                </a:moveTo>
                <a:lnTo>
                  <a:pt x="219" y="0"/>
                </a:lnTo>
              </a:path>
            </a:pathLst>
          </a:custGeom>
          <a:noFill/>
          <a:ln w="25400" cap="rnd">
            <a:solidFill>
              <a:srgbClr val="1E1E1E"/>
            </a:solidFill>
            <a:round/>
            <a:tailEnd type="triangle" w="med" len="med"/>
          </a:ln>
        </p:spPr>
      </p:sp>
      <p:grpSp>
        <p:nvGrpSpPr>
          <p:cNvPr id="35" name="Recuadro Lactato"/>
          <p:cNvGrpSpPr/>
          <p:nvPr/>
        </p:nvGrpSpPr>
        <p:grpSpPr>
          <a:xfrm>
            <a:off x="5760720" y="1005840"/>
            <a:ext cx="6035040" cy="1417320"/>
            <a:chOff x="5760720" y="1005840"/>
            <a:chExt cx="6035040" cy="1417320"/>
          </a:xfrm>
        </p:grpSpPr>
        <p:sp>
          <p:nvSpPr>
            <p:cNvPr id="36" name="Forma 43"/>
            <p:cNvSpPr/>
            <p:nvPr/>
          </p:nvSpPr>
          <p:spPr>
            <a:xfrm>
              <a:off x="5760720" y="1188720"/>
              <a:ext cx="6035040" cy="12344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LDH</a:t>
              </a:r>
              <a:r>
                <a:rPr lang="es-AR" sz="1650" dirty="0">
                  <a:solidFill>
                    <a:srgbClr val="1E1E1E"/>
                  </a:solidFill>
                  <a:latin typeface="Bahnschrift"/>
                  <a:ea typeface="Bahnschrift"/>
                  <a:cs typeface="Bahnschrift"/>
                  <a:sym typeface="Bahnschrift"/>
                </a:rPr>
                <a:t> reduce piruvato a lactato y </a:t>
              </a:r>
              <a:r>
                <a:rPr lang="es-AR" sz="1650" b="1" dirty="0">
                  <a:solidFill>
                    <a:srgbClr val="1E1E1E"/>
                  </a:solidFill>
                  <a:latin typeface="Bahnschrift"/>
                  <a:ea typeface="Bahnschrift"/>
                  <a:cs typeface="Bahnschrift"/>
                  <a:sym typeface="Bahnschrift"/>
                </a:rPr>
                <a:t>regenera NAD</a:t>
              </a:r>
              <a:r>
                <a:rPr lang="es-AR" sz="1650" b="1"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para que la glucólisis continúe. Siempre libera </a:t>
              </a:r>
              <a:r>
                <a:rPr lang="es-AR" sz="1650" b="1" dirty="0">
                  <a:solidFill>
                    <a:srgbClr val="1E1E1E"/>
                  </a:solidFill>
                  <a:latin typeface="Bahnschrift"/>
                  <a:ea typeface="Bahnschrift"/>
                  <a:cs typeface="Bahnschrift"/>
                  <a:sym typeface="Bahnschrift"/>
                </a:rPr>
                <a:t>lactato</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7" name="Forma 44"/>
            <p:cNvSpPr/>
            <p:nvPr/>
          </p:nvSpPr>
          <p:spPr>
            <a:xfrm>
              <a:off x="5870448" y="1005840"/>
              <a:ext cx="98593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LACTATO</a:t>
              </a:r>
              <a:endParaRPr lang="es-AR" sz="1500" dirty="0">
                <a:latin typeface="Bahnschrift SemiBold Condensed"/>
              </a:endParaRPr>
            </a:p>
          </p:txBody>
        </p:sp>
      </p:grpSp>
      <p:grpSp>
        <p:nvGrpSpPr>
          <p:cNvPr id="38" name="Recuadro NADPH"/>
          <p:cNvGrpSpPr/>
          <p:nvPr/>
        </p:nvGrpSpPr>
        <p:grpSpPr>
          <a:xfrm>
            <a:off x="5760720" y="2606040"/>
            <a:ext cx="6035040" cy="1371600"/>
            <a:chOff x="5760720" y="2606040"/>
            <a:chExt cx="6035040" cy="1371600"/>
          </a:xfrm>
        </p:grpSpPr>
        <p:sp>
          <p:nvSpPr>
            <p:cNvPr id="39" name="Forma 46"/>
            <p:cNvSpPr/>
            <p:nvPr/>
          </p:nvSpPr>
          <p:spPr>
            <a:xfrm>
              <a:off x="5760720" y="2788920"/>
              <a:ext cx="6035040" cy="118872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PPP/G6PDH</a:t>
              </a:r>
              <a:r>
                <a:rPr lang="es-AR" sz="1650" dirty="0">
                  <a:solidFill>
                    <a:srgbClr val="1E1E1E"/>
                  </a:solidFill>
                  <a:latin typeface="Bahnschrift"/>
                  <a:ea typeface="Bahnschrift"/>
                  <a:cs typeface="Bahnschrift"/>
                  <a:sym typeface="Bahnschrift"/>
                </a:rPr>
                <a:t> provee </a:t>
              </a:r>
              <a:r>
                <a:rPr lang="es-AR" sz="1650" b="1" dirty="0">
                  <a:solidFill>
                    <a:srgbClr val="1E1E1E"/>
                  </a:solidFill>
                  <a:latin typeface="Bahnschrift"/>
                  <a:ea typeface="Bahnschrift"/>
                  <a:cs typeface="Bahnschrift"/>
                  <a:sym typeface="Bahnschrift"/>
                </a:rPr>
                <a:t>NADPH</a:t>
              </a:r>
              <a:r>
                <a:rPr lang="es-AR" sz="1650" dirty="0">
                  <a:solidFill>
                    <a:srgbClr val="1E1E1E"/>
                  </a:solidFill>
                  <a:latin typeface="Bahnschrift"/>
                  <a:ea typeface="Bahnschrift"/>
                  <a:cs typeface="Bahnschrift"/>
                  <a:sym typeface="Bahnschrift"/>
                </a:rPr>
                <a:t> para mantener el </a:t>
              </a:r>
              <a:r>
                <a:rPr lang="es-AR" sz="1650" b="1" dirty="0">
                  <a:solidFill>
                    <a:srgbClr val="1E1E1E"/>
                  </a:solidFill>
                  <a:latin typeface="Bahnschrift"/>
                  <a:ea typeface="Bahnschrift"/>
                  <a:cs typeface="Bahnschrift"/>
                  <a:sym typeface="Bahnschrift"/>
                </a:rPr>
                <a:t>glutatión reducido</a:t>
              </a:r>
              <a:r>
                <a:rPr lang="es-AR" sz="1650" dirty="0">
                  <a:solidFill>
                    <a:srgbClr val="1E1E1E"/>
                  </a:solidFill>
                  <a:latin typeface="Bahnschrift"/>
                  <a:ea typeface="Bahnschrift"/>
                  <a:cs typeface="Bahnschrift"/>
                  <a:sym typeface="Bahnschrift"/>
                </a:rPr>
                <a:t> (defensa antioxidante).</a:t>
              </a:r>
              <a:endParaRPr lang="es-AR" sz="1650" dirty="0">
                <a:latin typeface="Bahnschrift"/>
              </a:endParaRPr>
            </a:p>
          </p:txBody>
        </p:sp>
        <p:sp>
          <p:nvSpPr>
            <p:cNvPr id="40" name="Forma 47"/>
            <p:cNvSpPr/>
            <p:nvPr/>
          </p:nvSpPr>
          <p:spPr>
            <a:xfrm>
              <a:off x="5870448" y="2606040"/>
              <a:ext cx="83182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NADPH</a:t>
              </a:r>
              <a:endParaRPr lang="es-AR" sz="1500" dirty="0">
                <a:latin typeface="Bahnschrift SemiBold Condensed"/>
              </a:endParaRPr>
            </a:p>
          </p:txBody>
        </p:sp>
      </p:grpSp>
      <p:grpSp>
        <p:nvGrpSpPr>
          <p:cNvPr id="41" name="Recuadro 2,3-BPG"/>
          <p:cNvGrpSpPr/>
          <p:nvPr/>
        </p:nvGrpSpPr>
        <p:grpSpPr>
          <a:xfrm>
            <a:off x="5760720" y="4160520"/>
            <a:ext cx="6035040" cy="1234440"/>
            <a:chOff x="5760720" y="4160520"/>
            <a:chExt cx="6035040" cy="1234440"/>
          </a:xfrm>
        </p:grpSpPr>
        <p:sp>
          <p:nvSpPr>
            <p:cNvPr id="42" name="Forma 49"/>
            <p:cNvSpPr/>
            <p:nvPr/>
          </p:nvSpPr>
          <p:spPr>
            <a:xfrm>
              <a:off x="5760720" y="4343400"/>
              <a:ext cx="6035040" cy="1051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Derivación de </a:t>
              </a:r>
              <a:r>
                <a:rPr lang="es-AR" sz="1650" b="1" dirty="0">
                  <a:solidFill>
                    <a:srgbClr val="1E1E1E"/>
                  </a:solidFill>
                  <a:latin typeface="Bahnschrift"/>
                  <a:ea typeface="Bahnschrift"/>
                  <a:cs typeface="Bahnschrift"/>
                  <a:sym typeface="Bahnschrift"/>
                </a:rPr>
                <a:t>Rapoport–Luebering</a:t>
              </a:r>
              <a:r>
                <a:rPr lang="es-AR" sz="1650" dirty="0">
                  <a:solidFill>
                    <a:srgbClr val="1E1E1E"/>
                  </a:solidFill>
                  <a:latin typeface="Bahnschrift"/>
                  <a:ea typeface="Bahnschrift"/>
                  <a:cs typeface="Bahnschrift"/>
                  <a:sym typeface="Bahnschrift"/>
                </a:rPr>
                <a:t>: 2,3-BPG a costa de ATP (modula la afinidad de la Hb por O</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3" name="Forma 50"/>
            <p:cNvSpPr/>
            <p:nvPr/>
          </p:nvSpPr>
          <p:spPr>
            <a:xfrm>
              <a:off x="5870448" y="4160520"/>
              <a:ext cx="91622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2,3-BPG</a:t>
              </a:r>
              <a:endParaRPr lang="es-AR" sz="1500" dirty="0">
                <a:latin typeface="Bahnschrift SemiBold Condensed"/>
              </a:endParaRPr>
            </a:p>
          </p:txBody>
        </p:sp>
      </p:grpSp>
      <p:sp>
        <p:nvSpPr>
          <p:cNvPr id="44" name="Perla"/>
          <p:cNvSpPr/>
          <p:nvPr/>
        </p:nvSpPr>
        <p:spPr>
          <a:xfrm>
            <a:off x="5760720" y="5532120"/>
            <a:ext cx="6035040" cy="9601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Poco dependiente de insulina: su demanda de glucosa </a:t>
            </a:r>
            <a:r>
              <a:rPr lang="es-AR" sz="1600" b="1" dirty="0">
                <a:solidFill>
                  <a:srgbClr val="FFFFFF"/>
                </a:solidFill>
                <a:latin typeface="Bahnschrift"/>
                <a:ea typeface="Bahnschrift"/>
                <a:cs typeface="Bahnschrift"/>
                <a:sym typeface="Bahnschrift"/>
              </a:rPr>
              <a:t>persiste en ayuno</a:t>
            </a:r>
            <a:r>
              <a:rPr lang="es-AR" sz="1600" dirty="0">
                <a:solidFill>
                  <a:srgbClr val="FFFFFF"/>
                </a:solidFill>
                <a:latin typeface="Bahnschrift"/>
                <a:ea typeface="Bahnschrift"/>
                <a:cs typeface="Bahnschrift"/>
                <a:sym typeface="Bahnschrift"/>
              </a:rPr>
              <a:t>. No oxida AG ni usa cuerpos cetónicos.</a:t>
            </a:r>
            <a:endParaRPr lang="es-AR" sz="160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27456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ERITROCITO: GLUCÓLISIS ANAEROBIA PERMANENTE</a:t>
            </a:r>
            <a:endParaRPr lang="es-AR" sz="2600" dirty="0">
              <a:latin typeface="Bahnschrift SemiBold Condensed"/>
            </a:endParaRPr>
          </a:p>
        </p:txBody>
      </p:sp>
      <p:sp>
        <p:nvSpPr>
          <p:cNvPr id="4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
                                        </p:tgtEl>
                                        <p:attrNameLst>
                                          <p:attrName>style.visibility</p:attrName>
                                        </p:attrNameLst>
                                      </p:cBhvr>
                                      <p:to>
                                        <p:strVal val="visible"/>
                                      </p:to>
                                    </p:set>
                                    <p:animEffect transition="in" filter="fade">
                                      <p:cBhvr>
                                        <p:cTn id="5" dur="500"/>
                                        <p:tgtEl>
                                          <p:spTgt spid="6"/>
                                        </p:tgtEl>
                                      </p:cBhvr>
                                    </p:animEffect>
                                  </p:childTnLst>
                                </p:cTn>
                              </p:par>
                            </p:childTnLst>
                          </p:cTn>
                        </p:par>
                      </p:childTnLst>
                    </p:cTn>
                  </p:par>
                  <p:par>
                    <p:cTn id="28"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5"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up)">
                                      <p:cBhvr>
                                        <p:cTn id="14" dur="600"/>
                                        <p:tgtEl>
                                          <p:spTgt spid="11"/>
                                        </p:tgtEl>
                                      </p:cBhvr>
                                    </p:animEffect>
                                  </p:childTnLst>
                                </p:cTn>
                              </p:par>
                            </p:childTnLst>
                          </p:cTn>
                        </p:par>
                        <p:par>
                          <p:cTn id="19" fill="hold">
                            <p:stCondLst>
                              <p:cond delay="1100"/>
                            </p:stCondLst>
                            <p:childTnLst>
                              <p:par>
                                <p:cTn id="16" presetID="10" presetClass="entr" presetSubtype="0" fill="hold" grpId="0"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par>
                          <p:cTn id="23" fill="hold">
                            <p:stCondLst>
                              <p:cond delay="1600"/>
                            </p:stCondLst>
                            <p:childTnLst>
                              <p:par>
                                <p:cTn id="20" presetID="22" presetClass="entr" presetSubtype="1"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up)">
                                      <p:cBhvr>
                                        <p:cTn id="22" dur="600"/>
                                        <p:tgtEl>
                                          <p:spTgt spid="15"/>
                                        </p:tgtEl>
                                      </p:cBhvr>
                                    </p:animEffect>
                                  </p:childTnLst>
                                </p:cTn>
                              </p:par>
                            </p:childTnLst>
                          </p:cTn>
                        </p:par>
                        <p:par>
                          <p:cTn id="27" fill="hold">
                            <p:stCondLst>
                              <p:cond delay="2200"/>
                            </p:stCondLst>
                            <p:childTnLst>
                              <p:par>
                                <p:cTn id="24" presetID="10" presetClass="entr" presetSubtype="0" fill="hold" grpId="0"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53" fill="hold">
                      <p:stCondLst>
                        <p:cond delay="indefinite"/>
                      </p:stCondLst>
                      <p:childTnLst>
                        <p:par>
                          <p:cTn id="32" fill="hold">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up)">
                                      <p:cBhvr>
                                        <p:cTn id="31" dur="600"/>
                                        <p:tgtEl>
                                          <p:spTgt spid="19"/>
                                        </p:tgtEl>
                                      </p:cBhvr>
                                    </p:animEffect>
                                  </p:childTnLst>
                                </p:cTn>
                              </p:par>
                            </p:childTnLst>
                          </p:cTn>
                        </p:par>
                        <p:par>
                          <p:cTn id="36" fill="hold">
                            <p:stCondLst>
                              <p:cond delay="600"/>
                            </p:stCondLst>
                            <p:childTnLst>
                              <p:par>
                                <p:cTn id="33" presetID="10" presetClass="entr" presetSubtype="0" fill="hold" grpId="0"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par>
                          <p:cTn id="40" fill="hold">
                            <p:stCondLst>
                              <p:cond delay="1100"/>
                            </p:stCondLst>
                            <p:childTnLst>
                              <p:par>
                                <p:cTn id="37" presetID="22" presetClass="entr" presetSubtype="1" fill="hold" grpId="0"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up)">
                                      <p:cBhvr>
                                        <p:cTn id="39" dur="600"/>
                                        <p:tgtEl>
                                          <p:spTgt spid="22"/>
                                        </p:tgtEl>
                                      </p:cBhvr>
                                    </p:animEffect>
                                  </p:childTnLst>
                                </p:cTn>
                              </p:par>
                            </p:childTnLst>
                          </p:cTn>
                        </p:par>
                        <p:par>
                          <p:cTn id="44" fill="hold">
                            <p:stCondLst>
                              <p:cond delay="1700"/>
                            </p:stCondLst>
                            <p:childTnLst>
                              <p:par>
                                <p:cTn id="41" presetID="10" presetClass="entr" presetSubtype="0"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par>
                          <p:cTn id="48" fill="hold">
                            <p:stCondLst>
                              <p:cond delay="2200"/>
                            </p:stCondLst>
                            <p:childTnLst>
                              <p:par>
                                <p:cTn id="45" presetID="22" presetClass="entr" presetSubtype="1"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wipe(up)">
                                      <p:cBhvr>
                                        <p:cTn id="47" dur="600"/>
                                        <p:tgtEl>
                                          <p:spTgt spid="26"/>
                                        </p:tgtEl>
                                      </p:cBhvr>
                                    </p:animEffect>
                                  </p:childTnLst>
                                </p:cTn>
                              </p:par>
                            </p:childTnLst>
                          </p:cTn>
                        </p:par>
                        <p:par>
                          <p:cTn id="52" fill="hold">
                            <p:stCondLst>
                              <p:cond delay="2800"/>
                            </p:stCondLst>
                            <p:childTnLst>
                              <p:par>
                                <p:cTn id="49" presetID="10" presetClass="entr" presetSubtype="0"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childTnLst>
                          </p:cTn>
                        </p:par>
                      </p:childTnLst>
                    </p:cTn>
                  </p:par>
                  <p:par>
                    <p:cTn id="58" fill="hold">
                      <p:stCondLst>
                        <p:cond delay="indefinite"/>
                      </p:stCondLst>
                      <p:childTnLst>
                        <p:par>
                          <p:cTn id="57"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fade">
                                      <p:cBhvr>
                                        <p:cTn id="56" dur="500"/>
                                        <p:tgtEl>
                                          <p:spTgt spid="35"/>
                                        </p:tgtEl>
                                      </p:cBhvr>
                                    </p:animEffect>
                                  </p:childTnLst>
                                </p:cTn>
                              </p:par>
                            </p:childTnLst>
                          </p:cTn>
                        </p:par>
                      </p:childTnLst>
                    </p:cTn>
                  </p:par>
                  <p:par>
                    <p:cTn id="70" fill="hold">
                      <p:stCondLst>
                        <p:cond delay="indefinite"/>
                      </p:stCondLst>
                      <p:childTnLst>
                        <p:par>
                          <p:cTn id="62"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wipe(left)">
                                      <p:cBhvr>
                                        <p:cTn id="61" dur="600"/>
                                        <p:tgtEl>
                                          <p:spTgt spid="34"/>
                                        </p:tgtEl>
                                      </p:cBhvr>
                                    </p:animEffect>
                                  </p:childTnLst>
                                </p:cTn>
                              </p:par>
                            </p:childTnLst>
                          </p:cTn>
                        </p:par>
                        <p:par>
                          <p:cTn id="69" fill="hold">
                            <p:stCondLst>
                              <p:cond delay="600"/>
                            </p:stCondLst>
                            <p:childTnLst>
                              <p:par>
                                <p:cTn id="63" presetID="10" presetClass="entr" presetSubtype="0" fill="hold" grpId="0" nodeType="afterEffect">
                                  <p:stCondLst>
                                    <p:cond delay="0"/>
                                  </p:stCondLst>
                                  <p:childTnLst>
                                    <p:set>
                                      <p:cBhvr>
                                        <p:cTn id="64" dur="1" fill="hold">
                                          <p:stCondLst>
                                            <p:cond delay="0"/>
                                          </p:stCondLst>
                                        </p:cTn>
                                        <p:tgtEl>
                                          <p:spTgt spid="33"/>
                                        </p:tgtEl>
                                        <p:attrNameLst>
                                          <p:attrName>style.visibility</p:attrName>
                                        </p:attrNameLst>
                                      </p:cBhvr>
                                      <p:to>
                                        <p:strVal val="visible"/>
                                      </p:to>
                                    </p:set>
                                    <p:animEffect transition="in" filter="fade">
                                      <p:cBhvr>
                                        <p:cTn id="65" dur="500"/>
                                        <p:tgtEl>
                                          <p:spTgt spid="33"/>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8"/>
                                        </p:tgtEl>
                                        <p:attrNameLst>
                                          <p:attrName>style.visibility</p:attrName>
                                        </p:attrNameLst>
                                      </p:cBhvr>
                                      <p:to>
                                        <p:strVal val="visible"/>
                                      </p:to>
                                    </p:set>
                                    <p:animEffect transition="in" filter="fade">
                                      <p:cBhvr>
                                        <p:cTn id="68" dur="500"/>
                                        <p:tgtEl>
                                          <p:spTgt spid="38"/>
                                        </p:tgtEl>
                                      </p:cBhvr>
                                    </p:animEffect>
                                  </p:childTnLst>
                                </p:cTn>
                              </p:par>
                            </p:childTnLst>
                          </p:cTn>
                        </p:par>
                      </p:childTnLst>
                    </p:cTn>
                  </p:par>
                  <p:par>
                    <p:cTn id="86" fill="hold">
                      <p:stCondLst>
                        <p:cond delay="indefinite"/>
                      </p:stCondLst>
                      <p:childTnLst>
                        <p:par>
                          <p:cTn id="74"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31"/>
                                        </p:tgtEl>
                                        <p:attrNameLst>
                                          <p:attrName>style.visibility</p:attrName>
                                        </p:attrNameLst>
                                      </p:cBhvr>
                                      <p:to>
                                        <p:strVal val="visible"/>
                                      </p:to>
                                    </p:set>
                                    <p:animEffect transition="in" filter="wipe(left)">
                                      <p:cBhvr>
                                        <p:cTn id="73" dur="600"/>
                                        <p:tgtEl>
                                          <p:spTgt spid="31"/>
                                        </p:tgtEl>
                                      </p:cBhvr>
                                    </p:animEffect>
                                  </p:childTnLst>
                                </p:cTn>
                              </p:par>
                            </p:childTnLst>
                          </p:cTn>
                        </p:par>
                        <p:par>
                          <p:cTn id="78" fill="hold">
                            <p:stCondLst>
                              <p:cond delay="600"/>
                            </p:stCondLst>
                            <p:childTnLst>
                              <p:par>
                                <p:cTn id="75" presetID="10" presetClass="entr" presetSubtype="0" fill="hold" grpId="0" nodeType="after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fade">
                                      <p:cBhvr>
                                        <p:cTn id="77" dur="500"/>
                                        <p:tgtEl>
                                          <p:spTgt spid="30"/>
                                        </p:tgtEl>
                                      </p:cBhvr>
                                    </p:animEffect>
                                  </p:childTnLst>
                                </p:cTn>
                              </p:par>
                            </p:childTnLst>
                          </p:cTn>
                        </p:par>
                        <p:par>
                          <p:cTn id="85" fill="hold">
                            <p:stCondLst>
                              <p:cond delay="1100"/>
                            </p:stCondLst>
                            <p:childTnLst>
                              <p:par>
                                <p:cTn id="79" presetID="22" presetClass="entr" presetSubtype="8" fill="hold" grpId="0" nodeType="after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wipe(left)">
                                      <p:cBhvr>
                                        <p:cTn id="81" dur="600"/>
                                        <p:tgtEl>
                                          <p:spTgt spid="3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500"/>
                                        <p:tgtEl>
                                          <p:spTgt spid="41"/>
                                        </p:tgtEl>
                                      </p:cBhvr>
                                    </p:animEffect>
                                  </p:childTnLst>
                                </p:cTn>
                              </p:par>
                            </p:childTnLst>
                          </p:cTn>
                        </p:par>
                      </p:childTnLst>
                    </p:cTn>
                  </p:par>
                  <p:par>
                    <p:cTn id="91" fill="hold">
                      <p:stCondLst>
                        <p:cond delay="indefinite"/>
                      </p:stCondLst>
                      <p:childTnLst>
                        <p:par>
                          <p:cTn id="90"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44"/>
                                        </p:tgtEl>
                                        <p:attrNameLst>
                                          <p:attrName>style.visibility</p:attrName>
                                        </p:attrNameLst>
                                      </p:cBhvr>
                                      <p:to>
                                        <p:strVal val="visible"/>
                                      </p:to>
                                    </p:set>
                                    <p:animEffect transition="in" filter="fade">
                                      <p:cBhvr>
                                        <p:cTn id="89"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8" grpId="0" animBg="1"/>
      <p:bldP spid="21" grpId="0" animBg="1"/>
      <p:bldP spid="25" grpId="0" animBg="1"/>
      <p:bldP spid="29" grpId="0" animBg="1"/>
      <p:bldP spid="34" grpId="0" animBg="1"/>
      <p:bldP spid="33" grpId="0" animBg="1"/>
      <p:bldP spid="31" grpId="0" animBg="1"/>
      <p:bldP spid="30" grpId="0" animBg="1"/>
      <p:bldP spid="32" grpId="0" animBg="1"/>
      <p:bldP spid="44" grpId="0" animBg="1"/>
    </p:bldLst>
  </p:timing>
</p:sld>
</file>

<file path=ppt/slides/slide5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apilar cerebral"/>
          <p:cNvGrpSpPr/>
          <p:nvPr/>
        </p:nvGrpSpPr>
        <p:grpSpPr>
          <a:xfrm>
            <a:off x="274320" y="1143000"/>
            <a:ext cx="5669280" cy="685800"/>
            <a:chOff x="274320" y="1143000"/>
            <a:chExt cx="5669280" cy="685800"/>
          </a:xfrm>
        </p:grpSpPr>
        <p:sp>
          <p:nvSpPr>
            <p:cNvPr id="5" name="Forma 4"/>
            <p:cNvSpPr/>
            <p:nvPr/>
          </p:nvSpPr>
          <p:spPr>
            <a:xfrm>
              <a:off x="274320" y="1143000"/>
              <a:ext cx="5669280" cy="68580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377190" y="1266444"/>
              <a:ext cx="5463540" cy="438912"/>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969611" y="1476955"/>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1789178" y="1329001"/>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3468209" y="1440632"/>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4663485" y="1367280"/>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1" name="!!GLUT"/>
          <p:cNvGrpSpPr/>
          <p:nvPr/>
        </p:nvGrpSpPr>
        <p:grpSpPr>
          <a:xfrm>
            <a:off x="1097280" y="1828800"/>
            <a:ext cx="1153973" cy="758952"/>
            <a:chOff x="1097280" y="1828800"/>
            <a:chExt cx="1153973" cy="758952"/>
          </a:xfrm>
        </p:grpSpPr>
        <p:sp>
          <p:nvSpPr>
            <p:cNvPr id="12" name="Forma 11"/>
            <p:cNvSpPr/>
            <p:nvPr/>
          </p:nvSpPr>
          <p:spPr>
            <a:xfrm>
              <a:off x="1463040" y="1828800"/>
              <a:ext cx="181051" cy="502920"/>
            </a:xfrm>
            <a:prstGeom prst="roundRect">
              <a:avLst>
                <a:gd name="adj" fmla="val 45000"/>
              </a:avLst>
            </a:prstGeom>
            <a:gradFill rotWithShape="1">
              <a:gsLst>
                <a:gs pos="0">
                  <a:srgbClr val="5D87A3"/>
                </a:gs>
                <a:gs pos="30000">
                  <a:srgbClr val="AFD6F0"/>
                </a:gs>
                <a:gs pos="55000">
                  <a:srgbClr val="85C1E9"/>
                </a:gs>
                <a:gs pos="100000">
                  <a:srgbClr val="5D87A3"/>
                </a:gs>
              </a:gsLst>
              <a:lin ang="5400000" scaled="0"/>
            </a:gradFill>
            <a:ln w="15875" cap="rnd">
              <a:solidFill>
                <a:srgbClr val="426074"/>
              </a:solidFill>
              <a:round/>
            </a:ln>
          </p:spPr>
        </p:sp>
        <p:sp>
          <p:nvSpPr>
            <p:cNvPr id="13" name="Forma 12"/>
            <p:cNvSpPr/>
            <p:nvPr/>
          </p:nvSpPr>
          <p:spPr>
            <a:xfrm>
              <a:off x="1704442" y="1828800"/>
              <a:ext cx="181051" cy="502920"/>
            </a:xfrm>
            <a:prstGeom prst="roundRect">
              <a:avLst>
                <a:gd name="adj" fmla="val 45000"/>
              </a:avLst>
            </a:prstGeom>
            <a:gradFill rotWithShape="1">
              <a:gsLst>
                <a:gs pos="0">
                  <a:srgbClr val="5D87A3"/>
                </a:gs>
                <a:gs pos="30000">
                  <a:srgbClr val="AFD6F0"/>
                </a:gs>
                <a:gs pos="55000">
                  <a:srgbClr val="85C1E9"/>
                </a:gs>
                <a:gs pos="100000">
                  <a:srgbClr val="5D87A3"/>
                </a:gs>
              </a:gsLst>
              <a:lin ang="5400000" scaled="0"/>
            </a:gradFill>
            <a:ln w="15875" cap="rnd">
              <a:solidFill>
                <a:srgbClr val="426074"/>
              </a:solidFill>
              <a:round/>
            </a:ln>
          </p:spPr>
        </p:sp>
        <p:sp>
          <p:nvSpPr>
            <p:cNvPr id="14" name="Forma 13"/>
            <p:cNvSpPr txBox="1"/>
            <p:nvPr/>
          </p:nvSpPr>
          <p:spPr>
            <a:xfrm>
              <a:off x="1097280" y="2350008"/>
              <a:ext cx="1153973"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3B5668"/>
                  </a:solidFill>
                  <a:latin typeface="Bahnschrift SemiBold Condensed"/>
                  <a:ea typeface="Bahnschrift SemiBold Condensed"/>
                  <a:cs typeface="Bahnschrift SemiBold Condensed"/>
                  <a:sym typeface="Bahnschrift SemiBold Condensed"/>
                </a:rPr>
                <a:t>GLUT1 (barrera)</a:t>
              </a:r>
              <a:endParaRPr lang="es-AR" sz="1150" dirty="0">
                <a:latin typeface="Bahnschrift SemiBold Condensed"/>
              </a:endParaRPr>
            </a:p>
          </p:txBody>
        </p:sp>
      </p:grpSp>
      <p:grpSp>
        <p:nvGrpSpPr>
          <p:cNvPr id="15" name="Neurona"/>
          <p:cNvGrpSpPr/>
          <p:nvPr/>
        </p:nvGrpSpPr>
        <p:grpSpPr>
          <a:xfrm>
            <a:off x="365760" y="2651760"/>
            <a:ext cx="5669280" cy="3118104"/>
            <a:chOff x="365760" y="2651760"/>
            <a:chExt cx="5669280" cy="3118104"/>
          </a:xfrm>
        </p:grpSpPr>
        <p:sp>
          <p:nvSpPr>
            <p:cNvPr id="16" name="Forma 15"/>
            <p:cNvSpPr/>
            <p:nvPr/>
          </p:nvSpPr>
          <p:spPr>
            <a:xfrm>
              <a:off x="365760" y="2651760"/>
              <a:ext cx="5669280" cy="3118104"/>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82550" cap="rnd">
              <a:solidFill>
                <a:srgbClr val="554A75"/>
              </a:solidFill>
              <a:round/>
            </a:ln>
          </p:spPr>
        </p:sp>
        <p:sp>
          <p:nvSpPr>
            <p:cNvPr id="17" name="Forma 16"/>
            <p:cNvSpPr/>
            <p:nvPr/>
          </p:nvSpPr>
          <p:spPr>
            <a:xfrm>
              <a:off x="365760" y="2651760"/>
              <a:ext cx="5669280" cy="3118104"/>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57150" cap="rnd">
              <a:solidFill>
                <a:srgbClr val="8E7CC3"/>
              </a:solidFill>
              <a:round/>
            </a:ln>
          </p:spPr>
        </p:sp>
        <p:sp>
          <p:nvSpPr>
            <p:cNvPr id="18" name="Forma 17"/>
            <p:cNvSpPr/>
            <p:nvPr/>
          </p:nvSpPr>
          <p:spPr>
            <a:xfrm>
              <a:off x="365760" y="2651760"/>
              <a:ext cx="5669280" cy="3118104"/>
            </a:xfrm>
            <a:custGeom>
              <a:avLst/>
              <a:gdLst/>
              <a:ahLst/>
              <a:cxnLst/>
              <a:rect l="0" t="0" r="r" b="b"/>
              <a:pathLst>
                <a:path w="1000" h="1000" fill="none">
                  <a:moveTo>
                    <a:pt x="360" y="520"/>
                  </a:moveTo>
                  <a:cubicBezTo>
                    <a:pt x="500" y="520"/>
                    <a:pt x="650" y="470"/>
                    <a:pt x="900" y="500"/>
                  </a:cubicBezTo>
                </a:path>
              </a:pathLst>
            </a:custGeom>
            <a:noFill/>
            <a:ln w="88900" cap="rnd">
              <a:solidFill>
                <a:srgbClr val="554A75"/>
              </a:solidFill>
              <a:round/>
            </a:ln>
          </p:spPr>
        </p:sp>
        <p:sp>
          <p:nvSpPr>
            <p:cNvPr id="19" name="Forma 18"/>
            <p:cNvSpPr/>
            <p:nvPr/>
          </p:nvSpPr>
          <p:spPr>
            <a:xfrm>
              <a:off x="365760" y="2651760"/>
              <a:ext cx="5669280" cy="3118104"/>
            </a:xfrm>
            <a:custGeom>
              <a:avLst/>
              <a:gdLst/>
              <a:ahLst/>
              <a:cxnLst/>
              <a:rect l="0" t="0" r="r" b="b"/>
              <a:pathLst>
                <a:path w="1000" h="1000" fill="none">
                  <a:moveTo>
                    <a:pt x="360" y="520"/>
                  </a:moveTo>
                  <a:cubicBezTo>
                    <a:pt x="500" y="520"/>
                    <a:pt x="650" y="470"/>
                    <a:pt x="900" y="500"/>
                  </a:cubicBezTo>
                </a:path>
              </a:pathLst>
            </a:custGeom>
            <a:noFill/>
            <a:ln w="63500" cap="rnd">
              <a:solidFill>
                <a:srgbClr val="A496CF"/>
              </a:solidFill>
              <a:round/>
            </a:ln>
          </p:spPr>
        </p:sp>
        <p:sp>
          <p:nvSpPr>
            <p:cNvPr id="20" name="Forma 19"/>
            <p:cNvSpPr/>
            <p:nvPr/>
          </p:nvSpPr>
          <p:spPr>
            <a:xfrm>
              <a:off x="365760" y="2651760"/>
              <a:ext cx="5669280" cy="3118104"/>
            </a:xfrm>
            <a:custGeom>
              <a:avLst/>
              <a:gdLst/>
              <a:ahLst/>
              <a:cxnLst/>
              <a:rect l="0" t="0" r="r" b="b"/>
              <a:pathLst>
                <a:path w="1000" h="1000">
                  <a:moveTo>
                    <a:pt x="230" y="430"/>
                  </a:moveTo>
                  <a:cubicBezTo>
                    <a:pt x="250" y="400"/>
                    <a:pt x="301" y="373"/>
                    <a:pt x="330" y="380"/>
                  </a:cubicBezTo>
                  <a:cubicBezTo>
                    <a:pt x="358" y="386"/>
                    <a:pt x="391" y="433"/>
                    <a:pt x="400" y="470"/>
                  </a:cubicBezTo>
                  <a:cubicBezTo>
                    <a:pt x="408" y="506"/>
                    <a:pt x="400" y="571"/>
                    <a:pt x="380" y="600"/>
                  </a:cubicBezTo>
                  <a:cubicBezTo>
                    <a:pt x="360" y="628"/>
                    <a:pt x="308" y="646"/>
                    <a:pt x="280" y="640"/>
                  </a:cubicBezTo>
                  <a:cubicBezTo>
                    <a:pt x="251" y="633"/>
                    <a:pt x="218" y="595"/>
                    <a:pt x="210" y="560"/>
                  </a:cubicBezTo>
                  <a:cubicBezTo>
                    <a:pt x="201" y="525"/>
                    <a:pt x="210" y="460"/>
                    <a:pt x="230" y="430"/>
                  </a:cubicBezTo>
                  <a:close/>
                </a:path>
              </a:pathLst>
            </a:custGeom>
            <a:gradFill rotWithShape="1">
              <a:gsLst>
                <a:gs pos="0">
                  <a:srgbClr val="C0B6DE"/>
                </a:gs>
                <a:gs pos="55000">
                  <a:srgbClr val="8E7CC3"/>
                </a:gs>
                <a:gs pos="100000">
                  <a:srgbClr val="6A5D92"/>
                </a:gs>
              </a:gsLst>
              <a:path path="circle">
                <a:fillToRect l="32000" t="28000" r="68000" b="72000"/>
              </a:path>
            </a:gradFill>
            <a:ln w="19050" cap="rnd">
              <a:solidFill>
                <a:srgbClr val="554A75"/>
              </a:solidFill>
              <a:round/>
            </a:ln>
          </p:spPr>
        </p:sp>
        <p:sp>
          <p:nvSpPr>
            <p:cNvPr id="21" name="Forma 20"/>
            <p:cNvSpPr/>
            <p:nvPr/>
          </p:nvSpPr>
          <p:spPr>
            <a:xfrm>
              <a:off x="365760" y="2651760"/>
              <a:ext cx="5669280" cy="3118104"/>
            </a:xfrm>
            <a:custGeom>
              <a:avLst/>
              <a:gdLst/>
              <a:ahLst/>
              <a:cxnLst/>
              <a:rect l="0" t="0" r="r" b="b"/>
              <a:pathLst>
                <a:path w="1000" h="1000">
                  <a:moveTo>
                    <a:pt x="345" y="510"/>
                  </a:moveTo>
                  <a:cubicBezTo>
                    <a:pt x="345" y="532"/>
                    <a:pt x="327" y="550"/>
                    <a:pt x="305" y="550"/>
                  </a:cubicBezTo>
                  <a:cubicBezTo>
                    <a:pt x="282" y="550"/>
                    <a:pt x="265" y="532"/>
                    <a:pt x="265" y="510"/>
                  </a:cubicBezTo>
                  <a:cubicBezTo>
                    <a:pt x="265" y="487"/>
                    <a:pt x="282" y="470"/>
                    <a:pt x="305" y="470"/>
                  </a:cubicBezTo>
                  <a:cubicBezTo>
                    <a:pt x="327" y="470"/>
                    <a:pt x="345" y="487"/>
                    <a:pt x="345" y="510"/>
                  </a:cubicBezTo>
                  <a:close/>
                </a:path>
              </a:pathLst>
            </a:custGeom>
            <a:solidFill>
              <a:srgbClr val="635688"/>
            </a:solidFill>
            <a:ln>
              <a:noFill/>
            </a:ln>
          </p:spPr>
        </p:sp>
        <p:sp>
          <p:nvSpPr>
            <p:cNvPr id="22" name="Forma 21"/>
            <p:cNvSpPr/>
            <p:nvPr/>
          </p:nvSpPr>
          <p:spPr>
            <a:xfrm>
              <a:off x="365760" y="2651760"/>
              <a:ext cx="5669280" cy="3118104"/>
            </a:xfrm>
            <a:custGeom>
              <a:avLst/>
              <a:gdLst/>
              <a:ahLst/>
              <a:cxnLst/>
              <a:rect l="0" t="0" r="r" b="b"/>
              <a:pathLst>
                <a:path w="1000" h="1000">
                  <a:moveTo>
                    <a:pt x="955" y="470"/>
                  </a:moveTo>
                  <a:cubicBezTo>
                    <a:pt x="955" y="489"/>
                    <a:pt x="939" y="505"/>
                    <a:pt x="920" y="505"/>
                  </a:cubicBezTo>
                  <a:cubicBezTo>
                    <a:pt x="900" y="505"/>
                    <a:pt x="885" y="489"/>
                    <a:pt x="885" y="470"/>
                  </a:cubicBezTo>
                  <a:cubicBezTo>
                    <a:pt x="885" y="450"/>
                    <a:pt x="900" y="435"/>
                    <a:pt x="920" y="435"/>
                  </a:cubicBezTo>
                  <a:cubicBezTo>
                    <a:pt x="939" y="435"/>
                    <a:pt x="955" y="450"/>
                    <a:pt x="955" y="470"/>
                  </a:cubicBezTo>
                  <a:close/>
                  <a:moveTo>
                    <a:pt x="970" y="540"/>
                  </a:moveTo>
                  <a:cubicBezTo>
                    <a:pt x="970" y="556"/>
                    <a:pt x="956" y="570"/>
                    <a:pt x="940" y="570"/>
                  </a:cubicBezTo>
                  <a:cubicBezTo>
                    <a:pt x="923" y="570"/>
                    <a:pt x="910" y="556"/>
                    <a:pt x="910" y="540"/>
                  </a:cubicBezTo>
                  <a:cubicBezTo>
                    <a:pt x="910" y="523"/>
                    <a:pt x="923" y="510"/>
                    <a:pt x="940" y="510"/>
                  </a:cubicBezTo>
                  <a:cubicBezTo>
                    <a:pt x="956" y="510"/>
                    <a:pt x="970" y="523"/>
                    <a:pt x="970" y="540"/>
                  </a:cubicBezTo>
                  <a:close/>
                  <a:moveTo>
                    <a:pt x="923" y="560"/>
                  </a:moveTo>
                  <a:cubicBezTo>
                    <a:pt x="923" y="575"/>
                    <a:pt x="910" y="588"/>
                    <a:pt x="895" y="588"/>
                  </a:cubicBezTo>
                  <a:cubicBezTo>
                    <a:pt x="879" y="588"/>
                    <a:pt x="867" y="575"/>
                    <a:pt x="867" y="560"/>
                  </a:cubicBezTo>
                  <a:cubicBezTo>
                    <a:pt x="867" y="544"/>
                    <a:pt x="879" y="532"/>
                    <a:pt x="895" y="532"/>
                  </a:cubicBezTo>
                  <a:cubicBezTo>
                    <a:pt x="910" y="532"/>
                    <a:pt x="923" y="544"/>
                    <a:pt x="923" y="560"/>
                  </a:cubicBezTo>
                  <a:close/>
                </a:path>
              </a:pathLst>
            </a:custGeom>
            <a:gradFill rotWithShape="1">
              <a:gsLst>
                <a:gs pos="0">
                  <a:srgbClr val="BBB0DB"/>
                </a:gs>
                <a:gs pos="55000">
                  <a:srgbClr val="8E7CC3"/>
                </a:gs>
                <a:gs pos="100000">
                  <a:srgbClr val="71639C"/>
                </a:gs>
              </a:gsLst>
              <a:path path="circle">
                <a:fillToRect l="32000" t="28000" r="68000" b="72000"/>
              </a:path>
            </a:gradFill>
            <a:ln w="12700" cap="rnd">
              <a:solidFill>
                <a:srgbClr val="554A75"/>
              </a:solidFill>
              <a:round/>
            </a:ln>
          </p:spPr>
        </p:sp>
      </p:grpSp>
      <p:grpSp>
        <p:nvGrpSpPr>
          <p:cNvPr id="23" name="!!GLUT_2"/>
          <p:cNvGrpSpPr/>
          <p:nvPr/>
        </p:nvGrpSpPr>
        <p:grpSpPr>
          <a:xfrm>
            <a:off x="2606040" y="2971800"/>
            <a:ext cx="1115568" cy="713232"/>
            <a:chOff x="2606040" y="2971800"/>
            <a:chExt cx="1115568" cy="713232"/>
          </a:xfrm>
        </p:grpSpPr>
        <p:sp>
          <p:nvSpPr>
            <p:cNvPr id="24" name="Forma 23"/>
            <p:cNvSpPr/>
            <p:nvPr/>
          </p:nvSpPr>
          <p:spPr>
            <a:xfrm>
              <a:off x="2971800" y="2971800"/>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sp>
          <p:nvSpPr>
            <p:cNvPr id="25" name="Forma 24"/>
            <p:cNvSpPr/>
            <p:nvPr/>
          </p:nvSpPr>
          <p:spPr>
            <a:xfrm>
              <a:off x="3191256" y="2971800"/>
              <a:ext cx="164592" cy="457200"/>
            </a:xfrm>
            <a:prstGeom prst="roundRect">
              <a:avLst>
                <a:gd name="adj" fmla="val 45000"/>
              </a:avLst>
            </a:prstGeom>
            <a:gradFill rotWithShape="1">
              <a:gsLst>
                <a:gs pos="0">
                  <a:srgbClr val="205D87"/>
                </a:gs>
                <a:gs pos="30000">
                  <a:srgbClr val="77B0D6"/>
                </a:gs>
                <a:gs pos="55000">
                  <a:srgbClr val="2E86C1"/>
                </a:gs>
                <a:gs pos="100000">
                  <a:srgbClr val="205D87"/>
                </a:gs>
              </a:gsLst>
              <a:lin ang="5400000" scaled="0"/>
            </a:gradFill>
            <a:ln w="15875" cap="rnd">
              <a:solidFill>
                <a:srgbClr val="174360"/>
              </a:solidFill>
              <a:round/>
            </a:ln>
          </p:spPr>
        </p:sp>
        <p:sp>
          <p:nvSpPr>
            <p:cNvPr id="26" name="Forma 25"/>
            <p:cNvSpPr txBox="1"/>
            <p:nvPr/>
          </p:nvSpPr>
          <p:spPr>
            <a:xfrm>
              <a:off x="2606040" y="3447288"/>
              <a:ext cx="1115568"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143C56"/>
                  </a:solidFill>
                  <a:latin typeface="Bahnschrift SemiBold Condensed"/>
                  <a:ea typeface="Bahnschrift SemiBold Condensed"/>
                  <a:cs typeface="Bahnschrift SemiBold Condensed"/>
                  <a:sym typeface="Bahnschrift SemiBold Condensed"/>
                </a:rPr>
                <a:t>GLUT3</a:t>
              </a:r>
              <a:endParaRPr lang="es-AR" sz="1150" dirty="0">
                <a:latin typeface="Bahnschrift SemiBold Condensed"/>
              </a:endParaRPr>
            </a:p>
          </p:txBody>
        </p:sp>
      </p:grpSp>
      <p:sp>
        <p:nvSpPr>
          <p:cNvPr id="27" name="Glc cerebro 0"/>
          <p:cNvSpPr/>
          <p:nvPr/>
        </p:nvSpPr>
        <p:spPr>
          <a:xfrm>
            <a:off x="1554480" y="128016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28" name="Glc cerebro 1"/>
          <p:cNvSpPr/>
          <p:nvPr/>
        </p:nvSpPr>
        <p:spPr>
          <a:xfrm>
            <a:off x="2011680" y="128016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grpSp>
        <p:nvGrpSpPr>
          <p:cNvPr id="29" name="Recuadro Captación"/>
          <p:cNvGrpSpPr/>
          <p:nvPr/>
        </p:nvGrpSpPr>
        <p:grpSpPr>
          <a:xfrm>
            <a:off x="6217920" y="1005840"/>
            <a:ext cx="5577840" cy="1371600"/>
            <a:chOff x="6217920" y="1005840"/>
            <a:chExt cx="5577840" cy="1371600"/>
          </a:xfrm>
        </p:grpSpPr>
        <p:sp>
          <p:nvSpPr>
            <p:cNvPr id="30" name="Forma 29"/>
            <p:cNvSpPr/>
            <p:nvPr/>
          </p:nvSpPr>
          <p:spPr>
            <a:xfrm>
              <a:off x="6217920" y="1188720"/>
              <a:ext cx="5577840" cy="11887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GLUT3</a:t>
              </a:r>
              <a:r>
                <a:rPr lang="es-AR" sz="1650" dirty="0">
                  <a:solidFill>
                    <a:srgbClr val="1E1E1E"/>
                  </a:solidFill>
                  <a:latin typeface="Bahnschrift"/>
                  <a:ea typeface="Bahnschrift"/>
                  <a:cs typeface="Bahnschrift"/>
                  <a:sym typeface="Bahnschrift"/>
                </a:rPr>
                <a:t> de gran afinidad: entrada </a:t>
              </a:r>
              <a:r>
                <a:rPr lang="es-AR" sz="1650" b="1" dirty="0">
                  <a:solidFill>
                    <a:srgbClr val="1E1E1E"/>
                  </a:solidFill>
                  <a:latin typeface="Bahnschrift"/>
                  <a:ea typeface="Bahnschrift"/>
                  <a:cs typeface="Bahnschrift"/>
                  <a:sym typeface="Bahnschrift"/>
                </a:rPr>
                <a:t>poco dependiente de insulina</a:t>
              </a:r>
              <a:r>
                <a:rPr lang="es-AR" sz="1650" dirty="0">
                  <a:solidFill>
                    <a:srgbClr val="1E1E1E"/>
                  </a:solidFill>
                  <a:latin typeface="Bahnschrift"/>
                  <a:ea typeface="Bahnschrift"/>
                  <a:cs typeface="Bahnschrift"/>
                  <a:sym typeface="Bahnschrift"/>
                </a:rPr>
                <a:t> (GLUT1 en la barrera hematoencefálica).</a:t>
              </a:r>
              <a:endParaRPr lang="es-AR" sz="1650" dirty="0">
                <a:latin typeface="Bahnschrift"/>
              </a:endParaRPr>
            </a:p>
          </p:txBody>
        </p:sp>
        <p:sp>
          <p:nvSpPr>
            <p:cNvPr id="31" name="Forma 30"/>
            <p:cNvSpPr/>
            <p:nvPr/>
          </p:nvSpPr>
          <p:spPr>
            <a:xfrm>
              <a:off x="6327648" y="1005840"/>
              <a:ext cx="115571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CAPTACIÓN</a:t>
              </a:r>
              <a:endParaRPr lang="es-AR" sz="1500" dirty="0">
                <a:latin typeface="Bahnschrift SemiBold Condensed"/>
              </a:endParaRPr>
            </a:p>
          </p:txBody>
        </p:sp>
      </p:grpSp>
      <p:grpSp>
        <p:nvGrpSpPr>
          <p:cNvPr id="32" name="Recuadro Uso"/>
          <p:cNvGrpSpPr/>
          <p:nvPr/>
        </p:nvGrpSpPr>
        <p:grpSpPr>
          <a:xfrm>
            <a:off x="6217920" y="2560320"/>
            <a:ext cx="5577840" cy="1325880"/>
            <a:chOff x="6217920" y="2560320"/>
            <a:chExt cx="5577840" cy="1325880"/>
          </a:xfrm>
        </p:grpSpPr>
        <p:sp>
          <p:nvSpPr>
            <p:cNvPr id="33" name="Forma 32"/>
            <p:cNvSpPr/>
            <p:nvPr/>
          </p:nvSpPr>
          <p:spPr>
            <a:xfrm>
              <a:off x="6217920" y="2743200"/>
              <a:ext cx="5577840" cy="11430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Glucólisis + oxidación mitocondrial</a:t>
              </a:r>
              <a:r>
                <a:rPr lang="es-AR" sz="1650" dirty="0">
                  <a:solidFill>
                    <a:srgbClr val="1E1E1E"/>
                  </a:solidFill>
                  <a:latin typeface="Bahnschrift"/>
                  <a:ea typeface="Bahnschrift"/>
                  <a:cs typeface="Bahnschrift"/>
                  <a:sym typeface="Bahnschrift"/>
                </a:rPr>
                <a:t> para sostener </a:t>
              </a:r>
              <a:r>
                <a:rPr lang="es-AR" sz="1650" b="1" dirty="0">
                  <a:solidFill>
                    <a:srgbClr val="1E1E1E"/>
                  </a:solidFill>
                  <a:latin typeface="Bahnschrift"/>
                  <a:ea typeface="Bahnschrift"/>
                  <a:cs typeface="Bahnschrift"/>
                  <a:sym typeface="Bahnschrift"/>
                </a:rPr>
                <a:t>gradientes iónicos</a:t>
              </a:r>
              <a:r>
                <a:rPr lang="es-AR" sz="1650" dirty="0">
                  <a:solidFill>
                    <a:srgbClr val="1E1E1E"/>
                  </a:solidFill>
                  <a:latin typeface="Bahnschrift"/>
                  <a:ea typeface="Bahnschrift"/>
                  <a:cs typeface="Bahnschrift"/>
                  <a:sym typeface="Bahnschrift"/>
                </a:rPr>
                <a:t>, sinapsis y reciclaje vesicular.</a:t>
              </a:r>
              <a:endParaRPr lang="es-AR" sz="1650" dirty="0">
                <a:latin typeface="Bahnschrift"/>
              </a:endParaRPr>
            </a:p>
          </p:txBody>
        </p:sp>
        <p:sp>
          <p:nvSpPr>
            <p:cNvPr id="34" name="Forma 33"/>
            <p:cNvSpPr/>
            <p:nvPr/>
          </p:nvSpPr>
          <p:spPr>
            <a:xfrm>
              <a:off x="6327648" y="2560320"/>
              <a:ext cx="61718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USO</a:t>
              </a:r>
              <a:endParaRPr lang="es-AR" sz="1500" dirty="0">
                <a:latin typeface="Bahnschrift SemiBold Condensed"/>
              </a:endParaRPr>
            </a:p>
          </p:txBody>
        </p:sp>
      </p:grpSp>
      <p:grpSp>
        <p:nvGrpSpPr>
          <p:cNvPr id="35" name="Recuadro Control"/>
          <p:cNvGrpSpPr/>
          <p:nvPr/>
        </p:nvGrpSpPr>
        <p:grpSpPr>
          <a:xfrm>
            <a:off x="6217920" y="4069080"/>
            <a:ext cx="5577840" cy="1143000"/>
            <a:chOff x="6217920" y="4069080"/>
            <a:chExt cx="5577840" cy="1143000"/>
          </a:xfrm>
        </p:grpSpPr>
        <p:sp>
          <p:nvSpPr>
            <p:cNvPr id="36" name="Forma 35"/>
            <p:cNvSpPr/>
            <p:nvPr/>
          </p:nvSpPr>
          <p:spPr>
            <a:xfrm>
              <a:off x="6217920" y="4251960"/>
              <a:ext cx="5577840" cy="9601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HK1</a:t>
              </a:r>
              <a:r>
                <a:rPr lang="es-AR" sz="1650" dirty="0">
                  <a:solidFill>
                    <a:srgbClr val="1E1E1E"/>
                  </a:solidFill>
                  <a:latin typeface="Bahnschrift"/>
                  <a:ea typeface="Bahnschrift"/>
                  <a:cs typeface="Bahnschrift"/>
                  <a:sym typeface="Bahnschrift"/>
                </a:rPr>
                <a:t> inhibida por G6P coordina captación y uso. </a:t>
              </a:r>
              <a:r>
                <a:rPr lang="es-AR" sz="1650" b="1" dirty="0">
                  <a:solidFill>
                    <a:srgbClr val="1E1E1E"/>
                  </a:solidFill>
                  <a:latin typeface="Bahnschrift"/>
                  <a:ea typeface="Bahnschrift"/>
                  <a:cs typeface="Bahnschrift"/>
                  <a:sym typeface="Bahnschrift"/>
                </a:rPr>
                <a:t>PPP</a:t>
              </a:r>
              <a:r>
                <a:rPr lang="es-AR" sz="1650" dirty="0">
                  <a:solidFill>
                    <a:srgbClr val="1E1E1E"/>
                  </a:solidFill>
                  <a:latin typeface="Bahnschrift"/>
                  <a:ea typeface="Bahnschrift"/>
                  <a:cs typeface="Bahnschrift"/>
                  <a:sym typeface="Bahnschrift"/>
                </a:rPr>
                <a:t> aporta NADPH antioxidante.</a:t>
              </a:r>
              <a:endParaRPr lang="es-AR" sz="1650" dirty="0">
                <a:latin typeface="Bahnschrift"/>
              </a:endParaRPr>
            </a:p>
          </p:txBody>
        </p:sp>
        <p:sp>
          <p:nvSpPr>
            <p:cNvPr id="37" name="Forma 36"/>
            <p:cNvSpPr/>
            <p:nvPr/>
          </p:nvSpPr>
          <p:spPr>
            <a:xfrm>
              <a:off x="6327648" y="4069080"/>
              <a:ext cx="101262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CONTROL</a:t>
              </a:r>
              <a:endParaRPr lang="es-AR" sz="1500" dirty="0">
                <a:latin typeface="Bahnschrift SemiBold Condensed"/>
              </a:endParaRPr>
            </a:p>
          </p:txBody>
        </p:sp>
      </p:grpSp>
      <p:grpSp>
        <p:nvGrpSpPr>
          <p:cNvPr id="38" name="Recuadro Combustibles"/>
          <p:cNvGrpSpPr/>
          <p:nvPr/>
        </p:nvGrpSpPr>
        <p:grpSpPr>
          <a:xfrm>
            <a:off x="6217920" y="5394960"/>
            <a:ext cx="5577840" cy="1097280"/>
            <a:chOff x="6217920" y="5394960"/>
            <a:chExt cx="5577840" cy="1097280"/>
          </a:xfrm>
        </p:grpSpPr>
        <p:sp>
          <p:nvSpPr>
            <p:cNvPr id="39" name="Forma 38"/>
            <p:cNvSpPr/>
            <p:nvPr/>
          </p:nvSpPr>
          <p:spPr>
            <a:xfrm>
              <a:off x="6217920" y="5577840"/>
              <a:ext cx="5577840" cy="9144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Sin β-oxidación significativa como combustible basal; los </a:t>
              </a:r>
              <a:r>
                <a:rPr lang="es-AR" sz="1600" b="1" dirty="0">
                  <a:solidFill>
                    <a:srgbClr val="1E1E1E"/>
                  </a:solidFill>
                  <a:latin typeface="Bahnschrift"/>
                  <a:ea typeface="Bahnschrift"/>
                  <a:cs typeface="Bahnschrift"/>
                  <a:sym typeface="Bahnschrift"/>
                </a:rPr>
                <a:t>cuerpos cetónicos</a:t>
              </a:r>
              <a:r>
                <a:rPr lang="es-AR" sz="1600" dirty="0">
                  <a:solidFill>
                    <a:srgbClr val="1E1E1E"/>
                  </a:solidFill>
                  <a:latin typeface="Bahnschrift"/>
                  <a:ea typeface="Bahnschrift"/>
                  <a:cs typeface="Bahnschrift"/>
                  <a:sym typeface="Bahnschrift"/>
                </a:rPr>
                <a:t> ganan peso en ayuno prolongado.</a:t>
              </a:r>
              <a:endParaRPr lang="es-AR" sz="1600" dirty="0">
                <a:latin typeface="Bahnschrift"/>
              </a:endParaRPr>
            </a:p>
          </p:txBody>
        </p:sp>
        <p:sp>
          <p:nvSpPr>
            <p:cNvPr id="40" name="Forma 39"/>
            <p:cNvSpPr/>
            <p:nvPr/>
          </p:nvSpPr>
          <p:spPr>
            <a:xfrm>
              <a:off x="6327648" y="5394960"/>
              <a:ext cx="143883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COMBUSTIBLES</a:t>
              </a:r>
              <a:endParaRPr lang="es-AR" sz="1500" dirty="0">
                <a:latin typeface="Bahnschrift SemiBold Condensed"/>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35291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NEURONA: GLUCOSA PARA GRADIENTES IÓNICOS Y SINAPSIS</a:t>
            </a:r>
            <a:endParaRPr lang="es-AR" sz="2600" dirty="0">
              <a:latin typeface="Bahnschrift SemiBold Condensed"/>
            </a:endParaRPr>
          </a:p>
        </p:txBody>
      </p:sp>
      <p:sp>
        <p:nvSpPr>
          <p:cNvPr id="4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9"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038 0.2800 E" pathEditMode="relative" ptsTypes="">
                                      <p:cBhvr>
                                        <p:cTn id="4" dur="1400" fill="hold"/>
                                        <p:tgtEl>
                                          <p:spTgt spid="27"/>
                                        </p:tgtEl>
                                        <p:attrNameLst>
                                          <p:attrName>ppt_x</p:attrName>
                                          <p:attrName>ppt_y</p:attrName>
                                        </p:attrNameLst>
                                      </p:cBhvr>
                                      <p:rCtr x="187" y="14000"/>
                                    </p:animMotion>
                                  </p:childTnLst>
                                </p:cTn>
                              </p:par>
                            </p:childTnLst>
                          </p:cTn>
                        </p:par>
                        <p:par>
                          <p:cTn id="8" fill="hold">
                            <p:stCondLst>
                              <p:cond delay="300"/>
                            </p:stCondLst>
                            <p:childTnLst>
                              <p:par>
                                <p:cTn id="6" presetID="0" presetClass="path" presetSubtype="0" accel="20000" decel="20000" fill="hold" grpId="0" nodeType="afterEffect">
                                  <p:stCondLst>
                                    <p:cond delay="0"/>
                                  </p:stCondLst>
                                  <p:childTnLst>
                                    <p:animMotion origin="layout" path="M 0 0 L 0.0038 0.2800 E" pathEditMode="relative" ptsTypes="">
                                      <p:cBhvr>
                                        <p:cTn id="7" dur="1400" fill="hold"/>
                                        <p:tgtEl>
                                          <p:spTgt spid="28"/>
                                        </p:tgtEl>
                                        <p:attrNameLst>
                                          <p:attrName>ppt_x</p:attrName>
                                          <p:attrName>ppt_y</p:attrName>
                                        </p:attrNameLst>
                                      </p:cBhvr>
                                      <p:rCtr x="187" y="14000"/>
                                    </p:animMotion>
                                  </p:childTnLst>
                                </p:cTn>
                              </p:par>
                            </p:childTnLst>
                          </p:cTn>
                        </p:par>
                      </p:childTnLst>
                    </p:cTn>
                  </p:par>
                  <p:par>
                    <p:cTn id="14" fill="hold">
                      <p:stCondLst>
                        <p:cond delay="indefinite"/>
                      </p:stCondLst>
                      <p:childTnLst>
                        <p:par>
                          <p:cTn id="13"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fade">
                                      <p:cBhvr>
                                        <p:cTn id="12" dur="500"/>
                                        <p:tgtEl>
                                          <p:spTgt spid="29"/>
                                        </p:tgtEl>
                                      </p:cBhvr>
                                    </p:animEffect>
                                  </p:childTnLst>
                                </p:cTn>
                              </p:par>
                            </p:childTnLst>
                          </p:cTn>
                        </p:par>
                      </p:childTnLst>
                    </p:cTn>
                  </p:par>
                  <p:par>
                    <p:cTn id="19"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500"/>
                                        <p:tgtEl>
                                          <p:spTgt spid="35"/>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Lst>
  </p:timing>
</p:sld>
</file>

<file path=ppt/slides/slide5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Fibra en reposo"/>
          <p:cNvGrpSpPr/>
          <p:nvPr/>
        </p:nvGrpSpPr>
        <p:grpSpPr>
          <a:xfrm>
            <a:off x="365760" y="1051560"/>
            <a:ext cx="5486400" cy="822960"/>
            <a:chOff x="365760" y="1051560"/>
            <a:chExt cx="5486400" cy="822960"/>
          </a:xfrm>
        </p:grpSpPr>
        <p:sp>
          <p:nvSpPr>
            <p:cNvPr id="5" name="Forma 4"/>
            <p:cNvSpPr/>
            <p:nvPr/>
          </p:nvSpPr>
          <p:spPr>
            <a:xfrm>
              <a:off x="365760" y="1051560"/>
              <a:ext cx="5486400" cy="82296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6" name="Forma 5"/>
            <p:cNvSpPr/>
            <p:nvPr/>
          </p:nvSpPr>
          <p:spPr>
            <a:xfrm>
              <a:off x="571500" y="1051560"/>
              <a:ext cx="5074920" cy="822960"/>
            </a:xfrm>
            <a:custGeom>
              <a:avLst/>
              <a:gdLst/>
              <a:ahLst/>
              <a:cxnLst/>
              <a:rect l="0" t="0" r="r" b="b"/>
              <a:pathLst>
                <a:path w="1000" h="1000" fill="none">
                  <a:moveTo>
                    <a:pt x="7" y="80"/>
                  </a:moveTo>
                  <a:lnTo>
                    <a:pt x="7" y="920"/>
                  </a:lnTo>
                </a:path>
                <a:path w="1000" h="1000" fill="none">
                  <a:moveTo>
                    <a:pt x="22" y="80"/>
                  </a:moveTo>
                  <a:lnTo>
                    <a:pt x="22" y="920"/>
                  </a:lnTo>
                </a:path>
                <a:path w="1000" h="1000" fill="none">
                  <a:moveTo>
                    <a:pt x="37" y="80"/>
                  </a:moveTo>
                  <a:lnTo>
                    <a:pt x="37" y="920"/>
                  </a:lnTo>
                </a:path>
                <a:path w="1000" h="1000" fill="none">
                  <a:moveTo>
                    <a:pt x="53" y="80"/>
                  </a:moveTo>
                  <a:lnTo>
                    <a:pt x="53" y="920"/>
                  </a:lnTo>
                </a:path>
                <a:path w="1000" h="1000" fill="none">
                  <a:moveTo>
                    <a:pt x="68" y="80"/>
                  </a:moveTo>
                  <a:lnTo>
                    <a:pt x="68" y="920"/>
                  </a:lnTo>
                </a:path>
                <a:path w="1000" h="1000" fill="none">
                  <a:moveTo>
                    <a:pt x="83" y="80"/>
                  </a:moveTo>
                  <a:lnTo>
                    <a:pt x="83" y="920"/>
                  </a:lnTo>
                </a:path>
                <a:path w="1000" h="1000" fill="none">
                  <a:moveTo>
                    <a:pt x="98" y="80"/>
                  </a:moveTo>
                  <a:lnTo>
                    <a:pt x="98" y="920"/>
                  </a:lnTo>
                </a:path>
                <a:path w="1000" h="1000" fill="none">
                  <a:moveTo>
                    <a:pt x="113" y="80"/>
                  </a:moveTo>
                  <a:lnTo>
                    <a:pt x="113" y="920"/>
                  </a:lnTo>
                </a:path>
                <a:path w="1000" h="1000" fill="none">
                  <a:moveTo>
                    <a:pt x="128" y="80"/>
                  </a:moveTo>
                  <a:lnTo>
                    <a:pt x="128" y="920"/>
                  </a:lnTo>
                </a:path>
                <a:path w="1000" h="1000" fill="none">
                  <a:moveTo>
                    <a:pt x="143" y="80"/>
                  </a:moveTo>
                  <a:lnTo>
                    <a:pt x="143" y="920"/>
                  </a:lnTo>
                </a:path>
                <a:path w="1000" h="1000" fill="none">
                  <a:moveTo>
                    <a:pt x="159" y="80"/>
                  </a:moveTo>
                  <a:lnTo>
                    <a:pt x="159" y="920"/>
                  </a:lnTo>
                </a:path>
                <a:path w="1000" h="1000" fill="none">
                  <a:moveTo>
                    <a:pt x="174" y="80"/>
                  </a:moveTo>
                  <a:lnTo>
                    <a:pt x="174" y="920"/>
                  </a:lnTo>
                </a:path>
                <a:path w="1000" h="1000" fill="none">
                  <a:moveTo>
                    <a:pt x="189" y="80"/>
                  </a:moveTo>
                  <a:lnTo>
                    <a:pt x="189" y="920"/>
                  </a:lnTo>
                </a:path>
                <a:path w="1000" h="1000" fill="none">
                  <a:moveTo>
                    <a:pt x="204" y="80"/>
                  </a:moveTo>
                  <a:lnTo>
                    <a:pt x="204" y="920"/>
                  </a:lnTo>
                </a:path>
                <a:path w="1000" h="1000" fill="none">
                  <a:moveTo>
                    <a:pt x="219" y="80"/>
                  </a:moveTo>
                  <a:lnTo>
                    <a:pt x="219" y="920"/>
                  </a:lnTo>
                </a:path>
                <a:path w="1000" h="1000" fill="none">
                  <a:moveTo>
                    <a:pt x="234" y="80"/>
                  </a:moveTo>
                  <a:lnTo>
                    <a:pt x="234" y="920"/>
                  </a:lnTo>
                </a:path>
                <a:path w="1000" h="1000" fill="none">
                  <a:moveTo>
                    <a:pt x="250" y="80"/>
                  </a:moveTo>
                  <a:lnTo>
                    <a:pt x="250" y="920"/>
                  </a:lnTo>
                </a:path>
                <a:path w="1000" h="1000" fill="none">
                  <a:moveTo>
                    <a:pt x="265" y="80"/>
                  </a:moveTo>
                  <a:lnTo>
                    <a:pt x="265" y="920"/>
                  </a:lnTo>
                </a:path>
                <a:path w="1000" h="1000" fill="none">
                  <a:moveTo>
                    <a:pt x="280" y="80"/>
                  </a:moveTo>
                  <a:lnTo>
                    <a:pt x="280" y="920"/>
                  </a:lnTo>
                </a:path>
                <a:path w="1000" h="1000" fill="none">
                  <a:moveTo>
                    <a:pt x="295" y="80"/>
                  </a:moveTo>
                  <a:lnTo>
                    <a:pt x="295" y="920"/>
                  </a:lnTo>
                </a:path>
                <a:path w="1000" h="1000" fill="none">
                  <a:moveTo>
                    <a:pt x="310" y="80"/>
                  </a:moveTo>
                  <a:lnTo>
                    <a:pt x="310" y="920"/>
                  </a:lnTo>
                </a:path>
                <a:path w="1000" h="1000" fill="none">
                  <a:moveTo>
                    <a:pt x="325" y="80"/>
                  </a:moveTo>
                  <a:lnTo>
                    <a:pt x="325" y="920"/>
                  </a:lnTo>
                </a:path>
                <a:path w="1000" h="1000" fill="none">
                  <a:moveTo>
                    <a:pt x="340" y="80"/>
                  </a:moveTo>
                  <a:lnTo>
                    <a:pt x="340" y="920"/>
                  </a:lnTo>
                </a:path>
                <a:path w="1000" h="1000" fill="none">
                  <a:moveTo>
                    <a:pt x="356" y="80"/>
                  </a:moveTo>
                  <a:lnTo>
                    <a:pt x="356" y="920"/>
                  </a:lnTo>
                </a:path>
                <a:path w="1000" h="1000" fill="none">
                  <a:moveTo>
                    <a:pt x="371" y="80"/>
                  </a:moveTo>
                  <a:lnTo>
                    <a:pt x="371" y="920"/>
                  </a:lnTo>
                </a:path>
                <a:path w="1000" h="1000" fill="none">
                  <a:moveTo>
                    <a:pt x="386" y="80"/>
                  </a:moveTo>
                  <a:lnTo>
                    <a:pt x="386" y="920"/>
                  </a:lnTo>
                </a:path>
                <a:path w="1000" h="1000" fill="none">
                  <a:moveTo>
                    <a:pt x="401" y="80"/>
                  </a:moveTo>
                  <a:lnTo>
                    <a:pt x="401" y="920"/>
                  </a:lnTo>
                </a:path>
                <a:path w="1000" h="1000" fill="none">
                  <a:moveTo>
                    <a:pt x="416" y="80"/>
                  </a:moveTo>
                  <a:lnTo>
                    <a:pt x="416" y="920"/>
                  </a:lnTo>
                </a:path>
                <a:path w="1000" h="1000" fill="none">
                  <a:moveTo>
                    <a:pt x="431" y="80"/>
                  </a:moveTo>
                  <a:lnTo>
                    <a:pt x="431" y="920"/>
                  </a:lnTo>
                </a:path>
                <a:path w="1000" h="1000" fill="none">
                  <a:moveTo>
                    <a:pt x="446" y="80"/>
                  </a:moveTo>
                  <a:lnTo>
                    <a:pt x="446" y="920"/>
                  </a:lnTo>
                </a:path>
                <a:path w="1000" h="1000" fill="none">
                  <a:moveTo>
                    <a:pt x="462" y="80"/>
                  </a:moveTo>
                  <a:lnTo>
                    <a:pt x="462" y="920"/>
                  </a:lnTo>
                </a:path>
                <a:path w="1000" h="1000" fill="none">
                  <a:moveTo>
                    <a:pt x="477" y="80"/>
                  </a:moveTo>
                  <a:lnTo>
                    <a:pt x="477" y="920"/>
                  </a:lnTo>
                </a:path>
                <a:path w="1000" h="1000" fill="none">
                  <a:moveTo>
                    <a:pt x="492" y="80"/>
                  </a:moveTo>
                  <a:lnTo>
                    <a:pt x="492" y="920"/>
                  </a:lnTo>
                </a:path>
                <a:path w="1000" h="1000" fill="none">
                  <a:moveTo>
                    <a:pt x="507" y="80"/>
                  </a:moveTo>
                  <a:lnTo>
                    <a:pt x="507" y="920"/>
                  </a:lnTo>
                </a:path>
                <a:path w="1000" h="1000" fill="none">
                  <a:moveTo>
                    <a:pt x="522" y="80"/>
                  </a:moveTo>
                  <a:lnTo>
                    <a:pt x="522" y="920"/>
                  </a:lnTo>
                </a:path>
                <a:path w="1000" h="1000" fill="none">
                  <a:moveTo>
                    <a:pt x="537" y="80"/>
                  </a:moveTo>
                  <a:lnTo>
                    <a:pt x="537" y="920"/>
                  </a:lnTo>
                </a:path>
                <a:path w="1000" h="1000" fill="none">
                  <a:moveTo>
                    <a:pt x="553" y="80"/>
                  </a:moveTo>
                  <a:lnTo>
                    <a:pt x="553" y="920"/>
                  </a:lnTo>
                </a:path>
                <a:path w="1000" h="1000" fill="none">
                  <a:moveTo>
                    <a:pt x="568" y="80"/>
                  </a:moveTo>
                  <a:lnTo>
                    <a:pt x="568" y="920"/>
                  </a:lnTo>
                </a:path>
                <a:path w="1000" h="1000" fill="none">
                  <a:moveTo>
                    <a:pt x="583" y="80"/>
                  </a:moveTo>
                  <a:lnTo>
                    <a:pt x="583" y="920"/>
                  </a:lnTo>
                </a:path>
                <a:path w="1000" h="1000" fill="none">
                  <a:moveTo>
                    <a:pt x="598" y="80"/>
                  </a:moveTo>
                  <a:lnTo>
                    <a:pt x="598" y="920"/>
                  </a:lnTo>
                </a:path>
                <a:path w="1000" h="1000" fill="none">
                  <a:moveTo>
                    <a:pt x="613" y="80"/>
                  </a:moveTo>
                  <a:lnTo>
                    <a:pt x="613" y="920"/>
                  </a:lnTo>
                </a:path>
                <a:path w="1000" h="1000" fill="none">
                  <a:moveTo>
                    <a:pt x="628" y="80"/>
                  </a:moveTo>
                  <a:lnTo>
                    <a:pt x="628" y="920"/>
                  </a:lnTo>
                </a:path>
                <a:path w="1000" h="1000" fill="none">
                  <a:moveTo>
                    <a:pt x="643" y="80"/>
                  </a:moveTo>
                  <a:lnTo>
                    <a:pt x="643" y="920"/>
                  </a:lnTo>
                </a:path>
                <a:path w="1000" h="1000" fill="none">
                  <a:moveTo>
                    <a:pt x="659" y="80"/>
                  </a:moveTo>
                  <a:lnTo>
                    <a:pt x="659" y="920"/>
                  </a:lnTo>
                </a:path>
                <a:path w="1000" h="1000" fill="none">
                  <a:moveTo>
                    <a:pt x="674" y="80"/>
                  </a:moveTo>
                  <a:lnTo>
                    <a:pt x="674" y="920"/>
                  </a:lnTo>
                </a:path>
                <a:path w="1000" h="1000" fill="none">
                  <a:moveTo>
                    <a:pt x="689" y="80"/>
                  </a:moveTo>
                  <a:lnTo>
                    <a:pt x="689" y="920"/>
                  </a:lnTo>
                </a:path>
                <a:path w="1000" h="1000" fill="none">
                  <a:moveTo>
                    <a:pt x="704" y="80"/>
                  </a:moveTo>
                  <a:lnTo>
                    <a:pt x="704" y="920"/>
                  </a:lnTo>
                </a:path>
                <a:path w="1000" h="1000" fill="none">
                  <a:moveTo>
                    <a:pt x="719" y="80"/>
                  </a:moveTo>
                  <a:lnTo>
                    <a:pt x="719" y="920"/>
                  </a:lnTo>
                </a:path>
                <a:path w="1000" h="1000" fill="none">
                  <a:moveTo>
                    <a:pt x="734" y="80"/>
                  </a:moveTo>
                  <a:lnTo>
                    <a:pt x="734" y="920"/>
                  </a:lnTo>
                </a:path>
                <a:path w="1000" h="1000" fill="none">
                  <a:moveTo>
                    <a:pt x="750" y="80"/>
                  </a:moveTo>
                  <a:lnTo>
                    <a:pt x="750" y="920"/>
                  </a:lnTo>
                </a:path>
                <a:path w="1000" h="1000" fill="none">
                  <a:moveTo>
                    <a:pt x="765" y="80"/>
                  </a:moveTo>
                  <a:lnTo>
                    <a:pt x="765" y="920"/>
                  </a:lnTo>
                </a:path>
                <a:path w="1000" h="1000" fill="none">
                  <a:moveTo>
                    <a:pt x="780" y="80"/>
                  </a:moveTo>
                  <a:lnTo>
                    <a:pt x="780" y="920"/>
                  </a:lnTo>
                </a:path>
                <a:path w="1000" h="1000" fill="none">
                  <a:moveTo>
                    <a:pt x="795" y="80"/>
                  </a:moveTo>
                  <a:lnTo>
                    <a:pt x="795" y="920"/>
                  </a:lnTo>
                </a:path>
                <a:path w="1000" h="1000" fill="none">
                  <a:moveTo>
                    <a:pt x="810" y="80"/>
                  </a:moveTo>
                  <a:lnTo>
                    <a:pt x="810" y="920"/>
                  </a:lnTo>
                </a:path>
                <a:path w="1000" h="1000" fill="none">
                  <a:moveTo>
                    <a:pt x="825" y="80"/>
                  </a:moveTo>
                  <a:lnTo>
                    <a:pt x="825" y="920"/>
                  </a:lnTo>
                </a:path>
                <a:path w="1000" h="1000" fill="none">
                  <a:moveTo>
                    <a:pt x="840" y="80"/>
                  </a:moveTo>
                  <a:lnTo>
                    <a:pt x="840" y="920"/>
                  </a:lnTo>
                </a:path>
                <a:path w="1000" h="1000" fill="none">
                  <a:moveTo>
                    <a:pt x="856" y="80"/>
                  </a:moveTo>
                  <a:lnTo>
                    <a:pt x="856" y="920"/>
                  </a:lnTo>
                </a:path>
                <a:path w="1000" h="1000" fill="none">
                  <a:moveTo>
                    <a:pt x="871" y="80"/>
                  </a:moveTo>
                  <a:lnTo>
                    <a:pt x="871" y="920"/>
                  </a:lnTo>
                </a:path>
                <a:path w="1000" h="1000" fill="none">
                  <a:moveTo>
                    <a:pt x="886" y="80"/>
                  </a:moveTo>
                  <a:lnTo>
                    <a:pt x="886" y="920"/>
                  </a:lnTo>
                </a:path>
                <a:path w="1000" h="1000" fill="none">
                  <a:moveTo>
                    <a:pt x="901" y="80"/>
                  </a:moveTo>
                  <a:lnTo>
                    <a:pt x="901" y="920"/>
                  </a:lnTo>
                </a:path>
                <a:path w="1000" h="1000" fill="none">
                  <a:moveTo>
                    <a:pt x="916" y="80"/>
                  </a:moveTo>
                  <a:lnTo>
                    <a:pt x="916" y="920"/>
                  </a:lnTo>
                </a:path>
                <a:path w="1000" h="1000" fill="none">
                  <a:moveTo>
                    <a:pt x="931" y="80"/>
                  </a:moveTo>
                  <a:lnTo>
                    <a:pt x="931" y="920"/>
                  </a:lnTo>
                </a:path>
                <a:path w="1000" h="1000" fill="none">
                  <a:moveTo>
                    <a:pt x="946" y="80"/>
                  </a:moveTo>
                  <a:lnTo>
                    <a:pt x="946" y="920"/>
                  </a:lnTo>
                </a:path>
                <a:path w="1000" h="1000" fill="none">
                  <a:moveTo>
                    <a:pt x="962" y="80"/>
                  </a:moveTo>
                  <a:lnTo>
                    <a:pt x="962" y="920"/>
                  </a:lnTo>
                </a:path>
                <a:path w="1000" h="1000" fill="none">
                  <a:moveTo>
                    <a:pt x="977" y="80"/>
                  </a:moveTo>
                  <a:lnTo>
                    <a:pt x="977" y="920"/>
                  </a:lnTo>
                </a:path>
                <a:path w="1000" h="1000" fill="none">
                  <a:moveTo>
                    <a:pt x="992" y="80"/>
                  </a:moveTo>
                  <a:lnTo>
                    <a:pt x="992" y="920"/>
                  </a:lnTo>
                </a:path>
              </a:pathLst>
            </a:custGeom>
            <a:noFill/>
            <a:ln w="12700" cap="rnd">
              <a:solidFill>
                <a:srgbClr val="822E27"/>
              </a:solidFill>
              <a:round/>
            </a:ln>
          </p:spPr>
        </p:sp>
        <p:sp>
          <p:nvSpPr>
            <p:cNvPr id="7" name="Forma 6"/>
            <p:cNvSpPr/>
            <p:nvPr/>
          </p:nvSpPr>
          <p:spPr>
            <a:xfrm>
              <a:off x="146304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 name="Forma 7"/>
            <p:cNvSpPr/>
            <p:nvPr/>
          </p:nvSpPr>
          <p:spPr>
            <a:xfrm>
              <a:off x="338328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502920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5506517" y="1084478"/>
              <a:ext cx="329184" cy="757123"/>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1" name="Fibra en contracción"/>
          <p:cNvGrpSpPr/>
          <p:nvPr/>
        </p:nvGrpSpPr>
        <p:grpSpPr>
          <a:xfrm>
            <a:off x="6309360" y="1051560"/>
            <a:ext cx="5486400" cy="822960"/>
            <a:chOff x="6309360" y="1051560"/>
            <a:chExt cx="5486400" cy="822960"/>
          </a:xfrm>
        </p:grpSpPr>
        <p:sp>
          <p:nvSpPr>
            <p:cNvPr id="12" name="Forma 11"/>
            <p:cNvSpPr/>
            <p:nvPr/>
          </p:nvSpPr>
          <p:spPr>
            <a:xfrm>
              <a:off x="6309360" y="1051560"/>
              <a:ext cx="5486400" cy="822960"/>
            </a:xfrm>
            <a:prstGeom prst="roundRect">
              <a:avLst>
                <a:gd name="adj" fmla="val 50000"/>
              </a:avLst>
            </a:prstGeom>
            <a:gradFill rotWithShape="1">
              <a:gsLst>
                <a:gs pos="0">
                  <a:srgbClr val="6D231C"/>
                </a:gs>
                <a:gs pos="30000">
                  <a:srgbClr val="C97970"/>
                </a:gs>
                <a:gs pos="55000">
                  <a:srgbClr val="B03A2E"/>
                </a:gs>
                <a:gs pos="100000">
                  <a:srgbClr val="6D231C"/>
                </a:gs>
              </a:gsLst>
              <a:lin ang="5400000" scaled="0"/>
            </a:gradFill>
            <a:ln w="15875" cap="rnd">
              <a:solidFill>
                <a:srgbClr val="4F1A14"/>
              </a:solidFill>
              <a:round/>
            </a:ln>
            <a:effectLst>
              <a:outerShdw blurRad="101600" dist="50800" dir="2700000" algn="tl" rotWithShape="0">
                <a:srgbClr val="000000">
                  <a:alpha val="30000"/>
                </a:srgbClr>
              </a:outerShdw>
            </a:effectLst>
          </p:spPr>
        </p:sp>
        <p:sp>
          <p:nvSpPr>
            <p:cNvPr id="13" name="Forma 12"/>
            <p:cNvSpPr/>
            <p:nvPr/>
          </p:nvSpPr>
          <p:spPr>
            <a:xfrm>
              <a:off x="6515100" y="1051560"/>
              <a:ext cx="5074920" cy="822960"/>
            </a:xfrm>
            <a:custGeom>
              <a:avLst/>
              <a:gdLst/>
              <a:ahLst/>
              <a:cxnLst/>
              <a:rect l="0" t="0" r="r" b="b"/>
              <a:pathLst>
                <a:path w="1000" h="1000" fill="none">
                  <a:moveTo>
                    <a:pt x="7" y="80"/>
                  </a:moveTo>
                  <a:lnTo>
                    <a:pt x="7" y="920"/>
                  </a:lnTo>
                </a:path>
                <a:path w="1000" h="1000" fill="none">
                  <a:moveTo>
                    <a:pt x="22" y="80"/>
                  </a:moveTo>
                  <a:lnTo>
                    <a:pt x="22" y="920"/>
                  </a:lnTo>
                </a:path>
                <a:path w="1000" h="1000" fill="none">
                  <a:moveTo>
                    <a:pt x="37" y="80"/>
                  </a:moveTo>
                  <a:lnTo>
                    <a:pt x="37" y="920"/>
                  </a:lnTo>
                </a:path>
                <a:path w="1000" h="1000" fill="none">
                  <a:moveTo>
                    <a:pt x="53" y="80"/>
                  </a:moveTo>
                  <a:lnTo>
                    <a:pt x="53" y="920"/>
                  </a:lnTo>
                </a:path>
                <a:path w="1000" h="1000" fill="none">
                  <a:moveTo>
                    <a:pt x="68" y="80"/>
                  </a:moveTo>
                  <a:lnTo>
                    <a:pt x="68" y="920"/>
                  </a:lnTo>
                </a:path>
                <a:path w="1000" h="1000" fill="none">
                  <a:moveTo>
                    <a:pt x="83" y="80"/>
                  </a:moveTo>
                  <a:lnTo>
                    <a:pt x="83" y="920"/>
                  </a:lnTo>
                </a:path>
                <a:path w="1000" h="1000" fill="none">
                  <a:moveTo>
                    <a:pt x="98" y="80"/>
                  </a:moveTo>
                  <a:lnTo>
                    <a:pt x="98" y="920"/>
                  </a:lnTo>
                </a:path>
                <a:path w="1000" h="1000" fill="none">
                  <a:moveTo>
                    <a:pt x="113" y="80"/>
                  </a:moveTo>
                  <a:lnTo>
                    <a:pt x="113" y="920"/>
                  </a:lnTo>
                </a:path>
                <a:path w="1000" h="1000" fill="none">
                  <a:moveTo>
                    <a:pt x="128" y="80"/>
                  </a:moveTo>
                  <a:lnTo>
                    <a:pt x="128" y="920"/>
                  </a:lnTo>
                </a:path>
                <a:path w="1000" h="1000" fill="none">
                  <a:moveTo>
                    <a:pt x="143" y="80"/>
                  </a:moveTo>
                  <a:lnTo>
                    <a:pt x="143" y="920"/>
                  </a:lnTo>
                </a:path>
                <a:path w="1000" h="1000" fill="none">
                  <a:moveTo>
                    <a:pt x="159" y="80"/>
                  </a:moveTo>
                  <a:lnTo>
                    <a:pt x="159" y="920"/>
                  </a:lnTo>
                </a:path>
                <a:path w="1000" h="1000" fill="none">
                  <a:moveTo>
                    <a:pt x="174" y="80"/>
                  </a:moveTo>
                  <a:lnTo>
                    <a:pt x="174" y="920"/>
                  </a:lnTo>
                </a:path>
                <a:path w="1000" h="1000" fill="none">
                  <a:moveTo>
                    <a:pt x="189" y="80"/>
                  </a:moveTo>
                  <a:lnTo>
                    <a:pt x="189" y="920"/>
                  </a:lnTo>
                </a:path>
                <a:path w="1000" h="1000" fill="none">
                  <a:moveTo>
                    <a:pt x="204" y="80"/>
                  </a:moveTo>
                  <a:lnTo>
                    <a:pt x="204" y="920"/>
                  </a:lnTo>
                </a:path>
                <a:path w="1000" h="1000" fill="none">
                  <a:moveTo>
                    <a:pt x="219" y="80"/>
                  </a:moveTo>
                  <a:lnTo>
                    <a:pt x="219" y="920"/>
                  </a:lnTo>
                </a:path>
                <a:path w="1000" h="1000" fill="none">
                  <a:moveTo>
                    <a:pt x="234" y="80"/>
                  </a:moveTo>
                  <a:lnTo>
                    <a:pt x="234" y="920"/>
                  </a:lnTo>
                </a:path>
                <a:path w="1000" h="1000" fill="none">
                  <a:moveTo>
                    <a:pt x="250" y="80"/>
                  </a:moveTo>
                  <a:lnTo>
                    <a:pt x="250" y="920"/>
                  </a:lnTo>
                </a:path>
                <a:path w="1000" h="1000" fill="none">
                  <a:moveTo>
                    <a:pt x="265" y="80"/>
                  </a:moveTo>
                  <a:lnTo>
                    <a:pt x="265" y="920"/>
                  </a:lnTo>
                </a:path>
                <a:path w="1000" h="1000" fill="none">
                  <a:moveTo>
                    <a:pt x="280" y="80"/>
                  </a:moveTo>
                  <a:lnTo>
                    <a:pt x="280" y="920"/>
                  </a:lnTo>
                </a:path>
                <a:path w="1000" h="1000" fill="none">
                  <a:moveTo>
                    <a:pt x="295" y="80"/>
                  </a:moveTo>
                  <a:lnTo>
                    <a:pt x="295" y="920"/>
                  </a:lnTo>
                </a:path>
                <a:path w="1000" h="1000" fill="none">
                  <a:moveTo>
                    <a:pt x="310" y="80"/>
                  </a:moveTo>
                  <a:lnTo>
                    <a:pt x="310" y="920"/>
                  </a:lnTo>
                </a:path>
                <a:path w="1000" h="1000" fill="none">
                  <a:moveTo>
                    <a:pt x="325" y="80"/>
                  </a:moveTo>
                  <a:lnTo>
                    <a:pt x="325" y="920"/>
                  </a:lnTo>
                </a:path>
                <a:path w="1000" h="1000" fill="none">
                  <a:moveTo>
                    <a:pt x="340" y="80"/>
                  </a:moveTo>
                  <a:lnTo>
                    <a:pt x="340" y="920"/>
                  </a:lnTo>
                </a:path>
                <a:path w="1000" h="1000" fill="none">
                  <a:moveTo>
                    <a:pt x="356" y="80"/>
                  </a:moveTo>
                  <a:lnTo>
                    <a:pt x="356" y="920"/>
                  </a:lnTo>
                </a:path>
                <a:path w="1000" h="1000" fill="none">
                  <a:moveTo>
                    <a:pt x="371" y="80"/>
                  </a:moveTo>
                  <a:lnTo>
                    <a:pt x="371" y="920"/>
                  </a:lnTo>
                </a:path>
                <a:path w="1000" h="1000" fill="none">
                  <a:moveTo>
                    <a:pt x="386" y="80"/>
                  </a:moveTo>
                  <a:lnTo>
                    <a:pt x="386" y="920"/>
                  </a:lnTo>
                </a:path>
                <a:path w="1000" h="1000" fill="none">
                  <a:moveTo>
                    <a:pt x="401" y="80"/>
                  </a:moveTo>
                  <a:lnTo>
                    <a:pt x="401" y="920"/>
                  </a:lnTo>
                </a:path>
                <a:path w="1000" h="1000" fill="none">
                  <a:moveTo>
                    <a:pt x="416" y="80"/>
                  </a:moveTo>
                  <a:lnTo>
                    <a:pt x="416" y="920"/>
                  </a:lnTo>
                </a:path>
                <a:path w="1000" h="1000" fill="none">
                  <a:moveTo>
                    <a:pt x="431" y="80"/>
                  </a:moveTo>
                  <a:lnTo>
                    <a:pt x="431" y="920"/>
                  </a:lnTo>
                </a:path>
                <a:path w="1000" h="1000" fill="none">
                  <a:moveTo>
                    <a:pt x="446" y="80"/>
                  </a:moveTo>
                  <a:lnTo>
                    <a:pt x="446" y="920"/>
                  </a:lnTo>
                </a:path>
                <a:path w="1000" h="1000" fill="none">
                  <a:moveTo>
                    <a:pt x="462" y="80"/>
                  </a:moveTo>
                  <a:lnTo>
                    <a:pt x="462" y="920"/>
                  </a:lnTo>
                </a:path>
                <a:path w="1000" h="1000" fill="none">
                  <a:moveTo>
                    <a:pt x="477" y="80"/>
                  </a:moveTo>
                  <a:lnTo>
                    <a:pt x="477" y="920"/>
                  </a:lnTo>
                </a:path>
                <a:path w="1000" h="1000" fill="none">
                  <a:moveTo>
                    <a:pt x="492" y="80"/>
                  </a:moveTo>
                  <a:lnTo>
                    <a:pt x="492" y="920"/>
                  </a:lnTo>
                </a:path>
                <a:path w="1000" h="1000" fill="none">
                  <a:moveTo>
                    <a:pt x="507" y="80"/>
                  </a:moveTo>
                  <a:lnTo>
                    <a:pt x="507" y="920"/>
                  </a:lnTo>
                </a:path>
                <a:path w="1000" h="1000" fill="none">
                  <a:moveTo>
                    <a:pt x="522" y="80"/>
                  </a:moveTo>
                  <a:lnTo>
                    <a:pt x="522" y="920"/>
                  </a:lnTo>
                </a:path>
                <a:path w="1000" h="1000" fill="none">
                  <a:moveTo>
                    <a:pt x="537" y="80"/>
                  </a:moveTo>
                  <a:lnTo>
                    <a:pt x="537" y="920"/>
                  </a:lnTo>
                </a:path>
                <a:path w="1000" h="1000" fill="none">
                  <a:moveTo>
                    <a:pt x="553" y="80"/>
                  </a:moveTo>
                  <a:lnTo>
                    <a:pt x="553" y="920"/>
                  </a:lnTo>
                </a:path>
                <a:path w="1000" h="1000" fill="none">
                  <a:moveTo>
                    <a:pt x="568" y="80"/>
                  </a:moveTo>
                  <a:lnTo>
                    <a:pt x="568" y="920"/>
                  </a:lnTo>
                </a:path>
                <a:path w="1000" h="1000" fill="none">
                  <a:moveTo>
                    <a:pt x="583" y="80"/>
                  </a:moveTo>
                  <a:lnTo>
                    <a:pt x="583" y="920"/>
                  </a:lnTo>
                </a:path>
                <a:path w="1000" h="1000" fill="none">
                  <a:moveTo>
                    <a:pt x="598" y="80"/>
                  </a:moveTo>
                  <a:lnTo>
                    <a:pt x="598" y="920"/>
                  </a:lnTo>
                </a:path>
                <a:path w="1000" h="1000" fill="none">
                  <a:moveTo>
                    <a:pt x="613" y="80"/>
                  </a:moveTo>
                  <a:lnTo>
                    <a:pt x="613" y="920"/>
                  </a:lnTo>
                </a:path>
                <a:path w="1000" h="1000" fill="none">
                  <a:moveTo>
                    <a:pt x="628" y="80"/>
                  </a:moveTo>
                  <a:lnTo>
                    <a:pt x="628" y="920"/>
                  </a:lnTo>
                </a:path>
                <a:path w="1000" h="1000" fill="none">
                  <a:moveTo>
                    <a:pt x="643" y="80"/>
                  </a:moveTo>
                  <a:lnTo>
                    <a:pt x="643" y="920"/>
                  </a:lnTo>
                </a:path>
                <a:path w="1000" h="1000" fill="none">
                  <a:moveTo>
                    <a:pt x="659" y="80"/>
                  </a:moveTo>
                  <a:lnTo>
                    <a:pt x="659" y="920"/>
                  </a:lnTo>
                </a:path>
                <a:path w="1000" h="1000" fill="none">
                  <a:moveTo>
                    <a:pt x="674" y="80"/>
                  </a:moveTo>
                  <a:lnTo>
                    <a:pt x="674" y="920"/>
                  </a:lnTo>
                </a:path>
                <a:path w="1000" h="1000" fill="none">
                  <a:moveTo>
                    <a:pt x="689" y="80"/>
                  </a:moveTo>
                  <a:lnTo>
                    <a:pt x="689" y="920"/>
                  </a:lnTo>
                </a:path>
                <a:path w="1000" h="1000" fill="none">
                  <a:moveTo>
                    <a:pt x="704" y="80"/>
                  </a:moveTo>
                  <a:lnTo>
                    <a:pt x="704" y="920"/>
                  </a:lnTo>
                </a:path>
                <a:path w="1000" h="1000" fill="none">
                  <a:moveTo>
                    <a:pt x="719" y="80"/>
                  </a:moveTo>
                  <a:lnTo>
                    <a:pt x="719" y="920"/>
                  </a:lnTo>
                </a:path>
                <a:path w="1000" h="1000" fill="none">
                  <a:moveTo>
                    <a:pt x="734" y="80"/>
                  </a:moveTo>
                  <a:lnTo>
                    <a:pt x="734" y="920"/>
                  </a:lnTo>
                </a:path>
                <a:path w="1000" h="1000" fill="none">
                  <a:moveTo>
                    <a:pt x="750" y="80"/>
                  </a:moveTo>
                  <a:lnTo>
                    <a:pt x="750" y="920"/>
                  </a:lnTo>
                </a:path>
                <a:path w="1000" h="1000" fill="none">
                  <a:moveTo>
                    <a:pt x="765" y="80"/>
                  </a:moveTo>
                  <a:lnTo>
                    <a:pt x="765" y="920"/>
                  </a:lnTo>
                </a:path>
                <a:path w="1000" h="1000" fill="none">
                  <a:moveTo>
                    <a:pt x="780" y="80"/>
                  </a:moveTo>
                  <a:lnTo>
                    <a:pt x="780" y="920"/>
                  </a:lnTo>
                </a:path>
                <a:path w="1000" h="1000" fill="none">
                  <a:moveTo>
                    <a:pt x="795" y="80"/>
                  </a:moveTo>
                  <a:lnTo>
                    <a:pt x="795" y="920"/>
                  </a:lnTo>
                </a:path>
                <a:path w="1000" h="1000" fill="none">
                  <a:moveTo>
                    <a:pt x="810" y="80"/>
                  </a:moveTo>
                  <a:lnTo>
                    <a:pt x="810" y="920"/>
                  </a:lnTo>
                </a:path>
                <a:path w="1000" h="1000" fill="none">
                  <a:moveTo>
                    <a:pt x="825" y="80"/>
                  </a:moveTo>
                  <a:lnTo>
                    <a:pt x="825" y="920"/>
                  </a:lnTo>
                </a:path>
                <a:path w="1000" h="1000" fill="none">
                  <a:moveTo>
                    <a:pt x="840" y="80"/>
                  </a:moveTo>
                  <a:lnTo>
                    <a:pt x="840" y="920"/>
                  </a:lnTo>
                </a:path>
                <a:path w="1000" h="1000" fill="none">
                  <a:moveTo>
                    <a:pt x="856" y="80"/>
                  </a:moveTo>
                  <a:lnTo>
                    <a:pt x="856" y="920"/>
                  </a:lnTo>
                </a:path>
                <a:path w="1000" h="1000" fill="none">
                  <a:moveTo>
                    <a:pt x="871" y="80"/>
                  </a:moveTo>
                  <a:lnTo>
                    <a:pt x="871" y="920"/>
                  </a:lnTo>
                </a:path>
                <a:path w="1000" h="1000" fill="none">
                  <a:moveTo>
                    <a:pt x="886" y="80"/>
                  </a:moveTo>
                  <a:lnTo>
                    <a:pt x="886" y="920"/>
                  </a:lnTo>
                </a:path>
                <a:path w="1000" h="1000" fill="none">
                  <a:moveTo>
                    <a:pt x="901" y="80"/>
                  </a:moveTo>
                  <a:lnTo>
                    <a:pt x="901" y="920"/>
                  </a:lnTo>
                </a:path>
                <a:path w="1000" h="1000" fill="none">
                  <a:moveTo>
                    <a:pt x="916" y="80"/>
                  </a:moveTo>
                  <a:lnTo>
                    <a:pt x="916" y="920"/>
                  </a:lnTo>
                </a:path>
                <a:path w="1000" h="1000" fill="none">
                  <a:moveTo>
                    <a:pt x="931" y="80"/>
                  </a:moveTo>
                  <a:lnTo>
                    <a:pt x="931" y="920"/>
                  </a:lnTo>
                </a:path>
                <a:path w="1000" h="1000" fill="none">
                  <a:moveTo>
                    <a:pt x="946" y="80"/>
                  </a:moveTo>
                  <a:lnTo>
                    <a:pt x="946" y="920"/>
                  </a:lnTo>
                </a:path>
                <a:path w="1000" h="1000" fill="none">
                  <a:moveTo>
                    <a:pt x="962" y="80"/>
                  </a:moveTo>
                  <a:lnTo>
                    <a:pt x="962" y="920"/>
                  </a:lnTo>
                </a:path>
                <a:path w="1000" h="1000" fill="none">
                  <a:moveTo>
                    <a:pt x="977" y="80"/>
                  </a:moveTo>
                  <a:lnTo>
                    <a:pt x="977" y="920"/>
                  </a:lnTo>
                </a:path>
                <a:path w="1000" h="1000" fill="none">
                  <a:moveTo>
                    <a:pt x="992" y="80"/>
                  </a:moveTo>
                  <a:lnTo>
                    <a:pt x="992" y="920"/>
                  </a:lnTo>
                </a:path>
              </a:pathLst>
            </a:custGeom>
            <a:noFill/>
            <a:ln w="12700" cap="rnd">
              <a:solidFill>
                <a:srgbClr val="72251D"/>
              </a:solidFill>
              <a:round/>
            </a:ln>
          </p:spPr>
        </p:sp>
        <p:sp>
          <p:nvSpPr>
            <p:cNvPr id="14" name="Forma 13"/>
            <p:cNvSpPr/>
            <p:nvPr/>
          </p:nvSpPr>
          <p:spPr>
            <a:xfrm>
              <a:off x="740664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5" name="Forma 14"/>
            <p:cNvSpPr/>
            <p:nvPr/>
          </p:nvSpPr>
          <p:spPr>
            <a:xfrm>
              <a:off x="932688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10972800" y="1084478"/>
              <a:ext cx="411480" cy="14813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11450117" y="1084478"/>
              <a:ext cx="329184" cy="757123"/>
            </a:xfrm>
            <a:prstGeom prst="ellipse">
              <a:avLst/>
            </a:prstGeom>
            <a:gradFill rotWithShape="1">
              <a:gsLst>
                <a:gs pos="0">
                  <a:srgbClr val="F9E79F"/>
                </a:gs>
                <a:gs pos="100000">
                  <a:srgbClr val="E59866"/>
                </a:gs>
              </a:gsLst>
              <a:path path="circle">
                <a:fillToRect l="50000" t="50000" r="50000" b="50000"/>
              </a:path>
            </a:gradFill>
            <a:ln w="12700" cap="rnd">
              <a:solidFill>
                <a:srgbClr val="581D17"/>
              </a:solidFill>
              <a:round/>
            </a:ln>
          </p:spPr>
        </p:sp>
      </p:grpSp>
      <p:grpSp>
        <p:nvGrpSpPr>
          <p:cNvPr id="18" name="Recuadro Reposo alimentado"/>
          <p:cNvGrpSpPr/>
          <p:nvPr/>
        </p:nvGrpSpPr>
        <p:grpSpPr>
          <a:xfrm>
            <a:off x="365760" y="2103120"/>
            <a:ext cx="5486400" cy="3291840"/>
            <a:chOff x="365760" y="2103120"/>
            <a:chExt cx="5486400" cy="3291840"/>
          </a:xfrm>
        </p:grpSpPr>
        <p:sp>
          <p:nvSpPr>
            <p:cNvPr id="19" name="Forma 18"/>
            <p:cNvSpPr/>
            <p:nvPr/>
          </p:nvSpPr>
          <p:spPr>
            <a:xfrm>
              <a:off x="365760" y="2286000"/>
              <a:ext cx="5486400" cy="31089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Captación por </a:t>
              </a:r>
              <a:r>
                <a:rPr lang="es-AR" sz="1700" b="1" dirty="0">
                  <a:solidFill>
                    <a:srgbClr val="1E1E1E"/>
                  </a:solidFill>
                  <a:latin typeface="Bahnschrift"/>
                  <a:ea typeface="Bahnschrift"/>
                  <a:cs typeface="Bahnschrift"/>
                  <a:sym typeface="Bahnschrift"/>
                </a:rPr>
                <a:t>GLUT4</a:t>
              </a:r>
              <a:r>
                <a:rPr lang="es-AR" sz="1700" dirty="0">
                  <a:solidFill>
                    <a:srgbClr val="1E1E1E"/>
                  </a:solidFill>
                  <a:latin typeface="Bahnschrift"/>
                  <a:ea typeface="Bahnschrift"/>
                  <a:cs typeface="Bahnschrift"/>
                  <a:sym typeface="Bahnschrift"/>
                </a:rPr>
                <a:t> (insulina).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Hexocinasa II</a:t>
              </a:r>
              <a:r>
                <a:rPr lang="es-AR" sz="1700" dirty="0">
                  <a:solidFill>
                    <a:srgbClr val="1E1E1E"/>
                  </a:solidFill>
                  <a:latin typeface="Bahnschrift"/>
                  <a:ea typeface="Bahnschrift"/>
                  <a:cs typeface="Bahnschrift"/>
                  <a:sym typeface="Bahnschrift"/>
                </a:rPr>
                <a:t> → G6P.</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Glucogenogénesis</a:t>
              </a:r>
              <a:r>
                <a:rPr lang="es-AR" sz="1700" dirty="0">
                  <a:solidFill>
                    <a:srgbClr val="1E1E1E"/>
                  </a:solidFill>
                  <a:latin typeface="Bahnschrift"/>
                  <a:ea typeface="Bahnschrift"/>
                  <a:cs typeface="Bahnschrift"/>
                  <a:sym typeface="Bahnschrift"/>
                </a:rPr>
                <a:t> y oxidación de glucosa.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PFK-1</a:t>
              </a:r>
              <a:r>
                <a:rPr lang="es-AR" sz="1700" dirty="0">
                  <a:solidFill>
                    <a:srgbClr val="1E1E1E"/>
                  </a:solidFill>
                  <a:latin typeface="Bahnschrift"/>
                  <a:ea typeface="Bahnschrift"/>
                  <a:cs typeface="Bahnschrift"/>
                  <a:sym typeface="Bahnschrift"/>
                </a:rPr>
                <a:t> modulada por AMP/ATP/citrato.</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PDH</a:t>
              </a:r>
              <a:r>
                <a:rPr lang="es-AR" sz="1700" dirty="0">
                  <a:solidFill>
                    <a:srgbClr val="1E1E1E"/>
                  </a:solidFill>
                  <a:latin typeface="Bahnschrift"/>
                  <a:ea typeface="Bahnschrift"/>
                  <a:cs typeface="Bahnschrift"/>
                  <a:sym typeface="Bahnschrift"/>
                </a:rPr>
                <a:t> activada por desfosforilación.</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Puede seguir oxidando </a:t>
              </a:r>
              <a:r>
                <a:rPr lang="es-AR" sz="1700" b="1" dirty="0">
                  <a:solidFill>
                    <a:srgbClr val="1E1E1E"/>
                  </a:solidFill>
                  <a:latin typeface="Bahnschrift"/>
                  <a:ea typeface="Bahnschrift"/>
                  <a:cs typeface="Bahnschrift"/>
                  <a:sym typeface="Bahnschrift"/>
                </a:rPr>
                <a:t>lípidos</a:t>
              </a:r>
              <a:r>
                <a:rPr lang="es-AR" sz="1700" dirty="0">
                  <a:solidFill>
                    <a:srgbClr val="1E1E1E"/>
                  </a:solidFill>
                  <a:latin typeface="Bahnschrift"/>
                  <a:ea typeface="Bahnschrift"/>
                  <a:cs typeface="Bahnschrift"/>
                  <a:sym typeface="Bahnschrift"/>
                </a:rPr>
                <a:t> según disponibilidad.</a:t>
              </a:r>
              <a:endParaRPr lang="es-AR" sz="1700" dirty="0">
                <a:latin typeface="Bahnschrift"/>
              </a:endParaRPr>
            </a:p>
          </p:txBody>
        </p:sp>
        <p:sp>
          <p:nvSpPr>
            <p:cNvPr id="20" name="Forma 19"/>
            <p:cNvSpPr/>
            <p:nvPr/>
          </p:nvSpPr>
          <p:spPr>
            <a:xfrm>
              <a:off x="475488" y="2103120"/>
              <a:ext cx="192956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REPOSO ALIMENTADO</a:t>
              </a:r>
              <a:endParaRPr lang="es-AR" sz="1550" dirty="0">
                <a:latin typeface="Bahnschrift SemiBold Condensed"/>
              </a:endParaRPr>
            </a:p>
          </p:txBody>
        </p:sp>
      </p:grpSp>
      <p:grpSp>
        <p:nvGrpSpPr>
          <p:cNvPr id="21" name="Recuadro En actividad"/>
          <p:cNvGrpSpPr/>
          <p:nvPr/>
        </p:nvGrpSpPr>
        <p:grpSpPr>
          <a:xfrm>
            <a:off x="6309360" y="2103120"/>
            <a:ext cx="5486400" cy="3291840"/>
            <a:chOff x="6309360" y="2103120"/>
            <a:chExt cx="5486400" cy="3291840"/>
          </a:xfrm>
        </p:grpSpPr>
        <p:sp>
          <p:nvSpPr>
            <p:cNvPr id="22" name="Forma 21"/>
            <p:cNvSpPr/>
            <p:nvPr/>
          </p:nvSpPr>
          <p:spPr>
            <a:xfrm>
              <a:off x="6309360" y="2286000"/>
              <a:ext cx="5486400" cy="31089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Ca</a:t>
              </a:r>
              <a:r>
                <a:rPr lang="es-AR" sz="1700" b="1" baseline="30000" dirty="0">
                  <a:solidFill>
                    <a:srgbClr val="1E1E1E"/>
                  </a:solidFill>
                  <a:latin typeface="Bahnschrift"/>
                  <a:ea typeface="Bahnschrift"/>
                  <a:cs typeface="Bahnschrift"/>
                  <a:sym typeface="Bahnschrift"/>
                </a:rPr>
                <a:t>2+</a:t>
              </a:r>
              <a:r>
                <a:rPr lang="es-AR" sz="1700" dirty="0">
                  <a:solidFill>
                    <a:srgbClr val="1E1E1E"/>
                  </a:solidFill>
                  <a:latin typeface="Bahnschrift"/>
                  <a:ea typeface="Bahnschrift"/>
                  <a:cs typeface="Bahnschrift"/>
                  <a:sym typeface="Bahnschrift"/>
                </a:rPr>
                <a:t>, </a:t>
              </a:r>
              <a:r>
                <a:rPr lang="es-AR" sz="1700" b="1" dirty="0">
                  <a:solidFill>
                    <a:srgbClr val="1E1E1E"/>
                  </a:solidFill>
                  <a:latin typeface="Bahnschrift"/>
                  <a:ea typeface="Bahnschrift"/>
                  <a:cs typeface="Bahnschrift"/>
                  <a:sym typeface="Bahnschrift"/>
                </a:rPr>
                <a:t>AMP</a:t>
              </a:r>
              <a:r>
                <a:rPr lang="es-AR" sz="1700" dirty="0">
                  <a:solidFill>
                    <a:srgbClr val="1E1E1E"/>
                  </a:solidFill>
                  <a:latin typeface="Bahnschrift"/>
                  <a:ea typeface="Bahnschrift"/>
                  <a:cs typeface="Bahnschrift"/>
                  <a:sym typeface="Bahnschrift"/>
                </a:rPr>
                <a:t> y señales de contracción facilitan </a:t>
              </a:r>
              <a:r>
                <a:rPr lang="es-AR" sz="1700" b="1" dirty="0">
                  <a:solidFill>
                    <a:srgbClr val="1E1E1E"/>
                  </a:solidFill>
                  <a:latin typeface="Bahnschrift"/>
                  <a:ea typeface="Bahnschrift"/>
                  <a:cs typeface="Bahnschrift"/>
                  <a:sym typeface="Bahnschrift"/>
                </a:rPr>
                <a:t>GLUT4</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Glucogenólisis</a:t>
              </a:r>
              <a:r>
                <a:rPr lang="es-AR" sz="1700" dirty="0">
                  <a:solidFill>
                    <a:srgbClr val="1E1E1E"/>
                  </a:solidFill>
                  <a:latin typeface="Bahnschrift"/>
                  <a:ea typeface="Bahnschrift"/>
                  <a:cs typeface="Bahnschrift"/>
                  <a:sym typeface="Bahnschrift"/>
                </a:rPr>
                <a:t> por fosforilasa cinasa (Ca</a:t>
              </a:r>
              <a:r>
                <a:rPr lang="es-AR" sz="1700" baseline="30000" dirty="0">
                  <a:solidFill>
                    <a:srgbClr val="1E1E1E"/>
                  </a:solidFill>
                  <a:latin typeface="Bahnschrift"/>
                  <a:ea typeface="Bahnschrift"/>
                  <a:cs typeface="Bahnschrift"/>
                  <a:sym typeface="Bahnschrift"/>
                </a:rPr>
                <a:t>2+</a:t>
              </a:r>
              <a:r>
                <a:rPr lang="es-AR" sz="1700" dirty="0">
                  <a:solidFill>
                    <a:srgbClr val="1E1E1E"/>
                  </a:solidFill>
                  <a:latin typeface="Bahnschrift"/>
                  <a:ea typeface="Bahnschrift"/>
                  <a:cs typeface="Bahnschrift"/>
                  <a:sym typeface="Bahnschrift"/>
                </a:rPr>
                <a:t>) y AMP.</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El consumo de ATP exige mayor flujo </a:t>
              </a:r>
              <a:r>
                <a:rPr lang="es-AR" sz="1700" b="1" dirty="0">
                  <a:solidFill>
                    <a:srgbClr val="1E1E1E"/>
                  </a:solidFill>
                  <a:latin typeface="Bahnschrift"/>
                  <a:ea typeface="Bahnschrift"/>
                  <a:cs typeface="Bahnschrift"/>
                  <a:sym typeface="Bahnschrift"/>
                </a:rPr>
                <a:t>glucolítico y oxidativo</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La elección de sustrato depende de </a:t>
              </a:r>
              <a:r>
                <a:rPr lang="es-AR" sz="1700" b="1" dirty="0">
                  <a:solidFill>
                    <a:srgbClr val="1E1E1E"/>
                  </a:solidFill>
                  <a:latin typeface="Bahnschrift"/>
                  <a:ea typeface="Bahnschrift"/>
                  <a:cs typeface="Bahnschrift"/>
                  <a:sym typeface="Bahnschrift"/>
                </a:rPr>
                <a:t>intensidad y duración</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3" name="Forma 22"/>
            <p:cNvSpPr/>
            <p:nvPr/>
          </p:nvSpPr>
          <p:spPr>
            <a:xfrm>
              <a:off x="6419088" y="2103120"/>
              <a:ext cx="138865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 ACTIVIDAD</a:t>
              </a:r>
              <a:endParaRPr lang="es-AR" sz="1550" dirty="0">
                <a:latin typeface="Bahnschrift SemiBold Condensed"/>
              </a:endParaRPr>
            </a:p>
          </p:txBody>
        </p:sp>
      </p:grpSp>
      <p:sp>
        <p:nvSpPr>
          <p:cNvPr id="24" name="Signo +"/>
          <p:cNvSpPr/>
          <p:nvPr/>
        </p:nvSpPr>
        <p:spPr>
          <a:xfrm>
            <a:off x="5212080" y="1280160"/>
            <a:ext cx="274320" cy="274320"/>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25" name="Signo +_2"/>
          <p:cNvSpPr/>
          <p:nvPr/>
        </p:nvSpPr>
        <p:spPr>
          <a:xfrm>
            <a:off x="11155680" y="1280160"/>
            <a:ext cx="274320" cy="274320"/>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26" name="Perla"/>
          <p:cNvSpPr/>
          <p:nvPr/>
        </p:nvSpPr>
        <p:spPr>
          <a:xfrm>
            <a:off x="365760" y="5577840"/>
            <a:ext cx="11430000" cy="9144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El músculo </a:t>
            </a:r>
            <a:r>
              <a:rPr lang="es-AR" sz="1750" b="1" dirty="0">
                <a:solidFill>
                  <a:srgbClr val="FFFFFF"/>
                </a:solidFill>
                <a:latin typeface="Bahnschrift"/>
                <a:ea typeface="Bahnschrift"/>
                <a:cs typeface="Bahnschrift"/>
                <a:sym typeface="Bahnschrift"/>
              </a:rPr>
              <a:t>no libera glucosa</a:t>
            </a:r>
            <a:r>
              <a:rPr lang="es-AR" sz="1750" dirty="0">
                <a:solidFill>
                  <a:srgbClr val="FFFFFF"/>
                </a:solidFill>
                <a:latin typeface="Bahnschrift"/>
                <a:ea typeface="Bahnschrift"/>
                <a:cs typeface="Bahnschrift"/>
                <a:sym typeface="Bahnschrift"/>
              </a:rPr>
              <a:t> a la sangre: usa su glucógeno localmente (sin glucosa-6-fosfatasa).</a:t>
            </a:r>
            <a:endParaRPr lang="es-AR" sz="1750" dirty="0">
              <a:latin typeface="Bahnschrift"/>
            </a:endParaRPr>
          </a:p>
        </p:txBody>
      </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758655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MÚSCULO: REPOSO ALIMENTADO FRENTE A ACTIVIDAD</a:t>
            </a:r>
            <a:endParaRPr lang="es-AR" sz="2600" dirty="0">
              <a:latin typeface="Bahnschrift SemiBold Condensed"/>
            </a:endParaRPr>
          </a:p>
        </p:txBody>
      </p:sp>
      <p:sp>
        <p:nvSpPr>
          <p:cNvPr id="2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8"/>
                                        </p:tgtEl>
                                        <p:attrNameLst>
                                          <p:attrName>style.visibility</p:attrName>
                                        </p:attrNameLst>
                                      </p:cBhvr>
                                      <p:to>
                                        <p:strVal val="visible"/>
                                      </p:to>
                                    </p:set>
                                    <p:animEffect transition="in" filter="fade">
                                      <p:cBhvr>
                                        <p:cTn id="5" dur="500"/>
                                        <p:tgtEl>
                                          <p:spTgt spid="18"/>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5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Perla Hígado"/>
          <p:cNvGrpSpPr/>
          <p:nvPr/>
        </p:nvGrpSpPr>
        <p:grpSpPr>
          <a:xfrm>
            <a:off x="365760" y="1005840"/>
            <a:ext cx="11430000" cy="982230"/>
            <a:chOff x="365760" y="1005840"/>
            <a:chExt cx="11430000" cy="982230"/>
          </a:xfrm>
        </p:grpSpPr>
        <p:sp>
          <p:nvSpPr>
            <p:cNvPr id="5" name="Forma 4"/>
            <p:cNvSpPr/>
            <p:nvPr/>
          </p:nvSpPr>
          <p:spPr>
            <a:xfrm>
              <a:off x="365760" y="1005840"/>
              <a:ext cx="11430000" cy="960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6" name="!!Hígado"/>
            <p:cNvGrpSpPr/>
            <p:nvPr/>
          </p:nvGrpSpPr>
          <p:grpSpPr>
            <a:xfrm>
              <a:off x="502920" y="1115568"/>
              <a:ext cx="1234440" cy="872502"/>
              <a:chOff x="502920" y="1115568"/>
              <a:chExt cx="1234440" cy="872502"/>
            </a:xfrm>
          </p:grpSpPr>
          <p:sp>
            <p:nvSpPr>
              <p:cNvPr id="7" name="Vesícula biliar"/>
              <p:cNvSpPr/>
              <p:nvPr/>
            </p:nvSpPr>
            <p:spPr>
              <a:xfrm>
                <a:off x="836219" y="1712543"/>
                <a:ext cx="160477" cy="275527"/>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8" name="Forma 7"/>
              <p:cNvSpPr/>
              <p:nvPr/>
            </p:nvSpPr>
            <p:spPr>
              <a:xfrm>
                <a:off x="502920" y="1115568"/>
                <a:ext cx="1234440" cy="76535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9" name="Forma 8"/>
              <p:cNvSpPr/>
              <p:nvPr/>
            </p:nvSpPr>
            <p:spPr>
              <a:xfrm>
                <a:off x="502920" y="1115568"/>
                <a:ext cx="1234440" cy="76535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0" name="Forma 9"/>
              <p:cNvSpPr/>
              <p:nvPr/>
            </p:nvSpPr>
            <p:spPr>
              <a:xfrm>
                <a:off x="502920" y="1115568"/>
                <a:ext cx="1234440" cy="76535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1" name="Forma 10"/>
            <p:cNvSpPr txBox="1"/>
            <p:nvPr/>
          </p:nvSpPr>
          <p:spPr>
            <a:xfrm>
              <a:off x="2057400" y="1051560"/>
              <a:ext cx="2011680" cy="86868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Hígado</a:t>
              </a:r>
              <a:endParaRPr lang="es-AR" sz="1800" dirty="0">
                <a:latin typeface="Bahnschrift SemiBold Condensed"/>
              </a:endParaRPr>
            </a:p>
          </p:txBody>
        </p:sp>
        <p:sp>
          <p:nvSpPr>
            <p:cNvPr id="12" name="Forma 11"/>
            <p:cNvSpPr/>
            <p:nvPr/>
          </p:nvSpPr>
          <p:spPr>
            <a:xfrm>
              <a:off x="4023360" y="1207008"/>
              <a:ext cx="548640" cy="548640"/>
            </a:xfrm>
            <a:prstGeom prst="ellipse">
              <a:avLst/>
            </a:prstGeom>
            <a:solidFill>
              <a:srgbClr val="1E8C3A"/>
            </a:solidFill>
            <a:ln w="19050" cap="rnd">
              <a:solidFill>
                <a:srgbClr val="FFFFFF"/>
              </a:solidFill>
              <a:round/>
            </a:ln>
          </p:spPr>
          <p:txBody>
            <a:bodyPr wrap="square" lIns="0" tIns="0" rIns="0" bIns="0" anchor="ctr" rtlCol="0">
              <a:noAutofit/>
            </a:bodyPr>
            <a:lstStyle/>
            <a:p>
              <a:pPr algn="ctr">
                <a:spcAft>
                  <a:spcPts val="300"/>
                </a:spcAft>
                <a:buNone/>
              </a:pPr>
              <a:r>
                <a:rPr lang="es-AR" sz="1800" b="1" dirty="0">
                  <a:solidFill>
                    <a:srgbClr val="FFFFFF"/>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13" name="Forma 12"/>
            <p:cNvSpPr txBox="1"/>
            <p:nvPr/>
          </p:nvSpPr>
          <p:spPr>
            <a:xfrm>
              <a:off x="4800600" y="1051560"/>
              <a:ext cx="6858000" cy="86868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Posee </a:t>
              </a:r>
              <a:r>
                <a:rPr lang="es-AR" sz="1500" b="1" dirty="0">
                  <a:solidFill>
                    <a:srgbClr val="1E1E1E"/>
                  </a:solidFill>
                  <a:latin typeface="Bahnschrift"/>
                  <a:ea typeface="Bahnschrift"/>
                  <a:cs typeface="Bahnschrift"/>
                  <a:sym typeface="Bahnschrift"/>
                </a:rPr>
                <a:t>glucosa-6-fosfatasa</a:t>
              </a:r>
              <a:r>
                <a:rPr lang="es-AR" sz="1500" dirty="0">
                  <a:solidFill>
                    <a:srgbClr val="1E1E1E"/>
                  </a:solidFill>
                  <a:latin typeface="Bahnschrift"/>
                  <a:ea typeface="Bahnschrift"/>
                  <a:cs typeface="Bahnschrift"/>
                  <a:sym typeface="Bahnschrift"/>
                </a:rPr>
                <a:t> (RE): libera glucosa por glucogenólisis y gluconeogénesis.</a:t>
              </a:r>
              <a:endParaRPr lang="es-AR" sz="1500" dirty="0">
                <a:latin typeface="Bahnschrift"/>
              </a:endParaRPr>
            </a:p>
          </p:txBody>
        </p:sp>
      </p:grpSp>
      <p:grpSp>
        <p:nvGrpSpPr>
          <p:cNvPr id="14" name="Perla Corteza renal"/>
          <p:cNvGrpSpPr/>
          <p:nvPr/>
        </p:nvGrpSpPr>
        <p:grpSpPr>
          <a:xfrm>
            <a:off x="365760" y="2103120"/>
            <a:ext cx="11430000" cy="960120"/>
            <a:chOff x="365760" y="2103120"/>
            <a:chExt cx="11430000" cy="960120"/>
          </a:xfrm>
        </p:grpSpPr>
        <p:sp>
          <p:nvSpPr>
            <p:cNvPr id="15" name="Forma 14"/>
            <p:cNvSpPr/>
            <p:nvPr/>
          </p:nvSpPr>
          <p:spPr>
            <a:xfrm>
              <a:off x="365760" y="2103120"/>
              <a:ext cx="11430000" cy="960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16" name="!!Riñón"/>
            <p:cNvGrpSpPr/>
            <p:nvPr/>
          </p:nvGrpSpPr>
          <p:grpSpPr>
            <a:xfrm>
              <a:off x="777240" y="2148840"/>
              <a:ext cx="594360" cy="832104"/>
              <a:chOff x="777240" y="2148840"/>
              <a:chExt cx="594360" cy="832104"/>
            </a:xfrm>
          </p:grpSpPr>
          <p:sp>
            <p:nvSpPr>
              <p:cNvPr id="17" name="Forma 16"/>
              <p:cNvSpPr/>
              <p:nvPr/>
            </p:nvSpPr>
            <p:spPr>
              <a:xfrm>
                <a:off x="777240" y="2148840"/>
                <a:ext cx="594360" cy="832104"/>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18" name="Forma 17"/>
              <p:cNvSpPr/>
              <p:nvPr/>
            </p:nvSpPr>
            <p:spPr>
              <a:xfrm>
                <a:off x="777240" y="2148840"/>
                <a:ext cx="594360" cy="832104"/>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19" name="Forma 18"/>
              <p:cNvSpPr/>
              <p:nvPr/>
            </p:nvSpPr>
            <p:spPr>
              <a:xfrm>
                <a:off x="777240" y="2148840"/>
                <a:ext cx="594360" cy="832104"/>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20" name="Forma 19"/>
              <p:cNvSpPr/>
              <p:nvPr/>
            </p:nvSpPr>
            <p:spPr>
              <a:xfrm>
                <a:off x="777240" y="2148840"/>
                <a:ext cx="594360" cy="832104"/>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21" name="Forma 20"/>
            <p:cNvSpPr txBox="1"/>
            <p:nvPr/>
          </p:nvSpPr>
          <p:spPr>
            <a:xfrm>
              <a:off x="2057400" y="2148840"/>
              <a:ext cx="2011680" cy="86868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Corteza renal</a:t>
              </a:r>
              <a:endParaRPr lang="es-AR" sz="1800" dirty="0">
                <a:latin typeface="Bahnschrift SemiBold Condensed"/>
              </a:endParaRPr>
            </a:p>
          </p:txBody>
        </p:sp>
        <p:sp>
          <p:nvSpPr>
            <p:cNvPr id="22" name="Forma 21"/>
            <p:cNvSpPr/>
            <p:nvPr/>
          </p:nvSpPr>
          <p:spPr>
            <a:xfrm>
              <a:off x="4023360" y="2304288"/>
              <a:ext cx="548640" cy="548640"/>
            </a:xfrm>
            <a:prstGeom prst="ellipse">
              <a:avLst/>
            </a:prstGeom>
            <a:solidFill>
              <a:srgbClr val="1E8C3A"/>
            </a:solidFill>
            <a:ln w="19050" cap="rnd">
              <a:solidFill>
                <a:srgbClr val="FFFFFF"/>
              </a:solidFill>
              <a:round/>
            </a:ln>
          </p:spPr>
          <p:txBody>
            <a:bodyPr wrap="square" lIns="0" tIns="0" rIns="0" bIns="0" anchor="ctr" rtlCol="0">
              <a:noAutofit/>
            </a:bodyPr>
            <a:lstStyle/>
            <a:p>
              <a:pPr algn="ctr">
                <a:spcAft>
                  <a:spcPts val="300"/>
                </a:spcAft>
                <a:buNone/>
              </a:pPr>
              <a:r>
                <a:rPr lang="es-AR" sz="1800" b="1" dirty="0">
                  <a:solidFill>
                    <a:srgbClr val="FFFFFF"/>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23" name="Forma 22"/>
            <p:cNvSpPr txBox="1"/>
            <p:nvPr/>
          </p:nvSpPr>
          <p:spPr>
            <a:xfrm>
              <a:off x="4800600" y="2148840"/>
              <a:ext cx="6858000" cy="86868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Gluconeogénesis con </a:t>
              </a:r>
              <a:r>
                <a:rPr lang="es-AR" sz="1500" b="1" dirty="0">
                  <a:solidFill>
                    <a:srgbClr val="1E1E1E"/>
                  </a:solidFill>
                  <a:latin typeface="Bahnschrift"/>
                  <a:ea typeface="Bahnschrift"/>
                  <a:cs typeface="Bahnschrift"/>
                  <a:sym typeface="Bahnschrift"/>
                </a:rPr>
                <a:t>G6Pasa</a:t>
              </a:r>
              <a:r>
                <a:rPr lang="es-AR" sz="1500" dirty="0">
                  <a:solidFill>
                    <a:srgbClr val="1E1E1E"/>
                  </a:solidFill>
                  <a:latin typeface="Bahnschrift"/>
                  <a:ea typeface="Bahnschrift"/>
                  <a:cs typeface="Bahnschrift"/>
                  <a:sym typeface="Bahnschrift"/>
                </a:rPr>
                <a:t>; relevante en ayuno prolongado.</a:t>
              </a:r>
              <a:endParaRPr lang="es-AR" sz="1500" dirty="0">
                <a:latin typeface="Bahnschrift"/>
              </a:endParaRPr>
            </a:p>
          </p:txBody>
        </p:sp>
      </p:grpSp>
      <p:grpSp>
        <p:nvGrpSpPr>
          <p:cNvPr id="24" name="Perla Músculo"/>
          <p:cNvGrpSpPr/>
          <p:nvPr/>
        </p:nvGrpSpPr>
        <p:grpSpPr>
          <a:xfrm>
            <a:off x="365760" y="3200400"/>
            <a:ext cx="11430000" cy="960120"/>
            <a:chOff x="365760" y="3200400"/>
            <a:chExt cx="11430000" cy="960120"/>
          </a:xfrm>
        </p:grpSpPr>
        <p:sp>
          <p:nvSpPr>
            <p:cNvPr id="25" name="Forma 24"/>
            <p:cNvSpPr/>
            <p:nvPr/>
          </p:nvSpPr>
          <p:spPr>
            <a:xfrm>
              <a:off x="365760" y="3200400"/>
              <a:ext cx="1143000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26" name="!!Fibra muscular"/>
            <p:cNvGrpSpPr/>
            <p:nvPr/>
          </p:nvGrpSpPr>
          <p:grpSpPr>
            <a:xfrm>
              <a:off x="457200" y="3474720"/>
              <a:ext cx="1371600" cy="384048"/>
              <a:chOff x="457200" y="3474720"/>
              <a:chExt cx="1371600" cy="384048"/>
            </a:xfrm>
          </p:grpSpPr>
          <p:sp>
            <p:nvSpPr>
              <p:cNvPr id="27" name="Forma 26"/>
              <p:cNvSpPr/>
              <p:nvPr/>
            </p:nvSpPr>
            <p:spPr>
              <a:xfrm>
                <a:off x="457200" y="3474720"/>
                <a:ext cx="1371600" cy="384048"/>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8" name="Forma 27"/>
              <p:cNvSpPr/>
              <p:nvPr/>
            </p:nvSpPr>
            <p:spPr>
              <a:xfrm>
                <a:off x="553212" y="3474720"/>
                <a:ext cx="1179576" cy="384048"/>
              </a:xfrm>
              <a:custGeom>
                <a:avLst/>
                <a:gdLst/>
                <a:ahLst/>
                <a:cxnLst/>
                <a:rect l="0" t="0" r="r" b="b"/>
                <a:pathLst>
                  <a:path w="1000" h="1000" fill="none">
                    <a:moveTo>
                      <a:pt x="31" y="80"/>
                    </a:moveTo>
                    <a:lnTo>
                      <a:pt x="31" y="920"/>
                    </a:lnTo>
                  </a:path>
                  <a:path w="1000" h="1000" fill="none">
                    <a:moveTo>
                      <a:pt x="93" y="80"/>
                    </a:moveTo>
                    <a:lnTo>
                      <a:pt x="93" y="920"/>
                    </a:lnTo>
                  </a:path>
                  <a:path w="1000" h="1000" fill="none">
                    <a:moveTo>
                      <a:pt x="156" y="80"/>
                    </a:moveTo>
                    <a:lnTo>
                      <a:pt x="156" y="920"/>
                    </a:lnTo>
                  </a:path>
                  <a:path w="1000" h="1000" fill="none">
                    <a:moveTo>
                      <a:pt x="218" y="80"/>
                    </a:moveTo>
                    <a:lnTo>
                      <a:pt x="218" y="920"/>
                    </a:lnTo>
                  </a:path>
                  <a:path w="1000" h="1000" fill="none">
                    <a:moveTo>
                      <a:pt x="281" y="80"/>
                    </a:moveTo>
                    <a:lnTo>
                      <a:pt x="281" y="920"/>
                    </a:lnTo>
                  </a:path>
                  <a:path w="1000" h="1000" fill="none">
                    <a:moveTo>
                      <a:pt x="343" y="80"/>
                    </a:moveTo>
                    <a:lnTo>
                      <a:pt x="343" y="920"/>
                    </a:lnTo>
                  </a:path>
                  <a:path w="1000" h="1000" fill="none">
                    <a:moveTo>
                      <a:pt x="406" y="80"/>
                    </a:moveTo>
                    <a:lnTo>
                      <a:pt x="406" y="920"/>
                    </a:lnTo>
                  </a:path>
                  <a:path w="1000" h="1000" fill="none">
                    <a:moveTo>
                      <a:pt x="468" y="80"/>
                    </a:moveTo>
                    <a:lnTo>
                      <a:pt x="468" y="920"/>
                    </a:lnTo>
                  </a:path>
                  <a:path w="1000" h="1000" fill="none">
                    <a:moveTo>
                      <a:pt x="531" y="80"/>
                    </a:moveTo>
                    <a:lnTo>
                      <a:pt x="531" y="920"/>
                    </a:lnTo>
                  </a:path>
                  <a:path w="1000" h="1000" fill="none">
                    <a:moveTo>
                      <a:pt x="593" y="80"/>
                    </a:moveTo>
                    <a:lnTo>
                      <a:pt x="593" y="920"/>
                    </a:lnTo>
                  </a:path>
                  <a:path w="1000" h="1000" fill="none">
                    <a:moveTo>
                      <a:pt x="656" y="80"/>
                    </a:moveTo>
                    <a:lnTo>
                      <a:pt x="656" y="920"/>
                    </a:lnTo>
                  </a:path>
                  <a:path w="1000" h="1000" fill="none">
                    <a:moveTo>
                      <a:pt x="718" y="80"/>
                    </a:moveTo>
                    <a:lnTo>
                      <a:pt x="718" y="920"/>
                    </a:lnTo>
                  </a:path>
                  <a:path w="1000" h="1000" fill="none">
                    <a:moveTo>
                      <a:pt x="781" y="80"/>
                    </a:moveTo>
                    <a:lnTo>
                      <a:pt x="781" y="920"/>
                    </a:lnTo>
                  </a:path>
                  <a:path w="1000" h="1000" fill="none">
                    <a:moveTo>
                      <a:pt x="843" y="80"/>
                    </a:moveTo>
                    <a:lnTo>
                      <a:pt x="843" y="920"/>
                    </a:lnTo>
                  </a:path>
                  <a:path w="1000" h="1000" fill="none">
                    <a:moveTo>
                      <a:pt x="906" y="80"/>
                    </a:moveTo>
                    <a:lnTo>
                      <a:pt x="906" y="920"/>
                    </a:lnTo>
                  </a:path>
                  <a:path w="1000" h="1000" fill="none">
                    <a:moveTo>
                      <a:pt x="968" y="80"/>
                    </a:moveTo>
                    <a:lnTo>
                      <a:pt x="968" y="920"/>
                    </a:lnTo>
                  </a:path>
                </a:pathLst>
              </a:custGeom>
              <a:noFill/>
              <a:ln w="12700" cap="rnd">
                <a:solidFill>
                  <a:srgbClr val="822E27"/>
                </a:solidFill>
                <a:round/>
              </a:ln>
            </p:spPr>
          </p:sp>
          <p:sp>
            <p:nvSpPr>
              <p:cNvPr id="29" name="Forma 28"/>
              <p:cNvSpPr/>
              <p:nvPr/>
            </p:nvSpPr>
            <p:spPr>
              <a:xfrm>
                <a:off x="731520" y="3490082"/>
                <a:ext cx="192024" cy="69129"/>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1211580" y="3490082"/>
                <a:ext cx="192024" cy="69129"/>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1623060" y="3490082"/>
                <a:ext cx="192024" cy="69129"/>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1667500" y="3490082"/>
                <a:ext cx="153619" cy="353324"/>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sp>
          <p:nvSpPr>
            <p:cNvPr id="33" name="Forma 32"/>
            <p:cNvSpPr txBox="1"/>
            <p:nvPr/>
          </p:nvSpPr>
          <p:spPr>
            <a:xfrm>
              <a:off x="2057400" y="3246120"/>
              <a:ext cx="2011680" cy="86868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Músculo</a:t>
              </a:r>
              <a:endParaRPr lang="es-AR" sz="1800" dirty="0">
                <a:latin typeface="Bahnschrift SemiBold Condensed"/>
              </a:endParaRPr>
            </a:p>
          </p:txBody>
        </p:sp>
        <p:sp>
          <p:nvSpPr>
            <p:cNvPr id="34" name="Forma 33"/>
            <p:cNvSpPr/>
            <p:nvPr/>
          </p:nvSpPr>
          <p:spPr>
            <a:xfrm>
              <a:off x="4023360" y="3401568"/>
              <a:ext cx="548640" cy="548640"/>
            </a:xfrm>
            <a:prstGeom prst="ellipse">
              <a:avLst/>
            </a:prstGeom>
            <a:solidFill>
              <a:srgbClr val="C00000"/>
            </a:solidFill>
            <a:ln w="19050" cap="rnd">
              <a:solidFill>
                <a:srgbClr val="FFFFFF"/>
              </a:solidFill>
              <a:round/>
            </a:ln>
          </p:spPr>
          <p:txBody>
            <a:bodyPr wrap="square" lIns="0" tIns="0" rIns="0" bIns="0" anchor="ctr" rtlCol="0">
              <a:noAutofit/>
            </a:bodyPr>
            <a:lstStyle/>
            <a:p>
              <a:pPr algn="ctr">
                <a:spcAft>
                  <a:spcPts val="300"/>
                </a:spcAft>
                <a:buNone/>
              </a:pPr>
              <a:r>
                <a:rPr lang="es-AR" sz="1800" b="1" dirty="0">
                  <a:solidFill>
                    <a:srgbClr val="FFFFFF"/>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35" name="Forma 34"/>
            <p:cNvSpPr txBox="1"/>
            <p:nvPr/>
          </p:nvSpPr>
          <p:spPr>
            <a:xfrm>
              <a:off x="4800600" y="3246120"/>
              <a:ext cx="6858000" cy="86868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Sin G6Pasa relevante: su G6P se usa </a:t>
              </a:r>
              <a:r>
                <a:rPr lang="es-AR" sz="1500" b="1" dirty="0">
                  <a:solidFill>
                    <a:srgbClr val="1E1E1E"/>
                  </a:solidFill>
                  <a:latin typeface="Bahnschrift"/>
                  <a:ea typeface="Bahnschrift"/>
                  <a:cs typeface="Bahnschrift"/>
                  <a:sym typeface="Bahnschrift"/>
                </a:rPr>
                <a:t>localmente</a:t>
              </a:r>
              <a:r>
                <a:rPr lang="es-AR" sz="1500" dirty="0">
                  <a:solidFill>
                    <a:srgbClr val="1E1E1E"/>
                  </a:solidFill>
                  <a:latin typeface="Bahnschrift"/>
                  <a:ea typeface="Bahnschrift"/>
                  <a:cs typeface="Bahnschrift"/>
                  <a:sym typeface="Bahnschrift"/>
                </a:rPr>
                <a:t>; exporta lactato y alanina.</a:t>
              </a:r>
              <a:endParaRPr lang="es-AR" sz="1500" dirty="0">
                <a:latin typeface="Bahnschrift"/>
              </a:endParaRPr>
            </a:p>
          </p:txBody>
        </p:sp>
      </p:grpSp>
      <p:grpSp>
        <p:nvGrpSpPr>
          <p:cNvPr id="36" name="Perla Adiposo"/>
          <p:cNvGrpSpPr/>
          <p:nvPr/>
        </p:nvGrpSpPr>
        <p:grpSpPr>
          <a:xfrm>
            <a:off x="365760" y="4297680"/>
            <a:ext cx="11430000" cy="960120"/>
            <a:chOff x="365760" y="4297680"/>
            <a:chExt cx="11430000" cy="960120"/>
          </a:xfrm>
        </p:grpSpPr>
        <p:sp>
          <p:nvSpPr>
            <p:cNvPr id="37" name="Forma 36"/>
            <p:cNvSpPr/>
            <p:nvPr/>
          </p:nvSpPr>
          <p:spPr>
            <a:xfrm>
              <a:off x="365760" y="4297680"/>
              <a:ext cx="1143000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38" name="!!Adipocito blanco"/>
            <p:cNvGrpSpPr/>
            <p:nvPr/>
          </p:nvGrpSpPr>
          <p:grpSpPr>
            <a:xfrm>
              <a:off x="777240" y="4370832"/>
              <a:ext cx="804672" cy="804672"/>
              <a:chOff x="777240" y="4370832"/>
              <a:chExt cx="804672" cy="804672"/>
            </a:xfrm>
          </p:grpSpPr>
          <p:sp>
            <p:nvSpPr>
              <p:cNvPr id="39" name="Forma 38"/>
              <p:cNvSpPr/>
              <p:nvPr/>
            </p:nvSpPr>
            <p:spPr>
              <a:xfrm>
                <a:off x="777240" y="4370832"/>
                <a:ext cx="804672" cy="80467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0" name="Gota lipídica"/>
              <p:cNvSpPr/>
              <p:nvPr/>
            </p:nvSpPr>
            <p:spPr>
              <a:xfrm>
                <a:off x="817474" y="4411066"/>
                <a:ext cx="724205" cy="724205"/>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1" name="Forma 40"/>
              <p:cNvSpPr/>
              <p:nvPr/>
            </p:nvSpPr>
            <p:spPr>
              <a:xfrm rot="2400000">
                <a:off x="1356604" y="4419112"/>
                <a:ext cx="177028" cy="9656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2" name="Mitocondria"/>
              <p:cNvGrpSpPr/>
              <p:nvPr/>
            </p:nvGrpSpPr>
            <p:grpSpPr>
              <a:xfrm>
                <a:off x="841614" y="4966289"/>
                <a:ext cx="80467" cy="40234"/>
                <a:chOff x="841614" y="4966289"/>
                <a:chExt cx="80467" cy="40234"/>
              </a:xfrm>
            </p:grpSpPr>
            <p:sp>
              <p:nvSpPr>
                <p:cNvPr id="43" name="Forma 42"/>
                <p:cNvSpPr/>
                <p:nvPr/>
              </p:nvSpPr>
              <p:spPr>
                <a:xfrm rot="-2400000">
                  <a:off x="841614" y="4966289"/>
                  <a:ext cx="80467" cy="4023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4" name="Forma 43"/>
                <p:cNvSpPr/>
                <p:nvPr/>
              </p:nvSpPr>
              <p:spPr>
                <a:xfrm rot="-2400000">
                  <a:off x="847246" y="4971922"/>
                  <a:ext cx="69202" cy="28968"/>
                </a:xfrm>
                <a:prstGeom prst="ellipse">
                  <a:avLst/>
                </a:prstGeom>
                <a:solidFill>
                  <a:srgbClr val="F8D8B4"/>
                </a:solidFill>
                <a:ln w="9525" cap="rnd">
                  <a:solidFill>
                    <a:srgbClr val="B2732B"/>
                  </a:solidFill>
                  <a:round/>
                </a:ln>
              </p:spPr>
            </p:sp>
            <p:sp>
              <p:nvSpPr>
                <p:cNvPr id="45" name="Forma 44"/>
                <p:cNvSpPr/>
                <p:nvPr/>
              </p:nvSpPr>
              <p:spPr>
                <a:xfrm rot="-2400000">
                  <a:off x="847246" y="4971922"/>
                  <a:ext cx="69202" cy="289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46" name="Forma 45"/>
            <p:cNvSpPr txBox="1"/>
            <p:nvPr/>
          </p:nvSpPr>
          <p:spPr>
            <a:xfrm>
              <a:off x="2057400" y="4343400"/>
              <a:ext cx="2011680" cy="86868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Adiposo</a:t>
              </a:r>
              <a:endParaRPr lang="es-AR" sz="1800" dirty="0">
                <a:latin typeface="Bahnschrift SemiBold Condensed"/>
              </a:endParaRPr>
            </a:p>
          </p:txBody>
        </p:sp>
        <p:sp>
          <p:nvSpPr>
            <p:cNvPr id="47" name="Forma 46"/>
            <p:cNvSpPr/>
            <p:nvPr/>
          </p:nvSpPr>
          <p:spPr>
            <a:xfrm>
              <a:off x="4023360" y="4498848"/>
              <a:ext cx="548640" cy="548640"/>
            </a:xfrm>
            <a:prstGeom prst="ellipse">
              <a:avLst/>
            </a:prstGeom>
            <a:solidFill>
              <a:srgbClr val="C00000"/>
            </a:solidFill>
            <a:ln w="19050" cap="rnd">
              <a:solidFill>
                <a:srgbClr val="FFFFFF"/>
              </a:solidFill>
              <a:round/>
            </a:ln>
          </p:spPr>
          <p:txBody>
            <a:bodyPr wrap="square" lIns="0" tIns="0" rIns="0" bIns="0" anchor="ctr" rtlCol="0">
              <a:noAutofit/>
            </a:bodyPr>
            <a:lstStyle/>
            <a:p>
              <a:pPr algn="ctr">
                <a:spcAft>
                  <a:spcPts val="300"/>
                </a:spcAft>
                <a:buNone/>
              </a:pPr>
              <a:r>
                <a:rPr lang="es-AR" sz="1800" b="1" dirty="0">
                  <a:solidFill>
                    <a:srgbClr val="FFFFFF"/>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48" name="Forma 47"/>
            <p:cNvSpPr txBox="1"/>
            <p:nvPr/>
          </p:nvSpPr>
          <p:spPr>
            <a:xfrm>
              <a:off x="4800600" y="4343400"/>
              <a:ext cx="6858000" cy="86868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No libera glucosa: exporta </a:t>
              </a:r>
              <a:r>
                <a:rPr lang="es-AR" sz="1500" b="1" dirty="0">
                  <a:solidFill>
                    <a:srgbClr val="1E1E1E"/>
                  </a:solidFill>
                  <a:latin typeface="Bahnschrift"/>
                  <a:ea typeface="Bahnschrift"/>
                  <a:cs typeface="Bahnschrift"/>
                  <a:sym typeface="Bahnschrift"/>
                </a:rPr>
                <a:t>AG y glicerol</a:t>
              </a:r>
              <a:r>
                <a:rPr lang="es-AR" sz="1500" dirty="0">
                  <a:solidFill>
                    <a:srgbClr val="1E1E1E"/>
                  </a:solidFill>
                  <a:latin typeface="Bahnschrift"/>
                  <a:ea typeface="Bahnschrift"/>
                  <a:cs typeface="Bahnschrift"/>
                  <a:sym typeface="Bahnschrift"/>
                </a:rPr>
                <a:t>.</a:t>
              </a:r>
              <a:endParaRPr lang="es-AR" sz="1500" dirty="0">
                <a:latin typeface="Bahnschrift"/>
              </a:endParaRPr>
            </a:p>
          </p:txBody>
        </p:sp>
      </p:grpSp>
      <p:grpSp>
        <p:nvGrpSpPr>
          <p:cNvPr id="49" name="Perla Eritrocito"/>
          <p:cNvGrpSpPr/>
          <p:nvPr/>
        </p:nvGrpSpPr>
        <p:grpSpPr>
          <a:xfrm>
            <a:off x="365760" y="5394960"/>
            <a:ext cx="11430000" cy="960120"/>
            <a:chOff x="365760" y="5394960"/>
            <a:chExt cx="11430000" cy="960120"/>
          </a:xfrm>
        </p:grpSpPr>
        <p:sp>
          <p:nvSpPr>
            <p:cNvPr id="50" name="Forma 49"/>
            <p:cNvSpPr/>
            <p:nvPr/>
          </p:nvSpPr>
          <p:spPr>
            <a:xfrm>
              <a:off x="365760" y="5394960"/>
              <a:ext cx="1143000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sp>
          <p:nvSpPr>
            <p:cNvPr id="51" name="Eritrocito"/>
            <p:cNvSpPr/>
            <p:nvPr/>
          </p:nvSpPr>
          <p:spPr>
            <a:xfrm>
              <a:off x="777240" y="5486400"/>
              <a:ext cx="777240" cy="77724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52" name="Forma 51"/>
            <p:cNvSpPr txBox="1"/>
            <p:nvPr/>
          </p:nvSpPr>
          <p:spPr>
            <a:xfrm>
              <a:off x="2057400" y="5440680"/>
              <a:ext cx="2011680" cy="86868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Eritrocito</a:t>
              </a:r>
              <a:endParaRPr lang="es-AR" sz="1800" dirty="0">
                <a:latin typeface="Bahnschrift SemiBold Condensed"/>
              </a:endParaRPr>
            </a:p>
          </p:txBody>
        </p:sp>
        <p:sp>
          <p:nvSpPr>
            <p:cNvPr id="53" name="Forma 52"/>
            <p:cNvSpPr/>
            <p:nvPr/>
          </p:nvSpPr>
          <p:spPr>
            <a:xfrm>
              <a:off x="4023360" y="5596128"/>
              <a:ext cx="548640" cy="548640"/>
            </a:xfrm>
            <a:prstGeom prst="ellipse">
              <a:avLst/>
            </a:prstGeom>
            <a:solidFill>
              <a:srgbClr val="C00000"/>
            </a:solidFill>
            <a:ln w="19050" cap="rnd">
              <a:solidFill>
                <a:srgbClr val="FFFFFF"/>
              </a:solidFill>
              <a:round/>
            </a:ln>
          </p:spPr>
          <p:txBody>
            <a:bodyPr wrap="square" lIns="0" tIns="0" rIns="0" bIns="0" anchor="ctr" rtlCol="0">
              <a:noAutofit/>
            </a:bodyPr>
            <a:lstStyle/>
            <a:p>
              <a:pPr algn="ctr">
                <a:spcAft>
                  <a:spcPts val="300"/>
                </a:spcAft>
                <a:buNone/>
              </a:pPr>
              <a:r>
                <a:rPr lang="es-AR" sz="1800" b="1" dirty="0">
                  <a:solidFill>
                    <a:srgbClr val="FFFFFF"/>
                  </a:solidFill>
                  <a:latin typeface="Bahnschrift SemiBold Condensed"/>
                  <a:ea typeface="Bahnschrift SemiBold Condensed"/>
                  <a:cs typeface="Bahnschrift SemiBold Condensed"/>
                  <a:sym typeface="Bahnschrift SemiBold Condensed"/>
                </a:rPr>
                <a:t>✗</a:t>
              </a:r>
              <a:endParaRPr lang="es-AR" sz="1800" dirty="0">
                <a:latin typeface="Bahnschrift SemiBold Condensed"/>
              </a:endParaRPr>
            </a:p>
          </p:txBody>
        </p:sp>
        <p:sp>
          <p:nvSpPr>
            <p:cNvPr id="54" name="Forma 53"/>
            <p:cNvSpPr txBox="1"/>
            <p:nvPr/>
          </p:nvSpPr>
          <p:spPr>
            <a:xfrm>
              <a:off x="4800600" y="5440680"/>
              <a:ext cx="6858000" cy="86868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Siempre libera </a:t>
              </a:r>
              <a:r>
                <a:rPr lang="es-AR" sz="1500" b="1" dirty="0">
                  <a:solidFill>
                    <a:srgbClr val="1E1E1E"/>
                  </a:solidFill>
                  <a:latin typeface="Bahnschrift"/>
                  <a:ea typeface="Bahnschrift"/>
                  <a:cs typeface="Bahnschrift"/>
                  <a:sym typeface="Bahnschrift"/>
                </a:rPr>
                <a:t>lactato</a:t>
              </a:r>
              <a:r>
                <a:rPr lang="es-AR" sz="1500" dirty="0">
                  <a:solidFill>
                    <a:srgbClr val="1E1E1E"/>
                  </a:solidFill>
                  <a:latin typeface="Bahnschrift"/>
                  <a:ea typeface="Bahnschrift"/>
                  <a:cs typeface="Bahnschrift"/>
                  <a:sym typeface="Bahnschrift"/>
                </a:rPr>
                <a:t>; no produce cetonas ni oxida AG.</a:t>
              </a:r>
              <a:endParaRPr lang="es-AR" sz="1500" dirty="0">
                <a:latin typeface="Bahnschrift"/>
              </a:endParaRPr>
            </a:p>
          </p:txBody>
        </p:sp>
      </p:grpSp>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70130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250" b="1" dirty="0">
                <a:solidFill>
                  <a:srgbClr val="1E1E1E"/>
                </a:solidFill>
                <a:latin typeface="Bahnschrift SemiBold Condensed"/>
                <a:ea typeface="Bahnschrift SemiBold Condensed"/>
                <a:cs typeface="Bahnschrift SemiBold Condensed"/>
                <a:sym typeface="Bahnschrift SemiBold Condensed"/>
              </a:rPr>
              <a:t>6 · PERLA COMPARATIVA: ¿QUIÉN PUEDE DEVOLVER GLUCOSA A LA SANGRE?</a:t>
            </a:r>
            <a:endParaRPr lang="es-AR" sz="2250" dirty="0">
              <a:latin typeface="Bahnschrift SemiBold Condensed"/>
            </a:endParaRPr>
          </a:p>
        </p:txBody>
      </p:sp>
      <p:sp>
        <p:nvSpPr>
          <p:cNvPr id="5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Tabla tejidos alimentado"/>
          <p:cNvGraphicFramePr>
            <a:graphicFrameLocks noGrp="1"/>
          </p:cNvGraphicFramePr>
          <p:nvPr/>
        </p:nvGraphicFramePr>
        <p:xfrm>
          <a:off x="365760" y="1051560"/>
          <a:ext cx="11430000" cy="4352544"/>
        </p:xfrm>
        <a:graphic>
          <a:graphicData uri="http://schemas.openxmlformats.org/drawingml/2006/table">
            <a:tbl>
              <a:tblPr firstRow="1" bandRow="1"/>
              <a:tblGrid>
                <a:gridCol w="1554480"/>
                <a:gridCol w="2468880"/>
                <a:gridCol w="3931920"/>
                <a:gridCol w="3474720"/>
              </a:tblGrid>
              <a:tr h="621792">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Tejido</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Entrada de glucosa</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Destino principal posprandial</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Particularidad</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Hígado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GLUT2 + glucocinasa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Glucógeno, glucólisis, PPP, lipogénesis → VLDL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Amortigua la glucemia; G6Pasa (silenciada)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Músculo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GLUT4 (insulina) + HK II</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Glucógeno y oxidación</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Gran sumidero periférico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Adiposo blanco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GLUT4 (insulina)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Glicerol-3-P y TAG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Insulina suprime la lipólisis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Eritrocito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GLUT1</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Glucólisis → lactato; PPP; 2,3-BPG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Sin mitocondrias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Neurona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GLUT3 (GLUT1 en BHE)</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Glucólisis y oxidación</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Sin β-oxidación significativa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21792">
                <a:tc>
                  <a:txBody>
                    <a:bodyPr/>
                    <a:lstStyle/>
                    <a:p>
                      <a:pPr algn="l">
                        <a:spcAft>
                          <a:spcPts val="100"/>
                        </a:spcAft>
                        <a:buNone/>
                      </a:pPr>
                      <a:r>
                        <a:rPr lang="es-AR" sz="1500" b="1" dirty="0">
                          <a:solidFill>
                            <a:srgbClr val="1E1E1E"/>
                          </a:solidFill>
                          <a:latin typeface="Bahnschrift"/>
                          <a:ea typeface="Bahnschrift"/>
                          <a:cs typeface="Bahnschrift"/>
                          <a:sym typeface="Bahnschrift"/>
                        </a:rPr>
                        <a:t>Célula β</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GLUT1/3 (GLUT2) + glucocinasa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Metabolismo como </a:t>
                      </a:r>
                      <a:r>
                        <a:rPr lang="es-AR" sz="1500" b="1" dirty="0">
                          <a:solidFill>
                            <a:srgbClr val="1E1E1E"/>
                          </a:solidFill>
                          <a:latin typeface="Bahnschrift"/>
                          <a:ea typeface="Bahnschrift"/>
                          <a:cs typeface="Bahnschrift"/>
                          <a:sym typeface="Bahnschrift"/>
                        </a:rPr>
                        <a:t>sensor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K</a:t>
                      </a:r>
                      <a:r>
                        <a:rPr lang="es-AR" sz="1500" baseline="-25000" dirty="0">
                          <a:solidFill>
                            <a:srgbClr val="1E1E1E"/>
                          </a:solidFill>
                          <a:latin typeface="Bahnschrift"/>
                          <a:ea typeface="Bahnschrift"/>
                          <a:cs typeface="Bahnschrift"/>
                          <a:sym typeface="Bahnschrift"/>
                        </a:rPr>
                        <a:t>ATP</a:t>
                      </a:r>
                      <a:r>
                        <a:rPr lang="es-AR" sz="1500" dirty="0">
                          <a:solidFill>
                            <a:srgbClr val="1E1E1E"/>
                          </a:solidFill>
                          <a:latin typeface="Bahnschrift"/>
                          <a:ea typeface="Bahnschrift"/>
                          <a:cs typeface="Bahnschrift"/>
                          <a:sym typeface="Bahnschrift"/>
                        </a:rPr>
                        <a:t>/Ca</a:t>
                      </a:r>
                      <a:r>
                        <a:rPr lang="es-AR" sz="1500" baseline="30000"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 secreción</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 name="Etiqueta sección"/>
          <p:cNvSpPr/>
          <p:nvPr/>
        </p:nvSpPr>
        <p:spPr>
          <a:xfrm>
            <a:off x="9551102" y="201168"/>
            <a:ext cx="236627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 · ESTADO ALIMENTADO</a:t>
            </a:r>
            <a:endParaRPr lang="es-AR" sz="1300" dirty="0">
              <a:latin typeface="Bahnschrift SemiBold Condensed"/>
            </a:endParaRPr>
          </a:p>
        </p:txBody>
      </p:sp>
      <p:sp>
        <p:nvSpPr>
          <p:cNvPr id="3" name="Título"/>
          <p:cNvSpPr/>
          <p:nvPr/>
        </p:nvSpPr>
        <p:spPr>
          <a:xfrm>
            <a:off x="274320" y="146304"/>
            <a:ext cx="869032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6 · COMPARACIÓN TEJIDO POR TEJIDO EN EL ESTADO ALIMENTADO</a:t>
            </a:r>
            <a:endParaRPr lang="es-AR" sz="2600" dirty="0">
              <a:latin typeface="Bahnschrift SemiBold Condensed"/>
            </a:endParaRPr>
          </a:p>
        </p:txBody>
      </p:sp>
      <p:sp>
        <p:nvSpPr>
          <p:cNvPr id="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Tile INTESTINO"/>
          <p:cNvGrpSpPr/>
          <p:nvPr/>
        </p:nvGrpSpPr>
        <p:grpSpPr>
          <a:xfrm>
            <a:off x="365760" y="1005840"/>
            <a:ext cx="2788920" cy="2651760"/>
            <a:chOff x="365760" y="1005840"/>
            <a:chExt cx="2788920" cy="2651760"/>
          </a:xfrm>
        </p:grpSpPr>
        <p:sp>
          <p:nvSpPr>
            <p:cNvPr id="5" name="Forma 4"/>
            <p:cNvSpPr/>
            <p:nvPr/>
          </p:nvSpPr>
          <p:spPr>
            <a:xfrm>
              <a:off x="365760" y="1005840"/>
              <a:ext cx="2788920" cy="2651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6" name="Ícono intestino"/>
            <p:cNvGrpSpPr/>
            <p:nvPr/>
          </p:nvGrpSpPr>
          <p:grpSpPr>
            <a:xfrm>
              <a:off x="500634" y="1122426"/>
              <a:ext cx="781812" cy="664540"/>
              <a:chOff x="500634" y="1122426"/>
              <a:chExt cx="781812" cy="664540"/>
            </a:xfrm>
          </p:grpSpPr>
          <p:sp>
            <p:nvSpPr>
              <p:cNvPr id="7" name="Forma 6"/>
              <p:cNvSpPr/>
              <p:nvPr/>
            </p:nvSpPr>
            <p:spPr>
              <a:xfrm>
                <a:off x="500634" y="1122426"/>
                <a:ext cx="781812" cy="66454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8" name="Forma 7"/>
              <p:cNvSpPr/>
              <p:nvPr/>
            </p:nvSpPr>
            <p:spPr>
              <a:xfrm>
                <a:off x="500634" y="1122426"/>
                <a:ext cx="781812" cy="66454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9" name="Forma 8"/>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0" name="Forma 9"/>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1" name="Forma 10"/>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12" name="Forma 11"/>
            <p:cNvSpPr txBox="1"/>
            <p:nvPr/>
          </p:nvSpPr>
          <p:spPr>
            <a:xfrm>
              <a:off x="1463040"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INTESTINO</a:t>
              </a:r>
              <a:endParaRPr lang="es-AR" sz="1550" dirty="0">
                <a:latin typeface="Bahnschrift SemiBold Condensed"/>
              </a:endParaRPr>
            </a:p>
          </p:txBody>
        </p:sp>
        <p:sp>
          <p:nvSpPr>
            <p:cNvPr id="13" name="Forma 12"/>
            <p:cNvSpPr txBox="1"/>
            <p:nvPr/>
          </p:nvSpPr>
          <p:spPr>
            <a:xfrm>
              <a:off x="502920"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Absorbe glucosa y AA → </a:t>
              </a:r>
              <a:r>
                <a:rPr lang="es-AR" sz="1550" b="1" dirty="0">
                  <a:solidFill>
                    <a:srgbClr val="1E1E1E"/>
                  </a:solidFill>
                  <a:latin typeface="Bahnschrift"/>
                  <a:ea typeface="Bahnschrift"/>
                  <a:cs typeface="Bahnschrift"/>
                  <a:sym typeface="Bahnschrift"/>
                </a:rPr>
                <a:t>porta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TAG → </a:t>
              </a:r>
              <a:r>
                <a:rPr lang="es-AR" sz="1550" b="1" dirty="0">
                  <a:solidFill>
                    <a:srgbClr val="1E1E1E"/>
                  </a:solidFill>
                  <a:latin typeface="Bahnschrift"/>
                  <a:ea typeface="Bahnschrift"/>
                  <a:cs typeface="Bahnschrift"/>
                  <a:sym typeface="Bahnschrift"/>
                </a:rPr>
                <a:t>QM</a:t>
              </a:r>
              <a:r>
                <a:rPr lang="es-AR" sz="1550" dirty="0">
                  <a:solidFill>
                    <a:srgbClr val="1E1E1E"/>
                  </a:solidFill>
                  <a:latin typeface="Bahnschrift"/>
                  <a:ea typeface="Bahnschrift"/>
                  <a:cs typeface="Bahnschrift"/>
                  <a:sym typeface="Bahnschrift"/>
                </a:rPr>
                <a:t> → linfa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Secreta GLP-1/GIP</a:t>
              </a:r>
              <a:endParaRPr lang="es-AR" sz="1550" dirty="0">
                <a:latin typeface="Bahnschrift"/>
              </a:endParaRPr>
            </a:p>
          </p:txBody>
        </p:sp>
      </p:grpSp>
      <p:grpSp>
        <p:nvGrpSpPr>
          <p:cNvPr id="14" name="Tile PÁNCREAS"/>
          <p:cNvGrpSpPr/>
          <p:nvPr/>
        </p:nvGrpSpPr>
        <p:grpSpPr>
          <a:xfrm>
            <a:off x="3264408" y="1005840"/>
            <a:ext cx="2788920" cy="2651760"/>
            <a:chOff x="3264408" y="1005840"/>
            <a:chExt cx="2788920" cy="2651760"/>
          </a:xfrm>
        </p:grpSpPr>
        <p:sp>
          <p:nvSpPr>
            <p:cNvPr id="15" name="Forma 14"/>
            <p:cNvSpPr/>
            <p:nvPr/>
          </p:nvSpPr>
          <p:spPr>
            <a:xfrm>
              <a:off x="3264408" y="1005840"/>
              <a:ext cx="278892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16" name="Ícono páncreas"/>
            <p:cNvGrpSpPr/>
            <p:nvPr/>
          </p:nvGrpSpPr>
          <p:grpSpPr>
            <a:xfrm>
              <a:off x="3355848" y="1339596"/>
              <a:ext cx="868680" cy="364846"/>
              <a:chOff x="3355848" y="1339596"/>
              <a:chExt cx="868680" cy="364846"/>
            </a:xfrm>
          </p:grpSpPr>
          <p:sp>
            <p:nvSpPr>
              <p:cNvPr id="17" name="Forma 16"/>
              <p:cNvSpPr/>
              <p:nvPr/>
            </p:nvSpPr>
            <p:spPr>
              <a:xfrm>
                <a:off x="3355848" y="1339596"/>
                <a:ext cx="868680" cy="364846"/>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355848" y="1339596"/>
                <a:ext cx="868680" cy="364846"/>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355848" y="1339596"/>
                <a:ext cx="868680" cy="364846"/>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355848" y="1339596"/>
                <a:ext cx="868680" cy="364846"/>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Forma 20"/>
            <p:cNvSpPr txBox="1"/>
            <p:nvPr/>
          </p:nvSpPr>
          <p:spPr>
            <a:xfrm>
              <a:off x="4361688"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PÁNCREAS</a:t>
              </a:r>
              <a:endParaRPr lang="es-AR" sz="1550" dirty="0">
                <a:latin typeface="Bahnschrift SemiBold Condensed"/>
              </a:endParaRPr>
            </a:p>
          </p:txBody>
        </p:sp>
        <p:sp>
          <p:nvSpPr>
            <p:cNvPr id="22" name="Forma 21"/>
            <p:cNvSpPr txBox="1"/>
            <p:nvPr/>
          </p:nvSpPr>
          <p:spPr>
            <a:xfrm>
              <a:off x="3401568"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β: </a:t>
              </a:r>
              <a:r>
                <a:rPr lang="es-AR" sz="1550" b="1" dirty="0">
                  <a:solidFill>
                    <a:srgbClr val="1E1E1E"/>
                  </a:solidFill>
                  <a:latin typeface="Bahnschrift"/>
                  <a:ea typeface="Bahnschrift"/>
                  <a:cs typeface="Bahnschrift"/>
                  <a:sym typeface="Bahnschrift"/>
                </a:rPr>
                <a:t>insulina ↑</a:t>
              </a:r>
              <a:r>
                <a:rPr lang="es-AR" sz="1550" dirty="0">
                  <a:solidFill>
                    <a:srgbClr val="1E1E1E"/>
                  </a:solidFill>
                  <a:latin typeface="Bahnschrift"/>
                  <a:ea typeface="Bahnschrift"/>
                  <a:cs typeface="Bahnschrift"/>
                  <a:sym typeface="Bahnschrift"/>
                </a:rPr>
                <a:t> (bifásica)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α: glucagón ↓ (salvo comida proteica)</a:t>
              </a:r>
              <a:endParaRPr lang="es-AR" sz="1550" dirty="0">
                <a:latin typeface="Bahnschrift"/>
              </a:endParaRPr>
            </a:p>
          </p:txBody>
        </p:sp>
      </p:grpSp>
      <p:grpSp>
        <p:nvGrpSpPr>
          <p:cNvPr id="23" name="Tile HÍGADO"/>
          <p:cNvGrpSpPr/>
          <p:nvPr/>
        </p:nvGrpSpPr>
        <p:grpSpPr>
          <a:xfrm>
            <a:off x="6163056" y="1005840"/>
            <a:ext cx="2788920" cy="2651760"/>
            <a:chOff x="6163056" y="1005840"/>
            <a:chExt cx="2788920" cy="2651760"/>
          </a:xfrm>
        </p:grpSpPr>
        <p:sp>
          <p:nvSpPr>
            <p:cNvPr id="24" name="Forma 23"/>
            <p:cNvSpPr/>
            <p:nvPr/>
          </p:nvSpPr>
          <p:spPr>
            <a:xfrm>
              <a:off x="6163056" y="1005840"/>
              <a:ext cx="278892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25" name="Ícono hígado"/>
            <p:cNvGrpSpPr/>
            <p:nvPr/>
          </p:nvGrpSpPr>
          <p:grpSpPr>
            <a:xfrm>
              <a:off x="6254496" y="1209294"/>
              <a:ext cx="868680" cy="613983"/>
              <a:chOff x="6254496" y="1209294"/>
              <a:chExt cx="868680" cy="613983"/>
            </a:xfrm>
          </p:grpSpPr>
          <p:sp>
            <p:nvSpPr>
              <p:cNvPr id="26" name="Vesícula biliar"/>
              <p:cNvSpPr/>
              <p:nvPr/>
            </p:nvSpPr>
            <p:spPr>
              <a:xfrm>
                <a:off x="6489040" y="1629388"/>
                <a:ext cx="112928" cy="193889"/>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7" name="Forma 26"/>
              <p:cNvSpPr/>
              <p:nvPr/>
            </p:nvSpPr>
            <p:spPr>
              <a:xfrm>
                <a:off x="6254496" y="1209294"/>
                <a:ext cx="868680" cy="53858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8" name="Forma 27"/>
              <p:cNvSpPr/>
              <p:nvPr/>
            </p:nvSpPr>
            <p:spPr>
              <a:xfrm>
                <a:off x="6254496" y="1209294"/>
                <a:ext cx="868680" cy="53858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9" name="Forma 28"/>
              <p:cNvSpPr/>
              <p:nvPr/>
            </p:nvSpPr>
            <p:spPr>
              <a:xfrm>
                <a:off x="6254496" y="1209294"/>
                <a:ext cx="868680" cy="53858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30" name="Forma 29"/>
            <p:cNvSpPr txBox="1"/>
            <p:nvPr/>
          </p:nvSpPr>
          <p:spPr>
            <a:xfrm>
              <a:off x="7260336"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HÍGADO</a:t>
              </a:r>
              <a:endParaRPr lang="es-AR" sz="1550" dirty="0">
                <a:latin typeface="Bahnschrift SemiBold Condensed"/>
              </a:endParaRPr>
            </a:p>
          </p:txBody>
        </p:sp>
        <p:sp>
          <p:nvSpPr>
            <p:cNvPr id="31" name="Forma 30"/>
            <p:cNvSpPr txBox="1"/>
            <p:nvPr/>
          </p:nvSpPr>
          <p:spPr>
            <a:xfrm>
              <a:off x="6300216" y="2103120"/>
              <a:ext cx="2514600" cy="1463040"/>
            </a:xfrm>
            <a:prstGeom prst="rect">
              <a:avLst/>
            </a:prstGeom>
            <a:noFill/>
            <a:ln>
              <a:noFill/>
            </a:ln>
          </p:spPr>
          <p:txBody>
            <a:bodyPr wrap="square" lIns="0" tIns="0" rIns="0" bIns="0" anchor="t" rtlCol="0">
              <a:noAutofit/>
            </a:bodyPr>
            <a:lstStyle/>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Capta glucosa (GLUT2/GK)</a:t>
              </a:r>
              <a:endParaRPr lang="es-AR" sz="1500" dirty="0">
                <a:latin typeface="Bahnschrift"/>
              </a:endParaRPr>
            </a:p>
            <a:p>
              <a:pPr algn="l" marL="142875" indent="-142875">
                <a:spcAft>
                  <a:spcPts val="200"/>
                </a:spcAft>
                <a:buClr>
                  <a:srgbClr val="1E1E1E"/>
                </a:buClr>
                <a:buFont typeface="Arial"/>
                <a:buChar char="•"/>
              </a:pPr>
              <a:r>
                <a:rPr lang="es-AR" sz="1500" b="1" dirty="0">
                  <a:solidFill>
                    <a:srgbClr val="1E1E1E"/>
                  </a:solidFill>
                  <a:latin typeface="Bahnschrift"/>
                  <a:ea typeface="Bahnschrift"/>
                  <a:cs typeface="Bahnschrift"/>
                  <a:sym typeface="Bahnschrift"/>
                </a:rPr>
                <a:t>Glucógeno</a:t>
              </a:r>
              <a:r>
                <a:rPr lang="es-AR" sz="1500" dirty="0">
                  <a:solidFill>
                    <a:srgbClr val="1E1E1E"/>
                  </a:solidFill>
                  <a:latin typeface="Bahnschrift"/>
                  <a:ea typeface="Bahnschrift"/>
                  <a:cs typeface="Bahnschrift"/>
                  <a:sym typeface="Bahnschrift"/>
                </a:rPr>
                <a:t>, glucólisis, PPP</a:t>
              </a:r>
              <a:endParaRPr lang="es-AR" sz="1500" dirty="0">
                <a:latin typeface="Bahnschrift"/>
              </a:endParaRPr>
            </a:p>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DNL → </a:t>
              </a:r>
              <a:r>
                <a:rPr lang="es-AR" sz="1500" b="1" dirty="0">
                  <a:solidFill>
                    <a:srgbClr val="1E1E1E"/>
                  </a:solidFill>
                  <a:latin typeface="Bahnschrift"/>
                  <a:ea typeface="Bahnschrift"/>
                  <a:cs typeface="Bahnschrift"/>
                  <a:sym typeface="Bahnschrift"/>
                </a:rPr>
                <a:t>VLDL</a:t>
              </a:r>
              <a:r>
                <a:rPr lang="es-AR" sz="1500" dirty="0">
                  <a:solidFill>
                    <a:srgbClr val="1E1E1E"/>
                  </a:solidFill>
                  <a:latin typeface="Bahnschrift"/>
                  <a:ea typeface="Bahnschrift"/>
                  <a:cs typeface="Bahnschrift"/>
                  <a:sym typeface="Bahnschrift"/>
                </a:rPr>
                <a:t> si sobra energía</a:t>
              </a:r>
              <a:endParaRPr lang="es-AR" sz="1500" dirty="0">
                <a:latin typeface="Bahnschrift"/>
              </a:endParaRPr>
            </a:p>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 producción de glucosa</a:t>
              </a:r>
              <a:endParaRPr lang="es-AR" sz="1500" dirty="0">
                <a:latin typeface="Bahnschrift"/>
              </a:endParaRPr>
            </a:p>
          </p:txBody>
        </p:sp>
      </p:grpSp>
      <p:grpSp>
        <p:nvGrpSpPr>
          <p:cNvPr id="32" name="Tile MÚSCULO"/>
          <p:cNvGrpSpPr/>
          <p:nvPr/>
        </p:nvGrpSpPr>
        <p:grpSpPr>
          <a:xfrm>
            <a:off x="9061704" y="1005840"/>
            <a:ext cx="2788920" cy="2651760"/>
            <a:chOff x="9061704" y="1005840"/>
            <a:chExt cx="2788920" cy="2651760"/>
          </a:xfrm>
        </p:grpSpPr>
        <p:sp>
          <p:nvSpPr>
            <p:cNvPr id="33" name="Forma 32"/>
            <p:cNvSpPr/>
            <p:nvPr/>
          </p:nvSpPr>
          <p:spPr>
            <a:xfrm>
              <a:off x="9061704" y="1005840"/>
              <a:ext cx="278892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34" name="Ícono músculo"/>
            <p:cNvGrpSpPr/>
            <p:nvPr/>
          </p:nvGrpSpPr>
          <p:grpSpPr>
            <a:xfrm>
              <a:off x="9153144" y="1252728"/>
              <a:ext cx="868680" cy="284927"/>
              <a:chOff x="9153144" y="1252728"/>
              <a:chExt cx="868680" cy="284927"/>
            </a:xfrm>
          </p:grpSpPr>
          <p:grpSp>
            <p:nvGrpSpPr>
              <p:cNvPr id="35" name="Fibra"/>
              <p:cNvGrpSpPr/>
              <p:nvPr/>
            </p:nvGrpSpPr>
            <p:grpSpPr>
              <a:xfrm>
                <a:off x="9153144" y="1252728"/>
                <a:ext cx="833933" cy="138989"/>
                <a:chOff x="9153144" y="1252728"/>
                <a:chExt cx="833933" cy="138989"/>
              </a:xfrm>
            </p:grpSpPr>
            <p:sp>
              <p:nvSpPr>
                <p:cNvPr id="36" name="Forma 35"/>
                <p:cNvSpPr/>
                <p:nvPr/>
              </p:nvSpPr>
              <p:spPr>
                <a:xfrm>
                  <a:off x="9153144" y="1252728"/>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7" name="Forma 36"/>
                <p:cNvSpPr/>
                <p:nvPr/>
              </p:nvSpPr>
              <p:spPr>
                <a:xfrm>
                  <a:off x="9187891" y="1252728"/>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38" name="Forma 37"/>
                <p:cNvSpPr/>
                <p:nvPr/>
              </p:nvSpPr>
              <p:spPr>
                <a:xfrm>
                  <a:off x="9319931"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9" name="Forma 38"/>
                <p:cNvSpPr/>
                <p:nvPr/>
              </p:nvSpPr>
              <p:spPr>
                <a:xfrm>
                  <a:off x="9611807"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0" name="Forma 39"/>
                <p:cNvSpPr/>
                <p:nvPr/>
              </p:nvSpPr>
              <p:spPr>
                <a:xfrm>
                  <a:off x="9861987"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1" name="Forma 40"/>
                <p:cNvSpPr/>
                <p:nvPr/>
              </p:nvSpPr>
              <p:spPr>
                <a:xfrm>
                  <a:off x="9928702" y="1258288"/>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42" name="Fibra_2"/>
              <p:cNvGrpSpPr/>
              <p:nvPr/>
            </p:nvGrpSpPr>
            <p:grpSpPr>
              <a:xfrm>
                <a:off x="9187891" y="1398666"/>
                <a:ext cx="833933" cy="138989"/>
                <a:chOff x="9187891" y="1398666"/>
                <a:chExt cx="833933" cy="138989"/>
              </a:xfrm>
            </p:grpSpPr>
            <p:sp>
              <p:nvSpPr>
                <p:cNvPr id="43" name="Forma 42"/>
                <p:cNvSpPr/>
                <p:nvPr/>
              </p:nvSpPr>
              <p:spPr>
                <a:xfrm>
                  <a:off x="9187891" y="1398666"/>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44" name="Forma 43"/>
                <p:cNvSpPr/>
                <p:nvPr/>
              </p:nvSpPr>
              <p:spPr>
                <a:xfrm>
                  <a:off x="9222638" y="1398666"/>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45" name="Forma 44"/>
                <p:cNvSpPr/>
                <p:nvPr/>
              </p:nvSpPr>
              <p:spPr>
                <a:xfrm>
                  <a:off x="9354678"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6" name="Forma 45"/>
                <p:cNvSpPr/>
                <p:nvPr/>
              </p:nvSpPr>
              <p:spPr>
                <a:xfrm>
                  <a:off x="9646554"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7" name="Forma 46"/>
                <p:cNvSpPr/>
                <p:nvPr/>
              </p:nvSpPr>
              <p:spPr>
                <a:xfrm>
                  <a:off x="9896734"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8" name="Forma 47"/>
                <p:cNvSpPr/>
                <p:nvPr/>
              </p:nvSpPr>
              <p:spPr>
                <a:xfrm>
                  <a:off x="9963449" y="1404226"/>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49" name="Forma 48"/>
            <p:cNvSpPr txBox="1"/>
            <p:nvPr/>
          </p:nvSpPr>
          <p:spPr>
            <a:xfrm>
              <a:off x="10158984"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MÚSCULO</a:t>
              </a:r>
              <a:endParaRPr lang="es-AR" sz="1550" dirty="0">
                <a:latin typeface="Bahnschrift SemiBold Condensed"/>
              </a:endParaRPr>
            </a:p>
          </p:txBody>
        </p:sp>
        <p:sp>
          <p:nvSpPr>
            <p:cNvPr id="50" name="Forma 49"/>
            <p:cNvSpPr txBox="1"/>
            <p:nvPr/>
          </p:nvSpPr>
          <p:spPr>
            <a:xfrm>
              <a:off x="9198864"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GLUT4</a:t>
              </a:r>
              <a:r>
                <a:rPr lang="es-AR" sz="1550" dirty="0">
                  <a:solidFill>
                    <a:srgbClr val="1E1E1E"/>
                  </a:solidFill>
                  <a:latin typeface="Bahnschrift"/>
                  <a:ea typeface="Bahnschrift"/>
                  <a:cs typeface="Bahnschrift"/>
                  <a:sym typeface="Bahnschrift"/>
                </a:rPr>
                <a:t> (insulina)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Glucógeno y oxidación</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Síntesis proteica (mTORC1)</a:t>
              </a:r>
              <a:endParaRPr lang="es-AR" sz="1550" dirty="0">
                <a:latin typeface="Bahnschrift"/>
              </a:endParaRPr>
            </a:p>
          </p:txBody>
        </p:sp>
      </p:grpSp>
      <p:grpSp>
        <p:nvGrpSpPr>
          <p:cNvPr id="51" name="Tile TEJIDO ADIPOSO"/>
          <p:cNvGrpSpPr/>
          <p:nvPr/>
        </p:nvGrpSpPr>
        <p:grpSpPr>
          <a:xfrm>
            <a:off x="365760" y="3767328"/>
            <a:ext cx="2788920" cy="2651760"/>
            <a:chOff x="365760" y="3767328"/>
            <a:chExt cx="2788920" cy="2651760"/>
          </a:xfrm>
        </p:grpSpPr>
        <p:sp>
          <p:nvSpPr>
            <p:cNvPr id="52" name="Forma 51"/>
            <p:cNvSpPr/>
            <p:nvPr/>
          </p:nvSpPr>
          <p:spPr>
            <a:xfrm>
              <a:off x="365760" y="3767328"/>
              <a:ext cx="2788920" cy="2651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grpSp>
          <p:nvGrpSpPr>
            <p:cNvPr id="53" name="Ícono adiposo"/>
            <p:cNvGrpSpPr/>
            <p:nvPr/>
          </p:nvGrpSpPr>
          <p:grpSpPr>
            <a:xfrm>
              <a:off x="544068" y="3883914"/>
              <a:ext cx="694944" cy="694944"/>
              <a:chOff x="544068" y="3883914"/>
              <a:chExt cx="694944" cy="694944"/>
            </a:xfrm>
          </p:grpSpPr>
          <p:sp>
            <p:nvSpPr>
              <p:cNvPr id="54" name="Forma 53"/>
              <p:cNvSpPr/>
              <p:nvPr/>
            </p:nvSpPr>
            <p:spPr>
              <a:xfrm>
                <a:off x="544068" y="3883914"/>
                <a:ext cx="694944" cy="694944"/>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5" name="Gota lipídica"/>
              <p:cNvSpPr/>
              <p:nvPr/>
            </p:nvSpPr>
            <p:spPr>
              <a:xfrm>
                <a:off x="578815" y="3918661"/>
                <a:ext cx="625450" cy="625450"/>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6" name="Forma 55"/>
              <p:cNvSpPr/>
              <p:nvPr/>
            </p:nvSpPr>
            <p:spPr>
              <a:xfrm rot="2400000">
                <a:off x="1044428" y="3925611"/>
                <a:ext cx="152888" cy="8339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7" name="Mitocondria"/>
              <p:cNvGrpSpPr/>
              <p:nvPr/>
            </p:nvGrpSpPr>
            <p:grpSpPr>
              <a:xfrm>
                <a:off x="599664" y="4398173"/>
                <a:ext cx="69494" cy="34747"/>
                <a:chOff x="599664" y="4398173"/>
                <a:chExt cx="69494" cy="34747"/>
              </a:xfrm>
            </p:grpSpPr>
            <p:sp>
              <p:nvSpPr>
                <p:cNvPr id="58" name="Forma 57"/>
                <p:cNvSpPr/>
                <p:nvPr/>
              </p:nvSpPr>
              <p:spPr>
                <a:xfrm rot="-2400000">
                  <a:off x="599664" y="4398173"/>
                  <a:ext cx="69494" cy="34747"/>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9" name="Forma 58"/>
                <p:cNvSpPr/>
                <p:nvPr/>
              </p:nvSpPr>
              <p:spPr>
                <a:xfrm rot="-2400000">
                  <a:off x="604528" y="4403037"/>
                  <a:ext cx="59765" cy="25018"/>
                </a:xfrm>
                <a:prstGeom prst="ellipse">
                  <a:avLst/>
                </a:prstGeom>
                <a:solidFill>
                  <a:srgbClr val="F8D8B4"/>
                </a:solidFill>
                <a:ln w="9525" cap="rnd">
                  <a:solidFill>
                    <a:srgbClr val="B2732B"/>
                  </a:solidFill>
                  <a:round/>
                </a:ln>
              </p:spPr>
            </p:sp>
            <p:sp>
              <p:nvSpPr>
                <p:cNvPr id="60" name="Forma 59"/>
                <p:cNvSpPr/>
                <p:nvPr/>
              </p:nvSpPr>
              <p:spPr>
                <a:xfrm rot="-2400000">
                  <a:off x="604528" y="4403037"/>
                  <a:ext cx="59765" cy="2501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61" name="Forma 60"/>
            <p:cNvSpPr txBox="1"/>
            <p:nvPr/>
          </p:nvSpPr>
          <p:spPr>
            <a:xfrm>
              <a:off x="1463040"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550" dirty="0">
                <a:latin typeface="Bahnschrift SemiBold Condensed"/>
              </a:endParaRPr>
            </a:p>
          </p:txBody>
        </p:sp>
        <p:sp>
          <p:nvSpPr>
            <p:cNvPr id="62" name="Forma 61"/>
            <p:cNvSpPr txBox="1"/>
            <p:nvPr/>
          </p:nvSpPr>
          <p:spPr>
            <a:xfrm>
              <a:off x="502920"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GLUT4 → glicerol-3-P</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LPL capta AG de QM/VLDL</a:t>
              </a:r>
              <a:endParaRPr lang="es-AR" sz="1550" dirty="0">
                <a:latin typeface="Bahnschrift"/>
              </a:endParaRPr>
            </a:p>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 lipólisis</a:t>
              </a:r>
              <a:r>
                <a:rPr lang="es-AR" sz="1550" dirty="0">
                  <a:solidFill>
                    <a:srgbClr val="1E1E1E"/>
                  </a:solidFill>
                  <a:latin typeface="Bahnschrift"/>
                  <a:ea typeface="Bahnschrift"/>
                  <a:cs typeface="Bahnschrift"/>
                  <a:sym typeface="Bahnschrift"/>
                </a:rPr>
                <a:t> (PDE3B)</a:t>
              </a:r>
              <a:endParaRPr lang="es-AR" sz="1550" dirty="0">
                <a:latin typeface="Bahnschrift"/>
              </a:endParaRPr>
            </a:p>
          </p:txBody>
        </p:sp>
      </p:grpSp>
      <p:grpSp>
        <p:nvGrpSpPr>
          <p:cNvPr id="63" name="Tile CEREBRO"/>
          <p:cNvGrpSpPr/>
          <p:nvPr/>
        </p:nvGrpSpPr>
        <p:grpSpPr>
          <a:xfrm>
            <a:off x="3264408" y="3767328"/>
            <a:ext cx="2788920" cy="2651760"/>
            <a:chOff x="3264408" y="3767328"/>
            <a:chExt cx="2788920" cy="2651760"/>
          </a:xfrm>
        </p:grpSpPr>
        <p:sp>
          <p:nvSpPr>
            <p:cNvPr id="64" name="Forma 63"/>
            <p:cNvSpPr/>
            <p:nvPr/>
          </p:nvSpPr>
          <p:spPr>
            <a:xfrm>
              <a:off x="3264408" y="3767328"/>
              <a:ext cx="2788920" cy="26517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sp>
        <p:grpSp>
          <p:nvGrpSpPr>
            <p:cNvPr id="65" name="Ícono cerebro"/>
            <p:cNvGrpSpPr/>
            <p:nvPr/>
          </p:nvGrpSpPr>
          <p:grpSpPr>
            <a:xfrm>
              <a:off x="3355848" y="3927348"/>
              <a:ext cx="868680" cy="677570"/>
              <a:chOff x="3355848" y="3927348"/>
              <a:chExt cx="868680" cy="677570"/>
            </a:xfrm>
          </p:grpSpPr>
          <p:sp>
            <p:nvSpPr>
              <p:cNvPr id="66" name="Cerebelo"/>
              <p:cNvSpPr/>
              <p:nvPr/>
            </p:nvSpPr>
            <p:spPr>
              <a:xfrm>
                <a:off x="3355848" y="3927348"/>
                <a:ext cx="868680" cy="677570"/>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7" name="Forma 66"/>
              <p:cNvSpPr/>
              <p:nvPr/>
            </p:nvSpPr>
            <p:spPr>
              <a:xfrm>
                <a:off x="3355848" y="3927348"/>
                <a:ext cx="868680" cy="677570"/>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68" name="Forma 67"/>
              <p:cNvSpPr/>
              <p:nvPr/>
            </p:nvSpPr>
            <p:spPr>
              <a:xfrm>
                <a:off x="3355848" y="3927348"/>
                <a:ext cx="868680" cy="677570"/>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69" name="Forma 68"/>
              <p:cNvSpPr/>
              <p:nvPr/>
            </p:nvSpPr>
            <p:spPr>
              <a:xfrm>
                <a:off x="3355848" y="3927348"/>
                <a:ext cx="868680" cy="677570"/>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70" name="Forma 69"/>
            <p:cNvSpPr txBox="1"/>
            <p:nvPr/>
          </p:nvSpPr>
          <p:spPr>
            <a:xfrm>
              <a:off x="4361688"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CEREBRO</a:t>
              </a:r>
              <a:endParaRPr lang="es-AR" sz="1550" dirty="0">
                <a:latin typeface="Bahnschrift SemiBold Condensed"/>
              </a:endParaRPr>
            </a:p>
          </p:txBody>
        </p:sp>
        <p:sp>
          <p:nvSpPr>
            <p:cNvPr id="71" name="Forma 70"/>
            <p:cNvSpPr txBox="1"/>
            <p:nvPr/>
          </p:nvSpPr>
          <p:spPr>
            <a:xfrm>
              <a:off x="3401568"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Glucosa (GLUT1/GLUT3)</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Captación independiente de insulina</a:t>
              </a:r>
              <a:endParaRPr lang="es-AR" sz="1550" dirty="0">
                <a:latin typeface="Bahnschrift"/>
              </a:endParaRPr>
            </a:p>
          </p:txBody>
        </p:sp>
      </p:grpSp>
      <p:grpSp>
        <p:nvGrpSpPr>
          <p:cNvPr id="72" name="Tile ERITROCITO"/>
          <p:cNvGrpSpPr/>
          <p:nvPr/>
        </p:nvGrpSpPr>
        <p:grpSpPr>
          <a:xfrm>
            <a:off x="6163056" y="3767328"/>
            <a:ext cx="2788920" cy="2651760"/>
            <a:chOff x="6163056" y="3767328"/>
            <a:chExt cx="2788920" cy="2651760"/>
          </a:xfrm>
        </p:grpSpPr>
        <p:sp>
          <p:nvSpPr>
            <p:cNvPr id="73" name="Forma 72"/>
            <p:cNvSpPr/>
            <p:nvPr/>
          </p:nvSpPr>
          <p:spPr>
            <a:xfrm>
              <a:off x="6163056" y="3767328"/>
              <a:ext cx="2788920" cy="265176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sp>
        <p:sp>
          <p:nvSpPr>
            <p:cNvPr id="74" name="Ícono eritrocito"/>
            <p:cNvSpPr/>
            <p:nvPr/>
          </p:nvSpPr>
          <p:spPr>
            <a:xfrm>
              <a:off x="6341364" y="3927348"/>
              <a:ext cx="694944" cy="69494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75" name="Forma 74"/>
            <p:cNvSpPr txBox="1"/>
            <p:nvPr/>
          </p:nvSpPr>
          <p:spPr>
            <a:xfrm>
              <a:off x="7260336"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ERITROCITO</a:t>
              </a:r>
              <a:endParaRPr lang="es-AR" sz="1550" dirty="0">
                <a:latin typeface="Bahnschrift SemiBold Condensed"/>
              </a:endParaRPr>
            </a:p>
          </p:txBody>
        </p:sp>
        <p:sp>
          <p:nvSpPr>
            <p:cNvPr id="76" name="Forma 75"/>
            <p:cNvSpPr txBox="1"/>
            <p:nvPr/>
          </p:nvSpPr>
          <p:spPr>
            <a:xfrm>
              <a:off x="6300216"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GLUT1 → glucólisis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Exporta </a:t>
              </a:r>
              <a:r>
                <a:rPr lang="es-AR" sz="1550" b="1" dirty="0">
                  <a:solidFill>
                    <a:srgbClr val="1E1E1E"/>
                  </a:solidFill>
                  <a:latin typeface="Bahnschrift"/>
                  <a:ea typeface="Bahnschrift"/>
                  <a:cs typeface="Bahnschrift"/>
                  <a:sym typeface="Bahnschrift"/>
                </a:rPr>
                <a:t>lactato</a:t>
              </a:r>
              <a:endParaRPr lang="es-AR" sz="1550" dirty="0">
                <a:latin typeface="Bahnschrift"/>
              </a:endParaRPr>
            </a:p>
          </p:txBody>
        </p:sp>
      </p:grpSp>
      <p:grpSp>
        <p:nvGrpSpPr>
          <p:cNvPr id="77" name="Tile RIÑÓN"/>
          <p:cNvGrpSpPr/>
          <p:nvPr/>
        </p:nvGrpSpPr>
        <p:grpSpPr>
          <a:xfrm>
            <a:off x="9061704" y="3767328"/>
            <a:ext cx="2788920" cy="2651760"/>
            <a:chOff x="9061704" y="3767328"/>
            <a:chExt cx="2788920" cy="2651760"/>
          </a:xfrm>
        </p:grpSpPr>
        <p:sp>
          <p:nvSpPr>
            <p:cNvPr id="78" name="Forma 77"/>
            <p:cNvSpPr/>
            <p:nvPr/>
          </p:nvSpPr>
          <p:spPr>
            <a:xfrm>
              <a:off x="9061704" y="3767328"/>
              <a:ext cx="278892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79" name="Ícono riñón"/>
            <p:cNvGrpSpPr/>
            <p:nvPr/>
          </p:nvGrpSpPr>
          <p:grpSpPr>
            <a:xfrm>
              <a:off x="9326880" y="3840480"/>
              <a:ext cx="521208" cy="729691"/>
              <a:chOff x="9326880" y="3840480"/>
              <a:chExt cx="521208" cy="729691"/>
            </a:xfrm>
          </p:grpSpPr>
          <p:sp>
            <p:nvSpPr>
              <p:cNvPr id="80" name="Forma 79"/>
              <p:cNvSpPr/>
              <p:nvPr/>
            </p:nvSpPr>
            <p:spPr>
              <a:xfrm>
                <a:off x="9326880" y="3840480"/>
                <a:ext cx="521208" cy="729691"/>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81" name="Forma 80"/>
              <p:cNvSpPr/>
              <p:nvPr/>
            </p:nvSpPr>
            <p:spPr>
              <a:xfrm>
                <a:off x="9326880" y="3840480"/>
                <a:ext cx="521208" cy="729691"/>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82" name="Forma 81"/>
              <p:cNvSpPr/>
              <p:nvPr/>
            </p:nvSpPr>
            <p:spPr>
              <a:xfrm>
                <a:off x="9326880" y="3840480"/>
                <a:ext cx="521208" cy="729691"/>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3" name="Forma 82"/>
              <p:cNvSpPr/>
              <p:nvPr/>
            </p:nvSpPr>
            <p:spPr>
              <a:xfrm>
                <a:off x="9326880" y="3840480"/>
                <a:ext cx="521208" cy="729691"/>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84" name="Forma 83"/>
            <p:cNvSpPr txBox="1"/>
            <p:nvPr/>
          </p:nvSpPr>
          <p:spPr>
            <a:xfrm>
              <a:off x="10158984"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RIÑÓN</a:t>
              </a:r>
              <a:endParaRPr lang="es-AR" sz="1550" dirty="0">
                <a:latin typeface="Bahnschrift SemiBold Condensed"/>
              </a:endParaRPr>
            </a:p>
          </p:txBody>
        </p:sp>
        <p:sp>
          <p:nvSpPr>
            <p:cNvPr id="85" name="Forma 84"/>
            <p:cNvSpPr txBox="1"/>
            <p:nvPr/>
          </p:nvSpPr>
          <p:spPr>
            <a:xfrm>
              <a:off x="9198864"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Excreta urea (dieta proteica)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Reabsorbe glucosa filtrada</a:t>
              </a:r>
              <a:endParaRPr lang="es-AR" sz="1550" dirty="0">
                <a:latin typeface="Bahnschrift"/>
              </a:endParaRPr>
            </a:p>
          </p:txBody>
        </p:sp>
      </p:grpSp>
      <p:sp>
        <p:nvSpPr>
          <p:cNvPr id="2" name="Etiqueta sección"/>
          <p:cNvSpPr/>
          <p:nvPr/>
        </p:nvSpPr>
        <p:spPr>
          <a:xfrm>
            <a:off x="10740734" y="201168"/>
            <a:ext cx="117664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ALIMENTADO</a:t>
            </a:r>
            <a:endParaRPr lang="es-AR" sz="1300" dirty="0">
              <a:latin typeface="Bahnschrift SemiBold Condensed"/>
            </a:endParaRPr>
          </a:p>
        </p:txBody>
      </p:sp>
      <p:sp>
        <p:nvSpPr>
          <p:cNvPr id="3" name="Título"/>
          <p:cNvSpPr/>
          <p:nvPr/>
        </p:nvSpPr>
        <p:spPr>
          <a:xfrm>
            <a:off x="274320" y="146304"/>
            <a:ext cx="786326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COMPARACIÓN ÓRGANO POR ÓRGANO: ESTADO ALIMENTADO</a:t>
            </a:r>
            <a:endParaRPr lang="es-AR" sz="2600" dirty="0">
              <a:latin typeface="Bahnschrift SemiBold Condensed"/>
            </a:endParaRPr>
          </a:p>
        </p:txBody>
      </p:sp>
      <p:sp>
        <p:nvSpPr>
          <p:cNvPr id="8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fade">
                                      <p:cBhvr>
                                        <p:cTn id="20" dur="500"/>
                                        <p:tgtEl>
                                          <p:spTgt spid="3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500"/>
                                        <p:tgtEl>
                                          <p:spTgt spid="51"/>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3"/>
                                        </p:tgtEl>
                                        <p:attrNameLst>
                                          <p:attrName>style.visibility</p:attrName>
                                        </p:attrNameLst>
                                      </p:cBhvr>
                                      <p:to>
                                        <p:strVal val="visible"/>
                                      </p:to>
                                    </p:set>
                                    <p:animEffect transition="in" filter="fade">
                                      <p:cBhvr>
                                        <p:cTn id="30" dur="500"/>
                                        <p:tgtEl>
                                          <p:spTgt spid="63"/>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fade">
                                      <p:cBhvr>
                                        <p:cTn id="35" dur="500"/>
                                        <p:tgtEl>
                                          <p:spTgt spid="72"/>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7"/>
                                        </p:tgtEl>
                                        <p:attrNameLst>
                                          <p:attrName>style.visibility</p:attrName>
                                        </p:attrNameLst>
                                      </p:cBhvr>
                                      <p:to>
                                        <p:strVal val="visible"/>
                                      </p:to>
                                    </p:set>
                                    <p:animEffect transition="in" filter="fade">
                                      <p:cBhvr>
                                        <p:cTn id="40"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2" name="Etiqueta unidad"/>
          <p:cNvSpPr/>
          <p:nvPr/>
        </p:nvSpPr>
        <p:spPr>
          <a:xfrm>
            <a:off x="548640" y="502920"/>
            <a:ext cx="1240145"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II</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AYUNO Y CICLOS</a:t>
            </a:r>
            <a:endParaRPr lang="es-AR" sz="4600" dirty="0">
              <a:latin typeface="Bahnschrift"/>
            </a:endParaRPr>
          </a:p>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INTERORGÁNICOS</a:t>
            </a:r>
            <a:endParaRPr lang="es-AR" sz="460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Cuando falta el aporte intestinal</a:t>
            </a:r>
            <a:endParaRPr lang="es-AR" sz="1800" dirty="0">
              <a:latin typeface="Bahnschrift SemiBold Condensed"/>
            </a:endParaRPr>
          </a:p>
        </p:txBody>
      </p:sp>
      <p:sp>
        <p:nvSpPr>
          <p:cNvPr id="5" name="Temario"/>
          <p:cNvSpPr/>
          <p:nvPr/>
        </p:nvSpPr>
        <p:spPr>
          <a:xfrm>
            <a:off x="502920" y="3703320"/>
            <a:ext cx="6583680" cy="2514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600" dirty="0">
                <a:solidFill>
                  <a:srgbClr val="1E1E1E"/>
                </a:solidFill>
                <a:latin typeface="Bahnschrift"/>
                <a:ea typeface="Bahnschrift"/>
                <a:cs typeface="Bahnschrift"/>
                <a:sym typeface="Bahnschrift"/>
              </a:rPr>
              <a:t>7 · Glucogenólisis hepática</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8 · Relaciones hígado–músculo–tejido adiposo</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9 · Ciclo de Cori y ciclo glucosa–alanina</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10 · Acoplamiento metabólico astrocito–neurona</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11 · Hígado en saciedad y ayuno corto, intermedio y prolongado</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12 · Reservas energéticas a 8–12 h, 24–48 h y &gt;3 días</a:t>
            </a:r>
            <a:endParaRPr lang="es-AR" sz="1600" dirty="0">
              <a:latin typeface="Bahnschrift"/>
            </a:endParaRPr>
          </a:p>
        </p:txBody>
      </p:sp>
      <p:grpSp>
        <p:nvGrpSpPr>
          <p:cNvPr id="6" name="Arte hígado"/>
          <p:cNvGrpSpPr/>
          <p:nvPr/>
        </p:nvGrpSpPr>
        <p:grpSpPr>
          <a:xfrm>
            <a:off x="7589520" y="914400"/>
            <a:ext cx="4114800" cy="2908341"/>
            <a:chOff x="7589520" y="914400"/>
            <a:chExt cx="4114800" cy="2908341"/>
          </a:xfrm>
        </p:grpSpPr>
        <p:sp>
          <p:nvSpPr>
            <p:cNvPr id="7" name="Vesícula biliar"/>
            <p:cNvSpPr/>
            <p:nvPr/>
          </p:nvSpPr>
          <p:spPr>
            <a:xfrm>
              <a:off x="8700516" y="2904317"/>
              <a:ext cx="534924" cy="91842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8" name="Forma 7"/>
            <p:cNvSpPr/>
            <p:nvPr/>
          </p:nvSpPr>
          <p:spPr>
            <a:xfrm>
              <a:off x="7589520" y="914400"/>
              <a:ext cx="4114800" cy="2551176"/>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9" name="Forma 8"/>
            <p:cNvSpPr/>
            <p:nvPr/>
          </p:nvSpPr>
          <p:spPr>
            <a:xfrm>
              <a:off x="7589520" y="914400"/>
              <a:ext cx="4114800" cy="2551176"/>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0" name="Forma 9"/>
            <p:cNvSpPr/>
            <p:nvPr/>
          </p:nvSpPr>
          <p:spPr>
            <a:xfrm>
              <a:off x="7589520" y="914400"/>
              <a:ext cx="4114800" cy="2551176"/>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1" name="Arte reloj"/>
          <p:cNvGrpSpPr/>
          <p:nvPr/>
        </p:nvGrpSpPr>
        <p:grpSpPr>
          <a:xfrm>
            <a:off x="10607040" y="3291840"/>
            <a:ext cx="1097280" cy="1097280"/>
            <a:chOff x="10607040" y="3291840"/>
            <a:chExt cx="1097280" cy="1097280"/>
          </a:xfrm>
        </p:grpSpPr>
        <p:sp>
          <p:nvSpPr>
            <p:cNvPr id="12" name="Forma 11"/>
            <p:cNvSpPr/>
            <p:nvPr/>
          </p:nvSpPr>
          <p:spPr>
            <a:xfrm>
              <a:off x="10607040" y="3291840"/>
              <a:ext cx="1097280" cy="109728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13" name="Flecha 12_2"/>
            <p:cNvSpPr/>
            <p:nvPr/>
          </p:nvSpPr>
          <p:spPr>
            <a:xfrm>
              <a:off x="10848442" y="3840480"/>
              <a:ext cx="307238" cy="9144"/>
            </a:xfrm>
            <a:custGeom>
              <a:avLst/>
              <a:gdLst/>
              <a:ahLst/>
              <a:cxnLst/>
              <a:rect l="0" t="0" r="r" b="b"/>
              <a:pathLst>
                <a:path w="336" h="10" fill="none">
                  <a:moveTo>
                    <a:pt x="336" y="0"/>
                  </a:moveTo>
                  <a:lnTo>
                    <a:pt x="0" y="0"/>
                  </a:lnTo>
                </a:path>
              </a:pathLst>
            </a:custGeom>
            <a:noFill/>
            <a:ln w="31750" cap="rnd">
              <a:solidFill>
                <a:srgbClr val="1E1E1E"/>
              </a:solidFill>
              <a:round/>
            </a:ln>
          </p:spPr>
        </p:sp>
        <p:sp>
          <p:nvSpPr>
            <p:cNvPr id="14" name="Flecha 14_2"/>
            <p:cNvSpPr/>
            <p:nvPr/>
          </p:nvSpPr>
          <p:spPr>
            <a:xfrm>
              <a:off x="11155680" y="3423514"/>
              <a:ext cx="9144" cy="416966"/>
            </a:xfrm>
            <a:custGeom>
              <a:avLst/>
              <a:gdLst/>
              <a:ahLst/>
              <a:cxnLst/>
              <a:rect l="0" t="0" r="r" b="b"/>
              <a:pathLst>
                <a:path w="10" h="455" fill="none">
                  <a:moveTo>
                    <a:pt x="0" y="455"/>
                  </a:moveTo>
                  <a:lnTo>
                    <a:pt x="0" y="0"/>
                  </a:lnTo>
                </a:path>
              </a:pathLst>
            </a:custGeom>
            <a:noFill/>
            <a:ln w="22225" cap="rnd">
              <a:solidFill>
                <a:srgbClr val="1E1E1E"/>
              </a:solidFill>
              <a:round/>
            </a:ln>
          </p:spPr>
        </p:sp>
      </p:grpSp>
      <p:grpSp>
        <p:nvGrpSpPr>
          <p:cNvPr id="15" name="Arte músculo"/>
          <p:cNvGrpSpPr/>
          <p:nvPr/>
        </p:nvGrpSpPr>
        <p:grpSpPr>
          <a:xfrm>
            <a:off x="7498080" y="3931920"/>
            <a:ext cx="2926080" cy="959754"/>
            <a:chOff x="7498080" y="3931920"/>
            <a:chExt cx="2926080" cy="959754"/>
          </a:xfrm>
        </p:grpSpPr>
        <p:grpSp>
          <p:nvGrpSpPr>
            <p:cNvPr id="16" name="Fibra"/>
            <p:cNvGrpSpPr/>
            <p:nvPr/>
          </p:nvGrpSpPr>
          <p:grpSpPr>
            <a:xfrm>
              <a:off x="7498080" y="3931920"/>
              <a:ext cx="2809037" cy="468173"/>
              <a:chOff x="7498080" y="3931920"/>
              <a:chExt cx="2809037" cy="468173"/>
            </a:xfrm>
          </p:grpSpPr>
          <p:sp>
            <p:nvSpPr>
              <p:cNvPr id="17" name="Forma 18"/>
              <p:cNvSpPr/>
              <p:nvPr/>
            </p:nvSpPr>
            <p:spPr>
              <a:xfrm>
                <a:off x="7498080" y="3931920"/>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8" name="Forma 19"/>
              <p:cNvSpPr/>
              <p:nvPr/>
            </p:nvSpPr>
            <p:spPr>
              <a:xfrm>
                <a:off x="7615123" y="3931920"/>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19" name="Forma 20"/>
              <p:cNvSpPr/>
              <p:nvPr/>
            </p:nvSpPr>
            <p:spPr>
              <a:xfrm>
                <a:off x="8059887" y="395064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21"/>
              <p:cNvSpPr/>
              <p:nvPr/>
            </p:nvSpPr>
            <p:spPr>
              <a:xfrm>
                <a:off x="9043050" y="395064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2"/>
              <p:cNvSpPr/>
              <p:nvPr/>
            </p:nvSpPr>
            <p:spPr>
              <a:xfrm>
                <a:off x="9885761" y="395064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2" name="Forma 23"/>
              <p:cNvSpPr/>
              <p:nvPr/>
            </p:nvSpPr>
            <p:spPr>
              <a:xfrm>
                <a:off x="10110484" y="3950647"/>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3" name="Fibra_2"/>
            <p:cNvGrpSpPr/>
            <p:nvPr/>
          </p:nvGrpSpPr>
          <p:grpSpPr>
            <a:xfrm>
              <a:off x="7615123" y="4423501"/>
              <a:ext cx="2809037" cy="468173"/>
              <a:chOff x="7615123" y="4423501"/>
              <a:chExt cx="2809037" cy="468173"/>
            </a:xfrm>
          </p:grpSpPr>
          <p:sp>
            <p:nvSpPr>
              <p:cNvPr id="24" name="Forma 25"/>
              <p:cNvSpPr/>
              <p:nvPr/>
            </p:nvSpPr>
            <p:spPr>
              <a:xfrm>
                <a:off x="7615123" y="4423501"/>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5" name="Forma 26"/>
              <p:cNvSpPr/>
              <p:nvPr/>
            </p:nvSpPr>
            <p:spPr>
              <a:xfrm>
                <a:off x="7732166" y="4423501"/>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26" name="Forma 27"/>
              <p:cNvSpPr/>
              <p:nvPr/>
            </p:nvSpPr>
            <p:spPr>
              <a:xfrm>
                <a:off x="8176931" y="444222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8"/>
              <p:cNvSpPr/>
              <p:nvPr/>
            </p:nvSpPr>
            <p:spPr>
              <a:xfrm>
                <a:off x="9160093" y="444222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9"/>
              <p:cNvSpPr/>
              <p:nvPr/>
            </p:nvSpPr>
            <p:spPr>
              <a:xfrm>
                <a:off x="10002804" y="444222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30"/>
              <p:cNvSpPr/>
              <p:nvPr/>
            </p:nvSpPr>
            <p:spPr>
              <a:xfrm>
                <a:off x="10227527" y="4442228"/>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0" name="Arte eritrocito"/>
          <p:cNvSpPr/>
          <p:nvPr/>
        </p:nvSpPr>
        <p:spPr>
          <a:xfrm>
            <a:off x="10424160" y="4846320"/>
            <a:ext cx="822960" cy="82296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1" name="Arte eritrocito 2"/>
          <p:cNvSpPr/>
          <p:nvPr/>
        </p:nvSpPr>
        <p:spPr>
          <a:xfrm>
            <a:off x="11155680" y="5394960"/>
            <a:ext cx="640080" cy="64008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2" name="Molécula lac"/>
          <p:cNvSpPr/>
          <p:nvPr/>
        </p:nvSpPr>
        <p:spPr>
          <a:xfrm>
            <a:off x="8503920" y="3200400"/>
            <a:ext cx="502920" cy="502920"/>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Lac</a:t>
            </a:r>
            <a:endParaRPr lang="es-AR" sz="1300" dirty="0">
              <a:latin typeface="Bahnschrift SemiBold Condensed"/>
            </a:endParaRPr>
          </a:p>
        </p:txBody>
      </p:sp>
      <p:sp>
        <p:nvSpPr>
          <p:cNvPr id="33" name="Molécula ala"/>
          <p:cNvSpPr/>
          <p:nvPr/>
        </p:nvSpPr>
        <p:spPr>
          <a:xfrm>
            <a:off x="9144000" y="3108960"/>
            <a:ext cx="502920" cy="50292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Ala</a:t>
            </a:r>
            <a:endParaRPr lang="es-AR" sz="1300" dirty="0">
              <a:latin typeface="Bahnschrift SemiBold Condensed"/>
            </a:endParaRPr>
          </a:p>
        </p:txBody>
      </p:sp>
      <p:sp>
        <p:nvSpPr>
          <p:cNvPr id="34" name="Molécula glc"/>
          <p:cNvSpPr/>
          <p:nvPr/>
        </p:nvSpPr>
        <p:spPr>
          <a:xfrm>
            <a:off x="9784080" y="3291840"/>
            <a:ext cx="502920" cy="50292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7.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Cerebro"/>
          <p:cNvGrpSpPr/>
          <p:nvPr/>
        </p:nvGrpSpPr>
        <p:grpSpPr>
          <a:xfrm>
            <a:off x="5074920" y="896112"/>
            <a:ext cx="1920240" cy="1497787"/>
            <a:chOff x="5074920" y="896112"/>
            <a:chExt cx="1920240" cy="1497787"/>
          </a:xfrm>
        </p:grpSpPr>
        <p:sp>
          <p:nvSpPr>
            <p:cNvPr id="5" name="Cerebelo"/>
            <p:cNvSpPr/>
            <p:nvPr/>
          </p:nvSpPr>
          <p:spPr>
            <a:xfrm>
              <a:off x="5074920" y="896112"/>
              <a:ext cx="1920240" cy="149778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5074920" y="896112"/>
              <a:ext cx="1920240" cy="149778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5074920" y="896112"/>
              <a:ext cx="1920240" cy="149778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5074920" y="896112"/>
              <a:ext cx="1920240" cy="149778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Rótulo cerebro"/>
          <p:cNvSpPr/>
          <p:nvPr/>
        </p:nvSpPr>
        <p:spPr>
          <a:xfrm>
            <a:off x="7040880" y="1051560"/>
            <a:ext cx="81540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CEREBRO</a:t>
            </a:r>
            <a:endParaRPr lang="es-AR" sz="1300" dirty="0">
              <a:latin typeface="Bahnschrift SemiBold Condensed"/>
            </a:endParaRPr>
          </a:p>
        </p:txBody>
      </p:sp>
      <p:grpSp>
        <p:nvGrpSpPr>
          <p:cNvPr id="10" name="!!Hígado"/>
          <p:cNvGrpSpPr/>
          <p:nvPr/>
        </p:nvGrpSpPr>
        <p:grpSpPr>
          <a:xfrm>
            <a:off x="502920" y="1097280"/>
            <a:ext cx="2743200" cy="1938894"/>
            <a:chOff x="502920" y="1097280"/>
            <a:chExt cx="2743200" cy="1938894"/>
          </a:xfrm>
        </p:grpSpPr>
        <p:sp>
          <p:nvSpPr>
            <p:cNvPr id="11" name="Vesícula biliar"/>
            <p:cNvSpPr/>
            <p:nvPr/>
          </p:nvSpPr>
          <p:spPr>
            <a:xfrm>
              <a:off x="1243584" y="242389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502920" y="109728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502920" y="109728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502920" y="109728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Rótulo hígado"/>
          <p:cNvSpPr/>
          <p:nvPr/>
        </p:nvSpPr>
        <p:spPr>
          <a:xfrm>
            <a:off x="548640" y="91440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grpSp>
        <p:nvGrpSpPr>
          <p:cNvPr id="16" name="!!Páncreas"/>
          <p:cNvGrpSpPr/>
          <p:nvPr/>
        </p:nvGrpSpPr>
        <p:grpSpPr>
          <a:xfrm>
            <a:off x="3429000" y="2331720"/>
            <a:ext cx="1600200" cy="672084"/>
            <a:chOff x="3429000" y="2331720"/>
            <a:chExt cx="1600200" cy="672084"/>
          </a:xfrm>
        </p:grpSpPr>
        <p:sp>
          <p:nvSpPr>
            <p:cNvPr id="17" name="Forma 16"/>
            <p:cNvSpPr/>
            <p:nvPr/>
          </p:nvSpPr>
          <p:spPr>
            <a:xfrm>
              <a:off x="3429000" y="2331720"/>
              <a:ext cx="1600200" cy="67208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429000" y="2331720"/>
              <a:ext cx="1600200" cy="67208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429000" y="2331720"/>
              <a:ext cx="1600200" cy="67208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429000" y="2331720"/>
              <a:ext cx="1600200" cy="67208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Rótulo páncreas"/>
          <p:cNvSpPr/>
          <p:nvPr/>
        </p:nvSpPr>
        <p:spPr>
          <a:xfrm>
            <a:off x="3474720" y="2852928"/>
            <a:ext cx="91046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PÁNCREAS</a:t>
            </a:r>
            <a:endParaRPr lang="es-AR" sz="1300" dirty="0">
              <a:latin typeface="Bahnschrift SemiBold Condensed"/>
            </a:endParaRPr>
          </a:p>
        </p:txBody>
      </p:sp>
      <p:grpSp>
        <p:nvGrpSpPr>
          <p:cNvPr id="22" name="!!Tejido adiposo"/>
          <p:cNvGrpSpPr/>
          <p:nvPr/>
        </p:nvGrpSpPr>
        <p:grpSpPr>
          <a:xfrm>
            <a:off x="8915400" y="896112"/>
            <a:ext cx="2194560" cy="1629039"/>
            <a:chOff x="8915400" y="896112"/>
            <a:chExt cx="2194560" cy="1629039"/>
          </a:xfrm>
        </p:grpSpPr>
        <p:grpSp>
          <p:nvGrpSpPr>
            <p:cNvPr id="23" name="Adipocito"/>
            <p:cNvGrpSpPr/>
            <p:nvPr/>
          </p:nvGrpSpPr>
          <p:grpSpPr>
            <a:xfrm>
              <a:off x="8915400" y="1107127"/>
              <a:ext cx="827180" cy="827180"/>
              <a:chOff x="8915400" y="1107127"/>
              <a:chExt cx="827180" cy="827180"/>
            </a:xfrm>
          </p:grpSpPr>
          <p:sp>
            <p:nvSpPr>
              <p:cNvPr id="24" name="Forma 23"/>
              <p:cNvSpPr/>
              <p:nvPr/>
            </p:nvSpPr>
            <p:spPr>
              <a:xfrm>
                <a:off x="8915400" y="110712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5" name="Gota lipídica"/>
              <p:cNvSpPr/>
              <p:nvPr/>
            </p:nvSpPr>
            <p:spPr>
              <a:xfrm>
                <a:off x="8956759" y="114848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6" name="Forma 25"/>
              <p:cNvSpPr/>
              <p:nvPr/>
            </p:nvSpPr>
            <p:spPr>
              <a:xfrm rot="2400000">
                <a:off x="9510970" y="115675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7" name="Mitocondria"/>
              <p:cNvGrpSpPr/>
              <p:nvPr/>
            </p:nvGrpSpPr>
            <p:grpSpPr>
              <a:xfrm>
                <a:off x="8981574" y="1719241"/>
                <a:ext cx="82718" cy="41359"/>
                <a:chOff x="8981574" y="1719241"/>
                <a:chExt cx="82718" cy="41359"/>
              </a:xfrm>
            </p:grpSpPr>
            <p:sp>
              <p:nvSpPr>
                <p:cNvPr id="28" name="Forma 27"/>
                <p:cNvSpPr/>
                <p:nvPr/>
              </p:nvSpPr>
              <p:spPr>
                <a:xfrm rot="-2400000">
                  <a:off x="8981574" y="171924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9" name="Forma 28"/>
                <p:cNvSpPr/>
                <p:nvPr/>
              </p:nvSpPr>
              <p:spPr>
                <a:xfrm rot="-2400000">
                  <a:off x="8987365" y="1725031"/>
                  <a:ext cx="71138" cy="29778"/>
                </a:xfrm>
                <a:prstGeom prst="ellipse">
                  <a:avLst/>
                </a:prstGeom>
                <a:solidFill>
                  <a:srgbClr val="F8D8B4"/>
                </a:solidFill>
                <a:ln w="9525" cap="rnd">
                  <a:solidFill>
                    <a:srgbClr val="B2732B"/>
                  </a:solidFill>
                  <a:round/>
                </a:ln>
              </p:spPr>
            </p:sp>
            <p:sp>
              <p:nvSpPr>
                <p:cNvPr id="30" name="Forma 29"/>
                <p:cNvSpPr/>
                <p:nvPr/>
              </p:nvSpPr>
              <p:spPr>
                <a:xfrm rot="-2400000">
                  <a:off x="8987365" y="172503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1" name="Adipocito_2"/>
            <p:cNvGrpSpPr/>
            <p:nvPr/>
          </p:nvGrpSpPr>
          <p:grpSpPr>
            <a:xfrm>
              <a:off x="9607530" y="896112"/>
              <a:ext cx="827180" cy="827180"/>
              <a:chOff x="9607530" y="896112"/>
              <a:chExt cx="827180" cy="827180"/>
            </a:xfrm>
          </p:grpSpPr>
          <p:sp>
            <p:nvSpPr>
              <p:cNvPr id="32" name="Forma 31"/>
              <p:cNvSpPr/>
              <p:nvPr/>
            </p:nvSpPr>
            <p:spPr>
              <a:xfrm>
                <a:off x="9607530" y="896112"/>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3" name="Gota lipídica_2"/>
              <p:cNvSpPr/>
              <p:nvPr/>
            </p:nvSpPr>
            <p:spPr>
              <a:xfrm>
                <a:off x="9648889" y="937471"/>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4" name="Forma 33"/>
              <p:cNvSpPr/>
              <p:nvPr/>
            </p:nvSpPr>
            <p:spPr>
              <a:xfrm rot="2400000">
                <a:off x="10203100" y="945743"/>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5" name="Mitocondria_2"/>
              <p:cNvGrpSpPr/>
              <p:nvPr/>
            </p:nvGrpSpPr>
            <p:grpSpPr>
              <a:xfrm>
                <a:off x="9673705" y="1508225"/>
                <a:ext cx="82718" cy="41359"/>
                <a:chOff x="9673705" y="1508225"/>
                <a:chExt cx="82718" cy="41359"/>
              </a:xfrm>
            </p:grpSpPr>
            <p:sp>
              <p:nvSpPr>
                <p:cNvPr id="36" name="Forma 35"/>
                <p:cNvSpPr/>
                <p:nvPr/>
              </p:nvSpPr>
              <p:spPr>
                <a:xfrm rot="-2400000">
                  <a:off x="9673705" y="1508225"/>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rot="-2400000">
                  <a:off x="9679495" y="1514016"/>
                  <a:ext cx="71138" cy="29778"/>
                </a:xfrm>
                <a:prstGeom prst="ellipse">
                  <a:avLst/>
                </a:prstGeom>
                <a:solidFill>
                  <a:srgbClr val="F8D8B4"/>
                </a:solidFill>
                <a:ln w="9525" cap="rnd">
                  <a:solidFill>
                    <a:srgbClr val="B2732B"/>
                  </a:solidFill>
                  <a:round/>
                </a:ln>
              </p:spPr>
            </p:sp>
            <p:sp>
              <p:nvSpPr>
                <p:cNvPr id="38" name="Forma 37"/>
                <p:cNvSpPr/>
                <p:nvPr/>
              </p:nvSpPr>
              <p:spPr>
                <a:xfrm rot="-2400000">
                  <a:off x="9679495" y="1514016"/>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9" name="Adipocito_3"/>
            <p:cNvGrpSpPr/>
            <p:nvPr/>
          </p:nvGrpSpPr>
          <p:grpSpPr>
            <a:xfrm>
              <a:off x="10282780" y="1149330"/>
              <a:ext cx="827180" cy="827180"/>
              <a:chOff x="10282780" y="1149330"/>
              <a:chExt cx="827180" cy="827180"/>
            </a:xfrm>
          </p:grpSpPr>
          <p:sp>
            <p:nvSpPr>
              <p:cNvPr id="40" name="Forma 39"/>
              <p:cNvSpPr/>
              <p:nvPr/>
            </p:nvSpPr>
            <p:spPr>
              <a:xfrm>
                <a:off x="10282780" y="114933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1" name="Gota lipídica_3"/>
              <p:cNvSpPr/>
              <p:nvPr/>
            </p:nvSpPr>
            <p:spPr>
              <a:xfrm>
                <a:off x="10324139" y="119068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2" name="Forma 41"/>
              <p:cNvSpPr/>
              <p:nvPr/>
            </p:nvSpPr>
            <p:spPr>
              <a:xfrm rot="2400000">
                <a:off x="10878350" y="119896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3" name="Mitocondria_3"/>
              <p:cNvGrpSpPr/>
              <p:nvPr/>
            </p:nvGrpSpPr>
            <p:grpSpPr>
              <a:xfrm>
                <a:off x="10348954" y="1761444"/>
                <a:ext cx="82718" cy="41359"/>
                <a:chOff x="10348954" y="1761444"/>
                <a:chExt cx="82718" cy="41359"/>
              </a:xfrm>
            </p:grpSpPr>
            <p:sp>
              <p:nvSpPr>
                <p:cNvPr id="44" name="Forma 43"/>
                <p:cNvSpPr/>
                <p:nvPr/>
              </p:nvSpPr>
              <p:spPr>
                <a:xfrm rot="-2400000">
                  <a:off x="10348954" y="176144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5" name="Forma 44"/>
                <p:cNvSpPr/>
                <p:nvPr/>
              </p:nvSpPr>
              <p:spPr>
                <a:xfrm rot="-2400000">
                  <a:off x="10354744" y="1767234"/>
                  <a:ext cx="71138" cy="29778"/>
                </a:xfrm>
                <a:prstGeom prst="ellipse">
                  <a:avLst/>
                </a:prstGeom>
                <a:solidFill>
                  <a:srgbClr val="F8D8B4"/>
                </a:solidFill>
                <a:ln w="9525" cap="rnd">
                  <a:solidFill>
                    <a:srgbClr val="B2732B"/>
                  </a:solidFill>
                  <a:round/>
                </a:ln>
              </p:spPr>
            </p:sp>
            <p:sp>
              <p:nvSpPr>
                <p:cNvPr id="46" name="Forma 45"/>
                <p:cNvSpPr/>
                <p:nvPr/>
              </p:nvSpPr>
              <p:spPr>
                <a:xfrm rot="-2400000">
                  <a:off x="10354744" y="176723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7" name="Adipocito_4"/>
            <p:cNvGrpSpPr/>
            <p:nvPr/>
          </p:nvGrpSpPr>
          <p:grpSpPr>
            <a:xfrm>
              <a:off x="9295228" y="1697970"/>
              <a:ext cx="827180" cy="827180"/>
              <a:chOff x="9295228" y="1697970"/>
              <a:chExt cx="827180" cy="827180"/>
            </a:xfrm>
          </p:grpSpPr>
          <p:sp>
            <p:nvSpPr>
              <p:cNvPr id="48" name="Forma 47"/>
              <p:cNvSpPr/>
              <p:nvPr/>
            </p:nvSpPr>
            <p:spPr>
              <a:xfrm>
                <a:off x="9295228" y="169797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9" name="Gota lipídica_4"/>
              <p:cNvSpPr/>
              <p:nvPr/>
            </p:nvSpPr>
            <p:spPr>
              <a:xfrm>
                <a:off x="9336587" y="173932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0" name="Forma 49"/>
              <p:cNvSpPr/>
              <p:nvPr/>
            </p:nvSpPr>
            <p:spPr>
              <a:xfrm rot="2400000">
                <a:off x="9890798" y="174760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1" name="Mitocondria_4"/>
              <p:cNvGrpSpPr/>
              <p:nvPr/>
            </p:nvGrpSpPr>
            <p:grpSpPr>
              <a:xfrm>
                <a:off x="9361402" y="2310084"/>
                <a:ext cx="82718" cy="41359"/>
                <a:chOff x="9361402" y="2310084"/>
                <a:chExt cx="82718" cy="41359"/>
              </a:xfrm>
            </p:grpSpPr>
            <p:sp>
              <p:nvSpPr>
                <p:cNvPr id="52" name="Forma 51"/>
                <p:cNvSpPr/>
                <p:nvPr/>
              </p:nvSpPr>
              <p:spPr>
                <a:xfrm rot="-2400000">
                  <a:off x="9361402" y="231008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3" name="Forma 52"/>
                <p:cNvSpPr/>
                <p:nvPr/>
              </p:nvSpPr>
              <p:spPr>
                <a:xfrm rot="-2400000">
                  <a:off x="9367192" y="2315874"/>
                  <a:ext cx="71138" cy="29778"/>
                </a:xfrm>
                <a:prstGeom prst="ellipse">
                  <a:avLst/>
                </a:prstGeom>
                <a:solidFill>
                  <a:srgbClr val="F8D8B4"/>
                </a:solidFill>
                <a:ln w="9525" cap="rnd">
                  <a:solidFill>
                    <a:srgbClr val="B2732B"/>
                  </a:solidFill>
                  <a:round/>
                </a:ln>
              </p:spPr>
            </p:sp>
            <p:sp>
              <p:nvSpPr>
                <p:cNvPr id="54" name="Forma 53"/>
                <p:cNvSpPr/>
                <p:nvPr/>
              </p:nvSpPr>
              <p:spPr>
                <a:xfrm rot="-2400000">
                  <a:off x="9367192" y="231587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55" name="Adipocito_5"/>
            <p:cNvGrpSpPr/>
            <p:nvPr/>
          </p:nvGrpSpPr>
          <p:grpSpPr>
            <a:xfrm>
              <a:off x="9970477" y="1655767"/>
              <a:ext cx="827180" cy="827180"/>
              <a:chOff x="9970477" y="1655767"/>
              <a:chExt cx="827180" cy="827180"/>
            </a:xfrm>
          </p:grpSpPr>
          <p:sp>
            <p:nvSpPr>
              <p:cNvPr id="56" name="Forma 55"/>
              <p:cNvSpPr/>
              <p:nvPr/>
            </p:nvSpPr>
            <p:spPr>
              <a:xfrm>
                <a:off x="9970477" y="165576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7" name="Gota lipídica_5"/>
              <p:cNvSpPr/>
              <p:nvPr/>
            </p:nvSpPr>
            <p:spPr>
              <a:xfrm>
                <a:off x="10011836" y="169712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8" name="Forma 57"/>
              <p:cNvSpPr/>
              <p:nvPr/>
            </p:nvSpPr>
            <p:spPr>
              <a:xfrm rot="2400000">
                <a:off x="10566047" y="170539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9" name="Mitocondria_5"/>
              <p:cNvGrpSpPr/>
              <p:nvPr/>
            </p:nvGrpSpPr>
            <p:grpSpPr>
              <a:xfrm>
                <a:off x="10036651" y="2267881"/>
                <a:ext cx="82718" cy="41359"/>
                <a:chOff x="10036651" y="2267881"/>
                <a:chExt cx="82718" cy="41359"/>
              </a:xfrm>
            </p:grpSpPr>
            <p:sp>
              <p:nvSpPr>
                <p:cNvPr id="60" name="Forma 59"/>
                <p:cNvSpPr/>
                <p:nvPr/>
              </p:nvSpPr>
              <p:spPr>
                <a:xfrm rot="-2400000">
                  <a:off x="10036651" y="226788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1" name="Forma 60"/>
                <p:cNvSpPr/>
                <p:nvPr/>
              </p:nvSpPr>
              <p:spPr>
                <a:xfrm rot="-2400000">
                  <a:off x="10042442" y="2273671"/>
                  <a:ext cx="71138" cy="29778"/>
                </a:xfrm>
                <a:prstGeom prst="ellipse">
                  <a:avLst/>
                </a:prstGeom>
                <a:solidFill>
                  <a:srgbClr val="F8D8B4"/>
                </a:solidFill>
                <a:ln w="9525" cap="rnd">
                  <a:solidFill>
                    <a:srgbClr val="B2732B"/>
                  </a:solidFill>
                  <a:round/>
                </a:ln>
              </p:spPr>
            </p:sp>
            <p:sp>
              <p:nvSpPr>
                <p:cNvPr id="62" name="Forma 61"/>
                <p:cNvSpPr/>
                <p:nvPr/>
              </p:nvSpPr>
              <p:spPr>
                <a:xfrm rot="-2400000">
                  <a:off x="10042442" y="227367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sp>
        <p:nvSpPr>
          <p:cNvPr id="63" name="!!Rótulo tejido adiposo"/>
          <p:cNvSpPr/>
          <p:nvPr/>
        </p:nvSpPr>
        <p:spPr>
          <a:xfrm>
            <a:off x="7315200" y="2011680"/>
            <a:ext cx="127912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300" dirty="0">
              <a:latin typeface="Bahnschrift SemiBold Condensed"/>
            </a:endParaRPr>
          </a:p>
        </p:txBody>
      </p:sp>
      <p:grpSp>
        <p:nvGrpSpPr>
          <p:cNvPr id="64" name="!!Intestino"/>
          <p:cNvGrpSpPr/>
          <p:nvPr/>
        </p:nvGrpSpPr>
        <p:grpSpPr>
          <a:xfrm>
            <a:off x="685800" y="4069080"/>
            <a:ext cx="1920240" cy="1632204"/>
            <a:chOff x="685800" y="4069080"/>
            <a:chExt cx="1920240" cy="1632204"/>
          </a:xfrm>
        </p:grpSpPr>
        <p:sp>
          <p:nvSpPr>
            <p:cNvPr id="65" name="Forma 64"/>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6" name="Forma 65"/>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67" name="Forma 66"/>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68" name="Forma 67"/>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69" name="Forma 68"/>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70" name="!!Rótulo intestino"/>
          <p:cNvSpPr/>
          <p:nvPr/>
        </p:nvSpPr>
        <p:spPr>
          <a:xfrm>
            <a:off x="2651760" y="4114800"/>
            <a:ext cx="91872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INTESTINO</a:t>
            </a:r>
            <a:endParaRPr lang="es-AR" sz="1300" dirty="0">
              <a:latin typeface="Bahnschrift SemiBold Condensed"/>
            </a:endParaRPr>
          </a:p>
        </p:txBody>
      </p:sp>
      <p:grpSp>
        <p:nvGrpSpPr>
          <p:cNvPr id="71" name="!!Riñón"/>
          <p:cNvGrpSpPr/>
          <p:nvPr/>
        </p:nvGrpSpPr>
        <p:grpSpPr>
          <a:xfrm>
            <a:off x="4617720" y="4069080"/>
            <a:ext cx="960120" cy="1344168"/>
            <a:chOff x="4617720" y="4069080"/>
            <a:chExt cx="960120" cy="1344168"/>
          </a:xfrm>
        </p:grpSpPr>
        <p:sp>
          <p:nvSpPr>
            <p:cNvPr id="72" name="Forma 71"/>
            <p:cNvSpPr/>
            <p:nvPr/>
          </p:nvSpPr>
          <p:spPr>
            <a:xfrm>
              <a:off x="4617720" y="4069080"/>
              <a:ext cx="960120" cy="1344168"/>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73" name="Forma 72"/>
            <p:cNvSpPr/>
            <p:nvPr/>
          </p:nvSpPr>
          <p:spPr>
            <a:xfrm>
              <a:off x="4617720" y="4069080"/>
              <a:ext cx="960120" cy="1344168"/>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4" name="Forma 73"/>
            <p:cNvSpPr/>
            <p:nvPr/>
          </p:nvSpPr>
          <p:spPr>
            <a:xfrm>
              <a:off x="4617720" y="4069080"/>
              <a:ext cx="960120" cy="1344168"/>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75" name="Forma 74"/>
            <p:cNvSpPr/>
            <p:nvPr/>
          </p:nvSpPr>
          <p:spPr>
            <a:xfrm>
              <a:off x="4617720" y="4069080"/>
              <a:ext cx="960120" cy="1344168"/>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76" name="!!Rótulo riñón"/>
          <p:cNvSpPr/>
          <p:nvPr/>
        </p:nvSpPr>
        <p:spPr>
          <a:xfrm>
            <a:off x="5669280" y="5074920"/>
            <a:ext cx="63326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RIÑÓN</a:t>
            </a:r>
            <a:endParaRPr lang="es-AR" sz="1300" dirty="0">
              <a:latin typeface="Bahnschrift SemiBold Condensed"/>
            </a:endParaRPr>
          </a:p>
        </p:txBody>
      </p:sp>
      <p:grpSp>
        <p:nvGrpSpPr>
          <p:cNvPr id="77" name="!!Músculo"/>
          <p:cNvGrpSpPr/>
          <p:nvPr/>
        </p:nvGrpSpPr>
        <p:grpSpPr>
          <a:xfrm>
            <a:off x="8001000" y="4160520"/>
            <a:ext cx="3566160" cy="1768815"/>
            <a:chOff x="8001000" y="4160520"/>
            <a:chExt cx="3566160" cy="1768815"/>
          </a:xfrm>
        </p:grpSpPr>
        <p:grpSp>
          <p:nvGrpSpPr>
            <p:cNvPr id="78" name="Fibra"/>
            <p:cNvGrpSpPr/>
            <p:nvPr/>
          </p:nvGrpSpPr>
          <p:grpSpPr>
            <a:xfrm>
              <a:off x="8001000" y="4160520"/>
              <a:ext cx="3280867" cy="570586"/>
              <a:chOff x="8001000" y="4160520"/>
              <a:chExt cx="3280867" cy="570586"/>
            </a:xfrm>
          </p:grpSpPr>
          <p:sp>
            <p:nvSpPr>
              <p:cNvPr id="79" name="Forma 78"/>
              <p:cNvSpPr/>
              <p:nvPr/>
            </p:nvSpPr>
            <p:spPr>
              <a:xfrm>
                <a:off x="8001000" y="416052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0" name="Forma 79"/>
              <p:cNvSpPr/>
              <p:nvPr/>
            </p:nvSpPr>
            <p:spPr>
              <a:xfrm>
                <a:off x="8143646" y="416052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1" name="Forma 80"/>
              <p:cNvSpPr/>
              <p:nvPr/>
            </p:nvSpPr>
            <p:spPr>
              <a:xfrm>
                <a:off x="8657173"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2" name="Forma 81"/>
              <p:cNvSpPr/>
              <p:nvPr/>
            </p:nvSpPr>
            <p:spPr>
              <a:xfrm>
                <a:off x="980547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3" name="Forma 82"/>
              <p:cNvSpPr/>
              <p:nvPr/>
            </p:nvSpPr>
            <p:spPr>
              <a:xfrm>
                <a:off x="1078973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4" name="Forma 83"/>
              <p:cNvSpPr/>
              <p:nvPr/>
            </p:nvSpPr>
            <p:spPr>
              <a:xfrm>
                <a:off x="11042221" y="418334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85" name="Fibra_2"/>
            <p:cNvGrpSpPr/>
            <p:nvPr/>
          </p:nvGrpSpPr>
          <p:grpSpPr>
            <a:xfrm>
              <a:off x="8143646" y="4759635"/>
              <a:ext cx="3280867" cy="570586"/>
              <a:chOff x="8143646" y="4759635"/>
              <a:chExt cx="3280867" cy="570586"/>
            </a:xfrm>
          </p:grpSpPr>
          <p:sp>
            <p:nvSpPr>
              <p:cNvPr id="86" name="Forma 85"/>
              <p:cNvSpPr/>
              <p:nvPr/>
            </p:nvSpPr>
            <p:spPr>
              <a:xfrm>
                <a:off x="8143646" y="4759635"/>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7" name="Forma 86"/>
              <p:cNvSpPr/>
              <p:nvPr/>
            </p:nvSpPr>
            <p:spPr>
              <a:xfrm>
                <a:off x="8286293" y="4759635"/>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8" name="Forma 87"/>
              <p:cNvSpPr/>
              <p:nvPr/>
            </p:nvSpPr>
            <p:spPr>
              <a:xfrm>
                <a:off x="8799820"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9" name="Forma 88"/>
              <p:cNvSpPr/>
              <p:nvPr/>
            </p:nvSpPr>
            <p:spPr>
              <a:xfrm>
                <a:off x="9948123"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0" name="Forma 89"/>
              <p:cNvSpPr/>
              <p:nvPr/>
            </p:nvSpPr>
            <p:spPr>
              <a:xfrm>
                <a:off x="10932384"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1" name="Forma 90"/>
              <p:cNvSpPr/>
              <p:nvPr/>
            </p:nvSpPr>
            <p:spPr>
              <a:xfrm>
                <a:off x="11184868" y="4782458"/>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92" name="Fibra_3"/>
            <p:cNvGrpSpPr/>
            <p:nvPr/>
          </p:nvGrpSpPr>
          <p:grpSpPr>
            <a:xfrm>
              <a:off x="8286293" y="5358750"/>
              <a:ext cx="3280867" cy="570586"/>
              <a:chOff x="8286293" y="5358750"/>
              <a:chExt cx="3280867" cy="570586"/>
            </a:xfrm>
          </p:grpSpPr>
          <p:sp>
            <p:nvSpPr>
              <p:cNvPr id="93" name="Forma 92"/>
              <p:cNvSpPr/>
              <p:nvPr/>
            </p:nvSpPr>
            <p:spPr>
              <a:xfrm>
                <a:off x="8286293" y="535875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94" name="Forma 93"/>
              <p:cNvSpPr/>
              <p:nvPr/>
            </p:nvSpPr>
            <p:spPr>
              <a:xfrm>
                <a:off x="8428939" y="535875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95" name="Forma 94"/>
              <p:cNvSpPr/>
              <p:nvPr/>
            </p:nvSpPr>
            <p:spPr>
              <a:xfrm>
                <a:off x="8942466"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6" name="Forma 95"/>
              <p:cNvSpPr/>
              <p:nvPr/>
            </p:nvSpPr>
            <p:spPr>
              <a:xfrm>
                <a:off x="1009077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7" name="Forma 96"/>
              <p:cNvSpPr/>
              <p:nvPr/>
            </p:nvSpPr>
            <p:spPr>
              <a:xfrm>
                <a:off x="1107503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8" name="Forma 97"/>
              <p:cNvSpPr/>
              <p:nvPr/>
            </p:nvSpPr>
            <p:spPr>
              <a:xfrm>
                <a:off x="11327514" y="538157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99" name="!!Rótulo músculo"/>
          <p:cNvSpPr/>
          <p:nvPr/>
        </p:nvSpPr>
        <p:spPr>
          <a:xfrm>
            <a:off x="8046720" y="6035040"/>
            <a:ext cx="830267"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MÚSCULO</a:t>
            </a:r>
            <a:endParaRPr lang="es-AR" sz="1300" dirty="0">
              <a:latin typeface="Bahnschrift SemiBold Condensed"/>
            </a:endParaRPr>
          </a:p>
        </p:txBody>
      </p:sp>
      <p:grpSp>
        <p:nvGrpSpPr>
          <p:cNvPr id="100" name="!!Sangre"/>
          <p:cNvGrpSpPr/>
          <p:nvPr/>
        </p:nvGrpSpPr>
        <p:grpSpPr>
          <a:xfrm>
            <a:off x="274320" y="3200400"/>
            <a:ext cx="11658600" cy="548640"/>
            <a:chOff x="274320" y="3200400"/>
            <a:chExt cx="11658600" cy="548640"/>
          </a:xfrm>
        </p:grpSpPr>
        <p:sp>
          <p:nvSpPr>
            <p:cNvPr id="101" name="Forma 100"/>
            <p:cNvSpPr/>
            <p:nvPr/>
          </p:nvSpPr>
          <p:spPr>
            <a:xfrm>
              <a:off x="274320" y="3200400"/>
              <a:ext cx="11658600" cy="5486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02" name="Forma 101"/>
            <p:cNvSpPr/>
            <p:nvPr/>
          </p:nvSpPr>
          <p:spPr>
            <a:xfrm>
              <a:off x="356616" y="3299155"/>
              <a:ext cx="11494008" cy="351130"/>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03" name="Eritrocito"/>
            <p:cNvSpPr/>
            <p:nvPr/>
          </p:nvSpPr>
          <p:spPr>
            <a:xfrm>
              <a:off x="745381" y="346756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4" name="Eritrocito_2"/>
            <p:cNvSpPr/>
            <p:nvPr/>
          </p:nvSpPr>
          <p:spPr>
            <a:xfrm>
              <a:off x="1258447" y="334920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5" name="Eritrocito_3"/>
            <p:cNvSpPr/>
            <p:nvPr/>
          </p:nvSpPr>
          <p:spPr>
            <a:xfrm>
              <a:off x="2309554" y="3438506"/>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6" name="Eritrocito_4"/>
            <p:cNvSpPr/>
            <p:nvPr/>
          </p:nvSpPr>
          <p:spPr>
            <a:xfrm>
              <a:off x="3057821" y="33798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7" name="Eritrocito_5"/>
            <p:cNvSpPr/>
            <p:nvPr/>
          </p:nvSpPr>
          <p:spPr>
            <a:xfrm>
              <a:off x="3838780" y="342078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8" name="Eritrocito_6"/>
            <p:cNvSpPr/>
            <p:nvPr/>
          </p:nvSpPr>
          <p:spPr>
            <a:xfrm>
              <a:off x="4632256" y="335928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9" name="Eritrocito_7"/>
            <p:cNvSpPr/>
            <p:nvPr/>
          </p:nvSpPr>
          <p:spPr>
            <a:xfrm>
              <a:off x="5385406" y="3391537"/>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0" name="Eritrocito_8"/>
            <p:cNvSpPr/>
            <p:nvPr/>
          </p:nvSpPr>
          <p:spPr>
            <a:xfrm>
              <a:off x="6280527" y="347400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1" name="Eritrocito_9"/>
            <p:cNvSpPr/>
            <p:nvPr/>
          </p:nvSpPr>
          <p:spPr>
            <a:xfrm>
              <a:off x="7154503" y="341219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2" name="Eritrocito_10"/>
            <p:cNvSpPr/>
            <p:nvPr/>
          </p:nvSpPr>
          <p:spPr>
            <a:xfrm>
              <a:off x="7794172" y="3374352"/>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3" name="Eritrocito_11"/>
            <p:cNvSpPr/>
            <p:nvPr/>
          </p:nvSpPr>
          <p:spPr>
            <a:xfrm>
              <a:off x="8464491" y="33413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4" name="Eritrocito_12"/>
            <p:cNvSpPr/>
            <p:nvPr/>
          </p:nvSpPr>
          <p:spPr>
            <a:xfrm>
              <a:off x="9403409" y="338124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5" name="Eritrocito_13"/>
            <p:cNvSpPr/>
            <p:nvPr/>
          </p:nvSpPr>
          <p:spPr>
            <a:xfrm>
              <a:off x="10177606" y="3459878"/>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6" name="Eritrocito_14"/>
            <p:cNvSpPr/>
            <p:nvPr/>
          </p:nvSpPr>
          <p:spPr>
            <a:xfrm>
              <a:off x="11025730" y="3414440"/>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117" name="!!Rótulo sangre"/>
          <p:cNvSpPr/>
          <p:nvPr/>
        </p:nvSpPr>
        <p:spPr>
          <a:xfrm>
            <a:off x="5532120" y="3364992"/>
            <a:ext cx="707223" cy="236220"/>
          </a:xfrm>
          <a:prstGeom prst="rect">
            <a:avLst/>
          </a:prstGeom>
          <a:solidFill>
            <a:srgbClr val="FFFFFF"/>
          </a:solidFill>
          <a:ln w="12700" cap="rnd">
            <a:solidFill>
              <a:srgbClr val="6E1A12"/>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SANGRE</a:t>
            </a:r>
            <a:endParaRPr lang="es-AR" sz="1200" dirty="0">
              <a:latin typeface="Bahnschrift SemiBold Condensed"/>
            </a:endParaRPr>
          </a:p>
        </p:txBody>
      </p:sp>
      <p:grpSp>
        <p:nvGrpSpPr>
          <p:cNvPr id="118" name="Menor absorción"/>
          <p:cNvGrpSpPr/>
          <p:nvPr/>
        </p:nvGrpSpPr>
        <p:grpSpPr>
          <a:xfrm>
            <a:off x="1636776" y="3767328"/>
            <a:ext cx="201168" cy="301752"/>
            <a:chOff x="1636776" y="3767328"/>
            <a:chExt cx="201168" cy="301752"/>
          </a:xfrm>
        </p:grpSpPr>
        <p:sp>
          <p:nvSpPr>
            <p:cNvPr id="119" name="Flecha 118_2"/>
            <p:cNvSpPr/>
            <p:nvPr/>
          </p:nvSpPr>
          <p:spPr>
            <a:xfrm>
              <a:off x="1737360" y="3767328"/>
              <a:ext cx="9144" cy="301752"/>
            </a:xfrm>
            <a:custGeom>
              <a:avLst/>
              <a:gdLst/>
              <a:ahLst/>
              <a:cxnLst/>
              <a:rect l="0" t="0" r="r" b="b"/>
              <a:pathLst>
                <a:path w="10" h="330" fill="none">
                  <a:moveTo>
                    <a:pt x="0" y="330"/>
                  </a:moveTo>
                  <a:lnTo>
                    <a:pt x="0" y="0"/>
                  </a:lnTo>
                </a:path>
              </a:pathLst>
            </a:custGeom>
            <a:noFill/>
            <a:ln w="31750" cap="rnd">
              <a:solidFill>
                <a:srgbClr val="C00000"/>
              </a:solidFill>
              <a:round/>
            </a:ln>
          </p:spPr>
        </p:sp>
        <p:sp>
          <p:nvSpPr>
            <p:cNvPr id="120" name="Flecha 120_2"/>
            <p:cNvSpPr/>
            <p:nvPr/>
          </p:nvSpPr>
          <p:spPr>
            <a:xfrm>
              <a:off x="1636776" y="3767328"/>
              <a:ext cx="201168" cy="9144"/>
            </a:xfrm>
            <a:custGeom>
              <a:avLst/>
              <a:gdLst/>
              <a:ahLst/>
              <a:cxnLst/>
              <a:rect l="0" t="0" r="r" b="b"/>
              <a:pathLst>
                <a:path w="219" h="10" fill="none">
                  <a:moveTo>
                    <a:pt x="0" y="0"/>
                  </a:moveTo>
                  <a:lnTo>
                    <a:pt x="219" y="0"/>
                  </a:lnTo>
                </a:path>
              </a:pathLst>
            </a:custGeom>
            <a:noFill/>
            <a:ln w="50800" cap="rnd">
              <a:solidFill>
                <a:srgbClr val="C00000"/>
              </a:solidFill>
              <a:round/>
            </a:ln>
          </p:spPr>
        </p:sp>
      </p:grpSp>
      <p:sp>
        <p:nvSpPr>
          <p:cNvPr id="121" name="Paso 1"/>
          <p:cNvSpPr/>
          <p:nvPr/>
        </p:nvSpPr>
        <p:spPr>
          <a:xfrm>
            <a:off x="1874520" y="406908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grpSp>
        <p:nvGrpSpPr>
          <p:cNvPr id="122" name="Insulina baja"/>
          <p:cNvGrpSpPr/>
          <p:nvPr/>
        </p:nvGrpSpPr>
        <p:grpSpPr>
          <a:xfrm>
            <a:off x="4105656" y="3063240"/>
            <a:ext cx="201168" cy="192024"/>
            <a:chOff x="4105656" y="3063240"/>
            <a:chExt cx="201168" cy="192024"/>
          </a:xfrm>
        </p:grpSpPr>
        <p:sp>
          <p:nvSpPr>
            <p:cNvPr id="123" name="Flecha 124_2"/>
            <p:cNvSpPr/>
            <p:nvPr/>
          </p:nvSpPr>
          <p:spPr>
            <a:xfrm>
              <a:off x="4206240" y="3063240"/>
              <a:ext cx="9144" cy="182880"/>
            </a:xfrm>
            <a:custGeom>
              <a:avLst/>
              <a:gdLst/>
              <a:ahLst/>
              <a:cxnLst/>
              <a:rect l="0" t="0" r="r" b="b"/>
              <a:pathLst>
                <a:path w="10" h="199" fill="none">
                  <a:moveTo>
                    <a:pt x="0" y="0"/>
                  </a:moveTo>
                  <a:lnTo>
                    <a:pt x="0" y="199"/>
                  </a:lnTo>
                </a:path>
              </a:pathLst>
            </a:custGeom>
            <a:noFill/>
            <a:ln w="31750" cap="rnd">
              <a:solidFill>
                <a:srgbClr val="C00000"/>
              </a:solidFill>
              <a:round/>
            </a:ln>
          </p:spPr>
        </p:sp>
        <p:sp>
          <p:nvSpPr>
            <p:cNvPr id="124" name="Flecha 126_2"/>
            <p:cNvSpPr/>
            <p:nvPr/>
          </p:nvSpPr>
          <p:spPr>
            <a:xfrm>
              <a:off x="4105656" y="3246120"/>
              <a:ext cx="201168" cy="9144"/>
            </a:xfrm>
            <a:custGeom>
              <a:avLst/>
              <a:gdLst/>
              <a:ahLst/>
              <a:cxnLst/>
              <a:rect l="0" t="0" r="r" b="b"/>
              <a:pathLst>
                <a:path w="220" h="10" fill="none">
                  <a:moveTo>
                    <a:pt x="220" y="0"/>
                  </a:moveTo>
                  <a:lnTo>
                    <a:pt x="0" y="0"/>
                  </a:lnTo>
                </a:path>
              </a:pathLst>
            </a:custGeom>
            <a:noFill/>
            <a:ln w="50800" cap="rnd">
              <a:solidFill>
                <a:srgbClr val="C00000"/>
              </a:solidFill>
              <a:round/>
            </a:ln>
          </p:spPr>
        </p:sp>
      </p:grpSp>
      <p:sp>
        <p:nvSpPr>
          <p:cNvPr id="125" name="Insulina escasa"/>
          <p:cNvSpPr/>
          <p:nvPr/>
        </p:nvSpPr>
        <p:spPr>
          <a:xfrm>
            <a:off x="4572000" y="2514600"/>
            <a:ext cx="292608" cy="292608"/>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Ins</a:t>
            </a:r>
            <a:endParaRPr lang="es-AR" sz="850" dirty="0">
              <a:latin typeface="Bahnschrift SemiBold Condensed"/>
            </a:endParaRPr>
          </a:p>
        </p:txBody>
      </p:sp>
      <p:sp>
        <p:nvSpPr>
          <p:cNvPr id="126" name="Glucagón"/>
          <p:cNvSpPr/>
          <p:nvPr/>
        </p:nvSpPr>
        <p:spPr>
          <a:xfrm>
            <a:off x="4892040" y="2487168"/>
            <a:ext cx="329184" cy="329184"/>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Gcg</a:t>
            </a:r>
            <a:endParaRPr lang="es-AR" sz="936" dirty="0">
              <a:latin typeface="Bahnschrift SemiBold Condensed"/>
            </a:endParaRPr>
          </a:p>
        </p:txBody>
      </p:sp>
      <p:sp>
        <p:nvSpPr>
          <p:cNvPr id="127" name="Paso 2"/>
          <p:cNvSpPr/>
          <p:nvPr/>
        </p:nvSpPr>
        <p:spPr>
          <a:xfrm>
            <a:off x="5257800" y="246888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128" name="Flecha 131_2"/>
          <p:cNvSpPr/>
          <p:nvPr/>
        </p:nvSpPr>
        <p:spPr>
          <a:xfrm>
            <a:off x="1828800" y="2834640"/>
            <a:ext cx="9144" cy="365760"/>
          </a:xfrm>
          <a:custGeom>
            <a:avLst/>
            <a:gdLst/>
            <a:ahLst/>
            <a:cxnLst/>
            <a:rect l="0" t="0" r="r" b="b"/>
            <a:pathLst>
              <a:path w="10" h="399" fill="none">
                <a:moveTo>
                  <a:pt x="0" y="0"/>
                </a:moveTo>
                <a:lnTo>
                  <a:pt x="0" y="399"/>
                </a:lnTo>
              </a:path>
            </a:pathLst>
          </a:custGeom>
          <a:noFill/>
          <a:ln w="50800" cap="rnd">
            <a:solidFill>
              <a:srgbClr val="2563B0"/>
            </a:solidFill>
            <a:round/>
            <a:tailEnd type="triangle" w="med" len="med"/>
          </a:ln>
        </p:spPr>
      </p:sp>
      <p:sp>
        <p:nvSpPr>
          <p:cNvPr id="129" name="Paso 3"/>
          <p:cNvSpPr/>
          <p:nvPr/>
        </p:nvSpPr>
        <p:spPr>
          <a:xfrm>
            <a:off x="1325880" y="274320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130" name="Flecha 134_2"/>
          <p:cNvSpPr/>
          <p:nvPr/>
        </p:nvSpPr>
        <p:spPr>
          <a:xfrm>
            <a:off x="9601200" y="2514600"/>
            <a:ext cx="9144" cy="685800"/>
          </a:xfrm>
          <a:custGeom>
            <a:avLst/>
            <a:gdLst/>
            <a:ahLst/>
            <a:cxnLst/>
            <a:rect l="0" t="0" r="r" b="b"/>
            <a:pathLst>
              <a:path w="10" h="750" fill="none">
                <a:moveTo>
                  <a:pt x="0" y="0"/>
                </a:moveTo>
                <a:lnTo>
                  <a:pt x="0" y="750"/>
                </a:lnTo>
              </a:path>
            </a:pathLst>
          </a:custGeom>
          <a:noFill/>
          <a:ln w="50800" cap="rnd">
            <a:solidFill>
              <a:srgbClr val="2563B0"/>
            </a:solidFill>
            <a:round/>
            <a:tailEnd type="triangle" w="med" len="med"/>
          </a:ln>
        </p:spPr>
      </p:sp>
      <p:grpSp>
        <p:nvGrpSpPr>
          <p:cNvPr id="131" name="AG"/>
          <p:cNvGrpSpPr/>
          <p:nvPr/>
        </p:nvGrpSpPr>
        <p:grpSpPr>
          <a:xfrm>
            <a:off x="9765792" y="2706624"/>
            <a:ext cx="658368" cy="182880"/>
            <a:chOff x="9765792" y="2706624"/>
            <a:chExt cx="658368" cy="182880"/>
          </a:xfrm>
        </p:grpSpPr>
        <p:sp>
          <p:nvSpPr>
            <p:cNvPr id="132" name="Flecha 137_2"/>
            <p:cNvSpPr/>
            <p:nvPr/>
          </p:nvSpPr>
          <p:spPr>
            <a:xfrm>
              <a:off x="9930384" y="2761488"/>
              <a:ext cx="493776" cy="128016"/>
            </a:xfrm>
            <a:custGeom>
              <a:avLst/>
              <a:gdLst/>
              <a:ahLst/>
              <a:cxnLst/>
              <a:rect l="0" t="0" r="r" b="b"/>
              <a:pathLst>
                <a:path w="539" h="140" fill="none">
                  <a:moveTo>
                    <a:pt x="0" y="0"/>
                  </a:moveTo>
                  <a:lnTo>
                    <a:pt x="67" y="140"/>
                  </a:lnTo>
                  <a:lnTo>
                    <a:pt x="134" y="0"/>
                  </a:lnTo>
                  <a:lnTo>
                    <a:pt x="202" y="140"/>
                  </a:lnTo>
                  <a:lnTo>
                    <a:pt x="269" y="0"/>
                  </a:lnTo>
                  <a:lnTo>
                    <a:pt x="337" y="140"/>
                  </a:lnTo>
                  <a:lnTo>
                    <a:pt x="404" y="0"/>
                  </a:lnTo>
                  <a:lnTo>
                    <a:pt x="472" y="140"/>
                  </a:lnTo>
                  <a:lnTo>
                    <a:pt x="539" y="0"/>
                  </a:lnTo>
                </a:path>
              </a:pathLst>
            </a:custGeom>
            <a:noFill/>
            <a:ln w="28575" cap="rnd">
              <a:solidFill>
                <a:srgbClr val="B7950B"/>
              </a:solidFill>
              <a:round/>
            </a:ln>
          </p:spPr>
        </p:sp>
        <p:sp>
          <p:nvSpPr>
            <p:cNvPr id="133" name="Forma 139"/>
            <p:cNvSpPr/>
            <p:nvPr/>
          </p:nvSpPr>
          <p:spPr>
            <a:xfrm>
              <a:off x="9765792" y="27066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134" name="Molécula gly"/>
          <p:cNvSpPr/>
          <p:nvPr/>
        </p:nvSpPr>
        <p:spPr>
          <a:xfrm>
            <a:off x="10515600" y="2697480"/>
            <a:ext cx="329184" cy="329184"/>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936" b="1" dirty="0">
                <a:solidFill>
                  <a:srgbClr val="1E1E1E"/>
                </a:solidFill>
                <a:latin typeface="Bahnschrift SemiBold Condensed"/>
                <a:ea typeface="Bahnschrift SemiBold Condensed"/>
                <a:cs typeface="Bahnschrift SemiBold Condensed"/>
                <a:sym typeface="Bahnschrift SemiBold Condensed"/>
              </a:rPr>
              <a:t>Gli</a:t>
            </a:r>
            <a:endParaRPr lang="es-AR" sz="936" dirty="0">
              <a:latin typeface="Bahnschrift SemiBold Condensed"/>
            </a:endParaRPr>
          </a:p>
        </p:txBody>
      </p:sp>
      <p:sp>
        <p:nvSpPr>
          <p:cNvPr id="135" name="Paso 4"/>
          <p:cNvSpPr/>
          <p:nvPr/>
        </p:nvSpPr>
        <p:spPr>
          <a:xfrm>
            <a:off x="9098280" y="269748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grpSp>
        <p:nvGrpSpPr>
          <p:cNvPr id="136" name="AG al hígado"/>
          <p:cNvGrpSpPr/>
          <p:nvPr/>
        </p:nvGrpSpPr>
        <p:grpSpPr>
          <a:xfrm>
            <a:off x="2450592" y="2798064"/>
            <a:ext cx="658368" cy="182880"/>
            <a:chOff x="2450592" y="2798064"/>
            <a:chExt cx="658368" cy="182880"/>
          </a:xfrm>
        </p:grpSpPr>
        <p:sp>
          <p:nvSpPr>
            <p:cNvPr id="137" name="Flecha 143_2"/>
            <p:cNvSpPr/>
            <p:nvPr/>
          </p:nvSpPr>
          <p:spPr>
            <a:xfrm>
              <a:off x="2615184" y="2852928"/>
              <a:ext cx="493776" cy="128016"/>
            </a:xfrm>
            <a:custGeom>
              <a:avLst/>
              <a:gdLst/>
              <a:ahLst/>
              <a:cxnLst/>
              <a:rect l="0" t="0" r="r" b="b"/>
              <a:pathLst>
                <a:path w="540" h="140" fill="none">
                  <a:moveTo>
                    <a:pt x="0" y="0"/>
                  </a:moveTo>
                  <a:lnTo>
                    <a:pt x="67" y="140"/>
                  </a:lnTo>
                  <a:lnTo>
                    <a:pt x="134" y="0"/>
                  </a:lnTo>
                  <a:lnTo>
                    <a:pt x="202" y="140"/>
                  </a:lnTo>
                  <a:lnTo>
                    <a:pt x="270" y="0"/>
                  </a:lnTo>
                  <a:lnTo>
                    <a:pt x="337" y="140"/>
                  </a:lnTo>
                  <a:lnTo>
                    <a:pt x="404" y="0"/>
                  </a:lnTo>
                  <a:lnTo>
                    <a:pt x="472" y="140"/>
                  </a:lnTo>
                  <a:lnTo>
                    <a:pt x="540" y="0"/>
                  </a:lnTo>
                </a:path>
              </a:pathLst>
            </a:custGeom>
            <a:noFill/>
            <a:ln w="28575" cap="rnd">
              <a:solidFill>
                <a:srgbClr val="B7950B"/>
              </a:solidFill>
              <a:round/>
            </a:ln>
          </p:spPr>
        </p:sp>
        <p:sp>
          <p:nvSpPr>
            <p:cNvPr id="138" name="Forma 145"/>
            <p:cNvSpPr/>
            <p:nvPr/>
          </p:nvSpPr>
          <p:spPr>
            <a:xfrm>
              <a:off x="2450592" y="279806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139" name="Flecha 146_2"/>
          <p:cNvSpPr/>
          <p:nvPr/>
        </p:nvSpPr>
        <p:spPr>
          <a:xfrm>
            <a:off x="2926080" y="2880360"/>
            <a:ext cx="182880" cy="320040"/>
          </a:xfrm>
          <a:custGeom>
            <a:avLst/>
            <a:gdLst/>
            <a:ahLst/>
            <a:cxnLst/>
            <a:rect l="0" t="0" r="r" b="b"/>
            <a:pathLst>
              <a:path w="199" h="350" fill="none">
                <a:moveTo>
                  <a:pt x="199" y="350"/>
                </a:moveTo>
                <a:lnTo>
                  <a:pt x="0" y="0"/>
                </a:lnTo>
              </a:path>
            </a:pathLst>
          </a:custGeom>
          <a:noFill/>
          <a:ln w="38100" cap="rnd">
            <a:solidFill>
              <a:srgbClr val="2563B0"/>
            </a:solidFill>
            <a:round/>
            <a:tailEnd type="triangle" w="med" len="med"/>
          </a:ln>
        </p:spPr>
      </p:sp>
      <p:sp>
        <p:nvSpPr>
          <p:cNvPr id="140" name="Paso 5"/>
          <p:cNvSpPr/>
          <p:nvPr/>
        </p:nvSpPr>
        <p:spPr>
          <a:xfrm>
            <a:off x="2788920" y="205740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a:t>
            </a:r>
            <a:endParaRPr lang="es-AR" sz="1500" dirty="0">
              <a:latin typeface="Bahnschrift SemiBold Condensed"/>
            </a:endParaRPr>
          </a:p>
        </p:txBody>
      </p:sp>
      <p:sp>
        <p:nvSpPr>
          <p:cNvPr id="141" name="Glucosa hepática"/>
          <p:cNvSpPr/>
          <p:nvPr/>
        </p:nvSpPr>
        <p:spPr>
          <a:xfrm>
            <a:off x="777240" y="278892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142" name="Flecha 150_2"/>
          <p:cNvSpPr/>
          <p:nvPr/>
        </p:nvSpPr>
        <p:spPr>
          <a:xfrm>
            <a:off x="960120" y="2834640"/>
            <a:ext cx="9144" cy="365760"/>
          </a:xfrm>
          <a:custGeom>
            <a:avLst/>
            <a:gdLst/>
            <a:ahLst/>
            <a:cxnLst/>
            <a:rect l="0" t="0" r="r" b="b"/>
            <a:pathLst>
              <a:path w="10" h="399" fill="none">
                <a:moveTo>
                  <a:pt x="0" y="0"/>
                </a:moveTo>
                <a:lnTo>
                  <a:pt x="0" y="399"/>
                </a:lnTo>
              </a:path>
            </a:pathLst>
          </a:custGeom>
          <a:noFill/>
          <a:ln w="50800" cap="rnd">
            <a:solidFill>
              <a:srgbClr val="2563B0"/>
            </a:solidFill>
            <a:round/>
            <a:tailEnd type="triangle" w="med" len="med"/>
          </a:ln>
        </p:spPr>
      </p:sp>
      <p:sp>
        <p:nvSpPr>
          <p:cNvPr id="143" name="Paso 6"/>
          <p:cNvSpPr/>
          <p:nvPr/>
        </p:nvSpPr>
        <p:spPr>
          <a:xfrm>
            <a:off x="365760" y="233172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6</a:t>
            </a:r>
            <a:endParaRPr lang="es-AR" sz="1500" dirty="0">
              <a:latin typeface="Bahnschrift SemiBold Condensed"/>
            </a:endParaRPr>
          </a:p>
        </p:txBody>
      </p:sp>
      <p:sp>
        <p:nvSpPr>
          <p:cNvPr id="144" name="Leyenda paso 1"/>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1.</a:t>
            </a:r>
            <a:r>
              <a:rPr lang="es-AR" sz="1500" dirty="0">
                <a:solidFill>
                  <a:srgbClr val="1E1E1E"/>
                </a:solidFill>
                <a:latin typeface="Bahnschrift"/>
                <a:ea typeface="Bahnschrift"/>
                <a:cs typeface="Bahnschrift"/>
                <a:sym typeface="Bahnschrift"/>
              </a:rPr>
              <a:t> Disminuye la entrada intestinal de glucosa</a:t>
            </a:r>
            <a:endParaRPr lang="es-AR" sz="1500" dirty="0">
              <a:latin typeface="Bahnschrift"/>
            </a:endParaRPr>
          </a:p>
        </p:txBody>
      </p:sp>
      <p:sp>
        <p:nvSpPr>
          <p:cNvPr id="145" name="Leyenda paso 2"/>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2.</a:t>
            </a:r>
            <a:r>
              <a:rPr lang="es-AR" sz="1500" dirty="0">
                <a:solidFill>
                  <a:srgbClr val="1E1E1E"/>
                </a:solidFill>
                <a:latin typeface="Bahnschrift"/>
                <a:ea typeface="Bahnschrift"/>
                <a:cs typeface="Bahnschrift"/>
                <a:sym typeface="Bahnschrift"/>
              </a:rPr>
              <a:t> Disminuye la señal de insulina</a:t>
            </a:r>
            <a:endParaRPr lang="es-AR" sz="1500" dirty="0">
              <a:latin typeface="Bahnschrift"/>
            </a:endParaRPr>
          </a:p>
        </p:txBody>
      </p:sp>
      <p:sp>
        <p:nvSpPr>
          <p:cNvPr id="146" name="Leyenda paso 3"/>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3.</a:t>
            </a:r>
            <a:r>
              <a:rPr lang="es-AR" sz="1500" dirty="0">
                <a:solidFill>
                  <a:srgbClr val="1E1E1E"/>
                </a:solidFill>
                <a:latin typeface="Bahnschrift"/>
                <a:ea typeface="Bahnschrift"/>
                <a:cs typeface="Bahnschrift"/>
                <a:sym typeface="Bahnschrift"/>
              </a:rPr>
              <a:t> Aumenta la movilización de reservas</a:t>
            </a:r>
            <a:endParaRPr lang="es-AR" sz="1500" dirty="0">
              <a:latin typeface="Bahnschrift"/>
            </a:endParaRPr>
          </a:p>
        </p:txBody>
      </p:sp>
      <p:sp>
        <p:nvSpPr>
          <p:cNvPr id="147" name="Leyenda paso 4"/>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4.</a:t>
            </a:r>
            <a:r>
              <a:rPr lang="es-AR" sz="1500" dirty="0">
                <a:solidFill>
                  <a:srgbClr val="1E1E1E"/>
                </a:solidFill>
                <a:latin typeface="Bahnschrift"/>
                <a:ea typeface="Bahnschrift"/>
                <a:cs typeface="Bahnschrift"/>
                <a:sym typeface="Bahnschrift"/>
              </a:rPr>
              <a:t> El adiposo libera AG y glicerol</a:t>
            </a:r>
            <a:endParaRPr lang="es-AR" sz="1500" dirty="0">
              <a:latin typeface="Bahnschrift"/>
            </a:endParaRPr>
          </a:p>
        </p:txBody>
      </p:sp>
      <p:sp>
        <p:nvSpPr>
          <p:cNvPr id="148" name="Leyenda paso 5"/>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5.</a:t>
            </a:r>
            <a:r>
              <a:rPr lang="es-AR" sz="1500" dirty="0">
                <a:solidFill>
                  <a:srgbClr val="1E1E1E"/>
                </a:solidFill>
                <a:latin typeface="Bahnschrift"/>
                <a:ea typeface="Bahnschrift"/>
                <a:cs typeface="Bahnschrift"/>
                <a:sym typeface="Bahnschrift"/>
              </a:rPr>
              <a:t> El hígado oxida AG para obtener energía</a:t>
            </a:r>
            <a:endParaRPr lang="es-AR" sz="1500" dirty="0">
              <a:latin typeface="Bahnschrift"/>
            </a:endParaRPr>
          </a:p>
        </p:txBody>
      </p:sp>
      <p:sp>
        <p:nvSpPr>
          <p:cNvPr id="149" name="Leyenda paso 6"/>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6.</a:t>
            </a:r>
            <a:r>
              <a:rPr lang="es-AR" sz="1500" dirty="0">
                <a:solidFill>
                  <a:srgbClr val="1E1E1E"/>
                </a:solidFill>
                <a:latin typeface="Bahnschrift"/>
                <a:ea typeface="Bahnschrift"/>
                <a:cs typeface="Bahnschrift"/>
                <a:sym typeface="Bahnschrift"/>
              </a:rPr>
              <a:t> La gluconeogénesis sostiene la glucosa</a:t>
            </a:r>
            <a:endParaRPr lang="es-AR" sz="1500" dirty="0">
              <a:latin typeface="Bahnschrift"/>
            </a:endParaRPr>
          </a:p>
        </p:txBody>
      </p:sp>
      <p:sp>
        <p:nvSpPr>
          <p:cNvPr id="2" name="Etiqueta sección"/>
          <p:cNvSpPr/>
          <p:nvPr/>
        </p:nvSpPr>
        <p:spPr>
          <a:xfrm>
            <a:off x="10657523" y="201168"/>
            <a:ext cx="12598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 AYUNO</a:t>
            </a:r>
            <a:endParaRPr lang="es-AR" sz="1300" dirty="0">
              <a:latin typeface="Bahnschrift SemiBold Condensed"/>
            </a:endParaRPr>
          </a:p>
        </p:txBody>
      </p:sp>
      <p:sp>
        <p:nvSpPr>
          <p:cNvPr id="3" name="Título"/>
          <p:cNvSpPr/>
          <p:nvPr/>
        </p:nvSpPr>
        <p:spPr>
          <a:xfrm>
            <a:off x="274320" y="146304"/>
            <a:ext cx="813635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EL AYUNO PASO A PASO: INTEGRACIÓN ENTRE ÓRGANOS (1/2)</a:t>
            </a:r>
            <a:endParaRPr lang="es-AR" sz="2600" dirty="0">
              <a:latin typeface="Bahnschrift SemiBold Condensed"/>
            </a:endParaRPr>
          </a:p>
        </p:txBody>
      </p:sp>
      <p:sp>
        <p:nvSpPr>
          <p:cNvPr id="15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21"/>
                                        </p:tgtEl>
                                        <p:attrNameLst>
                                          <p:attrName>style.visibility</p:attrName>
                                        </p:attrNameLst>
                                      </p:cBhvr>
                                      <p:to>
                                        <p:strVal val="visible"/>
                                      </p:to>
                                    </p:set>
                                    <p:animEffect transition="in" filter="fade">
                                      <p:cBhvr>
                                        <p:cTn id="5" dur="500"/>
                                        <p:tgtEl>
                                          <p:spTgt spid="121"/>
                                        </p:tgtEl>
                                      </p:cBhvr>
                                    </p:animEffect>
                                  </p:childTnLst>
                                </p:cTn>
                              </p:par>
                            </p:childTnLst>
                          </p:cTn>
                        </p:par>
                        <p:par>
                          <p:cTn id="13"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18"/>
                                        </p:tgtEl>
                                        <p:attrNameLst>
                                          <p:attrName>style.visibility</p:attrName>
                                        </p:attrNameLst>
                                      </p:cBhvr>
                                      <p:to>
                                        <p:strVal val="visible"/>
                                      </p:to>
                                    </p:set>
                                    <p:animEffect transition="in" filter="fade">
                                      <p:cBhvr>
                                        <p:cTn id="9" dur="500"/>
                                        <p:tgtEl>
                                          <p:spTgt spid="11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144"/>
                                        </p:tgtEl>
                                        <p:attrNameLst>
                                          <p:attrName>style.visibility</p:attrName>
                                        </p:attrNameLst>
                                      </p:cBhvr>
                                      <p:to>
                                        <p:strVal val="visible"/>
                                      </p:to>
                                    </p:set>
                                    <p:animEffect transition="in" filter="fade">
                                      <p:cBhvr>
                                        <p:cTn id="12" dur="500"/>
                                        <p:tgtEl>
                                          <p:spTgt spid="144"/>
                                        </p:tgtEl>
                                      </p:cBhvr>
                                    </p:animEffect>
                                  </p:childTnLst>
                                </p:cTn>
                              </p:par>
                            </p:childTnLst>
                          </p:cTn>
                        </p:par>
                      </p:childTnLst>
                    </p:cTn>
                  </p:par>
                  <p:par>
                    <p:cTn id="37" fill="hold">
                      <p:stCondLst>
                        <p:cond delay="indefinite"/>
                      </p:stCondLst>
                      <p:childTnLst>
                        <p:par>
                          <p:cTn id="21" fill="hold">
                            <p:stCondLst>
                              <p:cond delay="0"/>
                            </p:stCondLst>
                            <p:childTnLst>
                              <p:par>
                                <p:cTn id="15" presetID="10" presetClass="exit" presetSubtype="0" fill="hold" grpId="0" nodeType="clickEffect">
                                  <p:stCondLst>
                                    <p:cond delay="0"/>
                                  </p:stCondLst>
                                  <p:childTnLst>
                                    <p:animEffect transition="out" filter="fade">
                                      <p:cBhvr>
                                        <p:cTn id="16" dur="200"/>
                                        <p:tgtEl>
                                          <p:spTgt spid="144"/>
                                        </p:tgtEl>
                                      </p:cBhvr>
                                    </p:animEffect>
                                    <p:set>
                                      <p:cBhvr>
                                        <p:cTn id="17" dur="1" fill="hold">
                                          <p:stCondLst>
                                            <p:cond delay="199"/>
                                          </p:stCondLst>
                                        </p:cTn>
                                        <p:tgtEl>
                                          <p:spTgt spid="144"/>
                                        </p:tgtEl>
                                        <p:attrNameLst>
                                          <p:attrName>style.visibility</p:attrName>
                                        </p:attrNameLst>
                                      </p:cBhvr>
                                      <p:to>
                                        <p:strVal val="hidden"/>
                                      </p:to>
                                    </p:set>
                                  </p:childTnLst>
                                </p:cTn>
                              </p:par>
                              <p:par>
                                <p:cTn id="18" presetID="10" presetClass="entr" presetSubtype="0" fill="hold" grpId="0" nodeType="withEffect">
                                  <p:stCondLst>
                                    <p:cond delay="0"/>
                                  </p:stCondLst>
                                  <p:childTnLst>
                                    <p:set>
                                      <p:cBhvr>
                                        <p:cTn id="19" dur="1" fill="hold">
                                          <p:stCondLst>
                                            <p:cond delay="0"/>
                                          </p:stCondLst>
                                        </p:cTn>
                                        <p:tgtEl>
                                          <p:spTgt spid="127"/>
                                        </p:tgtEl>
                                        <p:attrNameLst>
                                          <p:attrName>style.visibility</p:attrName>
                                        </p:attrNameLst>
                                      </p:cBhvr>
                                      <p:to>
                                        <p:strVal val="visible"/>
                                      </p:to>
                                    </p:set>
                                    <p:animEffect transition="in" filter="fade">
                                      <p:cBhvr>
                                        <p:cTn id="20" dur="500"/>
                                        <p:tgtEl>
                                          <p:spTgt spid="127"/>
                                        </p:tgtEl>
                                      </p:cBhvr>
                                    </p:animEffect>
                                  </p:childTnLst>
                                </p:cTn>
                              </p:par>
                            </p:childTnLst>
                          </p:cTn>
                        </p:par>
                        <p:par>
                          <p:cTn id="25"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22"/>
                                        </p:tgtEl>
                                        <p:attrNameLst>
                                          <p:attrName>style.visibility</p:attrName>
                                        </p:attrNameLst>
                                      </p:cBhvr>
                                      <p:to>
                                        <p:strVal val="visible"/>
                                      </p:to>
                                    </p:set>
                                    <p:animEffect transition="in" filter="fade">
                                      <p:cBhvr>
                                        <p:cTn id="24" dur="500"/>
                                        <p:tgtEl>
                                          <p:spTgt spid="122"/>
                                        </p:tgtEl>
                                      </p:cBhvr>
                                    </p:animEffect>
                                  </p:childTnLst>
                                </p:cTn>
                              </p:par>
                            </p:childTnLst>
                          </p:cTn>
                        </p:par>
                        <p:par>
                          <p:cTn id="29"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fade">
                                      <p:cBhvr>
                                        <p:cTn id="28" dur="500"/>
                                        <p:tgtEl>
                                          <p:spTgt spid="125"/>
                                        </p:tgtEl>
                                      </p:cBhvr>
                                    </p:animEffect>
                                  </p:childTnLst>
                                </p:cTn>
                              </p:par>
                            </p:childTnLst>
                          </p:cTn>
                        </p:par>
                        <p:par>
                          <p:cTn id="36"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126"/>
                                        </p:tgtEl>
                                        <p:attrNameLst>
                                          <p:attrName>style.visibility</p:attrName>
                                        </p:attrNameLst>
                                      </p:cBhvr>
                                      <p:to>
                                        <p:strVal val="visible"/>
                                      </p:to>
                                    </p:set>
                                    <p:animEffect transition="in" filter="fade">
                                      <p:cBhvr>
                                        <p:cTn id="32" dur="500"/>
                                        <p:tgtEl>
                                          <p:spTgt spid="12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45"/>
                                        </p:tgtEl>
                                        <p:attrNameLst>
                                          <p:attrName>style.visibility</p:attrName>
                                        </p:attrNameLst>
                                      </p:cBhvr>
                                      <p:to>
                                        <p:strVal val="visible"/>
                                      </p:to>
                                    </p:set>
                                    <p:animEffect transition="in" filter="fade">
                                      <p:cBhvr>
                                        <p:cTn id="35" dur="500"/>
                                        <p:tgtEl>
                                          <p:spTgt spid="145"/>
                                        </p:tgtEl>
                                      </p:cBhvr>
                                    </p:animEffect>
                                  </p:childTnLst>
                                </p:cTn>
                              </p:par>
                            </p:childTnLst>
                          </p:cTn>
                        </p:par>
                      </p:childTnLst>
                    </p:cTn>
                  </p:par>
                  <p:par>
                    <p:cTn id="52" fill="hold">
                      <p:stCondLst>
                        <p:cond delay="indefinite"/>
                      </p:stCondLst>
                      <p:childTnLst>
                        <p:par>
                          <p:cTn id="44" fill="hold">
                            <p:stCondLst>
                              <p:cond delay="0"/>
                            </p:stCondLst>
                            <p:childTnLst>
                              <p:par>
                                <p:cTn id="38" presetID="10" presetClass="exit" presetSubtype="0" fill="hold" grpId="0" nodeType="clickEffect">
                                  <p:stCondLst>
                                    <p:cond delay="0"/>
                                  </p:stCondLst>
                                  <p:childTnLst>
                                    <p:animEffect transition="out" filter="fade">
                                      <p:cBhvr>
                                        <p:cTn id="39" dur="200"/>
                                        <p:tgtEl>
                                          <p:spTgt spid="145"/>
                                        </p:tgtEl>
                                      </p:cBhvr>
                                    </p:animEffect>
                                    <p:set>
                                      <p:cBhvr>
                                        <p:cTn id="40" dur="1" fill="hold">
                                          <p:stCondLst>
                                            <p:cond delay="199"/>
                                          </p:stCondLst>
                                        </p:cTn>
                                        <p:tgtEl>
                                          <p:spTgt spid="145"/>
                                        </p:tgtEl>
                                        <p:attrNameLst>
                                          <p:attrName>style.visibility</p:attrName>
                                        </p:attrNameLst>
                                      </p:cBhvr>
                                      <p:to>
                                        <p:strVal val="hidden"/>
                                      </p:to>
                                    </p:set>
                                  </p:childTnLst>
                                </p:cTn>
                              </p:par>
                              <p:par>
                                <p:cTn id="41" presetID="10" presetClass="entr" presetSubtype="0" fill="hold" grpId="0" nodeType="withEffect">
                                  <p:stCondLst>
                                    <p:cond delay="0"/>
                                  </p:stCondLst>
                                  <p:childTnLst>
                                    <p:set>
                                      <p:cBhvr>
                                        <p:cTn id="42" dur="1" fill="hold">
                                          <p:stCondLst>
                                            <p:cond delay="0"/>
                                          </p:stCondLst>
                                        </p:cTn>
                                        <p:tgtEl>
                                          <p:spTgt spid="129"/>
                                        </p:tgtEl>
                                        <p:attrNameLst>
                                          <p:attrName>style.visibility</p:attrName>
                                        </p:attrNameLst>
                                      </p:cBhvr>
                                      <p:to>
                                        <p:strVal val="visible"/>
                                      </p:to>
                                    </p:set>
                                    <p:animEffect transition="in" filter="fade">
                                      <p:cBhvr>
                                        <p:cTn id="43" dur="500"/>
                                        <p:tgtEl>
                                          <p:spTgt spid="129"/>
                                        </p:tgtEl>
                                      </p:cBhvr>
                                    </p:animEffect>
                                  </p:childTnLst>
                                </p:cTn>
                              </p:par>
                            </p:childTnLst>
                          </p:cTn>
                        </p:par>
                        <p:par>
                          <p:cTn id="51" fill="hold">
                            <p:stCondLst>
                              <p:cond delay="500"/>
                            </p:stCondLst>
                            <p:childTnLst>
                              <p:par>
                                <p:cTn id="45" presetID="10" presetClass="entr" presetSubtype="0" fill="hold" grpId="0" nodeType="afterEffect">
                                  <p:stCondLst>
                                    <p:cond delay="0"/>
                                  </p:stCondLst>
                                  <p:childTnLst>
                                    <p:set>
                                      <p:cBhvr>
                                        <p:cTn id="46" dur="1" fill="hold">
                                          <p:stCondLst>
                                            <p:cond delay="0"/>
                                          </p:stCondLst>
                                        </p:cTn>
                                        <p:tgtEl>
                                          <p:spTgt spid="128"/>
                                        </p:tgtEl>
                                        <p:attrNameLst>
                                          <p:attrName>style.visibility</p:attrName>
                                        </p:attrNameLst>
                                      </p:cBhvr>
                                      <p:to>
                                        <p:strVal val="visible"/>
                                      </p:to>
                                    </p:set>
                                    <p:animEffect transition="in" filter="fade">
                                      <p:cBhvr>
                                        <p:cTn id="47" dur="500"/>
                                        <p:tgtEl>
                                          <p:spTgt spid="128"/>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46"/>
                                        </p:tgtEl>
                                        <p:attrNameLst>
                                          <p:attrName>style.visibility</p:attrName>
                                        </p:attrNameLst>
                                      </p:cBhvr>
                                      <p:to>
                                        <p:strVal val="visible"/>
                                      </p:to>
                                    </p:set>
                                    <p:animEffect transition="in" filter="fade">
                                      <p:cBhvr>
                                        <p:cTn id="50" dur="500"/>
                                        <p:tgtEl>
                                          <p:spTgt spid="146"/>
                                        </p:tgtEl>
                                      </p:cBhvr>
                                    </p:animEffect>
                                  </p:childTnLst>
                                </p:cTn>
                              </p:par>
                            </p:childTnLst>
                          </p:cTn>
                        </p:par>
                      </p:childTnLst>
                    </p:cTn>
                  </p:par>
                  <p:par>
                    <p:cTn id="75" fill="hold">
                      <p:stCondLst>
                        <p:cond delay="indefinite"/>
                      </p:stCondLst>
                      <p:childTnLst>
                        <p:par>
                          <p:cTn id="59" fill="hold">
                            <p:stCondLst>
                              <p:cond delay="0"/>
                            </p:stCondLst>
                            <p:childTnLst>
                              <p:par>
                                <p:cTn id="53" presetID="10" presetClass="exit" presetSubtype="0" fill="hold" grpId="0" nodeType="clickEffect">
                                  <p:stCondLst>
                                    <p:cond delay="0"/>
                                  </p:stCondLst>
                                  <p:childTnLst>
                                    <p:animEffect transition="out" filter="fade">
                                      <p:cBhvr>
                                        <p:cTn id="54" dur="200"/>
                                        <p:tgtEl>
                                          <p:spTgt spid="146"/>
                                        </p:tgtEl>
                                      </p:cBhvr>
                                    </p:animEffect>
                                    <p:set>
                                      <p:cBhvr>
                                        <p:cTn id="55" dur="1" fill="hold">
                                          <p:stCondLst>
                                            <p:cond delay="199"/>
                                          </p:stCondLst>
                                        </p:cTn>
                                        <p:tgtEl>
                                          <p:spTgt spid="146"/>
                                        </p:tgtEl>
                                        <p:attrNameLst>
                                          <p:attrName>style.visibility</p:attrName>
                                        </p:attrNameLst>
                                      </p:cBhvr>
                                      <p:to>
                                        <p:strVal val="hidden"/>
                                      </p:to>
                                    </p:set>
                                  </p:childTnLst>
                                </p:cTn>
                              </p:par>
                              <p:par>
                                <p:cTn id="56" presetID="10" presetClass="entr" presetSubtype="0" fill="hold" grpId="0" nodeType="withEffect">
                                  <p:stCondLst>
                                    <p:cond delay="0"/>
                                  </p:stCondLst>
                                  <p:childTnLst>
                                    <p:set>
                                      <p:cBhvr>
                                        <p:cTn id="57" dur="1" fill="hold">
                                          <p:stCondLst>
                                            <p:cond delay="0"/>
                                          </p:stCondLst>
                                        </p:cTn>
                                        <p:tgtEl>
                                          <p:spTgt spid="135"/>
                                        </p:tgtEl>
                                        <p:attrNameLst>
                                          <p:attrName>style.visibility</p:attrName>
                                        </p:attrNameLst>
                                      </p:cBhvr>
                                      <p:to>
                                        <p:strVal val="visible"/>
                                      </p:to>
                                    </p:set>
                                    <p:animEffect transition="in" filter="fade">
                                      <p:cBhvr>
                                        <p:cTn id="58" dur="500"/>
                                        <p:tgtEl>
                                          <p:spTgt spid="135"/>
                                        </p:tgtEl>
                                      </p:cBhvr>
                                    </p:animEffect>
                                  </p:childTnLst>
                                </p:cTn>
                              </p:par>
                            </p:childTnLst>
                          </p:cTn>
                        </p:par>
                        <p:par>
                          <p:cTn id="63" fill="hold">
                            <p:stCondLst>
                              <p:cond delay="500"/>
                            </p:stCondLst>
                            <p:childTnLst>
                              <p:par>
                                <p:cTn id="60" presetID="10" presetClass="entr" presetSubtype="0" fill="hold" grpId="0" nodeType="afterEffect">
                                  <p:stCondLst>
                                    <p:cond delay="0"/>
                                  </p:stCondLst>
                                  <p:childTnLst>
                                    <p:set>
                                      <p:cBhvr>
                                        <p:cTn id="61" dur="1" fill="hold">
                                          <p:stCondLst>
                                            <p:cond delay="0"/>
                                          </p:stCondLst>
                                        </p:cTn>
                                        <p:tgtEl>
                                          <p:spTgt spid="130"/>
                                        </p:tgtEl>
                                        <p:attrNameLst>
                                          <p:attrName>style.visibility</p:attrName>
                                        </p:attrNameLst>
                                      </p:cBhvr>
                                      <p:to>
                                        <p:strVal val="visible"/>
                                      </p:to>
                                    </p:set>
                                    <p:animEffect transition="in" filter="fade">
                                      <p:cBhvr>
                                        <p:cTn id="62" dur="500"/>
                                        <p:tgtEl>
                                          <p:spTgt spid="130"/>
                                        </p:tgtEl>
                                      </p:cBhvr>
                                    </p:animEffect>
                                  </p:childTnLst>
                                </p:cTn>
                              </p:par>
                            </p:childTnLst>
                          </p:cTn>
                        </p:par>
                        <p:par>
                          <p:cTn id="67" fill="hold">
                            <p:stCondLst>
                              <p:cond delay="1000"/>
                            </p:stCondLst>
                            <p:childTnLst>
                              <p:par>
                                <p:cTn id="64" presetID="10" presetClass="entr" presetSubtype="0" fill="hold" grpId="0" nodeType="afterEffect">
                                  <p:stCondLst>
                                    <p:cond delay="0"/>
                                  </p:stCondLst>
                                  <p:childTnLst>
                                    <p:set>
                                      <p:cBhvr>
                                        <p:cTn id="65" dur="1" fill="hold">
                                          <p:stCondLst>
                                            <p:cond delay="0"/>
                                          </p:stCondLst>
                                        </p:cTn>
                                        <p:tgtEl>
                                          <p:spTgt spid="131"/>
                                        </p:tgtEl>
                                        <p:attrNameLst>
                                          <p:attrName>style.visibility</p:attrName>
                                        </p:attrNameLst>
                                      </p:cBhvr>
                                      <p:to>
                                        <p:strVal val="visible"/>
                                      </p:to>
                                    </p:set>
                                    <p:animEffect transition="in" filter="fade">
                                      <p:cBhvr>
                                        <p:cTn id="66" dur="500"/>
                                        <p:tgtEl>
                                          <p:spTgt spid="131"/>
                                        </p:tgtEl>
                                      </p:cBhvr>
                                    </p:animEffect>
                                  </p:childTnLst>
                                </p:cTn>
                              </p:par>
                            </p:childTnLst>
                          </p:cTn>
                        </p:par>
                        <p:par>
                          <p:cTn id="74" fill="hold">
                            <p:stCondLst>
                              <p:cond delay="1500"/>
                            </p:stCondLst>
                            <p:childTnLst>
                              <p:par>
                                <p:cTn id="68" presetID="10" presetClass="entr" presetSubtype="0" fill="hold" grpId="0" nodeType="afterEffect">
                                  <p:stCondLst>
                                    <p:cond delay="0"/>
                                  </p:stCondLst>
                                  <p:childTnLst>
                                    <p:set>
                                      <p:cBhvr>
                                        <p:cTn id="69" dur="1" fill="hold">
                                          <p:stCondLst>
                                            <p:cond delay="0"/>
                                          </p:stCondLst>
                                        </p:cTn>
                                        <p:tgtEl>
                                          <p:spTgt spid="134"/>
                                        </p:tgtEl>
                                        <p:attrNameLst>
                                          <p:attrName>style.visibility</p:attrName>
                                        </p:attrNameLst>
                                      </p:cBhvr>
                                      <p:to>
                                        <p:strVal val="visible"/>
                                      </p:to>
                                    </p:set>
                                    <p:animEffect transition="in" filter="fade">
                                      <p:cBhvr>
                                        <p:cTn id="70" dur="500"/>
                                        <p:tgtEl>
                                          <p:spTgt spid="134"/>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47"/>
                                        </p:tgtEl>
                                        <p:attrNameLst>
                                          <p:attrName>style.visibility</p:attrName>
                                        </p:attrNameLst>
                                      </p:cBhvr>
                                      <p:to>
                                        <p:strVal val="visible"/>
                                      </p:to>
                                    </p:set>
                                    <p:animEffect transition="in" filter="fade">
                                      <p:cBhvr>
                                        <p:cTn id="73" dur="500"/>
                                        <p:tgtEl>
                                          <p:spTgt spid="147"/>
                                        </p:tgtEl>
                                      </p:cBhvr>
                                    </p:animEffect>
                                  </p:childTnLst>
                                </p:cTn>
                              </p:par>
                            </p:childTnLst>
                          </p:cTn>
                        </p:par>
                      </p:childTnLst>
                    </p:cTn>
                  </p:par>
                  <p:par>
                    <p:cTn id="94" fill="hold">
                      <p:stCondLst>
                        <p:cond delay="indefinite"/>
                      </p:stCondLst>
                      <p:childTnLst>
                        <p:par>
                          <p:cTn id="82" fill="hold">
                            <p:stCondLst>
                              <p:cond delay="0"/>
                            </p:stCondLst>
                            <p:childTnLst>
                              <p:par>
                                <p:cTn id="76" presetID="10" presetClass="exit" presetSubtype="0" fill="hold" grpId="0" nodeType="clickEffect">
                                  <p:stCondLst>
                                    <p:cond delay="0"/>
                                  </p:stCondLst>
                                  <p:childTnLst>
                                    <p:animEffect transition="out" filter="fade">
                                      <p:cBhvr>
                                        <p:cTn id="77" dur="200"/>
                                        <p:tgtEl>
                                          <p:spTgt spid="147"/>
                                        </p:tgtEl>
                                      </p:cBhvr>
                                    </p:animEffect>
                                    <p:set>
                                      <p:cBhvr>
                                        <p:cTn id="78" dur="1" fill="hold">
                                          <p:stCondLst>
                                            <p:cond delay="199"/>
                                          </p:stCondLst>
                                        </p:cTn>
                                        <p:tgtEl>
                                          <p:spTgt spid="147"/>
                                        </p:tgtEl>
                                        <p:attrNameLst>
                                          <p:attrName>style.visibility</p:attrName>
                                        </p:attrNameLst>
                                      </p:cBhvr>
                                      <p:to>
                                        <p:strVal val="hidden"/>
                                      </p:to>
                                    </p:set>
                                  </p:childTnLst>
                                </p:cTn>
                              </p:par>
                              <p:par>
                                <p:cTn id="79" presetID="10" presetClass="entr" presetSubtype="0" fill="hold" grpId="0" nodeType="withEffect">
                                  <p:stCondLst>
                                    <p:cond delay="0"/>
                                  </p:stCondLst>
                                  <p:childTnLst>
                                    <p:set>
                                      <p:cBhvr>
                                        <p:cTn id="80" dur="1" fill="hold">
                                          <p:stCondLst>
                                            <p:cond delay="0"/>
                                          </p:stCondLst>
                                        </p:cTn>
                                        <p:tgtEl>
                                          <p:spTgt spid="140"/>
                                        </p:tgtEl>
                                        <p:attrNameLst>
                                          <p:attrName>style.visibility</p:attrName>
                                        </p:attrNameLst>
                                      </p:cBhvr>
                                      <p:to>
                                        <p:strVal val="visible"/>
                                      </p:to>
                                    </p:set>
                                    <p:animEffect transition="in" filter="fade">
                                      <p:cBhvr>
                                        <p:cTn id="81" dur="500"/>
                                        <p:tgtEl>
                                          <p:spTgt spid="140"/>
                                        </p:tgtEl>
                                      </p:cBhvr>
                                    </p:animEffect>
                                  </p:childTnLst>
                                </p:cTn>
                              </p:par>
                            </p:childTnLst>
                          </p:cTn>
                        </p:par>
                        <p:par>
                          <p:cTn id="86" fill="hold">
                            <p:stCondLst>
                              <p:cond delay="500"/>
                            </p:stCondLst>
                            <p:childTnLst>
                              <p:par>
                                <p:cTn id="83" presetID="10" presetClass="entr" presetSubtype="0" fill="hold" grpId="0" nodeType="afterEffect">
                                  <p:stCondLst>
                                    <p:cond delay="0"/>
                                  </p:stCondLst>
                                  <p:childTnLst>
                                    <p:set>
                                      <p:cBhvr>
                                        <p:cTn id="84" dur="1" fill="hold">
                                          <p:stCondLst>
                                            <p:cond delay="0"/>
                                          </p:stCondLst>
                                        </p:cTn>
                                        <p:tgtEl>
                                          <p:spTgt spid="136"/>
                                        </p:tgtEl>
                                        <p:attrNameLst>
                                          <p:attrName>style.visibility</p:attrName>
                                        </p:attrNameLst>
                                      </p:cBhvr>
                                      <p:to>
                                        <p:strVal val="visible"/>
                                      </p:to>
                                    </p:set>
                                    <p:animEffect transition="in" filter="fade">
                                      <p:cBhvr>
                                        <p:cTn id="85" dur="500"/>
                                        <p:tgtEl>
                                          <p:spTgt spid="136"/>
                                        </p:tgtEl>
                                      </p:cBhvr>
                                    </p:animEffect>
                                  </p:childTnLst>
                                </p:cTn>
                              </p:par>
                            </p:childTnLst>
                          </p:cTn>
                        </p:par>
                        <p:par>
                          <p:cTn id="93" fill="hold">
                            <p:stCondLst>
                              <p:cond delay="1000"/>
                            </p:stCondLst>
                            <p:childTnLst>
                              <p:par>
                                <p:cTn id="87" presetID="10" presetClass="entr" presetSubtype="0" fill="hold" grpId="0" nodeType="afterEffect">
                                  <p:stCondLst>
                                    <p:cond delay="0"/>
                                  </p:stCondLst>
                                  <p:childTnLst>
                                    <p:set>
                                      <p:cBhvr>
                                        <p:cTn id="88" dur="1" fill="hold">
                                          <p:stCondLst>
                                            <p:cond delay="0"/>
                                          </p:stCondLst>
                                        </p:cTn>
                                        <p:tgtEl>
                                          <p:spTgt spid="139"/>
                                        </p:tgtEl>
                                        <p:attrNameLst>
                                          <p:attrName>style.visibility</p:attrName>
                                        </p:attrNameLst>
                                      </p:cBhvr>
                                      <p:to>
                                        <p:strVal val="visible"/>
                                      </p:to>
                                    </p:set>
                                    <p:animEffect transition="in" filter="fade">
                                      <p:cBhvr>
                                        <p:cTn id="89" dur="500"/>
                                        <p:tgtEl>
                                          <p:spTgt spid="139"/>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148"/>
                                        </p:tgtEl>
                                        <p:attrNameLst>
                                          <p:attrName>style.visibility</p:attrName>
                                        </p:attrNameLst>
                                      </p:cBhvr>
                                      <p:to>
                                        <p:strVal val="visible"/>
                                      </p:to>
                                    </p:set>
                                    <p:animEffect transition="in" filter="fade">
                                      <p:cBhvr>
                                        <p:cTn id="92" dur="500"/>
                                        <p:tgtEl>
                                          <p:spTgt spid="148"/>
                                        </p:tgtEl>
                                      </p:cBhvr>
                                    </p:animEffect>
                                  </p:childTnLst>
                                </p:cTn>
                              </p:par>
                            </p:childTnLst>
                          </p:cTn>
                        </p:par>
                      </p:childTnLst>
                    </p:cTn>
                  </p:par>
                  <p:par>
                    <p:cTn id="113" fill="hold">
                      <p:stCondLst>
                        <p:cond delay="indefinite"/>
                      </p:stCondLst>
                      <p:childTnLst>
                        <p:par>
                          <p:cTn id="101" fill="hold">
                            <p:stCondLst>
                              <p:cond delay="0"/>
                            </p:stCondLst>
                            <p:childTnLst>
                              <p:par>
                                <p:cTn id="95" presetID="10" presetClass="exit" presetSubtype="0" fill="hold" grpId="0" nodeType="clickEffect">
                                  <p:stCondLst>
                                    <p:cond delay="0"/>
                                  </p:stCondLst>
                                  <p:childTnLst>
                                    <p:animEffect transition="out" filter="fade">
                                      <p:cBhvr>
                                        <p:cTn id="96" dur="200"/>
                                        <p:tgtEl>
                                          <p:spTgt spid="148"/>
                                        </p:tgtEl>
                                      </p:cBhvr>
                                    </p:animEffect>
                                    <p:set>
                                      <p:cBhvr>
                                        <p:cTn id="97" dur="1" fill="hold">
                                          <p:stCondLst>
                                            <p:cond delay="199"/>
                                          </p:stCondLst>
                                        </p:cTn>
                                        <p:tgtEl>
                                          <p:spTgt spid="148"/>
                                        </p:tgtEl>
                                        <p:attrNameLst>
                                          <p:attrName>style.visibility</p:attrName>
                                        </p:attrNameLst>
                                      </p:cBhvr>
                                      <p:to>
                                        <p:strVal val="hidden"/>
                                      </p:to>
                                    </p:set>
                                  </p:childTnLst>
                                </p:cTn>
                              </p:par>
                              <p:par>
                                <p:cTn id="98" presetID="10" presetClass="entr" presetSubtype="0" fill="hold" grpId="0" nodeType="withEffect">
                                  <p:stCondLst>
                                    <p:cond delay="0"/>
                                  </p:stCondLst>
                                  <p:childTnLst>
                                    <p:set>
                                      <p:cBhvr>
                                        <p:cTn id="99" dur="1" fill="hold">
                                          <p:stCondLst>
                                            <p:cond delay="0"/>
                                          </p:stCondLst>
                                        </p:cTn>
                                        <p:tgtEl>
                                          <p:spTgt spid="143"/>
                                        </p:tgtEl>
                                        <p:attrNameLst>
                                          <p:attrName>style.visibility</p:attrName>
                                        </p:attrNameLst>
                                      </p:cBhvr>
                                      <p:to>
                                        <p:strVal val="visible"/>
                                      </p:to>
                                    </p:set>
                                    <p:animEffect transition="in" filter="fade">
                                      <p:cBhvr>
                                        <p:cTn id="100" dur="500"/>
                                        <p:tgtEl>
                                          <p:spTgt spid="143"/>
                                        </p:tgtEl>
                                      </p:cBhvr>
                                    </p:animEffect>
                                  </p:childTnLst>
                                </p:cTn>
                              </p:par>
                            </p:childTnLst>
                          </p:cTn>
                        </p:par>
                        <p:par>
                          <p:cTn id="105" fill="hold">
                            <p:stCondLst>
                              <p:cond delay="500"/>
                            </p:stCondLst>
                            <p:childTnLst>
                              <p:par>
                                <p:cTn id="102" presetID="10" presetClass="entr" presetSubtype="0" fill="hold" grpId="0" nodeType="afterEffect">
                                  <p:stCondLst>
                                    <p:cond delay="0"/>
                                  </p:stCondLst>
                                  <p:childTnLst>
                                    <p:set>
                                      <p:cBhvr>
                                        <p:cTn id="103" dur="1" fill="hold">
                                          <p:stCondLst>
                                            <p:cond delay="0"/>
                                          </p:stCondLst>
                                        </p:cTn>
                                        <p:tgtEl>
                                          <p:spTgt spid="141"/>
                                        </p:tgtEl>
                                        <p:attrNameLst>
                                          <p:attrName>style.visibility</p:attrName>
                                        </p:attrNameLst>
                                      </p:cBhvr>
                                      <p:to>
                                        <p:strVal val="visible"/>
                                      </p:to>
                                    </p:set>
                                    <p:animEffect transition="in" filter="fade">
                                      <p:cBhvr>
                                        <p:cTn id="104" dur="500"/>
                                        <p:tgtEl>
                                          <p:spTgt spid="141"/>
                                        </p:tgtEl>
                                      </p:cBhvr>
                                    </p:animEffect>
                                  </p:childTnLst>
                                </p:cTn>
                              </p:par>
                            </p:childTnLst>
                          </p:cTn>
                        </p:par>
                        <p:par>
                          <p:cTn id="112" fill="hold">
                            <p:stCondLst>
                              <p:cond delay="1000"/>
                            </p:stCondLst>
                            <p:childTnLst>
                              <p:par>
                                <p:cTn id="106" presetID="10" presetClass="entr" presetSubtype="0" fill="hold" grpId="0" nodeType="afterEffect">
                                  <p:stCondLst>
                                    <p:cond delay="0"/>
                                  </p:stCondLst>
                                  <p:childTnLst>
                                    <p:set>
                                      <p:cBhvr>
                                        <p:cTn id="107" dur="1" fill="hold">
                                          <p:stCondLst>
                                            <p:cond delay="0"/>
                                          </p:stCondLst>
                                        </p:cTn>
                                        <p:tgtEl>
                                          <p:spTgt spid="142"/>
                                        </p:tgtEl>
                                        <p:attrNameLst>
                                          <p:attrName>style.visibility</p:attrName>
                                        </p:attrNameLst>
                                      </p:cBhvr>
                                      <p:to>
                                        <p:strVal val="visible"/>
                                      </p:to>
                                    </p:set>
                                    <p:animEffect transition="in" filter="fade">
                                      <p:cBhvr>
                                        <p:cTn id="108" dur="500"/>
                                        <p:tgtEl>
                                          <p:spTgt spid="142"/>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149"/>
                                        </p:tgtEl>
                                        <p:attrNameLst>
                                          <p:attrName>style.visibility</p:attrName>
                                        </p:attrNameLst>
                                      </p:cBhvr>
                                      <p:to>
                                        <p:strVal val="visible"/>
                                      </p:to>
                                    </p:set>
                                    <p:animEffect transition="in" filter="fade">
                                      <p:cBhvr>
                                        <p:cTn id="111"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44" grpId="0" animBg="1"/>
      <p:bldP spid="127" grpId="0" animBg="1"/>
      <p:bldP spid="125" grpId="0" animBg="1"/>
      <p:bldP spid="126" grpId="0" animBg="1"/>
      <p:bldP spid="145" grpId="0" animBg="1"/>
      <p:bldP spid="129" grpId="0" animBg="1"/>
      <p:bldP spid="128" grpId="0" animBg="1"/>
      <p:bldP spid="146" grpId="0" animBg="1"/>
      <p:bldP spid="135" grpId="0" animBg="1"/>
      <p:bldP spid="130" grpId="0" animBg="1"/>
      <p:bldP spid="134" grpId="0" animBg="1"/>
      <p:bldP spid="147" grpId="0" animBg="1"/>
      <p:bldP spid="140" grpId="0" animBg="1"/>
      <p:bldP spid="139" grpId="0" animBg="1"/>
      <p:bldP spid="148" grpId="0" animBg="1"/>
      <p:bldP spid="143" grpId="0" animBg="1"/>
      <p:bldP spid="141" grpId="0" animBg="1"/>
      <p:bldP spid="142" grpId="0" animBg="1"/>
      <p:bldP spid="149" grpId="0" animBg="1"/>
    </p:bldLst>
  </p:timing>
</p:sld>
</file>

<file path=ppt/slides/slide58.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Cerebro"/>
          <p:cNvGrpSpPr/>
          <p:nvPr/>
        </p:nvGrpSpPr>
        <p:grpSpPr>
          <a:xfrm>
            <a:off x="5074920" y="896112"/>
            <a:ext cx="1920240" cy="1497787"/>
            <a:chOff x="5074920" y="896112"/>
            <a:chExt cx="1920240" cy="1497787"/>
          </a:xfrm>
        </p:grpSpPr>
        <p:sp>
          <p:nvSpPr>
            <p:cNvPr id="5" name="Cerebelo"/>
            <p:cNvSpPr/>
            <p:nvPr/>
          </p:nvSpPr>
          <p:spPr>
            <a:xfrm>
              <a:off x="5074920" y="896112"/>
              <a:ext cx="1920240" cy="149778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5074920" y="896112"/>
              <a:ext cx="1920240" cy="149778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5074920" y="896112"/>
              <a:ext cx="1920240" cy="149778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5074920" y="896112"/>
              <a:ext cx="1920240" cy="149778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Rótulo cerebro"/>
          <p:cNvSpPr/>
          <p:nvPr/>
        </p:nvSpPr>
        <p:spPr>
          <a:xfrm>
            <a:off x="7040880" y="1051560"/>
            <a:ext cx="81540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CEREBRO</a:t>
            </a:r>
            <a:endParaRPr lang="es-AR" sz="1300" dirty="0">
              <a:latin typeface="Bahnschrift SemiBold Condensed"/>
            </a:endParaRPr>
          </a:p>
        </p:txBody>
      </p:sp>
      <p:grpSp>
        <p:nvGrpSpPr>
          <p:cNvPr id="10" name="!!Hígado"/>
          <p:cNvGrpSpPr/>
          <p:nvPr/>
        </p:nvGrpSpPr>
        <p:grpSpPr>
          <a:xfrm>
            <a:off x="502920" y="1097280"/>
            <a:ext cx="2743200" cy="1938894"/>
            <a:chOff x="502920" y="1097280"/>
            <a:chExt cx="2743200" cy="1938894"/>
          </a:xfrm>
        </p:grpSpPr>
        <p:sp>
          <p:nvSpPr>
            <p:cNvPr id="11" name="Vesícula biliar"/>
            <p:cNvSpPr/>
            <p:nvPr/>
          </p:nvSpPr>
          <p:spPr>
            <a:xfrm>
              <a:off x="1243584" y="242389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502920" y="109728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502920" y="109728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502920" y="109728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Rótulo hígado"/>
          <p:cNvSpPr/>
          <p:nvPr/>
        </p:nvSpPr>
        <p:spPr>
          <a:xfrm>
            <a:off x="548640" y="91440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grpSp>
        <p:nvGrpSpPr>
          <p:cNvPr id="16" name="!!Páncreas"/>
          <p:cNvGrpSpPr/>
          <p:nvPr/>
        </p:nvGrpSpPr>
        <p:grpSpPr>
          <a:xfrm>
            <a:off x="3429000" y="2331720"/>
            <a:ext cx="1600200" cy="672084"/>
            <a:chOff x="3429000" y="2331720"/>
            <a:chExt cx="1600200" cy="672084"/>
          </a:xfrm>
        </p:grpSpPr>
        <p:sp>
          <p:nvSpPr>
            <p:cNvPr id="17" name="Forma 16"/>
            <p:cNvSpPr/>
            <p:nvPr/>
          </p:nvSpPr>
          <p:spPr>
            <a:xfrm>
              <a:off x="3429000" y="2331720"/>
              <a:ext cx="1600200" cy="67208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429000" y="2331720"/>
              <a:ext cx="1600200" cy="67208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429000" y="2331720"/>
              <a:ext cx="1600200" cy="67208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429000" y="2331720"/>
              <a:ext cx="1600200" cy="67208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Rótulo páncreas"/>
          <p:cNvSpPr/>
          <p:nvPr/>
        </p:nvSpPr>
        <p:spPr>
          <a:xfrm>
            <a:off x="3474720" y="2852928"/>
            <a:ext cx="91046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PÁNCREAS</a:t>
            </a:r>
            <a:endParaRPr lang="es-AR" sz="1300" dirty="0">
              <a:latin typeface="Bahnschrift SemiBold Condensed"/>
            </a:endParaRPr>
          </a:p>
        </p:txBody>
      </p:sp>
      <p:grpSp>
        <p:nvGrpSpPr>
          <p:cNvPr id="22" name="!!Tejido adiposo"/>
          <p:cNvGrpSpPr/>
          <p:nvPr/>
        </p:nvGrpSpPr>
        <p:grpSpPr>
          <a:xfrm>
            <a:off x="8915400" y="896112"/>
            <a:ext cx="2194560" cy="1629039"/>
            <a:chOff x="8915400" y="896112"/>
            <a:chExt cx="2194560" cy="1629039"/>
          </a:xfrm>
        </p:grpSpPr>
        <p:grpSp>
          <p:nvGrpSpPr>
            <p:cNvPr id="23" name="Adipocito"/>
            <p:cNvGrpSpPr/>
            <p:nvPr/>
          </p:nvGrpSpPr>
          <p:grpSpPr>
            <a:xfrm>
              <a:off x="8915400" y="1107127"/>
              <a:ext cx="827180" cy="827180"/>
              <a:chOff x="8915400" y="1107127"/>
              <a:chExt cx="827180" cy="827180"/>
            </a:xfrm>
          </p:grpSpPr>
          <p:sp>
            <p:nvSpPr>
              <p:cNvPr id="24" name="Forma 23"/>
              <p:cNvSpPr/>
              <p:nvPr/>
            </p:nvSpPr>
            <p:spPr>
              <a:xfrm>
                <a:off x="8915400" y="110712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5" name="Gota lipídica"/>
              <p:cNvSpPr/>
              <p:nvPr/>
            </p:nvSpPr>
            <p:spPr>
              <a:xfrm>
                <a:off x="8956759" y="114848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6" name="Forma 25"/>
              <p:cNvSpPr/>
              <p:nvPr/>
            </p:nvSpPr>
            <p:spPr>
              <a:xfrm rot="2400000">
                <a:off x="9510970" y="115675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7" name="Mitocondria"/>
              <p:cNvGrpSpPr/>
              <p:nvPr/>
            </p:nvGrpSpPr>
            <p:grpSpPr>
              <a:xfrm>
                <a:off x="8981574" y="1719241"/>
                <a:ext cx="82718" cy="41359"/>
                <a:chOff x="8981574" y="1719241"/>
                <a:chExt cx="82718" cy="41359"/>
              </a:xfrm>
            </p:grpSpPr>
            <p:sp>
              <p:nvSpPr>
                <p:cNvPr id="28" name="Forma 27"/>
                <p:cNvSpPr/>
                <p:nvPr/>
              </p:nvSpPr>
              <p:spPr>
                <a:xfrm rot="-2400000">
                  <a:off x="8981574" y="171924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9" name="Forma 28"/>
                <p:cNvSpPr/>
                <p:nvPr/>
              </p:nvSpPr>
              <p:spPr>
                <a:xfrm rot="-2400000">
                  <a:off x="8987365" y="1725031"/>
                  <a:ext cx="71138" cy="29778"/>
                </a:xfrm>
                <a:prstGeom prst="ellipse">
                  <a:avLst/>
                </a:prstGeom>
                <a:solidFill>
                  <a:srgbClr val="F8D8B4"/>
                </a:solidFill>
                <a:ln w="9525" cap="rnd">
                  <a:solidFill>
                    <a:srgbClr val="B2732B"/>
                  </a:solidFill>
                  <a:round/>
                </a:ln>
              </p:spPr>
            </p:sp>
            <p:sp>
              <p:nvSpPr>
                <p:cNvPr id="30" name="Forma 29"/>
                <p:cNvSpPr/>
                <p:nvPr/>
              </p:nvSpPr>
              <p:spPr>
                <a:xfrm rot="-2400000">
                  <a:off x="8987365" y="172503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1" name="Adipocito_2"/>
            <p:cNvGrpSpPr/>
            <p:nvPr/>
          </p:nvGrpSpPr>
          <p:grpSpPr>
            <a:xfrm>
              <a:off x="9607530" y="896112"/>
              <a:ext cx="827180" cy="827180"/>
              <a:chOff x="9607530" y="896112"/>
              <a:chExt cx="827180" cy="827180"/>
            </a:xfrm>
          </p:grpSpPr>
          <p:sp>
            <p:nvSpPr>
              <p:cNvPr id="32" name="Forma 31"/>
              <p:cNvSpPr/>
              <p:nvPr/>
            </p:nvSpPr>
            <p:spPr>
              <a:xfrm>
                <a:off x="9607530" y="896112"/>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3" name="Gota lipídica_2"/>
              <p:cNvSpPr/>
              <p:nvPr/>
            </p:nvSpPr>
            <p:spPr>
              <a:xfrm>
                <a:off x="9648889" y="937471"/>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4" name="Forma 33"/>
              <p:cNvSpPr/>
              <p:nvPr/>
            </p:nvSpPr>
            <p:spPr>
              <a:xfrm rot="2400000">
                <a:off x="10203100" y="945743"/>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5" name="Mitocondria_2"/>
              <p:cNvGrpSpPr/>
              <p:nvPr/>
            </p:nvGrpSpPr>
            <p:grpSpPr>
              <a:xfrm>
                <a:off x="9673705" y="1508225"/>
                <a:ext cx="82718" cy="41359"/>
                <a:chOff x="9673705" y="1508225"/>
                <a:chExt cx="82718" cy="41359"/>
              </a:xfrm>
            </p:grpSpPr>
            <p:sp>
              <p:nvSpPr>
                <p:cNvPr id="36" name="Forma 35"/>
                <p:cNvSpPr/>
                <p:nvPr/>
              </p:nvSpPr>
              <p:spPr>
                <a:xfrm rot="-2400000">
                  <a:off x="9673705" y="1508225"/>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rot="-2400000">
                  <a:off x="9679495" y="1514016"/>
                  <a:ext cx="71138" cy="29778"/>
                </a:xfrm>
                <a:prstGeom prst="ellipse">
                  <a:avLst/>
                </a:prstGeom>
                <a:solidFill>
                  <a:srgbClr val="F8D8B4"/>
                </a:solidFill>
                <a:ln w="9525" cap="rnd">
                  <a:solidFill>
                    <a:srgbClr val="B2732B"/>
                  </a:solidFill>
                  <a:round/>
                </a:ln>
              </p:spPr>
            </p:sp>
            <p:sp>
              <p:nvSpPr>
                <p:cNvPr id="38" name="Forma 37"/>
                <p:cNvSpPr/>
                <p:nvPr/>
              </p:nvSpPr>
              <p:spPr>
                <a:xfrm rot="-2400000">
                  <a:off x="9679495" y="1514016"/>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9" name="Adipocito_3"/>
            <p:cNvGrpSpPr/>
            <p:nvPr/>
          </p:nvGrpSpPr>
          <p:grpSpPr>
            <a:xfrm>
              <a:off x="10282780" y="1149330"/>
              <a:ext cx="827180" cy="827180"/>
              <a:chOff x="10282780" y="1149330"/>
              <a:chExt cx="827180" cy="827180"/>
            </a:xfrm>
          </p:grpSpPr>
          <p:sp>
            <p:nvSpPr>
              <p:cNvPr id="40" name="Forma 39"/>
              <p:cNvSpPr/>
              <p:nvPr/>
            </p:nvSpPr>
            <p:spPr>
              <a:xfrm>
                <a:off x="10282780" y="114933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1" name="Gota lipídica_3"/>
              <p:cNvSpPr/>
              <p:nvPr/>
            </p:nvSpPr>
            <p:spPr>
              <a:xfrm>
                <a:off x="10324139" y="119068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2" name="Forma 41"/>
              <p:cNvSpPr/>
              <p:nvPr/>
            </p:nvSpPr>
            <p:spPr>
              <a:xfrm rot="2400000">
                <a:off x="10878350" y="119896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3" name="Mitocondria_3"/>
              <p:cNvGrpSpPr/>
              <p:nvPr/>
            </p:nvGrpSpPr>
            <p:grpSpPr>
              <a:xfrm>
                <a:off x="10348954" y="1761444"/>
                <a:ext cx="82718" cy="41359"/>
                <a:chOff x="10348954" y="1761444"/>
                <a:chExt cx="82718" cy="41359"/>
              </a:xfrm>
            </p:grpSpPr>
            <p:sp>
              <p:nvSpPr>
                <p:cNvPr id="44" name="Forma 43"/>
                <p:cNvSpPr/>
                <p:nvPr/>
              </p:nvSpPr>
              <p:spPr>
                <a:xfrm rot="-2400000">
                  <a:off x="10348954" y="176144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5" name="Forma 44"/>
                <p:cNvSpPr/>
                <p:nvPr/>
              </p:nvSpPr>
              <p:spPr>
                <a:xfrm rot="-2400000">
                  <a:off x="10354744" y="1767234"/>
                  <a:ext cx="71138" cy="29778"/>
                </a:xfrm>
                <a:prstGeom prst="ellipse">
                  <a:avLst/>
                </a:prstGeom>
                <a:solidFill>
                  <a:srgbClr val="F8D8B4"/>
                </a:solidFill>
                <a:ln w="9525" cap="rnd">
                  <a:solidFill>
                    <a:srgbClr val="B2732B"/>
                  </a:solidFill>
                  <a:round/>
                </a:ln>
              </p:spPr>
            </p:sp>
            <p:sp>
              <p:nvSpPr>
                <p:cNvPr id="46" name="Forma 45"/>
                <p:cNvSpPr/>
                <p:nvPr/>
              </p:nvSpPr>
              <p:spPr>
                <a:xfrm rot="-2400000">
                  <a:off x="10354744" y="176723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7" name="Adipocito_4"/>
            <p:cNvGrpSpPr/>
            <p:nvPr/>
          </p:nvGrpSpPr>
          <p:grpSpPr>
            <a:xfrm>
              <a:off x="9295228" y="1697970"/>
              <a:ext cx="827180" cy="827180"/>
              <a:chOff x="9295228" y="1697970"/>
              <a:chExt cx="827180" cy="827180"/>
            </a:xfrm>
          </p:grpSpPr>
          <p:sp>
            <p:nvSpPr>
              <p:cNvPr id="48" name="Forma 47"/>
              <p:cNvSpPr/>
              <p:nvPr/>
            </p:nvSpPr>
            <p:spPr>
              <a:xfrm>
                <a:off x="9295228" y="169797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9" name="Gota lipídica_4"/>
              <p:cNvSpPr/>
              <p:nvPr/>
            </p:nvSpPr>
            <p:spPr>
              <a:xfrm>
                <a:off x="9336587" y="173932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0" name="Forma 49"/>
              <p:cNvSpPr/>
              <p:nvPr/>
            </p:nvSpPr>
            <p:spPr>
              <a:xfrm rot="2400000">
                <a:off x="9890798" y="174760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1" name="Mitocondria_4"/>
              <p:cNvGrpSpPr/>
              <p:nvPr/>
            </p:nvGrpSpPr>
            <p:grpSpPr>
              <a:xfrm>
                <a:off x="9361402" y="2310084"/>
                <a:ext cx="82718" cy="41359"/>
                <a:chOff x="9361402" y="2310084"/>
                <a:chExt cx="82718" cy="41359"/>
              </a:xfrm>
            </p:grpSpPr>
            <p:sp>
              <p:nvSpPr>
                <p:cNvPr id="52" name="Forma 51"/>
                <p:cNvSpPr/>
                <p:nvPr/>
              </p:nvSpPr>
              <p:spPr>
                <a:xfrm rot="-2400000">
                  <a:off x="9361402" y="231008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3" name="Forma 52"/>
                <p:cNvSpPr/>
                <p:nvPr/>
              </p:nvSpPr>
              <p:spPr>
                <a:xfrm rot="-2400000">
                  <a:off x="9367192" y="2315874"/>
                  <a:ext cx="71138" cy="29778"/>
                </a:xfrm>
                <a:prstGeom prst="ellipse">
                  <a:avLst/>
                </a:prstGeom>
                <a:solidFill>
                  <a:srgbClr val="F8D8B4"/>
                </a:solidFill>
                <a:ln w="9525" cap="rnd">
                  <a:solidFill>
                    <a:srgbClr val="B2732B"/>
                  </a:solidFill>
                  <a:round/>
                </a:ln>
              </p:spPr>
            </p:sp>
            <p:sp>
              <p:nvSpPr>
                <p:cNvPr id="54" name="Forma 53"/>
                <p:cNvSpPr/>
                <p:nvPr/>
              </p:nvSpPr>
              <p:spPr>
                <a:xfrm rot="-2400000">
                  <a:off x="9367192" y="231587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55" name="Adipocito_5"/>
            <p:cNvGrpSpPr/>
            <p:nvPr/>
          </p:nvGrpSpPr>
          <p:grpSpPr>
            <a:xfrm>
              <a:off x="9970477" y="1655767"/>
              <a:ext cx="827180" cy="827180"/>
              <a:chOff x="9970477" y="1655767"/>
              <a:chExt cx="827180" cy="827180"/>
            </a:xfrm>
          </p:grpSpPr>
          <p:sp>
            <p:nvSpPr>
              <p:cNvPr id="56" name="Forma 55"/>
              <p:cNvSpPr/>
              <p:nvPr/>
            </p:nvSpPr>
            <p:spPr>
              <a:xfrm>
                <a:off x="9970477" y="165576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7" name="Gota lipídica_5"/>
              <p:cNvSpPr/>
              <p:nvPr/>
            </p:nvSpPr>
            <p:spPr>
              <a:xfrm>
                <a:off x="10011836" y="169712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8" name="Forma 57"/>
              <p:cNvSpPr/>
              <p:nvPr/>
            </p:nvSpPr>
            <p:spPr>
              <a:xfrm rot="2400000">
                <a:off x="10566047" y="170539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9" name="Mitocondria_5"/>
              <p:cNvGrpSpPr/>
              <p:nvPr/>
            </p:nvGrpSpPr>
            <p:grpSpPr>
              <a:xfrm>
                <a:off x="10036651" y="2267881"/>
                <a:ext cx="82718" cy="41359"/>
                <a:chOff x="10036651" y="2267881"/>
                <a:chExt cx="82718" cy="41359"/>
              </a:xfrm>
            </p:grpSpPr>
            <p:sp>
              <p:nvSpPr>
                <p:cNvPr id="60" name="Forma 59"/>
                <p:cNvSpPr/>
                <p:nvPr/>
              </p:nvSpPr>
              <p:spPr>
                <a:xfrm rot="-2400000">
                  <a:off x="10036651" y="226788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1" name="Forma 60"/>
                <p:cNvSpPr/>
                <p:nvPr/>
              </p:nvSpPr>
              <p:spPr>
                <a:xfrm rot="-2400000">
                  <a:off x="10042442" y="2273671"/>
                  <a:ext cx="71138" cy="29778"/>
                </a:xfrm>
                <a:prstGeom prst="ellipse">
                  <a:avLst/>
                </a:prstGeom>
                <a:solidFill>
                  <a:srgbClr val="F8D8B4"/>
                </a:solidFill>
                <a:ln w="9525" cap="rnd">
                  <a:solidFill>
                    <a:srgbClr val="B2732B"/>
                  </a:solidFill>
                  <a:round/>
                </a:ln>
              </p:spPr>
            </p:sp>
            <p:sp>
              <p:nvSpPr>
                <p:cNvPr id="62" name="Forma 61"/>
                <p:cNvSpPr/>
                <p:nvPr/>
              </p:nvSpPr>
              <p:spPr>
                <a:xfrm rot="-2400000">
                  <a:off x="10042442" y="227367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sp>
        <p:nvSpPr>
          <p:cNvPr id="63" name="!!Rótulo tejido adiposo"/>
          <p:cNvSpPr/>
          <p:nvPr/>
        </p:nvSpPr>
        <p:spPr>
          <a:xfrm>
            <a:off x="7315200" y="2011680"/>
            <a:ext cx="127912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300" dirty="0">
              <a:latin typeface="Bahnschrift SemiBold Condensed"/>
            </a:endParaRPr>
          </a:p>
        </p:txBody>
      </p:sp>
      <p:grpSp>
        <p:nvGrpSpPr>
          <p:cNvPr id="64" name="!!Intestino"/>
          <p:cNvGrpSpPr/>
          <p:nvPr/>
        </p:nvGrpSpPr>
        <p:grpSpPr>
          <a:xfrm>
            <a:off x="685800" y="4069080"/>
            <a:ext cx="1920240" cy="1632204"/>
            <a:chOff x="685800" y="4069080"/>
            <a:chExt cx="1920240" cy="1632204"/>
          </a:xfrm>
        </p:grpSpPr>
        <p:sp>
          <p:nvSpPr>
            <p:cNvPr id="65" name="Forma 64"/>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6" name="Forma 65"/>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67" name="Forma 66"/>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68" name="Forma 67"/>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69" name="Forma 68"/>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70" name="!!Rótulo intestino"/>
          <p:cNvSpPr/>
          <p:nvPr/>
        </p:nvSpPr>
        <p:spPr>
          <a:xfrm>
            <a:off x="2651760" y="4114800"/>
            <a:ext cx="91872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INTESTINO</a:t>
            </a:r>
            <a:endParaRPr lang="es-AR" sz="1300" dirty="0">
              <a:latin typeface="Bahnschrift SemiBold Condensed"/>
            </a:endParaRPr>
          </a:p>
        </p:txBody>
      </p:sp>
      <p:grpSp>
        <p:nvGrpSpPr>
          <p:cNvPr id="71" name="!!Riñón"/>
          <p:cNvGrpSpPr/>
          <p:nvPr/>
        </p:nvGrpSpPr>
        <p:grpSpPr>
          <a:xfrm>
            <a:off x="4617720" y="4069080"/>
            <a:ext cx="960120" cy="1344168"/>
            <a:chOff x="4617720" y="4069080"/>
            <a:chExt cx="960120" cy="1344168"/>
          </a:xfrm>
        </p:grpSpPr>
        <p:sp>
          <p:nvSpPr>
            <p:cNvPr id="72" name="Forma 71"/>
            <p:cNvSpPr/>
            <p:nvPr/>
          </p:nvSpPr>
          <p:spPr>
            <a:xfrm>
              <a:off x="4617720" y="4069080"/>
              <a:ext cx="960120" cy="1344168"/>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73" name="Forma 72"/>
            <p:cNvSpPr/>
            <p:nvPr/>
          </p:nvSpPr>
          <p:spPr>
            <a:xfrm>
              <a:off x="4617720" y="4069080"/>
              <a:ext cx="960120" cy="1344168"/>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4" name="Forma 73"/>
            <p:cNvSpPr/>
            <p:nvPr/>
          </p:nvSpPr>
          <p:spPr>
            <a:xfrm>
              <a:off x="4617720" y="4069080"/>
              <a:ext cx="960120" cy="1344168"/>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75" name="Forma 74"/>
            <p:cNvSpPr/>
            <p:nvPr/>
          </p:nvSpPr>
          <p:spPr>
            <a:xfrm>
              <a:off x="4617720" y="4069080"/>
              <a:ext cx="960120" cy="1344168"/>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76" name="!!Rótulo riñón"/>
          <p:cNvSpPr/>
          <p:nvPr/>
        </p:nvSpPr>
        <p:spPr>
          <a:xfrm>
            <a:off x="5669280" y="5074920"/>
            <a:ext cx="63326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RIÑÓN</a:t>
            </a:r>
            <a:endParaRPr lang="es-AR" sz="1300" dirty="0">
              <a:latin typeface="Bahnschrift SemiBold Condensed"/>
            </a:endParaRPr>
          </a:p>
        </p:txBody>
      </p:sp>
      <p:grpSp>
        <p:nvGrpSpPr>
          <p:cNvPr id="77" name="!!Músculo"/>
          <p:cNvGrpSpPr/>
          <p:nvPr/>
        </p:nvGrpSpPr>
        <p:grpSpPr>
          <a:xfrm>
            <a:off x="8001000" y="4160520"/>
            <a:ext cx="3566160" cy="1768815"/>
            <a:chOff x="8001000" y="4160520"/>
            <a:chExt cx="3566160" cy="1768815"/>
          </a:xfrm>
        </p:grpSpPr>
        <p:grpSp>
          <p:nvGrpSpPr>
            <p:cNvPr id="78" name="Fibra"/>
            <p:cNvGrpSpPr/>
            <p:nvPr/>
          </p:nvGrpSpPr>
          <p:grpSpPr>
            <a:xfrm>
              <a:off x="8001000" y="4160520"/>
              <a:ext cx="3280867" cy="570586"/>
              <a:chOff x="8001000" y="4160520"/>
              <a:chExt cx="3280867" cy="570586"/>
            </a:xfrm>
          </p:grpSpPr>
          <p:sp>
            <p:nvSpPr>
              <p:cNvPr id="79" name="Forma 78"/>
              <p:cNvSpPr/>
              <p:nvPr/>
            </p:nvSpPr>
            <p:spPr>
              <a:xfrm>
                <a:off x="8001000" y="416052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0" name="Forma 79"/>
              <p:cNvSpPr/>
              <p:nvPr/>
            </p:nvSpPr>
            <p:spPr>
              <a:xfrm>
                <a:off x="8143646" y="416052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1" name="Forma 80"/>
              <p:cNvSpPr/>
              <p:nvPr/>
            </p:nvSpPr>
            <p:spPr>
              <a:xfrm>
                <a:off x="8657173"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2" name="Forma 81"/>
              <p:cNvSpPr/>
              <p:nvPr/>
            </p:nvSpPr>
            <p:spPr>
              <a:xfrm>
                <a:off x="980547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3" name="Forma 82"/>
              <p:cNvSpPr/>
              <p:nvPr/>
            </p:nvSpPr>
            <p:spPr>
              <a:xfrm>
                <a:off x="1078973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4" name="Forma 83"/>
              <p:cNvSpPr/>
              <p:nvPr/>
            </p:nvSpPr>
            <p:spPr>
              <a:xfrm>
                <a:off x="11042221" y="418334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85" name="Fibra_2"/>
            <p:cNvGrpSpPr/>
            <p:nvPr/>
          </p:nvGrpSpPr>
          <p:grpSpPr>
            <a:xfrm>
              <a:off x="8143646" y="4759635"/>
              <a:ext cx="3280867" cy="570586"/>
              <a:chOff x="8143646" y="4759635"/>
              <a:chExt cx="3280867" cy="570586"/>
            </a:xfrm>
          </p:grpSpPr>
          <p:sp>
            <p:nvSpPr>
              <p:cNvPr id="86" name="Forma 85"/>
              <p:cNvSpPr/>
              <p:nvPr/>
            </p:nvSpPr>
            <p:spPr>
              <a:xfrm>
                <a:off x="8143646" y="4759635"/>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7" name="Forma 86"/>
              <p:cNvSpPr/>
              <p:nvPr/>
            </p:nvSpPr>
            <p:spPr>
              <a:xfrm>
                <a:off x="8286293" y="4759635"/>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8" name="Forma 87"/>
              <p:cNvSpPr/>
              <p:nvPr/>
            </p:nvSpPr>
            <p:spPr>
              <a:xfrm>
                <a:off x="8799820"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9" name="Forma 88"/>
              <p:cNvSpPr/>
              <p:nvPr/>
            </p:nvSpPr>
            <p:spPr>
              <a:xfrm>
                <a:off x="9948123"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0" name="Forma 89"/>
              <p:cNvSpPr/>
              <p:nvPr/>
            </p:nvSpPr>
            <p:spPr>
              <a:xfrm>
                <a:off x="10932384"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1" name="Forma 90"/>
              <p:cNvSpPr/>
              <p:nvPr/>
            </p:nvSpPr>
            <p:spPr>
              <a:xfrm>
                <a:off x="11184868" y="4782458"/>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92" name="Fibra_3"/>
            <p:cNvGrpSpPr/>
            <p:nvPr/>
          </p:nvGrpSpPr>
          <p:grpSpPr>
            <a:xfrm>
              <a:off x="8286293" y="5358750"/>
              <a:ext cx="3280867" cy="570586"/>
              <a:chOff x="8286293" y="5358750"/>
              <a:chExt cx="3280867" cy="570586"/>
            </a:xfrm>
          </p:grpSpPr>
          <p:sp>
            <p:nvSpPr>
              <p:cNvPr id="93" name="Forma 92"/>
              <p:cNvSpPr/>
              <p:nvPr/>
            </p:nvSpPr>
            <p:spPr>
              <a:xfrm>
                <a:off x="8286293" y="535875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94" name="Forma 93"/>
              <p:cNvSpPr/>
              <p:nvPr/>
            </p:nvSpPr>
            <p:spPr>
              <a:xfrm>
                <a:off x="8428939" y="535875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95" name="Forma 94"/>
              <p:cNvSpPr/>
              <p:nvPr/>
            </p:nvSpPr>
            <p:spPr>
              <a:xfrm>
                <a:off x="8942466"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6" name="Forma 95"/>
              <p:cNvSpPr/>
              <p:nvPr/>
            </p:nvSpPr>
            <p:spPr>
              <a:xfrm>
                <a:off x="1009077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7" name="Forma 96"/>
              <p:cNvSpPr/>
              <p:nvPr/>
            </p:nvSpPr>
            <p:spPr>
              <a:xfrm>
                <a:off x="1107503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8" name="Forma 97"/>
              <p:cNvSpPr/>
              <p:nvPr/>
            </p:nvSpPr>
            <p:spPr>
              <a:xfrm>
                <a:off x="11327514" y="538157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99" name="!!Rótulo músculo"/>
          <p:cNvSpPr/>
          <p:nvPr/>
        </p:nvSpPr>
        <p:spPr>
          <a:xfrm>
            <a:off x="8046720" y="6035040"/>
            <a:ext cx="830267"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MÚSCULO</a:t>
            </a:r>
            <a:endParaRPr lang="es-AR" sz="1300" dirty="0">
              <a:latin typeface="Bahnschrift SemiBold Condensed"/>
            </a:endParaRPr>
          </a:p>
        </p:txBody>
      </p:sp>
      <p:grpSp>
        <p:nvGrpSpPr>
          <p:cNvPr id="100" name="!!Sangre"/>
          <p:cNvGrpSpPr/>
          <p:nvPr/>
        </p:nvGrpSpPr>
        <p:grpSpPr>
          <a:xfrm>
            <a:off x="274320" y="3200400"/>
            <a:ext cx="11658600" cy="548640"/>
            <a:chOff x="274320" y="3200400"/>
            <a:chExt cx="11658600" cy="548640"/>
          </a:xfrm>
        </p:grpSpPr>
        <p:sp>
          <p:nvSpPr>
            <p:cNvPr id="101" name="Forma 100"/>
            <p:cNvSpPr/>
            <p:nvPr/>
          </p:nvSpPr>
          <p:spPr>
            <a:xfrm>
              <a:off x="274320" y="3200400"/>
              <a:ext cx="11658600" cy="5486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02" name="Forma 101"/>
            <p:cNvSpPr/>
            <p:nvPr/>
          </p:nvSpPr>
          <p:spPr>
            <a:xfrm>
              <a:off x="356616" y="3299155"/>
              <a:ext cx="11494008" cy="351130"/>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03" name="Eritrocito"/>
            <p:cNvSpPr/>
            <p:nvPr/>
          </p:nvSpPr>
          <p:spPr>
            <a:xfrm>
              <a:off x="745381" y="346756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4" name="Eritrocito_2"/>
            <p:cNvSpPr/>
            <p:nvPr/>
          </p:nvSpPr>
          <p:spPr>
            <a:xfrm>
              <a:off x="1258447" y="334920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5" name="Eritrocito_3"/>
            <p:cNvSpPr/>
            <p:nvPr/>
          </p:nvSpPr>
          <p:spPr>
            <a:xfrm>
              <a:off x="2309554" y="3438506"/>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6" name="Eritrocito_4"/>
            <p:cNvSpPr/>
            <p:nvPr/>
          </p:nvSpPr>
          <p:spPr>
            <a:xfrm>
              <a:off x="3057821" y="33798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7" name="Eritrocito_5"/>
            <p:cNvSpPr/>
            <p:nvPr/>
          </p:nvSpPr>
          <p:spPr>
            <a:xfrm>
              <a:off x="3838780" y="342078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8" name="Eritrocito_6"/>
            <p:cNvSpPr/>
            <p:nvPr/>
          </p:nvSpPr>
          <p:spPr>
            <a:xfrm>
              <a:off x="4632256" y="335928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9" name="Eritrocito_7"/>
            <p:cNvSpPr/>
            <p:nvPr/>
          </p:nvSpPr>
          <p:spPr>
            <a:xfrm>
              <a:off x="5385406" y="3391537"/>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0" name="Eritrocito_8"/>
            <p:cNvSpPr/>
            <p:nvPr/>
          </p:nvSpPr>
          <p:spPr>
            <a:xfrm>
              <a:off x="6280527" y="347400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1" name="Eritrocito_9"/>
            <p:cNvSpPr/>
            <p:nvPr/>
          </p:nvSpPr>
          <p:spPr>
            <a:xfrm>
              <a:off x="7154503" y="341219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2" name="Eritrocito_10"/>
            <p:cNvSpPr/>
            <p:nvPr/>
          </p:nvSpPr>
          <p:spPr>
            <a:xfrm>
              <a:off x="7794172" y="3374352"/>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3" name="Eritrocito_11"/>
            <p:cNvSpPr/>
            <p:nvPr/>
          </p:nvSpPr>
          <p:spPr>
            <a:xfrm>
              <a:off x="8464491" y="33413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4" name="Eritrocito_12"/>
            <p:cNvSpPr/>
            <p:nvPr/>
          </p:nvSpPr>
          <p:spPr>
            <a:xfrm>
              <a:off x="9403409" y="338124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5" name="Eritrocito_13"/>
            <p:cNvSpPr/>
            <p:nvPr/>
          </p:nvSpPr>
          <p:spPr>
            <a:xfrm>
              <a:off x="10177606" y="3459878"/>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6" name="Eritrocito_14"/>
            <p:cNvSpPr/>
            <p:nvPr/>
          </p:nvSpPr>
          <p:spPr>
            <a:xfrm>
              <a:off x="11025730" y="3414440"/>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117" name="!!Rótulo sangre"/>
          <p:cNvSpPr/>
          <p:nvPr/>
        </p:nvSpPr>
        <p:spPr>
          <a:xfrm>
            <a:off x="5532120" y="3364992"/>
            <a:ext cx="707223" cy="236220"/>
          </a:xfrm>
          <a:prstGeom prst="rect">
            <a:avLst/>
          </a:prstGeom>
          <a:solidFill>
            <a:srgbClr val="FFFFFF"/>
          </a:solidFill>
          <a:ln w="12700" cap="rnd">
            <a:solidFill>
              <a:srgbClr val="6E1A12"/>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SANGRE</a:t>
            </a:r>
            <a:endParaRPr lang="es-AR" sz="1200" dirty="0">
              <a:latin typeface="Bahnschrift SemiBold Condensed"/>
            </a:endParaRPr>
          </a:p>
        </p:txBody>
      </p:sp>
      <p:sp>
        <p:nvSpPr>
          <p:cNvPr id="118" name="Lactato eritrocitario"/>
          <p:cNvSpPr/>
          <p:nvPr/>
        </p:nvSpPr>
        <p:spPr>
          <a:xfrm>
            <a:off x="4572000" y="3291840"/>
            <a:ext cx="329184" cy="329184"/>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Lac</a:t>
            </a:r>
            <a:endParaRPr lang="es-AR" sz="936" dirty="0">
              <a:latin typeface="Bahnschrift SemiBold Condensed"/>
            </a:endParaRPr>
          </a:p>
        </p:txBody>
      </p:sp>
      <p:sp>
        <p:nvSpPr>
          <p:cNvPr id="119" name="Paso 7"/>
          <p:cNvSpPr/>
          <p:nvPr/>
        </p:nvSpPr>
        <p:spPr>
          <a:xfrm>
            <a:off x="4069080" y="324612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7</a:t>
            </a:r>
            <a:endParaRPr lang="es-AR" sz="1500" dirty="0">
              <a:latin typeface="Bahnschrift SemiBold Condensed"/>
            </a:endParaRPr>
          </a:p>
        </p:txBody>
      </p:sp>
      <p:sp>
        <p:nvSpPr>
          <p:cNvPr id="120" name="Flecha 119_2"/>
          <p:cNvSpPr/>
          <p:nvPr/>
        </p:nvSpPr>
        <p:spPr>
          <a:xfrm>
            <a:off x="2377440" y="2834640"/>
            <a:ext cx="2103120" cy="411480"/>
          </a:xfrm>
          <a:custGeom>
            <a:avLst/>
            <a:gdLst/>
            <a:ahLst/>
            <a:cxnLst/>
            <a:rect l="0" t="0" r="r" b="b"/>
            <a:pathLst>
              <a:path w="2300" h="449" fill="none">
                <a:moveTo>
                  <a:pt x="2300" y="449"/>
                </a:moveTo>
                <a:lnTo>
                  <a:pt x="0" y="0"/>
                </a:lnTo>
              </a:path>
            </a:pathLst>
          </a:custGeom>
          <a:noFill/>
          <a:ln w="50800" cap="rnd">
            <a:solidFill>
              <a:srgbClr val="2563B0"/>
            </a:solidFill>
            <a:round/>
            <a:tailEnd type="triangle" w="med" len="med"/>
          </a:ln>
        </p:spPr>
      </p:sp>
      <p:sp>
        <p:nvSpPr>
          <p:cNvPr id="121" name="Paso 8"/>
          <p:cNvSpPr/>
          <p:nvPr/>
        </p:nvSpPr>
        <p:spPr>
          <a:xfrm>
            <a:off x="2743200" y="265176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8</a:t>
            </a:r>
            <a:endParaRPr lang="es-AR" sz="1500" dirty="0">
              <a:latin typeface="Bahnschrift SemiBold Condensed"/>
            </a:endParaRPr>
          </a:p>
        </p:txBody>
      </p:sp>
      <p:sp>
        <p:nvSpPr>
          <p:cNvPr id="122" name="Flecha 122_2"/>
          <p:cNvSpPr/>
          <p:nvPr/>
        </p:nvSpPr>
        <p:spPr>
          <a:xfrm>
            <a:off x="5074920" y="3749040"/>
            <a:ext cx="9144" cy="320040"/>
          </a:xfrm>
          <a:custGeom>
            <a:avLst/>
            <a:gdLst/>
            <a:ahLst/>
            <a:cxnLst/>
            <a:rect l="0" t="0" r="r" b="b"/>
            <a:pathLst>
              <a:path w="10" h="350" fill="none">
                <a:moveTo>
                  <a:pt x="0" y="350"/>
                </a:moveTo>
                <a:lnTo>
                  <a:pt x="0" y="0"/>
                </a:lnTo>
              </a:path>
            </a:pathLst>
          </a:custGeom>
          <a:noFill/>
          <a:ln w="50800" cap="rnd">
            <a:solidFill>
              <a:srgbClr val="2563B0"/>
            </a:solidFill>
            <a:round/>
            <a:tailEnd type="triangle" w="med" len="med"/>
          </a:ln>
        </p:spPr>
      </p:sp>
      <p:sp>
        <p:nvSpPr>
          <p:cNvPr id="123" name="Glucosa renal"/>
          <p:cNvSpPr/>
          <p:nvPr/>
        </p:nvSpPr>
        <p:spPr>
          <a:xfrm>
            <a:off x="4297680" y="452628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124" name="Paso 9"/>
          <p:cNvSpPr/>
          <p:nvPr/>
        </p:nvSpPr>
        <p:spPr>
          <a:xfrm>
            <a:off x="4251960" y="498348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9</a:t>
            </a:r>
            <a:endParaRPr lang="es-AR" sz="1500" dirty="0">
              <a:latin typeface="Bahnschrift SemiBold Condensed"/>
            </a:endParaRPr>
          </a:p>
        </p:txBody>
      </p:sp>
      <p:sp>
        <p:nvSpPr>
          <p:cNvPr id="125" name="Cetonas cerebro"/>
          <p:cNvSpPr/>
          <p:nvPr/>
        </p:nvSpPr>
        <p:spPr>
          <a:xfrm>
            <a:off x="6172200" y="2697480"/>
            <a:ext cx="365760" cy="36576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160" b="1" dirty="0">
                <a:solidFill>
                  <a:srgbClr val="FFFFFF"/>
                </a:solidFill>
                <a:latin typeface="Bahnschrift SemiBold Condensed"/>
                <a:ea typeface="Bahnschrift SemiBold Condensed"/>
                <a:cs typeface="Bahnschrift SemiBold Condensed"/>
                <a:sym typeface="Bahnschrift SemiBold Condensed"/>
              </a:rPr>
              <a:t>CC</a:t>
            </a:r>
            <a:endParaRPr lang="es-AR" sz="1160" dirty="0">
              <a:latin typeface="Bahnschrift SemiBold Condensed"/>
            </a:endParaRPr>
          </a:p>
        </p:txBody>
      </p:sp>
      <p:sp>
        <p:nvSpPr>
          <p:cNvPr id="126" name="Flecha 127_2"/>
          <p:cNvSpPr/>
          <p:nvPr/>
        </p:nvSpPr>
        <p:spPr>
          <a:xfrm>
            <a:off x="6035040" y="2514600"/>
            <a:ext cx="9144" cy="685800"/>
          </a:xfrm>
          <a:custGeom>
            <a:avLst/>
            <a:gdLst/>
            <a:ahLst/>
            <a:cxnLst/>
            <a:rect l="0" t="0" r="r" b="b"/>
            <a:pathLst>
              <a:path w="10" h="750" fill="none">
                <a:moveTo>
                  <a:pt x="0" y="750"/>
                </a:moveTo>
                <a:lnTo>
                  <a:pt x="0" y="0"/>
                </a:lnTo>
              </a:path>
            </a:pathLst>
          </a:custGeom>
          <a:noFill/>
          <a:ln w="50800" cap="rnd">
            <a:solidFill>
              <a:srgbClr val="2563B0"/>
            </a:solidFill>
            <a:round/>
            <a:tailEnd type="triangle" w="med" len="med"/>
          </a:ln>
        </p:spPr>
      </p:sp>
      <p:sp>
        <p:nvSpPr>
          <p:cNvPr id="127" name="Paso 10"/>
          <p:cNvSpPr/>
          <p:nvPr/>
        </p:nvSpPr>
        <p:spPr>
          <a:xfrm>
            <a:off x="6675120" y="260604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10</a:t>
            </a:r>
            <a:endParaRPr lang="es-AR" sz="1500" dirty="0">
              <a:latin typeface="Bahnschrift SemiBold Condensed"/>
            </a:endParaRPr>
          </a:p>
        </p:txBody>
      </p:sp>
      <p:sp>
        <p:nvSpPr>
          <p:cNvPr id="128" name="Ahorro proteico"/>
          <p:cNvSpPr/>
          <p:nvPr/>
        </p:nvSpPr>
        <p:spPr>
          <a:xfrm>
            <a:off x="5760720" y="4023360"/>
            <a:ext cx="2011680" cy="960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00" dirty="0">
                <a:solidFill>
                  <a:srgbClr val="1E1E1E"/>
                </a:solidFill>
                <a:latin typeface="Bahnschrift"/>
                <a:ea typeface="Bahnschrift"/>
                <a:cs typeface="Bahnschrift"/>
                <a:sym typeface="Bahnschrift"/>
              </a:rPr>
              <a:t>↓ proteólisis muscular: </a:t>
            </a:r>
            <a:r>
              <a:rPr lang="es-AR" sz="1500" b="1" dirty="0">
                <a:solidFill>
                  <a:srgbClr val="1E1E1E"/>
                </a:solidFill>
                <a:latin typeface="Bahnschrift"/>
                <a:ea typeface="Bahnschrift"/>
                <a:cs typeface="Bahnschrift"/>
                <a:sym typeface="Bahnschrift"/>
              </a:rPr>
              <a:t>ahorro proteico</a:t>
            </a:r>
            <a:endParaRPr lang="es-AR" sz="1500" dirty="0">
              <a:latin typeface="Bahnschrift"/>
            </a:endParaRPr>
          </a:p>
        </p:txBody>
      </p:sp>
      <p:sp>
        <p:nvSpPr>
          <p:cNvPr id="129" name="Paso 11"/>
          <p:cNvSpPr/>
          <p:nvPr/>
        </p:nvSpPr>
        <p:spPr>
          <a:xfrm>
            <a:off x="7818120" y="406908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11</a:t>
            </a:r>
            <a:endParaRPr lang="es-AR" sz="1500" dirty="0">
              <a:latin typeface="Bahnschrift SemiBold Condensed"/>
            </a:endParaRPr>
          </a:p>
        </p:txBody>
      </p:sp>
      <p:sp>
        <p:nvSpPr>
          <p:cNvPr id="130" name="Leyenda paso 7"/>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7.</a:t>
            </a:r>
            <a:r>
              <a:rPr lang="es-AR" sz="1500" dirty="0">
                <a:solidFill>
                  <a:srgbClr val="1E1E1E"/>
                </a:solidFill>
                <a:latin typeface="Bahnschrift"/>
                <a:ea typeface="Bahnschrift"/>
                <a:cs typeface="Bahnschrift"/>
                <a:sym typeface="Bahnschrift"/>
              </a:rPr>
              <a:t> Los eritrocitos siguen generando lactato</a:t>
            </a:r>
            <a:endParaRPr lang="es-AR" sz="1500" dirty="0">
              <a:latin typeface="Bahnschrift"/>
            </a:endParaRPr>
          </a:p>
        </p:txBody>
      </p:sp>
      <p:sp>
        <p:nvSpPr>
          <p:cNvPr id="131" name="Leyenda paso 8"/>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8.</a:t>
            </a:r>
            <a:r>
              <a:rPr lang="es-AR" sz="1500" dirty="0">
                <a:solidFill>
                  <a:srgbClr val="1E1E1E"/>
                </a:solidFill>
                <a:latin typeface="Bahnschrift"/>
                <a:ea typeface="Bahnschrift"/>
                <a:cs typeface="Bahnschrift"/>
                <a:sym typeface="Bahnschrift"/>
              </a:rPr>
              <a:t> El lactato retorna a órganos gluconeogénicos</a:t>
            </a:r>
            <a:endParaRPr lang="es-AR" sz="1500" dirty="0">
              <a:latin typeface="Bahnschrift"/>
            </a:endParaRPr>
          </a:p>
        </p:txBody>
      </p:sp>
      <p:sp>
        <p:nvSpPr>
          <p:cNvPr id="132" name="Leyenda paso 9"/>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9.</a:t>
            </a:r>
            <a:r>
              <a:rPr lang="es-AR" sz="1500" dirty="0">
                <a:solidFill>
                  <a:srgbClr val="1E1E1E"/>
                </a:solidFill>
                <a:latin typeface="Bahnschrift"/>
                <a:ea typeface="Bahnschrift"/>
                <a:cs typeface="Bahnschrift"/>
                <a:sym typeface="Bahnschrift"/>
              </a:rPr>
              <a:t> El riñón aumenta su gluconeogénesis con el ayuno</a:t>
            </a:r>
            <a:endParaRPr lang="es-AR" sz="1500" dirty="0">
              <a:latin typeface="Bahnschrift"/>
            </a:endParaRPr>
          </a:p>
        </p:txBody>
      </p:sp>
      <p:sp>
        <p:nvSpPr>
          <p:cNvPr id="133" name="Leyenda paso 10"/>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10.</a:t>
            </a:r>
            <a:r>
              <a:rPr lang="es-AR" sz="1500" dirty="0">
                <a:solidFill>
                  <a:srgbClr val="1E1E1E"/>
                </a:solidFill>
                <a:latin typeface="Bahnschrift"/>
                <a:ea typeface="Bahnschrift"/>
                <a:cs typeface="Bahnschrift"/>
                <a:sym typeface="Bahnschrift"/>
              </a:rPr>
              <a:t> El cerebro adapta la selección de combustibles</a:t>
            </a:r>
            <a:endParaRPr lang="es-AR" sz="1500" dirty="0">
              <a:latin typeface="Bahnschrift"/>
            </a:endParaRPr>
          </a:p>
        </p:txBody>
      </p:sp>
      <p:sp>
        <p:nvSpPr>
          <p:cNvPr id="134" name="Leyenda paso 11"/>
          <p:cNvSpPr/>
          <p:nvPr/>
        </p:nvSpPr>
        <p:spPr>
          <a:xfrm>
            <a:off x="2743200" y="5897880"/>
            <a:ext cx="5120640" cy="566928"/>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500" b="1" dirty="0">
                <a:solidFill>
                  <a:srgbClr val="1E1E1E"/>
                </a:solidFill>
                <a:latin typeface="Bahnschrift"/>
                <a:ea typeface="Bahnschrift"/>
                <a:cs typeface="Bahnschrift"/>
                <a:sym typeface="Bahnschrift"/>
              </a:rPr>
              <a:t>11.</a:t>
            </a:r>
            <a:r>
              <a:rPr lang="es-AR" sz="1500" dirty="0">
                <a:solidFill>
                  <a:srgbClr val="1E1E1E"/>
                </a:solidFill>
                <a:latin typeface="Bahnschrift"/>
                <a:ea typeface="Bahnschrift"/>
                <a:cs typeface="Bahnschrift"/>
                <a:sym typeface="Bahnschrift"/>
              </a:rPr>
              <a:t> Los cuerpos cetónicos contribuyen al ahorro proteico</a:t>
            </a:r>
            <a:endParaRPr lang="es-AR" sz="1500" dirty="0">
              <a:latin typeface="Bahnschrift"/>
            </a:endParaRPr>
          </a:p>
        </p:txBody>
      </p:sp>
      <p:sp>
        <p:nvSpPr>
          <p:cNvPr id="2" name="Etiqueta sección"/>
          <p:cNvSpPr/>
          <p:nvPr/>
        </p:nvSpPr>
        <p:spPr>
          <a:xfrm>
            <a:off x="10657523" y="201168"/>
            <a:ext cx="12598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 AYUNO</a:t>
            </a:r>
            <a:endParaRPr lang="es-AR" sz="1300" dirty="0">
              <a:latin typeface="Bahnschrift SemiBold Condensed"/>
            </a:endParaRPr>
          </a:p>
        </p:txBody>
      </p:sp>
      <p:sp>
        <p:nvSpPr>
          <p:cNvPr id="3" name="Título"/>
          <p:cNvSpPr/>
          <p:nvPr/>
        </p:nvSpPr>
        <p:spPr>
          <a:xfrm>
            <a:off x="274320" y="146304"/>
            <a:ext cx="819184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EL AYUNO PASO A PASO: INTEGRACIÓN ENTRE ÓRGANOS (2/2)</a:t>
            </a:r>
            <a:endParaRPr lang="es-AR" sz="2600" dirty="0">
              <a:latin typeface="Bahnschrift SemiBold Condensed"/>
            </a:endParaRPr>
          </a:p>
        </p:txBody>
      </p:sp>
      <p:sp>
        <p:nvSpPr>
          <p:cNvPr id="1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19"/>
                                        </p:tgtEl>
                                        <p:attrNameLst>
                                          <p:attrName>style.visibility</p:attrName>
                                        </p:attrNameLst>
                                      </p:cBhvr>
                                      <p:to>
                                        <p:strVal val="visible"/>
                                      </p:to>
                                    </p:set>
                                    <p:animEffect transition="in" filter="fade">
                                      <p:cBhvr>
                                        <p:cTn id="5" dur="500"/>
                                        <p:tgtEl>
                                          <p:spTgt spid="119"/>
                                        </p:tgtEl>
                                      </p:cBhvr>
                                    </p:animEffect>
                                  </p:childTnLst>
                                </p:cTn>
                              </p:par>
                            </p:childTnLst>
                          </p:cTn>
                        </p:par>
                        <p:par>
                          <p:cTn id="13"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18"/>
                                        </p:tgtEl>
                                        <p:attrNameLst>
                                          <p:attrName>style.visibility</p:attrName>
                                        </p:attrNameLst>
                                      </p:cBhvr>
                                      <p:to>
                                        <p:strVal val="visible"/>
                                      </p:to>
                                    </p:set>
                                    <p:animEffect transition="in" filter="fade">
                                      <p:cBhvr>
                                        <p:cTn id="9" dur="500"/>
                                        <p:tgtEl>
                                          <p:spTgt spid="11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130"/>
                                        </p:tgtEl>
                                        <p:attrNameLst>
                                          <p:attrName>style.visibility</p:attrName>
                                        </p:attrNameLst>
                                      </p:cBhvr>
                                      <p:to>
                                        <p:strVal val="visible"/>
                                      </p:to>
                                    </p:set>
                                    <p:animEffect transition="in" filter="fade">
                                      <p:cBhvr>
                                        <p:cTn id="12" dur="500"/>
                                        <p:tgtEl>
                                          <p:spTgt spid="130"/>
                                        </p:tgtEl>
                                      </p:cBhvr>
                                    </p:animEffect>
                                  </p:childTnLst>
                                </p:cTn>
                              </p:par>
                            </p:childTnLst>
                          </p:cTn>
                        </p:par>
                      </p:childTnLst>
                    </p:cTn>
                  </p:par>
                  <p:par>
                    <p:cTn id="29" fill="hold">
                      <p:stCondLst>
                        <p:cond delay="indefinite"/>
                      </p:stCondLst>
                      <p:childTnLst>
                        <p:par>
                          <p:cTn id="21" fill="hold">
                            <p:stCondLst>
                              <p:cond delay="0"/>
                            </p:stCondLst>
                            <p:childTnLst>
                              <p:par>
                                <p:cTn id="15" presetID="10" presetClass="exit" presetSubtype="0" fill="hold" grpId="0" nodeType="clickEffect">
                                  <p:stCondLst>
                                    <p:cond delay="0"/>
                                  </p:stCondLst>
                                  <p:childTnLst>
                                    <p:animEffect transition="out" filter="fade">
                                      <p:cBhvr>
                                        <p:cTn id="16" dur="200"/>
                                        <p:tgtEl>
                                          <p:spTgt spid="130"/>
                                        </p:tgtEl>
                                      </p:cBhvr>
                                    </p:animEffect>
                                    <p:set>
                                      <p:cBhvr>
                                        <p:cTn id="17" dur="1" fill="hold">
                                          <p:stCondLst>
                                            <p:cond delay="199"/>
                                          </p:stCondLst>
                                        </p:cTn>
                                        <p:tgtEl>
                                          <p:spTgt spid="130"/>
                                        </p:tgtEl>
                                        <p:attrNameLst>
                                          <p:attrName>style.visibility</p:attrName>
                                        </p:attrNameLst>
                                      </p:cBhvr>
                                      <p:to>
                                        <p:strVal val="hidden"/>
                                      </p:to>
                                    </p:set>
                                  </p:childTnLst>
                                </p:cTn>
                              </p:par>
                              <p:par>
                                <p:cTn id="18" presetID="10" presetClass="entr" presetSubtype="0" fill="hold" grpId="0" nodeType="withEffect">
                                  <p:stCondLst>
                                    <p:cond delay="0"/>
                                  </p:stCondLst>
                                  <p:childTnLst>
                                    <p:set>
                                      <p:cBhvr>
                                        <p:cTn id="19" dur="1" fill="hold">
                                          <p:stCondLst>
                                            <p:cond delay="0"/>
                                          </p:stCondLst>
                                        </p:cTn>
                                        <p:tgtEl>
                                          <p:spTgt spid="121"/>
                                        </p:tgtEl>
                                        <p:attrNameLst>
                                          <p:attrName>style.visibility</p:attrName>
                                        </p:attrNameLst>
                                      </p:cBhvr>
                                      <p:to>
                                        <p:strVal val="visible"/>
                                      </p:to>
                                    </p:set>
                                    <p:animEffect transition="in" filter="fade">
                                      <p:cBhvr>
                                        <p:cTn id="20" dur="500"/>
                                        <p:tgtEl>
                                          <p:spTgt spid="121"/>
                                        </p:tgtEl>
                                      </p:cBhvr>
                                    </p:animEffect>
                                  </p:childTnLst>
                                </p:cTn>
                              </p:par>
                            </p:childTnLst>
                          </p:cTn>
                        </p:par>
                        <p:par>
                          <p:cTn id="28"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1"/>
                                        </p:tgtEl>
                                        <p:attrNameLst>
                                          <p:attrName>style.visibility</p:attrName>
                                        </p:attrNameLst>
                                      </p:cBhvr>
                                      <p:to>
                                        <p:strVal val="visible"/>
                                      </p:to>
                                    </p:set>
                                    <p:animEffect transition="in" filter="fade">
                                      <p:cBhvr>
                                        <p:cTn id="27" dur="500"/>
                                        <p:tgtEl>
                                          <p:spTgt spid="131"/>
                                        </p:tgtEl>
                                      </p:cBhvr>
                                    </p:animEffect>
                                  </p:childTnLst>
                                </p:cTn>
                              </p:par>
                            </p:childTnLst>
                          </p:cTn>
                        </p:par>
                      </p:childTnLst>
                    </p:cTn>
                  </p:par>
                  <p:par>
                    <p:cTn id="48" fill="hold">
                      <p:stCondLst>
                        <p:cond delay="indefinite"/>
                      </p:stCondLst>
                      <p:childTnLst>
                        <p:par>
                          <p:cTn id="36" fill="hold">
                            <p:stCondLst>
                              <p:cond delay="0"/>
                            </p:stCondLst>
                            <p:childTnLst>
                              <p:par>
                                <p:cTn id="30" presetID="10" presetClass="exit" presetSubtype="0" fill="hold" grpId="0" nodeType="clickEffect">
                                  <p:stCondLst>
                                    <p:cond delay="0"/>
                                  </p:stCondLst>
                                  <p:childTnLst>
                                    <p:animEffect transition="out" filter="fade">
                                      <p:cBhvr>
                                        <p:cTn id="31" dur="200"/>
                                        <p:tgtEl>
                                          <p:spTgt spid="131"/>
                                        </p:tgtEl>
                                      </p:cBhvr>
                                    </p:animEffect>
                                    <p:set>
                                      <p:cBhvr>
                                        <p:cTn id="32" dur="1" fill="hold">
                                          <p:stCondLst>
                                            <p:cond delay="199"/>
                                          </p:stCondLst>
                                        </p:cTn>
                                        <p:tgtEl>
                                          <p:spTgt spid="131"/>
                                        </p:tgtEl>
                                        <p:attrNameLst>
                                          <p:attrName>style.visibility</p:attrName>
                                        </p:attrNameLst>
                                      </p:cBhvr>
                                      <p:to>
                                        <p:strVal val="hidden"/>
                                      </p:to>
                                    </p:set>
                                  </p:childTnLst>
                                </p:cTn>
                              </p:par>
                              <p:par>
                                <p:cTn id="33" presetID="10" presetClass="entr" presetSubtype="0" fill="hold" grpId="0" nodeType="withEffect">
                                  <p:stCondLst>
                                    <p:cond delay="0"/>
                                  </p:stCondLst>
                                  <p:childTnLst>
                                    <p:set>
                                      <p:cBhvr>
                                        <p:cTn id="34" dur="1" fill="hold">
                                          <p:stCondLst>
                                            <p:cond delay="0"/>
                                          </p:stCondLst>
                                        </p:cTn>
                                        <p:tgtEl>
                                          <p:spTgt spid="124"/>
                                        </p:tgtEl>
                                        <p:attrNameLst>
                                          <p:attrName>style.visibility</p:attrName>
                                        </p:attrNameLst>
                                      </p:cBhvr>
                                      <p:to>
                                        <p:strVal val="visible"/>
                                      </p:to>
                                    </p:set>
                                    <p:animEffect transition="in" filter="fade">
                                      <p:cBhvr>
                                        <p:cTn id="35" dur="500"/>
                                        <p:tgtEl>
                                          <p:spTgt spid="124"/>
                                        </p:tgtEl>
                                      </p:cBhvr>
                                    </p:animEffect>
                                  </p:childTnLst>
                                </p:cTn>
                              </p:par>
                            </p:childTnLst>
                          </p:cTn>
                        </p:par>
                        <p:par>
                          <p:cTn id="40"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122"/>
                                        </p:tgtEl>
                                        <p:attrNameLst>
                                          <p:attrName>style.visibility</p:attrName>
                                        </p:attrNameLst>
                                      </p:cBhvr>
                                      <p:to>
                                        <p:strVal val="visible"/>
                                      </p:to>
                                    </p:set>
                                    <p:animEffect transition="in" filter="fade">
                                      <p:cBhvr>
                                        <p:cTn id="39" dur="500"/>
                                        <p:tgtEl>
                                          <p:spTgt spid="122"/>
                                        </p:tgtEl>
                                      </p:cBhvr>
                                    </p:animEffect>
                                  </p:childTnLst>
                                </p:cTn>
                              </p:par>
                            </p:childTnLst>
                          </p:cTn>
                        </p:par>
                        <p:par>
                          <p:cTn id="47"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23"/>
                                        </p:tgtEl>
                                        <p:attrNameLst>
                                          <p:attrName>style.visibility</p:attrName>
                                        </p:attrNameLst>
                                      </p:cBhvr>
                                      <p:to>
                                        <p:strVal val="visible"/>
                                      </p:to>
                                    </p:set>
                                    <p:animEffect transition="in" filter="fade">
                                      <p:cBhvr>
                                        <p:cTn id="43" dur="500"/>
                                        <p:tgtEl>
                                          <p:spTgt spid="1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2"/>
                                        </p:tgtEl>
                                        <p:attrNameLst>
                                          <p:attrName>style.visibility</p:attrName>
                                        </p:attrNameLst>
                                      </p:cBhvr>
                                      <p:to>
                                        <p:strVal val="visible"/>
                                      </p:to>
                                    </p:set>
                                    <p:animEffect transition="in" filter="fade">
                                      <p:cBhvr>
                                        <p:cTn id="46" dur="500"/>
                                        <p:tgtEl>
                                          <p:spTgt spid="132"/>
                                        </p:tgtEl>
                                      </p:cBhvr>
                                    </p:animEffect>
                                  </p:childTnLst>
                                </p:cTn>
                              </p:par>
                            </p:childTnLst>
                          </p:cTn>
                        </p:par>
                      </p:childTnLst>
                    </p:cTn>
                  </p:par>
                  <p:par>
                    <p:cTn id="67" fill="hold">
                      <p:stCondLst>
                        <p:cond delay="indefinite"/>
                      </p:stCondLst>
                      <p:childTnLst>
                        <p:par>
                          <p:cTn id="55" fill="hold">
                            <p:stCondLst>
                              <p:cond delay="0"/>
                            </p:stCondLst>
                            <p:childTnLst>
                              <p:par>
                                <p:cTn id="49" presetID="10" presetClass="exit" presetSubtype="0" fill="hold" grpId="0" nodeType="clickEffect">
                                  <p:stCondLst>
                                    <p:cond delay="0"/>
                                  </p:stCondLst>
                                  <p:childTnLst>
                                    <p:animEffect transition="out" filter="fade">
                                      <p:cBhvr>
                                        <p:cTn id="50" dur="200"/>
                                        <p:tgtEl>
                                          <p:spTgt spid="132"/>
                                        </p:tgtEl>
                                      </p:cBhvr>
                                    </p:animEffect>
                                    <p:set>
                                      <p:cBhvr>
                                        <p:cTn id="51" dur="1" fill="hold">
                                          <p:stCondLst>
                                            <p:cond delay="199"/>
                                          </p:stCondLst>
                                        </p:cTn>
                                        <p:tgtEl>
                                          <p:spTgt spid="132"/>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127"/>
                                        </p:tgtEl>
                                        <p:attrNameLst>
                                          <p:attrName>style.visibility</p:attrName>
                                        </p:attrNameLst>
                                      </p:cBhvr>
                                      <p:to>
                                        <p:strVal val="visible"/>
                                      </p:to>
                                    </p:set>
                                    <p:animEffect transition="in" filter="fade">
                                      <p:cBhvr>
                                        <p:cTn id="54" dur="500"/>
                                        <p:tgtEl>
                                          <p:spTgt spid="127"/>
                                        </p:tgtEl>
                                      </p:cBhvr>
                                    </p:animEffect>
                                  </p:childTnLst>
                                </p:cTn>
                              </p:par>
                            </p:childTnLst>
                          </p:cTn>
                        </p:par>
                        <p:par>
                          <p:cTn id="59" fill="hold">
                            <p:stCondLst>
                              <p:cond delay="500"/>
                            </p:stCondLst>
                            <p:childTnLst>
                              <p:par>
                                <p:cTn id="56" presetID="10" presetClass="entr" presetSubtype="0" fill="hold" grpId="0" nodeType="afterEffect">
                                  <p:stCondLst>
                                    <p:cond delay="0"/>
                                  </p:stCondLst>
                                  <p:childTnLst>
                                    <p:set>
                                      <p:cBhvr>
                                        <p:cTn id="57" dur="1" fill="hold">
                                          <p:stCondLst>
                                            <p:cond delay="0"/>
                                          </p:stCondLst>
                                        </p:cTn>
                                        <p:tgtEl>
                                          <p:spTgt spid="125"/>
                                        </p:tgtEl>
                                        <p:attrNameLst>
                                          <p:attrName>style.visibility</p:attrName>
                                        </p:attrNameLst>
                                      </p:cBhvr>
                                      <p:to>
                                        <p:strVal val="visible"/>
                                      </p:to>
                                    </p:set>
                                    <p:animEffect transition="in" filter="fade">
                                      <p:cBhvr>
                                        <p:cTn id="58" dur="500"/>
                                        <p:tgtEl>
                                          <p:spTgt spid="125"/>
                                        </p:tgtEl>
                                      </p:cBhvr>
                                    </p:animEffect>
                                  </p:childTnLst>
                                </p:cTn>
                              </p:par>
                            </p:childTnLst>
                          </p:cTn>
                        </p:par>
                        <p:par>
                          <p:cTn id="66" fill="hold">
                            <p:stCondLst>
                              <p:cond delay="1000"/>
                            </p:stCondLst>
                            <p:childTnLst>
                              <p:par>
                                <p:cTn id="60" presetID="10" presetClass="entr" presetSubtype="0" fill="hold" grpId="0" nodeType="afterEffect">
                                  <p:stCondLst>
                                    <p:cond delay="0"/>
                                  </p:stCondLst>
                                  <p:childTnLst>
                                    <p:set>
                                      <p:cBhvr>
                                        <p:cTn id="61" dur="1" fill="hold">
                                          <p:stCondLst>
                                            <p:cond delay="0"/>
                                          </p:stCondLst>
                                        </p:cTn>
                                        <p:tgtEl>
                                          <p:spTgt spid="126"/>
                                        </p:tgtEl>
                                        <p:attrNameLst>
                                          <p:attrName>style.visibility</p:attrName>
                                        </p:attrNameLst>
                                      </p:cBhvr>
                                      <p:to>
                                        <p:strVal val="visible"/>
                                      </p:to>
                                    </p:set>
                                    <p:animEffect transition="in" filter="fade">
                                      <p:cBhvr>
                                        <p:cTn id="62" dur="500"/>
                                        <p:tgtEl>
                                          <p:spTgt spid="12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33"/>
                                        </p:tgtEl>
                                        <p:attrNameLst>
                                          <p:attrName>style.visibility</p:attrName>
                                        </p:attrNameLst>
                                      </p:cBhvr>
                                      <p:to>
                                        <p:strVal val="visible"/>
                                      </p:to>
                                    </p:set>
                                    <p:animEffect transition="in" filter="fade">
                                      <p:cBhvr>
                                        <p:cTn id="65" dur="500"/>
                                        <p:tgtEl>
                                          <p:spTgt spid="133"/>
                                        </p:tgtEl>
                                      </p:cBhvr>
                                    </p:animEffect>
                                  </p:childTnLst>
                                </p:cTn>
                              </p:par>
                            </p:childTnLst>
                          </p:cTn>
                        </p:par>
                      </p:childTnLst>
                    </p:cTn>
                  </p:par>
                  <p:par>
                    <p:cTn id="82" fill="hold">
                      <p:stCondLst>
                        <p:cond delay="indefinite"/>
                      </p:stCondLst>
                      <p:childTnLst>
                        <p:par>
                          <p:cTn id="74" fill="hold">
                            <p:stCondLst>
                              <p:cond delay="0"/>
                            </p:stCondLst>
                            <p:childTnLst>
                              <p:par>
                                <p:cTn id="68" presetID="10" presetClass="exit" presetSubtype="0" fill="hold" grpId="0" nodeType="clickEffect">
                                  <p:stCondLst>
                                    <p:cond delay="0"/>
                                  </p:stCondLst>
                                  <p:childTnLst>
                                    <p:animEffect transition="out" filter="fade">
                                      <p:cBhvr>
                                        <p:cTn id="69" dur="200"/>
                                        <p:tgtEl>
                                          <p:spTgt spid="133"/>
                                        </p:tgtEl>
                                      </p:cBhvr>
                                    </p:animEffect>
                                    <p:set>
                                      <p:cBhvr>
                                        <p:cTn id="70" dur="1" fill="hold">
                                          <p:stCondLst>
                                            <p:cond delay="199"/>
                                          </p:stCondLst>
                                        </p:cTn>
                                        <p:tgtEl>
                                          <p:spTgt spid="133"/>
                                        </p:tgtEl>
                                        <p:attrNameLst>
                                          <p:attrName>style.visibility</p:attrName>
                                        </p:attrNameLst>
                                      </p:cBhvr>
                                      <p:to>
                                        <p:strVal val="hidden"/>
                                      </p:to>
                                    </p:set>
                                  </p:childTnLst>
                                </p:cTn>
                              </p:par>
                              <p:par>
                                <p:cTn id="71" presetID="10" presetClass="entr" presetSubtype="0" fill="hold" grpId="0" nodeType="withEffect">
                                  <p:stCondLst>
                                    <p:cond delay="0"/>
                                  </p:stCondLst>
                                  <p:childTnLst>
                                    <p:set>
                                      <p:cBhvr>
                                        <p:cTn id="72" dur="1" fill="hold">
                                          <p:stCondLst>
                                            <p:cond delay="0"/>
                                          </p:stCondLst>
                                        </p:cTn>
                                        <p:tgtEl>
                                          <p:spTgt spid="129"/>
                                        </p:tgtEl>
                                        <p:attrNameLst>
                                          <p:attrName>style.visibility</p:attrName>
                                        </p:attrNameLst>
                                      </p:cBhvr>
                                      <p:to>
                                        <p:strVal val="visible"/>
                                      </p:to>
                                    </p:set>
                                    <p:animEffect transition="in" filter="fade">
                                      <p:cBhvr>
                                        <p:cTn id="73" dur="500"/>
                                        <p:tgtEl>
                                          <p:spTgt spid="129"/>
                                        </p:tgtEl>
                                      </p:cBhvr>
                                    </p:animEffect>
                                  </p:childTnLst>
                                </p:cTn>
                              </p:par>
                            </p:childTnLst>
                          </p:cTn>
                        </p:par>
                        <p:par>
                          <p:cTn id="81" fill="hold">
                            <p:stCondLst>
                              <p:cond delay="500"/>
                            </p:stCondLst>
                            <p:childTnLst>
                              <p:par>
                                <p:cTn id="75" presetID="10" presetClass="entr" presetSubtype="0" fill="hold" grpId="0" nodeType="afterEffect">
                                  <p:stCondLst>
                                    <p:cond delay="0"/>
                                  </p:stCondLst>
                                  <p:childTnLst>
                                    <p:set>
                                      <p:cBhvr>
                                        <p:cTn id="76" dur="1" fill="hold">
                                          <p:stCondLst>
                                            <p:cond delay="0"/>
                                          </p:stCondLst>
                                        </p:cTn>
                                        <p:tgtEl>
                                          <p:spTgt spid="128"/>
                                        </p:tgtEl>
                                        <p:attrNameLst>
                                          <p:attrName>style.visibility</p:attrName>
                                        </p:attrNameLst>
                                      </p:cBhvr>
                                      <p:to>
                                        <p:strVal val="visible"/>
                                      </p:to>
                                    </p:set>
                                    <p:animEffect transition="in" filter="fade">
                                      <p:cBhvr>
                                        <p:cTn id="77" dur="500"/>
                                        <p:tgtEl>
                                          <p:spTgt spid="128"/>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34"/>
                                        </p:tgtEl>
                                        <p:attrNameLst>
                                          <p:attrName>style.visibility</p:attrName>
                                        </p:attrNameLst>
                                      </p:cBhvr>
                                      <p:to>
                                        <p:strVal val="visible"/>
                                      </p:to>
                                    </p:set>
                                    <p:animEffect transition="in" filter="fade">
                                      <p:cBhvr>
                                        <p:cTn id="80"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118" grpId="0" animBg="1"/>
      <p:bldP spid="130" grpId="0" animBg="1"/>
      <p:bldP spid="121" grpId="0" animBg="1"/>
      <p:bldP spid="120" grpId="0" animBg="1"/>
      <p:bldP spid="131" grpId="0" animBg="1"/>
      <p:bldP spid="124" grpId="0" animBg="1"/>
      <p:bldP spid="122" grpId="0" animBg="1"/>
      <p:bldP spid="123" grpId="0" animBg="1"/>
      <p:bldP spid="132" grpId="0" animBg="1"/>
      <p:bldP spid="127" grpId="0" animBg="1"/>
      <p:bldP spid="125" grpId="0" animBg="1"/>
      <p:bldP spid="126" grpId="0" animBg="1"/>
      <p:bldP spid="133" grpId="0" animBg="1"/>
      <p:bldP spid="129" grpId="0" animBg="1"/>
      <p:bldP spid="128" grpId="0" animBg="1"/>
      <p:bldP spid="134" grpId="0" animBg="1"/>
    </p:bldLst>
  </p:timing>
</p:sld>
</file>

<file path=ppt/slides/slide59.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Balanza hormonal"/>
          <p:cNvGrpSpPr/>
          <p:nvPr/>
        </p:nvGrpSpPr>
        <p:grpSpPr>
          <a:xfrm>
            <a:off x="457200" y="4754880"/>
            <a:ext cx="4754880" cy="1463040"/>
            <a:chOff x="457200" y="4754880"/>
            <a:chExt cx="4754880" cy="1463040"/>
          </a:xfrm>
        </p:grpSpPr>
        <p:sp>
          <p:nvSpPr>
            <p:cNvPr id="5" name="Forma 4"/>
            <p:cNvSpPr/>
            <p:nvPr/>
          </p:nvSpPr>
          <p:spPr>
            <a:xfrm>
              <a:off x="2194560" y="5120640"/>
              <a:ext cx="1280160" cy="1097280"/>
            </a:xfrm>
            <a:prstGeom prst="triangle">
              <a:avLst/>
            </a:prstGeom>
            <a:gradFill rotWithShape="1">
              <a:gsLst>
                <a:gs pos="0">
                  <a:srgbClr val="BC794C"/>
                </a:gs>
                <a:gs pos="55000">
                  <a:srgbClr val="A04000"/>
                </a:gs>
                <a:gs pos="100000">
                  <a:srgbClr val="80330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sp>
        <p:sp>
          <p:nvSpPr>
            <p:cNvPr id="6" name="Forma 5"/>
            <p:cNvSpPr/>
            <p:nvPr/>
          </p:nvSpPr>
          <p:spPr>
            <a:xfrm rot="-720000">
              <a:off x="457200" y="4754880"/>
              <a:ext cx="4754880" cy="164592"/>
            </a:xfrm>
            <a:prstGeom prst="rect">
              <a:avLst/>
            </a:prstGeom>
            <a:solidFill>
              <a:srgbClr val="6E2C00"/>
            </a:solidFill>
            <a:ln w="12700" cap="rnd">
              <a:solidFill>
                <a:srgbClr val="1E1E1E"/>
              </a:solidFill>
              <a:round/>
            </a:ln>
          </p:spPr>
        </p:sp>
      </p:grpSp>
      <p:sp>
        <p:nvSpPr>
          <p:cNvPr id="7" name="Insulina baja"/>
          <p:cNvSpPr/>
          <p:nvPr/>
        </p:nvSpPr>
        <p:spPr>
          <a:xfrm>
            <a:off x="594360" y="3840480"/>
            <a:ext cx="1463040" cy="777240"/>
          </a:xfrm>
          <a:prstGeom prst="roundRect">
            <a:avLst/>
          </a:prstGeom>
          <a:gradFill rotWithShape="1">
            <a:gsLst>
              <a:gs pos="0">
                <a:srgbClr val="6D8BBD"/>
              </a:gs>
              <a:gs pos="55000">
                <a:srgbClr val="1F4E9A"/>
              </a:gs>
              <a:gs pos="100000">
                <a:srgbClr val="183E7B"/>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INSULINA ↓</a:t>
            </a:r>
            <a:endParaRPr lang="es-AR" sz="1500" dirty="0">
              <a:latin typeface="Bahnschrift SemiBold Condensed"/>
            </a:endParaRPr>
          </a:p>
        </p:txBody>
      </p:sp>
      <p:grpSp>
        <p:nvGrpSpPr>
          <p:cNvPr id="8" name="Contrarreguladoras"/>
          <p:cNvGrpSpPr/>
          <p:nvPr/>
        </p:nvGrpSpPr>
        <p:grpSpPr>
          <a:xfrm>
            <a:off x="3291840" y="3291840"/>
            <a:ext cx="1874520" cy="960120"/>
            <a:chOff x="3291840" y="3291840"/>
            <a:chExt cx="1874520" cy="960120"/>
          </a:xfrm>
        </p:grpSpPr>
        <p:sp>
          <p:nvSpPr>
            <p:cNvPr id="9" name="Forma 8"/>
            <p:cNvSpPr/>
            <p:nvPr/>
          </p:nvSpPr>
          <p:spPr>
            <a:xfrm>
              <a:off x="3291840" y="3291840"/>
              <a:ext cx="914400" cy="457200"/>
            </a:xfrm>
            <a:prstGeom prst="roundRect">
              <a:avLst/>
            </a:prstGeom>
            <a:gradFill rotWithShape="1">
              <a:gsLst>
                <a:gs pos="0">
                  <a:srgbClr val="E28F59"/>
                </a:gs>
                <a:gs pos="55000">
                  <a:srgbClr val="D35400"/>
                </a:gs>
                <a:gs pos="100000">
                  <a:srgbClr val="A8430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Glucagón</a:t>
              </a:r>
              <a:endParaRPr lang="es-AR" sz="1200" dirty="0">
                <a:latin typeface="Bahnschrift SemiBold Condensed"/>
              </a:endParaRPr>
            </a:p>
          </p:txBody>
        </p:sp>
        <p:sp>
          <p:nvSpPr>
            <p:cNvPr id="10" name="Forma 9"/>
            <p:cNvSpPr/>
            <p:nvPr/>
          </p:nvSpPr>
          <p:spPr>
            <a:xfrm>
              <a:off x="4251960" y="3291840"/>
              <a:ext cx="914400" cy="457200"/>
            </a:xfrm>
            <a:prstGeom prst="roundRect">
              <a:avLst/>
            </a:prstGeom>
            <a:gradFill rotWithShape="1">
              <a:gsLst>
                <a:gs pos="0">
                  <a:srgbClr val="E28F59"/>
                </a:gs>
                <a:gs pos="55000">
                  <a:srgbClr val="D35400"/>
                </a:gs>
                <a:gs pos="100000">
                  <a:srgbClr val="A8430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Adrenalina</a:t>
              </a:r>
              <a:endParaRPr lang="es-AR" sz="1200" dirty="0">
                <a:latin typeface="Bahnschrift SemiBold Condensed"/>
              </a:endParaRPr>
            </a:p>
          </p:txBody>
        </p:sp>
        <p:sp>
          <p:nvSpPr>
            <p:cNvPr id="11" name="Forma 10"/>
            <p:cNvSpPr/>
            <p:nvPr/>
          </p:nvSpPr>
          <p:spPr>
            <a:xfrm>
              <a:off x="3291840" y="3794760"/>
              <a:ext cx="914400" cy="457200"/>
            </a:xfrm>
            <a:prstGeom prst="roundRect">
              <a:avLst/>
            </a:prstGeom>
            <a:gradFill rotWithShape="1">
              <a:gsLst>
                <a:gs pos="0">
                  <a:srgbClr val="F7BE64"/>
                </a:gs>
                <a:gs pos="55000">
                  <a:srgbClr val="F39C12"/>
                </a:gs>
                <a:gs pos="100000">
                  <a:srgbClr val="C27C0E"/>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Cortisol</a:t>
              </a:r>
              <a:endParaRPr lang="es-AR" sz="1200" dirty="0">
                <a:latin typeface="Bahnschrift SemiBold Condensed"/>
              </a:endParaRPr>
            </a:p>
          </p:txBody>
        </p:sp>
        <p:sp>
          <p:nvSpPr>
            <p:cNvPr id="12" name="Forma 11"/>
            <p:cNvSpPr/>
            <p:nvPr/>
          </p:nvSpPr>
          <p:spPr>
            <a:xfrm>
              <a:off x="4251960" y="3794760"/>
              <a:ext cx="914400" cy="457200"/>
            </a:xfrm>
            <a:prstGeom prst="roundRect">
              <a:avLst/>
            </a:prstGeom>
            <a:gradFill rotWithShape="1">
              <a:gsLst>
                <a:gs pos="0">
                  <a:srgbClr val="F6B473"/>
                </a:gs>
                <a:gs pos="55000">
                  <a:srgbClr val="F28C28"/>
                </a:gs>
                <a:gs pos="100000">
                  <a:srgbClr val="C1702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GH</a:t>
              </a:r>
              <a:endParaRPr lang="es-AR" sz="1200" dirty="0">
                <a:latin typeface="Bahnschrift SemiBold Condensed"/>
              </a:endParaRPr>
            </a:p>
          </p:txBody>
        </p:sp>
      </p:grpSp>
      <p:grpSp>
        <p:nvGrpSpPr>
          <p:cNvPr id="13" name="Recuadro Lipólisis"/>
          <p:cNvGrpSpPr/>
          <p:nvPr/>
        </p:nvGrpSpPr>
        <p:grpSpPr>
          <a:xfrm>
            <a:off x="5760720" y="1005840"/>
            <a:ext cx="6035040" cy="1234440"/>
            <a:chOff x="5760720" y="1005840"/>
            <a:chExt cx="6035040" cy="1234440"/>
          </a:xfrm>
        </p:grpSpPr>
        <p:sp>
          <p:nvSpPr>
            <p:cNvPr id="14" name="Forma 13"/>
            <p:cNvSpPr/>
            <p:nvPr/>
          </p:nvSpPr>
          <p:spPr>
            <a:xfrm>
              <a:off x="5760720" y="1188720"/>
              <a:ext cx="6035040" cy="1051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Adiposo</a:t>
              </a:r>
              <a:r>
                <a:rPr lang="es-AR" sz="1650" dirty="0">
                  <a:solidFill>
                    <a:srgbClr val="1E1E1E"/>
                  </a:solidFill>
                  <a:latin typeface="Bahnschrift"/>
                  <a:ea typeface="Bahnschrift"/>
                  <a:cs typeface="Bahnschrift"/>
                  <a:sym typeface="Bahnschrift"/>
                </a:rPr>
                <a:t>: se libera el freno antilipolítico → </a:t>
              </a:r>
              <a:r>
                <a:rPr lang="es-AR" sz="1650" b="1" dirty="0">
                  <a:solidFill>
                    <a:srgbClr val="1E1E1E"/>
                  </a:solidFill>
                  <a:latin typeface="Bahnschrift"/>
                  <a:ea typeface="Bahnschrift"/>
                  <a:cs typeface="Bahnschrift"/>
                  <a:sym typeface="Bahnschrift"/>
                </a:rPr>
                <a:t>ATGL/HSL</a:t>
              </a:r>
              <a:r>
                <a:rPr lang="es-AR" sz="1650" dirty="0">
                  <a:solidFill>
                    <a:srgbClr val="1E1E1E"/>
                  </a:solidFill>
                  <a:latin typeface="Bahnschrift"/>
                  <a:ea typeface="Bahnschrift"/>
                  <a:cs typeface="Bahnschrift"/>
                  <a:sym typeface="Bahnschrift"/>
                </a:rPr>
                <a:t> activas → AG + glicerol.</a:t>
              </a:r>
              <a:endParaRPr lang="es-AR" sz="1650" dirty="0">
                <a:latin typeface="Bahnschrift"/>
              </a:endParaRPr>
            </a:p>
          </p:txBody>
        </p:sp>
        <p:sp>
          <p:nvSpPr>
            <p:cNvPr id="15" name="Forma 14"/>
            <p:cNvSpPr/>
            <p:nvPr/>
          </p:nvSpPr>
          <p:spPr>
            <a:xfrm>
              <a:off x="5870448" y="1005840"/>
              <a:ext cx="103033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LIPÓLISIS</a:t>
              </a:r>
              <a:endParaRPr lang="es-AR" sz="1500" dirty="0">
                <a:latin typeface="Bahnschrift SemiBold Condensed"/>
              </a:endParaRPr>
            </a:p>
          </p:txBody>
        </p:sp>
      </p:grpSp>
      <p:grpSp>
        <p:nvGrpSpPr>
          <p:cNvPr id="16" name="Recuadro Glucogenólisis"/>
          <p:cNvGrpSpPr/>
          <p:nvPr/>
        </p:nvGrpSpPr>
        <p:grpSpPr>
          <a:xfrm>
            <a:off x="5760720" y="2377440"/>
            <a:ext cx="6035040" cy="1234440"/>
            <a:chOff x="5760720" y="2377440"/>
            <a:chExt cx="6035040" cy="1234440"/>
          </a:xfrm>
        </p:grpSpPr>
        <p:sp>
          <p:nvSpPr>
            <p:cNvPr id="17" name="Forma 16"/>
            <p:cNvSpPr/>
            <p:nvPr/>
          </p:nvSpPr>
          <p:spPr>
            <a:xfrm>
              <a:off x="5760720" y="2560320"/>
              <a:ext cx="6035040" cy="10515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Hígado</a:t>
              </a:r>
              <a:r>
                <a:rPr lang="es-AR" sz="1650" dirty="0">
                  <a:solidFill>
                    <a:srgbClr val="1E1E1E"/>
                  </a:solidFill>
                  <a:latin typeface="Bahnschrift"/>
                  <a:ea typeface="Bahnschrift"/>
                  <a:cs typeface="Bahnschrift"/>
                  <a:sym typeface="Bahnschrift"/>
                </a:rPr>
                <a:t>: PKA → fosforilasa activa; glucógeno sintasa inactiva.</a:t>
              </a:r>
              <a:endParaRPr lang="es-AR" sz="1650" dirty="0">
                <a:latin typeface="Bahnschrift"/>
              </a:endParaRPr>
            </a:p>
          </p:txBody>
        </p:sp>
        <p:sp>
          <p:nvSpPr>
            <p:cNvPr id="18" name="Forma 17"/>
            <p:cNvSpPr/>
            <p:nvPr/>
          </p:nvSpPr>
          <p:spPr>
            <a:xfrm>
              <a:off x="5870448" y="2377440"/>
              <a:ext cx="1566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GLUCOGENÓLISIS</a:t>
              </a:r>
              <a:endParaRPr lang="es-AR" sz="1500" dirty="0">
                <a:latin typeface="Bahnschrift SemiBold Condensed"/>
              </a:endParaRPr>
            </a:p>
          </p:txBody>
        </p:sp>
      </p:grpSp>
      <p:grpSp>
        <p:nvGrpSpPr>
          <p:cNvPr id="19" name="Recuadro Gluconeogénesis"/>
          <p:cNvGrpSpPr/>
          <p:nvPr/>
        </p:nvGrpSpPr>
        <p:grpSpPr>
          <a:xfrm>
            <a:off x="5760720" y="3749040"/>
            <a:ext cx="6035040" cy="1234440"/>
            <a:chOff x="5760720" y="3749040"/>
            <a:chExt cx="6035040" cy="1234440"/>
          </a:xfrm>
        </p:grpSpPr>
        <p:sp>
          <p:nvSpPr>
            <p:cNvPr id="20" name="Forma 19"/>
            <p:cNvSpPr/>
            <p:nvPr/>
          </p:nvSpPr>
          <p:spPr>
            <a:xfrm>
              <a:off x="5760720" y="3931920"/>
              <a:ext cx="6035040" cy="10515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Hígado</a:t>
              </a:r>
              <a:r>
                <a:rPr lang="es-AR" sz="1650" dirty="0">
                  <a:solidFill>
                    <a:srgbClr val="1E1E1E"/>
                  </a:solidFill>
                  <a:latin typeface="Bahnschrift"/>
                  <a:ea typeface="Bahnschrift"/>
                  <a:cs typeface="Bahnschrift"/>
                  <a:sym typeface="Bahnschrift"/>
                </a:rPr>
                <a:t> (y riñón): ↓ F2,6BP, ↑ PEPCK/G6Pasa (CREB, FOXO1, GR).</a:t>
              </a:r>
              <a:endParaRPr lang="es-AR" sz="1650" dirty="0">
                <a:latin typeface="Bahnschrift"/>
              </a:endParaRPr>
            </a:p>
          </p:txBody>
        </p:sp>
        <p:sp>
          <p:nvSpPr>
            <p:cNvPr id="21" name="Forma 20"/>
            <p:cNvSpPr/>
            <p:nvPr/>
          </p:nvSpPr>
          <p:spPr>
            <a:xfrm>
              <a:off x="5870448" y="3749040"/>
              <a:ext cx="171524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GLUCONEOGÉNESIS</a:t>
              </a:r>
              <a:endParaRPr lang="es-AR" sz="1500" dirty="0">
                <a:latin typeface="Bahnschrift SemiBold Condensed"/>
              </a:endParaRPr>
            </a:p>
          </p:txBody>
        </p:sp>
      </p:grpSp>
      <p:grpSp>
        <p:nvGrpSpPr>
          <p:cNvPr id="22" name="Recuadro Proteólisis y ahorro de g"/>
          <p:cNvGrpSpPr/>
          <p:nvPr/>
        </p:nvGrpSpPr>
        <p:grpSpPr>
          <a:xfrm>
            <a:off x="5760720" y="5120640"/>
            <a:ext cx="6035040" cy="1371600"/>
            <a:chOff x="5760720" y="5120640"/>
            <a:chExt cx="6035040" cy="1371600"/>
          </a:xfrm>
        </p:grpSpPr>
        <p:sp>
          <p:nvSpPr>
            <p:cNvPr id="23" name="Forma 22"/>
            <p:cNvSpPr/>
            <p:nvPr/>
          </p:nvSpPr>
          <p:spPr>
            <a:xfrm>
              <a:off x="5760720" y="5303520"/>
              <a:ext cx="6035040" cy="11887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Músculo</a:t>
              </a:r>
              <a:r>
                <a:rPr lang="es-AR" sz="1650" dirty="0">
                  <a:solidFill>
                    <a:srgbClr val="1E1E1E"/>
                  </a:solidFill>
                  <a:latin typeface="Bahnschrift"/>
                  <a:ea typeface="Bahnschrift"/>
                  <a:cs typeface="Bahnschrift"/>
                  <a:sym typeface="Bahnschrift"/>
                </a:rPr>
                <a:t>: ↓ captación de glucosa; ↑ uso de AG; exporta </a:t>
              </a:r>
              <a:r>
                <a:rPr lang="es-AR" sz="1650" b="1" dirty="0">
                  <a:solidFill>
                    <a:srgbClr val="1E1E1E"/>
                  </a:solidFill>
                  <a:latin typeface="Bahnschrift"/>
                  <a:ea typeface="Bahnschrift"/>
                  <a:cs typeface="Bahnschrift"/>
                  <a:sym typeface="Bahnschrift"/>
                </a:rPr>
                <a:t>alanina y glutamina</a:t>
              </a:r>
              <a:r>
                <a:rPr lang="es-AR" sz="1650" dirty="0">
                  <a:solidFill>
                    <a:srgbClr val="1E1E1E"/>
                  </a:solidFill>
                  <a:latin typeface="Bahnschrift"/>
                  <a:ea typeface="Bahnschrift"/>
                  <a:cs typeface="Bahnschrift"/>
                  <a:sym typeface="Bahnschrift"/>
                </a:rPr>
                <a:t> (proteólisis según la fase).</a:t>
              </a:r>
              <a:endParaRPr lang="es-AR" sz="1650" dirty="0">
                <a:latin typeface="Bahnschrift"/>
              </a:endParaRPr>
            </a:p>
          </p:txBody>
        </p:sp>
        <p:sp>
          <p:nvSpPr>
            <p:cNvPr id="24" name="Forma 23"/>
            <p:cNvSpPr/>
            <p:nvPr/>
          </p:nvSpPr>
          <p:spPr>
            <a:xfrm>
              <a:off x="5870448" y="5120640"/>
              <a:ext cx="29946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PROTEÓLISIS Y AHORRO DE GLUCOSA</a:t>
              </a:r>
              <a:endParaRPr lang="es-AR" sz="1500" dirty="0">
                <a:latin typeface="Bahnschrift SemiBold Condensed"/>
              </a:endParaRPr>
            </a:p>
          </p:txBody>
        </p:sp>
      </p:grpSp>
      <p:sp>
        <p:nvSpPr>
          <p:cNvPr id="25" name="Forma 24"/>
          <p:cNvSpPr/>
          <p:nvPr/>
        </p:nvSpPr>
        <p:spPr>
          <a:xfrm>
            <a:off x="457200" y="1051560"/>
            <a:ext cx="4937760" cy="19202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No es «encender» una hormona: es el </a:t>
            </a:r>
            <a:r>
              <a:rPr lang="es-AR" sz="1700" b="1" dirty="0">
                <a:solidFill>
                  <a:srgbClr val="1E1E1E"/>
                </a:solidFill>
                <a:latin typeface="Bahnschrift"/>
                <a:ea typeface="Bahnschrift"/>
                <a:cs typeface="Bahnschrift"/>
                <a:sym typeface="Bahnschrift"/>
              </a:rPr>
              <a:t>cambio de la relación insulina/contrarreguladoras</a:t>
            </a:r>
            <a:r>
              <a:rPr lang="es-AR" sz="1700" dirty="0">
                <a:solidFill>
                  <a:srgbClr val="1E1E1E"/>
                </a:solidFill>
                <a:latin typeface="Bahnschrift"/>
                <a:ea typeface="Bahnschrift"/>
                <a:cs typeface="Bahnschrift"/>
                <a:sym typeface="Bahnschrift"/>
              </a:rPr>
              <a:t>. La insulina residual sigue frenando la lipólisis y la cetogénesis extremas.</a:t>
            </a:r>
            <a:endParaRPr lang="es-AR" sz="17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11686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DESCENSO DE INSULINA E INCREMENTO CONTRARREGULADOR</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59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5"/>
                                        </p:tgtEl>
                                        <p:attrNameLst>
                                          <p:attrName>style.visibility</p:attrName>
                                        </p:attrNameLst>
                                      </p:cBhvr>
                                      <p:to>
                                        <p:strVal val="visible"/>
                                      </p:to>
                                    </p:set>
                                    <p:animEffect transition="in" filter="fade">
                                      <p:cBhvr>
                                        <p:cTn id="5" dur="500"/>
                                        <p:tgtEl>
                                          <p:spTgt spid="25"/>
                                        </p:tgtEl>
                                      </p:cBhvr>
                                    </p:animEffect>
                                  </p:childTnLst>
                                </p:cTn>
                              </p:par>
                            </p:childTnLst>
                          </p:cTn>
                        </p:par>
                      </p:childTnLst>
                    </p:cTn>
                  </p:par>
                  <p:par>
                    <p:cTn id="20"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5"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childTnLst>
                          </p:cTn>
                        </p:par>
                        <p:par>
                          <p:cTn id="19"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25" fill="hold">
                      <p:stCondLst>
                        <p:cond delay="indefinite"/>
                      </p:stCondLst>
                      <p:childTnLst>
                        <p:par>
                          <p:cTn id="24"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childTnLst>
                    </p:cTn>
                  </p:par>
                  <p:par>
                    <p:cTn id="30"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35" fill="hold">
                      <p:stCondLst>
                        <p:cond delay="indefinite"/>
                      </p:stCondLst>
                      <p:childTnLst>
                        <p:par>
                          <p:cTn id="34"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par>
                    <p:cTn id="40" fill="hold">
                      <p:stCondLst>
                        <p:cond delay="indefinite"/>
                      </p:stCondLst>
                      <p:childTnLst>
                        <p:par>
                          <p:cTn id="39"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7" grpId="0" animBg="1"/>
    </p:bldLst>
  </p:timing>
</p:sld>
</file>

<file path=ppt/slides/slide60.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Forma 3"/>
          <p:cNvSpPr/>
          <p:nvPr/>
        </p:nvSpPr>
        <p:spPr>
          <a:xfrm>
            <a:off x="365760" y="1097280"/>
            <a:ext cx="3840480" cy="7315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Glucagón → GCGR</a:t>
            </a:r>
            <a:endParaRPr lang="es-AR" sz="1500" dirty="0">
              <a:latin typeface="Bahnschrift"/>
            </a:endParaRPr>
          </a:p>
        </p:txBody>
      </p:sp>
      <p:sp>
        <p:nvSpPr>
          <p:cNvPr id="5" name="Flecha 4_2"/>
          <p:cNvSpPr/>
          <p:nvPr/>
        </p:nvSpPr>
        <p:spPr>
          <a:xfrm>
            <a:off x="2286000" y="1856232"/>
            <a:ext cx="9144" cy="146304"/>
          </a:xfrm>
          <a:custGeom>
            <a:avLst/>
            <a:gdLst/>
            <a:ahLst/>
            <a:cxnLst/>
            <a:rect l="0" t="0" r="r" b="b"/>
            <a:pathLst>
              <a:path w="10" h="160" fill="none">
                <a:moveTo>
                  <a:pt x="0" y="0"/>
                </a:moveTo>
                <a:lnTo>
                  <a:pt x="0" y="160"/>
                </a:lnTo>
              </a:path>
            </a:pathLst>
          </a:custGeom>
          <a:noFill/>
          <a:ln w="31750" cap="rnd">
            <a:solidFill>
              <a:srgbClr val="1E8C3A"/>
            </a:solidFill>
            <a:round/>
            <a:tailEnd type="triangle" w="med" len="med"/>
          </a:ln>
        </p:spPr>
      </p:sp>
      <p:sp>
        <p:nvSpPr>
          <p:cNvPr id="6" name="Forma 6"/>
          <p:cNvSpPr/>
          <p:nvPr/>
        </p:nvSpPr>
        <p:spPr>
          <a:xfrm>
            <a:off x="365760" y="2029968"/>
            <a:ext cx="3840480" cy="7315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Gs → adenilato ciclasa</a:t>
            </a:r>
            <a:endParaRPr lang="es-AR" sz="1500" dirty="0">
              <a:latin typeface="Bahnschrift"/>
            </a:endParaRPr>
          </a:p>
        </p:txBody>
      </p:sp>
      <p:sp>
        <p:nvSpPr>
          <p:cNvPr id="7" name="Flecha 7_2"/>
          <p:cNvSpPr/>
          <p:nvPr/>
        </p:nvSpPr>
        <p:spPr>
          <a:xfrm>
            <a:off x="2286000" y="2788920"/>
            <a:ext cx="9144" cy="146304"/>
          </a:xfrm>
          <a:custGeom>
            <a:avLst/>
            <a:gdLst/>
            <a:ahLst/>
            <a:cxnLst/>
            <a:rect l="0" t="0" r="r" b="b"/>
            <a:pathLst>
              <a:path w="10" h="160" fill="none">
                <a:moveTo>
                  <a:pt x="0" y="0"/>
                </a:moveTo>
                <a:lnTo>
                  <a:pt x="0" y="160"/>
                </a:lnTo>
              </a:path>
            </a:pathLst>
          </a:custGeom>
          <a:noFill/>
          <a:ln w="31750" cap="rnd">
            <a:solidFill>
              <a:srgbClr val="1E8C3A"/>
            </a:solidFill>
            <a:round/>
            <a:tailEnd type="triangle" w="med" len="med"/>
          </a:ln>
        </p:spPr>
      </p:sp>
      <p:sp>
        <p:nvSpPr>
          <p:cNvPr id="8" name="Forma 9"/>
          <p:cNvSpPr/>
          <p:nvPr/>
        </p:nvSpPr>
        <p:spPr>
          <a:xfrm>
            <a:off x="365760" y="2962656"/>
            <a:ext cx="3840480" cy="73152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AMPc ↑</a:t>
            </a:r>
            <a:endParaRPr lang="es-AR" sz="1500" dirty="0">
              <a:latin typeface="Bahnschrift"/>
            </a:endParaRPr>
          </a:p>
        </p:txBody>
      </p:sp>
      <p:sp>
        <p:nvSpPr>
          <p:cNvPr id="9" name="Flecha 10_2"/>
          <p:cNvSpPr/>
          <p:nvPr/>
        </p:nvSpPr>
        <p:spPr>
          <a:xfrm>
            <a:off x="2286000" y="3721608"/>
            <a:ext cx="9144" cy="146304"/>
          </a:xfrm>
          <a:custGeom>
            <a:avLst/>
            <a:gdLst/>
            <a:ahLst/>
            <a:cxnLst/>
            <a:rect l="0" t="0" r="r" b="b"/>
            <a:pathLst>
              <a:path w="10" h="159" fill="none">
                <a:moveTo>
                  <a:pt x="0" y="0"/>
                </a:moveTo>
                <a:lnTo>
                  <a:pt x="0" y="159"/>
                </a:lnTo>
              </a:path>
            </a:pathLst>
          </a:custGeom>
          <a:noFill/>
          <a:ln w="31750" cap="rnd">
            <a:solidFill>
              <a:srgbClr val="1E8C3A"/>
            </a:solidFill>
            <a:round/>
            <a:tailEnd type="triangle" w="med" len="med"/>
          </a:ln>
        </p:spPr>
      </p:sp>
      <p:sp>
        <p:nvSpPr>
          <p:cNvPr id="10" name="Forma 12"/>
          <p:cNvSpPr/>
          <p:nvPr/>
        </p:nvSpPr>
        <p:spPr>
          <a:xfrm>
            <a:off x="365760" y="3895344"/>
            <a:ext cx="3840480" cy="7315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PKA activa</a:t>
            </a:r>
            <a:endParaRPr lang="es-AR" sz="1500" dirty="0">
              <a:latin typeface="Bahnschrift"/>
            </a:endParaRPr>
          </a:p>
        </p:txBody>
      </p:sp>
      <p:sp>
        <p:nvSpPr>
          <p:cNvPr id="11" name="Flecha 13_2"/>
          <p:cNvSpPr/>
          <p:nvPr/>
        </p:nvSpPr>
        <p:spPr>
          <a:xfrm>
            <a:off x="2286000" y="4654296"/>
            <a:ext cx="9144" cy="146304"/>
          </a:xfrm>
          <a:custGeom>
            <a:avLst/>
            <a:gdLst/>
            <a:ahLst/>
            <a:cxnLst/>
            <a:rect l="0" t="0" r="r" b="b"/>
            <a:pathLst>
              <a:path w="10" h="159" fill="none">
                <a:moveTo>
                  <a:pt x="0" y="0"/>
                </a:moveTo>
                <a:lnTo>
                  <a:pt x="0" y="159"/>
                </a:lnTo>
              </a:path>
            </a:pathLst>
          </a:custGeom>
          <a:noFill/>
          <a:ln w="31750" cap="rnd">
            <a:solidFill>
              <a:srgbClr val="1E8C3A"/>
            </a:solidFill>
            <a:round/>
            <a:tailEnd type="triangle" w="med" len="med"/>
          </a:ln>
        </p:spPr>
      </p:sp>
      <p:sp>
        <p:nvSpPr>
          <p:cNvPr id="12" name="Forma 15"/>
          <p:cNvSpPr/>
          <p:nvPr/>
        </p:nvSpPr>
        <p:spPr>
          <a:xfrm>
            <a:off x="365760" y="4828032"/>
            <a:ext cx="3840480" cy="7315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Fosforilasa cinasa</a:t>
            </a:r>
            <a:endParaRPr lang="es-AR" sz="1500" dirty="0">
              <a:latin typeface="Bahnschrift"/>
            </a:endParaRPr>
          </a:p>
        </p:txBody>
      </p:sp>
      <p:sp>
        <p:nvSpPr>
          <p:cNvPr id="13" name="Flecha 16_2"/>
          <p:cNvSpPr/>
          <p:nvPr/>
        </p:nvSpPr>
        <p:spPr>
          <a:xfrm>
            <a:off x="2286000" y="5586984"/>
            <a:ext cx="9144" cy="146304"/>
          </a:xfrm>
          <a:custGeom>
            <a:avLst/>
            <a:gdLst/>
            <a:ahLst/>
            <a:cxnLst/>
            <a:rect l="0" t="0" r="r" b="b"/>
            <a:pathLst>
              <a:path w="10" h="159" fill="none">
                <a:moveTo>
                  <a:pt x="0" y="0"/>
                </a:moveTo>
                <a:lnTo>
                  <a:pt x="0" y="159"/>
                </a:lnTo>
              </a:path>
            </a:pathLst>
          </a:custGeom>
          <a:noFill/>
          <a:ln w="31750" cap="rnd">
            <a:solidFill>
              <a:srgbClr val="1E8C3A"/>
            </a:solidFill>
            <a:round/>
            <a:tailEnd type="triangle" w="med" len="med"/>
          </a:ln>
        </p:spPr>
      </p:sp>
      <p:sp>
        <p:nvSpPr>
          <p:cNvPr id="14" name="Forma 18"/>
          <p:cNvSpPr/>
          <p:nvPr/>
        </p:nvSpPr>
        <p:spPr>
          <a:xfrm>
            <a:off x="365760" y="5760720"/>
            <a:ext cx="3840480" cy="731520"/>
          </a:xfrm>
          <a:prstGeom prst="rect">
            <a:avLst/>
          </a:prstGeom>
          <a:solidFill>
            <a:srgbClr val="1E8C3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500" dirty="0">
                <a:solidFill>
                  <a:srgbClr val="FFFFFF"/>
                </a:solidFill>
                <a:latin typeface="Bahnschrift"/>
                <a:ea typeface="Bahnschrift"/>
                <a:cs typeface="Bahnschrift"/>
                <a:sym typeface="Bahnschrift"/>
              </a:rPr>
              <a:t>Glucógeno fosforilasa </a:t>
            </a:r>
            <a:r>
              <a:rPr lang="es-AR" sz="1500" b="1" dirty="0">
                <a:solidFill>
                  <a:srgbClr val="FFFFFF"/>
                </a:solidFill>
                <a:latin typeface="Bahnschrift"/>
                <a:ea typeface="Bahnschrift"/>
                <a:cs typeface="Bahnschrift"/>
                <a:sym typeface="Bahnschrift"/>
              </a:rPr>
              <a:t>a</a:t>
            </a:r>
            <a:endParaRPr lang="es-AR" sz="1500" dirty="0">
              <a:latin typeface="Bahnschrift"/>
            </a:endParaRPr>
          </a:p>
        </p:txBody>
      </p:sp>
      <p:sp>
        <p:nvSpPr>
          <p:cNvPr id="15" name="GS inhibida"/>
          <p:cNvSpPr/>
          <p:nvPr/>
        </p:nvSpPr>
        <p:spPr>
          <a:xfrm>
            <a:off x="4526280" y="3931920"/>
            <a:ext cx="3291840" cy="12344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PKA también </a:t>
            </a:r>
            <a:r>
              <a:rPr lang="es-AR" sz="1650" b="1" dirty="0">
                <a:solidFill>
                  <a:srgbClr val="1E1E1E"/>
                </a:solidFill>
                <a:latin typeface="Bahnschrift"/>
                <a:ea typeface="Bahnschrift"/>
                <a:cs typeface="Bahnschrift"/>
                <a:sym typeface="Bahnschrift"/>
              </a:rPr>
              <a:t>fosforila e inhibe la glucógeno sintasa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grpSp>
        <p:nvGrpSpPr>
          <p:cNvPr id="16" name="PKA inhibe GS"/>
          <p:cNvGrpSpPr/>
          <p:nvPr/>
        </p:nvGrpSpPr>
        <p:grpSpPr>
          <a:xfrm>
            <a:off x="4251960" y="3611880"/>
            <a:ext cx="728336" cy="411188"/>
            <a:chOff x="4251960" y="3611880"/>
            <a:chExt cx="728336" cy="411188"/>
          </a:xfrm>
        </p:grpSpPr>
        <p:sp>
          <p:nvSpPr>
            <p:cNvPr id="17" name="Flecha 21_2"/>
            <p:cNvSpPr/>
            <p:nvPr/>
          </p:nvSpPr>
          <p:spPr>
            <a:xfrm>
              <a:off x="4251960" y="3611880"/>
              <a:ext cx="685800" cy="320040"/>
            </a:xfrm>
            <a:custGeom>
              <a:avLst/>
              <a:gdLst/>
              <a:ahLst/>
              <a:cxnLst/>
              <a:rect l="0" t="0" r="r" b="b"/>
              <a:pathLst>
                <a:path w="750" h="349" fill="none">
                  <a:moveTo>
                    <a:pt x="0" y="0"/>
                  </a:moveTo>
                  <a:lnTo>
                    <a:pt x="750" y="349"/>
                  </a:lnTo>
                </a:path>
              </a:pathLst>
            </a:custGeom>
            <a:noFill/>
            <a:ln w="31750" cap="rnd">
              <a:solidFill>
                <a:srgbClr val="C00000"/>
              </a:solidFill>
              <a:round/>
            </a:ln>
          </p:spPr>
        </p:sp>
        <p:sp>
          <p:nvSpPr>
            <p:cNvPr id="18" name="Flecha 23_2"/>
            <p:cNvSpPr/>
            <p:nvPr/>
          </p:nvSpPr>
          <p:spPr>
            <a:xfrm>
              <a:off x="4895224" y="3840772"/>
              <a:ext cx="85071" cy="182295"/>
            </a:xfrm>
            <a:custGeom>
              <a:avLst/>
              <a:gdLst/>
              <a:ahLst/>
              <a:cxnLst/>
              <a:rect l="0" t="0" r="r" b="b"/>
              <a:pathLst>
                <a:path w="93" h="199" fill="none">
                  <a:moveTo>
                    <a:pt x="93" y="0"/>
                  </a:moveTo>
                  <a:lnTo>
                    <a:pt x="0" y="199"/>
                  </a:lnTo>
                </a:path>
              </a:pathLst>
            </a:custGeom>
            <a:noFill/>
            <a:ln w="50800" cap="rnd">
              <a:solidFill>
                <a:srgbClr val="C00000"/>
              </a:solidFill>
              <a:round/>
            </a:ln>
          </p:spPr>
        </p:sp>
      </p:grpSp>
      <p:grpSp>
        <p:nvGrpSpPr>
          <p:cNvPr id="19" name="Recuadro Amplificación"/>
          <p:cNvGrpSpPr/>
          <p:nvPr/>
        </p:nvGrpSpPr>
        <p:grpSpPr>
          <a:xfrm>
            <a:off x="4526280" y="1097280"/>
            <a:ext cx="3291840" cy="2560320"/>
            <a:chOff x="4526280" y="1097280"/>
            <a:chExt cx="3291840" cy="2560320"/>
          </a:xfrm>
        </p:grpSpPr>
        <p:sp>
          <p:nvSpPr>
            <p:cNvPr id="20" name="Forma 26"/>
            <p:cNvSpPr/>
            <p:nvPr/>
          </p:nvSpPr>
          <p:spPr>
            <a:xfrm>
              <a:off x="4526280" y="1280160"/>
              <a:ext cx="3291840" cy="23774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Cada nivel </a:t>
              </a:r>
              <a:r>
                <a:rPr lang="es-AR" sz="1700" b="1" dirty="0">
                  <a:solidFill>
                    <a:srgbClr val="1E1E1E"/>
                  </a:solidFill>
                  <a:latin typeface="Bahnschrift"/>
                  <a:ea typeface="Bahnschrift"/>
                  <a:cs typeface="Bahnschrift"/>
                  <a:sym typeface="Bahnschrift"/>
                </a:rPr>
                <a:t>multiplica</a:t>
              </a:r>
              <a:r>
                <a:rPr lang="es-AR" sz="1700" dirty="0">
                  <a:solidFill>
                    <a:srgbClr val="1E1E1E"/>
                  </a:solidFill>
                  <a:latin typeface="Bahnschrift"/>
                  <a:ea typeface="Bahnschrift"/>
                  <a:cs typeface="Bahnschrift"/>
                  <a:sym typeface="Bahnschrift"/>
                </a:rPr>
                <a:t> la señal: pocas moléculas de glucagón activan muchísimas moléculas de fosforilasa.</a:t>
              </a:r>
              <a:endParaRPr lang="es-AR" sz="1700" dirty="0">
                <a:latin typeface="Bahnschrift"/>
              </a:endParaRPr>
            </a:p>
          </p:txBody>
        </p:sp>
        <p:sp>
          <p:nvSpPr>
            <p:cNvPr id="21" name="Forma 27"/>
            <p:cNvSpPr/>
            <p:nvPr/>
          </p:nvSpPr>
          <p:spPr>
            <a:xfrm>
              <a:off x="4636008" y="1097280"/>
              <a:ext cx="149287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AMPLIFICACIÓN</a:t>
              </a:r>
              <a:endParaRPr lang="es-AR" sz="1550" dirty="0">
                <a:latin typeface="Bahnschrift SemiBold Condensed"/>
              </a:endParaRPr>
            </a:p>
          </p:txBody>
        </p:sp>
      </p:grpSp>
      <p:sp>
        <p:nvSpPr>
          <p:cNvPr id="22" name="Gránulos de glucógeno"/>
          <p:cNvSpPr/>
          <p:nvPr/>
        </p:nvSpPr>
        <p:spPr>
          <a:xfrm>
            <a:off x="8229600" y="1188720"/>
            <a:ext cx="3474720" cy="2286000"/>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moveTo>
                  <a:pt x="424" y="854"/>
                </a:moveTo>
                <a:cubicBezTo>
                  <a:pt x="424" y="874"/>
                  <a:pt x="406" y="892"/>
                  <a:pt x="386" y="892"/>
                </a:cubicBezTo>
                <a:cubicBezTo>
                  <a:pt x="365" y="892"/>
                  <a:pt x="348" y="874"/>
                  <a:pt x="348" y="854"/>
                </a:cubicBezTo>
                <a:cubicBezTo>
                  <a:pt x="348" y="833"/>
                  <a:pt x="365" y="816"/>
                  <a:pt x="386" y="816"/>
                </a:cubicBezTo>
                <a:cubicBezTo>
                  <a:pt x="406" y="816"/>
                  <a:pt x="424" y="833"/>
                  <a:pt x="424" y="854"/>
                </a:cubicBezTo>
                <a:close/>
                <a:moveTo>
                  <a:pt x="391" y="912"/>
                </a:moveTo>
                <a:cubicBezTo>
                  <a:pt x="391" y="932"/>
                  <a:pt x="373" y="950"/>
                  <a:pt x="353" y="950"/>
                </a:cubicBezTo>
                <a:cubicBezTo>
                  <a:pt x="332" y="950"/>
                  <a:pt x="315" y="932"/>
                  <a:pt x="315" y="912"/>
                </a:cubicBezTo>
                <a:cubicBezTo>
                  <a:pt x="315" y="891"/>
                  <a:pt x="332" y="874"/>
                  <a:pt x="353" y="874"/>
                </a:cubicBezTo>
                <a:cubicBezTo>
                  <a:pt x="373" y="874"/>
                  <a:pt x="391" y="891"/>
                  <a:pt x="391" y="912"/>
                </a:cubicBezTo>
                <a:close/>
                <a:moveTo>
                  <a:pt x="324" y="917"/>
                </a:moveTo>
                <a:cubicBezTo>
                  <a:pt x="324" y="937"/>
                  <a:pt x="306" y="955"/>
                  <a:pt x="286" y="955"/>
                </a:cubicBezTo>
                <a:cubicBezTo>
                  <a:pt x="265" y="955"/>
                  <a:pt x="248" y="937"/>
                  <a:pt x="248" y="917"/>
                </a:cubicBezTo>
                <a:cubicBezTo>
                  <a:pt x="248" y="896"/>
                  <a:pt x="265" y="879"/>
                  <a:pt x="286" y="879"/>
                </a:cubicBezTo>
                <a:cubicBezTo>
                  <a:pt x="306" y="879"/>
                  <a:pt x="324" y="896"/>
                  <a:pt x="324" y="917"/>
                </a:cubicBezTo>
                <a:close/>
                <a:moveTo>
                  <a:pt x="284" y="863"/>
                </a:moveTo>
                <a:cubicBezTo>
                  <a:pt x="284" y="883"/>
                  <a:pt x="266" y="901"/>
                  <a:pt x="246" y="901"/>
                </a:cubicBezTo>
                <a:cubicBezTo>
                  <a:pt x="225" y="901"/>
                  <a:pt x="208" y="883"/>
                  <a:pt x="208" y="863"/>
                </a:cubicBezTo>
                <a:cubicBezTo>
                  <a:pt x="208" y="842"/>
                  <a:pt x="225" y="825"/>
                  <a:pt x="246" y="825"/>
                </a:cubicBezTo>
                <a:cubicBezTo>
                  <a:pt x="266" y="825"/>
                  <a:pt x="284" y="842"/>
                  <a:pt x="284" y="863"/>
                </a:cubicBezTo>
                <a:close/>
                <a:moveTo>
                  <a:pt x="308" y="801"/>
                </a:moveTo>
                <a:cubicBezTo>
                  <a:pt x="308" y="821"/>
                  <a:pt x="290" y="839"/>
                  <a:pt x="270" y="839"/>
                </a:cubicBezTo>
                <a:cubicBezTo>
                  <a:pt x="249" y="839"/>
                  <a:pt x="232" y="821"/>
                  <a:pt x="232" y="801"/>
                </a:cubicBezTo>
                <a:cubicBezTo>
                  <a:pt x="232" y="780"/>
                  <a:pt x="249" y="763"/>
                  <a:pt x="270" y="763"/>
                </a:cubicBezTo>
                <a:cubicBezTo>
                  <a:pt x="290" y="763"/>
                  <a:pt x="308" y="780"/>
                  <a:pt x="308" y="801"/>
                </a:cubicBezTo>
                <a:close/>
                <a:moveTo>
                  <a:pt x="373" y="786"/>
                </a:moveTo>
                <a:cubicBezTo>
                  <a:pt x="373" y="806"/>
                  <a:pt x="355" y="824"/>
                  <a:pt x="335" y="824"/>
                </a:cubicBezTo>
                <a:cubicBezTo>
                  <a:pt x="314" y="824"/>
                  <a:pt x="297" y="806"/>
                  <a:pt x="297" y="786"/>
                </a:cubicBezTo>
                <a:cubicBezTo>
                  <a:pt x="297" y="765"/>
                  <a:pt x="314" y="748"/>
                  <a:pt x="335" y="748"/>
                </a:cubicBezTo>
                <a:cubicBezTo>
                  <a:pt x="355" y="748"/>
                  <a:pt x="373" y="765"/>
                  <a:pt x="373" y="786"/>
                </a:cubicBezTo>
                <a:close/>
                <a:moveTo>
                  <a:pt x="709" y="673"/>
                </a:moveTo>
                <a:cubicBezTo>
                  <a:pt x="709" y="693"/>
                  <a:pt x="691" y="711"/>
                  <a:pt x="671" y="711"/>
                </a:cubicBezTo>
                <a:cubicBezTo>
                  <a:pt x="650" y="711"/>
                  <a:pt x="633" y="693"/>
                  <a:pt x="633" y="673"/>
                </a:cubicBezTo>
                <a:cubicBezTo>
                  <a:pt x="633" y="652"/>
                  <a:pt x="650" y="635"/>
                  <a:pt x="671" y="635"/>
                </a:cubicBezTo>
                <a:cubicBezTo>
                  <a:pt x="691" y="635"/>
                  <a:pt x="709" y="652"/>
                  <a:pt x="709" y="673"/>
                </a:cubicBezTo>
                <a:close/>
                <a:moveTo>
                  <a:pt x="676" y="731"/>
                </a:moveTo>
                <a:cubicBezTo>
                  <a:pt x="676" y="751"/>
                  <a:pt x="658" y="769"/>
                  <a:pt x="638" y="769"/>
                </a:cubicBezTo>
                <a:cubicBezTo>
                  <a:pt x="617" y="769"/>
                  <a:pt x="600" y="751"/>
                  <a:pt x="600" y="731"/>
                </a:cubicBezTo>
                <a:cubicBezTo>
                  <a:pt x="600" y="710"/>
                  <a:pt x="617" y="693"/>
                  <a:pt x="638" y="693"/>
                </a:cubicBezTo>
                <a:cubicBezTo>
                  <a:pt x="658" y="693"/>
                  <a:pt x="676" y="710"/>
                  <a:pt x="676" y="731"/>
                </a:cubicBezTo>
                <a:close/>
                <a:moveTo>
                  <a:pt x="609" y="736"/>
                </a:moveTo>
                <a:cubicBezTo>
                  <a:pt x="609" y="756"/>
                  <a:pt x="591" y="774"/>
                  <a:pt x="571" y="774"/>
                </a:cubicBezTo>
                <a:cubicBezTo>
                  <a:pt x="550" y="774"/>
                  <a:pt x="533" y="756"/>
                  <a:pt x="533" y="736"/>
                </a:cubicBezTo>
                <a:cubicBezTo>
                  <a:pt x="533" y="715"/>
                  <a:pt x="550" y="698"/>
                  <a:pt x="571" y="698"/>
                </a:cubicBezTo>
                <a:cubicBezTo>
                  <a:pt x="591" y="698"/>
                  <a:pt x="609" y="715"/>
                  <a:pt x="609" y="736"/>
                </a:cubicBezTo>
                <a:close/>
                <a:moveTo>
                  <a:pt x="569" y="682"/>
                </a:moveTo>
                <a:cubicBezTo>
                  <a:pt x="569" y="702"/>
                  <a:pt x="551" y="720"/>
                  <a:pt x="531" y="720"/>
                </a:cubicBezTo>
                <a:cubicBezTo>
                  <a:pt x="510" y="720"/>
                  <a:pt x="493" y="702"/>
                  <a:pt x="493" y="682"/>
                </a:cubicBezTo>
                <a:cubicBezTo>
                  <a:pt x="493" y="661"/>
                  <a:pt x="510" y="644"/>
                  <a:pt x="531" y="644"/>
                </a:cubicBezTo>
                <a:cubicBezTo>
                  <a:pt x="551" y="644"/>
                  <a:pt x="569" y="661"/>
                  <a:pt x="569" y="682"/>
                </a:cubicBezTo>
                <a:close/>
                <a:moveTo>
                  <a:pt x="593" y="620"/>
                </a:moveTo>
                <a:cubicBezTo>
                  <a:pt x="593" y="640"/>
                  <a:pt x="575" y="658"/>
                  <a:pt x="555" y="658"/>
                </a:cubicBezTo>
                <a:cubicBezTo>
                  <a:pt x="534" y="658"/>
                  <a:pt x="517" y="640"/>
                  <a:pt x="517" y="620"/>
                </a:cubicBezTo>
                <a:cubicBezTo>
                  <a:pt x="517" y="599"/>
                  <a:pt x="534" y="582"/>
                  <a:pt x="555" y="582"/>
                </a:cubicBezTo>
                <a:cubicBezTo>
                  <a:pt x="575" y="582"/>
                  <a:pt x="593" y="599"/>
                  <a:pt x="593" y="620"/>
                </a:cubicBezTo>
                <a:close/>
                <a:moveTo>
                  <a:pt x="658" y="605"/>
                </a:moveTo>
                <a:cubicBezTo>
                  <a:pt x="658" y="625"/>
                  <a:pt x="640" y="643"/>
                  <a:pt x="620" y="643"/>
                </a:cubicBezTo>
                <a:cubicBezTo>
                  <a:pt x="599" y="643"/>
                  <a:pt x="582" y="625"/>
                  <a:pt x="582" y="605"/>
                </a:cubicBezTo>
                <a:cubicBezTo>
                  <a:pt x="582" y="584"/>
                  <a:pt x="599" y="567"/>
                  <a:pt x="620" y="567"/>
                </a:cubicBezTo>
                <a:cubicBezTo>
                  <a:pt x="640" y="567"/>
                  <a:pt x="658" y="584"/>
                  <a:pt x="658" y="605"/>
                </a:cubicBezTo>
                <a:close/>
                <a:moveTo>
                  <a:pt x="790" y="607"/>
                </a:moveTo>
                <a:cubicBezTo>
                  <a:pt x="790" y="627"/>
                  <a:pt x="772" y="645"/>
                  <a:pt x="752" y="645"/>
                </a:cubicBezTo>
                <a:cubicBezTo>
                  <a:pt x="731" y="645"/>
                  <a:pt x="714" y="627"/>
                  <a:pt x="714" y="607"/>
                </a:cubicBezTo>
                <a:cubicBezTo>
                  <a:pt x="714" y="586"/>
                  <a:pt x="731" y="569"/>
                  <a:pt x="752" y="569"/>
                </a:cubicBezTo>
                <a:cubicBezTo>
                  <a:pt x="772" y="569"/>
                  <a:pt x="790" y="586"/>
                  <a:pt x="790" y="607"/>
                </a:cubicBezTo>
                <a:close/>
                <a:moveTo>
                  <a:pt x="757" y="665"/>
                </a:moveTo>
                <a:cubicBezTo>
                  <a:pt x="757" y="685"/>
                  <a:pt x="739" y="703"/>
                  <a:pt x="719" y="703"/>
                </a:cubicBezTo>
                <a:cubicBezTo>
                  <a:pt x="698" y="703"/>
                  <a:pt x="681" y="685"/>
                  <a:pt x="681" y="665"/>
                </a:cubicBezTo>
                <a:cubicBezTo>
                  <a:pt x="681" y="644"/>
                  <a:pt x="698" y="627"/>
                  <a:pt x="719" y="627"/>
                </a:cubicBezTo>
                <a:cubicBezTo>
                  <a:pt x="739" y="627"/>
                  <a:pt x="757" y="644"/>
                  <a:pt x="757" y="665"/>
                </a:cubicBezTo>
                <a:close/>
                <a:moveTo>
                  <a:pt x="690" y="670"/>
                </a:moveTo>
                <a:cubicBezTo>
                  <a:pt x="690" y="690"/>
                  <a:pt x="672" y="708"/>
                  <a:pt x="652" y="708"/>
                </a:cubicBezTo>
                <a:cubicBezTo>
                  <a:pt x="631" y="708"/>
                  <a:pt x="614" y="690"/>
                  <a:pt x="614" y="670"/>
                </a:cubicBezTo>
                <a:cubicBezTo>
                  <a:pt x="614" y="649"/>
                  <a:pt x="631" y="632"/>
                  <a:pt x="652" y="632"/>
                </a:cubicBezTo>
                <a:cubicBezTo>
                  <a:pt x="672" y="632"/>
                  <a:pt x="690" y="649"/>
                  <a:pt x="690" y="670"/>
                </a:cubicBezTo>
                <a:close/>
                <a:moveTo>
                  <a:pt x="650" y="616"/>
                </a:moveTo>
                <a:cubicBezTo>
                  <a:pt x="650" y="636"/>
                  <a:pt x="632" y="654"/>
                  <a:pt x="612" y="654"/>
                </a:cubicBezTo>
                <a:cubicBezTo>
                  <a:pt x="591" y="654"/>
                  <a:pt x="574" y="636"/>
                  <a:pt x="574" y="616"/>
                </a:cubicBezTo>
                <a:cubicBezTo>
                  <a:pt x="574" y="595"/>
                  <a:pt x="591" y="578"/>
                  <a:pt x="612" y="578"/>
                </a:cubicBezTo>
                <a:cubicBezTo>
                  <a:pt x="632" y="578"/>
                  <a:pt x="650" y="595"/>
                  <a:pt x="650" y="616"/>
                </a:cubicBezTo>
                <a:close/>
                <a:moveTo>
                  <a:pt x="674" y="554"/>
                </a:moveTo>
                <a:cubicBezTo>
                  <a:pt x="674" y="574"/>
                  <a:pt x="656" y="592"/>
                  <a:pt x="636" y="592"/>
                </a:cubicBezTo>
                <a:cubicBezTo>
                  <a:pt x="615" y="592"/>
                  <a:pt x="598" y="574"/>
                  <a:pt x="598" y="554"/>
                </a:cubicBezTo>
                <a:cubicBezTo>
                  <a:pt x="598" y="533"/>
                  <a:pt x="615" y="516"/>
                  <a:pt x="636" y="516"/>
                </a:cubicBezTo>
                <a:cubicBezTo>
                  <a:pt x="656" y="516"/>
                  <a:pt x="674" y="533"/>
                  <a:pt x="674" y="554"/>
                </a:cubicBezTo>
                <a:close/>
                <a:moveTo>
                  <a:pt x="739" y="539"/>
                </a:moveTo>
                <a:cubicBezTo>
                  <a:pt x="739" y="559"/>
                  <a:pt x="721" y="577"/>
                  <a:pt x="701" y="577"/>
                </a:cubicBezTo>
                <a:cubicBezTo>
                  <a:pt x="680" y="577"/>
                  <a:pt x="663" y="559"/>
                  <a:pt x="663" y="539"/>
                </a:cubicBezTo>
                <a:cubicBezTo>
                  <a:pt x="663" y="518"/>
                  <a:pt x="680" y="501"/>
                  <a:pt x="701" y="501"/>
                </a:cubicBezTo>
                <a:cubicBezTo>
                  <a:pt x="721" y="501"/>
                  <a:pt x="739" y="518"/>
                  <a:pt x="739" y="539"/>
                </a:cubicBezTo>
                <a:close/>
                <a:moveTo>
                  <a:pt x="634" y="774"/>
                </a:moveTo>
                <a:cubicBezTo>
                  <a:pt x="634" y="794"/>
                  <a:pt x="616" y="812"/>
                  <a:pt x="596" y="812"/>
                </a:cubicBezTo>
                <a:cubicBezTo>
                  <a:pt x="575" y="812"/>
                  <a:pt x="558" y="794"/>
                  <a:pt x="558" y="774"/>
                </a:cubicBezTo>
                <a:cubicBezTo>
                  <a:pt x="558" y="753"/>
                  <a:pt x="575" y="736"/>
                  <a:pt x="596" y="736"/>
                </a:cubicBezTo>
                <a:cubicBezTo>
                  <a:pt x="616" y="736"/>
                  <a:pt x="634" y="753"/>
                  <a:pt x="634" y="774"/>
                </a:cubicBezTo>
                <a:close/>
                <a:moveTo>
                  <a:pt x="601" y="832"/>
                </a:moveTo>
                <a:cubicBezTo>
                  <a:pt x="601" y="852"/>
                  <a:pt x="583" y="870"/>
                  <a:pt x="563" y="870"/>
                </a:cubicBezTo>
                <a:cubicBezTo>
                  <a:pt x="542" y="870"/>
                  <a:pt x="525" y="852"/>
                  <a:pt x="525" y="832"/>
                </a:cubicBezTo>
                <a:cubicBezTo>
                  <a:pt x="525" y="811"/>
                  <a:pt x="542" y="794"/>
                  <a:pt x="563" y="794"/>
                </a:cubicBezTo>
                <a:cubicBezTo>
                  <a:pt x="583" y="794"/>
                  <a:pt x="601" y="811"/>
                  <a:pt x="601" y="832"/>
                </a:cubicBezTo>
                <a:close/>
                <a:moveTo>
                  <a:pt x="534" y="837"/>
                </a:moveTo>
                <a:cubicBezTo>
                  <a:pt x="534" y="857"/>
                  <a:pt x="516" y="875"/>
                  <a:pt x="496" y="875"/>
                </a:cubicBezTo>
                <a:cubicBezTo>
                  <a:pt x="475" y="875"/>
                  <a:pt x="458" y="857"/>
                  <a:pt x="458" y="837"/>
                </a:cubicBezTo>
                <a:cubicBezTo>
                  <a:pt x="458" y="816"/>
                  <a:pt x="475" y="799"/>
                  <a:pt x="496" y="799"/>
                </a:cubicBezTo>
                <a:cubicBezTo>
                  <a:pt x="516" y="799"/>
                  <a:pt x="534" y="816"/>
                  <a:pt x="534" y="837"/>
                </a:cubicBezTo>
                <a:close/>
                <a:moveTo>
                  <a:pt x="494" y="783"/>
                </a:moveTo>
                <a:cubicBezTo>
                  <a:pt x="494" y="803"/>
                  <a:pt x="476" y="821"/>
                  <a:pt x="456" y="821"/>
                </a:cubicBezTo>
                <a:cubicBezTo>
                  <a:pt x="435" y="821"/>
                  <a:pt x="418" y="803"/>
                  <a:pt x="418" y="783"/>
                </a:cubicBezTo>
                <a:cubicBezTo>
                  <a:pt x="418" y="762"/>
                  <a:pt x="435" y="745"/>
                  <a:pt x="456" y="745"/>
                </a:cubicBezTo>
                <a:cubicBezTo>
                  <a:pt x="476" y="745"/>
                  <a:pt x="494" y="762"/>
                  <a:pt x="494" y="783"/>
                </a:cubicBezTo>
                <a:close/>
                <a:moveTo>
                  <a:pt x="518" y="721"/>
                </a:moveTo>
                <a:cubicBezTo>
                  <a:pt x="518" y="741"/>
                  <a:pt x="500" y="759"/>
                  <a:pt x="480" y="759"/>
                </a:cubicBezTo>
                <a:cubicBezTo>
                  <a:pt x="459" y="759"/>
                  <a:pt x="442" y="741"/>
                  <a:pt x="442" y="721"/>
                </a:cubicBezTo>
                <a:cubicBezTo>
                  <a:pt x="442" y="700"/>
                  <a:pt x="459" y="683"/>
                  <a:pt x="480" y="683"/>
                </a:cubicBezTo>
                <a:cubicBezTo>
                  <a:pt x="500" y="683"/>
                  <a:pt x="518" y="700"/>
                  <a:pt x="518" y="721"/>
                </a:cubicBezTo>
                <a:close/>
                <a:moveTo>
                  <a:pt x="583" y="706"/>
                </a:moveTo>
                <a:cubicBezTo>
                  <a:pt x="583" y="726"/>
                  <a:pt x="565" y="744"/>
                  <a:pt x="545" y="744"/>
                </a:cubicBezTo>
                <a:cubicBezTo>
                  <a:pt x="524" y="744"/>
                  <a:pt x="507" y="726"/>
                  <a:pt x="507" y="706"/>
                </a:cubicBezTo>
                <a:cubicBezTo>
                  <a:pt x="507" y="685"/>
                  <a:pt x="524" y="668"/>
                  <a:pt x="545" y="668"/>
                </a:cubicBezTo>
                <a:cubicBezTo>
                  <a:pt x="565" y="668"/>
                  <a:pt x="583" y="685"/>
                  <a:pt x="583" y="706"/>
                </a:cubicBezTo>
                <a:close/>
                <a:moveTo>
                  <a:pt x="382" y="357"/>
                </a:moveTo>
                <a:cubicBezTo>
                  <a:pt x="382" y="377"/>
                  <a:pt x="364" y="395"/>
                  <a:pt x="344" y="395"/>
                </a:cubicBezTo>
                <a:cubicBezTo>
                  <a:pt x="323" y="395"/>
                  <a:pt x="306" y="377"/>
                  <a:pt x="306" y="357"/>
                </a:cubicBezTo>
                <a:cubicBezTo>
                  <a:pt x="306" y="336"/>
                  <a:pt x="323" y="319"/>
                  <a:pt x="344" y="319"/>
                </a:cubicBezTo>
                <a:cubicBezTo>
                  <a:pt x="364" y="319"/>
                  <a:pt x="382" y="336"/>
                  <a:pt x="382" y="357"/>
                </a:cubicBezTo>
                <a:close/>
                <a:moveTo>
                  <a:pt x="349" y="415"/>
                </a:moveTo>
                <a:cubicBezTo>
                  <a:pt x="349" y="435"/>
                  <a:pt x="331" y="453"/>
                  <a:pt x="311" y="453"/>
                </a:cubicBezTo>
                <a:cubicBezTo>
                  <a:pt x="290" y="453"/>
                  <a:pt x="273" y="435"/>
                  <a:pt x="273" y="415"/>
                </a:cubicBezTo>
                <a:cubicBezTo>
                  <a:pt x="273" y="394"/>
                  <a:pt x="290" y="377"/>
                  <a:pt x="311" y="377"/>
                </a:cubicBezTo>
                <a:cubicBezTo>
                  <a:pt x="331" y="377"/>
                  <a:pt x="349" y="394"/>
                  <a:pt x="349" y="415"/>
                </a:cubicBezTo>
                <a:close/>
                <a:moveTo>
                  <a:pt x="282" y="420"/>
                </a:moveTo>
                <a:cubicBezTo>
                  <a:pt x="282" y="440"/>
                  <a:pt x="264" y="458"/>
                  <a:pt x="244" y="458"/>
                </a:cubicBezTo>
                <a:cubicBezTo>
                  <a:pt x="223" y="458"/>
                  <a:pt x="206" y="440"/>
                  <a:pt x="206" y="420"/>
                </a:cubicBezTo>
                <a:cubicBezTo>
                  <a:pt x="206" y="399"/>
                  <a:pt x="223" y="382"/>
                  <a:pt x="244" y="382"/>
                </a:cubicBezTo>
                <a:cubicBezTo>
                  <a:pt x="264" y="382"/>
                  <a:pt x="282" y="399"/>
                  <a:pt x="282" y="420"/>
                </a:cubicBezTo>
                <a:close/>
                <a:moveTo>
                  <a:pt x="242" y="366"/>
                </a:moveTo>
                <a:cubicBezTo>
                  <a:pt x="242" y="386"/>
                  <a:pt x="224" y="404"/>
                  <a:pt x="204" y="404"/>
                </a:cubicBezTo>
                <a:cubicBezTo>
                  <a:pt x="183" y="404"/>
                  <a:pt x="166" y="386"/>
                  <a:pt x="166" y="366"/>
                </a:cubicBezTo>
                <a:cubicBezTo>
                  <a:pt x="166" y="345"/>
                  <a:pt x="183" y="328"/>
                  <a:pt x="204" y="328"/>
                </a:cubicBezTo>
                <a:cubicBezTo>
                  <a:pt x="224" y="328"/>
                  <a:pt x="242" y="345"/>
                  <a:pt x="242" y="366"/>
                </a:cubicBezTo>
                <a:close/>
                <a:moveTo>
                  <a:pt x="266" y="304"/>
                </a:moveTo>
                <a:cubicBezTo>
                  <a:pt x="266" y="324"/>
                  <a:pt x="248" y="342"/>
                  <a:pt x="228" y="342"/>
                </a:cubicBezTo>
                <a:cubicBezTo>
                  <a:pt x="207" y="342"/>
                  <a:pt x="190" y="324"/>
                  <a:pt x="190" y="304"/>
                </a:cubicBezTo>
                <a:cubicBezTo>
                  <a:pt x="190" y="283"/>
                  <a:pt x="207" y="266"/>
                  <a:pt x="228" y="266"/>
                </a:cubicBezTo>
                <a:cubicBezTo>
                  <a:pt x="248" y="266"/>
                  <a:pt x="266" y="283"/>
                  <a:pt x="266" y="304"/>
                </a:cubicBezTo>
                <a:close/>
                <a:moveTo>
                  <a:pt x="331" y="289"/>
                </a:moveTo>
                <a:cubicBezTo>
                  <a:pt x="331" y="309"/>
                  <a:pt x="313" y="327"/>
                  <a:pt x="293" y="327"/>
                </a:cubicBezTo>
                <a:cubicBezTo>
                  <a:pt x="272" y="327"/>
                  <a:pt x="255" y="309"/>
                  <a:pt x="255" y="289"/>
                </a:cubicBezTo>
                <a:cubicBezTo>
                  <a:pt x="255" y="268"/>
                  <a:pt x="272" y="251"/>
                  <a:pt x="293" y="251"/>
                </a:cubicBezTo>
                <a:cubicBezTo>
                  <a:pt x="313" y="251"/>
                  <a:pt x="331" y="268"/>
                  <a:pt x="331" y="289"/>
                </a:cubicBezTo>
                <a:close/>
                <a:moveTo>
                  <a:pt x="878" y="275"/>
                </a:moveTo>
                <a:cubicBezTo>
                  <a:pt x="878" y="295"/>
                  <a:pt x="860" y="313"/>
                  <a:pt x="840" y="313"/>
                </a:cubicBezTo>
                <a:cubicBezTo>
                  <a:pt x="819" y="313"/>
                  <a:pt x="802" y="295"/>
                  <a:pt x="802" y="275"/>
                </a:cubicBezTo>
                <a:cubicBezTo>
                  <a:pt x="802" y="254"/>
                  <a:pt x="819" y="237"/>
                  <a:pt x="840" y="237"/>
                </a:cubicBezTo>
                <a:cubicBezTo>
                  <a:pt x="860" y="237"/>
                  <a:pt x="878" y="254"/>
                  <a:pt x="878" y="275"/>
                </a:cubicBezTo>
                <a:close/>
                <a:moveTo>
                  <a:pt x="845" y="333"/>
                </a:moveTo>
                <a:cubicBezTo>
                  <a:pt x="845" y="353"/>
                  <a:pt x="827" y="371"/>
                  <a:pt x="807" y="371"/>
                </a:cubicBezTo>
                <a:cubicBezTo>
                  <a:pt x="786" y="371"/>
                  <a:pt x="769" y="353"/>
                  <a:pt x="769" y="333"/>
                </a:cubicBezTo>
                <a:cubicBezTo>
                  <a:pt x="769" y="312"/>
                  <a:pt x="786" y="295"/>
                  <a:pt x="807" y="295"/>
                </a:cubicBezTo>
                <a:cubicBezTo>
                  <a:pt x="827" y="295"/>
                  <a:pt x="845" y="312"/>
                  <a:pt x="845" y="333"/>
                </a:cubicBezTo>
                <a:close/>
                <a:moveTo>
                  <a:pt x="778" y="338"/>
                </a:moveTo>
                <a:cubicBezTo>
                  <a:pt x="778" y="358"/>
                  <a:pt x="760" y="376"/>
                  <a:pt x="740" y="376"/>
                </a:cubicBezTo>
                <a:cubicBezTo>
                  <a:pt x="719" y="376"/>
                  <a:pt x="702" y="358"/>
                  <a:pt x="702" y="338"/>
                </a:cubicBezTo>
                <a:cubicBezTo>
                  <a:pt x="702" y="317"/>
                  <a:pt x="719" y="300"/>
                  <a:pt x="740" y="300"/>
                </a:cubicBezTo>
                <a:cubicBezTo>
                  <a:pt x="760" y="300"/>
                  <a:pt x="778" y="317"/>
                  <a:pt x="778" y="338"/>
                </a:cubicBezTo>
                <a:close/>
                <a:moveTo>
                  <a:pt x="738" y="284"/>
                </a:moveTo>
                <a:cubicBezTo>
                  <a:pt x="738" y="304"/>
                  <a:pt x="720" y="322"/>
                  <a:pt x="700" y="322"/>
                </a:cubicBezTo>
                <a:cubicBezTo>
                  <a:pt x="679" y="322"/>
                  <a:pt x="662" y="304"/>
                  <a:pt x="662" y="284"/>
                </a:cubicBezTo>
                <a:cubicBezTo>
                  <a:pt x="662" y="263"/>
                  <a:pt x="679" y="246"/>
                  <a:pt x="700" y="246"/>
                </a:cubicBezTo>
                <a:cubicBezTo>
                  <a:pt x="720" y="246"/>
                  <a:pt x="738" y="263"/>
                  <a:pt x="738" y="284"/>
                </a:cubicBezTo>
                <a:close/>
                <a:moveTo>
                  <a:pt x="762" y="222"/>
                </a:moveTo>
                <a:cubicBezTo>
                  <a:pt x="762" y="242"/>
                  <a:pt x="744" y="260"/>
                  <a:pt x="724" y="260"/>
                </a:cubicBezTo>
                <a:cubicBezTo>
                  <a:pt x="703" y="260"/>
                  <a:pt x="686" y="242"/>
                  <a:pt x="686" y="222"/>
                </a:cubicBezTo>
                <a:cubicBezTo>
                  <a:pt x="686" y="201"/>
                  <a:pt x="703" y="184"/>
                  <a:pt x="724" y="184"/>
                </a:cubicBezTo>
                <a:cubicBezTo>
                  <a:pt x="744" y="184"/>
                  <a:pt x="762" y="201"/>
                  <a:pt x="762" y="222"/>
                </a:cubicBezTo>
                <a:close/>
                <a:moveTo>
                  <a:pt x="827" y="207"/>
                </a:moveTo>
                <a:cubicBezTo>
                  <a:pt x="827" y="227"/>
                  <a:pt x="809" y="245"/>
                  <a:pt x="789" y="245"/>
                </a:cubicBezTo>
                <a:cubicBezTo>
                  <a:pt x="768" y="245"/>
                  <a:pt x="751" y="227"/>
                  <a:pt x="751" y="207"/>
                </a:cubicBezTo>
                <a:cubicBezTo>
                  <a:pt x="751" y="186"/>
                  <a:pt x="768" y="169"/>
                  <a:pt x="789" y="169"/>
                </a:cubicBezTo>
                <a:cubicBezTo>
                  <a:pt x="809" y="169"/>
                  <a:pt x="827" y="186"/>
                  <a:pt x="827" y="207"/>
                </a:cubicBezTo>
                <a:close/>
                <a:moveTo>
                  <a:pt x="763" y="519"/>
                </a:moveTo>
                <a:cubicBezTo>
                  <a:pt x="763" y="539"/>
                  <a:pt x="745" y="557"/>
                  <a:pt x="725" y="557"/>
                </a:cubicBezTo>
                <a:cubicBezTo>
                  <a:pt x="704" y="557"/>
                  <a:pt x="687" y="539"/>
                  <a:pt x="687" y="519"/>
                </a:cubicBezTo>
                <a:cubicBezTo>
                  <a:pt x="687" y="498"/>
                  <a:pt x="704" y="481"/>
                  <a:pt x="725" y="481"/>
                </a:cubicBezTo>
                <a:cubicBezTo>
                  <a:pt x="745" y="481"/>
                  <a:pt x="763" y="498"/>
                  <a:pt x="763" y="519"/>
                </a:cubicBezTo>
                <a:close/>
                <a:moveTo>
                  <a:pt x="730" y="577"/>
                </a:moveTo>
                <a:cubicBezTo>
                  <a:pt x="730" y="597"/>
                  <a:pt x="712" y="615"/>
                  <a:pt x="692" y="615"/>
                </a:cubicBezTo>
                <a:cubicBezTo>
                  <a:pt x="671" y="615"/>
                  <a:pt x="654" y="597"/>
                  <a:pt x="654" y="577"/>
                </a:cubicBezTo>
                <a:cubicBezTo>
                  <a:pt x="654" y="556"/>
                  <a:pt x="671" y="539"/>
                  <a:pt x="692" y="539"/>
                </a:cubicBezTo>
                <a:cubicBezTo>
                  <a:pt x="712" y="539"/>
                  <a:pt x="730" y="556"/>
                  <a:pt x="730" y="577"/>
                </a:cubicBezTo>
                <a:close/>
                <a:moveTo>
                  <a:pt x="663" y="582"/>
                </a:moveTo>
                <a:cubicBezTo>
                  <a:pt x="663" y="602"/>
                  <a:pt x="645" y="620"/>
                  <a:pt x="625" y="620"/>
                </a:cubicBezTo>
                <a:cubicBezTo>
                  <a:pt x="604" y="620"/>
                  <a:pt x="587" y="602"/>
                  <a:pt x="587" y="582"/>
                </a:cubicBezTo>
                <a:cubicBezTo>
                  <a:pt x="587" y="561"/>
                  <a:pt x="604" y="544"/>
                  <a:pt x="625" y="544"/>
                </a:cubicBezTo>
                <a:cubicBezTo>
                  <a:pt x="645" y="544"/>
                  <a:pt x="663" y="561"/>
                  <a:pt x="663" y="582"/>
                </a:cubicBezTo>
                <a:close/>
                <a:moveTo>
                  <a:pt x="623" y="528"/>
                </a:moveTo>
                <a:cubicBezTo>
                  <a:pt x="623" y="548"/>
                  <a:pt x="605" y="566"/>
                  <a:pt x="585" y="566"/>
                </a:cubicBezTo>
                <a:cubicBezTo>
                  <a:pt x="564" y="566"/>
                  <a:pt x="547" y="548"/>
                  <a:pt x="547" y="528"/>
                </a:cubicBezTo>
                <a:cubicBezTo>
                  <a:pt x="547" y="507"/>
                  <a:pt x="564" y="490"/>
                  <a:pt x="585" y="490"/>
                </a:cubicBezTo>
                <a:cubicBezTo>
                  <a:pt x="605" y="490"/>
                  <a:pt x="623" y="507"/>
                  <a:pt x="623" y="528"/>
                </a:cubicBezTo>
                <a:close/>
                <a:moveTo>
                  <a:pt x="647" y="466"/>
                </a:moveTo>
                <a:cubicBezTo>
                  <a:pt x="647" y="486"/>
                  <a:pt x="629" y="504"/>
                  <a:pt x="609" y="504"/>
                </a:cubicBezTo>
                <a:cubicBezTo>
                  <a:pt x="588" y="504"/>
                  <a:pt x="571" y="486"/>
                  <a:pt x="571" y="466"/>
                </a:cubicBezTo>
                <a:cubicBezTo>
                  <a:pt x="571" y="445"/>
                  <a:pt x="588" y="428"/>
                  <a:pt x="609" y="428"/>
                </a:cubicBezTo>
                <a:cubicBezTo>
                  <a:pt x="629" y="428"/>
                  <a:pt x="647" y="445"/>
                  <a:pt x="647" y="466"/>
                </a:cubicBezTo>
                <a:close/>
                <a:moveTo>
                  <a:pt x="712" y="451"/>
                </a:moveTo>
                <a:cubicBezTo>
                  <a:pt x="712" y="471"/>
                  <a:pt x="694" y="489"/>
                  <a:pt x="674" y="489"/>
                </a:cubicBezTo>
                <a:cubicBezTo>
                  <a:pt x="653" y="489"/>
                  <a:pt x="636" y="471"/>
                  <a:pt x="636" y="451"/>
                </a:cubicBezTo>
                <a:cubicBezTo>
                  <a:pt x="636" y="430"/>
                  <a:pt x="653" y="413"/>
                  <a:pt x="674" y="413"/>
                </a:cubicBezTo>
                <a:cubicBezTo>
                  <a:pt x="694" y="413"/>
                  <a:pt x="712" y="430"/>
                  <a:pt x="712" y="451"/>
                </a:cubicBezTo>
                <a:close/>
                <a:moveTo>
                  <a:pt x="987" y="135"/>
                </a:moveTo>
                <a:cubicBezTo>
                  <a:pt x="987" y="155"/>
                  <a:pt x="969" y="173"/>
                  <a:pt x="949" y="173"/>
                </a:cubicBezTo>
                <a:cubicBezTo>
                  <a:pt x="928" y="173"/>
                  <a:pt x="911" y="155"/>
                  <a:pt x="911" y="135"/>
                </a:cubicBezTo>
                <a:cubicBezTo>
                  <a:pt x="911" y="114"/>
                  <a:pt x="928" y="97"/>
                  <a:pt x="949" y="97"/>
                </a:cubicBezTo>
                <a:cubicBezTo>
                  <a:pt x="969" y="97"/>
                  <a:pt x="987" y="114"/>
                  <a:pt x="987" y="135"/>
                </a:cubicBezTo>
                <a:close/>
                <a:moveTo>
                  <a:pt x="954" y="193"/>
                </a:moveTo>
                <a:cubicBezTo>
                  <a:pt x="954" y="213"/>
                  <a:pt x="936" y="231"/>
                  <a:pt x="916" y="231"/>
                </a:cubicBezTo>
                <a:cubicBezTo>
                  <a:pt x="895" y="231"/>
                  <a:pt x="878" y="213"/>
                  <a:pt x="878" y="193"/>
                </a:cubicBezTo>
                <a:cubicBezTo>
                  <a:pt x="878" y="172"/>
                  <a:pt x="895" y="155"/>
                  <a:pt x="916" y="155"/>
                </a:cubicBezTo>
                <a:cubicBezTo>
                  <a:pt x="936" y="155"/>
                  <a:pt x="954" y="172"/>
                  <a:pt x="954" y="193"/>
                </a:cubicBezTo>
                <a:close/>
                <a:moveTo>
                  <a:pt x="887" y="198"/>
                </a:moveTo>
                <a:cubicBezTo>
                  <a:pt x="887" y="218"/>
                  <a:pt x="869" y="236"/>
                  <a:pt x="849" y="236"/>
                </a:cubicBezTo>
                <a:cubicBezTo>
                  <a:pt x="828" y="236"/>
                  <a:pt x="811" y="218"/>
                  <a:pt x="811" y="198"/>
                </a:cubicBezTo>
                <a:cubicBezTo>
                  <a:pt x="811" y="177"/>
                  <a:pt x="828" y="160"/>
                  <a:pt x="849" y="160"/>
                </a:cubicBezTo>
                <a:cubicBezTo>
                  <a:pt x="869" y="160"/>
                  <a:pt x="887" y="177"/>
                  <a:pt x="887" y="198"/>
                </a:cubicBezTo>
                <a:close/>
                <a:moveTo>
                  <a:pt x="847" y="144"/>
                </a:moveTo>
                <a:cubicBezTo>
                  <a:pt x="847" y="164"/>
                  <a:pt x="829" y="182"/>
                  <a:pt x="809" y="182"/>
                </a:cubicBezTo>
                <a:cubicBezTo>
                  <a:pt x="788" y="182"/>
                  <a:pt x="771" y="164"/>
                  <a:pt x="771" y="144"/>
                </a:cubicBezTo>
                <a:cubicBezTo>
                  <a:pt x="771" y="123"/>
                  <a:pt x="788" y="106"/>
                  <a:pt x="809" y="106"/>
                </a:cubicBezTo>
                <a:cubicBezTo>
                  <a:pt x="829" y="106"/>
                  <a:pt x="847" y="123"/>
                  <a:pt x="847" y="144"/>
                </a:cubicBezTo>
                <a:close/>
                <a:moveTo>
                  <a:pt x="871" y="82"/>
                </a:moveTo>
                <a:cubicBezTo>
                  <a:pt x="871" y="102"/>
                  <a:pt x="853" y="120"/>
                  <a:pt x="833" y="120"/>
                </a:cubicBezTo>
                <a:cubicBezTo>
                  <a:pt x="812" y="120"/>
                  <a:pt x="795" y="102"/>
                  <a:pt x="795" y="82"/>
                </a:cubicBezTo>
                <a:cubicBezTo>
                  <a:pt x="795" y="61"/>
                  <a:pt x="812" y="44"/>
                  <a:pt x="833" y="44"/>
                </a:cubicBezTo>
                <a:cubicBezTo>
                  <a:pt x="853" y="44"/>
                  <a:pt x="871" y="61"/>
                  <a:pt x="871" y="82"/>
                </a:cubicBezTo>
                <a:close/>
                <a:moveTo>
                  <a:pt x="936" y="67"/>
                </a:moveTo>
                <a:cubicBezTo>
                  <a:pt x="936" y="87"/>
                  <a:pt x="918" y="105"/>
                  <a:pt x="898" y="105"/>
                </a:cubicBezTo>
                <a:cubicBezTo>
                  <a:pt x="877" y="105"/>
                  <a:pt x="860" y="87"/>
                  <a:pt x="860" y="67"/>
                </a:cubicBezTo>
                <a:cubicBezTo>
                  <a:pt x="860" y="46"/>
                  <a:pt x="877" y="29"/>
                  <a:pt x="898" y="29"/>
                </a:cubicBezTo>
                <a:cubicBezTo>
                  <a:pt x="918" y="29"/>
                  <a:pt x="936" y="46"/>
                  <a:pt x="936" y="67"/>
                </a:cubicBezTo>
                <a:close/>
                <a:moveTo>
                  <a:pt x="915" y="185"/>
                </a:moveTo>
                <a:cubicBezTo>
                  <a:pt x="915" y="205"/>
                  <a:pt x="897" y="223"/>
                  <a:pt x="877" y="223"/>
                </a:cubicBezTo>
                <a:cubicBezTo>
                  <a:pt x="856" y="223"/>
                  <a:pt x="839" y="205"/>
                  <a:pt x="839" y="185"/>
                </a:cubicBezTo>
                <a:cubicBezTo>
                  <a:pt x="839" y="164"/>
                  <a:pt x="856" y="147"/>
                  <a:pt x="877" y="147"/>
                </a:cubicBezTo>
                <a:cubicBezTo>
                  <a:pt x="897" y="147"/>
                  <a:pt x="915" y="164"/>
                  <a:pt x="915" y="185"/>
                </a:cubicBezTo>
                <a:close/>
                <a:moveTo>
                  <a:pt x="882" y="243"/>
                </a:moveTo>
                <a:cubicBezTo>
                  <a:pt x="882" y="263"/>
                  <a:pt x="864" y="281"/>
                  <a:pt x="844" y="281"/>
                </a:cubicBezTo>
                <a:cubicBezTo>
                  <a:pt x="823" y="281"/>
                  <a:pt x="806" y="263"/>
                  <a:pt x="806" y="243"/>
                </a:cubicBezTo>
                <a:cubicBezTo>
                  <a:pt x="806" y="222"/>
                  <a:pt x="823" y="205"/>
                  <a:pt x="844" y="205"/>
                </a:cubicBezTo>
                <a:cubicBezTo>
                  <a:pt x="864" y="205"/>
                  <a:pt x="882" y="222"/>
                  <a:pt x="882" y="243"/>
                </a:cubicBezTo>
                <a:close/>
                <a:moveTo>
                  <a:pt x="815" y="248"/>
                </a:moveTo>
                <a:cubicBezTo>
                  <a:pt x="815" y="268"/>
                  <a:pt x="797" y="286"/>
                  <a:pt x="777" y="286"/>
                </a:cubicBezTo>
                <a:cubicBezTo>
                  <a:pt x="756" y="286"/>
                  <a:pt x="739" y="268"/>
                  <a:pt x="739" y="248"/>
                </a:cubicBezTo>
                <a:cubicBezTo>
                  <a:pt x="739" y="227"/>
                  <a:pt x="756" y="210"/>
                  <a:pt x="777" y="210"/>
                </a:cubicBezTo>
                <a:cubicBezTo>
                  <a:pt x="797" y="210"/>
                  <a:pt x="815" y="227"/>
                  <a:pt x="815" y="248"/>
                </a:cubicBezTo>
                <a:close/>
                <a:moveTo>
                  <a:pt x="775" y="194"/>
                </a:moveTo>
                <a:cubicBezTo>
                  <a:pt x="775" y="214"/>
                  <a:pt x="757" y="232"/>
                  <a:pt x="737" y="232"/>
                </a:cubicBezTo>
                <a:cubicBezTo>
                  <a:pt x="716" y="232"/>
                  <a:pt x="699" y="214"/>
                  <a:pt x="699" y="194"/>
                </a:cubicBezTo>
                <a:cubicBezTo>
                  <a:pt x="699" y="173"/>
                  <a:pt x="716" y="156"/>
                  <a:pt x="737" y="156"/>
                </a:cubicBezTo>
                <a:cubicBezTo>
                  <a:pt x="757" y="156"/>
                  <a:pt x="775" y="173"/>
                  <a:pt x="775" y="194"/>
                </a:cubicBezTo>
                <a:close/>
                <a:moveTo>
                  <a:pt x="799" y="132"/>
                </a:moveTo>
                <a:cubicBezTo>
                  <a:pt x="799" y="152"/>
                  <a:pt x="781" y="170"/>
                  <a:pt x="761" y="170"/>
                </a:cubicBezTo>
                <a:cubicBezTo>
                  <a:pt x="740" y="170"/>
                  <a:pt x="723" y="152"/>
                  <a:pt x="723" y="132"/>
                </a:cubicBezTo>
                <a:cubicBezTo>
                  <a:pt x="723" y="111"/>
                  <a:pt x="740" y="94"/>
                  <a:pt x="761" y="94"/>
                </a:cubicBezTo>
                <a:cubicBezTo>
                  <a:pt x="781" y="94"/>
                  <a:pt x="799" y="111"/>
                  <a:pt x="799" y="132"/>
                </a:cubicBezTo>
                <a:close/>
                <a:moveTo>
                  <a:pt x="864" y="117"/>
                </a:moveTo>
                <a:cubicBezTo>
                  <a:pt x="864" y="137"/>
                  <a:pt x="846" y="155"/>
                  <a:pt x="826" y="155"/>
                </a:cubicBezTo>
                <a:cubicBezTo>
                  <a:pt x="805" y="155"/>
                  <a:pt x="788" y="137"/>
                  <a:pt x="788" y="117"/>
                </a:cubicBezTo>
                <a:cubicBezTo>
                  <a:pt x="788" y="96"/>
                  <a:pt x="805" y="79"/>
                  <a:pt x="826" y="79"/>
                </a:cubicBezTo>
                <a:cubicBezTo>
                  <a:pt x="846" y="79"/>
                  <a:pt x="864" y="96"/>
                  <a:pt x="864" y="117"/>
                </a:cubicBezTo>
                <a:close/>
                <a:moveTo>
                  <a:pt x="391" y="725"/>
                </a:moveTo>
                <a:cubicBezTo>
                  <a:pt x="391" y="745"/>
                  <a:pt x="373" y="763"/>
                  <a:pt x="353" y="763"/>
                </a:cubicBezTo>
                <a:cubicBezTo>
                  <a:pt x="332" y="763"/>
                  <a:pt x="315" y="745"/>
                  <a:pt x="315" y="725"/>
                </a:cubicBezTo>
                <a:cubicBezTo>
                  <a:pt x="315" y="704"/>
                  <a:pt x="332" y="687"/>
                  <a:pt x="353" y="687"/>
                </a:cubicBezTo>
                <a:cubicBezTo>
                  <a:pt x="373" y="687"/>
                  <a:pt x="391" y="704"/>
                  <a:pt x="391" y="725"/>
                </a:cubicBezTo>
                <a:close/>
                <a:moveTo>
                  <a:pt x="358" y="783"/>
                </a:moveTo>
                <a:cubicBezTo>
                  <a:pt x="358" y="803"/>
                  <a:pt x="340" y="821"/>
                  <a:pt x="320" y="821"/>
                </a:cubicBezTo>
                <a:cubicBezTo>
                  <a:pt x="299" y="821"/>
                  <a:pt x="282" y="803"/>
                  <a:pt x="282" y="783"/>
                </a:cubicBezTo>
                <a:cubicBezTo>
                  <a:pt x="282" y="762"/>
                  <a:pt x="299" y="745"/>
                  <a:pt x="320" y="745"/>
                </a:cubicBezTo>
                <a:cubicBezTo>
                  <a:pt x="340" y="745"/>
                  <a:pt x="358" y="762"/>
                  <a:pt x="358" y="783"/>
                </a:cubicBezTo>
                <a:close/>
                <a:moveTo>
                  <a:pt x="291" y="788"/>
                </a:moveTo>
                <a:cubicBezTo>
                  <a:pt x="291" y="808"/>
                  <a:pt x="273" y="826"/>
                  <a:pt x="253" y="826"/>
                </a:cubicBezTo>
                <a:cubicBezTo>
                  <a:pt x="232" y="826"/>
                  <a:pt x="215" y="808"/>
                  <a:pt x="215" y="788"/>
                </a:cubicBezTo>
                <a:cubicBezTo>
                  <a:pt x="215" y="767"/>
                  <a:pt x="232" y="750"/>
                  <a:pt x="253" y="750"/>
                </a:cubicBezTo>
                <a:cubicBezTo>
                  <a:pt x="273" y="750"/>
                  <a:pt x="291" y="767"/>
                  <a:pt x="291" y="788"/>
                </a:cubicBezTo>
                <a:close/>
                <a:moveTo>
                  <a:pt x="251" y="734"/>
                </a:moveTo>
                <a:cubicBezTo>
                  <a:pt x="251" y="754"/>
                  <a:pt x="233" y="772"/>
                  <a:pt x="213" y="772"/>
                </a:cubicBezTo>
                <a:cubicBezTo>
                  <a:pt x="192" y="772"/>
                  <a:pt x="175" y="754"/>
                  <a:pt x="175" y="734"/>
                </a:cubicBezTo>
                <a:cubicBezTo>
                  <a:pt x="175" y="713"/>
                  <a:pt x="192" y="696"/>
                  <a:pt x="213" y="696"/>
                </a:cubicBezTo>
                <a:cubicBezTo>
                  <a:pt x="233" y="696"/>
                  <a:pt x="251" y="713"/>
                  <a:pt x="251" y="734"/>
                </a:cubicBezTo>
                <a:close/>
                <a:moveTo>
                  <a:pt x="275" y="672"/>
                </a:moveTo>
                <a:cubicBezTo>
                  <a:pt x="275" y="692"/>
                  <a:pt x="257" y="710"/>
                  <a:pt x="237" y="710"/>
                </a:cubicBezTo>
                <a:cubicBezTo>
                  <a:pt x="216" y="710"/>
                  <a:pt x="199" y="692"/>
                  <a:pt x="199" y="672"/>
                </a:cubicBezTo>
                <a:cubicBezTo>
                  <a:pt x="199" y="651"/>
                  <a:pt x="216" y="634"/>
                  <a:pt x="237" y="634"/>
                </a:cubicBezTo>
                <a:cubicBezTo>
                  <a:pt x="257" y="634"/>
                  <a:pt x="275" y="651"/>
                  <a:pt x="275" y="672"/>
                </a:cubicBezTo>
                <a:close/>
                <a:moveTo>
                  <a:pt x="340" y="657"/>
                </a:moveTo>
                <a:cubicBezTo>
                  <a:pt x="340" y="677"/>
                  <a:pt x="322" y="695"/>
                  <a:pt x="302" y="695"/>
                </a:cubicBezTo>
                <a:cubicBezTo>
                  <a:pt x="281" y="695"/>
                  <a:pt x="264" y="677"/>
                  <a:pt x="264" y="657"/>
                </a:cubicBezTo>
                <a:cubicBezTo>
                  <a:pt x="264" y="636"/>
                  <a:pt x="281" y="619"/>
                  <a:pt x="302" y="619"/>
                </a:cubicBezTo>
                <a:cubicBezTo>
                  <a:pt x="322" y="619"/>
                  <a:pt x="340" y="636"/>
                  <a:pt x="340" y="657"/>
                </a:cubicBezTo>
                <a:close/>
                <a:moveTo>
                  <a:pt x="271" y="428"/>
                </a:moveTo>
                <a:cubicBezTo>
                  <a:pt x="271" y="448"/>
                  <a:pt x="253" y="466"/>
                  <a:pt x="233" y="466"/>
                </a:cubicBezTo>
                <a:cubicBezTo>
                  <a:pt x="212" y="466"/>
                  <a:pt x="195" y="448"/>
                  <a:pt x="195" y="428"/>
                </a:cubicBezTo>
                <a:cubicBezTo>
                  <a:pt x="195" y="407"/>
                  <a:pt x="212" y="390"/>
                  <a:pt x="233" y="390"/>
                </a:cubicBezTo>
                <a:cubicBezTo>
                  <a:pt x="253" y="390"/>
                  <a:pt x="271" y="407"/>
                  <a:pt x="271" y="428"/>
                </a:cubicBezTo>
                <a:close/>
                <a:moveTo>
                  <a:pt x="238" y="486"/>
                </a:moveTo>
                <a:cubicBezTo>
                  <a:pt x="238" y="506"/>
                  <a:pt x="220" y="524"/>
                  <a:pt x="200" y="524"/>
                </a:cubicBezTo>
                <a:cubicBezTo>
                  <a:pt x="179" y="524"/>
                  <a:pt x="162" y="506"/>
                  <a:pt x="162" y="486"/>
                </a:cubicBezTo>
                <a:cubicBezTo>
                  <a:pt x="162" y="465"/>
                  <a:pt x="179" y="448"/>
                  <a:pt x="200" y="448"/>
                </a:cubicBezTo>
                <a:cubicBezTo>
                  <a:pt x="220" y="448"/>
                  <a:pt x="238" y="465"/>
                  <a:pt x="238" y="486"/>
                </a:cubicBezTo>
                <a:close/>
                <a:moveTo>
                  <a:pt x="171" y="491"/>
                </a:moveTo>
                <a:cubicBezTo>
                  <a:pt x="171" y="511"/>
                  <a:pt x="153" y="529"/>
                  <a:pt x="133" y="529"/>
                </a:cubicBezTo>
                <a:cubicBezTo>
                  <a:pt x="112" y="529"/>
                  <a:pt x="95" y="511"/>
                  <a:pt x="95" y="491"/>
                </a:cubicBezTo>
                <a:cubicBezTo>
                  <a:pt x="95" y="470"/>
                  <a:pt x="112" y="453"/>
                  <a:pt x="133" y="453"/>
                </a:cubicBezTo>
                <a:cubicBezTo>
                  <a:pt x="153" y="453"/>
                  <a:pt x="171" y="470"/>
                  <a:pt x="171" y="491"/>
                </a:cubicBezTo>
                <a:close/>
                <a:moveTo>
                  <a:pt x="131" y="437"/>
                </a:moveTo>
                <a:cubicBezTo>
                  <a:pt x="131" y="457"/>
                  <a:pt x="113" y="475"/>
                  <a:pt x="93" y="475"/>
                </a:cubicBezTo>
                <a:cubicBezTo>
                  <a:pt x="72" y="475"/>
                  <a:pt x="55" y="457"/>
                  <a:pt x="55" y="437"/>
                </a:cubicBezTo>
                <a:cubicBezTo>
                  <a:pt x="55" y="416"/>
                  <a:pt x="72" y="399"/>
                  <a:pt x="93" y="399"/>
                </a:cubicBezTo>
                <a:cubicBezTo>
                  <a:pt x="113" y="399"/>
                  <a:pt x="131" y="416"/>
                  <a:pt x="131" y="437"/>
                </a:cubicBezTo>
                <a:close/>
                <a:moveTo>
                  <a:pt x="155" y="375"/>
                </a:moveTo>
                <a:cubicBezTo>
                  <a:pt x="155" y="395"/>
                  <a:pt x="137" y="413"/>
                  <a:pt x="117" y="413"/>
                </a:cubicBezTo>
                <a:cubicBezTo>
                  <a:pt x="96" y="413"/>
                  <a:pt x="79" y="395"/>
                  <a:pt x="79" y="375"/>
                </a:cubicBezTo>
                <a:cubicBezTo>
                  <a:pt x="79" y="354"/>
                  <a:pt x="96" y="337"/>
                  <a:pt x="117" y="337"/>
                </a:cubicBezTo>
                <a:cubicBezTo>
                  <a:pt x="137" y="337"/>
                  <a:pt x="155" y="354"/>
                  <a:pt x="155" y="375"/>
                </a:cubicBezTo>
                <a:close/>
                <a:moveTo>
                  <a:pt x="220" y="360"/>
                </a:moveTo>
                <a:cubicBezTo>
                  <a:pt x="220" y="380"/>
                  <a:pt x="202" y="398"/>
                  <a:pt x="182" y="398"/>
                </a:cubicBezTo>
                <a:cubicBezTo>
                  <a:pt x="161" y="398"/>
                  <a:pt x="144" y="380"/>
                  <a:pt x="144" y="360"/>
                </a:cubicBezTo>
                <a:cubicBezTo>
                  <a:pt x="144" y="339"/>
                  <a:pt x="161" y="322"/>
                  <a:pt x="182" y="322"/>
                </a:cubicBezTo>
                <a:cubicBezTo>
                  <a:pt x="202" y="322"/>
                  <a:pt x="220" y="339"/>
                  <a:pt x="220" y="360"/>
                </a:cubicBezTo>
                <a:close/>
                <a:moveTo>
                  <a:pt x="259" y="395"/>
                </a:moveTo>
                <a:cubicBezTo>
                  <a:pt x="259" y="415"/>
                  <a:pt x="241" y="433"/>
                  <a:pt x="221" y="433"/>
                </a:cubicBezTo>
                <a:cubicBezTo>
                  <a:pt x="200" y="433"/>
                  <a:pt x="183" y="415"/>
                  <a:pt x="183" y="395"/>
                </a:cubicBezTo>
                <a:cubicBezTo>
                  <a:pt x="183" y="374"/>
                  <a:pt x="200" y="357"/>
                  <a:pt x="221" y="357"/>
                </a:cubicBezTo>
                <a:cubicBezTo>
                  <a:pt x="241" y="357"/>
                  <a:pt x="259" y="374"/>
                  <a:pt x="259" y="395"/>
                </a:cubicBezTo>
                <a:close/>
                <a:moveTo>
                  <a:pt x="226" y="453"/>
                </a:moveTo>
                <a:cubicBezTo>
                  <a:pt x="226" y="473"/>
                  <a:pt x="208" y="491"/>
                  <a:pt x="188" y="491"/>
                </a:cubicBezTo>
                <a:cubicBezTo>
                  <a:pt x="167" y="491"/>
                  <a:pt x="150" y="473"/>
                  <a:pt x="150" y="453"/>
                </a:cubicBezTo>
                <a:cubicBezTo>
                  <a:pt x="150" y="432"/>
                  <a:pt x="167" y="415"/>
                  <a:pt x="188" y="415"/>
                </a:cubicBezTo>
                <a:cubicBezTo>
                  <a:pt x="208" y="415"/>
                  <a:pt x="226" y="432"/>
                  <a:pt x="226" y="453"/>
                </a:cubicBezTo>
                <a:close/>
                <a:moveTo>
                  <a:pt x="159" y="458"/>
                </a:moveTo>
                <a:cubicBezTo>
                  <a:pt x="159" y="478"/>
                  <a:pt x="141" y="496"/>
                  <a:pt x="121" y="496"/>
                </a:cubicBezTo>
                <a:cubicBezTo>
                  <a:pt x="100" y="496"/>
                  <a:pt x="83" y="478"/>
                  <a:pt x="83" y="458"/>
                </a:cubicBezTo>
                <a:cubicBezTo>
                  <a:pt x="83" y="437"/>
                  <a:pt x="100" y="420"/>
                  <a:pt x="121" y="420"/>
                </a:cubicBezTo>
                <a:cubicBezTo>
                  <a:pt x="141" y="420"/>
                  <a:pt x="159" y="437"/>
                  <a:pt x="159" y="458"/>
                </a:cubicBezTo>
                <a:close/>
                <a:moveTo>
                  <a:pt x="119" y="404"/>
                </a:moveTo>
                <a:cubicBezTo>
                  <a:pt x="119" y="424"/>
                  <a:pt x="101" y="442"/>
                  <a:pt x="81" y="442"/>
                </a:cubicBezTo>
                <a:cubicBezTo>
                  <a:pt x="60" y="442"/>
                  <a:pt x="43" y="424"/>
                  <a:pt x="43" y="404"/>
                </a:cubicBezTo>
                <a:cubicBezTo>
                  <a:pt x="43" y="383"/>
                  <a:pt x="60" y="366"/>
                  <a:pt x="81" y="366"/>
                </a:cubicBezTo>
                <a:cubicBezTo>
                  <a:pt x="101" y="366"/>
                  <a:pt x="119" y="383"/>
                  <a:pt x="119" y="404"/>
                </a:cubicBezTo>
                <a:close/>
                <a:moveTo>
                  <a:pt x="143" y="342"/>
                </a:moveTo>
                <a:cubicBezTo>
                  <a:pt x="143" y="362"/>
                  <a:pt x="125" y="380"/>
                  <a:pt x="105" y="380"/>
                </a:cubicBezTo>
                <a:cubicBezTo>
                  <a:pt x="84" y="380"/>
                  <a:pt x="67" y="362"/>
                  <a:pt x="67" y="342"/>
                </a:cubicBezTo>
                <a:cubicBezTo>
                  <a:pt x="67" y="321"/>
                  <a:pt x="84" y="304"/>
                  <a:pt x="105" y="304"/>
                </a:cubicBezTo>
                <a:cubicBezTo>
                  <a:pt x="125" y="304"/>
                  <a:pt x="143" y="321"/>
                  <a:pt x="143" y="342"/>
                </a:cubicBezTo>
                <a:close/>
                <a:moveTo>
                  <a:pt x="208" y="327"/>
                </a:moveTo>
                <a:cubicBezTo>
                  <a:pt x="208" y="347"/>
                  <a:pt x="190" y="365"/>
                  <a:pt x="170" y="365"/>
                </a:cubicBezTo>
                <a:cubicBezTo>
                  <a:pt x="149" y="365"/>
                  <a:pt x="132" y="347"/>
                  <a:pt x="132" y="327"/>
                </a:cubicBezTo>
                <a:cubicBezTo>
                  <a:pt x="132" y="306"/>
                  <a:pt x="149" y="289"/>
                  <a:pt x="170" y="289"/>
                </a:cubicBezTo>
                <a:cubicBezTo>
                  <a:pt x="190" y="289"/>
                  <a:pt x="208" y="306"/>
                  <a:pt x="208" y="327"/>
                </a:cubicBezTo>
                <a:close/>
                <a:moveTo>
                  <a:pt x="712" y="729"/>
                </a:moveTo>
                <a:cubicBezTo>
                  <a:pt x="712" y="749"/>
                  <a:pt x="694" y="767"/>
                  <a:pt x="674" y="767"/>
                </a:cubicBezTo>
                <a:cubicBezTo>
                  <a:pt x="653" y="767"/>
                  <a:pt x="636" y="749"/>
                  <a:pt x="636" y="729"/>
                </a:cubicBezTo>
                <a:cubicBezTo>
                  <a:pt x="636" y="708"/>
                  <a:pt x="653" y="691"/>
                  <a:pt x="674" y="691"/>
                </a:cubicBezTo>
                <a:cubicBezTo>
                  <a:pt x="694" y="691"/>
                  <a:pt x="712" y="708"/>
                  <a:pt x="712" y="729"/>
                </a:cubicBezTo>
                <a:close/>
                <a:moveTo>
                  <a:pt x="679" y="787"/>
                </a:moveTo>
                <a:cubicBezTo>
                  <a:pt x="679" y="807"/>
                  <a:pt x="661" y="825"/>
                  <a:pt x="641" y="825"/>
                </a:cubicBezTo>
                <a:cubicBezTo>
                  <a:pt x="620" y="825"/>
                  <a:pt x="603" y="807"/>
                  <a:pt x="603" y="787"/>
                </a:cubicBezTo>
                <a:cubicBezTo>
                  <a:pt x="603" y="766"/>
                  <a:pt x="620" y="749"/>
                  <a:pt x="641" y="749"/>
                </a:cubicBezTo>
                <a:cubicBezTo>
                  <a:pt x="661" y="749"/>
                  <a:pt x="679" y="766"/>
                  <a:pt x="679" y="787"/>
                </a:cubicBezTo>
                <a:close/>
                <a:moveTo>
                  <a:pt x="612" y="792"/>
                </a:moveTo>
                <a:cubicBezTo>
                  <a:pt x="612" y="812"/>
                  <a:pt x="594" y="830"/>
                  <a:pt x="574" y="830"/>
                </a:cubicBezTo>
                <a:cubicBezTo>
                  <a:pt x="553" y="830"/>
                  <a:pt x="536" y="812"/>
                  <a:pt x="536" y="792"/>
                </a:cubicBezTo>
                <a:cubicBezTo>
                  <a:pt x="536" y="771"/>
                  <a:pt x="553" y="754"/>
                  <a:pt x="574" y="754"/>
                </a:cubicBezTo>
                <a:cubicBezTo>
                  <a:pt x="594" y="754"/>
                  <a:pt x="612" y="771"/>
                  <a:pt x="612" y="792"/>
                </a:cubicBezTo>
                <a:close/>
                <a:moveTo>
                  <a:pt x="572" y="738"/>
                </a:moveTo>
                <a:cubicBezTo>
                  <a:pt x="572" y="758"/>
                  <a:pt x="554" y="776"/>
                  <a:pt x="534" y="776"/>
                </a:cubicBezTo>
                <a:cubicBezTo>
                  <a:pt x="513" y="776"/>
                  <a:pt x="496" y="758"/>
                  <a:pt x="496" y="738"/>
                </a:cubicBezTo>
                <a:cubicBezTo>
                  <a:pt x="496" y="717"/>
                  <a:pt x="513" y="700"/>
                  <a:pt x="534" y="700"/>
                </a:cubicBezTo>
                <a:cubicBezTo>
                  <a:pt x="554" y="700"/>
                  <a:pt x="572" y="717"/>
                  <a:pt x="572" y="738"/>
                </a:cubicBezTo>
                <a:close/>
                <a:moveTo>
                  <a:pt x="596" y="676"/>
                </a:moveTo>
                <a:cubicBezTo>
                  <a:pt x="596" y="696"/>
                  <a:pt x="578" y="714"/>
                  <a:pt x="558" y="714"/>
                </a:cubicBezTo>
                <a:cubicBezTo>
                  <a:pt x="537" y="714"/>
                  <a:pt x="520" y="696"/>
                  <a:pt x="520" y="676"/>
                </a:cubicBezTo>
                <a:cubicBezTo>
                  <a:pt x="520" y="655"/>
                  <a:pt x="537" y="638"/>
                  <a:pt x="558" y="638"/>
                </a:cubicBezTo>
                <a:cubicBezTo>
                  <a:pt x="578" y="638"/>
                  <a:pt x="596" y="655"/>
                  <a:pt x="596" y="676"/>
                </a:cubicBezTo>
                <a:close/>
                <a:moveTo>
                  <a:pt x="661" y="661"/>
                </a:moveTo>
                <a:cubicBezTo>
                  <a:pt x="661" y="681"/>
                  <a:pt x="643" y="699"/>
                  <a:pt x="623" y="699"/>
                </a:cubicBezTo>
                <a:cubicBezTo>
                  <a:pt x="602" y="699"/>
                  <a:pt x="585" y="681"/>
                  <a:pt x="585" y="661"/>
                </a:cubicBezTo>
                <a:cubicBezTo>
                  <a:pt x="585" y="640"/>
                  <a:pt x="602" y="623"/>
                  <a:pt x="623" y="623"/>
                </a:cubicBezTo>
                <a:cubicBezTo>
                  <a:pt x="643" y="623"/>
                  <a:pt x="661" y="640"/>
                  <a:pt x="661" y="661"/>
                </a:cubicBezTo>
                <a:close/>
                <a:moveTo>
                  <a:pt x="964" y="516"/>
                </a:moveTo>
                <a:cubicBezTo>
                  <a:pt x="964" y="536"/>
                  <a:pt x="946" y="554"/>
                  <a:pt x="926" y="554"/>
                </a:cubicBezTo>
                <a:cubicBezTo>
                  <a:pt x="905" y="554"/>
                  <a:pt x="888" y="536"/>
                  <a:pt x="888" y="516"/>
                </a:cubicBezTo>
                <a:cubicBezTo>
                  <a:pt x="888" y="495"/>
                  <a:pt x="905" y="478"/>
                  <a:pt x="926" y="478"/>
                </a:cubicBezTo>
                <a:cubicBezTo>
                  <a:pt x="946" y="478"/>
                  <a:pt x="964" y="495"/>
                  <a:pt x="964" y="516"/>
                </a:cubicBezTo>
                <a:close/>
                <a:moveTo>
                  <a:pt x="931" y="574"/>
                </a:moveTo>
                <a:cubicBezTo>
                  <a:pt x="931" y="594"/>
                  <a:pt x="913" y="612"/>
                  <a:pt x="893" y="612"/>
                </a:cubicBezTo>
                <a:cubicBezTo>
                  <a:pt x="872" y="612"/>
                  <a:pt x="855" y="594"/>
                  <a:pt x="855" y="574"/>
                </a:cubicBezTo>
                <a:cubicBezTo>
                  <a:pt x="855" y="553"/>
                  <a:pt x="872" y="536"/>
                  <a:pt x="893" y="536"/>
                </a:cubicBezTo>
                <a:cubicBezTo>
                  <a:pt x="913" y="536"/>
                  <a:pt x="931" y="553"/>
                  <a:pt x="931" y="574"/>
                </a:cubicBezTo>
                <a:close/>
                <a:moveTo>
                  <a:pt x="864" y="579"/>
                </a:moveTo>
                <a:cubicBezTo>
                  <a:pt x="864" y="599"/>
                  <a:pt x="846" y="617"/>
                  <a:pt x="826" y="617"/>
                </a:cubicBezTo>
                <a:cubicBezTo>
                  <a:pt x="805" y="617"/>
                  <a:pt x="788" y="599"/>
                  <a:pt x="788" y="579"/>
                </a:cubicBezTo>
                <a:cubicBezTo>
                  <a:pt x="788" y="558"/>
                  <a:pt x="805" y="541"/>
                  <a:pt x="826" y="541"/>
                </a:cubicBezTo>
                <a:cubicBezTo>
                  <a:pt x="846" y="541"/>
                  <a:pt x="864" y="558"/>
                  <a:pt x="864" y="579"/>
                </a:cubicBezTo>
                <a:close/>
                <a:moveTo>
                  <a:pt x="824" y="525"/>
                </a:moveTo>
                <a:cubicBezTo>
                  <a:pt x="824" y="545"/>
                  <a:pt x="806" y="563"/>
                  <a:pt x="786" y="563"/>
                </a:cubicBezTo>
                <a:cubicBezTo>
                  <a:pt x="765" y="563"/>
                  <a:pt x="748" y="545"/>
                  <a:pt x="748" y="525"/>
                </a:cubicBezTo>
                <a:cubicBezTo>
                  <a:pt x="748" y="504"/>
                  <a:pt x="765" y="487"/>
                  <a:pt x="786" y="487"/>
                </a:cubicBezTo>
                <a:cubicBezTo>
                  <a:pt x="806" y="487"/>
                  <a:pt x="824" y="504"/>
                  <a:pt x="824" y="525"/>
                </a:cubicBezTo>
                <a:close/>
                <a:moveTo>
                  <a:pt x="848" y="463"/>
                </a:moveTo>
                <a:cubicBezTo>
                  <a:pt x="848" y="483"/>
                  <a:pt x="830" y="501"/>
                  <a:pt x="810" y="501"/>
                </a:cubicBezTo>
                <a:cubicBezTo>
                  <a:pt x="789" y="501"/>
                  <a:pt x="772" y="483"/>
                  <a:pt x="772" y="463"/>
                </a:cubicBezTo>
                <a:cubicBezTo>
                  <a:pt x="772" y="442"/>
                  <a:pt x="789" y="425"/>
                  <a:pt x="810" y="425"/>
                </a:cubicBezTo>
                <a:cubicBezTo>
                  <a:pt x="830" y="425"/>
                  <a:pt x="848" y="442"/>
                  <a:pt x="848" y="463"/>
                </a:cubicBezTo>
                <a:close/>
                <a:moveTo>
                  <a:pt x="913" y="448"/>
                </a:moveTo>
                <a:cubicBezTo>
                  <a:pt x="913" y="468"/>
                  <a:pt x="895" y="486"/>
                  <a:pt x="875" y="486"/>
                </a:cubicBezTo>
                <a:cubicBezTo>
                  <a:pt x="854" y="486"/>
                  <a:pt x="837" y="468"/>
                  <a:pt x="837" y="448"/>
                </a:cubicBezTo>
                <a:cubicBezTo>
                  <a:pt x="837" y="427"/>
                  <a:pt x="854" y="410"/>
                  <a:pt x="875" y="410"/>
                </a:cubicBezTo>
                <a:cubicBezTo>
                  <a:pt x="895" y="410"/>
                  <a:pt x="913" y="427"/>
                  <a:pt x="913" y="448"/>
                </a:cubicBezTo>
                <a:close/>
              </a:path>
            </a:pathLst>
          </a:custGeom>
          <a:solidFill>
            <a:srgbClr val="B03A6E"/>
          </a:solidFill>
          <a:ln>
            <a:noFill/>
          </a:ln>
        </p:spPr>
      </p:sp>
      <p:sp>
        <p:nvSpPr>
          <p:cNvPr id="23" name="G1P 0"/>
          <p:cNvSpPr/>
          <p:nvPr/>
        </p:nvSpPr>
        <p:spPr>
          <a:xfrm>
            <a:off x="8595360" y="3657600"/>
            <a:ext cx="411480" cy="41148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G1P</a:t>
            </a:r>
            <a:endParaRPr lang="es-AR" sz="1170" dirty="0">
              <a:latin typeface="Bahnschrift SemiBold Condensed"/>
            </a:endParaRPr>
          </a:p>
        </p:txBody>
      </p:sp>
      <p:sp>
        <p:nvSpPr>
          <p:cNvPr id="24" name="G1P 1"/>
          <p:cNvSpPr/>
          <p:nvPr/>
        </p:nvSpPr>
        <p:spPr>
          <a:xfrm>
            <a:off x="9281160" y="3657600"/>
            <a:ext cx="411480" cy="41148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G1P</a:t>
            </a:r>
            <a:endParaRPr lang="es-AR" sz="1170" dirty="0">
              <a:latin typeface="Bahnschrift SemiBold Condensed"/>
            </a:endParaRPr>
          </a:p>
        </p:txBody>
      </p:sp>
      <p:sp>
        <p:nvSpPr>
          <p:cNvPr id="25" name="G1P 2"/>
          <p:cNvSpPr/>
          <p:nvPr/>
        </p:nvSpPr>
        <p:spPr>
          <a:xfrm>
            <a:off x="9966960" y="3657600"/>
            <a:ext cx="411480" cy="41148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G1P</a:t>
            </a:r>
            <a:endParaRPr lang="es-AR" sz="1170" dirty="0">
              <a:latin typeface="Bahnschrift SemiBold Condensed"/>
            </a:endParaRPr>
          </a:p>
        </p:txBody>
      </p:sp>
      <p:sp>
        <p:nvSpPr>
          <p:cNvPr id="26" name="G1P 3"/>
          <p:cNvSpPr/>
          <p:nvPr/>
        </p:nvSpPr>
        <p:spPr>
          <a:xfrm>
            <a:off x="10652760" y="3657600"/>
            <a:ext cx="411480" cy="41148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G1P</a:t>
            </a:r>
            <a:endParaRPr lang="es-AR" sz="1170" dirty="0">
              <a:latin typeface="Bahnschrift SemiBold Condensed"/>
            </a:endParaRPr>
          </a:p>
        </p:txBody>
      </p:sp>
      <p:grpSp>
        <p:nvGrpSpPr>
          <p:cNvPr id="27" name="Recuadro Para qué"/>
          <p:cNvGrpSpPr/>
          <p:nvPr/>
        </p:nvGrpSpPr>
        <p:grpSpPr>
          <a:xfrm>
            <a:off x="8046720" y="4343400"/>
            <a:ext cx="3749040" cy="2148840"/>
            <a:chOff x="8046720" y="4343400"/>
            <a:chExt cx="3749040" cy="2148840"/>
          </a:xfrm>
        </p:grpSpPr>
        <p:sp>
          <p:nvSpPr>
            <p:cNvPr id="28" name="Forma 34"/>
            <p:cNvSpPr/>
            <p:nvPr/>
          </p:nvSpPr>
          <p:spPr>
            <a:xfrm>
              <a:off x="8046720" y="4526280"/>
              <a:ext cx="3749040" cy="19659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Objetivo: </a:t>
              </a:r>
              <a:r>
                <a:rPr lang="es-AR" sz="1700" b="1" dirty="0">
                  <a:solidFill>
                    <a:srgbClr val="1E1E1E"/>
                  </a:solidFill>
                  <a:latin typeface="Bahnschrift"/>
                  <a:ea typeface="Bahnschrift"/>
                  <a:cs typeface="Bahnschrift"/>
                  <a:sym typeface="Bahnschrift"/>
                </a:rPr>
                <a:t>defender la glucemia entre comidas</a:t>
              </a:r>
              <a:r>
                <a:rPr lang="es-AR" sz="1700" dirty="0">
                  <a:solidFill>
                    <a:srgbClr val="1E1E1E"/>
                  </a:solidFill>
                  <a:latin typeface="Bahnschrift"/>
                  <a:ea typeface="Bahnschrift"/>
                  <a:cs typeface="Bahnschrift"/>
                  <a:sym typeface="Bahnschrift"/>
                </a:rPr>
                <a:t>, sobre todo en las </a:t>
              </a:r>
              <a:r>
                <a:rPr lang="es-AR" sz="1700" b="1" dirty="0">
                  <a:solidFill>
                    <a:srgbClr val="1E1E1E"/>
                  </a:solidFill>
                  <a:latin typeface="Bahnschrift"/>
                  <a:ea typeface="Bahnschrift"/>
                  <a:cs typeface="Bahnschrift"/>
                  <a:sym typeface="Bahnschrift"/>
                </a:rPr>
                <a:t>primeras horas</a:t>
              </a:r>
              <a:r>
                <a:rPr lang="es-AR" sz="1700" dirty="0">
                  <a:solidFill>
                    <a:srgbClr val="1E1E1E"/>
                  </a:solidFill>
                  <a:latin typeface="Bahnschrift"/>
                  <a:ea typeface="Bahnschrift"/>
                  <a:cs typeface="Bahnschrift"/>
                  <a:sym typeface="Bahnschrift"/>
                </a:rPr>
                <a:t> de ayuno.</a:t>
              </a:r>
              <a:endParaRPr lang="es-AR" sz="1700" dirty="0">
                <a:latin typeface="Bahnschrift"/>
              </a:endParaRPr>
            </a:p>
          </p:txBody>
        </p:sp>
        <p:sp>
          <p:nvSpPr>
            <p:cNvPr id="29" name="Forma 35"/>
            <p:cNvSpPr/>
            <p:nvPr/>
          </p:nvSpPr>
          <p:spPr>
            <a:xfrm>
              <a:off x="8156448" y="4343400"/>
              <a:ext cx="107082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PARA QUÉ</a:t>
              </a:r>
              <a:endParaRPr lang="es-AR" sz="155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00482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7 · GLUCOGENÓLISIS HEPÁTICA: CASCADA DE AMPLIFICACIÓN</a:t>
            </a:r>
            <a:endParaRPr lang="es-AR" sz="2600" dirty="0">
              <a:latin typeface="Bahnschrift SemiBold Condensed"/>
            </a:endParaRPr>
          </a:p>
        </p:txBody>
      </p:sp>
      <p:sp>
        <p:nvSpPr>
          <p:cNvPr id="3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600"/>
                                        <p:tgtEl>
                                          <p:spTgt spid="7"/>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600"/>
                                        <p:tgtEl>
                                          <p:spTgt spid="9"/>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600"/>
                                        <p:tgtEl>
                                          <p:spTgt spid="11"/>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52" fill="hold">
                      <p:stCondLst>
                        <p:cond delay="indefinite"/>
                      </p:stCondLst>
                      <p:childTnLst>
                        <p:par>
                          <p:cTn id="47"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600"/>
                                        <p:tgtEl>
                                          <p:spTgt spid="13"/>
                                        </p:tgtEl>
                                      </p:cBhvr>
                                    </p:animEffect>
                                  </p:childTnLst>
                                </p:cTn>
                              </p:par>
                            </p:childTnLst>
                          </p:cTn>
                        </p:par>
                        <p:par>
                          <p:cTn id="51" fill="hold">
                            <p:stCondLst>
                              <p:cond delay="600"/>
                            </p:stCondLst>
                            <p:childTnLst>
                              <p:par>
                                <p:cTn id="48" presetID="10" presetClass="entr" presetSubtype="0"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childTnLst>
                          </p:cTn>
                        </p:par>
                      </p:childTnLst>
                    </p:cTn>
                  </p:par>
                  <p:par>
                    <p:cTn id="57" fill="hold">
                      <p:stCondLst>
                        <p:cond delay="indefinite"/>
                      </p:stCondLst>
                      <p:childTnLst>
                        <p:par>
                          <p:cTn id="56"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fade">
                                      <p:cBhvr>
                                        <p:cTn id="55" dur="500"/>
                                        <p:tgtEl>
                                          <p:spTgt spid="19"/>
                                        </p:tgtEl>
                                      </p:cBhvr>
                                    </p:animEffect>
                                  </p:childTnLst>
                                </p:cTn>
                              </p:par>
                            </p:childTnLst>
                          </p:cTn>
                        </p:par>
                      </p:childTnLst>
                    </p:cTn>
                  </p:par>
                  <p:par>
                    <p:cTn id="66" fill="hold">
                      <p:stCondLst>
                        <p:cond delay="indefinite"/>
                      </p:stCondLst>
                      <p:childTnLst>
                        <p:par>
                          <p:cTn id="61"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wipe(left)">
                                      <p:cBhvr>
                                        <p:cTn id="60" dur="600"/>
                                        <p:tgtEl>
                                          <p:spTgt spid="16"/>
                                        </p:tgtEl>
                                      </p:cBhvr>
                                    </p:animEffect>
                                  </p:childTnLst>
                                </p:cTn>
                              </p:par>
                            </p:childTnLst>
                          </p:cTn>
                        </p:par>
                        <p:par>
                          <p:cTn id="65" fill="hold">
                            <p:stCondLst>
                              <p:cond delay="600"/>
                            </p:stCondLst>
                            <p:childTnLst>
                              <p:par>
                                <p:cTn id="62" presetID="10" presetClass="entr" presetSubtype="0" fill="hold" grpId="0" nodeType="afterEffect">
                                  <p:stCondLst>
                                    <p:cond delay="0"/>
                                  </p:stCondLst>
                                  <p:childTnLst>
                                    <p:set>
                                      <p:cBhvr>
                                        <p:cTn id="63" dur="1" fill="hold">
                                          <p:stCondLst>
                                            <p:cond delay="0"/>
                                          </p:stCondLst>
                                        </p:cTn>
                                        <p:tgtEl>
                                          <p:spTgt spid="15"/>
                                        </p:tgtEl>
                                        <p:attrNameLst>
                                          <p:attrName>style.visibility</p:attrName>
                                        </p:attrNameLst>
                                      </p:cBhvr>
                                      <p:to>
                                        <p:strVal val="visible"/>
                                      </p:to>
                                    </p:set>
                                    <p:animEffect transition="in" filter="fade">
                                      <p:cBhvr>
                                        <p:cTn id="64" dur="500"/>
                                        <p:tgtEl>
                                          <p:spTgt spid="15"/>
                                        </p:tgtEl>
                                      </p:cBhvr>
                                    </p:animEffect>
                                  </p:childTnLst>
                                </p:cTn>
                              </p:par>
                            </p:childTnLst>
                          </p:cTn>
                        </p:par>
                      </p:childTnLst>
                    </p:cTn>
                  </p:par>
                  <p:par>
                    <p:cTn id="91" fill="hold">
                      <p:stCondLst>
                        <p:cond delay="indefinite"/>
                      </p:stCondLst>
                      <p:childTnLst>
                        <p:par>
                          <p:cTn id="69" fill="hold">
                            <p:stCondLst>
                              <p:cond delay="0"/>
                            </p:stCondLst>
                            <p:childTnLst>
                              <p:par>
                                <p:cTn id="67" presetID="6" presetClass="emph" presetSubtype="0" fill="hold" grpId="0" nodeType="clickEffect">
                                  <p:stCondLst>
                                    <p:cond delay="0"/>
                                  </p:stCondLst>
                                  <p:childTnLst>
                                    <p:animScale>
                                      <p:cBhvr>
                                        <p:cTn id="68" dur="300" autoRev="1" fill="hold"/>
                                        <p:tgtEl>
                                          <p:spTgt spid="22"/>
                                        </p:tgtEl>
                                      </p:cBhvr>
                                      <p:by x="112000" y="112000"/>
                                    </p:animScale>
                                  </p:childTnLst>
                                </p:cTn>
                              </p:par>
                            </p:childTnLst>
                          </p:cTn>
                        </p:par>
                        <p:par>
                          <p:cTn id="90" fill="hold">
                            <p:stCondLst>
                              <p:cond delay="300"/>
                            </p:stCondLst>
                            <p:childTnLst>
                              <p:par>
                                <p:cTn id="70" presetID="53" presetClass="entr" presetSubtype="16" fill="hold" grpId="0" nodeType="afterEffect">
                                  <p:stCondLst>
                                    <p:cond delay="0"/>
                                  </p:stCondLst>
                                  <p:childTnLst>
                                    <p:set>
                                      <p:cBhvr>
                                        <p:cTn id="71" dur="1" fill="hold">
                                          <p:stCondLst>
                                            <p:cond delay="0"/>
                                          </p:stCondLst>
                                        </p:cTn>
                                        <p:tgtEl>
                                          <p:spTgt spid="23"/>
                                        </p:tgtEl>
                                        <p:attrNameLst>
                                          <p:attrName>style.visibility</p:attrName>
                                        </p:attrNameLst>
                                      </p:cBhvr>
                                      <p:to>
                                        <p:strVal val="visible"/>
                                      </p:to>
                                    </p:set>
                                    <p:anim calcmode="lin" valueType="num">
                                      <p:cBhvr>
                                        <p:cTn id="72" dur="500" fill="hold"/>
                                        <p:tgtEl>
                                          <p:spTgt spid="23"/>
                                        </p:tgtEl>
                                        <p:attrNameLst>
                                          <p:attrName>ppt_w</p:attrName>
                                        </p:attrNameLst>
                                      </p:cBhvr>
                                      <p:tavLst>
                                        <p:tav tm="0">
                                          <p:val>
                                            <p:fltVal val="0"/>
                                          </p:val>
                                        </p:tav>
                                        <p:tav tm="100000">
                                          <p:val>
                                            <p:strVal val="#ppt_w"/>
                                          </p:val>
                                        </p:tav>
                                      </p:tavLst>
                                    </p:anim>
                                    <p:anim calcmode="lin" valueType="num">
                                      <p:cBhvr>
                                        <p:cTn id="73" dur="500" fill="hold"/>
                                        <p:tgtEl>
                                          <p:spTgt spid="23"/>
                                        </p:tgtEl>
                                        <p:attrNameLst>
                                          <p:attrName>ppt_h</p:attrName>
                                        </p:attrNameLst>
                                      </p:cBhvr>
                                      <p:tavLst>
                                        <p:tav tm="0">
                                          <p:val>
                                            <p:fltVal val="0"/>
                                          </p:val>
                                        </p:tav>
                                        <p:tav tm="100000">
                                          <p:val>
                                            <p:strVal val="#ppt_h"/>
                                          </p:val>
                                        </p:tav>
                                      </p:tavLst>
                                    </p:anim>
                                    <p:animEffect transition="in" filter="fade">
                                      <p:cBhvr>
                                        <p:cTn id="74" dur="500"/>
                                        <p:tgtEl>
                                          <p:spTgt spid="23"/>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24"/>
                                        </p:tgtEl>
                                        <p:attrNameLst>
                                          <p:attrName>style.visibility</p:attrName>
                                        </p:attrNameLst>
                                      </p:cBhvr>
                                      <p:to>
                                        <p:strVal val="visible"/>
                                      </p:to>
                                    </p:set>
                                    <p:anim calcmode="lin" valueType="num">
                                      <p:cBhvr>
                                        <p:cTn id="77" dur="500" fill="hold"/>
                                        <p:tgtEl>
                                          <p:spTgt spid="24"/>
                                        </p:tgtEl>
                                        <p:attrNameLst>
                                          <p:attrName>ppt_w</p:attrName>
                                        </p:attrNameLst>
                                      </p:cBhvr>
                                      <p:tavLst>
                                        <p:tav tm="0">
                                          <p:val>
                                            <p:fltVal val="0"/>
                                          </p:val>
                                        </p:tav>
                                        <p:tav tm="100000">
                                          <p:val>
                                            <p:strVal val="#ppt_w"/>
                                          </p:val>
                                        </p:tav>
                                      </p:tavLst>
                                    </p:anim>
                                    <p:anim calcmode="lin" valueType="num">
                                      <p:cBhvr>
                                        <p:cTn id="78" dur="500" fill="hold"/>
                                        <p:tgtEl>
                                          <p:spTgt spid="24"/>
                                        </p:tgtEl>
                                        <p:attrNameLst>
                                          <p:attrName>ppt_h</p:attrName>
                                        </p:attrNameLst>
                                      </p:cBhvr>
                                      <p:tavLst>
                                        <p:tav tm="0">
                                          <p:val>
                                            <p:fltVal val="0"/>
                                          </p:val>
                                        </p:tav>
                                        <p:tav tm="100000">
                                          <p:val>
                                            <p:strVal val="#ppt_h"/>
                                          </p:val>
                                        </p:tav>
                                      </p:tavLst>
                                    </p:anim>
                                    <p:animEffect transition="in" filter="fade">
                                      <p:cBhvr>
                                        <p:cTn id="79" dur="500"/>
                                        <p:tgtEl>
                                          <p:spTgt spid="24"/>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p:cTn id="82" dur="500" fill="hold"/>
                                        <p:tgtEl>
                                          <p:spTgt spid="25"/>
                                        </p:tgtEl>
                                        <p:attrNameLst>
                                          <p:attrName>ppt_w</p:attrName>
                                        </p:attrNameLst>
                                      </p:cBhvr>
                                      <p:tavLst>
                                        <p:tav tm="0">
                                          <p:val>
                                            <p:fltVal val="0"/>
                                          </p:val>
                                        </p:tav>
                                        <p:tav tm="100000">
                                          <p:val>
                                            <p:strVal val="#ppt_w"/>
                                          </p:val>
                                        </p:tav>
                                      </p:tavLst>
                                    </p:anim>
                                    <p:anim calcmode="lin" valueType="num">
                                      <p:cBhvr>
                                        <p:cTn id="83" dur="500" fill="hold"/>
                                        <p:tgtEl>
                                          <p:spTgt spid="25"/>
                                        </p:tgtEl>
                                        <p:attrNameLst>
                                          <p:attrName>ppt_h</p:attrName>
                                        </p:attrNameLst>
                                      </p:cBhvr>
                                      <p:tavLst>
                                        <p:tav tm="0">
                                          <p:val>
                                            <p:fltVal val="0"/>
                                          </p:val>
                                        </p:tav>
                                        <p:tav tm="100000">
                                          <p:val>
                                            <p:strVal val="#ppt_h"/>
                                          </p:val>
                                        </p:tav>
                                      </p:tavLst>
                                    </p:anim>
                                    <p:animEffect transition="in" filter="fade">
                                      <p:cBhvr>
                                        <p:cTn id="84" dur="500"/>
                                        <p:tgtEl>
                                          <p:spTgt spid="25"/>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p:cTn id="87" dur="500" fill="hold"/>
                                        <p:tgtEl>
                                          <p:spTgt spid="26"/>
                                        </p:tgtEl>
                                        <p:attrNameLst>
                                          <p:attrName>ppt_w</p:attrName>
                                        </p:attrNameLst>
                                      </p:cBhvr>
                                      <p:tavLst>
                                        <p:tav tm="0">
                                          <p:val>
                                            <p:fltVal val="0"/>
                                          </p:val>
                                        </p:tav>
                                        <p:tav tm="100000">
                                          <p:val>
                                            <p:strVal val="#ppt_w"/>
                                          </p:val>
                                        </p:tav>
                                      </p:tavLst>
                                    </p:anim>
                                    <p:anim calcmode="lin" valueType="num">
                                      <p:cBhvr>
                                        <p:cTn id="88" dur="500" fill="hold"/>
                                        <p:tgtEl>
                                          <p:spTgt spid="26"/>
                                        </p:tgtEl>
                                        <p:attrNameLst>
                                          <p:attrName>ppt_h</p:attrName>
                                        </p:attrNameLst>
                                      </p:cBhvr>
                                      <p:tavLst>
                                        <p:tav tm="0">
                                          <p:val>
                                            <p:fltVal val="0"/>
                                          </p:val>
                                        </p:tav>
                                        <p:tav tm="100000">
                                          <p:val>
                                            <p:strVal val="#ppt_h"/>
                                          </p:val>
                                        </p:tav>
                                      </p:tavLst>
                                    </p:anim>
                                    <p:animEffect transition="in" filter="fade">
                                      <p:cBhvr>
                                        <p:cTn id="89" dur="500"/>
                                        <p:tgtEl>
                                          <p:spTgt spid="26"/>
                                        </p:tgtEl>
                                      </p:cBhvr>
                                    </p:animEffect>
                                  </p:childTnLst>
                                </p:cTn>
                              </p:par>
                            </p:childTnLst>
                          </p:cTn>
                        </p:par>
                      </p:childTnLst>
                    </p:cTn>
                  </p:par>
                  <p:par>
                    <p:cTn id="96" fill="hold">
                      <p:stCondLst>
                        <p:cond delay="indefinite"/>
                      </p:stCondLst>
                      <p:childTnLst>
                        <p:par>
                          <p:cTn id="95"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7"/>
                                        </p:tgtEl>
                                        <p:attrNameLst>
                                          <p:attrName>style.visibility</p:attrName>
                                        </p:attrNameLst>
                                      </p:cBhvr>
                                      <p:to>
                                        <p:strVal val="visible"/>
                                      </p:to>
                                    </p:set>
                                    <p:animEffect transition="in" filter="fade">
                                      <p:cBhvr>
                                        <p:cTn id="94"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22" grpId="0" animBg="1"/>
      <p:bldP spid="23" grpId="0" animBg="1"/>
      <p:bldP spid="24" grpId="0" animBg="1"/>
      <p:bldP spid="25" grpId="0" animBg="1"/>
      <p:bldP spid="26" grpId="0" animBg="1"/>
    </p:bldLst>
  </p:timing>
</p:sld>
</file>

<file path=ppt/slides/slide61.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Hepatocito"/>
          <p:cNvSpPr/>
          <p:nvPr/>
        </p:nvSpPr>
        <p:spPr>
          <a:xfrm>
            <a:off x="274320" y="960120"/>
            <a:ext cx="7680960" cy="5532120"/>
          </a:xfrm>
          <a:prstGeom prst="roundRect">
            <a:avLst>
              <a:gd name="adj" fmla="val 6000"/>
            </a:avLst>
          </a:prstGeom>
          <a:solidFill>
            <a:srgbClr val="F5CBA7">
              <a:alpha val="60000"/>
            </a:srgbClr>
          </a:solidFill>
          <a:ln w="25400" cap="rnd">
            <a:solidFill>
              <a:srgbClr val="A04000"/>
            </a:solidFill>
            <a:round/>
          </a:ln>
        </p:spPr>
      </p:sp>
      <p:sp>
        <p:nvSpPr>
          <p:cNvPr id="5" name="Glucógeno"/>
          <p:cNvSpPr/>
          <p:nvPr/>
        </p:nvSpPr>
        <p:spPr>
          <a:xfrm>
            <a:off x="502920" y="1097280"/>
            <a:ext cx="2194560" cy="1188720"/>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moveTo>
                  <a:pt x="848" y="133"/>
                </a:moveTo>
                <a:cubicBezTo>
                  <a:pt x="848" y="153"/>
                  <a:pt x="830" y="171"/>
                  <a:pt x="810" y="171"/>
                </a:cubicBezTo>
                <a:cubicBezTo>
                  <a:pt x="789" y="171"/>
                  <a:pt x="772" y="153"/>
                  <a:pt x="772" y="133"/>
                </a:cubicBezTo>
                <a:cubicBezTo>
                  <a:pt x="772" y="112"/>
                  <a:pt x="789" y="95"/>
                  <a:pt x="810" y="95"/>
                </a:cubicBezTo>
                <a:cubicBezTo>
                  <a:pt x="830" y="95"/>
                  <a:pt x="848" y="112"/>
                  <a:pt x="848" y="133"/>
                </a:cubicBezTo>
                <a:close/>
                <a:moveTo>
                  <a:pt x="815" y="191"/>
                </a:moveTo>
                <a:cubicBezTo>
                  <a:pt x="815" y="211"/>
                  <a:pt x="797" y="229"/>
                  <a:pt x="777" y="229"/>
                </a:cubicBezTo>
                <a:cubicBezTo>
                  <a:pt x="756" y="229"/>
                  <a:pt x="739" y="211"/>
                  <a:pt x="739" y="191"/>
                </a:cubicBezTo>
                <a:cubicBezTo>
                  <a:pt x="739" y="170"/>
                  <a:pt x="756" y="153"/>
                  <a:pt x="777" y="153"/>
                </a:cubicBezTo>
                <a:cubicBezTo>
                  <a:pt x="797" y="153"/>
                  <a:pt x="815" y="170"/>
                  <a:pt x="815" y="191"/>
                </a:cubicBezTo>
                <a:close/>
                <a:moveTo>
                  <a:pt x="748" y="196"/>
                </a:moveTo>
                <a:cubicBezTo>
                  <a:pt x="748" y="216"/>
                  <a:pt x="730" y="234"/>
                  <a:pt x="710" y="234"/>
                </a:cubicBezTo>
                <a:cubicBezTo>
                  <a:pt x="689" y="234"/>
                  <a:pt x="672" y="216"/>
                  <a:pt x="672" y="196"/>
                </a:cubicBezTo>
                <a:cubicBezTo>
                  <a:pt x="672" y="175"/>
                  <a:pt x="689" y="158"/>
                  <a:pt x="710" y="158"/>
                </a:cubicBezTo>
                <a:cubicBezTo>
                  <a:pt x="730" y="158"/>
                  <a:pt x="748" y="175"/>
                  <a:pt x="748" y="196"/>
                </a:cubicBezTo>
                <a:close/>
                <a:moveTo>
                  <a:pt x="708" y="142"/>
                </a:moveTo>
                <a:cubicBezTo>
                  <a:pt x="708" y="162"/>
                  <a:pt x="690" y="180"/>
                  <a:pt x="670" y="180"/>
                </a:cubicBezTo>
                <a:cubicBezTo>
                  <a:pt x="649" y="180"/>
                  <a:pt x="632" y="162"/>
                  <a:pt x="632" y="142"/>
                </a:cubicBezTo>
                <a:cubicBezTo>
                  <a:pt x="632" y="121"/>
                  <a:pt x="649" y="104"/>
                  <a:pt x="670" y="104"/>
                </a:cubicBezTo>
                <a:cubicBezTo>
                  <a:pt x="690" y="104"/>
                  <a:pt x="708" y="121"/>
                  <a:pt x="708" y="142"/>
                </a:cubicBezTo>
                <a:close/>
                <a:moveTo>
                  <a:pt x="732" y="80"/>
                </a:moveTo>
                <a:cubicBezTo>
                  <a:pt x="732" y="100"/>
                  <a:pt x="714" y="118"/>
                  <a:pt x="694" y="118"/>
                </a:cubicBezTo>
                <a:cubicBezTo>
                  <a:pt x="673" y="118"/>
                  <a:pt x="656" y="100"/>
                  <a:pt x="656" y="80"/>
                </a:cubicBezTo>
                <a:cubicBezTo>
                  <a:pt x="656" y="59"/>
                  <a:pt x="673" y="42"/>
                  <a:pt x="694" y="42"/>
                </a:cubicBezTo>
                <a:cubicBezTo>
                  <a:pt x="714" y="42"/>
                  <a:pt x="732" y="59"/>
                  <a:pt x="732" y="80"/>
                </a:cubicBezTo>
                <a:close/>
                <a:moveTo>
                  <a:pt x="797" y="65"/>
                </a:moveTo>
                <a:cubicBezTo>
                  <a:pt x="797" y="85"/>
                  <a:pt x="779" y="103"/>
                  <a:pt x="759" y="103"/>
                </a:cubicBezTo>
                <a:cubicBezTo>
                  <a:pt x="738" y="103"/>
                  <a:pt x="721" y="85"/>
                  <a:pt x="721" y="65"/>
                </a:cubicBezTo>
                <a:cubicBezTo>
                  <a:pt x="721" y="44"/>
                  <a:pt x="738" y="27"/>
                  <a:pt x="759" y="27"/>
                </a:cubicBezTo>
                <a:cubicBezTo>
                  <a:pt x="779" y="27"/>
                  <a:pt x="797" y="44"/>
                  <a:pt x="797" y="65"/>
                </a:cubicBezTo>
                <a:close/>
                <a:moveTo>
                  <a:pt x="708" y="385"/>
                </a:moveTo>
                <a:cubicBezTo>
                  <a:pt x="708" y="405"/>
                  <a:pt x="690" y="423"/>
                  <a:pt x="670" y="423"/>
                </a:cubicBezTo>
                <a:cubicBezTo>
                  <a:pt x="649" y="423"/>
                  <a:pt x="632" y="405"/>
                  <a:pt x="632" y="385"/>
                </a:cubicBezTo>
                <a:cubicBezTo>
                  <a:pt x="632" y="364"/>
                  <a:pt x="649" y="347"/>
                  <a:pt x="670" y="347"/>
                </a:cubicBezTo>
                <a:cubicBezTo>
                  <a:pt x="690" y="347"/>
                  <a:pt x="708" y="364"/>
                  <a:pt x="708" y="385"/>
                </a:cubicBezTo>
                <a:close/>
                <a:moveTo>
                  <a:pt x="675" y="443"/>
                </a:moveTo>
                <a:cubicBezTo>
                  <a:pt x="675" y="463"/>
                  <a:pt x="657" y="481"/>
                  <a:pt x="637" y="481"/>
                </a:cubicBezTo>
                <a:cubicBezTo>
                  <a:pt x="616" y="481"/>
                  <a:pt x="599" y="463"/>
                  <a:pt x="599" y="443"/>
                </a:cubicBezTo>
                <a:cubicBezTo>
                  <a:pt x="599" y="422"/>
                  <a:pt x="616" y="405"/>
                  <a:pt x="637" y="405"/>
                </a:cubicBezTo>
                <a:cubicBezTo>
                  <a:pt x="657" y="405"/>
                  <a:pt x="675" y="422"/>
                  <a:pt x="675" y="443"/>
                </a:cubicBezTo>
                <a:close/>
                <a:moveTo>
                  <a:pt x="608" y="448"/>
                </a:moveTo>
                <a:cubicBezTo>
                  <a:pt x="608" y="468"/>
                  <a:pt x="590" y="486"/>
                  <a:pt x="570" y="486"/>
                </a:cubicBezTo>
                <a:cubicBezTo>
                  <a:pt x="549" y="486"/>
                  <a:pt x="532" y="468"/>
                  <a:pt x="532" y="448"/>
                </a:cubicBezTo>
                <a:cubicBezTo>
                  <a:pt x="532" y="427"/>
                  <a:pt x="549" y="410"/>
                  <a:pt x="570" y="410"/>
                </a:cubicBezTo>
                <a:cubicBezTo>
                  <a:pt x="590" y="410"/>
                  <a:pt x="608" y="427"/>
                  <a:pt x="608" y="448"/>
                </a:cubicBezTo>
                <a:close/>
                <a:moveTo>
                  <a:pt x="568" y="394"/>
                </a:moveTo>
                <a:cubicBezTo>
                  <a:pt x="568" y="414"/>
                  <a:pt x="550" y="432"/>
                  <a:pt x="530" y="432"/>
                </a:cubicBezTo>
                <a:cubicBezTo>
                  <a:pt x="509" y="432"/>
                  <a:pt x="492" y="414"/>
                  <a:pt x="492" y="394"/>
                </a:cubicBezTo>
                <a:cubicBezTo>
                  <a:pt x="492" y="373"/>
                  <a:pt x="509" y="356"/>
                  <a:pt x="530" y="356"/>
                </a:cubicBezTo>
                <a:cubicBezTo>
                  <a:pt x="550" y="356"/>
                  <a:pt x="568" y="373"/>
                  <a:pt x="568" y="394"/>
                </a:cubicBezTo>
                <a:close/>
                <a:moveTo>
                  <a:pt x="592" y="332"/>
                </a:moveTo>
                <a:cubicBezTo>
                  <a:pt x="592" y="352"/>
                  <a:pt x="574" y="370"/>
                  <a:pt x="554" y="370"/>
                </a:cubicBezTo>
                <a:cubicBezTo>
                  <a:pt x="533" y="370"/>
                  <a:pt x="516" y="352"/>
                  <a:pt x="516" y="332"/>
                </a:cubicBezTo>
                <a:cubicBezTo>
                  <a:pt x="516" y="311"/>
                  <a:pt x="533" y="294"/>
                  <a:pt x="554" y="294"/>
                </a:cubicBezTo>
                <a:cubicBezTo>
                  <a:pt x="574" y="294"/>
                  <a:pt x="592" y="311"/>
                  <a:pt x="592" y="332"/>
                </a:cubicBezTo>
                <a:close/>
                <a:moveTo>
                  <a:pt x="657" y="317"/>
                </a:moveTo>
                <a:cubicBezTo>
                  <a:pt x="657" y="337"/>
                  <a:pt x="639" y="355"/>
                  <a:pt x="619" y="355"/>
                </a:cubicBezTo>
                <a:cubicBezTo>
                  <a:pt x="598" y="355"/>
                  <a:pt x="581" y="337"/>
                  <a:pt x="581" y="317"/>
                </a:cubicBezTo>
                <a:cubicBezTo>
                  <a:pt x="581" y="296"/>
                  <a:pt x="598" y="279"/>
                  <a:pt x="619" y="279"/>
                </a:cubicBezTo>
                <a:cubicBezTo>
                  <a:pt x="639" y="279"/>
                  <a:pt x="657" y="296"/>
                  <a:pt x="657" y="317"/>
                </a:cubicBezTo>
                <a:close/>
                <a:moveTo>
                  <a:pt x="792" y="359"/>
                </a:moveTo>
                <a:cubicBezTo>
                  <a:pt x="792" y="379"/>
                  <a:pt x="774" y="397"/>
                  <a:pt x="754" y="397"/>
                </a:cubicBezTo>
                <a:cubicBezTo>
                  <a:pt x="733" y="397"/>
                  <a:pt x="716" y="379"/>
                  <a:pt x="716" y="359"/>
                </a:cubicBezTo>
                <a:cubicBezTo>
                  <a:pt x="716" y="338"/>
                  <a:pt x="733" y="321"/>
                  <a:pt x="754" y="321"/>
                </a:cubicBezTo>
                <a:cubicBezTo>
                  <a:pt x="774" y="321"/>
                  <a:pt x="792" y="338"/>
                  <a:pt x="792" y="359"/>
                </a:cubicBezTo>
                <a:close/>
                <a:moveTo>
                  <a:pt x="759" y="417"/>
                </a:moveTo>
                <a:cubicBezTo>
                  <a:pt x="759" y="437"/>
                  <a:pt x="741" y="455"/>
                  <a:pt x="721" y="455"/>
                </a:cubicBezTo>
                <a:cubicBezTo>
                  <a:pt x="700" y="455"/>
                  <a:pt x="683" y="437"/>
                  <a:pt x="683" y="417"/>
                </a:cubicBezTo>
                <a:cubicBezTo>
                  <a:pt x="683" y="396"/>
                  <a:pt x="700" y="379"/>
                  <a:pt x="721" y="379"/>
                </a:cubicBezTo>
                <a:cubicBezTo>
                  <a:pt x="741" y="379"/>
                  <a:pt x="759" y="396"/>
                  <a:pt x="759" y="417"/>
                </a:cubicBezTo>
                <a:close/>
                <a:moveTo>
                  <a:pt x="692" y="422"/>
                </a:moveTo>
                <a:cubicBezTo>
                  <a:pt x="692" y="442"/>
                  <a:pt x="674" y="460"/>
                  <a:pt x="654" y="460"/>
                </a:cubicBezTo>
                <a:cubicBezTo>
                  <a:pt x="633" y="460"/>
                  <a:pt x="616" y="442"/>
                  <a:pt x="616" y="422"/>
                </a:cubicBezTo>
                <a:cubicBezTo>
                  <a:pt x="616" y="401"/>
                  <a:pt x="633" y="384"/>
                  <a:pt x="654" y="384"/>
                </a:cubicBezTo>
                <a:cubicBezTo>
                  <a:pt x="674" y="384"/>
                  <a:pt x="692" y="401"/>
                  <a:pt x="692" y="422"/>
                </a:cubicBezTo>
                <a:close/>
                <a:moveTo>
                  <a:pt x="652" y="368"/>
                </a:moveTo>
                <a:cubicBezTo>
                  <a:pt x="652" y="388"/>
                  <a:pt x="634" y="406"/>
                  <a:pt x="614" y="406"/>
                </a:cubicBezTo>
                <a:cubicBezTo>
                  <a:pt x="593" y="406"/>
                  <a:pt x="576" y="388"/>
                  <a:pt x="576" y="368"/>
                </a:cubicBezTo>
                <a:cubicBezTo>
                  <a:pt x="576" y="347"/>
                  <a:pt x="593" y="330"/>
                  <a:pt x="614" y="330"/>
                </a:cubicBezTo>
                <a:cubicBezTo>
                  <a:pt x="634" y="330"/>
                  <a:pt x="652" y="347"/>
                  <a:pt x="652" y="368"/>
                </a:cubicBezTo>
                <a:close/>
                <a:moveTo>
                  <a:pt x="676" y="306"/>
                </a:moveTo>
                <a:cubicBezTo>
                  <a:pt x="676" y="326"/>
                  <a:pt x="658" y="344"/>
                  <a:pt x="638" y="344"/>
                </a:cubicBezTo>
                <a:cubicBezTo>
                  <a:pt x="617" y="344"/>
                  <a:pt x="600" y="326"/>
                  <a:pt x="600" y="306"/>
                </a:cubicBezTo>
                <a:cubicBezTo>
                  <a:pt x="600" y="285"/>
                  <a:pt x="617" y="268"/>
                  <a:pt x="638" y="268"/>
                </a:cubicBezTo>
                <a:cubicBezTo>
                  <a:pt x="658" y="268"/>
                  <a:pt x="676" y="285"/>
                  <a:pt x="676" y="306"/>
                </a:cubicBezTo>
                <a:close/>
                <a:moveTo>
                  <a:pt x="741" y="291"/>
                </a:moveTo>
                <a:cubicBezTo>
                  <a:pt x="741" y="311"/>
                  <a:pt x="723" y="329"/>
                  <a:pt x="703" y="329"/>
                </a:cubicBezTo>
                <a:cubicBezTo>
                  <a:pt x="682" y="329"/>
                  <a:pt x="665" y="311"/>
                  <a:pt x="665" y="291"/>
                </a:cubicBezTo>
                <a:cubicBezTo>
                  <a:pt x="665" y="270"/>
                  <a:pt x="682" y="253"/>
                  <a:pt x="703" y="253"/>
                </a:cubicBezTo>
                <a:cubicBezTo>
                  <a:pt x="723" y="253"/>
                  <a:pt x="741" y="270"/>
                  <a:pt x="741" y="291"/>
                </a:cubicBezTo>
                <a:close/>
                <a:moveTo>
                  <a:pt x="424" y="854"/>
                </a:moveTo>
                <a:cubicBezTo>
                  <a:pt x="424" y="874"/>
                  <a:pt x="406" y="892"/>
                  <a:pt x="386" y="892"/>
                </a:cubicBezTo>
                <a:cubicBezTo>
                  <a:pt x="365" y="892"/>
                  <a:pt x="348" y="874"/>
                  <a:pt x="348" y="854"/>
                </a:cubicBezTo>
                <a:cubicBezTo>
                  <a:pt x="348" y="833"/>
                  <a:pt x="365" y="816"/>
                  <a:pt x="386" y="816"/>
                </a:cubicBezTo>
                <a:cubicBezTo>
                  <a:pt x="406" y="816"/>
                  <a:pt x="424" y="833"/>
                  <a:pt x="424" y="854"/>
                </a:cubicBezTo>
                <a:close/>
                <a:moveTo>
                  <a:pt x="391" y="912"/>
                </a:moveTo>
                <a:cubicBezTo>
                  <a:pt x="391" y="932"/>
                  <a:pt x="373" y="950"/>
                  <a:pt x="353" y="950"/>
                </a:cubicBezTo>
                <a:cubicBezTo>
                  <a:pt x="332" y="950"/>
                  <a:pt x="315" y="932"/>
                  <a:pt x="315" y="912"/>
                </a:cubicBezTo>
                <a:cubicBezTo>
                  <a:pt x="315" y="891"/>
                  <a:pt x="332" y="874"/>
                  <a:pt x="353" y="874"/>
                </a:cubicBezTo>
                <a:cubicBezTo>
                  <a:pt x="373" y="874"/>
                  <a:pt x="391" y="891"/>
                  <a:pt x="391" y="912"/>
                </a:cubicBezTo>
                <a:close/>
                <a:moveTo>
                  <a:pt x="324" y="917"/>
                </a:moveTo>
                <a:cubicBezTo>
                  <a:pt x="324" y="937"/>
                  <a:pt x="306" y="955"/>
                  <a:pt x="286" y="955"/>
                </a:cubicBezTo>
                <a:cubicBezTo>
                  <a:pt x="265" y="955"/>
                  <a:pt x="248" y="937"/>
                  <a:pt x="248" y="917"/>
                </a:cubicBezTo>
                <a:cubicBezTo>
                  <a:pt x="248" y="896"/>
                  <a:pt x="265" y="879"/>
                  <a:pt x="286" y="879"/>
                </a:cubicBezTo>
                <a:cubicBezTo>
                  <a:pt x="306" y="879"/>
                  <a:pt x="324" y="896"/>
                  <a:pt x="324" y="917"/>
                </a:cubicBezTo>
                <a:close/>
                <a:moveTo>
                  <a:pt x="284" y="863"/>
                </a:moveTo>
                <a:cubicBezTo>
                  <a:pt x="284" y="883"/>
                  <a:pt x="266" y="901"/>
                  <a:pt x="246" y="901"/>
                </a:cubicBezTo>
                <a:cubicBezTo>
                  <a:pt x="225" y="901"/>
                  <a:pt x="208" y="883"/>
                  <a:pt x="208" y="863"/>
                </a:cubicBezTo>
                <a:cubicBezTo>
                  <a:pt x="208" y="842"/>
                  <a:pt x="225" y="825"/>
                  <a:pt x="246" y="825"/>
                </a:cubicBezTo>
                <a:cubicBezTo>
                  <a:pt x="266" y="825"/>
                  <a:pt x="284" y="842"/>
                  <a:pt x="284" y="863"/>
                </a:cubicBezTo>
                <a:close/>
                <a:moveTo>
                  <a:pt x="308" y="801"/>
                </a:moveTo>
                <a:cubicBezTo>
                  <a:pt x="308" y="821"/>
                  <a:pt x="290" y="839"/>
                  <a:pt x="270" y="839"/>
                </a:cubicBezTo>
                <a:cubicBezTo>
                  <a:pt x="249" y="839"/>
                  <a:pt x="232" y="821"/>
                  <a:pt x="232" y="801"/>
                </a:cubicBezTo>
                <a:cubicBezTo>
                  <a:pt x="232" y="780"/>
                  <a:pt x="249" y="763"/>
                  <a:pt x="270" y="763"/>
                </a:cubicBezTo>
                <a:cubicBezTo>
                  <a:pt x="290" y="763"/>
                  <a:pt x="308" y="780"/>
                  <a:pt x="308" y="801"/>
                </a:cubicBezTo>
                <a:close/>
                <a:moveTo>
                  <a:pt x="373" y="786"/>
                </a:moveTo>
                <a:cubicBezTo>
                  <a:pt x="373" y="806"/>
                  <a:pt x="355" y="824"/>
                  <a:pt x="335" y="824"/>
                </a:cubicBezTo>
                <a:cubicBezTo>
                  <a:pt x="314" y="824"/>
                  <a:pt x="297" y="806"/>
                  <a:pt x="297" y="786"/>
                </a:cubicBezTo>
                <a:cubicBezTo>
                  <a:pt x="297" y="765"/>
                  <a:pt x="314" y="748"/>
                  <a:pt x="335" y="748"/>
                </a:cubicBezTo>
                <a:cubicBezTo>
                  <a:pt x="355" y="748"/>
                  <a:pt x="373" y="765"/>
                  <a:pt x="373" y="786"/>
                </a:cubicBezTo>
                <a:close/>
                <a:moveTo>
                  <a:pt x="709" y="673"/>
                </a:moveTo>
                <a:cubicBezTo>
                  <a:pt x="709" y="693"/>
                  <a:pt x="691" y="711"/>
                  <a:pt x="671" y="711"/>
                </a:cubicBezTo>
                <a:cubicBezTo>
                  <a:pt x="650" y="711"/>
                  <a:pt x="633" y="693"/>
                  <a:pt x="633" y="673"/>
                </a:cubicBezTo>
                <a:cubicBezTo>
                  <a:pt x="633" y="652"/>
                  <a:pt x="650" y="635"/>
                  <a:pt x="671" y="635"/>
                </a:cubicBezTo>
                <a:cubicBezTo>
                  <a:pt x="691" y="635"/>
                  <a:pt x="709" y="652"/>
                  <a:pt x="709" y="673"/>
                </a:cubicBezTo>
                <a:close/>
                <a:moveTo>
                  <a:pt x="676" y="731"/>
                </a:moveTo>
                <a:cubicBezTo>
                  <a:pt x="676" y="751"/>
                  <a:pt x="658" y="769"/>
                  <a:pt x="638" y="769"/>
                </a:cubicBezTo>
                <a:cubicBezTo>
                  <a:pt x="617" y="769"/>
                  <a:pt x="600" y="751"/>
                  <a:pt x="600" y="731"/>
                </a:cubicBezTo>
                <a:cubicBezTo>
                  <a:pt x="600" y="710"/>
                  <a:pt x="617" y="693"/>
                  <a:pt x="638" y="693"/>
                </a:cubicBezTo>
                <a:cubicBezTo>
                  <a:pt x="658" y="693"/>
                  <a:pt x="676" y="710"/>
                  <a:pt x="676" y="731"/>
                </a:cubicBezTo>
                <a:close/>
                <a:moveTo>
                  <a:pt x="609" y="736"/>
                </a:moveTo>
                <a:cubicBezTo>
                  <a:pt x="609" y="756"/>
                  <a:pt x="591" y="774"/>
                  <a:pt x="571" y="774"/>
                </a:cubicBezTo>
                <a:cubicBezTo>
                  <a:pt x="550" y="774"/>
                  <a:pt x="533" y="756"/>
                  <a:pt x="533" y="736"/>
                </a:cubicBezTo>
                <a:cubicBezTo>
                  <a:pt x="533" y="715"/>
                  <a:pt x="550" y="698"/>
                  <a:pt x="571" y="698"/>
                </a:cubicBezTo>
                <a:cubicBezTo>
                  <a:pt x="591" y="698"/>
                  <a:pt x="609" y="715"/>
                  <a:pt x="609" y="736"/>
                </a:cubicBezTo>
                <a:close/>
                <a:moveTo>
                  <a:pt x="569" y="682"/>
                </a:moveTo>
                <a:cubicBezTo>
                  <a:pt x="569" y="702"/>
                  <a:pt x="551" y="720"/>
                  <a:pt x="531" y="720"/>
                </a:cubicBezTo>
                <a:cubicBezTo>
                  <a:pt x="510" y="720"/>
                  <a:pt x="493" y="702"/>
                  <a:pt x="493" y="682"/>
                </a:cubicBezTo>
                <a:cubicBezTo>
                  <a:pt x="493" y="661"/>
                  <a:pt x="510" y="644"/>
                  <a:pt x="531" y="644"/>
                </a:cubicBezTo>
                <a:cubicBezTo>
                  <a:pt x="551" y="644"/>
                  <a:pt x="569" y="661"/>
                  <a:pt x="569" y="682"/>
                </a:cubicBezTo>
                <a:close/>
                <a:moveTo>
                  <a:pt x="593" y="620"/>
                </a:moveTo>
                <a:cubicBezTo>
                  <a:pt x="593" y="640"/>
                  <a:pt x="575" y="658"/>
                  <a:pt x="555" y="658"/>
                </a:cubicBezTo>
                <a:cubicBezTo>
                  <a:pt x="534" y="658"/>
                  <a:pt x="517" y="640"/>
                  <a:pt x="517" y="620"/>
                </a:cubicBezTo>
                <a:cubicBezTo>
                  <a:pt x="517" y="599"/>
                  <a:pt x="534" y="582"/>
                  <a:pt x="555" y="582"/>
                </a:cubicBezTo>
                <a:cubicBezTo>
                  <a:pt x="575" y="582"/>
                  <a:pt x="593" y="599"/>
                  <a:pt x="593" y="620"/>
                </a:cubicBezTo>
                <a:close/>
                <a:moveTo>
                  <a:pt x="658" y="605"/>
                </a:moveTo>
                <a:cubicBezTo>
                  <a:pt x="658" y="625"/>
                  <a:pt x="640" y="643"/>
                  <a:pt x="620" y="643"/>
                </a:cubicBezTo>
                <a:cubicBezTo>
                  <a:pt x="599" y="643"/>
                  <a:pt x="582" y="625"/>
                  <a:pt x="582" y="605"/>
                </a:cubicBezTo>
                <a:cubicBezTo>
                  <a:pt x="582" y="584"/>
                  <a:pt x="599" y="567"/>
                  <a:pt x="620" y="567"/>
                </a:cubicBezTo>
                <a:cubicBezTo>
                  <a:pt x="640" y="567"/>
                  <a:pt x="658" y="584"/>
                  <a:pt x="658" y="605"/>
                </a:cubicBezTo>
                <a:close/>
                <a:moveTo>
                  <a:pt x="790" y="607"/>
                </a:moveTo>
                <a:cubicBezTo>
                  <a:pt x="790" y="627"/>
                  <a:pt x="772" y="645"/>
                  <a:pt x="752" y="645"/>
                </a:cubicBezTo>
                <a:cubicBezTo>
                  <a:pt x="731" y="645"/>
                  <a:pt x="714" y="627"/>
                  <a:pt x="714" y="607"/>
                </a:cubicBezTo>
                <a:cubicBezTo>
                  <a:pt x="714" y="586"/>
                  <a:pt x="731" y="569"/>
                  <a:pt x="752" y="569"/>
                </a:cubicBezTo>
                <a:cubicBezTo>
                  <a:pt x="772" y="569"/>
                  <a:pt x="790" y="586"/>
                  <a:pt x="790" y="607"/>
                </a:cubicBezTo>
                <a:close/>
                <a:moveTo>
                  <a:pt x="757" y="665"/>
                </a:moveTo>
                <a:cubicBezTo>
                  <a:pt x="757" y="685"/>
                  <a:pt x="739" y="703"/>
                  <a:pt x="719" y="703"/>
                </a:cubicBezTo>
                <a:cubicBezTo>
                  <a:pt x="698" y="703"/>
                  <a:pt x="681" y="685"/>
                  <a:pt x="681" y="665"/>
                </a:cubicBezTo>
                <a:cubicBezTo>
                  <a:pt x="681" y="644"/>
                  <a:pt x="698" y="627"/>
                  <a:pt x="719" y="627"/>
                </a:cubicBezTo>
                <a:cubicBezTo>
                  <a:pt x="739" y="627"/>
                  <a:pt x="757" y="644"/>
                  <a:pt x="757" y="665"/>
                </a:cubicBezTo>
                <a:close/>
                <a:moveTo>
                  <a:pt x="690" y="670"/>
                </a:moveTo>
                <a:cubicBezTo>
                  <a:pt x="690" y="690"/>
                  <a:pt x="672" y="708"/>
                  <a:pt x="652" y="708"/>
                </a:cubicBezTo>
                <a:cubicBezTo>
                  <a:pt x="631" y="708"/>
                  <a:pt x="614" y="690"/>
                  <a:pt x="614" y="670"/>
                </a:cubicBezTo>
                <a:cubicBezTo>
                  <a:pt x="614" y="649"/>
                  <a:pt x="631" y="632"/>
                  <a:pt x="652" y="632"/>
                </a:cubicBezTo>
                <a:cubicBezTo>
                  <a:pt x="672" y="632"/>
                  <a:pt x="690" y="649"/>
                  <a:pt x="690" y="670"/>
                </a:cubicBezTo>
                <a:close/>
                <a:moveTo>
                  <a:pt x="650" y="616"/>
                </a:moveTo>
                <a:cubicBezTo>
                  <a:pt x="650" y="636"/>
                  <a:pt x="632" y="654"/>
                  <a:pt x="612" y="654"/>
                </a:cubicBezTo>
                <a:cubicBezTo>
                  <a:pt x="591" y="654"/>
                  <a:pt x="574" y="636"/>
                  <a:pt x="574" y="616"/>
                </a:cubicBezTo>
                <a:cubicBezTo>
                  <a:pt x="574" y="595"/>
                  <a:pt x="591" y="578"/>
                  <a:pt x="612" y="578"/>
                </a:cubicBezTo>
                <a:cubicBezTo>
                  <a:pt x="632" y="578"/>
                  <a:pt x="650" y="595"/>
                  <a:pt x="650" y="616"/>
                </a:cubicBezTo>
                <a:close/>
                <a:moveTo>
                  <a:pt x="674" y="554"/>
                </a:moveTo>
                <a:cubicBezTo>
                  <a:pt x="674" y="574"/>
                  <a:pt x="656" y="592"/>
                  <a:pt x="636" y="592"/>
                </a:cubicBezTo>
                <a:cubicBezTo>
                  <a:pt x="615" y="592"/>
                  <a:pt x="598" y="574"/>
                  <a:pt x="598" y="554"/>
                </a:cubicBezTo>
                <a:cubicBezTo>
                  <a:pt x="598" y="533"/>
                  <a:pt x="615" y="516"/>
                  <a:pt x="636" y="516"/>
                </a:cubicBezTo>
                <a:cubicBezTo>
                  <a:pt x="656" y="516"/>
                  <a:pt x="674" y="533"/>
                  <a:pt x="674" y="554"/>
                </a:cubicBezTo>
                <a:close/>
                <a:moveTo>
                  <a:pt x="739" y="539"/>
                </a:moveTo>
                <a:cubicBezTo>
                  <a:pt x="739" y="559"/>
                  <a:pt x="721" y="577"/>
                  <a:pt x="701" y="577"/>
                </a:cubicBezTo>
                <a:cubicBezTo>
                  <a:pt x="680" y="577"/>
                  <a:pt x="663" y="559"/>
                  <a:pt x="663" y="539"/>
                </a:cubicBezTo>
                <a:cubicBezTo>
                  <a:pt x="663" y="518"/>
                  <a:pt x="680" y="501"/>
                  <a:pt x="701" y="501"/>
                </a:cubicBezTo>
                <a:cubicBezTo>
                  <a:pt x="721" y="501"/>
                  <a:pt x="739" y="518"/>
                  <a:pt x="739" y="539"/>
                </a:cubicBezTo>
                <a:close/>
                <a:moveTo>
                  <a:pt x="634" y="774"/>
                </a:moveTo>
                <a:cubicBezTo>
                  <a:pt x="634" y="794"/>
                  <a:pt x="616" y="812"/>
                  <a:pt x="596" y="812"/>
                </a:cubicBezTo>
                <a:cubicBezTo>
                  <a:pt x="575" y="812"/>
                  <a:pt x="558" y="794"/>
                  <a:pt x="558" y="774"/>
                </a:cubicBezTo>
                <a:cubicBezTo>
                  <a:pt x="558" y="753"/>
                  <a:pt x="575" y="736"/>
                  <a:pt x="596" y="736"/>
                </a:cubicBezTo>
                <a:cubicBezTo>
                  <a:pt x="616" y="736"/>
                  <a:pt x="634" y="753"/>
                  <a:pt x="634" y="774"/>
                </a:cubicBezTo>
                <a:close/>
                <a:moveTo>
                  <a:pt x="601" y="832"/>
                </a:moveTo>
                <a:cubicBezTo>
                  <a:pt x="601" y="852"/>
                  <a:pt x="583" y="870"/>
                  <a:pt x="563" y="870"/>
                </a:cubicBezTo>
                <a:cubicBezTo>
                  <a:pt x="542" y="870"/>
                  <a:pt x="525" y="852"/>
                  <a:pt x="525" y="832"/>
                </a:cubicBezTo>
                <a:cubicBezTo>
                  <a:pt x="525" y="811"/>
                  <a:pt x="542" y="794"/>
                  <a:pt x="563" y="794"/>
                </a:cubicBezTo>
                <a:cubicBezTo>
                  <a:pt x="583" y="794"/>
                  <a:pt x="601" y="811"/>
                  <a:pt x="601" y="832"/>
                </a:cubicBezTo>
                <a:close/>
                <a:moveTo>
                  <a:pt x="534" y="837"/>
                </a:moveTo>
                <a:cubicBezTo>
                  <a:pt x="534" y="857"/>
                  <a:pt x="516" y="875"/>
                  <a:pt x="496" y="875"/>
                </a:cubicBezTo>
                <a:cubicBezTo>
                  <a:pt x="475" y="875"/>
                  <a:pt x="458" y="857"/>
                  <a:pt x="458" y="837"/>
                </a:cubicBezTo>
                <a:cubicBezTo>
                  <a:pt x="458" y="816"/>
                  <a:pt x="475" y="799"/>
                  <a:pt x="496" y="799"/>
                </a:cubicBezTo>
                <a:cubicBezTo>
                  <a:pt x="516" y="799"/>
                  <a:pt x="534" y="816"/>
                  <a:pt x="534" y="837"/>
                </a:cubicBezTo>
                <a:close/>
                <a:moveTo>
                  <a:pt x="494" y="783"/>
                </a:moveTo>
                <a:cubicBezTo>
                  <a:pt x="494" y="803"/>
                  <a:pt x="476" y="821"/>
                  <a:pt x="456" y="821"/>
                </a:cubicBezTo>
                <a:cubicBezTo>
                  <a:pt x="435" y="821"/>
                  <a:pt x="418" y="803"/>
                  <a:pt x="418" y="783"/>
                </a:cubicBezTo>
                <a:cubicBezTo>
                  <a:pt x="418" y="762"/>
                  <a:pt x="435" y="745"/>
                  <a:pt x="456" y="745"/>
                </a:cubicBezTo>
                <a:cubicBezTo>
                  <a:pt x="476" y="745"/>
                  <a:pt x="494" y="762"/>
                  <a:pt x="494" y="783"/>
                </a:cubicBezTo>
                <a:close/>
                <a:moveTo>
                  <a:pt x="518" y="721"/>
                </a:moveTo>
                <a:cubicBezTo>
                  <a:pt x="518" y="741"/>
                  <a:pt x="500" y="759"/>
                  <a:pt x="480" y="759"/>
                </a:cubicBezTo>
                <a:cubicBezTo>
                  <a:pt x="459" y="759"/>
                  <a:pt x="442" y="741"/>
                  <a:pt x="442" y="721"/>
                </a:cubicBezTo>
                <a:cubicBezTo>
                  <a:pt x="442" y="700"/>
                  <a:pt x="459" y="683"/>
                  <a:pt x="480" y="683"/>
                </a:cubicBezTo>
                <a:cubicBezTo>
                  <a:pt x="500" y="683"/>
                  <a:pt x="518" y="700"/>
                  <a:pt x="518" y="721"/>
                </a:cubicBezTo>
                <a:close/>
                <a:moveTo>
                  <a:pt x="583" y="706"/>
                </a:moveTo>
                <a:cubicBezTo>
                  <a:pt x="583" y="726"/>
                  <a:pt x="565" y="744"/>
                  <a:pt x="545" y="744"/>
                </a:cubicBezTo>
                <a:cubicBezTo>
                  <a:pt x="524" y="744"/>
                  <a:pt x="507" y="726"/>
                  <a:pt x="507" y="706"/>
                </a:cubicBezTo>
                <a:cubicBezTo>
                  <a:pt x="507" y="685"/>
                  <a:pt x="524" y="668"/>
                  <a:pt x="545" y="668"/>
                </a:cubicBezTo>
                <a:cubicBezTo>
                  <a:pt x="565" y="668"/>
                  <a:pt x="583" y="685"/>
                  <a:pt x="583" y="706"/>
                </a:cubicBezTo>
                <a:close/>
                <a:moveTo>
                  <a:pt x="382" y="357"/>
                </a:moveTo>
                <a:cubicBezTo>
                  <a:pt x="382" y="377"/>
                  <a:pt x="364" y="395"/>
                  <a:pt x="344" y="395"/>
                </a:cubicBezTo>
                <a:cubicBezTo>
                  <a:pt x="323" y="395"/>
                  <a:pt x="306" y="377"/>
                  <a:pt x="306" y="357"/>
                </a:cubicBezTo>
                <a:cubicBezTo>
                  <a:pt x="306" y="336"/>
                  <a:pt x="323" y="319"/>
                  <a:pt x="344" y="319"/>
                </a:cubicBezTo>
                <a:cubicBezTo>
                  <a:pt x="364" y="319"/>
                  <a:pt x="382" y="336"/>
                  <a:pt x="382" y="357"/>
                </a:cubicBezTo>
                <a:close/>
                <a:moveTo>
                  <a:pt x="349" y="415"/>
                </a:moveTo>
                <a:cubicBezTo>
                  <a:pt x="349" y="435"/>
                  <a:pt x="331" y="453"/>
                  <a:pt x="311" y="453"/>
                </a:cubicBezTo>
                <a:cubicBezTo>
                  <a:pt x="290" y="453"/>
                  <a:pt x="273" y="435"/>
                  <a:pt x="273" y="415"/>
                </a:cubicBezTo>
                <a:cubicBezTo>
                  <a:pt x="273" y="394"/>
                  <a:pt x="290" y="377"/>
                  <a:pt x="311" y="377"/>
                </a:cubicBezTo>
                <a:cubicBezTo>
                  <a:pt x="331" y="377"/>
                  <a:pt x="349" y="394"/>
                  <a:pt x="349" y="415"/>
                </a:cubicBezTo>
                <a:close/>
                <a:moveTo>
                  <a:pt x="282" y="420"/>
                </a:moveTo>
                <a:cubicBezTo>
                  <a:pt x="282" y="440"/>
                  <a:pt x="264" y="458"/>
                  <a:pt x="244" y="458"/>
                </a:cubicBezTo>
                <a:cubicBezTo>
                  <a:pt x="223" y="458"/>
                  <a:pt x="206" y="440"/>
                  <a:pt x="206" y="420"/>
                </a:cubicBezTo>
                <a:cubicBezTo>
                  <a:pt x="206" y="399"/>
                  <a:pt x="223" y="382"/>
                  <a:pt x="244" y="382"/>
                </a:cubicBezTo>
                <a:cubicBezTo>
                  <a:pt x="264" y="382"/>
                  <a:pt x="282" y="399"/>
                  <a:pt x="282" y="420"/>
                </a:cubicBezTo>
                <a:close/>
                <a:moveTo>
                  <a:pt x="242" y="366"/>
                </a:moveTo>
                <a:cubicBezTo>
                  <a:pt x="242" y="386"/>
                  <a:pt x="224" y="404"/>
                  <a:pt x="204" y="404"/>
                </a:cubicBezTo>
                <a:cubicBezTo>
                  <a:pt x="183" y="404"/>
                  <a:pt x="166" y="386"/>
                  <a:pt x="166" y="366"/>
                </a:cubicBezTo>
                <a:cubicBezTo>
                  <a:pt x="166" y="345"/>
                  <a:pt x="183" y="328"/>
                  <a:pt x="204" y="328"/>
                </a:cubicBezTo>
                <a:cubicBezTo>
                  <a:pt x="224" y="328"/>
                  <a:pt x="242" y="345"/>
                  <a:pt x="242" y="366"/>
                </a:cubicBezTo>
                <a:close/>
                <a:moveTo>
                  <a:pt x="266" y="304"/>
                </a:moveTo>
                <a:cubicBezTo>
                  <a:pt x="266" y="324"/>
                  <a:pt x="248" y="342"/>
                  <a:pt x="228" y="342"/>
                </a:cubicBezTo>
                <a:cubicBezTo>
                  <a:pt x="207" y="342"/>
                  <a:pt x="190" y="324"/>
                  <a:pt x="190" y="304"/>
                </a:cubicBezTo>
                <a:cubicBezTo>
                  <a:pt x="190" y="283"/>
                  <a:pt x="207" y="266"/>
                  <a:pt x="228" y="266"/>
                </a:cubicBezTo>
                <a:cubicBezTo>
                  <a:pt x="248" y="266"/>
                  <a:pt x="266" y="283"/>
                  <a:pt x="266" y="304"/>
                </a:cubicBezTo>
                <a:close/>
                <a:moveTo>
                  <a:pt x="331" y="289"/>
                </a:moveTo>
                <a:cubicBezTo>
                  <a:pt x="331" y="309"/>
                  <a:pt x="313" y="327"/>
                  <a:pt x="293" y="327"/>
                </a:cubicBezTo>
                <a:cubicBezTo>
                  <a:pt x="272" y="327"/>
                  <a:pt x="255" y="309"/>
                  <a:pt x="255" y="289"/>
                </a:cubicBezTo>
                <a:cubicBezTo>
                  <a:pt x="255" y="268"/>
                  <a:pt x="272" y="251"/>
                  <a:pt x="293" y="251"/>
                </a:cubicBezTo>
                <a:cubicBezTo>
                  <a:pt x="313" y="251"/>
                  <a:pt x="331" y="268"/>
                  <a:pt x="331" y="289"/>
                </a:cubicBezTo>
                <a:close/>
                <a:moveTo>
                  <a:pt x="878" y="275"/>
                </a:moveTo>
                <a:cubicBezTo>
                  <a:pt x="878" y="295"/>
                  <a:pt x="860" y="313"/>
                  <a:pt x="840" y="313"/>
                </a:cubicBezTo>
                <a:cubicBezTo>
                  <a:pt x="819" y="313"/>
                  <a:pt x="802" y="295"/>
                  <a:pt x="802" y="275"/>
                </a:cubicBezTo>
                <a:cubicBezTo>
                  <a:pt x="802" y="254"/>
                  <a:pt x="819" y="237"/>
                  <a:pt x="840" y="237"/>
                </a:cubicBezTo>
                <a:cubicBezTo>
                  <a:pt x="860" y="237"/>
                  <a:pt x="878" y="254"/>
                  <a:pt x="878" y="275"/>
                </a:cubicBezTo>
                <a:close/>
                <a:moveTo>
                  <a:pt x="845" y="333"/>
                </a:moveTo>
                <a:cubicBezTo>
                  <a:pt x="845" y="353"/>
                  <a:pt x="827" y="371"/>
                  <a:pt x="807" y="371"/>
                </a:cubicBezTo>
                <a:cubicBezTo>
                  <a:pt x="786" y="371"/>
                  <a:pt x="769" y="353"/>
                  <a:pt x="769" y="333"/>
                </a:cubicBezTo>
                <a:cubicBezTo>
                  <a:pt x="769" y="312"/>
                  <a:pt x="786" y="295"/>
                  <a:pt x="807" y="295"/>
                </a:cubicBezTo>
                <a:cubicBezTo>
                  <a:pt x="827" y="295"/>
                  <a:pt x="845" y="312"/>
                  <a:pt x="845" y="333"/>
                </a:cubicBezTo>
                <a:close/>
                <a:moveTo>
                  <a:pt x="778" y="338"/>
                </a:moveTo>
                <a:cubicBezTo>
                  <a:pt x="778" y="358"/>
                  <a:pt x="760" y="376"/>
                  <a:pt x="740" y="376"/>
                </a:cubicBezTo>
                <a:cubicBezTo>
                  <a:pt x="719" y="376"/>
                  <a:pt x="702" y="358"/>
                  <a:pt x="702" y="338"/>
                </a:cubicBezTo>
                <a:cubicBezTo>
                  <a:pt x="702" y="317"/>
                  <a:pt x="719" y="300"/>
                  <a:pt x="740" y="300"/>
                </a:cubicBezTo>
                <a:cubicBezTo>
                  <a:pt x="760" y="300"/>
                  <a:pt x="778" y="317"/>
                  <a:pt x="778" y="338"/>
                </a:cubicBezTo>
                <a:close/>
                <a:moveTo>
                  <a:pt x="738" y="284"/>
                </a:moveTo>
                <a:cubicBezTo>
                  <a:pt x="738" y="304"/>
                  <a:pt x="720" y="322"/>
                  <a:pt x="700" y="322"/>
                </a:cubicBezTo>
                <a:cubicBezTo>
                  <a:pt x="679" y="322"/>
                  <a:pt x="662" y="304"/>
                  <a:pt x="662" y="284"/>
                </a:cubicBezTo>
                <a:cubicBezTo>
                  <a:pt x="662" y="263"/>
                  <a:pt x="679" y="246"/>
                  <a:pt x="700" y="246"/>
                </a:cubicBezTo>
                <a:cubicBezTo>
                  <a:pt x="720" y="246"/>
                  <a:pt x="738" y="263"/>
                  <a:pt x="738" y="284"/>
                </a:cubicBezTo>
                <a:close/>
                <a:moveTo>
                  <a:pt x="762" y="222"/>
                </a:moveTo>
                <a:cubicBezTo>
                  <a:pt x="762" y="242"/>
                  <a:pt x="744" y="260"/>
                  <a:pt x="724" y="260"/>
                </a:cubicBezTo>
                <a:cubicBezTo>
                  <a:pt x="703" y="260"/>
                  <a:pt x="686" y="242"/>
                  <a:pt x="686" y="222"/>
                </a:cubicBezTo>
                <a:cubicBezTo>
                  <a:pt x="686" y="201"/>
                  <a:pt x="703" y="184"/>
                  <a:pt x="724" y="184"/>
                </a:cubicBezTo>
                <a:cubicBezTo>
                  <a:pt x="744" y="184"/>
                  <a:pt x="762" y="201"/>
                  <a:pt x="762" y="222"/>
                </a:cubicBezTo>
                <a:close/>
                <a:moveTo>
                  <a:pt x="827" y="207"/>
                </a:moveTo>
                <a:cubicBezTo>
                  <a:pt x="827" y="227"/>
                  <a:pt x="809" y="245"/>
                  <a:pt x="789" y="245"/>
                </a:cubicBezTo>
                <a:cubicBezTo>
                  <a:pt x="768" y="245"/>
                  <a:pt x="751" y="227"/>
                  <a:pt x="751" y="207"/>
                </a:cubicBezTo>
                <a:cubicBezTo>
                  <a:pt x="751" y="186"/>
                  <a:pt x="768" y="169"/>
                  <a:pt x="789" y="169"/>
                </a:cubicBezTo>
                <a:cubicBezTo>
                  <a:pt x="809" y="169"/>
                  <a:pt x="827" y="186"/>
                  <a:pt x="827" y="207"/>
                </a:cubicBezTo>
                <a:close/>
              </a:path>
            </a:pathLst>
          </a:custGeom>
          <a:solidFill>
            <a:srgbClr val="B03A6E"/>
          </a:solidFill>
          <a:ln>
            <a:noFill/>
          </a:ln>
        </p:spPr>
      </p:sp>
      <p:sp>
        <p:nvSpPr>
          <p:cNvPr id="6" name="Ruta glucogenólisis Glucosa-1-P"/>
          <p:cNvSpPr/>
          <p:nvPr/>
        </p:nvSpPr>
        <p:spPr>
          <a:xfrm>
            <a:off x="548640" y="2514600"/>
            <a:ext cx="201168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Glucosa-1-P</a:t>
            </a:r>
            <a:endParaRPr lang="es-AR" sz="1300" dirty="0">
              <a:latin typeface="Bahnschrift SemiBold Condensed"/>
            </a:endParaRPr>
          </a:p>
        </p:txBody>
      </p:sp>
      <p:grpSp>
        <p:nvGrpSpPr>
          <p:cNvPr id="7" name="Ruta glucogenólisis paso 1"/>
          <p:cNvGrpSpPr/>
          <p:nvPr/>
        </p:nvGrpSpPr>
        <p:grpSpPr>
          <a:xfrm>
            <a:off x="1554480" y="2907792"/>
            <a:ext cx="1395963" cy="493776"/>
            <a:chOff x="1554480" y="2907792"/>
            <a:chExt cx="1395963" cy="493776"/>
          </a:xfrm>
        </p:grpSpPr>
        <p:sp>
          <p:nvSpPr>
            <p:cNvPr id="8" name="Flecha 7_2"/>
            <p:cNvSpPr/>
            <p:nvPr/>
          </p:nvSpPr>
          <p:spPr>
            <a:xfrm>
              <a:off x="1554480" y="2907792"/>
              <a:ext cx="9144" cy="493776"/>
            </a:xfrm>
            <a:custGeom>
              <a:avLst/>
              <a:gdLst/>
              <a:ahLst/>
              <a:cxnLst/>
              <a:rect l="0" t="0" r="r" b="b"/>
              <a:pathLst>
                <a:path w="10" h="540" fill="none">
                  <a:moveTo>
                    <a:pt x="0" y="0"/>
                  </a:moveTo>
                  <a:lnTo>
                    <a:pt x="0" y="540"/>
                  </a:lnTo>
                </a:path>
              </a:pathLst>
            </a:custGeom>
            <a:noFill/>
            <a:ln w="25400" cap="rnd">
              <a:solidFill>
                <a:srgbClr val="1E1E1E"/>
              </a:solidFill>
              <a:round/>
              <a:headEnd type="triangle" w="med" len="med"/>
              <a:tailEnd type="triangle" w="med" len="med"/>
            </a:ln>
          </p:spPr>
        </p:sp>
        <p:sp>
          <p:nvSpPr>
            <p:cNvPr id="9" name="Enzima Fosfoglucomutasa"/>
            <p:cNvSpPr/>
            <p:nvPr/>
          </p:nvSpPr>
          <p:spPr>
            <a:xfrm>
              <a:off x="1664208" y="3008376"/>
              <a:ext cx="128623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Fosfoglucomutasa</a:t>
              </a:r>
              <a:endParaRPr lang="es-AR" sz="1150" dirty="0">
                <a:latin typeface="Bahnschrift SemiBold Condensed"/>
              </a:endParaRPr>
            </a:p>
          </p:txBody>
        </p:sp>
      </p:grpSp>
      <p:sp>
        <p:nvSpPr>
          <p:cNvPr id="10" name="Ruta glucogenólisis Glucosa-6-P"/>
          <p:cNvSpPr/>
          <p:nvPr/>
        </p:nvSpPr>
        <p:spPr>
          <a:xfrm>
            <a:off x="548640" y="3429000"/>
            <a:ext cx="201168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Glucosa-6-P</a:t>
            </a:r>
            <a:endParaRPr lang="es-AR" sz="1300" dirty="0">
              <a:latin typeface="Bahnschrift SemiBold Condensed"/>
            </a:endParaRPr>
          </a:p>
        </p:txBody>
      </p:sp>
      <p:sp>
        <p:nvSpPr>
          <p:cNvPr id="11" name="Fosforilasa"/>
          <p:cNvSpPr/>
          <p:nvPr/>
        </p:nvSpPr>
        <p:spPr>
          <a:xfrm>
            <a:off x="2834640" y="1691640"/>
            <a:ext cx="2160302"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Glucógeno fosforilasa (α-1,4)</a:t>
            </a:r>
            <a:endParaRPr lang="es-AR" sz="1250" dirty="0">
              <a:latin typeface="Bahnschrift SemiBold Condensed"/>
            </a:endParaRPr>
          </a:p>
        </p:txBody>
      </p:sp>
      <p:sp>
        <p:nvSpPr>
          <p:cNvPr id="12" name="Desramificante"/>
          <p:cNvSpPr/>
          <p:nvPr/>
        </p:nvSpPr>
        <p:spPr>
          <a:xfrm>
            <a:off x="2834640" y="2103120"/>
            <a:ext cx="2215337"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Enzima desramificante (α-1,6)</a:t>
            </a:r>
            <a:endParaRPr lang="es-AR" sz="1250" dirty="0">
              <a:latin typeface="Bahnschrift SemiBold Condensed"/>
            </a:endParaRPr>
          </a:p>
        </p:txBody>
      </p:sp>
      <p:sp>
        <p:nvSpPr>
          <p:cNvPr id="13" name="Flecha 13_2"/>
          <p:cNvSpPr/>
          <p:nvPr/>
        </p:nvSpPr>
        <p:spPr>
          <a:xfrm>
            <a:off x="1554480" y="2304288"/>
            <a:ext cx="9144" cy="192024"/>
          </a:xfrm>
          <a:custGeom>
            <a:avLst/>
            <a:gdLst/>
            <a:ahLst/>
            <a:cxnLst/>
            <a:rect l="0" t="0" r="r" b="b"/>
            <a:pathLst>
              <a:path w="10" h="209" fill="none">
                <a:moveTo>
                  <a:pt x="0" y="0"/>
                </a:moveTo>
                <a:lnTo>
                  <a:pt x="0" y="209"/>
                </a:lnTo>
              </a:path>
            </a:pathLst>
          </a:custGeom>
          <a:noFill/>
          <a:ln w="38100" cap="rnd">
            <a:solidFill>
              <a:srgbClr val="1E8C3A"/>
            </a:solidFill>
            <a:round/>
            <a:tailEnd type="triangle" w="med" len="med"/>
          </a:ln>
        </p:spPr>
      </p:sp>
      <p:sp>
        <p:nvSpPr>
          <p:cNvPr id="14" name="Glucosa libre ramas"/>
          <p:cNvSpPr/>
          <p:nvPr/>
        </p:nvSpPr>
        <p:spPr>
          <a:xfrm>
            <a:off x="2697480" y="1188720"/>
            <a:ext cx="1492263" cy="226377"/>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marL="138747" indent="-138747">
              <a:spcAft>
                <a:spcPts val="300"/>
              </a:spcAft>
              <a:buClr>
                <a:srgbClr val="1E8C3A"/>
              </a:buClr>
              <a:buFont typeface="Segoe UI Symbol"/>
              <a:buChar char="✓"/>
            </a:pPr>
            <a:r>
              <a:rPr lang="es-AR" sz="1150" b="1" dirty="0">
                <a:solidFill>
                  <a:srgbClr val="1E1E1E"/>
                </a:solidFill>
                <a:latin typeface="Bahnschrift SemiBold Condensed"/>
                <a:ea typeface="Bahnschrift SemiBold Condensed"/>
                <a:cs typeface="Bahnschrift SemiBold Condensed"/>
                <a:sym typeface="Bahnschrift SemiBold Condensed"/>
              </a:rPr>
              <a:t>glucosa libre (α-1,6)</a:t>
            </a:r>
            <a:endParaRPr lang="es-AR" sz="1150" dirty="0">
              <a:latin typeface="Bahnschrift SemiBold Condensed"/>
            </a:endParaRPr>
          </a:p>
        </p:txBody>
      </p:sp>
      <p:sp>
        <p:nvSpPr>
          <p:cNvPr id="15" name="Retículo endoplasmático"/>
          <p:cNvSpPr/>
          <p:nvPr/>
        </p:nvSpPr>
        <p:spPr>
          <a:xfrm>
            <a:off x="3291840" y="3200400"/>
            <a:ext cx="3566160" cy="2011680"/>
          </a:xfrm>
          <a:prstGeom prst="roundRect">
            <a:avLst>
              <a:gd name="adj" fmla="val 30000"/>
            </a:avLst>
          </a:prstGeom>
          <a:solidFill>
            <a:srgbClr val="D7BDE2">
              <a:alpha val="85000"/>
            </a:srgbClr>
          </a:solidFill>
          <a:ln w="25400" cap="rnd">
            <a:solidFill>
              <a:srgbClr val="6C3483"/>
            </a:solidFill>
            <a:round/>
          </a:ln>
        </p:spPr>
      </p:sp>
      <p:sp>
        <p:nvSpPr>
          <p:cNvPr id="16" name="Forma 17"/>
          <p:cNvSpPr txBox="1"/>
          <p:nvPr/>
        </p:nvSpPr>
        <p:spPr>
          <a:xfrm>
            <a:off x="3383280" y="3246120"/>
            <a:ext cx="338328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4A235A"/>
                </a:solidFill>
                <a:latin typeface="Bahnschrift SemiBold Condensed"/>
                <a:ea typeface="Bahnschrift SemiBold Condensed"/>
                <a:cs typeface="Bahnschrift SemiBold Condensed"/>
                <a:sym typeface="Bahnschrift SemiBold Condensed"/>
              </a:rPr>
              <a:t>RETÍCULO ENDOPLASMÁTICO</a:t>
            </a:r>
            <a:endParaRPr lang="es-AR" sz="1250" dirty="0">
              <a:latin typeface="Bahnschrift SemiBold Condensed"/>
            </a:endParaRPr>
          </a:p>
        </p:txBody>
      </p:sp>
      <p:grpSp>
        <p:nvGrpSpPr>
          <p:cNvPr id="17" name="G6PT"/>
          <p:cNvGrpSpPr/>
          <p:nvPr/>
        </p:nvGrpSpPr>
        <p:grpSpPr>
          <a:xfrm>
            <a:off x="3017520" y="3657600"/>
            <a:ext cx="640080" cy="537667"/>
            <a:chOff x="3017520" y="3657600"/>
            <a:chExt cx="640080" cy="537667"/>
          </a:xfrm>
        </p:grpSpPr>
        <p:sp>
          <p:nvSpPr>
            <p:cNvPr id="18" name="Forma 19"/>
            <p:cNvSpPr/>
            <p:nvPr/>
          </p:nvSpPr>
          <p:spPr>
            <a:xfrm>
              <a:off x="3017520" y="3657600"/>
              <a:ext cx="640080" cy="230429"/>
            </a:xfrm>
            <a:prstGeom prst="roundRect">
              <a:avLst>
                <a:gd name="adj" fmla="val 45000"/>
              </a:avLst>
            </a:prstGeom>
            <a:gradFill rotWithShape="1">
              <a:gsLst>
                <a:gs pos="0">
                  <a:srgbClr val="632F79"/>
                </a:gs>
                <a:gs pos="40000">
                  <a:srgbClr val="B585C9"/>
                </a:gs>
                <a:gs pos="100000">
                  <a:srgbClr val="632F79"/>
                </a:gs>
              </a:gsLst>
              <a:lin ang="0" scaled="0"/>
            </a:gradFill>
            <a:ln w="15875" cap="rnd">
              <a:solidFill>
                <a:srgbClr val="472256"/>
              </a:solidFill>
              <a:round/>
            </a:ln>
          </p:spPr>
        </p:sp>
        <p:sp>
          <p:nvSpPr>
            <p:cNvPr id="19" name="Forma 20"/>
            <p:cNvSpPr/>
            <p:nvPr/>
          </p:nvSpPr>
          <p:spPr>
            <a:xfrm>
              <a:off x="3017520" y="3964838"/>
              <a:ext cx="640080" cy="230429"/>
            </a:xfrm>
            <a:prstGeom prst="roundRect">
              <a:avLst>
                <a:gd name="adj" fmla="val 45000"/>
              </a:avLst>
            </a:prstGeom>
            <a:gradFill rotWithShape="1">
              <a:gsLst>
                <a:gs pos="0">
                  <a:srgbClr val="632F79"/>
                </a:gs>
                <a:gs pos="40000">
                  <a:srgbClr val="B585C9"/>
                </a:gs>
                <a:gs pos="100000">
                  <a:srgbClr val="632F79"/>
                </a:gs>
              </a:gsLst>
              <a:lin ang="0" scaled="0"/>
            </a:gradFill>
            <a:ln w="15875" cap="rnd">
              <a:solidFill>
                <a:srgbClr val="472256"/>
              </a:solidFill>
              <a:round/>
            </a:ln>
          </p:spPr>
        </p:sp>
      </p:grpSp>
      <p:sp>
        <p:nvSpPr>
          <p:cNvPr id="20" name="Forma 21"/>
          <p:cNvSpPr txBox="1"/>
          <p:nvPr/>
        </p:nvSpPr>
        <p:spPr>
          <a:xfrm>
            <a:off x="2788920" y="4434840"/>
            <a:ext cx="914400" cy="274320"/>
          </a:xfrm>
          <a:prstGeom prst="rect">
            <a:avLst/>
          </a:prstGeom>
          <a:noFill/>
          <a:ln>
            <a:noFill/>
          </a:ln>
        </p:spPr>
        <p:txBody>
          <a:bodyPr wrap="square" lIns="0" tIns="0" rIns="0" bIns="0" anchor="t" rtlCol="0">
            <a:noAutofit/>
          </a:bodyPr>
          <a:lstStyle/>
          <a:p>
            <a:pPr algn="ctr">
              <a:spcAft>
                <a:spcPts val="300"/>
              </a:spcAft>
              <a:buNone/>
            </a:pPr>
            <a:r>
              <a:rPr lang="es-AR" sz="1150" b="1" dirty="0">
                <a:solidFill>
                  <a:srgbClr val="4A235A"/>
                </a:solidFill>
                <a:latin typeface="Bahnschrift SemiBold Condensed"/>
                <a:ea typeface="Bahnschrift SemiBold Condensed"/>
                <a:cs typeface="Bahnschrift SemiBold Condensed"/>
                <a:sym typeface="Bahnschrift SemiBold Condensed"/>
              </a:rPr>
              <a:t>G6PT</a:t>
            </a:r>
            <a:endParaRPr lang="es-AR" sz="1150" dirty="0">
              <a:latin typeface="Bahnschrift SemiBold Condensed"/>
            </a:endParaRPr>
          </a:p>
        </p:txBody>
      </p:sp>
      <p:sp>
        <p:nvSpPr>
          <p:cNvPr id="21" name="G6Pasa"/>
          <p:cNvSpPr/>
          <p:nvPr/>
        </p:nvSpPr>
        <p:spPr>
          <a:xfrm>
            <a:off x="4023360" y="4023360"/>
            <a:ext cx="162625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Glucosa-6-fosfatasa</a:t>
            </a:r>
            <a:endParaRPr lang="es-AR" sz="1250" dirty="0">
              <a:latin typeface="Bahnschrift SemiBold Condensed"/>
            </a:endParaRPr>
          </a:p>
        </p:txBody>
      </p:sp>
      <p:sp>
        <p:nvSpPr>
          <p:cNvPr id="22" name="Glucosa RE"/>
          <p:cNvSpPr/>
          <p:nvPr/>
        </p:nvSpPr>
        <p:spPr>
          <a:xfrm>
            <a:off x="6035040" y="397764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3" name="Pi"/>
          <p:cNvSpPr/>
          <p:nvPr/>
        </p:nvSpPr>
        <p:spPr>
          <a:xfrm>
            <a:off x="5029200" y="4572000"/>
            <a:ext cx="347472" cy="347472"/>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08" b="1" dirty="0">
                <a:solidFill>
                  <a:srgbClr val="1E1E1E"/>
                </a:solidFill>
                <a:latin typeface="Bahnschrift SemiBold Condensed"/>
                <a:ea typeface="Bahnschrift SemiBold Condensed"/>
                <a:cs typeface="Bahnschrift SemiBold Condensed"/>
                <a:sym typeface="Bahnschrift SemiBold Condensed"/>
              </a:rPr>
              <a:t>P</a:t>
            </a:r>
            <a:r>
              <a:rPr lang="es-AR" sz="1108" b="1" baseline="-25000" dirty="0">
                <a:solidFill>
                  <a:srgbClr val="1E1E1E"/>
                </a:solidFill>
                <a:latin typeface="Bahnschrift SemiBold Condensed"/>
                <a:ea typeface="Bahnschrift SemiBold Condensed"/>
                <a:cs typeface="Bahnschrift SemiBold Condensed"/>
                <a:sym typeface="Bahnschrift SemiBold Condensed"/>
              </a:rPr>
              <a:t>i</a:t>
            </a:r>
            <a:endParaRPr lang="es-AR" sz="1108" dirty="0">
              <a:latin typeface="Bahnschrift SemiBold Condensed"/>
            </a:endParaRPr>
          </a:p>
        </p:txBody>
      </p:sp>
      <p:grpSp>
        <p:nvGrpSpPr>
          <p:cNvPr id="24" name="GLUT2 salida"/>
          <p:cNvGrpSpPr/>
          <p:nvPr/>
        </p:nvGrpSpPr>
        <p:grpSpPr>
          <a:xfrm>
            <a:off x="7543800" y="3520440"/>
            <a:ext cx="822960" cy="811987"/>
            <a:chOff x="7543800" y="3520440"/>
            <a:chExt cx="822960" cy="811987"/>
          </a:xfrm>
        </p:grpSpPr>
        <p:sp>
          <p:nvSpPr>
            <p:cNvPr id="25" name="Forma 26"/>
            <p:cNvSpPr/>
            <p:nvPr/>
          </p:nvSpPr>
          <p:spPr>
            <a:xfrm>
              <a:off x="7635240" y="3794760"/>
              <a:ext cx="640080" cy="230429"/>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26" name="Forma 27"/>
            <p:cNvSpPr/>
            <p:nvPr/>
          </p:nvSpPr>
          <p:spPr>
            <a:xfrm>
              <a:off x="7635240" y="4101998"/>
              <a:ext cx="640080" cy="230429"/>
            </a:xfrm>
            <a:prstGeom prst="roundRect">
              <a:avLst>
                <a:gd name="adj" fmla="val 45000"/>
              </a:avLst>
            </a:prstGeom>
            <a:gradFill rotWithShape="1">
              <a:gsLst>
                <a:gs pos="0">
                  <a:srgbClr val="41799E"/>
                </a:gs>
                <a:gs pos="40000">
                  <a:srgbClr val="95C9EC"/>
                </a:gs>
                <a:gs pos="100000">
                  <a:srgbClr val="41799E"/>
                </a:gs>
              </a:gsLst>
              <a:lin ang="0" scaled="0"/>
            </a:gradFill>
            <a:ln w="15875" cap="rnd">
              <a:solidFill>
                <a:srgbClr val="2E5671"/>
              </a:solidFill>
              <a:round/>
            </a:ln>
          </p:spPr>
        </p:sp>
        <p:sp>
          <p:nvSpPr>
            <p:cNvPr id="27" name="Forma 28"/>
            <p:cNvSpPr txBox="1"/>
            <p:nvPr/>
          </p:nvSpPr>
          <p:spPr>
            <a:xfrm>
              <a:off x="7543800" y="3520440"/>
              <a:ext cx="822960" cy="237744"/>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294D65"/>
                  </a:solidFill>
                  <a:latin typeface="Bahnschrift SemiBold Condensed"/>
                  <a:ea typeface="Bahnschrift SemiBold Condensed"/>
                  <a:cs typeface="Bahnschrift SemiBold Condensed"/>
                  <a:sym typeface="Bahnschrift SemiBold Condensed"/>
                </a:rPr>
                <a:t>GLUT2</a:t>
              </a:r>
              <a:endParaRPr lang="es-AR" sz="1150" dirty="0">
                <a:latin typeface="Bahnschrift SemiBold Condensed"/>
              </a:endParaRPr>
            </a:p>
          </p:txBody>
        </p:sp>
      </p:grpSp>
      <p:sp>
        <p:nvSpPr>
          <p:cNvPr id="28" name="Glucosa a sangre"/>
          <p:cNvSpPr/>
          <p:nvPr/>
        </p:nvSpPr>
        <p:spPr>
          <a:xfrm>
            <a:off x="8595360" y="38862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grpSp>
        <p:nvGrpSpPr>
          <p:cNvPr id="29" name="Sinusoide"/>
          <p:cNvGrpSpPr/>
          <p:nvPr/>
        </p:nvGrpSpPr>
        <p:grpSpPr>
          <a:xfrm>
            <a:off x="8412480" y="4754880"/>
            <a:ext cx="3383280" cy="640080"/>
            <a:chOff x="8412480" y="4754880"/>
            <a:chExt cx="3383280" cy="640080"/>
          </a:xfrm>
        </p:grpSpPr>
        <p:sp>
          <p:nvSpPr>
            <p:cNvPr id="30" name="Forma 31"/>
            <p:cNvSpPr/>
            <p:nvPr/>
          </p:nvSpPr>
          <p:spPr>
            <a:xfrm>
              <a:off x="8412480" y="4754880"/>
              <a:ext cx="3383280" cy="6400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31" name="Forma 32"/>
            <p:cNvSpPr/>
            <p:nvPr/>
          </p:nvSpPr>
          <p:spPr>
            <a:xfrm>
              <a:off x="8508492" y="4870094"/>
              <a:ext cx="3191256" cy="409651"/>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32" name="Eritrocito"/>
            <p:cNvSpPr/>
            <p:nvPr/>
          </p:nvSpPr>
          <p:spPr>
            <a:xfrm>
              <a:off x="8970501" y="506657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3" name="Eritrocito_2"/>
            <p:cNvSpPr/>
            <p:nvPr/>
          </p:nvSpPr>
          <p:spPr>
            <a:xfrm>
              <a:off x="9583225" y="492848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4" name="Eritrocito_3"/>
            <p:cNvSpPr/>
            <p:nvPr/>
          </p:nvSpPr>
          <p:spPr>
            <a:xfrm>
              <a:off x="10838501" y="503267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35" name="Recuadro Claves"/>
          <p:cNvGrpSpPr/>
          <p:nvPr/>
        </p:nvGrpSpPr>
        <p:grpSpPr>
          <a:xfrm>
            <a:off x="8229600" y="1005840"/>
            <a:ext cx="3566160" cy="2468880"/>
            <a:chOff x="8229600" y="1005840"/>
            <a:chExt cx="3566160" cy="2468880"/>
          </a:xfrm>
        </p:grpSpPr>
        <p:sp>
          <p:nvSpPr>
            <p:cNvPr id="36" name="Forma 37"/>
            <p:cNvSpPr/>
            <p:nvPr/>
          </p:nvSpPr>
          <p:spPr>
            <a:xfrm>
              <a:off x="8229600" y="1188720"/>
              <a:ext cx="3566160" cy="22860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fosforilasa libera </a:t>
              </a:r>
              <a:r>
                <a:rPr lang="es-AR" sz="1600" b="1" dirty="0">
                  <a:solidFill>
                    <a:srgbClr val="1E1E1E"/>
                  </a:solidFill>
                  <a:latin typeface="Bahnschrift"/>
                  <a:ea typeface="Bahnschrift"/>
                  <a:cs typeface="Bahnschrift"/>
                  <a:sym typeface="Bahnschrift"/>
                </a:rPr>
                <a:t>glucosa-1-P</a:t>
              </a:r>
              <a:r>
                <a:rPr lang="es-AR" sz="1600" dirty="0">
                  <a:solidFill>
                    <a:srgbClr val="1E1E1E"/>
                  </a:solidFill>
                  <a:latin typeface="Bahnschrift"/>
                  <a:ea typeface="Bahnschrift"/>
                  <a:cs typeface="Bahnschrift"/>
                  <a:sym typeface="Bahnschrift"/>
                </a:rPr>
                <a:t> (fosforólisis).</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Las ramas exigen la </a:t>
              </a:r>
              <a:r>
                <a:rPr lang="es-AR" sz="1600" b="1" dirty="0">
                  <a:solidFill>
                    <a:srgbClr val="1E1E1E"/>
                  </a:solidFill>
                  <a:latin typeface="Bahnschrift"/>
                  <a:ea typeface="Bahnschrift"/>
                  <a:cs typeface="Bahnschrift"/>
                  <a:sym typeface="Bahnschrift"/>
                </a:rPr>
                <a:t>desramificante</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G6Pasa</a:t>
              </a:r>
              <a:r>
                <a:rPr lang="es-AR" sz="1600" dirty="0">
                  <a:solidFill>
                    <a:srgbClr val="1E1E1E"/>
                  </a:solidFill>
                  <a:latin typeface="Bahnschrift"/>
                  <a:ea typeface="Bahnschrift"/>
                  <a:cs typeface="Bahnschrift"/>
                  <a:sym typeface="Bahnschrift"/>
                </a:rPr>
                <a:t> del RE: </a:t>
              </a:r>
              <a:r>
                <a:rPr lang="es-AR" sz="1600" b="1" dirty="0">
                  <a:solidFill>
                    <a:srgbClr val="1E1E1E"/>
                  </a:solidFill>
                  <a:latin typeface="Bahnschrift"/>
                  <a:ea typeface="Bahnschrift"/>
                  <a:cs typeface="Bahnschrift"/>
                  <a:sym typeface="Bahnschrift"/>
                </a:rPr>
                <a:t>solo hígado y riñón</a:t>
              </a:r>
              <a:r>
                <a:rPr lang="es-AR" sz="1600" dirty="0">
                  <a:solidFill>
                    <a:srgbClr val="1E1E1E"/>
                  </a:solidFill>
                  <a:latin typeface="Bahnschrift"/>
                  <a:ea typeface="Bahnschrift"/>
                  <a:cs typeface="Bahnschrift"/>
                  <a:sym typeface="Bahnschrift"/>
                </a:rPr>
                <a:t> liberan glucosa.</a:t>
              </a:r>
              <a:endParaRPr lang="es-AR" sz="1600" dirty="0">
                <a:latin typeface="Bahnschrift"/>
              </a:endParaRPr>
            </a:p>
          </p:txBody>
        </p:sp>
        <p:sp>
          <p:nvSpPr>
            <p:cNvPr id="37" name="Forma 38"/>
            <p:cNvSpPr/>
            <p:nvPr/>
          </p:nvSpPr>
          <p:spPr>
            <a:xfrm>
              <a:off x="8339328" y="1005840"/>
              <a:ext cx="86926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CLAVES</a:t>
              </a:r>
              <a:endParaRPr lang="es-AR" sz="145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02395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7 · DE GLUCÓGENO A GLUCOSA SANGUÍNEA: EL PAPEL DEL RE</a:t>
            </a:r>
            <a:endParaRPr lang="es-AR" sz="26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0" fill="hold">
                      <p:stCondLst>
                        <p:cond delay="indefinite"/>
                      </p:stCondLst>
                      <p:childTnLst>
                        <p:par>
                          <p:cTn id="5" fill="hold">
                            <p:stCondLst>
                              <p:cond delay="0"/>
                            </p:stCondLst>
                            <p:childTnLst>
                              <p:par>
                                <p:cTn id="3" presetID="6" presetClass="emph" presetSubtype="0" fill="hold" grpId="0" nodeType="clickEffect">
                                  <p:stCondLst>
                                    <p:cond delay="0"/>
                                  </p:stCondLst>
                                  <p:childTnLst>
                                    <p:animScale>
                                      <p:cBhvr>
                                        <p:cTn id="4" dur="300" autoRev="1" fill="hold"/>
                                        <p:tgtEl>
                                          <p:spTgt spid="5"/>
                                        </p:tgtEl>
                                      </p:cBhvr>
                                      <p:by x="112000" y="112000"/>
                                    </p:animScale>
                                  </p:childTnLst>
                                </p:cTn>
                              </p:par>
                            </p:childTnLst>
                          </p:cTn>
                        </p:par>
                        <p:par>
                          <p:cTn id="12" fill="hold">
                            <p:stCondLst>
                              <p:cond delay="300"/>
                            </p:stCondLst>
                            <p:childTnLst>
                              <p:par>
                                <p:cTn id="6" presetID="10" presetClass="entr" presetSubtype="0" fill="hold" grpId="0" nodeType="afterEffect">
                                  <p:stCondLst>
                                    <p:cond delay="0"/>
                                  </p:stCondLst>
                                  <p:childTnLst>
                                    <p:set>
                                      <p:cBhvr>
                                        <p:cTn id="7" dur="1" fill="hold">
                                          <p:stCondLst>
                                            <p:cond delay="0"/>
                                          </p:stCondLst>
                                        </p:cTn>
                                        <p:tgtEl>
                                          <p:spTgt spid="11"/>
                                        </p:tgtEl>
                                        <p:attrNameLst>
                                          <p:attrName>style.visibility</p:attrName>
                                        </p:attrNameLst>
                                      </p:cBhvr>
                                      <p:to>
                                        <p:strVal val="visible"/>
                                      </p:to>
                                    </p:set>
                                    <p:animEffect transition="in" filter="fade">
                                      <p:cBhvr>
                                        <p:cTn id="8" dur="500"/>
                                        <p:tgtEl>
                                          <p:spTgt spid="11"/>
                                        </p:tgtEl>
                                      </p:cBhvr>
                                    </p:animEffect>
                                  </p:childTnLst>
                                </p:cTn>
                              </p:par>
                              <p:par>
                                <p:cTn id="9" presetID="10"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9" fill="hold">
                            <p:stCondLst>
                              <p:cond delay="800"/>
                            </p:stCondLst>
                            <p:childTnLst>
                              <p:par>
                                <p:cTn id="13" presetID="22" presetClass="entr" presetSubtype="1"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up)">
                                      <p:cBhvr>
                                        <p:cTn id="15" dur="6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33" fill="hold">
                      <p:stCondLst>
                        <p:cond delay="indefinite"/>
                      </p:stCondLst>
                      <p:childTnLst>
                        <p:par>
                          <p:cTn id="24"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par>
                          <p:cTn id="28" fill="hold">
                            <p:stCondLst>
                              <p:cond delay="500"/>
                            </p:stCondLst>
                            <p:childTnLst>
                              <p:par>
                                <p:cTn id="25" presetID="22" presetClass="entr" presetSubtype="1"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up)">
                                      <p:cBhvr>
                                        <p:cTn id="27" dur="600"/>
                                        <p:tgtEl>
                                          <p:spTgt spid="7"/>
                                        </p:tgtEl>
                                      </p:cBhvr>
                                    </p:animEffect>
                                  </p:childTnLst>
                                </p:cTn>
                              </p:par>
                            </p:childTnLst>
                          </p:cTn>
                        </p:par>
                        <p:par>
                          <p:cTn id="32" fill="hold">
                            <p:stCondLst>
                              <p:cond delay="1100"/>
                            </p:stCondLst>
                            <p:childTnLst>
                              <p:par>
                                <p:cTn id="29" presetID="10" presetClass="entr" presetSubtype="0"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42" fill="hold">
                      <p:stCondLst>
                        <p:cond delay="indefinite"/>
                      </p:stCondLst>
                      <p:childTnLst>
                        <p:par>
                          <p:cTn id="37"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par>
                          <p:cTn id="41" fill="hold">
                            <p:stCondLst>
                              <p:cond delay="500"/>
                            </p:stCondLst>
                            <p:childTnLst>
                              <p:par>
                                <p:cTn id="38" presetID="10" presetClass="entr" presetSubtype="0" fill="hold" grpId="0" nodeType="after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childTnLst>
                          </p:cTn>
                        </p:par>
                      </p:childTnLst>
                    </p:cTn>
                  </p:par>
                  <p:par>
                    <p:cTn id="58" fill="hold">
                      <p:stCondLst>
                        <p:cond delay="indefinite"/>
                      </p:stCondLst>
                      <p:childTnLst>
                        <p:par>
                          <p:cTn id="46"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57" fill="hold">
                            <p:stCondLst>
                              <p:cond delay="500"/>
                            </p:stCondLst>
                            <p:childTnLst>
                              <p:par>
                                <p:cTn id="47" presetID="53" presetClass="entr" presetSubtype="16" fill="hold" grpId="0" nodeType="afterEffect">
                                  <p:stCondLst>
                                    <p:cond delay="0"/>
                                  </p:stCondLst>
                                  <p:childTnLst>
                                    <p:set>
                                      <p:cBhvr>
                                        <p:cTn id="48" dur="1" fill="hold">
                                          <p:stCondLst>
                                            <p:cond delay="0"/>
                                          </p:stCondLst>
                                        </p:cTn>
                                        <p:tgtEl>
                                          <p:spTgt spid="22"/>
                                        </p:tgtEl>
                                        <p:attrNameLst>
                                          <p:attrName>style.visibility</p:attrName>
                                        </p:attrNameLst>
                                      </p:cBhvr>
                                      <p:to>
                                        <p:strVal val="visible"/>
                                      </p:to>
                                    </p:set>
                                    <p:anim calcmode="lin" valueType="num">
                                      <p:cBhvr>
                                        <p:cTn id="49" dur="500" fill="hold"/>
                                        <p:tgtEl>
                                          <p:spTgt spid="22"/>
                                        </p:tgtEl>
                                        <p:attrNameLst>
                                          <p:attrName>ppt_w</p:attrName>
                                        </p:attrNameLst>
                                      </p:cBhvr>
                                      <p:tavLst>
                                        <p:tav tm="0">
                                          <p:val>
                                            <p:fltVal val="0"/>
                                          </p:val>
                                        </p:tav>
                                        <p:tav tm="100000">
                                          <p:val>
                                            <p:strVal val="#ppt_w"/>
                                          </p:val>
                                        </p:tav>
                                      </p:tavLst>
                                    </p:anim>
                                    <p:anim calcmode="lin" valueType="num">
                                      <p:cBhvr>
                                        <p:cTn id="50" dur="500" fill="hold"/>
                                        <p:tgtEl>
                                          <p:spTgt spid="22"/>
                                        </p:tgtEl>
                                        <p:attrNameLst>
                                          <p:attrName>ppt_h</p:attrName>
                                        </p:attrNameLst>
                                      </p:cBhvr>
                                      <p:tavLst>
                                        <p:tav tm="0">
                                          <p:val>
                                            <p:fltVal val="0"/>
                                          </p:val>
                                        </p:tav>
                                        <p:tav tm="100000">
                                          <p:val>
                                            <p:strVal val="#ppt_h"/>
                                          </p:val>
                                        </p:tav>
                                      </p:tavLst>
                                    </p:anim>
                                    <p:animEffect transition="in" filter="fade">
                                      <p:cBhvr>
                                        <p:cTn id="51" dur="500"/>
                                        <p:tgtEl>
                                          <p:spTgt spid="22"/>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 calcmode="lin" valueType="num">
                                      <p:cBhvr>
                                        <p:cTn id="54" dur="500" fill="hold"/>
                                        <p:tgtEl>
                                          <p:spTgt spid="23"/>
                                        </p:tgtEl>
                                        <p:attrNameLst>
                                          <p:attrName>ppt_w</p:attrName>
                                        </p:attrNameLst>
                                      </p:cBhvr>
                                      <p:tavLst>
                                        <p:tav tm="0">
                                          <p:val>
                                            <p:fltVal val="0"/>
                                          </p:val>
                                        </p:tav>
                                        <p:tav tm="100000">
                                          <p:val>
                                            <p:strVal val="#ppt_w"/>
                                          </p:val>
                                        </p:tav>
                                      </p:tavLst>
                                    </p:anim>
                                    <p:anim calcmode="lin" valueType="num">
                                      <p:cBhvr>
                                        <p:cTn id="55" dur="500" fill="hold"/>
                                        <p:tgtEl>
                                          <p:spTgt spid="23"/>
                                        </p:tgtEl>
                                        <p:attrNameLst>
                                          <p:attrName>ppt_h</p:attrName>
                                        </p:attrNameLst>
                                      </p:cBhvr>
                                      <p:tavLst>
                                        <p:tav tm="0">
                                          <p:val>
                                            <p:fltVal val="0"/>
                                          </p:val>
                                        </p:tav>
                                        <p:tav tm="100000">
                                          <p:val>
                                            <p:strVal val="#ppt_h"/>
                                          </p:val>
                                        </p:tav>
                                      </p:tavLst>
                                    </p:anim>
                                    <p:animEffect transition="in" filter="fade">
                                      <p:cBhvr>
                                        <p:cTn id="56" dur="500"/>
                                        <p:tgtEl>
                                          <p:spTgt spid="23"/>
                                        </p:tgtEl>
                                      </p:cBhvr>
                                    </p:animEffect>
                                  </p:childTnLst>
                                </p:cTn>
                              </p:par>
                            </p:childTnLst>
                          </p:cTn>
                        </p:par>
                      </p:childTnLst>
                    </p:cTn>
                  </p:par>
                  <p:par>
                    <p:cTn id="75" fill="hold">
                      <p:stCondLst>
                        <p:cond delay="indefinite"/>
                      </p:stCondLst>
                      <p:childTnLst>
                        <p:par>
                          <p:cTn id="62"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500"/>
                                        <p:tgtEl>
                                          <p:spTgt spid="24"/>
                                        </p:tgtEl>
                                      </p:cBhvr>
                                    </p:animEffect>
                                  </p:childTnLst>
                                </p:cTn>
                              </p:par>
                            </p:childTnLst>
                          </p:cTn>
                        </p:par>
                        <p:par>
                          <p:cTn id="65" fill="hold">
                            <p:stCondLst>
                              <p:cond delay="500"/>
                            </p:stCondLst>
                            <p:childTnLst>
                              <p:par>
                                <p:cTn id="63" presetID="0" presetClass="path" presetSubtype="0" accel="20000" decel="20000" fill="hold" grpId="0" nodeType="afterEffect">
                                  <p:stCondLst>
                                    <p:cond delay="0"/>
                                  </p:stCondLst>
                                  <p:childTnLst>
                                    <p:animMotion origin="layout" path="M 0 0 L 0.2138 0.0000 E" pathEditMode="relative" ptsTypes="">
                                      <p:cBhvr>
                                        <p:cTn id="64" dur="1300" fill="hold"/>
                                        <p:tgtEl>
                                          <p:spTgt spid="22"/>
                                        </p:tgtEl>
                                        <p:attrNameLst>
                                          <p:attrName>ppt_x</p:attrName>
                                          <p:attrName>ppt_y</p:attrName>
                                        </p:attrNameLst>
                                      </p:cBhvr>
                                      <p:rCtr x="10687" y="0"/>
                                    </p:animMotion>
                                  </p:childTnLst>
                                </p:cTn>
                              </p:par>
                            </p:childTnLst>
                          </p:cTn>
                        </p:par>
                        <p:par>
                          <p:cTn id="71" fill="hold">
                            <p:stCondLst>
                              <p:cond delay="1800"/>
                            </p:stCondLst>
                            <p:childTnLst>
                              <p:par>
                                <p:cTn id="66" presetID="53" presetClass="entr" presetSubtype="16" fill="hold" grpId="0" nodeType="afterEffect">
                                  <p:stCondLst>
                                    <p:cond delay="0"/>
                                  </p:stCondLst>
                                  <p:childTnLst>
                                    <p:set>
                                      <p:cBhvr>
                                        <p:cTn id="67" dur="1" fill="hold">
                                          <p:stCondLst>
                                            <p:cond delay="0"/>
                                          </p:stCondLst>
                                        </p:cTn>
                                        <p:tgtEl>
                                          <p:spTgt spid="28"/>
                                        </p:tgtEl>
                                        <p:attrNameLst>
                                          <p:attrName>style.visibility</p:attrName>
                                        </p:attrNameLst>
                                      </p:cBhvr>
                                      <p:to>
                                        <p:strVal val="visible"/>
                                      </p:to>
                                    </p:set>
                                    <p:anim calcmode="lin" valueType="num">
                                      <p:cBhvr>
                                        <p:cTn id="68" dur="500" fill="hold"/>
                                        <p:tgtEl>
                                          <p:spTgt spid="28"/>
                                        </p:tgtEl>
                                        <p:attrNameLst>
                                          <p:attrName>ppt_w</p:attrName>
                                        </p:attrNameLst>
                                      </p:cBhvr>
                                      <p:tavLst>
                                        <p:tav tm="0">
                                          <p:val>
                                            <p:fltVal val="0"/>
                                          </p:val>
                                        </p:tav>
                                        <p:tav tm="100000">
                                          <p:val>
                                            <p:strVal val="#ppt_w"/>
                                          </p:val>
                                        </p:tav>
                                      </p:tavLst>
                                    </p:anim>
                                    <p:anim calcmode="lin" valueType="num">
                                      <p:cBhvr>
                                        <p:cTn id="69" dur="500" fill="hold"/>
                                        <p:tgtEl>
                                          <p:spTgt spid="28"/>
                                        </p:tgtEl>
                                        <p:attrNameLst>
                                          <p:attrName>ppt_h</p:attrName>
                                        </p:attrNameLst>
                                      </p:cBhvr>
                                      <p:tavLst>
                                        <p:tav tm="0">
                                          <p:val>
                                            <p:fltVal val="0"/>
                                          </p:val>
                                        </p:tav>
                                        <p:tav tm="100000">
                                          <p:val>
                                            <p:strVal val="#ppt_h"/>
                                          </p:val>
                                        </p:tav>
                                      </p:tavLst>
                                    </p:anim>
                                    <p:animEffect transition="in" filter="fade">
                                      <p:cBhvr>
                                        <p:cTn id="70" dur="500"/>
                                        <p:tgtEl>
                                          <p:spTgt spid="28"/>
                                        </p:tgtEl>
                                      </p:cBhvr>
                                    </p:animEffect>
                                  </p:childTnLst>
                                </p:cTn>
                              </p:par>
                            </p:childTnLst>
                          </p:cTn>
                        </p:par>
                        <p:par>
                          <p:cTn id="74" fill="hold">
                            <p:stCondLst>
                              <p:cond delay="2300"/>
                            </p:stCondLst>
                            <p:childTnLst>
                              <p:par>
                                <p:cTn id="72" presetID="0" presetClass="path" presetSubtype="0" accel="20000" decel="20000" fill="hold" grpId="0" nodeType="afterEffect">
                                  <p:stCondLst>
                                    <p:cond delay="0"/>
                                  </p:stCondLst>
                                  <p:childTnLst>
                                    <p:animMotion origin="layout" path="M 0 0 L 0.0600 0.1333 E" pathEditMode="relative" ptsTypes="">
                                      <p:cBhvr>
                                        <p:cTn id="73" dur="900" fill="hold"/>
                                        <p:tgtEl>
                                          <p:spTgt spid="28"/>
                                        </p:tgtEl>
                                        <p:attrNameLst>
                                          <p:attrName>ppt_x</p:attrName>
                                          <p:attrName>ppt_y</p:attrName>
                                        </p:attrNameLst>
                                      </p:cBhvr>
                                      <p:rCtr x="3000" y="6666"/>
                                    </p:animMotion>
                                  </p:childTnLst>
                                </p:cTn>
                              </p:par>
                            </p:childTnLst>
                          </p:cTn>
                        </p:par>
                      </p:childTnLst>
                    </p:cTn>
                  </p:par>
                  <p:par>
                    <p:cTn id="80" fill="hold">
                      <p:stCondLst>
                        <p:cond delay="indefinite"/>
                      </p:stCondLst>
                      <p:childTnLst>
                        <p:par>
                          <p:cTn id="79"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5"/>
                                        </p:tgtEl>
                                        <p:attrNameLst>
                                          <p:attrName>style.visibility</p:attrName>
                                        </p:attrNameLst>
                                      </p:cBhvr>
                                      <p:to>
                                        <p:strVal val="visible"/>
                                      </p:to>
                                    </p:set>
                                    <p:animEffect transition="in" filter="fade">
                                      <p:cBhvr>
                                        <p:cTn id="7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animBg="1"/>
      <p:bldP spid="12" grpId="0" animBg="1"/>
      <p:bldP spid="13" grpId="0" animBg="1"/>
      <p:bldP spid="14" grpId="0" animBg="1"/>
      <p:bldP spid="6" grpId="0" animBg="1"/>
      <p:bldP spid="10" grpId="0" animBg="1"/>
      <p:bldP spid="15" grpId="0" animBg="1"/>
      <p:bldP spid="21" grpId="0" animBg="1"/>
      <p:bldP spid="22" grpId="0" animBg="1"/>
      <p:bldP spid="23" grpId="0" animBg="1"/>
      <p:bldP spid="28" grpId="0" animBg="1"/>
    </p:bldLst>
  </p:timing>
</p:sld>
</file>

<file path=ppt/slides/slide62.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Hígado col"/>
          <p:cNvGrpSpPr/>
          <p:nvPr/>
        </p:nvGrpSpPr>
        <p:grpSpPr>
          <a:xfrm>
            <a:off x="365760" y="1051560"/>
            <a:ext cx="5486400" cy="3931920"/>
            <a:chOff x="365760" y="1051560"/>
            <a:chExt cx="5486400" cy="3931920"/>
          </a:xfrm>
        </p:grpSpPr>
        <p:grpSp>
          <p:nvGrpSpPr>
            <p:cNvPr id="5" name="!!Hígado"/>
            <p:cNvGrpSpPr/>
            <p:nvPr/>
          </p:nvGrpSpPr>
          <p:grpSpPr>
            <a:xfrm>
              <a:off x="548640" y="1051560"/>
              <a:ext cx="2377440" cy="1680375"/>
              <a:chOff x="548640" y="1051560"/>
              <a:chExt cx="2377440" cy="1680375"/>
            </a:xfrm>
          </p:grpSpPr>
          <p:sp>
            <p:nvSpPr>
              <p:cNvPr id="6" name="Vesícula biliar"/>
              <p:cNvSpPr/>
              <p:nvPr/>
            </p:nvSpPr>
            <p:spPr>
              <a:xfrm>
                <a:off x="1190549" y="220129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7" name="Forma 6"/>
              <p:cNvSpPr/>
              <p:nvPr/>
            </p:nvSpPr>
            <p:spPr>
              <a:xfrm>
                <a:off x="548640" y="105156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8" name="Forma 7"/>
              <p:cNvSpPr/>
              <p:nvPr/>
            </p:nvSpPr>
            <p:spPr>
              <a:xfrm>
                <a:off x="548640" y="105156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9" name="Forma 8"/>
              <p:cNvSpPr/>
              <p:nvPr/>
            </p:nvSpPr>
            <p:spPr>
              <a:xfrm>
                <a:off x="548640" y="105156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0" name="Recuadro Hígado: exportador"/>
            <p:cNvGrpSpPr/>
            <p:nvPr/>
          </p:nvGrpSpPr>
          <p:grpSpPr>
            <a:xfrm>
              <a:off x="365760" y="2651760"/>
              <a:ext cx="5486400" cy="2331720"/>
              <a:chOff x="365760" y="2651760"/>
              <a:chExt cx="5486400" cy="2331720"/>
            </a:xfrm>
          </p:grpSpPr>
          <p:sp>
            <p:nvSpPr>
              <p:cNvPr id="11" name="Forma 10"/>
              <p:cNvSpPr/>
              <p:nvPr/>
            </p:nvSpPr>
            <p:spPr>
              <a:xfrm>
                <a:off x="365760" y="2834640"/>
                <a:ext cx="5486400" cy="2148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Produce </a:t>
                </a:r>
                <a:r>
                  <a:rPr lang="es-AR" sz="1650" b="1" dirty="0">
                    <a:solidFill>
                      <a:srgbClr val="1E1E1E"/>
                    </a:solidFill>
                    <a:latin typeface="Bahnschrift"/>
                    <a:ea typeface="Bahnschrift"/>
                    <a:cs typeface="Bahnschrift"/>
                    <a:sym typeface="Bahnschrift"/>
                  </a:rPr>
                  <a:t>G6P → glucosa</a:t>
                </a:r>
                <a:r>
                  <a:rPr lang="es-AR" sz="1650" dirty="0">
                    <a:solidFill>
                      <a:srgbClr val="1E1E1E"/>
                    </a:solidFill>
                    <a:latin typeface="Bahnschrift"/>
                    <a:ea typeface="Bahnschrift"/>
                    <a:cs typeface="Bahnschrift"/>
                    <a:sym typeface="Bahnschrift"/>
                  </a:rPr>
                  <a:t> (G6Pasa) para </a:t>
                </a:r>
                <a:r>
                  <a:rPr lang="es-AR" sz="1650" b="1" dirty="0">
                    <a:solidFill>
                      <a:srgbClr val="1E1E1E"/>
                    </a:solidFill>
                    <a:latin typeface="Bahnschrift"/>
                    <a:ea typeface="Bahnschrift"/>
                    <a:cs typeface="Bahnschrift"/>
                    <a:sym typeface="Bahnschrift"/>
                  </a:rPr>
                  <a:t>toda la sangre</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Control dominante: </a:t>
                </a:r>
                <a:r>
                  <a:rPr lang="es-AR" sz="1650" b="1" dirty="0">
                    <a:solidFill>
                      <a:srgbClr val="1E1E1E"/>
                    </a:solidFill>
                    <a:latin typeface="Bahnschrift"/>
                    <a:ea typeface="Bahnschrift"/>
                    <a:cs typeface="Bahnschrift"/>
                    <a:sym typeface="Bahnschrift"/>
                  </a:rPr>
                  <a:t>glucagón/insulina</a:t>
                </a:r>
                <a:r>
                  <a:rPr lang="es-AR" sz="1650" dirty="0">
                    <a:solidFill>
                      <a:srgbClr val="1E1E1E"/>
                    </a:solidFill>
                    <a:latin typeface="Bahnschrift"/>
                    <a:ea typeface="Bahnschrift"/>
                    <a:cs typeface="Bahnschrift"/>
                    <a:sym typeface="Bahnschrift"/>
                  </a:rPr>
                  <a:t> (y catecolaminas).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Su reserva </a:t>
                </a:r>
                <a:r>
                  <a:rPr lang="es-AR" sz="1650" b="1" dirty="0">
                    <a:solidFill>
                      <a:srgbClr val="1E1E1E"/>
                    </a:solidFill>
                    <a:latin typeface="Bahnschrift"/>
                    <a:ea typeface="Bahnschrift"/>
                    <a:cs typeface="Bahnschrift"/>
                    <a:sym typeface="Bahnschrift"/>
                  </a:rPr>
                  <a:t>cae al avanzar el ayuno</a:t>
                </a:r>
                <a:r>
                  <a:rPr lang="es-AR" sz="1650" dirty="0">
                    <a:solidFill>
                      <a:srgbClr val="1E1E1E"/>
                    </a:solidFill>
                    <a:latin typeface="Bahnschrift"/>
                    <a:ea typeface="Bahnschrift"/>
                    <a:cs typeface="Bahnschrift"/>
                    <a:sym typeface="Bahnschrift"/>
                  </a:rPr>
                  <a:t>: la gluconeogénesis asume la responsabilidad.</a:t>
                </a:r>
                <a:endParaRPr lang="es-AR" sz="1650" dirty="0">
                  <a:latin typeface="Bahnschrift"/>
                </a:endParaRPr>
              </a:p>
            </p:txBody>
          </p:sp>
          <p:sp>
            <p:nvSpPr>
              <p:cNvPr id="12" name="Forma 11"/>
              <p:cNvSpPr/>
              <p:nvPr/>
            </p:nvSpPr>
            <p:spPr>
              <a:xfrm>
                <a:off x="475488" y="2651760"/>
                <a:ext cx="193521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HÍGADO: EXPORTADOR</a:t>
                </a:r>
                <a:endParaRPr lang="es-AR" sz="1500" dirty="0">
                  <a:latin typeface="Bahnschrift SemiBold Condensed"/>
                </a:endParaRPr>
              </a:p>
            </p:txBody>
          </p:sp>
        </p:grpSp>
      </p:grpSp>
      <p:grpSp>
        <p:nvGrpSpPr>
          <p:cNvPr id="13" name="Músculo col"/>
          <p:cNvGrpSpPr/>
          <p:nvPr/>
        </p:nvGrpSpPr>
        <p:grpSpPr>
          <a:xfrm>
            <a:off x="6309360" y="1143000"/>
            <a:ext cx="5486400" cy="3840480"/>
            <a:chOff x="6309360" y="1143000"/>
            <a:chExt cx="5486400" cy="3840480"/>
          </a:xfrm>
        </p:grpSpPr>
        <p:grpSp>
          <p:nvGrpSpPr>
            <p:cNvPr id="14" name="!!Músculo"/>
            <p:cNvGrpSpPr/>
            <p:nvPr/>
          </p:nvGrpSpPr>
          <p:grpSpPr>
            <a:xfrm>
              <a:off x="6492240" y="1143000"/>
              <a:ext cx="3108960" cy="1019739"/>
              <a:chOff x="6492240" y="1143000"/>
              <a:chExt cx="3108960" cy="1019739"/>
            </a:xfrm>
          </p:grpSpPr>
          <p:grpSp>
            <p:nvGrpSpPr>
              <p:cNvPr id="15" name="Fibra"/>
              <p:cNvGrpSpPr/>
              <p:nvPr/>
            </p:nvGrpSpPr>
            <p:grpSpPr>
              <a:xfrm>
                <a:off x="6492240" y="1143000"/>
                <a:ext cx="2984602" cy="497434"/>
                <a:chOff x="6492240" y="1143000"/>
                <a:chExt cx="2984602" cy="497434"/>
              </a:xfrm>
            </p:grpSpPr>
            <p:sp>
              <p:nvSpPr>
                <p:cNvPr id="16" name="Forma 15"/>
                <p:cNvSpPr/>
                <p:nvPr/>
              </p:nvSpPr>
              <p:spPr>
                <a:xfrm>
                  <a:off x="6492240" y="1143000"/>
                  <a:ext cx="2984602" cy="4974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7" name="Forma 16"/>
                <p:cNvSpPr/>
                <p:nvPr/>
              </p:nvSpPr>
              <p:spPr>
                <a:xfrm>
                  <a:off x="6616598" y="1143000"/>
                  <a:ext cx="2735885" cy="497434"/>
                </a:xfrm>
                <a:custGeom>
                  <a:avLst/>
                  <a:gdLst/>
                  <a:ahLst/>
                  <a:cxnLst/>
                  <a:rect l="0" t="0" r="r" b="b"/>
                  <a:pathLst>
                    <a:path w="1000" h="1000" fill="none">
                      <a:moveTo>
                        <a:pt x="13" y="80"/>
                      </a:moveTo>
                      <a:lnTo>
                        <a:pt x="13" y="920"/>
                      </a:lnTo>
                    </a:path>
                    <a:path w="1000" h="1000" fill="none">
                      <a:moveTo>
                        <a:pt x="41" y="80"/>
                      </a:moveTo>
                      <a:lnTo>
                        <a:pt x="41" y="920"/>
                      </a:lnTo>
                    </a:path>
                    <a:path w="1000" h="1000" fill="none">
                      <a:moveTo>
                        <a:pt x="69" y="80"/>
                      </a:moveTo>
                      <a:lnTo>
                        <a:pt x="69" y="920"/>
                      </a:lnTo>
                    </a:path>
                    <a:path w="1000" h="1000" fill="none">
                      <a:moveTo>
                        <a:pt x="97" y="80"/>
                      </a:moveTo>
                      <a:lnTo>
                        <a:pt x="97" y="920"/>
                      </a:lnTo>
                    </a:path>
                    <a:path w="1000" h="1000" fill="none">
                      <a:moveTo>
                        <a:pt x="125" y="80"/>
                      </a:moveTo>
                      <a:lnTo>
                        <a:pt x="125" y="920"/>
                      </a:lnTo>
                    </a:path>
                    <a:path w="1000" h="1000" fill="none">
                      <a:moveTo>
                        <a:pt x="152" y="80"/>
                      </a:moveTo>
                      <a:lnTo>
                        <a:pt x="152" y="920"/>
                      </a:lnTo>
                    </a:path>
                    <a:path w="1000" h="1000" fill="none">
                      <a:moveTo>
                        <a:pt x="180" y="80"/>
                      </a:moveTo>
                      <a:lnTo>
                        <a:pt x="180" y="920"/>
                      </a:lnTo>
                    </a:path>
                    <a:path w="1000" h="1000" fill="none">
                      <a:moveTo>
                        <a:pt x="208" y="80"/>
                      </a:moveTo>
                      <a:lnTo>
                        <a:pt x="208" y="920"/>
                      </a:lnTo>
                    </a:path>
                    <a:path w="1000" h="1000" fill="none">
                      <a:moveTo>
                        <a:pt x="236" y="80"/>
                      </a:moveTo>
                      <a:lnTo>
                        <a:pt x="236" y="920"/>
                      </a:lnTo>
                    </a:path>
                    <a:path w="1000" h="1000" fill="none">
                      <a:moveTo>
                        <a:pt x="263" y="80"/>
                      </a:moveTo>
                      <a:lnTo>
                        <a:pt x="263" y="920"/>
                      </a:lnTo>
                    </a:path>
                    <a:path w="1000" h="1000" fill="none">
                      <a:moveTo>
                        <a:pt x="291" y="80"/>
                      </a:moveTo>
                      <a:lnTo>
                        <a:pt x="291" y="920"/>
                      </a:lnTo>
                    </a:path>
                    <a:path w="1000" h="1000" fill="none">
                      <a:moveTo>
                        <a:pt x="319" y="80"/>
                      </a:moveTo>
                      <a:lnTo>
                        <a:pt x="319" y="920"/>
                      </a:lnTo>
                    </a:path>
                    <a:path w="1000" h="1000" fill="none">
                      <a:moveTo>
                        <a:pt x="347" y="80"/>
                      </a:moveTo>
                      <a:lnTo>
                        <a:pt x="347" y="920"/>
                      </a:lnTo>
                    </a:path>
                    <a:path w="1000" h="1000" fill="none">
                      <a:moveTo>
                        <a:pt x="375" y="80"/>
                      </a:moveTo>
                      <a:lnTo>
                        <a:pt x="375" y="920"/>
                      </a:lnTo>
                    </a:path>
                    <a:path w="1000" h="1000" fill="none">
                      <a:moveTo>
                        <a:pt x="402" y="80"/>
                      </a:moveTo>
                      <a:lnTo>
                        <a:pt x="402" y="920"/>
                      </a:lnTo>
                    </a:path>
                    <a:path w="1000" h="1000" fill="none">
                      <a:moveTo>
                        <a:pt x="430" y="80"/>
                      </a:moveTo>
                      <a:lnTo>
                        <a:pt x="430" y="920"/>
                      </a:lnTo>
                    </a:path>
                    <a:path w="1000" h="1000" fill="none">
                      <a:moveTo>
                        <a:pt x="458" y="80"/>
                      </a:moveTo>
                      <a:lnTo>
                        <a:pt x="458" y="920"/>
                      </a:lnTo>
                    </a:path>
                    <a:path w="1000" h="1000" fill="none">
                      <a:moveTo>
                        <a:pt x="486" y="80"/>
                      </a:moveTo>
                      <a:lnTo>
                        <a:pt x="486" y="920"/>
                      </a:lnTo>
                    </a:path>
                    <a:path w="1000" h="1000" fill="none">
                      <a:moveTo>
                        <a:pt x="513" y="80"/>
                      </a:moveTo>
                      <a:lnTo>
                        <a:pt x="513" y="920"/>
                      </a:lnTo>
                    </a:path>
                    <a:path w="1000" h="1000" fill="none">
                      <a:moveTo>
                        <a:pt x="541" y="80"/>
                      </a:moveTo>
                      <a:lnTo>
                        <a:pt x="541" y="920"/>
                      </a:lnTo>
                    </a:path>
                    <a:path w="1000" h="1000" fill="none">
                      <a:moveTo>
                        <a:pt x="569" y="80"/>
                      </a:moveTo>
                      <a:lnTo>
                        <a:pt x="569" y="920"/>
                      </a:lnTo>
                    </a:path>
                    <a:path w="1000" h="1000" fill="none">
                      <a:moveTo>
                        <a:pt x="597" y="80"/>
                      </a:moveTo>
                      <a:lnTo>
                        <a:pt x="597" y="920"/>
                      </a:lnTo>
                    </a:path>
                    <a:path w="1000" h="1000" fill="none">
                      <a:moveTo>
                        <a:pt x="625" y="80"/>
                      </a:moveTo>
                      <a:lnTo>
                        <a:pt x="625" y="920"/>
                      </a:lnTo>
                    </a:path>
                    <a:path w="1000" h="1000" fill="none">
                      <a:moveTo>
                        <a:pt x="652" y="80"/>
                      </a:moveTo>
                      <a:lnTo>
                        <a:pt x="652" y="920"/>
                      </a:lnTo>
                    </a:path>
                    <a:path w="1000" h="1000" fill="none">
                      <a:moveTo>
                        <a:pt x="680" y="80"/>
                      </a:moveTo>
                      <a:lnTo>
                        <a:pt x="680" y="920"/>
                      </a:lnTo>
                    </a:path>
                    <a:path w="1000" h="1000" fill="none">
                      <a:moveTo>
                        <a:pt x="708" y="80"/>
                      </a:moveTo>
                      <a:lnTo>
                        <a:pt x="708" y="920"/>
                      </a:lnTo>
                    </a:path>
                    <a:path w="1000" h="1000" fill="none">
                      <a:moveTo>
                        <a:pt x="736" y="80"/>
                      </a:moveTo>
                      <a:lnTo>
                        <a:pt x="736" y="920"/>
                      </a:lnTo>
                    </a:path>
                    <a:path w="1000" h="1000" fill="none">
                      <a:moveTo>
                        <a:pt x="763" y="80"/>
                      </a:moveTo>
                      <a:lnTo>
                        <a:pt x="763" y="920"/>
                      </a:lnTo>
                    </a:path>
                    <a:path w="1000" h="1000" fill="none">
                      <a:moveTo>
                        <a:pt x="791" y="80"/>
                      </a:moveTo>
                      <a:lnTo>
                        <a:pt x="791" y="920"/>
                      </a:lnTo>
                    </a:path>
                    <a:path w="1000" h="1000" fill="none">
                      <a:moveTo>
                        <a:pt x="819" y="80"/>
                      </a:moveTo>
                      <a:lnTo>
                        <a:pt x="819" y="920"/>
                      </a:lnTo>
                    </a:path>
                    <a:path w="1000" h="1000" fill="none">
                      <a:moveTo>
                        <a:pt x="847" y="80"/>
                      </a:moveTo>
                      <a:lnTo>
                        <a:pt x="847" y="920"/>
                      </a:lnTo>
                    </a:path>
                    <a:path w="1000" h="1000" fill="none">
                      <a:moveTo>
                        <a:pt x="875" y="80"/>
                      </a:moveTo>
                      <a:lnTo>
                        <a:pt x="875" y="920"/>
                      </a:lnTo>
                    </a:path>
                    <a:path w="1000" h="1000" fill="none">
                      <a:moveTo>
                        <a:pt x="902" y="80"/>
                      </a:moveTo>
                      <a:lnTo>
                        <a:pt x="902" y="920"/>
                      </a:lnTo>
                    </a:path>
                    <a:path w="1000" h="1000" fill="none">
                      <a:moveTo>
                        <a:pt x="930" y="80"/>
                      </a:moveTo>
                      <a:lnTo>
                        <a:pt x="930" y="920"/>
                      </a:lnTo>
                    </a:path>
                    <a:path w="1000" h="1000" fill="none">
                      <a:moveTo>
                        <a:pt x="958" y="80"/>
                      </a:moveTo>
                      <a:lnTo>
                        <a:pt x="958" y="920"/>
                      </a:lnTo>
                    </a:path>
                    <a:path w="1000" h="1000" fill="none">
                      <a:moveTo>
                        <a:pt x="986" y="80"/>
                      </a:moveTo>
                      <a:lnTo>
                        <a:pt x="986" y="920"/>
                      </a:lnTo>
                    </a:path>
                  </a:pathLst>
                </a:custGeom>
                <a:noFill/>
                <a:ln w="12700" cap="rnd">
                  <a:solidFill>
                    <a:srgbClr val="822E27"/>
                  </a:solidFill>
                  <a:round/>
                </a:ln>
              </p:spPr>
            </p:sp>
            <p:sp>
              <p:nvSpPr>
                <p:cNvPr id="18" name="Forma 17"/>
                <p:cNvSpPr/>
                <p:nvPr/>
              </p:nvSpPr>
              <p:spPr>
                <a:xfrm>
                  <a:off x="7089160" y="1162897"/>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9" name="Forma 18"/>
                <p:cNvSpPr/>
                <p:nvPr/>
              </p:nvSpPr>
              <p:spPr>
                <a:xfrm>
                  <a:off x="8133771" y="1162897"/>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19"/>
                <p:cNvSpPr/>
                <p:nvPr/>
              </p:nvSpPr>
              <p:spPr>
                <a:xfrm>
                  <a:off x="9029151" y="1162897"/>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0"/>
                <p:cNvSpPr/>
                <p:nvPr/>
              </p:nvSpPr>
              <p:spPr>
                <a:xfrm>
                  <a:off x="9267919" y="1162897"/>
                  <a:ext cx="198973" cy="4576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2" name="Fibra_2"/>
              <p:cNvGrpSpPr/>
              <p:nvPr/>
            </p:nvGrpSpPr>
            <p:grpSpPr>
              <a:xfrm>
                <a:off x="6616598" y="1665305"/>
                <a:ext cx="2984602" cy="497434"/>
                <a:chOff x="6616598" y="1665305"/>
                <a:chExt cx="2984602" cy="497434"/>
              </a:xfrm>
            </p:grpSpPr>
            <p:sp>
              <p:nvSpPr>
                <p:cNvPr id="23" name="Forma 22"/>
                <p:cNvSpPr/>
                <p:nvPr/>
              </p:nvSpPr>
              <p:spPr>
                <a:xfrm>
                  <a:off x="6616598" y="1665305"/>
                  <a:ext cx="2984602" cy="4974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4" name="Forma 23"/>
                <p:cNvSpPr/>
                <p:nvPr/>
              </p:nvSpPr>
              <p:spPr>
                <a:xfrm>
                  <a:off x="6740957" y="1665305"/>
                  <a:ext cx="2735885" cy="497434"/>
                </a:xfrm>
                <a:custGeom>
                  <a:avLst/>
                  <a:gdLst/>
                  <a:ahLst/>
                  <a:cxnLst/>
                  <a:rect l="0" t="0" r="r" b="b"/>
                  <a:pathLst>
                    <a:path w="1000" h="1000" fill="none">
                      <a:moveTo>
                        <a:pt x="13" y="80"/>
                      </a:moveTo>
                      <a:lnTo>
                        <a:pt x="13" y="920"/>
                      </a:lnTo>
                    </a:path>
                    <a:path w="1000" h="1000" fill="none">
                      <a:moveTo>
                        <a:pt x="41" y="80"/>
                      </a:moveTo>
                      <a:lnTo>
                        <a:pt x="41" y="920"/>
                      </a:lnTo>
                    </a:path>
                    <a:path w="1000" h="1000" fill="none">
                      <a:moveTo>
                        <a:pt x="69" y="80"/>
                      </a:moveTo>
                      <a:lnTo>
                        <a:pt x="69" y="920"/>
                      </a:lnTo>
                    </a:path>
                    <a:path w="1000" h="1000" fill="none">
                      <a:moveTo>
                        <a:pt x="97" y="80"/>
                      </a:moveTo>
                      <a:lnTo>
                        <a:pt x="97" y="920"/>
                      </a:lnTo>
                    </a:path>
                    <a:path w="1000" h="1000" fill="none">
                      <a:moveTo>
                        <a:pt x="125" y="80"/>
                      </a:moveTo>
                      <a:lnTo>
                        <a:pt x="125" y="920"/>
                      </a:lnTo>
                    </a:path>
                    <a:path w="1000" h="1000" fill="none">
                      <a:moveTo>
                        <a:pt x="152" y="80"/>
                      </a:moveTo>
                      <a:lnTo>
                        <a:pt x="152" y="920"/>
                      </a:lnTo>
                    </a:path>
                    <a:path w="1000" h="1000" fill="none">
                      <a:moveTo>
                        <a:pt x="180" y="80"/>
                      </a:moveTo>
                      <a:lnTo>
                        <a:pt x="180" y="920"/>
                      </a:lnTo>
                    </a:path>
                    <a:path w="1000" h="1000" fill="none">
                      <a:moveTo>
                        <a:pt x="208" y="80"/>
                      </a:moveTo>
                      <a:lnTo>
                        <a:pt x="208" y="920"/>
                      </a:lnTo>
                    </a:path>
                    <a:path w="1000" h="1000" fill="none">
                      <a:moveTo>
                        <a:pt x="236" y="80"/>
                      </a:moveTo>
                      <a:lnTo>
                        <a:pt x="236" y="920"/>
                      </a:lnTo>
                    </a:path>
                    <a:path w="1000" h="1000" fill="none">
                      <a:moveTo>
                        <a:pt x="263" y="80"/>
                      </a:moveTo>
                      <a:lnTo>
                        <a:pt x="263" y="920"/>
                      </a:lnTo>
                    </a:path>
                    <a:path w="1000" h="1000" fill="none">
                      <a:moveTo>
                        <a:pt x="291" y="80"/>
                      </a:moveTo>
                      <a:lnTo>
                        <a:pt x="291" y="920"/>
                      </a:lnTo>
                    </a:path>
                    <a:path w="1000" h="1000" fill="none">
                      <a:moveTo>
                        <a:pt x="319" y="80"/>
                      </a:moveTo>
                      <a:lnTo>
                        <a:pt x="319" y="920"/>
                      </a:lnTo>
                    </a:path>
                    <a:path w="1000" h="1000" fill="none">
                      <a:moveTo>
                        <a:pt x="347" y="80"/>
                      </a:moveTo>
                      <a:lnTo>
                        <a:pt x="347" y="920"/>
                      </a:lnTo>
                    </a:path>
                    <a:path w="1000" h="1000" fill="none">
                      <a:moveTo>
                        <a:pt x="375" y="80"/>
                      </a:moveTo>
                      <a:lnTo>
                        <a:pt x="375" y="920"/>
                      </a:lnTo>
                    </a:path>
                    <a:path w="1000" h="1000" fill="none">
                      <a:moveTo>
                        <a:pt x="402" y="80"/>
                      </a:moveTo>
                      <a:lnTo>
                        <a:pt x="402" y="920"/>
                      </a:lnTo>
                    </a:path>
                    <a:path w="1000" h="1000" fill="none">
                      <a:moveTo>
                        <a:pt x="430" y="80"/>
                      </a:moveTo>
                      <a:lnTo>
                        <a:pt x="430" y="920"/>
                      </a:lnTo>
                    </a:path>
                    <a:path w="1000" h="1000" fill="none">
                      <a:moveTo>
                        <a:pt x="458" y="80"/>
                      </a:moveTo>
                      <a:lnTo>
                        <a:pt x="458" y="920"/>
                      </a:lnTo>
                    </a:path>
                    <a:path w="1000" h="1000" fill="none">
                      <a:moveTo>
                        <a:pt x="486" y="80"/>
                      </a:moveTo>
                      <a:lnTo>
                        <a:pt x="486" y="920"/>
                      </a:lnTo>
                    </a:path>
                    <a:path w="1000" h="1000" fill="none">
                      <a:moveTo>
                        <a:pt x="513" y="80"/>
                      </a:moveTo>
                      <a:lnTo>
                        <a:pt x="513" y="920"/>
                      </a:lnTo>
                    </a:path>
                    <a:path w="1000" h="1000" fill="none">
                      <a:moveTo>
                        <a:pt x="541" y="80"/>
                      </a:moveTo>
                      <a:lnTo>
                        <a:pt x="541" y="920"/>
                      </a:lnTo>
                    </a:path>
                    <a:path w="1000" h="1000" fill="none">
                      <a:moveTo>
                        <a:pt x="569" y="80"/>
                      </a:moveTo>
                      <a:lnTo>
                        <a:pt x="569" y="920"/>
                      </a:lnTo>
                    </a:path>
                    <a:path w="1000" h="1000" fill="none">
                      <a:moveTo>
                        <a:pt x="597" y="80"/>
                      </a:moveTo>
                      <a:lnTo>
                        <a:pt x="597" y="920"/>
                      </a:lnTo>
                    </a:path>
                    <a:path w="1000" h="1000" fill="none">
                      <a:moveTo>
                        <a:pt x="625" y="80"/>
                      </a:moveTo>
                      <a:lnTo>
                        <a:pt x="625" y="920"/>
                      </a:lnTo>
                    </a:path>
                    <a:path w="1000" h="1000" fill="none">
                      <a:moveTo>
                        <a:pt x="652" y="80"/>
                      </a:moveTo>
                      <a:lnTo>
                        <a:pt x="652" y="920"/>
                      </a:lnTo>
                    </a:path>
                    <a:path w="1000" h="1000" fill="none">
                      <a:moveTo>
                        <a:pt x="680" y="80"/>
                      </a:moveTo>
                      <a:lnTo>
                        <a:pt x="680" y="920"/>
                      </a:lnTo>
                    </a:path>
                    <a:path w="1000" h="1000" fill="none">
                      <a:moveTo>
                        <a:pt x="708" y="80"/>
                      </a:moveTo>
                      <a:lnTo>
                        <a:pt x="708" y="920"/>
                      </a:lnTo>
                    </a:path>
                    <a:path w="1000" h="1000" fill="none">
                      <a:moveTo>
                        <a:pt x="736" y="80"/>
                      </a:moveTo>
                      <a:lnTo>
                        <a:pt x="736" y="920"/>
                      </a:lnTo>
                    </a:path>
                    <a:path w="1000" h="1000" fill="none">
                      <a:moveTo>
                        <a:pt x="763" y="80"/>
                      </a:moveTo>
                      <a:lnTo>
                        <a:pt x="763" y="920"/>
                      </a:lnTo>
                    </a:path>
                    <a:path w="1000" h="1000" fill="none">
                      <a:moveTo>
                        <a:pt x="791" y="80"/>
                      </a:moveTo>
                      <a:lnTo>
                        <a:pt x="791" y="920"/>
                      </a:lnTo>
                    </a:path>
                    <a:path w="1000" h="1000" fill="none">
                      <a:moveTo>
                        <a:pt x="819" y="80"/>
                      </a:moveTo>
                      <a:lnTo>
                        <a:pt x="819" y="920"/>
                      </a:lnTo>
                    </a:path>
                    <a:path w="1000" h="1000" fill="none">
                      <a:moveTo>
                        <a:pt x="847" y="80"/>
                      </a:moveTo>
                      <a:lnTo>
                        <a:pt x="847" y="920"/>
                      </a:lnTo>
                    </a:path>
                    <a:path w="1000" h="1000" fill="none">
                      <a:moveTo>
                        <a:pt x="875" y="80"/>
                      </a:moveTo>
                      <a:lnTo>
                        <a:pt x="875" y="920"/>
                      </a:lnTo>
                    </a:path>
                    <a:path w="1000" h="1000" fill="none">
                      <a:moveTo>
                        <a:pt x="902" y="80"/>
                      </a:moveTo>
                      <a:lnTo>
                        <a:pt x="902" y="920"/>
                      </a:lnTo>
                    </a:path>
                    <a:path w="1000" h="1000" fill="none">
                      <a:moveTo>
                        <a:pt x="930" y="80"/>
                      </a:moveTo>
                      <a:lnTo>
                        <a:pt x="930" y="920"/>
                      </a:lnTo>
                    </a:path>
                    <a:path w="1000" h="1000" fill="none">
                      <a:moveTo>
                        <a:pt x="958" y="80"/>
                      </a:moveTo>
                      <a:lnTo>
                        <a:pt x="958" y="920"/>
                      </a:lnTo>
                    </a:path>
                    <a:path w="1000" h="1000" fill="none">
                      <a:moveTo>
                        <a:pt x="986" y="80"/>
                      </a:moveTo>
                      <a:lnTo>
                        <a:pt x="986" y="920"/>
                      </a:lnTo>
                    </a:path>
                  </a:pathLst>
                </a:custGeom>
                <a:noFill/>
                <a:ln w="12700" cap="rnd">
                  <a:solidFill>
                    <a:srgbClr val="822E27"/>
                  </a:solidFill>
                  <a:round/>
                </a:ln>
              </p:spPr>
            </p:sp>
            <p:sp>
              <p:nvSpPr>
                <p:cNvPr id="25" name="Forma 24"/>
                <p:cNvSpPr/>
                <p:nvPr/>
              </p:nvSpPr>
              <p:spPr>
                <a:xfrm>
                  <a:off x="7213519" y="1685203"/>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6" name="Forma 25"/>
                <p:cNvSpPr/>
                <p:nvPr/>
              </p:nvSpPr>
              <p:spPr>
                <a:xfrm>
                  <a:off x="8258129" y="1685203"/>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6"/>
                <p:cNvSpPr/>
                <p:nvPr/>
              </p:nvSpPr>
              <p:spPr>
                <a:xfrm>
                  <a:off x="9153510" y="1685203"/>
                  <a:ext cx="248717" cy="8953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9392278" y="1685203"/>
                  <a:ext cx="198973" cy="4576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29" name="Recuadro Músculo: consumidor"/>
            <p:cNvGrpSpPr/>
            <p:nvPr/>
          </p:nvGrpSpPr>
          <p:grpSpPr>
            <a:xfrm>
              <a:off x="6309360" y="2651760"/>
              <a:ext cx="5486400" cy="2331720"/>
              <a:chOff x="6309360" y="2651760"/>
              <a:chExt cx="5486400" cy="2331720"/>
            </a:xfrm>
          </p:grpSpPr>
          <p:sp>
            <p:nvSpPr>
              <p:cNvPr id="30" name="Forma 29"/>
              <p:cNvSpPr/>
              <p:nvPr/>
            </p:nvSpPr>
            <p:spPr>
              <a:xfrm>
                <a:off x="6309360" y="2834640"/>
                <a:ext cx="5486400" cy="21488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Genera </a:t>
                </a:r>
                <a:r>
                  <a:rPr lang="es-AR" sz="1650" b="1" dirty="0">
                    <a:solidFill>
                      <a:srgbClr val="1E1E1E"/>
                    </a:solidFill>
                    <a:latin typeface="Bahnschrift"/>
                    <a:ea typeface="Bahnschrift"/>
                    <a:cs typeface="Bahnschrift"/>
                    <a:sym typeface="Bahnschrift"/>
                  </a:rPr>
                  <a:t>G6P</a:t>
                </a:r>
                <a:r>
                  <a:rPr lang="es-AR" sz="1650" dirty="0">
                    <a:solidFill>
                      <a:srgbClr val="1E1E1E"/>
                    </a:solidFill>
                    <a:latin typeface="Bahnschrift"/>
                    <a:ea typeface="Bahnschrift"/>
                    <a:cs typeface="Bahnschrift"/>
                    <a:sym typeface="Bahnschrift"/>
                  </a:rPr>
                  <a:t> usada </a:t>
                </a:r>
                <a:r>
                  <a:rPr lang="es-AR" sz="1650" b="1" dirty="0">
                    <a:solidFill>
                      <a:srgbClr val="1E1E1E"/>
                    </a:solidFill>
                    <a:latin typeface="Bahnschrift"/>
                    <a:ea typeface="Bahnschrift"/>
                    <a:cs typeface="Bahnschrift"/>
                    <a:sym typeface="Bahnschrift"/>
                  </a:rPr>
                  <a:t>localmente</a:t>
                </a:r>
                <a:r>
                  <a:rPr lang="es-AR" sz="1650" dirty="0">
                    <a:solidFill>
                      <a:srgbClr val="1E1E1E"/>
                    </a:solidFill>
                    <a:latin typeface="Bahnschrift"/>
                    <a:ea typeface="Bahnschrift"/>
                    <a:cs typeface="Bahnschrift"/>
                    <a:sym typeface="Bahnschrift"/>
                  </a:rPr>
                  <a:t> para ATP.</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Sin G6Pasa relevante: </a:t>
                </a:r>
                <a:r>
                  <a:rPr lang="es-AR" sz="1650" b="1" dirty="0">
                    <a:solidFill>
                      <a:srgbClr val="1E1E1E"/>
                    </a:solidFill>
                    <a:latin typeface="Bahnschrift"/>
                    <a:ea typeface="Bahnschrift"/>
                    <a:cs typeface="Bahnschrift"/>
                    <a:sym typeface="Bahnschrift"/>
                  </a:rPr>
                  <a:t>no aporta glucosa a la sangre</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Control dominante: </a:t>
                </a:r>
                <a:r>
                  <a:rPr lang="es-AR" sz="1650" b="1" dirty="0">
                    <a:solidFill>
                      <a:srgbClr val="1E1E1E"/>
                    </a:solidFill>
                    <a:latin typeface="Bahnschrift"/>
                    <a:ea typeface="Bahnschrift"/>
                    <a:cs typeface="Bahnschrift"/>
                    <a:sym typeface="Bahnschrift"/>
                  </a:rPr>
                  <a:t>Ca</a:t>
                </a:r>
                <a:r>
                  <a:rPr lang="es-AR" sz="1650" b="1" baseline="30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AMP</a:t>
                </a:r>
                <a:r>
                  <a:rPr lang="es-AR" sz="1650" dirty="0">
                    <a:solidFill>
                      <a:srgbClr val="1E1E1E"/>
                    </a:solidFill>
                    <a:latin typeface="Bahnschrift"/>
                    <a:ea typeface="Bahnschrift"/>
                    <a:cs typeface="Bahnschrift"/>
                    <a:sym typeface="Bahnschrift"/>
                  </a:rPr>
                  <a:t> y adrenalina (contracción, alarma).</a:t>
                </a:r>
                <a:endParaRPr lang="es-AR" sz="1650" dirty="0">
                  <a:latin typeface="Bahnschrift"/>
                </a:endParaRPr>
              </a:p>
            </p:txBody>
          </p:sp>
          <p:sp>
            <p:nvSpPr>
              <p:cNvPr id="31" name="Forma 30"/>
              <p:cNvSpPr/>
              <p:nvPr/>
            </p:nvSpPr>
            <p:spPr>
              <a:xfrm>
                <a:off x="6419088" y="2651760"/>
                <a:ext cx="205972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MÚSCULO: CONSUMIDOR</a:t>
                </a:r>
                <a:endParaRPr lang="es-AR" sz="1500" dirty="0">
                  <a:latin typeface="Bahnschrift SemiBold Condensed"/>
                </a:endParaRPr>
              </a:p>
            </p:txBody>
          </p:sp>
        </p:grpSp>
      </p:grpSp>
      <p:sp>
        <p:nvSpPr>
          <p:cNvPr id="32" name="Perla"/>
          <p:cNvSpPr/>
          <p:nvPr/>
        </p:nvSpPr>
        <p:spPr>
          <a:xfrm>
            <a:off x="365760" y="5166360"/>
            <a:ext cx="11430000" cy="13258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Ninguna vía es «sin costo»: la </a:t>
            </a:r>
            <a:r>
              <a:rPr lang="es-AR" sz="1800" b="1" dirty="0">
                <a:solidFill>
                  <a:srgbClr val="FFFFFF"/>
                </a:solidFill>
                <a:latin typeface="Bahnschrift"/>
                <a:ea typeface="Bahnschrift"/>
                <a:cs typeface="Bahnschrift"/>
                <a:sym typeface="Bahnschrift"/>
              </a:rPr>
              <a:t>glucogenólisis</a:t>
            </a:r>
            <a:r>
              <a:rPr lang="es-AR" sz="1800" dirty="0">
                <a:solidFill>
                  <a:srgbClr val="FFFFFF"/>
                </a:solidFill>
                <a:latin typeface="Bahnschrift"/>
                <a:ea typeface="Bahnschrift"/>
                <a:cs typeface="Bahnschrift"/>
                <a:sym typeface="Bahnschrift"/>
              </a:rPr>
              <a:t> moviliza energía </a:t>
            </a:r>
            <a:r>
              <a:rPr lang="es-AR" sz="1800" b="1" dirty="0">
                <a:solidFill>
                  <a:srgbClr val="FFFFFF"/>
                </a:solidFill>
                <a:latin typeface="Bahnschrift"/>
                <a:ea typeface="Bahnschrift"/>
                <a:cs typeface="Bahnschrift"/>
                <a:sym typeface="Bahnschrift"/>
              </a:rPr>
              <a:t>previamente almacenada</a:t>
            </a:r>
            <a:r>
              <a:rPr lang="es-AR" sz="1800" dirty="0">
                <a:solidFill>
                  <a:srgbClr val="FFFFFF"/>
                </a:solidFill>
                <a:latin typeface="Bahnschrift"/>
                <a:ea typeface="Bahnschrift"/>
                <a:cs typeface="Bahnschrift"/>
                <a:sym typeface="Bahnschrift"/>
              </a:rPr>
              <a:t>; la </a:t>
            </a:r>
            <a:r>
              <a:rPr lang="es-AR" sz="1800" b="1" dirty="0">
                <a:solidFill>
                  <a:srgbClr val="FFFFFF"/>
                </a:solidFill>
                <a:latin typeface="Bahnschrift"/>
                <a:ea typeface="Bahnschrift"/>
                <a:cs typeface="Bahnschrift"/>
                <a:sym typeface="Bahnschrift"/>
              </a:rPr>
              <a:t>gluconeogénesis gasta ATP/GTP</a:t>
            </a:r>
            <a:r>
              <a:rPr lang="es-AR" sz="1800" dirty="0">
                <a:solidFill>
                  <a:srgbClr val="FFFFFF"/>
                </a:solidFill>
                <a:latin typeface="Bahnschrift"/>
                <a:ea typeface="Bahnschrift"/>
                <a:cs typeface="Bahnschrift"/>
                <a:sym typeface="Bahnschrift"/>
              </a:rPr>
              <a:t>.</a:t>
            </a:r>
            <a:endParaRPr lang="es-AR" sz="18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633615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7 · GLUCÓGENO HEPÁTICO FRENTE A MUSCULAR</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63.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Hígado aumentado"/>
          <p:cNvGrpSpPr/>
          <p:nvPr/>
        </p:nvGrpSpPr>
        <p:grpSpPr>
          <a:xfrm>
            <a:off x="365760" y="1097280"/>
            <a:ext cx="2926080" cy="2068153"/>
            <a:chOff x="365760" y="1097280"/>
            <a:chExt cx="2926080" cy="2068153"/>
          </a:xfrm>
        </p:grpSpPr>
        <p:sp>
          <p:nvSpPr>
            <p:cNvPr id="5" name="Vesícula biliar"/>
            <p:cNvSpPr/>
            <p:nvPr/>
          </p:nvSpPr>
          <p:spPr>
            <a:xfrm>
              <a:off x="1155802" y="2512332"/>
              <a:ext cx="380390" cy="653101"/>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097280"/>
              <a:ext cx="2926080" cy="1814170"/>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097280"/>
              <a:ext cx="2926080" cy="1814170"/>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097280"/>
              <a:ext cx="2926080" cy="1814170"/>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Forma 8"/>
          <p:cNvSpPr txBox="1"/>
          <p:nvPr/>
        </p:nvSpPr>
        <p:spPr>
          <a:xfrm>
            <a:off x="365760" y="2971800"/>
            <a:ext cx="2926080" cy="320040"/>
          </a:xfrm>
          <a:prstGeom prst="rect">
            <a:avLst/>
          </a:prstGeom>
          <a:noFill/>
          <a:ln>
            <a:noFill/>
          </a:ln>
        </p:spPr>
        <p:txBody>
          <a:bodyPr wrap="square" lIns="0" tIns="0" rIns="0" bIns="0" anchor="t" rtlCol="0">
            <a:noAutofit/>
          </a:bodyPr>
          <a:lstStyle/>
          <a:p>
            <a:pPr algn="ctr">
              <a:spcAft>
                <a:spcPts val="300"/>
              </a:spcAft>
              <a:buNone/>
            </a:pPr>
            <a:r>
              <a:rPr lang="es-AR" sz="1400" b="1" dirty="0">
                <a:solidFill>
                  <a:srgbClr val="7B241C"/>
                </a:solidFill>
                <a:latin typeface="Bahnschrift SemiBold Condensed"/>
                <a:ea typeface="Bahnschrift SemiBold Condensed"/>
                <a:cs typeface="Bahnschrift SemiBold Condensed"/>
                <a:sym typeface="Bahnschrift SemiBold Condensed"/>
              </a:rPr>
              <a:t>Hepatomegalia</a:t>
            </a:r>
            <a:endParaRPr lang="es-AR" sz="1400" dirty="0">
              <a:latin typeface="Bahnschrift SemiBold Condensed"/>
            </a:endParaRPr>
          </a:p>
        </p:txBody>
      </p:sp>
      <p:sp>
        <p:nvSpPr>
          <p:cNvPr id="10" name="Defecto"/>
          <p:cNvSpPr/>
          <p:nvPr/>
        </p:nvSpPr>
        <p:spPr>
          <a:xfrm>
            <a:off x="365760" y="3383280"/>
            <a:ext cx="2926080" cy="132588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Defecto de </a:t>
            </a:r>
            <a:r>
              <a:rPr lang="es-AR" sz="1650" b="1" dirty="0">
                <a:solidFill>
                  <a:srgbClr val="FFFFFF"/>
                </a:solidFill>
                <a:latin typeface="Bahnschrift"/>
                <a:ea typeface="Bahnschrift"/>
                <a:cs typeface="Bahnschrift"/>
                <a:sym typeface="Bahnschrift"/>
              </a:rPr>
              <a:t>G6Pasa</a:t>
            </a:r>
            <a:r>
              <a:rPr lang="es-AR" sz="1650" dirty="0">
                <a:solidFill>
                  <a:srgbClr val="FFFFFF"/>
                </a:solidFill>
                <a:latin typeface="Bahnschrift"/>
                <a:ea typeface="Bahnschrift"/>
                <a:cs typeface="Bahnschrift"/>
                <a:sym typeface="Bahnschrift"/>
              </a:rPr>
              <a:t> (Ia) o del transportador </a:t>
            </a:r>
            <a:r>
              <a:rPr lang="es-AR" sz="1650" b="1" dirty="0">
                <a:solidFill>
                  <a:srgbClr val="FFFFFF"/>
                </a:solidFill>
                <a:latin typeface="Bahnschrift"/>
                <a:ea typeface="Bahnschrift"/>
                <a:cs typeface="Bahnschrift"/>
                <a:sym typeface="Bahnschrift"/>
              </a:rPr>
              <a:t>G6PT</a:t>
            </a:r>
            <a:r>
              <a:rPr lang="es-AR" sz="1650" dirty="0">
                <a:solidFill>
                  <a:srgbClr val="FFFFFF"/>
                </a:solidFill>
                <a:latin typeface="Bahnschrift"/>
                <a:ea typeface="Bahnschrift"/>
                <a:cs typeface="Bahnschrift"/>
                <a:sym typeface="Bahnschrift"/>
              </a:rPr>
              <a:t> (Ib)</a:t>
            </a:r>
            <a:endParaRPr lang="es-AR" sz="1650" dirty="0">
              <a:latin typeface="Bahnschrift"/>
            </a:endParaRPr>
          </a:p>
        </p:txBody>
      </p:sp>
      <p:sp>
        <p:nvSpPr>
          <p:cNvPr id="11" name="G6P atrapada"/>
          <p:cNvSpPr/>
          <p:nvPr/>
        </p:nvSpPr>
        <p:spPr>
          <a:xfrm>
            <a:off x="4846320" y="1143000"/>
            <a:ext cx="2011680" cy="731520"/>
          </a:xfrm>
          <a:prstGeom prst="roundRect">
            <a:avLst/>
          </a:prstGeom>
          <a:gradFill rotWithShape="1">
            <a:gsLst>
              <a:gs pos="0">
                <a:srgbClr val="F8E28B"/>
              </a:gs>
              <a:gs pos="55000">
                <a:srgbClr val="F4D03F"/>
              </a:gs>
              <a:gs pos="100000">
                <a:srgbClr val="C3A632"/>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G6P atrapada</a:t>
            </a:r>
            <a:endParaRPr lang="es-AR" sz="1600" dirty="0">
              <a:latin typeface="Bahnschrift SemiBold Condensed"/>
            </a:endParaRPr>
          </a:p>
        </p:txBody>
      </p:sp>
      <p:grpSp>
        <p:nvGrpSpPr>
          <p:cNvPr id="12" name="Sin salida"/>
          <p:cNvGrpSpPr/>
          <p:nvPr/>
        </p:nvGrpSpPr>
        <p:grpSpPr>
          <a:xfrm>
            <a:off x="5751576" y="1901952"/>
            <a:ext cx="201168" cy="438912"/>
            <a:chOff x="5751576" y="1901952"/>
            <a:chExt cx="201168" cy="438912"/>
          </a:xfrm>
        </p:grpSpPr>
        <p:sp>
          <p:nvSpPr>
            <p:cNvPr id="13" name="Flecha 12_2"/>
            <p:cNvSpPr/>
            <p:nvPr/>
          </p:nvSpPr>
          <p:spPr>
            <a:xfrm>
              <a:off x="5852160" y="1901952"/>
              <a:ext cx="9144" cy="429768"/>
            </a:xfrm>
            <a:custGeom>
              <a:avLst/>
              <a:gdLst/>
              <a:ahLst/>
              <a:cxnLst/>
              <a:rect l="0" t="0" r="r" b="b"/>
              <a:pathLst>
                <a:path w="10" h="469" fill="none">
                  <a:moveTo>
                    <a:pt x="0" y="0"/>
                  </a:moveTo>
                  <a:lnTo>
                    <a:pt x="0" y="469"/>
                  </a:lnTo>
                </a:path>
              </a:pathLst>
            </a:custGeom>
            <a:noFill/>
            <a:ln w="31750" cap="rnd">
              <a:solidFill>
                <a:srgbClr val="C00000"/>
              </a:solidFill>
              <a:round/>
            </a:ln>
          </p:spPr>
        </p:sp>
        <p:sp>
          <p:nvSpPr>
            <p:cNvPr id="14" name="Flecha 14_2"/>
            <p:cNvSpPr/>
            <p:nvPr/>
          </p:nvSpPr>
          <p:spPr>
            <a:xfrm>
              <a:off x="5751576" y="2331720"/>
              <a:ext cx="201168" cy="9144"/>
            </a:xfrm>
            <a:custGeom>
              <a:avLst/>
              <a:gdLst/>
              <a:ahLst/>
              <a:cxnLst/>
              <a:rect l="0" t="0" r="r" b="b"/>
              <a:pathLst>
                <a:path w="220" h="10" fill="none">
                  <a:moveTo>
                    <a:pt x="220" y="0"/>
                  </a:moveTo>
                  <a:lnTo>
                    <a:pt x="0" y="0"/>
                  </a:lnTo>
                </a:path>
              </a:pathLst>
            </a:custGeom>
            <a:noFill/>
            <a:ln w="50800" cap="rnd">
              <a:solidFill>
                <a:srgbClr val="C00000"/>
              </a:solidFill>
              <a:round/>
            </a:ln>
          </p:spPr>
        </p:sp>
      </p:grpSp>
      <p:sp>
        <p:nvSpPr>
          <p:cNvPr id="15" name="Forma 16"/>
          <p:cNvSpPr txBox="1"/>
          <p:nvPr/>
        </p:nvSpPr>
        <p:spPr>
          <a:xfrm>
            <a:off x="6035040" y="1920240"/>
            <a:ext cx="2560320" cy="41148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C00000"/>
                </a:solidFill>
                <a:latin typeface="Bahnschrift"/>
                <a:ea typeface="Bahnschrift"/>
                <a:cs typeface="Bahnschrift"/>
                <a:sym typeface="Bahnschrift"/>
              </a:rPr>
              <a:t>✗ glucosa a sangre → </a:t>
            </a:r>
            <a:r>
              <a:rPr lang="es-AR" sz="1300" b="1" dirty="0">
                <a:solidFill>
                  <a:srgbClr val="C00000"/>
                </a:solidFill>
                <a:latin typeface="Bahnschrift"/>
                <a:ea typeface="Bahnschrift"/>
                <a:cs typeface="Bahnschrift"/>
                <a:sym typeface="Bahnschrift"/>
              </a:rPr>
              <a:t>hipoglucemia de ayuno</a:t>
            </a:r>
            <a:endParaRPr lang="es-AR" sz="1300" dirty="0">
              <a:latin typeface="Bahnschrift"/>
            </a:endParaRPr>
          </a:p>
        </p:txBody>
      </p:sp>
      <p:grpSp>
        <p:nvGrpSpPr>
          <p:cNvPr id="16" name="Desvío Glucólisis →"/>
          <p:cNvGrpSpPr/>
          <p:nvPr/>
        </p:nvGrpSpPr>
        <p:grpSpPr>
          <a:xfrm>
            <a:off x="3520440" y="1874520"/>
            <a:ext cx="1645920" cy="4617720"/>
            <a:chOff x="3520440" y="1874520"/>
            <a:chExt cx="1645920" cy="4617720"/>
          </a:xfrm>
        </p:grpSpPr>
        <p:sp>
          <p:nvSpPr>
            <p:cNvPr id="17" name="Flecha 18_2"/>
            <p:cNvSpPr/>
            <p:nvPr/>
          </p:nvSpPr>
          <p:spPr>
            <a:xfrm>
              <a:off x="4206240" y="1874520"/>
              <a:ext cx="822960" cy="3108960"/>
            </a:xfrm>
            <a:custGeom>
              <a:avLst/>
              <a:gdLst/>
              <a:ahLst/>
              <a:cxnLst/>
              <a:rect l="0" t="0" r="r" b="b"/>
              <a:pathLst>
                <a:path w="900" h="3400" fill="none">
                  <a:moveTo>
                    <a:pt x="900" y="0"/>
                  </a:moveTo>
                  <a:lnTo>
                    <a:pt x="0" y="3400"/>
                  </a:lnTo>
                </a:path>
              </a:pathLst>
            </a:custGeom>
            <a:noFill/>
            <a:ln w="38100" cap="rnd">
              <a:solidFill>
                <a:srgbClr val="1E8C3A"/>
              </a:solidFill>
              <a:round/>
              <a:tailEnd type="triangle" w="med" len="med"/>
            </a:ln>
          </p:spPr>
        </p:sp>
        <p:sp>
          <p:nvSpPr>
            <p:cNvPr id="18" name="Forma 20"/>
            <p:cNvSpPr/>
            <p:nvPr/>
          </p:nvSpPr>
          <p:spPr>
            <a:xfrm>
              <a:off x="3520440" y="5029200"/>
              <a:ext cx="1645920" cy="1463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550" dirty="0">
                  <a:solidFill>
                    <a:srgbClr val="1E1E1E"/>
                  </a:solidFill>
                  <a:latin typeface="Bahnschrift"/>
                  <a:ea typeface="Bahnschrift"/>
                  <a:cs typeface="Bahnschrift"/>
                  <a:sym typeface="Bahnschrift"/>
                </a:rPr>
                <a:t>Glucólisis → </a:t>
              </a:r>
              <a:r>
                <a:rPr lang="es-AR" sz="1550" b="1" dirty="0">
                  <a:solidFill>
                    <a:srgbClr val="1E1E1E"/>
                  </a:solidFill>
                  <a:latin typeface="Bahnschrift"/>
                  <a:ea typeface="Bahnschrift"/>
                  <a:cs typeface="Bahnschrift"/>
                  <a:sym typeface="Bahnschrift"/>
                </a:rPr>
                <a:t>lactato</a:t>
              </a:r>
              <a:r>
                <a:rPr lang="es-AR" sz="1550" dirty="0">
                  <a:solidFill>
                    <a:srgbClr val="1E1E1E"/>
                  </a:solidFill>
                  <a:latin typeface="Bahnschrift"/>
                  <a:ea typeface="Bahnschrift"/>
                  <a:cs typeface="Bahnschrift"/>
                  <a:sym typeface="Bahnschrift"/>
                </a:rPr>
                <a:t> ↑</a:t>
              </a:r>
              <a:endParaRPr lang="es-AR" sz="1550" dirty="0">
                <a:latin typeface="Bahnschrift"/>
              </a:endParaRPr>
            </a:p>
          </p:txBody>
        </p:sp>
      </p:grpSp>
      <p:grpSp>
        <p:nvGrpSpPr>
          <p:cNvPr id="19" name="Desvío PPP → ribosa"/>
          <p:cNvGrpSpPr/>
          <p:nvPr/>
        </p:nvGrpSpPr>
        <p:grpSpPr>
          <a:xfrm>
            <a:off x="5257800" y="1874520"/>
            <a:ext cx="1645920" cy="4617720"/>
            <a:chOff x="5257800" y="1874520"/>
            <a:chExt cx="1645920" cy="4617720"/>
          </a:xfrm>
        </p:grpSpPr>
        <p:sp>
          <p:nvSpPr>
            <p:cNvPr id="20" name="Flecha 22_2"/>
            <p:cNvSpPr/>
            <p:nvPr/>
          </p:nvSpPr>
          <p:spPr>
            <a:xfrm>
              <a:off x="5669280" y="1874520"/>
              <a:ext cx="91440" cy="3108960"/>
            </a:xfrm>
            <a:custGeom>
              <a:avLst/>
              <a:gdLst/>
              <a:ahLst/>
              <a:cxnLst/>
              <a:rect l="0" t="0" r="r" b="b"/>
              <a:pathLst>
                <a:path w="99" h="3400" fill="none">
                  <a:moveTo>
                    <a:pt x="0" y="0"/>
                  </a:moveTo>
                  <a:lnTo>
                    <a:pt x="99" y="3400"/>
                  </a:lnTo>
                </a:path>
              </a:pathLst>
            </a:custGeom>
            <a:noFill/>
            <a:ln w="38100" cap="rnd">
              <a:solidFill>
                <a:srgbClr val="1E8C3A"/>
              </a:solidFill>
              <a:round/>
              <a:tailEnd type="triangle" w="med" len="med"/>
            </a:ln>
          </p:spPr>
        </p:sp>
        <p:sp>
          <p:nvSpPr>
            <p:cNvPr id="21" name="Forma 24"/>
            <p:cNvSpPr/>
            <p:nvPr/>
          </p:nvSpPr>
          <p:spPr>
            <a:xfrm>
              <a:off x="5257800" y="5029200"/>
              <a:ext cx="1645920" cy="146304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550" dirty="0">
                  <a:solidFill>
                    <a:srgbClr val="1E1E1E"/>
                  </a:solidFill>
                  <a:latin typeface="Bahnschrift"/>
                  <a:ea typeface="Bahnschrift"/>
                  <a:cs typeface="Bahnschrift"/>
                  <a:sym typeface="Bahnschrift"/>
                </a:rPr>
                <a:t>PPP → ribosa → </a:t>
              </a:r>
              <a:r>
                <a:rPr lang="es-AR" sz="1550" b="1" dirty="0">
                  <a:solidFill>
                    <a:srgbClr val="1E1E1E"/>
                  </a:solidFill>
                  <a:latin typeface="Bahnschrift"/>
                  <a:ea typeface="Bahnschrift"/>
                  <a:cs typeface="Bahnschrift"/>
                  <a:sym typeface="Bahnschrift"/>
                </a:rPr>
                <a:t>purinas</a:t>
              </a:r>
              <a:r>
                <a:rPr lang="es-AR" sz="1550" dirty="0">
                  <a:solidFill>
                    <a:srgbClr val="1E1E1E"/>
                  </a:solidFill>
                  <a:latin typeface="Bahnschrift"/>
                  <a:ea typeface="Bahnschrift"/>
                  <a:cs typeface="Bahnschrift"/>
                  <a:sym typeface="Bahnschrift"/>
                </a:rPr>
                <a:t> → </a:t>
              </a:r>
              <a:r>
                <a:rPr lang="es-AR" sz="1550" b="1" dirty="0">
                  <a:solidFill>
                    <a:srgbClr val="1E1E1E"/>
                  </a:solidFill>
                  <a:latin typeface="Bahnschrift"/>
                  <a:ea typeface="Bahnschrift"/>
                  <a:cs typeface="Bahnschrift"/>
                  <a:sym typeface="Bahnschrift"/>
                </a:rPr>
                <a:t>ácido úrico</a:t>
              </a:r>
              <a:r>
                <a:rPr lang="es-AR" sz="1550" dirty="0">
                  <a:solidFill>
                    <a:srgbClr val="1E1E1E"/>
                  </a:solidFill>
                  <a:latin typeface="Bahnschrift"/>
                  <a:ea typeface="Bahnschrift"/>
                  <a:cs typeface="Bahnschrift"/>
                  <a:sym typeface="Bahnschrift"/>
                </a:rPr>
                <a:t> ↑</a:t>
              </a:r>
              <a:endParaRPr lang="es-AR" sz="1550" dirty="0">
                <a:latin typeface="Bahnschrift"/>
              </a:endParaRPr>
            </a:p>
          </p:txBody>
        </p:sp>
      </p:grpSp>
      <p:grpSp>
        <p:nvGrpSpPr>
          <p:cNvPr id="22" name="Desvío Acetil-CoA →"/>
          <p:cNvGrpSpPr/>
          <p:nvPr/>
        </p:nvGrpSpPr>
        <p:grpSpPr>
          <a:xfrm>
            <a:off x="6400800" y="1874520"/>
            <a:ext cx="2240280" cy="4617720"/>
            <a:chOff x="6400800" y="1874520"/>
            <a:chExt cx="2240280" cy="4617720"/>
          </a:xfrm>
        </p:grpSpPr>
        <p:sp>
          <p:nvSpPr>
            <p:cNvPr id="23" name="Flecha 26_2"/>
            <p:cNvSpPr/>
            <p:nvPr/>
          </p:nvSpPr>
          <p:spPr>
            <a:xfrm>
              <a:off x="6400800" y="1874520"/>
              <a:ext cx="1280160" cy="3108960"/>
            </a:xfrm>
            <a:custGeom>
              <a:avLst/>
              <a:gdLst/>
              <a:ahLst/>
              <a:cxnLst/>
              <a:rect l="0" t="0" r="r" b="b"/>
              <a:pathLst>
                <a:path w="1400" h="3400" fill="none">
                  <a:moveTo>
                    <a:pt x="0" y="0"/>
                  </a:moveTo>
                  <a:lnTo>
                    <a:pt x="1400" y="3400"/>
                  </a:lnTo>
                </a:path>
              </a:pathLst>
            </a:custGeom>
            <a:noFill/>
            <a:ln w="38100" cap="rnd">
              <a:solidFill>
                <a:srgbClr val="1E8C3A"/>
              </a:solidFill>
              <a:round/>
              <a:tailEnd type="triangle" w="med" len="med"/>
            </a:ln>
          </p:spPr>
        </p:sp>
        <p:sp>
          <p:nvSpPr>
            <p:cNvPr id="24" name="Forma 28"/>
            <p:cNvSpPr/>
            <p:nvPr/>
          </p:nvSpPr>
          <p:spPr>
            <a:xfrm>
              <a:off x="6995160" y="5029200"/>
              <a:ext cx="1645920" cy="14630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ctr">
                <a:spcAft>
                  <a:spcPts val="400"/>
                </a:spcAft>
                <a:buNone/>
              </a:pPr>
              <a:r>
                <a:rPr lang="es-AR" sz="1550" dirty="0">
                  <a:solidFill>
                    <a:srgbClr val="1E1E1E"/>
                  </a:solidFill>
                  <a:latin typeface="Bahnschrift"/>
                  <a:ea typeface="Bahnschrift"/>
                  <a:cs typeface="Bahnschrift"/>
                  <a:sym typeface="Bahnschrift"/>
                </a:rPr>
                <a:t>Acetil-CoA → </a:t>
              </a:r>
              <a:r>
                <a:rPr lang="es-AR" sz="1550" b="1" dirty="0">
                  <a:solidFill>
                    <a:srgbClr val="1E1E1E"/>
                  </a:solidFill>
                  <a:latin typeface="Bahnschrift"/>
                  <a:ea typeface="Bahnschrift"/>
                  <a:cs typeface="Bahnschrift"/>
                  <a:sym typeface="Bahnschrift"/>
                </a:rPr>
                <a:t>lípidos</a:t>
              </a:r>
              <a:r>
                <a:rPr lang="es-AR" sz="1550" dirty="0">
                  <a:solidFill>
                    <a:srgbClr val="1E1E1E"/>
                  </a:solidFill>
                  <a:latin typeface="Bahnschrift"/>
                  <a:ea typeface="Bahnschrift"/>
                  <a:cs typeface="Bahnschrift"/>
                  <a:sym typeface="Bahnschrift"/>
                </a:rPr>
                <a:t> → </a:t>
              </a:r>
              <a:r>
                <a:rPr lang="es-AR" sz="1550" b="1" dirty="0">
                  <a:solidFill>
                    <a:srgbClr val="1E1E1E"/>
                  </a:solidFill>
                  <a:latin typeface="Bahnschrift"/>
                  <a:ea typeface="Bahnschrift"/>
                  <a:cs typeface="Bahnschrift"/>
                  <a:sym typeface="Bahnschrift"/>
                </a:rPr>
                <a:t>TAG</a:t>
              </a:r>
              <a:r>
                <a:rPr lang="es-AR" sz="1550" dirty="0">
                  <a:solidFill>
                    <a:srgbClr val="1E1E1E"/>
                  </a:solidFill>
                  <a:latin typeface="Bahnschrift"/>
                  <a:ea typeface="Bahnschrift"/>
                  <a:cs typeface="Bahnschrift"/>
                  <a:sym typeface="Bahnschrift"/>
                </a:rPr>
                <a:t> ↑</a:t>
              </a:r>
              <a:endParaRPr lang="es-AR" sz="1550" dirty="0">
                <a:latin typeface="Bahnschrift"/>
              </a:endParaRPr>
            </a:p>
          </p:txBody>
        </p:sp>
      </p:grpSp>
      <p:grpSp>
        <p:nvGrpSpPr>
          <p:cNvPr id="25" name="Recuadro Manifestaciones"/>
          <p:cNvGrpSpPr/>
          <p:nvPr/>
        </p:nvGrpSpPr>
        <p:grpSpPr>
          <a:xfrm>
            <a:off x="9052560" y="1051560"/>
            <a:ext cx="2743200" cy="5394960"/>
            <a:chOff x="9052560" y="1051560"/>
            <a:chExt cx="2743200" cy="5394960"/>
          </a:xfrm>
        </p:grpSpPr>
        <p:sp>
          <p:nvSpPr>
            <p:cNvPr id="26" name="Forma 30"/>
            <p:cNvSpPr/>
            <p:nvPr/>
          </p:nvSpPr>
          <p:spPr>
            <a:xfrm>
              <a:off x="9052560" y="1234440"/>
              <a:ext cx="2743200" cy="52120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Hipoglucemia de ayuno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Hepatomegalia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Hiperlactatemia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Hiperuricemia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Hipertrigliceridemia</a:t>
              </a:r>
              <a:endParaRPr lang="es-AR" sz="1750" dirty="0">
                <a:latin typeface="Bahnschrift"/>
              </a:endParaRPr>
            </a:p>
          </p:txBody>
        </p:sp>
        <p:sp>
          <p:nvSpPr>
            <p:cNvPr id="27" name="Forma 31"/>
            <p:cNvSpPr/>
            <p:nvPr/>
          </p:nvSpPr>
          <p:spPr>
            <a:xfrm>
              <a:off x="9162288" y="1051560"/>
              <a:ext cx="177545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MANIFESTACIONES</a:t>
              </a:r>
              <a:endParaRPr lang="es-AR" sz="160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66238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7 · CLÍNICA: ENFERMEDAD DE VON GIERKE (GLUCOGENOSIS TIPO I)</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0"/>
                                        </p:tgtEl>
                                        <p:attrNameLst>
                                          <p:attrName>style.visibility</p:attrName>
                                        </p:attrNameLst>
                                      </p:cBhvr>
                                      <p:to>
                                        <p:strVal val="visible"/>
                                      </p:to>
                                    </p:set>
                                    <p:animEffect transition="in" filter="fade">
                                      <p:cBhvr>
                                        <p:cTn id="5" dur="500"/>
                                        <p:tgtEl>
                                          <p:spTgt spid="10"/>
                                        </p:tgtEl>
                                      </p:cBhvr>
                                    </p:animEffect>
                                  </p:childTnLst>
                                </p:cTn>
                              </p:par>
                            </p:childTnLst>
                          </p:cTn>
                        </p:par>
                      </p:childTnLst>
                    </p:cTn>
                  </p:par>
                  <p:par>
                    <p:cTn id="18" fill="hold">
                      <p:stCondLst>
                        <p:cond delay="indefinite"/>
                      </p:stCondLst>
                      <p:childTnLst>
                        <p:par>
                          <p:cTn id="13" fill="hold">
                            <p:stCondLst>
                              <p:cond delay="0"/>
                            </p:stCondLst>
                            <p:childTnLst>
                              <p:par>
                                <p:cTn id="8" presetID="53" presetClass="entr" presetSubtype="16" fill="hold" grpId="0" nodeType="clickEffect">
                                  <p:stCondLst>
                                    <p:cond delay="0"/>
                                  </p:stCondLst>
                                  <p:childTnLst>
                                    <p:set>
                                      <p:cBhvr>
                                        <p:cTn id="9" dur="1" fill="hold">
                                          <p:stCondLst>
                                            <p:cond delay="0"/>
                                          </p:stCondLst>
                                        </p:cTn>
                                        <p:tgtEl>
                                          <p:spTgt spid="11"/>
                                        </p:tgtEl>
                                        <p:attrNameLst>
                                          <p:attrName>style.visibility</p:attrName>
                                        </p:attrNameLst>
                                      </p:cBhvr>
                                      <p:to>
                                        <p:strVal val="visible"/>
                                      </p:to>
                                    </p:set>
                                    <p:anim calcmode="lin" valueType="num">
                                      <p:cBhvr>
                                        <p:cTn id="10" dur="500" fill="hold"/>
                                        <p:tgtEl>
                                          <p:spTgt spid="11"/>
                                        </p:tgtEl>
                                        <p:attrNameLst>
                                          <p:attrName>ppt_w</p:attrName>
                                        </p:attrNameLst>
                                      </p:cBhvr>
                                      <p:tavLst>
                                        <p:tav tm="0">
                                          <p:val>
                                            <p:fltVal val="0"/>
                                          </p:val>
                                        </p:tav>
                                        <p:tav tm="100000">
                                          <p:val>
                                            <p:strVal val="#ppt_w"/>
                                          </p:val>
                                        </p:tav>
                                      </p:tavLst>
                                    </p:anim>
                                    <p:anim calcmode="lin" valueType="num">
                                      <p:cBhvr>
                                        <p:cTn id="11" dur="500" fill="hold"/>
                                        <p:tgtEl>
                                          <p:spTgt spid="11"/>
                                        </p:tgtEl>
                                        <p:attrNameLst>
                                          <p:attrName>ppt_h</p:attrName>
                                        </p:attrNameLst>
                                      </p:cBhvr>
                                      <p:tavLst>
                                        <p:tav tm="0">
                                          <p:val>
                                            <p:fltVal val="0"/>
                                          </p:val>
                                        </p:tav>
                                        <p:tav tm="100000">
                                          <p:val>
                                            <p:strVal val="#ppt_h"/>
                                          </p:val>
                                        </p:tav>
                                      </p:tavLst>
                                    </p:anim>
                                    <p:animEffect transition="in" filter="fade">
                                      <p:cBhvr>
                                        <p:cTn id="12" dur="500"/>
                                        <p:tgtEl>
                                          <p:spTgt spid="11"/>
                                        </p:tgtEl>
                                      </p:cBhvr>
                                    </p:animEffect>
                                  </p:childTnLst>
                                </p:cTn>
                              </p:par>
                            </p:childTnLst>
                          </p:cTn>
                        </p:par>
                        <p:par>
                          <p:cTn id="17"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600"/>
                                        <p:tgtEl>
                                          <p:spTgt spid="12"/>
                                        </p:tgtEl>
                                      </p:cBhvr>
                                    </p:animEffect>
                                  </p:childTnLst>
                                </p:cTn>
                              </p:par>
                            </p:childTnLst>
                          </p:cTn>
                        </p:par>
                      </p:childTnLst>
                    </p:cTn>
                  </p:par>
                  <p:par>
                    <p:cTn id="23" fill="hold">
                      <p:stCondLst>
                        <p:cond delay="indefinite"/>
                      </p:stCondLst>
                      <p:childTnLst>
                        <p:par>
                          <p:cTn id="22"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8" fill="hold">
                      <p:stCondLst>
                        <p:cond delay="indefinite"/>
                      </p:stCondLst>
                      <p:childTnLst>
                        <p:par>
                          <p:cTn id="27"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childTnLst>
                          </p:cTn>
                        </p:par>
                      </p:childTnLst>
                    </p:cTn>
                  </p:par>
                  <p:par>
                    <p:cTn id="33" fill="hold">
                      <p:stCondLst>
                        <p:cond delay="indefinite"/>
                      </p:stCondLst>
                      <p:childTnLst>
                        <p:par>
                          <p:cTn id="32"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childTnLst>
                          </p:cTn>
                        </p:par>
                      </p:childTnLst>
                    </p:cTn>
                  </p:par>
                  <p:par>
                    <p:cTn id="38" fill="hold">
                      <p:stCondLst>
                        <p:cond delay="indefinite"/>
                      </p:stCondLst>
                      <p:childTnLst>
                        <p:par>
                          <p:cTn id="37"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64.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Adipocito en ayuno"/>
          <p:cNvGrpSpPr/>
          <p:nvPr/>
        </p:nvGrpSpPr>
        <p:grpSpPr>
          <a:xfrm>
            <a:off x="320040" y="1051560"/>
            <a:ext cx="5394960" cy="5394960"/>
            <a:chOff x="320040" y="1051560"/>
            <a:chExt cx="5394960" cy="5394960"/>
          </a:xfrm>
        </p:grpSpPr>
        <p:sp>
          <p:nvSpPr>
            <p:cNvPr id="5" name="Forma 4"/>
            <p:cNvSpPr/>
            <p:nvPr/>
          </p:nvSpPr>
          <p:spPr>
            <a:xfrm>
              <a:off x="320040" y="1051560"/>
              <a:ext cx="5394960" cy="539496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589788" y="1321308"/>
              <a:ext cx="4855464" cy="4855464"/>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4204411" y="1375258"/>
              <a:ext cx="1186891" cy="647395"/>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751637" y="5043830"/>
              <a:ext cx="539496" cy="269748"/>
              <a:chOff x="751637" y="5043830"/>
              <a:chExt cx="539496" cy="269748"/>
            </a:xfrm>
          </p:grpSpPr>
          <p:sp>
            <p:nvSpPr>
              <p:cNvPr id="9" name="Forma 8"/>
              <p:cNvSpPr/>
              <p:nvPr/>
            </p:nvSpPr>
            <p:spPr>
              <a:xfrm rot="-2400000">
                <a:off x="751637" y="5043830"/>
                <a:ext cx="539496" cy="269748"/>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789402" y="5081595"/>
                <a:ext cx="463967" cy="194219"/>
              </a:xfrm>
              <a:prstGeom prst="ellipse">
                <a:avLst/>
              </a:prstGeom>
              <a:solidFill>
                <a:srgbClr val="F8D8B4"/>
              </a:solidFill>
              <a:ln w="9525" cap="rnd">
                <a:solidFill>
                  <a:srgbClr val="B2732B"/>
                </a:solidFill>
                <a:round/>
              </a:ln>
            </p:spPr>
          </p:sp>
          <p:sp>
            <p:nvSpPr>
              <p:cNvPr id="11" name="Forma 10"/>
              <p:cNvSpPr/>
              <p:nvPr/>
            </p:nvSpPr>
            <p:spPr>
              <a:xfrm rot="-2400000">
                <a:off x="789402" y="5081595"/>
                <a:ext cx="463967" cy="19421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12" name="Perilipina"/>
          <p:cNvSpPr/>
          <p:nvPr/>
        </p:nvSpPr>
        <p:spPr>
          <a:xfrm>
            <a:off x="1920240" y="1600200"/>
            <a:ext cx="1387204" cy="246062"/>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Perilipina / CGI-58</a:t>
            </a:r>
            <a:endParaRPr lang="es-AR" sz="1250" dirty="0">
              <a:latin typeface="Bahnschrift SemiBold Condensed"/>
            </a:endParaRPr>
          </a:p>
        </p:txBody>
      </p:sp>
      <p:sp>
        <p:nvSpPr>
          <p:cNvPr id="13" name="Lipólisis TAG"/>
          <p:cNvSpPr/>
          <p:nvPr/>
        </p:nvSpPr>
        <p:spPr>
          <a:xfrm>
            <a:off x="1645920" y="2240280"/>
            <a:ext cx="192024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grpSp>
        <p:nvGrpSpPr>
          <p:cNvPr id="14" name="Lipólisis paso 1"/>
          <p:cNvGrpSpPr/>
          <p:nvPr/>
        </p:nvGrpSpPr>
        <p:grpSpPr>
          <a:xfrm>
            <a:off x="2606040" y="2633472"/>
            <a:ext cx="615020" cy="448056"/>
            <a:chOff x="2606040" y="2633472"/>
            <a:chExt cx="615020" cy="448056"/>
          </a:xfrm>
        </p:grpSpPr>
        <p:sp>
          <p:nvSpPr>
            <p:cNvPr id="15" name="Flecha 14_2"/>
            <p:cNvSpPr/>
            <p:nvPr/>
          </p:nvSpPr>
          <p:spPr>
            <a:xfrm>
              <a:off x="2606040" y="263347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16" name="Enzima ATGL"/>
            <p:cNvSpPr/>
            <p:nvPr/>
          </p:nvSpPr>
          <p:spPr>
            <a:xfrm>
              <a:off x="2715768" y="2711196"/>
              <a:ext cx="50529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ATGL</a:t>
              </a:r>
              <a:endParaRPr lang="es-AR" sz="1150" dirty="0">
                <a:latin typeface="Bahnschrift SemiBold Condensed"/>
              </a:endParaRPr>
            </a:p>
          </p:txBody>
        </p:sp>
      </p:grpSp>
      <p:sp>
        <p:nvSpPr>
          <p:cNvPr id="17" name="Lipólisis DAG"/>
          <p:cNvSpPr/>
          <p:nvPr/>
        </p:nvSpPr>
        <p:spPr>
          <a:xfrm>
            <a:off x="1645920" y="3108960"/>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DAG</a:t>
            </a:r>
            <a:endParaRPr lang="es-AR" sz="1300" dirty="0">
              <a:latin typeface="Bahnschrift SemiBold Condensed"/>
            </a:endParaRPr>
          </a:p>
        </p:txBody>
      </p:sp>
      <p:grpSp>
        <p:nvGrpSpPr>
          <p:cNvPr id="18" name="Lipólisis paso 2"/>
          <p:cNvGrpSpPr/>
          <p:nvPr/>
        </p:nvGrpSpPr>
        <p:grpSpPr>
          <a:xfrm>
            <a:off x="2606040" y="3502152"/>
            <a:ext cx="543890" cy="448056"/>
            <a:chOff x="2606040" y="3502152"/>
            <a:chExt cx="543890" cy="448056"/>
          </a:xfrm>
        </p:grpSpPr>
        <p:sp>
          <p:nvSpPr>
            <p:cNvPr id="19" name="Flecha 19_2"/>
            <p:cNvSpPr/>
            <p:nvPr/>
          </p:nvSpPr>
          <p:spPr>
            <a:xfrm>
              <a:off x="2606040" y="350215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20" name="Enzima HSL"/>
            <p:cNvSpPr/>
            <p:nvPr/>
          </p:nvSpPr>
          <p:spPr>
            <a:xfrm>
              <a:off x="2715768" y="3579876"/>
              <a:ext cx="43416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HSL</a:t>
              </a:r>
              <a:endParaRPr lang="es-AR" sz="1150" dirty="0">
                <a:latin typeface="Bahnschrift SemiBold Condensed"/>
              </a:endParaRPr>
            </a:p>
          </p:txBody>
        </p:sp>
      </p:grpSp>
      <p:sp>
        <p:nvSpPr>
          <p:cNvPr id="21" name="Lipólisis MAG"/>
          <p:cNvSpPr/>
          <p:nvPr/>
        </p:nvSpPr>
        <p:spPr>
          <a:xfrm>
            <a:off x="1645920" y="3977640"/>
            <a:ext cx="19202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MAG</a:t>
            </a:r>
            <a:endParaRPr lang="es-AR" sz="1300" dirty="0">
              <a:latin typeface="Bahnschrift SemiBold Condensed"/>
            </a:endParaRPr>
          </a:p>
        </p:txBody>
      </p:sp>
      <p:grpSp>
        <p:nvGrpSpPr>
          <p:cNvPr id="22" name="Lipólisis paso 3"/>
          <p:cNvGrpSpPr/>
          <p:nvPr/>
        </p:nvGrpSpPr>
        <p:grpSpPr>
          <a:xfrm>
            <a:off x="2606040" y="4370832"/>
            <a:ext cx="558583" cy="448056"/>
            <a:chOff x="2606040" y="4370832"/>
            <a:chExt cx="558583" cy="448056"/>
          </a:xfrm>
        </p:grpSpPr>
        <p:sp>
          <p:nvSpPr>
            <p:cNvPr id="23" name="Flecha 24_2"/>
            <p:cNvSpPr/>
            <p:nvPr/>
          </p:nvSpPr>
          <p:spPr>
            <a:xfrm>
              <a:off x="2606040" y="4370832"/>
              <a:ext cx="9144" cy="448056"/>
            </a:xfrm>
            <a:custGeom>
              <a:avLst/>
              <a:gdLst/>
              <a:ahLst/>
              <a:cxnLst/>
              <a:rect l="0" t="0" r="r" b="b"/>
              <a:pathLst>
                <a:path w="10" h="489" fill="none">
                  <a:moveTo>
                    <a:pt x="0" y="0"/>
                  </a:moveTo>
                  <a:lnTo>
                    <a:pt x="0" y="489"/>
                  </a:lnTo>
                </a:path>
              </a:pathLst>
            </a:custGeom>
            <a:noFill/>
            <a:ln w="44450" cap="rnd">
              <a:solidFill>
                <a:srgbClr val="1E1E1E"/>
              </a:solidFill>
              <a:round/>
              <a:tailEnd type="triangle" w="med" len="med"/>
            </a:ln>
          </p:spPr>
        </p:sp>
        <p:sp>
          <p:nvSpPr>
            <p:cNvPr id="24" name="Enzima MGL"/>
            <p:cNvSpPr/>
            <p:nvPr/>
          </p:nvSpPr>
          <p:spPr>
            <a:xfrm>
              <a:off x="2715768" y="4448556"/>
              <a:ext cx="44885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MGL</a:t>
              </a:r>
              <a:endParaRPr lang="es-AR" sz="1150" dirty="0">
                <a:latin typeface="Bahnschrift SemiBold Condensed"/>
              </a:endParaRPr>
            </a:p>
          </p:txBody>
        </p:sp>
      </p:grpSp>
      <p:sp>
        <p:nvSpPr>
          <p:cNvPr id="25" name="Lipólisis Glicerol + AG"/>
          <p:cNvSpPr/>
          <p:nvPr/>
        </p:nvSpPr>
        <p:spPr>
          <a:xfrm>
            <a:off x="1645920" y="4846320"/>
            <a:ext cx="1920240" cy="36576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Glicerol + AG</a:t>
            </a:r>
            <a:endParaRPr lang="es-AR" sz="1300" dirty="0">
              <a:latin typeface="Bahnschrift SemiBold Condensed"/>
            </a:endParaRPr>
          </a:p>
        </p:txBody>
      </p:sp>
      <p:grpSp>
        <p:nvGrpSpPr>
          <p:cNvPr id="26" name="AG libre 0"/>
          <p:cNvGrpSpPr/>
          <p:nvPr/>
        </p:nvGrpSpPr>
        <p:grpSpPr>
          <a:xfrm>
            <a:off x="3547872" y="5404104"/>
            <a:ext cx="658368" cy="182880"/>
            <a:chOff x="3547872" y="5404104"/>
            <a:chExt cx="658368" cy="182880"/>
          </a:xfrm>
        </p:grpSpPr>
        <p:sp>
          <p:nvSpPr>
            <p:cNvPr id="27" name="Flecha 29_2"/>
            <p:cNvSpPr/>
            <p:nvPr/>
          </p:nvSpPr>
          <p:spPr>
            <a:xfrm>
              <a:off x="3712464" y="5458968"/>
              <a:ext cx="493776" cy="118872"/>
            </a:xfrm>
            <a:custGeom>
              <a:avLst/>
              <a:gdLst/>
              <a:ahLst/>
              <a:cxnLst/>
              <a:rect l="0" t="0" r="r" b="b"/>
              <a:pathLst>
                <a:path w="540" h="130" fill="none">
                  <a:moveTo>
                    <a:pt x="0" y="0"/>
                  </a:moveTo>
                  <a:lnTo>
                    <a:pt x="67" y="130"/>
                  </a:lnTo>
                  <a:lnTo>
                    <a:pt x="134" y="0"/>
                  </a:lnTo>
                  <a:lnTo>
                    <a:pt x="202" y="130"/>
                  </a:lnTo>
                  <a:lnTo>
                    <a:pt x="269" y="0"/>
                  </a:lnTo>
                  <a:lnTo>
                    <a:pt x="337" y="130"/>
                  </a:lnTo>
                  <a:lnTo>
                    <a:pt x="405" y="0"/>
                  </a:lnTo>
                  <a:lnTo>
                    <a:pt x="472" y="130"/>
                  </a:lnTo>
                  <a:lnTo>
                    <a:pt x="540" y="0"/>
                  </a:lnTo>
                </a:path>
              </a:pathLst>
            </a:custGeom>
            <a:noFill/>
            <a:ln w="28575" cap="rnd">
              <a:solidFill>
                <a:srgbClr val="B7950B"/>
              </a:solidFill>
              <a:round/>
            </a:ln>
          </p:spPr>
        </p:sp>
        <p:sp>
          <p:nvSpPr>
            <p:cNvPr id="28" name="Forma 31"/>
            <p:cNvSpPr/>
            <p:nvPr/>
          </p:nvSpPr>
          <p:spPr>
            <a:xfrm>
              <a:off x="3547872" y="540410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9" name="AG libre 1"/>
          <p:cNvGrpSpPr/>
          <p:nvPr/>
        </p:nvGrpSpPr>
        <p:grpSpPr>
          <a:xfrm>
            <a:off x="3776472" y="5586984"/>
            <a:ext cx="658368" cy="182880"/>
            <a:chOff x="3776472" y="5586984"/>
            <a:chExt cx="658368" cy="182880"/>
          </a:xfrm>
        </p:grpSpPr>
        <p:sp>
          <p:nvSpPr>
            <p:cNvPr id="30" name="Flecha 33_2"/>
            <p:cNvSpPr/>
            <p:nvPr/>
          </p:nvSpPr>
          <p:spPr>
            <a:xfrm>
              <a:off x="3941064" y="5641848"/>
              <a:ext cx="493776" cy="118872"/>
            </a:xfrm>
            <a:custGeom>
              <a:avLst/>
              <a:gdLst/>
              <a:ahLst/>
              <a:cxnLst/>
              <a:rect l="0" t="0" r="r" b="b"/>
              <a:pathLst>
                <a:path w="540" h="130" fill="none">
                  <a:moveTo>
                    <a:pt x="0" y="0"/>
                  </a:moveTo>
                  <a:lnTo>
                    <a:pt x="67" y="130"/>
                  </a:lnTo>
                  <a:lnTo>
                    <a:pt x="134" y="0"/>
                  </a:lnTo>
                  <a:lnTo>
                    <a:pt x="202" y="130"/>
                  </a:lnTo>
                  <a:lnTo>
                    <a:pt x="269" y="0"/>
                  </a:lnTo>
                  <a:lnTo>
                    <a:pt x="337" y="130"/>
                  </a:lnTo>
                  <a:lnTo>
                    <a:pt x="405" y="0"/>
                  </a:lnTo>
                  <a:lnTo>
                    <a:pt x="472" y="130"/>
                  </a:lnTo>
                  <a:lnTo>
                    <a:pt x="540" y="0"/>
                  </a:lnTo>
                </a:path>
              </a:pathLst>
            </a:custGeom>
            <a:noFill/>
            <a:ln w="28575" cap="rnd">
              <a:solidFill>
                <a:srgbClr val="B7950B"/>
              </a:solidFill>
              <a:round/>
            </a:ln>
          </p:spPr>
        </p:sp>
        <p:sp>
          <p:nvSpPr>
            <p:cNvPr id="31" name="Forma 35"/>
            <p:cNvSpPr/>
            <p:nvPr/>
          </p:nvSpPr>
          <p:spPr>
            <a:xfrm>
              <a:off x="3776472" y="55869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32" name="AG albúmina"/>
          <p:cNvSpPr/>
          <p:nvPr/>
        </p:nvSpPr>
        <p:spPr>
          <a:xfrm>
            <a:off x="5943600" y="4709160"/>
            <a:ext cx="2783473"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AG–albúmina → músculo, hígado, corazón</a:t>
            </a:r>
            <a:endParaRPr lang="es-AR" sz="1250" dirty="0">
              <a:latin typeface="Bahnschrift SemiBold Condensed"/>
            </a:endParaRPr>
          </a:p>
        </p:txBody>
      </p:sp>
      <p:sp>
        <p:nvSpPr>
          <p:cNvPr id="33" name="Glicerol libre"/>
          <p:cNvSpPr/>
          <p:nvPr/>
        </p:nvSpPr>
        <p:spPr>
          <a:xfrm>
            <a:off x="2377440" y="5760720"/>
            <a:ext cx="384048" cy="384048"/>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Gli</a:t>
            </a:r>
            <a:endParaRPr lang="es-AR" sz="1092" dirty="0">
              <a:latin typeface="Bahnschrift SemiBold Condensed"/>
            </a:endParaRPr>
          </a:p>
        </p:txBody>
      </p:sp>
      <p:sp>
        <p:nvSpPr>
          <p:cNvPr id="34" name="Destino glicerol"/>
          <p:cNvSpPr/>
          <p:nvPr/>
        </p:nvSpPr>
        <p:spPr>
          <a:xfrm>
            <a:off x="5943600" y="5852160"/>
            <a:ext cx="2868744" cy="246062"/>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Glicerol → hígado (y riñón): glicerol cinasa</a:t>
            </a:r>
            <a:endParaRPr lang="es-AR" sz="1250" dirty="0">
              <a:latin typeface="Bahnschrift SemiBold Condensed"/>
            </a:endParaRPr>
          </a:p>
        </p:txBody>
      </p:sp>
      <p:grpSp>
        <p:nvGrpSpPr>
          <p:cNvPr id="35" name="Recuadro Señales"/>
          <p:cNvGrpSpPr/>
          <p:nvPr/>
        </p:nvGrpSpPr>
        <p:grpSpPr>
          <a:xfrm>
            <a:off x="6035040" y="1051560"/>
            <a:ext cx="5760720" cy="3429000"/>
            <a:chOff x="6035040" y="1051560"/>
            <a:chExt cx="5760720" cy="3429000"/>
          </a:xfrm>
        </p:grpSpPr>
        <p:sp>
          <p:nvSpPr>
            <p:cNvPr id="36" name="Forma 40"/>
            <p:cNvSpPr/>
            <p:nvPr/>
          </p:nvSpPr>
          <p:spPr>
            <a:xfrm>
              <a:off x="6035040" y="1234440"/>
              <a:ext cx="5760720" cy="3246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Descenso de insulina</a:t>
              </a:r>
              <a:r>
                <a:rPr lang="es-AR" sz="1650" dirty="0">
                  <a:solidFill>
                    <a:srgbClr val="1E1E1E"/>
                  </a:solidFill>
                  <a:latin typeface="Bahnschrift"/>
                  <a:ea typeface="Bahnschrift"/>
                  <a:cs typeface="Bahnschrift"/>
                  <a:sym typeface="Bahnschrift"/>
                </a:rPr>
                <a:t> (menos PDE3B, más AMPc).</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Catecolaminas</a:t>
              </a:r>
              <a:r>
                <a:rPr lang="es-AR" sz="1650" dirty="0">
                  <a:solidFill>
                    <a:srgbClr val="1E1E1E"/>
                  </a:solidFill>
                  <a:latin typeface="Bahnschrift"/>
                  <a:ea typeface="Bahnschrift"/>
                  <a:cs typeface="Bahnschrift"/>
                  <a:sym typeface="Bahnschrift"/>
                </a:rPr>
                <a:t> → β-adrenérgico → AMPc → </a:t>
              </a:r>
              <a:r>
                <a:rPr lang="es-AR" sz="1650" b="1" dirty="0">
                  <a:solidFill>
                    <a:srgbClr val="1E1E1E"/>
                  </a:solidFill>
                  <a:latin typeface="Bahnschrift"/>
                  <a:ea typeface="Bahnschrift"/>
                  <a:cs typeface="Bahnschrift"/>
                  <a:sym typeface="Bahnschrift"/>
                </a:rPr>
                <a:t>PKA</a:t>
              </a:r>
              <a:r>
                <a:rPr lang="es-AR" sz="1650" dirty="0">
                  <a:solidFill>
                    <a:srgbClr val="1E1E1E"/>
                  </a:solidFill>
                  <a:latin typeface="Bahnschrift"/>
                  <a:ea typeface="Bahnschrift"/>
                  <a:cs typeface="Bahnschrift"/>
                  <a:sym typeface="Bahnschrift"/>
                </a:rPr>
                <a:t> → fosforila </a:t>
              </a:r>
              <a:r>
                <a:rPr lang="es-AR" sz="1650" b="1" dirty="0">
                  <a:solidFill>
                    <a:srgbClr val="1E1E1E"/>
                  </a:solidFill>
                  <a:latin typeface="Bahnschrift"/>
                  <a:ea typeface="Bahnschrift"/>
                  <a:cs typeface="Bahnschrift"/>
                  <a:sym typeface="Bahnschrift"/>
                </a:rPr>
                <a:t>perilipina</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HSL</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CGI-58</a:t>
              </a:r>
              <a:r>
                <a:rPr lang="es-AR" sz="1650" dirty="0">
                  <a:solidFill>
                    <a:srgbClr val="1E1E1E"/>
                  </a:solidFill>
                  <a:latin typeface="Bahnschrift"/>
                  <a:ea typeface="Bahnschrift"/>
                  <a:cs typeface="Bahnschrift"/>
                  <a:sym typeface="Bahnschrift"/>
                </a:rPr>
                <a:t> liberado coactiva </a:t>
              </a:r>
              <a:r>
                <a:rPr lang="es-AR" sz="1650" b="1" dirty="0">
                  <a:solidFill>
                    <a:srgbClr val="1E1E1E"/>
                  </a:solidFill>
                  <a:latin typeface="Bahnschrift"/>
                  <a:ea typeface="Bahnschrift"/>
                  <a:cs typeface="Bahnschrift"/>
                  <a:sym typeface="Bahnschrift"/>
                </a:rPr>
                <a:t>ATGL</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No asumir que el glucagón sea el activador </a:t>
              </a:r>
              <a:r>
                <a:rPr lang="es-AR" sz="1650" b="1" dirty="0">
                  <a:solidFill>
                    <a:srgbClr val="1E1E1E"/>
                  </a:solidFill>
                  <a:latin typeface="Bahnschrift"/>
                  <a:ea typeface="Bahnschrift"/>
                  <a:cs typeface="Bahnschrift"/>
                  <a:sym typeface="Bahnschrift"/>
                </a:rPr>
                <a:t>dominante</a:t>
              </a:r>
              <a:r>
                <a:rPr lang="es-AR" sz="1650" dirty="0">
                  <a:solidFill>
                    <a:srgbClr val="1E1E1E"/>
                  </a:solidFill>
                  <a:latin typeface="Bahnschrift"/>
                  <a:ea typeface="Bahnschrift"/>
                  <a:cs typeface="Bahnschrift"/>
                  <a:sym typeface="Bahnschrift"/>
                </a:rPr>
                <a:t> de la lipólisis adiposa humana.</a:t>
              </a:r>
              <a:endParaRPr lang="es-AR" sz="1650" dirty="0">
                <a:latin typeface="Bahnschrift"/>
              </a:endParaRPr>
            </a:p>
          </p:txBody>
        </p:sp>
        <p:sp>
          <p:nvSpPr>
            <p:cNvPr id="37" name="Forma 41"/>
            <p:cNvSpPr/>
            <p:nvPr/>
          </p:nvSpPr>
          <p:spPr>
            <a:xfrm>
              <a:off x="6144768" y="1051560"/>
              <a:ext cx="99285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SEÑALES</a:t>
              </a:r>
              <a:endParaRPr lang="es-AR" sz="150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649020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8 · ADIPOCITO EN AYUNO: LIPÓLISIS POR ETAPAS</a:t>
            </a:r>
            <a:endParaRPr lang="es-AR" sz="26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5"/>
                                        </p:tgtEl>
                                        <p:attrNameLst>
                                          <p:attrName>style.visibility</p:attrName>
                                        </p:attrNameLst>
                                      </p:cBhvr>
                                      <p:to>
                                        <p:strVal val="visible"/>
                                      </p:to>
                                    </p:set>
                                    <p:animEffect transition="in" filter="fade">
                                      <p:cBhvr>
                                        <p:cTn id="5" dur="500"/>
                                        <p:tgtEl>
                                          <p:spTgt spid="35"/>
                                        </p:tgtEl>
                                      </p:cBhvr>
                                    </p:animEffect>
                                  </p:childTnLst>
                                </p:cTn>
                              </p:par>
                            </p:childTnLst>
                          </p:cTn>
                        </p:par>
                      </p:childTnLst>
                    </p:cTn>
                  </p:par>
                  <p:par>
                    <p:cTn id="15"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par>
                          <p:cTn id="14" fill="hold">
                            <p:stCondLst>
                              <p:cond delay="500"/>
                            </p:stCondLst>
                            <p:childTnLst>
                              <p:par>
                                <p:cTn id="12" presetID="6" presetClass="emph" presetSubtype="0" fill="hold" grpId="0" nodeType="afterEffect">
                                  <p:stCondLst>
                                    <p:cond delay="0"/>
                                  </p:stCondLst>
                                  <p:childTnLst>
                                    <p:animScale>
                                      <p:cBhvr>
                                        <p:cTn id="13" dur="300" autoRev="1" fill="hold"/>
                                        <p:tgtEl>
                                          <p:spTgt spid="12"/>
                                        </p:tgtEl>
                                      </p:cBhvr>
                                      <p:by x="112000" y="112000"/>
                                    </p:animScale>
                                  </p:childTnLst>
                                </p:cTn>
                              </p:par>
                            </p:childTnLst>
                          </p:cTn>
                        </p:par>
                      </p:childTnLst>
                    </p:cTn>
                  </p:par>
                  <p:par>
                    <p:cTn id="20" fill="hold">
                      <p:stCondLst>
                        <p:cond delay="indefinite"/>
                      </p:stCondLst>
                      <p:childTnLst>
                        <p:par>
                          <p:cTn id="19"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par>
                    <p:cTn id="29" fill="hold">
                      <p:stCondLst>
                        <p:cond delay="indefinite"/>
                      </p:stCondLst>
                      <p:childTnLst>
                        <p:par>
                          <p:cTn id="24"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up)">
                                      <p:cBhvr>
                                        <p:cTn id="23" dur="600"/>
                                        <p:tgtEl>
                                          <p:spTgt spid="14"/>
                                        </p:tgtEl>
                                      </p:cBhvr>
                                    </p:animEffect>
                                  </p:childTnLst>
                                </p:cTn>
                              </p:par>
                            </p:childTnLst>
                          </p:cTn>
                        </p:par>
                        <p:par>
                          <p:cTn id="28" fill="hold">
                            <p:stCondLst>
                              <p:cond delay="600"/>
                            </p:stCondLst>
                            <p:childTnLst>
                              <p:par>
                                <p:cTn id="25" presetID="10" presetClass="entr" presetSubtype="0"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38" fill="hold">
                      <p:stCondLst>
                        <p:cond delay="indefinite"/>
                      </p:stCondLst>
                      <p:childTnLst>
                        <p:par>
                          <p:cTn id="33"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up)">
                                      <p:cBhvr>
                                        <p:cTn id="32" dur="600"/>
                                        <p:tgtEl>
                                          <p:spTgt spid="18"/>
                                        </p:tgtEl>
                                      </p:cBhvr>
                                    </p:animEffect>
                                  </p:childTnLst>
                                </p:cTn>
                              </p:par>
                            </p:childTnLst>
                          </p:cTn>
                        </p:par>
                        <p:par>
                          <p:cTn id="37" fill="hold">
                            <p:stCondLst>
                              <p:cond delay="600"/>
                            </p:stCondLst>
                            <p:childTnLst>
                              <p:par>
                                <p:cTn id="34" presetID="10" presetClass="entr" presetSubtype="0"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childTnLst>
                          </p:cTn>
                        </p:par>
                      </p:childTnLst>
                    </p:cTn>
                  </p:par>
                  <p:par>
                    <p:cTn id="47" fill="hold">
                      <p:stCondLst>
                        <p:cond delay="indefinite"/>
                      </p:stCondLst>
                      <p:childTnLst>
                        <p:par>
                          <p:cTn id="42" fill="hold">
                            <p:stCondLst>
                              <p:cond delay="0"/>
                            </p:stCondLst>
                            <p:childTnLst>
                              <p:par>
                                <p:cTn id="39" presetID="22" presetClass="entr" presetSubtype="1"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wipe(up)">
                                      <p:cBhvr>
                                        <p:cTn id="41" dur="600"/>
                                        <p:tgtEl>
                                          <p:spTgt spid="22"/>
                                        </p:tgtEl>
                                      </p:cBhvr>
                                    </p:animEffect>
                                  </p:childTnLst>
                                </p:cTn>
                              </p:par>
                            </p:childTnLst>
                          </p:cTn>
                        </p:par>
                        <p:par>
                          <p:cTn id="46" fill="hold">
                            <p:stCondLst>
                              <p:cond delay="600"/>
                            </p:stCondLst>
                            <p:childTnLst>
                              <p:par>
                                <p:cTn id="43" presetID="10" presetClass="entr" presetSubtype="0" fill="hold" grpId="0" nodeType="after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childTnLst>
                          </p:cTn>
                        </p:par>
                      </p:childTnLst>
                    </p:cTn>
                  </p:par>
                  <p:par>
                    <p:cTn id="58" fill="hold">
                      <p:stCondLst>
                        <p:cond delay="indefinite"/>
                      </p:stCondLst>
                      <p:childTnLst>
                        <p:par>
                          <p:cTn id="50" fill="hold">
                            <p:stCondLst>
                              <p:cond delay="0"/>
                            </p:stCondLst>
                            <p:childTnLst>
                              <p:par>
                                <p:cTn id="48" presetID="0" presetClass="path" presetSubtype="0" accel="20000" decel="20000" fill="hold" grpId="0" nodeType="clickEffect">
                                  <p:stCondLst>
                                    <p:cond delay="0"/>
                                  </p:stCondLst>
                                  <p:childTnLst>
                                    <p:animMotion origin="layout" path="M 0 0 L 0.2475 -0.0933 E" pathEditMode="relative" ptsTypes="">
                                      <p:cBhvr>
                                        <p:cTn id="49" dur="1300" fill="hold"/>
                                        <p:tgtEl>
                                          <p:spTgt spid="26"/>
                                        </p:tgtEl>
                                        <p:attrNameLst>
                                          <p:attrName>ppt_x</p:attrName>
                                          <p:attrName>ppt_y</p:attrName>
                                        </p:attrNameLst>
                                      </p:cBhvr>
                                      <p:rCtr x="12375" y="-4666"/>
                                    </p:animMotion>
                                  </p:childTnLst>
                                </p:cTn>
                              </p:par>
                            </p:childTnLst>
                          </p:cTn>
                        </p:par>
                        <p:par>
                          <p:cTn id="53" fill="hold">
                            <p:stCondLst>
                              <p:cond delay="200"/>
                            </p:stCondLst>
                            <p:childTnLst>
                              <p:par>
                                <p:cTn id="51" presetID="0" presetClass="path" presetSubtype="0" accel="20000" decel="20000" fill="hold" grpId="0" nodeType="afterEffect">
                                  <p:stCondLst>
                                    <p:cond delay="0"/>
                                  </p:stCondLst>
                                  <p:childTnLst>
                                    <p:animMotion origin="layout" path="M 0 0 L 0.2250 -0.0933 E" pathEditMode="relative" ptsTypes="">
                                      <p:cBhvr>
                                        <p:cTn id="52" dur="1300" fill="hold"/>
                                        <p:tgtEl>
                                          <p:spTgt spid="29"/>
                                        </p:tgtEl>
                                        <p:attrNameLst>
                                          <p:attrName>ppt_x</p:attrName>
                                          <p:attrName>ppt_y</p:attrName>
                                        </p:attrNameLst>
                                      </p:cBhvr>
                                      <p:rCtr x="11250" y="-4666"/>
                                    </p:animMotion>
                                  </p:childTnLst>
                                </p:cTn>
                              </p:par>
                            </p:childTnLst>
                          </p:cTn>
                        </p:par>
                        <p:par>
                          <p:cTn id="57" fill="hold">
                            <p:stCondLst>
                              <p:cond delay="1500"/>
                            </p:stCondLst>
                            <p:childTnLst>
                              <p:par>
                                <p:cTn id="54" presetID="10"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Effect transition="in" filter="fade">
                                      <p:cBhvr>
                                        <p:cTn id="56" dur="500"/>
                                        <p:tgtEl>
                                          <p:spTgt spid="32"/>
                                        </p:tgtEl>
                                      </p:cBhvr>
                                    </p:animEffect>
                                  </p:childTnLst>
                                </p:cTn>
                              </p:par>
                            </p:childTnLst>
                          </p:cTn>
                        </p:par>
                      </p:childTnLst>
                    </p:cTn>
                  </p:par>
                  <p:par>
                    <p:cTn id="66" fill="hold">
                      <p:stCondLst>
                        <p:cond delay="indefinite"/>
                      </p:stCondLst>
                      <p:childTnLst>
                        <p:par>
                          <p:cTn id="61" fill="hold">
                            <p:stCondLst>
                              <p:cond delay="0"/>
                            </p:stCondLst>
                            <p:childTnLst>
                              <p:par>
                                <p:cTn id="59" presetID="0" presetClass="path" presetSubtype="0" accel="20000" decel="20000" fill="hold" grpId="0" nodeType="clickEffect">
                                  <p:stCondLst>
                                    <p:cond delay="0"/>
                                  </p:stCondLst>
                                  <p:childTnLst>
                                    <p:animMotion origin="layout" path="M 0 0 L 0.2550 0.0333 E" pathEditMode="relative" ptsTypes="">
                                      <p:cBhvr>
                                        <p:cTn id="60" dur="1200" fill="hold"/>
                                        <p:tgtEl>
                                          <p:spTgt spid="33"/>
                                        </p:tgtEl>
                                        <p:attrNameLst>
                                          <p:attrName>ppt_x</p:attrName>
                                          <p:attrName>ppt_y</p:attrName>
                                        </p:attrNameLst>
                                      </p:cBhvr>
                                      <p:rCtr x="12750" y="1666"/>
                                    </p:animMotion>
                                  </p:childTnLst>
                                </p:cTn>
                              </p:par>
                            </p:childTnLst>
                          </p:cTn>
                        </p:par>
                        <p:par>
                          <p:cTn id="65" fill="hold">
                            <p:stCondLst>
                              <p:cond delay="1200"/>
                            </p:stCondLst>
                            <p:childTnLst>
                              <p:par>
                                <p:cTn id="62" presetID="10" presetClass="entr" presetSubtype="0" fill="hold" grpId="0" nodeType="afterEffect">
                                  <p:stCondLst>
                                    <p:cond delay="0"/>
                                  </p:stCondLst>
                                  <p:childTnLst>
                                    <p:set>
                                      <p:cBhvr>
                                        <p:cTn id="63" dur="1" fill="hold">
                                          <p:stCondLst>
                                            <p:cond delay="0"/>
                                          </p:stCondLst>
                                        </p:cTn>
                                        <p:tgtEl>
                                          <p:spTgt spid="34"/>
                                        </p:tgtEl>
                                        <p:attrNameLst>
                                          <p:attrName>style.visibility</p:attrName>
                                        </p:attrNameLst>
                                      </p:cBhvr>
                                      <p:to>
                                        <p:strVal val="visible"/>
                                      </p:to>
                                    </p:set>
                                    <p:animEffect transition="in" filter="fade">
                                      <p:cBhvr>
                                        <p:cTn id="6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7" grpId="0" animBg="1"/>
      <p:bldP spid="21" grpId="0" animBg="1"/>
      <p:bldP spid="25" grpId="0" animBg="1"/>
      <p:bldP spid="32" grpId="0" animBg="1"/>
      <p:bldP spid="33" grpId="0" animBg="1"/>
      <p:bldP spid="34" grpId="0" animBg="1"/>
    </p:bldLst>
  </p:timing>
</p:sld>
</file>

<file path=ppt/slides/slide65.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Hepatocito"/>
          <p:cNvSpPr/>
          <p:nvPr/>
        </p:nvSpPr>
        <p:spPr>
          <a:xfrm>
            <a:off x="274320" y="960120"/>
            <a:ext cx="7680960" cy="5532120"/>
          </a:xfrm>
          <a:prstGeom prst="roundRect">
            <a:avLst>
              <a:gd name="adj" fmla="val 6000"/>
            </a:avLst>
          </a:prstGeom>
          <a:solidFill>
            <a:srgbClr val="F5CBA7">
              <a:alpha val="60000"/>
            </a:srgbClr>
          </a:solidFill>
          <a:ln w="25400" cap="rnd">
            <a:solidFill>
              <a:srgbClr val="A04000"/>
            </a:solidFill>
            <a:round/>
          </a:ln>
        </p:spPr>
      </p:sp>
      <p:sp>
        <p:nvSpPr>
          <p:cNvPr id="5" name="Mitocondria hepática"/>
          <p:cNvSpPr/>
          <p:nvPr/>
        </p:nvSpPr>
        <p:spPr>
          <a:xfrm>
            <a:off x="548640" y="2286000"/>
            <a:ext cx="4572000" cy="3291840"/>
          </a:xfrm>
          <a:prstGeom prst="ellipse">
            <a:avLst/>
          </a:prstGeom>
          <a:solidFill>
            <a:srgbClr val="F8C471">
              <a:alpha val="75000"/>
            </a:srgbClr>
          </a:solidFill>
          <a:ln w="31750" cap="rnd">
            <a:solidFill>
              <a:srgbClr val="B9770E"/>
            </a:solidFill>
            <a:round/>
          </a:ln>
        </p:spPr>
      </p:sp>
      <p:sp>
        <p:nvSpPr>
          <p:cNvPr id="6" name="Forma 5"/>
          <p:cNvSpPr txBox="1"/>
          <p:nvPr/>
        </p:nvSpPr>
        <p:spPr>
          <a:xfrm>
            <a:off x="1280160" y="2377440"/>
            <a:ext cx="310896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MITOCONDRIA</a:t>
            </a:r>
            <a:endParaRPr lang="es-AR" sz="1250" dirty="0">
              <a:latin typeface="Bahnschrift SemiBold Condensed"/>
            </a:endParaRPr>
          </a:p>
        </p:txBody>
      </p:sp>
      <p:grpSp>
        <p:nvGrpSpPr>
          <p:cNvPr id="7" name="AG entrante"/>
          <p:cNvGrpSpPr/>
          <p:nvPr/>
        </p:nvGrpSpPr>
        <p:grpSpPr>
          <a:xfrm>
            <a:off x="530352" y="1243584"/>
            <a:ext cx="932688" cy="219456"/>
            <a:chOff x="530352" y="1243584"/>
            <a:chExt cx="932688" cy="219456"/>
          </a:xfrm>
        </p:grpSpPr>
        <p:sp>
          <p:nvSpPr>
            <p:cNvPr id="8" name="Flecha 7_2"/>
            <p:cNvSpPr/>
            <p:nvPr/>
          </p:nvSpPr>
          <p:spPr>
            <a:xfrm>
              <a:off x="694944" y="1298448"/>
              <a:ext cx="768096" cy="164592"/>
            </a:xfrm>
            <a:custGeom>
              <a:avLst/>
              <a:gdLst/>
              <a:ahLst/>
              <a:cxnLst/>
              <a:rect l="0" t="0" r="r" b="b"/>
              <a:pathLst>
                <a:path w="840" h="179" fill="none">
                  <a:moveTo>
                    <a:pt x="0" y="0"/>
                  </a:moveTo>
                  <a:lnTo>
                    <a:pt x="104" y="179"/>
                  </a:lnTo>
                  <a:lnTo>
                    <a:pt x="209" y="0"/>
                  </a:lnTo>
                  <a:lnTo>
                    <a:pt x="314" y="179"/>
                  </a:lnTo>
                  <a:lnTo>
                    <a:pt x="419" y="0"/>
                  </a:lnTo>
                  <a:lnTo>
                    <a:pt x="525" y="179"/>
                  </a:lnTo>
                  <a:lnTo>
                    <a:pt x="630" y="0"/>
                  </a:lnTo>
                  <a:lnTo>
                    <a:pt x="735" y="179"/>
                  </a:lnTo>
                  <a:lnTo>
                    <a:pt x="840" y="0"/>
                  </a:lnTo>
                </a:path>
              </a:pathLst>
            </a:custGeom>
            <a:noFill/>
            <a:ln w="28575" cap="rnd">
              <a:solidFill>
                <a:srgbClr val="B7950B"/>
              </a:solidFill>
              <a:round/>
            </a:ln>
          </p:spPr>
        </p:sp>
        <p:sp>
          <p:nvSpPr>
            <p:cNvPr id="9" name="Forma 9"/>
            <p:cNvSpPr/>
            <p:nvPr/>
          </p:nvSpPr>
          <p:spPr>
            <a:xfrm>
              <a:off x="530352" y="12435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10" name="Beta ox"/>
          <p:cNvSpPr/>
          <p:nvPr/>
        </p:nvSpPr>
        <p:spPr>
          <a:xfrm>
            <a:off x="1097280" y="2743200"/>
            <a:ext cx="1463040" cy="457200"/>
          </a:xfrm>
          <a:prstGeom prst="roundRect">
            <a:avLst/>
          </a:prstGeom>
          <a:solidFill>
            <a:srgbClr val="FFE07A"/>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β-oxidación</a:t>
            </a:r>
            <a:endParaRPr lang="es-AR" sz="1300" dirty="0">
              <a:latin typeface="Bahnschrift SemiBold Condensed"/>
            </a:endParaRPr>
          </a:p>
        </p:txBody>
      </p:sp>
      <p:sp>
        <p:nvSpPr>
          <p:cNvPr id="11" name="NADH FADH2"/>
          <p:cNvSpPr/>
          <p:nvPr/>
        </p:nvSpPr>
        <p:spPr>
          <a:xfrm>
            <a:off x="914400" y="3429000"/>
            <a:ext cx="128016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NADH/FADH</a:t>
            </a:r>
            <a:r>
              <a:rPr lang="es-AR" sz="850" b="1" baseline="-25000" dirty="0">
                <a:solidFill>
                  <a:srgbClr val="1E1E1E"/>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12" name="ATP hígado"/>
          <p:cNvSpPr/>
          <p:nvPr/>
        </p:nvSpPr>
        <p:spPr>
          <a:xfrm>
            <a:off x="1143000" y="4114800"/>
            <a:ext cx="73152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92" b="1" dirty="0">
                <a:solidFill>
                  <a:srgbClr val="1E1E1E"/>
                </a:solidFill>
                <a:latin typeface="Bahnschrift SemiBold Condensed"/>
                <a:ea typeface="Bahnschrift SemiBold Condensed"/>
                <a:cs typeface="Bahnschrift SemiBold Condensed"/>
                <a:sym typeface="Bahnschrift SemiBold Condensed"/>
              </a:rPr>
              <a:t>ATP</a:t>
            </a:r>
            <a:endParaRPr lang="es-AR" sz="1092" dirty="0">
              <a:latin typeface="Bahnschrift SemiBold Condensed"/>
            </a:endParaRPr>
          </a:p>
        </p:txBody>
      </p:sp>
      <p:sp>
        <p:nvSpPr>
          <p:cNvPr id="13" name="AcCoA"/>
          <p:cNvSpPr/>
          <p:nvPr/>
        </p:nvSpPr>
        <p:spPr>
          <a:xfrm>
            <a:off x="2926080" y="2743200"/>
            <a:ext cx="1463040" cy="457200"/>
          </a:xfrm>
          <a:prstGeom prst="roundRect">
            <a:avLst/>
          </a:prstGeom>
          <a:solidFill>
            <a:srgbClr val="FFC000"/>
          </a:solidFill>
          <a:ln w="15875"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Acetil-CoA ↑</a:t>
            </a:r>
            <a:endParaRPr lang="es-AR" sz="1300" dirty="0">
              <a:latin typeface="Bahnschrift SemiBold Condensed"/>
            </a:endParaRPr>
          </a:p>
        </p:txBody>
      </p:sp>
      <p:sp>
        <p:nvSpPr>
          <p:cNvPr id="14" name="PC activada"/>
          <p:cNvSpPr/>
          <p:nvPr/>
        </p:nvSpPr>
        <p:spPr>
          <a:xfrm>
            <a:off x="3017520" y="3429000"/>
            <a:ext cx="1636786"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Piruvato carboxilasa</a:t>
            </a:r>
            <a:endParaRPr lang="es-AR" sz="1250" dirty="0">
              <a:latin typeface="Bahnschrift SemiBold Condensed"/>
            </a:endParaRPr>
          </a:p>
        </p:txBody>
      </p:sp>
      <p:sp>
        <p:nvSpPr>
          <p:cNvPr id="15" name="PDH inhibida"/>
          <p:cNvSpPr/>
          <p:nvPr/>
        </p:nvSpPr>
        <p:spPr>
          <a:xfrm>
            <a:off x="3017520" y="3886200"/>
            <a:ext cx="573276"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PDH</a:t>
            </a:r>
            <a:endParaRPr lang="es-AR" sz="1250" dirty="0">
              <a:latin typeface="Bahnschrift SemiBold Condensed"/>
            </a:endParaRPr>
          </a:p>
        </p:txBody>
      </p:sp>
      <p:sp>
        <p:nvSpPr>
          <p:cNvPr id="16" name="Signo +"/>
          <p:cNvSpPr/>
          <p:nvPr/>
        </p:nvSpPr>
        <p:spPr>
          <a:xfrm>
            <a:off x="4572000" y="3429000"/>
            <a:ext cx="274320" cy="274320"/>
          </a:xfrm>
          <a:prstGeom prst="ellipse">
            <a:avLst/>
          </a:prstGeom>
          <a:solidFill>
            <a:srgbClr val="1E8C3A"/>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17" name="Signo −"/>
          <p:cNvSpPr/>
          <p:nvPr/>
        </p:nvSpPr>
        <p:spPr>
          <a:xfrm>
            <a:off x="3657600" y="3886200"/>
            <a:ext cx="274320" cy="274320"/>
          </a:xfrm>
          <a:prstGeom prst="ellipse">
            <a:avLst/>
          </a:prstGeom>
          <a:solidFill>
            <a:srgbClr val="C00000"/>
          </a:solidFill>
          <a:ln w="15875" cap="rnd">
            <a:solidFill>
              <a:srgbClr val="FFFFFF"/>
            </a:solidFill>
            <a:round/>
          </a:ln>
        </p:spPr>
        <p:txBody>
          <a:bodyPr wrap="square" lIns="0" tIns="0" rIns="0" bIns="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a:t>
            </a:r>
            <a:endParaRPr lang="es-AR" sz="1400" dirty="0">
              <a:latin typeface="Bahnschrift SemiBold Condensed"/>
            </a:endParaRPr>
          </a:p>
        </p:txBody>
      </p:sp>
      <p:sp>
        <p:nvSpPr>
          <p:cNvPr id="18" name="OAA a GNG"/>
          <p:cNvSpPr/>
          <p:nvPr/>
        </p:nvSpPr>
        <p:spPr>
          <a:xfrm>
            <a:off x="1828800" y="4846320"/>
            <a:ext cx="1463302"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Oxaloacetato → GNG</a:t>
            </a:r>
            <a:endParaRPr lang="es-AR" sz="1250" dirty="0">
              <a:latin typeface="Bahnschrift SemiBold Condensed"/>
            </a:endParaRPr>
          </a:p>
        </p:txBody>
      </p:sp>
      <p:sp>
        <p:nvSpPr>
          <p:cNvPr id="19" name="Cetogénesis"/>
          <p:cNvSpPr/>
          <p:nvPr/>
        </p:nvSpPr>
        <p:spPr>
          <a:xfrm>
            <a:off x="3520440" y="4846320"/>
            <a:ext cx="1594096" cy="246062"/>
          </a:xfrm>
          <a:prstGeom prst="rect">
            <a:avLst/>
          </a:prstGeom>
          <a:solidFill>
            <a:srgbClr val="F9C6D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Exceso → </a:t>
            </a:r>
            <a:r>
              <a:rPr lang="es-AR" sz="1250" b="1" dirty="0">
                <a:solidFill>
                  <a:srgbClr val="1E1E1E"/>
                </a:solidFill>
                <a:latin typeface="Bahnschrift SemiBold Condensed"/>
                <a:ea typeface="Bahnschrift SemiBold Condensed"/>
                <a:cs typeface="Bahnschrift SemiBold Condensed"/>
                <a:sym typeface="Bahnschrift SemiBold Condensed"/>
              </a:rPr>
              <a:t>cetogénesis</a:t>
            </a:r>
            <a:endParaRPr lang="es-AR" sz="1250" dirty="0">
              <a:latin typeface="Bahnschrift SemiBold Condensed"/>
            </a:endParaRPr>
          </a:p>
        </p:txBody>
      </p:sp>
      <p:sp>
        <p:nvSpPr>
          <p:cNvPr id="20" name="Flecha 20_2"/>
          <p:cNvSpPr/>
          <p:nvPr/>
        </p:nvSpPr>
        <p:spPr>
          <a:xfrm>
            <a:off x="1463040" y="1508760"/>
            <a:ext cx="320040" cy="1216152"/>
          </a:xfrm>
          <a:custGeom>
            <a:avLst/>
            <a:gdLst/>
            <a:ahLst/>
            <a:cxnLst/>
            <a:rect l="0" t="0" r="r" b="b"/>
            <a:pathLst>
              <a:path w="349" h="1330" fill="none">
                <a:moveTo>
                  <a:pt x="0" y="0"/>
                </a:moveTo>
                <a:lnTo>
                  <a:pt x="349" y="1330"/>
                </a:lnTo>
              </a:path>
            </a:pathLst>
          </a:custGeom>
          <a:noFill/>
          <a:ln w="31750" cap="rnd">
            <a:solidFill>
              <a:srgbClr val="2563B0"/>
            </a:solidFill>
            <a:round/>
            <a:tailEnd type="triangle" w="med" len="med"/>
          </a:ln>
        </p:spPr>
      </p:sp>
      <p:sp>
        <p:nvSpPr>
          <p:cNvPr id="21" name="Flecha 22_2"/>
          <p:cNvSpPr/>
          <p:nvPr/>
        </p:nvSpPr>
        <p:spPr>
          <a:xfrm>
            <a:off x="2578608" y="2971800"/>
            <a:ext cx="329184" cy="9144"/>
          </a:xfrm>
          <a:custGeom>
            <a:avLst/>
            <a:gdLst/>
            <a:ahLst/>
            <a:cxnLst/>
            <a:rect l="0" t="0" r="r" b="b"/>
            <a:pathLst>
              <a:path w="360" h="10" fill="none">
                <a:moveTo>
                  <a:pt x="0" y="0"/>
                </a:moveTo>
                <a:lnTo>
                  <a:pt x="360" y="0"/>
                </a:lnTo>
              </a:path>
            </a:pathLst>
          </a:custGeom>
          <a:noFill/>
          <a:ln w="31750" cap="rnd">
            <a:solidFill>
              <a:srgbClr val="1E8C3A"/>
            </a:solidFill>
            <a:round/>
            <a:tailEnd type="triangle" w="med" len="med"/>
          </a:ln>
        </p:spPr>
      </p:sp>
      <p:sp>
        <p:nvSpPr>
          <p:cNvPr id="22" name="Flecha 24_2"/>
          <p:cNvSpPr/>
          <p:nvPr/>
        </p:nvSpPr>
        <p:spPr>
          <a:xfrm>
            <a:off x="1554480" y="3218688"/>
            <a:ext cx="274320" cy="192024"/>
          </a:xfrm>
          <a:custGeom>
            <a:avLst/>
            <a:gdLst/>
            <a:ahLst/>
            <a:cxnLst/>
            <a:rect l="0" t="0" r="r" b="b"/>
            <a:pathLst>
              <a:path w="300" h="209" fill="none">
                <a:moveTo>
                  <a:pt x="300" y="0"/>
                </a:moveTo>
                <a:lnTo>
                  <a:pt x="0" y="209"/>
                </a:lnTo>
              </a:path>
            </a:pathLst>
          </a:custGeom>
          <a:noFill/>
          <a:ln w="25400" cap="rnd">
            <a:solidFill>
              <a:srgbClr val="1E8C3A"/>
            </a:solidFill>
            <a:round/>
            <a:tailEnd type="triangle" w="med" len="med"/>
          </a:ln>
        </p:spPr>
      </p:sp>
      <p:sp>
        <p:nvSpPr>
          <p:cNvPr id="23" name="Flecha 26_2"/>
          <p:cNvSpPr/>
          <p:nvPr/>
        </p:nvSpPr>
        <p:spPr>
          <a:xfrm>
            <a:off x="1508760" y="3840480"/>
            <a:ext cx="45720" cy="256032"/>
          </a:xfrm>
          <a:custGeom>
            <a:avLst/>
            <a:gdLst/>
            <a:ahLst/>
            <a:cxnLst/>
            <a:rect l="0" t="0" r="r" b="b"/>
            <a:pathLst>
              <a:path w="50" h="280" fill="none">
                <a:moveTo>
                  <a:pt x="50" y="0"/>
                </a:moveTo>
                <a:lnTo>
                  <a:pt x="0" y="280"/>
                </a:lnTo>
              </a:path>
            </a:pathLst>
          </a:custGeom>
          <a:noFill/>
          <a:ln w="25400" cap="rnd">
            <a:solidFill>
              <a:srgbClr val="1E8C3A"/>
            </a:solidFill>
            <a:round/>
            <a:tailEnd type="triangle" w="med" len="med"/>
          </a:ln>
        </p:spPr>
      </p:sp>
      <p:sp>
        <p:nvSpPr>
          <p:cNvPr id="24" name="Flecha 28_2"/>
          <p:cNvSpPr/>
          <p:nvPr/>
        </p:nvSpPr>
        <p:spPr>
          <a:xfrm>
            <a:off x="4023360" y="3218688"/>
            <a:ext cx="182880" cy="1609344"/>
          </a:xfrm>
          <a:custGeom>
            <a:avLst/>
            <a:gdLst/>
            <a:ahLst/>
            <a:cxnLst/>
            <a:rect l="0" t="0" r="r" b="b"/>
            <a:pathLst>
              <a:path w="199" h="1760" fill="none">
                <a:moveTo>
                  <a:pt x="0" y="0"/>
                </a:moveTo>
                <a:lnTo>
                  <a:pt x="199" y="1760"/>
                </a:lnTo>
              </a:path>
            </a:pathLst>
          </a:custGeom>
          <a:noFill/>
          <a:ln w="25400" cap="rnd">
            <a:solidFill>
              <a:srgbClr val="1E8C3A"/>
            </a:solidFill>
            <a:round/>
            <a:tailEnd type="triangle" w="med" len="med"/>
          </a:ln>
        </p:spPr>
      </p:sp>
      <p:sp>
        <p:nvSpPr>
          <p:cNvPr id="25" name="GNG"/>
          <p:cNvSpPr/>
          <p:nvPr/>
        </p:nvSpPr>
        <p:spPr>
          <a:xfrm>
            <a:off x="5486400" y="2377440"/>
            <a:ext cx="2194560" cy="914400"/>
          </a:xfrm>
          <a:prstGeom prst="roundRect">
            <a:avLst/>
          </a:prstGeom>
          <a:gradFill rotWithShape="1">
            <a:gsLst>
              <a:gs pos="0">
                <a:srgbClr val="9AE6BA"/>
              </a:gs>
              <a:gs pos="55000">
                <a:srgbClr val="58D68D"/>
              </a:gs>
              <a:gs pos="100000">
                <a:srgbClr val="46AB70"/>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GLUCONEOGÉNESIS</a:t>
            </a:r>
            <a:endParaRPr lang="es-AR" sz="1300" dirty="0">
              <a:latin typeface="Bahnschrift SemiBold Condensed"/>
            </a:endParaRPr>
          </a:p>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(citosol)</a:t>
            </a:r>
            <a:endParaRPr lang="es-AR" sz="1300" dirty="0">
              <a:latin typeface="Bahnschrift SemiBold Condensed"/>
            </a:endParaRPr>
          </a:p>
        </p:txBody>
      </p:sp>
      <p:sp>
        <p:nvSpPr>
          <p:cNvPr id="26" name="Flecha 31_2"/>
          <p:cNvSpPr/>
          <p:nvPr/>
        </p:nvSpPr>
        <p:spPr>
          <a:xfrm>
            <a:off x="1874520" y="3017520"/>
            <a:ext cx="3611880" cy="1280160"/>
          </a:xfrm>
          <a:custGeom>
            <a:avLst/>
            <a:gdLst/>
            <a:ahLst/>
            <a:cxnLst/>
            <a:rect l="0" t="0" r="r" b="b"/>
            <a:pathLst>
              <a:path w="3950" h="1400" fill="none">
                <a:moveTo>
                  <a:pt x="0" y="1400"/>
                </a:moveTo>
                <a:lnTo>
                  <a:pt x="3950" y="0"/>
                </a:lnTo>
              </a:path>
            </a:pathLst>
          </a:custGeom>
          <a:noFill/>
          <a:ln w="44450" cap="rnd">
            <a:solidFill>
              <a:srgbClr val="FFC000"/>
            </a:solidFill>
            <a:prstDash val="dash"/>
            <a:round/>
            <a:tailEnd type="triangle" w="med" len="med"/>
          </a:ln>
        </p:spPr>
      </p:sp>
      <p:sp>
        <p:nvSpPr>
          <p:cNvPr id="27" name="Molécula lac"/>
          <p:cNvSpPr/>
          <p:nvPr/>
        </p:nvSpPr>
        <p:spPr>
          <a:xfrm>
            <a:off x="5669280" y="3931920"/>
            <a:ext cx="411480" cy="411480"/>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Lac</a:t>
            </a:r>
            <a:endParaRPr lang="es-AR" sz="1170" dirty="0">
              <a:latin typeface="Bahnschrift SemiBold Condensed"/>
            </a:endParaRPr>
          </a:p>
        </p:txBody>
      </p:sp>
      <p:sp>
        <p:nvSpPr>
          <p:cNvPr id="28" name="Molécula ala"/>
          <p:cNvSpPr/>
          <p:nvPr/>
        </p:nvSpPr>
        <p:spPr>
          <a:xfrm>
            <a:off x="6172200" y="3931920"/>
            <a:ext cx="411480" cy="41148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Ala</a:t>
            </a:r>
            <a:endParaRPr lang="es-AR" sz="1170" dirty="0">
              <a:latin typeface="Bahnschrift SemiBold Condensed"/>
            </a:endParaRPr>
          </a:p>
        </p:txBody>
      </p:sp>
      <p:sp>
        <p:nvSpPr>
          <p:cNvPr id="29" name="Molécula gly"/>
          <p:cNvSpPr/>
          <p:nvPr/>
        </p:nvSpPr>
        <p:spPr>
          <a:xfrm>
            <a:off x="6675120" y="3931920"/>
            <a:ext cx="411480" cy="411480"/>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170" b="1" dirty="0">
                <a:solidFill>
                  <a:srgbClr val="1E1E1E"/>
                </a:solidFill>
                <a:latin typeface="Bahnschrift SemiBold Condensed"/>
                <a:ea typeface="Bahnschrift SemiBold Condensed"/>
                <a:cs typeface="Bahnschrift SemiBold Condensed"/>
                <a:sym typeface="Bahnschrift SemiBold Condensed"/>
              </a:rPr>
              <a:t>Gli</a:t>
            </a:r>
            <a:endParaRPr lang="es-AR" sz="1170" dirty="0">
              <a:latin typeface="Bahnschrift SemiBold Condensed"/>
            </a:endParaRPr>
          </a:p>
        </p:txBody>
      </p:sp>
      <p:sp>
        <p:nvSpPr>
          <p:cNvPr id="30" name="Forma 36"/>
          <p:cNvSpPr txBox="1"/>
          <p:nvPr/>
        </p:nvSpPr>
        <p:spPr>
          <a:xfrm>
            <a:off x="5486400" y="4389120"/>
            <a:ext cx="2286000" cy="548640"/>
          </a:xfrm>
          <a:prstGeom prst="rect">
            <a:avLst/>
          </a:prstGeom>
          <a:noFill/>
          <a:ln>
            <a:noFill/>
          </a:ln>
        </p:spPr>
        <p:txBody>
          <a:bodyPr wrap="square" lIns="0" tIns="0" rIns="0" bIns="0" anchor="t" rtlCol="0">
            <a:noAutofit/>
          </a:bodyPr>
          <a:lstStyle/>
          <a:p>
            <a:pPr algn="ctr">
              <a:spcAft>
                <a:spcPts val="300"/>
              </a:spcAft>
              <a:buNone/>
            </a:pPr>
            <a:r>
              <a:rPr lang="es-AR" sz="1200" dirty="0">
                <a:solidFill>
                  <a:srgbClr val="1E1E1E"/>
                </a:solidFill>
                <a:latin typeface="Bahnschrift"/>
                <a:ea typeface="Bahnschrift"/>
                <a:cs typeface="Bahnschrift"/>
                <a:sym typeface="Bahnschrift"/>
              </a:rPr>
              <a:t>Sustratos: lactato, alanina y otros AA, glicerol</a:t>
            </a:r>
            <a:endParaRPr lang="es-AR" sz="1200" dirty="0">
              <a:latin typeface="Bahnschrift"/>
            </a:endParaRPr>
          </a:p>
        </p:txBody>
      </p:sp>
      <p:sp>
        <p:nvSpPr>
          <p:cNvPr id="31" name="Glucosa exportada"/>
          <p:cNvSpPr/>
          <p:nvPr/>
        </p:nvSpPr>
        <p:spPr>
          <a:xfrm>
            <a:off x="7223760" y="146304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32" name="Forma 38"/>
          <p:cNvSpPr/>
          <p:nvPr/>
        </p:nvSpPr>
        <p:spPr>
          <a:xfrm>
            <a:off x="8229600" y="1005840"/>
            <a:ext cx="3566160" cy="5486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β-oxidación</a:t>
            </a:r>
            <a:r>
              <a:rPr lang="es-AR" sz="1650" dirty="0">
                <a:solidFill>
                  <a:srgbClr val="1E1E1E"/>
                </a:solidFill>
                <a:latin typeface="Bahnschrift"/>
                <a:ea typeface="Bahnschrift"/>
                <a:cs typeface="Bahnschrift"/>
                <a:sym typeface="Bahnschrift"/>
              </a:rPr>
              <a:t> → NADH/FADH</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 cadena respiratoria → </a:t>
            </a:r>
            <a:r>
              <a:rPr lang="es-AR" sz="1650" b="1" dirty="0">
                <a:solidFill>
                  <a:srgbClr val="1E1E1E"/>
                </a:solidFill>
                <a:latin typeface="Bahnschrift"/>
                <a:ea typeface="Bahnschrift"/>
                <a:cs typeface="Bahnschrift"/>
                <a:sym typeface="Bahnschrift"/>
              </a:rPr>
              <a:t>ATP</a:t>
            </a:r>
            <a:r>
              <a:rPr lang="es-AR" sz="1650" dirty="0">
                <a:solidFill>
                  <a:srgbClr val="1E1E1E"/>
                </a:solidFill>
                <a:latin typeface="Bahnschrift"/>
                <a:ea typeface="Bahnschrift"/>
                <a:cs typeface="Bahnschrift"/>
                <a:sym typeface="Bahnschrift"/>
              </a:rPr>
              <a:t> que alimenta la gluconeogénesis.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Acetil-CoA</a:t>
            </a:r>
            <a:r>
              <a:rPr lang="es-AR" sz="1650" dirty="0">
                <a:solidFill>
                  <a:srgbClr val="1E1E1E"/>
                </a:solidFill>
                <a:latin typeface="Bahnschrift"/>
                <a:ea typeface="Bahnschrift"/>
                <a:cs typeface="Bahnschrift"/>
                <a:sym typeface="Bahnschrift"/>
              </a:rPr>
              <a:t> activa la </a:t>
            </a:r>
            <a:r>
              <a:rPr lang="es-AR" sz="1650" b="1" dirty="0">
                <a:solidFill>
                  <a:srgbClr val="1E1E1E"/>
                </a:solidFill>
                <a:latin typeface="Bahnschrift"/>
                <a:ea typeface="Bahnschrift"/>
                <a:cs typeface="Bahnschrift"/>
                <a:sym typeface="Bahnschrift"/>
              </a:rPr>
              <a:t>piruvato carboxilasa</a:t>
            </a:r>
            <a:r>
              <a:rPr lang="es-AR" sz="1650" dirty="0">
                <a:solidFill>
                  <a:srgbClr val="1E1E1E"/>
                </a:solidFill>
                <a:latin typeface="Bahnschrift"/>
                <a:ea typeface="Bahnschrift"/>
                <a:cs typeface="Bahnschrift"/>
                <a:sym typeface="Bahnschrift"/>
              </a:rPr>
              <a:t> e inhibe la </a:t>
            </a:r>
            <a:r>
              <a:rPr lang="es-AR" sz="1650" b="1" dirty="0">
                <a:solidFill>
                  <a:srgbClr val="1E1E1E"/>
                </a:solidFill>
                <a:latin typeface="Bahnschrift"/>
                <a:ea typeface="Bahnschrift"/>
                <a:cs typeface="Bahnschrift"/>
                <a:sym typeface="Bahnschrift"/>
              </a:rPr>
              <a:t>PDH</a:t>
            </a:r>
            <a:r>
              <a:rPr lang="es-AR" sz="1650" dirty="0">
                <a:solidFill>
                  <a:srgbClr val="1E1E1E"/>
                </a:solidFill>
                <a:latin typeface="Bahnschrift"/>
                <a:ea typeface="Bahnschrift"/>
                <a:cs typeface="Bahnschrift"/>
                <a:sym typeface="Bahnschrift"/>
              </a:rPr>
              <a:t> (no se «pierde» piruvato como CO</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t>
            </a:r>
            <a:r>
              <a:rPr lang="es-AR" sz="1650" b="1" dirty="0">
                <a:solidFill>
                  <a:srgbClr val="1E1E1E"/>
                </a:solidFill>
                <a:latin typeface="Bahnschrift"/>
                <a:ea typeface="Bahnschrift"/>
                <a:cs typeface="Bahnschrift"/>
                <a:sym typeface="Bahnschrift"/>
              </a:rPr>
              <a:t>oxaloacetato</a:t>
            </a:r>
            <a:r>
              <a:rPr lang="es-AR" sz="1650" dirty="0">
                <a:solidFill>
                  <a:srgbClr val="1E1E1E"/>
                </a:solidFill>
                <a:latin typeface="Bahnschrift"/>
                <a:ea typeface="Bahnschrift"/>
                <a:cs typeface="Bahnschrift"/>
                <a:sym typeface="Bahnschrift"/>
              </a:rPr>
              <a:t> se destina en parte a gluconeogénesis → el exceso de acetil-CoA va a </a:t>
            </a:r>
            <a:r>
              <a:rPr lang="es-AR" sz="1650" b="1" dirty="0">
                <a:solidFill>
                  <a:srgbClr val="1E1E1E"/>
                </a:solidFill>
                <a:latin typeface="Bahnschrift"/>
                <a:ea typeface="Bahnschrift"/>
                <a:cs typeface="Bahnschrift"/>
                <a:sym typeface="Bahnschrift"/>
              </a:rPr>
              <a:t>cetogénesis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793602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8 · HÍGADO EN AYUNO: LOS AG PAGAN LA GLUCONEOGÉNESIS</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7"/>
                                        </p:tgtEl>
                                        <p:attrNameLst>
                                          <p:attrName>style.visibility</p:attrName>
                                        </p:attrNameLst>
                                      </p:cBhvr>
                                      <p:to>
                                        <p:strVal val="visible"/>
                                      </p:to>
                                    </p:set>
                                    <p:animEffect transition="in" filter="fade">
                                      <p:cBhvr>
                                        <p:cTn id="5" dur="500"/>
                                        <p:tgtEl>
                                          <p:spTgt spid="7"/>
                                        </p:tgtEl>
                                      </p:cBhvr>
                                    </p:animEffect>
                                  </p:childTnLst>
                                </p:cTn>
                              </p:par>
                            </p:childTnLst>
                          </p:cTn>
                        </p:par>
                        <p:par>
                          <p:cTn id="12" fill="hold">
                            <p:stCondLst>
                              <p:cond delay="500"/>
                            </p:stCondLst>
                            <p:childTnLst>
                              <p:par>
                                <p:cTn id="7" presetID="0" presetClass="path" presetSubtype="0" accel="20000" decel="20000" fill="hold" grpId="0" nodeType="afterEffect">
                                  <p:stCondLst>
                                    <p:cond delay="0"/>
                                  </p:stCondLst>
                                  <p:childTnLst>
                                    <p:animMotion origin="layout" path="M 0 0 L 0.0375 0.1867 E" pathEditMode="relative" ptsTypes="">
                                      <p:cBhvr>
                                        <p:cTn id="8" dur="1000" fill="hold"/>
                                        <p:tgtEl>
                                          <p:spTgt spid="7"/>
                                        </p:tgtEl>
                                        <p:attrNameLst>
                                          <p:attrName>ppt_x</p:attrName>
                                          <p:attrName>ppt_y</p:attrName>
                                        </p:attrNameLst>
                                      </p:cBhvr>
                                      <p:rCtr x="1875" y="9333"/>
                                    </p:animMotion>
                                  </p:childTnLst>
                                </p:cTn>
                              </p:par>
                              <p:par>
                                <p:cTn id="9" presetID="22" presetClass="entr" presetSubtype="1"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up)">
                                      <p:cBhvr>
                                        <p:cTn id="11" dur="600"/>
                                        <p:tgtEl>
                                          <p:spTgt spid="20"/>
                                        </p:tgtEl>
                                      </p:cBhvr>
                                    </p:animEffect>
                                  </p:childTnLst>
                                </p:cTn>
                              </p:par>
                            </p:childTnLst>
                          </p:cTn>
                        </p:par>
                        <p:par>
                          <p:cTn id="16"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34" fill="hold">
                      <p:stCondLst>
                        <p:cond delay="indefinite"/>
                      </p:stCondLst>
                      <p:childTnLst>
                        <p:par>
                          <p:cTn id="21" fill="hold">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wipe(up)">
                                      <p:cBhvr>
                                        <p:cTn id="20" dur="600"/>
                                        <p:tgtEl>
                                          <p:spTgt spid="22"/>
                                        </p:tgtEl>
                                      </p:cBhvr>
                                    </p:animEffect>
                                  </p:childTnLst>
                                </p:cTn>
                              </p:par>
                            </p:childTnLst>
                          </p:cTn>
                        </p:par>
                        <p:par>
                          <p:cTn id="25" fill="hold">
                            <p:stCondLst>
                              <p:cond delay="600"/>
                            </p:stCondLst>
                            <p:childTnLst>
                              <p:par>
                                <p:cTn id="22" presetID="10" presetClass="entr" presetSubtype="0"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par>
                          <p:cTn id="29" fill="hold">
                            <p:stCondLst>
                              <p:cond delay="1100"/>
                            </p:stCondLst>
                            <p:childTnLst>
                              <p:par>
                                <p:cTn id="26" presetID="22" presetClass="entr" presetSubtype="1" fill="hold" grpId="0" nodeType="after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up)">
                                      <p:cBhvr>
                                        <p:cTn id="28" dur="600"/>
                                        <p:tgtEl>
                                          <p:spTgt spid="23"/>
                                        </p:tgtEl>
                                      </p:cBhvr>
                                    </p:animEffect>
                                  </p:childTnLst>
                                </p:cTn>
                              </p:par>
                            </p:childTnLst>
                          </p:cTn>
                        </p:par>
                        <p:par>
                          <p:cTn id="33" fill="hold">
                            <p:stCondLst>
                              <p:cond delay="1700"/>
                            </p:stCondLst>
                            <p:childTnLst>
                              <p:par>
                                <p:cTn id="30" presetID="10" presetClass="entr" presetSubtype="0" fill="hold" grpId="0" nodeType="after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57" fill="hold">
                      <p:stCondLst>
                        <p:cond delay="indefinite"/>
                      </p:stCondLst>
                      <p:childTnLst>
                        <p:par>
                          <p:cTn id="38"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left)">
                                      <p:cBhvr>
                                        <p:cTn id="37" dur="600"/>
                                        <p:tgtEl>
                                          <p:spTgt spid="21"/>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par>
                          <p:cTn id="49" fill="hold">
                            <p:stCondLst>
                              <p:cond delay="1100"/>
                            </p:stCondLst>
                            <p:childTnLst>
                              <p:par>
                                <p:cTn id="43" presetID="10" presetClass="entr" presetSubtype="0" fill="hold" grpId="0"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par>
                          <p:cTn id="56" fill="hold">
                            <p:stCondLst>
                              <p:cond delay="1600"/>
                            </p:stCondLst>
                            <p:childTnLst>
                              <p:par>
                                <p:cTn id="50" presetID="10" presetClass="entr" presetSubtype="0" fill="hold" grpId="0" nodeType="after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childTnLst>
                          </p:cTn>
                        </p:par>
                      </p:childTnLst>
                    </p:cTn>
                  </p:par>
                  <p:par>
                    <p:cTn id="82" fill="hold">
                      <p:stCondLst>
                        <p:cond delay="indefinite"/>
                      </p:stCondLst>
                      <p:childTnLst>
                        <p:par>
                          <p:cTn id="61"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fade">
                                      <p:cBhvr>
                                        <p:cTn id="60" dur="500"/>
                                        <p:tgtEl>
                                          <p:spTgt spid="25"/>
                                        </p:tgtEl>
                                      </p:cBhvr>
                                    </p:animEffect>
                                  </p:childTnLst>
                                </p:cTn>
                              </p:par>
                            </p:childTnLst>
                          </p:cTn>
                        </p:par>
                        <p:par>
                          <p:cTn id="74"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childTnLst>
                          </p:cTn>
                        </p:par>
                        <p:par>
                          <p:cTn id="81" fill="hold">
                            <p:stCondLst>
                              <p:cond delay="1000"/>
                            </p:stCondLst>
                            <p:childTnLst>
                              <p:par>
                                <p:cTn id="75" presetID="22" presetClass="entr" presetSubtype="8" fill="hold" grpId="0" nodeType="after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wipe(left)">
                                      <p:cBhvr>
                                        <p:cTn id="77" dur="600"/>
                                        <p:tgtEl>
                                          <p:spTgt spid="2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8"/>
                                        </p:tgtEl>
                                        <p:attrNameLst>
                                          <p:attrName>style.visibility</p:attrName>
                                        </p:attrNameLst>
                                      </p:cBhvr>
                                      <p:to>
                                        <p:strVal val="visible"/>
                                      </p:to>
                                    </p:set>
                                    <p:animEffect transition="in" filter="fade">
                                      <p:cBhvr>
                                        <p:cTn id="80" dur="500"/>
                                        <p:tgtEl>
                                          <p:spTgt spid="18"/>
                                        </p:tgtEl>
                                      </p:cBhvr>
                                    </p:animEffect>
                                  </p:childTnLst>
                                </p:cTn>
                              </p:par>
                            </p:childTnLst>
                          </p:cTn>
                        </p:par>
                      </p:childTnLst>
                    </p:cTn>
                  </p:par>
                  <p:par>
                    <p:cTn id="96" fill="hold">
                      <p:stCondLst>
                        <p:cond delay="indefinite"/>
                      </p:stCondLst>
                      <p:childTnLst>
                        <p:par>
                          <p:cTn id="86" fill="hold">
                            <p:stCondLst>
                              <p:cond delay="0"/>
                            </p:stCondLst>
                            <p:childTnLst>
                              <p:par>
                                <p:cTn id="83" presetID="22" presetClass="entr" presetSubtype="1" fill="hold" grpId="0" nodeType="click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wipe(up)">
                                      <p:cBhvr>
                                        <p:cTn id="85" dur="600"/>
                                        <p:tgtEl>
                                          <p:spTgt spid="24"/>
                                        </p:tgtEl>
                                      </p:cBhvr>
                                    </p:animEffect>
                                  </p:childTnLst>
                                </p:cTn>
                              </p:par>
                            </p:childTnLst>
                          </p:cTn>
                        </p:par>
                        <p:par>
                          <p:cTn id="95" fill="hold">
                            <p:stCondLst>
                              <p:cond delay="600"/>
                            </p:stCondLst>
                            <p:childTnLst>
                              <p:par>
                                <p:cTn id="87" presetID="10" presetClass="entr" presetSubtype="0" fill="hold" grpId="0" nodeType="afterEffect">
                                  <p:stCondLst>
                                    <p:cond delay="0"/>
                                  </p:stCondLst>
                                  <p:childTnLst>
                                    <p:set>
                                      <p:cBhvr>
                                        <p:cTn id="88" dur="1" fill="hold">
                                          <p:stCondLst>
                                            <p:cond delay="0"/>
                                          </p:stCondLst>
                                        </p:cTn>
                                        <p:tgtEl>
                                          <p:spTgt spid="19"/>
                                        </p:tgtEl>
                                        <p:attrNameLst>
                                          <p:attrName>style.visibility</p:attrName>
                                        </p:attrNameLst>
                                      </p:cBhvr>
                                      <p:to>
                                        <p:strVal val="visible"/>
                                      </p:to>
                                    </p:set>
                                    <p:animEffect transition="in" filter="fade">
                                      <p:cBhvr>
                                        <p:cTn id="89" dur="500"/>
                                        <p:tgtEl>
                                          <p:spTgt spid="19"/>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31"/>
                                        </p:tgtEl>
                                        <p:attrNameLst>
                                          <p:attrName>style.visibility</p:attrName>
                                        </p:attrNameLst>
                                      </p:cBhvr>
                                      <p:to>
                                        <p:strVal val="visible"/>
                                      </p:to>
                                    </p:set>
                                    <p:anim calcmode="lin" valueType="num">
                                      <p:cBhvr>
                                        <p:cTn id="92" dur="500" fill="hold"/>
                                        <p:tgtEl>
                                          <p:spTgt spid="31"/>
                                        </p:tgtEl>
                                        <p:attrNameLst>
                                          <p:attrName>ppt_w</p:attrName>
                                        </p:attrNameLst>
                                      </p:cBhvr>
                                      <p:tavLst>
                                        <p:tav tm="0">
                                          <p:val>
                                            <p:fltVal val="0"/>
                                          </p:val>
                                        </p:tav>
                                        <p:tav tm="100000">
                                          <p:val>
                                            <p:strVal val="#ppt_w"/>
                                          </p:val>
                                        </p:tav>
                                      </p:tavLst>
                                    </p:anim>
                                    <p:anim calcmode="lin" valueType="num">
                                      <p:cBhvr>
                                        <p:cTn id="93" dur="500" fill="hold"/>
                                        <p:tgtEl>
                                          <p:spTgt spid="31"/>
                                        </p:tgtEl>
                                        <p:attrNameLst>
                                          <p:attrName>ppt_h</p:attrName>
                                        </p:attrNameLst>
                                      </p:cBhvr>
                                      <p:tavLst>
                                        <p:tav tm="0">
                                          <p:val>
                                            <p:fltVal val="0"/>
                                          </p:val>
                                        </p:tav>
                                        <p:tav tm="100000">
                                          <p:val>
                                            <p:strVal val="#ppt_h"/>
                                          </p:val>
                                        </p:tav>
                                      </p:tavLst>
                                    </p:anim>
                                    <p:animEffect transition="in" filter="fade">
                                      <p:cBhvr>
                                        <p:cTn id="94" dur="500"/>
                                        <p:tgtEl>
                                          <p:spTgt spid="31"/>
                                        </p:tgtEl>
                                      </p:cBhvr>
                                    </p:animEffect>
                                  </p:childTnLst>
                                </p:cTn>
                              </p:par>
                            </p:childTnLst>
                          </p:cTn>
                        </p:par>
                      </p:childTnLst>
                    </p:cTn>
                  </p:par>
                  <p:par>
                    <p:cTn id="101" fill="hold">
                      <p:stCondLst>
                        <p:cond delay="indefinite"/>
                      </p:stCondLst>
                      <p:childTnLst>
                        <p:par>
                          <p:cTn id="100"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0" grpId="0" animBg="1"/>
      <p:bldP spid="22" grpId="0" animBg="1"/>
      <p:bldP spid="11" grpId="0" animBg="1"/>
      <p:bldP spid="23" grpId="0" animBg="1"/>
      <p:bldP spid="12" grpId="0" animBg="1"/>
      <p:bldP spid="21" grpId="0" animBg="1"/>
      <p:bldP spid="13" grpId="0" animBg="1"/>
      <p:bldP spid="14" grpId="0" animBg="1"/>
      <p:bldP spid="16" grpId="0" animBg="1"/>
      <p:bldP spid="15" grpId="0" animBg="1"/>
      <p:bldP spid="17" grpId="0" animBg="1"/>
      <p:bldP spid="25" grpId="0" animBg="1"/>
      <p:bldP spid="27" grpId="0" animBg="1"/>
      <p:bldP spid="28" grpId="0" animBg="1"/>
      <p:bldP spid="29" grpId="0" animBg="1"/>
      <p:bldP spid="30" grpId="0" animBg="1"/>
      <p:bldP spid="26" grpId="0" animBg="1"/>
      <p:bldP spid="18" grpId="0" animBg="1"/>
      <p:bldP spid="24" grpId="0" animBg="1"/>
      <p:bldP spid="19" grpId="0" animBg="1"/>
      <p:bldP spid="31" grpId="0" animBg="1"/>
      <p:bldP spid="32" grpId="0" animBg="1"/>
    </p:bldLst>
  </p:timing>
</p:sld>
</file>

<file path=ppt/slides/slide66.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Mitocondria"/>
          <p:cNvSpPr/>
          <p:nvPr/>
        </p:nvSpPr>
        <p:spPr>
          <a:xfrm>
            <a:off x="274320" y="960120"/>
            <a:ext cx="3291840" cy="2743200"/>
          </a:xfrm>
          <a:prstGeom prst="roundRect">
            <a:avLst>
              <a:gd name="adj" fmla="val 25000"/>
            </a:avLst>
          </a:prstGeom>
          <a:solidFill>
            <a:srgbClr val="F8C471">
              <a:alpha val="70000"/>
            </a:srgbClr>
          </a:solidFill>
          <a:ln w="25400" cap="rnd">
            <a:solidFill>
              <a:srgbClr val="B9770E"/>
            </a:solidFill>
            <a:round/>
          </a:ln>
        </p:spPr>
      </p:sp>
      <p:sp>
        <p:nvSpPr>
          <p:cNvPr id="5" name="Forma 4"/>
          <p:cNvSpPr txBox="1"/>
          <p:nvPr/>
        </p:nvSpPr>
        <p:spPr>
          <a:xfrm>
            <a:off x="365760" y="1005840"/>
            <a:ext cx="310896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MITOCONDRIA</a:t>
            </a:r>
            <a:endParaRPr lang="es-AR" sz="1250" dirty="0">
              <a:latin typeface="Bahnschrift SemiBold Condensed"/>
            </a:endParaRPr>
          </a:p>
        </p:txBody>
      </p:sp>
      <p:sp>
        <p:nvSpPr>
          <p:cNvPr id="6" name="RE"/>
          <p:cNvSpPr/>
          <p:nvPr/>
        </p:nvSpPr>
        <p:spPr>
          <a:xfrm>
            <a:off x="8412480" y="4892040"/>
            <a:ext cx="3383280" cy="1600200"/>
          </a:xfrm>
          <a:prstGeom prst="roundRect">
            <a:avLst>
              <a:gd name="adj" fmla="val 25000"/>
            </a:avLst>
          </a:prstGeom>
          <a:solidFill>
            <a:srgbClr val="D7BDE2">
              <a:alpha val="80000"/>
            </a:srgbClr>
          </a:solidFill>
          <a:ln w="25400" cap="rnd">
            <a:solidFill>
              <a:srgbClr val="6C3483"/>
            </a:solidFill>
            <a:round/>
          </a:ln>
        </p:spPr>
      </p:sp>
      <p:sp>
        <p:nvSpPr>
          <p:cNvPr id="7" name="Forma 6"/>
          <p:cNvSpPr txBox="1"/>
          <p:nvPr/>
        </p:nvSpPr>
        <p:spPr>
          <a:xfrm>
            <a:off x="8503920" y="4937760"/>
            <a:ext cx="320040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4A235A"/>
                </a:solidFill>
                <a:latin typeface="Bahnschrift SemiBold Condensed"/>
                <a:ea typeface="Bahnschrift SemiBold Condensed"/>
                <a:cs typeface="Bahnschrift SemiBold Condensed"/>
                <a:sym typeface="Bahnschrift SemiBold Condensed"/>
              </a:rPr>
              <a:t>RETÍCULO ENDOPLASMÁTICO</a:t>
            </a:r>
            <a:endParaRPr lang="es-AR" sz="1250" dirty="0">
              <a:latin typeface="Bahnschrift SemiBold Condensed"/>
            </a:endParaRPr>
          </a:p>
        </p:txBody>
      </p:sp>
      <p:sp>
        <p:nvSpPr>
          <p:cNvPr id="8" name="Piruvato m"/>
          <p:cNvSpPr/>
          <p:nvPr/>
        </p:nvSpPr>
        <p:spPr>
          <a:xfrm>
            <a:off x="548640" y="1417320"/>
            <a:ext cx="1280160" cy="384048"/>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Piruvato</a:t>
            </a:r>
            <a:endParaRPr lang="es-AR" sz="1300" dirty="0">
              <a:latin typeface="Bahnschrift SemiBold Condensed"/>
            </a:endParaRPr>
          </a:p>
        </p:txBody>
      </p:sp>
      <p:sp>
        <p:nvSpPr>
          <p:cNvPr id="9" name="OAA m"/>
          <p:cNvSpPr/>
          <p:nvPr/>
        </p:nvSpPr>
        <p:spPr>
          <a:xfrm>
            <a:off x="548640" y="2423160"/>
            <a:ext cx="1280160" cy="384048"/>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Oxaloacetato</a:t>
            </a:r>
            <a:endParaRPr lang="es-AR" sz="1300" dirty="0">
              <a:latin typeface="Bahnschrift SemiBold Condensed"/>
            </a:endParaRPr>
          </a:p>
        </p:txBody>
      </p:sp>
      <p:sp>
        <p:nvSpPr>
          <p:cNvPr id="10" name="PC"/>
          <p:cNvSpPr/>
          <p:nvPr/>
        </p:nvSpPr>
        <p:spPr>
          <a:xfrm>
            <a:off x="1920240" y="1901952"/>
            <a:ext cx="1636786"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Piruvato carboxilasa</a:t>
            </a:r>
            <a:endParaRPr lang="es-AR" sz="1250" dirty="0">
              <a:latin typeface="Bahnschrift SemiBold Condensed"/>
            </a:endParaRPr>
          </a:p>
        </p:txBody>
      </p:sp>
      <p:sp>
        <p:nvSpPr>
          <p:cNvPr id="11" name="Flecha 10_2"/>
          <p:cNvSpPr/>
          <p:nvPr/>
        </p:nvSpPr>
        <p:spPr>
          <a:xfrm>
            <a:off x="1188720" y="1819656"/>
            <a:ext cx="9144" cy="585216"/>
          </a:xfrm>
          <a:custGeom>
            <a:avLst/>
            <a:gdLst/>
            <a:ahLst/>
            <a:cxnLst/>
            <a:rect l="0" t="0" r="r" b="b"/>
            <a:pathLst>
              <a:path w="10" h="639" fill="none">
                <a:moveTo>
                  <a:pt x="0" y="0"/>
                </a:moveTo>
                <a:lnTo>
                  <a:pt x="0" y="639"/>
                </a:lnTo>
              </a:path>
            </a:pathLst>
          </a:custGeom>
          <a:noFill/>
          <a:ln w="44450" cap="rnd">
            <a:solidFill>
              <a:srgbClr val="1E8C3A"/>
            </a:solidFill>
            <a:round/>
            <a:tailEnd type="triangle" w="med" len="med"/>
          </a:ln>
        </p:spPr>
      </p:sp>
      <p:sp>
        <p:nvSpPr>
          <p:cNvPr id="12" name="ATP PC"/>
          <p:cNvSpPr/>
          <p:nvPr/>
        </p:nvSpPr>
        <p:spPr>
          <a:xfrm>
            <a:off x="2148840" y="2331720"/>
            <a:ext cx="548640" cy="329184"/>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936" b="1" dirty="0">
                <a:solidFill>
                  <a:srgbClr val="1E1E1E"/>
                </a:solidFill>
                <a:latin typeface="Bahnschrift SemiBold Condensed"/>
                <a:ea typeface="Bahnschrift SemiBold Condensed"/>
                <a:cs typeface="Bahnschrift SemiBold Condensed"/>
                <a:sym typeface="Bahnschrift SemiBold Condensed"/>
              </a:rPr>
              <a:t>ATP</a:t>
            </a:r>
            <a:endParaRPr lang="es-AR" sz="936" dirty="0">
              <a:latin typeface="Bahnschrift SemiBold Condensed"/>
            </a:endParaRPr>
          </a:p>
        </p:txBody>
      </p:sp>
      <p:sp>
        <p:nvSpPr>
          <p:cNvPr id="13" name="Malato"/>
          <p:cNvSpPr/>
          <p:nvPr/>
        </p:nvSpPr>
        <p:spPr>
          <a:xfrm>
            <a:off x="548640" y="3154680"/>
            <a:ext cx="1737360" cy="365760"/>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Malato (lanzadera)</a:t>
            </a:r>
            <a:endParaRPr lang="es-AR" sz="1200" dirty="0">
              <a:latin typeface="Bahnschrift SemiBold Condensed"/>
            </a:endParaRPr>
          </a:p>
        </p:txBody>
      </p:sp>
      <p:sp>
        <p:nvSpPr>
          <p:cNvPr id="14" name="Flecha 14_2"/>
          <p:cNvSpPr/>
          <p:nvPr/>
        </p:nvSpPr>
        <p:spPr>
          <a:xfrm>
            <a:off x="1188720" y="2825496"/>
            <a:ext cx="9144" cy="310896"/>
          </a:xfrm>
          <a:custGeom>
            <a:avLst/>
            <a:gdLst/>
            <a:ahLst/>
            <a:cxnLst/>
            <a:rect l="0" t="0" r="r" b="b"/>
            <a:pathLst>
              <a:path w="10" h="340" fill="none">
                <a:moveTo>
                  <a:pt x="0" y="0"/>
                </a:moveTo>
                <a:lnTo>
                  <a:pt x="0" y="340"/>
                </a:lnTo>
              </a:path>
            </a:pathLst>
          </a:custGeom>
          <a:noFill/>
          <a:ln w="25400" cap="rnd">
            <a:solidFill>
              <a:srgbClr val="1E1E1E"/>
            </a:solidFill>
            <a:round/>
            <a:headEnd type="triangle" w="med" len="med"/>
            <a:tailEnd type="triangle" w="med" len="med"/>
          </a:ln>
        </p:spPr>
      </p:sp>
      <p:sp>
        <p:nvSpPr>
          <p:cNvPr id="15" name="GNG citosol Oxaloacetato"/>
          <p:cNvSpPr/>
          <p:nvPr/>
        </p:nvSpPr>
        <p:spPr>
          <a:xfrm>
            <a:off x="3931920" y="1280160"/>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Oxaloacetato</a:t>
            </a:r>
            <a:endParaRPr lang="es-AR" sz="1300" dirty="0">
              <a:latin typeface="Bahnschrift SemiBold Condensed"/>
            </a:endParaRPr>
          </a:p>
        </p:txBody>
      </p:sp>
      <p:grpSp>
        <p:nvGrpSpPr>
          <p:cNvPr id="16" name="GNG citosol paso 1"/>
          <p:cNvGrpSpPr/>
          <p:nvPr/>
        </p:nvGrpSpPr>
        <p:grpSpPr>
          <a:xfrm>
            <a:off x="5029200" y="1645920"/>
            <a:ext cx="1109469" cy="274320"/>
            <a:chOff x="5029200" y="1645920"/>
            <a:chExt cx="1109469" cy="274320"/>
          </a:xfrm>
        </p:grpSpPr>
        <p:sp>
          <p:nvSpPr>
            <p:cNvPr id="17" name="Flecha 18_2"/>
            <p:cNvSpPr/>
            <p:nvPr/>
          </p:nvSpPr>
          <p:spPr>
            <a:xfrm>
              <a:off x="5029200" y="1673352"/>
              <a:ext cx="9144" cy="237744"/>
            </a:xfrm>
            <a:custGeom>
              <a:avLst/>
              <a:gdLst/>
              <a:ahLst/>
              <a:cxnLst/>
              <a:rect l="0" t="0" r="r" b="b"/>
              <a:pathLst>
                <a:path w="10" h="260" fill="none">
                  <a:moveTo>
                    <a:pt x="0" y="0"/>
                  </a:moveTo>
                  <a:lnTo>
                    <a:pt x="0" y="260"/>
                  </a:lnTo>
                </a:path>
              </a:pathLst>
            </a:custGeom>
            <a:noFill/>
            <a:ln w="44450" cap="rnd">
              <a:solidFill>
                <a:srgbClr val="1E8C3A"/>
              </a:solidFill>
              <a:round/>
              <a:tailEnd type="triangle" w="med" len="med"/>
            </a:ln>
          </p:spPr>
        </p:sp>
        <p:sp>
          <p:nvSpPr>
            <p:cNvPr id="18" name="Enzima PEPCK (PCK1)"/>
            <p:cNvSpPr/>
            <p:nvPr/>
          </p:nvSpPr>
          <p:spPr>
            <a:xfrm>
              <a:off x="5138928" y="1645920"/>
              <a:ext cx="99974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PEPCK (PCK1)</a:t>
              </a:r>
              <a:endParaRPr lang="es-AR" sz="1150" dirty="0">
                <a:latin typeface="Bahnschrift SemiBold Condensed"/>
              </a:endParaRPr>
            </a:p>
          </p:txBody>
        </p:sp>
      </p:grpSp>
      <p:sp>
        <p:nvSpPr>
          <p:cNvPr id="19" name="GNG citosol Fosfoenolpiruvato"/>
          <p:cNvSpPr/>
          <p:nvPr/>
        </p:nvSpPr>
        <p:spPr>
          <a:xfrm>
            <a:off x="3931920" y="1938528"/>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Fosfoenolpiruvato</a:t>
            </a:r>
            <a:endParaRPr lang="es-AR" sz="1300" dirty="0">
              <a:latin typeface="Bahnschrift SemiBold Condensed"/>
            </a:endParaRPr>
          </a:p>
        </p:txBody>
      </p:sp>
      <p:grpSp>
        <p:nvGrpSpPr>
          <p:cNvPr id="20" name="GNG citosol paso 2"/>
          <p:cNvGrpSpPr/>
          <p:nvPr/>
        </p:nvGrpSpPr>
        <p:grpSpPr>
          <a:xfrm>
            <a:off x="5029200" y="2304288"/>
            <a:ext cx="980543" cy="274320"/>
            <a:chOff x="5029200" y="2304288"/>
            <a:chExt cx="980543" cy="274320"/>
          </a:xfrm>
        </p:grpSpPr>
        <p:sp>
          <p:nvSpPr>
            <p:cNvPr id="21" name="Flecha 23_2"/>
            <p:cNvSpPr/>
            <p:nvPr/>
          </p:nvSpPr>
          <p:spPr>
            <a:xfrm>
              <a:off x="5029200" y="2331720"/>
              <a:ext cx="9144" cy="237744"/>
            </a:xfrm>
            <a:custGeom>
              <a:avLst/>
              <a:gdLst/>
              <a:ahLst/>
              <a:cxnLst/>
              <a:rect l="0" t="0" r="r" b="b"/>
              <a:pathLst>
                <a:path w="10" h="260" fill="none">
                  <a:moveTo>
                    <a:pt x="0" y="0"/>
                  </a:moveTo>
                  <a:lnTo>
                    <a:pt x="0" y="260"/>
                  </a:lnTo>
                </a:path>
              </a:pathLst>
            </a:custGeom>
            <a:noFill/>
            <a:ln w="25400" cap="rnd">
              <a:solidFill>
                <a:srgbClr val="1E1E1E"/>
              </a:solidFill>
              <a:round/>
              <a:headEnd type="triangle" w="med" len="med"/>
              <a:tailEnd type="triangle" w="med" len="med"/>
            </a:ln>
          </p:spPr>
        </p:sp>
        <p:sp>
          <p:nvSpPr>
            <p:cNvPr id="22" name="Enzima reversibles"/>
            <p:cNvSpPr/>
            <p:nvPr/>
          </p:nvSpPr>
          <p:spPr>
            <a:xfrm>
              <a:off x="5138928" y="2304288"/>
              <a:ext cx="87081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reversibles</a:t>
              </a:r>
              <a:endParaRPr lang="es-AR" sz="1150" dirty="0">
                <a:latin typeface="Bahnschrift SemiBold Condensed"/>
              </a:endParaRPr>
            </a:p>
          </p:txBody>
        </p:sp>
      </p:grpSp>
      <p:sp>
        <p:nvSpPr>
          <p:cNvPr id="23" name="GNG citosol 2-fosfoglicerato"/>
          <p:cNvSpPr/>
          <p:nvPr/>
        </p:nvSpPr>
        <p:spPr>
          <a:xfrm>
            <a:off x="3931920" y="2596896"/>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2-fosfoglicerato</a:t>
            </a:r>
            <a:endParaRPr lang="es-AR" sz="1300" dirty="0">
              <a:latin typeface="Bahnschrift SemiBold Condensed"/>
            </a:endParaRPr>
          </a:p>
        </p:txBody>
      </p:sp>
      <p:grpSp>
        <p:nvGrpSpPr>
          <p:cNvPr id="24" name="GNG citosol paso 3"/>
          <p:cNvGrpSpPr/>
          <p:nvPr/>
        </p:nvGrpSpPr>
        <p:grpSpPr>
          <a:xfrm>
            <a:off x="5029200" y="2962656"/>
            <a:ext cx="980543" cy="274320"/>
            <a:chOff x="5029200" y="2962656"/>
            <a:chExt cx="980543" cy="274320"/>
          </a:xfrm>
        </p:grpSpPr>
        <p:sp>
          <p:nvSpPr>
            <p:cNvPr id="25" name="Flecha 28_2"/>
            <p:cNvSpPr/>
            <p:nvPr/>
          </p:nvSpPr>
          <p:spPr>
            <a:xfrm>
              <a:off x="5029200" y="2990088"/>
              <a:ext cx="9144" cy="237744"/>
            </a:xfrm>
            <a:custGeom>
              <a:avLst/>
              <a:gdLst/>
              <a:ahLst/>
              <a:cxnLst/>
              <a:rect l="0" t="0" r="r" b="b"/>
              <a:pathLst>
                <a:path w="10" h="260" fill="none">
                  <a:moveTo>
                    <a:pt x="0" y="0"/>
                  </a:moveTo>
                  <a:lnTo>
                    <a:pt x="0" y="260"/>
                  </a:lnTo>
                </a:path>
              </a:pathLst>
            </a:custGeom>
            <a:noFill/>
            <a:ln w="25400" cap="rnd">
              <a:solidFill>
                <a:srgbClr val="1E1E1E"/>
              </a:solidFill>
              <a:round/>
              <a:headEnd type="triangle" w="med" len="med"/>
              <a:tailEnd type="triangle" w="med" len="med"/>
            </a:ln>
          </p:spPr>
        </p:sp>
        <p:sp>
          <p:nvSpPr>
            <p:cNvPr id="26" name="Enzima reversibles_2"/>
            <p:cNvSpPr/>
            <p:nvPr/>
          </p:nvSpPr>
          <p:spPr>
            <a:xfrm>
              <a:off x="5138928" y="2962656"/>
              <a:ext cx="87081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reversibles</a:t>
              </a:r>
              <a:endParaRPr lang="es-AR" sz="1150" dirty="0">
                <a:latin typeface="Bahnschrift SemiBold Condensed"/>
              </a:endParaRPr>
            </a:p>
          </p:txBody>
        </p:sp>
      </p:grpSp>
      <p:sp>
        <p:nvSpPr>
          <p:cNvPr id="27" name="GNG citosol Gliceraldehído-3-P"/>
          <p:cNvSpPr/>
          <p:nvPr/>
        </p:nvSpPr>
        <p:spPr>
          <a:xfrm>
            <a:off x="3931920" y="3255264"/>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Gliceraldehído-3-P / DHAP</a:t>
            </a:r>
            <a:endParaRPr lang="es-AR" sz="1300" dirty="0">
              <a:latin typeface="Bahnschrift SemiBold Condensed"/>
            </a:endParaRPr>
          </a:p>
        </p:txBody>
      </p:sp>
      <p:grpSp>
        <p:nvGrpSpPr>
          <p:cNvPr id="28" name="GNG citosol paso 4"/>
          <p:cNvGrpSpPr/>
          <p:nvPr/>
        </p:nvGrpSpPr>
        <p:grpSpPr>
          <a:xfrm>
            <a:off x="5029200" y="3621024"/>
            <a:ext cx="827879" cy="274320"/>
            <a:chOff x="5029200" y="3621024"/>
            <a:chExt cx="827879" cy="274320"/>
          </a:xfrm>
        </p:grpSpPr>
        <p:sp>
          <p:nvSpPr>
            <p:cNvPr id="29" name="Flecha 33_2"/>
            <p:cNvSpPr/>
            <p:nvPr/>
          </p:nvSpPr>
          <p:spPr>
            <a:xfrm>
              <a:off x="5029200" y="3648456"/>
              <a:ext cx="9144" cy="237744"/>
            </a:xfrm>
            <a:custGeom>
              <a:avLst/>
              <a:gdLst/>
              <a:ahLst/>
              <a:cxnLst/>
              <a:rect l="0" t="0" r="r" b="b"/>
              <a:pathLst>
                <a:path w="10" h="259" fill="none">
                  <a:moveTo>
                    <a:pt x="0" y="0"/>
                  </a:moveTo>
                  <a:lnTo>
                    <a:pt x="0" y="259"/>
                  </a:lnTo>
                </a:path>
              </a:pathLst>
            </a:custGeom>
            <a:noFill/>
            <a:ln w="25400" cap="rnd">
              <a:solidFill>
                <a:srgbClr val="1E1E1E"/>
              </a:solidFill>
              <a:round/>
              <a:headEnd type="triangle" w="med" len="med"/>
              <a:tailEnd type="triangle" w="med" len="med"/>
            </a:ln>
          </p:spPr>
        </p:sp>
        <p:sp>
          <p:nvSpPr>
            <p:cNvPr id="30" name="Enzima Aldolasa"/>
            <p:cNvSpPr/>
            <p:nvPr/>
          </p:nvSpPr>
          <p:spPr>
            <a:xfrm>
              <a:off x="5138928" y="3621024"/>
              <a:ext cx="71815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Aldolasa</a:t>
              </a:r>
              <a:endParaRPr lang="es-AR" sz="1150" dirty="0">
                <a:latin typeface="Bahnschrift SemiBold Condensed"/>
              </a:endParaRPr>
            </a:p>
          </p:txBody>
        </p:sp>
      </p:grpSp>
      <p:sp>
        <p:nvSpPr>
          <p:cNvPr id="31" name="GNG citosol Fructosa-1,6-bisP"/>
          <p:cNvSpPr/>
          <p:nvPr/>
        </p:nvSpPr>
        <p:spPr>
          <a:xfrm>
            <a:off x="3931920" y="3913632"/>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Fructosa-1,6-bisP</a:t>
            </a:r>
            <a:endParaRPr lang="es-AR" sz="1300" dirty="0">
              <a:latin typeface="Bahnschrift SemiBold Condensed"/>
            </a:endParaRPr>
          </a:p>
        </p:txBody>
      </p:sp>
      <p:grpSp>
        <p:nvGrpSpPr>
          <p:cNvPr id="32" name="GNG citosol paso 5"/>
          <p:cNvGrpSpPr/>
          <p:nvPr/>
        </p:nvGrpSpPr>
        <p:grpSpPr>
          <a:xfrm>
            <a:off x="5029200" y="4279392"/>
            <a:ext cx="852424" cy="274320"/>
            <a:chOff x="5029200" y="4279392"/>
            <a:chExt cx="852424" cy="274320"/>
          </a:xfrm>
        </p:grpSpPr>
        <p:sp>
          <p:nvSpPr>
            <p:cNvPr id="33" name="Flecha 38_2"/>
            <p:cNvSpPr/>
            <p:nvPr/>
          </p:nvSpPr>
          <p:spPr>
            <a:xfrm>
              <a:off x="5029200" y="4306824"/>
              <a:ext cx="9144" cy="237744"/>
            </a:xfrm>
            <a:custGeom>
              <a:avLst/>
              <a:gdLst/>
              <a:ahLst/>
              <a:cxnLst/>
              <a:rect l="0" t="0" r="r" b="b"/>
              <a:pathLst>
                <a:path w="10" h="259" fill="none">
                  <a:moveTo>
                    <a:pt x="0" y="0"/>
                  </a:moveTo>
                  <a:lnTo>
                    <a:pt x="0" y="259"/>
                  </a:lnTo>
                </a:path>
              </a:pathLst>
            </a:custGeom>
            <a:noFill/>
            <a:ln w="44450" cap="rnd">
              <a:solidFill>
                <a:srgbClr val="1E8C3A"/>
              </a:solidFill>
              <a:round/>
              <a:tailEnd type="triangle" w="med" len="med"/>
            </a:ln>
          </p:spPr>
        </p:sp>
        <p:sp>
          <p:nvSpPr>
            <p:cNvPr id="34" name="Enzima FBPasa-1"/>
            <p:cNvSpPr/>
            <p:nvPr/>
          </p:nvSpPr>
          <p:spPr>
            <a:xfrm>
              <a:off x="5138928" y="4279392"/>
              <a:ext cx="74269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FBPasa-1</a:t>
              </a:r>
              <a:endParaRPr lang="es-AR" sz="1150" dirty="0">
                <a:latin typeface="Bahnschrift SemiBold Condensed"/>
              </a:endParaRPr>
            </a:p>
          </p:txBody>
        </p:sp>
      </p:grpSp>
      <p:sp>
        <p:nvSpPr>
          <p:cNvPr id="35" name="GNG citosol Fructosa-6-P"/>
          <p:cNvSpPr/>
          <p:nvPr/>
        </p:nvSpPr>
        <p:spPr>
          <a:xfrm>
            <a:off x="3931920" y="4572000"/>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Fructosa-6-P</a:t>
            </a:r>
            <a:endParaRPr lang="es-AR" sz="1300" dirty="0">
              <a:latin typeface="Bahnschrift SemiBold Condensed"/>
            </a:endParaRPr>
          </a:p>
        </p:txBody>
      </p:sp>
      <p:grpSp>
        <p:nvGrpSpPr>
          <p:cNvPr id="36" name="GNG citosol paso 6"/>
          <p:cNvGrpSpPr/>
          <p:nvPr/>
        </p:nvGrpSpPr>
        <p:grpSpPr>
          <a:xfrm>
            <a:off x="5029200" y="4965192"/>
            <a:ext cx="9144" cy="237744"/>
            <a:chOff x="5029200" y="4965192"/>
            <a:chExt cx="9144" cy="237744"/>
          </a:xfrm>
        </p:grpSpPr>
        <p:sp>
          <p:nvSpPr>
            <p:cNvPr id="37" name="Flecha 43_2"/>
            <p:cNvSpPr/>
            <p:nvPr/>
          </p:nvSpPr>
          <p:spPr>
            <a:xfrm>
              <a:off x="5029200" y="4965192"/>
              <a:ext cx="9144" cy="237744"/>
            </a:xfrm>
            <a:custGeom>
              <a:avLst/>
              <a:gdLst/>
              <a:ahLst/>
              <a:cxnLst/>
              <a:rect l="0" t="0" r="r" b="b"/>
              <a:pathLst>
                <a:path w="10" h="259" fill="none">
                  <a:moveTo>
                    <a:pt x="0" y="0"/>
                  </a:moveTo>
                  <a:lnTo>
                    <a:pt x="0" y="259"/>
                  </a:lnTo>
                </a:path>
              </a:pathLst>
            </a:custGeom>
            <a:noFill/>
            <a:ln w="25400" cap="rnd">
              <a:solidFill>
                <a:srgbClr val="1E1E1E"/>
              </a:solidFill>
              <a:round/>
              <a:headEnd type="triangle" w="med" len="med"/>
              <a:tailEnd type="triangle" w="med" len="med"/>
            </a:ln>
          </p:spPr>
        </p:sp>
      </p:grpSp>
      <p:sp>
        <p:nvSpPr>
          <p:cNvPr id="38" name="GNG citosol Glucosa-6-P"/>
          <p:cNvSpPr/>
          <p:nvPr/>
        </p:nvSpPr>
        <p:spPr>
          <a:xfrm>
            <a:off x="3931920" y="5230368"/>
            <a:ext cx="219456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Glucosa-6-P</a:t>
            </a:r>
            <a:endParaRPr lang="es-AR" sz="1300" dirty="0">
              <a:latin typeface="Bahnschrift SemiBold Condensed"/>
            </a:endParaRPr>
          </a:p>
        </p:txBody>
      </p:sp>
      <p:sp>
        <p:nvSpPr>
          <p:cNvPr id="39" name="Flecha 46_2"/>
          <p:cNvSpPr/>
          <p:nvPr/>
        </p:nvSpPr>
        <p:spPr>
          <a:xfrm>
            <a:off x="2304288" y="1463040"/>
            <a:ext cx="1609344" cy="1874520"/>
          </a:xfrm>
          <a:custGeom>
            <a:avLst/>
            <a:gdLst/>
            <a:ahLst/>
            <a:cxnLst/>
            <a:rect l="0" t="0" r="r" b="b"/>
            <a:pathLst>
              <a:path w="1760" h="2050" fill="none">
                <a:moveTo>
                  <a:pt x="0" y="2050"/>
                </a:moveTo>
                <a:lnTo>
                  <a:pt x="1760" y="0"/>
                </a:lnTo>
              </a:path>
            </a:pathLst>
          </a:custGeom>
          <a:noFill/>
          <a:ln w="31750" cap="rnd">
            <a:solidFill>
              <a:srgbClr val="2563B0"/>
            </a:solidFill>
            <a:round/>
            <a:tailEnd type="triangle" w="med" len="med"/>
          </a:ln>
        </p:spPr>
      </p:sp>
      <p:sp>
        <p:nvSpPr>
          <p:cNvPr id="40" name="GTP PEPCK"/>
          <p:cNvSpPr/>
          <p:nvPr/>
        </p:nvSpPr>
        <p:spPr>
          <a:xfrm>
            <a:off x="6995160" y="1600200"/>
            <a:ext cx="548640" cy="329184"/>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936" b="1" dirty="0">
                <a:solidFill>
                  <a:srgbClr val="1E1E1E"/>
                </a:solidFill>
                <a:latin typeface="Bahnschrift SemiBold Condensed"/>
                <a:ea typeface="Bahnschrift SemiBold Condensed"/>
                <a:cs typeface="Bahnschrift SemiBold Condensed"/>
                <a:sym typeface="Bahnschrift SemiBold Condensed"/>
              </a:rPr>
              <a:t>GTP</a:t>
            </a:r>
            <a:endParaRPr lang="es-AR" sz="936" dirty="0">
              <a:latin typeface="Bahnschrift SemiBold Condensed"/>
            </a:endParaRPr>
          </a:p>
        </p:txBody>
      </p:sp>
      <p:sp>
        <p:nvSpPr>
          <p:cNvPr id="41" name="ATP PGK"/>
          <p:cNvSpPr/>
          <p:nvPr/>
        </p:nvSpPr>
        <p:spPr>
          <a:xfrm>
            <a:off x="6995160" y="2578608"/>
            <a:ext cx="548640" cy="329184"/>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936" b="1" dirty="0">
                <a:solidFill>
                  <a:srgbClr val="1E1E1E"/>
                </a:solidFill>
                <a:latin typeface="Bahnschrift SemiBold Condensed"/>
                <a:ea typeface="Bahnschrift SemiBold Condensed"/>
                <a:cs typeface="Bahnschrift SemiBold Condensed"/>
                <a:sym typeface="Bahnschrift SemiBold Condensed"/>
              </a:rPr>
              <a:t>ATP</a:t>
            </a:r>
            <a:endParaRPr lang="es-AR" sz="936" dirty="0">
              <a:latin typeface="Bahnschrift SemiBold Condensed"/>
            </a:endParaRPr>
          </a:p>
        </p:txBody>
      </p:sp>
      <p:sp>
        <p:nvSpPr>
          <p:cNvPr id="42" name="NADH GAPDH"/>
          <p:cNvSpPr/>
          <p:nvPr/>
        </p:nvSpPr>
        <p:spPr>
          <a:xfrm>
            <a:off x="6995160" y="3246120"/>
            <a:ext cx="685800" cy="329184"/>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NADH</a:t>
            </a:r>
            <a:endParaRPr lang="es-AR" sz="850" dirty="0">
              <a:latin typeface="Bahnschrift SemiBold Condensed"/>
            </a:endParaRPr>
          </a:p>
        </p:txBody>
      </p:sp>
      <p:sp>
        <p:nvSpPr>
          <p:cNvPr id="43" name="Flecha 51_2"/>
          <p:cNvSpPr/>
          <p:nvPr/>
        </p:nvSpPr>
        <p:spPr>
          <a:xfrm>
            <a:off x="6144768" y="5431536"/>
            <a:ext cx="2542032" cy="100584"/>
          </a:xfrm>
          <a:custGeom>
            <a:avLst/>
            <a:gdLst/>
            <a:ahLst/>
            <a:cxnLst/>
            <a:rect l="0" t="0" r="r" b="b"/>
            <a:pathLst>
              <a:path w="2780" h="109" fill="none">
                <a:moveTo>
                  <a:pt x="0" y="0"/>
                </a:moveTo>
                <a:lnTo>
                  <a:pt x="2780" y="109"/>
                </a:lnTo>
              </a:path>
            </a:pathLst>
          </a:custGeom>
          <a:noFill/>
          <a:ln w="31750" cap="rnd">
            <a:solidFill>
              <a:srgbClr val="2563B0"/>
            </a:solidFill>
            <a:round/>
            <a:tailEnd type="triangle" w="med" len="med"/>
          </a:ln>
        </p:spPr>
      </p:sp>
      <p:sp>
        <p:nvSpPr>
          <p:cNvPr id="44" name="G6Pasa"/>
          <p:cNvSpPr/>
          <p:nvPr/>
        </p:nvSpPr>
        <p:spPr>
          <a:xfrm>
            <a:off x="8778240" y="5303520"/>
            <a:ext cx="162625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Glucosa-6-fosfatasa</a:t>
            </a:r>
            <a:endParaRPr lang="es-AR" sz="1250" dirty="0">
              <a:latin typeface="Bahnschrift SemiBold Condensed"/>
            </a:endParaRPr>
          </a:p>
        </p:txBody>
      </p:sp>
      <p:sp>
        <p:nvSpPr>
          <p:cNvPr id="45" name="Glucosa"/>
          <p:cNvSpPr/>
          <p:nvPr/>
        </p:nvSpPr>
        <p:spPr>
          <a:xfrm>
            <a:off x="10881360" y="52578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46" name="Entradas"/>
          <p:cNvSpPr/>
          <p:nvPr/>
        </p:nvSpPr>
        <p:spPr>
          <a:xfrm>
            <a:off x="274320" y="3931920"/>
            <a:ext cx="3291840" cy="25603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Entradas</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Lactato</a:t>
            </a:r>
            <a:r>
              <a:rPr lang="es-AR" sz="1600" dirty="0">
                <a:solidFill>
                  <a:srgbClr val="1E1E1E"/>
                </a:solidFill>
                <a:latin typeface="Bahnschrift"/>
                <a:ea typeface="Bahnschrift"/>
                <a:cs typeface="Bahnschrift"/>
                <a:sym typeface="Bahnschrift"/>
              </a:rPr>
              <a:t> → piruvato (LDH)</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Alanina</a:t>
            </a:r>
            <a:r>
              <a:rPr lang="es-AR" sz="1600" dirty="0">
                <a:solidFill>
                  <a:srgbClr val="1E1E1E"/>
                </a:solidFill>
                <a:latin typeface="Bahnschrift"/>
                <a:ea typeface="Bahnschrift"/>
                <a:cs typeface="Bahnschrift"/>
                <a:sym typeface="Bahnschrift"/>
              </a:rPr>
              <a:t> → piruvato (ALT)</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Otros AA → intermediarios de Krebs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Glicerol</a:t>
            </a:r>
            <a:r>
              <a:rPr lang="es-AR" sz="1600" dirty="0">
                <a:solidFill>
                  <a:srgbClr val="1E1E1E"/>
                </a:solidFill>
                <a:latin typeface="Bahnschrift"/>
                <a:ea typeface="Bahnschrift"/>
                <a:cs typeface="Bahnschrift"/>
                <a:sym typeface="Bahnschrift"/>
              </a:rPr>
              <a:t> → DHAP (glicerol cinasa)</a:t>
            </a:r>
            <a:endParaRPr lang="es-AR" sz="1600" dirty="0">
              <a:latin typeface="Bahnschrift"/>
            </a:endParaRPr>
          </a:p>
        </p:txBody>
      </p:sp>
      <p:grpSp>
        <p:nvGrpSpPr>
          <p:cNvPr id="47" name="Recuadro Balance"/>
          <p:cNvGrpSpPr/>
          <p:nvPr/>
        </p:nvGrpSpPr>
        <p:grpSpPr>
          <a:xfrm>
            <a:off x="8412480" y="960120"/>
            <a:ext cx="3383280" cy="3749040"/>
            <a:chOff x="8412480" y="960120"/>
            <a:chExt cx="3383280" cy="3749040"/>
          </a:xfrm>
        </p:grpSpPr>
        <p:sp>
          <p:nvSpPr>
            <p:cNvPr id="48" name="Forma 57"/>
            <p:cNvSpPr/>
            <p:nvPr/>
          </p:nvSpPr>
          <p:spPr>
            <a:xfrm>
              <a:off x="8412480" y="1143000"/>
              <a:ext cx="3383280" cy="35661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Costo por glucosa</a:t>
              </a:r>
              <a:r>
                <a:rPr lang="es-AR" sz="1650" dirty="0">
                  <a:solidFill>
                    <a:srgbClr val="1E1E1E"/>
                  </a:solidFill>
                  <a:latin typeface="Bahnschrift"/>
                  <a:ea typeface="Bahnschrift"/>
                  <a:cs typeface="Bahnschrift"/>
                  <a:sym typeface="Bahnschrift"/>
                </a:rPr>
                <a:t> (desde 2 piruvatos): </a:t>
              </a:r>
              <a:r>
                <a:rPr lang="es-AR" sz="1650" b="1" dirty="0">
                  <a:solidFill>
                    <a:srgbClr val="1E1E1E"/>
                  </a:solidFill>
                  <a:latin typeface="Bahnschrift"/>
                  <a:ea typeface="Bahnschrift"/>
                  <a:cs typeface="Bahnschrift"/>
                  <a:sym typeface="Bahnschrift"/>
                </a:rPr>
                <a:t>4 ATP + 2 GTP</a:t>
              </a:r>
              <a:r>
                <a:rPr lang="es-AR" sz="1650" dirty="0">
                  <a:solidFill>
                    <a:srgbClr val="1E1E1E"/>
                  </a:solidFill>
                  <a:latin typeface="Bahnschrift"/>
                  <a:ea typeface="Bahnschrift"/>
                  <a:cs typeface="Bahnschrift"/>
                  <a:sym typeface="Bahnschrift"/>
                </a:rPr>
                <a:t> (6 enlaces de alta energía) + 2 NADH.</a:t>
              </a:r>
              <a:endParaRPr lang="es-AR" sz="1650" dirty="0">
                <a:latin typeface="Bahnschrift"/>
              </a:endParaRPr>
            </a:p>
            <a:p>
              <a:pPr algn="l">
                <a:spcAft>
                  <a:spcPts val="400"/>
                </a:spcAft>
                <a:buNone/>
              </a:pPr>
              <a:endParaRPr lang="es-AR" sz="1650" dirty="0">
                <a:latin typeface="Bahnschrift"/>
              </a:endParaRPr>
            </a:p>
            <a:p>
              <a:pPr algn="l">
                <a:spcAft>
                  <a:spcPts val="400"/>
                </a:spcAft>
                <a:buNone/>
              </a:pPr>
              <a:r>
                <a:rPr lang="es-AR" sz="1650" dirty="0">
                  <a:solidFill>
                    <a:srgbClr val="1E1E1E"/>
                  </a:solidFill>
                  <a:latin typeface="Bahnschrift"/>
                  <a:ea typeface="Bahnschrift"/>
                  <a:cs typeface="Bahnschrift"/>
                  <a:sym typeface="Bahnschrift"/>
                </a:rPr>
                <a:t>Las </a:t>
              </a:r>
              <a:r>
                <a:rPr lang="es-AR" sz="1650" b="1" dirty="0">
                  <a:solidFill>
                    <a:srgbClr val="1E1E1E"/>
                  </a:solidFill>
                  <a:latin typeface="Bahnschrift"/>
                  <a:ea typeface="Bahnschrift"/>
                  <a:cs typeface="Bahnschrift"/>
                  <a:sym typeface="Bahnschrift"/>
                </a:rPr>
                <a:t>4 enzimas propias</a:t>
              </a:r>
              <a:r>
                <a:rPr lang="es-AR" sz="1650" dirty="0">
                  <a:solidFill>
                    <a:srgbClr val="1E1E1E"/>
                  </a:solidFill>
                  <a:latin typeface="Bahnschrift"/>
                  <a:ea typeface="Bahnschrift"/>
                  <a:cs typeface="Bahnschrift"/>
                  <a:sym typeface="Bahnschrift"/>
                </a:rPr>
                <a:t> (PC, PEPCK, FBPasa-1, G6Pasa) </a:t>
              </a:r>
              <a:r>
                <a:rPr lang="es-AR" sz="1650" b="1" dirty="0">
                  <a:solidFill>
                    <a:srgbClr val="1E1E1E"/>
                  </a:solidFill>
                  <a:latin typeface="Bahnschrift"/>
                  <a:ea typeface="Bahnschrift"/>
                  <a:cs typeface="Bahnschrift"/>
                  <a:sym typeface="Bahnschrift"/>
                </a:rPr>
                <a:t>evitan los pasos irreversibles</a:t>
              </a:r>
              <a:r>
                <a:rPr lang="es-AR" sz="1650" dirty="0">
                  <a:solidFill>
                    <a:srgbClr val="1E1E1E"/>
                  </a:solidFill>
                  <a:latin typeface="Bahnschrift"/>
                  <a:ea typeface="Bahnschrift"/>
                  <a:cs typeface="Bahnschrift"/>
                  <a:sym typeface="Bahnschrift"/>
                </a:rPr>
                <a:t> de la glucólisis.</a:t>
              </a:r>
              <a:endParaRPr lang="es-AR" sz="1650" dirty="0">
                <a:latin typeface="Bahnschrift"/>
              </a:endParaRPr>
            </a:p>
          </p:txBody>
        </p:sp>
        <p:sp>
          <p:nvSpPr>
            <p:cNvPr id="49" name="Forma 58"/>
            <p:cNvSpPr/>
            <p:nvPr/>
          </p:nvSpPr>
          <p:spPr>
            <a:xfrm>
              <a:off x="8522208" y="960120"/>
              <a:ext cx="101245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BALANCE</a:t>
              </a:r>
              <a:endParaRPr lang="es-AR" sz="150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765830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8 · GLUCONEOGÉNESIS: RUTA, COMPARTIMENTOS Y COSTO</a:t>
            </a:r>
            <a:endParaRPr lang="es-AR" sz="2600" dirty="0">
              <a:latin typeface="Bahnschrift SemiBold Condensed"/>
            </a:endParaRPr>
          </a:p>
        </p:txBody>
      </p:sp>
      <p:sp>
        <p:nvSpPr>
          <p:cNvPr id="5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6"/>
                                        </p:tgtEl>
                                        <p:attrNameLst>
                                          <p:attrName>style.visibility</p:attrName>
                                        </p:attrNameLst>
                                      </p:cBhvr>
                                      <p:to>
                                        <p:strVal val="visible"/>
                                      </p:to>
                                    </p:set>
                                    <p:animEffect transition="in" filter="fade">
                                      <p:cBhvr>
                                        <p:cTn id="5" dur="500"/>
                                        <p:tgtEl>
                                          <p:spTgt spid="46"/>
                                        </p:tgtEl>
                                      </p:cBhvr>
                                    </p:animEffect>
                                  </p:childTnLst>
                                </p:cTn>
                              </p:par>
                            </p:childTnLst>
                          </p:cTn>
                        </p:par>
                      </p:childTnLst>
                    </p:cTn>
                  </p:par>
                  <p:par>
                    <p:cTn id="28"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par>
                          <p:cTn id="23"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up)">
                                      <p:cBhvr>
                                        <p:cTn id="14" dur="600"/>
                                        <p:tgtEl>
                                          <p:spTgt spid="11"/>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500" fill="hold"/>
                                        <p:tgtEl>
                                          <p:spTgt spid="12"/>
                                        </p:tgtEl>
                                        <p:attrNameLst>
                                          <p:attrName>ppt_w</p:attrName>
                                        </p:attrNameLst>
                                      </p:cBhvr>
                                      <p:tavLst>
                                        <p:tav tm="0">
                                          <p:val>
                                            <p:fltVal val="0"/>
                                          </p:val>
                                        </p:tav>
                                        <p:tav tm="100000">
                                          <p:val>
                                            <p:strVal val="#ppt_w"/>
                                          </p:val>
                                        </p:tav>
                                      </p:tavLst>
                                    </p:anim>
                                    <p:anim calcmode="lin" valueType="num">
                                      <p:cBhvr>
                                        <p:cTn id="21" dur="500" fill="hold"/>
                                        <p:tgtEl>
                                          <p:spTgt spid="12"/>
                                        </p:tgtEl>
                                        <p:attrNameLst>
                                          <p:attrName>ppt_h</p:attrName>
                                        </p:attrNameLst>
                                      </p:cBhvr>
                                      <p:tavLst>
                                        <p:tav tm="0">
                                          <p:val>
                                            <p:fltVal val="0"/>
                                          </p:val>
                                        </p:tav>
                                        <p:tav tm="100000">
                                          <p:val>
                                            <p:strVal val="#ppt_h"/>
                                          </p:val>
                                        </p:tav>
                                      </p:tavLst>
                                    </p:anim>
                                    <p:animEffect transition="in" filter="fade">
                                      <p:cBhvr>
                                        <p:cTn id="22" dur="500"/>
                                        <p:tgtEl>
                                          <p:spTgt spid="12"/>
                                        </p:tgtEl>
                                      </p:cBhvr>
                                    </p:animEffect>
                                  </p:childTnLst>
                                </p:cTn>
                              </p:par>
                            </p:childTnLst>
                          </p:cTn>
                        </p:par>
                        <p:par>
                          <p:cTn id="27" fill="hold">
                            <p:stCondLst>
                              <p:cond delay="1100"/>
                            </p:stCondLst>
                            <p:childTnLst>
                              <p:par>
                                <p:cTn id="24" presetID="10" presetClass="entr" presetSubtype="0" fill="hold" grpId="0"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41" fill="hold">
                      <p:stCondLst>
                        <p:cond delay="indefinite"/>
                      </p:stCondLst>
                      <p:childTnLst>
                        <p:par>
                          <p:cTn id="32" fill="hold">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up)">
                                      <p:cBhvr>
                                        <p:cTn id="31" dur="600"/>
                                        <p:tgtEl>
                                          <p:spTgt spid="14"/>
                                        </p:tgtEl>
                                      </p:cBhvr>
                                    </p:animEffect>
                                  </p:childTnLst>
                                </p:cTn>
                              </p:par>
                            </p:childTnLst>
                          </p:cTn>
                        </p:par>
                        <p:par>
                          <p:cTn id="36" fill="hold">
                            <p:stCondLst>
                              <p:cond delay="6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40" fill="hold">
                            <p:stCondLst>
                              <p:cond delay="1100"/>
                            </p:stCondLst>
                            <p:childTnLst>
                              <p:par>
                                <p:cTn id="37" presetID="22" presetClass="entr" presetSubtype="8" fill="hold" grpId="0" nodeType="afterEffect">
                                  <p:stCondLst>
                                    <p:cond delay="0"/>
                                  </p:stCondLst>
                                  <p:childTnLst>
                                    <p:set>
                                      <p:cBhvr>
                                        <p:cTn id="38" dur="1" fill="hold">
                                          <p:stCondLst>
                                            <p:cond delay="0"/>
                                          </p:stCondLst>
                                        </p:cTn>
                                        <p:tgtEl>
                                          <p:spTgt spid="39"/>
                                        </p:tgtEl>
                                        <p:attrNameLst>
                                          <p:attrName>style.visibility</p:attrName>
                                        </p:attrNameLst>
                                      </p:cBhvr>
                                      <p:to>
                                        <p:strVal val="visible"/>
                                      </p:to>
                                    </p:set>
                                    <p:animEffect transition="in" filter="wipe(left)">
                                      <p:cBhvr>
                                        <p:cTn id="39" dur="600"/>
                                        <p:tgtEl>
                                          <p:spTgt spid="39"/>
                                        </p:tgtEl>
                                      </p:cBhvr>
                                    </p:animEffect>
                                  </p:childTnLst>
                                </p:cTn>
                              </p:par>
                            </p:childTnLst>
                          </p:cTn>
                        </p:par>
                      </p:childTnLst>
                    </p:cTn>
                  </p:par>
                  <p:par>
                    <p:cTn id="59" fill="hold">
                      <p:stCondLst>
                        <p:cond delay="indefinite"/>
                      </p:stCondLst>
                      <p:childTnLst>
                        <p:par>
                          <p:cTn id="45"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par>
                          <p:cTn id="49" fill="hold">
                            <p:stCondLst>
                              <p:cond delay="500"/>
                            </p:stCondLst>
                            <p:childTnLst>
                              <p:par>
                                <p:cTn id="46" presetID="22" presetClass="entr" presetSubtype="1" fill="hold" grpId="0" nodeType="after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wipe(up)">
                                      <p:cBhvr>
                                        <p:cTn id="48" dur="600"/>
                                        <p:tgtEl>
                                          <p:spTgt spid="16"/>
                                        </p:tgtEl>
                                      </p:cBhvr>
                                    </p:animEffect>
                                  </p:childTnLst>
                                </p:cTn>
                              </p:par>
                            </p:childTnLst>
                          </p:cTn>
                        </p:par>
                        <p:par>
                          <p:cTn id="58" fill="hold">
                            <p:stCondLst>
                              <p:cond delay="1100"/>
                            </p:stCondLst>
                            <p:childTnLst>
                              <p:par>
                                <p:cTn id="50" presetID="10" presetClass="entr" presetSubtype="0" fill="hold" grpId="0" nodeType="after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40"/>
                                        </p:tgtEl>
                                        <p:attrNameLst>
                                          <p:attrName>style.visibility</p:attrName>
                                        </p:attrNameLst>
                                      </p:cBhvr>
                                      <p:to>
                                        <p:strVal val="visible"/>
                                      </p:to>
                                    </p:set>
                                    <p:anim calcmode="lin" valueType="num">
                                      <p:cBhvr>
                                        <p:cTn id="55" dur="500" fill="hold"/>
                                        <p:tgtEl>
                                          <p:spTgt spid="40"/>
                                        </p:tgtEl>
                                        <p:attrNameLst>
                                          <p:attrName>ppt_w</p:attrName>
                                        </p:attrNameLst>
                                      </p:cBhvr>
                                      <p:tavLst>
                                        <p:tav tm="0">
                                          <p:val>
                                            <p:fltVal val="0"/>
                                          </p:val>
                                        </p:tav>
                                        <p:tav tm="100000">
                                          <p:val>
                                            <p:strVal val="#ppt_w"/>
                                          </p:val>
                                        </p:tav>
                                      </p:tavLst>
                                    </p:anim>
                                    <p:anim calcmode="lin" valueType="num">
                                      <p:cBhvr>
                                        <p:cTn id="56" dur="500" fill="hold"/>
                                        <p:tgtEl>
                                          <p:spTgt spid="40"/>
                                        </p:tgtEl>
                                        <p:attrNameLst>
                                          <p:attrName>ppt_h</p:attrName>
                                        </p:attrNameLst>
                                      </p:cBhvr>
                                      <p:tavLst>
                                        <p:tav tm="0">
                                          <p:val>
                                            <p:fltVal val="0"/>
                                          </p:val>
                                        </p:tav>
                                        <p:tav tm="100000">
                                          <p:val>
                                            <p:strVal val="#ppt_h"/>
                                          </p:val>
                                        </p:tav>
                                      </p:tavLst>
                                    </p:anim>
                                    <p:animEffect transition="in" filter="fade">
                                      <p:cBhvr>
                                        <p:cTn id="57" dur="500"/>
                                        <p:tgtEl>
                                          <p:spTgt spid="40"/>
                                        </p:tgtEl>
                                      </p:cBhvr>
                                    </p:animEffect>
                                  </p:childTnLst>
                                </p:cTn>
                              </p:par>
                            </p:childTnLst>
                          </p:cTn>
                        </p:par>
                      </p:childTnLst>
                    </p:cTn>
                  </p:par>
                  <p:par>
                    <p:cTn id="86" fill="hold">
                      <p:stCondLst>
                        <p:cond delay="indefinite"/>
                      </p:stCondLst>
                      <p:childTnLst>
                        <p:par>
                          <p:cTn id="63" fill="hold">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wipe(up)">
                                      <p:cBhvr>
                                        <p:cTn id="62" dur="600"/>
                                        <p:tgtEl>
                                          <p:spTgt spid="20"/>
                                        </p:tgtEl>
                                      </p:cBhvr>
                                    </p:animEffect>
                                  </p:childTnLst>
                                </p:cTn>
                              </p:par>
                            </p:childTnLst>
                          </p:cTn>
                        </p:par>
                        <p:par>
                          <p:cTn id="67" fill="hold">
                            <p:stCondLst>
                              <p:cond delay="600"/>
                            </p:stCondLst>
                            <p:childTnLst>
                              <p:par>
                                <p:cTn id="64" presetID="10" presetClass="entr" presetSubtype="0" fill="hold" grpId="0" nodeType="after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childTnLst>
                                </p:cTn>
                              </p:par>
                            </p:childTnLst>
                          </p:cTn>
                        </p:par>
                        <p:par>
                          <p:cTn id="71" fill="hold">
                            <p:stCondLst>
                              <p:cond delay="1100"/>
                            </p:stCondLst>
                            <p:childTnLst>
                              <p:par>
                                <p:cTn id="68" presetID="22" presetClass="entr" presetSubtype="1" fill="hold" grpId="0" nodeType="afterEffect">
                                  <p:stCondLst>
                                    <p:cond delay="0"/>
                                  </p:stCondLst>
                                  <p:childTnLst>
                                    <p:set>
                                      <p:cBhvr>
                                        <p:cTn id="69" dur="1" fill="hold">
                                          <p:stCondLst>
                                            <p:cond delay="0"/>
                                          </p:stCondLst>
                                        </p:cTn>
                                        <p:tgtEl>
                                          <p:spTgt spid="24"/>
                                        </p:tgtEl>
                                        <p:attrNameLst>
                                          <p:attrName>style.visibility</p:attrName>
                                        </p:attrNameLst>
                                      </p:cBhvr>
                                      <p:to>
                                        <p:strVal val="visible"/>
                                      </p:to>
                                    </p:set>
                                    <p:animEffect transition="in" filter="wipe(up)">
                                      <p:cBhvr>
                                        <p:cTn id="70" dur="600"/>
                                        <p:tgtEl>
                                          <p:spTgt spid="24"/>
                                        </p:tgtEl>
                                      </p:cBhvr>
                                    </p:animEffect>
                                  </p:childTnLst>
                                </p:cTn>
                              </p:par>
                            </p:childTnLst>
                          </p:cTn>
                        </p:par>
                        <p:par>
                          <p:cTn id="85" fill="hold">
                            <p:stCondLst>
                              <p:cond delay="1700"/>
                            </p:stCondLst>
                            <p:childTnLst>
                              <p:par>
                                <p:cTn id="72" presetID="10" presetClass="entr" presetSubtype="0" fill="hold" grpId="0" nodeType="after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41"/>
                                        </p:tgtEl>
                                        <p:attrNameLst>
                                          <p:attrName>style.visibility</p:attrName>
                                        </p:attrNameLst>
                                      </p:cBhvr>
                                      <p:to>
                                        <p:strVal val="visible"/>
                                      </p:to>
                                    </p:set>
                                    <p:anim calcmode="lin" valueType="num">
                                      <p:cBhvr>
                                        <p:cTn id="77" dur="500" fill="hold"/>
                                        <p:tgtEl>
                                          <p:spTgt spid="41"/>
                                        </p:tgtEl>
                                        <p:attrNameLst>
                                          <p:attrName>ppt_w</p:attrName>
                                        </p:attrNameLst>
                                      </p:cBhvr>
                                      <p:tavLst>
                                        <p:tav tm="0">
                                          <p:val>
                                            <p:fltVal val="0"/>
                                          </p:val>
                                        </p:tav>
                                        <p:tav tm="100000">
                                          <p:val>
                                            <p:strVal val="#ppt_w"/>
                                          </p:val>
                                        </p:tav>
                                      </p:tavLst>
                                    </p:anim>
                                    <p:anim calcmode="lin" valueType="num">
                                      <p:cBhvr>
                                        <p:cTn id="78" dur="500" fill="hold"/>
                                        <p:tgtEl>
                                          <p:spTgt spid="41"/>
                                        </p:tgtEl>
                                        <p:attrNameLst>
                                          <p:attrName>ppt_h</p:attrName>
                                        </p:attrNameLst>
                                      </p:cBhvr>
                                      <p:tavLst>
                                        <p:tav tm="0">
                                          <p:val>
                                            <p:fltVal val="0"/>
                                          </p:val>
                                        </p:tav>
                                        <p:tav tm="100000">
                                          <p:val>
                                            <p:strVal val="#ppt_h"/>
                                          </p:val>
                                        </p:tav>
                                      </p:tavLst>
                                    </p:anim>
                                    <p:animEffect transition="in" filter="fade">
                                      <p:cBhvr>
                                        <p:cTn id="79" dur="500"/>
                                        <p:tgtEl>
                                          <p:spTgt spid="41"/>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42"/>
                                        </p:tgtEl>
                                        <p:attrNameLst>
                                          <p:attrName>style.visibility</p:attrName>
                                        </p:attrNameLst>
                                      </p:cBhvr>
                                      <p:to>
                                        <p:strVal val="visible"/>
                                      </p:to>
                                    </p:set>
                                    <p:anim calcmode="lin" valueType="num">
                                      <p:cBhvr>
                                        <p:cTn id="82" dur="500" fill="hold"/>
                                        <p:tgtEl>
                                          <p:spTgt spid="42"/>
                                        </p:tgtEl>
                                        <p:attrNameLst>
                                          <p:attrName>ppt_w</p:attrName>
                                        </p:attrNameLst>
                                      </p:cBhvr>
                                      <p:tavLst>
                                        <p:tav tm="0">
                                          <p:val>
                                            <p:fltVal val="0"/>
                                          </p:val>
                                        </p:tav>
                                        <p:tav tm="100000">
                                          <p:val>
                                            <p:strVal val="#ppt_w"/>
                                          </p:val>
                                        </p:tav>
                                      </p:tavLst>
                                    </p:anim>
                                    <p:anim calcmode="lin" valueType="num">
                                      <p:cBhvr>
                                        <p:cTn id="83" dur="500" fill="hold"/>
                                        <p:tgtEl>
                                          <p:spTgt spid="42"/>
                                        </p:tgtEl>
                                        <p:attrNameLst>
                                          <p:attrName>ppt_h</p:attrName>
                                        </p:attrNameLst>
                                      </p:cBhvr>
                                      <p:tavLst>
                                        <p:tav tm="0">
                                          <p:val>
                                            <p:fltVal val="0"/>
                                          </p:val>
                                        </p:tav>
                                        <p:tav tm="100000">
                                          <p:val>
                                            <p:strVal val="#ppt_h"/>
                                          </p:val>
                                        </p:tav>
                                      </p:tavLst>
                                    </p:anim>
                                    <p:animEffect transition="in" filter="fade">
                                      <p:cBhvr>
                                        <p:cTn id="84" dur="500"/>
                                        <p:tgtEl>
                                          <p:spTgt spid="42"/>
                                        </p:tgtEl>
                                      </p:cBhvr>
                                    </p:animEffect>
                                  </p:childTnLst>
                                </p:cTn>
                              </p:par>
                            </p:childTnLst>
                          </p:cTn>
                        </p:par>
                      </p:childTnLst>
                    </p:cTn>
                  </p:par>
                  <p:par>
                    <p:cTn id="103" fill="hold">
                      <p:stCondLst>
                        <p:cond delay="indefinite"/>
                      </p:stCondLst>
                      <p:childTnLst>
                        <p:par>
                          <p:cTn id="90" fill="hold">
                            <p:stCondLst>
                              <p:cond delay="0"/>
                            </p:stCondLst>
                            <p:childTnLst>
                              <p:par>
                                <p:cTn id="87" presetID="22" presetClass="entr" presetSubtype="1" fill="hold" grpId="0" nodeType="click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wipe(up)">
                                      <p:cBhvr>
                                        <p:cTn id="89" dur="600"/>
                                        <p:tgtEl>
                                          <p:spTgt spid="28"/>
                                        </p:tgtEl>
                                      </p:cBhvr>
                                    </p:animEffect>
                                  </p:childTnLst>
                                </p:cTn>
                              </p:par>
                            </p:childTnLst>
                          </p:cTn>
                        </p:par>
                        <p:par>
                          <p:cTn id="94" fill="hold">
                            <p:stCondLst>
                              <p:cond delay="600"/>
                            </p:stCondLst>
                            <p:childTnLst>
                              <p:par>
                                <p:cTn id="91" presetID="10" presetClass="entr" presetSubtype="0" fill="hold" grpId="0" nodeType="after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fade">
                                      <p:cBhvr>
                                        <p:cTn id="93" dur="500"/>
                                        <p:tgtEl>
                                          <p:spTgt spid="31"/>
                                        </p:tgtEl>
                                      </p:cBhvr>
                                    </p:animEffect>
                                  </p:childTnLst>
                                </p:cTn>
                              </p:par>
                            </p:childTnLst>
                          </p:cTn>
                        </p:par>
                        <p:par>
                          <p:cTn id="98" fill="hold">
                            <p:stCondLst>
                              <p:cond delay="1100"/>
                            </p:stCondLst>
                            <p:childTnLst>
                              <p:par>
                                <p:cTn id="95" presetID="22" presetClass="entr" presetSubtype="1" fill="hold" grpId="0" nodeType="after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wipe(up)">
                                      <p:cBhvr>
                                        <p:cTn id="97" dur="600"/>
                                        <p:tgtEl>
                                          <p:spTgt spid="32"/>
                                        </p:tgtEl>
                                      </p:cBhvr>
                                    </p:animEffect>
                                  </p:childTnLst>
                                </p:cTn>
                              </p:par>
                            </p:childTnLst>
                          </p:cTn>
                        </p:par>
                        <p:par>
                          <p:cTn id="102" fill="hold">
                            <p:stCondLst>
                              <p:cond delay="1700"/>
                            </p:stCondLst>
                            <p:childTnLst>
                              <p:par>
                                <p:cTn id="99" presetID="10" presetClass="entr" presetSubtype="0" fill="hold" grpId="0" nodeType="afterEffect">
                                  <p:stCondLst>
                                    <p:cond delay="0"/>
                                  </p:stCondLst>
                                  <p:childTnLst>
                                    <p:set>
                                      <p:cBhvr>
                                        <p:cTn id="100" dur="1" fill="hold">
                                          <p:stCondLst>
                                            <p:cond delay="0"/>
                                          </p:stCondLst>
                                        </p:cTn>
                                        <p:tgtEl>
                                          <p:spTgt spid="35"/>
                                        </p:tgtEl>
                                        <p:attrNameLst>
                                          <p:attrName>style.visibility</p:attrName>
                                        </p:attrNameLst>
                                      </p:cBhvr>
                                      <p:to>
                                        <p:strVal val="visible"/>
                                      </p:to>
                                    </p:set>
                                    <p:animEffect transition="in" filter="fade">
                                      <p:cBhvr>
                                        <p:cTn id="101" dur="500"/>
                                        <p:tgtEl>
                                          <p:spTgt spid="35"/>
                                        </p:tgtEl>
                                      </p:cBhvr>
                                    </p:animEffect>
                                  </p:childTnLst>
                                </p:cTn>
                              </p:par>
                            </p:childTnLst>
                          </p:cTn>
                        </p:par>
                      </p:childTnLst>
                    </p:cTn>
                  </p:par>
                  <p:par>
                    <p:cTn id="112" fill="hold">
                      <p:stCondLst>
                        <p:cond delay="indefinite"/>
                      </p:stCondLst>
                      <p:childTnLst>
                        <p:par>
                          <p:cTn id="107" fill="hold">
                            <p:stCondLst>
                              <p:cond delay="0"/>
                            </p:stCondLst>
                            <p:childTnLst>
                              <p:par>
                                <p:cTn id="104" presetID="22" presetClass="entr" presetSubtype="1" fill="hold" grpId="0" nodeType="clickEffect">
                                  <p:stCondLst>
                                    <p:cond delay="0"/>
                                  </p:stCondLst>
                                  <p:childTnLst>
                                    <p:set>
                                      <p:cBhvr>
                                        <p:cTn id="105" dur="1" fill="hold">
                                          <p:stCondLst>
                                            <p:cond delay="0"/>
                                          </p:stCondLst>
                                        </p:cTn>
                                        <p:tgtEl>
                                          <p:spTgt spid="36"/>
                                        </p:tgtEl>
                                        <p:attrNameLst>
                                          <p:attrName>style.visibility</p:attrName>
                                        </p:attrNameLst>
                                      </p:cBhvr>
                                      <p:to>
                                        <p:strVal val="visible"/>
                                      </p:to>
                                    </p:set>
                                    <p:animEffect transition="in" filter="wipe(up)">
                                      <p:cBhvr>
                                        <p:cTn id="106" dur="600"/>
                                        <p:tgtEl>
                                          <p:spTgt spid="36"/>
                                        </p:tgtEl>
                                      </p:cBhvr>
                                    </p:animEffect>
                                  </p:childTnLst>
                                </p:cTn>
                              </p:par>
                            </p:childTnLst>
                          </p:cTn>
                        </p:par>
                        <p:par>
                          <p:cTn id="111" fill="hold">
                            <p:stCondLst>
                              <p:cond delay="600"/>
                            </p:stCondLst>
                            <p:childTnLst>
                              <p:par>
                                <p:cTn id="108" presetID="10" presetClass="entr" presetSubtype="0" fill="hold" grpId="0" nodeType="afterEffect">
                                  <p:stCondLst>
                                    <p:cond delay="0"/>
                                  </p:stCondLst>
                                  <p:childTnLst>
                                    <p:set>
                                      <p:cBhvr>
                                        <p:cTn id="109" dur="1" fill="hold">
                                          <p:stCondLst>
                                            <p:cond delay="0"/>
                                          </p:stCondLst>
                                        </p:cTn>
                                        <p:tgtEl>
                                          <p:spTgt spid="38"/>
                                        </p:tgtEl>
                                        <p:attrNameLst>
                                          <p:attrName>style.visibility</p:attrName>
                                        </p:attrNameLst>
                                      </p:cBhvr>
                                      <p:to>
                                        <p:strVal val="visible"/>
                                      </p:to>
                                    </p:set>
                                    <p:animEffect transition="in" filter="fade">
                                      <p:cBhvr>
                                        <p:cTn id="110" dur="500"/>
                                        <p:tgtEl>
                                          <p:spTgt spid="38"/>
                                        </p:tgtEl>
                                      </p:cBhvr>
                                    </p:animEffect>
                                  </p:childTnLst>
                                </p:cTn>
                              </p:par>
                            </p:childTnLst>
                          </p:cTn>
                        </p:par>
                      </p:childTnLst>
                    </p:cTn>
                  </p:par>
                  <p:par>
                    <p:cTn id="127" fill="hold">
                      <p:stCondLst>
                        <p:cond delay="indefinite"/>
                      </p:stCondLst>
                      <p:childTnLst>
                        <p:par>
                          <p:cTn id="116" fill="hold">
                            <p:stCondLst>
                              <p:cond delay="0"/>
                            </p:stCondLst>
                            <p:childTnLst>
                              <p:par>
                                <p:cTn id="113" presetID="22" presetClass="entr" presetSubtype="8" fill="hold" grpId="0" nodeType="clickEffect">
                                  <p:stCondLst>
                                    <p:cond delay="0"/>
                                  </p:stCondLst>
                                  <p:childTnLst>
                                    <p:set>
                                      <p:cBhvr>
                                        <p:cTn id="114" dur="1" fill="hold">
                                          <p:stCondLst>
                                            <p:cond delay="0"/>
                                          </p:stCondLst>
                                        </p:cTn>
                                        <p:tgtEl>
                                          <p:spTgt spid="43"/>
                                        </p:tgtEl>
                                        <p:attrNameLst>
                                          <p:attrName>style.visibility</p:attrName>
                                        </p:attrNameLst>
                                      </p:cBhvr>
                                      <p:to>
                                        <p:strVal val="visible"/>
                                      </p:to>
                                    </p:set>
                                    <p:animEffect transition="in" filter="wipe(left)">
                                      <p:cBhvr>
                                        <p:cTn id="115" dur="600"/>
                                        <p:tgtEl>
                                          <p:spTgt spid="43"/>
                                        </p:tgtEl>
                                      </p:cBhvr>
                                    </p:animEffect>
                                  </p:childTnLst>
                                </p:cTn>
                              </p:par>
                            </p:childTnLst>
                          </p:cTn>
                        </p:par>
                        <p:par>
                          <p:cTn id="120" fill="hold">
                            <p:stCondLst>
                              <p:cond delay="600"/>
                            </p:stCondLst>
                            <p:childTnLst>
                              <p:par>
                                <p:cTn id="117" presetID="10" presetClass="entr" presetSubtype="0" fill="hold" grpId="0" nodeType="afterEffect">
                                  <p:stCondLst>
                                    <p:cond delay="0"/>
                                  </p:stCondLst>
                                  <p:childTnLst>
                                    <p:set>
                                      <p:cBhvr>
                                        <p:cTn id="118" dur="1" fill="hold">
                                          <p:stCondLst>
                                            <p:cond delay="0"/>
                                          </p:stCondLst>
                                        </p:cTn>
                                        <p:tgtEl>
                                          <p:spTgt spid="44"/>
                                        </p:tgtEl>
                                        <p:attrNameLst>
                                          <p:attrName>style.visibility</p:attrName>
                                        </p:attrNameLst>
                                      </p:cBhvr>
                                      <p:to>
                                        <p:strVal val="visible"/>
                                      </p:to>
                                    </p:set>
                                    <p:animEffect transition="in" filter="fade">
                                      <p:cBhvr>
                                        <p:cTn id="119" dur="500"/>
                                        <p:tgtEl>
                                          <p:spTgt spid="44"/>
                                        </p:tgtEl>
                                      </p:cBhvr>
                                    </p:animEffect>
                                  </p:childTnLst>
                                </p:cTn>
                              </p:par>
                            </p:childTnLst>
                          </p:cTn>
                        </p:par>
                        <p:par>
                          <p:cTn id="126" fill="hold">
                            <p:stCondLst>
                              <p:cond delay="1100"/>
                            </p:stCondLst>
                            <p:childTnLst>
                              <p:par>
                                <p:cTn id="121" presetID="53" presetClass="entr" presetSubtype="16" fill="hold" grpId="0" nodeType="afterEffect">
                                  <p:stCondLst>
                                    <p:cond delay="0"/>
                                  </p:stCondLst>
                                  <p:childTnLst>
                                    <p:set>
                                      <p:cBhvr>
                                        <p:cTn id="122" dur="1" fill="hold">
                                          <p:stCondLst>
                                            <p:cond delay="0"/>
                                          </p:stCondLst>
                                        </p:cTn>
                                        <p:tgtEl>
                                          <p:spTgt spid="45"/>
                                        </p:tgtEl>
                                        <p:attrNameLst>
                                          <p:attrName>style.visibility</p:attrName>
                                        </p:attrNameLst>
                                      </p:cBhvr>
                                      <p:to>
                                        <p:strVal val="visible"/>
                                      </p:to>
                                    </p:set>
                                    <p:anim calcmode="lin" valueType="num">
                                      <p:cBhvr>
                                        <p:cTn id="123" dur="500" fill="hold"/>
                                        <p:tgtEl>
                                          <p:spTgt spid="45"/>
                                        </p:tgtEl>
                                        <p:attrNameLst>
                                          <p:attrName>ppt_w</p:attrName>
                                        </p:attrNameLst>
                                      </p:cBhvr>
                                      <p:tavLst>
                                        <p:tav tm="0">
                                          <p:val>
                                            <p:fltVal val="0"/>
                                          </p:val>
                                        </p:tav>
                                        <p:tav tm="100000">
                                          <p:val>
                                            <p:strVal val="#ppt_w"/>
                                          </p:val>
                                        </p:tav>
                                      </p:tavLst>
                                    </p:anim>
                                    <p:anim calcmode="lin" valueType="num">
                                      <p:cBhvr>
                                        <p:cTn id="124" dur="500" fill="hold"/>
                                        <p:tgtEl>
                                          <p:spTgt spid="45"/>
                                        </p:tgtEl>
                                        <p:attrNameLst>
                                          <p:attrName>ppt_h</p:attrName>
                                        </p:attrNameLst>
                                      </p:cBhvr>
                                      <p:tavLst>
                                        <p:tav tm="0">
                                          <p:val>
                                            <p:fltVal val="0"/>
                                          </p:val>
                                        </p:tav>
                                        <p:tav tm="100000">
                                          <p:val>
                                            <p:strVal val="#ppt_h"/>
                                          </p:val>
                                        </p:tav>
                                      </p:tavLst>
                                    </p:anim>
                                    <p:animEffect transition="in" filter="fade">
                                      <p:cBhvr>
                                        <p:cTn id="125" dur="500"/>
                                        <p:tgtEl>
                                          <p:spTgt spid="45"/>
                                        </p:tgtEl>
                                      </p:cBhvr>
                                    </p:animEffect>
                                  </p:childTnLst>
                                </p:cTn>
                              </p:par>
                            </p:childTnLst>
                          </p:cTn>
                        </p:par>
                      </p:childTnLst>
                    </p:cTn>
                  </p:par>
                  <p:par>
                    <p:cTn id="132" fill="hold">
                      <p:stCondLst>
                        <p:cond delay="indefinite"/>
                      </p:stCondLst>
                      <p:childTnLst>
                        <p:par>
                          <p:cTn id="131"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47"/>
                                        </p:tgtEl>
                                        <p:attrNameLst>
                                          <p:attrName>style.visibility</p:attrName>
                                        </p:attrNameLst>
                                      </p:cBhvr>
                                      <p:to>
                                        <p:strVal val="visible"/>
                                      </p:to>
                                    </p:set>
                                    <p:animEffect transition="in" filter="fade">
                                      <p:cBhvr>
                                        <p:cTn id="13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8" grpId="0" animBg="1"/>
      <p:bldP spid="11" grpId="0" animBg="1"/>
      <p:bldP spid="10" grpId="0" animBg="1"/>
      <p:bldP spid="12" grpId="0" animBg="1"/>
      <p:bldP spid="9" grpId="0" animBg="1"/>
      <p:bldP spid="14" grpId="0" animBg="1"/>
      <p:bldP spid="13" grpId="0" animBg="1"/>
      <p:bldP spid="39" grpId="0" animBg="1"/>
      <p:bldP spid="15" grpId="0" animBg="1"/>
      <p:bldP spid="19" grpId="0" animBg="1"/>
      <p:bldP spid="40" grpId="0" animBg="1"/>
      <p:bldP spid="23" grpId="0" animBg="1"/>
      <p:bldP spid="27" grpId="0" animBg="1"/>
      <p:bldP spid="41" grpId="0" animBg="1"/>
      <p:bldP spid="42" grpId="0" animBg="1"/>
      <p:bldP spid="31" grpId="0" animBg="1"/>
      <p:bldP spid="35" grpId="0" animBg="1"/>
      <p:bldP spid="38" grpId="0" animBg="1"/>
      <p:bldP spid="43" grpId="0" animBg="1"/>
      <p:bldP spid="44" grpId="0" animBg="1"/>
      <p:bldP spid="45" grpId="0" animBg="1"/>
    </p:bldLst>
  </p:timing>
</p:sld>
</file>

<file path=ppt/slides/slide67.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aphicFrame>
        <p:nvGraphicFramePr>
          <p:cNvPr id="4" name="Tabla recíproca"/>
          <p:cNvGraphicFramePr>
            <a:graphicFrameLocks noGrp="1"/>
          </p:cNvGraphicFramePr>
          <p:nvPr/>
        </p:nvGraphicFramePr>
        <p:xfrm>
          <a:off x="365760" y="1051560"/>
          <a:ext cx="11430000" cy="3429000"/>
        </p:xfrm>
        <a:graphic>
          <a:graphicData uri="http://schemas.openxmlformats.org/drawingml/2006/table">
            <a:tbl>
              <a:tblPr firstRow="1" bandRow="1"/>
              <a:tblGrid>
                <a:gridCol w="2011680"/>
                <a:gridCol w="3108960"/>
                <a:gridCol w="3108960"/>
                <a:gridCol w="3200400"/>
              </a:tblGrid>
              <a:tr h="6858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Punto de control</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Glucólisis (alimentado)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Gluconeogénesis (ayuno)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Señal</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685800">
                <a:tc>
                  <a:txBody>
                    <a:bodyPr/>
                    <a:lstStyle/>
                    <a:p>
                      <a:pPr algn="l">
                        <a:spcAft>
                          <a:spcPts val="100"/>
                        </a:spcAft>
                        <a:buNone/>
                      </a:pPr>
                      <a:r>
                        <a:rPr lang="es-AR" sz="1450" b="1" dirty="0">
                          <a:solidFill>
                            <a:srgbClr val="1E1E1E"/>
                          </a:solidFill>
                          <a:latin typeface="Bahnschrift"/>
                          <a:ea typeface="Bahnschrift"/>
                          <a:cs typeface="Bahnschrift"/>
                          <a:sym typeface="Bahnschrift"/>
                        </a:rPr>
                        <a:t>Glucosa ↔ G6P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Glucocinasa</a:t>
                      </a:r>
                      <a:r>
                        <a:rPr lang="es-AR" sz="1450" dirty="0">
                          <a:solidFill>
                            <a:srgbClr val="1E1E1E"/>
                          </a:solidFill>
                          <a:latin typeface="Bahnschrift"/>
                          <a:ea typeface="Bahnschrift"/>
                          <a:cs typeface="Bahnschrift"/>
                          <a:sym typeface="Bahnschrift"/>
                        </a:rPr>
                        <a:t> (GKRP)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Glucosa-6-fosfatasa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Insulina ↓ G6PC; FOXO1/CREB ↑ G6PC</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85800">
                <a:tc>
                  <a:txBody>
                    <a:bodyPr/>
                    <a:lstStyle/>
                    <a:p>
                      <a:pPr algn="l">
                        <a:spcAft>
                          <a:spcPts val="100"/>
                        </a:spcAft>
                        <a:buNone/>
                      </a:pPr>
                      <a:r>
                        <a:rPr lang="es-AR" sz="1450" b="1" dirty="0">
                          <a:solidFill>
                            <a:srgbClr val="1E1E1E"/>
                          </a:solidFill>
                          <a:latin typeface="Bahnschrift"/>
                          <a:ea typeface="Bahnschrift"/>
                          <a:cs typeface="Bahnschrift"/>
                          <a:sym typeface="Bahnschrift"/>
                        </a:rPr>
                        <a:t>F6P ↔ F1,6BP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PFK-1</a:t>
                      </a:r>
                      <a:r>
                        <a:rPr lang="es-AR" sz="1450" dirty="0">
                          <a:solidFill>
                            <a:srgbClr val="1E1E1E"/>
                          </a:solidFill>
                          <a:latin typeface="Bahnschrift"/>
                          <a:ea typeface="Bahnschrift"/>
                          <a:cs typeface="Bahnschrift"/>
                          <a:sym typeface="Bahnschrift"/>
                        </a:rPr>
                        <a:t> (+AMP, +F2,6BP; −ATP, −citrato)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FBPasa-1</a:t>
                      </a:r>
                      <a:r>
                        <a:rPr lang="es-AR" sz="1450" dirty="0">
                          <a:solidFill>
                            <a:srgbClr val="1E1E1E"/>
                          </a:solidFill>
                          <a:latin typeface="Bahnschrift"/>
                          <a:ea typeface="Bahnschrift"/>
                          <a:cs typeface="Bahnschrift"/>
                          <a:sym typeface="Bahnschrift"/>
                        </a:rPr>
                        <a:t> (−F2,6BP, −AMP)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PFK-2/FBPasa-2: PKA ↓ F2,6BP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85800">
                <a:tc>
                  <a:txBody>
                    <a:bodyPr/>
                    <a:lstStyle/>
                    <a:p>
                      <a:pPr algn="l">
                        <a:spcAft>
                          <a:spcPts val="100"/>
                        </a:spcAft>
                        <a:buNone/>
                      </a:pPr>
                      <a:r>
                        <a:rPr lang="es-AR" sz="1450" b="1" dirty="0">
                          <a:solidFill>
                            <a:srgbClr val="1E1E1E"/>
                          </a:solidFill>
                          <a:latin typeface="Bahnschrift"/>
                          <a:ea typeface="Bahnschrift"/>
                          <a:cs typeface="Bahnschrift"/>
                          <a:sym typeface="Bahnschrift"/>
                        </a:rPr>
                        <a:t>PEP ↔ piruvato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Piruvato cinasa L</a:t>
                      </a:r>
                      <a:r>
                        <a:rPr lang="es-AR" sz="1450" dirty="0">
                          <a:solidFill>
                            <a:srgbClr val="1E1E1E"/>
                          </a:solidFill>
                          <a:latin typeface="Bahnschrift"/>
                          <a:ea typeface="Bahnschrift"/>
                          <a:cs typeface="Bahnschrift"/>
                          <a:sym typeface="Bahnschrift"/>
                        </a:rPr>
                        <a:t> (desfosforilada)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PC</a:t>
                      </a:r>
                      <a:r>
                        <a:rPr lang="es-AR" sz="1450" dirty="0">
                          <a:solidFill>
                            <a:srgbClr val="1E1E1E"/>
                          </a:solidFill>
                          <a:latin typeface="Bahnschrift"/>
                          <a:ea typeface="Bahnschrift"/>
                          <a:cs typeface="Bahnschrift"/>
                          <a:sym typeface="Bahnschrift"/>
                        </a:rPr>
                        <a:t> (+acetil-CoA) + </a:t>
                      </a:r>
                      <a:r>
                        <a:rPr lang="es-AR" sz="1450" b="1" dirty="0">
                          <a:solidFill>
                            <a:srgbClr val="1E1E1E"/>
                          </a:solidFill>
                          <a:latin typeface="Bahnschrift"/>
                          <a:ea typeface="Bahnschrift"/>
                          <a:cs typeface="Bahnschrift"/>
                          <a:sym typeface="Bahnschrift"/>
                        </a:rPr>
                        <a:t>PEPCK</a:t>
                      </a:r>
                      <a:r>
                        <a:rPr lang="es-AR" sz="1450" dirty="0">
                          <a:solidFill>
                            <a:srgbClr val="1E1E1E"/>
                          </a:solidFill>
                          <a:latin typeface="Bahnschrift"/>
                          <a:ea typeface="Bahnschrift"/>
                          <a:cs typeface="Bahnschrift"/>
                          <a:sym typeface="Bahnschrift"/>
                        </a:rPr>
                        <a:t> (inducible)</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PKA inactiva PK-L; CREB ↑ PCK1</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85800">
                <a:tc>
                  <a:txBody>
                    <a:bodyPr/>
                    <a:lstStyle/>
                    <a:p>
                      <a:pPr algn="l">
                        <a:spcAft>
                          <a:spcPts val="100"/>
                        </a:spcAft>
                        <a:buNone/>
                      </a:pPr>
                      <a:r>
                        <a:rPr lang="es-AR" sz="1450" b="1" dirty="0">
                          <a:solidFill>
                            <a:srgbClr val="1E1E1E"/>
                          </a:solidFill>
                          <a:latin typeface="Bahnschrift"/>
                          <a:ea typeface="Bahnschrift"/>
                          <a:cs typeface="Bahnschrift"/>
                          <a:sym typeface="Bahnschrift"/>
                        </a:rPr>
                        <a:t>Piruvato → acetil-CoA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PDH</a:t>
                      </a:r>
                      <a:r>
                        <a:rPr lang="es-AR" sz="1450" dirty="0">
                          <a:solidFill>
                            <a:srgbClr val="1E1E1E"/>
                          </a:solidFill>
                          <a:latin typeface="Bahnschrift"/>
                          <a:ea typeface="Bahnschrift"/>
                          <a:cs typeface="Bahnschrift"/>
                          <a:sym typeface="Bahnschrift"/>
                        </a:rPr>
                        <a:t> activa (desfosforilada)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PDH inhibida (PDK; acetil-CoA, NADH)</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Ayuno: ↑ PDK</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grpSp>
        <p:nvGrpSpPr>
          <p:cNvPr id="5" name="Interruptor F2,6BP"/>
          <p:cNvGrpSpPr/>
          <p:nvPr/>
        </p:nvGrpSpPr>
        <p:grpSpPr>
          <a:xfrm>
            <a:off x="365760" y="4709160"/>
            <a:ext cx="11430000" cy="1463040"/>
            <a:chOff x="365760" y="4709160"/>
            <a:chExt cx="11430000" cy="1463040"/>
          </a:xfrm>
        </p:grpSpPr>
        <p:sp>
          <p:nvSpPr>
            <p:cNvPr id="6" name="Forma 5"/>
            <p:cNvSpPr/>
            <p:nvPr/>
          </p:nvSpPr>
          <p:spPr>
            <a:xfrm>
              <a:off x="365760" y="4709160"/>
              <a:ext cx="11430000" cy="14630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 name="Forma 6"/>
            <p:cNvSpPr/>
            <p:nvPr/>
          </p:nvSpPr>
          <p:spPr>
            <a:xfrm>
              <a:off x="548640" y="4892040"/>
              <a:ext cx="1080368" cy="45720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F2,6BP alta</a:t>
              </a:r>
              <a:endParaRPr lang="es-AR" sz="1500" dirty="0">
                <a:latin typeface="Bahnschrift SemiBold Condensed"/>
              </a:endParaRPr>
            </a:p>
          </p:txBody>
        </p:sp>
        <p:sp>
          <p:nvSpPr>
            <p:cNvPr id="8" name="Forma 7"/>
            <p:cNvSpPr txBox="1"/>
            <p:nvPr/>
          </p:nvSpPr>
          <p:spPr>
            <a:xfrm>
              <a:off x="2148840" y="4846320"/>
              <a:ext cx="3657600" cy="5486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PFK-1 ↑ · FBPasa-1 ↓ → </a:t>
              </a:r>
              <a:r>
                <a:rPr lang="es-AR" sz="1400" b="1" dirty="0">
                  <a:solidFill>
                    <a:srgbClr val="1E1E1E"/>
                  </a:solidFill>
                  <a:latin typeface="Bahnschrift"/>
                  <a:ea typeface="Bahnschrift"/>
                  <a:cs typeface="Bahnschrift"/>
                  <a:sym typeface="Bahnschrift"/>
                </a:rPr>
                <a:t>glucólisis</a:t>
              </a:r>
              <a:endParaRPr lang="es-AR" sz="1400" dirty="0">
                <a:latin typeface="Bahnschrift"/>
              </a:endParaRPr>
            </a:p>
          </p:txBody>
        </p:sp>
        <p:sp>
          <p:nvSpPr>
            <p:cNvPr id="9" name="Forma 8"/>
            <p:cNvSpPr/>
            <p:nvPr/>
          </p:nvSpPr>
          <p:spPr>
            <a:xfrm>
              <a:off x="6035040" y="4892040"/>
              <a:ext cx="1112600" cy="457200"/>
            </a:xfrm>
            <a:prstGeom prst="rect">
              <a:avLst/>
            </a:prstGeom>
            <a:solidFill>
              <a:srgbClr val="D5D8DC"/>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F2,6BP baja</a:t>
              </a:r>
              <a:endParaRPr lang="es-AR" sz="1500" dirty="0">
                <a:latin typeface="Bahnschrift SemiBold Condensed"/>
              </a:endParaRPr>
            </a:p>
          </p:txBody>
        </p:sp>
        <p:sp>
          <p:nvSpPr>
            <p:cNvPr id="10" name="Forma 9"/>
            <p:cNvSpPr txBox="1"/>
            <p:nvPr/>
          </p:nvSpPr>
          <p:spPr>
            <a:xfrm>
              <a:off x="7635240" y="4846320"/>
              <a:ext cx="4114800" cy="54864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PFK-1 ↓ · FBPasa-1 ↑ → </a:t>
              </a:r>
              <a:r>
                <a:rPr lang="es-AR" sz="1400" b="1" dirty="0">
                  <a:solidFill>
                    <a:srgbClr val="1E1E1E"/>
                  </a:solidFill>
                  <a:latin typeface="Bahnschrift"/>
                  <a:ea typeface="Bahnschrift"/>
                  <a:cs typeface="Bahnschrift"/>
                  <a:sym typeface="Bahnschrift"/>
                </a:rPr>
                <a:t>gluconeogénesis</a:t>
              </a:r>
              <a:endParaRPr lang="es-AR" sz="1400" dirty="0">
                <a:latin typeface="Bahnschrift"/>
              </a:endParaRPr>
            </a:p>
          </p:txBody>
        </p:sp>
        <p:sp>
          <p:nvSpPr>
            <p:cNvPr id="11" name="Forma 10"/>
            <p:cNvSpPr txBox="1"/>
            <p:nvPr/>
          </p:nvSpPr>
          <p:spPr>
            <a:xfrm>
              <a:off x="548640" y="5486400"/>
              <a:ext cx="11064240" cy="54864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La enzima bifuncional </a:t>
              </a:r>
              <a:r>
                <a:rPr lang="es-AR" sz="1350" b="1" dirty="0">
                  <a:solidFill>
                    <a:srgbClr val="1E1E1E"/>
                  </a:solidFill>
                  <a:latin typeface="Bahnschrift"/>
                  <a:ea typeface="Bahnschrift"/>
                  <a:cs typeface="Bahnschrift"/>
                  <a:sym typeface="Bahnschrift"/>
                </a:rPr>
                <a:t>PFK-2/FBPasa-2 hepática</a:t>
              </a:r>
              <a:r>
                <a:rPr lang="es-AR" sz="1350" dirty="0">
                  <a:solidFill>
                    <a:srgbClr val="1E1E1E"/>
                  </a:solidFill>
                  <a:latin typeface="Bahnschrift"/>
                  <a:ea typeface="Bahnschrift"/>
                  <a:cs typeface="Bahnschrift"/>
                  <a:sym typeface="Bahnschrift"/>
                </a:rPr>
                <a:t> decide: insulina → desfosforilada (PFK-2 activa); glucagón–PKA → fosforilada (FBPasa-2 activa).</a:t>
              </a:r>
              <a:endParaRPr lang="es-AR" sz="1350" dirty="0">
                <a:latin typeface="Bahnschrift"/>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24237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8 · GLUCÓLISIS Y GLUCONEOGÉNESIS: REGULACIÓN RECÍPROCA</a:t>
            </a:r>
            <a:endParaRPr lang="es-AR" sz="2600" dirty="0">
              <a:latin typeface="Bahnschrift SemiBold Condensed"/>
            </a:endParaRPr>
          </a:p>
        </p:txBody>
      </p:sp>
      <p:sp>
        <p:nvSpPr>
          <p:cNvPr id="1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Músculo ayuno"/>
          <p:cNvGrpSpPr/>
          <p:nvPr/>
        </p:nvGrpSpPr>
        <p:grpSpPr>
          <a:xfrm>
            <a:off x="365760" y="1051560"/>
            <a:ext cx="4206240" cy="1379647"/>
            <a:chOff x="365760" y="1051560"/>
            <a:chExt cx="4206240" cy="1379647"/>
          </a:xfrm>
        </p:grpSpPr>
        <p:grpSp>
          <p:nvGrpSpPr>
            <p:cNvPr id="5" name="Fibra"/>
            <p:cNvGrpSpPr/>
            <p:nvPr/>
          </p:nvGrpSpPr>
          <p:grpSpPr>
            <a:xfrm>
              <a:off x="365760" y="1051560"/>
              <a:ext cx="4037990" cy="672998"/>
              <a:chOff x="365760" y="1051560"/>
              <a:chExt cx="4037990" cy="672998"/>
            </a:xfrm>
          </p:grpSpPr>
          <p:sp>
            <p:nvSpPr>
              <p:cNvPr id="6" name="Forma 5"/>
              <p:cNvSpPr/>
              <p:nvPr/>
            </p:nvSpPr>
            <p:spPr>
              <a:xfrm>
                <a:off x="365760" y="1051560"/>
                <a:ext cx="4037990" cy="672998"/>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534010" y="1051560"/>
                <a:ext cx="3701491" cy="672998"/>
              </a:xfrm>
              <a:custGeom>
                <a:avLst/>
                <a:gdLst/>
                <a:ahLst/>
                <a:cxnLst/>
                <a:rect l="0" t="0" r="r" b="b"/>
                <a:pathLst>
                  <a:path w="1000" h="1000" fill="none">
                    <a:moveTo>
                      <a:pt x="10" y="80"/>
                    </a:moveTo>
                    <a:lnTo>
                      <a:pt x="10" y="920"/>
                    </a:lnTo>
                  </a:path>
                  <a:path w="1000" h="1000" fill="none">
                    <a:moveTo>
                      <a:pt x="30" y="80"/>
                    </a:moveTo>
                    <a:lnTo>
                      <a:pt x="30" y="920"/>
                    </a:lnTo>
                  </a:path>
                  <a:path w="1000" h="1000" fill="none">
                    <a:moveTo>
                      <a:pt x="51" y="80"/>
                    </a:moveTo>
                    <a:lnTo>
                      <a:pt x="51" y="920"/>
                    </a:lnTo>
                  </a:path>
                  <a:path w="1000" h="1000" fill="none">
                    <a:moveTo>
                      <a:pt x="71" y="80"/>
                    </a:moveTo>
                    <a:lnTo>
                      <a:pt x="71" y="920"/>
                    </a:lnTo>
                  </a:path>
                  <a:path w="1000" h="1000" fill="none">
                    <a:moveTo>
                      <a:pt x="91" y="80"/>
                    </a:moveTo>
                    <a:lnTo>
                      <a:pt x="91" y="920"/>
                    </a:lnTo>
                  </a:path>
                  <a:path w="1000" h="1000" fill="none">
                    <a:moveTo>
                      <a:pt x="112" y="80"/>
                    </a:moveTo>
                    <a:lnTo>
                      <a:pt x="112" y="920"/>
                    </a:lnTo>
                  </a:path>
                  <a:path w="1000" h="1000" fill="none">
                    <a:moveTo>
                      <a:pt x="132" y="80"/>
                    </a:moveTo>
                    <a:lnTo>
                      <a:pt x="132" y="920"/>
                    </a:lnTo>
                  </a:path>
                  <a:path w="1000" h="1000" fill="none">
                    <a:moveTo>
                      <a:pt x="153" y="80"/>
                    </a:moveTo>
                    <a:lnTo>
                      <a:pt x="153" y="920"/>
                    </a:lnTo>
                  </a:path>
                  <a:path w="1000" h="1000" fill="none">
                    <a:moveTo>
                      <a:pt x="173" y="80"/>
                    </a:moveTo>
                    <a:lnTo>
                      <a:pt x="173" y="920"/>
                    </a:lnTo>
                  </a:path>
                  <a:path w="1000" h="1000" fill="none">
                    <a:moveTo>
                      <a:pt x="193" y="80"/>
                    </a:moveTo>
                    <a:lnTo>
                      <a:pt x="193" y="920"/>
                    </a:lnTo>
                  </a:path>
                  <a:path w="1000" h="1000" fill="none">
                    <a:moveTo>
                      <a:pt x="214" y="80"/>
                    </a:moveTo>
                    <a:lnTo>
                      <a:pt x="214" y="920"/>
                    </a:lnTo>
                  </a:path>
                  <a:path w="1000" h="1000" fill="none">
                    <a:moveTo>
                      <a:pt x="234" y="80"/>
                    </a:moveTo>
                    <a:lnTo>
                      <a:pt x="234" y="920"/>
                    </a:lnTo>
                  </a:path>
                  <a:path w="1000" h="1000" fill="none">
                    <a:moveTo>
                      <a:pt x="255" y="80"/>
                    </a:moveTo>
                    <a:lnTo>
                      <a:pt x="255" y="920"/>
                    </a:lnTo>
                  </a:path>
                  <a:path w="1000" h="1000" fill="none">
                    <a:moveTo>
                      <a:pt x="275" y="80"/>
                    </a:moveTo>
                    <a:lnTo>
                      <a:pt x="275" y="920"/>
                    </a:lnTo>
                  </a:path>
                  <a:path w="1000" h="1000" fill="none">
                    <a:moveTo>
                      <a:pt x="295" y="80"/>
                    </a:moveTo>
                    <a:lnTo>
                      <a:pt x="295" y="920"/>
                    </a:lnTo>
                  </a:path>
                  <a:path w="1000" h="1000" fill="none">
                    <a:moveTo>
                      <a:pt x="316" y="80"/>
                    </a:moveTo>
                    <a:lnTo>
                      <a:pt x="316" y="920"/>
                    </a:lnTo>
                  </a:path>
                  <a:path w="1000" h="1000" fill="none">
                    <a:moveTo>
                      <a:pt x="336" y="80"/>
                    </a:moveTo>
                    <a:lnTo>
                      <a:pt x="336" y="920"/>
                    </a:lnTo>
                  </a:path>
                  <a:path w="1000" h="1000" fill="none">
                    <a:moveTo>
                      <a:pt x="357" y="80"/>
                    </a:moveTo>
                    <a:lnTo>
                      <a:pt x="357" y="920"/>
                    </a:lnTo>
                  </a:path>
                  <a:path w="1000" h="1000" fill="none">
                    <a:moveTo>
                      <a:pt x="377" y="80"/>
                    </a:moveTo>
                    <a:lnTo>
                      <a:pt x="377" y="920"/>
                    </a:lnTo>
                  </a:path>
                  <a:path w="1000" h="1000" fill="none">
                    <a:moveTo>
                      <a:pt x="397" y="80"/>
                    </a:moveTo>
                    <a:lnTo>
                      <a:pt x="397" y="920"/>
                    </a:lnTo>
                  </a:path>
                  <a:path w="1000" h="1000" fill="none">
                    <a:moveTo>
                      <a:pt x="418" y="80"/>
                    </a:moveTo>
                    <a:lnTo>
                      <a:pt x="418" y="920"/>
                    </a:lnTo>
                  </a:path>
                  <a:path w="1000" h="1000" fill="none">
                    <a:moveTo>
                      <a:pt x="438" y="80"/>
                    </a:moveTo>
                    <a:lnTo>
                      <a:pt x="438" y="920"/>
                    </a:lnTo>
                  </a:path>
                  <a:path w="1000" h="1000" fill="none">
                    <a:moveTo>
                      <a:pt x="459" y="80"/>
                    </a:moveTo>
                    <a:lnTo>
                      <a:pt x="459" y="920"/>
                    </a:lnTo>
                  </a:path>
                  <a:path w="1000" h="1000" fill="none">
                    <a:moveTo>
                      <a:pt x="479" y="80"/>
                    </a:moveTo>
                    <a:lnTo>
                      <a:pt x="479" y="920"/>
                    </a:lnTo>
                  </a:path>
                  <a:path w="1000" h="1000" fill="none">
                    <a:moveTo>
                      <a:pt x="500" y="80"/>
                    </a:moveTo>
                    <a:lnTo>
                      <a:pt x="500" y="920"/>
                    </a:lnTo>
                  </a:path>
                  <a:path w="1000" h="1000" fill="none">
                    <a:moveTo>
                      <a:pt x="520" y="80"/>
                    </a:moveTo>
                    <a:lnTo>
                      <a:pt x="520" y="920"/>
                    </a:lnTo>
                  </a:path>
                  <a:path w="1000" h="1000" fill="none">
                    <a:moveTo>
                      <a:pt x="540" y="80"/>
                    </a:moveTo>
                    <a:lnTo>
                      <a:pt x="540" y="920"/>
                    </a:lnTo>
                  </a:path>
                  <a:path w="1000" h="1000" fill="none">
                    <a:moveTo>
                      <a:pt x="561" y="80"/>
                    </a:moveTo>
                    <a:lnTo>
                      <a:pt x="561" y="920"/>
                    </a:lnTo>
                  </a:path>
                  <a:path w="1000" h="1000" fill="none">
                    <a:moveTo>
                      <a:pt x="581" y="80"/>
                    </a:moveTo>
                    <a:lnTo>
                      <a:pt x="581" y="920"/>
                    </a:lnTo>
                  </a:path>
                  <a:path w="1000" h="1000" fill="none">
                    <a:moveTo>
                      <a:pt x="602" y="80"/>
                    </a:moveTo>
                    <a:lnTo>
                      <a:pt x="602" y="920"/>
                    </a:lnTo>
                  </a:path>
                  <a:path w="1000" h="1000" fill="none">
                    <a:moveTo>
                      <a:pt x="622" y="80"/>
                    </a:moveTo>
                    <a:lnTo>
                      <a:pt x="622" y="920"/>
                    </a:lnTo>
                  </a:path>
                  <a:path w="1000" h="1000" fill="none">
                    <a:moveTo>
                      <a:pt x="642" y="80"/>
                    </a:moveTo>
                    <a:lnTo>
                      <a:pt x="642" y="920"/>
                    </a:lnTo>
                  </a:path>
                  <a:path w="1000" h="1000" fill="none">
                    <a:moveTo>
                      <a:pt x="663" y="80"/>
                    </a:moveTo>
                    <a:lnTo>
                      <a:pt x="663" y="920"/>
                    </a:lnTo>
                  </a:path>
                  <a:path w="1000" h="1000" fill="none">
                    <a:moveTo>
                      <a:pt x="683" y="80"/>
                    </a:moveTo>
                    <a:lnTo>
                      <a:pt x="683" y="920"/>
                    </a:lnTo>
                  </a:path>
                  <a:path w="1000" h="1000" fill="none">
                    <a:moveTo>
                      <a:pt x="704" y="80"/>
                    </a:moveTo>
                    <a:lnTo>
                      <a:pt x="704" y="920"/>
                    </a:lnTo>
                  </a:path>
                  <a:path w="1000" h="1000" fill="none">
                    <a:moveTo>
                      <a:pt x="724" y="80"/>
                    </a:moveTo>
                    <a:lnTo>
                      <a:pt x="724" y="920"/>
                    </a:lnTo>
                  </a:path>
                  <a:path w="1000" h="1000" fill="none">
                    <a:moveTo>
                      <a:pt x="744" y="80"/>
                    </a:moveTo>
                    <a:lnTo>
                      <a:pt x="744" y="920"/>
                    </a:lnTo>
                  </a:path>
                  <a:path w="1000" h="1000" fill="none">
                    <a:moveTo>
                      <a:pt x="765" y="80"/>
                    </a:moveTo>
                    <a:lnTo>
                      <a:pt x="765" y="920"/>
                    </a:lnTo>
                  </a:path>
                  <a:path w="1000" h="1000" fill="none">
                    <a:moveTo>
                      <a:pt x="785" y="80"/>
                    </a:moveTo>
                    <a:lnTo>
                      <a:pt x="785" y="920"/>
                    </a:lnTo>
                  </a:path>
                  <a:path w="1000" h="1000" fill="none">
                    <a:moveTo>
                      <a:pt x="806" y="80"/>
                    </a:moveTo>
                    <a:lnTo>
                      <a:pt x="806" y="920"/>
                    </a:lnTo>
                  </a:path>
                  <a:path w="1000" h="1000" fill="none">
                    <a:moveTo>
                      <a:pt x="826" y="80"/>
                    </a:moveTo>
                    <a:lnTo>
                      <a:pt x="826" y="920"/>
                    </a:lnTo>
                  </a:path>
                  <a:path w="1000" h="1000" fill="none">
                    <a:moveTo>
                      <a:pt x="846" y="80"/>
                    </a:moveTo>
                    <a:lnTo>
                      <a:pt x="846" y="920"/>
                    </a:lnTo>
                  </a:path>
                  <a:path w="1000" h="1000" fill="none">
                    <a:moveTo>
                      <a:pt x="867" y="80"/>
                    </a:moveTo>
                    <a:lnTo>
                      <a:pt x="867" y="920"/>
                    </a:lnTo>
                  </a:path>
                  <a:path w="1000" h="1000" fill="none">
                    <a:moveTo>
                      <a:pt x="887" y="80"/>
                    </a:moveTo>
                    <a:lnTo>
                      <a:pt x="887" y="920"/>
                    </a:lnTo>
                  </a:path>
                  <a:path w="1000" h="1000" fill="none">
                    <a:moveTo>
                      <a:pt x="908" y="80"/>
                    </a:moveTo>
                    <a:lnTo>
                      <a:pt x="908" y="920"/>
                    </a:lnTo>
                  </a:path>
                  <a:path w="1000" h="1000" fill="none">
                    <a:moveTo>
                      <a:pt x="928" y="80"/>
                    </a:moveTo>
                    <a:lnTo>
                      <a:pt x="928" y="920"/>
                    </a:lnTo>
                  </a:path>
                  <a:path w="1000" h="1000" fill="none">
                    <a:moveTo>
                      <a:pt x="948" y="80"/>
                    </a:moveTo>
                    <a:lnTo>
                      <a:pt x="948" y="920"/>
                    </a:lnTo>
                  </a:path>
                  <a:path w="1000" h="1000" fill="none">
                    <a:moveTo>
                      <a:pt x="969" y="80"/>
                    </a:moveTo>
                    <a:lnTo>
                      <a:pt x="969" y="920"/>
                    </a:lnTo>
                  </a:path>
                  <a:path w="1000" h="1000" fill="none">
                    <a:moveTo>
                      <a:pt x="989" y="80"/>
                    </a:moveTo>
                    <a:lnTo>
                      <a:pt x="989" y="920"/>
                    </a:lnTo>
                  </a:path>
                </a:pathLst>
              </a:custGeom>
              <a:noFill/>
              <a:ln w="12700" cap="rnd">
                <a:solidFill>
                  <a:srgbClr val="822E27"/>
                </a:solidFill>
                <a:round/>
              </a:ln>
            </p:spPr>
          </p:sp>
          <p:sp>
            <p:nvSpPr>
              <p:cNvPr id="8" name="Forma 7"/>
              <p:cNvSpPr/>
              <p:nvPr/>
            </p:nvSpPr>
            <p:spPr>
              <a:xfrm>
                <a:off x="1173358" y="1078480"/>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2586655" y="1078480"/>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3798052" y="1078480"/>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4121091" y="1078480"/>
                <a:ext cx="269199" cy="6191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534010" y="1758208"/>
              <a:ext cx="4037990" cy="672998"/>
              <a:chOff x="534010" y="1758208"/>
              <a:chExt cx="4037990" cy="672998"/>
            </a:xfrm>
          </p:grpSpPr>
          <p:sp>
            <p:nvSpPr>
              <p:cNvPr id="13" name="Forma 12"/>
              <p:cNvSpPr/>
              <p:nvPr/>
            </p:nvSpPr>
            <p:spPr>
              <a:xfrm>
                <a:off x="534010" y="1758208"/>
                <a:ext cx="4037990" cy="672998"/>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702259" y="1758208"/>
                <a:ext cx="3701491" cy="672998"/>
              </a:xfrm>
              <a:custGeom>
                <a:avLst/>
                <a:gdLst/>
                <a:ahLst/>
                <a:cxnLst/>
                <a:rect l="0" t="0" r="r" b="b"/>
                <a:pathLst>
                  <a:path w="1000" h="1000" fill="none">
                    <a:moveTo>
                      <a:pt x="10" y="80"/>
                    </a:moveTo>
                    <a:lnTo>
                      <a:pt x="10" y="920"/>
                    </a:lnTo>
                  </a:path>
                  <a:path w="1000" h="1000" fill="none">
                    <a:moveTo>
                      <a:pt x="30" y="80"/>
                    </a:moveTo>
                    <a:lnTo>
                      <a:pt x="30" y="920"/>
                    </a:lnTo>
                  </a:path>
                  <a:path w="1000" h="1000" fill="none">
                    <a:moveTo>
                      <a:pt x="51" y="80"/>
                    </a:moveTo>
                    <a:lnTo>
                      <a:pt x="51" y="920"/>
                    </a:lnTo>
                  </a:path>
                  <a:path w="1000" h="1000" fill="none">
                    <a:moveTo>
                      <a:pt x="71" y="80"/>
                    </a:moveTo>
                    <a:lnTo>
                      <a:pt x="71" y="920"/>
                    </a:lnTo>
                  </a:path>
                  <a:path w="1000" h="1000" fill="none">
                    <a:moveTo>
                      <a:pt x="91" y="80"/>
                    </a:moveTo>
                    <a:lnTo>
                      <a:pt x="91" y="920"/>
                    </a:lnTo>
                  </a:path>
                  <a:path w="1000" h="1000" fill="none">
                    <a:moveTo>
                      <a:pt x="112" y="80"/>
                    </a:moveTo>
                    <a:lnTo>
                      <a:pt x="112" y="920"/>
                    </a:lnTo>
                  </a:path>
                  <a:path w="1000" h="1000" fill="none">
                    <a:moveTo>
                      <a:pt x="132" y="80"/>
                    </a:moveTo>
                    <a:lnTo>
                      <a:pt x="132" y="920"/>
                    </a:lnTo>
                  </a:path>
                  <a:path w="1000" h="1000" fill="none">
                    <a:moveTo>
                      <a:pt x="153" y="80"/>
                    </a:moveTo>
                    <a:lnTo>
                      <a:pt x="153" y="920"/>
                    </a:lnTo>
                  </a:path>
                  <a:path w="1000" h="1000" fill="none">
                    <a:moveTo>
                      <a:pt x="173" y="80"/>
                    </a:moveTo>
                    <a:lnTo>
                      <a:pt x="173" y="920"/>
                    </a:lnTo>
                  </a:path>
                  <a:path w="1000" h="1000" fill="none">
                    <a:moveTo>
                      <a:pt x="193" y="80"/>
                    </a:moveTo>
                    <a:lnTo>
                      <a:pt x="193" y="920"/>
                    </a:lnTo>
                  </a:path>
                  <a:path w="1000" h="1000" fill="none">
                    <a:moveTo>
                      <a:pt x="214" y="80"/>
                    </a:moveTo>
                    <a:lnTo>
                      <a:pt x="214" y="920"/>
                    </a:lnTo>
                  </a:path>
                  <a:path w="1000" h="1000" fill="none">
                    <a:moveTo>
                      <a:pt x="234" y="80"/>
                    </a:moveTo>
                    <a:lnTo>
                      <a:pt x="234" y="920"/>
                    </a:lnTo>
                  </a:path>
                  <a:path w="1000" h="1000" fill="none">
                    <a:moveTo>
                      <a:pt x="255" y="80"/>
                    </a:moveTo>
                    <a:lnTo>
                      <a:pt x="255" y="920"/>
                    </a:lnTo>
                  </a:path>
                  <a:path w="1000" h="1000" fill="none">
                    <a:moveTo>
                      <a:pt x="275" y="80"/>
                    </a:moveTo>
                    <a:lnTo>
                      <a:pt x="275" y="920"/>
                    </a:lnTo>
                  </a:path>
                  <a:path w="1000" h="1000" fill="none">
                    <a:moveTo>
                      <a:pt x="295" y="80"/>
                    </a:moveTo>
                    <a:lnTo>
                      <a:pt x="295" y="920"/>
                    </a:lnTo>
                  </a:path>
                  <a:path w="1000" h="1000" fill="none">
                    <a:moveTo>
                      <a:pt x="316" y="80"/>
                    </a:moveTo>
                    <a:lnTo>
                      <a:pt x="316" y="920"/>
                    </a:lnTo>
                  </a:path>
                  <a:path w="1000" h="1000" fill="none">
                    <a:moveTo>
                      <a:pt x="336" y="80"/>
                    </a:moveTo>
                    <a:lnTo>
                      <a:pt x="336" y="920"/>
                    </a:lnTo>
                  </a:path>
                  <a:path w="1000" h="1000" fill="none">
                    <a:moveTo>
                      <a:pt x="357" y="80"/>
                    </a:moveTo>
                    <a:lnTo>
                      <a:pt x="357" y="920"/>
                    </a:lnTo>
                  </a:path>
                  <a:path w="1000" h="1000" fill="none">
                    <a:moveTo>
                      <a:pt x="377" y="80"/>
                    </a:moveTo>
                    <a:lnTo>
                      <a:pt x="377" y="920"/>
                    </a:lnTo>
                  </a:path>
                  <a:path w="1000" h="1000" fill="none">
                    <a:moveTo>
                      <a:pt x="397" y="80"/>
                    </a:moveTo>
                    <a:lnTo>
                      <a:pt x="397" y="920"/>
                    </a:lnTo>
                  </a:path>
                  <a:path w="1000" h="1000" fill="none">
                    <a:moveTo>
                      <a:pt x="418" y="80"/>
                    </a:moveTo>
                    <a:lnTo>
                      <a:pt x="418" y="920"/>
                    </a:lnTo>
                  </a:path>
                  <a:path w="1000" h="1000" fill="none">
                    <a:moveTo>
                      <a:pt x="438" y="80"/>
                    </a:moveTo>
                    <a:lnTo>
                      <a:pt x="438" y="920"/>
                    </a:lnTo>
                  </a:path>
                  <a:path w="1000" h="1000" fill="none">
                    <a:moveTo>
                      <a:pt x="459" y="80"/>
                    </a:moveTo>
                    <a:lnTo>
                      <a:pt x="459" y="920"/>
                    </a:lnTo>
                  </a:path>
                  <a:path w="1000" h="1000" fill="none">
                    <a:moveTo>
                      <a:pt x="479" y="80"/>
                    </a:moveTo>
                    <a:lnTo>
                      <a:pt x="479" y="920"/>
                    </a:lnTo>
                  </a:path>
                  <a:path w="1000" h="1000" fill="none">
                    <a:moveTo>
                      <a:pt x="500" y="80"/>
                    </a:moveTo>
                    <a:lnTo>
                      <a:pt x="500" y="920"/>
                    </a:lnTo>
                  </a:path>
                  <a:path w="1000" h="1000" fill="none">
                    <a:moveTo>
                      <a:pt x="520" y="80"/>
                    </a:moveTo>
                    <a:lnTo>
                      <a:pt x="520" y="920"/>
                    </a:lnTo>
                  </a:path>
                  <a:path w="1000" h="1000" fill="none">
                    <a:moveTo>
                      <a:pt x="540" y="80"/>
                    </a:moveTo>
                    <a:lnTo>
                      <a:pt x="540" y="920"/>
                    </a:lnTo>
                  </a:path>
                  <a:path w="1000" h="1000" fill="none">
                    <a:moveTo>
                      <a:pt x="561" y="80"/>
                    </a:moveTo>
                    <a:lnTo>
                      <a:pt x="561" y="920"/>
                    </a:lnTo>
                  </a:path>
                  <a:path w="1000" h="1000" fill="none">
                    <a:moveTo>
                      <a:pt x="581" y="80"/>
                    </a:moveTo>
                    <a:lnTo>
                      <a:pt x="581" y="920"/>
                    </a:lnTo>
                  </a:path>
                  <a:path w="1000" h="1000" fill="none">
                    <a:moveTo>
                      <a:pt x="602" y="80"/>
                    </a:moveTo>
                    <a:lnTo>
                      <a:pt x="602" y="920"/>
                    </a:lnTo>
                  </a:path>
                  <a:path w="1000" h="1000" fill="none">
                    <a:moveTo>
                      <a:pt x="622" y="80"/>
                    </a:moveTo>
                    <a:lnTo>
                      <a:pt x="622" y="920"/>
                    </a:lnTo>
                  </a:path>
                  <a:path w="1000" h="1000" fill="none">
                    <a:moveTo>
                      <a:pt x="642" y="80"/>
                    </a:moveTo>
                    <a:lnTo>
                      <a:pt x="642" y="920"/>
                    </a:lnTo>
                  </a:path>
                  <a:path w="1000" h="1000" fill="none">
                    <a:moveTo>
                      <a:pt x="663" y="80"/>
                    </a:moveTo>
                    <a:lnTo>
                      <a:pt x="663" y="920"/>
                    </a:lnTo>
                  </a:path>
                  <a:path w="1000" h="1000" fill="none">
                    <a:moveTo>
                      <a:pt x="683" y="80"/>
                    </a:moveTo>
                    <a:lnTo>
                      <a:pt x="683" y="920"/>
                    </a:lnTo>
                  </a:path>
                  <a:path w="1000" h="1000" fill="none">
                    <a:moveTo>
                      <a:pt x="704" y="80"/>
                    </a:moveTo>
                    <a:lnTo>
                      <a:pt x="704" y="920"/>
                    </a:lnTo>
                  </a:path>
                  <a:path w="1000" h="1000" fill="none">
                    <a:moveTo>
                      <a:pt x="724" y="80"/>
                    </a:moveTo>
                    <a:lnTo>
                      <a:pt x="724" y="920"/>
                    </a:lnTo>
                  </a:path>
                  <a:path w="1000" h="1000" fill="none">
                    <a:moveTo>
                      <a:pt x="744" y="80"/>
                    </a:moveTo>
                    <a:lnTo>
                      <a:pt x="744" y="920"/>
                    </a:lnTo>
                  </a:path>
                  <a:path w="1000" h="1000" fill="none">
                    <a:moveTo>
                      <a:pt x="765" y="80"/>
                    </a:moveTo>
                    <a:lnTo>
                      <a:pt x="765" y="920"/>
                    </a:lnTo>
                  </a:path>
                  <a:path w="1000" h="1000" fill="none">
                    <a:moveTo>
                      <a:pt x="785" y="80"/>
                    </a:moveTo>
                    <a:lnTo>
                      <a:pt x="785" y="920"/>
                    </a:lnTo>
                  </a:path>
                  <a:path w="1000" h="1000" fill="none">
                    <a:moveTo>
                      <a:pt x="806" y="80"/>
                    </a:moveTo>
                    <a:lnTo>
                      <a:pt x="806" y="920"/>
                    </a:lnTo>
                  </a:path>
                  <a:path w="1000" h="1000" fill="none">
                    <a:moveTo>
                      <a:pt x="826" y="80"/>
                    </a:moveTo>
                    <a:lnTo>
                      <a:pt x="826" y="920"/>
                    </a:lnTo>
                  </a:path>
                  <a:path w="1000" h="1000" fill="none">
                    <a:moveTo>
                      <a:pt x="846" y="80"/>
                    </a:moveTo>
                    <a:lnTo>
                      <a:pt x="846" y="920"/>
                    </a:lnTo>
                  </a:path>
                  <a:path w="1000" h="1000" fill="none">
                    <a:moveTo>
                      <a:pt x="867" y="80"/>
                    </a:moveTo>
                    <a:lnTo>
                      <a:pt x="867" y="920"/>
                    </a:lnTo>
                  </a:path>
                  <a:path w="1000" h="1000" fill="none">
                    <a:moveTo>
                      <a:pt x="887" y="80"/>
                    </a:moveTo>
                    <a:lnTo>
                      <a:pt x="887" y="920"/>
                    </a:lnTo>
                  </a:path>
                  <a:path w="1000" h="1000" fill="none">
                    <a:moveTo>
                      <a:pt x="908" y="80"/>
                    </a:moveTo>
                    <a:lnTo>
                      <a:pt x="908" y="920"/>
                    </a:lnTo>
                  </a:path>
                  <a:path w="1000" h="1000" fill="none">
                    <a:moveTo>
                      <a:pt x="928" y="80"/>
                    </a:moveTo>
                    <a:lnTo>
                      <a:pt x="928" y="920"/>
                    </a:lnTo>
                  </a:path>
                  <a:path w="1000" h="1000" fill="none">
                    <a:moveTo>
                      <a:pt x="948" y="80"/>
                    </a:moveTo>
                    <a:lnTo>
                      <a:pt x="948" y="920"/>
                    </a:lnTo>
                  </a:path>
                  <a:path w="1000" h="1000" fill="none">
                    <a:moveTo>
                      <a:pt x="969" y="80"/>
                    </a:moveTo>
                    <a:lnTo>
                      <a:pt x="969" y="920"/>
                    </a:lnTo>
                  </a:path>
                  <a:path w="1000" h="1000" fill="none">
                    <a:moveTo>
                      <a:pt x="989" y="80"/>
                    </a:moveTo>
                    <a:lnTo>
                      <a:pt x="989" y="920"/>
                    </a:lnTo>
                  </a:path>
                </a:pathLst>
              </a:custGeom>
              <a:noFill/>
              <a:ln w="12700" cap="rnd">
                <a:solidFill>
                  <a:srgbClr val="822E27"/>
                </a:solidFill>
                <a:round/>
              </a:ln>
            </p:spPr>
          </p:sp>
          <p:sp>
            <p:nvSpPr>
              <p:cNvPr id="15" name="Forma 14"/>
              <p:cNvSpPr/>
              <p:nvPr/>
            </p:nvSpPr>
            <p:spPr>
              <a:xfrm>
                <a:off x="1341608" y="1785128"/>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2754904" y="1785128"/>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3966301" y="1785128"/>
                <a:ext cx="336499" cy="121140"/>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4289341" y="1785128"/>
                <a:ext cx="269199" cy="6191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19" name="Recuadro Músculo"/>
          <p:cNvGrpSpPr/>
          <p:nvPr/>
        </p:nvGrpSpPr>
        <p:grpSpPr>
          <a:xfrm>
            <a:off x="365760" y="2514600"/>
            <a:ext cx="5486400" cy="3977640"/>
            <a:chOff x="365760" y="2514600"/>
            <a:chExt cx="5486400" cy="3977640"/>
          </a:xfrm>
        </p:grpSpPr>
        <p:sp>
          <p:nvSpPr>
            <p:cNvPr id="20" name="Forma 19"/>
            <p:cNvSpPr/>
            <p:nvPr/>
          </p:nvSpPr>
          <p:spPr>
            <a:xfrm>
              <a:off x="365760" y="2697480"/>
              <a:ext cx="5486400" cy="37947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 captación de glucosa</a:t>
              </a:r>
              <a:r>
                <a:rPr lang="es-AR" sz="1650" dirty="0">
                  <a:solidFill>
                    <a:srgbClr val="1E1E1E"/>
                  </a:solidFill>
                  <a:latin typeface="Bahnschrift"/>
                  <a:ea typeface="Bahnschrift"/>
                  <a:cs typeface="Bahnschrift"/>
                  <a:sym typeface="Bahnschrift"/>
                </a:rPr>
                <a:t> (menos insulina) y </a:t>
              </a:r>
              <a:r>
                <a:rPr lang="es-AR" sz="1650" b="1" dirty="0">
                  <a:solidFill>
                    <a:srgbClr val="1E1E1E"/>
                  </a:solidFill>
                  <a:latin typeface="Bahnschrift"/>
                  <a:ea typeface="Bahnschrift"/>
                  <a:cs typeface="Bahnschrift"/>
                  <a:sym typeface="Bahnschrift"/>
                </a:rPr>
                <a:t>↑ uso de AG</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Exporta </a:t>
              </a:r>
              <a:r>
                <a:rPr lang="es-AR" sz="1650" b="1" dirty="0">
                  <a:solidFill>
                    <a:srgbClr val="1E1E1E"/>
                  </a:solidFill>
                  <a:latin typeface="Bahnschrift"/>
                  <a:ea typeface="Bahnschrift"/>
                  <a:cs typeface="Bahnschrift"/>
                  <a:sym typeface="Bahnschrift"/>
                </a:rPr>
                <a:t>lactato</a:t>
              </a:r>
              <a:r>
                <a:rPr lang="es-AR" sz="1650" dirty="0">
                  <a:solidFill>
                    <a:srgbClr val="1E1E1E"/>
                  </a:solidFill>
                  <a:latin typeface="Bahnschrift"/>
                  <a:ea typeface="Bahnschrift"/>
                  <a:cs typeface="Bahnschrift"/>
                  <a:sym typeface="Bahnschrift"/>
                </a:rPr>
                <a:t> según el flujo glucolítico.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Exporta </a:t>
              </a:r>
              <a:r>
                <a:rPr lang="es-AR" sz="1650" b="1" dirty="0">
                  <a:solidFill>
                    <a:srgbClr val="1E1E1E"/>
                  </a:solidFill>
                  <a:latin typeface="Bahnschrift"/>
                  <a:ea typeface="Bahnschrift"/>
                  <a:cs typeface="Bahnschrift"/>
                  <a:sym typeface="Bahnschrift"/>
                </a:rPr>
                <a:t>alanina y glutamina</a:t>
              </a:r>
              <a:r>
                <a:rPr lang="es-AR" sz="1650" dirty="0">
                  <a:solidFill>
                    <a:srgbClr val="1E1E1E"/>
                  </a:solidFill>
                  <a:latin typeface="Bahnschrift"/>
                  <a:ea typeface="Bahnschrift"/>
                  <a:cs typeface="Bahnschrift"/>
                  <a:sym typeface="Bahnschrift"/>
                </a:rPr>
                <a:t> desde el manejo de nitrógeno y la proteólisis.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Nunca</a:t>
              </a:r>
              <a:r>
                <a:rPr lang="es-AR" sz="1650" dirty="0">
                  <a:solidFill>
                    <a:srgbClr val="1E1E1E"/>
                  </a:solidFill>
                  <a:latin typeface="Bahnschrift"/>
                  <a:ea typeface="Bahnschrift"/>
                  <a:cs typeface="Bahnschrift"/>
                  <a:sym typeface="Bahnschrift"/>
                </a:rPr>
                <a:t> libera glucosa de su glucógeno (sin G6Pasa).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aporte de AA a la gluconeogénesis es </a:t>
              </a:r>
              <a:r>
                <a:rPr lang="es-AR" sz="1650" b="1" dirty="0">
                  <a:solidFill>
                    <a:srgbClr val="1E1E1E"/>
                  </a:solidFill>
                  <a:latin typeface="Bahnschrift"/>
                  <a:ea typeface="Bahnschrift"/>
                  <a:cs typeface="Bahnschrift"/>
                  <a:sym typeface="Bahnschrift"/>
                </a:rPr>
                <a:t>mayor al inicio</a:t>
              </a:r>
              <a:r>
                <a:rPr lang="es-AR" sz="1650" dirty="0">
                  <a:solidFill>
                    <a:srgbClr val="1E1E1E"/>
                  </a:solidFill>
                  <a:latin typeface="Bahnschrift"/>
                  <a:ea typeface="Bahnschrift"/>
                  <a:cs typeface="Bahnschrift"/>
                  <a:sym typeface="Bahnschrift"/>
                </a:rPr>
                <a:t> del ayuno prolongado y </a:t>
              </a:r>
              <a:r>
                <a:rPr lang="es-AR" sz="1650" b="1" dirty="0">
                  <a:solidFill>
                    <a:srgbClr val="1E1E1E"/>
                  </a:solidFill>
                  <a:latin typeface="Bahnschrift"/>
                  <a:ea typeface="Bahnschrift"/>
                  <a:cs typeface="Bahnschrift"/>
                  <a:sym typeface="Bahnschrift"/>
                </a:rPr>
                <a:t>se modera</a:t>
              </a:r>
              <a:r>
                <a:rPr lang="es-AR" sz="1650" dirty="0">
                  <a:solidFill>
                    <a:srgbClr val="1E1E1E"/>
                  </a:solidFill>
                  <a:latin typeface="Bahnschrift"/>
                  <a:ea typeface="Bahnschrift"/>
                  <a:cs typeface="Bahnschrift"/>
                  <a:sym typeface="Bahnschrift"/>
                </a:rPr>
                <a:t> cuando el cerebro usa cetonas.</a:t>
              </a:r>
              <a:endParaRPr lang="es-AR" sz="1650" dirty="0">
                <a:latin typeface="Bahnschrift"/>
              </a:endParaRPr>
            </a:p>
          </p:txBody>
        </p:sp>
        <p:sp>
          <p:nvSpPr>
            <p:cNvPr id="21" name="Forma 20"/>
            <p:cNvSpPr/>
            <p:nvPr/>
          </p:nvSpPr>
          <p:spPr>
            <a:xfrm>
              <a:off x="475488" y="2514600"/>
              <a:ext cx="101283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MÚSCULO</a:t>
              </a:r>
              <a:endParaRPr lang="es-AR" sz="1500" dirty="0">
                <a:latin typeface="Bahnschrift SemiBold Condensed"/>
              </a:endParaRPr>
            </a:p>
          </p:txBody>
        </p:sp>
      </p:grpSp>
      <p:grpSp>
        <p:nvGrpSpPr>
          <p:cNvPr id="22" name="Riñón ayuno"/>
          <p:cNvGrpSpPr/>
          <p:nvPr/>
        </p:nvGrpSpPr>
        <p:grpSpPr>
          <a:xfrm>
            <a:off x="6949440" y="914400"/>
            <a:ext cx="1143000" cy="1600200"/>
            <a:chOff x="6949440" y="914400"/>
            <a:chExt cx="1143000" cy="1600200"/>
          </a:xfrm>
        </p:grpSpPr>
        <p:sp>
          <p:nvSpPr>
            <p:cNvPr id="23" name="Forma 22"/>
            <p:cNvSpPr/>
            <p:nvPr/>
          </p:nvSpPr>
          <p:spPr>
            <a:xfrm>
              <a:off x="6949440" y="914400"/>
              <a:ext cx="1143000" cy="1600200"/>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24" name="Forma 23"/>
            <p:cNvSpPr/>
            <p:nvPr/>
          </p:nvSpPr>
          <p:spPr>
            <a:xfrm>
              <a:off x="6949440" y="914400"/>
              <a:ext cx="1143000" cy="1600200"/>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25" name="Forma 24"/>
            <p:cNvSpPr/>
            <p:nvPr/>
          </p:nvSpPr>
          <p:spPr>
            <a:xfrm>
              <a:off x="6949440" y="914400"/>
              <a:ext cx="1143000" cy="1600200"/>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26" name="Forma 25"/>
            <p:cNvSpPr/>
            <p:nvPr/>
          </p:nvSpPr>
          <p:spPr>
            <a:xfrm>
              <a:off x="6949440" y="914400"/>
              <a:ext cx="1143000" cy="1600200"/>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27" name="Corteza"/>
          <p:cNvSpPr/>
          <p:nvPr/>
        </p:nvSpPr>
        <p:spPr>
          <a:xfrm>
            <a:off x="8321040" y="1143000"/>
            <a:ext cx="1930318" cy="255905"/>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Corteza: gluconeogénesis</a:t>
            </a:r>
            <a:endParaRPr lang="es-AR" sz="1300" dirty="0">
              <a:latin typeface="Bahnschrift SemiBold Condensed"/>
            </a:endParaRPr>
          </a:p>
        </p:txBody>
      </p:sp>
      <p:sp>
        <p:nvSpPr>
          <p:cNvPr id="28" name="Médula"/>
          <p:cNvSpPr/>
          <p:nvPr/>
        </p:nvSpPr>
        <p:spPr>
          <a:xfrm>
            <a:off x="8321040" y="1691640"/>
            <a:ext cx="2534455" cy="255905"/>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Médula: consume glucosa → lactato</a:t>
            </a:r>
            <a:endParaRPr lang="es-AR" sz="1300" dirty="0">
              <a:latin typeface="Bahnschrift SemiBold Condensed"/>
            </a:endParaRPr>
          </a:p>
        </p:txBody>
      </p:sp>
      <p:grpSp>
        <p:nvGrpSpPr>
          <p:cNvPr id="29" name="Recuadro Riñón"/>
          <p:cNvGrpSpPr/>
          <p:nvPr/>
        </p:nvGrpSpPr>
        <p:grpSpPr>
          <a:xfrm>
            <a:off x="6309360" y="2514600"/>
            <a:ext cx="5486400" cy="2377440"/>
            <a:chOff x="6309360" y="2514600"/>
            <a:chExt cx="5486400" cy="2377440"/>
          </a:xfrm>
        </p:grpSpPr>
        <p:sp>
          <p:nvSpPr>
            <p:cNvPr id="30" name="Forma 29"/>
            <p:cNvSpPr/>
            <p:nvPr/>
          </p:nvSpPr>
          <p:spPr>
            <a:xfrm>
              <a:off x="6309360" y="2697480"/>
              <a:ext cx="5486400" cy="2194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Cuarto actor frecuentemente omitido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corteza renal</a:t>
              </a:r>
              <a:r>
                <a:rPr lang="es-AR" sz="1650" dirty="0">
                  <a:solidFill>
                    <a:srgbClr val="1E1E1E"/>
                  </a:solidFill>
                  <a:latin typeface="Bahnschrift"/>
                  <a:ea typeface="Bahnschrift"/>
                  <a:cs typeface="Bahnschrift"/>
                  <a:sym typeface="Bahnschrift"/>
                </a:rPr>
                <a:t> hace gluconeogénesis desde </a:t>
              </a:r>
              <a:r>
                <a:rPr lang="es-AR" sz="1650" b="1" dirty="0">
                  <a:solidFill>
                    <a:srgbClr val="1E1E1E"/>
                  </a:solidFill>
                  <a:latin typeface="Bahnschrift"/>
                  <a:ea typeface="Bahnschrift"/>
                  <a:cs typeface="Bahnschrift"/>
                  <a:sym typeface="Bahnschrift"/>
                </a:rPr>
                <a:t>lactato, glutamina y glicerol</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Su peso crece con la </a:t>
              </a:r>
              <a:r>
                <a:rPr lang="es-AR" sz="1650" b="1" dirty="0">
                  <a:solidFill>
                    <a:srgbClr val="1E1E1E"/>
                  </a:solidFill>
                  <a:latin typeface="Bahnschrift"/>
                  <a:ea typeface="Bahnschrift"/>
                  <a:cs typeface="Bahnschrift"/>
                  <a:sym typeface="Bahnschrift"/>
                </a:rPr>
                <a:t>prolongación del ayuno</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1" name="Forma 30"/>
            <p:cNvSpPr/>
            <p:nvPr/>
          </p:nvSpPr>
          <p:spPr>
            <a:xfrm>
              <a:off x="6419088" y="2514600"/>
              <a:ext cx="78556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RIÑÓN</a:t>
              </a:r>
              <a:endParaRPr lang="es-AR" sz="1500" dirty="0">
                <a:latin typeface="Bahnschrift SemiBold Condensed"/>
              </a:endParaRPr>
            </a:p>
          </p:txBody>
        </p:sp>
      </p:grpSp>
      <p:sp>
        <p:nvSpPr>
          <p:cNvPr id="32" name="Perla"/>
          <p:cNvSpPr/>
          <p:nvPr/>
        </p:nvSpPr>
        <p:spPr>
          <a:xfrm>
            <a:off x="6309360" y="5074920"/>
            <a:ext cx="5486400" cy="14173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Integración: </a:t>
            </a:r>
            <a:r>
              <a:rPr lang="es-AR" sz="1700" b="1" dirty="0">
                <a:solidFill>
                  <a:srgbClr val="FFFFFF"/>
                </a:solidFill>
                <a:latin typeface="Bahnschrift"/>
                <a:ea typeface="Bahnschrift"/>
                <a:cs typeface="Bahnschrift"/>
                <a:sym typeface="Bahnschrift"/>
              </a:rPr>
              <a:t>el tejido que usa un combustible determina qué le queda disponible al resto</a:t>
            </a:r>
            <a:r>
              <a:rPr lang="es-AR" sz="1700" dirty="0">
                <a:solidFill>
                  <a:srgbClr val="FFFFFF"/>
                </a:solidFill>
                <a:latin typeface="Bahnschrift"/>
                <a:ea typeface="Bahnschrift"/>
                <a:cs typeface="Bahnschrift"/>
                <a:sym typeface="Bahnschrift"/>
              </a:rPr>
              <a:t>.</a:t>
            </a:r>
            <a:endParaRPr lang="es-AR" sz="17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480034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8 · MÚSCULO Y RIÑÓN EN EL AYUNO</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9"/>
                                        </p:tgtEl>
                                        <p:attrNameLst>
                                          <p:attrName>style.visibility</p:attrName>
                                        </p:attrNameLst>
                                      </p:cBhvr>
                                      <p:to>
                                        <p:strVal val="visible"/>
                                      </p:to>
                                    </p:set>
                                    <p:animEffect transition="in" filter="fade">
                                      <p:cBhvr>
                                        <p:cTn id="5" dur="500"/>
                                        <p:tgtEl>
                                          <p:spTgt spid="19"/>
                                        </p:tgtEl>
                                      </p:cBhvr>
                                    </p:animEffect>
                                  </p:childTnLst>
                                </p:cTn>
                              </p:par>
                            </p:childTnLst>
                          </p:cTn>
                        </p:par>
                      </p:childTnLst>
                    </p:cTn>
                  </p:par>
                  <p:par>
                    <p:cTn id="19"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fade">
                                      <p:cBhvr>
                                        <p:cTn id="10" dur="500"/>
                                        <p:tgtEl>
                                          <p:spTgt spid="27"/>
                                        </p:tgtEl>
                                      </p:cBhvr>
                                    </p:animEffect>
                                  </p:childTnLst>
                                </p:cTn>
                              </p:par>
                            </p:childTnLst>
                          </p:cTn>
                        </p:par>
                        <p:par>
                          <p:cTn id="18"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500"/>
                                        <p:tgtEl>
                                          <p:spTgt spid="2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500"/>
                                        <p:tgtEl>
                                          <p:spTgt spid="29"/>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32" grpId="0" animBg="1"/>
    </p:bldLst>
  </p:timing>
</p:sld>
</file>

<file path=ppt/slides/slide69.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Músculo en ejercicio"/>
          <p:cNvGrpSpPr/>
          <p:nvPr/>
        </p:nvGrpSpPr>
        <p:grpSpPr>
          <a:xfrm>
            <a:off x="365760" y="1005840"/>
            <a:ext cx="3291840" cy="1079724"/>
            <a:chOff x="365760" y="1005840"/>
            <a:chExt cx="3291840" cy="1079724"/>
          </a:xfrm>
        </p:grpSpPr>
        <p:grpSp>
          <p:nvGrpSpPr>
            <p:cNvPr id="5" name="Fibra"/>
            <p:cNvGrpSpPr/>
            <p:nvPr/>
          </p:nvGrpSpPr>
          <p:grpSpPr>
            <a:xfrm>
              <a:off x="365760" y="1005840"/>
              <a:ext cx="3160166" cy="526694"/>
              <a:chOff x="365760" y="1005840"/>
              <a:chExt cx="3160166" cy="526694"/>
            </a:xfrm>
          </p:grpSpPr>
          <p:sp>
            <p:nvSpPr>
              <p:cNvPr id="6" name="Forma 5"/>
              <p:cNvSpPr/>
              <p:nvPr/>
            </p:nvSpPr>
            <p:spPr>
              <a:xfrm>
                <a:off x="365760" y="1005840"/>
                <a:ext cx="3160166"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497434" y="1005840"/>
                <a:ext cx="2896819" cy="526694"/>
              </a:xfrm>
              <a:custGeom>
                <a:avLst/>
                <a:gdLst/>
                <a:ahLst/>
                <a:cxnLst/>
                <a:rect l="0" t="0" r="r" b="b"/>
                <a:pathLst>
                  <a:path w="1000" h="1000" fill="none">
                    <a:moveTo>
                      <a:pt x="13" y="80"/>
                    </a:moveTo>
                    <a:lnTo>
                      <a:pt x="13" y="920"/>
                    </a:lnTo>
                  </a:path>
                  <a:path w="1000" h="1000" fill="none">
                    <a:moveTo>
                      <a:pt x="39" y="80"/>
                    </a:moveTo>
                    <a:lnTo>
                      <a:pt x="39" y="920"/>
                    </a:lnTo>
                  </a:path>
                  <a:path w="1000" h="1000" fill="none">
                    <a:moveTo>
                      <a:pt x="65" y="80"/>
                    </a:moveTo>
                    <a:lnTo>
                      <a:pt x="65" y="920"/>
                    </a:lnTo>
                  </a:path>
                  <a:path w="1000" h="1000" fill="none">
                    <a:moveTo>
                      <a:pt x="92" y="80"/>
                    </a:moveTo>
                    <a:lnTo>
                      <a:pt x="92" y="920"/>
                    </a:lnTo>
                  </a:path>
                  <a:path w="1000" h="1000" fill="none">
                    <a:moveTo>
                      <a:pt x="118" y="80"/>
                    </a:moveTo>
                    <a:lnTo>
                      <a:pt x="118" y="920"/>
                    </a:lnTo>
                  </a:path>
                  <a:path w="1000" h="1000" fill="none">
                    <a:moveTo>
                      <a:pt x="144" y="80"/>
                    </a:moveTo>
                    <a:lnTo>
                      <a:pt x="144" y="920"/>
                    </a:lnTo>
                  </a:path>
                  <a:path w="1000" h="1000" fill="none">
                    <a:moveTo>
                      <a:pt x="171" y="80"/>
                    </a:moveTo>
                    <a:lnTo>
                      <a:pt x="171" y="920"/>
                    </a:lnTo>
                  </a:path>
                  <a:path w="1000" h="1000" fill="none">
                    <a:moveTo>
                      <a:pt x="197" y="80"/>
                    </a:moveTo>
                    <a:lnTo>
                      <a:pt x="197" y="920"/>
                    </a:lnTo>
                  </a:path>
                  <a:path w="1000" h="1000" fill="none">
                    <a:moveTo>
                      <a:pt x="223" y="80"/>
                    </a:moveTo>
                    <a:lnTo>
                      <a:pt x="223" y="920"/>
                    </a:lnTo>
                  </a:path>
                  <a:path w="1000" h="1000" fill="none">
                    <a:moveTo>
                      <a:pt x="250" y="80"/>
                    </a:moveTo>
                    <a:lnTo>
                      <a:pt x="250" y="920"/>
                    </a:lnTo>
                  </a:path>
                  <a:path w="1000" h="1000" fill="none">
                    <a:moveTo>
                      <a:pt x="276" y="80"/>
                    </a:moveTo>
                    <a:lnTo>
                      <a:pt x="276" y="920"/>
                    </a:lnTo>
                  </a:path>
                  <a:path w="1000" h="1000" fill="none">
                    <a:moveTo>
                      <a:pt x="302" y="80"/>
                    </a:moveTo>
                    <a:lnTo>
                      <a:pt x="302" y="920"/>
                    </a:lnTo>
                  </a:path>
                  <a:path w="1000" h="1000" fill="none">
                    <a:moveTo>
                      <a:pt x="328" y="80"/>
                    </a:moveTo>
                    <a:lnTo>
                      <a:pt x="328" y="920"/>
                    </a:lnTo>
                  </a:path>
                  <a:path w="1000" h="1000" fill="none">
                    <a:moveTo>
                      <a:pt x="355" y="80"/>
                    </a:moveTo>
                    <a:lnTo>
                      <a:pt x="355" y="920"/>
                    </a:lnTo>
                  </a:path>
                  <a:path w="1000" h="1000" fill="none">
                    <a:moveTo>
                      <a:pt x="381" y="80"/>
                    </a:moveTo>
                    <a:lnTo>
                      <a:pt x="381" y="920"/>
                    </a:lnTo>
                  </a:path>
                  <a:path w="1000" h="1000" fill="none">
                    <a:moveTo>
                      <a:pt x="407" y="80"/>
                    </a:moveTo>
                    <a:lnTo>
                      <a:pt x="407" y="920"/>
                    </a:lnTo>
                  </a:path>
                  <a:path w="1000" h="1000" fill="none">
                    <a:moveTo>
                      <a:pt x="434" y="80"/>
                    </a:moveTo>
                    <a:lnTo>
                      <a:pt x="434" y="920"/>
                    </a:lnTo>
                  </a:path>
                  <a:path w="1000" h="1000" fill="none">
                    <a:moveTo>
                      <a:pt x="460" y="80"/>
                    </a:moveTo>
                    <a:lnTo>
                      <a:pt x="460" y="920"/>
                    </a:lnTo>
                  </a:path>
                  <a:path w="1000" h="1000" fill="none">
                    <a:moveTo>
                      <a:pt x="486" y="80"/>
                    </a:moveTo>
                    <a:lnTo>
                      <a:pt x="486" y="920"/>
                    </a:lnTo>
                  </a:path>
                  <a:path w="1000" h="1000" fill="none">
                    <a:moveTo>
                      <a:pt x="513" y="80"/>
                    </a:moveTo>
                    <a:lnTo>
                      <a:pt x="513" y="920"/>
                    </a:lnTo>
                  </a:path>
                  <a:path w="1000" h="1000" fill="none">
                    <a:moveTo>
                      <a:pt x="539" y="80"/>
                    </a:moveTo>
                    <a:lnTo>
                      <a:pt x="539" y="920"/>
                    </a:lnTo>
                  </a:path>
                  <a:path w="1000" h="1000" fill="none">
                    <a:moveTo>
                      <a:pt x="565" y="80"/>
                    </a:moveTo>
                    <a:lnTo>
                      <a:pt x="565" y="920"/>
                    </a:lnTo>
                  </a:path>
                  <a:path w="1000" h="1000" fill="none">
                    <a:moveTo>
                      <a:pt x="592" y="80"/>
                    </a:moveTo>
                    <a:lnTo>
                      <a:pt x="592" y="920"/>
                    </a:lnTo>
                  </a:path>
                  <a:path w="1000" h="1000" fill="none">
                    <a:moveTo>
                      <a:pt x="618" y="80"/>
                    </a:moveTo>
                    <a:lnTo>
                      <a:pt x="618" y="920"/>
                    </a:lnTo>
                  </a:path>
                  <a:path w="1000" h="1000" fill="none">
                    <a:moveTo>
                      <a:pt x="644" y="80"/>
                    </a:moveTo>
                    <a:lnTo>
                      <a:pt x="644" y="920"/>
                    </a:lnTo>
                  </a:path>
                  <a:path w="1000" h="1000" fill="none">
                    <a:moveTo>
                      <a:pt x="671" y="80"/>
                    </a:moveTo>
                    <a:lnTo>
                      <a:pt x="671" y="920"/>
                    </a:lnTo>
                  </a:path>
                  <a:path w="1000" h="1000" fill="none">
                    <a:moveTo>
                      <a:pt x="697" y="80"/>
                    </a:moveTo>
                    <a:lnTo>
                      <a:pt x="697" y="920"/>
                    </a:lnTo>
                  </a:path>
                  <a:path w="1000" h="1000" fill="none">
                    <a:moveTo>
                      <a:pt x="723" y="80"/>
                    </a:moveTo>
                    <a:lnTo>
                      <a:pt x="723" y="920"/>
                    </a:lnTo>
                  </a:path>
                  <a:path w="1000" h="1000" fill="none">
                    <a:moveTo>
                      <a:pt x="750" y="80"/>
                    </a:moveTo>
                    <a:lnTo>
                      <a:pt x="750" y="920"/>
                    </a:lnTo>
                  </a:path>
                  <a:path w="1000" h="1000" fill="none">
                    <a:moveTo>
                      <a:pt x="776" y="80"/>
                    </a:moveTo>
                    <a:lnTo>
                      <a:pt x="776" y="920"/>
                    </a:lnTo>
                  </a:path>
                  <a:path w="1000" h="1000" fill="none">
                    <a:moveTo>
                      <a:pt x="802" y="80"/>
                    </a:moveTo>
                    <a:lnTo>
                      <a:pt x="802" y="920"/>
                    </a:lnTo>
                  </a:path>
                  <a:path w="1000" h="1000" fill="none">
                    <a:moveTo>
                      <a:pt x="828" y="80"/>
                    </a:moveTo>
                    <a:lnTo>
                      <a:pt x="828" y="920"/>
                    </a:lnTo>
                  </a:path>
                  <a:path w="1000" h="1000" fill="none">
                    <a:moveTo>
                      <a:pt x="855" y="80"/>
                    </a:moveTo>
                    <a:lnTo>
                      <a:pt x="855" y="920"/>
                    </a:lnTo>
                  </a:path>
                  <a:path w="1000" h="1000" fill="none">
                    <a:moveTo>
                      <a:pt x="881" y="80"/>
                    </a:moveTo>
                    <a:lnTo>
                      <a:pt x="881" y="920"/>
                    </a:lnTo>
                  </a:path>
                  <a:path w="1000" h="1000" fill="none">
                    <a:moveTo>
                      <a:pt x="907" y="80"/>
                    </a:moveTo>
                    <a:lnTo>
                      <a:pt x="907" y="920"/>
                    </a:lnTo>
                  </a:path>
                  <a:path w="1000" h="1000" fill="none">
                    <a:moveTo>
                      <a:pt x="934" y="80"/>
                    </a:moveTo>
                    <a:lnTo>
                      <a:pt x="934" y="920"/>
                    </a:lnTo>
                  </a:path>
                  <a:path w="1000" h="1000" fill="none">
                    <a:moveTo>
                      <a:pt x="960" y="80"/>
                    </a:moveTo>
                    <a:lnTo>
                      <a:pt x="960" y="920"/>
                    </a:lnTo>
                  </a:path>
                  <a:path w="1000" h="1000" fill="none">
                    <a:moveTo>
                      <a:pt x="986" y="80"/>
                    </a:moveTo>
                    <a:lnTo>
                      <a:pt x="986" y="920"/>
                    </a:lnTo>
                  </a:path>
                </a:pathLst>
              </a:custGeom>
              <a:noFill/>
              <a:ln w="12700" cap="rnd">
                <a:solidFill>
                  <a:srgbClr val="822E27"/>
                </a:solidFill>
                <a:round/>
              </a:ln>
            </p:spPr>
          </p:sp>
          <p:sp>
            <p:nvSpPr>
              <p:cNvPr id="8" name="Forma 7"/>
              <p:cNvSpPr/>
              <p:nvPr/>
            </p:nvSpPr>
            <p:spPr>
              <a:xfrm>
                <a:off x="997793"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2103852"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3051901"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3304715" y="1026908"/>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497434" y="1558869"/>
              <a:ext cx="3160166" cy="526694"/>
              <a:chOff x="497434" y="1558869"/>
              <a:chExt cx="3160166" cy="526694"/>
            </a:xfrm>
          </p:grpSpPr>
          <p:sp>
            <p:nvSpPr>
              <p:cNvPr id="13" name="Forma 12"/>
              <p:cNvSpPr/>
              <p:nvPr/>
            </p:nvSpPr>
            <p:spPr>
              <a:xfrm>
                <a:off x="497434" y="1558869"/>
                <a:ext cx="3160166"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629107" y="1558869"/>
                <a:ext cx="2896819" cy="526694"/>
              </a:xfrm>
              <a:custGeom>
                <a:avLst/>
                <a:gdLst/>
                <a:ahLst/>
                <a:cxnLst/>
                <a:rect l="0" t="0" r="r" b="b"/>
                <a:pathLst>
                  <a:path w="1000" h="1000" fill="none">
                    <a:moveTo>
                      <a:pt x="13" y="80"/>
                    </a:moveTo>
                    <a:lnTo>
                      <a:pt x="13" y="920"/>
                    </a:lnTo>
                  </a:path>
                  <a:path w="1000" h="1000" fill="none">
                    <a:moveTo>
                      <a:pt x="39" y="80"/>
                    </a:moveTo>
                    <a:lnTo>
                      <a:pt x="39" y="920"/>
                    </a:lnTo>
                  </a:path>
                  <a:path w="1000" h="1000" fill="none">
                    <a:moveTo>
                      <a:pt x="65" y="80"/>
                    </a:moveTo>
                    <a:lnTo>
                      <a:pt x="65" y="920"/>
                    </a:lnTo>
                  </a:path>
                  <a:path w="1000" h="1000" fill="none">
                    <a:moveTo>
                      <a:pt x="92" y="80"/>
                    </a:moveTo>
                    <a:lnTo>
                      <a:pt x="92" y="920"/>
                    </a:lnTo>
                  </a:path>
                  <a:path w="1000" h="1000" fill="none">
                    <a:moveTo>
                      <a:pt x="118" y="80"/>
                    </a:moveTo>
                    <a:lnTo>
                      <a:pt x="118" y="920"/>
                    </a:lnTo>
                  </a:path>
                  <a:path w="1000" h="1000" fill="none">
                    <a:moveTo>
                      <a:pt x="144" y="80"/>
                    </a:moveTo>
                    <a:lnTo>
                      <a:pt x="144" y="920"/>
                    </a:lnTo>
                  </a:path>
                  <a:path w="1000" h="1000" fill="none">
                    <a:moveTo>
                      <a:pt x="171" y="80"/>
                    </a:moveTo>
                    <a:lnTo>
                      <a:pt x="171" y="920"/>
                    </a:lnTo>
                  </a:path>
                  <a:path w="1000" h="1000" fill="none">
                    <a:moveTo>
                      <a:pt x="197" y="80"/>
                    </a:moveTo>
                    <a:lnTo>
                      <a:pt x="197" y="920"/>
                    </a:lnTo>
                  </a:path>
                  <a:path w="1000" h="1000" fill="none">
                    <a:moveTo>
                      <a:pt x="223" y="80"/>
                    </a:moveTo>
                    <a:lnTo>
                      <a:pt x="223" y="920"/>
                    </a:lnTo>
                  </a:path>
                  <a:path w="1000" h="1000" fill="none">
                    <a:moveTo>
                      <a:pt x="250" y="80"/>
                    </a:moveTo>
                    <a:lnTo>
                      <a:pt x="250" y="920"/>
                    </a:lnTo>
                  </a:path>
                  <a:path w="1000" h="1000" fill="none">
                    <a:moveTo>
                      <a:pt x="276" y="80"/>
                    </a:moveTo>
                    <a:lnTo>
                      <a:pt x="276" y="920"/>
                    </a:lnTo>
                  </a:path>
                  <a:path w="1000" h="1000" fill="none">
                    <a:moveTo>
                      <a:pt x="302" y="80"/>
                    </a:moveTo>
                    <a:lnTo>
                      <a:pt x="302" y="920"/>
                    </a:lnTo>
                  </a:path>
                  <a:path w="1000" h="1000" fill="none">
                    <a:moveTo>
                      <a:pt x="328" y="80"/>
                    </a:moveTo>
                    <a:lnTo>
                      <a:pt x="328" y="920"/>
                    </a:lnTo>
                  </a:path>
                  <a:path w="1000" h="1000" fill="none">
                    <a:moveTo>
                      <a:pt x="355" y="80"/>
                    </a:moveTo>
                    <a:lnTo>
                      <a:pt x="355" y="920"/>
                    </a:lnTo>
                  </a:path>
                  <a:path w="1000" h="1000" fill="none">
                    <a:moveTo>
                      <a:pt x="381" y="80"/>
                    </a:moveTo>
                    <a:lnTo>
                      <a:pt x="381" y="920"/>
                    </a:lnTo>
                  </a:path>
                  <a:path w="1000" h="1000" fill="none">
                    <a:moveTo>
                      <a:pt x="407" y="80"/>
                    </a:moveTo>
                    <a:lnTo>
                      <a:pt x="407" y="920"/>
                    </a:lnTo>
                  </a:path>
                  <a:path w="1000" h="1000" fill="none">
                    <a:moveTo>
                      <a:pt x="434" y="80"/>
                    </a:moveTo>
                    <a:lnTo>
                      <a:pt x="434" y="920"/>
                    </a:lnTo>
                  </a:path>
                  <a:path w="1000" h="1000" fill="none">
                    <a:moveTo>
                      <a:pt x="460" y="80"/>
                    </a:moveTo>
                    <a:lnTo>
                      <a:pt x="460" y="920"/>
                    </a:lnTo>
                  </a:path>
                  <a:path w="1000" h="1000" fill="none">
                    <a:moveTo>
                      <a:pt x="486" y="80"/>
                    </a:moveTo>
                    <a:lnTo>
                      <a:pt x="486" y="920"/>
                    </a:lnTo>
                  </a:path>
                  <a:path w="1000" h="1000" fill="none">
                    <a:moveTo>
                      <a:pt x="513" y="80"/>
                    </a:moveTo>
                    <a:lnTo>
                      <a:pt x="513" y="920"/>
                    </a:lnTo>
                  </a:path>
                  <a:path w="1000" h="1000" fill="none">
                    <a:moveTo>
                      <a:pt x="539" y="80"/>
                    </a:moveTo>
                    <a:lnTo>
                      <a:pt x="539" y="920"/>
                    </a:lnTo>
                  </a:path>
                  <a:path w="1000" h="1000" fill="none">
                    <a:moveTo>
                      <a:pt x="565" y="80"/>
                    </a:moveTo>
                    <a:lnTo>
                      <a:pt x="565" y="920"/>
                    </a:lnTo>
                  </a:path>
                  <a:path w="1000" h="1000" fill="none">
                    <a:moveTo>
                      <a:pt x="592" y="80"/>
                    </a:moveTo>
                    <a:lnTo>
                      <a:pt x="592" y="920"/>
                    </a:lnTo>
                  </a:path>
                  <a:path w="1000" h="1000" fill="none">
                    <a:moveTo>
                      <a:pt x="618" y="80"/>
                    </a:moveTo>
                    <a:lnTo>
                      <a:pt x="618" y="920"/>
                    </a:lnTo>
                  </a:path>
                  <a:path w="1000" h="1000" fill="none">
                    <a:moveTo>
                      <a:pt x="644" y="80"/>
                    </a:moveTo>
                    <a:lnTo>
                      <a:pt x="644" y="920"/>
                    </a:lnTo>
                  </a:path>
                  <a:path w="1000" h="1000" fill="none">
                    <a:moveTo>
                      <a:pt x="671" y="80"/>
                    </a:moveTo>
                    <a:lnTo>
                      <a:pt x="671" y="920"/>
                    </a:lnTo>
                  </a:path>
                  <a:path w="1000" h="1000" fill="none">
                    <a:moveTo>
                      <a:pt x="697" y="80"/>
                    </a:moveTo>
                    <a:lnTo>
                      <a:pt x="697" y="920"/>
                    </a:lnTo>
                  </a:path>
                  <a:path w="1000" h="1000" fill="none">
                    <a:moveTo>
                      <a:pt x="723" y="80"/>
                    </a:moveTo>
                    <a:lnTo>
                      <a:pt x="723" y="920"/>
                    </a:lnTo>
                  </a:path>
                  <a:path w="1000" h="1000" fill="none">
                    <a:moveTo>
                      <a:pt x="750" y="80"/>
                    </a:moveTo>
                    <a:lnTo>
                      <a:pt x="750" y="920"/>
                    </a:lnTo>
                  </a:path>
                  <a:path w="1000" h="1000" fill="none">
                    <a:moveTo>
                      <a:pt x="776" y="80"/>
                    </a:moveTo>
                    <a:lnTo>
                      <a:pt x="776" y="920"/>
                    </a:lnTo>
                  </a:path>
                  <a:path w="1000" h="1000" fill="none">
                    <a:moveTo>
                      <a:pt x="802" y="80"/>
                    </a:moveTo>
                    <a:lnTo>
                      <a:pt x="802" y="920"/>
                    </a:lnTo>
                  </a:path>
                  <a:path w="1000" h="1000" fill="none">
                    <a:moveTo>
                      <a:pt x="828" y="80"/>
                    </a:moveTo>
                    <a:lnTo>
                      <a:pt x="828" y="920"/>
                    </a:lnTo>
                  </a:path>
                  <a:path w="1000" h="1000" fill="none">
                    <a:moveTo>
                      <a:pt x="855" y="80"/>
                    </a:moveTo>
                    <a:lnTo>
                      <a:pt x="855" y="920"/>
                    </a:lnTo>
                  </a:path>
                  <a:path w="1000" h="1000" fill="none">
                    <a:moveTo>
                      <a:pt x="881" y="80"/>
                    </a:moveTo>
                    <a:lnTo>
                      <a:pt x="881" y="920"/>
                    </a:lnTo>
                  </a:path>
                  <a:path w="1000" h="1000" fill="none">
                    <a:moveTo>
                      <a:pt x="907" y="80"/>
                    </a:moveTo>
                    <a:lnTo>
                      <a:pt x="907" y="920"/>
                    </a:lnTo>
                  </a:path>
                  <a:path w="1000" h="1000" fill="none">
                    <a:moveTo>
                      <a:pt x="934" y="80"/>
                    </a:moveTo>
                    <a:lnTo>
                      <a:pt x="934" y="920"/>
                    </a:lnTo>
                  </a:path>
                  <a:path w="1000" h="1000" fill="none">
                    <a:moveTo>
                      <a:pt x="960" y="80"/>
                    </a:moveTo>
                    <a:lnTo>
                      <a:pt x="960" y="920"/>
                    </a:lnTo>
                  </a:path>
                  <a:path w="1000" h="1000" fill="none">
                    <a:moveTo>
                      <a:pt x="986" y="80"/>
                    </a:moveTo>
                    <a:lnTo>
                      <a:pt x="986" y="920"/>
                    </a:lnTo>
                  </a:path>
                </a:pathLst>
              </a:custGeom>
              <a:noFill/>
              <a:ln w="12700" cap="rnd">
                <a:solidFill>
                  <a:srgbClr val="822E27"/>
                </a:solidFill>
                <a:round/>
              </a:ln>
            </p:spPr>
          </p:sp>
          <p:sp>
            <p:nvSpPr>
              <p:cNvPr id="15" name="Forma 14"/>
              <p:cNvSpPr/>
              <p:nvPr/>
            </p:nvSpPr>
            <p:spPr>
              <a:xfrm>
                <a:off x="1129467"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2235525"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3183575"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3436388" y="1579937"/>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19" name="Eritrocito Cori"/>
          <p:cNvSpPr/>
          <p:nvPr/>
        </p:nvSpPr>
        <p:spPr>
          <a:xfrm>
            <a:off x="2743200" y="2331720"/>
            <a:ext cx="685800" cy="68580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0" name="Eritrocito Cori 2"/>
          <p:cNvSpPr/>
          <p:nvPr/>
        </p:nvSpPr>
        <p:spPr>
          <a:xfrm>
            <a:off x="3246120" y="2697480"/>
            <a:ext cx="548640" cy="54864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1" name="Forma 20"/>
          <p:cNvSpPr txBox="1"/>
          <p:nvPr/>
        </p:nvSpPr>
        <p:spPr>
          <a:xfrm>
            <a:off x="365760" y="2240280"/>
            <a:ext cx="237744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B241C"/>
                </a:solidFill>
                <a:latin typeface="Bahnschrift SemiBold Condensed"/>
                <a:ea typeface="Bahnschrift SemiBold Condensed"/>
                <a:cs typeface="Bahnschrift SemiBold Condensed"/>
                <a:sym typeface="Bahnschrift SemiBold Condensed"/>
              </a:rPr>
              <a:t>MÚSCULO / ERITROCITO</a:t>
            </a:r>
            <a:endParaRPr lang="es-AR" sz="1300" dirty="0">
              <a:latin typeface="Bahnschrift SemiBold Condensed"/>
            </a:endParaRPr>
          </a:p>
        </p:txBody>
      </p:sp>
      <p:grpSp>
        <p:nvGrpSpPr>
          <p:cNvPr id="22" name="Hígado Cori"/>
          <p:cNvGrpSpPr/>
          <p:nvPr/>
        </p:nvGrpSpPr>
        <p:grpSpPr>
          <a:xfrm>
            <a:off x="8229600" y="1005840"/>
            <a:ext cx="3566160" cy="2520562"/>
            <a:chOff x="8229600" y="1005840"/>
            <a:chExt cx="3566160" cy="2520562"/>
          </a:xfrm>
        </p:grpSpPr>
        <p:sp>
          <p:nvSpPr>
            <p:cNvPr id="23" name="Vesícula biliar"/>
            <p:cNvSpPr/>
            <p:nvPr/>
          </p:nvSpPr>
          <p:spPr>
            <a:xfrm>
              <a:off x="9192463" y="2730435"/>
              <a:ext cx="463601" cy="795967"/>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4" name="Forma 23"/>
            <p:cNvSpPr/>
            <p:nvPr/>
          </p:nvSpPr>
          <p:spPr>
            <a:xfrm>
              <a:off x="8229600" y="1005840"/>
              <a:ext cx="3566160" cy="2211019"/>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5" name="Forma 24"/>
            <p:cNvSpPr/>
            <p:nvPr/>
          </p:nvSpPr>
          <p:spPr>
            <a:xfrm>
              <a:off x="8229600" y="1005840"/>
              <a:ext cx="3566160" cy="2211019"/>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6" name="Forma 25"/>
            <p:cNvSpPr/>
            <p:nvPr/>
          </p:nvSpPr>
          <p:spPr>
            <a:xfrm>
              <a:off x="8229600" y="1005840"/>
              <a:ext cx="3566160" cy="2211019"/>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27" name="Forma 26"/>
          <p:cNvSpPr txBox="1"/>
          <p:nvPr/>
        </p:nvSpPr>
        <p:spPr>
          <a:xfrm>
            <a:off x="8595360" y="3246120"/>
            <a:ext cx="2834640" cy="320040"/>
          </a:xfrm>
          <a:prstGeom prst="rect">
            <a:avLst/>
          </a:prstGeom>
          <a:noFill/>
          <a:ln>
            <a:noFill/>
          </a:ln>
        </p:spPr>
        <p:txBody>
          <a:bodyPr wrap="square" lIns="0" tIns="0" rIns="0" bIns="0" anchor="t" rtlCol="0">
            <a:noAutofit/>
          </a:bodyPr>
          <a:lstStyle/>
          <a:p>
            <a:pPr algn="ctr">
              <a:spcAft>
                <a:spcPts val="300"/>
              </a:spcAft>
              <a:buNone/>
            </a:pPr>
            <a:r>
              <a:rPr lang="es-AR" sz="1400" b="1" dirty="0">
                <a:solidFill>
                  <a:srgbClr val="7B241C"/>
                </a:solidFill>
                <a:latin typeface="Bahnschrift SemiBold Condensed"/>
                <a:ea typeface="Bahnschrift SemiBold Condensed"/>
                <a:cs typeface="Bahnschrift SemiBold Condensed"/>
                <a:sym typeface="Bahnschrift SemiBold Condensed"/>
              </a:rPr>
              <a:t>HÍGADO</a:t>
            </a:r>
            <a:endParaRPr lang="es-AR" sz="1400" dirty="0">
              <a:latin typeface="Bahnschrift SemiBold Condensed"/>
            </a:endParaRPr>
          </a:p>
        </p:txBody>
      </p:sp>
      <p:sp>
        <p:nvSpPr>
          <p:cNvPr id="28" name="Periferia Glucosa"/>
          <p:cNvSpPr/>
          <p:nvPr/>
        </p:nvSpPr>
        <p:spPr>
          <a:xfrm>
            <a:off x="457200" y="2880360"/>
            <a:ext cx="1554480" cy="3657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a:t>
            </a:r>
            <a:endParaRPr lang="es-AR" sz="1300" dirty="0">
              <a:latin typeface="Bahnschrift SemiBold Condensed"/>
            </a:endParaRPr>
          </a:p>
        </p:txBody>
      </p:sp>
      <p:grpSp>
        <p:nvGrpSpPr>
          <p:cNvPr id="29" name="Periferia paso 1"/>
          <p:cNvGrpSpPr/>
          <p:nvPr/>
        </p:nvGrpSpPr>
        <p:grpSpPr>
          <a:xfrm>
            <a:off x="1234440" y="3273552"/>
            <a:ext cx="882214" cy="356616"/>
            <a:chOff x="1234440" y="3273552"/>
            <a:chExt cx="882214" cy="356616"/>
          </a:xfrm>
        </p:grpSpPr>
        <p:sp>
          <p:nvSpPr>
            <p:cNvPr id="30" name="Flecha 29_2"/>
            <p:cNvSpPr/>
            <p:nvPr/>
          </p:nvSpPr>
          <p:spPr>
            <a:xfrm>
              <a:off x="1234440" y="327355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31" name="Enzima glucólisis"/>
            <p:cNvSpPr/>
            <p:nvPr/>
          </p:nvSpPr>
          <p:spPr>
            <a:xfrm>
              <a:off x="1344168" y="3305556"/>
              <a:ext cx="77248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glucólisis</a:t>
              </a:r>
              <a:endParaRPr lang="es-AR" sz="1150" dirty="0">
                <a:latin typeface="Bahnschrift SemiBold Condensed"/>
              </a:endParaRPr>
            </a:p>
          </p:txBody>
        </p:sp>
      </p:grpSp>
      <p:sp>
        <p:nvSpPr>
          <p:cNvPr id="32" name="Periferia Piruvato"/>
          <p:cNvSpPr/>
          <p:nvPr/>
        </p:nvSpPr>
        <p:spPr>
          <a:xfrm>
            <a:off x="457200" y="3657600"/>
            <a:ext cx="155448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Piruvato</a:t>
            </a:r>
            <a:endParaRPr lang="es-AR" sz="1300" dirty="0">
              <a:latin typeface="Bahnschrift SemiBold Condensed"/>
            </a:endParaRPr>
          </a:p>
        </p:txBody>
      </p:sp>
      <p:grpSp>
        <p:nvGrpSpPr>
          <p:cNvPr id="33" name="Periferia paso 2"/>
          <p:cNvGrpSpPr/>
          <p:nvPr/>
        </p:nvGrpSpPr>
        <p:grpSpPr>
          <a:xfrm>
            <a:off x="1234440" y="4050792"/>
            <a:ext cx="547967" cy="356616"/>
            <a:chOff x="1234440" y="4050792"/>
            <a:chExt cx="547967" cy="356616"/>
          </a:xfrm>
        </p:grpSpPr>
        <p:sp>
          <p:nvSpPr>
            <p:cNvPr id="34" name="Flecha 34_2"/>
            <p:cNvSpPr/>
            <p:nvPr/>
          </p:nvSpPr>
          <p:spPr>
            <a:xfrm>
              <a:off x="1234440" y="4050792"/>
              <a:ext cx="9144" cy="356616"/>
            </a:xfrm>
            <a:custGeom>
              <a:avLst/>
              <a:gdLst/>
              <a:ahLst/>
              <a:cxnLst/>
              <a:rect l="0" t="0" r="r" b="b"/>
              <a:pathLst>
                <a:path w="10" h="389" fill="none">
                  <a:moveTo>
                    <a:pt x="0" y="0"/>
                  </a:moveTo>
                  <a:lnTo>
                    <a:pt x="0" y="389"/>
                  </a:lnTo>
                </a:path>
              </a:pathLst>
            </a:custGeom>
            <a:noFill/>
            <a:ln w="25400" cap="rnd">
              <a:solidFill>
                <a:srgbClr val="1E1E1E"/>
              </a:solidFill>
              <a:round/>
              <a:headEnd type="triangle" w="med" len="med"/>
              <a:tailEnd type="triangle" w="med" len="med"/>
            </a:ln>
          </p:spPr>
        </p:sp>
        <p:sp>
          <p:nvSpPr>
            <p:cNvPr id="35" name="Enzima LDH"/>
            <p:cNvSpPr/>
            <p:nvPr/>
          </p:nvSpPr>
          <p:spPr>
            <a:xfrm>
              <a:off x="1344168" y="4082796"/>
              <a:ext cx="43823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LDH</a:t>
              </a:r>
              <a:endParaRPr lang="es-AR" sz="1150" dirty="0">
                <a:latin typeface="Bahnschrift SemiBold Condensed"/>
              </a:endParaRPr>
            </a:p>
          </p:txBody>
        </p:sp>
      </p:grpSp>
      <p:sp>
        <p:nvSpPr>
          <p:cNvPr id="36" name="Periferia Lactato"/>
          <p:cNvSpPr/>
          <p:nvPr/>
        </p:nvSpPr>
        <p:spPr>
          <a:xfrm>
            <a:off x="457200" y="4434840"/>
            <a:ext cx="1554480" cy="365760"/>
          </a:xfrm>
          <a:prstGeom prst="roundRect">
            <a:avLst>
              <a:gd name="adj" fmla="val 30000"/>
            </a:avLst>
          </a:prstGeom>
          <a:solidFill>
            <a:srgbClr val="D1B4DE"/>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Lactato</a:t>
            </a:r>
            <a:endParaRPr lang="es-AR" sz="1300" dirty="0">
              <a:latin typeface="Bahnschrift SemiBold Condensed"/>
            </a:endParaRPr>
          </a:p>
        </p:txBody>
      </p:sp>
      <p:sp>
        <p:nvSpPr>
          <p:cNvPr id="37" name="ATP periferia"/>
          <p:cNvSpPr/>
          <p:nvPr/>
        </p:nvSpPr>
        <p:spPr>
          <a:xfrm>
            <a:off x="2286000" y="3337560"/>
            <a:ext cx="777240" cy="347472"/>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+2 ATP</a:t>
            </a:r>
            <a:endParaRPr lang="es-AR" sz="850" dirty="0">
              <a:latin typeface="Bahnschrift SemiBold Condensed"/>
            </a:endParaRPr>
          </a:p>
        </p:txBody>
      </p:sp>
      <p:sp>
        <p:nvSpPr>
          <p:cNvPr id="38" name="NAD regen"/>
          <p:cNvSpPr/>
          <p:nvPr/>
        </p:nvSpPr>
        <p:spPr>
          <a:xfrm>
            <a:off x="2148840" y="4069080"/>
            <a:ext cx="982549" cy="226377"/>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NADH → NAD</a:t>
            </a:r>
            <a:r>
              <a:rPr lang="es-AR" sz="1150" b="1" baseline="30000" dirty="0">
                <a:solidFill>
                  <a:srgbClr val="1E1E1E"/>
                </a:solidFill>
                <a:latin typeface="Bahnschrift SemiBold Condensed"/>
                <a:ea typeface="Bahnschrift SemiBold Condensed"/>
                <a:cs typeface="Bahnschrift SemiBold Condensed"/>
                <a:sym typeface="Bahnschrift SemiBold Condensed"/>
              </a:rPr>
              <a:t>+</a:t>
            </a:r>
            <a:endParaRPr lang="es-AR" sz="1150" dirty="0">
              <a:latin typeface="Bahnschrift SemiBold Condensed"/>
            </a:endParaRPr>
          </a:p>
        </p:txBody>
      </p:sp>
      <p:sp>
        <p:nvSpPr>
          <p:cNvPr id="39" name="Hígado ruta Lactato"/>
          <p:cNvSpPr/>
          <p:nvPr/>
        </p:nvSpPr>
        <p:spPr>
          <a:xfrm>
            <a:off x="9692640" y="3657600"/>
            <a:ext cx="1554480" cy="365760"/>
          </a:xfrm>
          <a:prstGeom prst="roundRect">
            <a:avLst>
              <a:gd name="adj" fmla="val 30000"/>
            </a:avLst>
          </a:prstGeom>
          <a:solidFill>
            <a:srgbClr val="D1B4DE"/>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Lactato</a:t>
            </a:r>
            <a:endParaRPr lang="es-AR" sz="1300" dirty="0">
              <a:latin typeface="Bahnschrift SemiBold Condensed"/>
            </a:endParaRPr>
          </a:p>
        </p:txBody>
      </p:sp>
      <p:grpSp>
        <p:nvGrpSpPr>
          <p:cNvPr id="40" name="Hígado ruta paso 1"/>
          <p:cNvGrpSpPr/>
          <p:nvPr/>
        </p:nvGrpSpPr>
        <p:grpSpPr>
          <a:xfrm>
            <a:off x="9921913" y="4050792"/>
            <a:ext cx="557111" cy="356616"/>
            <a:chOff x="9921913" y="4050792"/>
            <a:chExt cx="557111" cy="356616"/>
          </a:xfrm>
        </p:grpSpPr>
        <p:sp>
          <p:nvSpPr>
            <p:cNvPr id="41" name="Flecha 42_2"/>
            <p:cNvSpPr/>
            <p:nvPr/>
          </p:nvSpPr>
          <p:spPr>
            <a:xfrm>
              <a:off x="10469880" y="4050792"/>
              <a:ext cx="9144" cy="356616"/>
            </a:xfrm>
            <a:custGeom>
              <a:avLst/>
              <a:gdLst/>
              <a:ahLst/>
              <a:cxnLst/>
              <a:rect l="0" t="0" r="r" b="b"/>
              <a:pathLst>
                <a:path w="10" h="389" fill="none">
                  <a:moveTo>
                    <a:pt x="0" y="0"/>
                  </a:moveTo>
                  <a:lnTo>
                    <a:pt x="0" y="389"/>
                  </a:lnTo>
                </a:path>
              </a:pathLst>
            </a:custGeom>
            <a:noFill/>
            <a:ln w="25400" cap="rnd">
              <a:solidFill>
                <a:srgbClr val="1E1E1E"/>
              </a:solidFill>
              <a:round/>
              <a:headEnd type="triangle" w="med" len="med"/>
              <a:tailEnd type="triangle" w="med" len="med"/>
            </a:ln>
          </p:spPr>
        </p:sp>
        <p:sp>
          <p:nvSpPr>
            <p:cNvPr id="42" name="Enzima LDH_2"/>
            <p:cNvSpPr/>
            <p:nvPr/>
          </p:nvSpPr>
          <p:spPr>
            <a:xfrm>
              <a:off x="9921913" y="4082796"/>
              <a:ext cx="43823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LDH</a:t>
              </a:r>
              <a:endParaRPr lang="es-AR" sz="1150" dirty="0">
                <a:latin typeface="Bahnschrift SemiBold Condensed"/>
              </a:endParaRPr>
            </a:p>
          </p:txBody>
        </p:sp>
      </p:grpSp>
      <p:sp>
        <p:nvSpPr>
          <p:cNvPr id="43" name="Hígado ruta Piruvato"/>
          <p:cNvSpPr/>
          <p:nvPr/>
        </p:nvSpPr>
        <p:spPr>
          <a:xfrm>
            <a:off x="9692640" y="4434840"/>
            <a:ext cx="155448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Piruvato</a:t>
            </a:r>
            <a:endParaRPr lang="es-AR" sz="1300" dirty="0">
              <a:latin typeface="Bahnschrift SemiBold Condensed"/>
            </a:endParaRPr>
          </a:p>
        </p:txBody>
      </p:sp>
      <p:grpSp>
        <p:nvGrpSpPr>
          <p:cNvPr id="44" name="Hígado ruta paso 2"/>
          <p:cNvGrpSpPr/>
          <p:nvPr/>
        </p:nvGrpSpPr>
        <p:grpSpPr>
          <a:xfrm>
            <a:off x="9309750" y="4828032"/>
            <a:ext cx="1169274" cy="356616"/>
            <a:chOff x="9309750" y="4828032"/>
            <a:chExt cx="1169274" cy="356616"/>
          </a:xfrm>
        </p:grpSpPr>
        <p:sp>
          <p:nvSpPr>
            <p:cNvPr id="45" name="Flecha 47_2"/>
            <p:cNvSpPr/>
            <p:nvPr/>
          </p:nvSpPr>
          <p:spPr>
            <a:xfrm>
              <a:off x="10469880" y="4828032"/>
              <a:ext cx="9144" cy="356616"/>
            </a:xfrm>
            <a:custGeom>
              <a:avLst/>
              <a:gdLst/>
              <a:ahLst/>
              <a:cxnLst/>
              <a:rect l="0" t="0" r="r" b="b"/>
              <a:pathLst>
                <a:path w="10" h="389" fill="none">
                  <a:moveTo>
                    <a:pt x="0" y="0"/>
                  </a:moveTo>
                  <a:lnTo>
                    <a:pt x="0" y="389"/>
                  </a:lnTo>
                </a:path>
              </a:pathLst>
            </a:custGeom>
            <a:noFill/>
            <a:ln w="44450" cap="rnd">
              <a:solidFill>
                <a:srgbClr val="1E1E1E"/>
              </a:solidFill>
              <a:round/>
              <a:tailEnd type="triangle" w="med" len="med"/>
            </a:ln>
          </p:spPr>
        </p:sp>
        <p:sp>
          <p:nvSpPr>
            <p:cNvPr id="46" name="Enzima PC · PEPCK · …"/>
            <p:cNvSpPr/>
            <p:nvPr/>
          </p:nvSpPr>
          <p:spPr>
            <a:xfrm>
              <a:off x="9309750" y="4860036"/>
              <a:ext cx="105040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PC · PEPCK · …</a:t>
              </a:r>
              <a:endParaRPr lang="es-AR" sz="1150" dirty="0">
                <a:latin typeface="Bahnschrift SemiBold Condensed"/>
              </a:endParaRPr>
            </a:p>
          </p:txBody>
        </p:sp>
      </p:grpSp>
      <p:sp>
        <p:nvSpPr>
          <p:cNvPr id="47" name="Hígado ruta Glucosa"/>
          <p:cNvSpPr/>
          <p:nvPr/>
        </p:nvSpPr>
        <p:spPr>
          <a:xfrm>
            <a:off x="9692640" y="5212080"/>
            <a:ext cx="1554480" cy="3657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Glucosa</a:t>
            </a:r>
            <a:endParaRPr lang="es-AR" sz="1300" dirty="0">
              <a:latin typeface="Bahnschrift SemiBold Condensed"/>
            </a:endParaRPr>
          </a:p>
        </p:txBody>
      </p:sp>
      <p:sp>
        <p:nvSpPr>
          <p:cNvPr id="48" name="Costo hepático"/>
          <p:cNvSpPr/>
          <p:nvPr/>
        </p:nvSpPr>
        <p:spPr>
          <a:xfrm>
            <a:off x="8229600" y="4434840"/>
            <a:ext cx="1325880" cy="36576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−4 ATP −2 GTP</a:t>
            </a:r>
            <a:endParaRPr lang="es-AR" sz="850" dirty="0">
              <a:latin typeface="Bahnschrift SemiBold Condensed"/>
            </a:endParaRPr>
          </a:p>
        </p:txBody>
      </p:sp>
      <p:sp>
        <p:nvSpPr>
          <p:cNvPr id="49" name="Circulación glucosa"/>
          <p:cNvSpPr/>
          <p:nvPr/>
        </p:nvSpPr>
        <p:spPr>
          <a:xfrm>
            <a:off x="2926080" y="914400"/>
            <a:ext cx="6400800" cy="1828800"/>
          </a:xfrm>
          <a:custGeom>
            <a:avLst/>
            <a:gdLst/>
            <a:ahLst/>
            <a:cxnLst/>
            <a:rect l="0" t="0" r="r" b="b"/>
            <a:pathLst>
              <a:path w="6999" h="2000" fill="none">
                <a:moveTo>
                  <a:pt x="6999" y="2000"/>
                </a:moveTo>
                <a:quadBezTo>
                  <a:pt x="3500" y="0"/>
                  <a:pt x="0" y="1250"/>
                </a:quadBezTo>
              </a:path>
            </a:pathLst>
          </a:custGeom>
          <a:noFill/>
          <a:ln w="63500" cap="rnd">
            <a:solidFill>
              <a:srgbClr val="2563B0"/>
            </a:solidFill>
            <a:round/>
            <a:tailEnd type="triangle" w="med" len="med"/>
          </a:ln>
        </p:spPr>
      </p:sp>
      <p:sp>
        <p:nvSpPr>
          <p:cNvPr id="50" name="Circulación lactato"/>
          <p:cNvSpPr/>
          <p:nvPr/>
        </p:nvSpPr>
        <p:spPr>
          <a:xfrm>
            <a:off x="2103120" y="3840480"/>
            <a:ext cx="7498080" cy="2377440"/>
          </a:xfrm>
          <a:custGeom>
            <a:avLst/>
            <a:gdLst/>
            <a:ahLst/>
            <a:cxnLst/>
            <a:rect l="0" t="0" r="r" b="b"/>
            <a:pathLst>
              <a:path w="8200" h="2599" fill="none">
                <a:moveTo>
                  <a:pt x="0" y="1200"/>
                </a:moveTo>
                <a:quadBezTo>
                  <a:pt x="4000" y="2599"/>
                  <a:pt x="8200" y="0"/>
                </a:quadBezTo>
              </a:path>
            </a:pathLst>
          </a:custGeom>
          <a:noFill/>
          <a:ln w="63500" cap="rnd">
            <a:solidFill>
              <a:srgbClr val="8E44AD"/>
            </a:solidFill>
            <a:round/>
            <a:tailEnd type="triangle" w="med" len="med"/>
          </a:ln>
        </p:spPr>
      </p:sp>
      <p:sp>
        <p:nvSpPr>
          <p:cNvPr id="51" name="Rótulo glucosa"/>
          <p:cNvSpPr txBox="1"/>
          <p:nvPr/>
        </p:nvSpPr>
        <p:spPr>
          <a:xfrm>
            <a:off x="5120640" y="1051560"/>
            <a:ext cx="2103120" cy="32004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2563B0"/>
                </a:solidFill>
                <a:latin typeface="Bahnschrift SemiBold Condensed"/>
                <a:ea typeface="Bahnschrift SemiBold Condensed"/>
                <a:cs typeface="Bahnschrift SemiBold Condensed"/>
                <a:sym typeface="Bahnschrift SemiBold Condensed"/>
              </a:rPr>
              <a:t>GLUCOSA</a:t>
            </a:r>
            <a:endParaRPr lang="es-AR" sz="1500" dirty="0">
              <a:latin typeface="Bahnschrift SemiBold Condensed"/>
            </a:endParaRPr>
          </a:p>
        </p:txBody>
      </p:sp>
      <p:sp>
        <p:nvSpPr>
          <p:cNvPr id="52" name="Rótulo lactato"/>
          <p:cNvSpPr txBox="1"/>
          <p:nvPr/>
        </p:nvSpPr>
        <p:spPr>
          <a:xfrm>
            <a:off x="4937760" y="5760720"/>
            <a:ext cx="2103120" cy="32004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8E44AD"/>
                </a:solidFill>
                <a:latin typeface="Bahnschrift SemiBold Condensed"/>
                <a:ea typeface="Bahnschrift SemiBold Condensed"/>
                <a:cs typeface="Bahnschrift SemiBold Condensed"/>
                <a:sym typeface="Bahnschrift SemiBold Condensed"/>
              </a:rPr>
              <a:t>LACTATO</a:t>
            </a:r>
            <a:endParaRPr lang="es-AR" sz="1500" dirty="0">
              <a:latin typeface="Bahnschrift SemiBold Condensed"/>
            </a:endParaRPr>
          </a:p>
        </p:txBody>
      </p:sp>
      <p:sp>
        <p:nvSpPr>
          <p:cNvPr id="53" name="Lactato viajero 0"/>
          <p:cNvSpPr/>
          <p:nvPr/>
        </p:nvSpPr>
        <p:spPr>
          <a:xfrm>
            <a:off x="2057400" y="4800600"/>
            <a:ext cx="384048" cy="384048"/>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Lac</a:t>
            </a:r>
            <a:endParaRPr lang="es-AR" sz="1092" dirty="0">
              <a:latin typeface="Bahnschrift SemiBold Condensed"/>
            </a:endParaRPr>
          </a:p>
        </p:txBody>
      </p:sp>
      <p:sp>
        <p:nvSpPr>
          <p:cNvPr id="54" name="Lactato viajero 1"/>
          <p:cNvSpPr/>
          <p:nvPr/>
        </p:nvSpPr>
        <p:spPr>
          <a:xfrm>
            <a:off x="2057400" y="4800600"/>
            <a:ext cx="384048" cy="384048"/>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Lac</a:t>
            </a:r>
            <a:endParaRPr lang="es-AR" sz="1092" dirty="0">
              <a:latin typeface="Bahnschrift SemiBold Condensed"/>
            </a:endParaRPr>
          </a:p>
        </p:txBody>
      </p:sp>
      <p:sp>
        <p:nvSpPr>
          <p:cNvPr id="55" name="Glucosa viajera 0"/>
          <p:cNvSpPr/>
          <p:nvPr/>
        </p:nvSpPr>
        <p:spPr>
          <a:xfrm>
            <a:off x="9144000" y="265176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56" name="Glucosa viajera 1"/>
          <p:cNvSpPr/>
          <p:nvPr/>
        </p:nvSpPr>
        <p:spPr>
          <a:xfrm>
            <a:off x="9144000" y="265176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57" name="Sangre Cori"/>
          <p:cNvSpPr/>
          <p:nvPr/>
        </p:nvSpPr>
        <p:spPr>
          <a:xfrm>
            <a:off x="4206240" y="3017520"/>
            <a:ext cx="3474720" cy="14630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t" rtlCol="0">
            <a:noAutofit/>
          </a:bodyPr>
          <a:lstStyle/>
          <a:p>
            <a:pPr algn="l">
              <a:spcAft>
                <a:spcPts val="300"/>
              </a:spcAft>
              <a:buNone/>
            </a:pPr>
            <a:r>
              <a:rPr lang="es-AR" sz="1400" b="1" dirty="0">
                <a:solidFill>
                  <a:srgbClr val="1E1E1E"/>
                </a:solidFill>
                <a:latin typeface="Bahnschrift"/>
                <a:ea typeface="Bahnschrift"/>
                <a:cs typeface="Bahnschrift"/>
                <a:sym typeface="Bahnschrift"/>
              </a:rPr>
              <a:t>Sangre</a:t>
            </a:r>
            <a:r>
              <a:rPr lang="es-AR" sz="1400" dirty="0">
                <a:solidFill>
                  <a:srgbClr val="1E1E1E"/>
                </a:solidFill>
                <a:latin typeface="Bahnschrift"/>
                <a:ea typeface="Bahnschrift"/>
                <a:cs typeface="Bahnschrift"/>
                <a:sym typeface="Bahnschrift"/>
              </a:rPr>
              <a:t>: el lactato no es solo desecho: es </a:t>
            </a:r>
            <a:r>
              <a:rPr lang="es-AR" sz="1400" b="1" dirty="0">
                <a:solidFill>
                  <a:srgbClr val="1E1E1E"/>
                </a:solidFill>
                <a:latin typeface="Bahnschrift"/>
                <a:ea typeface="Bahnschrift"/>
                <a:cs typeface="Bahnschrift"/>
                <a:sym typeface="Bahnschrift"/>
              </a:rPr>
              <a:t>combustible</a:t>
            </a:r>
            <a:r>
              <a:rPr lang="es-AR" sz="1400" dirty="0">
                <a:solidFill>
                  <a:srgbClr val="1E1E1E"/>
                </a:solidFill>
                <a:latin typeface="Bahnschrift"/>
                <a:ea typeface="Bahnschrift"/>
                <a:cs typeface="Bahnschrift"/>
                <a:sym typeface="Bahnschrift"/>
              </a:rPr>
              <a:t> y </a:t>
            </a:r>
            <a:r>
              <a:rPr lang="es-AR" sz="1400" b="1" dirty="0">
                <a:solidFill>
                  <a:srgbClr val="1E1E1E"/>
                </a:solidFill>
                <a:latin typeface="Bahnschrift"/>
                <a:ea typeface="Bahnschrift"/>
                <a:cs typeface="Bahnschrift"/>
                <a:sym typeface="Bahnschrift"/>
              </a:rPr>
              <a:t>precursor</a:t>
            </a:r>
            <a:r>
              <a:rPr lang="es-AR" sz="1400" dirty="0">
                <a:solidFill>
                  <a:srgbClr val="1E1E1E"/>
                </a:solidFill>
                <a:latin typeface="Bahnschrift"/>
                <a:ea typeface="Bahnschrift"/>
                <a:cs typeface="Bahnschrift"/>
                <a:sym typeface="Bahnschrift"/>
              </a:rPr>
              <a:t> de glucosa.</a:t>
            </a:r>
            <a:endParaRPr lang="es-AR" sz="1400" dirty="0">
              <a:latin typeface="Bahnschrift"/>
            </a:endParaRPr>
          </a:p>
        </p:txBody>
      </p:sp>
      <p:sp>
        <p:nvSpPr>
          <p:cNvPr id="2" name="Etiqueta sección"/>
          <p:cNvSpPr/>
          <p:nvPr/>
        </p:nvSpPr>
        <p:spPr>
          <a:xfrm>
            <a:off x="10566391" y="201168"/>
            <a:ext cx="135098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CICLO ANIMADO</a:t>
            </a:r>
            <a:endParaRPr lang="es-AR" sz="1300" dirty="0">
              <a:latin typeface="Bahnschrift SemiBold Condensed"/>
            </a:endParaRPr>
          </a:p>
        </p:txBody>
      </p:sp>
      <p:sp>
        <p:nvSpPr>
          <p:cNvPr id="3" name="Título"/>
          <p:cNvSpPr/>
          <p:nvPr/>
        </p:nvSpPr>
        <p:spPr>
          <a:xfrm>
            <a:off x="274320" y="146304"/>
            <a:ext cx="757099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9 · CICLO DE CORI: INTERCAMBIO DE LACTATO Y GLUCOSA</a:t>
            </a:r>
            <a:endParaRPr lang="es-AR" sz="2600" dirty="0">
              <a:latin typeface="Bahnschrift SemiBold Condensed"/>
            </a:endParaRPr>
          </a:p>
        </p:txBody>
      </p:sp>
      <p:sp>
        <p:nvSpPr>
          <p:cNvPr id="5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69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2"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8"/>
                                        </p:tgtEl>
                                        <p:attrNameLst>
                                          <p:attrName>style.visibility</p:attrName>
                                        </p:attrNameLst>
                                      </p:cBhvr>
                                      <p:to>
                                        <p:strVal val="visible"/>
                                      </p:to>
                                    </p:set>
                                    <p:animEffect transition="in" filter="fade">
                                      <p:cBhvr>
                                        <p:cTn id="5" dur="500"/>
                                        <p:tgtEl>
                                          <p:spTgt spid="28"/>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29"/>
                                        </p:tgtEl>
                                        <p:attrNameLst>
                                          <p:attrName>style.visibility</p:attrName>
                                        </p:attrNameLst>
                                      </p:cBhvr>
                                      <p:to>
                                        <p:strVal val="visible"/>
                                      </p:to>
                                    </p:set>
                                    <p:animEffect transition="in" filter="wipe(up)">
                                      <p:cBhvr>
                                        <p:cTn id="9" dur="600"/>
                                        <p:tgtEl>
                                          <p:spTgt spid="29"/>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500"/>
                                        <p:tgtEl>
                                          <p:spTgt spid="32"/>
                                        </p:tgtEl>
                                      </p:cBhvr>
                                    </p:animEffect>
                                  </p:childTnLst>
                                </p:cTn>
                              </p:par>
                            </p:childTnLst>
                          </p:cTn>
                        </p:par>
                        <p:par>
                          <p:cTn id="18" fill="hold">
                            <p:stCondLst>
                              <p:cond delay="1600"/>
                            </p:stCondLst>
                            <p:childTnLst>
                              <p:par>
                                <p:cTn id="15" presetID="22" presetClass="entr" presetSubtype="1" fill="hold" grpId="0" nodeType="after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up)">
                                      <p:cBhvr>
                                        <p:cTn id="17" dur="600"/>
                                        <p:tgtEl>
                                          <p:spTgt spid="33"/>
                                        </p:tgtEl>
                                      </p:cBhvr>
                                    </p:animEffect>
                                  </p:childTnLst>
                                </p:cTn>
                              </p:par>
                            </p:childTnLst>
                          </p:cTn>
                        </p:par>
                        <p:par>
                          <p:cTn id="22" fill="hold">
                            <p:stCondLst>
                              <p:cond delay="2200"/>
                            </p:stCondLst>
                            <p:childTnLst>
                              <p:par>
                                <p:cTn id="19" presetID="10" presetClass="entr" presetSubtype="0" fill="hold" grpId="0" nodeType="after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500"/>
                                        <p:tgtEl>
                                          <p:spTgt spid="36"/>
                                        </p:tgtEl>
                                      </p:cBhvr>
                                    </p:animEffect>
                                  </p:childTnLst>
                                </p:cTn>
                              </p:par>
                            </p:childTnLst>
                          </p:cTn>
                        </p:par>
                        <p:par>
                          <p:cTn id="31" fill="hold">
                            <p:stCondLst>
                              <p:cond delay="2700"/>
                            </p:stCondLst>
                            <p:childTnLst>
                              <p:par>
                                <p:cTn id="23" presetID="53" presetClass="entr" presetSubtype="16" fill="hold" grpId="0" nodeType="after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p:cTn id="25" dur="500" fill="hold"/>
                                        <p:tgtEl>
                                          <p:spTgt spid="37"/>
                                        </p:tgtEl>
                                        <p:attrNameLst>
                                          <p:attrName>ppt_w</p:attrName>
                                        </p:attrNameLst>
                                      </p:cBhvr>
                                      <p:tavLst>
                                        <p:tav tm="0">
                                          <p:val>
                                            <p:fltVal val="0"/>
                                          </p:val>
                                        </p:tav>
                                        <p:tav tm="100000">
                                          <p:val>
                                            <p:strVal val="#ppt_w"/>
                                          </p:val>
                                        </p:tav>
                                      </p:tavLst>
                                    </p:anim>
                                    <p:anim calcmode="lin" valueType="num">
                                      <p:cBhvr>
                                        <p:cTn id="26" dur="500" fill="hold"/>
                                        <p:tgtEl>
                                          <p:spTgt spid="37"/>
                                        </p:tgtEl>
                                        <p:attrNameLst>
                                          <p:attrName>ppt_h</p:attrName>
                                        </p:attrNameLst>
                                      </p:cBhvr>
                                      <p:tavLst>
                                        <p:tav tm="0">
                                          <p:val>
                                            <p:fltVal val="0"/>
                                          </p:val>
                                        </p:tav>
                                        <p:tav tm="100000">
                                          <p:val>
                                            <p:strVal val="#ppt_h"/>
                                          </p:val>
                                        </p:tav>
                                      </p:tavLst>
                                    </p:anim>
                                    <p:animEffect transition="in" filter="fade">
                                      <p:cBhvr>
                                        <p:cTn id="27" dur="500"/>
                                        <p:tgtEl>
                                          <p:spTgt spid="3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childTnLst>
                    </p:cTn>
                  </p:par>
                  <p:par>
                    <p:cTn id="42" fill="hold">
                      <p:stCondLst>
                        <p:cond delay="indefinite"/>
                      </p:stCondLst>
                      <p:childTnLst>
                        <p:par>
                          <p:cTn id="38"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wipe(left)">
                                      <p:cBhvr>
                                        <p:cTn id="35" dur="900"/>
                                        <p:tgtEl>
                                          <p:spTgt spid="50"/>
                                        </p:tgtEl>
                                      </p:cBhvr>
                                    </p:animEffect>
                                  </p:childTnLst>
                                </p:cTn>
                              </p:par>
                              <p:par>
                                <p:cTn id="36" presetID="0" presetClass="path" presetSubtype="0" accel="20000" decel="20000" fill="hold" grpId="0" nodeType="withEffect">
                                  <p:stCondLst>
                                    <p:cond delay="0"/>
                                  </p:stCondLst>
                                  <p:childTnLst>
                                    <p:animMotion origin="layout" path="M 0 0 L 0.1500 0.1667 L 0.3075 0.1867 L 0.4650 0.0800 L 0.6075 -0.1533 E" pathEditMode="relative" ptsTypes="">
                                      <p:cBhvr>
                                        <p:cTn id="37" dur="2600" fill="hold"/>
                                        <p:tgtEl>
                                          <p:spTgt spid="53"/>
                                        </p:tgtEl>
                                        <p:attrNameLst>
                                          <p:attrName>ppt_x</p:attrName>
                                          <p:attrName>ppt_y</p:attrName>
                                        </p:attrNameLst>
                                      </p:cBhvr>
                                      <p:rCtr x="30375" y="-7666"/>
                                    </p:animMotion>
                                  </p:childTnLst>
                                </p:cTn>
                              </p:par>
                            </p:childTnLst>
                          </p:cTn>
                        </p:par>
                        <p:par>
                          <p:cTn id="41" fill="hold">
                            <p:stCondLst>
                              <p:cond delay="500"/>
                            </p:stCondLst>
                            <p:childTnLst>
                              <p:par>
                                <p:cTn id="39" presetID="0" presetClass="path" presetSubtype="0" accel="20000" decel="20000" fill="hold" grpId="0" nodeType="afterEffect">
                                  <p:stCondLst>
                                    <p:cond delay="0"/>
                                  </p:stCondLst>
                                  <p:childTnLst>
                                    <p:animMotion origin="layout" path="M 0 0 L 0.1500 0.1667 L 0.3075 0.1867 L 0.4650 0.0800 L 0.6000 -0.1533 E" pathEditMode="relative" ptsTypes="">
                                      <p:cBhvr>
                                        <p:cTn id="40" dur="2600" fill="hold"/>
                                        <p:tgtEl>
                                          <p:spTgt spid="54"/>
                                        </p:tgtEl>
                                        <p:attrNameLst>
                                          <p:attrName>ppt_x</p:attrName>
                                          <p:attrName>ppt_y</p:attrName>
                                        </p:attrNameLst>
                                      </p:cBhvr>
                                      <p:rCtr x="30000" y="-7666"/>
                                    </p:animMotion>
                                  </p:childTnLst>
                                </p:cTn>
                              </p:par>
                            </p:childTnLst>
                          </p:cTn>
                        </p:par>
                      </p:childTnLst>
                    </p:cTn>
                  </p:par>
                  <p:par>
                    <p:cTn id="69" fill="hold">
                      <p:stCondLst>
                        <p:cond delay="indefinite"/>
                      </p:stCondLst>
                      <p:childTnLst>
                        <p:par>
                          <p:cTn id="46"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childTnLst>
                          </p:cTn>
                        </p:par>
                        <p:par>
                          <p:cTn id="50" fill="hold">
                            <p:stCondLst>
                              <p:cond delay="500"/>
                            </p:stCondLst>
                            <p:childTnLst>
                              <p:par>
                                <p:cTn id="47" presetID="22" presetClass="entr" presetSubtype="1" fill="hold" grpId="0" nodeType="after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wipe(up)">
                                      <p:cBhvr>
                                        <p:cTn id="49" dur="600"/>
                                        <p:tgtEl>
                                          <p:spTgt spid="40"/>
                                        </p:tgtEl>
                                      </p:cBhvr>
                                    </p:animEffect>
                                  </p:childTnLst>
                                </p:cTn>
                              </p:par>
                            </p:childTnLst>
                          </p:cTn>
                        </p:par>
                        <p:par>
                          <p:cTn id="54" fill="hold">
                            <p:stCondLst>
                              <p:cond delay="1100"/>
                            </p:stCondLst>
                            <p:childTnLst>
                              <p:par>
                                <p:cTn id="51" presetID="10" presetClass="entr" presetSubtype="0"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500"/>
                                        <p:tgtEl>
                                          <p:spTgt spid="43"/>
                                        </p:tgtEl>
                                      </p:cBhvr>
                                    </p:animEffect>
                                  </p:childTnLst>
                                </p:cTn>
                              </p:par>
                            </p:childTnLst>
                          </p:cTn>
                        </p:par>
                        <p:par>
                          <p:cTn id="58" fill="hold">
                            <p:stCondLst>
                              <p:cond delay="1600"/>
                            </p:stCondLst>
                            <p:childTnLst>
                              <p:par>
                                <p:cTn id="55" presetID="22" presetClass="entr" presetSubtype="1" fill="hold" grpId="0"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up)">
                                      <p:cBhvr>
                                        <p:cTn id="57" dur="600"/>
                                        <p:tgtEl>
                                          <p:spTgt spid="44"/>
                                        </p:tgtEl>
                                      </p:cBhvr>
                                    </p:animEffect>
                                  </p:childTnLst>
                                </p:cTn>
                              </p:par>
                            </p:childTnLst>
                          </p:cTn>
                        </p:par>
                        <p:par>
                          <p:cTn id="62" fill="hold">
                            <p:stCondLst>
                              <p:cond delay="2200"/>
                            </p:stCondLst>
                            <p:childTnLst>
                              <p:par>
                                <p:cTn id="59" presetID="10" presetClass="entr" presetSubtype="0" fill="hold" grpId="0" nodeType="afterEffect">
                                  <p:stCondLst>
                                    <p:cond delay="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500"/>
                                        <p:tgtEl>
                                          <p:spTgt spid="47"/>
                                        </p:tgtEl>
                                      </p:cBhvr>
                                    </p:animEffect>
                                  </p:childTnLst>
                                </p:cTn>
                              </p:par>
                            </p:childTnLst>
                          </p:cTn>
                        </p:par>
                        <p:par>
                          <p:cTn id="68" fill="hold">
                            <p:stCondLst>
                              <p:cond delay="2700"/>
                            </p:stCondLst>
                            <p:childTnLst>
                              <p:par>
                                <p:cTn id="63" presetID="53" presetClass="entr" presetSubtype="16" fill="hold" grpId="0" nodeType="afterEffect">
                                  <p:stCondLst>
                                    <p:cond delay="0"/>
                                  </p:stCondLst>
                                  <p:childTnLst>
                                    <p:set>
                                      <p:cBhvr>
                                        <p:cTn id="64" dur="1" fill="hold">
                                          <p:stCondLst>
                                            <p:cond delay="0"/>
                                          </p:stCondLst>
                                        </p:cTn>
                                        <p:tgtEl>
                                          <p:spTgt spid="48"/>
                                        </p:tgtEl>
                                        <p:attrNameLst>
                                          <p:attrName>style.visibility</p:attrName>
                                        </p:attrNameLst>
                                      </p:cBhvr>
                                      <p:to>
                                        <p:strVal val="visible"/>
                                      </p:to>
                                    </p:set>
                                    <p:anim calcmode="lin" valueType="num">
                                      <p:cBhvr>
                                        <p:cTn id="65" dur="500" fill="hold"/>
                                        <p:tgtEl>
                                          <p:spTgt spid="48"/>
                                        </p:tgtEl>
                                        <p:attrNameLst>
                                          <p:attrName>ppt_w</p:attrName>
                                        </p:attrNameLst>
                                      </p:cBhvr>
                                      <p:tavLst>
                                        <p:tav tm="0">
                                          <p:val>
                                            <p:fltVal val="0"/>
                                          </p:val>
                                        </p:tav>
                                        <p:tav tm="100000">
                                          <p:val>
                                            <p:strVal val="#ppt_w"/>
                                          </p:val>
                                        </p:tav>
                                      </p:tavLst>
                                    </p:anim>
                                    <p:anim calcmode="lin" valueType="num">
                                      <p:cBhvr>
                                        <p:cTn id="66" dur="500" fill="hold"/>
                                        <p:tgtEl>
                                          <p:spTgt spid="48"/>
                                        </p:tgtEl>
                                        <p:attrNameLst>
                                          <p:attrName>ppt_h</p:attrName>
                                        </p:attrNameLst>
                                      </p:cBhvr>
                                      <p:tavLst>
                                        <p:tav tm="0">
                                          <p:val>
                                            <p:fltVal val="0"/>
                                          </p:val>
                                        </p:tav>
                                        <p:tav tm="100000">
                                          <p:val>
                                            <p:strVal val="#ppt_h"/>
                                          </p:val>
                                        </p:tav>
                                      </p:tavLst>
                                    </p:anim>
                                    <p:animEffect transition="in" filter="fade">
                                      <p:cBhvr>
                                        <p:cTn id="67" dur="500"/>
                                        <p:tgtEl>
                                          <p:spTgt spid="48"/>
                                        </p:tgtEl>
                                      </p:cBhvr>
                                    </p:animEffect>
                                  </p:childTnLst>
                                </p:cTn>
                              </p:par>
                            </p:childTnLst>
                          </p:cTn>
                        </p:par>
                      </p:childTnLst>
                    </p:cTn>
                  </p:par>
                  <p:par>
                    <p:cTn id="79" fill="hold">
                      <p:stCondLst>
                        <p:cond delay="indefinite"/>
                      </p:stCondLst>
                      <p:childTnLst>
                        <p:par>
                          <p:cTn id="75" fill="hold">
                            <p:stCondLst>
                              <p:cond delay="0"/>
                            </p:stCondLst>
                            <p:childTnLst>
                              <p:par>
                                <p:cTn id="70" presetID="22" presetClass="entr" presetSubtype="2" fill="hold" grpId="0" nodeType="clickEffect">
                                  <p:stCondLst>
                                    <p:cond delay="0"/>
                                  </p:stCondLst>
                                  <p:childTnLst>
                                    <p:set>
                                      <p:cBhvr>
                                        <p:cTn id="71" dur="1" fill="hold">
                                          <p:stCondLst>
                                            <p:cond delay="0"/>
                                          </p:stCondLst>
                                        </p:cTn>
                                        <p:tgtEl>
                                          <p:spTgt spid="49"/>
                                        </p:tgtEl>
                                        <p:attrNameLst>
                                          <p:attrName>style.visibility</p:attrName>
                                        </p:attrNameLst>
                                      </p:cBhvr>
                                      <p:to>
                                        <p:strVal val="visible"/>
                                      </p:to>
                                    </p:set>
                                    <p:animEffect transition="in" filter="wipe(right)">
                                      <p:cBhvr>
                                        <p:cTn id="72" dur="900"/>
                                        <p:tgtEl>
                                          <p:spTgt spid="49"/>
                                        </p:tgtEl>
                                      </p:cBhvr>
                                    </p:animEffect>
                                  </p:childTnLst>
                                </p:cTn>
                              </p:par>
                              <p:par>
                                <p:cTn id="73" presetID="0" presetClass="path" presetSubtype="0" accel="20000" decel="20000" fill="hold" grpId="0" nodeType="withEffect">
                                  <p:stCondLst>
                                    <p:cond delay="0"/>
                                  </p:stCondLst>
                                  <p:childTnLst>
                                    <p:animMotion origin="layout" path="M 0 0 L -0.1350 -0.2133 L -0.2700 -0.2467 L -0.4050 -0.1733 L -0.5100 -0.0800 E" pathEditMode="relative" ptsTypes="">
                                      <p:cBhvr>
                                        <p:cTn id="74" dur="2600" fill="hold"/>
                                        <p:tgtEl>
                                          <p:spTgt spid="55"/>
                                        </p:tgtEl>
                                        <p:attrNameLst>
                                          <p:attrName>ppt_x</p:attrName>
                                          <p:attrName>ppt_y</p:attrName>
                                        </p:attrNameLst>
                                      </p:cBhvr>
                                      <p:rCtr x="-25500" y="-4000"/>
                                    </p:animMotion>
                                  </p:childTnLst>
                                </p:cTn>
                              </p:par>
                            </p:childTnLst>
                          </p:cTn>
                        </p:par>
                        <p:par>
                          <p:cTn id="78" fill="hold">
                            <p:stCondLst>
                              <p:cond delay="500"/>
                            </p:stCondLst>
                            <p:childTnLst>
                              <p:par>
                                <p:cTn id="76" presetID="0" presetClass="path" presetSubtype="0" accel="20000" decel="20000" fill="hold" grpId="0" nodeType="afterEffect">
                                  <p:stCondLst>
                                    <p:cond delay="0"/>
                                  </p:stCondLst>
                                  <p:childTnLst>
                                    <p:animMotion origin="layout" path="M 0 0 L -0.1350 -0.2133 L -0.2700 -0.2467 L -0.4050 -0.1733 L -0.5025 -0.0800 E" pathEditMode="relative" ptsTypes="">
                                      <p:cBhvr>
                                        <p:cTn id="77" dur="2600" fill="hold"/>
                                        <p:tgtEl>
                                          <p:spTgt spid="56"/>
                                        </p:tgtEl>
                                        <p:attrNameLst>
                                          <p:attrName>ppt_x</p:attrName>
                                          <p:attrName>ppt_y</p:attrName>
                                        </p:attrNameLst>
                                      </p:cBhvr>
                                      <p:rCtr x="-25125" y="-4000"/>
                                    </p:animMotion>
                                  </p:childTnLst>
                                </p:cTn>
                              </p:par>
                            </p:childTnLst>
                          </p:cTn>
                        </p:par>
                      </p:childTnLst>
                    </p:cTn>
                  </p:par>
                  <p:par>
                    <p:cTn id="84" fill="hold">
                      <p:stCondLst>
                        <p:cond delay="indefinite"/>
                      </p:stCondLst>
                      <p:childTnLst>
                        <p:par>
                          <p:cTn id="83"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7"/>
                                        </p:tgtEl>
                                        <p:attrNameLst>
                                          <p:attrName>style.visibility</p:attrName>
                                        </p:attrNameLst>
                                      </p:cBhvr>
                                      <p:to>
                                        <p:strVal val="visible"/>
                                      </p:to>
                                    </p:set>
                                    <p:animEffect transition="in" filter="fade">
                                      <p:cBhvr>
                                        <p:cTn id="8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2" grpId="0" animBg="1"/>
      <p:bldP spid="36" grpId="0" animBg="1"/>
      <p:bldP spid="37" grpId="0" animBg="1"/>
      <p:bldP spid="38" grpId="0" animBg="1"/>
      <p:bldP spid="50" grpId="0" animBg="1"/>
      <p:bldP spid="53" grpId="0" animBg="1"/>
      <p:bldP spid="54" grpId="0" animBg="1"/>
      <p:bldP spid="39" grpId="0" animBg="1"/>
      <p:bldP spid="43" grpId="0" animBg="1"/>
      <p:bldP spid="47" grpId="0" animBg="1"/>
      <p:bldP spid="48" grpId="0" animBg="1"/>
      <p:bldP spid="49" grpId="0" animBg="1"/>
      <p:bldP spid="55" grpId="0" animBg="1"/>
      <p:bldP spid="56" grpId="0" animBg="1"/>
      <p:bldP spid="57" grpId="0" animBg="1"/>
    </p:bldLst>
  </p:timing>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Columna periferia"/>
          <p:cNvGrpSpPr/>
          <p:nvPr/>
        </p:nvGrpSpPr>
        <p:grpSpPr>
          <a:xfrm>
            <a:off x="365760" y="1051560"/>
            <a:ext cx="3657600" cy="2926080"/>
            <a:chOff x="365760" y="1051560"/>
            <a:chExt cx="3657600" cy="2926080"/>
          </a:xfrm>
        </p:grpSpPr>
        <p:sp>
          <p:nvSpPr>
            <p:cNvPr id="5" name="Forma 4"/>
            <p:cNvSpPr/>
            <p:nvPr/>
          </p:nvSpPr>
          <p:spPr>
            <a:xfrm>
              <a:off x="365760" y="1051560"/>
              <a:ext cx="3657600" cy="29260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sp>
          <p:nvSpPr>
            <p:cNvPr id="6" name="Forma 5"/>
            <p:cNvSpPr txBox="1"/>
            <p:nvPr/>
          </p:nvSpPr>
          <p:spPr>
            <a:xfrm>
              <a:off x="457200" y="1097280"/>
              <a:ext cx="3474720" cy="411480"/>
            </a:xfrm>
            <a:prstGeom prst="rect">
              <a:avLst/>
            </a:prstGeom>
            <a:noFill/>
            <a:ln>
              <a:noFill/>
            </a:ln>
          </p:spPr>
          <p:txBody>
            <a:bodyPr wrap="square" lIns="0" tIns="0" rIns="0" bIns="0" anchor="ctr" rtlCol="0">
              <a:noAutofit/>
            </a:bodyPr>
            <a:lstStyle/>
            <a:p>
              <a:pPr algn="ctr">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PERIFERIA</a:t>
              </a:r>
              <a:endParaRPr lang="es-AR" sz="1700" dirty="0">
                <a:latin typeface="Bahnschrift SemiBold Condensed"/>
              </a:endParaRPr>
            </a:p>
          </p:txBody>
        </p:sp>
        <p:sp>
          <p:nvSpPr>
            <p:cNvPr id="7" name="Forma 6"/>
            <p:cNvSpPr txBox="1"/>
            <p:nvPr/>
          </p:nvSpPr>
          <p:spPr>
            <a:xfrm>
              <a:off x="548640" y="1600200"/>
              <a:ext cx="3291840" cy="640080"/>
            </a:xfrm>
            <a:prstGeom prst="rect">
              <a:avLst/>
            </a:prstGeom>
            <a:noFill/>
            <a:ln>
              <a:noFill/>
            </a:ln>
          </p:spPr>
          <p:txBody>
            <a:bodyPr wrap="square" lIns="0" tIns="0" rIns="0" bIns="0" anchor="ctr" rtlCol="0">
              <a:noAutofit/>
            </a:bodyPr>
            <a:lstStyle/>
            <a:p>
              <a:pPr algn="ctr">
                <a:spcAft>
                  <a:spcPts val="300"/>
                </a:spcAft>
                <a:buNone/>
              </a:pPr>
              <a:r>
                <a:rPr lang="es-AR" sz="1600" dirty="0">
                  <a:solidFill>
                    <a:srgbClr val="1E1E1E"/>
                  </a:solidFill>
                  <a:latin typeface="Bahnschrift SemiBold Condensed"/>
                  <a:ea typeface="Bahnschrift SemiBold Condensed"/>
                  <a:cs typeface="Bahnschrift SemiBold Condensed"/>
                  <a:sym typeface="Bahnschrift SemiBold Condensed"/>
                </a:rPr>
                <a:t>Glucosa → 2 lactato</a:t>
              </a:r>
              <a:endParaRPr lang="es-AR" sz="1600" dirty="0">
                <a:latin typeface="Bahnschrift SemiBold Condensed"/>
              </a:endParaRPr>
            </a:p>
          </p:txBody>
        </p:sp>
        <p:sp>
          <p:nvSpPr>
            <p:cNvPr id="8" name="Forma 7"/>
            <p:cNvSpPr/>
            <p:nvPr/>
          </p:nvSpPr>
          <p:spPr>
            <a:xfrm>
              <a:off x="1097280" y="2377440"/>
              <a:ext cx="2194560" cy="1097280"/>
            </a:xfrm>
            <a:prstGeom prst="round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3000" b="1" dirty="0">
                  <a:solidFill>
                    <a:srgbClr val="1E1E1E"/>
                  </a:solidFill>
                  <a:latin typeface="Bahnschrift SemiBold Condensed"/>
                  <a:ea typeface="Bahnschrift SemiBold Condensed"/>
                  <a:cs typeface="Bahnschrift SemiBold Condensed"/>
                  <a:sym typeface="Bahnschrift SemiBold Condensed"/>
                </a:rPr>
                <a:t>+2 ATP</a:t>
              </a:r>
              <a:endParaRPr lang="es-AR" sz="3000" dirty="0">
                <a:latin typeface="Bahnschrift SemiBold Condensed"/>
              </a:endParaRPr>
            </a:p>
          </p:txBody>
        </p:sp>
      </p:grpSp>
      <p:grpSp>
        <p:nvGrpSpPr>
          <p:cNvPr id="9" name="Columna hígado"/>
          <p:cNvGrpSpPr/>
          <p:nvPr/>
        </p:nvGrpSpPr>
        <p:grpSpPr>
          <a:xfrm>
            <a:off x="8138160" y="1051560"/>
            <a:ext cx="3657600" cy="2926080"/>
            <a:chOff x="8138160" y="1051560"/>
            <a:chExt cx="3657600" cy="2926080"/>
          </a:xfrm>
        </p:grpSpPr>
        <p:sp>
          <p:nvSpPr>
            <p:cNvPr id="10" name="Forma 9"/>
            <p:cNvSpPr/>
            <p:nvPr/>
          </p:nvSpPr>
          <p:spPr>
            <a:xfrm>
              <a:off x="8138160" y="1051560"/>
              <a:ext cx="3657600" cy="29260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sp>
          <p:nvSpPr>
            <p:cNvPr id="11" name="Forma 10"/>
            <p:cNvSpPr txBox="1"/>
            <p:nvPr/>
          </p:nvSpPr>
          <p:spPr>
            <a:xfrm>
              <a:off x="8229600" y="1097280"/>
              <a:ext cx="3474720" cy="411480"/>
            </a:xfrm>
            <a:prstGeom prst="rect">
              <a:avLst/>
            </a:prstGeom>
            <a:noFill/>
            <a:ln>
              <a:noFill/>
            </a:ln>
          </p:spPr>
          <p:txBody>
            <a:bodyPr wrap="square" lIns="0" tIns="0" rIns="0" bIns="0" anchor="ctr" rtlCol="0">
              <a:noAutofit/>
            </a:bodyPr>
            <a:lstStyle/>
            <a:p>
              <a:pPr algn="ctr">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HÍGADO</a:t>
              </a:r>
              <a:endParaRPr lang="es-AR" sz="1700" dirty="0">
                <a:latin typeface="Bahnschrift SemiBold Condensed"/>
              </a:endParaRPr>
            </a:p>
          </p:txBody>
        </p:sp>
        <p:sp>
          <p:nvSpPr>
            <p:cNvPr id="12" name="Forma 11"/>
            <p:cNvSpPr txBox="1"/>
            <p:nvPr/>
          </p:nvSpPr>
          <p:spPr>
            <a:xfrm>
              <a:off x="8321040" y="1600200"/>
              <a:ext cx="3291840" cy="640080"/>
            </a:xfrm>
            <a:prstGeom prst="rect">
              <a:avLst/>
            </a:prstGeom>
            <a:noFill/>
            <a:ln>
              <a:noFill/>
            </a:ln>
          </p:spPr>
          <p:txBody>
            <a:bodyPr wrap="square" lIns="0" tIns="0" rIns="0" bIns="0" anchor="ctr" rtlCol="0">
              <a:noAutofit/>
            </a:bodyPr>
            <a:lstStyle/>
            <a:p>
              <a:pPr algn="ctr">
                <a:spcAft>
                  <a:spcPts val="300"/>
                </a:spcAft>
                <a:buNone/>
              </a:pPr>
              <a:r>
                <a:rPr lang="es-AR" sz="1600" dirty="0">
                  <a:solidFill>
                    <a:srgbClr val="1E1E1E"/>
                  </a:solidFill>
                  <a:latin typeface="Bahnschrift SemiBold Condensed"/>
                  <a:ea typeface="Bahnschrift SemiBold Condensed"/>
                  <a:cs typeface="Bahnschrift SemiBold Condensed"/>
                  <a:sym typeface="Bahnschrift SemiBold Condensed"/>
                </a:rPr>
                <a:t>2 lactato → glucosa</a:t>
              </a:r>
              <a:endParaRPr lang="es-AR" sz="1600" dirty="0">
                <a:latin typeface="Bahnschrift SemiBold Condensed"/>
              </a:endParaRPr>
            </a:p>
          </p:txBody>
        </p:sp>
        <p:sp>
          <p:nvSpPr>
            <p:cNvPr id="13" name="Forma 12"/>
            <p:cNvSpPr/>
            <p:nvPr/>
          </p:nvSpPr>
          <p:spPr>
            <a:xfrm>
              <a:off x="8686800" y="2377440"/>
              <a:ext cx="2560320" cy="1097280"/>
            </a:xfrm>
            <a:prstGeom prst="roundRect">
              <a:avLst/>
            </a:prstGeom>
            <a:solidFill>
              <a:srgbClr val="F5B7B1"/>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400" b="1" dirty="0">
                  <a:solidFill>
                    <a:srgbClr val="1E1E1E"/>
                  </a:solidFill>
                  <a:latin typeface="Bahnschrift SemiBold Condensed"/>
                  <a:ea typeface="Bahnschrift SemiBold Condensed"/>
                  <a:cs typeface="Bahnschrift SemiBold Condensed"/>
                  <a:sym typeface="Bahnschrift SemiBold Condensed"/>
                </a:rPr>
                <a:t>−4 ATP −2 GTP</a:t>
              </a:r>
              <a:endParaRPr lang="es-AR" sz="2400" dirty="0">
                <a:latin typeface="Bahnschrift SemiBold Condensed"/>
              </a:endParaRPr>
            </a:p>
          </p:txBody>
        </p:sp>
      </p:grpSp>
      <p:sp>
        <p:nvSpPr>
          <p:cNvPr id="14" name="Balance neto"/>
          <p:cNvSpPr/>
          <p:nvPr/>
        </p:nvSpPr>
        <p:spPr>
          <a:xfrm>
            <a:off x="4297680" y="2011680"/>
            <a:ext cx="3566160" cy="109728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700" dirty="0">
                <a:solidFill>
                  <a:srgbClr val="1E1E1E"/>
                </a:solidFill>
                <a:latin typeface="Bahnschrift SemiBold Condensed"/>
                <a:ea typeface="Bahnschrift SemiBold Condensed"/>
                <a:cs typeface="Bahnschrift SemiBold Condensed"/>
                <a:sym typeface="Bahnschrift SemiBold Condensed"/>
              </a:rPr>
              <a:t>Balance neto:</a:t>
            </a:r>
            <a:endParaRPr lang="es-AR" sz="1700" dirty="0">
              <a:latin typeface="Bahnschrift SemiBold Condensed"/>
            </a:endParaRPr>
          </a:p>
          <a:p>
            <a:pPr algn="ctr">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−4 enlaces</a:t>
            </a:r>
            <a:r>
              <a:rPr lang="es-AR" sz="1700" dirty="0">
                <a:solidFill>
                  <a:srgbClr val="1E1E1E"/>
                </a:solidFill>
                <a:latin typeface="Bahnschrift SemiBold Condensed"/>
                <a:ea typeface="Bahnschrift SemiBold Condensed"/>
                <a:cs typeface="Bahnschrift SemiBold Condensed"/>
                <a:sym typeface="Bahnschrift SemiBold Condensed"/>
              </a:rPr>
              <a:t> ~P por vuelta</a:t>
            </a:r>
            <a:endParaRPr lang="es-AR" sz="1700" dirty="0">
              <a:latin typeface="Bahnschrift SemiBold Condensed"/>
            </a:endParaRPr>
          </a:p>
        </p:txBody>
      </p:sp>
      <p:grpSp>
        <p:nvGrpSpPr>
          <p:cNvPr id="15" name="Recuadro Propósito"/>
          <p:cNvGrpSpPr/>
          <p:nvPr/>
        </p:nvGrpSpPr>
        <p:grpSpPr>
          <a:xfrm>
            <a:off x="365760" y="4206240"/>
            <a:ext cx="5577840" cy="2286000"/>
            <a:chOff x="365760" y="4206240"/>
            <a:chExt cx="5577840" cy="2286000"/>
          </a:xfrm>
        </p:grpSpPr>
        <p:sp>
          <p:nvSpPr>
            <p:cNvPr id="16" name="Forma 15"/>
            <p:cNvSpPr/>
            <p:nvPr/>
          </p:nvSpPr>
          <p:spPr>
            <a:xfrm>
              <a:off x="365760" y="4389120"/>
              <a:ext cx="5577840" cy="2103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El gasto hepático se soporta sobre todo con </a:t>
              </a:r>
              <a:r>
                <a:rPr lang="es-AR" sz="1700" b="1" dirty="0">
                  <a:solidFill>
                    <a:srgbClr val="1E1E1E"/>
                  </a:solidFill>
                  <a:latin typeface="Bahnschrift"/>
                  <a:ea typeface="Bahnschrift"/>
                  <a:cs typeface="Bahnschrift"/>
                  <a:sym typeface="Bahnschrift"/>
                </a:rPr>
                <a:t>β-oxidación</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Traslada carga energética</a:t>
              </a:r>
              <a:r>
                <a:rPr lang="es-AR" sz="1700" dirty="0">
                  <a:solidFill>
                    <a:srgbClr val="1E1E1E"/>
                  </a:solidFill>
                  <a:latin typeface="Bahnschrift"/>
                  <a:ea typeface="Bahnschrift"/>
                  <a:cs typeface="Bahnschrift"/>
                  <a:sym typeface="Bahnschrift"/>
                </a:rPr>
                <a:t> de la periferia al hígado.</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Evita la </a:t>
              </a:r>
              <a:r>
                <a:rPr lang="es-AR" sz="1700" b="1" dirty="0">
                  <a:solidFill>
                    <a:srgbClr val="1E1E1E"/>
                  </a:solidFill>
                  <a:latin typeface="Bahnschrift"/>
                  <a:ea typeface="Bahnschrift"/>
                  <a:cs typeface="Bahnschrift"/>
                  <a:sym typeface="Bahnschrift"/>
                </a:rPr>
                <a:t>acumulación neta de lactato</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17" name="Forma 16"/>
            <p:cNvSpPr/>
            <p:nvPr/>
          </p:nvSpPr>
          <p:spPr>
            <a:xfrm>
              <a:off x="475488" y="4206240"/>
              <a:ext cx="117698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PROPÓSITO</a:t>
              </a:r>
              <a:endParaRPr lang="es-AR" sz="1550" dirty="0">
                <a:latin typeface="Bahnschrift SemiBold Condensed"/>
              </a:endParaRPr>
            </a:p>
          </p:txBody>
        </p:sp>
      </p:grpSp>
      <p:sp>
        <p:nvSpPr>
          <p:cNvPr id="18" name="Perla"/>
          <p:cNvSpPr/>
          <p:nvPr/>
        </p:nvSpPr>
        <p:spPr>
          <a:xfrm>
            <a:off x="6217920" y="4206240"/>
            <a:ext cx="5577840" cy="22860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No es un sistema de «energía gratis»: cada vuelta </a:t>
            </a:r>
            <a:r>
              <a:rPr lang="es-AR" sz="1750" b="1" dirty="0">
                <a:solidFill>
                  <a:srgbClr val="FFFFFF"/>
                </a:solidFill>
                <a:latin typeface="Bahnschrift"/>
                <a:ea typeface="Bahnschrift"/>
                <a:cs typeface="Bahnschrift"/>
                <a:sym typeface="Bahnschrift"/>
              </a:rPr>
              <a:t>consume</a:t>
            </a:r>
            <a:r>
              <a:rPr lang="es-AR" sz="1750" dirty="0">
                <a:solidFill>
                  <a:srgbClr val="FFFFFF"/>
                </a:solidFill>
                <a:latin typeface="Bahnschrift"/>
                <a:ea typeface="Bahnschrift"/>
                <a:cs typeface="Bahnschrift"/>
                <a:sym typeface="Bahnschrift"/>
              </a:rPr>
              <a:t> más enlaces de alta energía de los que la glucólisis periférica produce.</a:t>
            </a:r>
            <a:endParaRPr lang="es-AR" sz="175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603972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9 · BALANCE ENERGÉTICO DEL CICLO DE CORI</a:t>
            </a:r>
            <a:endParaRPr lang="es-AR" sz="2600" dirty="0">
              <a:latin typeface="Bahnschrift SemiBold Condensed"/>
            </a:endParaRPr>
          </a:p>
        </p:txBody>
      </p:sp>
      <p:sp>
        <p:nvSpPr>
          <p:cNvPr id="1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p:cTn id="15" dur="500" fill="hold"/>
                                        <p:tgtEl>
                                          <p:spTgt spid="14"/>
                                        </p:tgtEl>
                                        <p:attrNameLst>
                                          <p:attrName>ppt_w</p:attrName>
                                        </p:attrNameLst>
                                      </p:cBhvr>
                                      <p:tavLst>
                                        <p:tav tm="0">
                                          <p:val>
                                            <p:fltVal val="0"/>
                                          </p:val>
                                        </p:tav>
                                        <p:tav tm="100000">
                                          <p:val>
                                            <p:strVal val="#ppt_w"/>
                                          </p:val>
                                        </p:tav>
                                      </p:tavLst>
                                    </p:anim>
                                    <p:anim calcmode="lin" valueType="num">
                                      <p:cBhvr>
                                        <p:cTn id="16" dur="500" fill="hold"/>
                                        <p:tgtEl>
                                          <p:spTgt spid="14"/>
                                        </p:tgtEl>
                                        <p:attrNameLst>
                                          <p:attrName>ppt_h</p:attrName>
                                        </p:attrNameLst>
                                      </p:cBhvr>
                                      <p:tavLst>
                                        <p:tav tm="0">
                                          <p:val>
                                            <p:fltVal val="0"/>
                                          </p:val>
                                        </p:tav>
                                        <p:tav tm="100000">
                                          <p:val>
                                            <p:strVal val="#ppt_h"/>
                                          </p:val>
                                        </p:tav>
                                      </p:tavLst>
                                    </p:anim>
                                    <p:animEffect transition="in" filter="fade">
                                      <p:cBhvr>
                                        <p:cTn id="17" dur="500"/>
                                        <p:tgtEl>
                                          <p:spTgt spid="14"/>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animBg="1"/>
    </p:bldLst>
  </p:timing>
</p:sld>
</file>

<file path=ppt/slides/slide71.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Músculo alanina"/>
          <p:cNvGrpSpPr/>
          <p:nvPr/>
        </p:nvGrpSpPr>
        <p:grpSpPr>
          <a:xfrm>
            <a:off x="365760" y="1005840"/>
            <a:ext cx="3291840" cy="1079724"/>
            <a:chOff x="365760" y="1005840"/>
            <a:chExt cx="3291840" cy="1079724"/>
          </a:xfrm>
        </p:grpSpPr>
        <p:grpSp>
          <p:nvGrpSpPr>
            <p:cNvPr id="5" name="Fibra"/>
            <p:cNvGrpSpPr/>
            <p:nvPr/>
          </p:nvGrpSpPr>
          <p:grpSpPr>
            <a:xfrm>
              <a:off x="365760" y="1005840"/>
              <a:ext cx="3160166" cy="526694"/>
              <a:chOff x="365760" y="1005840"/>
              <a:chExt cx="3160166" cy="526694"/>
            </a:xfrm>
          </p:grpSpPr>
          <p:sp>
            <p:nvSpPr>
              <p:cNvPr id="6" name="Forma 5"/>
              <p:cNvSpPr/>
              <p:nvPr/>
            </p:nvSpPr>
            <p:spPr>
              <a:xfrm>
                <a:off x="365760" y="1005840"/>
                <a:ext cx="3160166"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497434" y="1005840"/>
                <a:ext cx="2896819" cy="526694"/>
              </a:xfrm>
              <a:custGeom>
                <a:avLst/>
                <a:gdLst/>
                <a:ahLst/>
                <a:cxnLst/>
                <a:rect l="0" t="0" r="r" b="b"/>
                <a:pathLst>
                  <a:path w="1000" h="1000" fill="none">
                    <a:moveTo>
                      <a:pt x="13" y="80"/>
                    </a:moveTo>
                    <a:lnTo>
                      <a:pt x="13" y="920"/>
                    </a:lnTo>
                  </a:path>
                  <a:path w="1000" h="1000" fill="none">
                    <a:moveTo>
                      <a:pt x="39" y="80"/>
                    </a:moveTo>
                    <a:lnTo>
                      <a:pt x="39" y="920"/>
                    </a:lnTo>
                  </a:path>
                  <a:path w="1000" h="1000" fill="none">
                    <a:moveTo>
                      <a:pt x="65" y="80"/>
                    </a:moveTo>
                    <a:lnTo>
                      <a:pt x="65" y="920"/>
                    </a:lnTo>
                  </a:path>
                  <a:path w="1000" h="1000" fill="none">
                    <a:moveTo>
                      <a:pt x="92" y="80"/>
                    </a:moveTo>
                    <a:lnTo>
                      <a:pt x="92" y="920"/>
                    </a:lnTo>
                  </a:path>
                  <a:path w="1000" h="1000" fill="none">
                    <a:moveTo>
                      <a:pt x="118" y="80"/>
                    </a:moveTo>
                    <a:lnTo>
                      <a:pt x="118" y="920"/>
                    </a:lnTo>
                  </a:path>
                  <a:path w="1000" h="1000" fill="none">
                    <a:moveTo>
                      <a:pt x="144" y="80"/>
                    </a:moveTo>
                    <a:lnTo>
                      <a:pt x="144" y="920"/>
                    </a:lnTo>
                  </a:path>
                  <a:path w="1000" h="1000" fill="none">
                    <a:moveTo>
                      <a:pt x="171" y="80"/>
                    </a:moveTo>
                    <a:lnTo>
                      <a:pt x="171" y="920"/>
                    </a:lnTo>
                  </a:path>
                  <a:path w="1000" h="1000" fill="none">
                    <a:moveTo>
                      <a:pt x="197" y="80"/>
                    </a:moveTo>
                    <a:lnTo>
                      <a:pt x="197" y="920"/>
                    </a:lnTo>
                  </a:path>
                  <a:path w="1000" h="1000" fill="none">
                    <a:moveTo>
                      <a:pt x="223" y="80"/>
                    </a:moveTo>
                    <a:lnTo>
                      <a:pt x="223" y="920"/>
                    </a:lnTo>
                  </a:path>
                  <a:path w="1000" h="1000" fill="none">
                    <a:moveTo>
                      <a:pt x="250" y="80"/>
                    </a:moveTo>
                    <a:lnTo>
                      <a:pt x="250" y="920"/>
                    </a:lnTo>
                  </a:path>
                  <a:path w="1000" h="1000" fill="none">
                    <a:moveTo>
                      <a:pt x="276" y="80"/>
                    </a:moveTo>
                    <a:lnTo>
                      <a:pt x="276" y="920"/>
                    </a:lnTo>
                  </a:path>
                  <a:path w="1000" h="1000" fill="none">
                    <a:moveTo>
                      <a:pt x="302" y="80"/>
                    </a:moveTo>
                    <a:lnTo>
                      <a:pt x="302" y="920"/>
                    </a:lnTo>
                  </a:path>
                  <a:path w="1000" h="1000" fill="none">
                    <a:moveTo>
                      <a:pt x="328" y="80"/>
                    </a:moveTo>
                    <a:lnTo>
                      <a:pt x="328" y="920"/>
                    </a:lnTo>
                  </a:path>
                  <a:path w="1000" h="1000" fill="none">
                    <a:moveTo>
                      <a:pt x="355" y="80"/>
                    </a:moveTo>
                    <a:lnTo>
                      <a:pt x="355" y="920"/>
                    </a:lnTo>
                  </a:path>
                  <a:path w="1000" h="1000" fill="none">
                    <a:moveTo>
                      <a:pt x="381" y="80"/>
                    </a:moveTo>
                    <a:lnTo>
                      <a:pt x="381" y="920"/>
                    </a:lnTo>
                  </a:path>
                  <a:path w="1000" h="1000" fill="none">
                    <a:moveTo>
                      <a:pt x="407" y="80"/>
                    </a:moveTo>
                    <a:lnTo>
                      <a:pt x="407" y="920"/>
                    </a:lnTo>
                  </a:path>
                  <a:path w="1000" h="1000" fill="none">
                    <a:moveTo>
                      <a:pt x="434" y="80"/>
                    </a:moveTo>
                    <a:lnTo>
                      <a:pt x="434" y="920"/>
                    </a:lnTo>
                  </a:path>
                  <a:path w="1000" h="1000" fill="none">
                    <a:moveTo>
                      <a:pt x="460" y="80"/>
                    </a:moveTo>
                    <a:lnTo>
                      <a:pt x="460" y="920"/>
                    </a:lnTo>
                  </a:path>
                  <a:path w="1000" h="1000" fill="none">
                    <a:moveTo>
                      <a:pt x="486" y="80"/>
                    </a:moveTo>
                    <a:lnTo>
                      <a:pt x="486" y="920"/>
                    </a:lnTo>
                  </a:path>
                  <a:path w="1000" h="1000" fill="none">
                    <a:moveTo>
                      <a:pt x="513" y="80"/>
                    </a:moveTo>
                    <a:lnTo>
                      <a:pt x="513" y="920"/>
                    </a:lnTo>
                  </a:path>
                  <a:path w="1000" h="1000" fill="none">
                    <a:moveTo>
                      <a:pt x="539" y="80"/>
                    </a:moveTo>
                    <a:lnTo>
                      <a:pt x="539" y="920"/>
                    </a:lnTo>
                  </a:path>
                  <a:path w="1000" h="1000" fill="none">
                    <a:moveTo>
                      <a:pt x="565" y="80"/>
                    </a:moveTo>
                    <a:lnTo>
                      <a:pt x="565" y="920"/>
                    </a:lnTo>
                  </a:path>
                  <a:path w="1000" h="1000" fill="none">
                    <a:moveTo>
                      <a:pt x="592" y="80"/>
                    </a:moveTo>
                    <a:lnTo>
                      <a:pt x="592" y="920"/>
                    </a:lnTo>
                  </a:path>
                  <a:path w="1000" h="1000" fill="none">
                    <a:moveTo>
                      <a:pt x="618" y="80"/>
                    </a:moveTo>
                    <a:lnTo>
                      <a:pt x="618" y="920"/>
                    </a:lnTo>
                  </a:path>
                  <a:path w="1000" h="1000" fill="none">
                    <a:moveTo>
                      <a:pt x="644" y="80"/>
                    </a:moveTo>
                    <a:lnTo>
                      <a:pt x="644" y="920"/>
                    </a:lnTo>
                  </a:path>
                  <a:path w="1000" h="1000" fill="none">
                    <a:moveTo>
                      <a:pt x="671" y="80"/>
                    </a:moveTo>
                    <a:lnTo>
                      <a:pt x="671" y="920"/>
                    </a:lnTo>
                  </a:path>
                  <a:path w="1000" h="1000" fill="none">
                    <a:moveTo>
                      <a:pt x="697" y="80"/>
                    </a:moveTo>
                    <a:lnTo>
                      <a:pt x="697" y="920"/>
                    </a:lnTo>
                  </a:path>
                  <a:path w="1000" h="1000" fill="none">
                    <a:moveTo>
                      <a:pt x="723" y="80"/>
                    </a:moveTo>
                    <a:lnTo>
                      <a:pt x="723" y="920"/>
                    </a:lnTo>
                  </a:path>
                  <a:path w="1000" h="1000" fill="none">
                    <a:moveTo>
                      <a:pt x="750" y="80"/>
                    </a:moveTo>
                    <a:lnTo>
                      <a:pt x="750" y="920"/>
                    </a:lnTo>
                  </a:path>
                  <a:path w="1000" h="1000" fill="none">
                    <a:moveTo>
                      <a:pt x="776" y="80"/>
                    </a:moveTo>
                    <a:lnTo>
                      <a:pt x="776" y="920"/>
                    </a:lnTo>
                  </a:path>
                  <a:path w="1000" h="1000" fill="none">
                    <a:moveTo>
                      <a:pt x="802" y="80"/>
                    </a:moveTo>
                    <a:lnTo>
                      <a:pt x="802" y="920"/>
                    </a:lnTo>
                  </a:path>
                  <a:path w="1000" h="1000" fill="none">
                    <a:moveTo>
                      <a:pt x="828" y="80"/>
                    </a:moveTo>
                    <a:lnTo>
                      <a:pt x="828" y="920"/>
                    </a:lnTo>
                  </a:path>
                  <a:path w="1000" h="1000" fill="none">
                    <a:moveTo>
                      <a:pt x="855" y="80"/>
                    </a:moveTo>
                    <a:lnTo>
                      <a:pt x="855" y="920"/>
                    </a:lnTo>
                  </a:path>
                  <a:path w="1000" h="1000" fill="none">
                    <a:moveTo>
                      <a:pt x="881" y="80"/>
                    </a:moveTo>
                    <a:lnTo>
                      <a:pt x="881" y="920"/>
                    </a:lnTo>
                  </a:path>
                  <a:path w="1000" h="1000" fill="none">
                    <a:moveTo>
                      <a:pt x="907" y="80"/>
                    </a:moveTo>
                    <a:lnTo>
                      <a:pt x="907" y="920"/>
                    </a:lnTo>
                  </a:path>
                  <a:path w="1000" h="1000" fill="none">
                    <a:moveTo>
                      <a:pt x="934" y="80"/>
                    </a:moveTo>
                    <a:lnTo>
                      <a:pt x="934" y="920"/>
                    </a:lnTo>
                  </a:path>
                  <a:path w="1000" h="1000" fill="none">
                    <a:moveTo>
                      <a:pt x="960" y="80"/>
                    </a:moveTo>
                    <a:lnTo>
                      <a:pt x="960" y="920"/>
                    </a:lnTo>
                  </a:path>
                  <a:path w="1000" h="1000" fill="none">
                    <a:moveTo>
                      <a:pt x="986" y="80"/>
                    </a:moveTo>
                    <a:lnTo>
                      <a:pt x="986" y="920"/>
                    </a:lnTo>
                  </a:path>
                </a:pathLst>
              </a:custGeom>
              <a:noFill/>
              <a:ln w="12700" cap="rnd">
                <a:solidFill>
                  <a:srgbClr val="822E27"/>
                </a:solidFill>
                <a:round/>
              </a:ln>
            </p:spPr>
          </p:sp>
          <p:sp>
            <p:nvSpPr>
              <p:cNvPr id="8" name="Forma 7"/>
              <p:cNvSpPr/>
              <p:nvPr/>
            </p:nvSpPr>
            <p:spPr>
              <a:xfrm>
                <a:off x="997793"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2103852"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3051901" y="102690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3304715" y="1026908"/>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497434" y="1558869"/>
              <a:ext cx="3160166" cy="526694"/>
              <a:chOff x="497434" y="1558869"/>
              <a:chExt cx="3160166" cy="526694"/>
            </a:xfrm>
          </p:grpSpPr>
          <p:sp>
            <p:nvSpPr>
              <p:cNvPr id="13" name="Forma 12"/>
              <p:cNvSpPr/>
              <p:nvPr/>
            </p:nvSpPr>
            <p:spPr>
              <a:xfrm>
                <a:off x="497434" y="1558869"/>
                <a:ext cx="3160166"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629107" y="1558869"/>
                <a:ext cx="2896819" cy="526694"/>
              </a:xfrm>
              <a:custGeom>
                <a:avLst/>
                <a:gdLst/>
                <a:ahLst/>
                <a:cxnLst/>
                <a:rect l="0" t="0" r="r" b="b"/>
                <a:pathLst>
                  <a:path w="1000" h="1000" fill="none">
                    <a:moveTo>
                      <a:pt x="13" y="80"/>
                    </a:moveTo>
                    <a:lnTo>
                      <a:pt x="13" y="920"/>
                    </a:lnTo>
                  </a:path>
                  <a:path w="1000" h="1000" fill="none">
                    <a:moveTo>
                      <a:pt x="39" y="80"/>
                    </a:moveTo>
                    <a:lnTo>
                      <a:pt x="39" y="920"/>
                    </a:lnTo>
                  </a:path>
                  <a:path w="1000" h="1000" fill="none">
                    <a:moveTo>
                      <a:pt x="65" y="80"/>
                    </a:moveTo>
                    <a:lnTo>
                      <a:pt x="65" y="920"/>
                    </a:lnTo>
                  </a:path>
                  <a:path w="1000" h="1000" fill="none">
                    <a:moveTo>
                      <a:pt x="92" y="80"/>
                    </a:moveTo>
                    <a:lnTo>
                      <a:pt x="92" y="920"/>
                    </a:lnTo>
                  </a:path>
                  <a:path w="1000" h="1000" fill="none">
                    <a:moveTo>
                      <a:pt x="118" y="80"/>
                    </a:moveTo>
                    <a:lnTo>
                      <a:pt x="118" y="920"/>
                    </a:lnTo>
                  </a:path>
                  <a:path w="1000" h="1000" fill="none">
                    <a:moveTo>
                      <a:pt x="144" y="80"/>
                    </a:moveTo>
                    <a:lnTo>
                      <a:pt x="144" y="920"/>
                    </a:lnTo>
                  </a:path>
                  <a:path w="1000" h="1000" fill="none">
                    <a:moveTo>
                      <a:pt x="171" y="80"/>
                    </a:moveTo>
                    <a:lnTo>
                      <a:pt x="171" y="920"/>
                    </a:lnTo>
                  </a:path>
                  <a:path w="1000" h="1000" fill="none">
                    <a:moveTo>
                      <a:pt x="197" y="80"/>
                    </a:moveTo>
                    <a:lnTo>
                      <a:pt x="197" y="920"/>
                    </a:lnTo>
                  </a:path>
                  <a:path w="1000" h="1000" fill="none">
                    <a:moveTo>
                      <a:pt x="223" y="80"/>
                    </a:moveTo>
                    <a:lnTo>
                      <a:pt x="223" y="920"/>
                    </a:lnTo>
                  </a:path>
                  <a:path w="1000" h="1000" fill="none">
                    <a:moveTo>
                      <a:pt x="250" y="80"/>
                    </a:moveTo>
                    <a:lnTo>
                      <a:pt x="250" y="920"/>
                    </a:lnTo>
                  </a:path>
                  <a:path w="1000" h="1000" fill="none">
                    <a:moveTo>
                      <a:pt x="276" y="80"/>
                    </a:moveTo>
                    <a:lnTo>
                      <a:pt x="276" y="920"/>
                    </a:lnTo>
                  </a:path>
                  <a:path w="1000" h="1000" fill="none">
                    <a:moveTo>
                      <a:pt x="302" y="80"/>
                    </a:moveTo>
                    <a:lnTo>
                      <a:pt x="302" y="920"/>
                    </a:lnTo>
                  </a:path>
                  <a:path w="1000" h="1000" fill="none">
                    <a:moveTo>
                      <a:pt x="328" y="80"/>
                    </a:moveTo>
                    <a:lnTo>
                      <a:pt x="328" y="920"/>
                    </a:lnTo>
                  </a:path>
                  <a:path w="1000" h="1000" fill="none">
                    <a:moveTo>
                      <a:pt x="355" y="80"/>
                    </a:moveTo>
                    <a:lnTo>
                      <a:pt x="355" y="920"/>
                    </a:lnTo>
                  </a:path>
                  <a:path w="1000" h="1000" fill="none">
                    <a:moveTo>
                      <a:pt x="381" y="80"/>
                    </a:moveTo>
                    <a:lnTo>
                      <a:pt x="381" y="920"/>
                    </a:lnTo>
                  </a:path>
                  <a:path w="1000" h="1000" fill="none">
                    <a:moveTo>
                      <a:pt x="407" y="80"/>
                    </a:moveTo>
                    <a:lnTo>
                      <a:pt x="407" y="920"/>
                    </a:lnTo>
                  </a:path>
                  <a:path w="1000" h="1000" fill="none">
                    <a:moveTo>
                      <a:pt x="434" y="80"/>
                    </a:moveTo>
                    <a:lnTo>
                      <a:pt x="434" y="920"/>
                    </a:lnTo>
                  </a:path>
                  <a:path w="1000" h="1000" fill="none">
                    <a:moveTo>
                      <a:pt x="460" y="80"/>
                    </a:moveTo>
                    <a:lnTo>
                      <a:pt x="460" y="920"/>
                    </a:lnTo>
                  </a:path>
                  <a:path w="1000" h="1000" fill="none">
                    <a:moveTo>
                      <a:pt x="486" y="80"/>
                    </a:moveTo>
                    <a:lnTo>
                      <a:pt x="486" y="920"/>
                    </a:lnTo>
                  </a:path>
                  <a:path w="1000" h="1000" fill="none">
                    <a:moveTo>
                      <a:pt x="513" y="80"/>
                    </a:moveTo>
                    <a:lnTo>
                      <a:pt x="513" y="920"/>
                    </a:lnTo>
                  </a:path>
                  <a:path w="1000" h="1000" fill="none">
                    <a:moveTo>
                      <a:pt x="539" y="80"/>
                    </a:moveTo>
                    <a:lnTo>
                      <a:pt x="539" y="920"/>
                    </a:lnTo>
                  </a:path>
                  <a:path w="1000" h="1000" fill="none">
                    <a:moveTo>
                      <a:pt x="565" y="80"/>
                    </a:moveTo>
                    <a:lnTo>
                      <a:pt x="565" y="920"/>
                    </a:lnTo>
                  </a:path>
                  <a:path w="1000" h="1000" fill="none">
                    <a:moveTo>
                      <a:pt x="592" y="80"/>
                    </a:moveTo>
                    <a:lnTo>
                      <a:pt x="592" y="920"/>
                    </a:lnTo>
                  </a:path>
                  <a:path w="1000" h="1000" fill="none">
                    <a:moveTo>
                      <a:pt x="618" y="80"/>
                    </a:moveTo>
                    <a:lnTo>
                      <a:pt x="618" y="920"/>
                    </a:lnTo>
                  </a:path>
                  <a:path w="1000" h="1000" fill="none">
                    <a:moveTo>
                      <a:pt x="644" y="80"/>
                    </a:moveTo>
                    <a:lnTo>
                      <a:pt x="644" y="920"/>
                    </a:lnTo>
                  </a:path>
                  <a:path w="1000" h="1000" fill="none">
                    <a:moveTo>
                      <a:pt x="671" y="80"/>
                    </a:moveTo>
                    <a:lnTo>
                      <a:pt x="671" y="920"/>
                    </a:lnTo>
                  </a:path>
                  <a:path w="1000" h="1000" fill="none">
                    <a:moveTo>
                      <a:pt x="697" y="80"/>
                    </a:moveTo>
                    <a:lnTo>
                      <a:pt x="697" y="920"/>
                    </a:lnTo>
                  </a:path>
                  <a:path w="1000" h="1000" fill="none">
                    <a:moveTo>
                      <a:pt x="723" y="80"/>
                    </a:moveTo>
                    <a:lnTo>
                      <a:pt x="723" y="920"/>
                    </a:lnTo>
                  </a:path>
                  <a:path w="1000" h="1000" fill="none">
                    <a:moveTo>
                      <a:pt x="750" y="80"/>
                    </a:moveTo>
                    <a:lnTo>
                      <a:pt x="750" y="920"/>
                    </a:lnTo>
                  </a:path>
                  <a:path w="1000" h="1000" fill="none">
                    <a:moveTo>
                      <a:pt x="776" y="80"/>
                    </a:moveTo>
                    <a:lnTo>
                      <a:pt x="776" y="920"/>
                    </a:lnTo>
                  </a:path>
                  <a:path w="1000" h="1000" fill="none">
                    <a:moveTo>
                      <a:pt x="802" y="80"/>
                    </a:moveTo>
                    <a:lnTo>
                      <a:pt x="802" y="920"/>
                    </a:lnTo>
                  </a:path>
                  <a:path w="1000" h="1000" fill="none">
                    <a:moveTo>
                      <a:pt x="828" y="80"/>
                    </a:moveTo>
                    <a:lnTo>
                      <a:pt x="828" y="920"/>
                    </a:lnTo>
                  </a:path>
                  <a:path w="1000" h="1000" fill="none">
                    <a:moveTo>
                      <a:pt x="855" y="80"/>
                    </a:moveTo>
                    <a:lnTo>
                      <a:pt x="855" y="920"/>
                    </a:lnTo>
                  </a:path>
                  <a:path w="1000" h="1000" fill="none">
                    <a:moveTo>
                      <a:pt x="881" y="80"/>
                    </a:moveTo>
                    <a:lnTo>
                      <a:pt x="881" y="920"/>
                    </a:lnTo>
                  </a:path>
                  <a:path w="1000" h="1000" fill="none">
                    <a:moveTo>
                      <a:pt x="907" y="80"/>
                    </a:moveTo>
                    <a:lnTo>
                      <a:pt x="907" y="920"/>
                    </a:lnTo>
                  </a:path>
                  <a:path w="1000" h="1000" fill="none">
                    <a:moveTo>
                      <a:pt x="934" y="80"/>
                    </a:moveTo>
                    <a:lnTo>
                      <a:pt x="934" y="920"/>
                    </a:lnTo>
                  </a:path>
                  <a:path w="1000" h="1000" fill="none">
                    <a:moveTo>
                      <a:pt x="960" y="80"/>
                    </a:moveTo>
                    <a:lnTo>
                      <a:pt x="960" y="920"/>
                    </a:lnTo>
                  </a:path>
                  <a:path w="1000" h="1000" fill="none">
                    <a:moveTo>
                      <a:pt x="986" y="80"/>
                    </a:moveTo>
                    <a:lnTo>
                      <a:pt x="986" y="920"/>
                    </a:lnTo>
                  </a:path>
                </a:pathLst>
              </a:custGeom>
              <a:noFill/>
              <a:ln w="12700" cap="rnd">
                <a:solidFill>
                  <a:srgbClr val="822E27"/>
                </a:solidFill>
                <a:round/>
              </a:ln>
            </p:spPr>
          </p:sp>
          <p:sp>
            <p:nvSpPr>
              <p:cNvPr id="15" name="Forma 14"/>
              <p:cNvSpPr/>
              <p:nvPr/>
            </p:nvSpPr>
            <p:spPr>
              <a:xfrm>
                <a:off x="1129467"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2235525"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3183575" y="157993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3436388" y="1579937"/>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19" name="Hígado alanina"/>
          <p:cNvGrpSpPr/>
          <p:nvPr/>
        </p:nvGrpSpPr>
        <p:grpSpPr>
          <a:xfrm>
            <a:off x="8229600" y="1005840"/>
            <a:ext cx="3566160" cy="2520562"/>
            <a:chOff x="8229600" y="1005840"/>
            <a:chExt cx="3566160" cy="2520562"/>
          </a:xfrm>
        </p:grpSpPr>
        <p:sp>
          <p:nvSpPr>
            <p:cNvPr id="20" name="Vesícula biliar"/>
            <p:cNvSpPr/>
            <p:nvPr/>
          </p:nvSpPr>
          <p:spPr>
            <a:xfrm>
              <a:off x="9192463" y="2730435"/>
              <a:ext cx="463601" cy="795967"/>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1" name="Forma 20"/>
            <p:cNvSpPr/>
            <p:nvPr/>
          </p:nvSpPr>
          <p:spPr>
            <a:xfrm>
              <a:off x="8229600" y="1005840"/>
              <a:ext cx="3566160" cy="2211019"/>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2" name="Forma 21"/>
            <p:cNvSpPr/>
            <p:nvPr/>
          </p:nvSpPr>
          <p:spPr>
            <a:xfrm>
              <a:off x="8229600" y="1005840"/>
              <a:ext cx="3566160" cy="2211019"/>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3" name="Forma 22"/>
            <p:cNvSpPr/>
            <p:nvPr/>
          </p:nvSpPr>
          <p:spPr>
            <a:xfrm>
              <a:off x="8229600" y="1005840"/>
              <a:ext cx="3566160" cy="2211019"/>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24" name="Forma 23"/>
          <p:cNvSpPr txBox="1"/>
          <p:nvPr/>
        </p:nvSpPr>
        <p:spPr>
          <a:xfrm>
            <a:off x="365760" y="2240280"/>
            <a:ext cx="237744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B241C"/>
                </a:solidFill>
                <a:latin typeface="Bahnschrift SemiBold Condensed"/>
                <a:ea typeface="Bahnschrift SemiBold Condensed"/>
                <a:cs typeface="Bahnschrift SemiBold Condensed"/>
                <a:sym typeface="Bahnschrift SemiBold Condensed"/>
              </a:rPr>
              <a:t>MÚSCULO</a:t>
            </a:r>
            <a:endParaRPr lang="es-AR" sz="1300" dirty="0">
              <a:latin typeface="Bahnschrift SemiBold Condensed"/>
            </a:endParaRPr>
          </a:p>
        </p:txBody>
      </p:sp>
      <p:sp>
        <p:nvSpPr>
          <p:cNvPr id="25" name="Forma 24"/>
          <p:cNvSpPr txBox="1"/>
          <p:nvPr/>
        </p:nvSpPr>
        <p:spPr>
          <a:xfrm>
            <a:off x="8595360" y="3246120"/>
            <a:ext cx="2834640" cy="320040"/>
          </a:xfrm>
          <a:prstGeom prst="rect">
            <a:avLst/>
          </a:prstGeom>
          <a:noFill/>
          <a:ln>
            <a:noFill/>
          </a:ln>
        </p:spPr>
        <p:txBody>
          <a:bodyPr wrap="square" lIns="0" tIns="0" rIns="0" bIns="0" anchor="t" rtlCol="0">
            <a:noAutofit/>
          </a:bodyPr>
          <a:lstStyle/>
          <a:p>
            <a:pPr algn="ctr">
              <a:spcAft>
                <a:spcPts val="300"/>
              </a:spcAft>
              <a:buNone/>
            </a:pPr>
            <a:r>
              <a:rPr lang="es-AR" sz="1400" b="1" dirty="0">
                <a:solidFill>
                  <a:srgbClr val="7B241C"/>
                </a:solidFill>
                <a:latin typeface="Bahnschrift SemiBold Condensed"/>
                <a:ea typeface="Bahnschrift SemiBold Condensed"/>
                <a:cs typeface="Bahnschrift SemiBold Condensed"/>
                <a:sym typeface="Bahnschrift SemiBold Condensed"/>
              </a:rPr>
              <a:t>HÍGADO</a:t>
            </a:r>
            <a:endParaRPr lang="es-AR" sz="1400" dirty="0">
              <a:latin typeface="Bahnschrift SemiBold Condensed"/>
            </a:endParaRPr>
          </a:p>
        </p:txBody>
      </p:sp>
      <p:sp>
        <p:nvSpPr>
          <p:cNvPr id="26" name="Músculo pasos"/>
          <p:cNvSpPr/>
          <p:nvPr/>
        </p:nvSpPr>
        <p:spPr>
          <a:xfrm>
            <a:off x="365760" y="2651760"/>
            <a:ext cx="3566160" cy="2057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AA (proteólisis) transfieren su </a:t>
            </a:r>
            <a:r>
              <a:rPr lang="es-AR" sz="1550" b="1" dirty="0">
                <a:solidFill>
                  <a:srgbClr val="1E1E1E"/>
                </a:solidFill>
                <a:latin typeface="Bahnschrift"/>
                <a:ea typeface="Bahnschrift"/>
                <a:cs typeface="Bahnschrift"/>
                <a:sym typeface="Bahnschrift"/>
              </a:rPr>
              <a:t>–NH</a:t>
            </a:r>
            <a:r>
              <a:rPr lang="es-AR" sz="1550" b="1" baseline="-25000" dirty="0">
                <a:solidFill>
                  <a:srgbClr val="1E1E1E"/>
                </a:solidFill>
                <a:latin typeface="Bahnschrift"/>
                <a:ea typeface="Bahnschrift"/>
                <a:cs typeface="Bahnschrift"/>
                <a:sym typeface="Bahnschrift"/>
              </a:rPr>
              <a:t>2</a:t>
            </a:r>
            <a:r>
              <a:rPr lang="es-AR" sz="1550" dirty="0">
                <a:solidFill>
                  <a:srgbClr val="1E1E1E"/>
                </a:solidFill>
                <a:latin typeface="Bahnschrift"/>
                <a:ea typeface="Bahnschrift"/>
                <a:cs typeface="Bahnschrift"/>
                <a:sym typeface="Bahnschrift"/>
              </a:rPr>
              <a:t> al </a:t>
            </a:r>
            <a:r>
              <a:rPr lang="es-AR" sz="1550" b="1" dirty="0">
                <a:solidFill>
                  <a:srgbClr val="1E1E1E"/>
                </a:solidFill>
                <a:latin typeface="Bahnschrift"/>
                <a:ea typeface="Bahnschrift"/>
                <a:cs typeface="Bahnschrift"/>
                <a:sym typeface="Bahnschrift"/>
              </a:rPr>
              <a:t>glutamato</a:t>
            </a:r>
            <a:r>
              <a:rPr lang="es-AR" sz="1550" dirty="0">
                <a:solidFill>
                  <a:srgbClr val="1E1E1E"/>
                </a:solidFill>
                <a:latin typeface="Bahnschrift"/>
                <a:ea typeface="Bahnschrift"/>
                <a:cs typeface="Bahnschrift"/>
                <a:sym typeface="Bahnschrift"/>
              </a:rPr>
              <a:t>.</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ALT</a:t>
            </a:r>
            <a:r>
              <a:rPr lang="es-AR" sz="1550" dirty="0">
                <a:solidFill>
                  <a:srgbClr val="1E1E1E"/>
                </a:solidFill>
                <a:latin typeface="Bahnschrift"/>
                <a:ea typeface="Bahnschrift"/>
                <a:cs typeface="Bahnschrift"/>
                <a:sym typeface="Bahnschrift"/>
              </a:rPr>
              <a:t>: glutamato + </a:t>
            </a:r>
            <a:r>
              <a:rPr lang="es-AR" sz="1550" b="1" dirty="0">
                <a:solidFill>
                  <a:srgbClr val="1E1E1E"/>
                </a:solidFill>
                <a:latin typeface="Bahnschrift"/>
                <a:ea typeface="Bahnschrift"/>
                <a:cs typeface="Bahnschrift"/>
                <a:sym typeface="Bahnschrift"/>
              </a:rPr>
              <a:t>piruvato</a:t>
            </a:r>
            <a:r>
              <a:rPr lang="es-AR" sz="1550" dirty="0">
                <a:solidFill>
                  <a:srgbClr val="1E1E1E"/>
                </a:solidFill>
                <a:latin typeface="Bahnschrift"/>
                <a:ea typeface="Bahnschrift"/>
                <a:cs typeface="Bahnschrift"/>
                <a:sym typeface="Bahnschrift"/>
              </a:rPr>
              <a:t> → α-cetoglutarato + </a:t>
            </a:r>
            <a:r>
              <a:rPr lang="es-AR" sz="1550" b="1" dirty="0">
                <a:solidFill>
                  <a:srgbClr val="1E1E1E"/>
                </a:solidFill>
                <a:latin typeface="Bahnschrift"/>
                <a:ea typeface="Bahnschrift"/>
                <a:cs typeface="Bahnschrift"/>
                <a:sym typeface="Bahnschrift"/>
              </a:rPr>
              <a:t>alanina</a:t>
            </a:r>
            <a:r>
              <a:rPr lang="es-AR" sz="1550" dirty="0">
                <a:solidFill>
                  <a:srgbClr val="1E1E1E"/>
                </a:solidFill>
                <a:latin typeface="Bahnschrift"/>
                <a:ea typeface="Bahnschrift"/>
                <a:cs typeface="Bahnschrift"/>
                <a:sym typeface="Bahnschrift"/>
              </a:rPr>
              <a:t>.</a:t>
            </a:r>
            <a:endParaRPr lang="es-AR" sz="1550" dirty="0">
              <a:latin typeface="Bahnschrift"/>
            </a:endParaRPr>
          </a:p>
        </p:txBody>
      </p:sp>
      <p:sp>
        <p:nvSpPr>
          <p:cNvPr id="27" name="N muscular"/>
          <p:cNvSpPr/>
          <p:nvPr/>
        </p:nvSpPr>
        <p:spPr>
          <a:xfrm>
            <a:off x="3383280" y="1417320"/>
            <a:ext cx="384048" cy="384048"/>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a:t>
            </a:r>
            <a:endParaRPr lang="es-AR" sz="1300" dirty="0">
              <a:latin typeface="Bahnschrift SemiBold Condensed"/>
            </a:endParaRPr>
          </a:p>
        </p:txBody>
      </p:sp>
      <p:sp>
        <p:nvSpPr>
          <p:cNvPr id="28" name="Hígado pasos"/>
          <p:cNvSpPr/>
          <p:nvPr/>
        </p:nvSpPr>
        <p:spPr>
          <a:xfrm>
            <a:off x="8138160" y="3611880"/>
            <a:ext cx="365760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ALT</a:t>
            </a:r>
            <a:r>
              <a:rPr lang="es-AR" sz="1550" dirty="0">
                <a:solidFill>
                  <a:srgbClr val="1E1E1E"/>
                </a:solidFill>
                <a:latin typeface="Bahnschrift"/>
                <a:ea typeface="Bahnschrift"/>
                <a:cs typeface="Bahnschrift"/>
                <a:sym typeface="Bahnschrift"/>
              </a:rPr>
              <a:t>: alanina → </a:t>
            </a:r>
            <a:r>
              <a:rPr lang="es-AR" sz="1550" b="1" dirty="0">
                <a:solidFill>
                  <a:srgbClr val="1E1E1E"/>
                </a:solidFill>
                <a:latin typeface="Bahnschrift"/>
                <a:ea typeface="Bahnschrift"/>
                <a:cs typeface="Bahnschrift"/>
                <a:sym typeface="Bahnschrift"/>
              </a:rPr>
              <a:t>piruvato</a:t>
            </a:r>
            <a:r>
              <a:rPr lang="es-AR" sz="1550" dirty="0">
                <a:solidFill>
                  <a:srgbClr val="1E1E1E"/>
                </a:solidFill>
                <a:latin typeface="Bahnschrift"/>
                <a:ea typeface="Bahnschrift"/>
                <a:cs typeface="Bahnschrift"/>
                <a:sym typeface="Bahnschrift"/>
              </a:rPr>
              <a:t> (a gluconeogénesis).</a:t>
            </a:r>
            <a:endParaRPr lang="es-AR" sz="1550" dirty="0">
              <a:latin typeface="Bahnschrift"/>
            </a:endParaRPr>
          </a:p>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El grupo amino → </a:t>
            </a:r>
            <a:r>
              <a:rPr lang="es-AR" sz="1550" b="1" dirty="0">
                <a:solidFill>
                  <a:srgbClr val="1E1E1E"/>
                </a:solidFill>
                <a:latin typeface="Bahnschrift"/>
                <a:ea typeface="Bahnschrift"/>
                <a:cs typeface="Bahnschrift"/>
                <a:sym typeface="Bahnschrift"/>
              </a:rPr>
              <a:t>glutamato</a:t>
            </a:r>
            <a:r>
              <a:rPr lang="es-AR" sz="1550" dirty="0">
                <a:solidFill>
                  <a:srgbClr val="1E1E1E"/>
                </a:solidFill>
                <a:latin typeface="Bahnschrift"/>
                <a:ea typeface="Bahnschrift"/>
                <a:cs typeface="Bahnschrift"/>
                <a:sym typeface="Bahnschrift"/>
              </a:rPr>
              <a:t> → </a:t>
            </a:r>
            <a:r>
              <a:rPr lang="es-AR" sz="1550" b="1" dirty="0">
                <a:solidFill>
                  <a:srgbClr val="1E1E1E"/>
                </a:solidFill>
                <a:latin typeface="Bahnschrift"/>
                <a:ea typeface="Bahnschrift"/>
                <a:cs typeface="Bahnschrift"/>
                <a:sym typeface="Bahnschrift"/>
              </a:rPr>
              <a:t>GDH</a:t>
            </a:r>
            <a:r>
              <a:rPr lang="es-AR" sz="1550" dirty="0">
                <a:solidFill>
                  <a:srgbClr val="1E1E1E"/>
                </a:solidFill>
                <a:latin typeface="Bahnschrift"/>
                <a:ea typeface="Bahnschrift"/>
                <a:cs typeface="Bahnschrift"/>
                <a:sym typeface="Bahnschrift"/>
              </a:rPr>
              <a:t> → NH</a:t>
            </a:r>
            <a:r>
              <a:rPr lang="es-AR" sz="1550" baseline="-25000" dirty="0">
                <a:solidFill>
                  <a:srgbClr val="1E1E1E"/>
                </a:solidFill>
                <a:latin typeface="Bahnschrift"/>
                <a:ea typeface="Bahnschrift"/>
                <a:cs typeface="Bahnschrift"/>
                <a:sym typeface="Bahnschrift"/>
              </a:rPr>
              <a:t>4</a:t>
            </a:r>
            <a:r>
              <a:rPr lang="es-AR" sz="1550" baseline="30000" dirty="0">
                <a:solidFill>
                  <a:srgbClr val="1E1E1E"/>
                </a:solidFill>
                <a:latin typeface="Bahnschrift"/>
                <a:ea typeface="Bahnschrift"/>
                <a:cs typeface="Bahnschrift"/>
                <a:sym typeface="Bahnschrift"/>
              </a:rPr>
              <a:t>+</a:t>
            </a:r>
            <a:r>
              <a:rPr lang="es-AR" sz="1550" dirty="0">
                <a:solidFill>
                  <a:srgbClr val="1E1E1E"/>
                </a:solidFill>
                <a:latin typeface="Bahnschrift"/>
                <a:ea typeface="Bahnschrift"/>
                <a:cs typeface="Bahnschrift"/>
                <a:sym typeface="Bahnschrift"/>
              </a:rPr>
              <a:t> + </a:t>
            </a:r>
            <a:r>
              <a:rPr lang="es-AR" sz="1550" b="1" dirty="0">
                <a:solidFill>
                  <a:srgbClr val="1E1E1E"/>
                </a:solidFill>
                <a:latin typeface="Bahnschrift"/>
                <a:ea typeface="Bahnschrift"/>
                <a:cs typeface="Bahnschrift"/>
                <a:sym typeface="Bahnschrift"/>
              </a:rPr>
              <a:t>aspartato</a:t>
            </a:r>
            <a:r>
              <a:rPr lang="es-AR" sz="1550" dirty="0">
                <a:solidFill>
                  <a:srgbClr val="1E1E1E"/>
                </a:solidFill>
                <a:latin typeface="Bahnschrift"/>
                <a:ea typeface="Bahnschrift"/>
                <a:cs typeface="Bahnschrift"/>
                <a:sym typeface="Bahnschrift"/>
              </a:rPr>
              <a:t> → </a:t>
            </a:r>
            <a:r>
              <a:rPr lang="es-AR" sz="1550" b="1" dirty="0">
                <a:solidFill>
                  <a:srgbClr val="1E1E1E"/>
                </a:solidFill>
                <a:latin typeface="Bahnschrift"/>
                <a:ea typeface="Bahnschrift"/>
                <a:cs typeface="Bahnschrift"/>
                <a:sym typeface="Bahnschrift"/>
              </a:rPr>
              <a:t>ciclo de la urea</a:t>
            </a:r>
            <a:r>
              <a:rPr lang="es-AR" sz="1550" dirty="0">
                <a:solidFill>
                  <a:srgbClr val="1E1E1E"/>
                </a:solidFill>
                <a:latin typeface="Bahnschrift"/>
                <a:ea typeface="Bahnschrift"/>
                <a:cs typeface="Bahnschrift"/>
                <a:sym typeface="Bahnschrift"/>
              </a:rPr>
              <a:t>.</a:t>
            </a:r>
            <a:endParaRPr lang="es-AR" sz="1550" dirty="0">
              <a:latin typeface="Bahnschrift"/>
            </a:endParaRPr>
          </a:p>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La glucosa vuelve al músculo.</a:t>
            </a:r>
            <a:endParaRPr lang="es-AR" sz="1550" dirty="0">
              <a:latin typeface="Bahnschrift"/>
            </a:endParaRPr>
          </a:p>
        </p:txBody>
      </p:sp>
      <p:sp>
        <p:nvSpPr>
          <p:cNvPr id="29" name="Urea"/>
          <p:cNvSpPr/>
          <p:nvPr/>
        </p:nvSpPr>
        <p:spPr>
          <a:xfrm>
            <a:off x="11247120" y="2651760"/>
            <a:ext cx="457200" cy="45720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Urea</a:t>
            </a:r>
            <a:endParaRPr lang="es-AR" sz="1180" dirty="0">
              <a:latin typeface="Bahnschrift SemiBold Condensed"/>
            </a:endParaRPr>
          </a:p>
        </p:txBody>
      </p:sp>
      <p:sp>
        <p:nvSpPr>
          <p:cNvPr id="30" name="Circulación glucosa"/>
          <p:cNvSpPr/>
          <p:nvPr/>
        </p:nvSpPr>
        <p:spPr>
          <a:xfrm>
            <a:off x="2926080" y="914400"/>
            <a:ext cx="6400800" cy="1828800"/>
          </a:xfrm>
          <a:custGeom>
            <a:avLst/>
            <a:gdLst/>
            <a:ahLst/>
            <a:cxnLst/>
            <a:rect l="0" t="0" r="r" b="b"/>
            <a:pathLst>
              <a:path w="6999" h="2000" fill="none">
                <a:moveTo>
                  <a:pt x="6999" y="2000"/>
                </a:moveTo>
                <a:quadBezTo>
                  <a:pt x="3500" y="0"/>
                  <a:pt x="0" y="1250"/>
                </a:quadBezTo>
              </a:path>
            </a:pathLst>
          </a:custGeom>
          <a:noFill/>
          <a:ln w="63500" cap="rnd">
            <a:solidFill>
              <a:srgbClr val="2563B0"/>
            </a:solidFill>
            <a:round/>
            <a:tailEnd type="triangle" w="med" len="med"/>
          </a:ln>
        </p:spPr>
      </p:sp>
      <p:sp>
        <p:nvSpPr>
          <p:cNvPr id="31" name="Circulación alanina"/>
          <p:cNvSpPr/>
          <p:nvPr/>
        </p:nvSpPr>
        <p:spPr>
          <a:xfrm>
            <a:off x="2103120" y="4846320"/>
            <a:ext cx="5989320" cy="1554480"/>
          </a:xfrm>
          <a:custGeom>
            <a:avLst/>
            <a:gdLst/>
            <a:ahLst/>
            <a:cxnLst/>
            <a:rect l="0" t="0" r="r" b="b"/>
            <a:pathLst>
              <a:path w="6550" h="1700" fill="none">
                <a:moveTo>
                  <a:pt x="0" y="0"/>
                </a:moveTo>
                <a:quadBezTo>
                  <a:pt x="3500" y="1700"/>
                  <a:pt x="6550" y="700"/>
                </a:quadBezTo>
              </a:path>
            </a:pathLst>
          </a:custGeom>
          <a:noFill/>
          <a:ln w="63500" cap="rnd">
            <a:solidFill>
              <a:srgbClr val="2E9E5B"/>
            </a:solidFill>
            <a:round/>
            <a:tailEnd type="triangle" w="med" len="med"/>
          </a:ln>
        </p:spPr>
      </p:sp>
      <p:sp>
        <p:nvSpPr>
          <p:cNvPr id="32" name="Forma 31"/>
          <p:cNvSpPr txBox="1"/>
          <p:nvPr/>
        </p:nvSpPr>
        <p:spPr>
          <a:xfrm>
            <a:off x="5120640" y="1051560"/>
            <a:ext cx="2103120" cy="32004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2563B0"/>
                </a:solidFill>
                <a:latin typeface="Bahnschrift SemiBold Condensed"/>
                <a:ea typeface="Bahnschrift SemiBold Condensed"/>
                <a:cs typeface="Bahnschrift SemiBold Condensed"/>
                <a:sym typeface="Bahnschrift SemiBold Condensed"/>
              </a:rPr>
              <a:t>GLUCOSA</a:t>
            </a:r>
            <a:endParaRPr lang="es-AR" sz="1500" dirty="0">
              <a:latin typeface="Bahnschrift SemiBold Condensed"/>
            </a:endParaRPr>
          </a:p>
        </p:txBody>
      </p:sp>
      <p:sp>
        <p:nvSpPr>
          <p:cNvPr id="33" name="Forma 32"/>
          <p:cNvSpPr txBox="1"/>
          <p:nvPr/>
        </p:nvSpPr>
        <p:spPr>
          <a:xfrm>
            <a:off x="4937760" y="5760720"/>
            <a:ext cx="2103120" cy="32004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1E8449"/>
                </a:solidFill>
                <a:latin typeface="Bahnschrift SemiBold Condensed"/>
                <a:ea typeface="Bahnschrift SemiBold Condensed"/>
                <a:cs typeface="Bahnschrift SemiBold Condensed"/>
                <a:sym typeface="Bahnschrift SemiBold Condensed"/>
              </a:rPr>
              <a:t>ALANINA</a:t>
            </a:r>
            <a:endParaRPr lang="es-AR" sz="1500" dirty="0">
              <a:latin typeface="Bahnschrift SemiBold Condensed"/>
            </a:endParaRPr>
          </a:p>
        </p:txBody>
      </p:sp>
      <p:sp>
        <p:nvSpPr>
          <p:cNvPr id="34" name="Alanina viajera 0"/>
          <p:cNvSpPr/>
          <p:nvPr/>
        </p:nvSpPr>
        <p:spPr>
          <a:xfrm>
            <a:off x="2103120" y="4754880"/>
            <a:ext cx="384048" cy="384048"/>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Ala</a:t>
            </a:r>
            <a:endParaRPr lang="es-AR" sz="1092" dirty="0">
              <a:latin typeface="Bahnschrift SemiBold Condensed"/>
            </a:endParaRPr>
          </a:p>
        </p:txBody>
      </p:sp>
      <p:sp>
        <p:nvSpPr>
          <p:cNvPr id="35" name="Alanina viajera 1"/>
          <p:cNvSpPr/>
          <p:nvPr/>
        </p:nvSpPr>
        <p:spPr>
          <a:xfrm>
            <a:off x="2103120" y="4754880"/>
            <a:ext cx="384048" cy="384048"/>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Ala</a:t>
            </a:r>
            <a:endParaRPr lang="es-AR" sz="1092" dirty="0">
              <a:latin typeface="Bahnschrift SemiBold Condensed"/>
            </a:endParaRPr>
          </a:p>
        </p:txBody>
      </p:sp>
      <p:sp>
        <p:nvSpPr>
          <p:cNvPr id="36" name="Glucosa viajera 0"/>
          <p:cNvSpPr/>
          <p:nvPr/>
        </p:nvSpPr>
        <p:spPr>
          <a:xfrm>
            <a:off x="9144000" y="265176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37" name="Glucosa viajera 1"/>
          <p:cNvSpPr/>
          <p:nvPr/>
        </p:nvSpPr>
        <p:spPr>
          <a:xfrm>
            <a:off x="9144000" y="2651760"/>
            <a:ext cx="384048" cy="384048"/>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Glc</a:t>
            </a:r>
            <a:endParaRPr lang="es-AR" sz="1092" dirty="0">
              <a:latin typeface="Bahnschrift SemiBold Condensed"/>
            </a:endParaRPr>
          </a:p>
        </p:txBody>
      </p:sp>
      <p:sp>
        <p:nvSpPr>
          <p:cNvPr id="38" name="Ventaja"/>
          <p:cNvSpPr/>
          <p:nvPr/>
        </p:nvSpPr>
        <p:spPr>
          <a:xfrm>
            <a:off x="4206240" y="2834640"/>
            <a:ext cx="3566160" cy="18288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Ventaja</a:t>
            </a:r>
            <a:r>
              <a:rPr lang="es-AR" sz="1600" dirty="0">
                <a:solidFill>
                  <a:srgbClr val="1E1E1E"/>
                </a:solidFill>
                <a:latin typeface="Bahnschrift"/>
                <a:ea typeface="Bahnschrift"/>
                <a:cs typeface="Bahnschrift"/>
                <a:sym typeface="Bahnschrift"/>
              </a:rPr>
              <a:t>: transporta carbono gluconeogénico </a:t>
            </a:r>
            <a:r>
              <a:rPr lang="es-AR" sz="1600" b="1" dirty="0">
                <a:solidFill>
                  <a:srgbClr val="1E1E1E"/>
                </a:solidFill>
                <a:latin typeface="Bahnschrift"/>
                <a:ea typeface="Bahnschrift"/>
                <a:cs typeface="Bahnschrift"/>
                <a:sym typeface="Bahnschrift"/>
              </a:rPr>
              <a:t>y</a:t>
            </a:r>
            <a:r>
              <a:rPr lang="es-AR" sz="1600" dirty="0">
                <a:solidFill>
                  <a:srgbClr val="1E1E1E"/>
                </a:solidFill>
                <a:latin typeface="Bahnschrift"/>
                <a:ea typeface="Bahnschrift"/>
                <a:cs typeface="Bahnschrift"/>
                <a:sym typeface="Bahnschrift"/>
              </a:rPr>
              <a:t> nitrógeno de forma relativamente </a:t>
            </a:r>
            <a:r>
              <a:rPr lang="es-AR" sz="1600" b="1" dirty="0">
                <a:solidFill>
                  <a:srgbClr val="1E1E1E"/>
                </a:solidFill>
                <a:latin typeface="Bahnschrift"/>
                <a:ea typeface="Bahnschrift"/>
                <a:cs typeface="Bahnschrift"/>
                <a:sym typeface="Bahnschrift"/>
              </a:rPr>
              <a:t>segura</a:t>
            </a:r>
            <a:r>
              <a:rPr lang="es-AR" sz="1600" dirty="0">
                <a:solidFill>
                  <a:srgbClr val="1E1E1E"/>
                </a:solidFill>
                <a:latin typeface="Bahnschrift"/>
                <a:ea typeface="Bahnschrift"/>
                <a:cs typeface="Bahnschrift"/>
                <a:sym typeface="Bahnschrift"/>
              </a:rPr>
              <a:t> (no como NH</a:t>
            </a:r>
            <a:r>
              <a:rPr lang="es-AR" sz="1600" baseline="-25000" dirty="0">
                <a:solidFill>
                  <a:srgbClr val="1E1E1E"/>
                </a:solidFill>
                <a:latin typeface="Bahnschrift"/>
                <a:ea typeface="Bahnschrift"/>
                <a:cs typeface="Bahnschrift"/>
                <a:sym typeface="Bahnschrift"/>
              </a:rPr>
              <a:t>3</a:t>
            </a:r>
            <a:r>
              <a:rPr lang="es-AR" sz="1600" dirty="0">
                <a:solidFill>
                  <a:srgbClr val="1E1E1E"/>
                </a:solidFill>
                <a:latin typeface="Bahnschrift"/>
                <a:ea typeface="Bahnschrift"/>
                <a:cs typeface="Bahnschrift"/>
                <a:sym typeface="Bahnschrift"/>
              </a:rPr>
              <a:t> libre).</a:t>
            </a:r>
            <a:endParaRPr lang="es-AR" sz="1600" dirty="0">
              <a:latin typeface="Bahnschrift"/>
            </a:endParaRPr>
          </a:p>
        </p:txBody>
      </p:sp>
      <p:sp>
        <p:nvSpPr>
          <p:cNvPr id="2" name="Etiqueta sección"/>
          <p:cNvSpPr/>
          <p:nvPr/>
        </p:nvSpPr>
        <p:spPr>
          <a:xfrm>
            <a:off x="10566391" y="201168"/>
            <a:ext cx="135098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CICLO ANIMADO</a:t>
            </a:r>
            <a:endParaRPr lang="es-AR" sz="1300" dirty="0">
              <a:latin typeface="Bahnschrift SemiBold Condensed"/>
            </a:endParaRPr>
          </a:p>
        </p:txBody>
      </p:sp>
      <p:sp>
        <p:nvSpPr>
          <p:cNvPr id="3" name="Título"/>
          <p:cNvSpPr/>
          <p:nvPr/>
        </p:nvSpPr>
        <p:spPr>
          <a:xfrm>
            <a:off x="274320" y="146304"/>
            <a:ext cx="828121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9 · CICLO GLUCOSA–ALANINA: CARBONO Y NITRÓGENO JUNTOS</a:t>
            </a:r>
            <a:endParaRPr lang="es-AR" sz="2600" dirty="0">
              <a:latin typeface="Bahnschrift SemiBold Condensed"/>
            </a:endParaRPr>
          </a:p>
        </p:txBody>
      </p:sp>
      <p:sp>
        <p:nvSpPr>
          <p:cNvPr id="3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6"/>
                                        </p:tgtEl>
                                        <p:attrNameLst>
                                          <p:attrName>style.visibility</p:attrName>
                                        </p:attrNameLst>
                                      </p:cBhvr>
                                      <p:to>
                                        <p:strVal val="visible"/>
                                      </p:to>
                                    </p:set>
                                    <p:animEffect transition="in" filter="fade">
                                      <p:cBhvr>
                                        <p:cTn id="5" dur="500"/>
                                        <p:tgtEl>
                                          <p:spTgt spid="26"/>
                                        </p:tgtEl>
                                      </p:cBhvr>
                                    </p:animEffect>
                                  </p:childTnLst>
                                </p:cTn>
                              </p:par>
                            </p:childTnLst>
                          </p:cTn>
                        </p:par>
                        <p:par>
                          <p:cTn id="12" fill="hold">
                            <p:stCondLst>
                              <p:cond delay="500"/>
                            </p:stCondLst>
                            <p:childTnLst>
                              <p:par>
                                <p:cTn id="7" presetID="53" presetClass="entr" presetSubtype="16" fill="hold" grpId="0" nodeType="afterEffect">
                                  <p:stCondLst>
                                    <p:cond delay="0"/>
                                  </p:stCondLst>
                                  <p:childTnLst>
                                    <p:set>
                                      <p:cBhvr>
                                        <p:cTn id="8" dur="1" fill="hold">
                                          <p:stCondLst>
                                            <p:cond delay="0"/>
                                          </p:stCondLst>
                                        </p:cTn>
                                        <p:tgtEl>
                                          <p:spTgt spid="27"/>
                                        </p:tgtEl>
                                        <p:attrNameLst>
                                          <p:attrName>style.visibility</p:attrName>
                                        </p:attrNameLst>
                                      </p:cBhvr>
                                      <p:to>
                                        <p:strVal val="visible"/>
                                      </p:to>
                                    </p:set>
                                    <p:anim calcmode="lin" valueType="num">
                                      <p:cBhvr>
                                        <p:cTn id="9" dur="500" fill="hold"/>
                                        <p:tgtEl>
                                          <p:spTgt spid="27"/>
                                        </p:tgtEl>
                                        <p:attrNameLst>
                                          <p:attrName>ppt_w</p:attrName>
                                        </p:attrNameLst>
                                      </p:cBhvr>
                                      <p:tavLst>
                                        <p:tav tm="0">
                                          <p:val>
                                            <p:fltVal val="0"/>
                                          </p:val>
                                        </p:tav>
                                        <p:tav tm="100000">
                                          <p:val>
                                            <p:strVal val="#ppt_w"/>
                                          </p:val>
                                        </p:tav>
                                      </p:tavLst>
                                    </p:anim>
                                    <p:anim calcmode="lin" valueType="num">
                                      <p:cBhvr>
                                        <p:cTn id="10" dur="500" fill="hold"/>
                                        <p:tgtEl>
                                          <p:spTgt spid="27"/>
                                        </p:tgtEl>
                                        <p:attrNameLst>
                                          <p:attrName>ppt_h</p:attrName>
                                        </p:attrNameLst>
                                      </p:cBhvr>
                                      <p:tavLst>
                                        <p:tav tm="0">
                                          <p:val>
                                            <p:fltVal val="0"/>
                                          </p:val>
                                        </p:tav>
                                        <p:tav tm="100000">
                                          <p:val>
                                            <p:strVal val="#ppt_h"/>
                                          </p:val>
                                        </p:tav>
                                      </p:tavLst>
                                    </p:anim>
                                    <p:animEffect transition="in" filter="fade">
                                      <p:cBhvr>
                                        <p:cTn id="11" dur="500"/>
                                        <p:tgtEl>
                                          <p:spTgt spid="27"/>
                                        </p:tgtEl>
                                      </p:cBhvr>
                                    </p:animEffect>
                                  </p:childTnLst>
                                </p:cTn>
                              </p:par>
                            </p:childTnLst>
                          </p:cTn>
                        </p:par>
                      </p:childTnLst>
                    </p:cTn>
                  </p:par>
                  <p:par>
                    <p:cTn id="23" fill="hold">
                      <p:stCondLst>
                        <p:cond delay="indefinite"/>
                      </p:stCondLst>
                      <p:childTnLst>
                        <p:par>
                          <p:cTn id="19"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wipe(left)">
                                      <p:cBhvr>
                                        <p:cTn id="16" dur="900"/>
                                        <p:tgtEl>
                                          <p:spTgt spid="31"/>
                                        </p:tgtEl>
                                      </p:cBhvr>
                                    </p:animEffect>
                                  </p:childTnLst>
                                </p:cTn>
                              </p:par>
                              <p:par>
                                <p:cTn id="17" presetID="0" presetClass="path" presetSubtype="0" accel="20000" decel="20000" fill="hold" grpId="0" nodeType="withEffect">
                                  <p:stCondLst>
                                    <p:cond delay="0"/>
                                  </p:stCondLst>
                                  <p:childTnLst>
                                    <p:animMotion origin="layout" path="M 0 0 L 0.1125 0.1600 L 0.2475 0.2000 L 0.3750 0.1533 L 0.4725 0.0800 E" pathEditMode="relative" ptsTypes="">
                                      <p:cBhvr>
                                        <p:cTn id="18" dur="2600" fill="hold"/>
                                        <p:tgtEl>
                                          <p:spTgt spid="34"/>
                                        </p:tgtEl>
                                        <p:attrNameLst>
                                          <p:attrName>ppt_x</p:attrName>
                                          <p:attrName>ppt_y</p:attrName>
                                        </p:attrNameLst>
                                      </p:cBhvr>
                                      <p:rCtr x="23625" y="4000"/>
                                    </p:animMotion>
                                  </p:childTnLst>
                                </p:cTn>
                              </p:par>
                            </p:childTnLst>
                          </p:cTn>
                        </p:par>
                        <p:par>
                          <p:cTn id="22" fill="hold">
                            <p:stCondLst>
                              <p:cond delay="500"/>
                            </p:stCondLst>
                            <p:childTnLst>
                              <p:par>
                                <p:cTn id="20" presetID="0" presetClass="path" presetSubtype="0" accel="20000" decel="20000" fill="hold" grpId="0" nodeType="afterEffect">
                                  <p:stCondLst>
                                    <p:cond delay="0"/>
                                  </p:stCondLst>
                                  <p:childTnLst>
                                    <p:animMotion origin="layout" path="M 0 0 L 0.1125 0.1600 L 0.2475 0.2000 L 0.3750 0.1533 L 0.4575 0.0800 E" pathEditMode="relative" ptsTypes="">
                                      <p:cBhvr>
                                        <p:cTn id="21" dur="2600" fill="hold"/>
                                        <p:tgtEl>
                                          <p:spTgt spid="35"/>
                                        </p:tgtEl>
                                        <p:attrNameLst>
                                          <p:attrName>ppt_x</p:attrName>
                                          <p:attrName>ppt_y</p:attrName>
                                        </p:attrNameLst>
                                      </p:cBhvr>
                                      <p:rCtr x="22875" y="4000"/>
                                    </p:animMotion>
                                  </p:childTnLst>
                                </p:cTn>
                              </p:par>
                            </p:childTnLst>
                          </p:cTn>
                        </p:par>
                      </p:childTnLst>
                    </p:cTn>
                  </p:par>
                  <p:par>
                    <p:cTn id="34" fill="hold">
                      <p:stCondLst>
                        <p:cond delay="indefinite"/>
                      </p:stCondLst>
                      <p:childTnLst>
                        <p:par>
                          <p:cTn id="27"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fade">
                                      <p:cBhvr>
                                        <p:cTn id="26" dur="500"/>
                                        <p:tgtEl>
                                          <p:spTgt spid="28"/>
                                        </p:tgtEl>
                                      </p:cBhvr>
                                    </p:animEffect>
                                  </p:childTnLst>
                                </p:cTn>
                              </p:par>
                            </p:childTnLst>
                          </p:cTn>
                        </p:par>
                        <p:par>
                          <p:cTn id="33" fill="hold">
                            <p:stCondLst>
                              <p:cond delay="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childTnLst>
                          </p:cTn>
                        </p:par>
                      </p:childTnLst>
                    </p:cTn>
                  </p:par>
                  <p:par>
                    <p:cTn id="44" fill="hold">
                      <p:stCondLst>
                        <p:cond delay="indefinite"/>
                      </p:stCondLst>
                      <p:childTnLst>
                        <p:par>
                          <p:cTn id="40" fill="hold">
                            <p:stCondLst>
                              <p:cond delay="0"/>
                            </p:stCondLst>
                            <p:childTnLst>
                              <p:par>
                                <p:cTn id="35" presetID="22" presetClass="entr" presetSubtype="2" fill="hold" grpId="0" nodeType="click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wipe(right)">
                                      <p:cBhvr>
                                        <p:cTn id="37" dur="900"/>
                                        <p:tgtEl>
                                          <p:spTgt spid="30"/>
                                        </p:tgtEl>
                                      </p:cBhvr>
                                    </p:animEffect>
                                  </p:childTnLst>
                                </p:cTn>
                              </p:par>
                              <p:par>
                                <p:cTn id="38" presetID="0" presetClass="path" presetSubtype="0" accel="20000" decel="20000" fill="hold" grpId="0" nodeType="withEffect">
                                  <p:stCondLst>
                                    <p:cond delay="0"/>
                                  </p:stCondLst>
                                  <p:childTnLst>
                                    <p:animMotion origin="layout" path="M 0 0 L -0.1350 -0.2133 L -0.2700 -0.2467 L -0.4050 -0.1733 L -0.5100 -0.0800 E" pathEditMode="relative" ptsTypes="">
                                      <p:cBhvr>
                                        <p:cTn id="39" dur="2600" fill="hold"/>
                                        <p:tgtEl>
                                          <p:spTgt spid="36"/>
                                        </p:tgtEl>
                                        <p:attrNameLst>
                                          <p:attrName>ppt_x</p:attrName>
                                          <p:attrName>ppt_y</p:attrName>
                                        </p:attrNameLst>
                                      </p:cBhvr>
                                      <p:rCtr x="-25500" y="-4000"/>
                                    </p:animMotion>
                                  </p:childTnLst>
                                </p:cTn>
                              </p:par>
                            </p:childTnLst>
                          </p:cTn>
                        </p:par>
                        <p:par>
                          <p:cTn id="43" fill="hold">
                            <p:stCondLst>
                              <p:cond delay="500"/>
                            </p:stCondLst>
                            <p:childTnLst>
                              <p:par>
                                <p:cTn id="41" presetID="0" presetClass="path" presetSubtype="0" accel="20000" decel="20000" fill="hold" grpId="0" nodeType="afterEffect">
                                  <p:stCondLst>
                                    <p:cond delay="0"/>
                                  </p:stCondLst>
                                  <p:childTnLst>
                                    <p:animMotion origin="layout" path="M 0 0 L -0.1350 -0.2133 L -0.2700 -0.2467 L -0.4050 -0.1733 L -0.5025 -0.0800 E" pathEditMode="relative" ptsTypes="">
                                      <p:cBhvr>
                                        <p:cTn id="42" dur="2600" fill="hold"/>
                                        <p:tgtEl>
                                          <p:spTgt spid="37"/>
                                        </p:tgtEl>
                                        <p:attrNameLst>
                                          <p:attrName>ppt_x</p:attrName>
                                          <p:attrName>ppt_y</p:attrName>
                                        </p:attrNameLst>
                                      </p:cBhvr>
                                      <p:rCtr x="-25125" y="-4000"/>
                                    </p:animMotion>
                                  </p:childTnLst>
                                </p:cTn>
                              </p:par>
                            </p:childTnLst>
                          </p:cTn>
                        </p:par>
                      </p:childTnLst>
                    </p:cTn>
                  </p:par>
                  <p:par>
                    <p:cTn id="49" fill="hold">
                      <p:stCondLst>
                        <p:cond delay="indefinite"/>
                      </p:stCondLst>
                      <p:childTnLst>
                        <p:par>
                          <p:cTn id="48"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31" grpId="0" animBg="1"/>
      <p:bldP spid="34" grpId="0" animBg="1"/>
      <p:bldP spid="35" grpId="0" animBg="1"/>
      <p:bldP spid="28" grpId="0" animBg="1"/>
      <p:bldP spid="29" grpId="0" animBg="1"/>
      <p:bldP spid="30" grpId="0" animBg="1"/>
      <p:bldP spid="36" grpId="0" animBg="1"/>
      <p:bldP spid="37" grpId="0" animBg="1"/>
      <p:bldP spid="38" grpId="0" animBg="1"/>
    </p:bldLst>
  </p:timing>
</p:sld>
</file>

<file path=ppt/slides/slide72.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aphicFrame>
        <p:nvGraphicFramePr>
          <p:cNvPr id="4" name="Tabla Cori alanina"/>
          <p:cNvGraphicFramePr>
            <a:graphicFrameLocks noGrp="1"/>
          </p:cNvGraphicFramePr>
          <p:nvPr/>
        </p:nvGraphicFramePr>
        <p:xfrm>
          <a:off x="365760" y="1051560"/>
          <a:ext cx="7863840" cy="3968496"/>
        </p:xfrm>
        <a:graphic>
          <a:graphicData uri="http://schemas.openxmlformats.org/drawingml/2006/table">
            <a:tbl>
              <a:tblPr firstRow="1" bandRow="1"/>
              <a:tblGrid>
                <a:gridCol w="2377440"/>
                <a:gridCol w="2743200"/>
                <a:gridCol w="2743200"/>
              </a:tblGrid>
              <a:tr h="566928">
                <a:tc>
                  <a:txBody>
                    <a:bodyPr/>
                    <a:lstStyle/>
                    <a:p>
                      <a:pPr algn="l">
                        <a:spcAft>
                          <a:spcPts val="100"/>
                        </a:spcAft>
                        <a:buNone/>
                      </a:pP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Ciclo de Cori</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Ciclo glucosa–alanina</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Metabolito que viaja al hígado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Lactato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Alanina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¿Transporta nitrógeno?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No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Sí</a:t>
                      </a:r>
                      <a:r>
                        <a:rPr lang="es-AR" sz="1450" dirty="0">
                          <a:solidFill>
                            <a:srgbClr val="1E1E1E"/>
                          </a:solidFill>
                          <a:latin typeface="Bahnschrift"/>
                          <a:ea typeface="Bahnschrift"/>
                          <a:cs typeface="Bahnschrift"/>
                          <a:sym typeface="Bahnschrift"/>
                        </a:rPr>
                        <a:t> (grupo amino → urea)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Origen periférico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Eritrocito, músculo glucolítico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Músculo (transaminación; proteólisis)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Enzima periférica clave</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LDH (regenera NAD</a:t>
                      </a:r>
                      <a:r>
                        <a:rPr lang="es-AR" sz="1450" baseline="30000" dirty="0">
                          <a:solidFill>
                            <a:srgbClr val="1E1E1E"/>
                          </a:solidFill>
                          <a:latin typeface="Bahnschrift"/>
                          <a:ea typeface="Bahnschrift"/>
                          <a:cs typeface="Bahnschrift"/>
                          <a:sym typeface="Bahnschrift"/>
                        </a:rPr>
                        <a:t>+</a:t>
                      </a:r>
                      <a:r>
                        <a:rPr lang="es-AR" sz="1450" dirty="0">
                          <a:solidFill>
                            <a:srgbClr val="1E1E1E"/>
                          </a:solidFill>
                          <a:latin typeface="Bahnschrift"/>
                          <a:ea typeface="Bahnschrift"/>
                          <a:cs typeface="Bahnschrift"/>
                          <a:sym typeface="Bahnschrift"/>
                        </a:rPr>
                        <a:t>)</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ALT (aminotransferasa)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Costo hepático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Gluconeogénesis (4 ATP + 2 GTP)</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Gluconeogénesis + </a:t>
                      </a:r>
                      <a:r>
                        <a:rPr lang="es-AR" sz="1450" b="1" dirty="0">
                          <a:solidFill>
                            <a:srgbClr val="1E1E1E"/>
                          </a:solidFill>
                          <a:latin typeface="Bahnschrift"/>
                          <a:ea typeface="Bahnschrift"/>
                          <a:cs typeface="Bahnschrift"/>
                          <a:sym typeface="Bahnschrift"/>
                        </a:rPr>
                        <a:t>ciclo de la urea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50" b="1" dirty="0">
                          <a:solidFill>
                            <a:srgbClr val="1E1E1E"/>
                          </a:solidFill>
                          <a:latin typeface="Bahnschrift"/>
                          <a:ea typeface="Bahnschrift"/>
                          <a:cs typeface="Bahnschrift"/>
                          <a:sym typeface="Bahnschrift"/>
                        </a:rPr>
                        <a:t>Mensaje</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Lactato = combustible y precursor</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Exporta N de forma segura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5" name="Ficha grande lac"/>
          <p:cNvSpPr/>
          <p:nvPr/>
        </p:nvSpPr>
        <p:spPr>
          <a:xfrm>
            <a:off x="8778240" y="1280160"/>
            <a:ext cx="1097280" cy="1097280"/>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Lac</a:t>
            </a:r>
            <a:endParaRPr lang="es-AR" sz="1300" dirty="0">
              <a:latin typeface="Bahnschrift SemiBold Condensed"/>
            </a:endParaRPr>
          </a:p>
        </p:txBody>
      </p:sp>
      <p:sp>
        <p:nvSpPr>
          <p:cNvPr id="6" name="Ficha grande ala"/>
          <p:cNvSpPr/>
          <p:nvPr/>
        </p:nvSpPr>
        <p:spPr>
          <a:xfrm>
            <a:off x="10424160" y="1280160"/>
            <a:ext cx="1097280" cy="109728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Ala</a:t>
            </a:r>
            <a:endParaRPr lang="es-AR" sz="1300" dirty="0">
              <a:latin typeface="Bahnschrift SemiBold Condensed"/>
            </a:endParaRPr>
          </a:p>
        </p:txBody>
      </p:sp>
      <p:sp>
        <p:nvSpPr>
          <p:cNvPr id="7" name="Perla"/>
          <p:cNvSpPr/>
          <p:nvPr/>
        </p:nvSpPr>
        <p:spPr>
          <a:xfrm>
            <a:off x="8503920" y="2743200"/>
            <a:ext cx="3291840" cy="21945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Diferencia que suele evaluarse: </a:t>
            </a:r>
            <a:r>
              <a:rPr lang="es-AR" sz="1750" b="1" dirty="0">
                <a:solidFill>
                  <a:srgbClr val="FFFFFF"/>
                </a:solidFill>
                <a:latin typeface="Bahnschrift"/>
                <a:ea typeface="Bahnschrift"/>
                <a:cs typeface="Bahnschrift"/>
                <a:sym typeface="Bahnschrift"/>
              </a:rPr>
              <a:t>Cori no transporta nitrógeno; el ciclo de la alanina sí</a:t>
            </a:r>
            <a:r>
              <a:rPr lang="es-AR" sz="1750" dirty="0">
                <a:solidFill>
                  <a:srgbClr val="FFFFFF"/>
                </a:solidFill>
                <a:latin typeface="Bahnschrift"/>
                <a:ea typeface="Bahnschrift"/>
                <a:cs typeface="Bahnschrift"/>
                <a:sym typeface="Bahnschrift"/>
              </a:rPr>
              <a:t>.</a:t>
            </a:r>
            <a:endParaRPr lang="es-AR" sz="1750" dirty="0">
              <a:latin typeface="Bahnschrift"/>
            </a:endParaRPr>
          </a:p>
        </p:txBody>
      </p:sp>
      <p:sp>
        <p:nvSpPr>
          <p:cNvPr id="8" name="Forma 7"/>
          <p:cNvSpPr/>
          <p:nvPr/>
        </p:nvSpPr>
        <p:spPr>
          <a:xfrm>
            <a:off x="8503920" y="5120640"/>
            <a:ext cx="3291840" cy="13716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El lactato </a:t>
            </a:r>
            <a:r>
              <a:rPr lang="es-AR" sz="1600" b="1" dirty="0">
                <a:solidFill>
                  <a:srgbClr val="1E1E1E"/>
                </a:solidFill>
                <a:latin typeface="Bahnschrift"/>
                <a:ea typeface="Bahnschrift"/>
                <a:cs typeface="Bahnschrift"/>
                <a:sym typeface="Bahnschrift"/>
              </a:rPr>
              <a:t>no es solo desecho</a:t>
            </a:r>
            <a:r>
              <a:rPr lang="es-AR" sz="1600" dirty="0">
                <a:solidFill>
                  <a:srgbClr val="1E1E1E"/>
                </a:solidFill>
                <a:latin typeface="Bahnschrift"/>
                <a:ea typeface="Bahnschrift"/>
                <a:cs typeface="Bahnschrift"/>
                <a:sym typeface="Bahnschrift"/>
              </a:rPr>
              <a:t>: combustible oxidativo y precursor biosintético.</a:t>
            </a:r>
            <a:endParaRPr lang="es-AR" sz="16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521015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9 · CORI FRENTE A GLUCOSA–ALANINA</a:t>
            </a:r>
            <a:endParaRPr lang="es-AR" sz="2600" dirty="0">
              <a:latin typeface="Bahnschrift SemiBold Condensed"/>
            </a:endParaRPr>
          </a:p>
        </p:txBody>
      </p:sp>
      <p:sp>
        <p:nvSpPr>
          <p:cNvPr id="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4" fill="hold">
                      <p:stCondLst>
                        <p:cond delay="indefinite"/>
                      </p:stCondLst>
                      <p:childTnLst>
                        <p:par>
                          <p:cTn id="13" fill="hold">
                            <p:stCondLst>
                              <p:cond delay="0"/>
                            </p:stCondLst>
                            <p:childTnLst>
                              <p:par>
                                <p:cTn id="8" presetID="53" presetClass="entr" presetSubtype="16"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ppt_w</p:attrName>
                                        </p:attrNameLst>
                                      </p:cBhvr>
                                      <p:tavLst>
                                        <p:tav tm="0">
                                          <p:val>
                                            <p:fltVal val="0"/>
                                          </p:val>
                                        </p:tav>
                                        <p:tav tm="100000">
                                          <p:val>
                                            <p:strVal val="#ppt_w"/>
                                          </p:val>
                                        </p:tav>
                                      </p:tavLst>
                                    </p:anim>
                                    <p:anim calcmode="lin" valueType="num">
                                      <p:cBhvr>
                                        <p:cTn id="11" dur="500" fill="hold"/>
                                        <p:tgtEl>
                                          <p:spTgt spid="7"/>
                                        </p:tgtEl>
                                        <p:attrNameLst>
                                          <p:attrName>ppt_h</p:attrName>
                                        </p:attrNameLst>
                                      </p:cBhvr>
                                      <p:tavLst>
                                        <p:tav tm="0">
                                          <p:val>
                                            <p:fltVal val="0"/>
                                          </p:val>
                                        </p:tav>
                                        <p:tav tm="100000">
                                          <p:val>
                                            <p:strVal val="#ppt_h"/>
                                          </p:val>
                                        </p:tav>
                                      </p:tavLst>
                                    </p:anim>
                                    <p:animEffect transition="in" filter="fade">
                                      <p:cBhvr>
                                        <p:cTn id="12" dur="500"/>
                                        <p:tgtEl>
                                          <p:spTgt spid="7"/>
                                        </p:tgtEl>
                                      </p:cBhvr>
                                    </p:animEffect>
                                  </p:childTnLst>
                                </p:cTn>
                              </p:par>
                            </p:childTnLst>
                          </p:cTn>
                        </p:par>
                      </p:childTnLst>
                    </p:cTn>
                  </p:par>
                  <p:par>
                    <p:cTn id="19"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73.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Capilar cerebral"/>
          <p:cNvGrpSpPr/>
          <p:nvPr/>
        </p:nvGrpSpPr>
        <p:grpSpPr>
          <a:xfrm>
            <a:off x="274320" y="960120"/>
            <a:ext cx="7680960" cy="640080"/>
            <a:chOff x="274320" y="960120"/>
            <a:chExt cx="7680960" cy="640080"/>
          </a:xfrm>
        </p:grpSpPr>
        <p:sp>
          <p:nvSpPr>
            <p:cNvPr id="5" name="Forma 4"/>
            <p:cNvSpPr/>
            <p:nvPr/>
          </p:nvSpPr>
          <p:spPr>
            <a:xfrm>
              <a:off x="274320" y="960120"/>
              <a:ext cx="7680960" cy="6400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370332" y="1075334"/>
              <a:ext cx="7488936" cy="409651"/>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1014641" y="127181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1932556" y="113372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3813071" y="123791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5151780" y="1169448"/>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 name="Eritrocito_5"/>
            <p:cNvSpPr/>
            <p:nvPr/>
          </p:nvSpPr>
          <p:spPr>
            <a:xfrm>
              <a:off x="6548977" y="121724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2" name="Astrocito"/>
          <p:cNvGrpSpPr/>
          <p:nvPr/>
        </p:nvGrpSpPr>
        <p:grpSpPr>
          <a:xfrm>
            <a:off x="182880" y="1828800"/>
            <a:ext cx="3291840" cy="2633472"/>
            <a:chOff x="182880" y="1828800"/>
            <a:chExt cx="3291840" cy="2633472"/>
          </a:xfrm>
        </p:grpSpPr>
        <p:sp>
          <p:nvSpPr>
            <p:cNvPr id="13" name="Forma 12"/>
            <p:cNvSpPr/>
            <p:nvPr/>
          </p:nvSpPr>
          <p:spPr>
            <a:xfrm>
              <a:off x="182880" y="1828800"/>
              <a:ext cx="3291840" cy="2633472"/>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101600" cap="rnd">
              <a:solidFill>
                <a:srgbClr val="54704D"/>
              </a:solidFill>
              <a:round/>
            </a:ln>
          </p:spPr>
        </p:sp>
        <p:sp>
          <p:nvSpPr>
            <p:cNvPr id="14" name="Forma 13"/>
            <p:cNvSpPr/>
            <p:nvPr/>
          </p:nvSpPr>
          <p:spPr>
            <a:xfrm>
              <a:off x="182880" y="1828800"/>
              <a:ext cx="3291840" cy="2633472"/>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76200" cap="rnd">
              <a:solidFill>
                <a:srgbClr val="9ACD8C"/>
              </a:solidFill>
              <a:round/>
            </a:ln>
          </p:spPr>
        </p:sp>
        <p:sp>
          <p:nvSpPr>
            <p:cNvPr id="15" name="Forma 14"/>
            <p:cNvSpPr/>
            <p:nvPr/>
          </p:nvSpPr>
          <p:spPr>
            <a:xfrm>
              <a:off x="182880" y="1828800"/>
              <a:ext cx="3291840" cy="2633472"/>
            </a:xfrm>
            <a:custGeom>
              <a:avLst/>
              <a:gdLst/>
              <a:ahLst/>
              <a:cxnLst/>
              <a:rect l="0" t="0" r="r" b="b"/>
              <a:pathLst>
                <a:path w="1000" h="1000">
                  <a:moveTo>
                    <a:pt x="420" y="420"/>
                  </a:moveTo>
                  <a:cubicBezTo>
                    <a:pt x="440" y="393"/>
                    <a:pt x="488" y="373"/>
                    <a:pt x="520" y="380"/>
                  </a:cubicBezTo>
                  <a:cubicBezTo>
                    <a:pt x="551" y="386"/>
                    <a:pt x="598" y="426"/>
                    <a:pt x="610" y="460"/>
                  </a:cubicBezTo>
                  <a:cubicBezTo>
                    <a:pt x="621" y="493"/>
                    <a:pt x="611" y="553"/>
                    <a:pt x="590" y="580"/>
                  </a:cubicBezTo>
                  <a:cubicBezTo>
                    <a:pt x="568" y="606"/>
                    <a:pt x="511" y="626"/>
                    <a:pt x="480" y="620"/>
                  </a:cubicBezTo>
                  <a:cubicBezTo>
                    <a:pt x="448" y="613"/>
                    <a:pt x="410" y="573"/>
                    <a:pt x="400" y="540"/>
                  </a:cubicBezTo>
                  <a:cubicBezTo>
                    <a:pt x="390" y="506"/>
                    <a:pt x="400" y="446"/>
                    <a:pt x="420" y="420"/>
                  </a:cubicBezTo>
                  <a:close/>
                </a:path>
              </a:pathLst>
            </a:custGeom>
            <a:gradFill rotWithShape="1">
              <a:gsLst>
                <a:gs pos="0">
                  <a:srgbClr val="C7E3BF"/>
                </a:gs>
                <a:gs pos="55000">
                  <a:srgbClr val="9ACD8C"/>
                </a:gs>
                <a:gs pos="100000">
                  <a:srgbClr val="739969"/>
                </a:gs>
              </a:gsLst>
              <a:path path="circle">
                <a:fillToRect l="32000" t="28000" r="68000" b="72000"/>
              </a:path>
            </a:gradFill>
            <a:ln w="19050" cap="rnd">
              <a:solidFill>
                <a:srgbClr val="54704D"/>
              </a:solidFill>
              <a:round/>
            </a:ln>
          </p:spPr>
        </p:sp>
        <p:sp>
          <p:nvSpPr>
            <p:cNvPr id="16" name="Forma 15"/>
            <p:cNvSpPr/>
            <p:nvPr/>
          </p:nvSpPr>
          <p:spPr>
            <a:xfrm>
              <a:off x="182880" y="1828800"/>
              <a:ext cx="3291840" cy="2633472"/>
            </a:xfrm>
            <a:custGeom>
              <a:avLst/>
              <a:gdLst/>
              <a:ahLst/>
              <a:cxnLst/>
              <a:rect l="0" t="0" r="r" b="b"/>
              <a:pathLst>
                <a:path w="1000" h="1000">
                  <a:moveTo>
                    <a:pt x="555" y="500"/>
                  </a:moveTo>
                  <a:cubicBezTo>
                    <a:pt x="555" y="527"/>
                    <a:pt x="532" y="550"/>
                    <a:pt x="505" y="550"/>
                  </a:cubicBezTo>
                  <a:cubicBezTo>
                    <a:pt x="477" y="550"/>
                    <a:pt x="455" y="527"/>
                    <a:pt x="455" y="500"/>
                  </a:cubicBezTo>
                  <a:cubicBezTo>
                    <a:pt x="455" y="472"/>
                    <a:pt x="477" y="450"/>
                    <a:pt x="505" y="450"/>
                  </a:cubicBezTo>
                  <a:cubicBezTo>
                    <a:pt x="532" y="450"/>
                    <a:pt x="555" y="472"/>
                    <a:pt x="555" y="500"/>
                  </a:cubicBezTo>
                  <a:close/>
                </a:path>
              </a:pathLst>
            </a:custGeom>
            <a:gradFill rotWithShape="1">
              <a:gsLst>
                <a:gs pos="0">
                  <a:srgbClr val="8DAD83"/>
                </a:gs>
                <a:gs pos="55000">
                  <a:srgbClr val="5D8A4E"/>
                </a:gs>
                <a:gs pos="100000">
                  <a:srgbClr val="416036"/>
                </a:gs>
              </a:gsLst>
              <a:path path="circle">
                <a:fillToRect l="32000" t="28000" r="68000" b="72000"/>
              </a:path>
            </a:gradFill>
            <a:ln>
              <a:noFill/>
            </a:ln>
          </p:spPr>
        </p:sp>
      </p:grpSp>
      <p:sp>
        <p:nvSpPr>
          <p:cNvPr id="17" name="Forma 16"/>
          <p:cNvSpPr txBox="1"/>
          <p:nvPr/>
        </p:nvSpPr>
        <p:spPr>
          <a:xfrm>
            <a:off x="274320" y="1828800"/>
            <a:ext cx="1828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1E5631"/>
                </a:solidFill>
                <a:latin typeface="Bahnschrift SemiBold Condensed"/>
                <a:ea typeface="Bahnschrift SemiBold Condensed"/>
                <a:cs typeface="Bahnschrift SemiBold Condensed"/>
                <a:sym typeface="Bahnschrift SemiBold Condensed"/>
              </a:rPr>
              <a:t>ASTROCITO</a:t>
            </a:r>
            <a:endParaRPr lang="es-AR" sz="1400" dirty="0">
              <a:latin typeface="Bahnschrift SemiBold Condensed"/>
            </a:endParaRPr>
          </a:p>
        </p:txBody>
      </p:sp>
      <p:grpSp>
        <p:nvGrpSpPr>
          <p:cNvPr id="18" name="Neurona"/>
          <p:cNvGrpSpPr/>
          <p:nvPr/>
        </p:nvGrpSpPr>
        <p:grpSpPr>
          <a:xfrm>
            <a:off x="4023360" y="2926080"/>
            <a:ext cx="4023360" cy="2212848"/>
            <a:chOff x="4023360" y="2926080"/>
            <a:chExt cx="4023360" cy="2212848"/>
          </a:xfrm>
        </p:grpSpPr>
        <p:sp>
          <p:nvSpPr>
            <p:cNvPr id="19" name="Forma 18"/>
            <p:cNvSpPr/>
            <p:nvPr/>
          </p:nvSpPr>
          <p:spPr>
            <a:xfrm>
              <a:off x="4023360" y="2926080"/>
              <a:ext cx="4023360" cy="2212848"/>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82550" cap="rnd">
              <a:solidFill>
                <a:srgbClr val="554A75"/>
              </a:solidFill>
              <a:round/>
            </a:ln>
          </p:spPr>
        </p:sp>
        <p:sp>
          <p:nvSpPr>
            <p:cNvPr id="20" name="Forma 19"/>
            <p:cNvSpPr/>
            <p:nvPr/>
          </p:nvSpPr>
          <p:spPr>
            <a:xfrm>
              <a:off x="4023360" y="2926080"/>
              <a:ext cx="4023360" cy="2212848"/>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57150" cap="rnd">
              <a:solidFill>
                <a:srgbClr val="8E7CC3"/>
              </a:solidFill>
              <a:round/>
            </a:ln>
          </p:spPr>
        </p:sp>
        <p:sp>
          <p:nvSpPr>
            <p:cNvPr id="21" name="Forma 20"/>
            <p:cNvSpPr/>
            <p:nvPr/>
          </p:nvSpPr>
          <p:spPr>
            <a:xfrm>
              <a:off x="4023360" y="2926080"/>
              <a:ext cx="4023360" cy="2212848"/>
            </a:xfrm>
            <a:custGeom>
              <a:avLst/>
              <a:gdLst/>
              <a:ahLst/>
              <a:cxnLst/>
              <a:rect l="0" t="0" r="r" b="b"/>
              <a:pathLst>
                <a:path w="1000" h="1000" fill="none">
                  <a:moveTo>
                    <a:pt x="360" y="520"/>
                  </a:moveTo>
                  <a:cubicBezTo>
                    <a:pt x="500" y="520"/>
                    <a:pt x="650" y="470"/>
                    <a:pt x="900" y="500"/>
                  </a:cubicBezTo>
                </a:path>
              </a:pathLst>
            </a:custGeom>
            <a:noFill/>
            <a:ln w="88900" cap="rnd">
              <a:solidFill>
                <a:srgbClr val="554A75"/>
              </a:solidFill>
              <a:round/>
            </a:ln>
          </p:spPr>
        </p:sp>
        <p:sp>
          <p:nvSpPr>
            <p:cNvPr id="22" name="Forma 21"/>
            <p:cNvSpPr/>
            <p:nvPr/>
          </p:nvSpPr>
          <p:spPr>
            <a:xfrm>
              <a:off x="4023360" y="2926080"/>
              <a:ext cx="4023360" cy="2212848"/>
            </a:xfrm>
            <a:custGeom>
              <a:avLst/>
              <a:gdLst/>
              <a:ahLst/>
              <a:cxnLst/>
              <a:rect l="0" t="0" r="r" b="b"/>
              <a:pathLst>
                <a:path w="1000" h="1000" fill="none">
                  <a:moveTo>
                    <a:pt x="360" y="520"/>
                  </a:moveTo>
                  <a:cubicBezTo>
                    <a:pt x="500" y="520"/>
                    <a:pt x="650" y="470"/>
                    <a:pt x="900" y="500"/>
                  </a:cubicBezTo>
                </a:path>
              </a:pathLst>
            </a:custGeom>
            <a:noFill/>
            <a:ln w="63500" cap="rnd">
              <a:solidFill>
                <a:srgbClr val="A496CF"/>
              </a:solidFill>
              <a:round/>
            </a:ln>
          </p:spPr>
        </p:sp>
        <p:sp>
          <p:nvSpPr>
            <p:cNvPr id="23" name="Forma 22"/>
            <p:cNvSpPr/>
            <p:nvPr/>
          </p:nvSpPr>
          <p:spPr>
            <a:xfrm>
              <a:off x="4023360" y="2926080"/>
              <a:ext cx="4023360" cy="2212848"/>
            </a:xfrm>
            <a:custGeom>
              <a:avLst/>
              <a:gdLst/>
              <a:ahLst/>
              <a:cxnLst/>
              <a:rect l="0" t="0" r="r" b="b"/>
              <a:pathLst>
                <a:path w="1000" h="1000">
                  <a:moveTo>
                    <a:pt x="230" y="430"/>
                  </a:moveTo>
                  <a:cubicBezTo>
                    <a:pt x="250" y="400"/>
                    <a:pt x="301" y="373"/>
                    <a:pt x="330" y="380"/>
                  </a:cubicBezTo>
                  <a:cubicBezTo>
                    <a:pt x="358" y="386"/>
                    <a:pt x="391" y="433"/>
                    <a:pt x="400" y="470"/>
                  </a:cubicBezTo>
                  <a:cubicBezTo>
                    <a:pt x="408" y="506"/>
                    <a:pt x="400" y="571"/>
                    <a:pt x="380" y="600"/>
                  </a:cubicBezTo>
                  <a:cubicBezTo>
                    <a:pt x="360" y="628"/>
                    <a:pt x="308" y="646"/>
                    <a:pt x="280" y="640"/>
                  </a:cubicBezTo>
                  <a:cubicBezTo>
                    <a:pt x="251" y="633"/>
                    <a:pt x="218" y="595"/>
                    <a:pt x="210" y="560"/>
                  </a:cubicBezTo>
                  <a:cubicBezTo>
                    <a:pt x="201" y="525"/>
                    <a:pt x="210" y="460"/>
                    <a:pt x="230" y="430"/>
                  </a:cubicBezTo>
                  <a:close/>
                </a:path>
              </a:pathLst>
            </a:custGeom>
            <a:gradFill rotWithShape="1">
              <a:gsLst>
                <a:gs pos="0">
                  <a:srgbClr val="C0B6DE"/>
                </a:gs>
                <a:gs pos="55000">
                  <a:srgbClr val="8E7CC3"/>
                </a:gs>
                <a:gs pos="100000">
                  <a:srgbClr val="6A5D92"/>
                </a:gs>
              </a:gsLst>
              <a:path path="circle">
                <a:fillToRect l="32000" t="28000" r="68000" b="72000"/>
              </a:path>
            </a:gradFill>
            <a:ln w="19050" cap="rnd">
              <a:solidFill>
                <a:srgbClr val="554A75"/>
              </a:solidFill>
              <a:round/>
            </a:ln>
          </p:spPr>
        </p:sp>
        <p:sp>
          <p:nvSpPr>
            <p:cNvPr id="24" name="Forma 23"/>
            <p:cNvSpPr/>
            <p:nvPr/>
          </p:nvSpPr>
          <p:spPr>
            <a:xfrm>
              <a:off x="4023360" y="2926080"/>
              <a:ext cx="4023360" cy="2212848"/>
            </a:xfrm>
            <a:custGeom>
              <a:avLst/>
              <a:gdLst/>
              <a:ahLst/>
              <a:cxnLst/>
              <a:rect l="0" t="0" r="r" b="b"/>
              <a:pathLst>
                <a:path w="1000" h="1000">
                  <a:moveTo>
                    <a:pt x="345" y="510"/>
                  </a:moveTo>
                  <a:cubicBezTo>
                    <a:pt x="345" y="532"/>
                    <a:pt x="327" y="550"/>
                    <a:pt x="305" y="550"/>
                  </a:cubicBezTo>
                  <a:cubicBezTo>
                    <a:pt x="282" y="550"/>
                    <a:pt x="265" y="532"/>
                    <a:pt x="265" y="510"/>
                  </a:cubicBezTo>
                  <a:cubicBezTo>
                    <a:pt x="265" y="487"/>
                    <a:pt x="282" y="470"/>
                    <a:pt x="305" y="470"/>
                  </a:cubicBezTo>
                  <a:cubicBezTo>
                    <a:pt x="327" y="470"/>
                    <a:pt x="345" y="487"/>
                    <a:pt x="345" y="510"/>
                  </a:cubicBezTo>
                  <a:close/>
                </a:path>
              </a:pathLst>
            </a:custGeom>
            <a:solidFill>
              <a:srgbClr val="635688"/>
            </a:solidFill>
            <a:ln>
              <a:noFill/>
            </a:ln>
          </p:spPr>
        </p:sp>
        <p:sp>
          <p:nvSpPr>
            <p:cNvPr id="25" name="Forma 24"/>
            <p:cNvSpPr/>
            <p:nvPr/>
          </p:nvSpPr>
          <p:spPr>
            <a:xfrm>
              <a:off x="4023360" y="2926080"/>
              <a:ext cx="4023360" cy="2212848"/>
            </a:xfrm>
            <a:custGeom>
              <a:avLst/>
              <a:gdLst/>
              <a:ahLst/>
              <a:cxnLst/>
              <a:rect l="0" t="0" r="r" b="b"/>
              <a:pathLst>
                <a:path w="1000" h="1000">
                  <a:moveTo>
                    <a:pt x="955" y="470"/>
                  </a:moveTo>
                  <a:cubicBezTo>
                    <a:pt x="955" y="489"/>
                    <a:pt x="939" y="505"/>
                    <a:pt x="920" y="505"/>
                  </a:cubicBezTo>
                  <a:cubicBezTo>
                    <a:pt x="900" y="505"/>
                    <a:pt x="885" y="489"/>
                    <a:pt x="885" y="470"/>
                  </a:cubicBezTo>
                  <a:cubicBezTo>
                    <a:pt x="885" y="450"/>
                    <a:pt x="900" y="435"/>
                    <a:pt x="920" y="435"/>
                  </a:cubicBezTo>
                  <a:cubicBezTo>
                    <a:pt x="939" y="435"/>
                    <a:pt x="955" y="450"/>
                    <a:pt x="955" y="470"/>
                  </a:cubicBezTo>
                  <a:close/>
                  <a:moveTo>
                    <a:pt x="970" y="540"/>
                  </a:moveTo>
                  <a:cubicBezTo>
                    <a:pt x="970" y="556"/>
                    <a:pt x="956" y="570"/>
                    <a:pt x="940" y="570"/>
                  </a:cubicBezTo>
                  <a:cubicBezTo>
                    <a:pt x="923" y="570"/>
                    <a:pt x="910" y="556"/>
                    <a:pt x="910" y="540"/>
                  </a:cubicBezTo>
                  <a:cubicBezTo>
                    <a:pt x="910" y="523"/>
                    <a:pt x="923" y="510"/>
                    <a:pt x="940" y="510"/>
                  </a:cubicBezTo>
                  <a:cubicBezTo>
                    <a:pt x="956" y="510"/>
                    <a:pt x="970" y="523"/>
                    <a:pt x="970" y="540"/>
                  </a:cubicBezTo>
                  <a:close/>
                  <a:moveTo>
                    <a:pt x="923" y="560"/>
                  </a:moveTo>
                  <a:cubicBezTo>
                    <a:pt x="923" y="575"/>
                    <a:pt x="910" y="588"/>
                    <a:pt x="895" y="588"/>
                  </a:cubicBezTo>
                  <a:cubicBezTo>
                    <a:pt x="879" y="588"/>
                    <a:pt x="867" y="575"/>
                    <a:pt x="867" y="560"/>
                  </a:cubicBezTo>
                  <a:cubicBezTo>
                    <a:pt x="867" y="544"/>
                    <a:pt x="879" y="532"/>
                    <a:pt x="895" y="532"/>
                  </a:cubicBezTo>
                  <a:cubicBezTo>
                    <a:pt x="910" y="532"/>
                    <a:pt x="923" y="544"/>
                    <a:pt x="923" y="560"/>
                  </a:cubicBezTo>
                  <a:close/>
                </a:path>
              </a:pathLst>
            </a:custGeom>
            <a:gradFill rotWithShape="1">
              <a:gsLst>
                <a:gs pos="0">
                  <a:srgbClr val="BBB0DB"/>
                </a:gs>
                <a:gs pos="55000">
                  <a:srgbClr val="8E7CC3"/>
                </a:gs>
                <a:gs pos="100000">
                  <a:srgbClr val="71639C"/>
                </a:gs>
              </a:gsLst>
              <a:path path="circle">
                <a:fillToRect l="32000" t="28000" r="68000" b="72000"/>
              </a:path>
            </a:gradFill>
            <a:ln w="12700" cap="rnd">
              <a:solidFill>
                <a:srgbClr val="554A75"/>
              </a:solidFill>
              <a:round/>
            </a:ln>
          </p:spPr>
        </p:sp>
      </p:grpSp>
      <p:sp>
        <p:nvSpPr>
          <p:cNvPr id="26" name="Forma 25"/>
          <p:cNvSpPr txBox="1"/>
          <p:nvPr/>
        </p:nvSpPr>
        <p:spPr>
          <a:xfrm>
            <a:off x="5669280" y="2971800"/>
            <a:ext cx="201168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4A235A"/>
                </a:solidFill>
                <a:latin typeface="Bahnschrift SemiBold Condensed"/>
                <a:ea typeface="Bahnschrift SemiBold Condensed"/>
                <a:cs typeface="Bahnschrift SemiBold Condensed"/>
                <a:sym typeface="Bahnschrift SemiBold Condensed"/>
              </a:rPr>
              <a:t>NEURONA</a:t>
            </a:r>
            <a:endParaRPr lang="es-AR" sz="1400" dirty="0">
              <a:latin typeface="Bahnschrift SemiBold Condensed"/>
            </a:endParaRPr>
          </a:p>
        </p:txBody>
      </p:sp>
      <p:sp>
        <p:nvSpPr>
          <p:cNvPr id="27" name="Glucógeno astrocitario"/>
          <p:cNvSpPr/>
          <p:nvPr/>
        </p:nvSpPr>
        <p:spPr>
          <a:xfrm>
            <a:off x="1371600" y="3566160"/>
            <a:ext cx="640080" cy="502920"/>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path>
            </a:pathLst>
          </a:custGeom>
          <a:solidFill>
            <a:srgbClr val="B03A6E"/>
          </a:solidFill>
          <a:ln>
            <a:noFill/>
          </a:ln>
        </p:spPr>
      </p:sp>
      <p:grpSp>
        <p:nvGrpSpPr>
          <p:cNvPr id="28" name="!!GLUT"/>
          <p:cNvGrpSpPr/>
          <p:nvPr/>
        </p:nvGrpSpPr>
        <p:grpSpPr>
          <a:xfrm>
            <a:off x="1554480" y="1600200"/>
            <a:ext cx="345643" cy="411480"/>
            <a:chOff x="1554480" y="1600200"/>
            <a:chExt cx="345643" cy="411480"/>
          </a:xfrm>
        </p:grpSpPr>
        <p:sp>
          <p:nvSpPr>
            <p:cNvPr id="29" name="Forma 28"/>
            <p:cNvSpPr/>
            <p:nvPr/>
          </p:nvSpPr>
          <p:spPr>
            <a:xfrm>
              <a:off x="1554480" y="1600200"/>
              <a:ext cx="148133" cy="411480"/>
            </a:xfrm>
            <a:prstGeom prst="roundRect">
              <a:avLst>
                <a:gd name="adj" fmla="val 45000"/>
              </a:avLst>
            </a:prstGeom>
            <a:gradFill rotWithShape="1">
              <a:gsLst>
                <a:gs pos="0">
                  <a:srgbClr val="5D87A3"/>
                </a:gs>
                <a:gs pos="30000">
                  <a:srgbClr val="AFD6F0"/>
                </a:gs>
                <a:gs pos="55000">
                  <a:srgbClr val="85C1E9"/>
                </a:gs>
                <a:gs pos="100000">
                  <a:srgbClr val="5D87A3"/>
                </a:gs>
              </a:gsLst>
              <a:lin ang="5400000" scaled="0"/>
            </a:gradFill>
            <a:ln w="15875" cap="rnd">
              <a:solidFill>
                <a:srgbClr val="426074"/>
              </a:solidFill>
              <a:round/>
            </a:ln>
          </p:spPr>
        </p:sp>
        <p:sp>
          <p:nvSpPr>
            <p:cNvPr id="30" name="Forma 29"/>
            <p:cNvSpPr/>
            <p:nvPr/>
          </p:nvSpPr>
          <p:spPr>
            <a:xfrm>
              <a:off x="1751990" y="1600200"/>
              <a:ext cx="148133" cy="411480"/>
            </a:xfrm>
            <a:prstGeom prst="roundRect">
              <a:avLst>
                <a:gd name="adj" fmla="val 45000"/>
              </a:avLst>
            </a:prstGeom>
            <a:gradFill rotWithShape="1">
              <a:gsLst>
                <a:gs pos="0">
                  <a:srgbClr val="5D87A3"/>
                </a:gs>
                <a:gs pos="30000">
                  <a:srgbClr val="AFD6F0"/>
                </a:gs>
                <a:gs pos="55000">
                  <a:srgbClr val="85C1E9"/>
                </a:gs>
                <a:gs pos="100000">
                  <a:srgbClr val="5D87A3"/>
                </a:gs>
              </a:gsLst>
              <a:lin ang="5400000" scaled="0"/>
            </a:gradFill>
            <a:ln w="15875" cap="rnd">
              <a:solidFill>
                <a:srgbClr val="426074"/>
              </a:solidFill>
              <a:round/>
            </a:ln>
          </p:spPr>
        </p:sp>
      </p:grpSp>
      <p:sp>
        <p:nvSpPr>
          <p:cNvPr id="31" name="Forma 30"/>
          <p:cNvSpPr txBox="1"/>
          <p:nvPr/>
        </p:nvSpPr>
        <p:spPr>
          <a:xfrm>
            <a:off x="2011680" y="1645920"/>
            <a:ext cx="731520" cy="274320"/>
          </a:xfrm>
          <a:prstGeom prst="rect">
            <a:avLst/>
          </a:prstGeom>
          <a:noFill/>
          <a:ln>
            <a:noFill/>
          </a:ln>
        </p:spPr>
        <p:txBody>
          <a:bodyPr wrap="square" lIns="0" tIns="0" rIns="0" bIns="0" anchor="t" rtlCol="0">
            <a:noAutofit/>
          </a:bodyPr>
          <a:lstStyle/>
          <a:p>
            <a:pPr algn="l">
              <a:spcAft>
                <a:spcPts val="300"/>
              </a:spcAft>
              <a:buNone/>
            </a:pPr>
            <a:r>
              <a:rPr lang="es-AR" sz="1100" b="1" dirty="0">
                <a:solidFill>
                  <a:srgbClr val="2563B0"/>
                </a:solidFill>
                <a:latin typeface="Bahnschrift SemiBold Condensed"/>
                <a:ea typeface="Bahnschrift SemiBold Condensed"/>
                <a:cs typeface="Bahnschrift SemiBold Condensed"/>
                <a:sym typeface="Bahnschrift SemiBold Condensed"/>
              </a:rPr>
              <a:t>GLUT1</a:t>
            </a:r>
            <a:endParaRPr lang="es-AR" sz="1100" dirty="0">
              <a:latin typeface="Bahnschrift SemiBold Condensed"/>
            </a:endParaRPr>
          </a:p>
        </p:txBody>
      </p:sp>
      <p:sp>
        <p:nvSpPr>
          <p:cNvPr id="32" name="Glucosa a astrocito"/>
          <p:cNvSpPr/>
          <p:nvPr/>
        </p:nvSpPr>
        <p:spPr>
          <a:xfrm>
            <a:off x="1600200" y="109728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33" name="Glucosa a neurona"/>
          <p:cNvSpPr/>
          <p:nvPr/>
        </p:nvSpPr>
        <p:spPr>
          <a:xfrm>
            <a:off x="5120640" y="1097280"/>
            <a:ext cx="347472" cy="34747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Glc</a:t>
            </a:r>
            <a:endParaRPr lang="es-AR" sz="988" dirty="0">
              <a:latin typeface="Bahnschrift SemiBold Condensed"/>
            </a:endParaRPr>
          </a:p>
        </p:txBody>
      </p:sp>
      <p:sp>
        <p:nvSpPr>
          <p:cNvPr id="34" name="Glucosa directa neurona"/>
          <p:cNvSpPr/>
          <p:nvPr/>
        </p:nvSpPr>
        <p:spPr>
          <a:xfrm>
            <a:off x="5029200" y="1600200"/>
            <a:ext cx="274320" cy="1874520"/>
          </a:xfrm>
          <a:custGeom>
            <a:avLst/>
            <a:gdLst/>
            <a:ahLst/>
            <a:cxnLst/>
            <a:rect l="0" t="0" r="r" b="b"/>
            <a:pathLst>
              <a:path w="299" h="2050" fill="none">
                <a:moveTo>
                  <a:pt x="299" y="0"/>
                </a:moveTo>
                <a:lnTo>
                  <a:pt x="0" y="2050"/>
                </a:lnTo>
              </a:path>
            </a:pathLst>
          </a:custGeom>
          <a:noFill/>
          <a:ln w="38100" cap="rnd">
            <a:solidFill>
              <a:srgbClr val="2563B0"/>
            </a:solidFill>
            <a:round/>
            <a:tailEnd type="triangle" w="med" len="med"/>
          </a:ln>
        </p:spPr>
      </p:sp>
      <p:sp>
        <p:nvSpPr>
          <p:cNvPr id="35" name="GLUT3"/>
          <p:cNvSpPr/>
          <p:nvPr/>
        </p:nvSpPr>
        <p:spPr>
          <a:xfrm>
            <a:off x="5257800" y="2331720"/>
            <a:ext cx="600464" cy="226377"/>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GLUT3</a:t>
            </a:r>
            <a:endParaRPr lang="es-AR" sz="1150" dirty="0">
              <a:latin typeface="Bahnschrift SemiBold Condensed"/>
            </a:endParaRPr>
          </a:p>
        </p:txBody>
      </p:sp>
      <p:sp>
        <p:nvSpPr>
          <p:cNvPr id="36" name="Glucólisis astroglial"/>
          <p:cNvSpPr/>
          <p:nvPr/>
        </p:nvSpPr>
        <p:spPr>
          <a:xfrm>
            <a:off x="1828800" y="2194560"/>
            <a:ext cx="365760" cy="2011680"/>
          </a:xfrm>
          <a:custGeom>
            <a:avLst/>
            <a:gdLst/>
            <a:ahLst/>
            <a:cxnLst/>
            <a:rect l="0" t="0" r="r" b="b"/>
            <a:pathLst>
              <a:path w="399" h="2199" fill="none">
                <a:moveTo>
                  <a:pt x="0" y="0"/>
                </a:moveTo>
                <a:lnTo>
                  <a:pt x="399" y="2199"/>
                </a:lnTo>
              </a:path>
            </a:pathLst>
          </a:custGeom>
          <a:noFill/>
          <a:ln w="31750" cap="rnd">
            <a:solidFill>
              <a:srgbClr val="2563B0"/>
            </a:solidFill>
            <a:round/>
            <a:tailEnd type="triangle" w="med" len="med"/>
          </a:ln>
        </p:spPr>
      </p:sp>
      <p:sp>
        <p:nvSpPr>
          <p:cNvPr id="37" name="Lactato astro"/>
          <p:cNvSpPr/>
          <p:nvPr/>
        </p:nvSpPr>
        <p:spPr>
          <a:xfrm>
            <a:off x="2286000" y="4343400"/>
            <a:ext cx="384048" cy="384048"/>
          </a:xfrm>
          <a:prstGeom prst="ellipse">
            <a:avLst/>
          </a:prstGeom>
          <a:gradFill rotWithShape="1">
            <a:gsLst>
              <a:gs pos="0">
                <a:srgbClr val="B585C9"/>
              </a:gs>
              <a:gs pos="55000">
                <a:srgbClr val="8E44AD"/>
              </a:gs>
              <a:gs pos="100000">
                <a:srgbClr val="71368A"/>
              </a:gs>
            </a:gsLst>
            <a:path path="circle">
              <a:fillToRect l="32000" t="28000" r="68000" b="72000"/>
            </a:path>
          </a:gradFill>
          <a:ln w="12700" cap="rnd">
            <a:solidFill>
              <a:srgbClr val="4E255F"/>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Lac</a:t>
            </a:r>
            <a:endParaRPr lang="es-AR" sz="1092" dirty="0">
              <a:latin typeface="Bahnschrift SemiBold Condensed"/>
            </a:endParaRPr>
          </a:p>
        </p:txBody>
      </p:sp>
      <p:sp>
        <p:nvSpPr>
          <p:cNvPr id="38" name="MCT"/>
          <p:cNvSpPr/>
          <p:nvPr/>
        </p:nvSpPr>
        <p:spPr>
          <a:xfrm>
            <a:off x="2651760" y="4800600"/>
            <a:ext cx="1104913" cy="226377"/>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MCT1/4 → MCT2</a:t>
            </a:r>
            <a:endParaRPr lang="es-AR" sz="1150" dirty="0">
              <a:latin typeface="Bahnschrift SemiBold Condensed"/>
            </a:endParaRPr>
          </a:p>
        </p:txBody>
      </p:sp>
      <p:sp>
        <p:nvSpPr>
          <p:cNvPr id="39" name="Lanzadera lactato"/>
          <p:cNvSpPr/>
          <p:nvPr/>
        </p:nvSpPr>
        <p:spPr>
          <a:xfrm>
            <a:off x="2743200" y="4343400"/>
            <a:ext cx="1737360" cy="228600"/>
          </a:xfrm>
          <a:custGeom>
            <a:avLst/>
            <a:gdLst/>
            <a:ahLst/>
            <a:cxnLst/>
            <a:rect l="0" t="0" r="r" b="b"/>
            <a:pathLst>
              <a:path w="1900" h="250" fill="none">
                <a:moveTo>
                  <a:pt x="0" y="250"/>
                </a:moveTo>
                <a:lnTo>
                  <a:pt x="1900" y="0"/>
                </a:lnTo>
              </a:path>
            </a:pathLst>
          </a:custGeom>
          <a:noFill/>
          <a:ln w="44450" cap="rnd">
            <a:solidFill>
              <a:srgbClr val="8E44AD"/>
            </a:solidFill>
            <a:round/>
            <a:tailEnd type="triangle" w="med" len="med"/>
          </a:ln>
        </p:spPr>
      </p:sp>
      <p:sp>
        <p:nvSpPr>
          <p:cNvPr id="40" name="Oxidación neuronal"/>
          <p:cNvSpPr/>
          <p:nvPr/>
        </p:nvSpPr>
        <p:spPr>
          <a:xfrm>
            <a:off x="4389120" y="5029200"/>
            <a:ext cx="1901929" cy="226377"/>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LDH → piruvato → mitocondria</a:t>
            </a:r>
            <a:endParaRPr lang="es-AR" sz="1150" dirty="0">
              <a:latin typeface="Bahnschrift SemiBold Condensed"/>
            </a:endParaRPr>
          </a:p>
        </p:txBody>
      </p:sp>
      <p:grpSp>
        <p:nvGrpSpPr>
          <p:cNvPr id="41" name="Recuadro Modelo"/>
          <p:cNvGrpSpPr/>
          <p:nvPr/>
        </p:nvGrpSpPr>
        <p:grpSpPr>
          <a:xfrm>
            <a:off x="8183880" y="1005840"/>
            <a:ext cx="3611880" cy="2331720"/>
            <a:chOff x="8183880" y="1005840"/>
            <a:chExt cx="3611880" cy="2331720"/>
          </a:xfrm>
        </p:grpSpPr>
        <p:sp>
          <p:nvSpPr>
            <p:cNvPr id="42" name="Forma 41"/>
            <p:cNvSpPr/>
            <p:nvPr/>
          </p:nvSpPr>
          <p:spPr>
            <a:xfrm>
              <a:off x="8183880" y="1188720"/>
              <a:ext cx="3611880" cy="2148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Hipótesis de la lanzadera de lactato</a:t>
              </a:r>
              <a:r>
                <a:rPr lang="es-AR" sz="1600" dirty="0">
                  <a:solidFill>
                    <a:srgbClr val="1E1E1E"/>
                  </a:solidFill>
                  <a:latin typeface="Bahnschrift"/>
                  <a:ea typeface="Bahnschrift"/>
                  <a:cs typeface="Bahnschrift"/>
                  <a:sym typeface="Bahnschrift"/>
                </a:rPr>
                <a:t>: la actividad glutamatérgica estimula la glucólisis astroglial; el lactato sale por </a:t>
              </a:r>
              <a:r>
                <a:rPr lang="es-AR" sz="1600" b="1" dirty="0">
                  <a:solidFill>
                    <a:srgbClr val="1E1E1E"/>
                  </a:solidFill>
                  <a:latin typeface="Bahnschrift"/>
                  <a:ea typeface="Bahnschrift"/>
                  <a:cs typeface="Bahnschrift"/>
                  <a:sym typeface="Bahnschrift"/>
                </a:rPr>
                <a:t>MCT1/MCT4</a:t>
              </a:r>
              <a:r>
                <a:rPr lang="es-AR" sz="1600" dirty="0">
                  <a:solidFill>
                    <a:srgbClr val="1E1E1E"/>
                  </a:solidFill>
                  <a:latin typeface="Bahnschrift"/>
                  <a:ea typeface="Bahnschrift"/>
                  <a:cs typeface="Bahnschrift"/>
                  <a:sym typeface="Bahnschrift"/>
                </a:rPr>
                <a:t> y la neurona lo capta por </a:t>
              </a:r>
              <a:r>
                <a:rPr lang="es-AR" sz="1600" b="1" dirty="0">
                  <a:solidFill>
                    <a:srgbClr val="1E1E1E"/>
                  </a:solidFill>
                  <a:latin typeface="Bahnschrift"/>
                  <a:ea typeface="Bahnschrift"/>
                  <a:cs typeface="Bahnschrift"/>
                  <a:sym typeface="Bahnschrift"/>
                </a:rPr>
                <a:t>MCT2</a:t>
              </a:r>
              <a:r>
                <a:rPr lang="es-AR" sz="1600" dirty="0">
                  <a:solidFill>
                    <a:srgbClr val="1E1E1E"/>
                  </a:solidFill>
                  <a:latin typeface="Bahnschrift"/>
                  <a:ea typeface="Bahnschrift"/>
                  <a:cs typeface="Bahnschrift"/>
                  <a:sym typeface="Bahnschrift"/>
                </a:rPr>
                <a:t> y lo oxida.</a:t>
              </a:r>
              <a:endParaRPr lang="es-AR" sz="1600" dirty="0">
                <a:latin typeface="Bahnschrift"/>
              </a:endParaRPr>
            </a:p>
          </p:txBody>
        </p:sp>
        <p:sp>
          <p:nvSpPr>
            <p:cNvPr id="43" name="Forma 42"/>
            <p:cNvSpPr/>
            <p:nvPr/>
          </p:nvSpPr>
          <p:spPr>
            <a:xfrm>
              <a:off x="8293608" y="1005840"/>
              <a:ext cx="89446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MODELO</a:t>
              </a:r>
              <a:endParaRPr lang="es-AR" sz="1450" dirty="0">
                <a:latin typeface="Bahnschrift SemiBold Condensed"/>
              </a:endParaRPr>
            </a:p>
          </p:txBody>
        </p:sp>
      </p:grpSp>
      <p:sp>
        <p:nvSpPr>
          <p:cNvPr id="44" name="Forma 43"/>
          <p:cNvSpPr/>
          <p:nvPr/>
        </p:nvSpPr>
        <p:spPr>
          <a:xfrm>
            <a:off x="8183880" y="3520440"/>
            <a:ext cx="3611880" cy="1600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Los astrocitos tienen </a:t>
            </a:r>
            <a:r>
              <a:rPr lang="es-AR" sz="1600" b="1" dirty="0">
                <a:solidFill>
                  <a:srgbClr val="1E1E1E"/>
                </a:solidFill>
                <a:latin typeface="Bahnschrift"/>
                <a:ea typeface="Bahnschrift"/>
                <a:cs typeface="Bahnschrift"/>
                <a:sym typeface="Bahnschrift"/>
              </a:rPr>
              <a:t>pequeños depósitos de glucógeno</a:t>
            </a:r>
            <a:r>
              <a:rPr lang="es-AR" sz="1600" dirty="0">
                <a:solidFill>
                  <a:srgbClr val="1E1E1E"/>
                </a:solidFill>
                <a:latin typeface="Bahnschrift"/>
                <a:ea typeface="Bahnschrift"/>
                <a:cs typeface="Bahnschrift"/>
                <a:sym typeface="Bahnschrift"/>
              </a:rPr>
              <a:t> que alimentan la glucólisis local.</a:t>
            </a:r>
            <a:endParaRPr lang="es-AR" sz="1600" dirty="0">
              <a:latin typeface="Bahnschrift"/>
            </a:endParaRPr>
          </a:p>
        </p:txBody>
      </p:sp>
      <p:sp>
        <p:nvSpPr>
          <p:cNvPr id="45" name="Perla"/>
          <p:cNvSpPr/>
          <p:nvPr/>
        </p:nvSpPr>
        <p:spPr>
          <a:xfrm>
            <a:off x="8183880" y="5303520"/>
            <a:ext cx="3611880" cy="11887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Modelo </a:t>
            </a:r>
            <a:r>
              <a:rPr lang="es-AR" sz="1600" b="1" dirty="0">
                <a:solidFill>
                  <a:srgbClr val="FFFFFF"/>
                </a:solidFill>
                <a:latin typeface="Bahnschrift"/>
                <a:ea typeface="Bahnschrift"/>
                <a:cs typeface="Bahnschrift"/>
                <a:sym typeface="Bahnschrift"/>
              </a:rPr>
              <a:t>debatido</a:t>
            </a:r>
            <a:r>
              <a:rPr lang="es-AR" sz="1600" dirty="0">
                <a:solidFill>
                  <a:srgbClr val="FFFFFF"/>
                </a:solidFill>
                <a:latin typeface="Bahnschrift"/>
                <a:ea typeface="Bahnschrift"/>
                <a:cs typeface="Bahnschrift"/>
                <a:sym typeface="Bahnschrift"/>
              </a:rPr>
              <a:t>: la neurona </a:t>
            </a:r>
            <a:r>
              <a:rPr lang="es-AR" sz="1600" b="1" dirty="0">
                <a:solidFill>
                  <a:srgbClr val="FFFFFF"/>
                </a:solidFill>
                <a:latin typeface="Bahnschrift"/>
                <a:ea typeface="Bahnschrift"/>
                <a:cs typeface="Bahnschrift"/>
                <a:sym typeface="Bahnschrift"/>
              </a:rPr>
              <a:t>también capta y oxida glucosa</a:t>
            </a:r>
            <a:r>
              <a:rPr lang="es-AR" sz="1600" dirty="0">
                <a:solidFill>
                  <a:srgbClr val="FFFFFF"/>
                </a:solidFill>
                <a:latin typeface="Bahnschrift"/>
                <a:ea typeface="Bahnschrift"/>
                <a:cs typeface="Bahnschrift"/>
                <a:sym typeface="Bahnschrift"/>
              </a:rPr>
              <a:t> directamente.</a:t>
            </a:r>
            <a:endParaRPr lang="es-AR" sz="16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50092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10 · ACOPLAMIENTO ASTROCITO–NEURONA: CARBONO Y ENERGÍA</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2"/>
                                        </p:tgtEl>
                                        <p:attrNameLst>
                                          <p:attrName>style.visibility</p:attrName>
                                        </p:attrNameLst>
                                      </p:cBhvr>
                                      <p:to>
                                        <p:strVal val="visible"/>
                                      </p:to>
                                    </p:set>
                                    <p:animEffect transition="in" filter="fade">
                                      <p:cBhvr>
                                        <p:cTn id="5" dur="500"/>
                                        <p:tgtEl>
                                          <p:spTgt spid="32"/>
                                        </p:tgtEl>
                                      </p:cBhvr>
                                    </p:animEffect>
                                  </p:childTnLst>
                                </p:cTn>
                              </p:par>
                            </p:childTnLst>
                          </p:cTn>
                        </p:par>
                        <p:par>
                          <p:cTn id="12" fill="hold">
                            <p:stCondLst>
                              <p:cond delay="500"/>
                            </p:stCondLst>
                            <p:childTnLst>
                              <p:par>
                                <p:cTn id="7" presetID="0" presetClass="path" presetSubtype="0" accel="20000" decel="20000" fill="hold" grpId="0" nodeType="afterEffect">
                                  <p:stCondLst>
                                    <p:cond delay="0"/>
                                  </p:stCondLst>
                                  <p:childTnLst>
                                    <p:animMotion origin="layout" path="M 0 0 L 0.0000 0.1133 E" pathEditMode="relative" ptsTypes="">
                                      <p:cBhvr>
                                        <p:cTn id="8" dur="900" fill="hold"/>
                                        <p:tgtEl>
                                          <p:spTgt spid="32"/>
                                        </p:tgtEl>
                                        <p:attrNameLst>
                                          <p:attrName>ppt_x</p:attrName>
                                          <p:attrName>ppt_y</p:attrName>
                                        </p:attrNameLst>
                                      </p:cBhvr>
                                      <p:rCtr x="0" y="5666"/>
                                    </p:animMotion>
                                  </p:childTnLst>
                                </p:cTn>
                              </p:par>
                              <p:par>
                                <p:cTn id="9" presetID="10" presetClass="entr" presetSubtype="0"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childTnLst>
                    </p:cTn>
                  </p:par>
                  <p:par>
                    <p:cTn id="27" fill="hold">
                      <p:stCondLst>
                        <p:cond delay="indefinite"/>
                      </p:stCondLst>
                      <p:childTnLst>
                        <p:par>
                          <p:cTn id="17"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wipe(up)">
                                      <p:cBhvr>
                                        <p:cTn id="16" dur="600"/>
                                        <p:tgtEl>
                                          <p:spTgt spid="36"/>
                                        </p:tgtEl>
                                      </p:cBhvr>
                                    </p:animEffect>
                                  </p:childTnLst>
                                </p:cTn>
                              </p:par>
                            </p:childTnLst>
                          </p:cTn>
                        </p:par>
                        <p:par>
                          <p:cTn id="26" fill="hold">
                            <p:stCondLst>
                              <p:cond delay="600"/>
                            </p:stCondLst>
                            <p:childTnLst>
                              <p:par>
                                <p:cTn id="18" presetID="53" presetClass="entr" presetSubtype="16"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 calcmode="lin" valueType="num">
                                      <p:cBhvr>
                                        <p:cTn id="20" dur="500" fill="hold"/>
                                        <p:tgtEl>
                                          <p:spTgt spid="37"/>
                                        </p:tgtEl>
                                        <p:attrNameLst>
                                          <p:attrName>ppt_w</p:attrName>
                                        </p:attrNameLst>
                                      </p:cBhvr>
                                      <p:tavLst>
                                        <p:tav tm="0">
                                          <p:val>
                                            <p:fltVal val="0"/>
                                          </p:val>
                                        </p:tav>
                                        <p:tav tm="100000">
                                          <p:val>
                                            <p:strVal val="#ppt_w"/>
                                          </p:val>
                                        </p:tav>
                                      </p:tavLst>
                                    </p:anim>
                                    <p:anim calcmode="lin" valueType="num">
                                      <p:cBhvr>
                                        <p:cTn id="21" dur="500" fill="hold"/>
                                        <p:tgtEl>
                                          <p:spTgt spid="37"/>
                                        </p:tgtEl>
                                        <p:attrNameLst>
                                          <p:attrName>ppt_h</p:attrName>
                                        </p:attrNameLst>
                                      </p:cBhvr>
                                      <p:tavLst>
                                        <p:tav tm="0">
                                          <p:val>
                                            <p:fltVal val="0"/>
                                          </p:val>
                                        </p:tav>
                                        <p:tav tm="100000">
                                          <p:val>
                                            <p:strVal val="#ppt_h"/>
                                          </p:val>
                                        </p:tav>
                                      </p:tavLst>
                                    </p:anim>
                                    <p:animEffect transition="in" filter="fade">
                                      <p:cBhvr>
                                        <p:cTn id="22" dur="500"/>
                                        <p:tgtEl>
                                          <p:spTgt spid="3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childTnLst>
                          </p:cTn>
                        </p:par>
                      </p:childTnLst>
                    </p:cTn>
                  </p:par>
                  <p:par>
                    <p:cTn id="43"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par>
                          <p:cTn id="35" fill="hold">
                            <p:stCondLst>
                              <p:cond delay="500"/>
                            </p:stCondLst>
                            <p:childTnLst>
                              <p:par>
                                <p:cTn id="32" presetID="22" presetClass="entr" presetSubtype="8" fill="hold" grpId="0" nodeType="after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600"/>
                                        <p:tgtEl>
                                          <p:spTgt spid="39"/>
                                        </p:tgtEl>
                                      </p:cBhvr>
                                    </p:animEffect>
                                  </p:childTnLst>
                                </p:cTn>
                              </p:par>
                            </p:childTnLst>
                          </p:cTn>
                        </p:par>
                        <p:par>
                          <p:cTn id="42" fill="hold">
                            <p:stCondLst>
                              <p:cond delay="1100"/>
                            </p:stCondLst>
                            <p:childTnLst>
                              <p:par>
                                <p:cTn id="36" presetID="10" presetClass="entr" presetSubtype="0" fill="hold" grpId="0" nodeType="afterEffect">
                                  <p:stCondLst>
                                    <p:cond delay="0"/>
                                  </p:stCondLst>
                                  <p:childTnLst>
                                    <p:set>
                                      <p:cBhvr>
                                        <p:cTn id="37" dur="1" fill="hold">
                                          <p:stCondLst>
                                            <p:cond delay="0"/>
                                          </p:stCondLst>
                                        </p:cTn>
                                        <p:tgtEl>
                                          <p:spTgt spid="40"/>
                                        </p:tgtEl>
                                        <p:attrNameLst>
                                          <p:attrName>style.visibility</p:attrName>
                                        </p:attrNameLst>
                                      </p:cBhvr>
                                      <p:to>
                                        <p:strVal val="visible"/>
                                      </p:to>
                                    </p:set>
                                    <p:animEffect transition="in" filter="fade">
                                      <p:cBhvr>
                                        <p:cTn id="38" dur="500"/>
                                        <p:tgtEl>
                                          <p:spTgt spid="4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500"/>
                                        <p:tgtEl>
                                          <p:spTgt spid="41"/>
                                        </p:tgtEl>
                                      </p:cBhvr>
                                    </p:animEffect>
                                  </p:childTnLst>
                                </p:cTn>
                              </p:par>
                            </p:childTnLst>
                          </p:cTn>
                        </p:par>
                      </p:childTnLst>
                    </p:cTn>
                  </p:par>
                  <p:par>
                    <p:cTn id="58"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33"/>
                                        </p:tgtEl>
                                        <p:attrNameLst>
                                          <p:attrName>style.visibility</p:attrName>
                                        </p:attrNameLst>
                                      </p:cBhvr>
                                      <p:to>
                                        <p:strVal val="visible"/>
                                      </p:to>
                                    </p:set>
                                    <p:animEffect transition="in" filter="fade">
                                      <p:cBhvr>
                                        <p:cTn id="46" dur="500"/>
                                        <p:tgtEl>
                                          <p:spTgt spid="33"/>
                                        </p:tgtEl>
                                      </p:cBhvr>
                                    </p:animEffect>
                                  </p:childTnLst>
                                </p:cTn>
                              </p:par>
                            </p:childTnLst>
                          </p:cTn>
                        </p:par>
                        <p:par>
                          <p:cTn id="57" fill="hold">
                            <p:stCondLst>
                              <p:cond delay="500"/>
                            </p:stCondLst>
                            <p:childTnLst>
                              <p:par>
                                <p:cTn id="48" presetID="22" presetClass="entr" presetSubtype="1" fill="hold" grpId="0" nodeType="after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wipe(up)">
                                      <p:cBhvr>
                                        <p:cTn id="50" dur="600"/>
                                        <p:tgtEl>
                                          <p:spTgt spid="3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5"/>
                                        </p:tgtEl>
                                        <p:attrNameLst>
                                          <p:attrName>style.visibility</p:attrName>
                                        </p:attrNameLst>
                                      </p:cBhvr>
                                      <p:to>
                                        <p:strVal val="visible"/>
                                      </p:to>
                                    </p:set>
                                    <p:animEffect transition="in" filter="fade">
                                      <p:cBhvr>
                                        <p:cTn id="53" dur="500"/>
                                        <p:tgtEl>
                                          <p:spTgt spid="3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5"/>
                                        </p:tgtEl>
                                        <p:attrNameLst>
                                          <p:attrName>style.visibility</p:attrName>
                                        </p:attrNameLst>
                                      </p:cBhvr>
                                      <p:to>
                                        <p:strVal val="visible"/>
                                      </p:to>
                                    </p:set>
                                    <p:animEffect transition="in" filter="fade">
                                      <p:cBhvr>
                                        <p:cTn id="56"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6" grpId="0" animBg="1"/>
      <p:bldP spid="37" grpId="0" animBg="1"/>
      <p:bldP spid="44" grpId="0" animBg="1"/>
      <p:bldP spid="38" grpId="0" animBg="1"/>
      <p:bldP spid="39" grpId="0" animBg="1"/>
      <p:bldP spid="40" grpId="0" animBg="1"/>
      <p:bldP spid="33" grpId="0" animBg="1"/>
      <p:bldP spid="34" grpId="0" animBg="1"/>
      <p:bldP spid="35" grpId="0" animBg="1"/>
      <p:bldP spid="45" grpId="0" animBg="1"/>
    </p:bldLst>
  </p:timing>
</p:sld>
</file>

<file path=ppt/slides/slide74.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Capilar cerebral"/>
          <p:cNvGrpSpPr/>
          <p:nvPr/>
        </p:nvGrpSpPr>
        <p:grpSpPr>
          <a:xfrm>
            <a:off x="274320" y="960120"/>
            <a:ext cx="7680960" cy="640080"/>
            <a:chOff x="274320" y="960120"/>
            <a:chExt cx="7680960" cy="640080"/>
          </a:xfrm>
        </p:grpSpPr>
        <p:sp>
          <p:nvSpPr>
            <p:cNvPr id="5" name="Forma 4"/>
            <p:cNvSpPr/>
            <p:nvPr/>
          </p:nvSpPr>
          <p:spPr>
            <a:xfrm>
              <a:off x="274320" y="960120"/>
              <a:ext cx="7680960" cy="6400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370332" y="1075334"/>
              <a:ext cx="7488936" cy="409651"/>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1014641" y="127181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1932556" y="113372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3813071" y="123791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5151780" y="1169448"/>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 name="Eritrocito_5"/>
            <p:cNvSpPr/>
            <p:nvPr/>
          </p:nvSpPr>
          <p:spPr>
            <a:xfrm>
              <a:off x="6548977" y="121724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2" name="Astrocito"/>
          <p:cNvGrpSpPr/>
          <p:nvPr/>
        </p:nvGrpSpPr>
        <p:grpSpPr>
          <a:xfrm>
            <a:off x="182880" y="1828800"/>
            <a:ext cx="3291840" cy="2633472"/>
            <a:chOff x="182880" y="1828800"/>
            <a:chExt cx="3291840" cy="2633472"/>
          </a:xfrm>
        </p:grpSpPr>
        <p:sp>
          <p:nvSpPr>
            <p:cNvPr id="13" name="Forma 12"/>
            <p:cNvSpPr/>
            <p:nvPr/>
          </p:nvSpPr>
          <p:spPr>
            <a:xfrm>
              <a:off x="182880" y="1828800"/>
              <a:ext cx="3291840" cy="2633472"/>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101600" cap="rnd">
              <a:solidFill>
                <a:srgbClr val="54704D"/>
              </a:solidFill>
              <a:round/>
            </a:ln>
          </p:spPr>
        </p:sp>
        <p:sp>
          <p:nvSpPr>
            <p:cNvPr id="14" name="Forma 13"/>
            <p:cNvSpPr/>
            <p:nvPr/>
          </p:nvSpPr>
          <p:spPr>
            <a:xfrm>
              <a:off x="182880" y="1828800"/>
              <a:ext cx="3291840" cy="2633472"/>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76200" cap="rnd">
              <a:solidFill>
                <a:srgbClr val="9ACD8C"/>
              </a:solidFill>
              <a:round/>
            </a:ln>
          </p:spPr>
        </p:sp>
        <p:sp>
          <p:nvSpPr>
            <p:cNvPr id="15" name="Forma 14"/>
            <p:cNvSpPr/>
            <p:nvPr/>
          </p:nvSpPr>
          <p:spPr>
            <a:xfrm>
              <a:off x="182880" y="1828800"/>
              <a:ext cx="3291840" cy="2633472"/>
            </a:xfrm>
            <a:custGeom>
              <a:avLst/>
              <a:gdLst/>
              <a:ahLst/>
              <a:cxnLst/>
              <a:rect l="0" t="0" r="r" b="b"/>
              <a:pathLst>
                <a:path w="1000" h="1000">
                  <a:moveTo>
                    <a:pt x="420" y="420"/>
                  </a:moveTo>
                  <a:cubicBezTo>
                    <a:pt x="440" y="393"/>
                    <a:pt x="488" y="373"/>
                    <a:pt x="520" y="380"/>
                  </a:cubicBezTo>
                  <a:cubicBezTo>
                    <a:pt x="551" y="386"/>
                    <a:pt x="598" y="426"/>
                    <a:pt x="610" y="460"/>
                  </a:cubicBezTo>
                  <a:cubicBezTo>
                    <a:pt x="621" y="493"/>
                    <a:pt x="611" y="553"/>
                    <a:pt x="590" y="580"/>
                  </a:cubicBezTo>
                  <a:cubicBezTo>
                    <a:pt x="568" y="606"/>
                    <a:pt x="511" y="626"/>
                    <a:pt x="480" y="620"/>
                  </a:cubicBezTo>
                  <a:cubicBezTo>
                    <a:pt x="448" y="613"/>
                    <a:pt x="410" y="573"/>
                    <a:pt x="400" y="540"/>
                  </a:cubicBezTo>
                  <a:cubicBezTo>
                    <a:pt x="390" y="506"/>
                    <a:pt x="400" y="446"/>
                    <a:pt x="420" y="420"/>
                  </a:cubicBezTo>
                  <a:close/>
                </a:path>
              </a:pathLst>
            </a:custGeom>
            <a:gradFill rotWithShape="1">
              <a:gsLst>
                <a:gs pos="0">
                  <a:srgbClr val="C7E3BF"/>
                </a:gs>
                <a:gs pos="55000">
                  <a:srgbClr val="9ACD8C"/>
                </a:gs>
                <a:gs pos="100000">
                  <a:srgbClr val="739969"/>
                </a:gs>
              </a:gsLst>
              <a:path path="circle">
                <a:fillToRect l="32000" t="28000" r="68000" b="72000"/>
              </a:path>
            </a:gradFill>
            <a:ln w="19050" cap="rnd">
              <a:solidFill>
                <a:srgbClr val="54704D"/>
              </a:solidFill>
              <a:round/>
            </a:ln>
          </p:spPr>
        </p:sp>
        <p:sp>
          <p:nvSpPr>
            <p:cNvPr id="16" name="Forma 15"/>
            <p:cNvSpPr/>
            <p:nvPr/>
          </p:nvSpPr>
          <p:spPr>
            <a:xfrm>
              <a:off x="182880" y="1828800"/>
              <a:ext cx="3291840" cy="2633472"/>
            </a:xfrm>
            <a:custGeom>
              <a:avLst/>
              <a:gdLst/>
              <a:ahLst/>
              <a:cxnLst/>
              <a:rect l="0" t="0" r="r" b="b"/>
              <a:pathLst>
                <a:path w="1000" h="1000">
                  <a:moveTo>
                    <a:pt x="555" y="500"/>
                  </a:moveTo>
                  <a:cubicBezTo>
                    <a:pt x="555" y="527"/>
                    <a:pt x="532" y="550"/>
                    <a:pt x="505" y="550"/>
                  </a:cubicBezTo>
                  <a:cubicBezTo>
                    <a:pt x="477" y="550"/>
                    <a:pt x="455" y="527"/>
                    <a:pt x="455" y="500"/>
                  </a:cubicBezTo>
                  <a:cubicBezTo>
                    <a:pt x="455" y="472"/>
                    <a:pt x="477" y="450"/>
                    <a:pt x="505" y="450"/>
                  </a:cubicBezTo>
                  <a:cubicBezTo>
                    <a:pt x="532" y="450"/>
                    <a:pt x="555" y="472"/>
                    <a:pt x="555" y="500"/>
                  </a:cubicBezTo>
                  <a:close/>
                </a:path>
              </a:pathLst>
            </a:custGeom>
            <a:gradFill rotWithShape="1">
              <a:gsLst>
                <a:gs pos="0">
                  <a:srgbClr val="8DAD83"/>
                </a:gs>
                <a:gs pos="55000">
                  <a:srgbClr val="5D8A4E"/>
                </a:gs>
                <a:gs pos="100000">
                  <a:srgbClr val="416036"/>
                </a:gs>
              </a:gsLst>
              <a:path path="circle">
                <a:fillToRect l="32000" t="28000" r="68000" b="72000"/>
              </a:path>
            </a:gradFill>
            <a:ln>
              <a:noFill/>
            </a:ln>
          </p:spPr>
        </p:sp>
      </p:grpSp>
      <p:sp>
        <p:nvSpPr>
          <p:cNvPr id="17" name="Forma 16"/>
          <p:cNvSpPr txBox="1"/>
          <p:nvPr/>
        </p:nvSpPr>
        <p:spPr>
          <a:xfrm>
            <a:off x="274320" y="1828800"/>
            <a:ext cx="18288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1E5631"/>
                </a:solidFill>
                <a:latin typeface="Bahnschrift SemiBold Condensed"/>
                <a:ea typeface="Bahnschrift SemiBold Condensed"/>
                <a:cs typeface="Bahnschrift SemiBold Condensed"/>
                <a:sym typeface="Bahnschrift SemiBold Condensed"/>
              </a:rPr>
              <a:t>ASTROCITO</a:t>
            </a:r>
            <a:endParaRPr lang="es-AR" sz="1400" dirty="0">
              <a:latin typeface="Bahnschrift SemiBold Condensed"/>
            </a:endParaRPr>
          </a:p>
        </p:txBody>
      </p:sp>
      <p:grpSp>
        <p:nvGrpSpPr>
          <p:cNvPr id="18" name="Neurona"/>
          <p:cNvGrpSpPr/>
          <p:nvPr/>
        </p:nvGrpSpPr>
        <p:grpSpPr>
          <a:xfrm>
            <a:off x="4023360" y="2926080"/>
            <a:ext cx="4023360" cy="2212848"/>
            <a:chOff x="4023360" y="2926080"/>
            <a:chExt cx="4023360" cy="2212848"/>
          </a:xfrm>
        </p:grpSpPr>
        <p:sp>
          <p:nvSpPr>
            <p:cNvPr id="19" name="Forma 18"/>
            <p:cNvSpPr/>
            <p:nvPr/>
          </p:nvSpPr>
          <p:spPr>
            <a:xfrm>
              <a:off x="4023360" y="2926080"/>
              <a:ext cx="4023360" cy="2212848"/>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82550" cap="rnd">
              <a:solidFill>
                <a:srgbClr val="554A75"/>
              </a:solidFill>
              <a:round/>
            </a:ln>
          </p:spPr>
        </p:sp>
        <p:sp>
          <p:nvSpPr>
            <p:cNvPr id="20" name="Forma 19"/>
            <p:cNvSpPr/>
            <p:nvPr/>
          </p:nvSpPr>
          <p:spPr>
            <a:xfrm>
              <a:off x="4023360" y="2926080"/>
              <a:ext cx="4023360" cy="2212848"/>
            </a:xfrm>
            <a:custGeom>
              <a:avLst/>
              <a:gdLst/>
              <a:ahLst/>
              <a:cxnLst/>
              <a:rect l="0" t="0" r="r" b="b"/>
              <a:pathLst>
                <a:path w="1000" h="1000" fill="none">
                  <a:moveTo>
                    <a:pt x="280" y="500"/>
                  </a:moveTo>
                  <a:cubicBezTo>
                    <a:pt x="200" y="420"/>
                    <a:pt x="150" y="300"/>
                    <a:pt x="60" y="230"/>
                  </a:cubicBezTo>
                </a:path>
                <a:path w="1000" h="1000" fill="none">
                  <a:moveTo>
                    <a:pt x="260" y="470"/>
                  </a:moveTo>
                  <a:cubicBezTo>
                    <a:pt x="220" y="380"/>
                    <a:pt x="230" y="250"/>
                    <a:pt x="200" y="120"/>
                  </a:cubicBezTo>
                </a:path>
                <a:path w="1000" h="1000" fill="none">
                  <a:moveTo>
                    <a:pt x="270" y="560"/>
                  </a:moveTo>
                  <a:cubicBezTo>
                    <a:pt x="180" y="620"/>
                    <a:pt x="120" y="700"/>
                    <a:pt x="40" y="780"/>
                  </a:cubicBezTo>
                </a:path>
                <a:path w="1000" h="1000" fill="none">
                  <a:moveTo>
                    <a:pt x="300" y="600"/>
                  </a:moveTo>
                  <a:cubicBezTo>
                    <a:pt x="280" y="700"/>
                    <a:pt x="260" y="820"/>
                    <a:pt x="230" y="940"/>
                  </a:cubicBezTo>
                </a:path>
                <a:path w="1000" h="1000" fill="none">
                  <a:moveTo>
                    <a:pt x="330" y="430"/>
                  </a:moveTo>
                  <a:cubicBezTo>
                    <a:pt x="340" y="320"/>
                    <a:pt x="380" y="200"/>
                    <a:pt x="420" y="80"/>
                  </a:cubicBezTo>
                </a:path>
              </a:pathLst>
            </a:custGeom>
            <a:noFill/>
            <a:ln w="57150" cap="rnd">
              <a:solidFill>
                <a:srgbClr val="8E7CC3"/>
              </a:solidFill>
              <a:round/>
            </a:ln>
          </p:spPr>
        </p:sp>
        <p:sp>
          <p:nvSpPr>
            <p:cNvPr id="21" name="Forma 20"/>
            <p:cNvSpPr/>
            <p:nvPr/>
          </p:nvSpPr>
          <p:spPr>
            <a:xfrm>
              <a:off x="4023360" y="2926080"/>
              <a:ext cx="4023360" cy="2212848"/>
            </a:xfrm>
            <a:custGeom>
              <a:avLst/>
              <a:gdLst/>
              <a:ahLst/>
              <a:cxnLst/>
              <a:rect l="0" t="0" r="r" b="b"/>
              <a:pathLst>
                <a:path w="1000" h="1000" fill="none">
                  <a:moveTo>
                    <a:pt x="360" y="520"/>
                  </a:moveTo>
                  <a:cubicBezTo>
                    <a:pt x="500" y="520"/>
                    <a:pt x="650" y="470"/>
                    <a:pt x="900" y="500"/>
                  </a:cubicBezTo>
                </a:path>
              </a:pathLst>
            </a:custGeom>
            <a:noFill/>
            <a:ln w="88900" cap="rnd">
              <a:solidFill>
                <a:srgbClr val="554A75"/>
              </a:solidFill>
              <a:round/>
            </a:ln>
          </p:spPr>
        </p:sp>
        <p:sp>
          <p:nvSpPr>
            <p:cNvPr id="22" name="Forma 21"/>
            <p:cNvSpPr/>
            <p:nvPr/>
          </p:nvSpPr>
          <p:spPr>
            <a:xfrm>
              <a:off x="4023360" y="2926080"/>
              <a:ext cx="4023360" cy="2212848"/>
            </a:xfrm>
            <a:custGeom>
              <a:avLst/>
              <a:gdLst/>
              <a:ahLst/>
              <a:cxnLst/>
              <a:rect l="0" t="0" r="r" b="b"/>
              <a:pathLst>
                <a:path w="1000" h="1000" fill="none">
                  <a:moveTo>
                    <a:pt x="360" y="520"/>
                  </a:moveTo>
                  <a:cubicBezTo>
                    <a:pt x="500" y="520"/>
                    <a:pt x="650" y="470"/>
                    <a:pt x="900" y="500"/>
                  </a:cubicBezTo>
                </a:path>
              </a:pathLst>
            </a:custGeom>
            <a:noFill/>
            <a:ln w="63500" cap="rnd">
              <a:solidFill>
                <a:srgbClr val="A496CF"/>
              </a:solidFill>
              <a:round/>
            </a:ln>
          </p:spPr>
        </p:sp>
        <p:sp>
          <p:nvSpPr>
            <p:cNvPr id="23" name="Forma 22"/>
            <p:cNvSpPr/>
            <p:nvPr/>
          </p:nvSpPr>
          <p:spPr>
            <a:xfrm>
              <a:off x="4023360" y="2926080"/>
              <a:ext cx="4023360" cy="2212848"/>
            </a:xfrm>
            <a:custGeom>
              <a:avLst/>
              <a:gdLst/>
              <a:ahLst/>
              <a:cxnLst/>
              <a:rect l="0" t="0" r="r" b="b"/>
              <a:pathLst>
                <a:path w="1000" h="1000">
                  <a:moveTo>
                    <a:pt x="230" y="430"/>
                  </a:moveTo>
                  <a:cubicBezTo>
                    <a:pt x="250" y="400"/>
                    <a:pt x="301" y="373"/>
                    <a:pt x="330" y="380"/>
                  </a:cubicBezTo>
                  <a:cubicBezTo>
                    <a:pt x="358" y="386"/>
                    <a:pt x="391" y="433"/>
                    <a:pt x="400" y="470"/>
                  </a:cubicBezTo>
                  <a:cubicBezTo>
                    <a:pt x="408" y="506"/>
                    <a:pt x="400" y="571"/>
                    <a:pt x="380" y="600"/>
                  </a:cubicBezTo>
                  <a:cubicBezTo>
                    <a:pt x="360" y="628"/>
                    <a:pt x="308" y="646"/>
                    <a:pt x="280" y="640"/>
                  </a:cubicBezTo>
                  <a:cubicBezTo>
                    <a:pt x="251" y="633"/>
                    <a:pt x="218" y="595"/>
                    <a:pt x="210" y="560"/>
                  </a:cubicBezTo>
                  <a:cubicBezTo>
                    <a:pt x="201" y="525"/>
                    <a:pt x="210" y="460"/>
                    <a:pt x="230" y="430"/>
                  </a:cubicBezTo>
                  <a:close/>
                </a:path>
              </a:pathLst>
            </a:custGeom>
            <a:gradFill rotWithShape="1">
              <a:gsLst>
                <a:gs pos="0">
                  <a:srgbClr val="C0B6DE"/>
                </a:gs>
                <a:gs pos="55000">
                  <a:srgbClr val="8E7CC3"/>
                </a:gs>
                <a:gs pos="100000">
                  <a:srgbClr val="6A5D92"/>
                </a:gs>
              </a:gsLst>
              <a:path path="circle">
                <a:fillToRect l="32000" t="28000" r="68000" b="72000"/>
              </a:path>
            </a:gradFill>
            <a:ln w="19050" cap="rnd">
              <a:solidFill>
                <a:srgbClr val="554A75"/>
              </a:solidFill>
              <a:round/>
            </a:ln>
          </p:spPr>
        </p:sp>
        <p:sp>
          <p:nvSpPr>
            <p:cNvPr id="24" name="Forma 23"/>
            <p:cNvSpPr/>
            <p:nvPr/>
          </p:nvSpPr>
          <p:spPr>
            <a:xfrm>
              <a:off x="4023360" y="2926080"/>
              <a:ext cx="4023360" cy="2212848"/>
            </a:xfrm>
            <a:custGeom>
              <a:avLst/>
              <a:gdLst/>
              <a:ahLst/>
              <a:cxnLst/>
              <a:rect l="0" t="0" r="r" b="b"/>
              <a:pathLst>
                <a:path w="1000" h="1000">
                  <a:moveTo>
                    <a:pt x="345" y="510"/>
                  </a:moveTo>
                  <a:cubicBezTo>
                    <a:pt x="345" y="532"/>
                    <a:pt x="327" y="550"/>
                    <a:pt x="305" y="550"/>
                  </a:cubicBezTo>
                  <a:cubicBezTo>
                    <a:pt x="282" y="550"/>
                    <a:pt x="265" y="532"/>
                    <a:pt x="265" y="510"/>
                  </a:cubicBezTo>
                  <a:cubicBezTo>
                    <a:pt x="265" y="487"/>
                    <a:pt x="282" y="470"/>
                    <a:pt x="305" y="470"/>
                  </a:cubicBezTo>
                  <a:cubicBezTo>
                    <a:pt x="327" y="470"/>
                    <a:pt x="345" y="487"/>
                    <a:pt x="345" y="510"/>
                  </a:cubicBezTo>
                  <a:close/>
                </a:path>
              </a:pathLst>
            </a:custGeom>
            <a:solidFill>
              <a:srgbClr val="635688"/>
            </a:solidFill>
            <a:ln>
              <a:noFill/>
            </a:ln>
          </p:spPr>
        </p:sp>
        <p:sp>
          <p:nvSpPr>
            <p:cNvPr id="25" name="Forma 24"/>
            <p:cNvSpPr/>
            <p:nvPr/>
          </p:nvSpPr>
          <p:spPr>
            <a:xfrm>
              <a:off x="4023360" y="2926080"/>
              <a:ext cx="4023360" cy="2212848"/>
            </a:xfrm>
            <a:custGeom>
              <a:avLst/>
              <a:gdLst/>
              <a:ahLst/>
              <a:cxnLst/>
              <a:rect l="0" t="0" r="r" b="b"/>
              <a:pathLst>
                <a:path w="1000" h="1000">
                  <a:moveTo>
                    <a:pt x="955" y="470"/>
                  </a:moveTo>
                  <a:cubicBezTo>
                    <a:pt x="955" y="489"/>
                    <a:pt x="939" y="505"/>
                    <a:pt x="920" y="505"/>
                  </a:cubicBezTo>
                  <a:cubicBezTo>
                    <a:pt x="900" y="505"/>
                    <a:pt x="885" y="489"/>
                    <a:pt x="885" y="470"/>
                  </a:cubicBezTo>
                  <a:cubicBezTo>
                    <a:pt x="885" y="450"/>
                    <a:pt x="900" y="435"/>
                    <a:pt x="920" y="435"/>
                  </a:cubicBezTo>
                  <a:cubicBezTo>
                    <a:pt x="939" y="435"/>
                    <a:pt x="955" y="450"/>
                    <a:pt x="955" y="470"/>
                  </a:cubicBezTo>
                  <a:close/>
                  <a:moveTo>
                    <a:pt x="970" y="540"/>
                  </a:moveTo>
                  <a:cubicBezTo>
                    <a:pt x="970" y="556"/>
                    <a:pt x="956" y="570"/>
                    <a:pt x="940" y="570"/>
                  </a:cubicBezTo>
                  <a:cubicBezTo>
                    <a:pt x="923" y="570"/>
                    <a:pt x="910" y="556"/>
                    <a:pt x="910" y="540"/>
                  </a:cubicBezTo>
                  <a:cubicBezTo>
                    <a:pt x="910" y="523"/>
                    <a:pt x="923" y="510"/>
                    <a:pt x="940" y="510"/>
                  </a:cubicBezTo>
                  <a:cubicBezTo>
                    <a:pt x="956" y="510"/>
                    <a:pt x="970" y="523"/>
                    <a:pt x="970" y="540"/>
                  </a:cubicBezTo>
                  <a:close/>
                  <a:moveTo>
                    <a:pt x="923" y="560"/>
                  </a:moveTo>
                  <a:cubicBezTo>
                    <a:pt x="923" y="575"/>
                    <a:pt x="910" y="588"/>
                    <a:pt x="895" y="588"/>
                  </a:cubicBezTo>
                  <a:cubicBezTo>
                    <a:pt x="879" y="588"/>
                    <a:pt x="867" y="575"/>
                    <a:pt x="867" y="560"/>
                  </a:cubicBezTo>
                  <a:cubicBezTo>
                    <a:pt x="867" y="544"/>
                    <a:pt x="879" y="532"/>
                    <a:pt x="895" y="532"/>
                  </a:cubicBezTo>
                  <a:cubicBezTo>
                    <a:pt x="910" y="532"/>
                    <a:pt x="923" y="544"/>
                    <a:pt x="923" y="560"/>
                  </a:cubicBezTo>
                  <a:close/>
                </a:path>
              </a:pathLst>
            </a:custGeom>
            <a:gradFill rotWithShape="1">
              <a:gsLst>
                <a:gs pos="0">
                  <a:srgbClr val="BBB0DB"/>
                </a:gs>
                <a:gs pos="55000">
                  <a:srgbClr val="8E7CC3"/>
                </a:gs>
                <a:gs pos="100000">
                  <a:srgbClr val="71639C"/>
                </a:gs>
              </a:gsLst>
              <a:path path="circle">
                <a:fillToRect l="32000" t="28000" r="68000" b="72000"/>
              </a:path>
            </a:gradFill>
            <a:ln w="12700" cap="rnd">
              <a:solidFill>
                <a:srgbClr val="554A75"/>
              </a:solidFill>
              <a:round/>
            </a:ln>
          </p:spPr>
        </p:sp>
      </p:grpSp>
      <p:sp>
        <p:nvSpPr>
          <p:cNvPr id="26" name="Forma 25"/>
          <p:cNvSpPr txBox="1"/>
          <p:nvPr/>
        </p:nvSpPr>
        <p:spPr>
          <a:xfrm>
            <a:off x="5669280" y="2971800"/>
            <a:ext cx="201168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4A235A"/>
                </a:solidFill>
                <a:latin typeface="Bahnschrift SemiBold Condensed"/>
                <a:ea typeface="Bahnschrift SemiBold Condensed"/>
                <a:cs typeface="Bahnschrift SemiBold Condensed"/>
                <a:sym typeface="Bahnschrift SemiBold Condensed"/>
              </a:rPr>
              <a:t>NEURONA</a:t>
            </a:r>
            <a:endParaRPr lang="es-AR" sz="1400" dirty="0">
              <a:latin typeface="Bahnschrift SemiBold Condensed"/>
            </a:endParaRPr>
          </a:p>
        </p:txBody>
      </p:sp>
      <p:sp>
        <p:nvSpPr>
          <p:cNvPr id="27" name="Glucógeno astrocitario"/>
          <p:cNvSpPr/>
          <p:nvPr/>
        </p:nvSpPr>
        <p:spPr>
          <a:xfrm>
            <a:off x="1371600" y="3566160"/>
            <a:ext cx="640080" cy="502920"/>
          </a:xfrm>
          <a:custGeom>
            <a:avLst/>
            <a:gdLst/>
            <a:ahLst/>
            <a:cxnLst/>
            <a:rect l="0" t="0" r="r" b="b"/>
            <a:pathLst>
              <a:path w="1000" h="1000">
                <a:moveTo>
                  <a:pt x="471" y="726"/>
                </a:moveTo>
                <a:cubicBezTo>
                  <a:pt x="471" y="746"/>
                  <a:pt x="453" y="764"/>
                  <a:pt x="433" y="764"/>
                </a:cubicBezTo>
                <a:cubicBezTo>
                  <a:pt x="412" y="764"/>
                  <a:pt x="395" y="746"/>
                  <a:pt x="395" y="726"/>
                </a:cubicBezTo>
                <a:cubicBezTo>
                  <a:pt x="395" y="705"/>
                  <a:pt x="412" y="688"/>
                  <a:pt x="433" y="688"/>
                </a:cubicBezTo>
                <a:cubicBezTo>
                  <a:pt x="453" y="688"/>
                  <a:pt x="471" y="705"/>
                  <a:pt x="471" y="726"/>
                </a:cubicBezTo>
                <a:close/>
                <a:moveTo>
                  <a:pt x="438" y="784"/>
                </a:moveTo>
                <a:cubicBezTo>
                  <a:pt x="438" y="804"/>
                  <a:pt x="420" y="822"/>
                  <a:pt x="400" y="822"/>
                </a:cubicBezTo>
                <a:cubicBezTo>
                  <a:pt x="379" y="822"/>
                  <a:pt x="362" y="804"/>
                  <a:pt x="362" y="784"/>
                </a:cubicBezTo>
                <a:cubicBezTo>
                  <a:pt x="362" y="763"/>
                  <a:pt x="379" y="746"/>
                  <a:pt x="400" y="746"/>
                </a:cubicBezTo>
                <a:cubicBezTo>
                  <a:pt x="420" y="746"/>
                  <a:pt x="438" y="763"/>
                  <a:pt x="438" y="784"/>
                </a:cubicBezTo>
                <a:close/>
                <a:moveTo>
                  <a:pt x="371" y="789"/>
                </a:moveTo>
                <a:cubicBezTo>
                  <a:pt x="371" y="809"/>
                  <a:pt x="353" y="827"/>
                  <a:pt x="333" y="827"/>
                </a:cubicBezTo>
                <a:cubicBezTo>
                  <a:pt x="312" y="827"/>
                  <a:pt x="295" y="809"/>
                  <a:pt x="295" y="789"/>
                </a:cubicBezTo>
                <a:cubicBezTo>
                  <a:pt x="295" y="768"/>
                  <a:pt x="312" y="751"/>
                  <a:pt x="333" y="751"/>
                </a:cubicBezTo>
                <a:cubicBezTo>
                  <a:pt x="353" y="751"/>
                  <a:pt x="371" y="768"/>
                  <a:pt x="371" y="789"/>
                </a:cubicBezTo>
                <a:close/>
                <a:moveTo>
                  <a:pt x="331" y="735"/>
                </a:moveTo>
                <a:cubicBezTo>
                  <a:pt x="331" y="755"/>
                  <a:pt x="313" y="773"/>
                  <a:pt x="293" y="773"/>
                </a:cubicBezTo>
                <a:cubicBezTo>
                  <a:pt x="272" y="773"/>
                  <a:pt x="255" y="755"/>
                  <a:pt x="255" y="735"/>
                </a:cubicBezTo>
                <a:cubicBezTo>
                  <a:pt x="255" y="714"/>
                  <a:pt x="272" y="697"/>
                  <a:pt x="293" y="697"/>
                </a:cubicBezTo>
                <a:cubicBezTo>
                  <a:pt x="313" y="697"/>
                  <a:pt x="331" y="714"/>
                  <a:pt x="331" y="735"/>
                </a:cubicBezTo>
                <a:close/>
                <a:moveTo>
                  <a:pt x="355" y="673"/>
                </a:moveTo>
                <a:cubicBezTo>
                  <a:pt x="355" y="693"/>
                  <a:pt x="337" y="711"/>
                  <a:pt x="317" y="711"/>
                </a:cubicBezTo>
                <a:cubicBezTo>
                  <a:pt x="296" y="711"/>
                  <a:pt x="279" y="693"/>
                  <a:pt x="279" y="673"/>
                </a:cubicBezTo>
                <a:cubicBezTo>
                  <a:pt x="279" y="652"/>
                  <a:pt x="296" y="635"/>
                  <a:pt x="317" y="635"/>
                </a:cubicBezTo>
                <a:cubicBezTo>
                  <a:pt x="337" y="635"/>
                  <a:pt x="355" y="652"/>
                  <a:pt x="355" y="673"/>
                </a:cubicBezTo>
                <a:close/>
                <a:moveTo>
                  <a:pt x="420" y="658"/>
                </a:moveTo>
                <a:cubicBezTo>
                  <a:pt x="420" y="678"/>
                  <a:pt x="402" y="696"/>
                  <a:pt x="382" y="696"/>
                </a:cubicBezTo>
                <a:cubicBezTo>
                  <a:pt x="361" y="696"/>
                  <a:pt x="344" y="678"/>
                  <a:pt x="344" y="658"/>
                </a:cubicBezTo>
                <a:cubicBezTo>
                  <a:pt x="344" y="637"/>
                  <a:pt x="361" y="620"/>
                  <a:pt x="382" y="620"/>
                </a:cubicBezTo>
                <a:cubicBezTo>
                  <a:pt x="402" y="620"/>
                  <a:pt x="420" y="637"/>
                  <a:pt x="420" y="658"/>
                </a:cubicBezTo>
                <a:close/>
                <a:moveTo>
                  <a:pt x="785" y="253"/>
                </a:moveTo>
                <a:cubicBezTo>
                  <a:pt x="785" y="273"/>
                  <a:pt x="767" y="291"/>
                  <a:pt x="747" y="291"/>
                </a:cubicBezTo>
                <a:cubicBezTo>
                  <a:pt x="726" y="291"/>
                  <a:pt x="709" y="273"/>
                  <a:pt x="709" y="253"/>
                </a:cubicBezTo>
                <a:cubicBezTo>
                  <a:pt x="709" y="232"/>
                  <a:pt x="726" y="215"/>
                  <a:pt x="747" y="215"/>
                </a:cubicBezTo>
                <a:cubicBezTo>
                  <a:pt x="767" y="215"/>
                  <a:pt x="785" y="232"/>
                  <a:pt x="785" y="253"/>
                </a:cubicBezTo>
                <a:close/>
                <a:moveTo>
                  <a:pt x="752" y="311"/>
                </a:moveTo>
                <a:cubicBezTo>
                  <a:pt x="752" y="331"/>
                  <a:pt x="734" y="349"/>
                  <a:pt x="714" y="349"/>
                </a:cubicBezTo>
                <a:cubicBezTo>
                  <a:pt x="693" y="349"/>
                  <a:pt x="676" y="331"/>
                  <a:pt x="676" y="311"/>
                </a:cubicBezTo>
                <a:cubicBezTo>
                  <a:pt x="676" y="290"/>
                  <a:pt x="693" y="273"/>
                  <a:pt x="714" y="273"/>
                </a:cubicBezTo>
                <a:cubicBezTo>
                  <a:pt x="734" y="273"/>
                  <a:pt x="752" y="290"/>
                  <a:pt x="752" y="311"/>
                </a:cubicBezTo>
                <a:close/>
                <a:moveTo>
                  <a:pt x="685" y="316"/>
                </a:moveTo>
                <a:cubicBezTo>
                  <a:pt x="685" y="336"/>
                  <a:pt x="667" y="354"/>
                  <a:pt x="647" y="354"/>
                </a:cubicBezTo>
                <a:cubicBezTo>
                  <a:pt x="626" y="354"/>
                  <a:pt x="609" y="336"/>
                  <a:pt x="609" y="316"/>
                </a:cubicBezTo>
                <a:cubicBezTo>
                  <a:pt x="609" y="295"/>
                  <a:pt x="626" y="278"/>
                  <a:pt x="647" y="278"/>
                </a:cubicBezTo>
                <a:cubicBezTo>
                  <a:pt x="667" y="278"/>
                  <a:pt x="685" y="295"/>
                  <a:pt x="685" y="316"/>
                </a:cubicBezTo>
                <a:close/>
                <a:moveTo>
                  <a:pt x="645" y="262"/>
                </a:moveTo>
                <a:cubicBezTo>
                  <a:pt x="645" y="282"/>
                  <a:pt x="627" y="300"/>
                  <a:pt x="607" y="300"/>
                </a:cubicBezTo>
                <a:cubicBezTo>
                  <a:pt x="586" y="300"/>
                  <a:pt x="569" y="282"/>
                  <a:pt x="569" y="262"/>
                </a:cubicBezTo>
                <a:cubicBezTo>
                  <a:pt x="569" y="241"/>
                  <a:pt x="586" y="224"/>
                  <a:pt x="607" y="224"/>
                </a:cubicBezTo>
                <a:cubicBezTo>
                  <a:pt x="627" y="224"/>
                  <a:pt x="645" y="241"/>
                  <a:pt x="645" y="262"/>
                </a:cubicBezTo>
                <a:close/>
                <a:moveTo>
                  <a:pt x="669" y="200"/>
                </a:moveTo>
                <a:cubicBezTo>
                  <a:pt x="669" y="220"/>
                  <a:pt x="651" y="238"/>
                  <a:pt x="631" y="238"/>
                </a:cubicBezTo>
                <a:cubicBezTo>
                  <a:pt x="610" y="238"/>
                  <a:pt x="593" y="220"/>
                  <a:pt x="593" y="200"/>
                </a:cubicBezTo>
                <a:cubicBezTo>
                  <a:pt x="593" y="179"/>
                  <a:pt x="610" y="162"/>
                  <a:pt x="631" y="162"/>
                </a:cubicBezTo>
                <a:cubicBezTo>
                  <a:pt x="651" y="162"/>
                  <a:pt x="669" y="179"/>
                  <a:pt x="669" y="200"/>
                </a:cubicBezTo>
                <a:close/>
                <a:moveTo>
                  <a:pt x="734" y="185"/>
                </a:moveTo>
                <a:cubicBezTo>
                  <a:pt x="734" y="205"/>
                  <a:pt x="716" y="223"/>
                  <a:pt x="696" y="223"/>
                </a:cubicBezTo>
                <a:cubicBezTo>
                  <a:pt x="675" y="223"/>
                  <a:pt x="658" y="205"/>
                  <a:pt x="658" y="185"/>
                </a:cubicBezTo>
                <a:cubicBezTo>
                  <a:pt x="658" y="164"/>
                  <a:pt x="675" y="147"/>
                  <a:pt x="696" y="147"/>
                </a:cubicBezTo>
                <a:cubicBezTo>
                  <a:pt x="716" y="147"/>
                  <a:pt x="734" y="164"/>
                  <a:pt x="734" y="185"/>
                </a:cubicBezTo>
                <a:close/>
                <a:moveTo>
                  <a:pt x="606" y="738"/>
                </a:moveTo>
                <a:cubicBezTo>
                  <a:pt x="606" y="758"/>
                  <a:pt x="588" y="776"/>
                  <a:pt x="568" y="776"/>
                </a:cubicBezTo>
                <a:cubicBezTo>
                  <a:pt x="547" y="776"/>
                  <a:pt x="530" y="758"/>
                  <a:pt x="530" y="738"/>
                </a:cubicBezTo>
                <a:cubicBezTo>
                  <a:pt x="530" y="717"/>
                  <a:pt x="547" y="700"/>
                  <a:pt x="568" y="700"/>
                </a:cubicBezTo>
                <a:cubicBezTo>
                  <a:pt x="588" y="700"/>
                  <a:pt x="606" y="717"/>
                  <a:pt x="606" y="738"/>
                </a:cubicBezTo>
                <a:close/>
                <a:moveTo>
                  <a:pt x="573" y="796"/>
                </a:moveTo>
                <a:cubicBezTo>
                  <a:pt x="573" y="816"/>
                  <a:pt x="555" y="834"/>
                  <a:pt x="535" y="834"/>
                </a:cubicBezTo>
                <a:cubicBezTo>
                  <a:pt x="514" y="834"/>
                  <a:pt x="497" y="816"/>
                  <a:pt x="497" y="796"/>
                </a:cubicBezTo>
                <a:cubicBezTo>
                  <a:pt x="497" y="775"/>
                  <a:pt x="514" y="758"/>
                  <a:pt x="535" y="758"/>
                </a:cubicBezTo>
                <a:cubicBezTo>
                  <a:pt x="555" y="758"/>
                  <a:pt x="573" y="775"/>
                  <a:pt x="573" y="796"/>
                </a:cubicBezTo>
                <a:close/>
                <a:moveTo>
                  <a:pt x="506" y="801"/>
                </a:moveTo>
                <a:cubicBezTo>
                  <a:pt x="506" y="821"/>
                  <a:pt x="488" y="839"/>
                  <a:pt x="468" y="839"/>
                </a:cubicBezTo>
                <a:cubicBezTo>
                  <a:pt x="447" y="839"/>
                  <a:pt x="430" y="821"/>
                  <a:pt x="430" y="801"/>
                </a:cubicBezTo>
                <a:cubicBezTo>
                  <a:pt x="430" y="780"/>
                  <a:pt x="447" y="763"/>
                  <a:pt x="468" y="763"/>
                </a:cubicBezTo>
                <a:cubicBezTo>
                  <a:pt x="488" y="763"/>
                  <a:pt x="506" y="780"/>
                  <a:pt x="506" y="801"/>
                </a:cubicBezTo>
                <a:close/>
                <a:moveTo>
                  <a:pt x="466" y="747"/>
                </a:moveTo>
                <a:cubicBezTo>
                  <a:pt x="466" y="767"/>
                  <a:pt x="448" y="785"/>
                  <a:pt x="428" y="785"/>
                </a:cubicBezTo>
                <a:cubicBezTo>
                  <a:pt x="407" y="785"/>
                  <a:pt x="390" y="767"/>
                  <a:pt x="390" y="747"/>
                </a:cubicBezTo>
                <a:cubicBezTo>
                  <a:pt x="390" y="726"/>
                  <a:pt x="407" y="709"/>
                  <a:pt x="428" y="709"/>
                </a:cubicBezTo>
                <a:cubicBezTo>
                  <a:pt x="448" y="709"/>
                  <a:pt x="466" y="726"/>
                  <a:pt x="466" y="747"/>
                </a:cubicBezTo>
                <a:close/>
                <a:moveTo>
                  <a:pt x="490" y="685"/>
                </a:moveTo>
                <a:cubicBezTo>
                  <a:pt x="490" y="705"/>
                  <a:pt x="472" y="723"/>
                  <a:pt x="452" y="723"/>
                </a:cubicBezTo>
                <a:cubicBezTo>
                  <a:pt x="431" y="723"/>
                  <a:pt x="414" y="705"/>
                  <a:pt x="414" y="685"/>
                </a:cubicBezTo>
                <a:cubicBezTo>
                  <a:pt x="414" y="664"/>
                  <a:pt x="431" y="647"/>
                  <a:pt x="452" y="647"/>
                </a:cubicBezTo>
                <a:cubicBezTo>
                  <a:pt x="472" y="647"/>
                  <a:pt x="490" y="664"/>
                  <a:pt x="490" y="685"/>
                </a:cubicBezTo>
                <a:close/>
                <a:moveTo>
                  <a:pt x="555" y="670"/>
                </a:moveTo>
                <a:cubicBezTo>
                  <a:pt x="555" y="690"/>
                  <a:pt x="537" y="708"/>
                  <a:pt x="517" y="708"/>
                </a:cubicBezTo>
                <a:cubicBezTo>
                  <a:pt x="496" y="708"/>
                  <a:pt x="479" y="690"/>
                  <a:pt x="479" y="670"/>
                </a:cubicBezTo>
                <a:cubicBezTo>
                  <a:pt x="479" y="649"/>
                  <a:pt x="496" y="632"/>
                  <a:pt x="517" y="632"/>
                </a:cubicBezTo>
                <a:cubicBezTo>
                  <a:pt x="537" y="632"/>
                  <a:pt x="555" y="649"/>
                  <a:pt x="555" y="670"/>
                </a:cubicBezTo>
                <a:close/>
                <a:moveTo>
                  <a:pt x="713" y="760"/>
                </a:moveTo>
                <a:cubicBezTo>
                  <a:pt x="713" y="780"/>
                  <a:pt x="695" y="798"/>
                  <a:pt x="675" y="798"/>
                </a:cubicBezTo>
                <a:cubicBezTo>
                  <a:pt x="654" y="798"/>
                  <a:pt x="637" y="780"/>
                  <a:pt x="637" y="760"/>
                </a:cubicBezTo>
                <a:cubicBezTo>
                  <a:pt x="637" y="739"/>
                  <a:pt x="654" y="722"/>
                  <a:pt x="675" y="722"/>
                </a:cubicBezTo>
                <a:cubicBezTo>
                  <a:pt x="695" y="722"/>
                  <a:pt x="713" y="739"/>
                  <a:pt x="713" y="760"/>
                </a:cubicBezTo>
                <a:close/>
                <a:moveTo>
                  <a:pt x="680" y="818"/>
                </a:moveTo>
                <a:cubicBezTo>
                  <a:pt x="680" y="838"/>
                  <a:pt x="662" y="856"/>
                  <a:pt x="642" y="856"/>
                </a:cubicBezTo>
                <a:cubicBezTo>
                  <a:pt x="621" y="856"/>
                  <a:pt x="604" y="838"/>
                  <a:pt x="604" y="818"/>
                </a:cubicBezTo>
                <a:cubicBezTo>
                  <a:pt x="604" y="797"/>
                  <a:pt x="621" y="780"/>
                  <a:pt x="642" y="780"/>
                </a:cubicBezTo>
                <a:cubicBezTo>
                  <a:pt x="662" y="780"/>
                  <a:pt x="680" y="797"/>
                  <a:pt x="680" y="818"/>
                </a:cubicBezTo>
                <a:close/>
                <a:moveTo>
                  <a:pt x="613" y="823"/>
                </a:moveTo>
                <a:cubicBezTo>
                  <a:pt x="613" y="843"/>
                  <a:pt x="595" y="861"/>
                  <a:pt x="575" y="861"/>
                </a:cubicBezTo>
                <a:cubicBezTo>
                  <a:pt x="554" y="861"/>
                  <a:pt x="537" y="843"/>
                  <a:pt x="537" y="823"/>
                </a:cubicBezTo>
                <a:cubicBezTo>
                  <a:pt x="537" y="802"/>
                  <a:pt x="554" y="785"/>
                  <a:pt x="575" y="785"/>
                </a:cubicBezTo>
                <a:cubicBezTo>
                  <a:pt x="595" y="785"/>
                  <a:pt x="613" y="802"/>
                  <a:pt x="613" y="823"/>
                </a:cubicBezTo>
                <a:close/>
                <a:moveTo>
                  <a:pt x="573" y="769"/>
                </a:moveTo>
                <a:cubicBezTo>
                  <a:pt x="573" y="789"/>
                  <a:pt x="555" y="807"/>
                  <a:pt x="535" y="807"/>
                </a:cubicBezTo>
                <a:cubicBezTo>
                  <a:pt x="514" y="807"/>
                  <a:pt x="497" y="789"/>
                  <a:pt x="497" y="769"/>
                </a:cubicBezTo>
                <a:cubicBezTo>
                  <a:pt x="497" y="748"/>
                  <a:pt x="514" y="731"/>
                  <a:pt x="535" y="731"/>
                </a:cubicBezTo>
                <a:cubicBezTo>
                  <a:pt x="555" y="731"/>
                  <a:pt x="573" y="748"/>
                  <a:pt x="573" y="769"/>
                </a:cubicBezTo>
                <a:close/>
                <a:moveTo>
                  <a:pt x="597" y="707"/>
                </a:moveTo>
                <a:cubicBezTo>
                  <a:pt x="597" y="727"/>
                  <a:pt x="579" y="745"/>
                  <a:pt x="559" y="745"/>
                </a:cubicBezTo>
                <a:cubicBezTo>
                  <a:pt x="538" y="745"/>
                  <a:pt x="521" y="727"/>
                  <a:pt x="521" y="707"/>
                </a:cubicBezTo>
                <a:cubicBezTo>
                  <a:pt x="521" y="686"/>
                  <a:pt x="538" y="669"/>
                  <a:pt x="559" y="669"/>
                </a:cubicBezTo>
                <a:cubicBezTo>
                  <a:pt x="579" y="669"/>
                  <a:pt x="597" y="686"/>
                  <a:pt x="597" y="707"/>
                </a:cubicBezTo>
                <a:close/>
                <a:moveTo>
                  <a:pt x="662" y="692"/>
                </a:moveTo>
                <a:cubicBezTo>
                  <a:pt x="662" y="712"/>
                  <a:pt x="644" y="730"/>
                  <a:pt x="624" y="730"/>
                </a:cubicBezTo>
                <a:cubicBezTo>
                  <a:pt x="603" y="730"/>
                  <a:pt x="586" y="712"/>
                  <a:pt x="586" y="692"/>
                </a:cubicBezTo>
                <a:cubicBezTo>
                  <a:pt x="586" y="671"/>
                  <a:pt x="603" y="654"/>
                  <a:pt x="624" y="654"/>
                </a:cubicBezTo>
                <a:cubicBezTo>
                  <a:pt x="644" y="654"/>
                  <a:pt x="662" y="671"/>
                  <a:pt x="662" y="692"/>
                </a:cubicBezTo>
                <a:close/>
                <a:moveTo>
                  <a:pt x="822" y="187"/>
                </a:moveTo>
                <a:cubicBezTo>
                  <a:pt x="822" y="207"/>
                  <a:pt x="804" y="225"/>
                  <a:pt x="784" y="225"/>
                </a:cubicBezTo>
                <a:cubicBezTo>
                  <a:pt x="763" y="225"/>
                  <a:pt x="746" y="207"/>
                  <a:pt x="746" y="187"/>
                </a:cubicBezTo>
                <a:cubicBezTo>
                  <a:pt x="746" y="166"/>
                  <a:pt x="763" y="149"/>
                  <a:pt x="784" y="149"/>
                </a:cubicBezTo>
                <a:cubicBezTo>
                  <a:pt x="804" y="149"/>
                  <a:pt x="822" y="166"/>
                  <a:pt x="822" y="187"/>
                </a:cubicBezTo>
                <a:close/>
                <a:moveTo>
                  <a:pt x="789" y="245"/>
                </a:moveTo>
                <a:cubicBezTo>
                  <a:pt x="789" y="265"/>
                  <a:pt x="771" y="283"/>
                  <a:pt x="751" y="283"/>
                </a:cubicBezTo>
                <a:cubicBezTo>
                  <a:pt x="730" y="283"/>
                  <a:pt x="713" y="265"/>
                  <a:pt x="713" y="245"/>
                </a:cubicBezTo>
                <a:cubicBezTo>
                  <a:pt x="713" y="224"/>
                  <a:pt x="730" y="207"/>
                  <a:pt x="751" y="207"/>
                </a:cubicBezTo>
                <a:cubicBezTo>
                  <a:pt x="771" y="207"/>
                  <a:pt x="789" y="224"/>
                  <a:pt x="789" y="245"/>
                </a:cubicBezTo>
                <a:close/>
                <a:moveTo>
                  <a:pt x="722" y="250"/>
                </a:moveTo>
                <a:cubicBezTo>
                  <a:pt x="722" y="270"/>
                  <a:pt x="704" y="288"/>
                  <a:pt x="684" y="288"/>
                </a:cubicBezTo>
                <a:cubicBezTo>
                  <a:pt x="663" y="288"/>
                  <a:pt x="646" y="270"/>
                  <a:pt x="646" y="250"/>
                </a:cubicBezTo>
                <a:cubicBezTo>
                  <a:pt x="646" y="229"/>
                  <a:pt x="663" y="212"/>
                  <a:pt x="684" y="212"/>
                </a:cubicBezTo>
                <a:cubicBezTo>
                  <a:pt x="704" y="212"/>
                  <a:pt x="722" y="229"/>
                  <a:pt x="722" y="250"/>
                </a:cubicBezTo>
                <a:close/>
                <a:moveTo>
                  <a:pt x="682" y="196"/>
                </a:moveTo>
                <a:cubicBezTo>
                  <a:pt x="682" y="216"/>
                  <a:pt x="664" y="234"/>
                  <a:pt x="644" y="234"/>
                </a:cubicBezTo>
                <a:cubicBezTo>
                  <a:pt x="623" y="234"/>
                  <a:pt x="606" y="216"/>
                  <a:pt x="606" y="196"/>
                </a:cubicBezTo>
                <a:cubicBezTo>
                  <a:pt x="606" y="175"/>
                  <a:pt x="623" y="158"/>
                  <a:pt x="644" y="158"/>
                </a:cubicBezTo>
                <a:cubicBezTo>
                  <a:pt x="664" y="158"/>
                  <a:pt x="682" y="175"/>
                  <a:pt x="682" y="196"/>
                </a:cubicBezTo>
                <a:close/>
                <a:moveTo>
                  <a:pt x="706" y="134"/>
                </a:moveTo>
                <a:cubicBezTo>
                  <a:pt x="706" y="154"/>
                  <a:pt x="688" y="172"/>
                  <a:pt x="668" y="172"/>
                </a:cubicBezTo>
                <a:cubicBezTo>
                  <a:pt x="647" y="172"/>
                  <a:pt x="630" y="154"/>
                  <a:pt x="630" y="134"/>
                </a:cubicBezTo>
                <a:cubicBezTo>
                  <a:pt x="630" y="113"/>
                  <a:pt x="647" y="96"/>
                  <a:pt x="668" y="96"/>
                </a:cubicBezTo>
                <a:cubicBezTo>
                  <a:pt x="688" y="96"/>
                  <a:pt x="706" y="113"/>
                  <a:pt x="706" y="134"/>
                </a:cubicBezTo>
                <a:close/>
                <a:moveTo>
                  <a:pt x="771" y="119"/>
                </a:moveTo>
                <a:cubicBezTo>
                  <a:pt x="771" y="139"/>
                  <a:pt x="753" y="157"/>
                  <a:pt x="733" y="157"/>
                </a:cubicBezTo>
                <a:cubicBezTo>
                  <a:pt x="712" y="157"/>
                  <a:pt x="695" y="139"/>
                  <a:pt x="695" y="119"/>
                </a:cubicBezTo>
                <a:cubicBezTo>
                  <a:pt x="695" y="98"/>
                  <a:pt x="712" y="81"/>
                  <a:pt x="733" y="81"/>
                </a:cubicBezTo>
                <a:cubicBezTo>
                  <a:pt x="753" y="81"/>
                  <a:pt x="771" y="98"/>
                  <a:pt x="771" y="119"/>
                </a:cubicBezTo>
                <a:close/>
              </a:path>
            </a:pathLst>
          </a:custGeom>
          <a:solidFill>
            <a:srgbClr val="B03A6E"/>
          </a:solidFill>
          <a:ln>
            <a:noFill/>
          </a:ln>
        </p:spPr>
      </p:sp>
      <p:sp>
        <p:nvSpPr>
          <p:cNvPr id="28" name="Hendidura"/>
          <p:cNvSpPr/>
          <p:nvPr/>
        </p:nvSpPr>
        <p:spPr>
          <a:xfrm>
            <a:off x="3291840" y="3657600"/>
            <a:ext cx="914400" cy="914400"/>
          </a:xfrm>
          <a:prstGeom prst="ellipse">
            <a:avLst/>
          </a:prstGeom>
          <a:solidFill>
            <a:srgbClr val="FFFFFF">
              <a:alpha val="40000"/>
            </a:srgbClr>
          </a:solidFill>
          <a:ln w="12700" cap="rnd">
            <a:solidFill>
              <a:srgbClr val="7F8C8D"/>
            </a:solidFill>
            <a:prstDash val="dash"/>
            <a:round/>
          </a:ln>
        </p:spPr>
      </p:sp>
      <p:sp>
        <p:nvSpPr>
          <p:cNvPr id="29" name="Glutamato liberado"/>
          <p:cNvSpPr/>
          <p:nvPr/>
        </p:nvSpPr>
        <p:spPr>
          <a:xfrm>
            <a:off x="4434840" y="3931920"/>
            <a:ext cx="384048" cy="384048"/>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Glu</a:t>
            </a:r>
            <a:endParaRPr lang="es-AR" sz="1092" dirty="0">
              <a:latin typeface="Bahnschrift SemiBold Condensed"/>
            </a:endParaRPr>
          </a:p>
        </p:txBody>
      </p:sp>
      <p:sp>
        <p:nvSpPr>
          <p:cNvPr id="30" name="EAAT"/>
          <p:cNvSpPr/>
          <p:nvPr/>
        </p:nvSpPr>
        <p:spPr>
          <a:xfrm>
            <a:off x="2286000" y="3246120"/>
            <a:ext cx="1370026" cy="226377"/>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EAAT1/EAAT2 + Na</a:t>
            </a:r>
            <a:r>
              <a:rPr lang="es-AR" sz="1150" b="1" baseline="30000" dirty="0">
                <a:solidFill>
                  <a:srgbClr val="1E1E1E"/>
                </a:solidFill>
                <a:latin typeface="Bahnschrift SemiBold Condensed"/>
                <a:ea typeface="Bahnschrift SemiBold Condensed"/>
                <a:cs typeface="Bahnschrift SemiBold Condensed"/>
                <a:sym typeface="Bahnschrift SemiBold Condensed"/>
              </a:rPr>
              <a:t>+</a:t>
            </a:r>
            <a:endParaRPr lang="es-AR" sz="1150" dirty="0">
              <a:latin typeface="Bahnschrift SemiBold Condensed"/>
            </a:endParaRPr>
          </a:p>
        </p:txBody>
      </p:sp>
      <p:sp>
        <p:nvSpPr>
          <p:cNvPr id="31" name="Recaptación"/>
          <p:cNvSpPr/>
          <p:nvPr/>
        </p:nvSpPr>
        <p:spPr>
          <a:xfrm>
            <a:off x="3108960" y="3611880"/>
            <a:ext cx="1280160" cy="502920"/>
          </a:xfrm>
          <a:custGeom>
            <a:avLst/>
            <a:gdLst/>
            <a:ahLst/>
            <a:cxnLst/>
            <a:rect l="0" t="0" r="r" b="b"/>
            <a:pathLst>
              <a:path w="1400" h="549" fill="none">
                <a:moveTo>
                  <a:pt x="1400" y="549"/>
                </a:moveTo>
                <a:lnTo>
                  <a:pt x="0" y="0"/>
                </a:lnTo>
              </a:path>
            </a:pathLst>
          </a:custGeom>
          <a:noFill/>
          <a:ln w="38100" cap="rnd">
            <a:solidFill>
              <a:srgbClr val="0F7C7C"/>
            </a:solidFill>
            <a:round/>
            <a:tailEnd type="triangle" w="med" len="med"/>
          </a:ln>
        </p:spPr>
      </p:sp>
      <p:sp>
        <p:nvSpPr>
          <p:cNvPr id="32" name="GS astro"/>
          <p:cNvSpPr/>
          <p:nvPr/>
        </p:nvSpPr>
        <p:spPr>
          <a:xfrm>
            <a:off x="457200" y="4343400"/>
            <a:ext cx="158752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Glutamina sintetasa</a:t>
            </a:r>
            <a:endParaRPr lang="es-AR" sz="1250" dirty="0">
              <a:latin typeface="Bahnschrift SemiBold Condensed"/>
            </a:endParaRPr>
          </a:p>
        </p:txBody>
      </p:sp>
      <p:sp>
        <p:nvSpPr>
          <p:cNvPr id="33" name="NH4 astro"/>
          <p:cNvSpPr/>
          <p:nvPr/>
        </p:nvSpPr>
        <p:spPr>
          <a:xfrm>
            <a:off x="411480" y="489204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34" name="ATP GS"/>
          <p:cNvSpPr/>
          <p:nvPr/>
        </p:nvSpPr>
        <p:spPr>
          <a:xfrm>
            <a:off x="868680" y="4937760"/>
            <a:ext cx="502920" cy="310896"/>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84" b="1" dirty="0">
                <a:solidFill>
                  <a:srgbClr val="1E1E1E"/>
                </a:solidFill>
                <a:latin typeface="Bahnschrift SemiBold Condensed"/>
                <a:ea typeface="Bahnschrift SemiBold Condensed"/>
                <a:cs typeface="Bahnschrift SemiBold Condensed"/>
                <a:sym typeface="Bahnschrift SemiBold Condensed"/>
              </a:rPr>
              <a:t>ATP</a:t>
            </a:r>
            <a:endParaRPr lang="es-AR" sz="884" dirty="0">
              <a:latin typeface="Bahnschrift SemiBold Condensed"/>
            </a:endParaRPr>
          </a:p>
        </p:txBody>
      </p:sp>
      <p:sp>
        <p:nvSpPr>
          <p:cNvPr id="35" name="Glutamina astro"/>
          <p:cNvSpPr/>
          <p:nvPr/>
        </p:nvSpPr>
        <p:spPr>
          <a:xfrm>
            <a:off x="2103120" y="4937760"/>
            <a:ext cx="411480" cy="41148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Gln</a:t>
            </a:r>
            <a:endParaRPr lang="es-AR" sz="1170" dirty="0">
              <a:latin typeface="Bahnschrift SemiBold Condensed"/>
            </a:endParaRPr>
          </a:p>
        </p:txBody>
      </p:sp>
      <p:sp>
        <p:nvSpPr>
          <p:cNvPr id="36" name="Glutamina a neurona"/>
          <p:cNvSpPr/>
          <p:nvPr/>
        </p:nvSpPr>
        <p:spPr>
          <a:xfrm>
            <a:off x="2560320" y="5029200"/>
            <a:ext cx="2194560" cy="137160"/>
          </a:xfrm>
          <a:custGeom>
            <a:avLst/>
            <a:gdLst/>
            <a:ahLst/>
            <a:cxnLst/>
            <a:rect l="0" t="0" r="r" b="b"/>
            <a:pathLst>
              <a:path w="2400" h="150" fill="none">
                <a:moveTo>
                  <a:pt x="0" y="150"/>
                </a:moveTo>
                <a:lnTo>
                  <a:pt x="2400" y="0"/>
                </a:lnTo>
              </a:path>
            </a:pathLst>
          </a:custGeom>
          <a:noFill/>
          <a:ln w="44450" cap="rnd">
            <a:solidFill>
              <a:srgbClr val="0F7C7C"/>
            </a:solidFill>
            <a:round/>
            <a:tailEnd type="triangle" w="med" len="med"/>
          </a:ln>
        </p:spPr>
      </p:sp>
      <p:sp>
        <p:nvSpPr>
          <p:cNvPr id="37" name="Glutaminasa"/>
          <p:cNvSpPr/>
          <p:nvPr/>
        </p:nvSpPr>
        <p:spPr>
          <a:xfrm>
            <a:off x="4572000" y="5532120"/>
            <a:ext cx="254656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Glutaminasa (activada por fosfato)</a:t>
            </a:r>
            <a:endParaRPr lang="es-AR" sz="1250" dirty="0">
              <a:latin typeface="Bahnschrift SemiBold Condensed"/>
            </a:endParaRPr>
          </a:p>
        </p:txBody>
      </p:sp>
      <p:sp>
        <p:nvSpPr>
          <p:cNvPr id="38" name="GAD"/>
          <p:cNvSpPr/>
          <p:nvPr/>
        </p:nvSpPr>
        <p:spPr>
          <a:xfrm>
            <a:off x="5669280" y="6035040"/>
            <a:ext cx="1507615" cy="226377"/>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GAD (PLP): Glu → GABA</a:t>
            </a:r>
            <a:endParaRPr lang="es-AR" sz="1150" dirty="0">
              <a:latin typeface="Bahnschrift SemiBold Condensed"/>
            </a:endParaRPr>
          </a:p>
        </p:txBody>
      </p:sp>
      <p:sp>
        <p:nvSpPr>
          <p:cNvPr id="39" name="NaK"/>
          <p:cNvSpPr/>
          <p:nvPr/>
        </p:nvSpPr>
        <p:spPr>
          <a:xfrm>
            <a:off x="365760" y="5760720"/>
            <a:ext cx="2006650" cy="21653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Na</a:t>
            </a:r>
            <a:r>
              <a:rPr lang="es-AR" sz="1100" b="1" baseline="30000" dirty="0">
                <a:solidFill>
                  <a:srgbClr val="1E1E1E"/>
                </a:solidFill>
                <a:latin typeface="Bahnschrift SemiBold Condensed"/>
                <a:ea typeface="Bahnschrift SemiBold Condensed"/>
                <a:cs typeface="Bahnschrift SemiBold Condensed"/>
                <a:sym typeface="Bahnschrift SemiBold Condensed"/>
              </a:rPr>
              <a:t>+</a:t>
            </a:r>
            <a:r>
              <a:rPr lang="es-AR" sz="1100" b="1" dirty="0">
                <a:solidFill>
                  <a:srgbClr val="1E1E1E"/>
                </a:solidFill>
                <a:latin typeface="Bahnschrift SemiBold Condensed"/>
                <a:ea typeface="Bahnschrift SemiBold Condensed"/>
                <a:cs typeface="Bahnschrift SemiBold Condensed"/>
                <a:sym typeface="Bahnschrift SemiBold Condensed"/>
              </a:rPr>
              <a:t>/K</a:t>
            </a:r>
            <a:r>
              <a:rPr lang="es-AR" sz="1100" b="1" baseline="30000" dirty="0">
                <a:solidFill>
                  <a:srgbClr val="1E1E1E"/>
                </a:solidFill>
                <a:latin typeface="Bahnschrift SemiBold Condensed"/>
                <a:ea typeface="Bahnschrift SemiBold Condensed"/>
                <a:cs typeface="Bahnschrift SemiBold Condensed"/>
                <a:sym typeface="Bahnschrift SemiBold Condensed"/>
              </a:rPr>
              <a:t>+</a:t>
            </a:r>
            <a:r>
              <a:rPr lang="es-AR" sz="1100" b="1" dirty="0">
                <a:solidFill>
                  <a:srgbClr val="1E1E1E"/>
                </a:solidFill>
                <a:latin typeface="Bahnschrift SemiBold Condensed"/>
                <a:ea typeface="Bahnschrift SemiBold Condensed"/>
                <a:cs typeface="Bahnschrift SemiBold Condensed"/>
                <a:sym typeface="Bahnschrift SemiBold Condensed"/>
              </a:rPr>
              <a:t> ATPasa: costo indirecto</a:t>
            </a:r>
            <a:endParaRPr lang="es-AR" sz="1100" dirty="0">
              <a:latin typeface="Bahnschrift SemiBold Condensed"/>
            </a:endParaRPr>
          </a:p>
        </p:txBody>
      </p:sp>
      <p:grpSp>
        <p:nvGrpSpPr>
          <p:cNvPr id="40" name="Recuadro Ciclo"/>
          <p:cNvGrpSpPr/>
          <p:nvPr/>
        </p:nvGrpSpPr>
        <p:grpSpPr>
          <a:xfrm>
            <a:off x="8183880" y="1005840"/>
            <a:ext cx="3611880" cy="3108960"/>
            <a:chOff x="8183880" y="1005840"/>
            <a:chExt cx="3611880" cy="3108960"/>
          </a:xfrm>
        </p:grpSpPr>
        <p:sp>
          <p:nvSpPr>
            <p:cNvPr id="41" name="Forma 40"/>
            <p:cNvSpPr/>
            <p:nvPr/>
          </p:nvSpPr>
          <p:spPr>
            <a:xfrm>
              <a:off x="8183880" y="1188720"/>
              <a:ext cx="3611880" cy="29260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neurona libera </a:t>
              </a:r>
              <a:r>
                <a:rPr lang="es-AR" sz="1600" b="1" dirty="0">
                  <a:solidFill>
                    <a:srgbClr val="1E1E1E"/>
                  </a:solidFill>
                  <a:latin typeface="Bahnschrift"/>
                  <a:ea typeface="Bahnschrift"/>
                  <a:cs typeface="Bahnschrift"/>
                  <a:sym typeface="Bahnschrift"/>
                </a:rPr>
                <a:t>glutamato</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EAAT1/EAAT2</a:t>
              </a:r>
              <a:r>
                <a:rPr lang="es-AR" sz="1600" dirty="0">
                  <a:solidFill>
                    <a:srgbClr val="1E1E1E"/>
                  </a:solidFill>
                  <a:latin typeface="Bahnschrift"/>
                  <a:ea typeface="Bahnschrift"/>
                  <a:cs typeface="Bahnschrift"/>
                  <a:sym typeface="Bahnschrift"/>
                </a:rPr>
                <a:t> astrogliales lo captan con </a:t>
              </a:r>
              <a:r>
                <a:rPr lang="es-AR" sz="1600" b="1" dirty="0">
                  <a:solidFill>
                    <a:srgbClr val="1E1E1E"/>
                  </a:solidFill>
                  <a:latin typeface="Bahnschrift"/>
                  <a:ea typeface="Bahnschrift"/>
                  <a:cs typeface="Bahnschrift"/>
                  <a:sym typeface="Bahnschrift"/>
                </a:rPr>
                <a:t>Na</a:t>
              </a:r>
              <a:r>
                <a:rPr lang="es-AR" sz="1600" b="1"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(gasto indirecto de ATP).</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GS</a:t>
              </a:r>
              <a:r>
                <a:rPr lang="es-AR" sz="1600" dirty="0">
                  <a:solidFill>
                    <a:srgbClr val="1E1E1E"/>
                  </a:solidFill>
                  <a:latin typeface="Bahnschrift"/>
                  <a:ea typeface="Bahnschrift"/>
                  <a:cs typeface="Bahnschrift"/>
                  <a:sym typeface="Bahnschrift"/>
                </a:rPr>
                <a:t>: glutamato + NH</a:t>
              </a:r>
              <a:r>
                <a:rPr lang="es-AR" sz="1600" baseline="-25000" dirty="0">
                  <a:solidFill>
                    <a:srgbClr val="1E1E1E"/>
                  </a:solidFill>
                  <a:latin typeface="Bahnschrift"/>
                  <a:ea typeface="Bahnschrift"/>
                  <a:cs typeface="Bahnschrift"/>
                  <a:sym typeface="Bahnschrift"/>
                </a:rPr>
                <a:t>4</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 ATP → </a:t>
              </a:r>
              <a:r>
                <a:rPr lang="es-AR" sz="1600" b="1" dirty="0">
                  <a:solidFill>
                    <a:srgbClr val="1E1E1E"/>
                  </a:solidFill>
                  <a:latin typeface="Bahnschrift"/>
                  <a:ea typeface="Bahnschrift"/>
                  <a:cs typeface="Bahnschrift"/>
                  <a:sym typeface="Bahnschrift"/>
                </a:rPr>
                <a:t>glutamina</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neurona la reconvierte con </a:t>
              </a:r>
              <a:r>
                <a:rPr lang="es-AR" sz="1600" b="1" dirty="0">
                  <a:solidFill>
                    <a:srgbClr val="1E1E1E"/>
                  </a:solidFill>
                  <a:latin typeface="Bahnschrift"/>
                  <a:ea typeface="Bahnschrift"/>
                  <a:cs typeface="Bahnschrift"/>
                  <a:sym typeface="Bahnschrift"/>
                </a:rPr>
                <a:t>glutaminasa</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42" name="Forma 41"/>
            <p:cNvSpPr/>
            <p:nvPr/>
          </p:nvSpPr>
          <p:spPr>
            <a:xfrm>
              <a:off x="8293608" y="1005840"/>
              <a:ext cx="74042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CICLO</a:t>
              </a:r>
              <a:endParaRPr lang="es-AR" sz="1450" dirty="0">
                <a:latin typeface="Bahnschrift SemiBold Condensed"/>
              </a:endParaRPr>
            </a:p>
          </p:txBody>
        </p:sp>
      </p:grpSp>
      <p:grpSp>
        <p:nvGrpSpPr>
          <p:cNvPr id="43" name="Recuadro Función"/>
          <p:cNvGrpSpPr/>
          <p:nvPr/>
        </p:nvGrpSpPr>
        <p:grpSpPr>
          <a:xfrm>
            <a:off x="8183880" y="4297680"/>
            <a:ext cx="3611880" cy="2194560"/>
            <a:chOff x="8183880" y="4297680"/>
            <a:chExt cx="3611880" cy="2194560"/>
          </a:xfrm>
        </p:grpSpPr>
        <p:sp>
          <p:nvSpPr>
            <p:cNvPr id="44" name="Forma 43"/>
            <p:cNvSpPr/>
            <p:nvPr/>
          </p:nvSpPr>
          <p:spPr>
            <a:xfrm>
              <a:off x="8183880" y="4480560"/>
              <a:ext cx="3611880" cy="20116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Previene </a:t>
              </a:r>
              <a:r>
                <a:rPr lang="es-AR" sz="1650" b="1" dirty="0">
                  <a:solidFill>
                    <a:srgbClr val="1E1E1E"/>
                  </a:solidFill>
                  <a:latin typeface="Bahnschrift"/>
                  <a:ea typeface="Bahnschrift"/>
                  <a:cs typeface="Bahnschrift"/>
                  <a:sym typeface="Bahnschrift"/>
                </a:rPr>
                <a:t>excitotoxicidad</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recicla</a:t>
              </a:r>
              <a:r>
                <a:rPr lang="es-AR" sz="1650" dirty="0">
                  <a:solidFill>
                    <a:srgbClr val="1E1E1E"/>
                  </a:solidFill>
                  <a:latin typeface="Bahnschrift"/>
                  <a:ea typeface="Bahnschrift"/>
                  <a:cs typeface="Bahnschrift"/>
                  <a:sym typeface="Bahnschrift"/>
                </a:rPr>
                <a:t> neurotransmisores (glutamato y GABA).</a:t>
              </a:r>
              <a:endParaRPr lang="es-AR" sz="1650" dirty="0">
                <a:latin typeface="Bahnschrift"/>
              </a:endParaRPr>
            </a:p>
          </p:txBody>
        </p:sp>
        <p:sp>
          <p:nvSpPr>
            <p:cNvPr id="45" name="Forma 44"/>
            <p:cNvSpPr/>
            <p:nvPr/>
          </p:nvSpPr>
          <p:spPr>
            <a:xfrm>
              <a:off x="8293608" y="4297680"/>
              <a:ext cx="96757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FUNCIÓN</a:t>
              </a:r>
              <a:endParaRPr lang="es-AR" sz="150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935701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10 · CICLO GLUTAMATO–GLUTAMINA: NITRÓGENO Y NEUROTRANSMISIÓN</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8"/>
                                        </p:tgtEl>
                                        <p:attrNameLst>
                                          <p:attrName>style.visibility</p:attrName>
                                        </p:attrNameLst>
                                      </p:cBhvr>
                                      <p:to>
                                        <p:strVal val="visible"/>
                                      </p:to>
                                    </p:set>
                                    <p:animEffect transition="in" filter="fade">
                                      <p:cBhvr>
                                        <p:cTn id="5" dur="500"/>
                                        <p:tgtEl>
                                          <p:spTgt spid="28"/>
                                        </p:tgtEl>
                                      </p:cBhvr>
                                    </p:animEffect>
                                  </p:childTnLst>
                                </p:cTn>
                              </p:par>
                            </p:childTnLst>
                          </p:cTn>
                        </p:par>
                        <p:par>
                          <p:cTn id="12" fill="hold">
                            <p:stCondLst>
                              <p:cond delay="500"/>
                            </p:stCondLst>
                            <p:childTnLst>
                              <p:par>
                                <p:cTn id="7" presetID="53" presetClass="entr" presetSubtype="16" fill="hold" grpId="0" nodeType="afterEffect">
                                  <p:stCondLst>
                                    <p:cond delay="0"/>
                                  </p:stCondLst>
                                  <p:childTnLst>
                                    <p:set>
                                      <p:cBhvr>
                                        <p:cTn id="8" dur="1" fill="hold">
                                          <p:stCondLst>
                                            <p:cond delay="0"/>
                                          </p:stCondLst>
                                        </p:cTn>
                                        <p:tgtEl>
                                          <p:spTgt spid="29"/>
                                        </p:tgtEl>
                                        <p:attrNameLst>
                                          <p:attrName>style.visibility</p:attrName>
                                        </p:attrNameLst>
                                      </p:cBhvr>
                                      <p:to>
                                        <p:strVal val="visible"/>
                                      </p:to>
                                    </p:set>
                                    <p:anim calcmode="lin" valueType="num">
                                      <p:cBhvr>
                                        <p:cTn id="9" dur="500" fill="hold"/>
                                        <p:tgtEl>
                                          <p:spTgt spid="29"/>
                                        </p:tgtEl>
                                        <p:attrNameLst>
                                          <p:attrName>ppt_w</p:attrName>
                                        </p:attrNameLst>
                                      </p:cBhvr>
                                      <p:tavLst>
                                        <p:tav tm="0">
                                          <p:val>
                                            <p:fltVal val="0"/>
                                          </p:val>
                                        </p:tav>
                                        <p:tav tm="100000">
                                          <p:val>
                                            <p:strVal val="#ppt_w"/>
                                          </p:val>
                                        </p:tav>
                                      </p:tavLst>
                                    </p:anim>
                                    <p:anim calcmode="lin" valueType="num">
                                      <p:cBhvr>
                                        <p:cTn id="10" dur="500" fill="hold"/>
                                        <p:tgtEl>
                                          <p:spTgt spid="29"/>
                                        </p:tgtEl>
                                        <p:attrNameLst>
                                          <p:attrName>ppt_h</p:attrName>
                                        </p:attrNameLst>
                                      </p:cBhvr>
                                      <p:tavLst>
                                        <p:tav tm="0">
                                          <p:val>
                                            <p:fltVal val="0"/>
                                          </p:val>
                                        </p:tav>
                                        <p:tav tm="100000">
                                          <p:val>
                                            <p:strVal val="#ppt_h"/>
                                          </p:val>
                                        </p:tav>
                                      </p:tavLst>
                                    </p:anim>
                                    <p:animEffect transition="in" filter="fade">
                                      <p:cBhvr>
                                        <p:cTn id="11" dur="500"/>
                                        <p:tgtEl>
                                          <p:spTgt spid="29"/>
                                        </p:tgtEl>
                                      </p:cBhvr>
                                    </p:animEffect>
                                  </p:childTnLst>
                                </p:cTn>
                              </p:par>
                            </p:childTnLst>
                          </p:cTn>
                        </p:par>
                      </p:childTnLst>
                    </p:cTn>
                  </p:par>
                  <p:par>
                    <p:cTn id="25" fill="hold">
                      <p:stCondLst>
                        <p:cond delay="indefinite"/>
                      </p:stCondLst>
                      <p:childTnLst>
                        <p:par>
                          <p:cTn id="17" fill="hold">
                            <p:stCondLst>
                              <p:cond delay="0"/>
                            </p:stCondLst>
                            <p:childTnLst>
                              <p:par>
                                <p:cTn id="14" presetID="22" presetClass="entr" presetSubtype="2" fill="hold" grpId="0" nodeType="click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wipe(right)">
                                      <p:cBhvr>
                                        <p:cTn id="16" dur="600"/>
                                        <p:tgtEl>
                                          <p:spTgt spid="31"/>
                                        </p:tgtEl>
                                      </p:cBhvr>
                                    </p:animEffect>
                                  </p:childTnLst>
                                </p:cTn>
                              </p:par>
                            </p:childTnLst>
                          </p:cTn>
                        </p:par>
                        <p:par>
                          <p:cTn id="24" fill="hold">
                            <p:stCondLst>
                              <p:cond delay="600"/>
                            </p:stCondLst>
                            <p:childTnLst>
                              <p:par>
                                <p:cTn id="18" presetID="10" presetClass="entr" presetSubtype="0" fill="hold" grpId="0" nodeType="after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fade">
                                      <p:cBhvr>
                                        <p:cTn id="20" dur="500"/>
                                        <p:tgtEl>
                                          <p:spTgt spid="3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500"/>
                                        <p:tgtEl>
                                          <p:spTgt spid="39"/>
                                        </p:tgtEl>
                                      </p:cBhvr>
                                    </p:animEffect>
                                  </p:childTnLst>
                                </p:cTn>
                              </p:par>
                            </p:childTnLst>
                          </p:cTn>
                        </p:par>
                      </p:childTnLst>
                    </p:cTn>
                  </p:par>
                  <p:par>
                    <p:cTn id="42" fill="hold">
                      <p:stCondLst>
                        <p:cond delay="indefinite"/>
                      </p:stCondLst>
                      <p:childTnLst>
                        <p:par>
                          <p:cTn id="3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fade">
                                      <p:cBhvr>
                                        <p:cTn id="28" dur="500"/>
                                        <p:tgtEl>
                                          <p:spTgt spid="3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41" fill="hold">
                            <p:stCondLst>
                              <p:cond delay="500"/>
                            </p:stCondLst>
                            <p:childTnLst>
                              <p:par>
                                <p:cTn id="36" presetID="53" presetClass="entr" presetSubtype="16"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fltVal val="0"/>
                                          </p:val>
                                        </p:tav>
                                        <p:tav tm="100000">
                                          <p:val>
                                            <p:strVal val="#ppt_h"/>
                                          </p:val>
                                        </p:tav>
                                      </p:tavLst>
                                    </p:anim>
                                    <p:animEffect transition="in" filter="fade">
                                      <p:cBhvr>
                                        <p:cTn id="40" dur="500"/>
                                        <p:tgtEl>
                                          <p:spTgt spid="35"/>
                                        </p:tgtEl>
                                      </p:cBhvr>
                                    </p:animEffect>
                                  </p:childTnLst>
                                </p:cTn>
                              </p:par>
                            </p:childTnLst>
                          </p:cTn>
                        </p:par>
                      </p:childTnLst>
                    </p:cTn>
                  </p:par>
                  <p:par>
                    <p:cTn id="55" fill="hold">
                      <p:stCondLst>
                        <p:cond delay="indefinite"/>
                      </p:stCondLst>
                      <p:childTnLst>
                        <p:par>
                          <p:cTn id="46"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36"/>
                                        </p:tgtEl>
                                        <p:attrNameLst>
                                          <p:attrName>style.visibility</p:attrName>
                                        </p:attrNameLst>
                                      </p:cBhvr>
                                      <p:to>
                                        <p:strVal val="visible"/>
                                      </p:to>
                                    </p:set>
                                    <p:animEffect transition="in" filter="wipe(left)">
                                      <p:cBhvr>
                                        <p:cTn id="45" dur="600"/>
                                        <p:tgtEl>
                                          <p:spTgt spid="36"/>
                                        </p:tgtEl>
                                      </p:cBhvr>
                                    </p:animEffect>
                                  </p:childTnLst>
                                </p:cTn>
                              </p:par>
                            </p:childTnLst>
                          </p:cTn>
                        </p:par>
                        <p:par>
                          <p:cTn id="50" fill="hold">
                            <p:stCondLst>
                              <p:cond delay="600"/>
                            </p:stCondLst>
                            <p:childTnLst>
                              <p:par>
                                <p:cTn id="47" presetID="10" presetClass="entr" presetSubtype="0" fill="hold" grpId="0" nodeType="after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500"/>
                                        <p:tgtEl>
                                          <p:spTgt spid="37"/>
                                        </p:tgtEl>
                                      </p:cBhvr>
                                    </p:animEffect>
                                  </p:childTnLst>
                                </p:cTn>
                              </p:par>
                            </p:childTnLst>
                          </p:cTn>
                        </p:par>
                        <p:par>
                          <p:cTn id="54" fill="hold">
                            <p:stCondLst>
                              <p:cond delay="1100"/>
                            </p:stCondLst>
                            <p:childTnLst>
                              <p:par>
                                <p:cTn id="51" presetID="10"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Effect transition="in" filter="fade">
                                      <p:cBhvr>
                                        <p:cTn id="53" dur="500"/>
                                        <p:tgtEl>
                                          <p:spTgt spid="38"/>
                                        </p:tgtEl>
                                      </p:cBhvr>
                                    </p:animEffect>
                                  </p:childTnLst>
                                </p:cTn>
                              </p:par>
                            </p:childTnLst>
                          </p:cTn>
                        </p:par>
                      </p:childTnLst>
                    </p:cTn>
                  </p:par>
                  <p:par>
                    <p:cTn id="60" fill="hold">
                      <p:stCondLst>
                        <p:cond delay="indefinite"/>
                      </p:stCondLst>
                      <p:childTnLst>
                        <p:par>
                          <p:cTn id="59"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40"/>
                                        </p:tgtEl>
                                        <p:attrNameLst>
                                          <p:attrName>style.visibility</p:attrName>
                                        </p:attrNameLst>
                                      </p:cBhvr>
                                      <p:to>
                                        <p:strVal val="visible"/>
                                      </p:to>
                                    </p:set>
                                    <p:animEffect transition="in" filter="fade">
                                      <p:cBhvr>
                                        <p:cTn id="58" dur="500"/>
                                        <p:tgtEl>
                                          <p:spTgt spid="40"/>
                                        </p:tgtEl>
                                      </p:cBhvr>
                                    </p:animEffect>
                                  </p:childTnLst>
                                </p:cTn>
                              </p:par>
                            </p:childTnLst>
                          </p:cTn>
                        </p:par>
                      </p:childTnLst>
                    </p:cTn>
                  </p:par>
                  <p:par>
                    <p:cTn id="65" fill="hold">
                      <p:stCondLst>
                        <p:cond delay="indefinite"/>
                      </p:stCondLst>
                      <p:childTnLst>
                        <p:par>
                          <p:cTn id="64"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fade">
                                      <p:cBhvr>
                                        <p:cTn id="6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1" grpId="0" animBg="1"/>
      <p:bldP spid="30" grpId="0" animBg="1"/>
      <p:bldP spid="39" grpId="0" animBg="1"/>
      <p:bldP spid="32" grpId="0" animBg="1"/>
      <p:bldP spid="33" grpId="0" animBg="1"/>
      <p:bldP spid="34" grpId="0" animBg="1"/>
      <p:bldP spid="35" grpId="0" animBg="1"/>
      <p:bldP spid="36" grpId="0" animBg="1"/>
      <p:bldP spid="37" grpId="0" animBg="1"/>
      <p:bldP spid="38" grpId="0" animBg="1"/>
    </p:bldLst>
  </p:timing>
</p:sld>
</file>

<file path=ppt/slides/slide75.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Astrocito normal"/>
          <p:cNvGrpSpPr/>
          <p:nvPr/>
        </p:nvGrpSpPr>
        <p:grpSpPr>
          <a:xfrm>
            <a:off x="274320" y="1188720"/>
            <a:ext cx="3108960" cy="2487168"/>
            <a:chOff x="274320" y="1188720"/>
            <a:chExt cx="3108960" cy="2487168"/>
          </a:xfrm>
        </p:grpSpPr>
        <p:sp>
          <p:nvSpPr>
            <p:cNvPr id="5" name="Forma 4"/>
            <p:cNvSpPr/>
            <p:nvPr/>
          </p:nvSpPr>
          <p:spPr>
            <a:xfrm>
              <a:off x="274320" y="1188720"/>
              <a:ext cx="3108960" cy="2487168"/>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101600" cap="rnd">
              <a:solidFill>
                <a:srgbClr val="54704D"/>
              </a:solidFill>
              <a:round/>
            </a:ln>
          </p:spPr>
        </p:sp>
        <p:sp>
          <p:nvSpPr>
            <p:cNvPr id="6" name="Forma 5"/>
            <p:cNvSpPr/>
            <p:nvPr/>
          </p:nvSpPr>
          <p:spPr>
            <a:xfrm>
              <a:off x="274320" y="1188720"/>
              <a:ext cx="3108960" cy="2487168"/>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76200" cap="rnd">
              <a:solidFill>
                <a:srgbClr val="9ACD8C"/>
              </a:solidFill>
              <a:round/>
            </a:ln>
          </p:spPr>
        </p:sp>
        <p:sp>
          <p:nvSpPr>
            <p:cNvPr id="7" name="Forma 6"/>
            <p:cNvSpPr/>
            <p:nvPr/>
          </p:nvSpPr>
          <p:spPr>
            <a:xfrm>
              <a:off x="274320" y="1188720"/>
              <a:ext cx="3108960" cy="2487168"/>
            </a:xfrm>
            <a:custGeom>
              <a:avLst/>
              <a:gdLst/>
              <a:ahLst/>
              <a:cxnLst/>
              <a:rect l="0" t="0" r="r" b="b"/>
              <a:pathLst>
                <a:path w="1000" h="1000">
                  <a:moveTo>
                    <a:pt x="420" y="420"/>
                  </a:moveTo>
                  <a:cubicBezTo>
                    <a:pt x="440" y="393"/>
                    <a:pt x="488" y="373"/>
                    <a:pt x="520" y="380"/>
                  </a:cubicBezTo>
                  <a:cubicBezTo>
                    <a:pt x="551" y="386"/>
                    <a:pt x="598" y="426"/>
                    <a:pt x="610" y="460"/>
                  </a:cubicBezTo>
                  <a:cubicBezTo>
                    <a:pt x="621" y="493"/>
                    <a:pt x="611" y="553"/>
                    <a:pt x="590" y="580"/>
                  </a:cubicBezTo>
                  <a:cubicBezTo>
                    <a:pt x="568" y="606"/>
                    <a:pt x="511" y="626"/>
                    <a:pt x="480" y="620"/>
                  </a:cubicBezTo>
                  <a:cubicBezTo>
                    <a:pt x="448" y="613"/>
                    <a:pt x="410" y="573"/>
                    <a:pt x="400" y="540"/>
                  </a:cubicBezTo>
                  <a:cubicBezTo>
                    <a:pt x="390" y="506"/>
                    <a:pt x="400" y="446"/>
                    <a:pt x="420" y="420"/>
                  </a:cubicBezTo>
                  <a:close/>
                </a:path>
              </a:pathLst>
            </a:custGeom>
            <a:gradFill rotWithShape="1">
              <a:gsLst>
                <a:gs pos="0">
                  <a:srgbClr val="C7E3BF"/>
                </a:gs>
                <a:gs pos="55000">
                  <a:srgbClr val="9ACD8C"/>
                </a:gs>
                <a:gs pos="100000">
                  <a:srgbClr val="739969"/>
                </a:gs>
              </a:gsLst>
              <a:path path="circle">
                <a:fillToRect l="32000" t="28000" r="68000" b="72000"/>
              </a:path>
            </a:gradFill>
            <a:ln w="19050" cap="rnd">
              <a:solidFill>
                <a:srgbClr val="54704D"/>
              </a:solidFill>
              <a:round/>
            </a:ln>
          </p:spPr>
        </p:sp>
        <p:sp>
          <p:nvSpPr>
            <p:cNvPr id="8" name="Forma 7"/>
            <p:cNvSpPr/>
            <p:nvPr/>
          </p:nvSpPr>
          <p:spPr>
            <a:xfrm>
              <a:off x="274320" y="1188720"/>
              <a:ext cx="3108960" cy="2487168"/>
            </a:xfrm>
            <a:custGeom>
              <a:avLst/>
              <a:gdLst/>
              <a:ahLst/>
              <a:cxnLst/>
              <a:rect l="0" t="0" r="r" b="b"/>
              <a:pathLst>
                <a:path w="1000" h="1000">
                  <a:moveTo>
                    <a:pt x="555" y="500"/>
                  </a:moveTo>
                  <a:cubicBezTo>
                    <a:pt x="555" y="527"/>
                    <a:pt x="532" y="550"/>
                    <a:pt x="505" y="550"/>
                  </a:cubicBezTo>
                  <a:cubicBezTo>
                    <a:pt x="477" y="550"/>
                    <a:pt x="455" y="527"/>
                    <a:pt x="455" y="500"/>
                  </a:cubicBezTo>
                  <a:cubicBezTo>
                    <a:pt x="455" y="472"/>
                    <a:pt x="477" y="450"/>
                    <a:pt x="505" y="450"/>
                  </a:cubicBezTo>
                  <a:cubicBezTo>
                    <a:pt x="532" y="450"/>
                    <a:pt x="555" y="472"/>
                    <a:pt x="555" y="500"/>
                  </a:cubicBezTo>
                  <a:close/>
                </a:path>
              </a:pathLst>
            </a:custGeom>
            <a:gradFill rotWithShape="1">
              <a:gsLst>
                <a:gs pos="0">
                  <a:srgbClr val="8DAD83"/>
                </a:gs>
                <a:gs pos="55000">
                  <a:srgbClr val="5D8A4E"/>
                </a:gs>
                <a:gs pos="100000">
                  <a:srgbClr val="416036"/>
                </a:gs>
              </a:gsLst>
              <a:path path="circle">
                <a:fillToRect l="32000" t="28000" r="68000" b="72000"/>
              </a:path>
            </a:gradFill>
            <a:ln>
              <a:noFill/>
            </a:ln>
          </p:spPr>
        </p:sp>
      </p:grpSp>
      <p:grpSp>
        <p:nvGrpSpPr>
          <p:cNvPr id="9" name="Astrocito tumefacto"/>
          <p:cNvGrpSpPr/>
          <p:nvPr/>
        </p:nvGrpSpPr>
        <p:grpSpPr>
          <a:xfrm>
            <a:off x="4023360" y="914400"/>
            <a:ext cx="3657600" cy="2926080"/>
            <a:chOff x="4023360" y="914400"/>
            <a:chExt cx="3657600" cy="2926080"/>
          </a:xfrm>
        </p:grpSpPr>
        <p:sp>
          <p:nvSpPr>
            <p:cNvPr id="10" name="Forma 9"/>
            <p:cNvSpPr/>
            <p:nvPr/>
          </p:nvSpPr>
          <p:spPr>
            <a:xfrm>
              <a:off x="4023360" y="914400"/>
              <a:ext cx="3657600" cy="2926080"/>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101600" cap="rnd">
              <a:solidFill>
                <a:srgbClr val="6C7B5A"/>
              </a:solidFill>
              <a:round/>
            </a:ln>
          </p:spPr>
        </p:sp>
        <p:sp>
          <p:nvSpPr>
            <p:cNvPr id="11" name="Forma 10"/>
            <p:cNvSpPr/>
            <p:nvPr/>
          </p:nvSpPr>
          <p:spPr>
            <a:xfrm>
              <a:off x="4023360" y="914400"/>
              <a:ext cx="3657600" cy="2926080"/>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76200" cap="rnd">
              <a:solidFill>
                <a:srgbClr val="C5E1A5"/>
              </a:solidFill>
              <a:round/>
            </a:ln>
          </p:spPr>
        </p:sp>
        <p:sp>
          <p:nvSpPr>
            <p:cNvPr id="12" name="Forma 11"/>
            <p:cNvSpPr/>
            <p:nvPr/>
          </p:nvSpPr>
          <p:spPr>
            <a:xfrm>
              <a:off x="4023360" y="914400"/>
              <a:ext cx="3657600" cy="2926080"/>
            </a:xfrm>
            <a:custGeom>
              <a:avLst/>
              <a:gdLst/>
              <a:ahLst/>
              <a:cxnLst/>
              <a:rect l="0" t="0" r="r" b="b"/>
              <a:pathLst>
                <a:path w="1000" h="1000">
                  <a:moveTo>
                    <a:pt x="420" y="420"/>
                  </a:moveTo>
                  <a:cubicBezTo>
                    <a:pt x="440" y="393"/>
                    <a:pt x="488" y="373"/>
                    <a:pt x="520" y="380"/>
                  </a:cubicBezTo>
                  <a:cubicBezTo>
                    <a:pt x="551" y="386"/>
                    <a:pt x="598" y="426"/>
                    <a:pt x="610" y="460"/>
                  </a:cubicBezTo>
                  <a:cubicBezTo>
                    <a:pt x="621" y="493"/>
                    <a:pt x="611" y="553"/>
                    <a:pt x="590" y="580"/>
                  </a:cubicBezTo>
                  <a:cubicBezTo>
                    <a:pt x="568" y="606"/>
                    <a:pt x="511" y="626"/>
                    <a:pt x="480" y="620"/>
                  </a:cubicBezTo>
                  <a:cubicBezTo>
                    <a:pt x="448" y="613"/>
                    <a:pt x="410" y="573"/>
                    <a:pt x="400" y="540"/>
                  </a:cubicBezTo>
                  <a:cubicBezTo>
                    <a:pt x="390" y="506"/>
                    <a:pt x="400" y="446"/>
                    <a:pt x="420" y="420"/>
                  </a:cubicBezTo>
                  <a:close/>
                </a:path>
              </a:pathLst>
            </a:custGeom>
            <a:gradFill rotWithShape="1">
              <a:gsLst>
                <a:gs pos="0">
                  <a:srgbClr val="DFEECD"/>
                </a:gs>
                <a:gs pos="55000">
                  <a:srgbClr val="C5E1A5"/>
                </a:gs>
                <a:gs pos="100000">
                  <a:srgbClr val="93A87B"/>
                </a:gs>
              </a:gsLst>
              <a:path path="circle">
                <a:fillToRect l="32000" t="28000" r="68000" b="72000"/>
              </a:path>
            </a:gradFill>
            <a:ln w="19050" cap="rnd">
              <a:solidFill>
                <a:srgbClr val="6C7B5A"/>
              </a:solidFill>
              <a:round/>
            </a:ln>
          </p:spPr>
        </p:sp>
        <p:sp>
          <p:nvSpPr>
            <p:cNvPr id="13" name="Forma 12"/>
            <p:cNvSpPr/>
            <p:nvPr/>
          </p:nvSpPr>
          <p:spPr>
            <a:xfrm>
              <a:off x="4023360" y="914400"/>
              <a:ext cx="3657600" cy="2926080"/>
            </a:xfrm>
            <a:custGeom>
              <a:avLst/>
              <a:gdLst/>
              <a:ahLst/>
              <a:cxnLst/>
              <a:rect l="0" t="0" r="r" b="b"/>
              <a:pathLst>
                <a:path w="1000" h="1000">
                  <a:moveTo>
                    <a:pt x="555" y="500"/>
                  </a:moveTo>
                  <a:cubicBezTo>
                    <a:pt x="555" y="527"/>
                    <a:pt x="532" y="550"/>
                    <a:pt x="505" y="550"/>
                  </a:cubicBezTo>
                  <a:cubicBezTo>
                    <a:pt x="477" y="550"/>
                    <a:pt x="455" y="527"/>
                    <a:pt x="455" y="500"/>
                  </a:cubicBezTo>
                  <a:cubicBezTo>
                    <a:pt x="455" y="472"/>
                    <a:pt x="477" y="450"/>
                    <a:pt x="505" y="450"/>
                  </a:cubicBezTo>
                  <a:cubicBezTo>
                    <a:pt x="532" y="450"/>
                    <a:pt x="555" y="472"/>
                    <a:pt x="555" y="500"/>
                  </a:cubicBezTo>
                  <a:close/>
                </a:path>
              </a:pathLst>
            </a:custGeom>
            <a:gradFill rotWithShape="1">
              <a:gsLst>
                <a:gs pos="0">
                  <a:srgbClr val="8DAD83"/>
                </a:gs>
                <a:gs pos="55000">
                  <a:srgbClr val="5D8A4E"/>
                </a:gs>
                <a:gs pos="100000">
                  <a:srgbClr val="416036"/>
                </a:gs>
              </a:gsLst>
              <a:path path="circle">
                <a:fillToRect l="32000" t="28000" r="68000" b="72000"/>
              </a:path>
            </a:gradFill>
            <a:ln>
              <a:noFill/>
            </a:ln>
          </p:spPr>
        </p:sp>
      </p:grpSp>
      <p:sp>
        <p:nvSpPr>
          <p:cNvPr id="14" name="Forma 13"/>
          <p:cNvSpPr txBox="1"/>
          <p:nvPr/>
        </p:nvSpPr>
        <p:spPr>
          <a:xfrm>
            <a:off x="365760" y="3749040"/>
            <a:ext cx="292608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5631"/>
                </a:solidFill>
                <a:latin typeface="Bahnschrift SemiBold Condensed"/>
                <a:ea typeface="Bahnschrift SemiBold Condensed"/>
                <a:cs typeface="Bahnschrift SemiBold Condensed"/>
                <a:sym typeface="Bahnschrift SemiBold Condensed"/>
              </a:rPr>
              <a:t>Normal: atrapa NH</a:t>
            </a:r>
            <a:r>
              <a:rPr lang="es-AR" sz="1300" b="1" baseline="-25000" dirty="0">
                <a:solidFill>
                  <a:srgbClr val="1E5631"/>
                </a:solidFill>
                <a:latin typeface="Bahnschrift SemiBold Condensed"/>
                <a:ea typeface="Bahnschrift SemiBold Condensed"/>
                <a:cs typeface="Bahnschrift SemiBold Condensed"/>
                <a:sym typeface="Bahnschrift SemiBold Condensed"/>
              </a:rPr>
              <a:t>4</a:t>
            </a:r>
            <a:r>
              <a:rPr lang="es-AR" sz="1300" b="1" baseline="30000" dirty="0">
                <a:solidFill>
                  <a:srgbClr val="1E5631"/>
                </a:solidFill>
                <a:latin typeface="Bahnschrift SemiBold Condensed"/>
                <a:ea typeface="Bahnschrift SemiBold Condensed"/>
                <a:cs typeface="Bahnschrift SemiBold Condensed"/>
                <a:sym typeface="Bahnschrift SemiBold Condensed"/>
              </a:rPr>
              <a:t>+</a:t>
            </a:r>
            <a:r>
              <a:rPr lang="es-AR" sz="1300" b="1" dirty="0">
                <a:solidFill>
                  <a:srgbClr val="1E5631"/>
                </a:solidFill>
                <a:latin typeface="Bahnschrift SemiBold Condensed"/>
                <a:ea typeface="Bahnschrift SemiBold Condensed"/>
                <a:cs typeface="Bahnschrift SemiBold Condensed"/>
                <a:sym typeface="Bahnschrift SemiBold Condensed"/>
              </a:rPr>
              <a:t> en glutamina</a:t>
            </a:r>
            <a:endParaRPr lang="es-AR" sz="1300" dirty="0">
              <a:latin typeface="Bahnschrift SemiBold Condensed"/>
            </a:endParaRPr>
          </a:p>
        </p:txBody>
      </p:sp>
      <p:sp>
        <p:nvSpPr>
          <p:cNvPr id="15" name="Forma 14"/>
          <p:cNvSpPr txBox="1"/>
          <p:nvPr/>
        </p:nvSpPr>
        <p:spPr>
          <a:xfrm>
            <a:off x="4206240" y="3931920"/>
            <a:ext cx="347472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Hiperamonemia: glutamina ↑↑</a:t>
            </a:r>
            <a:endParaRPr lang="es-AR" sz="1300" dirty="0">
              <a:latin typeface="Bahnschrift SemiBold Condensed"/>
            </a:endParaRPr>
          </a:p>
        </p:txBody>
      </p:sp>
      <p:sp>
        <p:nvSpPr>
          <p:cNvPr id="16" name="NH4 exceso 0"/>
          <p:cNvSpPr/>
          <p:nvPr/>
        </p:nvSpPr>
        <p:spPr>
          <a:xfrm>
            <a:off x="4480560" y="43434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17" name="NH4 exceso 1"/>
          <p:cNvSpPr/>
          <p:nvPr/>
        </p:nvSpPr>
        <p:spPr>
          <a:xfrm>
            <a:off x="5120640" y="43434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18" name="NH4 exceso 2"/>
          <p:cNvSpPr/>
          <p:nvPr/>
        </p:nvSpPr>
        <p:spPr>
          <a:xfrm>
            <a:off x="5760720" y="43434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19" name="NH4 exceso 3"/>
          <p:cNvSpPr/>
          <p:nvPr/>
        </p:nvSpPr>
        <p:spPr>
          <a:xfrm>
            <a:off x="6400800" y="43434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20" name="NH4 exceso 4"/>
          <p:cNvSpPr/>
          <p:nvPr/>
        </p:nvSpPr>
        <p:spPr>
          <a:xfrm>
            <a:off x="4480560" y="48006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21" name="NH4 exceso 5"/>
          <p:cNvSpPr/>
          <p:nvPr/>
        </p:nvSpPr>
        <p:spPr>
          <a:xfrm>
            <a:off x="5120640" y="48006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22" name="NH4 exceso 6"/>
          <p:cNvSpPr/>
          <p:nvPr/>
        </p:nvSpPr>
        <p:spPr>
          <a:xfrm>
            <a:off x="5760720" y="48006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23" name="NH4 exceso 7"/>
          <p:cNvSpPr/>
          <p:nvPr/>
        </p:nvSpPr>
        <p:spPr>
          <a:xfrm>
            <a:off x="6400800" y="4800600"/>
            <a:ext cx="365760" cy="36576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20" b="1" dirty="0">
                <a:solidFill>
                  <a:srgbClr val="FFFFFF"/>
                </a:solidFill>
                <a:latin typeface="Bahnschrift SemiBold Condensed"/>
                <a:ea typeface="Bahnschrift SemiBold Condensed"/>
                <a:cs typeface="Bahnschrift SemiBold Condensed"/>
                <a:sym typeface="Bahnschrift SemiBold Condensed"/>
              </a:rPr>
              <a:t>NH</a:t>
            </a:r>
            <a:r>
              <a:rPr lang="es-AR" sz="920" b="1" baseline="-25000" dirty="0">
                <a:solidFill>
                  <a:srgbClr val="FFFFFF"/>
                </a:solidFill>
                <a:latin typeface="Bahnschrift SemiBold Condensed"/>
                <a:ea typeface="Bahnschrift SemiBold Condensed"/>
                <a:cs typeface="Bahnschrift SemiBold Condensed"/>
                <a:sym typeface="Bahnschrift SemiBold Condensed"/>
              </a:rPr>
              <a:t>4</a:t>
            </a:r>
            <a:r>
              <a:rPr lang="es-AR" sz="920" b="1" baseline="30000" dirty="0">
                <a:solidFill>
                  <a:srgbClr val="FFFFFF"/>
                </a:solidFill>
                <a:latin typeface="Bahnschrift SemiBold Condensed"/>
                <a:ea typeface="Bahnschrift SemiBold Condensed"/>
                <a:cs typeface="Bahnschrift SemiBold Condensed"/>
                <a:sym typeface="Bahnschrift SemiBold Condensed"/>
              </a:rPr>
              <a:t>+</a:t>
            </a:r>
            <a:endParaRPr lang="es-AR" sz="920" dirty="0">
              <a:latin typeface="Bahnschrift SemiBold Condensed"/>
            </a:endParaRPr>
          </a:p>
        </p:txBody>
      </p:sp>
      <p:sp>
        <p:nvSpPr>
          <p:cNvPr id="24" name="Flecha 23_2"/>
          <p:cNvSpPr/>
          <p:nvPr/>
        </p:nvSpPr>
        <p:spPr>
          <a:xfrm>
            <a:off x="3383280" y="2377440"/>
            <a:ext cx="640080" cy="9144"/>
          </a:xfrm>
          <a:custGeom>
            <a:avLst/>
            <a:gdLst/>
            <a:ahLst/>
            <a:cxnLst/>
            <a:rect l="0" t="0" r="r" b="b"/>
            <a:pathLst>
              <a:path w="700" h="10" fill="none">
                <a:moveTo>
                  <a:pt x="0" y="0"/>
                </a:moveTo>
                <a:lnTo>
                  <a:pt x="700" y="0"/>
                </a:lnTo>
              </a:path>
            </a:pathLst>
          </a:custGeom>
          <a:noFill/>
          <a:ln w="50800" cap="rnd">
            <a:solidFill>
              <a:srgbClr val="C00000"/>
            </a:solidFill>
            <a:round/>
            <a:tailEnd type="triangle" w="med" len="med"/>
          </a:ln>
        </p:spPr>
      </p:sp>
      <p:sp>
        <p:nvSpPr>
          <p:cNvPr id="25" name="Forma 25"/>
          <p:cNvSpPr/>
          <p:nvPr/>
        </p:nvSpPr>
        <p:spPr>
          <a:xfrm>
            <a:off x="8092440" y="1005840"/>
            <a:ext cx="3703320" cy="11658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 (falla hepática, derivación portosistémica)</a:t>
            </a:r>
            <a:endParaRPr lang="es-AR" sz="1350" dirty="0">
              <a:latin typeface="Bahnschrift"/>
            </a:endParaRPr>
          </a:p>
        </p:txBody>
      </p:sp>
      <p:sp>
        <p:nvSpPr>
          <p:cNvPr id="26" name="Flecha 26_2"/>
          <p:cNvSpPr/>
          <p:nvPr/>
        </p:nvSpPr>
        <p:spPr>
          <a:xfrm>
            <a:off x="9944100" y="2199132"/>
            <a:ext cx="9144" cy="219456"/>
          </a:xfrm>
          <a:custGeom>
            <a:avLst/>
            <a:gdLst/>
            <a:ahLst/>
            <a:cxnLst/>
            <a:rect l="0" t="0" r="r" b="b"/>
            <a:pathLst>
              <a:path w="10" h="240" fill="none">
                <a:moveTo>
                  <a:pt x="0" y="0"/>
                </a:moveTo>
                <a:lnTo>
                  <a:pt x="0" y="240"/>
                </a:lnTo>
              </a:path>
            </a:pathLst>
          </a:custGeom>
          <a:noFill/>
          <a:ln w="31750" cap="rnd">
            <a:solidFill>
              <a:srgbClr val="C00000"/>
            </a:solidFill>
            <a:round/>
            <a:tailEnd type="triangle" w="med" len="med"/>
          </a:ln>
        </p:spPr>
      </p:sp>
      <p:sp>
        <p:nvSpPr>
          <p:cNvPr id="27" name="Forma 28"/>
          <p:cNvSpPr/>
          <p:nvPr/>
        </p:nvSpPr>
        <p:spPr>
          <a:xfrm>
            <a:off x="8092440" y="2446020"/>
            <a:ext cx="3703320" cy="11658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Glutamina astroglial ↑</a:t>
            </a:r>
            <a:endParaRPr lang="es-AR" sz="1350" dirty="0">
              <a:latin typeface="Bahnschrift"/>
            </a:endParaRPr>
          </a:p>
        </p:txBody>
      </p:sp>
      <p:sp>
        <p:nvSpPr>
          <p:cNvPr id="28" name="Flecha 29_2"/>
          <p:cNvSpPr/>
          <p:nvPr/>
        </p:nvSpPr>
        <p:spPr>
          <a:xfrm>
            <a:off x="9944100" y="3639312"/>
            <a:ext cx="9144" cy="219456"/>
          </a:xfrm>
          <a:custGeom>
            <a:avLst/>
            <a:gdLst/>
            <a:ahLst/>
            <a:cxnLst/>
            <a:rect l="0" t="0" r="r" b="b"/>
            <a:pathLst>
              <a:path w="10" h="239" fill="none">
                <a:moveTo>
                  <a:pt x="0" y="0"/>
                </a:moveTo>
                <a:lnTo>
                  <a:pt x="0" y="239"/>
                </a:lnTo>
              </a:path>
            </a:pathLst>
          </a:custGeom>
          <a:noFill/>
          <a:ln w="31750" cap="rnd">
            <a:solidFill>
              <a:srgbClr val="C00000"/>
            </a:solidFill>
            <a:round/>
            <a:tailEnd type="triangle" w="med" len="med"/>
          </a:ln>
        </p:spPr>
      </p:sp>
      <p:sp>
        <p:nvSpPr>
          <p:cNvPr id="29" name="Forma 31"/>
          <p:cNvSpPr/>
          <p:nvPr/>
        </p:nvSpPr>
        <p:spPr>
          <a:xfrm>
            <a:off x="8092440" y="3886200"/>
            <a:ext cx="3703320" cy="116586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Estrés osmótico y mitocondrial</a:t>
            </a:r>
            <a:endParaRPr lang="es-AR" sz="1350" dirty="0">
              <a:latin typeface="Bahnschrift"/>
            </a:endParaRPr>
          </a:p>
        </p:txBody>
      </p:sp>
      <p:sp>
        <p:nvSpPr>
          <p:cNvPr id="30" name="Flecha 32_2"/>
          <p:cNvSpPr/>
          <p:nvPr/>
        </p:nvSpPr>
        <p:spPr>
          <a:xfrm>
            <a:off x="9944100" y="5079492"/>
            <a:ext cx="9144" cy="219456"/>
          </a:xfrm>
          <a:custGeom>
            <a:avLst/>
            <a:gdLst/>
            <a:ahLst/>
            <a:cxnLst/>
            <a:rect l="0" t="0" r="r" b="b"/>
            <a:pathLst>
              <a:path w="10" h="239" fill="none">
                <a:moveTo>
                  <a:pt x="0" y="0"/>
                </a:moveTo>
                <a:lnTo>
                  <a:pt x="0" y="239"/>
                </a:lnTo>
              </a:path>
            </a:pathLst>
          </a:custGeom>
          <a:noFill/>
          <a:ln w="31750" cap="rnd">
            <a:solidFill>
              <a:srgbClr val="C00000"/>
            </a:solidFill>
            <a:round/>
            <a:tailEnd type="triangle" w="med" len="med"/>
          </a:ln>
        </p:spPr>
      </p:sp>
      <p:sp>
        <p:nvSpPr>
          <p:cNvPr id="31" name="Forma 34"/>
          <p:cNvSpPr/>
          <p:nvPr/>
        </p:nvSpPr>
        <p:spPr>
          <a:xfrm>
            <a:off x="8092440" y="5326380"/>
            <a:ext cx="3703320" cy="116586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Disfunción de neurotransmisión → encefalopatía</a:t>
            </a:r>
            <a:endParaRPr lang="es-AR" sz="1350" dirty="0">
              <a:latin typeface="Bahnschrift"/>
            </a:endParaRPr>
          </a:p>
        </p:txBody>
      </p:sp>
      <p:sp>
        <p:nvSpPr>
          <p:cNvPr id="32" name="Forma 35"/>
          <p:cNvSpPr/>
          <p:nvPr/>
        </p:nvSpPr>
        <p:spPr>
          <a:xfrm>
            <a:off x="274320" y="5394960"/>
            <a:ext cx="7498080" cy="10972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SNC requiere </a:t>
            </a:r>
            <a:r>
              <a:rPr lang="es-AR" sz="1650" b="1" dirty="0">
                <a:solidFill>
                  <a:srgbClr val="1E1E1E"/>
                </a:solidFill>
                <a:latin typeface="Bahnschrift"/>
                <a:ea typeface="Bahnschrift"/>
                <a:cs typeface="Bahnschrift"/>
                <a:sym typeface="Bahnschrift"/>
              </a:rPr>
              <a:t>aporte continuo de glucosa o cetonas</a:t>
            </a:r>
            <a:r>
              <a:rPr lang="es-AR" sz="1650" dirty="0">
                <a:solidFill>
                  <a:srgbClr val="1E1E1E"/>
                </a:solidFill>
                <a:latin typeface="Bahnschrift"/>
                <a:ea typeface="Bahnschrift"/>
                <a:cs typeface="Bahnschrift"/>
                <a:sym typeface="Bahnschrift"/>
              </a:rPr>
              <a:t> y un control fino del equilibrio excitación–inhibición.</a:t>
            </a:r>
            <a:endParaRPr lang="es-AR" sz="165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97855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10 · AMONIO Y ASTROCITO: DE LA PROTECCIÓN A LA ENCEFALOPATÍA</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48" fill="hold">
                      <p:stCondLst>
                        <p:cond delay="indefinite"/>
                      </p:stCondLst>
                      <p:childTnLst>
                        <p:par>
                          <p:cTn id="6"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24"/>
                                        </p:tgtEl>
                                        <p:attrNameLst>
                                          <p:attrName>style.visibility</p:attrName>
                                        </p:attrNameLst>
                                      </p:cBhvr>
                                      <p:to>
                                        <p:strVal val="visible"/>
                                      </p:to>
                                    </p:set>
                                    <p:animEffect transition="in" filter="wipe(left)">
                                      <p:cBhvr>
                                        <p:cTn id="5" dur="600"/>
                                        <p:tgtEl>
                                          <p:spTgt spid="24"/>
                                        </p:tgtEl>
                                      </p:cBhvr>
                                    </p:animEffect>
                                  </p:childTnLst>
                                </p:cTn>
                              </p:par>
                            </p:childTnLst>
                          </p:cTn>
                        </p:par>
                        <p:par>
                          <p:cTn id="47" fill="hold">
                            <p:stCondLst>
                              <p:cond delay="600"/>
                            </p:stCondLst>
                            <p:childTnLst>
                              <p:par>
                                <p:cTn id="7" presetID="53" presetClass="entr" presetSubtype="16" fill="hold" grpId="0" nodeType="afterEffect">
                                  <p:stCondLst>
                                    <p:cond delay="0"/>
                                  </p:stCondLst>
                                  <p:childTnLst>
                                    <p:set>
                                      <p:cBhvr>
                                        <p:cTn id="8" dur="1" fill="hold">
                                          <p:stCondLst>
                                            <p:cond delay="0"/>
                                          </p:stCondLst>
                                        </p:cTn>
                                        <p:tgtEl>
                                          <p:spTgt spid="16"/>
                                        </p:tgtEl>
                                        <p:attrNameLst>
                                          <p:attrName>style.visibility</p:attrName>
                                        </p:attrNameLst>
                                      </p:cBhvr>
                                      <p:to>
                                        <p:strVal val="visible"/>
                                      </p:to>
                                    </p:set>
                                    <p:anim calcmode="lin" valueType="num">
                                      <p:cBhvr>
                                        <p:cTn id="9" dur="500" fill="hold"/>
                                        <p:tgtEl>
                                          <p:spTgt spid="16"/>
                                        </p:tgtEl>
                                        <p:attrNameLst>
                                          <p:attrName>ppt_w</p:attrName>
                                        </p:attrNameLst>
                                      </p:cBhvr>
                                      <p:tavLst>
                                        <p:tav tm="0">
                                          <p:val>
                                            <p:fltVal val="0"/>
                                          </p:val>
                                        </p:tav>
                                        <p:tav tm="100000">
                                          <p:val>
                                            <p:strVal val="#ppt_w"/>
                                          </p:val>
                                        </p:tav>
                                      </p:tavLst>
                                    </p:anim>
                                    <p:anim calcmode="lin" valueType="num">
                                      <p:cBhvr>
                                        <p:cTn id="10" dur="500" fill="hold"/>
                                        <p:tgtEl>
                                          <p:spTgt spid="16"/>
                                        </p:tgtEl>
                                        <p:attrNameLst>
                                          <p:attrName>ppt_h</p:attrName>
                                        </p:attrNameLst>
                                      </p:cBhvr>
                                      <p:tavLst>
                                        <p:tav tm="0">
                                          <p:val>
                                            <p:fltVal val="0"/>
                                          </p:val>
                                        </p:tav>
                                        <p:tav tm="100000">
                                          <p:val>
                                            <p:strVal val="#ppt_h"/>
                                          </p:val>
                                        </p:tav>
                                      </p:tavLst>
                                    </p:anim>
                                    <p:animEffect transition="in" filter="fade">
                                      <p:cBhvr>
                                        <p:cTn id="11" dur="500"/>
                                        <p:tgtEl>
                                          <p:spTgt spid="16"/>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 fill="hold"/>
                                        <p:tgtEl>
                                          <p:spTgt spid="17"/>
                                        </p:tgtEl>
                                        <p:attrNameLst>
                                          <p:attrName>ppt_w</p:attrName>
                                        </p:attrNameLst>
                                      </p:cBhvr>
                                      <p:tavLst>
                                        <p:tav tm="0">
                                          <p:val>
                                            <p:fltVal val="0"/>
                                          </p:val>
                                        </p:tav>
                                        <p:tav tm="100000">
                                          <p:val>
                                            <p:strVal val="#ppt_w"/>
                                          </p:val>
                                        </p:tav>
                                      </p:tavLst>
                                    </p:anim>
                                    <p:anim calcmode="lin" valueType="num">
                                      <p:cBhvr>
                                        <p:cTn id="15" dur="500" fill="hold"/>
                                        <p:tgtEl>
                                          <p:spTgt spid="17"/>
                                        </p:tgtEl>
                                        <p:attrNameLst>
                                          <p:attrName>ppt_h</p:attrName>
                                        </p:attrNameLst>
                                      </p:cBhvr>
                                      <p:tavLst>
                                        <p:tav tm="0">
                                          <p:val>
                                            <p:fltVal val="0"/>
                                          </p:val>
                                        </p:tav>
                                        <p:tav tm="100000">
                                          <p:val>
                                            <p:strVal val="#ppt_h"/>
                                          </p:val>
                                        </p:tav>
                                      </p:tavLst>
                                    </p:anim>
                                    <p:animEffect transition="in" filter="fade">
                                      <p:cBhvr>
                                        <p:cTn id="16" dur="500"/>
                                        <p:tgtEl>
                                          <p:spTgt spid="17"/>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Effect transition="in" filter="fade">
                                      <p:cBhvr>
                                        <p:cTn id="21" dur="500"/>
                                        <p:tgtEl>
                                          <p:spTgt spid="1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p:cTn id="24" dur="500" fill="hold"/>
                                        <p:tgtEl>
                                          <p:spTgt spid="19"/>
                                        </p:tgtEl>
                                        <p:attrNameLst>
                                          <p:attrName>ppt_w</p:attrName>
                                        </p:attrNameLst>
                                      </p:cBhvr>
                                      <p:tavLst>
                                        <p:tav tm="0">
                                          <p:val>
                                            <p:fltVal val="0"/>
                                          </p:val>
                                        </p:tav>
                                        <p:tav tm="100000">
                                          <p:val>
                                            <p:strVal val="#ppt_w"/>
                                          </p:val>
                                        </p:tav>
                                      </p:tavLst>
                                    </p:anim>
                                    <p:anim calcmode="lin" valueType="num">
                                      <p:cBhvr>
                                        <p:cTn id="25" dur="500" fill="hold"/>
                                        <p:tgtEl>
                                          <p:spTgt spid="19"/>
                                        </p:tgtEl>
                                        <p:attrNameLst>
                                          <p:attrName>ppt_h</p:attrName>
                                        </p:attrNameLst>
                                      </p:cBhvr>
                                      <p:tavLst>
                                        <p:tav tm="0">
                                          <p:val>
                                            <p:fltVal val="0"/>
                                          </p:val>
                                        </p:tav>
                                        <p:tav tm="100000">
                                          <p:val>
                                            <p:strVal val="#ppt_h"/>
                                          </p:val>
                                        </p:tav>
                                      </p:tavLst>
                                    </p:anim>
                                    <p:animEffect transition="in" filter="fade">
                                      <p:cBhvr>
                                        <p:cTn id="26" dur="500"/>
                                        <p:tgtEl>
                                          <p:spTgt spid="19"/>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 calcmode="lin" valueType="num">
                                      <p:cBhvr>
                                        <p:cTn id="29" dur="500" fill="hold"/>
                                        <p:tgtEl>
                                          <p:spTgt spid="20"/>
                                        </p:tgtEl>
                                        <p:attrNameLst>
                                          <p:attrName>ppt_w</p:attrName>
                                        </p:attrNameLst>
                                      </p:cBhvr>
                                      <p:tavLst>
                                        <p:tav tm="0">
                                          <p:val>
                                            <p:fltVal val="0"/>
                                          </p:val>
                                        </p:tav>
                                        <p:tav tm="100000">
                                          <p:val>
                                            <p:strVal val="#ppt_w"/>
                                          </p:val>
                                        </p:tav>
                                      </p:tavLst>
                                    </p:anim>
                                    <p:anim calcmode="lin" valueType="num">
                                      <p:cBhvr>
                                        <p:cTn id="30" dur="500" fill="hold"/>
                                        <p:tgtEl>
                                          <p:spTgt spid="20"/>
                                        </p:tgtEl>
                                        <p:attrNameLst>
                                          <p:attrName>ppt_h</p:attrName>
                                        </p:attrNameLst>
                                      </p:cBhvr>
                                      <p:tavLst>
                                        <p:tav tm="0">
                                          <p:val>
                                            <p:fltVal val="0"/>
                                          </p:val>
                                        </p:tav>
                                        <p:tav tm="100000">
                                          <p:val>
                                            <p:strVal val="#ppt_h"/>
                                          </p:val>
                                        </p:tav>
                                      </p:tavLst>
                                    </p:anim>
                                    <p:animEffect transition="in" filter="fade">
                                      <p:cBhvr>
                                        <p:cTn id="31" dur="500"/>
                                        <p:tgtEl>
                                          <p:spTgt spid="20"/>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 calcmode="lin" valueType="num">
                                      <p:cBhvr>
                                        <p:cTn id="34" dur="500" fill="hold"/>
                                        <p:tgtEl>
                                          <p:spTgt spid="21"/>
                                        </p:tgtEl>
                                        <p:attrNameLst>
                                          <p:attrName>ppt_w</p:attrName>
                                        </p:attrNameLst>
                                      </p:cBhvr>
                                      <p:tavLst>
                                        <p:tav tm="0">
                                          <p:val>
                                            <p:fltVal val="0"/>
                                          </p:val>
                                        </p:tav>
                                        <p:tav tm="100000">
                                          <p:val>
                                            <p:strVal val="#ppt_w"/>
                                          </p:val>
                                        </p:tav>
                                      </p:tavLst>
                                    </p:anim>
                                    <p:anim calcmode="lin" valueType="num">
                                      <p:cBhvr>
                                        <p:cTn id="35" dur="500" fill="hold"/>
                                        <p:tgtEl>
                                          <p:spTgt spid="21"/>
                                        </p:tgtEl>
                                        <p:attrNameLst>
                                          <p:attrName>ppt_h</p:attrName>
                                        </p:attrNameLst>
                                      </p:cBhvr>
                                      <p:tavLst>
                                        <p:tav tm="0">
                                          <p:val>
                                            <p:fltVal val="0"/>
                                          </p:val>
                                        </p:tav>
                                        <p:tav tm="100000">
                                          <p:val>
                                            <p:strVal val="#ppt_h"/>
                                          </p:val>
                                        </p:tav>
                                      </p:tavLst>
                                    </p:anim>
                                    <p:animEffect transition="in" filter="fade">
                                      <p:cBhvr>
                                        <p:cTn id="36" dur="500"/>
                                        <p:tgtEl>
                                          <p:spTgt spid="21"/>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p:cTn id="39" dur="500" fill="hold"/>
                                        <p:tgtEl>
                                          <p:spTgt spid="22"/>
                                        </p:tgtEl>
                                        <p:attrNameLst>
                                          <p:attrName>ppt_w</p:attrName>
                                        </p:attrNameLst>
                                      </p:cBhvr>
                                      <p:tavLst>
                                        <p:tav tm="0">
                                          <p:val>
                                            <p:fltVal val="0"/>
                                          </p:val>
                                        </p:tav>
                                        <p:tav tm="100000">
                                          <p:val>
                                            <p:strVal val="#ppt_w"/>
                                          </p:val>
                                        </p:tav>
                                      </p:tavLst>
                                    </p:anim>
                                    <p:anim calcmode="lin" valueType="num">
                                      <p:cBhvr>
                                        <p:cTn id="40" dur="500" fill="hold"/>
                                        <p:tgtEl>
                                          <p:spTgt spid="22"/>
                                        </p:tgtEl>
                                        <p:attrNameLst>
                                          <p:attrName>ppt_h</p:attrName>
                                        </p:attrNameLst>
                                      </p:cBhvr>
                                      <p:tavLst>
                                        <p:tav tm="0">
                                          <p:val>
                                            <p:fltVal val="0"/>
                                          </p:val>
                                        </p:tav>
                                        <p:tav tm="100000">
                                          <p:val>
                                            <p:strVal val="#ppt_h"/>
                                          </p:val>
                                        </p:tav>
                                      </p:tavLst>
                                    </p:anim>
                                    <p:animEffect transition="in" filter="fade">
                                      <p:cBhvr>
                                        <p:cTn id="41" dur="500"/>
                                        <p:tgtEl>
                                          <p:spTgt spid="22"/>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23"/>
                                        </p:tgtEl>
                                        <p:attrNameLst>
                                          <p:attrName>style.visibility</p:attrName>
                                        </p:attrNameLst>
                                      </p:cBhvr>
                                      <p:to>
                                        <p:strVal val="visible"/>
                                      </p:to>
                                    </p:set>
                                    <p:anim calcmode="lin" valueType="num">
                                      <p:cBhvr>
                                        <p:cTn id="44" dur="500" fill="hold"/>
                                        <p:tgtEl>
                                          <p:spTgt spid="23"/>
                                        </p:tgtEl>
                                        <p:attrNameLst>
                                          <p:attrName>ppt_w</p:attrName>
                                        </p:attrNameLst>
                                      </p:cBhvr>
                                      <p:tavLst>
                                        <p:tav tm="0">
                                          <p:val>
                                            <p:fltVal val="0"/>
                                          </p:val>
                                        </p:tav>
                                        <p:tav tm="100000">
                                          <p:val>
                                            <p:strVal val="#ppt_w"/>
                                          </p:val>
                                        </p:tav>
                                      </p:tavLst>
                                    </p:anim>
                                    <p:anim calcmode="lin" valueType="num">
                                      <p:cBhvr>
                                        <p:cTn id="45" dur="500" fill="hold"/>
                                        <p:tgtEl>
                                          <p:spTgt spid="23"/>
                                        </p:tgtEl>
                                        <p:attrNameLst>
                                          <p:attrName>ppt_h</p:attrName>
                                        </p:attrNameLst>
                                      </p:cBhvr>
                                      <p:tavLst>
                                        <p:tav tm="0">
                                          <p:val>
                                            <p:fltVal val="0"/>
                                          </p:val>
                                        </p:tav>
                                        <p:tav tm="100000">
                                          <p:val>
                                            <p:strVal val="#ppt_h"/>
                                          </p:val>
                                        </p:tav>
                                      </p:tavLst>
                                    </p:anim>
                                    <p:animEffect transition="in" filter="fade">
                                      <p:cBhvr>
                                        <p:cTn id="46" dur="500"/>
                                        <p:tgtEl>
                                          <p:spTgt spid="23"/>
                                        </p:tgtEl>
                                      </p:cBhvr>
                                    </p:animEffect>
                                  </p:childTnLst>
                                </p:cTn>
                              </p:par>
                            </p:childTnLst>
                          </p:cTn>
                        </p:par>
                      </p:childTnLst>
                    </p:cTn>
                  </p:par>
                  <p:par>
                    <p:cTn id="53" fill="hold">
                      <p:stCondLst>
                        <p:cond delay="indefinite"/>
                      </p:stCondLst>
                      <p:childTnLst>
                        <p:par>
                          <p:cTn id="52"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par>
                    <p:cTn id="62" fill="hold">
                      <p:stCondLst>
                        <p:cond delay="indefinite"/>
                      </p:stCondLst>
                      <p:childTnLst>
                        <p:par>
                          <p:cTn id="57"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wipe(left)">
                                      <p:cBhvr>
                                        <p:cTn id="56" dur="600"/>
                                        <p:tgtEl>
                                          <p:spTgt spid="26"/>
                                        </p:tgtEl>
                                      </p:cBhvr>
                                    </p:animEffect>
                                  </p:childTnLst>
                                </p:cTn>
                              </p:par>
                            </p:childTnLst>
                          </p:cTn>
                        </p:par>
                        <p:par>
                          <p:cTn id="61" fill="hold">
                            <p:stCondLst>
                              <p:cond delay="600"/>
                            </p:stCondLst>
                            <p:childTnLst>
                              <p:par>
                                <p:cTn id="58" presetID="10" presetClass="entr" presetSubtype="0" fill="hold" grpId="0" nodeType="after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childTnLst>
                          </p:cTn>
                        </p:par>
                      </p:childTnLst>
                    </p:cTn>
                  </p:par>
                  <p:par>
                    <p:cTn id="71" fill="hold">
                      <p:stCondLst>
                        <p:cond delay="indefinite"/>
                      </p:stCondLst>
                      <p:childTnLst>
                        <p:par>
                          <p:cTn id="66"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28"/>
                                        </p:tgtEl>
                                        <p:attrNameLst>
                                          <p:attrName>style.visibility</p:attrName>
                                        </p:attrNameLst>
                                      </p:cBhvr>
                                      <p:to>
                                        <p:strVal val="visible"/>
                                      </p:to>
                                    </p:set>
                                    <p:animEffect transition="in" filter="wipe(left)">
                                      <p:cBhvr>
                                        <p:cTn id="65" dur="600"/>
                                        <p:tgtEl>
                                          <p:spTgt spid="28"/>
                                        </p:tgtEl>
                                      </p:cBhvr>
                                    </p:animEffect>
                                  </p:childTnLst>
                                </p:cTn>
                              </p:par>
                            </p:childTnLst>
                          </p:cTn>
                        </p:par>
                        <p:par>
                          <p:cTn id="70" fill="hold">
                            <p:stCondLst>
                              <p:cond delay="600"/>
                            </p:stCondLst>
                            <p:childTnLst>
                              <p:par>
                                <p:cTn id="67" presetID="10" presetClass="entr" presetSubtype="0" fill="hold" grpId="0" nodeType="after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80" fill="hold">
                      <p:stCondLst>
                        <p:cond delay="indefinite"/>
                      </p:stCondLst>
                      <p:childTnLst>
                        <p:par>
                          <p:cTn id="75" fill="hold">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600"/>
                                        <p:tgtEl>
                                          <p:spTgt spid="30"/>
                                        </p:tgtEl>
                                      </p:cBhvr>
                                    </p:animEffect>
                                  </p:childTnLst>
                                </p:cTn>
                              </p:par>
                            </p:childTnLst>
                          </p:cTn>
                        </p:par>
                        <p:par>
                          <p:cTn id="79" fill="hold">
                            <p:stCondLst>
                              <p:cond delay="600"/>
                            </p:stCondLst>
                            <p:childTnLst>
                              <p:par>
                                <p:cTn id="76" presetID="10" presetClass="entr" presetSubtype="0" fill="hold" grpId="0" nodeType="after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childTnLst>
                                </p:cTn>
                              </p:par>
                            </p:childTnLst>
                          </p:cTn>
                        </p:par>
                      </p:childTnLst>
                    </p:cTn>
                  </p:par>
                  <p:par>
                    <p:cTn id="85" fill="hold">
                      <p:stCondLst>
                        <p:cond delay="indefinite"/>
                      </p:stCondLst>
                      <p:childTnLst>
                        <p:par>
                          <p:cTn id="84"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6" grpId="0" animBg="1"/>
      <p:bldP spid="17" grpId="0" animBg="1"/>
      <p:bldP spid="18" grpId="0" animBg="1"/>
      <p:bldP spid="19" grpId="0" animBg="1"/>
      <p:bldP spid="20" grpId="0" animBg="1"/>
      <p:bldP spid="21" grpId="0" animBg="1"/>
      <p:bldP spid="22" grpId="0" animBg="1"/>
      <p:bldP spid="23" grpId="0" animBg="1"/>
      <p:bldP spid="25" grpId="0" animBg="1"/>
      <p:bldP spid="26" grpId="0" animBg="1"/>
      <p:bldP spid="27" grpId="0" animBg="1"/>
      <p:bldP spid="28" grpId="0" animBg="1"/>
      <p:bldP spid="29" grpId="0" animBg="1"/>
      <p:bldP spid="30" grpId="0" animBg="1"/>
      <p:bldP spid="31" grpId="0" animBg="1"/>
      <p:bldP spid="32" grpId="0" animBg="1"/>
    </p:bldLst>
  </p:timing>
</p:sld>
</file>

<file path=ppt/slides/slide76.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Tablero hepatocito"/>
          <p:cNvSpPr/>
          <p:nvPr/>
        </p:nvSpPr>
        <p:spPr>
          <a:xfrm>
            <a:off x="274320" y="960120"/>
            <a:ext cx="7269480" cy="4572000"/>
          </a:xfrm>
          <a:prstGeom prst="roundRect">
            <a:avLst>
              <a:gd name="adj" fmla="val 8000"/>
            </a:avLst>
          </a:prstGeom>
          <a:solidFill>
            <a:srgbClr val="F5CBA7">
              <a:alpha val="70000"/>
            </a:srgbClr>
          </a:solidFill>
          <a:ln w="31750" cap="rnd">
            <a:solidFill>
              <a:srgbClr val="A04000"/>
            </a:solidFill>
            <a:round/>
          </a:ln>
          <a:effectLst>
            <a:outerShdw blurRad="63500" dist="38100" dir="2700000" algn="tl" rotWithShape="0">
              <a:srgbClr val="000000">
                <a:alpha val="32000"/>
              </a:srgbClr>
            </a:outerShdw>
          </a:effectLst>
        </p:spPr>
      </p:sp>
      <p:sp>
        <p:nvSpPr>
          <p:cNvPr id="5" name="!!Rótulo hepatocito"/>
          <p:cNvSpPr txBox="1"/>
          <p:nvPr/>
        </p:nvSpPr>
        <p:spPr>
          <a:xfrm>
            <a:off x="411480" y="100584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HEPATOCITO</a:t>
            </a:r>
            <a:endParaRPr lang="es-AR" sz="1300" dirty="0">
              <a:latin typeface="Bahnschrift SemiBold Condensed"/>
            </a:endParaRPr>
          </a:p>
        </p:txBody>
      </p:sp>
      <p:sp>
        <p:nvSpPr>
          <p:cNvPr id="6" name="!!Nodo ggn"/>
          <p:cNvSpPr/>
          <p:nvPr/>
        </p:nvSpPr>
        <p:spPr>
          <a:xfrm>
            <a:off x="685800" y="141732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Glucogenogénesis</a:t>
            </a:r>
            <a:endParaRPr lang="es-AR" sz="1400" dirty="0">
              <a:latin typeface="Bahnschrift SemiBold Condensed"/>
            </a:endParaRPr>
          </a:p>
        </p:txBody>
      </p:sp>
      <p:sp>
        <p:nvSpPr>
          <p:cNvPr id="7" name="!!Nodo ggl"/>
          <p:cNvSpPr/>
          <p:nvPr/>
        </p:nvSpPr>
        <p:spPr>
          <a:xfrm>
            <a:off x="2880360" y="141732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Glucogenólisis</a:t>
            </a:r>
            <a:endParaRPr lang="es-AR" sz="1400" dirty="0">
              <a:latin typeface="Bahnschrift SemiBold Condensed"/>
            </a:endParaRPr>
          </a:p>
        </p:txBody>
      </p:sp>
      <p:sp>
        <p:nvSpPr>
          <p:cNvPr id="8" name="!!Nodo glc"/>
          <p:cNvSpPr/>
          <p:nvPr/>
        </p:nvSpPr>
        <p:spPr>
          <a:xfrm>
            <a:off x="685800" y="237744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Glucólisis</a:t>
            </a:r>
            <a:endParaRPr lang="es-AR" sz="1400" dirty="0">
              <a:latin typeface="Bahnschrift SemiBold Condensed"/>
            </a:endParaRPr>
          </a:p>
        </p:txBody>
      </p:sp>
      <p:sp>
        <p:nvSpPr>
          <p:cNvPr id="9" name="!!Nodo gng"/>
          <p:cNvSpPr/>
          <p:nvPr/>
        </p:nvSpPr>
        <p:spPr>
          <a:xfrm>
            <a:off x="2880360" y="237744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Gluconeogénesis</a:t>
            </a:r>
            <a:endParaRPr lang="es-AR" sz="1400" dirty="0">
              <a:latin typeface="Bahnschrift SemiBold Condensed"/>
            </a:endParaRPr>
          </a:p>
        </p:txBody>
      </p:sp>
      <p:sp>
        <p:nvSpPr>
          <p:cNvPr id="10" name="!!Nodo ppp"/>
          <p:cNvSpPr/>
          <p:nvPr/>
        </p:nvSpPr>
        <p:spPr>
          <a:xfrm>
            <a:off x="5074920" y="141732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Vía de las pentosas</a:t>
            </a:r>
            <a:endParaRPr lang="es-AR" sz="1400" dirty="0">
              <a:latin typeface="Bahnschrift SemiBold Condensed"/>
            </a:endParaRPr>
          </a:p>
        </p:txBody>
      </p:sp>
      <p:sp>
        <p:nvSpPr>
          <p:cNvPr id="11" name="!!Nodo lip"/>
          <p:cNvSpPr/>
          <p:nvPr/>
        </p:nvSpPr>
        <p:spPr>
          <a:xfrm>
            <a:off x="685800" y="333756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Lipogénesis (ACC/FASN)</a:t>
            </a:r>
            <a:endParaRPr lang="es-AR" sz="1400" dirty="0">
              <a:latin typeface="Bahnschrift SemiBold Condensed"/>
            </a:endParaRPr>
          </a:p>
        </p:txBody>
      </p:sp>
      <p:sp>
        <p:nvSpPr>
          <p:cNvPr id="12" name="!!Nodo box"/>
          <p:cNvSpPr/>
          <p:nvPr/>
        </p:nvSpPr>
        <p:spPr>
          <a:xfrm>
            <a:off x="2880360" y="333756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β-oxidación</a:t>
            </a:r>
            <a:endParaRPr lang="es-AR" sz="1400" dirty="0">
              <a:latin typeface="Bahnschrift SemiBold Condensed"/>
            </a:endParaRPr>
          </a:p>
        </p:txBody>
      </p:sp>
      <p:sp>
        <p:nvSpPr>
          <p:cNvPr id="13" name="!!Nodo cet"/>
          <p:cNvSpPr/>
          <p:nvPr/>
        </p:nvSpPr>
        <p:spPr>
          <a:xfrm>
            <a:off x="5074920" y="333756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Cetogénesis</a:t>
            </a:r>
            <a:endParaRPr lang="es-AR" sz="1400" dirty="0">
              <a:latin typeface="Bahnschrift SemiBold Condensed"/>
            </a:endParaRPr>
          </a:p>
        </p:txBody>
      </p:sp>
      <p:sp>
        <p:nvSpPr>
          <p:cNvPr id="14" name="!!Nodo vldl"/>
          <p:cNvSpPr/>
          <p:nvPr/>
        </p:nvSpPr>
        <p:spPr>
          <a:xfrm>
            <a:off x="685800" y="429768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Síntesis TAG / VLDL</a:t>
            </a:r>
            <a:endParaRPr lang="es-AR" sz="1400" dirty="0">
              <a:latin typeface="Bahnschrift SemiBold Condensed"/>
            </a:endParaRPr>
          </a:p>
        </p:txBody>
      </p:sp>
      <p:sp>
        <p:nvSpPr>
          <p:cNvPr id="15" name="!!Nodo urea"/>
          <p:cNvSpPr/>
          <p:nvPr/>
        </p:nvSpPr>
        <p:spPr>
          <a:xfrm>
            <a:off x="2880360" y="429768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Ureogénesis</a:t>
            </a:r>
            <a:endParaRPr lang="es-AR" sz="1400" dirty="0">
              <a:latin typeface="Bahnschrift SemiBold Condensed"/>
            </a:endParaRPr>
          </a:p>
        </p:txBody>
      </p:sp>
      <p:sp>
        <p:nvSpPr>
          <p:cNvPr id="16" name="!!Nodo prot"/>
          <p:cNvSpPr/>
          <p:nvPr/>
        </p:nvSpPr>
        <p:spPr>
          <a:xfrm>
            <a:off x="5074920" y="237744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Síntesis proteica</a:t>
            </a:r>
            <a:endParaRPr lang="es-AR" sz="1400" dirty="0">
              <a:latin typeface="Bahnschrift SemiBold Condensed"/>
            </a:endParaRPr>
          </a:p>
        </p:txBody>
      </p:sp>
      <p:sp>
        <p:nvSpPr>
          <p:cNvPr id="17" name="!!Flecha glucosa"/>
          <p:cNvSpPr/>
          <p:nvPr/>
        </p:nvSpPr>
        <p:spPr>
          <a:xfrm>
            <a:off x="7589520" y="1828800"/>
            <a:ext cx="1188720" cy="9144"/>
          </a:xfrm>
          <a:custGeom>
            <a:avLst/>
            <a:gdLst/>
            <a:ahLst/>
            <a:cxnLst/>
            <a:rect l="0" t="0" r="r" b="b"/>
            <a:pathLst>
              <a:path w="1299" h="10" fill="none">
                <a:moveTo>
                  <a:pt x="0" y="0"/>
                </a:moveTo>
                <a:lnTo>
                  <a:pt x="1299" y="0"/>
                </a:lnTo>
              </a:path>
            </a:pathLst>
          </a:custGeom>
          <a:noFill/>
          <a:ln w="25400" cap="rnd">
            <a:solidFill>
              <a:srgbClr val="2563B0"/>
            </a:solidFill>
            <a:round/>
            <a:tailEnd type="triangle" w="med" len="med"/>
          </a:ln>
        </p:spPr>
      </p:sp>
      <p:sp>
        <p:nvSpPr>
          <p:cNvPr id="18" name="!!Ficha glucosa"/>
          <p:cNvSpPr/>
          <p:nvPr/>
        </p:nvSpPr>
        <p:spPr>
          <a:xfrm>
            <a:off x="8869680" y="16002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19" name="!!Flecha entrada glucosa"/>
          <p:cNvSpPr/>
          <p:nvPr/>
        </p:nvSpPr>
        <p:spPr>
          <a:xfrm>
            <a:off x="7589520" y="2651760"/>
            <a:ext cx="1188720" cy="9144"/>
          </a:xfrm>
          <a:custGeom>
            <a:avLst/>
            <a:gdLst/>
            <a:ahLst/>
            <a:cxnLst/>
            <a:rect l="0" t="0" r="r" b="b"/>
            <a:pathLst>
              <a:path w="1299" h="10" fill="none">
                <a:moveTo>
                  <a:pt x="1299" y="0"/>
                </a:moveTo>
                <a:lnTo>
                  <a:pt x="0" y="0"/>
                </a:lnTo>
              </a:path>
            </a:pathLst>
          </a:custGeom>
          <a:noFill/>
          <a:ln w="120650" cap="rnd">
            <a:solidFill>
              <a:srgbClr val="2563B0"/>
            </a:solidFill>
            <a:round/>
            <a:tailEnd type="triangle" w="med" len="med"/>
          </a:ln>
        </p:spPr>
      </p:sp>
      <p:sp>
        <p:nvSpPr>
          <p:cNvPr id="20" name="!!Rótulo captación"/>
          <p:cNvSpPr txBox="1"/>
          <p:nvPr/>
        </p:nvSpPr>
        <p:spPr>
          <a:xfrm>
            <a:off x="8823960" y="2468880"/>
            <a:ext cx="164592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captación</a:t>
            </a:r>
            <a:endParaRPr lang="es-AR" sz="1200" dirty="0">
              <a:latin typeface="Bahnschrift SemiBold Condensed"/>
            </a:endParaRPr>
          </a:p>
        </p:txBody>
      </p:sp>
      <p:sp>
        <p:nvSpPr>
          <p:cNvPr id="21" name="!!Flecha cetonas"/>
          <p:cNvSpPr/>
          <p:nvPr/>
        </p:nvSpPr>
        <p:spPr>
          <a:xfrm>
            <a:off x="7589520" y="3611880"/>
            <a:ext cx="1188720" cy="9144"/>
          </a:xfrm>
          <a:custGeom>
            <a:avLst/>
            <a:gdLst/>
            <a:ahLst/>
            <a:cxnLst/>
            <a:rect l="0" t="0" r="r" b="b"/>
            <a:pathLst>
              <a:path w="1299" h="10" fill="none">
                <a:moveTo>
                  <a:pt x="0" y="0"/>
                </a:moveTo>
                <a:lnTo>
                  <a:pt x="1299" y="0"/>
                </a:lnTo>
              </a:path>
            </a:pathLst>
          </a:custGeom>
          <a:noFill/>
          <a:ln w="25400" cap="rnd">
            <a:solidFill>
              <a:srgbClr val="C2185B"/>
            </a:solidFill>
            <a:round/>
            <a:tailEnd type="triangle" w="med" len="med"/>
          </a:ln>
        </p:spPr>
      </p:sp>
      <p:sp>
        <p:nvSpPr>
          <p:cNvPr id="22" name="!!Ficha cetonas"/>
          <p:cNvSpPr/>
          <p:nvPr/>
        </p:nvSpPr>
        <p:spPr>
          <a:xfrm>
            <a:off x="8869680" y="3383280"/>
            <a:ext cx="457200" cy="45720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sp>
        <p:nvSpPr>
          <p:cNvPr id="23" name="!!Rótulo glucosa"/>
          <p:cNvSpPr txBox="1"/>
          <p:nvPr/>
        </p:nvSpPr>
        <p:spPr>
          <a:xfrm>
            <a:off x="9418320" y="164592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24" name="!!Rótulo cetonas"/>
          <p:cNvSpPr txBox="1"/>
          <p:nvPr/>
        </p:nvSpPr>
        <p:spPr>
          <a:xfrm>
            <a:off x="9418320" y="342900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C2185B"/>
                </a:solidFill>
                <a:latin typeface="Bahnschrift SemiBold Condensed"/>
                <a:ea typeface="Bahnschrift SemiBold Condensed"/>
                <a:cs typeface="Bahnschrift SemiBold Condensed"/>
                <a:sym typeface="Bahnschrift SemiBold Condensed"/>
              </a:rPr>
              <a:t>cetonas</a:t>
            </a:r>
            <a:endParaRPr lang="es-AR" sz="1200" dirty="0">
              <a:latin typeface="Bahnschrift SemiBold Condensed"/>
            </a:endParaRPr>
          </a:p>
        </p:txBody>
      </p:sp>
      <p:grpSp>
        <p:nvGrpSpPr>
          <p:cNvPr id="25" name="!!Leyenda niveles"/>
          <p:cNvGrpSpPr/>
          <p:nvPr/>
        </p:nvGrpSpPr>
        <p:grpSpPr>
          <a:xfrm>
            <a:off x="411480" y="5623560"/>
            <a:ext cx="7086600" cy="365760"/>
            <a:chOff x="411480" y="5623560"/>
            <a:chExt cx="7086600" cy="365760"/>
          </a:xfrm>
        </p:grpSpPr>
        <p:sp>
          <p:nvSpPr>
            <p:cNvPr id="26" name="Nivel 0"/>
            <p:cNvSpPr/>
            <p:nvPr/>
          </p:nvSpPr>
          <p:spPr>
            <a:xfrm>
              <a:off x="411480" y="5669280"/>
              <a:ext cx="320040" cy="274320"/>
            </a:xfrm>
            <a:prstGeom prst="roundRect">
              <a:avLst/>
            </a:prstGeom>
            <a:solidFill>
              <a:srgbClr val="E5E7E9"/>
            </a:solidFill>
            <a:ln w="15875" cap="rnd">
              <a:solidFill>
                <a:srgbClr val="95A5A6"/>
              </a:solidFill>
              <a:round/>
            </a:ln>
          </p:spPr>
        </p:sp>
        <p:sp>
          <p:nvSpPr>
            <p:cNvPr id="27" name="Forma 26"/>
            <p:cNvSpPr txBox="1"/>
            <p:nvPr/>
          </p:nvSpPr>
          <p:spPr>
            <a:xfrm>
              <a:off x="77724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inactiva</a:t>
              </a:r>
              <a:endParaRPr lang="es-AR" sz="1200" dirty="0">
                <a:latin typeface="Bahnschrift"/>
              </a:endParaRPr>
            </a:p>
          </p:txBody>
        </p:sp>
        <p:sp>
          <p:nvSpPr>
            <p:cNvPr id="28" name="Nivel 1"/>
            <p:cNvSpPr/>
            <p:nvPr/>
          </p:nvSpPr>
          <p:spPr>
            <a:xfrm>
              <a:off x="2194560" y="5669280"/>
              <a:ext cx="320040" cy="274320"/>
            </a:xfrm>
            <a:prstGeom prst="roundRect">
              <a:avLst/>
            </a:prstGeom>
            <a:solidFill>
              <a:srgbClr val="D5F5E3"/>
            </a:solidFill>
            <a:ln w="15875" cap="rnd">
              <a:solidFill>
                <a:srgbClr val="7DCEA0"/>
              </a:solidFill>
              <a:round/>
            </a:ln>
          </p:spPr>
        </p:sp>
        <p:sp>
          <p:nvSpPr>
            <p:cNvPr id="29" name="Forma 28"/>
            <p:cNvSpPr txBox="1"/>
            <p:nvPr/>
          </p:nvSpPr>
          <p:spPr>
            <a:xfrm>
              <a:off x="256032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baja</a:t>
              </a:r>
              <a:endParaRPr lang="es-AR" sz="1200" dirty="0">
                <a:latin typeface="Bahnschrift"/>
              </a:endParaRPr>
            </a:p>
          </p:txBody>
        </p:sp>
        <p:sp>
          <p:nvSpPr>
            <p:cNvPr id="30" name="Nivel 2"/>
            <p:cNvSpPr/>
            <p:nvPr/>
          </p:nvSpPr>
          <p:spPr>
            <a:xfrm>
              <a:off x="3977640" y="5669280"/>
              <a:ext cx="320040" cy="274320"/>
            </a:xfrm>
            <a:prstGeom prst="roundRect">
              <a:avLst/>
            </a:prstGeom>
            <a:solidFill>
              <a:srgbClr val="82E0AA"/>
            </a:solidFill>
            <a:ln w="15875" cap="rnd">
              <a:solidFill>
                <a:srgbClr val="1E8449"/>
              </a:solidFill>
              <a:round/>
            </a:ln>
          </p:spPr>
        </p:sp>
        <p:sp>
          <p:nvSpPr>
            <p:cNvPr id="31" name="Forma 30"/>
            <p:cNvSpPr txBox="1"/>
            <p:nvPr/>
          </p:nvSpPr>
          <p:spPr>
            <a:xfrm>
              <a:off x="434340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activa</a:t>
              </a:r>
              <a:endParaRPr lang="es-AR" sz="1200" dirty="0">
                <a:latin typeface="Bahnschrift"/>
              </a:endParaRPr>
            </a:p>
          </p:txBody>
        </p:sp>
        <p:sp>
          <p:nvSpPr>
            <p:cNvPr id="32" name="Nivel 3"/>
            <p:cNvSpPr/>
            <p:nvPr/>
          </p:nvSpPr>
          <p:spPr>
            <a:xfrm>
              <a:off x="5760720" y="5669280"/>
              <a:ext cx="320040" cy="274320"/>
            </a:xfrm>
            <a:prstGeom prst="roundRect">
              <a:avLst/>
            </a:prstGeom>
            <a:solidFill>
              <a:srgbClr val="1E8449"/>
            </a:solidFill>
            <a:ln w="15875" cap="rnd">
              <a:solidFill>
                <a:srgbClr val="0B5345"/>
              </a:solidFill>
              <a:round/>
            </a:ln>
          </p:spPr>
        </p:sp>
        <p:sp>
          <p:nvSpPr>
            <p:cNvPr id="33" name="Forma 32"/>
            <p:cNvSpPr txBox="1"/>
            <p:nvPr/>
          </p:nvSpPr>
          <p:spPr>
            <a:xfrm>
              <a:off x="612648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máxima</a:t>
              </a:r>
              <a:endParaRPr lang="es-AR" sz="1200" dirty="0">
                <a:latin typeface="Bahnschrift"/>
              </a:endParaRPr>
            </a:p>
          </p:txBody>
        </p:sp>
      </p:grpSp>
      <p:sp>
        <p:nvSpPr>
          <p:cNvPr id="34" name="!!Texto fase hígado"/>
          <p:cNvSpPr/>
          <p:nvPr/>
        </p:nvSpPr>
        <p:spPr>
          <a:xfrm>
            <a:off x="7863840" y="4160520"/>
            <a:ext cx="3931920" cy="2331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Saciedad</a:t>
            </a:r>
            <a:r>
              <a:rPr lang="es-AR" sz="1600" dirty="0">
                <a:solidFill>
                  <a:srgbClr val="1E1E1E"/>
                </a:solidFill>
                <a:latin typeface="Bahnschrift"/>
                <a:ea typeface="Bahnschrift"/>
                <a:cs typeface="Bahnschrift"/>
                <a:sym typeface="Bahnschrift"/>
              </a:rPr>
              <a:t>: glucólisis (PFK-1, PK-L), glucogenogénesis, PPP, ACC/FASN, TAG/VLDL, síntesis proteica y </a:t>
            </a:r>
            <a:r>
              <a:rPr lang="es-AR" sz="1600" b="1" dirty="0">
                <a:solidFill>
                  <a:srgbClr val="1E1E1E"/>
                </a:solidFill>
                <a:latin typeface="Bahnschrift"/>
                <a:ea typeface="Bahnschrift"/>
                <a:cs typeface="Bahnschrift"/>
                <a:sym typeface="Bahnschrift"/>
              </a:rPr>
              <a:t>ureogénesis tras comidas proteicas</a:t>
            </a:r>
            <a:r>
              <a:rPr lang="es-AR" sz="1600" dirty="0">
                <a:solidFill>
                  <a:srgbClr val="1E1E1E"/>
                </a:solidFill>
                <a:latin typeface="Bahnschrift"/>
                <a:ea typeface="Bahnschrift"/>
                <a:cs typeface="Bahnschrift"/>
                <a:sym typeface="Bahnschrift"/>
              </a:rPr>
              <a:t>. Citrato → ATP-citrato liasa → acetil-CoA citosólico.</a:t>
            </a:r>
            <a:endParaRPr lang="es-AR" sz="1600" dirty="0">
              <a:latin typeface="Bahnschrift"/>
            </a:endParaRPr>
          </a:p>
        </p:txBody>
      </p:sp>
      <p:sp>
        <p:nvSpPr>
          <p:cNvPr id="35" name="!!Eje génico"/>
          <p:cNvSpPr/>
          <p:nvPr/>
        </p:nvSpPr>
        <p:spPr>
          <a:xfrm>
            <a:off x="274320" y="6035040"/>
            <a:ext cx="7269480" cy="457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dirty="0">
                <a:solidFill>
                  <a:srgbClr val="1E1E1E"/>
                </a:solidFill>
                <a:latin typeface="Bahnschrift"/>
                <a:ea typeface="Bahnschrift"/>
                <a:cs typeface="Bahnschrift"/>
                <a:sym typeface="Bahnschrift"/>
              </a:rPr>
              <a:t>Eje: insulina → Akt → FOXO1 fuera del núcleo · ChREBP y SREBP-1c ↑</a:t>
            </a:r>
            <a:endParaRPr lang="es-AR" sz="1250" dirty="0">
              <a:latin typeface="Bahnschrift"/>
            </a:endParaRPr>
          </a:p>
        </p:txBody>
      </p:sp>
      <p:grpSp>
        <p:nvGrpSpPr>
          <p:cNvPr id="36" name="!!Reloj hígado"/>
          <p:cNvGrpSpPr/>
          <p:nvPr/>
        </p:nvGrpSpPr>
        <p:grpSpPr>
          <a:xfrm>
            <a:off x="10881360" y="1097280"/>
            <a:ext cx="868680" cy="868680"/>
            <a:chOff x="10881360" y="1097280"/>
            <a:chExt cx="868680" cy="868680"/>
          </a:xfrm>
        </p:grpSpPr>
        <p:sp>
          <p:nvSpPr>
            <p:cNvPr id="37" name="Forma 36"/>
            <p:cNvSpPr/>
            <p:nvPr/>
          </p:nvSpPr>
          <p:spPr>
            <a:xfrm>
              <a:off x="10881360" y="1097280"/>
              <a:ext cx="868680" cy="86868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38" name="Flecha 37_2"/>
            <p:cNvSpPr/>
            <p:nvPr/>
          </p:nvSpPr>
          <p:spPr>
            <a:xfrm>
              <a:off x="11315700" y="1320976"/>
              <a:ext cx="121615" cy="210644"/>
            </a:xfrm>
            <a:custGeom>
              <a:avLst/>
              <a:gdLst/>
              <a:ahLst/>
              <a:cxnLst/>
              <a:rect l="0" t="0" r="r" b="b"/>
              <a:pathLst>
                <a:path w="133" h="230" fill="none">
                  <a:moveTo>
                    <a:pt x="0" y="230"/>
                  </a:moveTo>
                  <a:lnTo>
                    <a:pt x="133" y="0"/>
                  </a:lnTo>
                </a:path>
              </a:pathLst>
            </a:custGeom>
            <a:noFill/>
            <a:ln w="31750" cap="rnd">
              <a:solidFill>
                <a:srgbClr val="1E1E1E"/>
              </a:solidFill>
              <a:round/>
            </a:ln>
          </p:spPr>
        </p:sp>
        <p:sp>
          <p:nvSpPr>
            <p:cNvPr id="39" name="Flecha 39_2"/>
            <p:cNvSpPr/>
            <p:nvPr/>
          </p:nvSpPr>
          <p:spPr>
            <a:xfrm>
              <a:off x="11315700" y="1201522"/>
              <a:ext cx="9144" cy="330098"/>
            </a:xfrm>
            <a:custGeom>
              <a:avLst/>
              <a:gdLst/>
              <a:ahLst/>
              <a:cxnLst/>
              <a:rect l="0" t="0" r="r" b="b"/>
              <a:pathLst>
                <a:path w="10" h="360" fill="none">
                  <a:moveTo>
                    <a:pt x="0" y="360"/>
                  </a:moveTo>
                  <a:lnTo>
                    <a:pt x="0" y="0"/>
                  </a:lnTo>
                </a:path>
              </a:pathLst>
            </a:custGeom>
            <a:noFill/>
            <a:ln w="22225" cap="rnd">
              <a:solidFill>
                <a:srgbClr val="1E1E1E"/>
              </a:solidFill>
              <a:round/>
            </a:ln>
          </p:spPr>
        </p:sp>
      </p:grpSp>
      <p:sp>
        <p:nvSpPr>
          <p:cNvPr id="2" name="Etiqueta sección"/>
          <p:cNvSpPr/>
          <p:nvPr/>
        </p:nvSpPr>
        <p:spPr>
          <a:xfrm>
            <a:off x="9996312" y="201168"/>
            <a:ext cx="192106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TABLERO HEPÁTICO · 1/4</a:t>
            </a:r>
            <a:endParaRPr lang="es-AR" sz="1300" dirty="0">
              <a:latin typeface="Bahnschrift SemiBold Condensed"/>
            </a:endParaRPr>
          </a:p>
        </p:txBody>
      </p:sp>
      <p:sp>
        <p:nvSpPr>
          <p:cNvPr id="3" name="Título"/>
          <p:cNvSpPr/>
          <p:nvPr/>
        </p:nvSpPr>
        <p:spPr>
          <a:xfrm>
            <a:off x="274320" y="146304"/>
            <a:ext cx="320227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11 · HÍGADO: SACIEDAD</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76</a:t>
            </a:r>
            <a:endParaRPr lang="es-AR" sz="1000" dirty="0">
              <a:latin typeface="Bahnschrift SemiBold Condensed"/>
            </a:endParaRPr>
          </a:p>
        </p:txBody>
      </p:sp>
    </p:spTree>
  </p:cSld>
  <p:clrMapOvr>
    <a:masterClrMapping/>
  </p:clrMapOvr>
  <p:transition spd="med">
    <p:fade/>
  </p:transition>
</p:sld>
</file>

<file path=ppt/slides/slide77.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Tablero hepatocito"/>
          <p:cNvSpPr/>
          <p:nvPr/>
        </p:nvSpPr>
        <p:spPr>
          <a:xfrm>
            <a:off x="274320" y="960120"/>
            <a:ext cx="7269480" cy="4572000"/>
          </a:xfrm>
          <a:prstGeom prst="roundRect">
            <a:avLst>
              <a:gd name="adj" fmla="val 8000"/>
            </a:avLst>
          </a:prstGeom>
          <a:solidFill>
            <a:srgbClr val="F5CBA7">
              <a:alpha val="70000"/>
            </a:srgbClr>
          </a:solidFill>
          <a:ln w="31750" cap="rnd">
            <a:solidFill>
              <a:srgbClr val="A04000"/>
            </a:solidFill>
            <a:round/>
          </a:ln>
          <a:effectLst>
            <a:outerShdw blurRad="63500" dist="38100" dir="2700000" algn="tl" rotWithShape="0">
              <a:srgbClr val="000000">
                <a:alpha val="32000"/>
              </a:srgbClr>
            </a:outerShdw>
          </a:effectLst>
        </p:spPr>
      </p:sp>
      <p:sp>
        <p:nvSpPr>
          <p:cNvPr id="5" name="!!Rótulo hepatocito"/>
          <p:cNvSpPr txBox="1"/>
          <p:nvPr/>
        </p:nvSpPr>
        <p:spPr>
          <a:xfrm>
            <a:off x="411480" y="100584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HEPATOCITO</a:t>
            </a:r>
            <a:endParaRPr lang="es-AR" sz="1300" dirty="0">
              <a:latin typeface="Bahnschrift SemiBold Condensed"/>
            </a:endParaRPr>
          </a:p>
        </p:txBody>
      </p:sp>
      <p:sp>
        <p:nvSpPr>
          <p:cNvPr id="6" name="!!Nodo ggn"/>
          <p:cNvSpPr/>
          <p:nvPr/>
        </p:nvSpPr>
        <p:spPr>
          <a:xfrm>
            <a:off x="685800" y="141732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Glucogenogénesis</a:t>
            </a:r>
            <a:endParaRPr lang="es-AR" sz="1400" dirty="0">
              <a:latin typeface="Bahnschrift SemiBold Condensed"/>
            </a:endParaRPr>
          </a:p>
        </p:txBody>
      </p:sp>
      <p:sp>
        <p:nvSpPr>
          <p:cNvPr id="7" name="!!Nodo ggl"/>
          <p:cNvSpPr/>
          <p:nvPr/>
        </p:nvSpPr>
        <p:spPr>
          <a:xfrm>
            <a:off x="2880360" y="141732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Glucogenólisis</a:t>
            </a:r>
            <a:endParaRPr lang="es-AR" sz="1400" dirty="0">
              <a:latin typeface="Bahnschrift SemiBold Condensed"/>
            </a:endParaRPr>
          </a:p>
        </p:txBody>
      </p:sp>
      <p:sp>
        <p:nvSpPr>
          <p:cNvPr id="8" name="!!Nodo glc"/>
          <p:cNvSpPr/>
          <p:nvPr/>
        </p:nvSpPr>
        <p:spPr>
          <a:xfrm>
            <a:off x="685800" y="237744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Glucólisis</a:t>
            </a:r>
            <a:endParaRPr lang="es-AR" sz="1400" dirty="0">
              <a:latin typeface="Bahnschrift SemiBold Condensed"/>
            </a:endParaRPr>
          </a:p>
        </p:txBody>
      </p:sp>
      <p:sp>
        <p:nvSpPr>
          <p:cNvPr id="9" name="!!Nodo gng"/>
          <p:cNvSpPr/>
          <p:nvPr/>
        </p:nvSpPr>
        <p:spPr>
          <a:xfrm>
            <a:off x="2880360" y="237744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Gluconeogénesis</a:t>
            </a:r>
            <a:endParaRPr lang="es-AR" sz="1400" dirty="0">
              <a:latin typeface="Bahnschrift SemiBold Condensed"/>
            </a:endParaRPr>
          </a:p>
        </p:txBody>
      </p:sp>
      <p:sp>
        <p:nvSpPr>
          <p:cNvPr id="10" name="!!Nodo ppp"/>
          <p:cNvSpPr/>
          <p:nvPr/>
        </p:nvSpPr>
        <p:spPr>
          <a:xfrm>
            <a:off x="5074920" y="141732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Vía de las pentosas</a:t>
            </a:r>
            <a:endParaRPr lang="es-AR" sz="1400" dirty="0">
              <a:latin typeface="Bahnschrift SemiBold Condensed"/>
            </a:endParaRPr>
          </a:p>
        </p:txBody>
      </p:sp>
      <p:sp>
        <p:nvSpPr>
          <p:cNvPr id="11" name="!!Nodo lip"/>
          <p:cNvSpPr/>
          <p:nvPr/>
        </p:nvSpPr>
        <p:spPr>
          <a:xfrm>
            <a:off x="685800" y="333756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Lipogénesis (ACC/FASN)</a:t>
            </a:r>
            <a:endParaRPr lang="es-AR" sz="1400" dirty="0">
              <a:latin typeface="Bahnschrift SemiBold Condensed"/>
            </a:endParaRPr>
          </a:p>
        </p:txBody>
      </p:sp>
      <p:sp>
        <p:nvSpPr>
          <p:cNvPr id="12" name="!!Nodo box"/>
          <p:cNvSpPr/>
          <p:nvPr/>
        </p:nvSpPr>
        <p:spPr>
          <a:xfrm>
            <a:off x="2880360" y="333756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β-oxidación</a:t>
            </a:r>
            <a:endParaRPr lang="es-AR" sz="1400" dirty="0">
              <a:latin typeface="Bahnschrift SemiBold Condensed"/>
            </a:endParaRPr>
          </a:p>
        </p:txBody>
      </p:sp>
      <p:sp>
        <p:nvSpPr>
          <p:cNvPr id="13" name="!!Nodo cet"/>
          <p:cNvSpPr/>
          <p:nvPr/>
        </p:nvSpPr>
        <p:spPr>
          <a:xfrm>
            <a:off x="5074920" y="333756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Cetogénesis</a:t>
            </a:r>
            <a:endParaRPr lang="es-AR" sz="1400" dirty="0">
              <a:latin typeface="Bahnschrift SemiBold Condensed"/>
            </a:endParaRPr>
          </a:p>
        </p:txBody>
      </p:sp>
      <p:sp>
        <p:nvSpPr>
          <p:cNvPr id="14" name="!!Nodo vldl"/>
          <p:cNvSpPr/>
          <p:nvPr/>
        </p:nvSpPr>
        <p:spPr>
          <a:xfrm>
            <a:off x="685800" y="429768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TAG / VLDL</a:t>
            </a:r>
            <a:endParaRPr lang="es-AR" sz="1400" dirty="0">
              <a:latin typeface="Bahnschrift SemiBold Condensed"/>
            </a:endParaRPr>
          </a:p>
        </p:txBody>
      </p:sp>
      <p:sp>
        <p:nvSpPr>
          <p:cNvPr id="15" name="!!Nodo urea"/>
          <p:cNvSpPr/>
          <p:nvPr/>
        </p:nvSpPr>
        <p:spPr>
          <a:xfrm>
            <a:off x="2880360" y="429768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Ureogénesis</a:t>
            </a:r>
            <a:endParaRPr lang="es-AR" sz="1400" dirty="0">
              <a:latin typeface="Bahnschrift SemiBold Condensed"/>
            </a:endParaRPr>
          </a:p>
        </p:txBody>
      </p:sp>
      <p:sp>
        <p:nvSpPr>
          <p:cNvPr id="16" name="!!Nodo prot"/>
          <p:cNvSpPr/>
          <p:nvPr/>
        </p:nvSpPr>
        <p:spPr>
          <a:xfrm>
            <a:off x="5074920" y="237744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proteica</a:t>
            </a:r>
            <a:endParaRPr lang="es-AR" sz="1400" dirty="0">
              <a:latin typeface="Bahnschrift SemiBold Condensed"/>
            </a:endParaRPr>
          </a:p>
        </p:txBody>
      </p:sp>
      <p:sp>
        <p:nvSpPr>
          <p:cNvPr id="17" name="!!Flecha glucosa"/>
          <p:cNvSpPr/>
          <p:nvPr/>
        </p:nvSpPr>
        <p:spPr>
          <a:xfrm>
            <a:off x="7589520" y="1828800"/>
            <a:ext cx="1188720" cy="9144"/>
          </a:xfrm>
          <a:custGeom>
            <a:avLst/>
            <a:gdLst/>
            <a:ahLst/>
            <a:cxnLst/>
            <a:rect l="0" t="0" r="r" b="b"/>
            <a:pathLst>
              <a:path w="1299" h="10" fill="none">
                <a:moveTo>
                  <a:pt x="0" y="0"/>
                </a:moveTo>
                <a:lnTo>
                  <a:pt x="1299" y="0"/>
                </a:lnTo>
              </a:path>
            </a:pathLst>
          </a:custGeom>
          <a:noFill/>
          <a:ln w="82550" cap="rnd">
            <a:solidFill>
              <a:srgbClr val="2563B0"/>
            </a:solidFill>
            <a:round/>
            <a:tailEnd type="triangle" w="med" len="med"/>
          </a:ln>
        </p:spPr>
      </p:sp>
      <p:sp>
        <p:nvSpPr>
          <p:cNvPr id="18" name="!!Ficha glucosa"/>
          <p:cNvSpPr/>
          <p:nvPr/>
        </p:nvSpPr>
        <p:spPr>
          <a:xfrm>
            <a:off x="8869680" y="16002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19" name="!!Flecha entrada glucosa"/>
          <p:cNvSpPr/>
          <p:nvPr/>
        </p:nvSpPr>
        <p:spPr>
          <a:xfrm>
            <a:off x="7589520" y="2651760"/>
            <a:ext cx="1188720" cy="9144"/>
          </a:xfrm>
          <a:custGeom>
            <a:avLst/>
            <a:gdLst/>
            <a:ahLst/>
            <a:cxnLst/>
            <a:rect l="0" t="0" r="r" b="b"/>
            <a:pathLst>
              <a:path w="1299" h="10" fill="none">
                <a:moveTo>
                  <a:pt x="1299" y="0"/>
                </a:moveTo>
                <a:lnTo>
                  <a:pt x="0" y="0"/>
                </a:lnTo>
              </a:path>
            </a:pathLst>
          </a:custGeom>
          <a:noFill/>
          <a:ln w="25400" cap="rnd">
            <a:solidFill>
              <a:srgbClr val="2563B0"/>
            </a:solidFill>
            <a:round/>
            <a:tailEnd type="triangle" w="med" len="med"/>
          </a:ln>
        </p:spPr>
      </p:sp>
      <p:sp>
        <p:nvSpPr>
          <p:cNvPr id="20" name="!!Rótulo captación"/>
          <p:cNvSpPr txBox="1"/>
          <p:nvPr/>
        </p:nvSpPr>
        <p:spPr>
          <a:xfrm>
            <a:off x="8823960" y="2468880"/>
            <a:ext cx="164592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captación</a:t>
            </a:r>
            <a:endParaRPr lang="es-AR" sz="1200" dirty="0">
              <a:latin typeface="Bahnschrift SemiBold Condensed"/>
            </a:endParaRPr>
          </a:p>
        </p:txBody>
      </p:sp>
      <p:sp>
        <p:nvSpPr>
          <p:cNvPr id="21" name="!!Flecha cetonas"/>
          <p:cNvSpPr/>
          <p:nvPr/>
        </p:nvSpPr>
        <p:spPr>
          <a:xfrm>
            <a:off x="7589520" y="3611880"/>
            <a:ext cx="1188720" cy="9144"/>
          </a:xfrm>
          <a:custGeom>
            <a:avLst/>
            <a:gdLst/>
            <a:ahLst/>
            <a:cxnLst/>
            <a:rect l="0" t="0" r="r" b="b"/>
            <a:pathLst>
              <a:path w="1299" h="10" fill="none">
                <a:moveTo>
                  <a:pt x="0" y="0"/>
                </a:moveTo>
                <a:lnTo>
                  <a:pt x="1299" y="0"/>
                </a:lnTo>
              </a:path>
            </a:pathLst>
          </a:custGeom>
          <a:noFill/>
          <a:ln w="44450" cap="rnd">
            <a:solidFill>
              <a:srgbClr val="C2185B"/>
            </a:solidFill>
            <a:round/>
            <a:tailEnd type="triangle" w="med" len="med"/>
          </a:ln>
        </p:spPr>
      </p:sp>
      <p:sp>
        <p:nvSpPr>
          <p:cNvPr id="22" name="!!Ficha cetonas"/>
          <p:cNvSpPr/>
          <p:nvPr/>
        </p:nvSpPr>
        <p:spPr>
          <a:xfrm>
            <a:off x="8869680" y="3383280"/>
            <a:ext cx="457200" cy="45720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sp>
        <p:nvSpPr>
          <p:cNvPr id="23" name="!!Rótulo glucosa"/>
          <p:cNvSpPr txBox="1"/>
          <p:nvPr/>
        </p:nvSpPr>
        <p:spPr>
          <a:xfrm>
            <a:off x="9418320" y="164592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24" name="!!Rótulo cetonas"/>
          <p:cNvSpPr txBox="1"/>
          <p:nvPr/>
        </p:nvSpPr>
        <p:spPr>
          <a:xfrm>
            <a:off x="9418320" y="342900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C2185B"/>
                </a:solidFill>
                <a:latin typeface="Bahnschrift SemiBold Condensed"/>
                <a:ea typeface="Bahnschrift SemiBold Condensed"/>
                <a:cs typeface="Bahnschrift SemiBold Condensed"/>
                <a:sym typeface="Bahnschrift SemiBold Condensed"/>
              </a:rPr>
              <a:t>cetonas</a:t>
            </a:r>
            <a:endParaRPr lang="es-AR" sz="1200" dirty="0">
              <a:latin typeface="Bahnschrift SemiBold Condensed"/>
            </a:endParaRPr>
          </a:p>
        </p:txBody>
      </p:sp>
      <p:grpSp>
        <p:nvGrpSpPr>
          <p:cNvPr id="25" name="!!Leyenda niveles"/>
          <p:cNvGrpSpPr/>
          <p:nvPr/>
        </p:nvGrpSpPr>
        <p:grpSpPr>
          <a:xfrm>
            <a:off x="411480" y="5623560"/>
            <a:ext cx="7086600" cy="365760"/>
            <a:chOff x="411480" y="5623560"/>
            <a:chExt cx="7086600" cy="365760"/>
          </a:xfrm>
        </p:grpSpPr>
        <p:sp>
          <p:nvSpPr>
            <p:cNvPr id="26" name="Nivel 0"/>
            <p:cNvSpPr/>
            <p:nvPr/>
          </p:nvSpPr>
          <p:spPr>
            <a:xfrm>
              <a:off x="411480" y="5669280"/>
              <a:ext cx="320040" cy="274320"/>
            </a:xfrm>
            <a:prstGeom prst="roundRect">
              <a:avLst/>
            </a:prstGeom>
            <a:solidFill>
              <a:srgbClr val="E5E7E9"/>
            </a:solidFill>
            <a:ln w="15875" cap="rnd">
              <a:solidFill>
                <a:srgbClr val="95A5A6"/>
              </a:solidFill>
              <a:round/>
            </a:ln>
          </p:spPr>
        </p:sp>
        <p:sp>
          <p:nvSpPr>
            <p:cNvPr id="27" name="Forma 26"/>
            <p:cNvSpPr txBox="1"/>
            <p:nvPr/>
          </p:nvSpPr>
          <p:spPr>
            <a:xfrm>
              <a:off x="77724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inactiva</a:t>
              </a:r>
              <a:endParaRPr lang="es-AR" sz="1200" dirty="0">
                <a:latin typeface="Bahnschrift"/>
              </a:endParaRPr>
            </a:p>
          </p:txBody>
        </p:sp>
        <p:sp>
          <p:nvSpPr>
            <p:cNvPr id="28" name="Nivel 1"/>
            <p:cNvSpPr/>
            <p:nvPr/>
          </p:nvSpPr>
          <p:spPr>
            <a:xfrm>
              <a:off x="2194560" y="5669280"/>
              <a:ext cx="320040" cy="274320"/>
            </a:xfrm>
            <a:prstGeom prst="roundRect">
              <a:avLst/>
            </a:prstGeom>
            <a:solidFill>
              <a:srgbClr val="D5F5E3"/>
            </a:solidFill>
            <a:ln w="15875" cap="rnd">
              <a:solidFill>
                <a:srgbClr val="7DCEA0"/>
              </a:solidFill>
              <a:round/>
            </a:ln>
          </p:spPr>
        </p:sp>
        <p:sp>
          <p:nvSpPr>
            <p:cNvPr id="29" name="Forma 28"/>
            <p:cNvSpPr txBox="1"/>
            <p:nvPr/>
          </p:nvSpPr>
          <p:spPr>
            <a:xfrm>
              <a:off x="256032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baja</a:t>
              </a:r>
              <a:endParaRPr lang="es-AR" sz="1200" dirty="0">
                <a:latin typeface="Bahnschrift"/>
              </a:endParaRPr>
            </a:p>
          </p:txBody>
        </p:sp>
        <p:sp>
          <p:nvSpPr>
            <p:cNvPr id="30" name="Nivel 2"/>
            <p:cNvSpPr/>
            <p:nvPr/>
          </p:nvSpPr>
          <p:spPr>
            <a:xfrm>
              <a:off x="3977640" y="5669280"/>
              <a:ext cx="320040" cy="274320"/>
            </a:xfrm>
            <a:prstGeom prst="roundRect">
              <a:avLst/>
            </a:prstGeom>
            <a:solidFill>
              <a:srgbClr val="82E0AA"/>
            </a:solidFill>
            <a:ln w="15875" cap="rnd">
              <a:solidFill>
                <a:srgbClr val="1E8449"/>
              </a:solidFill>
              <a:round/>
            </a:ln>
          </p:spPr>
        </p:sp>
        <p:sp>
          <p:nvSpPr>
            <p:cNvPr id="31" name="Forma 30"/>
            <p:cNvSpPr txBox="1"/>
            <p:nvPr/>
          </p:nvSpPr>
          <p:spPr>
            <a:xfrm>
              <a:off x="434340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activa</a:t>
              </a:r>
              <a:endParaRPr lang="es-AR" sz="1200" dirty="0">
                <a:latin typeface="Bahnschrift"/>
              </a:endParaRPr>
            </a:p>
          </p:txBody>
        </p:sp>
        <p:sp>
          <p:nvSpPr>
            <p:cNvPr id="32" name="Nivel 3"/>
            <p:cNvSpPr/>
            <p:nvPr/>
          </p:nvSpPr>
          <p:spPr>
            <a:xfrm>
              <a:off x="5760720" y="5669280"/>
              <a:ext cx="320040" cy="274320"/>
            </a:xfrm>
            <a:prstGeom prst="roundRect">
              <a:avLst/>
            </a:prstGeom>
            <a:solidFill>
              <a:srgbClr val="1E8449"/>
            </a:solidFill>
            <a:ln w="15875" cap="rnd">
              <a:solidFill>
                <a:srgbClr val="0B5345"/>
              </a:solidFill>
              <a:round/>
            </a:ln>
          </p:spPr>
        </p:sp>
        <p:sp>
          <p:nvSpPr>
            <p:cNvPr id="33" name="Forma 32"/>
            <p:cNvSpPr txBox="1"/>
            <p:nvPr/>
          </p:nvSpPr>
          <p:spPr>
            <a:xfrm>
              <a:off x="612648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máxima</a:t>
              </a:r>
              <a:endParaRPr lang="es-AR" sz="1200" dirty="0">
                <a:latin typeface="Bahnschrift"/>
              </a:endParaRPr>
            </a:p>
          </p:txBody>
        </p:sp>
      </p:grpSp>
      <p:sp>
        <p:nvSpPr>
          <p:cNvPr id="34" name="!!Texto fase hígado"/>
          <p:cNvSpPr/>
          <p:nvPr/>
        </p:nvSpPr>
        <p:spPr>
          <a:xfrm>
            <a:off x="7863840" y="4160520"/>
            <a:ext cx="3931920" cy="2331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Ayuno temprano</a:t>
            </a:r>
            <a:r>
              <a:rPr lang="es-AR" sz="1600" dirty="0">
                <a:solidFill>
                  <a:srgbClr val="1E1E1E"/>
                </a:solidFill>
                <a:latin typeface="Bahnschrift"/>
                <a:ea typeface="Bahnschrift"/>
                <a:cs typeface="Bahnschrift"/>
                <a:sym typeface="Bahnschrift"/>
              </a:rPr>
              <a:t>: la glucogenólisis domina; PKA fosforila </a:t>
            </a:r>
            <a:r>
              <a:rPr lang="es-AR" sz="1600" b="1" dirty="0">
                <a:solidFill>
                  <a:srgbClr val="1E1E1E"/>
                </a:solidFill>
                <a:latin typeface="Bahnschrift"/>
                <a:ea typeface="Bahnschrift"/>
                <a:cs typeface="Bahnschrift"/>
                <a:sym typeface="Bahnschrift"/>
              </a:rPr>
              <a:t>PFK-2/FBPasa-2</a:t>
            </a:r>
            <a:r>
              <a:rPr lang="es-AR" sz="1600" dirty="0">
                <a:solidFill>
                  <a:srgbClr val="1E1E1E"/>
                </a:solidFill>
                <a:latin typeface="Bahnschrift"/>
                <a:ea typeface="Bahnschrift"/>
                <a:cs typeface="Bahnschrift"/>
                <a:sym typeface="Bahnschrift"/>
              </a:rPr>
              <a:t> → ↓ F2,6BP → ↓ glucólisis, ↑ gluconeogénesis. ↓ ACC/malonil-CoA → </a:t>
            </a:r>
            <a:r>
              <a:rPr lang="es-AR" sz="1600" b="1" dirty="0">
                <a:solidFill>
                  <a:srgbClr val="1E1E1E"/>
                </a:solidFill>
                <a:latin typeface="Bahnschrift"/>
                <a:ea typeface="Bahnschrift"/>
                <a:cs typeface="Bahnschrift"/>
                <a:sym typeface="Bahnschrift"/>
              </a:rPr>
              <a:t>CPT1 liberada</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35" name="!!Eje génico"/>
          <p:cNvSpPr/>
          <p:nvPr/>
        </p:nvSpPr>
        <p:spPr>
          <a:xfrm>
            <a:off x="274320" y="6035040"/>
            <a:ext cx="7269480" cy="457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dirty="0">
                <a:solidFill>
                  <a:srgbClr val="1E1E1E"/>
                </a:solidFill>
                <a:latin typeface="Bahnschrift"/>
                <a:ea typeface="Bahnschrift"/>
                <a:cs typeface="Bahnschrift"/>
                <a:sym typeface="Bahnschrift"/>
              </a:rPr>
              <a:t>Eje: glucagón → PKA (efectos covalentes rápidos) · insulina en descenso</a:t>
            </a:r>
            <a:endParaRPr lang="es-AR" sz="1250" dirty="0">
              <a:latin typeface="Bahnschrift"/>
            </a:endParaRPr>
          </a:p>
        </p:txBody>
      </p:sp>
      <p:grpSp>
        <p:nvGrpSpPr>
          <p:cNvPr id="36" name="!!Reloj hígado"/>
          <p:cNvGrpSpPr/>
          <p:nvPr/>
        </p:nvGrpSpPr>
        <p:grpSpPr>
          <a:xfrm>
            <a:off x="10881360" y="1097280"/>
            <a:ext cx="868680" cy="868680"/>
            <a:chOff x="10881360" y="1097280"/>
            <a:chExt cx="868680" cy="868680"/>
          </a:xfrm>
        </p:grpSpPr>
        <p:sp>
          <p:nvSpPr>
            <p:cNvPr id="37" name="Forma 36"/>
            <p:cNvSpPr/>
            <p:nvPr/>
          </p:nvSpPr>
          <p:spPr>
            <a:xfrm>
              <a:off x="10881360" y="1097280"/>
              <a:ext cx="868680" cy="86868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38" name="Flecha 37_2"/>
            <p:cNvSpPr/>
            <p:nvPr/>
          </p:nvSpPr>
          <p:spPr>
            <a:xfrm>
              <a:off x="11105056" y="1531620"/>
              <a:ext cx="210644" cy="121615"/>
            </a:xfrm>
            <a:custGeom>
              <a:avLst/>
              <a:gdLst/>
              <a:ahLst/>
              <a:cxnLst/>
              <a:rect l="0" t="0" r="r" b="b"/>
              <a:pathLst>
                <a:path w="230" h="133" fill="none">
                  <a:moveTo>
                    <a:pt x="230" y="0"/>
                  </a:moveTo>
                  <a:lnTo>
                    <a:pt x="0" y="133"/>
                  </a:lnTo>
                </a:path>
              </a:pathLst>
            </a:custGeom>
            <a:noFill/>
            <a:ln w="31750" cap="rnd">
              <a:solidFill>
                <a:srgbClr val="1E1E1E"/>
              </a:solidFill>
              <a:round/>
            </a:ln>
          </p:spPr>
        </p:sp>
        <p:sp>
          <p:nvSpPr>
            <p:cNvPr id="39" name="Flecha 39_2"/>
            <p:cNvSpPr/>
            <p:nvPr/>
          </p:nvSpPr>
          <p:spPr>
            <a:xfrm>
              <a:off x="11315700" y="1201522"/>
              <a:ext cx="9144" cy="330098"/>
            </a:xfrm>
            <a:custGeom>
              <a:avLst/>
              <a:gdLst/>
              <a:ahLst/>
              <a:cxnLst/>
              <a:rect l="0" t="0" r="r" b="b"/>
              <a:pathLst>
                <a:path w="10" h="360" fill="none">
                  <a:moveTo>
                    <a:pt x="0" y="360"/>
                  </a:moveTo>
                  <a:lnTo>
                    <a:pt x="0" y="0"/>
                  </a:lnTo>
                </a:path>
              </a:pathLst>
            </a:custGeom>
            <a:noFill/>
            <a:ln w="22225" cap="rnd">
              <a:solidFill>
                <a:srgbClr val="1E1E1E"/>
              </a:solidFill>
              <a:round/>
            </a:ln>
          </p:spPr>
        </p:sp>
      </p:grpSp>
      <p:sp>
        <p:nvSpPr>
          <p:cNvPr id="2" name="Etiqueta sección"/>
          <p:cNvSpPr/>
          <p:nvPr/>
        </p:nvSpPr>
        <p:spPr>
          <a:xfrm>
            <a:off x="9968582" y="201168"/>
            <a:ext cx="194879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TABLERO HEPÁTICO · 2/4</a:t>
            </a:r>
            <a:endParaRPr lang="es-AR" sz="1300" dirty="0">
              <a:latin typeface="Bahnschrift SemiBold Condensed"/>
            </a:endParaRPr>
          </a:p>
        </p:txBody>
      </p:sp>
      <p:sp>
        <p:nvSpPr>
          <p:cNvPr id="3" name="Título"/>
          <p:cNvSpPr/>
          <p:nvPr/>
        </p:nvSpPr>
        <p:spPr>
          <a:xfrm>
            <a:off x="274320" y="146304"/>
            <a:ext cx="554689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11 · HÍGADO: AYUNO TEMPRANO (≈4–12 h)</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77</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78.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Tablero hepatocito"/>
          <p:cNvSpPr/>
          <p:nvPr/>
        </p:nvSpPr>
        <p:spPr>
          <a:xfrm>
            <a:off x="274320" y="960120"/>
            <a:ext cx="7269480" cy="4572000"/>
          </a:xfrm>
          <a:prstGeom prst="roundRect">
            <a:avLst>
              <a:gd name="adj" fmla="val 8000"/>
            </a:avLst>
          </a:prstGeom>
          <a:solidFill>
            <a:srgbClr val="F5CBA7">
              <a:alpha val="70000"/>
            </a:srgbClr>
          </a:solidFill>
          <a:ln w="31750" cap="rnd">
            <a:solidFill>
              <a:srgbClr val="A04000"/>
            </a:solidFill>
            <a:round/>
          </a:ln>
          <a:effectLst>
            <a:outerShdw blurRad="63500" dist="38100" dir="2700000" algn="tl" rotWithShape="0">
              <a:srgbClr val="000000">
                <a:alpha val="32000"/>
              </a:srgbClr>
            </a:outerShdw>
          </a:effectLst>
        </p:spPr>
      </p:sp>
      <p:sp>
        <p:nvSpPr>
          <p:cNvPr id="5" name="!!Rótulo hepatocito"/>
          <p:cNvSpPr txBox="1"/>
          <p:nvPr/>
        </p:nvSpPr>
        <p:spPr>
          <a:xfrm>
            <a:off x="411480" y="100584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HEPATOCITO</a:t>
            </a:r>
            <a:endParaRPr lang="es-AR" sz="1300" dirty="0">
              <a:latin typeface="Bahnschrift SemiBold Condensed"/>
            </a:endParaRPr>
          </a:p>
        </p:txBody>
      </p:sp>
      <p:sp>
        <p:nvSpPr>
          <p:cNvPr id="6" name="!!Nodo ggn"/>
          <p:cNvSpPr/>
          <p:nvPr/>
        </p:nvSpPr>
        <p:spPr>
          <a:xfrm>
            <a:off x="685800" y="141732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Glucogenogénesis</a:t>
            </a:r>
            <a:endParaRPr lang="es-AR" sz="1400" dirty="0">
              <a:latin typeface="Bahnschrift SemiBold Condensed"/>
            </a:endParaRPr>
          </a:p>
        </p:txBody>
      </p:sp>
      <p:sp>
        <p:nvSpPr>
          <p:cNvPr id="7" name="!!Nodo ggl"/>
          <p:cNvSpPr/>
          <p:nvPr/>
        </p:nvSpPr>
        <p:spPr>
          <a:xfrm>
            <a:off x="2880360" y="141732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Glucogenólisis</a:t>
            </a:r>
            <a:endParaRPr lang="es-AR" sz="1400" dirty="0">
              <a:latin typeface="Bahnschrift SemiBold Condensed"/>
            </a:endParaRPr>
          </a:p>
        </p:txBody>
      </p:sp>
      <p:sp>
        <p:nvSpPr>
          <p:cNvPr id="8" name="!!Nodo glc"/>
          <p:cNvSpPr/>
          <p:nvPr/>
        </p:nvSpPr>
        <p:spPr>
          <a:xfrm>
            <a:off x="685800" y="237744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Glucólisis</a:t>
            </a:r>
            <a:endParaRPr lang="es-AR" sz="1400" dirty="0">
              <a:latin typeface="Bahnschrift SemiBold Condensed"/>
            </a:endParaRPr>
          </a:p>
        </p:txBody>
      </p:sp>
      <p:sp>
        <p:nvSpPr>
          <p:cNvPr id="9" name="!!Nodo gng"/>
          <p:cNvSpPr/>
          <p:nvPr/>
        </p:nvSpPr>
        <p:spPr>
          <a:xfrm>
            <a:off x="2880360" y="237744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Gluconeogénesis</a:t>
            </a:r>
            <a:endParaRPr lang="es-AR" sz="1400" dirty="0">
              <a:latin typeface="Bahnschrift SemiBold Condensed"/>
            </a:endParaRPr>
          </a:p>
        </p:txBody>
      </p:sp>
      <p:sp>
        <p:nvSpPr>
          <p:cNvPr id="10" name="!!Nodo ppp"/>
          <p:cNvSpPr/>
          <p:nvPr/>
        </p:nvSpPr>
        <p:spPr>
          <a:xfrm>
            <a:off x="5074920" y="141732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Vía de las pentosas</a:t>
            </a:r>
            <a:endParaRPr lang="es-AR" sz="1400" dirty="0">
              <a:latin typeface="Bahnschrift SemiBold Condensed"/>
            </a:endParaRPr>
          </a:p>
        </p:txBody>
      </p:sp>
      <p:sp>
        <p:nvSpPr>
          <p:cNvPr id="11" name="!!Nodo lip"/>
          <p:cNvSpPr/>
          <p:nvPr/>
        </p:nvSpPr>
        <p:spPr>
          <a:xfrm>
            <a:off x="685800" y="333756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Lipogénesis (ACC/FASN)</a:t>
            </a:r>
            <a:endParaRPr lang="es-AR" sz="1400" dirty="0">
              <a:latin typeface="Bahnschrift SemiBold Condensed"/>
            </a:endParaRPr>
          </a:p>
        </p:txBody>
      </p:sp>
      <p:sp>
        <p:nvSpPr>
          <p:cNvPr id="12" name="!!Nodo box"/>
          <p:cNvSpPr/>
          <p:nvPr/>
        </p:nvSpPr>
        <p:spPr>
          <a:xfrm>
            <a:off x="2880360" y="333756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β-oxidación</a:t>
            </a:r>
            <a:endParaRPr lang="es-AR" sz="1400" dirty="0">
              <a:latin typeface="Bahnschrift SemiBold Condensed"/>
            </a:endParaRPr>
          </a:p>
        </p:txBody>
      </p:sp>
      <p:sp>
        <p:nvSpPr>
          <p:cNvPr id="13" name="!!Nodo cet"/>
          <p:cNvSpPr/>
          <p:nvPr/>
        </p:nvSpPr>
        <p:spPr>
          <a:xfrm>
            <a:off x="5074920" y="333756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Cetogénesis</a:t>
            </a:r>
            <a:endParaRPr lang="es-AR" sz="1400" dirty="0">
              <a:latin typeface="Bahnschrift SemiBold Condensed"/>
            </a:endParaRPr>
          </a:p>
        </p:txBody>
      </p:sp>
      <p:sp>
        <p:nvSpPr>
          <p:cNvPr id="14" name="!!Nodo vldl"/>
          <p:cNvSpPr/>
          <p:nvPr/>
        </p:nvSpPr>
        <p:spPr>
          <a:xfrm>
            <a:off x="685800" y="429768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TAG / VLDL</a:t>
            </a:r>
            <a:endParaRPr lang="es-AR" sz="1400" dirty="0">
              <a:latin typeface="Bahnschrift SemiBold Condensed"/>
            </a:endParaRPr>
          </a:p>
        </p:txBody>
      </p:sp>
      <p:sp>
        <p:nvSpPr>
          <p:cNvPr id="15" name="!!Nodo urea"/>
          <p:cNvSpPr/>
          <p:nvPr/>
        </p:nvSpPr>
        <p:spPr>
          <a:xfrm>
            <a:off x="2880360" y="429768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Ureogénesis</a:t>
            </a:r>
            <a:endParaRPr lang="es-AR" sz="1400" dirty="0">
              <a:latin typeface="Bahnschrift SemiBold Condensed"/>
            </a:endParaRPr>
          </a:p>
        </p:txBody>
      </p:sp>
      <p:sp>
        <p:nvSpPr>
          <p:cNvPr id="16" name="!!Nodo prot"/>
          <p:cNvSpPr/>
          <p:nvPr/>
        </p:nvSpPr>
        <p:spPr>
          <a:xfrm>
            <a:off x="5074920" y="237744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proteica</a:t>
            </a:r>
            <a:endParaRPr lang="es-AR" sz="1400" dirty="0">
              <a:latin typeface="Bahnschrift SemiBold Condensed"/>
            </a:endParaRPr>
          </a:p>
        </p:txBody>
      </p:sp>
      <p:sp>
        <p:nvSpPr>
          <p:cNvPr id="17" name="!!Flecha glucosa"/>
          <p:cNvSpPr/>
          <p:nvPr/>
        </p:nvSpPr>
        <p:spPr>
          <a:xfrm>
            <a:off x="7589520" y="1828800"/>
            <a:ext cx="1188720" cy="9144"/>
          </a:xfrm>
          <a:custGeom>
            <a:avLst/>
            <a:gdLst/>
            <a:ahLst/>
            <a:cxnLst/>
            <a:rect l="0" t="0" r="r" b="b"/>
            <a:pathLst>
              <a:path w="1299" h="10" fill="none">
                <a:moveTo>
                  <a:pt x="0" y="0"/>
                </a:moveTo>
                <a:lnTo>
                  <a:pt x="1299" y="0"/>
                </a:lnTo>
              </a:path>
            </a:pathLst>
          </a:custGeom>
          <a:noFill/>
          <a:ln w="120650" cap="rnd">
            <a:solidFill>
              <a:srgbClr val="2563B0"/>
            </a:solidFill>
            <a:round/>
            <a:tailEnd type="triangle" w="med" len="med"/>
          </a:ln>
        </p:spPr>
      </p:sp>
      <p:sp>
        <p:nvSpPr>
          <p:cNvPr id="18" name="!!Ficha glucosa"/>
          <p:cNvSpPr/>
          <p:nvPr/>
        </p:nvSpPr>
        <p:spPr>
          <a:xfrm>
            <a:off x="8869680" y="16002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19" name="!!Flecha entrada glucosa"/>
          <p:cNvSpPr/>
          <p:nvPr/>
        </p:nvSpPr>
        <p:spPr>
          <a:xfrm>
            <a:off x="7589520" y="2651760"/>
            <a:ext cx="1188720" cy="9144"/>
          </a:xfrm>
          <a:custGeom>
            <a:avLst/>
            <a:gdLst/>
            <a:ahLst/>
            <a:cxnLst/>
            <a:rect l="0" t="0" r="r" b="b"/>
            <a:pathLst>
              <a:path w="1299" h="10" fill="none">
                <a:moveTo>
                  <a:pt x="1299" y="0"/>
                </a:moveTo>
                <a:lnTo>
                  <a:pt x="0" y="0"/>
                </a:lnTo>
              </a:path>
            </a:pathLst>
          </a:custGeom>
          <a:noFill/>
          <a:ln w="25400" cap="rnd">
            <a:solidFill>
              <a:srgbClr val="2563B0"/>
            </a:solidFill>
            <a:round/>
            <a:tailEnd type="triangle" w="med" len="med"/>
          </a:ln>
        </p:spPr>
      </p:sp>
      <p:sp>
        <p:nvSpPr>
          <p:cNvPr id="20" name="!!Rótulo captación"/>
          <p:cNvSpPr txBox="1"/>
          <p:nvPr/>
        </p:nvSpPr>
        <p:spPr>
          <a:xfrm>
            <a:off x="8823960" y="2468880"/>
            <a:ext cx="164592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captación</a:t>
            </a:r>
            <a:endParaRPr lang="es-AR" sz="1200" dirty="0">
              <a:latin typeface="Bahnschrift SemiBold Condensed"/>
            </a:endParaRPr>
          </a:p>
        </p:txBody>
      </p:sp>
      <p:sp>
        <p:nvSpPr>
          <p:cNvPr id="21" name="!!Flecha cetonas"/>
          <p:cNvSpPr/>
          <p:nvPr/>
        </p:nvSpPr>
        <p:spPr>
          <a:xfrm>
            <a:off x="7589520" y="3611880"/>
            <a:ext cx="1188720" cy="9144"/>
          </a:xfrm>
          <a:custGeom>
            <a:avLst/>
            <a:gdLst/>
            <a:ahLst/>
            <a:cxnLst/>
            <a:rect l="0" t="0" r="r" b="b"/>
            <a:pathLst>
              <a:path w="1299" h="10" fill="none">
                <a:moveTo>
                  <a:pt x="0" y="0"/>
                </a:moveTo>
                <a:lnTo>
                  <a:pt x="1299" y="0"/>
                </a:lnTo>
              </a:path>
            </a:pathLst>
          </a:custGeom>
          <a:noFill/>
          <a:ln w="82550" cap="rnd">
            <a:solidFill>
              <a:srgbClr val="C2185B"/>
            </a:solidFill>
            <a:round/>
            <a:tailEnd type="triangle" w="med" len="med"/>
          </a:ln>
        </p:spPr>
      </p:sp>
      <p:sp>
        <p:nvSpPr>
          <p:cNvPr id="22" name="!!Ficha cetonas"/>
          <p:cNvSpPr/>
          <p:nvPr/>
        </p:nvSpPr>
        <p:spPr>
          <a:xfrm>
            <a:off x="8869680" y="3383280"/>
            <a:ext cx="457200" cy="45720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sp>
        <p:nvSpPr>
          <p:cNvPr id="23" name="!!Rótulo glucosa"/>
          <p:cNvSpPr txBox="1"/>
          <p:nvPr/>
        </p:nvSpPr>
        <p:spPr>
          <a:xfrm>
            <a:off x="9418320" y="164592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24" name="!!Rótulo cetonas"/>
          <p:cNvSpPr txBox="1"/>
          <p:nvPr/>
        </p:nvSpPr>
        <p:spPr>
          <a:xfrm>
            <a:off x="9418320" y="342900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C2185B"/>
                </a:solidFill>
                <a:latin typeface="Bahnschrift SemiBold Condensed"/>
                <a:ea typeface="Bahnschrift SemiBold Condensed"/>
                <a:cs typeface="Bahnschrift SemiBold Condensed"/>
                <a:sym typeface="Bahnschrift SemiBold Condensed"/>
              </a:rPr>
              <a:t>cetonas</a:t>
            </a:r>
            <a:endParaRPr lang="es-AR" sz="1200" dirty="0">
              <a:latin typeface="Bahnschrift SemiBold Condensed"/>
            </a:endParaRPr>
          </a:p>
        </p:txBody>
      </p:sp>
      <p:grpSp>
        <p:nvGrpSpPr>
          <p:cNvPr id="25" name="!!Leyenda niveles"/>
          <p:cNvGrpSpPr/>
          <p:nvPr/>
        </p:nvGrpSpPr>
        <p:grpSpPr>
          <a:xfrm>
            <a:off x="411480" y="5623560"/>
            <a:ext cx="7086600" cy="365760"/>
            <a:chOff x="411480" y="5623560"/>
            <a:chExt cx="7086600" cy="365760"/>
          </a:xfrm>
        </p:grpSpPr>
        <p:sp>
          <p:nvSpPr>
            <p:cNvPr id="26" name="Nivel 0"/>
            <p:cNvSpPr/>
            <p:nvPr/>
          </p:nvSpPr>
          <p:spPr>
            <a:xfrm>
              <a:off x="411480" y="5669280"/>
              <a:ext cx="320040" cy="274320"/>
            </a:xfrm>
            <a:prstGeom prst="roundRect">
              <a:avLst/>
            </a:prstGeom>
            <a:solidFill>
              <a:srgbClr val="E5E7E9"/>
            </a:solidFill>
            <a:ln w="15875" cap="rnd">
              <a:solidFill>
                <a:srgbClr val="95A5A6"/>
              </a:solidFill>
              <a:round/>
            </a:ln>
          </p:spPr>
        </p:sp>
        <p:sp>
          <p:nvSpPr>
            <p:cNvPr id="27" name="Forma 26"/>
            <p:cNvSpPr txBox="1"/>
            <p:nvPr/>
          </p:nvSpPr>
          <p:spPr>
            <a:xfrm>
              <a:off x="77724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inactiva</a:t>
              </a:r>
              <a:endParaRPr lang="es-AR" sz="1200" dirty="0">
                <a:latin typeface="Bahnschrift"/>
              </a:endParaRPr>
            </a:p>
          </p:txBody>
        </p:sp>
        <p:sp>
          <p:nvSpPr>
            <p:cNvPr id="28" name="Nivel 1"/>
            <p:cNvSpPr/>
            <p:nvPr/>
          </p:nvSpPr>
          <p:spPr>
            <a:xfrm>
              <a:off x="2194560" y="5669280"/>
              <a:ext cx="320040" cy="274320"/>
            </a:xfrm>
            <a:prstGeom prst="roundRect">
              <a:avLst/>
            </a:prstGeom>
            <a:solidFill>
              <a:srgbClr val="D5F5E3"/>
            </a:solidFill>
            <a:ln w="15875" cap="rnd">
              <a:solidFill>
                <a:srgbClr val="7DCEA0"/>
              </a:solidFill>
              <a:round/>
            </a:ln>
          </p:spPr>
        </p:sp>
        <p:sp>
          <p:nvSpPr>
            <p:cNvPr id="29" name="Forma 28"/>
            <p:cNvSpPr txBox="1"/>
            <p:nvPr/>
          </p:nvSpPr>
          <p:spPr>
            <a:xfrm>
              <a:off x="256032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baja</a:t>
              </a:r>
              <a:endParaRPr lang="es-AR" sz="1200" dirty="0">
                <a:latin typeface="Bahnschrift"/>
              </a:endParaRPr>
            </a:p>
          </p:txBody>
        </p:sp>
        <p:sp>
          <p:nvSpPr>
            <p:cNvPr id="30" name="Nivel 2"/>
            <p:cNvSpPr/>
            <p:nvPr/>
          </p:nvSpPr>
          <p:spPr>
            <a:xfrm>
              <a:off x="3977640" y="5669280"/>
              <a:ext cx="320040" cy="274320"/>
            </a:xfrm>
            <a:prstGeom prst="roundRect">
              <a:avLst/>
            </a:prstGeom>
            <a:solidFill>
              <a:srgbClr val="82E0AA"/>
            </a:solidFill>
            <a:ln w="15875" cap="rnd">
              <a:solidFill>
                <a:srgbClr val="1E8449"/>
              </a:solidFill>
              <a:round/>
            </a:ln>
          </p:spPr>
        </p:sp>
        <p:sp>
          <p:nvSpPr>
            <p:cNvPr id="31" name="Forma 30"/>
            <p:cNvSpPr txBox="1"/>
            <p:nvPr/>
          </p:nvSpPr>
          <p:spPr>
            <a:xfrm>
              <a:off x="434340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activa</a:t>
              </a:r>
              <a:endParaRPr lang="es-AR" sz="1200" dirty="0">
                <a:latin typeface="Bahnschrift"/>
              </a:endParaRPr>
            </a:p>
          </p:txBody>
        </p:sp>
        <p:sp>
          <p:nvSpPr>
            <p:cNvPr id="32" name="Nivel 3"/>
            <p:cNvSpPr/>
            <p:nvPr/>
          </p:nvSpPr>
          <p:spPr>
            <a:xfrm>
              <a:off x="5760720" y="5669280"/>
              <a:ext cx="320040" cy="274320"/>
            </a:xfrm>
            <a:prstGeom prst="roundRect">
              <a:avLst/>
            </a:prstGeom>
            <a:solidFill>
              <a:srgbClr val="1E8449"/>
            </a:solidFill>
            <a:ln w="15875" cap="rnd">
              <a:solidFill>
                <a:srgbClr val="0B5345"/>
              </a:solidFill>
              <a:round/>
            </a:ln>
          </p:spPr>
        </p:sp>
        <p:sp>
          <p:nvSpPr>
            <p:cNvPr id="33" name="Forma 32"/>
            <p:cNvSpPr txBox="1"/>
            <p:nvPr/>
          </p:nvSpPr>
          <p:spPr>
            <a:xfrm>
              <a:off x="612648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máxima</a:t>
              </a:r>
              <a:endParaRPr lang="es-AR" sz="1200" dirty="0">
                <a:latin typeface="Bahnschrift"/>
              </a:endParaRPr>
            </a:p>
          </p:txBody>
        </p:sp>
      </p:grpSp>
      <p:sp>
        <p:nvSpPr>
          <p:cNvPr id="34" name="!!Texto fase hígado"/>
          <p:cNvSpPr/>
          <p:nvPr/>
        </p:nvSpPr>
        <p:spPr>
          <a:xfrm>
            <a:off x="7863840" y="4160520"/>
            <a:ext cx="3931920" cy="2331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12–48 h</a:t>
            </a:r>
            <a:r>
              <a:rPr lang="es-AR" sz="1600" dirty="0">
                <a:solidFill>
                  <a:srgbClr val="1E1E1E"/>
                </a:solidFill>
                <a:latin typeface="Bahnschrift"/>
                <a:ea typeface="Bahnschrift"/>
                <a:cs typeface="Bahnschrift"/>
                <a:sym typeface="Bahnschrift"/>
              </a:rPr>
              <a:t>: se intensifican gluconeogénesis, β-oxidación y cetogénesis; el glucógeno cae. AA y glicerol aportan carbonos; la </a:t>
            </a:r>
            <a:r>
              <a:rPr lang="es-AR" sz="1600" b="1" dirty="0">
                <a:solidFill>
                  <a:srgbClr val="1E1E1E"/>
                </a:solidFill>
                <a:latin typeface="Bahnschrift"/>
                <a:ea typeface="Bahnschrift"/>
                <a:cs typeface="Bahnschrift"/>
                <a:sym typeface="Bahnschrift"/>
              </a:rPr>
              <a:t>urea suele aumentar</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35" name="!!Eje génico"/>
          <p:cNvSpPr/>
          <p:nvPr/>
        </p:nvSpPr>
        <p:spPr>
          <a:xfrm>
            <a:off x="274320" y="6035040"/>
            <a:ext cx="7269480" cy="457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dirty="0">
                <a:solidFill>
                  <a:srgbClr val="1E1E1E"/>
                </a:solidFill>
                <a:latin typeface="Bahnschrift"/>
                <a:ea typeface="Bahnschrift"/>
                <a:cs typeface="Bahnschrift"/>
                <a:sym typeface="Bahnschrift"/>
              </a:rPr>
              <a:t>Eje: CREB/CRTC2 + FOXO1 nuclear → PCK1, G6PC · PPARα → oxidación y cetogénesis</a:t>
            </a:r>
            <a:endParaRPr lang="es-AR" sz="1250" dirty="0">
              <a:latin typeface="Bahnschrift"/>
            </a:endParaRPr>
          </a:p>
        </p:txBody>
      </p:sp>
      <p:grpSp>
        <p:nvGrpSpPr>
          <p:cNvPr id="36" name="!!Reloj hígado"/>
          <p:cNvGrpSpPr/>
          <p:nvPr/>
        </p:nvGrpSpPr>
        <p:grpSpPr>
          <a:xfrm>
            <a:off x="10881360" y="1097280"/>
            <a:ext cx="868680" cy="868680"/>
            <a:chOff x="10881360" y="1097280"/>
            <a:chExt cx="868680" cy="868680"/>
          </a:xfrm>
        </p:grpSpPr>
        <p:sp>
          <p:nvSpPr>
            <p:cNvPr id="37" name="Forma 36"/>
            <p:cNvSpPr/>
            <p:nvPr/>
          </p:nvSpPr>
          <p:spPr>
            <a:xfrm>
              <a:off x="10881360" y="1097280"/>
              <a:ext cx="868680" cy="86868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38" name="Flecha 37_2"/>
            <p:cNvSpPr/>
            <p:nvPr/>
          </p:nvSpPr>
          <p:spPr>
            <a:xfrm>
              <a:off x="11315700" y="1288390"/>
              <a:ext cx="9144" cy="243230"/>
            </a:xfrm>
            <a:custGeom>
              <a:avLst/>
              <a:gdLst/>
              <a:ahLst/>
              <a:cxnLst/>
              <a:rect l="0" t="0" r="r" b="b"/>
              <a:pathLst>
                <a:path w="10" h="266" fill="none">
                  <a:moveTo>
                    <a:pt x="0" y="266"/>
                  </a:moveTo>
                  <a:lnTo>
                    <a:pt x="0" y="0"/>
                  </a:lnTo>
                </a:path>
              </a:pathLst>
            </a:custGeom>
            <a:noFill/>
            <a:ln w="31750" cap="rnd">
              <a:solidFill>
                <a:srgbClr val="1E1E1E"/>
              </a:solidFill>
              <a:round/>
            </a:ln>
          </p:spPr>
        </p:sp>
        <p:sp>
          <p:nvSpPr>
            <p:cNvPr id="39" name="Flecha 39_2"/>
            <p:cNvSpPr/>
            <p:nvPr/>
          </p:nvSpPr>
          <p:spPr>
            <a:xfrm>
              <a:off x="11315700" y="1201522"/>
              <a:ext cx="9144" cy="330098"/>
            </a:xfrm>
            <a:custGeom>
              <a:avLst/>
              <a:gdLst/>
              <a:ahLst/>
              <a:cxnLst/>
              <a:rect l="0" t="0" r="r" b="b"/>
              <a:pathLst>
                <a:path w="10" h="360" fill="none">
                  <a:moveTo>
                    <a:pt x="0" y="360"/>
                  </a:moveTo>
                  <a:lnTo>
                    <a:pt x="0" y="0"/>
                  </a:lnTo>
                </a:path>
              </a:pathLst>
            </a:custGeom>
            <a:noFill/>
            <a:ln w="22225" cap="rnd">
              <a:solidFill>
                <a:srgbClr val="1E1E1E"/>
              </a:solidFill>
              <a:round/>
            </a:ln>
          </p:spPr>
        </p:sp>
      </p:grpSp>
      <p:sp>
        <p:nvSpPr>
          <p:cNvPr id="2" name="Etiqueta sección"/>
          <p:cNvSpPr/>
          <p:nvPr/>
        </p:nvSpPr>
        <p:spPr>
          <a:xfrm>
            <a:off x="9969452" y="201168"/>
            <a:ext cx="194792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TABLERO HEPÁTICO · 3/4</a:t>
            </a:r>
            <a:endParaRPr lang="es-AR" sz="1300" dirty="0">
              <a:latin typeface="Bahnschrift SemiBold Condensed"/>
            </a:endParaRPr>
          </a:p>
        </p:txBody>
      </p:sp>
      <p:sp>
        <p:nvSpPr>
          <p:cNvPr id="3" name="Título"/>
          <p:cNvSpPr/>
          <p:nvPr/>
        </p:nvSpPr>
        <p:spPr>
          <a:xfrm>
            <a:off x="274320" y="146304"/>
            <a:ext cx="424100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11 · HÍGADO: AYUNO DE 12–48 h</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78</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sp>
        <p:nvSpPr>
          <p:cNvPr id="4" name="!!Tablero hepatocito"/>
          <p:cNvSpPr/>
          <p:nvPr/>
        </p:nvSpPr>
        <p:spPr>
          <a:xfrm>
            <a:off x="274320" y="960120"/>
            <a:ext cx="7269480" cy="4572000"/>
          </a:xfrm>
          <a:prstGeom prst="roundRect">
            <a:avLst>
              <a:gd name="adj" fmla="val 8000"/>
            </a:avLst>
          </a:prstGeom>
          <a:solidFill>
            <a:srgbClr val="F5CBA7">
              <a:alpha val="70000"/>
            </a:srgbClr>
          </a:solidFill>
          <a:ln w="31750" cap="rnd">
            <a:solidFill>
              <a:srgbClr val="A04000"/>
            </a:solidFill>
            <a:round/>
          </a:ln>
          <a:effectLst>
            <a:outerShdw blurRad="63500" dist="38100" dir="2700000" algn="tl" rotWithShape="0">
              <a:srgbClr val="000000">
                <a:alpha val="32000"/>
              </a:srgbClr>
            </a:outerShdw>
          </a:effectLst>
        </p:spPr>
      </p:sp>
      <p:sp>
        <p:nvSpPr>
          <p:cNvPr id="5" name="!!Rótulo hepatocito"/>
          <p:cNvSpPr txBox="1"/>
          <p:nvPr/>
        </p:nvSpPr>
        <p:spPr>
          <a:xfrm>
            <a:off x="411480" y="100584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7A3B12"/>
                </a:solidFill>
                <a:latin typeface="Bahnschrift SemiBold Condensed"/>
                <a:ea typeface="Bahnschrift SemiBold Condensed"/>
                <a:cs typeface="Bahnschrift SemiBold Condensed"/>
                <a:sym typeface="Bahnschrift SemiBold Condensed"/>
              </a:rPr>
              <a:t>HEPATOCITO</a:t>
            </a:r>
            <a:endParaRPr lang="es-AR" sz="1300" dirty="0">
              <a:latin typeface="Bahnschrift SemiBold Condensed"/>
            </a:endParaRPr>
          </a:p>
        </p:txBody>
      </p:sp>
      <p:sp>
        <p:nvSpPr>
          <p:cNvPr id="6" name="!!Nodo ggn"/>
          <p:cNvSpPr/>
          <p:nvPr/>
        </p:nvSpPr>
        <p:spPr>
          <a:xfrm>
            <a:off x="685800" y="141732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Glucogenogénesis</a:t>
            </a:r>
            <a:endParaRPr lang="es-AR" sz="1400" dirty="0">
              <a:latin typeface="Bahnschrift SemiBold Condensed"/>
            </a:endParaRPr>
          </a:p>
        </p:txBody>
      </p:sp>
      <p:sp>
        <p:nvSpPr>
          <p:cNvPr id="7" name="!!Nodo ggl"/>
          <p:cNvSpPr/>
          <p:nvPr/>
        </p:nvSpPr>
        <p:spPr>
          <a:xfrm>
            <a:off x="2880360" y="141732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Glucogenólisis</a:t>
            </a:r>
            <a:endParaRPr lang="es-AR" sz="1400" dirty="0">
              <a:latin typeface="Bahnschrift SemiBold Condensed"/>
            </a:endParaRPr>
          </a:p>
        </p:txBody>
      </p:sp>
      <p:sp>
        <p:nvSpPr>
          <p:cNvPr id="8" name="!!Nodo glc"/>
          <p:cNvSpPr/>
          <p:nvPr/>
        </p:nvSpPr>
        <p:spPr>
          <a:xfrm>
            <a:off x="685800" y="237744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Glucólisis</a:t>
            </a:r>
            <a:endParaRPr lang="es-AR" sz="1400" dirty="0">
              <a:latin typeface="Bahnschrift SemiBold Condensed"/>
            </a:endParaRPr>
          </a:p>
        </p:txBody>
      </p:sp>
      <p:sp>
        <p:nvSpPr>
          <p:cNvPr id="9" name="!!Nodo gng"/>
          <p:cNvSpPr/>
          <p:nvPr/>
        </p:nvSpPr>
        <p:spPr>
          <a:xfrm>
            <a:off x="2880360" y="2377440"/>
            <a:ext cx="2057400" cy="731520"/>
          </a:xfrm>
          <a:prstGeom prst="roundRect">
            <a:avLst>
              <a:gd name="adj" fmla="val 20000"/>
            </a:avLst>
          </a:prstGeom>
          <a:solidFill>
            <a:srgbClr val="82E0AA"/>
          </a:solidFill>
          <a:ln w="3175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Gluconeogénesis</a:t>
            </a:r>
            <a:endParaRPr lang="es-AR" sz="1400" dirty="0">
              <a:latin typeface="Bahnschrift SemiBold Condensed"/>
            </a:endParaRPr>
          </a:p>
        </p:txBody>
      </p:sp>
      <p:sp>
        <p:nvSpPr>
          <p:cNvPr id="10" name="!!Nodo ppp"/>
          <p:cNvSpPr/>
          <p:nvPr/>
        </p:nvSpPr>
        <p:spPr>
          <a:xfrm>
            <a:off x="5074920" y="141732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Vía de las pentosas</a:t>
            </a:r>
            <a:endParaRPr lang="es-AR" sz="1400" dirty="0">
              <a:latin typeface="Bahnschrift SemiBold Condensed"/>
            </a:endParaRPr>
          </a:p>
        </p:txBody>
      </p:sp>
      <p:sp>
        <p:nvSpPr>
          <p:cNvPr id="11" name="!!Nodo lip"/>
          <p:cNvSpPr/>
          <p:nvPr/>
        </p:nvSpPr>
        <p:spPr>
          <a:xfrm>
            <a:off x="685800" y="3337560"/>
            <a:ext cx="2057400" cy="731520"/>
          </a:xfrm>
          <a:prstGeom prst="roundRect">
            <a:avLst>
              <a:gd name="adj" fmla="val 20000"/>
            </a:avLst>
          </a:prstGeom>
          <a:solidFill>
            <a:srgbClr val="E5E7E9"/>
          </a:solidFill>
          <a:ln w="15875" cap="rnd">
            <a:solidFill>
              <a:srgbClr val="95A5A6"/>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Lipogénesis (ACC/FASN)</a:t>
            </a:r>
            <a:endParaRPr lang="es-AR" sz="1400" dirty="0">
              <a:latin typeface="Bahnschrift SemiBold Condensed"/>
            </a:endParaRPr>
          </a:p>
        </p:txBody>
      </p:sp>
      <p:sp>
        <p:nvSpPr>
          <p:cNvPr id="12" name="!!Nodo box"/>
          <p:cNvSpPr/>
          <p:nvPr/>
        </p:nvSpPr>
        <p:spPr>
          <a:xfrm>
            <a:off x="2880360" y="333756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β-oxidación</a:t>
            </a:r>
            <a:endParaRPr lang="es-AR" sz="1400" dirty="0">
              <a:latin typeface="Bahnschrift SemiBold Condensed"/>
            </a:endParaRPr>
          </a:p>
        </p:txBody>
      </p:sp>
      <p:sp>
        <p:nvSpPr>
          <p:cNvPr id="13" name="!!Nodo cet"/>
          <p:cNvSpPr/>
          <p:nvPr/>
        </p:nvSpPr>
        <p:spPr>
          <a:xfrm>
            <a:off x="5074920" y="3337560"/>
            <a:ext cx="2057400" cy="731520"/>
          </a:xfrm>
          <a:prstGeom prst="roundRect">
            <a:avLst>
              <a:gd name="adj" fmla="val 20000"/>
            </a:avLst>
          </a:prstGeom>
          <a:solidFill>
            <a:srgbClr val="1E8449"/>
          </a:solidFill>
          <a:ln w="31750" cap="rnd">
            <a:solidFill>
              <a:srgbClr val="0B5345"/>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FFFFFF"/>
                </a:solidFill>
                <a:latin typeface="Bahnschrift SemiBold Condensed"/>
                <a:ea typeface="Bahnschrift SemiBold Condensed"/>
                <a:cs typeface="Bahnschrift SemiBold Condensed"/>
                <a:sym typeface="Bahnschrift SemiBold Condensed"/>
              </a:rPr>
              <a:t>Cetogénesis</a:t>
            </a:r>
            <a:endParaRPr lang="es-AR" sz="1400" dirty="0">
              <a:latin typeface="Bahnschrift SemiBold Condensed"/>
            </a:endParaRPr>
          </a:p>
        </p:txBody>
      </p:sp>
      <p:sp>
        <p:nvSpPr>
          <p:cNvPr id="14" name="!!Nodo vldl"/>
          <p:cNvSpPr/>
          <p:nvPr/>
        </p:nvSpPr>
        <p:spPr>
          <a:xfrm>
            <a:off x="685800" y="429768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TAG / VLDL</a:t>
            </a:r>
            <a:endParaRPr lang="es-AR" sz="1400" dirty="0">
              <a:latin typeface="Bahnschrift SemiBold Condensed"/>
            </a:endParaRPr>
          </a:p>
        </p:txBody>
      </p:sp>
      <p:sp>
        <p:nvSpPr>
          <p:cNvPr id="15" name="!!Nodo urea"/>
          <p:cNvSpPr/>
          <p:nvPr/>
        </p:nvSpPr>
        <p:spPr>
          <a:xfrm>
            <a:off x="2880360" y="429768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Ureogénesis</a:t>
            </a:r>
            <a:endParaRPr lang="es-AR" sz="1400" dirty="0">
              <a:latin typeface="Bahnschrift SemiBold Condensed"/>
            </a:endParaRPr>
          </a:p>
        </p:txBody>
      </p:sp>
      <p:sp>
        <p:nvSpPr>
          <p:cNvPr id="16" name="!!Nodo prot"/>
          <p:cNvSpPr/>
          <p:nvPr/>
        </p:nvSpPr>
        <p:spPr>
          <a:xfrm>
            <a:off x="5074920" y="2377440"/>
            <a:ext cx="2057400" cy="731520"/>
          </a:xfrm>
          <a:prstGeom prst="roundRect">
            <a:avLst>
              <a:gd name="adj" fmla="val 20000"/>
            </a:avLst>
          </a:prstGeom>
          <a:solidFill>
            <a:srgbClr val="D5F5E3"/>
          </a:solidFill>
          <a:ln w="15875" cap="rnd">
            <a:solidFill>
              <a:srgbClr val="7DCEA0"/>
            </a:solidFill>
            <a:round/>
          </a:ln>
        </p:spPr>
        <p:txBody>
          <a:bodyPr wrap="square" lIns="73152" tIns="45720" rIns="73152" bIns="45720" anchor="ctr" rtlCol="0">
            <a:noAutofit/>
          </a:bodyPr>
          <a:lstStyle/>
          <a:p>
            <a:pPr algn="ctr">
              <a:spcAft>
                <a:spcPts val="300"/>
              </a:spcAft>
              <a:buNone/>
            </a:pPr>
            <a:r>
              <a:rPr lang="es-AR" sz="1400" dirty="0">
                <a:solidFill>
                  <a:srgbClr val="1E1E1E"/>
                </a:solidFill>
                <a:latin typeface="Bahnschrift SemiBold Condensed"/>
                <a:ea typeface="Bahnschrift SemiBold Condensed"/>
                <a:cs typeface="Bahnschrift SemiBold Condensed"/>
                <a:sym typeface="Bahnschrift SemiBold Condensed"/>
              </a:rPr>
              <a:t>Síntesis proteica</a:t>
            </a:r>
            <a:endParaRPr lang="es-AR" sz="1400" dirty="0">
              <a:latin typeface="Bahnschrift SemiBold Condensed"/>
            </a:endParaRPr>
          </a:p>
        </p:txBody>
      </p:sp>
      <p:sp>
        <p:nvSpPr>
          <p:cNvPr id="17" name="!!Flecha glucosa"/>
          <p:cNvSpPr/>
          <p:nvPr/>
        </p:nvSpPr>
        <p:spPr>
          <a:xfrm>
            <a:off x="7589520" y="1828800"/>
            <a:ext cx="1188720" cy="9144"/>
          </a:xfrm>
          <a:custGeom>
            <a:avLst/>
            <a:gdLst/>
            <a:ahLst/>
            <a:cxnLst/>
            <a:rect l="0" t="0" r="r" b="b"/>
            <a:pathLst>
              <a:path w="1299" h="10" fill="none">
                <a:moveTo>
                  <a:pt x="0" y="0"/>
                </a:moveTo>
                <a:lnTo>
                  <a:pt x="1299" y="0"/>
                </a:lnTo>
              </a:path>
            </a:pathLst>
          </a:custGeom>
          <a:noFill/>
          <a:ln w="82550" cap="rnd">
            <a:solidFill>
              <a:srgbClr val="2563B0"/>
            </a:solidFill>
            <a:round/>
            <a:tailEnd type="triangle" w="med" len="med"/>
          </a:ln>
        </p:spPr>
      </p:sp>
      <p:sp>
        <p:nvSpPr>
          <p:cNvPr id="18" name="!!Ficha glucosa"/>
          <p:cNvSpPr/>
          <p:nvPr/>
        </p:nvSpPr>
        <p:spPr>
          <a:xfrm>
            <a:off x="8869680" y="160020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19" name="!!Flecha entrada glucosa"/>
          <p:cNvSpPr/>
          <p:nvPr/>
        </p:nvSpPr>
        <p:spPr>
          <a:xfrm>
            <a:off x="7589520" y="2651760"/>
            <a:ext cx="1188720" cy="9144"/>
          </a:xfrm>
          <a:custGeom>
            <a:avLst/>
            <a:gdLst/>
            <a:ahLst/>
            <a:cxnLst/>
            <a:rect l="0" t="0" r="r" b="b"/>
            <a:pathLst>
              <a:path w="1299" h="10" fill="none">
                <a:moveTo>
                  <a:pt x="1299" y="0"/>
                </a:moveTo>
                <a:lnTo>
                  <a:pt x="0" y="0"/>
                </a:lnTo>
              </a:path>
            </a:pathLst>
          </a:custGeom>
          <a:noFill/>
          <a:ln w="25400" cap="rnd">
            <a:solidFill>
              <a:srgbClr val="2563B0"/>
            </a:solidFill>
            <a:round/>
            <a:tailEnd type="triangle" w="med" len="med"/>
          </a:ln>
        </p:spPr>
      </p:sp>
      <p:sp>
        <p:nvSpPr>
          <p:cNvPr id="20" name="!!Rótulo captación"/>
          <p:cNvSpPr txBox="1"/>
          <p:nvPr/>
        </p:nvSpPr>
        <p:spPr>
          <a:xfrm>
            <a:off x="8823960" y="2468880"/>
            <a:ext cx="164592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captación</a:t>
            </a:r>
            <a:endParaRPr lang="es-AR" sz="1200" dirty="0">
              <a:latin typeface="Bahnschrift SemiBold Condensed"/>
            </a:endParaRPr>
          </a:p>
        </p:txBody>
      </p:sp>
      <p:sp>
        <p:nvSpPr>
          <p:cNvPr id="21" name="!!Flecha cetonas"/>
          <p:cNvSpPr/>
          <p:nvPr/>
        </p:nvSpPr>
        <p:spPr>
          <a:xfrm>
            <a:off x="7589520" y="3611880"/>
            <a:ext cx="1188720" cy="9144"/>
          </a:xfrm>
          <a:custGeom>
            <a:avLst/>
            <a:gdLst/>
            <a:ahLst/>
            <a:cxnLst/>
            <a:rect l="0" t="0" r="r" b="b"/>
            <a:pathLst>
              <a:path w="1299" h="10" fill="none">
                <a:moveTo>
                  <a:pt x="0" y="0"/>
                </a:moveTo>
                <a:lnTo>
                  <a:pt x="1299" y="0"/>
                </a:lnTo>
              </a:path>
            </a:pathLst>
          </a:custGeom>
          <a:noFill/>
          <a:ln w="120650" cap="rnd">
            <a:solidFill>
              <a:srgbClr val="C2185B"/>
            </a:solidFill>
            <a:round/>
            <a:tailEnd type="triangle" w="med" len="med"/>
          </a:ln>
        </p:spPr>
      </p:sp>
      <p:sp>
        <p:nvSpPr>
          <p:cNvPr id="22" name="!!Ficha cetonas"/>
          <p:cNvSpPr/>
          <p:nvPr/>
        </p:nvSpPr>
        <p:spPr>
          <a:xfrm>
            <a:off x="8869680" y="3383280"/>
            <a:ext cx="457200" cy="45720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sp>
        <p:nvSpPr>
          <p:cNvPr id="23" name="!!Rótulo glucosa"/>
          <p:cNvSpPr txBox="1"/>
          <p:nvPr/>
        </p:nvSpPr>
        <p:spPr>
          <a:xfrm>
            <a:off x="9418320" y="164592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24" name="!!Rótulo cetonas"/>
          <p:cNvSpPr txBox="1"/>
          <p:nvPr/>
        </p:nvSpPr>
        <p:spPr>
          <a:xfrm>
            <a:off x="9418320" y="3429000"/>
            <a:ext cx="1097280" cy="36576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C2185B"/>
                </a:solidFill>
                <a:latin typeface="Bahnschrift SemiBold Condensed"/>
                <a:ea typeface="Bahnschrift SemiBold Condensed"/>
                <a:cs typeface="Bahnschrift SemiBold Condensed"/>
                <a:sym typeface="Bahnschrift SemiBold Condensed"/>
              </a:rPr>
              <a:t>cetonas</a:t>
            </a:r>
            <a:endParaRPr lang="es-AR" sz="1200" dirty="0">
              <a:latin typeface="Bahnschrift SemiBold Condensed"/>
            </a:endParaRPr>
          </a:p>
        </p:txBody>
      </p:sp>
      <p:grpSp>
        <p:nvGrpSpPr>
          <p:cNvPr id="25" name="!!Leyenda niveles"/>
          <p:cNvGrpSpPr/>
          <p:nvPr/>
        </p:nvGrpSpPr>
        <p:grpSpPr>
          <a:xfrm>
            <a:off x="411480" y="5623560"/>
            <a:ext cx="7086600" cy="365760"/>
            <a:chOff x="411480" y="5623560"/>
            <a:chExt cx="7086600" cy="365760"/>
          </a:xfrm>
        </p:grpSpPr>
        <p:sp>
          <p:nvSpPr>
            <p:cNvPr id="26" name="Nivel 0"/>
            <p:cNvSpPr/>
            <p:nvPr/>
          </p:nvSpPr>
          <p:spPr>
            <a:xfrm>
              <a:off x="411480" y="5669280"/>
              <a:ext cx="320040" cy="274320"/>
            </a:xfrm>
            <a:prstGeom prst="roundRect">
              <a:avLst/>
            </a:prstGeom>
            <a:solidFill>
              <a:srgbClr val="E5E7E9"/>
            </a:solidFill>
            <a:ln w="15875" cap="rnd">
              <a:solidFill>
                <a:srgbClr val="95A5A6"/>
              </a:solidFill>
              <a:round/>
            </a:ln>
          </p:spPr>
        </p:sp>
        <p:sp>
          <p:nvSpPr>
            <p:cNvPr id="27" name="Forma 26"/>
            <p:cNvSpPr txBox="1"/>
            <p:nvPr/>
          </p:nvSpPr>
          <p:spPr>
            <a:xfrm>
              <a:off x="77724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inactiva</a:t>
              </a:r>
              <a:endParaRPr lang="es-AR" sz="1200" dirty="0">
                <a:latin typeface="Bahnschrift"/>
              </a:endParaRPr>
            </a:p>
          </p:txBody>
        </p:sp>
        <p:sp>
          <p:nvSpPr>
            <p:cNvPr id="28" name="Nivel 1"/>
            <p:cNvSpPr/>
            <p:nvPr/>
          </p:nvSpPr>
          <p:spPr>
            <a:xfrm>
              <a:off x="2194560" y="5669280"/>
              <a:ext cx="320040" cy="274320"/>
            </a:xfrm>
            <a:prstGeom prst="roundRect">
              <a:avLst/>
            </a:prstGeom>
            <a:solidFill>
              <a:srgbClr val="D5F5E3"/>
            </a:solidFill>
            <a:ln w="15875" cap="rnd">
              <a:solidFill>
                <a:srgbClr val="7DCEA0"/>
              </a:solidFill>
              <a:round/>
            </a:ln>
          </p:spPr>
        </p:sp>
        <p:sp>
          <p:nvSpPr>
            <p:cNvPr id="29" name="Forma 28"/>
            <p:cNvSpPr txBox="1"/>
            <p:nvPr/>
          </p:nvSpPr>
          <p:spPr>
            <a:xfrm>
              <a:off x="256032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baja</a:t>
              </a:r>
              <a:endParaRPr lang="es-AR" sz="1200" dirty="0">
                <a:latin typeface="Bahnschrift"/>
              </a:endParaRPr>
            </a:p>
          </p:txBody>
        </p:sp>
        <p:sp>
          <p:nvSpPr>
            <p:cNvPr id="30" name="Nivel 2"/>
            <p:cNvSpPr/>
            <p:nvPr/>
          </p:nvSpPr>
          <p:spPr>
            <a:xfrm>
              <a:off x="3977640" y="5669280"/>
              <a:ext cx="320040" cy="274320"/>
            </a:xfrm>
            <a:prstGeom prst="roundRect">
              <a:avLst/>
            </a:prstGeom>
            <a:solidFill>
              <a:srgbClr val="82E0AA"/>
            </a:solidFill>
            <a:ln w="15875" cap="rnd">
              <a:solidFill>
                <a:srgbClr val="1E8449"/>
              </a:solidFill>
              <a:round/>
            </a:ln>
          </p:spPr>
        </p:sp>
        <p:sp>
          <p:nvSpPr>
            <p:cNvPr id="31" name="Forma 30"/>
            <p:cNvSpPr txBox="1"/>
            <p:nvPr/>
          </p:nvSpPr>
          <p:spPr>
            <a:xfrm>
              <a:off x="434340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activa</a:t>
              </a:r>
              <a:endParaRPr lang="es-AR" sz="1200" dirty="0">
                <a:latin typeface="Bahnschrift"/>
              </a:endParaRPr>
            </a:p>
          </p:txBody>
        </p:sp>
        <p:sp>
          <p:nvSpPr>
            <p:cNvPr id="32" name="Nivel 3"/>
            <p:cNvSpPr/>
            <p:nvPr/>
          </p:nvSpPr>
          <p:spPr>
            <a:xfrm>
              <a:off x="5760720" y="5669280"/>
              <a:ext cx="320040" cy="274320"/>
            </a:xfrm>
            <a:prstGeom prst="roundRect">
              <a:avLst/>
            </a:prstGeom>
            <a:solidFill>
              <a:srgbClr val="1E8449"/>
            </a:solidFill>
            <a:ln w="15875" cap="rnd">
              <a:solidFill>
                <a:srgbClr val="0B5345"/>
              </a:solidFill>
              <a:round/>
            </a:ln>
          </p:spPr>
        </p:sp>
        <p:sp>
          <p:nvSpPr>
            <p:cNvPr id="33" name="Forma 32"/>
            <p:cNvSpPr txBox="1"/>
            <p:nvPr/>
          </p:nvSpPr>
          <p:spPr>
            <a:xfrm>
              <a:off x="6126480" y="5623560"/>
              <a:ext cx="137160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máxima</a:t>
              </a:r>
              <a:endParaRPr lang="es-AR" sz="1200" dirty="0">
                <a:latin typeface="Bahnschrift"/>
              </a:endParaRPr>
            </a:p>
          </p:txBody>
        </p:sp>
      </p:grpSp>
      <p:sp>
        <p:nvSpPr>
          <p:cNvPr id="34" name="!!Texto fase hígado"/>
          <p:cNvSpPr/>
          <p:nvPr/>
        </p:nvSpPr>
        <p:spPr>
          <a:xfrm>
            <a:off x="7863840" y="4160520"/>
            <a:ext cx="3931920" cy="2331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&gt;3 días</a:t>
            </a:r>
            <a:r>
              <a:rPr lang="es-AR" sz="1600" dirty="0">
                <a:solidFill>
                  <a:srgbClr val="1E1E1E"/>
                </a:solidFill>
                <a:latin typeface="Bahnschrift"/>
                <a:ea typeface="Bahnschrift"/>
                <a:cs typeface="Bahnschrift"/>
                <a:sym typeface="Bahnschrift"/>
              </a:rPr>
              <a:t>: cetogénesis sostenida; el SNC requiere menos glucosa; cambia el sustrato gluconeogénico y el </a:t>
            </a:r>
            <a:r>
              <a:rPr lang="es-AR" sz="1600" b="1" dirty="0">
                <a:solidFill>
                  <a:srgbClr val="1E1E1E"/>
                </a:solidFill>
                <a:latin typeface="Bahnschrift"/>
                <a:ea typeface="Bahnschrift"/>
                <a:cs typeface="Bahnschrift"/>
                <a:sym typeface="Bahnschrift"/>
              </a:rPr>
              <a:t>riñón colabora más</a:t>
            </a:r>
            <a:r>
              <a:rPr lang="es-AR" sz="1600" dirty="0">
                <a:solidFill>
                  <a:srgbClr val="1E1E1E"/>
                </a:solidFill>
                <a:latin typeface="Bahnschrift"/>
                <a:ea typeface="Bahnschrift"/>
                <a:cs typeface="Bahnschrift"/>
                <a:sym typeface="Bahnschrift"/>
              </a:rPr>
              <a:t>. La ureogénesis </a:t>
            </a:r>
            <a:r>
              <a:rPr lang="es-AR" sz="1600" b="1" dirty="0">
                <a:solidFill>
                  <a:srgbClr val="1E1E1E"/>
                </a:solidFill>
                <a:latin typeface="Bahnschrift"/>
                <a:ea typeface="Bahnschrift"/>
                <a:cs typeface="Bahnschrift"/>
                <a:sym typeface="Bahnschrift"/>
              </a:rPr>
              <a:t>puede disminuir</a:t>
            </a:r>
            <a:r>
              <a:rPr lang="es-AR" sz="1600" dirty="0">
                <a:solidFill>
                  <a:srgbClr val="1E1E1E"/>
                </a:solidFill>
                <a:latin typeface="Bahnschrift"/>
                <a:ea typeface="Bahnschrift"/>
                <a:cs typeface="Bahnschrift"/>
                <a:sym typeface="Bahnschrift"/>
              </a:rPr>
              <a:t> respecto del pico temprano.</a:t>
            </a:r>
            <a:endParaRPr lang="es-AR" sz="1600" dirty="0">
              <a:latin typeface="Bahnschrift"/>
            </a:endParaRPr>
          </a:p>
        </p:txBody>
      </p:sp>
      <p:sp>
        <p:nvSpPr>
          <p:cNvPr id="35" name="!!Eje génico"/>
          <p:cNvSpPr/>
          <p:nvPr/>
        </p:nvSpPr>
        <p:spPr>
          <a:xfrm>
            <a:off x="274320" y="6035040"/>
            <a:ext cx="7269480" cy="457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dirty="0">
                <a:solidFill>
                  <a:srgbClr val="1E1E1E"/>
                </a:solidFill>
                <a:latin typeface="Bahnschrift"/>
                <a:ea typeface="Bahnschrift"/>
                <a:cs typeface="Bahnschrift"/>
                <a:sym typeface="Bahnschrift"/>
              </a:rPr>
              <a:t>Los cambios son graduales: no hay un «interruptor» temporal</a:t>
            </a:r>
            <a:endParaRPr lang="es-AR" sz="1250" dirty="0">
              <a:latin typeface="Bahnschrift"/>
            </a:endParaRPr>
          </a:p>
        </p:txBody>
      </p:sp>
      <p:grpSp>
        <p:nvGrpSpPr>
          <p:cNvPr id="36" name="!!Reloj hígado"/>
          <p:cNvGrpSpPr/>
          <p:nvPr/>
        </p:nvGrpSpPr>
        <p:grpSpPr>
          <a:xfrm>
            <a:off x="10881360" y="1097280"/>
            <a:ext cx="868680" cy="868680"/>
            <a:chOff x="10881360" y="1097280"/>
            <a:chExt cx="868680" cy="868680"/>
          </a:xfrm>
        </p:grpSpPr>
        <p:sp>
          <p:nvSpPr>
            <p:cNvPr id="37" name="Forma 36"/>
            <p:cNvSpPr/>
            <p:nvPr/>
          </p:nvSpPr>
          <p:spPr>
            <a:xfrm>
              <a:off x="10881360" y="1097280"/>
              <a:ext cx="868680" cy="868680"/>
            </a:xfrm>
            <a:prstGeom prst="ellipse">
              <a:avLst/>
            </a:prstGeom>
            <a:gradFill rotWithShape="1">
              <a:gsLst>
                <a:gs pos="0">
                  <a:srgbClr val="FFFFFF"/>
                </a:gs>
                <a:gs pos="55000">
                  <a:srgbClr val="FFFFFF"/>
                </a:gs>
                <a:gs pos="100000">
                  <a:srgbClr val="EAEAEA"/>
                </a:gs>
              </a:gsLst>
              <a:path path="circle">
                <a:fillToRect l="32000" t="28000" r="68000" b="72000"/>
              </a:path>
            </a:gradFill>
            <a:ln w="25400" cap="rnd">
              <a:solidFill>
                <a:srgbClr val="1E1E1E"/>
              </a:solidFill>
              <a:round/>
            </a:ln>
          </p:spPr>
        </p:sp>
        <p:sp>
          <p:nvSpPr>
            <p:cNvPr id="38" name="Flecha 37_2"/>
            <p:cNvSpPr/>
            <p:nvPr/>
          </p:nvSpPr>
          <p:spPr>
            <a:xfrm>
              <a:off x="11315700" y="1288390"/>
              <a:ext cx="9144" cy="243230"/>
            </a:xfrm>
            <a:custGeom>
              <a:avLst/>
              <a:gdLst/>
              <a:ahLst/>
              <a:cxnLst/>
              <a:rect l="0" t="0" r="r" b="b"/>
              <a:pathLst>
                <a:path w="10" h="266" fill="none">
                  <a:moveTo>
                    <a:pt x="0" y="266"/>
                  </a:moveTo>
                  <a:lnTo>
                    <a:pt x="0" y="0"/>
                  </a:lnTo>
                </a:path>
              </a:pathLst>
            </a:custGeom>
            <a:noFill/>
            <a:ln w="31750" cap="rnd">
              <a:solidFill>
                <a:srgbClr val="1E1E1E"/>
              </a:solidFill>
              <a:round/>
            </a:ln>
          </p:spPr>
        </p:sp>
        <p:sp>
          <p:nvSpPr>
            <p:cNvPr id="39" name="Flecha 39_2"/>
            <p:cNvSpPr/>
            <p:nvPr/>
          </p:nvSpPr>
          <p:spPr>
            <a:xfrm>
              <a:off x="11315700" y="1201522"/>
              <a:ext cx="9144" cy="330098"/>
            </a:xfrm>
            <a:custGeom>
              <a:avLst/>
              <a:gdLst/>
              <a:ahLst/>
              <a:cxnLst/>
              <a:rect l="0" t="0" r="r" b="b"/>
              <a:pathLst>
                <a:path w="10" h="360" fill="none">
                  <a:moveTo>
                    <a:pt x="0" y="360"/>
                  </a:moveTo>
                  <a:lnTo>
                    <a:pt x="0" y="0"/>
                  </a:lnTo>
                </a:path>
              </a:pathLst>
            </a:custGeom>
            <a:noFill/>
            <a:ln w="22225" cap="rnd">
              <a:solidFill>
                <a:srgbClr val="1E1E1E"/>
              </a:solidFill>
              <a:round/>
            </a:ln>
          </p:spPr>
        </p:sp>
      </p:grpSp>
      <p:sp>
        <p:nvSpPr>
          <p:cNvPr id="2" name="Etiqueta sección"/>
          <p:cNvSpPr/>
          <p:nvPr/>
        </p:nvSpPr>
        <p:spPr>
          <a:xfrm>
            <a:off x="9958496" y="201168"/>
            <a:ext cx="19588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TABLERO HEPÁTICO · 4/4</a:t>
            </a:r>
            <a:endParaRPr lang="es-AR" sz="1300" dirty="0">
              <a:latin typeface="Bahnschrift SemiBold Condensed"/>
            </a:endParaRPr>
          </a:p>
        </p:txBody>
      </p:sp>
      <p:sp>
        <p:nvSpPr>
          <p:cNvPr id="3" name="Título"/>
          <p:cNvSpPr/>
          <p:nvPr/>
        </p:nvSpPr>
        <p:spPr>
          <a:xfrm>
            <a:off x="274320" y="146304"/>
            <a:ext cx="585039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11 · HÍGADO: AYUNO PROLONGADO (&gt;3 DÍAS)</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79</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80.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Ícono hígado"/>
          <p:cNvGrpSpPr/>
          <p:nvPr/>
        </p:nvGrpSpPr>
        <p:grpSpPr>
          <a:xfrm>
            <a:off x="365760" y="1202436"/>
            <a:ext cx="1005840" cy="710928"/>
            <a:chOff x="365760" y="1202436"/>
            <a:chExt cx="1005840" cy="710928"/>
          </a:xfrm>
        </p:grpSpPr>
        <p:sp>
          <p:nvSpPr>
            <p:cNvPr id="5" name="Vesícula biliar"/>
            <p:cNvSpPr/>
            <p:nvPr/>
          </p:nvSpPr>
          <p:spPr>
            <a:xfrm>
              <a:off x="637337" y="1688860"/>
              <a:ext cx="130759" cy="22450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202436"/>
              <a:ext cx="1005840" cy="62362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202436"/>
              <a:ext cx="1005840" cy="62362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202436"/>
              <a:ext cx="1005840" cy="62362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Rótulo reserva 0"/>
          <p:cNvSpPr txBox="1"/>
          <p:nvPr/>
        </p:nvSpPr>
        <p:spPr>
          <a:xfrm>
            <a:off x="1554480" y="105156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Glucógeno hepático</a:t>
            </a:r>
            <a:endParaRPr lang="es-AR" sz="1500" dirty="0">
              <a:latin typeface="Bahnschrift SemiBold Condensed"/>
            </a:endParaRPr>
          </a:p>
        </p:txBody>
      </p:sp>
      <p:sp>
        <p:nvSpPr>
          <p:cNvPr id="10" name="!!Fondo barra 0"/>
          <p:cNvSpPr/>
          <p:nvPr/>
        </p:nvSpPr>
        <p:spPr>
          <a:xfrm>
            <a:off x="1554480" y="1481328"/>
            <a:ext cx="4754880" cy="457200"/>
          </a:xfrm>
          <a:prstGeom prst="rect">
            <a:avLst/>
          </a:prstGeom>
          <a:solidFill>
            <a:srgbClr val="FFFFFF">
              <a:alpha val="60000"/>
            </a:srgbClr>
          </a:solidFill>
          <a:ln w="15875" cap="rnd">
            <a:solidFill>
              <a:srgbClr val="1E1E1E"/>
            </a:solidFill>
            <a:round/>
          </a:ln>
        </p:spPr>
      </p:sp>
      <p:sp>
        <p:nvSpPr>
          <p:cNvPr id="11" name="!!Barra reserva 0"/>
          <p:cNvSpPr/>
          <p:nvPr/>
        </p:nvSpPr>
        <p:spPr>
          <a:xfrm>
            <a:off x="1572768" y="1499616"/>
            <a:ext cx="4718304" cy="420624"/>
          </a:xfrm>
          <a:prstGeom prst="rect">
            <a:avLst/>
          </a:prstGeom>
          <a:gradFill rotWithShape="1">
            <a:gsLst>
              <a:gs pos="0">
                <a:srgbClr val="AF7CC5"/>
              </a:gs>
              <a:gs pos="100000">
                <a:srgbClr val="8E44AD"/>
              </a:gs>
            </a:gsLst>
            <a:lin ang="0" scaled="0"/>
          </a:gradFill>
          <a:ln>
            <a:noFill/>
          </a:ln>
        </p:spPr>
      </p:sp>
      <p:grpSp>
        <p:nvGrpSpPr>
          <p:cNvPr id="12" name="Ícono adiposo"/>
          <p:cNvGrpSpPr/>
          <p:nvPr/>
        </p:nvGrpSpPr>
        <p:grpSpPr>
          <a:xfrm>
            <a:off x="466344" y="2427732"/>
            <a:ext cx="804672" cy="804672"/>
            <a:chOff x="466344" y="2427732"/>
            <a:chExt cx="804672" cy="804672"/>
          </a:xfrm>
        </p:grpSpPr>
        <p:sp>
          <p:nvSpPr>
            <p:cNvPr id="13" name="Forma 12"/>
            <p:cNvSpPr/>
            <p:nvPr/>
          </p:nvSpPr>
          <p:spPr>
            <a:xfrm>
              <a:off x="466344" y="2427732"/>
              <a:ext cx="804672" cy="80467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4" name="Gota lipídica"/>
            <p:cNvSpPr/>
            <p:nvPr/>
          </p:nvSpPr>
          <p:spPr>
            <a:xfrm>
              <a:off x="506578" y="2467966"/>
              <a:ext cx="724205" cy="724205"/>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5" name="Forma 14"/>
            <p:cNvSpPr/>
            <p:nvPr/>
          </p:nvSpPr>
          <p:spPr>
            <a:xfrm rot="2400000">
              <a:off x="1045708" y="2476012"/>
              <a:ext cx="177028" cy="9656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6" name="Mitocondria"/>
            <p:cNvGrpSpPr/>
            <p:nvPr/>
          </p:nvGrpSpPr>
          <p:grpSpPr>
            <a:xfrm>
              <a:off x="530718" y="3023189"/>
              <a:ext cx="80467" cy="40234"/>
              <a:chOff x="530718" y="3023189"/>
              <a:chExt cx="80467" cy="40234"/>
            </a:xfrm>
          </p:grpSpPr>
          <p:sp>
            <p:nvSpPr>
              <p:cNvPr id="17" name="Forma 16"/>
              <p:cNvSpPr/>
              <p:nvPr/>
            </p:nvSpPr>
            <p:spPr>
              <a:xfrm rot="-2400000">
                <a:off x="530718" y="3023189"/>
                <a:ext cx="80467" cy="4023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rot="-2400000">
                <a:off x="536350" y="3028822"/>
                <a:ext cx="69202" cy="28968"/>
              </a:xfrm>
              <a:prstGeom prst="ellipse">
                <a:avLst/>
              </a:prstGeom>
              <a:solidFill>
                <a:srgbClr val="F8D8B4"/>
              </a:solidFill>
              <a:ln w="9525" cap="rnd">
                <a:solidFill>
                  <a:srgbClr val="B2732B"/>
                </a:solidFill>
                <a:round/>
              </a:ln>
            </p:spPr>
          </p:sp>
          <p:sp>
            <p:nvSpPr>
              <p:cNvPr id="19" name="Forma 18"/>
              <p:cNvSpPr/>
              <p:nvPr/>
            </p:nvSpPr>
            <p:spPr>
              <a:xfrm rot="-2400000">
                <a:off x="536350" y="3028822"/>
                <a:ext cx="69202" cy="289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20" name="!!Rótulo reserva 1"/>
          <p:cNvSpPr txBox="1"/>
          <p:nvPr/>
        </p:nvSpPr>
        <p:spPr>
          <a:xfrm>
            <a:off x="1554480" y="237744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TAG del tejido adiposo</a:t>
            </a:r>
            <a:endParaRPr lang="es-AR" sz="1500" dirty="0">
              <a:latin typeface="Bahnschrift SemiBold Condensed"/>
            </a:endParaRPr>
          </a:p>
        </p:txBody>
      </p:sp>
      <p:sp>
        <p:nvSpPr>
          <p:cNvPr id="21" name="!!Fondo barra 1"/>
          <p:cNvSpPr/>
          <p:nvPr/>
        </p:nvSpPr>
        <p:spPr>
          <a:xfrm>
            <a:off x="1554480" y="2807208"/>
            <a:ext cx="4754880" cy="457200"/>
          </a:xfrm>
          <a:prstGeom prst="rect">
            <a:avLst/>
          </a:prstGeom>
          <a:solidFill>
            <a:srgbClr val="FFFFFF">
              <a:alpha val="60000"/>
            </a:srgbClr>
          </a:solidFill>
          <a:ln w="15875" cap="rnd">
            <a:solidFill>
              <a:srgbClr val="1E1E1E"/>
            </a:solidFill>
            <a:round/>
          </a:ln>
        </p:spPr>
      </p:sp>
      <p:sp>
        <p:nvSpPr>
          <p:cNvPr id="22" name="!!Barra reserva 1"/>
          <p:cNvSpPr/>
          <p:nvPr/>
        </p:nvSpPr>
        <p:spPr>
          <a:xfrm>
            <a:off x="1572768" y="2825496"/>
            <a:ext cx="4718304" cy="420624"/>
          </a:xfrm>
          <a:prstGeom prst="rect">
            <a:avLst/>
          </a:prstGeom>
          <a:gradFill rotWithShape="1">
            <a:gsLst>
              <a:gs pos="0">
                <a:srgbClr val="E0C455"/>
              </a:gs>
              <a:gs pos="100000">
                <a:srgbClr val="D4AC0D"/>
              </a:gs>
            </a:gsLst>
            <a:lin ang="0" scaled="0"/>
          </a:gradFill>
          <a:ln>
            <a:noFill/>
          </a:ln>
        </p:spPr>
      </p:sp>
      <p:grpSp>
        <p:nvGrpSpPr>
          <p:cNvPr id="23" name="Ícono músculo"/>
          <p:cNvGrpSpPr/>
          <p:nvPr/>
        </p:nvGrpSpPr>
        <p:grpSpPr>
          <a:xfrm>
            <a:off x="365760" y="3904488"/>
            <a:ext cx="1005840" cy="329916"/>
            <a:chOff x="365760" y="3904488"/>
            <a:chExt cx="1005840" cy="329916"/>
          </a:xfrm>
        </p:grpSpPr>
        <p:grpSp>
          <p:nvGrpSpPr>
            <p:cNvPr id="24" name="Fibra"/>
            <p:cNvGrpSpPr/>
            <p:nvPr/>
          </p:nvGrpSpPr>
          <p:grpSpPr>
            <a:xfrm>
              <a:off x="365760" y="3904488"/>
              <a:ext cx="965606" cy="160934"/>
              <a:chOff x="365760" y="3904488"/>
              <a:chExt cx="965606" cy="160934"/>
            </a:xfrm>
          </p:grpSpPr>
          <p:sp>
            <p:nvSpPr>
              <p:cNvPr id="25" name="Forma 24"/>
              <p:cNvSpPr/>
              <p:nvPr/>
            </p:nvSpPr>
            <p:spPr>
              <a:xfrm>
                <a:off x="365760" y="3904488"/>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6" name="Forma 25"/>
              <p:cNvSpPr/>
              <p:nvPr/>
            </p:nvSpPr>
            <p:spPr>
              <a:xfrm>
                <a:off x="405994" y="3904488"/>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27" name="Forma 26"/>
              <p:cNvSpPr/>
              <p:nvPr/>
            </p:nvSpPr>
            <p:spPr>
              <a:xfrm>
                <a:off x="558881"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896844"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1186525"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1263774" y="3910925"/>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1" name="Fibra_2"/>
            <p:cNvGrpSpPr/>
            <p:nvPr/>
          </p:nvGrpSpPr>
          <p:grpSpPr>
            <a:xfrm>
              <a:off x="405994" y="4073469"/>
              <a:ext cx="965606" cy="160934"/>
              <a:chOff x="405994" y="4073469"/>
              <a:chExt cx="965606" cy="160934"/>
            </a:xfrm>
          </p:grpSpPr>
          <p:sp>
            <p:nvSpPr>
              <p:cNvPr id="32" name="Forma 31"/>
              <p:cNvSpPr/>
              <p:nvPr/>
            </p:nvSpPr>
            <p:spPr>
              <a:xfrm>
                <a:off x="405994" y="4073469"/>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2"/>
              <p:cNvSpPr/>
              <p:nvPr/>
            </p:nvSpPr>
            <p:spPr>
              <a:xfrm>
                <a:off x="446227" y="4073469"/>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34" name="Forma 33"/>
              <p:cNvSpPr/>
              <p:nvPr/>
            </p:nvSpPr>
            <p:spPr>
              <a:xfrm>
                <a:off x="599115"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937077"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1226759"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1304008" y="4079906"/>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8" name="!!Rótulo reserva 2"/>
          <p:cNvSpPr txBox="1"/>
          <p:nvPr/>
        </p:nvSpPr>
        <p:spPr>
          <a:xfrm>
            <a:off x="1554480" y="370332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Proteína muscular</a:t>
            </a:r>
            <a:endParaRPr lang="es-AR" sz="1500" dirty="0">
              <a:latin typeface="Bahnschrift SemiBold Condensed"/>
            </a:endParaRPr>
          </a:p>
        </p:txBody>
      </p:sp>
      <p:sp>
        <p:nvSpPr>
          <p:cNvPr id="39" name="!!Fondo barra 2"/>
          <p:cNvSpPr/>
          <p:nvPr/>
        </p:nvSpPr>
        <p:spPr>
          <a:xfrm>
            <a:off x="1554480" y="4133088"/>
            <a:ext cx="4754880" cy="457200"/>
          </a:xfrm>
          <a:prstGeom prst="rect">
            <a:avLst/>
          </a:prstGeom>
          <a:solidFill>
            <a:srgbClr val="FFFFFF">
              <a:alpha val="60000"/>
            </a:srgbClr>
          </a:solidFill>
          <a:ln w="15875" cap="rnd">
            <a:solidFill>
              <a:srgbClr val="1E1E1E"/>
            </a:solidFill>
            <a:round/>
          </a:ln>
        </p:spPr>
      </p:sp>
      <p:sp>
        <p:nvSpPr>
          <p:cNvPr id="40" name="!!Barra reserva 2"/>
          <p:cNvSpPr/>
          <p:nvPr/>
        </p:nvSpPr>
        <p:spPr>
          <a:xfrm>
            <a:off x="1572768" y="4151376"/>
            <a:ext cx="4718304" cy="420624"/>
          </a:xfrm>
          <a:prstGeom prst="rect">
            <a:avLst/>
          </a:prstGeom>
          <a:gradFill rotWithShape="1">
            <a:gsLst>
              <a:gs pos="0">
                <a:srgbClr val="D2746A"/>
              </a:gs>
              <a:gs pos="100000">
                <a:srgbClr val="C0392B"/>
              </a:gs>
            </a:gsLst>
            <a:lin ang="0" scaled="0"/>
          </a:gradFill>
          <a:ln>
            <a:noFill/>
          </a:ln>
        </p:spPr>
      </p:sp>
      <p:grpSp>
        <p:nvGrpSpPr>
          <p:cNvPr id="41" name="!!Cerebro fase"/>
          <p:cNvGrpSpPr/>
          <p:nvPr/>
        </p:nvGrpSpPr>
        <p:grpSpPr>
          <a:xfrm>
            <a:off x="6675120" y="960120"/>
            <a:ext cx="1554480" cy="1212494"/>
            <a:chOff x="6675120" y="960120"/>
            <a:chExt cx="1554480" cy="1212494"/>
          </a:xfrm>
        </p:grpSpPr>
        <p:sp>
          <p:nvSpPr>
            <p:cNvPr id="42" name="Cerebelo"/>
            <p:cNvSpPr/>
            <p:nvPr/>
          </p:nvSpPr>
          <p:spPr>
            <a:xfrm>
              <a:off x="6675120" y="960120"/>
              <a:ext cx="1554480" cy="1212494"/>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3" name="Forma 42"/>
            <p:cNvSpPr/>
            <p:nvPr/>
          </p:nvSpPr>
          <p:spPr>
            <a:xfrm>
              <a:off x="6675120" y="960120"/>
              <a:ext cx="1554480" cy="1212494"/>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4" name="Forma 43"/>
            <p:cNvSpPr/>
            <p:nvPr/>
          </p:nvSpPr>
          <p:spPr>
            <a:xfrm>
              <a:off x="6675120" y="960120"/>
              <a:ext cx="1554480" cy="1212494"/>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5" name="Forma 44"/>
            <p:cNvSpPr/>
            <p:nvPr/>
          </p:nvSpPr>
          <p:spPr>
            <a:xfrm>
              <a:off x="6675120" y="960120"/>
              <a:ext cx="1554480" cy="1212494"/>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46" name="!!Rótulo cerebro"/>
          <p:cNvSpPr txBox="1"/>
          <p:nvPr/>
        </p:nvSpPr>
        <p:spPr>
          <a:xfrm>
            <a:off x="8366760" y="1005840"/>
            <a:ext cx="3474720" cy="365760"/>
          </a:xfrm>
          <a:prstGeom prst="rect">
            <a:avLst/>
          </a:prstGeom>
          <a:noFill/>
          <a:ln>
            <a:noFill/>
          </a:ln>
        </p:spPr>
        <p:txBody>
          <a:bodyPr wrap="square" lIns="0" tIns="0" rIns="0" bIns="0" anchor="t"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Combustible cerebral</a:t>
            </a:r>
            <a:endParaRPr lang="es-AR" sz="1500" dirty="0">
              <a:latin typeface="Bahnschrift SemiBold Condensed"/>
            </a:endParaRPr>
          </a:p>
        </p:txBody>
      </p:sp>
      <p:sp>
        <p:nvSpPr>
          <p:cNvPr id="47" name="!!Cerebro glucosa"/>
          <p:cNvSpPr/>
          <p:nvPr/>
        </p:nvSpPr>
        <p:spPr>
          <a:xfrm>
            <a:off x="8366760" y="1463040"/>
            <a:ext cx="3429000" cy="502920"/>
          </a:xfrm>
          <a:prstGeom prst="rect">
            <a:avLst/>
          </a:prstGeom>
          <a:gradFill rotWithShape="1">
            <a:gsLst>
              <a:gs pos="0">
                <a:srgbClr val="75A7D5"/>
              </a:gs>
              <a:gs pos="55000">
                <a:srgbClr val="3B82C4"/>
              </a:gs>
              <a:gs pos="100000">
                <a:srgbClr val="3575B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48" name="!!Cerebro cetonas"/>
          <p:cNvSpPr/>
          <p:nvPr/>
        </p:nvSpPr>
        <p:spPr>
          <a:xfrm>
            <a:off x="11795760" y="1463040"/>
            <a:ext cx="18288" cy="502920"/>
          </a:xfrm>
          <a:prstGeom prst="rect">
            <a:avLst/>
          </a:prstGeom>
          <a:gradFill rotWithShape="1">
            <a:gsLst>
              <a:gs pos="0">
                <a:srgbClr val="D45D8C"/>
              </a:gs>
              <a:gs pos="55000">
                <a:srgbClr val="C2185B"/>
              </a:gs>
              <a:gs pos="100000">
                <a:srgbClr val="AE1551"/>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endParaRPr lang="es-AR" sz="1200" dirty="0">
              <a:latin typeface="Bahnschrift SemiBold Condensed"/>
            </a:endParaRPr>
          </a:p>
        </p:txBody>
      </p:sp>
      <p:sp>
        <p:nvSpPr>
          <p:cNvPr id="49" name="!!Nota esquema"/>
          <p:cNvSpPr txBox="1"/>
          <p:nvPr/>
        </p:nvSpPr>
        <p:spPr>
          <a:xfrm>
            <a:off x="8366760" y="2011680"/>
            <a:ext cx="3474720" cy="320040"/>
          </a:xfrm>
          <a:prstGeom prst="rect">
            <a:avLst/>
          </a:prstGeom>
          <a:noFill/>
          <a:ln>
            <a:noFill/>
          </a:ln>
        </p:spPr>
        <p:txBody>
          <a:bodyPr wrap="square" lIns="0" tIns="0" rIns="0" bIns="0" anchor="t" rtlCol="0">
            <a:noAutofit/>
          </a:bodyPr>
          <a:lstStyle/>
          <a:p>
            <a:pPr algn="l">
              <a:spcAft>
                <a:spcPts val="300"/>
              </a:spcAft>
              <a:buNone/>
            </a:pPr>
            <a:r>
              <a:rPr lang="es-AR" sz="1100" dirty="0">
                <a:solidFill>
                  <a:srgbClr val="5D6D7E"/>
                </a:solidFill>
                <a:latin typeface="Bahnschrift"/>
                <a:ea typeface="Bahnschrift"/>
                <a:cs typeface="Bahnschrift"/>
                <a:sym typeface="Bahnschrift"/>
              </a:rPr>
              <a:t>proporciones esquemáticas</a:t>
            </a:r>
            <a:endParaRPr lang="es-AR" sz="1100" dirty="0">
              <a:latin typeface="Bahnschrift"/>
            </a:endParaRPr>
          </a:p>
        </p:txBody>
      </p:sp>
      <p:sp>
        <p:nvSpPr>
          <p:cNvPr id="50" name="!!Texto reservas"/>
          <p:cNvSpPr/>
          <p:nvPr/>
        </p:nvSpPr>
        <p:spPr>
          <a:xfrm>
            <a:off x="6675120" y="2697480"/>
            <a:ext cx="512064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Glucógeno hepático </a:t>
            </a:r>
            <a:r>
              <a:rPr lang="es-AR" sz="1650" b="1" dirty="0">
                <a:solidFill>
                  <a:srgbClr val="1E1E1E"/>
                </a:solidFill>
                <a:latin typeface="Bahnschrift"/>
                <a:ea typeface="Bahnschrift"/>
                <a:cs typeface="Bahnschrift"/>
                <a:sym typeface="Bahnschrift"/>
              </a:rPr>
              <a:t>repleto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Lípidos dietarios hacia el </a:t>
            </a:r>
            <a:r>
              <a:rPr lang="es-AR" sz="1650" b="1" dirty="0">
                <a:solidFill>
                  <a:srgbClr val="1E1E1E"/>
                </a:solidFill>
                <a:latin typeface="Bahnschrift"/>
                <a:ea typeface="Bahnschrift"/>
                <a:cs typeface="Bahnschrift"/>
                <a:sym typeface="Bahnschrift"/>
              </a:rPr>
              <a:t>adiposo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Balance proteico </a:t>
            </a:r>
            <a:r>
              <a:rPr lang="es-AR" sz="1650" b="1" dirty="0">
                <a:solidFill>
                  <a:srgbClr val="1E1E1E"/>
                </a:solidFill>
                <a:latin typeface="Bahnschrift"/>
                <a:ea typeface="Bahnschrift"/>
                <a:cs typeface="Bahnschrift"/>
                <a:sym typeface="Bahnschrift"/>
              </a:rPr>
              <a:t>anabólico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cerebro usa </a:t>
            </a:r>
            <a:r>
              <a:rPr lang="es-AR" sz="1650" b="1" dirty="0">
                <a:solidFill>
                  <a:srgbClr val="1E1E1E"/>
                </a:solidFill>
                <a:latin typeface="Bahnschrift"/>
                <a:ea typeface="Bahnschrift"/>
                <a:cs typeface="Bahnschrift"/>
                <a:sym typeface="Bahnschrift"/>
              </a:rPr>
              <a:t>glucosa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51" name="!!Glucemia fase"/>
          <p:cNvSpPr/>
          <p:nvPr/>
        </p:nvSpPr>
        <p:spPr>
          <a:xfrm>
            <a:off x="365760" y="5120640"/>
            <a:ext cx="5943600" cy="457200"/>
          </a:xfrm>
          <a:prstGeom prst="rect">
            <a:avLst/>
          </a:prstGeom>
          <a:solidFill>
            <a:srgbClr val="DCEBF8"/>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Glucemia: posprandial, regulada por insulina</a:t>
            </a:r>
            <a:endParaRPr lang="es-AR" sz="1350" dirty="0">
              <a:latin typeface="Bahnschrift SemiBold Condensed"/>
            </a:endParaRPr>
          </a:p>
        </p:txBody>
      </p:sp>
      <p:sp>
        <p:nvSpPr>
          <p:cNvPr id="52" name="!!Fase actual"/>
          <p:cNvSpPr/>
          <p:nvPr/>
        </p:nvSpPr>
        <p:spPr>
          <a:xfrm>
            <a:off x="365760" y="5760720"/>
            <a:ext cx="11430000" cy="73152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ESTADO ALIMENTADO</a:t>
            </a:r>
            <a:endParaRPr lang="es-AR" sz="2200" dirty="0">
              <a:latin typeface="Bahnschrift SemiBold Condensed"/>
            </a:endParaRPr>
          </a:p>
        </p:txBody>
      </p:sp>
      <p:sp>
        <p:nvSpPr>
          <p:cNvPr id="2" name="Etiqueta sección"/>
          <p:cNvSpPr/>
          <p:nvPr/>
        </p:nvSpPr>
        <p:spPr>
          <a:xfrm>
            <a:off x="9922124" y="201168"/>
            <a:ext cx="199525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6 · 1/4</a:t>
            </a:r>
            <a:endParaRPr lang="es-AR" sz="1300" dirty="0">
              <a:latin typeface="Bahnschrift SemiBold Condensed"/>
            </a:endParaRPr>
          </a:p>
        </p:txBody>
      </p:sp>
      <p:sp>
        <p:nvSpPr>
          <p:cNvPr id="3" name="Título"/>
          <p:cNvSpPr/>
          <p:nvPr/>
        </p:nvSpPr>
        <p:spPr>
          <a:xfrm>
            <a:off x="274320" y="146304"/>
            <a:ext cx="72792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RESERVAS Y COMBUSTIBLES: ESTADO ALIMENTADO</a:t>
            </a:r>
            <a:endParaRPr lang="es-AR" sz="260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80</a:t>
            </a:r>
            <a:endParaRPr lang="es-AR" sz="1000" dirty="0">
              <a:latin typeface="Bahnschrift SemiBold Condensed"/>
            </a:endParaRPr>
          </a:p>
        </p:txBody>
      </p:sp>
    </p:spTree>
  </p:cSld>
  <p:clrMapOvr>
    <a:masterClrMapping/>
  </p:clrMapOvr>
  <p:transition spd="med">
    <p:fade/>
  </p:transition>
</p:sld>
</file>

<file path=ppt/slides/slide81.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Ícono hígado"/>
          <p:cNvGrpSpPr/>
          <p:nvPr/>
        </p:nvGrpSpPr>
        <p:grpSpPr>
          <a:xfrm>
            <a:off x="365760" y="1202436"/>
            <a:ext cx="1005840" cy="710928"/>
            <a:chOff x="365760" y="1202436"/>
            <a:chExt cx="1005840" cy="710928"/>
          </a:xfrm>
        </p:grpSpPr>
        <p:sp>
          <p:nvSpPr>
            <p:cNvPr id="5" name="Vesícula biliar"/>
            <p:cNvSpPr/>
            <p:nvPr/>
          </p:nvSpPr>
          <p:spPr>
            <a:xfrm>
              <a:off x="637337" y="1688860"/>
              <a:ext cx="130759" cy="22450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202436"/>
              <a:ext cx="1005840" cy="62362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202436"/>
              <a:ext cx="1005840" cy="62362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202436"/>
              <a:ext cx="1005840" cy="62362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Rótulo reserva 0"/>
          <p:cNvSpPr txBox="1"/>
          <p:nvPr/>
        </p:nvSpPr>
        <p:spPr>
          <a:xfrm>
            <a:off x="1554480" y="105156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Glucógeno hepático</a:t>
            </a:r>
            <a:endParaRPr lang="es-AR" sz="1500" dirty="0">
              <a:latin typeface="Bahnschrift SemiBold Condensed"/>
            </a:endParaRPr>
          </a:p>
        </p:txBody>
      </p:sp>
      <p:sp>
        <p:nvSpPr>
          <p:cNvPr id="10" name="!!Fondo barra 0"/>
          <p:cNvSpPr/>
          <p:nvPr/>
        </p:nvSpPr>
        <p:spPr>
          <a:xfrm>
            <a:off x="1554480" y="1481328"/>
            <a:ext cx="4754880" cy="457200"/>
          </a:xfrm>
          <a:prstGeom prst="rect">
            <a:avLst/>
          </a:prstGeom>
          <a:solidFill>
            <a:srgbClr val="FFFFFF">
              <a:alpha val="60000"/>
            </a:srgbClr>
          </a:solidFill>
          <a:ln w="15875" cap="rnd">
            <a:solidFill>
              <a:srgbClr val="1E1E1E"/>
            </a:solidFill>
            <a:round/>
          </a:ln>
        </p:spPr>
      </p:sp>
      <p:sp>
        <p:nvSpPr>
          <p:cNvPr id="11" name="!!Barra reserva 0"/>
          <p:cNvSpPr/>
          <p:nvPr/>
        </p:nvSpPr>
        <p:spPr>
          <a:xfrm>
            <a:off x="1572768" y="1499616"/>
            <a:ext cx="2830982" cy="420624"/>
          </a:xfrm>
          <a:prstGeom prst="rect">
            <a:avLst/>
          </a:prstGeom>
          <a:gradFill rotWithShape="1">
            <a:gsLst>
              <a:gs pos="0">
                <a:srgbClr val="AF7CC5"/>
              </a:gs>
              <a:gs pos="100000">
                <a:srgbClr val="8E44AD"/>
              </a:gs>
            </a:gsLst>
            <a:lin ang="0" scaled="0"/>
          </a:gradFill>
          <a:ln>
            <a:noFill/>
          </a:ln>
        </p:spPr>
      </p:sp>
      <p:grpSp>
        <p:nvGrpSpPr>
          <p:cNvPr id="12" name="Ícono adiposo"/>
          <p:cNvGrpSpPr/>
          <p:nvPr/>
        </p:nvGrpSpPr>
        <p:grpSpPr>
          <a:xfrm>
            <a:off x="466344" y="2427732"/>
            <a:ext cx="804672" cy="804672"/>
            <a:chOff x="466344" y="2427732"/>
            <a:chExt cx="804672" cy="804672"/>
          </a:xfrm>
        </p:grpSpPr>
        <p:sp>
          <p:nvSpPr>
            <p:cNvPr id="13" name="Forma 12"/>
            <p:cNvSpPr/>
            <p:nvPr/>
          </p:nvSpPr>
          <p:spPr>
            <a:xfrm>
              <a:off x="466344" y="2427732"/>
              <a:ext cx="804672" cy="80467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4" name="Gota lipídica"/>
            <p:cNvSpPr/>
            <p:nvPr/>
          </p:nvSpPr>
          <p:spPr>
            <a:xfrm>
              <a:off x="506578" y="2467966"/>
              <a:ext cx="724205" cy="724205"/>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5" name="Forma 14"/>
            <p:cNvSpPr/>
            <p:nvPr/>
          </p:nvSpPr>
          <p:spPr>
            <a:xfrm rot="2400000">
              <a:off x="1045708" y="2476012"/>
              <a:ext cx="177028" cy="9656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6" name="Mitocondria"/>
            <p:cNvGrpSpPr/>
            <p:nvPr/>
          </p:nvGrpSpPr>
          <p:grpSpPr>
            <a:xfrm>
              <a:off x="530718" y="3023189"/>
              <a:ext cx="80467" cy="40234"/>
              <a:chOff x="530718" y="3023189"/>
              <a:chExt cx="80467" cy="40234"/>
            </a:xfrm>
          </p:grpSpPr>
          <p:sp>
            <p:nvSpPr>
              <p:cNvPr id="17" name="Forma 16"/>
              <p:cNvSpPr/>
              <p:nvPr/>
            </p:nvSpPr>
            <p:spPr>
              <a:xfrm rot="-2400000">
                <a:off x="530718" y="3023189"/>
                <a:ext cx="80467" cy="4023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rot="-2400000">
                <a:off x="536350" y="3028822"/>
                <a:ext cx="69202" cy="28968"/>
              </a:xfrm>
              <a:prstGeom prst="ellipse">
                <a:avLst/>
              </a:prstGeom>
              <a:solidFill>
                <a:srgbClr val="F8D8B4"/>
              </a:solidFill>
              <a:ln w="9525" cap="rnd">
                <a:solidFill>
                  <a:srgbClr val="B2732B"/>
                </a:solidFill>
                <a:round/>
              </a:ln>
            </p:spPr>
          </p:sp>
          <p:sp>
            <p:nvSpPr>
              <p:cNvPr id="19" name="Forma 18"/>
              <p:cNvSpPr/>
              <p:nvPr/>
            </p:nvSpPr>
            <p:spPr>
              <a:xfrm rot="-2400000">
                <a:off x="536350" y="3028822"/>
                <a:ext cx="69202" cy="289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20" name="!!Rótulo reserva 1"/>
          <p:cNvSpPr txBox="1"/>
          <p:nvPr/>
        </p:nvSpPr>
        <p:spPr>
          <a:xfrm>
            <a:off x="1554480" y="237744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TAG del tejido adiposo</a:t>
            </a:r>
            <a:endParaRPr lang="es-AR" sz="1500" dirty="0">
              <a:latin typeface="Bahnschrift SemiBold Condensed"/>
            </a:endParaRPr>
          </a:p>
        </p:txBody>
      </p:sp>
      <p:sp>
        <p:nvSpPr>
          <p:cNvPr id="21" name="!!Fondo barra 1"/>
          <p:cNvSpPr/>
          <p:nvPr/>
        </p:nvSpPr>
        <p:spPr>
          <a:xfrm>
            <a:off x="1554480" y="2807208"/>
            <a:ext cx="4754880" cy="457200"/>
          </a:xfrm>
          <a:prstGeom prst="rect">
            <a:avLst/>
          </a:prstGeom>
          <a:solidFill>
            <a:srgbClr val="FFFFFF">
              <a:alpha val="60000"/>
            </a:srgbClr>
          </a:solidFill>
          <a:ln w="15875" cap="rnd">
            <a:solidFill>
              <a:srgbClr val="1E1E1E"/>
            </a:solidFill>
            <a:round/>
          </a:ln>
        </p:spPr>
      </p:sp>
      <p:sp>
        <p:nvSpPr>
          <p:cNvPr id="22" name="!!Barra reserva 1"/>
          <p:cNvSpPr/>
          <p:nvPr/>
        </p:nvSpPr>
        <p:spPr>
          <a:xfrm>
            <a:off x="1572768" y="2825496"/>
            <a:ext cx="4671121" cy="420624"/>
          </a:xfrm>
          <a:prstGeom prst="rect">
            <a:avLst/>
          </a:prstGeom>
          <a:gradFill rotWithShape="1">
            <a:gsLst>
              <a:gs pos="0">
                <a:srgbClr val="E0C455"/>
              </a:gs>
              <a:gs pos="100000">
                <a:srgbClr val="D4AC0D"/>
              </a:gs>
            </a:gsLst>
            <a:lin ang="0" scaled="0"/>
          </a:gradFill>
          <a:ln>
            <a:noFill/>
          </a:ln>
        </p:spPr>
      </p:sp>
      <p:grpSp>
        <p:nvGrpSpPr>
          <p:cNvPr id="23" name="Ícono músculo"/>
          <p:cNvGrpSpPr/>
          <p:nvPr/>
        </p:nvGrpSpPr>
        <p:grpSpPr>
          <a:xfrm>
            <a:off x="365760" y="3904488"/>
            <a:ext cx="1005840" cy="329916"/>
            <a:chOff x="365760" y="3904488"/>
            <a:chExt cx="1005840" cy="329916"/>
          </a:xfrm>
        </p:grpSpPr>
        <p:grpSp>
          <p:nvGrpSpPr>
            <p:cNvPr id="24" name="Fibra"/>
            <p:cNvGrpSpPr/>
            <p:nvPr/>
          </p:nvGrpSpPr>
          <p:grpSpPr>
            <a:xfrm>
              <a:off x="365760" y="3904488"/>
              <a:ext cx="965606" cy="160934"/>
              <a:chOff x="365760" y="3904488"/>
              <a:chExt cx="965606" cy="160934"/>
            </a:xfrm>
          </p:grpSpPr>
          <p:sp>
            <p:nvSpPr>
              <p:cNvPr id="25" name="Forma 24"/>
              <p:cNvSpPr/>
              <p:nvPr/>
            </p:nvSpPr>
            <p:spPr>
              <a:xfrm>
                <a:off x="365760" y="3904488"/>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6" name="Forma 25"/>
              <p:cNvSpPr/>
              <p:nvPr/>
            </p:nvSpPr>
            <p:spPr>
              <a:xfrm>
                <a:off x="405994" y="3904488"/>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27" name="Forma 26"/>
              <p:cNvSpPr/>
              <p:nvPr/>
            </p:nvSpPr>
            <p:spPr>
              <a:xfrm>
                <a:off x="558881"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896844"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1186525"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1263774" y="3910925"/>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1" name="Fibra_2"/>
            <p:cNvGrpSpPr/>
            <p:nvPr/>
          </p:nvGrpSpPr>
          <p:grpSpPr>
            <a:xfrm>
              <a:off x="405994" y="4073469"/>
              <a:ext cx="965606" cy="160934"/>
              <a:chOff x="405994" y="4073469"/>
              <a:chExt cx="965606" cy="160934"/>
            </a:xfrm>
          </p:grpSpPr>
          <p:sp>
            <p:nvSpPr>
              <p:cNvPr id="32" name="Forma 31"/>
              <p:cNvSpPr/>
              <p:nvPr/>
            </p:nvSpPr>
            <p:spPr>
              <a:xfrm>
                <a:off x="405994" y="4073469"/>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2"/>
              <p:cNvSpPr/>
              <p:nvPr/>
            </p:nvSpPr>
            <p:spPr>
              <a:xfrm>
                <a:off x="446227" y="4073469"/>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34" name="Forma 33"/>
              <p:cNvSpPr/>
              <p:nvPr/>
            </p:nvSpPr>
            <p:spPr>
              <a:xfrm>
                <a:off x="599115"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937077"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1226759"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1304008" y="4079906"/>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8" name="!!Rótulo reserva 2"/>
          <p:cNvSpPr txBox="1"/>
          <p:nvPr/>
        </p:nvSpPr>
        <p:spPr>
          <a:xfrm>
            <a:off x="1554480" y="370332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Proteína muscular</a:t>
            </a:r>
            <a:endParaRPr lang="es-AR" sz="1500" dirty="0">
              <a:latin typeface="Bahnschrift SemiBold Condensed"/>
            </a:endParaRPr>
          </a:p>
        </p:txBody>
      </p:sp>
      <p:sp>
        <p:nvSpPr>
          <p:cNvPr id="39" name="!!Fondo barra 2"/>
          <p:cNvSpPr/>
          <p:nvPr/>
        </p:nvSpPr>
        <p:spPr>
          <a:xfrm>
            <a:off x="1554480" y="4133088"/>
            <a:ext cx="4754880" cy="457200"/>
          </a:xfrm>
          <a:prstGeom prst="rect">
            <a:avLst/>
          </a:prstGeom>
          <a:solidFill>
            <a:srgbClr val="FFFFFF">
              <a:alpha val="60000"/>
            </a:srgbClr>
          </a:solidFill>
          <a:ln w="15875" cap="rnd">
            <a:solidFill>
              <a:srgbClr val="1E1E1E"/>
            </a:solidFill>
            <a:round/>
          </a:ln>
        </p:spPr>
      </p:sp>
      <p:sp>
        <p:nvSpPr>
          <p:cNvPr id="40" name="!!Barra reserva 2"/>
          <p:cNvSpPr/>
          <p:nvPr/>
        </p:nvSpPr>
        <p:spPr>
          <a:xfrm>
            <a:off x="1572768" y="4151376"/>
            <a:ext cx="4718304" cy="420624"/>
          </a:xfrm>
          <a:prstGeom prst="rect">
            <a:avLst/>
          </a:prstGeom>
          <a:gradFill rotWithShape="1">
            <a:gsLst>
              <a:gs pos="0">
                <a:srgbClr val="D2746A"/>
              </a:gs>
              <a:gs pos="100000">
                <a:srgbClr val="C0392B"/>
              </a:gs>
            </a:gsLst>
            <a:lin ang="0" scaled="0"/>
          </a:gradFill>
          <a:ln>
            <a:noFill/>
          </a:ln>
        </p:spPr>
      </p:sp>
      <p:grpSp>
        <p:nvGrpSpPr>
          <p:cNvPr id="41" name="!!Cerebro fase"/>
          <p:cNvGrpSpPr/>
          <p:nvPr/>
        </p:nvGrpSpPr>
        <p:grpSpPr>
          <a:xfrm>
            <a:off x="6675120" y="960120"/>
            <a:ext cx="1554480" cy="1212494"/>
            <a:chOff x="6675120" y="960120"/>
            <a:chExt cx="1554480" cy="1212494"/>
          </a:xfrm>
        </p:grpSpPr>
        <p:sp>
          <p:nvSpPr>
            <p:cNvPr id="42" name="Cerebelo"/>
            <p:cNvSpPr/>
            <p:nvPr/>
          </p:nvSpPr>
          <p:spPr>
            <a:xfrm>
              <a:off x="6675120" y="960120"/>
              <a:ext cx="1554480" cy="1212494"/>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3" name="Forma 42"/>
            <p:cNvSpPr/>
            <p:nvPr/>
          </p:nvSpPr>
          <p:spPr>
            <a:xfrm>
              <a:off x="6675120" y="960120"/>
              <a:ext cx="1554480" cy="1212494"/>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4" name="Forma 43"/>
            <p:cNvSpPr/>
            <p:nvPr/>
          </p:nvSpPr>
          <p:spPr>
            <a:xfrm>
              <a:off x="6675120" y="960120"/>
              <a:ext cx="1554480" cy="1212494"/>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5" name="Forma 44"/>
            <p:cNvSpPr/>
            <p:nvPr/>
          </p:nvSpPr>
          <p:spPr>
            <a:xfrm>
              <a:off x="6675120" y="960120"/>
              <a:ext cx="1554480" cy="1212494"/>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46" name="!!Rótulo cerebro"/>
          <p:cNvSpPr txBox="1"/>
          <p:nvPr/>
        </p:nvSpPr>
        <p:spPr>
          <a:xfrm>
            <a:off x="8366760" y="1005840"/>
            <a:ext cx="3474720" cy="365760"/>
          </a:xfrm>
          <a:prstGeom prst="rect">
            <a:avLst/>
          </a:prstGeom>
          <a:noFill/>
          <a:ln>
            <a:noFill/>
          </a:ln>
        </p:spPr>
        <p:txBody>
          <a:bodyPr wrap="square" lIns="0" tIns="0" rIns="0" bIns="0" anchor="t"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Combustible cerebral</a:t>
            </a:r>
            <a:endParaRPr lang="es-AR" sz="1500" dirty="0">
              <a:latin typeface="Bahnschrift SemiBold Condensed"/>
            </a:endParaRPr>
          </a:p>
        </p:txBody>
      </p:sp>
      <p:sp>
        <p:nvSpPr>
          <p:cNvPr id="47" name="!!Cerebro glucosa"/>
          <p:cNvSpPr/>
          <p:nvPr/>
        </p:nvSpPr>
        <p:spPr>
          <a:xfrm>
            <a:off x="8366760" y="1463040"/>
            <a:ext cx="3326130" cy="502920"/>
          </a:xfrm>
          <a:prstGeom prst="rect">
            <a:avLst/>
          </a:prstGeom>
          <a:gradFill rotWithShape="1">
            <a:gsLst>
              <a:gs pos="0">
                <a:srgbClr val="75A7D5"/>
              </a:gs>
              <a:gs pos="55000">
                <a:srgbClr val="3B82C4"/>
              </a:gs>
              <a:gs pos="100000">
                <a:srgbClr val="3575B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48" name="!!Cerebro cetonas"/>
          <p:cNvSpPr/>
          <p:nvPr/>
        </p:nvSpPr>
        <p:spPr>
          <a:xfrm>
            <a:off x="11692890" y="1463040"/>
            <a:ext cx="102870" cy="502920"/>
          </a:xfrm>
          <a:prstGeom prst="rect">
            <a:avLst/>
          </a:prstGeom>
          <a:gradFill rotWithShape="1">
            <a:gsLst>
              <a:gs pos="0">
                <a:srgbClr val="D45D8C"/>
              </a:gs>
              <a:gs pos="55000">
                <a:srgbClr val="C2185B"/>
              </a:gs>
              <a:gs pos="100000">
                <a:srgbClr val="AE1551"/>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endParaRPr lang="es-AR" sz="1200" dirty="0">
              <a:latin typeface="Bahnschrift SemiBold Condensed"/>
            </a:endParaRPr>
          </a:p>
        </p:txBody>
      </p:sp>
      <p:sp>
        <p:nvSpPr>
          <p:cNvPr id="49" name="!!Nota esquema"/>
          <p:cNvSpPr txBox="1"/>
          <p:nvPr/>
        </p:nvSpPr>
        <p:spPr>
          <a:xfrm>
            <a:off x="8366760" y="2011680"/>
            <a:ext cx="3474720" cy="320040"/>
          </a:xfrm>
          <a:prstGeom prst="rect">
            <a:avLst/>
          </a:prstGeom>
          <a:noFill/>
          <a:ln>
            <a:noFill/>
          </a:ln>
        </p:spPr>
        <p:txBody>
          <a:bodyPr wrap="square" lIns="0" tIns="0" rIns="0" bIns="0" anchor="t" rtlCol="0">
            <a:noAutofit/>
          </a:bodyPr>
          <a:lstStyle/>
          <a:p>
            <a:pPr algn="l">
              <a:spcAft>
                <a:spcPts val="300"/>
              </a:spcAft>
              <a:buNone/>
            </a:pPr>
            <a:r>
              <a:rPr lang="es-AR" sz="1100" dirty="0">
                <a:solidFill>
                  <a:srgbClr val="5D6D7E"/>
                </a:solidFill>
                <a:latin typeface="Bahnschrift"/>
                <a:ea typeface="Bahnschrift"/>
                <a:cs typeface="Bahnschrift"/>
                <a:sym typeface="Bahnschrift"/>
              </a:rPr>
              <a:t>proporciones esquemáticas</a:t>
            </a:r>
            <a:endParaRPr lang="es-AR" sz="1100" dirty="0">
              <a:latin typeface="Bahnschrift"/>
            </a:endParaRPr>
          </a:p>
        </p:txBody>
      </p:sp>
      <p:sp>
        <p:nvSpPr>
          <p:cNvPr id="50" name="!!Texto reservas"/>
          <p:cNvSpPr/>
          <p:nvPr/>
        </p:nvSpPr>
        <p:spPr>
          <a:xfrm>
            <a:off x="6675120" y="2697480"/>
            <a:ext cx="512064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Glucógeno </a:t>
            </a:r>
            <a:r>
              <a:rPr lang="es-AR" sz="1650" b="1" dirty="0">
                <a:solidFill>
                  <a:srgbClr val="1E1E1E"/>
                </a:solidFill>
                <a:latin typeface="Bahnschrift"/>
                <a:ea typeface="Bahnschrift"/>
                <a:cs typeface="Bahnschrift"/>
                <a:sym typeface="Bahnschrift"/>
              </a:rPr>
              <a:t>todavía relevante pero menor</a:t>
            </a:r>
            <a:r>
              <a:rPr lang="es-AR" sz="1650" dirty="0">
                <a:solidFill>
                  <a:srgbClr val="1E1E1E"/>
                </a:solidFill>
                <a:latin typeface="Bahnschrift"/>
                <a:ea typeface="Bahnschrift"/>
                <a:cs typeface="Bahnschrift"/>
                <a:sym typeface="Bahnschrift"/>
              </a:rPr>
              <a:t>; gluconeogénesis </a:t>
            </a:r>
            <a:r>
              <a:rPr lang="es-AR" sz="1650" b="1" dirty="0">
                <a:solidFill>
                  <a:srgbClr val="1E1E1E"/>
                </a:solidFill>
                <a:latin typeface="Bahnschrift"/>
                <a:ea typeface="Bahnschrift"/>
                <a:cs typeface="Bahnschrift"/>
                <a:sym typeface="Bahnschrift"/>
              </a:rPr>
              <a:t>ya activa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Lipólisis </a:t>
            </a:r>
            <a:r>
              <a:rPr lang="es-AR" sz="1650" b="1" dirty="0">
                <a:solidFill>
                  <a:srgbClr val="1E1E1E"/>
                </a:solidFill>
                <a:latin typeface="Bahnschrift"/>
                <a:ea typeface="Bahnschrift"/>
                <a:cs typeface="Bahnschrift"/>
                <a:sym typeface="Bahnschrift"/>
              </a:rPr>
              <a:t>moderada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Músculo y corazón: mezcla de AG, glucosa y lactato.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Cerebro: mayormente glucosa; eritrocito: solo glucosa.</a:t>
            </a:r>
            <a:endParaRPr lang="es-AR" sz="1650" dirty="0">
              <a:latin typeface="Bahnschrift"/>
            </a:endParaRPr>
          </a:p>
        </p:txBody>
      </p:sp>
      <p:sp>
        <p:nvSpPr>
          <p:cNvPr id="51" name="!!Glucemia fase"/>
          <p:cNvSpPr/>
          <p:nvPr/>
        </p:nvSpPr>
        <p:spPr>
          <a:xfrm>
            <a:off x="365760" y="5120640"/>
            <a:ext cx="5943600" cy="457200"/>
          </a:xfrm>
          <a:prstGeom prst="rect">
            <a:avLst/>
          </a:prstGeom>
          <a:solidFill>
            <a:srgbClr val="DCEBF8"/>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Glucemia generalmente estable</a:t>
            </a:r>
            <a:endParaRPr lang="es-AR" sz="1350" dirty="0">
              <a:latin typeface="Bahnschrift SemiBold Condensed"/>
            </a:endParaRPr>
          </a:p>
        </p:txBody>
      </p:sp>
      <p:sp>
        <p:nvSpPr>
          <p:cNvPr id="52" name="!!Fase actual"/>
          <p:cNvSpPr/>
          <p:nvPr/>
        </p:nvSpPr>
        <p:spPr>
          <a:xfrm>
            <a:off x="365760" y="5760720"/>
            <a:ext cx="11430000" cy="73152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8–12 H</a:t>
            </a:r>
            <a:endParaRPr lang="es-AR" sz="2200" dirty="0">
              <a:latin typeface="Bahnschrift SemiBold Condensed"/>
            </a:endParaRPr>
          </a:p>
        </p:txBody>
      </p:sp>
      <p:sp>
        <p:nvSpPr>
          <p:cNvPr id="2" name="Etiqueta sección"/>
          <p:cNvSpPr/>
          <p:nvPr/>
        </p:nvSpPr>
        <p:spPr>
          <a:xfrm>
            <a:off x="9894394" y="201168"/>
            <a:ext cx="202298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6 · 2/4</a:t>
            </a:r>
            <a:endParaRPr lang="es-AR" sz="1300" dirty="0">
              <a:latin typeface="Bahnschrift SemiBold Condensed"/>
            </a:endParaRPr>
          </a:p>
        </p:txBody>
      </p:sp>
      <p:sp>
        <p:nvSpPr>
          <p:cNvPr id="3" name="Título"/>
          <p:cNvSpPr/>
          <p:nvPr/>
        </p:nvSpPr>
        <p:spPr>
          <a:xfrm>
            <a:off x="274320" y="146304"/>
            <a:ext cx="539322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RESERVAS Y COMBUSTIBLES: 8–12 h</a:t>
            </a:r>
            <a:endParaRPr lang="es-AR" sz="260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81</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82.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Ícono hígado"/>
          <p:cNvGrpSpPr/>
          <p:nvPr/>
        </p:nvGrpSpPr>
        <p:grpSpPr>
          <a:xfrm>
            <a:off x="365760" y="1202436"/>
            <a:ext cx="1005840" cy="710928"/>
            <a:chOff x="365760" y="1202436"/>
            <a:chExt cx="1005840" cy="710928"/>
          </a:xfrm>
        </p:grpSpPr>
        <p:sp>
          <p:nvSpPr>
            <p:cNvPr id="5" name="Vesícula biliar"/>
            <p:cNvSpPr/>
            <p:nvPr/>
          </p:nvSpPr>
          <p:spPr>
            <a:xfrm>
              <a:off x="637337" y="1688860"/>
              <a:ext cx="130759" cy="22450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202436"/>
              <a:ext cx="1005840" cy="62362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202436"/>
              <a:ext cx="1005840" cy="62362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202436"/>
              <a:ext cx="1005840" cy="62362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Rótulo reserva 0"/>
          <p:cNvSpPr txBox="1"/>
          <p:nvPr/>
        </p:nvSpPr>
        <p:spPr>
          <a:xfrm>
            <a:off x="1554480" y="105156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Glucógeno hepático</a:t>
            </a:r>
            <a:endParaRPr lang="es-AR" sz="1500" dirty="0">
              <a:latin typeface="Bahnschrift SemiBold Condensed"/>
            </a:endParaRPr>
          </a:p>
        </p:txBody>
      </p:sp>
      <p:sp>
        <p:nvSpPr>
          <p:cNvPr id="10" name="!!Fondo barra 0"/>
          <p:cNvSpPr/>
          <p:nvPr/>
        </p:nvSpPr>
        <p:spPr>
          <a:xfrm>
            <a:off x="1554480" y="1481328"/>
            <a:ext cx="4754880" cy="457200"/>
          </a:xfrm>
          <a:prstGeom prst="rect">
            <a:avLst/>
          </a:prstGeom>
          <a:solidFill>
            <a:srgbClr val="FFFFFF">
              <a:alpha val="60000"/>
            </a:srgbClr>
          </a:solidFill>
          <a:ln w="15875" cap="rnd">
            <a:solidFill>
              <a:srgbClr val="1E1E1E"/>
            </a:solidFill>
            <a:round/>
          </a:ln>
        </p:spPr>
      </p:sp>
      <p:sp>
        <p:nvSpPr>
          <p:cNvPr id="11" name="!!Barra reserva 0"/>
          <p:cNvSpPr/>
          <p:nvPr/>
        </p:nvSpPr>
        <p:spPr>
          <a:xfrm>
            <a:off x="1572768" y="1499616"/>
            <a:ext cx="707746" cy="420624"/>
          </a:xfrm>
          <a:prstGeom prst="rect">
            <a:avLst/>
          </a:prstGeom>
          <a:gradFill rotWithShape="1">
            <a:gsLst>
              <a:gs pos="0">
                <a:srgbClr val="AF7CC5"/>
              </a:gs>
              <a:gs pos="100000">
                <a:srgbClr val="8E44AD"/>
              </a:gs>
            </a:gsLst>
            <a:lin ang="0" scaled="0"/>
          </a:gradFill>
          <a:ln>
            <a:noFill/>
          </a:ln>
        </p:spPr>
      </p:sp>
      <p:grpSp>
        <p:nvGrpSpPr>
          <p:cNvPr id="12" name="Ícono adiposo"/>
          <p:cNvGrpSpPr/>
          <p:nvPr/>
        </p:nvGrpSpPr>
        <p:grpSpPr>
          <a:xfrm>
            <a:off x="466344" y="2427732"/>
            <a:ext cx="804672" cy="804672"/>
            <a:chOff x="466344" y="2427732"/>
            <a:chExt cx="804672" cy="804672"/>
          </a:xfrm>
        </p:grpSpPr>
        <p:sp>
          <p:nvSpPr>
            <p:cNvPr id="13" name="Forma 12"/>
            <p:cNvSpPr/>
            <p:nvPr/>
          </p:nvSpPr>
          <p:spPr>
            <a:xfrm>
              <a:off x="466344" y="2427732"/>
              <a:ext cx="804672" cy="80467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4" name="Gota lipídica"/>
            <p:cNvSpPr/>
            <p:nvPr/>
          </p:nvSpPr>
          <p:spPr>
            <a:xfrm>
              <a:off x="506578" y="2467966"/>
              <a:ext cx="724205" cy="724205"/>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5" name="Forma 14"/>
            <p:cNvSpPr/>
            <p:nvPr/>
          </p:nvSpPr>
          <p:spPr>
            <a:xfrm rot="2400000">
              <a:off x="1045708" y="2476012"/>
              <a:ext cx="177028" cy="9656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6" name="Mitocondria"/>
            <p:cNvGrpSpPr/>
            <p:nvPr/>
          </p:nvGrpSpPr>
          <p:grpSpPr>
            <a:xfrm>
              <a:off x="530718" y="3023189"/>
              <a:ext cx="80467" cy="40234"/>
              <a:chOff x="530718" y="3023189"/>
              <a:chExt cx="80467" cy="40234"/>
            </a:xfrm>
          </p:grpSpPr>
          <p:sp>
            <p:nvSpPr>
              <p:cNvPr id="17" name="Forma 16"/>
              <p:cNvSpPr/>
              <p:nvPr/>
            </p:nvSpPr>
            <p:spPr>
              <a:xfrm rot="-2400000">
                <a:off x="530718" y="3023189"/>
                <a:ext cx="80467" cy="4023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rot="-2400000">
                <a:off x="536350" y="3028822"/>
                <a:ext cx="69202" cy="28968"/>
              </a:xfrm>
              <a:prstGeom prst="ellipse">
                <a:avLst/>
              </a:prstGeom>
              <a:solidFill>
                <a:srgbClr val="F8D8B4"/>
              </a:solidFill>
              <a:ln w="9525" cap="rnd">
                <a:solidFill>
                  <a:srgbClr val="B2732B"/>
                </a:solidFill>
                <a:round/>
              </a:ln>
            </p:spPr>
          </p:sp>
          <p:sp>
            <p:nvSpPr>
              <p:cNvPr id="19" name="Forma 18"/>
              <p:cNvSpPr/>
              <p:nvPr/>
            </p:nvSpPr>
            <p:spPr>
              <a:xfrm rot="-2400000">
                <a:off x="536350" y="3028822"/>
                <a:ext cx="69202" cy="289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20" name="!!Rótulo reserva 1"/>
          <p:cNvSpPr txBox="1"/>
          <p:nvPr/>
        </p:nvSpPr>
        <p:spPr>
          <a:xfrm>
            <a:off x="1554480" y="237744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TAG del tejido adiposo</a:t>
            </a:r>
            <a:endParaRPr lang="es-AR" sz="1500" dirty="0">
              <a:latin typeface="Bahnschrift SemiBold Condensed"/>
            </a:endParaRPr>
          </a:p>
        </p:txBody>
      </p:sp>
      <p:sp>
        <p:nvSpPr>
          <p:cNvPr id="21" name="!!Fondo barra 1"/>
          <p:cNvSpPr/>
          <p:nvPr/>
        </p:nvSpPr>
        <p:spPr>
          <a:xfrm>
            <a:off x="1554480" y="2807208"/>
            <a:ext cx="4754880" cy="457200"/>
          </a:xfrm>
          <a:prstGeom prst="rect">
            <a:avLst/>
          </a:prstGeom>
          <a:solidFill>
            <a:srgbClr val="FFFFFF">
              <a:alpha val="60000"/>
            </a:srgbClr>
          </a:solidFill>
          <a:ln w="15875" cap="rnd">
            <a:solidFill>
              <a:srgbClr val="1E1E1E"/>
            </a:solidFill>
            <a:round/>
          </a:ln>
        </p:spPr>
      </p:sp>
      <p:sp>
        <p:nvSpPr>
          <p:cNvPr id="22" name="!!Barra reserva 1"/>
          <p:cNvSpPr/>
          <p:nvPr/>
        </p:nvSpPr>
        <p:spPr>
          <a:xfrm>
            <a:off x="1572768" y="2825496"/>
            <a:ext cx="4482389" cy="420624"/>
          </a:xfrm>
          <a:prstGeom prst="rect">
            <a:avLst/>
          </a:prstGeom>
          <a:gradFill rotWithShape="1">
            <a:gsLst>
              <a:gs pos="0">
                <a:srgbClr val="E0C455"/>
              </a:gs>
              <a:gs pos="100000">
                <a:srgbClr val="D4AC0D"/>
              </a:gs>
            </a:gsLst>
            <a:lin ang="0" scaled="0"/>
          </a:gradFill>
          <a:ln>
            <a:noFill/>
          </a:ln>
        </p:spPr>
      </p:sp>
      <p:grpSp>
        <p:nvGrpSpPr>
          <p:cNvPr id="23" name="Ícono músculo"/>
          <p:cNvGrpSpPr/>
          <p:nvPr/>
        </p:nvGrpSpPr>
        <p:grpSpPr>
          <a:xfrm>
            <a:off x="365760" y="3904488"/>
            <a:ext cx="1005840" cy="329916"/>
            <a:chOff x="365760" y="3904488"/>
            <a:chExt cx="1005840" cy="329916"/>
          </a:xfrm>
        </p:grpSpPr>
        <p:grpSp>
          <p:nvGrpSpPr>
            <p:cNvPr id="24" name="Fibra"/>
            <p:cNvGrpSpPr/>
            <p:nvPr/>
          </p:nvGrpSpPr>
          <p:grpSpPr>
            <a:xfrm>
              <a:off x="365760" y="3904488"/>
              <a:ext cx="965606" cy="160934"/>
              <a:chOff x="365760" y="3904488"/>
              <a:chExt cx="965606" cy="160934"/>
            </a:xfrm>
          </p:grpSpPr>
          <p:sp>
            <p:nvSpPr>
              <p:cNvPr id="25" name="Forma 24"/>
              <p:cNvSpPr/>
              <p:nvPr/>
            </p:nvSpPr>
            <p:spPr>
              <a:xfrm>
                <a:off x="365760" y="3904488"/>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6" name="Forma 25"/>
              <p:cNvSpPr/>
              <p:nvPr/>
            </p:nvSpPr>
            <p:spPr>
              <a:xfrm>
                <a:off x="405994" y="3904488"/>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27" name="Forma 26"/>
              <p:cNvSpPr/>
              <p:nvPr/>
            </p:nvSpPr>
            <p:spPr>
              <a:xfrm>
                <a:off x="558881"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896844"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1186525"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1263774" y="3910925"/>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1" name="Fibra_2"/>
            <p:cNvGrpSpPr/>
            <p:nvPr/>
          </p:nvGrpSpPr>
          <p:grpSpPr>
            <a:xfrm>
              <a:off x="405994" y="4073469"/>
              <a:ext cx="965606" cy="160934"/>
              <a:chOff x="405994" y="4073469"/>
              <a:chExt cx="965606" cy="160934"/>
            </a:xfrm>
          </p:grpSpPr>
          <p:sp>
            <p:nvSpPr>
              <p:cNvPr id="32" name="Forma 31"/>
              <p:cNvSpPr/>
              <p:nvPr/>
            </p:nvSpPr>
            <p:spPr>
              <a:xfrm>
                <a:off x="405994" y="4073469"/>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2"/>
              <p:cNvSpPr/>
              <p:nvPr/>
            </p:nvSpPr>
            <p:spPr>
              <a:xfrm>
                <a:off x="446227" y="4073469"/>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34" name="Forma 33"/>
              <p:cNvSpPr/>
              <p:nvPr/>
            </p:nvSpPr>
            <p:spPr>
              <a:xfrm>
                <a:off x="599115"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937077"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1226759"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1304008" y="4079906"/>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8" name="!!Rótulo reserva 2"/>
          <p:cNvSpPr txBox="1"/>
          <p:nvPr/>
        </p:nvSpPr>
        <p:spPr>
          <a:xfrm>
            <a:off x="1554480" y="370332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Proteína muscular</a:t>
            </a:r>
            <a:endParaRPr lang="es-AR" sz="1500" dirty="0">
              <a:latin typeface="Bahnschrift SemiBold Condensed"/>
            </a:endParaRPr>
          </a:p>
        </p:txBody>
      </p:sp>
      <p:sp>
        <p:nvSpPr>
          <p:cNvPr id="39" name="!!Fondo barra 2"/>
          <p:cNvSpPr/>
          <p:nvPr/>
        </p:nvSpPr>
        <p:spPr>
          <a:xfrm>
            <a:off x="1554480" y="4133088"/>
            <a:ext cx="4754880" cy="457200"/>
          </a:xfrm>
          <a:prstGeom prst="rect">
            <a:avLst/>
          </a:prstGeom>
          <a:solidFill>
            <a:srgbClr val="FFFFFF">
              <a:alpha val="60000"/>
            </a:srgbClr>
          </a:solidFill>
          <a:ln w="15875" cap="rnd">
            <a:solidFill>
              <a:srgbClr val="1E1E1E"/>
            </a:solidFill>
            <a:round/>
          </a:ln>
        </p:spPr>
      </p:sp>
      <p:sp>
        <p:nvSpPr>
          <p:cNvPr id="40" name="!!Barra reserva 2"/>
          <p:cNvSpPr/>
          <p:nvPr/>
        </p:nvSpPr>
        <p:spPr>
          <a:xfrm>
            <a:off x="1572768" y="4151376"/>
            <a:ext cx="4529572" cy="420624"/>
          </a:xfrm>
          <a:prstGeom prst="rect">
            <a:avLst/>
          </a:prstGeom>
          <a:gradFill rotWithShape="1">
            <a:gsLst>
              <a:gs pos="0">
                <a:srgbClr val="D2746A"/>
              </a:gs>
              <a:gs pos="100000">
                <a:srgbClr val="C0392B"/>
              </a:gs>
            </a:gsLst>
            <a:lin ang="0" scaled="0"/>
          </a:gradFill>
          <a:ln>
            <a:noFill/>
          </a:ln>
        </p:spPr>
      </p:sp>
      <p:grpSp>
        <p:nvGrpSpPr>
          <p:cNvPr id="41" name="!!Cerebro fase"/>
          <p:cNvGrpSpPr/>
          <p:nvPr/>
        </p:nvGrpSpPr>
        <p:grpSpPr>
          <a:xfrm>
            <a:off x="6675120" y="960120"/>
            <a:ext cx="1554480" cy="1212494"/>
            <a:chOff x="6675120" y="960120"/>
            <a:chExt cx="1554480" cy="1212494"/>
          </a:xfrm>
        </p:grpSpPr>
        <p:sp>
          <p:nvSpPr>
            <p:cNvPr id="42" name="Cerebelo"/>
            <p:cNvSpPr/>
            <p:nvPr/>
          </p:nvSpPr>
          <p:spPr>
            <a:xfrm>
              <a:off x="6675120" y="960120"/>
              <a:ext cx="1554480" cy="1212494"/>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3" name="Forma 42"/>
            <p:cNvSpPr/>
            <p:nvPr/>
          </p:nvSpPr>
          <p:spPr>
            <a:xfrm>
              <a:off x="6675120" y="960120"/>
              <a:ext cx="1554480" cy="1212494"/>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4" name="Forma 43"/>
            <p:cNvSpPr/>
            <p:nvPr/>
          </p:nvSpPr>
          <p:spPr>
            <a:xfrm>
              <a:off x="6675120" y="960120"/>
              <a:ext cx="1554480" cy="1212494"/>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5" name="Forma 44"/>
            <p:cNvSpPr/>
            <p:nvPr/>
          </p:nvSpPr>
          <p:spPr>
            <a:xfrm>
              <a:off x="6675120" y="960120"/>
              <a:ext cx="1554480" cy="1212494"/>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46" name="!!Rótulo cerebro"/>
          <p:cNvSpPr txBox="1"/>
          <p:nvPr/>
        </p:nvSpPr>
        <p:spPr>
          <a:xfrm>
            <a:off x="8366760" y="1005840"/>
            <a:ext cx="3474720" cy="365760"/>
          </a:xfrm>
          <a:prstGeom prst="rect">
            <a:avLst/>
          </a:prstGeom>
          <a:noFill/>
          <a:ln>
            <a:noFill/>
          </a:ln>
        </p:spPr>
        <p:txBody>
          <a:bodyPr wrap="square" lIns="0" tIns="0" rIns="0" bIns="0" anchor="t"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Combustible cerebral</a:t>
            </a:r>
            <a:endParaRPr lang="es-AR" sz="1500" dirty="0">
              <a:latin typeface="Bahnschrift SemiBold Condensed"/>
            </a:endParaRPr>
          </a:p>
        </p:txBody>
      </p:sp>
      <p:sp>
        <p:nvSpPr>
          <p:cNvPr id="47" name="!!Cerebro glucosa"/>
          <p:cNvSpPr/>
          <p:nvPr/>
        </p:nvSpPr>
        <p:spPr>
          <a:xfrm>
            <a:off x="8366760" y="1463040"/>
            <a:ext cx="2674620" cy="502920"/>
          </a:xfrm>
          <a:prstGeom prst="rect">
            <a:avLst/>
          </a:prstGeom>
          <a:gradFill rotWithShape="1">
            <a:gsLst>
              <a:gs pos="0">
                <a:srgbClr val="75A7D5"/>
              </a:gs>
              <a:gs pos="55000">
                <a:srgbClr val="3B82C4"/>
              </a:gs>
              <a:gs pos="100000">
                <a:srgbClr val="3575B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48" name="!!Cerebro cetonas"/>
          <p:cNvSpPr/>
          <p:nvPr/>
        </p:nvSpPr>
        <p:spPr>
          <a:xfrm>
            <a:off x="11041380" y="1463040"/>
            <a:ext cx="754380" cy="502920"/>
          </a:xfrm>
          <a:prstGeom prst="rect">
            <a:avLst/>
          </a:prstGeom>
          <a:gradFill rotWithShape="1">
            <a:gsLst>
              <a:gs pos="0">
                <a:srgbClr val="D45D8C"/>
              </a:gs>
              <a:gs pos="55000">
                <a:srgbClr val="C2185B"/>
              </a:gs>
              <a:gs pos="100000">
                <a:srgbClr val="AE1551"/>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endParaRPr lang="es-AR" sz="1200" dirty="0">
              <a:latin typeface="Bahnschrift SemiBold Condensed"/>
            </a:endParaRPr>
          </a:p>
        </p:txBody>
      </p:sp>
      <p:sp>
        <p:nvSpPr>
          <p:cNvPr id="49" name="!!Nota esquema"/>
          <p:cNvSpPr txBox="1"/>
          <p:nvPr/>
        </p:nvSpPr>
        <p:spPr>
          <a:xfrm>
            <a:off x="8366760" y="2011680"/>
            <a:ext cx="3474720" cy="320040"/>
          </a:xfrm>
          <a:prstGeom prst="rect">
            <a:avLst/>
          </a:prstGeom>
          <a:noFill/>
          <a:ln>
            <a:noFill/>
          </a:ln>
        </p:spPr>
        <p:txBody>
          <a:bodyPr wrap="square" lIns="0" tIns="0" rIns="0" bIns="0" anchor="t" rtlCol="0">
            <a:noAutofit/>
          </a:bodyPr>
          <a:lstStyle/>
          <a:p>
            <a:pPr algn="l">
              <a:spcAft>
                <a:spcPts val="300"/>
              </a:spcAft>
              <a:buNone/>
            </a:pPr>
            <a:r>
              <a:rPr lang="es-AR" sz="1100" dirty="0">
                <a:solidFill>
                  <a:srgbClr val="5D6D7E"/>
                </a:solidFill>
                <a:latin typeface="Bahnschrift"/>
                <a:ea typeface="Bahnschrift"/>
                <a:cs typeface="Bahnschrift"/>
                <a:sym typeface="Bahnschrift"/>
              </a:rPr>
              <a:t>proporciones esquemáticas</a:t>
            </a:r>
            <a:endParaRPr lang="es-AR" sz="1100" dirty="0">
              <a:latin typeface="Bahnschrift"/>
            </a:endParaRPr>
          </a:p>
        </p:txBody>
      </p:sp>
      <p:sp>
        <p:nvSpPr>
          <p:cNvPr id="50" name="!!Texto reservas"/>
          <p:cNvSpPr/>
          <p:nvPr/>
        </p:nvSpPr>
        <p:spPr>
          <a:xfrm>
            <a:off x="6675120" y="2697480"/>
            <a:ext cx="512064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Marcada caída</a:t>
            </a:r>
            <a:r>
              <a:rPr lang="es-AR" sz="1650" dirty="0">
                <a:solidFill>
                  <a:srgbClr val="1E1E1E"/>
                </a:solidFill>
                <a:latin typeface="Bahnschrift"/>
                <a:ea typeface="Bahnschrift"/>
                <a:cs typeface="Bahnschrift"/>
                <a:sym typeface="Bahnschrift"/>
              </a:rPr>
              <a:t> del glucógeno hepático: gluconeogénesis </a:t>
            </a:r>
            <a:r>
              <a:rPr lang="es-AR" sz="1650" b="1" dirty="0">
                <a:solidFill>
                  <a:srgbClr val="1E1E1E"/>
                </a:solidFill>
                <a:latin typeface="Bahnschrift"/>
                <a:ea typeface="Bahnschrift"/>
                <a:cs typeface="Bahnschrift"/>
                <a:sym typeface="Bahnschrift"/>
              </a:rPr>
              <a:t>indispensable</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AG plasmáticos y </a:t>
            </a:r>
            <a:r>
              <a:rPr lang="es-AR" sz="1650" b="1" dirty="0">
                <a:solidFill>
                  <a:srgbClr val="1E1E1E"/>
                </a:solidFill>
                <a:latin typeface="Bahnschrift"/>
                <a:ea typeface="Bahnschrift"/>
                <a:cs typeface="Bahnschrift"/>
                <a:sym typeface="Bahnschrift"/>
              </a:rPr>
              <a:t>cuerpos cetónicos</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Balance nitrogenado puede tornarse </a:t>
            </a:r>
            <a:r>
              <a:rPr lang="es-AR" sz="1650" b="1" dirty="0">
                <a:solidFill>
                  <a:srgbClr val="1E1E1E"/>
                </a:solidFill>
                <a:latin typeface="Bahnschrift"/>
                <a:ea typeface="Bahnschrift"/>
                <a:cs typeface="Bahnschrift"/>
                <a:sym typeface="Bahnschrift"/>
              </a:rPr>
              <a:t>muy negativo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hígado exporta glucosa y cetonas, </a:t>
            </a:r>
            <a:r>
              <a:rPr lang="es-AR" sz="1650" b="1" dirty="0">
                <a:solidFill>
                  <a:srgbClr val="1E1E1E"/>
                </a:solidFill>
                <a:latin typeface="Bahnschrift"/>
                <a:ea typeface="Bahnschrift"/>
                <a:cs typeface="Bahnschrift"/>
                <a:sym typeface="Bahnschrift"/>
              </a:rPr>
              <a:t>no usa sus cetonas</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t>
            </a:r>
            <a:r>
              <a:rPr lang="es-AR" sz="1650" b="1" dirty="0">
                <a:solidFill>
                  <a:srgbClr val="1E1E1E"/>
                </a:solidFill>
                <a:latin typeface="Bahnschrift"/>
                <a:ea typeface="Bahnschrift"/>
                <a:cs typeface="Bahnschrift"/>
                <a:sym typeface="Bahnschrift"/>
              </a:rPr>
              <a:t>glicerol</a:t>
            </a:r>
            <a:r>
              <a:rPr lang="es-AR" sz="1650" dirty="0">
                <a:solidFill>
                  <a:srgbClr val="1E1E1E"/>
                </a:solidFill>
                <a:latin typeface="Bahnschrift"/>
                <a:ea typeface="Bahnschrift"/>
                <a:cs typeface="Bahnschrift"/>
                <a:sym typeface="Bahnschrift"/>
              </a:rPr>
              <a:t> aporta carbonos sin pérdida muscular.</a:t>
            </a:r>
            <a:endParaRPr lang="es-AR" sz="1650" dirty="0">
              <a:latin typeface="Bahnschrift"/>
            </a:endParaRPr>
          </a:p>
        </p:txBody>
      </p:sp>
      <p:sp>
        <p:nvSpPr>
          <p:cNvPr id="51" name="!!Glucemia fase"/>
          <p:cNvSpPr/>
          <p:nvPr/>
        </p:nvSpPr>
        <p:spPr>
          <a:xfrm>
            <a:off x="365760" y="5120640"/>
            <a:ext cx="5943600" cy="457200"/>
          </a:xfrm>
          <a:prstGeom prst="rect">
            <a:avLst/>
          </a:prstGeom>
          <a:solidFill>
            <a:srgbClr val="DCEBF8"/>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Glucemia sostenida por gluconeogénesis</a:t>
            </a:r>
            <a:endParaRPr lang="es-AR" sz="1350" dirty="0">
              <a:latin typeface="Bahnschrift SemiBold Condensed"/>
            </a:endParaRPr>
          </a:p>
        </p:txBody>
      </p:sp>
      <p:sp>
        <p:nvSpPr>
          <p:cNvPr id="52" name="!!Fase actual"/>
          <p:cNvSpPr/>
          <p:nvPr/>
        </p:nvSpPr>
        <p:spPr>
          <a:xfrm>
            <a:off x="365760" y="5760720"/>
            <a:ext cx="11430000" cy="73152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24–48 H</a:t>
            </a:r>
            <a:endParaRPr lang="es-AR" sz="2200" dirty="0">
              <a:latin typeface="Bahnschrift SemiBold Condensed"/>
            </a:endParaRPr>
          </a:p>
        </p:txBody>
      </p:sp>
      <p:sp>
        <p:nvSpPr>
          <p:cNvPr id="2" name="Etiqueta sección"/>
          <p:cNvSpPr/>
          <p:nvPr/>
        </p:nvSpPr>
        <p:spPr>
          <a:xfrm>
            <a:off x="9895265" y="201168"/>
            <a:ext cx="202211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6 · 3/4</a:t>
            </a:r>
            <a:endParaRPr lang="es-AR" sz="1300" dirty="0">
              <a:latin typeface="Bahnschrift SemiBold Condensed"/>
            </a:endParaRPr>
          </a:p>
        </p:txBody>
      </p:sp>
      <p:sp>
        <p:nvSpPr>
          <p:cNvPr id="3" name="Título"/>
          <p:cNvSpPr/>
          <p:nvPr/>
        </p:nvSpPr>
        <p:spPr>
          <a:xfrm>
            <a:off x="274320" y="146304"/>
            <a:ext cx="564689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RESERVAS Y COMBUSTIBLES: 24–48 h</a:t>
            </a:r>
            <a:endParaRPr lang="es-AR" sz="260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82</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83.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Ícono hígado"/>
          <p:cNvGrpSpPr/>
          <p:nvPr/>
        </p:nvGrpSpPr>
        <p:grpSpPr>
          <a:xfrm>
            <a:off x="365760" y="1202436"/>
            <a:ext cx="1005840" cy="710928"/>
            <a:chOff x="365760" y="1202436"/>
            <a:chExt cx="1005840" cy="710928"/>
          </a:xfrm>
        </p:grpSpPr>
        <p:sp>
          <p:nvSpPr>
            <p:cNvPr id="5" name="Vesícula biliar"/>
            <p:cNvSpPr/>
            <p:nvPr/>
          </p:nvSpPr>
          <p:spPr>
            <a:xfrm>
              <a:off x="637337" y="1688860"/>
              <a:ext cx="130759" cy="22450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202436"/>
              <a:ext cx="1005840" cy="62362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202436"/>
              <a:ext cx="1005840" cy="62362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202436"/>
              <a:ext cx="1005840" cy="62362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Rótulo reserva 0"/>
          <p:cNvSpPr txBox="1"/>
          <p:nvPr/>
        </p:nvSpPr>
        <p:spPr>
          <a:xfrm>
            <a:off x="1554480" y="105156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Glucógeno hepático</a:t>
            </a:r>
            <a:endParaRPr lang="es-AR" sz="1500" dirty="0">
              <a:latin typeface="Bahnschrift SemiBold Condensed"/>
            </a:endParaRPr>
          </a:p>
        </p:txBody>
      </p:sp>
      <p:sp>
        <p:nvSpPr>
          <p:cNvPr id="10" name="!!Fondo barra 0"/>
          <p:cNvSpPr/>
          <p:nvPr/>
        </p:nvSpPr>
        <p:spPr>
          <a:xfrm>
            <a:off x="1554480" y="1481328"/>
            <a:ext cx="4754880" cy="457200"/>
          </a:xfrm>
          <a:prstGeom prst="rect">
            <a:avLst/>
          </a:prstGeom>
          <a:solidFill>
            <a:srgbClr val="FFFFFF">
              <a:alpha val="60000"/>
            </a:srgbClr>
          </a:solidFill>
          <a:ln w="15875" cap="rnd">
            <a:solidFill>
              <a:srgbClr val="1E1E1E"/>
            </a:solidFill>
            <a:round/>
          </a:ln>
        </p:spPr>
      </p:sp>
      <p:sp>
        <p:nvSpPr>
          <p:cNvPr id="11" name="!!Barra reserva 0"/>
          <p:cNvSpPr/>
          <p:nvPr/>
        </p:nvSpPr>
        <p:spPr>
          <a:xfrm>
            <a:off x="1572768" y="1499616"/>
            <a:ext cx="235915" cy="420624"/>
          </a:xfrm>
          <a:prstGeom prst="rect">
            <a:avLst/>
          </a:prstGeom>
          <a:gradFill rotWithShape="1">
            <a:gsLst>
              <a:gs pos="0">
                <a:srgbClr val="AF7CC5"/>
              </a:gs>
              <a:gs pos="100000">
                <a:srgbClr val="8E44AD"/>
              </a:gs>
            </a:gsLst>
            <a:lin ang="0" scaled="0"/>
          </a:gradFill>
          <a:ln>
            <a:noFill/>
          </a:ln>
        </p:spPr>
      </p:sp>
      <p:grpSp>
        <p:nvGrpSpPr>
          <p:cNvPr id="12" name="Ícono adiposo"/>
          <p:cNvGrpSpPr/>
          <p:nvPr/>
        </p:nvGrpSpPr>
        <p:grpSpPr>
          <a:xfrm>
            <a:off x="466344" y="2427732"/>
            <a:ext cx="804672" cy="804672"/>
            <a:chOff x="466344" y="2427732"/>
            <a:chExt cx="804672" cy="804672"/>
          </a:xfrm>
        </p:grpSpPr>
        <p:sp>
          <p:nvSpPr>
            <p:cNvPr id="13" name="Forma 12"/>
            <p:cNvSpPr/>
            <p:nvPr/>
          </p:nvSpPr>
          <p:spPr>
            <a:xfrm>
              <a:off x="466344" y="2427732"/>
              <a:ext cx="804672" cy="80467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4" name="Gota lipídica"/>
            <p:cNvSpPr/>
            <p:nvPr/>
          </p:nvSpPr>
          <p:spPr>
            <a:xfrm>
              <a:off x="506578" y="2467966"/>
              <a:ext cx="724205" cy="724205"/>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5" name="Forma 14"/>
            <p:cNvSpPr/>
            <p:nvPr/>
          </p:nvSpPr>
          <p:spPr>
            <a:xfrm rot="2400000">
              <a:off x="1045708" y="2476012"/>
              <a:ext cx="177028" cy="9656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6" name="Mitocondria"/>
            <p:cNvGrpSpPr/>
            <p:nvPr/>
          </p:nvGrpSpPr>
          <p:grpSpPr>
            <a:xfrm>
              <a:off x="530718" y="3023189"/>
              <a:ext cx="80467" cy="40234"/>
              <a:chOff x="530718" y="3023189"/>
              <a:chExt cx="80467" cy="40234"/>
            </a:xfrm>
          </p:grpSpPr>
          <p:sp>
            <p:nvSpPr>
              <p:cNvPr id="17" name="Forma 16"/>
              <p:cNvSpPr/>
              <p:nvPr/>
            </p:nvSpPr>
            <p:spPr>
              <a:xfrm rot="-2400000">
                <a:off x="530718" y="3023189"/>
                <a:ext cx="80467" cy="4023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rot="-2400000">
                <a:off x="536350" y="3028822"/>
                <a:ext cx="69202" cy="28968"/>
              </a:xfrm>
              <a:prstGeom prst="ellipse">
                <a:avLst/>
              </a:prstGeom>
              <a:solidFill>
                <a:srgbClr val="F8D8B4"/>
              </a:solidFill>
              <a:ln w="9525" cap="rnd">
                <a:solidFill>
                  <a:srgbClr val="B2732B"/>
                </a:solidFill>
                <a:round/>
              </a:ln>
            </p:spPr>
          </p:sp>
          <p:sp>
            <p:nvSpPr>
              <p:cNvPr id="19" name="Forma 18"/>
              <p:cNvSpPr/>
              <p:nvPr/>
            </p:nvSpPr>
            <p:spPr>
              <a:xfrm rot="-2400000">
                <a:off x="536350" y="3028822"/>
                <a:ext cx="69202" cy="289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20" name="!!Rótulo reserva 1"/>
          <p:cNvSpPr txBox="1"/>
          <p:nvPr/>
        </p:nvSpPr>
        <p:spPr>
          <a:xfrm>
            <a:off x="1554480" y="237744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TAG del tejido adiposo</a:t>
            </a:r>
            <a:endParaRPr lang="es-AR" sz="1500" dirty="0">
              <a:latin typeface="Bahnschrift SemiBold Condensed"/>
            </a:endParaRPr>
          </a:p>
        </p:txBody>
      </p:sp>
      <p:sp>
        <p:nvSpPr>
          <p:cNvPr id="21" name="!!Fondo barra 1"/>
          <p:cNvSpPr/>
          <p:nvPr/>
        </p:nvSpPr>
        <p:spPr>
          <a:xfrm>
            <a:off x="1554480" y="2807208"/>
            <a:ext cx="4754880" cy="457200"/>
          </a:xfrm>
          <a:prstGeom prst="rect">
            <a:avLst/>
          </a:prstGeom>
          <a:solidFill>
            <a:srgbClr val="FFFFFF">
              <a:alpha val="60000"/>
            </a:srgbClr>
          </a:solidFill>
          <a:ln w="15875" cap="rnd">
            <a:solidFill>
              <a:srgbClr val="1E1E1E"/>
            </a:solidFill>
            <a:round/>
          </a:ln>
        </p:spPr>
      </p:sp>
      <p:sp>
        <p:nvSpPr>
          <p:cNvPr id="22" name="!!Barra reserva 1"/>
          <p:cNvSpPr/>
          <p:nvPr/>
        </p:nvSpPr>
        <p:spPr>
          <a:xfrm>
            <a:off x="1572768" y="2825496"/>
            <a:ext cx="4010558" cy="420624"/>
          </a:xfrm>
          <a:prstGeom prst="rect">
            <a:avLst/>
          </a:prstGeom>
          <a:gradFill rotWithShape="1">
            <a:gsLst>
              <a:gs pos="0">
                <a:srgbClr val="E0C455"/>
              </a:gs>
              <a:gs pos="100000">
                <a:srgbClr val="D4AC0D"/>
              </a:gs>
            </a:gsLst>
            <a:lin ang="0" scaled="0"/>
          </a:gradFill>
          <a:ln>
            <a:noFill/>
          </a:ln>
        </p:spPr>
      </p:sp>
      <p:grpSp>
        <p:nvGrpSpPr>
          <p:cNvPr id="23" name="Ícono músculo"/>
          <p:cNvGrpSpPr/>
          <p:nvPr/>
        </p:nvGrpSpPr>
        <p:grpSpPr>
          <a:xfrm>
            <a:off x="365760" y="3904488"/>
            <a:ext cx="1005840" cy="329916"/>
            <a:chOff x="365760" y="3904488"/>
            <a:chExt cx="1005840" cy="329916"/>
          </a:xfrm>
        </p:grpSpPr>
        <p:grpSp>
          <p:nvGrpSpPr>
            <p:cNvPr id="24" name="Fibra"/>
            <p:cNvGrpSpPr/>
            <p:nvPr/>
          </p:nvGrpSpPr>
          <p:grpSpPr>
            <a:xfrm>
              <a:off x="365760" y="3904488"/>
              <a:ext cx="965606" cy="160934"/>
              <a:chOff x="365760" y="3904488"/>
              <a:chExt cx="965606" cy="160934"/>
            </a:xfrm>
          </p:grpSpPr>
          <p:sp>
            <p:nvSpPr>
              <p:cNvPr id="25" name="Forma 24"/>
              <p:cNvSpPr/>
              <p:nvPr/>
            </p:nvSpPr>
            <p:spPr>
              <a:xfrm>
                <a:off x="365760" y="3904488"/>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6" name="Forma 25"/>
              <p:cNvSpPr/>
              <p:nvPr/>
            </p:nvSpPr>
            <p:spPr>
              <a:xfrm>
                <a:off x="405994" y="3904488"/>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27" name="Forma 26"/>
              <p:cNvSpPr/>
              <p:nvPr/>
            </p:nvSpPr>
            <p:spPr>
              <a:xfrm>
                <a:off x="558881"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896844"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1186525" y="39109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1263774" y="3910925"/>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1" name="Fibra_2"/>
            <p:cNvGrpSpPr/>
            <p:nvPr/>
          </p:nvGrpSpPr>
          <p:grpSpPr>
            <a:xfrm>
              <a:off x="405994" y="4073469"/>
              <a:ext cx="965606" cy="160934"/>
              <a:chOff x="405994" y="4073469"/>
              <a:chExt cx="965606" cy="160934"/>
            </a:xfrm>
          </p:grpSpPr>
          <p:sp>
            <p:nvSpPr>
              <p:cNvPr id="32" name="Forma 31"/>
              <p:cNvSpPr/>
              <p:nvPr/>
            </p:nvSpPr>
            <p:spPr>
              <a:xfrm>
                <a:off x="405994" y="4073469"/>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2"/>
              <p:cNvSpPr/>
              <p:nvPr/>
            </p:nvSpPr>
            <p:spPr>
              <a:xfrm>
                <a:off x="446227" y="4073469"/>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34" name="Forma 33"/>
              <p:cNvSpPr/>
              <p:nvPr/>
            </p:nvSpPr>
            <p:spPr>
              <a:xfrm>
                <a:off x="599115"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937077"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1226759" y="40799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1304008" y="4079906"/>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8" name="!!Rótulo reserva 2"/>
          <p:cNvSpPr txBox="1"/>
          <p:nvPr/>
        </p:nvSpPr>
        <p:spPr>
          <a:xfrm>
            <a:off x="1554480" y="3703320"/>
            <a:ext cx="4114800" cy="36576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Proteína muscular</a:t>
            </a:r>
            <a:endParaRPr lang="es-AR" sz="1500" dirty="0">
              <a:latin typeface="Bahnschrift SemiBold Condensed"/>
            </a:endParaRPr>
          </a:p>
        </p:txBody>
      </p:sp>
      <p:sp>
        <p:nvSpPr>
          <p:cNvPr id="39" name="!!Fondo barra 2"/>
          <p:cNvSpPr/>
          <p:nvPr/>
        </p:nvSpPr>
        <p:spPr>
          <a:xfrm>
            <a:off x="1554480" y="4133088"/>
            <a:ext cx="4754880" cy="457200"/>
          </a:xfrm>
          <a:prstGeom prst="rect">
            <a:avLst/>
          </a:prstGeom>
          <a:solidFill>
            <a:srgbClr val="FFFFFF">
              <a:alpha val="60000"/>
            </a:srgbClr>
          </a:solidFill>
          <a:ln w="15875" cap="rnd">
            <a:solidFill>
              <a:srgbClr val="1E1E1E"/>
            </a:solidFill>
            <a:round/>
          </a:ln>
        </p:spPr>
      </p:sp>
      <p:sp>
        <p:nvSpPr>
          <p:cNvPr id="40" name="!!Barra reserva 2"/>
          <p:cNvSpPr/>
          <p:nvPr/>
        </p:nvSpPr>
        <p:spPr>
          <a:xfrm>
            <a:off x="1572768" y="4151376"/>
            <a:ext cx="4388023" cy="420624"/>
          </a:xfrm>
          <a:prstGeom prst="rect">
            <a:avLst/>
          </a:prstGeom>
          <a:gradFill rotWithShape="1">
            <a:gsLst>
              <a:gs pos="0">
                <a:srgbClr val="D2746A"/>
              </a:gs>
              <a:gs pos="100000">
                <a:srgbClr val="C0392B"/>
              </a:gs>
            </a:gsLst>
            <a:lin ang="0" scaled="0"/>
          </a:gradFill>
          <a:ln>
            <a:noFill/>
          </a:ln>
        </p:spPr>
      </p:sp>
      <p:grpSp>
        <p:nvGrpSpPr>
          <p:cNvPr id="41" name="!!Cerebro fase"/>
          <p:cNvGrpSpPr/>
          <p:nvPr/>
        </p:nvGrpSpPr>
        <p:grpSpPr>
          <a:xfrm>
            <a:off x="6675120" y="960120"/>
            <a:ext cx="1554480" cy="1212494"/>
            <a:chOff x="6675120" y="960120"/>
            <a:chExt cx="1554480" cy="1212494"/>
          </a:xfrm>
        </p:grpSpPr>
        <p:sp>
          <p:nvSpPr>
            <p:cNvPr id="42" name="Cerebelo"/>
            <p:cNvSpPr/>
            <p:nvPr/>
          </p:nvSpPr>
          <p:spPr>
            <a:xfrm>
              <a:off x="6675120" y="960120"/>
              <a:ext cx="1554480" cy="1212494"/>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3" name="Forma 42"/>
            <p:cNvSpPr/>
            <p:nvPr/>
          </p:nvSpPr>
          <p:spPr>
            <a:xfrm>
              <a:off x="6675120" y="960120"/>
              <a:ext cx="1554480" cy="1212494"/>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4" name="Forma 43"/>
            <p:cNvSpPr/>
            <p:nvPr/>
          </p:nvSpPr>
          <p:spPr>
            <a:xfrm>
              <a:off x="6675120" y="960120"/>
              <a:ext cx="1554480" cy="1212494"/>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5" name="Forma 44"/>
            <p:cNvSpPr/>
            <p:nvPr/>
          </p:nvSpPr>
          <p:spPr>
            <a:xfrm>
              <a:off x="6675120" y="960120"/>
              <a:ext cx="1554480" cy="1212494"/>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46" name="!!Rótulo cerebro"/>
          <p:cNvSpPr txBox="1"/>
          <p:nvPr/>
        </p:nvSpPr>
        <p:spPr>
          <a:xfrm>
            <a:off x="8366760" y="1005840"/>
            <a:ext cx="3474720" cy="365760"/>
          </a:xfrm>
          <a:prstGeom prst="rect">
            <a:avLst/>
          </a:prstGeom>
          <a:noFill/>
          <a:ln>
            <a:noFill/>
          </a:ln>
        </p:spPr>
        <p:txBody>
          <a:bodyPr wrap="square" lIns="0" tIns="0" rIns="0" bIns="0" anchor="t"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Combustible cerebral</a:t>
            </a:r>
            <a:endParaRPr lang="es-AR" sz="1500" dirty="0">
              <a:latin typeface="Bahnschrift SemiBold Condensed"/>
            </a:endParaRPr>
          </a:p>
        </p:txBody>
      </p:sp>
      <p:sp>
        <p:nvSpPr>
          <p:cNvPr id="47" name="!!Cerebro glucosa"/>
          <p:cNvSpPr/>
          <p:nvPr/>
        </p:nvSpPr>
        <p:spPr>
          <a:xfrm>
            <a:off x="8366760" y="1463040"/>
            <a:ext cx="1371600" cy="502920"/>
          </a:xfrm>
          <a:prstGeom prst="rect">
            <a:avLst/>
          </a:prstGeom>
          <a:gradFill rotWithShape="1">
            <a:gsLst>
              <a:gs pos="0">
                <a:srgbClr val="75A7D5"/>
              </a:gs>
              <a:gs pos="55000">
                <a:srgbClr val="3B82C4"/>
              </a:gs>
              <a:gs pos="100000">
                <a:srgbClr val="3575B0"/>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Glucosa</a:t>
            </a:r>
            <a:endParaRPr lang="es-AR" sz="1200" dirty="0">
              <a:latin typeface="Bahnschrift SemiBold Condensed"/>
            </a:endParaRPr>
          </a:p>
        </p:txBody>
      </p:sp>
      <p:sp>
        <p:nvSpPr>
          <p:cNvPr id="48" name="!!Cerebro cetonas"/>
          <p:cNvSpPr/>
          <p:nvPr/>
        </p:nvSpPr>
        <p:spPr>
          <a:xfrm>
            <a:off x="9738360" y="1463040"/>
            <a:ext cx="2057400" cy="502920"/>
          </a:xfrm>
          <a:prstGeom prst="rect">
            <a:avLst/>
          </a:prstGeom>
          <a:gradFill rotWithShape="1">
            <a:gsLst>
              <a:gs pos="0">
                <a:srgbClr val="D45D8C"/>
              </a:gs>
              <a:gs pos="55000">
                <a:srgbClr val="C2185B"/>
              </a:gs>
              <a:gs pos="100000">
                <a:srgbClr val="AE1551"/>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Cetonas</a:t>
            </a:r>
            <a:endParaRPr lang="es-AR" sz="1200" dirty="0">
              <a:latin typeface="Bahnschrift SemiBold Condensed"/>
            </a:endParaRPr>
          </a:p>
        </p:txBody>
      </p:sp>
      <p:sp>
        <p:nvSpPr>
          <p:cNvPr id="49" name="!!Nota esquema"/>
          <p:cNvSpPr txBox="1"/>
          <p:nvPr/>
        </p:nvSpPr>
        <p:spPr>
          <a:xfrm>
            <a:off x="8366760" y="2011680"/>
            <a:ext cx="3474720" cy="320040"/>
          </a:xfrm>
          <a:prstGeom prst="rect">
            <a:avLst/>
          </a:prstGeom>
          <a:noFill/>
          <a:ln>
            <a:noFill/>
          </a:ln>
        </p:spPr>
        <p:txBody>
          <a:bodyPr wrap="square" lIns="0" tIns="0" rIns="0" bIns="0" anchor="t" rtlCol="0">
            <a:noAutofit/>
          </a:bodyPr>
          <a:lstStyle/>
          <a:p>
            <a:pPr algn="l">
              <a:spcAft>
                <a:spcPts val="300"/>
              </a:spcAft>
              <a:buNone/>
            </a:pPr>
            <a:r>
              <a:rPr lang="es-AR" sz="1100" dirty="0">
                <a:solidFill>
                  <a:srgbClr val="5D6D7E"/>
                </a:solidFill>
                <a:latin typeface="Bahnschrift"/>
                <a:ea typeface="Bahnschrift"/>
                <a:cs typeface="Bahnschrift"/>
                <a:sym typeface="Bahnschrift"/>
              </a:rPr>
              <a:t>proporciones esquemáticas</a:t>
            </a:r>
            <a:endParaRPr lang="es-AR" sz="1100" dirty="0">
              <a:latin typeface="Bahnschrift"/>
            </a:endParaRPr>
          </a:p>
        </p:txBody>
      </p:sp>
      <p:sp>
        <p:nvSpPr>
          <p:cNvPr id="50" name="!!Texto reservas"/>
          <p:cNvSpPr/>
          <p:nvPr/>
        </p:nvSpPr>
        <p:spPr>
          <a:xfrm>
            <a:off x="6675120" y="2697480"/>
            <a:ext cx="512064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Ascenso progresivo</a:t>
            </a:r>
            <a:r>
              <a:rPr lang="es-AR" sz="1650" dirty="0">
                <a:solidFill>
                  <a:srgbClr val="1E1E1E"/>
                </a:solidFill>
                <a:latin typeface="Bahnschrift"/>
                <a:ea typeface="Bahnschrift"/>
                <a:cs typeface="Bahnschrift"/>
                <a:sym typeface="Bahnschrift"/>
              </a:rPr>
              <a:t> del consumo cerebral de cetonas.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Menor dependencia de aminoácidos</a:t>
            </a:r>
            <a:r>
              <a:rPr lang="es-AR" sz="1650" dirty="0">
                <a:solidFill>
                  <a:srgbClr val="1E1E1E"/>
                </a:solidFill>
                <a:latin typeface="Bahnschrift"/>
                <a:ea typeface="Bahnschrift"/>
                <a:cs typeface="Bahnschrift"/>
                <a:sym typeface="Bahnschrift"/>
              </a:rPr>
              <a:t>: ↓ excreción de N tras la fase inicial.</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Corazón y músculo usan AG abundantemente.</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Se </a:t>
            </a:r>
            <a:r>
              <a:rPr lang="es-AR" sz="1650" b="1" dirty="0">
                <a:solidFill>
                  <a:srgbClr val="1E1E1E"/>
                </a:solidFill>
                <a:latin typeface="Bahnschrift"/>
                <a:ea typeface="Bahnschrift"/>
                <a:cs typeface="Bahnschrift"/>
                <a:sym typeface="Bahnschrift"/>
              </a:rPr>
              <a:t>reduce el gasto energético</a:t>
            </a:r>
            <a:r>
              <a:rPr lang="es-AR" sz="1650" dirty="0">
                <a:solidFill>
                  <a:srgbClr val="1E1E1E"/>
                </a:solidFill>
                <a:latin typeface="Bahnschrift"/>
                <a:ea typeface="Bahnschrift"/>
                <a:cs typeface="Bahnschrift"/>
                <a:sym typeface="Bahnschrift"/>
              </a:rPr>
              <a:t> (adaptación hormonal).</a:t>
            </a:r>
            <a:endParaRPr lang="es-AR" sz="1650" dirty="0">
              <a:latin typeface="Bahnschrift"/>
            </a:endParaRPr>
          </a:p>
        </p:txBody>
      </p:sp>
      <p:sp>
        <p:nvSpPr>
          <p:cNvPr id="51" name="!!Glucemia fase"/>
          <p:cNvSpPr/>
          <p:nvPr/>
        </p:nvSpPr>
        <p:spPr>
          <a:xfrm>
            <a:off x="365760" y="5120640"/>
            <a:ext cx="5943600" cy="457200"/>
          </a:xfrm>
          <a:prstGeom prst="rect">
            <a:avLst/>
          </a:prstGeom>
          <a:solidFill>
            <a:srgbClr val="DCEBF8"/>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Glucemia algo menor pero estable</a:t>
            </a:r>
            <a:endParaRPr lang="es-AR" sz="1350" dirty="0">
              <a:latin typeface="Bahnschrift SemiBold Condensed"/>
            </a:endParaRPr>
          </a:p>
        </p:txBody>
      </p:sp>
      <p:sp>
        <p:nvSpPr>
          <p:cNvPr id="52" name="!!Fase actual"/>
          <p:cNvSpPr/>
          <p:nvPr/>
        </p:nvSpPr>
        <p:spPr>
          <a:xfrm>
            <a:off x="365760" y="5760720"/>
            <a:ext cx="11430000" cy="73152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AYUNO PROLONGADO (&gt;3 DÍAS)</a:t>
            </a:r>
            <a:endParaRPr lang="es-AR" sz="2200" dirty="0">
              <a:latin typeface="Bahnschrift SemiBold Condensed"/>
            </a:endParaRPr>
          </a:p>
        </p:txBody>
      </p:sp>
      <p:sp>
        <p:nvSpPr>
          <p:cNvPr id="2" name="Etiqueta sección"/>
          <p:cNvSpPr/>
          <p:nvPr/>
        </p:nvSpPr>
        <p:spPr>
          <a:xfrm>
            <a:off x="9884309" y="201168"/>
            <a:ext cx="20330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6 · 4/4</a:t>
            </a:r>
            <a:endParaRPr lang="es-AR" sz="1300" dirty="0">
              <a:latin typeface="Bahnschrift SemiBold Condensed"/>
            </a:endParaRPr>
          </a:p>
        </p:txBody>
      </p:sp>
      <p:sp>
        <p:nvSpPr>
          <p:cNvPr id="3" name="Título"/>
          <p:cNvSpPr/>
          <p:nvPr/>
        </p:nvSpPr>
        <p:spPr>
          <a:xfrm>
            <a:off x="274320" y="146304"/>
            <a:ext cx="85017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RESERVAS Y COMBUSTIBLES: AYUNO PROLONGADO (&gt;3 DÍAS)</a:t>
            </a:r>
            <a:endParaRPr lang="es-AR" sz="260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83</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84.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aphicFrame>
        <p:nvGraphicFramePr>
          <p:cNvPr id="4" name="Gráfico combustible cerebral"/>
          <p:cNvGraphicFramePr>
            <a:graphicFrameLocks noGrp="1"/>
          </p:cNvGraphicFramePr>
          <p:nvPr/>
        </p:nvGraphicFramePr>
        <p:xfrm>
          <a:off x="365760" y="1005840"/>
          <a:ext cx="6949440" cy="5486400"/>
        </p:xfrm>
        <a:graphic>
          <a:graphicData uri="http://schemas.openxmlformats.org/drawingml/2006/chart">
            <c:chart xmlns:c="http://schemas.openxmlformats.org/drawingml/2006/chart" r:id="rId2"/>
          </a:graphicData>
        </a:graphic>
      </p:graphicFrame>
      <p:grpSp>
        <p:nvGrpSpPr>
          <p:cNvPr id="5" name="Recuadro Lectura"/>
          <p:cNvGrpSpPr/>
          <p:nvPr/>
        </p:nvGrpSpPr>
        <p:grpSpPr>
          <a:xfrm>
            <a:off x="7589520" y="1005840"/>
            <a:ext cx="4206240" cy="2011680"/>
            <a:chOff x="7589520" y="1005840"/>
            <a:chExt cx="4206240" cy="2011680"/>
          </a:xfrm>
        </p:grpSpPr>
        <p:sp>
          <p:nvSpPr>
            <p:cNvPr id="6" name="Forma 4"/>
            <p:cNvSpPr/>
            <p:nvPr/>
          </p:nvSpPr>
          <p:spPr>
            <a:xfrm>
              <a:off x="7589520" y="1188720"/>
              <a:ext cx="4206240" cy="1828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Los cuerpos cetónicos </a:t>
              </a:r>
              <a:r>
                <a:rPr lang="es-AR" sz="1650" b="1" dirty="0">
                  <a:solidFill>
                    <a:srgbClr val="1E1E1E"/>
                  </a:solidFill>
                  <a:latin typeface="Bahnschrift"/>
                  <a:ea typeface="Bahnschrift"/>
                  <a:cs typeface="Bahnschrift"/>
                  <a:sym typeface="Bahnschrift"/>
                </a:rPr>
                <a:t>reemplazan progresivamente</a:t>
              </a:r>
              <a:r>
                <a:rPr lang="es-AR" sz="1650" dirty="0">
                  <a:solidFill>
                    <a:srgbClr val="1E1E1E"/>
                  </a:solidFill>
                  <a:latin typeface="Bahnschrift"/>
                  <a:ea typeface="Bahnschrift"/>
                  <a:cs typeface="Bahnschrift"/>
                  <a:sym typeface="Bahnschrift"/>
                </a:rPr>
                <a:t> a la glucosa en el cerebro; la necesidad de glucosa </a:t>
              </a:r>
              <a:r>
                <a:rPr lang="es-AR" sz="1650" b="1" dirty="0">
                  <a:solidFill>
                    <a:srgbClr val="1E1E1E"/>
                  </a:solidFill>
                  <a:latin typeface="Bahnschrift"/>
                  <a:ea typeface="Bahnschrift"/>
                  <a:cs typeface="Bahnschrift"/>
                  <a:sym typeface="Bahnschrift"/>
                </a:rPr>
                <a:t>no desaparece</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7" name="Forma 5"/>
            <p:cNvSpPr/>
            <p:nvPr/>
          </p:nvSpPr>
          <p:spPr>
            <a:xfrm>
              <a:off x="7699248" y="1005840"/>
              <a:ext cx="100266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LECTURA</a:t>
              </a:r>
              <a:endParaRPr lang="es-AR" sz="1500" dirty="0">
                <a:latin typeface="Bahnschrift SemiBold Condensed"/>
              </a:endParaRPr>
            </a:p>
          </p:txBody>
        </p:sp>
      </p:grpSp>
      <p:grpSp>
        <p:nvGrpSpPr>
          <p:cNvPr id="8" name="Recuadro Ahorro proteico"/>
          <p:cNvGrpSpPr/>
          <p:nvPr/>
        </p:nvGrpSpPr>
        <p:grpSpPr>
          <a:xfrm>
            <a:off x="7589520" y="3200400"/>
            <a:ext cx="4206240" cy="1600200"/>
            <a:chOff x="7589520" y="3200400"/>
            <a:chExt cx="4206240" cy="1600200"/>
          </a:xfrm>
        </p:grpSpPr>
        <p:sp>
          <p:nvSpPr>
            <p:cNvPr id="9" name="Forma 7"/>
            <p:cNvSpPr/>
            <p:nvPr/>
          </p:nvSpPr>
          <p:spPr>
            <a:xfrm>
              <a:off x="7589520" y="3383280"/>
              <a:ext cx="4206240" cy="14173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Menos glucosa requerida → menos </a:t>
              </a:r>
              <a:r>
                <a:rPr lang="es-AR" sz="1650" b="1" dirty="0">
                  <a:solidFill>
                    <a:srgbClr val="1E1E1E"/>
                  </a:solidFill>
                  <a:latin typeface="Bahnschrift"/>
                  <a:ea typeface="Bahnschrift"/>
                  <a:cs typeface="Bahnschrift"/>
                  <a:sym typeface="Bahnschrift"/>
                </a:rPr>
                <a:t>proteína</a:t>
              </a:r>
              <a:r>
                <a:rPr lang="es-AR" sz="1650" dirty="0">
                  <a:solidFill>
                    <a:srgbClr val="1E1E1E"/>
                  </a:solidFill>
                  <a:latin typeface="Bahnschrift"/>
                  <a:ea typeface="Bahnschrift"/>
                  <a:cs typeface="Bahnschrift"/>
                  <a:sym typeface="Bahnschrift"/>
                </a:rPr>
                <a:t> degradada para gluconeogénesis.</a:t>
              </a:r>
              <a:endParaRPr lang="es-AR" sz="1650" dirty="0">
                <a:latin typeface="Bahnschrift"/>
              </a:endParaRPr>
            </a:p>
          </p:txBody>
        </p:sp>
        <p:sp>
          <p:nvSpPr>
            <p:cNvPr id="10" name="Forma 8"/>
            <p:cNvSpPr/>
            <p:nvPr/>
          </p:nvSpPr>
          <p:spPr>
            <a:xfrm>
              <a:off x="7699248" y="3200400"/>
              <a:ext cx="168570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AHORRO PROTEICO</a:t>
              </a:r>
              <a:endParaRPr lang="es-AR" sz="1500" dirty="0">
                <a:latin typeface="Bahnschrift SemiBold Condensed"/>
              </a:endParaRPr>
            </a:p>
          </p:txBody>
        </p:sp>
      </p:grpSp>
      <p:grpSp>
        <p:nvGrpSpPr>
          <p:cNvPr id="11" name="Recuadro Glucosa obligatoria"/>
          <p:cNvGrpSpPr/>
          <p:nvPr/>
        </p:nvGrpSpPr>
        <p:grpSpPr>
          <a:xfrm>
            <a:off x="7589520" y="4983480"/>
            <a:ext cx="4206240" cy="1508760"/>
            <a:chOff x="7589520" y="4983480"/>
            <a:chExt cx="4206240" cy="1508760"/>
          </a:xfrm>
        </p:grpSpPr>
        <p:sp>
          <p:nvSpPr>
            <p:cNvPr id="12" name="Forma 10"/>
            <p:cNvSpPr/>
            <p:nvPr/>
          </p:nvSpPr>
          <p:spPr>
            <a:xfrm>
              <a:off x="7589520" y="5166360"/>
              <a:ext cx="4206240" cy="1325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Eritrocitos y médula renal </a:t>
              </a:r>
              <a:r>
                <a:rPr lang="es-AR" sz="1650" b="1" dirty="0">
                  <a:solidFill>
                    <a:srgbClr val="1E1E1E"/>
                  </a:solidFill>
                  <a:latin typeface="Bahnschrift"/>
                  <a:ea typeface="Bahnschrift"/>
                  <a:cs typeface="Bahnschrift"/>
                  <a:sym typeface="Bahnschrift"/>
                </a:rPr>
                <a:t>siguen</a:t>
              </a:r>
              <a:r>
                <a:rPr lang="es-AR" sz="1650" dirty="0">
                  <a:solidFill>
                    <a:srgbClr val="1E1E1E"/>
                  </a:solidFill>
                  <a:latin typeface="Bahnschrift"/>
                  <a:ea typeface="Bahnschrift"/>
                  <a:cs typeface="Bahnschrift"/>
                  <a:sym typeface="Bahnschrift"/>
                </a:rPr>
                <a:t> dependiendo de la glucólisis.</a:t>
              </a:r>
              <a:endParaRPr lang="es-AR" sz="1650" dirty="0">
                <a:latin typeface="Bahnschrift"/>
              </a:endParaRPr>
            </a:p>
          </p:txBody>
        </p:sp>
        <p:sp>
          <p:nvSpPr>
            <p:cNvPr id="13" name="Forma 11"/>
            <p:cNvSpPr/>
            <p:nvPr/>
          </p:nvSpPr>
          <p:spPr>
            <a:xfrm>
              <a:off x="7699248" y="4983480"/>
              <a:ext cx="200286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GLUCOSA OBLIGATORIA</a:t>
              </a:r>
              <a:endParaRPr lang="es-AR" sz="1500" dirty="0">
                <a:latin typeface="Bahnschrift SemiBold Condensed"/>
              </a:endParaRPr>
            </a:p>
          </p:txBody>
        </p:sp>
      </p:gr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963650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SELECCIÓN DE COMBUSTIBLES CEREBRALES (ESQUEMA CONCEPTUAL)</a:t>
            </a:r>
            <a:endParaRPr lang="es-AR" sz="26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Recuadro Cetosis fisiológica del a"/>
          <p:cNvGrpSpPr/>
          <p:nvPr/>
        </p:nvGrpSpPr>
        <p:grpSpPr>
          <a:xfrm>
            <a:off x="365760" y="1005840"/>
            <a:ext cx="5577840" cy="4206240"/>
            <a:chOff x="365760" y="1005840"/>
            <a:chExt cx="5577840" cy="4206240"/>
          </a:xfrm>
        </p:grpSpPr>
        <p:sp>
          <p:nvSpPr>
            <p:cNvPr id="5" name="Forma 4"/>
            <p:cNvSpPr/>
            <p:nvPr/>
          </p:nvSpPr>
          <p:spPr>
            <a:xfrm>
              <a:off x="365760" y="1188720"/>
              <a:ext cx="5577840" cy="40233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Insulina </a:t>
              </a:r>
              <a:r>
                <a:rPr lang="es-AR" sz="1750" b="1" dirty="0">
                  <a:solidFill>
                    <a:srgbClr val="1E1E1E"/>
                  </a:solidFill>
                  <a:latin typeface="Bahnschrift"/>
                  <a:ea typeface="Bahnschrift"/>
                  <a:cs typeface="Bahnschrift"/>
                  <a:sym typeface="Bahnschrift"/>
                </a:rPr>
                <a:t>baja pero presente</a:t>
              </a:r>
              <a:r>
                <a:rPr lang="es-AR" sz="1750" dirty="0">
                  <a:solidFill>
                    <a:srgbClr val="1E1E1E"/>
                  </a:solidFill>
                  <a:latin typeface="Bahnschrift"/>
                  <a:ea typeface="Bahnschrift"/>
                  <a:cs typeface="Bahnschrift"/>
                  <a:sym typeface="Bahnschrift"/>
                </a:rPr>
                <a:t> (insulina residual).</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insulina </a:t>
              </a:r>
              <a:r>
                <a:rPr lang="es-AR" sz="1750" b="1" dirty="0">
                  <a:solidFill>
                    <a:srgbClr val="1E1E1E"/>
                  </a:solidFill>
                  <a:latin typeface="Bahnschrift"/>
                  <a:ea typeface="Bahnschrift"/>
                  <a:cs typeface="Bahnschrift"/>
                  <a:sym typeface="Bahnschrift"/>
                </a:rPr>
                <a:t>limita</a:t>
              </a:r>
              <a:r>
                <a:rPr lang="es-AR" sz="1750" dirty="0">
                  <a:solidFill>
                    <a:srgbClr val="1E1E1E"/>
                  </a:solidFill>
                  <a:latin typeface="Bahnschrift"/>
                  <a:ea typeface="Bahnschrift"/>
                  <a:cs typeface="Bahnschrift"/>
                  <a:sym typeface="Bahnschrift"/>
                </a:rPr>
                <a:t> la lipólisis y la cetogénesis.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Producción ≈ </a:t>
              </a:r>
              <a:r>
                <a:rPr lang="es-AR" sz="1750" b="1" dirty="0">
                  <a:solidFill>
                    <a:srgbClr val="1E1E1E"/>
                  </a:solidFill>
                  <a:latin typeface="Bahnschrift"/>
                  <a:ea typeface="Bahnschrift"/>
                  <a:cs typeface="Bahnschrift"/>
                  <a:sym typeface="Bahnschrift"/>
                </a:rPr>
                <a:t>utilización</a:t>
              </a:r>
              <a:r>
                <a:rPr lang="es-AR" sz="1750" dirty="0">
                  <a:solidFill>
                    <a:srgbClr val="1E1E1E"/>
                  </a:solidFill>
                  <a:latin typeface="Bahnschrift"/>
                  <a:ea typeface="Bahnschrift"/>
                  <a:cs typeface="Bahnschrift"/>
                  <a:sym typeface="Bahnschrift"/>
                </a:rPr>
                <a:t> de cetonas.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pH generalmente </a:t>
              </a:r>
              <a:r>
                <a:rPr lang="es-AR" sz="1750" b="1" dirty="0">
                  <a:solidFill>
                    <a:srgbClr val="1E1E1E"/>
                  </a:solidFill>
                  <a:latin typeface="Bahnschrift"/>
                  <a:ea typeface="Bahnschrift"/>
                  <a:cs typeface="Bahnschrift"/>
                  <a:sym typeface="Bahnschrift"/>
                </a:rPr>
                <a:t>conservado</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Glucemia normal o algo baja.</a:t>
              </a:r>
              <a:endParaRPr lang="es-AR" sz="1750" dirty="0">
                <a:latin typeface="Bahnschrift"/>
              </a:endParaRPr>
            </a:p>
          </p:txBody>
        </p:sp>
        <p:sp>
          <p:nvSpPr>
            <p:cNvPr id="6" name="Forma 5"/>
            <p:cNvSpPr/>
            <p:nvPr/>
          </p:nvSpPr>
          <p:spPr>
            <a:xfrm>
              <a:off x="475488" y="1005840"/>
              <a:ext cx="2892791"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CETOSIS FISIOLÓGICA DEL AYUNO</a:t>
              </a:r>
              <a:endParaRPr lang="es-AR" sz="1600" dirty="0">
                <a:latin typeface="Bahnschrift SemiBold Condensed"/>
              </a:endParaRPr>
            </a:p>
          </p:txBody>
        </p:sp>
      </p:grpSp>
      <p:grpSp>
        <p:nvGrpSpPr>
          <p:cNvPr id="7" name="Recuadro Cetoacidosis diabética"/>
          <p:cNvGrpSpPr/>
          <p:nvPr/>
        </p:nvGrpSpPr>
        <p:grpSpPr>
          <a:xfrm>
            <a:off x="6217920" y="1005840"/>
            <a:ext cx="5577840" cy="4206240"/>
            <a:chOff x="6217920" y="1005840"/>
            <a:chExt cx="5577840" cy="4206240"/>
          </a:xfrm>
        </p:grpSpPr>
        <p:sp>
          <p:nvSpPr>
            <p:cNvPr id="8" name="Forma 7"/>
            <p:cNvSpPr/>
            <p:nvPr/>
          </p:nvSpPr>
          <p:spPr>
            <a:xfrm>
              <a:off x="6217920" y="1188720"/>
              <a:ext cx="5577840" cy="40233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Insulinopenia funcional marcada</a:t>
              </a:r>
              <a:r>
                <a:rPr lang="es-AR" sz="1750" dirty="0">
                  <a:solidFill>
                    <a:srgbClr val="1E1E1E"/>
                  </a:solidFill>
                  <a:latin typeface="Bahnschrift"/>
                  <a:ea typeface="Bahnschrift"/>
                  <a:cs typeface="Bahnschrift"/>
                  <a:sym typeface="Bahnschrift"/>
                </a:rPr>
                <a:t> + hormonas contrarreguladoras.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Lipólisis y cetogénesis </a:t>
              </a:r>
              <a:r>
                <a:rPr lang="es-AR" sz="1750" b="1" dirty="0">
                  <a:solidFill>
                    <a:srgbClr val="1E1E1E"/>
                  </a:solidFill>
                  <a:latin typeface="Bahnschrift"/>
                  <a:ea typeface="Bahnschrift"/>
                  <a:cs typeface="Bahnschrift"/>
                  <a:sym typeface="Bahnschrift"/>
                </a:rPr>
                <a:t>sin freno</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Producción </a:t>
              </a:r>
              <a:r>
                <a:rPr lang="es-AR" sz="1750" b="1" dirty="0">
                  <a:solidFill>
                    <a:srgbClr val="1E1E1E"/>
                  </a:solidFill>
                  <a:latin typeface="Bahnschrift"/>
                  <a:ea typeface="Bahnschrift"/>
                  <a:cs typeface="Bahnschrift"/>
                  <a:sym typeface="Bahnschrift"/>
                </a:rPr>
                <a:t>excede</a:t>
              </a:r>
              <a:r>
                <a:rPr lang="es-AR" sz="1750" dirty="0">
                  <a:solidFill>
                    <a:srgbClr val="1E1E1E"/>
                  </a:solidFill>
                  <a:latin typeface="Bahnschrift"/>
                  <a:ea typeface="Bahnschrift"/>
                  <a:cs typeface="Bahnschrift"/>
                  <a:sym typeface="Bahnschrift"/>
                </a:rPr>
                <a:t> utilización, depuración y tampones.</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Acidosis</a:t>
              </a:r>
              <a:r>
                <a:rPr lang="es-AR" sz="1750" dirty="0">
                  <a:solidFill>
                    <a:srgbClr val="1E1E1E"/>
                  </a:solidFill>
                  <a:latin typeface="Bahnschrift"/>
                  <a:ea typeface="Bahnschrift"/>
                  <a:cs typeface="Bahnschrift"/>
                  <a:sym typeface="Bahnschrift"/>
                </a:rPr>
                <a:t> de anion gap elevado, deshidratación, alteraciones electrolíticas.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Hiperglucemia frecuente (existe forma </a:t>
              </a:r>
              <a:r>
                <a:rPr lang="es-AR" sz="1750" b="1" dirty="0">
                  <a:solidFill>
                    <a:srgbClr val="1E1E1E"/>
                  </a:solidFill>
                  <a:latin typeface="Bahnschrift"/>
                  <a:ea typeface="Bahnschrift"/>
                  <a:cs typeface="Bahnschrift"/>
                  <a:sym typeface="Bahnschrift"/>
                </a:rPr>
                <a:t>euglucémica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9" name="Forma 8"/>
            <p:cNvSpPr/>
            <p:nvPr/>
          </p:nvSpPr>
          <p:spPr>
            <a:xfrm>
              <a:off x="6327648" y="1005840"/>
              <a:ext cx="2322478"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CETOACIDOSIS DIABÉTICA</a:t>
              </a:r>
              <a:endParaRPr lang="es-AR" sz="1600" dirty="0">
                <a:latin typeface="Bahnschrift SemiBold Condensed"/>
              </a:endParaRPr>
            </a:p>
          </p:txBody>
        </p:sp>
      </p:grpSp>
      <p:sp>
        <p:nvSpPr>
          <p:cNvPr id="10" name="Perla"/>
          <p:cNvSpPr/>
          <p:nvPr/>
        </p:nvSpPr>
        <p:spPr>
          <a:xfrm>
            <a:off x="365760" y="5394960"/>
            <a:ext cx="11430000" cy="10972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Ayuno </a:t>
            </a:r>
            <a:r>
              <a:rPr lang="es-AR" sz="1700" b="1" dirty="0">
                <a:solidFill>
                  <a:srgbClr val="FFFFFF"/>
                </a:solidFill>
                <a:latin typeface="Bahnschrift"/>
                <a:ea typeface="Bahnschrift"/>
                <a:cs typeface="Bahnschrift"/>
                <a:sym typeface="Bahnschrift"/>
              </a:rPr>
              <a:t>no es sinónimo</a:t>
            </a:r>
            <a:r>
              <a:rPr lang="es-AR" sz="1700" dirty="0">
                <a:solidFill>
                  <a:srgbClr val="FFFFFF"/>
                </a:solidFill>
                <a:latin typeface="Bahnschrift"/>
                <a:ea typeface="Bahnschrift"/>
                <a:cs typeface="Bahnschrift"/>
                <a:sym typeface="Bahnschrift"/>
              </a:rPr>
              <a:t> de cetosis patológica. La medición de </a:t>
            </a:r>
            <a:r>
              <a:rPr lang="es-AR" sz="1700" b="1" dirty="0">
                <a:solidFill>
                  <a:srgbClr val="FFFFFF"/>
                </a:solidFill>
                <a:latin typeface="Bahnschrift"/>
                <a:ea typeface="Bahnschrift"/>
                <a:cs typeface="Bahnschrift"/>
                <a:sym typeface="Bahnschrift"/>
              </a:rPr>
              <a:t>β-hidroxibutirato</a:t>
            </a:r>
            <a:r>
              <a:rPr lang="es-AR" sz="1700" dirty="0">
                <a:solidFill>
                  <a:srgbClr val="FFFFFF"/>
                </a:solidFill>
                <a:latin typeface="Bahnschrift"/>
                <a:ea typeface="Bahnschrift"/>
                <a:cs typeface="Bahnschrift"/>
                <a:sym typeface="Bahnschrift"/>
              </a:rPr>
              <a:t> en sangre interpreta mejor la cetoacidosis que las tiras urinarias de acetoacetato.</a:t>
            </a:r>
            <a:endParaRPr lang="es-AR" sz="170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970149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12 · ALERTA CONCEPTUAL: CETOSIS FISIOLÓGICA FRENTE A CETOACIDOSIS</a:t>
            </a:r>
            <a:endParaRPr lang="es-AR" sz="2600" dirty="0">
              <a:latin typeface="Bahnschrift SemiBold Condensed"/>
            </a:endParaRPr>
          </a:p>
        </p:txBody>
      </p:sp>
      <p:sp>
        <p:nvSpPr>
          <p:cNvPr id="1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86.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aphicFrame>
        <p:nvGraphicFramePr>
          <p:cNvPr id="4" name="Cuadro central"/>
          <p:cNvGraphicFramePr>
            <a:graphicFrameLocks noGrp="1"/>
          </p:cNvGraphicFramePr>
          <p:nvPr/>
        </p:nvGraphicFramePr>
        <p:xfrm>
          <a:off x="365760" y="1005840"/>
          <a:ext cx="11430000" cy="5120640"/>
        </p:xfrm>
        <a:graphic>
          <a:graphicData uri="http://schemas.openxmlformats.org/drawingml/2006/table">
            <a:tbl>
              <a:tblPr firstRow="1" bandRow="1"/>
              <a:tblGrid>
                <a:gridCol w="2286000"/>
                <a:gridCol w="2377440"/>
                <a:gridCol w="2103120"/>
                <a:gridCol w="2286000"/>
                <a:gridCol w="2377440"/>
              </a:tblGrid>
              <a:tr h="640080">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Vía / tejido</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Alimentación</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Ayuno 8–12 h</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Ayuno 24–48 h</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Ayuno &gt;3 días</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Glucosa hepática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Captación + glucógeno + glucólisis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Glucogenólisis + GNG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GNG dominante; poco glucógeno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GNG sostenida + aporte renal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Lipólisis adiposa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Inhibida por insulina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Aumenta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Alta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Alta mientras haya reservas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β-oxidación hepática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Menor si malonil-CoA alto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Aumenta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Alta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Alta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Cetogénesis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Baja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Leve aumento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Aumento marcado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Alta y sostenida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Proteólisis muscular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Balance más anabólico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Intermedia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Puede aumentar para GNG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Ahorro relativo tras adaptación cetónica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Uso cerebral de cetonas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Mínimo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Muy bajo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Crece</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Sustancial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40080">
                <a:tc>
                  <a:txBody>
                    <a:bodyPr/>
                    <a:lstStyle/>
                    <a:p>
                      <a:pPr algn="l">
                        <a:spcAft>
                          <a:spcPts val="100"/>
                        </a:spcAft>
                        <a:buNone/>
                      </a:pPr>
                      <a:r>
                        <a:rPr lang="es-AR" sz="1500" b="1" dirty="0">
                          <a:solidFill>
                            <a:srgbClr val="1E1E1E"/>
                          </a:solidFill>
                          <a:latin typeface="Bahnschrift"/>
                          <a:ea typeface="Bahnschrift"/>
                          <a:cs typeface="Bahnschrift"/>
                          <a:sym typeface="Bahnschrift"/>
                        </a:rPr>
                        <a:t>Urea por proteólisis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Depende de proteínas comidas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Componente endógeno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Puede aumentar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Disminuye respecto del pico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5" name="Forma 4"/>
          <p:cNvSpPr txBox="1"/>
          <p:nvPr/>
        </p:nvSpPr>
        <p:spPr>
          <a:xfrm>
            <a:off x="365760" y="6217920"/>
            <a:ext cx="11430000" cy="365760"/>
          </a:xfrm>
          <a:prstGeom prst="rect">
            <a:avLst/>
          </a:prstGeom>
          <a:noFill/>
          <a:ln>
            <a:noFill/>
          </a:ln>
        </p:spPr>
        <p:txBody>
          <a:bodyPr wrap="square" lIns="0" tIns="0" rIns="0" bIns="0" anchor="t" rtlCol="0">
            <a:noAutofit/>
          </a:bodyPr>
          <a:lstStyle/>
          <a:p>
            <a:pPr algn="l">
              <a:spcAft>
                <a:spcPts val="300"/>
              </a:spcAft>
              <a:buNone/>
            </a:pPr>
            <a:r>
              <a:rPr lang="es-AR" sz="1250" dirty="0">
                <a:solidFill>
                  <a:srgbClr val="5D4037"/>
                </a:solidFill>
                <a:latin typeface="Bahnschrift"/>
                <a:ea typeface="Bahnschrift"/>
                <a:cs typeface="Bahnschrift"/>
                <a:sym typeface="Bahnschrift"/>
              </a:rPr>
              <a:t>GNG = gluconeogénesis. La tabla sintetiza </a:t>
            </a:r>
            <a:r>
              <a:rPr lang="es-AR" sz="1250" b="1" dirty="0">
                <a:solidFill>
                  <a:srgbClr val="5D4037"/>
                </a:solidFill>
                <a:latin typeface="Bahnschrift"/>
                <a:ea typeface="Bahnschrift"/>
                <a:cs typeface="Bahnschrift"/>
                <a:sym typeface="Bahnschrift"/>
              </a:rPr>
              <a:t>tendencias</a:t>
            </a:r>
            <a:r>
              <a:rPr lang="es-AR" sz="1250" dirty="0">
                <a:solidFill>
                  <a:srgbClr val="5D4037"/>
                </a:solidFill>
                <a:latin typeface="Bahnschrift"/>
                <a:ea typeface="Bahnschrift"/>
                <a:cs typeface="Bahnschrift"/>
                <a:sym typeface="Bahnschrift"/>
              </a:rPr>
              <a:t>, no promedios obligatorios.</a:t>
            </a:r>
            <a:endParaRPr lang="es-AR" sz="1250" dirty="0">
              <a:latin typeface="Bahnschrift"/>
            </a:endParaRPr>
          </a:p>
        </p:txBody>
      </p:sp>
      <p:sp>
        <p:nvSpPr>
          <p:cNvPr id="2" name="Etiqueta sección"/>
          <p:cNvSpPr/>
          <p:nvPr/>
        </p:nvSpPr>
        <p:spPr>
          <a:xfrm>
            <a:off x="10420458" y="201168"/>
            <a:ext cx="149691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 · AYUNO</a:t>
            </a:r>
            <a:endParaRPr lang="es-AR" sz="1300" dirty="0">
              <a:latin typeface="Bahnschrift SemiBold Condensed"/>
            </a:endParaRPr>
          </a:p>
        </p:txBody>
      </p:sp>
      <p:sp>
        <p:nvSpPr>
          <p:cNvPr id="3" name="Título"/>
          <p:cNvSpPr/>
          <p:nvPr/>
        </p:nvSpPr>
        <p:spPr>
          <a:xfrm>
            <a:off x="274320" y="146304"/>
            <a:ext cx="834690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CUADRO CENTRAL: CÓMO CAMBIAN LAS VÍAS SEGÚN EL ESTADO</a:t>
            </a:r>
            <a:endParaRPr lang="es-AR" sz="2600" dirty="0">
              <a:latin typeface="Bahnschrift SemiBold Condensed"/>
            </a:endParaRPr>
          </a:p>
        </p:txBody>
      </p:sp>
      <p:sp>
        <p:nvSpPr>
          <p:cNvPr id="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p="http://schemas.openxmlformats.org/presentationml/2006/main" xmlns:r="http://schemas.openxmlformats.org/officeDocument/2006/relationships">
  <p:cSld>
    <p:bg>
      <p:bgPr>
        <a:solidFill>
          <a:srgbClr val="F6B8AF"/>
        </a:solidFill>
        <a:effectLst/>
      </p:bgPr>
    </p:bg>
    <p:spTree>
      <p:nvGrpSpPr>
        <p:cNvPr id="1" name=""/>
        <p:cNvGrpSpPr/>
        <p:nvPr/>
      </p:nvGrpSpPr>
      <p:grpSpPr/>
      <p:grpSp>
        <p:nvGrpSpPr>
          <p:cNvPr id="4" name="Tile INTESTINO"/>
          <p:cNvGrpSpPr/>
          <p:nvPr/>
        </p:nvGrpSpPr>
        <p:grpSpPr>
          <a:xfrm>
            <a:off x="365760" y="1005840"/>
            <a:ext cx="2788920" cy="2651760"/>
            <a:chOff x="365760" y="1005840"/>
            <a:chExt cx="2788920" cy="2651760"/>
          </a:xfrm>
        </p:grpSpPr>
        <p:sp>
          <p:nvSpPr>
            <p:cNvPr id="5" name="Forma 4"/>
            <p:cNvSpPr/>
            <p:nvPr/>
          </p:nvSpPr>
          <p:spPr>
            <a:xfrm>
              <a:off x="365760" y="1005840"/>
              <a:ext cx="2788920" cy="2651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6" name="Ícono intestino"/>
            <p:cNvGrpSpPr/>
            <p:nvPr/>
          </p:nvGrpSpPr>
          <p:grpSpPr>
            <a:xfrm>
              <a:off x="500634" y="1122426"/>
              <a:ext cx="781812" cy="664540"/>
              <a:chOff x="500634" y="1122426"/>
              <a:chExt cx="781812" cy="664540"/>
            </a:xfrm>
          </p:grpSpPr>
          <p:sp>
            <p:nvSpPr>
              <p:cNvPr id="7" name="Forma 6"/>
              <p:cNvSpPr/>
              <p:nvPr/>
            </p:nvSpPr>
            <p:spPr>
              <a:xfrm>
                <a:off x="500634" y="1122426"/>
                <a:ext cx="781812" cy="66454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8" name="Forma 7"/>
              <p:cNvSpPr/>
              <p:nvPr/>
            </p:nvSpPr>
            <p:spPr>
              <a:xfrm>
                <a:off x="500634" y="1122426"/>
                <a:ext cx="781812" cy="664540"/>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9" name="Forma 8"/>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0" name="Forma 9"/>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1" name="Forma 10"/>
              <p:cNvSpPr/>
              <p:nvPr/>
            </p:nvSpPr>
            <p:spPr>
              <a:xfrm>
                <a:off x="500634" y="1122426"/>
                <a:ext cx="781812" cy="664540"/>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12" name="Forma 11"/>
            <p:cNvSpPr txBox="1"/>
            <p:nvPr/>
          </p:nvSpPr>
          <p:spPr>
            <a:xfrm>
              <a:off x="1463040"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INTESTINO</a:t>
              </a:r>
              <a:endParaRPr lang="es-AR" sz="1550" dirty="0">
                <a:latin typeface="Bahnschrift SemiBold Condensed"/>
              </a:endParaRPr>
            </a:p>
          </p:txBody>
        </p:sp>
        <p:sp>
          <p:nvSpPr>
            <p:cNvPr id="13" name="Forma 12"/>
            <p:cNvSpPr txBox="1"/>
            <p:nvPr/>
          </p:nvSpPr>
          <p:spPr>
            <a:xfrm>
              <a:off x="502920"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Sin aporte de glucosa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Usa </a:t>
              </a:r>
              <a:r>
                <a:rPr lang="es-AR" sz="1550" b="1" dirty="0">
                  <a:solidFill>
                    <a:srgbClr val="1E1E1E"/>
                  </a:solidFill>
                  <a:latin typeface="Bahnschrift"/>
                  <a:ea typeface="Bahnschrift"/>
                  <a:cs typeface="Bahnschrift"/>
                  <a:sym typeface="Bahnschrift"/>
                </a:rPr>
                <a:t>glutamina</a:t>
              </a:r>
              <a:r>
                <a:rPr lang="es-AR" sz="1550" dirty="0">
                  <a:solidFill>
                    <a:srgbClr val="1E1E1E"/>
                  </a:solidFill>
                  <a:latin typeface="Bahnschrift"/>
                  <a:ea typeface="Bahnschrift"/>
                  <a:cs typeface="Bahnschrift"/>
                  <a:sym typeface="Bahnschrift"/>
                </a:rPr>
                <a:t> como combustible</a:t>
              </a:r>
              <a:endParaRPr lang="es-AR" sz="1550" dirty="0">
                <a:latin typeface="Bahnschrift"/>
              </a:endParaRPr>
            </a:p>
          </p:txBody>
        </p:sp>
      </p:grpSp>
      <p:grpSp>
        <p:nvGrpSpPr>
          <p:cNvPr id="14" name="Tile PÁNCREAS"/>
          <p:cNvGrpSpPr/>
          <p:nvPr/>
        </p:nvGrpSpPr>
        <p:grpSpPr>
          <a:xfrm>
            <a:off x="3264408" y="1005840"/>
            <a:ext cx="2788920" cy="2651760"/>
            <a:chOff x="3264408" y="1005840"/>
            <a:chExt cx="2788920" cy="2651760"/>
          </a:xfrm>
        </p:grpSpPr>
        <p:sp>
          <p:nvSpPr>
            <p:cNvPr id="15" name="Forma 14"/>
            <p:cNvSpPr/>
            <p:nvPr/>
          </p:nvSpPr>
          <p:spPr>
            <a:xfrm>
              <a:off x="3264408" y="1005840"/>
              <a:ext cx="278892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16" name="Ícono páncreas"/>
            <p:cNvGrpSpPr/>
            <p:nvPr/>
          </p:nvGrpSpPr>
          <p:grpSpPr>
            <a:xfrm>
              <a:off x="3355848" y="1339596"/>
              <a:ext cx="868680" cy="364846"/>
              <a:chOff x="3355848" y="1339596"/>
              <a:chExt cx="868680" cy="364846"/>
            </a:xfrm>
          </p:grpSpPr>
          <p:sp>
            <p:nvSpPr>
              <p:cNvPr id="17" name="Forma 16"/>
              <p:cNvSpPr/>
              <p:nvPr/>
            </p:nvSpPr>
            <p:spPr>
              <a:xfrm>
                <a:off x="3355848" y="1339596"/>
                <a:ext cx="868680" cy="364846"/>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355848" y="1339596"/>
                <a:ext cx="868680" cy="364846"/>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355848" y="1339596"/>
                <a:ext cx="868680" cy="364846"/>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355848" y="1339596"/>
                <a:ext cx="868680" cy="364846"/>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Forma 20"/>
            <p:cNvSpPr txBox="1"/>
            <p:nvPr/>
          </p:nvSpPr>
          <p:spPr>
            <a:xfrm>
              <a:off x="4361688"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PÁNCREAS</a:t>
              </a:r>
              <a:endParaRPr lang="es-AR" sz="1550" dirty="0">
                <a:latin typeface="Bahnschrift SemiBold Condensed"/>
              </a:endParaRPr>
            </a:p>
          </p:txBody>
        </p:sp>
        <p:sp>
          <p:nvSpPr>
            <p:cNvPr id="22" name="Forma 21"/>
            <p:cNvSpPr txBox="1"/>
            <p:nvPr/>
          </p:nvSpPr>
          <p:spPr>
            <a:xfrm>
              <a:off x="3401568"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Insulina </a:t>
              </a:r>
              <a:r>
                <a:rPr lang="es-AR" sz="1550" b="1" dirty="0">
                  <a:solidFill>
                    <a:srgbClr val="1E1E1E"/>
                  </a:solidFill>
                  <a:latin typeface="Bahnschrift"/>
                  <a:ea typeface="Bahnschrift"/>
                  <a:cs typeface="Bahnschrift"/>
                  <a:sym typeface="Bahnschrift"/>
                </a:rPr>
                <a:t>baja</a:t>
              </a:r>
              <a:r>
                <a:rPr lang="es-AR" sz="1550" dirty="0">
                  <a:solidFill>
                    <a:srgbClr val="1E1E1E"/>
                  </a:solidFill>
                  <a:latin typeface="Bahnschrift"/>
                  <a:ea typeface="Bahnschrift"/>
                  <a:cs typeface="Bahnschrift"/>
                  <a:sym typeface="Bahnschrift"/>
                </a:rPr>
                <a:t> (no nula)</a:t>
              </a:r>
              <a:endParaRPr lang="es-AR" sz="1550" dirty="0">
                <a:latin typeface="Bahnschrift"/>
              </a:endParaRPr>
            </a:p>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Glucagón</a:t>
              </a:r>
              <a:r>
                <a:rPr lang="es-AR" sz="1550" dirty="0">
                  <a:solidFill>
                    <a:srgbClr val="1E1E1E"/>
                  </a:solidFill>
                  <a:latin typeface="Bahnschrift"/>
                  <a:ea typeface="Bahnschrift"/>
                  <a:cs typeface="Bahnschrift"/>
                  <a:sym typeface="Bahnschrift"/>
                </a:rPr>
                <a:t> relativo ↑</a:t>
              </a:r>
              <a:endParaRPr lang="es-AR" sz="1550" dirty="0">
                <a:latin typeface="Bahnschrift"/>
              </a:endParaRPr>
            </a:p>
          </p:txBody>
        </p:sp>
      </p:grpSp>
      <p:grpSp>
        <p:nvGrpSpPr>
          <p:cNvPr id="23" name="Tile HÍGADO"/>
          <p:cNvGrpSpPr/>
          <p:nvPr/>
        </p:nvGrpSpPr>
        <p:grpSpPr>
          <a:xfrm>
            <a:off x="6163056" y="1005840"/>
            <a:ext cx="2788920" cy="2651760"/>
            <a:chOff x="6163056" y="1005840"/>
            <a:chExt cx="2788920" cy="2651760"/>
          </a:xfrm>
        </p:grpSpPr>
        <p:sp>
          <p:nvSpPr>
            <p:cNvPr id="24" name="Forma 23"/>
            <p:cNvSpPr/>
            <p:nvPr/>
          </p:nvSpPr>
          <p:spPr>
            <a:xfrm>
              <a:off x="6163056" y="1005840"/>
              <a:ext cx="278892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25" name="Ícono hígado"/>
            <p:cNvGrpSpPr/>
            <p:nvPr/>
          </p:nvGrpSpPr>
          <p:grpSpPr>
            <a:xfrm>
              <a:off x="6254496" y="1209294"/>
              <a:ext cx="868680" cy="613983"/>
              <a:chOff x="6254496" y="1209294"/>
              <a:chExt cx="868680" cy="613983"/>
            </a:xfrm>
          </p:grpSpPr>
          <p:sp>
            <p:nvSpPr>
              <p:cNvPr id="26" name="Vesícula biliar"/>
              <p:cNvSpPr/>
              <p:nvPr/>
            </p:nvSpPr>
            <p:spPr>
              <a:xfrm>
                <a:off x="6489040" y="1629388"/>
                <a:ext cx="112928" cy="193889"/>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7" name="Forma 26"/>
              <p:cNvSpPr/>
              <p:nvPr/>
            </p:nvSpPr>
            <p:spPr>
              <a:xfrm>
                <a:off x="6254496" y="1209294"/>
                <a:ext cx="868680" cy="53858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8" name="Forma 27"/>
              <p:cNvSpPr/>
              <p:nvPr/>
            </p:nvSpPr>
            <p:spPr>
              <a:xfrm>
                <a:off x="6254496" y="1209294"/>
                <a:ext cx="868680" cy="53858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9" name="Forma 28"/>
              <p:cNvSpPr/>
              <p:nvPr/>
            </p:nvSpPr>
            <p:spPr>
              <a:xfrm>
                <a:off x="6254496" y="1209294"/>
                <a:ext cx="868680" cy="53858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30" name="Forma 29"/>
            <p:cNvSpPr txBox="1"/>
            <p:nvPr/>
          </p:nvSpPr>
          <p:spPr>
            <a:xfrm>
              <a:off x="7260336"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HÍGADO</a:t>
              </a:r>
              <a:endParaRPr lang="es-AR" sz="1550" dirty="0">
                <a:latin typeface="Bahnschrift SemiBold Condensed"/>
              </a:endParaRPr>
            </a:p>
          </p:txBody>
        </p:sp>
        <p:sp>
          <p:nvSpPr>
            <p:cNvPr id="31" name="Forma 30"/>
            <p:cNvSpPr txBox="1"/>
            <p:nvPr/>
          </p:nvSpPr>
          <p:spPr>
            <a:xfrm>
              <a:off x="6300216"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Glucogenólisis → </a:t>
              </a:r>
              <a:r>
                <a:rPr lang="es-AR" sz="1550" b="1" dirty="0">
                  <a:solidFill>
                    <a:srgbClr val="1E1E1E"/>
                  </a:solidFill>
                  <a:latin typeface="Bahnschrift"/>
                  <a:ea typeface="Bahnschrift"/>
                  <a:cs typeface="Bahnschrift"/>
                  <a:sym typeface="Bahnschrift"/>
                </a:rPr>
                <a:t>GNG</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β-oxidación → </a:t>
              </a:r>
              <a:r>
                <a:rPr lang="es-AR" sz="1550" b="1" dirty="0">
                  <a:solidFill>
                    <a:srgbClr val="1E1E1E"/>
                  </a:solidFill>
                  <a:latin typeface="Bahnschrift"/>
                  <a:ea typeface="Bahnschrift"/>
                  <a:cs typeface="Bahnschrift"/>
                  <a:sym typeface="Bahnschrift"/>
                </a:rPr>
                <a:t>cetogénesis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Ureogénesis</a:t>
              </a:r>
              <a:endParaRPr lang="es-AR" sz="1550" dirty="0">
                <a:latin typeface="Bahnschrift"/>
              </a:endParaRPr>
            </a:p>
          </p:txBody>
        </p:sp>
      </p:grpSp>
      <p:grpSp>
        <p:nvGrpSpPr>
          <p:cNvPr id="32" name="Tile MÚSCULO"/>
          <p:cNvGrpSpPr/>
          <p:nvPr/>
        </p:nvGrpSpPr>
        <p:grpSpPr>
          <a:xfrm>
            <a:off x="9061704" y="1005840"/>
            <a:ext cx="2788920" cy="2651760"/>
            <a:chOff x="9061704" y="1005840"/>
            <a:chExt cx="2788920" cy="2651760"/>
          </a:xfrm>
        </p:grpSpPr>
        <p:sp>
          <p:nvSpPr>
            <p:cNvPr id="33" name="Forma 32"/>
            <p:cNvSpPr/>
            <p:nvPr/>
          </p:nvSpPr>
          <p:spPr>
            <a:xfrm>
              <a:off x="9061704" y="1005840"/>
              <a:ext cx="278892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34" name="Ícono músculo"/>
            <p:cNvGrpSpPr/>
            <p:nvPr/>
          </p:nvGrpSpPr>
          <p:grpSpPr>
            <a:xfrm>
              <a:off x="9153144" y="1252728"/>
              <a:ext cx="868680" cy="284927"/>
              <a:chOff x="9153144" y="1252728"/>
              <a:chExt cx="868680" cy="284927"/>
            </a:xfrm>
          </p:grpSpPr>
          <p:grpSp>
            <p:nvGrpSpPr>
              <p:cNvPr id="35" name="Fibra"/>
              <p:cNvGrpSpPr/>
              <p:nvPr/>
            </p:nvGrpSpPr>
            <p:grpSpPr>
              <a:xfrm>
                <a:off x="9153144" y="1252728"/>
                <a:ext cx="833933" cy="138989"/>
                <a:chOff x="9153144" y="1252728"/>
                <a:chExt cx="833933" cy="138989"/>
              </a:xfrm>
            </p:grpSpPr>
            <p:sp>
              <p:nvSpPr>
                <p:cNvPr id="36" name="Forma 35"/>
                <p:cNvSpPr/>
                <p:nvPr/>
              </p:nvSpPr>
              <p:spPr>
                <a:xfrm>
                  <a:off x="9153144" y="1252728"/>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7" name="Forma 36"/>
                <p:cNvSpPr/>
                <p:nvPr/>
              </p:nvSpPr>
              <p:spPr>
                <a:xfrm>
                  <a:off x="9187891" y="1252728"/>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38" name="Forma 37"/>
                <p:cNvSpPr/>
                <p:nvPr/>
              </p:nvSpPr>
              <p:spPr>
                <a:xfrm>
                  <a:off x="9319931"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9" name="Forma 38"/>
                <p:cNvSpPr/>
                <p:nvPr/>
              </p:nvSpPr>
              <p:spPr>
                <a:xfrm>
                  <a:off x="9611807"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0" name="Forma 39"/>
                <p:cNvSpPr/>
                <p:nvPr/>
              </p:nvSpPr>
              <p:spPr>
                <a:xfrm>
                  <a:off x="9861987"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1" name="Forma 40"/>
                <p:cNvSpPr/>
                <p:nvPr/>
              </p:nvSpPr>
              <p:spPr>
                <a:xfrm>
                  <a:off x="9928702" y="1258288"/>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42" name="Fibra_2"/>
              <p:cNvGrpSpPr/>
              <p:nvPr/>
            </p:nvGrpSpPr>
            <p:grpSpPr>
              <a:xfrm>
                <a:off x="9187891" y="1398666"/>
                <a:ext cx="833933" cy="138989"/>
                <a:chOff x="9187891" y="1398666"/>
                <a:chExt cx="833933" cy="138989"/>
              </a:xfrm>
            </p:grpSpPr>
            <p:sp>
              <p:nvSpPr>
                <p:cNvPr id="43" name="Forma 42"/>
                <p:cNvSpPr/>
                <p:nvPr/>
              </p:nvSpPr>
              <p:spPr>
                <a:xfrm>
                  <a:off x="9187891" y="1398666"/>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44" name="Forma 43"/>
                <p:cNvSpPr/>
                <p:nvPr/>
              </p:nvSpPr>
              <p:spPr>
                <a:xfrm>
                  <a:off x="9222638" y="1398666"/>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45" name="Forma 44"/>
                <p:cNvSpPr/>
                <p:nvPr/>
              </p:nvSpPr>
              <p:spPr>
                <a:xfrm>
                  <a:off x="9354678"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6" name="Forma 45"/>
                <p:cNvSpPr/>
                <p:nvPr/>
              </p:nvSpPr>
              <p:spPr>
                <a:xfrm>
                  <a:off x="9646554"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7" name="Forma 46"/>
                <p:cNvSpPr/>
                <p:nvPr/>
              </p:nvSpPr>
              <p:spPr>
                <a:xfrm>
                  <a:off x="9896734"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8" name="Forma 47"/>
                <p:cNvSpPr/>
                <p:nvPr/>
              </p:nvSpPr>
              <p:spPr>
                <a:xfrm>
                  <a:off x="9963449" y="1404226"/>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49" name="Forma 48"/>
            <p:cNvSpPr txBox="1"/>
            <p:nvPr/>
          </p:nvSpPr>
          <p:spPr>
            <a:xfrm>
              <a:off x="10158984" y="1097280"/>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MÚSCULO</a:t>
              </a:r>
              <a:endParaRPr lang="es-AR" sz="1550" dirty="0">
                <a:latin typeface="Bahnschrift SemiBold Condensed"/>
              </a:endParaRPr>
            </a:p>
          </p:txBody>
        </p:sp>
        <p:sp>
          <p:nvSpPr>
            <p:cNvPr id="50" name="Forma 49"/>
            <p:cNvSpPr txBox="1"/>
            <p:nvPr/>
          </p:nvSpPr>
          <p:spPr>
            <a:xfrm>
              <a:off x="9198864" y="2103120"/>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Usa </a:t>
              </a:r>
              <a:r>
                <a:rPr lang="es-AR" sz="1550" b="1" dirty="0">
                  <a:solidFill>
                    <a:srgbClr val="1E1E1E"/>
                  </a:solidFill>
                  <a:latin typeface="Bahnschrift"/>
                  <a:ea typeface="Bahnschrift"/>
                  <a:cs typeface="Bahnschrift"/>
                  <a:sym typeface="Bahnschrift"/>
                </a:rPr>
                <a:t>AG</a:t>
              </a:r>
              <a:r>
                <a:rPr lang="es-AR" sz="1550" dirty="0">
                  <a:solidFill>
                    <a:srgbClr val="1E1E1E"/>
                  </a:solidFill>
                  <a:latin typeface="Bahnschrift"/>
                  <a:ea typeface="Bahnschrift"/>
                  <a:cs typeface="Bahnschrift"/>
                  <a:sym typeface="Bahnschrift"/>
                </a:rPr>
                <a:t> (y cetonas)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Exporta </a:t>
              </a:r>
              <a:r>
                <a:rPr lang="es-AR" sz="1550" b="1" dirty="0">
                  <a:solidFill>
                    <a:srgbClr val="1E1E1E"/>
                  </a:solidFill>
                  <a:latin typeface="Bahnschrift"/>
                  <a:ea typeface="Bahnschrift"/>
                  <a:cs typeface="Bahnschrift"/>
                  <a:sym typeface="Bahnschrift"/>
                </a:rPr>
                <a:t>alanina, glutamina, lactato</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Sin G6Pasa</a:t>
              </a:r>
              <a:endParaRPr lang="es-AR" sz="1550" dirty="0">
                <a:latin typeface="Bahnschrift"/>
              </a:endParaRPr>
            </a:p>
          </p:txBody>
        </p:sp>
      </p:grpSp>
      <p:grpSp>
        <p:nvGrpSpPr>
          <p:cNvPr id="51" name="Tile TEJIDO ADIPOSO"/>
          <p:cNvGrpSpPr/>
          <p:nvPr/>
        </p:nvGrpSpPr>
        <p:grpSpPr>
          <a:xfrm>
            <a:off x="365760" y="3767328"/>
            <a:ext cx="2788920" cy="2651760"/>
            <a:chOff x="365760" y="3767328"/>
            <a:chExt cx="2788920" cy="2651760"/>
          </a:xfrm>
        </p:grpSpPr>
        <p:sp>
          <p:nvSpPr>
            <p:cNvPr id="52" name="Forma 51"/>
            <p:cNvSpPr/>
            <p:nvPr/>
          </p:nvSpPr>
          <p:spPr>
            <a:xfrm>
              <a:off x="365760" y="3767328"/>
              <a:ext cx="2788920" cy="2651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grpSp>
          <p:nvGrpSpPr>
            <p:cNvPr id="53" name="Ícono adiposo"/>
            <p:cNvGrpSpPr/>
            <p:nvPr/>
          </p:nvGrpSpPr>
          <p:grpSpPr>
            <a:xfrm>
              <a:off x="544068" y="3883914"/>
              <a:ext cx="694944" cy="694944"/>
              <a:chOff x="544068" y="3883914"/>
              <a:chExt cx="694944" cy="694944"/>
            </a:xfrm>
          </p:grpSpPr>
          <p:sp>
            <p:nvSpPr>
              <p:cNvPr id="54" name="Forma 53"/>
              <p:cNvSpPr/>
              <p:nvPr/>
            </p:nvSpPr>
            <p:spPr>
              <a:xfrm>
                <a:off x="544068" y="3883914"/>
                <a:ext cx="694944" cy="694944"/>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5" name="Gota lipídica"/>
              <p:cNvSpPr/>
              <p:nvPr/>
            </p:nvSpPr>
            <p:spPr>
              <a:xfrm>
                <a:off x="578815" y="3918661"/>
                <a:ext cx="625450" cy="625450"/>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6" name="Forma 55"/>
              <p:cNvSpPr/>
              <p:nvPr/>
            </p:nvSpPr>
            <p:spPr>
              <a:xfrm rot="2400000">
                <a:off x="1044428" y="3925611"/>
                <a:ext cx="152888" cy="8339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7" name="Mitocondria"/>
              <p:cNvGrpSpPr/>
              <p:nvPr/>
            </p:nvGrpSpPr>
            <p:grpSpPr>
              <a:xfrm>
                <a:off x="599664" y="4398173"/>
                <a:ext cx="69494" cy="34747"/>
                <a:chOff x="599664" y="4398173"/>
                <a:chExt cx="69494" cy="34747"/>
              </a:xfrm>
            </p:grpSpPr>
            <p:sp>
              <p:nvSpPr>
                <p:cNvPr id="58" name="Forma 57"/>
                <p:cNvSpPr/>
                <p:nvPr/>
              </p:nvSpPr>
              <p:spPr>
                <a:xfrm rot="-2400000">
                  <a:off x="599664" y="4398173"/>
                  <a:ext cx="69494" cy="34747"/>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9" name="Forma 58"/>
                <p:cNvSpPr/>
                <p:nvPr/>
              </p:nvSpPr>
              <p:spPr>
                <a:xfrm rot="-2400000">
                  <a:off x="604528" y="4403037"/>
                  <a:ext cx="59765" cy="25018"/>
                </a:xfrm>
                <a:prstGeom prst="ellipse">
                  <a:avLst/>
                </a:prstGeom>
                <a:solidFill>
                  <a:srgbClr val="F8D8B4"/>
                </a:solidFill>
                <a:ln w="9525" cap="rnd">
                  <a:solidFill>
                    <a:srgbClr val="B2732B"/>
                  </a:solidFill>
                  <a:round/>
                </a:ln>
              </p:spPr>
            </p:sp>
            <p:sp>
              <p:nvSpPr>
                <p:cNvPr id="60" name="Forma 59"/>
                <p:cNvSpPr/>
                <p:nvPr/>
              </p:nvSpPr>
              <p:spPr>
                <a:xfrm rot="-2400000">
                  <a:off x="604528" y="4403037"/>
                  <a:ext cx="59765" cy="2501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61" name="Forma 60"/>
            <p:cNvSpPr txBox="1"/>
            <p:nvPr/>
          </p:nvSpPr>
          <p:spPr>
            <a:xfrm>
              <a:off x="1463040"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550" dirty="0">
                <a:latin typeface="Bahnschrift SemiBold Condensed"/>
              </a:endParaRPr>
            </a:p>
          </p:txBody>
        </p:sp>
        <p:sp>
          <p:nvSpPr>
            <p:cNvPr id="62" name="Forma 61"/>
            <p:cNvSpPr txBox="1"/>
            <p:nvPr/>
          </p:nvSpPr>
          <p:spPr>
            <a:xfrm>
              <a:off x="502920"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Lipólisis</a:t>
              </a:r>
              <a:r>
                <a:rPr lang="es-AR" sz="1550" dirty="0">
                  <a:solidFill>
                    <a:srgbClr val="1E1E1E"/>
                  </a:solidFill>
                  <a:latin typeface="Bahnschrift"/>
                  <a:ea typeface="Bahnschrift"/>
                  <a:cs typeface="Bahnschrift"/>
                  <a:sym typeface="Bahnschrift"/>
                </a:rPr>
                <a:t>: AG + glicerol</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Glicerol → hígado/riñón</a:t>
              </a:r>
              <a:endParaRPr lang="es-AR" sz="1550" dirty="0">
                <a:latin typeface="Bahnschrift"/>
              </a:endParaRPr>
            </a:p>
          </p:txBody>
        </p:sp>
      </p:grpSp>
      <p:grpSp>
        <p:nvGrpSpPr>
          <p:cNvPr id="63" name="Tile CEREBRO"/>
          <p:cNvGrpSpPr/>
          <p:nvPr/>
        </p:nvGrpSpPr>
        <p:grpSpPr>
          <a:xfrm>
            <a:off x="3264408" y="3767328"/>
            <a:ext cx="2788920" cy="2651760"/>
            <a:chOff x="3264408" y="3767328"/>
            <a:chExt cx="2788920" cy="2651760"/>
          </a:xfrm>
        </p:grpSpPr>
        <p:sp>
          <p:nvSpPr>
            <p:cNvPr id="64" name="Forma 63"/>
            <p:cNvSpPr/>
            <p:nvPr/>
          </p:nvSpPr>
          <p:spPr>
            <a:xfrm>
              <a:off x="3264408" y="3767328"/>
              <a:ext cx="2788920" cy="26517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sp>
        <p:grpSp>
          <p:nvGrpSpPr>
            <p:cNvPr id="65" name="Ícono cerebro"/>
            <p:cNvGrpSpPr/>
            <p:nvPr/>
          </p:nvGrpSpPr>
          <p:grpSpPr>
            <a:xfrm>
              <a:off x="3355848" y="3927348"/>
              <a:ext cx="868680" cy="677570"/>
              <a:chOff x="3355848" y="3927348"/>
              <a:chExt cx="868680" cy="677570"/>
            </a:xfrm>
          </p:grpSpPr>
          <p:sp>
            <p:nvSpPr>
              <p:cNvPr id="66" name="Cerebelo"/>
              <p:cNvSpPr/>
              <p:nvPr/>
            </p:nvSpPr>
            <p:spPr>
              <a:xfrm>
                <a:off x="3355848" y="3927348"/>
                <a:ext cx="868680" cy="677570"/>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7" name="Forma 66"/>
              <p:cNvSpPr/>
              <p:nvPr/>
            </p:nvSpPr>
            <p:spPr>
              <a:xfrm>
                <a:off x="3355848" y="3927348"/>
                <a:ext cx="868680" cy="677570"/>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68" name="Forma 67"/>
              <p:cNvSpPr/>
              <p:nvPr/>
            </p:nvSpPr>
            <p:spPr>
              <a:xfrm>
                <a:off x="3355848" y="3927348"/>
                <a:ext cx="868680" cy="677570"/>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69" name="Forma 68"/>
              <p:cNvSpPr/>
              <p:nvPr/>
            </p:nvSpPr>
            <p:spPr>
              <a:xfrm>
                <a:off x="3355848" y="3927348"/>
                <a:ext cx="868680" cy="677570"/>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70" name="Forma 69"/>
            <p:cNvSpPr txBox="1"/>
            <p:nvPr/>
          </p:nvSpPr>
          <p:spPr>
            <a:xfrm>
              <a:off x="4361688"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CEREBRO</a:t>
              </a:r>
              <a:endParaRPr lang="es-AR" sz="1550" dirty="0">
                <a:latin typeface="Bahnschrift SemiBold Condensed"/>
              </a:endParaRPr>
            </a:p>
          </p:txBody>
        </p:sp>
        <p:sp>
          <p:nvSpPr>
            <p:cNvPr id="71" name="Forma 70"/>
            <p:cNvSpPr txBox="1"/>
            <p:nvPr/>
          </p:nvSpPr>
          <p:spPr>
            <a:xfrm>
              <a:off x="3401568"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Glucosa → </a:t>
              </a:r>
              <a:r>
                <a:rPr lang="es-AR" sz="1550" b="1" dirty="0">
                  <a:solidFill>
                    <a:srgbClr val="1E1E1E"/>
                  </a:solidFill>
                  <a:latin typeface="Bahnschrift"/>
                  <a:ea typeface="Bahnschrift"/>
                  <a:cs typeface="Bahnschrift"/>
                  <a:sym typeface="Bahnschrift"/>
                </a:rPr>
                <a:t>cetonas</a:t>
              </a:r>
              <a:r>
                <a:rPr lang="es-AR" sz="1550" dirty="0">
                  <a:solidFill>
                    <a:srgbClr val="1E1E1E"/>
                  </a:solidFill>
                  <a:latin typeface="Bahnschrift"/>
                  <a:ea typeface="Bahnschrift"/>
                  <a:cs typeface="Bahnschrift"/>
                  <a:sym typeface="Bahnschrift"/>
                </a:rPr>
                <a:t> crecientes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Ahorro proteico</a:t>
              </a:r>
              <a:endParaRPr lang="es-AR" sz="1550" dirty="0">
                <a:latin typeface="Bahnschrift"/>
              </a:endParaRPr>
            </a:p>
          </p:txBody>
        </p:sp>
      </p:grpSp>
      <p:grpSp>
        <p:nvGrpSpPr>
          <p:cNvPr id="72" name="Tile ERITROCITO"/>
          <p:cNvGrpSpPr/>
          <p:nvPr/>
        </p:nvGrpSpPr>
        <p:grpSpPr>
          <a:xfrm>
            <a:off x="6163056" y="3767328"/>
            <a:ext cx="2788920" cy="2651760"/>
            <a:chOff x="6163056" y="3767328"/>
            <a:chExt cx="2788920" cy="2651760"/>
          </a:xfrm>
        </p:grpSpPr>
        <p:sp>
          <p:nvSpPr>
            <p:cNvPr id="73" name="Forma 72"/>
            <p:cNvSpPr/>
            <p:nvPr/>
          </p:nvSpPr>
          <p:spPr>
            <a:xfrm>
              <a:off x="6163056" y="3767328"/>
              <a:ext cx="2788920" cy="265176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sp>
        <p:sp>
          <p:nvSpPr>
            <p:cNvPr id="74" name="Ícono eritrocito"/>
            <p:cNvSpPr/>
            <p:nvPr/>
          </p:nvSpPr>
          <p:spPr>
            <a:xfrm>
              <a:off x="6341364" y="3927348"/>
              <a:ext cx="694944" cy="69494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75" name="Forma 74"/>
            <p:cNvSpPr txBox="1"/>
            <p:nvPr/>
          </p:nvSpPr>
          <p:spPr>
            <a:xfrm>
              <a:off x="7260336"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ERITROCITO</a:t>
              </a:r>
              <a:endParaRPr lang="es-AR" sz="1550" dirty="0">
                <a:latin typeface="Bahnschrift SemiBold Condensed"/>
              </a:endParaRPr>
            </a:p>
          </p:txBody>
        </p:sp>
        <p:sp>
          <p:nvSpPr>
            <p:cNvPr id="76" name="Forma 75"/>
            <p:cNvSpPr txBox="1"/>
            <p:nvPr/>
          </p:nvSpPr>
          <p:spPr>
            <a:xfrm>
              <a:off x="6300216"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Siempre glucosa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Lactato → Cori</a:t>
              </a:r>
              <a:endParaRPr lang="es-AR" sz="1550" dirty="0">
                <a:latin typeface="Bahnschrift"/>
              </a:endParaRPr>
            </a:p>
          </p:txBody>
        </p:sp>
      </p:grpSp>
      <p:grpSp>
        <p:nvGrpSpPr>
          <p:cNvPr id="77" name="Tile RIÑÓN"/>
          <p:cNvGrpSpPr/>
          <p:nvPr/>
        </p:nvGrpSpPr>
        <p:grpSpPr>
          <a:xfrm>
            <a:off x="9061704" y="3767328"/>
            <a:ext cx="2788920" cy="2651760"/>
            <a:chOff x="9061704" y="3767328"/>
            <a:chExt cx="2788920" cy="2651760"/>
          </a:xfrm>
        </p:grpSpPr>
        <p:sp>
          <p:nvSpPr>
            <p:cNvPr id="78" name="Forma 77"/>
            <p:cNvSpPr/>
            <p:nvPr/>
          </p:nvSpPr>
          <p:spPr>
            <a:xfrm>
              <a:off x="9061704" y="3767328"/>
              <a:ext cx="278892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79" name="Ícono riñón"/>
            <p:cNvGrpSpPr/>
            <p:nvPr/>
          </p:nvGrpSpPr>
          <p:grpSpPr>
            <a:xfrm>
              <a:off x="9326880" y="3840480"/>
              <a:ext cx="521208" cy="729691"/>
              <a:chOff x="9326880" y="3840480"/>
              <a:chExt cx="521208" cy="729691"/>
            </a:xfrm>
          </p:grpSpPr>
          <p:sp>
            <p:nvSpPr>
              <p:cNvPr id="80" name="Forma 79"/>
              <p:cNvSpPr/>
              <p:nvPr/>
            </p:nvSpPr>
            <p:spPr>
              <a:xfrm>
                <a:off x="9326880" y="3840480"/>
                <a:ext cx="521208" cy="729691"/>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81" name="Forma 80"/>
              <p:cNvSpPr/>
              <p:nvPr/>
            </p:nvSpPr>
            <p:spPr>
              <a:xfrm>
                <a:off x="9326880" y="3840480"/>
                <a:ext cx="521208" cy="729691"/>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82" name="Forma 81"/>
              <p:cNvSpPr/>
              <p:nvPr/>
            </p:nvSpPr>
            <p:spPr>
              <a:xfrm>
                <a:off x="9326880" y="3840480"/>
                <a:ext cx="521208" cy="729691"/>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3" name="Forma 82"/>
              <p:cNvSpPr/>
              <p:nvPr/>
            </p:nvSpPr>
            <p:spPr>
              <a:xfrm>
                <a:off x="9326880" y="3840480"/>
                <a:ext cx="521208" cy="729691"/>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84" name="Forma 83"/>
            <p:cNvSpPr txBox="1"/>
            <p:nvPr/>
          </p:nvSpPr>
          <p:spPr>
            <a:xfrm>
              <a:off x="10158984" y="3858768"/>
              <a:ext cx="160020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RIÑÓN</a:t>
              </a:r>
              <a:endParaRPr lang="es-AR" sz="1550" dirty="0">
                <a:latin typeface="Bahnschrift SemiBold Condensed"/>
              </a:endParaRPr>
            </a:p>
          </p:txBody>
        </p:sp>
        <p:sp>
          <p:nvSpPr>
            <p:cNvPr id="85" name="Forma 84"/>
            <p:cNvSpPr txBox="1"/>
            <p:nvPr/>
          </p:nvSpPr>
          <p:spPr>
            <a:xfrm>
              <a:off x="9198864" y="4864608"/>
              <a:ext cx="251460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GNG cortical</a:t>
              </a:r>
              <a:r>
                <a:rPr lang="es-AR" sz="1550" dirty="0">
                  <a:solidFill>
                    <a:srgbClr val="1E1E1E"/>
                  </a:solidFill>
                  <a:latin typeface="Bahnschrift"/>
                  <a:ea typeface="Bahnschrift"/>
                  <a:cs typeface="Bahnschrift"/>
                  <a:sym typeface="Bahnschrift"/>
                </a:rPr>
                <a:t> creciente</a:t>
              </a:r>
              <a:endParaRPr lang="es-AR" sz="1550" dirty="0">
                <a:latin typeface="Bahnschrift"/>
              </a:endParaRPr>
            </a:p>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Amoniogénesis</a:t>
              </a:r>
              <a:r>
                <a:rPr lang="es-AR" sz="1550" dirty="0">
                  <a:solidFill>
                    <a:srgbClr val="1E1E1E"/>
                  </a:solidFill>
                  <a:latin typeface="Bahnschrift"/>
                  <a:ea typeface="Bahnschrift"/>
                  <a:cs typeface="Bahnschrift"/>
                  <a:sym typeface="Bahnschrift"/>
                </a:rPr>
                <a:t> (glutamina)</a:t>
              </a:r>
              <a:endParaRPr lang="es-AR" sz="1550" dirty="0">
                <a:latin typeface="Bahnschrift"/>
              </a:endParaRPr>
            </a:p>
          </p:txBody>
        </p:sp>
      </p:grpSp>
      <p:sp>
        <p:nvSpPr>
          <p:cNvPr id="2" name="Etiqueta sección"/>
          <p:cNvSpPr/>
          <p:nvPr/>
        </p:nvSpPr>
        <p:spPr>
          <a:xfrm>
            <a:off x="11124984" y="201168"/>
            <a:ext cx="79239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AYUNO</a:t>
            </a:r>
            <a:endParaRPr lang="es-AR" sz="1300" dirty="0">
              <a:latin typeface="Bahnschrift SemiBold Condensed"/>
            </a:endParaRPr>
          </a:p>
        </p:txBody>
      </p:sp>
      <p:sp>
        <p:nvSpPr>
          <p:cNvPr id="3" name="Título"/>
          <p:cNvSpPr/>
          <p:nvPr/>
        </p:nvSpPr>
        <p:spPr>
          <a:xfrm>
            <a:off x="274320" y="146304"/>
            <a:ext cx="604159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COMPARACIÓN ÓRGANO POR ÓRGANO: AYUNO</a:t>
            </a:r>
            <a:endParaRPr lang="es-AR" sz="2600" dirty="0">
              <a:latin typeface="Bahnschrift SemiBold Condensed"/>
            </a:endParaRPr>
          </a:p>
        </p:txBody>
      </p:sp>
      <p:sp>
        <p:nvSpPr>
          <p:cNvPr id="8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fade">
                                      <p:cBhvr>
                                        <p:cTn id="20" dur="500"/>
                                        <p:tgtEl>
                                          <p:spTgt spid="3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500"/>
                                        <p:tgtEl>
                                          <p:spTgt spid="51"/>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3"/>
                                        </p:tgtEl>
                                        <p:attrNameLst>
                                          <p:attrName>style.visibility</p:attrName>
                                        </p:attrNameLst>
                                      </p:cBhvr>
                                      <p:to>
                                        <p:strVal val="visible"/>
                                      </p:to>
                                    </p:set>
                                    <p:animEffect transition="in" filter="fade">
                                      <p:cBhvr>
                                        <p:cTn id="30" dur="500"/>
                                        <p:tgtEl>
                                          <p:spTgt spid="63"/>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fade">
                                      <p:cBhvr>
                                        <p:cTn id="35" dur="500"/>
                                        <p:tgtEl>
                                          <p:spTgt spid="72"/>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7"/>
                                        </p:tgtEl>
                                        <p:attrNameLst>
                                          <p:attrName>style.visibility</p:attrName>
                                        </p:attrNameLst>
                                      </p:cBhvr>
                                      <p:to>
                                        <p:strVal val="visible"/>
                                      </p:to>
                                    </p:set>
                                    <p:animEffect transition="in" filter="fade">
                                      <p:cBhvr>
                                        <p:cTn id="40"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2" name="Etiqueta unidad"/>
          <p:cNvSpPr/>
          <p:nvPr/>
        </p:nvSpPr>
        <p:spPr>
          <a:xfrm>
            <a:off x="548640" y="502920"/>
            <a:ext cx="1310404"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III</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550" b="1" dirty="0">
                <a:solidFill>
                  <a:srgbClr val="1E1E1E"/>
                </a:solidFill>
                <a:effectLst>
                  <a:glow rad="127000">
                    <a:srgbClr val="F39C5A">
                      <a:alpha val="75000"/>
                    </a:srgbClr>
                  </a:glow>
                </a:effectLst>
                <a:latin typeface="Bahnschrift"/>
                <a:ea typeface="Bahnschrift"/>
                <a:cs typeface="Bahnschrift"/>
                <a:sym typeface="Bahnschrift"/>
              </a:rPr>
              <a:t>LÍPIDOS, COLESTEROL</a:t>
            </a:r>
            <a:endParaRPr lang="es-AR" sz="4550" dirty="0">
              <a:latin typeface="Bahnschrift"/>
            </a:endParaRPr>
          </a:p>
          <a:p>
            <a:pPr algn="l">
              <a:lnSpc>
                <a:spcPct val="900"/>
              </a:lnSpc>
              <a:spcAft>
                <a:spcPts val="300"/>
              </a:spcAft>
              <a:buNone/>
            </a:pPr>
            <a:r>
              <a:rPr lang="es-AR" sz="4550" b="1" dirty="0">
                <a:solidFill>
                  <a:srgbClr val="1E1E1E"/>
                </a:solidFill>
                <a:effectLst>
                  <a:glow rad="127000">
                    <a:srgbClr val="F39C5A">
                      <a:alpha val="75000"/>
                    </a:srgbClr>
                  </a:glow>
                </a:effectLst>
                <a:latin typeface="Bahnschrift"/>
                <a:ea typeface="Bahnschrift"/>
                <a:cs typeface="Bahnschrift"/>
                <a:sym typeface="Bahnschrift"/>
              </a:rPr>
              <a:t>Y CONTROL METABÓLICO</a:t>
            </a:r>
            <a:endParaRPr lang="es-AR" sz="455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Síntesis, oxidación, transporte y regulación génica</a:t>
            </a:r>
            <a:endParaRPr lang="es-AR" sz="1800" dirty="0">
              <a:latin typeface="Bahnschrift SemiBold Condensed"/>
            </a:endParaRPr>
          </a:p>
        </p:txBody>
      </p:sp>
      <p:grpSp>
        <p:nvGrpSpPr>
          <p:cNvPr id="5" name="Temario"/>
          <p:cNvGrpSpPr/>
          <p:nvPr/>
        </p:nvGrpSpPr>
        <p:grpSpPr>
          <a:xfrm>
            <a:off x="502920" y="3703320"/>
            <a:ext cx="6583680" cy="2788920"/>
            <a:chOff x="502920" y="3703320"/>
            <a:chExt cx="6583680" cy="2788920"/>
          </a:xfrm>
        </p:grpSpPr>
        <p:sp>
          <p:nvSpPr>
            <p:cNvPr id="6" name="Forma 5"/>
            <p:cNvSpPr/>
            <p:nvPr/>
          </p:nvSpPr>
          <p:spPr>
            <a:xfrm>
              <a:off x="50292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13 · Malonil-CoA: punto de decisión</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14 · Combustibles musculares</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15 · ATP desde ácidos grasos</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16 · Origen de los TAG hepáticos</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17 · AG de cadena corta y media</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18 · Ácidos grasos esenciales</a:t>
              </a:r>
              <a:endParaRPr lang="es-AR" sz="1350" dirty="0">
                <a:latin typeface="Bahnschrift"/>
              </a:endParaRPr>
            </a:p>
          </p:txBody>
        </p:sp>
        <p:sp>
          <p:nvSpPr>
            <p:cNvPr id="7" name="Forma 6"/>
            <p:cNvSpPr/>
            <p:nvPr/>
          </p:nvSpPr>
          <p:spPr>
            <a:xfrm>
              <a:off x="384048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19 · Quilomicrones y VLDL</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20 · AMPK: sensor energético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21 · Colesterol: síntesis, transporte, destino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22 · Cetogénesis y cetólisis</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23 · Control génico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24 · Estrés fisiológico</a:t>
              </a:r>
              <a:endParaRPr lang="es-AR" sz="1350" dirty="0">
                <a:latin typeface="Bahnschrift"/>
              </a:endParaRPr>
            </a:p>
          </p:txBody>
        </p:sp>
      </p:grpSp>
      <p:grpSp>
        <p:nvGrpSpPr>
          <p:cNvPr id="8" name="Arte adipocito"/>
          <p:cNvGrpSpPr/>
          <p:nvPr/>
        </p:nvGrpSpPr>
        <p:grpSpPr>
          <a:xfrm>
            <a:off x="7863840" y="822960"/>
            <a:ext cx="2377440" cy="2377440"/>
            <a:chOff x="7863840" y="822960"/>
            <a:chExt cx="2377440" cy="2377440"/>
          </a:xfrm>
        </p:grpSpPr>
        <p:sp>
          <p:nvSpPr>
            <p:cNvPr id="9" name="Forma 8"/>
            <p:cNvSpPr/>
            <p:nvPr/>
          </p:nvSpPr>
          <p:spPr>
            <a:xfrm>
              <a:off x="7863840" y="822960"/>
              <a:ext cx="2377440" cy="237744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0" name="Gota lipídica"/>
            <p:cNvSpPr/>
            <p:nvPr/>
          </p:nvSpPr>
          <p:spPr>
            <a:xfrm>
              <a:off x="7982712" y="941832"/>
              <a:ext cx="2139696" cy="2139696"/>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1" name="Forma 10"/>
            <p:cNvSpPr/>
            <p:nvPr/>
          </p:nvSpPr>
          <p:spPr>
            <a:xfrm rot="2400000">
              <a:off x="9575597" y="965606"/>
              <a:ext cx="523037" cy="28529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2" name="Mitocondria"/>
            <p:cNvGrpSpPr/>
            <p:nvPr/>
          </p:nvGrpSpPr>
          <p:grpSpPr>
            <a:xfrm>
              <a:off x="8054035" y="2582266"/>
              <a:ext cx="237744" cy="118872"/>
              <a:chOff x="8054035" y="2582266"/>
              <a:chExt cx="237744" cy="118872"/>
            </a:xfrm>
          </p:grpSpPr>
          <p:sp>
            <p:nvSpPr>
              <p:cNvPr id="13" name="Forma 12"/>
              <p:cNvSpPr/>
              <p:nvPr/>
            </p:nvSpPr>
            <p:spPr>
              <a:xfrm rot="-2400000">
                <a:off x="8054035" y="2582266"/>
                <a:ext cx="237744" cy="11887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4" name="Forma 13"/>
              <p:cNvSpPr/>
              <p:nvPr/>
            </p:nvSpPr>
            <p:spPr>
              <a:xfrm rot="-2400000">
                <a:off x="8070677" y="2598908"/>
                <a:ext cx="204460" cy="85588"/>
              </a:xfrm>
              <a:prstGeom prst="ellipse">
                <a:avLst/>
              </a:prstGeom>
              <a:solidFill>
                <a:srgbClr val="F8D8B4"/>
              </a:solidFill>
              <a:ln w="9525" cap="rnd">
                <a:solidFill>
                  <a:srgbClr val="B2732B"/>
                </a:solidFill>
                <a:round/>
              </a:ln>
            </p:spPr>
          </p:sp>
          <p:sp>
            <p:nvSpPr>
              <p:cNvPr id="15" name="Forma 14"/>
              <p:cNvSpPr/>
              <p:nvPr/>
            </p:nvSpPr>
            <p:spPr>
              <a:xfrm rot="-2400000">
                <a:off x="8070677" y="2598908"/>
                <a:ext cx="204460" cy="8558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16" name="Arte mitocondria"/>
          <p:cNvGrpSpPr/>
          <p:nvPr/>
        </p:nvGrpSpPr>
        <p:grpSpPr>
          <a:xfrm>
            <a:off x="9692640" y="3017520"/>
            <a:ext cx="2194560" cy="1097280"/>
            <a:chOff x="9692640" y="3017520"/>
            <a:chExt cx="2194560" cy="1097280"/>
          </a:xfrm>
        </p:grpSpPr>
        <p:sp>
          <p:nvSpPr>
            <p:cNvPr id="17" name="Forma 16"/>
            <p:cNvSpPr/>
            <p:nvPr/>
          </p:nvSpPr>
          <p:spPr>
            <a:xfrm>
              <a:off x="9692640" y="3017520"/>
              <a:ext cx="2194560" cy="109728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8" name="Forma 17"/>
            <p:cNvSpPr/>
            <p:nvPr/>
          </p:nvSpPr>
          <p:spPr>
            <a:xfrm>
              <a:off x="9846259" y="3171139"/>
              <a:ext cx="1887322" cy="790042"/>
            </a:xfrm>
            <a:prstGeom prst="ellipse">
              <a:avLst/>
            </a:prstGeom>
            <a:solidFill>
              <a:srgbClr val="F8D8B4"/>
            </a:solidFill>
            <a:ln w="9525" cap="rnd">
              <a:solidFill>
                <a:srgbClr val="B2732B"/>
              </a:solidFill>
              <a:round/>
            </a:ln>
          </p:spPr>
        </p:sp>
        <p:sp>
          <p:nvSpPr>
            <p:cNvPr id="19" name="Forma 18"/>
            <p:cNvSpPr/>
            <p:nvPr/>
          </p:nvSpPr>
          <p:spPr>
            <a:xfrm>
              <a:off x="9846259" y="3171139"/>
              <a:ext cx="1887322" cy="7900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0" name="Arte VLDL"/>
          <p:cNvGrpSpPr/>
          <p:nvPr/>
        </p:nvGrpSpPr>
        <p:grpSpPr>
          <a:xfrm>
            <a:off x="7589520" y="3383280"/>
            <a:ext cx="1463040" cy="1463040"/>
            <a:chOff x="7589520" y="3383280"/>
            <a:chExt cx="1463040" cy="1463040"/>
          </a:xfrm>
        </p:grpSpPr>
        <p:sp>
          <p:nvSpPr>
            <p:cNvPr id="21" name="Forma 20"/>
            <p:cNvSpPr/>
            <p:nvPr/>
          </p:nvSpPr>
          <p:spPr>
            <a:xfrm>
              <a:off x="7589520" y="3383280"/>
              <a:ext cx="1463040" cy="146304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22" name="Forma 21"/>
            <p:cNvSpPr/>
            <p:nvPr/>
          </p:nvSpPr>
          <p:spPr>
            <a:xfrm>
              <a:off x="7589520" y="3383280"/>
              <a:ext cx="1463040" cy="1463040"/>
            </a:xfrm>
            <a:custGeom>
              <a:avLst/>
              <a:gdLst/>
              <a:ahLst/>
              <a:cxnLst/>
              <a:rect l="0" t="0" r="r" b="b"/>
              <a:pathLst>
                <a:path w="1000" h="1000">
                  <a:moveTo>
                    <a:pt x="990" y="500"/>
                  </a:moveTo>
                  <a:cubicBezTo>
                    <a:pt x="990" y="511"/>
                    <a:pt x="981" y="520"/>
                    <a:pt x="970" y="520"/>
                  </a:cubicBezTo>
                  <a:cubicBezTo>
                    <a:pt x="958" y="520"/>
                    <a:pt x="950" y="511"/>
                    <a:pt x="950" y="500"/>
                  </a:cubicBezTo>
                  <a:cubicBezTo>
                    <a:pt x="950" y="488"/>
                    <a:pt x="958" y="480"/>
                    <a:pt x="970" y="480"/>
                  </a:cubicBezTo>
                  <a:cubicBezTo>
                    <a:pt x="981" y="480"/>
                    <a:pt x="990" y="488"/>
                    <a:pt x="990" y="500"/>
                  </a:cubicBezTo>
                  <a:close/>
                  <a:moveTo>
                    <a:pt x="988" y="541"/>
                  </a:moveTo>
                  <a:cubicBezTo>
                    <a:pt x="988" y="552"/>
                    <a:pt x="979" y="561"/>
                    <a:pt x="968" y="561"/>
                  </a:cubicBezTo>
                  <a:cubicBezTo>
                    <a:pt x="956" y="561"/>
                    <a:pt x="948" y="552"/>
                    <a:pt x="948" y="541"/>
                  </a:cubicBezTo>
                  <a:cubicBezTo>
                    <a:pt x="948" y="529"/>
                    <a:pt x="956" y="521"/>
                    <a:pt x="968" y="521"/>
                  </a:cubicBezTo>
                  <a:cubicBezTo>
                    <a:pt x="979" y="521"/>
                    <a:pt x="988" y="529"/>
                    <a:pt x="988" y="541"/>
                  </a:cubicBezTo>
                  <a:close/>
                  <a:moveTo>
                    <a:pt x="982" y="582"/>
                  </a:moveTo>
                  <a:cubicBezTo>
                    <a:pt x="982" y="593"/>
                    <a:pt x="973" y="602"/>
                    <a:pt x="962" y="602"/>
                  </a:cubicBezTo>
                  <a:cubicBezTo>
                    <a:pt x="950" y="602"/>
                    <a:pt x="942" y="593"/>
                    <a:pt x="942" y="582"/>
                  </a:cubicBezTo>
                  <a:cubicBezTo>
                    <a:pt x="942" y="570"/>
                    <a:pt x="950" y="562"/>
                    <a:pt x="962" y="562"/>
                  </a:cubicBezTo>
                  <a:cubicBezTo>
                    <a:pt x="973" y="562"/>
                    <a:pt x="982" y="570"/>
                    <a:pt x="982" y="582"/>
                  </a:cubicBezTo>
                  <a:close/>
                  <a:moveTo>
                    <a:pt x="973" y="623"/>
                  </a:moveTo>
                  <a:cubicBezTo>
                    <a:pt x="973" y="634"/>
                    <a:pt x="964" y="643"/>
                    <a:pt x="953" y="643"/>
                  </a:cubicBezTo>
                  <a:cubicBezTo>
                    <a:pt x="941" y="643"/>
                    <a:pt x="933" y="634"/>
                    <a:pt x="933" y="623"/>
                  </a:cubicBezTo>
                  <a:cubicBezTo>
                    <a:pt x="933" y="611"/>
                    <a:pt x="941" y="603"/>
                    <a:pt x="953" y="603"/>
                  </a:cubicBezTo>
                  <a:cubicBezTo>
                    <a:pt x="964" y="603"/>
                    <a:pt x="973" y="611"/>
                    <a:pt x="973" y="623"/>
                  </a:cubicBezTo>
                  <a:close/>
                  <a:moveTo>
                    <a:pt x="960" y="662"/>
                  </a:moveTo>
                  <a:cubicBezTo>
                    <a:pt x="960" y="673"/>
                    <a:pt x="951" y="682"/>
                    <a:pt x="940" y="682"/>
                  </a:cubicBezTo>
                  <a:cubicBezTo>
                    <a:pt x="928" y="682"/>
                    <a:pt x="920" y="673"/>
                    <a:pt x="920" y="662"/>
                  </a:cubicBezTo>
                  <a:cubicBezTo>
                    <a:pt x="920" y="650"/>
                    <a:pt x="928" y="642"/>
                    <a:pt x="940" y="642"/>
                  </a:cubicBezTo>
                  <a:cubicBezTo>
                    <a:pt x="951" y="642"/>
                    <a:pt x="960" y="650"/>
                    <a:pt x="960" y="662"/>
                  </a:cubicBezTo>
                  <a:close/>
                  <a:moveTo>
                    <a:pt x="944" y="701"/>
                  </a:moveTo>
                  <a:cubicBezTo>
                    <a:pt x="944" y="712"/>
                    <a:pt x="935" y="721"/>
                    <a:pt x="924" y="721"/>
                  </a:cubicBezTo>
                  <a:cubicBezTo>
                    <a:pt x="912" y="721"/>
                    <a:pt x="904" y="712"/>
                    <a:pt x="904" y="701"/>
                  </a:cubicBezTo>
                  <a:cubicBezTo>
                    <a:pt x="904" y="689"/>
                    <a:pt x="912" y="681"/>
                    <a:pt x="924" y="681"/>
                  </a:cubicBezTo>
                  <a:cubicBezTo>
                    <a:pt x="935" y="681"/>
                    <a:pt x="944" y="689"/>
                    <a:pt x="944" y="701"/>
                  </a:cubicBezTo>
                  <a:close/>
                  <a:moveTo>
                    <a:pt x="925" y="737"/>
                  </a:moveTo>
                  <a:cubicBezTo>
                    <a:pt x="925" y="748"/>
                    <a:pt x="916" y="757"/>
                    <a:pt x="905" y="757"/>
                  </a:cubicBezTo>
                  <a:cubicBezTo>
                    <a:pt x="893" y="757"/>
                    <a:pt x="885" y="748"/>
                    <a:pt x="885" y="737"/>
                  </a:cubicBezTo>
                  <a:cubicBezTo>
                    <a:pt x="885" y="725"/>
                    <a:pt x="893" y="717"/>
                    <a:pt x="905" y="717"/>
                  </a:cubicBezTo>
                  <a:cubicBezTo>
                    <a:pt x="916" y="717"/>
                    <a:pt x="925" y="725"/>
                    <a:pt x="925" y="737"/>
                  </a:cubicBezTo>
                  <a:close/>
                  <a:moveTo>
                    <a:pt x="902" y="772"/>
                  </a:moveTo>
                  <a:cubicBezTo>
                    <a:pt x="902" y="783"/>
                    <a:pt x="893" y="792"/>
                    <a:pt x="882" y="792"/>
                  </a:cubicBezTo>
                  <a:cubicBezTo>
                    <a:pt x="870" y="792"/>
                    <a:pt x="862" y="783"/>
                    <a:pt x="862" y="772"/>
                  </a:cubicBezTo>
                  <a:cubicBezTo>
                    <a:pt x="862" y="760"/>
                    <a:pt x="870" y="752"/>
                    <a:pt x="882" y="752"/>
                  </a:cubicBezTo>
                  <a:cubicBezTo>
                    <a:pt x="893" y="752"/>
                    <a:pt x="902" y="760"/>
                    <a:pt x="902" y="772"/>
                  </a:cubicBezTo>
                  <a:close/>
                  <a:moveTo>
                    <a:pt x="877" y="805"/>
                  </a:moveTo>
                  <a:cubicBezTo>
                    <a:pt x="877" y="816"/>
                    <a:pt x="868" y="825"/>
                    <a:pt x="857" y="825"/>
                  </a:cubicBezTo>
                  <a:cubicBezTo>
                    <a:pt x="845" y="825"/>
                    <a:pt x="837" y="816"/>
                    <a:pt x="837" y="805"/>
                  </a:cubicBezTo>
                  <a:cubicBezTo>
                    <a:pt x="837" y="793"/>
                    <a:pt x="845" y="785"/>
                    <a:pt x="857" y="785"/>
                  </a:cubicBezTo>
                  <a:cubicBezTo>
                    <a:pt x="868" y="785"/>
                    <a:pt x="877" y="793"/>
                    <a:pt x="877" y="805"/>
                  </a:cubicBezTo>
                  <a:close/>
                  <a:moveTo>
                    <a:pt x="848" y="835"/>
                  </a:moveTo>
                  <a:cubicBezTo>
                    <a:pt x="848" y="846"/>
                    <a:pt x="839" y="855"/>
                    <a:pt x="828" y="855"/>
                  </a:cubicBezTo>
                  <a:cubicBezTo>
                    <a:pt x="816" y="855"/>
                    <a:pt x="808" y="846"/>
                    <a:pt x="808" y="835"/>
                  </a:cubicBezTo>
                  <a:cubicBezTo>
                    <a:pt x="808" y="823"/>
                    <a:pt x="816" y="815"/>
                    <a:pt x="828" y="815"/>
                  </a:cubicBezTo>
                  <a:cubicBezTo>
                    <a:pt x="839" y="815"/>
                    <a:pt x="848" y="823"/>
                    <a:pt x="848" y="835"/>
                  </a:cubicBezTo>
                  <a:close/>
                  <a:moveTo>
                    <a:pt x="817" y="863"/>
                  </a:moveTo>
                  <a:cubicBezTo>
                    <a:pt x="817" y="874"/>
                    <a:pt x="808" y="883"/>
                    <a:pt x="797" y="883"/>
                  </a:cubicBezTo>
                  <a:cubicBezTo>
                    <a:pt x="785" y="883"/>
                    <a:pt x="777" y="874"/>
                    <a:pt x="777" y="863"/>
                  </a:cubicBezTo>
                  <a:cubicBezTo>
                    <a:pt x="777" y="851"/>
                    <a:pt x="785" y="843"/>
                    <a:pt x="797" y="843"/>
                  </a:cubicBezTo>
                  <a:cubicBezTo>
                    <a:pt x="808" y="843"/>
                    <a:pt x="817" y="851"/>
                    <a:pt x="817" y="863"/>
                  </a:cubicBezTo>
                  <a:close/>
                  <a:moveTo>
                    <a:pt x="784" y="888"/>
                  </a:moveTo>
                  <a:cubicBezTo>
                    <a:pt x="784" y="899"/>
                    <a:pt x="775" y="908"/>
                    <a:pt x="764" y="908"/>
                  </a:cubicBezTo>
                  <a:cubicBezTo>
                    <a:pt x="752" y="908"/>
                    <a:pt x="744" y="899"/>
                    <a:pt x="744" y="888"/>
                  </a:cubicBezTo>
                  <a:cubicBezTo>
                    <a:pt x="744" y="876"/>
                    <a:pt x="752" y="868"/>
                    <a:pt x="764" y="868"/>
                  </a:cubicBezTo>
                  <a:cubicBezTo>
                    <a:pt x="775" y="868"/>
                    <a:pt x="784" y="876"/>
                    <a:pt x="784" y="888"/>
                  </a:cubicBezTo>
                  <a:close/>
                  <a:moveTo>
                    <a:pt x="748" y="910"/>
                  </a:moveTo>
                  <a:cubicBezTo>
                    <a:pt x="748" y="921"/>
                    <a:pt x="739" y="930"/>
                    <a:pt x="728" y="930"/>
                  </a:cubicBezTo>
                  <a:cubicBezTo>
                    <a:pt x="716" y="930"/>
                    <a:pt x="708" y="921"/>
                    <a:pt x="708" y="910"/>
                  </a:cubicBezTo>
                  <a:cubicBezTo>
                    <a:pt x="708" y="898"/>
                    <a:pt x="716" y="890"/>
                    <a:pt x="728" y="890"/>
                  </a:cubicBezTo>
                  <a:cubicBezTo>
                    <a:pt x="739" y="890"/>
                    <a:pt x="748" y="898"/>
                    <a:pt x="748" y="910"/>
                  </a:cubicBezTo>
                  <a:close/>
                  <a:moveTo>
                    <a:pt x="711" y="929"/>
                  </a:moveTo>
                  <a:cubicBezTo>
                    <a:pt x="711" y="940"/>
                    <a:pt x="702" y="949"/>
                    <a:pt x="691" y="949"/>
                  </a:cubicBezTo>
                  <a:cubicBezTo>
                    <a:pt x="679" y="949"/>
                    <a:pt x="671" y="940"/>
                    <a:pt x="671" y="929"/>
                  </a:cubicBezTo>
                  <a:cubicBezTo>
                    <a:pt x="671" y="917"/>
                    <a:pt x="679" y="909"/>
                    <a:pt x="691" y="909"/>
                  </a:cubicBezTo>
                  <a:cubicBezTo>
                    <a:pt x="702" y="909"/>
                    <a:pt x="711" y="917"/>
                    <a:pt x="711" y="929"/>
                  </a:cubicBezTo>
                  <a:close/>
                  <a:moveTo>
                    <a:pt x="673" y="944"/>
                  </a:moveTo>
                  <a:cubicBezTo>
                    <a:pt x="673" y="955"/>
                    <a:pt x="664" y="964"/>
                    <a:pt x="653" y="964"/>
                  </a:cubicBezTo>
                  <a:cubicBezTo>
                    <a:pt x="641" y="964"/>
                    <a:pt x="633" y="955"/>
                    <a:pt x="633" y="944"/>
                  </a:cubicBezTo>
                  <a:cubicBezTo>
                    <a:pt x="633" y="932"/>
                    <a:pt x="641" y="924"/>
                    <a:pt x="653" y="924"/>
                  </a:cubicBezTo>
                  <a:cubicBezTo>
                    <a:pt x="664" y="924"/>
                    <a:pt x="673" y="932"/>
                    <a:pt x="673" y="944"/>
                  </a:cubicBezTo>
                  <a:close/>
                  <a:moveTo>
                    <a:pt x="633" y="956"/>
                  </a:moveTo>
                  <a:cubicBezTo>
                    <a:pt x="633" y="967"/>
                    <a:pt x="624" y="976"/>
                    <a:pt x="613" y="976"/>
                  </a:cubicBezTo>
                  <a:cubicBezTo>
                    <a:pt x="601" y="976"/>
                    <a:pt x="593" y="967"/>
                    <a:pt x="593" y="956"/>
                  </a:cubicBezTo>
                  <a:cubicBezTo>
                    <a:pt x="593" y="944"/>
                    <a:pt x="601" y="936"/>
                    <a:pt x="613" y="936"/>
                  </a:cubicBezTo>
                  <a:cubicBezTo>
                    <a:pt x="624" y="936"/>
                    <a:pt x="633" y="944"/>
                    <a:pt x="633" y="956"/>
                  </a:cubicBezTo>
                  <a:close/>
                  <a:moveTo>
                    <a:pt x="592" y="964"/>
                  </a:moveTo>
                  <a:cubicBezTo>
                    <a:pt x="592" y="975"/>
                    <a:pt x="583" y="984"/>
                    <a:pt x="572" y="984"/>
                  </a:cubicBezTo>
                  <a:cubicBezTo>
                    <a:pt x="560" y="984"/>
                    <a:pt x="552" y="975"/>
                    <a:pt x="552" y="964"/>
                  </a:cubicBezTo>
                  <a:cubicBezTo>
                    <a:pt x="552" y="952"/>
                    <a:pt x="560" y="944"/>
                    <a:pt x="572" y="944"/>
                  </a:cubicBezTo>
                  <a:cubicBezTo>
                    <a:pt x="583" y="944"/>
                    <a:pt x="592" y="952"/>
                    <a:pt x="592" y="964"/>
                  </a:cubicBezTo>
                  <a:close/>
                  <a:moveTo>
                    <a:pt x="551" y="968"/>
                  </a:moveTo>
                  <a:cubicBezTo>
                    <a:pt x="551" y="979"/>
                    <a:pt x="542" y="988"/>
                    <a:pt x="531" y="988"/>
                  </a:cubicBezTo>
                  <a:cubicBezTo>
                    <a:pt x="519" y="988"/>
                    <a:pt x="511" y="979"/>
                    <a:pt x="511" y="968"/>
                  </a:cubicBezTo>
                  <a:cubicBezTo>
                    <a:pt x="511" y="956"/>
                    <a:pt x="519" y="948"/>
                    <a:pt x="531" y="948"/>
                  </a:cubicBezTo>
                  <a:cubicBezTo>
                    <a:pt x="542" y="948"/>
                    <a:pt x="551" y="956"/>
                    <a:pt x="551" y="968"/>
                  </a:cubicBezTo>
                  <a:close/>
                  <a:moveTo>
                    <a:pt x="509" y="969"/>
                  </a:moveTo>
                  <a:cubicBezTo>
                    <a:pt x="509" y="980"/>
                    <a:pt x="500" y="989"/>
                    <a:pt x="489" y="989"/>
                  </a:cubicBezTo>
                  <a:cubicBezTo>
                    <a:pt x="477" y="989"/>
                    <a:pt x="469" y="980"/>
                    <a:pt x="469" y="969"/>
                  </a:cubicBezTo>
                  <a:cubicBezTo>
                    <a:pt x="469" y="957"/>
                    <a:pt x="477" y="949"/>
                    <a:pt x="489" y="949"/>
                  </a:cubicBezTo>
                  <a:cubicBezTo>
                    <a:pt x="500" y="949"/>
                    <a:pt x="509" y="957"/>
                    <a:pt x="509" y="969"/>
                  </a:cubicBezTo>
                  <a:close/>
                  <a:moveTo>
                    <a:pt x="468" y="967"/>
                  </a:moveTo>
                  <a:cubicBezTo>
                    <a:pt x="468" y="978"/>
                    <a:pt x="459" y="987"/>
                    <a:pt x="448" y="987"/>
                  </a:cubicBezTo>
                  <a:cubicBezTo>
                    <a:pt x="436" y="987"/>
                    <a:pt x="428" y="978"/>
                    <a:pt x="428" y="967"/>
                  </a:cubicBezTo>
                  <a:cubicBezTo>
                    <a:pt x="428" y="955"/>
                    <a:pt x="436" y="947"/>
                    <a:pt x="448" y="947"/>
                  </a:cubicBezTo>
                  <a:cubicBezTo>
                    <a:pt x="459" y="947"/>
                    <a:pt x="468" y="955"/>
                    <a:pt x="468" y="967"/>
                  </a:cubicBezTo>
                  <a:close/>
                  <a:moveTo>
                    <a:pt x="427" y="960"/>
                  </a:moveTo>
                  <a:cubicBezTo>
                    <a:pt x="427" y="971"/>
                    <a:pt x="418" y="980"/>
                    <a:pt x="407" y="980"/>
                  </a:cubicBezTo>
                  <a:cubicBezTo>
                    <a:pt x="395" y="980"/>
                    <a:pt x="387" y="971"/>
                    <a:pt x="387" y="960"/>
                  </a:cubicBezTo>
                  <a:cubicBezTo>
                    <a:pt x="387" y="948"/>
                    <a:pt x="395" y="940"/>
                    <a:pt x="407" y="940"/>
                  </a:cubicBezTo>
                  <a:cubicBezTo>
                    <a:pt x="418" y="940"/>
                    <a:pt x="427" y="948"/>
                    <a:pt x="427" y="960"/>
                  </a:cubicBezTo>
                  <a:close/>
                  <a:moveTo>
                    <a:pt x="386" y="950"/>
                  </a:moveTo>
                  <a:cubicBezTo>
                    <a:pt x="386" y="961"/>
                    <a:pt x="377" y="970"/>
                    <a:pt x="366" y="970"/>
                  </a:cubicBezTo>
                  <a:cubicBezTo>
                    <a:pt x="354" y="970"/>
                    <a:pt x="346" y="961"/>
                    <a:pt x="346" y="950"/>
                  </a:cubicBezTo>
                  <a:cubicBezTo>
                    <a:pt x="346" y="938"/>
                    <a:pt x="354" y="930"/>
                    <a:pt x="366" y="930"/>
                  </a:cubicBezTo>
                  <a:cubicBezTo>
                    <a:pt x="377" y="930"/>
                    <a:pt x="386" y="938"/>
                    <a:pt x="386" y="950"/>
                  </a:cubicBezTo>
                  <a:close/>
                  <a:moveTo>
                    <a:pt x="347" y="937"/>
                  </a:moveTo>
                  <a:cubicBezTo>
                    <a:pt x="347" y="948"/>
                    <a:pt x="338" y="957"/>
                    <a:pt x="327" y="957"/>
                  </a:cubicBezTo>
                  <a:cubicBezTo>
                    <a:pt x="315" y="957"/>
                    <a:pt x="307" y="948"/>
                    <a:pt x="307" y="937"/>
                  </a:cubicBezTo>
                  <a:cubicBezTo>
                    <a:pt x="307" y="925"/>
                    <a:pt x="315" y="917"/>
                    <a:pt x="327" y="917"/>
                  </a:cubicBezTo>
                  <a:cubicBezTo>
                    <a:pt x="338" y="917"/>
                    <a:pt x="347" y="925"/>
                    <a:pt x="347" y="937"/>
                  </a:cubicBezTo>
                  <a:close/>
                  <a:moveTo>
                    <a:pt x="309" y="920"/>
                  </a:moveTo>
                  <a:cubicBezTo>
                    <a:pt x="309" y="931"/>
                    <a:pt x="300" y="940"/>
                    <a:pt x="289" y="940"/>
                  </a:cubicBezTo>
                  <a:cubicBezTo>
                    <a:pt x="277" y="940"/>
                    <a:pt x="269" y="931"/>
                    <a:pt x="269" y="920"/>
                  </a:cubicBezTo>
                  <a:cubicBezTo>
                    <a:pt x="269" y="908"/>
                    <a:pt x="277" y="900"/>
                    <a:pt x="289" y="900"/>
                  </a:cubicBezTo>
                  <a:cubicBezTo>
                    <a:pt x="300" y="900"/>
                    <a:pt x="309" y="908"/>
                    <a:pt x="309" y="920"/>
                  </a:cubicBezTo>
                  <a:close/>
                  <a:moveTo>
                    <a:pt x="273" y="899"/>
                  </a:moveTo>
                  <a:cubicBezTo>
                    <a:pt x="273" y="910"/>
                    <a:pt x="264" y="919"/>
                    <a:pt x="253" y="919"/>
                  </a:cubicBezTo>
                  <a:cubicBezTo>
                    <a:pt x="241" y="919"/>
                    <a:pt x="233" y="910"/>
                    <a:pt x="233" y="899"/>
                  </a:cubicBezTo>
                  <a:cubicBezTo>
                    <a:pt x="233" y="887"/>
                    <a:pt x="241" y="879"/>
                    <a:pt x="253" y="879"/>
                  </a:cubicBezTo>
                  <a:cubicBezTo>
                    <a:pt x="264" y="879"/>
                    <a:pt x="273" y="887"/>
                    <a:pt x="273" y="899"/>
                  </a:cubicBezTo>
                  <a:close/>
                  <a:moveTo>
                    <a:pt x="238" y="876"/>
                  </a:moveTo>
                  <a:cubicBezTo>
                    <a:pt x="238" y="887"/>
                    <a:pt x="229" y="896"/>
                    <a:pt x="218" y="896"/>
                  </a:cubicBezTo>
                  <a:cubicBezTo>
                    <a:pt x="206" y="896"/>
                    <a:pt x="198" y="887"/>
                    <a:pt x="198" y="876"/>
                  </a:cubicBezTo>
                  <a:cubicBezTo>
                    <a:pt x="198" y="864"/>
                    <a:pt x="206" y="856"/>
                    <a:pt x="218" y="856"/>
                  </a:cubicBezTo>
                  <a:cubicBezTo>
                    <a:pt x="229" y="856"/>
                    <a:pt x="238" y="864"/>
                    <a:pt x="238" y="876"/>
                  </a:cubicBezTo>
                  <a:close/>
                  <a:moveTo>
                    <a:pt x="206" y="850"/>
                  </a:moveTo>
                  <a:cubicBezTo>
                    <a:pt x="206" y="861"/>
                    <a:pt x="197" y="870"/>
                    <a:pt x="186" y="870"/>
                  </a:cubicBezTo>
                  <a:cubicBezTo>
                    <a:pt x="174" y="870"/>
                    <a:pt x="166" y="861"/>
                    <a:pt x="166" y="850"/>
                  </a:cubicBezTo>
                  <a:cubicBezTo>
                    <a:pt x="166" y="838"/>
                    <a:pt x="174" y="830"/>
                    <a:pt x="186" y="830"/>
                  </a:cubicBezTo>
                  <a:cubicBezTo>
                    <a:pt x="197" y="830"/>
                    <a:pt x="206" y="838"/>
                    <a:pt x="206" y="850"/>
                  </a:cubicBezTo>
                  <a:close/>
                  <a:moveTo>
                    <a:pt x="176" y="821"/>
                  </a:moveTo>
                  <a:cubicBezTo>
                    <a:pt x="176" y="832"/>
                    <a:pt x="167" y="841"/>
                    <a:pt x="156" y="841"/>
                  </a:cubicBezTo>
                  <a:cubicBezTo>
                    <a:pt x="144" y="841"/>
                    <a:pt x="136" y="832"/>
                    <a:pt x="136" y="821"/>
                  </a:cubicBezTo>
                  <a:cubicBezTo>
                    <a:pt x="136" y="809"/>
                    <a:pt x="144" y="801"/>
                    <a:pt x="156" y="801"/>
                  </a:cubicBezTo>
                  <a:cubicBezTo>
                    <a:pt x="167" y="801"/>
                    <a:pt x="176" y="809"/>
                    <a:pt x="176" y="821"/>
                  </a:cubicBezTo>
                  <a:close/>
                  <a:moveTo>
                    <a:pt x="149" y="789"/>
                  </a:moveTo>
                  <a:cubicBezTo>
                    <a:pt x="149" y="800"/>
                    <a:pt x="140" y="809"/>
                    <a:pt x="129" y="809"/>
                  </a:cubicBezTo>
                  <a:cubicBezTo>
                    <a:pt x="117" y="809"/>
                    <a:pt x="109" y="800"/>
                    <a:pt x="109" y="789"/>
                  </a:cubicBezTo>
                  <a:cubicBezTo>
                    <a:pt x="109" y="777"/>
                    <a:pt x="117" y="769"/>
                    <a:pt x="129" y="769"/>
                  </a:cubicBezTo>
                  <a:cubicBezTo>
                    <a:pt x="140" y="769"/>
                    <a:pt x="149" y="777"/>
                    <a:pt x="149" y="789"/>
                  </a:cubicBezTo>
                  <a:close/>
                  <a:moveTo>
                    <a:pt x="125" y="755"/>
                  </a:moveTo>
                  <a:cubicBezTo>
                    <a:pt x="125" y="766"/>
                    <a:pt x="116" y="775"/>
                    <a:pt x="105" y="775"/>
                  </a:cubicBezTo>
                  <a:cubicBezTo>
                    <a:pt x="93" y="775"/>
                    <a:pt x="85" y="766"/>
                    <a:pt x="85" y="755"/>
                  </a:cubicBezTo>
                  <a:cubicBezTo>
                    <a:pt x="85" y="743"/>
                    <a:pt x="93" y="735"/>
                    <a:pt x="105" y="735"/>
                  </a:cubicBezTo>
                  <a:cubicBezTo>
                    <a:pt x="116" y="735"/>
                    <a:pt x="125" y="743"/>
                    <a:pt x="125" y="755"/>
                  </a:cubicBezTo>
                  <a:close/>
                  <a:moveTo>
                    <a:pt x="104" y="719"/>
                  </a:moveTo>
                  <a:cubicBezTo>
                    <a:pt x="104" y="730"/>
                    <a:pt x="95" y="739"/>
                    <a:pt x="84" y="739"/>
                  </a:cubicBezTo>
                  <a:cubicBezTo>
                    <a:pt x="72" y="739"/>
                    <a:pt x="64" y="730"/>
                    <a:pt x="64" y="719"/>
                  </a:cubicBezTo>
                  <a:cubicBezTo>
                    <a:pt x="64" y="707"/>
                    <a:pt x="72" y="699"/>
                    <a:pt x="84" y="699"/>
                  </a:cubicBezTo>
                  <a:cubicBezTo>
                    <a:pt x="95" y="699"/>
                    <a:pt x="104" y="707"/>
                    <a:pt x="104" y="719"/>
                  </a:cubicBezTo>
                  <a:close/>
                  <a:moveTo>
                    <a:pt x="86" y="682"/>
                  </a:moveTo>
                  <a:cubicBezTo>
                    <a:pt x="86" y="693"/>
                    <a:pt x="77" y="702"/>
                    <a:pt x="66" y="702"/>
                  </a:cubicBezTo>
                  <a:cubicBezTo>
                    <a:pt x="54" y="702"/>
                    <a:pt x="46" y="693"/>
                    <a:pt x="46" y="682"/>
                  </a:cubicBezTo>
                  <a:cubicBezTo>
                    <a:pt x="46" y="670"/>
                    <a:pt x="54" y="662"/>
                    <a:pt x="66" y="662"/>
                  </a:cubicBezTo>
                  <a:cubicBezTo>
                    <a:pt x="77" y="662"/>
                    <a:pt x="86" y="670"/>
                    <a:pt x="86" y="682"/>
                  </a:cubicBezTo>
                  <a:close/>
                  <a:moveTo>
                    <a:pt x="72" y="643"/>
                  </a:moveTo>
                  <a:cubicBezTo>
                    <a:pt x="72" y="654"/>
                    <a:pt x="63" y="663"/>
                    <a:pt x="52" y="663"/>
                  </a:cubicBezTo>
                  <a:cubicBezTo>
                    <a:pt x="40" y="663"/>
                    <a:pt x="32" y="654"/>
                    <a:pt x="32" y="643"/>
                  </a:cubicBezTo>
                  <a:cubicBezTo>
                    <a:pt x="32" y="631"/>
                    <a:pt x="40" y="623"/>
                    <a:pt x="52" y="623"/>
                  </a:cubicBezTo>
                  <a:cubicBezTo>
                    <a:pt x="63" y="623"/>
                    <a:pt x="72" y="631"/>
                    <a:pt x="72" y="643"/>
                  </a:cubicBezTo>
                  <a:close/>
                  <a:moveTo>
                    <a:pt x="61" y="603"/>
                  </a:moveTo>
                  <a:cubicBezTo>
                    <a:pt x="61" y="614"/>
                    <a:pt x="52" y="623"/>
                    <a:pt x="41" y="623"/>
                  </a:cubicBezTo>
                  <a:cubicBezTo>
                    <a:pt x="29" y="623"/>
                    <a:pt x="21" y="614"/>
                    <a:pt x="21" y="603"/>
                  </a:cubicBezTo>
                  <a:cubicBezTo>
                    <a:pt x="21" y="591"/>
                    <a:pt x="29" y="583"/>
                    <a:pt x="41" y="583"/>
                  </a:cubicBezTo>
                  <a:cubicBezTo>
                    <a:pt x="52" y="583"/>
                    <a:pt x="61" y="591"/>
                    <a:pt x="61" y="603"/>
                  </a:cubicBezTo>
                  <a:close/>
                  <a:moveTo>
                    <a:pt x="54" y="562"/>
                  </a:moveTo>
                  <a:cubicBezTo>
                    <a:pt x="54" y="573"/>
                    <a:pt x="45" y="582"/>
                    <a:pt x="34" y="582"/>
                  </a:cubicBezTo>
                  <a:cubicBezTo>
                    <a:pt x="22" y="582"/>
                    <a:pt x="14" y="573"/>
                    <a:pt x="14" y="562"/>
                  </a:cubicBezTo>
                  <a:cubicBezTo>
                    <a:pt x="14" y="550"/>
                    <a:pt x="22" y="542"/>
                    <a:pt x="34" y="542"/>
                  </a:cubicBezTo>
                  <a:cubicBezTo>
                    <a:pt x="45" y="542"/>
                    <a:pt x="54" y="550"/>
                    <a:pt x="54" y="562"/>
                  </a:cubicBezTo>
                  <a:close/>
                  <a:moveTo>
                    <a:pt x="50" y="520"/>
                  </a:moveTo>
                  <a:cubicBezTo>
                    <a:pt x="50" y="531"/>
                    <a:pt x="41" y="540"/>
                    <a:pt x="30" y="540"/>
                  </a:cubicBezTo>
                  <a:cubicBezTo>
                    <a:pt x="18" y="540"/>
                    <a:pt x="10" y="531"/>
                    <a:pt x="10" y="520"/>
                  </a:cubicBezTo>
                  <a:cubicBezTo>
                    <a:pt x="10" y="508"/>
                    <a:pt x="18" y="500"/>
                    <a:pt x="30" y="500"/>
                  </a:cubicBezTo>
                  <a:cubicBezTo>
                    <a:pt x="41" y="500"/>
                    <a:pt x="50" y="508"/>
                    <a:pt x="50" y="520"/>
                  </a:cubicBezTo>
                  <a:close/>
                  <a:moveTo>
                    <a:pt x="50" y="479"/>
                  </a:moveTo>
                  <a:cubicBezTo>
                    <a:pt x="50" y="490"/>
                    <a:pt x="41" y="499"/>
                    <a:pt x="30" y="499"/>
                  </a:cubicBezTo>
                  <a:cubicBezTo>
                    <a:pt x="18" y="499"/>
                    <a:pt x="10" y="490"/>
                    <a:pt x="10" y="479"/>
                  </a:cubicBezTo>
                  <a:cubicBezTo>
                    <a:pt x="10" y="467"/>
                    <a:pt x="18" y="459"/>
                    <a:pt x="30" y="459"/>
                  </a:cubicBezTo>
                  <a:cubicBezTo>
                    <a:pt x="41" y="459"/>
                    <a:pt x="50" y="467"/>
                    <a:pt x="50" y="479"/>
                  </a:cubicBezTo>
                  <a:close/>
                  <a:moveTo>
                    <a:pt x="54" y="437"/>
                  </a:moveTo>
                  <a:cubicBezTo>
                    <a:pt x="54" y="448"/>
                    <a:pt x="45" y="457"/>
                    <a:pt x="34" y="457"/>
                  </a:cubicBezTo>
                  <a:cubicBezTo>
                    <a:pt x="22" y="457"/>
                    <a:pt x="14" y="448"/>
                    <a:pt x="14" y="437"/>
                  </a:cubicBezTo>
                  <a:cubicBezTo>
                    <a:pt x="14" y="425"/>
                    <a:pt x="22" y="417"/>
                    <a:pt x="34" y="417"/>
                  </a:cubicBezTo>
                  <a:cubicBezTo>
                    <a:pt x="45" y="417"/>
                    <a:pt x="54" y="425"/>
                    <a:pt x="54" y="437"/>
                  </a:cubicBezTo>
                  <a:close/>
                  <a:moveTo>
                    <a:pt x="61" y="396"/>
                  </a:moveTo>
                  <a:cubicBezTo>
                    <a:pt x="61" y="407"/>
                    <a:pt x="52" y="416"/>
                    <a:pt x="41" y="416"/>
                  </a:cubicBezTo>
                  <a:cubicBezTo>
                    <a:pt x="29" y="416"/>
                    <a:pt x="21" y="407"/>
                    <a:pt x="21" y="396"/>
                  </a:cubicBezTo>
                  <a:cubicBezTo>
                    <a:pt x="21" y="384"/>
                    <a:pt x="29" y="376"/>
                    <a:pt x="41" y="376"/>
                  </a:cubicBezTo>
                  <a:cubicBezTo>
                    <a:pt x="52" y="376"/>
                    <a:pt x="61" y="384"/>
                    <a:pt x="61" y="396"/>
                  </a:cubicBezTo>
                  <a:close/>
                  <a:moveTo>
                    <a:pt x="72" y="356"/>
                  </a:moveTo>
                  <a:cubicBezTo>
                    <a:pt x="72" y="367"/>
                    <a:pt x="63" y="376"/>
                    <a:pt x="52" y="376"/>
                  </a:cubicBezTo>
                  <a:cubicBezTo>
                    <a:pt x="40" y="376"/>
                    <a:pt x="32" y="367"/>
                    <a:pt x="32" y="356"/>
                  </a:cubicBezTo>
                  <a:cubicBezTo>
                    <a:pt x="32" y="344"/>
                    <a:pt x="40" y="336"/>
                    <a:pt x="52" y="336"/>
                  </a:cubicBezTo>
                  <a:cubicBezTo>
                    <a:pt x="63" y="336"/>
                    <a:pt x="72" y="344"/>
                    <a:pt x="72" y="356"/>
                  </a:cubicBezTo>
                  <a:close/>
                  <a:moveTo>
                    <a:pt x="86" y="317"/>
                  </a:moveTo>
                  <a:cubicBezTo>
                    <a:pt x="86" y="328"/>
                    <a:pt x="77" y="337"/>
                    <a:pt x="66" y="337"/>
                  </a:cubicBezTo>
                  <a:cubicBezTo>
                    <a:pt x="54" y="337"/>
                    <a:pt x="46" y="328"/>
                    <a:pt x="46" y="317"/>
                  </a:cubicBezTo>
                  <a:cubicBezTo>
                    <a:pt x="46" y="305"/>
                    <a:pt x="54" y="297"/>
                    <a:pt x="66" y="297"/>
                  </a:cubicBezTo>
                  <a:cubicBezTo>
                    <a:pt x="77" y="297"/>
                    <a:pt x="86" y="305"/>
                    <a:pt x="86" y="317"/>
                  </a:cubicBezTo>
                  <a:close/>
                  <a:moveTo>
                    <a:pt x="104" y="280"/>
                  </a:moveTo>
                  <a:cubicBezTo>
                    <a:pt x="104" y="291"/>
                    <a:pt x="95" y="300"/>
                    <a:pt x="84" y="300"/>
                  </a:cubicBezTo>
                  <a:cubicBezTo>
                    <a:pt x="72" y="300"/>
                    <a:pt x="64" y="291"/>
                    <a:pt x="64" y="280"/>
                  </a:cubicBezTo>
                  <a:cubicBezTo>
                    <a:pt x="64" y="268"/>
                    <a:pt x="72" y="260"/>
                    <a:pt x="84" y="260"/>
                  </a:cubicBezTo>
                  <a:cubicBezTo>
                    <a:pt x="95" y="260"/>
                    <a:pt x="104" y="268"/>
                    <a:pt x="104" y="280"/>
                  </a:cubicBezTo>
                  <a:close/>
                  <a:moveTo>
                    <a:pt x="125" y="244"/>
                  </a:moveTo>
                  <a:cubicBezTo>
                    <a:pt x="125" y="255"/>
                    <a:pt x="116" y="264"/>
                    <a:pt x="105" y="264"/>
                  </a:cubicBezTo>
                  <a:cubicBezTo>
                    <a:pt x="93" y="264"/>
                    <a:pt x="85" y="255"/>
                    <a:pt x="85" y="244"/>
                  </a:cubicBezTo>
                  <a:cubicBezTo>
                    <a:pt x="85" y="232"/>
                    <a:pt x="93" y="224"/>
                    <a:pt x="105" y="224"/>
                  </a:cubicBezTo>
                  <a:cubicBezTo>
                    <a:pt x="116" y="224"/>
                    <a:pt x="125" y="232"/>
                    <a:pt x="125" y="244"/>
                  </a:cubicBezTo>
                  <a:close/>
                  <a:moveTo>
                    <a:pt x="149" y="210"/>
                  </a:moveTo>
                  <a:cubicBezTo>
                    <a:pt x="149" y="221"/>
                    <a:pt x="140" y="230"/>
                    <a:pt x="129" y="230"/>
                  </a:cubicBezTo>
                  <a:cubicBezTo>
                    <a:pt x="117" y="230"/>
                    <a:pt x="109" y="221"/>
                    <a:pt x="109" y="210"/>
                  </a:cubicBezTo>
                  <a:cubicBezTo>
                    <a:pt x="109" y="198"/>
                    <a:pt x="117" y="190"/>
                    <a:pt x="129" y="190"/>
                  </a:cubicBezTo>
                  <a:cubicBezTo>
                    <a:pt x="140" y="190"/>
                    <a:pt x="149" y="198"/>
                    <a:pt x="149" y="210"/>
                  </a:cubicBezTo>
                  <a:close/>
                  <a:moveTo>
                    <a:pt x="176" y="178"/>
                  </a:moveTo>
                  <a:cubicBezTo>
                    <a:pt x="176" y="189"/>
                    <a:pt x="167" y="198"/>
                    <a:pt x="156" y="198"/>
                  </a:cubicBezTo>
                  <a:cubicBezTo>
                    <a:pt x="144" y="198"/>
                    <a:pt x="136" y="189"/>
                    <a:pt x="136" y="178"/>
                  </a:cubicBezTo>
                  <a:cubicBezTo>
                    <a:pt x="136" y="166"/>
                    <a:pt x="144" y="158"/>
                    <a:pt x="156" y="158"/>
                  </a:cubicBezTo>
                  <a:cubicBezTo>
                    <a:pt x="167" y="158"/>
                    <a:pt x="176" y="166"/>
                    <a:pt x="176" y="178"/>
                  </a:cubicBezTo>
                  <a:close/>
                  <a:moveTo>
                    <a:pt x="206" y="149"/>
                  </a:moveTo>
                  <a:cubicBezTo>
                    <a:pt x="206" y="160"/>
                    <a:pt x="197" y="169"/>
                    <a:pt x="186" y="169"/>
                  </a:cubicBezTo>
                  <a:cubicBezTo>
                    <a:pt x="174" y="169"/>
                    <a:pt x="166" y="160"/>
                    <a:pt x="166" y="149"/>
                  </a:cubicBezTo>
                  <a:cubicBezTo>
                    <a:pt x="166" y="137"/>
                    <a:pt x="174" y="129"/>
                    <a:pt x="186" y="129"/>
                  </a:cubicBezTo>
                  <a:cubicBezTo>
                    <a:pt x="197" y="129"/>
                    <a:pt x="206" y="137"/>
                    <a:pt x="206" y="149"/>
                  </a:cubicBezTo>
                  <a:close/>
                  <a:moveTo>
                    <a:pt x="238" y="123"/>
                  </a:moveTo>
                  <a:cubicBezTo>
                    <a:pt x="238" y="134"/>
                    <a:pt x="229" y="143"/>
                    <a:pt x="218" y="143"/>
                  </a:cubicBezTo>
                  <a:cubicBezTo>
                    <a:pt x="206" y="143"/>
                    <a:pt x="198" y="134"/>
                    <a:pt x="198" y="123"/>
                  </a:cubicBezTo>
                  <a:cubicBezTo>
                    <a:pt x="198" y="111"/>
                    <a:pt x="206" y="103"/>
                    <a:pt x="218" y="103"/>
                  </a:cubicBezTo>
                  <a:cubicBezTo>
                    <a:pt x="229" y="103"/>
                    <a:pt x="238" y="111"/>
                    <a:pt x="238" y="123"/>
                  </a:cubicBezTo>
                  <a:close/>
                  <a:moveTo>
                    <a:pt x="273" y="100"/>
                  </a:moveTo>
                  <a:cubicBezTo>
                    <a:pt x="273" y="111"/>
                    <a:pt x="264" y="120"/>
                    <a:pt x="253" y="120"/>
                  </a:cubicBezTo>
                  <a:cubicBezTo>
                    <a:pt x="241" y="120"/>
                    <a:pt x="233" y="111"/>
                    <a:pt x="233" y="100"/>
                  </a:cubicBezTo>
                  <a:cubicBezTo>
                    <a:pt x="233" y="88"/>
                    <a:pt x="241" y="80"/>
                    <a:pt x="253" y="80"/>
                  </a:cubicBezTo>
                  <a:cubicBezTo>
                    <a:pt x="264" y="80"/>
                    <a:pt x="273" y="88"/>
                    <a:pt x="273" y="100"/>
                  </a:cubicBezTo>
                  <a:close/>
                  <a:moveTo>
                    <a:pt x="309" y="79"/>
                  </a:moveTo>
                  <a:cubicBezTo>
                    <a:pt x="309" y="90"/>
                    <a:pt x="300" y="99"/>
                    <a:pt x="289" y="99"/>
                  </a:cubicBezTo>
                  <a:cubicBezTo>
                    <a:pt x="277" y="99"/>
                    <a:pt x="269" y="90"/>
                    <a:pt x="269" y="79"/>
                  </a:cubicBezTo>
                  <a:cubicBezTo>
                    <a:pt x="269" y="67"/>
                    <a:pt x="277" y="59"/>
                    <a:pt x="289" y="59"/>
                  </a:cubicBezTo>
                  <a:cubicBezTo>
                    <a:pt x="300" y="59"/>
                    <a:pt x="309" y="67"/>
                    <a:pt x="309" y="79"/>
                  </a:cubicBezTo>
                  <a:close/>
                  <a:moveTo>
                    <a:pt x="347" y="62"/>
                  </a:moveTo>
                  <a:cubicBezTo>
                    <a:pt x="347" y="73"/>
                    <a:pt x="338" y="82"/>
                    <a:pt x="327" y="82"/>
                  </a:cubicBezTo>
                  <a:cubicBezTo>
                    <a:pt x="315" y="82"/>
                    <a:pt x="307" y="73"/>
                    <a:pt x="307" y="62"/>
                  </a:cubicBezTo>
                  <a:cubicBezTo>
                    <a:pt x="307" y="50"/>
                    <a:pt x="315" y="42"/>
                    <a:pt x="327" y="42"/>
                  </a:cubicBezTo>
                  <a:cubicBezTo>
                    <a:pt x="338" y="42"/>
                    <a:pt x="347" y="50"/>
                    <a:pt x="347" y="62"/>
                  </a:cubicBezTo>
                  <a:close/>
                  <a:moveTo>
                    <a:pt x="386" y="49"/>
                  </a:moveTo>
                  <a:cubicBezTo>
                    <a:pt x="386" y="60"/>
                    <a:pt x="377" y="69"/>
                    <a:pt x="366" y="69"/>
                  </a:cubicBezTo>
                  <a:cubicBezTo>
                    <a:pt x="354" y="69"/>
                    <a:pt x="346" y="60"/>
                    <a:pt x="346" y="49"/>
                  </a:cubicBezTo>
                  <a:cubicBezTo>
                    <a:pt x="346" y="37"/>
                    <a:pt x="354" y="29"/>
                    <a:pt x="366" y="29"/>
                  </a:cubicBezTo>
                  <a:cubicBezTo>
                    <a:pt x="377" y="29"/>
                    <a:pt x="386" y="37"/>
                    <a:pt x="386" y="49"/>
                  </a:cubicBezTo>
                  <a:close/>
                  <a:moveTo>
                    <a:pt x="427" y="39"/>
                  </a:moveTo>
                  <a:cubicBezTo>
                    <a:pt x="427" y="50"/>
                    <a:pt x="418" y="59"/>
                    <a:pt x="407" y="59"/>
                  </a:cubicBezTo>
                  <a:cubicBezTo>
                    <a:pt x="395" y="59"/>
                    <a:pt x="387" y="50"/>
                    <a:pt x="387" y="39"/>
                  </a:cubicBezTo>
                  <a:cubicBezTo>
                    <a:pt x="387" y="27"/>
                    <a:pt x="395" y="19"/>
                    <a:pt x="407" y="19"/>
                  </a:cubicBezTo>
                  <a:cubicBezTo>
                    <a:pt x="418" y="19"/>
                    <a:pt x="427" y="27"/>
                    <a:pt x="427" y="39"/>
                  </a:cubicBezTo>
                  <a:close/>
                  <a:moveTo>
                    <a:pt x="468" y="32"/>
                  </a:moveTo>
                  <a:cubicBezTo>
                    <a:pt x="468" y="43"/>
                    <a:pt x="459" y="52"/>
                    <a:pt x="448" y="52"/>
                  </a:cubicBezTo>
                  <a:cubicBezTo>
                    <a:pt x="436" y="52"/>
                    <a:pt x="428" y="43"/>
                    <a:pt x="428" y="32"/>
                  </a:cubicBezTo>
                  <a:cubicBezTo>
                    <a:pt x="428" y="20"/>
                    <a:pt x="436" y="12"/>
                    <a:pt x="448" y="12"/>
                  </a:cubicBezTo>
                  <a:cubicBezTo>
                    <a:pt x="459" y="12"/>
                    <a:pt x="468" y="20"/>
                    <a:pt x="468" y="32"/>
                  </a:cubicBezTo>
                  <a:close/>
                  <a:moveTo>
                    <a:pt x="509" y="30"/>
                  </a:moveTo>
                  <a:cubicBezTo>
                    <a:pt x="509" y="41"/>
                    <a:pt x="500" y="50"/>
                    <a:pt x="489" y="50"/>
                  </a:cubicBezTo>
                  <a:cubicBezTo>
                    <a:pt x="477" y="50"/>
                    <a:pt x="469" y="41"/>
                    <a:pt x="469" y="30"/>
                  </a:cubicBezTo>
                  <a:cubicBezTo>
                    <a:pt x="469" y="18"/>
                    <a:pt x="477" y="10"/>
                    <a:pt x="489" y="10"/>
                  </a:cubicBezTo>
                  <a:cubicBezTo>
                    <a:pt x="500" y="10"/>
                    <a:pt x="509" y="18"/>
                    <a:pt x="509" y="30"/>
                  </a:cubicBezTo>
                  <a:close/>
                  <a:moveTo>
                    <a:pt x="551" y="31"/>
                  </a:moveTo>
                  <a:cubicBezTo>
                    <a:pt x="551" y="42"/>
                    <a:pt x="542" y="51"/>
                    <a:pt x="531" y="51"/>
                  </a:cubicBezTo>
                  <a:cubicBezTo>
                    <a:pt x="519" y="51"/>
                    <a:pt x="511" y="42"/>
                    <a:pt x="511" y="31"/>
                  </a:cubicBezTo>
                  <a:cubicBezTo>
                    <a:pt x="511" y="19"/>
                    <a:pt x="519" y="11"/>
                    <a:pt x="531" y="11"/>
                  </a:cubicBezTo>
                  <a:cubicBezTo>
                    <a:pt x="542" y="11"/>
                    <a:pt x="551" y="19"/>
                    <a:pt x="551" y="31"/>
                  </a:cubicBezTo>
                  <a:close/>
                  <a:moveTo>
                    <a:pt x="592" y="35"/>
                  </a:moveTo>
                  <a:cubicBezTo>
                    <a:pt x="592" y="46"/>
                    <a:pt x="583" y="55"/>
                    <a:pt x="572" y="55"/>
                  </a:cubicBezTo>
                  <a:cubicBezTo>
                    <a:pt x="560" y="55"/>
                    <a:pt x="552" y="46"/>
                    <a:pt x="552" y="35"/>
                  </a:cubicBezTo>
                  <a:cubicBezTo>
                    <a:pt x="552" y="23"/>
                    <a:pt x="560" y="15"/>
                    <a:pt x="572" y="15"/>
                  </a:cubicBezTo>
                  <a:cubicBezTo>
                    <a:pt x="583" y="15"/>
                    <a:pt x="592" y="23"/>
                    <a:pt x="592" y="35"/>
                  </a:cubicBezTo>
                  <a:close/>
                  <a:moveTo>
                    <a:pt x="633" y="43"/>
                  </a:moveTo>
                  <a:cubicBezTo>
                    <a:pt x="633" y="54"/>
                    <a:pt x="624" y="63"/>
                    <a:pt x="613" y="63"/>
                  </a:cubicBezTo>
                  <a:cubicBezTo>
                    <a:pt x="601" y="63"/>
                    <a:pt x="593" y="54"/>
                    <a:pt x="593" y="43"/>
                  </a:cubicBezTo>
                  <a:cubicBezTo>
                    <a:pt x="593" y="31"/>
                    <a:pt x="601" y="23"/>
                    <a:pt x="613" y="23"/>
                  </a:cubicBezTo>
                  <a:cubicBezTo>
                    <a:pt x="624" y="23"/>
                    <a:pt x="633" y="31"/>
                    <a:pt x="633" y="43"/>
                  </a:cubicBezTo>
                  <a:close/>
                  <a:moveTo>
                    <a:pt x="673" y="55"/>
                  </a:moveTo>
                  <a:cubicBezTo>
                    <a:pt x="673" y="66"/>
                    <a:pt x="664" y="75"/>
                    <a:pt x="653" y="75"/>
                  </a:cubicBezTo>
                  <a:cubicBezTo>
                    <a:pt x="641" y="75"/>
                    <a:pt x="633" y="66"/>
                    <a:pt x="633" y="55"/>
                  </a:cubicBezTo>
                  <a:cubicBezTo>
                    <a:pt x="633" y="43"/>
                    <a:pt x="641" y="35"/>
                    <a:pt x="653" y="35"/>
                  </a:cubicBezTo>
                  <a:cubicBezTo>
                    <a:pt x="664" y="35"/>
                    <a:pt x="673" y="43"/>
                    <a:pt x="673" y="55"/>
                  </a:cubicBezTo>
                  <a:close/>
                  <a:moveTo>
                    <a:pt x="711" y="70"/>
                  </a:moveTo>
                  <a:cubicBezTo>
                    <a:pt x="711" y="81"/>
                    <a:pt x="702" y="90"/>
                    <a:pt x="691" y="90"/>
                  </a:cubicBezTo>
                  <a:cubicBezTo>
                    <a:pt x="679" y="90"/>
                    <a:pt x="671" y="81"/>
                    <a:pt x="671" y="70"/>
                  </a:cubicBezTo>
                  <a:cubicBezTo>
                    <a:pt x="671" y="58"/>
                    <a:pt x="679" y="50"/>
                    <a:pt x="691" y="50"/>
                  </a:cubicBezTo>
                  <a:cubicBezTo>
                    <a:pt x="702" y="50"/>
                    <a:pt x="711" y="58"/>
                    <a:pt x="711" y="70"/>
                  </a:cubicBezTo>
                  <a:close/>
                  <a:moveTo>
                    <a:pt x="748" y="89"/>
                  </a:moveTo>
                  <a:cubicBezTo>
                    <a:pt x="748" y="100"/>
                    <a:pt x="739" y="109"/>
                    <a:pt x="728" y="109"/>
                  </a:cubicBezTo>
                  <a:cubicBezTo>
                    <a:pt x="716" y="109"/>
                    <a:pt x="708" y="100"/>
                    <a:pt x="708" y="89"/>
                  </a:cubicBezTo>
                  <a:cubicBezTo>
                    <a:pt x="708" y="77"/>
                    <a:pt x="716" y="69"/>
                    <a:pt x="728" y="69"/>
                  </a:cubicBezTo>
                  <a:cubicBezTo>
                    <a:pt x="739" y="69"/>
                    <a:pt x="748" y="77"/>
                    <a:pt x="748" y="89"/>
                  </a:cubicBezTo>
                  <a:close/>
                  <a:moveTo>
                    <a:pt x="784" y="111"/>
                  </a:moveTo>
                  <a:cubicBezTo>
                    <a:pt x="784" y="122"/>
                    <a:pt x="775" y="131"/>
                    <a:pt x="764" y="131"/>
                  </a:cubicBezTo>
                  <a:cubicBezTo>
                    <a:pt x="752" y="131"/>
                    <a:pt x="744" y="122"/>
                    <a:pt x="744" y="111"/>
                  </a:cubicBezTo>
                  <a:cubicBezTo>
                    <a:pt x="744" y="99"/>
                    <a:pt x="752" y="91"/>
                    <a:pt x="764" y="91"/>
                  </a:cubicBezTo>
                  <a:cubicBezTo>
                    <a:pt x="775" y="91"/>
                    <a:pt x="784" y="99"/>
                    <a:pt x="784" y="111"/>
                  </a:cubicBezTo>
                  <a:close/>
                  <a:moveTo>
                    <a:pt x="817" y="136"/>
                  </a:moveTo>
                  <a:cubicBezTo>
                    <a:pt x="817" y="147"/>
                    <a:pt x="808" y="156"/>
                    <a:pt x="797" y="156"/>
                  </a:cubicBezTo>
                  <a:cubicBezTo>
                    <a:pt x="785" y="156"/>
                    <a:pt x="777" y="147"/>
                    <a:pt x="777" y="136"/>
                  </a:cubicBezTo>
                  <a:cubicBezTo>
                    <a:pt x="777" y="124"/>
                    <a:pt x="785" y="116"/>
                    <a:pt x="797" y="116"/>
                  </a:cubicBezTo>
                  <a:cubicBezTo>
                    <a:pt x="808" y="116"/>
                    <a:pt x="817" y="124"/>
                    <a:pt x="817" y="136"/>
                  </a:cubicBezTo>
                  <a:close/>
                  <a:moveTo>
                    <a:pt x="848" y="164"/>
                  </a:moveTo>
                  <a:cubicBezTo>
                    <a:pt x="848" y="175"/>
                    <a:pt x="839" y="184"/>
                    <a:pt x="828" y="184"/>
                  </a:cubicBezTo>
                  <a:cubicBezTo>
                    <a:pt x="816" y="184"/>
                    <a:pt x="808" y="175"/>
                    <a:pt x="808" y="164"/>
                  </a:cubicBezTo>
                  <a:cubicBezTo>
                    <a:pt x="808" y="152"/>
                    <a:pt x="816" y="144"/>
                    <a:pt x="828" y="144"/>
                  </a:cubicBezTo>
                  <a:cubicBezTo>
                    <a:pt x="839" y="144"/>
                    <a:pt x="848" y="152"/>
                    <a:pt x="848" y="164"/>
                  </a:cubicBezTo>
                  <a:close/>
                  <a:moveTo>
                    <a:pt x="877" y="194"/>
                  </a:moveTo>
                  <a:cubicBezTo>
                    <a:pt x="877" y="205"/>
                    <a:pt x="868" y="214"/>
                    <a:pt x="857" y="214"/>
                  </a:cubicBezTo>
                  <a:cubicBezTo>
                    <a:pt x="845" y="214"/>
                    <a:pt x="837" y="205"/>
                    <a:pt x="837" y="194"/>
                  </a:cubicBezTo>
                  <a:cubicBezTo>
                    <a:pt x="837" y="182"/>
                    <a:pt x="845" y="174"/>
                    <a:pt x="857" y="174"/>
                  </a:cubicBezTo>
                  <a:cubicBezTo>
                    <a:pt x="868" y="174"/>
                    <a:pt x="877" y="182"/>
                    <a:pt x="877" y="194"/>
                  </a:cubicBezTo>
                  <a:close/>
                  <a:moveTo>
                    <a:pt x="902" y="227"/>
                  </a:moveTo>
                  <a:cubicBezTo>
                    <a:pt x="902" y="238"/>
                    <a:pt x="893" y="247"/>
                    <a:pt x="882" y="247"/>
                  </a:cubicBezTo>
                  <a:cubicBezTo>
                    <a:pt x="870" y="247"/>
                    <a:pt x="862" y="238"/>
                    <a:pt x="862" y="227"/>
                  </a:cubicBezTo>
                  <a:cubicBezTo>
                    <a:pt x="862" y="215"/>
                    <a:pt x="870" y="207"/>
                    <a:pt x="882" y="207"/>
                  </a:cubicBezTo>
                  <a:cubicBezTo>
                    <a:pt x="893" y="207"/>
                    <a:pt x="902" y="215"/>
                    <a:pt x="902" y="227"/>
                  </a:cubicBezTo>
                  <a:close/>
                  <a:moveTo>
                    <a:pt x="925" y="262"/>
                  </a:moveTo>
                  <a:cubicBezTo>
                    <a:pt x="925" y="273"/>
                    <a:pt x="916" y="282"/>
                    <a:pt x="905" y="282"/>
                  </a:cubicBezTo>
                  <a:cubicBezTo>
                    <a:pt x="893" y="282"/>
                    <a:pt x="885" y="273"/>
                    <a:pt x="885" y="262"/>
                  </a:cubicBezTo>
                  <a:cubicBezTo>
                    <a:pt x="885" y="250"/>
                    <a:pt x="893" y="242"/>
                    <a:pt x="905" y="242"/>
                  </a:cubicBezTo>
                  <a:cubicBezTo>
                    <a:pt x="916" y="242"/>
                    <a:pt x="925" y="250"/>
                    <a:pt x="925" y="262"/>
                  </a:cubicBezTo>
                  <a:close/>
                  <a:moveTo>
                    <a:pt x="944" y="298"/>
                  </a:moveTo>
                  <a:cubicBezTo>
                    <a:pt x="944" y="309"/>
                    <a:pt x="935" y="318"/>
                    <a:pt x="924" y="318"/>
                  </a:cubicBezTo>
                  <a:cubicBezTo>
                    <a:pt x="912" y="318"/>
                    <a:pt x="904" y="309"/>
                    <a:pt x="904" y="298"/>
                  </a:cubicBezTo>
                  <a:cubicBezTo>
                    <a:pt x="904" y="286"/>
                    <a:pt x="912" y="278"/>
                    <a:pt x="924" y="278"/>
                  </a:cubicBezTo>
                  <a:cubicBezTo>
                    <a:pt x="935" y="278"/>
                    <a:pt x="944" y="286"/>
                    <a:pt x="944" y="298"/>
                  </a:cubicBezTo>
                  <a:close/>
                  <a:moveTo>
                    <a:pt x="960" y="337"/>
                  </a:moveTo>
                  <a:cubicBezTo>
                    <a:pt x="960" y="348"/>
                    <a:pt x="951" y="357"/>
                    <a:pt x="940" y="357"/>
                  </a:cubicBezTo>
                  <a:cubicBezTo>
                    <a:pt x="928" y="357"/>
                    <a:pt x="920" y="348"/>
                    <a:pt x="920" y="337"/>
                  </a:cubicBezTo>
                  <a:cubicBezTo>
                    <a:pt x="920" y="325"/>
                    <a:pt x="928" y="317"/>
                    <a:pt x="940" y="317"/>
                  </a:cubicBezTo>
                  <a:cubicBezTo>
                    <a:pt x="951" y="317"/>
                    <a:pt x="960" y="325"/>
                    <a:pt x="960" y="337"/>
                  </a:cubicBezTo>
                  <a:close/>
                  <a:moveTo>
                    <a:pt x="973" y="376"/>
                  </a:moveTo>
                  <a:cubicBezTo>
                    <a:pt x="973" y="387"/>
                    <a:pt x="964" y="396"/>
                    <a:pt x="953" y="396"/>
                  </a:cubicBezTo>
                  <a:cubicBezTo>
                    <a:pt x="941" y="396"/>
                    <a:pt x="933" y="387"/>
                    <a:pt x="933" y="376"/>
                  </a:cubicBezTo>
                  <a:cubicBezTo>
                    <a:pt x="933" y="364"/>
                    <a:pt x="941" y="356"/>
                    <a:pt x="953" y="356"/>
                  </a:cubicBezTo>
                  <a:cubicBezTo>
                    <a:pt x="964" y="356"/>
                    <a:pt x="973" y="364"/>
                    <a:pt x="973" y="376"/>
                  </a:cubicBezTo>
                  <a:close/>
                  <a:moveTo>
                    <a:pt x="982" y="417"/>
                  </a:moveTo>
                  <a:cubicBezTo>
                    <a:pt x="982" y="428"/>
                    <a:pt x="973" y="437"/>
                    <a:pt x="962" y="437"/>
                  </a:cubicBezTo>
                  <a:cubicBezTo>
                    <a:pt x="950" y="437"/>
                    <a:pt x="942" y="428"/>
                    <a:pt x="942" y="417"/>
                  </a:cubicBezTo>
                  <a:cubicBezTo>
                    <a:pt x="942" y="405"/>
                    <a:pt x="950" y="397"/>
                    <a:pt x="962" y="397"/>
                  </a:cubicBezTo>
                  <a:cubicBezTo>
                    <a:pt x="973" y="397"/>
                    <a:pt x="982" y="405"/>
                    <a:pt x="982" y="417"/>
                  </a:cubicBezTo>
                  <a:close/>
                  <a:moveTo>
                    <a:pt x="988" y="458"/>
                  </a:moveTo>
                  <a:cubicBezTo>
                    <a:pt x="988" y="469"/>
                    <a:pt x="979" y="478"/>
                    <a:pt x="968" y="478"/>
                  </a:cubicBezTo>
                  <a:cubicBezTo>
                    <a:pt x="956" y="478"/>
                    <a:pt x="948" y="469"/>
                    <a:pt x="948" y="458"/>
                  </a:cubicBezTo>
                  <a:cubicBezTo>
                    <a:pt x="948" y="446"/>
                    <a:pt x="956" y="438"/>
                    <a:pt x="968" y="438"/>
                  </a:cubicBezTo>
                  <a:cubicBezTo>
                    <a:pt x="979" y="438"/>
                    <a:pt x="988" y="446"/>
                    <a:pt x="988" y="45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3" name="Forma 22"/>
            <p:cNvSpPr/>
            <p:nvPr/>
          </p:nvSpPr>
          <p:spPr>
            <a:xfrm>
              <a:off x="7589520" y="3383280"/>
              <a:ext cx="1463040" cy="1463040"/>
            </a:xfrm>
            <a:custGeom>
              <a:avLst/>
              <a:gdLst/>
              <a:ahLst/>
              <a:cxnLst/>
              <a:rect l="0" t="0" r="r" b="b"/>
              <a:pathLst>
                <a:path w="1000" h="1000" fill="none">
                  <a:moveTo>
                    <a:pt x="30" y="328"/>
                  </a:moveTo>
                  <a:cubicBezTo>
                    <a:pt x="42" y="305"/>
                    <a:pt x="72" y="234"/>
                    <a:pt x="103" y="195"/>
                  </a:cubicBezTo>
                  <a:cubicBezTo>
                    <a:pt x="133" y="155"/>
                    <a:pt x="172" y="118"/>
                    <a:pt x="213" y="90"/>
                  </a:cubicBezTo>
                  <a:cubicBezTo>
                    <a:pt x="254" y="61"/>
                    <a:pt x="301" y="38"/>
                    <a:pt x="349" y="23"/>
                  </a:cubicBezTo>
                  <a:cubicBezTo>
                    <a:pt x="396" y="8"/>
                    <a:pt x="448" y="0"/>
                    <a:pt x="499" y="0"/>
                  </a:cubicBezTo>
                  <a:cubicBezTo>
                    <a:pt x="549" y="0"/>
                    <a:pt x="602" y="8"/>
                    <a:pt x="650" y="23"/>
                  </a:cubicBezTo>
                  <a:cubicBezTo>
                    <a:pt x="697" y="38"/>
                    <a:pt x="745" y="61"/>
                    <a:pt x="786" y="90"/>
                  </a:cubicBezTo>
                  <a:cubicBezTo>
                    <a:pt x="827" y="118"/>
                    <a:pt x="865" y="155"/>
                    <a:pt x="896" y="195"/>
                  </a:cubicBezTo>
                  <a:cubicBezTo>
                    <a:pt x="926" y="234"/>
                    <a:pt x="956" y="305"/>
                    <a:pt x="969" y="328"/>
                  </a:cubicBezTo>
                </a:path>
              </a:pathLst>
            </a:custGeom>
            <a:noFill/>
            <a:ln w="76200" cap="rnd">
              <a:solidFill>
                <a:srgbClr val="2E4A9E"/>
              </a:solidFill>
              <a:round/>
            </a:ln>
          </p:spPr>
        </p:sp>
        <p:sp>
          <p:nvSpPr>
            <p:cNvPr id="24" name="Forma 23"/>
            <p:cNvSpPr txBox="1"/>
            <p:nvPr/>
          </p:nvSpPr>
          <p:spPr>
            <a:xfrm>
              <a:off x="7589520" y="3822192"/>
              <a:ext cx="1463040" cy="585216"/>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VLDL</a:t>
              </a:r>
              <a:endParaRPr lang="es-AR" sz="1800" dirty="0">
                <a:latin typeface="Bahnschrift SemiBold Condensed"/>
              </a:endParaRPr>
            </a:p>
          </p:txBody>
        </p:sp>
      </p:grpSp>
      <p:grpSp>
        <p:nvGrpSpPr>
          <p:cNvPr id="25" name="Arte LDL"/>
          <p:cNvGrpSpPr/>
          <p:nvPr/>
        </p:nvGrpSpPr>
        <p:grpSpPr>
          <a:xfrm>
            <a:off x="8869680" y="4937760"/>
            <a:ext cx="1097280" cy="1097280"/>
            <a:chOff x="8869680" y="4937760"/>
            <a:chExt cx="1097280" cy="1097280"/>
          </a:xfrm>
        </p:grpSpPr>
        <p:sp>
          <p:nvSpPr>
            <p:cNvPr id="26" name="Forma 25"/>
            <p:cNvSpPr/>
            <p:nvPr/>
          </p:nvSpPr>
          <p:spPr>
            <a:xfrm>
              <a:off x="8869680" y="4937760"/>
              <a:ext cx="1097280" cy="1097280"/>
            </a:xfrm>
            <a:prstGeom prst="ellipse">
              <a:avLst/>
            </a:prstGeom>
            <a:gradFill rotWithShape="1">
              <a:gsLst>
                <a:gs pos="0">
                  <a:srgbClr val="FAD7A0"/>
                </a:gs>
                <a:gs pos="70000">
                  <a:srgbClr val="F39C12"/>
                </a:gs>
                <a:gs pos="100000">
                  <a:srgbClr val="C27C0E"/>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27" name="Forma 26"/>
            <p:cNvSpPr/>
            <p:nvPr/>
          </p:nvSpPr>
          <p:spPr>
            <a:xfrm>
              <a:off x="8869680" y="4937760"/>
              <a:ext cx="1097280" cy="1097280"/>
            </a:xfrm>
            <a:custGeom>
              <a:avLst/>
              <a:gdLst/>
              <a:ahLst/>
              <a:cxnLst/>
              <a:rect l="0" t="0" r="r" b="b"/>
              <a:pathLst>
                <a:path w="1000" h="1000">
                  <a:moveTo>
                    <a:pt x="996" y="500"/>
                  </a:moveTo>
                  <a:cubicBezTo>
                    <a:pt x="996" y="514"/>
                    <a:pt x="984" y="526"/>
                    <a:pt x="970" y="526"/>
                  </a:cubicBezTo>
                  <a:cubicBezTo>
                    <a:pt x="955" y="526"/>
                    <a:pt x="944" y="514"/>
                    <a:pt x="944" y="500"/>
                  </a:cubicBezTo>
                  <a:cubicBezTo>
                    <a:pt x="944" y="485"/>
                    <a:pt x="955" y="474"/>
                    <a:pt x="970" y="474"/>
                  </a:cubicBezTo>
                  <a:cubicBezTo>
                    <a:pt x="984" y="474"/>
                    <a:pt x="996" y="485"/>
                    <a:pt x="996" y="500"/>
                  </a:cubicBezTo>
                  <a:close/>
                  <a:moveTo>
                    <a:pt x="992" y="555"/>
                  </a:moveTo>
                  <a:cubicBezTo>
                    <a:pt x="992" y="569"/>
                    <a:pt x="980" y="581"/>
                    <a:pt x="966" y="581"/>
                  </a:cubicBezTo>
                  <a:cubicBezTo>
                    <a:pt x="951" y="581"/>
                    <a:pt x="940" y="569"/>
                    <a:pt x="940" y="555"/>
                  </a:cubicBezTo>
                  <a:cubicBezTo>
                    <a:pt x="940" y="540"/>
                    <a:pt x="951" y="529"/>
                    <a:pt x="966" y="529"/>
                  </a:cubicBezTo>
                  <a:cubicBezTo>
                    <a:pt x="980" y="529"/>
                    <a:pt x="992" y="540"/>
                    <a:pt x="992" y="555"/>
                  </a:cubicBezTo>
                  <a:close/>
                  <a:moveTo>
                    <a:pt x="982" y="610"/>
                  </a:moveTo>
                  <a:cubicBezTo>
                    <a:pt x="982" y="624"/>
                    <a:pt x="970" y="636"/>
                    <a:pt x="956" y="636"/>
                  </a:cubicBezTo>
                  <a:cubicBezTo>
                    <a:pt x="941" y="636"/>
                    <a:pt x="930" y="624"/>
                    <a:pt x="930" y="610"/>
                  </a:cubicBezTo>
                  <a:cubicBezTo>
                    <a:pt x="930" y="595"/>
                    <a:pt x="941" y="584"/>
                    <a:pt x="956" y="584"/>
                  </a:cubicBezTo>
                  <a:cubicBezTo>
                    <a:pt x="970" y="584"/>
                    <a:pt x="982" y="595"/>
                    <a:pt x="982" y="610"/>
                  </a:cubicBezTo>
                  <a:close/>
                  <a:moveTo>
                    <a:pt x="966" y="663"/>
                  </a:moveTo>
                  <a:cubicBezTo>
                    <a:pt x="966" y="677"/>
                    <a:pt x="954" y="689"/>
                    <a:pt x="940" y="689"/>
                  </a:cubicBezTo>
                  <a:cubicBezTo>
                    <a:pt x="925" y="689"/>
                    <a:pt x="914" y="677"/>
                    <a:pt x="914" y="663"/>
                  </a:cubicBezTo>
                  <a:cubicBezTo>
                    <a:pt x="914" y="648"/>
                    <a:pt x="925" y="637"/>
                    <a:pt x="940" y="637"/>
                  </a:cubicBezTo>
                  <a:cubicBezTo>
                    <a:pt x="954" y="637"/>
                    <a:pt x="966" y="648"/>
                    <a:pt x="966" y="663"/>
                  </a:cubicBezTo>
                  <a:close/>
                  <a:moveTo>
                    <a:pt x="944" y="714"/>
                  </a:moveTo>
                  <a:cubicBezTo>
                    <a:pt x="944" y="728"/>
                    <a:pt x="932" y="740"/>
                    <a:pt x="918" y="740"/>
                  </a:cubicBezTo>
                  <a:cubicBezTo>
                    <a:pt x="903" y="740"/>
                    <a:pt x="892" y="728"/>
                    <a:pt x="892" y="714"/>
                  </a:cubicBezTo>
                  <a:cubicBezTo>
                    <a:pt x="892" y="699"/>
                    <a:pt x="903" y="688"/>
                    <a:pt x="918" y="688"/>
                  </a:cubicBezTo>
                  <a:cubicBezTo>
                    <a:pt x="932" y="688"/>
                    <a:pt x="944" y="699"/>
                    <a:pt x="944" y="714"/>
                  </a:cubicBezTo>
                  <a:close/>
                  <a:moveTo>
                    <a:pt x="915" y="762"/>
                  </a:moveTo>
                  <a:cubicBezTo>
                    <a:pt x="915" y="776"/>
                    <a:pt x="903" y="788"/>
                    <a:pt x="889" y="788"/>
                  </a:cubicBezTo>
                  <a:cubicBezTo>
                    <a:pt x="874" y="788"/>
                    <a:pt x="863" y="776"/>
                    <a:pt x="863" y="762"/>
                  </a:cubicBezTo>
                  <a:cubicBezTo>
                    <a:pt x="863" y="747"/>
                    <a:pt x="874" y="736"/>
                    <a:pt x="889" y="736"/>
                  </a:cubicBezTo>
                  <a:cubicBezTo>
                    <a:pt x="903" y="736"/>
                    <a:pt x="915" y="747"/>
                    <a:pt x="915" y="762"/>
                  </a:cubicBezTo>
                  <a:close/>
                  <a:moveTo>
                    <a:pt x="882" y="806"/>
                  </a:moveTo>
                  <a:cubicBezTo>
                    <a:pt x="882" y="820"/>
                    <a:pt x="870" y="832"/>
                    <a:pt x="856" y="832"/>
                  </a:cubicBezTo>
                  <a:cubicBezTo>
                    <a:pt x="841" y="832"/>
                    <a:pt x="830" y="820"/>
                    <a:pt x="830" y="806"/>
                  </a:cubicBezTo>
                  <a:cubicBezTo>
                    <a:pt x="830" y="791"/>
                    <a:pt x="841" y="780"/>
                    <a:pt x="856" y="780"/>
                  </a:cubicBezTo>
                  <a:cubicBezTo>
                    <a:pt x="870" y="780"/>
                    <a:pt x="882" y="791"/>
                    <a:pt x="882" y="806"/>
                  </a:cubicBezTo>
                  <a:close/>
                  <a:moveTo>
                    <a:pt x="843" y="846"/>
                  </a:moveTo>
                  <a:cubicBezTo>
                    <a:pt x="843" y="860"/>
                    <a:pt x="831" y="872"/>
                    <a:pt x="817" y="872"/>
                  </a:cubicBezTo>
                  <a:cubicBezTo>
                    <a:pt x="802" y="872"/>
                    <a:pt x="791" y="860"/>
                    <a:pt x="791" y="846"/>
                  </a:cubicBezTo>
                  <a:cubicBezTo>
                    <a:pt x="791" y="831"/>
                    <a:pt x="802" y="820"/>
                    <a:pt x="817" y="820"/>
                  </a:cubicBezTo>
                  <a:cubicBezTo>
                    <a:pt x="831" y="820"/>
                    <a:pt x="843" y="831"/>
                    <a:pt x="843" y="846"/>
                  </a:cubicBezTo>
                  <a:close/>
                  <a:moveTo>
                    <a:pt x="800" y="881"/>
                  </a:moveTo>
                  <a:cubicBezTo>
                    <a:pt x="800" y="895"/>
                    <a:pt x="788" y="907"/>
                    <a:pt x="774" y="907"/>
                  </a:cubicBezTo>
                  <a:cubicBezTo>
                    <a:pt x="759" y="907"/>
                    <a:pt x="748" y="895"/>
                    <a:pt x="748" y="881"/>
                  </a:cubicBezTo>
                  <a:cubicBezTo>
                    <a:pt x="748" y="866"/>
                    <a:pt x="759" y="855"/>
                    <a:pt x="774" y="855"/>
                  </a:cubicBezTo>
                  <a:cubicBezTo>
                    <a:pt x="788" y="855"/>
                    <a:pt x="800" y="866"/>
                    <a:pt x="800" y="881"/>
                  </a:cubicBezTo>
                  <a:close/>
                  <a:moveTo>
                    <a:pt x="752" y="911"/>
                  </a:moveTo>
                  <a:cubicBezTo>
                    <a:pt x="752" y="925"/>
                    <a:pt x="740" y="937"/>
                    <a:pt x="726" y="937"/>
                  </a:cubicBezTo>
                  <a:cubicBezTo>
                    <a:pt x="711" y="937"/>
                    <a:pt x="700" y="925"/>
                    <a:pt x="700" y="911"/>
                  </a:cubicBezTo>
                  <a:cubicBezTo>
                    <a:pt x="700" y="896"/>
                    <a:pt x="711" y="885"/>
                    <a:pt x="726" y="885"/>
                  </a:cubicBezTo>
                  <a:cubicBezTo>
                    <a:pt x="740" y="885"/>
                    <a:pt x="752" y="896"/>
                    <a:pt x="752" y="911"/>
                  </a:cubicBezTo>
                  <a:close/>
                  <a:moveTo>
                    <a:pt x="702" y="935"/>
                  </a:moveTo>
                  <a:cubicBezTo>
                    <a:pt x="702" y="949"/>
                    <a:pt x="690" y="961"/>
                    <a:pt x="676" y="961"/>
                  </a:cubicBezTo>
                  <a:cubicBezTo>
                    <a:pt x="661" y="961"/>
                    <a:pt x="650" y="949"/>
                    <a:pt x="650" y="935"/>
                  </a:cubicBezTo>
                  <a:cubicBezTo>
                    <a:pt x="650" y="920"/>
                    <a:pt x="661" y="909"/>
                    <a:pt x="676" y="909"/>
                  </a:cubicBezTo>
                  <a:cubicBezTo>
                    <a:pt x="690" y="909"/>
                    <a:pt x="702" y="920"/>
                    <a:pt x="702" y="935"/>
                  </a:cubicBezTo>
                  <a:close/>
                  <a:moveTo>
                    <a:pt x="649" y="953"/>
                  </a:moveTo>
                  <a:cubicBezTo>
                    <a:pt x="649" y="967"/>
                    <a:pt x="637" y="979"/>
                    <a:pt x="623" y="979"/>
                  </a:cubicBezTo>
                  <a:cubicBezTo>
                    <a:pt x="608" y="979"/>
                    <a:pt x="597" y="967"/>
                    <a:pt x="597" y="953"/>
                  </a:cubicBezTo>
                  <a:cubicBezTo>
                    <a:pt x="597" y="938"/>
                    <a:pt x="608" y="927"/>
                    <a:pt x="623" y="927"/>
                  </a:cubicBezTo>
                  <a:cubicBezTo>
                    <a:pt x="637" y="927"/>
                    <a:pt x="649" y="938"/>
                    <a:pt x="649" y="953"/>
                  </a:cubicBezTo>
                  <a:close/>
                  <a:moveTo>
                    <a:pt x="595" y="964"/>
                  </a:moveTo>
                  <a:cubicBezTo>
                    <a:pt x="595" y="978"/>
                    <a:pt x="583" y="990"/>
                    <a:pt x="569" y="990"/>
                  </a:cubicBezTo>
                  <a:cubicBezTo>
                    <a:pt x="554" y="990"/>
                    <a:pt x="543" y="978"/>
                    <a:pt x="543" y="964"/>
                  </a:cubicBezTo>
                  <a:cubicBezTo>
                    <a:pt x="543" y="949"/>
                    <a:pt x="554" y="938"/>
                    <a:pt x="569" y="938"/>
                  </a:cubicBezTo>
                  <a:cubicBezTo>
                    <a:pt x="583" y="938"/>
                    <a:pt x="595" y="949"/>
                    <a:pt x="595" y="964"/>
                  </a:cubicBezTo>
                  <a:close/>
                  <a:moveTo>
                    <a:pt x="539" y="969"/>
                  </a:moveTo>
                  <a:cubicBezTo>
                    <a:pt x="539" y="983"/>
                    <a:pt x="527" y="995"/>
                    <a:pt x="513" y="995"/>
                  </a:cubicBezTo>
                  <a:cubicBezTo>
                    <a:pt x="498" y="995"/>
                    <a:pt x="487" y="983"/>
                    <a:pt x="487" y="969"/>
                  </a:cubicBezTo>
                  <a:cubicBezTo>
                    <a:pt x="487" y="954"/>
                    <a:pt x="498" y="943"/>
                    <a:pt x="513" y="943"/>
                  </a:cubicBezTo>
                  <a:cubicBezTo>
                    <a:pt x="527" y="943"/>
                    <a:pt x="539" y="954"/>
                    <a:pt x="539" y="969"/>
                  </a:cubicBezTo>
                  <a:close/>
                  <a:moveTo>
                    <a:pt x="484" y="968"/>
                  </a:moveTo>
                  <a:cubicBezTo>
                    <a:pt x="484" y="982"/>
                    <a:pt x="472" y="994"/>
                    <a:pt x="458" y="994"/>
                  </a:cubicBezTo>
                  <a:cubicBezTo>
                    <a:pt x="443" y="994"/>
                    <a:pt x="432" y="982"/>
                    <a:pt x="432" y="968"/>
                  </a:cubicBezTo>
                  <a:cubicBezTo>
                    <a:pt x="432" y="953"/>
                    <a:pt x="443" y="942"/>
                    <a:pt x="458" y="942"/>
                  </a:cubicBezTo>
                  <a:cubicBezTo>
                    <a:pt x="472" y="942"/>
                    <a:pt x="484" y="953"/>
                    <a:pt x="484" y="968"/>
                  </a:cubicBezTo>
                  <a:close/>
                  <a:moveTo>
                    <a:pt x="429" y="959"/>
                  </a:moveTo>
                  <a:cubicBezTo>
                    <a:pt x="429" y="973"/>
                    <a:pt x="417" y="985"/>
                    <a:pt x="403" y="985"/>
                  </a:cubicBezTo>
                  <a:cubicBezTo>
                    <a:pt x="388" y="985"/>
                    <a:pt x="377" y="973"/>
                    <a:pt x="377" y="959"/>
                  </a:cubicBezTo>
                  <a:cubicBezTo>
                    <a:pt x="377" y="944"/>
                    <a:pt x="388" y="933"/>
                    <a:pt x="403" y="933"/>
                  </a:cubicBezTo>
                  <a:cubicBezTo>
                    <a:pt x="417" y="933"/>
                    <a:pt x="429" y="944"/>
                    <a:pt x="429" y="959"/>
                  </a:cubicBezTo>
                  <a:close/>
                  <a:moveTo>
                    <a:pt x="375" y="945"/>
                  </a:moveTo>
                  <a:cubicBezTo>
                    <a:pt x="375" y="959"/>
                    <a:pt x="363" y="971"/>
                    <a:pt x="349" y="971"/>
                  </a:cubicBezTo>
                  <a:cubicBezTo>
                    <a:pt x="334" y="971"/>
                    <a:pt x="323" y="959"/>
                    <a:pt x="323" y="945"/>
                  </a:cubicBezTo>
                  <a:cubicBezTo>
                    <a:pt x="323" y="930"/>
                    <a:pt x="334" y="919"/>
                    <a:pt x="349" y="919"/>
                  </a:cubicBezTo>
                  <a:cubicBezTo>
                    <a:pt x="363" y="919"/>
                    <a:pt x="375" y="930"/>
                    <a:pt x="375" y="945"/>
                  </a:cubicBezTo>
                  <a:close/>
                  <a:moveTo>
                    <a:pt x="323" y="924"/>
                  </a:moveTo>
                  <a:cubicBezTo>
                    <a:pt x="323" y="938"/>
                    <a:pt x="311" y="950"/>
                    <a:pt x="297" y="950"/>
                  </a:cubicBezTo>
                  <a:cubicBezTo>
                    <a:pt x="282" y="950"/>
                    <a:pt x="271" y="938"/>
                    <a:pt x="271" y="924"/>
                  </a:cubicBezTo>
                  <a:cubicBezTo>
                    <a:pt x="271" y="909"/>
                    <a:pt x="282" y="898"/>
                    <a:pt x="297" y="898"/>
                  </a:cubicBezTo>
                  <a:cubicBezTo>
                    <a:pt x="311" y="898"/>
                    <a:pt x="323" y="909"/>
                    <a:pt x="323" y="924"/>
                  </a:cubicBezTo>
                  <a:close/>
                  <a:moveTo>
                    <a:pt x="275" y="897"/>
                  </a:moveTo>
                  <a:cubicBezTo>
                    <a:pt x="275" y="911"/>
                    <a:pt x="263" y="923"/>
                    <a:pt x="249" y="923"/>
                  </a:cubicBezTo>
                  <a:cubicBezTo>
                    <a:pt x="234" y="923"/>
                    <a:pt x="223" y="911"/>
                    <a:pt x="223" y="897"/>
                  </a:cubicBezTo>
                  <a:cubicBezTo>
                    <a:pt x="223" y="882"/>
                    <a:pt x="234" y="871"/>
                    <a:pt x="249" y="871"/>
                  </a:cubicBezTo>
                  <a:cubicBezTo>
                    <a:pt x="263" y="871"/>
                    <a:pt x="275" y="882"/>
                    <a:pt x="275" y="897"/>
                  </a:cubicBezTo>
                  <a:close/>
                  <a:moveTo>
                    <a:pt x="229" y="864"/>
                  </a:moveTo>
                  <a:cubicBezTo>
                    <a:pt x="229" y="878"/>
                    <a:pt x="217" y="890"/>
                    <a:pt x="203" y="890"/>
                  </a:cubicBezTo>
                  <a:cubicBezTo>
                    <a:pt x="188" y="890"/>
                    <a:pt x="177" y="878"/>
                    <a:pt x="177" y="864"/>
                  </a:cubicBezTo>
                  <a:cubicBezTo>
                    <a:pt x="177" y="849"/>
                    <a:pt x="188" y="838"/>
                    <a:pt x="203" y="838"/>
                  </a:cubicBezTo>
                  <a:cubicBezTo>
                    <a:pt x="217" y="838"/>
                    <a:pt x="229" y="849"/>
                    <a:pt x="229" y="864"/>
                  </a:cubicBezTo>
                  <a:close/>
                  <a:moveTo>
                    <a:pt x="188" y="827"/>
                  </a:moveTo>
                  <a:cubicBezTo>
                    <a:pt x="188" y="841"/>
                    <a:pt x="176" y="853"/>
                    <a:pt x="162" y="853"/>
                  </a:cubicBezTo>
                  <a:cubicBezTo>
                    <a:pt x="147" y="853"/>
                    <a:pt x="136" y="841"/>
                    <a:pt x="136" y="827"/>
                  </a:cubicBezTo>
                  <a:cubicBezTo>
                    <a:pt x="136" y="812"/>
                    <a:pt x="147" y="801"/>
                    <a:pt x="162" y="801"/>
                  </a:cubicBezTo>
                  <a:cubicBezTo>
                    <a:pt x="176" y="801"/>
                    <a:pt x="188" y="812"/>
                    <a:pt x="188" y="827"/>
                  </a:cubicBezTo>
                  <a:close/>
                  <a:moveTo>
                    <a:pt x="152" y="785"/>
                  </a:moveTo>
                  <a:cubicBezTo>
                    <a:pt x="152" y="799"/>
                    <a:pt x="140" y="811"/>
                    <a:pt x="126" y="811"/>
                  </a:cubicBezTo>
                  <a:cubicBezTo>
                    <a:pt x="111" y="811"/>
                    <a:pt x="100" y="799"/>
                    <a:pt x="100" y="785"/>
                  </a:cubicBezTo>
                  <a:cubicBezTo>
                    <a:pt x="100" y="770"/>
                    <a:pt x="111" y="759"/>
                    <a:pt x="126" y="759"/>
                  </a:cubicBezTo>
                  <a:cubicBezTo>
                    <a:pt x="140" y="759"/>
                    <a:pt x="152" y="770"/>
                    <a:pt x="152" y="785"/>
                  </a:cubicBezTo>
                  <a:close/>
                  <a:moveTo>
                    <a:pt x="121" y="739"/>
                  </a:moveTo>
                  <a:cubicBezTo>
                    <a:pt x="121" y="753"/>
                    <a:pt x="109" y="765"/>
                    <a:pt x="95" y="765"/>
                  </a:cubicBezTo>
                  <a:cubicBezTo>
                    <a:pt x="80" y="765"/>
                    <a:pt x="69" y="753"/>
                    <a:pt x="69" y="739"/>
                  </a:cubicBezTo>
                  <a:cubicBezTo>
                    <a:pt x="69" y="724"/>
                    <a:pt x="80" y="713"/>
                    <a:pt x="95" y="713"/>
                  </a:cubicBezTo>
                  <a:cubicBezTo>
                    <a:pt x="109" y="713"/>
                    <a:pt x="121" y="724"/>
                    <a:pt x="121" y="739"/>
                  </a:cubicBezTo>
                  <a:close/>
                  <a:moveTo>
                    <a:pt x="95" y="689"/>
                  </a:moveTo>
                  <a:cubicBezTo>
                    <a:pt x="95" y="703"/>
                    <a:pt x="83" y="715"/>
                    <a:pt x="69" y="715"/>
                  </a:cubicBezTo>
                  <a:cubicBezTo>
                    <a:pt x="54" y="715"/>
                    <a:pt x="43" y="703"/>
                    <a:pt x="43" y="689"/>
                  </a:cubicBezTo>
                  <a:cubicBezTo>
                    <a:pt x="43" y="674"/>
                    <a:pt x="54" y="663"/>
                    <a:pt x="69" y="663"/>
                  </a:cubicBezTo>
                  <a:cubicBezTo>
                    <a:pt x="83" y="663"/>
                    <a:pt x="95" y="674"/>
                    <a:pt x="95" y="689"/>
                  </a:cubicBezTo>
                  <a:close/>
                  <a:moveTo>
                    <a:pt x="76" y="637"/>
                  </a:moveTo>
                  <a:cubicBezTo>
                    <a:pt x="76" y="651"/>
                    <a:pt x="64" y="663"/>
                    <a:pt x="50" y="663"/>
                  </a:cubicBezTo>
                  <a:cubicBezTo>
                    <a:pt x="35" y="663"/>
                    <a:pt x="24" y="651"/>
                    <a:pt x="24" y="637"/>
                  </a:cubicBezTo>
                  <a:cubicBezTo>
                    <a:pt x="24" y="622"/>
                    <a:pt x="35" y="611"/>
                    <a:pt x="50" y="611"/>
                  </a:cubicBezTo>
                  <a:cubicBezTo>
                    <a:pt x="64" y="611"/>
                    <a:pt x="76" y="622"/>
                    <a:pt x="76" y="637"/>
                  </a:cubicBezTo>
                  <a:close/>
                  <a:moveTo>
                    <a:pt x="63" y="583"/>
                  </a:moveTo>
                  <a:cubicBezTo>
                    <a:pt x="63" y="597"/>
                    <a:pt x="51" y="609"/>
                    <a:pt x="37" y="609"/>
                  </a:cubicBezTo>
                  <a:cubicBezTo>
                    <a:pt x="22" y="609"/>
                    <a:pt x="11" y="597"/>
                    <a:pt x="11" y="583"/>
                  </a:cubicBezTo>
                  <a:cubicBezTo>
                    <a:pt x="11" y="568"/>
                    <a:pt x="22" y="557"/>
                    <a:pt x="37" y="557"/>
                  </a:cubicBezTo>
                  <a:cubicBezTo>
                    <a:pt x="51" y="557"/>
                    <a:pt x="63" y="568"/>
                    <a:pt x="63" y="583"/>
                  </a:cubicBezTo>
                  <a:close/>
                  <a:moveTo>
                    <a:pt x="56" y="527"/>
                  </a:moveTo>
                  <a:cubicBezTo>
                    <a:pt x="56" y="541"/>
                    <a:pt x="44" y="553"/>
                    <a:pt x="30" y="553"/>
                  </a:cubicBezTo>
                  <a:cubicBezTo>
                    <a:pt x="15" y="553"/>
                    <a:pt x="4" y="541"/>
                    <a:pt x="4" y="527"/>
                  </a:cubicBezTo>
                  <a:cubicBezTo>
                    <a:pt x="4" y="512"/>
                    <a:pt x="15" y="501"/>
                    <a:pt x="30" y="501"/>
                  </a:cubicBezTo>
                  <a:cubicBezTo>
                    <a:pt x="44" y="501"/>
                    <a:pt x="56" y="512"/>
                    <a:pt x="56" y="527"/>
                  </a:cubicBezTo>
                  <a:close/>
                  <a:moveTo>
                    <a:pt x="56" y="472"/>
                  </a:moveTo>
                  <a:cubicBezTo>
                    <a:pt x="56" y="486"/>
                    <a:pt x="44" y="498"/>
                    <a:pt x="30" y="498"/>
                  </a:cubicBezTo>
                  <a:cubicBezTo>
                    <a:pt x="15" y="498"/>
                    <a:pt x="4" y="486"/>
                    <a:pt x="4" y="472"/>
                  </a:cubicBezTo>
                  <a:cubicBezTo>
                    <a:pt x="4" y="457"/>
                    <a:pt x="15" y="446"/>
                    <a:pt x="30" y="446"/>
                  </a:cubicBezTo>
                  <a:cubicBezTo>
                    <a:pt x="44" y="446"/>
                    <a:pt x="56" y="457"/>
                    <a:pt x="56" y="472"/>
                  </a:cubicBezTo>
                  <a:close/>
                  <a:moveTo>
                    <a:pt x="63" y="416"/>
                  </a:moveTo>
                  <a:cubicBezTo>
                    <a:pt x="63" y="430"/>
                    <a:pt x="51" y="442"/>
                    <a:pt x="37" y="442"/>
                  </a:cubicBezTo>
                  <a:cubicBezTo>
                    <a:pt x="22" y="442"/>
                    <a:pt x="11" y="430"/>
                    <a:pt x="11" y="416"/>
                  </a:cubicBezTo>
                  <a:cubicBezTo>
                    <a:pt x="11" y="401"/>
                    <a:pt x="22" y="390"/>
                    <a:pt x="37" y="390"/>
                  </a:cubicBezTo>
                  <a:cubicBezTo>
                    <a:pt x="51" y="390"/>
                    <a:pt x="63" y="401"/>
                    <a:pt x="63" y="416"/>
                  </a:cubicBezTo>
                  <a:close/>
                  <a:moveTo>
                    <a:pt x="76" y="362"/>
                  </a:moveTo>
                  <a:cubicBezTo>
                    <a:pt x="76" y="376"/>
                    <a:pt x="64" y="388"/>
                    <a:pt x="50" y="388"/>
                  </a:cubicBezTo>
                  <a:cubicBezTo>
                    <a:pt x="35" y="388"/>
                    <a:pt x="24" y="376"/>
                    <a:pt x="24" y="362"/>
                  </a:cubicBezTo>
                  <a:cubicBezTo>
                    <a:pt x="24" y="347"/>
                    <a:pt x="35" y="336"/>
                    <a:pt x="50" y="336"/>
                  </a:cubicBezTo>
                  <a:cubicBezTo>
                    <a:pt x="64" y="336"/>
                    <a:pt x="76" y="347"/>
                    <a:pt x="76" y="362"/>
                  </a:cubicBezTo>
                  <a:close/>
                  <a:moveTo>
                    <a:pt x="95" y="310"/>
                  </a:moveTo>
                  <a:cubicBezTo>
                    <a:pt x="95" y="324"/>
                    <a:pt x="83" y="336"/>
                    <a:pt x="69" y="336"/>
                  </a:cubicBezTo>
                  <a:cubicBezTo>
                    <a:pt x="54" y="336"/>
                    <a:pt x="43" y="324"/>
                    <a:pt x="43" y="310"/>
                  </a:cubicBezTo>
                  <a:cubicBezTo>
                    <a:pt x="43" y="295"/>
                    <a:pt x="54" y="284"/>
                    <a:pt x="69" y="284"/>
                  </a:cubicBezTo>
                  <a:cubicBezTo>
                    <a:pt x="83" y="284"/>
                    <a:pt x="95" y="295"/>
                    <a:pt x="95" y="310"/>
                  </a:cubicBezTo>
                  <a:close/>
                  <a:moveTo>
                    <a:pt x="121" y="260"/>
                  </a:moveTo>
                  <a:cubicBezTo>
                    <a:pt x="121" y="274"/>
                    <a:pt x="109" y="286"/>
                    <a:pt x="95" y="286"/>
                  </a:cubicBezTo>
                  <a:cubicBezTo>
                    <a:pt x="80" y="286"/>
                    <a:pt x="69" y="274"/>
                    <a:pt x="69" y="260"/>
                  </a:cubicBezTo>
                  <a:cubicBezTo>
                    <a:pt x="69" y="245"/>
                    <a:pt x="80" y="234"/>
                    <a:pt x="95" y="234"/>
                  </a:cubicBezTo>
                  <a:cubicBezTo>
                    <a:pt x="109" y="234"/>
                    <a:pt x="121" y="245"/>
                    <a:pt x="121" y="260"/>
                  </a:cubicBezTo>
                  <a:close/>
                  <a:moveTo>
                    <a:pt x="152" y="214"/>
                  </a:moveTo>
                  <a:cubicBezTo>
                    <a:pt x="152" y="228"/>
                    <a:pt x="140" y="240"/>
                    <a:pt x="126" y="240"/>
                  </a:cubicBezTo>
                  <a:cubicBezTo>
                    <a:pt x="111" y="240"/>
                    <a:pt x="100" y="228"/>
                    <a:pt x="100" y="214"/>
                  </a:cubicBezTo>
                  <a:cubicBezTo>
                    <a:pt x="100" y="199"/>
                    <a:pt x="111" y="188"/>
                    <a:pt x="126" y="188"/>
                  </a:cubicBezTo>
                  <a:cubicBezTo>
                    <a:pt x="140" y="188"/>
                    <a:pt x="152" y="199"/>
                    <a:pt x="152" y="214"/>
                  </a:cubicBezTo>
                  <a:close/>
                  <a:moveTo>
                    <a:pt x="188" y="172"/>
                  </a:moveTo>
                  <a:cubicBezTo>
                    <a:pt x="188" y="186"/>
                    <a:pt x="176" y="198"/>
                    <a:pt x="162" y="198"/>
                  </a:cubicBezTo>
                  <a:cubicBezTo>
                    <a:pt x="147" y="198"/>
                    <a:pt x="136" y="186"/>
                    <a:pt x="136" y="172"/>
                  </a:cubicBezTo>
                  <a:cubicBezTo>
                    <a:pt x="136" y="157"/>
                    <a:pt x="147" y="146"/>
                    <a:pt x="162" y="146"/>
                  </a:cubicBezTo>
                  <a:cubicBezTo>
                    <a:pt x="176" y="146"/>
                    <a:pt x="188" y="157"/>
                    <a:pt x="188" y="172"/>
                  </a:cubicBezTo>
                  <a:close/>
                  <a:moveTo>
                    <a:pt x="229" y="135"/>
                  </a:moveTo>
                  <a:cubicBezTo>
                    <a:pt x="229" y="149"/>
                    <a:pt x="217" y="161"/>
                    <a:pt x="203" y="161"/>
                  </a:cubicBezTo>
                  <a:cubicBezTo>
                    <a:pt x="188" y="161"/>
                    <a:pt x="177" y="149"/>
                    <a:pt x="177" y="135"/>
                  </a:cubicBezTo>
                  <a:cubicBezTo>
                    <a:pt x="177" y="120"/>
                    <a:pt x="188" y="109"/>
                    <a:pt x="203" y="109"/>
                  </a:cubicBezTo>
                  <a:cubicBezTo>
                    <a:pt x="217" y="109"/>
                    <a:pt x="229" y="120"/>
                    <a:pt x="229" y="135"/>
                  </a:cubicBezTo>
                  <a:close/>
                  <a:moveTo>
                    <a:pt x="275" y="102"/>
                  </a:moveTo>
                  <a:cubicBezTo>
                    <a:pt x="275" y="116"/>
                    <a:pt x="263" y="128"/>
                    <a:pt x="249" y="128"/>
                  </a:cubicBezTo>
                  <a:cubicBezTo>
                    <a:pt x="234" y="128"/>
                    <a:pt x="223" y="116"/>
                    <a:pt x="223" y="102"/>
                  </a:cubicBezTo>
                  <a:cubicBezTo>
                    <a:pt x="223" y="87"/>
                    <a:pt x="234" y="76"/>
                    <a:pt x="249" y="76"/>
                  </a:cubicBezTo>
                  <a:cubicBezTo>
                    <a:pt x="263" y="76"/>
                    <a:pt x="275" y="87"/>
                    <a:pt x="275" y="102"/>
                  </a:cubicBezTo>
                  <a:close/>
                  <a:moveTo>
                    <a:pt x="323" y="75"/>
                  </a:moveTo>
                  <a:cubicBezTo>
                    <a:pt x="323" y="89"/>
                    <a:pt x="311" y="101"/>
                    <a:pt x="297" y="101"/>
                  </a:cubicBezTo>
                  <a:cubicBezTo>
                    <a:pt x="282" y="101"/>
                    <a:pt x="271" y="89"/>
                    <a:pt x="271" y="75"/>
                  </a:cubicBezTo>
                  <a:cubicBezTo>
                    <a:pt x="271" y="60"/>
                    <a:pt x="282" y="49"/>
                    <a:pt x="297" y="49"/>
                  </a:cubicBezTo>
                  <a:cubicBezTo>
                    <a:pt x="311" y="49"/>
                    <a:pt x="323" y="60"/>
                    <a:pt x="323" y="75"/>
                  </a:cubicBezTo>
                  <a:close/>
                  <a:moveTo>
                    <a:pt x="375" y="54"/>
                  </a:moveTo>
                  <a:cubicBezTo>
                    <a:pt x="375" y="68"/>
                    <a:pt x="363" y="80"/>
                    <a:pt x="349" y="80"/>
                  </a:cubicBezTo>
                  <a:cubicBezTo>
                    <a:pt x="334" y="80"/>
                    <a:pt x="323" y="68"/>
                    <a:pt x="323" y="54"/>
                  </a:cubicBezTo>
                  <a:cubicBezTo>
                    <a:pt x="323" y="39"/>
                    <a:pt x="334" y="28"/>
                    <a:pt x="349" y="28"/>
                  </a:cubicBezTo>
                  <a:cubicBezTo>
                    <a:pt x="363" y="28"/>
                    <a:pt x="375" y="39"/>
                    <a:pt x="375" y="54"/>
                  </a:cubicBezTo>
                  <a:close/>
                  <a:moveTo>
                    <a:pt x="429" y="40"/>
                  </a:moveTo>
                  <a:cubicBezTo>
                    <a:pt x="429" y="54"/>
                    <a:pt x="417" y="66"/>
                    <a:pt x="403" y="66"/>
                  </a:cubicBezTo>
                  <a:cubicBezTo>
                    <a:pt x="388" y="66"/>
                    <a:pt x="377" y="54"/>
                    <a:pt x="377" y="40"/>
                  </a:cubicBezTo>
                  <a:cubicBezTo>
                    <a:pt x="377" y="25"/>
                    <a:pt x="388" y="14"/>
                    <a:pt x="403" y="14"/>
                  </a:cubicBezTo>
                  <a:cubicBezTo>
                    <a:pt x="417" y="14"/>
                    <a:pt x="429" y="25"/>
                    <a:pt x="429" y="40"/>
                  </a:cubicBezTo>
                  <a:close/>
                  <a:moveTo>
                    <a:pt x="484" y="31"/>
                  </a:moveTo>
                  <a:cubicBezTo>
                    <a:pt x="484" y="45"/>
                    <a:pt x="472" y="57"/>
                    <a:pt x="458" y="57"/>
                  </a:cubicBezTo>
                  <a:cubicBezTo>
                    <a:pt x="443" y="57"/>
                    <a:pt x="432" y="45"/>
                    <a:pt x="432" y="31"/>
                  </a:cubicBezTo>
                  <a:cubicBezTo>
                    <a:pt x="432" y="16"/>
                    <a:pt x="443" y="5"/>
                    <a:pt x="458" y="5"/>
                  </a:cubicBezTo>
                  <a:cubicBezTo>
                    <a:pt x="472" y="5"/>
                    <a:pt x="484" y="16"/>
                    <a:pt x="484" y="31"/>
                  </a:cubicBezTo>
                  <a:close/>
                  <a:moveTo>
                    <a:pt x="539" y="30"/>
                  </a:moveTo>
                  <a:cubicBezTo>
                    <a:pt x="539" y="44"/>
                    <a:pt x="527" y="56"/>
                    <a:pt x="513" y="56"/>
                  </a:cubicBezTo>
                  <a:cubicBezTo>
                    <a:pt x="498" y="56"/>
                    <a:pt x="487" y="44"/>
                    <a:pt x="487" y="30"/>
                  </a:cubicBezTo>
                  <a:cubicBezTo>
                    <a:pt x="487" y="15"/>
                    <a:pt x="498" y="4"/>
                    <a:pt x="513" y="4"/>
                  </a:cubicBezTo>
                  <a:cubicBezTo>
                    <a:pt x="527" y="4"/>
                    <a:pt x="539" y="15"/>
                    <a:pt x="539" y="30"/>
                  </a:cubicBezTo>
                  <a:close/>
                  <a:moveTo>
                    <a:pt x="595" y="35"/>
                  </a:moveTo>
                  <a:cubicBezTo>
                    <a:pt x="595" y="49"/>
                    <a:pt x="583" y="61"/>
                    <a:pt x="569" y="61"/>
                  </a:cubicBezTo>
                  <a:cubicBezTo>
                    <a:pt x="554" y="61"/>
                    <a:pt x="543" y="49"/>
                    <a:pt x="543" y="35"/>
                  </a:cubicBezTo>
                  <a:cubicBezTo>
                    <a:pt x="543" y="20"/>
                    <a:pt x="554" y="9"/>
                    <a:pt x="569" y="9"/>
                  </a:cubicBezTo>
                  <a:cubicBezTo>
                    <a:pt x="583" y="9"/>
                    <a:pt x="595" y="20"/>
                    <a:pt x="595" y="35"/>
                  </a:cubicBezTo>
                  <a:close/>
                  <a:moveTo>
                    <a:pt x="649" y="46"/>
                  </a:moveTo>
                  <a:cubicBezTo>
                    <a:pt x="649" y="60"/>
                    <a:pt x="637" y="72"/>
                    <a:pt x="623" y="72"/>
                  </a:cubicBezTo>
                  <a:cubicBezTo>
                    <a:pt x="608" y="72"/>
                    <a:pt x="597" y="60"/>
                    <a:pt x="597" y="46"/>
                  </a:cubicBezTo>
                  <a:cubicBezTo>
                    <a:pt x="597" y="31"/>
                    <a:pt x="608" y="20"/>
                    <a:pt x="623" y="20"/>
                  </a:cubicBezTo>
                  <a:cubicBezTo>
                    <a:pt x="637" y="20"/>
                    <a:pt x="649" y="31"/>
                    <a:pt x="649" y="46"/>
                  </a:cubicBezTo>
                  <a:close/>
                  <a:moveTo>
                    <a:pt x="702" y="64"/>
                  </a:moveTo>
                  <a:cubicBezTo>
                    <a:pt x="702" y="78"/>
                    <a:pt x="690" y="90"/>
                    <a:pt x="676" y="90"/>
                  </a:cubicBezTo>
                  <a:cubicBezTo>
                    <a:pt x="661" y="90"/>
                    <a:pt x="650" y="78"/>
                    <a:pt x="650" y="64"/>
                  </a:cubicBezTo>
                  <a:cubicBezTo>
                    <a:pt x="650" y="49"/>
                    <a:pt x="661" y="38"/>
                    <a:pt x="676" y="38"/>
                  </a:cubicBezTo>
                  <a:cubicBezTo>
                    <a:pt x="690" y="38"/>
                    <a:pt x="702" y="49"/>
                    <a:pt x="702" y="64"/>
                  </a:cubicBezTo>
                  <a:close/>
                  <a:moveTo>
                    <a:pt x="752" y="88"/>
                  </a:moveTo>
                  <a:cubicBezTo>
                    <a:pt x="752" y="102"/>
                    <a:pt x="740" y="114"/>
                    <a:pt x="726" y="114"/>
                  </a:cubicBezTo>
                  <a:cubicBezTo>
                    <a:pt x="711" y="114"/>
                    <a:pt x="700" y="102"/>
                    <a:pt x="700" y="88"/>
                  </a:cubicBezTo>
                  <a:cubicBezTo>
                    <a:pt x="700" y="73"/>
                    <a:pt x="711" y="62"/>
                    <a:pt x="726" y="62"/>
                  </a:cubicBezTo>
                  <a:cubicBezTo>
                    <a:pt x="740" y="62"/>
                    <a:pt x="752" y="73"/>
                    <a:pt x="752" y="88"/>
                  </a:cubicBezTo>
                  <a:close/>
                  <a:moveTo>
                    <a:pt x="800" y="118"/>
                  </a:moveTo>
                  <a:cubicBezTo>
                    <a:pt x="800" y="132"/>
                    <a:pt x="788" y="144"/>
                    <a:pt x="774" y="144"/>
                  </a:cubicBezTo>
                  <a:cubicBezTo>
                    <a:pt x="759" y="144"/>
                    <a:pt x="748" y="132"/>
                    <a:pt x="748" y="118"/>
                  </a:cubicBezTo>
                  <a:cubicBezTo>
                    <a:pt x="748" y="103"/>
                    <a:pt x="759" y="92"/>
                    <a:pt x="774" y="92"/>
                  </a:cubicBezTo>
                  <a:cubicBezTo>
                    <a:pt x="788" y="92"/>
                    <a:pt x="800" y="103"/>
                    <a:pt x="800" y="118"/>
                  </a:cubicBezTo>
                  <a:close/>
                  <a:moveTo>
                    <a:pt x="843" y="153"/>
                  </a:moveTo>
                  <a:cubicBezTo>
                    <a:pt x="843" y="167"/>
                    <a:pt x="831" y="179"/>
                    <a:pt x="817" y="179"/>
                  </a:cubicBezTo>
                  <a:cubicBezTo>
                    <a:pt x="802" y="179"/>
                    <a:pt x="791" y="167"/>
                    <a:pt x="791" y="153"/>
                  </a:cubicBezTo>
                  <a:cubicBezTo>
                    <a:pt x="791" y="138"/>
                    <a:pt x="802" y="127"/>
                    <a:pt x="817" y="127"/>
                  </a:cubicBezTo>
                  <a:cubicBezTo>
                    <a:pt x="831" y="127"/>
                    <a:pt x="843" y="138"/>
                    <a:pt x="843" y="153"/>
                  </a:cubicBezTo>
                  <a:close/>
                  <a:moveTo>
                    <a:pt x="882" y="193"/>
                  </a:moveTo>
                  <a:cubicBezTo>
                    <a:pt x="882" y="207"/>
                    <a:pt x="870" y="219"/>
                    <a:pt x="856" y="219"/>
                  </a:cubicBezTo>
                  <a:cubicBezTo>
                    <a:pt x="841" y="219"/>
                    <a:pt x="830" y="207"/>
                    <a:pt x="830" y="193"/>
                  </a:cubicBezTo>
                  <a:cubicBezTo>
                    <a:pt x="830" y="178"/>
                    <a:pt x="841" y="167"/>
                    <a:pt x="856" y="167"/>
                  </a:cubicBezTo>
                  <a:cubicBezTo>
                    <a:pt x="870" y="167"/>
                    <a:pt x="882" y="178"/>
                    <a:pt x="882" y="193"/>
                  </a:cubicBezTo>
                  <a:close/>
                  <a:moveTo>
                    <a:pt x="915" y="237"/>
                  </a:moveTo>
                  <a:cubicBezTo>
                    <a:pt x="915" y="251"/>
                    <a:pt x="903" y="263"/>
                    <a:pt x="889" y="263"/>
                  </a:cubicBezTo>
                  <a:cubicBezTo>
                    <a:pt x="874" y="263"/>
                    <a:pt x="863" y="251"/>
                    <a:pt x="863" y="237"/>
                  </a:cubicBezTo>
                  <a:cubicBezTo>
                    <a:pt x="863" y="222"/>
                    <a:pt x="874" y="211"/>
                    <a:pt x="889" y="211"/>
                  </a:cubicBezTo>
                  <a:cubicBezTo>
                    <a:pt x="903" y="211"/>
                    <a:pt x="915" y="222"/>
                    <a:pt x="915" y="237"/>
                  </a:cubicBezTo>
                  <a:close/>
                  <a:moveTo>
                    <a:pt x="944" y="285"/>
                  </a:moveTo>
                  <a:cubicBezTo>
                    <a:pt x="944" y="299"/>
                    <a:pt x="932" y="311"/>
                    <a:pt x="918" y="311"/>
                  </a:cubicBezTo>
                  <a:cubicBezTo>
                    <a:pt x="903" y="311"/>
                    <a:pt x="892" y="299"/>
                    <a:pt x="892" y="285"/>
                  </a:cubicBezTo>
                  <a:cubicBezTo>
                    <a:pt x="892" y="270"/>
                    <a:pt x="903" y="259"/>
                    <a:pt x="918" y="259"/>
                  </a:cubicBezTo>
                  <a:cubicBezTo>
                    <a:pt x="932" y="259"/>
                    <a:pt x="944" y="270"/>
                    <a:pt x="944" y="285"/>
                  </a:cubicBezTo>
                  <a:close/>
                  <a:moveTo>
                    <a:pt x="966" y="336"/>
                  </a:moveTo>
                  <a:cubicBezTo>
                    <a:pt x="966" y="350"/>
                    <a:pt x="954" y="362"/>
                    <a:pt x="940" y="362"/>
                  </a:cubicBezTo>
                  <a:cubicBezTo>
                    <a:pt x="925" y="362"/>
                    <a:pt x="914" y="350"/>
                    <a:pt x="914" y="336"/>
                  </a:cubicBezTo>
                  <a:cubicBezTo>
                    <a:pt x="914" y="321"/>
                    <a:pt x="925" y="310"/>
                    <a:pt x="940" y="310"/>
                  </a:cubicBezTo>
                  <a:cubicBezTo>
                    <a:pt x="954" y="310"/>
                    <a:pt x="966" y="321"/>
                    <a:pt x="966" y="336"/>
                  </a:cubicBezTo>
                  <a:close/>
                  <a:moveTo>
                    <a:pt x="982" y="389"/>
                  </a:moveTo>
                  <a:cubicBezTo>
                    <a:pt x="982" y="403"/>
                    <a:pt x="970" y="415"/>
                    <a:pt x="956" y="415"/>
                  </a:cubicBezTo>
                  <a:cubicBezTo>
                    <a:pt x="941" y="415"/>
                    <a:pt x="930" y="403"/>
                    <a:pt x="930" y="389"/>
                  </a:cubicBezTo>
                  <a:cubicBezTo>
                    <a:pt x="930" y="374"/>
                    <a:pt x="941" y="363"/>
                    <a:pt x="956" y="363"/>
                  </a:cubicBezTo>
                  <a:cubicBezTo>
                    <a:pt x="970" y="363"/>
                    <a:pt x="982" y="374"/>
                    <a:pt x="982" y="389"/>
                  </a:cubicBezTo>
                  <a:close/>
                  <a:moveTo>
                    <a:pt x="992" y="444"/>
                  </a:moveTo>
                  <a:cubicBezTo>
                    <a:pt x="992" y="458"/>
                    <a:pt x="980" y="470"/>
                    <a:pt x="966" y="470"/>
                  </a:cubicBezTo>
                  <a:cubicBezTo>
                    <a:pt x="951" y="470"/>
                    <a:pt x="940" y="458"/>
                    <a:pt x="940" y="444"/>
                  </a:cubicBezTo>
                  <a:cubicBezTo>
                    <a:pt x="940" y="429"/>
                    <a:pt x="951" y="418"/>
                    <a:pt x="966" y="418"/>
                  </a:cubicBezTo>
                  <a:cubicBezTo>
                    <a:pt x="980" y="418"/>
                    <a:pt x="992" y="429"/>
                    <a:pt x="992" y="444"/>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8" name="Forma 27"/>
            <p:cNvSpPr/>
            <p:nvPr/>
          </p:nvSpPr>
          <p:spPr>
            <a:xfrm>
              <a:off x="8869680" y="4937760"/>
              <a:ext cx="1097280" cy="1097280"/>
            </a:xfrm>
            <a:custGeom>
              <a:avLst/>
              <a:gdLst/>
              <a:ahLst/>
              <a:cxnLst/>
              <a:rect l="0" t="0" r="r" b="b"/>
              <a:pathLst>
                <a:path w="1000" h="1000" fill="none">
                  <a:moveTo>
                    <a:pt x="0" y="500"/>
                  </a:moveTo>
                  <a:cubicBezTo>
                    <a:pt x="5" y="471"/>
                    <a:pt x="10" y="381"/>
                    <a:pt x="30" y="328"/>
                  </a:cubicBezTo>
                  <a:cubicBezTo>
                    <a:pt x="49" y="274"/>
                    <a:pt x="79" y="221"/>
                    <a:pt x="116" y="178"/>
                  </a:cubicBezTo>
                  <a:cubicBezTo>
                    <a:pt x="152" y="134"/>
                    <a:pt x="199" y="94"/>
                    <a:pt x="249" y="66"/>
                  </a:cubicBezTo>
                  <a:cubicBezTo>
                    <a:pt x="298" y="37"/>
                    <a:pt x="356" y="16"/>
                    <a:pt x="413" y="7"/>
                  </a:cubicBezTo>
                  <a:cubicBezTo>
                    <a:pt x="469" y="-2"/>
                    <a:pt x="529" y="-2"/>
                    <a:pt x="586" y="7"/>
                  </a:cubicBezTo>
                  <a:cubicBezTo>
                    <a:pt x="642" y="16"/>
                    <a:pt x="700" y="37"/>
                    <a:pt x="750" y="66"/>
                  </a:cubicBezTo>
                  <a:cubicBezTo>
                    <a:pt x="799" y="94"/>
                    <a:pt x="846" y="134"/>
                    <a:pt x="883" y="178"/>
                  </a:cubicBezTo>
                  <a:cubicBezTo>
                    <a:pt x="919" y="221"/>
                    <a:pt x="954" y="303"/>
                    <a:pt x="969" y="328"/>
                  </a:cubicBezTo>
                </a:path>
              </a:pathLst>
            </a:custGeom>
            <a:noFill/>
            <a:ln w="76200" cap="rnd">
              <a:solidFill>
                <a:srgbClr val="2E4A9E"/>
              </a:solidFill>
              <a:round/>
            </a:ln>
          </p:spPr>
        </p:sp>
        <p:sp>
          <p:nvSpPr>
            <p:cNvPr id="29" name="Forma 28"/>
            <p:cNvSpPr txBox="1"/>
            <p:nvPr/>
          </p:nvSpPr>
          <p:spPr>
            <a:xfrm>
              <a:off x="8869680" y="5266944"/>
              <a:ext cx="1097280" cy="438912"/>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LDL</a:t>
              </a:r>
              <a:endParaRPr lang="es-AR" sz="1800" dirty="0">
                <a:latin typeface="Bahnschrift SemiBold Condensed"/>
              </a:endParaRPr>
            </a:p>
          </p:txBody>
        </p:sp>
      </p:grpSp>
      <p:grpSp>
        <p:nvGrpSpPr>
          <p:cNvPr id="30" name="Arte AG"/>
          <p:cNvGrpSpPr/>
          <p:nvPr/>
        </p:nvGrpSpPr>
        <p:grpSpPr>
          <a:xfrm>
            <a:off x="10222992" y="5266944"/>
            <a:ext cx="1389888" cy="310896"/>
            <a:chOff x="10222992" y="5266944"/>
            <a:chExt cx="1389888" cy="310896"/>
          </a:xfrm>
        </p:grpSpPr>
        <p:sp>
          <p:nvSpPr>
            <p:cNvPr id="31" name="Flecha 30_2"/>
            <p:cNvSpPr/>
            <p:nvPr/>
          </p:nvSpPr>
          <p:spPr>
            <a:xfrm>
              <a:off x="10387584" y="5321808"/>
              <a:ext cx="1225296" cy="256032"/>
            </a:xfrm>
            <a:custGeom>
              <a:avLst/>
              <a:gdLst/>
              <a:ahLst/>
              <a:cxnLst/>
              <a:rect l="0" t="0" r="r" b="b"/>
              <a:pathLst>
                <a:path w="1339" h="280" fill="none">
                  <a:moveTo>
                    <a:pt x="0" y="0"/>
                  </a:moveTo>
                  <a:lnTo>
                    <a:pt x="167" y="280"/>
                  </a:lnTo>
                  <a:lnTo>
                    <a:pt x="335" y="0"/>
                  </a:lnTo>
                  <a:lnTo>
                    <a:pt x="502" y="280"/>
                  </a:lnTo>
                  <a:lnTo>
                    <a:pt x="669" y="0"/>
                  </a:lnTo>
                  <a:lnTo>
                    <a:pt x="837" y="280"/>
                  </a:lnTo>
                  <a:lnTo>
                    <a:pt x="1005" y="0"/>
                  </a:lnTo>
                  <a:lnTo>
                    <a:pt x="1172" y="280"/>
                  </a:lnTo>
                  <a:lnTo>
                    <a:pt x="1339" y="0"/>
                  </a:lnTo>
                </a:path>
              </a:pathLst>
            </a:custGeom>
            <a:noFill/>
            <a:ln w="28575" cap="rnd">
              <a:solidFill>
                <a:srgbClr val="B7950B"/>
              </a:solidFill>
              <a:round/>
            </a:ln>
          </p:spPr>
        </p:sp>
        <p:sp>
          <p:nvSpPr>
            <p:cNvPr id="32" name="Forma 32"/>
            <p:cNvSpPr/>
            <p:nvPr/>
          </p:nvSpPr>
          <p:spPr>
            <a:xfrm>
              <a:off x="10222992" y="52669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Síntesis AG Acetil-CoA"/>
          <p:cNvSpPr/>
          <p:nvPr/>
        </p:nvSpPr>
        <p:spPr>
          <a:xfrm>
            <a:off x="548640" y="1188720"/>
            <a:ext cx="2377440" cy="50292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Acetil-CoA</a:t>
            </a:r>
            <a:endParaRPr lang="es-AR" sz="1500" dirty="0">
              <a:latin typeface="Bahnschrift SemiBold Condensed"/>
            </a:endParaRPr>
          </a:p>
        </p:txBody>
      </p:sp>
      <p:grpSp>
        <p:nvGrpSpPr>
          <p:cNvPr id="5" name="Síntesis AG paso 1"/>
          <p:cNvGrpSpPr/>
          <p:nvPr/>
        </p:nvGrpSpPr>
        <p:grpSpPr>
          <a:xfrm>
            <a:off x="1737360" y="1719072"/>
            <a:ext cx="1871302" cy="768096"/>
            <a:chOff x="1737360" y="1719072"/>
            <a:chExt cx="1871302" cy="768096"/>
          </a:xfrm>
        </p:grpSpPr>
        <p:sp>
          <p:nvSpPr>
            <p:cNvPr id="6" name="Flecha 5_2"/>
            <p:cNvSpPr/>
            <p:nvPr/>
          </p:nvSpPr>
          <p:spPr>
            <a:xfrm>
              <a:off x="1737360" y="1719072"/>
              <a:ext cx="9144" cy="768096"/>
            </a:xfrm>
            <a:custGeom>
              <a:avLst/>
              <a:gdLst/>
              <a:ahLst/>
              <a:cxnLst/>
              <a:rect l="0" t="0" r="r" b="b"/>
              <a:pathLst>
                <a:path w="10" h="840" fill="none">
                  <a:moveTo>
                    <a:pt x="0" y="0"/>
                  </a:moveTo>
                  <a:lnTo>
                    <a:pt x="0" y="840"/>
                  </a:lnTo>
                </a:path>
              </a:pathLst>
            </a:custGeom>
            <a:noFill/>
            <a:ln w="44450" cap="rnd">
              <a:solidFill>
                <a:srgbClr val="1E1E1E"/>
              </a:solidFill>
              <a:round/>
              <a:tailEnd type="triangle" w="med" len="med"/>
            </a:ln>
          </p:spPr>
        </p:sp>
        <p:sp>
          <p:nvSpPr>
            <p:cNvPr id="7" name="Enzima ACC (biotina · ATP ·"/>
            <p:cNvSpPr/>
            <p:nvPr/>
          </p:nvSpPr>
          <p:spPr>
            <a:xfrm>
              <a:off x="1847088" y="1956816"/>
              <a:ext cx="1761574"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ACC (biotina · ATP · HCO</a:t>
              </a:r>
              <a:r>
                <a:rPr lang="es-AR" sz="1150" b="1" baseline="-25000" dirty="0">
                  <a:solidFill>
                    <a:srgbClr val="1F3864"/>
                  </a:solidFill>
                  <a:latin typeface="Bahnschrift SemiBold Condensed"/>
                  <a:ea typeface="Bahnschrift SemiBold Condensed"/>
                  <a:cs typeface="Bahnschrift SemiBold Condensed"/>
                  <a:sym typeface="Bahnschrift SemiBold Condensed"/>
                </a:rPr>
                <a:t>3</a:t>
              </a:r>
              <a:r>
                <a:rPr lang="es-AR" sz="1150" b="1" baseline="30000" dirty="0">
                  <a:solidFill>
                    <a:srgbClr val="1F3864"/>
                  </a:solidFill>
                  <a:latin typeface="Bahnschrift SemiBold Condensed"/>
                  <a:ea typeface="Bahnschrift SemiBold Condensed"/>
                  <a:cs typeface="Bahnschrift SemiBold Condensed"/>
                  <a:sym typeface="Bahnschrift SemiBold Condensed"/>
                </a:rPr>
                <a:t>−</a:t>
              </a:r>
              <a:r>
                <a:rPr lang="es-AR" sz="1150" b="1" dirty="0">
                  <a:solidFill>
                    <a:srgbClr val="1F3864"/>
                  </a:solidFill>
                  <a:latin typeface="Bahnschrift SemiBold Condensed"/>
                  <a:ea typeface="Bahnschrift SemiBold Condensed"/>
                  <a:cs typeface="Bahnschrift SemiBold Condensed"/>
                  <a:sym typeface="Bahnschrift SemiBold Condensed"/>
                </a:rPr>
                <a:t>)</a:t>
              </a:r>
              <a:endParaRPr lang="es-AR" sz="1150" dirty="0">
                <a:latin typeface="Bahnschrift SemiBold Condensed"/>
              </a:endParaRPr>
            </a:p>
          </p:txBody>
        </p:sp>
      </p:grpSp>
      <p:sp>
        <p:nvSpPr>
          <p:cNvPr id="8" name="Síntesis AG Malonil-CoA"/>
          <p:cNvSpPr/>
          <p:nvPr/>
        </p:nvSpPr>
        <p:spPr>
          <a:xfrm>
            <a:off x="548640" y="2514600"/>
            <a:ext cx="2377440" cy="502920"/>
          </a:xfrm>
          <a:prstGeom prst="roundRect">
            <a:avLst>
              <a:gd name="adj" fmla="val 30000"/>
            </a:avLst>
          </a:prstGeom>
          <a:solidFill>
            <a:srgbClr val="C4A7D0"/>
          </a:solidFill>
          <a:ln w="12700" cap="rnd">
            <a:solidFill>
              <a:srgbClr val="1E1E1E"/>
            </a:solidFill>
            <a:round/>
          </a:ln>
        </p:spPr>
        <p:txBody>
          <a:bodyPr wrap="square" lIns="27432" tIns="0" rIns="27432"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Malonil-CoA</a:t>
            </a:r>
            <a:endParaRPr lang="es-AR" sz="1500" dirty="0">
              <a:latin typeface="Bahnschrift SemiBold Condensed"/>
            </a:endParaRPr>
          </a:p>
        </p:txBody>
      </p:sp>
      <p:grpSp>
        <p:nvGrpSpPr>
          <p:cNvPr id="9" name="Síntesis AG paso 2"/>
          <p:cNvGrpSpPr/>
          <p:nvPr/>
        </p:nvGrpSpPr>
        <p:grpSpPr>
          <a:xfrm>
            <a:off x="1737360" y="3044952"/>
            <a:ext cx="1821978" cy="768096"/>
            <a:chOff x="1737360" y="3044952"/>
            <a:chExt cx="1821978" cy="768096"/>
          </a:xfrm>
        </p:grpSpPr>
        <p:sp>
          <p:nvSpPr>
            <p:cNvPr id="10" name="Flecha 10_2"/>
            <p:cNvSpPr/>
            <p:nvPr/>
          </p:nvSpPr>
          <p:spPr>
            <a:xfrm>
              <a:off x="1737360" y="3044952"/>
              <a:ext cx="9144" cy="768096"/>
            </a:xfrm>
            <a:custGeom>
              <a:avLst/>
              <a:gdLst/>
              <a:ahLst/>
              <a:cxnLst/>
              <a:rect l="0" t="0" r="r" b="b"/>
              <a:pathLst>
                <a:path w="10" h="840" fill="none">
                  <a:moveTo>
                    <a:pt x="0" y="0"/>
                  </a:moveTo>
                  <a:lnTo>
                    <a:pt x="0" y="840"/>
                  </a:lnTo>
                </a:path>
              </a:pathLst>
            </a:custGeom>
            <a:noFill/>
            <a:ln w="44450" cap="rnd">
              <a:solidFill>
                <a:srgbClr val="1E1E1E"/>
              </a:solidFill>
              <a:round/>
              <a:tailEnd type="triangle" w="med" len="med"/>
            </a:ln>
          </p:spPr>
        </p:sp>
        <p:sp>
          <p:nvSpPr>
            <p:cNvPr id="11" name="Enzima FASN (+7 malonil · N"/>
            <p:cNvSpPr/>
            <p:nvPr/>
          </p:nvSpPr>
          <p:spPr>
            <a:xfrm>
              <a:off x="1847088" y="3282696"/>
              <a:ext cx="1712250"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FASN (+7 malonil · NADPH)</a:t>
              </a:r>
              <a:endParaRPr lang="es-AR" sz="1150" dirty="0">
                <a:latin typeface="Bahnschrift SemiBold Condensed"/>
              </a:endParaRPr>
            </a:p>
          </p:txBody>
        </p:sp>
      </p:grpSp>
      <p:sp>
        <p:nvSpPr>
          <p:cNvPr id="12" name="Síntesis AG Palmitato (C16)"/>
          <p:cNvSpPr/>
          <p:nvPr/>
        </p:nvSpPr>
        <p:spPr>
          <a:xfrm>
            <a:off x="548640" y="3840480"/>
            <a:ext cx="237744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Palmitato (C16)</a:t>
            </a:r>
            <a:endParaRPr lang="es-AR" sz="1500" dirty="0">
              <a:latin typeface="Bahnschrift SemiBold Condensed"/>
            </a:endParaRPr>
          </a:p>
        </p:txBody>
      </p:sp>
      <p:sp>
        <p:nvSpPr>
          <p:cNvPr id="13" name="Marco citosol"/>
          <p:cNvSpPr/>
          <p:nvPr/>
        </p:nvSpPr>
        <p:spPr>
          <a:xfrm>
            <a:off x="365760" y="960120"/>
            <a:ext cx="5394960" cy="3840480"/>
          </a:xfrm>
          <a:prstGeom prst="rect">
            <a:avLst/>
          </a:prstGeom>
          <a:solidFill>
            <a:srgbClr val="FFFFFF">
              <a:alpha val="0"/>
            </a:srgbClr>
          </a:solidFill>
          <a:ln w="25400" cap="rnd">
            <a:solidFill>
              <a:srgbClr val="1E8C3A"/>
            </a:solidFill>
            <a:prstDash val="dash"/>
            <a:round/>
          </a:ln>
        </p:spPr>
      </p:sp>
      <p:sp>
        <p:nvSpPr>
          <p:cNvPr id="14" name="Forma 15"/>
          <p:cNvSpPr txBox="1"/>
          <p:nvPr/>
        </p:nvSpPr>
        <p:spPr>
          <a:xfrm>
            <a:off x="457200" y="4434840"/>
            <a:ext cx="32004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1E8C3A"/>
                </a:solidFill>
                <a:latin typeface="Bahnschrift SemiBold Condensed"/>
                <a:ea typeface="Bahnschrift SemiBold Condensed"/>
                <a:cs typeface="Bahnschrift SemiBold Condensed"/>
                <a:sym typeface="Bahnschrift SemiBold Condensed"/>
              </a:rPr>
              <a:t>CITOSOL · síntesis</a:t>
            </a:r>
            <a:endParaRPr lang="es-AR" sz="1300" dirty="0">
              <a:latin typeface="Bahnschrift SemiBold Condensed"/>
            </a:endParaRPr>
          </a:p>
        </p:txBody>
      </p:sp>
      <p:sp>
        <p:nvSpPr>
          <p:cNvPr id="15" name="Mitocondria"/>
          <p:cNvSpPr/>
          <p:nvPr/>
        </p:nvSpPr>
        <p:spPr>
          <a:xfrm>
            <a:off x="6766560" y="1280160"/>
            <a:ext cx="4937760" cy="3291840"/>
          </a:xfrm>
          <a:prstGeom prst="ellipse">
            <a:avLst/>
          </a:prstGeom>
          <a:solidFill>
            <a:srgbClr val="F8C471">
              <a:alpha val="70000"/>
            </a:srgbClr>
          </a:solidFill>
          <a:ln w="38100" cap="rnd">
            <a:solidFill>
              <a:srgbClr val="B9770E"/>
            </a:solidFill>
            <a:round/>
          </a:ln>
          <a:effectLst>
            <a:outerShdw blurRad="63500" dist="38100" dir="2700000" algn="tl" rotWithShape="0">
              <a:srgbClr val="000000">
                <a:alpha val="32000"/>
              </a:srgbClr>
            </a:outerShdw>
          </a:effectLst>
        </p:spPr>
      </p:sp>
      <p:sp>
        <p:nvSpPr>
          <p:cNvPr id="16" name="Forma 17"/>
          <p:cNvSpPr txBox="1"/>
          <p:nvPr/>
        </p:nvSpPr>
        <p:spPr>
          <a:xfrm>
            <a:off x="7680960" y="3931920"/>
            <a:ext cx="310896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MITOCONDRIA · β-oxidación</a:t>
            </a:r>
            <a:endParaRPr lang="es-AR" sz="1300" dirty="0">
              <a:latin typeface="Bahnschrift SemiBold Condensed"/>
            </a:endParaRPr>
          </a:p>
        </p:txBody>
      </p:sp>
      <p:sp>
        <p:nvSpPr>
          <p:cNvPr id="17" name="CPT1"/>
          <p:cNvSpPr/>
          <p:nvPr/>
        </p:nvSpPr>
        <p:spPr>
          <a:xfrm>
            <a:off x="6355080" y="2377440"/>
            <a:ext cx="822960" cy="914400"/>
          </a:xfrm>
          <a:prstGeom prst="roundRect">
            <a:avLst/>
          </a:prstGeom>
          <a:gradFill rotWithShape="1">
            <a:gsLst>
              <a:gs pos="0">
                <a:srgbClr val="F9CF8D"/>
              </a:gs>
              <a:gs pos="55000">
                <a:srgbClr val="F5B041"/>
              </a:gs>
              <a:gs pos="100000">
                <a:srgbClr val="AB7B2D"/>
              </a:gs>
            </a:gsLst>
            <a:path path="circle">
              <a:fillToRect l="32000" t="28000" r="68000" b="72000"/>
            </a:path>
          </a:gradFill>
          <a:ln w="19050" cap="rnd">
            <a:solidFill>
              <a:srgbClr val="9C640C"/>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CPT1</a:t>
            </a:r>
            <a:endParaRPr lang="es-AR" sz="1400" dirty="0">
              <a:latin typeface="Bahnschrift SemiBold Condensed"/>
            </a:endParaRPr>
          </a:p>
        </p:txBody>
      </p:sp>
      <p:grpSp>
        <p:nvGrpSpPr>
          <p:cNvPr id="18" name="AG de cadena larga"/>
          <p:cNvGrpSpPr/>
          <p:nvPr/>
        </p:nvGrpSpPr>
        <p:grpSpPr>
          <a:xfrm>
            <a:off x="4645152" y="3392424"/>
            <a:ext cx="1481328" cy="265176"/>
            <a:chOff x="4645152" y="3392424"/>
            <a:chExt cx="1481328" cy="265176"/>
          </a:xfrm>
        </p:grpSpPr>
        <p:sp>
          <p:nvSpPr>
            <p:cNvPr id="19" name="Flecha 20_2"/>
            <p:cNvSpPr/>
            <p:nvPr/>
          </p:nvSpPr>
          <p:spPr>
            <a:xfrm>
              <a:off x="4809744" y="3447288"/>
              <a:ext cx="1316736" cy="210312"/>
            </a:xfrm>
            <a:custGeom>
              <a:avLst/>
              <a:gdLst/>
              <a:ahLst/>
              <a:cxnLst/>
              <a:rect l="0" t="0" r="r" b="b"/>
              <a:pathLst>
                <a:path w="1440" h="229" fill="none">
                  <a:moveTo>
                    <a:pt x="0" y="0"/>
                  </a:moveTo>
                  <a:lnTo>
                    <a:pt x="179" y="229"/>
                  </a:lnTo>
                  <a:lnTo>
                    <a:pt x="360" y="0"/>
                  </a:lnTo>
                  <a:lnTo>
                    <a:pt x="540" y="229"/>
                  </a:lnTo>
                  <a:lnTo>
                    <a:pt x="719" y="0"/>
                  </a:lnTo>
                  <a:lnTo>
                    <a:pt x="900" y="229"/>
                  </a:lnTo>
                  <a:lnTo>
                    <a:pt x="1080" y="0"/>
                  </a:lnTo>
                  <a:lnTo>
                    <a:pt x="1259" y="229"/>
                  </a:lnTo>
                  <a:lnTo>
                    <a:pt x="1440" y="0"/>
                  </a:lnTo>
                </a:path>
              </a:pathLst>
            </a:custGeom>
            <a:noFill/>
            <a:ln w="28575" cap="rnd">
              <a:solidFill>
                <a:srgbClr val="B7950B"/>
              </a:solidFill>
              <a:round/>
            </a:ln>
          </p:spPr>
        </p:sp>
        <p:sp>
          <p:nvSpPr>
            <p:cNvPr id="20" name="Forma 22"/>
            <p:cNvSpPr/>
            <p:nvPr/>
          </p:nvSpPr>
          <p:spPr>
            <a:xfrm>
              <a:off x="4645152" y="33924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1" name="Malonil inhibe CPT1"/>
          <p:cNvGrpSpPr/>
          <p:nvPr/>
        </p:nvGrpSpPr>
        <p:grpSpPr>
          <a:xfrm>
            <a:off x="3017520" y="2779816"/>
            <a:ext cx="3252432" cy="201088"/>
            <a:chOff x="3017520" y="2779816"/>
            <a:chExt cx="3252432" cy="201088"/>
          </a:xfrm>
        </p:grpSpPr>
        <p:sp>
          <p:nvSpPr>
            <p:cNvPr id="22" name="Flecha 24_2"/>
            <p:cNvSpPr/>
            <p:nvPr/>
          </p:nvSpPr>
          <p:spPr>
            <a:xfrm>
              <a:off x="3017520" y="2880360"/>
              <a:ext cx="3246120" cy="91440"/>
            </a:xfrm>
            <a:custGeom>
              <a:avLst/>
              <a:gdLst/>
              <a:ahLst/>
              <a:cxnLst/>
              <a:rect l="0" t="0" r="r" b="b"/>
              <a:pathLst>
                <a:path w="3550" h="100" fill="none">
                  <a:moveTo>
                    <a:pt x="0" y="100"/>
                  </a:moveTo>
                  <a:lnTo>
                    <a:pt x="3550" y="0"/>
                  </a:lnTo>
                </a:path>
              </a:pathLst>
            </a:custGeom>
            <a:noFill/>
            <a:ln w="38100" cap="rnd">
              <a:solidFill>
                <a:srgbClr val="C00000"/>
              </a:solidFill>
              <a:round/>
            </a:ln>
          </p:spPr>
        </p:sp>
        <p:sp>
          <p:nvSpPr>
            <p:cNvPr id="23" name="Flecha 26_2"/>
            <p:cNvSpPr/>
            <p:nvPr/>
          </p:nvSpPr>
          <p:spPr>
            <a:xfrm>
              <a:off x="6260808" y="2779816"/>
              <a:ext cx="9144" cy="201088"/>
            </a:xfrm>
            <a:custGeom>
              <a:avLst/>
              <a:gdLst/>
              <a:ahLst/>
              <a:cxnLst/>
              <a:rect l="0" t="0" r="r" b="b"/>
              <a:pathLst>
                <a:path w="10" h="219" fill="none">
                  <a:moveTo>
                    <a:pt x="0" y="0"/>
                  </a:moveTo>
                  <a:lnTo>
                    <a:pt x="6" y="219"/>
                  </a:lnTo>
                </a:path>
              </a:pathLst>
            </a:custGeom>
            <a:noFill/>
            <a:ln w="60960" cap="rnd">
              <a:solidFill>
                <a:srgbClr val="C00000"/>
              </a:solidFill>
              <a:round/>
            </a:ln>
          </p:spPr>
        </p:sp>
      </p:grpSp>
      <p:sp>
        <p:nvSpPr>
          <p:cNvPr id="24" name="Forma 28"/>
          <p:cNvSpPr txBox="1"/>
          <p:nvPr/>
        </p:nvSpPr>
        <p:spPr>
          <a:xfrm>
            <a:off x="3383280" y="2468880"/>
            <a:ext cx="256032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inhibición alostérica</a:t>
            </a:r>
            <a:endParaRPr lang="es-AR" sz="1300" dirty="0">
              <a:latin typeface="Bahnschrift SemiBold Condensed"/>
            </a:endParaRPr>
          </a:p>
        </p:txBody>
      </p:sp>
      <p:sp>
        <p:nvSpPr>
          <p:cNvPr id="25" name="Beta ox"/>
          <p:cNvSpPr/>
          <p:nvPr/>
        </p:nvSpPr>
        <p:spPr>
          <a:xfrm>
            <a:off x="7589520" y="2103120"/>
            <a:ext cx="3291840" cy="1463040"/>
          </a:xfrm>
          <a:prstGeom prst="ellipse">
            <a:avLst/>
          </a:prstGeom>
          <a:solidFill>
            <a:srgbClr val="FFFFFF">
              <a:alpha val="50000"/>
            </a:srgbClr>
          </a:solidFill>
          <a:ln w="15875" cap="rnd">
            <a:solidFill>
              <a:srgbClr val="7E5109"/>
            </a:solidFill>
            <a:prstDash val="dash"/>
            <a:round/>
          </a:ln>
        </p:spPr>
        <p:txBody>
          <a:bodyPr wrap="square" lIns="73152" tIns="45720" rIns="73152" bIns="45720" anchor="ctr" rtlCol="0">
            <a:noAutofit/>
          </a:bodyPr>
          <a:lstStyle/>
          <a:p>
            <a:pPr algn="ctr">
              <a:spcAft>
                <a:spcPts val="300"/>
              </a:spcAft>
              <a:buNone/>
            </a:pPr>
            <a:r>
              <a:rPr lang="es-AR" sz="1500" b="1" dirty="0">
                <a:solidFill>
                  <a:srgbClr val="7E5109"/>
                </a:solidFill>
                <a:latin typeface="Bahnschrift SemiBold Condensed"/>
                <a:ea typeface="Bahnschrift SemiBold Condensed"/>
                <a:cs typeface="Bahnschrift SemiBold Condensed"/>
                <a:sym typeface="Bahnschrift SemiBold Condensed"/>
              </a:rPr>
              <a:t>β-oxidación de AG largos</a:t>
            </a:r>
            <a:endParaRPr lang="es-AR" sz="1500" dirty="0">
              <a:latin typeface="Bahnschrift SemiBold Condensed"/>
            </a:endParaRPr>
          </a:p>
        </p:txBody>
      </p:sp>
      <p:sp>
        <p:nvSpPr>
          <p:cNvPr id="26" name="Forma 30"/>
          <p:cNvSpPr/>
          <p:nvPr/>
        </p:nvSpPr>
        <p:spPr>
          <a:xfrm>
            <a:off x="365760" y="4983480"/>
            <a:ext cx="11430000" cy="1508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malonil-CoA es </a:t>
            </a:r>
            <a:r>
              <a:rPr lang="es-AR" sz="1700" b="1" dirty="0">
                <a:solidFill>
                  <a:srgbClr val="1E1E1E"/>
                </a:solidFill>
                <a:latin typeface="Bahnschrift"/>
                <a:ea typeface="Bahnschrift"/>
                <a:cs typeface="Bahnschrift"/>
                <a:sym typeface="Bahnschrift"/>
              </a:rPr>
              <a:t>(a)</a:t>
            </a:r>
            <a:r>
              <a:rPr lang="es-AR" sz="1700" dirty="0">
                <a:solidFill>
                  <a:srgbClr val="1E1E1E"/>
                </a:solidFill>
                <a:latin typeface="Bahnschrift"/>
                <a:ea typeface="Bahnschrift"/>
                <a:cs typeface="Bahnschrift"/>
                <a:sym typeface="Bahnschrift"/>
              </a:rPr>
              <a:t> el donador de unidades de 2 C para la </a:t>
            </a:r>
            <a:r>
              <a:rPr lang="es-AR" sz="1700" b="1" dirty="0">
                <a:solidFill>
                  <a:srgbClr val="1E1E1E"/>
                </a:solidFill>
                <a:latin typeface="Bahnschrift"/>
                <a:ea typeface="Bahnschrift"/>
                <a:cs typeface="Bahnschrift"/>
                <a:sym typeface="Bahnschrift"/>
              </a:rPr>
              <a:t>FASN</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(b)</a:t>
            </a:r>
            <a:r>
              <a:rPr lang="es-AR" sz="1700" dirty="0">
                <a:solidFill>
                  <a:srgbClr val="1E1E1E"/>
                </a:solidFill>
                <a:latin typeface="Bahnschrift"/>
                <a:ea typeface="Bahnschrift"/>
                <a:cs typeface="Bahnschrift"/>
                <a:sym typeface="Bahnschrift"/>
              </a:rPr>
              <a:t> el </a:t>
            </a:r>
            <a:r>
              <a:rPr lang="es-AR" sz="1700" b="1" dirty="0">
                <a:solidFill>
                  <a:srgbClr val="1E1E1E"/>
                </a:solidFill>
                <a:latin typeface="Bahnschrift"/>
                <a:ea typeface="Bahnschrift"/>
                <a:cs typeface="Bahnschrift"/>
                <a:sym typeface="Bahnschrift"/>
              </a:rPr>
              <a:t>inhibidor alostérico de CPT1</a:t>
            </a:r>
            <a:r>
              <a:rPr lang="es-AR" sz="1700" dirty="0">
                <a:solidFill>
                  <a:srgbClr val="1E1E1E"/>
                </a:solidFill>
                <a:latin typeface="Bahnschrift"/>
                <a:ea typeface="Bahnschrift"/>
                <a:cs typeface="Bahnschrift"/>
                <a:sym typeface="Bahnschrift"/>
              </a:rPr>
              <a:t>, puerta de entrada de los AG largos a la mitocondria. Así se impide —</a:t>
            </a:r>
            <a:r>
              <a:rPr lang="es-AR" sz="1700" b="1" dirty="0">
                <a:solidFill>
                  <a:srgbClr val="1E1E1E"/>
                </a:solidFill>
                <a:latin typeface="Bahnschrift"/>
                <a:ea typeface="Bahnschrift"/>
                <a:cs typeface="Bahnschrift"/>
                <a:sym typeface="Bahnschrift"/>
              </a:rPr>
              <a:t>aunque no de forma absoluta</a:t>
            </a:r>
            <a:r>
              <a:rPr lang="es-AR" sz="1700" dirty="0">
                <a:solidFill>
                  <a:srgbClr val="1E1E1E"/>
                </a:solidFill>
                <a:latin typeface="Bahnschrift"/>
                <a:ea typeface="Bahnschrift"/>
                <a:cs typeface="Bahnschrift"/>
                <a:sym typeface="Bahnschrift"/>
              </a:rPr>
              <a:t>— sintetizar y degradar AG a la vez.</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91175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13 · MALONIL-CoA: UNA MOLÉCULA, DOS FUNCIONES</a:t>
            </a:r>
            <a:endParaRPr lang="es-AR" sz="2600" dirty="0">
              <a:latin typeface="Bahnschrift SemiBold Condensed"/>
            </a:endParaRPr>
          </a:p>
        </p:txBody>
      </p:sp>
      <p:sp>
        <p:nvSpPr>
          <p:cNvPr id="2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89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1"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up)">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up)">
                                      <p:cBhvr>
                                        <p:cTn id="19" dur="600"/>
                                        <p:tgtEl>
                                          <p:spTgt spid="9"/>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40" fill="hold">
                      <p:stCondLst>
                        <p:cond delay="indefinite"/>
                      </p:stCondLst>
                      <p:childTnLst>
                        <p:par>
                          <p:cTn id="32"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par>
                          <p:cTn id="39" fill="hold">
                            <p:stCondLst>
                              <p:cond delay="500"/>
                            </p:stCondLst>
                            <p:childTnLst>
                              <p:par>
                                <p:cTn id="33" presetID="10" presetClass="entr" presetSubtype="0" fill="hold" grpId="0" nodeType="after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childTnLst>
                          </p:cTn>
                        </p:par>
                      </p:childTnLst>
                    </p:cTn>
                  </p:par>
                  <p:par>
                    <p:cTn id="52" fill="hold">
                      <p:stCondLst>
                        <p:cond delay="indefinite"/>
                      </p:stCondLst>
                      <p:childTnLst>
                        <p:par>
                          <p:cTn id="44"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left)">
                                      <p:cBhvr>
                                        <p:cTn id="43" dur="600"/>
                                        <p:tgtEl>
                                          <p:spTgt spid="21"/>
                                        </p:tgtEl>
                                      </p:cBhvr>
                                    </p:animEffect>
                                  </p:childTnLst>
                                </p:cTn>
                              </p:par>
                            </p:childTnLst>
                          </p:cTn>
                        </p:par>
                        <p:par>
                          <p:cTn id="48" fill="hold">
                            <p:stCondLst>
                              <p:cond delay="600"/>
                            </p:stCondLst>
                            <p:childTnLst>
                              <p:par>
                                <p:cTn id="45" presetID="10" presetClass="entr" presetSubtype="0"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childTnLst>
                          </p:cTn>
                        </p:par>
                        <p:par>
                          <p:cTn id="51" fill="hold">
                            <p:stCondLst>
                              <p:cond delay="1100"/>
                            </p:stCondLst>
                            <p:childTnLst>
                              <p:par>
                                <p:cTn id="49" presetID="6" presetClass="emph" presetSubtype="0" fill="hold" grpId="0" nodeType="afterEffect">
                                  <p:stCondLst>
                                    <p:cond delay="0"/>
                                  </p:stCondLst>
                                  <p:childTnLst>
                                    <p:animScale>
                                      <p:cBhvr>
                                        <p:cTn id="50" dur="300" autoRev="1" fill="hold"/>
                                        <p:tgtEl>
                                          <p:spTgt spid="17"/>
                                        </p:tgtEl>
                                      </p:cBhvr>
                                      <p:by x="112000" y="112000"/>
                                    </p:animScale>
                                  </p:childTnLst>
                                </p:cTn>
                              </p:par>
                            </p:childTnLst>
                          </p:cTn>
                        </p:par>
                      </p:childTnLst>
                    </p:cTn>
                  </p:par>
                  <p:par>
                    <p:cTn id="57" fill="hold">
                      <p:stCondLst>
                        <p:cond delay="indefinite"/>
                      </p:stCondLst>
                      <p:childTnLst>
                        <p:par>
                          <p:cTn id="56"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2" grpId="0" animBg="1"/>
      <p:bldP spid="15" grpId="0" animBg="1"/>
      <p:bldP spid="25" grpId="0" animBg="1"/>
      <p:bldP spid="17" grpId="0" animBg="1"/>
      <p:bldP spid="24" grpId="0" animBg="1"/>
      <p:bldP spid="26" grpId="0" animBg="1"/>
    </p:bldLst>
  </p:timing>
</p:sld>
</file>

<file path=ppt/slides/slide90.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Citosol"/>
          <p:cNvSpPr/>
          <p:nvPr/>
        </p:nvSpPr>
        <p:spPr>
          <a:xfrm>
            <a:off x="274320" y="960120"/>
            <a:ext cx="6035040" cy="4434840"/>
          </a:xfrm>
          <a:prstGeom prst="rect">
            <a:avLst/>
          </a:prstGeom>
          <a:solidFill>
            <a:srgbClr val="FFFFFF">
              <a:alpha val="35000"/>
            </a:srgbClr>
          </a:solidFill>
          <a:ln w="12700" cap="rnd">
            <a:solidFill>
              <a:srgbClr val="1E1E1E"/>
            </a:solidFill>
            <a:round/>
          </a:ln>
        </p:spPr>
      </p:sp>
      <p:sp>
        <p:nvSpPr>
          <p:cNvPr id="5" name="!!Rótulo citosol"/>
          <p:cNvSpPr txBox="1"/>
          <p:nvPr/>
        </p:nvSpPr>
        <p:spPr>
          <a:xfrm>
            <a:off x="365760" y="987552"/>
            <a:ext cx="2743200" cy="292608"/>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CITOSOL</a:t>
            </a:r>
            <a:endParaRPr lang="es-AR" sz="1250" dirty="0">
              <a:latin typeface="Bahnschrift SemiBold Condensed"/>
            </a:endParaRPr>
          </a:p>
        </p:txBody>
      </p:sp>
      <p:sp>
        <p:nvSpPr>
          <p:cNvPr id="6" name="!!Mitocondria"/>
          <p:cNvSpPr/>
          <p:nvPr/>
        </p:nvSpPr>
        <p:spPr>
          <a:xfrm>
            <a:off x="6675120" y="1143000"/>
            <a:ext cx="5120640" cy="4114800"/>
          </a:xfrm>
          <a:prstGeom prst="ellipse">
            <a:avLst/>
          </a:prstGeom>
          <a:solidFill>
            <a:srgbClr val="F8C471">
              <a:alpha val="75000"/>
            </a:srgbClr>
          </a:solidFill>
          <a:ln w="38100" cap="rnd">
            <a:solidFill>
              <a:srgbClr val="B9770E"/>
            </a:solidFill>
            <a:round/>
          </a:ln>
          <a:effectLst>
            <a:outerShdw blurRad="63500" dist="38100" dir="2700000" algn="tl" rotWithShape="0">
              <a:srgbClr val="000000">
                <a:alpha val="32000"/>
              </a:srgbClr>
            </a:outerShdw>
          </a:effectLst>
        </p:spPr>
      </p:sp>
      <p:sp>
        <p:nvSpPr>
          <p:cNvPr id="7" name="!!Rótulo mitocondria"/>
          <p:cNvSpPr txBox="1"/>
          <p:nvPr/>
        </p:nvSpPr>
        <p:spPr>
          <a:xfrm>
            <a:off x="7589520" y="1325880"/>
            <a:ext cx="3291840" cy="292608"/>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MITOCONDRIA</a:t>
            </a:r>
            <a:endParaRPr lang="es-AR" sz="1250" dirty="0">
              <a:latin typeface="Bahnschrift SemiBold Condensed"/>
            </a:endParaRPr>
          </a:p>
        </p:txBody>
      </p:sp>
      <p:grpSp>
        <p:nvGrpSpPr>
          <p:cNvPr id="8" name="!!CPT1"/>
          <p:cNvGrpSpPr/>
          <p:nvPr/>
        </p:nvGrpSpPr>
        <p:grpSpPr>
          <a:xfrm>
            <a:off x="6263640" y="2468880"/>
            <a:ext cx="960120" cy="1084478"/>
            <a:chOff x="6263640" y="2468880"/>
            <a:chExt cx="960120" cy="1084478"/>
          </a:xfrm>
        </p:grpSpPr>
        <p:sp>
          <p:nvSpPr>
            <p:cNvPr id="9" name="Forma 8"/>
            <p:cNvSpPr/>
            <p:nvPr/>
          </p:nvSpPr>
          <p:spPr>
            <a:xfrm>
              <a:off x="6340450" y="2468880"/>
              <a:ext cx="806501" cy="288036"/>
            </a:xfrm>
            <a:prstGeom prst="roundRect">
              <a:avLst>
                <a:gd name="adj" fmla="val 40000"/>
              </a:avLst>
            </a:prstGeom>
            <a:solidFill>
              <a:srgbClr val="FAD7A0"/>
            </a:solidFill>
            <a:ln w="12700" cap="rnd">
              <a:solidFill>
                <a:srgbClr val="7D6B50"/>
              </a:solidFill>
              <a:round/>
            </a:ln>
          </p:spPr>
        </p:sp>
        <p:sp>
          <p:nvSpPr>
            <p:cNvPr id="10" name="Forma 9"/>
            <p:cNvSpPr/>
            <p:nvPr/>
          </p:nvSpPr>
          <p:spPr>
            <a:xfrm>
              <a:off x="6263640" y="2756916"/>
              <a:ext cx="960120" cy="249631"/>
            </a:xfrm>
            <a:prstGeom prst="roundRect">
              <a:avLst>
                <a:gd name="adj" fmla="val 40000"/>
              </a:avLst>
            </a:prstGeom>
            <a:solidFill>
              <a:srgbClr val="F5B041"/>
            </a:solidFill>
            <a:ln w="15875" cap="rnd">
              <a:solidFill>
                <a:srgbClr val="7A5820"/>
              </a:solidFill>
              <a:round/>
            </a:ln>
          </p:spPr>
        </p:sp>
        <p:sp>
          <p:nvSpPr>
            <p:cNvPr id="11" name="Forma 10"/>
            <p:cNvSpPr/>
            <p:nvPr/>
          </p:nvSpPr>
          <p:spPr>
            <a:xfrm>
              <a:off x="6263640" y="3015691"/>
              <a:ext cx="960120" cy="249631"/>
            </a:xfrm>
            <a:prstGeom prst="roundRect">
              <a:avLst>
                <a:gd name="adj" fmla="val 40000"/>
              </a:avLst>
            </a:prstGeom>
            <a:solidFill>
              <a:srgbClr val="F5B041"/>
            </a:solidFill>
            <a:ln w="15875" cap="rnd">
              <a:solidFill>
                <a:srgbClr val="7A5820"/>
              </a:solidFill>
              <a:round/>
            </a:ln>
          </p:spPr>
        </p:sp>
        <p:sp>
          <p:nvSpPr>
            <p:cNvPr id="12" name="Forma 11"/>
            <p:cNvSpPr/>
            <p:nvPr/>
          </p:nvSpPr>
          <p:spPr>
            <a:xfrm>
              <a:off x="6340450" y="3265322"/>
              <a:ext cx="806501" cy="288036"/>
            </a:xfrm>
            <a:prstGeom prst="roundRect">
              <a:avLst>
                <a:gd name="adj" fmla="val 40000"/>
              </a:avLst>
            </a:prstGeom>
            <a:solidFill>
              <a:srgbClr val="FAD7A0"/>
            </a:solidFill>
            <a:ln w="12700" cap="rnd">
              <a:solidFill>
                <a:srgbClr val="7D6B50"/>
              </a:solidFill>
              <a:round/>
            </a:ln>
          </p:spPr>
        </p:sp>
      </p:grpSp>
      <p:sp>
        <p:nvSpPr>
          <p:cNvPr id="13" name="!!Rótulo CPT1"/>
          <p:cNvSpPr txBox="1"/>
          <p:nvPr/>
        </p:nvSpPr>
        <p:spPr>
          <a:xfrm>
            <a:off x="5943600" y="2103120"/>
            <a:ext cx="1463040" cy="274320"/>
          </a:xfrm>
          <a:prstGeom prst="rect">
            <a:avLst/>
          </a:prstGeom>
          <a:noFill/>
          <a:ln>
            <a:noFill/>
          </a:ln>
        </p:spPr>
        <p:txBody>
          <a:bodyPr wrap="square" lIns="0" tIns="0" rIns="0" bIns="0" anchor="t" rtlCol="0">
            <a:noAutofit/>
          </a:bodyPr>
          <a:lstStyle/>
          <a:p>
            <a:pPr algn="ctr">
              <a:spcAft>
                <a:spcPts val="300"/>
              </a:spcAft>
              <a:buNone/>
            </a:pPr>
            <a:r>
              <a:rPr lang="es-AR" sz="1400" b="1" dirty="0">
                <a:solidFill>
                  <a:srgbClr val="7E5109"/>
                </a:solidFill>
                <a:latin typeface="Bahnschrift SemiBold Condensed"/>
                <a:ea typeface="Bahnschrift SemiBold Condensed"/>
                <a:cs typeface="Bahnschrift SemiBold Condensed"/>
                <a:sym typeface="Bahnschrift SemiBold Condensed"/>
              </a:rPr>
              <a:t>CPT1</a:t>
            </a:r>
            <a:endParaRPr lang="es-AR" sz="1400" dirty="0">
              <a:latin typeface="Bahnschrift SemiBold Condensed"/>
            </a:endParaRPr>
          </a:p>
        </p:txBody>
      </p:sp>
      <p:sp>
        <p:nvSpPr>
          <p:cNvPr id="14" name="!!ACC"/>
          <p:cNvSpPr/>
          <p:nvPr/>
        </p:nvSpPr>
        <p:spPr>
          <a:xfrm>
            <a:off x="1828800" y="2286000"/>
            <a:ext cx="1554480" cy="685800"/>
          </a:xfrm>
          <a:prstGeom prst="roundRect">
            <a:avLst/>
          </a:prstGeom>
          <a:gradFill rotWithShape="1">
            <a:gsLst>
              <a:gs pos="0">
                <a:srgbClr val="92E4B4"/>
              </a:gs>
              <a:gs pos="55000">
                <a:srgbClr val="58D68D"/>
              </a:gs>
              <a:gs pos="100000">
                <a:srgbClr val="46AB7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ACC activa</a:t>
            </a:r>
            <a:endParaRPr lang="es-AR" sz="1400" dirty="0">
              <a:latin typeface="Bahnschrift SemiBold Condensed"/>
            </a:endParaRPr>
          </a:p>
        </p:txBody>
      </p:sp>
      <p:sp>
        <p:nvSpPr>
          <p:cNvPr id="15" name="!!Fondo indicador"/>
          <p:cNvSpPr/>
          <p:nvPr/>
        </p:nvSpPr>
        <p:spPr>
          <a:xfrm>
            <a:off x="7680960" y="3429000"/>
            <a:ext cx="3108960" cy="365760"/>
          </a:xfrm>
          <a:prstGeom prst="rect">
            <a:avLst/>
          </a:prstGeom>
          <a:solidFill>
            <a:srgbClr val="FFFFFF">
              <a:alpha val="70000"/>
            </a:srgbClr>
          </a:solidFill>
          <a:ln w="12700" cap="rnd">
            <a:solidFill>
              <a:srgbClr val="1E1E1E"/>
            </a:solidFill>
            <a:round/>
          </a:ln>
        </p:spPr>
      </p:sp>
      <p:sp>
        <p:nvSpPr>
          <p:cNvPr id="16" name="!!Barra beta-ox"/>
          <p:cNvSpPr/>
          <p:nvPr/>
        </p:nvSpPr>
        <p:spPr>
          <a:xfrm>
            <a:off x="7699248" y="3447288"/>
            <a:ext cx="502920" cy="329184"/>
          </a:xfrm>
          <a:prstGeom prst="rect">
            <a:avLst/>
          </a:prstGeom>
          <a:gradFill rotWithShape="1">
            <a:gsLst>
              <a:gs pos="0">
                <a:srgbClr val="F9E79F"/>
              </a:gs>
              <a:gs pos="100000">
                <a:srgbClr val="E67E22"/>
              </a:gs>
            </a:gsLst>
            <a:lin ang="0" scaled="0"/>
          </a:gradFill>
          <a:ln>
            <a:noFill/>
          </a:ln>
        </p:spPr>
      </p:sp>
      <p:sp>
        <p:nvSpPr>
          <p:cNvPr id="17" name="!!Rótulo flujo"/>
          <p:cNvSpPr txBox="1"/>
          <p:nvPr/>
        </p:nvSpPr>
        <p:spPr>
          <a:xfrm>
            <a:off x="7680960" y="3017520"/>
            <a:ext cx="3108960" cy="36576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flujo de β-oxidación</a:t>
            </a:r>
            <a:endParaRPr lang="es-AR" sz="1300" dirty="0">
              <a:latin typeface="Bahnschrift SemiBold Condensed"/>
            </a:endParaRPr>
          </a:p>
        </p:txBody>
      </p:sp>
      <p:sp>
        <p:nvSpPr>
          <p:cNvPr id="18" name="!!Insulina"/>
          <p:cNvSpPr/>
          <p:nvPr/>
        </p:nvSpPr>
        <p:spPr>
          <a:xfrm>
            <a:off x="548640" y="1417320"/>
            <a:ext cx="457200" cy="45720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19" name="!!Citrato"/>
          <p:cNvSpPr/>
          <p:nvPr/>
        </p:nvSpPr>
        <p:spPr>
          <a:xfrm>
            <a:off x="502920" y="3246120"/>
            <a:ext cx="838165" cy="275590"/>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Citrato ↑</a:t>
            </a:r>
            <a:endParaRPr lang="es-AR" sz="1400" dirty="0">
              <a:latin typeface="Bahnschrift SemiBold Condensed"/>
            </a:endParaRPr>
          </a:p>
        </p:txBody>
      </p:sp>
      <p:sp>
        <p:nvSpPr>
          <p:cNvPr id="20" name="Fosfatasas"/>
          <p:cNvSpPr/>
          <p:nvPr/>
        </p:nvSpPr>
        <p:spPr>
          <a:xfrm>
            <a:off x="457200" y="2148840"/>
            <a:ext cx="1024771"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Fosfatasas</a:t>
            </a:r>
            <a:endParaRPr lang="es-AR" sz="1250" dirty="0">
              <a:latin typeface="Bahnschrift SemiBold Condensed"/>
            </a:endParaRPr>
          </a:p>
        </p:txBody>
      </p:sp>
      <p:sp>
        <p:nvSpPr>
          <p:cNvPr id="21" name="!!Malonil 0"/>
          <p:cNvSpPr/>
          <p:nvPr/>
        </p:nvSpPr>
        <p:spPr>
          <a:xfrm>
            <a:off x="3840480" y="2103120"/>
            <a:ext cx="438912" cy="43891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Mal</a:t>
            </a:r>
            <a:endParaRPr lang="es-AR" sz="1248" dirty="0">
              <a:latin typeface="Bahnschrift SemiBold Condensed"/>
            </a:endParaRPr>
          </a:p>
        </p:txBody>
      </p:sp>
      <p:sp>
        <p:nvSpPr>
          <p:cNvPr id="22" name="!!Malonil 1"/>
          <p:cNvSpPr/>
          <p:nvPr/>
        </p:nvSpPr>
        <p:spPr>
          <a:xfrm>
            <a:off x="4389120" y="2103120"/>
            <a:ext cx="438912" cy="43891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Mal</a:t>
            </a:r>
            <a:endParaRPr lang="es-AR" sz="1248" dirty="0">
              <a:latin typeface="Bahnschrift SemiBold Condensed"/>
            </a:endParaRPr>
          </a:p>
        </p:txBody>
      </p:sp>
      <p:sp>
        <p:nvSpPr>
          <p:cNvPr id="23" name="!!Malonil 2"/>
          <p:cNvSpPr/>
          <p:nvPr/>
        </p:nvSpPr>
        <p:spPr>
          <a:xfrm>
            <a:off x="4937760" y="2103120"/>
            <a:ext cx="438912" cy="43891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Mal</a:t>
            </a:r>
            <a:endParaRPr lang="es-AR" sz="1248" dirty="0">
              <a:latin typeface="Bahnschrift SemiBold Condensed"/>
            </a:endParaRPr>
          </a:p>
        </p:txBody>
      </p:sp>
      <p:sp>
        <p:nvSpPr>
          <p:cNvPr id="24" name="!!Malonil 3"/>
          <p:cNvSpPr/>
          <p:nvPr/>
        </p:nvSpPr>
        <p:spPr>
          <a:xfrm>
            <a:off x="3840480" y="2651760"/>
            <a:ext cx="438912" cy="43891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Mal</a:t>
            </a:r>
            <a:endParaRPr lang="es-AR" sz="1248" dirty="0">
              <a:latin typeface="Bahnschrift SemiBold Condensed"/>
            </a:endParaRPr>
          </a:p>
        </p:txBody>
      </p:sp>
      <p:sp>
        <p:nvSpPr>
          <p:cNvPr id="25" name="!!Malonil 4"/>
          <p:cNvSpPr/>
          <p:nvPr/>
        </p:nvSpPr>
        <p:spPr>
          <a:xfrm>
            <a:off x="4389120" y="2651760"/>
            <a:ext cx="438912" cy="43891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Mal</a:t>
            </a:r>
            <a:endParaRPr lang="es-AR" sz="1248" dirty="0">
              <a:latin typeface="Bahnschrift SemiBold Condensed"/>
            </a:endParaRPr>
          </a:p>
        </p:txBody>
      </p:sp>
      <p:sp>
        <p:nvSpPr>
          <p:cNvPr id="26" name="!!FASN"/>
          <p:cNvSpPr/>
          <p:nvPr/>
        </p:nvSpPr>
        <p:spPr>
          <a:xfrm>
            <a:off x="1828800" y="3886200"/>
            <a:ext cx="1554480" cy="548640"/>
          </a:xfrm>
          <a:prstGeom prst="roundRect">
            <a:avLst/>
          </a:prstGeom>
          <a:gradFill rotWithShape="1">
            <a:gsLst>
              <a:gs pos="0">
                <a:srgbClr val="FAEAA8"/>
              </a:gs>
              <a:gs pos="55000">
                <a:srgbClr val="F7DC6F"/>
              </a:gs>
              <a:gs pos="100000">
                <a:srgbClr val="C5B058"/>
              </a:gs>
            </a:gsLst>
            <a:path path="circle">
              <a:fillToRect l="32000" t="28000" r="68000" b="72000"/>
            </a:path>
          </a:gradFill>
          <a:ln w="15875" cap="rnd">
            <a:solidFill>
              <a:srgbClr val="1E1E1E"/>
            </a:solidFill>
            <a:round/>
          </a:ln>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FASN → AG</a:t>
            </a:r>
            <a:endParaRPr lang="es-AR" sz="1400" dirty="0">
              <a:latin typeface="Bahnschrift SemiBold Condensed"/>
            </a:endParaRPr>
          </a:p>
        </p:txBody>
      </p:sp>
      <p:grpSp>
        <p:nvGrpSpPr>
          <p:cNvPr id="27" name="!!AG largo 0"/>
          <p:cNvGrpSpPr/>
          <p:nvPr/>
        </p:nvGrpSpPr>
        <p:grpSpPr>
          <a:xfrm>
            <a:off x="4553712" y="3986784"/>
            <a:ext cx="1298448" cy="219456"/>
            <a:chOff x="4553712" y="3986784"/>
            <a:chExt cx="1298448" cy="219456"/>
          </a:xfrm>
        </p:grpSpPr>
        <p:sp>
          <p:nvSpPr>
            <p:cNvPr id="28" name="Flecha 27_2"/>
            <p:cNvSpPr/>
            <p:nvPr/>
          </p:nvSpPr>
          <p:spPr>
            <a:xfrm>
              <a:off x="4718304" y="4041648"/>
              <a:ext cx="1133856" cy="164592"/>
            </a:xfrm>
            <a:custGeom>
              <a:avLst/>
              <a:gdLst/>
              <a:ahLst/>
              <a:cxnLst/>
              <a:rect l="0" t="0" r="r" b="b"/>
              <a:pathLst>
                <a:path w="1240" h="180" fill="none">
                  <a:moveTo>
                    <a:pt x="0" y="0"/>
                  </a:moveTo>
                  <a:lnTo>
                    <a:pt x="155" y="180"/>
                  </a:lnTo>
                  <a:lnTo>
                    <a:pt x="309" y="0"/>
                  </a:lnTo>
                  <a:lnTo>
                    <a:pt x="464" y="180"/>
                  </a:lnTo>
                  <a:lnTo>
                    <a:pt x="620" y="0"/>
                  </a:lnTo>
                  <a:lnTo>
                    <a:pt x="775" y="180"/>
                  </a:lnTo>
                  <a:lnTo>
                    <a:pt x="929" y="0"/>
                  </a:lnTo>
                  <a:lnTo>
                    <a:pt x="1085" y="180"/>
                  </a:lnTo>
                  <a:lnTo>
                    <a:pt x="1240" y="0"/>
                  </a:lnTo>
                </a:path>
              </a:pathLst>
            </a:custGeom>
            <a:noFill/>
            <a:ln w="28575" cap="rnd">
              <a:solidFill>
                <a:srgbClr val="B7950B"/>
              </a:solidFill>
              <a:round/>
            </a:ln>
          </p:spPr>
        </p:sp>
        <p:sp>
          <p:nvSpPr>
            <p:cNvPr id="29" name="Forma 29"/>
            <p:cNvSpPr/>
            <p:nvPr/>
          </p:nvSpPr>
          <p:spPr>
            <a:xfrm>
              <a:off x="4553712" y="39867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30" name="!!AG largo 1"/>
          <p:cNvGrpSpPr/>
          <p:nvPr/>
        </p:nvGrpSpPr>
        <p:grpSpPr>
          <a:xfrm>
            <a:off x="4553712" y="4352544"/>
            <a:ext cx="1298448" cy="219456"/>
            <a:chOff x="4553712" y="4352544"/>
            <a:chExt cx="1298448" cy="219456"/>
          </a:xfrm>
        </p:grpSpPr>
        <p:sp>
          <p:nvSpPr>
            <p:cNvPr id="31" name="Flecha 31_2"/>
            <p:cNvSpPr/>
            <p:nvPr/>
          </p:nvSpPr>
          <p:spPr>
            <a:xfrm>
              <a:off x="4718304" y="4407408"/>
              <a:ext cx="1133856" cy="164592"/>
            </a:xfrm>
            <a:custGeom>
              <a:avLst/>
              <a:gdLst/>
              <a:ahLst/>
              <a:cxnLst/>
              <a:rect l="0" t="0" r="r" b="b"/>
              <a:pathLst>
                <a:path w="1240" h="180" fill="none">
                  <a:moveTo>
                    <a:pt x="0" y="0"/>
                  </a:moveTo>
                  <a:lnTo>
                    <a:pt x="155" y="180"/>
                  </a:lnTo>
                  <a:lnTo>
                    <a:pt x="309" y="0"/>
                  </a:lnTo>
                  <a:lnTo>
                    <a:pt x="464" y="180"/>
                  </a:lnTo>
                  <a:lnTo>
                    <a:pt x="620" y="0"/>
                  </a:lnTo>
                  <a:lnTo>
                    <a:pt x="775" y="180"/>
                  </a:lnTo>
                  <a:lnTo>
                    <a:pt x="929" y="0"/>
                  </a:lnTo>
                  <a:lnTo>
                    <a:pt x="1085" y="180"/>
                  </a:lnTo>
                  <a:lnTo>
                    <a:pt x="1240" y="0"/>
                  </a:lnTo>
                </a:path>
              </a:pathLst>
            </a:custGeom>
            <a:noFill/>
            <a:ln w="28575" cap="rnd">
              <a:solidFill>
                <a:srgbClr val="B7950B"/>
              </a:solidFill>
              <a:round/>
            </a:ln>
          </p:spPr>
        </p:sp>
        <p:sp>
          <p:nvSpPr>
            <p:cNvPr id="32" name="Forma 33"/>
            <p:cNvSpPr/>
            <p:nvPr/>
          </p:nvSpPr>
          <p:spPr>
            <a:xfrm>
              <a:off x="4553712" y="43525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33" name="Bloqueo"/>
          <p:cNvSpPr txBox="1"/>
          <p:nvPr/>
        </p:nvSpPr>
        <p:spPr>
          <a:xfrm>
            <a:off x="4572000" y="4800600"/>
            <a:ext cx="1737360" cy="457200"/>
          </a:xfrm>
          <a:prstGeom prst="rect">
            <a:avLst/>
          </a:prstGeom>
          <a:noFill/>
          <a:ln>
            <a:noFill/>
          </a:ln>
        </p:spPr>
        <p:txBody>
          <a:bodyPr wrap="square" lIns="0" tIns="0" rIns="0" bIns="0" anchor="ctr" rtlCol="0">
            <a:noAutofit/>
          </a:bodyPr>
          <a:lstStyle/>
          <a:p>
            <a:pPr algn="ctr">
              <a:spcAft>
                <a:spcPts val="300"/>
              </a:spcAft>
              <a:buNone/>
            </a:pPr>
            <a:r>
              <a:rPr lang="es-AR" sz="1300" dirty="0">
                <a:solidFill>
                  <a:srgbClr val="C00000"/>
                </a:solidFill>
                <a:latin typeface="Bahnschrift SemiBold Condensed"/>
                <a:ea typeface="Bahnschrift SemiBold Condensed"/>
                <a:cs typeface="Bahnschrift SemiBold Condensed"/>
                <a:sym typeface="Bahnschrift SemiBold Condensed"/>
              </a:rPr>
              <a:t>AG largos </a:t>
            </a:r>
            <a:r>
              <a:rPr lang="es-AR" sz="1300" b="1" dirty="0">
                <a:solidFill>
                  <a:srgbClr val="C00000"/>
                </a:solidFill>
                <a:latin typeface="Bahnschrift SemiBold Condensed"/>
                <a:ea typeface="Bahnschrift SemiBold Condensed"/>
                <a:cs typeface="Bahnschrift SemiBold Condensed"/>
                <a:sym typeface="Bahnschrift SemiBold Condensed"/>
              </a:rPr>
              <a:t>no entran</a:t>
            </a:r>
            <a:endParaRPr lang="es-AR" sz="1300" dirty="0">
              <a:latin typeface="Bahnschrift SemiBold Condensed"/>
            </a:endParaRPr>
          </a:p>
        </p:txBody>
      </p:sp>
      <p:sp>
        <p:nvSpPr>
          <p:cNvPr id="34" name="Flecha 35_2"/>
          <p:cNvSpPr/>
          <p:nvPr/>
        </p:nvSpPr>
        <p:spPr>
          <a:xfrm>
            <a:off x="2606040" y="2990088"/>
            <a:ext cx="9144" cy="877824"/>
          </a:xfrm>
          <a:custGeom>
            <a:avLst/>
            <a:gdLst/>
            <a:ahLst/>
            <a:cxnLst/>
            <a:rect l="0" t="0" r="r" b="b"/>
            <a:pathLst>
              <a:path w="10" h="960" fill="none">
                <a:moveTo>
                  <a:pt x="0" y="0"/>
                </a:moveTo>
                <a:lnTo>
                  <a:pt x="0" y="960"/>
                </a:lnTo>
              </a:path>
            </a:pathLst>
          </a:custGeom>
          <a:noFill/>
          <a:ln w="38100" cap="rnd">
            <a:solidFill>
              <a:srgbClr val="1E8C3A"/>
            </a:solidFill>
            <a:round/>
            <a:tailEnd type="triangle" w="med" len="med"/>
          </a:ln>
        </p:spPr>
      </p:sp>
      <p:grpSp>
        <p:nvGrpSpPr>
          <p:cNvPr id="35" name="Freno CPT1"/>
          <p:cNvGrpSpPr/>
          <p:nvPr/>
        </p:nvGrpSpPr>
        <p:grpSpPr>
          <a:xfrm>
            <a:off x="5394960" y="2651760"/>
            <a:ext cx="854767" cy="369742"/>
            <a:chOff x="5394960" y="2651760"/>
            <a:chExt cx="854767" cy="369742"/>
          </a:xfrm>
        </p:grpSpPr>
        <p:sp>
          <p:nvSpPr>
            <p:cNvPr id="36" name="Flecha 38_2"/>
            <p:cNvSpPr/>
            <p:nvPr/>
          </p:nvSpPr>
          <p:spPr>
            <a:xfrm>
              <a:off x="5394960" y="2651760"/>
              <a:ext cx="822960" cy="274320"/>
            </a:xfrm>
            <a:custGeom>
              <a:avLst/>
              <a:gdLst/>
              <a:ahLst/>
              <a:cxnLst/>
              <a:rect l="0" t="0" r="r" b="b"/>
              <a:pathLst>
                <a:path w="899" h="300" fill="none">
                  <a:moveTo>
                    <a:pt x="0" y="0"/>
                  </a:moveTo>
                  <a:lnTo>
                    <a:pt x="899" y="300"/>
                  </a:lnTo>
                </a:path>
              </a:pathLst>
            </a:custGeom>
            <a:noFill/>
            <a:ln w="38100" cap="rnd">
              <a:solidFill>
                <a:srgbClr val="C00000"/>
              </a:solidFill>
              <a:round/>
            </a:ln>
          </p:spPr>
        </p:sp>
        <p:sp>
          <p:nvSpPr>
            <p:cNvPr id="37" name="Flecha 40_2"/>
            <p:cNvSpPr/>
            <p:nvPr/>
          </p:nvSpPr>
          <p:spPr>
            <a:xfrm>
              <a:off x="6186113" y="2830658"/>
              <a:ext cx="63615" cy="190845"/>
            </a:xfrm>
            <a:custGeom>
              <a:avLst/>
              <a:gdLst/>
              <a:ahLst/>
              <a:cxnLst/>
              <a:rect l="0" t="0" r="r" b="b"/>
              <a:pathLst>
                <a:path w="69" h="208" fill="none">
                  <a:moveTo>
                    <a:pt x="69" y="0"/>
                  </a:moveTo>
                  <a:lnTo>
                    <a:pt x="0" y="208"/>
                  </a:lnTo>
                </a:path>
              </a:pathLst>
            </a:custGeom>
            <a:noFill/>
            <a:ln w="60960" cap="rnd">
              <a:solidFill>
                <a:srgbClr val="C00000"/>
              </a:solidFill>
              <a:round/>
            </a:ln>
          </p:spPr>
        </p:sp>
      </p:grpSp>
      <p:sp>
        <p:nvSpPr>
          <p:cNvPr id="38" name="Paso texto 1"/>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1.</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Estado alimentado</a:t>
            </a:r>
            <a:r>
              <a:rPr lang="es-AR" sz="1600" dirty="0">
                <a:solidFill>
                  <a:srgbClr val="1E1E1E"/>
                </a:solidFill>
                <a:latin typeface="Bahnschrift"/>
                <a:ea typeface="Bahnschrift"/>
                <a:cs typeface="Bahnschrift"/>
                <a:sym typeface="Bahnschrift"/>
              </a:rPr>
              <a:t>: insulina alta y abundante citrato citosólico.</a:t>
            </a:r>
            <a:endParaRPr lang="es-AR" sz="1600" dirty="0">
              <a:latin typeface="Bahnschrift"/>
            </a:endParaRPr>
          </a:p>
        </p:txBody>
      </p:sp>
      <p:sp>
        <p:nvSpPr>
          <p:cNvPr id="39" name="Paso texto 2"/>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2.</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Síntesis de AG activada</a:t>
            </a:r>
            <a:r>
              <a:rPr lang="es-AR" sz="1600" dirty="0">
                <a:solidFill>
                  <a:srgbClr val="1E1E1E"/>
                </a:solidFill>
                <a:latin typeface="Bahnschrift"/>
                <a:ea typeface="Bahnschrift"/>
                <a:cs typeface="Bahnschrift"/>
                <a:sym typeface="Bahnschrift"/>
              </a:rPr>
              <a:t>: la insulina activa fosfatasas; el citrato favorece la polimerización de ACC.</a:t>
            </a:r>
            <a:endParaRPr lang="es-AR" sz="1600" dirty="0">
              <a:latin typeface="Bahnschrift"/>
            </a:endParaRPr>
          </a:p>
        </p:txBody>
      </p:sp>
      <p:sp>
        <p:nvSpPr>
          <p:cNvPr id="40" name="Paso texto 3"/>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3.</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ACC activa</a:t>
            </a:r>
            <a:r>
              <a:rPr lang="es-AR" sz="1600" dirty="0">
                <a:solidFill>
                  <a:srgbClr val="1E1E1E"/>
                </a:solidFill>
                <a:latin typeface="Bahnschrift"/>
                <a:ea typeface="Bahnschrift"/>
                <a:cs typeface="Bahnschrift"/>
                <a:sym typeface="Bahnschrift"/>
              </a:rPr>
              <a:t> carboxila acetil-CoA.</a:t>
            </a:r>
            <a:endParaRPr lang="es-AR" sz="1600" dirty="0">
              <a:latin typeface="Bahnschrift"/>
            </a:endParaRPr>
          </a:p>
        </p:txBody>
      </p:sp>
      <p:sp>
        <p:nvSpPr>
          <p:cNvPr id="41" name="Paso texto 4"/>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4.</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Malonil-CoA ↑</a:t>
            </a:r>
            <a:r>
              <a:rPr lang="es-AR" sz="1600" dirty="0">
                <a:solidFill>
                  <a:srgbClr val="1E1E1E"/>
                </a:solidFill>
                <a:latin typeface="Bahnschrift"/>
                <a:ea typeface="Bahnschrift"/>
                <a:cs typeface="Bahnschrift"/>
                <a:sym typeface="Bahnschrift"/>
              </a:rPr>
              <a:t> (sustrato de la FASN).</a:t>
            </a:r>
            <a:endParaRPr lang="es-AR" sz="1600" dirty="0">
              <a:latin typeface="Bahnschrift"/>
            </a:endParaRPr>
          </a:p>
        </p:txBody>
      </p:sp>
      <p:sp>
        <p:nvSpPr>
          <p:cNvPr id="42" name="Paso texto 5"/>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5.</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Malonil-CoA inhibe CPT1</a:t>
            </a:r>
            <a:r>
              <a:rPr lang="es-AR" sz="1600" dirty="0">
                <a:solidFill>
                  <a:srgbClr val="1E1E1E"/>
                </a:solidFill>
                <a:latin typeface="Bahnschrift"/>
                <a:ea typeface="Bahnschrift"/>
                <a:cs typeface="Bahnschrift"/>
                <a:sym typeface="Bahnschrift"/>
              </a:rPr>
              <a:t> (alostérico).</a:t>
            </a:r>
            <a:endParaRPr lang="es-AR" sz="1600" dirty="0">
              <a:latin typeface="Bahnschrift"/>
            </a:endParaRPr>
          </a:p>
        </p:txBody>
      </p:sp>
      <p:sp>
        <p:nvSpPr>
          <p:cNvPr id="43" name="Paso texto 6"/>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6.</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 entrada mitocondrial</a:t>
            </a:r>
            <a:r>
              <a:rPr lang="es-AR" sz="1600" dirty="0">
                <a:solidFill>
                  <a:srgbClr val="1E1E1E"/>
                </a:solidFill>
                <a:latin typeface="Bahnschrift"/>
                <a:ea typeface="Bahnschrift"/>
                <a:cs typeface="Bahnschrift"/>
                <a:sym typeface="Bahnschrift"/>
              </a:rPr>
              <a:t> de AG de cadena larga.</a:t>
            </a:r>
            <a:endParaRPr lang="es-AR" sz="1600" dirty="0">
              <a:latin typeface="Bahnschrift"/>
            </a:endParaRPr>
          </a:p>
        </p:txBody>
      </p:sp>
      <p:sp>
        <p:nvSpPr>
          <p:cNvPr id="44" name="Paso texto 7"/>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7.</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β-oxidación relativamente ↓</a:t>
            </a:r>
            <a:r>
              <a:rPr lang="es-AR" sz="1600" dirty="0">
                <a:solidFill>
                  <a:srgbClr val="1E1E1E"/>
                </a:solidFill>
                <a:latin typeface="Bahnschrift"/>
                <a:ea typeface="Bahnschrift"/>
                <a:cs typeface="Bahnschrift"/>
                <a:sym typeface="Bahnschrift"/>
              </a:rPr>
              <a:t>: se evita oxidar lo que se está sintetizando.</a:t>
            </a:r>
            <a:endParaRPr lang="es-AR" sz="1600" dirty="0">
              <a:latin typeface="Bahnschrift"/>
            </a:endParaRPr>
          </a:p>
        </p:txBody>
      </p:sp>
      <p:sp>
        <p:nvSpPr>
          <p:cNvPr id="2" name="Etiqueta sección"/>
          <p:cNvSpPr/>
          <p:nvPr/>
        </p:nvSpPr>
        <p:spPr>
          <a:xfrm>
            <a:off x="9756381" y="201168"/>
            <a:ext cx="216099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MALONIL-CoA · ALIMENTADO</a:t>
            </a:r>
            <a:endParaRPr lang="es-AR" sz="1300" dirty="0">
              <a:latin typeface="Bahnschrift SemiBold Condensed"/>
            </a:endParaRPr>
          </a:p>
        </p:txBody>
      </p:sp>
      <p:sp>
        <p:nvSpPr>
          <p:cNvPr id="3" name="Título"/>
          <p:cNvSpPr/>
          <p:nvPr/>
        </p:nvSpPr>
        <p:spPr>
          <a:xfrm>
            <a:off x="274320" y="146304"/>
            <a:ext cx="534689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13 · ESCENARIO 1: ESTADO ALIMENTADO</a:t>
            </a:r>
            <a:endParaRPr lang="es-AR" sz="2600" dirty="0">
              <a:latin typeface="Bahnschrift SemiBold Condensed"/>
            </a:endParaRPr>
          </a:p>
        </p:txBody>
      </p:sp>
      <p:sp>
        <p:nvSpPr>
          <p:cNvPr id="4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8"/>
                                        </p:tgtEl>
                                        <p:attrNameLst>
                                          <p:attrName>style.visibility</p:attrName>
                                        </p:attrNameLst>
                                      </p:cBhvr>
                                      <p:to>
                                        <p:strVal val="visible"/>
                                      </p:to>
                                    </p:set>
                                    <p:animEffect transition="in" filter="fade">
                                      <p:cBhvr>
                                        <p:cTn id="5" dur="500"/>
                                        <p:tgtEl>
                                          <p:spTgt spid="38"/>
                                        </p:tgtEl>
                                      </p:cBhvr>
                                    </p:animEffect>
                                  </p:childTnLst>
                                </p:cTn>
                              </p:par>
                            </p:childTnLst>
                          </p:cTn>
                        </p:par>
                        <p:par>
                          <p:cTn id="13"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8"/>
                                        </p:tgtEl>
                                        <p:attrNameLst>
                                          <p:attrName>style.visibility</p:attrName>
                                        </p:attrNameLst>
                                      </p:cBhvr>
                                      <p:to>
                                        <p:strVal val="visible"/>
                                      </p:to>
                                    </p:set>
                                    <p:animEffect transition="in" filter="fade">
                                      <p:cBhvr>
                                        <p:cTn id="9" dur="500"/>
                                        <p:tgtEl>
                                          <p:spTgt spid="1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28" fill="hold">
                      <p:stCondLst>
                        <p:cond delay="indefinite"/>
                      </p:stCondLst>
                      <p:childTnLst>
                        <p:par>
                          <p:cTn id="24" fill="hold">
                            <p:stCondLst>
                              <p:cond delay="0"/>
                            </p:stCondLst>
                            <p:childTnLst>
                              <p:par>
                                <p:cTn id="15" presetID="10" presetClass="exit" presetSubtype="0" fill="hold" grpId="0" nodeType="clickEffect">
                                  <p:stCondLst>
                                    <p:cond delay="0"/>
                                  </p:stCondLst>
                                  <p:childTnLst>
                                    <p:animEffect transition="out" filter="fade">
                                      <p:cBhvr>
                                        <p:cTn id="16" dur="200"/>
                                        <p:tgtEl>
                                          <p:spTgt spid="38"/>
                                        </p:tgtEl>
                                      </p:cBhvr>
                                    </p:animEffect>
                                    <p:set>
                                      <p:cBhvr>
                                        <p:cTn id="17" dur="1" fill="hold">
                                          <p:stCondLst>
                                            <p:cond delay="199"/>
                                          </p:stCondLst>
                                        </p:cTn>
                                        <p:tgtEl>
                                          <p:spTgt spid="38"/>
                                        </p:tgtEl>
                                        <p:attrNameLst>
                                          <p:attrName>style.visibility</p:attrName>
                                        </p:attrNameLst>
                                      </p:cBhvr>
                                      <p:to>
                                        <p:strVal val="hidden"/>
                                      </p:to>
                                    </p:set>
                                  </p:childTnLst>
                                </p:cTn>
                              </p:par>
                              <p:par>
                                <p:cTn id="18" presetID="10" presetClass="entr" presetSubtype="0" fill="hold" grpId="0" nodeType="with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fade">
                                      <p:cBhvr>
                                        <p:cTn id="20" dur="500"/>
                                        <p:tgtEl>
                                          <p:spTgt spid="3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7" fill="hold">
                            <p:stCondLst>
                              <p:cond delay="500"/>
                            </p:stCondLst>
                            <p:childTnLst>
                              <p:par>
                                <p:cTn id="25" presetID="6" presetClass="emph" presetSubtype="0" fill="hold" grpId="0" nodeType="afterEffect">
                                  <p:stCondLst>
                                    <p:cond delay="0"/>
                                  </p:stCondLst>
                                  <p:childTnLst>
                                    <p:animScale>
                                      <p:cBhvr>
                                        <p:cTn id="26" dur="300" autoRev="1" fill="hold"/>
                                        <p:tgtEl>
                                          <p:spTgt spid="14"/>
                                        </p:tgtEl>
                                      </p:cBhvr>
                                      <p:by x="112000" y="112000"/>
                                    </p:animScale>
                                  </p:childTnLst>
                                </p:cTn>
                              </p:par>
                            </p:childTnLst>
                          </p:cTn>
                        </p:par>
                      </p:childTnLst>
                    </p:cTn>
                  </p:par>
                  <p:par>
                    <p:cTn id="38" fill="hold">
                      <p:stCondLst>
                        <p:cond delay="indefinite"/>
                      </p:stCondLst>
                      <p:childTnLst>
                        <p:par>
                          <p:cTn id="37" fill="hold">
                            <p:stCondLst>
                              <p:cond delay="0"/>
                            </p:stCondLst>
                            <p:childTnLst>
                              <p:par>
                                <p:cTn id="29" presetID="10" presetClass="exit" presetSubtype="0" fill="hold" grpId="0" nodeType="clickEffect">
                                  <p:stCondLst>
                                    <p:cond delay="0"/>
                                  </p:stCondLst>
                                  <p:childTnLst>
                                    <p:animEffect transition="out" filter="fade">
                                      <p:cBhvr>
                                        <p:cTn id="30" dur="200"/>
                                        <p:tgtEl>
                                          <p:spTgt spid="39"/>
                                        </p:tgtEl>
                                      </p:cBhvr>
                                    </p:animEffect>
                                    <p:set>
                                      <p:cBhvr>
                                        <p:cTn id="31" dur="1" fill="hold">
                                          <p:stCondLst>
                                            <p:cond delay="199"/>
                                          </p:stCondLst>
                                        </p:cTn>
                                        <p:tgtEl>
                                          <p:spTgt spid="39"/>
                                        </p:tgtEl>
                                        <p:attrNameLst>
                                          <p:attrName>style.visibility</p:attrName>
                                        </p:attrNameLst>
                                      </p:cBhvr>
                                      <p:to>
                                        <p:strVal val="hidden"/>
                                      </p:to>
                                    </p:set>
                                  </p:childTnLst>
                                </p:cTn>
                              </p:par>
                              <p:par>
                                <p:cTn id="32" presetID="10" presetClass="entr" presetSubtype="0"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6" presetClass="emph" presetSubtype="0" fill="hold" grpId="0" nodeType="withEffect">
                                  <p:stCondLst>
                                    <p:cond delay="0"/>
                                  </p:stCondLst>
                                  <p:childTnLst>
                                    <p:animScale>
                                      <p:cBhvr>
                                        <p:cTn id="36" dur="300" autoRev="1" fill="hold"/>
                                        <p:tgtEl>
                                          <p:spTgt spid="14"/>
                                        </p:tgtEl>
                                      </p:cBhvr>
                                      <p:by x="112000" y="112000"/>
                                    </p:animScale>
                                  </p:childTnLst>
                                </p:cTn>
                              </p:par>
                            </p:childTnLst>
                          </p:cTn>
                        </p:par>
                      </p:childTnLst>
                    </p:cTn>
                  </p:par>
                  <p:par>
                    <p:cTn id="80" fill="hold">
                      <p:stCondLst>
                        <p:cond delay="indefinite"/>
                      </p:stCondLst>
                      <p:childTnLst>
                        <p:par>
                          <p:cTn id="45" fill="hold">
                            <p:stCondLst>
                              <p:cond delay="0"/>
                            </p:stCondLst>
                            <p:childTnLst>
                              <p:par>
                                <p:cTn id="39" presetID="10" presetClass="exit" presetSubtype="0" fill="hold" grpId="0" nodeType="clickEffect">
                                  <p:stCondLst>
                                    <p:cond delay="0"/>
                                  </p:stCondLst>
                                  <p:childTnLst>
                                    <p:animEffect transition="out" filter="fade">
                                      <p:cBhvr>
                                        <p:cTn id="40" dur="200"/>
                                        <p:tgtEl>
                                          <p:spTgt spid="40"/>
                                        </p:tgtEl>
                                      </p:cBhvr>
                                    </p:animEffect>
                                    <p:set>
                                      <p:cBhvr>
                                        <p:cTn id="41" dur="1" fill="hold">
                                          <p:stCondLst>
                                            <p:cond delay="199"/>
                                          </p:stCondLst>
                                        </p:cTn>
                                        <p:tgtEl>
                                          <p:spTgt spid="40"/>
                                        </p:tgtEl>
                                        <p:attrNameLst>
                                          <p:attrName>style.visibility</p:attrName>
                                        </p:attrNameLst>
                                      </p:cBhvr>
                                      <p:to>
                                        <p:strVal val="hidden"/>
                                      </p:to>
                                    </p:set>
                                  </p:childTnLst>
                                </p:cTn>
                              </p:par>
                              <p:par>
                                <p:cTn id="42" presetID="10" presetClass="entr" presetSubtype="0" fill="hold" grpId="0" nodeType="withEffect">
                                  <p:stCondLst>
                                    <p:cond delay="0"/>
                                  </p:stCondLst>
                                  <p:childTnLst>
                                    <p:set>
                                      <p:cBhvr>
                                        <p:cTn id="43" dur="1" fill="hold">
                                          <p:stCondLst>
                                            <p:cond delay="0"/>
                                          </p:stCondLst>
                                        </p:cTn>
                                        <p:tgtEl>
                                          <p:spTgt spid="41"/>
                                        </p:tgtEl>
                                        <p:attrNameLst>
                                          <p:attrName>style.visibility</p:attrName>
                                        </p:attrNameLst>
                                      </p:cBhvr>
                                      <p:to>
                                        <p:strVal val="visible"/>
                                      </p:to>
                                    </p:set>
                                    <p:animEffect transition="in" filter="fade">
                                      <p:cBhvr>
                                        <p:cTn id="44" dur="500"/>
                                        <p:tgtEl>
                                          <p:spTgt spid="41"/>
                                        </p:tgtEl>
                                      </p:cBhvr>
                                    </p:animEffect>
                                  </p:childTnLst>
                                </p:cTn>
                              </p:par>
                            </p:childTnLst>
                          </p:cTn>
                        </p:par>
                        <p:par>
                          <p:cTn id="71" fill="hold">
                            <p:stCondLst>
                              <p:cond delay="500"/>
                            </p:stCondLst>
                            <p:childTnLst>
                              <p:par>
                                <p:cTn id="46" presetID="53" presetClass="entr" presetSubtype="16" fill="hold" grpId="0" nodeType="afterEffect">
                                  <p:stCondLst>
                                    <p:cond delay="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p:cTn id="53" dur="500" fill="hold"/>
                                        <p:tgtEl>
                                          <p:spTgt spid="22"/>
                                        </p:tgtEl>
                                        <p:attrNameLst>
                                          <p:attrName>ppt_w</p:attrName>
                                        </p:attrNameLst>
                                      </p:cBhvr>
                                      <p:tavLst>
                                        <p:tav tm="0">
                                          <p:val>
                                            <p:fltVal val="0"/>
                                          </p:val>
                                        </p:tav>
                                        <p:tav tm="100000">
                                          <p:val>
                                            <p:strVal val="#ppt_w"/>
                                          </p:val>
                                        </p:tav>
                                      </p:tavLst>
                                    </p:anim>
                                    <p:anim calcmode="lin" valueType="num">
                                      <p:cBhvr>
                                        <p:cTn id="54" dur="500" fill="hold"/>
                                        <p:tgtEl>
                                          <p:spTgt spid="22"/>
                                        </p:tgtEl>
                                        <p:attrNameLst>
                                          <p:attrName>ppt_h</p:attrName>
                                        </p:attrNameLst>
                                      </p:cBhvr>
                                      <p:tavLst>
                                        <p:tav tm="0">
                                          <p:val>
                                            <p:fltVal val="0"/>
                                          </p:val>
                                        </p:tav>
                                        <p:tav tm="100000">
                                          <p:val>
                                            <p:strVal val="#ppt_h"/>
                                          </p:val>
                                        </p:tav>
                                      </p:tavLst>
                                    </p:anim>
                                    <p:animEffect transition="in" filter="fade">
                                      <p:cBhvr>
                                        <p:cTn id="55" dur="500"/>
                                        <p:tgtEl>
                                          <p:spTgt spid="22"/>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Effect transition="in" filter="fade">
                                      <p:cBhvr>
                                        <p:cTn id="65" dur="500"/>
                                        <p:tgtEl>
                                          <p:spTgt spid="24"/>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25"/>
                                        </p:tgtEl>
                                        <p:attrNameLst>
                                          <p:attrName>style.visibility</p:attrName>
                                        </p:attrNameLst>
                                      </p:cBhvr>
                                      <p:to>
                                        <p:strVal val="visible"/>
                                      </p:to>
                                    </p:set>
                                    <p:anim calcmode="lin" valueType="num">
                                      <p:cBhvr>
                                        <p:cTn id="68" dur="500" fill="hold"/>
                                        <p:tgtEl>
                                          <p:spTgt spid="25"/>
                                        </p:tgtEl>
                                        <p:attrNameLst>
                                          <p:attrName>ppt_w</p:attrName>
                                        </p:attrNameLst>
                                      </p:cBhvr>
                                      <p:tavLst>
                                        <p:tav tm="0">
                                          <p:val>
                                            <p:fltVal val="0"/>
                                          </p:val>
                                        </p:tav>
                                        <p:tav tm="100000">
                                          <p:val>
                                            <p:strVal val="#ppt_w"/>
                                          </p:val>
                                        </p:tav>
                                      </p:tavLst>
                                    </p:anim>
                                    <p:anim calcmode="lin" valueType="num">
                                      <p:cBhvr>
                                        <p:cTn id="69" dur="500" fill="hold"/>
                                        <p:tgtEl>
                                          <p:spTgt spid="25"/>
                                        </p:tgtEl>
                                        <p:attrNameLst>
                                          <p:attrName>ppt_h</p:attrName>
                                        </p:attrNameLst>
                                      </p:cBhvr>
                                      <p:tavLst>
                                        <p:tav tm="0">
                                          <p:val>
                                            <p:fltVal val="0"/>
                                          </p:val>
                                        </p:tav>
                                        <p:tav tm="100000">
                                          <p:val>
                                            <p:strVal val="#ppt_h"/>
                                          </p:val>
                                        </p:tav>
                                      </p:tavLst>
                                    </p:anim>
                                    <p:animEffect transition="in" filter="fade">
                                      <p:cBhvr>
                                        <p:cTn id="70" dur="500"/>
                                        <p:tgtEl>
                                          <p:spTgt spid="25"/>
                                        </p:tgtEl>
                                      </p:cBhvr>
                                    </p:animEffect>
                                  </p:childTnLst>
                                </p:cTn>
                              </p:par>
                            </p:childTnLst>
                          </p:cTn>
                        </p:par>
                        <p:par>
                          <p:cTn id="75" fill="hold">
                            <p:stCondLst>
                              <p:cond delay="1000"/>
                            </p:stCondLst>
                            <p:childTnLst>
                              <p:par>
                                <p:cTn id="72" presetID="22" presetClass="entr" presetSubtype="1" fill="hold" grpId="0" nodeType="afterEffect">
                                  <p:stCondLst>
                                    <p:cond delay="0"/>
                                  </p:stCondLst>
                                  <p:childTnLst>
                                    <p:set>
                                      <p:cBhvr>
                                        <p:cTn id="73" dur="1" fill="hold">
                                          <p:stCondLst>
                                            <p:cond delay="0"/>
                                          </p:stCondLst>
                                        </p:cTn>
                                        <p:tgtEl>
                                          <p:spTgt spid="34"/>
                                        </p:tgtEl>
                                        <p:attrNameLst>
                                          <p:attrName>style.visibility</p:attrName>
                                        </p:attrNameLst>
                                      </p:cBhvr>
                                      <p:to>
                                        <p:strVal val="visible"/>
                                      </p:to>
                                    </p:set>
                                    <p:animEffect transition="in" filter="wipe(up)">
                                      <p:cBhvr>
                                        <p:cTn id="74" dur="600"/>
                                        <p:tgtEl>
                                          <p:spTgt spid="34"/>
                                        </p:tgtEl>
                                      </p:cBhvr>
                                    </p:animEffect>
                                  </p:childTnLst>
                                </p:cTn>
                              </p:par>
                            </p:childTnLst>
                          </p:cTn>
                        </p:par>
                        <p:par>
                          <p:cTn id="79" fill="hold">
                            <p:stCondLst>
                              <p:cond delay="1600"/>
                            </p:stCondLst>
                            <p:childTnLst>
                              <p:par>
                                <p:cTn id="76" presetID="10" presetClass="entr" presetSubtype="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childTnLst>
                    </p:cTn>
                  </p:par>
                  <p:par>
                    <p:cTn id="94" fill="hold">
                      <p:stCondLst>
                        <p:cond delay="indefinite"/>
                      </p:stCondLst>
                      <p:childTnLst>
                        <p:par>
                          <p:cTn id="90" fill="hold">
                            <p:stCondLst>
                              <p:cond delay="0"/>
                            </p:stCondLst>
                            <p:childTnLst>
                              <p:par>
                                <p:cTn id="81" presetID="10" presetClass="exit" presetSubtype="0" fill="hold" grpId="0" nodeType="clickEffect">
                                  <p:stCondLst>
                                    <p:cond delay="0"/>
                                  </p:stCondLst>
                                  <p:childTnLst>
                                    <p:animEffect transition="out" filter="fade">
                                      <p:cBhvr>
                                        <p:cTn id="82" dur="200"/>
                                        <p:tgtEl>
                                          <p:spTgt spid="41"/>
                                        </p:tgtEl>
                                      </p:cBhvr>
                                    </p:animEffect>
                                    <p:set>
                                      <p:cBhvr>
                                        <p:cTn id="83" dur="1" fill="hold">
                                          <p:stCondLst>
                                            <p:cond delay="199"/>
                                          </p:stCondLst>
                                        </p:cTn>
                                        <p:tgtEl>
                                          <p:spTgt spid="41"/>
                                        </p:tgtEl>
                                        <p:attrNameLst>
                                          <p:attrName>style.visibility</p:attrName>
                                        </p:attrNameLst>
                                      </p:cBhvr>
                                      <p:to>
                                        <p:strVal val="hidden"/>
                                      </p:to>
                                    </p:set>
                                  </p:childTnLst>
                                </p:cTn>
                              </p:par>
                              <p:par>
                                <p:cTn id="84" presetID="10" presetClass="entr" presetSubtype="0" fill="hold" grpId="0" nodeType="withEffect">
                                  <p:stCondLst>
                                    <p:cond delay="0"/>
                                  </p:stCondLst>
                                  <p:childTnLst>
                                    <p:set>
                                      <p:cBhvr>
                                        <p:cTn id="85" dur="1" fill="hold">
                                          <p:stCondLst>
                                            <p:cond delay="0"/>
                                          </p:stCondLst>
                                        </p:cTn>
                                        <p:tgtEl>
                                          <p:spTgt spid="42"/>
                                        </p:tgtEl>
                                        <p:attrNameLst>
                                          <p:attrName>style.visibility</p:attrName>
                                        </p:attrNameLst>
                                      </p:cBhvr>
                                      <p:to>
                                        <p:strVal val="visible"/>
                                      </p:to>
                                    </p:set>
                                    <p:animEffect transition="in" filter="fade">
                                      <p:cBhvr>
                                        <p:cTn id="86" dur="500"/>
                                        <p:tgtEl>
                                          <p:spTgt spid="42"/>
                                        </p:tgtEl>
                                      </p:cBhvr>
                                    </p:animEffect>
                                  </p:childTnLst>
                                </p:cTn>
                              </p:par>
                              <p:par>
                                <p:cTn id="87" presetID="22" presetClass="entr" presetSubtype="8" fill="hold" grpId="0" nodeType="withEffect">
                                  <p:stCondLst>
                                    <p:cond delay="0"/>
                                  </p:stCondLst>
                                  <p:childTnLst>
                                    <p:set>
                                      <p:cBhvr>
                                        <p:cTn id="88" dur="1" fill="hold">
                                          <p:stCondLst>
                                            <p:cond delay="0"/>
                                          </p:stCondLst>
                                        </p:cTn>
                                        <p:tgtEl>
                                          <p:spTgt spid="35"/>
                                        </p:tgtEl>
                                        <p:attrNameLst>
                                          <p:attrName>style.visibility</p:attrName>
                                        </p:attrNameLst>
                                      </p:cBhvr>
                                      <p:to>
                                        <p:strVal val="visible"/>
                                      </p:to>
                                    </p:set>
                                    <p:animEffect transition="in" filter="wipe(left)">
                                      <p:cBhvr>
                                        <p:cTn id="89" dur="600"/>
                                        <p:tgtEl>
                                          <p:spTgt spid="35"/>
                                        </p:tgtEl>
                                      </p:cBhvr>
                                    </p:animEffect>
                                  </p:childTnLst>
                                </p:cTn>
                              </p:par>
                            </p:childTnLst>
                          </p:cTn>
                        </p:par>
                        <p:par>
                          <p:cTn id="93" fill="hold">
                            <p:stCondLst>
                              <p:cond delay="600"/>
                            </p:stCondLst>
                            <p:childTnLst>
                              <p:par>
                                <p:cTn id="91" presetID="6" presetClass="emph" presetSubtype="0" fill="hold" grpId="0" nodeType="afterEffect">
                                  <p:stCondLst>
                                    <p:cond delay="0"/>
                                  </p:stCondLst>
                                  <p:childTnLst>
                                    <p:animScale>
                                      <p:cBhvr>
                                        <p:cTn id="92" dur="300" autoRev="1" fill="hold"/>
                                        <p:tgtEl>
                                          <p:spTgt spid="8"/>
                                        </p:tgtEl>
                                      </p:cBhvr>
                                      <p:by x="112000" y="112000"/>
                                    </p:animScale>
                                  </p:childTnLst>
                                </p:cTn>
                              </p:par>
                            </p:childTnLst>
                          </p:cTn>
                        </p:par>
                      </p:childTnLst>
                    </p:cTn>
                  </p:par>
                  <p:par>
                    <p:cTn id="112" fill="hold">
                      <p:stCondLst>
                        <p:cond delay="indefinite"/>
                      </p:stCondLst>
                      <p:childTnLst>
                        <p:par>
                          <p:cTn id="107" fill="hold">
                            <p:stCondLst>
                              <p:cond delay="0"/>
                            </p:stCondLst>
                            <p:childTnLst>
                              <p:par>
                                <p:cTn id="95" presetID="10" presetClass="exit" presetSubtype="0" fill="hold" grpId="0" nodeType="clickEffect">
                                  <p:stCondLst>
                                    <p:cond delay="0"/>
                                  </p:stCondLst>
                                  <p:childTnLst>
                                    <p:animEffect transition="out" filter="fade">
                                      <p:cBhvr>
                                        <p:cTn id="96" dur="200"/>
                                        <p:tgtEl>
                                          <p:spTgt spid="42"/>
                                        </p:tgtEl>
                                      </p:cBhvr>
                                    </p:animEffect>
                                    <p:set>
                                      <p:cBhvr>
                                        <p:cTn id="97" dur="1" fill="hold">
                                          <p:stCondLst>
                                            <p:cond delay="199"/>
                                          </p:stCondLst>
                                        </p:cTn>
                                        <p:tgtEl>
                                          <p:spTgt spid="42"/>
                                        </p:tgtEl>
                                        <p:attrNameLst>
                                          <p:attrName>style.visibility</p:attrName>
                                        </p:attrNameLst>
                                      </p:cBhvr>
                                      <p:to>
                                        <p:strVal val="hidden"/>
                                      </p:to>
                                    </p:set>
                                  </p:childTnLst>
                                </p:cTn>
                              </p:par>
                              <p:par>
                                <p:cTn id="98" presetID="10" presetClass="entr" presetSubtype="0" fill="hold" grpId="0" nodeType="withEffect">
                                  <p:stCondLst>
                                    <p:cond delay="0"/>
                                  </p:stCondLst>
                                  <p:childTnLst>
                                    <p:set>
                                      <p:cBhvr>
                                        <p:cTn id="99" dur="1" fill="hold">
                                          <p:stCondLst>
                                            <p:cond delay="0"/>
                                          </p:stCondLst>
                                        </p:cTn>
                                        <p:tgtEl>
                                          <p:spTgt spid="43"/>
                                        </p:tgtEl>
                                        <p:attrNameLst>
                                          <p:attrName>style.visibility</p:attrName>
                                        </p:attrNameLst>
                                      </p:cBhvr>
                                      <p:to>
                                        <p:strVal val="visible"/>
                                      </p:to>
                                    </p:set>
                                    <p:animEffect transition="in" filter="fade">
                                      <p:cBhvr>
                                        <p:cTn id="100" dur="500"/>
                                        <p:tgtEl>
                                          <p:spTgt spid="43"/>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fade">
                                      <p:cBhvr>
                                        <p:cTn id="103" dur="500"/>
                                        <p:tgtEl>
                                          <p:spTgt spid="27"/>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Effect transition="in" filter="fade">
                                      <p:cBhvr>
                                        <p:cTn id="106" dur="500"/>
                                        <p:tgtEl>
                                          <p:spTgt spid="30"/>
                                        </p:tgtEl>
                                      </p:cBhvr>
                                    </p:animEffect>
                                  </p:childTnLst>
                                </p:cTn>
                              </p:par>
                            </p:childTnLst>
                          </p:cTn>
                        </p:par>
                        <p:par>
                          <p:cTn id="111" fill="hold">
                            <p:stCondLst>
                              <p:cond delay="500"/>
                            </p:stCondLst>
                            <p:childTnLst>
                              <p:par>
                                <p:cTn id="108" presetID="10" presetClass="entr" presetSubtype="0" fill="hold" grpId="0" nodeType="after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fade">
                                      <p:cBhvr>
                                        <p:cTn id="110" dur="500"/>
                                        <p:tgtEl>
                                          <p:spTgt spid="33"/>
                                        </p:tgtEl>
                                      </p:cBhvr>
                                    </p:animEffect>
                                  </p:childTnLst>
                                </p:cTn>
                              </p:par>
                            </p:childTnLst>
                          </p:cTn>
                        </p:par>
                      </p:childTnLst>
                    </p:cTn>
                  </p:par>
                  <p:par>
                    <p:cTn id="122" fill="hold">
                      <p:stCondLst>
                        <p:cond delay="indefinite"/>
                      </p:stCondLst>
                      <p:childTnLst>
                        <p:par>
                          <p:cTn id="121" fill="hold">
                            <p:stCondLst>
                              <p:cond delay="0"/>
                            </p:stCondLst>
                            <p:childTnLst>
                              <p:par>
                                <p:cTn id="113" presetID="10" presetClass="exit" presetSubtype="0" fill="hold" grpId="0" nodeType="clickEffect">
                                  <p:stCondLst>
                                    <p:cond delay="0"/>
                                  </p:stCondLst>
                                  <p:childTnLst>
                                    <p:animEffect transition="out" filter="fade">
                                      <p:cBhvr>
                                        <p:cTn id="114" dur="200"/>
                                        <p:tgtEl>
                                          <p:spTgt spid="43"/>
                                        </p:tgtEl>
                                      </p:cBhvr>
                                    </p:animEffect>
                                    <p:set>
                                      <p:cBhvr>
                                        <p:cTn id="115" dur="1" fill="hold">
                                          <p:stCondLst>
                                            <p:cond delay="199"/>
                                          </p:stCondLst>
                                        </p:cTn>
                                        <p:tgtEl>
                                          <p:spTgt spid="43"/>
                                        </p:tgtEl>
                                        <p:attrNameLst>
                                          <p:attrName>style.visibility</p:attrName>
                                        </p:attrNameLst>
                                      </p:cBhvr>
                                      <p:to>
                                        <p:strVal val="hidden"/>
                                      </p:to>
                                    </p:set>
                                  </p:childTnLst>
                                </p:cTn>
                              </p:par>
                              <p:par>
                                <p:cTn id="116" presetID="10" presetClass="entr" presetSubtype="0" fill="hold" grpId="0" nodeType="withEffect">
                                  <p:stCondLst>
                                    <p:cond delay="0"/>
                                  </p:stCondLst>
                                  <p:childTnLst>
                                    <p:set>
                                      <p:cBhvr>
                                        <p:cTn id="117" dur="1" fill="hold">
                                          <p:stCondLst>
                                            <p:cond delay="0"/>
                                          </p:stCondLst>
                                        </p:cTn>
                                        <p:tgtEl>
                                          <p:spTgt spid="44"/>
                                        </p:tgtEl>
                                        <p:attrNameLst>
                                          <p:attrName>style.visibility</p:attrName>
                                        </p:attrNameLst>
                                      </p:cBhvr>
                                      <p:to>
                                        <p:strVal val="visible"/>
                                      </p:to>
                                    </p:set>
                                    <p:animEffect transition="in" filter="fade">
                                      <p:cBhvr>
                                        <p:cTn id="118" dur="500"/>
                                        <p:tgtEl>
                                          <p:spTgt spid="44"/>
                                        </p:tgtEl>
                                      </p:cBhvr>
                                    </p:animEffect>
                                  </p:childTnLst>
                                </p:cTn>
                              </p:par>
                              <p:par>
                                <p:cTn id="119" presetID="6" presetClass="emph" presetSubtype="0" fill="hold" grpId="0" nodeType="withEffect">
                                  <p:stCondLst>
                                    <p:cond delay="0"/>
                                  </p:stCondLst>
                                  <p:childTnLst>
                                    <p:animScale>
                                      <p:cBhvr>
                                        <p:cTn id="120" dur="300" autoRev="1" fill="hold"/>
                                        <p:tgtEl>
                                          <p:spTgt spid="16"/>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8" grpId="0" animBg="1"/>
      <p:bldP spid="19" grpId="0" animBg="1"/>
      <p:bldP spid="39" grpId="0" animBg="1"/>
      <p:bldP spid="20" grpId="0" animBg="1"/>
      <p:bldP spid="14" grpId="0" animBg="1"/>
      <p:bldP spid="40" grpId="0" animBg="1"/>
      <p:bldP spid="41" grpId="0" animBg="1"/>
      <p:bldP spid="21" grpId="0" animBg="1"/>
      <p:bldP spid="22" grpId="0" animBg="1"/>
      <p:bldP spid="23" grpId="0" animBg="1"/>
      <p:bldP spid="24" grpId="0" animBg="1"/>
      <p:bldP spid="25" grpId="0" animBg="1"/>
      <p:bldP spid="34" grpId="0" animBg="1"/>
      <p:bldP spid="26" grpId="0" animBg="1"/>
      <p:bldP spid="42" grpId="0" animBg="1"/>
      <p:bldP spid="43" grpId="0" animBg="1"/>
      <p:bldP spid="33" grpId="0" animBg="1"/>
      <p:bldP spid="44" grpId="0" animBg="1"/>
      <p:bldP spid="16" grpId="0" animBg="1"/>
    </p:bldLst>
  </p:timing>
</p:sld>
</file>

<file path=ppt/slides/slide91.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Citosol"/>
          <p:cNvSpPr/>
          <p:nvPr/>
        </p:nvSpPr>
        <p:spPr>
          <a:xfrm>
            <a:off x="274320" y="960120"/>
            <a:ext cx="6035040" cy="4434840"/>
          </a:xfrm>
          <a:prstGeom prst="rect">
            <a:avLst/>
          </a:prstGeom>
          <a:solidFill>
            <a:srgbClr val="FFFFFF">
              <a:alpha val="35000"/>
            </a:srgbClr>
          </a:solidFill>
          <a:ln w="12700" cap="rnd">
            <a:solidFill>
              <a:srgbClr val="1E1E1E"/>
            </a:solidFill>
            <a:round/>
          </a:ln>
        </p:spPr>
      </p:sp>
      <p:sp>
        <p:nvSpPr>
          <p:cNvPr id="5" name="!!Rótulo citosol"/>
          <p:cNvSpPr txBox="1"/>
          <p:nvPr/>
        </p:nvSpPr>
        <p:spPr>
          <a:xfrm>
            <a:off x="365760" y="987552"/>
            <a:ext cx="2743200" cy="292608"/>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CITOSOL</a:t>
            </a:r>
            <a:endParaRPr lang="es-AR" sz="1250" dirty="0">
              <a:latin typeface="Bahnschrift SemiBold Condensed"/>
            </a:endParaRPr>
          </a:p>
        </p:txBody>
      </p:sp>
      <p:sp>
        <p:nvSpPr>
          <p:cNvPr id="6" name="!!Mitocondria"/>
          <p:cNvSpPr/>
          <p:nvPr/>
        </p:nvSpPr>
        <p:spPr>
          <a:xfrm>
            <a:off x="6675120" y="1143000"/>
            <a:ext cx="5120640" cy="4114800"/>
          </a:xfrm>
          <a:prstGeom prst="ellipse">
            <a:avLst/>
          </a:prstGeom>
          <a:solidFill>
            <a:srgbClr val="F8C471">
              <a:alpha val="75000"/>
            </a:srgbClr>
          </a:solidFill>
          <a:ln w="38100" cap="rnd">
            <a:solidFill>
              <a:srgbClr val="B9770E"/>
            </a:solidFill>
            <a:round/>
          </a:ln>
          <a:effectLst>
            <a:outerShdw blurRad="63500" dist="38100" dir="2700000" algn="tl" rotWithShape="0">
              <a:srgbClr val="000000">
                <a:alpha val="32000"/>
              </a:srgbClr>
            </a:outerShdw>
          </a:effectLst>
        </p:spPr>
      </p:sp>
      <p:sp>
        <p:nvSpPr>
          <p:cNvPr id="7" name="!!Rótulo mitocondria"/>
          <p:cNvSpPr txBox="1"/>
          <p:nvPr/>
        </p:nvSpPr>
        <p:spPr>
          <a:xfrm>
            <a:off x="7589520" y="1325880"/>
            <a:ext cx="3291840" cy="292608"/>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MITOCONDRIA</a:t>
            </a:r>
            <a:endParaRPr lang="es-AR" sz="1250" dirty="0">
              <a:latin typeface="Bahnschrift SemiBold Condensed"/>
            </a:endParaRPr>
          </a:p>
        </p:txBody>
      </p:sp>
      <p:grpSp>
        <p:nvGrpSpPr>
          <p:cNvPr id="8" name="!!CPT1"/>
          <p:cNvGrpSpPr/>
          <p:nvPr/>
        </p:nvGrpSpPr>
        <p:grpSpPr>
          <a:xfrm>
            <a:off x="6263640" y="2468880"/>
            <a:ext cx="960120" cy="1228954"/>
            <a:chOff x="6263640" y="2468880"/>
            <a:chExt cx="960120" cy="1228954"/>
          </a:xfrm>
        </p:grpSpPr>
        <p:sp>
          <p:nvSpPr>
            <p:cNvPr id="9" name="Forma 8"/>
            <p:cNvSpPr/>
            <p:nvPr/>
          </p:nvSpPr>
          <p:spPr>
            <a:xfrm>
              <a:off x="6340450" y="2468880"/>
              <a:ext cx="806501" cy="288036"/>
            </a:xfrm>
            <a:prstGeom prst="roundRect">
              <a:avLst>
                <a:gd name="adj" fmla="val 40000"/>
              </a:avLst>
            </a:prstGeom>
            <a:solidFill>
              <a:srgbClr val="FAD7A0"/>
            </a:solidFill>
            <a:ln w="12700" cap="rnd">
              <a:solidFill>
                <a:srgbClr val="7D6B50"/>
              </a:solidFill>
              <a:round/>
            </a:ln>
          </p:spPr>
        </p:sp>
        <p:sp>
          <p:nvSpPr>
            <p:cNvPr id="10" name="Forma 9"/>
            <p:cNvSpPr/>
            <p:nvPr/>
          </p:nvSpPr>
          <p:spPr>
            <a:xfrm>
              <a:off x="6263640" y="2756916"/>
              <a:ext cx="960120" cy="249631"/>
            </a:xfrm>
            <a:prstGeom prst="roundRect">
              <a:avLst>
                <a:gd name="adj" fmla="val 40000"/>
              </a:avLst>
            </a:prstGeom>
            <a:solidFill>
              <a:srgbClr val="F5B041"/>
            </a:solidFill>
            <a:ln w="15875" cap="rnd">
              <a:solidFill>
                <a:srgbClr val="7A5820"/>
              </a:solidFill>
              <a:round/>
            </a:ln>
          </p:spPr>
        </p:sp>
        <p:sp>
          <p:nvSpPr>
            <p:cNvPr id="11" name="Forma 10"/>
            <p:cNvSpPr/>
            <p:nvPr/>
          </p:nvSpPr>
          <p:spPr>
            <a:xfrm>
              <a:off x="6263640" y="3160166"/>
              <a:ext cx="960120" cy="249631"/>
            </a:xfrm>
            <a:prstGeom prst="roundRect">
              <a:avLst>
                <a:gd name="adj" fmla="val 40000"/>
              </a:avLst>
            </a:prstGeom>
            <a:solidFill>
              <a:srgbClr val="F5B041"/>
            </a:solidFill>
            <a:ln w="15875" cap="rnd">
              <a:solidFill>
                <a:srgbClr val="7A5820"/>
              </a:solidFill>
              <a:round/>
            </a:ln>
          </p:spPr>
        </p:sp>
        <p:sp>
          <p:nvSpPr>
            <p:cNvPr id="12" name="Forma 11"/>
            <p:cNvSpPr/>
            <p:nvPr/>
          </p:nvSpPr>
          <p:spPr>
            <a:xfrm>
              <a:off x="6340450" y="3409798"/>
              <a:ext cx="806501" cy="288036"/>
            </a:xfrm>
            <a:prstGeom prst="roundRect">
              <a:avLst>
                <a:gd name="adj" fmla="val 40000"/>
              </a:avLst>
            </a:prstGeom>
            <a:solidFill>
              <a:srgbClr val="FAD7A0"/>
            </a:solidFill>
            <a:ln w="12700" cap="rnd">
              <a:solidFill>
                <a:srgbClr val="7D6B50"/>
              </a:solidFill>
              <a:round/>
            </a:ln>
          </p:spPr>
        </p:sp>
      </p:grpSp>
      <p:sp>
        <p:nvSpPr>
          <p:cNvPr id="13" name="!!Rótulo CPT1"/>
          <p:cNvSpPr txBox="1"/>
          <p:nvPr/>
        </p:nvSpPr>
        <p:spPr>
          <a:xfrm>
            <a:off x="5943600" y="2103120"/>
            <a:ext cx="1463040" cy="274320"/>
          </a:xfrm>
          <a:prstGeom prst="rect">
            <a:avLst/>
          </a:prstGeom>
          <a:noFill/>
          <a:ln>
            <a:noFill/>
          </a:ln>
        </p:spPr>
        <p:txBody>
          <a:bodyPr wrap="square" lIns="0" tIns="0" rIns="0" bIns="0" anchor="t" rtlCol="0">
            <a:noAutofit/>
          </a:bodyPr>
          <a:lstStyle/>
          <a:p>
            <a:pPr algn="ctr">
              <a:spcAft>
                <a:spcPts val="300"/>
              </a:spcAft>
              <a:buNone/>
            </a:pPr>
            <a:r>
              <a:rPr lang="es-AR" sz="1400" b="1" dirty="0">
                <a:solidFill>
                  <a:srgbClr val="7E5109"/>
                </a:solidFill>
                <a:latin typeface="Bahnschrift SemiBold Condensed"/>
                <a:ea typeface="Bahnschrift SemiBold Condensed"/>
                <a:cs typeface="Bahnschrift SemiBold Condensed"/>
                <a:sym typeface="Bahnschrift SemiBold Condensed"/>
              </a:rPr>
              <a:t>CPT1</a:t>
            </a:r>
            <a:endParaRPr lang="es-AR" sz="1400" dirty="0">
              <a:latin typeface="Bahnschrift SemiBold Condensed"/>
            </a:endParaRPr>
          </a:p>
        </p:txBody>
      </p:sp>
      <p:sp>
        <p:nvSpPr>
          <p:cNvPr id="14" name="!!ACC"/>
          <p:cNvSpPr/>
          <p:nvPr/>
        </p:nvSpPr>
        <p:spPr>
          <a:xfrm>
            <a:off x="1828800" y="2286000"/>
            <a:ext cx="1554480" cy="685800"/>
          </a:xfrm>
          <a:prstGeom prst="roundRect">
            <a:avLst/>
          </a:prstGeom>
          <a:gradFill rotWithShape="1">
            <a:gsLst>
              <a:gs pos="0">
                <a:srgbClr val="D4D8DA"/>
              </a:gs>
              <a:gs pos="55000">
                <a:srgbClr val="BDC3C7"/>
              </a:gs>
              <a:gs pos="100000">
                <a:srgbClr val="979C9F"/>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ACC–P inactiva</a:t>
            </a:r>
            <a:endParaRPr lang="es-AR" sz="1400" dirty="0">
              <a:latin typeface="Bahnschrift SemiBold Condensed"/>
            </a:endParaRPr>
          </a:p>
        </p:txBody>
      </p:sp>
      <p:sp>
        <p:nvSpPr>
          <p:cNvPr id="15" name="!!Fondo indicador"/>
          <p:cNvSpPr/>
          <p:nvPr/>
        </p:nvSpPr>
        <p:spPr>
          <a:xfrm>
            <a:off x="7680960" y="3429000"/>
            <a:ext cx="3108960" cy="365760"/>
          </a:xfrm>
          <a:prstGeom prst="rect">
            <a:avLst/>
          </a:prstGeom>
          <a:solidFill>
            <a:srgbClr val="FFFFFF">
              <a:alpha val="70000"/>
            </a:srgbClr>
          </a:solidFill>
          <a:ln w="12700" cap="rnd">
            <a:solidFill>
              <a:srgbClr val="1E1E1E"/>
            </a:solidFill>
            <a:round/>
          </a:ln>
        </p:spPr>
      </p:sp>
      <p:sp>
        <p:nvSpPr>
          <p:cNvPr id="16" name="!!Barra beta-ox"/>
          <p:cNvSpPr/>
          <p:nvPr/>
        </p:nvSpPr>
        <p:spPr>
          <a:xfrm>
            <a:off x="7699248" y="3447288"/>
            <a:ext cx="3072384" cy="329184"/>
          </a:xfrm>
          <a:prstGeom prst="rect">
            <a:avLst/>
          </a:prstGeom>
          <a:gradFill rotWithShape="1">
            <a:gsLst>
              <a:gs pos="0">
                <a:srgbClr val="F9E79F"/>
              </a:gs>
              <a:gs pos="100000">
                <a:srgbClr val="E67E22"/>
              </a:gs>
            </a:gsLst>
            <a:lin ang="0" scaled="0"/>
          </a:gradFill>
          <a:ln>
            <a:noFill/>
          </a:ln>
        </p:spPr>
      </p:sp>
      <p:sp>
        <p:nvSpPr>
          <p:cNvPr id="17" name="!!Rótulo flujo"/>
          <p:cNvSpPr txBox="1"/>
          <p:nvPr/>
        </p:nvSpPr>
        <p:spPr>
          <a:xfrm>
            <a:off x="7680960" y="3017520"/>
            <a:ext cx="3108960" cy="36576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flujo de β-oxidación</a:t>
            </a:r>
            <a:endParaRPr lang="es-AR" sz="1300" dirty="0">
              <a:latin typeface="Bahnschrift SemiBold Condensed"/>
            </a:endParaRPr>
          </a:p>
        </p:txBody>
      </p:sp>
      <p:sp>
        <p:nvSpPr>
          <p:cNvPr id="18" name="!!AMPK"/>
          <p:cNvSpPr/>
          <p:nvPr/>
        </p:nvSpPr>
        <p:spPr>
          <a:xfrm>
            <a:off x="457200" y="1417320"/>
            <a:ext cx="1463040" cy="594360"/>
          </a:xfrm>
          <a:prstGeom prst="roundRect">
            <a:avLst/>
          </a:prstGeom>
          <a:gradFill rotWithShape="1">
            <a:gsLst>
              <a:gs pos="0">
                <a:srgbClr val="EF8A80"/>
              </a:gs>
              <a:gs pos="55000">
                <a:srgbClr val="E74C3C"/>
              </a:gs>
              <a:gs pos="100000">
                <a:srgbClr val="B83C3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AMPK</a:t>
            </a:r>
            <a:endParaRPr lang="es-AR" sz="1600" dirty="0">
              <a:latin typeface="Bahnschrift SemiBold Condensed"/>
            </a:endParaRPr>
          </a:p>
        </p:txBody>
      </p:sp>
      <p:sp>
        <p:nvSpPr>
          <p:cNvPr id="19" name="AMP alto"/>
          <p:cNvSpPr/>
          <p:nvPr/>
        </p:nvSpPr>
        <p:spPr>
          <a:xfrm>
            <a:off x="2103120" y="1417320"/>
            <a:ext cx="123444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AMP/ADP ↑</a:t>
            </a:r>
            <a:endParaRPr lang="es-AR" sz="850" dirty="0">
              <a:latin typeface="Bahnschrift SemiBold Condensed"/>
            </a:endParaRPr>
          </a:p>
        </p:txBody>
      </p:sp>
      <p:sp>
        <p:nvSpPr>
          <p:cNvPr id="20" name="Fosfato ACC"/>
          <p:cNvSpPr/>
          <p:nvPr/>
        </p:nvSpPr>
        <p:spPr>
          <a:xfrm>
            <a:off x="3246120" y="2148840"/>
            <a:ext cx="365760" cy="365760"/>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280" b="1" dirty="0">
                <a:solidFill>
                  <a:srgbClr val="1E1E1E"/>
                </a:solidFill>
                <a:latin typeface="Bahnschrift SemiBold Condensed"/>
                <a:ea typeface="Bahnschrift SemiBold Condensed"/>
                <a:cs typeface="Bahnschrift SemiBold Condensed"/>
                <a:sym typeface="Bahnschrift SemiBold Condensed"/>
              </a:rPr>
              <a:t>P</a:t>
            </a:r>
            <a:endParaRPr lang="es-AR" sz="1280" dirty="0">
              <a:latin typeface="Bahnschrift SemiBold Condensed"/>
            </a:endParaRPr>
          </a:p>
        </p:txBody>
      </p:sp>
      <p:sp>
        <p:nvSpPr>
          <p:cNvPr id="21" name="Flecha 20_2"/>
          <p:cNvSpPr/>
          <p:nvPr/>
        </p:nvSpPr>
        <p:spPr>
          <a:xfrm>
            <a:off x="1188720" y="2029968"/>
            <a:ext cx="731520" cy="301752"/>
          </a:xfrm>
          <a:custGeom>
            <a:avLst/>
            <a:gdLst/>
            <a:ahLst/>
            <a:cxnLst/>
            <a:rect l="0" t="0" r="r" b="b"/>
            <a:pathLst>
              <a:path w="800" h="329" fill="none">
                <a:moveTo>
                  <a:pt x="0" y="0"/>
                </a:moveTo>
                <a:lnTo>
                  <a:pt x="800" y="329"/>
                </a:lnTo>
              </a:path>
            </a:pathLst>
          </a:custGeom>
          <a:noFill/>
          <a:ln w="38100" cap="rnd">
            <a:solidFill>
              <a:srgbClr val="C00000"/>
            </a:solidFill>
            <a:round/>
            <a:tailEnd type="triangle" w="med" len="med"/>
          </a:ln>
        </p:spPr>
      </p:sp>
      <p:sp>
        <p:nvSpPr>
          <p:cNvPr id="22" name="!!Malonil 0"/>
          <p:cNvSpPr/>
          <p:nvPr/>
        </p:nvSpPr>
        <p:spPr>
          <a:xfrm>
            <a:off x="3840480" y="2103120"/>
            <a:ext cx="228600" cy="228600"/>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850" b="1" dirty="0">
                <a:solidFill>
                  <a:srgbClr val="FFFFFF"/>
                </a:solidFill>
                <a:latin typeface="Bahnschrift SemiBold Condensed"/>
                <a:ea typeface="Bahnschrift SemiBold Condensed"/>
                <a:cs typeface="Bahnschrift SemiBold Condensed"/>
                <a:sym typeface="Bahnschrift SemiBold Condensed"/>
              </a:rPr>
              <a:t>Mal</a:t>
            </a:r>
            <a:endParaRPr lang="es-AR" sz="850" dirty="0">
              <a:latin typeface="Bahnschrift SemiBold Condensed"/>
            </a:endParaRPr>
          </a:p>
        </p:txBody>
      </p:sp>
      <p:sp>
        <p:nvSpPr>
          <p:cNvPr id="23" name="MCD"/>
          <p:cNvSpPr/>
          <p:nvPr/>
        </p:nvSpPr>
        <p:spPr>
          <a:xfrm>
            <a:off x="4206240" y="1463040"/>
            <a:ext cx="170201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MCD (descarboxilasa)</a:t>
            </a:r>
            <a:endParaRPr lang="es-AR" sz="1250" dirty="0">
              <a:latin typeface="Bahnschrift SemiBold Condensed"/>
            </a:endParaRPr>
          </a:p>
        </p:txBody>
      </p:sp>
      <p:grpSp>
        <p:nvGrpSpPr>
          <p:cNvPr id="24" name="!!AG largo 0"/>
          <p:cNvGrpSpPr/>
          <p:nvPr/>
        </p:nvGrpSpPr>
        <p:grpSpPr>
          <a:xfrm>
            <a:off x="8211312" y="1975104"/>
            <a:ext cx="1298448" cy="219456"/>
            <a:chOff x="8211312" y="1975104"/>
            <a:chExt cx="1298448" cy="219456"/>
          </a:xfrm>
        </p:grpSpPr>
        <p:sp>
          <p:nvSpPr>
            <p:cNvPr id="25" name="Flecha 25_2"/>
            <p:cNvSpPr/>
            <p:nvPr/>
          </p:nvSpPr>
          <p:spPr>
            <a:xfrm>
              <a:off x="8375904" y="2029968"/>
              <a:ext cx="1133856" cy="164592"/>
            </a:xfrm>
            <a:custGeom>
              <a:avLst/>
              <a:gdLst/>
              <a:ahLst/>
              <a:cxnLst/>
              <a:rect l="0" t="0" r="r" b="b"/>
              <a:pathLst>
                <a:path w="1240" h="180" fill="none">
                  <a:moveTo>
                    <a:pt x="0" y="0"/>
                  </a:moveTo>
                  <a:lnTo>
                    <a:pt x="154" y="180"/>
                  </a:lnTo>
                  <a:lnTo>
                    <a:pt x="310" y="0"/>
                  </a:lnTo>
                  <a:lnTo>
                    <a:pt x="464" y="180"/>
                  </a:lnTo>
                  <a:lnTo>
                    <a:pt x="619" y="0"/>
                  </a:lnTo>
                  <a:lnTo>
                    <a:pt x="775" y="180"/>
                  </a:lnTo>
                  <a:lnTo>
                    <a:pt x="929" y="0"/>
                  </a:lnTo>
                  <a:lnTo>
                    <a:pt x="1085" y="180"/>
                  </a:lnTo>
                  <a:lnTo>
                    <a:pt x="1240" y="0"/>
                  </a:lnTo>
                </a:path>
              </a:pathLst>
            </a:custGeom>
            <a:noFill/>
            <a:ln w="28575" cap="rnd">
              <a:solidFill>
                <a:srgbClr val="B7950B"/>
              </a:solidFill>
              <a:round/>
            </a:ln>
          </p:spPr>
        </p:sp>
        <p:sp>
          <p:nvSpPr>
            <p:cNvPr id="26" name="Forma 27"/>
            <p:cNvSpPr/>
            <p:nvPr/>
          </p:nvSpPr>
          <p:spPr>
            <a:xfrm>
              <a:off x="8211312" y="197510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7" name="!!AG largo 1"/>
          <p:cNvGrpSpPr/>
          <p:nvPr/>
        </p:nvGrpSpPr>
        <p:grpSpPr>
          <a:xfrm>
            <a:off x="8211312" y="2386584"/>
            <a:ext cx="1298448" cy="219456"/>
            <a:chOff x="8211312" y="2386584"/>
            <a:chExt cx="1298448" cy="219456"/>
          </a:xfrm>
        </p:grpSpPr>
        <p:sp>
          <p:nvSpPr>
            <p:cNvPr id="28" name="Flecha 29_2"/>
            <p:cNvSpPr/>
            <p:nvPr/>
          </p:nvSpPr>
          <p:spPr>
            <a:xfrm>
              <a:off x="8375904" y="2441448"/>
              <a:ext cx="1133856" cy="164592"/>
            </a:xfrm>
            <a:custGeom>
              <a:avLst/>
              <a:gdLst/>
              <a:ahLst/>
              <a:cxnLst/>
              <a:rect l="0" t="0" r="r" b="b"/>
              <a:pathLst>
                <a:path w="1240" h="180" fill="none">
                  <a:moveTo>
                    <a:pt x="0" y="0"/>
                  </a:moveTo>
                  <a:lnTo>
                    <a:pt x="154" y="180"/>
                  </a:lnTo>
                  <a:lnTo>
                    <a:pt x="310" y="0"/>
                  </a:lnTo>
                  <a:lnTo>
                    <a:pt x="464" y="180"/>
                  </a:lnTo>
                  <a:lnTo>
                    <a:pt x="619" y="0"/>
                  </a:lnTo>
                  <a:lnTo>
                    <a:pt x="775" y="180"/>
                  </a:lnTo>
                  <a:lnTo>
                    <a:pt x="929" y="0"/>
                  </a:lnTo>
                  <a:lnTo>
                    <a:pt x="1085" y="180"/>
                  </a:lnTo>
                  <a:lnTo>
                    <a:pt x="1240" y="0"/>
                  </a:lnTo>
                </a:path>
              </a:pathLst>
            </a:custGeom>
            <a:noFill/>
            <a:ln w="28575" cap="rnd">
              <a:solidFill>
                <a:srgbClr val="B7950B"/>
              </a:solidFill>
              <a:round/>
            </a:ln>
          </p:spPr>
        </p:sp>
        <p:sp>
          <p:nvSpPr>
            <p:cNvPr id="29" name="Forma 31"/>
            <p:cNvSpPr/>
            <p:nvPr/>
          </p:nvSpPr>
          <p:spPr>
            <a:xfrm>
              <a:off x="8211312" y="23865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30" name="NADH b"/>
          <p:cNvSpPr/>
          <p:nvPr/>
        </p:nvSpPr>
        <p:spPr>
          <a:xfrm>
            <a:off x="9692640" y="1965960"/>
            <a:ext cx="685800" cy="347472"/>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68" b="1" dirty="0">
                <a:solidFill>
                  <a:srgbClr val="1E1E1E"/>
                </a:solidFill>
                <a:latin typeface="Bahnschrift SemiBold Condensed"/>
                <a:ea typeface="Bahnschrift SemiBold Condensed"/>
                <a:cs typeface="Bahnschrift SemiBold Condensed"/>
                <a:sym typeface="Bahnschrift SemiBold Condensed"/>
              </a:rPr>
              <a:t>NADH</a:t>
            </a:r>
            <a:endParaRPr lang="es-AR" sz="868" dirty="0">
              <a:latin typeface="Bahnschrift SemiBold Condensed"/>
            </a:endParaRPr>
          </a:p>
        </p:txBody>
      </p:sp>
      <p:sp>
        <p:nvSpPr>
          <p:cNvPr id="31" name="FADH2 b"/>
          <p:cNvSpPr/>
          <p:nvPr/>
        </p:nvSpPr>
        <p:spPr>
          <a:xfrm>
            <a:off x="10469880" y="1965960"/>
            <a:ext cx="777240" cy="347472"/>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FADH</a:t>
            </a:r>
            <a:r>
              <a:rPr lang="es-AR" sz="850" b="1" baseline="-25000" dirty="0">
                <a:solidFill>
                  <a:srgbClr val="1E1E1E"/>
                </a:solidFill>
                <a:latin typeface="Bahnschrift SemiBold Condensed"/>
                <a:ea typeface="Bahnschrift SemiBold Condensed"/>
                <a:cs typeface="Bahnschrift SemiBold Condensed"/>
                <a:sym typeface="Bahnschrift SemiBold Condensed"/>
              </a:rPr>
              <a:t>2</a:t>
            </a:r>
            <a:endParaRPr lang="es-AR" sz="850" dirty="0">
              <a:latin typeface="Bahnschrift SemiBold Condensed"/>
            </a:endParaRPr>
          </a:p>
        </p:txBody>
      </p:sp>
      <p:sp>
        <p:nvSpPr>
          <p:cNvPr id="32" name="Paso texto 1"/>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1.</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Ayuno o ejercicio</a:t>
            </a:r>
            <a:r>
              <a:rPr lang="es-AR" sz="1600" dirty="0">
                <a:solidFill>
                  <a:srgbClr val="1E1E1E"/>
                </a:solidFill>
                <a:latin typeface="Bahnschrift"/>
                <a:ea typeface="Bahnschrift"/>
                <a:cs typeface="Bahnschrift"/>
                <a:sym typeface="Bahnschrift"/>
              </a:rPr>
              <a:t>: ↑ relación AMP/ATP y ADP/ATP (o ↓ insulina, ↑ glucagón).</a:t>
            </a:r>
            <a:endParaRPr lang="es-AR" sz="1600" dirty="0">
              <a:latin typeface="Bahnschrift"/>
            </a:endParaRPr>
          </a:p>
        </p:txBody>
      </p:sp>
      <p:sp>
        <p:nvSpPr>
          <p:cNvPr id="33" name="Paso texto 2"/>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2.</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AMPK activada</a:t>
            </a:r>
            <a:r>
              <a:rPr lang="es-AR" sz="1600" dirty="0">
                <a:solidFill>
                  <a:srgbClr val="1E1E1E"/>
                </a:solidFill>
                <a:latin typeface="Bahnschrift"/>
                <a:ea typeface="Bahnschrift"/>
                <a:cs typeface="Bahnschrift"/>
                <a:sym typeface="Bahnschrift"/>
              </a:rPr>
              <a:t> (Thr172).</a:t>
            </a:r>
            <a:endParaRPr lang="es-AR" sz="1600" dirty="0">
              <a:latin typeface="Bahnschrift"/>
            </a:endParaRPr>
          </a:p>
        </p:txBody>
      </p:sp>
      <p:sp>
        <p:nvSpPr>
          <p:cNvPr id="34" name="Paso texto 3"/>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3.</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Fosforila e inhibe ACC</a:t>
            </a:r>
            <a:r>
              <a:rPr lang="es-AR" sz="1600" dirty="0">
                <a:solidFill>
                  <a:srgbClr val="1E1E1E"/>
                </a:solidFill>
                <a:latin typeface="Bahnschrift"/>
                <a:ea typeface="Bahnschrift"/>
                <a:cs typeface="Bahnschrift"/>
                <a:sym typeface="Bahnschrift"/>
              </a:rPr>
              <a:t> (ACC1 y ACC2).</a:t>
            </a:r>
            <a:endParaRPr lang="es-AR" sz="1600" dirty="0">
              <a:latin typeface="Bahnschrift"/>
            </a:endParaRPr>
          </a:p>
        </p:txBody>
      </p:sp>
      <p:sp>
        <p:nvSpPr>
          <p:cNvPr id="35" name="Paso texto 4"/>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4.</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Malonil-CoA ↓</a:t>
            </a:r>
            <a:r>
              <a:rPr lang="es-AR" sz="1600" dirty="0">
                <a:solidFill>
                  <a:srgbClr val="1E1E1E"/>
                </a:solidFill>
                <a:latin typeface="Bahnschrift"/>
                <a:ea typeface="Bahnschrift"/>
                <a:cs typeface="Bahnschrift"/>
                <a:sym typeface="Bahnschrift"/>
              </a:rPr>
              <a:t> (además lo degrada la malonil-CoA descarboxilasa).</a:t>
            </a:r>
            <a:endParaRPr lang="es-AR" sz="1600" dirty="0">
              <a:latin typeface="Bahnschrift"/>
            </a:endParaRPr>
          </a:p>
        </p:txBody>
      </p:sp>
      <p:sp>
        <p:nvSpPr>
          <p:cNvPr id="36" name="Paso texto 5"/>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5.</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Se libera el freno sobre CPT1</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37" name="Paso texto 6"/>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6.</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 entrada mitocondrial</a:t>
            </a:r>
            <a:r>
              <a:rPr lang="es-AR" sz="1600" dirty="0">
                <a:solidFill>
                  <a:srgbClr val="1E1E1E"/>
                </a:solidFill>
                <a:latin typeface="Bahnschrift"/>
                <a:ea typeface="Bahnschrift"/>
                <a:cs typeface="Bahnschrift"/>
                <a:sym typeface="Bahnschrift"/>
              </a:rPr>
              <a:t> de AG de cadena larga.</a:t>
            </a:r>
            <a:endParaRPr lang="es-AR" sz="1600" dirty="0">
              <a:latin typeface="Bahnschrift"/>
            </a:endParaRPr>
          </a:p>
        </p:txBody>
      </p:sp>
      <p:sp>
        <p:nvSpPr>
          <p:cNvPr id="38" name="Paso texto 7"/>
          <p:cNvSpPr/>
          <p:nvPr/>
        </p:nvSpPr>
        <p:spPr>
          <a:xfrm>
            <a:off x="274320" y="5532120"/>
            <a:ext cx="1152144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l">
              <a:spcAft>
                <a:spcPts val="300"/>
              </a:spcAft>
              <a:buNone/>
            </a:pPr>
            <a:r>
              <a:rPr lang="es-AR" sz="1600" b="1" dirty="0">
                <a:solidFill>
                  <a:srgbClr val="1E1E1E"/>
                </a:solidFill>
                <a:latin typeface="Bahnschrift"/>
                <a:ea typeface="Bahnschrift"/>
                <a:cs typeface="Bahnschrift"/>
                <a:sym typeface="Bahnschrift"/>
              </a:rPr>
              <a:t>7.</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β-oxidación ↑</a:t>
            </a:r>
            <a:r>
              <a:rPr lang="es-AR" sz="1600" dirty="0">
                <a:solidFill>
                  <a:srgbClr val="1E1E1E"/>
                </a:solidFill>
                <a:latin typeface="Bahnschrift"/>
                <a:ea typeface="Bahnschrift"/>
                <a:cs typeface="Bahnschrift"/>
                <a:sym typeface="Bahnschrift"/>
              </a:rPr>
              <a:t>: NADH y FADH</a:t>
            </a:r>
            <a:r>
              <a:rPr lang="es-AR" sz="1600" baseline="-25000" dirty="0">
                <a:solidFill>
                  <a:srgbClr val="1E1E1E"/>
                </a:solidFill>
                <a:latin typeface="Bahnschrift"/>
                <a:ea typeface="Bahnschrift"/>
                <a:cs typeface="Bahnschrift"/>
                <a:sym typeface="Bahnschrift"/>
              </a:rPr>
              <a:t>2</a:t>
            </a:r>
            <a:r>
              <a:rPr lang="es-AR" sz="1600" dirty="0">
                <a:solidFill>
                  <a:srgbClr val="1E1E1E"/>
                </a:solidFill>
                <a:latin typeface="Bahnschrift"/>
                <a:ea typeface="Bahnschrift"/>
                <a:cs typeface="Bahnschrift"/>
                <a:sym typeface="Bahnschrift"/>
              </a:rPr>
              <a:t> para ATP (y, en el hígado, para gluconeogénesis y cetogénesis).</a:t>
            </a:r>
            <a:endParaRPr lang="es-AR" sz="1600" dirty="0">
              <a:latin typeface="Bahnschrift"/>
            </a:endParaRPr>
          </a:p>
        </p:txBody>
      </p:sp>
      <p:sp>
        <p:nvSpPr>
          <p:cNvPr id="2" name="Etiqueta sección"/>
          <p:cNvSpPr/>
          <p:nvPr/>
        </p:nvSpPr>
        <p:spPr>
          <a:xfrm>
            <a:off x="9335292" y="201168"/>
            <a:ext cx="258208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MALONIL-CoA · AYUNO / EJERCICIO</a:t>
            </a:r>
            <a:endParaRPr lang="es-AR" sz="1300" dirty="0">
              <a:latin typeface="Bahnschrift SemiBold Condensed"/>
            </a:endParaRPr>
          </a:p>
        </p:txBody>
      </p:sp>
      <p:sp>
        <p:nvSpPr>
          <p:cNvPr id="3" name="Título"/>
          <p:cNvSpPr/>
          <p:nvPr/>
        </p:nvSpPr>
        <p:spPr>
          <a:xfrm>
            <a:off x="274320" y="146304"/>
            <a:ext cx="520385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13 · ESCENARIO 2: AYUNO O EJERCICIO</a:t>
            </a:r>
            <a:endParaRPr lang="es-AR" sz="2600" dirty="0">
              <a:latin typeface="Bahnschrift SemiBold Condensed"/>
            </a:endParaRPr>
          </a:p>
        </p:txBody>
      </p:sp>
      <p:sp>
        <p:nvSpPr>
          <p:cNvPr id="3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91</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2"/>
                                        </p:tgtEl>
                                        <p:attrNameLst>
                                          <p:attrName>style.visibility</p:attrName>
                                        </p:attrNameLst>
                                      </p:cBhvr>
                                      <p:to>
                                        <p:strVal val="visible"/>
                                      </p:to>
                                    </p:set>
                                    <p:animEffect transition="in" filter="fade">
                                      <p:cBhvr>
                                        <p:cTn id="5" dur="500"/>
                                        <p:tgtEl>
                                          <p:spTgt spid="32"/>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9"/>
                                        </p:tgtEl>
                                        <p:attrNameLst>
                                          <p:attrName>style.visibility</p:attrName>
                                        </p:attrNameLst>
                                      </p:cBhvr>
                                      <p:to>
                                        <p:strVal val="visible"/>
                                      </p:to>
                                    </p:set>
                                    <p:animEffect transition="in" filter="fade">
                                      <p:cBhvr>
                                        <p:cTn id="9" dur="500"/>
                                        <p:tgtEl>
                                          <p:spTgt spid="19"/>
                                        </p:tgtEl>
                                      </p:cBhvr>
                                    </p:animEffect>
                                  </p:childTnLst>
                                </p:cTn>
                              </p:par>
                            </p:childTnLst>
                          </p:cTn>
                        </p:par>
                      </p:childTnLst>
                    </p:cTn>
                  </p:par>
                  <p:par>
                    <p:cTn id="27" fill="hold">
                      <p:stCondLst>
                        <p:cond delay="indefinite"/>
                      </p:stCondLst>
                      <p:childTnLst>
                        <p:par>
                          <p:cTn id="23" fill="hold">
                            <p:stCondLst>
                              <p:cond delay="0"/>
                            </p:stCondLst>
                            <p:childTnLst>
                              <p:par>
                                <p:cTn id="12" presetID="10" presetClass="exit" presetSubtype="0" fill="hold" grpId="0" nodeType="clickEffect">
                                  <p:stCondLst>
                                    <p:cond delay="0"/>
                                  </p:stCondLst>
                                  <p:childTnLst>
                                    <p:animEffect transition="out" filter="fade">
                                      <p:cBhvr>
                                        <p:cTn id="13" dur="200"/>
                                        <p:tgtEl>
                                          <p:spTgt spid="32"/>
                                        </p:tgtEl>
                                      </p:cBhvr>
                                    </p:animEffect>
                                    <p:set>
                                      <p:cBhvr>
                                        <p:cTn id="14" dur="1" fill="hold">
                                          <p:stCondLst>
                                            <p:cond delay="199"/>
                                          </p:stCondLst>
                                        </p:cTn>
                                        <p:tgtEl>
                                          <p:spTgt spid="32"/>
                                        </p:tgtEl>
                                        <p:attrNameLst>
                                          <p:attrName>style.visibility</p:attrName>
                                        </p:attrNameLst>
                                      </p:cBhvr>
                                      <p:to>
                                        <p:strVal val="hidden"/>
                                      </p:to>
                                    </p:set>
                                  </p:childTnLst>
                                </p:cTn>
                              </p:par>
                              <p:par>
                                <p:cTn id="15" presetID="10" presetClass="entr" presetSubtype="0" fill="hold" grpId="0" nodeType="with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par>
                          <p:cTn id="26" fill="hold">
                            <p:stCondLst>
                              <p:cond delay="500"/>
                            </p:stCondLst>
                            <p:childTnLst>
                              <p:par>
                                <p:cTn id="24" presetID="6" presetClass="emph" presetSubtype="0" fill="hold" grpId="0" nodeType="afterEffect">
                                  <p:stCondLst>
                                    <p:cond delay="0"/>
                                  </p:stCondLst>
                                  <p:childTnLst>
                                    <p:animScale>
                                      <p:cBhvr>
                                        <p:cTn id="25" dur="300" autoRev="1" fill="hold"/>
                                        <p:tgtEl>
                                          <p:spTgt spid="18"/>
                                        </p:tgtEl>
                                      </p:cBhvr>
                                      <p:by x="112000" y="112000"/>
                                    </p:animScale>
                                  </p:childTnLst>
                                </p:cTn>
                              </p:par>
                            </p:childTnLst>
                          </p:cTn>
                        </p:par>
                      </p:childTnLst>
                    </p:cTn>
                  </p:par>
                  <p:par>
                    <p:cTn id="44" fill="hold">
                      <p:stCondLst>
                        <p:cond delay="indefinite"/>
                      </p:stCondLst>
                      <p:childTnLst>
                        <p:par>
                          <p:cTn id="37" fill="hold">
                            <p:stCondLst>
                              <p:cond delay="0"/>
                            </p:stCondLst>
                            <p:childTnLst>
                              <p:par>
                                <p:cTn id="28" presetID="10" presetClass="exit" presetSubtype="0" fill="hold" grpId="0" nodeType="clickEffect">
                                  <p:stCondLst>
                                    <p:cond delay="0"/>
                                  </p:stCondLst>
                                  <p:childTnLst>
                                    <p:animEffect transition="out" filter="fade">
                                      <p:cBhvr>
                                        <p:cTn id="29" dur="200"/>
                                        <p:tgtEl>
                                          <p:spTgt spid="33"/>
                                        </p:tgtEl>
                                      </p:cBhvr>
                                    </p:animEffect>
                                    <p:set>
                                      <p:cBhvr>
                                        <p:cTn id="30" dur="1" fill="hold">
                                          <p:stCondLst>
                                            <p:cond delay="199"/>
                                          </p:stCondLst>
                                        </p:cTn>
                                        <p:tgtEl>
                                          <p:spTgt spid="33"/>
                                        </p:tgtEl>
                                        <p:attrNameLst>
                                          <p:attrName>style.visibility</p:attrName>
                                        </p:attrNameLst>
                                      </p:cBhvr>
                                      <p:to>
                                        <p:strVal val="hidden"/>
                                      </p:to>
                                    </p:set>
                                  </p:childTnLst>
                                </p:cTn>
                              </p:par>
                              <p:par>
                                <p:cTn id="31" presetID="10" presetClass="entr" presetSubtype="0"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fade">
                                      <p:cBhvr>
                                        <p:cTn id="33" dur="500"/>
                                        <p:tgtEl>
                                          <p:spTgt spid="34"/>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wipe(left)">
                                      <p:cBhvr>
                                        <p:cTn id="36" dur="600"/>
                                        <p:tgtEl>
                                          <p:spTgt spid="21"/>
                                        </p:tgtEl>
                                      </p:cBhvr>
                                    </p:animEffect>
                                  </p:childTnLst>
                                </p:cTn>
                              </p:par>
                            </p:childTnLst>
                          </p:cTn>
                        </p:par>
                        <p:par>
                          <p:cTn id="43" fill="hold">
                            <p:stCondLst>
                              <p:cond delay="600"/>
                            </p:stCondLst>
                            <p:childTnLst>
                              <p:par>
                                <p:cTn id="38" presetID="53" presetClass="entr" presetSubtype="16" fill="hold" grpId="0" nodeType="afterEffect">
                                  <p:stCondLst>
                                    <p:cond delay="0"/>
                                  </p:stCondLst>
                                  <p:childTnLst>
                                    <p:set>
                                      <p:cBhvr>
                                        <p:cTn id="39" dur="1" fill="hold">
                                          <p:stCondLst>
                                            <p:cond delay="0"/>
                                          </p:stCondLst>
                                        </p:cTn>
                                        <p:tgtEl>
                                          <p:spTgt spid="20"/>
                                        </p:tgtEl>
                                        <p:attrNameLst>
                                          <p:attrName>style.visibility</p:attrName>
                                        </p:attrNameLst>
                                      </p:cBhvr>
                                      <p:to>
                                        <p:strVal val="visible"/>
                                      </p:to>
                                    </p:set>
                                    <p:anim calcmode="lin" valueType="num">
                                      <p:cBhvr>
                                        <p:cTn id="40" dur="500" fill="hold"/>
                                        <p:tgtEl>
                                          <p:spTgt spid="20"/>
                                        </p:tgtEl>
                                        <p:attrNameLst>
                                          <p:attrName>ppt_w</p:attrName>
                                        </p:attrNameLst>
                                      </p:cBhvr>
                                      <p:tavLst>
                                        <p:tav tm="0">
                                          <p:val>
                                            <p:fltVal val="0"/>
                                          </p:val>
                                        </p:tav>
                                        <p:tav tm="100000">
                                          <p:val>
                                            <p:strVal val="#ppt_w"/>
                                          </p:val>
                                        </p:tav>
                                      </p:tavLst>
                                    </p:anim>
                                    <p:anim calcmode="lin" valueType="num">
                                      <p:cBhvr>
                                        <p:cTn id="41" dur="500" fill="hold"/>
                                        <p:tgtEl>
                                          <p:spTgt spid="20"/>
                                        </p:tgtEl>
                                        <p:attrNameLst>
                                          <p:attrName>ppt_h</p:attrName>
                                        </p:attrNameLst>
                                      </p:cBhvr>
                                      <p:tavLst>
                                        <p:tav tm="0">
                                          <p:val>
                                            <p:fltVal val="0"/>
                                          </p:val>
                                        </p:tav>
                                        <p:tav tm="100000">
                                          <p:val>
                                            <p:strVal val="#ppt_h"/>
                                          </p:val>
                                        </p:tav>
                                      </p:tavLst>
                                    </p:anim>
                                    <p:animEffect transition="in" filter="fade">
                                      <p:cBhvr>
                                        <p:cTn id="42" dur="500"/>
                                        <p:tgtEl>
                                          <p:spTgt spid="20"/>
                                        </p:tgtEl>
                                      </p:cBhvr>
                                    </p:animEffect>
                                  </p:childTnLst>
                                </p:cTn>
                              </p:par>
                            </p:childTnLst>
                          </p:cTn>
                        </p:par>
                      </p:childTnLst>
                    </p:cTn>
                  </p:par>
                  <p:par>
                    <p:cTn id="62" fill="hold">
                      <p:stCondLst>
                        <p:cond delay="indefinite"/>
                      </p:stCondLst>
                      <p:childTnLst>
                        <p:par>
                          <p:cTn id="54" fill="hold">
                            <p:stCondLst>
                              <p:cond delay="0"/>
                            </p:stCondLst>
                            <p:childTnLst>
                              <p:par>
                                <p:cTn id="45" presetID="10" presetClass="exit" presetSubtype="0" fill="hold" grpId="0" nodeType="clickEffect">
                                  <p:stCondLst>
                                    <p:cond delay="0"/>
                                  </p:stCondLst>
                                  <p:childTnLst>
                                    <p:animEffect transition="out" filter="fade">
                                      <p:cBhvr>
                                        <p:cTn id="46" dur="200"/>
                                        <p:tgtEl>
                                          <p:spTgt spid="34"/>
                                        </p:tgtEl>
                                      </p:cBhvr>
                                    </p:animEffect>
                                    <p:set>
                                      <p:cBhvr>
                                        <p:cTn id="47" dur="1" fill="hold">
                                          <p:stCondLst>
                                            <p:cond delay="199"/>
                                          </p:stCondLst>
                                        </p:cTn>
                                        <p:tgtEl>
                                          <p:spTgt spid="34"/>
                                        </p:tgtEl>
                                        <p:attrNameLst>
                                          <p:attrName>style.visibility</p:attrName>
                                        </p:attrNameLst>
                                      </p:cBhvr>
                                      <p:to>
                                        <p:strVal val="hidden"/>
                                      </p:to>
                                    </p:set>
                                  </p:childTnLst>
                                </p:cTn>
                              </p:par>
                              <p:par>
                                <p:cTn id="48" presetID="10" presetClass="entr" presetSubtype="0" fill="hold" grpId="0"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500"/>
                                        <p:tgtEl>
                                          <p:spTgt spid="3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childTnLst>
                          </p:cTn>
                        </p:par>
                        <p:par>
                          <p:cTn id="57" fill="hold">
                            <p:stCondLst>
                              <p:cond delay="500"/>
                            </p:stCondLst>
                            <p:childTnLst>
                              <p:par>
                                <p:cTn id="55" presetID="6" presetClass="emph" presetSubtype="0" fill="hold" grpId="0" nodeType="afterEffect">
                                  <p:stCondLst>
                                    <p:cond delay="0"/>
                                  </p:stCondLst>
                                  <p:childTnLst>
                                    <p:animScale>
                                      <p:cBhvr>
                                        <p:cTn id="56" dur="300" autoRev="1" fill="hold"/>
                                        <p:tgtEl>
                                          <p:spTgt spid="22"/>
                                        </p:tgtEl>
                                      </p:cBhvr>
                                      <p:by x="112000" y="112000"/>
                                    </p:animScale>
                                  </p:childTnLst>
                                </p:cTn>
                              </p:par>
                            </p:childTnLst>
                          </p:cTn>
                        </p:par>
                        <p:par>
                          <p:cTn id="61" fill="hold">
                            <p:stCondLst>
                              <p:cond delay="800"/>
                            </p:stCondLst>
                            <p:childTnLst>
                              <p:par>
                                <p:cTn id="58" presetID="10" presetClass="exit" presetSubtype="0" fill="hold" grpId="0" nodeType="afterEffect">
                                  <p:stCondLst>
                                    <p:cond delay="0"/>
                                  </p:stCondLst>
                                  <p:childTnLst>
                                    <p:animEffect transition="out" filter="fade">
                                      <p:cBhvr>
                                        <p:cTn id="59" dur="400"/>
                                        <p:tgtEl>
                                          <p:spTgt spid="22"/>
                                        </p:tgtEl>
                                      </p:cBhvr>
                                    </p:animEffect>
                                    <p:set>
                                      <p:cBhvr>
                                        <p:cTn id="60" dur="1" fill="hold">
                                          <p:stCondLst>
                                            <p:cond delay="399"/>
                                          </p:stCondLst>
                                        </p:cTn>
                                        <p:tgtEl>
                                          <p:spTgt spid="22"/>
                                        </p:tgtEl>
                                        <p:attrNameLst>
                                          <p:attrName>style.visibility</p:attrName>
                                        </p:attrNameLst>
                                      </p:cBhvr>
                                      <p:to>
                                        <p:strVal val="hidden"/>
                                      </p:to>
                                    </p:set>
                                  </p:childTnLst>
                                </p:cTn>
                              </p:par>
                            </p:childTnLst>
                          </p:cTn>
                        </p:par>
                      </p:childTnLst>
                    </p:cTn>
                  </p:par>
                  <p:par>
                    <p:cTn id="72" fill="hold">
                      <p:stCondLst>
                        <p:cond delay="indefinite"/>
                      </p:stCondLst>
                      <p:childTnLst>
                        <p:par>
                          <p:cTn id="71" fill="hold">
                            <p:stCondLst>
                              <p:cond delay="0"/>
                            </p:stCondLst>
                            <p:childTnLst>
                              <p:par>
                                <p:cTn id="63" presetID="10" presetClass="exit" presetSubtype="0" fill="hold" grpId="0" nodeType="clickEffect">
                                  <p:stCondLst>
                                    <p:cond delay="0"/>
                                  </p:stCondLst>
                                  <p:childTnLst>
                                    <p:animEffect transition="out" filter="fade">
                                      <p:cBhvr>
                                        <p:cTn id="64" dur="200"/>
                                        <p:tgtEl>
                                          <p:spTgt spid="35"/>
                                        </p:tgtEl>
                                      </p:cBhvr>
                                    </p:animEffect>
                                    <p:set>
                                      <p:cBhvr>
                                        <p:cTn id="65" dur="1" fill="hold">
                                          <p:stCondLst>
                                            <p:cond delay="199"/>
                                          </p:stCondLst>
                                        </p:cTn>
                                        <p:tgtEl>
                                          <p:spTgt spid="35"/>
                                        </p:tgtEl>
                                        <p:attrNameLst>
                                          <p:attrName>style.visibility</p:attrName>
                                        </p:attrNameLst>
                                      </p:cBhvr>
                                      <p:to>
                                        <p:strVal val="hidden"/>
                                      </p:to>
                                    </p:set>
                                  </p:childTnLst>
                                </p:cTn>
                              </p:par>
                              <p:par>
                                <p:cTn id="66" presetID="10" presetClass="entr" presetSubtype="0" fill="hold" grpId="0" nodeType="with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fade">
                                      <p:cBhvr>
                                        <p:cTn id="68" dur="500"/>
                                        <p:tgtEl>
                                          <p:spTgt spid="36"/>
                                        </p:tgtEl>
                                      </p:cBhvr>
                                    </p:animEffect>
                                  </p:childTnLst>
                                </p:cTn>
                              </p:par>
                              <p:par>
                                <p:cTn id="69" presetID="6" presetClass="emph" presetSubtype="0" fill="hold" grpId="0" nodeType="withEffect">
                                  <p:stCondLst>
                                    <p:cond delay="0"/>
                                  </p:stCondLst>
                                  <p:childTnLst>
                                    <p:animScale>
                                      <p:cBhvr>
                                        <p:cTn id="70" dur="300" autoRev="1" fill="hold"/>
                                        <p:tgtEl>
                                          <p:spTgt spid="8"/>
                                        </p:tgtEl>
                                      </p:cBhvr>
                                      <p:by x="112000" y="112000"/>
                                    </p:animScale>
                                  </p:childTnLst>
                                </p:cTn>
                              </p:par>
                            </p:childTnLst>
                          </p:cTn>
                        </p:par>
                      </p:childTnLst>
                    </p:cTn>
                  </p:par>
                  <p:par>
                    <p:cTn id="85" fill="hold">
                      <p:stCondLst>
                        <p:cond delay="indefinite"/>
                      </p:stCondLst>
                      <p:childTnLst>
                        <p:par>
                          <p:cTn id="79" fill="hold">
                            <p:stCondLst>
                              <p:cond delay="0"/>
                            </p:stCondLst>
                            <p:childTnLst>
                              <p:par>
                                <p:cTn id="73" presetID="10" presetClass="exit" presetSubtype="0" fill="hold" grpId="0" nodeType="clickEffect">
                                  <p:stCondLst>
                                    <p:cond delay="0"/>
                                  </p:stCondLst>
                                  <p:childTnLst>
                                    <p:animEffect transition="out" filter="fade">
                                      <p:cBhvr>
                                        <p:cTn id="74" dur="200"/>
                                        <p:tgtEl>
                                          <p:spTgt spid="36"/>
                                        </p:tgtEl>
                                      </p:cBhvr>
                                    </p:animEffect>
                                    <p:set>
                                      <p:cBhvr>
                                        <p:cTn id="75" dur="1" fill="hold">
                                          <p:stCondLst>
                                            <p:cond delay="199"/>
                                          </p:stCondLst>
                                        </p:cTn>
                                        <p:tgtEl>
                                          <p:spTgt spid="36"/>
                                        </p:tgtEl>
                                        <p:attrNameLst>
                                          <p:attrName>style.visibility</p:attrName>
                                        </p:attrNameLst>
                                      </p:cBhvr>
                                      <p:to>
                                        <p:strVal val="hidden"/>
                                      </p:to>
                                    </p:set>
                                  </p:childTnLst>
                                </p:cTn>
                              </p:par>
                              <p:par>
                                <p:cTn id="76" presetID="10" presetClass="entr" presetSubtype="0" fill="hold" grpId="0" nodeType="withEffect">
                                  <p:stCondLst>
                                    <p:cond delay="0"/>
                                  </p:stCondLst>
                                  <p:childTnLst>
                                    <p:set>
                                      <p:cBhvr>
                                        <p:cTn id="77" dur="1" fill="hold">
                                          <p:stCondLst>
                                            <p:cond delay="0"/>
                                          </p:stCondLst>
                                        </p:cTn>
                                        <p:tgtEl>
                                          <p:spTgt spid="37"/>
                                        </p:tgtEl>
                                        <p:attrNameLst>
                                          <p:attrName>style.visibility</p:attrName>
                                        </p:attrNameLst>
                                      </p:cBhvr>
                                      <p:to>
                                        <p:strVal val="visible"/>
                                      </p:to>
                                    </p:set>
                                    <p:animEffect transition="in" filter="fade">
                                      <p:cBhvr>
                                        <p:cTn id="78" dur="500"/>
                                        <p:tgtEl>
                                          <p:spTgt spid="37"/>
                                        </p:tgtEl>
                                      </p:cBhvr>
                                    </p:animEffect>
                                  </p:childTnLst>
                                </p:cTn>
                              </p:par>
                            </p:childTnLst>
                          </p:cTn>
                        </p:par>
                        <p:par>
                          <p:cTn id="84" fill="hold">
                            <p:stCondLst>
                              <p:cond delay="500"/>
                            </p:stCondLst>
                            <p:childTnLst>
                              <p:par>
                                <p:cTn id="80" presetID="6" presetClass="emph" presetSubtype="0" fill="hold" grpId="0" nodeType="afterEffect">
                                  <p:stCondLst>
                                    <p:cond delay="0"/>
                                  </p:stCondLst>
                                  <p:childTnLst>
                                    <p:animScale>
                                      <p:cBhvr>
                                        <p:cTn id="81" dur="300" autoRev="1" fill="hold"/>
                                        <p:tgtEl>
                                          <p:spTgt spid="24"/>
                                        </p:tgtEl>
                                      </p:cBhvr>
                                      <p:by x="112000" y="112000"/>
                                    </p:animScale>
                                  </p:childTnLst>
                                </p:cTn>
                              </p:par>
                              <p:par>
                                <p:cTn id="82" presetID="6" presetClass="emph" presetSubtype="0" fill="hold" grpId="0" nodeType="withEffect">
                                  <p:stCondLst>
                                    <p:cond delay="0"/>
                                  </p:stCondLst>
                                  <p:childTnLst>
                                    <p:animScale>
                                      <p:cBhvr>
                                        <p:cTn id="83" dur="300" autoRev="1" fill="hold"/>
                                        <p:tgtEl>
                                          <p:spTgt spid="27"/>
                                        </p:tgtEl>
                                      </p:cBhvr>
                                      <p:by x="112000" y="112000"/>
                                    </p:animScale>
                                  </p:childTnLst>
                                </p:cTn>
                              </p:par>
                            </p:childTnLst>
                          </p:cTn>
                        </p:par>
                      </p:childTnLst>
                    </p:cTn>
                  </p:par>
                  <p:par>
                    <p:cTn id="107" fill="hold">
                      <p:stCondLst>
                        <p:cond delay="indefinite"/>
                      </p:stCondLst>
                      <p:childTnLst>
                        <p:par>
                          <p:cTn id="94" fill="hold">
                            <p:stCondLst>
                              <p:cond delay="0"/>
                            </p:stCondLst>
                            <p:childTnLst>
                              <p:par>
                                <p:cTn id="86" presetID="10" presetClass="exit" presetSubtype="0" fill="hold" grpId="0" nodeType="clickEffect">
                                  <p:stCondLst>
                                    <p:cond delay="0"/>
                                  </p:stCondLst>
                                  <p:childTnLst>
                                    <p:animEffect transition="out" filter="fade">
                                      <p:cBhvr>
                                        <p:cTn id="87" dur="200"/>
                                        <p:tgtEl>
                                          <p:spTgt spid="37"/>
                                        </p:tgtEl>
                                      </p:cBhvr>
                                    </p:animEffect>
                                    <p:set>
                                      <p:cBhvr>
                                        <p:cTn id="88" dur="1" fill="hold">
                                          <p:stCondLst>
                                            <p:cond delay="199"/>
                                          </p:stCondLst>
                                        </p:cTn>
                                        <p:tgtEl>
                                          <p:spTgt spid="37"/>
                                        </p:tgtEl>
                                        <p:attrNameLst>
                                          <p:attrName>style.visibility</p:attrName>
                                        </p:attrNameLst>
                                      </p:cBhvr>
                                      <p:to>
                                        <p:strVal val="hidden"/>
                                      </p:to>
                                    </p:set>
                                  </p:childTnLst>
                                </p:cTn>
                              </p:par>
                              <p:par>
                                <p:cTn id="89" presetID="10" presetClass="entr" presetSubtype="0"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500"/>
                                        <p:tgtEl>
                                          <p:spTgt spid="38"/>
                                        </p:tgtEl>
                                      </p:cBhvr>
                                    </p:animEffect>
                                  </p:childTnLst>
                                </p:cTn>
                              </p:par>
                              <p:par>
                                <p:cTn id="92" presetID="6" presetClass="emph" presetSubtype="0" fill="hold" grpId="0" nodeType="withEffect">
                                  <p:stCondLst>
                                    <p:cond delay="0"/>
                                  </p:stCondLst>
                                  <p:childTnLst>
                                    <p:animScale>
                                      <p:cBhvr>
                                        <p:cTn id="93" dur="300" autoRev="1" fill="hold"/>
                                        <p:tgtEl>
                                          <p:spTgt spid="16"/>
                                        </p:tgtEl>
                                      </p:cBhvr>
                                      <p:by x="112000" y="112000"/>
                                    </p:animScale>
                                  </p:childTnLst>
                                </p:cTn>
                              </p:par>
                            </p:childTnLst>
                          </p:cTn>
                        </p:par>
                        <p:par>
                          <p:cTn id="100" fill="hold">
                            <p:stCondLst>
                              <p:cond delay="500"/>
                            </p:stCondLst>
                            <p:childTnLst>
                              <p:par>
                                <p:cTn id="95" presetID="53" presetClass="entr" presetSubtype="16" fill="hold" grpId="0" nodeType="afterEffect">
                                  <p:stCondLst>
                                    <p:cond delay="0"/>
                                  </p:stCondLst>
                                  <p:childTnLst>
                                    <p:set>
                                      <p:cBhvr>
                                        <p:cTn id="96" dur="1" fill="hold">
                                          <p:stCondLst>
                                            <p:cond delay="0"/>
                                          </p:stCondLst>
                                        </p:cTn>
                                        <p:tgtEl>
                                          <p:spTgt spid="30"/>
                                        </p:tgtEl>
                                        <p:attrNameLst>
                                          <p:attrName>style.visibility</p:attrName>
                                        </p:attrNameLst>
                                      </p:cBhvr>
                                      <p:to>
                                        <p:strVal val="visible"/>
                                      </p:to>
                                    </p:set>
                                    <p:anim calcmode="lin" valueType="num">
                                      <p:cBhvr>
                                        <p:cTn id="97" dur="500" fill="hold"/>
                                        <p:tgtEl>
                                          <p:spTgt spid="30"/>
                                        </p:tgtEl>
                                        <p:attrNameLst>
                                          <p:attrName>ppt_w</p:attrName>
                                        </p:attrNameLst>
                                      </p:cBhvr>
                                      <p:tavLst>
                                        <p:tav tm="0">
                                          <p:val>
                                            <p:fltVal val="0"/>
                                          </p:val>
                                        </p:tav>
                                        <p:tav tm="100000">
                                          <p:val>
                                            <p:strVal val="#ppt_w"/>
                                          </p:val>
                                        </p:tav>
                                      </p:tavLst>
                                    </p:anim>
                                    <p:anim calcmode="lin" valueType="num">
                                      <p:cBhvr>
                                        <p:cTn id="98" dur="500" fill="hold"/>
                                        <p:tgtEl>
                                          <p:spTgt spid="30"/>
                                        </p:tgtEl>
                                        <p:attrNameLst>
                                          <p:attrName>ppt_h</p:attrName>
                                        </p:attrNameLst>
                                      </p:cBhvr>
                                      <p:tavLst>
                                        <p:tav tm="0">
                                          <p:val>
                                            <p:fltVal val="0"/>
                                          </p:val>
                                        </p:tav>
                                        <p:tav tm="100000">
                                          <p:val>
                                            <p:strVal val="#ppt_h"/>
                                          </p:val>
                                        </p:tav>
                                      </p:tavLst>
                                    </p:anim>
                                    <p:animEffect transition="in" filter="fade">
                                      <p:cBhvr>
                                        <p:cTn id="99" dur="500"/>
                                        <p:tgtEl>
                                          <p:spTgt spid="30"/>
                                        </p:tgtEl>
                                      </p:cBhvr>
                                    </p:animEffect>
                                  </p:childTnLst>
                                </p:cTn>
                              </p:par>
                            </p:childTnLst>
                          </p:cTn>
                        </p:par>
                        <p:par>
                          <p:cTn id="106" fill="hold">
                            <p:stCondLst>
                              <p:cond delay="1000"/>
                            </p:stCondLst>
                            <p:childTnLst>
                              <p:par>
                                <p:cTn id="101" presetID="53" presetClass="entr" presetSubtype="16" fill="hold" grpId="0" nodeType="afterEffect">
                                  <p:stCondLst>
                                    <p:cond delay="0"/>
                                  </p:stCondLst>
                                  <p:childTnLst>
                                    <p:set>
                                      <p:cBhvr>
                                        <p:cTn id="102" dur="1" fill="hold">
                                          <p:stCondLst>
                                            <p:cond delay="0"/>
                                          </p:stCondLst>
                                        </p:cTn>
                                        <p:tgtEl>
                                          <p:spTgt spid="31"/>
                                        </p:tgtEl>
                                        <p:attrNameLst>
                                          <p:attrName>style.visibility</p:attrName>
                                        </p:attrNameLst>
                                      </p:cBhvr>
                                      <p:to>
                                        <p:strVal val="visible"/>
                                      </p:to>
                                    </p:set>
                                    <p:anim calcmode="lin" valueType="num">
                                      <p:cBhvr>
                                        <p:cTn id="103" dur="500" fill="hold"/>
                                        <p:tgtEl>
                                          <p:spTgt spid="31"/>
                                        </p:tgtEl>
                                        <p:attrNameLst>
                                          <p:attrName>ppt_w</p:attrName>
                                        </p:attrNameLst>
                                      </p:cBhvr>
                                      <p:tavLst>
                                        <p:tav tm="0">
                                          <p:val>
                                            <p:fltVal val="0"/>
                                          </p:val>
                                        </p:tav>
                                        <p:tav tm="100000">
                                          <p:val>
                                            <p:strVal val="#ppt_w"/>
                                          </p:val>
                                        </p:tav>
                                      </p:tavLst>
                                    </p:anim>
                                    <p:anim calcmode="lin" valueType="num">
                                      <p:cBhvr>
                                        <p:cTn id="104" dur="500" fill="hold"/>
                                        <p:tgtEl>
                                          <p:spTgt spid="31"/>
                                        </p:tgtEl>
                                        <p:attrNameLst>
                                          <p:attrName>ppt_h</p:attrName>
                                        </p:attrNameLst>
                                      </p:cBhvr>
                                      <p:tavLst>
                                        <p:tav tm="0">
                                          <p:val>
                                            <p:fltVal val="0"/>
                                          </p:val>
                                        </p:tav>
                                        <p:tav tm="100000">
                                          <p:val>
                                            <p:strVal val="#ppt_h"/>
                                          </p:val>
                                        </p:tav>
                                      </p:tavLst>
                                    </p:anim>
                                    <p:animEffect transition="in" filter="fade">
                                      <p:cBhvr>
                                        <p:cTn id="10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19" grpId="0" animBg="1"/>
      <p:bldP spid="33" grpId="0" animBg="1"/>
      <p:bldP spid="18" grpId="0" animBg="1"/>
      <p:bldP spid="34" grpId="0" animBg="1"/>
      <p:bldP spid="21" grpId="0" animBg="1"/>
      <p:bldP spid="20" grpId="0" animBg="1"/>
      <p:bldP spid="35" grpId="0" animBg="1"/>
      <p:bldP spid="23" grpId="0" animBg="1"/>
      <p:bldP spid="22" grpId="0" animBg="1"/>
      <p:bldP spid="36" grpId="0" animBg="1"/>
      <p:bldP spid="37" grpId="0" animBg="1"/>
      <p:bldP spid="38" grpId="0" animBg="1"/>
      <p:bldP spid="16" grpId="0" animBg="1"/>
      <p:bldP spid="30" grpId="0" animBg="1"/>
      <p:bldP spid="31" grpId="0" animBg="1"/>
    </p:bldLst>
  </p:timing>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Fibra muscular"/>
          <p:cNvGrpSpPr/>
          <p:nvPr/>
        </p:nvGrpSpPr>
        <p:grpSpPr>
          <a:xfrm>
            <a:off x="365760" y="1051560"/>
            <a:ext cx="11430000" cy="685800"/>
            <a:chOff x="365760" y="1051560"/>
            <a:chExt cx="11430000" cy="685800"/>
          </a:xfrm>
        </p:grpSpPr>
        <p:sp>
          <p:nvSpPr>
            <p:cNvPr id="5" name="Forma 4"/>
            <p:cNvSpPr/>
            <p:nvPr/>
          </p:nvSpPr>
          <p:spPr>
            <a:xfrm>
              <a:off x="365760" y="1051560"/>
              <a:ext cx="11430000" cy="6858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6" name="Forma 5"/>
            <p:cNvSpPr/>
            <p:nvPr/>
          </p:nvSpPr>
          <p:spPr>
            <a:xfrm>
              <a:off x="537210" y="1051560"/>
              <a:ext cx="11087100" cy="685800"/>
            </a:xfrm>
            <a:custGeom>
              <a:avLst/>
              <a:gdLst/>
              <a:ahLst/>
              <a:cxnLst/>
              <a:rect l="0" t="0" r="r" b="b"/>
              <a:pathLst>
                <a:path w="1000" h="1000" fill="none">
                  <a:moveTo>
                    <a:pt x="3" y="80"/>
                  </a:moveTo>
                  <a:lnTo>
                    <a:pt x="3" y="920"/>
                  </a:lnTo>
                </a:path>
                <a:path w="1000" h="1000" fill="none">
                  <a:moveTo>
                    <a:pt x="10" y="80"/>
                  </a:moveTo>
                  <a:lnTo>
                    <a:pt x="10" y="920"/>
                  </a:lnTo>
                </a:path>
                <a:path w="1000" h="1000" fill="none">
                  <a:moveTo>
                    <a:pt x="18" y="80"/>
                  </a:moveTo>
                  <a:lnTo>
                    <a:pt x="18" y="920"/>
                  </a:lnTo>
                </a:path>
                <a:path w="1000" h="1000" fill="none">
                  <a:moveTo>
                    <a:pt x="25" y="80"/>
                  </a:moveTo>
                  <a:lnTo>
                    <a:pt x="25" y="920"/>
                  </a:lnTo>
                </a:path>
                <a:path w="1000" h="1000" fill="none">
                  <a:moveTo>
                    <a:pt x="32" y="80"/>
                  </a:moveTo>
                  <a:lnTo>
                    <a:pt x="32" y="920"/>
                  </a:lnTo>
                </a:path>
                <a:path w="1000" h="1000" fill="none">
                  <a:moveTo>
                    <a:pt x="39" y="80"/>
                  </a:moveTo>
                  <a:lnTo>
                    <a:pt x="39" y="920"/>
                  </a:lnTo>
                </a:path>
                <a:path w="1000" h="1000" fill="none">
                  <a:moveTo>
                    <a:pt x="47" y="80"/>
                  </a:moveTo>
                  <a:lnTo>
                    <a:pt x="47" y="920"/>
                  </a:lnTo>
                </a:path>
                <a:path w="1000" h="1000" fill="none">
                  <a:moveTo>
                    <a:pt x="54" y="80"/>
                  </a:moveTo>
                  <a:lnTo>
                    <a:pt x="54" y="920"/>
                  </a:lnTo>
                </a:path>
                <a:path w="1000" h="1000" fill="none">
                  <a:moveTo>
                    <a:pt x="61" y="80"/>
                  </a:moveTo>
                  <a:lnTo>
                    <a:pt x="61" y="920"/>
                  </a:lnTo>
                </a:path>
                <a:path w="1000" h="1000" fill="none">
                  <a:moveTo>
                    <a:pt x="68" y="80"/>
                  </a:moveTo>
                  <a:lnTo>
                    <a:pt x="68" y="920"/>
                  </a:lnTo>
                </a:path>
                <a:path w="1000" h="1000" fill="none">
                  <a:moveTo>
                    <a:pt x="76" y="80"/>
                  </a:moveTo>
                  <a:lnTo>
                    <a:pt x="76" y="920"/>
                  </a:lnTo>
                </a:path>
                <a:path w="1000" h="1000" fill="none">
                  <a:moveTo>
                    <a:pt x="83" y="80"/>
                  </a:moveTo>
                  <a:lnTo>
                    <a:pt x="83" y="920"/>
                  </a:lnTo>
                </a:path>
                <a:path w="1000" h="1000" fill="none">
                  <a:moveTo>
                    <a:pt x="90" y="80"/>
                  </a:moveTo>
                  <a:lnTo>
                    <a:pt x="90" y="920"/>
                  </a:lnTo>
                </a:path>
                <a:path w="1000" h="1000" fill="none">
                  <a:moveTo>
                    <a:pt x="97" y="80"/>
                  </a:moveTo>
                  <a:lnTo>
                    <a:pt x="97" y="920"/>
                  </a:lnTo>
                </a:path>
                <a:path w="1000" h="1000" fill="none">
                  <a:moveTo>
                    <a:pt x="105" y="80"/>
                  </a:moveTo>
                  <a:lnTo>
                    <a:pt x="105" y="920"/>
                  </a:lnTo>
                </a:path>
                <a:path w="1000" h="1000" fill="none">
                  <a:moveTo>
                    <a:pt x="112" y="80"/>
                  </a:moveTo>
                  <a:lnTo>
                    <a:pt x="112" y="920"/>
                  </a:lnTo>
                </a:path>
                <a:path w="1000" h="1000" fill="none">
                  <a:moveTo>
                    <a:pt x="119" y="80"/>
                  </a:moveTo>
                  <a:lnTo>
                    <a:pt x="119" y="920"/>
                  </a:lnTo>
                </a:path>
                <a:path w="1000" h="1000" fill="none">
                  <a:moveTo>
                    <a:pt x="126" y="80"/>
                  </a:moveTo>
                  <a:lnTo>
                    <a:pt x="126" y="920"/>
                  </a:lnTo>
                </a:path>
                <a:path w="1000" h="1000" fill="none">
                  <a:moveTo>
                    <a:pt x="134" y="80"/>
                  </a:moveTo>
                  <a:lnTo>
                    <a:pt x="134" y="920"/>
                  </a:lnTo>
                </a:path>
                <a:path w="1000" h="1000" fill="none">
                  <a:moveTo>
                    <a:pt x="141" y="80"/>
                  </a:moveTo>
                  <a:lnTo>
                    <a:pt x="141" y="920"/>
                  </a:lnTo>
                </a:path>
                <a:path w="1000" h="1000" fill="none">
                  <a:moveTo>
                    <a:pt x="148" y="80"/>
                  </a:moveTo>
                  <a:lnTo>
                    <a:pt x="148" y="920"/>
                  </a:lnTo>
                </a:path>
                <a:path w="1000" h="1000" fill="none">
                  <a:moveTo>
                    <a:pt x="155" y="80"/>
                  </a:moveTo>
                  <a:lnTo>
                    <a:pt x="155" y="920"/>
                  </a:lnTo>
                </a:path>
                <a:path w="1000" h="1000" fill="none">
                  <a:moveTo>
                    <a:pt x="163" y="80"/>
                  </a:moveTo>
                  <a:lnTo>
                    <a:pt x="163" y="920"/>
                  </a:lnTo>
                </a:path>
                <a:path w="1000" h="1000" fill="none">
                  <a:moveTo>
                    <a:pt x="170" y="80"/>
                  </a:moveTo>
                  <a:lnTo>
                    <a:pt x="170" y="920"/>
                  </a:lnTo>
                </a:path>
                <a:path w="1000" h="1000" fill="none">
                  <a:moveTo>
                    <a:pt x="177" y="80"/>
                  </a:moveTo>
                  <a:lnTo>
                    <a:pt x="177" y="920"/>
                  </a:lnTo>
                </a:path>
                <a:path w="1000" h="1000" fill="none">
                  <a:moveTo>
                    <a:pt x="184" y="80"/>
                  </a:moveTo>
                  <a:lnTo>
                    <a:pt x="184" y="920"/>
                  </a:lnTo>
                </a:path>
                <a:path w="1000" h="1000" fill="none">
                  <a:moveTo>
                    <a:pt x="192" y="80"/>
                  </a:moveTo>
                  <a:lnTo>
                    <a:pt x="192" y="920"/>
                  </a:lnTo>
                </a:path>
                <a:path w="1000" h="1000" fill="none">
                  <a:moveTo>
                    <a:pt x="199" y="80"/>
                  </a:moveTo>
                  <a:lnTo>
                    <a:pt x="199" y="920"/>
                  </a:lnTo>
                </a:path>
                <a:path w="1000" h="1000" fill="none">
                  <a:moveTo>
                    <a:pt x="206" y="80"/>
                  </a:moveTo>
                  <a:lnTo>
                    <a:pt x="206" y="920"/>
                  </a:lnTo>
                </a:path>
                <a:path w="1000" h="1000" fill="none">
                  <a:moveTo>
                    <a:pt x="213" y="80"/>
                  </a:moveTo>
                  <a:lnTo>
                    <a:pt x="213" y="920"/>
                  </a:lnTo>
                </a:path>
                <a:path w="1000" h="1000" fill="none">
                  <a:moveTo>
                    <a:pt x="221" y="80"/>
                  </a:moveTo>
                  <a:lnTo>
                    <a:pt x="221" y="920"/>
                  </a:lnTo>
                </a:path>
                <a:path w="1000" h="1000" fill="none">
                  <a:moveTo>
                    <a:pt x="228" y="80"/>
                  </a:moveTo>
                  <a:lnTo>
                    <a:pt x="228" y="920"/>
                  </a:lnTo>
                </a:path>
                <a:path w="1000" h="1000" fill="none">
                  <a:moveTo>
                    <a:pt x="235" y="80"/>
                  </a:moveTo>
                  <a:lnTo>
                    <a:pt x="235" y="920"/>
                  </a:lnTo>
                </a:path>
                <a:path w="1000" h="1000" fill="none">
                  <a:moveTo>
                    <a:pt x="242" y="80"/>
                  </a:moveTo>
                  <a:lnTo>
                    <a:pt x="242" y="920"/>
                  </a:lnTo>
                </a:path>
                <a:path w="1000" h="1000" fill="none">
                  <a:moveTo>
                    <a:pt x="250" y="80"/>
                  </a:moveTo>
                  <a:lnTo>
                    <a:pt x="250" y="920"/>
                  </a:lnTo>
                </a:path>
                <a:path w="1000" h="1000" fill="none">
                  <a:moveTo>
                    <a:pt x="257" y="80"/>
                  </a:moveTo>
                  <a:lnTo>
                    <a:pt x="257" y="920"/>
                  </a:lnTo>
                </a:path>
                <a:path w="1000" h="1000" fill="none">
                  <a:moveTo>
                    <a:pt x="264" y="80"/>
                  </a:moveTo>
                  <a:lnTo>
                    <a:pt x="264" y="920"/>
                  </a:lnTo>
                </a:path>
                <a:path w="1000" h="1000" fill="none">
                  <a:moveTo>
                    <a:pt x="271" y="80"/>
                  </a:moveTo>
                  <a:lnTo>
                    <a:pt x="271" y="920"/>
                  </a:lnTo>
                </a:path>
                <a:path w="1000" h="1000" fill="none">
                  <a:moveTo>
                    <a:pt x="278" y="80"/>
                  </a:moveTo>
                  <a:lnTo>
                    <a:pt x="278" y="920"/>
                  </a:lnTo>
                </a:path>
                <a:path w="1000" h="1000" fill="none">
                  <a:moveTo>
                    <a:pt x="286" y="80"/>
                  </a:moveTo>
                  <a:lnTo>
                    <a:pt x="286" y="920"/>
                  </a:lnTo>
                </a:path>
                <a:path w="1000" h="1000" fill="none">
                  <a:moveTo>
                    <a:pt x="293" y="80"/>
                  </a:moveTo>
                  <a:lnTo>
                    <a:pt x="293" y="920"/>
                  </a:lnTo>
                </a:path>
                <a:path w="1000" h="1000" fill="none">
                  <a:moveTo>
                    <a:pt x="300" y="80"/>
                  </a:moveTo>
                  <a:lnTo>
                    <a:pt x="300" y="920"/>
                  </a:lnTo>
                </a:path>
                <a:path w="1000" h="1000" fill="none">
                  <a:moveTo>
                    <a:pt x="307" y="80"/>
                  </a:moveTo>
                  <a:lnTo>
                    <a:pt x="307" y="920"/>
                  </a:lnTo>
                </a:path>
                <a:path w="1000" h="1000" fill="none">
                  <a:moveTo>
                    <a:pt x="315" y="80"/>
                  </a:moveTo>
                  <a:lnTo>
                    <a:pt x="315" y="920"/>
                  </a:lnTo>
                </a:path>
                <a:path w="1000" h="1000" fill="none">
                  <a:moveTo>
                    <a:pt x="322" y="80"/>
                  </a:moveTo>
                  <a:lnTo>
                    <a:pt x="322" y="920"/>
                  </a:lnTo>
                </a:path>
                <a:path w="1000" h="1000" fill="none">
                  <a:moveTo>
                    <a:pt x="329" y="80"/>
                  </a:moveTo>
                  <a:lnTo>
                    <a:pt x="329" y="920"/>
                  </a:lnTo>
                </a:path>
                <a:path w="1000" h="1000" fill="none">
                  <a:moveTo>
                    <a:pt x="336" y="80"/>
                  </a:moveTo>
                  <a:lnTo>
                    <a:pt x="336" y="920"/>
                  </a:lnTo>
                </a:path>
                <a:path w="1000" h="1000" fill="none">
                  <a:moveTo>
                    <a:pt x="344" y="80"/>
                  </a:moveTo>
                  <a:lnTo>
                    <a:pt x="344" y="920"/>
                  </a:lnTo>
                </a:path>
                <a:path w="1000" h="1000" fill="none">
                  <a:moveTo>
                    <a:pt x="351" y="80"/>
                  </a:moveTo>
                  <a:lnTo>
                    <a:pt x="351" y="920"/>
                  </a:lnTo>
                </a:path>
                <a:path w="1000" h="1000" fill="none">
                  <a:moveTo>
                    <a:pt x="358" y="80"/>
                  </a:moveTo>
                  <a:lnTo>
                    <a:pt x="358" y="920"/>
                  </a:lnTo>
                </a:path>
                <a:path w="1000" h="1000" fill="none">
                  <a:moveTo>
                    <a:pt x="365" y="80"/>
                  </a:moveTo>
                  <a:lnTo>
                    <a:pt x="365" y="920"/>
                  </a:lnTo>
                </a:path>
                <a:path w="1000" h="1000" fill="none">
                  <a:moveTo>
                    <a:pt x="373" y="80"/>
                  </a:moveTo>
                  <a:lnTo>
                    <a:pt x="373" y="920"/>
                  </a:lnTo>
                </a:path>
                <a:path w="1000" h="1000" fill="none">
                  <a:moveTo>
                    <a:pt x="380" y="80"/>
                  </a:moveTo>
                  <a:lnTo>
                    <a:pt x="380" y="920"/>
                  </a:lnTo>
                </a:path>
                <a:path w="1000" h="1000" fill="none">
                  <a:moveTo>
                    <a:pt x="387" y="80"/>
                  </a:moveTo>
                  <a:lnTo>
                    <a:pt x="387" y="920"/>
                  </a:lnTo>
                </a:path>
                <a:path w="1000" h="1000" fill="none">
                  <a:moveTo>
                    <a:pt x="394" y="80"/>
                  </a:moveTo>
                  <a:lnTo>
                    <a:pt x="394" y="920"/>
                  </a:lnTo>
                </a:path>
                <a:path w="1000" h="1000" fill="none">
                  <a:moveTo>
                    <a:pt x="402" y="80"/>
                  </a:moveTo>
                  <a:lnTo>
                    <a:pt x="402" y="920"/>
                  </a:lnTo>
                </a:path>
                <a:path w="1000" h="1000" fill="none">
                  <a:moveTo>
                    <a:pt x="409" y="80"/>
                  </a:moveTo>
                  <a:lnTo>
                    <a:pt x="409" y="920"/>
                  </a:lnTo>
                </a:path>
                <a:path w="1000" h="1000" fill="none">
                  <a:moveTo>
                    <a:pt x="416" y="80"/>
                  </a:moveTo>
                  <a:lnTo>
                    <a:pt x="416" y="920"/>
                  </a:lnTo>
                </a:path>
                <a:path w="1000" h="1000" fill="none">
                  <a:moveTo>
                    <a:pt x="423" y="80"/>
                  </a:moveTo>
                  <a:lnTo>
                    <a:pt x="423" y="920"/>
                  </a:lnTo>
                </a:path>
                <a:path w="1000" h="1000" fill="none">
                  <a:moveTo>
                    <a:pt x="431" y="80"/>
                  </a:moveTo>
                  <a:lnTo>
                    <a:pt x="431" y="920"/>
                  </a:lnTo>
                </a:path>
                <a:path w="1000" h="1000" fill="none">
                  <a:moveTo>
                    <a:pt x="438" y="80"/>
                  </a:moveTo>
                  <a:lnTo>
                    <a:pt x="438" y="920"/>
                  </a:lnTo>
                </a:path>
                <a:path w="1000" h="1000" fill="none">
                  <a:moveTo>
                    <a:pt x="445" y="80"/>
                  </a:moveTo>
                  <a:lnTo>
                    <a:pt x="445" y="920"/>
                  </a:lnTo>
                </a:path>
                <a:path w="1000" h="1000" fill="none">
                  <a:moveTo>
                    <a:pt x="452" y="80"/>
                  </a:moveTo>
                  <a:lnTo>
                    <a:pt x="452" y="920"/>
                  </a:lnTo>
                </a:path>
                <a:path w="1000" h="1000" fill="none">
                  <a:moveTo>
                    <a:pt x="460" y="80"/>
                  </a:moveTo>
                  <a:lnTo>
                    <a:pt x="460" y="920"/>
                  </a:lnTo>
                </a:path>
                <a:path w="1000" h="1000" fill="none">
                  <a:moveTo>
                    <a:pt x="467" y="80"/>
                  </a:moveTo>
                  <a:lnTo>
                    <a:pt x="467" y="920"/>
                  </a:lnTo>
                </a:path>
                <a:path w="1000" h="1000" fill="none">
                  <a:moveTo>
                    <a:pt x="474" y="80"/>
                  </a:moveTo>
                  <a:lnTo>
                    <a:pt x="474" y="920"/>
                  </a:lnTo>
                </a:path>
                <a:path w="1000" h="1000" fill="none">
                  <a:moveTo>
                    <a:pt x="481" y="80"/>
                  </a:moveTo>
                  <a:lnTo>
                    <a:pt x="481" y="920"/>
                  </a:lnTo>
                </a:path>
                <a:path w="1000" h="1000" fill="none">
                  <a:moveTo>
                    <a:pt x="489" y="80"/>
                  </a:moveTo>
                  <a:lnTo>
                    <a:pt x="489" y="920"/>
                  </a:lnTo>
                </a:path>
                <a:path w="1000" h="1000" fill="none">
                  <a:moveTo>
                    <a:pt x="496" y="80"/>
                  </a:moveTo>
                  <a:lnTo>
                    <a:pt x="496" y="920"/>
                  </a:lnTo>
                </a:path>
                <a:path w="1000" h="1000" fill="none">
                  <a:moveTo>
                    <a:pt x="503" y="80"/>
                  </a:moveTo>
                  <a:lnTo>
                    <a:pt x="503" y="920"/>
                  </a:lnTo>
                </a:path>
                <a:path w="1000" h="1000" fill="none">
                  <a:moveTo>
                    <a:pt x="510" y="80"/>
                  </a:moveTo>
                  <a:lnTo>
                    <a:pt x="510" y="920"/>
                  </a:lnTo>
                </a:path>
                <a:path w="1000" h="1000" fill="none">
                  <a:moveTo>
                    <a:pt x="518" y="80"/>
                  </a:moveTo>
                  <a:lnTo>
                    <a:pt x="518" y="920"/>
                  </a:lnTo>
                </a:path>
                <a:path w="1000" h="1000" fill="none">
                  <a:moveTo>
                    <a:pt x="525" y="80"/>
                  </a:moveTo>
                  <a:lnTo>
                    <a:pt x="525" y="920"/>
                  </a:lnTo>
                </a:path>
                <a:path w="1000" h="1000" fill="none">
                  <a:moveTo>
                    <a:pt x="532" y="80"/>
                  </a:moveTo>
                  <a:lnTo>
                    <a:pt x="532" y="920"/>
                  </a:lnTo>
                </a:path>
                <a:path w="1000" h="1000" fill="none">
                  <a:moveTo>
                    <a:pt x="539" y="80"/>
                  </a:moveTo>
                  <a:lnTo>
                    <a:pt x="539" y="920"/>
                  </a:lnTo>
                </a:path>
                <a:path w="1000" h="1000" fill="none">
                  <a:moveTo>
                    <a:pt x="547" y="80"/>
                  </a:moveTo>
                  <a:lnTo>
                    <a:pt x="547" y="920"/>
                  </a:lnTo>
                </a:path>
                <a:path w="1000" h="1000" fill="none">
                  <a:moveTo>
                    <a:pt x="554" y="80"/>
                  </a:moveTo>
                  <a:lnTo>
                    <a:pt x="554" y="920"/>
                  </a:lnTo>
                </a:path>
                <a:path w="1000" h="1000" fill="none">
                  <a:moveTo>
                    <a:pt x="561" y="80"/>
                  </a:moveTo>
                  <a:lnTo>
                    <a:pt x="561" y="920"/>
                  </a:lnTo>
                </a:path>
                <a:path w="1000" h="1000" fill="none">
                  <a:moveTo>
                    <a:pt x="568" y="80"/>
                  </a:moveTo>
                  <a:lnTo>
                    <a:pt x="568" y="920"/>
                  </a:lnTo>
                </a:path>
                <a:path w="1000" h="1000" fill="none">
                  <a:moveTo>
                    <a:pt x="576" y="80"/>
                  </a:moveTo>
                  <a:lnTo>
                    <a:pt x="576" y="920"/>
                  </a:lnTo>
                </a:path>
                <a:path w="1000" h="1000" fill="none">
                  <a:moveTo>
                    <a:pt x="583" y="80"/>
                  </a:moveTo>
                  <a:lnTo>
                    <a:pt x="583" y="920"/>
                  </a:lnTo>
                </a:path>
                <a:path w="1000" h="1000" fill="none">
                  <a:moveTo>
                    <a:pt x="590" y="80"/>
                  </a:moveTo>
                  <a:lnTo>
                    <a:pt x="590" y="920"/>
                  </a:lnTo>
                </a:path>
                <a:path w="1000" h="1000" fill="none">
                  <a:moveTo>
                    <a:pt x="597" y="80"/>
                  </a:moveTo>
                  <a:lnTo>
                    <a:pt x="597" y="920"/>
                  </a:lnTo>
                </a:path>
                <a:path w="1000" h="1000" fill="none">
                  <a:moveTo>
                    <a:pt x="605" y="80"/>
                  </a:moveTo>
                  <a:lnTo>
                    <a:pt x="605" y="920"/>
                  </a:lnTo>
                </a:path>
                <a:path w="1000" h="1000" fill="none">
                  <a:moveTo>
                    <a:pt x="612" y="80"/>
                  </a:moveTo>
                  <a:lnTo>
                    <a:pt x="612" y="920"/>
                  </a:lnTo>
                </a:path>
                <a:path w="1000" h="1000" fill="none">
                  <a:moveTo>
                    <a:pt x="619" y="80"/>
                  </a:moveTo>
                  <a:lnTo>
                    <a:pt x="619" y="920"/>
                  </a:lnTo>
                </a:path>
                <a:path w="1000" h="1000" fill="none">
                  <a:moveTo>
                    <a:pt x="626" y="80"/>
                  </a:moveTo>
                  <a:lnTo>
                    <a:pt x="626" y="920"/>
                  </a:lnTo>
                </a:path>
                <a:path w="1000" h="1000" fill="none">
                  <a:moveTo>
                    <a:pt x="634" y="80"/>
                  </a:moveTo>
                  <a:lnTo>
                    <a:pt x="634" y="920"/>
                  </a:lnTo>
                </a:path>
                <a:path w="1000" h="1000" fill="none">
                  <a:moveTo>
                    <a:pt x="641" y="80"/>
                  </a:moveTo>
                  <a:lnTo>
                    <a:pt x="641" y="920"/>
                  </a:lnTo>
                </a:path>
                <a:path w="1000" h="1000" fill="none">
                  <a:moveTo>
                    <a:pt x="648" y="80"/>
                  </a:moveTo>
                  <a:lnTo>
                    <a:pt x="648" y="920"/>
                  </a:lnTo>
                </a:path>
                <a:path w="1000" h="1000" fill="none">
                  <a:moveTo>
                    <a:pt x="655" y="80"/>
                  </a:moveTo>
                  <a:lnTo>
                    <a:pt x="655" y="920"/>
                  </a:lnTo>
                </a:path>
                <a:path w="1000" h="1000" fill="none">
                  <a:moveTo>
                    <a:pt x="663" y="80"/>
                  </a:moveTo>
                  <a:lnTo>
                    <a:pt x="663" y="920"/>
                  </a:lnTo>
                </a:path>
                <a:path w="1000" h="1000" fill="none">
                  <a:moveTo>
                    <a:pt x="670" y="80"/>
                  </a:moveTo>
                  <a:lnTo>
                    <a:pt x="670" y="920"/>
                  </a:lnTo>
                </a:path>
                <a:path w="1000" h="1000" fill="none">
                  <a:moveTo>
                    <a:pt x="677" y="80"/>
                  </a:moveTo>
                  <a:lnTo>
                    <a:pt x="677" y="920"/>
                  </a:lnTo>
                </a:path>
                <a:path w="1000" h="1000" fill="none">
                  <a:moveTo>
                    <a:pt x="684" y="80"/>
                  </a:moveTo>
                  <a:lnTo>
                    <a:pt x="684" y="920"/>
                  </a:lnTo>
                </a:path>
                <a:path w="1000" h="1000" fill="none">
                  <a:moveTo>
                    <a:pt x="692" y="80"/>
                  </a:moveTo>
                  <a:lnTo>
                    <a:pt x="692" y="920"/>
                  </a:lnTo>
                </a:path>
                <a:path w="1000" h="1000" fill="none">
                  <a:moveTo>
                    <a:pt x="699" y="80"/>
                  </a:moveTo>
                  <a:lnTo>
                    <a:pt x="699" y="920"/>
                  </a:lnTo>
                </a:path>
                <a:path w="1000" h="1000" fill="none">
                  <a:moveTo>
                    <a:pt x="706" y="80"/>
                  </a:moveTo>
                  <a:lnTo>
                    <a:pt x="706" y="920"/>
                  </a:lnTo>
                </a:path>
                <a:path w="1000" h="1000" fill="none">
                  <a:moveTo>
                    <a:pt x="713" y="80"/>
                  </a:moveTo>
                  <a:lnTo>
                    <a:pt x="713" y="920"/>
                  </a:lnTo>
                </a:path>
                <a:path w="1000" h="1000" fill="none">
                  <a:moveTo>
                    <a:pt x="721" y="80"/>
                  </a:moveTo>
                  <a:lnTo>
                    <a:pt x="721" y="920"/>
                  </a:lnTo>
                </a:path>
                <a:path w="1000" h="1000" fill="none">
                  <a:moveTo>
                    <a:pt x="728" y="80"/>
                  </a:moveTo>
                  <a:lnTo>
                    <a:pt x="728" y="920"/>
                  </a:lnTo>
                </a:path>
                <a:path w="1000" h="1000" fill="none">
                  <a:moveTo>
                    <a:pt x="735" y="80"/>
                  </a:moveTo>
                  <a:lnTo>
                    <a:pt x="735" y="920"/>
                  </a:lnTo>
                </a:path>
                <a:path w="1000" h="1000" fill="none">
                  <a:moveTo>
                    <a:pt x="742" y="80"/>
                  </a:moveTo>
                  <a:lnTo>
                    <a:pt x="742" y="920"/>
                  </a:lnTo>
                </a:path>
                <a:path w="1000" h="1000" fill="none">
                  <a:moveTo>
                    <a:pt x="750" y="80"/>
                  </a:moveTo>
                  <a:lnTo>
                    <a:pt x="750" y="920"/>
                  </a:lnTo>
                </a:path>
                <a:path w="1000" h="1000" fill="none">
                  <a:moveTo>
                    <a:pt x="757" y="80"/>
                  </a:moveTo>
                  <a:lnTo>
                    <a:pt x="757" y="920"/>
                  </a:lnTo>
                </a:path>
                <a:path w="1000" h="1000" fill="none">
                  <a:moveTo>
                    <a:pt x="764" y="80"/>
                  </a:moveTo>
                  <a:lnTo>
                    <a:pt x="764" y="920"/>
                  </a:lnTo>
                </a:path>
                <a:path w="1000" h="1000" fill="none">
                  <a:moveTo>
                    <a:pt x="771" y="80"/>
                  </a:moveTo>
                  <a:lnTo>
                    <a:pt x="771" y="920"/>
                  </a:lnTo>
                </a:path>
                <a:path w="1000" h="1000" fill="none">
                  <a:moveTo>
                    <a:pt x="778" y="80"/>
                  </a:moveTo>
                  <a:lnTo>
                    <a:pt x="778" y="920"/>
                  </a:lnTo>
                </a:path>
                <a:path w="1000" h="1000" fill="none">
                  <a:moveTo>
                    <a:pt x="786" y="80"/>
                  </a:moveTo>
                  <a:lnTo>
                    <a:pt x="786" y="920"/>
                  </a:lnTo>
                </a:path>
                <a:path w="1000" h="1000" fill="none">
                  <a:moveTo>
                    <a:pt x="793" y="80"/>
                  </a:moveTo>
                  <a:lnTo>
                    <a:pt x="793" y="920"/>
                  </a:lnTo>
                </a:path>
                <a:path w="1000" h="1000" fill="none">
                  <a:moveTo>
                    <a:pt x="800" y="80"/>
                  </a:moveTo>
                  <a:lnTo>
                    <a:pt x="800" y="920"/>
                  </a:lnTo>
                </a:path>
                <a:path w="1000" h="1000" fill="none">
                  <a:moveTo>
                    <a:pt x="807" y="80"/>
                  </a:moveTo>
                  <a:lnTo>
                    <a:pt x="807" y="920"/>
                  </a:lnTo>
                </a:path>
                <a:path w="1000" h="1000" fill="none">
                  <a:moveTo>
                    <a:pt x="815" y="80"/>
                  </a:moveTo>
                  <a:lnTo>
                    <a:pt x="815" y="920"/>
                  </a:lnTo>
                </a:path>
                <a:path w="1000" h="1000" fill="none">
                  <a:moveTo>
                    <a:pt x="822" y="80"/>
                  </a:moveTo>
                  <a:lnTo>
                    <a:pt x="822" y="920"/>
                  </a:lnTo>
                </a:path>
                <a:path w="1000" h="1000" fill="none">
                  <a:moveTo>
                    <a:pt x="829" y="80"/>
                  </a:moveTo>
                  <a:lnTo>
                    <a:pt x="829" y="920"/>
                  </a:lnTo>
                </a:path>
                <a:path w="1000" h="1000" fill="none">
                  <a:moveTo>
                    <a:pt x="836" y="80"/>
                  </a:moveTo>
                  <a:lnTo>
                    <a:pt x="836" y="920"/>
                  </a:lnTo>
                </a:path>
                <a:path w="1000" h="1000" fill="none">
                  <a:moveTo>
                    <a:pt x="844" y="80"/>
                  </a:moveTo>
                  <a:lnTo>
                    <a:pt x="844" y="920"/>
                  </a:lnTo>
                </a:path>
                <a:path w="1000" h="1000" fill="none">
                  <a:moveTo>
                    <a:pt x="851" y="80"/>
                  </a:moveTo>
                  <a:lnTo>
                    <a:pt x="851" y="920"/>
                  </a:lnTo>
                </a:path>
                <a:path w="1000" h="1000" fill="none">
                  <a:moveTo>
                    <a:pt x="858" y="80"/>
                  </a:moveTo>
                  <a:lnTo>
                    <a:pt x="858" y="920"/>
                  </a:lnTo>
                </a:path>
                <a:path w="1000" h="1000" fill="none">
                  <a:moveTo>
                    <a:pt x="865" y="80"/>
                  </a:moveTo>
                  <a:lnTo>
                    <a:pt x="865" y="920"/>
                  </a:lnTo>
                </a:path>
                <a:path w="1000" h="1000" fill="none">
                  <a:moveTo>
                    <a:pt x="873" y="80"/>
                  </a:moveTo>
                  <a:lnTo>
                    <a:pt x="873" y="920"/>
                  </a:lnTo>
                </a:path>
                <a:path w="1000" h="1000" fill="none">
                  <a:moveTo>
                    <a:pt x="880" y="80"/>
                  </a:moveTo>
                  <a:lnTo>
                    <a:pt x="880" y="920"/>
                  </a:lnTo>
                </a:path>
                <a:path w="1000" h="1000" fill="none">
                  <a:moveTo>
                    <a:pt x="887" y="80"/>
                  </a:moveTo>
                  <a:lnTo>
                    <a:pt x="887" y="920"/>
                  </a:lnTo>
                </a:path>
                <a:path w="1000" h="1000" fill="none">
                  <a:moveTo>
                    <a:pt x="894" y="80"/>
                  </a:moveTo>
                  <a:lnTo>
                    <a:pt x="894" y="920"/>
                  </a:lnTo>
                </a:path>
                <a:path w="1000" h="1000" fill="none">
                  <a:moveTo>
                    <a:pt x="902" y="80"/>
                  </a:moveTo>
                  <a:lnTo>
                    <a:pt x="902" y="920"/>
                  </a:lnTo>
                </a:path>
                <a:path w="1000" h="1000" fill="none">
                  <a:moveTo>
                    <a:pt x="909" y="80"/>
                  </a:moveTo>
                  <a:lnTo>
                    <a:pt x="909" y="920"/>
                  </a:lnTo>
                </a:path>
                <a:path w="1000" h="1000" fill="none">
                  <a:moveTo>
                    <a:pt x="916" y="80"/>
                  </a:moveTo>
                  <a:lnTo>
                    <a:pt x="916" y="920"/>
                  </a:lnTo>
                </a:path>
                <a:path w="1000" h="1000" fill="none">
                  <a:moveTo>
                    <a:pt x="923" y="80"/>
                  </a:moveTo>
                  <a:lnTo>
                    <a:pt x="923" y="920"/>
                  </a:lnTo>
                </a:path>
                <a:path w="1000" h="1000" fill="none">
                  <a:moveTo>
                    <a:pt x="931" y="80"/>
                  </a:moveTo>
                  <a:lnTo>
                    <a:pt x="931" y="920"/>
                  </a:lnTo>
                </a:path>
                <a:path w="1000" h="1000" fill="none">
                  <a:moveTo>
                    <a:pt x="938" y="80"/>
                  </a:moveTo>
                  <a:lnTo>
                    <a:pt x="938" y="920"/>
                  </a:lnTo>
                </a:path>
                <a:path w="1000" h="1000" fill="none">
                  <a:moveTo>
                    <a:pt x="945" y="80"/>
                  </a:moveTo>
                  <a:lnTo>
                    <a:pt x="945" y="920"/>
                  </a:lnTo>
                </a:path>
                <a:path w="1000" h="1000" fill="none">
                  <a:moveTo>
                    <a:pt x="952" y="80"/>
                  </a:moveTo>
                  <a:lnTo>
                    <a:pt x="952" y="920"/>
                  </a:lnTo>
                </a:path>
                <a:path w="1000" h="1000" fill="none">
                  <a:moveTo>
                    <a:pt x="960" y="80"/>
                  </a:moveTo>
                  <a:lnTo>
                    <a:pt x="960" y="920"/>
                  </a:lnTo>
                </a:path>
                <a:path w="1000" h="1000" fill="none">
                  <a:moveTo>
                    <a:pt x="967" y="80"/>
                  </a:moveTo>
                  <a:lnTo>
                    <a:pt x="967" y="920"/>
                  </a:lnTo>
                </a:path>
                <a:path w="1000" h="1000" fill="none">
                  <a:moveTo>
                    <a:pt x="974" y="80"/>
                  </a:moveTo>
                  <a:lnTo>
                    <a:pt x="974" y="920"/>
                  </a:lnTo>
                </a:path>
                <a:path w="1000" h="1000" fill="none">
                  <a:moveTo>
                    <a:pt x="981" y="80"/>
                  </a:moveTo>
                  <a:lnTo>
                    <a:pt x="981" y="920"/>
                  </a:lnTo>
                </a:path>
                <a:path w="1000" h="1000" fill="none">
                  <a:moveTo>
                    <a:pt x="989" y="80"/>
                  </a:moveTo>
                  <a:lnTo>
                    <a:pt x="989" y="920"/>
                  </a:lnTo>
                </a:path>
                <a:path w="1000" h="1000" fill="none">
                  <a:moveTo>
                    <a:pt x="996" y="80"/>
                  </a:moveTo>
                  <a:lnTo>
                    <a:pt x="996" y="920"/>
                  </a:lnTo>
                </a:path>
              </a:pathLst>
            </a:custGeom>
            <a:noFill/>
            <a:ln w="12700" cap="rnd">
              <a:solidFill>
                <a:srgbClr val="822E27"/>
              </a:solidFill>
              <a:round/>
            </a:ln>
          </p:spPr>
        </p:sp>
        <p:sp>
          <p:nvSpPr>
            <p:cNvPr id="7" name="Forma 6"/>
            <p:cNvSpPr/>
            <p:nvPr/>
          </p:nvSpPr>
          <p:spPr>
            <a:xfrm>
              <a:off x="2651760" y="1078992"/>
              <a:ext cx="342900" cy="12344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 name="Forma 7"/>
            <p:cNvSpPr/>
            <p:nvPr/>
          </p:nvSpPr>
          <p:spPr>
            <a:xfrm>
              <a:off x="6652260" y="1078992"/>
              <a:ext cx="342900" cy="12344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10081260" y="1078992"/>
              <a:ext cx="342900" cy="12344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11507724" y="1078992"/>
              <a:ext cx="274320" cy="630936"/>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sp>
        <p:nvSpPr>
          <p:cNvPr id="11" name="Mitocondria muscular"/>
          <p:cNvSpPr/>
          <p:nvPr/>
        </p:nvSpPr>
        <p:spPr>
          <a:xfrm>
            <a:off x="457200" y="2103120"/>
            <a:ext cx="5120640" cy="2743200"/>
          </a:xfrm>
          <a:prstGeom prst="ellipse">
            <a:avLst/>
          </a:prstGeom>
          <a:solidFill>
            <a:srgbClr val="F8C471">
              <a:alpha val="75000"/>
            </a:srgbClr>
          </a:solidFill>
          <a:ln w="31750" cap="rnd">
            <a:solidFill>
              <a:srgbClr val="B9770E"/>
            </a:solidFill>
            <a:round/>
          </a:ln>
        </p:spPr>
        <p:txBody>
          <a:bodyPr wrap="square" lIns="73152" tIns="45720" rIns="73152" bIns="45720" anchor="ctr" rtlCol="0">
            <a:noAutofit/>
          </a:bodyPr>
          <a:lstStyle/>
          <a:p>
            <a:pPr algn="ctr">
              <a:spcAft>
                <a:spcPts val="300"/>
              </a:spcAft>
              <a:buNone/>
            </a:pPr>
            <a:r>
              <a:rPr lang="es-AR" sz="1500" b="1" dirty="0">
                <a:solidFill>
                  <a:srgbClr val="7E5109"/>
                </a:solidFill>
                <a:latin typeface="Bahnschrift SemiBold Condensed"/>
                <a:ea typeface="Bahnschrift SemiBold Condensed"/>
                <a:cs typeface="Bahnschrift SemiBold Condensed"/>
                <a:sym typeface="Bahnschrift SemiBold Condensed"/>
              </a:rPr>
              <a:t>MITOCONDRIA</a:t>
            </a:r>
            <a:endParaRPr lang="es-AR" sz="1500" dirty="0">
              <a:latin typeface="Bahnschrift SemiBold Condensed"/>
            </a:endParaRPr>
          </a:p>
          <a:p>
            <a:pPr algn="ctr">
              <a:spcAft>
                <a:spcPts val="300"/>
              </a:spcAft>
              <a:buNone/>
            </a:pPr>
            <a:r>
              <a:rPr lang="es-AR" sz="1500" b="1" dirty="0">
                <a:solidFill>
                  <a:srgbClr val="7E5109"/>
                </a:solidFill>
                <a:latin typeface="Bahnschrift SemiBold Condensed"/>
                <a:ea typeface="Bahnschrift SemiBold Condensed"/>
                <a:cs typeface="Bahnschrift SemiBold Condensed"/>
                <a:sym typeface="Bahnschrift SemiBold Condensed"/>
              </a:rPr>
              <a:t>β-oxidación de AG largos</a:t>
            </a:r>
            <a:endParaRPr lang="es-AR" sz="1500" dirty="0">
              <a:latin typeface="Bahnschrift SemiBold Condensed"/>
            </a:endParaRPr>
          </a:p>
        </p:txBody>
      </p:sp>
      <p:sp>
        <p:nvSpPr>
          <p:cNvPr id="12" name="ACC2"/>
          <p:cNvSpPr/>
          <p:nvPr/>
        </p:nvSpPr>
        <p:spPr>
          <a:xfrm>
            <a:off x="4480560" y="2148840"/>
            <a:ext cx="1737360" cy="548640"/>
          </a:xfrm>
          <a:prstGeom prst="roundRect">
            <a:avLst/>
          </a:prstGeom>
          <a:gradFill rotWithShape="1">
            <a:gsLst>
              <a:gs pos="0">
                <a:srgbClr val="92E4B4"/>
              </a:gs>
              <a:gs pos="55000">
                <a:srgbClr val="58D68D"/>
              </a:gs>
              <a:gs pos="100000">
                <a:srgbClr val="46AB70"/>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ACC2 (ACACB)</a:t>
            </a:r>
            <a:endParaRPr lang="es-AR" sz="1300" dirty="0">
              <a:latin typeface="Bahnschrift SemiBold Condensed"/>
            </a:endParaRPr>
          </a:p>
        </p:txBody>
      </p:sp>
      <p:sp>
        <p:nvSpPr>
          <p:cNvPr id="13" name="CPT1B"/>
          <p:cNvSpPr/>
          <p:nvPr/>
        </p:nvSpPr>
        <p:spPr>
          <a:xfrm>
            <a:off x="5029200" y="3017520"/>
            <a:ext cx="1097280" cy="548640"/>
          </a:xfrm>
          <a:prstGeom prst="roundRect">
            <a:avLst/>
          </a:prstGeom>
          <a:gradFill rotWithShape="1">
            <a:gsLst>
              <a:gs pos="0">
                <a:srgbClr val="F9CF8D"/>
              </a:gs>
              <a:gs pos="55000">
                <a:srgbClr val="F5B041"/>
              </a:gs>
              <a:gs pos="100000">
                <a:srgbClr val="AB7B2D"/>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CPT1B</a:t>
            </a:r>
            <a:endParaRPr lang="es-AR" sz="1300" dirty="0">
              <a:latin typeface="Bahnschrift SemiBold Condensed"/>
            </a:endParaRPr>
          </a:p>
        </p:txBody>
      </p:sp>
      <p:sp>
        <p:nvSpPr>
          <p:cNvPr id="14" name="Malonil local"/>
          <p:cNvSpPr/>
          <p:nvPr/>
        </p:nvSpPr>
        <p:spPr>
          <a:xfrm>
            <a:off x="5486400" y="2697480"/>
            <a:ext cx="347472" cy="347472"/>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988" b="1" dirty="0">
                <a:solidFill>
                  <a:srgbClr val="FFFFFF"/>
                </a:solidFill>
                <a:latin typeface="Bahnschrift SemiBold Condensed"/>
                <a:ea typeface="Bahnschrift SemiBold Condensed"/>
                <a:cs typeface="Bahnschrift SemiBold Condensed"/>
                <a:sym typeface="Bahnschrift SemiBold Condensed"/>
              </a:rPr>
              <a:t>Mal</a:t>
            </a:r>
            <a:endParaRPr lang="es-AR" sz="988" dirty="0">
              <a:latin typeface="Bahnschrift SemiBold Condensed"/>
            </a:endParaRPr>
          </a:p>
        </p:txBody>
      </p:sp>
      <p:sp>
        <p:nvSpPr>
          <p:cNvPr id="15" name="MCD músculo"/>
          <p:cNvSpPr/>
          <p:nvPr/>
        </p:nvSpPr>
        <p:spPr>
          <a:xfrm>
            <a:off x="6309360" y="2331720"/>
            <a:ext cx="585337"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MCD</a:t>
            </a:r>
            <a:endParaRPr lang="es-AR" sz="1250" dirty="0">
              <a:latin typeface="Bahnschrift SemiBold Condensed"/>
            </a:endParaRPr>
          </a:p>
        </p:txBody>
      </p:sp>
      <p:grpSp>
        <p:nvGrpSpPr>
          <p:cNvPr id="16" name="Recuadro Señal, no síntesis"/>
          <p:cNvGrpSpPr/>
          <p:nvPr/>
        </p:nvGrpSpPr>
        <p:grpSpPr>
          <a:xfrm>
            <a:off x="6949440" y="2011680"/>
            <a:ext cx="4846320" cy="1828800"/>
            <a:chOff x="6949440" y="2011680"/>
            <a:chExt cx="4846320" cy="1828800"/>
          </a:xfrm>
        </p:grpSpPr>
        <p:sp>
          <p:nvSpPr>
            <p:cNvPr id="17" name="Forma 16"/>
            <p:cNvSpPr/>
            <p:nvPr/>
          </p:nvSpPr>
          <p:spPr>
            <a:xfrm>
              <a:off x="6949440" y="2194560"/>
              <a:ext cx="4846320" cy="1645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Predomina la </a:t>
              </a:r>
              <a:r>
                <a:rPr lang="es-AR" sz="1650" b="1" dirty="0">
                  <a:solidFill>
                    <a:srgbClr val="1E1E1E"/>
                  </a:solidFill>
                  <a:latin typeface="Bahnschrift"/>
                  <a:ea typeface="Bahnschrift"/>
                  <a:cs typeface="Bahnschrift"/>
                  <a:sym typeface="Bahnschrift"/>
                </a:rPr>
                <a:t>función señalizadora</a:t>
              </a:r>
              <a:r>
                <a:rPr lang="es-AR" sz="1650" dirty="0">
                  <a:solidFill>
                    <a:srgbClr val="1E1E1E"/>
                  </a:solidFill>
                  <a:latin typeface="Bahnschrift"/>
                  <a:ea typeface="Bahnschrift"/>
                  <a:cs typeface="Bahnschrift"/>
                  <a:sym typeface="Bahnschrift"/>
                </a:rPr>
                <a:t>: la ACC2, próxima a la membrana mitocondrial, genera malonil-CoA que modula </a:t>
              </a:r>
              <a:r>
                <a:rPr lang="es-AR" sz="1650" b="1" dirty="0">
                  <a:solidFill>
                    <a:srgbClr val="1E1E1E"/>
                  </a:solidFill>
                  <a:latin typeface="Bahnschrift"/>
                  <a:ea typeface="Bahnschrift"/>
                  <a:cs typeface="Bahnschrift"/>
                  <a:sym typeface="Bahnschrift"/>
                </a:rPr>
                <a:t>CPT1B</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8" name="Forma 17"/>
            <p:cNvSpPr/>
            <p:nvPr/>
          </p:nvSpPr>
          <p:spPr>
            <a:xfrm>
              <a:off x="7059168" y="2011680"/>
              <a:ext cx="181061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SEÑAL, NO SÍNTESIS</a:t>
              </a:r>
              <a:endParaRPr lang="es-AR" sz="1500" dirty="0">
                <a:latin typeface="Bahnschrift SemiBold Condensed"/>
              </a:endParaRPr>
            </a:p>
          </p:txBody>
        </p:sp>
      </p:grpSp>
      <p:sp>
        <p:nvSpPr>
          <p:cNvPr id="19" name="Forma 18"/>
          <p:cNvSpPr/>
          <p:nvPr/>
        </p:nvSpPr>
        <p:spPr>
          <a:xfrm>
            <a:off x="365760" y="5029200"/>
            <a:ext cx="5577840" cy="14630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Reposo alimentado</a:t>
            </a:r>
            <a:r>
              <a:rPr lang="es-AR" sz="1700" dirty="0">
                <a:solidFill>
                  <a:srgbClr val="1E1E1E"/>
                </a:solidFill>
                <a:latin typeface="Bahnschrift"/>
                <a:ea typeface="Bahnschrift"/>
                <a:cs typeface="Bahnschrift"/>
                <a:sym typeface="Bahnschrift"/>
              </a:rPr>
              <a:t>: el malonil-CoA puede </a:t>
            </a:r>
            <a:r>
              <a:rPr lang="es-AR" sz="1700" b="1" dirty="0">
                <a:solidFill>
                  <a:srgbClr val="1E1E1E"/>
                </a:solidFill>
                <a:latin typeface="Bahnschrift"/>
                <a:ea typeface="Bahnschrift"/>
                <a:cs typeface="Bahnschrift"/>
                <a:sym typeface="Bahnschrift"/>
              </a:rPr>
              <a:t>limitar</a:t>
            </a:r>
            <a:r>
              <a:rPr lang="es-AR" sz="1700" dirty="0">
                <a:solidFill>
                  <a:srgbClr val="1E1E1E"/>
                </a:solidFill>
                <a:latin typeface="Bahnschrift"/>
                <a:ea typeface="Bahnschrift"/>
                <a:cs typeface="Bahnschrift"/>
                <a:sym typeface="Bahnschrift"/>
              </a:rPr>
              <a:t> la oxidación de grasas.</a:t>
            </a:r>
            <a:endParaRPr lang="es-AR" sz="1700" dirty="0">
              <a:latin typeface="Bahnschrift"/>
            </a:endParaRPr>
          </a:p>
        </p:txBody>
      </p:sp>
      <p:sp>
        <p:nvSpPr>
          <p:cNvPr id="20" name="Forma 19"/>
          <p:cNvSpPr/>
          <p:nvPr/>
        </p:nvSpPr>
        <p:spPr>
          <a:xfrm>
            <a:off x="6217920" y="4023360"/>
            <a:ext cx="557784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Contracción</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AMPK inhibe ACC2</a:t>
            </a:r>
            <a:r>
              <a:rPr lang="es-AR" sz="1650" dirty="0">
                <a:solidFill>
                  <a:srgbClr val="1E1E1E"/>
                </a:solidFill>
                <a:latin typeface="Bahnschrift"/>
                <a:ea typeface="Bahnschrift"/>
                <a:cs typeface="Bahnschrift"/>
                <a:sym typeface="Bahnschrift"/>
              </a:rPr>
              <a:t> → ↓ malonil-CoA (y la MCD contribuye) → ↑ oxidación de AG.</a:t>
            </a:r>
            <a:endParaRPr lang="es-AR" sz="1650" dirty="0">
              <a:latin typeface="Bahnschrift"/>
            </a:endParaRPr>
          </a:p>
          <a:p>
            <a:pPr algn="l">
              <a:spcAft>
                <a:spcPts val="400"/>
              </a:spcAft>
              <a:buNone/>
            </a:pPr>
            <a:r>
              <a:rPr lang="es-AR" sz="1650" dirty="0">
                <a:solidFill>
                  <a:srgbClr val="1E1E1E"/>
                </a:solidFill>
                <a:latin typeface="Bahnschrift"/>
                <a:ea typeface="Bahnschrift"/>
                <a:cs typeface="Bahnschrift"/>
                <a:sym typeface="Bahnschrift"/>
              </a:rPr>
              <a:t>La actividad de </a:t>
            </a:r>
            <a:r>
              <a:rPr lang="es-AR" sz="1650" b="1" dirty="0">
                <a:solidFill>
                  <a:srgbClr val="1E1E1E"/>
                </a:solidFill>
                <a:latin typeface="Bahnschrift"/>
                <a:ea typeface="Bahnschrift"/>
                <a:cs typeface="Bahnschrift"/>
                <a:sym typeface="Bahnschrift"/>
              </a:rPr>
              <a:t>FASN muscular es baja</a:t>
            </a:r>
            <a:r>
              <a:rPr lang="es-AR" sz="1650" dirty="0">
                <a:solidFill>
                  <a:srgbClr val="1E1E1E"/>
                </a:solidFill>
                <a:latin typeface="Bahnschrift"/>
                <a:ea typeface="Bahnschrift"/>
                <a:cs typeface="Bahnschrift"/>
                <a:sym typeface="Bahnschrift"/>
              </a:rPr>
              <a:t> frente a los tejidos lipogénicos.</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88982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13 · ¿POR QUÉ EL MÚSCULO FABRICA MALONIL-CoA?</a:t>
            </a:r>
            <a:endParaRPr lang="es-AR" sz="2600" dirty="0">
              <a:latin typeface="Bahnschrift SemiBold Condensed"/>
            </a:endParaRPr>
          </a:p>
        </p:txBody>
      </p:sp>
      <p:sp>
        <p:nvSpPr>
          <p:cNvPr id="2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2"/>
                                        </p:tgtEl>
                                        <p:attrNameLst>
                                          <p:attrName>style.visibility</p:attrName>
                                        </p:attrNameLst>
                                      </p:cBhvr>
                                      <p:to>
                                        <p:strVal val="visible"/>
                                      </p:to>
                                    </p:set>
                                    <p:animEffect transition="in" filter="fade">
                                      <p:cBhvr>
                                        <p:cTn id="5" dur="500"/>
                                        <p:tgtEl>
                                          <p:spTgt spid="12"/>
                                        </p:tgtEl>
                                      </p:cBhvr>
                                    </p:animEffect>
                                  </p:childTnLst>
                                </p:cTn>
                              </p:par>
                            </p:childTnLst>
                          </p:cTn>
                        </p:par>
                        <p:par>
                          <p:cTn id="12" fill="hold">
                            <p:stCondLst>
                              <p:cond delay="500"/>
                            </p:stCondLst>
                            <p:childTnLst>
                              <p:par>
                                <p:cTn id="7" presetID="53" presetClass="entr" presetSubtype="16" fill="hold" grpId="0" nodeType="afterEffect">
                                  <p:stCondLst>
                                    <p:cond delay="0"/>
                                  </p:stCondLst>
                                  <p:childTnLst>
                                    <p:set>
                                      <p:cBhvr>
                                        <p:cTn id="8" dur="1" fill="hold">
                                          <p:stCondLst>
                                            <p:cond delay="0"/>
                                          </p:stCondLst>
                                        </p:cTn>
                                        <p:tgtEl>
                                          <p:spTgt spid="14"/>
                                        </p:tgtEl>
                                        <p:attrNameLst>
                                          <p:attrName>style.visibility</p:attrName>
                                        </p:attrNameLst>
                                      </p:cBhvr>
                                      <p:to>
                                        <p:strVal val="visible"/>
                                      </p:to>
                                    </p:set>
                                    <p:anim calcmode="lin" valueType="num">
                                      <p:cBhvr>
                                        <p:cTn id="9" dur="500" fill="hold"/>
                                        <p:tgtEl>
                                          <p:spTgt spid="14"/>
                                        </p:tgtEl>
                                        <p:attrNameLst>
                                          <p:attrName>ppt_w</p:attrName>
                                        </p:attrNameLst>
                                      </p:cBhvr>
                                      <p:tavLst>
                                        <p:tav tm="0">
                                          <p:val>
                                            <p:fltVal val="0"/>
                                          </p:val>
                                        </p:tav>
                                        <p:tav tm="100000">
                                          <p:val>
                                            <p:strVal val="#ppt_w"/>
                                          </p:val>
                                        </p:tav>
                                      </p:tavLst>
                                    </p:anim>
                                    <p:anim calcmode="lin" valueType="num">
                                      <p:cBhvr>
                                        <p:cTn id="10" dur="500" fill="hold"/>
                                        <p:tgtEl>
                                          <p:spTgt spid="14"/>
                                        </p:tgtEl>
                                        <p:attrNameLst>
                                          <p:attrName>ppt_h</p:attrName>
                                        </p:attrNameLst>
                                      </p:cBhvr>
                                      <p:tavLst>
                                        <p:tav tm="0">
                                          <p:val>
                                            <p:fltVal val="0"/>
                                          </p:val>
                                        </p:tav>
                                        <p:tav tm="100000">
                                          <p:val>
                                            <p:strVal val="#ppt_h"/>
                                          </p:val>
                                        </p:tav>
                                      </p:tavLst>
                                    </p:anim>
                                    <p:animEffect transition="in" filter="fade">
                                      <p:cBhvr>
                                        <p:cTn id="11" dur="500"/>
                                        <p:tgtEl>
                                          <p:spTgt spid="14"/>
                                        </p:tgtEl>
                                      </p:cBhvr>
                                    </p:animEffect>
                                  </p:childTnLst>
                                </p:cTn>
                              </p:par>
                            </p:childTnLst>
                          </p:cTn>
                        </p:par>
                        <p:par>
                          <p:cTn id="16"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childTnLst>
                          </p:cTn>
                        </p:par>
                      </p:childTnLst>
                    </p:cTn>
                  </p:par>
                  <p:par>
                    <p:cTn id="35" fill="hold">
                      <p:stCondLst>
                        <p:cond delay="indefinite"/>
                      </p:stCondLst>
                      <p:childTnLst>
                        <p:par>
                          <p:cTn id="34"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3" grpId="0" animBg="1"/>
      <p:bldP spid="19" grpId="0" animBg="1"/>
      <p:bldP spid="15" grpId="0" animBg="1"/>
      <p:bldP spid="20" grpId="0" animBg="1"/>
    </p:bldLst>
  </p:timing>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Membrana"/>
          <p:cNvGrpSpPr/>
          <p:nvPr/>
        </p:nvGrpSpPr>
        <p:grpSpPr>
          <a:xfrm>
            <a:off x="274320" y="1188720"/>
            <a:ext cx="6949440" cy="365760"/>
            <a:chOff x="274320" y="1188720"/>
            <a:chExt cx="6949440" cy="365760"/>
          </a:xfrm>
        </p:grpSpPr>
        <p:sp>
          <p:nvSpPr>
            <p:cNvPr id="5" name="Forma 4"/>
            <p:cNvSpPr/>
            <p:nvPr/>
          </p:nvSpPr>
          <p:spPr>
            <a:xfrm>
              <a:off x="274320" y="1254557"/>
              <a:ext cx="6949440" cy="234086"/>
            </a:xfrm>
            <a:prstGeom prst="rect">
              <a:avLst/>
            </a:prstGeom>
            <a:solidFill>
              <a:srgbClr val="FDEBD0"/>
            </a:solidFill>
            <a:ln>
              <a:noFill/>
            </a:ln>
          </p:spPr>
        </p:sp>
        <p:sp>
          <p:nvSpPr>
            <p:cNvPr id="6" name="Forma 5"/>
            <p:cNvSpPr/>
            <p:nvPr/>
          </p:nvSpPr>
          <p:spPr>
            <a:xfrm>
              <a:off x="274320" y="1188720"/>
              <a:ext cx="6949440" cy="365760"/>
            </a:xfrm>
            <a:custGeom>
              <a:avLst/>
              <a:gdLst/>
              <a:ahLst/>
              <a:cxnLst/>
              <a:rect l="0" t="0" r="r" b="b"/>
              <a:pathLst>
                <a:path w="7600" h="400">
                  <a:moveTo>
                    <a:pt x="98" y="48"/>
                  </a:moveTo>
                  <a:cubicBezTo>
                    <a:pt x="98" y="74"/>
                    <a:pt x="76" y="96"/>
                    <a:pt x="50" y="96"/>
                  </a:cubicBezTo>
                  <a:cubicBezTo>
                    <a:pt x="23" y="96"/>
                    <a:pt x="2" y="74"/>
                    <a:pt x="2" y="48"/>
                  </a:cubicBezTo>
                  <a:cubicBezTo>
                    <a:pt x="2" y="21"/>
                    <a:pt x="23" y="0"/>
                    <a:pt x="50" y="0"/>
                  </a:cubicBezTo>
                  <a:cubicBezTo>
                    <a:pt x="76" y="0"/>
                    <a:pt x="98" y="21"/>
                    <a:pt x="98" y="48"/>
                  </a:cubicBezTo>
                  <a:close/>
                  <a:moveTo>
                    <a:pt x="200" y="48"/>
                  </a:moveTo>
                  <a:cubicBezTo>
                    <a:pt x="200" y="74"/>
                    <a:pt x="178" y="96"/>
                    <a:pt x="152" y="96"/>
                  </a:cubicBezTo>
                  <a:cubicBezTo>
                    <a:pt x="125" y="96"/>
                    <a:pt x="104" y="74"/>
                    <a:pt x="104" y="48"/>
                  </a:cubicBezTo>
                  <a:cubicBezTo>
                    <a:pt x="104" y="21"/>
                    <a:pt x="125" y="0"/>
                    <a:pt x="152" y="0"/>
                  </a:cubicBezTo>
                  <a:cubicBezTo>
                    <a:pt x="178" y="0"/>
                    <a:pt x="200" y="21"/>
                    <a:pt x="200" y="48"/>
                  </a:cubicBezTo>
                  <a:close/>
                  <a:moveTo>
                    <a:pt x="301" y="48"/>
                  </a:moveTo>
                  <a:cubicBezTo>
                    <a:pt x="301" y="74"/>
                    <a:pt x="279" y="96"/>
                    <a:pt x="253" y="96"/>
                  </a:cubicBezTo>
                  <a:cubicBezTo>
                    <a:pt x="226" y="96"/>
                    <a:pt x="205" y="74"/>
                    <a:pt x="205" y="48"/>
                  </a:cubicBezTo>
                  <a:cubicBezTo>
                    <a:pt x="205" y="21"/>
                    <a:pt x="226" y="0"/>
                    <a:pt x="253" y="0"/>
                  </a:cubicBezTo>
                  <a:cubicBezTo>
                    <a:pt x="279" y="0"/>
                    <a:pt x="301" y="21"/>
                    <a:pt x="301" y="48"/>
                  </a:cubicBezTo>
                  <a:close/>
                  <a:moveTo>
                    <a:pt x="402" y="48"/>
                  </a:moveTo>
                  <a:cubicBezTo>
                    <a:pt x="402" y="74"/>
                    <a:pt x="380" y="96"/>
                    <a:pt x="354" y="96"/>
                  </a:cubicBezTo>
                  <a:cubicBezTo>
                    <a:pt x="327" y="96"/>
                    <a:pt x="306" y="74"/>
                    <a:pt x="306" y="48"/>
                  </a:cubicBezTo>
                  <a:cubicBezTo>
                    <a:pt x="306" y="21"/>
                    <a:pt x="327" y="0"/>
                    <a:pt x="354" y="0"/>
                  </a:cubicBezTo>
                  <a:cubicBezTo>
                    <a:pt x="380" y="0"/>
                    <a:pt x="402" y="21"/>
                    <a:pt x="402" y="48"/>
                  </a:cubicBezTo>
                  <a:close/>
                  <a:moveTo>
                    <a:pt x="504" y="48"/>
                  </a:moveTo>
                  <a:cubicBezTo>
                    <a:pt x="504" y="74"/>
                    <a:pt x="482" y="96"/>
                    <a:pt x="456" y="96"/>
                  </a:cubicBezTo>
                  <a:cubicBezTo>
                    <a:pt x="429" y="96"/>
                    <a:pt x="408" y="74"/>
                    <a:pt x="408" y="48"/>
                  </a:cubicBezTo>
                  <a:cubicBezTo>
                    <a:pt x="408" y="21"/>
                    <a:pt x="429" y="0"/>
                    <a:pt x="456" y="0"/>
                  </a:cubicBezTo>
                  <a:cubicBezTo>
                    <a:pt x="482" y="0"/>
                    <a:pt x="504" y="21"/>
                    <a:pt x="504" y="48"/>
                  </a:cubicBezTo>
                  <a:close/>
                  <a:moveTo>
                    <a:pt x="605" y="48"/>
                  </a:moveTo>
                  <a:cubicBezTo>
                    <a:pt x="605" y="74"/>
                    <a:pt x="583" y="96"/>
                    <a:pt x="557" y="96"/>
                  </a:cubicBezTo>
                  <a:cubicBezTo>
                    <a:pt x="530" y="96"/>
                    <a:pt x="509" y="74"/>
                    <a:pt x="509" y="48"/>
                  </a:cubicBezTo>
                  <a:cubicBezTo>
                    <a:pt x="509" y="21"/>
                    <a:pt x="530" y="0"/>
                    <a:pt x="557" y="0"/>
                  </a:cubicBezTo>
                  <a:cubicBezTo>
                    <a:pt x="583" y="0"/>
                    <a:pt x="605" y="21"/>
                    <a:pt x="605" y="48"/>
                  </a:cubicBezTo>
                  <a:close/>
                  <a:moveTo>
                    <a:pt x="706" y="48"/>
                  </a:moveTo>
                  <a:cubicBezTo>
                    <a:pt x="706" y="74"/>
                    <a:pt x="684" y="96"/>
                    <a:pt x="658" y="96"/>
                  </a:cubicBezTo>
                  <a:cubicBezTo>
                    <a:pt x="631" y="96"/>
                    <a:pt x="610" y="74"/>
                    <a:pt x="610" y="48"/>
                  </a:cubicBezTo>
                  <a:cubicBezTo>
                    <a:pt x="610" y="21"/>
                    <a:pt x="631" y="0"/>
                    <a:pt x="658" y="0"/>
                  </a:cubicBezTo>
                  <a:cubicBezTo>
                    <a:pt x="684" y="0"/>
                    <a:pt x="706" y="21"/>
                    <a:pt x="706" y="48"/>
                  </a:cubicBezTo>
                  <a:close/>
                  <a:moveTo>
                    <a:pt x="808" y="48"/>
                  </a:moveTo>
                  <a:cubicBezTo>
                    <a:pt x="808" y="74"/>
                    <a:pt x="786" y="96"/>
                    <a:pt x="760" y="96"/>
                  </a:cubicBezTo>
                  <a:cubicBezTo>
                    <a:pt x="733" y="96"/>
                    <a:pt x="712" y="74"/>
                    <a:pt x="712" y="48"/>
                  </a:cubicBezTo>
                  <a:cubicBezTo>
                    <a:pt x="712" y="21"/>
                    <a:pt x="733" y="0"/>
                    <a:pt x="760" y="0"/>
                  </a:cubicBezTo>
                  <a:cubicBezTo>
                    <a:pt x="786" y="0"/>
                    <a:pt x="808" y="21"/>
                    <a:pt x="808" y="48"/>
                  </a:cubicBezTo>
                  <a:close/>
                  <a:moveTo>
                    <a:pt x="909" y="48"/>
                  </a:moveTo>
                  <a:cubicBezTo>
                    <a:pt x="909" y="74"/>
                    <a:pt x="887" y="96"/>
                    <a:pt x="861" y="96"/>
                  </a:cubicBezTo>
                  <a:cubicBezTo>
                    <a:pt x="834" y="96"/>
                    <a:pt x="813" y="74"/>
                    <a:pt x="813" y="48"/>
                  </a:cubicBezTo>
                  <a:cubicBezTo>
                    <a:pt x="813" y="21"/>
                    <a:pt x="834" y="0"/>
                    <a:pt x="861" y="0"/>
                  </a:cubicBezTo>
                  <a:cubicBezTo>
                    <a:pt x="887" y="0"/>
                    <a:pt x="909" y="21"/>
                    <a:pt x="909" y="48"/>
                  </a:cubicBezTo>
                  <a:close/>
                  <a:moveTo>
                    <a:pt x="1010" y="48"/>
                  </a:moveTo>
                  <a:cubicBezTo>
                    <a:pt x="1010" y="74"/>
                    <a:pt x="988" y="96"/>
                    <a:pt x="962" y="96"/>
                  </a:cubicBezTo>
                  <a:cubicBezTo>
                    <a:pt x="935" y="96"/>
                    <a:pt x="914" y="74"/>
                    <a:pt x="914" y="48"/>
                  </a:cubicBezTo>
                  <a:cubicBezTo>
                    <a:pt x="914" y="21"/>
                    <a:pt x="935" y="0"/>
                    <a:pt x="962" y="0"/>
                  </a:cubicBezTo>
                  <a:cubicBezTo>
                    <a:pt x="988" y="0"/>
                    <a:pt x="1010" y="21"/>
                    <a:pt x="1010" y="48"/>
                  </a:cubicBezTo>
                  <a:close/>
                  <a:moveTo>
                    <a:pt x="1112" y="48"/>
                  </a:moveTo>
                  <a:cubicBezTo>
                    <a:pt x="1112" y="74"/>
                    <a:pt x="1090" y="96"/>
                    <a:pt x="1064" y="96"/>
                  </a:cubicBezTo>
                  <a:cubicBezTo>
                    <a:pt x="1037" y="96"/>
                    <a:pt x="1016" y="74"/>
                    <a:pt x="1016" y="48"/>
                  </a:cubicBezTo>
                  <a:cubicBezTo>
                    <a:pt x="1016" y="21"/>
                    <a:pt x="1037" y="0"/>
                    <a:pt x="1064" y="0"/>
                  </a:cubicBezTo>
                  <a:cubicBezTo>
                    <a:pt x="1090" y="0"/>
                    <a:pt x="1112" y="21"/>
                    <a:pt x="1112" y="48"/>
                  </a:cubicBezTo>
                  <a:close/>
                  <a:moveTo>
                    <a:pt x="1213" y="48"/>
                  </a:moveTo>
                  <a:cubicBezTo>
                    <a:pt x="1213" y="74"/>
                    <a:pt x="1191" y="96"/>
                    <a:pt x="1165" y="96"/>
                  </a:cubicBezTo>
                  <a:cubicBezTo>
                    <a:pt x="1138" y="96"/>
                    <a:pt x="1117" y="74"/>
                    <a:pt x="1117" y="48"/>
                  </a:cubicBezTo>
                  <a:cubicBezTo>
                    <a:pt x="1117" y="21"/>
                    <a:pt x="1138" y="0"/>
                    <a:pt x="1165" y="0"/>
                  </a:cubicBezTo>
                  <a:cubicBezTo>
                    <a:pt x="1191" y="0"/>
                    <a:pt x="1213" y="21"/>
                    <a:pt x="1213" y="48"/>
                  </a:cubicBezTo>
                  <a:close/>
                  <a:moveTo>
                    <a:pt x="1314" y="48"/>
                  </a:moveTo>
                  <a:cubicBezTo>
                    <a:pt x="1314" y="74"/>
                    <a:pt x="1292" y="96"/>
                    <a:pt x="1266" y="96"/>
                  </a:cubicBezTo>
                  <a:cubicBezTo>
                    <a:pt x="1239" y="96"/>
                    <a:pt x="1218" y="74"/>
                    <a:pt x="1218" y="48"/>
                  </a:cubicBezTo>
                  <a:cubicBezTo>
                    <a:pt x="1218" y="21"/>
                    <a:pt x="1239" y="0"/>
                    <a:pt x="1266" y="0"/>
                  </a:cubicBezTo>
                  <a:cubicBezTo>
                    <a:pt x="1292" y="0"/>
                    <a:pt x="1314" y="21"/>
                    <a:pt x="1314" y="48"/>
                  </a:cubicBezTo>
                  <a:close/>
                  <a:moveTo>
                    <a:pt x="1416" y="48"/>
                  </a:moveTo>
                  <a:cubicBezTo>
                    <a:pt x="1416" y="74"/>
                    <a:pt x="1394" y="96"/>
                    <a:pt x="1368" y="96"/>
                  </a:cubicBezTo>
                  <a:cubicBezTo>
                    <a:pt x="1341" y="96"/>
                    <a:pt x="1320" y="74"/>
                    <a:pt x="1320" y="48"/>
                  </a:cubicBezTo>
                  <a:cubicBezTo>
                    <a:pt x="1320" y="21"/>
                    <a:pt x="1341" y="0"/>
                    <a:pt x="1368" y="0"/>
                  </a:cubicBezTo>
                  <a:cubicBezTo>
                    <a:pt x="1394" y="0"/>
                    <a:pt x="1416" y="21"/>
                    <a:pt x="1416" y="48"/>
                  </a:cubicBezTo>
                  <a:close/>
                  <a:moveTo>
                    <a:pt x="1517" y="48"/>
                  </a:moveTo>
                  <a:cubicBezTo>
                    <a:pt x="1517" y="74"/>
                    <a:pt x="1495" y="96"/>
                    <a:pt x="1469" y="96"/>
                  </a:cubicBezTo>
                  <a:cubicBezTo>
                    <a:pt x="1442" y="96"/>
                    <a:pt x="1421" y="74"/>
                    <a:pt x="1421" y="48"/>
                  </a:cubicBezTo>
                  <a:cubicBezTo>
                    <a:pt x="1421" y="21"/>
                    <a:pt x="1442" y="0"/>
                    <a:pt x="1469" y="0"/>
                  </a:cubicBezTo>
                  <a:cubicBezTo>
                    <a:pt x="1495" y="0"/>
                    <a:pt x="1517" y="21"/>
                    <a:pt x="1517" y="48"/>
                  </a:cubicBezTo>
                  <a:close/>
                  <a:moveTo>
                    <a:pt x="1618" y="48"/>
                  </a:moveTo>
                  <a:cubicBezTo>
                    <a:pt x="1618" y="74"/>
                    <a:pt x="1596" y="96"/>
                    <a:pt x="1570" y="96"/>
                  </a:cubicBezTo>
                  <a:cubicBezTo>
                    <a:pt x="1543" y="96"/>
                    <a:pt x="1522" y="74"/>
                    <a:pt x="1522" y="48"/>
                  </a:cubicBezTo>
                  <a:cubicBezTo>
                    <a:pt x="1522" y="21"/>
                    <a:pt x="1543" y="0"/>
                    <a:pt x="1570" y="0"/>
                  </a:cubicBezTo>
                  <a:cubicBezTo>
                    <a:pt x="1596" y="0"/>
                    <a:pt x="1618" y="21"/>
                    <a:pt x="1618" y="48"/>
                  </a:cubicBezTo>
                  <a:close/>
                  <a:moveTo>
                    <a:pt x="1720" y="48"/>
                  </a:moveTo>
                  <a:cubicBezTo>
                    <a:pt x="1720" y="74"/>
                    <a:pt x="1698" y="96"/>
                    <a:pt x="1672" y="96"/>
                  </a:cubicBezTo>
                  <a:cubicBezTo>
                    <a:pt x="1645" y="96"/>
                    <a:pt x="1624" y="74"/>
                    <a:pt x="1624" y="48"/>
                  </a:cubicBezTo>
                  <a:cubicBezTo>
                    <a:pt x="1624" y="21"/>
                    <a:pt x="1645" y="0"/>
                    <a:pt x="1672" y="0"/>
                  </a:cubicBezTo>
                  <a:cubicBezTo>
                    <a:pt x="1698" y="0"/>
                    <a:pt x="1720" y="21"/>
                    <a:pt x="1720" y="48"/>
                  </a:cubicBezTo>
                  <a:close/>
                  <a:moveTo>
                    <a:pt x="1821" y="48"/>
                  </a:moveTo>
                  <a:cubicBezTo>
                    <a:pt x="1821" y="74"/>
                    <a:pt x="1799" y="96"/>
                    <a:pt x="1773" y="96"/>
                  </a:cubicBezTo>
                  <a:cubicBezTo>
                    <a:pt x="1746" y="96"/>
                    <a:pt x="1725" y="74"/>
                    <a:pt x="1725" y="48"/>
                  </a:cubicBezTo>
                  <a:cubicBezTo>
                    <a:pt x="1725" y="21"/>
                    <a:pt x="1746" y="0"/>
                    <a:pt x="1773" y="0"/>
                  </a:cubicBezTo>
                  <a:cubicBezTo>
                    <a:pt x="1799" y="0"/>
                    <a:pt x="1821" y="21"/>
                    <a:pt x="1821" y="48"/>
                  </a:cubicBezTo>
                  <a:close/>
                  <a:moveTo>
                    <a:pt x="1922" y="48"/>
                  </a:moveTo>
                  <a:cubicBezTo>
                    <a:pt x="1922" y="74"/>
                    <a:pt x="1900" y="96"/>
                    <a:pt x="1874" y="96"/>
                  </a:cubicBezTo>
                  <a:cubicBezTo>
                    <a:pt x="1847" y="96"/>
                    <a:pt x="1826" y="74"/>
                    <a:pt x="1826" y="48"/>
                  </a:cubicBezTo>
                  <a:cubicBezTo>
                    <a:pt x="1826" y="21"/>
                    <a:pt x="1847" y="0"/>
                    <a:pt x="1874" y="0"/>
                  </a:cubicBezTo>
                  <a:cubicBezTo>
                    <a:pt x="1900" y="0"/>
                    <a:pt x="1922" y="21"/>
                    <a:pt x="1922" y="48"/>
                  </a:cubicBezTo>
                  <a:close/>
                  <a:moveTo>
                    <a:pt x="2024" y="48"/>
                  </a:moveTo>
                  <a:cubicBezTo>
                    <a:pt x="2024" y="74"/>
                    <a:pt x="2002" y="96"/>
                    <a:pt x="1976" y="96"/>
                  </a:cubicBezTo>
                  <a:cubicBezTo>
                    <a:pt x="1949" y="96"/>
                    <a:pt x="1928" y="74"/>
                    <a:pt x="1928" y="48"/>
                  </a:cubicBezTo>
                  <a:cubicBezTo>
                    <a:pt x="1928" y="21"/>
                    <a:pt x="1949" y="0"/>
                    <a:pt x="1976" y="0"/>
                  </a:cubicBezTo>
                  <a:cubicBezTo>
                    <a:pt x="2002" y="0"/>
                    <a:pt x="2024" y="21"/>
                    <a:pt x="2024" y="48"/>
                  </a:cubicBezTo>
                  <a:close/>
                  <a:moveTo>
                    <a:pt x="2125" y="48"/>
                  </a:moveTo>
                  <a:cubicBezTo>
                    <a:pt x="2125" y="74"/>
                    <a:pt x="2103" y="96"/>
                    <a:pt x="2077" y="96"/>
                  </a:cubicBezTo>
                  <a:cubicBezTo>
                    <a:pt x="2050" y="96"/>
                    <a:pt x="2029" y="74"/>
                    <a:pt x="2029" y="48"/>
                  </a:cubicBezTo>
                  <a:cubicBezTo>
                    <a:pt x="2029" y="21"/>
                    <a:pt x="2050" y="0"/>
                    <a:pt x="2077" y="0"/>
                  </a:cubicBezTo>
                  <a:cubicBezTo>
                    <a:pt x="2103" y="0"/>
                    <a:pt x="2125" y="21"/>
                    <a:pt x="2125" y="48"/>
                  </a:cubicBezTo>
                  <a:close/>
                  <a:moveTo>
                    <a:pt x="2226" y="48"/>
                  </a:moveTo>
                  <a:cubicBezTo>
                    <a:pt x="2226" y="74"/>
                    <a:pt x="2204" y="96"/>
                    <a:pt x="2178" y="96"/>
                  </a:cubicBezTo>
                  <a:cubicBezTo>
                    <a:pt x="2151" y="96"/>
                    <a:pt x="2130" y="74"/>
                    <a:pt x="2130" y="48"/>
                  </a:cubicBezTo>
                  <a:cubicBezTo>
                    <a:pt x="2130" y="21"/>
                    <a:pt x="2151" y="0"/>
                    <a:pt x="2178" y="0"/>
                  </a:cubicBezTo>
                  <a:cubicBezTo>
                    <a:pt x="2204" y="0"/>
                    <a:pt x="2226" y="21"/>
                    <a:pt x="2226" y="48"/>
                  </a:cubicBezTo>
                  <a:close/>
                  <a:moveTo>
                    <a:pt x="2328" y="48"/>
                  </a:moveTo>
                  <a:cubicBezTo>
                    <a:pt x="2328" y="74"/>
                    <a:pt x="2306" y="96"/>
                    <a:pt x="2280" y="96"/>
                  </a:cubicBezTo>
                  <a:cubicBezTo>
                    <a:pt x="2253" y="96"/>
                    <a:pt x="2232" y="74"/>
                    <a:pt x="2232" y="48"/>
                  </a:cubicBezTo>
                  <a:cubicBezTo>
                    <a:pt x="2232" y="21"/>
                    <a:pt x="2253" y="0"/>
                    <a:pt x="2280" y="0"/>
                  </a:cubicBezTo>
                  <a:cubicBezTo>
                    <a:pt x="2306" y="0"/>
                    <a:pt x="2328" y="21"/>
                    <a:pt x="2328" y="48"/>
                  </a:cubicBezTo>
                  <a:close/>
                  <a:moveTo>
                    <a:pt x="2429" y="48"/>
                  </a:moveTo>
                  <a:cubicBezTo>
                    <a:pt x="2429" y="74"/>
                    <a:pt x="2407" y="96"/>
                    <a:pt x="2381" y="96"/>
                  </a:cubicBezTo>
                  <a:cubicBezTo>
                    <a:pt x="2354" y="96"/>
                    <a:pt x="2333" y="74"/>
                    <a:pt x="2333" y="48"/>
                  </a:cubicBezTo>
                  <a:cubicBezTo>
                    <a:pt x="2333" y="21"/>
                    <a:pt x="2354" y="0"/>
                    <a:pt x="2381" y="0"/>
                  </a:cubicBezTo>
                  <a:cubicBezTo>
                    <a:pt x="2407" y="0"/>
                    <a:pt x="2429" y="21"/>
                    <a:pt x="2429" y="48"/>
                  </a:cubicBezTo>
                  <a:close/>
                  <a:moveTo>
                    <a:pt x="2530" y="48"/>
                  </a:moveTo>
                  <a:cubicBezTo>
                    <a:pt x="2530" y="74"/>
                    <a:pt x="2508" y="96"/>
                    <a:pt x="2482" y="96"/>
                  </a:cubicBezTo>
                  <a:cubicBezTo>
                    <a:pt x="2455" y="96"/>
                    <a:pt x="2434" y="74"/>
                    <a:pt x="2434" y="48"/>
                  </a:cubicBezTo>
                  <a:cubicBezTo>
                    <a:pt x="2434" y="21"/>
                    <a:pt x="2455" y="0"/>
                    <a:pt x="2482" y="0"/>
                  </a:cubicBezTo>
                  <a:cubicBezTo>
                    <a:pt x="2508" y="0"/>
                    <a:pt x="2530" y="21"/>
                    <a:pt x="2530" y="48"/>
                  </a:cubicBezTo>
                  <a:close/>
                  <a:moveTo>
                    <a:pt x="2632" y="48"/>
                  </a:moveTo>
                  <a:cubicBezTo>
                    <a:pt x="2632" y="74"/>
                    <a:pt x="2610" y="96"/>
                    <a:pt x="2584" y="96"/>
                  </a:cubicBezTo>
                  <a:cubicBezTo>
                    <a:pt x="2557" y="96"/>
                    <a:pt x="2536" y="74"/>
                    <a:pt x="2536" y="48"/>
                  </a:cubicBezTo>
                  <a:cubicBezTo>
                    <a:pt x="2536" y="21"/>
                    <a:pt x="2557" y="0"/>
                    <a:pt x="2584" y="0"/>
                  </a:cubicBezTo>
                  <a:cubicBezTo>
                    <a:pt x="2610" y="0"/>
                    <a:pt x="2632" y="21"/>
                    <a:pt x="2632" y="48"/>
                  </a:cubicBezTo>
                  <a:close/>
                  <a:moveTo>
                    <a:pt x="2733" y="48"/>
                  </a:moveTo>
                  <a:cubicBezTo>
                    <a:pt x="2733" y="74"/>
                    <a:pt x="2711" y="96"/>
                    <a:pt x="2685" y="96"/>
                  </a:cubicBezTo>
                  <a:cubicBezTo>
                    <a:pt x="2658" y="96"/>
                    <a:pt x="2637" y="74"/>
                    <a:pt x="2637" y="48"/>
                  </a:cubicBezTo>
                  <a:cubicBezTo>
                    <a:pt x="2637" y="21"/>
                    <a:pt x="2658" y="0"/>
                    <a:pt x="2685" y="0"/>
                  </a:cubicBezTo>
                  <a:cubicBezTo>
                    <a:pt x="2711" y="0"/>
                    <a:pt x="2733" y="21"/>
                    <a:pt x="2733" y="48"/>
                  </a:cubicBezTo>
                  <a:close/>
                  <a:moveTo>
                    <a:pt x="2834" y="48"/>
                  </a:moveTo>
                  <a:cubicBezTo>
                    <a:pt x="2834" y="74"/>
                    <a:pt x="2812" y="96"/>
                    <a:pt x="2786" y="96"/>
                  </a:cubicBezTo>
                  <a:cubicBezTo>
                    <a:pt x="2759" y="96"/>
                    <a:pt x="2738" y="74"/>
                    <a:pt x="2738" y="48"/>
                  </a:cubicBezTo>
                  <a:cubicBezTo>
                    <a:pt x="2738" y="21"/>
                    <a:pt x="2759" y="0"/>
                    <a:pt x="2786" y="0"/>
                  </a:cubicBezTo>
                  <a:cubicBezTo>
                    <a:pt x="2812" y="0"/>
                    <a:pt x="2834" y="21"/>
                    <a:pt x="2834" y="48"/>
                  </a:cubicBezTo>
                  <a:close/>
                  <a:moveTo>
                    <a:pt x="2936" y="48"/>
                  </a:moveTo>
                  <a:cubicBezTo>
                    <a:pt x="2936" y="74"/>
                    <a:pt x="2914" y="96"/>
                    <a:pt x="2888" y="96"/>
                  </a:cubicBezTo>
                  <a:cubicBezTo>
                    <a:pt x="2861" y="96"/>
                    <a:pt x="2840" y="74"/>
                    <a:pt x="2840" y="48"/>
                  </a:cubicBezTo>
                  <a:cubicBezTo>
                    <a:pt x="2840" y="21"/>
                    <a:pt x="2861" y="0"/>
                    <a:pt x="2888" y="0"/>
                  </a:cubicBezTo>
                  <a:cubicBezTo>
                    <a:pt x="2914" y="0"/>
                    <a:pt x="2936" y="21"/>
                    <a:pt x="2936" y="48"/>
                  </a:cubicBezTo>
                  <a:close/>
                  <a:moveTo>
                    <a:pt x="3037" y="48"/>
                  </a:moveTo>
                  <a:cubicBezTo>
                    <a:pt x="3037" y="74"/>
                    <a:pt x="3015" y="96"/>
                    <a:pt x="2989" y="96"/>
                  </a:cubicBezTo>
                  <a:cubicBezTo>
                    <a:pt x="2962" y="96"/>
                    <a:pt x="2941" y="74"/>
                    <a:pt x="2941" y="48"/>
                  </a:cubicBezTo>
                  <a:cubicBezTo>
                    <a:pt x="2941" y="21"/>
                    <a:pt x="2962" y="0"/>
                    <a:pt x="2989" y="0"/>
                  </a:cubicBezTo>
                  <a:cubicBezTo>
                    <a:pt x="3015" y="0"/>
                    <a:pt x="3037" y="21"/>
                    <a:pt x="3037" y="48"/>
                  </a:cubicBezTo>
                  <a:close/>
                  <a:moveTo>
                    <a:pt x="3138" y="48"/>
                  </a:moveTo>
                  <a:cubicBezTo>
                    <a:pt x="3138" y="74"/>
                    <a:pt x="3116" y="96"/>
                    <a:pt x="3090" y="96"/>
                  </a:cubicBezTo>
                  <a:cubicBezTo>
                    <a:pt x="3063" y="96"/>
                    <a:pt x="3042" y="74"/>
                    <a:pt x="3042" y="48"/>
                  </a:cubicBezTo>
                  <a:cubicBezTo>
                    <a:pt x="3042" y="21"/>
                    <a:pt x="3063" y="0"/>
                    <a:pt x="3090" y="0"/>
                  </a:cubicBezTo>
                  <a:cubicBezTo>
                    <a:pt x="3116" y="0"/>
                    <a:pt x="3138" y="21"/>
                    <a:pt x="3138" y="48"/>
                  </a:cubicBezTo>
                  <a:close/>
                  <a:moveTo>
                    <a:pt x="3240" y="48"/>
                  </a:moveTo>
                  <a:cubicBezTo>
                    <a:pt x="3240" y="74"/>
                    <a:pt x="3218" y="96"/>
                    <a:pt x="3192" y="96"/>
                  </a:cubicBezTo>
                  <a:cubicBezTo>
                    <a:pt x="3165" y="96"/>
                    <a:pt x="3144" y="74"/>
                    <a:pt x="3144" y="48"/>
                  </a:cubicBezTo>
                  <a:cubicBezTo>
                    <a:pt x="3144" y="21"/>
                    <a:pt x="3165" y="0"/>
                    <a:pt x="3192" y="0"/>
                  </a:cubicBezTo>
                  <a:cubicBezTo>
                    <a:pt x="3218" y="0"/>
                    <a:pt x="3240" y="21"/>
                    <a:pt x="3240" y="48"/>
                  </a:cubicBezTo>
                  <a:close/>
                  <a:moveTo>
                    <a:pt x="3341" y="48"/>
                  </a:moveTo>
                  <a:cubicBezTo>
                    <a:pt x="3341" y="74"/>
                    <a:pt x="3319" y="96"/>
                    <a:pt x="3293" y="96"/>
                  </a:cubicBezTo>
                  <a:cubicBezTo>
                    <a:pt x="3266" y="96"/>
                    <a:pt x="3245" y="74"/>
                    <a:pt x="3245" y="48"/>
                  </a:cubicBezTo>
                  <a:cubicBezTo>
                    <a:pt x="3245" y="21"/>
                    <a:pt x="3266" y="0"/>
                    <a:pt x="3293" y="0"/>
                  </a:cubicBezTo>
                  <a:cubicBezTo>
                    <a:pt x="3319" y="0"/>
                    <a:pt x="3341" y="21"/>
                    <a:pt x="3341" y="48"/>
                  </a:cubicBezTo>
                  <a:close/>
                  <a:moveTo>
                    <a:pt x="3442" y="48"/>
                  </a:moveTo>
                  <a:cubicBezTo>
                    <a:pt x="3442" y="74"/>
                    <a:pt x="3420" y="96"/>
                    <a:pt x="3394" y="96"/>
                  </a:cubicBezTo>
                  <a:cubicBezTo>
                    <a:pt x="3367" y="96"/>
                    <a:pt x="3346" y="74"/>
                    <a:pt x="3346" y="48"/>
                  </a:cubicBezTo>
                  <a:cubicBezTo>
                    <a:pt x="3346" y="21"/>
                    <a:pt x="3367" y="0"/>
                    <a:pt x="3394" y="0"/>
                  </a:cubicBezTo>
                  <a:cubicBezTo>
                    <a:pt x="3420" y="0"/>
                    <a:pt x="3442" y="21"/>
                    <a:pt x="3442" y="48"/>
                  </a:cubicBezTo>
                  <a:close/>
                  <a:moveTo>
                    <a:pt x="3544" y="48"/>
                  </a:moveTo>
                  <a:cubicBezTo>
                    <a:pt x="3544" y="74"/>
                    <a:pt x="3522" y="96"/>
                    <a:pt x="3496" y="96"/>
                  </a:cubicBezTo>
                  <a:cubicBezTo>
                    <a:pt x="3469" y="96"/>
                    <a:pt x="3448" y="74"/>
                    <a:pt x="3448" y="48"/>
                  </a:cubicBezTo>
                  <a:cubicBezTo>
                    <a:pt x="3448" y="21"/>
                    <a:pt x="3469" y="0"/>
                    <a:pt x="3496" y="0"/>
                  </a:cubicBezTo>
                  <a:cubicBezTo>
                    <a:pt x="3522" y="0"/>
                    <a:pt x="3544" y="21"/>
                    <a:pt x="3544" y="48"/>
                  </a:cubicBezTo>
                  <a:close/>
                  <a:moveTo>
                    <a:pt x="3645" y="48"/>
                  </a:moveTo>
                  <a:cubicBezTo>
                    <a:pt x="3645" y="74"/>
                    <a:pt x="3623" y="96"/>
                    <a:pt x="3597" y="96"/>
                  </a:cubicBezTo>
                  <a:cubicBezTo>
                    <a:pt x="3570" y="96"/>
                    <a:pt x="3549" y="74"/>
                    <a:pt x="3549" y="48"/>
                  </a:cubicBezTo>
                  <a:cubicBezTo>
                    <a:pt x="3549" y="21"/>
                    <a:pt x="3570" y="0"/>
                    <a:pt x="3597" y="0"/>
                  </a:cubicBezTo>
                  <a:cubicBezTo>
                    <a:pt x="3623" y="0"/>
                    <a:pt x="3645" y="21"/>
                    <a:pt x="3645" y="48"/>
                  </a:cubicBezTo>
                  <a:close/>
                  <a:moveTo>
                    <a:pt x="3746" y="48"/>
                  </a:moveTo>
                  <a:cubicBezTo>
                    <a:pt x="3746" y="74"/>
                    <a:pt x="3724" y="96"/>
                    <a:pt x="3698" y="96"/>
                  </a:cubicBezTo>
                  <a:cubicBezTo>
                    <a:pt x="3671" y="96"/>
                    <a:pt x="3650" y="74"/>
                    <a:pt x="3650" y="48"/>
                  </a:cubicBezTo>
                  <a:cubicBezTo>
                    <a:pt x="3650" y="21"/>
                    <a:pt x="3671" y="0"/>
                    <a:pt x="3698" y="0"/>
                  </a:cubicBezTo>
                  <a:cubicBezTo>
                    <a:pt x="3724" y="0"/>
                    <a:pt x="3746" y="21"/>
                    <a:pt x="3746" y="48"/>
                  </a:cubicBezTo>
                  <a:close/>
                  <a:moveTo>
                    <a:pt x="3848" y="48"/>
                  </a:moveTo>
                  <a:cubicBezTo>
                    <a:pt x="3848" y="74"/>
                    <a:pt x="3826" y="96"/>
                    <a:pt x="3800" y="96"/>
                  </a:cubicBezTo>
                  <a:cubicBezTo>
                    <a:pt x="3773" y="96"/>
                    <a:pt x="3752" y="74"/>
                    <a:pt x="3752" y="48"/>
                  </a:cubicBezTo>
                  <a:cubicBezTo>
                    <a:pt x="3752" y="21"/>
                    <a:pt x="3773" y="0"/>
                    <a:pt x="3800" y="0"/>
                  </a:cubicBezTo>
                  <a:cubicBezTo>
                    <a:pt x="3826" y="0"/>
                    <a:pt x="3848" y="21"/>
                    <a:pt x="3848" y="48"/>
                  </a:cubicBezTo>
                  <a:close/>
                  <a:moveTo>
                    <a:pt x="3949" y="48"/>
                  </a:moveTo>
                  <a:cubicBezTo>
                    <a:pt x="3949" y="74"/>
                    <a:pt x="3927" y="96"/>
                    <a:pt x="3901" y="96"/>
                  </a:cubicBezTo>
                  <a:cubicBezTo>
                    <a:pt x="3874" y="96"/>
                    <a:pt x="3853" y="74"/>
                    <a:pt x="3853" y="48"/>
                  </a:cubicBezTo>
                  <a:cubicBezTo>
                    <a:pt x="3853" y="21"/>
                    <a:pt x="3874" y="0"/>
                    <a:pt x="3901" y="0"/>
                  </a:cubicBezTo>
                  <a:cubicBezTo>
                    <a:pt x="3927" y="0"/>
                    <a:pt x="3949" y="21"/>
                    <a:pt x="3949" y="48"/>
                  </a:cubicBezTo>
                  <a:close/>
                  <a:moveTo>
                    <a:pt x="4050" y="48"/>
                  </a:moveTo>
                  <a:cubicBezTo>
                    <a:pt x="4050" y="74"/>
                    <a:pt x="4028" y="96"/>
                    <a:pt x="4002" y="96"/>
                  </a:cubicBezTo>
                  <a:cubicBezTo>
                    <a:pt x="3975" y="96"/>
                    <a:pt x="3954" y="74"/>
                    <a:pt x="3954" y="48"/>
                  </a:cubicBezTo>
                  <a:cubicBezTo>
                    <a:pt x="3954" y="21"/>
                    <a:pt x="3975" y="0"/>
                    <a:pt x="4002" y="0"/>
                  </a:cubicBezTo>
                  <a:cubicBezTo>
                    <a:pt x="4028" y="0"/>
                    <a:pt x="4050" y="21"/>
                    <a:pt x="4050" y="48"/>
                  </a:cubicBezTo>
                  <a:close/>
                  <a:moveTo>
                    <a:pt x="4152" y="48"/>
                  </a:moveTo>
                  <a:cubicBezTo>
                    <a:pt x="4152" y="74"/>
                    <a:pt x="4130" y="96"/>
                    <a:pt x="4104" y="96"/>
                  </a:cubicBezTo>
                  <a:cubicBezTo>
                    <a:pt x="4077" y="96"/>
                    <a:pt x="4056" y="74"/>
                    <a:pt x="4056" y="48"/>
                  </a:cubicBezTo>
                  <a:cubicBezTo>
                    <a:pt x="4056" y="21"/>
                    <a:pt x="4077" y="0"/>
                    <a:pt x="4104" y="0"/>
                  </a:cubicBezTo>
                  <a:cubicBezTo>
                    <a:pt x="4130" y="0"/>
                    <a:pt x="4152" y="21"/>
                    <a:pt x="4152" y="48"/>
                  </a:cubicBezTo>
                  <a:close/>
                  <a:moveTo>
                    <a:pt x="4253" y="48"/>
                  </a:moveTo>
                  <a:cubicBezTo>
                    <a:pt x="4253" y="74"/>
                    <a:pt x="4231" y="96"/>
                    <a:pt x="4205" y="96"/>
                  </a:cubicBezTo>
                  <a:cubicBezTo>
                    <a:pt x="4178" y="96"/>
                    <a:pt x="4157" y="74"/>
                    <a:pt x="4157" y="48"/>
                  </a:cubicBezTo>
                  <a:cubicBezTo>
                    <a:pt x="4157" y="21"/>
                    <a:pt x="4178" y="0"/>
                    <a:pt x="4205" y="0"/>
                  </a:cubicBezTo>
                  <a:cubicBezTo>
                    <a:pt x="4231" y="0"/>
                    <a:pt x="4253" y="21"/>
                    <a:pt x="4253" y="48"/>
                  </a:cubicBezTo>
                  <a:close/>
                  <a:moveTo>
                    <a:pt x="4354" y="48"/>
                  </a:moveTo>
                  <a:cubicBezTo>
                    <a:pt x="4354" y="74"/>
                    <a:pt x="4332" y="96"/>
                    <a:pt x="4306" y="96"/>
                  </a:cubicBezTo>
                  <a:cubicBezTo>
                    <a:pt x="4279" y="96"/>
                    <a:pt x="4258" y="74"/>
                    <a:pt x="4258" y="48"/>
                  </a:cubicBezTo>
                  <a:cubicBezTo>
                    <a:pt x="4258" y="21"/>
                    <a:pt x="4279" y="0"/>
                    <a:pt x="4306" y="0"/>
                  </a:cubicBezTo>
                  <a:cubicBezTo>
                    <a:pt x="4332" y="0"/>
                    <a:pt x="4354" y="21"/>
                    <a:pt x="4354" y="48"/>
                  </a:cubicBezTo>
                  <a:close/>
                  <a:moveTo>
                    <a:pt x="4456" y="48"/>
                  </a:moveTo>
                  <a:cubicBezTo>
                    <a:pt x="4456" y="74"/>
                    <a:pt x="4434" y="96"/>
                    <a:pt x="4408" y="96"/>
                  </a:cubicBezTo>
                  <a:cubicBezTo>
                    <a:pt x="4381" y="96"/>
                    <a:pt x="4360" y="74"/>
                    <a:pt x="4360" y="48"/>
                  </a:cubicBezTo>
                  <a:cubicBezTo>
                    <a:pt x="4360" y="21"/>
                    <a:pt x="4381" y="0"/>
                    <a:pt x="4408" y="0"/>
                  </a:cubicBezTo>
                  <a:cubicBezTo>
                    <a:pt x="4434" y="0"/>
                    <a:pt x="4456" y="21"/>
                    <a:pt x="4456" y="48"/>
                  </a:cubicBezTo>
                  <a:close/>
                  <a:moveTo>
                    <a:pt x="4557" y="48"/>
                  </a:moveTo>
                  <a:cubicBezTo>
                    <a:pt x="4557" y="74"/>
                    <a:pt x="4535" y="96"/>
                    <a:pt x="4509" y="96"/>
                  </a:cubicBezTo>
                  <a:cubicBezTo>
                    <a:pt x="4482" y="96"/>
                    <a:pt x="4461" y="74"/>
                    <a:pt x="4461" y="48"/>
                  </a:cubicBezTo>
                  <a:cubicBezTo>
                    <a:pt x="4461" y="21"/>
                    <a:pt x="4482" y="0"/>
                    <a:pt x="4509" y="0"/>
                  </a:cubicBezTo>
                  <a:cubicBezTo>
                    <a:pt x="4535" y="0"/>
                    <a:pt x="4557" y="21"/>
                    <a:pt x="4557" y="48"/>
                  </a:cubicBezTo>
                  <a:close/>
                  <a:moveTo>
                    <a:pt x="4658" y="48"/>
                  </a:moveTo>
                  <a:cubicBezTo>
                    <a:pt x="4658" y="74"/>
                    <a:pt x="4636" y="96"/>
                    <a:pt x="4610" y="96"/>
                  </a:cubicBezTo>
                  <a:cubicBezTo>
                    <a:pt x="4583" y="96"/>
                    <a:pt x="4562" y="74"/>
                    <a:pt x="4562" y="48"/>
                  </a:cubicBezTo>
                  <a:cubicBezTo>
                    <a:pt x="4562" y="21"/>
                    <a:pt x="4583" y="0"/>
                    <a:pt x="4610" y="0"/>
                  </a:cubicBezTo>
                  <a:cubicBezTo>
                    <a:pt x="4636" y="0"/>
                    <a:pt x="4658" y="21"/>
                    <a:pt x="4658" y="48"/>
                  </a:cubicBezTo>
                  <a:close/>
                  <a:moveTo>
                    <a:pt x="4760" y="48"/>
                  </a:moveTo>
                  <a:cubicBezTo>
                    <a:pt x="4760" y="74"/>
                    <a:pt x="4738" y="96"/>
                    <a:pt x="4712" y="96"/>
                  </a:cubicBezTo>
                  <a:cubicBezTo>
                    <a:pt x="4685" y="96"/>
                    <a:pt x="4664" y="74"/>
                    <a:pt x="4664" y="48"/>
                  </a:cubicBezTo>
                  <a:cubicBezTo>
                    <a:pt x="4664" y="21"/>
                    <a:pt x="4685" y="0"/>
                    <a:pt x="4712" y="0"/>
                  </a:cubicBezTo>
                  <a:cubicBezTo>
                    <a:pt x="4738" y="0"/>
                    <a:pt x="4760" y="21"/>
                    <a:pt x="4760" y="48"/>
                  </a:cubicBezTo>
                  <a:close/>
                  <a:moveTo>
                    <a:pt x="4861" y="48"/>
                  </a:moveTo>
                  <a:cubicBezTo>
                    <a:pt x="4861" y="74"/>
                    <a:pt x="4839" y="96"/>
                    <a:pt x="4813" y="96"/>
                  </a:cubicBezTo>
                  <a:cubicBezTo>
                    <a:pt x="4786" y="96"/>
                    <a:pt x="4765" y="74"/>
                    <a:pt x="4765" y="48"/>
                  </a:cubicBezTo>
                  <a:cubicBezTo>
                    <a:pt x="4765" y="21"/>
                    <a:pt x="4786" y="0"/>
                    <a:pt x="4813" y="0"/>
                  </a:cubicBezTo>
                  <a:cubicBezTo>
                    <a:pt x="4839" y="0"/>
                    <a:pt x="4861" y="21"/>
                    <a:pt x="4861" y="48"/>
                  </a:cubicBezTo>
                  <a:close/>
                  <a:moveTo>
                    <a:pt x="4962" y="48"/>
                  </a:moveTo>
                  <a:cubicBezTo>
                    <a:pt x="4962" y="74"/>
                    <a:pt x="4940" y="96"/>
                    <a:pt x="4914" y="96"/>
                  </a:cubicBezTo>
                  <a:cubicBezTo>
                    <a:pt x="4887" y="96"/>
                    <a:pt x="4866" y="74"/>
                    <a:pt x="4866" y="48"/>
                  </a:cubicBezTo>
                  <a:cubicBezTo>
                    <a:pt x="4866" y="21"/>
                    <a:pt x="4887" y="0"/>
                    <a:pt x="4914" y="0"/>
                  </a:cubicBezTo>
                  <a:cubicBezTo>
                    <a:pt x="4940" y="0"/>
                    <a:pt x="4962" y="21"/>
                    <a:pt x="4962" y="48"/>
                  </a:cubicBezTo>
                  <a:close/>
                  <a:moveTo>
                    <a:pt x="5064" y="48"/>
                  </a:moveTo>
                  <a:cubicBezTo>
                    <a:pt x="5064" y="74"/>
                    <a:pt x="5042" y="96"/>
                    <a:pt x="5016" y="96"/>
                  </a:cubicBezTo>
                  <a:cubicBezTo>
                    <a:pt x="4989" y="96"/>
                    <a:pt x="4968" y="74"/>
                    <a:pt x="4968" y="48"/>
                  </a:cubicBezTo>
                  <a:cubicBezTo>
                    <a:pt x="4968" y="21"/>
                    <a:pt x="4989" y="0"/>
                    <a:pt x="5016" y="0"/>
                  </a:cubicBezTo>
                  <a:cubicBezTo>
                    <a:pt x="5042" y="0"/>
                    <a:pt x="5064" y="21"/>
                    <a:pt x="5064" y="48"/>
                  </a:cubicBezTo>
                  <a:close/>
                  <a:moveTo>
                    <a:pt x="5165" y="48"/>
                  </a:moveTo>
                  <a:cubicBezTo>
                    <a:pt x="5165" y="74"/>
                    <a:pt x="5143" y="96"/>
                    <a:pt x="5117" y="96"/>
                  </a:cubicBezTo>
                  <a:cubicBezTo>
                    <a:pt x="5090" y="96"/>
                    <a:pt x="5069" y="74"/>
                    <a:pt x="5069" y="48"/>
                  </a:cubicBezTo>
                  <a:cubicBezTo>
                    <a:pt x="5069" y="21"/>
                    <a:pt x="5090" y="0"/>
                    <a:pt x="5117" y="0"/>
                  </a:cubicBezTo>
                  <a:cubicBezTo>
                    <a:pt x="5143" y="0"/>
                    <a:pt x="5165" y="21"/>
                    <a:pt x="5165" y="48"/>
                  </a:cubicBezTo>
                  <a:close/>
                  <a:moveTo>
                    <a:pt x="5266" y="48"/>
                  </a:moveTo>
                  <a:cubicBezTo>
                    <a:pt x="5266" y="74"/>
                    <a:pt x="5244" y="96"/>
                    <a:pt x="5218" y="96"/>
                  </a:cubicBezTo>
                  <a:cubicBezTo>
                    <a:pt x="5191" y="96"/>
                    <a:pt x="5170" y="74"/>
                    <a:pt x="5170" y="48"/>
                  </a:cubicBezTo>
                  <a:cubicBezTo>
                    <a:pt x="5170" y="21"/>
                    <a:pt x="5191" y="0"/>
                    <a:pt x="5218" y="0"/>
                  </a:cubicBezTo>
                  <a:cubicBezTo>
                    <a:pt x="5244" y="0"/>
                    <a:pt x="5266" y="21"/>
                    <a:pt x="5266" y="48"/>
                  </a:cubicBezTo>
                  <a:close/>
                  <a:moveTo>
                    <a:pt x="5368" y="48"/>
                  </a:moveTo>
                  <a:cubicBezTo>
                    <a:pt x="5368" y="74"/>
                    <a:pt x="5346" y="96"/>
                    <a:pt x="5320" y="96"/>
                  </a:cubicBezTo>
                  <a:cubicBezTo>
                    <a:pt x="5293" y="96"/>
                    <a:pt x="5272" y="74"/>
                    <a:pt x="5272" y="48"/>
                  </a:cubicBezTo>
                  <a:cubicBezTo>
                    <a:pt x="5272" y="21"/>
                    <a:pt x="5293" y="0"/>
                    <a:pt x="5320" y="0"/>
                  </a:cubicBezTo>
                  <a:cubicBezTo>
                    <a:pt x="5346" y="0"/>
                    <a:pt x="5368" y="21"/>
                    <a:pt x="5368" y="48"/>
                  </a:cubicBezTo>
                  <a:close/>
                  <a:moveTo>
                    <a:pt x="5469" y="48"/>
                  </a:moveTo>
                  <a:cubicBezTo>
                    <a:pt x="5469" y="74"/>
                    <a:pt x="5447" y="96"/>
                    <a:pt x="5421" y="96"/>
                  </a:cubicBezTo>
                  <a:cubicBezTo>
                    <a:pt x="5394" y="96"/>
                    <a:pt x="5373" y="74"/>
                    <a:pt x="5373" y="48"/>
                  </a:cubicBezTo>
                  <a:cubicBezTo>
                    <a:pt x="5373" y="21"/>
                    <a:pt x="5394" y="0"/>
                    <a:pt x="5421" y="0"/>
                  </a:cubicBezTo>
                  <a:cubicBezTo>
                    <a:pt x="5447" y="0"/>
                    <a:pt x="5469" y="21"/>
                    <a:pt x="5469" y="48"/>
                  </a:cubicBezTo>
                  <a:close/>
                  <a:moveTo>
                    <a:pt x="5570" y="48"/>
                  </a:moveTo>
                  <a:cubicBezTo>
                    <a:pt x="5570" y="74"/>
                    <a:pt x="5548" y="96"/>
                    <a:pt x="5522" y="96"/>
                  </a:cubicBezTo>
                  <a:cubicBezTo>
                    <a:pt x="5495" y="96"/>
                    <a:pt x="5474" y="74"/>
                    <a:pt x="5474" y="48"/>
                  </a:cubicBezTo>
                  <a:cubicBezTo>
                    <a:pt x="5474" y="21"/>
                    <a:pt x="5495" y="0"/>
                    <a:pt x="5522" y="0"/>
                  </a:cubicBezTo>
                  <a:cubicBezTo>
                    <a:pt x="5548" y="0"/>
                    <a:pt x="5570" y="21"/>
                    <a:pt x="5570" y="48"/>
                  </a:cubicBezTo>
                  <a:close/>
                  <a:moveTo>
                    <a:pt x="5672" y="48"/>
                  </a:moveTo>
                  <a:cubicBezTo>
                    <a:pt x="5672" y="74"/>
                    <a:pt x="5650" y="96"/>
                    <a:pt x="5624" y="96"/>
                  </a:cubicBezTo>
                  <a:cubicBezTo>
                    <a:pt x="5597" y="96"/>
                    <a:pt x="5576" y="74"/>
                    <a:pt x="5576" y="48"/>
                  </a:cubicBezTo>
                  <a:cubicBezTo>
                    <a:pt x="5576" y="21"/>
                    <a:pt x="5597" y="0"/>
                    <a:pt x="5624" y="0"/>
                  </a:cubicBezTo>
                  <a:cubicBezTo>
                    <a:pt x="5650" y="0"/>
                    <a:pt x="5672" y="21"/>
                    <a:pt x="5672" y="48"/>
                  </a:cubicBezTo>
                  <a:close/>
                  <a:moveTo>
                    <a:pt x="5773" y="48"/>
                  </a:moveTo>
                  <a:cubicBezTo>
                    <a:pt x="5773" y="74"/>
                    <a:pt x="5751" y="96"/>
                    <a:pt x="5725" y="96"/>
                  </a:cubicBezTo>
                  <a:cubicBezTo>
                    <a:pt x="5698" y="96"/>
                    <a:pt x="5677" y="74"/>
                    <a:pt x="5677" y="48"/>
                  </a:cubicBezTo>
                  <a:cubicBezTo>
                    <a:pt x="5677" y="21"/>
                    <a:pt x="5698" y="0"/>
                    <a:pt x="5725" y="0"/>
                  </a:cubicBezTo>
                  <a:cubicBezTo>
                    <a:pt x="5751" y="0"/>
                    <a:pt x="5773" y="21"/>
                    <a:pt x="5773" y="48"/>
                  </a:cubicBezTo>
                  <a:close/>
                  <a:moveTo>
                    <a:pt x="5874" y="48"/>
                  </a:moveTo>
                  <a:cubicBezTo>
                    <a:pt x="5874" y="74"/>
                    <a:pt x="5852" y="96"/>
                    <a:pt x="5826" y="96"/>
                  </a:cubicBezTo>
                  <a:cubicBezTo>
                    <a:pt x="5799" y="96"/>
                    <a:pt x="5778" y="74"/>
                    <a:pt x="5778" y="48"/>
                  </a:cubicBezTo>
                  <a:cubicBezTo>
                    <a:pt x="5778" y="21"/>
                    <a:pt x="5799" y="0"/>
                    <a:pt x="5826" y="0"/>
                  </a:cubicBezTo>
                  <a:cubicBezTo>
                    <a:pt x="5852" y="0"/>
                    <a:pt x="5874" y="21"/>
                    <a:pt x="5874" y="48"/>
                  </a:cubicBezTo>
                  <a:close/>
                  <a:moveTo>
                    <a:pt x="5976" y="48"/>
                  </a:moveTo>
                  <a:cubicBezTo>
                    <a:pt x="5976" y="74"/>
                    <a:pt x="5954" y="96"/>
                    <a:pt x="5928" y="96"/>
                  </a:cubicBezTo>
                  <a:cubicBezTo>
                    <a:pt x="5901" y="96"/>
                    <a:pt x="5880" y="74"/>
                    <a:pt x="5880" y="48"/>
                  </a:cubicBezTo>
                  <a:cubicBezTo>
                    <a:pt x="5880" y="21"/>
                    <a:pt x="5901" y="0"/>
                    <a:pt x="5928" y="0"/>
                  </a:cubicBezTo>
                  <a:cubicBezTo>
                    <a:pt x="5954" y="0"/>
                    <a:pt x="5976" y="21"/>
                    <a:pt x="5976" y="48"/>
                  </a:cubicBezTo>
                  <a:close/>
                  <a:moveTo>
                    <a:pt x="6077" y="48"/>
                  </a:moveTo>
                  <a:cubicBezTo>
                    <a:pt x="6077" y="74"/>
                    <a:pt x="6055" y="96"/>
                    <a:pt x="6029" y="96"/>
                  </a:cubicBezTo>
                  <a:cubicBezTo>
                    <a:pt x="6002" y="96"/>
                    <a:pt x="5981" y="74"/>
                    <a:pt x="5981" y="48"/>
                  </a:cubicBezTo>
                  <a:cubicBezTo>
                    <a:pt x="5981" y="21"/>
                    <a:pt x="6002" y="0"/>
                    <a:pt x="6029" y="0"/>
                  </a:cubicBezTo>
                  <a:cubicBezTo>
                    <a:pt x="6055" y="0"/>
                    <a:pt x="6077" y="21"/>
                    <a:pt x="6077" y="48"/>
                  </a:cubicBezTo>
                  <a:close/>
                  <a:moveTo>
                    <a:pt x="6178" y="48"/>
                  </a:moveTo>
                  <a:cubicBezTo>
                    <a:pt x="6178" y="74"/>
                    <a:pt x="6156" y="96"/>
                    <a:pt x="6130" y="96"/>
                  </a:cubicBezTo>
                  <a:cubicBezTo>
                    <a:pt x="6103" y="96"/>
                    <a:pt x="6082" y="74"/>
                    <a:pt x="6082" y="48"/>
                  </a:cubicBezTo>
                  <a:cubicBezTo>
                    <a:pt x="6082" y="21"/>
                    <a:pt x="6103" y="0"/>
                    <a:pt x="6130" y="0"/>
                  </a:cubicBezTo>
                  <a:cubicBezTo>
                    <a:pt x="6156" y="0"/>
                    <a:pt x="6178" y="21"/>
                    <a:pt x="6178" y="48"/>
                  </a:cubicBezTo>
                  <a:close/>
                  <a:moveTo>
                    <a:pt x="6280" y="48"/>
                  </a:moveTo>
                  <a:cubicBezTo>
                    <a:pt x="6280" y="74"/>
                    <a:pt x="6258" y="96"/>
                    <a:pt x="6232" y="96"/>
                  </a:cubicBezTo>
                  <a:cubicBezTo>
                    <a:pt x="6205" y="96"/>
                    <a:pt x="6184" y="74"/>
                    <a:pt x="6184" y="48"/>
                  </a:cubicBezTo>
                  <a:cubicBezTo>
                    <a:pt x="6184" y="21"/>
                    <a:pt x="6205" y="0"/>
                    <a:pt x="6232" y="0"/>
                  </a:cubicBezTo>
                  <a:cubicBezTo>
                    <a:pt x="6258" y="0"/>
                    <a:pt x="6280" y="21"/>
                    <a:pt x="6280" y="48"/>
                  </a:cubicBezTo>
                  <a:close/>
                  <a:moveTo>
                    <a:pt x="6381" y="48"/>
                  </a:moveTo>
                  <a:cubicBezTo>
                    <a:pt x="6381" y="74"/>
                    <a:pt x="6359" y="96"/>
                    <a:pt x="6333" y="96"/>
                  </a:cubicBezTo>
                  <a:cubicBezTo>
                    <a:pt x="6306" y="96"/>
                    <a:pt x="6285" y="74"/>
                    <a:pt x="6285" y="48"/>
                  </a:cubicBezTo>
                  <a:cubicBezTo>
                    <a:pt x="6285" y="21"/>
                    <a:pt x="6306" y="0"/>
                    <a:pt x="6333" y="0"/>
                  </a:cubicBezTo>
                  <a:cubicBezTo>
                    <a:pt x="6359" y="0"/>
                    <a:pt x="6381" y="21"/>
                    <a:pt x="6381" y="48"/>
                  </a:cubicBezTo>
                  <a:close/>
                  <a:moveTo>
                    <a:pt x="6482" y="48"/>
                  </a:moveTo>
                  <a:cubicBezTo>
                    <a:pt x="6482" y="74"/>
                    <a:pt x="6460" y="96"/>
                    <a:pt x="6434" y="96"/>
                  </a:cubicBezTo>
                  <a:cubicBezTo>
                    <a:pt x="6407" y="96"/>
                    <a:pt x="6386" y="74"/>
                    <a:pt x="6386" y="48"/>
                  </a:cubicBezTo>
                  <a:cubicBezTo>
                    <a:pt x="6386" y="21"/>
                    <a:pt x="6407" y="0"/>
                    <a:pt x="6434" y="0"/>
                  </a:cubicBezTo>
                  <a:cubicBezTo>
                    <a:pt x="6460" y="0"/>
                    <a:pt x="6482" y="21"/>
                    <a:pt x="6482" y="48"/>
                  </a:cubicBezTo>
                  <a:close/>
                  <a:moveTo>
                    <a:pt x="6584" y="48"/>
                  </a:moveTo>
                  <a:cubicBezTo>
                    <a:pt x="6584" y="74"/>
                    <a:pt x="6562" y="96"/>
                    <a:pt x="6536" y="96"/>
                  </a:cubicBezTo>
                  <a:cubicBezTo>
                    <a:pt x="6509" y="96"/>
                    <a:pt x="6488" y="74"/>
                    <a:pt x="6488" y="48"/>
                  </a:cubicBezTo>
                  <a:cubicBezTo>
                    <a:pt x="6488" y="21"/>
                    <a:pt x="6509" y="0"/>
                    <a:pt x="6536" y="0"/>
                  </a:cubicBezTo>
                  <a:cubicBezTo>
                    <a:pt x="6562" y="0"/>
                    <a:pt x="6584" y="21"/>
                    <a:pt x="6584" y="48"/>
                  </a:cubicBezTo>
                  <a:close/>
                  <a:moveTo>
                    <a:pt x="6685" y="48"/>
                  </a:moveTo>
                  <a:cubicBezTo>
                    <a:pt x="6685" y="74"/>
                    <a:pt x="6663" y="96"/>
                    <a:pt x="6637" y="96"/>
                  </a:cubicBezTo>
                  <a:cubicBezTo>
                    <a:pt x="6610" y="96"/>
                    <a:pt x="6589" y="74"/>
                    <a:pt x="6589" y="48"/>
                  </a:cubicBezTo>
                  <a:cubicBezTo>
                    <a:pt x="6589" y="21"/>
                    <a:pt x="6610" y="0"/>
                    <a:pt x="6637" y="0"/>
                  </a:cubicBezTo>
                  <a:cubicBezTo>
                    <a:pt x="6663" y="0"/>
                    <a:pt x="6685" y="21"/>
                    <a:pt x="6685" y="48"/>
                  </a:cubicBezTo>
                  <a:close/>
                  <a:moveTo>
                    <a:pt x="6786" y="48"/>
                  </a:moveTo>
                  <a:cubicBezTo>
                    <a:pt x="6786" y="74"/>
                    <a:pt x="6764" y="96"/>
                    <a:pt x="6738" y="96"/>
                  </a:cubicBezTo>
                  <a:cubicBezTo>
                    <a:pt x="6711" y="96"/>
                    <a:pt x="6690" y="74"/>
                    <a:pt x="6690" y="48"/>
                  </a:cubicBezTo>
                  <a:cubicBezTo>
                    <a:pt x="6690" y="21"/>
                    <a:pt x="6711" y="0"/>
                    <a:pt x="6738" y="0"/>
                  </a:cubicBezTo>
                  <a:cubicBezTo>
                    <a:pt x="6764" y="0"/>
                    <a:pt x="6786" y="21"/>
                    <a:pt x="6786" y="48"/>
                  </a:cubicBezTo>
                  <a:close/>
                  <a:moveTo>
                    <a:pt x="6888" y="48"/>
                  </a:moveTo>
                  <a:cubicBezTo>
                    <a:pt x="6888" y="74"/>
                    <a:pt x="6866" y="96"/>
                    <a:pt x="6840" y="96"/>
                  </a:cubicBezTo>
                  <a:cubicBezTo>
                    <a:pt x="6813" y="96"/>
                    <a:pt x="6792" y="74"/>
                    <a:pt x="6792" y="48"/>
                  </a:cubicBezTo>
                  <a:cubicBezTo>
                    <a:pt x="6792" y="21"/>
                    <a:pt x="6813" y="0"/>
                    <a:pt x="6840" y="0"/>
                  </a:cubicBezTo>
                  <a:cubicBezTo>
                    <a:pt x="6866" y="0"/>
                    <a:pt x="6888" y="21"/>
                    <a:pt x="6888" y="48"/>
                  </a:cubicBezTo>
                  <a:close/>
                  <a:moveTo>
                    <a:pt x="6989" y="48"/>
                  </a:moveTo>
                  <a:cubicBezTo>
                    <a:pt x="6989" y="74"/>
                    <a:pt x="6967" y="96"/>
                    <a:pt x="6941" y="96"/>
                  </a:cubicBezTo>
                  <a:cubicBezTo>
                    <a:pt x="6914" y="96"/>
                    <a:pt x="6893" y="74"/>
                    <a:pt x="6893" y="48"/>
                  </a:cubicBezTo>
                  <a:cubicBezTo>
                    <a:pt x="6893" y="21"/>
                    <a:pt x="6914" y="0"/>
                    <a:pt x="6941" y="0"/>
                  </a:cubicBezTo>
                  <a:cubicBezTo>
                    <a:pt x="6967" y="0"/>
                    <a:pt x="6989" y="21"/>
                    <a:pt x="6989" y="48"/>
                  </a:cubicBezTo>
                  <a:close/>
                  <a:moveTo>
                    <a:pt x="7090" y="48"/>
                  </a:moveTo>
                  <a:cubicBezTo>
                    <a:pt x="7090" y="74"/>
                    <a:pt x="7068" y="96"/>
                    <a:pt x="7042" y="96"/>
                  </a:cubicBezTo>
                  <a:cubicBezTo>
                    <a:pt x="7015" y="96"/>
                    <a:pt x="6994" y="74"/>
                    <a:pt x="6994" y="48"/>
                  </a:cubicBezTo>
                  <a:cubicBezTo>
                    <a:pt x="6994" y="21"/>
                    <a:pt x="7015" y="0"/>
                    <a:pt x="7042" y="0"/>
                  </a:cubicBezTo>
                  <a:cubicBezTo>
                    <a:pt x="7068" y="0"/>
                    <a:pt x="7090" y="21"/>
                    <a:pt x="7090" y="48"/>
                  </a:cubicBezTo>
                  <a:close/>
                  <a:moveTo>
                    <a:pt x="7192" y="48"/>
                  </a:moveTo>
                  <a:cubicBezTo>
                    <a:pt x="7192" y="74"/>
                    <a:pt x="7170" y="96"/>
                    <a:pt x="7144" y="96"/>
                  </a:cubicBezTo>
                  <a:cubicBezTo>
                    <a:pt x="7117" y="96"/>
                    <a:pt x="7096" y="74"/>
                    <a:pt x="7096" y="48"/>
                  </a:cubicBezTo>
                  <a:cubicBezTo>
                    <a:pt x="7096" y="21"/>
                    <a:pt x="7117" y="0"/>
                    <a:pt x="7144" y="0"/>
                  </a:cubicBezTo>
                  <a:cubicBezTo>
                    <a:pt x="7170" y="0"/>
                    <a:pt x="7192" y="21"/>
                    <a:pt x="7192" y="48"/>
                  </a:cubicBezTo>
                  <a:close/>
                  <a:moveTo>
                    <a:pt x="7293" y="48"/>
                  </a:moveTo>
                  <a:cubicBezTo>
                    <a:pt x="7293" y="74"/>
                    <a:pt x="7271" y="96"/>
                    <a:pt x="7245" y="96"/>
                  </a:cubicBezTo>
                  <a:cubicBezTo>
                    <a:pt x="7218" y="96"/>
                    <a:pt x="7197" y="74"/>
                    <a:pt x="7197" y="48"/>
                  </a:cubicBezTo>
                  <a:cubicBezTo>
                    <a:pt x="7197" y="21"/>
                    <a:pt x="7218" y="0"/>
                    <a:pt x="7245" y="0"/>
                  </a:cubicBezTo>
                  <a:cubicBezTo>
                    <a:pt x="7271" y="0"/>
                    <a:pt x="7293" y="21"/>
                    <a:pt x="7293" y="48"/>
                  </a:cubicBezTo>
                  <a:close/>
                  <a:moveTo>
                    <a:pt x="7394" y="48"/>
                  </a:moveTo>
                  <a:cubicBezTo>
                    <a:pt x="7394" y="74"/>
                    <a:pt x="7372" y="96"/>
                    <a:pt x="7346" y="96"/>
                  </a:cubicBezTo>
                  <a:cubicBezTo>
                    <a:pt x="7319" y="96"/>
                    <a:pt x="7298" y="74"/>
                    <a:pt x="7298" y="48"/>
                  </a:cubicBezTo>
                  <a:cubicBezTo>
                    <a:pt x="7298" y="21"/>
                    <a:pt x="7319" y="0"/>
                    <a:pt x="7346" y="0"/>
                  </a:cubicBezTo>
                  <a:cubicBezTo>
                    <a:pt x="7372" y="0"/>
                    <a:pt x="7394" y="21"/>
                    <a:pt x="7394" y="48"/>
                  </a:cubicBezTo>
                  <a:close/>
                  <a:moveTo>
                    <a:pt x="7496" y="48"/>
                  </a:moveTo>
                  <a:cubicBezTo>
                    <a:pt x="7496" y="74"/>
                    <a:pt x="7474" y="96"/>
                    <a:pt x="7448" y="96"/>
                  </a:cubicBezTo>
                  <a:cubicBezTo>
                    <a:pt x="7421" y="96"/>
                    <a:pt x="7400" y="74"/>
                    <a:pt x="7400" y="48"/>
                  </a:cubicBezTo>
                  <a:cubicBezTo>
                    <a:pt x="7400" y="21"/>
                    <a:pt x="7421" y="0"/>
                    <a:pt x="7448" y="0"/>
                  </a:cubicBezTo>
                  <a:cubicBezTo>
                    <a:pt x="7474" y="0"/>
                    <a:pt x="7496" y="21"/>
                    <a:pt x="7496" y="48"/>
                  </a:cubicBezTo>
                  <a:close/>
                  <a:moveTo>
                    <a:pt x="7597" y="48"/>
                  </a:moveTo>
                  <a:cubicBezTo>
                    <a:pt x="7597" y="74"/>
                    <a:pt x="7575" y="96"/>
                    <a:pt x="7549" y="96"/>
                  </a:cubicBezTo>
                  <a:cubicBezTo>
                    <a:pt x="7522" y="96"/>
                    <a:pt x="7501" y="74"/>
                    <a:pt x="7501" y="48"/>
                  </a:cubicBezTo>
                  <a:cubicBezTo>
                    <a:pt x="7501" y="21"/>
                    <a:pt x="7522" y="0"/>
                    <a:pt x="7549" y="0"/>
                  </a:cubicBezTo>
                  <a:cubicBezTo>
                    <a:pt x="7575" y="0"/>
                    <a:pt x="7597" y="21"/>
                    <a:pt x="7597" y="48"/>
                  </a:cubicBezTo>
                  <a:close/>
                  <a:moveTo>
                    <a:pt x="98" y="352"/>
                  </a:moveTo>
                  <a:cubicBezTo>
                    <a:pt x="98" y="378"/>
                    <a:pt x="76" y="400"/>
                    <a:pt x="50" y="400"/>
                  </a:cubicBezTo>
                  <a:cubicBezTo>
                    <a:pt x="23" y="400"/>
                    <a:pt x="2" y="378"/>
                    <a:pt x="2" y="352"/>
                  </a:cubicBezTo>
                  <a:cubicBezTo>
                    <a:pt x="2" y="325"/>
                    <a:pt x="23" y="304"/>
                    <a:pt x="50" y="304"/>
                  </a:cubicBezTo>
                  <a:cubicBezTo>
                    <a:pt x="76" y="304"/>
                    <a:pt x="98" y="325"/>
                    <a:pt x="98" y="352"/>
                  </a:cubicBezTo>
                  <a:close/>
                  <a:moveTo>
                    <a:pt x="200" y="352"/>
                  </a:moveTo>
                  <a:cubicBezTo>
                    <a:pt x="200" y="378"/>
                    <a:pt x="178" y="400"/>
                    <a:pt x="152" y="400"/>
                  </a:cubicBezTo>
                  <a:cubicBezTo>
                    <a:pt x="125" y="400"/>
                    <a:pt x="104" y="378"/>
                    <a:pt x="104" y="352"/>
                  </a:cubicBezTo>
                  <a:cubicBezTo>
                    <a:pt x="104" y="325"/>
                    <a:pt x="125" y="304"/>
                    <a:pt x="152" y="304"/>
                  </a:cubicBezTo>
                  <a:cubicBezTo>
                    <a:pt x="178" y="304"/>
                    <a:pt x="200" y="325"/>
                    <a:pt x="200" y="352"/>
                  </a:cubicBezTo>
                  <a:close/>
                  <a:moveTo>
                    <a:pt x="301" y="352"/>
                  </a:moveTo>
                  <a:cubicBezTo>
                    <a:pt x="301" y="378"/>
                    <a:pt x="279" y="400"/>
                    <a:pt x="253" y="400"/>
                  </a:cubicBezTo>
                  <a:cubicBezTo>
                    <a:pt x="226" y="400"/>
                    <a:pt x="205" y="378"/>
                    <a:pt x="205" y="352"/>
                  </a:cubicBezTo>
                  <a:cubicBezTo>
                    <a:pt x="205" y="325"/>
                    <a:pt x="226" y="304"/>
                    <a:pt x="253" y="304"/>
                  </a:cubicBezTo>
                  <a:cubicBezTo>
                    <a:pt x="279" y="304"/>
                    <a:pt x="301" y="325"/>
                    <a:pt x="301" y="352"/>
                  </a:cubicBezTo>
                  <a:close/>
                  <a:moveTo>
                    <a:pt x="402" y="352"/>
                  </a:moveTo>
                  <a:cubicBezTo>
                    <a:pt x="402" y="378"/>
                    <a:pt x="380" y="400"/>
                    <a:pt x="354" y="400"/>
                  </a:cubicBezTo>
                  <a:cubicBezTo>
                    <a:pt x="327" y="400"/>
                    <a:pt x="306" y="378"/>
                    <a:pt x="306" y="352"/>
                  </a:cubicBezTo>
                  <a:cubicBezTo>
                    <a:pt x="306" y="325"/>
                    <a:pt x="327" y="304"/>
                    <a:pt x="354" y="304"/>
                  </a:cubicBezTo>
                  <a:cubicBezTo>
                    <a:pt x="380" y="304"/>
                    <a:pt x="402" y="325"/>
                    <a:pt x="402" y="352"/>
                  </a:cubicBezTo>
                  <a:close/>
                  <a:moveTo>
                    <a:pt x="504" y="352"/>
                  </a:moveTo>
                  <a:cubicBezTo>
                    <a:pt x="504" y="378"/>
                    <a:pt x="482" y="400"/>
                    <a:pt x="456" y="400"/>
                  </a:cubicBezTo>
                  <a:cubicBezTo>
                    <a:pt x="429" y="400"/>
                    <a:pt x="408" y="378"/>
                    <a:pt x="408" y="352"/>
                  </a:cubicBezTo>
                  <a:cubicBezTo>
                    <a:pt x="408" y="325"/>
                    <a:pt x="429" y="304"/>
                    <a:pt x="456" y="304"/>
                  </a:cubicBezTo>
                  <a:cubicBezTo>
                    <a:pt x="482" y="304"/>
                    <a:pt x="504" y="325"/>
                    <a:pt x="504" y="352"/>
                  </a:cubicBezTo>
                  <a:close/>
                  <a:moveTo>
                    <a:pt x="605" y="352"/>
                  </a:moveTo>
                  <a:cubicBezTo>
                    <a:pt x="605" y="378"/>
                    <a:pt x="583" y="400"/>
                    <a:pt x="557" y="400"/>
                  </a:cubicBezTo>
                  <a:cubicBezTo>
                    <a:pt x="530" y="400"/>
                    <a:pt x="509" y="378"/>
                    <a:pt x="509" y="352"/>
                  </a:cubicBezTo>
                  <a:cubicBezTo>
                    <a:pt x="509" y="325"/>
                    <a:pt x="530" y="304"/>
                    <a:pt x="557" y="304"/>
                  </a:cubicBezTo>
                  <a:cubicBezTo>
                    <a:pt x="583" y="304"/>
                    <a:pt x="605" y="325"/>
                    <a:pt x="605" y="352"/>
                  </a:cubicBezTo>
                  <a:close/>
                  <a:moveTo>
                    <a:pt x="706" y="352"/>
                  </a:moveTo>
                  <a:cubicBezTo>
                    <a:pt x="706" y="378"/>
                    <a:pt x="684" y="400"/>
                    <a:pt x="658" y="400"/>
                  </a:cubicBezTo>
                  <a:cubicBezTo>
                    <a:pt x="631" y="400"/>
                    <a:pt x="610" y="378"/>
                    <a:pt x="610" y="352"/>
                  </a:cubicBezTo>
                  <a:cubicBezTo>
                    <a:pt x="610" y="325"/>
                    <a:pt x="631" y="304"/>
                    <a:pt x="658" y="304"/>
                  </a:cubicBezTo>
                  <a:cubicBezTo>
                    <a:pt x="684" y="304"/>
                    <a:pt x="706" y="325"/>
                    <a:pt x="706" y="352"/>
                  </a:cubicBezTo>
                  <a:close/>
                  <a:moveTo>
                    <a:pt x="808" y="352"/>
                  </a:moveTo>
                  <a:cubicBezTo>
                    <a:pt x="808" y="378"/>
                    <a:pt x="786" y="400"/>
                    <a:pt x="760" y="400"/>
                  </a:cubicBezTo>
                  <a:cubicBezTo>
                    <a:pt x="733" y="400"/>
                    <a:pt x="712" y="378"/>
                    <a:pt x="712" y="352"/>
                  </a:cubicBezTo>
                  <a:cubicBezTo>
                    <a:pt x="712" y="325"/>
                    <a:pt x="733" y="304"/>
                    <a:pt x="760" y="304"/>
                  </a:cubicBezTo>
                  <a:cubicBezTo>
                    <a:pt x="786" y="304"/>
                    <a:pt x="808" y="325"/>
                    <a:pt x="808" y="352"/>
                  </a:cubicBezTo>
                  <a:close/>
                  <a:moveTo>
                    <a:pt x="909" y="352"/>
                  </a:moveTo>
                  <a:cubicBezTo>
                    <a:pt x="909" y="378"/>
                    <a:pt x="887" y="400"/>
                    <a:pt x="861" y="400"/>
                  </a:cubicBezTo>
                  <a:cubicBezTo>
                    <a:pt x="834" y="400"/>
                    <a:pt x="813" y="378"/>
                    <a:pt x="813" y="352"/>
                  </a:cubicBezTo>
                  <a:cubicBezTo>
                    <a:pt x="813" y="325"/>
                    <a:pt x="834" y="304"/>
                    <a:pt x="861" y="304"/>
                  </a:cubicBezTo>
                  <a:cubicBezTo>
                    <a:pt x="887" y="304"/>
                    <a:pt x="909" y="325"/>
                    <a:pt x="909" y="352"/>
                  </a:cubicBezTo>
                  <a:close/>
                  <a:moveTo>
                    <a:pt x="1010" y="352"/>
                  </a:moveTo>
                  <a:cubicBezTo>
                    <a:pt x="1010" y="378"/>
                    <a:pt x="988" y="400"/>
                    <a:pt x="962" y="400"/>
                  </a:cubicBezTo>
                  <a:cubicBezTo>
                    <a:pt x="935" y="400"/>
                    <a:pt x="914" y="378"/>
                    <a:pt x="914" y="352"/>
                  </a:cubicBezTo>
                  <a:cubicBezTo>
                    <a:pt x="914" y="325"/>
                    <a:pt x="935" y="304"/>
                    <a:pt x="962" y="304"/>
                  </a:cubicBezTo>
                  <a:cubicBezTo>
                    <a:pt x="988" y="304"/>
                    <a:pt x="1010" y="325"/>
                    <a:pt x="1010" y="352"/>
                  </a:cubicBezTo>
                  <a:close/>
                  <a:moveTo>
                    <a:pt x="1112" y="352"/>
                  </a:moveTo>
                  <a:cubicBezTo>
                    <a:pt x="1112" y="378"/>
                    <a:pt x="1090" y="400"/>
                    <a:pt x="1064" y="400"/>
                  </a:cubicBezTo>
                  <a:cubicBezTo>
                    <a:pt x="1037" y="400"/>
                    <a:pt x="1016" y="378"/>
                    <a:pt x="1016" y="352"/>
                  </a:cubicBezTo>
                  <a:cubicBezTo>
                    <a:pt x="1016" y="325"/>
                    <a:pt x="1037" y="304"/>
                    <a:pt x="1064" y="304"/>
                  </a:cubicBezTo>
                  <a:cubicBezTo>
                    <a:pt x="1090" y="304"/>
                    <a:pt x="1112" y="325"/>
                    <a:pt x="1112" y="352"/>
                  </a:cubicBezTo>
                  <a:close/>
                  <a:moveTo>
                    <a:pt x="1213" y="352"/>
                  </a:moveTo>
                  <a:cubicBezTo>
                    <a:pt x="1213" y="378"/>
                    <a:pt x="1191" y="400"/>
                    <a:pt x="1165" y="400"/>
                  </a:cubicBezTo>
                  <a:cubicBezTo>
                    <a:pt x="1138" y="400"/>
                    <a:pt x="1117" y="378"/>
                    <a:pt x="1117" y="352"/>
                  </a:cubicBezTo>
                  <a:cubicBezTo>
                    <a:pt x="1117" y="325"/>
                    <a:pt x="1138" y="304"/>
                    <a:pt x="1165" y="304"/>
                  </a:cubicBezTo>
                  <a:cubicBezTo>
                    <a:pt x="1191" y="304"/>
                    <a:pt x="1213" y="325"/>
                    <a:pt x="1213" y="352"/>
                  </a:cubicBezTo>
                  <a:close/>
                  <a:moveTo>
                    <a:pt x="1314" y="352"/>
                  </a:moveTo>
                  <a:cubicBezTo>
                    <a:pt x="1314" y="378"/>
                    <a:pt x="1292" y="400"/>
                    <a:pt x="1266" y="400"/>
                  </a:cubicBezTo>
                  <a:cubicBezTo>
                    <a:pt x="1239" y="400"/>
                    <a:pt x="1218" y="378"/>
                    <a:pt x="1218" y="352"/>
                  </a:cubicBezTo>
                  <a:cubicBezTo>
                    <a:pt x="1218" y="325"/>
                    <a:pt x="1239" y="304"/>
                    <a:pt x="1266" y="304"/>
                  </a:cubicBezTo>
                  <a:cubicBezTo>
                    <a:pt x="1292" y="304"/>
                    <a:pt x="1314" y="325"/>
                    <a:pt x="1314" y="352"/>
                  </a:cubicBezTo>
                  <a:close/>
                  <a:moveTo>
                    <a:pt x="1416" y="352"/>
                  </a:moveTo>
                  <a:cubicBezTo>
                    <a:pt x="1416" y="378"/>
                    <a:pt x="1394" y="400"/>
                    <a:pt x="1368" y="400"/>
                  </a:cubicBezTo>
                  <a:cubicBezTo>
                    <a:pt x="1341" y="400"/>
                    <a:pt x="1320" y="378"/>
                    <a:pt x="1320" y="352"/>
                  </a:cubicBezTo>
                  <a:cubicBezTo>
                    <a:pt x="1320" y="325"/>
                    <a:pt x="1341" y="304"/>
                    <a:pt x="1368" y="304"/>
                  </a:cubicBezTo>
                  <a:cubicBezTo>
                    <a:pt x="1394" y="304"/>
                    <a:pt x="1416" y="325"/>
                    <a:pt x="1416" y="352"/>
                  </a:cubicBezTo>
                  <a:close/>
                  <a:moveTo>
                    <a:pt x="1517" y="352"/>
                  </a:moveTo>
                  <a:cubicBezTo>
                    <a:pt x="1517" y="378"/>
                    <a:pt x="1495" y="400"/>
                    <a:pt x="1469" y="400"/>
                  </a:cubicBezTo>
                  <a:cubicBezTo>
                    <a:pt x="1442" y="400"/>
                    <a:pt x="1421" y="378"/>
                    <a:pt x="1421" y="352"/>
                  </a:cubicBezTo>
                  <a:cubicBezTo>
                    <a:pt x="1421" y="325"/>
                    <a:pt x="1442" y="304"/>
                    <a:pt x="1469" y="304"/>
                  </a:cubicBezTo>
                  <a:cubicBezTo>
                    <a:pt x="1495" y="304"/>
                    <a:pt x="1517" y="325"/>
                    <a:pt x="1517" y="352"/>
                  </a:cubicBezTo>
                  <a:close/>
                  <a:moveTo>
                    <a:pt x="1618" y="352"/>
                  </a:moveTo>
                  <a:cubicBezTo>
                    <a:pt x="1618" y="378"/>
                    <a:pt x="1596" y="400"/>
                    <a:pt x="1570" y="400"/>
                  </a:cubicBezTo>
                  <a:cubicBezTo>
                    <a:pt x="1543" y="400"/>
                    <a:pt x="1522" y="378"/>
                    <a:pt x="1522" y="352"/>
                  </a:cubicBezTo>
                  <a:cubicBezTo>
                    <a:pt x="1522" y="325"/>
                    <a:pt x="1543" y="304"/>
                    <a:pt x="1570" y="304"/>
                  </a:cubicBezTo>
                  <a:cubicBezTo>
                    <a:pt x="1596" y="304"/>
                    <a:pt x="1618" y="325"/>
                    <a:pt x="1618" y="352"/>
                  </a:cubicBezTo>
                  <a:close/>
                  <a:moveTo>
                    <a:pt x="1720" y="352"/>
                  </a:moveTo>
                  <a:cubicBezTo>
                    <a:pt x="1720" y="378"/>
                    <a:pt x="1698" y="400"/>
                    <a:pt x="1672" y="400"/>
                  </a:cubicBezTo>
                  <a:cubicBezTo>
                    <a:pt x="1645" y="400"/>
                    <a:pt x="1624" y="378"/>
                    <a:pt x="1624" y="352"/>
                  </a:cubicBezTo>
                  <a:cubicBezTo>
                    <a:pt x="1624" y="325"/>
                    <a:pt x="1645" y="304"/>
                    <a:pt x="1672" y="304"/>
                  </a:cubicBezTo>
                  <a:cubicBezTo>
                    <a:pt x="1698" y="304"/>
                    <a:pt x="1720" y="325"/>
                    <a:pt x="1720" y="352"/>
                  </a:cubicBezTo>
                  <a:close/>
                  <a:moveTo>
                    <a:pt x="1821" y="352"/>
                  </a:moveTo>
                  <a:cubicBezTo>
                    <a:pt x="1821" y="378"/>
                    <a:pt x="1799" y="400"/>
                    <a:pt x="1773" y="400"/>
                  </a:cubicBezTo>
                  <a:cubicBezTo>
                    <a:pt x="1746" y="400"/>
                    <a:pt x="1725" y="378"/>
                    <a:pt x="1725" y="352"/>
                  </a:cubicBezTo>
                  <a:cubicBezTo>
                    <a:pt x="1725" y="325"/>
                    <a:pt x="1746" y="304"/>
                    <a:pt x="1773" y="304"/>
                  </a:cubicBezTo>
                  <a:cubicBezTo>
                    <a:pt x="1799" y="304"/>
                    <a:pt x="1821" y="325"/>
                    <a:pt x="1821" y="352"/>
                  </a:cubicBezTo>
                  <a:close/>
                  <a:moveTo>
                    <a:pt x="1922" y="352"/>
                  </a:moveTo>
                  <a:cubicBezTo>
                    <a:pt x="1922" y="378"/>
                    <a:pt x="1900" y="400"/>
                    <a:pt x="1874" y="400"/>
                  </a:cubicBezTo>
                  <a:cubicBezTo>
                    <a:pt x="1847" y="400"/>
                    <a:pt x="1826" y="378"/>
                    <a:pt x="1826" y="352"/>
                  </a:cubicBezTo>
                  <a:cubicBezTo>
                    <a:pt x="1826" y="325"/>
                    <a:pt x="1847" y="304"/>
                    <a:pt x="1874" y="304"/>
                  </a:cubicBezTo>
                  <a:cubicBezTo>
                    <a:pt x="1900" y="304"/>
                    <a:pt x="1922" y="325"/>
                    <a:pt x="1922" y="352"/>
                  </a:cubicBezTo>
                  <a:close/>
                  <a:moveTo>
                    <a:pt x="2024" y="352"/>
                  </a:moveTo>
                  <a:cubicBezTo>
                    <a:pt x="2024" y="378"/>
                    <a:pt x="2002" y="400"/>
                    <a:pt x="1976" y="400"/>
                  </a:cubicBezTo>
                  <a:cubicBezTo>
                    <a:pt x="1949" y="400"/>
                    <a:pt x="1928" y="378"/>
                    <a:pt x="1928" y="352"/>
                  </a:cubicBezTo>
                  <a:cubicBezTo>
                    <a:pt x="1928" y="325"/>
                    <a:pt x="1949" y="304"/>
                    <a:pt x="1976" y="304"/>
                  </a:cubicBezTo>
                  <a:cubicBezTo>
                    <a:pt x="2002" y="304"/>
                    <a:pt x="2024" y="325"/>
                    <a:pt x="2024" y="352"/>
                  </a:cubicBezTo>
                  <a:close/>
                  <a:moveTo>
                    <a:pt x="2125" y="352"/>
                  </a:moveTo>
                  <a:cubicBezTo>
                    <a:pt x="2125" y="378"/>
                    <a:pt x="2103" y="400"/>
                    <a:pt x="2077" y="400"/>
                  </a:cubicBezTo>
                  <a:cubicBezTo>
                    <a:pt x="2050" y="400"/>
                    <a:pt x="2029" y="378"/>
                    <a:pt x="2029" y="352"/>
                  </a:cubicBezTo>
                  <a:cubicBezTo>
                    <a:pt x="2029" y="325"/>
                    <a:pt x="2050" y="304"/>
                    <a:pt x="2077" y="304"/>
                  </a:cubicBezTo>
                  <a:cubicBezTo>
                    <a:pt x="2103" y="304"/>
                    <a:pt x="2125" y="325"/>
                    <a:pt x="2125" y="352"/>
                  </a:cubicBezTo>
                  <a:close/>
                  <a:moveTo>
                    <a:pt x="2226" y="352"/>
                  </a:moveTo>
                  <a:cubicBezTo>
                    <a:pt x="2226" y="378"/>
                    <a:pt x="2204" y="400"/>
                    <a:pt x="2178" y="400"/>
                  </a:cubicBezTo>
                  <a:cubicBezTo>
                    <a:pt x="2151" y="400"/>
                    <a:pt x="2130" y="378"/>
                    <a:pt x="2130" y="352"/>
                  </a:cubicBezTo>
                  <a:cubicBezTo>
                    <a:pt x="2130" y="325"/>
                    <a:pt x="2151" y="304"/>
                    <a:pt x="2178" y="304"/>
                  </a:cubicBezTo>
                  <a:cubicBezTo>
                    <a:pt x="2204" y="304"/>
                    <a:pt x="2226" y="325"/>
                    <a:pt x="2226" y="352"/>
                  </a:cubicBezTo>
                  <a:close/>
                  <a:moveTo>
                    <a:pt x="2328" y="352"/>
                  </a:moveTo>
                  <a:cubicBezTo>
                    <a:pt x="2328" y="378"/>
                    <a:pt x="2306" y="400"/>
                    <a:pt x="2280" y="400"/>
                  </a:cubicBezTo>
                  <a:cubicBezTo>
                    <a:pt x="2253" y="400"/>
                    <a:pt x="2232" y="378"/>
                    <a:pt x="2232" y="352"/>
                  </a:cubicBezTo>
                  <a:cubicBezTo>
                    <a:pt x="2232" y="325"/>
                    <a:pt x="2253" y="304"/>
                    <a:pt x="2280" y="304"/>
                  </a:cubicBezTo>
                  <a:cubicBezTo>
                    <a:pt x="2306" y="304"/>
                    <a:pt x="2328" y="325"/>
                    <a:pt x="2328" y="352"/>
                  </a:cubicBezTo>
                  <a:close/>
                  <a:moveTo>
                    <a:pt x="2429" y="352"/>
                  </a:moveTo>
                  <a:cubicBezTo>
                    <a:pt x="2429" y="378"/>
                    <a:pt x="2407" y="400"/>
                    <a:pt x="2381" y="400"/>
                  </a:cubicBezTo>
                  <a:cubicBezTo>
                    <a:pt x="2354" y="400"/>
                    <a:pt x="2333" y="378"/>
                    <a:pt x="2333" y="352"/>
                  </a:cubicBezTo>
                  <a:cubicBezTo>
                    <a:pt x="2333" y="325"/>
                    <a:pt x="2354" y="304"/>
                    <a:pt x="2381" y="304"/>
                  </a:cubicBezTo>
                  <a:cubicBezTo>
                    <a:pt x="2407" y="304"/>
                    <a:pt x="2429" y="325"/>
                    <a:pt x="2429" y="352"/>
                  </a:cubicBezTo>
                  <a:close/>
                  <a:moveTo>
                    <a:pt x="2530" y="352"/>
                  </a:moveTo>
                  <a:cubicBezTo>
                    <a:pt x="2530" y="378"/>
                    <a:pt x="2508" y="400"/>
                    <a:pt x="2482" y="400"/>
                  </a:cubicBezTo>
                  <a:cubicBezTo>
                    <a:pt x="2455" y="400"/>
                    <a:pt x="2434" y="378"/>
                    <a:pt x="2434" y="352"/>
                  </a:cubicBezTo>
                  <a:cubicBezTo>
                    <a:pt x="2434" y="325"/>
                    <a:pt x="2455" y="304"/>
                    <a:pt x="2482" y="304"/>
                  </a:cubicBezTo>
                  <a:cubicBezTo>
                    <a:pt x="2508" y="304"/>
                    <a:pt x="2530" y="325"/>
                    <a:pt x="2530" y="352"/>
                  </a:cubicBezTo>
                  <a:close/>
                  <a:moveTo>
                    <a:pt x="2632" y="352"/>
                  </a:moveTo>
                  <a:cubicBezTo>
                    <a:pt x="2632" y="378"/>
                    <a:pt x="2610" y="400"/>
                    <a:pt x="2584" y="400"/>
                  </a:cubicBezTo>
                  <a:cubicBezTo>
                    <a:pt x="2557" y="400"/>
                    <a:pt x="2536" y="378"/>
                    <a:pt x="2536" y="352"/>
                  </a:cubicBezTo>
                  <a:cubicBezTo>
                    <a:pt x="2536" y="325"/>
                    <a:pt x="2557" y="304"/>
                    <a:pt x="2584" y="304"/>
                  </a:cubicBezTo>
                  <a:cubicBezTo>
                    <a:pt x="2610" y="304"/>
                    <a:pt x="2632" y="325"/>
                    <a:pt x="2632" y="352"/>
                  </a:cubicBezTo>
                  <a:close/>
                  <a:moveTo>
                    <a:pt x="2733" y="352"/>
                  </a:moveTo>
                  <a:cubicBezTo>
                    <a:pt x="2733" y="378"/>
                    <a:pt x="2711" y="400"/>
                    <a:pt x="2685" y="400"/>
                  </a:cubicBezTo>
                  <a:cubicBezTo>
                    <a:pt x="2658" y="400"/>
                    <a:pt x="2637" y="378"/>
                    <a:pt x="2637" y="352"/>
                  </a:cubicBezTo>
                  <a:cubicBezTo>
                    <a:pt x="2637" y="325"/>
                    <a:pt x="2658" y="304"/>
                    <a:pt x="2685" y="304"/>
                  </a:cubicBezTo>
                  <a:cubicBezTo>
                    <a:pt x="2711" y="304"/>
                    <a:pt x="2733" y="325"/>
                    <a:pt x="2733" y="352"/>
                  </a:cubicBezTo>
                  <a:close/>
                  <a:moveTo>
                    <a:pt x="2834" y="352"/>
                  </a:moveTo>
                  <a:cubicBezTo>
                    <a:pt x="2834" y="378"/>
                    <a:pt x="2812" y="400"/>
                    <a:pt x="2786" y="400"/>
                  </a:cubicBezTo>
                  <a:cubicBezTo>
                    <a:pt x="2759" y="400"/>
                    <a:pt x="2738" y="378"/>
                    <a:pt x="2738" y="352"/>
                  </a:cubicBezTo>
                  <a:cubicBezTo>
                    <a:pt x="2738" y="325"/>
                    <a:pt x="2759" y="304"/>
                    <a:pt x="2786" y="304"/>
                  </a:cubicBezTo>
                  <a:cubicBezTo>
                    <a:pt x="2812" y="304"/>
                    <a:pt x="2834" y="325"/>
                    <a:pt x="2834" y="352"/>
                  </a:cubicBezTo>
                  <a:close/>
                  <a:moveTo>
                    <a:pt x="2936" y="352"/>
                  </a:moveTo>
                  <a:cubicBezTo>
                    <a:pt x="2936" y="378"/>
                    <a:pt x="2914" y="400"/>
                    <a:pt x="2888" y="400"/>
                  </a:cubicBezTo>
                  <a:cubicBezTo>
                    <a:pt x="2861" y="400"/>
                    <a:pt x="2840" y="378"/>
                    <a:pt x="2840" y="352"/>
                  </a:cubicBezTo>
                  <a:cubicBezTo>
                    <a:pt x="2840" y="325"/>
                    <a:pt x="2861" y="304"/>
                    <a:pt x="2888" y="304"/>
                  </a:cubicBezTo>
                  <a:cubicBezTo>
                    <a:pt x="2914" y="304"/>
                    <a:pt x="2936" y="325"/>
                    <a:pt x="2936" y="352"/>
                  </a:cubicBezTo>
                  <a:close/>
                  <a:moveTo>
                    <a:pt x="3037" y="352"/>
                  </a:moveTo>
                  <a:cubicBezTo>
                    <a:pt x="3037" y="378"/>
                    <a:pt x="3015" y="400"/>
                    <a:pt x="2989" y="400"/>
                  </a:cubicBezTo>
                  <a:cubicBezTo>
                    <a:pt x="2962" y="400"/>
                    <a:pt x="2941" y="378"/>
                    <a:pt x="2941" y="352"/>
                  </a:cubicBezTo>
                  <a:cubicBezTo>
                    <a:pt x="2941" y="325"/>
                    <a:pt x="2962" y="304"/>
                    <a:pt x="2989" y="304"/>
                  </a:cubicBezTo>
                  <a:cubicBezTo>
                    <a:pt x="3015" y="304"/>
                    <a:pt x="3037" y="325"/>
                    <a:pt x="3037" y="352"/>
                  </a:cubicBezTo>
                  <a:close/>
                  <a:moveTo>
                    <a:pt x="3138" y="352"/>
                  </a:moveTo>
                  <a:cubicBezTo>
                    <a:pt x="3138" y="378"/>
                    <a:pt x="3116" y="400"/>
                    <a:pt x="3090" y="400"/>
                  </a:cubicBezTo>
                  <a:cubicBezTo>
                    <a:pt x="3063" y="400"/>
                    <a:pt x="3042" y="378"/>
                    <a:pt x="3042" y="352"/>
                  </a:cubicBezTo>
                  <a:cubicBezTo>
                    <a:pt x="3042" y="325"/>
                    <a:pt x="3063" y="304"/>
                    <a:pt x="3090" y="304"/>
                  </a:cubicBezTo>
                  <a:cubicBezTo>
                    <a:pt x="3116" y="304"/>
                    <a:pt x="3138" y="325"/>
                    <a:pt x="3138" y="352"/>
                  </a:cubicBezTo>
                  <a:close/>
                  <a:moveTo>
                    <a:pt x="3240" y="352"/>
                  </a:moveTo>
                  <a:cubicBezTo>
                    <a:pt x="3240" y="378"/>
                    <a:pt x="3218" y="400"/>
                    <a:pt x="3192" y="400"/>
                  </a:cubicBezTo>
                  <a:cubicBezTo>
                    <a:pt x="3165" y="400"/>
                    <a:pt x="3144" y="378"/>
                    <a:pt x="3144" y="352"/>
                  </a:cubicBezTo>
                  <a:cubicBezTo>
                    <a:pt x="3144" y="325"/>
                    <a:pt x="3165" y="304"/>
                    <a:pt x="3192" y="304"/>
                  </a:cubicBezTo>
                  <a:cubicBezTo>
                    <a:pt x="3218" y="304"/>
                    <a:pt x="3240" y="325"/>
                    <a:pt x="3240" y="352"/>
                  </a:cubicBezTo>
                  <a:close/>
                  <a:moveTo>
                    <a:pt x="3341" y="352"/>
                  </a:moveTo>
                  <a:cubicBezTo>
                    <a:pt x="3341" y="378"/>
                    <a:pt x="3319" y="400"/>
                    <a:pt x="3293" y="400"/>
                  </a:cubicBezTo>
                  <a:cubicBezTo>
                    <a:pt x="3266" y="400"/>
                    <a:pt x="3245" y="378"/>
                    <a:pt x="3245" y="352"/>
                  </a:cubicBezTo>
                  <a:cubicBezTo>
                    <a:pt x="3245" y="325"/>
                    <a:pt x="3266" y="304"/>
                    <a:pt x="3293" y="304"/>
                  </a:cubicBezTo>
                  <a:cubicBezTo>
                    <a:pt x="3319" y="304"/>
                    <a:pt x="3341" y="325"/>
                    <a:pt x="3341" y="352"/>
                  </a:cubicBezTo>
                  <a:close/>
                  <a:moveTo>
                    <a:pt x="3442" y="352"/>
                  </a:moveTo>
                  <a:cubicBezTo>
                    <a:pt x="3442" y="378"/>
                    <a:pt x="3420" y="400"/>
                    <a:pt x="3394" y="400"/>
                  </a:cubicBezTo>
                  <a:cubicBezTo>
                    <a:pt x="3367" y="400"/>
                    <a:pt x="3346" y="378"/>
                    <a:pt x="3346" y="352"/>
                  </a:cubicBezTo>
                  <a:cubicBezTo>
                    <a:pt x="3346" y="325"/>
                    <a:pt x="3367" y="304"/>
                    <a:pt x="3394" y="304"/>
                  </a:cubicBezTo>
                  <a:cubicBezTo>
                    <a:pt x="3420" y="304"/>
                    <a:pt x="3442" y="325"/>
                    <a:pt x="3442" y="352"/>
                  </a:cubicBezTo>
                  <a:close/>
                  <a:moveTo>
                    <a:pt x="3544" y="352"/>
                  </a:moveTo>
                  <a:cubicBezTo>
                    <a:pt x="3544" y="378"/>
                    <a:pt x="3522" y="400"/>
                    <a:pt x="3496" y="400"/>
                  </a:cubicBezTo>
                  <a:cubicBezTo>
                    <a:pt x="3469" y="400"/>
                    <a:pt x="3448" y="378"/>
                    <a:pt x="3448" y="352"/>
                  </a:cubicBezTo>
                  <a:cubicBezTo>
                    <a:pt x="3448" y="325"/>
                    <a:pt x="3469" y="304"/>
                    <a:pt x="3496" y="304"/>
                  </a:cubicBezTo>
                  <a:cubicBezTo>
                    <a:pt x="3522" y="304"/>
                    <a:pt x="3544" y="325"/>
                    <a:pt x="3544" y="352"/>
                  </a:cubicBezTo>
                  <a:close/>
                  <a:moveTo>
                    <a:pt x="3645" y="352"/>
                  </a:moveTo>
                  <a:cubicBezTo>
                    <a:pt x="3645" y="378"/>
                    <a:pt x="3623" y="400"/>
                    <a:pt x="3597" y="400"/>
                  </a:cubicBezTo>
                  <a:cubicBezTo>
                    <a:pt x="3570" y="400"/>
                    <a:pt x="3549" y="378"/>
                    <a:pt x="3549" y="352"/>
                  </a:cubicBezTo>
                  <a:cubicBezTo>
                    <a:pt x="3549" y="325"/>
                    <a:pt x="3570" y="304"/>
                    <a:pt x="3597" y="304"/>
                  </a:cubicBezTo>
                  <a:cubicBezTo>
                    <a:pt x="3623" y="304"/>
                    <a:pt x="3645" y="325"/>
                    <a:pt x="3645" y="352"/>
                  </a:cubicBezTo>
                  <a:close/>
                  <a:moveTo>
                    <a:pt x="3746" y="352"/>
                  </a:moveTo>
                  <a:cubicBezTo>
                    <a:pt x="3746" y="378"/>
                    <a:pt x="3724" y="400"/>
                    <a:pt x="3698" y="400"/>
                  </a:cubicBezTo>
                  <a:cubicBezTo>
                    <a:pt x="3671" y="400"/>
                    <a:pt x="3650" y="378"/>
                    <a:pt x="3650" y="352"/>
                  </a:cubicBezTo>
                  <a:cubicBezTo>
                    <a:pt x="3650" y="325"/>
                    <a:pt x="3671" y="304"/>
                    <a:pt x="3698" y="304"/>
                  </a:cubicBezTo>
                  <a:cubicBezTo>
                    <a:pt x="3724" y="304"/>
                    <a:pt x="3746" y="325"/>
                    <a:pt x="3746" y="352"/>
                  </a:cubicBezTo>
                  <a:close/>
                  <a:moveTo>
                    <a:pt x="3848" y="352"/>
                  </a:moveTo>
                  <a:cubicBezTo>
                    <a:pt x="3848" y="378"/>
                    <a:pt x="3826" y="400"/>
                    <a:pt x="3800" y="400"/>
                  </a:cubicBezTo>
                  <a:cubicBezTo>
                    <a:pt x="3773" y="400"/>
                    <a:pt x="3752" y="378"/>
                    <a:pt x="3752" y="352"/>
                  </a:cubicBezTo>
                  <a:cubicBezTo>
                    <a:pt x="3752" y="325"/>
                    <a:pt x="3773" y="304"/>
                    <a:pt x="3800" y="304"/>
                  </a:cubicBezTo>
                  <a:cubicBezTo>
                    <a:pt x="3826" y="304"/>
                    <a:pt x="3848" y="325"/>
                    <a:pt x="3848" y="352"/>
                  </a:cubicBezTo>
                  <a:close/>
                  <a:moveTo>
                    <a:pt x="3949" y="352"/>
                  </a:moveTo>
                  <a:cubicBezTo>
                    <a:pt x="3949" y="378"/>
                    <a:pt x="3927" y="400"/>
                    <a:pt x="3901" y="400"/>
                  </a:cubicBezTo>
                  <a:cubicBezTo>
                    <a:pt x="3874" y="400"/>
                    <a:pt x="3853" y="378"/>
                    <a:pt x="3853" y="352"/>
                  </a:cubicBezTo>
                  <a:cubicBezTo>
                    <a:pt x="3853" y="325"/>
                    <a:pt x="3874" y="304"/>
                    <a:pt x="3901" y="304"/>
                  </a:cubicBezTo>
                  <a:cubicBezTo>
                    <a:pt x="3927" y="304"/>
                    <a:pt x="3949" y="325"/>
                    <a:pt x="3949" y="352"/>
                  </a:cubicBezTo>
                  <a:close/>
                  <a:moveTo>
                    <a:pt x="4050" y="352"/>
                  </a:moveTo>
                  <a:cubicBezTo>
                    <a:pt x="4050" y="378"/>
                    <a:pt x="4028" y="400"/>
                    <a:pt x="4002" y="400"/>
                  </a:cubicBezTo>
                  <a:cubicBezTo>
                    <a:pt x="3975" y="400"/>
                    <a:pt x="3954" y="378"/>
                    <a:pt x="3954" y="352"/>
                  </a:cubicBezTo>
                  <a:cubicBezTo>
                    <a:pt x="3954" y="325"/>
                    <a:pt x="3975" y="304"/>
                    <a:pt x="4002" y="304"/>
                  </a:cubicBezTo>
                  <a:cubicBezTo>
                    <a:pt x="4028" y="304"/>
                    <a:pt x="4050" y="325"/>
                    <a:pt x="4050" y="352"/>
                  </a:cubicBezTo>
                  <a:close/>
                  <a:moveTo>
                    <a:pt x="4152" y="352"/>
                  </a:moveTo>
                  <a:cubicBezTo>
                    <a:pt x="4152" y="378"/>
                    <a:pt x="4130" y="400"/>
                    <a:pt x="4104" y="400"/>
                  </a:cubicBezTo>
                  <a:cubicBezTo>
                    <a:pt x="4077" y="400"/>
                    <a:pt x="4056" y="378"/>
                    <a:pt x="4056" y="352"/>
                  </a:cubicBezTo>
                  <a:cubicBezTo>
                    <a:pt x="4056" y="325"/>
                    <a:pt x="4077" y="304"/>
                    <a:pt x="4104" y="304"/>
                  </a:cubicBezTo>
                  <a:cubicBezTo>
                    <a:pt x="4130" y="304"/>
                    <a:pt x="4152" y="325"/>
                    <a:pt x="4152" y="352"/>
                  </a:cubicBezTo>
                  <a:close/>
                  <a:moveTo>
                    <a:pt x="4253" y="352"/>
                  </a:moveTo>
                  <a:cubicBezTo>
                    <a:pt x="4253" y="378"/>
                    <a:pt x="4231" y="400"/>
                    <a:pt x="4205" y="400"/>
                  </a:cubicBezTo>
                  <a:cubicBezTo>
                    <a:pt x="4178" y="400"/>
                    <a:pt x="4157" y="378"/>
                    <a:pt x="4157" y="352"/>
                  </a:cubicBezTo>
                  <a:cubicBezTo>
                    <a:pt x="4157" y="325"/>
                    <a:pt x="4178" y="304"/>
                    <a:pt x="4205" y="304"/>
                  </a:cubicBezTo>
                  <a:cubicBezTo>
                    <a:pt x="4231" y="304"/>
                    <a:pt x="4253" y="325"/>
                    <a:pt x="4253" y="352"/>
                  </a:cubicBezTo>
                  <a:close/>
                  <a:moveTo>
                    <a:pt x="4354" y="352"/>
                  </a:moveTo>
                  <a:cubicBezTo>
                    <a:pt x="4354" y="378"/>
                    <a:pt x="4332" y="400"/>
                    <a:pt x="4306" y="400"/>
                  </a:cubicBezTo>
                  <a:cubicBezTo>
                    <a:pt x="4279" y="400"/>
                    <a:pt x="4258" y="378"/>
                    <a:pt x="4258" y="352"/>
                  </a:cubicBezTo>
                  <a:cubicBezTo>
                    <a:pt x="4258" y="325"/>
                    <a:pt x="4279" y="304"/>
                    <a:pt x="4306" y="304"/>
                  </a:cubicBezTo>
                  <a:cubicBezTo>
                    <a:pt x="4332" y="304"/>
                    <a:pt x="4354" y="325"/>
                    <a:pt x="4354" y="352"/>
                  </a:cubicBezTo>
                  <a:close/>
                  <a:moveTo>
                    <a:pt x="4456" y="352"/>
                  </a:moveTo>
                  <a:cubicBezTo>
                    <a:pt x="4456" y="378"/>
                    <a:pt x="4434" y="400"/>
                    <a:pt x="4408" y="400"/>
                  </a:cubicBezTo>
                  <a:cubicBezTo>
                    <a:pt x="4381" y="400"/>
                    <a:pt x="4360" y="378"/>
                    <a:pt x="4360" y="352"/>
                  </a:cubicBezTo>
                  <a:cubicBezTo>
                    <a:pt x="4360" y="325"/>
                    <a:pt x="4381" y="304"/>
                    <a:pt x="4408" y="304"/>
                  </a:cubicBezTo>
                  <a:cubicBezTo>
                    <a:pt x="4434" y="304"/>
                    <a:pt x="4456" y="325"/>
                    <a:pt x="4456" y="352"/>
                  </a:cubicBezTo>
                  <a:close/>
                  <a:moveTo>
                    <a:pt x="4557" y="352"/>
                  </a:moveTo>
                  <a:cubicBezTo>
                    <a:pt x="4557" y="378"/>
                    <a:pt x="4535" y="400"/>
                    <a:pt x="4509" y="400"/>
                  </a:cubicBezTo>
                  <a:cubicBezTo>
                    <a:pt x="4482" y="400"/>
                    <a:pt x="4461" y="378"/>
                    <a:pt x="4461" y="352"/>
                  </a:cubicBezTo>
                  <a:cubicBezTo>
                    <a:pt x="4461" y="325"/>
                    <a:pt x="4482" y="304"/>
                    <a:pt x="4509" y="304"/>
                  </a:cubicBezTo>
                  <a:cubicBezTo>
                    <a:pt x="4535" y="304"/>
                    <a:pt x="4557" y="325"/>
                    <a:pt x="4557" y="352"/>
                  </a:cubicBezTo>
                  <a:close/>
                  <a:moveTo>
                    <a:pt x="4658" y="352"/>
                  </a:moveTo>
                  <a:cubicBezTo>
                    <a:pt x="4658" y="378"/>
                    <a:pt x="4636" y="400"/>
                    <a:pt x="4610" y="400"/>
                  </a:cubicBezTo>
                  <a:cubicBezTo>
                    <a:pt x="4583" y="400"/>
                    <a:pt x="4562" y="378"/>
                    <a:pt x="4562" y="352"/>
                  </a:cubicBezTo>
                  <a:cubicBezTo>
                    <a:pt x="4562" y="325"/>
                    <a:pt x="4583" y="304"/>
                    <a:pt x="4610" y="304"/>
                  </a:cubicBezTo>
                  <a:cubicBezTo>
                    <a:pt x="4636" y="304"/>
                    <a:pt x="4658" y="325"/>
                    <a:pt x="4658" y="352"/>
                  </a:cubicBezTo>
                  <a:close/>
                  <a:moveTo>
                    <a:pt x="4760" y="352"/>
                  </a:moveTo>
                  <a:cubicBezTo>
                    <a:pt x="4760" y="378"/>
                    <a:pt x="4738" y="400"/>
                    <a:pt x="4712" y="400"/>
                  </a:cubicBezTo>
                  <a:cubicBezTo>
                    <a:pt x="4685" y="400"/>
                    <a:pt x="4664" y="378"/>
                    <a:pt x="4664" y="352"/>
                  </a:cubicBezTo>
                  <a:cubicBezTo>
                    <a:pt x="4664" y="325"/>
                    <a:pt x="4685" y="304"/>
                    <a:pt x="4712" y="304"/>
                  </a:cubicBezTo>
                  <a:cubicBezTo>
                    <a:pt x="4738" y="304"/>
                    <a:pt x="4760" y="325"/>
                    <a:pt x="4760" y="352"/>
                  </a:cubicBezTo>
                  <a:close/>
                  <a:moveTo>
                    <a:pt x="4861" y="352"/>
                  </a:moveTo>
                  <a:cubicBezTo>
                    <a:pt x="4861" y="378"/>
                    <a:pt x="4839" y="400"/>
                    <a:pt x="4813" y="400"/>
                  </a:cubicBezTo>
                  <a:cubicBezTo>
                    <a:pt x="4786" y="400"/>
                    <a:pt x="4765" y="378"/>
                    <a:pt x="4765" y="352"/>
                  </a:cubicBezTo>
                  <a:cubicBezTo>
                    <a:pt x="4765" y="325"/>
                    <a:pt x="4786" y="304"/>
                    <a:pt x="4813" y="304"/>
                  </a:cubicBezTo>
                  <a:cubicBezTo>
                    <a:pt x="4839" y="304"/>
                    <a:pt x="4861" y="325"/>
                    <a:pt x="4861" y="352"/>
                  </a:cubicBezTo>
                  <a:close/>
                  <a:moveTo>
                    <a:pt x="4962" y="352"/>
                  </a:moveTo>
                  <a:cubicBezTo>
                    <a:pt x="4962" y="378"/>
                    <a:pt x="4940" y="400"/>
                    <a:pt x="4914" y="400"/>
                  </a:cubicBezTo>
                  <a:cubicBezTo>
                    <a:pt x="4887" y="400"/>
                    <a:pt x="4866" y="378"/>
                    <a:pt x="4866" y="352"/>
                  </a:cubicBezTo>
                  <a:cubicBezTo>
                    <a:pt x="4866" y="325"/>
                    <a:pt x="4887" y="304"/>
                    <a:pt x="4914" y="304"/>
                  </a:cubicBezTo>
                  <a:cubicBezTo>
                    <a:pt x="4940" y="304"/>
                    <a:pt x="4962" y="325"/>
                    <a:pt x="4962" y="352"/>
                  </a:cubicBezTo>
                  <a:close/>
                  <a:moveTo>
                    <a:pt x="5064" y="352"/>
                  </a:moveTo>
                  <a:cubicBezTo>
                    <a:pt x="5064" y="378"/>
                    <a:pt x="5042" y="400"/>
                    <a:pt x="5016" y="400"/>
                  </a:cubicBezTo>
                  <a:cubicBezTo>
                    <a:pt x="4989" y="400"/>
                    <a:pt x="4968" y="378"/>
                    <a:pt x="4968" y="352"/>
                  </a:cubicBezTo>
                  <a:cubicBezTo>
                    <a:pt x="4968" y="325"/>
                    <a:pt x="4989" y="304"/>
                    <a:pt x="5016" y="304"/>
                  </a:cubicBezTo>
                  <a:cubicBezTo>
                    <a:pt x="5042" y="304"/>
                    <a:pt x="5064" y="325"/>
                    <a:pt x="5064" y="352"/>
                  </a:cubicBezTo>
                  <a:close/>
                  <a:moveTo>
                    <a:pt x="5165" y="352"/>
                  </a:moveTo>
                  <a:cubicBezTo>
                    <a:pt x="5165" y="378"/>
                    <a:pt x="5143" y="400"/>
                    <a:pt x="5117" y="400"/>
                  </a:cubicBezTo>
                  <a:cubicBezTo>
                    <a:pt x="5090" y="400"/>
                    <a:pt x="5069" y="378"/>
                    <a:pt x="5069" y="352"/>
                  </a:cubicBezTo>
                  <a:cubicBezTo>
                    <a:pt x="5069" y="325"/>
                    <a:pt x="5090" y="304"/>
                    <a:pt x="5117" y="304"/>
                  </a:cubicBezTo>
                  <a:cubicBezTo>
                    <a:pt x="5143" y="304"/>
                    <a:pt x="5165" y="325"/>
                    <a:pt x="5165" y="352"/>
                  </a:cubicBezTo>
                  <a:close/>
                  <a:moveTo>
                    <a:pt x="5266" y="352"/>
                  </a:moveTo>
                  <a:cubicBezTo>
                    <a:pt x="5266" y="378"/>
                    <a:pt x="5244" y="400"/>
                    <a:pt x="5218" y="400"/>
                  </a:cubicBezTo>
                  <a:cubicBezTo>
                    <a:pt x="5191" y="400"/>
                    <a:pt x="5170" y="378"/>
                    <a:pt x="5170" y="352"/>
                  </a:cubicBezTo>
                  <a:cubicBezTo>
                    <a:pt x="5170" y="325"/>
                    <a:pt x="5191" y="304"/>
                    <a:pt x="5218" y="304"/>
                  </a:cubicBezTo>
                  <a:cubicBezTo>
                    <a:pt x="5244" y="304"/>
                    <a:pt x="5266" y="325"/>
                    <a:pt x="5266" y="352"/>
                  </a:cubicBezTo>
                  <a:close/>
                  <a:moveTo>
                    <a:pt x="5368" y="352"/>
                  </a:moveTo>
                  <a:cubicBezTo>
                    <a:pt x="5368" y="378"/>
                    <a:pt x="5346" y="400"/>
                    <a:pt x="5320" y="400"/>
                  </a:cubicBezTo>
                  <a:cubicBezTo>
                    <a:pt x="5293" y="400"/>
                    <a:pt x="5272" y="378"/>
                    <a:pt x="5272" y="352"/>
                  </a:cubicBezTo>
                  <a:cubicBezTo>
                    <a:pt x="5272" y="325"/>
                    <a:pt x="5293" y="304"/>
                    <a:pt x="5320" y="304"/>
                  </a:cubicBezTo>
                  <a:cubicBezTo>
                    <a:pt x="5346" y="304"/>
                    <a:pt x="5368" y="325"/>
                    <a:pt x="5368" y="352"/>
                  </a:cubicBezTo>
                  <a:close/>
                  <a:moveTo>
                    <a:pt x="5469" y="352"/>
                  </a:moveTo>
                  <a:cubicBezTo>
                    <a:pt x="5469" y="378"/>
                    <a:pt x="5447" y="400"/>
                    <a:pt x="5421" y="400"/>
                  </a:cubicBezTo>
                  <a:cubicBezTo>
                    <a:pt x="5394" y="400"/>
                    <a:pt x="5373" y="378"/>
                    <a:pt x="5373" y="352"/>
                  </a:cubicBezTo>
                  <a:cubicBezTo>
                    <a:pt x="5373" y="325"/>
                    <a:pt x="5394" y="304"/>
                    <a:pt x="5421" y="304"/>
                  </a:cubicBezTo>
                  <a:cubicBezTo>
                    <a:pt x="5447" y="304"/>
                    <a:pt x="5469" y="325"/>
                    <a:pt x="5469" y="352"/>
                  </a:cubicBezTo>
                  <a:close/>
                  <a:moveTo>
                    <a:pt x="5570" y="352"/>
                  </a:moveTo>
                  <a:cubicBezTo>
                    <a:pt x="5570" y="378"/>
                    <a:pt x="5548" y="400"/>
                    <a:pt x="5522" y="400"/>
                  </a:cubicBezTo>
                  <a:cubicBezTo>
                    <a:pt x="5495" y="400"/>
                    <a:pt x="5474" y="378"/>
                    <a:pt x="5474" y="352"/>
                  </a:cubicBezTo>
                  <a:cubicBezTo>
                    <a:pt x="5474" y="325"/>
                    <a:pt x="5495" y="304"/>
                    <a:pt x="5522" y="304"/>
                  </a:cubicBezTo>
                  <a:cubicBezTo>
                    <a:pt x="5548" y="304"/>
                    <a:pt x="5570" y="325"/>
                    <a:pt x="5570" y="352"/>
                  </a:cubicBezTo>
                  <a:close/>
                  <a:moveTo>
                    <a:pt x="5672" y="352"/>
                  </a:moveTo>
                  <a:cubicBezTo>
                    <a:pt x="5672" y="378"/>
                    <a:pt x="5650" y="400"/>
                    <a:pt x="5624" y="400"/>
                  </a:cubicBezTo>
                  <a:cubicBezTo>
                    <a:pt x="5597" y="400"/>
                    <a:pt x="5576" y="378"/>
                    <a:pt x="5576" y="352"/>
                  </a:cubicBezTo>
                  <a:cubicBezTo>
                    <a:pt x="5576" y="325"/>
                    <a:pt x="5597" y="304"/>
                    <a:pt x="5624" y="304"/>
                  </a:cubicBezTo>
                  <a:cubicBezTo>
                    <a:pt x="5650" y="304"/>
                    <a:pt x="5672" y="325"/>
                    <a:pt x="5672" y="352"/>
                  </a:cubicBezTo>
                  <a:close/>
                  <a:moveTo>
                    <a:pt x="5773" y="352"/>
                  </a:moveTo>
                  <a:cubicBezTo>
                    <a:pt x="5773" y="378"/>
                    <a:pt x="5751" y="400"/>
                    <a:pt x="5725" y="400"/>
                  </a:cubicBezTo>
                  <a:cubicBezTo>
                    <a:pt x="5698" y="400"/>
                    <a:pt x="5677" y="378"/>
                    <a:pt x="5677" y="352"/>
                  </a:cubicBezTo>
                  <a:cubicBezTo>
                    <a:pt x="5677" y="325"/>
                    <a:pt x="5698" y="304"/>
                    <a:pt x="5725" y="304"/>
                  </a:cubicBezTo>
                  <a:cubicBezTo>
                    <a:pt x="5751" y="304"/>
                    <a:pt x="5773" y="325"/>
                    <a:pt x="5773" y="352"/>
                  </a:cubicBezTo>
                  <a:close/>
                  <a:moveTo>
                    <a:pt x="5874" y="352"/>
                  </a:moveTo>
                  <a:cubicBezTo>
                    <a:pt x="5874" y="378"/>
                    <a:pt x="5852" y="400"/>
                    <a:pt x="5826" y="400"/>
                  </a:cubicBezTo>
                  <a:cubicBezTo>
                    <a:pt x="5799" y="400"/>
                    <a:pt x="5778" y="378"/>
                    <a:pt x="5778" y="352"/>
                  </a:cubicBezTo>
                  <a:cubicBezTo>
                    <a:pt x="5778" y="325"/>
                    <a:pt x="5799" y="304"/>
                    <a:pt x="5826" y="304"/>
                  </a:cubicBezTo>
                  <a:cubicBezTo>
                    <a:pt x="5852" y="304"/>
                    <a:pt x="5874" y="325"/>
                    <a:pt x="5874" y="352"/>
                  </a:cubicBezTo>
                  <a:close/>
                  <a:moveTo>
                    <a:pt x="5976" y="352"/>
                  </a:moveTo>
                  <a:cubicBezTo>
                    <a:pt x="5976" y="378"/>
                    <a:pt x="5954" y="400"/>
                    <a:pt x="5928" y="400"/>
                  </a:cubicBezTo>
                  <a:cubicBezTo>
                    <a:pt x="5901" y="400"/>
                    <a:pt x="5880" y="378"/>
                    <a:pt x="5880" y="352"/>
                  </a:cubicBezTo>
                  <a:cubicBezTo>
                    <a:pt x="5880" y="325"/>
                    <a:pt x="5901" y="304"/>
                    <a:pt x="5928" y="304"/>
                  </a:cubicBezTo>
                  <a:cubicBezTo>
                    <a:pt x="5954" y="304"/>
                    <a:pt x="5976" y="325"/>
                    <a:pt x="5976" y="352"/>
                  </a:cubicBezTo>
                  <a:close/>
                  <a:moveTo>
                    <a:pt x="6077" y="352"/>
                  </a:moveTo>
                  <a:cubicBezTo>
                    <a:pt x="6077" y="378"/>
                    <a:pt x="6055" y="400"/>
                    <a:pt x="6029" y="400"/>
                  </a:cubicBezTo>
                  <a:cubicBezTo>
                    <a:pt x="6002" y="400"/>
                    <a:pt x="5981" y="378"/>
                    <a:pt x="5981" y="352"/>
                  </a:cubicBezTo>
                  <a:cubicBezTo>
                    <a:pt x="5981" y="325"/>
                    <a:pt x="6002" y="304"/>
                    <a:pt x="6029" y="304"/>
                  </a:cubicBezTo>
                  <a:cubicBezTo>
                    <a:pt x="6055" y="304"/>
                    <a:pt x="6077" y="325"/>
                    <a:pt x="6077" y="352"/>
                  </a:cubicBezTo>
                  <a:close/>
                  <a:moveTo>
                    <a:pt x="6178" y="352"/>
                  </a:moveTo>
                  <a:cubicBezTo>
                    <a:pt x="6178" y="378"/>
                    <a:pt x="6156" y="400"/>
                    <a:pt x="6130" y="400"/>
                  </a:cubicBezTo>
                  <a:cubicBezTo>
                    <a:pt x="6103" y="400"/>
                    <a:pt x="6082" y="378"/>
                    <a:pt x="6082" y="352"/>
                  </a:cubicBezTo>
                  <a:cubicBezTo>
                    <a:pt x="6082" y="325"/>
                    <a:pt x="6103" y="304"/>
                    <a:pt x="6130" y="304"/>
                  </a:cubicBezTo>
                  <a:cubicBezTo>
                    <a:pt x="6156" y="304"/>
                    <a:pt x="6178" y="325"/>
                    <a:pt x="6178" y="352"/>
                  </a:cubicBezTo>
                  <a:close/>
                  <a:moveTo>
                    <a:pt x="6280" y="352"/>
                  </a:moveTo>
                  <a:cubicBezTo>
                    <a:pt x="6280" y="378"/>
                    <a:pt x="6258" y="400"/>
                    <a:pt x="6232" y="400"/>
                  </a:cubicBezTo>
                  <a:cubicBezTo>
                    <a:pt x="6205" y="400"/>
                    <a:pt x="6184" y="378"/>
                    <a:pt x="6184" y="352"/>
                  </a:cubicBezTo>
                  <a:cubicBezTo>
                    <a:pt x="6184" y="325"/>
                    <a:pt x="6205" y="304"/>
                    <a:pt x="6232" y="304"/>
                  </a:cubicBezTo>
                  <a:cubicBezTo>
                    <a:pt x="6258" y="304"/>
                    <a:pt x="6280" y="325"/>
                    <a:pt x="6280" y="352"/>
                  </a:cubicBezTo>
                  <a:close/>
                  <a:moveTo>
                    <a:pt x="6381" y="352"/>
                  </a:moveTo>
                  <a:cubicBezTo>
                    <a:pt x="6381" y="378"/>
                    <a:pt x="6359" y="400"/>
                    <a:pt x="6333" y="400"/>
                  </a:cubicBezTo>
                  <a:cubicBezTo>
                    <a:pt x="6306" y="400"/>
                    <a:pt x="6285" y="378"/>
                    <a:pt x="6285" y="352"/>
                  </a:cubicBezTo>
                  <a:cubicBezTo>
                    <a:pt x="6285" y="325"/>
                    <a:pt x="6306" y="304"/>
                    <a:pt x="6333" y="304"/>
                  </a:cubicBezTo>
                  <a:cubicBezTo>
                    <a:pt x="6359" y="304"/>
                    <a:pt x="6381" y="325"/>
                    <a:pt x="6381" y="352"/>
                  </a:cubicBezTo>
                  <a:close/>
                  <a:moveTo>
                    <a:pt x="6482" y="352"/>
                  </a:moveTo>
                  <a:cubicBezTo>
                    <a:pt x="6482" y="378"/>
                    <a:pt x="6460" y="400"/>
                    <a:pt x="6434" y="400"/>
                  </a:cubicBezTo>
                  <a:cubicBezTo>
                    <a:pt x="6407" y="400"/>
                    <a:pt x="6386" y="378"/>
                    <a:pt x="6386" y="352"/>
                  </a:cubicBezTo>
                  <a:cubicBezTo>
                    <a:pt x="6386" y="325"/>
                    <a:pt x="6407" y="304"/>
                    <a:pt x="6434" y="304"/>
                  </a:cubicBezTo>
                  <a:cubicBezTo>
                    <a:pt x="6460" y="304"/>
                    <a:pt x="6482" y="325"/>
                    <a:pt x="6482" y="352"/>
                  </a:cubicBezTo>
                  <a:close/>
                  <a:moveTo>
                    <a:pt x="6584" y="352"/>
                  </a:moveTo>
                  <a:cubicBezTo>
                    <a:pt x="6584" y="378"/>
                    <a:pt x="6562" y="400"/>
                    <a:pt x="6536" y="400"/>
                  </a:cubicBezTo>
                  <a:cubicBezTo>
                    <a:pt x="6509" y="400"/>
                    <a:pt x="6488" y="378"/>
                    <a:pt x="6488" y="352"/>
                  </a:cubicBezTo>
                  <a:cubicBezTo>
                    <a:pt x="6488" y="325"/>
                    <a:pt x="6509" y="304"/>
                    <a:pt x="6536" y="304"/>
                  </a:cubicBezTo>
                  <a:cubicBezTo>
                    <a:pt x="6562" y="304"/>
                    <a:pt x="6584" y="325"/>
                    <a:pt x="6584" y="352"/>
                  </a:cubicBezTo>
                  <a:close/>
                  <a:moveTo>
                    <a:pt x="6685" y="352"/>
                  </a:moveTo>
                  <a:cubicBezTo>
                    <a:pt x="6685" y="378"/>
                    <a:pt x="6663" y="400"/>
                    <a:pt x="6637" y="400"/>
                  </a:cubicBezTo>
                  <a:cubicBezTo>
                    <a:pt x="6610" y="400"/>
                    <a:pt x="6589" y="378"/>
                    <a:pt x="6589" y="352"/>
                  </a:cubicBezTo>
                  <a:cubicBezTo>
                    <a:pt x="6589" y="325"/>
                    <a:pt x="6610" y="304"/>
                    <a:pt x="6637" y="304"/>
                  </a:cubicBezTo>
                  <a:cubicBezTo>
                    <a:pt x="6663" y="304"/>
                    <a:pt x="6685" y="325"/>
                    <a:pt x="6685" y="352"/>
                  </a:cubicBezTo>
                  <a:close/>
                  <a:moveTo>
                    <a:pt x="6786" y="352"/>
                  </a:moveTo>
                  <a:cubicBezTo>
                    <a:pt x="6786" y="378"/>
                    <a:pt x="6764" y="400"/>
                    <a:pt x="6738" y="400"/>
                  </a:cubicBezTo>
                  <a:cubicBezTo>
                    <a:pt x="6711" y="400"/>
                    <a:pt x="6690" y="378"/>
                    <a:pt x="6690" y="352"/>
                  </a:cubicBezTo>
                  <a:cubicBezTo>
                    <a:pt x="6690" y="325"/>
                    <a:pt x="6711" y="304"/>
                    <a:pt x="6738" y="304"/>
                  </a:cubicBezTo>
                  <a:cubicBezTo>
                    <a:pt x="6764" y="304"/>
                    <a:pt x="6786" y="325"/>
                    <a:pt x="6786" y="352"/>
                  </a:cubicBezTo>
                  <a:close/>
                  <a:moveTo>
                    <a:pt x="6888" y="352"/>
                  </a:moveTo>
                  <a:cubicBezTo>
                    <a:pt x="6888" y="378"/>
                    <a:pt x="6866" y="400"/>
                    <a:pt x="6840" y="400"/>
                  </a:cubicBezTo>
                  <a:cubicBezTo>
                    <a:pt x="6813" y="400"/>
                    <a:pt x="6792" y="378"/>
                    <a:pt x="6792" y="352"/>
                  </a:cubicBezTo>
                  <a:cubicBezTo>
                    <a:pt x="6792" y="325"/>
                    <a:pt x="6813" y="304"/>
                    <a:pt x="6840" y="304"/>
                  </a:cubicBezTo>
                  <a:cubicBezTo>
                    <a:pt x="6866" y="304"/>
                    <a:pt x="6888" y="325"/>
                    <a:pt x="6888" y="352"/>
                  </a:cubicBezTo>
                  <a:close/>
                  <a:moveTo>
                    <a:pt x="6989" y="352"/>
                  </a:moveTo>
                  <a:cubicBezTo>
                    <a:pt x="6989" y="378"/>
                    <a:pt x="6967" y="400"/>
                    <a:pt x="6941" y="400"/>
                  </a:cubicBezTo>
                  <a:cubicBezTo>
                    <a:pt x="6914" y="400"/>
                    <a:pt x="6893" y="378"/>
                    <a:pt x="6893" y="352"/>
                  </a:cubicBezTo>
                  <a:cubicBezTo>
                    <a:pt x="6893" y="325"/>
                    <a:pt x="6914" y="304"/>
                    <a:pt x="6941" y="304"/>
                  </a:cubicBezTo>
                  <a:cubicBezTo>
                    <a:pt x="6967" y="304"/>
                    <a:pt x="6989" y="325"/>
                    <a:pt x="6989" y="352"/>
                  </a:cubicBezTo>
                  <a:close/>
                  <a:moveTo>
                    <a:pt x="7090" y="352"/>
                  </a:moveTo>
                  <a:cubicBezTo>
                    <a:pt x="7090" y="378"/>
                    <a:pt x="7068" y="400"/>
                    <a:pt x="7042" y="400"/>
                  </a:cubicBezTo>
                  <a:cubicBezTo>
                    <a:pt x="7015" y="400"/>
                    <a:pt x="6994" y="378"/>
                    <a:pt x="6994" y="352"/>
                  </a:cubicBezTo>
                  <a:cubicBezTo>
                    <a:pt x="6994" y="325"/>
                    <a:pt x="7015" y="304"/>
                    <a:pt x="7042" y="304"/>
                  </a:cubicBezTo>
                  <a:cubicBezTo>
                    <a:pt x="7068" y="304"/>
                    <a:pt x="7090" y="325"/>
                    <a:pt x="7090" y="352"/>
                  </a:cubicBezTo>
                  <a:close/>
                  <a:moveTo>
                    <a:pt x="7192" y="352"/>
                  </a:moveTo>
                  <a:cubicBezTo>
                    <a:pt x="7192" y="378"/>
                    <a:pt x="7170" y="400"/>
                    <a:pt x="7144" y="400"/>
                  </a:cubicBezTo>
                  <a:cubicBezTo>
                    <a:pt x="7117" y="400"/>
                    <a:pt x="7096" y="378"/>
                    <a:pt x="7096" y="352"/>
                  </a:cubicBezTo>
                  <a:cubicBezTo>
                    <a:pt x="7096" y="325"/>
                    <a:pt x="7117" y="304"/>
                    <a:pt x="7144" y="304"/>
                  </a:cubicBezTo>
                  <a:cubicBezTo>
                    <a:pt x="7170" y="304"/>
                    <a:pt x="7192" y="325"/>
                    <a:pt x="7192" y="352"/>
                  </a:cubicBezTo>
                  <a:close/>
                  <a:moveTo>
                    <a:pt x="7293" y="352"/>
                  </a:moveTo>
                  <a:cubicBezTo>
                    <a:pt x="7293" y="378"/>
                    <a:pt x="7271" y="400"/>
                    <a:pt x="7245" y="400"/>
                  </a:cubicBezTo>
                  <a:cubicBezTo>
                    <a:pt x="7218" y="400"/>
                    <a:pt x="7197" y="378"/>
                    <a:pt x="7197" y="352"/>
                  </a:cubicBezTo>
                  <a:cubicBezTo>
                    <a:pt x="7197" y="325"/>
                    <a:pt x="7218" y="304"/>
                    <a:pt x="7245" y="304"/>
                  </a:cubicBezTo>
                  <a:cubicBezTo>
                    <a:pt x="7271" y="304"/>
                    <a:pt x="7293" y="325"/>
                    <a:pt x="7293" y="352"/>
                  </a:cubicBezTo>
                  <a:close/>
                  <a:moveTo>
                    <a:pt x="7394" y="352"/>
                  </a:moveTo>
                  <a:cubicBezTo>
                    <a:pt x="7394" y="378"/>
                    <a:pt x="7372" y="400"/>
                    <a:pt x="7346" y="400"/>
                  </a:cubicBezTo>
                  <a:cubicBezTo>
                    <a:pt x="7319" y="400"/>
                    <a:pt x="7298" y="378"/>
                    <a:pt x="7298" y="352"/>
                  </a:cubicBezTo>
                  <a:cubicBezTo>
                    <a:pt x="7298" y="325"/>
                    <a:pt x="7319" y="304"/>
                    <a:pt x="7346" y="304"/>
                  </a:cubicBezTo>
                  <a:cubicBezTo>
                    <a:pt x="7372" y="304"/>
                    <a:pt x="7394" y="325"/>
                    <a:pt x="7394" y="352"/>
                  </a:cubicBezTo>
                  <a:close/>
                  <a:moveTo>
                    <a:pt x="7496" y="352"/>
                  </a:moveTo>
                  <a:cubicBezTo>
                    <a:pt x="7496" y="378"/>
                    <a:pt x="7474" y="400"/>
                    <a:pt x="7448" y="400"/>
                  </a:cubicBezTo>
                  <a:cubicBezTo>
                    <a:pt x="7421" y="400"/>
                    <a:pt x="7400" y="378"/>
                    <a:pt x="7400" y="352"/>
                  </a:cubicBezTo>
                  <a:cubicBezTo>
                    <a:pt x="7400" y="325"/>
                    <a:pt x="7421" y="304"/>
                    <a:pt x="7448" y="304"/>
                  </a:cubicBezTo>
                  <a:cubicBezTo>
                    <a:pt x="7474" y="304"/>
                    <a:pt x="7496" y="325"/>
                    <a:pt x="7496" y="352"/>
                  </a:cubicBezTo>
                  <a:close/>
                  <a:moveTo>
                    <a:pt x="7597" y="352"/>
                  </a:moveTo>
                  <a:cubicBezTo>
                    <a:pt x="7597" y="378"/>
                    <a:pt x="7575" y="400"/>
                    <a:pt x="7549" y="400"/>
                  </a:cubicBezTo>
                  <a:cubicBezTo>
                    <a:pt x="7522" y="400"/>
                    <a:pt x="7501" y="378"/>
                    <a:pt x="7501" y="352"/>
                  </a:cubicBezTo>
                  <a:cubicBezTo>
                    <a:pt x="7501" y="325"/>
                    <a:pt x="7522" y="304"/>
                    <a:pt x="7549" y="304"/>
                  </a:cubicBezTo>
                  <a:cubicBezTo>
                    <a:pt x="7575" y="304"/>
                    <a:pt x="7597" y="325"/>
                    <a:pt x="7597" y="35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274320" y="1188720"/>
              <a:ext cx="6949440" cy="365760"/>
            </a:xfrm>
            <a:custGeom>
              <a:avLst/>
              <a:gdLst/>
              <a:ahLst/>
              <a:cxnLst/>
              <a:rect l="0" t="0" r="r" b="b"/>
              <a:pathLst>
                <a:path w="7600" h="400" fill="none">
                  <a:moveTo>
                    <a:pt x="34" y="96"/>
                  </a:moveTo>
                  <a:lnTo>
                    <a:pt x="34" y="190"/>
                  </a:lnTo>
                </a:path>
                <a:path w="7600" h="400" fill="none">
                  <a:moveTo>
                    <a:pt x="66" y="96"/>
                  </a:moveTo>
                  <a:lnTo>
                    <a:pt x="66" y="190"/>
                  </a:lnTo>
                </a:path>
                <a:path w="7600" h="400" fill="none">
                  <a:moveTo>
                    <a:pt x="34" y="304"/>
                  </a:moveTo>
                  <a:lnTo>
                    <a:pt x="34" y="210"/>
                  </a:lnTo>
                </a:path>
                <a:path w="7600" h="400" fill="none">
                  <a:moveTo>
                    <a:pt x="66" y="304"/>
                  </a:moveTo>
                  <a:lnTo>
                    <a:pt x="66" y="210"/>
                  </a:lnTo>
                </a:path>
                <a:path w="7600" h="400" fill="none">
                  <a:moveTo>
                    <a:pt x="136" y="96"/>
                  </a:moveTo>
                  <a:lnTo>
                    <a:pt x="136" y="190"/>
                  </a:lnTo>
                </a:path>
                <a:path w="7600" h="400" fill="none">
                  <a:moveTo>
                    <a:pt x="168" y="96"/>
                  </a:moveTo>
                  <a:lnTo>
                    <a:pt x="168" y="190"/>
                  </a:lnTo>
                </a:path>
                <a:path w="7600" h="400" fill="none">
                  <a:moveTo>
                    <a:pt x="136" y="304"/>
                  </a:moveTo>
                  <a:lnTo>
                    <a:pt x="136" y="210"/>
                  </a:lnTo>
                </a:path>
                <a:path w="7600" h="400" fill="none">
                  <a:moveTo>
                    <a:pt x="168" y="304"/>
                  </a:moveTo>
                  <a:lnTo>
                    <a:pt x="168" y="210"/>
                  </a:lnTo>
                </a:path>
                <a:path w="7600" h="400" fill="none">
                  <a:moveTo>
                    <a:pt x="237" y="96"/>
                  </a:moveTo>
                  <a:lnTo>
                    <a:pt x="237" y="190"/>
                  </a:lnTo>
                </a:path>
                <a:path w="7600" h="400" fill="none">
                  <a:moveTo>
                    <a:pt x="269" y="96"/>
                  </a:moveTo>
                  <a:lnTo>
                    <a:pt x="269" y="190"/>
                  </a:lnTo>
                </a:path>
                <a:path w="7600" h="400" fill="none">
                  <a:moveTo>
                    <a:pt x="237" y="304"/>
                  </a:moveTo>
                  <a:lnTo>
                    <a:pt x="237" y="210"/>
                  </a:lnTo>
                </a:path>
                <a:path w="7600" h="400" fill="none">
                  <a:moveTo>
                    <a:pt x="269" y="304"/>
                  </a:moveTo>
                  <a:lnTo>
                    <a:pt x="269" y="210"/>
                  </a:lnTo>
                </a:path>
                <a:path w="7600" h="400" fill="none">
                  <a:moveTo>
                    <a:pt x="338" y="96"/>
                  </a:moveTo>
                  <a:lnTo>
                    <a:pt x="338" y="190"/>
                  </a:lnTo>
                </a:path>
                <a:path w="7600" h="400" fill="none">
                  <a:moveTo>
                    <a:pt x="370" y="96"/>
                  </a:moveTo>
                  <a:lnTo>
                    <a:pt x="370" y="190"/>
                  </a:lnTo>
                </a:path>
                <a:path w="7600" h="400" fill="none">
                  <a:moveTo>
                    <a:pt x="338" y="304"/>
                  </a:moveTo>
                  <a:lnTo>
                    <a:pt x="338" y="210"/>
                  </a:lnTo>
                </a:path>
                <a:path w="7600" h="400" fill="none">
                  <a:moveTo>
                    <a:pt x="370" y="304"/>
                  </a:moveTo>
                  <a:lnTo>
                    <a:pt x="370" y="210"/>
                  </a:lnTo>
                </a:path>
                <a:path w="7600" h="400" fill="none">
                  <a:moveTo>
                    <a:pt x="440" y="96"/>
                  </a:moveTo>
                  <a:lnTo>
                    <a:pt x="440" y="190"/>
                  </a:lnTo>
                </a:path>
                <a:path w="7600" h="400" fill="none">
                  <a:moveTo>
                    <a:pt x="472" y="96"/>
                  </a:moveTo>
                  <a:lnTo>
                    <a:pt x="472" y="190"/>
                  </a:lnTo>
                </a:path>
                <a:path w="7600" h="400" fill="none">
                  <a:moveTo>
                    <a:pt x="440" y="304"/>
                  </a:moveTo>
                  <a:lnTo>
                    <a:pt x="440" y="210"/>
                  </a:lnTo>
                </a:path>
                <a:path w="7600" h="400" fill="none">
                  <a:moveTo>
                    <a:pt x="472" y="304"/>
                  </a:moveTo>
                  <a:lnTo>
                    <a:pt x="472" y="210"/>
                  </a:lnTo>
                </a:path>
                <a:path w="7600" h="400" fill="none">
                  <a:moveTo>
                    <a:pt x="541" y="96"/>
                  </a:moveTo>
                  <a:lnTo>
                    <a:pt x="541" y="190"/>
                  </a:lnTo>
                </a:path>
                <a:path w="7600" h="400" fill="none">
                  <a:moveTo>
                    <a:pt x="573" y="96"/>
                  </a:moveTo>
                  <a:lnTo>
                    <a:pt x="573" y="190"/>
                  </a:lnTo>
                </a:path>
                <a:path w="7600" h="400" fill="none">
                  <a:moveTo>
                    <a:pt x="541" y="304"/>
                  </a:moveTo>
                  <a:lnTo>
                    <a:pt x="541" y="210"/>
                  </a:lnTo>
                </a:path>
                <a:path w="7600" h="400" fill="none">
                  <a:moveTo>
                    <a:pt x="573" y="304"/>
                  </a:moveTo>
                  <a:lnTo>
                    <a:pt x="573" y="210"/>
                  </a:lnTo>
                </a:path>
                <a:path w="7600" h="400" fill="none">
                  <a:moveTo>
                    <a:pt x="642" y="96"/>
                  </a:moveTo>
                  <a:lnTo>
                    <a:pt x="642" y="190"/>
                  </a:lnTo>
                </a:path>
                <a:path w="7600" h="400" fill="none">
                  <a:moveTo>
                    <a:pt x="674" y="96"/>
                  </a:moveTo>
                  <a:lnTo>
                    <a:pt x="674" y="190"/>
                  </a:lnTo>
                </a:path>
                <a:path w="7600" h="400" fill="none">
                  <a:moveTo>
                    <a:pt x="642" y="304"/>
                  </a:moveTo>
                  <a:lnTo>
                    <a:pt x="642" y="210"/>
                  </a:lnTo>
                </a:path>
                <a:path w="7600" h="400" fill="none">
                  <a:moveTo>
                    <a:pt x="674" y="304"/>
                  </a:moveTo>
                  <a:lnTo>
                    <a:pt x="674" y="210"/>
                  </a:lnTo>
                </a:path>
                <a:path w="7600" h="400" fill="none">
                  <a:moveTo>
                    <a:pt x="744" y="96"/>
                  </a:moveTo>
                  <a:lnTo>
                    <a:pt x="744" y="190"/>
                  </a:lnTo>
                </a:path>
                <a:path w="7600" h="400" fill="none">
                  <a:moveTo>
                    <a:pt x="776" y="96"/>
                  </a:moveTo>
                  <a:lnTo>
                    <a:pt x="776" y="190"/>
                  </a:lnTo>
                </a:path>
                <a:path w="7600" h="400" fill="none">
                  <a:moveTo>
                    <a:pt x="744" y="304"/>
                  </a:moveTo>
                  <a:lnTo>
                    <a:pt x="744" y="210"/>
                  </a:lnTo>
                </a:path>
                <a:path w="7600" h="400" fill="none">
                  <a:moveTo>
                    <a:pt x="776" y="304"/>
                  </a:moveTo>
                  <a:lnTo>
                    <a:pt x="776" y="210"/>
                  </a:lnTo>
                </a:path>
                <a:path w="7600" h="400" fill="none">
                  <a:moveTo>
                    <a:pt x="845" y="96"/>
                  </a:moveTo>
                  <a:lnTo>
                    <a:pt x="845" y="190"/>
                  </a:lnTo>
                </a:path>
                <a:path w="7600" h="400" fill="none">
                  <a:moveTo>
                    <a:pt x="877" y="96"/>
                  </a:moveTo>
                  <a:lnTo>
                    <a:pt x="877" y="190"/>
                  </a:lnTo>
                </a:path>
                <a:path w="7600" h="400" fill="none">
                  <a:moveTo>
                    <a:pt x="845" y="304"/>
                  </a:moveTo>
                  <a:lnTo>
                    <a:pt x="845" y="210"/>
                  </a:lnTo>
                </a:path>
                <a:path w="7600" h="400" fill="none">
                  <a:moveTo>
                    <a:pt x="877" y="304"/>
                  </a:moveTo>
                  <a:lnTo>
                    <a:pt x="877" y="210"/>
                  </a:lnTo>
                </a:path>
                <a:path w="7600" h="400" fill="none">
                  <a:moveTo>
                    <a:pt x="946" y="96"/>
                  </a:moveTo>
                  <a:lnTo>
                    <a:pt x="946" y="190"/>
                  </a:lnTo>
                </a:path>
                <a:path w="7600" h="400" fill="none">
                  <a:moveTo>
                    <a:pt x="978" y="96"/>
                  </a:moveTo>
                  <a:lnTo>
                    <a:pt x="978" y="190"/>
                  </a:lnTo>
                </a:path>
                <a:path w="7600" h="400" fill="none">
                  <a:moveTo>
                    <a:pt x="946" y="304"/>
                  </a:moveTo>
                  <a:lnTo>
                    <a:pt x="946" y="210"/>
                  </a:lnTo>
                </a:path>
                <a:path w="7600" h="400" fill="none">
                  <a:moveTo>
                    <a:pt x="978" y="304"/>
                  </a:moveTo>
                  <a:lnTo>
                    <a:pt x="978" y="210"/>
                  </a:lnTo>
                </a:path>
                <a:path w="7600" h="400" fill="none">
                  <a:moveTo>
                    <a:pt x="1048" y="96"/>
                  </a:moveTo>
                  <a:lnTo>
                    <a:pt x="1048" y="190"/>
                  </a:lnTo>
                </a:path>
                <a:path w="7600" h="400" fill="none">
                  <a:moveTo>
                    <a:pt x="1080" y="96"/>
                  </a:moveTo>
                  <a:lnTo>
                    <a:pt x="1080" y="190"/>
                  </a:lnTo>
                </a:path>
                <a:path w="7600" h="400" fill="none">
                  <a:moveTo>
                    <a:pt x="1048" y="304"/>
                  </a:moveTo>
                  <a:lnTo>
                    <a:pt x="1048" y="210"/>
                  </a:lnTo>
                </a:path>
                <a:path w="7600" h="400" fill="none">
                  <a:moveTo>
                    <a:pt x="1080" y="304"/>
                  </a:moveTo>
                  <a:lnTo>
                    <a:pt x="1080" y="210"/>
                  </a:lnTo>
                </a:path>
                <a:path w="7600" h="400" fill="none">
                  <a:moveTo>
                    <a:pt x="1149" y="96"/>
                  </a:moveTo>
                  <a:lnTo>
                    <a:pt x="1149" y="190"/>
                  </a:lnTo>
                </a:path>
                <a:path w="7600" h="400" fill="none">
                  <a:moveTo>
                    <a:pt x="1181" y="96"/>
                  </a:moveTo>
                  <a:lnTo>
                    <a:pt x="1181" y="190"/>
                  </a:lnTo>
                </a:path>
                <a:path w="7600" h="400" fill="none">
                  <a:moveTo>
                    <a:pt x="1149" y="304"/>
                  </a:moveTo>
                  <a:lnTo>
                    <a:pt x="1149" y="210"/>
                  </a:lnTo>
                </a:path>
                <a:path w="7600" h="400" fill="none">
                  <a:moveTo>
                    <a:pt x="1181" y="304"/>
                  </a:moveTo>
                  <a:lnTo>
                    <a:pt x="1181" y="210"/>
                  </a:lnTo>
                </a:path>
                <a:path w="7600" h="400" fill="none">
                  <a:moveTo>
                    <a:pt x="1250" y="96"/>
                  </a:moveTo>
                  <a:lnTo>
                    <a:pt x="1250" y="190"/>
                  </a:lnTo>
                </a:path>
                <a:path w="7600" h="400" fill="none">
                  <a:moveTo>
                    <a:pt x="1282" y="96"/>
                  </a:moveTo>
                  <a:lnTo>
                    <a:pt x="1282" y="190"/>
                  </a:lnTo>
                </a:path>
                <a:path w="7600" h="400" fill="none">
                  <a:moveTo>
                    <a:pt x="1250" y="304"/>
                  </a:moveTo>
                  <a:lnTo>
                    <a:pt x="1250" y="210"/>
                  </a:lnTo>
                </a:path>
                <a:path w="7600" h="400" fill="none">
                  <a:moveTo>
                    <a:pt x="1282" y="304"/>
                  </a:moveTo>
                  <a:lnTo>
                    <a:pt x="1282" y="210"/>
                  </a:lnTo>
                </a:path>
                <a:path w="7600" h="400" fill="none">
                  <a:moveTo>
                    <a:pt x="1352" y="96"/>
                  </a:moveTo>
                  <a:lnTo>
                    <a:pt x="1352" y="190"/>
                  </a:lnTo>
                </a:path>
                <a:path w="7600" h="400" fill="none">
                  <a:moveTo>
                    <a:pt x="1384" y="96"/>
                  </a:moveTo>
                  <a:lnTo>
                    <a:pt x="1384" y="190"/>
                  </a:lnTo>
                </a:path>
                <a:path w="7600" h="400" fill="none">
                  <a:moveTo>
                    <a:pt x="1352" y="304"/>
                  </a:moveTo>
                  <a:lnTo>
                    <a:pt x="1352" y="210"/>
                  </a:lnTo>
                </a:path>
                <a:path w="7600" h="400" fill="none">
                  <a:moveTo>
                    <a:pt x="1384" y="304"/>
                  </a:moveTo>
                  <a:lnTo>
                    <a:pt x="1384" y="210"/>
                  </a:lnTo>
                </a:path>
                <a:path w="7600" h="400" fill="none">
                  <a:moveTo>
                    <a:pt x="1453" y="96"/>
                  </a:moveTo>
                  <a:lnTo>
                    <a:pt x="1453" y="190"/>
                  </a:lnTo>
                </a:path>
                <a:path w="7600" h="400" fill="none">
                  <a:moveTo>
                    <a:pt x="1485" y="96"/>
                  </a:moveTo>
                  <a:lnTo>
                    <a:pt x="1485" y="190"/>
                  </a:lnTo>
                </a:path>
                <a:path w="7600" h="400" fill="none">
                  <a:moveTo>
                    <a:pt x="1453" y="304"/>
                  </a:moveTo>
                  <a:lnTo>
                    <a:pt x="1453" y="210"/>
                  </a:lnTo>
                </a:path>
                <a:path w="7600" h="400" fill="none">
                  <a:moveTo>
                    <a:pt x="1485" y="304"/>
                  </a:moveTo>
                  <a:lnTo>
                    <a:pt x="1485" y="210"/>
                  </a:lnTo>
                </a:path>
                <a:path w="7600" h="400" fill="none">
                  <a:moveTo>
                    <a:pt x="1554" y="96"/>
                  </a:moveTo>
                  <a:lnTo>
                    <a:pt x="1554" y="190"/>
                  </a:lnTo>
                </a:path>
                <a:path w="7600" h="400" fill="none">
                  <a:moveTo>
                    <a:pt x="1586" y="96"/>
                  </a:moveTo>
                  <a:lnTo>
                    <a:pt x="1586" y="190"/>
                  </a:lnTo>
                </a:path>
                <a:path w="7600" h="400" fill="none">
                  <a:moveTo>
                    <a:pt x="1554" y="304"/>
                  </a:moveTo>
                  <a:lnTo>
                    <a:pt x="1554" y="210"/>
                  </a:lnTo>
                </a:path>
                <a:path w="7600" h="400" fill="none">
                  <a:moveTo>
                    <a:pt x="1586" y="304"/>
                  </a:moveTo>
                  <a:lnTo>
                    <a:pt x="1586" y="210"/>
                  </a:lnTo>
                </a:path>
                <a:path w="7600" h="400" fill="none">
                  <a:moveTo>
                    <a:pt x="1656" y="96"/>
                  </a:moveTo>
                  <a:lnTo>
                    <a:pt x="1656" y="190"/>
                  </a:lnTo>
                </a:path>
                <a:path w="7600" h="400" fill="none">
                  <a:moveTo>
                    <a:pt x="1688" y="96"/>
                  </a:moveTo>
                  <a:lnTo>
                    <a:pt x="1688" y="190"/>
                  </a:lnTo>
                </a:path>
                <a:path w="7600" h="400" fill="none">
                  <a:moveTo>
                    <a:pt x="1656" y="304"/>
                  </a:moveTo>
                  <a:lnTo>
                    <a:pt x="1656" y="210"/>
                  </a:lnTo>
                </a:path>
                <a:path w="7600" h="400" fill="none">
                  <a:moveTo>
                    <a:pt x="1688" y="304"/>
                  </a:moveTo>
                  <a:lnTo>
                    <a:pt x="1688" y="210"/>
                  </a:lnTo>
                </a:path>
                <a:path w="7600" h="400" fill="none">
                  <a:moveTo>
                    <a:pt x="1757" y="96"/>
                  </a:moveTo>
                  <a:lnTo>
                    <a:pt x="1757" y="190"/>
                  </a:lnTo>
                </a:path>
                <a:path w="7600" h="400" fill="none">
                  <a:moveTo>
                    <a:pt x="1789" y="96"/>
                  </a:moveTo>
                  <a:lnTo>
                    <a:pt x="1789" y="190"/>
                  </a:lnTo>
                </a:path>
                <a:path w="7600" h="400" fill="none">
                  <a:moveTo>
                    <a:pt x="1757" y="304"/>
                  </a:moveTo>
                  <a:lnTo>
                    <a:pt x="1757" y="210"/>
                  </a:lnTo>
                </a:path>
                <a:path w="7600" h="400" fill="none">
                  <a:moveTo>
                    <a:pt x="1789" y="304"/>
                  </a:moveTo>
                  <a:lnTo>
                    <a:pt x="1789" y="210"/>
                  </a:lnTo>
                </a:path>
                <a:path w="7600" h="400" fill="none">
                  <a:moveTo>
                    <a:pt x="1858" y="96"/>
                  </a:moveTo>
                  <a:lnTo>
                    <a:pt x="1858" y="190"/>
                  </a:lnTo>
                </a:path>
                <a:path w="7600" h="400" fill="none">
                  <a:moveTo>
                    <a:pt x="1890" y="96"/>
                  </a:moveTo>
                  <a:lnTo>
                    <a:pt x="1890" y="190"/>
                  </a:lnTo>
                </a:path>
                <a:path w="7600" h="400" fill="none">
                  <a:moveTo>
                    <a:pt x="1858" y="304"/>
                  </a:moveTo>
                  <a:lnTo>
                    <a:pt x="1858" y="210"/>
                  </a:lnTo>
                </a:path>
                <a:path w="7600" h="400" fill="none">
                  <a:moveTo>
                    <a:pt x="1890" y="304"/>
                  </a:moveTo>
                  <a:lnTo>
                    <a:pt x="1890" y="210"/>
                  </a:lnTo>
                </a:path>
                <a:path w="7600" h="400" fill="none">
                  <a:moveTo>
                    <a:pt x="1960" y="96"/>
                  </a:moveTo>
                  <a:lnTo>
                    <a:pt x="1960" y="190"/>
                  </a:lnTo>
                </a:path>
                <a:path w="7600" h="400" fill="none">
                  <a:moveTo>
                    <a:pt x="1992" y="96"/>
                  </a:moveTo>
                  <a:lnTo>
                    <a:pt x="1992" y="190"/>
                  </a:lnTo>
                </a:path>
                <a:path w="7600" h="400" fill="none">
                  <a:moveTo>
                    <a:pt x="1960" y="304"/>
                  </a:moveTo>
                  <a:lnTo>
                    <a:pt x="1960" y="210"/>
                  </a:lnTo>
                </a:path>
                <a:path w="7600" h="400" fill="none">
                  <a:moveTo>
                    <a:pt x="1992" y="304"/>
                  </a:moveTo>
                  <a:lnTo>
                    <a:pt x="1992" y="210"/>
                  </a:lnTo>
                </a:path>
                <a:path w="7600" h="400" fill="none">
                  <a:moveTo>
                    <a:pt x="2061" y="96"/>
                  </a:moveTo>
                  <a:lnTo>
                    <a:pt x="2061" y="190"/>
                  </a:lnTo>
                </a:path>
                <a:path w="7600" h="400" fill="none">
                  <a:moveTo>
                    <a:pt x="2093" y="96"/>
                  </a:moveTo>
                  <a:lnTo>
                    <a:pt x="2093" y="190"/>
                  </a:lnTo>
                </a:path>
                <a:path w="7600" h="400" fill="none">
                  <a:moveTo>
                    <a:pt x="2061" y="304"/>
                  </a:moveTo>
                  <a:lnTo>
                    <a:pt x="2061" y="210"/>
                  </a:lnTo>
                </a:path>
                <a:path w="7600" h="400" fill="none">
                  <a:moveTo>
                    <a:pt x="2093" y="304"/>
                  </a:moveTo>
                  <a:lnTo>
                    <a:pt x="2093" y="210"/>
                  </a:lnTo>
                </a:path>
                <a:path w="7600" h="400" fill="none">
                  <a:moveTo>
                    <a:pt x="2162" y="96"/>
                  </a:moveTo>
                  <a:lnTo>
                    <a:pt x="2162" y="190"/>
                  </a:lnTo>
                </a:path>
                <a:path w="7600" h="400" fill="none">
                  <a:moveTo>
                    <a:pt x="2194" y="96"/>
                  </a:moveTo>
                  <a:lnTo>
                    <a:pt x="2194" y="190"/>
                  </a:lnTo>
                </a:path>
                <a:path w="7600" h="400" fill="none">
                  <a:moveTo>
                    <a:pt x="2162" y="304"/>
                  </a:moveTo>
                  <a:lnTo>
                    <a:pt x="2162" y="210"/>
                  </a:lnTo>
                </a:path>
                <a:path w="7600" h="400" fill="none">
                  <a:moveTo>
                    <a:pt x="2194" y="304"/>
                  </a:moveTo>
                  <a:lnTo>
                    <a:pt x="2194" y="210"/>
                  </a:lnTo>
                </a:path>
                <a:path w="7600" h="400" fill="none">
                  <a:moveTo>
                    <a:pt x="2264" y="96"/>
                  </a:moveTo>
                  <a:lnTo>
                    <a:pt x="2264" y="190"/>
                  </a:lnTo>
                </a:path>
                <a:path w="7600" h="400" fill="none">
                  <a:moveTo>
                    <a:pt x="2296" y="96"/>
                  </a:moveTo>
                  <a:lnTo>
                    <a:pt x="2296" y="190"/>
                  </a:lnTo>
                </a:path>
                <a:path w="7600" h="400" fill="none">
                  <a:moveTo>
                    <a:pt x="2264" y="304"/>
                  </a:moveTo>
                  <a:lnTo>
                    <a:pt x="2264" y="210"/>
                  </a:lnTo>
                </a:path>
                <a:path w="7600" h="400" fill="none">
                  <a:moveTo>
                    <a:pt x="2296" y="304"/>
                  </a:moveTo>
                  <a:lnTo>
                    <a:pt x="2296" y="210"/>
                  </a:lnTo>
                </a:path>
                <a:path w="7600" h="400" fill="none">
                  <a:moveTo>
                    <a:pt x="2365" y="96"/>
                  </a:moveTo>
                  <a:lnTo>
                    <a:pt x="2365" y="190"/>
                  </a:lnTo>
                </a:path>
                <a:path w="7600" h="400" fill="none">
                  <a:moveTo>
                    <a:pt x="2397" y="96"/>
                  </a:moveTo>
                  <a:lnTo>
                    <a:pt x="2397" y="190"/>
                  </a:lnTo>
                </a:path>
                <a:path w="7600" h="400" fill="none">
                  <a:moveTo>
                    <a:pt x="2365" y="304"/>
                  </a:moveTo>
                  <a:lnTo>
                    <a:pt x="2365" y="210"/>
                  </a:lnTo>
                </a:path>
                <a:path w="7600" h="400" fill="none">
                  <a:moveTo>
                    <a:pt x="2397" y="304"/>
                  </a:moveTo>
                  <a:lnTo>
                    <a:pt x="2397" y="210"/>
                  </a:lnTo>
                </a:path>
                <a:path w="7600" h="400" fill="none">
                  <a:moveTo>
                    <a:pt x="2466" y="96"/>
                  </a:moveTo>
                  <a:lnTo>
                    <a:pt x="2466" y="190"/>
                  </a:lnTo>
                </a:path>
                <a:path w="7600" h="400" fill="none">
                  <a:moveTo>
                    <a:pt x="2498" y="96"/>
                  </a:moveTo>
                  <a:lnTo>
                    <a:pt x="2498" y="190"/>
                  </a:lnTo>
                </a:path>
                <a:path w="7600" h="400" fill="none">
                  <a:moveTo>
                    <a:pt x="2466" y="304"/>
                  </a:moveTo>
                  <a:lnTo>
                    <a:pt x="2466" y="210"/>
                  </a:lnTo>
                </a:path>
                <a:path w="7600" h="400" fill="none">
                  <a:moveTo>
                    <a:pt x="2498" y="304"/>
                  </a:moveTo>
                  <a:lnTo>
                    <a:pt x="2498" y="210"/>
                  </a:lnTo>
                </a:path>
                <a:path w="7600" h="400" fill="none">
                  <a:moveTo>
                    <a:pt x="2568" y="96"/>
                  </a:moveTo>
                  <a:lnTo>
                    <a:pt x="2568" y="190"/>
                  </a:lnTo>
                </a:path>
                <a:path w="7600" h="400" fill="none">
                  <a:moveTo>
                    <a:pt x="2600" y="96"/>
                  </a:moveTo>
                  <a:lnTo>
                    <a:pt x="2600" y="190"/>
                  </a:lnTo>
                </a:path>
                <a:path w="7600" h="400" fill="none">
                  <a:moveTo>
                    <a:pt x="2568" y="304"/>
                  </a:moveTo>
                  <a:lnTo>
                    <a:pt x="2568" y="210"/>
                  </a:lnTo>
                </a:path>
                <a:path w="7600" h="400" fill="none">
                  <a:moveTo>
                    <a:pt x="2600" y="304"/>
                  </a:moveTo>
                  <a:lnTo>
                    <a:pt x="2600" y="210"/>
                  </a:lnTo>
                </a:path>
                <a:path w="7600" h="400" fill="none">
                  <a:moveTo>
                    <a:pt x="2669" y="96"/>
                  </a:moveTo>
                  <a:lnTo>
                    <a:pt x="2669" y="190"/>
                  </a:lnTo>
                </a:path>
                <a:path w="7600" h="400" fill="none">
                  <a:moveTo>
                    <a:pt x="2701" y="96"/>
                  </a:moveTo>
                  <a:lnTo>
                    <a:pt x="2701" y="190"/>
                  </a:lnTo>
                </a:path>
                <a:path w="7600" h="400" fill="none">
                  <a:moveTo>
                    <a:pt x="2669" y="304"/>
                  </a:moveTo>
                  <a:lnTo>
                    <a:pt x="2669" y="210"/>
                  </a:lnTo>
                </a:path>
                <a:path w="7600" h="400" fill="none">
                  <a:moveTo>
                    <a:pt x="2701" y="304"/>
                  </a:moveTo>
                  <a:lnTo>
                    <a:pt x="2701" y="210"/>
                  </a:lnTo>
                </a:path>
                <a:path w="7600" h="400" fill="none">
                  <a:moveTo>
                    <a:pt x="2770" y="96"/>
                  </a:moveTo>
                  <a:lnTo>
                    <a:pt x="2770" y="190"/>
                  </a:lnTo>
                </a:path>
                <a:path w="7600" h="400" fill="none">
                  <a:moveTo>
                    <a:pt x="2802" y="96"/>
                  </a:moveTo>
                  <a:lnTo>
                    <a:pt x="2802" y="190"/>
                  </a:lnTo>
                </a:path>
                <a:path w="7600" h="400" fill="none">
                  <a:moveTo>
                    <a:pt x="2770" y="304"/>
                  </a:moveTo>
                  <a:lnTo>
                    <a:pt x="2770" y="210"/>
                  </a:lnTo>
                </a:path>
                <a:path w="7600" h="400" fill="none">
                  <a:moveTo>
                    <a:pt x="2802" y="304"/>
                  </a:moveTo>
                  <a:lnTo>
                    <a:pt x="2802" y="210"/>
                  </a:lnTo>
                </a:path>
                <a:path w="7600" h="400" fill="none">
                  <a:moveTo>
                    <a:pt x="2872" y="96"/>
                  </a:moveTo>
                  <a:lnTo>
                    <a:pt x="2872" y="190"/>
                  </a:lnTo>
                </a:path>
                <a:path w="7600" h="400" fill="none">
                  <a:moveTo>
                    <a:pt x="2904" y="96"/>
                  </a:moveTo>
                  <a:lnTo>
                    <a:pt x="2904" y="190"/>
                  </a:lnTo>
                </a:path>
                <a:path w="7600" h="400" fill="none">
                  <a:moveTo>
                    <a:pt x="2872" y="304"/>
                  </a:moveTo>
                  <a:lnTo>
                    <a:pt x="2872" y="210"/>
                  </a:lnTo>
                </a:path>
                <a:path w="7600" h="400" fill="none">
                  <a:moveTo>
                    <a:pt x="2904" y="304"/>
                  </a:moveTo>
                  <a:lnTo>
                    <a:pt x="2904" y="210"/>
                  </a:lnTo>
                </a:path>
                <a:path w="7600" h="400" fill="none">
                  <a:moveTo>
                    <a:pt x="2973" y="96"/>
                  </a:moveTo>
                  <a:lnTo>
                    <a:pt x="2973" y="190"/>
                  </a:lnTo>
                </a:path>
                <a:path w="7600" h="400" fill="none">
                  <a:moveTo>
                    <a:pt x="3005" y="96"/>
                  </a:moveTo>
                  <a:lnTo>
                    <a:pt x="3005" y="190"/>
                  </a:lnTo>
                </a:path>
                <a:path w="7600" h="400" fill="none">
                  <a:moveTo>
                    <a:pt x="2973" y="304"/>
                  </a:moveTo>
                  <a:lnTo>
                    <a:pt x="2973" y="210"/>
                  </a:lnTo>
                </a:path>
                <a:path w="7600" h="400" fill="none">
                  <a:moveTo>
                    <a:pt x="3005" y="304"/>
                  </a:moveTo>
                  <a:lnTo>
                    <a:pt x="3005" y="210"/>
                  </a:lnTo>
                </a:path>
                <a:path w="7600" h="400" fill="none">
                  <a:moveTo>
                    <a:pt x="3074" y="96"/>
                  </a:moveTo>
                  <a:lnTo>
                    <a:pt x="3074" y="190"/>
                  </a:lnTo>
                </a:path>
                <a:path w="7600" h="400" fill="none">
                  <a:moveTo>
                    <a:pt x="3106" y="96"/>
                  </a:moveTo>
                  <a:lnTo>
                    <a:pt x="3106" y="190"/>
                  </a:lnTo>
                </a:path>
                <a:path w="7600" h="400" fill="none">
                  <a:moveTo>
                    <a:pt x="3074" y="304"/>
                  </a:moveTo>
                  <a:lnTo>
                    <a:pt x="3074" y="210"/>
                  </a:lnTo>
                </a:path>
                <a:path w="7600" h="400" fill="none">
                  <a:moveTo>
                    <a:pt x="3106" y="304"/>
                  </a:moveTo>
                  <a:lnTo>
                    <a:pt x="3106" y="210"/>
                  </a:lnTo>
                </a:path>
                <a:path w="7600" h="400" fill="none">
                  <a:moveTo>
                    <a:pt x="3176" y="96"/>
                  </a:moveTo>
                  <a:lnTo>
                    <a:pt x="3176" y="190"/>
                  </a:lnTo>
                </a:path>
                <a:path w="7600" h="400" fill="none">
                  <a:moveTo>
                    <a:pt x="3208" y="96"/>
                  </a:moveTo>
                  <a:lnTo>
                    <a:pt x="3208" y="190"/>
                  </a:lnTo>
                </a:path>
                <a:path w="7600" h="400" fill="none">
                  <a:moveTo>
                    <a:pt x="3176" y="304"/>
                  </a:moveTo>
                  <a:lnTo>
                    <a:pt x="3176" y="210"/>
                  </a:lnTo>
                </a:path>
                <a:path w="7600" h="400" fill="none">
                  <a:moveTo>
                    <a:pt x="3208" y="304"/>
                  </a:moveTo>
                  <a:lnTo>
                    <a:pt x="3208" y="210"/>
                  </a:lnTo>
                </a:path>
                <a:path w="7600" h="400" fill="none">
                  <a:moveTo>
                    <a:pt x="3277" y="96"/>
                  </a:moveTo>
                  <a:lnTo>
                    <a:pt x="3277" y="190"/>
                  </a:lnTo>
                </a:path>
                <a:path w="7600" h="400" fill="none">
                  <a:moveTo>
                    <a:pt x="3309" y="96"/>
                  </a:moveTo>
                  <a:lnTo>
                    <a:pt x="3309" y="190"/>
                  </a:lnTo>
                </a:path>
                <a:path w="7600" h="400" fill="none">
                  <a:moveTo>
                    <a:pt x="3277" y="304"/>
                  </a:moveTo>
                  <a:lnTo>
                    <a:pt x="3277" y="210"/>
                  </a:lnTo>
                </a:path>
                <a:path w="7600" h="400" fill="none">
                  <a:moveTo>
                    <a:pt x="3309" y="304"/>
                  </a:moveTo>
                  <a:lnTo>
                    <a:pt x="3309" y="210"/>
                  </a:lnTo>
                </a:path>
                <a:path w="7600" h="400" fill="none">
                  <a:moveTo>
                    <a:pt x="3378" y="96"/>
                  </a:moveTo>
                  <a:lnTo>
                    <a:pt x="3378" y="190"/>
                  </a:lnTo>
                </a:path>
                <a:path w="7600" h="400" fill="none">
                  <a:moveTo>
                    <a:pt x="3410" y="96"/>
                  </a:moveTo>
                  <a:lnTo>
                    <a:pt x="3410" y="190"/>
                  </a:lnTo>
                </a:path>
                <a:path w="7600" h="400" fill="none">
                  <a:moveTo>
                    <a:pt x="3378" y="304"/>
                  </a:moveTo>
                  <a:lnTo>
                    <a:pt x="3378" y="210"/>
                  </a:lnTo>
                </a:path>
                <a:path w="7600" h="400" fill="none">
                  <a:moveTo>
                    <a:pt x="3410" y="304"/>
                  </a:moveTo>
                  <a:lnTo>
                    <a:pt x="3410" y="210"/>
                  </a:lnTo>
                </a:path>
                <a:path w="7600" h="400" fill="none">
                  <a:moveTo>
                    <a:pt x="3480" y="96"/>
                  </a:moveTo>
                  <a:lnTo>
                    <a:pt x="3480" y="190"/>
                  </a:lnTo>
                </a:path>
                <a:path w="7600" h="400" fill="none">
                  <a:moveTo>
                    <a:pt x="3512" y="96"/>
                  </a:moveTo>
                  <a:lnTo>
                    <a:pt x="3512" y="190"/>
                  </a:lnTo>
                </a:path>
                <a:path w="7600" h="400" fill="none">
                  <a:moveTo>
                    <a:pt x="3480" y="304"/>
                  </a:moveTo>
                  <a:lnTo>
                    <a:pt x="3480" y="210"/>
                  </a:lnTo>
                </a:path>
                <a:path w="7600" h="400" fill="none">
                  <a:moveTo>
                    <a:pt x="3512" y="304"/>
                  </a:moveTo>
                  <a:lnTo>
                    <a:pt x="3512" y="210"/>
                  </a:lnTo>
                </a:path>
                <a:path w="7600" h="400" fill="none">
                  <a:moveTo>
                    <a:pt x="3581" y="96"/>
                  </a:moveTo>
                  <a:lnTo>
                    <a:pt x="3581" y="190"/>
                  </a:lnTo>
                </a:path>
                <a:path w="7600" h="400" fill="none">
                  <a:moveTo>
                    <a:pt x="3613" y="96"/>
                  </a:moveTo>
                  <a:lnTo>
                    <a:pt x="3613" y="190"/>
                  </a:lnTo>
                </a:path>
                <a:path w="7600" h="400" fill="none">
                  <a:moveTo>
                    <a:pt x="3581" y="304"/>
                  </a:moveTo>
                  <a:lnTo>
                    <a:pt x="3581" y="210"/>
                  </a:lnTo>
                </a:path>
                <a:path w="7600" h="400" fill="none">
                  <a:moveTo>
                    <a:pt x="3613" y="304"/>
                  </a:moveTo>
                  <a:lnTo>
                    <a:pt x="3613" y="210"/>
                  </a:lnTo>
                </a:path>
                <a:path w="7600" h="400" fill="none">
                  <a:moveTo>
                    <a:pt x="3682" y="96"/>
                  </a:moveTo>
                  <a:lnTo>
                    <a:pt x="3682" y="190"/>
                  </a:lnTo>
                </a:path>
                <a:path w="7600" h="400" fill="none">
                  <a:moveTo>
                    <a:pt x="3714" y="96"/>
                  </a:moveTo>
                  <a:lnTo>
                    <a:pt x="3714" y="190"/>
                  </a:lnTo>
                </a:path>
                <a:path w="7600" h="400" fill="none">
                  <a:moveTo>
                    <a:pt x="3682" y="304"/>
                  </a:moveTo>
                  <a:lnTo>
                    <a:pt x="3682" y="210"/>
                  </a:lnTo>
                </a:path>
                <a:path w="7600" h="400" fill="none">
                  <a:moveTo>
                    <a:pt x="3714" y="304"/>
                  </a:moveTo>
                  <a:lnTo>
                    <a:pt x="3714" y="210"/>
                  </a:lnTo>
                </a:path>
                <a:path w="7600" h="400" fill="none">
                  <a:moveTo>
                    <a:pt x="3784" y="96"/>
                  </a:moveTo>
                  <a:lnTo>
                    <a:pt x="3784" y="190"/>
                  </a:lnTo>
                </a:path>
                <a:path w="7600" h="400" fill="none">
                  <a:moveTo>
                    <a:pt x="3816" y="96"/>
                  </a:moveTo>
                  <a:lnTo>
                    <a:pt x="3816" y="190"/>
                  </a:lnTo>
                </a:path>
                <a:path w="7600" h="400" fill="none">
                  <a:moveTo>
                    <a:pt x="3784" y="304"/>
                  </a:moveTo>
                  <a:lnTo>
                    <a:pt x="3784" y="210"/>
                  </a:lnTo>
                </a:path>
                <a:path w="7600" h="400" fill="none">
                  <a:moveTo>
                    <a:pt x="3816" y="304"/>
                  </a:moveTo>
                  <a:lnTo>
                    <a:pt x="3816" y="210"/>
                  </a:lnTo>
                </a:path>
                <a:path w="7600" h="400" fill="none">
                  <a:moveTo>
                    <a:pt x="3885" y="96"/>
                  </a:moveTo>
                  <a:lnTo>
                    <a:pt x="3885" y="190"/>
                  </a:lnTo>
                </a:path>
                <a:path w="7600" h="400" fill="none">
                  <a:moveTo>
                    <a:pt x="3917" y="96"/>
                  </a:moveTo>
                  <a:lnTo>
                    <a:pt x="3917" y="190"/>
                  </a:lnTo>
                </a:path>
                <a:path w="7600" h="400" fill="none">
                  <a:moveTo>
                    <a:pt x="3885" y="304"/>
                  </a:moveTo>
                  <a:lnTo>
                    <a:pt x="3885" y="210"/>
                  </a:lnTo>
                </a:path>
                <a:path w="7600" h="400" fill="none">
                  <a:moveTo>
                    <a:pt x="3917" y="304"/>
                  </a:moveTo>
                  <a:lnTo>
                    <a:pt x="3917" y="210"/>
                  </a:lnTo>
                </a:path>
                <a:path w="7600" h="400" fill="none">
                  <a:moveTo>
                    <a:pt x="3986" y="96"/>
                  </a:moveTo>
                  <a:lnTo>
                    <a:pt x="3986" y="190"/>
                  </a:lnTo>
                </a:path>
                <a:path w="7600" h="400" fill="none">
                  <a:moveTo>
                    <a:pt x="4018" y="96"/>
                  </a:moveTo>
                  <a:lnTo>
                    <a:pt x="4018" y="190"/>
                  </a:lnTo>
                </a:path>
                <a:path w="7600" h="400" fill="none">
                  <a:moveTo>
                    <a:pt x="3986" y="304"/>
                  </a:moveTo>
                  <a:lnTo>
                    <a:pt x="3986" y="210"/>
                  </a:lnTo>
                </a:path>
                <a:path w="7600" h="400" fill="none">
                  <a:moveTo>
                    <a:pt x="4018" y="304"/>
                  </a:moveTo>
                  <a:lnTo>
                    <a:pt x="4018" y="210"/>
                  </a:lnTo>
                </a:path>
                <a:path w="7600" h="400" fill="none">
                  <a:moveTo>
                    <a:pt x="4088" y="96"/>
                  </a:moveTo>
                  <a:lnTo>
                    <a:pt x="4088" y="190"/>
                  </a:lnTo>
                </a:path>
                <a:path w="7600" h="400" fill="none">
                  <a:moveTo>
                    <a:pt x="4120" y="96"/>
                  </a:moveTo>
                  <a:lnTo>
                    <a:pt x="4120" y="190"/>
                  </a:lnTo>
                </a:path>
                <a:path w="7600" h="400" fill="none">
                  <a:moveTo>
                    <a:pt x="4088" y="304"/>
                  </a:moveTo>
                  <a:lnTo>
                    <a:pt x="4088" y="210"/>
                  </a:lnTo>
                </a:path>
                <a:path w="7600" h="400" fill="none">
                  <a:moveTo>
                    <a:pt x="4120" y="304"/>
                  </a:moveTo>
                  <a:lnTo>
                    <a:pt x="4120" y="210"/>
                  </a:lnTo>
                </a:path>
                <a:path w="7600" h="400" fill="none">
                  <a:moveTo>
                    <a:pt x="4189" y="96"/>
                  </a:moveTo>
                  <a:lnTo>
                    <a:pt x="4189" y="190"/>
                  </a:lnTo>
                </a:path>
                <a:path w="7600" h="400" fill="none">
                  <a:moveTo>
                    <a:pt x="4221" y="96"/>
                  </a:moveTo>
                  <a:lnTo>
                    <a:pt x="4221" y="190"/>
                  </a:lnTo>
                </a:path>
                <a:path w="7600" h="400" fill="none">
                  <a:moveTo>
                    <a:pt x="4189" y="304"/>
                  </a:moveTo>
                  <a:lnTo>
                    <a:pt x="4189" y="210"/>
                  </a:lnTo>
                </a:path>
                <a:path w="7600" h="400" fill="none">
                  <a:moveTo>
                    <a:pt x="4221" y="304"/>
                  </a:moveTo>
                  <a:lnTo>
                    <a:pt x="4221" y="210"/>
                  </a:lnTo>
                </a:path>
                <a:path w="7600" h="400" fill="none">
                  <a:moveTo>
                    <a:pt x="4290" y="96"/>
                  </a:moveTo>
                  <a:lnTo>
                    <a:pt x="4290" y="190"/>
                  </a:lnTo>
                </a:path>
                <a:path w="7600" h="400" fill="none">
                  <a:moveTo>
                    <a:pt x="4322" y="96"/>
                  </a:moveTo>
                  <a:lnTo>
                    <a:pt x="4322" y="190"/>
                  </a:lnTo>
                </a:path>
                <a:path w="7600" h="400" fill="none">
                  <a:moveTo>
                    <a:pt x="4290" y="304"/>
                  </a:moveTo>
                  <a:lnTo>
                    <a:pt x="4290" y="210"/>
                  </a:lnTo>
                </a:path>
                <a:path w="7600" h="400" fill="none">
                  <a:moveTo>
                    <a:pt x="4322" y="304"/>
                  </a:moveTo>
                  <a:lnTo>
                    <a:pt x="4322" y="210"/>
                  </a:lnTo>
                </a:path>
                <a:path w="7600" h="400" fill="none">
                  <a:moveTo>
                    <a:pt x="4392" y="96"/>
                  </a:moveTo>
                  <a:lnTo>
                    <a:pt x="4392" y="190"/>
                  </a:lnTo>
                </a:path>
                <a:path w="7600" h="400" fill="none">
                  <a:moveTo>
                    <a:pt x="4424" y="96"/>
                  </a:moveTo>
                  <a:lnTo>
                    <a:pt x="4424" y="190"/>
                  </a:lnTo>
                </a:path>
                <a:path w="7600" h="400" fill="none">
                  <a:moveTo>
                    <a:pt x="4392" y="304"/>
                  </a:moveTo>
                  <a:lnTo>
                    <a:pt x="4392" y="210"/>
                  </a:lnTo>
                </a:path>
                <a:path w="7600" h="400" fill="none">
                  <a:moveTo>
                    <a:pt x="4424" y="304"/>
                  </a:moveTo>
                  <a:lnTo>
                    <a:pt x="4424" y="210"/>
                  </a:lnTo>
                </a:path>
                <a:path w="7600" h="400" fill="none">
                  <a:moveTo>
                    <a:pt x="4493" y="96"/>
                  </a:moveTo>
                  <a:lnTo>
                    <a:pt x="4493" y="190"/>
                  </a:lnTo>
                </a:path>
                <a:path w="7600" h="400" fill="none">
                  <a:moveTo>
                    <a:pt x="4525" y="96"/>
                  </a:moveTo>
                  <a:lnTo>
                    <a:pt x="4525" y="190"/>
                  </a:lnTo>
                </a:path>
                <a:path w="7600" h="400" fill="none">
                  <a:moveTo>
                    <a:pt x="4493" y="304"/>
                  </a:moveTo>
                  <a:lnTo>
                    <a:pt x="4493" y="210"/>
                  </a:lnTo>
                </a:path>
                <a:path w="7600" h="400" fill="none">
                  <a:moveTo>
                    <a:pt x="4525" y="304"/>
                  </a:moveTo>
                  <a:lnTo>
                    <a:pt x="4525" y="210"/>
                  </a:lnTo>
                </a:path>
                <a:path w="7600" h="400" fill="none">
                  <a:moveTo>
                    <a:pt x="4594" y="96"/>
                  </a:moveTo>
                  <a:lnTo>
                    <a:pt x="4594" y="190"/>
                  </a:lnTo>
                </a:path>
                <a:path w="7600" h="400" fill="none">
                  <a:moveTo>
                    <a:pt x="4626" y="96"/>
                  </a:moveTo>
                  <a:lnTo>
                    <a:pt x="4626" y="190"/>
                  </a:lnTo>
                </a:path>
                <a:path w="7600" h="400" fill="none">
                  <a:moveTo>
                    <a:pt x="4594" y="304"/>
                  </a:moveTo>
                  <a:lnTo>
                    <a:pt x="4594" y="210"/>
                  </a:lnTo>
                </a:path>
                <a:path w="7600" h="400" fill="none">
                  <a:moveTo>
                    <a:pt x="4626" y="304"/>
                  </a:moveTo>
                  <a:lnTo>
                    <a:pt x="4626" y="210"/>
                  </a:lnTo>
                </a:path>
                <a:path w="7600" h="400" fill="none">
                  <a:moveTo>
                    <a:pt x="4696" y="96"/>
                  </a:moveTo>
                  <a:lnTo>
                    <a:pt x="4696" y="190"/>
                  </a:lnTo>
                </a:path>
                <a:path w="7600" h="400" fill="none">
                  <a:moveTo>
                    <a:pt x="4728" y="96"/>
                  </a:moveTo>
                  <a:lnTo>
                    <a:pt x="4728" y="190"/>
                  </a:lnTo>
                </a:path>
                <a:path w="7600" h="400" fill="none">
                  <a:moveTo>
                    <a:pt x="4696" y="304"/>
                  </a:moveTo>
                  <a:lnTo>
                    <a:pt x="4696" y="210"/>
                  </a:lnTo>
                </a:path>
                <a:path w="7600" h="400" fill="none">
                  <a:moveTo>
                    <a:pt x="4728" y="304"/>
                  </a:moveTo>
                  <a:lnTo>
                    <a:pt x="4728" y="210"/>
                  </a:lnTo>
                </a:path>
                <a:path w="7600" h="400" fill="none">
                  <a:moveTo>
                    <a:pt x="4797" y="96"/>
                  </a:moveTo>
                  <a:lnTo>
                    <a:pt x="4797" y="190"/>
                  </a:lnTo>
                </a:path>
                <a:path w="7600" h="400" fill="none">
                  <a:moveTo>
                    <a:pt x="4829" y="96"/>
                  </a:moveTo>
                  <a:lnTo>
                    <a:pt x="4829" y="190"/>
                  </a:lnTo>
                </a:path>
                <a:path w="7600" h="400" fill="none">
                  <a:moveTo>
                    <a:pt x="4797" y="304"/>
                  </a:moveTo>
                  <a:lnTo>
                    <a:pt x="4797" y="210"/>
                  </a:lnTo>
                </a:path>
                <a:path w="7600" h="400" fill="none">
                  <a:moveTo>
                    <a:pt x="4829" y="304"/>
                  </a:moveTo>
                  <a:lnTo>
                    <a:pt x="4829" y="210"/>
                  </a:lnTo>
                </a:path>
                <a:path w="7600" h="400" fill="none">
                  <a:moveTo>
                    <a:pt x="4898" y="96"/>
                  </a:moveTo>
                  <a:lnTo>
                    <a:pt x="4898" y="190"/>
                  </a:lnTo>
                </a:path>
                <a:path w="7600" h="400" fill="none">
                  <a:moveTo>
                    <a:pt x="4930" y="96"/>
                  </a:moveTo>
                  <a:lnTo>
                    <a:pt x="4930" y="190"/>
                  </a:lnTo>
                </a:path>
                <a:path w="7600" h="400" fill="none">
                  <a:moveTo>
                    <a:pt x="4898" y="304"/>
                  </a:moveTo>
                  <a:lnTo>
                    <a:pt x="4898" y="210"/>
                  </a:lnTo>
                </a:path>
                <a:path w="7600" h="400" fill="none">
                  <a:moveTo>
                    <a:pt x="4930" y="304"/>
                  </a:moveTo>
                  <a:lnTo>
                    <a:pt x="4930" y="210"/>
                  </a:lnTo>
                </a:path>
                <a:path w="7600" h="400" fill="none">
                  <a:moveTo>
                    <a:pt x="5000" y="96"/>
                  </a:moveTo>
                  <a:lnTo>
                    <a:pt x="5000" y="190"/>
                  </a:lnTo>
                </a:path>
                <a:path w="7600" h="400" fill="none">
                  <a:moveTo>
                    <a:pt x="5032" y="96"/>
                  </a:moveTo>
                  <a:lnTo>
                    <a:pt x="5032" y="190"/>
                  </a:lnTo>
                </a:path>
                <a:path w="7600" h="400" fill="none">
                  <a:moveTo>
                    <a:pt x="5000" y="304"/>
                  </a:moveTo>
                  <a:lnTo>
                    <a:pt x="5000" y="210"/>
                  </a:lnTo>
                </a:path>
                <a:path w="7600" h="400" fill="none">
                  <a:moveTo>
                    <a:pt x="5032" y="304"/>
                  </a:moveTo>
                  <a:lnTo>
                    <a:pt x="5032" y="210"/>
                  </a:lnTo>
                </a:path>
                <a:path w="7600" h="400" fill="none">
                  <a:moveTo>
                    <a:pt x="5101" y="96"/>
                  </a:moveTo>
                  <a:lnTo>
                    <a:pt x="5101" y="190"/>
                  </a:lnTo>
                </a:path>
                <a:path w="7600" h="400" fill="none">
                  <a:moveTo>
                    <a:pt x="5133" y="96"/>
                  </a:moveTo>
                  <a:lnTo>
                    <a:pt x="5133" y="190"/>
                  </a:lnTo>
                </a:path>
                <a:path w="7600" h="400" fill="none">
                  <a:moveTo>
                    <a:pt x="5101" y="304"/>
                  </a:moveTo>
                  <a:lnTo>
                    <a:pt x="5101" y="210"/>
                  </a:lnTo>
                </a:path>
                <a:path w="7600" h="400" fill="none">
                  <a:moveTo>
                    <a:pt x="5133" y="304"/>
                  </a:moveTo>
                  <a:lnTo>
                    <a:pt x="5133" y="210"/>
                  </a:lnTo>
                </a:path>
                <a:path w="7600" h="400" fill="none">
                  <a:moveTo>
                    <a:pt x="5202" y="96"/>
                  </a:moveTo>
                  <a:lnTo>
                    <a:pt x="5202" y="190"/>
                  </a:lnTo>
                </a:path>
                <a:path w="7600" h="400" fill="none">
                  <a:moveTo>
                    <a:pt x="5234" y="96"/>
                  </a:moveTo>
                  <a:lnTo>
                    <a:pt x="5234" y="190"/>
                  </a:lnTo>
                </a:path>
                <a:path w="7600" h="400" fill="none">
                  <a:moveTo>
                    <a:pt x="5202" y="304"/>
                  </a:moveTo>
                  <a:lnTo>
                    <a:pt x="5202" y="210"/>
                  </a:lnTo>
                </a:path>
                <a:path w="7600" h="400" fill="none">
                  <a:moveTo>
                    <a:pt x="5234" y="304"/>
                  </a:moveTo>
                  <a:lnTo>
                    <a:pt x="5234" y="210"/>
                  </a:lnTo>
                </a:path>
                <a:path w="7600" h="400" fill="none">
                  <a:moveTo>
                    <a:pt x="5304" y="96"/>
                  </a:moveTo>
                  <a:lnTo>
                    <a:pt x="5304" y="190"/>
                  </a:lnTo>
                </a:path>
                <a:path w="7600" h="400" fill="none">
                  <a:moveTo>
                    <a:pt x="5336" y="96"/>
                  </a:moveTo>
                  <a:lnTo>
                    <a:pt x="5336" y="190"/>
                  </a:lnTo>
                </a:path>
                <a:path w="7600" h="400" fill="none">
                  <a:moveTo>
                    <a:pt x="5304" y="304"/>
                  </a:moveTo>
                  <a:lnTo>
                    <a:pt x="5304" y="210"/>
                  </a:lnTo>
                </a:path>
                <a:path w="7600" h="400" fill="none">
                  <a:moveTo>
                    <a:pt x="5336" y="304"/>
                  </a:moveTo>
                  <a:lnTo>
                    <a:pt x="5336" y="210"/>
                  </a:lnTo>
                </a:path>
                <a:path w="7600" h="400" fill="none">
                  <a:moveTo>
                    <a:pt x="5405" y="96"/>
                  </a:moveTo>
                  <a:lnTo>
                    <a:pt x="5405" y="190"/>
                  </a:lnTo>
                </a:path>
                <a:path w="7600" h="400" fill="none">
                  <a:moveTo>
                    <a:pt x="5437" y="96"/>
                  </a:moveTo>
                  <a:lnTo>
                    <a:pt x="5437" y="190"/>
                  </a:lnTo>
                </a:path>
                <a:path w="7600" h="400" fill="none">
                  <a:moveTo>
                    <a:pt x="5405" y="304"/>
                  </a:moveTo>
                  <a:lnTo>
                    <a:pt x="5405" y="210"/>
                  </a:lnTo>
                </a:path>
                <a:path w="7600" h="400" fill="none">
                  <a:moveTo>
                    <a:pt x="5437" y="304"/>
                  </a:moveTo>
                  <a:lnTo>
                    <a:pt x="5437" y="210"/>
                  </a:lnTo>
                </a:path>
                <a:path w="7600" h="400" fill="none">
                  <a:moveTo>
                    <a:pt x="5506" y="96"/>
                  </a:moveTo>
                  <a:lnTo>
                    <a:pt x="5506" y="190"/>
                  </a:lnTo>
                </a:path>
                <a:path w="7600" h="400" fill="none">
                  <a:moveTo>
                    <a:pt x="5538" y="96"/>
                  </a:moveTo>
                  <a:lnTo>
                    <a:pt x="5538" y="190"/>
                  </a:lnTo>
                </a:path>
                <a:path w="7600" h="400" fill="none">
                  <a:moveTo>
                    <a:pt x="5506" y="304"/>
                  </a:moveTo>
                  <a:lnTo>
                    <a:pt x="5506" y="210"/>
                  </a:lnTo>
                </a:path>
                <a:path w="7600" h="400" fill="none">
                  <a:moveTo>
                    <a:pt x="5538" y="304"/>
                  </a:moveTo>
                  <a:lnTo>
                    <a:pt x="5538" y="210"/>
                  </a:lnTo>
                </a:path>
                <a:path w="7600" h="400" fill="none">
                  <a:moveTo>
                    <a:pt x="5608" y="96"/>
                  </a:moveTo>
                  <a:lnTo>
                    <a:pt x="5608" y="190"/>
                  </a:lnTo>
                </a:path>
                <a:path w="7600" h="400" fill="none">
                  <a:moveTo>
                    <a:pt x="5640" y="96"/>
                  </a:moveTo>
                  <a:lnTo>
                    <a:pt x="5640" y="190"/>
                  </a:lnTo>
                </a:path>
                <a:path w="7600" h="400" fill="none">
                  <a:moveTo>
                    <a:pt x="5608" y="304"/>
                  </a:moveTo>
                  <a:lnTo>
                    <a:pt x="5608" y="210"/>
                  </a:lnTo>
                </a:path>
                <a:path w="7600" h="400" fill="none">
                  <a:moveTo>
                    <a:pt x="5640" y="304"/>
                  </a:moveTo>
                  <a:lnTo>
                    <a:pt x="5640" y="210"/>
                  </a:lnTo>
                </a:path>
                <a:path w="7600" h="400" fill="none">
                  <a:moveTo>
                    <a:pt x="5709" y="96"/>
                  </a:moveTo>
                  <a:lnTo>
                    <a:pt x="5709" y="190"/>
                  </a:lnTo>
                </a:path>
                <a:path w="7600" h="400" fill="none">
                  <a:moveTo>
                    <a:pt x="5741" y="96"/>
                  </a:moveTo>
                  <a:lnTo>
                    <a:pt x="5741" y="190"/>
                  </a:lnTo>
                </a:path>
                <a:path w="7600" h="400" fill="none">
                  <a:moveTo>
                    <a:pt x="5709" y="304"/>
                  </a:moveTo>
                  <a:lnTo>
                    <a:pt x="5709" y="210"/>
                  </a:lnTo>
                </a:path>
                <a:path w="7600" h="400" fill="none">
                  <a:moveTo>
                    <a:pt x="5741" y="304"/>
                  </a:moveTo>
                  <a:lnTo>
                    <a:pt x="5741" y="210"/>
                  </a:lnTo>
                </a:path>
                <a:path w="7600" h="400" fill="none">
                  <a:moveTo>
                    <a:pt x="5810" y="96"/>
                  </a:moveTo>
                  <a:lnTo>
                    <a:pt x="5810" y="190"/>
                  </a:lnTo>
                </a:path>
                <a:path w="7600" h="400" fill="none">
                  <a:moveTo>
                    <a:pt x="5842" y="96"/>
                  </a:moveTo>
                  <a:lnTo>
                    <a:pt x="5842" y="190"/>
                  </a:lnTo>
                </a:path>
                <a:path w="7600" h="400" fill="none">
                  <a:moveTo>
                    <a:pt x="5810" y="304"/>
                  </a:moveTo>
                  <a:lnTo>
                    <a:pt x="5810" y="210"/>
                  </a:lnTo>
                </a:path>
                <a:path w="7600" h="400" fill="none">
                  <a:moveTo>
                    <a:pt x="5842" y="304"/>
                  </a:moveTo>
                  <a:lnTo>
                    <a:pt x="5842" y="210"/>
                  </a:lnTo>
                </a:path>
                <a:path w="7600" h="400" fill="none">
                  <a:moveTo>
                    <a:pt x="5912" y="96"/>
                  </a:moveTo>
                  <a:lnTo>
                    <a:pt x="5912" y="190"/>
                  </a:lnTo>
                </a:path>
                <a:path w="7600" h="400" fill="none">
                  <a:moveTo>
                    <a:pt x="5944" y="96"/>
                  </a:moveTo>
                  <a:lnTo>
                    <a:pt x="5944" y="190"/>
                  </a:lnTo>
                </a:path>
                <a:path w="7600" h="400" fill="none">
                  <a:moveTo>
                    <a:pt x="5912" y="304"/>
                  </a:moveTo>
                  <a:lnTo>
                    <a:pt x="5912" y="210"/>
                  </a:lnTo>
                </a:path>
                <a:path w="7600" h="400" fill="none">
                  <a:moveTo>
                    <a:pt x="5944" y="304"/>
                  </a:moveTo>
                  <a:lnTo>
                    <a:pt x="5944" y="210"/>
                  </a:lnTo>
                </a:path>
                <a:path w="7600" h="400" fill="none">
                  <a:moveTo>
                    <a:pt x="6013" y="96"/>
                  </a:moveTo>
                  <a:lnTo>
                    <a:pt x="6013" y="190"/>
                  </a:lnTo>
                </a:path>
                <a:path w="7600" h="400" fill="none">
                  <a:moveTo>
                    <a:pt x="6045" y="96"/>
                  </a:moveTo>
                  <a:lnTo>
                    <a:pt x="6045" y="190"/>
                  </a:lnTo>
                </a:path>
                <a:path w="7600" h="400" fill="none">
                  <a:moveTo>
                    <a:pt x="6013" y="304"/>
                  </a:moveTo>
                  <a:lnTo>
                    <a:pt x="6013" y="210"/>
                  </a:lnTo>
                </a:path>
                <a:path w="7600" h="400" fill="none">
                  <a:moveTo>
                    <a:pt x="6045" y="304"/>
                  </a:moveTo>
                  <a:lnTo>
                    <a:pt x="6045" y="210"/>
                  </a:lnTo>
                </a:path>
                <a:path w="7600" h="400" fill="none">
                  <a:moveTo>
                    <a:pt x="6114" y="96"/>
                  </a:moveTo>
                  <a:lnTo>
                    <a:pt x="6114" y="190"/>
                  </a:lnTo>
                </a:path>
                <a:path w="7600" h="400" fill="none">
                  <a:moveTo>
                    <a:pt x="6146" y="96"/>
                  </a:moveTo>
                  <a:lnTo>
                    <a:pt x="6146" y="190"/>
                  </a:lnTo>
                </a:path>
                <a:path w="7600" h="400" fill="none">
                  <a:moveTo>
                    <a:pt x="6114" y="304"/>
                  </a:moveTo>
                  <a:lnTo>
                    <a:pt x="6114" y="210"/>
                  </a:lnTo>
                </a:path>
                <a:path w="7600" h="400" fill="none">
                  <a:moveTo>
                    <a:pt x="6146" y="304"/>
                  </a:moveTo>
                  <a:lnTo>
                    <a:pt x="6146" y="210"/>
                  </a:lnTo>
                </a:path>
                <a:path w="7600" h="400" fill="none">
                  <a:moveTo>
                    <a:pt x="6216" y="96"/>
                  </a:moveTo>
                  <a:lnTo>
                    <a:pt x="6216" y="190"/>
                  </a:lnTo>
                </a:path>
                <a:path w="7600" h="400" fill="none">
                  <a:moveTo>
                    <a:pt x="6248" y="96"/>
                  </a:moveTo>
                  <a:lnTo>
                    <a:pt x="6248" y="190"/>
                  </a:lnTo>
                </a:path>
                <a:path w="7600" h="400" fill="none">
                  <a:moveTo>
                    <a:pt x="6216" y="304"/>
                  </a:moveTo>
                  <a:lnTo>
                    <a:pt x="6216" y="210"/>
                  </a:lnTo>
                </a:path>
                <a:path w="7600" h="400" fill="none">
                  <a:moveTo>
                    <a:pt x="6248" y="304"/>
                  </a:moveTo>
                  <a:lnTo>
                    <a:pt x="6248" y="210"/>
                  </a:lnTo>
                </a:path>
                <a:path w="7600" h="400" fill="none">
                  <a:moveTo>
                    <a:pt x="6317" y="96"/>
                  </a:moveTo>
                  <a:lnTo>
                    <a:pt x="6317" y="190"/>
                  </a:lnTo>
                </a:path>
                <a:path w="7600" h="400" fill="none">
                  <a:moveTo>
                    <a:pt x="6349" y="96"/>
                  </a:moveTo>
                  <a:lnTo>
                    <a:pt x="6349" y="190"/>
                  </a:lnTo>
                </a:path>
                <a:path w="7600" h="400" fill="none">
                  <a:moveTo>
                    <a:pt x="6317" y="304"/>
                  </a:moveTo>
                  <a:lnTo>
                    <a:pt x="6317" y="210"/>
                  </a:lnTo>
                </a:path>
                <a:path w="7600" h="400" fill="none">
                  <a:moveTo>
                    <a:pt x="6349" y="304"/>
                  </a:moveTo>
                  <a:lnTo>
                    <a:pt x="6349" y="210"/>
                  </a:lnTo>
                </a:path>
                <a:path w="7600" h="400" fill="none">
                  <a:moveTo>
                    <a:pt x="6418" y="96"/>
                  </a:moveTo>
                  <a:lnTo>
                    <a:pt x="6418" y="190"/>
                  </a:lnTo>
                </a:path>
                <a:path w="7600" h="400" fill="none">
                  <a:moveTo>
                    <a:pt x="6450" y="96"/>
                  </a:moveTo>
                  <a:lnTo>
                    <a:pt x="6450" y="190"/>
                  </a:lnTo>
                </a:path>
                <a:path w="7600" h="400" fill="none">
                  <a:moveTo>
                    <a:pt x="6418" y="304"/>
                  </a:moveTo>
                  <a:lnTo>
                    <a:pt x="6418" y="210"/>
                  </a:lnTo>
                </a:path>
                <a:path w="7600" h="400" fill="none">
                  <a:moveTo>
                    <a:pt x="6450" y="304"/>
                  </a:moveTo>
                  <a:lnTo>
                    <a:pt x="6450" y="210"/>
                  </a:lnTo>
                </a:path>
                <a:path w="7600" h="400" fill="none">
                  <a:moveTo>
                    <a:pt x="6520" y="96"/>
                  </a:moveTo>
                  <a:lnTo>
                    <a:pt x="6520" y="190"/>
                  </a:lnTo>
                </a:path>
                <a:path w="7600" h="400" fill="none">
                  <a:moveTo>
                    <a:pt x="6552" y="96"/>
                  </a:moveTo>
                  <a:lnTo>
                    <a:pt x="6552" y="190"/>
                  </a:lnTo>
                </a:path>
                <a:path w="7600" h="400" fill="none">
                  <a:moveTo>
                    <a:pt x="6520" y="304"/>
                  </a:moveTo>
                  <a:lnTo>
                    <a:pt x="6520" y="210"/>
                  </a:lnTo>
                </a:path>
                <a:path w="7600" h="400" fill="none">
                  <a:moveTo>
                    <a:pt x="6552" y="304"/>
                  </a:moveTo>
                  <a:lnTo>
                    <a:pt x="6552" y="210"/>
                  </a:lnTo>
                </a:path>
                <a:path w="7600" h="400" fill="none">
                  <a:moveTo>
                    <a:pt x="6621" y="96"/>
                  </a:moveTo>
                  <a:lnTo>
                    <a:pt x="6621" y="190"/>
                  </a:lnTo>
                </a:path>
                <a:path w="7600" h="400" fill="none">
                  <a:moveTo>
                    <a:pt x="6653" y="96"/>
                  </a:moveTo>
                  <a:lnTo>
                    <a:pt x="6653" y="190"/>
                  </a:lnTo>
                </a:path>
                <a:path w="7600" h="400" fill="none">
                  <a:moveTo>
                    <a:pt x="6621" y="304"/>
                  </a:moveTo>
                  <a:lnTo>
                    <a:pt x="6621" y="210"/>
                  </a:lnTo>
                </a:path>
                <a:path w="7600" h="400" fill="none">
                  <a:moveTo>
                    <a:pt x="6653" y="304"/>
                  </a:moveTo>
                  <a:lnTo>
                    <a:pt x="6653" y="210"/>
                  </a:lnTo>
                </a:path>
                <a:path w="7600" h="400" fill="none">
                  <a:moveTo>
                    <a:pt x="6722" y="96"/>
                  </a:moveTo>
                  <a:lnTo>
                    <a:pt x="6722" y="190"/>
                  </a:lnTo>
                </a:path>
                <a:path w="7600" h="400" fill="none">
                  <a:moveTo>
                    <a:pt x="6754" y="96"/>
                  </a:moveTo>
                  <a:lnTo>
                    <a:pt x="6754" y="190"/>
                  </a:lnTo>
                </a:path>
                <a:path w="7600" h="400" fill="none">
                  <a:moveTo>
                    <a:pt x="6722" y="304"/>
                  </a:moveTo>
                  <a:lnTo>
                    <a:pt x="6722" y="210"/>
                  </a:lnTo>
                </a:path>
                <a:path w="7600" h="400" fill="none">
                  <a:moveTo>
                    <a:pt x="6754" y="304"/>
                  </a:moveTo>
                  <a:lnTo>
                    <a:pt x="6754" y="210"/>
                  </a:lnTo>
                </a:path>
                <a:path w="7600" h="400" fill="none">
                  <a:moveTo>
                    <a:pt x="6824" y="96"/>
                  </a:moveTo>
                  <a:lnTo>
                    <a:pt x="6824" y="190"/>
                  </a:lnTo>
                </a:path>
                <a:path w="7600" h="400" fill="none">
                  <a:moveTo>
                    <a:pt x="6856" y="96"/>
                  </a:moveTo>
                  <a:lnTo>
                    <a:pt x="6856" y="190"/>
                  </a:lnTo>
                </a:path>
                <a:path w="7600" h="400" fill="none">
                  <a:moveTo>
                    <a:pt x="6824" y="304"/>
                  </a:moveTo>
                  <a:lnTo>
                    <a:pt x="6824" y="210"/>
                  </a:lnTo>
                </a:path>
                <a:path w="7600" h="400" fill="none">
                  <a:moveTo>
                    <a:pt x="6856" y="304"/>
                  </a:moveTo>
                  <a:lnTo>
                    <a:pt x="6856" y="210"/>
                  </a:lnTo>
                </a:path>
                <a:path w="7600" h="400" fill="none">
                  <a:moveTo>
                    <a:pt x="6925" y="96"/>
                  </a:moveTo>
                  <a:lnTo>
                    <a:pt x="6925" y="190"/>
                  </a:lnTo>
                </a:path>
                <a:path w="7600" h="400" fill="none">
                  <a:moveTo>
                    <a:pt x="6957" y="96"/>
                  </a:moveTo>
                  <a:lnTo>
                    <a:pt x="6957" y="190"/>
                  </a:lnTo>
                </a:path>
                <a:path w="7600" h="400" fill="none">
                  <a:moveTo>
                    <a:pt x="6925" y="304"/>
                  </a:moveTo>
                  <a:lnTo>
                    <a:pt x="6925" y="210"/>
                  </a:lnTo>
                </a:path>
                <a:path w="7600" h="400" fill="none">
                  <a:moveTo>
                    <a:pt x="6957" y="304"/>
                  </a:moveTo>
                  <a:lnTo>
                    <a:pt x="6957" y="210"/>
                  </a:lnTo>
                </a:path>
                <a:path w="7600" h="400" fill="none">
                  <a:moveTo>
                    <a:pt x="7026" y="96"/>
                  </a:moveTo>
                  <a:lnTo>
                    <a:pt x="7026" y="190"/>
                  </a:lnTo>
                </a:path>
                <a:path w="7600" h="400" fill="none">
                  <a:moveTo>
                    <a:pt x="7058" y="96"/>
                  </a:moveTo>
                  <a:lnTo>
                    <a:pt x="7058" y="190"/>
                  </a:lnTo>
                </a:path>
                <a:path w="7600" h="400" fill="none">
                  <a:moveTo>
                    <a:pt x="7026" y="304"/>
                  </a:moveTo>
                  <a:lnTo>
                    <a:pt x="7026" y="210"/>
                  </a:lnTo>
                </a:path>
                <a:path w="7600" h="400" fill="none">
                  <a:moveTo>
                    <a:pt x="7058" y="304"/>
                  </a:moveTo>
                  <a:lnTo>
                    <a:pt x="7058" y="210"/>
                  </a:lnTo>
                </a:path>
                <a:path w="7600" h="400" fill="none">
                  <a:moveTo>
                    <a:pt x="7128" y="96"/>
                  </a:moveTo>
                  <a:lnTo>
                    <a:pt x="7128" y="190"/>
                  </a:lnTo>
                </a:path>
                <a:path w="7600" h="400" fill="none">
                  <a:moveTo>
                    <a:pt x="7160" y="96"/>
                  </a:moveTo>
                  <a:lnTo>
                    <a:pt x="7160" y="190"/>
                  </a:lnTo>
                </a:path>
                <a:path w="7600" h="400" fill="none">
                  <a:moveTo>
                    <a:pt x="7128" y="304"/>
                  </a:moveTo>
                  <a:lnTo>
                    <a:pt x="7128" y="210"/>
                  </a:lnTo>
                </a:path>
                <a:path w="7600" h="400" fill="none">
                  <a:moveTo>
                    <a:pt x="7160" y="304"/>
                  </a:moveTo>
                  <a:lnTo>
                    <a:pt x="7160" y="210"/>
                  </a:lnTo>
                </a:path>
                <a:path w="7600" h="400" fill="none">
                  <a:moveTo>
                    <a:pt x="7229" y="96"/>
                  </a:moveTo>
                  <a:lnTo>
                    <a:pt x="7229" y="190"/>
                  </a:lnTo>
                </a:path>
                <a:path w="7600" h="400" fill="none">
                  <a:moveTo>
                    <a:pt x="7261" y="96"/>
                  </a:moveTo>
                  <a:lnTo>
                    <a:pt x="7261" y="190"/>
                  </a:lnTo>
                </a:path>
                <a:path w="7600" h="400" fill="none">
                  <a:moveTo>
                    <a:pt x="7229" y="304"/>
                  </a:moveTo>
                  <a:lnTo>
                    <a:pt x="7229" y="210"/>
                  </a:lnTo>
                </a:path>
                <a:path w="7600" h="400" fill="none">
                  <a:moveTo>
                    <a:pt x="7261" y="304"/>
                  </a:moveTo>
                  <a:lnTo>
                    <a:pt x="7261" y="210"/>
                  </a:lnTo>
                </a:path>
                <a:path w="7600" h="400" fill="none">
                  <a:moveTo>
                    <a:pt x="7330" y="96"/>
                  </a:moveTo>
                  <a:lnTo>
                    <a:pt x="7330" y="190"/>
                  </a:lnTo>
                </a:path>
                <a:path w="7600" h="400" fill="none">
                  <a:moveTo>
                    <a:pt x="7362" y="96"/>
                  </a:moveTo>
                  <a:lnTo>
                    <a:pt x="7362" y="190"/>
                  </a:lnTo>
                </a:path>
                <a:path w="7600" h="400" fill="none">
                  <a:moveTo>
                    <a:pt x="7330" y="304"/>
                  </a:moveTo>
                  <a:lnTo>
                    <a:pt x="7330" y="210"/>
                  </a:lnTo>
                </a:path>
                <a:path w="7600" h="400" fill="none">
                  <a:moveTo>
                    <a:pt x="7362" y="304"/>
                  </a:moveTo>
                  <a:lnTo>
                    <a:pt x="7362" y="210"/>
                  </a:lnTo>
                </a:path>
                <a:path w="7600" h="400" fill="none">
                  <a:moveTo>
                    <a:pt x="7432" y="96"/>
                  </a:moveTo>
                  <a:lnTo>
                    <a:pt x="7432" y="190"/>
                  </a:lnTo>
                </a:path>
                <a:path w="7600" h="400" fill="none">
                  <a:moveTo>
                    <a:pt x="7464" y="96"/>
                  </a:moveTo>
                  <a:lnTo>
                    <a:pt x="7464" y="190"/>
                  </a:lnTo>
                </a:path>
                <a:path w="7600" h="400" fill="none">
                  <a:moveTo>
                    <a:pt x="7432" y="304"/>
                  </a:moveTo>
                  <a:lnTo>
                    <a:pt x="7432" y="210"/>
                  </a:lnTo>
                </a:path>
                <a:path w="7600" h="400" fill="none">
                  <a:moveTo>
                    <a:pt x="7464" y="304"/>
                  </a:moveTo>
                  <a:lnTo>
                    <a:pt x="7464" y="210"/>
                  </a:lnTo>
                </a:path>
                <a:path w="7600" h="400" fill="none">
                  <a:moveTo>
                    <a:pt x="7533" y="96"/>
                  </a:moveTo>
                  <a:lnTo>
                    <a:pt x="7533" y="190"/>
                  </a:lnTo>
                </a:path>
                <a:path w="7600" h="400" fill="none">
                  <a:moveTo>
                    <a:pt x="7565" y="96"/>
                  </a:moveTo>
                  <a:lnTo>
                    <a:pt x="7565" y="190"/>
                  </a:lnTo>
                </a:path>
                <a:path w="7600" h="400" fill="none">
                  <a:moveTo>
                    <a:pt x="7533" y="304"/>
                  </a:moveTo>
                  <a:lnTo>
                    <a:pt x="7533" y="210"/>
                  </a:lnTo>
                </a:path>
                <a:path w="7600" h="400" fill="none">
                  <a:moveTo>
                    <a:pt x="7565" y="304"/>
                  </a:moveTo>
                  <a:lnTo>
                    <a:pt x="7565" y="210"/>
                  </a:lnTo>
                </a:path>
              </a:pathLst>
            </a:custGeom>
            <a:noFill/>
            <a:ln w="9525" cap="rnd">
              <a:solidFill>
                <a:srgbClr val="A49887"/>
              </a:solidFill>
              <a:round/>
            </a:ln>
          </p:spPr>
        </p:sp>
      </p:grpSp>
      <p:grpSp>
        <p:nvGrpSpPr>
          <p:cNvPr id="8" name="Receptor"/>
          <p:cNvGrpSpPr/>
          <p:nvPr/>
        </p:nvGrpSpPr>
        <p:grpSpPr>
          <a:xfrm>
            <a:off x="914400" y="582930"/>
            <a:ext cx="695401" cy="1495044"/>
            <a:chOff x="914400" y="582930"/>
            <a:chExt cx="695401" cy="1495044"/>
          </a:xfrm>
        </p:grpSpPr>
        <p:sp>
          <p:nvSpPr>
            <p:cNvPr id="9" name="Forma 8"/>
            <p:cNvSpPr/>
            <p:nvPr/>
          </p:nvSpPr>
          <p:spPr>
            <a:xfrm>
              <a:off x="914400" y="582930"/>
              <a:ext cx="326898" cy="564642"/>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0" name="Forma 9"/>
            <p:cNvSpPr/>
            <p:nvPr/>
          </p:nvSpPr>
          <p:spPr>
            <a:xfrm flipH="1">
              <a:off x="1282903" y="582930"/>
              <a:ext cx="326898" cy="564642"/>
            </a:xfrm>
            <a:custGeom>
              <a:avLst/>
              <a:gdLst/>
              <a:ahLst/>
              <a:cxnLst/>
              <a:rect l="0" t="0" r="r" b="b"/>
              <a:pathLst>
                <a:path w="1000" h="1000">
                  <a:moveTo>
                    <a:pt x="100" y="900"/>
                  </a:moveTo>
                  <a:cubicBezTo>
                    <a:pt x="46" y="847"/>
                    <a:pt x="42" y="545"/>
                    <a:pt x="60" y="450"/>
                  </a:cubicBezTo>
                  <a:cubicBezTo>
                    <a:pt x="77" y="354"/>
                    <a:pt x="196" y="125"/>
                    <a:pt x="250" y="80"/>
                  </a:cubicBezTo>
                  <a:cubicBezTo>
                    <a:pt x="303" y="34"/>
                    <a:pt x="467" y="34"/>
                    <a:pt x="520" y="60"/>
                  </a:cubicBezTo>
                  <a:cubicBezTo>
                    <a:pt x="572" y="85"/>
                    <a:pt x="695" y="246"/>
                    <a:pt x="700" y="300"/>
                  </a:cubicBezTo>
                  <a:cubicBezTo>
                    <a:pt x="704" y="353"/>
                    <a:pt x="581" y="450"/>
                    <a:pt x="560" y="520"/>
                  </a:cubicBezTo>
                  <a:cubicBezTo>
                    <a:pt x="539" y="590"/>
                    <a:pt x="573" y="855"/>
                    <a:pt x="520" y="900"/>
                  </a:cubicBezTo>
                  <a:cubicBezTo>
                    <a:pt x="466" y="944"/>
                    <a:pt x="153" y="952"/>
                    <a:pt x="100" y="900"/>
                  </a:cubicBezTo>
                  <a:close/>
                </a:path>
              </a:pathLst>
            </a:custGeom>
            <a:gradFill rotWithShape="1">
              <a:gsLst>
                <a:gs pos="0">
                  <a:srgbClr val="9CBAF5"/>
                </a:gs>
                <a:gs pos="55000">
                  <a:srgbClr val="5B8DEF"/>
                </a:gs>
                <a:gs pos="100000">
                  <a:srgbClr val="4469B3"/>
                </a:gs>
              </a:gsLst>
              <a:path path="circle">
                <a:fillToRect l="32000" t="28000" r="68000" b="72000"/>
              </a:path>
            </a:gradFill>
            <a:ln w="15875" cap="rnd">
              <a:solidFill>
                <a:srgbClr val="2D4677"/>
              </a:solidFill>
              <a:round/>
            </a:ln>
          </p:spPr>
        </p:sp>
        <p:sp>
          <p:nvSpPr>
            <p:cNvPr id="11" name="Forma 10"/>
            <p:cNvSpPr/>
            <p:nvPr/>
          </p:nvSpPr>
          <p:spPr>
            <a:xfrm>
              <a:off x="1033272" y="1135685"/>
              <a:ext cx="95098" cy="508406"/>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2" name="Forma 11"/>
            <p:cNvSpPr/>
            <p:nvPr/>
          </p:nvSpPr>
          <p:spPr>
            <a:xfrm>
              <a:off x="961949" y="1632204"/>
              <a:ext cx="237744" cy="44577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3" name="Forma 12"/>
            <p:cNvSpPr/>
            <p:nvPr/>
          </p:nvSpPr>
          <p:spPr>
            <a:xfrm>
              <a:off x="1342339" y="1135685"/>
              <a:ext cx="95098" cy="508406"/>
            </a:xfrm>
            <a:prstGeom prst="roundRect">
              <a:avLst>
                <a:gd name="adj" fmla="val 50000"/>
              </a:avLst>
            </a:prstGeom>
            <a:gradFill rotWithShape="1">
              <a:gsLst>
                <a:gs pos="0">
                  <a:srgbClr val="205D87"/>
                </a:gs>
                <a:gs pos="30000">
                  <a:srgbClr val="6CAAD3"/>
                </a:gs>
                <a:gs pos="55000">
                  <a:srgbClr val="2E86C1"/>
                </a:gs>
                <a:gs pos="100000">
                  <a:srgbClr val="205D87"/>
                </a:gs>
              </a:gsLst>
              <a:lin ang="5400000" scaled="0"/>
            </a:gradFill>
            <a:ln w="12700" cap="rnd">
              <a:solidFill>
                <a:srgbClr val="174360"/>
              </a:solidFill>
              <a:round/>
            </a:ln>
          </p:spPr>
        </p:sp>
        <p:sp>
          <p:nvSpPr>
            <p:cNvPr id="14" name="Forma 13"/>
            <p:cNvSpPr/>
            <p:nvPr/>
          </p:nvSpPr>
          <p:spPr>
            <a:xfrm>
              <a:off x="1271016" y="1632204"/>
              <a:ext cx="237744" cy="445770"/>
            </a:xfrm>
            <a:prstGeom prst="roundRect">
              <a:avLst>
                <a:gd name="adj" fmla="val 35000"/>
              </a:avLst>
            </a:prstGeom>
            <a:gradFill rotWithShape="1">
              <a:gsLst>
                <a:gs pos="0">
                  <a:srgbClr val="AFD6F0"/>
                </a:gs>
                <a:gs pos="55000">
                  <a:srgbClr val="85C1E9"/>
                </a:gs>
                <a:gs pos="100000">
                  <a:srgbClr val="6390AE"/>
                </a:gs>
              </a:gsLst>
              <a:path path="circle">
                <a:fillToRect l="32000" t="28000" r="68000" b="72000"/>
              </a:path>
            </a:gradFill>
            <a:ln w="15875" cap="rnd">
              <a:solidFill>
                <a:srgbClr val="174360"/>
              </a:solidFill>
              <a:round/>
            </a:ln>
          </p:spPr>
        </p:sp>
        <p:sp>
          <p:nvSpPr>
            <p:cNvPr id="15" name="Forma 14"/>
            <p:cNvSpPr/>
            <p:nvPr/>
          </p:nvSpPr>
          <p:spPr>
            <a:xfrm>
              <a:off x="1122426" y="1016813"/>
              <a:ext cx="237744" cy="59436"/>
            </a:xfrm>
            <a:prstGeom prst="rect">
              <a:avLst/>
            </a:prstGeom>
            <a:solidFill>
              <a:srgbClr val="1B4F72"/>
            </a:solidFill>
            <a:ln>
              <a:noFill/>
            </a:ln>
          </p:spPr>
        </p:sp>
      </p:grpSp>
      <p:sp>
        <p:nvSpPr>
          <p:cNvPr id="16" name="IRS"/>
          <p:cNvSpPr/>
          <p:nvPr/>
        </p:nvSpPr>
        <p:spPr>
          <a:xfrm>
            <a:off x="2103120" y="1965960"/>
            <a:ext cx="1097280" cy="457200"/>
          </a:xfrm>
          <a:prstGeom prst="roundRect">
            <a:avLst/>
          </a:prstGeom>
          <a:gradFill rotWithShape="1">
            <a:gsLst>
              <a:gs pos="0">
                <a:srgbClr val="F9CF8D"/>
              </a:gs>
              <a:gs pos="55000">
                <a:srgbClr val="F5B041"/>
              </a:gs>
              <a:gs pos="100000">
                <a:srgbClr val="C48C34"/>
              </a:gs>
            </a:gsLst>
            <a:path path="circle">
              <a:fillToRect l="32000" t="28000" r="68000" b="72000"/>
            </a:path>
          </a:gradFill>
          <a:ln w="15875" cap="rnd">
            <a:solidFill>
              <a:srgbClr val="9C640C"/>
            </a:solidFill>
            <a:round/>
          </a:ln>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IRS</a:t>
            </a:r>
            <a:endParaRPr lang="es-AR" sz="1400" dirty="0">
              <a:latin typeface="Bahnschrift SemiBold Condensed"/>
            </a:endParaRPr>
          </a:p>
        </p:txBody>
      </p:sp>
      <p:sp>
        <p:nvSpPr>
          <p:cNvPr id="17" name="Akt"/>
          <p:cNvSpPr/>
          <p:nvPr/>
        </p:nvSpPr>
        <p:spPr>
          <a:xfrm>
            <a:off x="4023360" y="1965960"/>
            <a:ext cx="1188720" cy="457200"/>
          </a:xfrm>
          <a:prstGeom prst="roundRect">
            <a:avLst/>
          </a:prstGeom>
          <a:gradFill rotWithShape="1">
            <a:gsLst>
              <a:gs pos="0">
                <a:srgbClr val="9AE6BA"/>
              </a:gs>
              <a:gs pos="55000">
                <a:srgbClr val="58D68D"/>
              </a:gs>
              <a:gs pos="100000">
                <a:srgbClr val="46AB70"/>
              </a:gs>
            </a:gsLst>
            <a:path path="circle">
              <a:fillToRect l="32000" t="28000" r="68000" b="72000"/>
            </a:path>
          </a:gradFill>
          <a:ln w="15875" cap="rnd">
            <a:solidFill>
              <a:srgbClr val="1E8449"/>
            </a:solidFill>
            <a:round/>
          </a:ln>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Akt</a:t>
            </a:r>
            <a:endParaRPr lang="es-AR" sz="1400" dirty="0">
              <a:latin typeface="Bahnschrift SemiBold Condensed"/>
            </a:endParaRPr>
          </a:p>
        </p:txBody>
      </p:sp>
      <p:sp>
        <p:nvSpPr>
          <p:cNvPr id="18" name="Flecha 17_2"/>
          <p:cNvSpPr/>
          <p:nvPr/>
        </p:nvSpPr>
        <p:spPr>
          <a:xfrm>
            <a:off x="3246120" y="2194560"/>
            <a:ext cx="731520" cy="9144"/>
          </a:xfrm>
          <a:custGeom>
            <a:avLst/>
            <a:gdLst/>
            <a:ahLst/>
            <a:cxnLst/>
            <a:rect l="0" t="0" r="r" b="b"/>
            <a:pathLst>
              <a:path w="799" h="10" fill="none">
                <a:moveTo>
                  <a:pt x="0" y="0"/>
                </a:moveTo>
                <a:lnTo>
                  <a:pt x="799" y="0"/>
                </a:lnTo>
              </a:path>
            </a:pathLst>
          </a:custGeom>
          <a:noFill/>
          <a:ln w="38100" cap="rnd">
            <a:solidFill>
              <a:srgbClr val="1E8C3A"/>
            </a:solidFill>
            <a:prstDash val="dash"/>
            <a:round/>
            <a:tailEnd type="triangle" w="med" len="med"/>
          </a:ln>
        </p:spPr>
      </p:sp>
      <p:sp>
        <p:nvSpPr>
          <p:cNvPr id="19" name="DAG"/>
          <p:cNvSpPr/>
          <p:nvPr/>
        </p:nvSpPr>
        <p:spPr>
          <a:xfrm>
            <a:off x="2103120" y="3108960"/>
            <a:ext cx="548640" cy="54864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DAG</a:t>
            </a:r>
            <a:endParaRPr lang="es-AR" sz="1300" dirty="0">
              <a:latin typeface="Bahnschrift SemiBold Condensed"/>
            </a:endParaRPr>
          </a:p>
        </p:txBody>
      </p:sp>
      <p:sp>
        <p:nvSpPr>
          <p:cNvPr id="20" name="Ceramidas"/>
          <p:cNvSpPr/>
          <p:nvPr/>
        </p:nvSpPr>
        <p:spPr>
          <a:xfrm>
            <a:off x="2834640" y="3200400"/>
            <a:ext cx="548640" cy="548640"/>
          </a:xfrm>
          <a:prstGeom prst="ellipse">
            <a:avLst/>
          </a:prstGeom>
          <a:gradFill rotWithShape="1">
            <a:gsLst>
              <a:gs pos="0">
                <a:srgbClr val="F7BE64"/>
              </a:gs>
              <a:gs pos="55000">
                <a:srgbClr val="F39C12"/>
              </a:gs>
              <a:gs pos="100000">
                <a:srgbClr val="C27C0E"/>
              </a:gs>
            </a:gsLst>
            <a:path path="circle">
              <a:fillToRect l="32000" t="28000" r="68000" b="72000"/>
            </a:path>
          </a:gradFill>
          <a:ln w="12700" cap="rnd">
            <a:solidFill>
              <a:srgbClr val="855509"/>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Cer</a:t>
            </a:r>
            <a:endParaRPr lang="es-AR" sz="1300" dirty="0">
              <a:latin typeface="Bahnschrift SemiBold Condensed"/>
            </a:endParaRPr>
          </a:p>
        </p:txBody>
      </p:sp>
      <p:sp>
        <p:nvSpPr>
          <p:cNvPr id="21" name="PKC"/>
          <p:cNvSpPr/>
          <p:nvPr/>
        </p:nvSpPr>
        <p:spPr>
          <a:xfrm>
            <a:off x="2011680" y="3931920"/>
            <a:ext cx="164510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PKCε / otras cinasas</a:t>
            </a:r>
            <a:endParaRPr lang="es-AR" sz="1250" dirty="0">
              <a:latin typeface="Bahnschrift SemiBold Condensed"/>
            </a:endParaRPr>
          </a:p>
        </p:txBody>
      </p:sp>
      <p:grpSp>
        <p:nvGrpSpPr>
          <p:cNvPr id="22" name="Inhibición"/>
          <p:cNvGrpSpPr/>
          <p:nvPr/>
        </p:nvGrpSpPr>
        <p:grpSpPr>
          <a:xfrm>
            <a:off x="2505508" y="2465637"/>
            <a:ext cx="201063" cy="1420563"/>
            <a:chOff x="2505508" y="2465637"/>
            <a:chExt cx="201063" cy="1420563"/>
          </a:xfrm>
        </p:grpSpPr>
        <p:sp>
          <p:nvSpPr>
            <p:cNvPr id="23" name="Flecha 23_2"/>
            <p:cNvSpPr/>
            <p:nvPr/>
          </p:nvSpPr>
          <p:spPr>
            <a:xfrm>
              <a:off x="2560320" y="2468880"/>
              <a:ext cx="45720" cy="1417320"/>
            </a:xfrm>
            <a:custGeom>
              <a:avLst/>
              <a:gdLst/>
              <a:ahLst/>
              <a:cxnLst/>
              <a:rect l="0" t="0" r="r" b="b"/>
              <a:pathLst>
                <a:path w="50" h="1549" fill="none">
                  <a:moveTo>
                    <a:pt x="0" y="1549"/>
                  </a:moveTo>
                  <a:lnTo>
                    <a:pt x="50" y="0"/>
                  </a:lnTo>
                </a:path>
              </a:pathLst>
            </a:custGeom>
            <a:noFill/>
            <a:ln w="31750" cap="rnd">
              <a:solidFill>
                <a:srgbClr val="C00000"/>
              </a:solidFill>
              <a:round/>
            </a:ln>
          </p:spPr>
        </p:sp>
        <p:sp>
          <p:nvSpPr>
            <p:cNvPr id="24" name="Flecha 25_2"/>
            <p:cNvSpPr/>
            <p:nvPr/>
          </p:nvSpPr>
          <p:spPr>
            <a:xfrm>
              <a:off x="2505508" y="2465637"/>
              <a:ext cx="201063" cy="9144"/>
            </a:xfrm>
            <a:custGeom>
              <a:avLst/>
              <a:gdLst/>
              <a:ahLst/>
              <a:cxnLst/>
              <a:rect l="0" t="0" r="r" b="b"/>
              <a:pathLst>
                <a:path w="219" h="10" fill="none">
                  <a:moveTo>
                    <a:pt x="0" y="0"/>
                  </a:moveTo>
                  <a:lnTo>
                    <a:pt x="219" y="7"/>
                  </a:lnTo>
                </a:path>
              </a:pathLst>
            </a:custGeom>
            <a:noFill/>
            <a:ln w="50800" cap="rnd">
              <a:solidFill>
                <a:srgbClr val="C00000"/>
              </a:solidFill>
              <a:round/>
            </a:ln>
          </p:spPr>
        </p:sp>
      </p:grpSp>
      <p:grpSp>
        <p:nvGrpSpPr>
          <p:cNvPr id="25" name="Inhibición_2"/>
          <p:cNvGrpSpPr/>
          <p:nvPr/>
        </p:nvGrpSpPr>
        <p:grpSpPr>
          <a:xfrm>
            <a:off x="3337560" y="2389670"/>
            <a:ext cx="1113551" cy="902170"/>
            <a:chOff x="3337560" y="2389670"/>
            <a:chExt cx="1113551" cy="902170"/>
          </a:xfrm>
        </p:grpSpPr>
        <p:sp>
          <p:nvSpPr>
            <p:cNvPr id="26" name="Flecha 28_2"/>
            <p:cNvSpPr/>
            <p:nvPr/>
          </p:nvSpPr>
          <p:spPr>
            <a:xfrm>
              <a:off x="3337560" y="2468880"/>
              <a:ext cx="1051560" cy="822960"/>
            </a:xfrm>
            <a:custGeom>
              <a:avLst/>
              <a:gdLst/>
              <a:ahLst/>
              <a:cxnLst/>
              <a:rect l="0" t="0" r="r" b="b"/>
              <a:pathLst>
                <a:path w="1150" h="899" fill="none">
                  <a:moveTo>
                    <a:pt x="0" y="899"/>
                  </a:moveTo>
                  <a:lnTo>
                    <a:pt x="1150" y="0"/>
                  </a:lnTo>
                </a:path>
              </a:pathLst>
            </a:custGeom>
            <a:noFill/>
            <a:ln w="31750" cap="rnd">
              <a:solidFill>
                <a:srgbClr val="C00000"/>
              </a:solidFill>
              <a:round/>
            </a:ln>
          </p:spPr>
        </p:sp>
        <p:sp>
          <p:nvSpPr>
            <p:cNvPr id="27" name="Flecha 30_2"/>
            <p:cNvSpPr/>
            <p:nvPr/>
          </p:nvSpPr>
          <p:spPr>
            <a:xfrm>
              <a:off x="4327129" y="2389670"/>
              <a:ext cx="123982" cy="158421"/>
            </a:xfrm>
            <a:custGeom>
              <a:avLst/>
              <a:gdLst/>
              <a:ahLst/>
              <a:cxnLst/>
              <a:rect l="0" t="0" r="r" b="b"/>
              <a:pathLst>
                <a:path w="135" h="173" fill="none">
                  <a:moveTo>
                    <a:pt x="0" y="0"/>
                  </a:moveTo>
                  <a:lnTo>
                    <a:pt x="135" y="173"/>
                  </a:lnTo>
                </a:path>
              </a:pathLst>
            </a:custGeom>
            <a:noFill/>
            <a:ln w="50800" cap="rnd">
              <a:solidFill>
                <a:srgbClr val="C00000"/>
              </a:solidFill>
              <a:round/>
            </a:ln>
          </p:spPr>
        </p:sp>
      </p:grpSp>
      <p:sp>
        <p:nvSpPr>
          <p:cNvPr id="28" name="Gota TAG"/>
          <p:cNvSpPr/>
          <p:nvPr/>
        </p:nvSpPr>
        <p:spPr>
          <a:xfrm>
            <a:off x="5120640" y="2926080"/>
            <a:ext cx="2011680" cy="2011680"/>
          </a:xfrm>
          <a:custGeom>
            <a:avLst/>
            <a:gdLst/>
            <a:ahLst/>
            <a:cxnLst/>
            <a:rect l="0" t="0" r="r" b="b"/>
            <a:pathLst>
              <a:path w="1000" h="1000">
                <a:moveTo>
                  <a:pt x="920" y="500"/>
                </a:moveTo>
                <a:cubicBezTo>
                  <a:pt x="920" y="731"/>
                  <a:pt x="731" y="920"/>
                  <a:pt x="500" y="920"/>
                </a:cubicBezTo>
                <a:cubicBezTo>
                  <a:pt x="268" y="920"/>
                  <a:pt x="80" y="731"/>
                  <a:pt x="80" y="500"/>
                </a:cubicBezTo>
                <a:cubicBezTo>
                  <a:pt x="80" y="268"/>
                  <a:pt x="268" y="80"/>
                  <a:pt x="500" y="80"/>
                </a:cubicBezTo>
                <a:cubicBezTo>
                  <a:pt x="731" y="80"/>
                  <a:pt x="920" y="268"/>
                  <a:pt x="920" y="50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sp>
        <p:nvSpPr>
          <p:cNvPr id="29" name="Forma 33"/>
          <p:cNvSpPr txBox="1"/>
          <p:nvPr/>
        </p:nvSpPr>
        <p:spPr>
          <a:xfrm>
            <a:off x="4937760" y="4983480"/>
            <a:ext cx="2377440" cy="45720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TAG en gota: relativamente inerte</a:t>
            </a:r>
            <a:endParaRPr lang="es-AR" sz="1250" dirty="0">
              <a:latin typeface="Bahnschrift SemiBold Condensed"/>
            </a:endParaRPr>
          </a:p>
        </p:txBody>
      </p:sp>
      <p:grpSp>
        <p:nvGrpSpPr>
          <p:cNvPr id="30" name="Recuadro Intermediarios lipotóxico"/>
          <p:cNvGrpSpPr/>
          <p:nvPr/>
        </p:nvGrpSpPr>
        <p:grpSpPr>
          <a:xfrm>
            <a:off x="7498080" y="1005840"/>
            <a:ext cx="4297680" cy="2651760"/>
            <a:chOff x="7498080" y="1005840"/>
            <a:chExt cx="4297680" cy="2651760"/>
          </a:xfrm>
        </p:grpSpPr>
        <p:sp>
          <p:nvSpPr>
            <p:cNvPr id="31" name="Forma 35"/>
            <p:cNvSpPr/>
            <p:nvPr/>
          </p:nvSpPr>
          <p:spPr>
            <a:xfrm>
              <a:off x="7498080" y="1188720"/>
              <a:ext cx="4297680" cy="24688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 acumulación de </a:t>
              </a:r>
              <a:r>
                <a:rPr lang="es-AR" sz="1650" b="1" dirty="0">
                  <a:solidFill>
                    <a:srgbClr val="1E1E1E"/>
                  </a:solidFill>
                  <a:latin typeface="Bahnschrift"/>
                  <a:ea typeface="Bahnschrift"/>
                  <a:cs typeface="Bahnschrift"/>
                  <a:sym typeface="Bahnschrift"/>
                </a:rPr>
                <a:t>DAG</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ceramidas</a:t>
              </a:r>
              <a:r>
                <a:rPr lang="es-AR" sz="1650" dirty="0">
                  <a:solidFill>
                    <a:srgbClr val="1E1E1E"/>
                  </a:solidFill>
                  <a:latin typeface="Bahnschrift"/>
                  <a:ea typeface="Bahnschrift"/>
                  <a:cs typeface="Bahnschrift"/>
                  <a:sym typeface="Bahnschrift"/>
                </a:rPr>
                <a:t> en localizaciones críticas puede </a:t>
              </a:r>
              <a:r>
                <a:rPr lang="es-AR" sz="1650" b="1" dirty="0">
                  <a:solidFill>
                    <a:srgbClr val="1E1E1E"/>
                  </a:solidFill>
                  <a:latin typeface="Bahnschrift"/>
                  <a:ea typeface="Bahnschrift"/>
                  <a:cs typeface="Bahnschrift"/>
                  <a:sym typeface="Bahnschrift"/>
                </a:rPr>
                <a:t>perturbar la señalización</a:t>
              </a:r>
              <a:r>
                <a:rPr lang="es-AR" sz="1650" dirty="0">
                  <a:solidFill>
                    <a:srgbClr val="1E1E1E"/>
                  </a:solidFill>
                  <a:latin typeface="Bahnschrift"/>
                  <a:ea typeface="Bahnschrift"/>
                  <a:cs typeface="Bahnschrift"/>
                  <a:sym typeface="Bahnschrift"/>
                </a:rPr>
                <a:t> de insulina (IRS/Akt).</a:t>
              </a:r>
              <a:endParaRPr lang="es-AR" sz="1650" dirty="0">
                <a:latin typeface="Bahnschrift"/>
              </a:endParaRPr>
            </a:p>
          </p:txBody>
        </p:sp>
        <p:sp>
          <p:nvSpPr>
            <p:cNvPr id="32" name="Forma 36"/>
            <p:cNvSpPr/>
            <p:nvPr/>
          </p:nvSpPr>
          <p:spPr>
            <a:xfrm>
              <a:off x="7607808" y="1005840"/>
              <a:ext cx="255523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INTERMEDIARIOS LIPOTÓXICOS</a:t>
              </a:r>
              <a:endParaRPr lang="es-AR" sz="1500" dirty="0">
                <a:latin typeface="Bahnschrift SemiBold Condensed"/>
              </a:endParaRPr>
            </a:p>
          </p:txBody>
        </p:sp>
      </p:grpSp>
      <p:sp>
        <p:nvSpPr>
          <p:cNvPr id="33" name="Perla"/>
          <p:cNvSpPr/>
          <p:nvPr/>
        </p:nvSpPr>
        <p:spPr>
          <a:xfrm>
            <a:off x="7498080" y="3840480"/>
            <a:ext cx="4297680" cy="26517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No basta medir </a:t>
            </a:r>
            <a:r>
              <a:rPr lang="es-AR" sz="1700" b="1" dirty="0">
                <a:solidFill>
                  <a:srgbClr val="FFFFFF"/>
                </a:solidFill>
                <a:latin typeface="Bahnschrift"/>
                <a:ea typeface="Bahnschrift"/>
                <a:cs typeface="Bahnschrift"/>
                <a:sym typeface="Bahnschrift"/>
              </a:rPr>
              <a:t>TAG intracelulares totales</a:t>
            </a:r>
            <a:r>
              <a:rPr lang="es-AR" sz="1700" dirty="0">
                <a:solidFill>
                  <a:srgbClr val="FFFFFF"/>
                </a:solidFill>
                <a:latin typeface="Bahnschrift"/>
                <a:ea typeface="Bahnschrift"/>
                <a:cs typeface="Bahnschrift"/>
                <a:sym typeface="Bahnschrift"/>
              </a:rPr>
              <a:t> para inferir «lipotoxicidad»: importan la </a:t>
            </a:r>
            <a:r>
              <a:rPr lang="es-AR" sz="1700" b="1" dirty="0">
                <a:solidFill>
                  <a:srgbClr val="FFFFFF"/>
                </a:solidFill>
                <a:latin typeface="Bahnschrift"/>
                <a:ea typeface="Bahnschrift"/>
                <a:cs typeface="Bahnschrift"/>
                <a:sym typeface="Bahnschrift"/>
              </a:rPr>
              <a:t>localización</a:t>
            </a:r>
            <a:r>
              <a:rPr lang="es-AR" sz="1700" dirty="0">
                <a:solidFill>
                  <a:srgbClr val="FFFFFF"/>
                </a:solidFill>
                <a:latin typeface="Bahnschrift"/>
                <a:ea typeface="Bahnschrift"/>
                <a:cs typeface="Bahnschrift"/>
                <a:sym typeface="Bahnschrift"/>
              </a:rPr>
              <a:t> y las </a:t>
            </a:r>
            <a:r>
              <a:rPr lang="es-AR" sz="1700" b="1" dirty="0">
                <a:solidFill>
                  <a:srgbClr val="FFFFFF"/>
                </a:solidFill>
                <a:latin typeface="Bahnschrift"/>
                <a:ea typeface="Bahnschrift"/>
                <a:cs typeface="Bahnschrift"/>
                <a:sym typeface="Bahnschrift"/>
              </a:rPr>
              <a:t>especies moleculares</a:t>
            </a:r>
            <a:r>
              <a:rPr lang="es-AR" sz="1700" dirty="0">
                <a:solidFill>
                  <a:srgbClr val="FFFFFF"/>
                </a:solidFill>
                <a:latin typeface="Bahnschrift"/>
                <a:ea typeface="Bahnschrift"/>
                <a:cs typeface="Bahnschrift"/>
                <a:sym typeface="Bahnschrift"/>
              </a:rPr>
              <a:t>.</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81797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00" b="1" dirty="0">
                <a:solidFill>
                  <a:srgbClr val="1E1E1E"/>
                </a:solidFill>
                <a:latin typeface="Bahnschrift SemiBold Condensed"/>
                <a:ea typeface="Bahnschrift SemiBold Condensed"/>
                <a:cs typeface="Bahnschrift SemiBold Condensed"/>
                <a:sym typeface="Bahnschrift SemiBold Condensed"/>
              </a:rPr>
              <a:t>13 · LÍPIDOS Y RESISTENCIA A LA INSULINA: LOCALIZACIÓN Y ESPECIE</a:t>
            </a:r>
            <a:endParaRPr lang="es-AR" sz="25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6"/>
                                        </p:tgtEl>
                                        <p:attrNameLst>
                                          <p:attrName>style.visibility</p:attrName>
                                        </p:attrNameLst>
                                      </p:cBhvr>
                                      <p:to>
                                        <p:strVal val="visible"/>
                                      </p:to>
                                    </p:set>
                                    <p:animEffect transition="in" filter="fade">
                                      <p:cBhvr>
                                        <p:cTn id="5" dur="500"/>
                                        <p:tgtEl>
                                          <p:spTgt spid="16"/>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18"/>
                                        </p:tgtEl>
                                        <p:attrNameLst>
                                          <p:attrName>style.visibility</p:attrName>
                                        </p:attrNameLst>
                                      </p:cBhvr>
                                      <p:to>
                                        <p:strVal val="visible"/>
                                      </p:to>
                                    </p:set>
                                    <p:animEffect transition="in" filter="wipe(left)">
                                      <p:cBhvr>
                                        <p:cTn id="9" dur="600"/>
                                        <p:tgtEl>
                                          <p:spTgt spid="18"/>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par>
                    <p:cTn id="38" fill="hold">
                      <p:stCondLst>
                        <p:cond delay="indefinite"/>
                      </p:stCondLst>
                      <p:childTnLst>
                        <p:par>
                          <p:cTn id="26"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p:cTn id="23" dur="500" fill="hold"/>
                                        <p:tgtEl>
                                          <p:spTgt spid="20"/>
                                        </p:tgtEl>
                                        <p:attrNameLst>
                                          <p:attrName>ppt_w</p:attrName>
                                        </p:attrNameLst>
                                      </p:cBhvr>
                                      <p:tavLst>
                                        <p:tav tm="0">
                                          <p:val>
                                            <p:fltVal val="0"/>
                                          </p:val>
                                        </p:tav>
                                        <p:tav tm="100000">
                                          <p:val>
                                            <p:strVal val="#ppt_w"/>
                                          </p:val>
                                        </p:tav>
                                      </p:tavLst>
                                    </p:anim>
                                    <p:anim calcmode="lin" valueType="num">
                                      <p:cBhvr>
                                        <p:cTn id="24" dur="500" fill="hold"/>
                                        <p:tgtEl>
                                          <p:spTgt spid="20"/>
                                        </p:tgtEl>
                                        <p:attrNameLst>
                                          <p:attrName>ppt_h</p:attrName>
                                        </p:attrNameLst>
                                      </p:cBhvr>
                                      <p:tavLst>
                                        <p:tav tm="0">
                                          <p:val>
                                            <p:fltVal val="0"/>
                                          </p:val>
                                        </p:tav>
                                        <p:tav tm="100000">
                                          <p:val>
                                            <p:strVal val="#ppt_h"/>
                                          </p:val>
                                        </p:tav>
                                      </p:tavLst>
                                    </p:anim>
                                    <p:animEffect transition="in" filter="fade">
                                      <p:cBhvr>
                                        <p:cTn id="25" dur="500"/>
                                        <p:tgtEl>
                                          <p:spTgt spid="20"/>
                                        </p:tgtEl>
                                      </p:cBhvr>
                                    </p:animEffect>
                                  </p:childTnLst>
                                </p:cTn>
                              </p:par>
                            </p:childTnLst>
                          </p:cTn>
                        </p:par>
                        <p:par>
                          <p:cTn id="30"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childTnLst>
                          </p:cTn>
                        </p:par>
                        <p:par>
                          <p:cTn id="37" fill="hold">
                            <p:stCondLst>
                              <p:cond delay="1000"/>
                            </p:stCondLst>
                            <p:childTnLst>
                              <p:par>
                                <p:cTn id="31" presetID="22" presetClass="entr" presetSubtype="1"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up)">
                                      <p:cBhvr>
                                        <p:cTn id="33" dur="600"/>
                                        <p:tgtEl>
                                          <p:spTgt spid="22"/>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wipe(left)">
                                      <p:cBhvr>
                                        <p:cTn id="36" dur="600"/>
                                        <p:tgtEl>
                                          <p:spTgt spid="25"/>
                                        </p:tgtEl>
                                      </p:cBhvr>
                                    </p:animEffect>
                                  </p:childTnLst>
                                </p:cTn>
                              </p:par>
                            </p:childTnLst>
                          </p:cTn>
                        </p:par>
                      </p:childTnLst>
                    </p:cTn>
                  </p:par>
                  <p:par>
                    <p:cTn id="43" fill="hold">
                      <p:stCondLst>
                        <p:cond delay="indefinite"/>
                      </p:stCondLst>
                      <p:childTnLst>
                        <p:par>
                          <p:cTn id="42"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childTnLst>
                    </p:cTn>
                  </p:par>
                  <p:par>
                    <p:cTn id="48"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childTnLst>
                          </p:cTn>
                        </p:par>
                      </p:childTnLst>
                    </p:cTn>
                  </p:par>
                  <p:par>
                    <p:cTn id="53" fill="hold">
                      <p:stCondLst>
                        <p:cond delay="indefinite"/>
                      </p:stCondLst>
                      <p:childTnLst>
                        <p:par>
                          <p:cTn id="52"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8" grpId="0" animBg="1"/>
      <p:bldP spid="17" grpId="0" animBg="1"/>
      <p:bldP spid="19" grpId="0" animBg="1"/>
      <p:bldP spid="20" grpId="0" animBg="1"/>
      <p:bldP spid="21" grpId="0" animBg="1"/>
      <p:bldP spid="28" grpId="0" animBg="1"/>
      <p:bldP spid="33" grpId="0" animBg="1"/>
    </p:bldLst>
  </p:timing>
</p:sld>
</file>

<file path=ppt/slides/slide94.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Columna REPOSO"/>
          <p:cNvGrpSpPr/>
          <p:nvPr/>
        </p:nvGrpSpPr>
        <p:grpSpPr>
          <a:xfrm>
            <a:off x="365760" y="1051560"/>
            <a:ext cx="3657600" cy="4754880"/>
            <a:chOff x="365760" y="1051560"/>
            <a:chExt cx="3657600" cy="4754880"/>
          </a:xfrm>
        </p:grpSpPr>
        <p:grpSp>
          <p:nvGrpSpPr>
            <p:cNvPr id="5" name="Fibra REPOSO"/>
            <p:cNvGrpSpPr/>
            <p:nvPr/>
          </p:nvGrpSpPr>
          <p:grpSpPr>
            <a:xfrm>
              <a:off x="365760" y="1051560"/>
              <a:ext cx="3657600" cy="566928"/>
              <a:chOff x="365760" y="1051560"/>
              <a:chExt cx="3657600" cy="566928"/>
            </a:xfrm>
          </p:grpSpPr>
          <p:sp>
            <p:nvSpPr>
              <p:cNvPr id="6" name="Forma 5"/>
              <p:cNvSpPr/>
              <p:nvPr/>
            </p:nvSpPr>
            <p:spPr>
              <a:xfrm>
                <a:off x="365760" y="1051560"/>
                <a:ext cx="3657600" cy="566928"/>
              </a:xfrm>
              <a:prstGeom prst="roundRect">
                <a:avLst>
                  <a:gd name="adj" fmla="val 50000"/>
                </a:avLst>
              </a:prstGeom>
              <a:gradFill rotWithShape="1">
                <a:gsLst>
                  <a:gs pos="0">
                    <a:srgbClr val="6D231C"/>
                  </a:gs>
                  <a:gs pos="30000">
                    <a:srgbClr val="C97970"/>
                  </a:gs>
                  <a:gs pos="55000">
                    <a:srgbClr val="B03A2E"/>
                  </a:gs>
                  <a:gs pos="100000">
                    <a:srgbClr val="6D231C"/>
                  </a:gs>
                </a:gsLst>
                <a:lin ang="5400000" scaled="0"/>
              </a:gradFill>
              <a:ln w="15875" cap="rnd">
                <a:solidFill>
                  <a:srgbClr val="4F1A14"/>
                </a:solidFill>
                <a:round/>
              </a:ln>
              <a:effectLst>
                <a:outerShdw blurRad="101600" dist="50800" dir="2700000" algn="tl" rotWithShape="0">
                  <a:srgbClr val="000000">
                    <a:alpha val="30000"/>
                  </a:srgbClr>
                </a:outerShdw>
              </a:effectLst>
            </p:spPr>
          </p:sp>
          <p:sp>
            <p:nvSpPr>
              <p:cNvPr id="7" name="Forma 6"/>
              <p:cNvSpPr/>
              <p:nvPr/>
            </p:nvSpPr>
            <p:spPr>
              <a:xfrm>
                <a:off x="507492" y="1051560"/>
                <a:ext cx="3374136" cy="566928"/>
              </a:xfrm>
              <a:custGeom>
                <a:avLst/>
                <a:gdLst/>
                <a:ahLst/>
                <a:cxnLst/>
                <a:rect l="0" t="0" r="r" b="b"/>
                <a:pathLst>
                  <a:path w="1000" h="1000" fill="none">
                    <a:moveTo>
                      <a:pt x="11" y="80"/>
                    </a:moveTo>
                    <a:lnTo>
                      <a:pt x="11" y="920"/>
                    </a:lnTo>
                  </a:path>
                  <a:path w="1000" h="1000" fill="none">
                    <a:moveTo>
                      <a:pt x="34" y="80"/>
                    </a:moveTo>
                    <a:lnTo>
                      <a:pt x="34" y="920"/>
                    </a:lnTo>
                  </a:path>
                  <a:path w="1000" h="1000" fill="none">
                    <a:moveTo>
                      <a:pt x="56" y="80"/>
                    </a:moveTo>
                    <a:lnTo>
                      <a:pt x="56" y="920"/>
                    </a:lnTo>
                  </a:path>
                  <a:path w="1000" h="1000" fill="none">
                    <a:moveTo>
                      <a:pt x="79" y="80"/>
                    </a:moveTo>
                    <a:lnTo>
                      <a:pt x="79" y="920"/>
                    </a:lnTo>
                  </a:path>
                  <a:path w="1000" h="1000" fill="none">
                    <a:moveTo>
                      <a:pt x="102" y="80"/>
                    </a:moveTo>
                    <a:lnTo>
                      <a:pt x="102" y="920"/>
                    </a:lnTo>
                  </a:path>
                  <a:path w="1000" h="1000" fill="none">
                    <a:moveTo>
                      <a:pt x="125" y="80"/>
                    </a:moveTo>
                    <a:lnTo>
                      <a:pt x="125" y="920"/>
                    </a:lnTo>
                  </a:path>
                  <a:path w="1000" h="1000" fill="none">
                    <a:moveTo>
                      <a:pt x="147" y="80"/>
                    </a:moveTo>
                    <a:lnTo>
                      <a:pt x="147" y="920"/>
                    </a:lnTo>
                  </a:path>
                  <a:path w="1000" h="1000" fill="none">
                    <a:moveTo>
                      <a:pt x="170" y="80"/>
                    </a:moveTo>
                    <a:lnTo>
                      <a:pt x="170" y="920"/>
                    </a:lnTo>
                  </a:path>
                  <a:path w="1000" h="1000" fill="none">
                    <a:moveTo>
                      <a:pt x="193" y="80"/>
                    </a:moveTo>
                    <a:lnTo>
                      <a:pt x="193" y="920"/>
                    </a:lnTo>
                  </a:path>
                  <a:path w="1000" h="1000" fill="none">
                    <a:moveTo>
                      <a:pt x="215" y="80"/>
                    </a:moveTo>
                    <a:lnTo>
                      <a:pt x="215" y="920"/>
                    </a:lnTo>
                  </a:path>
                  <a:path w="1000" h="1000" fill="none">
                    <a:moveTo>
                      <a:pt x="238" y="80"/>
                    </a:moveTo>
                    <a:lnTo>
                      <a:pt x="238" y="920"/>
                    </a:lnTo>
                  </a:path>
                  <a:path w="1000" h="1000" fill="none">
                    <a:moveTo>
                      <a:pt x="261" y="80"/>
                    </a:moveTo>
                    <a:lnTo>
                      <a:pt x="261" y="920"/>
                    </a:lnTo>
                  </a:path>
                  <a:path w="1000" h="1000" fill="none">
                    <a:moveTo>
                      <a:pt x="284" y="80"/>
                    </a:moveTo>
                    <a:lnTo>
                      <a:pt x="284" y="920"/>
                    </a:lnTo>
                  </a:path>
                  <a:path w="1000" h="1000" fill="none">
                    <a:moveTo>
                      <a:pt x="306" y="80"/>
                    </a:moveTo>
                    <a:lnTo>
                      <a:pt x="306" y="920"/>
                    </a:lnTo>
                  </a:path>
                  <a:path w="1000" h="1000" fill="none">
                    <a:moveTo>
                      <a:pt x="329" y="80"/>
                    </a:moveTo>
                    <a:lnTo>
                      <a:pt x="329" y="920"/>
                    </a:lnTo>
                  </a:path>
                  <a:path w="1000" h="1000" fill="none">
                    <a:moveTo>
                      <a:pt x="352" y="80"/>
                    </a:moveTo>
                    <a:lnTo>
                      <a:pt x="352" y="920"/>
                    </a:lnTo>
                  </a:path>
                  <a:path w="1000" h="1000" fill="none">
                    <a:moveTo>
                      <a:pt x="375" y="80"/>
                    </a:moveTo>
                    <a:lnTo>
                      <a:pt x="375" y="920"/>
                    </a:lnTo>
                  </a:path>
                  <a:path w="1000" h="1000" fill="none">
                    <a:moveTo>
                      <a:pt x="397" y="80"/>
                    </a:moveTo>
                    <a:lnTo>
                      <a:pt x="397" y="920"/>
                    </a:lnTo>
                  </a:path>
                  <a:path w="1000" h="1000" fill="none">
                    <a:moveTo>
                      <a:pt x="420" y="80"/>
                    </a:moveTo>
                    <a:lnTo>
                      <a:pt x="420" y="920"/>
                    </a:lnTo>
                  </a:path>
                  <a:path w="1000" h="1000" fill="none">
                    <a:moveTo>
                      <a:pt x="443" y="80"/>
                    </a:moveTo>
                    <a:lnTo>
                      <a:pt x="443" y="920"/>
                    </a:lnTo>
                  </a:path>
                  <a:path w="1000" h="1000" fill="none">
                    <a:moveTo>
                      <a:pt x="465" y="80"/>
                    </a:moveTo>
                    <a:lnTo>
                      <a:pt x="465" y="920"/>
                    </a:lnTo>
                  </a:path>
                  <a:path w="1000" h="1000" fill="none">
                    <a:moveTo>
                      <a:pt x="488" y="80"/>
                    </a:moveTo>
                    <a:lnTo>
                      <a:pt x="488" y="920"/>
                    </a:lnTo>
                  </a:path>
                  <a:path w="1000" h="1000" fill="none">
                    <a:moveTo>
                      <a:pt x="511" y="80"/>
                    </a:moveTo>
                    <a:lnTo>
                      <a:pt x="511" y="920"/>
                    </a:lnTo>
                  </a:path>
                  <a:path w="1000" h="1000" fill="none">
                    <a:moveTo>
                      <a:pt x="534" y="80"/>
                    </a:moveTo>
                    <a:lnTo>
                      <a:pt x="534" y="920"/>
                    </a:lnTo>
                  </a:path>
                  <a:path w="1000" h="1000" fill="none">
                    <a:moveTo>
                      <a:pt x="556" y="80"/>
                    </a:moveTo>
                    <a:lnTo>
                      <a:pt x="556" y="920"/>
                    </a:lnTo>
                  </a:path>
                  <a:path w="1000" h="1000" fill="none">
                    <a:moveTo>
                      <a:pt x="579" y="80"/>
                    </a:moveTo>
                    <a:lnTo>
                      <a:pt x="579" y="920"/>
                    </a:lnTo>
                  </a:path>
                  <a:path w="1000" h="1000" fill="none">
                    <a:moveTo>
                      <a:pt x="602" y="80"/>
                    </a:moveTo>
                    <a:lnTo>
                      <a:pt x="602" y="920"/>
                    </a:lnTo>
                  </a:path>
                  <a:path w="1000" h="1000" fill="none">
                    <a:moveTo>
                      <a:pt x="625" y="80"/>
                    </a:moveTo>
                    <a:lnTo>
                      <a:pt x="625" y="920"/>
                    </a:lnTo>
                  </a:path>
                  <a:path w="1000" h="1000" fill="none">
                    <a:moveTo>
                      <a:pt x="647" y="80"/>
                    </a:moveTo>
                    <a:lnTo>
                      <a:pt x="647" y="920"/>
                    </a:lnTo>
                  </a:path>
                  <a:path w="1000" h="1000" fill="none">
                    <a:moveTo>
                      <a:pt x="670" y="80"/>
                    </a:moveTo>
                    <a:lnTo>
                      <a:pt x="670" y="920"/>
                    </a:lnTo>
                  </a:path>
                  <a:path w="1000" h="1000" fill="none">
                    <a:moveTo>
                      <a:pt x="693" y="80"/>
                    </a:moveTo>
                    <a:lnTo>
                      <a:pt x="693" y="920"/>
                    </a:lnTo>
                  </a:path>
                  <a:path w="1000" h="1000" fill="none">
                    <a:moveTo>
                      <a:pt x="715" y="80"/>
                    </a:moveTo>
                    <a:lnTo>
                      <a:pt x="715" y="920"/>
                    </a:lnTo>
                  </a:path>
                  <a:path w="1000" h="1000" fill="none">
                    <a:moveTo>
                      <a:pt x="738" y="80"/>
                    </a:moveTo>
                    <a:lnTo>
                      <a:pt x="738" y="920"/>
                    </a:lnTo>
                  </a:path>
                  <a:path w="1000" h="1000" fill="none">
                    <a:moveTo>
                      <a:pt x="761" y="80"/>
                    </a:moveTo>
                    <a:lnTo>
                      <a:pt x="761" y="920"/>
                    </a:lnTo>
                  </a:path>
                  <a:path w="1000" h="1000" fill="none">
                    <a:moveTo>
                      <a:pt x="784" y="80"/>
                    </a:moveTo>
                    <a:lnTo>
                      <a:pt x="784" y="920"/>
                    </a:lnTo>
                  </a:path>
                  <a:path w="1000" h="1000" fill="none">
                    <a:moveTo>
                      <a:pt x="806" y="80"/>
                    </a:moveTo>
                    <a:lnTo>
                      <a:pt x="806" y="920"/>
                    </a:lnTo>
                  </a:path>
                  <a:path w="1000" h="1000" fill="none">
                    <a:moveTo>
                      <a:pt x="829" y="80"/>
                    </a:moveTo>
                    <a:lnTo>
                      <a:pt x="829" y="920"/>
                    </a:lnTo>
                  </a:path>
                  <a:path w="1000" h="1000" fill="none">
                    <a:moveTo>
                      <a:pt x="852" y="80"/>
                    </a:moveTo>
                    <a:lnTo>
                      <a:pt x="852" y="920"/>
                    </a:lnTo>
                  </a:path>
                  <a:path w="1000" h="1000" fill="none">
                    <a:moveTo>
                      <a:pt x="875" y="80"/>
                    </a:moveTo>
                    <a:lnTo>
                      <a:pt x="875" y="920"/>
                    </a:lnTo>
                  </a:path>
                  <a:path w="1000" h="1000" fill="none">
                    <a:moveTo>
                      <a:pt x="897" y="80"/>
                    </a:moveTo>
                    <a:lnTo>
                      <a:pt x="897" y="920"/>
                    </a:lnTo>
                  </a:path>
                  <a:path w="1000" h="1000" fill="none">
                    <a:moveTo>
                      <a:pt x="920" y="80"/>
                    </a:moveTo>
                    <a:lnTo>
                      <a:pt x="920" y="920"/>
                    </a:lnTo>
                  </a:path>
                  <a:path w="1000" h="1000" fill="none">
                    <a:moveTo>
                      <a:pt x="943" y="80"/>
                    </a:moveTo>
                    <a:lnTo>
                      <a:pt x="943" y="920"/>
                    </a:lnTo>
                  </a:path>
                  <a:path w="1000" h="1000" fill="none">
                    <a:moveTo>
                      <a:pt x="965" y="80"/>
                    </a:moveTo>
                    <a:lnTo>
                      <a:pt x="965" y="920"/>
                    </a:lnTo>
                  </a:path>
                  <a:path w="1000" h="1000" fill="none">
                    <a:moveTo>
                      <a:pt x="988" y="80"/>
                    </a:moveTo>
                    <a:lnTo>
                      <a:pt x="988" y="920"/>
                    </a:lnTo>
                  </a:path>
                </a:pathLst>
              </a:custGeom>
              <a:noFill/>
              <a:ln w="12700" cap="rnd">
                <a:solidFill>
                  <a:srgbClr val="72251D"/>
                </a:solidFill>
                <a:round/>
              </a:ln>
            </p:spPr>
          </p:sp>
          <p:sp>
            <p:nvSpPr>
              <p:cNvPr id="8" name="Forma 7"/>
              <p:cNvSpPr/>
              <p:nvPr/>
            </p:nvSpPr>
            <p:spPr>
              <a:xfrm>
                <a:off x="109728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237744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347472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3785250" y="1074237"/>
                <a:ext cx="226771" cy="521574"/>
              </a:xfrm>
              <a:prstGeom prst="ellipse">
                <a:avLst/>
              </a:prstGeom>
              <a:gradFill rotWithShape="1">
                <a:gsLst>
                  <a:gs pos="0">
                    <a:srgbClr val="F9E79F"/>
                  </a:gs>
                  <a:gs pos="100000">
                    <a:srgbClr val="E59866"/>
                  </a:gs>
                </a:gsLst>
                <a:path path="circle">
                  <a:fillToRect l="50000" t="50000" r="50000" b="50000"/>
                </a:path>
              </a:gradFill>
              <a:ln w="12700" cap="rnd">
                <a:solidFill>
                  <a:srgbClr val="581D17"/>
                </a:solidFill>
                <a:round/>
              </a:ln>
            </p:spPr>
          </p:sp>
        </p:grpSp>
        <p:grpSp>
          <p:nvGrpSpPr>
            <p:cNvPr id="12" name="Recuadro REPOSO"/>
            <p:cNvGrpSpPr/>
            <p:nvPr/>
          </p:nvGrpSpPr>
          <p:grpSpPr>
            <a:xfrm>
              <a:off x="365760" y="1783080"/>
              <a:ext cx="3657600" cy="4023360"/>
              <a:chOff x="365760" y="1783080"/>
              <a:chExt cx="3657600" cy="4023360"/>
            </a:xfrm>
          </p:grpSpPr>
          <p:sp>
            <p:nvSpPr>
              <p:cNvPr id="13" name="Forma 12"/>
              <p:cNvSpPr/>
              <p:nvPr/>
            </p:nvSpPr>
            <p:spPr>
              <a:xfrm>
                <a:off x="365760" y="1965960"/>
                <a:ext cx="3657600" cy="38404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Mezcla de </a:t>
                </a:r>
                <a:r>
                  <a:rPr lang="es-AR" sz="1650" b="1" dirty="0">
                    <a:solidFill>
                      <a:srgbClr val="1E1E1E"/>
                    </a:solidFill>
                    <a:latin typeface="Bahnschrift"/>
                    <a:ea typeface="Bahnschrift"/>
                    <a:cs typeface="Bahnschrift"/>
                    <a:sym typeface="Bahnschrift"/>
                  </a:rPr>
                  <a:t>AG y glucosa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Con alta disponibilidad lipídica e insulina baja ↑ AG.</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ATP/citrato altos </a:t>
                </a:r>
                <a:r>
                  <a:rPr lang="es-AR" sz="1650" b="1" dirty="0">
                    <a:solidFill>
                      <a:srgbClr val="1E1E1E"/>
                    </a:solidFill>
                    <a:latin typeface="Bahnschrift"/>
                    <a:ea typeface="Bahnschrift"/>
                    <a:cs typeface="Bahnschrift"/>
                    <a:sym typeface="Bahnschrift"/>
                  </a:rPr>
                  <a:t>frenan PFK-1</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NADH y acetil-CoA ↑ → </a:t>
                </a:r>
                <a:r>
                  <a:rPr lang="es-AR" sz="1650" b="1" dirty="0">
                    <a:solidFill>
                      <a:srgbClr val="1E1E1E"/>
                    </a:solidFill>
                    <a:latin typeface="Bahnschrift"/>
                    <a:ea typeface="Bahnschrift"/>
                    <a:cs typeface="Bahnschrift"/>
                    <a:sym typeface="Bahnschrift"/>
                  </a:rPr>
                  <a:t>PDK</a:t>
                </a:r>
                <a:r>
                  <a:rPr lang="es-AR" sz="1650" dirty="0">
                    <a:solidFill>
                      <a:srgbClr val="1E1E1E"/>
                    </a:solidFill>
                    <a:latin typeface="Bahnschrift"/>
                    <a:ea typeface="Bahnschrift"/>
                    <a:cs typeface="Bahnschrift"/>
                    <a:sym typeface="Bahnschrift"/>
                  </a:rPr>
                  <a:t> inactiva PDH.</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CPT1</a:t>
                </a:r>
                <a:r>
                  <a:rPr lang="es-AR" sz="1650" dirty="0">
                    <a:solidFill>
                      <a:srgbClr val="1E1E1E"/>
                    </a:solidFill>
                    <a:latin typeface="Bahnschrift"/>
                    <a:ea typeface="Bahnschrift"/>
                    <a:cs typeface="Bahnschrift"/>
                    <a:sym typeface="Bahnschrift"/>
                  </a:rPr>
                  <a:t> permite AG si el malonil-CoA no la inhibe.</a:t>
                </a:r>
                <a:endParaRPr lang="es-AR" sz="1650" dirty="0">
                  <a:latin typeface="Bahnschrift"/>
                </a:endParaRPr>
              </a:p>
            </p:txBody>
          </p:sp>
          <p:sp>
            <p:nvSpPr>
              <p:cNvPr id="14" name="Forma 13"/>
              <p:cNvSpPr/>
              <p:nvPr/>
            </p:nvSpPr>
            <p:spPr>
              <a:xfrm>
                <a:off x="475488" y="1783080"/>
                <a:ext cx="90153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REPOSO</a:t>
                </a:r>
                <a:endParaRPr lang="es-AR" sz="1500" dirty="0">
                  <a:latin typeface="Bahnschrift SemiBold Condensed"/>
                </a:endParaRPr>
              </a:p>
            </p:txBody>
          </p:sp>
        </p:grpSp>
      </p:grpSp>
      <p:grpSp>
        <p:nvGrpSpPr>
          <p:cNvPr id="15" name="Columna AERÓBICO MODERADO"/>
          <p:cNvGrpSpPr/>
          <p:nvPr/>
        </p:nvGrpSpPr>
        <p:grpSpPr>
          <a:xfrm>
            <a:off x="4206240" y="1051560"/>
            <a:ext cx="3657600" cy="4754880"/>
            <a:chOff x="4206240" y="1051560"/>
            <a:chExt cx="3657600" cy="4754880"/>
          </a:xfrm>
        </p:grpSpPr>
        <p:grpSp>
          <p:nvGrpSpPr>
            <p:cNvPr id="16" name="Fibra AERÓBICO MODERADO"/>
            <p:cNvGrpSpPr/>
            <p:nvPr/>
          </p:nvGrpSpPr>
          <p:grpSpPr>
            <a:xfrm>
              <a:off x="4206240" y="1051560"/>
              <a:ext cx="3657600" cy="566928"/>
              <a:chOff x="4206240" y="1051560"/>
              <a:chExt cx="3657600" cy="566928"/>
            </a:xfrm>
          </p:grpSpPr>
          <p:sp>
            <p:nvSpPr>
              <p:cNvPr id="17" name="Forma 16"/>
              <p:cNvSpPr/>
              <p:nvPr/>
            </p:nvSpPr>
            <p:spPr>
              <a:xfrm>
                <a:off x="4206240" y="1051560"/>
                <a:ext cx="3657600" cy="566928"/>
              </a:xfrm>
              <a:prstGeom prst="roundRect">
                <a:avLst>
                  <a:gd name="adj" fmla="val 50000"/>
                </a:avLst>
              </a:prstGeom>
              <a:gradFill rotWithShape="1">
                <a:gsLst>
                  <a:gs pos="0">
                    <a:srgbClr val="77231A"/>
                  </a:gs>
                  <a:gs pos="30000">
                    <a:srgbClr val="D4786E"/>
                  </a:gs>
                  <a:gs pos="55000">
                    <a:srgbClr val="C0392B"/>
                  </a:gs>
                  <a:gs pos="100000">
                    <a:srgbClr val="77231A"/>
                  </a:gs>
                </a:gsLst>
                <a:lin ang="5400000" scaled="0"/>
              </a:gradFill>
              <a:ln w="15875" cap="rnd">
                <a:solidFill>
                  <a:srgbClr val="561913"/>
                </a:solidFill>
                <a:round/>
              </a:ln>
              <a:effectLst>
                <a:outerShdw blurRad="101600" dist="50800" dir="2700000" algn="tl" rotWithShape="0">
                  <a:srgbClr val="000000">
                    <a:alpha val="30000"/>
                  </a:srgbClr>
                </a:outerShdw>
              </a:effectLst>
            </p:spPr>
          </p:sp>
          <p:sp>
            <p:nvSpPr>
              <p:cNvPr id="18" name="Forma 17"/>
              <p:cNvSpPr/>
              <p:nvPr/>
            </p:nvSpPr>
            <p:spPr>
              <a:xfrm>
                <a:off x="4347972" y="1051560"/>
                <a:ext cx="3374136" cy="566928"/>
              </a:xfrm>
              <a:custGeom>
                <a:avLst/>
                <a:gdLst/>
                <a:ahLst/>
                <a:cxnLst/>
                <a:rect l="0" t="0" r="r" b="b"/>
                <a:pathLst>
                  <a:path w="1000" h="1000" fill="none">
                    <a:moveTo>
                      <a:pt x="11" y="80"/>
                    </a:moveTo>
                    <a:lnTo>
                      <a:pt x="11" y="920"/>
                    </a:lnTo>
                  </a:path>
                  <a:path w="1000" h="1000" fill="none">
                    <a:moveTo>
                      <a:pt x="34" y="80"/>
                    </a:moveTo>
                    <a:lnTo>
                      <a:pt x="34" y="920"/>
                    </a:lnTo>
                  </a:path>
                  <a:path w="1000" h="1000" fill="none">
                    <a:moveTo>
                      <a:pt x="56" y="80"/>
                    </a:moveTo>
                    <a:lnTo>
                      <a:pt x="56" y="920"/>
                    </a:lnTo>
                  </a:path>
                  <a:path w="1000" h="1000" fill="none">
                    <a:moveTo>
                      <a:pt x="79" y="80"/>
                    </a:moveTo>
                    <a:lnTo>
                      <a:pt x="79" y="920"/>
                    </a:lnTo>
                  </a:path>
                  <a:path w="1000" h="1000" fill="none">
                    <a:moveTo>
                      <a:pt x="102" y="80"/>
                    </a:moveTo>
                    <a:lnTo>
                      <a:pt x="102" y="920"/>
                    </a:lnTo>
                  </a:path>
                  <a:path w="1000" h="1000" fill="none">
                    <a:moveTo>
                      <a:pt x="125" y="80"/>
                    </a:moveTo>
                    <a:lnTo>
                      <a:pt x="125" y="920"/>
                    </a:lnTo>
                  </a:path>
                  <a:path w="1000" h="1000" fill="none">
                    <a:moveTo>
                      <a:pt x="147" y="80"/>
                    </a:moveTo>
                    <a:lnTo>
                      <a:pt x="147" y="920"/>
                    </a:lnTo>
                  </a:path>
                  <a:path w="1000" h="1000" fill="none">
                    <a:moveTo>
                      <a:pt x="170" y="80"/>
                    </a:moveTo>
                    <a:lnTo>
                      <a:pt x="170" y="920"/>
                    </a:lnTo>
                  </a:path>
                  <a:path w="1000" h="1000" fill="none">
                    <a:moveTo>
                      <a:pt x="193" y="80"/>
                    </a:moveTo>
                    <a:lnTo>
                      <a:pt x="193" y="920"/>
                    </a:lnTo>
                  </a:path>
                  <a:path w="1000" h="1000" fill="none">
                    <a:moveTo>
                      <a:pt x="215" y="80"/>
                    </a:moveTo>
                    <a:lnTo>
                      <a:pt x="215" y="920"/>
                    </a:lnTo>
                  </a:path>
                  <a:path w="1000" h="1000" fill="none">
                    <a:moveTo>
                      <a:pt x="238" y="80"/>
                    </a:moveTo>
                    <a:lnTo>
                      <a:pt x="238" y="920"/>
                    </a:lnTo>
                  </a:path>
                  <a:path w="1000" h="1000" fill="none">
                    <a:moveTo>
                      <a:pt x="261" y="80"/>
                    </a:moveTo>
                    <a:lnTo>
                      <a:pt x="261" y="920"/>
                    </a:lnTo>
                  </a:path>
                  <a:path w="1000" h="1000" fill="none">
                    <a:moveTo>
                      <a:pt x="284" y="80"/>
                    </a:moveTo>
                    <a:lnTo>
                      <a:pt x="284" y="920"/>
                    </a:lnTo>
                  </a:path>
                  <a:path w="1000" h="1000" fill="none">
                    <a:moveTo>
                      <a:pt x="306" y="80"/>
                    </a:moveTo>
                    <a:lnTo>
                      <a:pt x="306" y="920"/>
                    </a:lnTo>
                  </a:path>
                  <a:path w="1000" h="1000" fill="none">
                    <a:moveTo>
                      <a:pt x="329" y="80"/>
                    </a:moveTo>
                    <a:lnTo>
                      <a:pt x="329" y="920"/>
                    </a:lnTo>
                  </a:path>
                  <a:path w="1000" h="1000" fill="none">
                    <a:moveTo>
                      <a:pt x="352" y="80"/>
                    </a:moveTo>
                    <a:lnTo>
                      <a:pt x="352" y="920"/>
                    </a:lnTo>
                  </a:path>
                  <a:path w="1000" h="1000" fill="none">
                    <a:moveTo>
                      <a:pt x="375" y="80"/>
                    </a:moveTo>
                    <a:lnTo>
                      <a:pt x="375" y="920"/>
                    </a:lnTo>
                  </a:path>
                  <a:path w="1000" h="1000" fill="none">
                    <a:moveTo>
                      <a:pt x="397" y="80"/>
                    </a:moveTo>
                    <a:lnTo>
                      <a:pt x="397" y="920"/>
                    </a:lnTo>
                  </a:path>
                  <a:path w="1000" h="1000" fill="none">
                    <a:moveTo>
                      <a:pt x="420" y="80"/>
                    </a:moveTo>
                    <a:lnTo>
                      <a:pt x="420" y="920"/>
                    </a:lnTo>
                  </a:path>
                  <a:path w="1000" h="1000" fill="none">
                    <a:moveTo>
                      <a:pt x="443" y="80"/>
                    </a:moveTo>
                    <a:lnTo>
                      <a:pt x="443" y="920"/>
                    </a:lnTo>
                  </a:path>
                  <a:path w="1000" h="1000" fill="none">
                    <a:moveTo>
                      <a:pt x="465" y="80"/>
                    </a:moveTo>
                    <a:lnTo>
                      <a:pt x="465" y="920"/>
                    </a:lnTo>
                  </a:path>
                  <a:path w="1000" h="1000" fill="none">
                    <a:moveTo>
                      <a:pt x="488" y="80"/>
                    </a:moveTo>
                    <a:lnTo>
                      <a:pt x="488" y="920"/>
                    </a:lnTo>
                  </a:path>
                  <a:path w="1000" h="1000" fill="none">
                    <a:moveTo>
                      <a:pt x="511" y="80"/>
                    </a:moveTo>
                    <a:lnTo>
                      <a:pt x="511" y="920"/>
                    </a:lnTo>
                  </a:path>
                  <a:path w="1000" h="1000" fill="none">
                    <a:moveTo>
                      <a:pt x="534" y="80"/>
                    </a:moveTo>
                    <a:lnTo>
                      <a:pt x="534" y="920"/>
                    </a:lnTo>
                  </a:path>
                  <a:path w="1000" h="1000" fill="none">
                    <a:moveTo>
                      <a:pt x="556" y="80"/>
                    </a:moveTo>
                    <a:lnTo>
                      <a:pt x="556" y="920"/>
                    </a:lnTo>
                  </a:path>
                  <a:path w="1000" h="1000" fill="none">
                    <a:moveTo>
                      <a:pt x="579" y="80"/>
                    </a:moveTo>
                    <a:lnTo>
                      <a:pt x="579" y="920"/>
                    </a:lnTo>
                  </a:path>
                  <a:path w="1000" h="1000" fill="none">
                    <a:moveTo>
                      <a:pt x="602" y="80"/>
                    </a:moveTo>
                    <a:lnTo>
                      <a:pt x="602" y="920"/>
                    </a:lnTo>
                  </a:path>
                  <a:path w="1000" h="1000" fill="none">
                    <a:moveTo>
                      <a:pt x="625" y="80"/>
                    </a:moveTo>
                    <a:lnTo>
                      <a:pt x="625" y="920"/>
                    </a:lnTo>
                  </a:path>
                  <a:path w="1000" h="1000" fill="none">
                    <a:moveTo>
                      <a:pt x="647" y="80"/>
                    </a:moveTo>
                    <a:lnTo>
                      <a:pt x="647" y="920"/>
                    </a:lnTo>
                  </a:path>
                  <a:path w="1000" h="1000" fill="none">
                    <a:moveTo>
                      <a:pt x="670" y="80"/>
                    </a:moveTo>
                    <a:lnTo>
                      <a:pt x="670" y="920"/>
                    </a:lnTo>
                  </a:path>
                  <a:path w="1000" h="1000" fill="none">
                    <a:moveTo>
                      <a:pt x="693" y="80"/>
                    </a:moveTo>
                    <a:lnTo>
                      <a:pt x="693" y="920"/>
                    </a:lnTo>
                  </a:path>
                  <a:path w="1000" h="1000" fill="none">
                    <a:moveTo>
                      <a:pt x="715" y="80"/>
                    </a:moveTo>
                    <a:lnTo>
                      <a:pt x="715" y="920"/>
                    </a:lnTo>
                  </a:path>
                  <a:path w="1000" h="1000" fill="none">
                    <a:moveTo>
                      <a:pt x="738" y="80"/>
                    </a:moveTo>
                    <a:lnTo>
                      <a:pt x="738" y="920"/>
                    </a:lnTo>
                  </a:path>
                  <a:path w="1000" h="1000" fill="none">
                    <a:moveTo>
                      <a:pt x="761" y="80"/>
                    </a:moveTo>
                    <a:lnTo>
                      <a:pt x="761" y="920"/>
                    </a:lnTo>
                  </a:path>
                  <a:path w="1000" h="1000" fill="none">
                    <a:moveTo>
                      <a:pt x="784" y="80"/>
                    </a:moveTo>
                    <a:lnTo>
                      <a:pt x="784" y="920"/>
                    </a:lnTo>
                  </a:path>
                  <a:path w="1000" h="1000" fill="none">
                    <a:moveTo>
                      <a:pt x="806" y="80"/>
                    </a:moveTo>
                    <a:lnTo>
                      <a:pt x="806" y="920"/>
                    </a:lnTo>
                  </a:path>
                  <a:path w="1000" h="1000" fill="none">
                    <a:moveTo>
                      <a:pt x="829" y="80"/>
                    </a:moveTo>
                    <a:lnTo>
                      <a:pt x="829" y="920"/>
                    </a:lnTo>
                  </a:path>
                  <a:path w="1000" h="1000" fill="none">
                    <a:moveTo>
                      <a:pt x="852" y="80"/>
                    </a:moveTo>
                    <a:lnTo>
                      <a:pt x="852" y="920"/>
                    </a:lnTo>
                  </a:path>
                  <a:path w="1000" h="1000" fill="none">
                    <a:moveTo>
                      <a:pt x="875" y="80"/>
                    </a:moveTo>
                    <a:lnTo>
                      <a:pt x="875" y="920"/>
                    </a:lnTo>
                  </a:path>
                  <a:path w="1000" h="1000" fill="none">
                    <a:moveTo>
                      <a:pt x="897" y="80"/>
                    </a:moveTo>
                    <a:lnTo>
                      <a:pt x="897" y="920"/>
                    </a:lnTo>
                  </a:path>
                  <a:path w="1000" h="1000" fill="none">
                    <a:moveTo>
                      <a:pt x="920" y="80"/>
                    </a:moveTo>
                    <a:lnTo>
                      <a:pt x="920" y="920"/>
                    </a:lnTo>
                  </a:path>
                  <a:path w="1000" h="1000" fill="none">
                    <a:moveTo>
                      <a:pt x="943" y="80"/>
                    </a:moveTo>
                    <a:lnTo>
                      <a:pt x="943" y="920"/>
                    </a:lnTo>
                  </a:path>
                  <a:path w="1000" h="1000" fill="none">
                    <a:moveTo>
                      <a:pt x="965" y="80"/>
                    </a:moveTo>
                    <a:lnTo>
                      <a:pt x="965" y="920"/>
                    </a:lnTo>
                  </a:path>
                  <a:path w="1000" h="1000" fill="none">
                    <a:moveTo>
                      <a:pt x="988" y="80"/>
                    </a:moveTo>
                    <a:lnTo>
                      <a:pt x="988" y="920"/>
                    </a:lnTo>
                  </a:path>
                </a:pathLst>
              </a:custGeom>
              <a:noFill/>
              <a:ln w="12700" cap="rnd">
                <a:solidFill>
                  <a:srgbClr val="7C251B"/>
                </a:solidFill>
                <a:round/>
              </a:ln>
            </p:spPr>
          </p:sp>
          <p:sp>
            <p:nvSpPr>
              <p:cNvPr id="19" name="Forma 18"/>
              <p:cNvSpPr/>
              <p:nvPr/>
            </p:nvSpPr>
            <p:spPr>
              <a:xfrm>
                <a:off x="493776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19"/>
              <p:cNvSpPr/>
              <p:nvPr/>
            </p:nvSpPr>
            <p:spPr>
              <a:xfrm>
                <a:off x="621792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0"/>
              <p:cNvSpPr/>
              <p:nvPr/>
            </p:nvSpPr>
            <p:spPr>
              <a:xfrm>
                <a:off x="731520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2" name="Forma 21"/>
              <p:cNvSpPr/>
              <p:nvPr/>
            </p:nvSpPr>
            <p:spPr>
              <a:xfrm>
                <a:off x="7625730" y="1074237"/>
                <a:ext cx="226771" cy="521574"/>
              </a:xfrm>
              <a:prstGeom prst="ellipse">
                <a:avLst/>
              </a:prstGeom>
              <a:gradFill rotWithShape="1">
                <a:gsLst>
                  <a:gs pos="0">
                    <a:srgbClr val="F9E79F"/>
                  </a:gs>
                  <a:gs pos="100000">
                    <a:srgbClr val="E59866"/>
                  </a:gs>
                </a:gsLst>
                <a:path path="circle">
                  <a:fillToRect l="50000" t="50000" r="50000" b="50000"/>
                </a:path>
              </a:gradFill>
              <a:ln w="12700" cap="rnd">
                <a:solidFill>
                  <a:srgbClr val="601C15"/>
                </a:solidFill>
                <a:round/>
              </a:ln>
            </p:spPr>
          </p:sp>
        </p:grpSp>
        <p:grpSp>
          <p:nvGrpSpPr>
            <p:cNvPr id="23" name="Recuadro AERÓBICO MODERADO"/>
            <p:cNvGrpSpPr/>
            <p:nvPr/>
          </p:nvGrpSpPr>
          <p:grpSpPr>
            <a:xfrm>
              <a:off x="4206240" y="1783080"/>
              <a:ext cx="3657600" cy="4023360"/>
              <a:chOff x="4206240" y="1783080"/>
              <a:chExt cx="3657600" cy="4023360"/>
            </a:xfrm>
          </p:grpSpPr>
          <p:sp>
            <p:nvSpPr>
              <p:cNvPr id="24" name="Forma 23"/>
              <p:cNvSpPr/>
              <p:nvPr/>
            </p:nvSpPr>
            <p:spPr>
              <a:xfrm>
                <a:off x="4206240" y="1965960"/>
                <a:ext cx="3657600" cy="38404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ATP oxidativo: capilares, mitocondrias, </a:t>
                </a:r>
                <a:r>
                  <a:rPr lang="es-AR" sz="1650" b="1" dirty="0">
                    <a:solidFill>
                      <a:srgbClr val="1E1E1E"/>
                    </a:solidFill>
                    <a:latin typeface="Bahnschrift"/>
                    <a:ea typeface="Bahnschrift"/>
                    <a:cs typeface="Bahnschrift"/>
                    <a:sym typeface="Bahnschrift"/>
                  </a:rPr>
                  <a:t>fibras tipo I</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Contracción: ↑ AMP/ADP, </a:t>
                </a:r>
                <a:r>
                  <a:rPr lang="es-AR" sz="1650" b="1" dirty="0">
                    <a:solidFill>
                      <a:srgbClr val="1E1E1E"/>
                    </a:solidFill>
                    <a:latin typeface="Bahnschrift"/>
                    <a:ea typeface="Bahnschrift"/>
                    <a:cs typeface="Bahnschrift"/>
                    <a:sym typeface="Bahnschrift"/>
                  </a:rPr>
                  <a:t>Ca</a:t>
                </a:r>
                <a:r>
                  <a:rPr lang="es-AR" sz="1650" b="1" baseline="30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AMPK</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PFK-1 ↑ si AMP/ADP alto; </a:t>
                </a:r>
                <a:r>
                  <a:rPr lang="es-AR" sz="1650" b="1" dirty="0">
                    <a:solidFill>
                      <a:srgbClr val="1E1E1E"/>
                    </a:solidFill>
                    <a:latin typeface="Bahnschrift"/>
                    <a:ea typeface="Bahnschrift"/>
                    <a:cs typeface="Bahnschrift"/>
                    <a:sym typeface="Bahnschrift"/>
                  </a:rPr>
                  <a:t>PDP</a:t>
                </a:r>
                <a:r>
                  <a:rPr lang="es-AR" sz="1650" dirty="0">
                    <a:solidFill>
                      <a:srgbClr val="1E1E1E"/>
                    </a:solidFill>
                    <a:latin typeface="Bahnschrift"/>
                    <a:ea typeface="Bahnschrift"/>
                    <a:cs typeface="Bahnschrift"/>
                    <a:sym typeface="Bahnschrift"/>
                  </a:rPr>
                  <a:t> (Ca</a:t>
                </a:r>
                <a:r>
                  <a:rPr lang="es-AR" sz="1650" baseline="30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activa PDH.</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ACC2 inhibida → </a:t>
                </a:r>
                <a:r>
                  <a:rPr lang="es-AR" sz="1650" b="1" dirty="0">
                    <a:solidFill>
                      <a:srgbClr val="1E1E1E"/>
                    </a:solidFill>
                    <a:latin typeface="Bahnschrift"/>
                    <a:ea typeface="Bahnschrift"/>
                    <a:cs typeface="Bahnschrift"/>
                    <a:sym typeface="Bahnschrift"/>
                  </a:rPr>
                  <a:t>CPT1 liberada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Nunca es «solo grasas».</a:t>
                </a:r>
                <a:endParaRPr lang="es-AR" sz="1650" dirty="0">
                  <a:latin typeface="Bahnschrift"/>
                </a:endParaRPr>
              </a:p>
            </p:txBody>
          </p:sp>
          <p:sp>
            <p:nvSpPr>
              <p:cNvPr id="25" name="Forma 24"/>
              <p:cNvSpPr/>
              <p:nvPr/>
            </p:nvSpPr>
            <p:spPr>
              <a:xfrm>
                <a:off x="4315968" y="1783080"/>
                <a:ext cx="189402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AERÓBICO MODERADO</a:t>
                </a:r>
                <a:endParaRPr lang="es-AR" sz="1500" dirty="0">
                  <a:latin typeface="Bahnschrift SemiBold Condensed"/>
                </a:endParaRPr>
              </a:p>
            </p:txBody>
          </p:sp>
        </p:grpSp>
      </p:grpSp>
      <p:grpSp>
        <p:nvGrpSpPr>
          <p:cNvPr id="26" name="Columna MUY INTENSO"/>
          <p:cNvGrpSpPr/>
          <p:nvPr/>
        </p:nvGrpSpPr>
        <p:grpSpPr>
          <a:xfrm>
            <a:off x="8046720" y="1051560"/>
            <a:ext cx="3657600" cy="4754880"/>
            <a:chOff x="8046720" y="1051560"/>
            <a:chExt cx="3657600" cy="4754880"/>
          </a:xfrm>
        </p:grpSpPr>
        <p:grpSp>
          <p:nvGrpSpPr>
            <p:cNvPr id="27" name="Fibra MUY INTENSO"/>
            <p:cNvGrpSpPr/>
            <p:nvPr/>
          </p:nvGrpSpPr>
          <p:grpSpPr>
            <a:xfrm>
              <a:off x="8046720" y="1051560"/>
              <a:ext cx="3657600" cy="566928"/>
              <a:chOff x="8046720" y="1051560"/>
              <a:chExt cx="3657600" cy="566928"/>
            </a:xfrm>
          </p:grpSpPr>
          <p:sp>
            <p:nvSpPr>
              <p:cNvPr id="28" name="Forma 27"/>
              <p:cNvSpPr/>
              <p:nvPr/>
            </p:nvSpPr>
            <p:spPr>
              <a:xfrm>
                <a:off x="8046720" y="1051560"/>
                <a:ext cx="3657600" cy="566928"/>
              </a:xfrm>
              <a:prstGeom prst="roundRect">
                <a:avLst>
                  <a:gd name="adj" fmla="val 50000"/>
                </a:avLst>
              </a:prstGeom>
              <a:gradFill rotWithShape="1">
                <a:gsLst>
                  <a:gs pos="0">
                    <a:srgbClr val="8F2F25"/>
                  </a:gs>
                  <a:gs pos="30000">
                    <a:srgbClr val="EE857A"/>
                  </a:gs>
                  <a:gs pos="55000">
                    <a:srgbClr val="E74C3C"/>
                  </a:gs>
                  <a:gs pos="100000">
                    <a:srgbClr val="8F2F25"/>
                  </a:gs>
                </a:gsLst>
                <a:lin ang="5400000" scaled="0"/>
              </a:gradFill>
              <a:ln w="15875" cap="rnd">
                <a:solidFill>
                  <a:srgbClr val="67221A"/>
                </a:solidFill>
                <a:round/>
              </a:ln>
              <a:effectLst>
                <a:outerShdw blurRad="101600" dist="50800" dir="2700000" algn="tl" rotWithShape="0">
                  <a:srgbClr val="000000">
                    <a:alpha val="30000"/>
                  </a:srgbClr>
                </a:outerShdw>
              </a:effectLst>
            </p:spPr>
          </p:sp>
          <p:sp>
            <p:nvSpPr>
              <p:cNvPr id="29" name="Forma 28"/>
              <p:cNvSpPr/>
              <p:nvPr/>
            </p:nvSpPr>
            <p:spPr>
              <a:xfrm>
                <a:off x="8188452" y="1051560"/>
                <a:ext cx="3374136" cy="566928"/>
              </a:xfrm>
              <a:custGeom>
                <a:avLst/>
                <a:gdLst/>
                <a:ahLst/>
                <a:cxnLst/>
                <a:rect l="0" t="0" r="r" b="b"/>
                <a:pathLst>
                  <a:path w="1000" h="1000" fill="none">
                    <a:moveTo>
                      <a:pt x="11" y="80"/>
                    </a:moveTo>
                    <a:lnTo>
                      <a:pt x="11" y="920"/>
                    </a:lnTo>
                  </a:path>
                  <a:path w="1000" h="1000" fill="none">
                    <a:moveTo>
                      <a:pt x="34" y="80"/>
                    </a:moveTo>
                    <a:lnTo>
                      <a:pt x="34" y="920"/>
                    </a:lnTo>
                  </a:path>
                  <a:path w="1000" h="1000" fill="none">
                    <a:moveTo>
                      <a:pt x="56" y="80"/>
                    </a:moveTo>
                    <a:lnTo>
                      <a:pt x="56" y="920"/>
                    </a:lnTo>
                  </a:path>
                  <a:path w="1000" h="1000" fill="none">
                    <a:moveTo>
                      <a:pt x="79" y="80"/>
                    </a:moveTo>
                    <a:lnTo>
                      <a:pt x="79" y="920"/>
                    </a:lnTo>
                  </a:path>
                  <a:path w="1000" h="1000" fill="none">
                    <a:moveTo>
                      <a:pt x="102" y="80"/>
                    </a:moveTo>
                    <a:lnTo>
                      <a:pt x="102" y="920"/>
                    </a:lnTo>
                  </a:path>
                  <a:path w="1000" h="1000" fill="none">
                    <a:moveTo>
                      <a:pt x="125" y="80"/>
                    </a:moveTo>
                    <a:lnTo>
                      <a:pt x="125" y="920"/>
                    </a:lnTo>
                  </a:path>
                  <a:path w="1000" h="1000" fill="none">
                    <a:moveTo>
                      <a:pt x="147" y="80"/>
                    </a:moveTo>
                    <a:lnTo>
                      <a:pt x="147" y="920"/>
                    </a:lnTo>
                  </a:path>
                  <a:path w="1000" h="1000" fill="none">
                    <a:moveTo>
                      <a:pt x="170" y="80"/>
                    </a:moveTo>
                    <a:lnTo>
                      <a:pt x="170" y="920"/>
                    </a:lnTo>
                  </a:path>
                  <a:path w="1000" h="1000" fill="none">
                    <a:moveTo>
                      <a:pt x="193" y="80"/>
                    </a:moveTo>
                    <a:lnTo>
                      <a:pt x="193" y="920"/>
                    </a:lnTo>
                  </a:path>
                  <a:path w="1000" h="1000" fill="none">
                    <a:moveTo>
                      <a:pt x="215" y="80"/>
                    </a:moveTo>
                    <a:lnTo>
                      <a:pt x="215" y="920"/>
                    </a:lnTo>
                  </a:path>
                  <a:path w="1000" h="1000" fill="none">
                    <a:moveTo>
                      <a:pt x="238" y="80"/>
                    </a:moveTo>
                    <a:lnTo>
                      <a:pt x="238" y="920"/>
                    </a:lnTo>
                  </a:path>
                  <a:path w="1000" h="1000" fill="none">
                    <a:moveTo>
                      <a:pt x="261" y="80"/>
                    </a:moveTo>
                    <a:lnTo>
                      <a:pt x="261" y="920"/>
                    </a:lnTo>
                  </a:path>
                  <a:path w="1000" h="1000" fill="none">
                    <a:moveTo>
                      <a:pt x="284" y="80"/>
                    </a:moveTo>
                    <a:lnTo>
                      <a:pt x="284" y="920"/>
                    </a:lnTo>
                  </a:path>
                  <a:path w="1000" h="1000" fill="none">
                    <a:moveTo>
                      <a:pt x="306" y="80"/>
                    </a:moveTo>
                    <a:lnTo>
                      <a:pt x="306" y="920"/>
                    </a:lnTo>
                  </a:path>
                  <a:path w="1000" h="1000" fill="none">
                    <a:moveTo>
                      <a:pt x="329" y="80"/>
                    </a:moveTo>
                    <a:lnTo>
                      <a:pt x="329" y="920"/>
                    </a:lnTo>
                  </a:path>
                  <a:path w="1000" h="1000" fill="none">
                    <a:moveTo>
                      <a:pt x="352" y="80"/>
                    </a:moveTo>
                    <a:lnTo>
                      <a:pt x="352" y="920"/>
                    </a:lnTo>
                  </a:path>
                  <a:path w="1000" h="1000" fill="none">
                    <a:moveTo>
                      <a:pt x="375" y="80"/>
                    </a:moveTo>
                    <a:lnTo>
                      <a:pt x="375" y="920"/>
                    </a:lnTo>
                  </a:path>
                  <a:path w="1000" h="1000" fill="none">
                    <a:moveTo>
                      <a:pt x="397" y="80"/>
                    </a:moveTo>
                    <a:lnTo>
                      <a:pt x="397" y="920"/>
                    </a:lnTo>
                  </a:path>
                  <a:path w="1000" h="1000" fill="none">
                    <a:moveTo>
                      <a:pt x="420" y="80"/>
                    </a:moveTo>
                    <a:lnTo>
                      <a:pt x="420" y="920"/>
                    </a:lnTo>
                  </a:path>
                  <a:path w="1000" h="1000" fill="none">
                    <a:moveTo>
                      <a:pt x="443" y="80"/>
                    </a:moveTo>
                    <a:lnTo>
                      <a:pt x="443" y="920"/>
                    </a:lnTo>
                  </a:path>
                  <a:path w="1000" h="1000" fill="none">
                    <a:moveTo>
                      <a:pt x="465" y="80"/>
                    </a:moveTo>
                    <a:lnTo>
                      <a:pt x="465" y="920"/>
                    </a:lnTo>
                  </a:path>
                  <a:path w="1000" h="1000" fill="none">
                    <a:moveTo>
                      <a:pt x="488" y="80"/>
                    </a:moveTo>
                    <a:lnTo>
                      <a:pt x="488" y="920"/>
                    </a:lnTo>
                  </a:path>
                  <a:path w="1000" h="1000" fill="none">
                    <a:moveTo>
                      <a:pt x="511" y="80"/>
                    </a:moveTo>
                    <a:lnTo>
                      <a:pt x="511" y="920"/>
                    </a:lnTo>
                  </a:path>
                  <a:path w="1000" h="1000" fill="none">
                    <a:moveTo>
                      <a:pt x="534" y="80"/>
                    </a:moveTo>
                    <a:lnTo>
                      <a:pt x="534" y="920"/>
                    </a:lnTo>
                  </a:path>
                  <a:path w="1000" h="1000" fill="none">
                    <a:moveTo>
                      <a:pt x="556" y="80"/>
                    </a:moveTo>
                    <a:lnTo>
                      <a:pt x="556" y="920"/>
                    </a:lnTo>
                  </a:path>
                  <a:path w="1000" h="1000" fill="none">
                    <a:moveTo>
                      <a:pt x="579" y="80"/>
                    </a:moveTo>
                    <a:lnTo>
                      <a:pt x="579" y="920"/>
                    </a:lnTo>
                  </a:path>
                  <a:path w="1000" h="1000" fill="none">
                    <a:moveTo>
                      <a:pt x="602" y="80"/>
                    </a:moveTo>
                    <a:lnTo>
                      <a:pt x="602" y="920"/>
                    </a:lnTo>
                  </a:path>
                  <a:path w="1000" h="1000" fill="none">
                    <a:moveTo>
                      <a:pt x="625" y="80"/>
                    </a:moveTo>
                    <a:lnTo>
                      <a:pt x="625" y="920"/>
                    </a:lnTo>
                  </a:path>
                  <a:path w="1000" h="1000" fill="none">
                    <a:moveTo>
                      <a:pt x="647" y="80"/>
                    </a:moveTo>
                    <a:lnTo>
                      <a:pt x="647" y="920"/>
                    </a:lnTo>
                  </a:path>
                  <a:path w="1000" h="1000" fill="none">
                    <a:moveTo>
                      <a:pt x="670" y="80"/>
                    </a:moveTo>
                    <a:lnTo>
                      <a:pt x="670" y="920"/>
                    </a:lnTo>
                  </a:path>
                  <a:path w="1000" h="1000" fill="none">
                    <a:moveTo>
                      <a:pt x="693" y="80"/>
                    </a:moveTo>
                    <a:lnTo>
                      <a:pt x="693" y="920"/>
                    </a:lnTo>
                  </a:path>
                  <a:path w="1000" h="1000" fill="none">
                    <a:moveTo>
                      <a:pt x="715" y="80"/>
                    </a:moveTo>
                    <a:lnTo>
                      <a:pt x="715" y="920"/>
                    </a:lnTo>
                  </a:path>
                  <a:path w="1000" h="1000" fill="none">
                    <a:moveTo>
                      <a:pt x="738" y="80"/>
                    </a:moveTo>
                    <a:lnTo>
                      <a:pt x="738" y="920"/>
                    </a:lnTo>
                  </a:path>
                  <a:path w="1000" h="1000" fill="none">
                    <a:moveTo>
                      <a:pt x="761" y="80"/>
                    </a:moveTo>
                    <a:lnTo>
                      <a:pt x="761" y="920"/>
                    </a:lnTo>
                  </a:path>
                  <a:path w="1000" h="1000" fill="none">
                    <a:moveTo>
                      <a:pt x="784" y="80"/>
                    </a:moveTo>
                    <a:lnTo>
                      <a:pt x="784" y="920"/>
                    </a:lnTo>
                  </a:path>
                  <a:path w="1000" h="1000" fill="none">
                    <a:moveTo>
                      <a:pt x="806" y="80"/>
                    </a:moveTo>
                    <a:lnTo>
                      <a:pt x="806" y="920"/>
                    </a:lnTo>
                  </a:path>
                  <a:path w="1000" h="1000" fill="none">
                    <a:moveTo>
                      <a:pt x="829" y="80"/>
                    </a:moveTo>
                    <a:lnTo>
                      <a:pt x="829" y="920"/>
                    </a:lnTo>
                  </a:path>
                  <a:path w="1000" h="1000" fill="none">
                    <a:moveTo>
                      <a:pt x="852" y="80"/>
                    </a:moveTo>
                    <a:lnTo>
                      <a:pt x="852" y="920"/>
                    </a:lnTo>
                  </a:path>
                  <a:path w="1000" h="1000" fill="none">
                    <a:moveTo>
                      <a:pt x="875" y="80"/>
                    </a:moveTo>
                    <a:lnTo>
                      <a:pt x="875" y="920"/>
                    </a:lnTo>
                  </a:path>
                  <a:path w="1000" h="1000" fill="none">
                    <a:moveTo>
                      <a:pt x="897" y="80"/>
                    </a:moveTo>
                    <a:lnTo>
                      <a:pt x="897" y="920"/>
                    </a:lnTo>
                  </a:path>
                  <a:path w="1000" h="1000" fill="none">
                    <a:moveTo>
                      <a:pt x="920" y="80"/>
                    </a:moveTo>
                    <a:lnTo>
                      <a:pt x="920" y="920"/>
                    </a:lnTo>
                  </a:path>
                  <a:path w="1000" h="1000" fill="none">
                    <a:moveTo>
                      <a:pt x="943" y="80"/>
                    </a:moveTo>
                    <a:lnTo>
                      <a:pt x="943" y="920"/>
                    </a:lnTo>
                  </a:path>
                  <a:path w="1000" h="1000" fill="none">
                    <a:moveTo>
                      <a:pt x="965" y="80"/>
                    </a:moveTo>
                    <a:lnTo>
                      <a:pt x="965" y="920"/>
                    </a:lnTo>
                  </a:path>
                  <a:path w="1000" h="1000" fill="none">
                    <a:moveTo>
                      <a:pt x="988" y="80"/>
                    </a:moveTo>
                    <a:lnTo>
                      <a:pt x="988" y="920"/>
                    </a:lnTo>
                  </a:path>
                </a:pathLst>
              </a:custGeom>
              <a:noFill/>
              <a:ln w="12700" cap="rnd">
                <a:solidFill>
                  <a:srgbClr val="963127"/>
                </a:solidFill>
                <a:round/>
              </a:ln>
            </p:spPr>
          </p:sp>
          <p:sp>
            <p:nvSpPr>
              <p:cNvPr id="30" name="Forma 29"/>
              <p:cNvSpPr/>
              <p:nvPr/>
            </p:nvSpPr>
            <p:spPr>
              <a:xfrm>
                <a:off x="877824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1005840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11155680" y="1074237"/>
                <a:ext cx="283464" cy="10204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3" name="Forma 32"/>
              <p:cNvSpPr/>
              <p:nvPr/>
            </p:nvSpPr>
            <p:spPr>
              <a:xfrm>
                <a:off x="11466210" y="1074237"/>
                <a:ext cx="226771" cy="521574"/>
              </a:xfrm>
              <a:prstGeom prst="ellipse">
                <a:avLst/>
              </a:prstGeom>
              <a:gradFill rotWithShape="1">
                <a:gsLst>
                  <a:gs pos="0">
                    <a:srgbClr val="F9E79F"/>
                  </a:gs>
                  <a:gs pos="100000">
                    <a:srgbClr val="E59866"/>
                  </a:gs>
                </a:gsLst>
                <a:path path="circle">
                  <a:fillToRect l="50000" t="50000" r="50000" b="50000"/>
                </a:path>
              </a:gradFill>
              <a:ln w="12700" cap="rnd">
                <a:solidFill>
                  <a:srgbClr val="73261E"/>
                </a:solidFill>
                <a:round/>
              </a:ln>
            </p:spPr>
          </p:sp>
        </p:grpSp>
        <p:grpSp>
          <p:nvGrpSpPr>
            <p:cNvPr id="34" name="Recuadro MUY INTENSO"/>
            <p:cNvGrpSpPr/>
            <p:nvPr/>
          </p:nvGrpSpPr>
          <p:grpSpPr>
            <a:xfrm>
              <a:off x="8046720" y="1783080"/>
              <a:ext cx="3657600" cy="4023360"/>
              <a:chOff x="8046720" y="1783080"/>
              <a:chExt cx="3657600" cy="4023360"/>
            </a:xfrm>
          </p:grpSpPr>
          <p:sp>
            <p:nvSpPr>
              <p:cNvPr id="35" name="Forma 34"/>
              <p:cNvSpPr/>
              <p:nvPr/>
            </p:nvSpPr>
            <p:spPr>
              <a:xfrm>
                <a:off x="8046720" y="1965960"/>
                <a:ext cx="3657600" cy="38404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demanda supera la velocidad oxidativa local.</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Fosfocreatina</a:t>
                </a:r>
                <a:r>
                  <a:rPr lang="es-AR" sz="1650" dirty="0">
                    <a:solidFill>
                      <a:srgbClr val="1E1E1E"/>
                    </a:solidFill>
                    <a:latin typeface="Bahnschrift"/>
                    <a:ea typeface="Bahnschrift"/>
                    <a:cs typeface="Bahnschrift"/>
                    <a:sym typeface="Bahnschrift"/>
                  </a:rPr>
                  <a:t> (creatina cinasa): ATP inmediato.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Glucogenólisis y glucólisis aceleradas.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Piruvato → </a:t>
                </a:r>
                <a:r>
                  <a:rPr lang="es-AR" sz="1650" b="1" dirty="0">
                    <a:solidFill>
                      <a:srgbClr val="1E1E1E"/>
                    </a:solidFill>
                    <a:latin typeface="Bahnschrift"/>
                    <a:ea typeface="Bahnschrift"/>
                    <a:cs typeface="Bahnschrift"/>
                    <a:sym typeface="Bahnschrift"/>
                  </a:rPr>
                  <a:t>lactato</a:t>
                </a:r>
                <a:r>
                  <a:rPr lang="es-AR" sz="1650" dirty="0">
                    <a:solidFill>
                      <a:srgbClr val="1E1E1E"/>
                    </a:solidFill>
                    <a:latin typeface="Bahnschrift"/>
                    <a:ea typeface="Bahnschrift"/>
                    <a:cs typeface="Bahnschrift"/>
                    <a:sym typeface="Bahnschrift"/>
                  </a:rPr>
                  <a:t> regenera NAD</a:t>
                </a:r>
                <a:r>
                  <a:rPr lang="es-AR" sz="1650"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Lactato ↑ </a:t>
                </a:r>
                <a:r>
                  <a:rPr lang="es-AR" sz="1650" b="1" dirty="0">
                    <a:solidFill>
                      <a:srgbClr val="1E1E1E"/>
                    </a:solidFill>
                    <a:latin typeface="Bahnschrift"/>
                    <a:ea typeface="Bahnschrift"/>
                    <a:cs typeface="Bahnschrift"/>
                    <a:sym typeface="Bahnschrift"/>
                  </a:rPr>
                  <a:t>no prueba</a:t>
                </a:r>
                <a:r>
                  <a:rPr lang="es-AR" sz="1650" dirty="0">
                    <a:solidFill>
                      <a:srgbClr val="1E1E1E"/>
                    </a:solidFill>
                    <a:latin typeface="Bahnschrift"/>
                    <a:ea typeface="Bahnschrift"/>
                    <a:cs typeface="Bahnschrift"/>
                    <a:sym typeface="Bahnschrift"/>
                  </a:rPr>
                  <a:t> falta absoluta de O</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6" name="Forma 35"/>
              <p:cNvSpPr/>
              <p:nvPr/>
            </p:nvSpPr>
            <p:spPr>
              <a:xfrm>
                <a:off x="8156448" y="1783080"/>
                <a:ext cx="132143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MUY INTENSO</a:t>
                </a:r>
                <a:endParaRPr lang="es-AR" sz="1500" dirty="0">
                  <a:latin typeface="Bahnschrift SemiBold Condensed"/>
                </a:endParaRPr>
              </a:p>
            </p:txBody>
          </p:sp>
        </p:grpSp>
      </p:grpSp>
      <p:sp>
        <p:nvSpPr>
          <p:cNvPr id="37" name="Forma 36"/>
          <p:cNvSpPr/>
          <p:nvPr/>
        </p:nvSpPr>
        <p:spPr>
          <a:xfrm>
            <a:off x="365760" y="5943600"/>
            <a:ext cx="11430000" cy="5943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450" dirty="0">
                <a:solidFill>
                  <a:srgbClr val="1E1E1E"/>
                </a:solidFill>
                <a:latin typeface="Bahnschrift"/>
                <a:ea typeface="Bahnschrift"/>
                <a:cs typeface="Bahnschrift"/>
                <a:sym typeface="Bahnschrift"/>
              </a:rPr>
              <a:t>La proporción grasa/carbohidrato depende de </a:t>
            </a:r>
            <a:r>
              <a:rPr lang="es-AR" sz="1450" b="1" dirty="0">
                <a:solidFill>
                  <a:srgbClr val="1E1E1E"/>
                </a:solidFill>
                <a:latin typeface="Bahnschrift"/>
                <a:ea typeface="Bahnschrift"/>
                <a:cs typeface="Bahnschrift"/>
                <a:sym typeface="Bahnschrift"/>
              </a:rPr>
              <a:t>intensidad, duración, entrenamiento y alimentación previa</a:t>
            </a:r>
            <a:r>
              <a:rPr lang="es-AR" sz="1450" dirty="0">
                <a:solidFill>
                  <a:srgbClr val="1E1E1E"/>
                </a:solidFill>
                <a:latin typeface="Bahnschrift"/>
                <a:ea typeface="Bahnschrift"/>
                <a:cs typeface="Bahnschrift"/>
                <a:sym typeface="Bahnschrift"/>
              </a:rPr>
              <a:t>.</a:t>
            </a:r>
            <a:endParaRPr lang="es-AR" sz="14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78298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00" b="1" dirty="0">
                <a:solidFill>
                  <a:srgbClr val="1E1E1E"/>
                </a:solidFill>
                <a:latin typeface="Bahnschrift SemiBold Condensed"/>
                <a:ea typeface="Bahnschrift SemiBold Condensed"/>
                <a:cs typeface="Bahnschrift SemiBold Condensed"/>
                <a:sym typeface="Bahnschrift SemiBold Condensed"/>
              </a:rPr>
              <a:t>14 · COMBUSTIBLES MUSCULARES: REPOSO, AERÓBICO Y ANAERÓBICO</a:t>
            </a:r>
            <a:endParaRPr lang="es-AR" sz="25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95.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Regulación PFK-1"/>
          <p:cNvGrpSpPr/>
          <p:nvPr/>
        </p:nvGrpSpPr>
        <p:grpSpPr>
          <a:xfrm>
            <a:off x="365760" y="1188720"/>
            <a:ext cx="9829800" cy="1417320"/>
            <a:chOff x="365760" y="1188720"/>
            <a:chExt cx="9829800" cy="1417320"/>
          </a:xfrm>
        </p:grpSpPr>
        <p:sp>
          <p:nvSpPr>
            <p:cNvPr id="5" name="Forma 4"/>
            <p:cNvSpPr/>
            <p:nvPr/>
          </p:nvSpPr>
          <p:spPr>
            <a:xfrm>
              <a:off x="4206240" y="1371600"/>
              <a:ext cx="2194560" cy="914400"/>
            </a:xfrm>
            <a:prstGeom prst="roundRect">
              <a:avLst>
                <a:gd name="adj" fmla="val 40000"/>
              </a:avLst>
            </a:prstGeom>
            <a:solidFill>
              <a:srgbClr val="FFFFFF"/>
            </a:solidFill>
            <a:ln w="31750" cap="rnd">
              <a:solidFill>
                <a:srgbClr val="1F3864"/>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F3864"/>
                  </a:solidFill>
                  <a:latin typeface="Bahnschrift SemiBold Condensed"/>
                  <a:ea typeface="Bahnschrift SemiBold Condensed"/>
                  <a:cs typeface="Bahnschrift SemiBold Condensed"/>
                  <a:sym typeface="Bahnschrift SemiBold Condensed"/>
                </a:rPr>
                <a:t>PFK-1</a:t>
              </a:r>
              <a:endParaRPr lang="es-AR" sz="2200" dirty="0">
                <a:latin typeface="Bahnschrift SemiBold Condensed"/>
              </a:endParaRPr>
            </a:p>
          </p:txBody>
        </p:sp>
        <p:sp>
          <p:nvSpPr>
            <p:cNvPr id="6" name="Forma 5"/>
            <p:cNvSpPr txBox="1"/>
            <p:nvPr/>
          </p:nvSpPr>
          <p:spPr>
            <a:xfrm>
              <a:off x="4023360" y="2286000"/>
              <a:ext cx="256032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5D4037"/>
                  </a:solidFill>
                  <a:latin typeface="Bahnschrift SemiBold Condensed"/>
                  <a:ea typeface="Bahnschrift SemiBold Condensed"/>
                  <a:cs typeface="Bahnschrift SemiBold Condensed"/>
                  <a:sym typeface="Bahnschrift SemiBold Condensed"/>
                </a:rPr>
                <a:t>Glucólisis</a:t>
              </a:r>
              <a:endParaRPr lang="es-AR" sz="1250" dirty="0">
                <a:latin typeface="Bahnschrift SemiBold Condensed"/>
              </a:endParaRPr>
            </a:p>
          </p:txBody>
        </p:sp>
        <p:sp>
          <p:nvSpPr>
            <p:cNvPr id="7" name="Forma 6"/>
            <p:cNvSpPr/>
            <p:nvPr/>
          </p:nvSpPr>
          <p:spPr>
            <a:xfrm>
              <a:off x="365760" y="1188720"/>
              <a:ext cx="3291840" cy="1325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AMP</a:t>
              </a:r>
              <a:endParaRPr lang="es-AR" sz="1600" dirty="0">
                <a:latin typeface="Bahnschrift"/>
              </a:endParaRPr>
            </a:p>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ADP</a:t>
              </a:r>
              <a:endParaRPr lang="es-AR" sz="1600" dirty="0">
                <a:latin typeface="Bahnschrift"/>
              </a:endParaRPr>
            </a:p>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F2,6BP</a:t>
              </a:r>
              <a:endParaRPr lang="es-AR" sz="1600" dirty="0">
                <a:latin typeface="Bahnschrift"/>
              </a:endParaRPr>
            </a:p>
          </p:txBody>
        </p:sp>
        <p:sp>
          <p:nvSpPr>
            <p:cNvPr id="8" name="Flecha 7_2"/>
            <p:cNvSpPr/>
            <p:nvPr/>
          </p:nvSpPr>
          <p:spPr>
            <a:xfrm>
              <a:off x="3685032" y="1828800"/>
              <a:ext cx="475488" cy="9144"/>
            </a:xfrm>
            <a:custGeom>
              <a:avLst/>
              <a:gdLst/>
              <a:ahLst/>
              <a:cxnLst/>
              <a:rect l="0" t="0" r="r" b="b"/>
              <a:pathLst>
                <a:path w="519" h="10" fill="none">
                  <a:moveTo>
                    <a:pt x="0" y="0"/>
                  </a:moveTo>
                  <a:lnTo>
                    <a:pt x="519" y="0"/>
                  </a:lnTo>
                </a:path>
              </a:pathLst>
            </a:custGeom>
            <a:noFill/>
            <a:ln w="50800" cap="rnd">
              <a:solidFill>
                <a:srgbClr val="1E8C3A"/>
              </a:solidFill>
              <a:round/>
              <a:tailEnd type="triangle" w="med" len="med"/>
            </a:ln>
          </p:spPr>
        </p:sp>
        <p:sp>
          <p:nvSpPr>
            <p:cNvPr id="9" name="Forma 9"/>
            <p:cNvSpPr/>
            <p:nvPr/>
          </p:nvSpPr>
          <p:spPr>
            <a:xfrm>
              <a:off x="6903720" y="1188720"/>
              <a:ext cx="3291840" cy="1325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ATP alto</a:t>
              </a:r>
              <a:endParaRPr lang="es-AR" sz="1600" dirty="0">
                <a:latin typeface="Bahnschrift"/>
              </a:endParaRPr>
            </a:p>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Citrato</a:t>
              </a:r>
              <a:endParaRPr lang="es-AR" sz="1600" dirty="0">
                <a:latin typeface="Bahnschrift"/>
              </a:endParaRPr>
            </a:p>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Acidez (H</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grpSp>
          <p:nvGrpSpPr>
            <p:cNvPr id="10" name="Inhibición"/>
            <p:cNvGrpSpPr/>
            <p:nvPr/>
          </p:nvGrpSpPr>
          <p:grpSpPr>
            <a:xfrm>
              <a:off x="6446520" y="1728216"/>
              <a:ext cx="429768" cy="201168"/>
              <a:chOff x="6446520" y="1728216"/>
              <a:chExt cx="429768" cy="201168"/>
            </a:xfrm>
          </p:grpSpPr>
          <p:sp>
            <p:nvSpPr>
              <p:cNvPr id="11" name="Flecha 11_2"/>
              <p:cNvSpPr/>
              <p:nvPr/>
            </p:nvSpPr>
            <p:spPr>
              <a:xfrm>
                <a:off x="6446520" y="1828800"/>
                <a:ext cx="429768" cy="9144"/>
              </a:xfrm>
              <a:custGeom>
                <a:avLst/>
                <a:gdLst/>
                <a:ahLst/>
                <a:cxnLst/>
                <a:rect l="0" t="0" r="r" b="b"/>
                <a:pathLst>
                  <a:path w="469" h="10" fill="none">
                    <a:moveTo>
                      <a:pt x="469" y="0"/>
                    </a:moveTo>
                    <a:lnTo>
                      <a:pt x="0" y="0"/>
                    </a:lnTo>
                  </a:path>
                </a:pathLst>
              </a:custGeom>
              <a:noFill/>
              <a:ln w="50800" cap="rnd">
                <a:solidFill>
                  <a:srgbClr val="C00000"/>
                </a:solidFill>
                <a:round/>
              </a:ln>
            </p:spPr>
          </p:sp>
          <p:sp>
            <p:nvSpPr>
              <p:cNvPr id="12" name="Flecha 13_2"/>
              <p:cNvSpPr/>
              <p:nvPr/>
            </p:nvSpPr>
            <p:spPr>
              <a:xfrm>
                <a:off x="6446520" y="1728216"/>
                <a:ext cx="9144" cy="201168"/>
              </a:xfrm>
              <a:custGeom>
                <a:avLst/>
                <a:gdLst/>
                <a:ahLst/>
                <a:cxnLst/>
                <a:rect l="0" t="0" r="r" b="b"/>
                <a:pathLst>
                  <a:path w="10" h="219" fill="none">
                    <a:moveTo>
                      <a:pt x="0" y="219"/>
                    </a:moveTo>
                    <a:lnTo>
                      <a:pt x="0" y="0"/>
                    </a:lnTo>
                  </a:path>
                </a:pathLst>
              </a:custGeom>
              <a:noFill/>
              <a:ln w="81280" cap="rnd">
                <a:solidFill>
                  <a:srgbClr val="C00000"/>
                </a:solidFill>
                <a:round/>
              </a:ln>
            </p:spPr>
          </p:sp>
        </p:grpSp>
      </p:grpSp>
      <p:grpSp>
        <p:nvGrpSpPr>
          <p:cNvPr id="13" name="Regulación PDH"/>
          <p:cNvGrpSpPr/>
          <p:nvPr/>
        </p:nvGrpSpPr>
        <p:grpSpPr>
          <a:xfrm>
            <a:off x="365760" y="2971800"/>
            <a:ext cx="9829800" cy="1417320"/>
            <a:chOff x="365760" y="2971800"/>
            <a:chExt cx="9829800" cy="1417320"/>
          </a:xfrm>
        </p:grpSpPr>
        <p:sp>
          <p:nvSpPr>
            <p:cNvPr id="14" name="Forma 16"/>
            <p:cNvSpPr/>
            <p:nvPr/>
          </p:nvSpPr>
          <p:spPr>
            <a:xfrm>
              <a:off x="4206240" y="3154680"/>
              <a:ext cx="2194560" cy="914400"/>
            </a:xfrm>
            <a:prstGeom prst="roundRect">
              <a:avLst>
                <a:gd name="adj" fmla="val 40000"/>
              </a:avLst>
            </a:prstGeom>
            <a:solidFill>
              <a:srgbClr val="FFFFFF"/>
            </a:solidFill>
            <a:ln w="31750" cap="rnd">
              <a:solidFill>
                <a:srgbClr val="1F3864"/>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F3864"/>
                  </a:solidFill>
                  <a:latin typeface="Bahnschrift SemiBold Condensed"/>
                  <a:ea typeface="Bahnschrift SemiBold Condensed"/>
                  <a:cs typeface="Bahnschrift SemiBold Condensed"/>
                  <a:sym typeface="Bahnschrift SemiBold Condensed"/>
                </a:rPr>
                <a:t>PDH</a:t>
              </a:r>
              <a:endParaRPr lang="es-AR" sz="2200" dirty="0">
                <a:latin typeface="Bahnschrift SemiBold Condensed"/>
              </a:endParaRPr>
            </a:p>
          </p:txBody>
        </p:sp>
        <p:sp>
          <p:nvSpPr>
            <p:cNvPr id="15" name="Forma 17"/>
            <p:cNvSpPr txBox="1"/>
            <p:nvPr/>
          </p:nvSpPr>
          <p:spPr>
            <a:xfrm>
              <a:off x="4023360" y="4069080"/>
              <a:ext cx="256032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5D4037"/>
                  </a:solidFill>
                  <a:latin typeface="Bahnschrift SemiBold Condensed"/>
                  <a:ea typeface="Bahnschrift SemiBold Condensed"/>
                  <a:cs typeface="Bahnschrift SemiBold Condensed"/>
                  <a:sym typeface="Bahnschrift SemiBold Condensed"/>
                </a:rPr>
                <a:t>Piruvato → acetil-CoA</a:t>
              </a:r>
              <a:endParaRPr lang="es-AR" sz="1250" dirty="0">
                <a:latin typeface="Bahnschrift SemiBold Condensed"/>
              </a:endParaRPr>
            </a:p>
          </p:txBody>
        </p:sp>
        <p:sp>
          <p:nvSpPr>
            <p:cNvPr id="16" name="Forma 18"/>
            <p:cNvSpPr/>
            <p:nvPr/>
          </p:nvSpPr>
          <p:spPr>
            <a:xfrm>
              <a:off x="365760" y="2971800"/>
              <a:ext cx="3291840" cy="1325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Piruvato (inhibe PDK)</a:t>
              </a:r>
              <a:endParaRPr lang="es-AR" sz="1600" dirty="0">
                <a:latin typeface="Bahnschrift"/>
              </a:endParaRPr>
            </a:p>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Ca</a:t>
              </a:r>
              <a:r>
                <a:rPr lang="es-AR" sz="1600" baseline="30000" dirty="0">
                  <a:solidFill>
                    <a:srgbClr val="1E1E1E"/>
                  </a:solidFill>
                  <a:latin typeface="Bahnschrift"/>
                  <a:ea typeface="Bahnschrift"/>
                  <a:cs typeface="Bahnschrift"/>
                  <a:sym typeface="Bahnschrift"/>
                </a:rPr>
                <a:t>2+</a:t>
              </a:r>
              <a:r>
                <a:rPr lang="es-AR" sz="1600" dirty="0">
                  <a:solidFill>
                    <a:srgbClr val="1E1E1E"/>
                  </a:solidFill>
                  <a:latin typeface="Bahnschrift"/>
                  <a:ea typeface="Bahnschrift"/>
                  <a:cs typeface="Bahnschrift"/>
                  <a:sym typeface="Bahnschrift"/>
                </a:rPr>
                <a:t> (activa PDP)</a:t>
              </a:r>
              <a:endParaRPr lang="es-AR" sz="1600" dirty="0">
                <a:latin typeface="Bahnschrift"/>
              </a:endParaRPr>
            </a:p>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Insulina (hígado/adiposo)</a:t>
              </a:r>
              <a:endParaRPr lang="es-AR" sz="1600" dirty="0">
                <a:latin typeface="Bahnschrift"/>
              </a:endParaRPr>
            </a:p>
          </p:txBody>
        </p:sp>
        <p:sp>
          <p:nvSpPr>
            <p:cNvPr id="17" name="Flecha 19_2"/>
            <p:cNvSpPr/>
            <p:nvPr/>
          </p:nvSpPr>
          <p:spPr>
            <a:xfrm>
              <a:off x="3685032" y="3611880"/>
              <a:ext cx="475488" cy="9144"/>
            </a:xfrm>
            <a:custGeom>
              <a:avLst/>
              <a:gdLst/>
              <a:ahLst/>
              <a:cxnLst/>
              <a:rect l="0" t="0" r="r" b="b"/>
              <a:pathLst>
                <a:path w="519" h="10" fill="none">
                  <a:moveTo>
                    <a:pt x="0" y="0"/>
                  </a:moveTo>
                  <a:lnTo>
                    <a:pt x="519" y="0"/>
                  </a:lnTo>
                </a:path>
              </a:pathLst>
            </a:custGeom>
            <a:noFill/>
            <a:ln w="50800" cap="rnd">
              <a:solidFill>
                <a:srgbClr val="1E8C3A"/>
              </a:solidFill>
              <a:round/>
              <a:tailEnd type="triangle" w="med" len="med"/>
            </a:ln>
          </p:spPr>
        </p:sp>
        <p:sp>
          <p:nvSpPr>
            <p:cNvPr id="18" name="Forma 21"/>
            <p:cNvSpPr/>
            <p:nvPr/>
          </p:nvSpPr>
          <p:spPr>
            <a:xfrm>
              <a:off x="6903720" y="2971800"/>
              <a:ext cx="3291840" cy="1325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NADH/NAD</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a:t>
              </a:r>
              <a:endParaRPr lang="es-AR" sz="1600" dirty="0">
                <a:latin typeface="Bahnschrift"/>
              </a:endParaRPr>
            </a:p>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Acetil-CoA/CoA ↑</a:t>
              </a:r>
              <a:endParaRPr lang="es-AR" sz="1600" dirty="0">
                <a:latin typeface="Bahnschrift"/>
              </a:endParaRPr>
            </a:p>
            <a:p>
              <a:pPr algn="l" marL="193040" indent="-193040">
                <a:spcAft>
                  <a:spcPts val="400"/>
                </a:spcAft>
                <a:buClr>
                  <a:srgbClr val="C00000"/>
                </a:buClr>
                <a:buFont typeface="Segoe UI Symbol"/>
                <a:buChar char="✗"/>
              </a:pPr>
              <a:r>
                <a:rPr lang="es-AR" sz="1600" dirty="0">
                  <a:solidFill>
                    <a:srgbClr val="1E1E1E"/>
                  </a:solidFill>
                  <a:latin typeface="Bahnschrift"/>
                  <a:ea typeface="Bahnschrift"/>
                  <a:cs typeface="Bahnschrift"/>
                  <a:sym typeface="Bahnschrift"/>
                </a:rPr>
                <a:t>ATP/ADP ↑ (vía PDK)</a:t>
              </a:r>
              <a:endParaRPr lang="es-AR" sz="1600" dirty="0">
                <a:latin typeface="Bahnschrift"/>
              </a:endParaRPr>
            </a:p>
          </p:txBody>
        </p:sp>
        <p:grpSp>
          <p:nvGrpSpPr>
            <p:cNvPr id="19" name="Inhibición_2"/>
            <p:cNvGrpSpPr/>
            <p:nvPr/>
          </p:nvGrpSpPr>
          <p:grpSpPr>
            <a:xfrm>
              <a:off x="6446520" y="3511296"/>
              <a:ext cx="429768" cy="201168"/>
              <a:chOff x="6446520" y="3511296"/>
              <a:chExt cx="429768" cy="201168"/>
            </a:xfrm>
          </p:grpSpPr>
          <p:sp>
            <p:nvSpPr>
              <p:cNvPr id="20" name="Flecha 23_2"/>
              <p:cNvSpPr/>
              <p:nvPr/>
            </p:nvSpPr>
            <p:spPr>
              <a:xfrm>
                <a:off x="6446520" y="3611880"/>
                <a:ext cx="429768" cy="9144"/>
              </a:xfrm>
              <a:custGeom>
                <a:avLst/>
                <a:gdLst/>
                <a:ahLst/>
                <a:cxnLst/>
                <a:rect l="0" t="0" r="r" b="b"/>
                <a:pathLst>
                  <a:path w="469" h="10" fill="none">
                    <a:moveTo>
                      <a:pt x="469" y="0"/>
                    </a:moveTo>
                    <a:lnTo>
                      <a:pt x="0" y="0"/>
                    </a:lnTo>
                  </a:path>
                </a:pathLst>
              </a:custGeom>
              <a:noFill/>
              <a:ln w="50800" cap="rnd">
                <a:solidFill>
                  <a:srgbClr val="C00000"/>
                </a:solidFill>
                <a:round/>
              </a:ln>
            </p:spPr>
          </p:sp>
          <p:sp>
            <p:nvSpPr>
              <p:cNvPr id="21" name="Flecha 25_2"/>
              <p:cNvSpPr/>
              <p:nvPr/>
            </p:nvSpPr>
            <p:spPr>
              <a:xfrm>
                <a:off x="6446520" y="3511296"/>
                <a:ext cx="9144" cy="201168"/>
              </a:xfrm>
              <a:custGeom>
                <a:avLst/>
                <a:gdLst/>
                <a:ahLst/>
                <a:cxnLst/>
                <a:rect l="0" t="0" r="r" b="b"/>
                <a:pathLst>
                  <a:path w="10" h="219" fill="none">
                    <a:moveTo>
                      <a:pt x="0" y="219"/>
                    </a:moveTo>
                    <a:lnTo>
                      <a:pt x="0" y="0"/>
                    </a:lnTo>
                  </a:path>
                </a:pathLst>
              </a:custGeom>
              <a:noFill/>
              <a:ln w="81280" cap="rnd">
                <a:solidFill>
                  <a:srgbClr val="C00000"/>
                </a:solidFill>
                <a:round/>
              </a:ln>
            </p:spPr>
          </p:sp>
        </p:grpSp>
      </p:grpSp>
      <p:grpSp>
        <p:nvGrpSpPr>
          <p:cNvPr id="22" name="Regulación CPT1"/>
          <p:cNvGrpSpPr/>
          <p:nvPr/>
        </p:nvGrpSpPr>
        <p:grpSpPr>
          <a:xfrm>
            <a:off x="365760" y="4754880"/>
            <a:ext cx="9829800" cy="1417320"/>
            <a:chOff x="365760" y="4754880"/>
            <a:chExt cx="9829800" cy="1417320"/>
          </a:xfrm>
        </p:grpSpPr>
        <p:sp>
          <p:nvSpPr>
            <p:cNvPr id="23" name="Forma 28"/>
            <p:cNvSpPr/>
            <p:nvPr/>
          </p:nvSpPr>
          <p:spPr>
            <a:xfrm>
              <a:off x="4206240" y="4937760"/>
              <a:ext cx="2194560" cy="914400"/>
            </a:xfrm>
            <a:prstGeom prst="roundRect">
              <a:avLst>
                <a:gd name="adj" fmla="val 40000"/>
              </a:avLst>
            </a:prstGeom>
            <a:solidFill>
              <a:srgbClr val="FFFFFF"/>
            </a:solidFill>
            <a:ln w="31750" cap="rnd">
              <a:solidFill>
                <a:srgbClr val="1F3864"/>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200" b="1" dirty="0">
                  <a:solidFill>
                    <a:srgbClr val="1F3864"/>
                  </a:solidFill>
                  <a:latin typeface="Bahnschrift SemiBold Condensed"/>
                  <a:ea typeface="Bahnschrift SemiBold Condensed"/>
                  <a:cs typeface="Bahnschrift SemiBold Condensed"/>
                  <a:sym typeface="Bahnschrift SemiBold Condensed"/>
                </a:rPr>
                <a:t>CPT1</a:t>
              </a:r>
              <a:endParaRPr lang="es-AR" sz="2200" dirty="0">
                <a:latin typeface="Bahnschrift SemiBold Condensed"/>
              </a:endParaRPr>
            </a:p>
          </p:txBody>
        </p:sp>
        <p:sp>
          <p:nvSpPr>
            <p:cNvPr id="24" name="Forma 29"/>
            <p:cNvSpPr txBox="1"/>
            <p:nvPr/>
          </p:nvSpPr>
          <p:spPr>
            <a:xfrm>
              <a:off x="4023360" y="5852160"/>
              <a:ext cx="256032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5D4037"/>
                  </a:solidFill>
                  <a:latin typeface="Bahnschrift SemiBold Condensed"/>
                  <a:ea typeface="Bahnschrift SemiBold Condensed"/>
                  <a:cs typeface="Bahnschrift SemiBold Condensed"/>
                  <a:sym typeface="Bahnschrift SemiBold Condensed"/>
                </a:rPr>
                <a:t>Entrada de AG largos</a:t>
              </a:r>
              <a:endParaRPr lang="es-AR" sz="1250" dirty="0">
                <a:latin typeface="Bahnschrift SemiBold Condensed"/>
              </a:endParaRPr>
            </a:p>
          </p:txBody>
        </p:sp>
        <p:sp>
          <p:nvSpPr>
            <p:cNvPr id="25" name="Forma 30"/>
            <p:cNvSpPr/>
            <p:nvPr/>
          </p:nvSpPr>
          <p:spPr>
            <a:xfrm>
              <a:off x="365760" y="4754880"/>
              <a:ext cx="3291840" cy="1325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 malonil-CoA (AMPK, MCD)</a:t>
              </a:r>
              <a:endParaRPr lang="es-AR" sz="1600" dirty="0">
                <a:latin typeface="Bahnschrift"/>
              </a:endParaRPr>
            </a:p>
            <a:p>
              <a:pPr algn="l" marL="193040" indent="-193040">
                <a:spcAft>
                  <a:spcPts val="400"/>
                </a:spcAft>
                <a:buClr>
                  <a:srgbClr val="1E8C3A"/>
                </a:buClr>
                <a:buFont typeface="Segoe UI Symbol"/>
                <a:buChar char="✓"/>
              </a:pPr>
              <a:r>
                <a:rPr lang="es-AR" sz="1600" dirty="0">
                  <a:solidFill>
                    <a:srgbClr val="1E1E1E"/>
                  </a:solidFill>
                  <a:latin typeface="Bahnschrift"/>
                  <a:ea typeface="Bahnschrift"/>
                  <a:cs typeface="Bahnschrift"/>
                  <a:sym typeface="Bahnschrift"/>
                </a:rPr>
                <a:t>Glucagón (hígado)</a:t>
              </a:r>
              <a:endParaRPr lang="es-AR" sz="1600" dirty="0">
                <a:latin typeface="Bahnschrift"/>
              </a:endParaRPr>
            </a:p>
          </p:txBody>
        </p:sp>
        <p:sp>
          <p:nvSpPr>
            <p:cNvPr id="26" name="Flecha 31_2"/>
            <p:cNvSpPr/>
            <p:nvPr/>
          </p:nvSpPr>
          <p:spPr>
            <a:xfrm>
              <a:off x="3685032" y="5394960"/>
              <a:ext cx="475488" cy="9144"/>
            </a:xfrm>
            <a:custGeom>
              <a:avLst/>
              <a:gdLst/>
              <a:ahLst/>
              <a:cxnLst/>
              <a:rect l="0" t="0" r="r" b="b"/>
              <a:pathLst>
                <a:path w="519" h="10" fill="none">
                  <a:moveTo>
                    <a:pt x="0" y="0"/>
                  </a:moveTo>
                  <a:lnTo>
                    <a:pt x="519" y="0"/>
                  </a:lnTo>
                </a:path>
              </a:pathLst>
            </a:custGeom>
            <a:noFill/>
            <a:ln w="50800" cap="rnd">
              <a:solidFill>
                <a:srgbClr val="1E8C3A"/>
              </a:solidFill>
              <a:round/>
              <a:tailEnd type="triangle" w="med" len="med"/>
            </a:ln>
          </p:spPr>
        </p:sp>
        <p:sp>
          <p:nvSpPr>
            <p:cNvPr id="27" name="Forma 33"/>
            <p:cNvSpPr/>
            <p:nvPr/>
          </p:nvSpPr>
          <p:spPr>
            <a:xfrm>
              <a:off x="6903720" y="4754880"/>
              <a:ext cx="3291840" cy="1325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93040" indent="-193040">
                <a:spcAft>
                  <a:spcPts val="400"/>
                </a:spcAft>
                <a:buClr>
                  <a:srgbClr val="C00000"/>
                </a:buClr>
                <a:buFont typeface="Segoe UI Symbol"/>
                <a:buChar char="✗"/>
              </a:pPr>
              <a:r>
                <a:rPr lang="es-AR" sz="1600" b="1" dirty="0">
                  <a:solidFill>
                    <a:srgbClr val="1E1E1E"/>
                  </a:solidFill>
                  <a:latin typeface="Bahnschrift"/>
                  <a:ea typeface="Bahnschrift"/>
                  <a:cs typeface="Bahnschrift"/>
                  <a:sym typeface="Bahnschrift"/>
                </a:rPr>
                <a:t>Malonil-CoA</a:t>
              </a:r>
              <a:endParaRPr lang="es-AR" sz="1600" dirty="0">
                <a:latin typeface="Bahnschrift"/>
              </a:endParaRPr>
            </a:p>
          </p:txBody>
        </p:sp>
        <p:grpSp>
          <p:nvGrpSpPr>
            <p:cNvPr id="28" name="Inhibición_3"/>
            <p:cNvGrpSpPr/>
            <p:nvPr/>
          </p:nvGrpSpPr>
          <p:grpSpPr>
            <a:xfrm>
              <a:off x="6446520" y="5294376"/>
              <a:ext cx="429768" cy="201168"/>
              <a:chOff x="6446520" y="5294376"/>
              <a:chExt cx="429768" cy="201168"/>
            </a:xfrm>
          </p:grpSpPr>
          <p:sp>
            <p:nvSpPr>
              <p:cNvPr id="29" name="Flecha 35_2"/>
              <p:cNvSpPr/>
              <p:nvPr/>
            </p:nvSpPr>
            <p:spPr>
              <a:xfrm>
                <a:off x="6446520" y="5394960"/>
                <a:ext cx="429768" cy="9144"/>
              </a:xfrm>
              <a:custGeom>
                <a:avLst/>
                <a:gdLst/>
                <a:ahLst/>
                <a:cxnLst/>
                <a:rect l="0" t="0" r="r" b="b"/>
                <a:pathLst>
                  <a:path w="469" h="10" fill="none">
                    <a:moveTo>
                      <a:pt x="469" y="0"/>
                    </a:moveTo>
                    <a:lnTo>
                      <a:pt x="0" y="0"/>
                    </a:lnTo>
                  </a:path>
                </a:pathLst>
              </a:custGeom>
              <a:noFill/>
              <a:ln w="50800" cap="rnd">
                <a:solidFill>
                  <a:srgbClr val="C00000"/>
                </a:solidFill>
                <a:round/>
              </a:ln>
            </p:spPr>
          </p:sp>
          <p:sp>
            <p:nvSpPr>
              <p:cNvPr id="30" name="Flecha 37_2"/>
              <p:cNvSpPr/>
              <p:nvPr/>
            </p:nvSpPr>
            <p:spPr>
              <a:xfrm>
                <a:off x="6446520" y="5294376"/>
                <a:ext cx="9144" cy="201168"/>
              </a:xfrm>
              <a:custGeom>
                <a:avLst/>
                <a:gdLst/>
                <a:ahLst/>
                <a:cxnLst/>
                <a:rect l="0" t="0" r="r" b="b"/>
                <a:pathLst>
                  <a:path w="10" h="220" fill="none">
                    <a:moveTo>
                      <a:pt x="0" y="220"/>
                    </a:moveTo>
                    <a:lnTo>
                      <a:pt x="0" y="0"/>
                    </a:lnTo>
                  </a:path>
                </a:pathLst>
              </a:custGeom>
              <a:noFill/>
              <a:ln w="81280" cap="rnd">
                <a:solidFill>
                  <a:srgbClr val="C00000"/>
                </a:solidFill>
                <a:round/>
              </a:ln>
            </p:spPr>
          </p:sp>
        </p:grpSp>
      </p:grpSp>
      <p:sp>
        <p:nvSpPr>
          <p:cNvPr id="31" name="Perla"/>
          <p:cNvSpPr/>
          <p:nvPr/>
        </p:nvSpPr>
        <p:spPr>
          <a:xfrm>
            <a:off x="10378440" y="1051560"/>
            <a:ext cx="1417320" cy="53949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dirty="0">
                <a:solidFill>
                  <a:srgbClr val="FFFFFF"/>
                </a:solidFill>
                <a:latin typeface="Bahnschrift"/>
                <a:ea typeface="Bahnschrift"/>
                <a:cs typeface="Bahnschrift"/>
                <a:sym typeface="Bahnschrift"/>
              </a:rPr>
              <a:t>No confundir </a:t>
            </a:r>
            <a:r>
              <a:rPr lang="es-AR" sz="1550" b="1" dirty="0">
                <a:solidFill>
                  <a:srgbClr val="FFFFFF"/>
                </a:solidFill>
                <a:latin typeface="Bahnschrift"/>
                <a:ea typeface="Bahnschrift"/>
                <a:cs typeface="Bahnschrift"/>
                <a:sym typeface="Bahnschrift"/>
              </a:rPr>
              <a:t>CPT1</a:t>
            </a:r>
            <a:r>
              <a:rPr lang="es-AR" sz="1550" dirty="0">
                <a:solidFill>
                  <a:srgbClr val="FFFFFF"/>
                </a:solidFill>
                <a:latin typeface="Bahnschrift"/>
                <a:ea typeface="Bahnschrift"/>
                <a:cs typeface="Bahnschrift"/>
                <a:sym typeface="Bahnschrift"/>
              </a:rPr>
              <a:t> con </a:t>
            </a:r>
            <a:r>
              <a:rPr lang="es-AR" sz="1550" b="1" dirty="0">
                <a:solidFill>
                  <a:srgbClr val="FFFFFF"/>
                </a:solidFill>
                <a:latin typeface="Bahnschrift"/>
                <a:ea typeface="Bahnschrift"/>
                <a:cs typeface="Bahnschrift"/>
                <a:sym typeface="Bahnschrift"/>
              </a:rPr>
              <a:t>CACT</a:t>
            </a:r>
            <a:r>
              <a:rPr lang="es-AR" sz="1550" dirty="0">
                <a:solidFill>
                  <a:srgbClr val="FFFFFF"/>
                </a:solidFill>
                <a:latin typeface="Bahnschrift"/>
                <a:ea typeface="Bahnschrift"/>
                <a:cs typeface="Bahnschrift"/>
                <a:sym typeface="Bahnschrift"/>
              </a:rPr>
              <a:t> (translocasa carnitina–acilcarnitina), otra proteína del transporte.</a:t>
            </a:r>
            <a:endParaRPr lang="es-AR" sz="15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65885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14 · REGULACIÓN FINA: PFK-1, PDH Y CPT1</a:t>
            </a:r>
            <a:endParaRPr lang="es-AR" sz="2600" dirty="0">
              <a:latin typeface="Bahnschrift SemiBold Condensed"/>
            </a:endParaRPr>
          </a:p>
        </p:txBody>
      </p:sp>
      <p:sp>
        <p:nvSpPr>
          <p:cNvPr id="3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96.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Gráfico sistemas ATP"/>
          <p:cNvGrpSpPr/>
          <p:nvPr/>
        </p:nvGrpSpPr>
        <p:grpSpPr>
          <a:xfrm>
            <a:off x="365760" y="1005840"/>
            <a:ext cx="6766560" cy="4572000"/>
            <a:chOff x="365760" y="1005840"/>
            <a:chExt cx="6766560" cy="4572000"/>
          </a:xfrm>
        </p:grpSpPr>
        <p:sp>
          <p:nvSpPr>
            <p:cNvPr id="5" name="Forma 4"/>
            <p:cNvSpPr/>
            <p:nvPr/>
          </p:nvSpPr>
          <p:spPr>
            <a:xfrm>
              <a:off x="365760" y="1005840"/>
              <a:ext cx="6766560" cy="4572000"/>
            </a:xfrm>
            <a:prstGeom prst="rect">
              <a:avLst/>
            </a:prstGeom>
            <a:solidFill>
              <a:srgbClr val="FFFFFF">
                <a:alpha val="55000"/>
              </a:srgbClr>
            </a:solidFill>
            <a:ln w="15875" cap="rnd">
              <a:solidFill>
                <a:srgbClr val="1E1E1E"/>
              </a:solidFill>
              <a:round/>
            </a:ln>
            <a:effectLst>
              <a:outerShdw blurRad="63500" dist="38100" dir="2700000" algn="tl" rotWithShape="0">
                <a:srgbClr val="000000">
                  <a:alpha val="32000"/>
                </a:srgbClr>
              </a:outerShdw>
            </a:effectLst>
          </p:spPr>
        </p:sp>
        <p:sp>
          <p:nvSpPr>
            <p:cNvPr id="6" name="Flecha 5_2"/>
            <p:cNvSpPr/>
            <p:nvPr/>
          </p:nvSpPr>
          <p:spPr>
            <a:xfrm>
              <a:off x="914400" y="5120640"/>
              <a:ext cx="5943600" cy="9144"/>
            </a:xfrm>
            <a:custGeom>
              <a:avLst/>
              <a:gdLst/>
              <a:ahLst/>
              <a:cxnLst/>
              <a:rect l="0" t="0" r="r" b="b"/>
              <a:pathLst>
                <a:path w="6500" h="10" fill="none">
                  <a:moveTo>
                    <a:pt x="0" y="0"/>
                  </a:moveTo>
                  <a:lnTo>
                    <a:pt x="6500" y="0"/>
                  </a:lnTo>
                </a:path>
              </a:pathLst>
            </a:custGeom>
            <a:noFill/>
            <a:ln w="19050" cap="rnd">
              <a:solidFill>
                <a:srgbClr val="1E1E1E"/>
              </a:solidFill>
              <a:round/>
              <a:tailEnd type="triangle" w="med" len="med"/>
            </a:ln>
          </p:spPr>
        </p:sp>
        <p:sp>
          <p:nvSpPr>
            <p:cNvPr id="7" name="Flecha 7_2"/>
            <p:cNvSpPr/>
            <p:nvPr/>
          </p:nvSpPr>
          <p:spPr>
            <a:xfrm>
              <a:off x="914400" y="1280160"/>
              <a:ext cx="9144" cy="3840480"/>
            </a:xfrm>
            <a:custGeom>
              <a:avLst/>
              <a:gdLst/>
              <a:ahLst/>
              <a:cxnLst/>
              <a:rect l="0" t="0" r="r" b="b"/>
              <a:pathLst>
                <a:path w="10" h="4199" fill="none">
                  <a:moveTo>
                    <a:pt x="0" y="4199"/>
                  </a:moveTo>
                  <a:lnTo>
                    <a:pt x="0" y="0"/>
                  </a:lnTo>
                </a:path>
              </a:pathLst>
            </a:custGeom>
            <a:noFill/>
            <a:ln w="19050" cap="rnd">
              <a:solidFill>
                <a:srgbClr val="1E1E1E"/>
              </a:solidFill>
              <a:round/>
              <a:tailEnd type="triangle" w="med" len="med"/>
            </a:ln>
          </p:spPr>
        </p:sp>
        <p:sp>
          <p:nvSpPr>
            <p:cNvPr id="8" name="Forma 9"/>
            <p:cNvSpPr txBox="1"/>
            <p:nvPr/>
          </p:nvSpPr>
          <p:spPr>
            <a:xfrm>
              <a:off x="411480" y="1371600"/>
              <a:ext cx="411480" cy="3657600"/>
            </a:xfrm>
            <a:prstGeom prst="rect">
              <a:avLst/>
            </a:prstGeom>
            <a:noFill/>
            <a:ln>
              <a:noFill/>
            </a:ln>
          </p:spPr>
          <p:txBody>
            <a:bodyPr wrap="square" lIns="0" tIns="0" rIns="0" bIns="0" anchor="ctr" rtlCol="0" vert="vert27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Potencia (velocidad de ATP)</a:t>
              </a:r>
              <a:endParaRPr lang="es-AR" sz="1250" dirty="0">
                <a:latin typeface="Bahnschrift SemiBold Condensed"/>
              </a:endParaRPr>
            </a:p>
          </p:txBody>
        </p:sp>
        <p:sp>
          <p:nvSpPr>
            <p:cNvPr id="9" name="Forma 10"/>
            <p:cNvSpPr txBox="1"/>
            <p:nvPr/>
          </p:nvSpPr>
          <p:spPr>
            <a:xfrm>
              <a:off x="3931920" y="5166360"/>
              <a:ext cx="2926080" cy="320040"/>
            </a:xfrm>
            <a:prstGeom prst="rect">
              <a:avLst/>
            </a:prstGeom>
            <a:noFill/>
            <a:ln>
              <a:noFill/>
            </a:ln>
          </p:spPr>
          <p:txBody>
            <a:bodyPr wrap="square" lIns="0" tIns="0" rIns="0" bIns="0" anchor="t" rtlCol="0">
              <a:noAutofit/>
            </a:bodyPr>
            <a:lstStyle/>
            <a:p>
              <a:pPr algn="r">
                <a:spcAft>
                  <a:spcPts val="300"/>
                </a:spcAft>
                <a:buNone/>
              </a:pPr>
              <a:r>
                <a:rPr lang="es-AR" sz="1250" dirty="0">
                  <a:solidFill>
                    <a:srgbClr val="1E1E1E"/>
                  </a:solidFill>
                  <a:latin typeface="Bahnschrift"/>
                  <a:ea typeface="Bahnschrift"/>
                  <a:cs typeface="Bahnschrift"/>
                  <a:sym typeface="Bahnschrift"/>
                </a:rPr>
                <a:t>duración del esfuerzo →</a:t>
              </a:r>
              <a:endParaRPr lang="es-AR" sz="1250" dirty="0">
                <a:latin typeface="Bahnschrift"/>
              </a:endParaRPr>
            </a:p>
          </p:txBody>
        </p:sp>
      </p:grpSp>
      <p:sp>
        <p:nvSpPr>
          <p:cNvPr id="10" name="Curva PCr"/>
          <p:cNvSpPr/>
          <p:nvPr/>
        </p:nvSpPr>
        <p:spPr>
          <a:xfrm>
            <a:off x="960120" y="1371600"/>
            <a:ext cx="5852160" cy="3703320"/>
          </a:xfrm>
          <a:custGeom>
            <a:avLst/>
            <a:gdLst/>
            <a:ahLst/>
            <a:cxnLst/>
            <a:rect l="0" t="0" r="r" b="b"/>
            <a:pathLst>
              <a:path w="1000" h="1000" fill="none">
                <a:moveTo>
                  <a:pt x="0" y="30"/>
                </a:moveTo>
                <a:cubicBezTo>
                  <a:pt x="60" y="30"/>
                  <a:pt x="100" y="900"/>
                  <a:pt x="220" y="980"/>
                </a:cubicBezTo>
                <a:lnTo>
                  <a:pt x="1000" y="990"/>
                </a:lnTo>
              </a:path>
            </a:pathLst>
          </a:custGeom>
          <a:noFill/>
          <a:ln w="50800" cap="rnd">
            <a:solidFill>
              <a:srgbClr val="E74C3C"/>
            </a:solidFill>
            <a:round/>
          </a:ln>
        </p:spPr>
      </p:sp>
      <p:sp>
        <p:nvSpPr>
          <p:cNvPr id="11" name="Curva glucólisis"/>
          <p:cNvSpPr/>
          <p:nvPr/>
        </p:nvSpPr>
        <p:spPr>
          <a:xfrm>
            <a:off x="960120" y="1371600"/>
            <a:ext cx="5852160" cy="3703320"/>
          </a:xfrm>
          <a:custGeom>
            <a:avLst/>
            <a:gdLst/>
            <a:ahLst/>
            <a:cxnLst/>
            <a:rect l="0" t="0" r="r" b="b"/>
            <a:pathLst>
              <a:path w="1000" h="1000" fill="none">
                <a:moveTo>
                  <a:pt x="0" y="600"/>
                </a:moveTo>
                <a:cubicBezTo>
                  <a:pt x="100" y="250"/>
                  <a:pt x="180" y="200"/>
                  <a:pt x="300" y="300"/>
                </a:cubicBezTo>
                <a:cubicBezTo>
                  <a:pt x="450" y="450"/>
                  <a:pt x="600" y="900"/>
                  <a:pt x="1000" y="960"/>
                </a:cubicBezTo>
              </a:path>
            </a:pathLst>
          </a:custGeom>
          <a:noFill/>
          <a:ln w="50800" cap="rnd">
            <a:solidFill>
              <a:srgbClr val="F39C12"/>
            </a:solidFill>
            <a:round/>
          </a:ln>
        </p:spPr>
      </p:sp>
      <p:sp>
        <p:nvSpPr>
          <p:cNvPr id="12" name="Curva oxidativa"/>
          <p:cNvSpPr/>
          <p:nvPr/>
        </p:nvSpPr>
        <p:spPr>
          <a:xfrm>
            <a:off x="960120" y="1371600"/>
            <a:ext cx="5852160" cy="3703320"/>
          </a:xfrm>
          <a:custGeom>
            <a:avLst/>
            <a:gdLst/>
            <a:ahLst/>
            <a:cxnLst/>
            <a:rect l="0" t="0" r="r" b="b"/>
            <a:pathLst>
              <a:path w="1000" h="1000" fill="none">
                <a:moveTo>
                  <a:pt x="0" y="950"/>
                </a:moveTo>
                <a:cubicBezTo>
                  <a:pt x="200" y="750"/>
                  <a:pt x="350" y="600"/>
                  <a:pt x="500" y="560"/>
                </a:cubicBezTo>
                <a:cubicBezTo>
                  <a:pt x="700" y="520"/>
                  <a:pt x="850" y="540"/>
                  <a:pt x="1000" y="560"/>
                </a:cubicBezTo>
              </a:path>
            </a:pathLst>
          </a:custGeom>
          <a:noFill/>
          <a:ln w="50800" cap="rnd">
            <a:solidFill>
              <a:srgbClr val="1E8449"/>
            </a:solidFill>
            <a:round/>
          </a:ln>
        </p:spPr>
      </p:sp>
      <p:sp>
        <p:nvSpPr>
          <p:cNvPr id="13" name="Rótulo PCr"/>
          <p:cNvSpPr/>
          <p:nvPr/>
        </p:nvSpPr>
        <p:spPr>
          <a:xfrm>
            <a:off x="1188720" y="1188720"/>
            <a:ext cx="1449373" cy="246062"/>
          </a:xfrm>
          <a:prstGeom prst="rect">
            <a:avLst/>
          </a:prstGeom>
          <a:solidFill>
            <a:srgbClr val="F5B7B1"/>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ATP–PCr: segundos</a:t>
            </a:r>
            <a:endParaRPr lang="es-AR" sz="1250" dirty="0">
              <a:latin typeface="Bahnschrift SemiBold Condensed"/>
            </a:endParaRPr>
          </a:p>
        </p:txBody>
      </p:sp>
      <p:sp>
        <p:nvSpPr>
          <p:cNvPr id="14" name="Rótulo glucólisis"/>
          <p:cNvSpPr/>
          <p:nvPr/>
        </p:nvSpPr>
        <p:spPr>
          <a:xfrm>
            <a:off x="2743200" y="2148840"/>
            <a:ext cx="1280190" cy="246062"/>
          </a:xfrm>
          <a:prstGeom prst="rect">
            <a:avLst/>
          </a:prstGeom>
          <a:solidFill>
            <a:srgbClr val="FAD7A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Glucólisis rápida</a:t>
            </a:r>
            <a:endParaRPr lang="es-AR" sz="1250" dirty="0">
              <a:latin typeface="Bahnschrift SemiBold Condensed"/>
            </a:endParaRPr>
          </a:p>
        </p:txBody>
      </p:sp>
      <p:sp>
        <p:nvSpPr>
          <p:cNvPr id="15" name="Rótulo oxidativa"/>
          <p:cNvSpPr/>
          <p:nvPr/>
        </p:nvSpPr>
        <p:spPr>
          <a:xfrm>
            <a:off x="4937760" y="3108960"/>
            <a:ext cx="1677499"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Fosforilación oxidativa</a:t>
            </a:r>
            <a:endParaRPr lang="es-AR" sz="1250" dirty="0">
              <a:latin typeface="Bahnschrift SemiBold Condensed"/>
            </a:endParaRPr>
          </a:p>
        </p:txBody>
      </p:sp>
      <p:grpSp>
        <p:nvGrpSpPr>
          <p:cNvPr id="16" name="Recuadro Concepto"/>
          <p:cNvGrpSpPr/>
          <p:nvPr/>
        </p:nvGrpSpPr>
        <p:grpSpPr>
          <a:xfrm>
            <a:off x="7406640" y="1005840"/>
            <a:ext cx="4389120" cy="2103120"/>
            <a:chOff x="7406640" y="1005840"/>
            <a:chExt cx="4389120" cy="2103120"/>
          </a:xfrm>
        </p:grpSpPr>
        <p:sp>
          <p:nvSpPr>
            <p:cNvPr id="17" name="Forma 18"/>
            <p:cNvSpPr/>
            <p:nvPr/>
          </p:nvSpPr>
          <p:spPr>
            <a:xfrm>
              <a:off x="7406640" y="1188720"/>
              <a:ext cx="4389120" cy="19202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«Aeróbico» y «anaeróbico» describen </a:t>
              </a:r>
              <a:r>
                <a:rPr lang="es-AR" sz="1650" b="1" dirty="0">
                  <a:solidFill>
                    <a:srgbClr val="1E1E1E"/>
                  </a:solidFill>
                  <a:latin typeface="Bahnschrift"/>
                  <a:ea typeface="Bahnschrift"/>
                  <a:cs typeface="Bahnschrift"/>
                  <a:sym typeface="Bahnschrift"/>
                </a:rPr>
                <a:t>contribuciones relativas</a:t>
              </a:r>
              <a:r>
                <a:rPr lang="es-AR" sz="1650" dirty="0">
                  <a:solidFill>
                    <a:srgbClr val="1E1E1E"/>
                  </a:solidFill>
                  <a:latin typeface="Bahnschrift"/>
                  <a:ea typeface="Bahnschrift"/>
                  <a:cs typeface="Bahnschrift"/>
                  <a:sym typeface="Bahnschrift"/>
                </a:rPr>
                <a:t>, no compartimentos mutuamente excluyentes.</a:t>
              </a:r>
              <a:endParaRPr lang="es-AR" sz="1650" dirty="0">
                <a:latin typeface="Bahnschrift"/>
              </a:endParaRPr>
            </a:p>
          </p:txBody>
        </p:sp>
        <p:sp>
          <p:nvSpPr>
            <p:cNvPr id="18" name="Forma 19"/>
            <p:cNvSpPr/>
            <p:nvPr/>
          </p:nvSpPr>
          <p:spPr>
            <a:xfrm>
              <a:off x="7516368" y="1005840"/>
              <a:ext cx="110475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CONCEPTO</a:t>
              </a:r>
              <a:endParaRPr lang="es-AR" sz="1500" dirty="0">
                <a:latin typeface="Bahnschrift SemiBold Condensed"/>
              </a:endParaRPr>
            </a:p>
          </p:txBody>
        </p:sp>
      </p:grpSp>
      <p:grpSp>
        <p:nvGrpSpPr>
          <p:cNvPr id="19" name="Recuadro Aplicación"/>
          <p:cNvGrpSpPr/>
          <p:nvPr/>
        </p:nvGrpSpPr>
        <p:grpSpPr>
          <a:xfrm>
            <a:off x="7406640" y="3291840"/>
            <a:ext cx="4389120" cy="3200400"/>
            <a:chOff x="7406640" y="3291840"/>
            <a:chExt cx="4389120" cy="3200400"/>
          </a:xfrm>
        </p:grpSpPr>
        <p:sp>
          <p:nvSpPr>
            <p:cNvPr id="20" name="Forma 21"/>
            <p:cNvSpPr/>
            <p:nvPr/>
          </p:nvSpPr>
          <p:spPr>
            <a:xfrm>
              <a:off x="7406640" y="3474720"/>
              <a:ext cx="4389120" cy="30175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Sprint</a:t>
              </a:r>
              <a:r>
                <a:rPr lang="es-AR" sz="1650" dirty="0">
                  <a:solidFill>
                    <a:srgbClr val="1E1E1E"/>
                  </a:solidFill>
                  <a:latin typeface="Bahnschrift"/>
                  <a:ea typeface="Bahnschrift"/>
                  <a:cs typeface="Bahnschrift"/>
                  <a:sym typeface="Bahnschrift"/>
                </a:rPr>
                <a:t>: ↑ lactato, AMP y productos de nucleótidos.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Carrera prolongada</a:t>
              </a:r>
              <a:r>
                <a:rPr lang="es-AR" sz="1650" dirty="0">
                  <a:solidFill>
                    <a:srgbClr val="1E1E1E"/>
                  </a:solidFill>
                  <a:latin typeface="Bahnschrift"/>
                  <a:ea typeface="Bahnschrift"/>
                  <a:cs typeface="Bahnschrift"/>
                  <a:sym typeface="Bahnschrift"/>
                </a:rPr>
                <a:t>: ↑ extracción de AG y recambio de glucógeno.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Entrenamiento</a:t>
              </a:r>
              <a:r>
                <a:rPr lang="es-AR" sz="1650" dirty="0">
                  <a:solidFill>
                    <a:srgbClr val="1E1E1E"/>
                  </a:solidFill>
                  <a:latin typeface="Bahnschrift"/>
                  <a:ea typeface="Bahnschrift"/>
                  <a:cs typeface="Bahnschrift"/>
                  <a:sym typeface="Bahnschrift"/>
                </a:rPr>
                <a:t>: ↑ densidad mitocondrial y enzimas oxidativas (</a:t>
              </a:r>
              <a:r>
                <a:rPr lang="es-AR" sz="1650" b="1" dirty="0">
                  <a:solidFill>
                    <a:srgbClr val="1E1E1E"/>
                  </a:solidFill>
                  <a:latin typeface="Bahnschrift"/>
                  <a:ea typeface="Bahnschrift"/>
                  <a:cs typeface="Bahnschrift"/>
                  <a:sym typeface="Bahnschrift"/>
                </a:rPr>
                <a:t>AMPK–PGC-1α</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1" name="Forma 22"/>
            <p:cNvSpPr/>
            <p:nvPr/>
          </p:nvSpPr>
          <p:spPr>
            <a:xfrm>
              <a:off x="7516368" y="3291840"/>
              <a:ext cx="120667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APLICACIÓN</a:t>
              </a:r>
              <a:endParaRPr lang="es-AR" sz="15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14045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14 · SISTEMAS DE PRODUCCIÓN DE ATP SEGÚN LA INTENSIDAD</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600"/>
                                        <p:tgtEl>
                                          <p:spTgt spid="10"/>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500"/>
                                        <p:tgtEl>
                                          <p:spTgt spid="13"/>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600"/>
                                        <p:tgtEl>
                                          <p:spTgt spid="11"/>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left)">
                                      <p:cBhvr>
                                        <p:cTn id="28" dur="600"/>
                                        <p:tgtEl>
                                          <p:spTgt spid="12"/>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11" grpId="0" animBg="1"/>
      <p:bldP spid="14" grpId="0" animBg="1"/>
      <p:bldP spid="12" grpId="0" animBg="1"/>
      <p:bldP spid="15" grpId="0" animBg="1"/>
    </p:bldLst>
  </p:timing>
</p:sld>
</file>

<file path=ppt/slides/slide97.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Adipocito M3"/>
          <p:cNvGrpSpPr/>
          <p:nvPr/>
        </p:nvGrpSpPr>
        <p:grpSpPr>
          <a:xfrm>
            <a:off x="1097280" y="1005840"/>
            <a:ext cx="5394960" cy="5394960"/>
            <a:chOff x="1097280" y="1005840"/>
            <a:chExt cx="5394960" cy="5394960"/>
          </a:xfrm>
        </p:grpSpPr>
        <p:sp>
          <p:nvSpPr>
            <p:cNvPr id="5" name="Forma 4"/>
            <p:cNvSpPr/>
            <p:nvPr/>
          </p:nvSpPr>
          <p:spPr>
            <a:xfrm>
              <a:off x="1097280" y="1005840"/>
              <a:ext cx="5394960" cy="539496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1367028" y="1275588"/>
              <a:ext cx="4855464" cy="4855464"/>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4981651" y="1329538"/>
              <a:ext cx="1186891" cy="647395"/>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1528877" y="4998110"/>
              <a:ext cx="539496" cy="269748"/>
              <a:chOff x="1528877" y="4998110"/>
              <a:chExt cx="539496" cy="269748"/>
            </a:xfrm>
          </p:grpSpPr>
          <p:sp>
            <p:nvSpPr>
              <p:cNvPr id="9" name="Forma 8"/>
              <p:cNvSpPr/>
              <p:nvPr/>
            </p:nvSpPr>
            <p:spPr>
              <a:xfrm rot="-2400000">
                <a:off x="1528877" y="4998110"/>
                <a:ext cx="539496" cy="269748"/>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1566642" y="5035875"/>
                <a:ext cx="463967" cy="194219"/>
              </a:xfrm>
              <a:prstGeom prst="ellipse">
                <a:avLst/>
              </a:prstGeom>
              <a:solidFill>
                <a:srgbClr val="F8D8B4"/>
              </a:solidFill>
              <a:ln w="9525" cap="rnd">
                <a:solidFill>
                  <a:srgbClr val="B2732B"/>
                </a:solidFill>
                <a:round/>
              </a:ln>
            </p:spPr>
          </p:sp>
          <p:sp>
            <p:nvSpPr>
              <p:cNvPr id="11" name="Forma 10"/>
              <p:cNvSpPr/>
              <p:nvPr/>
            </p:nvSpPr>
            <p:spPr>
              <a:xfrm rot="-2400000">
                <a:off x="1566642" y="5035875"/>
                <a:ext cx="463967" cy="19421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12" name="!!Rótulo M3"/>
          <p:cNvSpPr txBox="1"/>
          <p:nvPr/>
        </p:nvSpPr>
        <p:spPr>
          <a:xfrm>
            <a:off x="1097280" y="6263640"/>
            <a:ext cx="539496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Adipocito blanco: una gota única de TAG</a:t>
            </a:r>
            <a:endParaRPr lang="es-AR" sz="1300" dirty="0">
              <a:latin typeface="Bahnschrift SemiBold Condensed"/>
            </a:endParaRPr>
          </a:p>
        </p:txBody>
      </p:sp>
      <p:grpSp>
        <p:nvGrpSpPr>
          <p:cNvPr id="13" name="!!AG viajero 0"/>
          <p:cNvGrpSpPr/>
          <p:nvPr/>
        </p:nvGrpSpPr>
        <p:grpSpPr>
          <a:xfrm>
            <a:off x="2907792" y="3072384"/>
            <a:ext cx="1115568" cy="237744"/>
            <a:chOff x="2907792" y="3072384"/>
            <a:chExt cx="1115568" cy="237744"/>
          </a:xfrm>
        </p:grpSpPr>
        <p:sp>
          <p:nvSpPr>
            <p:cNvPr id="14" name="Flecha 13_2"/>
            <p:cNvSpPr/>
            <p:nvPr/>
          </p:nvSpPr>
          <p:spPr>
            <a:xfrm>
              <a:off x="3072384" y="3127248"/>
              <a:ext cx="950976" cy="182880"/>
            </a:xfrm>
            <a:custGeom>
              <a:avLst/>
              <a:gdLst/>
              <a:ahLst/>
              <a:cxnLst/>
              <a:rect l="0" t="0" r="r" b="b"/>
              <a:pathLst>
                <a:path w="1040" h="200" fill="none">
                  <a:moveTo>
                    <a:pt x="0" y="0"/>
                  </a:moveTo>
                  <a:lnTo>
                    <a:pt x="129" y="200"/>
                  </a:lnTo>
                  <a:lnTo>
                    <a:pt x="259" y="0"/>
                  </a:lnTo>
                  <a:lnTo>
                    <a:pt x="390" y="200"/>
                  </a:lnTo>
                  <a:lnTo>
                    <a:pt x="520" y="0"/>
                  </a:lnTo>
                  <a:lnTo>
                    <a:pt x="650" y="200"/>
                  </a:lnTo>
                  <a:lnTo>
                    <a:pt x="780" y="0"/>
                  </a:lnTo>
                  <a:lnTo>
                    <a:pt x="910" y="200"/>
                  </a:lnTo>
                  <a:lnTo>
                    <a:pt x="1040" y="0"/>
                  </a:lnTo>
                </a:path>
              </a:pathLst>
            </a:custGeom>
            <a:noFill/>
            <a:ln w="28575" cap="rnd">
              <a:solidFill>
                <a:srgbClr val="B7950B"/>
              </a:solidFill>
              <a:round/>
            </a:ln>
          </p:spPr>
        </p:sp>
        <p:sp>
          <p:nvSpPr>
            <p:cNvPr id="15" name="Forma 15"/>
            <p:cNvSpPr/>
            <p:nvPr/>
          </p:nvSpPr>
          <p:spPr>
            <a:xfrm>
              <a:off x="2907792" y="30723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6" name="!!AG viajero 1"/>
          <p:cNvGrpSpPr/>
          <p:nvPr/>
        </p:nvGrpSpPr>
        <p:grpSpPr>
          <a:xfrm>
            <a:off x="3273552" y="3529584"/>
            <a:ext cx="1115568" cy="237744"/>
            <a:chOff x="3273552" y="3529584"/>
            <a:chExt cx="1115568" cy="237744"/>
          </a:xfrm>
        </p:grpSpPr>
        <p:sp>
          <p:nvSpPr>
            <p:cNvPr id="17" name="Flecha 17_2"/>
            <p:cNvSpPr/>
            <p:nvPr/>
          </p:nvSpPr>
          <p:spPr>
            <a:xfrm>
              <a:off x="3438144" y="3584448"/>
              <a:ext cx="950976" cy="182880"/>
            </a:xfrm>
            <a:custGeom>
              <a:avLst/>
              <a:gdLst/>
              <a:ahLst/>
              <a:cxnLst/>
              <a:rect l="0" t="0" r="r" b="b"/>
              <a:pathLst>
                <a:path w="1040" h="200" fill="none">
                  <a:moveTo>
                    <a:pt x="0" y="0"/>
                  </a:moveTo>
                  <a:lnTo>
                    <a:pt x="129" y="200"/>
                  </a:lnTo>
                  <a:lnTo>
                    <a:pt x="260" y="0"/>
                  </a:lnTo>
                  <a:lnTo>
                    <a:pt x="390" y="200"/>
                  </a:lnTo>
                  <a:lnTo>
                    <a:pt x="520" y="0"/>
                  </a:lnTo>
                  <a:lnTo>
                    <a:pt x="649" y="200"/>
                  </a:lnTo>
                  <a:lnTo>
                    <a:pt x="779" y="0"/>
                  </a:lnTo>
                  <a:lnTo>
                    <a:pt x="909" y="200"/>
                  </a:lnTo>
                  <a:lnTo>
                    <a:pt x="1040" y="0"/>
                  </a:lnTo>
                </a:path>
              </a:pathLst>
            </a:custGeom>
            <a:noFill/>
            <a:ln w="28575" cap="rnd">
              <a:solidFill>
                <a:srgbClr val="B7950B"/>
              </a:solidFill>
              <a:round/>
            </a:ln>
          </p:spPr>
        </p:sp>
        <p:sp>
          <p:nvSpPr>
            <p:cNvPr id="18" name="Forma 19"/>
            <p:cNvSpPr/>
            <p:nvPr/>
          </p:nvSpPr>
          <p:spPr>
            <a:xfrm>
              <a:off x="3273552" y="35295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9" name="!!AG viajero 2"/>
          <p:cNvGrpSpPr/>
          <p:nvPr/>
        </p:nvGrpSpPr>
        <p:grpSpPr>
          <a:xfrm>
            <a:off x="3639312" y="3986784"/>
            <a:ext cx="1115568" cy="237744"/>
            <a:chOff x="3639312" y="3986784"/>
            <a:chExt cx="1115568" cy="237744"/>
          </a:xfrm>
        </p:grpSpPr>
        <p:sp>
          <p:nvSpPr>
            <p:cNvPr id="20" name="Flecha 21_2"/>
            <p:cNvSpPr/>
            <p:nvPr/>
          </p:nvSpPr>
          <p:spPr>
            <a:xfrm>
              <a:off x="3803904" y="4041648"/>
              <a:ext cx="950976" cy="182880"/>
            </a:xfrm>
            <a:custGeom>
              <a:avLst/>
              <a:gdLst/>
              <a:ahLst/>
              <a:cxnLst/>
              <a:rect l="0" t="0" r="r" b="b"/>
              <a:pathLst>
                <a:path w="1040" h="200" fill="none">
                  <a:moveTo>
                    <a:pt x="0" y="0"/>
                  </a:moveTo>
                  <a:lnTo>
                    <a:pt x="129" y="200"/>
                  </a:lnTo>
                  <a:lnTo>
                    <a:pt x="259" y="0"/>
                  </a:lnTo>
                  <a:lnTo>
                    <a:pt x="389" y="200"/>
                  </a:lnTo>
                  <a:lnTo>
                    <a:pt x="519" y="0"/>
                  </a:lnTo>
                  <a:lnTo>
                    <a:pt x="650" y="200"/>
                  </a:lnTo>
                  <a:lnTo>
                    <a:pt x="780" y="0"/>
                  </a:lnTo>
                  <a:lnTo>
                    <a:pt x="910" y="200"/>
                  </a:lnTo>
                  <a:lnTo>
                    <a:pt x="1040" y="0"/>
                  </a:lnTo>
                </a:path>
              </a:pathLst>
            </a:custGeom>
            <a:noFill/>
            <a:ln w="28575" cap="rnd">
              <a:solidFill>
                <a:srgbClr val="B7950B"/>
              </a:solidFill>
              <a:round/>
            </a:ln>
          </p:spPr>
        </p:sp>
        <p:sp>
          <p:nvSpPr>
            <p:cNvPr id="21" name="Forma 23"/>
            <p:cNvSpPr/>
            <p:nvPr/>
          </p:nvSpPr>
          <p:spPr>
            <a:xfrm>
              <a:off x="3639312" y="39867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2" name="!!Texto M3"/>
          <p:cNvGrpSpPr/>
          <p:nvPr/>
        </p:nvGrpSpPr>
        <p:grpSpPr>
          <a:xfrm>
            <a:off x="8138160" y="1005840"/>
            <a:ext cx="3657600" cy="3840480"/>
            <a:chOff x="8138160" y="1005840"/>
            <a:chExt cx="3657600" cy="3840480"/>
          </a:xfrm>
        </p:grpSpPr>
        <p:sp>
          <p:nvSpPr>
            <p:cNvPr id="23" name="Forma 25"/>
            <p:cNvSpPr/>
            <p:nvPr/>
          </p:nvSpPr>
          <p:spPr>
            <a:xfrm>
              <a:off x="8138160" y="1188720"/>
              <a:ext cx="3657600" cy="3657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mayor reserva energética: </a:t>
              </a:r>
              <a:r>
                <a:rPr lang="es-AR" sz="1750" b="1" dirty="0">
                  <a:solidFill>
                    <a:srgbClr val="1E1E1E"/>
                  </a:solidFill>
                  <a:latin typeface="Bahnschrift"/>
                  <a:ea typeface="Bahnschrift"/>
                  <a:cs typeface="Bahnschrift"/>
                  <a:sym typeface="Bahnschrift"/>
                </a:rPr>
                <a:t>TAG</a:t>
              </a:r>
              <a:r>
                <a:rPr lang="es-AR" sz="1750" dirty="0">
                  <a:solidFill>
                    <a:srgbClr val="1E1E1E"/>
                  </a:solidFill>
                  <a:latin typeface="Bahnschrift"/>
                  <a:ea typeface="Bahnschrift"/>
                  <a:cs typeface="Bahnschrift"/>
                  <a:sym typeface="Bahnschrift"/>
                </a:rPr>
                <a:t> en una gota rodeada de </a:t>
              </a:r>
              <a:r>
                <a:rPr lang="es-AR" sz="1750" b="1" dirty="0">
                  <a:solidFill>
                    <a:srgbClr val="1E1E1E"/>
                  </a:solidFill>
                  <a:latin typeface="Bahnschrift"/>
                  <a:ea typeface="Bahnschrift"/>
                  <a:cs typeface="Bahnschrift"/>
                  <a:sym typeface="Bahnschrift"/>
                </a:rPr>
                <a:t>perilipinas</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En ayuno o ejercicio se </a:t>
              </a:r>
              <a:r>
                <a:rPr lang="es-AR" sz="1750" b="1" dirty="0">
                  <a:solidFill>
                    <a:srgbClr val="1E1E1E"/>
                  </a:solidFill>
                  <a:latin typeface="Bahnschrift"/>
                  <a:ea typeface="Bahnschrift"/>
                  <a:cs typeface="Bahnschrift"/>
                  <a:sym typeface="Bahnschrift"/>
                </a:rPr>
                <a:t>movilizan</a:t>
              </a:r>
              <a:r>
                <a:rPr lang="es-AR" sz="1750" dirty="0">
                  <a:solidFill>
                    <a:srgbClr val="1E1E1E"/>
                  </a:solidFill>
                  <a:latin typeface="Bahnschrift"/>
                  <a:ea typeface="Bahnschrift"/>
                  <a:cs typeface="Bahnschrift"/>
                  <a:sym typeface="Bahnschrift"/>
                </a:rPr>
                <a:t> como AG + glicerol.</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Recorrido: gota → lipólisis → sangre → músculo → </a:t>
              </a:r>
              <a:r>
                <a:rPr lang="es-AR" sz="1750" b="1" dirty="0">
                  <a:solidFill>
                    <a:srgbClr val="1E1E1E"/>
                  </a:solidFill>
                  <a:latin typeface="Bahnschrift"/>
                  <a:ea typeface="Bahnschrift"/>
                  <a:cs typeface="Bahnschrift"/>
                  <a:sym typeface="Bahnschrift"/>
                </a:rPr>
                <a:t>mitocondria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24" name="Forma 26"/>
            <p:cNvSpPr/>
            <p:nvPr/>
          </p:nvSpPr>
          <p:spPr>
            <a:xfrm>
              <a:off x="8247888" y="1005840"/>
              <a:ext cx="102948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RESERVA</a:t>
              </a:r>
              <a:endParaRPr lang="es-AR" sz="1600" dirty="0">
                <a:latin typeface="Bahnschrift SemiBold Condensed"/>
              </a:endParaRPr>
            </a:p>
          </p:txBody>
        </p:sp>
      </p:grpSp>
      <p:sp>
        <p:nvSpPr>
          <p:cNvPr id="2" name="Etiqueta sección"/>
          <p:cNvSpPr/>
          <p:nvPr/>
        </p:nvSpPr>
        <p:spPr>
          <a:xfrm>
            <a:off x="9933250" y="201168"/>
            <a:ext cx="198412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3 · 1/5</a:t>
            </a:r>
            <a:endParaRPr lang="es-AR" sz="1300" dirty="0">
              <a:latin typeface="Bahnschrift SemiBold Condensed"/>
            </a:endParaRPr>
          </a:p>
        </p:txBody>
      </p:sp>
      <p:sp>
        <p:nvSpPr>
          <p:cNvPr id="3" name="Título"/>
          <p:cNvSpPr/>
          <p:nvPr/>
        </p:nvSpPr>
        <p:spPr>
          <a:xfrm>
            <a:off x="274320" y="146304"/>
            <a:ext cx="525150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METABOLISMO LIPÍDICO: EL ADIPOCITO</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97</a:t>
            </a:r>
            <a:endParaRPr lang="es-AR" sz="1000" dirty="0">
              <a:latin typeface="Bahnschrift SemiBold Condensed"/>
            </a:endParaRPr>
          </a:p>
        </p:txBody>
      </p:sp>
    </p:spTree>
  </p:cSld>
  <p:clrMapOvr>
    <a:masterClrMapping/>
  </p:clrMapOvr>
  <p:transition spd="med">
    <p:fade/>
  </p:transition>
</p:sld>
</file>

<file path=ppt/slides/slide98.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Adipocito M3"/>
          <p:cNvGrpSpPr/>
          <p:nvPr/>
        </p:nvGrpSpPr>
        <p:grpSpPr>
          <a:xfrm>
            <a:off x="-5486400" y="-2286000"/>
            <a:ext cx="14630400" cy="14630400"/>
            <a:chOff x="-5486400" y="-2286000"/>
            <a:chExt cx="14630400" cy="14630400"/>
          </a:xfrm>
        </p:grpSpPr>
        <p:sp>
          <p:nvSpPr>
            <p:cNvPr id="5" name="Forma 4"/>
            <p:cNvSpPr/>
            <p:nvPr/>
          </p:nvSpPr>
          <p:spPr>
            <a:xfrm>
              <a:off x="-5486400" y="-2286000"/>
              <a:ext cx="14630400" cy="1463040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4754880" y="-1554480"/>
              <a:ext cx="13167360" cy="13167360"/>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5047488" y="-1408176"/>
              <a:ext cx="3218688" cy="1755648"/>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4315968" y="8540496"/>
              <a:ext cx="1463040" cy="731520"/>
              <a:chOff x="-4315968" y="8540496"/>
              <a:chExt cx="1463040" cy="731520"/>
            </a:xfrm>
          </p:grpSpPr>
          <p:sp>
            <p:nvSpPr>
              <p:cNvPr id="9" name="Forma 8"/>
              <p:cNvSpPr/>
              <p:nvPr/>
            </p:nvSpPr>
            <p:spPr>
              <a:xfrm rot="-2400000">
                <a:off x="-4315968" y="8540496"/>
                <a:ext cx="1463040" cy="73152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4213555" y="8642909"/>
                <a:ext cx="1258214" cy="526694"/>
              </a:xfrm>
              <a:prstGeom prst="ellipse">
                <a:avLst/>
              </a:prstGeom>
              <a:solidFill>
                <a:srgbClr val="F8D8B4"/>
              </a:solidFill>
              <a:ln w="9525" cap="rnd">
                <a:solidFill>
                  <a:srgbClr val="B2732B"/>
                </a:solidFill>
                <a:round/>
              </a:ln>
            </p:spPr>
          </p:sp>
          <p:sp>
            <p:nvSpPr>
              <p:cNvPr id="11" name="Forma 10"/>
              <p:cNvSpPr/>
              <p:nvPr/>
            </p:nvSpPr>
            <p:spPr>
              <a:xfrm rot="-2400000">
                <a:off x="-4213555" y="8642909"/>
                <a:ext cx="1258214" cy="526694"/>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12" name="Perilipina 0"/>
          <p:cNvSpPr/>
          <p:nvPr/>
        </p:nvSpPr>
        <p:spPr>
          <a:xfrm>
            <a:off x="548640" y="10972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sp>
        <p:nvSpPr>
          <p:cNvPr id="13" name="Perilipina 1"/>
          <p:cNvSpPr/>
          <p:nvPr/>
        </p:nvSpPr>
        <p:spPr>
          <a:xfrm>
            <a:off x="1737360" y="13258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sp>
        <p:nvSpPr>
          <p:cNvPr id="14" name="Perilipina 2"/>
          <p:cNvSpPr/>
          <p:nvPr/>
        </p:nvSpPr>
        <p:spPr>
          <a:xfrm>
            <a:off x="2926080" y="10972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sp>
        <p:nvSpPr>
          <p:cNvPr id="15" name="Perilipina 3"/>
          <p:cNvSpPr/>
          <p:nvPr/>
        </p:nvSpPr>
        <p:spPr>
          <a:xfrm>
            <a:off x="4114800" y="13258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sp>
        <p:nvSpPr>
          <p:cNvPr id="16" name="Perilipina 4"/>
          <p:cNvSpPr/>
          <p:nvPr/>
        </p:nvSpPr>
        <p:spPr>
          <a:xfrm>
            <a:off x="5303520" y="10972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sp>
        <p:nvSpPr>
          <p:cNvPr id="17" name="Perilipina 5"/>
          <p:cNvSpPr/>
          <p:nvPr/>
        </p:nvSpPr>
        <p:spPr>
          <a:xfrm>
            <a:off x="6492240" y="1325880"/>
            <a:ext cx="822960" cy="320040"/>
          </a:xfrm>
          <a:prstGeom prst="roundRect">
            <a:avLst>
              <a:gd name="adj" fmla="val 50000"/>
            </a:avLst>
          </a:prstGeom>
          <a:gradFill rotWithShape="1">
            <a:gsLst>
              <a:gs pos="0">
                <a:srgbClr val="D2B6DF"/>
              </a:gs>
              <a:gs pos="55000">
                <a:srgbClr val="BB8FCE"/>
              </a:gs>
              <a:gs pos="100000">
                <a:srgbClr val="9572A4"/>
              </a:gs>
            </a:gsLst>
            <a:path path="circle">
              <a:fillToRect l="32000" t="28000" r="68000" b="72000"/>
            </a:path>
          </a:gradFill>
          <a:ln w="12700" cap="rnd">
            <a:solidFill>
              <a:srgbClr val="6C3483"/>
            </a:solidFill>
            <a:round/>
          </a:ln>
        </p:spPr>
        <p:txBody>
          <a:bodyPr wrap="square" lIns="73152" tIns="45720" rIns="73152" bIns="4572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PLIN1</a:t>
            </a:r>
            <a:endParaRPr lang="es-AR" sz="1100" dirty="0">
              <a:latin typeface="Bahnschrift SemiBold Condensed"/>
            </a:endParaRPr>
          </a:p>
        </p:txBody>
      </p:sp>
      <p:grpSp>
        <p:nvGrpSpPr>
          <p:cNvPr id="18" name="!!AG viajero 0"/>
          <p:cNvGrpSpPr/>
          <p:nvPr/>
        </p:nvGrpSpPr>
        <p:grpSpPr>
          <a:xfrm>
            <a:off x="2359152" y="3072384"/>
            <a:ext cx="1115568" cy="237744"/>
            <a:chOff x="2359152" y="3072384"/>
            <a:chExt cx="1115568" cy="237744"/>
          </a:xfrm>
        </p:grpSpPr>
        <p:sp>
          <p:nvSpPr>
            <p:cNvPr id="19" name="Flecha 18_2"/>
            <p:cNvSpPr/>
            <p:nvPr/>
          </p:nvSpPr>
          <p:spPr>
            <a:xfrm>
              <a:off x="2523744" y="3127248"/>
              <a:ext cx="950976" cy="182880"/>
            </a:xfrm>
            <a:custGeom>
              <a:avLst/>
              <a:gdLst/>
              <a:ahLst/>
              <a:cxnLst/>
              <a:rect l="0" t="0" r="r" b="b"/>
              <a:pathLst>
                <a:path w="1040" h="200" fill="none">
                  <a:moveTo>
                    <a:pt x="0" y="0"/>
                  </a:moveTo>
                  <a:lnTo>
                    <a:pt x="129" y="200"/>
                  </a:lnTo>
                  <a:lnTo>
                    <a:pt x="260" y="0"/>
                  </a:lnTo>
                  <a:lnTo>
                    <a:pt x="390" y="200"/>
                  </a:lnTo>
                  <a:lnTo>
                    <a:pt x="520" y="0"/>
                  </a:lnTo>
                  <a:lnTo>
                    <a:pt x="649" y="200"/>
                  </a:lnTo>
                  <a:lnTo>
                    <a:pt x="779" y="0"/>
                  </a:lnTo>
                  <a:lnTo>
                    <a:pt x="910" y="200"/>
                  </a:lnTo>
                  <a:lnTo>
                    <a:pt x="1040" y="0"/>
                  </a:lnTo>
                </a:path>
              </a:pathLst>
            </a:custGeom>
            <a:noFill/>
            <a:ln w="28575" cap="rnd">
              <a:solidFill>
                <a:srgbClr val="B7950B"/>
              </a:solidFill>
              <a:round/>
            </a:ln>
          </p:spPr>
        </p:sp>
        <p:sp>
          <p:nvSpPr>
            <p:cNvPr id="20" name="Forma 20"/>
            <p:cNvSpPr/>
            <p:nvPr/>
          </p:nvSpPr>
          <p:spPr>
            <a:xfrm>
              <a:off x="2359152" y="30723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1" name="!!AG viajero 1"/>
          <p:cNvGrpSpPr/>
          <p:nvPr/>
        </p:nvGrpSpPr>
        <p:grpSpPr>
          <a:xfrm>
            <a:off x="3456432" y="3621024"/>
            <a:ext cx="1115568" cy="237744"/>
            <a:chOff x="3456432" y="3621024"/>
            <a:chExt cx="1115568" cy="237744"/>
          </a:xfrm>
        </p:grpSpPr>
        <p:sp>
          <p:nvSpPr>
            <p:cNvPr id="22" name="Flecha 22_2"/>
            <p:cNvSpPr/>
            <p:nvPr/>
          </p:nvSpPr>
          <p:spPr>
            <a:xfrm>
              <a:off x="3621024" y="3675888"/>
              <a:ext cx="950976" cy="182880"/>
            </a:xfrm>
            <a:custGeom>
              <a:avLst/>
              <a:gdLst/>
              <a:ahLst/>
              <a:cxnLst/>
              <a:rect l="0" t="0" r="r" b="b"/>
              <a:pathLst>
                <a:path w="1040" h="200" fill="none">
                  <a:moveTo>
                    <a:pt x="0" y="0"/>
                  </a:moveTo>
                  <a:lnTo>
                    <a:pt x="129" y="200"/>
                  </a:lnTo>
                  <a:lnTo>
                    <a:pt x="259" y="0"/>
                  </a:lnTo>
                  <a:lnTo>
                    <a:pt x="389" y="200"/>
                  </a:lnTo>
                  <a:lnTo>
                    <a:pt x="520" y="0"/>
                  </a:lnTo>
                  <a:lnTo>
                    <a:pt x="650" y="200"/>
                  </a:lnTo>
                  <a:lnTo>
                    <a:pt x="780" y="0"/>
                  </a:lnTo>
                  <a:lnTo>
                    <a:pt x="910" y="200"/>
                  </a:lnTo>
                  <a:lnTo>
                    <a:pt x="1040" y="0"/>
                  </a:lnTo>
                </a:path>
              </a:pathLst>
            </a:custGeom>
            <a:noFill/>
            <a:ln w="28575" cap="rnd">
              <a:solidFill>
                <a:srgbClr val="B7950B"/>
              </a:solidFill>
              <a:round/>
            </a:ln>
          </p:spPr>
        </p:sp>
        <p:sp>
          <p:nvSpPr>
            <p:cNvPr id="23" name="Forma 24"/>
            <p:cNvSpPr/>
            <p:nvPr/>
          </p:nvSpPr>
          <p:spPr>
            <a:xfrm>
              <a:off x="3456432" y="36210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4" name="!!AG viajero 2"/>
          <p:cNvGrpSpPr/>
          <p:nvPr/>
        </p:nvGrpSpPr>
        <p:grpSpPr>
          <a:xfrm>
            <a:off x="4553712" y="3072384"/>
            <a:ext cx="1115568" cy="237744"/>
            <a:chOff x="4553712" y="3072384"/>
            <a:chExt cx="1115568" cy="237744"/>
          </a:xfrm>
        </p:grpSpPr>
        <p:sp>
          <p:nvSpPr>
            <p:cNvPr id="25" name="Flecha 26_2"/>
            <p:cNvSpPr/>
            <p:nvPr/>
          </p:nvSpPr>
          <p:spPr>
            <a:xfrm>
              <a:off x="4718304" y="3127248"/>
              <a:ext cx="950976" cy="182880"/>
            </a:xfrm>
            <a:custGeom>
              <a:avLst/>
              <a:gdLst/>
              <a:ahLst/>
              <a:cxnLst/>
              <a:rect l="0" t="0" r="r" b="b"/>
              <a:pathLst>
                <a:path w="1040" h="200" fill="none">
                  <a:moveTo>
                    <a:pt x="0" y="0"/>
                  </a:moveTo>
                  <a:lnTo>
                    <a:pt x="129" y="200"/>
                  </a:lnTo>
                  <a:lnTo>
                    <a:pt x="259" y="0"/>
                  </a:lnTo>
                  <a:lnTo>
                    <a:pt x="389" y="200"/>
                  </a:lnTo>
                  <a:lnTo>
                    <a:pt x="519" y="0"/>
                  </a:lnTo>
                  <a:lnTo>
                    <a:pt x="650" y="200"/>
                  </a:lnTo>
                  <a:lnTo>
                    <a:pt x="780" y="0"/>
                  </a:lnTo>
                  <a:lnTo>
                    <a:pt x="910" y="200"/>
                  </a:lnTo>
                  <a:lnTo>
                    <a:pt x="1040" y="0"/>
                  </a:lnTo>
                </a:path>
              </a:pathLst>
            </a:custGeom>
            <a:noFill/>
            <a:ln w="28575" cap="rnd">
              <a:solidFill>
                <a:srgbClr val="B7950B"/>
              </a:solidFill>
              <a:round/>
            </a:ln>
          </p:spPr>
        </p:sp>
        <p:sp>
          <p:nvSpPr>
            <p:cNvPr id="26" name="Forma 28"/>
            <p:cNvSpPr/>
            <p:nvPr/>
          </p:nvSpPr>
          <p:spPr>
            <a:xfrm>
              <a:off x="4553712" y="30723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27" name="TAG 0"/>
          <p:cNvSpPr/>
          <p:nvPr/>
        </p:nvSpPr>
        <p:spPr>
          <a:xfrm>
            <a:off x="1280160" y="4572000"/>
            <a:ext cx="548640" cy="54864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28" name="TAG 1"/>
          <p:cNvSpPr/>
          <p:nvPr/>
        </p:nvSpPr>
        <p:spPr>
          <a:xfrm>
            <a:off x="2651760" y="4572000"/>
            <a:ext cx="548640" cy="54864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29" name="TAG 2"/>
          <p:cNvSpPr/>
          <p:nvPr/>
        </p:nvSpPr>
        <p:spPr>
          <a:xfrm>
            <a:off x="4023360" y="4572000"/>
            <a:ext cx="548640" cy="54864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30" name="TAG 3"/>
          <p:cNvSpPr/>
          <p:nvPr/>
        </p:nvSpPr>
        <p:spPr>
          <a:xfrm>
            <a:off x="5394960" y="4572000"/>
            <a:ext cx="548640" cy="548640"/>
          </a:xfrm>
          <a:prstGeom prst="ellipse">
            <a:avLst/>
          </a:prstGeom>
          <a:gradFill rotWithShape="1">
            <a:gsLst>
              <a:gs pos="0">
                <a:srgbClr val="F9E8A1"/>
              </a:gs>
              <a:gs pos="55000">
                <a:srgbClr val="F7DC6F"/>
              </a:gs>
              <a:gs pos="100000">
                <a:srgbClr val="C5B058"/>
              </a:gs>
            </a:gsLst>
            <a:path path="circle">
              <a:fillToRect l="32000" t="28000" r="68000" b="72000"/>
            </a:path>
          </a:gradFill>
          <a:ln w="12700" cap="rnd">
            <a:solidFill>
              <a:srgbClr val="87793D"/>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sp>
        <p:nvSpPr>
          <p:cNvPr id="31" name="!!Rótulo M3"/>
          <p:cNvSpPr txBox="1"/>
          <p:nvPr/>
        </p:nvSpPr>
        <p:spPr>
          <a:xfrm>
            <a:off x="457200" y="5669280"/>
            <a:ext cx="6858000" cy="365760"/>
          </a:xfrm>
          <a:prstGeom prst="rect">
            <a:avLst/>
          </a:prstGeom>
          <a:noFill/>
          <a:ln>
            <a:noFill/>
          </a:ln>
        </p:spPr>
        <p:txBody>
          <a:bodyPr wrap="square" lIns="0" tIns="0" rIns="0" bIns="0" anchor="t" rtlCol="0">
            <a:noAutofit/>
          </a:bodyPr>
          <a:lstStyle/>
          <a:p>
            <a:pPr algn="ctr">
              <a:spcAft>
                <a:spcPts val="300"/>
              </a:spcAft>
              <a:buNone/>
            </a:pPr>
            <a:r>
              <a:rPr lang="es-AR" sz="1500" b="1" dirty="0">
                <a:solidFill>
                  <a:srgbClr val="7E5109"/>
                </a:solidFill>
                <a:latin typeface="Bahnschrift SemiBold Condensed"/>
                <a:ea typeface="Bahnschrift SemiBold Condensed"/>
                <a:cs typeface="Bahnschrift SemiBold Condensed"/>
                <a:sym typeface="Bahnschrift SemiBold Condensed"/>
              </a:rPr>
              <a:t>INTERIOR DE LA GOTA: TAG</a:t>
            </a:r>
            <a:endParaRPr lang="es-AR" sz="1500" dirty="0">
              <a:latin typeface="Bahnschrift SemiBold Condensed"/>
            </a:endParaRPr>
          </a:p>
        </p:txBody>
      </p:sp>
      <p:grpSp>
        <p:nvGrpSpPr>
          <p:cNvPr id="32" name="!!Texto M3"/>
          <p:cNvGrpSpPr/>
          <p:nvPr/>
        </p:nvGrpSpPr>
        <p:grpSpPr>
          <a:xfrm>
            <a:off x="8138160" y="1005840"/>
            <a:ext cx="3657600" cy="3840480"/>
            <a:chOff x="8138160" y="1005840"/>
            <a:chExt cx="3657600" cy="3840480"/>
          </a:xfrm>
        </p:grpSpPr>
        <p:sp>
          <p:nvSpPr>
            <p:cNvPr id="33" name="Forma 35"/>
            <p:cNvSpPr/>
            <p:nvPr/>
          </p:nvSpPr>
          <p:spPr>
            <a:xfrm>
              <a:off x="8138160" y="1188720"/>
              <a:ext cx="3657600" cy="3657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Perilipina 1</a:t>
              </a:r>
              <a:r>
                <a:rPr lang="es-AR" sz="1750" dirty="0">
                  <a:solidFill>
                    <a:srgbClr val="1E1E1E"/>
                  </a:solidFill>
                  <a:latin typeface="Bahnschrift"/>
                  <a:ea typeface="Bahnschrift"/>
                  <a:cs typeface="Bahnschrift"/>
                  <a:sym typeface="Bahnschrift"/>
                </a:rPr>
                <a:t> recubre la gota y regula el acceso de las lipasas.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En reposo alimentado </a:t>
              </a:r>
              <a:r>
                <a:rPr lang="es-AR" sz="1750" b="1" dirty="0">
                  <a:solidFill>
                    <a:srgbClr val="1E1E1E"/>
                  </a:solidFill>
                  <a:latin typeface="Bahnschrift"/>
                  <a:ea typeface="Bahnschrift"/>
                  <a:cs typeface="Bahnschrift"/>
                  <a:sym typeface="Bahnschrift"/>
                </a:rPr>
                <a:t>secuestra a CGI-58</a:t>
              </a:r>
              <a:r>
                <a:rPr lang="es-AR" sz="1750" dirty="0">
                  <a:solidFill>
                    <a:srgbClr val="1E1E1E"/>
                  </a:solidFill>
                  <a:latin typeface="Bahnschrift"/>
                  <a:ea typeface="Bahnschrift"/>
                  <a:cs typeface="Bahnschrift"/>
                  <a:sym typeface="Bahnschrift"/>
                </a:rPr>
                <a:t>: ATGL poco activa.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a:t>
              </a:r>
              <a:r>
                <a:rPr lang="es-AR" sz="1750" b="1" dirty="0">
                  <a:solidFill>
                    <a:srgbClr val="1E1E1E"/>
                  </a:solidFill>
                  <a:latin typeface="Bahnschrift"/>
                  <a:ea typeface="Bahnschrift"/>
                  <a:cs typeface="Bahnschrift"/>
                  <a:sym typeface="Bahnschrift"/>
                </a:rPr>
                <a:t>PKA</a:t>
              </a:r>
              <a:r>
                <a:rPr lang="es-AR" sz="1750" dirty="0">
                  <a:solidFill>
                    <a:srgbClr val="1E1E1E"/>
                  </a:solidFill>
                  <a:latin typeface="Bahnschrift"/>
                  <a:ea typeface="Bahnschrift"/>
                  <a:cs typeface="Bahnschrift"/>
                  <a:sym typeface="Bahnschrift"/>
                </a:rPr>
                <a:t> fosforila perilipina → libera CGI-58 → </a:t>
              </a:r>
              <a:r>
                <a:rPr lang="es-AR" sz="1750" b="1" dirty="0">
                  <a:solidFill>
                    <a:srgbClr val="1E1E1E"/>
                  </a:solidFill>
                  <a:latin typeface="Bahnschrift"/>
                  <a:ea typeface="Bahnschrift"/>
                  <a:cs typeface="Bahnschrift"/>
                  <a:sym typeface="Bahnschrift"/>
                </a:rPr>
                <a:t>activa ATGL</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34" name="Forma 36"/>
            <p:cNvSpPr/>
            <p:nvPr/>
          </p:nvSpPr>
          <p:spPr>
            <a:xfrm>
              <a:off x="8247888" y="1005840"/>
              <a:ext cx="144760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GOTA LIPÍDICA</a:t>
              </a:r>
              <a:endParaRPr lang="es-AR" sz="1600" dirty="0">
                <a:latin typeface="Bahnschrift SemiBold Condensed"/>
              </a:endParaRPr>
            </a:p>
          </p:txBody>
        </p:sp>
      </p:grpSp>
      <p:sp>
        <p:nvSpPr>
          <p:cNvPr id="2" name="Etiqueta sección"/>
          <p:cNvSpPr/>
          <p:nvPr/>
        </p:nvSpPr>
        <p:spPr>
          <a:xfrm>
            <a:off x="9905520" y="201168"/>
            <a:ext cx="201185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3 · 2/5</a:t>
            </a:r>
            <a:endParaRPr lang="es-AR" sz="1300" dirty="0">
              <a:latin typeface="Bahnschrift SemiBold Condensed"/>
            </a:endParaRPr>
          </a:p>
        </p:txBody>
      </p:sp>
      <p:sp>
        <p:nvSpPr>
          <p:cNvPr id="3" name="Título"/>
          <p:cNvSpPr/>
          <p:nvPr/>
        </p:nvSpPr>
        <p:spPr>
          <a:xfrm>
            <a:off x="274320" y="146304"/>
            <a:ext cx="574225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METABOLISMO LIPÍDICO: LA GOTA LIPÍDICA</a:t>
            </a:r>
            <a:endParaRPr lang="es-AR" sz="26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98</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21" fill="hold">
                      <p:stCondLst>
                        <p:cond delay="indefinite"/>
                      </p:stCondLst>
                      <p:childTnLst>
                        <p:par>
                          <p:cTn id="5" fill="hold">
                            <p:stCondLst>
                              <p:cond delay="0"/>
                            </p:stCondLst>
                            <p:childTnLst>
                              <p:par>
                                <p:cTn id="3" presetID="6" presetClass="emph" presetSubtype="0" fill="hold" grpId="0" nodeType="clickEffect">
                                  <p:stCondLst>
                                    <p:cond delay="0"/>
                                  </p:stCondLst>
                                  <p:childTnLst>
                                    <p:animScale>
                                      <p:cBhvr>
                                        <p:cTn id="4" dur="200" autoRev="1" fill="hold"/>
                                        <p:tgtEl>
                                          <p:spTgt spid="12"/>
                                        </p:tgtEl>
                                      </p:cBhvr>
                                      <p:by x="112000" y="112000"/>
                                    </p:animScale>
                                  </p:childTnLst>
                                </p:cTn>
                              </p:par>
                            </p:childTnLst>
                          </p:cTn>
                        </p:par>
                        <p:par>
                          <p:cTn id="8" fill="hold">
                            <p:stCondLst>
                              <p:cond delay="200"/>
                            </p:stCondLst>
                            <p:childTnLst>
                              <p:par>
                                <p:cTn id="6" presetID="6" presetClass="emph" presetSubtype="0" fill="hold" grpId="0" nodeType="afterEffect">
                                  <p:stCondLst>
                                    <p:cond delay="0"/>
                                  </p:stCondLst>
                                  <p:childTnLst>
                                    <p:animScale>
                                      <p:cBhvr>
                                        <p:cTn id="7" dur="200" autoRev="1" fill="hold"/>
                                        <p:tgtEl>
                                          <p:spTgt spid="13"/>
                                        </p:tgtEl>
                                      </p:cBhvr>
                                      <p:by x="112000" y="112000"/>
                                    </p:animScale>
                                  </p:childTnLst>
                                </p:cTn>
                              </p:par>
                            </p:childTnLst>
                          </p:cTn>
                        </p:par>
                        <p:par>
                          <p:cTn id="11" fill="hold">
                            <p:stCondLst>
                              <p:cond delay="400"/>
                            </p:stCondLst>
                            <p:childTnLst>
                              <p:par>
                                <p:cTn id="9" presetID="6" presetClass="emph" presetSubtype="0" fill="hold" grpId="0" nodeType="afterEffect">
                                  <p:stCondLst>
                                    <p:cond delay="0"/>
                                  </p:stCondLst>
                                  <p:childTnLst>
                                    <p:animScale>
                                      <p:cBhvr>
                                        <p:cTn id="10" dur="200" autoRev="1" fill="hold"/>
                                        <p:tgtEl>
                                          <p:spTgt spid="14"/>
                                        </p:tgtEl>
                                      </p:cBhvr>
                                      <p:by x="112000" y="112000"/>
                                    </p:animScale>
                                  </p:childTnLst>
                                </p:cTn>
                              </p:par>
                            </p:childTnLst>
                          </p:cTn>
                        </p:par>
                        <p:par>
                          <p:cTn id="14" fill="hold">
                            <p:stCondLst>
                              <p:cond delay="600"/>
                            </p:stCondLst>
                            <p:childTnLst>
                              <p:par>
                                <p:cTn id="12" presetID="6" presetClass="emph" presetSubtype="0" fill="hold" grpId="0" nodeType="afterEffect">
                                  <p:stCondLst>
                                    <p:cond delay="0"/>
                                  </p:stCondLst>
                                  <p:childTnLst>
                                    <p:animScale>
                                      <p:cBhvr>
                                        <p:cTn id="13" dur="200" autoRev="1" fill="hold"/>
                                        <p:tgtEl>
                                          <p:spTgt spid="15"/>
                                        </p:tgtEl>
                                      </p:cBhvr>
                                      <p:by x="112000" y="112000"/>
                                    </p:animScale>
                                  </p:childTnLst>
                                </p:cTn>
                              </p:par>
                            </p:childTnLst>
                          </p:cTn>
                        </p:par>
                        <p:par>
                          <p:cTn id="17" fill="hold">
                            <p:stCondLst>
                              <p:cond delay="800"/>
                            </p:stCondLst>
                            <p:childTnLst>
                              <p:par>
                                <p:cTn id="15" presetID="6" presetClass="emph" presetSubtype="0" fill="hold" grpId="0" nodeType="afterEffect">
                                  <p:stCondLst>
                                    <p:cond delay="0"/>
                                  </p:stCondLst>
                                  <p:childTnLst>
                                    <p:animScale>
                                      <p:cBhvr>
                                        <p:cTn id="16" dur="200" autoRev="1" fill="hold"/>
                                        <p:tgtEl>
                                          <p:spTgt spid="16"/>
                                        </p:tgtEl>
                                      </p:cBhvr>
                                      <p:by x="112000" y="112000"/>
                                    </p:animScale>
                                  </p:childTnLst>
                                </p:cTn>
                              </p:par>
                            </p:childTnLst>
                          </p:cTn>
                        </p:par>
                        <p:par>
                          <p:cTn id="20" fill="hold">
                            <p:stCondLst>
                              <p:cond delay="1000"/>
                            </p:stCondLst>
                            <p:childTnLst>
                              <p:par>
                                <p:cTn id="18" presetID="6" presetClass="emph" presetSubtype="0" fill="hold" grpId="0" nodeType="afterEffect">
                                  <p:stCondLst>
                                    <p:cond delay="0"/>
                                  </p:stCondLst>
                                  <p:childTnLst>
                                    <p:animScale>
                                      <p:cBhvr>
                                        <p:cTn id="19" dur="200" autoRev="1" fill="hold"/>
                                        <p:tgtEl>
                                          <p:spTgt spid="17"/>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Lst>
  </p:timing>
</p:sld>
</file>

<file path=ppt/slides/slide99.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Adipocito M3"/>
          <p:cNvGrpSpPr/>
          <p:nvPr/>
        </p:nvGrpSpPr>
        <p:grpSpPr>
          <a:xfrm>
            <a:off x="365760" y="1005840"/>
            <a:ext cx="3291840" cy="3291840"/>
            <a:chOff x="365760" y="1005840"/>
            <a:chExt cx="3291840" cy="3291840"/>
          </a:xfrm>
        </p:grpSpPr>
        <p:sp>
          <p:nvSpPr>
            <p:cNvPr id="5" name="Forma 4"/>
            <p:cNvSpPr/>
            <p:nvPr/>
          </p:nvSpPr>
          <p:spPr>
            <a:xfrm>
              <a:off x="365760" y="1005840"/>
              <a:ext cx="3291840" cy="329184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530352" y="1170432"/>
              <a:ext cx="2962656" cy="2962656"/>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2735885" y="1203350"/>
              <a:ext cx="724205" cy="395021"/>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629107" y="3441802"/>
              <a:ext cx="329184" cy="164592"/>
              <a:chOff x="629107" y="3441802"/>
              <a:chExt cx="329184" cy="164592"/>
            </a:xfrm>
          </p:grpSpPr>
          <p:sp>
            <p:nvSpPr>
              <p:cNvPr id="9" name="Forma 8"/>
              <p:cNvSpPr/>
              <p:nvPr/>
            </p:nvSpPr>
            <p:spPr>
              <a:xfrm rot="-2400000">
                <a:off x="629107" y="3441802"/>
                <a:ext cx="329184" cy="16459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652150" y="3464844"/>
                <a:ext cx="283098" cy="118506"/>
              </a:xfrm>
              <a:prstGeom prst="ellipse">
                <a:avLst/>
              </a:prstGeom>
              <a:solidFill>
                <a:srgbClr val="F8D8B4"/>
              </a:solidFill>
              <a:ln w="9525" cap="rnd">
                <a:solidFill>
                  <a:srgbClr val="B2732B"/>
                </a:solidFill>
                <a:round/>
              </a:ln>
            </p:spPr>
          </p:sp>
          <p:sp>
            <p:nvSpPr>
              <p:cNvPr id="11" name="Forma 10"/>
              <p:cNvSpPr/>
              <p:nvPr/>
            </p:nvSpPr>
            <p:spPr>
              <a:xfrm rot="-2400000">
                <a:off x="652150" y="3464844"/>
                <a:ext cx="283098" cy="11850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12" name="Lipólisis M3 TAG"/>
          <p:cNvSpPr/>
          <p:nvPr/>
        </p:nvSpPr>
        <p:spPr>
          <a:xfrm>
            <a:off x="3931920" y="1097280"/>
            <a:ext cx="1371600" cy="36576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TAG</a:t>
            </a:r>
            <a:endParaRPr lang="es-AR" sz="1300" dirty="0">
              <a:latin typeface="Bahnschrift SemiBold Condensed"/>
            </a:endParaRPr>
          </a:p>
        </p:txBody>
      </p:sp>
      <p:grpSp>
        <p:nvGrpSpPr>
          <p:cNvPr id="13" name="Lipólisis M3 paso 1"/>
          <p:cNvGrpSpPr/>
          <p:nvPr/>
        </p:nvGrpSpPr>
        <p:grpSpPr>
          <a:xfrm>
            <a:off x="4617720" y="1490472"/>
            <a:ext cx="615020" cy="356616"/>
            <a:chOff x="4617720" y="1490472"/>
            <a:chExt cx="615020" cy="356616"/>
          </a:xfrm>
        </p:grpSpPr>
        <p:sp>
          <p:nvSpPr>
            <p:cNvPr id="14" name="Flecha 13_2"/>
            <p:cNvSpPr/>
            <p:nvPr/>
          </p:nvSpPr>
          <p:spPr>
            <a:xfrm>
              <a:off x="4617720" y="149047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15" name="Enzima ATGL"/>
            <p:cNvSpPr/>
            <p:nvPr/>
          </p:nvSpPr>
          <p:spPr>
            <a:xfrm>
              <a:off x="4727448" y="1522476"/>
              <a:ext cx="50529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ATGL</a:t>
              </a:r>
              <a:endParaRPr lang="es-AR" sz="1150" dirty="0">
                <a:latin typeface="Bahnschrift SemiBold Condensed"/>
              </a:endParaRPr>
            </a:p>
          </p:txBody>
        </p:sp>
      </p:grpSp>
      <p:sp>
        <p:nvSpPr>
          <p:cNvPr id="16" name="Lipólisis M3 DAG"/>
          <p:cNvSpPr/>
          <p:nvPr/>
        </p:nvSpPr>
        <p:spPr>
          <a:xfrm>
            <a:off x="3931920" y="1874520"/>
            <a:ext cx="137160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DAG</a:t>
            </a:r>
            <a:endParaRPr lang="es-AR" sz="1300" dirty="0">
              <a:latin typeface="Bahnschrift SemiBold Condensed"/>
            </a:endParaRPr>
          </a:p>
        </p:txBody>
      </p:sp>
      <p:grpSp>
        <p:nvGrpSpPr>
          <p:cNvPr id="17" name="Lipólisis M3 paso 2"/>
          <p:cNvGrpSpPr/>
          <p:nvPr/>
        </p:nvGrpSpPr>
        <p:grpSpPr>
          <a:xfrm>
            <a:off x="4617720" y="2267712"/>
            <a:ext cx="543890" cy="356616"/>
            <a:chOff x="4617720" y="2267712"/>
            <a:chExt cx="543890" cy="356616"/>
          </a:xfrm>
        </p:grpSpPr>
        <p:sp>
          <p:nvSpPr>
            <p:cNvPr id="18" name="Flecha 18_2"/>
            <p:cNvSpPr/>
            <p:nvPr/>
          </p:nvSpPr>
          <p:spPr>
            <a:xfrm>
              <a:off x="4617720" y="22677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19" name="Enzima HSL"/>
            <p:cNvSpPr/>
            <p:nvPr/>
          </p:nvSpPr>
          <p:spPr>
            <a:xfrm>
              <a:off x="4727448" y="2299716"/>
              <a:ext cx="43416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HSL</a:t>
              </a:r>
              <a:endParaRPr lang="es-AR" sz="1150" dirty="0">
                <a:latin typeface="Bahnschrift SemiBold Condensed"/>
              </a:endParaRPr>
            </a:p>
          </p:txBody>
        </p:sp>
      </p:grpSp>
      <p:sp>
        <p:nvSpPr>
          <p:cNvPr id="20" name="Lipólisis M3 MAG"/>
          <p:cNvSpPr/>
          <p:nvPr/>
        </p:nvSpPr>
        <p:spPr>
          <a:xfrm>
            <a:off x="3931920" y="2651760"/>
            <a:ext cx="137160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MAG</a:t>
            </a:r>
            <a:endParaRPr lang="es-AR" sz="1300" dirty="0">
              <a:latin typeface="Bahnschrift SemiBold Condensed"/>
            </a:endParaRPr>
          </a:p>
        </p:txBody>
      </p:sp>
      <p:grpSp>
        <p:nvGrpSpPr>
          <p:cNvPr id="21" name="Lipólisis M3 paso 3"/>
          <p:cNvGrpSpPr/>
          <p:nvPr/>
        </p:nvGrpSpPr>
        <p:grpSpPr>
          <a:xfrm>
            <a:off x="4617720" y="3044952"/>
            <a:ext cx="558583" cy="356616"/>
            <a:chOff x="4617720" y="3044952"/>
            <a:chExt cx="558583" cy="356616"/>
          </a:xfrm>
        </p:grpSpPr>
        <p:sp>
          <p:nvSpPr>
            <p:cNvPr id="22" name="Flecha 23_2"/>
            <p:cNvSpPr/>
            <p:nvPr/>
          </p:nvSpPr>
          <p:spPr>
            <a:xfrm>
              <a:off x="4617720" y="304495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23" name="Enzima MGL"/>
            <p:cNvSpPr/>
            <p:nvPr/>
          </p:nvSpPr>
          <p:spPr>
            <a:xfrm>
              <a:off x="4727448" y="3076956"/>
              <a:ext cx="44885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MGL</a:t>
              </a:r>
              <a:endParaRPr lang="es-AR" sz="1150" dirty="0">
                <a:latin typeface="Bahnschrift SemiBold Condensed"/>
              </a:endParaRPr>
            </a:p>
          </p:txBody>
        </p:sp>
      </p:grpSp>
      <p:sp>
        <p:nvSpPr>
          <p:cNvPr id="24" name="Lipólisis M3 Glicerol"/>
          <p:cNvSpPr/>
          <p:nvPr/>
        </p:nvSpPr>
        <p:spPr>
          <a:xfrm>
            <a:off x="3931920" y="3429000"/>
            <a:ext cx="1371600" cy="365760"/>
          </a:xfrm>
          <a:prstGeom prst="roundRect">
            <a:avLst>
              <a:gd name="adj" fmla="val 30000"/>
            </a:avLst>
          </a:prstGeom>
          <a:solidFill>
            <a:srgbClr val="F8C593"/>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Glicerol</a:t>
            </a:r>
            <a:endParaRPr lang="es-AR" sz="1300" dirty="0">
              <a:latin typeface="Bahnschrift SemiBold Condensed"/>
            </a:endParaRPr>
          </a:p>
        </p:txBody>
      </p:sp>
      <p:grpSp>
        <p:nvGrpSpPr>
          <p:cNvPr id="25" name="!!Vaso M3"/>
          <p:cNvGrpSpPr/>
          <p:nvPr/>
        </p:nvGrpSpPr>
        <p:grpSpPr>
          <a:xfrm>
            <a:off x="274320" y="4572000"/>
            <a:ext cx="7589520" cy="1097280"/>
            <a:chOff x="274320" y="4572000"/>
            <a:chExt cx="7589520" cy="1097280"/>
          </a:xfrm>
        </p:grpSpPr>
        <p:sp>
          <p:nvSpPr>
            <p:cNvPr id="26" name="Forma 28"/>
            <p:cNvSpPr/>
            <p:nvPr/>
          </p:nvSpPr>
          <p:spPr>
            <a:xfrm>
              <a:off x="274320" y="4572000"/>
              <a:ext cx="7589520" cy="10972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7" name="Forma 29"/>
            <p:cNvSpPr/>
            <p:nvPr/>
          </p:nvSpPr>
          <p:spPr>
            <a:xfrm>
              <a:off x="438912" y="4769510"/>
              <a:ext cx="7260336" cy="702259"/>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8" name="Eritrocito"/>
            <p:cNvSpPr/>
            <p:nvPr/>
          </p:nvSpPr>
          <p:spPr>
            <a:xfrm>
              <a:off x="1245165" y="5106328"/>
              <a:ext cx="460858" cy="46085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9" name="Eritrocito_2"/>
            <p:cNvSpPr/>
            <p:nvPr/>
          </p:nvSpPr>
          <p:spPr>
            <a:xfrm>
              <a:off x="2319384" y="4869602"/>
              <a:ext cx="460858" cy="46085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0" name="Eritrocito_3"/>
            <p:cNvSpPr/>
            <p:nvPr/>
          </p:nvSpPr>
          <p:spPr>
            <a:xfrm>
              <a:off x="4520113" y="5048211"/>
              <a:ext cx="460858" cy="46085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1" name="Eritrocito_4"/>
            <p:cNvSpPr/>
            <p:nvPr/>
          </p:nvSpPr>
          <p:spPr>
            <a:xfrm>
              <a:off x="6086779" y="4930848"/>
              <a:ext cx="460858" cy="46085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32" name="Albúmina 0"/>
          <p:cNvSpPr/>
          <p:nvPr/>
        </p:nvSpPr>
        <p:spPr>
          <a:xfrm>
            <a:off x="1097280" y="4846320"/>
            <a:ext cx="1188720" cy="548640"/>
          </a:xfrm>
          <a:prstGeom prst="ellipse">
            <a:avLst/>
          </a:prstGeom>
          <a:gradFill rotWithShape="1">
            <a:gsLst>
              <a:gs pos="0">
                <a:srgbClr val="FBF0C5"/>
              </a:gs>
              <a:gs pos="55000">
                <a:srgbClr val="F9E79F"/>
              </a:gs>
              <a:gs pos="100000">
                <a:srgbClr val="C7B87F"/>
              </a:gs>
            </a:gsLst>
            <a:path path="circle">
              <a:fillToRect l="32000" t="28000" r="68000" b="72000"/>
            </a:path>
          </a:gradFill>
          <a:ln w="12700" cap="rnd">
            <a:solidFill>
              <a:srgbClr val="9A7D0A"/>
            </a:solidFill>
            <a:round/>
          </a:ln>
        </p:spPr>
        <p:txBody>
          <a:bodyPr wrap="square" lIns="73152" tIns="45720" rIns="73152" bIns="4572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Albúmina</a:t>
            </a:r>
            <a:endParaRPr lang="es-AR" sz="1100" dirty="0">
              <a:latin typeface="Bahnschrift SemiBold Condensed"/>
            </a:endParaRPr>
          </a:p>
        </p:txBody>
      </p:sp>
      <p:sp>
        <p:nvSpPr>
          <p:cNvPr id="33" name="Albúmina 1"/>
          <p:cNvSpPr/>
          <p:nvPr/>
        </p:nvSpPr>
        <p:spPr>
          <a:xfrm>
            <a:off x="3291840" y="4846320"/>
            <a:ext cx="1188720" cy="548640"/>
          </a:xfrm>
          <a:prstGeom prst="ellipse">
            <a:avLst/>
          </a:prstGeom>
          <a:gradFill rotWithShape="1">
            <a:gsLst>
              <a:gs pos="0">
                <a:srgbClr val="FBF0C5"/>
              </a:gs>
              <a:gs pos="55000">
                <a:srgbClr val="F9E79F"/>
              </a:gs>
              <a:gs pos="100000">
                <a:srgbClr val="C7B87F"/>
              </a:gs>
            </a:gsLst>
            <a:path path="circle">
              <a:fillToRect l="32000" t="28000" r="68000" b="72000"/>
            </a:path>
          </a:gradFill>
          <a:ln w="12700" cap="rnd">
            <a:solidFill>
              <a:srgbClr val="9A7D0A"/>
            </a:solidFill>
            <a:round/>
          </a:ln>
        </p:spPr>
        <p:txBody>
          <a:bodyPr wrap="square" lIns="73152" tIns="45720" rIns="73152" bIns="4572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Albúmina</a:t>
            </a:r>
            <a:endParaRPr lang="es-AR" sz="1100" dirty="0">
              <a:latin typeface="Bahnschrift SemiBold Condensed"/>
            </a:endParaRPr>
          </a:p>
        </p:txBody>
      </p:sp>
      <p:sp>
        <p:nvSpPr>
          <p:cNvPr id="34" name="Albúmina 2"/>
          <p:cNvSpPr/>
          <p:nvPr/>
        </p:nvSpPr>
        <p:spPr>
          <a:xfrm>
            <a:off x="5486400" y="4846320"/>
            <a:ext cx="1188720" cy="548640"/>
          </a:xfrm>
          <a:prstGeom prst="ellipse">
            <a:avLst/>
          </a:prstGeom>
          <a:gradFill rotWithShape="1">
            <a:gsLst>
              <a:gs pos="0">
                <a:srgbClr val="FBF0C5"/>
              </a:gs>
              <a:gs pos="55000">
                <a:srgbClr val="F9E79F"/>
              </a:gs>
              <a:gs pos="100000">
                <a:srgbClr val="C7B87F"/>
              </a:gs>
            </a:gsLst>
            <a:path path="circle">
              <a:fillToRect l="32000" t="28000" r="68000" b="72000"/>
            </a:path>
          </a:gradFill>
          <a:ln w="12700" cap="rnd">
            <a:solidFill>
              <a:srgbClr val="9A7D0A"/>
            </a:solidFill>
            <a:round/>
          </a:ln>
        </p:spPr>
        <p:txBody>
          <a:bodyPr wrap="square" lIns="73152" tIns="45720" rIns="73152" bIns="4572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Albúmina</a:t>
            </a:r>
            <a:endParaRPr lang="es-AR" sz="1100" dirty="0">
              <a:latin typeface="Bahnschrift SemiBold Condensed"/>
            </a:endParaRPr>
          </a:p>
        </p:txBody>
      </p:sp>
      <p:grpSp>
        <p:nvGrpSpPr>
          <p:cNvPr id="35" name="!!AG viajero 0"/>
          <p:cNvGrpSpPr/>
          <p:nvPr/>
        </p:nvGrpSpPr>
        <p:grpSpPr>
          <a:xfrm>
            <a:off x="1170432" y="4581144"/>
            <a:ext cx="1024128" cy="219456"/>
            <a:chOff x="1170432" y="4581144"/>
            <a:chExt cx="1024128" cy="219456"/>
          </a:xfrm>
        </p:grpSpPr>
        <p:sp>
          <p:nvSpPr>
            <p:cNvPr id="36" name="Flecha 38_2"/>
            <p:cNvSpPr/>
            <p:nvPr/>
          </p:nvSpPr>
          <p:spPr>
            <a:xfrm>
              <a:off x="1335024" y="4636008"/>
              <a:ext cx="859536" cy="164592"/>
            </a:xfrm>
            <a:custGeom>
              <a:avLst/>
              <a:gdLst/>
              <a:ahLst/>
              <a:cxnLst/>
              <a:rect l="0" t="0" r="r" b="b"/>
              <a:pathLst>
                <a:path w="940" h="180" fill="none">
                  <a:moveTo>
                    <a:pt x="0" y="0"/>
                  </a:moveTo>
                  <a:lnTo>
                    <a:pt x="117" y="180"/>
                  </a:lnTo>
                  <a:lnTo>
                    <a:pt x="235" y="0"/>
                  </a:lnTo>
                  <a:lnTo>
                    <a:pt x="352" y="180"/>
                  </a:lnTo>
                  <a:lnTo>
                    <a:pt x="470" y="0"/>
                  </a:lnTo>
                  <a:lnTo>
                    <a:pt x="587" y="180"/>
                  </a:lnTo>
                  <a:lnTo>
                    <a:pt x="705" y="0"/>
                  </a:lnTo>
                  <a:lnTo>
                    <a:pt x="822" y="180"/>
                  </a:lnTo>
                  <a:lnTo>
                    <a:pt x="940" y="0"/>
                  </a:lnTo>
                </a:path>
              </a:pathLst>
            </a:custGeom>
            <a:noFill/>
            <a:ln w="28575" cap="rnd">
              <a:solidFill>
                <a:srgbClr val="B7950B"/>
              </a:solidFill>
              <a:round/>
            </a:ln>
          </p:spPr>
        </p:sp>
        <p:sp>
          <p:nvSpPr>
            <p:cNvPr id="37" name="Forma 40"/>
            <p:cNvSpPr/>
            <p:nvPr/>
          </p:nvSpPr>
          <p:spPr>
            <a:xfrm>
              <a:off x="1170432" y="45811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38" name="!!AG viajero 1"/>
          <p:cNvGrpSpPr/>
          <p:nvPr/>
        </p:nvGrpSpPr>
        <p:grpSpPr>
          <a:xfrm>
            <a:off x="3364992" y="4581144"/>
            <a:ext cx="1024128" cy="219456"/>
            <a:chOff x="3364992" y="4581144"/>
            <a:chExt cx="1024128" cy="219456"/>
          </a:xfrm>
        </p:grpSpPr>
        <p:sp>
          <p:nvSpPr>
            <p:cNvPr id="39" name="Flecha 42_2"/>
            <p:cNvSpPr/>
            <p:nvPr/>
          </p:nvSpPr>
          <p:spPr>
            <a:xfrm>
              <a:off x="3529584" y="4636008"/>
              <a:ext cx="859536" cy="164592"/>
            </a:xfrm>
            <a:custGeom>
              <a:avLst/>
              <a:gdLst/>
              <a:ahLst/>
              <a:cxnLst/>
              <a:rect l="0" t="0" r="r" b="b"/>
              <a:pathLst>
                <a:path w="940" h="180" fill="none">
                  <a:moveTo>
                    <a:pt x="0" y="0"/>
                  </a:moveTo>
                  <a:lnTo>
                    <a:pt x="117" y="180"/>
                  </a:lnTo>
                  <a:lnTo>
                    <a:pt x="235" y="0"/>
                  </a:lnTo>
                  <a:lnTo>
                    <a:pt x="352" y="180"/>
                  </a:lnTo>
                  <a:lnTo>
                    <a:pt x="469" y="0"/>
                  </a:lnTo>
                  <a:lnTo>
                    <a:pt x="587" y="180"/>
                  </a:lnTo>
                  <a:lnTo>
                    <a:pt x="705" y="0"/>
                  </a:lnTo>
                  <a:lnTo>
                    <a:pt x="822" y="180"/>
                  </a:lnTo>
                  <a:lnTo>
                    <a:pt x="940" y="0"/>
                  </a:lnTo>
                </a:path>
              </a:pathLst>
            </a:custGeom>
            <a:noFill/>
            <a:ln w="28575" cap="rnd">
              <a:solidFill>
                <a:srgbClr val="B7950B"/>
              </a:solidFill>
              <a:round/>
            </a:ln>
          </p:spPr>
        </p:sp>
        <p:sp>
          <p:nvSpPr>
            <p:cNvPr id="40" name="Forma 44"/>
            <p:cNvSpPr/>
            <p:nvPr/>
          </p:nvSpPr>
          <p:spPr>
            <a:xfrm>
              <a:off x="3364992" y="45811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41" name="!!AG viajero 2"/>
          <p:cNvGrpSpPr/>
          <p:nvPr/>
        </p:nvGrpSpPr>
        <p:grpSpPr>
          <a:xfrm>
            <a:off x="5559552" y="4581144"/>
            <a:ext cx="1024128" cy="219456"/>
            <a:chOff x="5559552" y="4581144"/>
            <a:chExt cx="1024128" cy="219456"/>
          </a:xfrm>
        </p:grpSpPr>
        <p:sp>
          <p:nvSpPr>
            <p:cNvPr id="42" name="Flecha 46_2"/>
            <p:cNvSpPr/>
            <p:nvPr/>
          </p:nvSpPr>
          <p:spPr>
            <a:xfrm>
              <a:off x="5724144" y="4636008"/>
              <a:ext cx="859536" cy="164592"/>
            </a:xfrm>
            <a:custGeom>
              <a:avLst/>
              <a:gdLst/>
              <a:ahLst/>
              <a:cxnLst/>
              <a:rect l="0" t="0" r="r" b="b"/>
              <a:pathLst>
                <a:path w="940" h="180" fill="none">
                  <a:moveTo>
                    <a:pt x="0" y="0"/>
                  </a:moveTo>
                  <a:lnTo>
                    <a:pt x="117" y="180"/>
                  </a:lnTo>
                  <a:lnTo>
                    <a:pt x="235" y="0"/>
                  </a:lnTo>
                  <a:lnTo>
                    <a:pt x="352" y="180"/>
                  </a:lnTo>
                  <a:lnTo>
                    <a:pt x="469" y="0"/>
                  </a:lnTo>
                  <a:lnTo>
                    <a:pt x="587" y="180"/>
                  </a:lnTo>
                  <a:lnTo>
                    <a:pt x="705" y="0"/>
                  </a:lnTo>
                  <a:lnTo>
                    <a:pt x="822" y="180"/>
                  </a:lnTo>
                  <a:lnTo>
                    <a:pt x="940" y="0"/>
                  </a:lnTo>
                </a:path>
              </a:pathLst>
            </a:custGeom>
            <a:noFill/>
            <a:ln w="28575" cap="rnd">
              <a:solidFill>
                <a:srgbClr val="B7950B"/>
              </a:solidFill>
              <a:round/>
            </a:ln>
          </p:spPr>
        </p:sp>
        <p:sp>
          <p:nvSpPr>
            <p:cNvPr id="43" name="Forma 48"/>
            <p:cNvSpPr/>
            <p:nvPr/>
          </p:nvSpPr>
          <p:spPr>
            <a:xfrm>
              <a:off x="5559552" y="45811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44" name="Glicerol a hígado"/>
          <p:cNvSpPr/>
          <p:nvPr/>
        </p:nvSpPr>
        <p:spPr>
          <a:xfrm>
            <a:off x="5760720" y="3749040"/>
            <a:ext cx="411480" cy="411480"/>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170" b="1" dirty="0">
                <a:solidFill>
                  <a:srgbClr val="1E1E1E"/>
                </a:solidFill>
                <a:latin typeface="Bahnschrift SemiBold Condensed"/>
                <a:ea typeface="Bahnschrift SemiBold Condensed"/>
                <a:cs typeface="Bahnschrift SemiBold Condensed"/>
                <a:sym typeface="Bahnschrift SemiBold Condensed"/>
              </a:rPr>
              <a:t>Gli</a:t>
            </a:r>
            <a:endParaRPr lang="es-AR" sz="1170" dirty="0">
              <a:latin typeface="Bahnschrift SemiBold Condensed"/>
            </a:endParaRPr>
          </a:p>
        </p:txBody>
      </p:sp>
      <p:sp>
        <p:nvSpPr>
          <p:cNvPr id="45" name="Forma 50"/>
          <p:cNvSpPr txBox="1"/>
          <p:nvPr/>
        </p:nvSpPr>
        <p:spPr>
          <a:xfrm>
            <a:off x="6217920" y="3794760"/>
            <a:ext cx="1828800" cy="36576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9C640C"/>
                </a:solidFill>
                <a:latin typeface="Bahnschrift SemiBold Condensed"/>
                <a:ea typeface="Bahnschrift SemiBold Condensed"/>
                <a:cs typeface="Bahnschrift SemiBold Condensed"/>
                <a:sym typeface="Bahnschrift SemiBold Condensed"/>
              </a:rPr>
              <a:t>→ hígado</a:t>
            </a:r>
            <a:endParaRPr lang="es-AR" sz="1300" dirty="0">
              <a:latin typeface="Bahnschrift SemiBold Condensed"/>
            </a:endParaRPr>
          </a:p>
        </p:txBody>
      </p:sp>
      <p:sp>
        <p:nvSpPr>
          <p:cNvPr id="46" name="!!Rótulo M3"/>
          <p:cNvSpPr txBox="1"/>
          <p:nvPr/>
        </p:nvSpPr>
        <p:spPr>
          <a:xfrm>
            <a:off x="457200" y="5806440"/>
            <a:ext cx="6858000" cy="27432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6E1A12"/>
                </a:solidFill>
                <a:latin typeface="Bahnschrift SemiBold Condensed"/>
                <a:ea typeface="Bahnschrift SemiBold Condensed"/>
                <a:cs typeface="Bahnschrift SemiBold Condensed"/>
                <a:sym typeface="Bahnschrift SemiBold Condensed"/>
              </a:rPr>
              <a:t>SANGRE: AG unidos a albúmina</a:t>
            </a:r>
            <a:endParaRPr lang="es-AR" sz="1300" dirty="0">
              <a:latin typeface="Bahnschrift SemiBold Condensed"/>
            </a:endParaRPr>
          </a:p>
        </p:txBody>
      </p:sp>
      <p:grpSp>
        <p:nvGrpSpPr>
          <p:cNvPr id="47" name="!!Texto M3"/>
          <p:cNvGrpSpPr/>
          <p:nvPr/>
        </p:nvGrpSpPr>
        <p:grpSpPr>
          <a:xfrm>
            <a:off x="8138160" y="1005840"/>
            <a:ext cx="3657600" cy="3840480"/>
            <a:chOff x="8138160" y="1005840"/>
            <a:chExt cx="3657600" cy="3840480"/>
          </a:xfrm>
        </p:grpSpPr>
        <p:sp>
          <p:nvSpPr>
            <p:cNvPr id="48" name="Forma 53"/>
            <p:cNvSpPr/>
            <p:nvPr/>
          </p:nvSpPr>
          <p:spPr>
            <a:xfrm>
              <a:off x="8138160" y="1188720"/>
              <a:ext cx="3657600" cy="3657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ATGL</a:t>
              </a:r>
              <a:r>
                <a:rPr lang="es-AR" sz="1750" dirty="0">
                  <a:solidFill>
                    <a:srgbClr val="1E1E1E"/>
                  </a:solidFill>
                  <a:latin typeface="Bahnschrift"/>
                  <a:ea typeface="Bahnschrift"/>
                  <a:cs typeface="Bahnschrift"/>
                  <a:sym typeface="Bahnschrift"/>
                </a:rPr>
                <a:t> (TAG → DAG), </a:t>
              </a:r>
              <a:r>
                <a:rPr lang="es-AR" sz="1750" b="1" dirty="0">
                  <a:solidFill>
                    <a:srgbClr val="1E1E1E"/>
                  </a:solidFill>
                  <a:latin typeface="Bahnschrift"/>
                  <a:ea typeface="Bahnschrift"/>
                  <a:cs typeface="Bahnschrift"/>
                  <a:sym typeface="Bahnschrift"/>
                </a:rPr>
                <a:t>HSL</a:t>
              </a:r>
              <a:r>
                <a:rPr lang="es-AR" sz="1750" dirty="0">
                  <a:solidFill>
                    <a:srgbClr val="1E1E1E"/>
                  </a:solidFill>
                  <a:latin typeface="Bahnschrift"/>
                  <a:ea typeface="Bahnschrift"/>
                  <a:cs typeface="Bahnschrift"/>
                  <a:sym typeface="Bahnschrift"/>
                </a:rPr>
                <a:t> (DAG → MAG), </a:t>
              </a:r>
              <a:r>
                <a:rPr lang="es-AR" sz="1750" b="1" dirty="0">
                  <a:solidFill>
                    <a:srgbClr val="1E1E1E"/>
                  </a:solidFill>
                  <a:latin typeface="Bahnschrift"/>
                  <a:ea typeface="Bahnschrift"/>
                  <a:cs typeface="Bahnschrift"/>
                  <a:sym typeface="Bahnschrift"/>
                </a:rPr>
                <a:t>MGL</a:t>
              </a:r>
              <a:r>
                <a:rPr lang="es-AR" sz="1750" dirty="0">
                  <a:solidFill>
                    <a:srgbClr val="1E1E1E"/>
                  </a:solidFill>
                  <a:latin typeface="Bahnschrift"/>
                  <a:ea typeface="Bahnschrift"/>
                  <a:cs typeface="Bahnschrift"/>
                  <a:sym typeface="Bahnschrift"/>
                </a:rPr>
                <a:t> (MAG → glicerol + AG).</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Los </a:t>
              </a:r>
              <a:r>
                <a:rPr lang="es-AR" sz="1750" b="1" dirty="0">
                  <a:solidFill>
                    <a:srgbClr val="1E1E1E"/>
                  </a:solidFill>
                  <a:latin typeface="Bahnschrift"/>
                  <a:ea typeface="Bahnschrift"/>
                  <a:cs typeface="Bahnschrift"/>
                  <a:sym typeface="Bahnschrift"/>
                </a:rPr>
                <a:t>AG</a:t>
              </a:r>
              <a:r>
                <a:rPr lang="es-AR" sz="1750" dirty="0">
                  <a:solidFill>
                    <a:srgbClr val="1E1E1E"/>
                  </a:solidFill>
                  <a:latin typeface="Bahnschrift"/>
                  <a:ea typeface="Bahnschrift"/>
                  <a:cs typeface="Bahnschrift"/>
                  <a:sym typeface="Bahnschrift"/>
                </a:rPr>
                <a:t> salen unidos a </a:t>
              </a:r>
              <a:r>
                <a:rPr lang="es-AR" sz="1750" b="1" dirty="0">
                  <a:solidFill>
                    <a:srgbClr val="1E1E1E"/>
                  </a:solidFill>
                  <a:latin typeface="Bahnschrift"/>
                  <a:ea typeface="Bahnschrift"/>
                  <a:cs typeface="Bahnschrift"/>
                  <a:sym typeface="Bahnschrift"/>
                </a:rPr>
                <a:t>albúmina</a:t>
              </a:r>
              <a:r>
                <a:rPr lang="es-AR" sz="1750" dirty="0">
                  <a:solidFill>
                    <a:srgbClr val="1E1E1E"/>
                  </a:solidFill>
                  <a:latin typeface="Bahnschrift"/>
                  <a:ea typeface="Bahnschrift"/>
                  <a:cs typeface="Bahnschrift"/>
                  <a:sym typeface="Bahnschrift"/>
                </a:rPr>
                <a:t> (AG no esterificados).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El </a:t>
              </a:r>
              <a:r>
                <a:rPr lang="es-AR" sz="1750" b="1" dirty="0">
                  <a:solidFill>
                    <a:srgbClr val="1E1E1E"/>
                  </a:solidFill>
                  <a:latin typeface="Bahnschrift"/>
                  <a:ea typeface="Bahnschrift"/>
                  <a:cs typeface="Bahnschrift"/>
                  <a:sym typeface="Bahnschrift"/>
                </a:rPr>
                <a:t>glicerol</a:t>
              </a:r>
              <a:r>
                <a:rPr lang="es-AR" sz="1750" dirty="0">
                  <a:solidFill>
                    <a:srgbClr val="1E1E1E"/>
                  </a:solidFill>
                  <a:latin typeface="Bahnschrift"/>
                  <a:ea typeface="Bahnschrift"/>
                  <a:cs typeface="Bahnschrift"/>
                  <a:sym typeface="Bahnschrift"/>
                </a:rPr>
                <a:t> va al hígado y al riñón (glicerol cinasa).</a:t>
              </a:r>
              <a:endParaRPr lang="es-AR" sz="1750" dirty="0">
                <a:latin typeface="Bahnschrift"/>
              </a:endParaRPr>
            </a:p>
          </p:txBody>
        </p:sp>
        <p:sp>
          <p:nvSpPr>
            <p:cNvPr id="49" name="Forma 54"/>
            <p:cNvSpPr/>
            <p:nvPr/>
          </p:nvSpPr>
          <p:spPr>
            <a:xfrm>
              <a:off x="8247888" y="1005840"/>
              <a:ext cx="107711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LIPÓLISIS</a:t>
              </a:r>
              <a:endParaRPr lang="es-AR" sz="1600" dirty="0">
                <a:latin typeface="Bahnschrift SemiBold Condensed"/>
              </a:endParaRPr>
            </a:p>
          </p:txBody>
        </p:sp>
      </p:grpSp>
      <p:sp>
        <p:nvSpPr>
          <p:cNvPr id="2" name="Etiqueta sección"/>
          <p:cNvSpPr/>
          <p:nvPr/>
        </p:nvSpPr>
        <p:spPr>
          <a:xfrm>
            <a:off x="9906391" y="201168"/>
            <a:ext cx="201098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3 · 3/5</a:t>
            </a:r>
            <a:endParaRPr lang="es-AR" sz="1300" dirty="0">
              <a:latin typeface="Bahnschrift SemiBold Condensed"/>
            </a:endParaRPr>
          </a:p>
        </p:txBody>
      </p:sp>
      <p:sp>
        <p:nvSpPr>
          <p:cNvPr id="3" name="Título"/>
          <p:cNvSpPr/>
          <p:nvPr/>
        </p:nvSpPr>
        <p:spPr>
          <a:xfrm>
            <a:off x="274320" y="146304"/>
            <a:ext cx="771308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METABOLISMO LIPÍDICO: LIPÓLISIS Y SALIDA A LA SANGRE</a:t>
            </a:r>
            <a:endParaRPr lang="es-AR" sz="2600" dirty="0">
              <a:latin typeface="Bahnschrift SemiBold Condensed"/>
            </a:endParaRPr>
          </a:p>
        </p:txBody>
      </p:sp>
      <p:sp>
        <p:nvSpPr>
          <p:cNvPr id="5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99</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2"/>
                                        </p:tgtEl>
                                        <p:attrNameLst>
                                          <p:attrName>style.visibility</p:attrName>
                                        </p:attrNameLst>
                                      </p:cBhvr>
                                      <p:to>
                                        <p:strVal val="visible"/>
                                      </p:to>
                                    </p:set>
                                    <p:animEffect transition="in" filter="fade">
                                      <p:cBhvr>
                                        <p:cTn id="5" dur="500"/>
                                        <p:tgtEl>
                                          <p:spTgt spid="12"/>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1"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wipe(up)">
                                      <p:cBhvr>
                                        <p:cTn id="10" dur="600"/>
                                        <p:tgtEl>
                                          <p:spTgt spid="13"/>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up)">
                                      <p:cBhvr>
                                        <p:cTn id="19" dur="600"/>
                                        <p:tgtEl>
                                          <p:spTgt spid="17"/>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wipe(up)">
                                      <p:cBhvr>
                                        <p:cTn id="28" dur="600"/>
                                        <p:tgtEl>
                                          <p:spTgt spid="21"/>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52"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500"/>
                                        <p:tgtEl>
                                          <p:spTgt spid="32"/>
                                        </p:tgtEl>
                                      </p:cBhvr>
                                    </p:animEffect>
                                  </p:childTnLst>
                                </p:cTn>
                              </p:par>
                            </p:childTnLst>
                          </p:cTn>
                        </p:par>
                        <p:par>
                          <p:cTn id="42" fill="hold">
                            <p:stCondLst>
                              <p:cond delay="500"/>
                            </p:stCondLst>
                            <p:childTnLst>
                              <p:par>
                                <p:cTn id="39" presetID="10" presetClass="entr" presetSubtype="0" fill="hold" grpId="0" nodeType="after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childTnLst>
                          </p:cTn>
                        </p:par>
                        <p:par>
                          <p:cTn id="51" fill="hold">
                            <p:stCondLst>
                              <p:cond delay="1000"/>
                            </p:stCondLst>
                            <p:childTnLst>
                              <p:par>
                                <p:cTn id="43" presetID="10" presetClass="entr" presetSubtype="0"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anim calcmode="lin" valueType="num">
                                      <p:cBhvr>
                                        <p:cTn id="48" dur="500" fill="hold"/>
                                        <p:tgtEl>
                                          <p:spTgt spid="44"/>
                                        </p:tgtEl>
                                        <p:attrNameLst>
                                          <p:attrName>ppt_w</p:attrName>
                                        </p:attrNameLst>
                                      </p:cBhvr>
                                      <p:tavLst>
                                        <p:tav tm="0">
                                          <p:val>
                                            <p:fltVal val="0"/>
                                          </p:val>
                                        </p:tav>
                                        <p:tav tm="100000">
                                          <p:val>
                                            <p:strVal val="#ppt_w"/>
                                          </p:val>
                                        </p:tav>
                                      </p:tavLst>
                                    </p:anim>
                                    <p:anim calcmode="lin" valueType="num">
                                      <p:cBhvr>
                                        <p:cTn id="49" dur="500" fill="hold"/>
                                        <p:tgtEl>
                                          <p:spTgt spid="44"/>
                                        </p:tgtEl>
                                        <p:attrNameLst>
                                          <p:attrName>ppt_h</p:attrName>
                                        </p:attrNameLst>
                                      </p:cBhvr>
                                      <p:tavLst>
                                        <p:tav tm="0">
                                          <p:val>
                                            <p:fltVal val="0"/>
                                          </p:val>
                                        </p:tav>
                                        <p:tav tm="100000">
                                          <p:val>
                                            <p:strVal val="#ppt_h"/>
                                          </p:val>
                                        </p:tav>
                                      </p:tavLst>
                                    </p:anim>
                                    <p:animEffect transition="in" filter="fade">
                                      <p:cBhvr>
                                        <p:cTn id="5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20" grpId="0" animBg="1"/>
      <p:bldP spid="24" grpId="0" animBg="1"/>
      <p:bldP spid="32" grpId="0" animBg="1"/>
      <p:bldP spid="33" grpId="0" animBg="1"/>
      <p:bldP spid="34" grpId="0" animBg="1"/>
      <p:bldP spid="44" grpId="0" animBg="1"/>
    </p:bldLst>
  </p:timing>
</p:sld>
</file>

<file path=ppt/slides/slide100.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Vaso M3"/>
          <p:cNvGrpSpPr/>
          <p:nvPr/>
        </p:nvGrpSpPr>
        <p:grpSpPr>
          <a:xfrm>
            <a:off x="274320" y="960120"/>
            <a:ext cx="11521440" cy="960120"/>
            <a:chOff x="274320" y="960120"/>
            <a:chExt cx="11521440" cy="960120"/>
          </a:xfrm>
        </p:grpSpPr>
        <p:sp>
          <p:nvSpPr>
            <p:cNvPr id="5" name="Forma 4"/>
            <p:cNvSpPr/>
            <p:nvPr/>
          </p:nvSpPr>
          <p:spPr>
            <a:xfrm>
              <a:off x="274320" y="960120"/>
              <a:ext cx="11521440" cy="96012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418338" y="1132942"/>
              <a:ext cx="11233404" cy="614477"/>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1247727" y="1427657"/>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2395121" y="1220522"/>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4745764" y="1376805"/>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6419151" y="1274112"/>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 name="Eritrocito_5"/>
            <p:cNvSpPr/>
            <p:nvPr/>
          </p:nvSpPr>
          <p:spPr>
            <a:xfrm>
              <a:off x="8165647" y="1345801"/>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2" name="Eritrocito_6"/>
            <p:cNvSpPr/>
            <p:nvPr/>
          </p:nvSpPr>
          <p:spPr>
            <a:xfrm>
              <a:off x="9940135" y="1238167"/>
              <a:ext cx="403250" cy="40325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3" name="!!Fibra M3"/>
          <p:cNvGrpSpPr/>
          <p:nvPr/>
        </p:nvGrpSpPr>
        <p:grpSpPr>
          <a:xfrm>
            <a:off x="365760" y="3200400"/>
            <a:ext cx="7498080" cy="1920240"/>
            <a:chOff x="365760" y="3200400"/>
            <a:chExt cx="7498080" cy="1920240"/>
          </a:xfrm>
        </p:grpSpPr>
        <p:sp>
          <p:nvSpPr>
            <p:cNvPr id="14" name="Forma 13"/>
            <p:cNvSpPr/>
            <p:nvPr/>
          </p:nvSpPr>
          <p:spPr>
            <a:xfrm>
              <a:off x="365760" y="3200400"/>
              <a:ext cx="7498080" cy="192024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5" name="Forma 14"/>
            <p:cNvSpPr/>
            <p:nvPr/>
          </p:nvSpPr>
          <p:spPr>
            <a:xfrm>
              <a:off x="845820" y="3200400"/>
              <a:ext cx="6537960" cy="1920240"/>
            </a:xfrm>
            <a:custGeom>
              <a:avLst/>
              <a:gdLst/>
              <a:ahLst/>
              <a:cxnLst/>
              <a:rect l="0" t="0" r="r" b="b"/>
              <a:pathLst>
                <a:path w="1000" h="1000" fill="none">
                  <a:moveTo>
                    <a:pt x="5" y="80"/>
                  </a:moveTo>
                  <a:lnTo>
                    <a:pt x="5" y="920"/>
                  </a:lnTo>
                </a:path>
                <a:path w="1000" h="1000" fill="none">
                  <a:moveTo>
                    <a:pt x="16" y="80"/>
                  </a:moveTo>
                  <a:lnTo>
                    <a:pt x="16" y="920"/>
                  </a:lnTo>
                </a:path>
                <a:path w="1000" h="1000" fill="none">
                  <a:moveTo>
                    <a:pt x="27" y="80"/>
                  </a:moveTo>
                  <a:lnTo>
                    <a:pt x="27" y="920"/>
                  </a:lnTo>
                </a:path>
                <a:path w="1000" h="1000" fill="none">
                  <a:moveTo>
                    <a:pt x="38" y="80"/>
                  </a:moveTo>
                  <a:lnTo>
                    <a:pt x="38" y="920"/>
                  </a:lnTo>
                </a:path>
                <a:path w="1000" h="1000" fill="none">
                  <a:moveTo>
                    <a:pt x="49" y="80"/>
                  </a:moveTo>
                  <a:lnTo>
                    <a:pt x="49" y="920"/>
                  </a:lnTo>
                </a:path>
                <a:path w="1000" h="1000" fill="none">
                  <a:moveTo>
                    <a:pt x="60" y="80"/>
                  </a:moveTo>
                  <a:lnTo>
                    <a:pt x="60" y="920"/>
                  </a:lnTo>
                </a:path>
                <a:path w="1000" h="1000" fill="none">
                  <a:moveTo>
                    <a:pt x="71" y="80"/>
                  </a:moveTo>
                  <a:lnTo>
                    <a:pt x="71" y="920"/>
                  </a:lnTo>
                </a:path>
                <a:path w="1000" h="1000" fill="none">
                  <a:moveTo>
                    <a:pt x="82" y="80"/>
                  </a:moveTo>
                  <a:lnTo>
                    <a:pt x="82" y="920"/>
                  </a:lnTo>
                </a:path>
                <a:path w="1000" h="1000" fill="none">
                  <a:moveTo>
                    <a:pt x="93" y="80"/>
                  </a:moveTo>
                  <a:lnTo>
                    <a:pt x="93" y="920"/>
                  </a:lnTo>
                </a:path>
                <a:path w="1000" h="1000" fill="none">
                  <a:moveTo>
                    <a:pt x="104" y="80"/>
                  </a:moveTo>
                  <a:lnTo>
                    <a:pt x="104" y="920"/>
                  </a:lnTo>
                </a:path>
                <a:path w="1000" h="1000" fill="none">
                  <a:moveTo>
                    <a:pt x="115" y="80"/>
                  </a:moveTo>
                  <a:lnTo>
                    <a:pt x="115" y="920"/>
                  </a:lnTo>
                </a:path>
                <a:path w="1000" h="1000" fill="none">
                  <a:moveTo>
                    <a:pt x="126" y="80"/>
                  </a:moveTo>
                  <a:lnTo>
                    <a:pt x="126" y="920"/>
                  </a:lnTo>
                </a:path>
                <a:path w="1000" h="1000" fill="none">
                  <a:moveTo>
                    <a:pt x="137" y="80"/>
                  </a:moveTo>
                  <a:lnTo>
                    <a:pt x="137" y="920"/>
                  </a:lnTo>
                </a:path>
                <a:path w="1000" h="1000" fill="none">
                  <a:moveTo>
                    <a:pt x="148" y="80"/>
                  </a:moveTo>
                  <a:lnTo>
                    <a:pt x="148" y="920"/>
                  </a:lnTo>
                </a:path>
                <a:path w="1000" h="1000" fill="none">
                  <a:moveTo>
                    <a:pt x="159" y="80"/>
                  </a:moveTo>
                  <a:lnTo>
                    <a:pt x="159" y="920"/>
                  </a:lnTo>
                </a:path>
                <a:path w="1000" h="1000" fill="none">
                  <a:moveTo>
                    <a:pt x="170" y="80"/>
                  </a:moveTo>
                  <a:lnTo>
                    <a:pt x="170" y="920"/>
                  </a:lnTo>
                </a:path>
                <a:path w="1000" h="1000" fill="none">
                  <a:moveTo>
                    <a:pt x="181" y="80"/>
                  </a:moveTo>
                  <a:lnTo>
                    <a:pt x="181" y="920"/>
                  </a:lnTo>
                </a:path>
                <a:path w="1000" h="1000" fill="none">
                  <a:moveTo>
                    <a:pt x="192" y="80"/>
                  </a:moveTo>
                  <a:lnTo>
                    <a:pt x="192" y="920"/>
                  </a:lnTo>
                </a:path>
                <a:path w="1000" h="1000" fill="none">
                  <a:moveTo>
                    <a:pt x="203" y="80"/>
                  </a:moveTo>
                  <a:lnTo>
                    <a:pt x="203" y="920"/>
                  </a:lnTo>
                </a:path>
                <a:path w="1000" h="1000" fill="none">
                  <a:moveTo>
                    <a:pt x="214" y="80"/>
                  </a:moveTo>
                  <a:lnTo>
                    <a:pt x="214" y="920"/>
                  </a:lnTo>
                </a:path>
                <a:path w="1000" h="1000" fill="none">
                  <a:moveTo>
                    <a:pt x="225" y="80"/>
                  </a:moveTo>
                  <a:lnTo>
                    <a:pt x="225" y="920"/>
                  </a:lnTo>
                </a:path>
                <a:path w="1000" h="1000" fill="none">
                  <a:moveTo>
                    <a:pt x="236" y="80"/>
                  </a:moveTo>
                  <a:lnTo>
                    <a:pt x="236" y="920"/>
                  </a:lnTo>
                </a:path>
                <a:path w="1000" h="1000" fill="none">
                  <a:moveTo>
                    <a:pt x="247" y="80"/>
                  </a:moveTo>
                  <a:lnTo>
                    <a:pt x="247" y="920"/>
                  </a:lnTo>
                </a:path>
                <a:path w="1000" h="1000" fill="none">
                  <a:moveTo>
                    <a:pt x="258" y="80"/>
                  </a:moveTo>
                  <a:lnTo>
                    <a:pt x="258" y="920"/>
                  </a:lnTo>
                </a:path>
                <a:path w="1000" h="1000" fill="none">
                  <a:moveTo>
                    <a:pt x="269" y="80"/>
                  </a:moveTo>
                  <a:lnTo>
                    <a:pt x="269" y="920"/>
                  </a:lnTo>
                </a:path>
                <a:path w="1000" h="1000" fill="none">
                  <a:moveTo>
                    <a:pt x="280" y="80"/>
                  </a:moveTo>
                  <a:lnTo>
                    <a:pt x="280" y="920"/>
                  </a:lnTo>
                </a:path>
                <a:path w="1000" h="1000" fill="none">
                  <a:moveTo>
                    <a:pt x="291" y="80"/>
                  </a:moveTo>
                  <a:lnTo>
                    <a:pt x="291" y="920"/>
                  </a:lnTo>
                </a:path>
                <a:path w="1000" h="1000" fill="none">
                  <a:moveTo>
                    <a:pt x="302" y="80"/>
                  </a:moveTo>
                  <a:lnTo>
                    <a:pt x="302" y="920"/>
                  </a:lnTo>
                </a:path>
                <a:path w="1000" h="1000" fill="none">
                  <a:moveTo>
                    <a:pt x="313" y="80"/>
                  </a:moveTo>
                  <a:lnTo>
                    <a:pt x="313" y="920"/>
                  </a:lnTo>
                </a:path>
                <a:path w="1000" h="1000" fill="none">
                  <a:moveTo>
                    <a:pt x="324" y="80"/>
                  </a:moveTo>
                  <a:lnTo>
                    <a:pt x="324" y="920"/>
                  </a:lnTo>
                </a:path>
                <a:path w="1000" h="1000" fill="none">
                  <a:moveTo>
                    <a:pt x="335" y="80"/>
                  </a:moveTo>
                  <a:lnTo>
                    <a:pt x="335" y="920"/>
                  </a:lnTo>
                </a:path>
                <a:path w="1000" h="1000" fill="none">
                  <a:moveTo>
                    <a:pt x="346" y="80"/>
                  </a:moveTo>
                  <a:lnTo>
                    <a:pt x="346" y="920"/>
                  </a:lnTo>
                </a:path>
                <a:path w="1000" h="1000" fill="none">
                  <a:moveTo>
                    <a:pt x="357" y="80"/>
                  </a:moveTo>
                  <a:lnTo>
                    <a:pt x="357" y="920"/>
                  </a:lnTo>
                </a:path>
                <a:path w="1000" h="1000" fill="none">
                  <a:moveTo>
                    <a:pt x="368" y="80"/>
                  </a:moveTo>
                  <a:lnTo>
                    <a:pt x="368" y="920"/>
                  </a:lnTo>
                </a:path>
                <a:path w="1000" h="1000" fill="none">
                  <a:moveTo>
                    <a:pt x="379" y="80"/>
                  </a:moveTo>
                  <a:lnTo>
                    <a:pt x="379" y="920"/>
                  </a:lnTo>
                </a:path>
                <a:path w="1000" h="1000" fill="none">
                  <a:moveTo>
                    <a:pt x="390" y="80"/>
                  </a:moveTo>
                  <a:lnTo>
                    <a:pt x="390" y="920"/>
                  </a:lnTo>
                </a:path>
                <a:path w="1000" h="1000" fill="none">
                  <a:moveTo>
                    <a:pt x="401" y="80"/>
                  </a:moveTo>
                  <a:lnTo>
                    <a:pt x="401" y="920"/>
                  </a:lnTo>
                </a:path>
                <a:path w="1000" h="1000" fill="none">
                  <a:moveTo>
                    <a:pt x="412" y="80"/>
                  </a:moveTo>
                  <a:lnTo>
                    <a:pt x="412" y="920"/>
                  </a:lnTo>
                </a:path>
                <a:path w="1000" h="1000" fill="none">
                  <a:moveTo>
                    <a:pt x="423" y="80"/>
                  </a:moveTo>
                  <a:lnTo>
                    <a:pt x="423" y="920"/>
                  </a:lnTo>
                </a:path>
                <a:path w="1000" h="1000" fill="none">
                  <a:moveTo>
                    <a:pt x="434" y="80"/>
                  </a:moveTo>
                  <a:lnTo>
                    <a:pt x="434" y="920"/>
                  </a:lnTo>
                </a:path>
                <a:path w="1000" h="1000" fill="none">
                  <a:moveTo>
                    <a:pt x="445" y="80"/>
                  </a:moveTo>
                  <a:lnTo>
                    <a:pt x="445" y="920"/>
                  </a:lnTo>
                </a:path>
                <a:path w="1000" h="1000" fill="none">
                  <a:moveTo>
                    <a:pt x="456" y="80"/>
                  </a:moveTo>
                  <a:lnTo>
                    <a:pt x="456" y="920"/>
                  </a:lnTo>
                </a:path>
                <a:path w="1000" h="1000" fill="none">
                  <a:moveTo>
                    <a:pt x="467" y="80"/>
                  </a:moveTo>
                  <a:lnTo>
                    <a:pt x="467" y="920"/>
                  </a:lnTo>
                </a:path>
                <a:path w="1000" h="1000" fill="none">
                  <a:moveTo>
                    <a:pt x="478" y="80"/>
                  </a:moveTo>
                  <a:lnTo>
                    <a:pt x="478" y="920"/>
                  </a:lnTo>
                </a:path>
                <a:path w="1000" h="1000" fill="none">
                  <a:moveTo>
                    <a:pt x="489" y="80"/>
                  </a:moveTo>
                  <a:lnTo>
                    <a:pt x="489" y="920"/>
                  </a:lnTo>
                </a:path>
                <a:path w="1000" h="1000" fill="none">
                  <a:moveTo>
                    <a:pt x="500" y="80"/>
                  </a:moveTo>
                  <a:lnTo>
                    <a:pt x="500" y="920"/>
                  </a:lnTo>
                </a:path>
                <a:path w="1000" h="1000" fill="none">
                  <a:moveTo>
                    <a:pt x="510" y="80"/>
                  </a:moveTo>
                  <a:lnTo>
                    <a:pt x="510" y="920"/>
                  </a:lnTo>
                </a:path>
                <a:path w="1000" h="1000" fill="none">
                  <a:moveTo>
                    <a:pt x="521" y="80"/>
                  </a:moveTo>
                  <a:lnTo>
                    <a:pt x="521" y="920"/>
                  </a:lnTo>
                </a:path>
                <a:path w="1000" h="1000" fill="none">
                  <a:moveTo>
                    <a:pt x="532" y="80"/>
                  </a:moveTo>
                  <a:lnTo>
                    <a:pt x="532" y="920"/>
                  </a:lnTo>
                </a:path>
                <a:path w="1000" h="1000" fill="none">
                  <a:moveTo>
                    <a:pt x="543" y="80"/>
                  </a:moveTo>
                  <a:lnTo>
                    <a:pt x="543" y="920"/>
                  </a:lnTo>
                </a:path>
                <a:path w="1000" h="1000" fill="none">
                  <a:moveTo>
                    <a:pt x="554" y="80"/>
                  </a:moveTo>
                  <a:lnTo>
                    <a:pt x="554" y="920"/>
                  </a:lnTo>
                </a:path>
                <a:path w="1000" h="1000" fill="none">
                  <a:moveTo>
                    <a:pt x="565" y="80"/>
                  </a:moveTo>
                  <a:lnTo>
                    <a:pt x="565" y="920"/>
                  </a:lnTo>
                </a:path>
                <a:path w="1000" h="1000" fill="none">
                  <a:moveTo>
                    <a:pt x="576" y="80"/>
                  </a:moveTo>
                  <a:lnTo>
                    <a:pt x="576" y="920"/>
                  </a:lnTo>
                </a:path>
                <a:path w="1000" h="1000" fill="none">
                  <a:moveTo>
                    <a:pt x="587" y="80"/>
                  </a:moveTo>
                  <a:lnTo>
                    <a:pt x="587" y="920"/>
                  </a:lnTo>
                </a:path>
                <a:path w="1000" h="1000" fill="none">
                  <a:moveTo>
                    <a:pt x="598" y="80"/>
                  </a:moveTo>
                  <a:lnTo>
                    <a:pt x="598" y="920"/>
                  </a:lnTo>
                </a:path>
                <a:path w="1000" h="1000" fill="none">
                  <a:moveTo>
                    <a:pt x="609" y="80"/>
                  </a:moveTo>
                  <a:lnTo>
                    <a:pt x="609" y="920"/>
                  </a:lnTo>
                </a:path>
                <a:path w="1000" h="1000" fill="none">
                  <a:moveTo>
                    <a:pt x="620" y="80"/>
                  </a:moveTo>
                  <a:lnTo>
                    <a:pt x="620" y="920"/>
                  </a:lnTo>
                </a:path>
                <a:path w="1000" h="1000" fill="none">
                  <a:moveTo>
                    <a:pt x="631" y="80"/>
                  </a:moveTo>
                  <a:lnTo>
                    <a:pt x="631" y="920"/>
                  </a:lnTo>
                </a:path>
                <a:path w="1000" h="1000" fill="none">
                  <a:moveTo>
                    <a:pt x="642" y="80"/>
                  </a:moveTo>
                  <a:lnTo>
                    <a:pt x="642" y="920"/>
                  </a:lnTo>
                </a:path>
                <a:path w="1000" h="1000" fill="none">
                  <a:moveTo>
                    <a:pt x="653" y="80"/>
                  </a:moveTo>
                  <a:lnTo>
                    <a:pt x="653" y="920"/>
                  </a:lnTo>
                </a:path>
                <a:path w="1000" h="1000" fill="none">
                  <a:moveTo>
                    <a:pt x="664" y="80"/>
                  </a:moveTo>
                  <a:lnTo>
                    <a:pt x="664" y="920"/>
                  </a:lnTo>
                </a:path>
                <a:path w="1000" h="1000" fill="none">
                  <a:moveTo>
                    <a:pt x="675" y="80"/>
                  </a:moveTo>
                  <a:lnTo>
                    <a:pt x="675" y="920"/>
                  </a:lnTo>
                </a:path>
                <a:path w="1000" h="1000" fill="none">
                  <a:moveTo>
                    <a:pt x="686" y="80"/>
                  </a:moveTo>
                  <a:lnTo>
                    <a:pt x="686" y="920"/>
                  </a:lnTo>
                </a:path>
                <a:path w="1000" h="1000" fill="none">
                  <a:moveTo>
                    <a:pt x="697" y="80"/>
                  </a:moveTo>
                  <a:lnTo>
                    <a:pt x="697" y="920"/>
                  </a:lnTo>
                </a:path>
                <a:path w="1000" h="1000" fill="none">
                  <a:moveTo>
                    <a:pt x="708" y="80"/>
                  </a:moveTo>
                  <a:lnTo>
                    <a:pt x="708" y="920"/>
                  </a:lnTo>
                </a:path>
                <a:path w="1000" h="1000" fill="none">
                  <a:moveTo>
                    <a:pt x="719" y="80"/>
                  </a:moveTo>
                  <a:lnTo>
                    <a:pt x="719" y="920"/>
                  </a:lnTo>
                </a:path>
                <a:path w="1000" h="1000" fill="none">
                  <a:moveTo>
                    <a:pt x="730" y="80"/>
                  </a:moveTo>
                  <a:lnTo>
                    <a:pt x="730" y="920"/>
                  </a:lnTo>
                </a:path>
                <a:path w="1000" h="1000" fill="none">
                  <a:moveTo>
                    <a:pt x="741" y="80"/>
                  </a:moveTo>
                  <a:lnTo>
                    <a:pt x="741" y="920"/>
                  </a:lnTo>
                </a:path>
                <a:path w="1000" h="1000" fill="none">
                  <a:moveTo>
                    <a:pt x="752" y="80"/>
                  </a:moveTo>
                  <a:lnTo>
                    <a:pt x="752" y="920"/>
                  </a:lnTo>
                </a:path>
                <a:path w="1000" h="1000" fill="none">
                  <a:moveTo>
                    <a:pt x="763" y="80"/>
                  </a:moveTo>
                  <a:lnTo>
                    <a:pt x="763" y="920"/>
                  </a:lnTo>
                </a:path>
                <a:path w="1000" h="1000" fill="none">
                  <a:moveTo>
                    <a:pt x="774" y="80"/>
                  </a:moveTo>
                  <a:lnTo>
                    <a:pt x="774" y="920"/>
                  </a:lnTo>
                </a:path>
                <a:path w="1000" h="1000" fill="none">
                  <a:moveTo>
                    <a:pt x="785" y="80"/>
                  </a:moveTo>
                  <a:lnTo>
                    <a:pt x="785" y="920"/>
                  </a:lnTo>
                </a:path>
                <a:path w="1000" h="1000" fill="none">
                  <a:moveTo>
                    <a:pt x="796" y="80"/>
                  </a:moveTo>
                  <a:lnTo>
                    <a:pt x="796" y="920"/>
                  </a:lnTo>
                </a:path>
                <a:path w="1000" h="1000" fill="none">
                  <a:moveTo>
                    <a:pt x="807" y="80"/>
                  </a:moveTo>
                  <a:lnTo>
                    <a:pt x="807" y="920"/>
                  </a:lnTo>
                </a:path>
                <a:path w="1000" h="1000" fill="none">
                  <a:moveTo>
                    <a:pt x="818" y="80"/>
                  </a:moveTo>
                  <a:lnTo>
                    <a:pt x="818" y="920"/>
                  </a:lnTo>
                </a:path>
                <a:path w="1000" h="1000" fill="none">
                  <a:moveTo>
                    <a:pt x="829" y="80"/>
                  </a:moveTo>
                  <a:lnTo>
                    <a:pt x="829" y="920"/>
                  </a:lnTo>
                </a:path>
                <a:path w="1000" h="1000" fill="none">
                  <a:moveTo>
                    <a:pt x="840" y="80"/>
                  </a:moveTo>
                  <a:lnTo>
                    <a:pt x="840" y="920"/>
                  </a:lnTo>
                </a:path>
                <a:path w="1000" h="1000" fill="none">
                  <a:moveTo>
                    <a:pt x="851" y="80"/>
                  </a:moveTo>
                  <a:lnTo>
                    <a:pt x="851" y="920"/>
                  </a:lnTo>
                </a:path>
                <a:path w="1000" h="1000" fill="none">
                  <a:moveTo>
                    <a:pt x="862" y="80"/>
                  </a:moveTo>
                  <a:lnTo>
                    <a:pt x="862" y="920"/>
                  </a:lnTo>
                </a:path>
                <a:path w="1000" h="1000" fill="none">
                  <a:moveTo>
                    <a:pt x="873" y="80"/>
                  </a:moveTo>
                  <a:lnTo>
                    <a:pt x="873" y="920"/>
                  </a:lnTo>
                </a:path>
                <a:path w="1000" h="1000" fill="none">
                  <a:moveTo>
                    <a:pt x="884" y="80"/>
                  </a:moveTo>
                  <a:lnTo>
                    <a:pt x="884" y="920"/>
                  </a:lnTo>
                </a:path>
                <a:path w="1000" h="1000" fill="none">
                  <a:moveTo>
                    <a:pt x="895" y="80"/>
                  </a:moveTo>
                  <a:lnTo>
                    <a:pt x="895" y="920"/>
                  </a:lnTo>
                </a:path>
                <a:path w="1000" h="1000" fill="none">
                  <a:moveTo>
                    <a:pt x="906" y="80"/>
                  </a:moveTo>
                  <a:lnTo>
                    <a:pt x="906" y="920"/>
                  </a:lnTo>
                </a:path>
                <a:path w="1000" h="1000" fill="none">
                  <a:moveTo>
                    <a:pt x="917" y="80"/>
                  </a:moveTo>
                  <a:lnTo>
                    <a:pt x="917" y="920"/>
                  </a:lnTo>
                </a:path>
                <a:path w="1000" h="1000" fill="none">
                  <a:moveTo>
                    <a:pt x="928" y="80"/>
                  </a:moveTo>
                  <a:lnTo>
                    <a:pt x="928" y="920"/>
                  </a:lnTo>
                </a:path>
                <a:path w="1000" h="1000" fill="none">
                  <a:moveTo>
                    <a:pt x="939" y="80"/>
                  </a:moveTo>
                  <a:lnTo>
                    <a:pt x="939" y="920"/>
                  </a:lnTo>
                </a:path>
                <a:path w="1000" h="1000" fill="none">
                  <a:moveTo>
                    <a:pt x="950" y="80"/>
                  </a:moveTo>
                  <a:lnTo>
                    <a:pt x="950" y="920"/>
                  </a:lnTo>
                </a:path>
                <a:path w="1000" h="1000" fill="none">
                  <a:moveTo>
                    <a:pt x="961" y="80"/>
                  </a:moveTo>
                  <a:lnTo>
                    <a:pt x="961" y="920"/>
                  </a:lnTo>
                </a:path>
                <a:path w="1000" h="1000" fill="none">
                  <a:moveTo>
                    <a:pt x="972" y="80"/>
                  </a:moveTo>
                  <a:lnTo>
                    <a:pt x="972" y="920"/>
                  </a:lnTo>
                </a:path>
                <a:path w="1000" h="1000" fill="none">
                  <a:moveTo>
                    <a:pt x="983" y="80"/>
                  </a:moveTo>
                  <a:lnTo>
                    <a:pt x="983" y="920"/>
                  </a:lnTo>
                </a:path>
                <a:path w="1000" h="1000" fill="none">
                  <a:moveTo>
                    <a:pt x="994" y="80"/>
                  </a:moveTo>
                  <a:lnTo>
                    <a:pt x="994" y="920"/>
                  </a:lnTo>
                </a:path>
              </a:pathLst>
            </a:custGeom>
            <a:noFill/>
            <a:ln w="12700" cap="rnd">
              <a:solidFill>
                <a:srgbClr val="822E27"/>
              </a:solidFill>
              <a:round/>
            </a:ln>
          </p:spPr>
        </p:sp>
        <p:sp>
          <p:nvSpPr>
            <p:cNvPr id="16" name="Forma 15"/>
            <p:cNvSpPr/>
            <p:nvPr/>
          </p:nvSpPr>
          <p:spPr>
            <a:xfrm>
              <a:off x="1865376" y="3277210"/>
              <a:ext cx="960120" cy="34564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4489704" y="3277210"/>
              <a:ext cx="960120" cy="34564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6739128" y="3277210"/>
              <a:ext cx="960120" cy="345643"/>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9" name="Forma 18"/>
            <p:cNvSpPr/>
            <p:nvPr/>
          </p:nvSpPr>
          <p:spPr>
            <a:xfrm>
              <a:off x="7057339" y="3277210"/>
              <a:ext cx="768096" cy="1766621"/>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0" name="!!AG viajero 0"/>
          <p:cNvGrpSpPr/>
          <p:nvPr/>
        </p:nvGrpSpPr>
        <p:grpSpPr>
          <a:xfrm>
            <a:off x="1810512" y="1289304"/>
            <a:ext cx="1024128" cy="219456"/>
            <a:chOff x="1810512" y="1289304"/>
            <a:chExt cx="1024128" cy="219456"/>
          </a:xfrm>
        </p:grpSpPr>
        <p:sp>
          <p:nvSpPr>
            <p:cNvPr id="21" name="Flecha 20_2"/>
            <p:cNvSpPr/>
            <p:nvPr/>
          </p:nvSpPr>
          <p:spPr>
            <a:xfrm>
              <a:off x="1975104" y="1344168"/>
              <a:ext cx="859536" cy="164592"/>
            </a:xfrm>
            <a:custGeom>
              <a:avLst/>
              <a:gdLst/>
              <a:ahLst/>
              <a:cxnLst/>
              <a:rect l="0" t="0" r="r" b="b"/>
              <a:pathLst>
                <a:path w="940" h="179" fill="none">
                  <a:moveTo>
                    <a:pt x="0" y="0"/>
                  </a:moveTo>
                  <a:lnTo>
                    <a:pt x="117" y="179"/>
                  </a:lnTo>
                  <a:lnTo>
                    <a:pt x="234" y="0"/>
                  </a:lnTo>
                  <a:lnTo>
                    <a:pt x="352" y="179"/>
                  </a:lnTo>
                  <a:lnTo>
                    <a:pt x="470" y="0"/>
                  </a:lnTo>
                  <a:lnTo>
                    <a:pt x="587" y="179"/>
                  </a:lnTo>
                  <a:lnTo>
                    <a:pt x="705" y="0"/>
                  </a:lnTo>
                  <a:lnTo>
                    <a:pt x="822" y="179"/>
                  </a:lnTo>
                  <a:lnTo>
                    <a:pt x="940" y="0"/>
                  </a:lnTo>
                </a:path>
              </a:pathLst>
            </a:custGeom>
            <a:noFill/>
            <a:ln w="28575" cap="rnd">
              <a:solidFill>
                <a:srgbClr val="B7950B"/>
              </a:solidFill>
              <a:round/>
            </a:ln>
          </p:spPr>
        </p:sp>
        <p:sp>
          <p:nvSpPr>
            <p:cNvPr id="22" name="Forma 22"/>
            <p:cNvSpPr/>
            <p:nvPr/>
          </p:nvSpPr>
          <p:spPr>
            <a:xfrm>
              <a:off x="1810512" y="128930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3" name="!!AG viajero 1"/>
          <p:cNvGrpSpPr/>
          <p:nvPr/>
        </p:nvGrpSpPr>
        <p:grpSpPr>
          <a:xfrm>
            <a:off x="3273552" y="1289304"/>
            <a:ext cx="1024128" cy="219456"/>
            <a:chOff x="3273552" y="1289304"/>
            <a:chExt cx="1024128" cy="219456"/>
          </a:xfrm>
        </p:grpSpPr>
        <p:sp>
          <p:nvSpPr>
            <p:cNvPr id="24" name="Flecha 24_2"/>
            <p:cNvSpPr/>
            <p:nvPr/>
          </p:nvSpPr>
          <p:spPr>
            <a:xfrm>
              <a:off x="3438144" y="1344168"/>
              <a:ext cx="859536" cy="164592"/>
            </a:xfrm>
            <a:custGeom>
              <a:avLst/>
              <a:gdLst/>
              <a:ahLst/>
              <a:cxnLst/>
              <a:rect l="0" t="0" r="r" b="b"/>
              <a:pathLst>
                <a:path w="940" h="179" fill="none">
                  <a:moveTo>
                    <a:pt x="0" y="0"/>
                  </a:moveTo>
                  <a:lnTo>
                    <a:pt x="117" y="179"/>
                  </a:lnTo>
                  <a:lnTo>
                    <a:pt x="234" y="0"/>
                  </a:lnTo>
                  <a:lnTo>
                    <a:pt x="352" y="179"/>
                  </a:lnTo>
                  <a:lnTo>
                    <a:pt x="470" y="0"/>
                  </a:lnTo>
                  <a:lnTo>
                    <a:pt x="587" y="179"/>
                  </a:lnTo>
                  <a:lnTo>
                    <a:pt x="704" y="0"/>
                  </a:lnTo>
                  <a:lnTo>
                    <a:pt x="822" y="179"/>
                  </a:lnTo>
                  <a:lnTo>
                    <a:pt x="940" y="0"/>
                  </a:lnTo>
                </a:path>
              </a:pathLst>
            </a:custGeom>
            <a:noFill/>
            <a:ln w="28575" cap="rnd">
              <a:solidFill>
                <a:srgbClr val="B7950B"/>
              </a:solidFill>
              <a:round/>
            </a:ln>
          </p:spPr>
        </p:sp>
        <p:sp>
          <p:nvSpPr>
            <p:cNvPr id="25" name="Forma 26"/>
            <p:cNvSpPr/>
            <p:nvPr/>
          </p:nvSpPr>
          <p:spPr>
            <a:xfrm>
              <a:off x="3273552" y="128930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6" name="!!AG viajero 2"/>
          <p:cNvGrpSpPr/>
          <p:nvPr/>
        </p:nvGrpSpPr>
        <p:grpSpPr>
          <a:xfrm>
            <a:off x="4736592" y="1289304"/>
            <a:ext cx="1024128" cy="219456"/>
            <a:chOff x="4736592" y="1289304"/>
            <a:chExt cx="1024128" cy="219456"/>
          </a:xfrm>
        </p:grpSpPr>
        <p:sp>
          <p:nvSpPr>
            <p:cNvPr id="27" name="Flecha 28_2"/>
            <p:cNvSpPr/>
            <p:nvPr/>
          </p:nvSpPr>
          <p:spPr>
            <a:xfrm>
              <a:off x="4901184" y="1344168"/>
              <a:ext cx="859536" cy="164592"/>
            </a:xfrm>
            <a:custGeom>
              <a:avLst/>
              <a:gdLst/>
              <a:ahLst/>
              <a:cxnLst/>
              <a:rect l="0" t="0" r="r" b="b"/>
              <a:pathLst>
                <a:path w="940" h="179" fill="none">
                  <a:moveTo>
                    <a:pt x="0" y="0"/>
                  </a:moveTo>
                  <a:lnTo>
                    <a:pt x="117" y="179"/>
                  </a:lnTo>
                  <a:lnTo>
                    <a:pt x="235" y="0"/>
                  </a:lnTo>
                  <a:lnTo>
                    <a:pt x="352" y="179"/>
                  </a:lnTo>
                  <a:lnTo>
                    <a:pt x="469" y="0"/>
                  </a:lnTo>
                  <a:lnTo>
                    <a:pt x="587" y="179"/>
                  </a:lnTo>
                  <a:lnTo>
                    <a:pt x="705" y="0"/>
                  </a:lnTo>
                  <a:lnTo>
                    <a:pt x="822" y="179"/>
                  </a:lnTo>
                  <a:lnTo>
                    <a:pt x="940" y="0"/>
                  </a:lnTo>
                </a:path>
              </a:pathLst>
            </a:custGeom>
            <a:noFill/>
            <a:ln w="28575" cap="rnd">
              <a:solidFill>
                <a:srgbClr val="B7950B"/>
              </a:solidFill>
              <a:round/>
            </a:ln>
          </p:spPr>
        </p:sp>
        <p:sp>
          <p:nvSpPr>
            <p:cNvPr id="28" name="Forma 30"/>
            <p:cNvSpPr/>
            <p:nvPr/>
          </p:nvSpPr>
          <p:spPr>
            <a:xfrm>
              <a:off x="4736592" y="128930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29" name="Transportador CD36"/>
          <p:cNvSpPr/>
          <p:nvPr/>
        </p:nvSpPr>
        <p:spPr>
          <a:xfrm>
            <a:off x="2011680" y="2651760"/>
            <a:ext cx="538931"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CD36</a:t>
            </a:r>
            <a:endParaRPr lang="es-AR" sz="1200" dirty="0">
              <a:latin typeface="Bahnschrift SemiBold Condensed"/>
            </a:endParaRPr>
          </a:p>
        </p:txBody>
      </p:sp>
      <p:sp>
        <p:nvSpPr>
          <p:cNvPr id="30" name="Transportador FATP"/>
          <p:cNvSpPr/>
          <p:nvPr/>
        </p:nvSpPr>
        <p:spPr>
          <a:xfrm>
            <a:off x="3474720" y="2651760"/>
            <a:ext cx="529610"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FATP</a:t>
            </a:r>
            <a:endParaRPr lang="es-AR" sz="1200" dirty="0">
              <a:latin typeface="Bahnschrift SemiBold Condensed"/>
            </a:endParaRPr>
          </a:p>
        </p:txBody>
      </p:sp>
      <p:sp>
        <p:nvSpPr>
          <p:cNvPr id="31" name="Transportador FABP"/>
          <p:cNvSpPr/>
          <p:nvPr/>
        </p:nvSpPr>
        <p:spPr>
          <a:xfrm>
            <a:off x="4937760" y="2651760"/>
            <a:ext cx="537742"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FABP</a:t>
            </a:r>
            <a:endParaRPr lang="es-AR" sz="1200" dirty="0">
              <a:latin typeface="Bahnschrift SemiBold Condensed"/>
            </a:endParaRPr>
          </a:p>
        </p:txBody>
      </p:sp>
      <p:sp>
        <p:nvSpPr>
          <p:cNvPr id="32" name="!!Rótulo M3"/>
          <p:cNvSpPr txBox="1"/>
          <p:nvPr/>
        </p:nvSpPr>
        <p:spPr>
          <a:xfrm>
            <a:off x="457200" y="5257800"/>
            <a:ext cx="731520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B241C"/>
                </a:solidFill>
                <a:latin typeface="Bahnschrift SemiBold Condensed"/>
                <a:ea typeface="Bahnschrift SemiBold Condensed"/>
                <a:cs typeface="Bahnschrift SemiBold Condensed"/>
                <a:sym typeface="Bahnschrift SemiBold Condensed"/>
              </a:rPr>
              <a:t>FIBRA MUSCULAR (oxidativa)</a:t>
            </a:r>
            <a:endParaRPr lang="es-AR" sz="1300" dirty="0">
              <a:latin typeface="Bahnschrift SemiBold Condensed"/>
            </a:endParaRPr>
          </a:p>
        </p:txBody>
      </p:sp>
      <p:grpSp>
        <p:nvGrpSpPr>
          <p:cNvPr id="33" name="!!Texto M3"/>
          <p:cNvGrpSpPr/>
          <p:nvPr/>
        </p:nvGrpSpPr>
        <p:grpSpPr>
          <a:xfrm>
            <a:off x="8138160" y="1005840"/>
            <a:ext cx="3657600" cy="3840480"/>
            <a:chOff x="8138160" y="1005840"/>
            <a:chExt cx="3657600" cy="3840480"/>
          </a:xfrm>
        </p:grpSpPr>
        <p:sp>
          <p:nvSpPr>
            <p:cNvPr id="34" name="Forma 36"/>
            <p:cNvSpPr/>
            <p:nvPr/>
          </p:nvSpPr>
          <p:spPr>
            <a:xfrm>
              <a:off x="8138160" y="1188720"/>
              <a:ext cx="3657600" cy="3657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Captación por </a:t>
              </a:r>
              <a:r>
                <a:rPr lang="es-AR" sz="1750" b="1" dirty="0">
                  <a:solidFill>
                    <a:srgbClr val="1E1E1E"/>
                  </a:solidFill>
                  <a:latin typeface="Bahnschrift"/>
                  <a:ea typeface="Bahnschrift"/>
                  <a:cs typeface="Bahnschrift"/>
                  <a:sym typeface="Bahnschrift"/>
                </a:rPr>
                <a:t>CD36</a:t>
              </a:r>
              <a:r>
                <a:rPr lang="es-AR" sz="1750" dirty="0">
                  <a:solidFill>
                    <a:srgbClr val="1E1E1E"/>
                  </a:solidFill>
                  <a:latin typeface="Bahnschrift"/>
                  <a:ea typeface="Bahnschrift"/>
                  <a:cs typeface="Bahnschrift"/>
                  <a:sym typeface="Bahnschrift"/>
                </a:rPr>
                <a:t>, </a:t>
              </a:r>
              <a:r>
                <a:rPr lang="es-AR" sz="1750" b="1" dirty="0">
                  <a:solidFill>
                    <a:srgbClr val="1E1E1E"/>
                  </a:solidFill>
                  <a:latin typeface="Bahnschrift"/>
                  <a:ea typeface="Bahnschrift"/>
                  <a:cs typeface="Bahnschrift"/>
                  <a:sym typeface="Bahnschrift"/>
                </a:rPr>
                <a:t>FATP</a:t>
              </a:r>
              <a:r>
                <a:rPr lang="es-AR" sz="1750" dirty="0">
                  <a:solidFill>
                    <a:srgbClr val="1E1E1E"/>
                  </a:solidFill>
                  <a:latin typeface="Bahnschrift"/>
                  <a:ea typeface="Bahnschrift"/>
                  <a:cs typeface="Bahnschrift"/>
                  <a:sym typeface="Bahnschrift"/>
                </a:rPr>
                <a:t> y difusión; </a:t>
              </a:r>
              <a:r>
                <a:rPr lang="es-AR" sz="1750" b="1" dirty="0">
                  <a:solidFill>
                    <a:srgbClr val="1E1E1E"/>
                  </a:solidFill>
                  <a:latin typeface="Bahnschrift"/>
                  <a:ea typeface="Bahnschrift"/>
                  <a:cs typeface="Bahnschrift"/>
                  <a:sym typeface="Bahnschrift"/>
                </a:rPr>
                <a:t>FABP</a:t>
              </a:r>
              <a:r>
                <a:rPr lang="es-AR" sz="1750" dirty="0">
                  <a:solidFill>
                    <a:srgbClr val="1E1E1E"/>
                  </a:solidFill>
                  <a:latin typeface="Bahnschrift"/>
                  <a:ea typeface="Bahnschrift"/>
                  <a:cs typeface="Bahnschrift"/>
                  <a:sym typeface="Bahnschrift"/>
                </a:rPr>
                <a:t> citosólica.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Activación a </a:t>
              </a:r>
              <a:r>
                <a:rPr lang="es-AR" sz="1750" b="1" dirty="0">
                  <a:solidFill>
                    <a:srgbClr val="1E1E1E"/>
                  </a:solidFill>
                  <a:latin typeface="Bahnschrift"/>
                  <a:ea typeface="Bahnschrift"/>
                  <a:cs typeface="Bahnschrift"/>
                  <a:sym typeface="Bahnschrift"/>
                </a:rPr>
                <a:t>acil-CoA</a:t>
              </a:r>
              <a:r>
                <a:rPr lang="es-AR" sz="1750" dirty="0">
                  <a:solidFill>
                    <a:srgbClr val="1E1E1E"/>
                  </a:solidFill>
                  <a:latin typeface="Bahnschrift"/>
                  <a:ea typeface="Bahnschrift"/>
                  <a:cs typeface="Bahnschrift"/>
                  <a:sym typeface="Bahnschrift"/>
                </a:rPr>
                <a:t> (acil-CoA sintetasa).</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El destino: </a:t>
              </a:r>
              <a:r>
                <a:rPr lang="es-AR" sz="1750" b="1" dirty="0">
                  <a:solidFill>
                    <a:srgbClr val="1E1E1E"/>
                  </a:solidFill>
                  <a:latin typeface="Bahnschrift"/>
                  <a:ea typeface="Bahnschrift"/>
                  <a:cs typeface="Bahnschrift"/>
                  <a:sym typeface="Bahnschrift"/>
                </a:rPr>
                <a:t>mitocondria</a:t>
              </a:r>
              <a:r>
                <a:rPr lang="es-AR" sz="1750" dirty="0">
                  <a:solidFill>
                    <a:srgbClr val="1E1E1E"/>
                  </a:solidFill>
                  <a:latin typeface="Bahnschrift"/>
                  <a:ea typeface="Bahnschrift"/>
                  <a:cs typeface="Bahnschrift"/>
                  <a:sym typeface="Bahnschrift"/>
                </a:rPr>
                <a:t> (oxidación) o reesterificación local.</a:t>
              </a:r>
              <a:endParaRPr lang="es-AR" sz="1750" dirty="0">
                <a:latin typeface="Bahnschrift"/>
              </a:endParaRPr>
            </a:p>
          </p:txBody>
        </p:sp>
        <p:sp>
          <p:nvSpPr>
            <p:cNvPr id="35" name="Forma 37"/>
            <p:cNvSpPr/>
            <p:nvPr/>
          </p:nvSpPr>
          <p:spPr>
            <a:xfrm>
              <a:off x="8247888" y="1005840"/>
              <a:ext cx="105842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MÚSCULO</a:t>
              </a:r>
              <a:endParaRPr lang="es-AR" sz="1600" dirty="0">
                <a:latin typeface="Bahnschrift SemiBold Condensed"/>
              </a:endParaRPr>
            </a:p>
          </p:txBody>
        </p:sp>
      </p:grpSp>
      <p:sp>
        <p:nvSpPr>
          <p:cNvPr id="2" name="Etiqueta sección"/>
          <p:cNvSpPr/>
          <p:nvPr/>
        </p:nvSpPr>
        <p:spPr>
          <a:xfrm>
            <a:off x="9895435" y="201168"/>
            <a:ext cx="202194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3 · 4/5</a:t>
            </a:r>
            <a:endParaRPr lang="es-AR" sz="1300" dirty="0">
              <a:latin typeface="Bahnschrift SemiBold Condensed"/>
            </a:endParaRPr>
          </a:p>
        </p:txBody>
      </p:sp>
      <p:sp>
        <p:nvSpPr>
          <p:cNvPr id="3" name="Título"/>
          <p:cNvSpPr/>
          <p:nvPr/>
        </p:nvSpPr>
        <p:spPr>
          <a:xfrm>
            <a:off x="274320" y="146304"/>
            <a:ext cx="639025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METABOLISMO LIPÍDICO: CAPTACIÓN MUSCULAR</a:t>
            </a:r>
            <a:endParaRPr lang="es-AR" sz="2600" dirty="0">
              <a:latin typeface="Bahnschrift SemiBold Condensed"/>
            </a:endParaRPr>
          </a:p>
        </p:txBody>
      </p:sp>
      <p:sp>
        <p:nvSpPr>
          <p:cNvPr id="3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100</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9"/>
                                        </p:tgtEl>
                                        <p:attrNameLst>
                                          <p:attrName>style.visibility</p:attrName>
                                        </p:attrNameLst>
                                      </p:cBhvr>
                                      <p:to>
                                        <p:strVal val="visible"/>
                                      </p:to>
                                    </p:set>
                                    <p:animEffect transition="in" filter="fade">
                                      <p:cBhvr>
                                        <p:cTn id="5" dur="500"/>
                                        <p:tgtEl>
                                          <p:spTgt spid="29"/>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30"/>
                                        </p:tgtEl>
                                        <p:attrNameLst>
                                          <p:attrName>style.visibility</p:attrName>
                                        </p:attrNameLst>
                                      </p:cBhvr>
                                      <p:to>
                                        <p:strVal val="visible"/>
                                      </p:to>
                                    </p:set>
                                    <p:animEffect transition="in" filter="fade">
                                      <p:cBhvr>
                                        <p:cTn id="9" dur="500"/>
                                        <p:tgtEl>
                                          <p:spTgt spid="30"/>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childTnLst>
                    </p:cTn>
                  </p:par>
                  <p:par>
                    <p:cTn id="25" fill="hold">
                      <p:stCondLst>
                        <p:cond delay="indefinite"/>
                      </p:stCondLst>
                      <p:childTnLst>
                        <p:par>
                          <p:cTn id="18" fill="hold">
                            <p:stCondLst>
                              <p:cond delay="0"/>
                            </p:stCondLst>
                            <p:childTnLst>
                              <p:par>
                                <p:cTn id="16" presetID="0" presetClass="path" presetSubtype="0" accel="20000" decel="20000" fill="hold" grpId="0" nodeType="clickEffect">
                                  <p:stCondLst>
                                    <p:cond delay="0"/>
                                  </p:stCondLst>
                                  <p:childTnLst>
                                    <p:animMotion origin="layout" path="M 0 0 L 0.0000 0.2533 E" pathEditMode="relative" ptsTypes="">
                                      <p:cBhvr>
                                        <p:cTn id="17" dur="1300" fill="hold"/>
                                        <p:tgtEl>
                                          <p:spTgt spid="20"/>
                                        </p:tgtEl>
                                        <p:attrNameLst>
                                          <p:attrName>ppt_x</p:attrName>
                                          <p:attrName>ppt_y</p:attrName>
                                        </p:attrNameLst>
                                      </p:cBhvr>
                                      <p:rCtr x="0" y="12666"/>
                                    </p:animMotion>
                                  </p:childTnLst>
                                </p:cTn>
                              </p:par>
                            </p:childTnLst>
                          </p:cTn>
                        </p:par>
                        <p:par>
                          <p:cTn id="21" fill="hold">
                            <p:stCondLst>
                              <p:cond delay="250"/>
                            </p:stCondLst>
                            <p:childTnLst>
                              <p:par>
                                <p:cTn id="19" presetID="0" presetClass="path" presetSubtype="0" accel="20000" decel="20000" fill="hold" grpId="0" nodeType="afterEffect">
                                  <p:stCondLst>
                                    <p:cond delay="0"/>
                                  </p:stCondLst>
                                  <p:childTnLst>
                                    <p:animMotion origin="layout" path="M 0 0 L 0.0000 0.2533 E" pathEditMode="relative" ptsTypes="">
                                      <p:cBhvr>
                                        <p:cTn id="20" dur="1300" fill="hold"/>
                                        <p:tgtEl>
                                          <p:spTgt spid="23"/>
                                        </p:tgtEl>
                                        <p:attrNameLst>
                                          <p:attrName>ppt_x</p:attrName>
                                          <p:attrName>ppt_y</p:attrName>
                                        </p:attrNameLst>
                                      </p:cBhvr>
                                      <p:rCtr x="0" y="12666"/>
                                    </p:animMotion>
                                  </p:childTnLst>
                                </p:cTn>
                              </p:par>
                            </p:childTnLst>
                          </p:cTn>
                        </p:par>
                        <p:par>
                          <p:cTn id="24" fill="hold">
                            <p:stCondLst>
                              <p:cond delay="750"/>
                            </p:stCondLst>
                            <p:childTnLst>
                              <p:par>
                                <p:cTn id="22" presetID="0" presetClass="path" presetSubtype="0" accel="20000" decel="20000" fill="hold" grpId="0" nodeType="afterEffect">
                                  <p:stCondLst>
                                    <p:cond delay="0"/>
                                  </p:stCondLst>
                                  <p:childTnLst>
                                    <p:animMotion origin="layout" path="M 0 0 L 0.0000 0.2533 E" pathEditMode="relative" ptsTypes="">
                                      <p:cBhvr>
                                        <p:cTn id="23" dur="1300" fill="hold"/>
                                        <p:tgtEl>
                                          <p:spTgt spid="26"/>
                                        </p:tgtEl>
                                        <p:attrNameLst>
                                          <p:attrName>ppt_x</p:attrName>
                                          <p:attrName>ppt_y</p:attrName>
                                        </p:attrNameLst>
                                      </p:cBhvr>
                                      <p:rCtr x="0" y="126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Lst>
  </p:timing>
</p:sld>
</file>

<file path=ppt/slides/slide101.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Fibra M3"/>
          <p:cNvGrpSpPr/>
          <p:nvPr/>
        </p:nvGrpSpPr>
        <p:grpSpPr>
          <a:xfrm>
            <a:off x="-2743200" y="-2743200"/>
            <a:ext cx="22585680" cy="10972800"/>
            <a:chOff x="-2743200" y="-2743200"/>
            <a:chExt cx="22585680" cy="10972800"/>
          </a:xfrm>
        </p:grpSpPr>
        <p:sp>
          <p:nvSpPr>
            <p:cNvPr id="5" name="Forma 4"/>
            <p:cNvSpPr/>
            <p:nvPr/>
          </p:nvSpPr>
          <p:spPr>
            <a:xfrm>
              <a:off x="-2743200" y="-2743200"/>
              <a:ext cx="20116800" cy="109728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6" name="Forma 5"/>
            <p:cNvSpPr/>
            <p:nvPr/>
          </p:nvSpPr>
          <p:spPr>
            <a:xfrm>
              <a:off x="0" y="-2743200"/>
              <a:ext cx="14630400" cy="10972800"/>
            </a:xfrm>
            <a:custGeom>
              <a:avLst/>
              <a:gdLst/>
              <a:ahLst/>
              <a:cxnLst/>
              <a:rect l="0" t="0" r="r" b="b"/>
              <a:pathLst>
                <a:path w="1000" h="1000" fill="none">
                  <a:moveTo>
                    <a:pt x="2" y="80"/>
                  </a:moveTo>
                  <a:lnTo>
                    <a:pt x="2" y="920"/>
                  </a:lnTo>
                </a:path>
                <a:path w="1000" h="1000" fill="none">
                  <a:moveTo>
                    <a:pt x="6" y="80"/>
                  </a:moveTo>
                  <a:lnTo>
                    <a:pt x="6" y="920"/>
                  </a:lnTo>
                </a:path>
                <a:path w="1000" h="1000" fill="none">
                  <a:moveTo>
                    <a:pt x="10" y="80"/>
                  </a:moveTo>
                  <a:lnTo>
                    <a:pt x="10" y="920"/>
                  </a:lnTo>
                </a:path>
                <a:path w="1000" h="1000" fill="none">
                  <a:moveTo>
                    <a:pt x="14" y="80"/>
                  </a:moveTo>
                  <a:lnTo>
                    <a:pt x="14" y="920"/>
                  </a:lnTo>
                </a:path>
                <a:path w="1000" h="1000" fill="none">
                  <a:moveTo>
                    <a:pt x="18" y="80"/>
                  </a:moveTo>
                  <a:lnTo>
                    <a:pt x="18" y="920"/>
                  </a:lnTo>
                </a:path>
                <a:path w="1000" h="1000" fill="none">
                  <a:moveTo>
                    <a:pt x="22" y="80"/>
                  </a:moveTo>
                  <a:lnTo>
                    <a:pt x="22" y="920"/>
                  </a:lnTo>
                </a:path>
                <a:path w="1000" h="1000" fill="none">
                  <a:moveTo>
                    <a:pt x="26" y="80"/>
                  </a:moveTo>
                  <a:lnTo>
                    <a:pt x="26" y="920"/>
                  </a:lnTo>
                </a:path>
                <a:path w="1000" h="1000" fill="none">
                  <a:moveTo>
                    <a:pt x="30" y="80"/>
                  </a:moveTo>
                  <a:lnTo>
                    <a:pt x="30" y="920"/>
                  </a:lnTo>
                </a:path>
                <a:path w="1000" h="1000" fill="none">
                  <a:moveTo>
                    <a:pt x="34" y="80"/>
                  </a:moveTo>
                  <a:lnTo>
                    <a:pt x="34" y="920"/>
                  </a:lnTo>
                </a:path>
                <a:path w="1000" h="1000" fill="none">
                  <a:moveTo>
                    <a:pt x="38" y="80"/>
                  </a:moveTo>
                  <a:lnTo>
                    <a:pt x="38" y="920"/>
                  </a:lnTo>
                </a:path>
                <a:path w="1000" h="1000" fill="none">
                  <a:moveTo>
                    <a:pt x="43" y="80"/>
                  </a:moveTo>
                  <a:lnTo>
                    <a:pt x="43" y="920"/>
                  </a:lnTo>
                </a:path>
                <a:path w="1000" h="1000" fill="none">
                  <a:moveTo>
                    <a:pt x="47" y="80"/>
                  </a:moveTo>
                  <a:lnTo>
                    <a:pt x="47" y="920"/>
                  </a:lnTo>
                </a:path>
                <a:path w="1000" h="1000" fill="none">
                  <a:moveTo>
                    <a:pt x="51" y="80"/>
                  </a:moveTo>
                  <a:lnTo>
                    <a:pt x="51" y="920"/>
                  </a:lnTo>
                </a:path>
                <a:path w="1000" h="1000" fill="none">
                  <a:moveTo>
                    <a:pt x="55" y="80"/>
                  </a:moveTo>
                  <a:lnTo>
                    <a:pt x="55" y="920"/>
                  </a:lnTo>
                </a:path>
                <a:path w="1000" h="1000" fill="none">
                  <a:moveTo>
                    <a:pt x="59" y="80"/>
                  </a:moveTo>
                  <a:lnTo>
                    <a:pt x="59" y="920"/>
                  </a:lnTo>
                </a:path>
                <a:path w="1000" h="1000" fill="none">
                  <a:moveTo>
                    <a:pt x="63" y="80"/>
                  </a:moveTo>
                  <a:lnTo>
                    <a:pt x="63" y="920"/>
                  </a:lnTo>
                </a:path>
                <a:path w="1000" h="1000" fill="none">
                  <a:moveTo>
                    <a:pt x="67" y="80"/>
                  </a:moveTo>
                  <a:lnTo>
                    <a:pt x="67" y="920"/>
                  </a:lnTo>
                </a:path>
                <a:path w="1000" h="1000" fill="none">
                  <a:moveTo>
                    <a:pt x="71" y="80"/>
                  </a:moveTo>
                  <a:lnTo>
                    <a:pt x="71" y="920"/>
                  </a:lnTo>
                </a:path>
                <a:path w="1000" h="1000" fill="none">
                  <a:moveTo>
                    <a:pt x="75" y="80"/>
                  </a:moveTo>
                  <a:lnTo>
                    <a:pt x="75" y="920"/>
                  </a:lnTo>
                </a:path>
                <a:path w="1000" h="1000" fill="none">
                  <a:moveTo>
                    <a:pt x="79" y="80"/>
                  </a:moveTo>
                  <a:lnTo>
                    <a:pt x="79" y="920"/>
                  </a:lnTo>
                </a:path>
                <a:path w="1000" h="1000" fill="none">
                  <a:moveTo>
                    <a:pt x="84" y="80"/>
                  </a:moveTo>
                  <a:lnTo>
                    <a:pt x="84" y="920"/>
                  </a:lnTo>
                </a:path>
                <a:path w="1000" h="1000" fill="none">
                  <a:moveTo>
                    <a:pt x="88" y="80"/>
                  </a:moveTo>
                  <a:lnTo>
                    <a:pt x="88" y="920"/>
                  </a:lnTo>
                </a:path>
                <a:path w="1000" h="1000" fill="none">
                  <a:moveTo>
                    <a:pt x="92" y="80"/>
                  </a:moveTo>
                  <a:lnTo>
                    <a:pt x="92" y="920"/>
                  </a:lnTo>
                </a:path>
                <a:path w="1000" h="1000" fill="none">
                  <a:moveTo>
                    <a:pt x="96" y="80"/>
                  </a:moveTo>
                  <a:lnTo>
                    <a:pt x="96" y="920"/>
                  </a:lnTo>
                </a:path>
                <a:path w="1000" h="1000" fill="none">
                  <a:moveTo>
                    <a:pt x="100" y="80"/>
                  </a:moveTo>
                  <a:lnTo>
                    <a:pt x="100" y="920"/>
                  </a:lnTo>
                </a:path>
                <a:path w="1000" h="1000" fill="none">
                  <a:moveTo>
                    <a:pt x="104" y="80"/>
                  </a:moveTo>
                  <a:lnTo>
                    <a:pt x="104" y="920"/>
                  </a:lnTo>
                </a:path>
                <a:path w="1000" h="1000" fill="none">
                  <a:moveTo>
                    <a:pt x="108" y="80"/>
                  </a:moveTo>
                  <a:lnTo>
                    <a:pt x="108" y="920"/>
                  </a:lnTo>
                </a:path>
                <a:path w="1000" h="1000" fill="none">
                  <a:moveTo>
                    <a:pt x="112" y="80"/>
                  </a:moveTo>
                  <a:lnTo>
                    <a:pt x="112" y="920"/>
                  </a:lnTo>
                </a:path>
                <a:path w="1000" h="1000" fill="none">
                  <a:moveTo>
                    <a:pt x="116" y="80"/>
                  </a:moveTo>
                  <a:lnTo>
                    <a:pt x="116" y="920"/>
                  </a:lnTo>
                </a:path>
                <a:path w="1000" h="1000" fill="none">
                  <a:moveTo>
                    <a:pt x="120" y="80"/>
                  </a:moveTo>
                  <a:lnTo>
                    <a:pt x="120" y="920"/>
                  </a:lnTo>
                </a:path>
                <a:path w="1000" h="1000" fill="none">
                  <a:moveTo>
                    <a:pt x="125" y="80"/>
                  </a:moveTo>
                  <a:lnTo>
                    <a:pt x="125" y="920"/>
                  </a:lnTo>
                </a:path>
                <a:path w="1000" h="1000" fill="none">
                  <a:moveTo>
                    <a:pt x="129" y="80"/>
                  </a:moveTo>
                  <a:lnTo>
                    <a:pt x="129" y="920"/>
                  </a:lnTo>
                </a:path>
                <a:path w="1000" h="1000" fill="none">
                  <a:moveTo>
                    <a:pt x="133" y="80"/>
                  </a:moveTo>
                  <a:lnTo>
                    <a:pt x="133" y="920"/>
                  </a:lnTo>
                </a:path>
                <a:path w="1000" h="1000" fill="none">
                  <a:moveTo>
                    <a:pt x="137" y="80"/>
                  </a:moveTo>
                  <a:lnTo>
                    <a:pt x="137" y="920"/>
                  </a:lnTo>
                </a:path>
                <a:path w="1000" h="1000" fill="none">
                  <a:moveTo>
                    <a:pt x="141" y="80"/>
                  </a:moveTo>
                  <a:lnTo>
                    <a:pt x="141" y="920"/>
                  </a:lnTo>
                </a:path>
                <a:path w="1000" h="1000" fill="none">
                  <a:moveTo>
                    <a:pt x="145" y="80"/>
                  </a:moveTo>
                  <a:lnTo>
                    <a:pt x="145" y="920"/>
                  </a:lnTo>
                </a:path>
                <a:path w="1000" h="1000" fill="none">
                  <a:moveTo>
                    <a:pt x="149" y="80"/>
                  </a:moveTo>
                  <a:lnTo>
                    <a:pt x="149" y="920"/>
                  </a:lnTo>
                </a:path>
                <a:path w="1000" h="1000" fill="none">
                  <a:moveTo>
                    <a:pt x="153" y="80"/>
                  </a:moveTo>
                  <a:lnTo>
                    <a:pt x="153" y="920"/>
                  </a:lnTo>
                </a:path>
                <a:path w="1000" h="1000" fill="none">
                  <a:moveTo>
                    <a:pt x="157" y="80"/>
                  </a:moveTo>
                  <a:lnTo>
                    <a:pt x="157" y="920"/>
                  </a:lnTo>
                </a:path>
                <a:path w="1000" h="1000" fill="none">
                  <a:moveTo>
                    <a:pt x="161" y="80"/>
                  </a:moveTo>
                  <a:lnTo>
                    <a:pt x="161" y="920"/>
                  </a:lnTo>
                </a:path>
                <a:path w="1000" h="1000" fill="none">
                  <a:moveTo>
                    <a:pt x="165" y="80"/>
                  </a:moveTo>
                  <a:lnTo>
                    <a:pt x="165" y="920"/>
                  </a:lnTo>
                </a:path>
                <a:path w="1000" h="1000" fill="none">
                  <a:moveTo>
                    <a:pt x="170" y="80"/>
                  </a:moveTo>
                  <a:lnTo>
                    <a:pt x="170" y="920"/>
                  </a:lnTo>
                </a:path>
                <a:path w="1000" h="1000" fill="none">
                  <a:moveTo>
                    <a:pt x="174" y="80"/>
                  </a:moveTo>
                  <a:lnTo>
                    <a:pt x="174" y="920"/>
                  </a:lnTo>
                </a:path>
                <a:path w="1000" h="1000" fill="none">
                  <a:moveTo>
                    <a:pt x="178" y="80"/>
                  </a:moveTo>
                  <a:lnTo>
                    <a:pt x="178" y="920"/>
                  </a:lnTo>
                </a:path>
                <a:path w="1000" h="1000" fill="none">
                  <a:moveTo>
                    <a:pt x="182" y="80"/>
                  </a:moveTo>
                  <a:lnTo>
                    <a:pt x="182" y="920"/>
                  </a:lnTo>
                </a:path>
                <a:path w="1000" h="1000" fill="none">
                  <a:moveTo>
                    <a:pt x="186" y="80"/>
                  </a:moveTo>
                  <a:lnTo>
                    <a:pt x="186" y="920"/>
                  </a:lnTo>
                </a:path>
                <a:path w="1000" h="1000" fill="none">
                  <a:moveTo>
                    <a:pt x="190" y="80"/>
                  </a:moveTo>
                  <a:lnTo>
                    <a:pt x="190" y="920"/>
                  </a:lnTo>
                </a:path>
                <a:path w="1000" h="1000" fill="none">
                  <a:moveTo>
                    <a:pt x="194" y="80"/>
                  </a:moveTo>
                  <a:lnTo>
                    <a:pt x="194" y="920"/>
                  </a:lnTo>
                </a:path>
                <a:path w="1000" h="1000" fill="none">
                  <a:moveTo>
                    <a:pt x="198" y="80"/>
                  </a:moveTo>
                  <a:lnTo>
                    <a:pt x="198" y="920"/>
                  </a:lnTo>
                </a:path>
                <a:path w="1000" h="1000" fill="none">
                  <a:moveTo>
                    <a:pt x="202" y="80"/>
                  </a:moveTo>
                  <a:lnTo>
                    <a:pt x="202" y="920"/>
                  </a:lnTo>
                </a:path>
                <a:path w="1000" h="1000" fill="none">
                  <a:moveTo>
                    <a:pt x="206" y="80"/>
                  </a:moveTo>
                  <a:lnTo>
                    <a:pt x="206" y="920"/>
                  </a:lnTo>
                </a:path>
                <a:path w="1000" h="1000" fill="none">
                  <a:moveTo>
                    <a:pt x="211" y="80"/>
                  </a:moveTo>
                  <a:lnTo>
                    <a:pt x="211" y="920"/>
                  </a:lnTo>
                </a:path>
                <a:path w="1000" h="1000" fill="none">
                  <a:moveTo>
                    <a:pt x="215" y="80"/>
                  </a:moveTo>
                  <a:lnTo>
                    <a:pt x="215" y="920"/>
                  </a:lnTo>
                </a:path>
                <a:path w="1000" h="1000" fill="none">
                  <a:moveTo>
                    <a:pt x="219" y="80"/>
                  </a:moveTo>
                  <a:lnTo>
                    <a:pt x="219" y="920"/>
                  </a:lnTo>
                </a:path>
                <a:path w="1000" h="1000" fill="none">
                  <a:moveTo>
                    <a:pt x="223" y="80"/>
                  </a:moveTo>
                  <a:lnTo>
                    <a:pt x="223" y="920"/>
                  </a:lnTo>
                </a:path>
                <a:path w="1000" h="1000" fill="none">
                  <a:moveTo>
                    <a:pt x="227" y="80"/>
                  </a:moveTo>
                  <a:lnTo>
                    <a:pt x="227" y="920"/>
                  </a:lnTo>
                </a:path>
                <a:path w="1000" h="1000" fill="none">
                  <a:moveTo>
                    <a:pt x="231" y="80"/>
                  </a:moveTo>
                  <a:lnTo>
                    <a:pt x="231" y="920"/>
                  </a:lnTo>
                </a:path>
                <a:path w="1000" h="1000" fill="none">
                  <a:moveTo>
                    <a:pt x="235" y="80"/>
                  </a:moveTo>
                  <a:lnTo>
                    <a:pt x="235" y="920"/>
                  </a:lnTo>
                </a:path>
                <a:path w="1000" h="1000" fill="none">
                  <a:moveTo>
                    <a:pt x="239" y="80"/>
                  </a:moveTo>
                  <a:lnTo>
                    <a:pt x="239" y="920"/>
                  </a:lnTo>
                </a:path>
                <a:path w="1000" h="1000" fill="none">
                  <a:moveTo>
                    <a:pt x="243" y="80"/>
                  </a:moveTo>
                  <a:lnTo>
                    <a:pt x="243" y="920"/>
                  </a:lnTo>
                </a:path>
                <a:path w="1000" h="1000" fill="none">
                  <a:moveTo>
                    <a:pt x="247" y="80"/>
                  </a:moveTo>
                  <a:lnTo>
                    <a:pt x="247" y="920"/>
                  </a:lnTo>
                </a:path>
                <a:path w="1000" h="1000" fill="none">
                  <a:moveTo>
                    <a:pt x="252" y="80"/>
                  </a:moveTo>
                  <a:lnTo>
                    <a:pt x="252" y="920"/>
                  </a:lnTo>
                </a:path>
                <a:path w="1000" h="1000" fill="none">
                  <a:moveTo>
                    <a:pt x="256" y="80"/>
                  </a:moveTo>
                  <a:lnTo>
                    <a:pt x="256" y="920"/>
                  </a:lnTo>
                </a:path>
                <a:path w="1000" h="1000" fill="none">
                  <a:moveTo>
                    <a:pt x="260" y="80"/>
                  </a:moveTo>
                  <a:lnTo>
                    <a:pt x="260" y="920"/>
                  </a:lnTo>
                </a:path>
                <a:path w="1000" h="1000" fill="none">
                  <a:moveTo>
                    <a:pt x="264" y="80"/>
                  </a:moveTo>
                  <a:lnTo>
                    <a:pt x="264" y="920"/>
                  </a:lnTo>
                </a:path>
                <a:path w="1000" h="1000" fill="none">
                  <a:moveTo>
                    <a:pt x="268" y="80"/>
                  </a:moveTo>
                  <a:lnTo>
                    <a:pt x="268" y="920"/>
                  </a:lnTo>
                </a:path>
                <a:path w="1000" h="1000" fill="none">
                  <a:moveTo>
                    <a:pt x="272" y="80"/>
                  </a:moveTo>
                  <a:lnTo>
                    <a:pt x="272" y="920"/>
                  </a:lnTo>
                </a:path>
                <a:path w="1000" h="1000" fill="none">
                  <a:moveTo>
                    <a:pt x="276" y="80"/>
                  </a:moveTo>
                  <a:lnTo>
                    <a:pt x="276" y="920"/>
                  </a:lnTo>
                </a:path>
                <a:path w="1000" h="1000" fill="none">
                  <a:moveTo>
                    <a:pt x="280" y="80"/>
                  </a:moveTo>
                  <a:lnTo>
                    <a:pt x="280" y="920"/>
                  </a:lnTo>
                </a:path>
                <a:path w="1000" h="1000" fill="none">
                  <a:moveTo>
                    <a:pt x="284" y="80"/>
                  </a:moveTo>
                  <a:lnTo>
                    <a:pt x="284" y="920"/>
                  </a:lnTo>
                </a:path>
                <a:path w="1000" h="1000" fill="none">
                  <a:moveTo>
                    <a:pt x="288" y="80"/>
                  </a:moveTo>
                  <a:lnTo>
                    <a:pt x="288" y="920"/>
                  </a:lnTo>
                </a:path>
                <a:path w="1000" h="1000" fill="none">
                  <a:moveTo>
                    <a:pt x="293" y="80"/>
                  </a:moveTo>
                  <a:lnTo>
                    <a:pt x="293" y="920"/>
                  </a:lnTo>
                </a:path>
                <a:path w="1000" h="1000" fill="none">
                  <a:moveTo>
                    <a:pt x="297" y="80"/>
                  </a:moveTo>
                  <a:lnTo>
                    <a:pt x="297" y="920"/>
                  </a:lnTo>
                </a:path>
                <a:path w="1000" h="1000" fill="none">
                  <a:moveTo>
                    <a:pt x="301" y="80"/>
                  </a:moveTo>
                  <a:lnTo>
                    <a:pt x="301" y="920"/>
                  </a:lnTo>
                </a:path>
                <a:path w="1000" h="1000" fill="none">
                  <a:moveTo>
                    <a:pt x="305" y="80"/>
                  </a:moveTo>
                  <a:lnTo>
                    <a:pt x="305" y="920"/>
                  </a:lnTo>
                </a:path>
                <a:path w="1000" h="1000" fill="none">
                  <a:moveTo>
                    <a:pt x="309" y="80"/>
                  </a:moveTo>
                  <a:lnTo>
                    <a:pt x="309" y="920"/>
                  </a:lnTo>
                </a:path>
                <a:path w="1000" h="1000" fill="none">
                  <a:moveTo>
                    <a:pt x="313" y="80"/>
                  </a:moveTo>
                  <a:lnTo>
                    <a:pt x="313" y="920"/>
                  </a:lnTo>
                </a:path>
                <a:path w="1000" h="1000" fill="none">
                  <a:moveTo>
                    <a:pt x="317" y="80"/>
                  </a:moveTo>
                  <a:lnTo>
                    <a:pt x="317" y="920"/>
                  </a:lnTo>
                </a:path>
                <a:path w="1000" h="1000" fill="none">
                  <a:moveTo>
                    <a:pt x="321" y="80"/>
                  </a:moveTo>
                  <a:lnTo>
                    <a:pt x="321" y="920"/>
                  </a:lnTo>
                </a:path>
                <a:path w="1000" h="1000" fill="none">
                  <a:moveTo>
                    <a:pt x="325" y="80"/>
                  </a:moveTo>
                  <a:lnTo>
                    <a:pt x="325" y="920"/>
                  </a:lnTo>
                </a:path>
                <a:path w="1000" h="1000" fill="none">
                  <a:moveTo>
                    <a:pt x="329" y="80"/>
                  </a:moveTo>
                  <a:lnTo>
                    <a:pt x="329" y="920"/>
                  </a:lnTo>
                </a:path>
                <a:path w="1000" h="1000" fill="none">
                  <a:moveTo>
                    <a:pt x="334" y="80"/>
                  </a:moveTo>
                  <a:lnTo>
                    <a:pt x="334" y="920"/>
                  </a:lnTo>
                </a:path>
                <a:path w="1000" h="1000" fill="none">
                  <a:moveTo>
                    <a:pt x="338" y="80"/>
                  </a:moveTo>
                  <a:lnTo>
                    <a:pt x="338" y="920"/>
                  </a:lnTo>
                </a:path>
                <a:path w="1000" h="1000" fill="none">
                  <a:moveTo>
                    <a:pt x="342" y="80"/>
                  </a:moveTo>
                  <a:lnTo>
                    <a:pt x="342" y="920"/>
                  </a:lnTo>
                </a:path>
                <a:path w="1000" h="1000" fill="none">
                  <a:moveTo>
                    <a:pt x="346" y="80"/>
                  </a:moveTo>
                  <a:lnTo>
                    <a:pt x="346" y="920"/>
                  </a:lnTo>
                </a:path>
                <a:path w="1000" h="1000" fill="none">
                  <a:moveTo>
                    <a:pt x="350" y="80"/>
                  </a:moveTo>
                  <a:lnTo>
                    <a:pt x="350" y="920"/>
                  </a:lnTo>
                </a:path>
                <a:path w="1000" h="1000" fill="none">
                  <a:moveTo>
                    <a:pt x="354" y="80"/>
                  </a:moveTo>
                  <a:lnTo>
                    <a:pt x="354" y="920"/>
                  </a:lnTo>
                </a:path>
                <a:path w="1000" h="1000" fill="none">
                  <a:moveTo>
                    <a:pt x="358" y="80"/>
                  </a:moveTo>
                  <a:lnTo>
                    <a:pt x="358" y="920"/>
                  </a:lnTo>
                </a:path>
                <a:path w="1000" h="1000" fill="none">
                  <a:moveTo>
                    <a:pt x="362" y="80"/>
                  </a:moveTo>
                  <a:lnTo>
                    <a:pt x="362" y="920"/>
                  </a:lnTo>
                </a:path>
                <a:path w="1000" h="1000" fill="none">
                  <a:moveTo>
                    <a:pt x="366" y="80"/>
                  </a:moveTo>
                  <a:lnTo>
                    <a:pt x="366" y="920"/>
                  </a:lnTo>
                </a:path>
                <a:path w="1000" h="1000" fill="none">
                  <a:moveTo>
                    <a:pt x="370" y="80"/>
                  </a:moveTo>
                  <a:lnTo>
                    <a:pt x="370" y="920"/>
                  </a:lnTo>
                </a:path>
                <a:path w="1000" h="1000" fill="none">
                  <a:moveTo>
                    <a:pt x="375" y="80"/>
                  </a:moveTo>
                  <a:lnTo>
                    <a:pt x="375" y="920"/>
                  </a:lnTo>
                </a:path>
                <a:path w="1000" h="1000" fill="none">
                  <a:moveTo>
                    <a:pt x="379" y="80"/>
                  </a:moveTo>
                  <a:lnTo>
                    <a:pt x="379" y="920"/>
                  </a:lnTo>
                </a:path>
                <a:path w="1000" h="1000" fill="none">
                  <a:moveTo>
                    <a:pt x="383" y="80"/>
                  </a:moveTo>
                  <a:lnTo>
                    <a:pt x="383" y="920"/>
                  </a:lnTo>
                </a:path>
                <a:path w="1000" h="1000" fill="none">
                  <a:moveTo>
                    <a:pt x="387" y="80"/>
                  </a:moveTo>
                  <a:lnTo>
                    <a:pt x="387" y="920"/>
                  </a:lnTo>
                </a:path>
                <a:path w="1000" h="1000" fill="none">
                  <a:moveTo>
                    <a:pt x="391" y="80"/>
                  </a:moveTo>
                  <a:lnTo>
                    <a:pt x="391" y="920"/>
                  </a:lnTo>
                </a:path>
                <a:path w="1000" h="1000" fill="none">
                  <a:moveTo>
                    <a:pt x="395" y="80"/>
                  </a:moveTo>
                  <a:lnTo>
                    <a:pt x="395" y="920"/>
                  </a:lnTo>
                </a:path>
                <a:path w="1000" h="1000" fill="none">
                  <a:moveTo>
                    <a:pt x="399" y="80"/>
                  </a:moveTo>
                  <a:lnTo>
                    <a:pt x="399" y="920"/>
                  </a:lnTo>
                </a:path>
                <a:path w="1000" h="1000" fill="none">
                  <a:moveTo>
                    <a:pt x="403" y="80"/>
                  </a:moveTo>
                  <a:lnTo>
                    <a:pt x="403" y="920"/>
                  </a:lnTo>
                </a:path>
                <a:path w="1000" h="1000" fill="none">
                  <a:moveTo>
                    <a:pt x="407" y="80"/>
                  </a:moveTo>
                  <a:lnTo>
                    <a:pt x="407" y="920"/>
                  </a:lnTo>
                </a:path>
                <a:path w="1000" h="1000" fill="none">
                  <a:moveTo>
                    <a:pt x="411" y="80"/>
                  </a:moveTo>
                  <a:lnTo>
                    <a:pt x="411" y="920"/>
                  </a:lnTo>
                </a:path>
                <a:path w="1000" h="1000" fill="none">
                  <a:moveTo>
                    <a:pt x="415" y="80"/>
                  </a:moveTo>
                  <a:lnTo>
                    <a:pt x="415" y="920"/>
                  </a:lnTo>
                </a:path>
                <a:path w="1000" h="1000" fill="none">
                  <a:moveTo>
                    <a:pt x="420" y="80"/>
                  </a:moveTo>
                  <a:lnTo>
                    <a:pt x="420" y="920"/>
                  </a:lnTo>
                </a:path>
                <a:path w="1000" h="1000" fill="none">
                  <a:moveTo>
                    <a:pt x="424" y="80"/>
                  </a:moveTo>
                  <a:lnTo>
                    <a:pt x="424" y="920"/>
                  </a:lnTo>
                </a:path>
                <a:path w="1000" h="1000" fill="none">
                  <a:moveTo>
                    <a:pt x="428" y="80"/>
                  </a:moveTo>
                  <a:lnTo>
                    <a:pt x="428" y="920"/>
                  </a:lnTo>
                </a:path>
                <a:path w="1000" h="1000" fill="none">
                  <a:moveTo>
                    <a:pt x="432" y="80"/>
                  </a:moveTo>
                  <a:lnTo>
                    <a:pt x="432" y="920"/>
                  </a:lnTo>
                </a:path>
                <a:path w="1000" h="1000" fill="none">
                  <a:moveTo>
                    <a:pt x="436" y="80"/>
                  </a:moveTo>
                  <a:lnTo>
                    <a:pt x="436" y="920"/>
                  </a:lnTo>
                </a:path>
                <a:path w="1000" h="1000" fill="none">
                  <a:moveTo>
                    <a:pt x="440" y="80"/>
                  </a:moveTo>
                  <a:lnTo>
                    <a:pt x="440" y="920"/>
                  </a:lnTo>
                </a:path>
                <a:path w="1000" h="1000" fill="none">
                  <a:moveTo>
                    <a:pt x="444" y="80"/>
                  </a:moveTo>
                  <a:lnTo>
                    <a:pt x="444" y="920"/>
                  </a:lnTo>
                </a:path>
                <a:path w="1000" h="1000" fill="none">
                  <a:moveTo>
                    <a:pt x="448" y="80"/>
                  </a:moveTo>
                  <a:lnTo>
                    <a:pt x="448" y="920"/>
                  </a:lnTo>
                </a:path>
                <a:path w="1000" h="1000" fill="none">
                  <a:moveTo>
                    <a:pt x="452" y="80"/>
                  </a:moveTo>
                  <a:lnTo>
                    <a:pt x="452" y="920"/>
                  </a:lnTo>
                </a:path>
                <a:path w="1000" h="1000" fill="none">
                  <a:moveTo>
                    <a:pt x="456" y="80"/>
                  </a:moveTo>
                  <a:lnTo>
                    <a:pt x="456" y="920"/>
                  </a:lnTo>
                </a:path>
                <a:path w="1000" h="1000" fill="none">
                  <a:moveTo>
                    <a:pt x="461" y="80"/>
                  </a:moveTo>
                  <a:lnTo>
                    <a:pt x="461" y="920"/>
                  </a:lnTo>
                </a:path>
                <a:path w="1000" h="1000" fill="none">
                  <a:moveTo>
                    <a:pt x="465" y="80"/>
                  </a:moveTo>
                  <a:lnTo>
                    <a:pt x="465" y="920"/>
                  </a:lnTo>
                </a:path>
                <a:path w="1000" h="1000" fill="none">
                  <a:moveTo>
                    <a:pt x="469" y="80"/>
                  </a:moveTo>
                  <a:lnTo>
                    <a:pt x="469" y="920"/>
                  </a:lnTo>
                </a:path>
                <a:path w="1000" h="1000" fill="none">
                  <a:moveTo>
                    <a:pt x="473" y="80"/>
                  </a:moveTo>
                  <a:lnTo>
                    <a:pt x="473" y="920"/>
                  </a:lnTo>
                </a:path>
                <a:path w="1000" h="1000" fill="none">
                  <a:moveTo>
                    <a:pt x="477" y="80"/>
                  </a:moveTo>
                  <a:lnTo>
                    <a:pt x="477" y="920"/>
                  </a:lnTo>
                </a:path>
                <a:path w="1000" h="1000" fill="none">
                  <a:moveTo>
                    <a:pt x="481" y="80"/>
                  </a:moveTo>
                  <a:lnTo>
                    <a:pt x="481" y="920"/>
                  </a:lnTo>
                </a:path>
                <a:path w="1000" h="1000" fill="none">
                  <a:moveTo>
                    <a:pt x="485" y="80"/>
                  </a:moveTo>
                  <a:lnTo>
                    <a:pt x="485" y="920"/>
                  </a:lnTo>
                </a:path>
                <a:path w="1000" h="1000" fill="none">
                  <a:moveTo>
                    <a:pt x="489" y="80"/>
                  </a:moveTo>
                  <a:lnTo>
                    <a:pt x="489" y="920"/>
                  </a:lnTo>
                </a:path>
                <a:path w="1000" h="1000" fill="none">
                  <a:moveTo>
                    <a:pt x="493" y="80"/>
                  </a:moveTo>
                  <a:lnTo>
                    <a:pt x="493" y="920"/>
                  </a:lnTo>
                </a:path>
                <a:path w="1000" h="1000" fill="none">
                  <a:moveTo>
                    <a:pt x="497" y="80"/>
                  </a:moveTo>
                  <a:lnTo>
                    <a:pt x="497" y="920"/>
                  </a:lnTo>
                </a:path>
                <a:path w="1000" h="1000" fill="none">
                  <a:moveTo>
                    <a:pt x="502" y="80"/>
                  </a:moveTo>
                  <a:lnTo>
                    <a:pt x="502" y="920"/>
                  </a:lnTo>
                </a:path>
                <a:path w="1000" h="1000" fill="none">
                  <a:moveTo>
                    <a:pt x="506" y="80"/>
                  </a:moveTo>
                  <a:lnTo>
                    <a:pt x="506" y="920"/>
                  </a:lnTo>
                </a:path>
                <a:path w="1000" h="1000" fill="none">
                  <a:moveTo>
                    <a:pt x="510" y="80"/>
                  </a:moveTo>
                  <a:lnTo>
                    <a:pt x="510" y="920"/>
                  </a:lnTo>
                </a:path>
                <a:path w="1000" h="1000" fill="none">
                  <a:moveTo>
                    <a:pt x="514" y="80"/>
                  </a:moveTo>
                  <a:lnTo>
                    <a:pt x="514" y="920"/>
                  </a:lnTo>
                </a:path>
                <a:path w="1000" h="1000" fill="none">
                  <a:moveTo>
                    <a:pt x="518" y="80"/>
                  </a:moveTo>
                  <a:lnTo>
                    <a:pt x="518" y="920"/>
                  </a:lnTo>
                </a:path>
                <a:path w="1000" h="1000" fill="none">
                  <a:moveTo>
                    <a:pt x="522" y="80"/>
                  </a:moveTo>
                  <a:lnTo>
                    <a:pt x="522" y="920"/>
                  </a:lnTo>
                </a:path>
                <a:path w="1000" h="1000" fill="none">
                  <a:moveTo>
                    <a:pt x="526" y="80"/>
                  </a:moveTo>
                  <a:lnTo>
                    <a:pt x="526" y="920"/>
                  </a:lnTo>
                </a:path>
                <a:path w="1000" h="1000" fill="none">
                  <a:moveTo>
                    <a:pt x="530" y="80"/>
                  </a:moveTo>
                  <a:lnTo>
                    <a:pt x="530" y="920"/>
                  </a:lnTo>
                </a:path>
                <a:path w="1000" h="1000" fill="none">
                  <a:moveTo>
                    <a:pt x="534" y="80"/>
                  </a:moveTo>
                  <a:lnTo>
                    <a:pt x="534" y="920"/>
                  </a:lnTo>
                </a:path>
                <a:path w="1000" h="1000" fill="none">
                  <a:moveTo>
                    <a:pt x="538" y="80"/>
                  </a:moveTo>
                  <a:lnTo>
                    <a:pt x="538" y="920"/>
                  </a:lnTo>
                </a:path>
                <a:path w="1000" h="1000" fill="none">
                  <a:moveTo>
                    <a:pt x="543" y="80"/>
                  </a:moveTo>
                  <a:lnTo>
                    <a:pt x="543" y="920"/>
                  </a:lnTo>
                </a:path>
                <a:path w="1000" h="1000" fill="none">
                  <a:moveTo>
                    <a:pt x="547" y="80"/>
                  </a:moveTo>
                  <a:lnTo>
                    <a:pt x="547" y="920"/>
                  </a:lnTo>
                </a:path>
                <a:path w="1000" h="1000" fill="none">
                  <a:moveTo>
                    <a:pt x="551" y="80"/>
                  </a:moveTo>
                  <a:lnTo>
                    <a:pt x="551" y="920"/>
                  </a:lnTo>
                </a:path>
                <a:path w="1000" h="1000" fill="none">
                  <a:moveTo>
                    <a:pt x="555" y="80"/>
                  </a:moveTo>
                  <a:lnTo>
                    <a:pt x="555" y="920"/>
                  </a:lnTo>
                </a:path>
                <a:path w="1000" h="1000" fill="none">
                  <a:moveTo>
                    <a:pt x="559" y="80"/>
                  </a:moveTo>
                  <a:lnTo>
                    <a:pt x="559" y="920"/>
                  </a:lnTo>
                </a:path>
                <a:path w="1000" h="1000" fill="none">
                  <a:moveTo>
                    <a:pt x="563" y="80"/>
                  </a:moveTo>
                  <a:lnTo>
                    <a:pt x="563" y="920"/>
                  </a:lnTo>
                </a:path>
                <a:path w="1000" h="1000" fill="none">
                  <a:moveTo>
                    <a:pt x="567" y="80"/>
                  </a:moveTo>
                  <a:lnTo>
                    <a:pt x="567" y="920"/>
                  </a:lnTo>
                </a:path>
                <a:path w="1000" h="1000" fill="none">
                  <a:moveTo>
                    <a:pt x="571" y="80"/>
                  </a:moveTo>
                  <a:lnTo>
                    <a:pt x="571" y="920"/>
                  </a:lnTo>
                </a:path>
                <a:path w="1000" h="1000" fill="none">
                  <a:moveTo>
                    <a:pt x="575" y="80"/>
                  </a:moveTo>
                  <a:lnTo>
                    <a:pt x="575" y="920"/>
                  </a:lnTo>
                </a:path>
                <a:path w="1000" h="1000" fill="none">
                  <a:moveTo>
                    <a:pt x="579" y="80"/>
                  </a:moveTo>
                  <a:lnTo>
                    <a:pt x="579" y="920"/>
                  </a:lnTo>
                </a:path>
                <a:path w="1000" h="1000" fill="none">
                  <a:moveTo>
                    <a:pt x="584" y="80"/>
                  </a:moveTo>
                  <a:lnTo>
                    <a:pt x="584" y="920"/>
                  </a:lnTo>
                </a:path>
                <a:path w="1000" h="1000" fill="none">
                  <a:moveTo>
                    <a:pt x="588" y="80"/>
                  </a:moveTo>
                  <a:lnTo>
                    <a:pt x="588" y="920"/>
                  </a:lnTo>
                </a:path>
                <a:path w="1000" h="1000" fill="none">
                  <a:moveTo>
                    <a:pt x="592" y="80"/>
                  </a:moveTo>
                  <a:lnTo>
                    <a:pt x="592" y="920"/>
                  </a:lnTo>
                </a:path>
                <a:path w="1000" h="1000" fill="none">
                  <a:moveTo>
                    <a:pt x="596" y="80"/>
                  </a:moveTo>
                  <a:lnTo>
                    <a:pt x="596" y="920"/>
                  </a:lnTo>
                </a:path>
                <a:path w="1000" h="1000" fill="none">
                  <a:moveTo>
                    <a:pt x="600" y="80"/>
                  </a:moveTo>
                  <a:lnTo>
                    <a:pt x="600" y="920"/>
                  </a:lnTo>
                </a:path>
                <a:path w="1000" h="1000" fill="none">
                  <a:moveTo>
                    <a:pt x="604" y="80"/>
                  </a:moveTo>
                  <a:lnTo>
                    <a:pt x="604" y="920"/>
                  </a:lnTo>
                </a:path>
                <a:path w="1000" h="1000" fill="none">
                  <a:moveTo>
                    <a:pt x="608" y="80"/>
                  </a:moveTo>
                  <a:lnTo>
                    <a:pt x="608" y="920"/>
                  </a:lnTo>
                </a:path>
                <a:path w="1000" h="1000" fill="none">
                  <a:moveTo>
                    <a:pt x="612" y="80"/>
                  </a:moveTo>
                  <a:lnTo>
                    <a:pt x="612" y="920"/>
                  </a:lnTo>
                </a:path>
                <a:path w="1000" h="1000" fill="none">
                  <a:moveTo>
                    <a:pt x="616" y="80"/>
                  </a:moveTo>
                  <a:lnTo>
                    <a:pt x="616" y="920"/>
                  </a:lnTo>
                </a:path>
                <a:path w="1000" h="1000" fill="none">
                  <a:moveTo>
                    <a:pt x="620" y="80"/>
                  </a:moveTo>
                  <a:lnTo>
                    <a:pt x="620" y="920"/>
                  </a:lnTo>
                </a:path>
                <a:path w="1000" h="1000" fill="none">
                  <a:moveTo>
                    <a:pt x="625" y="80"/>
                  </a:moveTo>
                  <a:lnTo>
                    <a:pt x="625" y="920"/>
                  </a:lnTo>
                </a:path>
                <a:path w="1000" h="1000" fill="none">
                  <a:moveTo>
                    <a:pt x="629" y="80"/>
                  </a:moveTo>
                  <a:lnTo>
                    <a:pt x="629" y="920"/>
                  </a:lnTo>
                </a:path>
                <a:path w="1000" h="1000" fill="none">
                  <a:moveTo>
                    <a:pt x="633" y="80"/>
                  </a:moveTo>
                  <a:lnTo>
                    <a:pt x="633" y="920"/>
                  </a:lnTo>
                </a:path>
                <a:path w="1000" h="1000" fill="none">
                  <a:moveTo>
                    <a:pt x="637" y="80"/>
                  </a:moveTo>
                  <a:lnTo>
                    <a:pt x="637" y="920"/>
                  </a:lnTo>
                </a:path>
                <a:path w="1000" h="1000" fill="none">
                  <a:moveTo>
                    <a:pt x="641" y="80"/>
                  </a:moveTo>
                  <a:lnTo>
                    <a:pt x="641" y="920"/>
                  </a:lnTo>
                </a:path>
                <a:path w="1000" h="1000" fill="none">
                  <a:moveTo>
                    <a:pt x="645" y="80"/>
                  </a:moveTo>
                  <a:lnTo>
                    <a:pt x="645" y="920"/>
                  </a:lnTo>
                </a:path>
                <a:path w="1000" h="1000" fill="none">
                  <a:moveTo>
                    <a:pt x="649" y="80"/>
                  </a:moveTo>
                  <a:lnTo>
                    <a:pt x="649" y="920"/>
                  </a:lnTo>
                </a:path>
                <a:path w="1000" h="1000" fill="none">
                  <a:moveTo>
                    <a:pt x="653" y="80"/>
                  </a:moveTo>
                  <a:lnTo>
                    <a:pt x="653" y="920"/>
                  </a:lnTo>
                </a:path>
                <a:path w="1000" h="1000" fill="none">
                  <a:moveTo>
                    <a:pt x="657" y="80"/>
                  </a:moveTo>
                  <a:lnTo>
                    <a:pt x="657" y="920"/>
                  </a:lnTo>
                </a:path>
                <a:path w="1000" h="1000" fill="none">
                  <a:moveTo>
                    <a:pt x="661" y="80"/>
                  </a:moveTo>
                  <a:lnTo>
                    <a:pt x="661" y="920"/>
                  </a:lnTo>
                </a:path>
                <a:path w="1000" h="1000" fill="none">
                  <a:moveTo>
                    <a:pt x="665" y="80"/>
                  </a:moveTo>
                  <a:lnTo>
                    <a:pt x="665" y="920"/>
                  </a:lnTo>
                </a:path>
                <a:path w="1000" h="1000" fill="none">
                  <a:moveTo>
                    <a:pt x="670" y="80"/>
                  </a:moveTo>
                  <a:lnTo>
                    <a:pt x="670" y="920"/>
                  </a:lnTo>
                </a:path>
                <a:path w="1000" h="1000" fill="none">
                  <a:moveTo>
                    <a:pt x="674" y="80"/>
                  </a:moveTo>
                  <a:lnTo>
                    <a:pt x="674" y="920"/>
                  </a:lnTo>
                </a:path>
                <a:path w="1000" h="1000" fill="none">
                  <a:moveTo>
                    <a:pt x="678" y="80"/>
                  </a:moveTo>
                  <a:lnTo>
                    <a:pt x="678" y="920"/>
                  </a:lnTo>
                </a:path>
                <a:path w="1000" h="1000" fill="none">
                  <a:moveTo>
                    <a:pt x="682" y="80"/>
                  </a:moveTo>
                  <a:lnTo>
                    <a:pt x="682" y="920"/>
                  </a:lnTo>
                </a:path>
                <a:path w="1000" h="1000" fill="none">
                  <a:moveTo>
                    <a:pt x="686" y="80"/>
                  </a:moveTo>
                  <a:lnTo>
                    <a:pt x="686" y="920"/>
                  </a:lnTo>
                </a:path>
                <a:path w="1000" h="1000" fill="none">
                  <a:moveTo>
                    <a:pt x="690" y="80"/>
                  </a:moveTo>
                  <a:lnTo>
                    <a:pt x="690" y="920"/>
                  </a:lnTo>
                </a:path>
                <a:path w="1000" h="1000" fill="none">
                  <a:moveTo>
                    <a:pt x="694" y="80"/>
                  </a:moveTo>
                  <a:lnTo>
                    <a:pt x="694" y="920"/>
                  </a:lnTo>
                </a:path>
                <a:path w="1000" h="1000" fill="none">
                  <a:moveTo>
                    <a:pt x="698" y="80"/>
                  </a:moveTo>
                  <a:lnTo>
                    <a:pt x="698" y="920"/>
                  </a:lnTo>
                </a:path>
                <a:path w="1000" h="1000" fill="none">
                  <a:moveTo>
                    <a:pt x="702" y="80"/>
                  </a:moveTo>
                  <a:lnTo>
                    <a:pt x="702" y="920"/>
                  </a:lnTo>
                </a:path>
                <a:path w="1000" h="1000" fill="none">
                  <a:moveTo>
                    <a:pt x="706" y="80"/>
                  </a:moveTo>
                  <a:lnTo>
                    <a:pt x="706" y="920"/>
                  </a:lnTo>
                </a:path>
                <a:path w="1000" h="1000" fill="none">
                  <a:moveTo>
                    <a:pt x="711" y="80"/>
                  </a:moveTo>
                  <a:lnTo>
                    <a:pt x="711" y="920"/>
                  </a:lnTo>
                </a:path>
                <a:path w="1000" h="1000" fill="none">
                  <a:moveTo>
                    <a:pt x="715" y="80"/>
                  </a:moveTo>
                  <a:lnTo>
                    <a:pt x="715" y="920"/>
                  </a:lnTo>
                </a:path>
                <a:path w="1000" h="1000" fill="none">
                  <a:moveTo>
                    <a:pt x="719" y="80"/>
                  </a:moveTo>
                  <a:lnTo>
                    <a:pt x="719" y="920"/>
                  </a:lnTo>
                </a:path>
                <a:path w="1000" h="1000" fill="none">
                  <a:moveTo>
                    <a:pt x="723" y="80"/>
                  </a:moveTo>
                  <a:lnTo>
                    <a:pt x="723" y="920"/>
                  </a:lnTo>
                </a:path>
                <a:path w="1000" h="1000" fill="none">
                  <a:moveTo>
                    <a:pt x="727" y="80"/>
                  </a:moveTo>
                  <a:lnTo>
                    <a:pt x="727" y="920"/>
                  </a:lnTo>
                </a:path>
                <a:path w="1000" h="1000" fill="none">
                  <a:moveTo>
                    <a:pt x="731" y="80"/>
                  </a:moveTo>
                  <a:lnTo>
                    <a:pt x="731" y="920"/>
                  </a:lnTo>
                </a:path>
                <a:path w="1000" h="1000" fill="none">
                  <a:moveTo>
                    <a:pt x="735" y="80"/>
                  </a:moveTo>
                  <a:lnTo>
                    <a:pt x="735" y="920"/>
                  </a:lnTo>
                </a:path>
                <a:path w="1000" h="1000" fill="none">
                  <a:moveTo>
                    <a:pt x="739" y="80"/>
                  </a:moveTo>
                  <a:lnTo>
                    <a:pt x="739" y="920"/>
                  </a:lnTo>
                </a:path>
                <a:path w="1000" h="1000" fill="none">
                  <a:moveTo>
                    <a:pt x="743" y="80"/>
                  </a:moveTo>
                  <a:lnTo>
                    <a:pt x="743" y="920"/>
                  </a:lnTo>
                </a:path>
                <a:path w="1000" h="1000" fill="none">
                  <a:moveTo>
                    <a:pt x="747" y="80"/>
                  </a:moveTo>
                  <a:lnTo>
                    <a:pt x="747" y="920"/>
                  </a:lnTo>
                </a:path>
                <a:path w="1000" h="1000" fill="none">
                  <a:moveTo>
                    <a:pt x="752" y="80"/>
                  </a:moveTo>
                  <a:lnTo>
                    <a:pt x="752" y="920"/>
                  </a:lnTo>
                </a:path>
                <a:path w="1000" h="1000" fill="none">
                  <a:moveTo>
                    <a:pt x="756" y="80"/>
                  </a:moveTo>
                  <a:lnTo>
                    <a:pt x="756" y="920"/>
                  </a:lnTo>
                </a:path>
                <a:path w="1000" h="1000" fill="none">
                  <a:moveTo>
                    <a:pt x="760" y="80"/>
                  </a:moveTo>
                  <a:lnTo>
                    <a:pt x="760" y="920"/>
                  </a:lnTo>
                </a:path>
                <a:path w="1000" h="1000" fill="none">
                  <a:moveTo>
                    <a:pt x="764" y="80"/>
                  </a:moveTo>
                  <a:lnTo>
                    <a:pt x="764" y="920"/>
                  </a:lnTo>
                </a:path>
                <a:path w="1000" h="1000" fill="none">
                  <a:moveTo>
                    <a:pt x="768" y="80"/>
                  </a:moveTo>
                  <a:lnTo>
                    <a:pt x="768" y="920"/>
                  </a:lnTo>
                </a:path>
                <a:path w="1000" h="1000" fill="none">
                  <a:moveTo>
                    <a:pt x="772" y="80"/>
                  </a:moveTo>
                  <a:lnTo>
                    <a:pt x="772" y="920"/>
                  </a:lnTo>
                </a:path>
                <a:path w="1000" h="1000" fill="none">
                  <a:moveTo>
                    <a:pt x="776" y="80"/>
                  </a:moveTo>
                  <a:lnTo>
                    <a:pt x="776" y="920"/>
                  </a:lnTo>
                </a:path>
                <a:path w="1000" h="1000" fill="none">
                  <a:moveTo>
                    <a:pt x="780" y="80"/>
                  </a:moveTo>
                  <a:lnTo>
                    <a:pt x="780" y="920"/>
                  </a:lnTo>
                </a:path>
                <a:path w="1000" h="1000" fill="none">
                  <a:moveTo>
                    <a:pt x="784" y="80"/>
                  </a:moveTo>
                  <a:lnTo>
                    <a:pt x="784" y="920"/>
                  </a:lnTo>
                </a:path>
                <a:path w="1000" h="1000" fill="none">
                  <a:moveTo>
                    <a:pt x="788" y="80"/>
                  </a:moveTo>
                  <a:lnTo>
                    <a:pt x="788" y="920"/>
                  </a:lnTo>
                </a:path>
                <a:path w="1000" h="1000" fill="none">
                  <a:moveTo>
                    <a:pt x="793" y="80"/>
                  </a:moveTo>
                  <a:lnTo>
                    <a:pt x="793" y="920"/>
                  </a:lnTo>
                </a:path>
                <a:path w="1000" h="1000" fill="none">
                  <a:moveTo>
                    <a:pt x="797" y="80"/>
                  </a:moveTo>
                  <a:lnTo>
                    <a:pt x="797" y="920"/>
                  </a:lnTo>
                </a:path>
                <a:path w="1000" h="1000" fill="none">
                  <a:moveTo>
                    <a:pt x="801" y="80"/>
                  </a:moveTo>
                  <a:lnTo>
                    <a:pt x="801" y="920"/>
                  </a:lnTo>
                </a:path>
                <a:path w="1000" h="1000" fill="none">
                  <a:moveTo>
                    <a:pt x="805" y="80"/>
                  </a:moveTo>
                  <a:lnTo>
                    <a:pt x="805" y="920"/>
                  </a:lnTo>
                </a:path>
                <a:path w="1000" h="1000" fill="none">
                  <a:moveTo>
                    <a:pt x="809" y="80"/>
                  </a:moveTo>
                  <a:lnTo>
                    <a:pt x="809" y="920"/>
                  </a:lnTo>
                </a:path>
                <a:path w="1000" h="1000" fill="none">
                  <a:moveTo>
                    <a:pt x="813" y="80"/>
                  </a:moveTo>
                  <a:lnTo>
                    <a:pt x="813" y="920"/>
                  </a:lnTo>
                </a:path>
                <a:path w="1000" h="1000" fill="none">
                  <a:moveTo>
                    <a:pt x="817" y="80"/>
                  </a:moveTo>
                  <a:lnTo>
                    <a:pt x="817" y="920"/>
                  </a:lnTo>
                </a:path>
                <a:path w="1000" h="1000" fill="none">
                  <a:moveTo>
                    <a:pt x="821" y="80"/>
                  </a:moveTo>
                  <a:lnTo>
                    <a:pt x="821" y="920"/>
                  </a:lnTo>
                </a:path>
                <a:path w="1000" h="1000" fill="none">
                  <a:moveTo>
                    <a:pt x="825" y="80"/>
                  </a:moveTo>
                  <a:lnTo>
                    <a:pt x="825" y="920"/>
                  </a:lnTo>
                </a:path>
                <a:path w="1000" h="1000" fill="none">
                  <a:moveTo>
                    <a:pt x="829" y="80"/>
                  </a:moveTo>
                  <a:lnTo>
                    <a:pt x="829" y="920"/>
                  </a:lnTo>
                </a:path>
                <a:path w="1000" h="1000" fill="none">
                  <a:moveTo>
                    <a:pt x="834" y="80"/>
                  </a:moveTo>
                  <a:lnTo>
                    <a:pt x="834" y="920"/>
                  </a:lnTo>
                </a:path>
                <a:path w="1000" h="1000" fill="none">
                  <a:moveTo>
                    <a:pt x="838" y="80"/>
                  </a:moveTo>
                  <a:lnTo>
                    <a:pt x="838" y="920"/>
                  </a:lnTo>
                </a:path>
                <a:path w="1000" h="1000" fill="none">
                  <a:moveTo>
                    <a:pt x="842" y="80"/>
                  </a:moveTo>
                  <a:lnTo>
                    <a:pt x="842" y="920"/>
                  </a:lnTo>
                </a:path>
                <a:path w="1000" h="1000" fill="none">
                  <a:moveTo>
                    <a:pt x="846" y="80"/>
                  </a:moveTo>
                  <a:lnTo>
                    <a:pt x="846" y="920"/>
                  </a:lnTo>
                </a:path>
                <a:path w="1000" h="1000" fill="none">
                  <a:moveTo>
                    <a:pt x="850" y="80"/>
                  </a:moveTo>
                  <a:lnTo>
                    <a:pt x="850" y="920"/>
                  </a:lnTo>
                </a:path>
                <a:path w="1000" h="1000" fill="none">
                  <a:moveTo>
                    <a:pt x="854" y="80"/>
                  </a:moveTo>
                  <a:lnTo>
                    <a:pt x="854" y="920"/>
                  </a:lnTo>
                </a:path>
                <a:path w="1000" h="1000" fill="none">
                  <a:moveTo>
                    <a:pt x="858" y="80"/>
                  </a:moveTo>
                  <a:lnTo>
                    <a:pt x="858" y="920"/>
                  </a:lnTo>
                </a:path>
                <a:path w="1000" h="1000" fill="none">
                  <a:moveTo>
                    <a:pt x="862" y="80"/>
                  </a:moveTo>
                  <a:lnTo>
                    <a:pt x="862" y="920"/>
                  </a:lnTo>
                </a:path>
                <a:path w="1000" h="1000" fill="none">
                  <a:moveTo>
                    <a:pt x="866" y="80"/>
                  </a:moveTo>
                  <a:lnTo>
                    <a:pt x="866" y="920"/>
                  </a:lnTo>
                </a:path>
                <a:path w="1000" h="1000" fill="none">
                  <a:moveTo>
                    <a:pt x="870" y="80"/>
                  </a:moveTo>
                  <a:lnTo>
                    <a:pt x="870" y="920"/>
                  </a:lnTo>
                </a:path>
                <a:path w="1000" h="1000" fill="none">
                  <a:moveTo>
                    <a:pt x="875" y="80"/>
                  </a:moveTo>
                  <a:lnTo>
                    <a:pt x="875" y="920"/>
                  </a:lnTo>
                </a:path>
                <a:path w="1000" h="1000" fill="none">
                  <a:moveTo>
                    <a:pt x="879" y="80"/>
                  </a:moveTo>
                  <a:lnTo>
                    <a:pt x="879" y="920"/>
                  </a:lnTo>
                </a:path>
                <a:path w="1000" h="1000" fill="none">
                  <a:moveTo>
                    <a:pt x="883" y="80"/>
                  </a:moveTo>
                  <a:lnTo>
                    <a:pt x="883" y="920"/>
                  </a:lnTo>
                </a:path>
                <a:path w="1000" h="1000" fill="none">
                  <a:moveTo>
                    <a:pt x="887" y="80"/>
                  </a:moveTo>
                  <a:lnTo>
                    <a:pt x="887" y="920"/>
                  </a:lnTo>
                </a:path>
                <a:path w="1000" h="1000" fill="none">
                  <a:moveTo>
                    <a:pt x="891" y="80"/>
                  </a:moveTo>
                  <a:lnTo>
                    <a:pt x="891" y="920"/>
                  </a:lnTo>
                </a:path>
                <a:path w="1000" h="1000" fill="none">
                  <a:moveTo>
                    <a:pt x="895" y="80"/>
                  </a:moveTo>
                  <a:lnTo>
                    <a:pt x="895" y="920"/>
                  </a:lnTo>
                </a:path>
                <a:path w="1000" h="1000" fill="none">
                  <a:moveTo>
                    <a:pt x="899" y="80"/>
                  </a:moveTo>
                  <a:lnTo>
                    <a:pt x="899" y="920"/>
                  </a:lnTo>
                </a:path>
                <a:path w="1000" h="1000" fill="none">
                  <a:moveTo>
                    <a:pt x="903" y="80"/>
                  </a:moveTo>
                  <a:lnTo>
                    <a:pt x="903" y="920"/>
                  </a:lnTo>
                </a:path>
                <a:path w="1000" h="1000" fill="none">
                  <a:moveTo>
                    <a:pt x="907" y="80"/>
                  </a:moveTo>
                  <a:lnTo>
                    <a:pt x="907" y="920"/>
                  </a:lnTo>
                </a:path>
                <a:path w="1000" h="1000" fill="none">
                  <a:moveTo>
                    <a:pt x="911" y="80"/>
                  </a:moveTo>
                  <a:lnTo>
                    <a:pt x="911" y="920"/>
                  </a:lnTo>
                </a:path>
                <a:path w="1000" h="1000" fill="none">
                  <a:moveTo>
                    <a:pt x="915" y="80"/>
                  </a:moveTo>
                  <a:lnTo>
                    <a:pt x="915" y="920"/>
                  </a:lnTo>
                </a:path>
                <a:path w="1000" h="1000" fill="none">
                  <a:moveTo>
                    <a:pt x="920" y="80"/>
                  </a:moveTo>
                  <a:lnTo>
                    <a:pt x="920" y="920"/>
                  </a:lnTo>
                </a:path>
                <a:path w="1000" h="1000" fill="none">
                  <a:moveTo>
                    <a:pt x="924" y="80"/>
                  </a:moveTo>
                  <a:lnTo>
                    <a:pt x="924" y="920"/>
                  </a:lnTo>
                </a:path>
                <a:path w="1000" h="1000" fill="none">
                  <a:moveTo>
                    <a:pt x="928" y="80"/>
                  </a:moveTo>
                  <a:lnTo>
                    <a:pt x="928" y="920"/>
                  </a:lnTo>
                </a:path>
                <a:path w="1000" h="1000" fill="none">
                  <a:moveTo>
                    <a:pt x="932" y="80"/>
                  </a:moveTo>
                  <a:lnTo>
                    <a:pt x="932" y="920"/>
                  </a:lnTo>
                </a:path>
                <a:path w="1000" h="1000" fill="none">
                  <a:moveTo>
                    <a:pt x="936" y="80"/>
                  </a:moveTo>
                  <a:lnTo>
                    <a:pt x="936" y="920"/>
                  </a:lnTo>
                </a:path>
                <a:path w="1000" h="1000" fill="none">
                  <a:moveTo>
                    <a:pt x="940" y="80"/>
                  </a:moveTo>
                  <a:lnTo>
                    <a:pt x="940" y="920"/>
                  </a:lnTo>
                </a:path>
                <a:path w="1000" h="1000" fill="none">
                  <a:moveTo>
                    <a:pt x="944" y="80"/>
                  </a:moveTo>
                  <a:lnTo>
                    <a:pt x="944" y="920"/>
                  </a:lnTo>
                </a:path>
                <a:path w="1000" h="1000" fill="none">
                  <a:moveTo>
                    <a:pt x="948" y="80"/>
                  </a:moveTo>
                  <a:lnTo>
                    <a:pt x="948" y="920"/>
                  </a:lnTo>
                </a:path>
                <a:path w="1000" h="1000" fill="none">
                  <a:moveTo>
                    <a:pt x="952" y="80"/>
                  </a:moveTo>
                  <a:lnTo>
                    <a:pt x="952" y="920"/>
                  </a:lnTo>
                </a:path>
                <a:path w="1000" h="1000" fill="none">
                  <a:moveTo>
                    <a:pt x="956" y="80"/>
                  </a:moveTo>
                  <a:lnTo>
                    <a:pt x="956" y="920"/>
                  </a:lnTo>
                </a:path>
                <a:path w="1000" h="1000" fill="none">
                  <a:moveTo>
                    <a:pt x="961" y="80"/>
                  </a:moveTo>
                  <a:lnTo>
                    <a:pt x="961" y="920"/>
                  </a:lnTo>
                </a:path>
                <a:path w="1000" h="1000" fill="none">
                  <a:moveTo>
                    <a:pt x="965" y="80"/>
                  </a:moveTo>
                  <a:lnTo>
                    <a:pt x="965" y="920"/>
                  </a:lnTo>
                </a:path>
                <a:path w="1000" h="1000" fill="none">
                  <a:moveTo>
                    <a:pt x="969" y="80"/>
                  </a:moveTo>
                  <a:lnTo>
                    <a:pt x="969" y="920"/>
                  </a:lnTo>
                </a:path>
                <a:path w="1000" h="1000" fill="none">
                  <a:moveTo>
                    <a:pt x="973" y="80"/>
                  </a:moveTo>
                  <a:lnTo>
                    <a:pt x="973" y="920"/>
                  </a:lnTo>
                </a:path>
                <a:path w="1000" h="1000" fill="none">
                  <a:moveTo>
                    <a:pt x="977" y="80"/>
                  </a:moveTo>
                  <a:lnTo>
                    <a:pt x="977" y="920"/>
                  </a:lnTo>
                </a:path>
                <a:path w="1000" h="1000" fill="none">
                  <a:moveTo>
                    <a:pt x="981" y="80"/>
                  </a:moveTo>
                  <a:lnTo>
                    <a:pt x="981" y="920"/>
                  </a:lnTo>
                </a:path>
                <a:path w="1000" h="1000" fill="none">
                  <a:moveTo>
                    <a:pt x="985" y="80"/>
                  </a:moveTo>
                  <a:lnTo>
                    <a:pt x="985" y="920"/>
                  </a:lnTo>
                </a:path>
                <a:path w="1000" h="1000" fill="none">
                  <a:moveTo>
                    <a:pt x="989" y="80"/>
                  </a:moveTo>
                  <a:lnTo>
                    <a:pt x="989" y="920"/>
                  </a:lnTo>
                </a:path>
                <a:path w="1000" h="1000" fill="none">
                  <a:moveTo>
                    <a:pt x="993" y="80"/>
                  </a:moveTo>
                  <a:lnTo>
                    <a:pt x="993" y="920"/>
                  </a:lnTo>
                </a:path>
                <a:path w="1000" h="1000" fill="none">
                  <a:moveTo>
                    <a:pt x="997" y="80"/>
                  </a:moveTo>
                  <a:lnTo>
                    <a:pt x="997" y="920"/>
                  </a:lnTo>
                </a:path>
              </a:pathLst>
            </a:custGeom>
            <a:noFill/>
            <a:ln w="12700" cap="rnd">
              <a:solidFill>
                <a:srgbClr val="822E27"/>
              </a:solidFill>
              <a:round/>
            </a:ln>
          </p:spPr>
        </p:sp>
        <p:sp>
          <p:nvSpPr>
            <p:cNvPr id="7" name="Forma 6"/>
            <p:cNvSpPr/>
            <p:nvPr/>
          </p:nvSpPr>
          <p:spPr>
            <a:xfrm>
              <a:off x="1280160" y="-2304288"/>
              <a:ext cx="5486400" cy="197510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 name="Forma 7"/>
            <p:cNvSpPr/>
            <p:nvPr/>
          </p:nvSpPr>
          <p:spPr>
            <a:xfrm>
              <a:off x="8321040" y="-2304288"/>
              <a:ext cx="5486400" cy="197510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14356080" y="-2304288"/>
              <a:ext cx="5486400" cy="197510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12765024" y="-2304288"/>
              <a:ext cx="4389120" cy="10094976"/>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1" name="!!Mitocondria M3"/>
          <p:cNvGrpSpPr/>
          <p:nvPr/>
        </p:nvGrpSpPr>
        <p:grpSpPr>
          <a:xfrm>
            <a:off x="548640" y="1280160"/>
            <a:ext cx="7132320" cy="3840480"/>
            <a:chOff x="548640" y="1280160"/>
            <a:chExt cx="7132320" cy="3840480"/>
          </a:xfrm>
        </p:grpSpPr>
        <p:sp>
          <p:nvSpPr>
            <p:cNvPr id="12" name="Forma 11"/>
            <p:cNvSpPr/>
            <p:nvPr/>
          </p:nvSpPr>
          <p:spPr>
            <a:xfrm>
              <a:off x="548640" y="1280160"/>
              <a:ext cx="7132320" cy="384048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3" name="Forma 12"/>
            <p:cNvSpPr/>
            <p:nvPr/>
          </p:nvSpPr>
          <p:spPr>
            <a:xfrm>
              <a:off x="1047902" y="1817827"/>
              <a:ext cx="6133795" cy="2765146"/>
            </a:xfrm>
            <a:prstGeom prst="ellipse">
              <a:avLst/>
            </a:prstGeom>
            <a:solidFill>
              <a:srgbClr val="F8D8B4"/>
            </a:solidFill>
            <a:ln w="9525" cap="rnd">
              <a:solidFill>
                <a:srgbClr val="B2732B"/>
              </a:solidFill>
              <a:round/>
            </a:ln>
          </p:spPr>
        </p:sp>
        <p:sp>
          <p:nvSpPr>
            <p:cNvPr id="14" name="Forma 13"/>
            <p:cNvSpPr/>
            <p:nvPr/>
          </p:nvSpPr>
          <p:spPr>
            <a:xfrm>
              <a:off x="1047902" y="1817827"/>
              <a:ext cx="6133795" cy="2765146"/>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15" name="!!AG viajero 0"/>
          <p:cNvGrpSpPr/>
          <p:nvPr/>
        </p:nvGrpSpPr>
        <p:grpSpPr>
          <a:xfrm>
            <a:off x="1810512" y="2615184"/>
            <a:ext cx="1024128" cy="219456"/>
            <a:chOff x="1810512" y="2615184"/>
            <a:chExt cx="1024128" cy="219456"/>
          </a:xfrm>
        </p:grpSpPr>
        <p:sp>
          <p:nvSpPr>
            <p:cNvPr id="16" name="Flecha 15_2"/>
            <p:cNvSpPr/>
            <p:nvPr/>
          </p:nvSpPr>
          <p:spPr>
            <a:xfrm>
              <a:off x="1975104" y="2670048"/>
              <a:ext cx="859536" cy="164592"/>
            </a:xfrm>
            <a:custGeom>
              <a:avLst/>
              <a:gdLst/>
              <a:ahLst/>
              <a:cxnLst/>
              <a:rect l="0" t="0" r="r" b="b"/>
              <a:pathLst>
                <a:path w="940" h="180" fill="none">
                  <a:moveTo>
                    <a:pt x="0" y="0"/>
                  </a:moveTo>
                  <a:lnTo>
                    <a:pt x="117" y="180"/>
                  </a:lnTo>
                  <a:lnTo>
                    <a:pt x="234" y="0"/>
                  </a:lnTo>
                  <a:lnTo>
                    <a:pt x="352" y="180"/>
                  </a:lnTo>
                  <a:lnTo>
                    <a:pt x="470" y="0"/>
                  </a:lnTo>
                  <a:lnTo>
                    <a:pt x="587" y="180"/>
                  </a:lnTo>
                  <a:lnTo>
                    <a:pt x="705" y="0"/>
                  </a:lnTo>
                  <a:lnTo>
                    <a:pt x="822" y="180"/>
                  </a:lnTo>
                  <a:lnTo>
                    <a:pt x="940" y="0"/>
                  </a:lnTo>
                </a:path>
              </a:pathLst>
            </a:custGeom>
            <a:noFill/>
            <a:ln w="28575" cap="rnd">
              <a:solidFill>
                <a:srgbClr val="B7950B"/>
              </a:solidFill>
              <a:round/>
            </a:ln>
          </p:spPr>
        </p:sp>
        <p:sp>
          <p:nvSpPr>
            <p:cNvPr id="17" name="Forma 17"/>
            <p:cNvSpPr/>
            <p:nvPr/>
          </p:nvSpPr>
          <p:spPr>
            <a:xfrm>
              <a:off x="1810512" y="26151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8" name="!!AG viajero 1"/>
          <p:cNvGrpSpPr/>
          <p:nvPr/>
        </p:nvGrpSpPr>
        <p:grpSpPr>
          <a:xfrm>
            <a:off x="3182112" y="3072384"/>
            <a:ext cx="1024128" cy="219456"/>
            <a:chOff x="3182112" y="3072384"/>
            <a:chExt cx="1024128" cy="219456"/>
          </a:xfrm>
        </p:grpSpPr>
        <p:sp>
          <p:nvSpPr>
            <p:cNvPr id="19" name="Flecha 19_2"/>
            <p:cNvSpPr/>
            <p:nvPr/>
          </p:nvSpPr>
          <p:spPr>
            <a:xfrm>
              <a:off x="3346704" y="3127248"/>
              <a:ext cx="859536" cy="164592"/>
            </a:xfrm>
            <a:custGeom>
              <a:avLst/>
              <a:gdLst/>
              <a:ahLst/>
              <a:cxnLst/>
              <a:rect l="0" t="0" r="r" b="b"/>
              <a:pathLst>
                <a:path w="940" h="180" fill="none">
                  <a:moveTo>
                    <a:pt x="0" y="0"/>
                  </a:moveTo>
                  <a:lnTo>
                    <a:pt x="117" y="180"/>
                  </a:lnTo>
                  <a:lnTo>
                    <a:pt x="234" y="0"/>
                  </a:lnTo>
                  <a:lnTo>
                    <a:pt x="352" y="180"/>
                  </a:lnTo>
                  <a:lnTo>
                    <a:pt x="469" y="0"/>
                  </a:lnTo>
                  <a:lnTo>
                    <a:pt x="587" y="180"/>
                  </a:lnTo>
                  <a:lnTo>
                    <a:pt x="705" y="0"/>
                  </a:lnTo>
                  <a:lnTo>
                    <a:pt x="822" y="180"/>
                  </a:lnTo>
                  <a:lnTo>
                    <a:pt x="940" y="0"/>
                  </a:lnTo>
                </a:path>
              </a:pathLst>
            </a:custGeom>
            <a:noFill/>
            <a:ln w="28575" cap="rnd">
              <a:solidFill>
                <a:srgbClr val="B7950B"/>
              </a:solidFill>
              <a:round/>
            </a:ln>
          </p:spPr>
        </p:sp>
        <p:sp>
          <p:nvSpPr>
            <p:cNvPr id="20" name="Forma 21"/>
            <p:cNvSpPr/>
            <p:nvPr/>
          </p:nvSpPr>
          <p:spPr>
            <a:xfrm>
              <a:off x="3182112" y="30723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1" name="!!AG viajero 2"/>
          <p:cNvGrpSpPr/>
          <p:nvPr/>
        </p:nvGrpSpPr>
        <p:grpSpPr>
          <a:xfrm>
            <a:off x="4553712" y="2615184"/>
            <a:ext cx="1024128" cy="219456"/>
            <a:chOff x="4553712" y="2615184"/>
            <a:chExt cx="1024128" cy="219456"/>
          </a:xfrm>
        </p:grpSpPr>
        <p:sp>
          <p:nvSpPr>
            <p:cNvPr id="22" name="Flecha 23_2"/>
            <p:cNvSpPr/>
            <p:nvPr/>
          </p:nvSpPr>
          <p:spPr>
            <a:xfrm>
              <a:off x="4718304" y="2670048"/>
              <a:ext cx="859536" cy="164592"/>
            </a:xfrm>
            <a:custGeom>
              <a:avLst/>
              <a:gdLst/>
              <a:ahLst/>
              <a:cxnLst/>
              <a:rect l="0" t="0" r="r" b="b"/>
              <a:pathLst>
                <a:path w="940" h="180" fill="none">
                  <a:moveTo>
                    <a:pt x="0" y="0"/>
                  </a:moveTo>
                  <a:lnTo>
                    <a:pt x="117" y="180"/>
                  </a:lnTo>
                  <a:lnTo>
                    <a:pt x="235" y="0"/>
                  </a:lnTo>
                  <a:lnTo>
                    <a:pt x="352" y="180"/>
                  </a:lnTo>
                  <a:lnTo>
                    <a:pt x="469" y="0"/>
                  </a:lnTo>
                  <a:lnTo>
                    <a:pt x="587" y="180"/>
                  </a:lnTo>
                  <a:lnTo>
                    <a:pt x="705" y="0"/>
                  </a:lnTo>
                  <a:lnTo>
                    <a:pt x="822" y="180"/>
                  </a:lnTo>
                  <a:lnTo>
                    <a:pt x="940" y="0"/>
                  </a:lnTo>
                </a:path>
              </a:pathLst>
            </a:custGeom>
            <a:noFill/>
            <a:ln w="28575" cap="rnd">
              <a:solidFill>
                <a:srgbClr val="B7950B"/>
              </a:solidFill>
              <a:round/>
            </a:ln>
          </p:spPr>
        </p:sp>
        <p:sp>
          <p:nvSpPr>
            <p:cNvPr id="23" name="Forma 25"/>
            <p:cNvSpPr/>
            <p:nvPr/>
          </p:nvSpPr>
          <p:spPr>
            <a:xfrm>
              <a:off x="4553712" y="26151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24" name="!!Rótulo M3"/>
          <p:cNvSpPr/>
          <p:nvPr/>
        </p:nvSpPr>
        <p:spPr>
          <a:xfrm>
            <a:off x="2377440" y="5257800"/>
            <a:ext cx="2718671" cy="275590"/>
          </a:xfrm>
          <a:prstGeom prst="rect">
            <a:avLst/>
          </a:prstGeom>
          <a:solidFill>
            <a:srgbClr val="FFF4D6"/>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MATRIZ MITOCONDRIAL: β-oxidación</a:t>
            </a:r>
            <a:endParaRPr lang="es-AR" sz="1400" dirty="0">
              <a:latin typeface="Bahnschrift SemiBold Condensed"/>
            </a:endParaRPr>
          </a:p>
        </p:txBody>
      </p:sp>
      <p:grpSp>
        <p:nvGrpSpPr>
          <p:cNvPr id="25" name="!!Texto M3"/>
          <p:cNvGrpSpPr/>
          <p:nvPr/>
        </p:nvGrpSpPr>
        <p:grpSpPr>
          <a:xfrm>
            <a:off x="8138160" y="1005840"/>
            <a:ext cx="3657600" cy="3840480"/>
            <a:chOff x="8138160" y="1005840"/>
            <a:chExt cx="3657600" cy="3840480"/>
          </a:xfrm>
        </p:grpSpPr>
        <p:sp>
          <p:nvSpPr>
            <p:cNvPr id="26" name="Forma 28"/>
            <p:cNvSpPr/>
            <p:nvPr/>
          </p:nvSpPr>
          <p:spPr>
            <a:xfrm>
              <a:off x="8138160" y="1188720"/>
              <a:ext cx="3657600" cy="3657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Los AG largos atraviesan la membrana interna con la </a:t>
              </a:r>
              <a:r>
                <a:rPr lang="es-AR" sz="1750" b="1" dirty="0">
                  <a:solidFill>
                    <a:srgbClr val="1E1E1E"/>
                  </a:solidFill>
                  <a:latin typeface="Bahnschrift"/>
                  <a:ea typeface="Bahnschrift"/>
                  <a:cs typeface="Bahnschrift"/>
                  <a:sym typeface="Bahnschrift"/>
                </a:rPr>
                <a:t>lanzadera de carnitina</a:t>
              </a:r>
              <a:r>
                <a:rPr lang="es-AR" sz="1750" dirty="0">
                  <a:solidFill>
                    <a:srgbClr val="1E1E1E"/>
                  </a:solidFill>
                  <a:latin typeface="Bahnschrift"/>
                  <a:ea typeface="Bahnschrift"/>
                  <a:cs typeface="Bahnschrift"/>
                  <a:sym typeface="Bahnschrift"/>
                </a:rPr>
                <a:t> (CPT1 → CACT → CPT2).</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En la matriz: </a:t>
              </a:r>
              <a:r>
                <a:rPr lang="es-AR" sz="1750" b="1" dirty="0">
                  <a:solidFill>
                    <a:srgbClr val="1E1E1E"/>
                  </a:solidFill>
                  <a:latin typeface="Bahnschrift"/>
                  <a:ea typeface="Bahnschrift"/>
                  <a:cs typeface="Bahnschrift"/>
                  <a:sym typeface="Bahnschrift"/>
                </a:rPr>
                <a:t>β-oxidación</a:t>
              </a:r>
              <a:r>
                <a:rPr lang="es-AR" sz="1750" dirty="0">
                  <a:solidFill>
                    <a:srgbClr val="1E1E1E"/>
                  </a:solidFill>
                  <a:latin typeface="Bahnschrift"/>
                  <a:ea typeface="Bahnschrift"/>
                  <a:cs typeface="Bahnschrift"/>
                  <a:sym typeface="Bahnschrift"/>
                </a:rPr>
                <a:t> → acetil-CoA, NADH y FADH</a:t>
              </a:r>
              <a:r>
                <a:rPr lang="es-AR" sz="1750" baseline="-25000" dirty="0">
                  <a:solidFill>
                    <a:srgbClr val="1E1E1E"/>
                  </a:solidFill>
                  <a:latin typeface="Bahnschrift"/>
                  <a:ea typeface="Bahnschrift"/>
                  <a:cs typeface="Bahnschrift"/>
                  <a:sym typeface="Bahnschrift"/>
                </a:rPr>
                <a:t>2</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Se oxidan en el </a:t>
              </a:r>
              <a:r>
                <a:rPr lang="es-AR" sz="1750" b="1" dirty="0">
                  <a:solidFill>
                    <a:srgbClr val="1E1E1E"/>
                  </a:solidFill>
                  <a:latin typeface="Bahnschrift"/>
                  <a:ea typeface="Bahnschrift"/>
                  <a:cs typeface="Bahnschrift"/>
                  <a:sym typeface="Bahnschrift"/>
                </a:rPr>
                <a:t>ciclo de Krebs</a:t>
              </a:r>
              <a:r>
                <a:rPr lang="es-AR" sz="1750" dirty="0">
                  <a:solidFill>
                    <a:srgbClr val="1E1E1E"/>
                  </a:solidFill>
                  <a:latin typeface="Bahnschrift"/>
                  <a:ea typeface="Bahnschrift"/>
                  <a:cs typeface="Bahnschrift"/>
                  <a:sym typeface="Bahnschrift"/>
                </a:rPr>
                <a:t> y la </a:t>
              </a:r>
              <a:r>
                <a:rPr lang="es-AR" sz="1750" b="1" dirty="0">
                  <a:solidFill>
                    <a:srgbClr val="1E1E1E"/>
                  </a:solidFill>
                  <a:latin typeface="Bahnschrift"/>
                  <a:ea typeface="Bahnschrift"/>
                  <a:cs typeface="Bahnschrift"/>
                  <a:sym typeface="Bahnschrift"/>
                </a:rPr>
                <a:t>cadena respiratoria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27" name="Forma 29"/>
            <p:cNvSpPr/>
            <p:nvPr/>
          </p:nvSpPr>
          <p:spPr>
            <a:xfrm>
              <a:off x="8247888" y="1005840"/>
              <a:ext cx="139821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MITOCONDRIA</a:t>
              </a:r>
              <a:endParaRPr lang="es-AR" sz="1600" dirty="0">
                <a:latin typeface="Bahnschrift SemiBold Condensed"/>
              </a:endParaRPr>
            </a:p>
          </p:txBody>
        </p:sp>
      </p:grpSp>
      <p:sp>
        <p:nvSpPr>
          <p:cNvPr id="2" name="Etiqueta sección"/>
          <p:cNvSpPr/>
          <p:nvPr/>
        </p:nvSpPr>
        <p:spPr>
          <a:xfrm>
            <a:off x="9905690" y="201168"/>
            <a:ext cx="201168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3 · 5/5</a:t>
            </a:r>
            <a:endParaRPr lang="es-AR" sz="1300" dirty="0">
              <a:latin typeface="Bahnschrift SemiBold Condensed"/>
            </a:endParaRPr>
          </a:p>
        </p:txBody>
      </p:sp>
      <p:sp>
        <p:nvSpPr>
          <p:cNvPr id="3" name="Título"/>
          <p:cNvSpPr/>
          <p:nvPr/>
        </p:nvSpPr>
        <p:spPr>
          <a:xfrm>
            <a:off x="274320" y="146304"/>
            <a:ext cx="566205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METABOLISMO LIPÍDICO: LA MITOCONDRIA</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101</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102.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Citosol"/>
          <p:cNvSpPr/>
          <p:nvPr/>
        </p:nvSpPr>
        <p:spPr>
          <a:xfrm>
            <a:off x="274320" y="960120"/>
            <a:ext cx="11521440" cy="1325880"/>
          </a:xfrm>
          <a:prstGeom prst="rect">
            <a:avLst/>
          </a:prstGeom>
          <a:solidFill>
            <a:srgbClr val="FFFFFF">
              <a:alpha val="40000"/>
            </a:srgbClr>
          </a:solidFill>
          <a:ln>
            <a:noFill/>
          </a:ln>
        </p:spPr>
      </p:sp>
      <p:sp>
        <p:nvSpPr>
          <p:cNvPr id="5" name="Forma 4"/>
          <p:cNvSpPr txBox="1"/>
          <p:nvPr/>
        </p:nvSpPr>
        <p:spPr>
          <a:xfrm>
            <a:off x="365760" y="987552"/>
            <a:ext cx="274320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CITOSOL</a:t>
            </a:r>
            <a:endParaRPr lang="es-AR" sz="1250" dirty="0">
              <a:latin typeface="Bahnschrift SemiBold Condensed"/>
            </a:endParaRPr>
          </a:p>
        </p:txBody>
      </p:sp>
      <p:grpSp>
        <p:nvGrpSpPr>
          <p:cNvPr id="6" name="Membrana externa"/>
          <p:cNvGrpSpPr/>
          <p:nvPr/>
        </p:nvGrpSpPr>
        <p:grpSpPr>
          <a:xfrm>
            <a:off x="274320" y="2331720"/>
            <a:ext cx="11521440" cy="384048"/>
            <a:chOff x="274320" y="2331720"/>
            <a:chExt cx="11521440" cy="384048"/>
          </a:xfrm>
        </p:grpSpPr>
        <p:sp>
          <p:nvSpPr>
            <p:cNvPr id="7" name="Forma 6"/>
            <p:cNvSpPr/>
            <p:nvPr/>
          </p:nvSpPr>
          <p:spPr>
            <a:xfrm>
              <a:off x="274320" y="2400849"/>
              <a:ext cx="11521440" cy="245791"/>
            </a:xfrm>
            <a:prstGeom prst="rect">
              <a:avLst/>
            </a:prstGeom>
            <a:solidFill>
              <a:srgbClr val="FEF5E7"/>
            </a:solidFill>
            <a:ln>
              <a:noFill/>
            </a:ln>
          </p:spPr>
        </p:sp>
        <p:sp>
          <p:nvSpPr>
            <p:cNvPr id="8" name="Forma 7"/>
            <p:cNvSpPr/>
            <p:nvPr/>
          </p:nvSpPr>
          <p:spPr>
            <a:xfrm>
              <a:off x="274320" y="2331720"/>
              <a:ext cx="11521440" cy="384048"/>
            </a:xfrm>
            <a:custGeom>
              <a:avLst/>
              <a:gdLst/>
              <a:ahLst/>
              <a:cxnLst/>
              <a:rect l="0" t="0" r="r" b="b"/>
              <a:pathLst>
                <a:path w="12600" h="42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8" y="47"/>
                  </a:moveTo>
                  <a:cubicBezTo>
                    <a:pt x="198" y="72"/>
                    <a:pt x="176" y="94"/>
                    <a:pt x="151" y="94"/>
                  </a:cubicBezTo>
                  <a:cubicBezTo>
                    <a:pt x="125" y="94"/>
                    <a:pt x="104" y="72"/>
                    <a:pt x="104" y="47"/>
                  </a:cubicBezTo>
                  <a:cubicBezTo>
                    <a:pt x="104" y="21"/>
                    <a:pt x="125" y="0"/>
                    <a:pt x="151" y="0"/>
                  </a:cubicBezTo>
                  <a:cubicBezTo>
                    <a:pt x="176" y="0"/>
                    <a:pt x="198" y="21"/>
                    <a:pt x="198" y="47"/>
                  </a:cubicBezTo>
                  <a:close/>
                  <a:moveTo>
                    <a:pt x="299" y="47"/>
                  </a:moveTo>
                  <a:cubicBezTo>
                    <a:pt x="299" y="72"/>
                    <a:pt x="277" y="94"/>
                    <a:pt x="252" y="94"/>
                  </a:cubicBezTo>
                  <a:cubicBezTo>
                    <a:pt x="226" y="94"/>
                    <a:pt x="205" y="72"/>
                    <a:pt x="205" y="47"/>
                  </a:cubicBezTo>
                  <a:cubicBezTo>
                    <a:pt x="205" y="21"/>
                    <a:pt x="226" y="0"/>
                    <a:pt x="252" y="0"/>
                  </a:cubicBezTo>
                  <a:cubicBezTo>
                    <a:pt x="277" y="0"/>
                    <a:pt x="299" y="21"/>
                    <a:pt x="299" y="47"/>
                  </a:cubicBezTo>
                  <a:close/>
                  <a:moveTo>
                    <a:pt x="399" y="47"/>
                  </a:moveTo>
                  <a:cubicBezTo>
                    <a:pt x="399" y="72"/>
                    <a:pt x="377" y="94"/>
                    <a:pt x="352" y="94"/>
                  </a:cubicBezTo>
                  <a:cubicBezTo>
                    <a:pt x="326" y="94"/>
                    <a:pt x="305" y="72"/>
                    <a:pt x="305" y="47"/>
                  </a:cubicBezTo>
                  <a:cubicBezTo>
                    <a:pt x="305" y="21"/>
                    <a:pt x="326" y="0"/>
                    <a:pt x="352" y="0"/>
                  </a:cubicBezTo>
                  <a:cubicBezTo>
                    <a:pt x="377" y="0"/>
                    <a:pt x="399" y="21"/>
                    <a:pt x="399" y="47"/>
                  </a:cubicBezTo>
                  <a:close/>
                  <a:moveTo>
                    <a:pt x="500" y="47"/>
                  </a:moveTo>
                  <a:cubicBezTo>
                    <a:pt x="500" y="72"/>
                    <a:pt x="478" y="94"/>
                    <a:pt x="453" y="94"/>
                  </a:cubicBezTo>
                  <a:cubicBezTo>
                    <a:pt x="427" y="94"/>
                    <a:pt x="406" y="72"/>
                    <a:pt x="406" y="47"/>
                  </a:cubicBezTo>
                  <a:cubicBezTo>
                    <a:pt x="406" y="21"/>
                    <a:pt x="427" y="0"/>
                    <a:pt x="453" y="0"/>
                  </a:cubicBezTo>
                  <a:cubicBezTo>
                    <a:pt x="478" y="0"/>
                    <a:pt x="500" y="21"/>
                    <a:pt x="500" y="47"/>
                  </a:cubicBezTo>
                  <a:close/>
                  <a:moveTo>
                    <a:pt x="601" y="47"/>
                  </a:moveTo>
                  <a:cubicBezTo>
                    <a:pt x="601" y="72"/>
                    <a:pt x="579" y="94"/>
                    <a:pt x="554" y="94"/>
                  </a:cubicBezTo>
                  <a:cubicBezTo>
                    <a:pt x="528" y="94"/>
                    <a:pt x="507" y="72"/>
                    <a:pt x="507" y="47"/>
                  </a:cubicBezTo>
                  <a:cubicBezTo>
                    <a:pt x="507" y="21"/>
                    <a:pt x="528" y="0"/>
                    <a:pt x="554" y="0"/>
                  </a:cubicBezTo>
                  <a:cubicBezTo>
                    <a:pt x="579" y="0"/>
                    <a:pt x="601" y="21"/>
                    <a:pt x="601" y="47"/>
                  </a:cubicBezTo>
                  <a:close/>
                  <a:moveTo>
                    <a:pt x="702" y="47"/>
                  </a:moveTo>
                  <a:cubicBezTo>
                    <a:pt x="702" y="72"/>
                    <a:pt x="680" y="94"/>
                    <a:pt x="655" y="94"/>
                  </a:cubicBezTo>
                  <a:cubicBezTo>
                    <a:pt x="629" y="94"/>
                    <a:pt x="608" y="72"/>
                    <a:pt x="608" y="47"/>
                  </a:cubicBezTo>
                  <a:cubicBezTo>
                    <a:pt x="608" y="21"/>
                    <a:pt x="629" y="0"/>
                    <a:pt x="655" y="0"/>
                  </a:cubicBezTo>
                  <a:cubicBezTo>
                    <a:pt x="680" y="0"/>
                    <a:pt x="702" y="21"/>
                    <a:pt x="702" y="47"/>
                  </a:cubicBezTo>
                  <a:close/>
                  <a:moveTo>
                    <a:pt x="803" y="47"/>
                  </a:moveTo>
                  <a:cubicBezTo>
                    <a:pt x="803" y="72"/>
                    <a:pt x="781" y="94"/>
                    <a:pt x="756" y="94"/>
                  </a:cubicBezTo>
                  <a:cubicBezTo>
                    <a:pt x="730" y="94"/>
                    <a:pt x="709" y="72"/>
                    <a:pt x="709" y="47"/>
                  </a:cubicBezTo>
                  <a:cubicBezTo>
                    <a:pt x="709" y="21"/>
                    <a:pt x="730" y="0"/>
                    <a:pt x="756" y="0"/>
                  </a:cubicBezTo>
                  <a:cubicBezTo>
                    <a:pt x="781" y="0"/>
                    <a:pt x="803" y="21"/>
                    <a:pt x="803" y="47"/>
                  </a:cubicBezTo>
                  <a:close/>
                  <a:moveTo>
                    <a:pt x="903" y="47"/>
                  </a:moveTo>
                  <a:cubicBezTo>
                    <a:pt x="903" y="72"/>
                    <a:pt x="881" y="94"/>
                    <a:pt x="856" y="94"/>
                  </a:cubicBezTo>
                  <a:cubicBezTo>
                    <a:pt x="830" y="94"/>
                    <a:pt x="809" y="72"/>
                    <a:pt x="809" y="47"/>
                  </a:cubicBezTo>
                  <a:cubicBezTo>
                    <a:pt x="809" y="21"/>
                    <a:pt x="830" y="0"/>
                    <a:pt x="856" y="0"/>
                  </a:cubicBezTo>
                  <a:cubicBezTo>
                    <a:pt x="881" y="0"/>
                    <a:pt x="903" y="21"/>
                    <a:pt x="903" y="47"/>
                  </a:cubicBezTo>
                  <a:close/>
                  <a:moveTo>
                    <a:pt x="1004" y="47"/>
                  </a:moveTo>
                  <a:cubicBezTo>
                    <a:pt x="1004" y="72"/>
                    <a:pt x="982" y="94"/>
                    <a:pt x="957" y="94"/>
                  </a:cubicBezTo>
                  <a:cubicBezTo>
                    <a:pt x="931" y="94"/>
                    <a:pt x="910" y="72"/>
                    <a:pt x="910" y="47"/>
                  </a:cubicBezTo>
                  <a:cubicBezTo>
                    <a:pt x="910" y="21"/>
                    <a:pt x="931" y="0"/>
                    <a:pt x="957" y="0"/>
                  </a:cubicBezTo>
                  <a:cubicBezTo>
                    <a:pt x="982" y="0"/>
                    <a:pt x="1004" y="21"/>
                    <a:pt x="1004" y="47"/>
                  </a:cubicBezTo>
                  <a:close/>
                  <a:moveTo>
                    <a:pt x="1105" y="47"/>
                  </a:moveTo>
                  <a:cubicBezTo>
                    <a:pt x="1105" y="72"/>
                    <a:pt x="1083" y="94"/>
                    <a:pt x="1058" y="94"/>
                  </a:cubicBezTo>
                  <a:cubicBezTo>
                    <a:pt x="1032" y="94"/>
                    <a:pt x="1011" y="72"/>
                    <a:pt x="1011" y="47"/>
                  </a:cubicBezTo>
                  <a:cubicBezTo>
                    <a:pt x="1011" y="21"/>
                    <a:pt x="1032" y="0"/>
                    <a:pt x="1058" y="0"/>
                  </a:cubicBezTo>
                  <a:cubicBezTo>
                    <a:pt x="1083" y="0"/>
                    <a:pt x="1105" y="21"/>
                    <a:pt x="1105" y="47"/>
                  </a:cubicBezTo>
                  <a:close/>
                  <a:moveTo>
                    <a:pt x="1206" y="47"/>
                  </a:moveTo>
                  <a:cubicBezTo>
                    <a:pt x="1206" y="72"/>
                    <a:pt x="1184" y="94"/>
                    <a:pt x="1159" y="94"/>
                  </a:cubicBezTo>
                  <a:cubicBezTo>
                    <a:pt x="1133" y="94"/>
                    <a:pt x="1112" y="72"/>
                    <a:pt x="1112" y="47"/>
                  </a:cubicBezTo>
                  <a:cubicBezTo>
                    <a:pt x="1112" y="21"/>
                    <a:pt x="1133" y="0"/>
                    <a:pt x="1159" y="0"/>
                  </a:cubicBezTo>
                  <a:cubicBezTo>
                    <a:pt x="1184" y="0"/>
                    <a:pt x="1206" y="21"/>
                    <a:pt x="1206" y="47"/>
                  </a:cubicBezTo>
                  <a:close/>
                  <a:moveTo>
                    <a:pt x="1307" y="47"/>
                  </a:moveTo>
                  <a:cubicBezTo>
                    <a:pt x="1307" y="72"/>
                    <a:pt x="1285" y="94"/>
                    <a:pt x="1260" y="94"/>
                  </a:cubicBezTo>
                  <a:cubicBezTo>
                    <a:pt x="1234" y="94"/>
                    <a:pt x="1213" y="72"/>
                    <a:pt x="1213" y="47"/>
                  </a:cubicBezTo>
                  <a:cubicBezTo>
                    <a:pt x="1213" y="21"/>
                    <a:pt x="1234" y="0"/>
                    <a:pt x="1260" y="0"/>
                  </a:cubicBezTo>
                  <a:cubicBezTo>
                    <a:pt x="1285" y="0"/>
                    <a:pt x="1307" y="21"/>
                    <a:pt x="1307" y="47"/>
                  </a:cubicBezTo>
                  <a:close/>
                  <a:moveTo>
                    <a:pt x="1407" y="47"/>
                  </a:moveTo>
                  <a:cubicBezTo>
                    <a:pt x="1407" y="72"/>
                    <a:pt x="1385" y="94"/>
                    <a:pt x="1360" y="94"/>
                  </a:cubicBezTo>
                  <a:cubicBezTo>
                    <a:pt x="1334" y="94"/>
                    <a:pt x="1313" y="72"/>
                    <a:pt x="1313" y="47"/>
                  </a:cubicBezTo>
                  <a:cubicBezTo>
                    <a:pt x="1313" y="21"/>
                    <a:pt x="1334" y="0"/>
                    <a:pt x="1360" y="0"/>
                  </a:cubicBezTo>
                  <a:cubicBezTo>
                    <a:pt x="1385" y="0"/>
                    <a:pt x="1407" y="21"/>
                    <a:pt x="1407" y="47"/>
                  </a:cubicBezTo>
                  <a:close/>
                  <a:moveTo>
                    <a:pt x="1508" y="47"/>
                  </a:moveTo>
                  <a:cubicBezTo>
                    <a:pt x="1508" y="72"/>
                    <a:pt x="1486" y="94"/>
                    <a:pt x="1461" y="94"/>
                  </a:cubicBezTo>
                  <a:cubicBezTo>
                    <a:pt x="1435" y="94"/>
                    <a:pt x="1414" y="72"/>
                    <a:pt x="1414" y="47"/>
                  </a:cubicBezTo>
                  <a:cubicBezTo>
                    <a:pt x="1414" y="21"/>
                    <a:pt x="1435" y="0"/>
                    <a:pt x="1461" y="0"/>
                  </a:cubicBezTo>
                  <a:cubicBezTo>
                    <a:pt x="1486" y="0"/>
                    <a:pt x="1508" y="21"/>
                    <a:pt x="1508" y="47"/>
                  </a:cubicBezTo>
                  <a:close/>
                  <a:moveTo>
                    <a:pt x="1609" y="47"/>
                  </a:moveTo>
                  <a:cubicBezTo>
                    <a:pt x="1609" y="72"/>
                    <a:pt x="1587" y="94"/>
                    <a:pt x="1562" y="94"/>
                  </a:cubicBezTo>
                  <a:cubicBezTo>
                    <a:pt x="1536" y="94"/>
                    <a:pt x="1515" y="72"/>
                    <a:pt x="1515" y="47"/>
                  </a:cubicBezTo>
                  <a:cubicBezTo>
                    <a:pt x="1515" y="21"/>
                    <a:pt x="1536" y="0"/>
                    <a:pt x="1562" y="0"/>
                  </a:cubicBezTo>
                  <a:cubicBezTo>
                    <a:pt x="1587" y="0"/>
                    <a:pt x="1609" y="21"/>
                    <a:pt x="1609" y="47"/>
                  </a:cubicBezTo>
                  <a:close/>
                  <a:moveTo>
                    <a:pt x="1710" y="47"/>
                  </a:moveTo>
                  <a:cubicBezTo>
                    <a:pt x="1710" y="72"/>
                    <a:pt x="1688" y="94"/>
                    <a:pt x="1663" y="94"/>
                  </a:cubicBezTo>
                  <a:cubicBezTo>
                    <a:pt x="1637" y="94"/>
                    <a:pt x="1616" y="72"/>
                    <a:pt x="1616" y="47"/>
                  </a:cubicBezTo>
                  <a:cubicBezTo>
                    <a:pt x="1616" y="21"/>
                    <a:pt x="1637" y="0"/>
                    <a:pt x="1663" y="0"/>
                  </a:cubicBezTo>
                  <a:cubicBezTo>
                    <a:pt x="1688" y="0"/>
                    <a:pt x="1710" y="21"/>
                    <a:pt x="1710" y="47"/>
                  </a:cubicBezTo>
                  <a:close/>
                  <a:moveTo>
                    <a:pt x="1811" y="47"/>
                  </a:moveTo>
                  <a:cubicBezTo>
                    <a:pt x="1811" y="72"/>
                    <a:pt x="1789" y="94"/>
                    <a:pt x="1764" y="94"/>
                  </a:cubicBezTo>
                  <a:cubicBezTo>
                    <a:pt x="1738" y="94"/>
                    <a:pt x="1717" y="72"/>
                    <a:pt x="1717" y="47"/>
                  </a:cubicBezTo>
                  <a:cubicBezTo>
                    <a:pt x="1717" y="21"/>
                    <a:pt x="1738" y="0"/>
                    <a:pt x="1764" y="0"/>
                  </a:cubicBezTo>
                  <a:cubicBezTo>
                    <a:pt x="1789" y="0"/>
                    <a:pt x="1811" y="21"/>
                    <a:pt x="1811" y="47"/>
                  </a:cubicBezTo>
                  <a:close/>
                  <a:moveTo>
                    <a:pt x="1911" y="47"/>
                  </a:moveTo>
                  <a:cubicBezTo>
                    <a:pt x="1911" y="72"/>
                    <a:pt x="1889" y="94"/>
                    <a:pt x="1864" y="94"/>
                  </a:cubicBezTo>
                  <a:cubicBezTo>
                    <a:pt x="1838" y="94"/>
                    <a:pt x="1817" y="72"/>
                    <a:pt x="1817" y="47"/>
                  </a:cubicBezTo>
                  <a:cubicBezTo>
                    <a:pt x="1817" y="21"/>
                    <a:pt x="1838" y="0"/>
                    <a:pt x="1864" y="0"/>
                  </a:cubicBezTo>
                  <a:cubicBezTo>
                    <a:pt x="1889" y="0"/>
                    <a:pt x="1911" y="21"/>
                    <a:pt x="1911" y="47"/>
                  </a:cubicBezTo>
                  <a:close/>
                  <a:moveTo>
                    <a:pt x="2012" y="47"/>
                  </a:moveTo>
                  <a:cubicBezTo>
                    <a:pt x="2012" y="72"/>
                    <a:pt x="1990" y="94"/>
                    <a:pt x="1965" y="94"/>
                  </a:cubicBezTo>
                  <a:cubicBezTo>
                    <a:pt x="1939" y="94"/>
                    <a:pt x="1918" y="72"/>
                    <a:pt x="1918" y="47"/>
                  </a:cubicBezTo>
                  <a:cubicBezTo>
                    <a:pt x="1918" y="21"/>
                    <a:pt x="1939" y="0"/>
                    <a:pt x="1965" y="0"/>
                  </a:cubicBezTo>
                  <a:cubicBezTo>
                    <a:pt x="1990" y="0"/>
                    <a:pt x="2012" y="21"/>
                    <a:pt x="2012" y="47"/>
                  </a:cubicBezTo>
                  <a:close/>
                  <a:moveTo>
                    <a:pt x="2113" y="47"/>
                  </a:moveTo>
                  <a:cubicBezTo>
                    <a:pt x="2113" y="72"/>
                    <a:pt x="2091" y="94"/>
                    <a:pt x="2066" y="94"/>
                  </a:cubicBezTo>
                  <a:cubicBezTo>
                    <a:pt x="2040" y="94"/>
                    <a:pt x="2019" y="72"/>
                    <a:pt x="2019" y="47"/>
                  </a:cubicBezTo>
                  <a:cubicBezTo>
                    <a:pt x="2019" y="21"/>
                    <a:pt x="2040" y="0"/>
                    <a:pt x="2066" y="0"/>
                  </a:cubicBezTo>
                  <a:cubicBezTo>
                    <a:pt x="2091" y="0"/>
                    <a:pt x="2113" y="21"/>
                    <a:pt x="2113" y="47"/>
                  </a:cubicBezTo>
                  <a:close/>
                  <a:moveTo>
                    <a:pt x="2214" y="47"/>
                  </a:moveTo>
                  <a:cubicBezTo>
                    <a:pt x="2214" y="72"/>
                    <a:pt x="2192" y="94"/>
                    <a:pt x="2167" y="94"/>
                  </a:cubicBezTo>
                  <a:cubicBezTo>
                    <a:pt x="2141" y="94"/>
                    <a:pt x="2120" y="72"/>
                    <a:pt x="2120" y="47"/>
                  </a:cubicBezTo>
                  <a:cubicBezTo>
                    <a:pt x="2120" y="21"/>
                    <a:pt x="2141" y="0"/>
                    <a:pt x="2167" y="0"/>
                  </a:cubicBezTo>
                  <a:cubicBezTo>
                    <a:pt x="2192" y="0"/>
                    <a:pt x="2214" y="21"/>
                    <a:pt x="2214" y="47"/>
                  </a:cubicBezTo>
                  <a:close/>
                  <a:moveTo>
                    <a:pt x="2315" y="47"/>
                  </a:moveTo>
                  <a:cubicBezTo>
                    <a:pt x="2315" y="72"/>
                    <a:pt x="2293" y="94"/>
                    <a:pt x="2268" y="94"/>
                  </a:cubicBezTo>
                  <a:cubicBezTo>
                    <a:pt x="2242" y="94"/>
                    <a:pt x="2221" y="72"/>
                    <a:pt x="2221" y="47"/>
                  </a:cubicBezTo>
                  <a:cubicBezTo>
                    <a:pt x="2221" y="21"/>
                    <a:pt x="2242" y="0"/>
                    <a:pt x="2268" y="0"/>
                  </a:cubicBezTo>
                  <a:cubicBezTo>
                    <a:pt x="2293" y="0"/>
                    <a:pt x="2315" y="21"/>
                    <a:pt x="2315" y="47"/>
                  </a:cubicBezTo>
                  <a:close/>
                  <a:moveTo>
                    <a:pt x="2415" y="47"/>
                  </a:moveTo>
                  <a:cubicBezTo>
                    <a:pt x="2415" y="72"/>
                    <a:pt x="2393" y="94"/>
                    <a:pt x="2368" y="94"/>
                  </a:cubicBezTo>
                  <a:cubicBezTo>
                    <a:pt x="2342" y="94"/>
                    <a:pt x="2321" y="72"/>
                    <a:pt x="2321" y="47"/>
                  </a:cubicBezTo>
                  <a:cubicBezTo>
                    <a:pt x="2321" y="21"/>
                    <a:pt x="2342" y="0"/>
                    <a:pt x="2368" y="0"/>
                  </a:cubicBezTo>
                  <a:cubicBezTo>
                    <a:pt x="2393" y="0"/>
                    <a:pt x="2415" y="21"/>
                    <a:pt x="2415" y="47"/>
                  </a:cubicBezTo>
                  <a:close/>
                  <a:moveTo>
                    <a:pt x="2516" y="47"/>
                  </a:moveTo>
                  <a:cubicBezTo>
                    <a:pt x="2516" y="72"/>
                    <a:pt x="2494" y="94"/>
                    <a:pt x="2469" y="94"/>
                  </a:cubicBezTo>
                  <a:cubicBezTo>
                    <a:pt x="2443" y="94"/>
                    <a:pt x="2422" y="72"/>
                    <a:pt x="2422" y="47"/>
                  </a:cubicBezTo>
                  <a:cubicBezTo>
                    <a:pt x="2422" y="21"/>
                    <a:pt x="2443" y="0"/>
                    <a:pt x="2469" y="0"/>
                  </a:cubicBezTo>
                  <a:cubicBezTo>
                    <a:pt x="2494" y="0"/>
                    <a:pt x="2516" y="21"/>
                    <a:pt x="2516" y="47"/>
                  </a:cubicBezTo>
                  <a:close/>
                  <a:moveTo>
                    <a:pt x="2617" y="47"/>
                  </a:moveTo>
                  <a:cubicBezTo>
                    <a:pt x="2617" y="72"/>
                    <a:pt x="2595" y="94"/>
                    <a:pt x="2570" y="94"/>
                  </a:cubicBezTo>
                  <a:cubicBezTo>
                    <a:pt x="2544" y="94"/>
                    <a:pt x="2523" y="72"/>
                    <a:pt x="2523" y="47"/>
                  </a:cubicBezTo>
                  <a:cubicBezTo>
                    <a:pt x="2523" y="21"/>
                    <a:pt x="2544" y="0"/>
                    <a:pt x="2570" y="0"/>
                  </a:cubicBezTo>
                  <a:cubicBezTo>
                    <a:pt x="2595" y="0"/>
                    <a:pt x="2617" y="21"/>
                    <a:pt x="2617" y="47"/>
                  </a:cubicBezTo>
                  <a:close/>
                  <a:moveTo>
                    <a:pt x="2718" y="47"/>
                  </a:moveTo>
                  <a:cubicBezTo>
                    <a:pt x="2718" y="72"/>
                    <a:pt x="2696" y="94"/>
                    <a:pt x="2671" y="94"/>
                  </a:cubicBezTo>
                  <a:cubicBezTo>
                    <a:pt x="2645" y="94"/>
                    <a:pt x="2624" y="72"/>
                    <a:pt x="2624" y="47"/>
                  </a:cubicBezTo>
                  <a:cubicBezTo>
                    <a:pt x="2624" y="21"/>
                    <a:pt x="2645" y="0"/>
                    <a:pt x="2671" y="0"/>
                  </a:cubicBezTo>
                  <a:cubicBezTo>
                    <a:pt x="2696" y="0"/>
                    <a:pt x="2718" y="21"/>
                    <a:pt x="2718" y="47"/>
                  </a:cubicBezTo>
                  <a:close/>
                  <a:moveTo>
                    <a:pt x="2819" y="47"/>
                  </a:moveTo>
                  <a:cubicBezTo>
                    <a:pt x="2819" y="72"/>
                    <a:pt x="2797" y="94"/>
                    <a:pt x="2772" y="94"/>
                  </a:cubicBezTo>
                  <a:cubicBezTo>
                    <a:pt x="2746" y="94"/>
                    <a:pt x="2725" y="72"/>
                    <a:pt x="2725" y="47"/>
                  </a:cubicBezTo>
                  <a:cubicBezTo>
                    <a:pt x="2725" y="21"/>
                    <a:pt x="2746" y="0"/>
                    <a:pt x="2772" y="0"/>
                  </a:cubicBezTo>
                  <a:cubicBezTo>
                    <a:pt x="2797" y="0"/>
                    <a:pt x="2819" y="21"/>
                    <a:pt x="2819" y="47"/>
                  </a:cubicBezTo>
                  <a:close/>
                  <a:moveTo>
                    <a:pt x="2919" y="47"/>
                  </a:moveTo>
                  <a:cubicBezTo>
                    <a:pt x="2919" y="72"/>
                    <a:pt x="2897" y="94"/>
                    <a:pt x="2872" y="94"/>
                  </a:cubicBezTo>
                  <a:cubicBezTo>
                    <a:pt x="2846" y="94"/>
                    <a:pt x="2825" y="72"/>
                    <a:pt x="2825" y="47"/>
                  </a:cubicBezTo>
                  <a:cubicBezTo>
                    <a:pt x="2825" y="21"/>
                    <a:pt x="2846" y="0"/>
                    <a:pt x="2872" y="0"/>
                  </a:cubicBezTo>
                  <a:cubicBezTo>
                    <a:pt x="2897" y="0"/>
                    <a:pt x="2919" y="21"/>
                    <a:pt x="2919" y="47"/>
                  </a:cubicBezTo>
                  <a:close/>
                  <a:moveTo>
                    <a:pt x="3020" y="47"/>
                  </a:moveTo>
                  <a:cubicBezTo>
                    <a:pt x="3020" y="72"/>
                    <a:pt x="2998" y="94"/>
                    <a:pt x="2973" y="94"/>
                  </a:cubicBezTo>
                  <a:cubicBezTo>
                    <a:pt x="2947" y="94"/>
                    <a:pt x="2926" y="72"/>
                    <a:pt x="2926" y="47"/>
                  </a:cubicBezTo>
                  <a:cubicBezTo>
                    <a:pt x="2926" y="21"/>
                    <a:pt x="2947" y="0"/>
                    <a:pt x="2973" y="0"/>
                  </a:cubicBezTo>
                  <a:cubicBezTo>
                    <a:pt x="2998" y="0"/>
                    <a:pt x="3020" y="21"/>
                    <a:pt x="3020" y="47"/>
                  </a:cubicBezTo>
                  <a:close/>
                  <a:moveTo>
                    <a:pt x="3121" y="47"/>
                  </a:moveTo>
                  <a:cubicBezTo>
                    <a:pt x="3121" y="72"/>
                    <a:pt x="3099" y="94"/>
                    <a:pt x="3074" y="94"/>
                  </a:cubicBezTo>
                  <a:cubicBezTo>
                    <a:pt x="3048" y="94"/>
                    <a:pt x="3027" y="72"/>
                    <a:pt x="3027" y="47"/>
                  </a:cubicBezTo>
                  <a:cubicBezTo>
                    <a:pt x="3027" y="21"/>
                    <a:pt x="3048" y="0"/>
                    <a:pt x="3074" y="0"/>
                  </a:cubicBezTo>
                  <a:cubicBezTo>
                    <a:pt x="3099" y="0"/>
                    <a:pt x="3121" y="21"/>
                    <a:pt x="3121" y="47"/>
                  </a:cubicBezTo>
                  <a:close/>
                  <a:moveTo>
                    <a:pt x="3222" y="47"/>
                  </a:moveTo>
                  <a:cubicBezTo>
                    <a:pt x="3222" y="72"/>
                    <a:pt x="3200" y="94"/>
                    <a:pt x="3175" y="94"/>
                  </a:cubicBezTo>
                  <a:cubicBezTo>
                    <a:pt x="3149" y="94"/>
                    <a:pt x="3128" y="72"/>
                    <a:pt x="3128" y="47"/>
                  </a:cubicBezTo>
                  <a:cubicBezTo>
                    <a:pt x="3128" y="21"/>
                    <a:pt x="3149" y="0"/>
                    <a:pt x="3175" y="0"/>
                  </a:cubicBezTo>
                  <a:cubicBezTo>
                    <a:pt x="3200" y="0"/>
                    <a:pt x="3222" y="21"/>
                    <a:pt x="3222" y="47"/>
                  </a:cubicBezTo>
                  <a:close/>
                  <a:moveTo>
                    <a:pt x="3323" y="47"/>
                  </a:moveTo>
                  <a:cubicBezTo>
                    <a:pt x="3323" y="72"/>
                    <a:pt x="3301" y="94"/>
                    <a:pt x="3276" y="94"/>
                  </a:cubicBezTo>
                  <a:cubicBezTo>
                    <a:pt x="3250" y="94"/>
                    <a:pt x="3229" y="72"/>
                    <a:pt x="3229" y="47"/>
                  </a:cubicBezTo>
                  <a:cubicBezTo>
                    <a:pt x="3229" y="21"/>
                    <a:pt x="3250" y="0"/>
                    <a:pt x="3276" y="0"/>
                  </a:cubicBezTo>
                  <a:cubicBezTo>
                    <a:pt x="3301" y="0"/>
                    <a:pt x="3323" y="21"/>
                    <a:pt x="3323" y="47"/>
                  </a:cubicBezTo>
                  <a:close/>
                  <a:moveTo>
                    <a:pt x="3423" y="47"/>
                  </a:moveTo>
                  <a:cubicBezTo>
                    <a:pt x="3423" y="72"/>
                    <a:pt x="3401" y="94"/>
                    <a:pt x="3376" y="94"/>
                  </a:cubicBezTo>
                  <a:cubicBezTo>
                    <a:pt x="3350" y="94"/>
                    <a:pt x="3329" y="72"/>
                    <a:pt x="3329" y="47"/>
                  </a:cubicBezTo>
                  <a:cubicBezTo>
                    <a:pt x="3329" y="21"/>
                    <a:pt x="3350" y="0"/>
                    <a:pt x="3376" y="0"/>
                  </a:cubicBezTo>
                  <a:cubicBezTo>
                    <a:pt x="3401" y="0"/>
                    <a:pt x="3423" y="21"/>
                    <a:pt x="3423" y="47"/>
                  </a:cubicBezTo>
                  <a:close/>
                  <a:moveTo>
                    <a:pt x="3524" y="47"/>
                  </a:moveTo>
                  <a:cubicBezTo>
                    <a:pt x="3524" y="72"/>
                    <a:pt x="3502" y="94"/>
                    <a:pt x="3477" y="94"/>
                  </a:cubicBezTo>
                  <a:cubicBezTo>
                    <a:pt x="3451" y="94"/>
                    <a:pt x="3430" y="72"/>
                    <a:pt x="3430" y="47"/>
                  </a:cubicBezTo>
                  <a:cubicBezTo>
                    <a:pt x="3430" y="21"/>
                    <a:pt x="3451" y="0"/>
                    <a:pt x="3477" y="0"/>
                  </a:cubicBezTo>
                  <a:cubicBezTo>
                    <a:pt x="3502" y="0"/>
                    <a:pt x="3524" y="21"/>
                    <a:pt x="3524" y="47"/>
                  </a:cubicBezTo>
                  <a:close/>
                  <a:moveTo>
                    <a:pt x="3625" y="47"/>
                  </a:moveTo>
                  <a:cubicBezTo>
                    <a:pt x="3625" y="72"/>
                    <a:pt x="3603" y="94"/>
                    <a:pt x="3578" y="94"/>
                  </a:cubicBezTo>
                  <a:cubicBezTo>
                    <a:pt x="3552" y="94"/>
                    <a:pt x="3531" y="72"/>
                    <a:pt x="3531" y="47"/>
                  </a:cubicBezTo>
                  <a:cubicBezTo>
                    <a:pt x="3531" y="21"/>
                    <a:pt x="3552" y="0"/>
                    <a:pt x="3578" y="0"/>
                  </a:cubicBezTo>
                  <a:cubicBezTo>
                    <a:pt x="3603" y="0"/>
                    <a:pt x="3625" y="21"/>
                    <a:pt x="3625" y="47"/>
                  </a:cubicBezTo>
                  <a:close/>
                  <a:moveTo>
                    <a:pt x="3726" y="47"/>
                  </a:moveTo>
                  <a:cubicBezTo>
                    <a:pt x="3726" y="72"/>
                    <a:pt x="3704" y="94"/>
                    <a:pt x="3679" y="94"/>
                  </a:cubicBezTo>
                  <a:cubicBezTo>
                    <a:pt x="3653" y="94"/>
                    <a:pt x="3632" y="72"/>
                    <a:pt x="3632" y="47"/>
                  </a:cubicBezTo>
                  <a:cubicBezTo>
                    <a:pt x="3632" y="21"/>
                    <a:pt x="3653" y="0"/>
                    <a:pt x="3679" y="0"/>
                  </a:cubicBezTo>
                  <a:cubicBezTo>
                    <a:pt x="3704" y="0"/>
                    <a:pt x="3726" y="21"/>
                    <a:pt x="3726" y="47"/>
                  </a:cubicBezTo>
                  <a:close/>
                  <a:moveTo>
                    <a:pt x="3827" y="47"/>
                  </a:moveTo>
                  <a:cubicBezTo>
                    <a:pt x="3827" y="72"/>
                    <a:pt x="3805" y="94"/>
                    <a:pt x="3780" y="94"/>
                  </a:cubicBezTo>
                  <a:cubicBezTo>
                    <a:pt x="3754" y="94"/>
                    <a:pt x="3733" y="72"/>
                    <a:pt x="3733" y="47"/>
                  </a:cubicBezTo>
                  <a:cubicBezTo>
                    <a:pt x="3733" y="21"/>
                    <a:pt x="3754" y="0"/>
                    <a:pt x="3780" y="0"/>
                  </a:cubicBezTo>
                  <a:cubicBezTo>
                    <a:pt x="3805" y="0"/>
                    <a:pt x="3827" y="21"/>
                    <a:pt x="3827" y="47"/>
                  </a:cubicBezTo>
                  <a:close/>
                  <a:moveTo>
                    <a:pt x="3927" y="47"/>
                  </a:moveTo>
                  <a:cubicBezTo>
                    <a:pt x="3927" y="72"/>
                    <a:pt x="3905" y="94"/>
                    <a:pt x="3880" y="94"/>
                  </a:cubicBezTo>
                  <a:cubicBezTo>
                    <a:pt x="3854" y="94"/>
                    <a:pt x="3833" y="72"/>
                    <a:pt x="3833" y="47"/>
                  </a:cubicBezTo>
                  <a:cubicBezTo>
                    <a:pt x="3833" y="21"/>
                    <a:pt x="3854" y="0"/>
                    <a:pt x="3880" y="0"/>
                  </a:cubicBezTo>
                  <a:cubicBezTo>
                    <a:pt x="3905" y="0"/>
                    <a:pt x="3927" y="21"/>
                    <a:pt x="3927" y="47"/>
                  </a:cubicBezTo>
                  <a:close/>
                  <a:moveTo>
                    <a:pt x="4028" y="47"/>
                  </a:moveTo>
                  <a:cubicBezTo>
                    <a:pt x="4028" y="72"/>
                    <a:pt x="4006" y="94"/>
                    <a:pt x="3981" y="94"/>
                  </a:cubicBezTo>
                  <a:cubicBezTo>
                    <a:pt x="3955" y="94"/>
                    <a:pt x="3934" y="72"/>
                    <a:pt x="3934" y="47"/>
                  </a:cubicBezTo>
                  <a:cubicBezTo>
                    <a:pt x="3934" y="21"/>
                    <a:pt x="3955" y="0"/>
                    <a:pt x="3981" y="0"/>
                  </a:cubicBezTo>
                  <a:cubicBezTo>
                    <a:pt x="4006" y="0"/>
                    <a:pt x="4028" y="21"/>
                    <a:pt x="4028" y="47"/>
                  </a:cubicBezTo>
                  <a:close/>
                  <a:moveTo>
                    <a:pt x="4129" y="47"/>
                  </a:moveTo>
                  <a:cubicBezTo>
                    <a:pt x="4129" y="72"/>
                    <a:pt x="4107" y="94"/>
                    <a:pt x="4082" y="94"/>
                  </a:cubicBezTo>
                  <a:cubicBezTo>
                    <a:pt x="4056" y="94"/>
                    <a:pt x="4035" y="72"/>
                    <a:pt x="4035" y="47"/>
                  </a:cubicBezTo>
                  <a:cubicBezTo>
                    <a:pt x="4035" y="21"/>
                    <a:pt x="4056" y="0"/>
                    <a:pt x="4082" y="0"/>
                  </a:cubicBezTo>
                  <a:cubicBezTo>
                    <a:pt x="4107" y="0"/>
                    <a:pt x="4129" y="21"/>
                    <a:pt x="4129" y="47"/>
                  </a:cubicBezTo>
                  <a:close/>
                  <a:moveTo>
                    <a:pt x="4230" y="47"/>
                  </a:moveTo>
                  <a:cubicBezTo>
                    <a:pt x="4230" y="72"/>
                    <a:pt x="4208" y="94"/>
                    <a:pt x="4183" y="94"/>
                  </a:cubicBezTo>
                  <a:cubicBezTo>
                    <a:pt x="4157" y="94"/>
                    <a:pt x="4136" y="72"/>
                    <a:pt x="4136" y="47"/>
                  </a:cubicBezTo>
                  <a:cubicBezTo>
                    <a:pt x="4136" y="21"/>
                    <a:pt x="4157" y="0"/>
                    <a:pt x="4183" y="0"/>
                  </a:cubicBezTo>
                  <a:cubicBezTo>
                    <a:pt x="4208" y="0"/>
                    <a:pt x="4230" y="21"/>
                    <a:pt x="4230" y="47"/>
                  </a:cubicBezTo>
                  <a:close/>
                  <a:moveTo>
                    <a:pt x="4331" y="47"/>
                  </a:moveTo>
                  <a:cubicBezTo>
                    <a:pt x="4331" y="72"/>
                    <a:pt x="4309" y="94"/>
                    <a:pt x="4284" y="94"/>
                  </a:cubicBezTo>
                  <a:cubicBezTo>
                    <a:pt x="4258" y="94"/>
                    <a:pt x="4237" y="72"/>
                    <a:pt x="4237" y="47"/>
                  </a:cubicBezTo>
                  <a:cubicBezTo>
                    <a:pt x="4237" y="21"/>
                    <a:pt x="4258" y="0"/>
                    <a:pt x="4284" y="0"/>
                  </a:cubicBezTo>
                  <a:cubicBezTo>
                    <a:pt x="4309" y="0"/>
                    <a:pt x="4331" y="21"/>
                    <a:pt x="4331" y="47"/>
                  </a:cubicBezTo>
                  <a:close/>
                  <a:moveTo>
                    <a:pt x="4431" y="47"/>
                  </a:moveTo>
                  <a:cubicBezTo>
                    <a:pt x="4431" y="72"/>
                    <a:pt x="4409" y="94"/>
                    <a:pt x="4384" y="94"/>
                  </a:cubicBezTo>
                  <a:cubicBezTo>
                    <a:pt x="4358" y="94"/>
                    <a:pt x="4337" y="72"/>
                    <a:pt x="4337" y="47"/>
                  </a:cubicBezTo>
                  <a:cubicBezTo>
                    <a:pt x="4337" y="21"/>
                    <a:pt x="4358" y="0"/>
                    <a:pt x="4384" y="0"/>
                  </a:cubicBezTo>
                  <a:cubicBezTo>
                    <a:pt x="4409" y="0"/>
                    <a:pt x="4431" y="21"/>
                    <a:pt x="4431" y="47"/>
                  </a:cubicBezTo>
                  <a:close/>
                  <a:moveTo>
                    <a:pt x="4532" y="47"/>
                  </a:moveTo>
                  <a:cubicBezTo>
                    <a:pt x="4532" y="72"/>
                    <a:pt x="4510" y="94"/>
                    <a:pt x="4485" y="94"/>
                  </a:cubicBezTo>
                  <a:cubicBezTo>
                    <a:pt x="4459" y="94"/>
                    <a:pt x="4438" y="72"/>
                    <a:pt x="4438" y="47"/>
                  </a:cubicBezTo>
                  <a:cubicBezTo>
                    <a:pt x="4438" y="21"/>
                    <a:pt x="4459" y="0"/>
                    <a:pt x="4485" y="0"/>
                  </a:cubicBezTo>
                  <a:cubicBezTo>
                    <a:pt x="4510" y="0"/>
                    <a:pt x="4532" y="21"/>
                    <a:pt x="4532" y="47"/>
                  </a:cubicBezTo>
                  <a:close/>
                  <a:moveTo>
                    <a:pt x="4633" y="47"/>
                  </a:moveTo>
                  <a:cubicBezTo>
                    <a:pt x="4633" y="72"/>
                    <a:pt x="4611" y="94"/>
                    <a:pt x="4586" y="94"/>
                  </a:cubicBezTo>
                  <a:cubicBezTo>
                    <a:pt x="4560" y="94"/>
                    <a:pt x="4539" y="72"/>
                    <a:pt x="4539" y="47"/>
                  </a:cubicBezTo>
                  <a:cubicBezTo>
                    <a:pt x="4539" y="21"/>
                    <a:pt x="4560" y="0"/>
                    <a:pt x="4586" y="0"/>
                  </a:cubicBezTo>
                  <a:cubicBezTo>
                    <a:pt x="4611" y="0"/>
                    <a:pt x="4633" y="21"/>
                    <a:pt x="4633" y="47"/>
                  </a:cubicBezTo>
                  <a:close/>
                  <a:moveTo>
                    <a:pt x="4734" y="47"/>
                  </a:moveTo>
                  <a:cubicBezTo>
                    <a:pt x="4734" y="72"/>
                    <a:pt x="4712" y="94"/>
                    <a:pt x="4687" y="94"/>
                  </a:cubicBezTo>
                  <a:cubicBezTo>
                    <a:pt x="4661" y="94"/>
                    <a:pt x="4640" y="72"/>
                    <a:pt x="4640" y="47"/>
                  </a:cubicBezTo>
                  <a:cubicBezTo>
                    <a:pt x="4640" y="21"/>
                    <a:pt x="4661" y="0"/>
                    <a:pt x="4687" y="0"/>
                  </a:cubicBezTo>
                  <a:cubicBezTo>
                    <a:pt x="4712" y="0"/>
                    <a:pt x="4734" y="21"/>
                    <a:pt x="4734" y="47"/>
                  </a:cubicBezTo>
                  <a:close/>
                  <a:moveTo>
                    <a:pt x="4835" y="47"/>
                  </a:moveTo>
                  <a:cubicBezTo>
                    <a:pt x="4835" y="72"/>
                    <a:pt x="4813" y="94"/>
                    <a:pt x="4788" y="94"/>
                  </a:cubicBezTo>
                  <a:cubicBezTo>
                    <a:pt x="4762" y="94"/>
                    <a:pt x="4741" y="72"/>
                    <a:pt x="4741" y="47"/>
                  </a:cubicBezTo>
                  <a:cubicBezTo>
                    <a:pt x="4741" y="21"/>
                    <a:pt x="4762" y="0"/>
                    <a:pt x="4788" y="0"/>
                  </a:cubicBezTo>
                  <a:cubicBezTo>
                    <a:pt x="4813" y="0"/>
                    <a:pt x="4835" y="21"/>
                    <a:pt x="4835" y="47"/>
                  </a:cubicBezTo>
                  <a:close/>
                  <a:moveTo>
                    <a:pt x="4935" y="47"/>
                  </a:moveTo>
                  <a:cubicBezTo>
                    <a:pt x="4935" y="72"/>
                    <a:pt x="4913" y="94"/>
                    <a:pt x="4888" y="94"/>
                  </a:cubicBezTo>
                  <a:cubicBezTo>
                    <a:pt x="4862" y="94"/>
                    <a:pt x="4841" y="72"/>
                    <a:pt x="4841" y="47"/>
                  </a:cubicBezTo>
                  <a:cubicBezTo>
                    <a:pt x="4841" y="21"/>
                    <a:pt x="4862" y="0"/>
                    <a:pt x="4888" y="0"/>
                  </a:cubicBezTo>
                  <a:cubicBezTo>
                    <a:pt x="4913" y="0"/>
                    <a:pt x="4935" y="21"/>
                    <a:pt x="4935" y="47"/>
                  </a:cubicBezTo>
                  <a:close/>
                  <a:moveTo>
                    <a:pt x="5036" y="47"/>
                  </a:moveTo>
                  <a:cubicBezTo>
                    <a:pt x="5036" y="72"/>
                    <a:pt x="5014" y="94"/>
                    <a:pt x="4989" y="94"/>
                  </a:cubicBezTo>
                  <a:cubicBezTo>
                    <a:pt x="4963" y="94"/>
                    <a:pt x="4942" y="72"/>
                    <a:pt x="4942" y="47"/>
                  </a:cubicBezTo>
                  <a:cubicBezTo>
                    <a:pt x="4942" y="21"/>
                    <a:pt x="4963" y="0"/>
                    <a:pt x="4989" y="0"/>
                  </a:cubicBezTo>
                  <a:cubicBezTo>
                    <a:pt x="5014" y="0"/>
                    <a:pt x="5036" y="21"/>
                    <a:pt x="5036" y="47"/>
                  </a:cubicBezTo>
                  <a:close/>
                  <a:moveTo>
                    <a:pt x="5137" y="47"/>
                  </a:moveTo>
                  <a:cubicBezTo>
                    <a:pt x="5137" y="72"/>
                    <a:pt x="5115" y="94"/>
                    <a:pt x="5090" y="94"/>
                  </a:cubicBezTo>
                  <a:cubicBezTo>
                    <a:pt x="5064" y="94"/>
                    <a:pt x="5043" y="72"/>
                    <a:pt x="5043" y="47"/>
                  </a:cubicBezTo>
                  <a:cubicBezTo>
                    <a:pt x="5043" y="21"/>
                    <a:pt x="5064" y="0"/>
                    <a:pt x="5090" y="0"/>
                  </a:cubicBezTo>
                  <a:cubicBezTo>
                    <a:pt x="5115" y="0"/>
                    <a:pt x="5137" y="21"/>
                    <a:pt x="5137" y="47"/>
                  </a:cubicBezTo>
                  <a:close/>
                  <a:moveTo>
                    <a:pt x="5238" y="47"/>
                  </a:moveTo>
                  <a:cubicBezTo>
                    <a:pt x="5238" y="72"/>
                    <a:pt x="5216" y="94"/>
                    <a:pt x="5191" y="94"/>
                  </a:cubicBezTo>
                  <a:cubicBezTo>
                    <a:pt x="5165" y="94"/>
                    <a:pt x="5144" y="72"/>
                    <a:pt x="5144" y="47"/>
                  </a:cubicBezTo>
                  <a:cubicBezTo>
                    <a:pt x="5144" y="21"/>
                    <a:pt x="5165" y="0"/>
                    <a:pt x="5191" y="0"/>
                  </a:cubicBezTo>
                  <a:cubicBezTo>
                    <a:pt x="5216" y="0"/>
                    <a:pt x="5238" y="21"/>
                    <a:pt x="5238" y="47"/>
                  </a:cubicBezTo>
                  <a:close/>
                  <a:moveTo>
                    <a:pt x="5339" y="47"/>
                  </a:moveTo>
                  <a:cubicBezTo>
                    <a:pt x="5339" y="72"/>
                    <a:pt x="5317" y="94"/>
                    <a:pt x="5292" y="94"/>
                  </a:cubicBezTo>
                  <a:cubicBezTo>
                    <a:pt x="5266" y="94"/>
                    <a:pt x="5245" y="72"/>
                    <a:pt x="5245" y="47"/>
                  </a:cubicBezTo>
                  <a:cubicBezTo>
                    <a:pt x="5245" y="21"/>
                    <a:pt x="5266" y="0"/>
                    <a:pt x="5292" y="0"/>
                  </a:cubicBezTo>
                  <a:cubicBezTo>
                    <a:pt x="5317" y="0"/>
                    <a:pt x="5339" y="21"/>
                    <a:pt x="5339" y="47"/>
                  </a:cubicBezTo>
                  <a:close/>
                  <a:moveTo>
                    <a:pt x="5439" y="47"/>
                  </a:moveTo>
                  <a:cubicBezTo>
                    <a:pt x="5439" y="72"/>
                    <a:pt x="5417" y="94"/>
                    <a:pt x="5392" y="94"/>
                  </a:cubicBezTo>
                  <a:cubicBezTo>
                    <a:pt x="5366" y="94"/>
                    <a:pt x="5345" y="72"/>
                    <a:pt x="5345" y="47"/>
                  </a:cubicBezTo>
                  <a:cubicBezTo>
                    <a:pt x="5345" y="21"/>
                    <a:pt x="5366" y="0"/>
                    <a:pt x="5392" y="0"/>
                  </a:cubicBezTo>
                  <a:cubicBezTo>
                    <a:pt x="5417" y="0"/>
                    <a:pt x="5439" y="21"/>
                    <a:pt x="5439" y="47"/>
                  </a:cubicBezTo>
                  <a:close/>
                  <a:moveTo>
                    <a:pt x="5540" y="47"/>
                  </a:moveTo>
                  <a:cubicBezTo>
                    <a:pt x="5540" y="72"/>
                    <a:pt x="5518" y="94"/>
                    <a:pt x="5493" y="94"/>
                  </a:cubicBezTo>
                  <a:cubicBezTo>
                    <a:pt x="5467" y="94"/>
                    <a:pt x="5446" y="72"/>
                    <a:pt x="5446" y="47"/>
                  </a:cubicBezTo>
                  <a:cubicBezTo>
                    <a:pt x="5446" y="21"/>
                    <a:pt x="5467" y="0"/>
                    <a:pt x="5493" y="0"/>
                  </a:cubicBezTo>
                  <a:cubicBezTo>
                    <a:pt x="5518" y="0"/>
                    <a:pt x="5540" y="21"/>
                    <a:pt x="5540" y="47"/>
                  </a:cubicBezTo>
                  <a:close/>
                  <a:moveTo>
                    <a:pt x="5641" y="47"/>
                  </a:moveTo>
                  <a:cubicBezTo>
                    <a:pt x="5641" y="72"/>
                    <a:pt x="5619" y="94"/>
                    <a:pt x="5594" y="94"/>
                  </a:cubicBezTo>
                  <a:cubicBezTo>
                    <a:pt x="5568" y="94"/>
                    <a:pt x="5547" y="72"/>
                    <a:pt x="5547" y="47"/>
                  </a:cubicBezTo>
                  <a:cubicBezTo>
                    <a:pt x="5547" y="21"/>
                    <a:pt x="5568" y="0"/>
                    <a:pt x="5594" y="0"/>
                  </a:cubicBezTo>
                  <a:cubicBezTo>
                    <a:pt x="5619" y="0"/>
                    <a:pt x="5641" y="21"/>
                    <a:pt x="5641" y="47"/>
                  </a:cubicBezTo>
                  <a:close/>
                  <a:moveTo>
                    <a:pt x="5742" y="47"/>
                  </a:moveTo>
                  <a:cubicBezTo>
                    <a:pt x="5742" y="72"/>
                    <a:pt x="5720" y="94"/>
                    <a:pt x="5695" y="94"/>
                  </a:cubicBezTo>
                  <a:cubicBezTo>
                    <a:pt x="5669" y="94"/>
                    <a:pt x="5648" y="72"/>
                    <a:pt x="5648" y="47"/>
                  </a:cubicBezTo>
                  <a:cubicBezTo>
                    <a:pt x="5648" y="21"/>
                    <a:pt x="5669" y="0"/>
                    <a:pt x="5695" y="0"/>
                  </a:cubicBezTo>
                  <a:cubicBezTo>
                    <a:pt x="5720" y="0"/>
                    <a:pt x="5742" y="21"/>
                    <a:pt x="5742" y="47"/>
                  </a:cubicBezTo>
                  <a:close/>
                  <a:moveTo>
                    <a:pt x="5843" y="47"/>
                  </a:moveTo>
                  <a:cubicBezTo>
                    <a:pt x="5843" y="72"/>
                    <a:pt x="5821" y="94"/>
                    <a:pt x="5796" y="94"/>
                  </a:cubicBezTo>
                  <a:cubicBezTo>
                    <a:pt x="5770" y="94"/>
                    <a:pt x="5749" y="72"/>
                    <a:pt x="5749" y="47"/>
                  </a:cubicBezTo>
                  <a:cubicBezTo>
                    <a:pt x="5749" y="21"/>
                    <a:pt x="5770" y="0"/>
                    <a:pt x="5796" y="0"/>
                  </a:cubicBezTo>
                  <a:cubicBezTo>
                    <a:pt x="5821" y="0"/>
                    <a:pt x="5843" y="21"/>
                    <a:pt x="5843" y="47"/>
                  </a:cubicBezTo>
                  <a:close/>
                  <a:moveTo>
                    <a:pt x="5943" y="47"/>
                  </a:moveTo>
                  <a:cubicBezTo>
                    <a:pt x="5943" y="72"/>
                    <a:pt x="5921" y="94"/>
                    <a:pt x="5896" y="94"/>
                  </a:cubicBezTo>
                  <a:cubicBezTo>
                    <a:pt x="5870" y="94"/>
                    <a:pt x="5849" y="72"/>
                    <a:pt x="5849" y="47"/>
                  </a:cubicBezTo>
                  <a:cubicBezTo>
                    <a:pt x="5849" y="21"/>
                    <a:pt x="5870" y="0"/>
                    <a:pt x="5896" y="0"/>
                  </a:cubicBezTo>
                  <a:cubicBezTo>
                    <a:pt x="5921" y="0"/>
                    <a:pt x="5943" y="21"/>
                    <a:pt x="5943" y="47"/>
                  </a:cubicBezTo>
                  <a:close/>
                  <a:moveTo>
                    <a:pt x="6044" y="47"/>
                  </a:moveTo>
                  <a:cubicBezTo>
                    <a:pt x="6044" y="72"/>
                    <a:pt x="6022" y="94"/>
                    <a:pt x="5997" y="94"/>
                  </a:cubicBezTo>
                  <a:cubicBezTo>
                    <a:pt x="5971" y="94"/>
                    <a:pt x="5950" y="72"/>
                    <a:pt x="5950" y="47"/>
                  </a:cubicBezTo>
                  <a:cubicBezTo>
                    <a:pt x="5950" y="21"/>
                    <a:pt x="5971" y="0"/>
                    <a:pt x="5997" y="0"/>
                  </a:cubicBezTo>
                  <a:cubicBezTo>
                    <a:pt x="6022" y="0"/>
                    <a:pt x="6044" y="21"/>
                    <a:pt x="6044" y="47"/>
                  </a:cubicBezTo>
                  <a:close/>
                  <a:moveTo>
                    <a:pt x="6145" y="47"/>
                  </a:moveTo>
                  <a:cubicBezTo>
                    <a:pt x="6145" y="72"/>
                    <a:pt x="6123" y="94"/>
                    <a:pt x="6098" y="94"/>
                  </a:cubicBezTo>
                  <a:cubicBezTo>
                    <a:pt x="6072" y="94"/>
                    <a:pt x="6051" y="72"/>
                    <a:pt x="6051" y="47"/>
                  </a:cubicBezTo>
                  <a:cubicBezTo>
                    <a:pt x="6051" y="21"/>
                    <a:pt x="6072" y="0"/>
                    <a:pt x="6098" y="0"/>
                  </a:cubicBezTo>
                  <a:cubicBezTo>
                    <a:pt x="6123" y="0"/>
                    <a:pt x="6145" y="21"/>
                    <a:pt x="6145" y="47"/>
                  </a:cubicBezTo>
                  <a:close/>
                  <a:moveTo>
                    <a:pt x="6246" y="47"/>
                  </a:moveTo>
                  <a:cubicBezTo>
                    <a:pt x="6246" y="72"/>
                    <a:pt x="6224" y="94"/>
                    <a:pt x="6199" y="94"/>
                  </a:cubicBezTo>
                  <a:cubicBezTo>
                    <a:pt x="6173" y="94"/>
                    <a:pt x="6152" y="72"/>
                    <a:pt x="6152" y="47"/>
                  </a:cubicBezTo>
                  <a:cubicBezTo>
                    <a:pt x="6152" y="21"/>
                    <a:pt x="6173" y="0"/>
                    <a:pt x="6199" y="0"/>
                  </a:cubicBezTo>
                  <a:cubicBezTo>
                    <a:pt x="6224" y="0"/>
                    <a:pt x="6246" y="21"/>
                    <a:pt x="6246" y="47"/>
                  </a:cubicBezTo>
                  <a:close/>
                  <a:moveTo>
                    <a:pt x="6347" y="47"/>
                  </a:moveTo>
                  <a:cubicBezTo>
                    <a:pt x="6347" y="72"/>
                    <a:pt x="6325" y="94"/>
                    <a:pt x="6300" y="94"/>
                  </a:cubicBezTo>
                  <a:cubicBezTo>
                    <a:pt x="6274" y="94"/>
                    <a:pt x="6253" y="72"/>
                    <a:pt x="6253" y="47"/>
                  </a:cubicBezTo>
                  <a:cubicBezTo>
                    <a:pt x="6253" y="21"/>
                    <a:pt x="6274" y="0"/>
                    <a:pt x="6300" y="0"/>
                  </a:cubicBezTo>
                  <a:cubicBezTo>
                    <a:pt x="6325" y="0"/>
                    <a:pt x="6347" y="21"/>
                    <a:pt x="6347" y="47"/>
                  </a:cubicBezTo>
                  <a:close/>
                  <a:moveTo>
                    <a:pt x="6447" y="47"/>
                  </a:moveTo>
                  <a:cubicBezTo>
                    <a:pt x="6447" y="72"/>
                    <a:pt x="6425" y="94"/>
                    <a:pt x="6400" y="94"/>
                  </a:cubicBezTo>
                  <a:cubicBezTo>
                    <a:pt x="6374" y="94"/>
                    <a:pt x="6353" y="72"/>
                    <a:pt x="6353" y="47"/>
                  </a:cubicBezTo>
                  <a:cubicBezTo>
                    <a:pt x="6353" y="21"/>
                    <a:pt x="6374" y="0"/>
                    <a:pt x="6400" y="0"/>
                  </a:cubicBezTo>
                  <a:cubicBezTo>
                    <a:pt x="6425" y="0"/>
                    <a:pt x="6447" y="21"/>
                    <a:pt x="6447" y="47"/>
                  </a:cubicBezTo>
                  <a:close/>
                  <a:moveTo>
                    <a:pt x="6548" y="47"/>
                  </a:moveTo>
                  <a:cubicBezTo>
                    <a:pt x="6548" y="72"/>
                    <a:pt x="6526" y="94"/>
                    <a:pt x="6501" y="94"/>
                  </a:cubicBezTo>
                  <a:cubicBezTo>
                    <a:pt x="6475" y="94"/>
                    <a:pt x="6454" y="72"/>
                    <a:pt x="6454" y="47"/>
                  </a:cubicBezTo>
                  <a:cubicBezTo>
                    <a:pt x="6454" y="21"/>
                    <a:pt x="6475" y="0"/>
                    <a:pt x="6501" y="0"/>
                  </a:cubicBezTo>
                  <a:cubicBezTo>
                    <a:pt x="6526" y="0"/>
                    <a:pt x="6548" y="21"/>
                    <a:pt x="6548" y="47"/>
                  </a:cubicBezTo>
                  <a:close/>
                  <a:moveTo>
                    <a:pt x="6649" y="47"/>
                  </a:moveTo>
                  <a:cubicBezTo>
                    <a:pt x="6649" y="72"/>
                    <a:pt x="6627" y="94"/>
                    <a:pt x="6602" y="94"/>
                  </a:cubicBezTo>
                  <a:cubicBezTo>
                    <a:pt x="6576" y="94"/>
                    <a:pt x="6555" y="72"/>
                    <a:pt x="6555" y="47"/>
                  </a:cubicBezTo>
                  <a:cubicBezTo>
                    <a:pt x="6555" y="21"/>
                    <a:pt x="6576" y="0"/>
                    <a:pt x="6602" y="0"/>
                  </a:cubicBezTo>
                  <a:cubicBezTo>
                    <a:pt x="6627" y="0"/>
                    <a:pt x="6649" y="21"/>
                    <a:pt x="6649" y="47"/>
                  </a:cubicBezTo>
                  <a:close/>
                  <a:moveTo>
                    <a:pt x="6750" y="47"/>
                  </a:moveTo>
                  <a:cubicBezTo>
                    <a:pt x="6750" y="72"/>
                    <a:pt x="6728" y="94"/>
                    <a:pt x="6703" y="94"/>
                  </a:cubicBezTo>
                  <a:cubicBezTo>
                    <a:pt x="6677" y="94"/>
                    <a:pt x="6656" y="72"/>
                    <a:pt x="6656" y="47"/>
                  </a:cubicBezTo>
                  <a:cubicBezTo>
                    <a:pt x="6656" y="21"/>
                    <a:pt x="6677" y="0"/>
                    <a:pt x="6703" y="0"/>
                  </a:cubicBezTo>
                  <a:cubicBezTo>
                    <a:pt x="6728" y="0"/>
                    <a:pt x="6750" y="21"/>
                    <a:pt x="6750" y="47"/>
                  </a:cubicBezTo>
                  <a:close/>
                  <a:moveTo>
                    <a:pt x="6851" y="47"/>
                  </a:moveTo>
                  <a:cubicBezTo>
                    <a:pt x="6851" y="72"/>
                    <a:pt x="6829" y="94"/>
                    <a:pt x="6804" y="94"/>
                  </a:cubicBezTo>
                  <a:cubicBezTo>
                    <a:pt x="6778" y="94"/>
                    <a:pt x="6757" y="72"/>
                    <a:pt x="6757" y="47"/>
                  </a:cubicBezTo>
                  <a:cubicBezTo>
                    <a:pt x="6757" y="21"/>
                    <a:pt x="6778" y="0"/>
                    <a:pt x="6804" y="0"/>
                  </a:cubicBezTo>
                  <a:cubicBezTo>
                    <a:pt x="6829" y="0"/>
                    <a:pt x="6851" y="21"/>
                    <a:pt x="6851" y="47"/>
                  </a:cubicBezTo>
                  <a:close/>
                  <a:moveTo>
                    <a:pt x="6951" y="47"/>
                  </a:moveTo>
                  <a:cubicBezTo>
                    <a:pt x="6951" y="72"/>
                    <a:pt x="6929" y="94"/>
                    <a:pt x="6904" y="94"/>
                  </a:cubicBezTo>
                  <a:cubicBezTo>
                    <a:pt x="6878" y="94"/>
                    <a:pt x="6857" y="72"/>
                    <a:pt x="6857" y="47"/>
                  </a:cubicBezTo>
                  <a:cubicBezTo>
                    <a:pt x="6857" y="21"/>
                    <a:pt x="6878" y="0"/>
                    <a:pt x="6904" y="0"/>
                  </a:cubicBezTo>
                  <a:cubicBezTo>
                    <a:pt x="6929" y="0"/>
                    <a:pt x="6951" y="21"/>
                    <a:pt x="6951" y="47"/>
                  </a:cubicBezTo>
                  <a:close/>
                  <a:moveTo>
                    <a:pt x="7052" y="47"/>
                  </a:moveTo>
                  <a:cubicBezTo>
                    <a:pt x="7052" y="72"/>
                    <a:pt x="7030" y="94"/>
                    <a:pt x="7005" y="94"/>
                  </a:cubicBezTo>
                  <a:cubicBezTo>
                    <a:pt x="6979" y="94"/>
                    <a:pt x="6958" y="72"/>
                    <a:pt x="6958" y="47"/>
                  </a:cubicBezTo>
                  <a:cubicBezTo>
                    <a:pt x="6958" y="21"/>
                    <a:pt x="6979" y="0"/>
                    <a:pt x="7005" y="0"/>
                  </a:cubicBezTo>
                  <a:cubicBezTo>
                    <a:pt x="7030" y="0"/>
                    <a:pt x="7052" y="21"/>
                    <a:pt x="7052" y="47"/>
                  </a:cubicBezTo>
                  <a:close/>
                  <a:moveTo>
                    <a:pt x="7153" y="47"/>
                  </a:moveTo>
                  <a:cubicBezTo>
                    <a:pt x="7153" y="72"/>
                    <a:pt x="7131" y="94"/>
                    <a:pt x="7106" y="94"/>
                  </a:cubicBezTo>
                  <a:cubicBezTo>
                    <a:pt x="7080" y="94"/>
                    <a:pt x="7059" y="72"/>
                    <a:pt x="7059" y="47"/>
                  </a:cubicBezTo>
                  <a:cubicBezTo>
                    <a:pt x="7059" y="21"/>
                    <a:pt x="7080" y="0"/>
                    <a:pt x="7106" y="0"/>
                  </a:cubicBezTo>
                  <a:cubicBezTo>
                    <a:pt x="7131" y="0"/>
                    <a:pt x="7153" y="21"/>
                    <a:pt x="7153" y="47"/>
                  </a:cubicBezTo>
                  <a:close/>
                  <a:moveTo>
                    <a:pt x="7254" y="47"/>
                  </a:moveTo>
                  <a:cubicBezTo>
                    <a:pt x="7254" y="72"/>
                    <a:pt x="7232" y="94"/>
                    <a:pt x="7207" y="94"/>
                  </a:cubicBezTo>
                  <a:cubicBezTo>
                    <a:pt x="7181" y="94"/>
                    <a:pt x="7160" y="72"/>
                    <a:pt x="7160" y="47"/>
                  </a:cubicBezTo>
                  <a:cubicBezTo>
                    <a:pt x="7160" y="21"/>
                    <a:pt x="7181" y="0"/>
                    <a:pt x="7207" y="0"/>
                  </a:cubicBezTo>
                  <a:cubicBezTo>
                    <a:pt x="7232" y="0"/>
                    <a:pt x="7254" y="21"/>
                    <a:pt x="7254" y="47"/>
                  </a:cubicBezTo>
                  <a:close/>
                  <a:moveTo>
                    <a:pt x="7355" y="47"/>
                  </a:moveTo>
                  <a:cubicBezTo>
                    <a:pt x="7355" y="72"/>
                    <a:pt x="7333" y="94"/>
                    <a:pt x="7308" y="94"/>
                  </a:cubicBezTo>
                  <a:cubicBezTo>
                    <a:pt x="7282" y="94"/>
                    <a:pt x="7261" y="72"/>
                    <a:pt x="7261" y="47"/>
                  </a:cubicBezTo>
                  <a:cubicBezTo>
                    <a:pt x="7261" y="21"/>
                    <a:pt x="7282" y="0"/>
                    <a:pt x="7308" y="0"/>
                  </a:cubicBezTo>
                  <a:cubicBezTo>
                    <a:pt x="7333" y="0"/>
                    <a:pt x="7355" y="21"/>
                    <a:pt x="7355" y="47"/>
                  </a:cubicBezTo>
                  <a:close/>
                  <a:moveTo>
                    <a:pt x="7455" y="47"/>
                  </a:moveTo>
                  <a:cubicBezTo>
                    <a:pt x="7455" y="72"/>
                    <a:pt x="7433" y="94"/>
                    <a:pt x="7408" y="94"/>
                  </a:cubicBezTo>
                  <a:cubicBezTo>
                    <a:pt x="7382" y="94"/>
                    <a:pt x="7361" y="72"/>
                    <a:pt x="7361" y="47"/>
                  </a:cubicBezTo>
                  <a:cubicBezTo>
                    <a:pt x="7361" y="21"/>
                    <a:pt x="7382" y="0"/>
                    <a:pt x="7408" y="0"/>
                  </a:cubicBezTo>
                  <a:cubicBezTo>
                    <a:pt x="7433" y="0"/>
                    <a:pt x="7455" y="21"/>
                    <a:pt x="7455" y="47"/>
                  </a:cubicBezTo>
                  <a:close/>
                  <a:moveTo>
                    <a:pt x="7556" y="47"/>
                  </a:moveTo>
                  <a:cubicBezTo>
                    <a:pt x="7556" y="72"/>
                    <a:pt x="7534" y="94"/>
                    <a:pt x="7509" y="94"/>
                  </a:cubicBezTo>
                  <a:cubicBezTo>
                    <a:pt x="7483" y="94"/>
                    <a:pt x="7462" y="72"/>
                    <a:pt x="7462" y="47"/>
                  </a:cubicBezTo>
                  <a:cubicBezTo>
                    <a:pt x="7462" y="21"/>
                    <a:pt x="7483" y="0"/>
                    <a:pt x="7509" y="0"/>
                  </a:cubicBezTo>
                  <a:cubicBezTo>
                    <a:pt x="7534" y="0"/>
                    <a:pt x="7556" y="21"/>
                    <a:pt x="7556" y="47"/>
                  </a:cubicBezTo>
                  <a:close/>
                  <a:moveTo>
                    <a:pt x="7657" y="47"/>
                  </a:moveTo>
                  <a:cubicBezTo>
                    <a:pt x="7657" y="72"/>
                    <a:pt x="7635" y="94"/>
                    <a:pt x="7610" y="94"/>
                  </a:cubicBezTo>
                  <a:cubicBezTo>
                    <a:pt x="7584" y="94"/>
                    <a:pt x="7563" y="72"/>
                    <a:pt x="7563" y="47"/>
                  </a:cubicBezTo>
                  <a:cubicBezTo>
                    <a:pt x="7563" y="21"/>
                    <a:pt x="7584" y="0"/>
                    <a:pt x="7610" y="0"/>
                  </a:cubicBezTo>
                  <a:cubicBezTo>
                    <a:pt x="7635" y="0"/>
                    <a:pt x="7657" y="21"/>
                    <a:pt x="7657" y="47"/>
                  </a:cubicBezTo>
                  <a:close/>
                  <a:moveTo>
                    <a:pt x="7758" y="47"/>
                  </a:moveTo>
                  <a:cubicBezTo>
                    <a:pt x="7758" y="72"/>
                    <a:pt x="7736" y="94"/>
                    <a:pt x="7711" y="94"/>
                  </a:cubicBezTo>
                  <a:cubicBezTo>
                    <a:pt x="7685" y="94"/>
                    <a:pt x="7664" y="72"/>
                    <a:pt x="7664" y="47"/>
                  </a:cubicBezTo>
                  <a:cubicBezTo>
                    <a:pt x="7664" y="21"/>
                    <a:pt x="7685" y="0"/>
                    <a:pt x="7711" y="0"/>
                  </a:cubicBezTo>
                  <a:cubicBezTo>
                    <a:pt x="7736" y="0"/>
                    <a:pt x="7758" y="21"/>
                    <a:pt x="7758" y="47"/>
                  </a:cubicBezTo>
                  <a:close/>
                  <a:moveTo>
                    <a:pt x="7859" y="47"/>
                  </a:moveTo>
                  <a:cubicBezTo>
                    <a:pt x="7859" y="72"/>
                    <a:pt x="7837" y="94"/>
                    <a:pt x="7812" y="94"/>
                  </a:cubicBezTo>
                  <a:cubicBezTo>
                    <a:pt x="7786" y="94"/>
                    <a:pt x="7765" y="72"/>
                    <a:pt x="7765" y="47"/>
                  </a:cubicBezTo>
                  <a:cubicBezTo>
                    <a:pt x="7765" y="21"/>
                    <a:pt x="7786" y="0"/>
                    <a:pt x="7812" y="0"/>
                  </a:cubicBezTo>
                  <a:cubicBezTo>
                    <a:pt x="7837" y="0"/>
                    <a:pt x="7859" y="21"/>
                    <a:pt x="7859" y="47"/>
                  </a:cubicBezTo>
                  <a:close/>
                  <a:moveTo>
                    <a:pt x="7959" y="47"/>
                  </a:moveTo>
                  <a:cubicBezTo>
                    <a:pt x="7959" y="72"/>
                    <a:pt x="7937" y="94"/>
                    <a:pt x="7912" y="94"/>
                  </a:cubicBezTo>
                  <a:cubicBezTo>
                    <a:pt x="7886" y="94"/>
                    <a:pt x="7865" y="72"/>
                    <a:pt x="7865" y="47"/>
                  </a:cubicBezTo>
                  <a:cubicBezTo>
                    <a:pt x="7865" y="21"/>
                    <a:pt x="7886" y="0"/>
                    <a:pt x="7912" y="0"/>
                  </a:cubicBezTo>
                  <a:cubicBezTo>
                    <a:pt x="7937" y="0"/>
                    <a:pt x="7959" y="21"/>
                    <a:pt x="7959" y="47"/>
                  </a:cubicBezTo>
                  <a:close/>
                  <a:moveTo>
                    <a:pt x="8060" y="47"/>
                  </a:moveTo>
                  <a:cubicBezTo>
                    <a:pt x="8060" y="72"/>
                    <a:pt x="8038" y="94"/>
                    <a:pt x="8013" y="94"/>
                  </a:cubicBezTo>
                  <a:cubicBezTo>
                    <a:pt x="7987" y="94"/>
                    <a:pt x="7966" y="72"/>
                    <a:pt x="7966" y="47"/>
                  </a:cubicBezTo>
                  <a:cubicBezTo>
                    <a:pt x="7966" y="21"/>
                    <a:pt x="7987" y="0"/>
                    <a:pt x="8013" y="0"/>
                  </a:cubicBezTo>
                  <a:cubicBezTo>
                    <a:pt x="8038" y="0"/>
                    <a:pt x="8060" y="21"/>
                    <a:pt x="8060" y="47"/>
                  </a:cubicBezTo>
                  <a:close/>
                  <a:moveTo>
                    <a:pt x="8161" y="47"/>
                  </a:moveTo>
                  <a:cubicBezTo>
                    <a:pt x="8161" y="72"/>
                    <a:pt x="8139" y="94"/>
                    <a:pt x="8114" y="94"/>
                  </a:cubicBezTo>
                  <a:cubicBezTo>
                    <a:pt x="8088" y="94"/>
                    <a:pt x="8067" y="72"/>
                    <a:pt x="8067" y="47"/>
                  </a:cubicBezTo>
                  <a:cubicBezTo>
                    <a:pt x="8067" y="21"/>
                    <a:pt x="8088" y="0"/>
                    <a:pt x="8114" y="0"/>
                  </a:cubicBezTo>
                  <a:cubicBezTo>
                    <a:pt x="8139" y="0"/>
                    <a:pt x="8161" y="21"/>
                    <a:pt x="8161" y="47"/>
                  </a:cubicBezTo>
                  <a:close/>
                  <a:moveTo>
                    <a:pt x="8262" y="47"/>
                  </a:moveTo>
                  <a:cubicBezTo>
                    <a:pt x="8262" y="72"/>
                    <a:pt x="8240" y="94"/>
                    <a:pt x="8215" y="94"/>
                  </a:cubicBezTo>
                  <a:cubicBezTo>
                    <a:pt x="8189" y="94"/>
                    <a:pt x="8168" y="72"/>
                    <a:pt x="8168" y="47"/>
                  </a:cubicBezTo>
                  <a:cubicBezTo>
                    <a:pt x="8168" y="21"/>
                    <a:pt x="8189" y="0"/>
                    <a:pt x="8215" y="0"/>
                  </a:cubicBezTo>
                  <a:cubicBezTo>
                    <a:pt x="8240" y="0"/>
                    <a:pt x="8262" y="21"/>
                    <a:pt x="8262" y="47"/>
                  </a:cubicBezTo>
                  <a:close/>
                  <a:moveTo>
                    <a:pt x="8363" y="47"/>
                  </a:moveTo>
                  <a:cubicBezTo>
                    <a:pt x="8363" y="72"/>
                    <a:pt x="8341" y="94"/>
                    <a:pt x="8316" y="94"/>
                  </a:cubicBezTo>
                  <a:cubicBezTo>
                    <a:pt x="8290" y="94"/>
                    <a:pt x="8269" y="72"/>
                    <a:pt x="8269" y="47"/>
                  </a:cubicBezTo>
                  <a:cubicBezTo>
                    <a:pt x="8269" y="21"/>
                    <a:pt x="8290" y="0"/>
                    <a:pt x="8316" y="0"/>
                  </a:cubicBezTo>
                  <a:cubicBezTo>
                    <a:pt x="8341" y="0"/>
                    <a:pt x="8363" y="21"/>
                    <a:pt x="8363" y="47"/>
                  </a:cubicBezTo>
                  <a:close/>
                  <a:moveTo>
                    <a:pt x="8463" y="47"/>
                  </a:moveTo>
                  <a:cubicBezTo>
                    <a:pt x="8463" y="72"/>
                    <a:pt x="8441" y="94"/>
                    <a:pt x="8416" y="94"/>
                  </a:cubicBezTo>
                  <a:cubicBezTo>
                    <a:pt x="8390" y="94"/>
                    <a:pt x="8369" y="72"/>
                    <a:pt x="8369" y="47"/>
                  </a:cubicBezTo>
                  <a:cubicBezTo>
                    <a:pt x="8369" y="21"/>
                    <a:pt x="8390" y="0"/>
                    <a:pt x="8416" y="0"/>
                  </a:cubicBezTo>
                  <a:cubicBezTo>
                    <a:pt x="8441" y="0"/>
                    <a:pt x="8463" y="21"/>
                    <a:pt x="8463" y="47"/>
                  </a:cubicBezTo>
                  <a:close/>
                  <a:moveTo>
                    <a:pt x="8564" y="47"/>
                  </a:moveTo>
                  <a:cubicBezTo>
                    <a:pt x="8564" y="72"/>
                    <a:pt x="8542" y="94"/>
                    <a:pt x="8517" y="94"/>
                  </a:cubicBezTo>
                  <a:cubicBezTo>
                    <a:pt x="8491" y="94"/>
                    <a:pt x="8470" y="72"/>
                    <a:pt x="8470" y="47"/>
                  </a:cubicBezTo>
                  <a:cubicBezTo>
                    <a:pt x="8470" y="21"/>
                    <a:pt x="8491" y="0"/>
                    <a:pt x="8517" y="0"/>
                  </a:cubicBezTo>
                  <a:cubicBezTo>
                    <a:pt x="8542" y="0"/>
                    <a:pt x="8564" y="21"/>
                    <a:pt x="8564" y="47"/>
                  </a:cubicBezTo>
                  <a:close/>
                  <a:moveTo>
                    <a:pt x="8665" y="47"/>
                  </a:moveTo>
                  <a:cubicBezTo>
                    <a:pt x="8665" y="72"/>
                    <a:pt x="8643" y="94"/>
                    <a:pt x="8618" y="94"/>
                  </a:cubicBezTo>
                  <a:cubicBezTo>
                    <a:pt x="8592" y="94"/>
                    <a:pt x="8571" y="72"/>
                    <a:pt x="8571" y="47"/>
                  </a:cubicBezTo>
                  <a:cubicBezTo>
                    <a:pt x="8571" y="21"/>
                    <a:pt x="8592" y="0"/>
                    <a:pt x="8618" y="0"/>
                  </a:cubicBezTo>
                  <a:cubicBezTo>
                    <a:pt x="8643" y="0"/>
                    <a:pt x="8665" y="21"/>
                    <a:pt x="8665" y="47"/>
                  </a:cubicBezTo>
                  <a:close/>
                  <a:moveTo>
                    <a:pt x="8766" y="47"/>
                  </a:moveTo>
                  <a:cubicBezTo>
                    <a:pt x="8766" y="72"/>
                    <a:pt x="8744" y="94"/>
                    <a:pt x="8719" y="94"/>
                  </a:cubicBezTo>
                  <a:cubicBezTo>
                    <a:pt x="8693" y="94"/>
                    <a:pt x="8672" y="72"/>
                    <a:pt x="8672" y="47"/>
                  </a:cubicBezTo>
                  <a:cubicBezTo>
                    <a:pt x="8672" y="21"/>
                    <a:pt x="8693" y="0"/>
                    <a:pt x="8719" y="0"/>
                  </a:cubicBezTo>
                  <a:cubicBezTo>
                    <a:pt x="8744" y="0"/>
                    <a:pt x="8766" y="21"/>
                    <a:pt x="8766" y="47"/>
                  </a:cubicBezTo>
                  <a:close/>
                  <a:moveTo>
                    <a:pt x="8867" y="47"/>
                  </a:moveTo>
                  <a:cubicBezTo>
                    <a:pt x="8867" y="72"/>
                    <a:pt x="8845" y="94"/>
                    <a:pt x="8820" y="94"/>
                  </a:cubicBezTo>
                  <a:cubicBezTo>
                    <a:pt x="8794" y="94"/>
                    <a:pt x="8773" y="72"/>
                    <a:pt x="8773" y="47"/>
                  </a:cubicBezTo>
                  <a:cubicBezTo>
                    <a:pt x="8773" y="21"/>
                    <a:pt x="8794" y="0"/>
                    <a:pt x="8820" y="0"/>
                  </a:cubicBezTo>
                  <a:cubicBezTo>
                    <a:pt x="8845" y="0"/>
                    <a:pt x="8867" y="21"/>
                    <a:pt x="8867" y="47"/>
                  </a:cubicBezTo>
                  <a:close/>
                  <a:moveTo>
                    <a:pt x="8967" y="47"/>
                  </a:moveTo>
                  <a:cubicBezTo>
                    <a:pt x="8967" y="72"/>
                    <a:pt x="8945" y="94"/>
                    <a:pt x="8920" y="94"/>
                  </a:cubicBezTo>
                  <a:cubicBezTo>
                    <a:pt x="8894" y="94"/>
                    <a:pt x="8873" y="72"/>
                    <a:pt x="8873" y="47"/>
                  </a:cubicBezTo>
                  <a:cubicBezTo>
                    <a:pt x="8873" y="21"/>
                    <a:pt x="8894" y="0"/>
                    <a:pt x="8920" y="0"/>
                  </a:cubicBezTo>
                  <a:cubicBezTo>
                    <a:pt x="8945" y="0"/>
                    <a:pt x="8967" y="21"/>
                    <a:pt x="8967" y="47"/>
                  </a:cubicBezTo>
                  <a:close/>
                  <a:moveTo>
                    <a:pt x="9068" y="47"/>
                  </a:moveTo>
                  <a:cubicBezTo>
                    <a:pt x="9068" y="72"/>
                    <a:pt x="9046" y="94"/>
                    <a:pt x="9021" y="94"/>
                  </a:cubicBezTo>
                  <a:cubicBezTo>
                    <a:pt x="8995" y="94"/>
                    <a:pt x="8974" y="72"/>
                    <a:pt x="8974" y="47"/>
                  </a:cubicBezTo>
                  <a:cubicBezTo>
                    <a:pt x="8974" y="21"/>
                    <a:pt x="8995" y="0"/>
                    <a:pt x="9021" y="0"/>
                  </a:cubicBezTo>
                  <a:cubicBezTo>
                    <a:pt x="9046" y="0"/>
                    <a:pt x="9068" y="21"/>
                    <a:pt x="9068" y="47"/>
                  </a:cubicBezTo>
                  <a:close/>
                  <a:moveTo>
                    <a:pt x="9169" y="47"/>
                  </a:moveTo>
                  <a:cubicBezTo>
                    <a:pt x="9169" y="72"/>
                    <a:pt x="9147" y="94"/>
                    <a:pt x="9122" y="94"/>
                  </a:cubicBezTo>
                  <a:cubicBezTo>
                    <a:pt x="9096" y="94"/>
                    <a:pt x="9075" y="72"/>
                    <a:pt x="9075" y="47"/>
                  </a:cubicBezTo>
                  <a:cubicBezTo>
                    <a:pt x="9075" y="21"/>
                    <a:pt x="9096" y="0"/>
                    <a:pt x="9122" y="0"/>
                  </a:cubicBezTo>
                  <a:cubicBezTo>
                    <a:pt x="9147" y="0"/>
                    <a:pt x="9169" y="21"/>
                    <a:pt x="9169" y="47"/>
                  </a:cubicBezTo>
                  <a:close/>
                  <a:moveTo>
                    <a:pt x="9270" y="47"/>
                  </a:moveTo>
                  <a:cubicBezTo>
                    <a:pt x="9270" y="72"/>
                    <a:pt x="9248" y="94"/>
                    <a:pt x="9223" y="94"/>
                  </a:cubicBezTo>
                  <a:cubicBezTo>
                    <a:pt x="9197" y="94"/>
                    <a:pt x="9176" y="72"/>
                    <a:pt x="9176" y="47"/>
                  </a:cubicBezTo>
                  <a:cubicBezTo>
                    <a:pt x="9176" y="21"/>
                    <a:pt x="9197" y="0"/>
                    <a:pt x="9223" y="0"/>
                  </a:cubicBezTo>
                  <a:cubicBezTo>
                    <a:pt x="9248" y="0"/>
                    <a:pt x="9270" y="21"/>
                    <a:pt x="9270" y="47"/>
                  </a:cubicBezTo>
                  <a:close/>
                  <a:moveTo>
                    <a:pt x="9371" y="47"/>
                  </a:moveTo>
                  <a:cubicBezTo>
                    <a:pt x="9371" y="72"/>
                    <a:pt x="9349" y="94"/>
                    <a:pt x="9324" y="94"/>
                  </a:cubicBezTo>
                  <a:cubicBezTo>
                    <a:pt x="9298" y="94"/>
                    <a:pt x="9277" y="72"/>
                    <a:pt x="9277" y="47"/>
                  </a:cubicBezTo>
                  <a:cubicBezTo>
                    <a:pt x="9277" y="21"/>
                    <a:pt x="9298" y="0"/>
                    <a:pt x="9324" y="0"/>
                  </a:cubicBezTo>
                  <a:cubicBezTo>
                    <a:pt x="9349" y="0"/>
                    <a:pt x="9371" y="21"/>
                    <a:pt x="9371" y="47"/>
                  </a:cubicBezTo>
                  <a:close/>
                  <a:moveTo>
                    <a:pt x="9471" y="47"/>
                  </a:moveTo>
                  <a:cubicBezTo>
                    <a:pt x="9471" y="72"/>
                    <a:pt x="9449" y="94"/>
                    <a:pt x="9424" y="94"/>
                  </a:cubicBezTo>
                  <a:cubicBezTo>
                    <a:pt x="9398" y="94"/>
                    <a:pt x="9377" y="72"/>
                    <a:pt x="9377" y="47"/>
                  </a:cubicBezTo>
                  <a:cubicBezTo>
                    <a:pt x="9377" y="21"/>
                    <a:pt x="9398" y="0"/>
                    <a:pt x="9424" y="0"/>
                  </a:cubicBezTo>
                  <a:cubicBezTo>
                    <a:pt x="9449" y="0"/>
                    <a:pt x="9471" y="21"/>
                    <a:pt x="9471" y="47"/>
                  </a:cubicBezTo>
                  <a:close/>
                  <a:moveTo>
                    <a:pt x="9572" y="47"/>
                  </a:moveTo>
                  <a:cubicBezTo>
                    <a:pt x="9572" y="72"/>
                    <a:pt x="9550" y="94"/>
                    <a:pt x="9525" y="94"/>
                  </a:cubicBezTo>
                  <a:cubicBezTo>
                    <a:pt x="9499" y="94"/>
                    <a:pt x="9478" y="72"/>
                    <a:pt x="9478" y="47"/>
                  </a:cubicBezTo>
                  <a:cubicBezTo>
                    <a:pt x="9478" y="21"/>
                    <a:pt x="9499" y="0"/>
                    <a:pt x="9525" y="0"/>
                  </a:cubicBezTo>
                  <a:cubicBezTo>
                    <a:pt x="9550" y="0"/>
                    <a:pt x="9572" y="21"/>
                    <a:pt x="9572" y="47"/>
                  </a:cubicBezTo>
                  <a:close/>
                  <a:moveTo>
                    <a:pt x="9673" y="47"/>
                  </a:moveTo>
                  <a:cubicBezTo>
                    <a:pt x="9673" y="72"/>
                    <a:pt x="9651" y="94"/>
                    <a:pt x="9626" y="94"/>
                  </a:cubicBezTo>
                  <a:cubicBezTo>
                    <a:pt x="9600" y="94"/>
                    <a:pt x="9579" y="72"/>
                    <a:pt x="9579" y="47"/>
                  </a:cubicBezTo>
                  <a:cubicBezTo>
                    <a:pt x="9579" y="21"/>
                    <a:pt x="9600" y="0"/>
                    <a:pt x="9626" y="0"/>
                  </a:cubicBezTo>
                  <a:cubicBezTo>
                    <a:pt x="9651" y="0"/>
                    <a:pt x="9673" y="21"/>
                    <a:pt x="9673" y="47"/>
                  </a:cubicBezTo>
                  <a:close/>
                  <a:moveTo>
                    <a:pt x="9774" y="47"/>
                  </a:moveTo>
                  <a:cubicBezTo>
                    <a:pt x="9774" y="72"/>
                    <a:pt x="9752" y="94"/>
                    <a:pt x="9727" y="94"/>
                  </a:cubicBezTo>
                  <a:cubicBezTo>
                    <a:pt x="9701" y="94"/>
                    <a:pt x="9680" y="72"/>
                    <a:pt x="9680" y="47"/>
                  </a:cubicBezTo>
                  <a:cubicBezTo>
                    <a:pt x="9680" y="21"/>
                    <a:pt x="9701" y="0"/>
                    <a:pt x="9727" y="0"/>
                  </a:cubicBezTo>
                  <a:cubicBezTo>
                    <a:pt x="9752" y="0"/>
                    <a:pt x="9774" y="21"/>
                    <a:pt x="9774" y="47"/>
                  </a:cubicBezTo>
                  <a:close/>
                  <a:moveTo>
                    <a:pt x="9875" y="47"/>
                  </a:moveTo>
                  <a:cubicBezTo>
                    <a:pt x="9875" y="72"/>
                    <a:pt x="9853" y="94"/>
                    <a:pt x="9828" y="94"/>
                  </a:cubicBezTo>
                  <a:cubicBezTo>
                    <a:pt x="9802" y="94"/>
                    <a:pt x="9781" y="72"/>
                    <a:pt x="9781" y="47"/>
                  </a:cubicBezTo>
                  <a:cubicBezTo>
                    <a:pt x="9781" y="21"/>
                    <a:pt x="9802" y="0"/>
                    <a:pt x="9828" y="0"/>
                  </a:cubicBezTo>
                  <a:cubicBezTo>
                    <a:pt x="9853" y="0"/>
                    <a:pt x="9875" y="21"/>
                    <a:pt x="9875" y="47"/>
                  </a:cubicBezTo>
                  <a:close/>
                  <a:moveTo>
                    <a:pt x="9975" y="47"/>
                  </a:moveTo>
                  <a:cubicBezTo>
                    <a:pt x="9975" y="72"/>
                    <a:pt x="9953" y="94"/>
                    <a:pt x="9928" y="94"/>
                  </a:cubicBezTo>
                  <a:cubicBezTo>
                    <a:pt x="9902" y="94"/>
                    <a:pt x="9881" y="72"/>
                    <a:pt x="9881" y="47"/>
                  </a:cubicBezTo>
                  <a:cubicBezTo>
                    <a:pt x="9881" y="21"/>
                    <a:pt x="9902" y="0"/>
                    <a:pt x="9928" y="0"/>
                  </a:cubicBezTo>
                  <a:cubicBezTo>
                    <a:pt x="9953" y="0"/>
                    <a:pt x="9975" y="21"/>
                    <a:pt x="9975" y="47"/>
                  </a:cubicBezTo>
                  <a:close/>
                  <a:moveTo>
                    <a:pt x="10076" y="47"/>
                  </a:moveTo>
                  <a:cubicBezTo>
                    <a:pt x="10076" y="72"/>
                    <a:pt x="10054" y="94"/>
                    <a:pt x="10029" y="94"/>
                  </a:cubicBezTo>
                  <a:cubicBezTo>
                    <a:pt x="10003" y="94"/>
                    <a:pt x="9982" y="72"/>
                    <a:pt x="9982" y="47"/>
                  </a:cubicBezTo>
                  <a:cubicBezTo>
                    <a:pt x="9982" y="21"/>
                    <a:pt x="10003" y="0"/>
                    <a:pt x="10029" y="0"/>
                  </a:cubicBezTo>
                  <a:cubicBezTo>
                    <a:pt x="10054" y="0"/>
                    <a:pt x="10076" y="21"/>
                    <a:pt x="10076" y="47"/>
                  </a:cubicBezTo>
                  <a:close/>
                  <a:moveTo>
                    <a:pt x="10177" y="47"/>
                  </a:moveTo>
                  <a:cubicBezTo>
                    <a:pt x="10177" y="72"/>
                    <a:pt x="10155" y="94"/>
                    <a:pt x="10130" y="94"/>
                  </a:cubicBezTo>
                  <a:cubicBezTo>
                    <a:pt x="10104" y="94"/>
                    <a:pt x="10083" y="72"/>
                    <a:pt x="10083" y="47"/>
                  </a:cubicBezTo>
                  <a:cubicBezTo>
                    <a:pt x="10083" y="21"/>
                    <a:pt x="10104" y="0"/>
                    <a:pt x="10130" y="0"/>
                  </a:cubicBezTo>
                  <a:cubicBezTo>
                    <a:pt x="10155" y="0"/>
                    <a:pt x="10177" y="21"/>
                    <a:pt x="10177" y="47"/>
                  </a:cubicBezTo>
                  <a:close/>
                  <a:moveTo>
                    <a:pt x="10278" y="47"/>
                  </a:moveTo>
                  <a:cubicBezTo>
                    <a:pt x="10278" y="72"/>
                    <a:pt x="10256" y="94"/>
                    <a:pt x="10231" y="94"/>
                  </a:cubicBezTo>
                  <a:cubicBezTo>
                    <a:pt x="10205" y="94"/>
                    <a:pt x="10184" y="72"/>
                    <a:pt x="10184" y="47"/>
                  </a:cubicBezTo>
                  <a:cubicBezTo>
                    <a:pt x="10184" y="21"/>
                    <a:pt x="10205" y="0"/>
                    <a:pt x="10231" y="0"/>
                  </a:cubicBezTo>
                  <a:cubicBezTo>
                    <a:pt x="10256" y="0"/>
                    <a:pt x="10278" y="21"/>
                    <a:pt x="10278" y="47"/>
                  </a:cubicBezTo>
                  <a:close/>
                  <a:moveTo>
                    <a:pt x="10379" y="47"/>
                  </a:moveTo>
                  <a:cubicBezTo>
                    <a:pt x="10379" y="72"/>
                    <a:pt x="10357" y="94"/>
                    <a:pt x="10332" y="94"/>
                  </a:cubicBezTo>
                  <a:cubicBezTo>
                    <a:pt x="10306" y="94"/>
                    <a:pt x="10285" y="72"/>
                    <a:pt x="10285" y="47"/>
                  </a:cubicBezTo>
                  <a:cubicBezTo>
                    <a:pt x="10285" y="21"/>
                    <a:pt x="10306" y="0"/>
                    <a:pt x="10332" y="0"/>
                  </a:cubicBezTo>
                  <a:cubicBezTo>
                    <a:pt x="10357" y="0"/>
                    <a:pt x="10379" y="21"/>
                    <a:pt x="10379" y="47"/>
                  </a:cubicBezTo>
                  <a:close/>
                  <a:moveTo>
                    <a:pt x="10479" y="47"/>
                  </a:moveTo>
                  <a:cubicBezTo>
                    <a:pt x="10479" y="72"/>
                    <a:pt x="10457" y="94"/>
                    <a:pt x="10432" y="94"/>
                  </a:cubicBezTo>
                  <a:cubicBezTo>
                    <a:pt x="10406" y="94"/>
                    <a:pt x="10385" y="72"/>
                    <a:pt x="10385" y="47"/>
                  </a:cubicBezTo>
                  <a:cubicBezTo>
                    <a:pt x="10385" y="21"/>
                    <a:pt x="10406" y="0"/>
                    <a:pt x="10432" y="0"/>
                  </a:cubicBezTo>
                  <a:cubicBezTo>
                    <a:pt x="10457" y="0"/>
                    <a:pt x="10479" y="21"/>
                    <a:pt x="10479" y="47"/>
                  </a:cubicBezTo>
                  <a:close/>
                  <a:moveTo>
                    <a:pt x="10580" y="47"/>
                  </a:moveTo>
                  <a:cubicBezTo>
                    <a:pt x="10580" y="72"/>
                    <a:pt x="10558" y="94"/>
                    <a:pt x="10533" y="94"/>
                  </a:cubicBezTo>
                  <a:cubicBezTo>
                    <a:pt x="10507" y="94"/>
                    <a:pt x="10486" y="72"/>
                    <a:pt x="10486" y="47"/>
                  </a:cubicBezTo>
                  <a:cubicBezTo>
                    <a:pt x="10486" y="21"/>
                    <a:pt x="10507" y="0"/>
                    <a:pt x="10533" y="0"/>
                  </a:cubicBezTo>
                  <a:cubicBezTo>
                    <a:pt x="10558" y="0"/>
                    <a:pt x="10580" y="21"/>
                    <a:pt x="10580" y="47"/>
                  </a:cubicBezTo>
                  <a:close/>
                  <a:moveTo>
                    <a:pt x="10681" y="47"/>
                  </a:moveTo>
                  <a:cubicBezTo>
                    <a:pt x="10681" y="72"/>
                    <a:pt x="10659" y="94"/>
                    <a:pt x="10634" y="94"/>
                  </a:cubicBezTo>
                  <a:cubicBezTo>
                    <a:pt x="10608" y="94"/>
                    <a:pt x="10587" y="72"/>
                    <a:pt x="10587" y="47"/>
                  </a:cubicBezTo>
                  <a:cubicBezTo>
                    <a:pt x="10587" y="21"/>
                    <a:pt x="10608" y="0"/>
                    <a:pt x="10634" y="0"/>
                  </a:cubicBezTo>
                  <a:cubicBezTo>
                    <a:pt x="10659" y="0"/>
                    <a:pt x="10681" y="21"/>
                    <a:pt x="10681" y="47"/>
                  </a:cubicBezTo>
                  <a:close/>
                  <a:moveTo>
                    <a:pt x="10782" y="47"/>
                  </a:moveTo>
                  <a:cubicBezTo>
                    <a:pt x="10782" y="72"/>
                    <a:pt x="10760" y="94"/>
                    <a:pt x="10735" y="94"/>
                  </a:cubicBezTo>
                  <a:cubicBezTo>
                    <a:pt x="10709" y="94"/>
                    <a:pt x="10688" y="72"/>
                    <a:pt x="10688" y="47"/>
                  </a:cubicBezTo>
                  <a:cubicBezTo>
                    <a:pt x="10688" y="21"/>
                    <a:pt x="10709" y="0"/>
                    <a:pt x="10735" y="0"/>
                  </a:cubicBezTo>
                  <a:cubicBezTo>
                    <a:pt x="10760" y="0"/>
                    <a:pt x="10782" y="21"/>
                    <a:pt x="10782" y="47"/>
                  </a:cubicBezTo>
                  <a:close/>
                  <a:moveTo>
                    <a:pt x="10883" y="47"/>
                  </a:moveTo>
                  <a:cubicBezTo>
                    <a:pt x="10883" y="72"/>
                    <a:pt x="10861" y="94"/>
                    <a:pt x="10836" y="94"/>
                  </a:cubicBezTo>
                  <a:cubicBezTo>
                    <a:pt x="10810" y="94"/>
                    <a:pt x="10789" y="72"/>
                    <a:pt x="10789" y="47"/>
                  </a:cubicBezTo>
                  <a:cubicBezTo>
                    <a:pt x="10789" y="21"/>
                    <a:pt x="10810" y="0"/>
                    <a:pt x="10836" y="0"/>
                  </a:cubicBezTo>
                  <a:cubicBezTo>
                    <a:pt x="10861" y="0"/>
                    <a:pt x="10883" y="21"/>
                    <a:pt x="10883" y="47"/>
                  </a:cubicBezTo>
                  <a:close/>
                  <a:moveTo>
                    <a:pt x="10983" y="47"/>
                  </a:moveTo>
                  <a:cubicBezTo>
                    <a:pt x="10983" y="72"/>
                    <a:pt x="10961" y="94"/>
                    <a:pt x="10936" y="94"/>
                  </a:cubicBezTo>
                  <a:cubicBezTo>
                    <a:pt x="10910" y="94"/>
                    <a:pt x="10889" y="72"/>
                    <a:pt x="10889" y="47"/>
                  </a:cubicBezTo>
                  <a:cubicBezTo>
                    <a:pt x="10889" y="21"/>
                    <a:pt x="10910" y="0"/>
                    <a:pt x="10936" y="0"/>
                  </a:cubicBezTo>
                  <a:cubicBezTo>
                    <a:pt x="10961" y="0"/>
                    <a:pt x="10983" y="21"/>
                    <a:pt x="10983" y="47"/>
                  </a:cubicBezTo>
                  <a:close/>
                  <a:moveTo>
                    <a:pt x="11084" y="47"/>
                  </a:moveTo>
                  <a:cubicBezTo>
                    <a:pt x="11084" y="72"/>
                    <a:pt x="11062" y="94"/>
                    <a:pt x="11037" y="94"/>
                  </a:cubicBezTo>
                  <a:cubicBezTo>
                    <a:pt x="11011" y="94"/>
                    <a:pt x="10990" y="72"/>
                    <a:pt x="10990" y="47"/>
                  </a:cubicBezTo>
                  <a:cubicBezTo>
                    <a:pt x="10990" y="21"/>
                    <a:pt x="11011" y="0"/>
                    <a:pt x="11037" y="0"/>
                  </a:cubicBezTo>
                  <a:cubicBezTo>
                    <a:pt x="11062" y="0"/>
                    <a:pt x="11084" y="21"/>
                    <a:pt x="11084" y="47"/>
                  </a:cubicBezTo>
                  <a:close/>
                  <a:moveTo>
                    <a:pt x="11185" y="47"/>
                  </a:moveTo>
                  <a:cubicBezTo>
                    <a:pt x="11185" y="72"/>
                    <a:pt x="11163" y="94"/>
                    <a:pt x="11138" y="94"/>
                  </a:cubicBezTo>
                  <a:cubicBezTo>
                    <a:pt x="11112" y="94"/>
                    <a:pt x="11091" y="72"/>
                    <a:pt x="11091" y="47"/>
                  </a:cubicBezTo>
                  <a:cubicBezTo>
                    <a:pt x="11091" y="21"/>
                    <a:pt x="11112" y="0"/>
                    <a:pt x="11138" y="0"/>
                  </a:cubicBezTo>
                  <a:cubicBezTo>
                    <a:pt x="11163" y="0"/>
                    <a:pt x="11185" y="21"/>
                    <a:pt x="11185" y="47"/>
                  </a:cubicBezTo>
                  <a:close/>
                  <a:moveTo>
                    <a:pt x="11286" y="47"/>
                  </a:moveTo>
                  <a:cubicBezTo>
                    <a:pt x="11286" y="72"/>
                    <a:pt x="11264" y="94"/>
                    <a:pt x="11239" y="94"/>
                  </a:cubicBezTo>
                  <a:cubicBezTo>
                    <a:pt x="11213" y="94"/>
                    <a:pt x="11192" y="72"/>
                    <a:pt x="11192" y="47"/>
                  </a:cubicBezTo>
                  <a:cubicBezTo>
                    <a:pt x="11192" y="21"/>
                    <a:pt x="11213" y="0"/>
                    <a:pt x="11239" y="0"/>
                  </a:cubicBezTo>
                  <a:cubicBezTo>
                    <a:pt x="11264" y="0"/>
                    <a:pt x="11286" y="21"/>
                    <a:pt x="11286" y="47"/>
                  </a:cubicBezTo>
                  <a:close/>
                  <a:moveTo>
                    <a:pt x="11387" y="47"/>
                  </a:moveTo>
                  <a:cubicBezTo>
                    <a:pt x="11387" y="72"/>
                    <a:pt x="11365" y="94"/>
                    <a:pt x="11340" y="94"/>
                  </a:cubicBezTo>
                  <a:cubicBezTo>
                    <a:pt x="11314" y="94"/>
                    <a:pt x="11293" y="72"/>
                    <a:pt x="11293" y="47"/>
                  </a:cubicBezTo>
                  <a:cubicBezTo>
                    <a:pt x="11293" y="21"/>
                    <a:pt x="11314" y="0"/>
                    <a:pt x="11340" y="0"/>
                  </a:cubicBezTo>
                  <a:cubicBezTo>
                    <a:pt x="11365" y="0"/>
                    <a:pt x="11387" y="21"/>
                    <a:pt x="11387" y="47"/>
                  </a:cubicBezTo>
                  <a:close/>
                  <a:moveTo>
                    <a:pt x="11487" y="47"/>
                  </a:moveTo>
                  <a:cubicBezTo>
                    <a:pt x="11487" y="72"/>
                    <a:pt x="11465" y="94"/>
                    <a:pt x="11440" y="94"/>
                  </a:cubicBezTo>
                  <a:cubicBezTo>
                    <a:pt x="11414" y="94"/>
                    <a:pt x="11393" y="72"/>
                    <a:pt x="11393" y="47"/>
                  </a:cubicBezTo>
                  <a:cubicBezTo>
                    <a:pt x="11393" y="21"/>
                    <a:pt x="11414" y="0"/>
                    <a:pt x="11440" y="0"/>
                  </a:cubicBezTo>
                  <a:cubicBezTo>
                    <a:pt x="11465" y="0"/>
                    <a:pt x="11487" y="21"/>
                    <a:pt x="11487" y="47"/>
                  </a:cubicBezTo>
                  <a:close/>
                  <a:moveTo>
                    <a:pt x="11588" y="47"/>
                  </a:moveTo>
                  <a:cubicBezTo>
                    <a:pt x="11588" y="72"/>
                    <a:pt x="11566" y="94"/>
                    <a:pt x="11541" y="94"/>
                  </a:cubicBezTo>
                  <a:cubicBezTo>
                    <a:pt x="11515" y="94"/>
                    <a:pt x="11494" y="72"/>
                    <a:pt x="11494" y="47"/>
                  </a:cubicBezTo>
                  <a:cubicBezTo>
                    <a:pt x="11494" y="21"/>
                    <a:pt x="11515" y="0"/>
                    <a:pt x="11541" y="0"/>
                  </a:cubicBezTo>
                  <a:cubicBezTo>
                    <a:pt x="11566" y="0"/>
                    <a:pt x="11588" y="21"/>
                    <a:pt x="11588" y="47"/>
                  </a:cubicBezTo>
                  <a:close/>
                  <a:moveTo>
                    <a:pt x="11689" y="47"/>
                  </a:moveTo>
                  <a:cubicBezTo>
                    <a:pt x="11689" y="72"/>
                    <a:pt x="11667" y="94"/>
                    <a:pt x="11642" y="94"/>
                  </a:cubicBezTo>
                  <a:cubicBezTo>
                    <a:pt x="11616" y="94"/>
                    <a:pt x="11595" y="72"/>
                    <a:pt x="11595" y="47"/>
                  </a:cubicBezTo>
                  <a:cubicBezTo>
                    <a:pt x="11595" y="21"/>
                    <a:pt x="11616" y="0"/>
                    <a:pt x="11642" y="0"/>
                  </a:cubicBezTo>
                  <a:cubicBezTo>
                    <a:pt x="11667" y="0"/>
                    <a:pt x="11689" y="21"/>
                    <a:pt x="11689" y="47"/>
                  </a:cubicBezTo>
                  <a:close/>
                  <a:moveTo>
                    <a:pt x="11790" y="47"/>
                  </a:moveTo>
                  <a:cubicBezTo>
                    <a:pt x="11790" y="72"/>
                    <a:pt x="11768" y="94"/>
                    <a:pt x="11743" y="94"/>
                  </a:cubicBezTo>
                  <a:cubicBezTo>
                    <a:pt x="11717" y="94"/>
                    <a:pt x="11696" y="72"/>
                    <a:pt x="11696" y="47"/>
                  </a:cubicBezTo>
                  <a:cubicBezTo>
                    <a:pt x="11696" y="21"/>
                    <a:pt x="11717" y="0"/>
                    <a:pt x="11743" y="0"/>
                  </a:cubicBezTo>
                  <a:cubicBezTo>
                    <a:pt x="11768" y="0"/>
                    <a:pt x="11790" y="21"/>
                    <a:pt x="11790" y="47"/>
                  </a:cubicBezTo>
                  <a:close/>
                  <a:moveTo>
                    <a:pt x="11891" y="47"/>
                  </a:moveTo>
                  <a:cubicBezTo>
                    <a:pt x="11891" y="72"/>
                    <a:pt x="11869" y="94"/>
                    <a:pt x="11844" y="94"/>
                  </a:cubicBezTo>
                  <a:cubicBezTo>
                    <a:pt x="11818" y="94"/>
                    <a:pt x="11797" y="72"/>
                    <a:pt x="11797" y="47"/>
                  </a:cubicBezTo>
                  <a:cubicBezTo>
                    <a:pt x="11797" y="21"/>
                    <a:pt x="11818" y="0"/>
                    <a:pt x="11844" y="0"/>
                  </a:cubicBezTo>
                  <a:cubicBezTo>
                    <a:pt x="11869" y="0"/>
                    <a:pt x="11891" y="21"/>
                    <a:pt x="11891" y="47"/>
                  </a:cubicBezTo>
                  <a:close/>
                  <a:moveTo>
                    <a:pt x="11991" y="47"/>
                  </a:moveTo>
                  <a:cubicBezTo>
                    <a:pt x="11991" y="72"/>
                    <a:pt x="11969" y="94"/>
                    <a:pt x="11944" y="94"/>
                  </a:cubicBezTo>
                  <a:cubicBezTo>
                    <a:pt x="11918" y="94"/>
                    <a:pt x="11897" y="72"/>
                    <a:pt x="11897" y="47"/>
                  </a:cubicBezTo>
                  <a:cubicBezTo>
                    <a:pt x="11897" y="21"/>
                    <a:pt x="11918" y="0"/>
                    <a:pt x="11944" y="0"/>
                  </a:cubicBezTo>
                  <a:cubicBezTo>
                    <a:pt x="11969" y="0"/>
                    <a:pt x="11991" y="21"/>
                    <a:pt x="11991" y="47"/>
                  </a:cubicBezTo>
                  <a:close/>
                  <a:moveTo>
                    <a:pt x="12092" y="47"/>
                  </a:moveTo>
                  <a:cubicBezTo>
                    <a:pt x="12092" y="72"/>
                    <a:pt x="12070" y="94"/>
                    <a:pt x="12045" y="94"/>
                  </a:cubicBezTo>
                  <a:cubicBezTo>
                    <a:pt x="12019" y="94"/>
                    <a:pt x="11998" y="72"/>
                    <a:pt x="11998" y="47"/>
                  </a:cubicBezTo>
                  <a:cubicBezTo>
                    <a:pt x="11998" y="21"/>
                    <a:pt x="12019" y="0"/>
                    <a:pt x="12045" y="0"/>
                  </a:cubicBezTo>
                  <a:cubicBezTo>
                    <a:pt x="12070" y="0"/>
                    <a:pt x="12092" y="21"/>
                    <a:pt x="12092" y="47"/>
                  </a:cubicBezTo>
                  <a:close/>
                  <a:moveTo>
                    <a:pt x="12193" y="47"/>
                  </a:moveTo>
                  <a:cubicBezTo>
                    <a:pt x="12193" y="72"/>
                    <a:pt x="12171" y="94"/>
                    <a:pt x="12146" y="94"/>
                  </a:cubicBezTo>
                  <a:cubicBezTo>
                    <a:pt x="12120" y="94"/>
                    <a:pt x="12099" y="72"/>
                    <a:pt x="12099" y="47"/>
                  </a:cubicBezTo>
                  <a:cubicBezTo>
                    <a:pt x="12099" y="21"/>
                    <a:pt x="12120" y="0"/>
                    <a:pt x="12146" y="0"/>
                  </a:cubicBezTo>
                  <a:cubicBezTo>
                    <a:pt x="12171" y="0"/>
                    <a:pt x="12193" y="21"/>
                    <a:pt x="12193" y="47"/>
                  </a:cubicBezTo>
                  <a:close/>
                  <a:moveTo>
                    <a:pt x="12294" y="47"/>
                  </a:moveTo>
                  <a:cubicBezTo>
                    <a:pt x="12294" y="72"/>
                    <a:pt x="12272" y="94"/>
                    <a:pt x="12247" y="94"/>
                  </a:cubicBezTo>
                  <a:cubicBezTo>
                    <a:pt x="12221" y="94"/>
                    <a:pt x="12200" y="72"/>
                    <a:pt x="12200" y="47"/>
                  </a:cubicBezTo>
                  <a:cubicBezTo>
                    <a:pt x="12200" y="21"/>
                    <a:pt x="12221" y="0"/>
                    <a:pt x="12247" y="0"/>
                  </a:cubicBezTo>
                  <a:cubicBezTo>
                    <a:pt x="12272" y="0"/>
                    <a:pt x="12294" y="21"/>
                    <a:pt x="12294" y="47"/>
                  </a:cubicBezTo>
                  <a:close/>
                  <a:moveTo>
                    <a:pt x="12395" y="47"/>
                  </a:moveTo>
                  <a:cubicBezTo>
                    <a:pt x="12395" y="72"/>
                    <a:pt x="12373" y="94"/>
                    <a:pt x="12348" y="94"/>
                  </a:cubicBezTo>
                  <a:cubicBezTo>
                    <a:pt x="12322" y="94"/>
                    <a:pt x="12301" y="72"/>
                    <a:pt x="12301" y="47"/>
                  </a:cubicBezTo>
                  <a:cubicBezTo>
                    <a:pt x="12301" y="21"/>
                    <a:pt x="12322" y="0"/>
                    <a:pt x="12348" y="0"/>
                  </a:cubicBezTo>
                  <a:cubicBezTo>
                    <a:pt x="12373" y="0"/>
                    <a:pt x="12395" y="21"/>
                    <a:pt x="12395" y="47"/>
                  </a:cubicBezTo>
                  <a:close/>
                  <a:moveTo>
                    <a:pt x="12495" y="47"/>
                  </a:moveTo>
                  <a:cubicBezTo>
                    <a:pt x="12495" y="72"/>
                    <a:pt x="12473" y="94"/>
                    <a:pt x="12448" y="94"/>
                  </a:cubicBezTo>
                  <a:cubicBezTo>
                    <a:pt x="12422" y="94"/>
                    <a:pt x="12401" y="72"/>
                    <a:pt x="12401" y="47"/>
                  </a:cubicBezTo>
                  <a:cubicBezTo>
                    <a:pt x="12401" y="21"/>
                    <a:pt x="12422" y="0"/>
                    <a:pt x="12448" y="0"/>
                  </a:cubicBezTo>
                  <a:cubicBezTo>
                    <a:pt x="12473" y="0"/>
                    <a:pt x="12495" y="21"/>
                    <a:pt x="12495" y="47"/>
                  </a:cubicBezTo>
                  <a:close/>
                  <a:moveTo>
                    <a:pt x="12596" y="47"/>
                  </a:moveTo>
                  <a:cubicBezTo>
                    <a:pt x="12596" y="72"/>
                    <a:pt x="12574" y="94"/>
                    <a:pt x="12549" y="94"/>
                  </a:cubicBezTo>
                  <a:cubicBezTo>
                    <a:pt x="12523" y="94"/>
                    <a:pt x="12502" y="72"/>
                    <a:pt x="12502" y="47"/>
                  </a:cubicBezTo>
                  <a:cubicBezTo>
                    <a:pt x="12502" y="21"/>
                    <a:pt x="12523" y="0"/>
                    <a:pt x="12549" y="0"/>
                  </a:cubicBezTo>
                  <a:cubicBezTo>
                    <a:pt x="12574" y="0"/>
                    <a:pt x="12596" y="21"/>
                    <a:pt x="12596" y="47"/>
                  </a:cubicBezTo>
                  <a:close/>
                  <a:moveTo>
                    <a:pt x="97" y="373"/>
                  </a:moveTo>
                  <a:cubicBezTo>
                    <a:pt x="97" y="398"/>
                    <a:pt x="75" y="420"/>
                    <a:pt x="50" y="420"/>
                  </a:cubicBezTo>
                  <a:cubicBezTo>
                    <a:pt x="24" y="420"/>
                    <a:pt x="3" y="398"/>
                    <a:pt x="3" y="373"/>
                  </a:cubicBezTo>
                  <a:cubicBezTo>
                    <a:pt x="3" y="347"/>
                    <a:pt x="24" y="326"/>
                    <a:pt x="50" y="326"/>
                  </a:cubicBezTo>
                  <a:cubicBezTo>
                    <a:pt x="75" y="326"/>
                    <a:pt x="97" y="347"/>
                    <a:pt x="97" y="373"/>
                  </a:cubicBezTo>
                  <a:close/>
                  <a:moveTo>
                    <a:pt x="198" y="373"/>
                  </a:moveTo>
                  <a:cubicBezTo>
                    <a:pt x="198" y="398"/>
                    <a:pt x="176" y="420"/>
                    <a:pt x="151" y="420"/>
                  </a:cubicBezTo>
                  <a:cubicBezTo>
                    <a:pt x="125" y="420"/>
                    <a:pt x="104" y="398"/>
                    <a:pt x="104" y="373"/>
                  </a:cubicBezTo>
                  <a:cubicBezTo>
                    <a:pt x="104" y="347"/>
                    <a:pt x="125" y="326"/>
                    <a:pt x="151" y="326"/>
                  </a:cubicBezTo>
                  <a:cubicBezTo>
                    <a:pt x="176" y="326"/>
                    <a:pt x="198" y="347"/>
                    <a:pt x="198" y="373"/>
                  </a:cubicBezTo>
                  <a:close/>
                  <a:moveTo>
                    <a:pt x="299" y="373"/>
                  </a:moveTo>
                  <a:cubicBezTo>
                    <a:pt x="299" y="398"/>
                    <a:pt x="277" y="420"/>
                    <a:pt x="252" y="420"/>
                  </a:cubicBezTo>
                  <a:cubicBezTo>
                    <a:pt x="226" y="420"/>
                    <a:pt x="205" y="398"/>
                    <a:pt x="205" y="373"/>
                  </a:cubicBezTo>
                  <a:cubicBezTo>
                    <a:pt x="205" y="347"/>
                    <a:pt x="226" y="326"/>
                    <a:pt x="252" y="326"/>
                  </a:cubicBezTo>
                  <a:cubicBezTo>
                    <a:pt x="277" y="326"/>
                    <a:pt x="299" y="347"/>
                    <a:pt x="299" y="373"/>
                  </a:cubicBezTo>
                  <a:close/>
                  <a:moveTo>
                    <a:pt x="399" y="373"/>
                  </a:moveTo>
                  <a:cubicBezTo>
                    <a:pt x="399" y="398"/>
                    <a:pt x="377" y="420"/>
                    <a:pt x="352" y="420"/>
                  </a:cubicBezTo>
                  <a:cubicBezTo>
                    <a:pt x="326" y="420"/>
                    <a:pt x="305" y="398"/>
                    <a:pt x="305" y="373"/>
                  </a:cubicBezTo>
                  <a:cubicBezTo>
                    <a:pt x="305" y="347"/>
                    <a:pt x="326" y="326"/>
                    <a:pt x="352" y="326"/>
                  </a:cubicBezTo>
                  <a:cubicBezTo>
                    <a:pt x="377" y="326"/>
                    <a:pt x="399" y="347"/>
                    <a:pt x="399" y="373"/>
                  </a:cubicBezTo>
                  <a:close/>
                  <a:moveTo>
                    <a:pt x="500" y="373"/>
                  </a:moveTo>
                  <a:cubicBezTo>
                    <a:pt x="500" y="398"/>
                    <a:pt x="478" y="420"/>
                    <a:pt x="453" y="420"/>
                  </a:cubicBezTo>
                  <a:cubicBezTo>
                    <a:pt x="427" y="420"/>
                    <a:pt x="406" y="398"/>
                    <a:pt x="406" y="373"/>
                  </a:cubicBezTo>
                  <a:cubicBezTo>
                    <a:pt x="406" y="347"/>
                    <a:pt x="427" y="326"/>
                    <a:pt x="453" y="326"/>
                  </a:cubicBezTo>
                  <a:cubicBezTo>
                    <a:pt x="478" y="326"/>
                    <a:pt x="500" y="347"/>
                    <a:pt x="500" y="373"/>
                  </a:cubicBezTo>
                  <a:close/>
                  <a:moveTo>
                    <a:pt x="601" y="373"/>
                  </a:moveTo>
                  <a:cubicBezTo>
                    <a:pt x="601" y="398"/>
                    <a:pt x="579" y="420"/>
                    <a:pt x="554" y="420"/>
                  </a:cubicBezTo>
                  <a:cubicBezTo>
                    <a:pt x="528" y="420"/>
                    <a:pt x="507" y="398"/>
                    <a:pt x="507" y="373"/>
                  </a:cubicBezTo>
                  <a:cubicBezTo>
                    <a:pt x="507" y="347"/>
                    <a:pt x="528" y="326"/>
                    <a:pt x="554" y="326"/>
                  </a:cubicBezTo>
                  <a:cubicBezTo>
                    <a:pt x="579" y="326"/>
                    <a:pt x="601" y="347"/>
                    <a:pt x="601" y="373"/>
                  </a:cubicBezTo>
                  <a:close/>
                  <a:moveTo>
                    <a:pt x="702" y="373"/>
                  </a:moveTo>
                  <a:cubicBezTo>
                    <a:pt x="702" y="398"/>
                    <a:pt x="680" y="420"/>
                    <a:pt x="655" y="420"/>
                  </a:cubicBezTo>
                  <a:cubicBezTo>
                    <a:pt x="629" y="420"/>
                    <a:pt x="608" y="398"/>
                    <a:pt x="608" y="373"/>
                  </a:cubicBezTo>
                  <a:cubicBezTo>
                    <a:pt x="608" y="347"/>
                    <a:pt x="629" y="326"/>
                    <a:pt x="655" y="326"/>
                  </a:cubicBezTo>
                  <a:cubicBezTo>
                    <a:pt x="680" y="326"/>
                    <a:pt x="702" y="347"/>
                    <a:pt x="702" y="373"/>
                  </a:cubicBezTo>
                  <a:close/>
                  <a:moveTo>
                    <a:pt x="803" y="373"/>
                  </a:moveTo>
                  <a:cubicBezTo>
                    <a:pt x="803" y="398"/>
                    <a:pt x="781" y="420"/>
                    <a:pt x="756" y="420"/>
                  </a:cubicBezTo>
                  <a:cubicBezTo>
                    <a:pt x="730" y="420"/>
                    <a:pt x="709" y="398"/>
                    <a:pt x="709" y="373"/>
                  </a:cubicBezTo>
                  <a:cubicBezTo>
                    <a:pt x="709" y="347"/>
                    <a:pt x="730" y="326"/>
                    <a:pt x="756" y="326"/>
                  </a:cubicBezTo>
                  <a:cubicBezTo>
                    <a:pt x="781" y="326"/>
                    <a:pt x="803" y="347"/>
                    <a:pt x="803" y="373"/>
                  </a:cubicBezTo>
                  <a:close/>
                  <a:moveTo>
                    <a:pt x="903" y="373"/>
                  </a:moveTo>
                  <a:cubicBezTo>
                    <a:pt x="903" y="398"/>
                    <a:pt x="881" y="420"/>
                    <a:pt x="856" y="420"/>
                  </a:cubicBezTo>
                  <a:cubicBezTo>
                    <a:pt x="830" y="420"/>
                    <a:pt x="809" y="398"/>
                    <a:pt x="809" y="373"/>
                  </a:cubicBezTo>
                  <a:cubicBezTo>
                    <a:pt x="809" y="347"/>
                    <a:pt x="830" y="326"/>
                    <a:pt x="856" y="326"/>
                  </a:cubicBezTo>
                  <a:cubicBezTo>
                    <a:pt x="881" y="326"/>
                    <a:pt x="903" y="347"/>
                    <a:pt x="903" y="373"/>
                  </a:cubicBezTo>
                  <a:close/>
                  <a:moveTo>
                    <a:pt x="1004" y="373"/>
                  </a:moveTo>
                  <a:cubicBezTo>
                    <a:pt x="1004" y="398"/>
                    <a:pt x="982" y="420"/>
                    <a:pt x="957" y="420"/>
                  </a:cubicBezTo>
                  <a:cubicBezTo>
                    <a:pt x="931" y="420"/>
                    <a:pt x="910" y="398"/>
                    <a:pt x="910" y="373"/>
                  </a:cubicBezTo>
                  <a:cubicBezTo>
                    <a:pt x="910" y="347"/>
                    <a:pt x="931" y="326"/>
                    <a:pt x="957" y="326"/>
                  </a:cubicBezTo>
                  <a:cubicBezTo>
                    <a:pt x="982" y="326"/>
                    <a:pt x="1004" y="347"/>
                    <a:pt x="1004" y="373"/>
                  </a:cubicBezTo>
                  <a:close/>
                  <a:moveTo>
                    <a:pt x="1105" y="373"/>
                  </a:moveTo>
                  <a:cubicBezTo>
                    <a:pt x="1105" y="398"/>
                    <a:pt x="1083" y="420"/>
                    <a:pt x="1058" y="420"/>
                  </a:cubicBezTo>
                  <a:cubicBezTo>
                    <a:pt x="1032" y="420"/>
                    <a:pt x="1011" y="398"/>
                    <a:pt x="1011" y="373"/>
                  </a:cubicBezTo>
                  <a:cubicBezTo>
                    <a:pt x="1011" y="347"/>
                    <a:pt x="1032" y="326"/>
                    <a:pt x="1058" y="326"/>
                  </a:cubicBezTo>
                  <a:cubicBezTo>
                    <a:pt x="1083" y="326"/>
                    <a:pt x="1105" y="347"/>
                    <a:pt x="1105" y="373"/>
                  </a:cubicBezTo>
                  <a:close/>
                  <a:moveTo>
                    <a:pt x="1206" y="373"/>
                  </a:moveTo>
                  <a:cubicBezTo>
                    <a:pt x="1206" y="398"/>
                    <a:pt x="1184" y="420"/>
                    <a:pt x="1159" y="420"/>
                  </a:cubicBezTo>
                  <a:cubicBezTo>
                    <a:pt x="1133" y="420"/>
                    <a:pt x="1112" y="398"/>
                    <a:pt x="1112" y="373"/>
                  </a:cubicBezTo>
                  <a:cubicBezTo>
                    <a:pt x="1112" y="347"/>
                    <a:pt x="1133" y="326"/>
                    <a:pt x="1159" y="326"/>
                  </a:cubicBezTo>
                  <a:cubicBezTo>
                    <a:pt x="1184" y="326"/>
                    <a:pt x="1206" y="347"/>
                    <a:pt x="1206" y="373"/>
                  </a:cubicBezTo>
                  <a:close/>
                  <a:moveTo>
                    <a:pt x="1307" y="373"/>
                  </a:moveTo>
                  <a:cubicBezTo>
                    <a:pt x="1307" y="398"/>
                    <a:pt x="1285" y="420"/>
                    <a:pt x="1260" y="420"/>
                  </a:cubicBezTo>
                  <a:cubicBezTo>
                    <a:pt x="1234" y="420"/>
                    <a:pt x="1213" y="398"/>
                    <a:pt x="1213" y="373"/>
                  </a:cubicBezTo>
                  <a:cubicBezTo>
                    <a:pt x="1213" y="347"/>
                    <a:pt x="1234" y="326"/>
                    <a:pt x="1260" y="326"/>
                  </a:cubicBezTo>
                  <a:cubicBezTo>
                    <a:pt x="1285" y="326"/>
                    <a:pt x="1307" y="347"/>
                    <a:pt x="1307" y="373"/>
                  </a:cubicBezTo>
                  <a:close/>
                  <a:moveTo>
                    <a:pt x="1407" y="373"/>
                  </a:moveTo>
                  <a:cubicBezTo>
                    <a:pt x="1407" y="398"/>
                    <a:pt x="1385" y="420"/>
                    <a:pt x="1360" y="420"/>
                  </a:cubicBezTo>
                  <a:cubicBezTo>
                    <a:pt x="1334" y="420"/>
                    <a:pt x="1313" y="398"/>
                    <a:pt x="1313" y="373"/>
                  </a:cubicBezTo>
                  <a:cubicBezTo>
                    <a:pt x="1313" y="347"/>
                    <a:pt x="1334" y="326"/>
                    <a:pt x="1360" y="326"/>
                  </a:cubicBezTo>
                  <a:cubicBezTo>
                    <a:pt x="1385" y="326"/>
                    <a:pt x="1407" y="347"/>
                    <a:pt x="1407" y="373"/>
                  </a:cubicBezTo>
                  <a:close/>
                  <a:moveTo>
                    <a:pt x="1508" y="373"/>
                  </a:moveTo>
                  <a:cubicBezTo>
                    <a:pt x="1508" y="398"/>
                    <a:pt x="1486" y="420"/>
                    <a:pt x="1461" y="420"/>
                  </a:cubicBezTo>
                  <a:cubicBezTo>
                    <a:pt x="1435" y="420"/>
                    <a:pt x="1414" y="398"/>
                    <a:pt x="1414" y="373"/>
                  </a:cubicBezTo>
                  <a:cubicBezTo>
                    <a:pt x="1414" y="347"/>
                    <a:pt x="1435" y="326"/>
                    <a:pt x="1461" y="326"/>
                  </a:cubicBezTo>
                  <a:cubicBezTo>
                    <a:pt x="1486" y="326"/>
                    <a:pt x="1508" y="347"/>
                    <a:pt x="1508" y="373"/>
                  </a:cubicBezTo>
                  <a:close/>
                  <a:moveTo>
                    <a:pt x="1609" y="373"/>
                  </a:moveTo>
                  <a:cubicBezTo>
                    <a:pt x="1609" y="398"/>
                    <a:pt x="1587" y="420"/>
                    <a:pt x="1562" y="420"/>
                  </a:cubicBezTo>
                  <a:cubicBezTo>
                    <a:pt x="1536" y="420"/>
                    <a:pt x="1515" y="398"/>
                    <a:pt x="1515" y="373"/>
                  </a:cubicBezTo>
                  <a:cubicBezTo>
                    <a:pt x="1515" y="347"/>
                    <a:pt x="1536" y="326"/>
                    <a:pt x="1562" y="326"/>
                  </a:cubicBezTo>
                  <a:cubicBezTo>
                    <a:pt x="1587" y="326"/>
                    <a:pt x="1609" y="347"/>
                    <a:pt x="1609" y="373"/>
                  </a:cubicBezTo>
                  <a:close/>
                  <a:moveTo>
                    <a:pt x="1710" y="373"/>
                  </a:moveTo>
                  <a:cubicBezTo>
                    <a:pt x="1710" y="398"/>
                    <a:pt x="1688" y="420"/>
                    <a:pt x="1663" y="420"/>
                  </a:cubicBezTo>
                  <a:cubicBezTo>
                    <a:pt x="1637" y="420"/>
                    <a:pt x="1616" y="398"/>
                    <a:pt x="1616" y="373"/>
                  </a:cubicBezTo>
                  <a:cubicBezTo>
                    <a:pt x="1616" y="347"/>
                    <a:pt x="1637" y="326"/>
                    <a:pt x="1663" y="326"/>
                  </a:cubicBezTo>
                  <a:cubicBezTo>
                    <a:pt x="1688" y="326"/>
                    <a:pt x="1710" y="347"/>
                    <a:pt x="1710" y="373"/>
                  </a:cubicBezTo>
                  <a:close/>
                  <a:moveTo>
                    <a:pt x="1811" y="373"/>
                  </a:moveTo>
                  <a:cubicBezTo>
                    <a:pt x="1811" y="398"/>
                    <a:pt x="1789" y="420"/>
                    <a:pt x="1764" y="420"/>
                  </a:cubicBezTo>
                  <a:cubicBezTo>
                    <a:pt x="1738" y="420"/>
                    <a:pt x="1717" y="398"/>
                    <a:pt x="1717" y="373"/>
                  </a:cubicBezTo>
                  <a:cubicBezTo>
                    <a:pt x="1717" y="347"/>
                    <a:pt x="1738" y="326"/>
                    <a:pt x="1764" y="326"/>
                  </a:cubicBezTo>
                  <a:cubicBezTo>
                    <a:pt x="1789" y="326"/>
                    <a:pt x="1811" y="347"/>
                    <a:pt x="1811" y="373"/>
                  </a:cubicBezTo>
                  <a:close/>
                  <a:moveTo>
                    <a:pt x="1911" y="373"/>
                  </a:moveTo>
                  <a:cubicBezTo>
                    <a:pt x="1911" y="398"/>
                    <a:pt x="1889" y="420"/>
                    <a:pt x="1864" y="420"/>
                  </a:cubicBezTo>
                  <a:cubicBezTo>
                    <a:pt x="1838" y="420"/>
                    <a:pt x="1817" y="398"/>
                    <a:pt x="1817" y="373"/>
                  </a:cubicBezTo>
                  <a:cubicBezTo>
                    <a:pt x="1817" y="347"/>
                    <a:pt x="1838" y="326"/>
                    <a:pt x="1864" y="326"/>
                  </a:cubicBezTo>
                  <a:cubicBezTo>
                    <a:pt x="1889" y="326"/>
                    <a:pt x="1911" y="347"/>
                    <a:pt x="1911" y="373"/>
                  </a:cubicBezTo>
                  <a:close/>
                  <a:moveTo>
                    <a:pt x="2012" y="373"/>
                  </a:moveTo>
                  <a:cubicBezTo>
                    <a:pt x="2012" y="398"/>
                    <a:pt x="1990" y="420"/>
                    <a:pt x="1965" y="420"/>
                  </a:cubicBezTo>
                  <a:cubicBezTo>
                    <a:pt x="1939" y="420"/>
                    <a:pt x="1918" y="398"/>
                    <a:pt x="1918" y="373"/>
                  </a:cubicBezTo>
                  <a:cubicBezTo>
                    <a:pt x="1918" y="347"/>
                    <a:pt x="1939" y="326"/>
                    <a:pt x="1965" y="326"/>
                  </a:cubicBezTo>
                  <a:cubicBezTo>
                    <a:pt x="1990" y="326"/>
                    <a:pt x="2012" y="347"/>
                    <a:pt x="2012" y="373"/>
                  </a:cubicBezTo>
                  <a:close/>
                  <a:moveTo>
                    <a:pt x="2113" y="373"/>
                  </a:moveTo>
                  <a:cubicBezTo>
                    <a:pt x="2113" y="398"/>
                    <a:pt x="2091" y="420"/>
                    <a:pt x="2066" y="420"/>
                  </a:cubicBezTo>
                  <a:cubicBezTo>
                    <a:pt x="2040" y="420"/>
                    <a:pt x="2019" y="398"/>
                    <a:pt x="2019" y="373"/>
                  </a:cubicBezTo>
                  <a:cubicBezTo>
                    <a:pt x="2019" y="347"/>
                    <a:pt x="2040" y="326"/>
                    <a:pt x="2066" y="326"/>
                  </a:cubicBezTo>
                  <a:cubicBezTo>
                    <a:pt x="2091" y="326"/>
                    <a:pt x="2113" y="347"/>
                    <a:pt x="2113" y="373"/>
                  </a:cubicBezTo>
                  <a:close/>
                  <a:moveTo>
                    <a:pt x="2214" y="373"/>
                  </a:moveTo>
                  <a:cubicBezTo>
                    <a:pt x="2214" y="398"/>
                    <a:pt x="2192" y="420"/>
                    <a:pt x="2167" y="420"/>
                  </a:cubicBezTo>
                  <a:cubicBezTo>
                    <a:pt x="2141" y="420"/>
                    <a:pt x="2120" y="398"/>
                    <a:pt x="2120" y="373"/>
                  </a:cubicBezTo>
                  <a:cubicBezTo>
                    <a:pt x="2120" y="347"/>
                    <a:pt x="2141" y="326"/>
                    <a:pt x="2167" y="326"/>
                  </a:cubicBezTo>
                  <a:cubicBezTo>
                    <a:pt x="2192" y="326"/>
                    <a:pt x="2214" y="347"/>
                    <a:pt x="2214" y="373"/>
                  </a:cubicBezTo>
                  <a:close/>
                  <a:moveTo>
                    <a:pt x="2315" y="373"/>
                  </a:moveTo>
                  <a:cubicBezTo>
                    <a:pt x="2315" y="398"/>
                    <a:pt x="2293" y="420"/>
                    <a:pt x="2268" y="420"/>
                  </a:cubicBezTo>
                  <a:cubicBezTo>
                    <a:pt x="2242" y="420"/>
                    <a:pt x="2221" y="398"/>
                    <a:pt x="2221" y="373"/>
                  </a:cubicBezTo>
                  <a:cubicBezTo>
                    <a:pt x="2221" y="347"/>
                    <a:pt x="2242" y="326"/>
                    <a:pt x="2268" y="326"/>
                  </a:cubicBezTo>
                  <a:cubicBezTo>
                    <a:pt x="2293" y="326"/>
                    <a:pt x="2315" y="347"/>
                    <a:pt x="2315" y="373"/>
                  </a:cubicBezTo>
                  <a:close/>
                  <a:moveTo>
                    <a:pt x="2415" y="373"/>
                  </a:moveTo>
                  <a:cubicBezTo>
                    <a:pt x="2415" y="398"/>
                    <a:pt x="2393" y="420"/>
                    <a:pt x="2368" y="420"/>
                  </a:cubicBezTo>
                  <a:cubicBezTo>
                    <a:pt x="2342" y="420"/>
                    <a:pt x="2321" y="398"/>
                    <a:pt x="2321" y="373"/>
                  </a:cubicBezTo>
                  <a:cubicBezTo>
                    <a:pt x="2321" y="347"/>
                    <a:pt x="2342" y="326"/>
                    <a:pt x="2368" y="326"/>
                  </a:cubicBezTo>
                  <a:cubicBezTo>
                    <a:pt x="2393" y="326"/>
                    <a:pt x="2415" y="347"/>
                    <a:pt x="2415" y="373"/>
                  </a:cubicBezTo>
                  <a:close/>
                  <a:moveTo>
                    <a:pt x="2516" y="373"/>
                  </a:moveTo>
                  <a:cubicBezTo>
                    <a:pt x="2516" y="398"/>
                    <a:pt x="2494" y="420"/>
                    <a:pt x="2469" y="420"/>
                  </a:cubicBezTo>
                  <a:cubicBezTo>
                    <a:pt x="2443" y="420"/>
                    <a:pt x="2422" y="398"/>
                    <a:pt x="2422" y="373"/>
                  </a:cubicBezTo>
                  <a:cubicBezTo>
                    <a:pt x="2422" y="347"/>
                    <a:pt x="2443" y="326"/>
                    <a:pt x="2469" y="326"/>
                  </a:cubicBezTo>
                  <a:cubicBezTo>
                    <a:pt x="2494" y="326"/>
                    <a:pt x="2516" y="347"/>
                    <a:pt x="2516" y="373"/>
                  </a:cubicBezTo>
                  <a:close/>
                  <a:moveTo>
                    <a:pt x="2617" y="373"/>
                  </a:moveTo>
                  <a:cubicBezTo>
                    <a:pt x="2617" y="398"/>
                    <a:pt x="2595" y="420"/>
                    <a:pt x="2570" y="420"/>
                  </a:cubicBezTo>
                  <a:cubicBezTo>
                    <a:pt x="2544" y="420"/>
                    <a:pt x="2523" y="398"/>
                    <a:pt x="2523" y="373"/>
                  </a:cubicBezTo>
                  <a:cubicBezTo>
                    <a:pt x="2523" y="347"/>
                    <a:pt x="2544" y="326"/>
                    <a:pt x="2570" y="326"/>
                  </a:cubicBezTo>
                  <a:cubicBezTo>
                    <a:pt x="2595" y="326"/>
                    <a:pt x="2617" y="347"/>
                    <a:pt x="2617" y="373"/>
                  </a:cubicBezTo>
                  <a:close/>
                  <a:moveTo>
                    <a:pt x="2718" y="373"/>
                  </a:moveTo>
                  <a:cubicBezTo>
                    <a:pt x="2718" y="398"/>
                    <a:pt x="2696" y="420"/>
                    <a:pt x="2671" y="420"/>
                  </a:cubicBezTo>
                  <a:cubicBezTo>
                    <a:pt x="2645" y="420"/>
                    <a:pt x="2624" y="398"/>
                    <a:pt x="2624" y="373"/>
                  </a:cubicBezTo>
                  <a:cubicBezTo>
                    <a:pt x="2624" y="347"/>
                    <a:pt x="2645" y="326"/>
                    <a:pt x="2671" y="326"/>
                  </a:cubicBezTo>
                  <a:cubicBezTo>
                    <a:pt x="2696" y="326"/>
                    <a:pt x="2718" y="347"/>
                    <a:pt x="2718" y="373"/>
                  </a:cubicBezTo>
                  <a:close/>
                  <a:moveTo>
                    <a:pt x="2819" y="373"/>
                  </a:moveTo>
                  <a:cubicBezTo>
                    <a:pt x="2819" y="398"/>
                    <a:pt x="2797" y="420"/>
                    <a:pt x="2772" y="420"/>
                  </a:cubicBezTo>
                  <a:cubicBezTo>
                    <a:pt x="2746" y="420"/>
                    <a:pt x="2725" y="398"/>
                    <a:pt x="2725" y="373"/>
                  </a:cubicBezTo>
                  <a:cubicBezTo>
                    <a:pt x="2725" y="347"/>
                    <a:pt x="2746" y="326"/>
                    <a:pt x="2772" y="326"/>
                  </a:cubicBezTo>
                  <a:cubicBezTo>
                    <a:pt x="2797" y="326"/>
                    <a:pt x="2819" y="347"/>
                    <a:pt x="2819" y="373"/>
                  </a:cubicBezTo>
                  <a:close/>
                  <a:moveTo>
                    <a:pt x="2919" y="373"/>
                  </a:moveTo>
                  <a:cubicBezTo>
                    <a:pt x="2919" y="398"/>
                    <a:pt x="2897" y="420"/>
                    <a:pt x="2872" y="420"/>
                  </a:cubicBezTo>
                  <a:cubicBezTo>
                    <a:pt x="2846" y="420"/>
                    <a:pt x="2825" y="398"/>
                    <a:pt x="2825" y="373"/>
                  </a:cubicBezTo>
                  <a:cubicBezTo>
                    <a:pt x="2825" y="347"/>
                    <a:pt x="2846" y="326"/>
                    <a:pt x="2872" y="326"/>
                  </a:cubicBezTo>
                  <a:cubicBezTo>
                    <a:pt x="2897" y="326"/>
                    <a:pt x="2919" y="347"/>
                    <a:pt x="2919" y="373"/>
                  </a:cubicBezTo>
                  <a:close/>
                  <a:moveTo>
                    <a:pt x="3020" y="373"/>
                  </a:moveTo>
                  <a:cubicBezTo>
                    <a:pt x="3020" y="398"/>
                    <a:pt x="2998" y="420"/>
                    <a:pt x="2973" y="420"/>
                  </a:cubicBezTo>
                  <a:cubicBezTo>
                    <a:pt x="2947" y="420"/>
                    <a:pt x="2926" y="398"/>
                    <a:pt x="2926" y="373"/>
                  </a:cubicBezTo>
                  <a:cubicBezTo>
                    <a:pt x="2926" y="347"/>
                    <a:pt x="2947" y="326"/>
                    <a:pt x="2973" y="326"/>
                  </a:cubicBezTo>
                  <a:cubicBezTo>
                    <a:pt x="2998" y="326"/>
                    <a:pt x="3020" y="347"/>
                    <a:pt x="3020" y="373"/>
                  </a:cubicBezTo>
                  <a:close/>
                  <a:moveTo>
                    <a:pt x="3121" y="373"/>
                  </a:moveTo>
                  <a:cubicBezTo>
                    <a:pt x="3121" y="398"/>
                    <a:pt x="3099" y="420"/>
                    <a:pt x="3074" y="420"/>
                  </a:cubicBezTo>
                  <a:cubicBezTo>
                    <a:pt x="3048" y="420"/>
                    <a:pt x="3027" y="398"/>
                    <a:pt x="3027" y="373"/>
                  </a:cubicBezTo>
                  <a:cubicBezTo>
                    <a:pt x="3027" y="347"/>
                    <a:pt x="3048" y="326"/>
                    <a:pt x="3074" y="326"/>
                  </a:cubicBezTo>
                  <a:cubicBezTo>
                    <a:pt x="3099" y="326"/>
                    <a:pt x="3121" y="347"/>
                    <a:pt x="3121" y="373"/>
                  </a:cubicBezTo>
                  <a:close/>
                  <a:moveTo>
                    <a:pt x="3222" y="373"/>
                  </a:moveTo>
                  <a:cubicBezTo>
                    <a:pt x="3222" y="398"/>
                    <a:pt x="3200" y="420"/>
                    <a:pt x="3175" y="420"/>
                  </a:cubicBezTo>
                  <a:cubicBezTo>
                    <a:pt x="3149" y="420"/>
                    <a:pt x="3128" y="398"/>
                    <a:pt x="3128" y="373"/>
                  </a:cubicBezTo>
                  <a:cubicBezTo>
                    <a:pt x="3128" y="347"/>
                    <a:pt x="3149" y="326"/>
                    <a:pt x="3175" y="326"/>
                  </a:cubicBezTo>
                  <a:cubicBezTo>
                    <a:pt x="3200" y="326"/>
                    <a:pt x="3222" y="347"/>
                    <a:pt x="3222" y="373"/>
                  </a:cubicBezTo>
                  <a:close/>
                  <a:moveTo>
                    <a:pt x="3323" y="373"/>
                  </a:moveTo>
                  <a:cubicBezTo>
                    <a:pt x="3323" y="398"/>
                    <a:pt x="3301" y="420"/>
                    <a:pt x="3276" y="420"/>
                  </a:cubicBezTo>
                  <a:cubicBezTo>
                    <a:pt x="3250" y="420"/>
                    <a:pt x="3229" y="398"/>
                    <a:pt x="3229" y="373"/>
                  </a:cubicBezTo>
                  <a:cubicBezTo>
                    <a:pt x="3229" y="347"/>
                    <a:pt x="3250" y="326"/>
                    <a:pt x="3276" y="326"/>
                  </a:cubicBezTo>
                  <a:cubicBezTo>
                    <a:pt x="3301" y="326"/>
                    <a:pt x="3323" y="347"/>
                    <a:pt x="3323" y="373"/>
                  </a:cubicBezTo>
                  <a:close/>
                  <a:moveTo>
                    <a:pt x="3423" y="373"/>
                  </a:moveTo>
                  <a:cubicBezTo>
                    <a:pt x="3423" y="398"/>
                    <a:pt x="3401" y="420"/>
                    <a:pt x="3376" y="420"/>
                  </a:cubicBezTo>
                  <a:cubicBezTo>
                    <a:pt x="3350" y="420"/>
                    <a:pt x="3329" y="398"/>
                    <a:pt x="3329" y="373"/>
                  </a:cubicBezTo>
                  <a:cubicBezTo>
                    <a:pt x="3329" y="347"/>
                    <a:pt x="3350" y="326"/>
                    <a:pt x="3376" y="326"/>
                  </a:cubicBezTo>
                  <a:cubicBezTo>
                    <a:pt x="3401" y="326"/>
                    <a:pt x="3423" y="347"/>
                    <a:pt x="3423" y="373"/>
                  </a:cubicBezTo>
                  <a:close/>
                  <a:moveTo>
                    <a:pt x="3524" y="373"/>
                  </a:moveTo>
                  <a:cubicBezTo>
                    <a:pt x="3524" y="398"/>
                    <a:pt x="3502" y="420"/>
                    <a:pt x="3477" y="420"/>
                  </a:cubicBezTo>
                  <a:cubicBezTo>
                    <a:pt x="3451" y="420"/>
                    <a:pt x="3430" y="398"/>
                    <a:pt x="3430" y="373"/>
                  </a:cubicBezTo>
                  <a:cubicBezTo>
                    <a:pt x="3430" y="347"/>
                    <a:pt x="3451" y="326"/>
                    <a:pt x="3477" y="326"/>
                  </a:cubicBezTo>
                  <a:cubicBezTo>
                    <a:pt x="3502" y="326"/>
                    <a:pt x="3524" y="347"/>
                    <a:pt x="3524" y="373"/>
                  </a:cubicBezTo>
                  <a:close/>
                  <a:moveTo>
                    <a:pt x="3625" y="373"/>
                  </a:moveTo>
                  <a:cubicBezTo>
                    <a:pt x="3625" y="398"/>
                    <a:pt x="3603" y="420"/>
                    <a:pt x="3578" y="420"/>
                  </a:cubicBezTo>
                  <a:cubicBezTo>
                    <a:pt x="3552" y="420"/>
                    <a:pt x="3531" y="398"/>
                    <a:pt x="3531" y="373"/>
                  </a:cubicBezTo>
                  <a:cubicBezTo>
                    <a:pt x="3531" y="347"/>
                    <a:pt x="3552" y="326"/>
                    <a:pt x="3578" y="326"/>
                  </a:cubicBezTo>
                  <a:cubicBezTo>
                    <a:pt x="3603" y="326"/>
                    <a:pt x="3625" y="347"/>
                    <a:pt x="3625" y="373"/>
                  </a:cubicBezTo>
                  <a:close/>
                  <a:moveTo>
                    <a:pt x="3726" y="373"/>
                  </a:moveTo>
                  <a:cubicBezTo>
                    <a:pt x="3726" y="398"/>
                    <a:pt x="3704" y="420"/>
                    <a:pt x="3679" y="420"/>
                  </a:cubicBezTo>
                  <a:cubicBezTo>
                    <a:pt x="3653" y="420"/>
                    <a:pt x="3632" y="398"/>
                    <a:pt x="3632" y="373"/>
                  </a:cubicBezTo>
                  <a:cubicBezTo>
                    <a:pt x="3632" y="347"/>
                    <a:pt x="3653" y="326"/>
                    <a:pt x="3679" y="326"/>
                  </a:cubicBezTo>
                  <a:cubicBezTo>
                    <a:pt x="3704" y="326"/>
                    <a:pt x="3726" y="347"/>
                    <a:pt x="3726" y="373"/>
                  </a:cubicBezTo>
                  <a:close/>
                  <a:moveTo>
                    <a:pt x="3827" y="373"/>
                  </a:moveTo>
                  <a:cubicBezTo>
                    <a:pt x="3827" y="398"/>
                    <a:pt x="3805" y="420"/>
                    <a:pt x="3780" y="420"/>
                  </a:cubicBezTo>
                  <a:cubicBezTo>
                    <a:pt x="3754" y="420"/>
                    <a:pt x="3733" y="398"/>
                    <a:pt x="3733" y="373"/>
                  </a:cubicBezTo>
                  <a:cubicBezTo>
                    <a:pt x="3733" y="347"/>
                    <a:pt x="3754" y="326"/>
                    <a:pt x="3780" y="326"/>
                  </a:cubicBezTo>
                  <a:cubicBezTo>
                    <a:pt x="3805" y="326"/>
                    <a:pt x="3827" y="347"/>
                    <a:pt x="3827" y="373"/>
                  </a:cubicBezTo>
                  <a:close/>
                  <a:moveTo>
                    <a:pt x="3927" y="373"/>
                  </a:moveTo>
                  <a:cubicBezTo>
                    <a:pt x="3927" y="398"/>
                    <a:pt x="3905" y="420"/>
                    <a:pt x="3880" y="420"/>
                  </a:cubicBezTo>
                  <a:cubicBezTo>
                    <a:pt x="3854" y="420"/>
                    <a:pt x="3833" y="398"/>
                    <a:pt x="3833" y="373"/>
                  </a:cubicBezTo>
                  <a:cubicBezTo>
                    <a:pt x="3833" y="347"/>
                    <a:pt x="3854" y="326"/>
                    <a:pt x="3880" y="326"/>
                  </a:cubicBezTo>
                  <a:cubicBezTo>
                    <a:pt x="3905" y="326"/>
                    <a:pt x="3927" y="347"/>
                    <a:pt x="3927" y="373"/>
                  </a:cubicBezTo>
                  <a:close/>
                  <a:moveTo>
                    <a:pt x="4028" y="373"/>
                  </a:moveTo>
                  <a:cubicBezTo>
                    <a:pt x="4028" y="398"/>
                    <a:pt x="4006" y="420"/>
                    <a:pt x="3981" y="420"/>
                  </a:cubicBezTo>
                  <a:cubicBezTo>
                    <a:pt x="3955" y="420"/>
                    <a:pt x="3934" y="398"/>
                    <a:pt x="3934" y="373"/>
                  </a:cubicBezTo>
                  <a:cubicBezTo>
                    <a:pt x="3934" y="347"/>
                    <a:pt x="3955" y="326"/>
                    <a:pt x="3981" y="326"/>
                  </a:cubicBezTo>
                  <a:cubicBezTo>
                    <a:pt x="4006" y="326"/>
                    <a:pt x="4028" y="347"/>
                    <a:pt x="4028" y="373"/>
                  </a:cubicBezTo>
                  <a:close/>
                  <a:moveTo>
                    <a:pt x="4129" y="373"/>
                  </a:moveTo>
                  <a:cubicBezTo>
                    <a:pt x="4129" y="398"/>
                    <a:pt x="4107" y="420"/>
                    <a:pt x="4082" y="420"/>
                  </a:cubicBezTo>
                  <a:cubicBezTo>
                    <a:pt x="4056" y="420"/>
                    <a:pt x="4035" y="398"/>
                    <a:pt x="4035" y="373"/>
                  </a:cubicBezTo>
                  <a:cubicBezTo>
                    <a:pt x="4035" y="347"/>
                    <a:pt x="4056" y="326"/>
                    <a:pt x="4082" y="326"/>
                  </a:cubicBezTo>
                  <a:cubicBezTo>
                    <a:pt x="4107" y="326"/>
                    <a:pt x="4129" y="347"/>
                    <a:pt x="4129" y="373"/>
                  </a:cubicBezTo>
                  <a:close/>
                  <a:moveTo>
                    <a:pt x="4230" y="373"/>
                  </a:moveTo>
                  <a:cubicBezTo>
                    <a:pt x="4230" y="398"/>
                    <a:pt x="4208" y="420"/>
                    <a:pt x="4183" y="420"/>
                  </a:cubicBezTo>
                  <a:cubicBezTo>
                    <a:pt x="4157" y="420"/>
                    <a:pt x="4136" y="398"/>
                    <a:pt x="4136" y="373"/>
                  </a:cubicBezTo>
                  <a:cubicBezTo>
                    <a:pt x="4136" y="347"/>
                    <a:pt x="4157" y="326"/>
                    <a:pt x="4183" y="326"/>
                  </a:cubicBezTo>
                  <a:cubicBezTo>
                    <a:pt x="4208" y="326"/>
                    <a:pt x="4230" y="347"/>
                    <a:pt x="4230" y="373"/>
                  </a:cubicBezTo>
                  <a:close/>
                  <a:moveTo>
                    <a:pt x="4331" y="373"/>
                  </a:moveTo>
                  <a:cubicBezTo>
                    <a:pt x="4331" y="398"/>
                    <a:pt x="4309" y="420"/>
                    <a:pt x="4284" y="420"/>
                  </a:cubicBezTo>
                  <a:cubicBezTo>
                    <a:pt x="4258" y="420"/>
                    <a:pt x="4237" y="398"/>
                    <a:pt x="4237" y="373"/>
                  </a:cubicBezTo>
                  <a:cubicBezTo>
                    <a:pt x="4237" y="347"/>
                    <a:pt x="4258" y="326"/>
                    <a:pt x="4284" y="326"/>
                  </a:cubicBezTo>
                  <a:cubicBezTo>
                    <a:pt x="4309" y="326"/>
                    <a:pt x="4331" y="347"/>
                    <a:pt x="4331" y="373"/>
                  </a:cubicBezTo>
                  <a:close/>
                  <a:moveTo>
                    <a:pt x="4431" y="373"/>
                  </a:moveTo>
                  <a:cubicBezTo>
                    <a:pt x="4431" y="398"/>
                    <a:pt x="4409" y="420"/>
                    <a:pt x="4384" y="420"/>
                  </a:cubicBezTo>
                  <a:cubicBezTo>
                    <a:pt x="4358" y="420"/>
                    <a:pt x="4337" y="398"/>
                    <a:pt x="4337" y="373"/>
                  </a:cubicBezTo>
                  <a:cubicBezTo>
                    <a:pt x="4337" y="347"/>
                    <a:pt x="4358" y="326"/>
                    <a:pt x="4384" y="326"/>
                  </a:cubicBezTo>
                  <a:cubicBezTo>
                    <a:pt x="4409" y="326"/>
                    <a:pt x="4431" y="347"/>
                    <a:pt x="4431" y="373"/>
                  </a:cubicBezTo>
                  <a:close/>
                  <a:moveTo>
                    <a:pt x="4532" y="373"/>
                  </a:moveTo>
                  <a:cubicBezTo>
                    <a:pt x="4532" y="398"/>
                    <a:pt x="4510" y="420"/>
                    <a:pt x="4485" y="420"/>
                  </a:cubicBezTo>
                  <a:cubicBezTo>
                    <a:pt x="4459" y="420"/>
                    <a:pt x="4438" y="398"/>
                    <a:pt x="4438" y="373"/>
                  </a:cubicBezTo>
                  <a:cubicBezTo>
                    <a:pt x="4438" y="347"/>
                    <a:pt x="4459" y="326"/>
                    <a:pt x="4485" y="326"/>
                  </a:cubicBezTo>
                  <a:cubicBezTo>
                    <a:pt x="4510" y="326"/>
                    <a:pt x="4532" y="347"/>
                    <a:pt x="4532" y="373"/>
                  </a:cubicBezTo>
                  <a:close/>
                  <a:moveTo>
                    <a:pt x="4633" y="373"/>
                  </a:moveTo>
                  <a:cubicBezTo>
                    <a:pt x="4633" y="398"/>
                    <a:pt x="4611" y="420"/>
                    <a:pt x="4586" y="420"/>
                  </a:cubicBezTo>
                  <a:cubicBezTo>
                    <a:pt x="4560" y="420"/>
                    <a:pt x="4539" y="398"/>
                    <a:pt x="4539" y="373"/>
                  </a:cubicBezTo>
                  <a:cubicBezTo>
                    <a:pt x="4539" y="347"/>
                    <a:pt x="4560" y="326"/>
                    <a:pt x="4586" y="326"/>
                  </a:cubicBezTo>
                  <a:cubicBezTo>
                    <a:pt x="4611" y="326"/>
                    <a:pt x="4633" y="347"/>
                    <a:pt x="4633" y="373"/>
                  </a:cubicBezTo>
                  <a:close/>
                  <a:moveTo>
                    <a:pt x="4734" y="373"/>
                  </a:moveTo>
                  <a:cubicBezTo>
                    <a:pt x="4734" y="398"/>
                    <a:pt x="4712" y="420"/>
                    <a:pt x="4687" y="420"/>
                  </a:cubicBezTo>
                  <a:cubicBezTo>
                    <a:pt x="4661" y="420"/>
                    <a:pt x="4640" y="398"/>
                    <a:pt x="4640" y="373"/>
                  </a:cubicBezTo>
                  <a:cubicBezTo>
                    <a:pt x="4640" y="347"/>
                    <a:pt x="4661" y="326"/>
                    <a:pt x="4687" y="326"/>
                  </a:cubicBezTo>
                  <a:cubicBezTo>
                    <a:pt x="4712" y="326"/>
                    <a:pt x="4734" y="347"/>
                    <a:pt x="4734" y="373"/>
                  </a:cubicBezTo>
                  <a:close/>
                  <a:moveTo>
                    <a:pt x="4835" y="373"/>
                  </a:moveTo>
                  <a:cubicBezTo>
                    <a:pt x="4835" y="398"/>
                    <a:pt x="4813" y="420"/>
                    <a:pt x="4788" y="420"/>
                  </a:cubicBezTo>
                  <a:cubicBezTo>
                    <a:pt x="4762" y="420"/>
                    <a:pt x="4741" y="398"/>
                    <a:pt x="4741" y="373"/>
                  </a:cubicBezTo>
                  <a:cubicBezTo>
                    <a:pt x="4741" y="347"/>
                    <a:pt x="4762" y="326"/>
                    <a:pt x="4788" y="326"/>
                  </a:cubicBezTo>
                  <a:cubicBezTo>
                    <a:pt x="4813" y="326"/>
                    <a:pt x="4835" y="347"/>
                    <a:pt x="4835" y="373"/>
                  </a:cubicBezTo>
                  <a:close/>
                  <a:moveTo>
                    <a:pt x="4935" y="373"/>
                  </a:moveTo>
                  <a:cubicBezTo>
                    <a:pt x="4935" y="398"/>
                    <a:pt x="4913" y="420"/>
                    <a:pt x="4888" y="420"/>
                  </a:cubicBezTo>
                  <a:cubicBezTo>
                    <a:pt x="4862" y="420"/>
                    <a:pt x="4841" y="398"/>
                    <a:pt x="4841" y="373"/>
                  </a:cubicBezTo>
                  <a:cubicBezTo>
                    <a:pt x="4841" y="347"/>
                    <a:pt x="4862" y="326"/>
                    <a:pt x="4888" y="326"/>
                  </a:cubicBezTo>
                  <a:cubicBezTo>
                    <a:pt x="4913" y="326"/>
                    <a:pt x="4935" y="347"/>
                    <a:pt x="4935" y="373"/>
                  </a:cubicBezTo>
                  <a:close/>
                  <a:moveTo>
                    <a:pt x="5036" y="373"/>
                  </a:moveTo>
                  <a:cubicBezTo>
                    <a:pt x="5036" y="398"/>
                    <a:pt x="5014" y="420"/>
                    <a:pt x="4989" y="420"/>
                  </a:cubicBezTo>
                  <a:cubicBezTo>
                    <a:pt x="4963" y="420"/>
                    <a:pt x="4942" y="398"/>
                    <a:pt x="4942" y="373"/>
                  </a:cubicBezTo>
                  <a:cubicBezTo>
                    <a:pt x="4942" y="347"/>
                    <a:pt x="4963" y="326"/>
                    <a:pt x="4989" y="326"/>
                  </a:cubicBezTo>
                  <a:cubicBezTo>
                    <a:pt x="5014" y="326"/>
                    <a:pt x="5036" y="347"/>
                    <a:pt x="5036" y="373"/>
                  </a:cubicBezTo>
                  <a:close/>
                  <a:moveTo>
                    <a:pt x="5137" y="373"/>
                  </a:moveTo>
                  <a:cubicBezTo>
                    <a:pt x="5137" y="398"/>
                    <a:pt x="5115" y="420"/>
                    <a:pt x="5090" y="420"/>
                  </a:cubicBezTo>
                  <a:cubicBezTo>
                    <a:pt x="5064" y="420"/>
                    <a:pt x="5043" y="398"/>
                    <a:pt x="5043" y="373"/>
                  </a:cubicBezTo>
                  <a:cubicBezTo>
                    <a:pt x="5043" y="347"/>
                    <a:pt x="5064" y="326"/>
                    <a:pt x="5090" y="326"/>
                  </a:cubicBezTo>
                  <a:cubicBezTo>
                    <a:pt x="5115" y="326"/>
                    <a:pt x="5137" y="347"/>
                    <a:pt x="5137" y="373"/>
                  </a:cubicBezTo>
                  <a:close/>
                  <a:moveTo>
                    <a:pt x="5238" y="373"/>
                  </a:moveTo>
                  <a:cubicBezTo>
                    <a:pt x="5238" y="398"/>
                    <a:pt x="5216" y="420"/>
                    <a:pt x="5191" y="420"/>
                  </a:cubicBezTo>
                  <a:cubicBezTo>
                    <a:pt x="5165" y="420"/>
                    <a:pt x="5144" y="398"/>
                    <a:pt x="5144" y="373"/>
                  </a:cubicBezTo>
                  <a:cubicBezTo>
                    <a:pt x="5144" y="347"/>
                    <a:pt x="5165" y="326"/>
                    <a:pt x="5191" y="326"/>
                  </a:cubicBezTo>
                  <a:cubicBezTo>
                    <a:pt x="5216" y="326"/>
                    <a:pt x="5238" y="347"/>
                    <a:pt x="5238" y="373"/>
                  </a:cubicBezTo>
                  <a:close/>
                  <a:moveTo>
                    <a:pt x="5339" y="373"/>
                  </a:moveTo>
                  <a:cubicBezTo>
                    <a:pt x="5339" y="398"/>
                    <a:pt x="5317" y="420"/>
                    <a:pt x="5292" y="420"/>
                  </a:cubicBezTo>
                  <a:cubicBezTo>
                    <a:pt x="5266" y="420"/>
                    <a:pt x="5245" y="398"/>
                    <a:pt x="5245" y="373"/>
                  </a:cubicBezTo>
                  <a:cubicBezTo>
                    <a:pt x="5245" y="347"/>
                    <a:pt x="5266" y="326"/>
                    <a:pt x="5292" y="326"/>
                  </a:cubicBezTo>
                  <a:cubicBezTo>
                    <a:pt x="5317" y="326"/>
                    <a:pt x="5339" y="347"/>
                    <a:pt x="5339" y="373"/>
                  </a:cubicBezTo>
                  <a:close/>
                  <a:moveTo>
                    <a:pt x="5439" y="373"/>
                  </a:moveTo>
                  <a:cubicBezTo>
                    <a:pt x="5439" y="398"/>
                    <a:pt x="5417" y="420"/>
                    <a:pt x="5392" y="420"/>
                  </a:cubicBezTo>
                  <a:cubicBezTo>
                    <a:pt x="5366" y="420"/>
                    <a:pt x="5345" y="398"/>
                    <a:pt x="5345" y="373"/>
                  </a:cubicBezTo>
                  <a:cubicBezTo>
                    <a:pt x="5345" y="347"/>
                    <a:pt x="5366" y="326"/>
                    <a:pt x="5392" y="326"/>
                  </a:cubicBezTo>
                  <a:cubicBezTo>
                    <a:pt x="5417" y="326"/>
                    <a:pt x="5439" y="347"/>
                    <a:pt x="5439" y="373"/>
                  </a:cubicBezTo>
                  <a:close/>
                  <a:moveTo>
                    <a:pt x="5540" y="373"/>
                  </a:moveTo>
                  <a:cubicBezTo>
                    <a:pt x="5540" y="398"/>
                    <a:pt x="5518" y="420"/>
                    <a:pt x="5493" y="420"/>
                  </a:cubicBezTo>
                  <a:cubicBezTo>
                    <a:pt x="5467" y="420"/>
                    <a:pt x="5446" y="398"/>
                    <a:pt x="5446" y="373"/>
                  </a:cubicBezTo>
                  <a:cubicBezTo>
                    <a:pt x="5446" y="347"/>
                    <a:pt x="5467" y="326"/>
                    <a:pt x="5493" y="326"/>
                  </a:cubicBezTo>
                  <a:cubicBezTo>
                    <a:pt x="5518" y="326"/>
                    <a:pt x="5540" y="347"/>
                    <a:pt x="5540" y="373"/>
                  </a:cubicBezTo>
                  <a:close/>
                  <a:moveTo>
                    <a:pt x="5641" y="373"/>
                  </a:moveTo>
                  <a:cubicBezTo>
                    <a:pt x="5641" y="398"/>
                    <a:pt x="5619" y="420"/>
                    <a:pt x="5594" y="420"/>
                  </a:cubicBezTo>
                  <a:cubicBezTo>
                    <a:pt x="5568" y="420"/>
                    <a:pt x="5547" y="398"/>
                    <a:pt x="5547" y="373"/>
                  </a:cubicBezTo>
                  <a:cubicBezTo>
                    <a:pt x="5547" y="347"/>
                    <a:pt x="5568" y="326"/>
                    <a:pt x="5594" y="326"/>
                  </a:cubicBezTo>
                  <a:cubicBezTo>
                    <a:pt x="5619" y="326"/>
                    <a:pt x="5641" y="347"/>
                    <a:pt x="5641" y="373"/>
                  </a:cubicBezTo>
                  <a:close/>
                  <a:moveTo>
                    <a:pt x="5742" y="373"/>
                  </a:moveTo>
                  <a:cubicBezTo>
                    <a:pt x="5742" y="398"/>
                    <a:pt x="5720" y="420"/>
                    <a:pt x="5695" y="420"/>
                  </a:cubicBezTo>
                  <a:cubicBezTo>
                    <a:pt x="5669" y="420"/>
                    <a:pt x="5648" y="398"/>
                    <a:pt x="5648" y="373"/>
                  </a:cubicBezTo>
                  <a:cubicBezTo>
                    <a:pt x="5648" y="347"/>
                    <a:pt x="5669" y="326"/>
                    <a:pt x="5695" y="326"/>
                  </a:cubicBezTo>
                  <a:cubicBezTo>
                    <a:pt x="5720" y="326"/>
                    <a:pt x="5742" y="347"/>
                    <a:pt x="5742" y="373"/>
                  </a:cubicBezTo>
                  <a:close/>
                  <a:moveTo>
                    <a:pt x="5843" y="373"/>
                  </a:moveTo>
                  <a:cubicBezTo>
                    <a:pt x="5843" y="398"/>
                    <a:pt x="5821" y="420"/>
                    <a:pt x="5796" y="420"/>
                  </a:cubicBezTo>
                  <a:cubicBezTo>
                    <a:pt x="5770" y="420"/>
                    <a:pt x="5749" y="398"/>
                    <a:pt x="5749" y="373"/>
                  </a:cubicBezTo>
                  <a:cubicBezTo>
                    <a:pt x="5749" y="347"/>
                    <a:pt x="5770" y="326"/>
                    <a:pt x="5796" y="326"/>
                  </a:cubicBezTo>
                  <a:cubicBezTo>
                    <a:pt x="5821" y="326"/>
                    <a:pt x="5843" y="347"/>
                    <a:pt x="5843" y="373"/>
                  </a:cubicBezTo>
                  <a:close/>
                  <a:moveTo>
                    <a:pt x="5943" y="373"/>
                  </a:moveTo>
                  <a:cubicBezTo>
                    <a:pt x="5943" y="398"/>
                    <a:pt x="5921" y="420"/>
                    <a:pt x="5896" y="420"/>
                  </a:cubicBezTo>
                  <a:cubicBezTo>
                    <a:pt x="5870" y="420"/>
                    <a:pt x="5849" y="398"/>
                    <a:pt x="5849" y="373"/>
                  </a:cubicBezTo>
                  <a:cubicBezTo>
                    <a:pt x="5849" y="347"/>
                    <a:pt x="5870" y="326"/>
                    <a:pt x="5896" y="326"/>
                  </a:cubicBezTo>
                  <a:cubicBezTo>
                    <a:pt x="5921" y="326"/>
                    <a:pt x="5943" y="347"/>
                    <a:pt x="5943" y="373"/>
                  </a:cubicBezTo>
                  <a:close/>
                  <a:moveTo>
                    <a:pt x="6044" y="373"/>
                  </a:moveTo>
                  <a:cubicBezTo>
                    <a:pt x="6044" y="398"/>
                    <a:pt x="6022" y="420"/>
                    <a:pt x="5997" y="420"/>
                  </a:cubicBezTo>
                  <a:cubicBezTo>
                    <a:pt x="5971" y="420"/>
                    <a:pt x="5950" y="398"/>
                    <a:pt x="5950" y="373"/>
                  </a:cubicBezTo>
                  <a:cubicBezTo>
                    <a:pt x="5950" y="347"/>
                    <a:pt x="5971" y="326"/>
                    <a:pt x="5997" y="326"/>
                  </a:cubicBezTo>
                  <a:cubicBezTo>
                    <a:pt x="6022" y="326"/>
                    <a:pt x="6044" y="347"/>
                    <a:pt x="6044" y="373"/>
                  </a:cubicBezTo>
                  <a:close/>
                  <a:moveTo>
                    <a:pt x="6145" y="373"/>
                  </a:moveTo>
                  <a:cubicBezTo>
                    <a:pt x="6145" y="398"/>
                    <a:pt x="6123" y="420"/>
                    <a:pt x="6098" y="420"/>
                  </a:cubicBezTo>
                  <a:cubicBezTo>
                    <a:pt x="6072" y="420"/>
                    <a:pt x="6051" y="398"/>
                    <a:pt x="6051" y="373"/>
                  </a:cubicBezTo>
                  <a:cubicBezTo>
                    <a:pt x="6051" y="347"/>
                    <a:pt x="6072" y="326"/>
                    <a:pt x="6098" y="326"/>
                  </a:cubicBezTo>
                  <a:cubicBezTo>
                    <a:pt x="6123" y="326"/>
                    <a:pt x="6145" y="347"/>
                    <a:pt x="6145" y="373"/>
                  </a:cubicBezTo>
                  <a:close/>
                  <a:moveTo>
                    <a:pt x="6246" y="373"/>
                  </a:moveTo>
                  <a:cubicBezTo>
                    <a:pt x="6246" y="398"/>
                    <a:pt x="6224" y="420"/>
                    <a:pt x="6199" y="420"/>
                  </a:cubicBezTo>
                  <a:cubicBezTo>
                    <a:pt x="6173" y="420"/>
                    <a:pt x="6152" y="398"/>
                    <a:pt x="6152" y="373"/>
                  </a:cubicBezTo>
                  <a:cubicBezTo>
                    <a:pt x="6152" y="347"/>
                    <a:pt x="6173" y="326"/>
                    <a:pt x="6199" y="326"/>
                  </a:cubicBezTo>
                  <a:cubicBezTo>
                    <a:pt x="6224" y="326"/>
                    <a:pt x="6246" y="347"/>
                    <a:pt x="6246" y="373"/>
                  </a:cubicBezTo>
                  <a:close/>
                  <a:moveTo>
                    <a:pt x="6347" y="373"/>
                  </a:moveTo>
                  <a:cubicBezTo>
                    <a:pt x="6347" y="398"/>
                    <a:pt x="6325" y="420"/>
                    <a:pt x="6300" y="420"/>
                  </a:cubicBezTo>
                  <a:cubicBezTo>
                    <a:pt x="6274" y="420"/>
                    <a:pt x="6253" y="398"/>
                    <a:pt x="6253" y="373"/>
                  </a:cubicBezTo>
                  <a:cubicBezTo>
                    <a:pt x="6253" y="347"/>
                    <a:pt x="6274" y="326"/>
                    <a:pt x="6300" y="326"/>
                  </a:cubicBezTo>
                  <a:cubicBezTo>
                    <a:pt x="6325" y="326"/>
                    <a:pt x="6347" y="347"/>
                    <a:pt x="6347" y="373"/>
                  </a:cubicBezTo>
                  <a:close/>
                  <a:moveTo>
                    <a:pt x="6447" y="373"/>
                  </a:moveTo>
                  <a:cubicBezTo>
                    <a:pt x="6447" y="398"/>
                    <a:pt x="6425" y="420"/>
                    <a:pt x="6400" y="420"/>
                  </a:cubicBezTo>
                  <a:cubicBezTo>
                    <a:pt x="6374" y="420"/>
                    <a:pt x="6353" y="398"/>
                    <a:pt x="6353" y="373"/>
                  </a:cubicBezTo>
                  <a:cubicBezTo>
                    <a:pt x="6353" y="347"/>
                    <a:pt x="6374" y="326"/>
                    <a:pt x="6400" y="326"/>
                  </a:cubicBezTo>
                  <a:cubicBezTo>
                    <a:pt x="6425" y="326"/>
                    <a:pt x="6447" y="347"/>
                    <a:pt x="6447" y="373"/>
                  </a:cubicBezTo>
                  <a:close/>
                  <a:moveTo>
                    <a:pt x="6548" y="373"/>
                  </a:moveTo>
                  <a:cubicBezTo>
                    <a:pt x="6548" y="398"/>
                    <a:pt x="6526" y="420"/>
                    <a:pt x="6501" y="420"/>
                  </a:cubicBezTo>
                  <a:cubicBezTo>
                    <a:pt x="6475" y="420"/>
                    <a:pt x="6454" y="398"/>
                    <a:pt x="6454" y="373"/>
                  </a:cubicBezTo>
                  <a:cubicBezTo>
                    <a:pt x="6454" y="347"/>
                    <a:pt x="6475" y="326"/>
                    <a:pt x="6501" y="326"/>
                  </a:cubicBezTo>
                  <a:cubicBezTo>
                    <a:pt x="6526" y="326"/>
                    <a:pt x="6548" y="347"/>
                    <a:pt x="6548" y="373"/>
                  </a:cubicBezTo>
                  <a:close/>
                  <a:moveTo>
                    <a:pt x="6649" y="373"/>
                  </a:moveTo>
                  <a:cubicBezTo>
                    <a:pt x="6649" y="398"/>
                    <a:pt x="6627" y="420"/>
                    <a:pt x="6602" y="420"/>
                  </a:cubicBezTo>
                  <a:cubicBezTo>
                    <a:pt x="6576" y="420"/>
                    <a:pt x="6555" y="398"/>
                    <a:pt x="6555" y="373"/>
                  </a:cubicBezTo>
                  <a:cubicBezTo>
                    <a:pt x="6555" y="347"/>
                    <a:pt x="6576" y="326"/>
                    <a:pt x="6602" y="326"/>
                  </a:cubicBezTo>
                  <a:cubicBezTo>
                    <a:pt x="6627" y="326"/>
                    <a:pt x="6649" y="347"/>
                    <a:pt x="6649" y="373"/>
                  </a:cubicBezTo>
                  <a:close/>
                  <a:moveTo>
                    <a:pt x="6750" y="373"/>
                  </a:moveTo>
                  <a:cubicBezTo>
                    <a:pt x="6750" y="398"/>
                    <a:pt x="6728" y="420"/>
                    <a:pt x="6703" y="420"/>
                  </a:cubicBezTo>
                  <a:cubicBezTo>
                    <a:pt x="6677" y="420"/>
                    <a:pt x="6656" y="398"/>
                    <a:pt x="6656" y="373"/>
                  </a:cubicBezTo>
                  <a:cubicBezTo>
                    <a:pt x="6656" y="347"/>
                    <a:pt x="6677" y="326"/>
                    <a:pt x="6703" y="326"/>
                  </a:cubicBezTo>
                  <a:cubicBezTo>
                    <a:pt x="6728" y="326"/>
                    <a:pt x="6750" y="347"/>
                    <a:pt x="6750" y="373"/>
                  </a:cubicBezTo>
                  <a:close/>
                  <a:moveTo>
                    <a:pt x="6851" y="373"/>
                  </a:moveTo>
                  <a:cubicBezTo>
                    <a:pt x="6851" y="398"/>
                    <a:pt x="6829" y="420"/>
                    <a:pt x="6804" y="420"/>
                  </a:cubicBezTo>
                  <a:cubicBezTo>
                    <a:pt x="6778" y="420"/>
                    <a:pt x="6757" y="398"/>
                    <a:pt x="6757" y="373"/>
                  </a:cubicBezTo>
                  <a:cubicBezTo>
                    <a:pt x="6757" y="347"/>
                    <a:pt x="6778" y="326"/>
                    <a:pt x="6804" y="326"/>
                  </a:cubicBezTo>
                  <a:cubicBezTo>
                    <a:pt x="6829" y="326"/>
                    <a:pt x="6851" y="347"/>
                    <a:pt x="6851" y="373"/>
                  </a:cubicBezTo>
                  <a:close/>
                  <a:moveTo>
                    <a:pt x="6951" y="373"/>
                  </a:moveTo>
                  <a:cubicBezTo>
                    <a:pt x="6951" y="398"/>
                    <a:pt x="6929" y="420"/>
                    <a:pt x="6904" y="420"/>
                  </a:cubicBezTo>
                  <a:cubicBezTo>
                    <a:pt x="6878" y="420"/>
                    <a:pt x="6857" y="398"/>
                    <a:pt x="6857" y="373"/>
                  </a:cubicBezTo>
                  <a:cubicBezTo>
                    <a:pt x="6857" y="347"/>
                    <a:pt x="6878" y="326"/>
                    <a:pt x="6904" y="326"/>
                  </a:cubicBezTo>
                  <a:cubicBezTo>
                    <a:pt x="6929" y="326"/>
                    <a:pt x="6951" y="347"/>
                    <a:pt x="6951" y="373"/>
                  </a:cubicBezTo>
                  <a:close/>
                  <a:moveTo>
                    <a:pt x="7052" y="373"/>
                  </a:moveTo>
                  <a:cubicBezTo>
                    <a:pt x="7052" y="398"/>
                    <a:pt x="7030" y="420"/>
                    <a:pt x="7005" y="420"/>
                  </a:cubicBezTo>
                  <a:cubicBezTo>
                    <a:pt x="6979" y="420"/>
                    <a:pt x="6958" y="398"/>
                    <a:pt x="6958" y="373"/>
                  </a:cubicBezTo>
                  <a:cubicBezTo>
                    <a:pt x="6958" y="347"/>
                    <a:pt x="6979" y="326"/>
                    <a:pt x="7005" y="326"/>
                  </a:cubicBezTo>
                  <a:cubicBezTo>
                    <a:pt x="7030" y="326"/>
                    <a:pt x="7052" y="347"/>
                    <a:pt x="7052" y="373"/>
                  </a:cubicBezTo>
                  <a:close/>
                  <a:moveTo>
                    <a:pt x="7153" y="373"/>
                  </a:moveTo>
                  <a:cubicBezTo>
                    <a:pt x="7153" y="398"/>
                    <a:pt x="7131" y="420"/>
                    <a:pt x="7106" y="420"/>
                  </a:cubicBezTo>
                  <a:cubicBezTo>
                    <a:pt x="7080" y="420"/>
                    <a:pt x="7059" y="398"/>
                    <a:pt x="7059" y="373"/>
                  </a:cubicBezTo>
                  <a:cubicBezTo>
                    <a:pt x="7059" y="347"/>
                    <a:pt x="7080" y="326"/>
                    <a:pt x="7106" y="326"/>
                  </a:cubicBezTo>
                  <a:cubicBezTo>
                    <a:pt x="7131" y="326"/>
                    <a:pt x="7153" y="347"/>
                    <a:pt x="7153" y="373"/>
                  </a:cubicBezTo>
                  <a:close/>
                  <a:moveTo>
                    <a:pt x="7254" y="373"/>
                  </a:moveTo>
                  <a:cubicBezTo>
                    <a:pt x="7254" y="398"/>
                    <a:pt x="7232" y="420"/>
                    <a:pt x="7207" y="420"/>
                  </a:cubicBezTo>
                  <a:cubicBezTo>
                    <a:pt x="7181" y="420"/>
                    <a:pt x="7160" y="398"/>
                    <a:pt x="7160" y="373"/>
                  </a:cubicBezTo>
                  <a:cubicBezTo>
                    <a:pt x="7160" y="347"/>
                    <a:pt x="7181" y="326"/>
                    <a:pt x="7207" y="326"/>
                  </a:cubicBezTo>
                  <a:cubicBezTo>
                    <a:pt x="7232" y="326"/>
                    <a:pt x="7254" y="347"/>
                    <a:pt x="7254" y="373"/>
                  </a:cubicBezTo>
                  <a:close/>
                  <a:moveTo>
                    <a:pt x="7355" y="373"/>
                  </a:moveTo>
                  <a:cubicBezTo>
                    <a:pt x="7355" y="398"/>
                    <a:pt x="7333" y="420"/>
                    <a:pt x="7308" y="420"/>
                  </a:cubicBezTo>
                  <a:cubicBezTo>
                    <a:pt x="7282" y="420"/>
                    <a:pt x="7261" y="398"/>
                    <a:pt x="7261" y="373"/>
                  </a:cubicBezTo>
                  <a:cubicBezTo>
                    <a:pt x="7261" y="347"/>
                    <a:pt x="7282" y="326"/>
                    <a:pt x="7308" y="326"/>
                  </a:cubicBezTo>
                  <a:cubicBezTo>
                    <a:pt x="7333" y="326"/>
                    <a:pt x="7355" y="347"/>
                    <a:pt x="7355" y="373"/>
                  </a:cubicBezTo>
                  <a:close/>
                  <a:moveTo>
                    <a:pt x="7455" y="373"/>
                  </a:moveTo>
                  <a:cubicBezTo>
                    <a:pt x="7455" y="398"/>
                    <a:pt x="7433" y="420"/>
                    <a:pt x="7408" y="420"/>
                  </a:cubicBezTo>
                  <a:cubicBezTo>
                    <a:pt x="7382" y="420"/>
                    <a:pt x="7361" y="398"/>
                    <a:pt x="7361" y="373"/>
                  </a:cubicBezTo>
                  <a:cubicBezTo>
                    <a:pt x="7361" y="347"/>
                    <a:pt x="7382" y="326"/>
                    <a:pt x="7408" y="326"/>
                  </a:cubicBezTo>
                  <a:cubicBezTo>
                    <a:pt x="7433" y="326"/>
                    <a:pt x="7455" y="347"/>
                    <a:pt x="7455" y="373"/>
                  </a:cubicBezTo>
                  <a:close/>
                  <a:moveTo>
                    <a:pt x="7556" y="373"/>
                  </a:moveTo>
                  <a:cubicBezTo>
                    <a:pt x="7556" y="398"/>
                    <a:pt x="7534" y="420"/>
                    <a:pt x="7509" y="420"/>
                  </a:cubicBezTo>
                  <a:cubicBezTo>
                    <a:pt x="7483" y="420"/>
                    <a:pt x="7462" y="398"/>
                    <a:pt x="7462" y="373"/>
                  </a:cubicBezTo>
                  <a:cubicBezTo>
                    <a:pt x="7462" y="347"/>
                    <a:pt x="7483" y="326"/>
                    <a:pt x="7509" y="326"/>
                  </a:cubicBezTo>
                  <a:cubicBezTo>
                    <a:pt x="7534" y="326"/>
                    <a:pt x="7556" y="347"/>
                    <a:pt x="7556" y="373"/>
                  </a:cubicBezTo>
                  <a:close/>
                  <a:moveTo>
                    <a:pt x="7657" y="373"/>
                  </a:moveTo>
                  <a:cubicBezTo>
                    <a:pt x="7657" y="398"/>
                    <a:pt x="7635" y="420"/>
                    <a:pt x="7610" y="420"/>
                  </a:cubicBezTo>
                  <a:cubicBezTo>
                    <a:pt x="7584" y="420"/>
                    <a:pt x="7563" y="398"/>
                    <a:pt x="7563" y="373"/>
                  </a:cubicBezTo>
                  <a:cubicBezTo>
                    <a:pt x="7563" y="347"/>
                    <a:pt x="7584" y="326"/>
                    <a:pt x="7610" y="326"/>
                  </a:cubicBezTo>
                  <a:cubicBezTo>
                    <a:pt x="7635" y="326"/>
                    <a:pt x="7657" y="347"/>
                    <a:pt x="7657" y="373"/>
                  </a:cubicBezTo>
                  <a:close/>
                  <a:moveTo>
                    <a:pt x="7758" y="373"/>
                  </a:moveTo>
                  <a:cubicBezTo>
                    <a:pt x="7758" y="398"/>
                    <a:pt x="7736" y="420"/>
                    <a:pt x="7711" y="420"/>
                  </a:cubicBezTo>
                  <a:cubicBezTo>
                    <a:pt x="7685" y="420"/>
                    <a:pt x="7664" y="398"/>
                    <a:pt x="7664" y="373"/>
                  </a:cubicBezTo>
                  <a:cubicBezTo>
                    <a:pt x="7664" y="347"/>
                    <a:pt x="7685" y="326"/>
                    <a:pt x="7711" y="326"/>
                  </a:cubicBezTo>
                  <a:cubicBezTo>
                    <a:pt x="7736" y="326"/>
                    <a:pt x="7758" y="347"/>
                    <a:pt x="7758" y="373"/>
                  </a:cubicBezTo>
                  <a:close/>
                  <a:moveTo>
                    <a:pt x="7859" y="373"/>
                  </a:moveTo>
                  <a:cubicBezTo>
                    <a:pt x="7859" y="398"/>
                    <a:pt x="7837" y="420"/>
                    <a:pt x="7812" y="420"/>
                  </a:cubicBezTo>
                  <a:cubicBezTo>
                    <a:pt x="7786" y="420"/>
                    <a:pt x="7765" y="398"/>
                    <a:pt x="7765" y="373"/>
                  </a:cubicBezTo>
                  <a:cubicBezTo>
                    <a:pt x="7765" y="347"/>
                    <a:pt x="7786" y="326"/>
                    <a:pt x="7812" y="326"/>
                  </a:cubicBezTo>
                  <a:cubicBezTo>
                    <a:pt x="7837" y="326"/>
                    <a:pt x="7859" y="347"/>
                    <a:pt x="7859" y="373"/>
                  </a:cubicBezTo>
                  <a:close/>
                  <a:moveTo>
                    <a:pt x="7959" y="373"/>
                  </a:moveTo>
                  <a:cubicBezTo>
                    <a:pt x="7959" y="398"/>
                    <a:pt x="7937" y="420"/>
                    <a:pt x="7912" y="420"/>
                  </a:cubicBezTo>
                  <a:cubicBezTo>
                    <a:pt x="7886" y="420"/>
                    <a:pt x="7865" y="398"/>
                    <a:pt x="7865" y="373"/>
                  </a:cubicBezTo>
                  <a:cubicBezTo>
                    <a:pt x="7865" y="347"/>
                    <a:pt x="7886" y="326"/>
                    <a:pt x="7912" y="326"/>
                  </a:cubicBezTo>
                  <a:cubicBezTo>
                    <a:pt x="7937" y="326"/>
                    <a:pt x="7959" y="347"/>
                    <a:pt x="7959" y="373"/>
                  </a:cubicBezTo>
                  <a:close/>
                  <a:moveTo>
                    <a:pt x="8060" y="373"/>
                  </a:moveTo>
                  <a:cubicBezTo>
                    <a:pt x="8060" y="398"/>
                    <a:pt x="8038" y="420"/>
                    <a:pt x="8013" y="420"/>
                  </a:cubicBezTo>
                  <a:cubicBezTo>
                    <a:pt x="7987" y="420"/>
                    <a:pt x="7966" y="398"/>
                    <a:pt x="7966" y="373"/>
                  </a:cubicBezTo>
                  <a:cubicBezTo>
                    <a:pt x="7966" y="347"/>
                    <a:pt x="7987" y="326"/>
                    <a:pt x="8013" y="326"/>
                  </a:cubicBezTo>
                  <a:cubicBezTo>
                    <a:pt x="8038" y="326"/>
                    <a:pt x="8060" y="347"/>
                    <a:pt x="8060" y="373"/>
                  </a:cubicBezTo>
                  <a:close/>
                  <a:moveTo>
                    <a:pt x="8161" y="373"/>
                  </a:moveTo>
                  <a:cubicBezTo>
                    <a:pt x="8161" y="398"/>
                    <a:pt x="8139" y="420"/>
                    <a:pt x="8114" y="420"/>
                  </a:cubicBezTo>
                  <a:cubicBezTo>
                    <a:pt x="8088" y="420"/>
                    <a:pt x="8067" y="398"/>
                    <a:pt x="8067" y="373"/>
                  </a:cubicBezTo>
                  <a:cubicBezTo>
                    <a:pt x="8067" y="347"/>
                    <a:pt x="8088" y="326"/>
                    <a:pt x="8114" y="326"/>
                  </a:cubicBezTo>
                  <a:cubicBezTo>
                    <a:pt x="8139" y="326"/>
                    <a:pt x="8161" y="347"/>
                    <a:pt x="8161" y="373"/>
                  </a:cubicBezTo>
                  <a:close/>
                  <a:moveTo>
                    <a:pt x="8262" y="373"/>
                  </a:moveTo>
                  <a:cubicBezTo>
                    <a:pt x="8262" y="398"/>
                    <a:pt x="8240" y="420"/>
                    <a:pt x="8215" y="420"/>
                  </a:cubicBezTo>
                  <a:cubicBezTo>
                    <a:pt x="8189" y="420"/>
                    <a:pt x="8168" y="398"/>
                    <a:pt x="8168" y="373"/>
                  </a:cubicBezTo>
                  <a:cubicBezTo>
                    <a:pt x="8168" y="347"/>
                    <a:pt x="8189" y="326"/>
                    <a:pt x="8215" y="326"/>
                  </a:cubicBezTo>
                  <a:cubicBezTo>
                    <a:pt x="8240" y="326"/>
                    <a:pt x="8262" y="347"/>
                    <a:pt x="8262" y="373"/>
                  </a:cubicBezTo>
                  <a:close/>
                  <a:moveTo>
                    <a:pt x="8363" y="373"/>
                  </a:moveTo>
                  <a:cubicBezTo>
                    <a:pt x="8363" y="398"/>
                    <a:pt x="8341" y="420"/>
                    <a:pt x="8316" y="420"/>
                  </a:cubicBezTo>
                  <a:cubicBezTo>
                    <a:pt x="8290" y="420"/>
                    <a:pt x="8269" y="398"/>
                    <a:pt x="8269" y="373"/>
                  </a:cubicBezTo>
                  <a:cubicBezTo>
                    <a:pt x="8269" y="347"/>
                    <a:pt x="8290" y="326"/>
                    <a:pt x="8316" y="326"/>
                  </a:cubicBezTo>
                  <a:cubicBezTo>
                    <a:pt x="8341" y="326"/>
                    <a:pt x="8363" y="347"/>
                    <a:pt x="8363" y="373"/>
                  </a:cubicBezTo>
                  <a:close/>
                  <a:moveTo>
                    <a:pt x="8463" y="373"/>
                  </a:moveTo>
                  <a:cubicBezTo>
                    <a:pt x="8463" y="398"/>
                    <a:pt x="8441" y="420"/>
                    <a:pt x="8416" y="420"/>
                  </a:cubicBezTo>
                  <a:cubicBezTo>
                    <a:pt x="8390" y="420"/>
                    <a:pt x="8369" y="398"/>
                    <a:pt x="8369" y="373"/>
                  </a:cubicBezTo>
                  <a:cubicBezTo>
                    <a:pt x="8369" y="347"/>
                    <a:pt x="8390" y="326"/>
                    <a:pt x="8416" y="326"/>
                  </a:cubicBezTo>
                  <a:cubicBezTo>
                    <a:pt x="8441" y="326"/>
                    <a:pt x="8463" y="347"/>
                    <a:pt x="8463" y="373"/>
                  </a:cubicBezTo>
                  <a:close/>
                  <a:moveTo>
                    <a:pt x="8564" y="373"/>
                  </a:moveTo>
                  <a:cubicBezTo>
                    <a:pt x="8564" y="398"/>
                    <a:pt x="8542" y="420"/>
                    <a:pt x="8517" y="420"/>
                  </a:cubicBezTo>
                  <a:cubicBezTo>
                    <a:pt x="8491" y="420"/>
                    <a:pt x="8470" y="398"/>
                    <a:pt x="8470" y="373"/>
                  </a:cubicBezTo>
                  <a:cubicBezTo>
                    <a:pt x="8470" y="347"/>
                    <a:pt x="8491" y="326"/>
                    <a:pt x="8517" y="326"/>
                  </a:cubicBezTo>
                  <a:cubicBezTo>
                    <a:pt x="8542" y="326"/>
                    <a:pt x="8564" y="347"/>
                    <a:pt x="8564" y="373"/>
                  </a:cubicBezTo>
                  <a:close/>
                  <a:moveTo>
                    <a:pt x="8665" y="373"/>
                  </a:moveTo>
                  <a:cubicBezTo>
                    <a:pt x="8665" y="398"/>
                    <a:pt x="8643" y="420"/>
                    <a:pt x="8618" y="420"/>
                  </a:cubicBezTo>
                  <a:cubicBezTo>
                    <a:pt x="8592" y="420"/>
                    <a:pt x="8571" y="398"/>
                    <a:pt x="8571" y="373"/>
                  </a:cubicBezTo>
                  <a:cubicBezTo>
                    <a:pt x="8571" y="347"/>
                    <a:pt x="8592" y="326"/>
                    <a:pt x="8618" y="326"/>
                  </a:cubicBezTo>
                  <a:cubicBezTo>
                    <a:pt x="8643" y="326"/>
                    <a:pt x="8665" y="347"/>
                    <a:pt x="8665" y="373"/>
                  </a:cubicBezTo>
                  <a:close/>
                  <a:moveTo>
                    <a:pt x="8766" y="373"/>
                  </a:moveTo>
                  <a:cubicBezTo>
                    <a:pt x="8766" y="398"/>
                    <a:pt x="8744" y="420"/>
                    <a:pt x="8719" y="420"/>
                  </a:cubicBezTo>
                  <a:cubicBezTo>
                    <a:pt x="8693" y="420"/>
                    <a:pt x="8672" y="398"/>
                    <a:pt x="8672" y="373"/>
                  </a:cubicBezTo>
                  <a:cubicBezTo>
                    <a:pt x="8672" y="347"/>
                    <a:pt x="8693" y="326"/>
                    <a:pt x="8719" y="326"/>
                  </a:cubicBezTo>
                  <a:cubicBezTo>
                    <a:pt x="8744" y="326"/>
                    <a:pt x="8766" y="347"/>
                    <a:pt x="8766" y="373"/>
                  </a:cubicBezTo>
                  <a:close/>
                  <a:moveTo>
                    <a:pt x="8867" y="373"/>
                  </a:moveTo>
                  <a:cubicBezTo>
                    <a:pt x="8867" y="398"/>
                    <a:pt x="8845" y="420"/>
                    <a:pt x="8820" y="420"/>
                  </a:cubicBezTo>
                  <a:cubicBezTo>
                    <a:pt x="8794" y="420"/>
                    <a:pt x="8773" y="398"/>
                    <a:pt x="8773" y="373"/>
                  </a:cubicBezTo>
                  <a:cubicBezTo>
                    <a:pt x="8773" y="347"/>
                    <a:pt x="8794" y="326"/>
                    <a:pt x="8820" y="326"/>
                  </a:cubicBezTo>
                  <a:cubicBezTo>
                    <a:pt x="8845" y="326"/>
                    <a:pt x="8867" y="347"/>
                    <a:pt x="8867" y="373"/>
                  </a:cubicBezTo>
                  <a:close/>
                  <a:moveTo>
                    <a:pt x="8967" y="373"/>
                  </a:moveTo>
                  <a:cubicBezTo>
                    <a:pt x="8967" y="398"/>
                    <a:pt x="8945" y="420"/>
                    <a:pt x="8920" y="420"/>
                  </a:cubicBezTo>
                  <a:cubicBezTo>
                    <a:pt x="8894" y="420"/>
                    <a:pt x="8873" y="398"/>
                    <a:pt x="8873" y="373"/>
                  </a:cubicBezTo>
                  <a:cubicBezTo>
                    <a:pt x="8873" y="347"/>
                    <a:pt x="8894" y="326"/>
                    <a:pt x="8920" y="326"/>
                  </a:cubicBezTo>
                  <a:cubicBezTo>
                    <a:pt x="8945" y="326"/>
                    <a:pt x="8967" y="347"/>
                    <a:pt x="8967" y="373"/>
                  </a:cubicBezTo>
                  <a:close/>
                  <a:moveTo>
                    <a:pt x="9068" y="373"/>
                  </a:moveTo>
                  <a:cubicBezTo>
                    <a:pt x="9068" y="398"/>
                    <a:pt x="9046" y="420"/>
                    <a:pt x="9021" y="420"/>
                  </a:cubicBezTo>
                  <a:cubicBezTo>
                    <a:pt x="8995" y="420"/>
                    <a:pt x="8974" y="398"/>
                    <a:pt x="8974" y="373"/>
                  </a:cubicBezTo>
                  <a:cubicBezTo>
                    <a:pt x="8974" y="347"/>
                    <a:pt x="8995" y="326"/>
                    <a:pt x="9021" y="326"/>
                  </a:cubicBezTo>
                  <a:cubicBezTo>
                    <a:pt x="9046" y="326"/>
                    <a:pt x="9068" y="347"/>
                    <a:pt x="9068" y="373"/>
                  </a:cubicBezTo>
                  <a:close/>
                  <a:moveTo>
                    <a:pt x="9169" y="373"/>
                  </a:moveTo>
                  <a:cubicBezTo>
                    <a:pt x="9169" y="398"/>
                    <a:pt x="9147" y="420"/>
                    <a:pt x="9122" y="420"/>
                  </a:cubicBezTo>
                  <a:cubicBezTo>
                    <a:pt x="9096" y="420"/>
                    <a:pt x="9075" y="398"/>
                    <a:pt x="9075" y="373"/>
                  </a:cubicBezTo>
                  <a:cubicBezTo>
                    <a:pt x="9075" y="347"/>
                    <a:pt x="9096" y="326"/>
                    <a:pt x="9122" y="326"/>
                  </a:cubicBezTo>
                  <a:cubicBezTo>
                    <a:pt x="9147" y="326"/>
                    <a:pt x="9169" y="347"/>
                    <a:pt x="9169" y="373"/>
                  </a:cubicBezTo>
                  <a:close/>
                  <a:moveTo>
                    <a:pt x="9270" y="373"/>
                  </a:moveTo>
                  <a:cubicBezTo>
                    <a:pt x="9270" y="398"/>
                    <a:pt x="9248" y="420"/>
                    <a:pt x="9223" y="420"/>
                  </a:cubicBezTo>
                  <a:cubicBezTo>
                    <a:pt x="9197" y="420"/>
                    <a:pt x="9176" y="398"/>
                    <a:pt x="9176" y="373"/>
                  </a:cubicBezTo>
                  <a:cubicBezTo>
                    <a:pt x="9176" y="347"/>
                    <a:pt x="9197" y="326"/>
                    <a:pt x="9223" y="326"/>
                  </a:cubicBezTo>
                  <a:cubicBezTo>
                    <a:pt x="9248" y="326"/>
                    <a:pt x="9270" y="347"/>
                    <a:pt x="9270" y="373"/>
                  </a:cubicBezTo>
                  <a:close/>
                  <a:moveTo>
                    <a:pt x="9371" y="373"/>
                  </a:moveTo>
                  <a:cubicBezTo>
                    <a:pt x="9371" y="398"/>
                    <a:pt x="9349" y="420"/>
                    <a:pt x="9324" y="420"/>
                  </a:cubicBezTo>
                  <a:cubicBezTo>
                    <a:pt x="9298" y="420"/>
                    <a:pt x="9277" y="398"/>
                    <a:pt x="9277" y="373"/>
                  </a:cubicBezTo>
                  <a:cubicBezTo>
                    <a:pt x="9277" y="347"/>
                    <a:pt x="9298" y="326"/>
                    <a:pt x="9324" y="326"/>
                  </a:cubicBezTo>
                  <a:cubicBezTo>
                    <a:pt x="9349" y="326"/>
                    <a:pt x="9371" y="347"/>
                    <a:pt x="9371" y="373"/>
                  </a:cubicBezTo>
                  <a:close/>
                  <a:moveTo>
                    <a:pt x="9471" y="373"/>
                  </a:moveTo>
                  <a:cubicBezTo>
                    <a:pt x="9471" y="398"/>
                    <a:pt x="9449" y="420"/>
                    <a:pt x="9424" y="420"/>
                  </a:cubicBezTo>
                  <a:cubicBezTo>
                    <a:pt x="9398" y="420"/>
                    <a:pt x="9377" y="398"/>
                    <a:pt x="9377" y="373"/>
                  </a:cubicBezTo>
                  <a:cubicBezTo>
                    <a:pt x="9377" y="347"/>
                    <a:pt x="9398" y="326"/>
                    <a:pt x="9424" y="326"/>
                  </a:cubicBezTo>
                  <a:cubicBezTo>
                    <a:pt x="9449" y="326"/>
                    <a:pt x="9471" y="347"/>
                    <a:pt x="9471" y="373"/>
                  </a:cubicBezTo>
                  <a:close/>
                  <a:moveTo>
                    <a:pt x="9572" y="373"/>
                  </a:moveTo>
                  <a:cubicBezTo>
                    <a:pt x="9572" y="398"/>
                    <a:pt x="9550" y="420"/>
                    <a:pt x="9525" y="420"/>
                  </a:cubicBezTo>
                  <a:cubicBezTo>
                    <a:pt x="9499" y="420"/>
                    <a:pt x="9478" y="398"/>
                    <a:pt x="9478" y="373"/>
                  </a:cubicBezTo>
                  <a:cubicBezTo>
                    <a:pt x="9478" y="347"/>
                    <a:pt x="9499" y="326"/>
                    <a:pt x="9525" y="326"/>
                  </a:cubicBezTo>
                  <a:cubicBezTo>
                    <a:pt x="9550" y="326"/>
                    <a:pt x="9572" y="347"/>
                    <a:pt x="9572" y="373"/>
                  </a:cubicBezTo>
                  <a:close/>
                  <a:moveTo>
                    <a:pt x="9673" y="373"/>
                  </a:moveTo>
                  <a:cubicBezTo>
                    <a:pt x="9673" y="398"/>
                    <a:pt x="9651" y="420"/>
                    <a:pt x="9626" y="420"/>
                  </a:cubicBezTo>
                  <a:cubicBezTo>
                    <a:pt x="9600" y="420"/>
                    <a:pt x="9579" y="398"/>
                    <a:pt x="9579" y="373"/>
                  </a:cubicBezTo>
                  <a:cubicBezTo>
                    <a:pt x="9579" y="347"/>
                    <a:pt x="9600" y="326"/>
                    <a:pt x="9626" y="326"/>
                  </a:cubicBezTo>
                  <a:cubicBezTo>
                    <a:pt x="9651" y="326"/>
                    <a:pt x="9673" y="347"/>
                    <a:pt x="9673" y="373"/>
                  </a:cubicBezTo>
                  <a:close/>
                  <a:moveTo>
                    <a:pt x="9774" y="373"/>
                  </a:moveTo>
                  <a:cubicBezTo>
                    <a:pt x="9774" y="398"/>
                    <a:pt x="9752" y="420"/>
                    <a:pt x="9727" y="420"/>
                  </a:cubicBezTo>
                  <a:cubicBezTo>
                    <a:pt x="9701" y="420"/>
                    <a:pt x="9680" y="398"/>
                    <a:pt x="9680" y="373"/>
                  </a:cubicBezTo>
                  <a:cubicBezTo>
                    <a:pt x="9680" y="347"/>
                    <a:pt x="9701" y="326"/>
                    <a:pt x="9727" y="326"/>
                  </a:cubicBezTo>
                  <a:cubicBezTo>
                    <a:pt x="9752" y="326"/>
                    <a:pt x="9774" y="347"/>
                    <a:pt x="9774" y="373"/>
                  </a:cubicBezTo>
                  <a:close/>
                  <a:moveTo>
                    <a:pt x="9875" y="373"/>
                  </a:moveTo>
                  <a:cubicBezTo>
                    <a:pt x="9875" y="398"/>
                    <a:pt x="9853" y="420"/>
                    <a:pt x="9828" y="420"/>
                  </a:cubicBezTo>
                  <a:cubicBezTo>
                    <a:pt x="9802" y="420"/>
                    <a:pt x="9781" y="398"/>
                    <a:pt x="9781" y="373"/>
                  </a:cubicBezTo>
                  <a:cubicBezTo>
                    <a:pt x="9781" y="347"/>
                    <a:pt x="9802" y="326"/>
                    <a:pt x="9828" y="326"/>
                  </a:cubicBezTo>
                  <a:cubicBezTo>
                    <a:pt x="9853" y="326"/>
                    <a:pt x="9875" y="347"/>
                    <a:pt x="9875" y="373"/>
                  </a:cubicBezTo>
                  <a:close/>
                  <a:moveTo>
                    <a:pt x="9975" y="373"/>
                  </a:moveTo>
                  <a:cubicBezTo>
                    <a:pt x="9975" y="398"/>
                    <a:pt x="9953" y="420"/>
                    <a:pt x="9928" y="420"/>
                  </a:cubicBezTo>
                  <a:cubicBezTo>
                    <a:pt x="9902" y="420"/>
                    <a:pt x="9881" y="398"/>
                    <a:pt x="9881" y="373"/>
                  </a:cubicBezTo>
                  <a:cubicBezTo>
                    <a:pt x="9881" y="347"/>
                    <a:pt x="9902" y="326"/>
                    <a:pt x="9928" y="326"/>
                  </a:cubicBezTo>
                  <a:cubicBezTo>
                    <a:pt x="9953" y="326"/>
                    <a:pt x="9975" y="347"/>
                    <a:pt x="9975" y="373"/>
                  </a:cubicBezTo>
                  <a:close/>
                  <a:moveTo>
                    <a:pt x="10076" y="373"/>
                  </a:moveTo>
                  <a:cubicBezTo>
                    <a:pt x="10076" y="398"/>
                    <a:pt x="10054" y="420"/>
                    <a:pt x="10029" y="420"/>
                  </a:cubicBezTo>
                  <a:cubicBezTo>
                    <a:pt x="10003" y="420"/>
                    <a:pt x="9982" y="398"/>
                    <a:pt x="9982" y="373"/>
                  </a:cubicBezTo>
                  <a:cubicBezTo>
                    <a:pt x="9982" y="347"/>
                    <a:pt x="10003" y="326"/>
                    <a:pt x="10029" y="326"/>
                  </a:cubicBezTo>
                  <a:cubicBezTo>
                    <a:pt x="10054" y="326"/>
                    <a:pt x="10076" y="347"/>
                    <a:pt x="10076" y="373"/>
                  </a:cubicBezTo>
                  <a:close/>
                  <a:moveTo>
                    <a:pt x="10177" y="373"/>
                  </a:moveTo>
                  <a:cubicBezTo>
                    <a:pt x="10177" y="398"/>
                    <a:pt x="10155" y="420"/>
                    <a:pt x="10130" y="420"/>
                  </a:cubicBezTo>
                  <a:cubicBezTo>
                    <a:pt x="10104" y="420"/>
                    <a:pt x="10083" y="398"/>
                    <a:pt x="10083" y="373"/>
                  </a:cubicBezTo>
                  <a:cubicBezTo>
                    <a:pt x="10083" y="347"/>
                    <a:pt x="10104" y="326"/>
                    <a:pt x="10130" y="326"/>
                  </a:cubicBezTo>
                  <a:cubicBezTo>
                    <a:pt x="10155" y="326"/>
                    <a:pt x="10177" y="347"/>
                    <a:pt x="10177" y="373"/>
                  </a:cubicBezTo>
                  <a:close/>
                  <a:moveTo>
                    <a:pt x="10278" y="373"/>
                  </a:moveTo>
                  <a:cubicBezTo>
                    <a:pt x="10278" y="398"/>
                    <a:pt x="10256" y="420"/>
                    <a:pt x="10231" y="420"/>
                  </a:cubicBezTo>
                  <a:cubicBezTo>
                    <a:pt x="10205" y="420"/>
                    <a:pt x="10184" y="398"/>
                    <a:pt x="10184" y="373"/>
                  </a:cubicBezTo>
                  <a:cubicBezTo>
                    <a:pt x="10184" y="347"/>
                    <a:pt x="10205" y="326"/>
                    <a:pt x="10231" y="326"/>
                  </a:cubicBezTo>
                  <a:cubicBezTo>
                    <a:pt x="10256" y="326"/>
                    <a:pt x="10278" y="347"/>
                    <a:pt x="10278" y="373"/>
                  </a:cubicBezTo>
                  <a:close/>
                  <a:moveTo>
                    <a:pt x="10379" y="373"/>
                  </a:moveTo>
                  <a:cubicBezTo>
                    <a:pt x="10379" y="398"/>
                    <a:pt x="10357" y="420"/>
                    <a:pt x="10332" y="420"/>
                  </a:cubicBezTo>
                  <a:cubicBezTo>
                    <a:pt x="10306" y="420"/>
                    <a:pt x="10285" y="398"/>
                    <a:pt x="10285" y="373"/>
                  </a:cubicBezTo>
                  <a:cubicBezTo>
                    <a:pt x="10285" y="347"/>
                    <a:pt x="10306" y="326"/>
                    <a:pt x="10332" y="326"/>
                  </a:cubicBezTo>
                  <a:cubicBezTo>
                    <a:pt x="10357" y="326"/>
                    <a:pt x="10379" y="347"/>
                    <a:pt x="10379" y="373"/>
                  </a:cubicBezTo>
                  <a:close/>
                  <a:moveTo>
                    <a:pt x="10479" y="373"/>
                  </a:moveTo>
                  <a:cubicBezTo>
                    <a:pt x="10479" y="398"/>
                    <a:pt x="10457" y="420"/>
                    <a:pt x="10432" y="420"/>
                  </a:cubicBezTo>
                  <a:cubicBezTo>
                    <a:pt x="10406" y="420"/>
                    <a:pt x="10385" y="398"/>
                    <a:pt x="10385" y="373"/>
                  </a:cubicBezTo>
                  <a:cubicBezTo>
                    <a:pt x="10385" y="347"/>
                    <a:pt x="10406" y="326"/>
                    <a:pt x="10432" y="326"/>
                  </a:cubicBezTo>
                  <a:cubicBezTo>
                    <a:pt x="10457" y="326"/>
                    <a:pt x="10479" y="347"/>
                    <a:pt x="10479" y="373"/>
                  </a:cubicBezTo>
                  <a:close/>
                  <a:moveTo>
                    <a:pt x="10580" y="373"/>
                  </a:moveTo>
                  <a:cubicBezTo>
                    <a:pt x="10580" y="398"/>
                    <a:pt x="10558" y="420"/>
                    <a:pt x="10533" y="420"/>
                  </a:cubicBezTo>
                  <a:cubicBezTo>
                    <a:pt x="10507" y="420"/>
                    <a:pt x="10486" y="398"/>
                    <a:pt x="10486" y="373"/>
                  </a:cubicBezTo>
                  <a:cubicBezTo>
                    <a:pt x="10486" y="347"/>
                    <a:pt x="10507" y="326"/>
                    <a:pt x="10533" y="326"/>
                  </a:cubicBezTo>
                  <a:cubicBezTo>
                    <a:pt x="10558" y="326"/>
                    <a:pt x="10580" y="347"/>
                    <a:pt x="10580" y="373"/>
                  </a:cubicBezTo>
                  <a:close/>
                  <a:moveTo>
                    <a:pt x="10681" y="373"/>
                  </a:moveTo>
                  <a:cubicBezTo>
                    <a:pt x="10681" y="398"/>
                    <a:pt x="10659" y="420"/>
                    <a:pt x="10634" y="420"/>
                  </a:cubicBezTo>
                  <a:cubicBezTo>
                    <a:pt x="10608" y="420"/>
                    <a:pt x="10587" y="398"/>
                    <a:pt x="10587" y="373"/>
                  </a:cubicBezTo>
                  <a:cubicBezTo>
                    <a:pt x="10587" y="347"/>
                    <a:pt x="10608" y="326"/>
                    <a:pt x="10634" y="326"/>
                  </a:cubicBezTo>
                  <a:cubicBezTo>
                    <a:pt x="10659" y="326"/>
                    <a:pt x="10681" y="347"/>
                    <a:pt x="10681" y="373"/>
                  </a:cubicBezTo>
                  <a:close/>
                  <a:moveTo>
                    <a:pt x="10782" y="373"/>
                  </a:moveTo>
                  <a:cubicBezTo>
                    <a:pt x="10782" y="398"/>
                    <a:pt x="10760" y="420"/>
                    <a:pt x="10735" y="420"/>
                  </a:cubicBezTo>
                  <a:cubicBezTo>
                    <a:pt x="10709" y="420"/>
                    <a:pt x="10688" y="398"/>
                    <a:pt x="10688" y="373"/>
                  </a:cubicBezTo>
                  <a:cubicBezTo>
                    <a:pt x="10688" y="347"/>
                    <a:pt x="10709" y="326"/>
                    <a:pt x="10735" y="326"/>
                  </a:cubicBezTo>
                  <a:cubicBezTo>
                    <a:pt x="10760" y="326"/>
                    <a:pt x="10782" y="347"/>
                    <a:pt x="10782" y="373"/>
                  </a:cubicBezTo>
                  <a:close/>
                  <a:moveTo>
                    <a:pt x="10883" y="373"/>
                  </a:moveTo>
                  <a:cubicBezTo>
                    <a:pt x="10883" y="398"/>
                    <a:pt x="10861" y="420"/>
                    <a:pt x="10836" y="420"/>
                  </a:cubicBezTo>
                  <a:cubicBezTo>
                    <a:pt x="10810" y="420"/>
                    <a:pt x="10789" y="398"/>
                    <a:pt x="10789" y="373"/>
                  </a:cubicBezTo>
                  <a:cubicBezTo>
                    <a:pt x="10789" y="347"/>
                    <a:pt x="10810" y="326"/>
                    <a:pt x="10836" y="326"/>
                  </a:cubicBezTo>
                  <a:cubicBezTo>
                    <a:pt x="10861" y="326"/>
                    <a:pt x="10883" y="347"/>
                    <a:pt x="10883" y="373"/>
                  </a:cubicBezTo>
                  <a:close/>
                  <a:moveTo>
                    <a:pt x="10983" y="373"/>
                  </a:moveTo>
                  <a:cubicBezTo>
                    <a:pt x="10983" y="398"/>
                    <a:pt x="10961" y="420"/>
                    <a:pt x="10936" y="420"/>
                  </a:cubicBezTo>
                  <a:cubicBezTo>
                    <a:pt x="10910" y="420"/>
                    <a:pt x="10889" y="398"/>
                    <a:pt x="10889" y="373"/>
                  </a:cubicBezTo>
                  <a:cubicBezTo>
                    <a:pt x="10889" y="347"/>
                    <a:pt x="10910" y="326"/>
                    <a:pt x="10936" y="326"/>
                  </a:cubicBezTo>
                  <a:cubicBezTo>
                    <a:pt x="10961" y="326"/>
                    <a:pt x="10983" y="347"/>
                    <a:pt x="10983" y="373"/>
                  </a:cubicBezTo>
                  <a:close/>
                  <a:moveTo>
                    <a:pt x="11084" y="373"/>
                  </a:moveTo>
                  <a:cubicBezTo>
                    <a:pt x="11084" y="398"/>
                    <a:pt x="11062" y="420"/>
                    <a:pt x="11037" y="420"/>
                  </a:cubicBezTo>
                  <a:cubicBezTo>
                    <a:pt x="11011" y="420"/>
                    <a:pt x="10990" y="398"/>
                    <a:pt x="10990" y="373"/>
                  </a:cubicBezTo>
                  <a:cubicBezTo>
                    <a:pt x="10990" y="347"/>
                    <a:pt x="11011" y="326"/>
                    <a:pt x="11037" y="326"/>
                  </a:cubicBezTo>
                  <a:cubicBezTo>
                    <a:pt x="11062" y="326"/>
                    <a:pt x="11084" y="347"/>
                    <a:pt x="11084" y="373"/>
                  </a:cubicBezTo>
                  <a:close/>
                  <a:moveTo>
                    <a:pt x="11185" y="373"/>
                  </a:moveTo>
                  <a:cubicBezTo>
                    <a:pt x="11185" y="398"/>
                    <a:pt x="11163" y="420"/>
                    <a:pt x="11138" y="420"/>
                  </a:cubicBezTo>
                  <a:cubicBezTo>
                    <a:pt x="11112" y="420"/>
                    <a:pt x="11091" y="398"/>
                    <a:pt x="11091" y="373"/>
                  </a:cubicBezTo>
                  <a:cubicBezTo>
                    <a:pt x="11091" y="347"/>
                    <a:pt x="11112" y="326"/>
                    <a:pt x="11138" y="326"/>
                  </a:cubicBezTo>
                  <a:cubicBezTo>
                    <a:pt x="11163" y="326"/>
                    <a:pt x="11185" y="347"/>
                    <a:pt x="11185" y="373"/>
                  </a:cubicBezTo>
                  <a:close/>
                  <a:moveTo>
                    <a:pt x="11286" y="373"/>
                  </a:moveTo>
                  <a:cubicBezTo>
                    <a:pt x="11286" y="398"/>
                    <a:pt x="11264" y="420"/>
                    <a:pt x="11239" y="420"/>
                  </a:cubicBezTo>
                  <a:cubicBezTo>
                    <a:pt x="11213" y="420"/>
                    <a:pt x="11192" y="398"/>
                    <a:pt x="11192" y="373"/>
                  </a:cubicBezTo>
                  <a:cubicBezTo>
                    <a:pt x="11192" y="347"/>
                    <a:pt x="11213" y="326"/>
                    <a:pt x="11239" y="326"/>
                  </a:cubicBezTo>
                  <a:cubicBezTo>
                    <a:pt x="11264" y="326"/>
                    <a:pt x="11286" y="347"/>
                    <a:pt x="11286" y="373"/>
                  </a:cubicBezTo>
                  <a:close/>
                  <a:moveTo>
                    <a:pt x="11387" y="373"/>
                  </a:moveTo>
                  <a:cubicBezTo>
                    <a:pt x="11387" y="398"/>
                    <a:pt x="11365" y="420"/>
                    <a:pt x="11340" y="420"/>
                  </a:cubicBezTo>
                  <a:cubicBezTo>
                    <a:pt x="11314" y="420"/>
                    <a:pt x="11293" y="398"/>
                    <a:pt x="11293" y="373"/>
                  </a:cubicBezTo>
                  <a:cubicBezTo>
                    <a:pt x="11293" y="347"/>
                    <a:pt x="11314" y="326"/>
                    <a:pt x="11340" y="326"/>
                  </a:cubicBezTo>
                  <a:cubicBezTo>
                    <a:pt x="11365" y="326"/>
                    <a:pt x="11387" y="347"/>
                    <a:pt x="11387" y="373"/>
                  </a:cubicBezTo>
                  <a:close/>
                  <a:moveTo>
                    <a:pt x="11487" y="373"/>
                  </a:moveTo>
                  <a:cubicBezTo>
                    <a:pt x="11487" y="398"/>
                    <a:pt x="11465" y="420"/>
                    <a:pt x="11440" y="420"/>
                  </a:cubicBezTo>
                  <a:cubicBezTo>
                    <a:pt x="11414" y="420"/>
                    <a:pt x="11393" y="398"/>
                    <a:pt x="11393" y="373"/>
                  </a:cubicBezTo>
                  <a:cubicBezTo>
                    <a:pt x="11393" y="347"/>
                    <a:pt x="11414" y="326"/>
                    <a:pt x="11440" y="326"/>
                  </a:cubicBezTo>
                  <a:cubicBezTo>
                    <a:pt x="11465" y="326"/>
                    <a:pt x="11487" y="347"/>
                    <a:pt x="11487" y="373"/>
                  </a:cubicBezTo>
                  <a:close/>
                  <a:moveTo>
                    <a:pt x="11588" y="373"/>
                  </a:moveTo>
                  <a:cubicBezTo>
                    <a:pt x="11588" y="398"/>
                    <a:pt x="11566" y="420"/>
                    <a:pt x="11541" y="420"/>
                  </a:cubicBezTo>
                  <a:cubicBezTo>
                    <a:pt x="11515" y="420"/>
                    <a:pt x="11494" y="398"/>
                    <a:pt x="11494" y="373"/>
                  </a:cubicBezTo>
                  <a:cubicBezTo>
                    <a:pt x="11494" y="347"/>
                    <a:pt x="11515" y="326"/>
                    <a:pt x="11541" y="326"/>
                  </a:cubicBezTo>
                  <a:cubicBezTo>
                    <a:pt x="11566" y="326"/>
                    <a:pt x="11588" y="347"/>
                    <a:pt x="11588" y="373"/>
                  </a:cubicBezTo>
                  <a:close/>
                  <a:moveTo>
                    <a:pt x="11689" y="373"/>
                  </a:moveTo>
                  <a:cubicBezTo>
                    <a:pt x="11689" y="398"/>
                    <a:pt x="11667" y="420"/>
                    <a:pt x="11642" y="420"/>
                  </a:cubicBezTo>
                  <a:cubicBezTo>
                    <a:pt x="11616" y="420"/>
                    <a:pt x="11595" y="398"/>
                    <a:pt x="11595" y="373"/>
                  </a:cubicBezTo>
                  <a:cubicBezTo>
                    <a:pt x="11595" y="347"/>
                    <a:pt x="11616" y="326"/>
                    <a:pt x="11642" y="326"/>
                  </a:cubicBezTo>
                  <a:cubicBezTo>
                    <a:pt x="11667" y="326"/>
                    <a:pt x="11689" y="347"/>
                    <a:pt x="11689" y="373"/>
                  </a:cubicBezTo>
                  <a:close/>
                  <a:moveTo>
                    <a:pt x="11790" y="373"/>
                  </a:moveTo>
                  <a:cubicBezTo>
                    <a:pt x="11790" y="398"/>
                    <a:pt x="11768" y="420"/>
                    <a:pt x="11743" y="420"/>
                  </a:cubicBezTo>
                  <a:cubicBezTo>
                    <a:pt x="11717" y="420"/>
                    <a:pt x="11696" y="398"/>
                    <a:pt x="11696" y="373"/>
                  </a:cubicBezTo>
                  <a:cubicBezTo>
                    <a:pt x="11696" y="347"/>
                    <a:pt x="11717" y="326"/>
                    <a:pt x="11743" y="326"/>
                  </a:cubicBezTo>
                  <a:cubicBezTo>
                    <a:pt x="11768" y="326"/>
                    <a:pt x="11790" y="347"/>
                    <a:pt x="11790" y="373"/>
                  </a:cubicBezTo>
                  <a:close/>
                  <a:moveTo>
                    <a:pt x="11891" y="373"/>
                  </a:moveTo>
                  <a:cubicBezTo>
                    <a:pt x="11891" y="398"/>
                    <a:pt x="11869" y="420"/>
                    <a:pt x="11844" y="420"/>
                  </a:cubicBezTo>
                  <a:cubicBezTo>
                    <a:pt x="11818" y="420"/>
                    <a:pt x="11797" y="398"/>
                    <a:pt x="11797" y="373"/>
                  </a:cubicBezTo>
                  <a:cubicBezTo>
                    <a:pt x="11797" y="347"/>
                    <a:pt x="11818" y="326"/>
                    <a:pt x="11844" y="326"/>
                  </a:cubicBezTo>
                  <a:cubicBezTo>
                    <a:pt x="11869" y="326"/>
                    <a:pt x="11891" y="347"/>
                    <a:pt x="11891" y="373"/>
                  </a:cubicBezTo>
                  <a:close/>
                  <a:moveTo>
                    <a:pt x="11991" y="373"/>
                  </a:moveTo>
                  <a:cubicBezTo>
                    <a:pt x="11991" y="398"/>
                    <a:pt x="11969" y="420"/>
                    <a:pt x="11944" y="420"/>
                  </a:cubicBezTo>
                  <a:cubicBezTo>
                    <a:pt x="11918" y="420"/>
                    <a:pt x="11897" y="398"/>
                    <a:pt x="11897" y="373"/>
                  </a:cubicBezTo>
                  <a:cubicBezTo>
                    <a:pt x="11897" y="347"/>
                    <a:pt x="11918" y="326"/>
                    <a:pt x="11944" y="326"/>
                  </a:cubicBezTo>
                  <a:cubicBezTo>
                    <a:pt x="11969" y="326"/>
                    <a:pt x="11991" y="347"/>
                    <a:pt x="11991" y="373"/>
                  </a:cubicBezTo>
                  <a:close/>
                  <a:moveTo>
                    <a:pt x="12092" y="373"/>
                  </a:moveTo>
                  <a:cubicBezTo>
                    <a:pt x="12092" y="398"/>
                    <a:pt x="12070" y="420"/>
                    <a:pt x="12045" y="420"/>
                  </a:cubicBezTo>
                  <a:cubicBezTo>
                    <a:pt x="12019" y="420"/>
                    <a:pt x="11998" y="398"/>
                    <a:pt x="11998" y="373"/>
                  </a:cubicBezTo>
                  <a:cubicBezTo>
                    <a:pt x="11998" y="347"/>
                    <a:pt x="12019" y="326"/>
                    <a:pt x="12045" y="326"/>
                  </a:cubicBezTo>
                  <a:cubicBezTo>
                    <a:pt x="12070" y="326"/>
                    <a:pt x="12092" y="347"/>
                    <a:pt x="12092" y="373"/>
                  </a:cubicBezTo>
                  <a:close/>
                  <a:moveTo>
                    <a:pt x="12193" y="373"/>
                  </a:moveTo>
                  <a:cubicBezTo>
                    <a:pt x="12193" y="398"/>
                    <a:pt x="12171" y="420"/>
                    <a:pt x="12146" y="420"/>
                  </a:cubicBezTo>
                  <a:cubicBezTo>
                    <a:pt x="12120" y="420"/>
                    <a:pt x="12099" y="398"/>
                    <a:pt x="12099" y="373"/>
                  </a:cubicBezTo>
                  <a:cubicBezTo>
                    <a:pt x="12099" y="347"/>
                    <a:pt x="12120" y="326"/>
                    <a:pt x="12146" y="326"/>
                  </a:cubicBezTo>
                  <a:cubicBezTo>
                    <a:pt x="12171" y="326"/>
                    <a:pt x="12193" y="347"/>
                    <a:pt x="12193" y="373"/>
                  </a:cubicBezTo>
                  <a:close/>
                  <a:moveTo>
                    <a:pt x="12294" y="373"/>
                  </a:moveTo>
                  <a:cubicBezTo>
                    <a:pt x="12294" y="398"/>
                    <a:pt x="12272" y="420"/>
                    <a:pt x="12247" y="420"/>
                  </a:cubicBezTo>
                  <a:cubicBezTo>
                    <a:pt x="12221" y="420"/>
                    <a:pt x="12200" y="398"/>
                    <a:pt x="12200" y="373"/>
                  </a:cubicBezTo>
                  <a:cubicBezTo>
                    <a:pt x="12200" y="347"/>
                    <a:pt x="12221" y="326"/>
                    <a:pt x="12247" y="326"/>
                  </a:cubicBezTo>
                  <a:cubicBezTo>
                    <a:pt x="12272" y="326"/>
                    <a:pt x="12294" y="347"/>
                    <a:pt x="12294" y="373"/>
                  </a:cubicBezTo>
                  <a:close/>
                  <a:moveTo>
                    <a:pt x="12395" y="373"/>
                  </a:moveTo>
                  <a:cubicBezTo>
                    <a:pt x="12395" y="398"/>
                    <a:pt x="12373" y="420"/>
                    <a:pt x="12348" y="420"/>
                  </a:cubicBezTo>
                  <a:cubicBezTo>
                    <a:pt x="12322" y="420"/>
                    <a:pt x="12301" y="398"/>
                    <a:pt x="12301" y="373"/>
                  </a:cubicBezTo>
                  <a:cubicBezTo>
                    <a:pt x="12301" y="347"/>
                    <a:pt x="12322" y="326"/>
                    <a:pt x="12348" y="326"/>
                  </a:cubicBezTo>
                  <a:cubicBezTo>
                    <a:pt x="12373" y="326"/>
                    <a:pt x="12395" y="347"/>
                    <a:pt x="12395" y="373"/>
                  </a:cubicBezTo>
                  <a:close/>
                  <a:moveTo>
                    <a:pt x="12495" y="373"/>
                  </a:moveTo>
                  <a:cubicBezTo>
                    <a:pt x="12495" y="398"/>
                    <a:pt x="12473" y="420"/>
                    <a:pt x="12448" y="420"/>
                  </a:cubicBezTo>
                  <a:cubicBezTo>
                    <a:pt x="12422" y="420"/>
                    <a:pt x="12401" y="398"/>
                    <a:pt x="12401" y="373"/>
                  </a:cubicBezTo>
                  <a:cubicBezTo>
                    <a:pt x="12401" y="347"/>
                    <a:pt x="12422" y="326"/>
                    <a:pt x="12448" y="326"/>
                  </a:cubicBezTo>
                  <a:cubicBezTo>
                    <a:pt x="12473" y="326"/>
                    <a:pt x="12495" y="347"/>
                    <a:pt x="12495" y="373"/>
                  </a:cubicBezTo>
                  <a:close/>
                  <a:moveTo>
                    <a:pt x="12596" y="373"/>
                  </a:moveTo>
                  <a:cubicBezTo>
                    <a:pt x="12596" y="398"/>
                    <a:pt x="12574" y="420"/>
                    <a:pt x="12549" y="420"/>
                  </a:cubicBezTo>
                  <a:cubicBezTo>
                    <a:pt x="12523" y="420"/>
                    <a:pt x="12502" y="398"/>
                    <a:pt x="12502" y="373"/>
                  </a:cubicBezTo>
                  <a:cubicBezTo>
                    <a:pt x="12502" y="347"/>
                    <a:pt x="12523" y="326"/>
                    <a:pt x="12549" y="326"/>
                  </a:cubicBezTo>
                  <a:cubicBezTo>
                    <a:pt x="12574" y="326"/>
                    <a:pt x="12596" y="347"/>
                    <a:pt x="12596" y="373"/>
                  </a:cubicBezTo>
                  <a:close/>
                </a:path>
              </a:pathLst>
            </a:custGeom>
            <a:gradFill rotWithShape="1">
              <a:gsLst>
                <a:gs pos="0">
                  <a:srgbClr val="F8C77A"/>
                </a:gs>
                <a:gs pos="55000">
                  <a:srgbClr val="F5B041"/>
                </a:gs>
                <a:gs pos="100000">
                  <a:srgbClr val="C48C34"/>
                </a:gs>
              </a:gsLst>
              <a:path path="circle">
                <a:fillToRect l="32000" t="28000" r="68000" b="72000"/>
              </a:path>
            </a:gradFill>
            <a:ln w="6350" cap="rnd">
              <a:solidFill>
                <a:srgbClr val="866023"/>
              </a:solidFill>
              <a:round/>
            </a:ln>
          </p:spPr>
        </p:sp>
        <p:sp>
          <p:nvSpPr>
            <p:cNvPr id="9" name="Forma 8"/>
            <p:cNvSpPr/>
            <p:nvPr/>
          </p:nvSpPr>
          <p:spPr>
            <a:xfrm>
              <a:off x="274320" y="2331720"/>
              <a:ext cx="11521440" cy="384048"/>
            </a:xfrm>
            <a:custGeom>
              <a:avLst/>
              <a:gdLst/>
              <a:ahLst/>
              <a:cxnLst/>
              <a:rect l="0" t="0" r="r" b="b"/>
              <a:pathLst>
                <a:path w="12600" h="420" fill="none">
                  <a:moveTo>
                    <a:pt x="35" y="94"/>
                  </a:moveTo>
                  <a:lnTo>
                    <a:pt x="35" y="200"/>
                  </a:lnTo>
                </a:path>
                <a:path w="12600" h="420" fill="none">
                  <a:moveTo>
                    <a:pt x="65" y="94"/>
                  </a:moveTo>
                  <a:lnTo>
                    <a:pt x="65" y="200"/>
                  </a:lnTo>
                </a:path>
                <a:path w="12600" h="420" fill="none">
                  <a:moveTo>
                    <a:pt x="35" y="326"/>
                  </a:moveTo>
                  <a:lnTo>
                    <a:pt x="35" y="220"/>
                  </a:lnTo>
                </a:path>
                <a:path w="12600" h="420" fill="none">
                  <a:moveTo>
                    <a:pt x="65" y="326"/>
                  </a:moveTo>
                  <a:lnTo>
                    <a:pt x="65" y="220"/>
                  </a:lnTo>
                </a:path>
                <a:path w="12600" h="420" fill="none">
                  <a:moveTo>
                    <a:pt x="136" y="94"/>
                  </a:moveTo>
                  <a:lnTo>
                    <a:pt x="136" y="200"/>
                  </a:lnTo>
                </a:path>
                <a:path w="12600" h="420" fill="none">
                  <a:moveTo>
                    <a:pt x="166" y="94"/>
                  </a:moveTo>
                  <a:lnTo>
                    <a:pt x="166" y="200"/>
                  </a:lnTo>
                </a:path>
                <a:path w="12600" h="420" fill="none">
                  <a:moveTo>
                    <a:pt x="136" y="326"/>
                  </a:moveTo>
                  <a:lnTo>
                    <a:pt x="136" y="220"/>
                  </a:lnTo>
                </a:path>
                <a:path w="12600" h="420" fill="none">
                  <a:moveTo>
                    <a:pt x="166" y="326"/>
                  </a:moveTo>
                  <a:lnTo>
                    <a:pt x="166" y="220"/>
                  </a:lnTo>
                </a:path>
                <a:path w="12600" h="420" fill="none">
                  <a:moveTo>
                    <a:pt x="237" y="94"/>
                  </a:moveTo>
                  <a:lnTo>
                    <a:pt x="237" y="200"/>
                  </a:lnTo>
                </a:path>
                <a:path w="12600" h="420" fill="none">
                  <a:moveTo>
                    <a:pt x="267" y="94"/>
                  </a:moveTo>
                  <a:lnTo>
                    <a:pt x="267" y="200"/>
                  </a:lnTo>
                </a:path>
                <a:path w="12600" h="420" fill="none">
                  <a:moveTo>
                    <a:pt x="237" y="326"/>
                  </a:moveTo>
                  <a:lnTo>
                    <a:pt x="237" y="220"/>
                  </a:lnTo>
                </a:path>
                <a:path w="12600" h="420" fill="none">
                  <a:moveTo>
                    <a:pt x="267" y="326"/>
                  </a:moveTo>
                  <a:lnTo>
                    <a:pt x="267" y="220"/>
                  </a:lnTo>
                </a:path>
                <a:path w="12600" h="420" fill="none">
                  <a:moveTo>
                    <a:pt x="337" y="94"/>
                  </a:moveTo>
                  <a:lnTo>
                    <a:pt x="337" y="200"/>
                  </a:lnTo>
                </a:path>
                <a:path w="12600" h="420" fill="none">
                  <a:moveTo>
                    <a:pt x="367" y="94"/>
                  </a:moveTo>
                  <a:lnTo>
                    <a:pt x="367" y="200"/>
                  </a:lnTo>
                </a:path>
                <a:path w="12600" h="420" fill="none">
                  <a:moveTo>
                    <a:pt x="337" y="326"/>
                  </a:moveTo>
                  <a:lnTo>
                    <a:pt x="337" y="220"/>
                  </a:lnTo>
                </a:path>
                <a:path w="12600" h="420" fill="none">
                  <a:moveTo>
                    <a:pt x="367" y="326"/>
                  </a:moveTo>
                  <a:lnTo>
                    <a:pt x="367" y="220"/>
                  </a:lnTo>
                </a:path>
                <a:path w="12600" h="420" fill="none">
                  <a:moveTo>
                    <a:pt x="438" y="94"/>
                  </a:moveTo>
                  <a:lnTo>
                    <a:pt x="438" y="200"/>
                  </a:lnTo>
                </a:path>
                <a:path w="12600" h="420" fill="none">
                  <a:moveTo>
                    <a:pt x="468" y="94"/>
                  </a:moveTo>
                  <a:lnTo>
                    <a:pt x="468" y="200"/>
                  </a:lnTo>
                </a:path>
                <a:path w="12600" h="420" fill="none">
                  <a:moveTo>
                    <a:pt x="438" y="326"/>
                  </a:moveTo>
                  <a:lnTo>
                    <a:pt x="438" y="220"/>
                  </a:lnTo>
                </a:path>
                <a:path w="12600" h="420" fill="none">
                  <a:moveTo>
                    <a:pt x="468" y="326"/>
                  </a:moveTo>
                  <a:lnTo>
                    <a:pt x="468" y="220"/>
                  </a:lnTo>
                </a:path>
                <a:path w="12600" h="420" fill="none">
                  <a:moveTo>
                    <a:pt x="539" y="94"/>
                  </a:moveTo>
                  <a:lnTo>
                    <a:pt x="539" y="200"/>
                  </a:lnTo>
                </a:path>
                <a:path w="12600" h="420" fill="none">
                  <a:moveTo>
                    <a:pt x="569" y="94"/>
                  </a:moveTo>
                  <a:lnTo>
                    <a:pt x="569" y="200"/>
                  </a:lnTo>
                </a:path>
                <a:path w="12600" h="420" fill="none">
                  <a:moveTo>
                    <a:pt x="539" y="326"/>
                  </a:moveTo>
                  <a:lnTo>
                    <a:pt x="539" y="220"/>
                  </a:lnTo>
                </a:path>
                <a:path w="12600" h="420" fill="none">
                  <a:moveTo>
                    <a:pt x="569" y="326"/>
                  </a:moveTo>
                  <a:lnTo>
                    <a:pt x="569" y="220"/>
                  </a:lnTo>
                </a:path>
                <a:path w="12600" h="420" fill="none">
                  <a:moveTo>
                    <a:pt x="640" y="94"/>
                  </a:moveTo>
                  <a:lnTo>
                    <a:pt x="640" y="200"/>
                  </a:lnTo>
                </a:path>
                <a:path w="12600" h="420" fill="none">
                  <a:moveTo>
                    <a:pt x="670" y="94"/>
                  </a:moveTo>
                  <a:lnTo>
                    <a:pt x="670" y="200"/>
                  </a:lnTo>
                </a:path>
                <a:path w="12600" h="420" fill="none">
                  <a:moveTo>
                    <a:pt x="640" y="326"/>
                  </a:moveTo>
                  <a:lnTo>
                    <a:pt x="640" y="220"/>
                  </a:lnTo>
                </a:path>
                <a:path w="12600" h="420" fill="none">
                  <a:moveTo>
                    <a:pt x="670" y="326"/>
                  </a:moveTo>
                  <a:lnTo>
                    <a:pt x="670" y="220"/>
                  </a:lnTo>
                </a:path>
                <a:path w="12600" h="420" fill="none">
                  <a:moveTo>
                    <a:pt x="741" y="94"/>
                  </a:moveTo>
                  <a:lnTo>
                    <a:pt x="741" y="200"/>
                  </a:lnTo>
                </a:path>
                <a:path w="12600" h="420" fill="none">
                  <a:moveTo>
                    <a:pt x="771" y="94"/>
                  </a:moveTo>
                  <a:lnTo>
                    <a:pt x="771" y="200"/>
                  </a:lnTo>
                </a:path>
                <a:path w="12600" h="420" fill="none">
                  <a:moveTo>
                    <a:pt x="741" y="326"/>
                  </a:moveTo>
                  <a:lnTo>
                    <a:pt x="741" y="220"/>
                  </a:lnTo>
                </a:path>
                <a:path w="12600" h="420" fill="none">
                  <a:moveTo>
                    <a:pt x="771" y="326"/>
                  </a:moveTo>
                  <a:lnTo>
                    <a:pt x="771" y="220"/>
                  </a:lnTo>
                </a:path>
                <a:path w="12600" h="420" fill="none">
                  <a:moveTo>
                    <a:pt x="841" y="94"/>
                  </a:moveTo>
                  <a:lnTo>
                    <a:pt x="841" y="200"/>
                  </a:lnTo>
                </a:path>
                <a:path w="12600" h="420" fill="none">
                  <a:moveTo>
                    <a:pt x="871" y="94"/>
                  </a:moveTo>
                  <a:lnTo>
                    <a:pt x="871" y="200"/>
                  </a:lnTo>
                </a:path>
                <a:path w="12600" h="420" fill="none">
                  <a:moveTo>
                    <a:pt x="841" y="326"/>
                  </a:moveTo>
                  <a:lnTo>
                    <a:pt x="841" y="220"/>
                  </a:lnTo>
                </a:path>
                <a:path w="12600" h="420" fill="none">
                  <a:moveTo>
                    <a:pt x="871" y="326"/>
                  </a:moveTo>
                  <a:lnTo>
                    <a:pt x="871" y="220"/>
                  </a:lnTo>
                </a:path>
                <a:path w="12600" h="420" fill="none">
                  <a:moveTo>
                    <a:pt x="942" y="94"/>
                  </a:moveTo>
                  <a:lnTo>
                    <a:pt x="942" y="200"/>
                  </a:lnTo>
                </a:path>
                <a:path w="12600" h="420" fill="none">
                  <a:moveTo>
                    <a:pt x="972" y="94"/>
                  </a:moveTo>
                  <a:lnTo>
                    <a:pt x="972" y="200"/>
                  </a:lnTo>
                </a:path>
                <a:path w="12600" h="420" fill="none">
                  <a:moveTo>
                    <a:pt x="942" y="326"/>
                  </a:moveTo>
                  <a:lnTo>
                    <a:pt x="942" y="220"/>
                  </a:lnTo>
                </a:path>
                <a:path w="12600" h="420" fill="none">
                  <a:moveTo>
                    <a:pt x="972" y="326"/>
                  </a:moveTo>
                  <a:lnTo>
                    <a:pt x="972" y="220"/>
                  </a:lnTo>
                </a:path>
                <a:path w="12600" h="420" fill="none">
                  <a:moveTo>
                    <a:pt x="1043" y="94"/>
                  </a:moveTo>
                  <a:lnTo>
                    <a:pt x="1043" y="200"/>
                  </a:lnTo>
                </a:path>
                <a:path w="12600" h="420" fill="none">
                  <a:moveTo>
                    <a:pt x="1073" y="94"/>
                  </a:moveTo>
                  <a:lnTo>
                    <a:pt x="1073" y="200"/>
                  </a:lnTo>
                </a:path>
                <a:path w="12600" h="420" fill="none">
                  <a:moveTo>
                    <a:pt x="1043" y="326"/>
                  </a:moveTo>
                  <a:lnTo>
                    <a:pt x="1043" y="220"/>
                  </a:lnTo>
                </a:path>
                <a:path w="12600" h="420" fill="none">
                  <a:moveTo>
                    <a:pt x="1073" y="326"/>
                  </a:moveTo>
                  <a:lnTo>
                    <a:pt x="1073" y="220"/>
                  </a:lnTo>
                </a:path>
                <a:path w="12600" h="420" fill="none">
                  <a:moveTo>
                    <a:pt x="1144" y="94"/>
                  </a:moveTo>
                  <a:lnTo>
                    <a:pt x="1144" y="200"/>
                  </a:lnTo>
                </a:path>
                <a:path w="12600" h="420" fill="none">
                  <a:moveTo>
                    <a:pt x="1174" y="94"/>
                  </a:moveTo>
                  <a:lnTo>
                    <a:pt x="1174" y="200"/>
                  </a:lnTo>
                </a:path>
                <a:path w="12600" h="420" fill="none">
                  <a:moveTo>
                    <a:pt x="1144" y="326"/>
                  </a:moveTo>
                  <a:lnTo>
                    <a:pt x="1144" y="220"/>
                  </a:lnTo>
                </a:path>
                <a:path w="12600" h="420" fill="none">
                  <a:moveTo>
                    <a:pt x="1174" y="326"/>
                  </a:moveTo>
                  <a:lnTo>
                    <a:pt x="1174" y="220"/>
                  </a:lnTo>
                </a:path>
                <a:path w="12600" h="420" fill="none">
                  <a:moveTo>
                    <a:pt x="1245" y="94"/>
                  </a:moveTo>
                  <a:lnTo>
                    <a:pt x="1245" y="200"/>
                  </a:lnTo>
                </a:path>
                <a:path w="12600" h="420" fill="none">
                  <a:moveTo>
                    <a:pt x="1275" y="94"/>
                  </a:moveTo>
                  <a:lnTo>
                    <a:pt x="1275" y="200"/>
                  </a:lnTo>
                </a:path>
                <a:path w="12600" h="420" fill="none">
                  <a:moveTo>
                    <a:pt x="1245" y="326"/>
                  </a:moveTo>
                  <a:lnTo>
                    <a:pt x="1245" y="220"/>
                  </a:lnTo>
                </a:path>
                <a:path w="12600" h="420" fill="none">
                  <a:moveTo>
                    <a:pt x="1275" y="326"/>
                  </a:moveTo>
                  <a:lnTo>
                    <a:pt x="1275" y="220"/>
                  </a:lnTo>
                </a:path>
                <a:path w="12600" h="420" fill="none">
                  <a:moveTo>
                    <a:pt x="1345" y="94"/>
                  </a:moveTo>
                  <a:lnTo>
                    <a:pt x="1345" y="200"/>
                  </a:lnTo>
                </a:path>
                <a:path w="12600" h="420" fill="none">
                  <a:moveTo>
                    <a:pt x="1375" y="94"/>
                  </a:moveTo>
                  <a:lnTo>
                    <a:pt x="1375" y="200"/>
                  </a:lnTo>
                </a:path>
                <a:path w="12600" h="420" fill="none">
                  <a:moveTo>
                    <a:pt x="1345" y="326"/>
                  </a:moveTo>
                  <a:lnTo>
                    <a:pt x="1345" y="220"/>
                  </a:lnTo>
                </a:path>
                <a:path w="12600" h="420" fill="none">
                  <a:moveTo>
                    <a:pt x="1375" y="326"/>
                  </a:moveTo>
                  <a:lnTo>
                    <a:pt x="1375" y="220"/>
                  </a:lnTo>
                </a:path>
                <a:path w="12600" h="420" fill="none">
                  <a:moveTo>
                    <a:pt x="1446" y="94"/>
                  </a:moveTo>
                  <a:lnTo>
                    <a:pt x="1446" y="200"/>
                  </a:lnTo>
                </a:path>
                <a:path w="12600" h="420" fill="none">
                  <a:moveTo>
                    <a:pt x="1476" y="94"/>
                  </a:moveTo>
                  <a:lnTo>
                    <a:pt x="1476" y="200"/>
                  </a:lnTo>
                </a:path>
                <a:path w="12600" h="420" fill="none">
                  <a:moveTo>
                    <a:pt x="1446" y="326"/>
                  </a:moveTo>
                  <a:lnTo>
                    <a:pt x="1446" y="220"/>
                  </a:lnTo>
                </a:path>
                <a:path w="12600" h="420" fill="none">
                  <a:moveTo>
                    <a:pt x="1476" y="326"/>
                  </a:moveTo>
                  <a:lnTo>
                    <a:pt x="1476" y="220"/>
                  </a:lnTo>
                </a:path>
                <a:path w="12600" h="420" fill="none">
                  <a:moveTo>
                    <a:pt x="1547" y="94"/>
                  </a:moveTo>
                  <a:lnTo>
                    <a:pt x="1547" y="200"/>
                  </a:lnTo>
                </a:path>
                <a:path w="12600" h="420" fill="none">
                  <a:moveTo>
                    <a:pt x="1577" y="94"/>
                  </a:moveTo>
                  <a:lnTo>
                    <a:pt x="1577" y="200"/>
                  </a:lnTo>
                </a:path>
                <a:path w="12600" h="420" fill="none">
                  <a:moveTo>
                    <a:pt x="1547" y="326"/>
                  </a:moveTo>
                  <a:lnTo>
                    <a:pt x="1547" y="220"/>
                  </a:lnTo>
                </a:path>
                <a:path w="12600" h="420" fill="none">
                  <a:moveTo>
                    <a:pt x="1577" y="326"/>
                  </a:moveTo>
                  <a:lnTo>
                    <a:pt x="1577" y="220"/>
                  </a:lnTo>
                </a:path>
                <a:path w="12600" h="420" fill="none">
                  <a:moveTo>
                    <a:pt x="1648" y="94"/>
                  </a:moveTo>
                  <a:lnTo>
                    <a:pt x="1648" y="200"/>
                  </a:lnTo>
                </a:path>
                <a:path w="12600" h="420" fill="none">
                  <a:moveTo>
                    <a:pt x="1678" y="94"/>
                  </a:moveTo>
                  <a:lnTo>
                    <a:pt x="1678" y="200"/>
                  </a:lnTo>
                </a:path>
                <a:path w="12600" h="420" fill="none">
                  <a:moveTo>
                    <a:pt x="1648" y="326"/>
                  </a:moveTo>
                  <a:lnTo>
                    <a:pt x="1648" y="220"/>
                  </a:lnTo>
                </a:path>
                <a:path w="12600" h="420" fill="none">
                  <a:moveTo>
                    <a:pt x="1678" y="326"/>
                  </a:moveTo>
                  <a:lnTo>
                    <a:pt x="1678" y="220"/>
                  </a:lnTo>
                </a:path>
                <a:path w="12600" h="420" fill="none">
                  <a:moveTo>
                    <a:pt x="1749" y="94"/>
                  </a:moveTo>
                  <a:lnTo>
                    <a:pt x="1749" y="200"/>
                  </a:lnTo>
                </a:path>
                <a:path w="12600" h="420" fill="none">
                  <a:moveTo>
                    <a:pt x="1779" y="94"/>
                  </a:moveTo>
                  <a:lnTo>
                    <a:pt x="1779" y="200"/>
                  </a:lnTo>
                </a:path>
                <a:path w="12600" h="420" fill="none">
                  <a:moveTo>
                    <a:pt x="1749" y="326"/>
                  </a:moveTo>
                  <a:lnTo>
                    <a:pt x="1749" y="220"/>
                  </a:lnTo>
                </a:path>
                <a:path w="12600" h="420" fill="none">
                  <a:moveTo>
                    <a:pt x="1779" y="326"/>
                  </a:moveTo>
                  <a:lnTo>
                    <a:pt x="1779" y="220"/>
                  </a:lnTo>
                </a:path>
                <a:path w="12600" h="420" fill="none">
                  <a:moveTo>
                    <a:pt x="1849" y="94"/>
                  </a:moveTo>
                  <a:lnTo>
                    <a:pt x="1849" y="200"/>
                  </a:lnTo>
                </a:path>
                <a:path w="12600" h="420" fill="none">
                  <a:moveTo>
                    <a:pt x="1879" y="94"/>
                  </a:moveTo>
                  <a:lnTo>
                    <a:pt x="1879" y="200"/>
                  </a:lnTo>
                </a:path>
                <a:path w="12600" h="420" fill="none">
                  <a:moveTo>
                    <a:pt x="1849" y="326"/>
                  </a:moveTo>
                  <a:lnTo>
                    <a:pt x="1849" y="220"/>
                  </a:lnTo>
                </a:path>
                <a:path w="12600" h="420" fill="none">
                  <a:moveTo>
                    <a:pt x="1879" y="326"/>
                  </a:moveTo>
                  <a:lnTo>
                    <a:pt x="1879" y="220"/>
                  </a:lnTo>
                </a:path>
                <a:path w="12600" h="420" fill="none">
                  <a:moveTo>
                    <a:pt x="1950" y="94"/>
                  </a:moveTo>
                  <a:lnTo>
                    <a:pt x="1950" y="200"/>
                  </a:lnTo>
                </a:path>
                <a:path w="12600" h="420" fill="none">
                  <a:moveTo>
                    <a:pt x="1980" y="94"/>
                  </a:moveTo>
                  <a:lnTo>
                    <a:pt x="1980" y="200"/>
                  </a:lnTo>
                </a:path>
                <a:path w="12600" h="420" fill="none">
                  <a:moveTo>
                    <a:pt x="1950" y="326"/>
                  </a:moveTo>
                  <a:lnTo>
                    <a:pt x="1950" y="220"/>
                  </a:lnTo>
                </a:path>
                <a:path w="12600" h="420" fill="none">
                  <a:moveTo>
                    <a:pt x="1980" y="326"/>
                  </a:moveTo>
                  <a:lnTo>
                    <a:pt x="1980" y="220"/>
                  </a:lnTo>
                </a:path>
                <a:path w="12600" h="420" fill="none">
                  <a:moveTo>
                    <a:pt x="2051" y="94"/>
                  </a:moveTo>
                  <a:lnTo>
                    <a:pt x="2051" y="200"/>
                  </a:lnTo>
                </a:path>
                <a:path w="12600" h="420" fill="none">
                  <a:moveTo>
                    <a:pt x="2081" y="94"/>
                  </a:moveTo>
                  <a:lnTo>
                    <a:pt x="2081" y="200"/>
                  </a:lnTo>
                </a:path>
                <a:path w="12600" h="420" fill="none">
                  <a:moveTo>
                    <a:pt x="2051" y="326"/>
                  </a:moveTo>
                  <a:lnTo>
                    <a:pt x="2051" y="220"/>
                  </a:lnTo>
                </a:path>
                <a:path w="12600" h="420" fill="none">
                  <a:moveTo>
                    <a:pt x="2081" y="326"/>
                  </a:moveTo>
                  <a:lnTo>
                    <a:pt x="2081" y="220"/>
                  </a:lnTo>
                </a:path>
                <a:path w="12600" h="420" fill="none">
                  <a:moveTo>
                    <a:pt x="2152" y="94"/>
                  </a:moveTo>
                  <a:lnTo>
                    <a:pt x="2152" y="200"/>
                  </a:lnTo>
                </a:path>
                <a:path w="12600" h="420" fill="none">
                  <a:moveTo>
                    <a:pt x="2182" y="94"/>
                  </a:moveTo>
                  <a:lnTo>
                    <a:pt x="2182" y="200"/>
                  </a:lnTo>
                </a:path>
                <a:path w="12600" h="420" fill="none">
                  <a:moveTo>
                    <a:pt x="2152" y="326"/>
                  </a:moveTo>
                  <a:lnTo>
                    <a:pt x="2152" y="220"/>
                  </a:lnTo>
                </a:path>
                <a:path w="12600" h="420" fill="none">
                  <a:moveTo>
                    <a:pt x="2182" y="326"/>
                  </a:moveTo>
                  <a:lnTo>
                    <a:pt x="2182" y="220"/>
                  </a:lnTo>
                </a:path>
                <a:path w="12600" h="420" fill="none">
                  <a:moveTo>
                    <a:pt x="2253" y="94"/>
                  </a:moveTo>
                  <a:lnTo>
                    <a:pt x="2253" y="200"/>
                  </a:lnTo>
                </a:path>
                <a:path w="12600" h="420" fill="none">
                  <a:moveTo>
                    <a:pt x="2283" y="94"/>
                  </a:moveTo>
                  <a:lnTo>
                    <a:pt x="2283" y="200"/>
                  </a:lnTo>
                </a:path>
                <a:path w="12600" h="420" fill="none">
                  <a:moveTo>
                    <a:pt x="2253" y="326"/>
                  </a:moveTo>
                  <a:lnTo>
                    <a:pt x="2253" y="220"/>
                  </a:lnTo>
                </a:path>
                <a:path w="12600" h="420" fill="none">
                  <a:moveTo>
                    <a:pt x="2283" y="326"/>
                  </a:moveTo>
                  <a:lnTo>
                    <a:pt x="2283" y="220"/>
                  </a:lnTo>
                </a:path>
                <a:path w="12600" h="420" fill="none">
                  <a:moveTo>
                    <a:pt x="2353" y="94"/>
                  </a:moveTo>
                  <a:lnTo>
                    <a:pt x="2353" y="200"/>
                  </a:lnTo>
                </a:path>
                <a:path w="12600" h="420" fill="none">
                  <a:moveTo>
                    <a:pt x="2383" y="94"/>
                  </a:moveTo>
                  <a:lnTo>
                    <a:pt x="2383" y="200"/>
                  </a:lnTo>
                </a:path>
                <a:path w="12600" h="420" fill="none">
                  <a:moveTo>
                    <a:pt x="2353" y="326"/>
                  </a:moveTo>
                  <a:lnTo>
                    <a:pt x="2353" y="220"/>
                  </a:lnTo>
                </a:path>
                <a:path w="12600" h="420" fill="none">
                  <a:moveTo>
                    <a:pt x="2383" y="326"/>
                  </a:moveTo>
                  <a:lnTo>
                    <a:pt x="2383" y="220"/>
                  </a:lnTo>
                </a:path>
                <a:path w="12600" h="420" fill="none">
                  <a:moveTo>
                    <a:pt x="2454" y="94"/>
                  </a:moveTo>
                  <a:lnTo>
                    <a:pt x="2454" y="200"/>
                  </a:lnTo>
                </a:path>
                <a:path w="12600" h="420" fill="none">
                  <a:moveTo>
                    <a:pt x="2484" y="94"/>
                  </a:moveTo>
                  <a:lnTo>
                    <a:pt x="2484" y="200"/>
                  </a:lnTo>
                </a:path>
                <a:path w="12600" h="420" fill="none">
                  <a:moveTo>
                    <a:pt x="2454" y="326"/>
                  </a:moveTo>
                  <a:lnTo>
                    <a:pt x="2454" y="220"/>
                  </a:lnTo>
                </a:path>
                <a:path w="12600" h="420" fill="none">
                  <a:moveTo>
                    <a:pt x="2484" y="326"/>
                  </a:moveTo>
                  <a:lnTo>
                    <a:pt x="2484" y="220"/>
                  </a:lnTo>
                </a:path>
                <a:path w="12600" h="420" fill="none">
                  <a:moveTo>
                    <a:pt x="2555" y="94"/>
                  </a:moveTo>
                  <a:lnTo>
                    <a:pt x="2555" y="200"/>
                  </a:lnTo>
                </a:path>
                <a:path w="12600" h="420" fill="none">
                  <a:moveTo>
                    <a:pt x="2585" y="94"/>
                  </a:moveTo>
                  <a:lnTo>
                    <a:pt x="2585" y="200"/>
                  </a:lnTo>
                </a:path>
                <a:path w="12600" h="420" fill="none">
                  <a:moveTo>
                    <a:pt x="2555" y="326"/>
                  </a:moveTo>
                  <a:lnTo>
                    <a:pt x="2555" y="220"/>
                  </a:lnTo>
                </a:path>
                <a:path w="12600" h="420" fill="none">
                  <a:moveTo>
                    <a:pt x="2585" y="326"/>
                  </a:moveTo>
                  <a:lnTo>
                    <a:pt x="2585" y="220"/>
                  </a:lnTo>
                </a:path>
                <a:path w="12600" h="420" fill="none">
                  <a:moveTo>
                    <a:pt x="2656" y="94"/>
                  </a:moveTo>
                  <a:lnTo>
                    <a:pt x="2656" y="200"/>
                  </a:lnTo>
                </a:path>
                <a:path w="12600" h="420" fill="none">
                  <a:moveTo>
                    <a:pt x="2686" y="94"/>
                  </a:moveTo>
                  <a:lnTo>
                    <a:pt x="2686" y="200"/>
                  </a:lnTo>
                </a:path>
                <a:path w="12600" h="420" fill="none">
                  <a:moveTo>
                    <a:pt x="2656" y="326"/>
                  </a:moveTo>
                  <a:lnTo>
                    <a:pt x="2656" y="220"/>
                  </a:lnTo>
                </a:path>
                <a:path w="12600" h="420" fill="none">
                  <a:moveTo>
                    <a:pt x="2686" y="326"/>
                  </a:moveTo>
                  <a:lnTo>
                    <a:pt x="2686" y="220"/>
                  </a:lnTo>
                </a:path>
                <a:path w="12600" h="420" fill="none">
                  <a:moveTo>
                    <a:pt x="2757" y="94"/>
                  </a:moveTo>
                  <a:lnTo>
                    <a:pt x="2757" y="200"/>
                  </a:lnTo>
                </a:path>
                <a:path w="12600" h="420" fill="none">
                  <a:moveTo>
                    <a:pt x="2787" y="94"/>
                  </a:moveTo>
                  <a:lnTo>
                    <a:pt x="2787" y="200"/>
                  </a:lnTo>
                </a:path>
                <a:path w="12600" h="420" fill="none">
                  <a:moveTo>
                    <a:pt x="2757" y="326"/>
                  </a:moveTo>
                  <a:lnTo>
                    <a:pt x="2757" y="220"/>
                  </a:lnTo>
                </a:path>
                <a:path w="12600" h="420" fill="none">
                  <a:moveTo>
                    <a:pt x="2787" y="326"/>
                  </a:moveTo>
                  <a:lnTo>
                    <a:pt x="2787" y="220"/>
                  </a:lnTo>
                </a:path>
                <a:path w="12600" h="420" fill="none">
                  <a:moveTo>
                    <a:pt x="2857" y="94"/>
                  </a:moveTo>
                  <a:lnTo>
                    <a:pt x="2857" y="200"/>
                  </a:lnTo>
                </a:path>
                <a:path w="12600" h="420" fill="none">
                  <a:moveTo>
                    <a:pt x="2887" y="94"/>
                  </a:moveTo>
                  <a:lnTo>
                    <a:pt x="2887" y="200"/>
                  </a:lnTo>
                </a:path>
                <a:path w="12600" h="420" fill="none">
                  <a:moveTo>
                    <a:pt x="2857" y="326"/>
                  </a:moveTo>
                  <a:lnTo>
                    <a:pt x="2857" y="220"/>
                  </a:lnTo>
                </a:path>
                <a:path w="12600" h="420" fill="none">
                  <a:moveTo>
                    <a:pt x="2887" y="326"/>
                  </a:moveTo>
                  <a:lnTo>
                    <a:pt x="2887" y="220"/>
                  </a:lnTo>
                </a:path>
                <a:path w="12600" h="420" fill="none">
                  <a:moveTo>
                    <a:pt x="2958" y="94"/>
                  </a:moveTo>
                  <a:lnTo>
                    <a:pt x="2958" y="200"/>
                  </a:lnTo>
                </a:path>
                <a:path w="12600" h="420" fill="none">
                  <a:moveTo>
                    <a:pt x="2988" y="94"/>
                  </a:moveTo>
                  <a:lnTo>
                    <a:pt x="2988" y="200"/>
                  </a:lnTo>
                </a:path>
                <a:path w="12600" h="420" fill="none">
                  <a:moveTo>
                    <a:pt x="2958" y="326"/>
                  </a:moveTo>
                  <a:lnTo>
                    <a:pt x="2958" y="220"/>
                  </a:lnTo>
                </a:path>
                <a:path w="12600" h="420" fill="none">
                  <a:moveTo>
                    <a:pt x="2988" y="326"/>
                  </a:moveTo>
                  <a:lnTo>
                    <a:pt x="2988" y="220"/>
                  </a:lnTo>
                </a:path>
                <a:path w="12600" h="420" fill="none">
                  <a:moveTo>
                    <a:pt x="3059" y="94"/>
                  </a:moveTo>
                  <a:lnTo>
                    <a:pt x="3059" y="200"/>
                  </a:lnTo>
                </a:path>
                <a:path w="12600" h="420" fill="none">
                  <a:moveTo>
                    <a:pt x="3089" y="94"/>
                  </a:moveTo>
                  <a:lnTo>
                    <a:pt x="3089" y="200"/>
                  </a:lnTo>
                </a:path>
                <a:path w="12600" h="420" fill="none">
                  <a:moveTo>
                    <a:pt x="3059" y="326"/>
                  </a:moveTo>
                  <a:lnTo>
                    <a:pt x="3059" y="220"/>
                  </a:lnTo>
                </a:path>
                <a:path w="12600" h="420" fill="none">
                  <a:moveTo>
                    <a:pt x="3089" y="326"/>
                  </a:moveTo>
                  <a:lnTo>
                    <a:pt x="3089" y="220"/>
                  </a:lnTo>
                </a:path>
                <a:path w="12600" h="420" fill="none">
                  <a:moveTo>
                    <a:pt x="3160" y="94"/>
                  </a:moveTo>
                  <a:lnTo>
                    <a:pt x="3160" y="200"/>
                  </a:lnTo>
                </a:path>
                <a:path w="12600" h="420" fill="none">
                  <a:moveTo>
                    <a:pt x="3190" y="94"/>
                  </a:moveTo>
                  <a:lnTo>
                    <a:pt x="3190" y="200"/>
                  </a:lnTo>
                </a:path>
                <a:path w="12600" h="420" fill="none">
                  <a:moveTo>
                    <a:pt x="3160" y="326"/>
                  </a:moveTo>
                  <a:lnTo>
                    <a:pt x="3160" y="220"/>
                  </a:lnTo>
                </a:path>
                <a:path w="12600" h="420" fill="none">
                  <a:moveTo>
                    <a:pt x="3190" y="326"/>
                  </a:moveTo>
                  <a:lnTo>
                    <a:pt x="3190" y="220"/>
                  </a:lnTo>
                </a:path>
                <a:path w="12600" h="420" fill="none">
                  <a:moveTo>
                    <a:pt x="3261" y="94"/>
                  </a:moveTo>
                  <a:lnTo>
                    <a:pt x="3261" y="200"/>
                  </a:lnTo>
                </a:path>
                <a:path w="12600" h="420" fill="none">
                  <a:moveTo>
                    <a:pt x="3291" y="94"/>
                  </a:moveTo>
                  <a:lnTo>
                    <a:pt x="3291" y="200"/>
                  </a:lnTo>
                </a:path>
                <a:path w="12600" h="420" fill="none">
                  <a:moveTo>
                    <a:pt x="3261" y="326"/>
                  </a:moveTo>
                  <a:lnTo>
                    <a:pt x="3261" y="220"/>
                  </a:lnTo>
                </a:path>
                <a:path w="12600" h="420" fill="none">
                  <a:moveTo>
                    <a:pt x="3291" y="326"/>
                  </a:moveTo>
                  <a:lnTo>
                    <a:pt x="3291" y="220"/>
                  </a:lnTo>
                </a:path>
                <a:path w="12600" h="420" fill="none">
                  <a:moveTo>
                    <a:pt x="3361" y="94"/>
                  </a:moveTo>
                  <a:lnTo>
                    <a:pt x="3361" y="200"/>
                  </a:lnTo>
                </a:path>
                <a:path w="12600" h="420" fill="none">
                  <a:moveTo>
                    <a:pt x="3391" y="94"/>
                  </a:moveTo>
                  <a:lnTo>
                    <a:pt x="3391" y="200"/>
                  </a:lnTo>
                </a:path>
                <a:path w="12600" h="420" fill="none">
                  <a:moveTo>
                    <a:pt x="3361" y="326"/>
                  </a:moveTo>
                  <a:lnTo>
                    <a:pt x="3361" y="220"/>
                  </a:lnTo>
                </a:path>
                <a:path w="12600" h="420" fill="none">
                  <a:moveTo>
                    <a:pt x="3391" y="326"/>
                  </a:moveTo>
                  <a:lnTo>
                    <a:pt x="3391" y="220"/>
                  </a:lnTo>
                </a:path>
                <a:path w="12600" h="420" fill="none">
                  <a:moveTo>
                    <a:pt x="3462" y="94"/>
                  </a:moveTo>
                  <a:lnTo>
                    <a:pt x="3462" y="200"/>
                  </a:lnTo>
                </a:path>
                <a:path w="12600" h="420" fill="none">
                  <a:moveTo>
                    <a:pt x="3492" y="94"/>
                  </a:moveTo>
                  <a:lnTo>
                    <a:pt x="3492" y="200"/>
                  </a:lnTo>
                </a:path>
                <a:path w="12600" h="420" fill="none">
                  <a:moveTo>
                    <a:pt x="3462" y="326"/>
                  </a:moveTo>
                  <a:lnTo>
                    <a:pt x="3462" y="220"/>
                  </a:lnTo>
                </a:path>
                <a:path w="12600" h="420" fill="none">
                  <a:moveTo>
                    <a:pt x="3492" y="326"/>
                  </a:moveTo>
                  <a:lnTo>
                    <a:pt x="3492" y="220"/>
                  </a:lnTo>
                </a:path>
                <a:path w="12600" h="420" fill="none">
                  <a:moveTo>
                    <a:pt x="3563" y="94"/>
                  </a:moveTo>
                  <a:lnTo>
                    <a:pt x="3563" y="200"/>
                  </a:lnTo>
                </a:path>
                <a:path w="12600" h="420" fill="none">
                  <a:moveTo>
                    <a:pt x="3593" y="94"/>
                  </a:moveTo>
                  <a:lnTo>
                    <a:pt x="3593" y="200"/>
                  </a:lnTo>
                </a:path>
                <a:path w="12600" h="420" fill="none">
                  <a:moveTo>
                    <a:pt x="3563" y="326"/>
                  </a:moveTo>
                  <a:lnTo>
                    <a:pt x="3563" y="220"/>
                  </a:lnTo>
                </a:path>
                <a:path w="12600" h="420" fill="none">
                  <a:moveTo>
                    <a:pt x="3593" y="326"/>
                  </a:moveTo>
                  <a:lnTo>
                    <a:pt x="3593" y="220"/>
                  </a:lnTo>
                </a:path>
                <a:path w="12600" h="420" fill="none">
                  <a:moveTo>
                    <a:pt x="3664" y="94"/>
                  </a:moveTo>
                  <a:lnTo>
                    <a:pt x="3664" y="200"/>
                  </a:lnTo>
                </a:path>
                <a:path w="12600" h="420" fill="none">
                  <a:moveTo>
                    <a:pt x="3694" y="94"/>
                  </a:moveTo>
                  <a:lnTo>
                    <a:pt x="3694" y="200"/>
                  </a:lnTo>
                </a:path>
                <a:path w="12600" h="420" fill="none">
                  <a:moveTo>
                    <a:pt x="3664" y="326"/>
                  </a:moveTo>
                  <a:lnTo>
                    <a:pt x="3664" y="220"/>
                  </a:lnTo>
                </a:path>
                <a:path w="12600" h="420" fill="none">
                  <a:moveTo>
                    <a:pt x="3694" y="326"/>
                  </a:moveTo>
                  <a:lnTo>
                    <a:pt x="3694" y="220"/>
                  </a:lnTo>
                </a:path>
                <a:path w="12600" h="420" fill="none">
                  <a:moveTo>
                    <a:pt x="3765" y="94"/>
                  </a:moveTo>
                  <a:lnTo>
                    <a:pt x="3765" y="200"/>
                  </a:lnTo>
                </a:path>
                <a:path w="12600" h="420" fill="none">
                  <a:moveTo>
                    <a:pt x="3795" y="94"/>
                  </a:moveTo>
                  <a:lnTo>
                    <a:pt x="3795" y="200"/>
                  </a:lnTo>
                </a:path>
                <a:path w="12600" h="420" fill="none">
                  <a:moveTo>
                    <a:pt x="3765" y="326"/>
                  </a:moveTo>
                  <a:lnTo>
                    <a:pt x="3765" y="220"/>
                  </a:lnTo>
                </a:path>
                <a:path w="12600" h="420" fill="none">
                  <a:moveTo>
                    <a:pt x="3795" y="326"/>
                  </a:moveTo>
                  <a:lnTo>
                    <a:pt x="3795" y="220"/>
                  </a:lnTo>
                </a:path>
                <a:path w="12600" h="420" fill="none">
                  <a:moveTo>
                    <a:pt x="3865" y="94"/>
                  </a:moveTo>
                  <a:lnTo>
                    <a:pt x="3865" y="200"/>
                  </a:lnTo>
                </a:path>
                <a:path w="12600" h="420" fill="none">
                  <a:moveTo>
                    <a:pt x="3895" y="94"/>
                  </a:moveTo>
                  <a:lnTo>
                    <a:pt x="3895" y="200"/>
                  </a:lnTo>
                </a:path>
                <a:path w="12600" h="420" fill="none">
                  <a:moveTo>
                    <a:pt x="3865" y="326"/>
                  </a:moveTo>
                  <a:lnTo>
                    <a:pt x="3865" y="220"/>
                  </a:lnTo>
                </a:path>
                <a:path w="12600" h="420" fill="none">
                  <a:moveTo>
                    <a:pt x="3895" y="326"/>
                  </a:moveTo>
                  <a:lnTo>
                    <a:pt x="3895" y="220"/>
                  </a:lnTo>
                </a:path>
                <a:path w="12600" h="420" fill="none">
                  <a:moveTo>
                    <a:pt x="3966" y="94"/>
                  </a:moveTo>
                  <a:lnTo>
                    <a:pt x="3966" y="200"/>
                  </a:lnTo>
                </a:path>
                <a:path w="12600" h="420" fill="none">
                  <a:moveTo>
                    <a:pt x="3996" y="94"/>
                  </a:moveTo>
                  <a:lnTo>
                    <a:pt x="3996" y="200"/>
                  </a:lnTo>
                </a:path>
                <a:path w="12600" h="420" fill="none">
                  <a:moveTo>
                    <a:pt x="3966" y="326"/>
                  </a:moveTo>
                  <a:lnTo>
                    <a:pt x="3966" y="220"/>
                  </a:lnTo>
                </a:path>
                <a:path w="12600" h="420" fill="none">
                  <a:moveTo>
                    <a:pt x="3996" y="326"/>
                  </a:moveTo>
                  <a:lnTo>
                    <a:pt x="3996" y="220"/>
                  </a:lnTo>
                </a:path>
                <a:path w="12600" h="420" fill="none">
                  <a:moveTo>
                    <a:pt x="4067" y="94"/>
                  </a:moveTo>
                  <a:lnTo>
                    <a:pt x="4067" y="200"/>
                  </a:lnTo>
                </a:path>
                <a:path w="12600" h="420" fill="none">
                  <a:moveTo>
                    <a:pt x="4097" y="94"/>
                  </a:moveTo>
                  <a:lnTo>
                    <a:pt x="4097" y="200"/>
                  </a:lnTo>
                </a:path>
                <a:path w="12600" h="420" fill="none">
                  <a:moveTo>
                    <a:pt x="4067" y="326"/>
                  </a:moveTo>
                  <a:lnTo>
                    <a:pt x="4067" y="220"/>
                  </a:lnTo>
                </a:path>
                <a:path w="12600" h="420" fill="none">
                  <a:moveTo>
                    <a:pt x="4097" y="326"/>
                  </a:moveTo>
                  <a:lnTo>
                    <a:pt x="4097" y="220"/>
                  </a:lnTo>
                </a:path>
                <a:path w="12600" h="420" fill="none">
                  <a:moveTo>
                    <a:pt x="4168" y="94"/>
                  </a:moveTo>
                  <a:lnTo>
                    <a:pt x="4168" y="200"/>
                  </a:lnTo>
                </a:path>
                <a:path w="12600" h="420" fill="none">
                  <a:moveTo>
                    <a:pt x="4198" y="94"/>
                  </a:moveTo>
                  <a:lnTo>
                    <a:pt x="4198" y="200"/>
                  </a:lnTo>
                </a:path>
                <a:path w="12600" h="420" fill="none">
                  <a:moveTo>
                    <a:pt x="4168" y="326"/>
                  </a:moveTo>
                  <a:lnTo>
                    <a:pt x="4168" y="220"/>
                  </a:lnTo>
                </a:path>
                <a:path w="12600" h="420" fill="none">
                  <a:moveTo>
                    <a:pt x="4198" y="326"/>
                  </a:moveTo>
                  <a:lnTo>
                    <a:pt x="4198" y="220"/>
                  </a:lnTo>
                </a:path>
                <a:path w="12600" h="420" fill="none">
                  <a:moveTo>
                    <a:pt x="4269" y="94"/>
                  </a:moveTo>
                  <a:lnTo>
                    <a:pt x="4269" y="200"/>
                  </a:lnTo>
                </a:path>
                <a:path w="12600" h="420" fill="none">
                  <a:moveTo>
                    <a:pt x="4299" y="94"/>
                  </a:moveTo>
                  <a:lnTo>
                    <a:pt x="4299" y="200"/>
                  </a:lnTo>
                </a:path>
                <a:path w="12600" h="420" fill="none">
                  <a:moveTo>
                    <a:pt x="4269" y="326"/>
                  </a:moveTo>
                  <a:lnTo>
                    <a:pt x="4269" y="220"/>
                  </a:lnTo>
                </a:path>
                <a:path w="12600" h="420" fill="none">
                  <a:moveTo>
                    <a:pt x="4299" y="326"/>
                  </a:moveTo>
                  <a:lnTo>
                    <a:pt x="4299" y="220"/>
                  </a:lnTo>
                </a:path>
                <a:path w="12600" h="420" fill="none">
                  <a:moveTo>
                    <a:pt x="4369" y="94"/>
                  </a:moveTo>
                  <a:lnTo>
                    <a:pt x="4369" y="200"/>
                  </a:lnTo>
                </a:path>
                <a:path w="12600" h="420" fill="none">
                  <a:moveTo>
                    <a:pt x="4399" y="94"/>
                  </a:moveTo>
                  <a:lnTo>
                    <a:pt x="4399" y="200"/>
                  </a:lnTo>
                </a:path>
                <a:path w="12600" h="420" fill="none">
                  <a:moveTo>
                    <a:pt x="4369" y="326"/>
                  </a:moveTo>
                  <a:lnTo>
                    <a:pt x="4369" y="220"/>
                  </a:lnTo>
                </a:path>
                <a:path w="12600" h="420" fill="none">
                  <a:moveTo>
                    <a:pt x="4399" y="326"/>
                  </a:moveTo>
                  <a:lnTo>
                    <a:pt x="4399" y="220"/>
                  </a:lnTo>
                </a:path>
                <a:path w="12600" h="420" fill="none">
                  <a:moveTo>
                    <a:pt x="4470" y="94"/>
                  </a:moveTo>
                  <a:lnTo>
                    <a:pt x="4470" y="200"/>
                  </a:lnTo>
                </a:path>
                <a:path w="12600" h="420" fill="none">
                  <a:moveTo>
                    <a:pt x="4500" y="94"/>
                  </a:moveTo>
                  <a:lnTo>
                    <a:pt x="4500" y="200"/>
                  </a:lnTo>
                </a:path>
                <a:path w="12600" h="420" fill="none">
                  <a:moveTo>
                    <a:pt x="4470" y="326"/>
                  </a:moveTo>
                  <a:lnTo>
                    <a:pt x="4470" y="220"/>
                  </a:lnTo>
                </a:path>
                <a:path w="12600" h="420" fill="none">
                  <a:moveTo>
                    <a:pt x="4500" y="326"/>
                  </a:moveTo>
                  <a:lnTo>
                    <a:pt x="4500" y="220"/>
                  </a:lnTo>
                </a:path>
                <a:path w="12600" h="420" fill="none">
                  <a:moveTo>
                    <a:pt x="4571" y="94"/>
                  </a:moveTo>
                  <a:lnTo>
                    <a:pt x="4571" y="200"/>
                  </a:lnTo>
                </a:path>
                <a:path w="12600" h="420" fill="none">
                  <a:moveTo>
                    <a:pt x="4601" y="94"/>
                  </a:moveTo>
                  <a:lnTo>
                    <a:pt x="4601" y="200"/>
                  </a:lnTo>
                </a:path>
                <a:path w="12600" h="420" fill="none">
                  <a:moveTo>
                    <a:pt x="4571" y="326"/>
                  </a:moveTo>
                  <a:lnTo>
                    <a:pt x="4571" y="220"/>
                  </a:lnTo>
                </a:path>
                <a:path w="12600" h="420" fill="none">
                  <a:moveTo>
                    <a:pt x="4601" y="326"/>
                  </a:moveTo>
                  <a:lnTo>
                    <a:pt x="4601" y="220"/>
                  </a:lnTo>
                </a:path>
                <a:path w="12600" h="420" fill="none">
                  <a:moveTo>
                    <a:pt x="4672" y="94"/>
                  </a:moveTo>
                  <a:lnTo>
                    <a:pt x="4672" y="200"/>
                  </a:lnTo>
                </a:path>
                <a:path w="12600" h="420" fill="none">
                  <a:moveTo>
                    <a:pt x="4702" y="94"/>
                  </a:moveTo>
                  <a:lnTo>
                    <a:pt x="4702" y="200"/>
                  </a:lnTo>
                </a:path>
                <a:path w="12600" h="420" fill="none">
                  <a:moveTo>
                    <a:pt x="4672" y="326"/>
                  </a:moveTo>
                  <a:lnTo>
                    <a:pt x="4672" y="220"/>
                  </a:lnTo>
                </a:path>
                <a:path w="12600" h="420" fill="none">
                  <a:moveTo>
                    <a:pt x="4702" y="326"/>
                  </a:moveTo>
                  <a:lnTo>
                    <a:pt x="4702" y="220"/>
                  </a:lnTo>
                </a:path>
                <a:path w="12600" h="420" fill="none">
                  <a:moveTo>
                    <a:pt x="4773" y="94"/>
                  </a:moveTo>
                  <a:lnTo>
                    <a:pt x="4773" y="200"/>
                  </a:lnTo>
                </a:path>
                <a:path w="12600" h="420" fill="none">
                  <a:moveTo>
                    <a:pt x="4803" y="94"/>
                  </a:moveTo>
                  <a:lnTo>
                    <a:pt x="4803" y="200"/>
                  </a:lnTo>
                </a:path>
                <a:path w="12600" h="420" fill="none">
                  <a:moveTo>
                    <a:pt x="4773" y="326"/>
                  </a:moveTo>
                  <a:lnTo>
                    <a:pt x="4773" y="220"/>
                  </a:lnTo>
                </a:path>
                <a:path w="12600" h="420" fill="none">
                  <a:moveTo>
                    <a:pt x="4803" y="326"/>
                  </a:moveTo>
                  <a:lnTo>
                    <a:pt x="4803" y="220"/>
                  </a:lnTo>
                </a:path>
                <a:path w="12600" h="420" fill="none">
                  <a:moveTo>
                    <a:pt x="4873" y="94"/>
                  </a:moveTo>
                  <a:lnTo>
                    <a:pt x="4873" y="200"/>
                  </a:lnTo>
                </a:path>
                <a:path w="12600" h="420" fill="none">
                  <a:moveTo>
                    <a:pt x="4903" y="94"/>
                  </a:moveTo>
                  <a:lnTo>
                    <a:pt x="4903" y="200"/>
                  </a:lnTo>
                </a:path>
                <a:path w="12600" h="420" fill="none">
                  <a:moveTo>
                    <a:pt x="4873" y="326"/>
                  </a:moveTo>
                  <a:lnTo>
                    <a:pt x="4873" y="220"/>
                  </a:lnTo>
                </a:path>
                <a:path w="12600" h="420" fill="none">
                  <a:moveTo>
                    <a:pt x="4903" y="326"/>
                  </a:moveTo>
                  <a:lnTo>
                    <a:pt x="4903" y="220"/>
                  </a:lnTo>
                </a:path>
                <a:path w="12600" h="420" fill="none">
                  <a:moveTo>
                    <a:pt x="4974" y="94"/>
                  </a:moveTo>
                  <a:lnTo>
                    <a:pt x="4974" y="200"/>
                  </a:lnTo>
                </a:path>
                <a:path w="12600" h="420" fill="none">
                  <a:moveTo>
                    <a:pt x="5004" y="94"/>
                  </a:moveTo>
                  <a:lnTo>
                    <a:pt x="5004" y="200"/>
                  </a:lnTo>
                </a:path>
                <a:path w="12600" h="420" fill="none">
                  <a:moveTo>
                    <a:pt x="4974" y="326"/>
                  </a:moveTo>
                  <a:lnTo>
                    <a:pt x="4974" y="220"/>
                  </a:lnTo>
                </a:path>
                <a:path w="12600" h="420" fill="none">
                  <a:moveTo>
                    <a:pt x="5004" y="326"/>
                  </a:moveTo>
                  <a:lnTo>
                    <a:pt x="5004" y="220"/>
                  </a:lnTo>
                </a:path>
                <a:path w="12600" h="420" fill="none">
                  <a:moveTo>
                    <a:pt x="5075" y="94"/>
                  </a:moveTo>
                  <a:lnTo>
                    <a:pt x="5075" y="200"/>
                  </a:lnTo>
                </a:path>
                <a:path w="12600" h="420" fill="none">
                  <a:moveTo>
                    <a:pt x="5105" y="94"/>
                  </a:moveTo>
                  <a:lnTo>
                    <a:pt x="5105" y="200"/>
                  </a:lnTo>
                </a:path>
                <a:path w="12600" h="420" fill="none">
                  <a:moveTo>
                    <a:pt x="5075" y="326"/>
                  </a:moveTo>
                  <a:lnTo>
                    <a:pt x="5075" y="220"/>
                  </a:lnTo>
                </a:path>
                <a:path w="12600" h="420" fill="none">
                  <a:moveTo>
                    <a:pt x="5105" y="326"/>
                  </a:moveTo>
                  <a:lnTo>
                    <a:pt x="5105" y="220"/>
                  </a:lnTo>
                </a:path>
                <a:path w="12600" h="420" fill="none">
                  <a:moveTo>
                    <a:pt x="5176" y="94"/>
                  </a:moveTo>
                  <a:lnTo>
                    <a:pt x="5176" y="200"/>
                  </a:lnTo>
                </a:path>
                <a:path w="12600" h="420" fill="none">
                  <a:moveTo>
                    <a:pt x="5206" y="94"/>
                  </a:moveTo>
                  <a:lnTo>
                    <a:pt x="5206" y="200"/>
                  </a:lnTo>
                </a:path>
                <a:path w="12600" h="420" fill="none">
                  <a:moveTo>
                    <a:pt x="5176" y="326"/>
                  </a:moveTo>
                  <a:lnTo>
                    <a:pt x="5176" y="220"/>
                  </a:lnTo>
                </a:path>
                <a:path w="12600" h="420" fill="none">
                  <a:moveTo>
                    <a:pt x="5206" y="326"/>
                  </a:moveTo>
                  <a:lnTo>
                    <a:pt x="5206" y="220"/>
                  </a:lnTo>
                </a:path>
                <a:path w="12600" h="420" fill="none">
                  <a:moveTo>
                    <a:pt x="5277" y="94"/>
                  </a:moveTo>
                  <a:lnTo>
                    <a:pt x="5277" y="200"/>
                  </a:lnTo>
                </a:path>
                <a:path w="12600" h="420" fill="none">
                  <a:moveTo>
                    <a:pt x="5307" y="94"/>
                  </a:moveTo>
                  <a:lnTo>
                    <a:pt x="5307" y="200"/>
                  </a:lnTo>
                </a:path>
                <a:path w="12600" h="420" fill="none">
                  <a:moveTo>
                    <a:pt x="5277" y="326"/>
                  </a:moveTo>
                  <a:lnTo>
                    <a:pt x="5277" y="220"/>
                  </a:lnTo>
                </a:path>
                <a:path w="12600" h="420" fill="none">
                  <a:moveTo>
                    <a:pt x="5307" y="326"/>
                  </a:moveTo>
                  <a:lnTo>
                    <a:pt x="5307" y="220"/>
                  </a:lnTo>
                </a:path>
                <a:path w="12600" h="420" fill="none">
                  <a:moveTo>
                    <a:pt x="5377" y="94"/>
                  </a:moveTo>
                  <a:lnTo>
                    <a:pt x="5377" y="200"/>
                  </a:lnTo>
                </a:path>
                <a:path w="12600" h="420" fill="none">
                  <a:moveTo>
                    <a:pt x="5407" y="94"/>
                  </a:moveTo>
                  <a:lnTo>
                    <a:pt x="5407" y="200"/>
                  </a:lnTo>
                </a:path>
                <a:path w="12600" h="420" fill="none">
                  <a:moveTo>
                    <a:pt x="5377" y="326"/>
                  </a:moveTo>
                  <a:lnTo>
                    <a:pt x="5377" y="220"/>
                  </a:lnTo>
                </a:path>
                <a:path w="12600" h="420" fill="none">
                  <a:moveTo>
                    <a:pt x="5407" y="326"/>
                  </a:moveTo>
                  <a:lnTo>
                    <a:pt x="5407" y="220"/>
                  </a:lnTo>
                </a:path>
                <a:path w="12600" h="420" fill="none">
                  <a:moveTo>
                    <a:pt x="5478" y="94"/>
                  </a:moveTo>
                  <a:lnTo>
                    <a:pt x="5478" y="200"/>
                  </a:lnTo>
                </a:path>
                <a:path w="12600" h="420" fill="none">
                  <a:moveTo>
                    <a:pt x="5508" y="94"/>
                  </a:moveTo>
                  <a:lnTo>
                    <a:pt x="5508" y="200"/>
                  </a:lnTo>
                </a:path>
                <a:path w="12600" h="420" fill="none">
                  <a:moveTo>
                    <a:pt x="5478" y="326"/>
                  </a:moveTo>
                  <a:lnTo>
                    <a:pt x="5478" y="220"/>
                  </a:lnTo>
                </a:path>
                <a:path w="12600" h="420" fill="none">
                  <a:moveTo>
                    <a:pt x="5508" y="326"/>
                  </a:moveTo>
                  <a:lnTo>
                    <a:pt x="5508" y="220"/>
                  </a:lnTo>
                </a:path>
                <a:path w="12600" h="420" fill="none">
                  <a:moveTo>
                    <a:pt x="5579" y="94"/>
                  </a:moveTo>
                  <a:lnTo>
                    <a:pt x="5579" y="200"/>
                  </a:lnTo>
                </a:path>
                <a:path w="12600" h="420" fill="none">
                  <a:moveTo>
                    <a:pt x="5609" y="94"/>
                  </a:moveTo>
                  <a:lnTo>
                    <a:pt x="5609" y="200"/>
                  </a:lnTo>
                </a:path>
                <a:path w="12600" h="420" fill="none">
                  <a:moveTo>
                    <a:pt x="5579" y="326"/>
                  </a:moveTo>
                  <a:lnTo>
                    <a:pt x="5579" y="220"/>
                  </a:lnTo>
                </a:path>
                <a:path w="12600" h="420" fill="none">
                  <a:moveTo>
                    <a:pt x="5609" y="326"/>
                  </a:moveTo>
                  <a:lnTo>
                    <a:pt x="5609" y="220"/>
                  </a:lnTo>
                </a:path>
                <a:path w="12600" h="420" fill="none">
                  <a:moveTo>
                    <a:pt x="5680" y="94"/>
                  </a:moveTo>
                  <a:lnTo>
                    <a:pt x="5680" y="200"/>
                  </a:lnTo>
                </a:path>
                <a:path w="12600" h="420" fill="none">
                  <a:moveTo>
                    <a:pt x="5710" y="94"/>
                  </a:moveTo>
                  <a:lnTo>
                    <a:pt x="5710" y="200"/>
                  </a:lnTo>
                </a:path>
                <a:path w="12600" h="420" fill="none">
                  <a:moveTo>
                    <a:pt x="5680" y="326"/>
                  </a:moveTo>
                  <a:lnTo>
                    <a:pt x="5680" y="220"/>
                  </a:lnTo>
                </a:path>
                <a:path w="12600" h="420" fill="none">
                  <a:moveTo>
                    <a:pt x="5710" y="326"/>
                  </a:moveTo>
                  <a:lnTo>
                    <a:pt x="5710" y="220"/>
                  </a:lnTo>
                </a:path>
                <a:path w="12600" h="420" fill="none">
                  <a:moveTo>
                    <a:pt x="5781" y="94"/>
                  </a:moveTo>
                  <a:lnTo>
                    <a:pt x="5781" y="200"/>
                  </a:lnTo>
                </a:path>
                <a:path w="12600" h="420" fill="none">
                  <a:moveTo>
                    <a:pt x="5811" y="94"/>
                  </a:moveTo>
                  <a:lnTo>
                    <a:pt x="5811" y="200"/>
                  </a:lnTo>
                </a:path>
                <a:path w="12600" h="420" fill="none">
                  <a:moveTo>
                    <a:pt x="5781" y="326"/>
                  </a:moveTo>
                  <a:lnTo>
                    <a:pt x="5781" y="220"/>
                  </a:lnTo>
                </a:path>
                <a:path w="12600" h="420" fill="none">
                  <a:moveTo>
                    <a:pt x="5811" y="326"/>
                  </a:moveTo>
                  <a:lnTo>
                    <a:pt x="5811" y="220"/>
                  </a:lnTo>
                </a:path>
                <a:path w="12600" h="420" fill="none">
                  <a:moveTo>
                    <a:pt x="5881" y="94"/>
                  </a:moveTo>
                  <a:lnTo>
                    <a:pt x="5881" y="200"/>
                  </a:lnTo>
                </a:path>
                <a:path w="12600" h="420" fill="none">
                  <a:moveTo>
                    <a:pt x="5911" y="94"/>
                  </a:moveTo>
                  <a:lnTo>
                    <a:pt x="5911" y="200"/>
                  </a:lnTo>
                </a:path>
                <a:path w="12600" h="420" fill="none">
                  <a:moveTo>
                    <a:pt x="5881" y="326"/>
                  </a:moveTo>
                  <a:lnTo>
                    <a:pt x="5881" y="220"/>
                  </a:lnTo>
                </a:path>
                <a:path w="12600" h="420" fill="none">
                  <a:moveTo>
                    <a:pt x="5911" y="326"/>
                  </a:moveTo>
                  <a:lnTo>
                    <a:pt x="5911" y="220"/>
                  </a:lnTo>
                </a:path>
                <a:path w="12600" h="420" fill="none">
                  <a:moveTo>
                    <a:pt x="5982" y="94"/>
                  </a:moveTo>
                  <a:lnTo>
                    <a:pt x="5982" y="200"/>
                  </a:lnTo>
                </a:path>
                <a:path w="12600" h="420" fill="none">
                  <a:moveTo>
                    <a:pt x="6012" y="94"/>
                  </a:moveTo>
                  <a:lnTo>
                    <a:pt x="6012" y="200"/>
                  </a:lnTo>
                </a:path>
                <a:path w="12600" h="420" fill="none">
                  <a:moveTo>
                    <a:pt x="5982" y="326"/>
                  </a:moveTo>
                  <a:lnTo>
                    <a:pt x="5982" y="220"/>
                  </a:lnTo>
                </a:path>
                <a:path w="12600" h="420" fill="none">
                  <a:moveTo>
                    <a:pt x="6012" y="326"/>
                  </a:moveTo>
                  <a:lnTo>
                    <a:pt x="6012" y="220"/>
                  </a:lnTo>
                </a:path>
                <a:path w="12600" h="420" fill="none">
                  <a:moveTo>
                    <a:pt x="6083" y="94"/>
                  </a:moveTo>
                  <a:lnTo>
                    <a:pt x="6083" y="200"/>
                  </a:lnTo>
                </a:path>
                <a:path w="12600" h="420" fill="none">
                  <a:moveTo>
                    <a:pt x="6113" y="94"/>
                  </a:moveTo>
                  <a:lnTo>
                    <a:pt x="6113" y="200"/>
                  </a:lnTo>
                </a:path>
                <a:path w="12600" h="420" fill="none">
                  <a:moveTo>
                    <a:pt x="6083" y="326"/>
                  </a:moveTo>
                  <a:lnTo>
                    <a:pt x="6083" y="220"/>
                  </a:lnTo>
                </a:path>
                <a:path w="12600" h="420" fill="none">
                  <a:moveTo>
                    <a:pt x="6113" y="326"/>
                  </a:moveTo>
                  <a:lnTo>
                    <a:pt x="6113" y="220"/>
                  </a:lnTo>
                </a:path>
                <a:path w="12600" h="420" fill="none">
                  <a:moveTo>
                    <a:pt x="6184" y="94"/>
                  </a:moveTo>
                  <a:lnTo>
                    <a:pt x="6184" y="200"/>
                  </a:lnTo>
                </a:path>
                <a:path w="12600" h="420" fill="none">
                  <a:moveTo>
                    <a:pt x="6214" y="94"/>
                  </a:moveTo>
                  <a:lnTo>
                    <a:pt x="6214" y="200"/>
                  </a:lnTo>
                </a:path>
                <a:path w="12600" h="420" fill="none">
                  <a:moveTo>
                    <a:pt x="6184" y="326"/>
                  </a:moveTo>
                  <a:lnTo>
                    <a:pt x="6184" y="220"/>
                  </a:lnTo>
                </a:path>
                <a:path w="12600" h="420" fill="none">
                  <a:moveTo>
                    <a:pt x="6214" y="326"/>
                  </a:moveTo>
                  <a:lnTo>
                    <a:pt x="6214" y="220"/>
                  </a:lnTo>
                </a:path>
                <a:path w="12600" h="420" fill="none">
                  <a:moveTo>
                    <a:pt x="6285" y="94"/>
                  </a:moveTo>
                  <a:lnTo>
                    <a:pt x="6285" y="200"/>
                  </a:lnTo>
                </a:path>
                <a:path w="12600" h="420" fill="none">
                  <a:moveTo>
                    <a:pt x="6315" y="94"/>
                  </a:moveTo>
                  <a:lnTo>
                    <a:pt x="6315" y="200"/>
                  </a:lnTo>
                </a:path>
                <a:path w="12600" h="420" fill="none">
                  <a:moveTo>
                    <a:pt x="6285" y="326"/>
                  </a:moveTo>
                  <a:lnTo>
                    <a:pt x="6285" y="220"/>
                  </a:lnTo>
                </a:path>
                <a:path w="12600" h="420" fill="none">
                  <a:moveTo>
                    <a:pt x="6315" y="326"/>
                  </a:moveTo>
                  <a:lnTo>
                    <a:pt x="6315" y="220"/>
                  </a:lnTo>
                </a:path>
                <a:path w="12600" h="420" fill="none">
                  <a:moveTo>
                    <a:pt x="6385" y="94"/>
                  </a:moveTo>
                  <a:lnTo>
                    <a:pt x="6385" y="200"/>
                  </a:lnTo>
                </a:path>
                <a:path w="12600" h="420" fill="none">
                  <a:moveTo>
                    <a:pt x="6415" y="94"/>
                  </a:moveTo>
                  <a:lnTo>
                    <a:pt x="6415" y="200"/>
                  </a:lnTo>
                </a:path>
                <a:path w="12600" h="420" fill="none">
                  <a:moveTo>
                    <a:pt x="6385" y="326"/>
                  </a:moveTo>
                  <a:lnTo>
                    <a:pt x="6385" y="220"/>
                  </a:lnTo>
                </a:path>
                <a:path w="12600" h="420" fill="none">
                  <a:moveTo>
                    <a:pt x="6415" y="326"/>
                  </a:moveTo>
                  <a:lnTo>
                    <a:pt x="6415" y="220"/>
                  </a:lnTo>
                </a:path>
                <a:path w="12600" h="420" fill="none">
                  <a:moveTo>
                    <a:pt x="6486" y="94"/>
                  </a:moveTo>
                  <a:lnTo>
                    <a:pt x="6486" y="200"/>
                  </a:lnTo>
                </a:path>
                <a:path w="12600" h="420" fill="none">
                  <a:moveTo>
                    <a:pt x="6516" y="94"/>
                  </a:moveTo>
                  <a:lnTo>
                    <a:pt x="6516" y="200"/>
                  </a:lnTo>
                </a:path>
                <a:path w="12600" h="420" fill="none">
                  <a:moveTo>
                    <a:pt x="6486" y="326"/>
                  </a:moveTo>
                  <a:lnTo>
                    <a:pt x="6486" y="220"/>
                  </a:lnTo>
                </a:path>
                <a:path w="12600" h="420" fill="none">
                  <a:moveTo>
                    <a:pt x="6516" y="326"/>
                  </a:moveTo>
                  <a:lnTo>
                    <a:pt x="6516" y="220"/>
                  </a:lnTo>
                </a:path>
                <a:path w="12600" h="420" fill="none">
                  <a:moveTo>
                    <a:pt x="6587" y="94"/>
                  </a:moveTo>
                  <a:lnTo>
                    <a:pt x="6587" y="200"/>
                  </a:lnTo>
                </a:path>
                <a:path w="12600" h="420" fill="none">
                  <a:moveTo>
                    <a:pt x="6617" y="94"/>
                  </a:moveTo>
                  <a:lnTo>
                    <a:pt x="6617" y="200"/>
                  </a:lnTo>
                </a:path>
                <a:path w="12600" h="420" fill="none">
                  <a:moveTo>
                    <a:pt x="6587" y="326"/>
                  </a:moveTo>
                  <a:lnTo>
                    <a:pt x="6587" y="220"/>
                  </a:lnTo>
                </a:path>
                <a:path w="12600" h="420" fill="none">
                  <a:moveTo>
                    <a:pt x="6617" y="326"/>
                  </a:moveTo>
                  <a:lnTo>
                    <a:pt x="6617" y="220"/>
                  </a:lnTo>
                </a:path>
                <a:path w="12600" h="420" fill="none">
                  <a:moveTo>
                    <a:pt x="6688" y="94"/>
                  </a:moveTo>
                  <a:lnTo>
                    <a:pt x="6688" y="200"/>
                  </a:lnTo>
                </a:path>
                <a:path w="12600" h="420" fill="none">
                  <a:moveTo>
                    <a:pt x="6718" y="94"/>
                  </a:moveTo>
                  <a:lnTo>
                    <a:pt x="6718" y="200"/>
                  </a:lnTo>
                </a:path>
                <a:path w="12600" h="420" fill="none">
                  <a:moveTo>
                    <a:pt x="6688" y="326"/>
                  </a:moveTo>
                  <a:lnTo>
                    <a:pt x="6688" y="220"/>
                  </a:lnTo>
                </a:path>
                <a:path w="12600" h="420" fill="none">
                  <a:moveTo>
                    <a:pt x="6718" y="326"/>
                  </a:moveTo>
                  <a:lnTo>
                    <a:pt x="6718" y="220"/>
                  </a:lnTo>
                </a:path>
                <a:path w="12600" h="420" fill="none">
                  <a:moveTo>
                    <a:pt x="6789" y="94"/>
                  </a:moveTo>
                  <a:lnTo>
                    <a:pt x="6789" y="200"/>
                  </a:lnTo>
                </a:path>
                <a:path w="12600" h="420" fill="none">
                  <a:moveTo>
                    <a:pt x="6819" y="94"/>
                  </a:moveTo>
                  <a:lnTo>
                    <a:pt x="6819" y="200"/>
                  </a:lnTo>
                </a:path>
                <a:path w="12600" h="420" fill="none">
                  <a:moveTo>
                    <a:pt x="6789" y="326"/>
                  </a:moveTo>
                  <a:lnTo>
                    <a:pt x="6789" y="220"/>
                  </a:lnTo>
                </a:path>
                <a:path w="12600" h="420" fill="none">
                  <a:moveTo>
                    <a:pt x="6819" y="326"/>
                  </a:moveTo>
                  <a:lnTo>
                    <a:pt x="6819" y="220"/>
                  </a:lnTo>
                </a:path>
                <a:path w="12600" h="420" fill="none">
                  <a:moveTo>
                    <a:pt x="6889" y="94"/>
                  </a:moveTo>
                  <a:lnTo>
                    <a:pt x="6889" y="200"/>
                  </a:lnTo>
                </a:path>
                <a:path w="12600" h="420" fill="none">
                  <a:moveTo>
                    <a:pt x="6919" y="94"/>
                  </a:moveTo>
                  <a:lnTo>
                    <a:pt x="6919" y="200"/>
                  </a:lnTo>
                </a:path>
                <a:path w="12600" h="420" fill="none">
                  <a:moveTo>
                    <a:pt x="6889" y="326"/>
                  </a:moveTo>
                  <a:lnTo>
                    <a:pt x="6889" y="220"/>
                  </a:lnTo>
                </a:path>
                <a:path w="12600" h="420" fill="none">
                  <a:moveTo>
                    <a:pt x="6919" y="326"/>
                  </a:moveTo>
                  <a:lnTo>
                    <a:pt x="6919" y="220"/>
                  </a:lnTo>
                </a:path>
                <a:path w="12600" h="420" fill="none">
                  <a:moveTo>
                    <a:pt x="6990" y="94"/>
                  </a:moveTo>
                  <a:lnTo>
                    <a:pt x="6990" y="200"/>
                  </a:lnTo>
                </a:path>
                <a:path w="12600" h="420" fill="none">
                  <a:moveTo>
                    <a:pt x="7020" y="94"/>
                  </a:moveTo>
                  <a:lnTo>
                    <a:pt x="7020" y="200"/>
                  </a:lnTo>
                </a:path>
                <a:path w="12600" h="420" fill="none">
                  <a:moveTo>
                    <a:pt x="6990" y="326"/>
                  </a:moveTo>
                  <a:lnTo>
                    <a:pt x="6990" y="220"/>
                  </a:lnTo>
                </a:path>
                <a:path w="12600" h="420" fill="none">
                  <a:moveTo>
                    <a:pt x="7020" y="326"/>
                  </a:moveTo>
                  <a:lnTo>
                    <a:pt x="7020" y="220"/>
                  </a:lnTo>
                </a:path>
                <a:path w="12600" h="420" fill="none">
                  <a:moveTo>
                    <a:pt x="7091" y="94"/>
                  </a:moveTo>
                  <a:lnTo>
                    <a:pt x="7091" y="200"/>
                  </a:lnTo>
                </a:path>
                <a:path w="12600" h="420" fill="none">
                  <a:moveTo>
                    <a:pt x="7121" y="94"/>
                  </a:moveTo>
                  <a:lnTo>
                    <a:pt x="7121" y="200"/>
                  </a:lnTo>
                </a:path>
                <a:path w="12600" h="420" fill="none">
                  <a:moveTo>
                    <a:pt x="7091" y="326"/>
                  </a:moveTo>
                  <a:lnTo>
                    <a:pt x="7091" y="220"/>
                  </a:lnTo>
                </a:path>
                <a:path w="12600" h="420" fill="none">
                  <a:moveTo>
                    <a:pt x="7121" y="326"/>
                  </a:moveTo>
                  <a:lnTo>
                    <a:pt x="7121" y="220"/>
                  </a:lnTo>
                </a:path>
                <a:path w="12600" h="420" fill="none">
                  <a:moveTo>
                    <a:pt x="7192" y="94"/>
                  </a:moveTo>
                  <a:lnTo>
                    <a:pt x="7192" y="200"/>
                  </a:lnTo>
                </a:path>
                <a:path w="12600" h="420" fill="none">
                  <a:moveTo>
                    <a:pt x="7222" y="94"/>
                  </a:moveTo>
                  <a:lnTo>
                    <a:pt x="7222" y="200"/>
                  </a:lnTo>
                </a:path>
                <a:path w="12600" h="420" fill="none">
                  <a:moveTo>
                    <a:pt x="7192" y="326"/>
                  </a:moveTo>
                  <a:lnTo>
                    <a:pt x="7192" y="220"/>
                  </a:lnTo>
                </a:path>
                <a:path w="12600" h="420" fill="none">
                  <a:moveTo>
                    <a:pt x="7222" y="326"/>
                  </a:moveTo>
                  <a:lnTo>
                    <a:pt x="7222" y="220"/>
                  </a:lnTo>
                </a:path>
                <a:path w="12600" h="420" fill="none">
                  <a:moveTo>
                    <a:pt x="7293" y="94"/>
                  </a:moveTo>
                  <a:lnTo>
                    <a:pt x="7293" y="200"/>
                  </a:lnTo>
                </a:path>
                <a:path w="12600" h="420" fill="none">
                  <a:moveTo>
                    <a:pt x="7323" y="94"/>
                  </a:moveTo>
                  <a:lnTo>
                    <a:pt x="7323" y="200"/>
                  </a:lnTo>
                </a:path>
                <a:path w="12600" h="420" fill="none">
                  <a:moveTo>
                    <a:pt x="7293" y="326"/>
                  </a:moveTo>
                  <a:lnTo>
                    <a:pt x="7293" y="220"/>
                  </a:lnTo>
                </a:path>
                <a:path w="12600" h="420" fill="none">
                  <a:moveTo>
                    <a:pt x="7323" y="326"/>
                  </a:moveTo>
                  <a:lnTo>
                    <a:pt x="7323" y="220"/>
                  </a:lnTo>
                </a:path>
                <a:path w="12600" h="420" fill="none">
                  <a:moveTo>
                    <a:pt x="7393" y="94"/>
                  </a:moveTo>
                  <a:lnTo>
                    <a:pt x="7393" y="200"/>
                  </a:lnTo>
                </a:path>
                <a:path w="12600" h="420" fill="none">
                  <a:moveTo>
                    <a:pt x="7423" y="94"/>
                  </a:moveTo>
                  <a:lnTo>
                    <a:pt x="7423" y="200"/>
                  </a:lnTo>
                </a:path>
                <a:path w="12600" h="420" fill="none">
                  <a:moveTo>
                    <a:pt x="7393" y="326"/>
                  </a:moveTo>
                  <a:lnTo>
                    <a:pt x="7393" y="220"/>
                  </a:lnTo>
                </a:path>
                <a:path w="12600" h="420" fill="none">
                  <a:moveTo>
                    <a:pt x="7423" y="326"/>
                  </a:moveTo>
                  <a:lnTo>
                    <a:pt x="7423" y="220"/>
                  </a:lnTo>
                </a:path>
                <a:path w="12600" h="420" fill="none">
                  <a:moveTo>
                    <a:pt x="7494" y="94"/>
                  </a:moveTo>
                  <a:lnTo>
                    <a:pt x="7494" y="200"/>
                  </a:lnTo>
                </a:path>
                <a:path w="12600" h="420" fill="none">
                  <a:moveTo>
                    <a:pt x="7524" y="94"/>
                  </a:moveTo>
                  <a:lnTo>
                    <a:pt x="7524" y="200"/>
                  </a:lnTo>
                </a:path>
                <a:path w="12600" h="420" fill="none">
                  <a:moveTo>
                    <a:pt x="7494" y="326"/>
                  </a:moveTo>
                  <a:lnTo>
                    <a:pt x="7494" y="220"/>
                  </a:lnTo>
                </a:path>
                <a:path w="12600" h="420" fill="none">
                  <a:moveTo>
                    <a:pt x="7524" y="326"/>
                  </a:moveTo>
                  <a:lnTo>
                    <a:pt x="7524" y="220"/>
                  </a:lnTo>
                </a:path>
                <a:path w="12600" h="420" fill="none">
                  <a:moveTo>
                    <a:pt x="7595" y="94"/>
                  </a:moveTo>
                  <a:lnTo>
                    <a:pt x="7595" y="200"/>
                  </a:lnTo>
                </a:path>
                <a:path w="12600" h="420" fill="none">
                  <a:moveTo>
                    <a:pt x="7625" y="94"/>
                  </a:moveTo>
                  <a:lnTo>
                    <a:pt x="7625" y="200"/>
                  </a:lnTo>
                </a:path>
                <a:path w="12600" h="420" fill="none">
                  <a:moveTo>
                    <a:pt x="7595" y="326"/>
                  </a:moveTo>
                  <a:lnTo>
                    <a:pt x="7595" y="220"/>
                  </a:lnTo>
                </a:path>
                <a:path w="12600" h="420" fill="none">
                  <a:moveTo>
                    <a:pt x="7625" y="326"/>
                  </a:moveTo>
                  <a:lnTo>
                    <a:pt x="7625" y="220"/>
                  </a:lnTo>
                </a:path>
                <a:path w="12600" h="420" fill="none">
                  <a:moveTo>
                    <a:pt x="7696" y="94"/>
                  </a:moveTo>
                  <a:lnTo>
                    <a:pt x="7696" y="200"/>
                  </a:lnTo>
                </a:path>
                <a:path w="12600" h="420" fill="none">
                  <a:moveTo>
                    <a:pt x="7726" y="94"/>
                  </a:moveTo>
                  <a:lnTo>
                    <a:pt x="7726" y="200"/>
                  </a:lnTo>
                </a:path>
                <a:path w="12600" h="420" fill="none">
                  <a:moveTo>
                    <a:pt x="7696" y="326"/>
                  </a:moveTo>
                  <a:lnTo>
                    <a:pt x="7696" y="220"/>
                  </a:lnTo>
                </a:path>
                <a:path w="12600" h="420" fill="none">
                  <a:moveTo>
                    <a:pt x="7726" y="326"/>
                  </a:moveTo>
                  <a:lnTo>
                    <a:pt x="7726" y="220"/>
                  </a:lnTo>
                </a:path>
                <a:path w="12600" h="420" fill="none">
                  <a:moveTo>
                    <a:pt x="7797" y="94"/>
                  </a:moveTo>
                  <a:lnTo>
                    <a:pt x="7797" y="200"/>
                  </a:lnTo>
                </a:path>
                <a:path w="12600" h="420" fill="none">
                  <a:moveTo>
                    <a:pt x="7827" y="94"/>
                  </a:moveTo>
                  <a:lnTo>
                    <a:pt x="7827" y="200"/>
                  </a:lnTo>
                </a:path>
                <a:path w="12600" h="420" fill="none">
                  <a:moveTo>
                    <a:pt x="7797" y="326"/>
                  </a:moveTo>
                  <a:lnTo>
                    <a:pt x="7797" y="220"/>
                  </a:lnTo>
                </a:path>
                <a:path w="12600" h="420" fill="none">
                  <a:moveTo>
                    <a:pt x="7827" y="326"/>
                  </a:moveTo>
                  <a:lnTo>
                    <a:pt x="7827" y="220"/>
                  </a:lnTo>
                </a:path>
                <a:path w="12600" h="420" fill="none">
                  <a:moveTo>
                    <a:pt x="7897" y="94"/>
                  </a:moveTo>
                  <a:lnTo>
                    <a:pt x="7897" y="200"/>
                  </a:lnTo>
                </a:path>
                <a:path w="12600" h="420" fill="none">
                  <a:moveTo>
                    <a:pt x="7927" y="94"/>
                  </a:moveTo>
                  <a:lnTo>
                    <a:pt x="7927" y="200"/>
                  </a:lnTo>
                </a:path>
                <a:path w="12600" h="420" fill="none">
                  <a:moveTo>
                    <a:pt x="7897" y="326"/>
                  </a:moveTo>
                  <a:lnTo>
                    <a:pt x="7897" y="220"/>
                  </a:lnTo>
                </a:path>
                <a:path w="12600" h="420" fill="none">
                  <a:moveTo>
                    <a:pt x="7927" y="326"/>
                  </a:moveTo>
                  <a:lnTo>
                    <a:pt x="7927" y="220"/>
                  </a:lnTo>
                </a:path>
                <a:path w="12600" h="420" fill="none">
                  <a:moveTo>
                    <a:pt x="7998" y="94"/>
                  </a:moveTo>
                  <a:lnTo>
                    <a:pt x="7998" y="200"/>
                  </a:lnTo>
                </a:path>
                <a:path w="12600" h="420" fill="none">
                  <a:moveTo>
                    <a:pt x="8028" y="94"/>
                  </a:moveTo>
                  <a:lnTo>
                    <a:pt x="8028" y="200"/>
                  </a:lnTo>
                </a:path>
                <a:path w="12600" h="420" fill="none">
                  <a:moveTo>
                    <a:pt x="7998" y="326"/>
                  </a:moveTo>
                  <a:lnTo>
                    <a:pt x="7998" y="220"/>
                  </a:lnTo>
                </a:path>
                <a:path w="12600" h="420" fill="none">
                  <a:moveTo>
                    <a:pt x="8028" y="326"/>
                  </a:moveTo>
                  <a:lnTo>
                    <a:pt x="8028" y="220"/>
                  </a:lnTo>
                </a:path>
                <a:path w="12600" h="420" fill="none">
                  <a:moveTo>
                    <a:pt x="8099" y="94"/>
                  </a:moveTo>
                  <a:lnTo>
                    <a:pt x="8099" y="200"/>
                  </a:lnTo>
                </a:path>
                <a:path w="12600" h="420" fill="none">
                  <a:moveTo>
                    <a:pt x="8129" y="94"/>
                  </a:moveTo>
                  <a:lnTo>
                    <a:pt x="8129" y="200"/>
                  </a:lnTo>
                </a:path>
                <a:path w="12600" h="420" fill="none">
                  <a:moveTo>
                    <a:pt x="8099" y="326"/>
                  </a:moveTo>
                  <a:lnTo>
                    <a:pt x="8099" y="220"/>
                  </a:lnTo>
                </a:path>
                <a:path w="12600" h="420" fill="none">
                  <a:moveTo>
                    <a:pt x="8129" y="326"/>
                  </a:moveTo>
                  <a:lnTo>
                    <a:pt x="8129" y="220"/>
                  </a:lnTo>
                </a:path>
                <a:path w="12600" h="420" fill="none">
                  <a:moveTo>
                    <a:pt x="8200" y="94"/>
                  </a:moveTo>
                  <a:lnTo>
                    <a:pt x="8200" y="200"/>
                  </a:lnTo>
                </a:path>
                <a:path w="12600" h="420" fill="none">
                  <a:moveTo>
                    <a:pt x="8230" y="94"/>
                  </a:moveTo>
                  <a:lnTo>
                    <a:pt x="8230" y="200"/>
                  </a:lnTo>
                </a:path>
                <a:path w="12600" h="420" fill="none">
                  <a:moveTo>
                    <a:pt x="8200" y="326"/>
                  </a:moveTo>
                  <a:lnTo>
                    <a:pt x="8200" y="220"/>
                  </a:lnTo>
                </a:path>
                <a:path w="12600" h="420" fill="none">
                  <a:moveTo>
                    <a:pt x="8230" y="326"/>
                  </a:moveTo>
                  <a:lnTo>
                    <a:pt x="8230" y="220"/>
                  </a:lnTo>
                </a:path>
                <a:path w="12600" h="420" fill="none">
                  <a:moveTo>
                    <a:pt x="8301" y="94"/>
                  </a:moveTo>
                  <a:lnTo>
                    <a:pt x="8301" y="200"/>
                  </a:lnTo>
                </a:path>
                <a:path w="12600" h="420" fill="none">
                  <a:moveTo>
                    <a:pt x="8331" y="94"/>
                  </a:moveTo>
                  <a:lnTo>
                    <a:pt x="8331" y="200"/>
                  </a:lnTo>
                </a:path>
                <a:path w="12600" h="420" fill="none">
                  <a:moveTo>
                    <a:pt x="8301" y="326"/>
                  </a:moveTo>
                  <a:lnTo>
                    <a:pt x="8301" y="220"/>
                  </a:lnTo>
                </a:path>
                <a:path w="12600" h="420" fill="none">
                  <a:moveTo>
                    <a:pt x="8331" y="326"/>
                  </a:moveTo>
                  <a:lnTo>
                    <a:pt x="8331" y="220"/>
                  </a:lnTo>
                </a:path>
                <a:path w="12600" h="420" fill="none">
                  <a:moveTo>
                    <a:pt x="8401" y="94"/>
                  </a:moveTo>
                  <a:lnTo>
                    <a:pt x="8401" y="200"/>
                  </a:lnTo>
                </a:path>
                <a:path w="12600" h="420" fill="none">
                  <a:moveTo>
                    <a:pt x="8431" y="94"/>
                  </a:moveTo>
                  <a:lnTo>
                    <a:pt x="8431" y="200"/>
                  </a:lnTo>
                </a:path>
                <a:path w="12600" h="420" fill="none">
                  <a:moveTo>
                    <a:pt x="8401" y="326"/>
                  </a:moveTo>
                  <a:lnTo>
                    <a:pt x="8401" y="220"/>
                  </a:lnTo>
                </a:path>
                <a:path w="12600" h="420" fill="none">
                  <a:moveTo>
                    <a:pt x="8431" y="326"/>
                  </a:moveTo>
                  <a:lnTo>
                    <a:pt x="8431" y="220"/>
                  </a:lnTo>
                </a:path>
                <a:path w="12600" h="420" fill="none">
                  <a:moveTo>
                    <a:pt x="8502" y="94"/>
                  </a:moveTo>
                  <a:lnTo>
                    <a:pt x="8502" y="200"/>
                  </a:lnTo>
                </a:path>
                <a:path w="12600" h="420" fill="none">
                  <a:moveTo>
                    <a:pt x="8532" y="94"/>
                  </a:moveTo>
                  <a:lnTo>
                    <a:pt x="8532" y="200"/>
                  </a:lnTo>
                </a:path>
                <a:path w="12600" h="420" fill="none">
                  <a:moveTo>
                    <a:pt x="8502" y="326"/>
                  </a:moveTo>
                  <a:lnTo>
                    <a:pt x="8502" y="220"/>
                  </a:lnTo>
                </a:path>
                <a:path w="12600" h="420" fill="none">
                  <a:moveTo>
                    <a:pt x="8532" y="326"/>
                  </a:moveTo>
                  <a:lnTo>
                    <a:pt x="8532" y="220"/>
                  </a:lnTo>
                </a:path>
                <a:path w="12600" h="420" fill="none">
                  <a:moveTo>
                    <a:pt x="8603" y="94"/>
                  </a:moveTo>
                  <a:lnTo>
                    <a:pt x="8603" y="200"/>
                  </a:lnTo>
                </a:path>
                <a:path w="12600" h="420" fill="none">
                  <a:moveTo>
                    <a:pt x="8633" y="94"/>
                  </a:moveTo>
                  <a:lnTo>
                    <a:pt x="8633" y="200"/>
                  </a:lnTo>
                </a:path>
                <a:path w="12600" h="420" fill="none">
                  <a:moveTo>
                    <a:pt x="8603" y="326"/>
                  </a:moveTo>
                  <a:lnTo>
                    <a:pt x="8603" y="220"/>
                  </a:lnTo>
                </a:path>
                <a:path w="12600" h="420" fill="none">
                  <a:moveTo>
                    <a:pt x="8633" y="326"/>
                  </a:moveTo>
                  <a:lnTo>
                    <a:pt x="8633" y="220"/>
                  </a:lnTo>
                </a:path>
                <a:path w="12600" h="420" fill="none">
                  <a:moveTo>
                    <a:pt x="8704" y="94"/>
                  </a:moveTo>
                  <a:lnTo>
                    <a:pt x="8704" y="200"/>
                  </a:lnTo>
                </a:path>
                <a:path w="12600" h="420" fill="none">
                  <a:moveTo>
                    <a:pt x="8734" y="94"/>
                  </a:moveTo>
                  <a:lnTo>
                    <a:pt x="8734" y="200"/>
                  </a:lnTo>
                </a:path>
                <a:path w="12600" h="420" fill="none">
                  <a:moveTo>
                    <a:pt x="8704" y="326"/>
                  </a:moveTo>
                  <a:lnTo>
                    <a:pt x="8704" y="220"/>
                  </a:lnTo>
                </a:path>
                <a:path w="12600" h="420" fill="none">
                  <a:moveTo>
                    <a:pt x="8734" y="326"/>
                  </a:moveTo>
                  <a:lnTo>
                    <a:pt x="8734" y="220"/>
                  </a:lnTo>
                </a:path>
                <a:path w="12600" h="420" fill="none">
                  <a:moveTo>
                    <a:pt x="8805" y="94"/>
                  </a:moveTo>
                  <a:lnTo>
                    <a:pt x="8805" y="200"/>
                  </a:lnTo>
                </a:path>
                <a:path w="12600" h="420" fill="none">
                  <a:moveTo>
                    <a:pt x="8835" y="94"/>
                  </a:moveTo>
                  <a:lnTo>
                    <a:pt x="8835" y="200"/>
                  </a:lnTo>
                </a:path>
                <a:path w="12600" h="420" fill="none">
                  <a:moveTo>
                    <a:pt x="8805" y="326"/>
                  </a:moveTo>
                  <a:lnTo>
                    <a:pt x="8805" y="220"/>
                  </a:lnTo>
                </a:path>
                <a:path w="12600" h="420" fill="none">
                  <a:moveTo>
                    <a:pt x="8835" y="326"/>
                  </a:moveTo>
                  <a:lnTo>
                    <a:pt x="8835" y="220"/>
                  </a:lnTo>
                </a:path>
                <a:path w="12600" h="420" fill="none">
                  <a:moveTo>
                    <a:pt x="8905" y="94"/>
                  </a:moveTo>
                  <a:lnTo>
                    <a:pt x="8905" y="200"/>
                  </a:lnTo>
                </a:path>
                <a:path w="12600" h="420" fill="none">
                  <a:moveTo>
                    <a:pt x="8935" y="94"/>
                  </a:moveTo>
                  <a:lnTo>
                    <a:pt x="8935" y="200"/>
                  </a:lnTo>
                </a:path>
                <a:path w="12600" h="420" fill="none">
                  <a:moveTo>
                    <a:pt x="8905" y="326"/>
                  </a:moveTo>
                  <a:lnTo>
                    <a:pt x="8905" y="220"/>
                  </a:lnTo>
                </a:path>
                <a:path w="12600" h="420" fill="none">
                  <a:moveTo>
                    <a:pt x="8935" y="326"/>
                  </a:moveTo>
                  <a:lnTo>
                    <a:pt x="8935" y="220"/>
                  </a:lnTo>
                </a:path>
                <a:path w="12600" h="420" fill="none">
                  <a:moveTo>
                    <a:pt x="9006" y="94"/>
                  </a:moveTo>
                  <a:lnTo>
                    <a:pt x="9006" y="200"/>
                  </a:lnTo>
                </a:path>
                <a:path w="12600" h="420" fill="none">
                  <a:moveTo>
                    <a:pt x="9036" y="94"/>
                  </a:moveTo>
                  <a:lnTo>
                    <a:pt x="9036" y="200"/>
                  </a:lnTo>
                </a:path>
                <a:path w="12600" h="420" fill="none">
                  <a:moveTo>
                    <a:pt x="9006" y="326"/>
                  </a:moveTo>
                  <a:lnTo>
                    <a:pt x="9006" y="220"/>
                  </a:lnTo>
                </a:path>
                <a:path w="12600" h="420" fill="none">
                  <a:moveTo>
                    <a:pt x="9036" y="326"/>
                  </a:moveTo>
                  <a:lnTo>
                    <a:pt x="9036" y="220"/>
                  </a:lnTo>
                </a:path>
                <a:path w="12600" h="420" fill="none">
                  <a:moveTo>
                    <a:pt x="9107" y="94"/>
                  </a:moveTo>
                  <a:lnTo>
                    <a:pt x="9107" y="200"/>
                  </a:lnTo>
                </a:path>
                <a:path w="12600" h="420" fill="none">
                  <a:moveTo>
                    <a:pt x="9137" y="94"/>
                  </a:moveTo>
                  <a:lnTo>
                    <a:pt x="9137" y="200"/>
                  </a:lnTo>
                </a:path>
                <a:path w="12600" h="420" fill="none">
                  <a:moveTo>
                    <a:pt x="9107" y="326"/>
                  </a:moveTo>
                  <a:lnTo>
                    <a:pt x="9107" y="220"/>
                  </a:lnTo>
                </a:path>
                <a:path w="12600" h="420" fill="none">
                  <a:moveTo>
                    <a:pt x="9137" y="326"/>
                  </a:moveTo>
                  <a:lnTo>
                    <a:pt x="9137" y="220"/>
                  </a:lnTo>
                </a:path>
                <a:path w="12600" h="420" fill="none">
                  <a:moveTo>
                    <a:pt x="9208" y="94"/>
                  </a:moveTo>
                  <a:lnTo>
                    <a:pt x="9208" y="200"/>
                  </a:lnTo>
                </a:path>
                <a:path w="12600" h="420" fill="none">
                  <a:moveTo>
                    <a:pt x="9238" y="94"/>
                  </a:moveTo>
                  <a:lnTo>
                    <a:pt x="9238" y="200"/>
                  </a:lnTo>
                </a:path>
                <a:path w="12600" h="420" fill="none">
                  <a:moveTo>
                    <a:pt x="9208" y="326"/>
                  </a:moveTo>
                  <a:lnTo>
                    <a:pt x="9208" y="220"/>
                  </a:lnTo>
                </a:path>
                <a:path w="12600" h="420" fill="none">
                  <a:moveTo>
                    <a:pt x="9238" y="326"/>
                  </a:moveTo>
                  <a:lnTo>
                    <a:pt x="9238" y="220"/>
                  </a:lnTo>
                </a:path>
                <a:path w="12600" h="420" fill="none">
                  <a:moveTo>
                    <a:pt x="9309" y="94"/>
                  </a:moveTo>
                  <a:lnTo>
                    <a:pt x="9309" y="200"/>
                  </a:lnTo>
                </a:path>
                <a:path w="12600" h="420" fill="none">
                  <a:moveTo>
                    <a:pt x="9339" y="94"/>
                  </a:moveTo>
                  <a:lnTo>
                    <a:pt x="9339" y="200"/>
                  </a:lnTo>
                </a:path>
                <a:path w="12600" h="420" fill="none">
                  <a:moveTo>
                    <a:pt x="9309" y="326"/>
                  </a:moveTo>
                  <a:lnTo>
                    <a:pt x="9309" y="220"/>
                  </a:lnTo>
                </a:path>
                <a:path w="12600" h="420" fill="none">
                  <a:moveTo>
                    <a:pt x="9339" y="326"/>
                  </a:moveTo>
                  <a:lnTo>
                    <a:pt x="9339" y="220"/>
                  </a:lnTo>
                </a:path>
                <a:path w="12600" h="420" fill="none">
                  <a:moveTo>
                    <a:pt x="9409" y="94"/>
                  </a:moveTo>
                  <a:lnTo>
                    <a:pt x="9409" y="200"/>
                  </a:lnTo>
                </a:path>
                <a:path w="12600" h="420" fill="none">
                  <a:moveTo>
                    <a:pt x="9439" y="94"/>
                  </a:moveTo>
                  <a:lnTo>
                    <a:pt x="9439" y="200"/>
                  </a:lnTo>
                </a:path>
                <a:path w="12600" h="420" fill="none">
                  <a:moveTo>
                    <a:pt x="9409" y="326"/>
                  </a:moveTo>
                  <a:lnTo>
                    <a:pt x="9409" y="220"/>
                  </a:lnTo>
                </a:path>
                <a:path w="12600" h="420" fill="none">
                  <a:moveTo>
                    <a:pt x="9439" y="326"/>
                  </a:moveTo>
                  <a:lnTo>
                    <a:pt x="9439" y="220"/>
                  </a:lnTo>
                </a:path>
                <a:path w="12600" h="420" fill="none">
                  <a:moveTo>
                    <a:pt x="9510" y="94"/>
                  </a:moveTo>
                  <a:lnTo>
                    <a:pt x="9510" y="200"/>
                  </a:lnTo>
                </a:path>
                <a:path w="12600" h="420" fill="none">
                  <a:moveTo>
                    <a:pt x="9540" y="94"/>
                  </a:moveTo>
                  <a:lnTo>
                    <a:pt x="9540" y="200"/>
                  </a:lnTo>
                </a:path>
                <a:path w="12600" h="420" fill="none">
                  <a:moveTo>
                    <a:pt x="9510" y="326"/>
                  </a:moveTo>
                  <a:lnTo>
                    <a:pt x="9510" y="220"/>
                  </a:lnTo>
                </a:path>
                <a:path w="12600" h="420" fill="none">
                  <a:moveTo>
                    <a:pt x="9540" y="326"/>
                  </a:moveTo>
                  <a:lnTo>
                    <a:pt x="9540" y="220"/>
                  </a:lnTo>
                </a:path>
                <a:path w="12600" h="420" fill="none">
                  <a:moveTo>
                    <a:pt x="9611" y="94"/>
                  </a:moveTo>
                  <a:lnTo>
                    <a:pt x="9611" y="200"/>
                  </a:lnTo>
                </a:path>
                <a:path w="12600" h="420" fill="none">
                  <a:moveTo>
                    <a:pt x="9641" y="94"/>
                  </a:moveTo>
                  <a:lnTo>
                    <a:pt x="9641" y="200"/>
                  </a:lnTo>
                </a:path>
                <a:path w="12600" h="420" fill="none">
                  <a:moveTo>
                    <a:pt x="9611" y="326"/>
                  </a:moveTo>
                  <a:lnTo>
                    <a:pt x="9611" y="220"/>
                  </a:lnTo>
                </a:path>
                <a:path w="12600" h="420" fill="none">
                  <a:moveTo>
                    <a:pt x="9641" y="326"/>
                  </a:moveTo>
                  <a:lnTo>
                    <a:pt x="9641" y="220"/>
                  </a:lnTo>
                </a:path>
                <a:path w="12600" h="420" fill="none">
                  <a:moveTo>
                    <a:pt x="9712" y="94"/>
                  </a:moveTo>
                  <a:lnTo>
                    <a:pt x="9712" y="200"/>
                  </a:lnTo>
                </a:path>
                <a:path w="12600" h="420" fill="none">
                  <a:moveTo>
                    <a:pt x="9742" y="94"/>
                  </a:moveTo>
                  <a:lnTo>
                    <a:pt x="9742" y="200"/>
                  </a:lnTo>
                </a:path>
                <a:path w="12600" h="420" fill="none">
                  <a:moveTo>
                    <a:pt x="9712" y="326"/>
                  </a:moveTo>
                  <a:lnTo>
                    <a:pt x="9712" y="220"/>
                  </a:lnTo>
                </a:path>
                <a:path w="12600" h="420" fill="none">
                  <a:moveTo>
                    <a:pt x="9742" y="326"/>
                  </a:moveTo>
                  <a:lnTo>
                    <a:pt x="9742" y="220"/>
                  </a:lnTo>
                </a:path>
                <a:path w="12600" h="420" fill="none">
                  <a:moveTo>
                    <a:pt x="9813" y="94"/>
                  </a:moveTo>
                  <a:lnTo>
                    <a:pt x="9813" y="200"/>
                  </a:lnTo>
                </a:path>
                <a:path w="12600" h="420" fill="none">
                  <a:moveTo>
                    <a:pt x="9843" y="94"/>
                  </a:moveTo>
                  <a:lnTo>
                    <a:pt x="9843" y="200"/>
                  </a:lnTo>
                </a:path>
                <a:path w="12600" h="420" fill="none">
                  <a:moveTo>
                    <a:pt x="9813" y="326"/>
                  </a:moveTo>
                  <a:lnTo>
                    <a:pt x="9813" y="220"/>
                  </a:lnTo>
                </a:path>
                <a:path w="12600" h="420" fill="none">
                  <a:moveTo>
                    <a:pt x="9843" y="326"/>
                  </a:moveTo>
                  <a:lnTo>
                    <a:pt x="9843" y="220"/>
                  </a:lnTo>
                </a:path>
                <a:path w="12600" h="420" fill="none">
                  <a:moveTo>
                    <a:pt x="9913" y="94"/>
                  </a:moveTo>
                  <a:lnTo>
                    <a:pt x="9913" y="200"/>
                  </a:lnTo>
                </a:path>
                <a:path w="12600" h="420" fill="none">
                  <a:moveTo>
                    <a:pt x="9943" y="94"/>
                  </a:moveTo>
                  <a:lnTo>
                    <a:pt x="9943" y="200"/>
                  </a:lnTo>
                </a:path>
                <a:path w="12600" h="420" fill="none">
                  <a:moveTo>
                    <a:pt x="9913" y="326"/>
                  </a:moveTo>
                  <a:lnTo>
                    <a:pt x="9913" y="220"/>
                  </a:lnTo>
                </a:path>
                <a:path w="12600" h="420" fill="none">
                  <a:moveTo>
                    <a:pt x="9943" y="326"/>
                  </a:moveTo>
                  <a:lnTo>
                    <a:pt x="9943" y="220"/>
                  </a:lnTo>
                </a:path>
                <a:path w="12600" h="420" fill="none">
                  <a:moveTo>
                    <a:pt x="10014" y="94"/>
                  </a:moveTo>
                  <a:lnTo>
                    <a:pt x="10014" y="200"/>
                  </a:lnTo>
                </a:path>
                <a:path w="12600" h="420" fill="none">
                  <a:moveTo>
                    <a:pt x="10044" y="94"/>
                  </a:moveTo>
                  <a:lnTo>
                    <a:pt x="10044" y="200"/>
                  </a:lnTo>
                </a:path>
                <a:path w="12600" h="420" fill="none">
                  <a:moveTo>
                    <a:pt x="10014" y="326"/>
                  </a:moveTo>
                  <a:lnTo>
                    <a:pt x="10014" y="220"/>
                  </a:lnTo>
                </a:path>
                <a:path w="12600" h="420" fill="none">
                  <a:moveTo>
                    <a:pt x="10044" y="326"/>
                  </a:moveTo>
                  <a:lnTo>
                    <a:pt x="10044" y="220"/>
                  </a:lnTo>
                </a:path>
                <a:path w="12600" h="420" fill="none">
                  <a:moveTo>
                    <a:pt x="10115" y="94"/>
                  </a:moveTo>
                  <a:lnTo>
                    <a:pt x="10115" y="200"/>
                  </a:lnTo>
                </a:path>
                <a:path w="12600" h="420" fill="none">
                  <a:moveTo>
                    <a:pt x="10145" y="94"/>
                  </a:moveTo>
                  <a:lnTo>
                    <a:pt x="10145" y="200"/>
                  </a:lnTo>
                </a:path>
                <a:path w="12600" h="420" fill="none">
                  <a:moveTo>
                    <a:pt x="10115" y="326"/>
                  </a:moveTo>
                  <a:lnTo>
                    <a:pt x="10115" y="220"/>
                  </a:lnTo>
                </a:path>
                <a:path w="12600" h="420" fill="none">
                  <a:moveTo>
                    <a:pt x="10145" y="326"/>
                  </a:moveTo>
                  <a:lnTo>
                    <a:pt x="10145" y="220"/>
                  </a:lnTo>
                </a:path>
                <a:path w="12600" h="420" fill="none">
                  <a:moveTo>
                    <a:pt x="10216" y="94"/>
                  </a:moveTo>
                  <a:lnTo>
                    <a:pt x="10216" y="200"/>
                  </a:lnTo>
                </a:path>
                <a:path w="12600" h="420" fill="none">
                  <a:moveTo>
                    <a:pt x="10246" y="94"/>
                  </a:moveTo>
                  <a:lnTo>
                    <a:pt x="10246" y="200"/>
                  </a:lnTo>
                </a:path>
                <a:path w="12600" h="420" fill="none">
                  <a:moveTo>
                    <a:pt x="10216" y="326"/>
                  </a:moveTo>
                  <a:lnTo>
                    <a:pt x="10216" y="220"/>
                  </a:lnTo>
                </a:path>
                <a:path w="12600" h="420" fill="none">
                  <a:moveTo>
                    <a:pt x="10246" y="326"/>
                  </a:moveTo>
                  <a:lnTo>
                    <a:pt x="10246" y="220"/>
                  </a:lnTo>
                </a:path>
                <a:path w="12600" h="420" fill="none">
                  <a:moveTo>
                    <a:pt x="10317" y="94"/>
                  </a:moveTo>
                  <a:lnTo>
                    <a:pt x="10317" y="200"/>
                  </a:lnTo>
                </a:path>
                <a:path w="12600" h="420" fill="none">
                  <a:moveTo>
                    <a:pt x="10347" y="94"/>
                  </a:moveTo>
                  <a:lnTo>
                    <a:pt x="10347" y="200"/>
                  </a:lnTo>
                </a:path>
                <a:path w="12600" h="420" fill="none">
                  <a:moveTo>
                    <a:pt x="10317" y="326"/>
                  </a:moveTo>
                  <a:lnTo>
                    <a:pt x="10317" y="220"/>
                  </a:lnTo>
                </a:path>
                <a:path w="12600" h="420" fill="none">
                  <a:moveTo>
                    <a:pt x="10347" y="326"/>
                  </a:moveTo>
                  <a:lnTo>
                    <a:pt x="10347" y="220"/>
                  </a:lnTo>
                </a:path>
                <a:path w="12600" h="420" fill="none">
                  <a:moveTo>
                    <a:pt x="10417" y="94"/>
                  </a:moveTo>
                  <a:lnTo>
                    <a:pt x="10417" y="200"/>
                  </a:lnTo>
                </a:path>
                <a:path w="12600" h="420" fill="none">
                  <a:moveTo>
                    <a:pt x="10447" y="94"/>
                  </a:moveTo>
                  <a:lnTo>
                    <a:pt x="10447" y="200"/>
                  </a:lnTo>
                </a:path>
                <a:path w="12600" h="420" fill="none">
                  <a:moveTo>
                    <a:pt x="10417" y="326"/>
                  </a:moveTo>
                  <a:lnTo>
                    <a:pt x="10417" y="220"/>
                  </a:lnTo>
                </a:path>
                <a:path w="12600" h="420" fill="none">
                  <a:moveTo>
                    <a:pt x="10447" y="326"/>
                  </a:moveTo>
                  <a:lnTo>
                    <a:pt x="10447" y="220"/>
                  </a:lnTo>
                </a:path>
                <a:path w="12600" h="420" fill="none">
                  <a:moveTo>
                    <a:pt x="10518" y="94"/>
                  </a:moveTo>
                  <a:lnTo>
                    <a:pt x="10518" y="200"/>
                  </a:lnTo>
                </a:path>
                <a:path w="12600" h="420" fill="none">
                  <a:moveTo>
                    <a:pt x="10548" y="94"/>
                  </a:moveTo>
                  <a:lnTo>
                    <a:pt x="10548" y="200"/>
                  </a:lnTo>
                </a:path>
                <a:path w="12600" h="420" fill="none">
                  <a:moveTo>
                    <a:pt x="10518" y="326"/>
                  </a:moveTo>
                  <a:lnTo>
                    <a:pt x="10518" y="220"/>
                  </a:lnTo>
                </a:path>
                <a:path w="12600" h="420" fill="none">
                  <a:moveTo>
                    <a:pt x="10548" y="326"/>
                  </a:moveTo>
                  <a:lnTo>
                    <a:pt x="10548" y="220"/>
                  </a:lnTo>
                </a:path>
                <a:path w="12600" h="420" fill="none">
                  <a:moveTo>
                    <a:pt x="10619" y="94"/>
                  </a:moveTo>
                  <a:lnTo>
                    <a:pt x="10619" y="200"/>
                  </a:lnTo>
                </a:path>
                <a:path w="12600" h="420" fill="none">
                  <a:moveTo>
                    <a:pt x="10649" y="94"/>
                  </a:moveTo>
                  <a:lnTo>
                    <a:pt x="10649" y="200"/>
                  </a:lnTo>
                </a:path>
                <a:path w="12600" h="420" fill="none">
                  <a:moveTo>
                    <a:pt x="10619" y="326"/>
                  </a:moveTo>
                  <a:lnTo>
                    <a:pt x="10619" y="220"/>
                  </a:lnTo>
                </a:path>
                <a:path w="12600" h="420" fill="none">
                  <a:moveTo>
                    <a:pt x="10649" y="326"/>
                  </a:moveTo>
                  <a:lnTo>
                    <a:pt x="10649" y="220"/>
                  </a:lnTo>
                </a:path>
                <a:path w="12600" h="420" fill="none">
                  <a:moveTo>
                    <a:pt x="10720" y="94"/>
                  </a:moveTo>
                  <a:lnTo>
                    <a:pt x="10720" y="200"/>
                  </a:lnTo>
                </a:path>
                <a:path w="12600" h="420" fill="none">
                  <a:moveTo>
                    <a:pt x="10750" y="94"/>
                  </a:moveTo>
                  <a:lnTo>
                    <a:pt x="10750" y="200"/>
                  </a:lnTo>
                </a:path>
                <a:path w="12600" h="420" fill="none">
                  <a:moveTo>
                    <a:pt x="10720" y="326"/>
                  </a:moveTo>
                  <a:lnTo>
                    <a:pt x="10720" y="220"/>
                  </a:lnTo>
                </a:path>
                <a:path w="12600" h="420" fill="none">
                  <a:moveTo>
                    <a:pt x="10750" y="326"/>
                  </a:moveTo>
                  <a:lnTo>
                    <a:pt x="10750" y="220"/>
                  </a:lnTo>
                </a:path>
                <a:path w="12600" h="420" fill="none">
                  <a:moveTo>
                    <a:pt x="10821" y="94"/>
                  </a:moveTo>
                  <a:lnTo>
                    <a:pt x="10821" y="200"/>
                  </a:lnTo>
                </a:path>
                <a:path w="12600" h="420" fill="none">
                  <a:moveTo>
                    <a:pt x="10851" y="94"/>
                  </a:moveTo>
                  <a:lnTo>
                    <a:pt x="10851" y="200"/>
                  </a:lnTo>
                </a:path>
                <a:path w="12600" h="420" fill="none">
                  <a:moveTo>
                    <a:pt x="10821" y="326"/>
                  </a:moveTo>
                  <a:lnTo>
                    <a:pt x="10821" y="220"/>
                  </a:lnTo>
                </a:path>
                <a:path w="12600" h="420" fill="none">
                  <a:moveTo>
                    <a:pt x="10851" y="326"/>
                  </a:moveTo>
                  <a:lnTo>
                    <a:pt x="10851" y="220"/>
                  </a:lnTo>
                </a:path>
                <a:path w="12600" h="420" fill="none">
                  <a:moveTo>
                    <a:pt x="10921" y="94"/>
                  </a:moveTo>
                  <a:lnTo>
                    <a:pt x="10921" y="200"/>
                  </a:lnTo>
                </a:path>
                <a:path w="12600" h="420" fill="none">
                  <a:moveTo>
                    <a:pt x="10951" y="94"/>
                  </a:moveTo>
                  <a:lnTo>
                    <a:pt x="10951" y="200"/>
                  </a:lnTo>
                </a:path>
                <a:path w="12600" h="420" fill="none">
                  <a:moveTo>
                    <a:pt x="10921" y="326"/>
                  </a:moveTo>
                  <a:lnTo>
                    <a:pt x="10921" y="220"/>
                  </a:lnTo>
                </a:path>
                <a:path w="12600" h="420" fill="none">
                  <a:moveTo>
                    <a:pt x="10951" y="326"/>
                  </a:moveTo>
                  <a:lnTo>
                    <a:pt x="10951" y="220"/>
                  </a:lnTo>
                </a:path>
                <a:path w="12600" h="420" fill="none">
                  <a:moveTo>
                    <a:pt x="11022" y="94"/>
                  </a:moveTo>
                  <a:lnTo>
                    <a:pt x="11022" y="200"/>
                  </a:lnTo>
                </a:path>
                <a:path w="12600" h="420" fill="none">
                  <a:moveTo>
                    <a:pt x="11052" y="94"/>
                  </a:moveTo>
                  <a:lnTo>
                    <a:pt x="11052" y="200"/>
                  </a:lnTo>
                </a:path>
                <a:path w="12600" h="420" fill="none">
                  <a:moveTo>
                    <a:pt x="11022" y="326"/>
                  </a:moveTo>
                  <a:lnTo>
                    <a:pt x="11022" y="220"/>
                  </a:lnTo>
                </a:path>
                <a:path w="12600" h="420" fill="none">
                  <a:moveTo>
                    <a:pt x="11052" y="326"/>
                  </a:moveTo>
                  <a:lnTo>
                    <a:pt x="11052" y="220"/>
                  </a:lnTo>
                </a:path>
                <a:path w="12600" h="420" fill="none">
                  <a:moveTo>
                    <a:pt x="11123" y="94"/>
                  </a:moveTo>
                  <a:lnTo>
                    <a:pt x="11123" y="200"/>
                  </a:lnTo>
                </a:path>
                <a:path w="12600" h="420" fill="none">
                  <a:moveTo>
                    <a:pt x="11153" y="94"/>
                  </a:moveTo>
                  <a:lnTo>
                    <a:pt x="11153" y="200"/>
                  </a:lnTo>
                </a:path>
                <a:path w="12600" h="420" fill="none">
                  <a:moveTo>
                    <a:pt x="11123" y="326"/>
                  </a:moveTo>
                  <a:lnTo>
                    <a:pt x="11123" y="220"/>
                  </a:lnTo>
                </a:path>
                <a:path w="12600" h="420" fill="none">
                  <a:moveTo>
                    <a:pt x="11153" y="326"/>
                  </a:moveTo>
                  <a:lnTo>
                    <a:pt x="11153" y="220"/>
                  </a:lnTo>
                </a:path>
                <a:path w="12600" h="420" fill="none">
                  <a:moveTo>
                    <a:pt x="11224" y="94"/>
                  </a:moveTo>
                  <a:lnTo>
                    <a:pt x="11224" y="200"/>
                  </a:lnTo>
                </a:path>
                <a:path w="12600" h="420" fill="none">
                  <a:moveTo>
                    <a:pt x="11254" y="94"/>
                  </a:moveTo>
                  <a:lnTo>
                    <a:pt x="11254" y="200"/>
                  </a:lnTo>
                </a:path>
                <a:path w="12600" h="420" fill="none">
                  <a:moveTo>
                    <a:pt x="11224" y="326"/>
                  </a:moveTo>
                  <a:lnTo>
                    <a:pt x="11224" y="220"/>
                  </a:lnTo>
                </a:path>
                <a:path w="12600" h="420" fill="none">
                  <a:moveTo>
                    <a:pt x="11254" y="326"/>
                  </a:moveTo>
                  <a:lnTo>
                    <a:pt x="11254" y="220"/>
                  </a:lnTo>
                </a:path>
                <a:path w="12600" h="420" fill="none">
                  <a:moveTo>
                    <a:pt x="11325" y="94"/>
                  </a:moveTo>
                  <a:lnTo>
                    <a:pt x="11325" y="200"/>
                  </a:lnTo>
                </a:path>
                <a:path w="12600" h="420" fill="none">
                  <a:moveTo>
                    <a:pt x="11355" y="94"/>
                  </a:moveTo>
                  <a:lnTo>
                    <a:pt x="11355" y="200"/>
                  </a:lnTo>
                </a:path>
                <a:path w="12600" h="420" fill="none">
                  <a:moveTo>
                    <a:pt x="11325" y="326"/>
                  </a:moveTo>
                  <a:lnTo>
                    <a:pt x="11325" y="220"/>
                  </a:lnTo>
                </a:path>
                <a:path w="12600" h="420" fill="none">
                  <a:moveTo>
                    <a:pt x="11355" y="326"/>
                  </a:moveTo>
                  <a:lnTo>
                    <a:pt x="11355" y="220"/>
                  </a:lnTo>
                </a:path>
                <a:path w="12600" h="420" fill="none">
                  <a:moveTo>
                    <a:pt x="11425" y="94"/>
                  </a:moveTo>
                  <a:lnTo>
                    <a:pt x="11425" y="200"/>
                  </a:lnTo>
                </a:path>
                <a:path w="12600" h="420" fill="none">
                  <a:moveTo>
                    <a:pt x="11455" y="94"/>
                  </a:moveTo>
                  <a:lnTo>
                    <a:pt x="11455" y="200"/>
                  </a:lnTo>
                </a:path>
                <a:path w="12600" h="420" fill="none">
                  <a:moveTo>
                    <a:pt x="11425" y="326"/>
                  </a:moveTo>
                  <a:lnTo>
                    <a:pt x="11425" y="220"/>
                  </a:lnTo>
                </a:path>
                <a:path w="12600" h="420" fill="none">
                  <a:moveTo>
                    <a:pt x="11455" y="326"/>
                  </a:moveTo>
                  <a:lnTo>
                    <a:pt x="11455" y="220"/>
                  </a:lnTo>
                </a:path>
                <a:path w="12600" h="420" fill="none">
                  <a:moveTo>
                    <a:pt x="11526" y="94"/>
                  </a:moveTo>
                  <a:lnTo>
                    <a:pt x="11526" y="200"/>
                  </a:lnTo>
                </a:path>
                <a:path w="12600" h="420" fill="none">
                  <a:moveTo>
                    <a:pt x="11556" y="94"/>
                  </a:moveTo>
                  <a:lnTo>
                    <a:pt x="11556" y="200"/>
                  </a:lnTo>
                </a:path>
                <a:path w="12600" h="420" fill="none">
                  <a:moveTo>
                    <a:pt x="11526" y="326"/>
                  </a:moveTo>
                  <a:lnTo>
                    <a:pt x="11526" y="220"/>
                  </a:lnTo>
                </a:path>
                <a:path w="12600" h="420" fill="none">
                  <a:moveTo>
                    <a:pt x="11556" y="326"/>
                  </a:moveTo>
                  <a:lnTo>
                    <a:pt x="11556" y="220"/>
                  </a:lnTo>
                </a:path>
                <a:path w="12600" h="420" fill="none">
                  <a:moveTo>
                    <a:pt x="11627" y="94"/>
                  </a:moveTo>
                  <a:lnTo>
                    <a:pt x="11627" y="200"/>
                  </a:lnTo>
                </a:path>
                <a:path w="12600" h="420" fill="none">
                  <a:moveTo>
                    <a:pt x="11657" y="94"/>
                  </a:moveTo>
                  <a:lnTo>
                    <a:pt x="11657" y="200"/>
                  </a:lnTo>
                </a:path>
                <a:path w="12600" h="420" fill="none">
                  <a:moveTo>
                    <a:pt x="11627" y="326"/>
                  </a:moveTo>
                  <a:lnTo>
                    <a:pt x="11627" y="220"/>
                  </a:lnTo>
                </a:path>
                <a:path w="12600" h="420" fill="none">
                  <a:moveTo>
                    <a:pt x="11657" y="326"/>
                  </a:moveTo>
                  <a:lnTo>
                    <a:pt x="11657" y="220"/>
                  </a:lnTo>
                </a:path>
                <a:path w="12600" h="420" fill="none">
                  <a:moveTo>
                    <a:pt x="11728" y="94"/>
                  </a:moveTo>
                  <a:lnTo>
                    <a:pt x="11728" y="200"/>
                  </a:lnTo>
                </a:path>
                <a:path w="12600" h="420" fill="none">
                  <a:moveTo>
                    <a:pt x="11758" y="94"/>
                  </a:moveTo>
                  <a:lnTo>
                    <a:pt x="11758" y="200"/>
                  </a:lnTo>
                </a:path>
                <a:path w="12600" h="420" fill="none">
                  <a:moveTo>
                    <a:pt x="11728" y="326"/>
                  </a:moveTo>
                  <a:lnTo>
                    <a:pt x="11728" y="220"/>
                  </a:lnTo>
                </a:path>
                <a:path w="12600" h="420" fill="none">
                  <a:moveTo>
                    <a:pt x="11758" y="326"/>
                  </a:moveTo>
                  <a:lnTo>
                    <a:pt x="11758" y="220"/>
                  </a:lnTo>
                </a:path>
                <a:path w="12600" h="420" fill="none">
                  <a:moveTo>
                    <a:pt x="11829" y="94"/>
                  </a:moveTo>
                  <a:lnTo>
                    <a:pt x="11829" y="200"/>
                  </a:lnTo>
                </a:path>
                <a:path w="12600" h="420" fill="none">
                  <a:moveTo>
                    <a:pt x="11859" y="94"/>
                  </a:moveTo>
                  <a:lnTo>
                    <a:pt x="11859" y="200"/>
                  </a:lnTo>
                </a:path>
                <a:path w="12600" h="420" fill="none">
                  <a:moveTo>
                    <a:pt x="11829" y="326"/>
                  </a:moveTo>
                  <a:lnTo>
                    <a:pt x="11829" y="220"/>
                  </a:lnTo>
                </a:path>
                <a:path w="12600" h="420" fill="none">
                  <a:moveTo>
                    <a:pt x="11859" y="326"/>
                  </a:moveTo>
                  <a:lnTo>
                    <a:pt x="11859" y="220"/>
                  </a:lnTo>
                </a:path>
                <a:path w="12600" h="420" fill="none">
                  <a:moveTo>
                    <a:pt x="11929" y="94"/>
                  </a:moveTo>
                  <a:lnTo>
                    <a:pt x="11929" y="200"/>
                  </a:lnTo>
                </a:path>
                <a:path w="12600" h="420" fill="none">
                  <a:moveTo>
                    <a:pt x="11959" y="94"/>
                  </a:moveTo>
                  <a:lnTo>
                    <a:pt x="11959" y="200"/>
                  </a:lnTo>
                </a:path>
                <a:path w="12600" h="420" fill="none">
                  <a:moveTo>
                    <a:pt x="11929" y="326"/>
                  </a:moveTo>
                  <a:lnTo>
                    <a:pt x="11929" y="220"/>
                  </a:lnTo>
                </a:path>
                <a:path w="12600" h="420" fill="none">
                  <a:moveTo>
                    <a:pt x="11959" y="326"/>
                  </a:moveTo>
                  <a:lnTo>
                    <a:pt x="11959" y="220"/>
                  </a:lnTo>
                </a:path>
                <a:path w="12600" h="420" fill="none">
                  <a:moveTo>
                    <a:pt x="12030" y="94"/>
                  </a:moveTo>
                  <a:lnTo>
                    <a:pt x="12030" y="200"/>
                  </a:lnTo>
                </a:path>
                <a:path w="12600" h="420" fill="none">
                  <a:moveTo>
                    <a:pt x="12060" y="94"/>
                  </a:moveTo>
                  <a:lnTo>
                    <a:pt x="12060" y="200"/>
                  </a:lnTo>
                </a:path>
                <a:path w="12600" h="420" fill="none">
                  <a:moveTo>
                    <a:pt x="12030" y="326"/>
                  </a:moveTo>
                  <a:lnTo>
                    <a:pt x="12030" y="220"/>
                  </a:lnTo>
                </a:path>
                <a:path w="12600" h="420" fill="none">
                  <a:moveTo>
                    <a:pt x="12060" y="326"/>
                  </a:moveTo>
                  <a:lnTo>
                    <a:pt x="12060" y="220"/>
                  </a:lnTo>
                </a:path>
                <a:path w="12600" h="420" fill="none">
                  <a:moveTo>
                    <a:pt x="12131" y="94"/>
                  </a:moveTo>
                  <a:lnTo>
                    <a:pt x="12131" y="200"/>
                  </a:lnTo>
                </a:path>
                <a:path w="12600" h="420" fill="none">
                  <a:moveTo>
                    <a:pt x="12161" y="94"/>
                  </a:moveTo>
                  <a:lnTo>
                    <a:pt x="12161" y="200"/>
                  </a:lnTo>
                </a:path>
                <a:path w="12600" h="420" fill="none">
                  <a:moveTo>
                    <a:pt x="12131" y="326"/>
                  </a:moveTo>
                  <a:lnTo>
                    <a:pt x="12131" y="220"/>
                  </a:lnTo>
                </a:path>
                <a:path w="12600" h="420" fill="none">
                  <a:moveTo>
                    <a:pt x="12161" y="326"/>
                  </a:moveTo>
                  <a:lnTo>
                    <a:pt x="12161" y="220"/>
                  </a:lnTo>
                </a:path>
                <a:path w="12600" h="420" fill="none">
                  <a:moveTo>
                    <a:pt x="12232" y="94"/>
                  </a:moveTo>
                  <a:lnTo>
                    <a:pt x="12232" y="200"/>
                  </a:lnTo>
                </a:path>
                <a:path w="12600" h="420" fill="none">
                  <a:moveTo>
                    <a:pt x="12262" y="94"/>
                  </a:moveTo>
                  <a:lnTo>
                    <a:pt x="12262" y="200"/>
                  </a:lnTo>
                </a:path>
                <a:path w="12600" h="420" fill="none">
                  <a:moveTo>
                    <a:pt x="12232" y="326"/>
                  </a:moveTo>
                  <a:lnTo>
                    <a:pt x="12232" y="220"/>
                  </a:lnTo>
                </a:path>
                <a:path w="12600" h="420" fill="none">
                  <a:moveTo>
                    <a:pt x="12262" y="326"/>
                  </a:moveTo>
                  <a:lnTo>
                    <a:pt x="12262" y="220"/>
                  </a:lnTo>
                </a:path>
                <a:path w="12600" h="420" fill="none">
                  <a:moveTo>
                    <a:pt x="12333" y="94"/>
                  </a:moveTo>
                  <a:lnTo>
                    <a:pt x="12333" y="200"/>
                  </a:lnTo>
                </a:path>
                <a:path w="12600" h="420" fill="none">
                  <a:moveTo>
                    <a:pt x="12363" y="94"/>
                  </a:moveTo>
                  <a:lnTo>
                    <a:pt x="12363" y="200"/>
                  </a:lnTo>
                </a:path>
                <a:path w="12600" h="420" fill="none">
                  <a:moveTo>
                    <a:pt x="12333" y="326"/>
                  </a:moveTo>
                  <a:lnTo>
                    <a:pt x="12333" y="220"/>
                  </a:lnTo>
                </a:path>
                <a:path w="12600" h="420" fill="none">
                  <a:moveTo>
                    <a:pt x="12363" y="326"/>
                  </a:moveTo>
                  <a:lnTo>
                    <a:pt x="12363" y="220"/>
                  </a:lnTo>
                </a:path>
                <a:path w="12600" h="420" fill="none">
                  <a:moveTo>
                    <a:pt x="12433" y="94"/>
                  </a:moveTo>
                  <a:lnTo>
                    <a:pt x="12433" y="200"/>
                  </a:lnTo>
                </a:path>
                <a:path w="12600" h="420" fill="none">
                  <a:moveTo>
                    <a:pt x="12463" y="94"/>
                  </a:moveTo>
                  <a:lnTo>
                    <a:pt x="12463" y="200"/>
                  </a:lnTo>
                </a:path>
                <a:path w="12600" h="420" fill="none">
                  <a:moveTo>
                    <a:pt x="12433" y="326"/>
                  </a:moveTo>
                  <a:lnTo>
                    <a:pt x="12433" y="220"/>
                  </a:lnTo>
                </a:path>
                <a:path w="12600" h="420" fill="none">
                  <a:moveTo>
                    <a:pt x="12463" y="326"/>
                  </a:moveTo>
                  <a:lnTo>
                    <a:pt x="12463" y="220"/>
                  </a:lnTo>
                </a:path>
                <a:path w="12600" h="420" fill="none">
                  <a:moveTo>
                    <a:pt x="12534" y="94"/>
                  </a:moveTo>
                  <a:lnTo>
                    <a:pt x="12534" y="200"/>
                  </a:lnTo>
                </a:path>
                <a:path w="12600" h="420" fill="none">
                  <a:moveTo>
                    <a:pt x="12564" y="94"/>
                  </a:moveTo>
                  <a:lnTo>
                    <a:pt x="12564" y="200"/>
                  </a:lnTo>
                </a:path>
                <a:path w="12600" h="420" fill="none">
                  <a:moveTo>
                    <a:pt x="12534" y="326"/>
                  </a:moveTo>
                  <a:lnTo>
                    <a:pt x="12534" y="220"/>
                  </a:lnTo>
                </a:path>
                <a:path w="12600" h="420" fill="none">
                  <a:moveTo>
                    <a:pt x="12564" y="326"/>
                  </a:moveTo>
                  <a:lnTo>
                    <a:pt x="12564" y="220"/>
                  </a:lnTo>
                </a:path>
              </a:pathLst>
            </a:custGeom>
            <a:noFill/>
            <a:ln w="9525" cap="rnd">
              <a:solidFill>
                <a:srgbClr val="A59F96"/>
              </a:solidFill>
              <a:round/>
            </a:ln>
          </p:spPr>
        </p:sp>
      </p:grpSp>
      <p:sp>
        <p:nvSpPr>
          <p:cNvPr id="10" name="Forma 9"/>
          <p:cNvSpPr txBox="1"/>
          <p:nvPr/>
        </p:nvSpPr>
        <p:spPr>
          <a:xfrm>
            <a:off x="365760" y="2743200"/>
            <a:ext cx="365760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7E5109"/>
                </a:solidFill>
                <a:latin typeface="Bahnschrift SemiBold Condensed"/>
                <a:ea typeface="Bahnschrift SemiBold Condensed"/>
                <a:cs typeface="Bahnschrift SemiBold Condensed"/>
                <a:sym typeface="Bahnschrift SemiBold Condensed"/>
              </a:rPr>
              <a:t>ESPACIO INTERMEMBRANA</a:t>
            </a:r>
            <a:endParaRPr lang="es-AR" sz="1200" dirty="0">
              <a:latin typeface="Bahnschrift SemiBold Condensed"/>
            </a:endParaRPr>
          </a:p>
        </p:txBody>
      </p:sp>
      <p:grpSp>
        <p:nvGrpSpPr>
          <p:cNvPr id="11" name="Membrana interna"/>
          <p:cNvGrpSpPr/>
          <p:nvPr/>
        </p:nvGrpSpPr>
        <p:grpSpPr>
          <a:xfrm>
            <a:off x="274320" y="3520440"/>
            <a:ext cx="11521440" cy="384048"/>
            <a:chOff x="274320" y="3520440"/>
            <a:chExt cx="11521440" cy="384048"/>
          </a:xfrm>
        </p:grpSpPr>
        <p:sp>
          <p:nvSpPr>
            <p:cNvPr id="12" name="Forma 11"/>
            <p:cNvSpPr/>
            <p:nvPr/>
          </p:nvSpPr>
          <p:spPr>
            <a:xfrm>
              <a:off x="274320" y="3589569"/>
              <a:ext cx="11521440" cy="245791"/>
            </a:xfrm>
            <a:prstGeom prst="rect">
              <a:avLst/>
            </a:prstGeom>
            <a:solidFill>
              <a:srgbClr val="FDEBD0"/>
            </a:solidFill>
            <a:ln>
              <a:noFill/>
            </a:ln>
          </p:spPr>
        </p:sp>
        <p:sp>
          <p:nvSpPr>
            <p:cNvPr id="13" name="Forma 12"/>
            <p:cNvSpPr/>
            <p:nvPr/>
          </p:nvSpPr>
          <p:spPr>
            <a:xfrm>
              <a:off x="274320" y="3520440"/>
              <a:ext cx="11521440" cy="384048"/>
            </a:xfrm>
            <a:custGeom>
              <a:avLst/>
              <a:gdLst/>
              <a:ahLst/>
              <a:cxnLst/>
              <a:rect l="0" t="0" r="r" b="b"/>
              <a:pathLst>
                <a:path w="12600" h="42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8" y="47"/>
                  </a:moveTo>
                  <a:cubicBezTo>
                    <a:pt x="198" y="72"/>
                    <a:pt x="176" y="94"/>
                    <a:pt x="151" y="94"/>
                  </a:cubicBezTo>
                  <a:cubicBezTo>
                    <a:pt x="125" y="94"/>
                    <a:pt x="104" y="72"/>
                    <a:pt x="104" y="47"/>
                  </a:cubicBezTo>
                  <a:cubicBezTo>
                    <a:pt x="104" y="21"/>
                    <a:pt x="125" y="0"/>
                    <a:pt x="151" y="0"/>
                  </a:cubicBezTo>
                  <a:cubicBezTo>
                    <a:pt x="176" y="0"/>
                    <a:pt x="198" y="21"/>
                    <a:pt x="198" y="47"/>
                  </a:cubicBezTo>
                  <a:close/>
                  <a:moveTo>
                    <a:pt x="299" y="47"/>
                  </a:moveTo>
                  <a:cubicBezTo>
                    <a:pt x="299" y="72"/>
                    <a:pt x="277" y="94"/>
                    <a:pt x="252" y="94"/>
                  </a:cubicBezTo>
                  <a:cubicBezTo>
                    <a:pt x="226" y="94"/>
                    <a:pt x="205" y="72"/>
                    <a:pt x="205" y="47"/>
                  </a:cubicBezTo>
                  <a:cubicBezTo>
                    <a:pt x="205" y="21"/>
                    <a:pt x="226" y="0"/>
                    <a:pt x="252" y="0"/>
                  </a:cubicBezTo>
                  <a:cubicBezTo>
                    <a:pt x="277" y="0"/>
                    <a:pt x="299" y="21"/>
                    <a:pt x="299" y="47"/>
                  </a:cubicBezTo>
                  <a:close/>
                  <a:moveTo>
                    <a:pt x="399" y="47"/>
                  </a:moveTo>
                  <a:cubicBezTo>
                    <a:pt x="399" y="72"/>
                    <a:pt x="377" y="94"/>
                    <a:pt x="352" y="94"/>
                  </a:cubicBezTo>
                  <a:cubicBezTo>
                    <a:pt x="326" y="94"/>
                    <a:pt x="305" y="72"/>
                    <a:pt x="305" y="47"/>
                  </a:cubicBezTo>
                  <a:cubicBezTo>
                    <a:pt x="305" y="21"/>
                    <a:pt x="326" y="0"/>
                    <a:pt x="352" y="0"/>
                  </a:cubicBezTo>
                  <a:cubicBezTo>
                    <a:pt x="377" y="0"/>
                    <a:pt x="399" y="21"/>
                    <a:pt x="399" y="47"/>
                  </a:cubicBezTo>
                  <a:close/>
                  <a:moveTo>
                    <a:pt x="500" y="47"/>
                  </a:moveTo>
                  <a:cubicBezTo>
                    <a:pt x="500" y="72"/>
                    <a:pt x="478" y="94"/>
                    <a:pt x="453" y="94"/>
                  </a:cubicBezTo>
                  <a:cubicBezTo>
                    <a:pt x="427" y="94"/>
                    <a:pt x="406" y="72"/>
                    <a:pt x="406" y="47"/>
                  </a:cubicBezTo>
                  <a:cubicBezTo>
                    <a:pt x="406" y="21"/>
                    <a:pt x="427" y="0"/>
                    <a:pt x="453" y="0"/>
                  </a:cubicBezTo>
                  <a:cubicBezTo>
                    <a:pt x="478" y="0"/>
                    <a:pt x="500" y="21"/>
                    <a:pt x="500" y="47"/>
                  </a:cubicBezTo>
                  <a:close/>
                  <a:moveTo>
                    <a:pt x="601" y="47"/>
                  </a:moveTo>
                  <a:cubicBezTo>
                    <a:pt x="601" y="72"/>
                    <a:pt x="579" y="94"/>
                    <a:pt x="554" y="94"/>
                  </a:cubicBezTo>
                  <a:cubicBezTo>
                    <a:pt x="528" y="94"/>
                    <a:pt x="507" y="72"/>
                    <a:pt x="507" y="47"/>
                  </a:cubicBezTo>
                  <a:cubicBezTo>
                    <a:pt x="507" y="21"/>
                    <a:pt x="528" y="0"/>
                    <a:pt x="554" y="0"/>
                  </a:cubicBezTo>
                  <a:cubicBezTo>
                    <a:pt x="579" y="0"/>
                    <a:pt x="601" y="21"/>
                    <a:pt x="601" y="47"/>
                  </a:cubicBezTo>
                  <a:close/>
                  <a:moveTo>
                    <a:pt x="702" y="47"/>
                  </a:moveTo>
                  <a:cubicBezTo>
                    <a:pt x="702" y="72"/>
                    <a:pt x="680" y="94"/>
                    <a:pt x="655" y="94"/>
                  </a:cubicBezTo>
                  <a:cubicBezTo>
                    <a:pt x="629" y="94"/>
                    <a:pt x="608" y="72"/>
                    <a:pt x="608" y="47"/>
                  </a:cubicBezTo>
                  <a:cubicBezTo>
                    <a:pt x="608" y="21"/>
                    <a:pt x="629" y="0"/>
                    <a:pt x="655" y="0"/>
                  </a:cubicBezTo>
                  <a:cubicBezTo>
                    <a:pt x="680" y="0"/>
                    <a:pt x="702" y="21"/>
                    <a:pt x="702" y="47"/>
                  </a:cubicBezTo>
                  <a:close/>
                  <a:moveTo>
                    <a:pt x="803" y="47"/>
                  </a:moveTo>
                  <a:cubicBezTo>
                    <a:pt x="803" y="72"/>
                    <a:pt x="781" y="94"/>
                    <a:pt x="756" y="94"/>
                  </a:cubicBezTo>
                  <a:cubicBezTo>
                    <a:pt x="730" y="94"/>
                    <a:pt x="709" y="72"/>
                    <a:pt x="709" y="47"/>
                  </a:cubicBezTo>
                  <a:cubicBezTo>
                    <a:pt x="709" y="21"/>
                    <a:pt x="730" y="0"/>
                    <a:pt x="756" y="0"/>
                  </a:cubicBezTo>
                  <a:cubicBezTo>
                    <a:pt x="781" y="0"/>
                    <a:pt x="803" y="21"/>
                    <a:pt x="803" y="47"/>
                  </a:cubicBezTo>
                  <a:close/>
                  <a:moveTo>
                    <a:pt x="903" y="47"/>
                  </a:moveTo>
                  <a:cubicBezTo>
                    <a:pt x="903" y="72"/>
                    <a:pt x="881" y="94"/>
                    <a:pt x="856" y="94"/>
                  </a:cubicBezTo>
                  <a:cubicBezTo>
                    <a:pt x="830" y="94"/>
                    <a:pt x="809" y="72"/>
                    <a:pt x="809" y="47"/>
                  </a:cubicBezTo>
                  <a:cubicBezTo>
                    <a:pt x="809" y="21"/>
                    <a:pt x="830" y="0"/>
                    <a:pt x="856" y="0"/>
                  </a:cubicBezTo>
                  <a:cubicBezTo>
                    <a:pt x="881" y="0"/>
                    <a:pt x="903" y="21"/>
                    <a:pt x="903" y="47"/>
                  </a:cubicBezTo>
                  <a:close/>
                  <a:moveTo>
                    <a:pt x="1004" y="47"/>
                  </a:moveTo>
                  <a:cubicBezTo>
                    <a:pt x="1004" y="72"/>
                    <a:pt x="982" y="94"/>
                    <a:pt x="957" y="94"/>
                  </a:cubicBezTo>
                  <a:cubicBezTo>
                    <a:pt x="931" y="94"/>
                    <a:pt x="910" y="72"/>
                    <a:pt x="910" y="47"/>
                  </a:cubicBezTo>
                  <a:cubicBezTo>
                    <a:pt x="910" y="21"/>
                    <a:pt x="931" y="0"/>
                    <a:pt x="957" y="0"/>
                  </a:cubicBezTo>
                  <a:cubicBezTo>
                    <a:pt x="982" y="0"/>
                    <a:pt x="1004" y="21"/>
                    <a:pt x="1004" y="47"/>
                  </a:cubicBezTo>
                  <a:close/>
                  <a:moveTo>
                    <a:pt x="1105" y="47"/>
                  </a:moveTo>
                  <a:cubicBezTo>
                    <a:pt x="1105" y="72"/>
                    <a:pt x="1083" y="94"/>
                    <a:pt x="1058" y="94"/>
                  </a:cubicBezTo>
                  <a:cubicBezTo>
                    <a:pt x="1032" y="94"/>
                    <a:pt x="1011" y="72"/>
                    <a:pt x="1011" y="47"/>
                  </a:cubicBezTo>
                  <a:cubicBezTo>
                    <a:pt x="1011" y="21"/>
                    <a:pt x="1032" y="0"/>
                    <a:pt x="1058" y="0"/>
                  </a:cubicBezTo>
                  <a:cubicBezTo>
                    <a:pt x="1083" y="0"/>
                    <a:pt x="1105" y="21"/>
                    <a:pt x="1105" y="47"/>
                  </a:cubicBezTo>
                  <a:close/>
                  <a:moveTo>
                    <a:pt x="1206" y="47"/>
                  </a:moveTo>
                  <a:cubicBezTo>
                    <a:pt x="1206" y="72"/>
                    <a:pt x="1184" y="94"/>
                    <a:pt x="1159" y="94"/>
                  </a:cubicBezTo>
                  <a:cubicBezTo>
                    <a:pt x="1133" y="94"/>
                    <a:pt x="1112" y="72"/>
                    <a:pt x="1112" y="47"/>
                  </a:cubicBezTo>
                  <a:cubicBezTo>
                    <a:pt x="1112" y="21"/>
                    <a:pt x="1133" y="0"/>
                    <a:pt x="1159" y="0"/>
                  </a:cubicBezTo>
                  <a:cubicBezTo>
                    <a:pt x="1184" y="0"/>
                    <a:pt x="1206" y="21"/>
                    <a:pt x="1206" y="47"/>
                  </a:cubicBezTo>
                  <a:close/>
                  <a:moveTo>
                    <a:pt x="1307" y="47"/>
                  </a:moveTo>
                  <a:cubicBezTo>
                    <a:pt x="1307" y="72"/>
                    <a:pt x="1285" y="94"/>
                    <a:pt x="1260" y="94"/>
                  </a:cubicBezTo>
                  <a:cubicBezTo>
                    <a:pt x="1234" y="94"/>
                    <a:pt x="1213" y="72"/>
                    <a:pt x="1213" y="47"/>
                  </a:cubicBezTo>
                  <a:cubicBezTo>
                    <a:pt x="1213" y="21"/>
                    <a:pt x="1234" y="0"/>
                    <a:pt x="1260" y="0"/>
                  </a:cubicBezTo>
                  <a:cubicBezTo>
                    <a:pt x="1285" y="0"/>
                    <a:pt x="1307" y="21"/>
                    <a:pt x="1307" y="47"/>
                  </a:cubicBezTo>
                  <a:close/>
                  <a:moveTo>
                    <a:pt x="1407" y="47"/>
                  </a:moveTo>
                  <a:cubicBezTo>
                    <a:pt x="1407" y="72"/>
                    <a:pt x="1385" y="94"/>
                    <a:pt x="1360" y="94"/>
                  </a:cubicBezTo>
                  <a:cubicBezTo>
                    <a:pt x="1334" y="94"/>
                    <a:pt x="1313" y="72"/>
                    <a:pt x="1313" y="47"/>
                  </a:cubicBezTo>
                  <a:cubicBezTo>
                    <a:pt x="1313" y="21"/>
                    <a:pt x="1334" y="0"/>
                    <a:pt x="1360" y="0"/>
                  </a:cubicBezTo>
                  <a:cubicBezTo>
                    <a:pt x="1385" y="0"/>
                    <a:pt x="1407" y="21"/>
                    <a:pt x="1407" y="47"/>
                  </a:cubicBezTo>
                  <a:close/>
                  <a:moveTo>
                    <a:pt x="1508" y="47"/>
                  </a:moveTo>
                  <a:cubicBezTo>
                    <a:pt x="1508" y="72"/>
                    <a:pt x="1486" y="94"/>
                    <a:pt x="1461" y="94"/>
                  </a:cubicBezTo>
                  <a:cubicBezTo>
                    <a:pt x="1435" y="94"/>
                    <a:pt x="1414" y="72"/>
                    <a:pt x="1414" y="47"/>
                  </a:cubicBezTo>
                  <a:cubicBezTo>
                    <a:pt x="1414" y="21"/>
                    <a:pt x="1435" y="0"/>
                    <a:pt x="1461" y="0"/>
                  </a:cubicBezTo>
                  <a:cubicBezTo>
                    <a:pt x="1486" y="0"/>
                    <a:pt x="1508" y="21"/>
                    <a:pt x="1508" y="47"/>
                  </a:cubicBezTo>
                  <a:close/>
                  <a:moveTo>
                    <a:pt x="1609" y="47"/>
                  </a:moveTo>
                  <a:cubicBezTo>
                    <a:pt x="1609" y="72"/>
                    <a:pt x="1587" y="94"/>
                    <a:pt x="1562" y="94"/>
                  </a:cubicBezTo>
                  <a:cubicBezTo>
                    <a:pt x="1536" y="94"/>
                    <a:pt x="1515" y="72"/>
                    <a:pt x="1515" y="47"/>
                  </a:cubicBezTo>
                  <a:cubicBezTo>
                    <a:pt x="1515" y="21"/>
                    <a:pt x="1536" y="0"/>
                    <a:pt x="1562" y="0"/>
                  </a:cubicBezTo>
                  <a:cubicBezTo>
                    <a:pt x="1587" y="0"/>
                    <a:pt x="1609" y="21"/>
                    <a:pt x="1609" y="47"/>
                  </a:cubicBezTo>
                  <a:close/>
                  <a:moveTo>
                    <a:pt x="1710" y="47"/>
                  </a:moveTo>
                  <a:cubicBezTo>
                    <a:pt x="1710" y="72"/>
                    <a:pt x="1688" y="94"/>
                    <a:pt x="1663" y="94"/>
                  </a:cubicBezTo>
                  <a:cubicBezTo>
                    <a:pt x="1637" y="94"/>
                    <a:pt x="1616" y="72"/>
                    <a:pt x="1616" y="47"/>
                  </a:cubicBezTo>
                  <a:cubicBezTo>
                    <a:pt x="1616" y="21"/>
                    <a:pt x="1637" y="0"/>
                    <a:pt x="1663" y="0"/>
                  </a:cubicBezTo>
                  <a:cubicBezTo>
                    <a:pt x="1688" y="0"/>
                    <a:pt x="1710" y="21"/>
                    <a:pt x="1710" y="47"/>
                  </a:cubicBezTo>
                  <a:close/>
                  <a:moveTo>
                    <a:pt x="1811" y="47"/>
                  </a:moveTo>
                  <a:cubicBezTo>
                    <a:pt x="1811" y="72"/>
                    <a:pt x="1789" y="94"/>
                    <a:pt x="1764" y="94"/>
                  </a:cubicBezTo>
                  <a:cubicBezTo>
                    <a:pt x="1738" y="94"/>
                    <a:pt x="1717" y="72"/>
                    <a:pt x="1717" y="47"/>
                  </a:cubicBezTo>
                  <a:cubicBezTo>
                    <a:pt x="1717" y="21"/>
                    <a:pt x="1738" y="0"/>
                    <a:pt x="1764" y="0"/>
                  </a:cubicBezTo>
                  <a:cubicBezTo>
                    <a:pt x="1789" y="0"/>
                    <a:pt x="1811" y="21"/>
                    <a:pt x="1811" y="47"/>
                  </a:cubicBezTo>
                  <a:close/>
                  <a:moveTo>
                    <a:pt x="1911" y="47"/>
                  </a:moveTo>
                  <a:cubicBezTo>
                    <a:pt x="1911" y="72"/>
                    <a:pt x="1889" y="94"/>
                    <a:pt x="1864" y="94"/>
                  </a:cubicBezTo>
                  <a:cubicBezTo>
                    <a:pt x="1838" y="94"/>
                    <a:pt x="1817" y="72"/>
                    <a:pt x="1817" y="47"/>
                  </a:cubicBezTo>
                  <a:cubicBezTo>
                    <a:pt x="1817" y="21"/>
                    <a:pt x="1838" y="0"/>
                    <a:pt x="1864" y="0"/>
                  </a:cubicBezTo>
                  <a:cubicBezTo>
                    <a:pt x="1889" y="0"/>
                    <a:pt x="1911" y="21"/>
                    <a:pt x="1911" y="47"/>
                  </a:cubicBezTo>
                  <a:close/>
                  <a:moveTo>
                    <a:pt x="2012" y="47"/>
                  </a:moveTo>
                  <a:cubicBezTo>
                    <a:pt x="2012" y="72"/>
                    <a:pt x="1990" y="94"/>
                    <a:pt x="1965" y="94"/>
                  </a:cubicBezTo>
                  <a:cubicBezTo>
                    <a:pt x="1939" y="94"/>
                    <a:pt x="1918" y="72"/>
                    <a:pt x="1918" y="47"/>
                  </a:cubicBezTo>
                  <a:cubicBezTo>
                    <a:pt x="1918" y="21"/>
                    <a:pt x="1939" y="0"/>
                    <a:pt x="1965" y="0"/>
                  </a:cubicBezTo>
                  <a:cubicBezTo>
                    <a:pt x="1990" y="0"/>
                    <a:pt x="2012" y="21"/>
                    <a:pt x="2012" y="47"/>
                  </a:cubicBezTo>
                  <a:close/>
                  <a:moveTo>
                    <a:pt x="2113" y="47"/>
                  </a:moveTo>
                  <a:cubicBezTo>
                    <a:pt x="2113" y="72"/>
                    <a:pt x="2091" y="94"/>
                    <a:pt x="2066" y="94"/>
                  </a:cubicBezTo>
                  <a:cubicBezTo>
                    <a:pt x="2040" y="94"/>
                    <a:pt x="2019" y="72"/>
                    <a:pt x="2019" y="47"/>
                  </a:cubicBezTo>
                  <a:cubicBezTo>
                    <a:pt x="2019" y="21"/>
                    <a:pt x="2040" y="0"/>
                    <a:pt x="2066" y="0"/>
                  </a:cubicBezTo>
                  <a:cubicBezTo>
                    <a:pt x="2091" y="0"/>
                    <a:pt x="2113" y="21"/>
                    <a:pt x="2113" y="47"/>
                  </a:cubicBezTo>
                  <a:close/>
                  <a:moveTo>
                    <a:pt x="2214" y="47"/>
                  </a:moveTo>
                  <a:cubicBezTo>
                    <a:pt x="2214" y="72"/>
                    <a:pt x="2192" y="94"/>
                    <a:pt x="2167" y="94"/>
                  </a:cubicBezTo>
                  <a:cubicBezTo>
                    <a:pt x="2141" y="94"/>
                    <a:pt x="2120" y="72"/>
                    <a:pt x="2120" y="47"/>
                  </a:cubicBezTo>
                  <a:cubicBezTo>
                    <a:pt x="2120" y="21"/>
                    <a:pt x="2141" y="0"/>
                    <a:pt x="2167" y="0"/>
                  </a:cubicBezTo>
                  <a:cubicBezTo>
                    <a:pt x="2192" y="0"/>
                    <a:pt x="2214" y="21"/>
                    <a:pt x="2214" y="47"/>
                  </a:cubicBezTo>
                  <a:close/>
                  <a:moveTo>
                    <a:pt x="2315" y="47"/>
                  </a:moveTo>
                  <a:cubicBezTo>
                    <a:pt x="2315" y="72"/>
                    <a:pt x="2293" y="94"/>
                    <a:pt x="2268" y="94"/>
                  </a:cubicBezTo>
                  <a:cubicBezTo>
                    <a:pt x="2242" y="94"/>
                    <a:pt x="2221" y="72"/>
                    <a:pt x="2221" y="47"/>
                  </a:cubicBezTo>
                  <a:cubicBezTo>
                    <a:pt x="2221" y="21"/>
                    <a:pt x="2242" y="0"/>
                    <a:pt x="2268" y="0"/>
                  </a:cubicBezTo>
                  <a:cubicBezTo>
                    <a:pt x="2293" y="0"/>
                    <a:pt x="2315" y="21"/>
                    <a:pt x="2315" y="47"/>
                  </a:cubicBezTo>
                  <a:close/>
                  <a:moveTo>
                    <a:pt x="2415" y="47"/>
                  </a:moveTo>
                  <a:cubicBezTo>
                    <a:pt x="2415" y="72"/>
                    <a:pt x="2393" y="94"/>
                    <a:pt x="2368" y="94"/>
                  </a:cubicBezTo>
                  <a:cubicBezTo>
                    <a:pt x="2342" y="94"/>
                    <a:pt x="2321" y="72"/>
                    <a:pt x="2321" y="47"/>
                  </a:cubicBezTo>
                  <a:cubicBezTo>
                    <a:pt x="2321" y="21"/>
                    <a:pt x="2342" y="0"/>
                    <a:pt x="2368" y="0"/>
                  </a:cubicBezTo>
                  <a:cubicBezTo>
                    <a:pt x="2393" y="0"/>
                    <a:pt x="2415" y="21"/>
                    <a:pt x="2415" y="47"/>
                  </a:cubicBezTo>
                  <a:close/>
                  <a:moveTo>
                    <a:pt x="2516" y="47"/>
                  </a:moveTo>
                  <a:cubicBezTo>
                    <a:pt x="2516" y="72"/>
                    <a:pt x="2494" y="94"/>
                    <a:pt x="2469" y="94"/>
                  </a:cubicBezTo>
                  <a:cubicBezTo>
                    <a:pt x="2443" y="94"/>
                    <a:pt x="2422" y="72"/>
                    <a:pt x="2422" y="47"/>
                  </a:cubicBezTo>
                  <a:cubicBezTo>
                    <a:pt x="2422" y="21"/>
                    <a:pt x="2443" y="0"/>
                    <a:pt x="2469" y="0"/>
                  </a:cubicBezTo>
                  <a:cubicBezTo>
                    <a:pt x="2494" y="0"/>
                    <a:pt x="2516" y="21"/>
                    <a:pt x="2516" y="47"/>
                  </a:cubicBezTo>
                  <a:close/>
                  <a:moveTo>
                    <a:pt x="2617" y="47"/>
                  </a:moveTo>
                  <a:cubicBezTo>
                    <a:pt x="2617" y="72"/>
                    <a:pt x="2595" y="94"/>
                    <a:pt x="2570" y="94"/>
                  </a:cubicBezTo>
                  <a:cubicBezTo>
                    <a:pt x="2544" y="94"/>
                    <a:pt x="2523" y="72"/>
                    <a:pt x="2523" y="47"/>
                  </a:cubicBezTo>
                  <a:cubicBezTo>
                    <a:pt x="2523" y="21"/>
                    <a:pt x="2544" y="0"/>
                    <a:pt x="2570" y="0"/>
                  </a:cubicBezTo>
                  <a:cubicBezTo>
                    <a:pt x="2595" y="0"/>
                    <a:pt x="2617" y="21"/>
                    <a:pt x="2617" y="47"/>
                  </a:cubicBezTo>
                  <a:close/>
                  <a:moveTo>
                    <a:pt x="2718" y="47"/>
                  </a:moveTo>
                  <a:cubicBezTo>
                    <a:pt x="2718" y="72"/>
                    <a:pt x="2696" y="94"/>
                    <a:pt x="2671" y="94"/>
                  </a:cubicBezTo>
                  <a:cubicBezTo>
                    <a:pt x="2645" y="94"/>
                    <a:pt x="2624" y="72"/>
                    <a:pt x="2624" y="47"/>
                  </a:cubicBezTo>
                  <a:cubicBezTo>
                    <a:pt x="2624" y="21"/>
                    <a:pt x="2645" y="0"/>
                    <a:pt x="2671" y="0"/>
                  </a:cubicBezTo>
                  <a:cubicBezTo>
                    <a:pt x="2696" y="0"/>
                    <a:pt x="2718" y="21"/>
                    <a:pt x="2718" y="47"/>
                  </a:cubicBezTo>
                  <a:close/>
                  <a:moveTo>
                    <a:pt x="2819" y="47"/>
                  </a:moveTo>
                  <a:cubicBezTo>
                    <a:pt x="2819" y="72"/>
                    <a:pt x="2797" y="94"/>
                    <a:pt x="2772" y="94"/>
                  </a:cubicBezTo>
                  <a:cubicBezTo>
                    <a:pt x="2746" y="94"/>
                    <a:pt x="2725" y="72"/>
                    <a:pt x="2725" y="47"/>
                  </a:cubicBezTo>
                  <a:cubicBezTo>
                    <a:pt x="2725" y="21"/>
                    <a:pt x="2746" y="0"/>
                    <a:pt x="2772" y="0"/>
                  </a:cubicBezTo>
                  <a:cubicBezTo>
                    <a:pt x="2797" y="0"/>
                    <a:pt x="2819" y="21"/>
                    <a:pt x="2819" y="47"/>
                  </a:cubicBezTo>
                  <a:close/>
                  <a:moveTo>
                    <a:pt x="2919" y="47"/>
                  </a:moveTo>
                  <a:cubicBezTo>
                    <a:pt x="2919" y="72"/>
                    <a:pt x="2897" y="94"/>
                    <a:pt x="2872" y="94"/>
                  </a:cubicBezTo>
                  <a:cubicBezTo>
                    <a:pt x="2846" y="94"/>
                    <a:pt x="2825" y="72"/>
                    <a:pt x="2825" y="47"/>
                  </a:cubicBezTo>
                  <a:cubicBezTo>
                    <a:pt x="2825" y="21"/>
                    <a:pt x="2846" y="0"/>
                    <a:pt x="2872" y="0"/>
                  </a:cubicBezTo>
                  <a:cubicBezTo>
                    <a:pt x="2897" y="0"/>
                    <a:pt x="2919" y="21"/>
                    <a:pt x="2919" y="47"/>
                  </a:cubicBezTo>
                  <a:close/>
                  <a:moveTo>
                    <a:pt x="3020" y="47"/>
                  </a:moveTo>
                  <a:cubicBezTo>
                    <a:pt x="3020" y="72"/>
                    <a:pt x="2998" y="94"/>
                    <a:pt x="2973" y="94"/>
                  </a:cubicBezTo>
                  <a:cubicBezTo>
                    <a:pt x="2947" y="94"/>
                    <a:pt x="2926" y="72"/>
                    <a:pt x="2926" y="47"/>
                  </a:cubicBezTo>
                  <a:cubicBezTo>
                    <a:pt x="2926" y="21"/>
                    <a:pt x="2947" y="0"/>
                    <a:pt x="2973" y="0"/>
                  </a:cubicBezTo>
                  <a:cubicBezTo>
                    <a:pt x="2998" y="0"/>
                    <a:pt x="3020" y="21"/>
                    <a:pt x="3020" y="47"/>
                  </a:cubicBezTo>
                  <a:close/>
                  <a:moveTo>
                    <a:pt x="3121" y="47"/>
                  </a:moveTo>
                  <a:cubicBezTo>
                    <a:pt x="3121" y="72"/>
                    <a:pt x="3099" y="94"/>
                    <a:pt x="3074" y="94"/>
                  </a:cubicBezTo>
                  <a:cubicBezTo>
                    <a:pt x="3048" y="94"/>
                    <a:pt x="3027" y="72"/>
                    <a:pt x="3027" y="47"/>
                  </a:cubicBezTo>
                  <a:cubicBezTo>
                    <a:pt x="3027" y="21"/>
                    <a:pt x="3048" y="0"/>
                    <a:pt x="3074" y="0"/>
                  </a:cubicBezTo>
                  <a:cubicBezTo>
                    <a:pt x="3099" y="0"/>
                    <a:pt x="3121" y="21"/>
                    <a:pt x="3121" y="47"/>
                  </a:cubicBezTo>
                  <a:close/>
                  <a:moveTo>
                    <a:pt x="3222" y="47"/>
                  </a:moveTo>
                  <a:cubicBezTo>
                    <a:pt x="3222" y="72"/>
                    <a:pt x="3200" y="94"/>
                    <a:pt x="3175" y="94"/>
                  </a:cubicBezTo>
                  <a:cubicBezTo>
                    <a:pt x="3149" y="94"/>
                    <a:pt x="3128" y="72"/>
                    <a:pt x="3128" y="47"/>
                  </a:cubicBezTo>
                  <a:cubicBezTo>
                    <a:pt x="3128" y="21"/>
                    <a:pt x="3149" y="0"/>
                    <a:pt x="3175" y="0"/>
                  </a:cubicBezTo>
                  <a:cubicBezTo>
                    <a:pt x="3200" y="0"/>
                    <a:pt x="3222" y="21"/>
                    <a:pt x="3222" y="47"/>
                  </a:cubicBezTo>
                  <a:close/>
                  <a:moveTo>
                    <a:pt x="3323" y="47"/>
                  </a:moveTo>
                  <a:cubicBezTo>
                    <a:pt x="3323" y="72"/>
                    <a:pt x="3301" y="94"/>
                    <a:pt x="3276" y="94"/>
                  </a:cubicBezTo>
                  <a:cubicBezTo>
                    <a:pt x="3250" y="94"/>
                    <a:pt x="3229" y="72"/>
                    <a:pt x="3229" y="47"/>
                  </a:cubicBezTo>
                  <a:cubicBezTo>
                    <a:pt x="3229" y="21"/>
                    <a:pt x="3250" y="0"/>
                    <a:pt x="3276" y="0"/>
                  </a:cubicBezTo>
                  <a:cubicBezTo>
                    <a:pt x="3301" y="0"/>
                    <a:pt x="3323" y="21"/>
                    <a:pt x="3323" y="47"/>
                  </a:cubicBezTo>
                  <a:close/>
                  <a:moveTo>
                    <a:pt x="3423" y="47"/>
                  </a:moveTo>
                  <a:cubicBezTo>
                    <a:pt x="3423" y="72"/>
                    <a:pt x="3401" y="94"/>
                    <a:pt x="3376" y="94"/>
                  </a:cubicBezTo>
                  <a:cubicBezTo>
                    <a:pt x="3350" y="94"/>
                    <a:pt x="3329" y="72"/>
                    <a:pt x="3329" y="47"/>
                  </a:cubicBezTo>
                  <a:cubicBezTo>
                    <a:pt x="3329" y="21"/>
                    <a:pt x="3350" y="0"/>
                    <a:pt x="3376" y="0"/>
                  </a:cubicBezTo>
                  <a:cubicBezTo>
                    <a:pt x="3401" y="0"/>
                    <a:pt x="3423" y="21"/>
                    <a:pt x="3423" y="47"/>
                  </a:cubicBezTo>
                  <a:close/>
                  <a:moveTo>
                    <a:pt x="3524" y="47"/>
                  </a:moveTo>
                  <a:cubicBezTo>
                    <a:pt x="3524" y="72"/>
                    <a:pt x="3502" y="94"/>
                    <a:pt x="3477" y="94"/>
                  </a:cubicBezTo>
                  <a:cubicBezTo>
                    <a:pt x="3451" y="94"/>
                    <a:pt x="3430" y="72"/>
                    <a:pt x="3430" y="47"/>
                  </a:cubicBezTo>
                  <a:cubicBezTo>
                    <a:pt x="3430" y="21"/>
                    <a:pt x="3451" y="0"/>
                    <a:pt x="3477" y="0"/>
                  </a:cubicBezTo>
                  <a:cubicBezTo>
                    <a:pt x="3502" y="0"/>
                    <a:pt x="3524" y="21"/>
                    <a:pt x="3524" y="47"/>
                  </a:cubicBezTo>
                  <a:close/>
                  <a:moveTo>
                    <a:pt x="3625" y="47"/>
                  </a:moveTo>
                  <a:cubicBezTo>
                    <a:pt x="3625" y="72"/>
                    <a:pt x="3603" y="94"/>
                    <a:pt x="3578" y="94"/>
                  </a:cubicBezTo>
                  <a:cubicBezTo>
                    <a:pt x="3552" y="94"/>
                    <a:pt x="3531" y="72"/>
                    <a:pt x="3531" y="47"/>
                  </a:cubicBezTo>
                  <a:cubicBezTo>
                    <a:pt x="3531" y="21"/>
                    <a:pt x="3552" y="0"/>
                    <a:pt x="3578" y="0"/>
                  </a:cubicBezTo>
                  <a:cubicBezTo>
                    <a:pt x="3603" y="0"/>
                    <a:pt x="3625" y="21"/>
                    <a:pt x="3625" y="47"/>
                  </a:cubicBezTo>
                  <a:close/>
                  <a:moveTo>
                    <a:pt x="3726" y="47"/>
                  </a:moveTo>
                  <a:cubicBezTo>
                    <a:pt x="3726" y="72"/>
                    <a:pt x="3704" y="94"/>
                    <a:pt x="3679" y="94"/>
                  </a:cubicBezTo>
                  <a:cubicBezTo>
                    <a:pt x="3653" y="94"/>
                    <a:pt x="3632" y="72"/>
                    <a:pt x="3632" y="47"/>
                  </a:cubicBezTo>
                  <a:cubicBezTo>
                    <a:pt x="3632" y="21"/>
                    <a:pt x="3653" y="0"/>
                    <a:pt x="3679" y="0"/>
                  </a:cubicBezTo>
                  <a:cubicBezTo>
                    <a:pt x="3704" y="0"/>
                    <a:pt x="3726" y="21"/>
                    <a:pt x="3726" y="47"/>
                  </a:cubicBezTo>
                  <a:close/>
                  <a:moveTo>
                    <a:pt x="3827" y="47"/>
                  </a:moveTo>
                  <a:cubicBezTo>
                    <a:pt x="3827" y="72"/>
                    <a:pt x="3805" y="94"/>
                    <a:pt x="3780" y="94"/>
                  </a:cubicBezTo>
                  <a:cubicBezTo>
                    <a:pt x="3754" y="94"/>
                    <a:pt x="3733" y="72"/>
                    <a:pt x="3733" y="47"/>
                  </a:cubicBezTo>
                  <a:cubicBezTo>
                    <a:pt x="3733" y="21"/>
                    <a:pt x="3754" y="0"/>
                    <a:pt x="3780" y="0"/>
                  </a:cubicBezTo>
                  <a:cubicBezTo>
                    <a:pt x="3805" y="0"/>
                    <a:pt x="3827" y="21"/>
                    <a:pt x="3827" y="47"/>
                  </a:cubicBezTo>
                  <a:close/>
                  <a:moveTo>
                    <a:pt x="3927" y="47"/>
                  </a:moveTo>
                  <a:cubicBezTo>
                    <a:pt x="3927" y="72"/>
                    <a:pt x="3905" y="94"/>
                    <a:pt x="3880" y="94"/>
                  </a:cubicBezTo>
                  <a:cubicBezTo>
                    <a:pt x="3854" y="94"/>
                    <a:pt x="3833" y="72"/>
                    <a:pt x="3833" y="47"/>
                  </a:cubicBezTo>
                  <a:cubicBezTo>
                    <a:pt x="3833" y="21"/>
                    <a:pt x="3854" y="0"/>
                    <a:pt x="3880" y="0"/>
                  </a:cubicBezTo>
                  <a:cubicBezTo>
                    <a:pt x="3905" y="0"/>
                    <a:pt x="3927" y="21"/>
                    <a:pt x="3927" y="47"/>
                  </a:cubicBezTo>
                  <a:close/>
                  <a:moveTo>
                    <a:pt x="4028" y="47"/>
                  </a:moveTo>
                  <a:cubicBezTo>
                    <a:pt x="4028" y="72"/>
                    <a:pt x="4006" y="94"/>
                    <a:pt x="3981" y="94"/>
                  </a:cubicBezTo>
                  <a:cubicBezTo>
                    <a:pt x="3955" y="94"/>
                    <a:pt x="3934" y="72"/>
                    <a:pt x="3934" y="47"/>
                  </a:cubicBezTo>
                  <a:cubicBezTo>
                    <a:pt x="3934" y="21"/>
                    <a:pt x="3955" y="0"/>
                    <a:pt x="3981" y="0"/>
                  </a:cubicBezTo>
                  <a:cubicBezTo>
                    <a:pt x="4006" y="0"/>
                    <a:pt x="4028" y="21"/>
                    <a:pt x="4028" y="47"/>
                  </a:cubicBezTo>
                  <a:close/>
                  <a:moveTo>
                    <a:pt x="4129" y="47"/>
                  </a:moveTo>
                  <a:cubicBezTo>
                    <a:pt x="4129" y="72"/>
                    <a:pt x="4107" y="94"/>
                    <a:pt x="4082" y="94"/>
                  </a:cubicBezTo>
                  <a:cubicBezTo>
                    <a:pt x="4056" y="94"/>
                    <a:pt x="4035" y="72"/>
                    <a:pt x="4035" y="47"/>
                  </a:cubicBezTo>
                  <a:cubicBezTo>
                    <a:pt x="4035" y="21"/>
                    <a:pt x="4056" y="0"/>
                    <a:pt x="4082" y="0"/>
                  </a:cubicBezTo>
                  <a:cubicBezTo>
                    <a:pt x="4107" y="0"/>
                    <a:pt x="4129" y="21"/>
                    <a:pt x="4129" y="47"/>
                  </a:cubicBezTo>
                  <a:close/>
                  <a:moveTo>
                    <a:pt x="4230" y="47"/>
                  </a:moveTo>
                  <a:cubicBezTo>
                    <a:pt x="4230" y="72"/>
                    <a:pt x="4208" y="94"/>
                    <a:pt x="4183" y="94"/>
                  </a:cubicBezTo>
                  <a:cubicBezTo>
                    <a:pt x="4157" y="94"/>
                    <a:pt x="4136" y="72"/>
                    <a:pt x="4136" y="47"/>
                  </a:cubicBezTo>
                  <a:cubicBezTo>
                    <a:pt x="4136" y="21"/>
                    <a:pt x="4157" y="0"/>
                    <a:pt x="4183" y="0"/>
                  </a:cubicBezTo>
                  <a:cubicBezTo>
                    <a:pt x="4208" y="0"/>
                    <a:pt x="4230" y="21"/>
                    <a:pt x="4230" y="47"/>
                  </a:cubicBezTo>
                  <a:close/>
                  <a:moveTo>
                    <a:pt x="4331" y="47"/>
                  </a:moveTo>
                  <a:cubicBezTo>
                    <a:pt x="4331" y="72"/>
                    <a:pt x="4309" y="94"/>
                    <a:pt x="4284" y="94"/>
                  </a:cubicBezTo>
                  <a:cubicBezTo>
                    <a:pt x="4258" y="94"/>
                    <a:pt x="4237" y="72"/>
                    <a:pt x="4237" y="47"/>
                  </a:cubicBezTo>
                  <a:cubicBezTo>
                    <a:pt x="4237" y="21"/>
                    <a:pt x="4258" y="0"/>
                    <a:pt x="4284" y="0"/>
                  </a:cubicBezTo>
                  <a:cubicBezTo>
                    <a:pt x="4309" y="0"/>
                    <a:pt x="4331" y="21"/>
                    <a:pt x="4331" y="47"/>
                  </a:cubicBezTo>
                  <a:close/>
                  <a:moveTo>
                    <a:pt x="4431" y="47"/>
                  </a:moveTo>
                  <a:cubicBezTo>
                    <a:pt x="4431" y="72"/>
                    <a:pt x="4409" y="94"/>
                    <a:pt x="4384" y="94"/>
                  </a:cubicBezTo>
                  <a:cubicBezTo>
                    <a:pt x="4358" y="94"/>
                    <a:pt x="4337" y="72"/>
                    <a:pt x="4337" y="47"/>
                  </a:cubicBezTo>
                  <a:cubicBezTo>
                    <a:pt x="4337" y="21"/>
                    <a:pt x="4358" y="0"/>
                    <a:pt x="4384" y="0"/>
                  </a:cubicBezTo>
                  <a:cubicBezTo>
                    <a:pt x="4409" y="0"/>
                    <a:pt x="4431" y="21"/>
                    <a:pt x="4431" y="47"/>
                  </a:cubicBezTo>
                  <a:close/>
                  <a:moveTo>
                    <a:pt x="4532" y="47"/>
                  </a:moveTo>
                  <a:cubicBezTo>
                    <a:pt x="4532" y="72"/>
                    <a:pt x="4510" y="94"/>
                    <a:pt x="4485" y="94"/>
                  </a:cubicBezTo>
                  <a:cubicBezTo>
                    <a:pt x="4459" y="94"/>
                    <a:pt x="4438" y="72"/>
                    <a:pt x="4438" y="47"/>
                  </a:cubicBezTo>
                  <a:cubicBezTo>
                    <a:pt x="4438" y="21"/>
                    <a:pt x="4459" y="0"/>
                    <a:pt x="4485" y="0"/>
                  </a:cubicBezTo>
                  <a:cubicBezTo>
                    <a:pt x="4510" y="0"/>
                    <a:pt x="4532" y="21"/>
                    <a:pt x="4532" y="47"/>
                  </a:cubicBezTo>
                  <a:close/>
                  <a:moveTo>
                    <a:pt x="4633" y="47"/>
                  </a:moveTo>
                  <a:cubicBezTo>
                    <a:pt x="4633" y="72"/>
                    <a:pt x="4611" y="94"/>
                    <a:pt x="4586" y="94"/>
                  </a:cubicBezTo>
                  <a:cubicBezTo>
                    <a:pt x="4560" y="94"/>
                    <a:pt x="4539" y="72"/>
                    <a:pt x="4539" y="47"/>
                  </a:cubicBezTo>
                  <a:cubicBezTo>
                    <a:pt x="4539" y="21"/>
                    <a:pt x="4560" y="0"/>
                    <a:pt x="4586" y="0"/>
                  </a:cubicBezTo>
                  <a:cubicBezTo>
                    <a:pt x="4611" y="0"/>
                    <a:pt x="4633" y="21"/>
                    <a:pt x="4633" y="47"/>
                  </a:cubicBezTo>
                  <a:close/>
                  <a:moveTo>
                    <a:pt x="4734" y="47"/>
                  </a:moveTo>
                  <a:cubicBezTo>
                    <a:pt x="4734" y="72"/>
                    <a:pt x="4712" y="94"/>
                    <a:pt x="4687" y="94"/>
                  </a:cubicBezTo>
                  <a:cubicBezTo>
                    <a:pt x="4661" y="94"/>
                    <a:pt x="4640" y="72"/>
                    <a:pt x="4640" y="47"/>
                  </a:cubicBezTo>
                  <a:cubicBezTo>
                    <a:pt x="4640" y="21"/>
                    <a:pt x="4661" y="0"/>
                    <a:pt x="4687" y="0"/>
                  </a:cubicBezTo>
                  <a:cubicBezTo>
                    <a:pt x="4712" y="0"/>
                    <a:pt x="4734" y="21"/>
                    <a:pt x="4734" y="47"/>
                  </a:cubicBezTo>
                  <a:close/>
                  <a:moveTo>
                    <a:pt x="4835" y="47"/>
                  </a:moveTo>
                  <a:cubicBezTo>
                    <a:pt x="4835" y="72"/>
                    <a:pt x="4813" y="94"/>
                    <a:pt x="4788" y="94"/>
                  </a:cubicBezTo>
                  <a:cubicBezTo>
                    <a:pt x="4762" y="94"/>
                    <a:pt x="4741" y="72"/>
                    <a:pt x="4741" y="47"/>
                  </a:cubicBezTo>
                  <a:cubicBezTo>
                    <a:pt x="4741" y="21"/>
                    <a:pt x="4762" y="0"/>
                    <a:pt x="4788" y="0"/>
                  </a:cubicBezTo>
                  <a:cubicBezTo>
                    <a:pt x="4813" y="0"/>
                    <a:pt x="4835" y="21"/>
                    <a:pt x="4835" y="47"/>
                  </a:cubicBezTo>
                  <a:close/>
                  <a:moveTo>
                    <a:pt x="4935" y="47"/>
                  </a:moveTo>
                  <a:cubicBezTo>
                    <a:pt x="4935" y="72"/>
                    <a:pt x="4913" y="94"/>
                    <a:pt x="4888" y="94"/>
                  </a:cubicBezTo>
                  <a:cubicBezTo>
                    <a:pt x="4862" y="94"/>
                    <a:pt x="4841" y="72"/>
                    <a:pt x="4841" y="47"/>
                  </a:cubicBezTo>
                  <a:cubicBezTo>
                    <a:pt x="4841" y="21"/>
                    <a:pt x="4862" y="0"/>
                    <a:pt x="4888" y="0"/>
                  </a:cubicBezTo>
                  <a:cubicBezTo>
                    <a:pt x="4913" y="0"/>
                    <a:pt x="4935" y="21"/>
                    <a:pt x="4935" y="47"/>
                  </a:cubicBezTo>
                  <a:close/>
                  <a:moveTo>
                    <a:pt x="5036" y="47"/>
                  </a:moveTo>
                  <a:cubicBezTo>
                    <a:pt x="5036" y="72"/>
                    <a:pt x="5014" y="94"/>
                    <a:pt x="4989" y="94"/>
                  </a:cubicBezTo>
                  <a:cubicBezTo>
                    <a:pt x="4963" y="94"/>
                    <a:pt x="4942" y="72"/>
                    <a:pt x="4942" y="47"/>
                  </a:cubicBezTo>
                  <a:cubicBezTo>
                    <a:pt x="4942" y="21"/>
                    <a:pt x="4963" y="0"/>
                    <a:pt x="4989" y="0"/>
                  </a:cubicBezTo>
                  <a:cubicBezTo>
                    <a:pt x="5014" y="0"/>
                    <a:pt x="5036" y="21"/>
                    <a:pt x="5036" y="47"/>
                  </a:cubicBezTo>
                  <a:close/>
                  <a:moveTo>
                    <a:pt x="5137" y="47"/>
                  </a:moveTo>
                  <a:cubicBezTo>
                    <a:pt x="5137" y="72"/>
                    <a:pt x="5115" y="94"/>
                    <a:pt x="5090" y="94"/>
                  </a:cubicBezTo>
                  <a:cubicBezTo>
                    <a:pt x="5064" y="94"/>
                    <a:pt x="5043" y="72"/>
                    <a:pt x="5043" y="47"/>
                  </a:cubicBezTo>
                  <a:cubicBezTo>
                    <a:pt x="5043" y="21"/>
                    <a:pt x="5064" y="0"/>
                    <a:pt x="5090" y="0"/>
                  </a:cubicBezTo>
                  <a:cubicBezTo>
                    <a:pt x="5115" y="0"/>
                    <a:pt x="5137" y="21"/>
                    <a:pt x="5137" y="47"/>
                  </a:cubicBezTo>
                  <a:close/>
                  <a:moveTo>
                    <a:pt x="5238" y="47"/>
                  </a:moveTo>
                  <a:cubicBezTo>
                    <a:pt x="5238" y="72"/>
                    <a:pt x="5216" y="94"/>
                    <a:pt x="5191" y="94"/>
                  </a:cubicBezTo>
                  <a:cubicBezTo>
                    <a:pt x="5165" y="94"/>
                    <a:pt x="5144" y="72"/>
                    <a:pt x="5144" y="47"/>
                  </a:cubicBezTo>
                  <a:cubicBezTo>
                    <a:pt x="5144" y="21"/>
                    <a:pt x="5165" y="0"/>
                    <a:pt x="5191" y="0"/>
                  </a:cubicBezTo>
                  <a:cubicBezTo>
                    <a:pt x="5216" y="0"/>
                    <a:pt x="5238" y="21"/>
                    <a:pt x="5238" y="47"/>
                  </a:cubicBezTo>
                  <a:close/>
                  <a:moveTo>
                    <a:pt x="5339" y="47"/>
                  </a:moveTo>
                  <a:cubicBezTo>
                    <a:pt x="5339" y="72"/>
                    <a:pt x="5317" y="94"/>
                    <a:pt x="5292" y="94"/>
                  </a:cubicBezTo>
                  <a:cubicBezTo>
                    <a:pt x="5266" y="94"/>
                    <a:pt x="5245" y="72"/>
                    <a:pt x="5245" y="47"/>
                  </a:cubicBezTo>
                  <a:cubicBezTo>
                    <a:pt x="5245" y="21"/>
                    <a:pt x="5266" y="0"/>
                    <a:pt x="5292" y="0"/>
                  </a:cubicBezTo>
                  <a:cubicBezTo>
                    <a:pt x="5317" y="0"/>
                    <a:pt x="5339" y="21"/>
                    <a:pt x="5339" y="47"/>
                  </a:cubicBezTo>
                  <a:close/>
                  <a:moveTo>
                    <a:pt x="5439" y="47"/>
                  </a:moveTo>
                  <a:cubicBezTo>
                    <a:pt x="5439" y="72"/>
                    <a:pt x="5417" y="94"/>
                    <a:pt x="5392" y="94"/>
                  </a:cubicBezTo>
                  <a:cubicBezTo>
                    <a:pt x="5366" y="94"/>
                    <a:pt x="5345" y="72"/>
                    <a:pt x="5345" y="47"/>
                  </a:cubicBezTo>
                  <a:cubicBezTo>
                    <a:pt x="5345" y="21"/>
                    <a:pt x="5366" y="0"/>
                    <a:pt x="5392" y="0"/>
                  </a:cubicBezTo>
                  <a:cubicBezTo>
                    <a:pt x="5417" y="0"/>
                    <a:pt x="5439" y="21"/>
                    <a:pt x="5439" y="47"/>
                  </a:cubicBezTo>
                  <a:close/>
                  <a:moveTo>
                    <a:pt x="5540" y="47"/>
                  </a:moveTo>
                  <a:cubicBezTo>
                    <a:pt x="5540" y="72"/>
                    <a:pt x="5518" y="94"/>
                    <a:pt x="5493" y="94"/>
                  </a:cubicBezTo>
                  <a:cubicBezTo>
                    <a:pt x="5467" y="94"/>
                    <a:pt x="5446" y="72"/>
                    <a:pt x="5446" y="47"/>
                  </a:cubicBezTo>
                  <a:cubicBezTo>
                    <a:pt x="5446" y="21"/>
                    <a:pt x="5467" y="0"/>
                    <a:pt x="5493" y="0"/>
                  </a:cubicBezTo>
                  <a:cubicBezTo>
                    <a:pt x="5518" y="0"/>
                    <a:pt x="5540" y="21"/>
                    <a:pt x="5540" y="47"/>
                  </a:cubicBezTo>
                  <a:close/>
                  <a:moveTo>
                    <a:pt x="5641" y="47"/>
                  </a:moveTo>
                  <a:cubicBezTo>
                    <a:pt x="5641" y="72"/>
                    <a:pt x="5619" y="94"/>
                    <a:pt x="5594" y="94"/>
                  </a:cubicBezTo>
                  <a:cubicBezTo>
                    <a:pt x="5568" y="94"/>
                    <a:pt x="5547" y="72"/>
                    <a:pt x="5547" y="47"/>
                  </a:cubicBezTo>
                  <a:cubicBezTo>
                    <a:pt x="5547" y="21"/>
                    <a:pt x="5568" y="0"/>
                    <a:pt x="5594" y="0"/>
                  </a:cubicBezTo>
                  <a:cubicBezTo>
                    <a:pt x="5619" y="0"/>
                    <a:pt x="5641" y="21"/>
                    <a:pt x="5641" y="47"/>
                  </a:cubicBezTo>
                  <a:close/>
                  <a:moveTo>
                    <a:pt x="5742" y="47"/>
                  </a:moveTo>
                  <a:cubicBezTo>
                    <a:pt x="5742" y="72"/>
                    <a:pt x="5720" y="94"/>
                    <a:pt x="5695" y="94"/>
                  </a:cubicBezTo>
                  <a:cubicBezTo>
                    <a:pt x="5669" y="94"/>
                    <a:pt x="5648" y="72"/>
                    <a:pt x="5648" y="47"/>
                  </a:cubicBezTo>
                  <a:cubicBezTo>
                    <a:pt x="5648" y="21"/>
                    <a:pt x="5669" y="0"/>
                    <a:pt x="5695" y="0"/>
                  </a:cubicBezTo>
                  <a:cubicBezTo>
                    <a:pt x="5720" y="0"/>
                    <a:pt x="5742" y="21"/>
                    <a:pt x="5742" y="47"/>
                  </a:cubicBezTo>
                  <a:close/>
                  <a:moveTo>
                    <a:pt x="5843" y="47"/>
                  </a:moveTo>
                  <a:cubicBezTo>
                    <a:pt x="5843" y="72"/>
                    <a:pt x="5821" y="94"/>
                    <a:pt x="5796" y="94"/>
                  </a:cubicBezTo>
                  <a:cubicBezTo>
                    <a:pt x="5770" y="94"/>
                    <a:pt x="5749" y="72"/>
                    <a:pt x="5749" y="47"/>
                  </a:cubicBezTo>
                  <a:cubicBezTo>
                    <a:pt x="5749" y="21"/>
                    <a:pt x="5770" y="0"/>
                    <a:pt x="5796" y="0"/>
                  </a:cubicBezTo>
                  <a:cubicBezTo>
                    <a:pt x="5821" y="0"/>
                    <a:pt x="5843" y="21"/>
                    <a:pt x="5843" y="47"/>
                  </a:cubicBezTo>
                  <a:close/>
                  <a:moveTo>
                    <a:pt x="5943" y="47"/>
                  </a:moveTo>
                  <a:cubicBezTo>
                    <a:pt x="5943" y="72"/>
                    <a:pt x="5921" y="94"/>
                    <a:pt x="5896" y="94"/>
                  </a:cubicBezTo>
                  <a:cubicBezTo>
                    <a:pt x="5870" y="94"/>
                    <a:pt x="5849" y="72"/>
                    <a:pt x="5849" y="47"/>
                  </a:cubicBezTo>
                  <a:cubicBezTo>
                    <a:pt x="5849" y="21"/>
                    <a:pt x="5870" y="0"/>
                    <a:pt x="5896" y="0"/>
                  </a:cubicBezTo>
                  <a:cubicBezTo>
                    <a:pt x="5921" y="0"/>
                    <a:pt x="5943" y="21"/>
                    <a:pt x="5943" y="47"/>
                  </a:cubicBezTo>
                  <a:close/>
                  <a:moveTo>
                    <a:pt x="6044" y="47"/>
                  </a:moveTo>
                  <a:cubicBezTo>
                    <a:pt x="6044" y="72"/>
                    <a:pt x="6022" y="94"/>
                    <a:pt x="5997" y="94"/>
                  </a:cubicBezTo>
                  <a:cubicBezTo>
                    <a:pt x="5971" y="94"/>
                    <a:pt x="5950" y="72"/>
                    <a:pt x="5950" y="47"/>
                  </a:cubicBezTo>
                  <a:cubicBezTo>
                    <a:pt x="5950" y="21"/>
                    <a:pt x="5971" y="0"/>
                    <a:pt x="5997" y="0"/>
                  </a:cubicBezTo>
                  <a:cubicBezTo>
                    <a:pt x="6022" y="0"/>
                    <a:pt x="6044" y="21"/>
                    <a:pt x="6044" y="47"/>
                  </a:cubicBezTo>
                  <a:close/>
                  <a:moveTo>
                    <a:pt x="6145" y="47"/>
                  </a:moveTo>
                  <a:cubicBezTo>
                    <a:pt x="6145" y="72"/>
                    <a:pt x="6123" y="94"/>
                    <a:pt x="6098" y="94"/>
                  </a:cubicBezTo>
                  <a:cubicBezTo>
                    <a:pt x="6072" y="94"/>
                    <a:pt x="6051" y="72"/>
                    <a:pt x="6051" y="47"/>
                  </a:cubicBezTo>
                  <a:cubicBezTo>
                    <a:pt x="6051" y="21"/>
                    <a:pt x="6072" y="0"/>
                    <a:pt x="6098" y="0"/>
                  </a:cubicBezTo>
                  <a:cubicBezTo>
                    <a:pt x="6123" y="0"/>
                    <a:pt x="6145" y="21"/>
                    <a:pt x="6145" y="47"/>
                  </a:cubicBezTo>
                  <a:close/>
                  <a:moveTo>
                    <a:pt x="6246" y="47"/>
                  </a:moveTo>
                  <a:cubicBezTo>
                    <a:pt x="6246" y="72"/>
                    <a:pt x="6224" y="94"/>
                    <a:pt x="6199" y="94"/>
                  </a:cubicBezTo>
                  <a:cubicBezTo>
                    <a:pt x="6173" y="94"/>
                    <a:pt x="6152" y="72"/>
                    <a:pt x="6152" y="47"/>
                  </a:cubicBezTo>
                  <a:cubicBezTo>
                    <a:pt x="6152" y="21"/>
                    <a:pt x="6173" y="0"/>
                    <a:pt x="6199" y="0"/>
                  </a:cubicBezTo>
                  <a:cubicBezTo>
                    <a:pt x="6224" y="0"/>
                    <a:pt x="6246" y="21"/>
                    <a:pt x="6246" y="47"/>
                  </a:cubicBezTo>
                  <a:close/>
                  <a:moveTo>
                    <a:pt x="6347" y="47"/>
                  </a:moveTo>
                  <a:cubicBezTo>
                    <a:pt x="6347" y="72"/>
                    <a:pt x="6325" y="94"/>
                    <a:pt x="6300" y="94"/>
                  </a:cubicBezTo>
                  <a:cubicBezTo>
                    <a:pt x="6274" y="94"/>
                    <a:pt x="6253" y="72"/>
                    <a:pt x="6253" y="47"/>
                  </a:cubicBezTo>
                  <a:cubicBezTo>
                    <a:pt x="6253" y="21"/>
                    <a:pt x="6274" y="0"/>
                    <a:pt x="6300" y="0"/>
                  </a:cubicBezTo>
                  <a:cubicBezTo>
                    <a:pt x="6325" y="0"/>
                    <a:pt x="6347" y="21"/>
                    <a:pt x="6347" y="47"/>
                  </a:cubicBezTo>
                  <a:close/>
                  <a:moveTo>
                    <a:pt x="6447" y="47"/>
                  </a:moveTo>
                  <a:cubicBezTo>
                    <a:pt x="6447" y="72"/>
                    <a:pt x="6425" y="94"/>
                    <a:pt x="6400" y="94"/>
                  </a:cubicBezTo>
                  <a:cubicBezTo>
                    <a:pt x="6374" y="94"/>
                    <a:pt x="6353" y="72"/>
                    <a:pt x="6353" y="47"/>
                  </a:cubicBezTo>
                  <a:cubicBezTo>
                    <a:pt x="6353" y="21"/>
                    <a:pt x="6374" y="0"/>
                    <a:pt x="6400" y="0"/>
                  </a:cubicBezTo>
                  <a:cubicBezTo>
                    <a:pt x="6425" y="0"/>
                    <a:pt x="6447" y="21"/>
                    <a:pt x="6447" y="47"/>
                  </a:cubicBezTo>
                  <a:close/>
                  <a:moveTo>
                    <a:pt x="6548" y="47"/>
                  </a:moveTo>
                  <a:cubicBezTo>
                    <a:pt x="6548" y="72"/>
                    <a:pt x="6526" y="94"/>
                    <a:pt x="6501" y="94"/>
                  </a:cubicBezTo>
                  <a:cubicBezTo>
                    <a:pt x="6475" y="94"/>
                    <a:pt x="6454" y="72"/>
                    <a:pt x="6454" y="47"/>
                  </a:cubicBezTo>
                  <a:cubicBezTo>
                    <a:pt x="6454" y="21"/>
                    <a:pt x="6475" y="0"/>
                    <a:pt x="6501" y="0"/>
                  </a:cubicBezTo>
                  <a:cubicBezTo>
                    <a:pt x="6526" y="0"/>
                    <a:pt x="6548" y="21"/>
                    <a:pt x="6548" y="47"/>
                  </a:cubicBezTo>
                  <a:close/>
                  <a:moveTo>
                    <a:pt x="6649" y="47"/>
                  </a:moveTo>
                  <a:cubicBezTo>
                    <a:pt x="6649" y="72"/>
                    <a:pt x="6627" y="94"/>
                    <a:pt x="6602" y="94"/>
                  </a:cubicBezTo>
                  <a:cubicBezTo>
                    <a:pt x="6576" y="94"/>
                    <a:pt x="6555" y="72"/>
                    <a:pt x="6555" y="47"/>
                  </a:cubicBezTo>
                  <a:cubicBezTo>
                    <a:pt x="6555" y="21"/>
                    <a:pt x="6576" y="0"/>
                    <a:pt x="6602" y="0"/>
                  </a:cubicBezTo>
                  <a:cubicBezTo>
                    <a:pt x="6627" y="0"/>
                    <a:pt x="6649" y="21"/>
                    <a:pt x="6649" y="47"/>
                  </a:cubicBezTo>
                  <a:close/>
                  <a:moveTo>
                    <a:pt x="6750" y="47"/>
                  </a:moveTo>
                  <a:cubicBezTo>
                    <a:pt x="6750" y="72"/>
                    <a:pt x="6728" y="94"/>
                    <a:pt x="6703" y="94"/>
                  </a:cubicBezTo>
                  <a:cubicBezTo>
                    <a:pt x="6677" y="94"/>
                    <a:pt x="6656" y="72"/>
                    <a:pt x="6656" y="47"/>
                  </a:cubicBezTo>
                  <a:cubicBezTo>
                    <a:pt x="6656" y="21"/>
                    <a:pt x="6677" y="0"/>
                    <a:pt x="6703" y="0"/>
                  </a:cubicBezTo>
                  <a:cubicBezTo>
                    <a:pt x="6728" y="0"/>
                    <a:pt x="6750" y="21"/>
                    <a:pt x="6750" y="47"/>
                  </a:cubicBezTo>
                  <a:close/>
                  <a:moveTo>
                    <a:pt x="6851" y="47"/>
                  </a:moveTo>
                  <a:cubicBezTo>
                    <a:pt x="6851" y="72"/>
                    <a:pt x="6829" y="94"/>
                    <a:pt x="6804" y="94"/>
                  </a:cubicBezTo>
                  <a:cubicBezTo>
                    <a:pt x="6778" y="94"/>
                    <a:pt x="6757" y="72"/>
                    <a:pt x="6757" y="47"/>
                  </a:cubicBezTo>
                  <a:cubicBezTo>
                    <a:pt x="6757" y="21"/>
                    <a:pt x="6778" y="0"/>
                    <a:pt x="6804" y="0"/>
                  </a:cubicBezTo>
                  <a:cubicBezTo>
                    <a:pt x="6829" y="0"/>
                    <a:pt x="6851" y="21"/>
                    <a:pt x="6851" y="47"/>
                  </a:cubicBezTo>
                  <a:close/>
                  <a:moveTo>
                    <a:pt x="6951" y="47"/>
                  </a:moveTo>
                  <a:cubicBezTo>
                    <a:pt x="6951" y="72"/>
                    <a:pt x="6929" y="94"/>
                    <a:pt x="6904" y="94"/>
                  </a:cubicBezTo>
                  <a:cubicBezTo>
                    <a:pt x="6878" y="94"/>
                    <a:pt x="6857" y="72"/>
                    <a:pt x="6857" y="47"/>
                  </a:cubicBezTo>
                  <a:cubicBezTo>
                    <a:pt x="6857" y="21"/>
                    <a:pt x="6878" y="0"/>
                    <a:pt x="6904" y="0"/>
                  </a:cubicBezTo>
                  <a:cubicBezTo>
                    <a:pt x="6929" y="0"/>
                    <a:pt x="6951" y="21"/>
                    <a:pt x="6951" y="47"/>
                  </a:cubicBezTo>
                  <a:close/>
                  <a:moveTo>
                    <a:pt x="7052" y="47"/>
                  </a:moveTo>
                  <a:cubicBezTo>
                    <a:pt x="7052" y="72"/>
                    <a:pt x="7030" y="94"/>
                    <a:pt x="7005" y="94"/>
                  </a:cubicBezTo>
                  <a:cubicBezTo>
                    <a:pt x="6979" y="94"/>
                    <a:pt x="6958" y="72"/>
                    <a:pt x="6958" y="47"/>
                  </a:cubicBezTo>
                  <a:cubicBezTo>
                    <a:pt x="6958" y="21"/>
                    <a:pt x="6979" y="0"/>
                    <a:pt x="7005" y="0"/>
                  </a:cubicBezTo>
                  <a:cubicBezTo>
                    <a:pt x="7030" y="0"/>
                    <a:pt x="7052" y="21"/>
                    <a:pt x="7052" y="47"/>
                  </a:cubicBezTo>
                  <a:close/>
                  <a:moveTo>
                    <a:pt x="7153" y="47"/>
                  </a:moveTo>
                  <a:cubicBezTo>
                    <a:pt x="7153" y="72"/>
                    <a:pt x="7131" y="94"/>
                    <a:pt x="7106" y="94"/>
                  </a:cubicBezTo>
                  <a:cubicBezTo>
                    <a:pt x="7080" y="94"/>
                    <a:pt x="7059" y="72"/>
                    <a:pt x="7059" y="47"/>
                  </a:cubicBezTo>
                  <a:cubicBezTo>
                    <a:pt x="7059" y="21"/>
                    <a:pt x="7080" y="0"/>
                    <a:pt x="7106" y="0"/>
                  </a:cubicBezTo>
                  <a:cubicBezTo>
                    <a:pt x="7131" y="0"/>
                    <a:pt x="7153" y="21"/>
                    <a:pt x="7153" y="47"/>
                  </a:cubicBezTo>
                  <a:close/>
                  <a:moveTo>
                    <a:pt x="7254" y="47"/>
                  </a:moveTo>
                  <a:cubicBezTo>
                    <a:pt x="7254" y="72"/>
                    <a:pt x="7232" y="94"/>
                    <a:pt x="7207" y="94"/>
                  </a:cubicBezTo>
                  <a:cubicBezTo>
                    <a:pt x="7181" y="94"/>
                    <a:pt x="7160" y="72"/>
                    <a:pt x="7160" y="47"/>
                  </a:cubicBezTo>
                  <a:cubicBezTo>
                    <a:pt x="7160" y="21"/>
                    <a:pt x="7181" y="0"/>
                    <a:pt x="7207" y="0"/>
                  </a:cubicBezTo>
                  <a:cubicBezTo>
                    <a:pt x="7232" y="0"/>
                    <a:pt x="7254" y="21"/>
                    <a:pt x="7254" y="47"/>
                  </a:cubicBezTo>
                  <a:close/>
                  <a:moveTo>
                    <a:pt x="7355" y="47"/>
                  </a:moveTo>
                  <a:cubicBezTo>
                    <a:pt x="7355" y="72"/>
                    <a:pt x="7333" y="94"/>
                    <a:pt x="7308" y="94"/>
                  </a:cubicBezTo>
                  <a:cubicBezTo>
                    <a:pt x="7282" y="94"/>
                    <a:pt x="7261" y="72"/>
                    <a:pt x="7261" y="47"/>
                  </a:cubicBezTo>
                  <a:cubicBezTo>
                    <a:pt x="7261" y="21"/>
                    <a:pt x="7282" y="0"/>
                    <a:pt x="7308" y="0"/>
                  </a:cubicBezTo>
                  <a:cubicBezTo>
                    <a:pt x="7333" y="0"/>
                    <a:pt x="7355" y="21"/>
                    <a:pt x="7355" y="47"/>
                  </a:cubicBezTo>
                  <a:close/>
                  <a:moveTo>
                    <a:pt x="7455" y="47"/>
                  </a:moveTo>
                  <a:cubicBezTo>
                    <a:pt x="7455" y="72"/>
                    <a:pt x="7433" y="94"/>
                    <a:pt x="7408" y="94"/>
                  </a:cubicBezTo>
                  <a:cubicBezTo>
                    <a:pt x="7382" y="94"/>
                    <a:pt x="7361" y="72"/>
                    <a:pt x="7361" y="47"/>
                  </a:cubicBezTo>
                  <a:cubicBezTo>
                    <a:pt x="7361" y="21"/>
                    <a:pt x="7382" y="0"/>
                    <a:pt x="7408" y="0"/>
                  </a:cubicBezTo>
                  <a:cubicBezTo>
                    <a:pt x="7433" y="0"/>
                    <a:pt x="7455" y="21"/>
                    <a:pt x="7455" y="47"/>
                  </a:cubicBezTo>
                  <a:close/>
                  <a:moveTo>
                    <a:pt x="7556" y="47"/>
                  </a:moveTo>
                  <a:cubicBezTo>
                    <a:pt x="7556" y="72"/>
                    <a:pt x="7534" y="94"/>
                    <a:pt x="7509" y="94"/>
                  </a:cubicBezTo>
                  <a:cubicBezTo>
                    <a:pt x="7483" y="94"/>
                    <a:pt x="7462" y="72"/>
                    <a:pt x="7462" y="47"/>
                  </a:cubicBezTo>
                  <a:cubicBezTo>
                    <a:pt x="7462" y="21"/>
                    <a:pt x="7483" y="0"/>
                    <a:pt x="7509" y="0"/>
                  </a:cubicBezTo>
                  <a:cubicBezTo>
                    <a:pt x="7534" y="0"/>
                    <a:pt x="7556" y="21"/>
                    <a:pt x="7556" y="47"/>
                  </a:cubicBezTo>
                  <a:close/>
                  <a:moveTo>
                    <a:pt x="7657" y="47"/>
                  </a:moveTo>
                  <a:cubicBezTo>
                    <a:pt x="7657" y="72"/>
                    <a:pt x="7635" y="94"/>
                    <a:pt x="7610" y="94"/>
                  </a:cubicBezTo>
                  <a:cubicBezTo>
                    <a:pt x="7584" y="94"/>
                    <a:pt x="7563" y="72"/>
                    <a:pt x="7563" y="47"/>
                  </a:cubicBezTo>
                  <a:cubicBezTo>
                    <a:pt x="7563" y="21"/>
                    <a:pt x="7584" y="0"/>
                    <a:pt x="7610" y="0"/>
                  </a:cubicBezTo>
                  <a:cubicBezTo>
                    <a:pt x="7635" y="0"/>
                    <a:pt x="7657" y="21"/>
                    <a:pt x="7657" y="47"/>
                  </a:cubicBezTo>
                  <a:close/>
                  <a:moveTo>
                    <a:pt x="7758" y="47"/>
                  </a:moveTo>
                  <a:cubicBezTo>
                    <a:pt x="7758" y="72"/>
                    <a:pt x="7736" y="94"/>
                    <a:pt x="7711" y="94"/>
                  </a:cubicBezTo>
                  <a:cubicBezTo>
                    <a:pt x="7685" y="94"/>
                    <a:pt x="7664" y="72"/>
                    <a:pt x="7664" y="47"/>
                  </a:cubicBezTo>
                  <a:cubicBezTo>
                    <a:pt x="7664" y="21"/>
                    <a:pt x="7685" y="0"/>
                    <a:pt x="7711" y="0"/>
                  </a:cubicBezTo>
                  <a:cubicBezTo>
                    <a:pt x="7736" y="0"/>
                    <a:pt x="7758" y="21"/>
                    <a:pt x="7758" y="47"/>
                  </a:cubicBezTo>
                  <a:close/>
                  <a:moveTo>
                    <a:pt x="7859" y="47"/>
                  </a:moveTo>
                  <a:cubicBezTo>
                    <a:pt x="7859" y="72"/>
                    <a:pt x="7837" y="94"/>
                    <a:pt x="7812" y="94"/>
                  </a:cubicBezTo>
                  <a:cubicBezTo>
                    <a:pt x="7786" y="94"/>
                    <a:pt x="7765" y="72"/>
                    <a:pt x="7765" y="47"/>
                  </a:cubicBezTo>
                  <a:cubicBezTo>
                    <a:pt x="7765" y="21"/>
                    <a:pt x="7786" y="0"/>
                    <a:pt x="7812" y="0"/>
                  </a:cubicBezTo>
                  <a:cubicBezTo>
                    <a:pt x="7837" y="0"/>
                    <a:pt x="7859" y="21"/>
                    <a:pt x="7859" y="47"/>
                  </a:cubicBezTo>
                  <a:close/>
                  <a:moveTo>
                    <a:pt x="7959" y="47"/>
                  </a:moveTo>
                  <a:cubicBezTo>
                    <a:pt x="7959" y="72"/>
                    <a:pt x="7937" y="94"/>
                    <a:pt x="7912" y="94"/>
                  </a:cubicBezTo>
                  <a:cubicBezTo>
                    <a:pt x="7886" y="94"/>
                    <a:pt x="7865" y="72"/>
                    <a:pt x="7865" y="47"/>
                  </a:cubicBezTo>
                  <a:cubicBezTo>
                    <a:pt x="7865" y="21"/>
                    <a:pt x="7886" y="0"/>
                    <a:pt x="7912" y="0"/>
                  </a:cubicBezTo>
                  <a:cubicBezTo>
                    <a:pt x="7937" y="0"/>
                    <a:pt x="7959" y="21"/>
                    <a:pt x="7959" y="47"/>
                  </a:cubicBezTo>
                  <a:close/>
                  <a:moveTo>
                    <a:pt x="8060" y="47"/>
                  </a:moveTo>
                  <a:cubicBezTo>
                    <a:pt x="8060" y="72"/>
                    <a:pt x="8038" y="94"/>
                    <a:pt x="8013" y="94"/>
                  </a:cubicBezTo>
                  <a:cubicBezTo>
                    <a:pt x="7987" y="94"/>
                    <a:pt x="7966" y="72"/>
                    <a:pt x="7966" y="47"/>
                  </a:cubicBezTo>
                  <a:cubicBezTo>
                    <a:pt x="7966" y="21"/>
                    <a:pt x="7987" y="0"/>
                    <a:pt x="8013" y="0"/>
                  </a:cubicBezTo>
                  <a:cubicBezTo>
                    <a:pt x="8038" y="0"/>
                    <a:pt x="8060" y="21"/>
                    <a:pt x="8060" y="47"/>
                  </a:cubicBezTo>
                  <a:close/>
                  <a:moveTo>
                    <a:pt x="8161" y="47"/>
                  </a:moveTo>
                  <a:cubicBezTo>
                    <a:pt x="8161" y="72"/>
                    <a:pt x="8139" y="94"/>
                    <a:pt x="8114" y="94"/>
                  </a:cubicBezTo>
                  <a:cubicBezTo>
                    <a:pt x="8088" y="94"/>
                    <a:pt x="8067" y="72"/>
                    <a:pt x="8067" y="47"/>
                  </a:cubicBezTo>
                  <a:cubicBezTo>
                    <a:pt x="8067" y="21"/>
                    <a:pt x="8088" y="0"/>
                    <a:pt x="8114" y="0"/>
                  </a:cubicBezTo>
                  <a:cubicBezTo>
                    <a:pt x="8139" y="0"/>
                    <a:pt x="8161" y="21"/>
                    <a:pt x="8161" y="47"/>
                  </a:cubicBezTo>
                  <a:close/>
                  <a:moveTo>
                    <a:pt x="8262" y="47"/>
                  </a:moveTo>
                  <a:cubicBezTo>
                    <a:pt x="8262" y="72"/>
                    <a:pt x="8240" y="94"/>
                    <a:pt x="8215" y="94"/>
                  </a:cubicBezTo>
                  <a:cubicBezTo>
                    <a:pt x="8189" y="94"/>
                    <a:pt x="8168" y="72"/>
                    <a:pt x="8168" y="47"/>
                  </a:cubicBezTo>
                  <a:cubicBezTo>
                    <a:pt x="8168" y="21"/>
                    <a:pt x="8189" y="0"/>
                    <a:pt x="8215" y="0"/>
                  </a:cubicBezTo>
                  <a:cubicBezTo>
                    <a:pt x="8240" y="0"/>
                    <a:pt x="8262" y="21"/>
                    <a:pt x="8262" y="47"/>
                  </a:cubicBezTo>
                  <a:close/>
                  <a:moveTo>
                    <a:pt x="8363" y="47"/>
                  </a:moveTo>
                  <a:cubicBezTo>
                    <a:pt x="8363" y="72"/>
                    <a:pt x="8341" y="94"/>
                    <a:pt x="8316" y="94"/>
                  </a:cubicBezTo>
                  <a:cubicBezTo>
                    <a:pt x="8290" y="94"/>
                    <a:pt x="8269" y="72"/>
                    <a:pt x="8269" y="47"/>
                  </a:cubicBezTo>
                  <a:cubicBezTo>
                    <a:pt x="8269" y="21"/>
                    <a:pt x="8290" y="0"/>
                    <a:pt x="8316" y="0"/>
                  </a:cubicBezTo>
                  <a:cubicBezTo>
                    <a:pt x="8341" y="0"/>
                    <a:pt x="8363" y="21"/>
                    <a:pt x="8363" y="47"/>
                  </a:cubicBezTo>
                  <a:close/>
                  <a:moveTo>
                    <a:pt x="8463" y="47"/>
                  </a:moveTo>
                  <a:cubicBezTo>
                    <a:pt x="8463" y="72"/>
                    <a:pt x="8441" y="94"/>
                    <a:pt x="8416" y="94"/>
                  </a:cubicBezTo>
                  <a:cubicBezTo>
                    <a:pt x="8390" y="94"/>
                    <a:pt x="8369" y="72"/>
                    <a:pt x="8369" y="47"/>
                  </a:cubicBezTo>
                  <a:cubicBezTo>
                    <a:pt x="8369" y="21"/>
                    <a:pt x="8390" y="0"/>
                    <a:pt x="8416" y="0"/>
                  </a:cubicBezTo>
                  <a:cubicBezTo>
                    <a:pt x="8441" y="0"/>
                    <a:pt x="8463" y="21"/>
                    <a:pt x="8463" y="47"/>
                  </a:cubicBezTo>
                  <a:close/>
                  <a:moveTo>
                    <a:pt x="8564" y="47"/>
                  </a:moveTo>
                  <a:cubicBezTo>
                    <a:pt x="8564" y="72"/>
                    <a:pt x="8542" y="94"/>
                    <a:pt x="8517" y="94"/>
                  </a:cubicBezTo>
                  <a:cubicBezTo>
                    <a:pt x="8491" y="94"/>
                    <a:pt x="8470" y="72"/>
                    <a:pt x="8470" y="47"/>
                  </a:cubicBezTo>
                  <a:cubicBezTo>
                    <a:pt x="8470" y="21"/>
                    <a:pt x="8491" y="0"/>
                    <a:pt x="8517" y="0"/>
                  </a:cubicBezTo>
                  <a:cubicBezTo>
                    <a:pt x="8542" y="0"/>
                    <a:pt x="8564" y="21"/>
                    <a:pt x="8564" y="47"/>
                  </a:cubicBezTo>
                  <a:close/>
                  <a:moveTo>
                    <a:pt x="8665" y="47"/>
                  </a:moveTo>
                  <a:cubicBezTo>
                    <a:pt x="8665" y="72"/>
                    <a:pt x="8643" y="94"/>
                    <a:pt x="8618" y="94"/>
                  </a:cubicBezTo>
                  <a:cubicBezTo>
                    <a:pt x="8592" y="94"/>
                    <a:pt x="8571" y="72"/>
                    <a:pt x="8571" y="47"/>
                  </a:cubicBezTo>
                  <a:cubicBezTo>
                    <a:pt x="8571" y="21"/>
                    <a:pt x="8592" y="0"/>
                    <a:pt x="8618" y="0"/>
                  </a:cubicBezTo>
                  <a:cubicBezTo>
                    <a:pt x="8643" y="0"/>
                    <a:pt x="8665" y="21"/>
                    <a:pt x="8665" y="47"/>
                  </a:cubicBezTo>
                  <a:close/>
                  <a:moveTo>
                    <a:pt x="8766" y="47"/>
                  </a:moveTo>
                  <a:cubicBezTo>
                    <a:pt x="8766" y="72"/>
                    <a:pt x="8744" y="94"/>
                    <a:pt x="8719" y="94"/>
                  </a:cubicBezTo>
                  <a:cubicBezTo>
                    <a:pt x="8693" y="94"/>
                    <a:pt x="8672" y="72"/>
                    <a:pt x="8672" y="47"/>
                  </a:cubicBezTo>
                  <a:cubicBezTo>
                    <a:pt x="8672" y="21"/>
                    <a:pt x="8693" y="0"/>
                    <a:pt x="8719" y="0"/>
                  </a:cubicBezTo>
                  <a:cubicBezTo>
                    <a:pt x="8744" y="0"/>
                    <a:pt x="8766" y="21"/>
                    <a:pt x="8766" y="47"/>
                  </a:cubicBezTo>
                  <a:close/>
                  <a:moveTo>
                    <a:pt x="8867" y="47"/>
                  </a:moveTo>
                  <a:cubicBezTo>
                    <a:pt x="8867" y="72"/>
                    <a:pt x="8845" y="94"/>
                    <a:pt x="8820" y="94"/>
                  </a:cubicBezTo>
                  <a:cubicBezTo>
                    <a:pt x="8794" y="94"/>
                    <a:pt x="8773" y="72"/>
                    <a:pt x="8773" y="47"/>
                  </a:cubicBezTo>
                  <a:cubicBezTo>
                    <a:pt x="8773" y="21"/>
                    <a:pt x="8794" y="0"/>
                    <a:pt x="8820" y="0"/>
                  </a:cubicBezTo>
                  <a:cubicBezTo>
                    <a:pt x="8845" y="0"/>
                    <a:pt x="8867" y="21"/>
                    <a:pt x="8867" y="47"/>
                  </a:cubicBezTo>
                  <a:close/>
                  <a:moveTo>
                    <a:pt x="8967" y="47"/>
                  </a:moveTo>
                  <a:cubicBezTo>
                    <a:pt x="8967" y="72"/>
                    <a:pt x="8945" y="94"/>
                    <a:pt x="8920" y="94"/>
                  </a:cubicBezTo>
                  <a:cubicBezTo>
                    <a:pt x="8894" y="94"/>
                    <a:pt x="8873" y="72"/>
                    <a:pt x="8873" y="47"/>
                  </a:cubicBezTo>
                  <a:cubicBezTo>
                    <a:pt x="8873" y="21"/>
                    <a:pt x="8894" y="0"/>
                    <a:pt x="8920" y="0"/>
                  </a:cubicBezTo>
                  <a:cubicBezTo>
                    <a:pt x="8945" y="0"/>
                    <a:pt x="8967" y="21"/>
                    <a:pt x="8967" y="47"/>
                  </a:cubicBezTo>
                  <a:close/>
                  <a:moveTo>
                    <a:pt x="9068" y="47"/>
                  </a:moveTo>
                  <a:cubicBezTo>
                    <a:pt x="9068" y="72"/>
                    <a:pt x="9046" y="94"/>
                    <a:pt x="9021" y="94"/>
                  </a:cubicBezTo>
                  <a:cubicBezTo>
                    <a:pt x="8995" y="94"/>
                    <a:pt x="8974" y="72"/>
                    <a:pt x="8974" y="47"/>
                  </a:cubicBezTo>
                  <a:cubicBezTo>
                    <a:pt x="8974" y="21"/>
                    <a:pt x="8995" y="0"/>
                    <a:pt x="9021" y="0"/>
                  </a:cubicBezTo>
                  <a:cubicBezTo>
                    <a:pt x="9046" y="0"/>
                    <a:pt x="9068" y="21"/>
                    <a:pt x="9068" y="47"/>
                  </a:cubicBezTo>
                  <a:close/>
                  <a:moveTo>
                    <a:pt x="9169" y="47"/>
                  </a:moveTo>
                  <a:cubicBezTo>
                    <a:pt x="9169" y="72"/>
                    <a:pt x="9147" y="94"/>
                    <a:pt x="9122" y="94"/>
                  </a:cubicBezTo>
                  <a:cubicBezTo>
                    <a:pt x="9096" y="94"/>
                    <a:pt x="9075" y="72"/>
                    <a:pt x="9075" y="47"/>
                  </a:cubicBezTo>
                  <a:cubicBezTo>
                    <a:pt x="9075" y="21"/>
                    <a:pt x="9096" y="0"/>
                    <a:pt x="9122" y="0"/>
                  </a:cubicBezTo>
                  <a:cubicBezTo>
                    <a:pt x="9147" y="0"/>
                    <a:pt x="9169" y="21"/>
                    <a:pt x="9169" y="47"/>
                  </a:cubicBezTo>
                  <a:close/>
                  <a:moveTo>
                    <a:pt x="9270" y="47"/>
                  </a:moveTo>
                  <a:cubicBezTo>
                    <a:pt x="9270" y="72"/>
                    <a:pt x="9248" y="94"/>
                    <a:pt x="9223" y="94"/>
                  </a:cubicBezTo>
                  <a:cubicBezTo>
                    <a:pt x="9197" y="94"/>
                    <a:pt x="9176" y="72"/>
                    <a:pt x="9176" y="47"/>
                  </a:cubicBezTo>
                  <a:cubicBezTo>
                    <a:pt x="9176" y="21"/>
                    <a:pt x="9197" y="0"/>
                    <a:pt x="9223" y="0"/>
                  </a:cubicBezTo>
                  <a:cubicBezTo>
                    <a:pt x="9248" y="0"/>
                    <a:pt x="9270" y="21"/>
                    <a:pt x="9270" y="47"/>
                  </a:cubicBezTo>
                  <a:close/>
                  <a:moveTo>
                    <a:pt x="9371" y="47"/>
                  </a:moveTo>
                  <a:cubicBezTo>
                    <a:pt x="9371" y="72"/>
                    <a:pt x="9349" y="94"/>
                    <a:pt x="9324" y="94"/>
                  </a:cubicBezTo>
                  <a:cubicBezTo>
                    <a:pt x="9298" y="94"/>
                    <a:pt x="9277" y="72"/>
                    <a:pt x="9277" y="47"/>
                  </a:cubicBezTo>
                  <a:cubicBezTo>
                    <a:pt x="9277" y="21"/>
                    <a:pt x="9298" y="0"/>
                    <a:pt x="9324" y="0"/>
                  </a:cubicBezTo>
                  <a:cubicBezTo>
                    <a:pt x="9349" y="0"/>
                    <a:pt x="9371" y="21"/>
                    <a:pt x="9371" y="47"/>
                  </a:cubicBezTo>
                  <a:close/>
                  <a:moveTo>
                    <a:pt x="9471" y="47"/>
                  </a:moveTo>
                  <a:cubicBezTo>
                    <a:pt x="9471" y="72"/>
                    <a:pt x="9449" y="94"/>
                    <a:pt x="9424" y="94"/>
                  </a:cubicBezTo>
                  <a:cubicBezTo>
                    <a:pt x="9398" y="94"/>
                    <a:pt x="9377" y="72"/>
                    <a:pt x="9377" y="47"/>
                  </a:cubicBezTo>
                  <a:cubicBezTo>
                    <a:pt x="9377" y="21"/>
                    <a:pt x="9398" y="0"/>
                    <a:pt x="9424" y="0"/>
                  </a:cubicBezTo>
                  <a:cubicBezTo>
                    <a:pt x="9449" y="0"/>
                    <a:pt x="9471" y="21"/>
                    <a:pt x="9471" y="47"/>
                  </a:cubicBezTo>
                  <a:close/>
                  <a:moveTo>
                    <a:pt x="9572" y="47"/>
                  </a:moveTo>
                  <a:cubicBezTo>
                    <a:pt x="9572" y="72"/>
                    <a:pt x="9550" y="94"/>
                    <a:pt x="9525" y="94"/>
                  </a:cubicBezTo>
                  <a:cubicBezTo>
                    <a:pt x="9499" y="94"/>
                    <a:pt x="9478" y="72"/>
                    <a:pt x="9478" y="47"/>
                  </a:cubicBezTo>
                  <a:cubicBezTo>
                    <a:pt x="9478" y="21"/>
                    <a:pt x="9499" y="0"/>
                    <a:pt x="9525" y="0"/>
                  </a:cubicBezTo>
                  <a:cubicBezTo>
                    <a:pt x="9550" y="0"/>
                    <a:pt x="9572" y="21"/>
                    <a:pt x="9572" y="47"/>
                  </a:cubicBezTo>
                  <a:close/>
                  <a:moveTo>
                    <a:pt x="9673" y="47"/>
                  </a:moveTo>
                  <a:cubicBezTo>
                    <a:pt x="9673" y="72"/>
                    <a:pt x="9651" y="94"/>
                    <a:pt x="9626" y="94"/>
                  </a:cubicBezTo>
                  <a:cubicBezTo>
                    <a:pt x="9600" y="94"/>
                    <a:pt x="9579" y="72"/>
                    <a:pt x="9579" y="47"/>
                  </a:cubicBezTo>
                  <a:cubicBezTo>
                    <a:pt x="9579" y="21"/>
                    <a:pt x="9600" y="0"/>
                    <a:pt x="9626" y="0"/>
                  </a:cubicBezTo>
                  <a:cubicBezTo>
                    <a:pt x="9651" y="0"/>
                    <a:pt x="9673" y="21"/>
                    <a:pt x="9673" y="47"/>
                  </a:cubicBezTo>
                  <a:close/>
                  <a:moveTo>
                    <a:pt x="9774" y="47"/>
                  </a:moveTo>
                  <a:cubicBezTo>
                    <a:pt x="9774" y="72"/>
                    <a:pt x="9752" y="94"/>
                    <a:pt x="9727" y="94"/>
                  </a:cubicBezTo>
                  <a:cubicBezTo>
                    <a:pt x="9701" y="94"/>
                    <a:pt x="9680" y="72"/>
                    <a:pt x="9680" y="47"/>
                  </a:cubicBezTo>
                  <a:cubicBezTo>
                    <a:pt x="9680" y="21"/>
                    <a:pt x="9701" y="0"/>
                    <a:pt x="9727" y="0"/>
                  </a:cubicBezTo>
                  <a:cubicBezTo>
                    <a:pt x="9752" y="0"/>
                    <a:pt x="9774" y="21"/>
                    <a:pt x="9774" y="47"/>
                  </a:cubicBezTo>
                  <a:close/>
                  <a:moveTo>
                    <a:pt x="9875" y="47"/>
                  </a:moveTo>
                  <a:cubicBezTo>
                    <a:pt x="9875" y="72"/>
                    <a:pt x="9853" y="94"/>
                    <a:pt x="9828" y="94"/>
                  </a:cubicBezTo>
                  <a:cubicBezTo>
                    <a:pt x="9802" y="94"/>
                    <a:pt x="9781" y="72"/>
                    <a:pt x="9781" y="47"/>
                  </a:cubicBezTo>
                  <a:cubicBezTo>
                    <a:pt x="9781" y="21"/>
                    <a:pt x="9802" y="0"/>
                    <a:pt x="9828" y="0"/>
                  </a:cubicBezTo>
                  <a:cubicBezTo>
                    <a:pt x="9853" y="0"/>
                    <a:pt x="9875" y="21"/>
                    <a:pt x="9875" y="47"/>
                  </a:cubicBezTo>
                  <a:close/>
                  <a:moveTo>
                    <a:pt x="9975" y="47"/>
                  </a:moveTo>
                  <a:cubicBezTo>
                    <a:pt x="9975" y="72"/>
                    <a:pt x="9953" y="94"/>
                    <a:pt x="9928" y="94"/>
                  </a:cubicBezTo>
                  <a:cubicBezTo>
                    <a:pt x="9902" y="94"/>
                    <a:pt x="9881" y="72"/>
                    <a:pt x="9881" y="47"/>
                  </a:cubicBezTo>
                  <a:cubicBezTo>
                    <a:pt x="9881" y="21"/>
                    <a:pt x="9902" y="0"/>
                    <a:pt x="9928" y="0"/>
                  </a:cubicBezTo>
                  <a:cubicBezTo>
                    <a:pt x="9953" y="0"/>
                    <a:pt x="9975" y="21"/>
                    <a:pt x="9975" y="47"/>
                  </a:cubicBezTo>
                  <a:close/>
                  <a:moveTo>
                    <a:pt x="10076" y="47"/>
                  </a:moveTo>
                  <a:cubicBezTo>
                    <a:pt x="10076" y="72"/>
                    <a:pt x="10054" y="94"/>
                    <a:pt x="10029" y="94"/>
                  </a:cubicBezTo>
                  <a:cubicBezTo>
                    <a:pt x="10003" y="94"/>
                    <a:pt x="9982" y="72"/>
                    <a:pt x="9982" y="47"/>
                  </a:cubicBezTo>
                  <a:cubicBezTo>
                    <a:pt x="9982" y="21"/>
                    <a:pt x="10003" y="0"/>
                    <a:pt x="10029" y="0"/>
                  </a:cubicBezTo>
                  <a:cubicBezTo>
                    <a:pt x="10054" y="0"/>
                    <a:pt x="10076" y="21"/>
                    <a:pt x="10076" y="47"/>
                  </a:cubicBezTo>
                  <a:close/>
                  <a:moveTo>
                    <a:pt x="10177" y="47"/>
                  </a:moveTo>
                  <a:cubicBezTo>
                    <a:pt x="10177" y="72"/>
                    <a:pt x="10155" y="94"/>
                    <a:pt x="10130" y="94"/>
                  </a:cubicBezTo>
                  <a:cubicBezTo>
                    <a:pt x="10104" y="94"/>
                    <a:pt x="10083" y="72"/>
                    <a:pt x="10083" y="47"/>
                  </a:cubicBezTo>
                  <a:cubicBezTo>
                    <a:pt x="10083" y="21"/>
                    <a:pt x="10104" y="0"/>
                    <a:pt x="10130" y="0"/>
                  </a:cubicBezTo>
                  <a:cubicBezTo>
                    <a:pt x="10155" y="0"/>
                    <a:pt x="10177" y="21"/>
                    <a:pt x="10177" y="47"/>
                  </a:cubicBezTo>
                  <a:close/>
                  <a:moveTo>
                    <a:pt x="10278" y="47"/>
                  </a:moveTo>
                  <a:cubicBezTo>
                    <a:pt x="10278" y="72"/>
                    <a:pt x="10256" y="94"/>
                    <a:pt x="10231" y="94"/>
                  </a:cubicBezTo>
                  <a:cubicBezTo>
                    <a:pt x="10205" y="94"/>
                    <a:pt x="10184" y="72"/>
                    <a:pt x="10184" y="47"/>
                  </a:cubicBezTo>
                  <a:cubicBezTo>
                    <a:pt x="10184" y="21"/>
                    <a:pt x="10205" y="0"/>
                    <a:pt x="10231" y="0"/>
                  </a:cubicBezTo>
                  <a:cubicBezTo>
                    <a:pt x="10256" y="0"/>
                    <a:pt x="10278" y="21"/>
                    <a:pt x="10278" y="47"/>
                  </a:cubicBezTo>
                  <a:close/>
                  <a:moveTo>
                    <a:pt x="10379" y="47"/>
                  </a:moveTo>
                  <a:cubicBezTo>
                    <a:pt x="10379" y="72"/>
                    <a:pt x="10357" y="94"/>
                    <a:pt x="10332" y="94"/>
                  </a:cubicBezTo>
                  <a:cubicBezTo>
                    <a:pt x="10306" y="94"/>
                    <a:pt x="10285" y="72"/>
                    <a:pt x="10285" y="47"/>
                  </a:cubicBezTo>
                  <a:cubicBezTo>
                    <a:pt x="10285" y="21"/>
                    <a:pt x="10306" y="0"/>
                    <a:pt x="10332" y="0"/>
                  </a:cubicBezTo>
                  <a:cubicBezTo>
                    <a:pt x="10357" y="0"/>
                    <a:pt x="10379" y="21"/>
                    <a:pt x="10379" y="47"/>
                  </a:cubicBezTo>
                  <a:close/>
                  <a:moveTo>
                    <a:pt x="10479" y="47"/>
                  </a:moveTo>
                  <a:cubicBezTo>
                    <a:pt x="10479" y="72"/>
                    <a:pt x="10457" y="94"/>
                    <a:pt x="10432" y="94"/>
                  </a:cubicBezTo>
                  <a:cubicBezTo>
                    <a:pt x="10406" y="94"/>
                    <a:pt x="10385" y="72"/>
                    <a:pt x="10385" y="47"/>
                  </a:cubicBezTo>
                  <a:cubicBezTo>
                    <a:pt x="10385" y="21"/>
                    <a:pt x="10406" y="0"/>
                    <a:pt x="10432" y="0"/>
                  </a:cubicBezTo>
                  <a:cubicBezTo>
                    <a:pt x="10457" y="0"/>
                    <a:pt x="10479" y="21"/>
                    <a:pt x="10479" y="47"/>
                  </a:cubicBezTo>
                  <a:close/>
                  <a:moveTo>
                    <a:pt x="10580" y="47"/>
                  </a:moveTo>
                  <a:cubicBezTo>
                    <a:pt x="10580" y="72"/>
                    <a:pt x="10558" y="94"/>
                    <a:pt x="10533" y="94"/>
                  </a:cubicBezTo>
                  <a:cubicBezTo>
                    <a:pt x="10507" y="94"/>
                    <a:pt x="10486" y="72"/>
                    <a:pt x="10486" y="47"/>
                  </a:cubicBezTo>
                  <a:cubicBezTo>
                    <a:pt x="10486" y="21"/>
                    <a:pt x="10507" y="0"/>
                    <a:pt x="10533" y="0"/>
                  </a:cubicBezTo>
                  <a:cubicBezTo>
                    <a:pt x="10558" y="0"/>
                    <a:pt x="10580" y="21"/>
                    <a:pt x="10580" y="47"/>
                  </a:cubicBezTo>
                  <a:close/>
                  <a:moveTo>
                    <a:pt x="10681" y="47"/>
                  </a:moveTo>
                  <a:cubicBezTo>
                    <a:pt x="10681" y="72"/>
                    <a:pt x="10659" y="94"/>
                    <a:pt x="10634" y="94"/>
                  </a:cubicBezTo>
                  <a:cubicBezTo>
                    <a:pt x="10608" y="94"/>
                    <a:pt x="10587" y="72"/>
                    <a:pt x="10587" y="47"/>
                  </a:cubicBezTo>
                  <a:cubicBezTo>
                    <a:pt x="10587" y="21"/>
                    <a:pt x="10608" y="0"/>
                    <a:pt x="10634" y="0"/>
                  </a:cubicBezTo>
                  <a:cubicBezTo>
                    <a:pt x="10659" y="0"/>
                    <a:pt x="10681" y="21"/>
                    <a:pt x="10681" y="47"/>
                  </a:cubicBezTo>
                  <a:close/>
                  <a:moveTo>
                    <a:pt x="10782" y="47"/>
                  </a:moveTo>
                  <a:cubicBezTo>
                    <a:pt x="10782" y="72"/>
                    <a:pt x="10760" y="94"/>
                    <a:pt x="10735" y="94"/>
                  </a:cubicBezTo>
                  <a:cubicBezTo>
                    <a:pt x="10709" y="94"/>
                    <a:pt x="10688" y="72"/>
                    <a:pt x="10688" y="47"/>
                  </a:cubicBezTo>
                  <a:cubicBezTo>
                    <a:pt x="10688" y="21"/>
                    <a:pt x="10709" y="0"/>
                    <a:pt x="10735" y="0"/>
                  </a:cubicBezTo>
                  <a:cubicBezTo>
                    <a:pt x="10760" y="0"/>
                    <a:pt x="10782" y="21"/>
                    <a:pt x="10782" y="47"/>
                  </a:cubicBezTo>
                  <a:close/>
                  <a:moveTo>
                    <a:pt x="10883" y="47"/>
                  </a:moveTo>
                  <a:cubicBezTo>
                    <a:pt x="10883" y="72"/>
                    <a:pt x="10861" y="94"/>
                    <a:pt x="10836" y="94"/>
                  </a:cubicBezTo>
                  <a:cubicBezTo>
                    <a:pt x="10810" y="94"/>
                    <a:pt x="10789" y="72"/>
                    <a:pt x="10789" y="47"/>
                  </a:cubicBezTo>
                  <a:cubicBezTo>
                    <a:pt x="10789" y="21"/>
                    <a:pt x="10810" y="0"/>
                    <a:pt x="10836" y="0"/>
                  </a:cubicBezTo>
                  <a:cubicBezTo>
                    <a:pt x="10861" y="0"/>
                    <a:pt x="10883" y="21"/>
                    <a:pt x="10883" y="47"/>
                  </a:cubicBezTo>
                  <a:close/>
                  <a:moveTo>
                    <a:pt x="10983" y="47"/>
                  </a:moveTo>
                  <a:cubicBezTo>
                    <a:pt x="10983" y="72"/>
                    <a:pt x="10961" y="94"/>
                    <a:pt x="10936" y="94"/>
                  </a:cubicBezTo>
                  <a:cubicBezTo>
                    <a:pt x="10910" y="94"/>
                    <a:pt x="10889" y="72"/>
                    <a:pt x="10889" y="47"/>
                  </a:cubicBezTo>
                  <a:cubicBezTo>
                    <a:pt x="10889" y="21"/>
                    <a:pt x="10910" y="0"/>
                    <a:pt x="10936" y="0"/>
                  </a:cubicBezTo>
                  <a:cubicBezTo>
                    <a:pt x="10961" y="0"/>
                    <a:pt x="10983" y="21"/>
                    <a:pt x="10983" y="47"/>
                  </a:cubicBezTo>
                  <a:close/>
                  <a:moveTo>
                    <a:pt x="11084" y="47"/>
                  </a:moveTo>
                  <a:cubicBezTo>
                    <a:pt x="11084" y="72"/>
                    <a:pt x="11062" y="94"/>
                    <a:pt x="11037" y="94"/>
                  </a:cubicBezTo>
                  <a:cubicBezTo>
                    <a:pt x="11011" y="94"/>
                    <a:pt x="10990" y="72"/>
                    <a:pt x="10990" y="47"/>
                  </a:cubicBezTo>
                  <a:cubicBezTo>
                    <a:pt x="10990" y="21"/>
                    <a:pt x="11011" y="0"/>
                    <a:pt x="11037" y="0"/>
                  </a:cubicBezTo>
                  <a:cubicBezTo>
                    <a:pt x="11062" y="0"/>
                    <a:pt x="11084" y="21"/>
                    <a:pt x="11084" y="47"/>
                  </a:cubicBezTo>
                  <a:close/>
                  <a:moveTo>
                    <a:pt x="11185" y="47"/>
                  </a:moveTo>
                  <a:cubicBezTo>
                    <a:pt x="11185" y="72"/>
                    <a:pt x="11163" y="94"/>
                    <a:pt x="11138" y="94"/>
                  </a:cubicBezTo>
                  <a:cubicBezTo>
                    <a:pt x="11112" y="94"/>
                    <a:pt x="11091" y="72"/>
                    <a:pt x="11091" y="47"/>
                  </a:cubicBezTo>
                  <a:cubicBezTo>
                    <a:pt x="11091" y="21"/>
                    <a:pt x="11112" y="0"/>
                    <a:pt x="11138" y="0"/>
                  </a:cubicBezTo>
                  <a:cubicBezTo>
                    <a:pt x="11163" y="0"/>
                    <a:pt x="11185" y="21"/>
                    <a:pt x="11185" y="47"/>
                  </a:cubicBezTo>
                  <a:close/>
                  <a:moveTo>
                    <a:pt x="11286" y="47"/>
                  </a:moveTo>
                  <a:cubicBezTo>
                    <a:pt x="11286" y="72"/>
                    <a:pt x="11264" y="94"/>
                    <a:pt x="11239" y="94"/>
                  </a:cubicBezTo>
                  <a:cubicBezTo>
                    <a:pt x="11213" y="94"/>
                    <a:pt x="11192" y="72"/>
                    <a:pt x="11192" y="47"/>
                  </a:cubicBezTo>
                  <a:cubicBezTo>
                    <a:pt x="11192" y="21"/>
                    <a:pt x="11213" y="0"/>
                    <a:pt x="11239" y="0"/>
                  </a:cubicBezTo>
                  <a:cubicBezTo>
                    <a:pt x="11264" y="0"/>
                    <a:pt x="11286" y="21"/>
                    <a:pt x="11286" y="47"/>
                  </a:cubicBezTo>
                  <a:close/>
                  <a:moveTo>
                    <a:pt x="11387" y="47"/>
                  </a:moveTo>
                  <a:cubicBezTo>
                    <a:pt x="11387" y="72"/>
                    <a:pt x="11365" y="94"/>
                    <a:pt x="11340" y="94"/>
                  </a:cubicBezTo>
                  <a:cubicBezTo>
                    <a:pt x="11314" y="94"/>
                    <a:pt x="11293" y="72"/>
                    <a:pt x="11293" y="47"/>
                  </a:cubicBezTo>
                  <a:cubicBezTo>
                    <a:pt x="11293" y="21"/>
                    <a:pt x="11314" y="0"/>
                    <a:pt x="11340" y="0"/>
                  </a:cubicBezTo>
                  <a:cubicBezTo>
                    <a:pt x="11365" y="0"/>
                    <a:pt x="11387" y="21"/>
                    <a:pt x="11387" y="47"/>
                  </a:cubicBezTo>
                  <a:close/>
                  <a:moveTo>
                    <a:pt x="11487" y="47"/>
                  </a:moveTo>
                  <a:cubicBezTo>
                    <a:pt x="11487" y="72"/>
                    <a:pt x="11465" y="94"/>
                    <a:pt x="11440" y="94"/>
                  </a:cubicBezTo>
                  <a:cubicBezTo>
                    <a:pt x="11414" y="94"/>
                    <a:pt x="11393" y="72"/>
                    <a:pt x="11393" y="47"/>
                  </a:cubicBezTo>
                  <a:cubicBezTo>
                    <a:pt x="11393" y="21"/>
                    <a:pt x="11414" y="0"/>
                    <a:pt x="11440" y="0"/>
                  </a:cubicBezTo>
                  <a:cubicBezTo>
                    <a:pt x="11465" y="0"/>
                    <a:pt x="11487" y="21"/>
                    <a:pt x="11487" y="47"/>
                  </a:cubicBezTo>
                  <a:close/>
                  <a:moveTo>
                    <a:pt x="11588" y="47"/>
                  </a:moveTo>
                  <a:cubicBezTo>
                    <a:pt x="11588" y="72"/>
                    <a:pt x="11566" y="94"/>
                    <a:pt x="11541" y="94"/>
                  </a:cubicBezTo>
                  <a:cubicBezTo>
                    <a:pt x="11515" y="94"/>
                    <a:pt x="11494" y="72"/>
                    <a:pt x="11494" y="47"/>
                  </a:cubicBezTo>
                  <a:cubicBezTo>
                    <a:pt x="11494" y="21"/>
                    <a:pt x="11515" y="0"/>
                    <a:pt x="11541" y="0"/>
                  </a:cubicBezTo>
                  <a:cubicBezTo>
                    <a:pt x="11566" y="0"/>
                    <a:pt x="11588" y="21"/>
                    <a:pt x="11588" y="47"/>
                  </a:cubicBezTo>
                  <a:close/>
                  <a:moveTo>
                    <a:pt x="11689" y="47"/>
                  </a:moveTo>
                  <a:cubicBezTo>
                    <a:pt x="11689" y="72"/>
                    <a:pt x="11667" y="94"/>
                    <a:pt x="11642" y="94"/>
                  </a:cubicBezTo>
                  <a:cubicBezTo>
                    <a:pt x="11616" y="94"/>
                    <a:pt x="11595" y="72"/>
                    <a:pt x="11595" y="47"/>
                  </a:cubicBezTo>
                  <a:cubicBezTo>
                    <a:pt x="11595" y="21"/>
                    <a:pt x="11616" y="0"/>
                    <a:pt x="11642" y="0"/>
                  </a:cubicBezTo>
                  <a:cubicBezTo>
                    <a:pt x="11667" y="0"/>
                    <a:pt x="11689" y="21"/>
                    <a:pt x="11689" y="47"/>
                  </a:cubicBezTo>
                  <a:close/>
                  <a:moveTo>
                    <a:pt x="11790" y="47"/>
                  </a:moveTo>
                  <a:cubicBezTo>
                    <a:pt x="11790" y="72"/>
                    <a:pt x="11768" y="94"/>
                    <a:pt x="11743" y="94"/>
                  </a:cubicBezTo>
                  <a:cubicBezTo>
                    <a:pt x="11717" y="94"/>
                    <a:pt x="11696" y="72"/>
                    <a:pt x="11696" y="47"/>
                  </a:cubicBezTo>
                  <a:cubicBezTo>
                    <a:pt x="11696" y="21"/>
                    <a:pt x="11717" y="0"/>
                    <a:pt x="11743" y="0"/>
                  </a:cubicBezTo>
                  <a:cubicBezTo>
                    <a:pt x="11768" y="0"/>
                    <a:pt x="11790" y="21"/>
                    <a:pt x="11790" y="47"/>
                  </a:cubicBezTo>
                  <a:close/>
                  <a:moveTo>
                    <a:pt x="11891" y="47"/>
                  </a:moveTo>
                  <a:cubicBezTo>
                    <a:pt x="11891" y="72"/>
                    <a:pt x="11869" y="94"/>
                    <a:pt x="11844" y="94"/>
                  </a:cubicBezTo>
                  <a:cubicBezTo>
                    <a:pt x="11818" y="94"/>
                    <a:pt x="11797" y="72"/>
                    <a:pt x="11797" y="47"/>
                  </a:cubicBezTo>
                  <a:cubicBezTo>
                    <a:pt x="11797" y="21"/>
                    <a:pt x="11818" y="0"/>
                    <a:pt x="11844" y="0"/>
                  </a:cubicBezTo>
                  <a:cubicBezTo>
                    <a:pt x="11869" y="0"/>
                    <a:pt x="11891" y="21"/>
                    <a:pt x="11891" y="47"/>
                  </a:cubicBezTo>
                  <a:close/>
                  <a:moveTo>
                    <a:pt x="11991" y="47"/>
                  </a:moveTo>
                  <a:cubicBezTo>
                    <a:pt x="11991" y="72"/>
                    <a:pt x="11969" y="94"/>
                    <a:pt x="11944" y="94"/>
                  </a:cubicBezTo>
                  <a:cubicBezTo>
                    <a:pt x="11918" y="94"/>
                    <a:pt x="11897" y="72"/>
                    <a:pt x="11897" y="47"/>
                  </a:cubicBezTo>
                  <a:cubicBezTo>
                    <a:pt x="11897" y="21"/>
                    <a:pt x="11918" y="0"/>
                    <a:pt x="11944" y="0"/>
                  </a:cubicBezTo>
                  <a:cubicBezTo>
                    <a:pt x="11969" y="0"/>
                    <a:pt x="11991" y="21"/>
                    <a:pt x="11991" y="47"/>
                  </a:cubicBezTo>
                  <a:close/>
                  <a:moveTo>
                    <a:pt x="12092" y="47"/>
                  </a:moveTo>
                  <a:cubicBezTo>
                    <a:pt x="12092" y="72"/>
                    <a:pt x="12070" y="94"/>
                    <a:pt x="12045" y="94"/>
                  </a:cubicBezTo>
                  <a:cubicBezTo>
                    <a:pt x="12019" y="94"/>
                    <a:pt x="11998" y="72"/>
                    <a:pt x="11998" y="47"/>
                  </a:cubicBezTo>
                  <a:cubicBezTo>
                    <a:pt x="11998" y="21"/>
                    <a:pt x="12019" y="0"/>
                    <a:pt x="12045" y="0"/>
                  </a:cubicBezTo>
                  <a:cubicBezTo>
                    <a:pt x="12070" y="0"/>
                    <a:pt x="12092" y="21"/>
                    <a:pt x="12092" y="47"/>
                  </a:cubicBezTo>
                  <a:close/>
                  <a:moveTo>
                    <a:pt x="12193" y="47"/>
                  </a:moveTo>
                  <a:cubicBezTo>
                    <a:pt x="12193" y="72"/>
                    <a:pt x="12171" y="94"/>
                    <a:pt x="12146" y="94"/>
                  </a:cubicBezTo>
                  <a:cubicBezTo>
                    <a:pt x="12120" y="94"/>
                    <a:pt x="12099" y="72"/>
                    <a:pt x="12099" y="47"/>
                  </a:cubicBezTo>
                  <a:cubicBezTo>
                    <a:pt x="12099" y="21"/>
                    <a:pt x="12120" y="0"/>
                    <a:pt x="12146" y="0"/>
                  </a:cubicBezTo>
                  <a:cubicBezTo>
                    <a:pt x="12171" y="0"/>
                    <a:pt x="12193" y="21"/>
                    <a:pt x="12193" y="47"/>
                  </a:cubicBezTo>
                  <a:close/>
                  <a:moveTo>
                    <a:pt x="12294" y="47"/>
                  </a:moveTo>
                  <a:cubicBezTo>
                    <a:pt x="12294" y="72"/>
                    <a:pt x="12272" y="94"/>
                    <a:pt x="12247" y="94"/>
                  </a:cubicBezTo>
                  <a:cubicBezTo>
                    <a:pt x="12221" y="94"/>
                    <a:pt x="12200" y="72"/>
                    <a:pt x="12200" y="47"/>
                  </a:cubicBezTo>
                  <a:cubicBezTo>
                    <a:pt x="12200" y="21"/>
                    <a:pt x="12221" y="0"/>
                    <a:pt x="12247" y="0"/>
                  </a:cubicBezTo>
                  <a:cubicBezTo>
                    <a:pt x="12272" y="0"/>
                    <a:pt x="12294" y="21"/>
                    <a:pt x="12294" y="47"/>
                  </a:cubicBezTo>
                  <a:close/>
                  <a:moveTo>
                    <a:pt x="12395" y="47"/>
                  </a:moveTo>
                  <a:cubicBezTo>
                    <a:pt x="12395" y="72"/>
                    <a:pt x="12373" y="94"/>
                    <a:pt x="12348" y="94"/>
                  </a:cubicBezTo>
                  <a:cubicBezTo>
                    <a:pt x="12322" y="94"/>
                    <a:pt x="12301" y="72"/>
                    <a:pt x="12301" y="47"/>
                  </a:cubicBezTo>
                  <a:cubicBezTo>
                    <a:pt x="12301" y="21"/>
                    <a:pt x="12322" y="0"/>
                    <a:pt x="12348" y="0"/>
                  </a:cubicBezTo>
                  <a:cubicBezTo>
                    <a:pt x="12373" y="0"/>
                    <a:pt x="12395" y="21"/>
                    <a:pt x="12395" y="47"/>
                  </a:cubicBezTo>
                  <a:close/>
                  <a:moveTo>
                    <a:pt x="12495" y="47"/>
                  </a:moveTo>
                  <a:cubicBezTo>
                    <a:pt x="12495" y="72"/>
                    <a:pt x="12473" y="94"/>
                    <a:pt x="12448" y="94"/>
                  </a:cubicBezTo>
                  <a:cubicBezTo>
                    <a:pt x="12422" y="94"/>
                    <a:pt x="12401" y="72"/>
                    <a:pt x="12401" y="47"/>
                  </a:cubicBezTo>
                  <a:cubicBezTo>
                    <a:pt x="12401" y="21"/>
                    <a:pt x="12422" y="0"/>
                    <a:pt x="12448" y="0"/>
                  </a:cubicBezTo>
                  <a:cubicBezTo>
                    <a:pt x="12473" y="0"/>
                    <a:pt x="12495" y="21"/>
                    <a:pt x="12495" y="47"/>
                  </a:cubicBezTo>
                  <a:close/>
                  <a:moveTo>
                    <a:pt x="12596" y="47"/>
                  </a:moveTo>
                  <a:cubicBezTo>
                    <a:pt x="12596" y="72"/>
                    <a:pt x="12574" y="94"/>
                    <a:pt x="12549" y="94"/>
                  </a:cubicBezTo>
                  <a:cubicBezTo>
                    <a:pt x="12523" y="94"/>
                    <a:pt x="12502" y="72"/>
                    <a:pt x="12502" y="47"/>
                  </a:cubicBezTo>
                  <a:cubicBezTo>
                    <a:pt x="12502" y="21"/>
                    <a:pt x="12523" y="0"/>
                    <a:pt x="12549" y="0"/>
                  </a:cubicBezTo>
                  <a:cubicBezTo>
                    <a:pt x="12574" y="0"/>
                    <a:pt x="12596" y="21"/>
                    <a:pt x="12596" y="47"/>
                  </a:cubicBezTo>
                  <a:close/>
                  <a:moveTo>
                    <a:pt x="97" y="373"/>
                  </a:moveTo>
                  <a:cubicBezTo>
                    <a:pt x="97" y="398"/>
                    <a:pt x="75" y="420"/>
                    <a:pt x="50" y="420"/>
                  </a:cubicBezTo>
                  <a:cubicBezTo>
                    <a:pt x="24" y="420"/>
                    <a:pt x="3" y="398"/>
                    <a:pt x="3" y="373"/>
                  </a:cubicBezTo>
                  <a:cubicBezTo>
                    <a:pt x="3" y="347"/>
                    <a:pt x="24" y="326"/>
                    <a:pt x="50" y="326"/>
                  </a:cubicBezTo>
                  <a:cubicBezTo>
                    <a:pt x="75" y="326"/>
                    <a:pt x="97" y="347"/>
                    <a:pt x="97" y="373"/>
                  </a:cubicBezTo>
                  <a:close/>
                  <a:moveTo>
                    <a:pt x="198" y="373"/>
                  </a:moveTo>
                  <a:cubicBezTo>
                    <a:pt x="198" y="398"/>
                    <a:pt x="176" y="420"/>
                    <a:pt x="151" y="420"/>
                  </a:cubicBezTo>
                  <a:cubicBezTo>
                    <a:pt x="125" y="420"/>
                    <a:pt x="104" y="398"/>
                    <a:pt x="104" y="373"/>
                  </a:cubicBezTo>
                  <a:cubicBezTo>
                    <a:pt x="104" y="347"/>
                    <a:pt x="125" y="326"/>
                    <a:pt x="151" y="326"/>
                  </a:cubicBezTo>
                  <a:cubicBezTo>
                    <a:pt x="176" y="326"/>
                    <a:pt x="198" y="347"/>
                    <a:pt x="198" y="373"/>
                  </a:cubicBezTo>
                  <a:close/>
                  <a:moveTo>
                    <a:pt x="299" y="373"/>
                  </a:moveTo>
                  <a:cubicBezTo>
                    <a:pt x="299" y="398"/>
                    <a:pt x="277" y="420"/>
                    <a:pt x="252" y="420"/>
                  </a:cubicBezTo>
                  <a:cubicBezTo>
                    <a:pt x="226" y="420"/>
                    <a:pt x="205" y="398"/>
                    <a:pt x="205" y="373"/>
                  </a:cubicBezTo>
                  <a:cubicBezTo>
                    <a:pt x="205" y="347"/>
                    <a:pt x="226" y="326"/>
                    <a:pt x="252" y="326"/>
                  </a:cubicBezTo>
                  <a:cubicBezTo>
                    <a:pt x="277" y="326"/>
                    <a:pt x="299" y="347"/>
                    <a:pt x="299" y="373"/>
                  </a:cubicBezTo>
                  <a:close/>
                  <a:moveTo>
                    <a:pt x="399" y="373"/>
                  </a:moveTo>
                  <a:cubicBezTo>
                    <a:pt x="399" y="398"/>
                    <a:pt x="377" y="420"/>
                    <a:pt x="352" y="420"/>
                  </a:cubicBezTo>
                  <a:cubicBezTo>
                    <a:pt x="326" y="420"/>
                    <a:pt x="305" y="398"/>
                    <a:pt x="305" y="373"/>
                  </a:cubicBezTo>
                  <a:cubicBezTo>
                    <a:pt x="305" y="347"/>
                    <a:pt x="326" y="326"/>
                    <a:pt x="352" y="326"/>
                  </a:cubicBezTo>
                  <a:cubicBezTo>
                    <a:pt x="377" y="326"/>
                    <a:pt x="399" y="347"/>
                    <a:pt x="399" y="373"/>
                  </a:cubicBezTo>
                  <a:close/>
                  <a:moveTo>
                    <a:pt x="500" y="373"/>
                  </a:moveTo>
                  <a:cubicBezTo>
                    <a:pt x="500" y="398"/>
                    <a:pt x="478" y="420"/>
                    <a:pt x="453" y="420"/>
                  </a:cubicBezTo>
                  <a:cubicBezTo>
                    <a:pt x="427" y="420"/>
                    <a:pt x="406" y="398"/>
                    <a:pt x="406" y="373"/>
                  </a:cubicBezTo>
                  <a:cubicBezTo>
                    <a:pt x="406" y="347"/>
                    <a:pt x="427" y="326"/>
                    <a:pt x="453" y="326"/>
                  </a:cubicBezTo>
                  <a:cubicBezTo>
                    <a:pt x="478" y="326"/>
                    <a:pt x="500" y="347"/>
                    <a:pt x="500" y="373"/>
                  </a:cubicBezTo>
                  <a:close/>
                  <a:moveTo>
                    <a:pt x="601" y="373"/>
                  </a:moveTo>
                  <a:cubicBezTo>
                    <a:pt x="601" y="398"/>
                    <a:pt x="579" y="420"/>
                    <a:pt x="554" y="420"/>
                  </a:cubicBezTo>
                  <a:cubicBezTo>
                    <a:pt x="528" y="420"/>
                    <a:pt x="507" y="398"/>
                    <a:pt x="507" y="373"/>
                  </a:cubicBezTo>
                  <a:cubicBezTo>
                    <a:pt x="507" y="347"/>
                    <a:pt x="528" y="326"/>
                    <a:pt x="554" y="326"/>
                  </a:cubicBezTo>
                  <a:cubicBezTo>
                    <a:pt x="579" y="326"/>
                    <a:pt x="601" y="347"/>
                    <a:pt x="601" y="373"/>
                  </a:cubicBezTo>
                  <a:close/>
                  <a:moveTo>
                    <a:pt x="702" y="373"/>
                  </a:moveTo>
                  <a:cubicBezTo>
                    <a:pt x="702" y="398"/>
                    <a:pt x="680" y="420"/>
                    <a:pt x="655" y="420"/>
                  </a:cubicBezTo>
                  <a:cubicBezTo>
                    <a:pt x="629" y="420"/>
                    <a:pt x="608" y="398"/>
                    <a:pt x="608" y="373"/>
                  </a:cubicBezTo>
                  <a:cubicBezTo>
                    <a:pt x="608" y="347"/>
                    <a:pt x="629" y="326"/>
                    <a:pt x="655" y="326"/>
                  </a:cubicBezTo>
                  <a:cubicBezTo>
                    <a:pt x="680" y="326"/>
                    <a:pt x="702" y="347"/>
                    <a:pt x="702" y="373"/>
                  </a:cubicBezTo>
                  <a:close/>
                  <a:moveTo>
                    <a:pt x="803" y="373"/>
                  </a:moveTo>
                  <a:cubicBezTo>
                    <a:pt x="803" y="398"/>
                    <a:pt x="781" y="420"/>
                    <a:pt x="756" y="420"/>
                  </a:cubicBezTo>
                  <a:cubicBezTo>
                    <a:pt x="730" y="420"/>
                    <a:pt x="709" y="398"/>
                    <a:pt x="709" y="373"/>
                  </a:cubicBezTo>
                  <a:cubicBezTo>
                    <a:pt x="709" y="347"/>
                    <a:pt x="730" y="326"/>
                    <a:pt x="756" y="326"/>
                  </a:cubicBezTo>
                  <a:cubicBezTo>
                    <a:pt x="781" y="326"/>
                    <a:pt x="803" y="347"/>
                    <a:pt x="803" y="373"/>
                  </a:cubicBezTo>
                  <a:close/>
                  <a:moveTo>
                    <a:pt x="903" y="373"/>
                  </a:moveTo>
                  <a:cubicBezTo>
                    <a:pt x="903" y="398"/>
                    <a:pt x="881" y="420"/>
                    <a:pt x="856" y="420"/>
                  </a:cubicBezTo>
                  <a:cubicBezTo>
                    <a:pt x="830" y="420"/>
                    <a:pt x="809" y="398"/>
                    <a:pt x="809" y="373"/>
                  </a:cubicBezTo>
                  <a:cubicBezTo>
                    <a:pt x="809" y="347"/>
                    <a:pt x="830" y="326"/>
                    <a:pt x="856" y="326"/>
                  </a:cubicBezTo>
                  <a:cubicBezTo>
                    <a:pt x="881" y="326"/>
                    <a:pt x="903" y="347"/>
                    <a:pt x="903" y="373"/>
                  </a:cubicBezTo>
                  <a:close/>
                  <a:moveTo>
                    <a:pt x="1004" y="373"/>
                  </a:moveTo>
                  <a:cubicBezTo>
                    <a:pt x="1004" y="398"/>
                    <a:pt x="982" y="420"/>
                    <a:pt x="957" y="420"/>
                  </a:cubicBezTo>
                  <a:cubicBezTo>
                    <a:pt x="931" y="420"/>
                    <a:pt x="910" y="398"/>
                    <a:pt x="910" y="373"/>
                  </a:cubicBezTo>
                  <a:cubicBezTo>
                    <a:pt x="910" y="347"/>
                    <a:pt x="931" y="326"/>
                    <a:pt x="957" y="326"/>
                  </a:cubicBezTo>
                  <a:cubicBezTo>
                    <a:pt x="982" y="326"/>
                    <a:pt x="1004" y="347"/>
                    <a:pt x="1004" y="373"/>
                  </a:cubicBezTo>
                  <a:close/>
                  <a:moveTo>
                    <a:pt x="1105" y="373"/>
                  </a:moveTo>
                  <a:cubicBezTo>
                    <a:pt x="1105" y="398"/>
                    <a:pt x="1083" y="420"/>
                    <a:pt x="1058" y="420"/>
                  </a:cubicBezTo>
                  <a:cubicBezTo>
                    <a:pt x="1032" y="420"/>
                    <a:pt x="1011" y="398"/>
                    <a:pt x="1011" y="373"/>
                  </a:cubicBezTo>
                  <a:cubicBezTo>
                    <a:pt x="1011" y="347"/>
                    <a:pt x="1032" y="326"/>
                    <a:pt x="1058" y="326"/>
                  </a:cubicBezTo>
                  <a:cubicBezTo>
                    <a:pt x="1083" y="326"/>
                    <a:pt x="1105" y="347"/>
                    <a:pt x="1105" y="373"/>
                  </a:cubicBezTo>
                  <a:close/>
                  <a:moveTo>
                    <a:pt x="1206" y="373"/>
                  </a:moveTo>
                  <a:cubicBezTo>
                    <a:pt x="1206" y="398"/>
                    <a:pt x="1184" y="420"/>
                    <a:pt x="1159" y="420"/>
                  </a:cubicBezTo>
                  <a:cubicBezTo>
                    <a:pt x="1133" y="420"/>
                    <a:pt x="1112" y="398"/>
                    <a:pt x="1112" y="373"/>
                  </a:cubicBezTo>
                  <a:cubicBezTo>
                    <a:pt x="1112" y="347"/>
                    <a:pt x="1133" y="326"/>
                    <a:pt x="1159" y="326"/>
                  </a:cubicBezTo>
                  <a:cubicBezTo>
                    <a:pt x="1184" y="326"/>
                    <a:pt x="1206" y="347"/>
                    <a:pt x="1206" y="373"/>
                  </a:cubicBezTo>
                  <a:close/>
                  <a:moveTo>
                    <a:pt x="1307" y="373"/>
                  </a:moveTo>
                  <a:cubicBezTo>
                    <a:pt x="1307" y="398"/>
                    <a:pt x="1285" y="420"/>
                    <a:pt x="1260" y="420"/>
                  </a:cubicBezTo>
                  <a:cubicBezTo>
                    <a:pt x="1234" y="420"/>
                    <a:pt x="1213" y="398"/>
                    <a:pt x="1213" y="373"/>
                  </a:cubicBezTo>
                  <a:cubicBezTo>
                    <a:pt x="1213" y="347"/>
                    <a:pt x="1234" y="326"/>
                    <a:pt x="1260" y="326"/>
                  </a:cubicBezTo>
                  <a:cubicBezTo>
                    <a:pt x="1285" y="326"/>
                    <a:pt x="1307" y="347"/>
                    <a:pt x="1307" y="373"/>
                  </a:cubicBezTo>
                  <a:close/>
                  <a:moveTo>
                    <a:pt x="1407" y="373"/>
                  </a:moveTo>
                  <a:cubicBezTo>
                    <a:pt x="1407" y="398"/>
                    <a:pt x="1385" y="420"/>
                    <a:pt x="1360" y="420"/>
                  </a:cubicBezTo>
                  <a:cubicBezTo>
                    <a:pt x="1334" y="420"/>
                    <a:pt x="1313" y="398"/>
                    <a:pt x="1313" y="373"/>
                  </a:cubicBezTo>
                  <a:cubicBezTo>
                    <a:pt x="1313" y="347"/>
                    <a:pt x="1334" y="326"/>
                    <a:pt x="1360" y="326"/>
                  </a:cubicBezTo>
                  <a:cubicBezTo>
                    <a:pt x="1385" y="326"/>
                    <a:pt x="1407" y="347"/>
                    <a:pt x="1407" y="373"/>
                  </a:cubicBezTo>
                  <a:close/>
                  <a:moveTo>
                    <a:pt x="1508" y="373"/>
                  </a:moveTo>
                  <a:cubicBezTo>
                    <a:pt x="1508" y="398"/>
                    <a:pt x="1486" y="420"/>
                    <a:pt x="1461" y="420"/>
                  </a:cubicBezTo>
                  <a:cubicBezTo>
                    <a:pt x="1435" y="420"/>
                    <a:pt x="1414" y="398"/>
                    <a:pt x="1414" y="373"/>
                  </a:cubicBezTo>
                  <a:cubicBezTo>
                    <a:pt x="1414" y="347"/>
                    <a:pt x="1435" y="326"/>
                    <a:pt x="1461" y="326"/>
                  </a:cubicBezTo>
                  <a:cubicBezTo>
                    <a:pt x="1486" y="326"/>
                    <a:pt x="1508" y="347"/>
                    <a:pt x="1508" y="373"/>
                  </a:cubicBezTo>
                  <a:close/>
                  <a:moveTo>
                    <a:pt x="1609" y="373"/>
                  </a:moveTo>
                  <a:cubicBezTo>
                    <a:pt x="1609" y="398"/>
                    <a:pt x="1587" y="420"/>
                    <a:pt x="1562" y="420"/>
                  </a:cubicBezTo>
                  <a:cubicBezTo>
                    <a:pt x="1536" y="420"/>
                    <a:pt x="1515" y="398"/>
                    <a:pt x="1515" y="373"/>
                  </a:cubicBezTo>
                  <a:cubicBezTo>
                    <a:pt x="1515" y="347"/>
                    <a:pt x="1536" y="326"/>
                    <a:pt x="1562" y="326"/>
                  </a:cubicBezTo>
                  <a:cubicBezTo>
                    <a:pt x="1587" y="326"/>
                    <a:pt x="1609" y="347"/>
                    <a:pt x="1609" y="373"/>
                  </a:cubicBezTo>
                  <a:close/>
                  <a:moveTo>
                    <a:pt x="1710" y="373"/>
                  </a:moveTo>
                  <a:cubicBezTo>
                    <a:pt x="1710" y="398"/>
                    <a:pt x="1688" y="420"/>
                    <a:pt x="1663" y="420"/>
                  </a:cubicBezTo>
                  <a:cubicBezTo>
                    <a:pt x="1637" y="420"/>
                    <a:pt x="1616" y="398"/>
                    <a:pt x="1616" y="373"/>
                  </a:cubicBezTo>
                  <a:cubicBezTo>
                    <a:pt x="1616" y="347"/>
                    <a:pt x="1637" y="326"/>
                    <a:pt x="1663" y="326"/>
                  </a:cubicBezTo>
                  <a:cubicBezTo>
                    <a:pt x="1688" y="326"/>
                    <a:pt x="1710" y="347"/>
                    <a:pt x="1710" y="373"/>
                  </a:cubicBezTo>
                  <a:close/>
                  <a:moveTo>
                    <a:pt x="1811" y="373"/>
                  </a:moveTo>
                  <a:cubicBezTo>
                    <a:pt x="1811" y="398"/>
                    <a:pt x="1789" y="420"/>
                    <a:pt x="1764" y="420"/>
                  </a:cubicBezTo>
                  <a:cubicBezTo>
                    <a:pt x="1738" y="420"/>
                    <a:pt x="1717" y="398"/>
                    <a:pt x="1717" y="373"/>
                  </a:cubicBezTo>
                  <a:cubicBezTo>
                    <a:pt x="1717" y="347"/>
                    <a:pt x="1738" y="326"/>
                    <a:pt x="1764" y="326"/>
                  </a:cubicBezTo>
                  <a:cubicBezTo>
                    <a:pt x="1789" y="326"/>
                    <a:pt x="1811" y="347"/>
                    <a:pt x="1811" y="373"/>
                  </a:cubicBezTo>
                  <a:close/>
                  <a:moveTo>
                    <a:pt x="1911" y="373"/>
                  </a:moveTo>
                  <a:cubicBezTo>
                    <a:pt x="1911" y="398"/>
                    <a:pt x="1889" y="420"/>
                    <a:pt x="1864" y="420"/>
                  </a:cubicBezTo>
                  <a:cubicBezTo>
                    <a:pt x="1838" y="420"/>
                    <a:pt x="1817" y="398"/>
                    <a:pt x="1817" y="373"/>
                  </a:cubicBezTo>
                  <a:cubicBezTo>
                    <a:pt x="1817" y="347"/>
                    <a:pt x="1838" y="326"/>
                    <a:pt x="1864" y="326"/>
                  </a:cubicBezTo>
                  <a:cubicBezTo>
                    <a:pt x="1889" y="326"/>
                    <a:pt x="1911" y="347"/>
                    <a:pt x="1911" y="373"/>
                  </a:cubicBezTo>
                  <a:close/>
                  <a:moveTo>
                    <a:pt x="2012" y="373"/>
                  </a:moveTo>
                  <a:cubicBezTo>
                    <a:pt x="2012" y="398"/>
                    <a:pt x="1990" y="420"/>
                    <a:pt x="1965" y="420"/>
                  </a:cubicBezTo>
                  <a:cubicBezTo>
                    <a:pt x="1939" y="420"/>
                    <a:pt x="1918" y="398"/>
                    <a:pt x="1918" y="373"/>
                  </a:cubicBezTo>
                  <a:cubicBezTo>
                    <a:pt x="1918" y="347"/>
                    <a:pt x="1939" y="326"/>
                    <a:pt x="1965" y="326"/>
                  </a:cubicBezTo>
                  <a:cubicBezTo>
                    <a:pt x="1990" y="326"/>
                    <a:pt x="2012" y="347"/>
                    <a:pt x="2012" y="373"/>
                  </a:cubicBezTo>
                  <a:close/>
                  <a:moveTo>
                    <a:pt x="2113" y="373"/>
                  </a:moveTo>
                  <a:cubicBezTo>
                    <a:pt x="2113" y="398"/>
                    <a:pt x="2091" y="420"/>
                    <a:pt x="2066" y="420"/>
                  </a:cubicBezTo>
                  <a:cubicBezTo>
                    <a:pt x="2040" y="420"/>
                    <a:pt x="2019" y="398"/>
                    <a:pt x="2019" y="373"/>
                  </a:cubicBezTo>
                  <a:cubicBezTo>
                    <a:pt x="2019" y="347"/>
                    <a:pt x="2040" y="326"/>
                    <a:pt x="2066" y="326"/>
                  </a:cubicBezTo>
                  <a:cubicBezTo>
                    <a:pt x="2091" y="326"/>
                    <a:pt x="2113" y="347"/>
                    <a:pt x="2113" y="373"/>
                  </a:cubicBezTo>
                  <a:close/>
                  <a:moveTo>
                    <a:pt x="2214" y="373"/>
                  </a:moveTo>
                  <a:cubicBezTo>
                    <a:pt x="2214" y="398"/>
                    <a:pt x="2192" y="420"/>
                    <a:pt x="2167" y="420"/>
                  </a:cubicBezTo>
                  <a:cubicBezTo>
                    <a:pt x="2141" y="420"/>
                    <a:pt x="2120" y="398"/>
                    <a:pt x="2120" y="373"/>
                  </a:cubicBezTo>
                  <a:cubicBezTo>
                    <a:pt x="2120" y="347"/>
                    <a:pt x="2141" y="326"/>
                    <a:pt x="2167" y="326"/>
                  </a:cubicBezTo>
                  <a:cubicBezTo>
                    <a:pt x="2192" y="326"/>
                    <a:pt x="2214" y="347"/>
                    <a:pt x="2214" y="373"/>
                  </a:cubicBezTo>
                  <a:close/>
                  <a:moveTo>
                    <a:pt x="2315" y="373"/>
                  </a:moveTo>
                  <a:cubicBezTo>
                    <a:pt x="2315" y="398"/>
                    <a:pt x="2293" y="420"/>
                    <a:pt x="2268" y="420"/>
                  </a:cubicBezTo>
                  <a:cubicBezTo>
                    <a:pt x="2242" y="420"/>
                    <a:pt x="2221" y="398"/>
                    <a:pt x="2221" y="373"/>
                  </a:cubicBezTo>
                  <a:cubicBezTo>
                    <a:pt x="2221" y="347"/>
                    <a:pt x="2242" y="326"/>
                    <a:pt x="2268" y="326"/>
                  </a:cubicBezTo>
                  <a:cubicBezTo>
                    <a:pt x="2293" y="326"/>
                    <a:pt x="2315" y="347"/>
                    <a:pt x="2315" y="373"/>
                  </a:cubicBezTo>
                  <a:close/>
                  <a:moveTo>
                    <a:pt x="2415" y="373"/>
                  </a:moveTo>
                  <a:cubicBezTo>
                    <a:pt x="2415" y="398"/>
                    <a:pt x="2393" y="420"/>
                    <a:pt x="2368" y="420"/>
                  </a:cubicBezTo>
                  <a:cubicBezTo>
                    <a:pt x="2342" y="420"/>
                    <a:pt x="2321" y="398"/>
                    <a:pt x="2321" y="373"/>
                  </a:cubicBezTo>
                  <a:cubicBezTo>
                    <a:pt x="2321" y="347"/>
                    <a:pt x="2342" y="326"/>
                    <a:pt x="2368" y="326"/>
                  </a:cubicBezTo>
                  <a:cubicBezTo>
                    <a:pt x="2393" y="326"/>
                    <a:pt x="2415" y="347"/>
                    <a:pt x="2415" y="373"/>
                  </a:cubicBezTo>
                  <a:close/>
                  <a:moveTo>
                    <a:pt x="2516" y="373"/>
                  </a:moveTo>
                  <a:cubicBezTo>
                    <a:pt x="2516" y="398"/>
                    <a:pt x="2494" y="420"/>
                    <a:pt x="2469" y="420"/>
                  </a:cubicBezTo>
                  <a:cubicBezTo>
                    <a:pt x="2443" y="420"/>
                    <a:pt x="2422" y="398"/>
                    <a:pt x="2422" y="373"/>
                  </a:cubicBezTo>
                  <a:cubicBezTo>
                    <a:pt x="2422" y="347"/>
                    <a:pt x="2443" y="326"/>
                    <a:pt x="2469" y="326"/>
                  </a:cubicBezTo>
                  <a:cubicBezTo>
                    <a:pt x="2494" y="326"/>
                    <a:pt x="2516" y="347"/>
                    <a:pt x="2516" y="373"/>
                  </a:cubicBezTo>
                  <a:close/>
                  <a:moveTo>
                    <a:pt x="2617" y="373"/>
                  </a:moveTo>
                  <a:cubicBezTo>
                    <a:pt x="2617" y="398"/>
                    <a:pt x="2595" y="420"/>
                    <a:pt x="2570" y="420"/>
                  </a:cubicBezTo>
                  <a:cubicBezTo>
                    <a:pt x="2544" y="420"/>
                    <a:pt x="2523" y="398"/>
                    <a:pt x="2523" y="373"/>
                  </a:cubicBezTo>
                  <a:cubicBezTo>
                    <a:pt x="2523" y="347"/>
                    <a:pt x="2544" y="326"/>
                    <a:pt x="2570" y="326"/>
                  </a:cubicBezTo>
                  <a:cubicBezTo>
                    <a:pt x="2595" y="326"/>
                    <a:pt x="2617" y="347"/>
                    <a:pt x="2617" y="373"/>
                  </a:cubicBezTo>
                  <a:close/>
                  <a:moveTo>
                    <a:pt x="2718" y="373"/>
                  </a:moveTo>
                  <a:cubicBezTo>
                    <a:pt x="2718" y="398"/>
                    <a:pt x="2696" y="420"/>
                    <a:pt x="2671" y="420"/>
                  </a:cubicBezTo>
                  <a:cubicBezTo>
                    <a:pt x="2645" y="420"/>
                    <a:pt x="2624" y="398"/>
                    <a:pt x="2624" y="373"/>
                  </a:cubicBezTo>
                  <a:cubicBezTo>
                    <a:pt x="2624" y="347"/>
                    <a:pt x="2645" y="326"/>
                    <a:pt x="2671" y="326"/>
                  </a:cubicBezTo>
                  <a:cubicBezTo>
                    <a:pt x="2696" y="326"/>
                    <a:pt x="2718" y="347"/>
                    <a:pt x="2718" y="373"/>
                  </a:cubicBezTo>
                  <a:close/>
                  <a:moveTo>
                    <a:pt x="2819" y="373"/>
                  </a:moveTo>
                  <a:cubicBezTo>
                    <a:pt x="2819" y="398"/>
                    <a:pt x="2797" y="420"/>
                    <a:pt x="2772" y="420"/>
                  </a:cubicBezTo>
                  <a:cubicBezTo>
                    <a:pt x="2746" y="420"/>
                    <a:pt x="2725" y="398"/>
                    <a:pt x="2725" y="373"/>
                  </a:cubicBezTo>
                  <a:cubicBezTo>
                    <a:pt x="2725" y="347"/>
                    <a:pt x="2746" y="326"/>
                    <a:pt x="2772" y="326"/>
                  </a:cubicBezTo>
                  <a:cubicBezTo>
                    <a:pt x="2797" y="326"/>
                    <a:pt x="2819" y="347"/>
                    <a:pt x="2819" y="373"/>
                  </a:cubicBezTo>
                  <a:close/>
                  <a:moveTo>
                    <a:pt x="2919" y="373"/>
                  </a:moveTo>
                  <a:cubicBezTo>
                    <a:pt x="2919" y="398"/>
                    <a:pt x="2897" y="420"/>
                    <a:pt x="2872" y="420"/>
                  </a:cubicBezTo>
                  <a:cubicBezTo>
                    <a:pt x="2846" y="420"/>
                    <a:pt x="2825" y="398"/>
                    <a:pt x="2825" y="373"/>
                  </a:cubicBezTo>
                  <a:cubicBezTo>
                    <a:pt x="2825" y="347"/>
                    <a:pt x="2846" y="326"/>
                    <a:pt x="2872" y="326"/>
                  </a:cubicBezTo>
                  <a:cubicBezTo>
                    <a:pt x="2897" y="326"/>
                    <a:pt x="2919" y="347"/>
                    <a:pt x="2919" y="373"/>
                  </a:cubicBezTo>
                  <a:close/>
                  <a:moveTo>
                    <a:pt x="3020" y="373"/>
                  </a:moveTo>
                  <a:cubicBezTo>
                    <a:pt x="3020" y="398"/>
                    <a:pt x="2998" y="420"/>
                    <a:pt x="2973" y="420"/>
                  </a:cubicBezTo>
                  <a:cubicBezTo>
                    <a:pt x="2947" y="420"/>
                    <a:pt x="2926" y="398"/>
                    <a:pt x="2926" y="373"/>
                  </a:cubicBezTo>
                  <a:cubicBezTo>
                    <a:pt x="2926" y="347"/>
                    <a:pt x="2947" y="326"/>
                    <a:pt x="2973" y="326"/>
                  </a:cubicBezTo>
                  <a:cubicBezTo>
                    <a:pt x="2998" y="326"/>
                    <a:pt x="3020" y="347"/>
                    <a:pt x="3020" y="373"/>
                  </a:cubicBezTo>
                  <a:close/>
                  <a:moveTo>
                    <a:pt x="3121" y="373"/>
                  </a:moveTo>
                  <a:cubicBezTo>
                    <a:pt x="3121" y="398"/>
                    <a:pt x="3099" y="420"/>
                    <a:pt x="3074" y="420"/>
                  </a:cubicBezTo>
                  <a:cubicBezTo>
                    <a:pt x="3048" y="420"/>
                    <a:pt x="3027" y="398"/>
                    <a:pt x="3027" y="373"/>
                  </a:cubicBezTo>
                  <a:cubicBezTo>
                    <a:pt x="3027" y="347"/>
                    <a:pt x="3048" y="326"/>
                    <a:pt x="3074" y="326"/>
                  </a:cubicBezTo>
                  <a:cubicBezTo>
                    <a:pt x="3099" y="326"/>
                    <a:pt x="3121" y="347"/>
                    <a:pt x="3121" y="373"/>
                  </a:cubicBezTo>
                  <a:close/>
                  <a:moveTo>
                    <a:pt x="3222" y="373"/>
                  </a:moveTo>
                  <a:cubicBezTo>
                    <a:pt x="3222" y="398"/>
                    <a:pt x="3200" y="420"/>
                    <a:pt x="3175" y="420"/>
                  </a:cubicBezTo>
                  <a:cubicBezTo>
                    <a:pt x="3149" y="420"/>
                    <a:pt x="3128" y="398"/>
                    <a:pt x="3128" y="373"/>
                  </a:cubicBezTo>
                  <a:cubicBezTo>
                    <a:pt x="3128" y="347"/>
                    <a:pt x="3149" y="326"/>
                    <a:pt x="3175" y="326"/>
                  </a:cubicBezTo>
                  <a:cubicBezTo>
                    <a:pt x="3200" y="326"/>
                    <a:pt x="3222" y="347"/>
                    <a:pt x="3222" y="373"/>
                  </a:cubicBezTo>
                  <a:close/>
                  <a:moveTo>
                    <a:pt x="3323" y="373"/>
                  </a:moveTo>
                  <a:cubicBezTo>
                    <a:pt x="3323" y="398"/>
                    <a:pt x="3301" y="420"/>
                    <a:pt x="3276" y="420"/>
                  </a:cubicBezTo>
                  <a:cubicBezTo>
                    <a:pt x="3250" y="420"/>
                    <a:pt x="3229" y="398"/>
                    <a:pt x="3229" y="373"/>
                  </a:cubicBezTo>
                  <a:cubicBezTo>
                    <a:pt x="3229" y="347"/>
                    <a:pt x="3250" y="326"/>
                    <a:pt x="3276" y="326"/>
                  </a:cubicBezTo>
                  <a:cubicBezTo>
                    <a:pt x="3301" y="326"/>
                    <a:pt x="3323" y="347"/>
                    <a:pt x="3323" y="373"/>
                  </a:cubicBezTo>
                  <a:close/>
                  <a:moveTo>
                    <a:pt x="3423" y="373"/>
                  </a:moveTo>
                  <a:cubicBezTo>
                    <a:pt x="3423" y="398"/>
                    <a:pt x="3401" y="420"/>
                    <a:pt x="3376" y="420"/>
                  </a:cubicBezTo>
                  <a:cubicBezTo>
                    <a:pt x="3350" y="420"/>
                    <a:pt x="3329" y="398"/>
                    <a:pt x="3329" y="373"/>
                  </a:cubicBezTo>
                  <a:cubicBezTo>
                    <a:pt x="3329" y="347"/>
                    <a:pt x="3350" y="326"/>
                    <a:pt x="3376" y="326"/>
                  </a:cubicBezTo>
                  <a:cubicBezTo>
                    <a:pt x="3401" y="326"/>
                    <a:pt x="3423" y="347"/>
                    <a:pt x="3423" y="373"/>
                  </a:cubicBezTo>
                  <a:close/>
                  <a:moveTo>
                    <a:pt x="3524" y="373"/>
                  </a:moveTo>
                  <a:cubicBezTo>
                    <a:pt x="3524" y="398"/>
                    <a:pt x="3502" y="420"/>
                    <a:pt x="3477" y="420"/>
                  </a:cubicBezTo>
                  <a:cubicBezTo>
                    <a:pt x="3451" y="420"/>
                    <a:pt x="3430" y="398"/>
                    <a:pt x="3430" y="373"/>
                  </a:cubicBezTo>
                  <a:cubicBezTo>
                    <a:pt x="3430" y="347"/>
                    <a:pt x="3451" y="326"/>
                    <a:pt x="3477" y="326"/>
                  </a:cubicBezTo>
                  <a:cubicBezTo>
                    <a:pt x="3502" y="326"/>
                    <a:pt x="3524" y="347"/>
                    <a:pt x="3524" y="373"/>
                  </a:cubicBezTo>
                  <a:close/>
                  <a:moveTo>
                    <a:pt x="3625" y="373"/>
                  </a:moveTo>
                  <a:cubicBezTo>
                    <a:pt x="3625" y="398"/>
                    <a:pt x="3603" y="420"/>
                    <a:pt x="3578" y="420"/>
                  </a:cubicBezTo>
                  <a:cubicBezTo>
                    <a:pt x="3552" y="420"/>
                    <a:pt x="3531" y="398"/>
                    <a:pt x="3531" y="373"/>
                  </a:cubicBezTo>
                  <a:cubicBezTo>
                    <a:pt x="3531" y="347"/>
                    <a:pt x="3552" y="326"/>
                    <a:pt x="3578" y="326"/>
                  </a:cubicBezTo>
                  <a:cubicBezTo>
                    <a:pt x="3603" y="326"/>
                    <a:pt x="3625" y="347"/>
                    <a:pt x="3625" y="373"/>
                  </a:cubicBezTo>
                  <a:close/>
                  <a:moveTo>
                    <a:pt x="3726" y="373"/>
                  </a:moveTo>
                  <a:cubicBezTo>
                    <a:pt x="3726" y="398"/>
                    <a:pt x="3704" y="420"/>
                    <a:pt x="3679" y="420"/>
                  </a:cubicBezTo>
                  <a:cubicBezTo>
                    <a:pt x="3653" y="420"/>
                    <a:pt x="3632" y="398"/>
                    <a:pt x="3632" y="373"/>
                  </a:cubicBezTo>
                  <a:cubicBezTo>
                    <a:pt x="3632" y="347"/>
                    <a:pt x="3653" y="326"/>
                    <a:pt x="3679" y="326"/>
                  </a:cubicBezTo>
                  <a:cubicBezTo>
                    <a:pt x="3704" y="326"/>
                    <a:pt x="3726" y="347"/>
                    <a:pt x="3726" y="373"/>
                  </a:cubicBezTo>
                  <a:close/>
                  <a:moveTo>
                    <a:pt x="3827" y="373"/>
                  </a:moveTo>
                  <a:cubicBezTo>
                    <a:pt x="3827" y="398"/>
                    <a:pt x="3805" y="420"/>
                    <a:pt x="3780" y="420"/>
                  </a:cubicBezTo>
                  <a:cubicBezTo>
                    <a:pt x="3754" y="420"/>
                    <a:pt x="3733" y="398"/>
                    <a:pt x="3733" y="373"/>
                  </a:cubicBezTo>
                  <a:cubicBezTo>
                    <a:pt x="3733" y="347"/>
                    <a:pt x="3754" y="326"/>
                    <a:pt x="3780" y="326"/>
                  </a:cubicBezTo>
                  <a:cubicBezTo>
                    <a:pt x="3805" y="326"/>
                    <a:pt x="3827" y="347"/>
                    <a:pt x="3827" y="373"/>
                  </a:cubicBezTo>
                  <a:close/>
                  <a:moveTo>
                    <a:pt x="3927" y="373"/>
                  </a:moveTo>
                  <a:cubicBezTo>
                    <a:pt x="3927" y="398"/>
                    <a:pt x="3905" y="420"/>
                    <a:pt x="3880" y="420"/>
                  </a:cubicBezTo>
                  <a:cubicBezTo>
                    <a:pt x="3854" y="420"/>
                    <a:pt x="3833" y="398"/>
                    <a:pt x="3833" y="373"/>
                  </a:cubicBezTo>
                  <a:cubicBezTo>
                    <a:pt x="3833" y="347"/>
                    <a:pt x="3854" y="326"/>
                    <a:pt x="3880" y="326"/>
                  </a:cubicBezTo>
                  <a:cubicBezTo>
                    <a:pt x="3905" y="326"/>
                    <a:pt x="3927" y="347"/>
                    <a:pt x="3927" y="373"/>
                  </a:cubicBezTo>
                  <a:close/>
                  <a:moveTo>
                    <a:pt x="4028" y="373"/>
                  </a:moveTo>
                  <a:cubicBezTo>
                    <a:pt x="4028" y="398"/>
                    <a:pt x="4006" y="420"/>
                    <a:pt x="3981" y="420"/>
                  </a:cubicBezTo>
                  <a:cubicBezTo>
                    <a:pt x="3955" y="420"/>
                    <a:pt x="3934" y="398"/>
                    <a:pt x="3934" y="373"/>
                  </a:cubicBezTo>
                  <a:cubicBezTo>
                    <a:pt x="3934" y="347"/>
                    <a:pt x="3955" y="326"/>
                    <a:pt x="3981" y="326"/>
                  </a:cubicBezTo>
                  <a:cubicBezTo>
                    <a:pt x="4006" y="326"/>
                    <a:pt x="4028" y="347"/>
                    <a:pt x="4028" y="373"/>
                  </a:cubicBezTo>
                  <a:close/>
                  <a:moveTo>
                    <a:pt x="4129" y="373"/>
                  </a:moveTo>
                  <a:cubicBezTo>
                    <a:pt x="4129" y="398"/>
                    <a:pt x="4107" y="420"/>
                    <a:pt x="4082" y="420"/>
                  </a:cubicBezTo>
                  <a:cubicBezTo>
                    <a:pt x="4056" y="420"/>
                    <a:pt x="4035" y="398"/>
                    <a:pt x="4035" y="373"/>
                  </a:cubicBezTo>
                  <a:cubicBezTo>
                    <a:pt x="4035" y="347"/>
                    <a:pt x="4056" y="326"/>
                    <a:pt x="4082" y="326"/>
                  </a:cubicBezTo>
                  <a:cubicBezTo>
                    <a:pt x="4107" y="326"/>
                    <a:pt x="4129" y="347"/>
                    <a:pt x="4129" y="373"/>
                  </a:cubicBezTo>
                  <a:close/>
                  <a:moveTo>
                    <a:pt x="4230" y="373"/>
                  </a:moveTo>
                  <a:cubicBezTo>
                    <a:pt x="4230" y="398"/>
                    <a:pt x="4208" y="420"/>
                    <a:pt x="4183" y="420"/>
                  </a:cubicBezTo>
                  <a:cubicBezTo>
                    <a:pt x="4157" y="420"/>
                    <a:pt x="4136" y="398"/>
                    <a:pt x="4136" y="373"/>
                  </a:cubicBezTo>
                  <a:cubicBezTo>
                    <a:pt x="4136" y="347"/>
                    <a:pt x="4157" y="326"/>
                    <a:pt x="4183" y="326"/>
                  </a:cubicBezTo>
                  <a:cubicBezTo>
                    <a:pt x="4208" y="326"/>
                    <a:pt x="4230" y="347"/>
                    <a:pt x="4230" y="373"/>
                  </a:cubicBezTo>
                  <a:close/>
                  <a:moveTo>
                    <a:pt x="4331" y="373"/>
                  </a:moveTo>
                  <a:cubicBezTo>
                    <a:pt x="4331" y="398"/>
                    <a:pt x="4309" y="420"/>
                    <a:pt x="4284" y="420"/>
                  </a:cubicBezTo>
                  <a:cubicBezTo>
                    <a:pt x="4258" y="420"/>
                    <a:pt x="4237" y="398"/>
                    <a:pt x="4237" y="373"/>
                  </a:cubicBezTo>
                  <a:cubicBezTo>
                    <a:pt x="4237" y="347"/>
                    <a:pt x="4258" y="326"/>
                    <a:pt x="4284" y="326"/>
                  </a:cubicBezTo>
                  <a:cubicBezTo>
                    <a:pt x="4309" y="326"/>
                    <a:pt x="4331" y="347"/>
                    <a:pt x="4331" y="373"/>
                  </a:cubicBezTo>
                  <a:close/>
                  <a:moveTo>
                    <a:pt x="4431" y="373"/>
                  </a:moveTo>
                  <a:cubicBezTo>
                    <a:pt x="4431" y="398"/>
                    <a:pt x="4409" y="420"/>
                    <a:pt x="4384" y="420"/>
                  </a:cubicBezTo>
                  <a:cubicBezTo>
                    <a:pt x="4358" y="420"/>
                    <a:pt x="4337" y="398"/>
                    <a:pt x="4337" y="373"/>
                  </a:cubicBezTo>
                  <a:cubicBezTo>
                    <a:pt x="4337" y="347"/>
                    <a:pt x="4358" y="326"/>
                    <a:pt x="4384" y="326"/>
                  </a:cubicBezTo>
                  <a:cubicBezTo>
                    <a:pt x="4409" y="326"/>
                    <a:pt x="4431" y="347"/>
                    <a:pt x="4431" y="373"/>
                  </a:cubicBezTo>
                  <a:close/>
                  <a:moveTo>
                    <a:pt x="4532" y="373"/>
                  </a:moveTo>
                  <a:cubicBezTo>
                    <a:pt x="4532" y="398"/>
                    <a:pt x="4510" y="420"/>
                    <a:pt x="4485" y="420"/>
                  </a:cubicBezTo>
                  <a:cubicBezTo>
                    <a:pt x="4459" y="420"/>
                    <a:pt x="4438" y="398"/>
                    <a:pt x="4438" y="373"/>
                  </a:cubicBezTo>
                  <a:cubicBezTo>
                    <a:pt x="4438" y="347"/>
                    <a:pt x="4459" y="326"/>
                    <a:pt x="4485" y="326"/>
                  </a:cubicBezTo>
                  <a:cubicBezTo>
                    <a:pt x="4510" y="326"/>
                    <a:pt x="4532" y="347"/>
                    <a:pt x="4532" y="373"/>
                  </a:cubicBezTo>
                  <a:close/>
                  <a:moveTo>
                    <a:pt x="4633" y="373"/>
                  </a:moveTo>
                  <a:cubicBezTo>
                    <a:pt x="4633" y="398"/>
                    <a:pt x="4611" y="420"/>
                    <a:pt x="4586" y="420"/>
                  </a:cubicBezTo>
                  <a:cubicBezTo>
                    <a:pt x="4560" y="420"/>
                    <a:pt x="4539" y="398"/>
                    <a:pt x="4539" y="373"/>
                  </a:cubicBezTo>
                  <a:cubicBezTo>
                    <a:pt x="4539" y="347"/>
                    <a:pt x="4560" y="326"/>
                    <a:pt x="4586" y="326"/>
                  </a:cubicBezTo>
                  <a:cubicBezTo>
                    <a:pt x="4611" y="326"/>
                    <a:pt x="4633" y="347"/>
                    <a:pt x="4633" y="373"/>
                  </a:cubicBezTo>
                  <a:close/>
                  <a:moveTo>
                    <a:pt x="4734" y="373"/>
                  </a:moveTo>
                  <a:cubicBezTo>
                    <a:pt x="4734" y="398"/>
                    <a:pt x="4712" y="420"/>
                    <a:pt x="4687" y="420"/>
                  </a:cubicBezTo>
                  <a:cubicBezTo>
                    <a:pt x="4661" y="420"/>
                    <a:pt x="4640" y="398"/>
                    <a:pt x="4640" y="373"/>
                  </a:cubicBezTo>
                  <a:cubicBezTo>
                    <a:pt x="4640" y="347"/>
                    <a:pt x="4661" y="326"/>
                    <a:pt x="4687" y="326"/>
                  </a:cubicBezTo>
                  <a:cubicBezTo>
                    <a:pt x="4712" y="326"/>
                    <a:pt x="4734" y="347"/>
                    <a:pt x="4734" y="373"/>
                  </a:cubicBezTo>
                  <a:close/>
                  <a:moveTo>
                    <a:pt x="4835" y="373"/>
                  </a:moveTo>
                  <a:cubicBezTo>
                    <a:pt x="4835" y="398"/>
                    <a:pt x="4813" y="420"/>
                    <a:pt x="4788" y="420"/>
                  </a:cubicBezTo>
                  <a:cubicBezTo>
                    <a:pt x="4762" y="420"/>
                    <a:pt x="4741" y="398"/>
                    <a:pt x="4741" y="373"/>
                  </a:cubicBezTo>
                  <a:cubicBezTo>
                    <a:pt x="4741" y="347"/>
                    <a:pt x="4762" y="326"/>
                    <a:pt x="4788" y="326"/>
                  </a:cubicBezTo>
                  <a:cubicBezTo>
                    <a:pt x="4813" y="326"/>
                    <a:pt x="4835" y="347"/>
                    <a:pt x="4835" y="373"/>
                  </a:cubicBezTo>
                  <a:close/>
                  <a:moveTo>
                    <a:pt x="4935" y="373"/>
                  </a:moveTo>
                  <a:cubicBezTo>
                    <a:pt x="4935" y="398"/>
                    <a:pt x="4913" y="420"/>
                    <a:pt x="4888" y="420"/>
                  </a:cubicBezTo>
                  <a:cubicBezTo>
                    <a:pt x="4862" y="420"/>
                    <a:pt x="4841" y="398"/>
                    <a:pt x="4841" y="373"/>
                  </a:cubicBezTo>
                  <a:cubicBezTo>
                    <a:pt x="4841" y="347"/>
                    <a:pt x="4862" y="326"/>
                    <a:pt x="4888" y="326"/>
                  </a:cubicBezTo>
                  <a:cubicBezTo>
                    <a:pt x="4913" y="326"/>
                    <a:pt x="4935" y="347"/>
                    <a:pt x="4935" y="373"/>
                  </a:cubicBezTo>
                  <a:close/>
                  <a:moveTo>
                    <a:pt x="5036" y="373"/>
                  </a:moveTo>
                  <a:cubicBezTo>
                    <a:pt x="5036" y="398"/>
                    <a:pt x="5014" y="420"/>
                    <a:pt x="4989" y="420"/>
                  </a:cubicBezTo>
                  <a:cubicBezTo>
                    <a:pt x="4963" y="420"/>
                    <a:pt x="4942" y="398"/>
                    <a:pt x="4942" y="373"/>
                  </a:cubicBezTo>
                  <a:cubicBezTo>
                    <a:pt x="4942" y="347"/>
                    <a:pt x="4963" y="326"/>
                    <a:pt x="4989" y="326"/>
                  </a:cubicBezTo>
                  <a:cubicBezTo>
                    <a:pt x="5014" y="326"/>
                    <a:pt x="5036" y="347"/>
                    <a:pt x="5036" y="373"/>
                  </a:cubicBezTo>
                  <a:close/>
                  <a:moveTo>
                    <a:pt x="5137" y="373"/>
                  </a:moveTo>
                  <a:cubicBezTo>
                    <a:pt x="5137" y="398"/>
                    <a:pt x="5115" y="420"/>
                    <a:pt x="5090" y="420"/>
                  </a:cubicBezTo>
                  <a:cubicBezTo>
                    <a:pt x="5064" y="420"/>
                    <a:pt x="5043" y="398"/>
                    <a:pt x="5043" y="373"/>
                  </a:cubicBezTo>
                  <a:cubicBezTo>
                    <a:pt x="5043" y="347"/>
                    <a:pt x="5064" y="326"/>
                    <a:pt x="5090" y="326"/>
                  </a:cubicBezTo>
                  <a:cubicBezTo>
                    <a:pt x="5115" y="326"/>
                    <a:pt x="5137" y="347"/>
                    <a:pt x="5137" y="373"/>
                  </a:cubicBezTo>
                  <a:close/>
                  <a:moveTo>
                    <a:pt x="5238" y="373"/>
                  </a:moveTo>
                  <a:cubicBezTo>
                    <a:pt x="5238" y="398"/>
                    <a:pt x="5216" y="420"/>
                    <a:pt x="5191" y="420"/>
                  </a:cubicBezTo>
                  <a:cubicBezTo>
                    <a:pt x="5165" y="420"/>
                    <a:pt x="5144" y="398"/>
                    <a:pt x="5144" y="373"/>
                  </a:cubicBezTo>
                  <a:cubicBezTo>
                    <a:pt x="5144" y="347"/>
                    <a:pt x="5165" y="326"/>
                    <a:pt x="5191" y="326"/>
                  </a:cubicBezTo>
                  <a:cubicBezTo>
                    <a:pt x="5216" y="326"/>
                    <a:pt x="5238" y="347"/>
                    <a:pt x="5238" y="373"/>
                  </a:cubicBezTo>
                  <a:close/>
                  <a:moveTo>
                    <a:pt x="5339" y="373"/>
                  </a:moveTo>
                  <a:cubicBezTo>
                    <a:pt x="5339" y="398"/>
                    <a:pt x="5317" y="420"/>
                    <a:pt x="5292" y="420"/>
                  </a:cubicBezTo>
                  <a:cubicBezTo>
                    <a:pt x="5266" y="420"/>
                    <a:pt x="5245" y="398"/>
                    <a:pt x="5245" y="373"/>
                  </a:cubicBezTo>
                  <a:cubicBezTo>
                    <a:pt x="5245" y="347"/>
                    <a:pt x="5266" y="326"/>
                    <a:pt x="5292" y="326"/>
                  </a:cubicBezTo>
                  <a:cubicBezTo>
                    <a:pt x="5317" y="326"/>
                    <a:pt x="5339" y="347"/>
                    <a:pt x="5339" y="373"/>
                  </a:cubicBezTo>
                  <a:close/>
                  <a:moveTo>
                    <a:pt x="5439" y="373"/>
                  </a:moveTo>
                  <a:cubicBezTo>
                    <a:pt x="5439" y="398"/>
                    <a:pt x="5417" y="420"/>
                    <a:pt x="5392" y="420"/>
                  </a:cubicBezTo>
                  <a:cubicBezTo>
                    <a:pt x="5366" y="420"/>
                    <a:pt x="5345" y="398"/>
                    <a:pt x="5345" y="373"/>
                  </a:cubicBezTo>
                  <a:cubicBezTo>
                    <a:pt x="5345" y="347"/>
                    <a:pt x="5366" y="326"/>
                    <a:pt x="5392" y="326"/>
                  </a:cubicBezTo>
                  <a:cubicBezTo>
                    <a:pt x="5417" y="326"/>
                    <a:pt x="5439" y="347"/>
                    <a:pt x="5439" y="373"/>
                  </a:cubicBezTo>
                  <a:close/>
                  <a:moveTo>
                    <a:pt x="5540" y="373"/>
                  </a:moveTo>
                  <a:cubicBezTo>
                    <a:pt x="5540" y="398"/>
                    <a:pt x="5518" y="420"/>
                    <a:pt x="5493" y="420"/>
                  </a:cubicBezTo>
                  <a:cubicBezTo>
                    <a:pt x="5467" y="420"/>
                    <a:pt x="5446" y="398"/>
                    <a:pt x="5446" y="373"/>
                  </a:cubicBezTo>
                  <a:cubicBezTo>
                    <a:pt x="5446" y="347"/>
                    <a:pt x="5467" y="326"/>
                    <a:pt x="5493" y="326"/>
                  </a:cubicBezTo>
                  <a:cubicBezTo>
                    <a:pt x="5518" y="326"/>
                    <a:pt x="5540" y="347"/>
                    <a:pt x="5540" y="373"/>
                  </a:cubicBezTo>
                  <a:close/>
                  <a:moveTo>
                    <a:pt x="5641" y="373"/>
                  </a:moveTo>
                  <a:cubicBezTo>
                    <a:pt x="5641" y="398"/>
                    <a:pt x="5619" y="420"/>
                    <a:pt x="5594" y="420"/>
                  </a:cubicBezTo>
                  <a:cubicBezTo>
                    <a:pt x="5568" y="420"/>
                    <a:pt x="5547" y="398"/>
                    <a:pt x="5547" y="373"/>
                  </a:cubicBezTo>
                  <a:cubicBezTo>
                    <a:pt x="5547" y="347"/>
                    <a:pt x="5568" y="326"/>
                    <a:pt x="5594" y="326"/>
                  </a:cubicBezTo>
                  <a:cubicBezTo>
                    <a:pt x="5619" y="326"/>
                    <a:pt x="5641" y="347"/>
                    <a:pt x="5641" y="373"/>
                  </a:cubicBezTo>
                  <a:close/>
                  <a:moveTo>
                    <a:pt x="5742" y="373"/>
                  </a:moveTo>
                  <a:cubicBezTo>
                    <a:pt x="5742" y="398"/>
                    <a:pt x="5720" y="420"/>
                    <a:pt x="5695" y="420"/>
                  </a:cubicBezTo>
                  <a:cubicBezTo>
                    <a:pt x="5669" y="420"/>
                    <a:pt x="5648" y="398"/>
                    <a:pt x="5648" y="373"/>
                  </a:cubicBezTo>
                  <a:cubicBezTo>
                    <a:pt x="5648" y="347"/>
                    <a:pt x="5669" y="326"/>
                    <a:pt x="5695" y="326"/>
                  </a:cubicBezTo>
                  <a:cubicBezTo>
                    <a:pt x="5720" y="326"/>
                    <a:pt x="5742" y="347"/>
                    <a:pt x="5742" y="373"/>
                  </a:cubicBezTo>
                  <a:close/>
                  <a:moveTo>
                    <a:pt x="5843" y="373"/>
                  </a:moveTo>
                  <a:cubicBezTo>
                    <a:pt x="5843" y="398"/>
                    <a:pt x="5821" y="420"/>
                    <a:pt x="5796" y="420"/>
                  </a:cubicBezTo>
                  <a:cubicBezTo>
                    <a:pt x="5770" y="420"/>
                    <a:pt x="5749" y="398"/>
                    <a:pt x="5749" y="373"/>
                  </a:cubicBezTo>
                  <a:cubicBezTo>
                    <a:pt x="5749" y="347"/>
                    <a:pt x="5770" y="326"/>
                    <a:pt x="5796" y="326"/>
                  </a:cubicBezTo>
                  <a:cubicBezTo>
                    <a:pt x="5821" y="326"/>
                    <a:pt x="5843" y="347"/>
                    <a:pt x="5843" y="373"/>
                  </a:cubicBezTo>
                  <a:close/>
                  <a:moveTo>
                    <a:pt x="5943" y="373"/>
                  </a:moveTo>
                  <a:cubicBezTo>
                    <a:pt x="5943" y="398"/>
                    <a:pt x="5921" y="420"/>
                    <a:pt x="5896" y="420"/>
                  </a:cubicBezTo>
                  <a:cubicBezTo>
                    <a:pt x="5870" y="420"/>
                    <a:pt x="5849" y="398"/>
                    <a:pt x="5849" y="373"/>
                  </a:cubicBezTo>
                  <a:cubicBezTo>
                    <a:pt x="5849" y="347"/>
                    <a:pt x="5870" y="326"/>
                    <a:pt x="5896" y="326"/>
                  </a:cubicBezTo>
                  <a:cubicBezTo>
                    <a:pt x="5921" y="326"/>
                    <a:pt x="5943" y="347"/>
                    <a:pt x="5943" y="373"/>
                  </a:cubicBezTo>
                  <a:close/>
                  <a:moveTo>
                    <a:pt x="6044" y="373"/>
                  </a:moveTo>
                  <a:cubicBezTo>
                    <a:pt x="6044" y="398"/>
                    <a:pt x="6022" y="420"/>
                    <a:pt x="5997" y="420"/>
                  </a:cubicBezTo>
                  <a:cubicBezTo>
                    <a:pt x="5971" y="420"/>
                    <a:pt x="5950" y="398"/>
                    <a:pt x="5950" y="373"/>
                  </a:cubicBezTo>
                  <a:cubicBezTo>
                    <a:pt x="5950" y="347"/>
                    <a:pt x="5971" y="326"/>
                    <a:pt x="5997" y="326"/>
                  </a:cubicBezTo>
                  <a:cubicBezTo>
                    <a:pt x="6022" y="326"/>
                    <a:pt x="6044" y="347"/>
                    <a:pt x="6044" y="373"/>
                  </a:cubicBezTo>
                  <a:close/>
                  <a:moveTo>
                    <a:pt x="6145" y="373"/>
                  </a:moveTo>
                  <a:cubicBezTo>
                    <a:pt x="6145" y="398"/>
                    <a:pt x="6123" y="420"/>
                    <a:pt x="6098" y="420"/>
                  </a:cubicBezTo>
                  <a:cubicBezTo>
                    <a:pt x="6072" y="420"/>
                    <a:pt x="6051" y="398"/>
                    <a:pt x="6051" y="373"/>
                  </a:cubicBezTo>
                  <a:cubicBezTo>
                    <a:pt x="6051" y="347"/>
                    <a:pt x="6072" y="326"/>
                    <a:pt x="6098" y="326"/>
                  </a:cubicBezTo>
                  <a:cubicBezTo>
                    <a:pt x="6123" y="326"/>
                    <a:pt x="6145" y="347"/>
                    <a:pt x="6145" y="373"/>
                  </a:cubicBezTo>
                  <a:close/>
                  <a:moveTo>
                    <a:pt x="6246" y="373"/>
                  </a:moveTo>
                  <a:cubicBezTo>
                    <a:pt x="6246" y="398"/>
                    <a:pt x="6224" y="420"/>
                    <a:pt x="6199" y="420"/>
                  </a:cubicBezTo>
                  <a:cubicBezTo>
                    <a:pt x="6173" y="420"/>
                    <a:pt x="6152" y="398"/>
                    <a:pt x="6152" y="373"/>
                  </a:cubicBezTo>
                  <a:cubicBezTo>
                    <a:pt x="6152" y="347"/>
                    <a:pt x="6173" y="326"/>
                    <a:pt x="6199" y="326"/>
                  </a:cubicBezTo>
                  <a:cubicBezTo>
                    <a:pt x="6224" y="326"/>
                    <a:pt x="6246" y="347"/>
                    <a:pt x="6246" y="373"/>
                  </a:cubicBezTo>
                  <a:close/>
                  <a:moveTo>
                    <a:pt x="6347" y="373"/>
                  </a:moveTo>
                  <a:cubicBezTo>
                    <a:pt x="6347" y="398"/>
                    <a:pt x="6325" y="420"/>
                    <a:pt x="6300" y="420"/>
                  </a:cubicBezTo>
                  <a:cubicBezTo>
                    <a:pt x="6274" y="420"/>
                    <a:pt x="6253" y="398"/>
                    <a:pt x="6253" y="373"/>
                  </a:cubicBezTo>
                  <a:cubicBezTo>
                    <a:pt x="6253" y="347"/>
                    <a:pt x="6274" y="326"/>
                    <a:pt x="6300" y="326"/>
                  </a:cubicBezTo>
                  <a:cubicBezTo>
                    <a:pt x="6325" y="326"/>
                    <a:pt x="6347" y="347"/>
                    <a:pt x="6347" y="373"/>
                  </a:cubicBezTo>
                  <a:close/>
                  <a:moveTo>
                    <a:pt x="6447" y="373"/>
                  </a:moveTo>
                  <a:cubicBezTo>
                    <a:pt x="6447" y="398"/>
                    <a:pt x="6425" y="420"/>
                    <a:pt x="6400" y="420"/>
                  </a:cubicBezTo>
                  <a:cubicBezTo>
                    <a:pt x="6374" y="420"/>
                    <a:pt x="6353" y="398"/>
                    <a:pt x="6353" y="373"/>
                  </a:cubicBezTo>
                  <a:cubicBezTo>
                    <a:pt x="6353" y="347"/>
                    <a:pt x="6374" y="326"/>
                    <a:pt x="6400" y="326"/>
                  </a:cubicBezTo>
                  <a:cubicBezTo>
                    <a:pt x="6425" y="326"/>
                    <a:pt x="6447" y="347"/>
                    <a:pt x="6447" y="373"/>
                  </a:cubicBezTo>
                  <a:close/>
                  <a:moveTo>
                    <a:pt x="6548" y="373"/>
                  </a:moveTo>
                  <a:cubicBezTo>
                    <a:pt x="6548" y="398"/>
                    <a:pt x="6526" y="420"/>
                    <a:pt x="6501" y="420"/>
                  </a:cubicBezTo>
                  <a:cubicBezTo>
                    <a:pt x="6475" y="420"/>
                    <a:pt x="6454" y="398"/>
                    <a:pt x="6454" y="373"/>
                  </a:cubicBezTo>
                  <a:cubicBezTo>
                    <a:pt x="6454" y="347"/>
                    <a:pt x="6475" y="326"/>
                    <a:pt x="6501" y="326"/>
                  </a:cubicBezTo>
                  <a:cubicBezTo>
                    <a:pt x="6526" y="326"/>
                    <a:pt x="6548" y="347"/>
                    <a:pt x="6548" y="373"/>
                  </a:cubicBezTo>
                  <a:close/>
                  <a:moveTo>
                    <a:pt x="6649" y="373"/>
                  </a:moveTo>
                  <a:cubicBezTo>
                    <a:pt x="6649" y="398"/>
                    <a:pt x="6627" y="420"/>
                    <a:pt x="6602" y="420"/>
                  </a:cubicBezTo>
                  <a:cubicBezTo>
                    <a:pt x="6576" y="420"/>
                    <a:pt x="6555" y="398"/>
                    <a:pt x="6555" y="373"/>
                  </a:cubicBezTo>
                  <a:cubicBezTo>
                    <a:pt x="6555" y="347"/>
                    <a:pt x="6576" y="326"/>
                    <a:pt x="6602" y="326"/>
                  </a:cubicBezTo>
                  <a:cubicBezTo>
                    <a:pt x="6627" y="326"/>
                    <a:pt x="6649" y="347"/>
                    <a:pt x="6649" y="373"/>
                  </a:cubicBezTo>
                  <a:close/>
                  <a:moveTo>
                    <a:pt x="6750" y="373"/>
                  </a:moveTo>
                  <a:cubicBezTo>
                    <a:pt x="6750" y="398"/>
                    <a:pt x="6728" y="420"/>
                    <a:pt x="6703" y="420"/>
                  </a:cubicBezTo>
                  <a:cubicBezTo>
                    <a:pt x="6677" y="420"/>
                    <a:pt x="6656" y="398"/>
                    <a:pt x="6656" y="373"/>
                  </a:cubicBezTo>
                  <a:cubicBezTo>
                    <a:pt x="6656" y="347"/>
                    <a:pt x="6677" y="326"/>
                    <a:pt x="6703" y="326"/>
                  </a:cubicBezTo>
                  <a:cubicBezTo>
                    <a:pt x="6728" y="326"/>
                    <a:pt x="6750" y="347"/>
                    <a:pt x="6750" y="373"/>
                  </a:cubicBezTo>
                  <a:close/>
                  <a:moveTo>
                    <a:pt x="6851" y="373"/>
                  </a:moveTo>
                  <a:cubicBezTo>
                    <a:pt x="6851" y="398"/>
                    <a:pt x="6829" y="420"/>
                    <a:pt x="6804" y="420"/>
                  </a:cubicBezTo>
                  <a:cubicBezTo>
                    <a:pt x="6778" y="420"/>
                    <a:pt x="6757" y="398"/>
                    <a:pt x="6757" y="373"/>
                  </a:cubicBezTo>
                  <a:cubicBezTo>
                    <a:pt x="6757" y="347"/>
                    <a:pt x="6778" y="326"/>
                    <a:pt x="6804" y="326"/>
                  </a:cubicBezTo>
                  <a:cubicBezTo>
                    <a:pt x="6829" y="326"/>
                    <a:pt x="6851" y="347"/>
                    <a:pt x="6851" y="373"/>
                  </a:cubicBezTo>
                  <a:close/>
                  <a:moveTo>
                    <a:pt x="6951" y="373"/>
                  </a:moveTo>
                  <a:cubicBezTo>
                    <a:pt x="6951" y="398"/>
                    <a:pt x="6929" y="420"/>
                    <a:pt x="6904" y="420"/>
                  </a:cubicBezTo>
                  <a:cubicBezTo>
                    <a:pt x="6878" y="420"/>
                    <a:pt x="6857" y="398"/>
                    <a:pt x="6857" y="373"/>
                  </a:cubicBezTo>
                  <a:cubicBezTo>
                    <a:pt x="6857" y="347"/>
                    <a:pt x="6878" y="326"/>
                    <a:pt x="6904" y="326"/>
                  </a:cubicBezTo>
                  <a:cubicBezTo>
                    <a:pt x="6929" y="326"/>
                    <a:pt x="6951" y="347"/>
                    <a:pt x="6951" y="373"/>
                  </a:cubicBezTo>
                  <a:close/>
                  <a:moveTo>
                    <a:pt x="7052" y="373"/>
                  </a:moveTo>
                  <a:cubicBezTo>
                    <a:pt x="7052" y="398"/>
                    <a:pt x="7030" y="420"/>
                    <a:pt x="7005" y="420"/>
                  </a:cubicBezTo>
                  <a:cubicBezTo>
                    <a:pt x="6979" y="420"/>
                    <a:pt x="6958" y="398"/>
                    <a:pt x="6958" y="373"/>
                  </a:cubicBezTo>
                  <a:cubicBezTo>
                    <a:pt x="6958" y="347"/>
                    <a:pt x="6979" y="326"/>
                    <a:pt x="7005" y="326"/>
                  </a:cubicBezTo>
                  <a:cubicBezTo>
                    <a:pt x="7030" y="326"/>
                    <a:pt x="7052" y="347"/>
                    <a:pt x="7052" y="373"/>
                  </a:cubicBezTo>
                  <a:close/>
                  <a:moveTo>
                    <a:pt x="7153" y="373"/>
                  </a:moveTo>
                  <a:cubicBezTo>
                    <a:pt x="7153" y="398"/>
                    <a:pt x="7131" y="420"/>
                    <a:pt x="7106" y="420"/>
                  </a:cubicBezTo>
                  <a:cubicBezTo>
                    <a:pt x="7080" y="420"/>
                    <a:pt x="7059" y="398"/>
                    <a:pt x="7059" y="373"/>
                  </a:cubicBezTo>
                  <a:cubicBezTo>
                    <a:pt x="7059" y="347"/>
                    <a:pt x="7080" y="326"/>
                    <a:pt x="7106" y="326"/>
                  </a:cubicBezTo>
                  <a:cubicBezTo>
                    <a:pt x="7131" y="326"/>
                    <a:pt x="7153" y="347"/>
                    <a:pt x="7153" y="373"/>
                  </a:cubicBezTo>
                  <a:close/>
                  <a:moveTo>
                    <a:pt x="7254" y="373"/>
                  </a:moveTo>
                  <a:cubicBezTo>
                    <a:pt x="7254" y="398"/>
                    <a:pt x="7232" y="420"/>
                    <a:pt x="7207" y="420"/>
                  </a:cubicBezTo>
                  <a:cubicBezTo>
                    <a:pt x="7181" y="420"/>
                    <a:pt x="7160" y="398"/>
                    <a:pt x="7160" y="373"/>
                  </a:cubicBezTo>
                  <a:cubicBezTo>
                    <a:pt x="7160" y="347"/>
                    <a:pt x="7181" y="326"/>
                    <a:pt x="7207" y="326"/>
                  </a:cubicBezTo>
                  <a:cubicBezTo>
                    <a:pt x="7232" y="326"/>
                    <a:pt x="7254" y="347"/>
                    <a:pt x="7254" y="373"/>
                  </a:cubicBezTo>
                  <a:close/>
                  <a:moveTo>
                    <a:pt x="7355" y="373"/>
                  </a:moveTo>
                  <a:cubicBezTo>
                    <a:pt x="7355" y="398"/>
                    <a:pt x="7333" y="420"/>
                    <a:pt x="7308" y="420"/>
                  </a:cubicBezTo>
                  <a:cubicBezTo>
                    <a:pt x="7282" y="420"/>
                    <a:pt x="7261" y="398"/>
                    <a:pt x="7261" y="373"/>
                  </a:cubicBezTo>
                  <a:cubicBezTo>
                    <a:pt x="7261" y="347"/>
                    <a:pt x="7282" y="326"/>
                    <a:pt x="7308" y="326"/>
                  </a:cubicBezTo>
                  <a:cubicBezTo>
                    <a:pt x="7333" y="326"/>
                    <a:pt x="7355" y="347"/>
                    <a:pt x="7355" y="373"/>
                  </a:cubicBezTo>
                  <a:close/>
                  <a:moveTo>
                    <a:pt x="7455" y="373"/>
                  </a:moveTo>
                  <a:cubicBezTo>
                    <a:pt x="7455" y="398"/>
                    <a:pt x="7433" y="420"/>
                    <a:pt x="7408" y="420"/>
                  </a:cubicBezTo>
                  <a:cubicBezTo>
                    <a:pt x="7382" y="420"/>
                    <a:pt x="7361" y="398"/>
                    <a:pt x="7361" y="373"/>
                  </a:cubicBezTo>
                  <a:cubicBezTo>
                    <a:pt x="7361" y="347"/>
                    <a:pt x="7382" y="326"/>
                    <a:pt x="7408" y="326"/>
                  </a:cubicBezTo>
                  <a:cubicBezTo>
                    <a:pt x="7433" y="326"/>
                    <a:pt x="7455" y="347"/>
                    <a:pt x="7455" y="373"/>
                  </a:cubicBezTo>
                  <a:close/>
                  <a:moveTo>
                    <a:pt x="7556" y="373"/>
                  </a:moveTo>
                  <a:cubicBezTo>
                    <a:pt x="7556" y="398"/>
                    <a:pt x="7534" y="420"/>
                    <a:pt x="7509" y="420"/>
                  </a:cubicBezTo>
                  <a:cubicBezTo>
                    <a:pt x="7483" y="420"/>
                    <a:pt x="7462" y="398"/>
                    <a:pt x="7462" y="373"/>
                  </a:cubicBezTo>
                  <a:cubicBezTo>
                    <a:pt x="7462" y="347"/>
                    <a:pt x="7483" y="326"/>
                    <a:pt x="7509" y="326"/>
                  </a:cubicBezTo>
                  <a:cubicBezTo>
                    <a:pt x="7534" y="326"/>
                    <a:pt x="7556" y="347"/>
                    <a:pt x="7556" y="373"/>
                  </a:cubicBezTo>
                  <a:close/>
                  <a:moveTo>
                    <a:pt x="7657" y="373"/>
                  </a:moveTo>
                  <a:cubicBezTo>
                    <a:pt x="7657" y="398"/>
                    <a:pt x="7635" y="420"/>
                    <a:pt x="7610" y="420"/>
                  </a:cubicBezTo>
                  <a:cubicBezTo>
                    <a:pt x="7584" y="420"/>
                    <a:pt x="7563" y="398"/>
                    <a:pt x="7563" y="373"/>
                  </a:cubicBezTo>
                  <a:cubicBezTo>
                    <a:pt x="7563" y="347"/>
                    <a:pt x="7584" y="326"/>
                    <a:pt x="7610" y="326"/>
                  </a:cubicBezTo>
                  <a:cubicBezTo>
                    <a:pt x="7635" y="326"/>
                    <a:pt x="7657" y="347"/>
                    <a:pt x="7657" y="373"/>
                  </a:cubicBezTo>
                  <a:close/>
                  <a:moveTo>
                    <a:pt x="7758" y="373"/>
                  </a:moveTo>
                  <a:cubicBezTo>
                    <a:pt x="7758" y="398"/>
                    <a:pt x="7736" y="420"/>
                    <a:pt x="7711" y="420"/>
                  </a:cubicBezTo>
                  <a:cubicBezTo>
                    <a:pt x="7685" y="420"/>
                    <a:pt x="7664" y="398"/>
                    <a:pt x="7664" y="373"/>
                  </a:cubicBezTo>
                  <a:cubicBezTo>
                    <a:pt x="7664" y="347"/>
                    <a:pt x="7685" y="326"/>
                    <a:pt x="7711" y="326"/>
                  </a:cubicBezTo>
                  <a:cubicBezTo>
                    <a:pt x="7736" y="326"/>
                    <a:pt x="7758" y="347"/>
                    <a:pt x="7758" y="373"/>
                  </a:cubicBezTo>
                  <a:close/>
                  <a:moveTo>
                    <a:pt x="7859" y="373"/>
                  </a:moveTo>
                  <a:cubicBezTo>
                    <a:pt x="7859" y="398"/>
                    <a:pt x="7837" y="420"/>
                    <a:pt x="7812" y="420"/>
                  </a:cubicBezTo>
                  <a:cubicBezTo>
                    <a:pt x="7786" y="420"/>
                    <a:pt x="7765" y="398"/>
                    <a:pt x="7765" y="373"/>
                  </a:cubicBezTo>
                  <a:cubicBezTo>
                    <a:pt x="7765" y="347"/>
                    <a:pt x="7786" y="326"/>
                    <a:pt x="7812" y="326"/>
                  </a:cubicBezTo>
                  <a:cubicBezTo>
                    <a:pt x="7837" y="326"/>
                    <a:pt x="7859" y="347"/>
                    <a:pt x="7859" y="373"/>
                  </a:cubicBezTo>
                  <a:close/>
                  <a:moveTo>
                    <a:pt x="7959" y="373"/>
                  </a:moveTo>
                  <a:cubicBezTo>
                    <a:pt x="7959" y="398"/>
                    <a:pt x="7937" y="420"/>
                    <a:pt x="7912" y="420"/>
                  </a:cubicBezTo>
                  <a:cubicBezTo>
                    <a:pt x="7886" y="420"/>
                    <a:pt x="7865" y="398"/>
                    <a:pt x="7865" y="373"/>
                  </a:cubicBezTo>
                  <a:cubicBezTo>
                    <a:pt x="7865" y="347"/>
                    <a:pt x="7886" y="326"/>
                    <a:pt x="7912" y="326"/>
                  </a:cubicBezTo>
                  <a:cubicBezTo>
                    <a:pt x="7937" y="326"/>
                    <a:pt x="7959" y="347"/>
                    <a:pt x="7959" y="373"/>
                  </a:cubicBezTo>
                  <a:close/>
                  <a:moveTo>
                    <a:pt x="8060" y="373"/>
                  </a:moveTo>
                  <a:cubicBezTo>
                    <a:pt x="8060" y="398"/>
                    <a:pt x="8038" y="420"/>
                    <a:pt x="8013" y="420"/>
                  </a:cubicBezTo>
                  <a:cubicBezTo>
                    <a:pt x="7987" y="420"/>
                    <a:pt x="7966" y="398"/>
                    <a:pt x="7966" y="373"/>
                  </a:cubicBezTo>
                  <a:cubicBezTo>
                    <a:pt x="7966" y="347"/>
                    <a:pt x="7987" y="326"/>
                    <a:pt x="8013" y="326"/>
                  </a:cubicBezTo>
                  <a:cubicBezTo>
                    <a:pt x="8038" y="326"/>
                    <a:pt x="8060" y="347"/>
                    <a:pt x="8060" y="373"/>
                  </a:cubicBezTo>
                  <a:close/>
                  <a:moveTo>
                    <a:pt x="8161" y="373"/>
                  </a:moveTo>
                  <a:cubicBezTo>
                    <a:pt x="8161" y="398"/>
                    <a:pt x="8139" y="420"/>
                    <a:pt x="8114" y="420"/>
                  </a:cubicBezTo>
                  <a:cubicBezTo>
                    <a:pt x="8088" y="420"/>
                    <a:pt x="8067" y="398"/>
                    <a:pt x="8067" y="373"/>
                  </a:cubicBezTo>
                  <a:cubicBezTo>
                    <a:pt x="8067" y="347"/>
                    <a:pt x="8088" y="326"/>
                    <a:pt x="8114" y="326"/>
                  </a:cubicBezTo>
                  <a:cubicBezTo>
                    <a:pt x="8139" y="326"/>
                    <a:pt x="8161" y="347"/>
                    <a:pt x="8161" y="373"/>
                  </a:cubicBezTo>
                  <a:close/>
                  <a:moveTo>
                    <a:pt x="8262" y="373"/>
                  </a:moveTo>
                  <a:cubicBezTo>
                    <a:pt x="8262" y="398"/>
                    <a:pt x="8240" y="420"/>
                    <a:pt x="8215" y="420"/>
                  </a:cubicBezTo>
                  <a:cubicBezTo>
                    <a:pt x="8189" y="420"/>
                    <a:pt x="8168" y="398"/>
                    <a:pt x="8168" y="373"/>
                  </a:cubicBezTo>
                  <a:cubicBezTo>
                    <a:pt x="8168" y="347"/>
                    <a:pt x="8189" y="326"/>
                    <a:pt x="8215" y="326"/>
                  </a:cubicBezTo>
                  <a:cubicBezTo>
                    <a:pt x="8240" y="326"/>
                    <a:pt x="8262" y="347"/>
                    <a:pt x="8262" y="373"/>
                  </a:cubicBezTo>
                  <a:close/>
                  <a:moveTo>
                    <a:pt x="8363" y="373"/>
                  </a:moveTo>
                  <a:cubicBezTo>
                    <a:pt x="8363" y="398"/>
                    <a:pt x="8341" y="420"/>
                    <a:pt x="8316" y="420"/>
                  </a:cubicBezTo>
                  <a:cubicBezTo>
                    <a:pt x="8290" y="420"/>
                    <a:pt x="8269" y="398"/>
                    <a:pt x="8269" y="373"/>
                  </a:cubicBezTo>
                  <a:cubicBezTo>
                    <a:pt x="8269" y="347"/>
                    <a:pt x="8290" y="326"/>
                    <a:pt x="8316" y="326"/>
                  </a:cubicBezTo>
                  <a:cubicBezTo>
                    <a:pt x="8341" y="326"/>
                    <a:pt x="8363" y="347"/>
                    <a:pt x="8363" y="373"/>
                  </a:cubicBezTo>
                  <a:close/>
                  <a:moveTo>
                    <a:pt x="8463" y="373"/>
                  </a:moveTo>
                  <a:cubicBezTo>
                    <a:pt x="8463" y="398"/>
                    <a:pt x="8441" y="420"/>
                    <a:pt x="8416" y="420"/>
                  </a:cubicBezTo>
                  <a:cubicBezTo>
                    <a:pt x="8390" y="420"/>
                    <a:pt x="8369" y="398"/>
                    <a:pt x="8369" y="373"/>
                  </a:cubicBezTo>
                  <a:cubicBezTo>
                    <a:pt x="8369" y="347"/>
                    <a:pt x="8390" y="326"/>
                    <a:pt x="8416" y="326"/>
                  </a:cubicBezTo>
                  <a:cubicBezTo>
                    <a:pt x="8441" y="326"/>
                    <a:pt x="8463" y="347"/>
                    <a:pt x="8463" y="373"/>
                  </a:cubicBezTo>
                  <a:close/>
                  <a:moveTo>
                    <a:pt x="8564" y="373"/>
                  </a:moveTo>
                  <a:cubicBezTo>
                    <a:pt x="8564" y="398"/>
                    <a:pt x="8542" y="420"/>
                    <a:pt x="8517" y="420"/>
                  </a:cubicBezTo>
                  <a:cubicBezTo>
                    <a:pt x="8491" y="420"/>
                    <a:pt x="8470" y="398"/>
                    <a:pt x="8470" y="373"/>
                  </a:cubicBezTo>
                  <a:cubicBezTo>
                    <a:pt x="8470" y="347"/>
                    <a:pt x="8491" y="326"/>
                    <a:pt x="8517" y="326"/>
                  </a:cubicBezTo>
                  <a:cubicBezTo>
                    <a:pt x="8542" y="326"/>
                    <a:pt x="8564" y="347"/>
                    <a:pt x="8564" y="373"/>
                  </a:cubicBezTo>
                  <a:close/>
                  <a:moveTo>
                    <a:pt x="8665" y="373"/>
                  </a:moveTo>
                  <a:cubicBezTo>
                    <a:pt x="8665" y="398"/>
                    <a:pt x="8643" y="420"/>
                    <a:pt x="8618" y="420"/>
                  </a:cubicBezTo>
                  <a:cubicBezTo>
                    <a:pt x="8592" y="420"/>
                    <a:pt x="8571" y="398"/>
                    <a:pt x="8571" y="373"/>
                  </a:cubicBezTo>
                  <a:cubicBezTo>
                    <a:pt x="8571" y="347"/>
                    <a:pt x="8592" y="326"/>
                    <a:pt x="8618" y="326"/>
                  </a:cubicBezTo>
                  <a:cubicBezTo>
                    <a:pt x="8643" y="326"/>
                    <a:pt x="8665" y="347"/>
                    <a:pt x="8665" y="373"/>
                  </a:cubicBezTo>
                  <a:close/>
                  <a:moveTo>
                    <a:pt x="8766" y="373"/>
                  </a:moveTo>
                  <a:cubicBezTo>
                    <a:pt x="8766" y="398"/>
                    <a:pt x="8744" y="420"/>
                    <a:pt x="8719" y="420"/>
                  </a:cubicBezTo>
                  <a:cubicBezTo>
                    <a:pt x="8693" y="420"/>
                    <a:pt x="8672" y="398"/>
                    <a:pt x="8672" y="373"/>
                  </a:cubicBezTo>
                  <a:cubicBezTo>
                    <a:pt x="8672" y="347"/>
                    <a:pt x="8693" y="326"/>
                    <a:pt x="8719" y="326"/>
                  </a:cubicBezTo>
                  <a:cubicBezTo>
                    <a:pt x="8744" y="326"/>
                    <a:pt x="8766" y="347"/>
                    <a:pt x="8766" y="373"/>
                  </a:cubicBezTo>
                  <a:close/>
                  <a:moveTo>
                    <a:pt x="8867" y="373"/>
                  </a:moveTo>
                  <a:cubicBezTo>
                    <a:pt x="8867" y="398"/>
                    <a:pt x="8845" y="420"/>
                    <a:pt x="8820" y="420"/>
                  </a:cubicBezTo>
                  <a:cubicBezTo>
                    <a:pt x="8794" y="420"/>
                    <a:pt x="8773" y="398"/>
                    <a:pt x="8773" y="373"/>
                  </a:cubicBezTo>
                  <a:cubicBezTo>
                    <a:pt x="8773" y="347"/>
                    <a:pt x="8794" y="326"/>
                    <a:pt x="8820" y="326"/>
                  </a:cubicBezTo>
                  <a:cubicBezTo>
                    <a:pt x="8845" y="326"/>
                    <a:pt x="8867" y="347"/>
                    <a:pt x="8867" y="373"/>
                  </a:cubicBezTo>
                  <a:close/>
                  <a:moveTo>
                    <a:pt x="8967" y="373"/>
                  </a:moveTo>
                  <a:cubicBezTo>
                    <a:pt x="8967" y="398"/>
                    <a:pt x="8945" y="420"/>
                    <a:pt x="8920" y="420"/>
                  </a:cubicBezTo>
                  <a:cubicBezTo>
                    <a:pt x="8894" y="420"/>
                    <a:pt x="8873" y="398"/>
                    <a:pt x="8873" y="373"/>
                  </a:cubicBezTo>
                  <a:cubicBezTo>
                    <a:pt x="8873" y="347"/>
                    <a:pt x="8894" y="326"/>
                    <a:pt x="8920" y="326"/>
                  </a:cubicBezTo>
                  <a:cubicBezTo>
                    <a:pt x="8945" y="326"/>
                    <a:pt x="8967" y="347"/>
                    <a:pt x="8967" y="373"/>
                  </a:cubicBezTo>
                  <a:close/>
                  <a:moveTo>
                    <a:pt x="9068" y="373"/>
                  </a:moveTo>
                  <a:cubicBezTo>
                    <a:pt x="9068" y="398"/>
                    <a:pt x="9046" y="420"/>
                    <a:pt x="9021" y="420"/>
                  </a:cubicBezTo>
                  <a:cubicBezTo>
                    <a:pt x="8995" y="420"/>
                    <a:pt x="8974" y="398"/>
                    <a:pt x="8974" y="373"/>
                  </a:cubicBezTo>
                  <a:cubicBezTo>
                    <a:pt x="8974" y="347"/>
                    <a:pt x="8995" y="326"/>
                    <a:pt x="9021" y="326"/>
                  </a:cubicBezTo>
                  <a:cubicBezTo>
                    <a:pt x="9046" y="326"/>
                    <a:pt x="9068" y="347"/>
                    <a:pt x="9068" y="373"/>
                  </a:cubicBezTo>
                  <a:close/>
                  <a:moveTo>
                    <a:pt x="9169" y="373"/>
                  </a:moveTo>
                  <a:cubicBezTo>
                    <a:pt x="9169" y="398"/>
                    <a:pt x="9147" y="420"/>
                    <a:pt x="9122" y="420"/>
                  </a:cubicBezTo>
                  <a:cubicBezTo>
                    <a:pt x="9096" y="420"/>
                    <a:pt x="9075" y="398"/>
                    <a:pt x="9075" y="373"/>
                  </a:cubicBezTo>
                  <a:cubicBezTo>
                    <a:pt x="9075" y="347"/>
                    <a:pt x="9096" y="326"/>
                    <a:pt x="9122" y="326"/>
                  </a:cubicBezTo>
                  <a:cubicBezTo>
                    <a:pt x="9147" y="326"/>
                    <a:pt x="9169" y="347"/>
                    <a:pt x="9169" y="373"/>
                  </a:cubicBezTo>
                  <a:close/>
                  <a:moveTo>
                    <a:pt x="9270" y="373"/>
                  </a:moveTo>
                  <a:cubicBezTo>
                    <a:pt x="9270" y="398"/>
                    <a:pt x="9248" y="420"/>
                    <a:pt x="9223" y="420"/>
                  </a:cubicBezTo>
                  <a:cubicBezTo>
                    <a:pt x="9197" y="420"/>
                    <a:pt x="9176" y="398"/>
                    <a:pt x="9176" y="373"/>
                  </a:cubicBezTo>
                  <a:cubicBezTo>
                    <a:pt x="9176" y="347"/>
                    <a:pt x="9197" y="326"/>
                    <a:pt x="9223" y="326"/>
                  </a:cubicBezTo>
                  <a:cubicBezTo>
                    <a:pt x="9248" y="326"/>
                    <a:pt x="9270" y="347"/>
                    <a:pt x="9270" y="373"/>
                  </a:cubicBezTo>
                  <a:close/>
                  <a:moveTo>
                    <a:pt x="9371" y="373"/>
                  </a:moveTo>
                  <a:cubicBezTo>
                    <a:pt x="9371" y="398"/>
                    <a:pt x="9349" y="420"/>
                    <a:pt x="9324" y="420"/>
                  </a:cubicBezTo>
                  <a:cubicBezTo>
                    <a:pt x="9298" y="420"/>
                    <a:pt x="9277" y="398"/>
                    <a:pt x="9277" y="373"/>
                  </a:cubicBezTo>
                  <a:cubicBezTo>
                    <a:pt x="9277" y="347"/>
                    <a:pt x="9298" y="326"/>
                    <a:pt x="9324" y="326"/>
                  </a:cubicBezTo>
                  <a:cubicBezTo>
                    <a:pt x="9349" y="326"/>
                    <a:pt x="9371" y="347"/>
                    <a:pt x="9371" y="373"/>
                  </a:cubicBezTo>
                  <a:close/>
                  <a:moveTo>
                    <a:pt x="9471" y="373"/>
                  </a:moveTo>
                  <a:cubicBezTo>
                    <a:pt x="9471" y="398"/>
                    <a:pt x="9449" y="420"/>
                    <a:pt x="9424" y="420"/>
                  </a:cubicBezTo>
                  <a:cubicBezTo>
                    <a:pt x="9398" y="420"/>
                    <a:pt x="9377" y="398"/>
                    <a:pt x="9377" y="373"/>
                  </a:cubicBezTo>
                  <a:cubicBezTo>
                    <a:pt x="9377" y="347"/>
                    <a:pt x="9398" y="326"/>
                    <a:pt x="9424" y="326"/>
                  </a:cubicBezTo>
                  <a:cubicBezTo>
                    <a:pt x="9449" y="326"/>
                    <a:pt x="9471" y="347"/>
                    <a:pt x="9471" y="373"/>
                  </a:cubicBezTo>
                  <a:close/>
                  <a:moveTo>
                    <a:pt x="9572" y="373"/>
                  </a:moveTo>
                  <a:cubicBezTo>
                    <a:pt x="9572" y="398"/>
                    <a:pt x="9550" y="420"/>
                    <a:pt x="9525" y="420"/>
                  </a:cubicBezTo>
                  <a:cubicBezTo>
                    <a:pt x="9499" y="420"/>
                    <a:pt x="9478" y="398"/>
                    <a:pt x="9478" y="373"/>
                  </a:cubicBezTo>
                  <a:cubicBezTo>
                    <a:pt x="9478" y="347"/>
                    <a:pt x="9499" y="326"/>
                    <a:pt x="9525" y="326"/>
                  </a:cubicBezTo>
                  <a:cubicBezTo>
                    <a:pt x="9550" y="326"/>
                    <a:pt x="9572" y="347"/>
                    <a:pt x="9572" y="373"/>
                  </a:cubicBezTo>
                  <a:close/>
                  <a:moveTo>
                    <a:pt x="9673" y="373"/>
                  </a:moveTo>
                  <a:cubicBezTo>
                    <a:pt x="9673" y="398"/>
                    <a:pt x="9651" y="420"/>
                    <a:pt x="9626" y="420"/>
                  </a:cubicBezTo>
                  <a:cubicBezTo>
                    <a:pt x="9600" y="420"/>
                    <a:pt x="9579" y="398"/>
                    <a:pt x="9579" y="373"/>
                  </a:cubicBezTo>
                  <a:cubicBezTo>
                    <a:pt x="9579" y="347"/>
                    <a:pt x="9600" y="326"/>
                    <a:pt x="9626" y="326"/>
                  </a:cubicBezTo>
                  <a:cubicBezTo>
                    <a:pt x="9651" y="326"/>
                    <a:pt x="9673" y="347"/>
                    <a:pt x="9673" y="373"/>
                  </a:cubicBezTo>
                  <a:close/>
                  <a:moveTo>
                    <a:pt x="9774" y="373"/>
                  </a:moveTo>
                  <a:cubicBezTo>
                    <a:pt x="9774" y="398"/>
                    <a:pt x="9752" y="420"/>
                    <a:pt x="9727" y="420"/>
                  </a:cubicBezTo>
                  <a:cubicBezTo>
                    <a:pt x="9701" y="420"/>
                    <a:pt x="9680" y="398"/>
                    <a:pt x="9680" y="373"/>
                  </a:cubicBezTo>
                  <a:cubicBezTo>
                    <a:pt x="9680" y="347"/>
                    <a:pt x="9701" y="326"/>
                    <a:pt x="9727" y="326"/>
                  </a:cubicBezTo>
                  <a:cubicBezTo>
                    <a:pt x="9752" y="326"/>
                    <a:pt x="9774" y="347"/>
                    <a:pt x="9774" y="373"/>
                  </a:cubicBezTo>
                  <a:close/>
                  <a:moveTo>
                    <a:pt x="9875" y="373"/>
                  </a:moveTo>
                  <a:cubicBezTo>
                    <a:pt x="9875" y="398"/>
                    <a:pt x="9853" y="420"/>
                    <a:pt x="9828" y="420"/>
                  </a:cubicBezTo>
                  <a:cubicBezTo>
                    <a:pt x="9802" y="420"/>
                    <a:pt x="9781" y="398"/>
                    <a:pt x="9781" y="373"/>
                  </a:cubicBezTo>
                  <a:cubicBezTo>
                    <a:pt x="9781" y="347"/>
                    <a:pt x="9802" y="326"/>
                    <a:pt x="9828" y="326"/>
                  </a:cubicBezTo>
                  <a:cubicBezTo>
                    <a:pt x="9853" y="326"/>
                    <a:pt x="9875" y="347"/>
                    <a:pt x="9875" y="373"/>
                  </a:cubicBezTo>
                  <a:close/>
                  <a:moveTo>
                    <a:pt x="9975" y="373"/>
                  </a:moveTo>
                  <a:cubicBezTo>
                    <a:pt x="9975" y="398"/>
                    <a:pt x="9953" y="420"/>
                    <a:pt x="9928" y="420"/>
                  </a:cubicBezTo>
                  <a:cubicBezTo>
                    <a:pt x="9902" y="420"/>
                    <a:pt x="9881" y="398"/>
                    <a:pt x="9881" y="373"/>
                  </a:cubicBezTo>
                  <a:cubicBezTo>
                    <a:pt x="9881" y="347"/>
                    <a:pt x="9902" y="326"/>
                    <a:pt x="9928" y="326"/>
                  </a:cubicBezTo>
                  <a:cubicBezTo>
                    <a:pt x="9953" y="326"/>
                    <a:pt x="9975" y="347"/>
                    <a:pt x="9975" y="373"/>
                  </a:cubicBezTo>
                  <a:close/>
                  <a:moveTo>
                    <a:pt x="10076" y="373"/>
                  </a:moveTo>
                  <a:cubicBezTo>
                    <a:pt x="10076" y="398"/>
                    <a:pt x="10054" y="420"/>
                    <a:pt x="10029" y="420"/>
                  </a:cubicBezTo>
                  <a:cubicBezTo>
                    <a:pt x="10003" y="420"/>
                    <a:pt x="9982" y="398"/>
                    <a:pt x="9982" y="373"/>
                  </a:cubicBezTo>
                  <a:cubicBezTo>
                    <a:pt x="9982" y="347"/>
                    <a:pt x="10003" y="326"/>
                    <a:pt x="10029" y="326"/>
                  </a:cubicBezTo>
                  <a:cubicBezTo>
                    <a:pt x="10054" y="326"/>
                    <a:pt x="10076" y="347"/>
                    <a:pt x="10076" y="373"/>
                  </a:cubicBezTo>
                  <a:close/>
                  <a:moveTo>
                    <a:pt x="10177" y="373"/>
                  </a:moveTo>
                  <a:cubicBezTo>
                    <a:pt x="10177" y="398"/>
                    <a:pt x="10155" y="420"/>
                    <a:pt x="10130" y="420"/>
                  </a:cubicBezTo>
                  <a:cubicBezTo>
                    <a:pt x="10104" y="420"/>
                    <a:pt x="10083" y="398"/>
                    <a:pt x="10083" y="373"/>
                  </a:cubicBezTo>
                  <a:cubicBezTo>
                    <a:pt x="10083" y="347"/>
                    <a:pt x="10104" y="326"/>
                    <a:pt x="10130" y="326"/>
                  </a:cubicBezTo>
                  <a:cubicBezTo>
                    <a:pt x="10155" y="326"/>
                    <a:pt x="10177" y="347"/>
                    <a:pt x="10177" y="373"/>
                  </a:cubicBezTo>
                  <a:close/>
                  <a:moveTo>
                    <a:pt x="10278" y="373"/>
                  </a:moveTo>
                  <a:cubicBezTo>
                    <a:pt x="10278" y="398"/>
                    <a:pt x="10256" y="420"/>
                    <a:pt x="10231" y="420"/>
                  </a:cubicBezTo>
                  <a:cubicBezTo>
                    <a:pt x="10205" y="420"/>
                    <a:pt x="10184" y="398"/>
                    <a:pt x="10184" y="373"/>
                  </a:cubicBezTo>
                  <a:cubicBezTo>
                    <a:pt x="10184" y="347"/>
                    <a:pt x="10205" y="326"/>
                    <a:pt x="10231" y="326"/>
                  </a:cubicBezTo>
                  <a:cubicBezTo>
                    <a:pt x="10256" y="326"/>
                    <a:pt x="10278" y="347"/>
                    <a:pt x="10278" y="373"/>
                  </a:cubicBezTo>
                  <a:close/>
                  <a:moveTo>
                    <a:pt x="10379" y="373"/>
                  </a:moveTo>
                  <a:cubicBezTo>
                    <a:pt x="10379" y="398"/>
                    <a:pt x="10357" y="420"/>
                    <a:pt x="10332" y="420"/>
                  </a:cubicBezTo>
                  <a:cubicBezTo>
                    <a:pt x="10306" y="420"/>
                    <a:pt x="10285" y="398"/>
                    <a:pt x="10285" y="373"/>
                  </a:cubicBezTo>
                  <a:cubicBezTo>
                    <a:pt x="10285" y="347"/>
                    <a:pt x="10306" y="326"/>
                    <a:pt x="10332" y="326"/>
                  </a:cubicBezTo>
                  <a:cubicBezTo>
                    <a:pt x="10357" y="326"/>
                    <a:pt x="10379" y="347"/>
                    <a:pt x="10379" y="373"/>
                  </a:cubicBezTo>
                  <a:close/>
                  <a:moveTo>
                    <a:pt x="10479" y="373"/>
                  </a:moveTo>
                  <a:cubicBezTo>
                    <a:pt x="10479" y="398"/>
                    <a:pt x="10457" y="420"/>
                    <a:pt x="10432" y="420"/>
                  </a:cubicBezTo>
                  <a:cubicBezTo>
                    <a:pt x="10406" y="420"/>
                    <a:pt x="10385" y="398"/>
                    <a:pt x="10385" y="373"/>
                  </a:cubicBezTo>
                  <a:cubicBezTo>
                    <a:pt x="10385" y="347"/>
                    <a:pt x="10406" y="326"/>
                    <a:pt x="10432" y="326"/>
                  </a:cubicBezTo>
                  <a:cubicBezTo>
                    <a:pt x="10457" y="326"/>
                    <a:pt x="10479" y="347"/>
                    <a:pt x="10479" y="373"/>
                  </a:cubicBezTo>
                  <a:close/>
                  <a:moveTo>
                    <a:pt x="10580" y="373"/>
                  </a:moveTo>
                  <a:cubicBezTo>
                    <a:pt x="10580" y="398"/>
                    <a:pt x="10558" y="420"/>
                    <a:pt x="10533" y="420"/>
                  </a:cubicBezTo>
                  <a:cubicBezTo>
                    <a:pt x="10507" y="420"/>
                    <a:pt x="10486" y="398"/>
                    <a:pt x="10486" y="373"/>
                  </a:cubicBezTo>
                  <a:cubicBezTo>
                    <a:pt x="10486" y="347"/>
                    <a:pt x="10507" y="326"/>
                    <a:pt x="10533" y="326"/>
                  </a:cubicBezTo>
                  <a:cubicBezTo>
                    <a:pt x="10558" y="326"/>
                    <a:pt x="10580" y="347"/>
                    <a:pt x="10580" y="373"/>
                  </a:cubicBezTo>
                  <a:close/>
                  <a:moveTo>
                    <a:pt x="10681" y="373"/>
                  </a:moveTo>
                  <a:cubicBezTo>
                    <a:pt x="10681" y="398"/>
                    <a:pt x="10659" y="420"/>
                    <a:pt x="10634" y="420"/>
                  </a:cubicBezTo>
                  <a:cubicBezTo>
                    <a:pt x="10608" y="420"/>
                    <a:pt x="10587" y="398"/>
                    <a:pt x="10587" y="373"/>
                  </a:cubicBezTo>
                  <a:cubicBezTo>
                    <a:pt x="10587" y="347"/>
                    <a:pt x="10608" y="326"/>
                    <a:pt x="10634" y="326"/>
                  </a:cubicBezTo>
                  <a:cubicBezTo>
                    <a:pt x="10659" y="326"/>
                    <a:pt x="10681" y="347"/>
                    <a:pt x="10681" y="373"/>
                  </a:cubicBezTo>
                  <a:close/>
                  <a:moveTo>
                    <a:pt x="10782" y="373"/>
                  </a:moveTo>
                  <a:cubicBezTo>
                    <a:pt x="10782" y="398"/>
                    <a:pt x="10760" y="420"/>
                    <a:pt x="10735" y="420"/>
                  </a:cubicBezTo>
                  <a:cubicBezTo>
                    <a:pt x="10709" y="420"/>
                    <a:pt x="10688" y="398"/>
                    <a:pt x="10688" y="373"/>
                  </a:cubicBezTo>
                  <a:cubicBezTo>
                    <a:pt x="10688" y="347"/>
                    <a:pt x="10709" y="326"/>
                    <a:pt x="10735" y="326"/>
                  </a:cubicBezTo>
                  <a:cubicBezTo>
                    <a:pt x="10760" y="326"/>
                    <a:pt x="10782" y="347"/>
                    <a:pt x="10782" y="373"/>
                  </a:cubicBezTo>
                  <a:close/>
                  <a:moveTo>
                    <a:pt x="10883" y="373"/>
                  </a:moveTo>
                  <a:cubicBezTo>
                    <a:pt x="10883" y="398"/>
                    <a:pt x="10861" y="420"/>
                    <a:pt x="10836" y="420"/>
                  </a:cubicBezTo>
                  <a:cubicBezTo>
                    <a:pt x="10810" y="420"/>
                    <a:pt x="10789" y="398"/>
                    <a:pt x="10789" y="373"/>
                  </a:cubicBezTo>
                  <a:cubicBezTo>
                    <a:pt x="10789" y="347"/>
                    <a:pt x="10810" y="326"/>
                    <a:pt x="10836" y="326"/>
                  </a:cubicBezTo>
                  <a:cubicBezTo>
                    <a:pt x="10861" y="326"/>
                    <a:pt x="10883" y="347"/>
                    <a:pt x="10883" y="373"/>
                  </a:cubicBezTo>
                  <a:close/>
                  <a:moveTo>
                    <a:pt x="10983" y="373"/>
                  </a:moveTo>
                  <a:cubicBezTo>
                    <a:pt x="10983" y="398"/>
                    <a:pt x="10961" y="420"/>
                    <a:pt x="10936" y="420"/>
                  </a:cubicBezTo>
                  <a:cubicBezTo>
                    <a:pt x="10910" y="420"/>
                    <a:pt x="10889" y="398"/>
                    <a:pt x="10889" y="373"/>
                  </a:cubicBezTo>
                  <a:cubicBezTo>
                    <a:pt x="10889" y="347"/>
                    <a:pt x="10910" y="326"/>
                    <a:pt x="10936" y="326"/>
                  </a:cubicBezTo>
                  <a:cubicBezTo>
                    <a:pt x="10961" y="326"/>
                    <a:pt x="10983" y="347"/>
                    <a:pt x="10983" y="373"/>
                  </a:cubicBezTo>
                  <a:close/>
                  <a:moveTo>
                    <a:pt x="11084" y="373"/>
                  </a:moveTo>
                  <a:cubicBezTo>
                    <a:pt x="11084" y="398"/>
                    <a:pt x="11062" y="420"/>
                    <a:pt x="11037" y="420"/>
                  </a:cubicBezTo>
                  <a:cubicBezTo>
                    <a:pt x="11011" y="420"/>
                    <a:pt x="10990" y="398"/>
                    <a:pt x="10990" y="373"/>
                  </a:cubicBezTo>
                  <a:cubicBezTo>
                    <a:pt x="10990" y="347"/>
                    <a:pt x="11011" y="326"/>
                    <a:pt x="11037" y="326"/>
                  </a:cubicBezTo>
                  <a:cubicBezTo>
                    <a:pt x="11062" y="326"/>
                    <a:pt x="11084" y="347"/>
                    <a:pt x="11084" y="373"/>
                  </a:cubicBezTo>
                  <a:close/>
                  <a:moveTo>
                    <a:pt x="11185" y="373"/>
                  </a:moveTo>
                  <a:cubicBezTo>
                    <a:pt x="11185" y="398"/>
                    <a:pt x="11163" y="420"/>
                    <a:pt x="11138" y="420"/>
                  </a:cubicBezTo>
                  <a:cubicBezTo>
                    <a:pt x="11112" y="420"/>
                    <a:pt x="11091" y="398"/>
                    <a:pt x="11091" y="373"/>
                  </a:cubicBezTo>
                  <a:cubicBezTo>
                    <a:pt x="11091" y="347"/>
                    <a:pt x="11112" y="326"/>
                    <a:pt x="11138" y="326"/>
                  </a:cubicBezTo>
                  <a:cubicBezTo>
                    <a:pt x="11163" y="326"/>
                    <a:pt x="11185" y="347"/>
                    <a:pt x="11185" y="373"/>
                  </a:cubicBezTo>
                  <a:close/>
                  <a:moveTo>
                    <a:pt x="11286" y="373"/>
                  </a:moveTo>
                  <a:cubicBezTo>
                    <a:pt x="11286" y="398"/>
                    <a:pt x="11264" y="420"/>
                    <a:pt x="11239" y="420"/>
                  </a:cubicBezTo>
                  <a:cubicBezTo>
                    <a:pt x="11213" y="420"/>
                    <a:pt x="11192" y="398"/>
                    <a:pt x="11192" y="373"/>
                  </a:cubicBezTo>
                  <a:cubicBezTo>
                    <a:pt x="11192" y="347"/>
                    <a:pt x="11213" y="326"/>
                    <a:pt x="11239" y="326"/>
                  </a:cubicBezTo>
                  <a:cubicBezTo>
                    <a:pt x="11264" y="326"/>
                    <a:pt x="11286" y="347"/>
                    <a:pt x="11286" y="373"/>
                  </a:cubicBezTo>
                  <a:close/>
                  <a:moveTo>
                    <a:pt x="11387" y="373"/>
                  </a:moveTo>
                  <a:cubicBezTo>
                    <a:pt x="11387" y="398"/>
                    <a:pt x="11365" y="420"/>
                    <a:pt x="11340" y="420"/>
                  </a:cubicBezTo>
                  <a:cubicBezTo>
                    <a:pt x="11314" y="420"/>
                    <a:pt x="11293" y="398"/>
                    <a:pt x="11293" y="373"/>
                  </a:cubicBezTo>
                  <a:cubicBezTo>
                    <a:pt x="11293" y="347"/>
                    <a:pt x="11314" y="326"/>
                    <a:pt x="11340" y="326"/>
                  </a:cubicBezTo>
                  <a:cubicBezTo>
                    <a:pt x="11365" y="326"/>
                    <a:pt x="11387" y="347"/>
                    <a:pt x="11387" y="373"/>
                  </a:cubicBezTo>
                  <a:close/>
                  <a:moveTo>
                    <a:pt x="11487" y="373"/>
                  </a:moveTo>
                  <a:cubicBezTo>
                    <a:pt x="11487" y="398"/>
                    <a:pt x="11465" y="420"/>
                    <a:pt x="11440" y="420"/>
                  </a:cubicBezTo>
                  <a:cubicBezTo>
                    <a:pt x="11414" y="420"/>
                    <a:pt x="11393" y="398"/>
                    <a:pt x="11393" y="373"/>
                  </a:cubicBezTo>
                  <a:cubicBezTo>
                    <a:pt x="11393" y="347"/>
                    <a:pt x="11414" y="326"/>
                    <a:pt x="11440" y="326"/>
                  </a:cubicBezTo>
                  <a:cubicBezTo>
                    <a:pt x="11465" y="326"/>
                    <a:pt x="11487" y="347"/>
                    <a:pt x="11487" y="373"/>
                  </a:cubicBezTo>
                  <a:close/>
                  <a:moveTo>
                    <a:pt x="11588" y="373"/>
                  </a:moveTo>
                  <a:cubicBezTo>
                    <a:pt x="11588" y="398"/>
                    <a:pt x="11566" y="420"/>
                    <a:pt x="11541" y="420"/>
                  </a:cubicBezTo>
                  <a:cubicBezTo>
                    <a:pt x="11515" y="420"/>
                    <a:pt x="11494" y="398"/>
                    <a:pt x="11494" y="373"/>
                  </a:cubicBezTo>
                  <a:cubicBezTo>
                    <a:pt x="11494" y="347"/>
                    <a:pt x="11515" y="326"/>
                    <a:pt x="11541" y="326"/>
                  </a:cubicBezTo>
                  <a:cubicBezTo>
                    <a:pt x="11566" y="326"/>
                    <a:pt x="11588" y="347"/>
                    <a:pt x="11588" y="373"/>
                  </a:cubicBezTo>
                  <a:close/>
                  <a:moveTo>
                    <a:pt x="11689" y="373"/>
                  </a:moveTo>
                  <a:cubicBezTo>
                    <a:pt x="11689" y="398"/>
                    <a:pt x="11667" y="420"/>
                    <a:pt x="11642" y="420"/>
                  </a:cubicBezTo>
                  <a:cubicBezTo>
                    <a:pt x="11616" y="420"/>
                    <a:pt x="11595" y="398"/>
                    <a:pt x="11595" y="373"/>
                  </a:cubicBezTo>
                  <a:cubicBezTo>
                    <a:pt x="11595" y="347"/>
                    <a:pt x="11616" y="326"/>
                    <a:pt x="11642" y="326"/>
                  </a:cubicBezTo>
                  <a:cubicBezTo>
                    <a:pt x="11667" y="326"/>
                    <a:pt x="11689" y="347"/>
                    <a:pt x="11689" y="373"/>
                  </a:cubicBezTo>
                  <a:close/>
                  <a:moveTo>
                    <a:pt x="11790" y="373"/>
                  </a:moveTo>
                  <a:cubicBezTo>
                    <a:pt x="11790" y="398"/>
                    <a:pt x="11768" y="420"/>
                    <a:pt x="11743" y="420"/>
                  </a:cubicBezTo>
                  <a:cubicBezTo>
                    <a:pt x="11717" y="420"/>
                    <a:pt x="11696" y="398"/>
                    <a:pt x="11696" y="373"/>
                  </a:cubicBezTo>
                  <a:cubicBezTo>
                    <a:pt x="11696" y="347"/>
                    <a:pt x="11717" y="326"/>
                    <a:pt x="11743" y="326"/>
                  </a:cubicBezTo>
                  <a:cubicBezTo>
                    <a:pt x="11768" y="326"/>
                    <a:pt x="11790" y="347"/>
                    <a:pt x="11790" y="373"/>
                  </a:cubicBezTo>
                  <a:close/>
                  <a:moveTo>
                    <a:pt x="11891" y="373"/>
                  </a:moveTo>
                  <a:cubicBezTo>
                    <a:pt x="11891" y="398"/>
                    <a:pt x="11869" y="420"/>
                    <a:pt x="11844" y="420"/>
                  </a:cubicBezTo>
                  <a:cubicBezTo>
                    <a:pt x="11818" y="420"/>
                    <a:pt x="11797" y="398"/>
                    <a:pt x="11797" y="373"/>
                  </a:cubicBezTo>
                  <a:cubicBezTo>
                    <a:pt x="11797" y="347"/>
                    <a:pt x="11818" y="326"/>
                    <a:pt x="11844" y="326"/>
                  </a:cubicBezTo>
                  <a:cubicBezTo>
                    <a:pt x="11869" y="326"/>
                    <a:pt x="11891" y="347"/>
                    <a:pt x="11891" y="373"/>
                  </a:cubicBezTo>
                  <a:close/>
                  <a:moveTo>
                    <a:pt x="11991" y="373"/>
                  </a:moveTo>
                  <a:cubicBezTo>
                    <a:pt x="11991" y="398"/>
                    <a:pt x="11969" y="420"/>
                    <a:pt x="11944" y="420"/>
                  </a:cubicBezTo>
                  <a:cubicBezTo>
                    <a:pt x="11918" y="420"/>
                    <a:pt x="11897" y="398"/>
                    <a:pt x="11897" y="373"/>
                  </a:cubicBezTo>
                  <a:cubicBezTo>
                    <a:pt x="11897" y="347"/>
                    <a:pt x="11918" y="326"/>
                    <a:pt x="11944" y="326"/>
                  </a:cubicBezTo>
                  <a:cubicBezTo>
                    <a:pt x="11969" y="326"/>
                    <a:pt x="11991" y="347"/>
                    <a:pt x="11991" y="373"/>
                  </a:cubicBezTo>
                  <a:close/>
                  <a:moveTo>
                    <a:pt x="12092" y="373"/>
                  </a:moveTo>
                  <a:cubicBezTo>
                    <a:pt x="12092" y="398"/>
                    <a:pt x="12070" y="420"/>
                    <a:pt x="12045" y="420"/>
                  </a:cubicBezTo>
                  <a:cubicBezTo>
                    <a:pt x="12019" y="420"/>
                    <a:pt x="11998" y="398"/>
                    <a:pt x="11998" y="373"/>
                  </a:cubicBezTo>
                  <a:cubicBezTo>
                    <a:pt x="11998" y="347"/>
                    <a:pt x="12019" y="326"/>
                    <a:pt x="12045" y="326"/>
                  </a:cubicBezTo>
                  <a:cubicBezTo>
                    <a:pt x="12070" y="326"/>
                    <a:pt x="12092" y="347"/>
                    <a:pt x="12092" y="373"/>
                  </a:cubicBezTo>
                  <a:close/>
                  <a:moveTo>
                    <a:pt x="12193" y="373"/>
                  </a:moveTo>
                  <a:cubicBezTo>
                    <a:pt x="12193" y="398"/>
                    <a:pt x="12171" y="420"/>
                    <a:pt x="12146" y="420"/>
                  </a:cubicBezTo>
                  <a:cubicBezTo>
                    <a:pt x="12120" y="420"/>
                    <a:pt x="12099" y="398"/>
                    <a:pt x="12099" y="373"/>
                  </a:cubicBezTo>
                  <a:cubicBezTo>
                    <a:pt x="12099" y="347"/>
                    <a:pt x="12120" y="326"/>
                    <a:pt x="12146" y="326"/>
                  </a:cubicBezTo>
                  <a:cubicBezTo>
                    <a:pt x="12171" y="326"/>
                    <a:pt x="12193" y="347"/>
                    <a:pt x="12193" y="373"/>
                  </a:cubicBezTo>
                  <a:close/>
                  <a:moveTo>
                    <a:pt x="12294" y="373"/>
                  </a:moveTo>
                  <a:cubicBezTo>
                    <a:pt x="12294" y="398"/>
                    <a:pt x="12272" y="420"/>
                    <a:pt x="12247" y="420"/>
                  </a:cubicBezTo>
                  <a:cubicBezTo>
                    <a:pt x="12221" y="420"/>
                    <a:pt x="12200" y="398"/>
                    <a:pt x="12200" y="373"/>
                  </a:cubicBezTo>
                  <a:cubicBezTo>
                    <a:pt x="12200" y="347"/>
                    <a:pt x="12221" y="326"/>
                    <a:pt x="12247" y="326"/>
                  </a:cubicBezTo>
                  <a:cubicBezTo>
                    <a:pt x="12272" y="326"/>
                    <a:pt x="12294" y="347"/>
                    <a:pt x="12294" y="373"/>
                  </a:cubicBezTo>
                  <a:close/>
                  <a:moveTo>
                    <a:pt x="12395" y="373"/>
                  </a:moveTo>
                  <a:cubicBezTo>
                    <a:pt x="12395" y="398"/>
                    <a:pt x="12373" y="420"/>
                    <a:pt x="12348" y="420"/>
                  </a:cubicBezTo>
                  <a:cubicBezTo>
                    <a:pt x="12322" y="420"/>
                    <a:pt x="12301" y="398"/>
                    <a:pt x="12301" y="373"/>
                  </a:cubicBezTo>
                  <a:cubicBezTo>
                    <a:pt x="12301" y="347"/>
                    <a:pt x="12322" y="326"/>
                    <a:pt x="12348" y="326"/>
                  </a:cubicBezTo>
                  <a:cubicBezTo>
                    <a:pt x="12373" y="326"/>
                    <a:pt x="12395" y="347"/>
                    <a:pt x="12395" y="373"/>
                  </a:cubicBezTo>
                  <a:close/>
                  <a:moveTo>
                    <a:pt x="12495" y="373"/>
                  </a:moveTo>
                  <a:cubicBezTo>
                    <a:pt x="12495" y="398"/>
                    <a:pt x="12473" y="420"/>
                    <a:pt x="12448" y="420"/>
                  </a:cubicBezTo>
                  <a:cubicBezTo>
                    <a:pt x="12422" y="420"/>
                    <a:pt x="12401" y="398"/>
                    <a:pt x="12401" y="373"/>
                  </a:cubicBezTo>
                  <a:cubicBezTo>
                    <a:pt x="12401" y="347"/>
                    <a:pt x="12422" y="326"/>
                    <a:pt x="12448" y="326"/>
                  </a:cubicBezTo>
                  <a:cubicBezTo>
                    <a:pt x="12473" y="326"/>
                    <a:pt x="12495" y="347"/>
                    <a:pt x="12495" y="373"/>
                  </a:cubicBezTo>
                  <a:close/>
                  <a:moveTo>
                    <a:pt x="12596" y="373"/>
                  </a:moveTo>
                  <a:cubicBezTo>
                    <a:pt x="12596" y="398"/>
                    <a:pt x="12574" y="420"/>
                    <a:pt x="12549" y="420"/>
                  </a:cubicBezTo>
                  <a:cubicBezTo>
                    <a:pt x="12523" y="420"/>
                    <a:pt x="12502" y="398"/>
                    <a:pt x="12502" y="373"/>
                  </a:cubicBezTo>
                  <a:cubicBezTo>
                    <a:pt x="12502" y="347"/>
                    <a:pt x="12523" y="326"/>
                    <a:pt x="12549" y="326"/>
                  </a:cubicBezTo>
                  <a:cubicBezTo>
                    <a:pt x="12574" y="326"/>
                    <a:pt x="12596" y="347"/>
                    <a:pt x="12596" y="373"/>
                  </a:cubicBezTo>
                  <a:close/>
                </a:path>
              </a:pathLst>
            </a:custGeom>
            <a:gradFill rotWithShape="1">
              <a:gsLst>
                <a:gs pos="0">
                  <a:srgbClr val="ECB693"/>
                </a:gs>
                <a:gs pos="55000">
                  <a:srgbClr val="E59866"/>
                </a:gs>
                <a:gs pos="100000">
                  <a:srgbClr val="B77951"/>
                </a:gs>
              </a:gsLst>
              <a:path path="circle">
                <a:fillToRect l="32000" t="28000" r="68000" b="72000"/>
              </a:path>
            </a:gradFill>
            <a:ln w="6350" cap="rnd">
              <a:solidFill>
                <a:srgbClr val="7D5338"/>
              </a:solidFill>
              <a:round/>
            </a:ln>
          </p:spPr>
        </p:sp>
        <p:sp>
          <p:nvSpPr>
            <p:cNvPr id="14" name="Forma 13"/>
            <p:cNvSpPr/>
            <p:nvPr/>
          </p:nvSpPr>
          <p:spPr>
            <a:xfrm>
              <a:off x="274320" y="3520440"/>
              <a:ext cx="11521440" cy="384048"/>
            </a:xfrm>
            <a:custGeom>
              <a:avLst/>
              <a:gdLst/>
              <a:ahLst/>
              <a:cxnLst/>
              <a:rect l="0" t="0" r="r" b="b"/>
              <a:pathLst>
                <a:path w="12600" h="420" fill="none">
                  <a:moveTo>
                    <a:pt x="35" y="94"/>
                  </a:moveTo>
                  <a:lnTo>
                    <a:pt x="35" y="200"/>
                  </a:lnTo>
                </a:path>
                <a:path w="12600" h="420" fill="none">
                  <a:moveTo>
                    <a:pt x="65" y="94"/>
                  </a:moveTo>
                  <a:lnTo>
                    <a:pt x="65" y="200"/>
                  </a:lnTo>
                </a:path>
                <a:path w="12600" h="420" fill="none">
                  <a:moveTo>
                    <a:pt x="35" y="326"/>
                  </a:moveTo>
                  <a:lnTo>
                    <a:pt x="35" y="220"/>
                  </a:lnTo>
                </a:path>
                <a:path w="12600" h="420" fill="none">
                  <a:moveTo>
                    <a:pt x="65" y="326"/>
                  </a:moveTo>
                  <a:lnTo>
                    <a:pt x="65" y="220"/>
                  </a:lnTo>
                </a:path>
                <a:path w="12600" h="420" fill="none">
                  <a:moveTo>
                    <a:pt x="136" y="94"/>
                  </a:moveTo>
                  <a:lnTo>
                    <a:pt x="136" y="200"/>
                  </a:lnTo>
                </a:path>
                <a:path w="12600" h="420" fill="none">
                  <a:moveTo>
                    <a:pt x="166" y="94"/>
                  </a:moveTo>
                  <a:lnTo>
                    <a:pt x="166" y="200"/>
                  </a:lnTo>
                </a:path>
                <a:path w="12600" h="420" fill="none">
                  <a:moveTo>
                    <a:pt x="136" y="326"/>
                  </a:moveTo>
                  <a:lnTo>
                    <a:pt x="136" y="220"/>
                  </a:lnTo>
                </a:path>
                <a:path w="12600" h="420" fill="none">
                  <a:moveTo>
                    <a:pt x="166" y="326"/>
                  </a:moveTo>
                  <a:lnTo>
                    <a:pt x="166" y="220"/>
                  </a:lnTo>
                </a:path>
                <a:path w="12600" h="420" fill="none">
                  <a:moveTo>
                    <a:pt x="237" y="94"/>
                  </a:moveTo>
                  <a:lnTo>
                    <a:pt x="237" y="200"/>
                  </a:lnTo>
                </a:path>
                <a:path w="12600" h="420" fill="none">
                  <a:moveTo>
                    <a:pt x="267" y="94"/>
                  </a:moveTo>
                  <a:lnTo>
                    <a:pt x="267" y="200"/>
                  </a:lnTo>
                </a:path>
                <a:path w="12600" h="420" fill="none">
                  <a:moveTo>
                    <a:pt x="237" y="326"/>
                  </a:moveTo>
                  <a:lnTo>
                    <a:pt x="237" y="220"/>
                  </a:lnTo>
                </a:path>
                <a:path w="12600" h="420" fill="none">
                  <a:moveTo>
                    <a:pt x="267" y="326"/>
                  </a:moveTo>
                  <a:lnTo>
                    <a:pt x="267" y="220"/>
                  </a:lnTo>
                </a:path>
                <a:path w="12600" h="420" fill="none">
                  <a:moveTo>
                    <a:pt x="337" y="94"/>
                  </a:moveTo>
                  <a:lnTo>
                    <a:pt x="337" y="200"/>
                  </a:lnTo>
                </a:path>
                <a:path w="12600" h="420" fill="none">
                  <a:moveTo>
                    <a:pt x="367" y="94"/>
                  </a:moveTo>
                  <a:lnTo>
                    <a:pt x="367" y="200"/>
                  </a:lnTo>
                </a:path>
                <a:path w="12600" h="420" fill="none">
                  <a:moveTo>
                    <a:pt x="337" y="326"/>
                  </a:moveTo>
                  <a:lnTo>
                    <a:pt x="337" y="220"/>
                  </a:lnTo>
                </a:path>
                <a:path w="12600" h="420" fill="none">
                  <a:moveTo>
                    <a:pt x="367" y="326"/>
                  </a:moveTo>
                  <a:lnTo>
                    <a:pt x="367" y="220"/>
                  </a:lnTo>
                </a:path>
                <a:path w="12600" h="420" fill="none">
                  <a:moveTo>
                    <a:pt x="438" y="94"/>
                  </a:moveTo>
                  <a:lnTo>
                    <a:pt x="438" y="200"/>
                  </a:lnTo>
                </a:path>
                <a:path w="12600" h="420" fill="none">
                  <a:moveTo>
                    <a:pt x="468" y="94"/>
                  </a:moveTo>
                  <a:lnTo>
                    <a:pt x="468" y="200"/>
                  </a:lnTo>
                </a:path>
                <a:path w="12600" h="420" fill="none">
                  <a:moveTo>
                    <a:pt x="438" y="326"/>
                  </a:moveTo>
                  <a:lnTo>
                    <a:pt x="438" y="220"/>
                  </a:lnTo>
                </a:path>
                <a:path w="12600" h="420" fill="none">
                  <a:moveTo>
                    <a:pt x="468" y="326"/>
                  </a:moveTo>
                  <a:lnTo>
                    <a:pt x="468" y="220"/>
                  </a:lnTo>
                </a:path>
                <a:path w="12600" h="420" fill="none">
                  <a:moveTo>
                    <a:pt x="539" y="94"/>
                  </a:moveTo>
                  <a:lnTo>
                    <a:pt x="539" y="200"/>
                  </a:lnTo>
                </a:path>
                <a:path w="12600" h="420" fill="none">
                  <a:moveTo>
                    <a:pt x="569" y="94"/>
                  </a:moveTo>
                  <a:lnTo>
                    <a:pt x="569" y="200"/>
                  </a:lnTo>
                </a:path>
                <a:path w="12600" h="420" fill="none">
                  <a:moveTo>
                    <a:pt x="539" y="326"/>
                  </a:moveTo>
                  <a:lnTo>
                    <a:pt x="539" y="220"/>
                  </a:lnTo>
                </a:path>
                <a:path w="12600" h="420" fill="none">
                  <a:moveTo>
                    <a:pt x="569" y="326"/>
                  </a:moveTo>
                  <a:lnTo>
                    <a:pt x="569" y="220"/>
                  </a:lnTo>
                </a:path>
                <a:path w="12600" h="420" fill="none">
                  <a:moveTo>
                    <a:pt x="640" y="94"/>
                  </a:moveTo>
                  <a:lnTo>
                    <a:pt x="640" y="200"/>
                  </a:lnTo>
                </a:path>
                <a:path w="12600" h="420" fill="none">
                  <a:moveTo>
                    <a:pt x="670" y="94"/>
                  </a:moveTo>
                  <a:lnTo>
                    <a:pt x="670" y="200"/>
                  </a:lnTo>
                </a:path>
                <a:path w="12600" h="420" fill="none">
                  <a:moveTo>
                    <a:pt x="640" y="326"/>
                  </a:moveTo>
                  <a:lnTo>
                    <a:pt x="640" y="220"/>
                  </a:lnTo>
                </a:path>
                <a:path w="12600" h="420" fill="none">
                  <a:moveTo>
                    <a:pt x="670" y="326"/>
                  </a:moveTo>
                  <a:lnTo>
                    <a:pt x="670" y="220"/>
                  </a:lnTo>
                </a:path>
                <a:path w="12600" h="420" fill="none">
                  <a:moveTo>
                    <a:pt x="741" y="94"/>
                  </a:moveTo>
                  <a:lnTo>
                    <a:pt x="741" y="200"/>
                  </a:lnTo>
                </a:path>
                <a:path w="12600" h="420" fill="none">
                  <a:moveTo>
                    <a:pt x="771" y="94"/>
                  </a:moveTo>
                  <a:lnTo>
                    <a:pt x="771" y="200"/>
                  </a:lnTo>
                </a:path>
                <a:path w="12600" h="420" fill="none">
                  <a:moveTo>
                    <a:pt x="741" y="326"/>
                  </a:moveTo>
                  <a:lnTo>
                    <a:pt x="741" y="220"/>
                  </a:lnTo>
                </a:path>
                <a:path w="12600" h="420" fill="none">
                  <a:moveTo>
                    <a:pt x="771" y="326"/>
                  </a:moveTo>
                  <a:lnTo>
                    <a:pt x="771" y="220"/>
                  </a:lnTo>
                </a:path>
                <a:path w="12600" h="420" fill="none">
                  <a:moveTo>
                    <a:pt x="841" y="94"/>
                  </a:moveTo>
                  <a:lnTo>
                    <a:pt x="841" y="200"/>
                  </a:lnTo>
                </a:path>
                <a:path w="12600" h="420" fill="none">
                  <a:moveTo>
                    <a:pt x="871" y="94"/>
                  </a:moveTo>
                  <a:lnTo>
                    <a:pt x="871" y="200"/>
                  </a:lnTo>
                </a:path>
                <a:path w="12600" h="420" fill="none">
                  <a:moveTo>
                    <a:pt x="841" y="326"/>
                  </a:moveTo>
                  <a:lnTo>
                    <a:pt x="841" y="220"/>
                  </a:lnTo>
                </a:path>
                <a:path w="12600" h="420" fill="none">
                  <a:moveTo>
                    <a:pt x="871" y="326"/>
                  </a:moveTo>
                  <a:lnTo>
                    <a:pt x="871" y="220"/>
                  </a:lnTo>
                </a:path>
                <a:path w="12600" h="420" fill="none">
                  <a:moveTo>
                    <a:pt x="942" y="94"/>
                  </a:moveTo>
                  <a:lnTo>
                    <a:pt x="942" y="200"/>
                  </a:lnTo>
                </a:path>
                <a:path w="12600" h="420" fill="none">
                  <a:moveTo>
                    <a:pt x="972" y="94"/>
                  </a:moveTo>
                  <a:lnTo>
                    <a:pt x="972" y="200"/>
                  </a:lnTo>
                </a:path>
                <a:path w="12600" h="420" fill="none">
                  <a:moveTo>
                    <a:pt x="942" y="326"/>
                  </a:moveTo>
                  <a:lnTo>
                    <a:pt x="942" y="220"/>
                  </a:lnTo>
                </a:path>
                <a:path w="12600" h="420" fill="none">
                  <a:moveTo>
                    <a:pt x="972" y="326"/>
                  </a:moveTo>
                  <a:lnTo>
                    <a:pt x="972" y="220"/>
                  </a:lnTo>
                </a:path>
                <a:path w="12600" h="420" fill="none">
                  <a:moveTo>
                    <a:pt x="1043" y="94"/>
                  </a:moveTo>
                  <a:lnTo>
                    <a:pt x="1043" y="200"/>
                  </a:lnTo>
                </a:path>
                <a:path w="12600" h="420" fill="none">
                  <a:moveTo>
                    <a:pt x="1073" y="94"/>
                  </a:moveTo>
                  <a:lnTo>
                    <a:pt x="1073" y="200"/>
                  </a:lnTo>
                </a:path>
                <a:path w="12600" h="420" fill="none">
                  <a:moveTo>
                    <a:pt x="1043" y="326"/>
                  </a:moveTo>
                  <a:lnTo>
                    <a:pt x="1043" y="220"/>
                  </a:lnTo>
                </a:path>
                <a:path w="12600" h="420" fill="none">
                  <a:moveTo>
                    <a:pt x="1073" y="326"/>
                  </a:moveTo>
                  <a:lnTo>
                    <a:pt x="1073" y="220"/>
                  </a:lnTo>
                </a:path>
                <a:path w="12600" h="420" fill="none">
                  <a:moveTo>
                    <a:pt x="1144" y="94"/>
                  </a:moveTo>
                  <a:lnTo>
                    <a:pt x="1144" y="200"/>
                  </a:lnTo>
                </a:path>
                <a:path w="12600" h="420" fill="none">
                  <a:moveTo>
                    <a:pt x="1174" y="94"/>
                  </a:moveTo>
                  <a:lnTo>
                    <a:pt x="1174" y="200"/>
                  </a:lnTo>
                </a:path>
                <a:path w="12600" h="420" fill="none">
                  <a:moveTo>
                    <a:pt x="1144" y="326"/>
                  </a:moveTo>
                  <a:lnTo>
                    <a:pt x="1144" y="220"/>
                  </a:lnTo>
                </a:path>
                <a:path w="12600" h="420" fill="none">
                  <a:moveTo>
                    <a:pt x="1174" y="326"/>
                  </a:moveTo>
                  <a:lnTo>
                    <a:pt x="1174" y="220"/>
                  </a:lnTo>
                </a:path>
                <a:path w="12600" h="420" fill="none">
                  <a:moveTo>
                    <a:pt x="1245" y="94"/>
                  </a:moveTo>
                  <a:lnTo>
                    <a:pt x="1245" y="200"/>
                  </a:lnTo>
                </a:path>
                <a:path w="12600" h="420" fill="none">
                  <a:moveTo>
                    <a:pt x="1275" y="94"/>
                  </a:moveTo>
                  <a:lnTo>
                    <a:pt x="1275" y="200"/>
                  </a:lnTo>
                </a:path>
                <a:path w="12600" h="420" fill="none">
                  <a:moveTo>
                    <a:pt x="1245" y="326"/>
                  </a:moveTo>
                  <a:lnTo>
                    <a:pt x="1245" y="220"/>
                  </a:lnTo>
                </a:path>
                <a:path w="12600" h="420" fill="none">
                  <a:moveTo>
                    <a:pt x="1275" y="326"/>
                  </a:moveTo>
                  <a:lnTo>
                    <a:pt x="1275" y="220"/>
                  </a:lnTo>
                </a:path>
                <a:path w="12600" h="420" fill="none">
                  <a:moveTo>
                    <a:pt x="1345" y="94"/>
                  </a:moveTo>
                  <a:lnTo>
                    <a:pt x="1345" y="200"/>
                  </a:lnTo>
                </a:path>
                <a:path w="12600" h="420" fill="none">
                  <a:moveTo>
                    <a:pt x="1375" y="94"/>
                  </a:moveTo>
                  <a:lnTo>
                    <a:pt x="1375" y="200"/>
                  </a:lnTo>
                </a:path>
                <a:path w="12600" h="420" fill="none">
                  <a:moveTo>
                    <a:pt x="1345" y="326"/>
                  </a:moveTo>
                  <a:lnTo>
                    <a:pt x="1345" y="220"/>
                  </a:lnTo>
                </a:path>
                <a:path w="12600" h="420" fill="none">
                  <a:moveTo>
                    <a:pt x="1375" y="326"/>
                  </a:moveTo>
                  <a:lnTo>
                    <a:pt x="1375" y="220"/>
                  </a:lnTo>
                </a:path>
                <a:path w="12600" h="420" fill="none">
                  <a:moveTo>
                    <a:pt x="1446" y="94"/>
                  </a:moveTo>
                  <a:lnTo>
                    <a:pt x="1446" y="200"/>
                  </a:lnTo>
                </a:path>
                <a:path w="12600" h="420" fill="none">
                  <a:moveTo>
                    <a:pt x="1476" y="94"/>
                  </a:moveTo>
                  <a:lnTo>
                    <a:pt x="1476" y="200"/>
                  </a:lnTo>
                </a:path>
                <a:path w="12600" h="420" fill="none">
                  <a:moveTo>
                    <a:pt x="1446" y="326"/>
                  </a:moveTo>
                  <a:lnTo>
                    <a:pt x="1446" y="220"/>
                  </a:lnTo>
                </a:path>
                <a:path w="12600" h="420" fill="none">
                  <a:moveTo>
                    <a:pt x="1476" y="326"/>
                  </a:moveTo>
                  <a:lnTo>
                    <a:pt x="1476" y="220"/>
                  </a:lnTo>
                </a:path>
                <a:path w="12600" h="420" fill="none">
                  <a:moveTo>
                    <a:pt x="1547" y="94"/>
                  </a:moveTo>
                  <a:lnTo>
                    <a:pt x="1547" y="200"/>
                  </a:lnTo>
                </a:path>
                <a:path w="12600" h="420" fill="none">
                  <a:moveTo>
                    <a:pt x="1577" y="94"/>
                  </a:moveTo>
                  <a:lnTo>
                    <a:pt x="1577" y="200"/>
                  </a:lnTo>
                </a:path>
                <a:path w="12600" h="420" fill="none">
                  <a:moveTo>
                    <a:pt x="1547" y="326"/>
                  </a:moveTo>
                  <a:lnTo>
                    <a:pt x="1547" y="220"/>
                  </a:lnTo>
                </a:path>
                <a:path w="12600" h="420" fill="none">
                  <a:moveTo>
                    <a:pt x="1577" y="326"/>
                  </a:moveTo>
                  <a:lnTo>
                    <a:pt x="1577" y="220"/>
                  </a:lnTo>
                </a:path>
                <a:path w="12600" h="420" fill="none">
                  <a:moveTo>
                    <a:pt x="1648" y="94"/>
                  </a:moveTo>
                  <a:lnTo>
                    <a:pt x="1648" y="200"/>
                  </a:lnTo>
                </a:path>
                <a:path w="12600" h="420" fill="none">
                  <a:moveTo>
                    <a:pt x="1678" y="94"/>
                  </a:moveTo>
                  <a:lnTo>
                    <a:pt x="1678" y="200"/>
                  </a:lnTo>
                </a:path>
                <a:path w="12600" h="420" fill="none">
                  <a:moveTo>
                    <a:pt x="1648" y="326"/>
                  </a:moveTo>
                  <a:lnTo>
                    <a:pt x="1648" y="220"/>
                  </a:lnTo>
                </a:path>
                <a:path w="12600" h="420" fill="none">
                  <a:moveTo>
                    <a:pt x="1678" y="326"/>
                  </a:moveTo>
                  <a:lnTo>
                    <a:pt x="1678" y="220"/>
                  </a:lnTo>
                </a:path>
                <a:path w="12600" h="420" fill="none">
                  <a:moveTo>
                    <a:pt x="1749" y="94"/>
                  </a:moveTo>
                  <a:lnTo>
                    <a:pt x="1749" y="200"/>
                  </a:lnTo>
                </a:path>
                <a:path w="12600" h="420" fill="none">
                  <a:moveTo>
                    <a:pt x="1779" y="94"/>
                  </a:moveTo>
                  <a:lnTo>
                    <a:pt x="1779" y="200"/>
                  </a:lnTo>
                </a:path>
                <a:path w="12600" h="420" fill="none">
                  <a:moveTo>
                    <a:pt x="1749" y="326"/>
                  </a:moveTo>
                  <a:lnTo>
                    <a:pt x="1749" y="220"/>
                  </a:lnTo>
                </a:path>
                <a:path w="12600" h="420" fill="none">
                  <a:moveTo>
                    <a:pt x="1779" y="326"/>
                  </a:moveTo>
                  <a:lnTo>
                    <a:pt x="1779" y="220"/>
                  </a:lnTo>
                </a:path>
                <a:path w="12600" h="420" fill="none">
                  <a:moveTo>
                    <a:pt x="1849" y="94"/>
                  </a:moveTo>
                  <a:lnTo>
                    <a:pt x="1849" y="200"/>
                  </a:lnTo>
                </a:path>
                <a:path w="12600" h="420" fill="none">
                  <a:moveTo>
                    <a:pt x="1879" y="94"/>
                  </a:moveTo>
                  <a:lnTo>
                    <a:pt x="1879" y="200"/>
                  </a:lnTo>
                </a:path>
                <a:path w="12600" h="420" fill="none">
                  <a:moveTo>
                    <a:pt x="1849" y="326"/>
                  </a:moveTo>
                  <a:lnTo>
                    <a:pt x="1849" y="220"/>
                  </a:lnTo>
                </a:path>
                <a:path w="12600" h="420" fill="none">
                  <a:moveTo>
                    <a:pt x="1879" y="326"/>
                  </a:moveTo>
                  <a:lnTo>
                    <a:pt x="1879" y="220"/>
                  </a:lnTo>
                </a:path>
                <a:path w="12600" h="420" fill="none">
                  <a:moveTo>
                    <a:pt x="1950" y="94"/>
                  </a:moveTo>
                  <a:lnTo>
                    <a:pt x="1950" y="200"/>
                  </a:lnTo>
                </a:path>
                <a:path w="12600" h="420" fill="none">
                  <a:moveTo>
                    <a:pt x="1980" y="94"/>
                  </a:moveTo>
                  <a:lnTo>
                    <a:pt x="1980" y="200"/>
                  </a:lnTo>
                </a:path>
                <a:path w="12600" h="420" fill="none">
                  <a:moveTo>
                    <a:pt x="1950" y="326"/>
                  </a:moveTo>
                  <a:lnTo>
                    <a:pt x="1950" y="220"/>
                  </a:lnTo>
                </a:path>
                <a:path w="12600" h="420" fill="none">
                  <a:moveTo>
                    <a:pt x="1980" y="326"/>
                  </a:moveTo>
                  <a:lnTo>
                    <a:pt x="1980" y="220"/>
                  </a:lnTo>
                </a:path>
                <a:path w="12600" h="420" fill="none">
                  <a:moveTo>
                    <a:pt x="2051" y="94"/>
                  </a:moveTo>
                  <a:lnTo>
                    <a:pt x="2051" y="200"/>
                  </a:lnTo>
                </a:path>
                <a:path w="12600" h="420" fill="none">
                  <a:moveTo>
                    <a:pt x="2081" y="94"/>
                  </a:moveTo>
                  <a:lnTo>
                    <a:pt x="2081" y="200"/>
                  </a:lnTo>
                </a:path>
                <a:path w="12600" h="420" fill="none">
                  <a:moveTo>
                    <a:pt x="2051" y="326"/>
                  </a:moveTo>
                  <a:lnTo>
                    <a:pt x="2051" y="220"/>
                  </a:lnTo>
                </a:path>
                <a:path w="12600" h="420" fill="none">
                  <a:moveTo>
                    <a:pt x="2081" y="326"/>
                  </a:moveTo>
                  <a:lnTo>
                    <a:pt x="2081" y="220"/>
                  </a:lnTo>
                </a:path>
                <a:path w="12600" h="420" fill="none">
                  <a:moveTo>
                    <a:pt x="2152" y="94"/>
                  </a:moveTo>
                  <a:lnTo>
                    <a:pt x="2152" y="200"/>
                  </a:lnTo>
                </a:path>
                <a:path w="12600" h="420" fill="none">
                  <a:moveTo>
                    <a:pt x="2182" y="94"/>
                  </a:moveTo>
                  <a:lnTo>
                    <a:pt x="2182" y="200"/>
                  </a:lnTo>
                </a:path>
                <a:path w="12600" h="420" fill="none">
                  <a:moveTo>
                    <a:pt x="2152" y="326"/>
                  </a:moveTo>
                  <a:lnTo>
                    <a:pt x="2152" y="220"/>
                  </a:lnTo>
                </a:path>
                <a:path w="12600" h="420" fill="none">
                  <a:moveTo>
                    <a:pt x="2182" y="326"/>
                  </a:moveTo>
                  <a:lnTo>
                    <a:pt x="2182" y="220"/>
                  </a:lnTo>
                </a:path>
                <a:path w="12600" h="420" fill="none">
                  <a:moveTo>
                    <a:pt x="2253" y="94"/>
                  </a:moveTo>
                  <a:lnTo>
                    <a:pt x="2253" y="200"/>
                  </a:lnTo>
                </a:path>
                <a:path w="12600" h="420" fill="none">
                  <a:moveTo>
                    <a:pt x="2283" y="94"/>
                  </a:moveTo>
                  <a:lnTo>
                    <a:pt x="2283" y="200"/>
                  </a:lnTo>
                </a:path>
                <a:path w="12600" h="420" fill="none">
                  <a:moveTo>
                    <a:pt x="2253" y="326"/>
                  </a:moveTo>
                  <a:lnTo>
                    <a:pt x="2253" y="220"/>
                  </a:lnTo>
                </a:path>
                <a:path w="12600" h="420" fill="none">
                  <a:moveTo>
                    <a:pt x="2283" y="326"/>
                  </a:moveTo>
                  <a:lnTo>
                    <a:pt x="2283" y="220"/>
                  </a:lnTo>
                </a:path>
                <a:path w="12600" h="420" fill="none">
                  <a:moveTo>
                    <a:pt x="2353" y="94"/>
                  </a:moveTo>
                  <a:lnTo>
                    <a:pt x="2353" y="200"/>
                  </a:lnTo>
                </a:path>
                <a:path w="12600" h="420" fill="none">
                  <a:moveTo>
                    <a:pt x="2383" y="94"/>
                  </a:moveTo>
                  <a:lnTo>
                    <a:pt x="2383" y="200"/>
                  </a:lnTo>
                </a:path>
                <a:path w="12600" h="420" fill="none">
                  <a:moveTo>
                    <a:pt x="2353" y="326"/>
                  </a:moveTo>
                  <a:lnTo>
                    <a:pt x="2353" y="220"/>
                  </a:lnTo>
                </a:path>
                <a:path w="12600" h="420" fill="none">
                  <a:moveTo>
                    <a:pt x="2383" y="326"/>
                  </a:moveTo>
                  <a:lnTo>
                    <a:pt x="2383" y="220"/>
                  </a:lnTo>
                </a:path>
                <a:path w="12600" h="420" fill="none">
                  <a:moveTo>
                    <a:pt x="2454" y="94"/>
                  </a:moveTo>
                  <a:lnTo>
                    <a:pt x="2454" y="200"/>
                  </a:lnTo>
                </a:path>
                <a:path w="12600" h="420" fill="none">
                  <a:moveTo>
                    <a:pt x="2484" y="94"/>
                  </a:moveTo>
                  <a:lnTo>
                    <a:pt x="2484" y="200"/>
                  </a:lnTo>
                </a:path>
                <a:path w="12600" h="420" fill="none">
                  <a:moveTo>
                    <a:pt x="2454" y="326"/>
                  </a:moveTo>
                  <a:lnTo>
                    <a:pt x="2454" y="220"/>
                  </a:lnTo>
                </a:path>
                <a:path w="12600" h="420" fill="none">
                  <a:moveTo>
                    <a:pt x="2484" y="326"/>
                  </a:moveTo>
                  <a:lnTo>
                    <a:pt x="2484" y="220"/>
                  </a:lnTo>
                </a:path>
                <a:path w="12600" h="420" fill="none">
                  <a:moveTo>
                    <a:pt x="2555" y="94"/>
                  </a:moveTo>
                  <a:lnTo>
                    <a:pt x="2555" y="200"/>
                  </a:lnTo>
                </a:path>
                <a:path w="12600" h="420" fill="none">
                  <a:moveTo>
                    <a:pt x="2585" y="94"/>
                  </a:moveTo>
                  <a:lnTo>
                    <a:pt x="2585" y="200"/>
                  </a:lnTo>
                </a:path>
                <a:path w="12600" h="420" fill="none">
                  <a:moveTo>
                    <a:pt x="2555" y="326"/>
                  </a:moveTo>
                  <a:lnTo>
                    <a:pt x="2555" y="220"/>
                  </a:lnTo>
                </a:path>
                <a:path w="12600" h="420" fill="none">
                  <a:moveTo>
                    <a:pt x="2585" y="326"/>
                  </a:moveTo>
                  <a:lnTo>
                    <a:pt x="2585" y="220"/>
                  </a:lnTo>
                </a:path>
                <a:path w="12600" h="420" fill="none">
                  <a:moveTo>
                    <a:pt x="2656" y="94"/>
                  </a:moveTo>
                  <a:lnTo>
                    <a:pt x="2656" y="200"/>
                  </a:lnTo>
                </a:path>
                <a:path w="12600" h="420" fill="none">
                  <a:moveTo>
                    <a:pt x="2686" y="94"/>
                  </a:moveTo>
                  <a:lnTo>
                    <a:pt x="2686" y="200"/>
                  </a:lnTo>
                </a:path>
                <a:path w="12600" h="420" fill="none">
                  <a:moveTo>
                    <a:pt x="2656" y="326"/>
                  </a:moveTo>
                  <a:lnTo>
                    <a:pt x="2656" y="220"/>
                  </a:lnTo>
                </a:path>
                <a:path w="12600" h="420" fill="none">
                  <a:moveTo>
                    <a:pt x="2686" y="326"/>
                  </a:moveTo>
                  <a:lnTo>
                    <a:pt x="2686" y="220"/>
                  </a:lnTo>
                </a:path>
                <a:path w="12600" h="420" fill="none">
                  <a:moveTo>
                    <a:pt x="2757" y="94"/>
                  </a:moveTo>
                  <a:lnTo>
                    <a:pt x="2757" y="200"/>
                  </a:lnTo>
                </a:path>
                <a:path w="12600" h="420" fill="none">
                  <a:moveTo>
                    <a:pt x="2787" y="94"/>
                  </a:moveTo>
                  <a:lnTo>
                    <a:pt x="2787" y="200"/>
                  </a:lnTo>
                </a:path>
                <a:path w="12600" h="420" fill="none">
                  <a:moveTo>
                    <a:pt x="2757" y="326"/>
                  </a:moveTo>
                  <a:lnTo>
                    <a:pt x="2757" y="220"/>
                  </a:lnTo>
                </a:path>
                <a:path w="12600" h="420" fill="none">
                  <a:moveTo>
                    <a:pt x="2787" y="326"/>
                  </a:moveTo>
                  <a:lnTo>
                    <a:pt x="2787" y="220"/>
                  </a:lnTo>
                </a:path>
                <a:path w="12600" h="420" fill="none">
                  <a:moveTo>
                    <a:pt x="2857" y="94"/>
                  </a:moveTo>
                  <a:lnTo>
                    <a:pt x="2857" y="200"/>
                  </a:lnTo>
                </a:path>
                <a:path w="12600" h="420" fill="none">
                  <a:moveTo>
                    <a:pt x="2887" y="94"/>
                  </a:moveTo>
                  <a:lnTo>
                    <a:pt x="2887" y="200"/>
                  </a:lnTo>
                </a:path>
                <a:path w="12600" h="420" fill="none">
                  <a:moveTo>
                    <a:pt x="2857" y="326"/>
                  </a:moveTo>
                  <a:lnTo>
                    <a:pt x="2857" y="220"/>
                  </a:lnTo>
                </a:path>
                <a:path w="12600" h="420" fill="none">
                  <a:moveTo>
                    <a:pt x="2887" y="326"/>
                  </a:moveTo>
                  <a:lnTo>
                    <a:pt x="2887" y="220"/>
                  </a:lnTo>
                </a:path>
                <a:path w="12600" h="420" fill="none">
                  <a:moveTo>
                    <a:pt x="2958" y="94"/>
                  </a:moveTo>
                  <a:lnTo>
                    <a:pt x="2958" y="200"/>
                  </a:lnTo>
                </a:path>
                <a:path w="12600" h="420" fill="none">
                  <a:moveTo>
                    <a:pt x="2988" y="94"/>
                  </a:moveTo>
                  <a:lnTo>
                    <a:pt x="2988" y="200"/>
                  </a:lnTo>
                </a:path>
                <a:path w="12600" h="420" fill="none">
                  <a:moveTo>
                    <a:pt x="2958" y="326"/>
                  </a:moveTo>
                  <a:lnTo>
                    <a:pt x="2958" y="220"/>
                  </a:lnTo>
                </a:path>
                <a:path w="12600" h="420" fill="none">
                  <a:moveTo>
                    <a:pt x="2988" y="326"/>
                  </a:moveTo>
                  <a:lnTo>
                    <a:pt x="2988" y="220"/>
                  </a:lnTo>
                </a:path>
                <a:path w="12600" h="420" fill="none">
                  <a:moveTo>
                    <a:pt x="3059" y="94"/>
                  </a:moveTo>
                  <a:lnTo>
                    <a:pt x="3059" y="200"/>
                  </a:lnTo>
                </a:path>
                <a:path w="12600" h="420" fill="none">
                  <a:moveTo>
                    <a:pt x="3089" y="94"/>
                  </a:moveTo>
                  <a:lnTo>
                    <a:pt x="3089" y="200"/>
                  </a:lnTo>
                </a:path>
                <a:path w="12600" h="420" fill="none">
                  <a:moveTo>
                    <a:pt x="3059" y="326"/>
                  </a:moveTo>
                  <a:lnTo>
                    <a:pt x="3059" y="220"/>
                  </a:lnTo>
                </a:path>
                <a:path w="12600" h="420" fill="none">
                  <a:moveTo>
                    <a:pt x="3089" y="326"/>
                  </a:moveTo>
                  <a:lnTo>
                    <a:pt x="3089" y="220"/>
                  </a:lnTo>
                </a:path>
                <a:path w="12600" h="420" fill="none">
                  <a:moveTo>
                    <a:pt x="3160" y="94"/>
                  </a:moveTo>
                  <a:lnTo>
                    <a:pt x="3160" y="200"/>
                  </a:lnTo>
                </a:path>
                <a:path w="12600" h="420" fill="none">
                  <a:moveTo>
                    <a:pt x="3190" y="94"/>
                  </a:moveTo>
                  <a:lnTo>
                    <a:pt x="3190" y="200"/>
                  </a:lnTo>
                </a:path>
                <a:path w="12600" h="420" fill="none">
                  <a:moveTo>
                    <a:pt x="3160" y="326"/>
                  </a:moveTo>
                  <a:lnTo>
                    <a:pt x="3160" y="220"/>
                  </a:lnTo>
                </a:path>
                <a:path w="12600" h="420" fill="none">
                  <a:moveTo>
                    <a:pt x="3190" y="326"/>
                  </a:moveTo>
                  <a:lnTo>
                    <a:pt x="3190" y="220"/>
                  </a:lnTo>
                </a:path>
                <a:path w="12600" h="420" fill="none">
                  <a:moveTo>
                    <a:pt x="3261" y="94"/>
                  </a:moveTo>
                  <a:lnTo>
                    <a:pt x="3261" y="200"/>
                  </a:lnTo>
                </a:path>
                <a:path w="12600" h="420" fill="none">
                  <a:moveTo>
                    <a:pt x="3291" y="94"/>
                  </a:moveTo>
                  <a:lnTo>
                    <a:pt x="3291" y="200"/>
                  </a:lnTo>
                </a:path>
                <a:path w="12600" h="420" fill="none">
                  <a:moveTo>
                    <a:pt x="3261" y="326"/>
                  </a:moveTo>
                  <a:lnTo>
                    <a:pt x="3261" y="220"/>
                  </a:lnTo>
                </a:path>
                <a:path w="12600" h="420" fill="none">
                  <a:moveTo>
                    <a:pt x="3291" y="326"/>
                  </a:moveTo>
                  <a:lnTo>
                    <a:pt x="3291" y="220"/>
                  </a:lnTo>
                </a:path>
                <a:path w="12600" h="420" fill="none">
                  <a:moveTo>
                    <a:pt x="3361" y="94"/>
                  </a:moveTo>
                  <a:lnTo>
                    <a:pt x="3361" y="200"/>
                  </a:lnTo>
                </a:path>
                <a:path w="12600" h="420" fill="none">
                  <a:moveTo>
                    <a:pt x="3391" y="94"/>
                  </a:moveTo>
                  <a:lnTo>
                    <a:pt x="3391" y="200"/>
                  </a:lnTo>
                </a:path>
                <a:path w="12600" h="420" fill="none">
                  <a:moveTo>
                    <a:pt x="3361" y="326"/>
                  </a:moveTo>
                  <a:lnTo>
                    <a:pt x="3361" y="220"/>
                  </a:lnTo>
                </a:path>
                <a:path w="12600" h="420" fill="none">
                  <a:moveTo>
                    <a:pt x="3391" y="326"/>
                  </a:moveTo>
                  <a:lnTo>
                    <a:pt x="3391" y="220"/>
                  </a:lnTo>
                </a:path>
                <a:path w="12600" h="420" fill="none">
                  <a:moveTo>
                    <a:pt x="3462" y="94"/>
                  </a:moveTo>
                  <a:lnTo>
                    <a:pt x="3462" y="200"/>
                  </a:lnTo>
                </a:path>
                <a:path w="12600" h="420" fill="none">
                  <a:moveTo>
                    <a:pt x="3492" y="94"/>
                  </a:moveTo>
                  <a:lnTo>
                    <a:pt x="3492" y="200"/>
                  </a:lnTo>
                </a:path>
                <a:path w="12600" h="420" fill="none">
                  <a:moveTo>
                    <a:pt x="3462" y="326"/>
                  </a:moveTo>
                  <a:lnTo>
                    <a:pt x="3462" y="220"/>
                  </a:lnTo>
                </a:path>
                <a:path w="12600" h="420" fill="none">
                  <a:moveTo>
                    <a:pt x="3492" y="326"/>
                  </a:moveTo>
                  <a:lnTo>
                    <a:pt x="3492" y="220"/>
                  </a:lnTo>
                </a:path>
                <a:path w="12600" h="420" fill="none">
                  <a:moveTo>
                    <a:pt x="3563" y="94"/>
                  </a:moveTo>
                  <a:lnTo>
                    <a:pt x="3563" y="200"/>
                  </a:lnTo>
                </a:path>
                <a:path w="12600" h="420" fill="none">
                  <a:moveTo>
                    <a:pt x="3593" y="94"/>
                  </a:moveTo>
                  <a:lnTo>
                    <a:pt x="3593" y="200"/>
                  </a:lnTo>
                </a:path>
                <a:path w="12600" h="420" fill="none">
                  <a:moveTo>
                    <a:pt x="3563" y="326"/>
                  </a:moveTo>
                  <a:lnTo>
                    <a:pt x="3563" y="220"/>
                  </a:lnTo>
                </a:path>
                <a:path w="12600" h="420" fill="none">
                  <a:moveTo>
                    <a:pt x="3593" y="326"/>
                  </a:moveTo>
                  <a:lnTo>
                    <a:pt x="3593" y="220"/>
                  </a:lnTo>
                </a:path>
                <a:path w="12600" h="420" fill="none">
                  <a:moveTo>
                    <a:pt x="3664" y="94"/>
                  </a:moveTo>
                  <a:lnTo>
                    <a:pt x="3664" y="200"/>
                  </a:lnTo>
                </a:path>
                <a:path w="12600" h="420" fill="none">
                  <a:moveTo>
                    <a:pt x="3694" y="94"/>
                  </a:moveTo>
                  <a:lnTo>
                    <a:pt x="3694" y="200"/>
                  </a:lnTo>
                </a:path>
                <a:path w="12600" h="420" fill="none">
                  <a:moveTo>
                    <a:pt x="3664" y="326"/>
                  </a:moveTo>
                  <a:lnTo>
                    <a:pt x="3664" y="220"/>
                  </a:lnTo>
                </a:path>
                <a:path w="12600" h="420" fill="none">
                  <a:moveTo>
                    <a:pt x="3694" y="326"/>
                  </a:moveTo>
                  <a:lnTo>
                    <a:pt x="3694" y="220"/>
                  </a:lnTo>
                </a:path>
                <a:path w="12600" h="420" fill="none">
                  <a:moveTo>
                    <a:pt x="3765" y="94"/>
                  </a:moveTo>
                  <a:lnTo>
                    <a:pt x="3765" y="200"/>
                  </a:lnTo>
                </a:path>
                <a:path w="12600" h="420" fill="none">
                  <a:moveTo>
                    <a:pt x="3795" y="94"/>
                  </a:moveTo>
                  <a:lnTo>
                    <a:pt x="3795" y="200"/>
                  </a:lnTo>
                </a:path>
                <a:path w="12600" h="420" fill="none">
                  <a:moveTo>
                    <a:pt x="3765" y="326"/>
                  </a:moveTo>
                  <a:lnTo>
                    <a:pt x="3765" y="220"/>
                  </a:lnTo>
                </a:path>
                <a:path w="12600" h="420" fill="none">
                  <a:moveTo>
                    <a:pt x="3795" y="326"/>
                  </a:moveTo>
                  <a:lnTo>
                    <a:pt x="3795" y="220"/>
                  </a:lnTo>
                </a:path>
                <a:path w="12600" h="420" fill="none">
                  <a:moveTo>
                    <a:pt x="3865" y="94"/>
                  </a:moveTo>
                  <a:lnTo>
                    <a:pt x="3865" y="200"/>
                  </a:lnTo>
                </a:path>
                <a:path w="12600" h="420" fill="none">
                  <a:moveTo>
                    <a:pt x="3895" y="94"/>
                  </a:moveTo>
                  <a:lnTo>
                    <a:pt x="3895" y="200"/>
                  </a:lnTo>
                </a:path>
                <a:path w="12600" h="420" fill="none">
                  <a:moveTo>
                    <a:pt x="3865" y="326"/>
                  </a:moveTo>
                  <a:lnTo>
                    <a:pt x="3865" y="220"/>
                  </a:lnTo>
                </a:path>
                <a:path w="12600" h="420" fill="none">
                  <a:moveTo>
                    <a:pt x="3895" y="326"/>
                  </a:moveTo>
                  <a:lnTo>
                    <a:pt x="3895" y="220"/>
                  </a:lnTo>
                </a:path>
                <a:path w="12600" h="420" fill="none">
                  <a:moveTo>
                    <a:pt x="3966" y="94"/>
                  </a:moveTo>
                  <a:lnTo>
                    <a:pt x="3966" y="200"/>
                  </a:lnTo>
                </a:path>
                <a:path w="12600" h="420" fill="none">
                  <a:moveTo>
                    <a:pt x="3996" y="94"/>
                  </a:moveTo>
                  <a:lnTo>
                    <a:pt x="3996" y="200"/>
                  </a:lnTo>
                </a:path>
                <a:path w="12600" h="420" fill="none">
                  <a:moveTo>
                    <a:pt x="3966" y="326"/>
                  </a:moveTo>
                  <a:lnTo>
                    <a:pt x="3966" y="220"/>
                  </a:lnTo>
                </a:path>
                <a:path w="12600" h="420" fill="none">
                  <a:moveTo>
                    <a:pt x="3996" y="326"/>
                  </a:moveTo>
                  <a:lnTo>
                    <a:pt x="3996" y="220"/>
                  </a:lnTo>
                </a:path>
                <a:path w="12600" h="420" fill="none">
                  <a:moveTo>
                    <a:pt x="4067" y="94"/>
                  </a:moveTo>
                  <a:lnTo>
                    <a:pt x="4067" y="200"/>
                  </a:lnTo>
                </a:path>
                <a:path w="12600" h="420" fill="none">
                  <a:moveTo>
                    <a:pt x="4097" y="94"/>
                  </a:moveTo>
                  <a:lnTo>
                    <a:pt x="4097" y="200"/>
                  </a:lnTo>
                </a:path>
                <a:path w="12600" h="420" fill="none">
                  <a:moveTo>
                    <a:pt x="4067" y="326"/>
                  </a:moveTo>
                  <a:lnTo>
                    <a:pt x="4067" y="220"/>
                  </a:lnTo>
                </a:path>
                <a:path w="12600" h="420" fill="none">
                  <a:moveTo>
                    <a:pt x="4097" y="326"/>
                  </a:moveTo>
                  <a:lnTo>
                    <a:pt x="4097" y="220"/>
                  </a:lnTo>
                </a:path>
                <a:path w="12600" h="420" fill="none">
                  <a:moveTo>
                    <a:pt x="4168" y="94"/>
                  </a:moveTo>
                  <a:lnTo>
                    <a:pt x="4168" y="200"/>
                  </a:lnTo>
                </a:path>
                <a:path w="12600" h="420" fill="none">
                  <a:moveTo>
                    <a:pt x="4198" y="94"/>
                  </a:moveTo>
                  <a:lnTo>
                    <a:pt x="4198" y="200"/>
                  </a:lnTo>
                </a:path>
                <a:path w="12600" h="420" fill="none">
                  <a:moveTo>
                    <a:pt x="4168" y="326"/>
                  </a:moveTo>
                  <a:lnTo>
                    <a:pt x="4168" y="220"/>
                  </a:lnTo>
                </a:path>
                <a:path w="12600" h="420" fill="none">
                  <a:moveTo>
                    <a:pt x="4198" y="326"/>
                  </a:moveTo>
                  <a:lnTo>
                    <a:pt x="4198" y="220"/>
                  </a:lnTo>
                </a:path>
                <a:path w="12600" h="420" fill="none">
                  <a:moveTo>
                    <a:pt x="4269" y="94"/>
                  </a:moveTo>
                  <a:lnTo>
                    <a:pt x="4269" y="200"/>
                  </a:lnTo>
                </a:path>
                <a:path w="12600" h="420" fill="none">
                  <a:moveTo>
                    <a:pt x="4299" y="94"/>
                  </a:moveTo>
                  <a:lnTo>
                    <a:pt x="4299" y="200"/>
                  </a:lnTo>
                </a:path>
                <a:path w="12600" h="420" fill="none">
                  <a:moveTo>
                    <a:pt x="4269" y="326"/>
                  </a:moveTo>
                  <a:lnTo>
                    <a:pt x="4269" y="220"/>
                  </a:lnTo>
                </a:path>
                <a:path w="12600" h="420" fill="none">
                  <a:moveTo>
                    <a:pt x="4299" y="326"/>
                  </a:moveTo>
                  <a:lnTo>
                    <a:pt x="4299" y="220"/>
                  </a:lnTo>
                </a:path>
                <a:path w="12600" h="420" fill="none">
                  <a:moveTo>
                    <a:pt x="4369" y="94"/>
                  </a:moveTo>
                  <a:lnTo>
                    <a:pt x="4369" y="200"/>
                  </a:lnTo>
                </a:path>
                <a:path w="12600" h="420" fill="none">
                  <a:moveTo>
                    <a:pt x="4399" y="94"/>
                  </a:moveTo>
                  <a:lnTo>
                    <a:pt x="4399" y="200"/>
                  </a:lnTo>
                </a:path>
                <a:path w="12600" h="420" fill="none">
                  <a:moveTo>
                    <a:pt x="4369" y="326"/>
                  </a:moveTo>
                  <a:lnTo>
                    <a:pt x="4369" y="220"/>
                  </a:lnTo>
                </a:path>
                <a:path w="12600" h="420" fill="none">
                  <a:moveTo>
                    <a:pt x="4399" y="326"/>
                  </a:moveTo>
                  <a:lnTo>
                    <a:pt x="4399" y="220"/>
                  </a:lnTo>
                </a:path>
                <a:path w="12600" h="420" fill="none">
                  <a:moveTo>
                    <a:pt x="4470" y="94"/>
                  </a:moveTo>
                  <a:lnTo>
                    <a:pt x="4470" y="200"/>
                  </a:lnTo>
                </a:path>
                <a:path w="12600" h="420" fill="none">
                  <a:moveTo>
                    <a:pt x="4500" y="94"/>
                  </a:moveTo>
                  <a:lnTo>
                    <a:pt x="4500" y="200"/>
                  </a:lnTo>
                </a:path>
                <a:path w="12600" h="420" fill="none">
                  <a:moveTo>
                    <a:pt x="4470" y="326"/>
                  </a:moveTo>
                  <a:lnTo>
                    <a:pt x="4470" y="220"/>
                  </a:lnTo>
                </a:path>
                <a:path w="12600" h="420" fill="none">
                  <a:moveTo>
                    <a:pt x="4500" y="326"/>
                  </a:moveTo>
                  <a:lnTo>
                    <a:pt x="4500" y="220"/>
                  </a:lnTo>
                </a:path>
                <a:path w="12600" h="420" fill="none">
                  <a:moveTo>
                    <a:pt x="4571" y="94"/>
                  </a:moveTo>
                  <a:lnTo>
                    <a:pt x="4571" y="200"/>
                  </a:lnTo>
                </a:path>
                <a:path w="12600" h="420" fill="none">
                  <a:moveTo>
                    <a:pt x="4601" y="94"/>
                  </a:moveTo>
                  <a:lnTo>
                    <a:pt x="4601" y="200"/>
                  </a:lnTo>
                </a:path>
                <a:path w="12600" h="420" fill="none">
                  <a:moveTo>
                    <a:pt x="4571" y="326"/>
                  </a:moveTo>
                  <a:lnTo>
                    <a:pt x="4571" y="220"/>
                  </a:lnTo>
                </a:path>
                <a:path w="12600" h="420" fill="none">
                  <a:moveTo>
                    <a:pt x="4601" y="326"/>
                  </a:moveTo>
                  <a:lnTo>
                    <a:pt x="4601" y="220"/>
                  </a:lnTo>
                </a:path>
                <a:path w="12600" h="420" fill="none">
                  <a:moveTo>
                    <a:pt x="4672" y="94"/>
                  </a:moveTo>
                  <a:lnTo>
                    <a:pt x="4672" y="200"/>
                  </a:lnTo>
                </a:path>
                <a:path w="12600" h="420" fill="none">
                  <a:moveTo>
                    <a:pt x="4702" y="94"/>
                  </a:moveTo>
                  <a:lnTo>
                    <a:pt x="4702" y="200"/>
                  </a:lnTo>
                </a:path>
                <a:path w="12600" h="420" fill="none">
                  <a:moveTo>
                    <a:pt x="4672" y="326"/>
                  </a:moveTo>
                  <a:lnTo>
                    <a:pt x="4672" y="220"/>
                  </a:lnTo>
                </a:path>
                <a:path w="12600" h="420" fill="none">
                  <a:moveTo>
                    <a:pt x="4702" y="326"/>
                  </a:moveTo>
                  <a:lnTo>
                    <a:pt x="4702" y="220"/>
                  </a:lnTo>
                </a:path>
                <a:path w="12600" h="420" fill="none">
                  <a:moveTo>
                    <a:pt x="4773" y="94"/>
                  </a:moveTo>
                  <a:lnTo>
                    <a:pt x="4773" y="200"/>
                  </a:lnTo>
                </a:path>
                <a:path w="12600" h="420" fill="none">
                  <a:moveTo>
                    <a:pt x="4803" y="94"/>
                  </a:moveTo>
                  <a:lnTo>
                    <a:pt x="4803" y="200"/>
                  </a:lnTo>
                </a:path>
                <a:path w="12600" h="420" fill="none">
                  <a:moveTo>
                    <a:pt x="4773" y="326"/>
                  </a:moveTo>
                  <a:lnTo>
                    <a:pt x="4773" y="220"/>
                  </a:lnTo>
                </a:path>
                <a:path w="12600" h="420" fill="none">
                  <a:moveTo>
                    <a:pt x="4803" y="326"/>
                  </a:moveTo>
                  <a:lnTo>
                    <a:pt x="4803" y="220"/>
                  </a:lnTo>
                </a:path>
                <a:path w="12600" h="420" fill="none">
                  <a:moveTo>
                    <a:pt x="4873" y="94"/>
                  </a:moveTo>
                  <a:lnTo>
                    <a:pt x="4873" y="200"/>
                  </a:lnTo>
                </a:path>
                <a:path w="12600" h="420" fill="none">
                  <a:moveTo>
                    <a:pt x="4903" y="94"/>
                  </a:moveTo>
                  <a:lnTo>
                    <a:pt x="4903" y="200"/>
                  </a:lnTo>
                </a:path>
                <a:path w="12600" h="420" fill="none">
                  <a:moveTo>
                    <a:pt x="4873" y="326"/>
                  </a:moveTo>
                  <a:lnTo>
                    <a:pt x="4873" y="220"/>
                  </a:lnTo>
                </a:path>
                <a:path w="12600" h="420" fill="none">
                  <a:moveTo>
                    <a:pt x="4903" y="326"/>
                  </a:moveTo>
                  <a:lnTo>
                    <a:pt x="4903" y="220"/>
                  </a:lnTo>
                </a:path>
                <a:path w="12600" h="420" fill="none">
                  <a:moveTo>
                    <a:pt x="4974" y="94"/>
                  </a:moveTo>
                  <a:lnTo>
                    <a:pt x="4974" y="200"/>
                  </a:lnTo>
                </a:path>
                <a:path w="12600" h="420" fill="none">
                  <a:moveTo>
                    <a:pt x="5004" y="94"/>
                  </a:moveTo>
                  <a:lnTo>
                    <a:pt x="5004" y="200"/>
                  </a:lnTo>
                </a:path>
                <a:path w="12600" h="420" fill="none">
                  <a:moveTo>
                    <a:pt x="4974" y="326"/>
                  </a:moveTo>
                  <a:lnTo>
                    <a:pt x="4974" y="220"/>
                  </a:lnTo>
                </a:path>
                <a:path w="12600" h="420" fill="none">
                  <a:moveTo>
                    <a:pt x="5004" y="326"/>
                  </a:moveTo>
                  <a:lnTo>
                    <a:pt x="5004" y="220"/>
                  </a:lnTo>
                </a:path>
                <a:path w="12600" h="420" fill="none">
                  <a:moveTo>
                    <a:pt x="5075" y="94"/>
                  </a:moveTo>
                  <a:lnTo>
                    <a:pt x="5075" y="200"/>
                  </a:lnTo>
                </a:path>
                <a:path w="12600" h="420" fill="none">
                  <a:moveTo>
                    <a:pt x="5105" y="94"/>
                  </a:moveTo>
                  <a:lnTo>
                    <a:pt x="5105" y="200"/>
                  </a:lnTo>
                </a:path>
                <a:path w="12600" h="420" fill="none">
                  <a:moveTo>
                    <a:pt x="5075" y="326"/>
                  </a:moveTo>
                  <a:lnTo>
                    <a:pt x="5075" y="220"/>
                  </a:lnTo>
                </a:path>
                <a:path w="12600" h="420" fill="none">
                  <a:moveTo>
                    <a:pt x="5105" y="326"/>
                  </a:moveTo>
                  <a:lnTo>
                    <a:pt x="5105" y="220"/>
                  </a:lnTo>
                </a:path>
                <a:path w="12600" h="420" fill="none">
                  <a:moveTo>
                    <a:pt x="5176" y="94"/>
                  </a:moveTo>
                  <a:lnTo>
                    <a:pt x="5176" y="200"/>
                  </a:lnTo>
                </a:path>
                <a:path w="12600" h="420" fill="none">
                  <a:moveTo>
                    <a:pt x="5206" y="94"/>
                  </a:moveTo>
                  <a:lnTo>
                    <a:pt x="5206" y="200"/>
                  </a:lnTo>
                </a:path>
                <a:path w="12600" h="420" fill="none">
                  <a:moveTo>
                    <a:pt x="5176" y="326"/>
                  </a:moveTo>
                  <a:lnTo>
                    <a:pt x="5176" y="220"/>
                  </a:lnTo>
                </a:path>
                <a:path w="12600" h="420" fill="none">
                  <a:moveTo>
                    <a:pt x="5206" y="326"/>
                  </a:moveTo>
                  <a:lnTo>
                    <a:pt x="5206" y="220"/>
                  </a:lnTo>
                </a:path>
                <a:path w="12600" h="420" fill="none">
                  <a:moveTo>
                    <a:pt x="5277" y="94"/>
                  </a:moveTo>
                  <a:lnTo>
                    <a:pt x="5277" y="200"/>
                  </a:lnTo>
                </a:path>
                <a:path w="12600" h="420" fill="none">
                  <a:moveTo>
                    <a:pt x="5307" y="94"/>
                  </a:moveTo>
                  <a:lnTo>
                    <a:pt x="5307" y="200"/>
                  </a:lnTo>
                </a:path>
                <a:path w="12600" h="420" fill="none">
                  <a:moveTo>
                    <a:pt x="5277" y="326"/>
                  </a:moveTo>
                  <a:lnTo>
                    <a:pt x="5277" y="220"/>
                  </a:lnTo>
                </a:path>
                <a:path w="12600" h="420" fill="none">
                  <a:moveTo>
                    <a:pt x="5307" y="326"/>
                  </a:moveTo>
                  <a:lnTo>
                    <a:pt x="5307" y="220"/>
                  </a:lnTo>
                </a:path>
                <a:path w="12600" h="420" fill="none">
                  <a:moveTo>
                    <a:pt x="5377" y="94"/>
                  </a:moveTo>
                  <a:lnTo>
                    <a:pt x="5377" y="200"/>
                  </a:lnTo>
                </a:path>
                <a:path w="12600" h="420" fill="none">
                  <a:moveTo>
                    <a:pt x="5407" y="94"/>
                  </a:moveTo>
                  <a:lnTo>
                    <a:pt x="5407" y="200"/>
                  </a:lnTo>
                </a:path>
                <a:path w="12600" h="420" fill="none">
                  <a:moveTo>
                    <a:pt x="5377" y="326"/>
                  </a:moveTo>
                  <a:lnTo>
                    <a:pt x="5377" y="220"/>
                  </a:lnTo>
                </a:path>
                <a:path w="12600" h="420" fill="none">
                  <a:moveTo>
                    <a:pt x="5407" y="326"/>
                  </a:moveTo>
                  <a:lnTo>
                    <a:pt x="5407" y="220"/>
                  </a:lnTo>
                </a:path>
                <a:path w="12600" h="420" fill="none">
                  <a:moveTo>
                    <a:pt x="5478" y="94"/>
                  </a:moveTo>
                  <a:lnTo>
                    <a:pt x="5478" y="200"/>
                  </a:lnTo>
                </a:path>
                <a:path w="12600" h="420" fill="none">
                  <a:moveTo>
                    <a:pt x="5508" y="94"/>
                  </a:moveTo>
                  <a:lnTo>
                    <a:pt x="5508" y="200"/>
                  </a:lnTo>
                </a:path>
                <a:path w="12600" h="420" fill="none">
                  <a:moveTo>
                    <a:pt x="5478" y="326"/>
                  </a:moveTo>
                  <a:lnTo>
                    <a:pt x="5478" y="220"/>
                  </a:lnTo>
                </a:path>
                <a:path w="12600" h="420" fill="none">
                  <a:moveTo>
                    <a:pt x="5508" y="326"/>
                  </a:moveTo>
                  <a:lnTo>
                    <a:pt x="5508" y="220"/>
                  </a:lnTo>
                </a:path>
                <a:path w="12600" h="420" fill="none">
                  <a:moveTo>
                    <a:pt x="5579" y="94"/>
                  </a:moveTo>
                  <a:lnTo>
                    <a:pt x="5579" y="200"/>
                  </a:lnTo>
                </a:path>
                <a:path w="12600" h="420" fill="none">
                  <a:moveTo>
                    <a:pt x="5609" y="94"/>
                  </a:moveTo>
                  <a:lnTo>
                    <a:pt x="5609" y="200"/>
                  </a:lnTo>
                </a:path>
                <a:path w="12600" h="420" fill="none">
                  <a:moveTo>
                    <a:pt x="5579" y="326"/>
                  </a:moveTo>
                  <a:lnTo>
                    <a:pt x="5579" y="220"/>
                  </a:lnTo>
                </a:path>
                <a:path w="12600" h="420" fill="none">
                  <a:moveTo>
                    <a:pt x="5609" y="326"/>
                  </a:moveTo>
                  <a:lnTo>
                    <a:pt x="5609" y="220"/>
                  </a:lnTo>
                </a:path>
                <a:path w="12600" h="420" fill="none">
                  <a:moveTo>
                    <a:pt x="5680" y="94"/>
                  </a:moveTo>
                  <a:lnTo>
                    <a:pt x="5680" y="200"/>
                  </a:lnTo>
                </a:path>
                <a:path w="12600" h="420" fill="none">
                  <a:moveTo>
                    <a:pt x="5710" y="94"/>
                  </a:moveTo>
                  <a:lnTo>
                    <a:pt x="5710" y="200"/>
                  </a:lnTo>
                </a:path>
                <a:path w="12600" h="420" fill="none">
                  <a:moveTo>
                    <a:pt x="5680" y="326"/>
                  </a:moveTo>
                  <a:lnTo>
                    <a:pt x="5680" y="220"/>
                  </a:lnTo>
                </a:path>
                <a:path w="12600" h="420" fill="none">
                  <a:moveTo>
                    <a:pt x="5710" y="326"/>
                  </a:moveTo>
                  <a:lnTo>
                    <a:pt x="5710" y="220"/>
                  </a:lnTo>
                </a:path>
                <a:path w="12600" h="420" fill="none">
                  <a:moveTo>
                    <a:pt x="5781" y="94"/>
                  </a:moveTo>
                  <a:lnTo>
                    <a:pt x="5781" y="200"/>
                  </a:lnTo>
                </a:path>
                <a:path w="12600" h="420" fill="none">
                  <a:moveTo>
                    <a:pt x="5811" y="94"/>
                  </a:moveTo>
                  <a:lnTo>
                    <a:pt x="5811" y="200"/>
                  </a:lnTo>
                </a:path>
                <a:path w="12600" h="420" fill="none">
                  <a:moveTo>
                    <a:pt x="5781" y="326"/>
                  </a:moveTo>
                  <a:lnTo>
                    <a:pt x="5781" y="220"/>
                  </a:lnTo>
                </a:path>
                <a:path w="12600" h="420" fill="none">
                  <a:moveTo>
                    <a:pt x="5811" y="326"/>
                  </a:moveTo>
                  <a:lnTo>
                    <a:pt x="5811" y="220"/>
                  </a:lnTo>
                </a:path>
                <a:path w="12600" h="420" fill="none">
                  <a:moveTo>
                    <a:pt x="5881" y="94"/>
                  </a:moveTo>
                  <a:lnTo>
                    <a:pt x="5881" y="200"/>
                  </a:lnTo>
                </a:path>
                <a:path w="12600" h="420" fill="none">
                  <a:moveTo>
                    <a:pt x="5911" y="94"/>
                  </a:moveTo>
                  <a:lnTo>
                    <a:pt x="5911" y="200"/>
                  </a:lnTo>
                </a:path>
                <a:path w="12600" h="420" fill="none">
                  <a:moveTo>
                    <a:pt x="5881" y="326"/>
                  </a:moveTo>
                  <a:lnTo>
                    <a:pt x="5881" y="220"/>
                  </a:lnTo>
                </a:path>
                <a:path w="12600" h="420" fill="none">
                  <a:moveTo>
                    <a:pt x="5911" y="326"/>
                  </a:moveTo>
                  <a:lnTo>
                    <a:pt x="5911" y="220"/>
                  </a:lnTo>
                </a:path>
                <a:path w="12600" h="420" fill="none">
                  <a:moveTo>
                    <a:pt x="5982" y="94"/>
                  </a:moveTo>
                  <a:lnTo>
                    <a:pt x="5982" y="200"/>
                  </a:lnTo>
                </a:path>
                <a:path w="12600" h="420" fill="none">
                  <a:moveTo>
                    <a:pt x="6012" y="94"/>
                  </a:moveTo>
                  <a:lnTo>
                    <a:pt x="6012" y="200"/>
                  </a:lnTo>
                </a:path>
                <a:path w="12600" h="420" fill="none">
                  <a:moveTo>
                    <a:pt x="5982" y="326"/>
                  </a:moveTo>
                  <a:lnTo>
                    <a:pt x="5982" y="220"/>
                  </a:lnTo>
                </a:path>
                <a:path w="12600" h="420" fill="none">
                  <a:moveTo>
                    <a:pt x="6012" y="326"/>
                  </a:moveTo>
                  <a:lnTo>
                    <a:pt x="6012" y="220"/>
                  </a:lnTo>
                </a:path>
                <a:path w="12600" h="420" fill="none">
                  <a:moveTo>
                    <a:pt x="6083" y="94"/>
                  </a:moveTo>
                  <a:lnTo>
                    <a:pt x="6083" y="200"/>
                  </a:lnTo>
                </a:path>
                <a:path w="12600" h="420" fill="none">
                  <a:moveTo>
                    <a:pt x="6113" y="94"/>
                  </a:moveTo>
                  <a:lnTo>
                    <a:pt x="6113" y="200"/>
                  </a:lnTo>
                </a:path>
                <a:path w="12600" h="420" fill="none">
                  <a:moveTo>
                    <a:pt x="6083" y="326"/>
                  </a:moveTo>
                  <a:lnTo>
                    <a:pt x="6083" y="220"/>
                  </a:lnTo>
                </a:path>
                <a:path w="12600" h="420" fill="none">
                  <a:moveTo>
                    <a:pt x="6113" y="326"/>
                  </a:moveTo>
                  <a:lnTo>
                    <a:pt x="6113" y="220"/>
                  </a:lnTo>
                </a:path>
                <a:path w="12600" h="420" fill="none">
                  <a:moveTo>
                    <a:pt x="6184" y="94"/>
                  </a:moveTo>
                  <a:lnTo>
                    <a:pt x="6184" y="200"/>
                  </a:lnTo>
                </a:path>
                <a:path w="12600" h="420" fill="none">
                  <a:moveTo>
                    <a:pt x="6214" y="94"/>
                  </a:moveTo>
                  <a:lnTo>
                    <a:pt x="6214" y="200"/>
                  </a:lnTo>
                </a:path>
                <a:path w="12600" h="420" fill="none">
                  <a:moveTo>
                    <a:pt x="6184" y="326"/>
                  </a:moveTo>
                  <a:lnTo>
                    <a:pt x="6184" y="220"/>
                  </a:lnTo>
                </a:path>
                <a:path w="12600" h="420" fill="none">
                  <a:moveTo>
                    <a:pt x="6214" y="326"/>
                  </a:moveTo>
                  <a:lnTo>
                    <a:pt x="6214" y="220"/>
                  </a:lnTo>
                </a:path>
                <a:path w="12600" h="420" fill="none">
                  <a:moveTo>
                    <a:pt x="6285" y="94"/>
                  </a:moveTo>
                  <a:lnTo>
                    <a:pt x="6285" y="200"/>
                  </a:lnTo>
                </a:path>
                <a:path w="12600" h="420" fill="none">
                  <a:moveTo>
                    <a:pt x="6315" y="94"/>
                  </a:moveTo>
                  <a:lnTo>
                    <a:pt x="6315" y="200"/>
                  </a:lnTo>
                </a:path>
                <a:path w="12600" h="420" fill="none">
                  <a:moveTo>
                    <a:pt x="6285" y="326"/>
                  </a:moveTo>
                  <a:lnTo>
                    <a:pt x="6285" y="220"/>
                  </a:lnTo>
                </a:path>
                <a:path w="12600" h="420" fill="none">
                  <a:moveTo>
                    <a:pt x="6315" y="326"/>
                  </a:moveTo>
                  <a:lnTo>
                    <a:pt x="6315" y="220"/>
                  </a:lnTo>
                </a:path>
                <a:path w="12600" h="420" fill="none">
                  <a:moveTo>
                    <a:pt x="6385" y="94"/>
                  </a:moveTo>
                  <a:lnTo>
                    <a:pt x="6385" y="200"/>
                  </a:lnTo>
                </a:path>
                <a:path w="12600" h="420" fill="none">
                  <a:moveTo>
                    <a:pt x="6415" y="94"/>
                  </a:moveTo>
                  <a:lnTo>
                    <a:pt x="6415" y="200"/>
                  </a:lnTo>
                </a:path>
                <a:path w="12600" h="420" fill="none">
                  <a:moveTo>
                    <a:pt x="6385" y="326"/>
                  </a:moveTo>
                  <a:lnTo>
                    <a:pt x="6385" y="220"/>
                  </a:lnTo>
                </a:path>
                <a:path w="12600" h="420" fill="none">
                  <a:moveTo>
                    <a:pt x="6415" y="326"/>
                  </a:moveTo>
                  <a:lnTo>
                    <a:pt x="6415" y="220"/>
                  </a:lnTo>
                </a:path>
                <a:path w="12600" h="420" fill="none">
                  <a:moveTo>
                    <a:pt x="6486" y="94"/>
                  </a:moveTo>
                  <a:lnTo>
                    <a:pt x="6486" y="200"/>
                  </a:lnTo>
                </a:path>
                <a:path w="12600" h="420" fill="none">
                  <a:moveTo>
                    <a:pt x="6516" y="94"/>
                  </a:moveTo>
                  <a:lnTo>
                    <a:pt x="6516" y="200"/>
                  </a:lnTo>
                </a:path>
                <a:path w="12600" h="420" fill="none">
                  <a:moveTo>
                    <a:pt x="6486" y="326"/>
                  </a:moveTo>
                  <a:lnTo>
                    <a:pt x="6486" y="220"/>
                  </a:lnTo>
                </a:path>
                <a:path w="12600" h="420" fill="none">
                  <a:moveTo>
                    <a:pt x="6516" y="326"/>
                  </a:moveTo>
                  <a:lnTo>
                    <a:pt x="6516" y="220"/>
                  </a:lnTo>
                </a:path>
                <a:path w="12600" h="420" fill="none">
                  <a:moveTo>
                    <a:pt x="6587" y="94"/>
                  </a:moveTo>
                  <a:lnTo>
                    <a:pt x="6587" y="200"/>
                  </a:lnTo>
                </a:path>
                <a:path w="12600" h="420" fill="none">
                  <a:moveTo>
                    <a:pt x="6617" y="94"/>
                  </a:moveTo>
                  <a:lnTo>
                    <a:pt x="6617" y="200"/>
                  </a:lnTo>
                </a:path>
                <a:path w="12600" h="420" fill="none">
                  <a:moveTo>
                    <a:pt x="6587" y="326"/>
                  </a:moveTo>
                  <a:lnTo>
                    <a:pt x="6587" y="220"/>
                  </a:lnTo>
                </a:path>
                <a:path w="12600" h="420" fill="none">
                  <a:moveTo>
                    <a:pt x="6617" y="326"/>
                  </a:moveTo>
                  <a:lnTo>
                    <a:pt x="6617" y="220"/>
                  </a:lnTo>
                </a:path>
                <a:path w="12600" h="420" fill="none">
                  <a:moveTo>
                    <a:pt x="6688" y="94"/>
                  </a:moveTo>
                  <a:lnTo>
                    <a:pt x="6688" y="200"/>
                  </a:lnTo>
                </a:path>
                <a:path w="12600" h="420" fill="none">
                  <a:moveTo>
                    <a:pt x="6718" y="94"/>
                  </a:moveTo>
                  <a:lnTo>
                    <a:pt x="6718" y="200"/>
                  </a:lnTo>
                </a:path>
                <a:path w="12600" h="420" fill="none">
                  <a:moveTo>
                    <a:pt x="6688" y="326"/>
                  </a:moveTo>
                  <a:lnTo>
                    <a:pt x="6688" y="220"/>
                  </a:lnTo>
                </a:path>
                <a:path w="12600" h="420" fill="none">
                  <a:moveTo>
                    <a:pt x="6718" y="326"/>
                  </a:moveTo>
                  <a:lnTo>
                    <a:pt x="6718" y="220"/>
                  </a:lnTo>
                </a:path>
                <a:path w="12600" h="420" fill="none">
                  <a:moveTo>
                    <a:pt x="6789" y="94"/>
                  </a:moveTo>
                  <a:lnTo>
                    <a:pt x="6789" y="200"/>
                  </a:lnTo>
                </a:path>
                <a:path w="12600" h="420" fill="none">
                  <a:moveTo>
                    <a:pt x="6819" y="94"/>
                  </a:moveTo>
                  <a:lnTo>
                    <a:pt x="6819" y="200"/>
                  </a:lnTo>
                </a:path>
                <a:path w="12600" h="420" fill="none">
                  <a:moveTo>
                    <a:pt x="6789" y="326"/>
                  </a:moveTo>
                  <a:lnTo>
                    <a:pt x="6789" y="220"/>
                  </a:lnTo>
                </a:path>
                <a:path w="12600" h="420" fill="none">
                  <a:moveTo>
                    <a:pt x="6819" y="326"/>
                  </a:moveTo>
                  <a:lnTo>
                    <a:pt x="6819" y="220"/>
                  </a:lnTo>
                </a:path>
                <a:path w="12600" h="420" fill="none">
                  <a:moveTo>
                    <a:pt x="6889" y="94"/>
                  </a:moveTo>
                  <a:lnTo>
                    <a:pt x="6889" y="200"/>
                  </a:lnTo>
                </a:path>
                <a:path w="12600" h="420" fill="none">
                  <a:moveTo>
                    <a:pt x="6919" y="94"/>
                  </a:moveTo>
                  <a:lnTo>
                    <a:pt x="6919" y="200"/>
                  </a:lnTo>
                </a:path>
                <a:path w="12600" h="420" fill="none">
                  <a:moveTo>
                    <a:pt x="6889" y="326"/>
                  </a:moveTo>
                  <a:lnTo>
                    <a:pt x="6889" y="220"/>
                  </a:lnTo>
                </a:path>
                <a:path w="12600" h="420" fill="none">
                  <a:moveTo>
                    <a:pt x="6919" y="326"/>
                  </a:moveTo>
                  <a:lnTo>
                    <a:pt x="6919" y="220"/>
                  </a:lnTo>
                </a:path>
                <a:path w="12600" h="420" fill="none">
                  <a:moveTo>
                    <a:pt x="6990" y="94"/>
                  </a:moveTo>
                  <a:lnTo>
                    <a:pt x="6990" y="200"/>
                  </a:lnTo>
                </a:path>
                <a:path w="12600" h="420" fill="none">
                  <a:moveTo>
                    <a:pt x="7020" y="94"/>
                  </a:moveTo>
                  <a:lnTo>
                    <a:pt x="7020" y="200"/>
                  </a:lnTo>
                </a:path>
                <a:path w="12600" h="420" fill="none">
                  <a:moveTo>
                    <a:pt x="6990" y="326"/>
                  </a:moveTo>
                  <a:lnTo>
                    <a:pt x="6990" y="220"/>
                  </a:lnTo>
                </a:path>
                <a:path w="12600" h="420" fill="none">
                  <a:moveTo>
                    <a:pt x="7020" y="326"/>
                  </a:moveTo>
                  <a:lnTo>
                    <a:pt x="7020" y="220"/>
                  </a:lnTo>
                </a:path>
                <a:path w="12600" h="420" fill="none">
                  <a:moveTo>
                    <a:pt x="7091" y="94"/>
                  </a:moveTo>
                  <a:lnTo>
                    <a:pt x="7091" y="200"/>
                  </a:lnTo>
                </a:path>
                <a:path w="12600" h="420" fill="none">
                  <a:moveTo>
                    <a:pt x="7121" y="94"/>
                  </a:moveTo>
                  <a:lnTo>
                    <a:pt x="7121" y="200"/>
                  </a:lnTo>
                </a:path>
                <a:path w="12600" h="420" fill="none">
                  <a:moveTo>
                    <a:pt x="7091" y="326"/>
                  </a:moveTo>
                  <a:lnTo>
                    <a:pt x="7091" y="220"/>
                  </a:lnTo>
                </a:path>
                <a:path w="12600" h="420" fill="none">
                  <a:moveTo>
                    <a:pt x="7121" y="326"/>
                  </a:moveTo>
                  <a:lnTo>
                    <a:pt x="7121" y="220"/>
                  </a:lnTo>
                </a:path>
                <a:path w="12600" h="420" fill="none">
                  <a:moveTo>
                    <a:pt x="7192" y="94"/>
                  </a:moveTo>
                  <a:lnTo>
                    <a:pt x="7192" y="200"/>
                  </a:lnTo>
                </a:path>
                <a:path w="12600" h="420" fill="none">
                  <a:moveTo>
                    <a:pt x="7222" y="94"/>
                  </a:moveTo>
                  <a:lnTo>
                    <a:pt x="7222" y="200"/>
                  </a:lnTo>
                </a:path>
                <a:path w="12600" h="420" fill="none">
                  <a:moveTo>
                    <a:pt x="7192" y="326"/>
                  </a:moveTo>
                  <a:lnTo>
                    <a:pt x="7192" y="220"/>
                  </a:lnTo>
                </a:path>
                <a:path w="12600" h="420" fill="none">
                  <a:moveTo>
                    <a:pt x="7222" y="326"/>
                  </a:moveTo>
                  <a:lnTo>
                    <a:pt x="7222" y="220"/>
                  </a:lnTo>
                </a:path>
                <a:path w="12600" h="420" fill="none">
                  <a:moveTo>
                    <a:pt x="7293" y="94"/>
                  </a:moveTo>
                  <a:lnTo>
                    <a:pt x="7293" y="200"/>
                  </a:lnTo>
                </a:path>
                <a:path w="12600" h="420" fill="none">
                  <a:moveTo>
                    <a:pt x="7323" y="94"/>
                  </a:moveTo>
                  <a:lnTo>
                    <a:pt x="7323" y="200"/>
                  </a:lnTo>
                </a:path>
                <a:path w="12600" h="420" fill="none">
                  <a:moveTo>
                    <a:pt x="7293" y="326"/>
                  </a:moveTo>
                  <a:lnTo>
                    <a:pt x="7293" y="220"/>
                  </a:lnTo>
                </a:path>
                <a:path w="12600" h="420" fill="none">
                  <a:moveTo>
                    <a:pt x="7323" y="326"/>
                  </a:moveTo>
                  <a:lnTo>
                    <a:pt x="7323" y="220"/>
                  </a:lnTo>
                </a:path>
                <a:path w="12600" h="420" fill="none">
                  <a:moveTo>
                    <a:pt x="7393" y="94"/>
                  </a:moveTo>
                  <a:lnTo>
                    <a:pt x="7393" y="200"/>
                  </a:lnTo>
                </a:path>
                <a:path w="12600" h="420" fill="none">
                  <a:moveTo>
                    <a:pt x="7423" y="94"/>
                  </a:moveTo>
                  <a:lnTo>
                    <a:pt x="7423" y="200"/>
                  </a:lnTo>
                </a:path>
                <a:path w="12600" h="420" fill="none">
                  <a:moveTo>
                    <a:pt x="7393" y="326"/>
                  </a:moveTo>
                  <a:lnTo>
                    <a:pt x="7393" y="220"/>
                  </a:lnTo>
                </a:path>
                <a:path w="12600" h="420" fill="none">
                  <a:moveTo>
                    <a:pt x="7423" y="326"/>
                  </a:moveTo>
                  <a:lnTo>
                    <a:pt x="7423" y="220"/>
                  </a:lnTo>
                </a:path>
                <a:path w="12600" h="420" fill="none">
                  <a:moveTo>
                    <a:pt x="7494" y="94"/>
                  </a:moveTo>
                  <a:lnTo>
                    <a:pt x="7494" y="200"/>
                  </a:lnTo>
                </a:path>
                <a:path w="12600" h="420" fill="none">
                  <a:moveTo>
                    <a:pt x="7524" y="94"/>
                  </a:moveTo>
                  <a:lnTo>
                    <a:pt x="7524" y="200"/>
                  </a:lnTo>
                </a:path>
                <a:path w="12600" h="420" fill="none">
                  <a:moveTo>
                    <a:pt x="7494" y="326"/>
                  </a:moveTo>
                  <a:lnTo>
                    <a:pt x="7494" y="220"/>
                  </a:lnTo>
                </a:path>
                <a:path w="12600" h="420" fill="none">
                  <a:moveTo>
                    <a:pt x="7524" y="326"/>
                  </a:moveTo>
                  <a:lnTo>
                    <a:pt x="7524" y="220"/>
                  </a:lnTo>
                </a:path>
                <a:path w="12600" h="420" fill="none">
                  <a:moveTo>
                    <a:pt x="7595" y="94"/>
                  </a:moveTo>
                  <a:lnTo>
                    <a:pt x="7595" y="200"/>
                  </a:lnTo>
                </a:path>
                <a:path w="12600" h="420" fill="none">
                  <a:moveTo>
                    <a:pt x="7625" y="94"/>
                  </a:moveTo>
                  <a:lnTo>
                    <a:pt x="7625" y="200"/>
                  </a:lnTo>
                </a:path>
                <a:path w="12600" h="420" fill="none">
                  <a:moveTo>
                    <a:pt x="7595" y="326"/>
                  </a:moveTo>
                  <a:lnTo>
                    <a:pt x="7595" y="220"/>
                  </a:lnTo>
                </a:path>
                <a:path w="12600" h="420" fill="none">
                  <a:moveTo>
                    <a:pt x="7625" y="326"/>
                  </a:moveTo>
                  <a:lnTo>
                    <a:pt x="7625" y="220"/>
                  </a:lnTo>
                </a:path>
                <a:path w="12600" h="420" fill="none">
                  <a:moveTo>
                    <a:pt x="7696" y="94"/>
                  </a:moveTo>
                  <a:lnTo>
                    <a:pt x="7696" y="200"/>
                  </a:lnTo>
                </a:path>
                <a:path w="12600" h="420" fill="none">
                  <a:moveTo>
                    <a:pt x="7726" y="94"/>
                  </a:moveTo>
                  <a:lnTo>
                    <a:pt x="7726" y="200"/>
                  </a:lnTo>
                </a:path>
                <a:path w="12600" h="420" fill="none">
                  <a:moveTo>
                    <a:pt x="7696" y="326"/>
                  </a:moveTo>
                  <a:lnTo>
                    <a:pt x="7696" y="220"/>
                  </a:lnTo>
                </a:path>
                <a:path w="12600" h="420" fill="none">
                  <a:moveTo>
                    <a:pt x="7726" y="326"/>
                  </a:moveTo>
                  <a:lnTo>
                    <a:pt x="7726" y="220"/>
                  </a:lnTo>
                </a:path>
                <a:path w="12600" h="420" fill="none">
                  <a:moveTo>
                    <a:pt x="7797" y="94"/>
                  </a:moveTo>
                  <a:lnTo>
                    <a:pt x="7797" y="200"/>
                  </a:lnTo>
                </a:path>
                <a:path w="12600" h="420" fill="none">
                  <a:moveTo>
                    <a:pt x="7827" y="94"/>
                  </a:moveTo>
                  <a:lnTo>
                    <a:pt x="7827" y="200"/>
                  </a:lnTo>
                </a:path>
                <a:path w="12600" h="420" fill="none">
                  <a:moveTo>
                    <a:pt x="7797" y="326"/>
                  </a:moveTo>
                  <a:lnTo>
                    <a:pt x="7797" y="220"/>
                  </a:lnTo>
                </a:path>
                <a:path w="12600" h="420" fill="none">
                  <a:moveTo>
                    <a:pt x="7827" y="326"/>
                  </a:moveTo>
                  <a:lnTo>
                    <a:pt x="7827" y="220"/>
                  </a:lnTo>
                </a:path>
                <a:path w="12600" h="420" fill="none">
                  <a:moveTo>
                    <a:pt x="7897" y="94"/>
                  </a:moveTo>
                  <a:lnTo>
                    <a:pt x="7897" y="200"/>
                  </a:lnTo>
                </a:path>
                <a:path w="12600" h="420" fill="none">
                  <a:moveTo>
                    <a:pt x="7927" y="94"/>
                  </a:moveTo>
                  <a:lnTo>
                    <a:pt x="7927" y="200"/>
                  </a:lnTo>
                </a:path>
                <a:path w="12600" h="420" fill="none">
                  <a:moveTo>
                    <a:pt x="7897" y="326"/>
                  </a:moveTo>
                  <a:lnTo>
                    <a:pt x="7897" y="220"/>
                  </a:lnTo>
                </a:path>
                <a:path w="12600" h="420" fill="none">
                  <a:moveTo>
                    <a:pt x="7927" y="326"/>
                  </a:moveTo>
                  <a:lnTo>
                    <a:pt x="7927" y="220"/>
                  </a:lnTo>
                </a:path>
                <a:path w="12600" h="420" fill="none">
                  <a:moveTo>
                    <a:pt x="7998" y="94"/>
                  </a:moveTo>
                  <a:lnTo>
                    <a:pt x="7998" y="200"/>
                  </a:lnTo>
                </a:path>
                <a:path w="12600" h="420" fill="none">
                  <a:moveTo>
                    <a:pt x="8028" y="94"/>
                  </a:moveTo>
                  <a:lnTo>
                    <a:pt x="8028" y="200"/>
                  </a:lnTo>
                </a:path>
                <a:path w="12600" h="420" fill="none">
                  <a:moveTo>
                    <a:pt x="7998" y="326"/>
                  </a:moveTo>
                  <a:lnTo>
                    <a:pt x="7998" y="220"/>
                  </a:lnTo>
                </a:path>
                <a:path w="12600" h="420" fill="none">
                  <a:moveTo>
                    <a:pt x="8028" y="326"/>
                  </a:moveTo>
                  <a:lnTo>
                    <a:pt x="8028" y="220"/>
                  </a:lnTo>
                </a:path>
                <a:path w="12600" h="420" fill="none">
                  <a:moveTo>
                    <a:pt x="8099" y="94"/>
                  </a:moveTo>
                  <a:lnTo>
                    <a:pt x="8099" y="200"/>
                  </a:lnTo>
                </a:path>
                <a:path w="12600" h="420" fill="none">
                  <a:moveTo>
                    <a:pt x="8129" y="94"/>
                  </a:moveTo>
                  <a:lnTo>
                    <a:pt x="8129" y="200"/>
                  </a:lnTo>
                </a:path>
                <a:path w="12600" h="420" fill="none">
                  <a:moveTo>
                    <a:pt x="8099" y="326"/>
                  </a:moveTo>
                  <a:lnTo>
                    <a:pt x="8099" y="220"/>
                  </a:lnTo>
                </a:path>
                <a:path w="12600" h="420" fill="none">
                  <a:moveTo>
                    <a:pt x="8129" y="326"/>
                  </a:moveTo>
                  <a:lnTo>
                    <a:pt x="8129" y="220"/>
                  </a:lnTo>
                </a:path>
                <a:path w="12600" h="420" fill="none">
                  <a:moveTo>
                    <a:pt x="8200" y="94"/>
                  </a:moveTo>
                  <a:lnTo>
                    <a:pt x="8200" y="200"/>
                  </a:lnTo>
                </a:path>
                <a:path w="12600" h="420" fill="none">
                  <a:moveTo>
                    <a:pt x="8230" y="94"/>
                  </a:moveTo>
                  <a:lnTo>
                    <a:pt x="8230" y="200"/>
                  </a:lnTo>
                </a:path>
                <a:path w="12600" h="420" fill="none">
                  <a:moveTo>
                    <a:pt x="8200" y="326"/>
                  </a:moveTo>
                  <a:lnTo>
                    <a:pt x="8200" y="220"/>
                  </a:lnTo>
                </a:path>
                <a:path w="12600" h="420" fill="none">
                  <a:moveTo>
                    <a:pt x="8230" y="326"/>
                  </a:moveTo>
                  <a:lnTo>
                    <a:pt x="8230" y="220"/>
                  </a:lnTo>
                </a:path>
                <a:path w="12600" h="420" fill="none">
                  <a:moveTo>
                    <a:pt x="8301" y="94"/>
                  </a:moveTo>
                  <a:lnTo>
                    <a:pt x="8301" y="200"/>
                  </a:lnTo>
                </a:path>
                <a:path w="12600" h="420" fill="none">
                  <a:moveTo>
                    <a:pt x="8331" y="94"/>
                  </a:moveTo>
                  <a:lnTo>
                    <a:pt x="8331" y="200"/>
                  </a:lnTo>
                </a:path>
                <a:path w="12600" h="420" fill="none">
                  <a:moveTo>
                    <a:pt x="8301" y="326"/>
                  </a:moveTo>
                  <a:lnTo>
                    <a:pt x="8301" y="220"/>
                  </a:lnTo>
                </a:path>
                <a:path w="12600" h="420" fill="none">
                  <a:moveTo>
                    <a:pt x="8331" y="326"/>
                  </a:moveTo>
                  <a:lnTo>
                    <a:pt x="8331" y="220"/>
                  </a:lnTo>
                </a:path>
                <a:path w="12600" h="420" fill="none">
                  <a:moveTo>
                    <a:pt x="8401" y="94"/>
                  </a:moveTo>
                  <a:lnTo>
                    <a:pt x="8401" y="200"/>
                  </a:lnTo>
                </a:path>
                <a:path w="12600" h="420" fill="none">
                  <a:moveTo>
                    <a:pt x="8431" y="94"/>
                  </a:moveTo>
                  <a:lnTo>
                    <a:pt x="8431" y="200"/>
                  </a:lnTo>
                </a:path>
                <a:path w="12600" h="420" fill="none">
                  <a:moveTo>
                    <a:pt x="8401" y="326"/>
                  </a:moveTo>
                  <a:lnTo>
                    <a:pt x="8401" y="220"/>
                  </a:lnTo>
                </a:path>
                <a:path w="12600" h="420" fill="none">
                  <a:moveTo>
                    <a:pt x="8431" y="326"/>
                  </a:moveTo>
                  <a:lnTo>
                    <a:pt x="8431" y="220"/>
                  </a:lnTo>
                </a:path>
                <a:path w="12600" h="420" fill="none">
                  <a:moveTo>
                    <a:pt x="8502" y="94"/>
                  </a:moveTo>
                  <a:lnTo>
                    <a:pt x="8502" y="200"/>
                  </a:lnTo>
                </a:path>
                <a:path w="12600" h="420" fill="none">
                  <a:moveTo>
                    <a:pt x="8532" y="94"/>
                  </a:moveTo>
                  <a:lnTo>
                    <a:pt x="8532" y="200"/>
                  </a:lnTo>
                </a:path>
                <a:path w="12600" h="420" fill="none">
                  <a:moveTo>
                    <a:pt x="8502" y="326"/>
                  </a:moveTo>
                  <a:lnTo>
                    <a:pt x="8502" y="220"/>
                  </a:lnTo>
                </a:path>
                <a:path w="12600" h="420" fill="none">
                  <a:moveTo>
                    <a:pt x="8532" y="326"/>
                  </a:moveTo>
                  <a:lnTo>
                    <a:pt x="8532" y="220"/>
                  </a:lnTo>
                </a:path>
                <a:path w="12600" h="420" fill="none">
                  <a:moveTo>
                    <a:pt x="8603" y="94"/>
                  </a:moveTo>
                  <a:lnTo>
                    <a:pt x="8603" y="200"/>
                  </a:lnTo>
                </a:path>
                <a:path w="12600" h="420" fill="none">
                  <a:moveTo>
                    <a:pt x="8633" y="94"/>
                  </a:moveTo>
                  <a:lnTo>
                    <a:pt x="8633" y="200"/>
                  </a:lnTo>
                </a:path>
                <a:path w="12600" h="420" fill="none">
                  <a:moveTo>
                    <a:pt x="8603" y="326"/>
                  </a:moveTo>
                  <a:lnTo>
                    <a:pt x="8603" y="220"/>
                  </a:lnTo>
                </a:path>
                <a:path w="12600" h="420" fill="none">
                  <a:moveTo>
                    <a:pt x="8633" y="326"/>
                  </a:moveTo>
                  <a:lnTo>
                    <a:pt x="8633" y="220"/>
                  </a:lnTo>
                </a:path>
                <a:path w="12600" h="420" fill="none">
                  <a:moveTo>
                    <a:pt x="8704" y="94"/>
                  </a:moveTo>
                  <a:lnTo>
                    <a:pt x="8704" y="200"/>
                  </a:lnTo>
                </a:path>
                <a:path w="12600" h="420" fill="none">
                  <a:moveTo>
                    <a:pt x="8734" y="94"/>
                  </a:moveTo>
                  <a:lnTo>
                    <a:pt x="8734" y="200"/>
                  </a:lnTo>
                </a:path>
                <a:path w="12600" h="420" fill="none">
                  <a:moveTo>
                    <a:pt x="8704" y="326"/>
                  </a:moveTo>
                  <a:lnTo>
                    <a:pt x="8704" y="220"/>
                  </a:lnTo>
                </a:path>
                <a:path w="12600" h="420" fill="none">
                  <a:moveTo>
                    <a:pt x="8734" y="326"/>
                  </a:moveTo>
                  <a:lnTo>
                    <a:pt x="8734" y="220"/>
                  </a:lnTo>
                </a:path>
                <a:path w="12600" h="420" fill="none">
                  <a:moveTo>
                    <a:pt x="8805" y="94"/>
                  </a:moveTo>
                  <a:lnTo>
                    <a:pt x="8805" y="200"/>
                  </a:lnTo>
                </a:path>
                <a:path w="12600" h="420" fill="none">
                  <a:moveTo>
                    <a:pt x="8835" y="94"/>
                  </a:moveTo>
                  <a:lnTo>
                    <a:pt x="8835" y="200"/>
                  </a:lnTo>
                </a:path>
                <a:path w="12600" h="420" fill="none">
                  <a:moveTo>
                    <a:pt x="8805" y="326"/>
                  </a:moveTo>
                  <a:lnTo>
                    <a:pt x="8805" y="220"/>
                  </a:lnTo>
                </a:path>
                <a:path w="12600" h="420" fill="none">
                  <a:moveTo>
                    <a:pt x="8835" y="326"/>
                  </a:moveTo>
                  <a:lnTo>
                    <a:pt x="8835" y="220"/>
                  </a:lnTo>
                </a:path>
                <a:path w="12600" h="420" fill="none">
                  <a:moveTo>
                    <a:pt x="8905" y="94"/>
                  </a:moveTo>
                  <a:lnTo>
                    <a:pt x="8905" y="200"/>
                  </a:lnTo>
                </a:path>
                <a:path w="12600" h="420" fill="none">
                  <a:moveTo>
                    <a:pt x="8935" y="94"/>
                  </a:moveTo>
                  <a:lnTo>
                    <a:pt x="8935" y="200"/>
                  </a:lnTo>
                </a:path>
                <a:path w="12600" h="420" fill="none">
                  <a:moveTo>
                    <a:pt x="8905" y="326"/>
                  </a:moveTo>
                  <a:lnTo>
                    <a:pt x="8905" y="220"/>
                  </a:lnTo>
                </a:path>
                <a:path w="12600" h="420" fill="none">
                  <a:moveTo>
                    <a:pt x="8935" y="326"/>
                  </a:moveTo>
                  <a:lnTo>
                    <a:pt x="8935" y="220"/>
                  </a:lnTo>
                </a:path>
                <a:path w="12600" h="420" fill="none">
                  <a:moveTo>
                    <a:pt x="9006" y="94"/>
                  </a:moveTo>
                  <a:lnTo>
                    <a:pt x="9006" y="200"/>
                  </a:lnTo>
                </a:path>
                <a:path w="12600" h="420" fill="none">
                  <a:moveTo>
                    <a:pt x="9036" y="94"/>
                  </a:moveTo>
                  <a:lnTo>
                    <a:pt x="9036" y="200"/>
                  </a:lnTo>
                </a:path>
                <a:path w="12600" h="420" fill="none">
                  <a:moveTo>
                    <a:pt x="9006" y="326"/>
                  </a:moveTo>
                  <a:lnTo>
                    <a:pt x="9006" y="220"/>
                  </a:lnTo>
                </a:path>
                <a:path w="12600" h="420" fill="none">
                  <a:moveTo>
                    <a:pt x="9036" y="326"/>
                  </a:moveTo>
                  <a:lnTo>
                    <a:pt x="9036" y="220"/>
                  </a:lnTo>
                </a:path>
                <a:path w="12600" h="420" fill="none">
                  <a:moveTo>
                    <a:pt x="9107" y="94"/>
                  </a:moveTo>
                  <a:lnTo>
                    <a:pt x="9107" y="200"/>
                  </a:lnTo>
                </a:path>
                <a:path w="12600" h="420" fill="none">
                  <a:moveTo>
                    <a:pt x="9137" y="94"/>
                  </a:moveTo>
                  <a:lnTo>
                    <a:pt x="9137" y="200"/>
                  </a:lnTo>
                </a:path>
                <a:path w="12600" h="420" fill="none">
                  <a:moveTo>
                    <a:pt x="9107" y="326"/>
                  </a:moveTo>
                  <a:lnTo>
                    <a:pt x="9107" y="220"/>
                  </a:lnTo>
                </a:path>
                <a:path w="12600" h="420" fill="none">
                  <a:moveTo>
                    <a:pt x="9137" y="326"/>
                  </a:moveTo>
                  <a:lnTo>
                    <a:pt x="9137" y="220"/>
                  </a:lnTo>
                </a:path>
                <a:path w="12600" h="420" fill="none">
                  <a:moveTo>
                    <a:pt x="9208" y="94"/>
                  </a:moveTo>
                  <a:lnTo>
                    <a:pt x="9208" y="200"/>
                  </a:lnTo>
                </a:path>
                <a:path w="12600" h="420" fill="none">
                  <a:moveTo>
                    <a:pt x="9238" y="94"/>
                  </a:moveTo>
                  <a:lnTo>
                    <a:pt x="9238" y="200"/>
                  </a:lnTo>
                </a:path>
                <a:path w="12600" h="420" fill="none">
                  <a:moveTo>
                    <a:pt x="9208" y="326"/>
                  </a:moveTo>
                  <a:lnTo>
                    <a:pt x="9208" y="220"/>
                  </a:lnTo>
                </a:path>
                <a:path w="12600" h="420" fill="none">
                  <a:moveTo>
                    <a:pt x="9238" y="326"/>
                  </a:moveTo>
                  <a:lnTo>
                    <a:pt x="9238" y="220"/>
                  </a:lnTo>
                </a:path>
                <a:path w="12600" h="420" fill="none">
                  <a:moveTo>
                    <a:pt x="9309" y="94"/>
                  </a:moveTo>
                  <a:lnTo>
                    <a:pt x="9309" y="200"/>
                  </a:lnTo>
                </a:path>
                <a:path w="12600" h="420" fill="none">
                  <a:moveTo>
                    <a:pt x="9339" y="94"/>
                  </a:moveTo>
                  <a:lnTo>
                    <a:pt x="9339" y="200"/>
                  </a:lnTo>
                </a:path>
                <a:path w="12600" h="420" fill="none">
                  <a:moveTo>
                    <a:pt x="9309" y="326"/>
                  </a:moveTo>
                  <a:lnTo>
                    <a:pt x="9309" y="220"/>
                  </a:lnTo>
                </a:path>
                <a:path w="12600" h="420" fill="none">
                  <a:moveTo>
                    <a:pt x="9339" y="326"/>
                  </a:moveTo>
                  <a:lnTo>
                    <a:pt x="9339" y="220"/>
                  </a:lnTo>
                </a:path>
                <a:path w="12600" h="420" fill="none">
                  <a:moveTo>
                    <a:pt x="9409" y="94"/>
                  </a:moveTo>
                  <a:lnTo>
                    <a:pt x="9409" y="200"/>
                  </a:lnTo>
                </a:path>
                <a:path w="12600" h="420" fill="none">
                  <a:moveTo>
                    <a:pt x="9439" y="94"/>
                  </a:moveTo>
                  <a:lnTo>
                    <a:pt x="9439" y="200"/>
                  </a:lnTo>
                </a:path>
                <a:path w="12600" h="420" fill="none">
                  <a:moveTo>
                    <a:pt x="9409" y="326"/>
                  </a:moveTo>
                  <a:lnTo>
                    <a:pt x="9409" y="220"/>
                  </a:lnTo>
                </a:path>
                <a:path w="12600" h="420" fill="none">
                  <a:moveTo>
                    <a:pt x="9439" y="326"/>
                  </a:moveTo>
                  <a:lnTo>
                    <a:pt x="9439" y="220"/>
                  </a:lnTo>
                </a:path>
                <a:path w="12600" h="420" fill="none">
                  <a:moveTo>
                    <a:pt x="9510" y="94"/>
                  </a:moveTo>
                  <a:lnTo>
                    <a:pt x="9510" y="200"/>
                  </a:lnTo>
                </a:path>
                <a:path w="12600" h="420" fill="none">
                  <a:moveTo>
                    <a:pt x="9540" y="94"/>
                  </a:moveTo>
                  <a:lnTo>
                    <a:pt x="9540" y="200"/>
                  </a:lnTo>
                </a:path>
                <a:path w="12600" h="420" fill="none">
                  <a:moveTo>
                    <a:pt x="9510" y="326"/>
                  </a:moveTo>
                  <a:lnTo>
                    <a:pt x="9510" y="220"/>
                  </a:lnTo>
                </a:path>
                <a:path w="12600" h="420" fill="none">
                  <a:moveTo>
                    <a:pt x="9540" y="326"/>
                  </a:moveTo>
                  <a:lnTo>
                    <a:pt x="9540" y="220"/>
                  </a:lnTo>
                </a:path>
                <a:path w="12600" h="420" fill="none">
                  <a:moveTo>
                    <a:pt x="9611" y="94"/>
                  </a:moveTo>
                  <a:lnTo>
                    <a:pt x="9611" y="200"/>
                  </a:lnTo>
                </a:path>
                <a:path w="12600" h="420" fill="none">
                  <a:moveTo>
                    <a:pt x="9641" y="94"/>
                  </a:moveTo>
                  <a:lnTo>
                    <a:pt x="9641" y="200"/>
                  </a:lnTo>
                </a:path>
                <a:path w="12600" h="420" fill="none">
                  <a:moveTo>
                    <a:pt x="9611" y="326"/>
                  </a:moveTo>
                  <a:lnTo>
                    <a:pt x="9611" y="220"/>
                  </a:lnTo>
                </a:path>
                <a:path w="12600" h="420" fill="none">
                  <a:moveTo>
                    <a:pt x="9641" y="326"/>
                  </a:moveTo>
                  <a:lnTo>
                    <a:pt x="9641" y="220"/>
                  </a:lnTo>
                </a:path>
                <a:path w="12600" h="420" fill="none">
                  <a:moveTo>
                    <a:pt x="9712" y="94"/>
                  </a:moveTo>
                  <a:lnTo>
                    <a:pt x="9712" y="200"/>
                  </a:lnTo>
                </a:path>
                <a:path w="12600" h="420" fill="none">
                  <a:moveTo>
                    <a:pt x="9742" y="94"/>
                  </a:moveTo>
                  <a:lnTo>
                    <a:pt x="9742" y="200"/>
                  </a:lnTo>
                </a:path>
                <a:path w="12600" h="420" fill="none">
                  <a:moveTo>
                    <a:pt x="9712" y="326"/>
                  </a:moveTo>
                  <a:lnTo>
                    <a:pt x="9712" y="220"/>
                  </a:lnTo>
                </a:path>
                <a:path w="12600" h="420" fill="none">
                  <a:moveTo>
                    <a:pt x="9742" y="326"/>
                  </a:moveTo>
                  <a:lnTo>
                    <a:pt x="9742" y="220"/>
                  </a:lnTo>
                </a:path>
                <a:path w="12600" h="420" fill="none">
                  <a:moveTo>
                    <a:pt x="9813" y="94"/>
                  </a:moveTo>
                  <a:lnTo>
                    <a:pt x="9813" y="200"/>
                  </a:lnTo>
                </a:path>
                <a:path w="12600" h="420" fill="none">
                  <a:moveTo>
                    <a:pt x="9843" y="94"/>
                  </a:moveTo>
                  <a:lnTo>
                    <a:pt x="9843" y="200"/>
                  </a:lnTo>
                </a:path>
                <a:path w="12600" h="420" fill="none">
                  <a:moveTo>
                    <a:pt x="9813" y="326"/>
                  </a:moveTo>
                  <a:lnTo>
                    <a:pt x="9813" y="220"/>
                  </a:lnTo>
                </a:path>
                <a:path w="12600" h="420" fill="none">
                  <a:moveTo>
                    <a:pt x="9843" y="326"/>
                  </a:moveTo>
                  <a:lnTo>
                    <a:pt x="9843" y="220"/>
                  </a:lnTo>
                </a:path>
                <a:path w="12600" h="420" fill="none">
                  <a:moveTo>
                    <a:pt x="9913" y="94"/>
                  </a:moveTo>
                  <a:lnTo>
                    <a:pt x="9913" y="200"/>
                  </a:lnTo>
                </a:path>
                <a:path w="12600" h="420" fill="none">
                  <a:moveTo>
                    <a:pt x="9943" y="94"/>
                  </a:moveTo>
                  <a:lnTo>
                    <a:pt x="9943" y="200"/>
                  </a:lnTo>
                </a:path>
                <a:path w="12600" h="420" fill="none">
                  <a:moveTo>
                    <a:pt x="9913" y="326"/>
                  </a:moveTo>
                  <a:lnTo>
                    <a:pt x="9913" y="220"/>
                  </a:lnTo>
                </a:path>
                <a:path w="12600" h="420" fill="none">
                  <a:moveTo>
                    <a:pt x="9943" y="326"/>
                  </a:moveTo>
                  <a:lnTo>
                    <a:pt x="9943" y="220"/>
                  </a:lnTo>
                </a:path>
                <a:path w="12600" h="420" fill="none">
                  <a:moveTo>
                    <a:pt x="10014" y="94"/>
                  </a:moveTo>
                  <a:lnTo>
                    <a:pt x="10014" y="200"/>
                  </a:lnTo>
                </a:path>
                <a:path w="12600" h="420" fill="none">
                  <a:moveTo>
                    <a:pt x="10044" y="94"/>
                  </a:moveTo>
                  <a:lnTo>
                    <a:pt x="10044" y="200"/>
                  </a:lnTo>
                </a:path>
                <a:path w="12600" h="420" fill="none">
                  <a:moveTo>
                    <a:pt x="10014" y="326"/>
                  </a:moveTo>
                  <a:lnTo>
                    <a:pt x="10014" y="220"/>
                  </a:lnTo>
                </a:path>
                <a:path w="12600" h="420" fill="none">
                  <a:moveTo>
                    <a:pt x="10044" y="326"/>
                  </a:moveTo>
                  <a:lnTo>
                    <a:pt x="10044" y="220"/>
                  </a:lnTo>
                </a:path>
                <a:path w="12600" h="420" fill="none">
                  <a:moveTo>
                    <a:pt x="10115" y="94"/>
                  </a:moveTo>
                  <a:lnTo>
                    <a:pt x="10115" y="200"/>
                  </a:lnTo>
                </a:path>
                <a:path w="12600" h="420" fill="none">
                  <a:moveTo>
                    <a:pt x="10145" y="94"/>
                  </a:moveTo>
                  <a:lnTo>
                    <a:pt x="10145" y="200"/>
                  </a:lnTo>
                </a:path>
                <a:path w="12600" h="420" fill="none">
                  <a:moveTo>
                    <a:pt x="10115" y="326"/>
                  </a:moveTo>
                  <a:lnTo>
                    <a:pt x="10115" y="220"/>
                  </a:lnTo>
                </a:path>
                <a:path w="12600" h="420" fill="none">
                  <a:moveTo>
                    <a:pt x="10145" y="326"/>
                  </a:moveTo>
                  <a:lnTo>
                    <a:pt x="10145" y="220"/>
                  </a:lnTo>
                </a:path>
                <a:path w="12600" h="420" fill="none">
                  <a:moveTo>
                    <a:pt x="10216" y="94"/>
                  </a:moveTo>
                  <a:lnTo>
                    <a:pt x="10216" y="200"/>
                  </a:lnTo>
                </a:path>
                <a:path w="12600" h="420" fill="none">
                  <a:moveTo>
                    <a:pt x="10246" y="94"/>
                  </a:moveTo>
                  <a:lnTo>
                    <a:pt x="10246" y="200"/>
                  </a:lnTo>
                </a:path>
                <a:path w="12600" h="420" fill="none">
                  <a:moveTo>
                    <a:pt x="10216" y="326"/>
                  </a:moveTo>
                  <a:lnTo>
                    <a:pt x="10216" y="220"/>
                  </a:lnTo>
                </a:path>
                <a:path w="12600" h="420" fill="none">
                  <a:moveTo>
                    <a:pt x="10246" y="326"/>
                  </a:moveTo>
                  <a:lnTo>
                    <a:pt x="10246" y="220"/>
                  </a:lnTo>
                </a:path>
                <a:path w="12600" h="420" fill="none">
                  <a:moveTo>
                    <a:pt x="10317" y="94"/>
                  </a:moveTo>
                  <a:lnTo>
                    <a:pt x="10317" y="200"/>
                  </a:lnTo>
                </a:path>
                <a:path w="12600" h="420" fill="none">
                  <a:moveTo>
                    <a:pt x="10347" y="94"/>
                  </a:moveTo>
                  <a:lnTo>
                    <a:pt x="10347" y="200"/>
                  </a:lnTo>
                </a:path>
                <a:path w="12600" h="420" fill="none">
                  <a:moveTo>
                    <a:pt x="10317" y="326"/>
                  </a:moveTo>
                  <a:lnTo>
                    <a:pt x="10317" y="220"/>
                  </a:lnTo>
                </a:path>
                <a:path w="12600" h="420" fill="none">
                  <a:moveTo>
                    <a:pt x="10347" y="326"/>
                  </a:moveTo>
                  <a:lnTo>
                    <a:pt x="10347" y="220"/>
                  </a:lnTo>
                </a:path>
                <a:path w="12600" h="420" fill="none">
                  <a:moveTo>
                    <a:pt x="10417" y="94"/>
                  </a:moveTo>
                  <a:lnTo>
                    <a:pt x="10417" y="200"/>
                  </a:lnTo>
                </a:path>
                <a:path w="12600" h="420" fill="none">
                  <a:moveTo>
                    <a:pt x="10447" y="94"/>
                  </a:moveTo>
                  <a:lnTo>
                    <a:pt x="10447" y="200"/>
                  </a:lnTo>
                </a:path>
                <a:path w="12600" h="420" fill="none">
                  <a:moveTo>
                    <a:pt x="10417" y="326"/>
                  </a:moveTo>
                  <a:lnTo>
                    <a:pt x="10417" y="220"/>
                  </a:lnTo>
                </a:path>
                <a:path w="12600" h="420" fill="none">
                  <a:moveTo>
                    <a:pt x="10447" y="326"/>
                  </a:moveTo>
                  <a:lnTo>
                    <a:pt x="10447" y="220"/>
                  </a:lnTo>
                </a:path>
                <a:path w="12600" h="420" fill="none">
                  <a:moveTo>
                    <a:pt x="10518" y="94"/>
                  </a:moveTo>
                  <a:lnTo>
                    <a:pt x="10518" y="200"/>
                  </a:lnTo>
                </a:path>
                <a:path w="12600" h="420" fill="none">
                  <a:moveTo>
                    <a:pt x="10548" y="94"/>
                  </a:moveTo>
                  <a:lnTo>
                    <a:pt x="10548" y="200"/>
                  </a:lnTo>
                </a:path>
                <a:path w="12600" h="420" fill="none">
                  <a:moveTo>
                    <a:pt x="10518" y="326"/>
                  </a:moveTo>
                  <a:lnTo>
                    <a:pt x="10518" y="220"/>
                  </a:lnTo>
                </a:path>
                <a:path w="12600" h="420" fill="none">
                  <a:moveTo>
                    <a:pt x="10548" y="326"/>
                  </a:moveTo>
                  <a:lnTo>
                    <a:pt x="10548" y="220"/>
                  </a:lnTo>
                </a:path>
                <a:path w="12600" h="420" fill="none">
                  <a:moveTo>
                    <a:pt x="10619" y="94"/>
                  </a:moveTo>
                  <a:lnTo>
                    <a:pt x="10619" y="200"/>
                  </a:lnTo>
                </a:path>
                <a:path w="12600" h="420" fill="none">
                  <a:moveTo>
                    <a:pt x="10649" y="94"/>
                  </a:moveTo>
                  <a:lnTo>
                    <a:pt x="10649" y="200"/>
                  </a:lnTo>
                </a:path>
                <a:path w="12600" h="420" fill="none">
                  <a:moveTo>
                    <a:pt x="10619" y="326"/>
                  </a:moveTo>
                  <a:lnTo>
                    <a:pt x="10619" y="220"/>
                  </a:lnTo>
                </a:path>
                <a:path w="12600" h="420" fill="none">
                  <a:moveTo>
                    <a:pt x="10649" y="326"/>
                  </a:moveTo>
                  <a:lnTo>
                    <a:pt x="10649" y="220"/>
                  </a:lnTo>
                </a:path>
                <a:path w="12600" h="420" fill="none">
                  <a:moveTo>
                    <a:pt x="10720" y="94"/>
                  </a:moveTo>
                  <a:lnTo>
                    <a:pt x="10720" y="200"/>
                  </a:lnTo>
                </a:path>
                <a:path w="12600" h="420" fill="none">
                  <a:moveTo>
                    <a:pt x="10750" y="94"/>
                  </a:moveTo>
                  <a:lnTo>
                    <a:pt x="10750" y="200"/>
                  </a:lnTo>
                </a:path>
                <a:path w="12600" h="420" fill="none">
                  <a:moveTo>
                    <a:pt x="10720" y="326"/>
                  </a:moveTo>
                  <a:lnTo>
                    <a:pt x="10720" y="220"/>
                  </a:lnTo>
                </a:path>
                <a:path w="12600" h="420" fill="none">
                  <a:moveTo>
                    <a:pt x="10750" y="326"/>
                  </a:moveTo>
                  <a:lnTo>
                    <a:pt x="10750" y="220"/>
                  </a:lnTo>
                </a:path>
                <a:path w="12600" h="420" fill="none">
                  <a:moveTo>
                    <a:pt x="10821" y="94"/>
                  </a:moveTo>
                  <a:lnTo>
                    <a:pt x="10821" y="200"/>
                  </a:lnTo>
                </a:path>
                <a:path w="12600" h="420" fill="none">
                  <a:moveTo>
                    <a:pt x="10851" y="94"/>
                  </a:moveTo>
                  <a:lnTo>
                    <a:pt x="10851" y="200"/>
                  </a:lnTo>
                </a:path>
                <a:path w="12600" h="420" fill="none">
                  <a:moveTo>
                    <a:pt x="10821" y="326"/>
                  </a:moveTo>
                  <a:lnTo>
                    <a:pt x="10821" y="220"/>
                  </a:lnTo>
                </a:path>
                <a:path w="12600" h="420" fill="none">
                  <a:moveTo>
                    <a:pt x="10851" y="326"/>
                  </a:moveTo>
                  <a:lnTo>
                    <a:pt x="10851" y="220"/>
                  </a:lnTo>
                </a:path>
                <a:path w="12600" h="420" fill="none">
                  <a:moveTo>
                    <a:pt x="10921" y="94"/>
                  </a:moveTo>
                  <a:lnTo>
                    <a:pt x="10921" y="200"/>
                  </a:lnTo>
                </a:path>
                <a:path w="12600" h="420" fill="none">
                  <a:moveTo>
                    <a:pt x="10951" y="94"/>
                  </a:moveTo>
                  <a:lnTo>
                    <a:pt x="10951" y="200"/>
                  </a:lnTo>
                </a:path>
                <a:path w="12600" h="420" fill="none">
                  <a:moveTo>
                    <a:pt x="10921" y="326"/>
                  </a:moveTo>
                  <a:lnTo>
                    <a:pt x="10921" y="220"/>
                  </a:lnTo>
                </a:path>
                <a:path w="12600" h="420" fill="none">
                  <a:moveTo>
                    <a:pt x="10951" y="326"/>
                  </a:moveTo>
                  <a:lnTo>
                    <a:pt x="10951" y="220"/>
                  </a:lnTo>
                </a:path>
                <a:path w="12600" h="420" fill="none">
                  <a:moveTo>
                    <a:pt x="11022" y="94"/>
                  </a:moveTo>
                  <a:lnTo>
                    <a:pt x="11022" y="200"/>
                  </a:lnTo>
                </a:path>
                <a:path w="12600" h="420" fill="none">
                  <a:moveTo>
                    <a:pt x="11052" y="94"/>
                  </a:moveTo>
                  <a:lnTo>
                    <a:pt x="11052" y="200"/>
                  </a:lnTo>
                </a:path>
                <a:path w="12600" h="420" fill="none">
                  <a:moveTo>
                    <a:pt x="11022" y="326"/>
                  </a:moveTo>
                  <a:lnTo>
                    <a:pt x="11022" y="220"/>
                  </a:lnTo>
                </a:path>
                <a:path w="12600" h="420" fill="none">
                  <a:moveTo>
                    <a:pt x="11052" y="326"/>
                  </a:moveTo>
                  <a:lnTo>
                    <a:pt x="11052" y="220"/>
                  </a:lnTo>
                </a:path>
                <a:path w="12600" h="420" fill="none">
                  <a:moveTo>
                    <a:pt x="11123" y="94"/>
                  </a:moveTo>
                  <a:lnTo>
                    <a:pt x="11123" y="200"/>
                  </a:lnTo>
                </a:path>
                <a:path w="12600" h="420" fill="none">
                  <a:moveTo>
                    <a:pt x="11153" y="94"/>
                  </a:moveTo>
                  <a:lnTo>
                    <a:pt x="11153" y="200"/>
                  </a:lnTo>
                </a:path>
                <a:path w="12600" h="420" fill="none">
                  <a:moveTo>
                    <a:pt x="11123" y="326"/>
                  </a:moveTo>
                  <a:lnTo>
                    <a:pt x="11123" y="220"/>
                  </a:lnTo>
                </a:path>
                <a:path w="12600" h="420" fill="none">
                  <a:moveTo>
                    <a:pt x="11153" y="326"/>
                  </a:moveTo>
                  <a:lnTo>
                    <a:pt x="11153" y="220"/>
                  </a:lnTo>
                </a:path>
                <a:path w="12600" h="420" fill="none">
                  <a:moveTo>
                    <a:pt x="11224" y="94"/>
                  </a:moveTo>
                  <a:lnTo>
                    <a:pt x="11224" y="200"/>
                  </a:lnTo>
                </a:path>
                <a:path w="12600" h="420" fill="none">
                  <a:moveTo>
                    <a:pt x="11254" y="94"/>
                  </a:moveTo>
                  <a:lnTo>
                    <a:pt x="11254" y="200"/>
                  </a:lnTo>
                </a:path>
                <a:path w="12600" h="420" fill="none">
                  <a:moveTo>
                    <a:pt x="11224" y="326"/>
                  </a:moveTo>
                  <a:lnTo>
                    <a:pt x="11224" y="220"/>
                  </a:lnTo>
                </a:path>
                <a:path w="12600" h="420" fill="none">
                  <a:moveTo>
                    <a:pt x="11254" y="326"/>
                  </a:moveTo>
                  <a:lnTo>
                    <a:pt x="11254" y="220"/>
                  </a:lnTo>
                </a:path>
                <a:path w="12600" h="420" fill="none">
                  <a:moveTo>
                    <a:pt x="11325" y="94"/>
                  </a:moveTo>
                  <a:lnTo>
                    <a:pt x="11325" y="200"/>
                  </a:lnTo>
                </a:path>
                <a:path w="12600" h="420" fill="none">
                  <a:moveTo>
                    <a:pt x="11355" y="94"/>
                  </a:moveTo>
                  <a:lnTo>
                    <a:pt x="11355" y="200"/>
                  </a:lnTo>
                </a:path>
                <a:path w="12600" h="420" fill="none">
                  <a:moveTo>
                    <a:pt x="11325" y="326"/>
                  </a:moveTo>
                  <a:lnTo>
                    <a:pt x="11325" y="220"/>
                  </a:lnTo>
                </a:path>
                <a:path w="12600" h="420" fill="none">
                  <a:moveTo>
                    <a:pt x="11355" y="326"/>
                  </a:moveTo>
                  <a:lnTo>
                    <a:pt x="11355" y="220"/>
                  </a:lnTo>
                </a:path>
                <a:path w="12600" h="420" fill="none">
                  <a:moveTo>
                    <a:pt x="11425" y="94"/>
                  </a:moveTo>
                  <a:lnTo>
                    <a:pt x="11425" y="200"/>
                  </a:lnTo>
                </a:path>
                <a:path w="12600" h="420" fill="none">
                  <a:moveTo>
                    <a:pt x="11455" y="94"/>
                  </a:moveTo>
                  <a:lnTo>
                    <a:pt x="11455" y="200"/>
                  </a:lnTo>
                </a:path>
                <a:path w="12600" h="420" fill="none">
                  <a:moveTo>
                    <a:pt x="11425" y="326"/>
                  </a:moveTo>
                  <a:lnTo>
                    <a:pt x="11425" y="220"/>
                  </a:lnTo>
                </a:path>
                <a:path w="12600" h="420" fill="none">
                  <a:moveTo>
                    <a:pt x="11455" y="326"/>
                  </a:moveTo>
                  <a:lnTo>
                    <a:pt x="11455" y="220"/>
                  </a:lnTo>
                </a:path>
                <a:path w="12600" h="420" fill="none">
                  <a:moveTo>
                    <a:pt x="11526" y="94"/>
                  </a:moveTo>
                  <a:lnTo>
                    <a:pt x="11526" y="200"/>
                  </a:lnTo>
                </a:path>
                <a:path w="12600" h="420" fill="none">
                  <a:moveTo>
                    <a:pt x="11556" y="94"/>
                  </a:moveTo>
                  <a:lnTo>
                    <a:pt x="11556" y="200"/>
                  </a:lnTo>
                </a:path>
                <a:path w="12600" h="420" fill="none">
                  <a:moveTo>
                    <a:pt x="11526" y="326"/>
                  </a:moveTo>
                  <a:lnTo>
                    <a:pt x="11526" y="220"/>
                  </a:lnTo>
                </a:path>
                <a:path w="12600" h="420" fill="none">
                  <a:moveTo>
                    <a:pt x="11556" y="326"/>
                  </a:moveTo>
                  <a:lnTo>
                    <a:pt x="11556" y="220"/>
                  </a:lnTo>
                </a:path>
                <a:path w="12600" h="420" fill="none">
                  <a:moveTo>
                    <a:pt x="11627" y="94"/>
                  </a:moveTo>
                  <a:lnTo>
                    <a:pt x="11627" y="200"/>
                  </a:lnTo>
                </a:path>
                <a:path w="12600" h="420" fill="none">
                  <a:moveTo>
                    <a:pt x="11657" y="94"/>
                  </a:moveTo>
                  <a:lnTo>
                    <a:pt x="11657" y="200"/>
                  </a:lnTo>
                </a:path>
                <a:path w="12600" h="420" fill="none">
                  <a:moveTo>
                    <a:pt x="11627" y="326"/>
                  </a:moveTo>
                  <a:lnTo>
                    <a:pt x="11627" y="220"/>
                  </a:lnTo>
                </a:path>
                <a:path w="12600" h="420" fill="none">
                  <a:moveTo>
                    <a:pt x="11657" y="326"/>
                  </a:moveTo>
                  <a:lnTo>
                    <a:pt x="11657" y="220"/>
                  </a:lnTo>
                </a:path>
                <a:path w="12600" h="420" fill="none">
                  <a:moveTo>
                    <a:pt x="11728" y="94"/>
                  </a:moveTo>
                  <a:lnTo>
                    <a:pt x="11728" y="200"/>
                  </a:lnTo>
                </a:path>
                <a:path w="12600" h="420" fill="none">
                  <a:moveTo>
                    <a:pt x="11758" y="94"/>
                  </a:moveTo>
                  <a:lnTo>
                    <a:pt x="11758" y="200"/>
                  </a:lnTo>
                </a:path>
                <a:path w="12600" h="420" fill="none">
                  <a:moveTo>
                    <a:pt x="11728" y="326"/>
                  </a:moveTo>
                  <a:lnTo>
                    <a:pt x="11728" y="220"/>
                  </a:lnTo>
                </a:path>
                <a:path w="12600" h="420" fill="none">
                  <a:moveTo>
                    <a:pt x="11758" y="326"/>
                  </a:moveTo>
                  <a:lnTo>
                    <a:pt x="11758" y="220"/>
                  </a:lnTo>
                </a:path>
                <a:path w="12600" h="420" fill="none">
                  <a:moveTo>
                    <a:pt x="11829" y="94"/>
                  </a:moveTo>
                  <a:lnTo>
                    <a:pt x="11829" y="200"/>
                  </a:lnTo>
                </a:path>
                <a:path w="12600" h="420" fill="none">
                  <a:moveTo>
                    <a:pt x="11859" y="94"/>
                  </a:moveTo>
                  <a:lnTo>
                    <a:pt x="11859" y="200"/>
                  </a:lnTo>
                </a:path>
                <a:path w="12600" h="420" fill="none">
                  <a:moveTo>
                    <a:pt x="11829" y="326"/>
                  </a:moveTo>
                  <a:lnTo>
                    <a:pt x="11829" y="220"/>
                  </a:lnTo>
                </a:path>
                <a:path w="12600" h="420" fill="none">
                  <a:moveTo>
                    <a:pt x="11859" y="326"/>
                  </a:moveTo>
                  <a:lnTo>
                    <a:pt x="11859" y="220"/>
                  </a:lnTo>
                </a:path>
                <a:path w="12600" h="420" fill="none">
                  <a:moveTo>
                    <a:pt x="11929" y="94"/>
                  </a:moveTo>
                  <a:lnTo>
                    <a:pt x="11929" y="200"/>
                  </a:lnTo>
                </a:path>
                <a:path w="12600" h="420" fill="none">
                  <a:moveTo>
                    <a:pt x="11959" y="94"/>
                  </a:moveTo>
                  <a:lnTo>
                    <a:pt x="11959" y="200"/>
                  </a:lnTo>
                </a:path>
                <a:path w="12600" h="420" fill="none">
                  <a:moveTo>
                    <a:pt x="11929" y="326"/>
                  </a:moveTo>
                  <a:lnTo>
                    <a:pt x="11929" y="220"/>
                  </a:lnTo>
                </a:path>
                <a:path w="12600" h="420" fill="none">
                  <a:moveTo>
                    <a:pt x="11959" y="326"/>
                  </a:moveTo>
                  <a:lnTo>
                    <a:pt x="11959" y="220"/>
                  </a:lnTo>
                </a:path>
                <a:path w="12600" h="420" fill="none">
                  <a:moveTo>
                    <a:pt x="12030" y="94"/>
                  </a:moveTo>
                  <a:lnTo>
                    <a:pt x="12030" y="200"/>
                  </a:lnTo>
                </a:path>
                <a:path w="12600" h="420" fill="none">
                  <a:moveTo>
                    <a:pt x="12060" y="94"/>
                  </a:moveTo>
                  <a:lnTo>
                    <a:pt x="12060" y="200"/>
                  </a:lnTo>
                </a:path>
                <a:path w="12600" h="420" fill="none">
                  <a:moveTo>
                    <a:pt x="12030" y="326"/>
                  </a:moveTo>
                  <a:lnTo>
                    <a:pt x="12030" y="220"/>
                  </a:lnTo>
                </a:path>
                <a:path w="12600" h="420" fill="none">
                  <a:moveTo>
                    <a:pt x="12060" y="326"/>
                  </a:moveTo>
                  <a:lnTo>
                    <a:pt x="12060" y="220"/>
                  </a:lnTo>
                </a:path>
                <a:path w="12600" h="420" fill="none">
                  <a:moveTo>
                    <a:pt x="12131" y="94"/>
                  </a:moveTo>
                  <a:lnTo>
                    <a:pt x="12131" y="200"/>
                  </a:lnTo>
                </a:path>
                <a:path w="12600" h="420" fill="none">
                  <a:moveTo>
                    <a:pt x="12161" y="94"/>
                  </a:moveTo>
                  <a:lnTo>
                    <a:pt x="12161" y="200"/>
                  </a:lnTo>
                </a:path>
                <a:path w="12600" h="420" fill="none">
                  <a:moveTo>
                    <a:pt x="12131" y="326"/>
                  </a:moveTo>
                  <a:lnTo>
                    <a:pt x="12131" y="220"/>
                  </a:lnTo>
                </a:path>
                <a:path w="12600" h="420" fill="none">
                  <a:moveTo>
                    <a:pt x="12161" y="326"/>
                  </a:moveTo>
                  <a:lnTo>
                    <a:pt x="12161" y="220"/>
                  </a:lnTo>
                </a:path>
                <a:path w="12600" h="420" fill="none">
                  <a:moveTo>
                    <a:pt x="12232" y="94"/>
                  </a:moveTo>
                  <a:lnTo>
                    <a:pt x="12232" y="200"/>
                  </a:lnTo>
                </a:path>
                <a:path w="12600" h="420" fill="none">
                  <a:moveTo>
                    <a:pt x="12262" y="94"/>
                  </a:moveTo>
                  <a:lnTo>
                    <a:pt x="12262" y="200"/>
                  </a:lnTo>
                </a:path>
                <a:path w="12600" h="420" fill="none">
                  <a:moveTo>
                    <a:pt x="12232" y="326"/>
                  </a:moveTo>
                  <a:lnTo>
                    <a:pt x="12232" y="220"/>
                  </a:lnTo>
                </a:path>
                <a:path w="12600" h="420" fill="none">
                  <a:moveTo>
                    <a:pt x="12262" y="326"/>
                  </a:moveTo>
                  <a:lnTo>
                    <a:pt x="12262" y="220"/>
                  </a:lnTo>
                </a:path>
                <a:path w="12600" h="420" fill="none">
                  <a:moveTo>
                    <a:pt x="12333" y="94"/>
                  </a:moveTo>
                  <a:lnTo>
                    <a:pt x="12333" y="200"/>
                  </a:lnTo>
                </a:path>
                <a:path w="12600" h="420" fill="none">
                  <a:moveTo>
                    <a:pt x="12363" y="94"/>
                  </a:moveTo>
                  <a:lnTo>
                    <a:pt x="12363" y="200"/>
                  </a:lnTo>
                </a:path>
                <a:path w="12600" h="420" fill="none">
                  <a:moveTo>
                    <a:pt x="12333" y="326"/>
                  </a:moveTo>
                  <a:lnTo>
                    <a:pt x="12333" y="220"/>
                  </a:lnTo>
                </a:path>
                <a:path w="12600" h="420" fill="none">
                  <a:moveTo>
                    <a:pt x="12363" y="326"/>
                  </a:moveTo>
                  <a:lnTo>
                    <a:pt x="12363" y="220"/>
                  </a:lnTo>
                </a:path>
                <a:path w="12600" h="420" fill="none">
                  <a:moveTo>
                    <a:pt x="12433" y="94"/>
                  </a:moveTo>
                  <a:lnTo>
                    <a:pt x="12433" y="200"/>
                  </a:lnTo>
                </a:path>
                <a:path w="12600" h="420" fill="none">
                  <a:moveTo>
                    <a:pt x="12463" y="94"/>
                  </a:moveTo>
                  <a:lnTo>
                    <a:pt x="12463" y="200"/>
                  </a:lnTo>
                </a:path>
                <a:path w="12600" h="420" fill="none">
                  <a:moveTo>
                    <a:pt x="12433" y="326"/>
                  </a:moveTo>
                  <a:lnTo>
                    <a:pt x="12433" y="220"/>
                  </a:lnTo>
                </a:path>
                <a:path w="12600" h="420" fill="none">
                  <a:moveTo>
                    <a:pt x="12463" y="326"/>
                  </a:moveTo>
                  <a:lnTo>
                    <a:pt x="12463" y="220"/>
                  </a:lnTo>
                </a:path>
                <a:path w="12600" h="420" fill="none">
                  <a:moveTo>
                    <a:pt x="12534" y="94"/>
                  </a:moveTo>
                  <a:lnTo>
                    <a:pt x="12534" y="200"/>
                  </a:lnTo>
                </a:path>
                <a:path w="12600" h="420" fill="none">
                  <a:moveTo>
                    <a:pt x="12564" y="94"/>
                  </a:moveTo>
                  <a:lnTo>
                    <a:pt x="12564" y="200"/>
                  </a:lnTo>
                </a:path>
                <a:path w="12600" h="420" fill="none">
                  <a:moveTo>
                    <a:pt x="12534" y="326"/>
                  </a:moveTo>
                  <a:lnTo>
                    <a:pt x="12534" y="220"/>
                  </a:lnTo>
                </a:path>
                <a:path w="12600" h="420" fill="none">
                  <a:moveTo>
                    <a:pt x="12564" y="326"/>
                  </a:moveTo>
                  <a:lnTo>
                    <a:pt x="12564" y="220"/>
                  </a:lnTo>
                </a:path>
              </a:pathLst>
            </a:custGeom>
            <a:noFill/>
            <a:ln w="9525" cap="rnd">
              <a:solidFill>
                <a:srgbClr val="A49887"/>
              </a:solidFill>
              <a:round/>
            </a:ln>
          </p:spPr>
        </p:sp>
      </p:grpSp>
      <p:sp>
        <p:nvSpPr>
          <p:cNvPr id="15" name="Matriz"/>
          <p:cNvSpPr/>
          <p:nvPr/>
        </p:nvSpPr>
        <p:spPr>
          <a:xfrm>
            <a:off x="274320" y="3931920"/>
            <a:ext cx="11521440" cy="1280160"/>
          </a:xfrm>
          <a:prstGeom prst="rect">
            <a:avLst/>
          </a:prstGeom>
          <a:solidFill>
            <a:srgbClr val="F8C471">
              <a:alpha val="55000"/>
            </a:srgbClr>
          </a:solidFill>
          <a:ln>
            <a:noFill/>
          </a:ln>
        </p:spPr>
      </p:sp>
      <p:sp>
        <p:nvSpPr>
          <p:cNvPr id="16" name="Forma 15"/>
          <p:cNvSpPr txBox="1"/>
          <p:nvPr/>
        </p:nvSpPr>
        <p:spPr>
          <a:xfrm>
            <a:off x="365760" y="4892040"/>
            <a:ext cx="274320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MATRIZ</a:t>
            </a:r>
            <a:endParaRPr lang="es-AR" sz="1250" dirty="0">
              <a:latin typeface="Bahnschrift SemiBold Condensed"/>
            </a:endParaRPr>
          </a:p>
        </p:txBody>
      </p:sp>
      <p:grpSp>
        <p:nvGrpSpPr>
          <p:cNvPr id="17" name="AG"/>
          <p:cNvGrpSpPr/>
          <p:nvPr/>
        </p:nvGrpSpPr>
        <p:grpSpPr>
          <a:xfrm>
            <a:off x="530352" y="1335024"/>
            <a:ext cx="1207008" cy="237744"/>
            <a:chOff x="530352" y="1335024"/>
            <a:chExt cx="1207008" cy="237744"/>
          </a:xfrm>
        </p:grpSpPr>
        <p:sp>
          <p:nvSpPr>
            <p:cNvPr id="18" name="Flecha 17_2"/>
            <p:cNvSpPr/>
            <p:nvPr/>
          </p:nvSpPr>
          <p:spPr>
            <a:xfrm>
              <a:off x="694944" y="1389888"/>
              <a:ext cx="1042416" cy="182880"/>
            </a:xfrm>
            <a:custGeom>
              <a:avLst/>
              <a:gdLst/>
              <a:ahLst/>
              <a:cxnLst/>
              <a:rect l="0" t="0" r="r" b="b"/>
              <a:pathLst>
                <a:path w="1140" h="199" fill="none">
                  <a:moveTo>
                    <a:pt x="0" y="0"/>
                  </a:moveTo>
                  <a:lnTo>
                    <a:pt x="142" y="199"/>
                  </a:lnTo>
                  <a:lnTo>
                    <a:pt x="284" y="0"/>
                  </a:lnTo>
                  <a:lnTo>
                    <a:pt x="427" y="199"/>
                  </a:lnTo>
                  <a:lnTo>
                    <a:pt x="570" y="0"/>
                  </a:lnTo>
                  <a:lnTo>
                    <a:pt x="712" y="199"/>
                  </a:lnTo>
                  <a:lnTo>
                    <a:pt x="855" y="0"/>
                  </a:lnTo>
                  <a:lnTo>
                    <a:pt x="997" y="199"/>
                  </a:lnTo>
                  <a:lnTo>
                    <a:pt x="1140" y="0"/>
                  </a:lnTo>
                </a:path>
              </a:pathLst>
            </a:custGeom>
            <a:noFill/>
            <a:ln w="28575" cap="rnd">
              <a:solidFill>
                <a:srgbClr val="B7950B"/>
              </a:solidFill>
              <a:round/>
            </a:ln>
          </p:spPr>
        </p:sp>
        <p:sp>
          <p:nvSpPr>
            <p:cNvPr id="19" name="Forma 19"/>
            <p:cNvSpPr/>
            <p:nvPr/>
          </p:nvSpPr>
          <p:spPr>
            <a:xfrm>
              <a:off x="530352" y="13350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20" name="ACS"/>
          <p:cNvSpPr/>
          <p:nvPr/>
        </p:nvSpPr>
        <p:spPr>
          <a:xfrm>
            <a:off x="1920240" y="1234440"/>
            <a:ext cx="149138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Acil-CoA sintetasa</a:t>
            </a:r>
            <a:endParaRPr lang="es-AR" sz="1250" dirty="0">
              <a:latin typeface="Bahnschrift SemiBold Condensed"/>
            </a:endParaRPr>
          </a:p>
        </p:txBody>
      </p:sp>
      <p:sp>
        <p:nvSpPr>
          <p:cNvPr id="21" name="Costo activación"/>
          <p:cNvSpPr/>
          <p:nvPr/>
        </p:nvSpPr>
        <p:spPr>
          <a:xfrm>
            <a:off x="2011680" y="1645920"/>
            <a:ext cx="1691640" cy="347472"/>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ATP → AMP + PP</a:t>
            </a:r>
            <a:r>
              <a:rPr lang="es-AR" sz="850" b="1" baseline="-25000" dirty="0">
                <a:solidFill>
                  <a:srgbClr val="1E1E1E"/>
                </a:solidFill>
                <a:latin typeface="Bahnschrift SemiBold Condensed"/>
                <a:ea typeface="Bahnschrift SemiBold Condensed"/>
                <a:cs typeface="Bahnschrift SemiBold Condensed"/>
                <a:sym typeface="Bahnschrift SemiBold Condensed"/>
              </a:rPr>
              <a:t>i</a:t>
            </a:r>
            <a:endParaRPr lang="es-AR" sz="850" dirty="0">
              <a:latin typeface="Bahnschrift SemiBold Condensed"/>
            </a:endParaRPr>
          </a:p>
        </p:txBody>
      </p:sp>
      <p:sp>
        <p:nvSpPr>
          <p:cNvPr id="22" name="Acil-CoA citosol"/>
          <p:cNvSpPr/>
          <p:nvPr/>
        </p:nvSpPr>
        <p:spPr>
          <a:xfrm>
            <a:off x="4069080" y="1417320"/>
            <a:ext cx="795445"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Acil-CoA</a:t>
            </a:r>
            <a:endParaRPr lang="es-AR" sz="1300" dirty="0">
              <a:latin typeface="Bahnschrift SemiBold Condensed"/>
            </a:endParaRPr>
          </a:p>
        </p:txBody>
      </p:sp>
      <p:sp>
        <p:nvSpPr>
          <p:cNvPr id="23" name="CPT1"/>
          <p:cNvSpPr/>
          <p:nvPr/>
        </p:nvSpPr>
        <p:spPr>
          <a:xfrm>
            <a:off x="5486400" y="2240280"/>
            <a:ext cx="1188720" cy="566928"/>
          </a:xfrm>
          <a:prstGeom prst="roundRect">
            <a:avLst/>
          </a:prstGeom>
          <a:gradFill rotWithShape="1">
            <a:gsLst>
              <a:gs pos="0">
                <a:srgbClr val="F9CF8D"/>
              </a:gs>
              <a:gs pos="55000">
                <a:srgbClr val="F5B041"/>
              </a:gs>
              <a:gs pos="100000">
                <a:srgbClr val="AB7B2D"/>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CPT1</a:t>
            </a:r>
            <a:endParaRPr lang="es-AR" sz="1500" dirty="0">
              <a:latin typeface="Bahnschrift SemiBold Condensed"/>
            </a:endParaRPr>
          </a:p>
        </p:txBody>
      </p:sp>
      <p:sp>
        <p:nvSpPr>
          <p:cNvPr id="24" name="Acilcarnitina"/>
          <p:cNvSpPr/>
          <p:nvPr/>
        </p:nvSpPr>
        <p:spPr>
          <a:xfrm>
            <a:off x="5486400" y="2926080"/>
            <a:ext cx="1075442" cy="255905"/>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Acilcarnitina</a:t>
            </a:r>
            <a:endParaRPr lang="es-AR" sz="1300" dirty="0">
              <a:latin typeface="Bahnschrift SemiBold Condensed"/>
            </a:endParaRPr>
          </a:p>
        </p:txBody>
      </p:sp>
      <p:sp>
        <p:nvSpPr>
          <p:cNvPr id="25" name="CACT"/>
          <p:cNvSpPr/>
          <p:nvPr/>
        </p:nvSpPr>
        <p:spPr>
          <a:xfrm>
            <a:off x="7223760" y="3429000"/>
            <a:ext cx="1188720" cy="566928"/>
          </a:xfrm>
          <a:prstGeom prst="roundRect">
            <a:avLst/>
          </a:prstGeom>
          <a:gradFill rotWithShape="1">
            <a:gsLst>
              <a:gs pos="0">
                <a:srgbClr val="B5D9F1"/>
              </a:gs>
              <a:gs pos="55000">
                <a:srgbClr val="85C1E9"/>
              </a:gs>
              <a:gs pos="100000">
                <a:srgbClr val="5D87A3"/>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CACT</a:t>
            </a:r>
            <a:endParaRPr lang="es-AR" sz="1500" dirty="0">
              <a:latin typeface="Bahnschrift SemiBold Condensed"/>
            </a:endParaRPr>
          </a:p>
        </p:txBody>
      </p:sp>
      <p:sp>
        <p:nvSpPr>
          <p:cNvPr id="26" name="CPT2"/>
          <p:cNvSpPr/>
          <p:nvPr/>
        </p:nvSpPr>
        <p:spPr>
          <a:xfrm>
            <a:off x="8778240" y="4069080"/>
            <a:ext cx="1188720" cy="566928"/>
          </a:xfrm>
          <a:prstGeom prst="roundRect">
            <a:avLst/>
          </a:prstGeom>
          <a:gradFill rotWithShape="1">
            <a:gsLst>
              <a:gs pos="0">
                <a:srgbClr val="F6D0AF"/>
              </a:gs>
              <a:gs pos="55000">
                <a:srgbClr val="F0B27A"/>
              </a:gs>
              <a:gs pos="100000">
                <a:srgbClr val="A87C55"/>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CPT2</a:t>
            </a:r>
            <a:endParaRPr lang="es-AR" sz="1500" dirty="0">
              <a:latin typeface="Bahnschrift SemiBold Condensed"/>
            </a:endParaRPr>
          </a:p>
        </p:txBody>
      </p:sp>
      <p:sp>
        <p:nvSpPr>
          <p:cNvPr id="27" name="Acil-CoA matriz"/>
          <p:cNvSpPr/>
          <p:nvPr/>
        </p:nvSpPr>
        <p:spPr>
          <a:xfrm>
            <a:off x="10149840" y="4160520"/>
            <a:ext cx="1233372"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Acil-CoA → β-ox</a:t>
            </a:r>
            <a:endParaRPr lang="es-AR" sz="1300" dirty="0">
              <a:latin typeface="Bahnschrift SemiBold Condensed"/>
            </a:endParaRPr>
          </a:p>
        </p:txBody>
      </p:sp>
      <p:sp>
        <p:nvSpPr>
          <p:cNvPr id="28" name="Carnitina retorno"/>
          <p:cNvSpPr/>
          <p:nvPr/>
        </p:nvSpPr>
        <p:spPr>
          <a:xfrm>
            <a:off x="8686800" y="2880360"/>
            <a:ext cx="890186" cy="236220"/>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Carnitina ↺</a:t>
            </a:r>
            <a:endParaRPr lang="es-AR" sz="1200" dirty="0">
              <a:latin typeface="Bahnschrift SemiBold Condensed"/>
            </a:endParaRPr>
          </a:p>
        </p:txBody>
      </p:sp>
      <p:sp>
        <p:nvSpPr>
          <p:cNvPr id="29" name="Flecha 29_2"/>
          <p:cNvSpPr/>
          <p:nvPr/>
        </p:nvSpPr>
        <p:spPr>
          <a:xfrm>
            <a:off x="1783080" y="1481328"/>
            <a:ext cx="2240280" cy="118872"/>
          </a:xfrm>
          <a:custGeom>
            <a:avLst/>
            <a:gdLst/>
            <a:ahLst/>
            <a:cxnLst/>
            <a:rect l="0" t="0" r="r" b="b"/>
            <a:pathLst>
              <a:path w="2450" h="129" fill="none">
                <a:moveTo>
                  <a:pt x="0" y="0"/>
                </a:moveTo>
                <a:lnTo>
                  <a:pt x="2450" y="129"/>
                </a:lnTo>
              </a:path>
            </a:pathLst>
          </a:custGeom>
          <a:noFill/>
          <a:ln w="31750" cap="rnd">
            <a:solidFill>
              <a:srgbClr val="1E8C3A"/>
            </a:solidFill>
            <a:round/>
            <a:tailEnd type="triangle" w="med" len="med"/>
          </a:ln>
        </p:spPr>
      </p:sp>
      <p:sp>
        <p:nvSpPr>
          <p:cNvPr id="30" name="Flecha 31_2"/>
          <p:cNvSpPr/>
          <p:nvPr/>
        </p:nvSpPr>
        <p:spPr>
          <a:xfrm>
            <a:off x="4937760" y="1691640"/>
            <a:ext cx="822960" cy="530352"/>
          </a:xfrm>
          <a:custGeom>
            <a:avLst/>
            <a:gdLst/>
            <a:ahLst/>
            <a:cxnLst/>
            <a:rect l="0" t="0" r="r" b="b"/>
            <a:pathLst>
              <a:path w="899" h="580" fill="none">
                <a:moveTo>
                  <a:pt x="0" y="0"/>
                </a:moveTo>
                <a:lnTo>
                  <a:pt x="899" y="580"/>
                </a:lnTo>
              </a:path>
            </a:pathLst>
          </a:custGeom>
          <a:noFill/>
          <a:ln w="31750" cap="rnd">
            <a:solidFill>
              <a:srgbClr val="1E8C3A"/>
            </a:solidFill>
            <a:round/>
            <a:tailEnd type="triangle" w="med" len="med"/>
          </a:ln>
        </p:spPr>
      </p:sp>
      <p:sp>
        <p:nvSpPr>
          <p:cNvPr id="31" name="Flecha 33_2"/>
          <p:cNvSpPr/>
          <p:nvPr/>
        </p:nvSpPr>
        <p:spPr>
          <a:xfrm>
            <a:off x="6126480" y="2816352"/>
            <a:ext cx="45720" cy="91440"/>
          </a:xfrm>
          <a:custGeom>
            <a:avLst/>
            <a:gdLst/>
            <a:ahLst/>
            <a:cxnLst/>
            <a:rect l="0" t="0" r="r" b="b"/>
            <a:pathLst>
              <a:path w="49" h="100" fill="none">
                <a:moveTo>
                  <a:pt x="0" y="0"/>
                </a:moveTo>
                <a:lnTo>
                  <a:pt x="49" y="100"/>
                </a:lnTo>
              </a:path>
            </a:pathLst>
          </a:custGeom>
          <a:noFill/>
          <a:ln w="31750" cap="rnd">
            <a:solidFill>
              <a:srgbClr val="1E8C3A"/>
            </a:solidFill>
            <a:round/>
            <a:tailEnd type="triangle" w="med" len="med"/>
          </a:ln>
        </p:spPr>
      </p:sp>
      <p:sp>
        <p:nvSpPr>
          <p:cNvPr id="32" name="Flecha 35_2"/>
          <p:cNvSpPr/>
          <p:nvPr/>
        </p:nvSpPr>
        <p:spPr>
          <a:xfrm>
            <a:off x="6903720" y="3154680"/>
            <a:ext cx="365760" cy="301752"/>
          </a:xfrm>
          <a:custGeom>
            <a:avLst/>
            <a:gdLst/>
            <a:ahLst/>
            <a:cxnLst/>
            <a:rect l="0" t="0" r="r" b="b"/>
            <a:pathLst>
              <a:path w="400" h="329" fill="none">
                <a:moveTo>
                  <a:pt x="0" y="0"/>
                </a:moveTo>
                <a:lnTo>
                  <a:pt x="400" y="329"/>
                </a:lnTo>
              </a:path>
            </a:pathLst>
          </a:custGeom>
          <a:noFill/>
          <a:ln w="31750" cap="rnd">
            <a:solidFill>
              <a:srgbClr val="2563B0"/>
            </a:solidFill>
            <a:round/>
            <a:tailEnd type="triangle" w="med" len="med"/>
          </a:ln>
        </p:spPr>
      </p:sp>
      <p:sp>
        <p:nvSpPr>
          <p:cNvPr id="33" name="Flecha 37_2"/>
          <p:cNvSpPr/>
          <p:nvPr/>
        </p:nvSpPr>
        <p:spPr>
          <a:xfrm>
            <a:off x="8412480" y="3767328"/>
            <a:ext cx="411480" cy="347472"/>
          </a:xfrm>
          <a:custGeom>
            <a:avLst/>
            <a:gdLst/>
            <a:ahLst/>
            <a:cxnLst/>
            <a:rect l="0" t="0" r="r" b="b"/>
            <a:pathLst>
              <a:path w="450" h="379" fill="none">
                <a:moveTo>
                  <a:pt x="0" y="0"/>
                </a:moveTo>
                <a:lnTo>
                  <a:pt x="450" y="379"/>
                </a:lnTo>
              </a:path>
            </a:pathLst>
          </a:custGeom>
          <a:noFill/>
          <a:ln w="31750" cap="rnd">
            <a:solidFill>
              <a:srgbClr val="2563B0"/>
            </a:solidFill>
            <a:round/>
            <a:tailEnd type="triangle" w="med" len="med"/>
          </a:ln>
        </p:spPr>
      </p:sp>
      <p:sp>
        <p:nvSpPr>
          <p:cNvPr id="34" name="Flecha 39_2"/>
          <p:cNvSpPr/>
          <p:nvPr/>
        </p:nvSpPr>
        <p:spPr>
          <a:xfrm>
            <a:off x="9985248" y="4343400"/>
            <a:ext cx="146304" cy="9144"/>
          </a:xfrm>
          <a:custGeom>
            <a:avLst/>
            <a:gdLst/>
            <a:ahLst/>
            <a:cxnLst/>
            <a:rect l="0" t="0" r="r" b="b"/>
            <a:pathLst>
              <a:path w="160" h="10" fill="none">
                <a:moveTo>
                  <a:pt x="0" y="0"/>
                </a:moveTo>
                <a:lnTo>
                  <a:pt x="160" y="0"/>
                </a:lnTo>
              </a:path>
            </a:pathLst>
          </a:custGeom>
          <a:noFill/>
          <a:ln w="31750" cap="rnd">
            <a:solidFill>
              <a:srgbClr val="1E8C3A"/>
            </a:solidFill>
            <a:round/>
            <a:tailEnd type="triangle" w="med" len="med"/>
          </a:ln>
        </p:spPr>
      </p:sp>
      <p:sp>
        <p:nvSpPr>
          <p:cNvPr id="35" name="Malonil inhibidor"/>
          <p:cNvSpPr/>
          <p:nvPr/>
        </p:nvSpPr>
        <p:spPr>
          <a:xfrm>
            <a:off x="4206240" y="1828800"/>
            <a:ext cx="365760" cy="365760"/>
          </a:xfrm>
          <a:prstGeom prst="ellipse">
            <a:avLst/>
          </a:prstGeom>
          <a:gradFill rotWithShape="1">
            <a:gsLst>
              <a:gs pos="0">
                <a:srgbClr val="AA80BC"/>
              </a:gs>
              <a:gs pos="55000">
                <a:srgbClr val="7D3C98"/>
              </a:gs>
              <a:gs pos="100000">
                <a:srgbClr val="643079"/>
              </a:gs>
            </a:gsLst>
            <a:path path="circle">
              <a:fillToRect l="32000" t="28000" r="68000" b="72000"/>
            </a:path>
          </a:gradFill>
          <a:ln w="12700" cap="rnd">
            <a:solidFill>
              <a:srgbClr val="442153"/>
            </a:solidFill>
            <a:round/>
          </a:ln>
        </p:spPr>
        <p:txBody>
          <a:bodyPr wrap="square" lIns="0" tIns="0" rIns="0" bIns="0" anchor="ctr" rtlCol="0">
            <a:noAutofit/>
          </a:bodyPr>
          <a:lstStyle/>
          <a:p>
            <a:pPr algn="ctr">
              <a:spcAft>
                <a:spcPts val="300"/>
              </a:spcAft>
              <a:buNone/>
            </a:pPr>
            <a:r>
              <a:rPr lang="es-AR" sz="1040" b="1" dirty="0">
                <a:solidFill>
                  <a:srgbClr val="FFFFFF"/>
                </a:solidFill>
                <a:latin typeface="Bahnschrift SemiBold Condensed"/>
                <a:ea typeface="Bahnschrift SemiBold Condensed"/>
                <a:cs typeface="Bahnschrift SemiBold Condensed"/>
                <a:sym typeface="Bahnschrift SemiBold Condensed"/>
              </a:rPr>
              <a:t>Mal</a:t>
            </a:r>
            <a:endParaRPr lang="es-AR" sz="1040" dirty="0">
              <a:latin typeface="Bahnschrift SemiBold Condensed"/>
            </a:endParaRPr>
          </a:p>
        </p:txBody>
      </p:sp>
      <p:grpSp>
        <p:nvGrpSpPr>
          <p:cNvPr id="36" name="Inhibición"/>
          <p:cNvGrpSpPr/>
          <p:nvPr/>
        </p:nvGrpSpPr>
        <p:grpSpPr>
          <a:xfrm>
            <a:off x="4572000" y="2057400"/>
            <a:ext cx="951756" cy="459150"/>
            <a:chOff x="4572000" y="2057400"/>
            <a:chExt cx="951756" cy="459150"/>
          </a:xfrm>
        </p:grpSpPr>
        <p:sp>
          <p:nvSpPr>
            <p:cNvPr id="37" name="Flecha 43_2"/>
            <p:cNvSpPr/>
            <p:nvPr/>
          </p:nvSpPr>
          <p:spPr>
            <a:xfrm>
              <a:off x="4572000" y="2057400"/>
              <a:ext cx="914400" cy="365760"/>
            </a:xfrm>
            <a:custGeom>
              <a:avLst/>
              <a:gdLst/>
              <a:ahLst/>
              <a:cxnLst/>
              <a:rect l="0" t="0" r="r" b="b"/>
              <a:pathLst>
                <a:path w="1000" h="399" fill="none">
                  <a:moveTo>
                    <a:pt x="0" y="0"/>
                  </a:moveTo>
                  <a:lnTo>
                    <a:pt x="1000" y="399"/>
                  </a:lnTo>
                </a:path>
              </a:pathLst>
            </a:custGeom>
            <a:noFill/>
            <a:ln w="31750" cap="rnd">
              <a:solidFill>
                <a:srgbClr val="C00000"/>
              </a:solidFill>
              <a:round/>
            </a:ln>
          </p:spPr>
        </p:sp>
        <p:sp>
          <p:nvSpPr>
            <p:cNvPr id="38" name="Flecha 45_2"/>
            <p:cNvSpPr/>
            <p:nvPr/>
          </p:nvSpPr>
          <p:spPr>
            <a:xfrm>
              <a:off x="5449044" y="2329770"/>
              <a:ext cx="74712" cy="186780"/>
            </a:xfrm>
            <a:custGeom>
              <a:avLst/>
              <a:gdLst/>
              <a:ahLst/>
              <a:cxnLst/>
              <a:rect l="0" t="0" r="r" b="b"/>
              <a:pathLst>
                <a:path w="81" h="204" fill="none">
                  <a:moveTo>
                    <a:pt x="81" y="0"/>
                  </a:moveTo>
                  <a:lnTo>
                    <a:pt x="0" y="204"/>
                  </a:lnTo>
                </a:path>
              </a:pathLst>
            </a:custGeom>
            <a:noFill/>
            <a:ln w="50800" cap="rnd">
              <a:solidFill>
                <a:srgbClr val="C00000"/>
              </a:solidFill>
              <a:round/>
            </a:ln>
          </p:spPr>
        </p:sp>
      </p:grpSp>
      <p:sp>
        <p:nvSpPr>
          <p:cNvPr id="39" name="Forma 47"/>
          <p:cNvSpPr/>
          <p:nvPr/>
        </p:nvSpPr>
        <p:spPr>
          <a:xfrm>
            <a:off x="274320" y="5349240"/>
            <a:ext cx="11521440" cy="1143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Costo de activación: </a:t>
            </a:r>
            <a:r>
              <a:rPr lang="es-AR" sz="1650" b="1" dirty="0">
                <a:solidFill>
                  <a:srgbClr val="1E1E1E"/>
                </a:solidFill>
                <a:latin typeface="Bahnschrift"/>
                <a:ea typeface="Bahnschrift"/>
                <a:cs typeface="Bahnschrift"/>
                <a:sym typeface="Bahnschrift"/>
              </a:rPr>
              <a:t>2 enlaces</a:t>
            </a:r>
            <a:r>
              <a:rPr lang="es-AR" sz="1650" dirty="0">
                <a:solidFill>
                  <a:srgbClr val="1E1E1E"/>
                </a:solidFill>
                <a:latin typeface="Bahnschrift"/>
                <a:ea typeface="Bahnschrift"/>
                <a:cs typeface="Bahnschrift"/>
                <a:sym typeface="Bahnschrift"/>
              </a:rPr>
              <a:t> de alta energía (ATP → AMP + PP</a:t>
            </a:r>
            <a:r>
              <a:rPr lang="es-AR" sz="1650" baseline="-25000" dirty="0">
                <a:solidFill>
                  <a:srgbClr val="1E1E1E"/>
                </a:solidFill>
                <a:latin typeface="Bahnschrift"/>
                <a:ea typeface="Bahnschrift"/>
                <a:cs typeface="Bahnschrift"/>
                <a:sym typeface="Bahnschrift"/>
              </a:rPr>
              <a:t>i</a:t>
            </a:r>
            <a:r>
              <a:rPr lang="es-AR" sz="1650" dirty="0">
                <a:solidFill>
                  <a:srgbClr val="1E1E1E"/>
                </a:solidFill>
                <a:latin typeface="Bahnschrift"/>
                <a:ea typeface="Bahnschrift"/>
                <a:cs typeface="Bahnschrift"/>
                <a:sym typeface="Bahnschrift"/>
              </a:rPr>
              <a:t>). Los AG de </a:t>
            </a:r>
            <a:r>
              <a:rPr lang="es-AR" sz="1650" b="1" dirty="0">
                <a:solidFill>
                  <a:srgbClr val="1E1E1E"/>
                </a:solidFill>
                <a:latin typeface="Bahnschrift"/>
                <a:ea typeface="Bahnschrift"/>
                <a:cs typeface="Bahnschrift"/>
                <a:sym typeface="Bahnschrift"/>
              </a:rPr>
              <a:t>cadena corta/media</a:t>
            </a:r>
            <a:r>
              <a:rPr lang="es-AR" sz="1650" dirty="0">
                <a:solidFill>
                  <a:srgbClr val="1E1E1E"/>
                </a:solidFill>
                <a:latin typeface="Bahnschrift"/>
                <a:ea typeface="Bahnschrift"/>
                <a:cs typeface="Bahnschrift"/>
                <a:sym typeface="Bahnschrift"/>
              </a:rPr>
              <a:t> acceden a la matriz </a:t>
            </a:r>
            <a:r>
              <a:rPr lang="es-AR" sz="1650" b="1" dirty="0">
                <a:solidFill>
                  <a:srgbClr val="1E1E1E"/>
                </a:solidFill>
                <a:latin typeface="Bahnschrift"/>
                <a:ea typeface="Bahnschrift"/>
                <a:cs typeface="Bahnschrift"/>
                <a:sym typeface="Bahnschrift"/>
              </a:rPr>
              <a:t>sin depender</a:t>
            </a:r>
            <a:r>
              <a:rPr lang="es-AR" sz="1650" dirty="0">
                <a:solidFill>
                  <a:srgbClr val="1E1E1E"/>
                </a:solidFill>
                <a:latin typeface="Bahnschrift"/>
                <a:ea typeface="Bahnschrift"/>
                <a:cs typeface="Bahnschrift"/>
                <a:sym typeface="Bahnschrift"/>
              </a:rPr>
              <a:t> en igual medida de la lanzadera. No confundir </a:t>
            </a:r>
            <a:r>
              <a:rPr lang="es-AR" sz="1650" b="1" dirty="0">
                <a:solidFill>
                  <a:srgbClr val="1E1E1E"/>
                </a:solidFill>
                <a:latin typeface="Bahnschrift"/>
                <a:ea typeface="Bahnschrift"/>
                <a:cs typeface="Bahnschrift"/>
                <a:sym typeface="Bahnschrift"/>
              </a:rPr>
              <a:t>CPT1</a:t>
            </a:r>
            <a:r>
              <a:rPr lang="es-AR" sz="1650" dirty="0">
                <a:solidFill>
                  <a:srgbClr val="1E1E1E"/>
                </a:solidFill>
                <a:latin typeface="Bahnschrift"/>
                <a:ea typeface="Bahnschrift"/>
                <a:cs typeface="Bahnschrift"/>
                <a:sym typeface="Bahnschrift"/>
              </a:rPr>
              <a:t> con </a:t>
            </a:r>
            <a:r>
              <a:rPr lang="es-AR" sz="1650" b="1" dirty="0">
                <a:solidFill>
                  <a:srgbClr val="1E1E1E"/>
                </a:solidFill>
                <a:latin typeface="Bahnschrift"/>
                <a:ea typeface="Bahnschrift"/>
                <a:cs typeface="Bahnschrift"/>
                <a:sym typeface="Bahnschrift"/>
              </a:rPr>
              <a:t>CACT</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11777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15 · ACTIVACIÓN Y LANZADERA DE CARNITINA</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7"/>
                                        </p:tgtEl>
                                        <p:attrNameLst>
                                          <p:attrName>style.visibility</p:attrName>
                                        </p:attrNameLst>
                                      </p:cBhvr>
                                      <p:to>
                                        <p:strVal val="visible"/>
                                      </p:to>
                                    </p:set>
                                    <p:animEffect transition="in" filter="fade">
                                      <p:cBhvr>
                                        <p:cTn id="5" dur="500"/>
                                        <p:tgtEl>
                                          <p:spTgt spid="17"/>
                                        </p:tgtEl>
                                      </p:cBhvr>
                                    </p:animEffect>
                                  </p:childTnLst>
                                </p:cTn>
                              </p:par>
                            </p:childTnLst>
                          </p:cTn>
                        </p:par>
                        <p:par>
                          <p:cTn id="15"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20"/>
                                        </p:tgtEl>
                                        <p:attrNameLst>
                                          <p:attrName>style.visibility</p:attrName>
                                        </p:attrNameLst>
                                      </p:cBhvr>
                                      <p:to>
                                        <p:strVal val="visible"/>
                                      </p:to>
                                    </p:set>
                                    <p:animEffect transition="in" filter="fade">
                                      <p:cBhvr>
                                        <p:cTn id="9" dur="500"/>
                                        <p:tgtEl>
                                          <p:spTgt spid="20"/>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fltVal val="0"/>
                                          </p:val>
                                        </p:tav>
                                        <p:tav tm="100000">
                                          <p:val>
                                            <p:strVal val="#ppt_h"/>
                                          </p:val>
                                        </p:tav>
                                      </p:tavLst>
                                    </p:anim>
                                    <p:animEffect transition="in" filter="fade">
                                      <p:cBhvr>
                                        <p:cTn id="14" dur="500"/>
                                        <p:tgtEl>
                                          <p:spTgt spid="21"/>
                                        </p:tgtEl>
                                      </p:cBhvr>
                                    </p:animEffect>
                                  </p:childTnLst>
                                </p:cTn>
                              </p:par>
                            </p:childTnLst>
                          </p:cTn>
                        </p:par>
                        <p:par>
                          <p:cTn id="19"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29"/>
                                        </p:tgtEl>
                                        <p:attrNameLst>
                                          <p:attrName>style.visibility</p:attrName>
                                        </p:attrNameLst>
                                      </p:cBhvr>
                                      <p:to>
                                        <p:strVal val="visible"/>
                                      </p:to>
                                    </p:set>
                                    <p:animEffect transition="in" filter="wipe(left)">
                                      <p:cBhvr>
                                        <p:cTn id="18" dur="600"/>
                                        <p:tgtEl>
                                          <p:spTgt spid="29"/>
                                        </p:tgtEl>
                                      </p:cBhvr>
                                    </p:animEffect>
                                  </p:childTnLst>
                                </p:cTn>
                              </p:par>
                            </p:childTnLst>
                          </p:cTn>
                        </p:par>
                        <p:par>
                          <p:cTn id="23" fill="hold">
                            <p:stCondLst>
                              <p:cond delay="1600"/>
                            </p:stCondLst>
                            <p:childTnLst>
                              <p:par>
                                <p:cTn id="20" presetID="10" presetClass="entr" presetSubtype="0" fill="hold" grpId="0"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500"/>
                                        <p:tgtEl>
                                          <p:spTgt spid="22"/>
                                        </p:tgtEl>
                                      </p:cBhvr>
                                    </p:animEffect>
                                  </p:childTnLst>
                                </p:cTn>
                              </p:par>
                            </p:childTnLst>
                          </p:cTn>
                        </p:par>
                      </p:childTnLst>
                    </p:cTn>
                  </p:par>
                  <p:par>
                    <p:cTn id="41" fill="hold">
                      <p:stCondLst>
                        <p:cond delay="indefinite"/>
                      </p:stCondLst>
                      <p:childTnLst>
                        <p:par>
                          <p:cTn id="28"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up)">
                                      <p:cBhvr>
                                        <p:cTn id="27" dur="600"/>
                                        <p:tgtEl>
                                          <p:spTgt spid="30"/>
                                        </p:tgtEl>
                                      </p:cBhvr>
                                    </p:animEffect>
                                  </p:childTnLst>
                                </p:cTn>
                              </p:par>
                            </p:childTnLst>
                          </p:cTn>
                        </p:par>
                        <p:par>
                          <p:cTn id="32" fill="hold">
                            <p:stCondLst>
                              <p:cond delay="600"/>
                            </p:stCondLst>
                            <p:childTnLst>
                              <p:par>
                                <p:cTn id="29" presetID="10" presetClass="entr" presetSubtype="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par>
                          <p:cTn id="36" fill="hold">
                            <p:stCondLst>
                              <p:cond delay="1100"/>
                            </p:stCondLst>
                            <p:childTnLst>
                              <p:par>
                                <p:cTn id="33" presetID="22" presetClass="entr" presetSubtype="1"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wipe(up)">
                                      <p:cBhvr>
                                        <p:cTn id="35" dur="600"/>
                                        <p:tgtEl>
                                          <p:spTgt spid="31"/>
                                        </p:tgtEl>
                                      </p:cBhvr>
                                    </p:animEffect>
                                  </p:childTnLst>
                                </p:cTn>
                              </p:par>
                            </p:childTnLst>
                          </p:cTn>
                        </p:par>
                        <p:par>
                          <p:cTn id="40" fill="hold">
                            <p:stCondLst>
                              <p:cond delay="17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childTnLst>
                    </p:cTn>
                  </p:par>
                  <p:par>
                    <p:cTn id="69" fill="hold">
                      <p:stCondLst>
                        <p:cond delay="indefinite"/>
                      </p:stCondLst>
                      <p:childTnLst>
                        <p:par>
                          <p:cTn id="45"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32"/>
                                        </p:tgtEl>
                                        <p:attrNameLst>
                                          <p:attrName>style.visibility</p:attrName>
                                        </p:attrNameLst>
                                      </p:cBhvr>
                                      <p:to>
                                        <p:strVal val="visible"/>
                                      </p:to>
                                    </p:set>
                                    <p:animEffect transition="in" filter="wipe(left)">
                                      <p:cBhvr>
                                        <p:cTn id="44" dur="600"/>
                                        <p:tgtEl>
                                          <p:spTgt spid="32"/>
                                        </p:tgtEl>
                                      </p:cBhvr>
                                    </p:animEffect>
                                  </p:childTnLst>
                                </p:cTn>
                              </p:par>
                            </p:childTnLst>
                          </p:cTn>
                        </p:par>
                        <p:par>
                          <p:cTn id="49" fill="hold">
                            <p:stCondLst>
                              <p:cond delay="600"/>
                            </p:stCondLst>
                            <p:childTnLst>
                              <p:par>
                                <p:cTn id="46" presetID="10" presetClass="entr" presetSubtype="0" fill="hold" grpId="0" nodeType="after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par>
                          <p:cTn id="53" fill="hold">
                            <p:stCondLst>
                              <p:cond delay="1100"/>
                            </p:stCondLst>
                            <p:childTnLst>
                              <p:par>
                                <p:cTn id="50" presetID="22" presetClass="entr" presetSubtype="8" fill="hold" grpId="0" nodeType="after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wipe(left)">
                                      <p:cBhvr>
                                        <p:cTn id="52" dur="600"/>
                                        <p:tgtEl>
                                          <p:spTgt spid="33"/>
                                        </p:tgtEl>
                                      </p:cBhvr>
                                    </p:animEffect>
                                  </p:childTnLst>
                                </p:cTn>
                              </p:par>
                            </p:childTnLst>
                          </p:cTn>
                        </p:par>
                        <p:par>
                          <p:cTn id="57" fill="hold">
                            <p:stCondLst>
                              <p:cond delay="1700"/>
                            </p:stCondLst>
                            <p:childTnLst>
                              <p:par>
                                <p:cTn id="54" presetID="10" presetClass="entr" presetSubtype="0"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par>
                          <p:cTn id="61" fill="hold">
                            <p:stCondLst>
                              <p:cond delay="2200"/>
                            </p:stCondLst>
                            <p:childTnLst>
                              <p:par>
                                <p:cTn id="58" presetID="22" presetClass="entr" presetSubtype="8" fill="hold" grpId="0" nodeType="afterEffect">
                                  <p:stCondLst>
                                    <p:cond delay="0"/>
                                  </p:stCondLst>
                                  <p:childTnLst>
                                    <p:set>
                                      <p:cBhvr>
                                        <p:cTn id="59" dur="1" fill="hold">
                                          <p:stCondLst>
                                            <p:cond delay="0"/>
                                          </p:stCondLst>
                                        </p:cTn>
                                        <p:tgtEl>
                                          <p:spTgt spid="34"/>
                                        </p:tgtEl>
                                        <p:attrNameLst>
                                          <p:attrName>style.visibility</p:attrName>
                                        </p:attrNameLst>
                                      </p:cBhvr>
                                      <p:to>
                                        <p:strVal val="visible"/>
                                      </p:to>
                                    </p:set>
                                    <p:animEffect transition="in" filter="wipe(left)">
                                      <p:cBhvr>
                                        <p:cTn id="60" dur="600"/>
                                        <p:tgtEl>
                                          <p:spTgt spid="34"/>
                                        </p:tgtEl>
                                      </p:cBhvr>
                                    </p:animEffect>
                                  </p:childTnLst>
                                </p:cTn>
                              </p:par>
                            </p:childTnLst>
                          </p:cTn>
                        </p:par>
                        <p:par>
                          <p:cTn id="68" fill="hold">
                            <p:stCondLst>
                              <p:cond delay="2800"/>
                            </p:stCondLst>
                            <p:childTnLst>
                              <p:par>
                                <p:cTn id="62" presetID="10" presetClass="entr" presetSubtype="0" fill="hold" grpId="0" nodeType="after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childTnLst>
                          </p:cTn>
                        </p:par>
                      </p:childTnLst>
                    </p:cTn>
                  </p:par>
                  <p:par>
                    <p:cTn id="80" fill="hold">
                      <p:stCondLst>
                        <p:cond delay="indefinite"/>
                      </p:stCondLst>
                      <p:childTnLst>
                        <p:par>
                          <p:cTn id="75" fill="hold">
                            <p:stCondLst>
                              <p:cond delay="0"/>
                            </p:stCondLst>
                            <p:childTnLst>
                              <p:par>
                                <p:cTn id="70" presetID="53" presetClass="entr" presetSubtype="16" fill="hold" grpId="0" nodeType="clickEffect">
                                  <p:stCondLst>
                                    <p:cond delay="0"/>
                                  </p:stCondLst>
                                  <p:childTnLst>
                                    <p:set>
                                      <p:cBhvr>
                                        <p:cTn id="71" dur="1" fill="hold">
                                          <p:stCondLst>
                                            <p:cond delay="0"/>
                                          </p:stCondLst>
                                        </p:cTn>
                                        <p:tgtEl>
                                          <p:spTgt spid="35"/>
                                        </p:tgtEl>
                                        <p:attrNameLst>
                                          <p:attrName>style.visibility</p:attrName>
                                        </p:attrNameLst>
                                      </p:cBhvr>
                                      <p:to>
                                        <p:strVal val="visible"/>
                                      </p:to>
                                    </p:set>
                                    <p:anim calcmode="lin" valueType="num">
                                      <p:cBhvr>
                                        <p:cTn id="72" dur="500" fill="hold"/>
                                        <p:tgtEl>
                                          <p:spTgt spid="35"/>
                                        </p:tgtEl>
                                        <p:attrNameLst>
                                          <p:attrName>ppt_w</p:attrName>
                                        </p:attrNameLst>
                                      </p:cBhvr>
                                      <p:tavLst>
                                        <p:tav tm="0">
                                          <p:val>
                                            <p:fltVal val="0"/>
                                          </p:val>
                                        </p:tav>
                                        <p:tav tm="100000">
                                          <p:val>
                                            <p:strVal val="#ppt_w"/>
                                          </p:val>
                                        </p:tav>
                                      </p:tavLst>
                                    </p:anim>
                                    <p:anim calcmode="lin" valueType="num">
                                      <p:cBhvr>
                                        <p:cTn id="73" dur="500" fill="hold"/>
                                        <p:tgtEl>
                                          <p:spTgt spid="35"/>
                                        </p:tgtEl>
                                        <p:attrNameLst>
                                          <p:attrName>ppt_h</p:attrName>
                                        </p:attrNameLst>
                                      </p:cBhvr>
                                      <p:tavLst>
                                        <p:tav tm="0">
                                          <p:val>
                                            <p:fltVal val="0"/>
                                          </p:val>
                                        </p:tav>
                                        <p:tav tm="100000">
                                          <p:val>
                                            <p:strVal val="#ppt_h"/>
                                          </p:val>
                                        </p:tav>
                                      </p:tavLst>
                                    </p:anim>
                                    <p:animEffect transition="in" filter="fade">
                                      <p:cBhvr>
                                        <p:cTn id="74" dur="500"/>
                                        <p:tgtEl>
                                          <p:spTgt spid="35"/>
                                        </p:tgtEl>
                                      </p:cBhvr>
                                    </p:animEffect>
                                  </p:childTnLst>
                                </p:cTn>
                              </p:par>
                            </p:childTnLst>
                          </p:cTn>
                        </p:par>
                        <p:par>
                          <p:cTn id="79" fill="hold">
                            <p:stCondLst>
                              <p:cond delay="500"/>
                            </p:stCondLst>
                            <p:childTnLst>
                              <p:par>
                                <p:cTn id="76" presetID="22" presetClass="entr" presetSubtype="8" fill="hold" grpId="0" nodeType="afterEffect">
                                  <p:stCondLst>
                                    <p:cond delay="0"/>
                                  </p:stCondLst>
                                  <p:childTnLst>
                                    <p:set>
                                      <p:cBhvr>
                                        <p:cTn id="77" dur="1" fill="hold">
                                          <p:stCondLst>
                                            <p:cond delay="0"/>
                                          </p:stCondLst>
                                        </p:cTn>
                                        <p:tgtEl>
                                          <p:spTgt spid="36"/>
                                        </p:tgtEl>
                                        <p:attrNameLst>
                                          <p:attrName>style.visibility</p:attrName>
                                        </p:attrNameLst>
                                      </p:cBhvr>
                                      <p:to>
                                        <p:strVal val="visible"/>
                                      </p:to>
                                    </p:set>
                                    <p:animEffect transition="in" filter="wipe(left)">
                                      <p:cBhvr>
                                        <p:cTn id="78" dur="600"/>
                                        <p:tgtEl>
                                          <p:spTgt spid="36"/>
                                        </p:tgtEl>
                                      </p:cBhvr>
                                    </p:animEffect>
                                  </p:childTnLst>
                                </p:cTn>
                              </p:par>
                            </p:childTnLst>
                          </p:cTn>
                        </p:par>
                      </p:childTnLst>
                    </p:cTn>
                  </p:par>
                  <p:par>
                    <p:cTn id="85" fill="hold">
                      <p:stCondLst>
                        <p:cond delay="indefinite"/>
                      </p:stCondLst>
                      <p:childTnLst>
                        <p:par>
                          <p:cTn id="84"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9"/>
                                        </p:tgtEl>
                                        <p:attrNameLst>
                                          <p:attrName>style.visibility</p:attrName>
                                        </p:attrNameLst>
                                      </p:cBhvr>
                                      <p:to>
                                        <p:strVal val="visible"/>
                                      </p:to>
                                    </p:set>
                                    <p:animEffect transition="in" filter="fade">
                                      <p:cBhvr>
                                        <p:cTn id="8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9" grpId="0" animBg="1"/>
      <p:bldP spid="22" grpId="0" animBg="1"/>
      <p:bldP spid="30" grpId="0" animBg="1"/>
      <p:bldP spid="23" grpId="0" animBg="1"/>
      <p:bldP spid="31" grpId="0" animBg="1"/>
      <p:bldP spid="24" grpId="0" animBg="1"/>
      <p:bldP spid="32" grpId="0" animBg="1"/>
      <p:bldP spid="25" grpId="0" animBg="1"/>
      <p:bldP spid="33" grpId="0" animBg="1"/>
      <p:bldP spid="26" grpId="0" animBg="1"/>
      <p:bldP spid="34" grpId="0" animBg="1"/>
      <p:bldP spid="27" grpId="0" animBg="1"/>
      <p:bldP spid="28" grpId="0" animBg="1"/>
      <p:bldP spid="35" grpId="0" animBg="1"/>
      <p:bldP spid="39" grpId="0" animBg="1"/>
    </p:bldLst>
  </p:timing>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Nodo Acil-CoA (Cn"/>
          <p:cNvSpPr/>
          <p:nvPr/>
        </p:nvSpPr>
        <p:spPr>
          <a:xfrm>
            <a:off x="2240280" y="1051560"/>
            <a:ext cx="2103120" cy="548640"/>
          </a:xfrm>
          <a:prstGeom prst="roundRect">
            <a:avLst>
              <a:gd name="adj" fmla="val 30000"/>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Acil-CoA (C</a:t>
            </a:r>
            <a:r>
              <a:rPr lang="es-AR" sz="1350" b="1" baseline="-25000" dirty="0">
                <a:solidFill>
                  <a:srgbClr val="1E1E1E"/>
                </a:solidFill>
                <a:latin typeface="Bahnschrift SemiBold Condensed"/>
                <a:ea typeface="Bahnschrift SemiBold Condensed"/>
                <a:cs typeface="Bahnschrift SemiBold Condensed"/>
                <a:sym typeface="Bahnschrift SemiBold Condensed"/>
              </a:rPr>
              <a:t>n</a:t>
            </a:r>
            <a:r>
              <a:rPr lang="es-AR" sz="1350" b="1" dirty="0">
                <a:solidFill>
                  <a:srgbClr val="1E1E1E"/>
                </a:solidFill>
                <a:latin typeface="Bahnschrift SemiBold Condensed"/>
                <a:ea typeface="Bahnschrift SemiBold Condensed"/>
                <a:cs typeface="Bahnschrift SemiBold Condensed"/>
                <a:sym typeface="Bahnschrift SemiBold Condensed"/>
              </a:rPr>
              <a:t>)</a:t>
            </a:r>
            <a:endParaRPr lang="es-AR" sz="1350" dirty="0">
              <a:latin typeface="Bahnschrift SemiBold Condensed"/>
            </a:endParaRPr>
          </a:p>
        </p:txBody>
      </p:sp>
      <p:sp>
        <p:nvSpPr>
          <p:cNvPr id="5" name="Nodo trans-Δ2-eno"/>
          <p:cNvSpPr/>
          <p:nvPr/>
        </p:nvSpPr>
        <p:spPr>
          <a:xfrm>
            <a:off x="4572000" y="2697480"/>
            <a:ext cx="2103120" cy="548640"/>
          </a:xfrm>
          <a:prstGeom prst="roundRect">
            <a:avLst>
              <a:gd name="adj" fmla="val 30000"/>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trans-Δ</a:t>
            </a:r>
            <a:r>
              <a:rPr lang="es-AR" sz="1350" b="1" baseline="30000" dirty="0">
                <a:solidFill>
                  <a:srgbClr val="1E1E1E"/>
                </a:solidFill>
                <a:latin typeface="Bahnschrift SemiBold Condensed"/>
                <a:ea typeface="Bahnschrift SemiBold Condensed"/>
                <a:cs typeface="Bahnschrift SemiBold Condensed"/>
                <a:sym typeface="Bahnschrift SemiBold Condensed"/>
              </a:rPr>
              <a:t>2</a:t>
            </a:r>
            <a:r>
              <a:rPr lang="es-AR" sz="1350" b="1" dirty="0">
                <a:solidFill>
                  <a:srgbClr val="1E1E1E"/>
                </a:solidFill>
                <a:latin typeface="Bahnschrift SemiBold Condensed"/>
                <a:ea typeface="Bahnschrift SemiBold Condensed"/>
                <a:cs typeface="Bahnschrift SemiBold Condensed"/>
                <a:sym typeface="Bahnschrift SemiBold Condensed"/>
              </a:rPr>
              <a:t>-enoil-CoA</a:t>
            </a:r>
            <a:endParaRPr lang="es-AR" sz="1350" dirty="0">
              <a:latin typeface="Bahnschrift SemiBold Condensed"/>
            </a:endParaRPr>
          </a:p>
        </p:txBody>
      </p:sp>
      <p:sp>
        <p:nvSpPr>
          <p:cNvPr id="6" name="Nodo L-3-hidroxia"/>
          <p:cNvSpPr/>
          <p:nvPr/>
        </p:nvSpPr>
        <p:spPr>
          <a:xfrm>
            <a:off x="2240280" y="4343400"/>
            <a:ext cx="2103120" cy="548640"/>
          </a:xfrm>
          <a:prstGeom prst="roundRect">
            <a:avLst>
              <a:gd name="adj" fmla="val 30000"/>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L-3-hidroxiacil-CoA</a:t>
            </a:r>
            <a:endParaRPr lang="es-AR" sz="1350" dirty="0">
              <a:latin typeface="Bahnschrift SemiBold Condensed"/>
            </a:endParaRPr>
          </a:p>
        </p:txBody>
      </p:sp>
      <p:sp>
        <p:nvSpPr>
          <p:cNvPr id="7" name="Nodo 3-cetoacil-C"/>
          <p:cNvSpPr/>
          <p:nvPr/>
        </p:nvSpPr>
        <p:spPr>
          <a:xfrm>
            <a:off x="274320" y="2697480"/>
            <a:ext cx="2103120" cy="548640"/>
          </a:xfrm>
          <a:prstGeom prst="roundRect">
            <a:avLst>
              <a:gd name="adj" fmla="val 30000"/>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3-cetoacil-CoA</a:t>
            </a:r>
            <a:endParaRPr lang="es-AR" sz="1350" dirty="0">
              <a:latin typeface="Bahnschrift SemiBold Condensed"/>
            </a:endParaRPr>
          </a:p>
        </p:txBody>
      </p:sp>
      <p:grpSp>
        <p:nvGrpSpPr>
          <p:cNvPr id="8" name="Reacción 1 · Acil-CoA"/>
          <p:cNvGrpSpPr/>
          <p:nvPr/>
        </p:nvGrpSpPr>
        <p:grpSpPr>
          <a:xfrm>
            <a:off x="4206240" y="1463040"/>
            <a:ext cx="3429000" cy="1188720"/>
            <a:chOff x="4206240" y="1463040"/>
            <a:chExt cx="3429000" cy="1188720"/>
          </a:xfrm>
        </p:grpSpPr>
        <p:sp>
          <p:nvSpPr>
            <p:cNvPr id="9" name="Flecha 8_2"/>
            <p:cNvSpPr/>
            <p:nvPr/>
          </p:nvSpPr>
          <p:spPr>
            <a:xfrm>
              <a:off x="4206240" y="1600200"/>
              <a:ext cx="1188720" cy="1051560"/>
            </a:xfrm>
            <a:custGeom>
              <a:avLst/>
              <a:gdLst/>
              <a:ahLst/>
              <a:cxnLst/>
              <a:rect l="0" t="0" r="r" b="b"/>
              <a:pathLst>
                <a:path w="1300" h="1150" fill="none">
                  <a:moveTo>
                    <a:pt x="0" y="0"/>
                  </a:moveTo>
                  <a:lnTo>
                    <a:pt x="1300" y="1150"/>
                  </a:lnTo>
                </a:path>
              </a:pathLst>
            </a:custGeom>
            <a:noFill/>
            <a:ln w="44450" cap="rnd">
              <a:solidFill>
                <a:srgbClr val="1E8C3A"/>
              </a:solidFill>
              <a:round/>
              <a:tailEnd type="triangle" w="med" len="med"/>
            </a:ln>
          </p:spPr>
        </p:sp>
        <p:sp>
          <p:nvSpPr>
            <p:cNvPr id="10" name="Enzima 1 · Acil-CoA DH"/>
            <p:cNvSpPr/>
            <p:nvPr/>
          </p:nvSpPr>
          <p:spPr>
            <a:xfrm>
              <a:off x="5257800" y="1463040"/>
              <a:ext cx="1149471"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1 · Acil-CoA DH</a:t>
              </a:r>
              <a:endParaRPr lang="es-AR" sz="1150" dirty="0">
                <a:latin typeface="Bahnschrift SemiBold Condensed"/>
              </a:endParaRPr>
            </a:p>
          </p:txBody>
        </p:sp>
        <p:sp>
          <p:nvSpPr>
            <p:cNvPr id="11" name="Forma 11"/>
            <p:cNvSpPr txBox="1"/>
            <p:nvPr/>
          </p:nvSpPr>
          <p:spPr>
            <a:xfrm>
              <a:off x="5257800" y="1764792"/>
              <a:ext cx="237744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7E5109"/>
                  </a:solidFill>
                  <a:latin typeface="Bahnschrift SemiBold Condensed"/>
                  <a:ea typeface="Bahnschrift SemiBold Condensed"/>
                  <a:cs typeface="Bahnschrift SemiBold Condensed"/>
                  <a:sym typeface="Bahnschrift SemiBold Condensed"/>
                </a:rPr>
                <a:t>FAD → FADH</a:t>
              </a:r>
              <a:r>
                <a:rPr lang="es-AR" sz="1200" b="1" baseline="-25000" dirty="0">
                  <a:solidFill>
                    <a:srgbClr val="7E5109"/>
                  </a:solidFill>
                  <a:latin typeface="Bahnschrift SemiBold Condensed"/>
                  <a:ea typeface="Bahnschrift SemiBold Condensed"/>
                  <a:cs typeface="Bahnschrift SemiBold Condensed"/>
                  <a:sym typeface="Bahnschrift SemiBold Condensed"/>
                </a:rPr>
                <a:t>2</a:t>
              </a:r>
              <a:r>
                <a:rPr lang="es-AR" sz="1200" b="1" dirty="0">
                  <a:solidFill>
                    <a:srgbClr val="7E5109"/>
                  </a:solidFill>
                  <a:latin typeface="Bahnschrift SemiBold Condensed"/>
                  <a:ea typeface="Bahnschrift SemiBold Condensed"/>
                  <a:cs typeface="Bahnschrift SemiBold Condensed"/>
                  <a:sym typeface="Bahnschrift SemiBold Condensed"/>
                </a:rPr>
                <a:t> (→ ETF)</a:t>
              </a:r>
              <a:endParaRPr lang="es-AR" sz="1200" dirty="0">
                <a:latin typeface="Bahnschrift SemiBold Condensed"/>
              </a:endParaRPr>
            </a:p>
          </p:txBody>
        </p:sp>
      </p:grpSp>
      <p:grpSp>
        <p:nvGrpSpPr>
          <p:cNvPr id="12" name="Reacción 2 · Enoil-Co"/>
          <p:cNvGrpSpPr/>
          <p:nvPr/>
        </p:nvGrpSpPr>
        <p:grpSpPr>
          <a:xfrm>
            <a:off x="4206240" y="3291840"/>
            <a:ext cx="3291840" cy="1170432"/>
            <a:chOff x="4206240" y="3291840"/>
            <a:chExt cx="3291840" cy="1170432"/>
          </a:xfrm>
        </p:grpSpPr>
        <p:sp>
          <p:nvSpPr>
            <p:cNvPr id="13" name="Flecha 13_2"/>
            <p:cNvSpPr/>
            <p:nvPr/>
          </p:nvSpPr>
          <p:spPr>
            <a:xfrm>
              <a:off x="4206240" y="3291840"/>
              <a:ext cx="1188720" cy="1005840"/>
            </a:xfrm>
            <a:custGeom>
              <a:avLst/>
              <a:gdLst/>
              <a:ahLst/>
              <a:cxnLst/>
              <a:rect l="0" t="0" r="r" b="b"/>
              <a:pathLst>
                <a:path w="1300" h="1100" fill="none">
                  <a:moveTo>
                    <a:pt x="1300" y="0"/>
                  </a:moveTo>
                  <a:lnTo>
                    <a:pt x="0" y="1100"/>
                  </a:lnTo>
                </a:path>
              </a:pathLst>
            </a:custGeom>
            <a:noFill/>
            <a:ln w="44450" cap="rnd">
              <a:solidFill>
                <a:srgbClr val="1E8C3A"/>
              </a:solidFill>
              <a:round/>
              <a:tailEnd type="triangle" w="med" len="med"/>
            </a:ln>
          </p:spPr>
        </p:sp>
        <p:sp>
          <p:nvSpPr>
            <p:cNvPr id="14" name="Enzima 2 · Enoil-CoA hidrat"/>
            <p:cNvSpPr/>
            <p:nvPr/>
          </p:nvSpPr>
          <p:spPr>
            <a:xfrm>
              <a:off x="5120640" y="3886200"/>
              <a:ext cx="164160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2 · Enoil-CoA hidratasa</a:t>
              </a:r>
              <a:endParaRPr lang="es-AR" sz="1150" dirty="0">
                <a:latin typeface="Bahnschrift SemiBold Condensed"/>
              </a:endParaRPr>
            </a:p>
          </p:txBody>
        </p:sp>
        <p:sp>
          <p:nvSpPr>
            <p:cNvPr id="15" name="Forma 16"/>
            <p:cNvSpPr txBox="1"/>
            <p:nvPr/>
          </p:nvSpPr>
          <p:spPr>
            <a:xfrm>
              <a:off x="5120640" y="4187952"/>
              <a:ext cx="2377440" cy="274320"/>
            </a:xfrm>
            <a:prstGeom prst="rect">
              <a:avLst/>
            </a:prstGeom>
            <a:noFill/>
            <a:ln>
              <a:noFill/>
            </a:ln>
          </p:spPr>
          <p:txBody>
            <a:bodyPr wrap="square" lIns="0" tIns="0" rIns="0" bIns="0" anchor="t" rtlCol="0">
              <a:noAutofit/>
            </a:bodyPr>
            <a:lstStyle/>
            <a:p>
              <a:pPr algn="l" marL="144780" indent="-144780">
                <a:spcAft>
                  <a:spcPts val="300"/>
                </a:spcAft>
                <a:buClr>
                  <a:srgbClr val="1E8C3A"/>
                </a:buClr>
                <a:buFont typeface="Segoe UI Symbol"/>
                <a:buChar char="✓"/>
              </a:pPr>
              <a:r>
                <a:rPr lang="es-AR" sz="1200" b="1" dirty="0">
                  <a:solidFill>
                    <a:srgbClr val="7E5109"/>
                  </a:solidFill>
                  <a:latin typeface="Bahnschrift SemiBold Condensed"/>
                  <a:ea typeface="Bahnschrift SemiBold Condensed"/>
                  <a:cs typeface="Bahnschrift SemiBold Condensed"/>
                  <a:sym typeface="Bahnschrift SemiBold Condensed"/>
                </a:rPr>
                <a:t>H</a:t>
              </a:r>
              <a:r>
                <a:rPr lang="es-AR" sz="1200" b="1" baseline="-25000" dirty="0">
                  <a:solidFill>
                    <a:srgbClr val="7E5109"/>
                  </a:solidFill>
                  <a:latin typeface="Bahnschrift SemiBold Condensed"/>
                  <a:ea typeface="Bahnschrift SemiBold Condensed"/>
                  <a:cs typeface="Bahnschrift SemiBold Condensed"/>
                  <a:sym typeface="Bahnschrift SemiBold Condensed"/>
                </a:rPr>
                <a:t>2</a:t>
              </a:r>
              <a:r>
                <a:rPr lang="es-AR" sz="1200" b="1" dirty="0">
                  <a:solidFill>
                    <a:srgbClr val="7E5109"/>
                  </a:solidFill>
                  <a:latin typeface="Bahnschrift SemiBold Condensed"/>
                  <a:ea typeface="Bahnschrift SemiBold Condensed"/>
                  <a:cs typeface="Bahnschrift SemiBold Condensed"/>
                  <a:sym typeface="Bahnschrift SemiBold Condensed"/>
                </a:rPr>
                <a:t>O</a:t>
              </a:r>
              <a:endParaRPr lang="es-AR" sz="1200" dirty="0">
                <a:latin typeface="Bahnschrift SemiBold Condensed"/>
              </a:endParaRPr>
            </a:p>
          </p:txBody>
        </p:sp>
      </p:grpSp>
      <p:grpSp>
        <p:nvGrpSpPr>
          <p:cNvPr id="16" name="Reacción 3 · 3-hidrox"/>
          <p:cNvGrpSpPr/>
          <p:nvPr/>
        </p:nvGrpSpPr>
        <p:grpSpPr>
          <a:xfrm>
            <a:off x="91440" y="3291840"/>
            <a:ext cx="2377440" cy="1170432"/>
            <a:chOff x="91440" y="3291840"/>
            <a:chExt cx="2377440" cy="1170432"/>
          </a:xfrm>
        </p:grpSpPr>
        <p:sp>
          <p:nvSpPr>
            <p:cNvPr id="17" name="Flecha 18_2"/>
            <p:cNvSpPr/>
            <p:nvPr/>
          </p:nvSpPr>
          <p:spPr>
            <a:xfrm>
              <a:off x="1280160" y="3291840"/>
              <a:ext cx="1005840" cy="1051560"/>
            </a:xfrm>
            <a:custGeom>
              <a:avLst/>
              <a:gdLst/>
              <a:ahLst/>
              <a:cxnLst/>
              <a:rect l="0" t="0" r="r" b="b"/>
              <a:pathLst>
                <a:path w="1100" h="1150" fill="none">
                  <a:moveTo>
                    <a:pt x="1100" y="1150"/>
                  </a:moveTo>
                  <a:lnTo>
                    <a:pt x="0" y="0"/>
                  </a:lnTo>
                </a:path>
              </a:pathLst>
            </a:custGeom>
            <a:noFill/>
            <a:ln w="44450" cap="rnd">
              <a:solidFill>
                <a:srgbClr val="1E8C3A"/>
              </a:solidFill>
              <a:round/>
              <a:tailEnd type="triangle" w="med" len="med"/>
            </a:ln>
          </p:spPr>
        </p:sp>
        <p:sp>
          <p:nvSpPr>
            <p:cNvPr id="18" name="Enzima 3 · 3-hidroxiacil-Co"/>
            <p:cNvSpPr/>
            <p:nvPr/>
          </p:nvSpPr>
          <p:spPr>
            <a:xfrm>
              <a:off x="91440" y="3886200"/>
              <a:ext cx="1690016"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3 · 3-hidroxiacil-CoA DH</a:t>
              </a:r>
              <a:endParaRPr lang="es-AR" sz="1150" dirty="0">
                <a:latin typeface="Bahnschrift SemiBold Condensed"/>
              </a:endParaRPr>
            </a:p>
          </p:txBody>
        </p:sp>
        <p:sp>
          <p:nvSpPr>
            <p:cNvPr id="19" name="Forma 21"/>
            <p:cNvSpPr txBox="1"/>
            <p:nvPr/>
          </p:nvSpPr>
          <p:spPr>
            <a:xfrm>
              <a:off x="91440" y="4187952"/>
              <a:ext cx="2377440" cy="274320"/>
            </a:xfrm>
            <a:prstGeom prst="rect">
              <a:avLst/>
            </a:prstGeom>
            <a:noFill/>
            <a:ln>
              <a:noFill/>
            </a:ln>
          </p:spPr>
          <p:txBody>
            <a:bodyPr wrap="square" lIns="0" tIns="0" rIns="0" bIns="0" anchor="t" rtlCol="0">
              <a:noAutofit/>
            </a:bodyPr>
            <a:lstStyle/>
            <a:p>
              <a:pPr algn="l">
                <a:spcAft>
                  <a:spcPts val="300"/>
                </a:spcAft>
                <a:buNone/>
              </a:pPr>
              <a:r>
                <a:rPr lang="es-AR" sz="1200" b="1" dirty="0">
                  <a:solidFill>
                    <a:srgbClr val="7E5109"/>
                  </a:solidFill>
                  <a:latin typeface="Bahnschrift SemiBold Condensed"/>
                  <a:ea typeface="Bahnschrift SemiBold Condensed"/>
                  <a:cs typeface="Bahnschrift SemiBold Condensed"/>
                  <a:sym typeface="Bahnschrift SemiBold Condensed"/>
                </a:rPr>
                <a:t>NAD</a:t>
              </a:r>
              <a:r>
                <a:rPr lang="es-AR" sz="1200" b="1" baseline="30000" dirty="0">
                  <a:solidFill>
                    <a:srgbClr val="7E5109"/>
                  </a:solidFill>
                  <a:latin typeface="Bahnschrift SemiBold Condensed"/>
                  <a:ea typeface="Bahnschrift SemiBold Condensed"/>
                  <a:cs typeface="Bahnschrift SemiBold Condensed"/>
                  <a:sym typeface="Bahnschrift SemiBold Condensed"/>
                </a:rPr>
                <a:t>+</a:t>
              </a:r>
              <a:r>
                <a:rPr lang="es-AR" sz="1200" b="1" dirty="0">
                  <a:solidFill>
                    <a:srgbClr val="7E5109"/>
                  </a:solidFill>
                  <a:latin typeface="Bahnschrift SemiBold Condensed"/>
                  <a:ea typeface="Bahnschrift SemiBold Condensed"/>
                  <a:cs typeface="Bahnschrift SemiBold Condensed"/>
                  <a:sym typeface="Bahnschrift SemiBold Condensed"/>
                </a:rPr>
                <a:t> → NADH</a:t>
              </a:r>
              <a:endParaRPr lang="es-AR" sz="1200" dirty="0">
                <a:latin typeface="Bahnschrift SemiBold Condensed"/>
              </a:endParaRPr>
            </a:p>
          </p:txBody>
        </p:sp>
      </p:grpSp>
      <p:grpSp>
        <p:nvGrpSpPr>
          <p:cNvPr id="20" name="Reacción 4 · β-cetoti"/>
          <p:cNvGrpSpPr/>
          <p:nvPr/>
        </p:nvGrpSpPr>
        <p:grpSpPr>
          <a:xfrm>
            <a:off x="182880" y="1463040"/>
            <a:ext cx="2377440" cy="1188720"/>
            <a:chOff x="182880" y="1463040"/>
            <a:chExt cx="2377440" cy="1188720"/>
          </a:xfrm>
        </p:grpSpPr>
        <p:sp>
          <p:nvSpPr>
            <p:cNvPr id="21" name="Flecha 23_2"/>
            <p:cNvSpPr/>
            <p:nvPr/>
          </p:nvSpPr>
          <p:spPr>
            <a:xfrm>
              <a:off x="1280160" y="1600200"/>
              <a:ext cx="1005840" cy="1051560"/>
            </a:xfrm>
            <a:custGeom>
              <a:avLst/>
              <a:gdLst/>
              <a:ahLst/>
              <a:cxnLst/>
              <a:rect l="0" t="0" r="r" b="b"/>
              <a:pathLst>
                <a:path w="1100" h="1150" fill="none">
                  <a:moveTo>
                    <a:pt x="0" y="1150"/>
                  </a:moveTo>
                  <a:lnTo>
                    <a:pt x="1100" y="0"/>
                  </a:lnTo>
                </a:path>
              </a:pathLst>
            </a:custGeom>
            <a:noFill/>
            <a:ln w="44450" cap="rnd">
              <a:solidFill>
                <a:srgbClr val="1E8C3A"/>
              </a:solidFill>
              <a:round/>
              <a:tailEnd type="triangle" w="med" len="med"/>
            </a:ln>
          </p:spPr>
        </p:sp>
        <p:sp>
          <p:nvSpPr>
            <p:cNvPr id="22" name="Enzima 4 · β-cetotiolasa"/>
            <p:cNvSpPr/>
            <p:nvPr/>
          </p:nvSpPr>
          <p:spPr>
            <a:xfrm>
              <a:off x="182880" y="1463040"/>
              <a:ext cx="127905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4 · β-cetotiolasa</a:t>
              </a:r>
              <a:endParaRPr lang="es-AR" sz="1150" dirty="0">
                <a:latin typeface="Bahnschrift SemiBold Condensed"/>
              </a:endParaRPr>
            </a:p>
          </p:txBody>
        </p:sp>
        <p:sp>
          <p:nvSpPr>
            <p:cNvPr id="23" name="Forma 26"/>
            <p:cNvSpPr txBox="1"/>
            <p:nvPr/>
          </p:nvSpPr>
          <p:spPr>
            <a:xfrm>
              <a:off x="182880" y="1764792"/>
              <a:ext cx="2377440" cy="274320"/>
            </a:xfrm>
            <a:prstGeom prst="rect">
              <a:avLst/>
            </a:prstGeom>
            <a:noFill/>
            <a:ln>
              <a:noFill/>
            </a:ln>
          </p:spPr>
          <p:txBody>
            <a:bodyPr wrap="square" lIns="0" tIns="0" rIns="0" bIns="0" anchor="t" rtlCol="0">
              <a:noAutofit/>
            </a:bodyPr>
            <a:lstStyle/>
            <a:p>
              <a:pPr algn="l" marL="144780" indent="-144780">
                <a:spcAft>
                  <a:spcPts val="300"/>
                </a:spcAft>
                <a:buClr>
                  <a:srgbClr val="1E8C3A"/>
                </a:buClr>
                <a:buFont typeface="Segoe UI Symbol"/>
                <a:buChar char="✓"/>
              </a:pPr>
              <a:r>
                <a:rPr lang="es-AR" sz="1200" b="1" dirty="0">
                  <a:solidFill>
                    <a:srgbClr val="7E5109"/>
                  </a:solidFill>
                  <a:latin typeface="Bahnschrift SemiBold Condensed"/>
                  <a:ea typeface="Bahnschrift SemiBold Condensed"/>
                  <a:cs typeface="Bahnschrift SemiBold Condensed"/>
                  <a:sym typeface="Bahnschrift SemiBold Condensed"/>
                </a:rPr>
                <a:t>CoA</a:t>
              </a:r>
              <a:endParaRPr lang="es-AR" sz="1200" dirty="0">
                <a:latin typeface="Bahnschrift SemiBold Condensed"/>
              </a:endParaRPr>
            </a:p>
          </p:txBody>
        </p:sp>
      </p:grpSp>
      <p:sp>
        <p:nvSpPr>
          <p:cNvPr id="24" name="FADH2 salida"/>
          <p:cNvSpPr/>
          <p:nvPr/>
        </p:nvSpPr>
        <p:spPr>
          <a:xfrm>
            <a:off x="5852160" y="2103120"/>
            <a:ext cx="86868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2" b="1" dirty="0">
                <a:solidFill>
                  <a:srgbClr val="1E1E1E"/>
                </a:solidFill>
                <a:latin typeface="Bahnschrift SemiBold Condensed"/>
                <a:ea typeface="Bahnschrift SemiBold Condensed"/>
                <a:cs typeface="Bahnschrift SemiBold Condensed"/>
                <a:sym typeface="Bahnschrift SemiBold Condensed"/>
              </a:rPr>
              <a:t>FADH</a:t>
            </a:r>
            <a:r>
              <a:rPr lang="es-AR" sz="852" b="1" baseline="-25000" dirty="0">
                <a:solidFill>
                  <a:srgbClr val="1E1E1E"/>
                </a:solidFill>
                <a:latin typeface="Bahnschrift SemiBold Condensed"/>
                <a:ea typeface="Bahnschrift SemiBold Condensed"/>
                <a:cs typeface="Bahnschrift SemiBold Condensed"/>
                <a:sym typeface="Bahnschrift SemiBold Condensed"/>
              </a:rPr>
              <a:t>2</a:t>
            </a:r>
            <a:endParaRPr lang="es-AR" sz="852" dirty="0">
              <a:latin typeface="Bahnschrift SemiBold Condensed"/>
            </a:endParaRPr>
          </a:p>
        </p:txBody>
      </p:sp>
      <p:sp>
        <p:nvSpPr>
          <p:cNvPr id="25" name="NADH salida"/>
          <p:cNvSpPr/>
          <p:nvPr/>
        </p:nvSpPr>
        <p:spPr>
          <a:xfrm>
            <a:off x="274320" y="4572000"/>
            <a:ext cx="73152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972" b="1" dirty="0">
                <a:solidFill>
                  <a:srgbClr val="1E1E1E"/>
                </a:solidFill>
                <a:latin typeface="Bahnschrift SemiBold Condensed"/>
                <a:ea typeface="Bahnschrift SemiBold Condensed"/>
                <a:cs typeface="Bahnschrift SemiBold Condensed"/>
                <a:sym typeface="Bahnschrift SemiBold Condensed"/>
              </a:rPr>
              <a:t>NADH</a:t>
            </a:r>
            <a:endParaRPr lang="es-AR" sz="972" dirty="0">
              <a:latin typeface="Bahnschrift SemiBold Condensed"/>
            </a:endParaRPr>
          </a:p>
        </p:txBody>
      </p:sp>
      <p:sp>
        <p:nvSpPr>
          <p:cNvPr id="26" name="Productos vuelta"/>
          <p:cNvSpPr/>
          <p:nvPr/>
        </p:nvSpPr>
        <p:spPr>
          <a:xfrm>
            <a:off x="2011680" y="5486400"/>
            <a:ext cx="4206240" cy="868680"/>
          </a:xfrm>
          <a:prstGeom prst="roundRect">
            <a:avLst/>
          </a:prstGeom>
          <a:gradFill rotWithShape="1">
            <a:gsLst>
              <a:gs pos="0">
                <a:srgbClr val="F8E28B"/>
              </a:gs>
              <a:gs pos="55000">
                <a:srgbClr val="F4D03F"/>
              </a:gs>
              <a:gs pos="100000">
                <a:srgbClr val="C3A632"/>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Acetil-CoA</a:t>
            </a:r>
            <a:r>
              <a:rPr lang="es-AR" sz="1400" dirty="0">
                <a:solidFill>
                  <a:srgbClr val="1E1E1E"/>
                </a:solidFill>
                <a:latin typeface="Bahnschrift SemiBold Condensed"/>
                <a:ea typeface="Bahnschrift SemiBold Condensed"/>
                <a:cs typeface="Bahnschrift SemiBold Condensed"/>
                <a:sym typeface="Bahnschrift SemiBold Condensed"/>
              </a:rPr>
              <a:t> + acil-CoA (C</a:t>
            </a:r>
            <a:r>
              <a:rPr lang="es-AR" sz="1400" baseline="-25000" dirty="0">
                <a:solidFill>
                  <a:srgbClr val="1E1E1E"/>
                </a:solidFill>
                <a:latin typeface="Bahnschrift SemiBold Condensed"/>
                <a:ea typeface="Bahnschrift SemiBold Condensed"/>
                <a:cs typeface="Bahnschrift SemiBold Condensed"/>
                <a:sym typeface="Bahnschrift SemiBold Condensed"/>
              </a:rPr>
              <a:t>n−2</a:t>
            </a:r>
            <a:r>
              <a:rPr lang="es-AR" sz="1400" dirty="0">
                <a:solidFill>
                  <a:srgbClr val="1E1E1E"/>
                </a:solidFill>
                <a:latin typeface="Bahnschrift SemiBold Condensed"/>
                <a:ea typeface="Bahnschrift SemiBold Condensed"/>
                <a:cs typeface="Bahnschrift SemiBold Condensed"/>
                <a:sym typeface="Bahnschrift SemiBold Condensed"/>
              </a:rPr>
              <a:t>) → nueva vuelta</a:t>
            </a:r>
            <a:endParaRPr lang="es-AR" sz="1400" dirty="0">
              <a:latin typeface="Bahnschrift SemiBold Condensed"/>
            </a:endParaRPr>
          </a:p>
        </p:txBody>
      </p:sp>
      <p:sp>
        <p:nvSpPr>
          <p:cNvPr id="27" name="Flecha 30_2"/>
          <p:cNvSpPr/>
          <p:nvPr/>
        </p:nvSpPr>
        <p:spPr>
          <a:xfrm>
            <a:off x="1280160" y="3291840"/>
            <a:ext cx="1280160" cy="2176272"/>
          </a:xfrm>
          <a:custGeom>
            <a:avLst/>
            <a:gdLst/>
            <a:ahLst/>
            <a:cxnLst/>
            <a:rect l="0" t="0" r="r" b="b"/>
            <a:pathLst>
              <a:path w="1400" h="2380" fill="none">
                <a:moveTo>
                  <a:pt x="0" y="0"/>
                </a:moveTo>
                <a:lnTo>
                  <a:pt x="1400" y="2380"/>
                </a:lnTo>
              </a:path>
            </a:pathLst>
          </a:custGeom>
          <a:noFill/>
          <a:ln w="38100" cap="rnd">
            <a:solidFill>
              <a:srgbClr val="FFC000"/>
            </a:solidFill>
            <a:prstDash val="dash"/>
            <a:round/>
            <a:tailEnd type="triangle" w="med" len="med"/>
          </a:ln>
        </p:spPr>
      </p:sp>
      <p:grpSp>
        <p:nvGrpSpPr>
          <p:cNvPr id="28" name="Recuadro Balance por vuelta"/>
          <p:cNvGrpSpPr/>
          <p:nvPr/>
        </p:nvGrpSpPr>
        <p:grpSpPr>
          <a:xfrm>
            <a:off x="6949440" y="1005840"/>
            <a:ext cx="4846320" cy="2651760"/>
            <a:chOff x="6949440" y="1005840"/>
            <a:chExt cx="4846320" cy="2651760"/>
          </a:xfrm>
        </p:grpSpPr>
        <p:sp>
          <p:nvSpPr>
            <p:cNvPr id="29" name="Forma 33"/>
            <p:cNvSpPr/>
            <p:nvPr/>
          </p:nvSpPr>
          <p:spPr>
            <a:xfrm>
              <a:off x="6949440" y="1188720"/>
              <a:ext cx="4846320" cy="24688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Cada vuelta </a:t>
              </a:r>
              <a:r>
                <a:rPr lang="es-AR" sz="1650" b="1" dirty="0">
                  <a:solidFill>
                    <a:srgbClr val="1E1E1E"/>
                  </a:solidFill>
                  <a:latin typeface="Bahnschrift"/>
                  <a:ea typeface="Bahnschrift"/>
                  <a:cs typeface="Bahnschrift"/>
                  <a:sym typeface="Bahnschrift"/>
                </a:rPr>
                <a:t>acorta 2 C</a:t>
              </a:r>
              <a:r>
                <a:rPr lang="es-AR" sz="1650" dirty="0">
                  <a:solidFill>
                    <a:srgbClr val="1E1E1E"/>
                  </a:solidFill>
                  <a:latin typeface="Bahnschrift"/>
                  <a:ea typeface="Bahnschrift"/>
                  <a:cs typeface="Bahnschrift"/>
                  <a:sym typeface="Bahnschrift"/>
                </a:rPr>
                <a:t> y genera </a:t>
              </a:r>
              <a:r>
                <a:rPr lang="es-AR" sz="1650" b="1" dirty="0">
                  <a:solidFill>
                    <a:srgbClr val="1E1E1E"/>
                  </a:solidFill>
                  <a:latin typeface="Bahnschrift"/>
                  <a:ea typeface="Bahnschrift"/>
                  <a:cs typeface="Bahnschrift"/>
                  <a:sym typeface="Bahnschrift"/>
                </a:rPr>
                <a:t>1 FADH</a:t>
              </a:r>
              <a:r>
                <a:rPr lang="es-AR" sz="1650" b="1" baseline="-25000" dirty="0">
                  <a:solidFill>
                    <a:srgbClr val="1E1E1E"/>
                  </a:solidFill>
                  <a:latin typeface="Bahnschrift"/>
                  <a:ea typeface="Bahnschrift"/>
                  <a:cs typeface="Bahnschrift"/>
                  <a:sym typeface="Bahnschrift"/>
                </a:rPr>
                <a:t>2</a:t>
              </a:r>
              <a:r>
                <a:rPr lang="es-AR" sz="1650" b="1" dirty="0">
                  <a:solidFill>
                    <a:srgbClr val="1E1E1E"/>
                  </a:solidFill>
                  <a:latin typeface="Bahnschrift"/>
                  <a:ea typeface="Bahnschrift"/>
                  <a:cs typeface="Bahnschrift"/>
                  <a:sym typeface="Bahnschrift"/>
                </a:rPr>
                <a:t> + 1 NADH + 1 acetil-CoA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FADH</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cede electrones a </a:t>
              </a:r>
              <a:r>
                <a:rPr lang="es-AR" sz="1650" b="1" dirty="0">
                  <a:solidFill>
                    <a:srgbClr val="1E1E1E"/>
                  </a:solidFill>
                  <a:latin typeface="Bahnschrift"/>
                  <a:ea typeface="Bahnschrift"/>
                  <a:cs typeface="Bahnschrift"/>
                  <a:sym typeface="Bahnschrift"/>
                </a:rPr>
                <a:t>ETF/ETF-QO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acetil-CoA va al </a:t>
              </a:r>
              <a:r>
                <a:rPr lang="es-AR" sz="1650" b="1" dirty="0">
                  <a:solidFill>
                    <a:srgbClr val="1E1E1E"/>
                  </a:solidFill>
                  <a:latin typeface="Bahnschrift"/>
                  <a:ea typeface="Bahnschrift"/>
                  <a:cs typeface="Bahnschrift"/>
                  <a:sym typeface="Bahnschrift"/>
                </a:rPr>
                <a:t>ciclo de Krebs</a:t>
              </a:r>
              <a:r>
                <a:rPr lang="es-AR" sz="1650" dirty="0">
                  <a:solidFill>
                    <a:srgbClr val="1E1E1E"/>
                  </a:solidFill>
                  <a:latin typeface="Bahnschrift"/>
                  <a:ea typeface="Bahnschrift"/>
                  <a:cs typeface="Bahnschrift"/>
                  <a:sym typeface="Bahnschrift"/>
                </a:rPr>
                <a:t> o, en el hígado, a la </a:t>
              </a:r>
              <a:r>
                <a:rPr lang="es-AR" sz="1650" b="1" dirty="0">
                  <a:solidFill>
                    <a:srgbClr val="1E1E1E"/>
                  </a:solidFill>
                  <a:latin typeface="Bahnschrift"/>
                  <a:ea typeface="Bahnschrift"/>
                  <a:cs typeface="Bahnschrift"/>
                  <a:sym typeface="Bahnschrift"/>
                </a:rPr>
                <a:t>cetogénesis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0" name="Forma 34"/>
            <p:cNvSpPr/>
            <p:nvPr/>
          </p:nvSpPr>
          <p:spPr>
            <a:xfrm>
              <a:off x="7059168" y="1005840"/>
              <a:ext cx="193725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BALANCE POR VUELTA</a:t>
              </a:r>
              <a:endParaRPr lang="es-AR" sz="1500" dirty="0">
                <a:latin typeface="Bahnschrift SemiBold Condensed"/>
              </a:endParaRPr>
            </a:p>
          </p:txBody>
        </p:sp>
      </p:grpSp>
      <p:grpSp>
        <p:nvGrpSpPr>
          <p:cNvPr id="31" name="Recuadro Control"/>
          <p:cNvGrpSpPr/>
          <p:nvPr/>
        </p:nvGrpSpPr>
        <p:grpSpPr>
          <a:xfrm>
            <a:off x="6949440" y="3840480"/>
            <a:ext cx="4846320" cy="2651760"/>
            <a:chOff x="6949440" y="3840480"/>
            <a:chExt cx="4846320" cy="2651760"/>
          </a:xfrm>
        </p:grpSpPr>
        <p:sp>
          <p:nvSpPr>
            <p:cNvPr id="32" name="Forma 36"/>
            <p:cNvSpPr/>
            <p:nvPr/>
          </p:nvSpPr>
          <p:spPr>
            <a:xfrm>
              <a:off x="6949440" y="4023360"/>
              <a:ext cx="4846320" cy="24688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Regulación: disponibilidad de AG, </a:t>
              </a:r>
              <a:r>
                <a:rPr lang="es-AR" sz="1650" b="1" dirty="0">
                  <a:solidFill>
                    <a:srgbClr val="1E1E1E"/>
                  </a:solidFill>
                  <a:latin typeface="Bahnschrift"/>
                  <a:ea typeface="Bahnschrift"/>
                  <a:cs typeface="Bahnschrift"/>
                  <a:sym typeface="Bahnschrift"/>
                </a:rPr>
                <a:t>malonil-CoA/CPT1</a:t>
              </a:r>
              <a:r>
                <a:rPr lang="es-AR" sz="1650" dirty="0">
                  <a:solidFill>
                    <a:srgbClr val="1E1E1E"/>
                  </a:solidFill>
                  <a:latin typeface="Bahnschrift"/>
                  <a:ea typeface="Bahnschrift"/>
                  <a:cs typeface="Bahnschrift"/>
                  <a:sym typeface="Bahnschrift"/>
                </a:rPr>
                <a:t>, relaciones </a:t>
              </a:r>
              <a:r>
                <a:rPr lang="es-AR" sz="1650" b="1" dirty="0">
                  <a:solidFill>
                    <a:srgbClr val="1E1E1E"/>
                  </a:solidFill>
                  <a:latin typeface="Bahnschrift"/>
                  <a:ea typeface="Bahnschrift"/>
                  <a:cs typeface="Bahnschrift"/>
                  <a:sym typeface="Bahnschrift"/>
                </a:rPr>
                <a:t>NADH/NAD</a:t>
              </a:r>
              <a:r>
                <a:rPr lang="es-AR" sz="1650" b="1"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acetil-CoA/CoA</a:t>
              </a:r>
              <a:r>
                <a:rPr lang="es-AR" sz="1650" dirty="0">
                  <a:solidFill>
                    <a:srgbClr val="1E1E1E"/>
                  </a:solidFill>
                  <a:latin typeface="Bahnschrift"/>
                  <a:ea typeface="Bahnschrift"/>
                  <a:cs typeface="Bahnschrift"/>
                  <a:sym typeface="Bahnschrift"/>
                </a:rPr>
                <a:t>, ADP (demanda respiratoria), </a:t>
              </a:r>
              <a:r>
                <a:rPr lang="es-AR" sz="1650" b="1" dirty="0">
                  <a:solidFill>
                    <a:srgbClr val="1E1E1E"/>
                  </a:solidFill>
                  <a:latin typeface="Bahnschrift"/>
                  <a:ea typeface="Bahnschrift"/>
                  <a:cs typeface="Bahnschrift"/>
                  <a:sym typeface="Bahnschrift"/>
                </a:rPr>
                <a:t>AMPK/PPARα</a:t>
              </a:r>
              <a:r>
                <a:rPr lang="es-AR" sz="1650" dirty="0">
                  <a:solidFill>
                    <a:srgbClr val="1E1E1E"/>
                  </a:solidFill>
                  <a:latin typeface="Bahnschrift"/>
                  <a:ea typeface="Bahnschrift"/>
                  <a:cs typeface="Bahnschrift"/>
                  <a:sym typeface="Bahnschrift"/>
                </a:rPr>
                <a:t> y oferta de </a:t>
              </a:r>
              <a:r>
                <a:rPr lang="es-AR" sz="1650" b="1" dirty="0">
                  <a:solidFill>
                    <a:srgbClr val="1E1E1E"/>
                  </a:solidFill>
                  <a:latin typeface="Bahnschrift"/>
                  <a:ea typeface="Bahnschrift"/>
                  <a:cs typeface="Bahnschrift"/>
                  <a:sym typeface="Bahnschrift"/>
                </a:rPr>
                <a:t>O</a:t>
              </a:r>
              <a:r>
                <a:rPr lang="es-AR" sz="1650" b="1"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3" name="Forma 37"/>
            <p:cNvSpPr/>
            <p:nvPr/>
          </p:nvSpPr>
          <p:spPr>
            <a:xfrm>
              <a:off x="7059168" y="3840480"/>
              <a:ext cx="101262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CONTROL</a:t>
              </a:r>
              <a:endParaRPr lang="es-AR" sz="15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9616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15 · β-OXIDACIÓN: CUATRO REACCIONES POR VUELTA</a:t>
            </a:r>
            <a:endParaRPr lang="es-AR" sz="26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22"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600"/>
                                        <p:tgtEl>
                                          <p:spTgt spid="8"/>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21" fill="hold">
                            <p:stCondLst>
                              <p:cond delay="1100"/>
                            </p:stCondLst>
                            <p:childTnLst>
                              <p:par>
                                <p:cTn id="16" presetID="53" presetClass="entr" presetSubtype="16" fill="hold" grpId="0" nodeType="after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p:cTn id="18" dur="500" fill="hold"/>
                                        <p:tgtEl>
                                          <p:spTgt spid="24"/>
                                        </p:tgtEl>
                                        <p:attrNameLst>
                                          <p:attrName>ppt_w</p:attrName>
                                        </p:attrNameLst>
                                      </p:cBhvr>
                                      <p:tavLst>
                                        <p:tav tm="0">
                                          <p:val>
                                            <p:fltVal val="0"/>
                                          </p:val>
                                        </p:tav>
                                        <p:tav tm="100000">
                                          <p:val>
                                            <p:strVal val="#ppt_w"/>
                                          </p:val>
                                        </p:tav>
                                      </p:tavLst>
                                    </p:anim>
                                    <p:anim calcmode="lin" valueType="num">
                                      <p:cBhvr>
                                        <p:cTn id="19" dur="500" fill="hold"/>
                                        <p:tgtEl>
                                          <p:spTgt spid="24"/>
                                        </p:tgtEl>
                                        <p:attrNameLst>
                                          <p:attrName>ppt_h</p:attrName>
                                        </p:attrNameLst>
                                      </p:cBhvr>
                                      <p:tavLst>
                                        <p:tav tm="0">
                                          <p:val>
                                            <p:fltVal val="0"/>
                                          </p:val>
                                        </p:tav>
                                        <p:tav tm="100000">
                                          <p:val>
                                            <p:strVal val="#ppt_h"/>
                                          </p:val>
                                        </p:tav>
                                      </p:tavLst>
                                    </p:anim>
                                    <p:animEffect transition="in" filter="fade">
                                      <p:cBhvr>
                                        <p:cTn id="20" dur="500"/>
                                        <p:tgtEl>
                                          <p:spTgt spid="24"/>
                                        </p:tgtEl>
                                      </p:cBhvr>
                                    </p:animEffect>
                                  </p:childTnLst>
                                </p:cTn>
                              </p:par>
                            </p:childTnLst>
                          </p:cTn>
                        </p:par>
                      </p:childTnLst>
                    </p:cTn>
                  </p:par>
                  <p:par>
                    <p:cTn id="31" fill="hold">
                      <p:stCondLst>
                        <p:cond delay="indefinite"/>
                      </p:stCondLst>
                      <p:childTnLst>
                        <p:par>
                          <p:cTn id="26"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600"/>
                                        <p:tgtEl>
                                          <p:spTgt spid="12"/>
                                        </p:tgtEl>
                                      </p:cBhvr>
                                    </p:animEffect>
                                  </p:childTnLst>
                                </p:cTn>
                              </p:par>
                            </p:childTnLst>
                          </p:cTn>
                        </p:par>
                        <p:par>
                          <p:cTn id="30" fill="hold">
                            <p:stCondLst>
                              <p:cond delay="600"/>
                            </p:stCondLst>
                            <p:childTnLst>
                              <p:par>
                                <p:cTn id="27" presetID="10" presetClass="entr" presetSubtype="0" fill="hold" grpId="0" nodeType="after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500"/>
                                        <p:tgtEl>
                                          <p:spTgt spid="6"/>
                                        </p:tgtEl>
                                      </p:cBhvr>
                                    </p:animEffect>
                                  </p:childTnLst>
                                </p:cTn>
                              </p:par>
                            </p:childTnLst>
                          </p:cTn>
                        </p:par>
                      </p:childTnLst>
                    </p:cTn>
                  </p:par>
                  <p:par>
                    <p:cTn id="46" fill="hold">
                      <p:stCondLst>
                        <p:cond delay="indefinite"/>
                      </p:stCondLst>
                      <p:childTnLst>
                        <p:par>
                          <p:cTn id="35"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wipe(left)">
                                      <p:cBhvr>
                                        <p:cTn id="34" dur="600"/>
                                        <p:tgtEl>
                                          <p:spTgt spid="16"/>
                                        </p:tgtEl>
                                      </p:cBhvr>
                                    </p:animEffect>
                                  </p:childTnLst>
                                </p:cTn>
                              </p:par>
                            </p:childTnLst>
                          </p:cTn>
                        </p:par>
                        <p:par>
                          <p:cTn id="39" fill="hold">
                            <p:stCondLst>
                              <p:cond delay="600"/>
                            </p:stCondLst>
                            <p:childTnLst>
                              <p:par>
                                <p:cTn id="36" presetID="10" presetClass="entr" presetSubtype="0" fill="hold" grpId="0"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par>
                          <p:cTn id="45" fill="hold">
                            <p:stCondLst>
                              <p:cond delay="1100"/>
                            </p:stCondLst>
                            <p:childTnLst>
                              <p:par>
                                <p:cTn id="40" presetID="53" presetClass="entr" presetSubtype="16" fill="hold" grpId="0" nodeType="after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p:cTn id="42" dur="500" fill="hold"/>
                                        <p:tgtEl>
                                          <p:spTgt spid="25"/>
                                        </p:tgtEl>
                                        <p:attrNameLst>
                                          <p:attrName>ppt_w</p:attrName>
                                        </p:attrNameLst>
                                      </p:cBhvr>
                                      <p:tavLst>
                                        <p:tav tm="0">
                                          <p:val>
                                            <p:fltVal val="0"/>
                                          </p:val>
                                        </p:tav>
                                        <p:tav tm="100000">
                                          <p:val>
                                            <p:strVal val="#ppt_w"/>
                                          </p:val>
                                        </p:tav>
                                      </p:tavLst>
                                    </p:anim>
                                    <p:anim calcmode="lin" valueType="num">
                                      <p:cBhvr>
                                        <p:cTn id="43" dur="500" fill="hold"/>
                                        <p:tgtEl>
                                          <p:spTgt spid="25"/>
                                        </p:tgtEl>
                                        <p:attrNameLst>
                                          <p:attrName>ppt_h</p:attrName>
                                        </p:attrNameLst>
                                      </p:cBhvr>
                                      <p:tavLst>
                                        <p:tav tm="0">
                                          <p:val>
                                            <p:fltVal val="0"/>
                                          </p:val>
                                        </p:tav>
                                        <p:tav tm="100000">
                                          <p:val>
                                            <p:strVal val="#ppt_h"/>
                                          </p:val>
                                        </p:tav>
                                      </p:tavLst>
                                    </p:anim>
                                    <p:animEffect transition="in" filter="fade">
                                      <p:cBhvr>
                                        <p:cTn id="44" dur="500"/>
                                        <p:tgtEl>
                                          <p:spTgt spid="25"/>
                                        </p:tgtEl>
                                      </p:cBhvr>
                                    </p:animEffect>
                                  </p:childTnLst>
                                </p:cTn>
                              </p:par>
                            </p:childTnLst>
                          </p:cTn>
                        </p:par>
                      </p:childTnLst>
                    </p:cTn>
                  </p:par>
                  <p:par>
                    <p:cTn id="58" fill="hold">
                      <p:stCondLst>
                        <p:cond delay="indefinite"/>
                      </p:stCondLst>
                      <p:childTnLst>
                        <p:par>
                          <p:cTn id="53"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wipe(left)">
                                      <p:cBhvr>
                                        <p:cTn id="49" dur="600"/>
                                        <p:tgtEl>
                                          <p:spTgt spid="20"/>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up)">
                                      <p:cBhvr>
                                        <p:cTn id="52" dur="600"/>
                                        <p:tgtEl>
                                          <p:spTgt spid="27"/>
                                        </p:tgtEl>
                                      </p:cBhvr>
                                    </p:animEffect>
                                  </p:childTnLst>
                                </p:cTn>
                              </p:par>
                            </p:childTnLst>
                          </p:cTn>
                        </p:par>
                        <p:par>
                          <p:cTn id="57" fill="hold">
                            <p:stCondLst>
                              <p:cond delay="600"/>
                            </p:stCondLst>
                            <p:childTnLst>
                              <p:par>
                                <p:cTn id="54" presetID="10" presetClass="entr" presetSubtype="0"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childTnLst>
                    </p:cTn>
                  </p:par>
                  <p:par>
                    <p:cTn id="63" fill="hold">
                      <p:stCondLst>
                        <p:cond delay="indefinite"/>
                      </p:stCondLst>
                      <p:childTnLst>
                        <p:par>
                          <p:cTn id="62"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childTnLst>
                    </p:cTn>
                  </p:par>
                  <p:par>
                    <p:cTn id="68" fill="hold">
                      <p:stCondLst>
                        <p:cond delay="indefinite"/>
                      </p:stCondLst>
                      <p:childTnLst>
                        <p:par>
                          <p:cTn id="67"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1"/>
                                        </p:tgtEl>
                                        <p:attrNameLst>
                                          <p:attrName>style.visibility</p:attrName>
                                        </p:attrNameLst>
                                      </p:cBhvr>
                                      <p:to>
                                        <p:strVal val="visible"/>
                                      </p:to>
                                    </p:set>
                                    <p:animEffect transition="in" filter="fade">
                                      <p:cBhvr>
                                        <p:cTn id="6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24" grpId="0" animBg="1"/>
      <p:bldP spid="6" grpId="0" animBg="1"/>
      <p:bldP spid="7" grpId="0" animBg="1"/>
      <p:bldP spid="25" grpId="0" animBg="1"/>
      <p:bldP spid="27" grpId="0" animBg="1"/>
      <p:bldP spid="26" grpId="0" animBg="1"/>
    </p:bldLst>
  </p:timing>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Espacio intermembrana"/>
          <p:cNvSpPr/>
          <p:nvPr/>
        </p:nvSpPr>
        <p:spPr>
          <a:xfrm>
            <a:off x="274320" y="960120"/>
            <a:ext cx="11521440" cy="1280160"/>
          </a:xfrm>
          <a:prstGeom prst="rect">
            <a:avLst/>
          </a:prstGeom>
          <a:solidFill>
            <a:srgbClr val="F5B7B1">
              <a:alpha val="45000"/>
            </a:srgbClr>
          </a:solidFill>
          <a:ln>
            <a:noFill/>
          </a:ln>
        </p:spPr>
      </p:sp>
      <p:sp>
        <p:nvSpPr>
          <p:cNvPr id="5" name="Forma 4"/>
          <p:cNvSpPr txBox="1"/>
          <p:nvPr/>
        </p:nvSpPr>
        <p:spPr>
          <a:xfrm>
            <a:off x="365760" y="987552"/>
            <a:ext cx="365760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922B21"/>
                </a:solidFill>
                <a:latin typeface="Bahnschrift SemiBold Condensed"/>
                <a:ea typeface="Bahnschrift SemiBold Condensed"/>
                <a:cs typeface="Bahnschrift SemiBold Condensed"/>
                <a:sym typeface="Bahnschrift SemiBold Condensed"/>
              </a:rPr>
              <a:t>ESPACIO INTERMEMBRANA (H</a:t>
            </a:r>
            <a:r>
              <a:rPr lang="es-AR" sz="1250" b="1" baseline="30000" dirty="0">
                <a:solidFill>
                  <a:srgbClr val="922B21"/>
                </a:solidFill>
                <a:latin typeface="Bahnschrift SemiBold Condensed"/>
                <a:ea typeface="Bahnschrift SemiBold Condensed"/>
                <a:cs typeface="Bahnschrift SemiBold Condensed"/>
                <a:sym typeface="Bahnschrift SemiBold Condensed"/>
              </a:rPr>
              <a:t>+</a:t>
            </a:r>
            <a:r>
              <a:rPr lang="es-AR" sz="1250" b="1" dirty="0">
                <a:solidFill>
                  <a:srgbClr val="922B21"/>
                </a:solidFill>
                <a:latin typeface="Bahnschrift SemiBold Condensed"/>
                <a:ea typeface="Bahnschrift SemiBold Condensed"/>
                <a:cs typeface="Bahnschrift SemiBold Condensed"/>
                <a:sym typeface="Bahnschrift SemiBold Condensed"/>
              </a:rPr>
              <a:t> alto)</a:t>
            </a:r>
            <a:endParaRPr lang="es-AR" sz="1250" dirty="0">
              <a:latin typeface="Bahnschrift SemiBold Condensed"/>
            </a:endParaRPr>
          </a:p>
        </p:txBody>
      </p:sp>
      <p:grpSp>
        <p:nvGrpSpPr>
          <p:cNvPr id="6" name="Membrana interna"/>
          <p:cNvGrpSpPr/>
          <p:nvPr/>
        </p:nvGrpSpPr>
        <p:grpSpPr>
          <a:xfrm>
            <a:off x="274320" y="2286000"/>
            <a:ext cx="11521440" cy="548640"/>
            <a:chOff x="274320" y="2286000"/>
            <a:chExt cx="11521440" cy="548640"/>
          </a:xfrm>
        </p:grpSpPr>
        <p:sp>
          <p:nvSpPr>
            <p:cNvPr id="7" name="Forma 6"/>
            <p:cNvSpPr/>
            <p:nvPr/>
          </p:nvSpPr>
          <p:spPr>
            <a:xfrm>
              <a:off x="274320" y="2384755"/>
              <a:ext cx="11521440" cy="351130"/>
            </a:xfrm>
            <a:prstGeom prst="rect">
              <a:avLst/>
            </a:prstGeom>
            <a:solidFill>
              <a:srgbClr val="FDEBD0"/>
            </a:solidFill>
            <a:ln>
              <a:noFill/>
            </a:ln>
          </p:spPr>
        </p:sp>
        <p:sp>
          <p:nvSpPr>
            <p:cNvPr id="8" name="Forma 7"/>
            <p:cNvSpPr/>
            <p:nvPr/>
          </p:nvSpPr>
          <p:spPr>
            <a:xfrm>
              <a:off x="274320" y="2286000"/>
              <a:ext cx="11521440" cy="548640"/>
            </a:xfrm>
            <a:custGeom>
              <a:avLst/>
              <a:gdLst/>
              <a:ahLst/>
              <a:cxnLst/>
              <a:rect l="0" t="0" r="r" b="b"/>
              <a:pathLst>
                <a:path w="12600" h="60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8" y="47"/>
                  </a:moveTo>
                  <a:cubicBezTo>
                    <a:pt x="198" y="72"/>
                    <a:pt x="176" y="94"/>
                    <a:pt x="151" y="94"/>
                  </a:cubicBezTo>
                  <a:cubicBezTo>
                    <a:pt x="125" y="94"/>
                    <a:pt x="104" y="72"/>
                    <a:pt x="104" y="47"/>
                  </a:cubicBezTo>
                  <a:cubicBezTo>
                    <a:pt x="104" y="21"/>
                    <a:pt x="125" y="0"/>
                    <a:pt x="151" y="0"/>
                  </a:cubicBezTo>
                  <a:cubicBezTo>
                    <a:pt x="176" y="0"/>
                    <a:pt x="198" y="21"/>
                    <a:pt x="198" y="47"/>
                  </a:cubicBezTo>
                  <a:close/>
                  <a:moveTo>
                    <a:pt x="299" y="47"/>
                  </a:moveTo>
                  <a:cubicBezTo>
                    <a:pt x="299" y="72"/>
                    <a:pt x="277" y="94"/>
                    <a:pt x="252" y="94"/>
                  </a:cubicBezTo>
                  <a:cubicBezTo>
                    <a:pt x="226" y="94"/>
                    <a:pt x="205" y="72"/>
                    <a:pt x="205" y="47"/>
                  </a:cubicBezTo>
                  <a:cubicBezTo>
                    <a:pt x="205" y="21"/>
                    <a:pt x="226" y="0"/>
                    <a:pt x="252" y="0"/>
                  </a:cubicBezTo>
                  <a:cubicBezTo>
                    <a:pt x="277" y="0"/>
                    <a:pt x="299" y="21"/>
                    <a:pt x="299" y="47"/>
                  </a:cubicBezTo>
                  <a:close/>
                  <a:moveTo>
                    <a:pt x="399" y="47"/>
                  </a:moveTo>
                  <a:cubicBezTo>
                    <a:pt x="399" y="72"/>
                    <a:pt x="377" y="94"/>
                    <a:pt x="352" y="94"/>
                  </a:cubicBezTo>
                  <a:cubicBezTo>
                    <a:pt x="326" y="94"/>
                    <a:pt x="305" y="72"/>
                    <a:pt x="305" y="47"/>
                  </a:cubicBezTo>
                  <a:cubicBezTo>
                    <a:pt x="305" y="21"/>
                    <a:pt x="326" y="0"/>
                    <a:pt x="352" y="0"/>
                  </a:cubicBezTo>
                  <a:cubicBezTo>
                    <a:pt x="377" y="0"/>
                    <a:pt x="399" y="21"/>
                    <a:pt x="399" y="47"/>
                  </a:cubicBezTo>
                  <a:close/>
                  <a:moveTo>
                    <a:pt x="500" y="47"/>
                  </a:moveTo>
                  <a:cubicBezTo>
                    <a:pt x="500" y="72"/>
                    <a:pt x="478" y="94"/>
                    <a:pt x="453" y="94"/>
                  </a:cubicBezTo>
                  <a:cubicBezTo>
                    <a:pt x="427" y="94"/>
                    <a:pt x="406" y="72"/>
                    <a:pt x="406" y="47"/>
                  </a:cubicBezTo>
                  <a:cubicBezTo>
                    <a:pt x="406" y="21"/>
                    <a:pt x="427" y="0"/>
                    <a:pt x="453" y="0"/>
                  </a:cubicBezTo>
                  <a:cubicBezTo>
                    <a:pt x="478" y="0"/>
                    <a:pt x="500" y="21"/>
                    <a:pt x="500" y="47"/>
                  </a:cubicBezTo>
                  <a:close/>
                  <a:moveTo>
                    <a:pt x="601" y="47"/>
                  </a:moveTo>
                  <a:cubicBezTo>
                    <a:pt x="601" y="72"/>
                    <a:pt x="579" y="94"/>
                    <a:pt x="554" y="94"/>
                  </a:cubicBezTo>
                  <a:cubicBezTo>
                    <a:pt x="528" y="94"/>
                    <a:pt x="507" y="72"/>
                    <a:pt x="507" y="47"/>
                  </a:cubicBezTo>
                  <a:cubicBezTo>
                    <a:pt x="507" y="21"/>
                    <a:pt x="528" y="0"/>
                    <a:pt x="554" y="0"/>
                  </a:cubicBezTo>
                  <a:cubicBezTo>
                    <a:pt x="579" y="0"/>
                    <a:pt x="601" y="21"/>
                    <a:pt x="601" y="47"/>
                  </a:cubicBezTo>
                  <a:close/>
                  <a:moveTo>
                    <a:pt x="702" y="47"/>
                  </a:moveTo>
                  <a:cubicBezTo>
                    <a:pt x="702" y="72"/>
                    <a:pt x="680" y="94"/>
                    <a:pt x="655" y="94"/>
                  </a:cubicBezTo>
                  <a:cubicBezTo>
                    <a:pt x="629" y="94"/>
                    <a:pt x="608" y="72"/>
                    <a:pt x="608" y="47"/>
                  </a:cubicBezTo>
                  <a:cubicBezTo>
                    <a:pt x="608" y="21"/>
                    <a:pt x="629" y="0"/>
                    <a:pt x="655" y="0"/>
                  </a:cubicBezTo>
                  <a:cubicBezTo>
                    <a:pt x="680" y="0"/>
                    <a:pt x="702" y="21"/>
                    <a:pt x="702" y="47"/>
                  </a:cubicBezTo>
                  <a:close/>
                  <a:moveTo>
                    <a:pt x="803" y="47"/>
                  </a:moveTo>
                  <a:cubicBezTo>
                    <a:pt x="803" y="72"/>
                    <a:pt x="781" y="94"/>
                    <a:pt x="756" y="94"/>
                  </a:cubicBezTo>
                  <a:cubicBezTo>
                    <a:pt x="730" y="94"/>
                    <a:pt x="709" y="72"/>
                    <a:pt x="709" y="47"/>
                  </a:cubicBezTo>
                  <a:cubicBezTo>
                    <a:pt x="709" y="21"/>
                    <a:pt x="730" y="0"/>
                    <a:pt x="756" y="0"/>
                  </a:cubicBezTo>
                  <a:cubicBezTo>
                    <a:pt x="781" y="0"/>
                    <a:pt x="803" y="21"/>
                    <a:pt x="803" y="47"/>
                  </a:cubicBezTo>
                  <a:close/>
                  <a:moveTo>
                    <a:pt x="903" y="47"/>
                  </a:moveTo>
                  <a:cubicBezTo>
                    <a:pt x="903" y="72"/>
                    <a:pt x="881" y="94"/>
                    <a:pt x="856" y="94"/>
                  </a:cubicBezTo>
                  <a:cubicBezTo>
                    <a:pt x="830" y="94"/>
                    <a:pt x="809" y="72"/>
                    <a:pt x="809" y="47"/>
                  </a:cubicBezTo>
                  <a:cubicBezTo>
                    <a:pt x="809" y="21"/>
                    <a:pt x="830" y="0"/>
                    <a:pt x="856" y="0"/>
                  </a:cubicBezTo>
                  <a:cubicBezTo>
                    <a:pt x="881" y="0"/>
                    <a:pt x="903" y="21"/>
                    <a:pt x="903" y="47"/>
                  </a:cubicBezTo>
                  <a:close/>
                  <a:moveTo>
                    <a:pt x="1004" y="47"/>
                  </a:moveTo>
                  <a:cubicBezTo>
                    <a:pt x="1004" y="72"/>
                    <a:pt x="982" y="94"/>
                    <a:pt x="957" y="94"/>
                  </a:cubicBezTo>
                  <a:cubicBezTo>
                    <a:pt x="931" y="94"/>
                    <a:pt x="910" y="72"/>
                    <a:pt x="910" y="47"/>
                  </a:cubicBezTo>
                  <a:cubicBezTo>
                    <a:pt x="910" y="21"/>
                    <a:pt x="931" y="0"/>
                    <a:pt x="957" y="0"/>
                  </a:cubicBezTo>
                  <a:cubicBezTo>
                    <a:pt x="982" y="0"/>
                    <a:pt x="1004" y="21"/>
                    <a:pt x="1004" y="47"/>
                  </a:cubicBezTo>
                  <a:close/>
                  <a:moveTo>
                    <a:pt x="1105" y="47"/>
                  </a:moveTo>
                  <a:cubicBezTo>
                    <a:pt x="1105" y="72"/>
                    <a:pt x="1083" y="94"/>
                    <a:pt x="1058" y="94"/>
                  </a:cubicBezTo>
                  <a:cubicBezTo>
                    <a:pt x="1032" y="94"/>
                    <a:pt x="1011" y="72"/>
                    <a:pt x="1011" y="47"/>
                  </a:cubicBezTo>
                  <a:cubicBezTo>
                    <a:pt x="1011" y="21"/>
                    <a:pt x="1032" y="0"/>
                    <a:pt x="1058" y="0"/>
                  </a:cubicBezTo>
                  <a:cubicBezTo>
                    <a:pt x="1083" y="0"/>
                    <a:pt x="1105" y="21"/>
                    <a:pt x="1105" y="47"/>
                  </a:cubicBezTo>
                  <a:close/>
                  <a:moveTo>
                    <a:pt x="1206" y="47"/>
                  </a:moveTo>
                  <a:cubicBezTo>
                    <a:pt x="1206" y="72"/>
                    <a:pt x="1184" y="94"/>
                    <a:pt x="1159" y="94"/>
                  </a:cubicBezTo>
                  <a:cubicBezTo>
                    <a:pt x="1133" y="94"/>
                    <a:pt x="1112" y="72"/>
                    <a:pt x="1112" y="47"/>
                  </a:cubicBezTo>
                  <a:cubicBezTo>
                    <a:pt x="1112" y="21"/>
                    <a:pt x="1133" y="0"/>
                    <a:pt x="1159" y="0"/>
                  </a:cubicBezTo>
                  <a:cubicBezTo>
                    <a:pt x="1184" y="0"/>
                    <a:pt x="1206" y="21"/>
                    <a:pt x="1206" y="47"/>
                  </a:cubicBezTo>
                  <a:close/>
                  <a:moveTo>
                    <a:pt x="1307" y="47"/>
                  </a:moveTo>
                  <a:cubicBezTo>
                    <a:pt x="1307" y="72"/>
                    <a:pt x="1285" y="94"/>
                    <a:pt x="1260" y="94"/>
                  </a:cubicBezTo>
                  <a:cubicBezTo>
                    <a:pt x="1234" y="94"/>
                    <a:pt x="1213" y="72"/>
                    <a:pt x="1213" y="47"/>
                  </a:cubicBezTo>
                  <a:cubicBezTo>
                    <a:pt x="1213" y="21"/>
                    <a:pt x="1234" y="0"/>
                    <a:pt x="1260" y="0"/>
                  </a:cubicBezTo>
                  <a:cubicBezTo>
                    <a:pt x="1285" y="0"/>
                    <a:pt x="1307" y="21"/>
                    <a:pt x="1307" y="47"/>
                  </a:cubicBezTo>
                  <a:close/>
                  <a:moveTo>
                    <a:pt x="1407" y="47"/>
                  </a:moveTo>
                  <a:cubicBezTo>
                    <a:pt x="1407" y="72"/>
                    <a:pt x="1385" y="94"/>
                    <a:pt x="1360" y="94"/>
                  </a:cubicBezTo>
                  <a:cubicBezTo>
                    <a:pt x="1334" y="94"/>
                    <a:pt x="1313" y="72"/>
                    <a:pt x="1313" y="47"/>
                  </a:cubicBezTo>
                  <a:cubicBezTo>
                    <a:pt x="1313" y="21"/>
                    <a:pt x="1334" y="0"/>
                    <a:pt x="1360" y="0"/>
                  </a:cubicBezTo>
                  <a:cubicBezTo>
                    <a:pt x="1385" y="0"/>
                    <a:pt x="1407" y="21"/>
                    <a:pt x="1407" y="47"/>
                  </a:cubicBezTo>
                  <a:close/>
                  <a:moveTo>
                    <a:pt x="1508" y="47"/>
                  </a:moveTo>
                  <a:cubicBezTo>
                    <a:pt x="1508" y="72"/>
                    <a:pt x="1486" y="94"/>
                    <a:pt x="1461" y="94"/>
                  </a:cubicBezTo>
                  <a:cubicBezTo>
                    <a:pt x="1435" y="94"/>
                    <a:pt x="1414" y="72"/>
                    <a:pt x="1414" y="47"/>
                  </a:cubicBezTo>
                  <a:cubicBezTo>
                    <a:pt x="1414" y="21"/>
                    <a:pt x="1435" y="0"/>
                    <a:pt x="1461" y="0"/>
                  </a:cubicBezTo>
                  <a:cubicBezTo>
                    <a:pt x="1486" y="0"/>
                    <a:pt x="1508" y="21"/>
                    <a:pt x="1508" y="47"/>
                  </a:cubicBezTo>
                  <a:close/>
                  <a:moveTo>
                    <a:pt x="1609" y="47"/>
                  </a:moveTo>
                  <a:cubicBezTo>
                    <a:pt x="1609" y="72"/>
                    <a:pt x="1587" y="94"/>
                    <a:pt x="1562" y="94"/>
                  </a:cubicBezTo>
                  <a:cubicBezTo>
                    <a:pt x="1536" y="94"/>
                    <a:pt x="1515" y="72"/>
                    <a:pt x="1515" y="47"/>
                  </a:cubicBezTo>
                  <a:cubicBezTo>
                    <a:pt x="1515" y="21"/>
                    <a:pt x="1536" y="0"/>
                    <a:pt x="1562" y="0"/>
                  </a:cubicBezTo>
                  <a:cubicBezTo>
                    <a:pt x="1587" y="0"/>
                    <a:pt x="1609" y="21"/>
                    <a:pt x="1609" y="47"/>
                  </a:cubicBezTo>
                  <a:close/>
                  <a:moveTo>
                    <a:pt x="1710" y="47"/>
                  </a:moveTo>
                  <a:cubicBezTo>
                    <a:pt x="1710" y="72"/>
                    <a:pt x="1688" y="94"/>
                    <a:pt x="1663" y="94"/>
                  </a:cubicBezTo>
                  <a:cubicBezTo>
                    <a:pt x="1637" y="94"/>
                    <a:pt x="1616" y="72"/>
                    <a:pt x="1616" y="47"/>
                  </a:cubicBezTo>
                  <a:cubicBezTo>
                    <a:pt x="1616" y="21"/>
                    <a:pt x="1637" y="0"/>
                    <a:pt x="1663" y="0"/>
                  </a:cubicBezTo>
                  <a:cubicBezTo>
                    <a:pt x="1688" y="0"/>
                    <a:pt x="1710" y="21"/>
                    <a:pt x="1710" y="47"/>
                  </a:cubicBezTo>
                  <a:close/>
                  <a:moveTo>
                    <a:pt x="1811" y="47"/>
                  </a:moveTo>
                  <a:cubicBezTo>
                    <a:pt x="1811" y="72"/>
                    <a:pt x="1789" y="94"/>
                    <a:pt x="1764" y="94"/>
                  </a:cubicBezTo>
                  <a:cubicBezTo>
                    <a:pt x="1738" y="94"/>
                    <a:pt x="1717" y="72"/>
                    <a:pt x="1717" y="47"/>
                  </a:cubicBezTo>
                  <a:cubicBezTo>
                    <a:pt x="1717" y="21"/>
                    <a:pt x="1738" y="0"/>
                    <a:pt x="1764" y="0"/>
                  </a:cubicBezTo>
                  <a:cubicBezTo>
                    <a:pt x="1789" y="0"/>
                    <a:pt x="1811" y="21"/>
                    <a:pt x="1811" y="47"/>
                  </a:cubicBezTo>
                  <a:close/>
                  <a:moveTo>
                    <a:pt x="1911" y="47"/>
                  </a:moveTo>
                  <a:cubicBezTo>
                    <a:pt x="1911" y="72"/>
                    <a:pt x="1889" y="94"/>
                    <a:pt x="1864" y="94"/>
                  </a:cubicBezTo>
                  <a:cubicBezTo>
                    <a:pt x="1838" y="94"/>
                    <a:pt x="1817" y="72"/>
                    <a:pt x="1817" y="47"/>
                  </a:cubicBezTo>
                  <a:cubicBezTo>
                    <a:pt x="1817" y="21"/>
                    <a:pt x="1838" y="0"/>
                    <a:pt x="1864" y="0"/>
                  </a:cubicBezTo>
                  <a:cubicBezTo>
                    <a:pt x="1889" y="0"/>
                    <a:pt x="1911" y="21"/>
                    <a:pt x="1911" y="47"/>
                  </a:cubicBezTo>
                  <a:close/>
                  <a:moveTo>
                    <a:pt x="2012" y="47"/>
                  </a:moveTo>
                  <a:cubicBezTo>
                    <a:pt x="2012" y="72"/>
                    <a:pt x="1990" y="94"/>
                    <a:pt x="1965" y="94"/>
                  </a:cubicBezTo>
                  <a:cubicBezTo>
                    <a:pt x="1939" y="94"/>
                    <a:pt x="1918" y="72"/>
                    <a:pt x="1918" y="47"/>
                  </a:cubicBezTo>
                  <a:cubicBezTo>
                    <a:pt x="1918" y="21"/>
                    <a:pt x="1939" y="0"/>
                    <a:pt x="1965" y="0"/>
                  </a:cubicBezTo>
                  <a:cubicBezTo>
                    <a:pt x="1990" y="0"/>
                    <a:pt x="2012" y="21"/>
                    <a:pt x="2012" y="47"/>
                  </a:cubicBezTo>
                  <a:close/>
                  <a:moveTo>
                    <a:pt x="2113" y="47"/>
                  </a:moveTo>
                  <a:cubicBezTo>
                    <a:pt x="2113" y="72"/>
                    <a:pt x="2091" y="94"/>
                    <a:pt x="2066" y="94"/>
                  </a:cubicBezTo>
                  <a:cubicBezTo>
                    <a:pt x="2040" y="94"/>
                    <a:pt x="2019" y="72"/>
                    <a:pt x="2019" y="47"/>
                  </a:cubicBezTo>
                  <a:cubicBezTo>
                    <a:pt x="2019" y="21"/>
                    <a:pt x="2040" y="0"/>
                    <a:pt x="2066" y="0"/>
                  </a:cubicBezTo>
                  <a:cubicBezTo>
                    <a:pt x="2091" y="0"/>
                    <a:pt x="2113" y="21"/>
                    <a:pt x="2113" y="47"/>
                  </a:cubicBezTo>
                  <a:close/>
                  <a:moveTo>
                    <a:pt x="2214" y="47"/>
                  </a:moveTo>
                  <a:cubicBezTo>
                    <a:pt x="2214" y="72"/>
                    <a:pt x="2192" y="94"/>
                    <a:pt x="2167" y="94"/>
                  </a:cubicBezTo>
                  <a:cubicBezTo>
                    <a:pt x="2141" y="94"/>
                    <a:pt x="2120" y="72"/>
                    <a:pt x="2120" y="47"/>
                  </a:cubicBezTo>
                  <a:cubicBezTo>
                    <a:pt x="2120" y="21"/>
                    <a:pt x="2141" y="0"/>
                    <a:pt x="2167" y="0"/>
                  </a:cubicBezTo>
                  <a:cubicBezTo>
                    <a:pt x="2192" y="0"/>
                    <a:pt x="2214" y="21"/>
                    <a:pt x="2214" y="47"/>
                  </a:cubicBezTo>
                  <a:close/>
                  <a:moveTo>
                    <a:pt x="2315" y="47"/>
                  </a:moveTo>
                  <a:cubicBezTo>
                    <a:pt x="2315" y="72"/>
                    <a:pt x="2293" y="94"/>
                    <a:pt x="2268" y="94"/>
                  </a:cubicBezTo>
                  <a:cubicBezTo>
                    <a:pt x="2242" y="94"/>
                    <a:pt x="2221" y="72"/>
                    <a:pt x="2221" y="47"/>
                  </a:cubicBezTo>
                  <a:cubicBezTo>
                    <a:pt x="2221" y="21"/>
                    <a:pt x="2242" y="0"/>
                    <a:pt x="2268" y="0"/>
                  </a:cubicBezTo>
                  <a:cubicBezTo>
                    <a:pt x="2293" y="0"/>
                    <a:pt x="2315" y="21"/>
                    <a:pt x="2315" y="47"/>
                  </a:cubicBezTo>
                  <a:close/>
                  <a:moveTo>
                    <a:pt x="2415" y="47"/>
                  </a:moveTo>
                  <a:cubicBezTo>
                    <a:pt x="2415" y="72"/>
                    <a:pt x="2393" y="94"/>
                    <a:pt x="2368" y="94"/>
                  </a:cubicBezTo>
                  <a:cubicBezTo>
                    <a:pt x="2342" y="94"/>
                    <a:pt x="2321" y="72"/>
                    <a:pt x="2321" y="47"/>
                  </a:cubicBezTo>
                  <a:cubicBezTo>
                    <a:pt x="2321" y="21"/>
                    <a:pt x="2342" y="0"/>
                    <a:pt x="2368" y="0"/>
                  </a:cubicBezTo>
                  <a:cubicBezTo>
                    <a:pt x="2393" y="0"/>
                    <a:pt x="2415" y="21"/>
                    <a:pt x="2415" y="47"/>
                  </a:cubicBezTo>
                  <a:close/>
                  <a:moveTo>
                    <a:pt x="2516" y="47"/>
                  </a:moveTo>
                  <a:cubicBezTo>
                    <a:pt x="2516" y="72"/>
                    <a:pt x="2494" y="94"/>
                    <a:pt x="2469" y="94"/>
                  </a:cubicBezTo>
                  <a:cubicBezTo>
                    <a:pt x="2443" y="94"/>
                    <a:pt x="2422" y="72"/>
                    <a:pt x="2422" y="47"/>
                  </a:cubicBezTo>
                  <a:cubicBezTo>
                    <a:pt x="2422" y="21"/>
                    <a:pt x="2443" y="0"/>
                    <a:pt x="2469" y="0"/>
                  </a:cubicBezTo>
                  <a:cubicBezTo>
                    <a:pt x="2494" y="0"/>
                    <a:pt x="2516" y="21"/>
                    <a:pt x="2516" y="47"/>
                  </a:cubicBezTo>
                  <a:close/>
                  <a:moveTo>
                    <a:pt x="2617" y="47"/>
                  </a:moveTo>
                  <a:cubicBezTo>
                    <a:pt x="2617" y="72"/>
                    <a:pt x="2595" y="94"/>
                    <a:pt x="2570" y="94"/>
                  </a:cubicBezTo>
                  <a:cubicBezTo>
                    <a:pt x="2544" y="94"/>
                    <a:pt x="2523" y="72"/>
                    <a:pt x="2523" y="47"/>
                  </a:cubicBezTo>
                  <a:cubicBezTo>
                    <a:pt x="2523" y="21"/>
                    <a:pt x="2544" y="0"/>
                    <a:pt x="2570" y="0"/>
                  </a:cubicBezTo>
                  <a:cubicBezTo>
                    <a:pt x="2595" y="0"/>
                    <a:pt x="2617" y="21"/>
                    <a:pt x="2617" y="47"/>
                  </a:cubicBezTo>
                  <a:close/>
                  <a:moveTo>
                    <a:pt x="2718" y="47"/>
                  </a:moveTo>
                  <a:cubicBezTo>
                    <a:pt x="2718" y="72"/>
                    <a:pt x="2696" y="94"/>
                    <a:pt x="2671" y="94"/>
                  </a:cubicBezTo>
                  <a:cubicBezTo>
                    <a:pt x="2645" y="94"/>
                    <a:pt x="2624" y="72"/>
                    <a:pt x="2624" y="47"/>
                  </a:cubicBezTo>
                  <a:cubicBezTo>
                    <a:pt x="2624" y="21"/>
                    <a:pt x="2645" y="0"/>
                    <a:pt x="2671" y="0"/>
                  </a:cubicBezTo>
                  <a:cubicBezTo>
                    <a:pt x="2696" y="0"/>
                    <a:pt x="2718" y="21"/>
                    <a:pt x="2718" y="47"/>
                  </a:cubicBezTo>
                  <a:close/>
                  <a:moveTo>
                    <a:pt x="2819" y="47"/>
                  </a:moveTo>
                  <a:cubicBezTo>
                    <a:pt x="2819" y="72"/>
                    <a:pt x="2797" y="94"/>
                    <a:pt x="2772" y="94"/>
                  </a:cubicBezTo>
                  <a:cubicBezTo>
                    <a:pt x="2746" y="94"/>
                    <a:pt x="2725" y="72"/>
                    <a:pt x="2725" y="47"/>
                  </a:cubicBezTo>
                  <a:cubicBezTo>
                    <a:pt x="2725" y="21"/>
                    <a:pt x="2746" y="0"/>
                    <a:pt x="2772" y="0"/>
                  </a:cubicBezTo>
                  <a:cubicBezTo>
                    <a:pt x="2797" y="0"/>
                    <a:pt x="2819" y="21"/>
                    <a:pt x="2819" y="47"/>
                  </a:cubicBezTo>
                  <a:close/>
                  <a:moveTo>
                    <a:pt x="2919" y="47"/>
                  </a:moveTo>
                  <a:cubicBezTo>
                    <a:pt x="2919" y="72"/>
                    <a:pt x="2897" y="94"/>
                    <a:pt x="2872" y="94"/>
                  </a:cubicBezTo>
                  <a:cubicBezTo>
                    <a:pt x="2846" y="94"/>
                    <a:pt x="2825" y="72"/>
                    <a:pt x="2825" y="47"/>
                  </a:cubicBezTo>
                  <a:cubicBezTo>
                    <a:pt x="2825" y="21"/>
                    <a:pt x="2846" y="0"/>
                    <a:pt x="2872" y="0"/>
                  </a:cubicBezTo>
                  <a:cubicBezTo>
                    <a:pt x="2897" y="0"/>
                    <a:pt x="2919" y="21"/>
                    <a:pt x="2919" y="47"/>
                  </a:cubicBezTo>
                  <a:close/>
                  <a:moveTo>
                    <a:pt x="3020" y="47"/>
                  </a:moveTo>
                  <a:cubicBezTo>
                    <a:pt x="3020" y="72"/>
                    <a:pt x="2998" y="94"/>
                    <a:pt x="2973" y="94"/>
                  </a:cubicBezTo>
                  <a:cubicBezTo>
                    <a:pt x="2947" y="94"/>
                    <a:pt x="2926" y="72"/>
                    <a:pt x="2926" y="47"/>
                  </a:cubicBezTo>
                  <a:cubicBezTo>
                    <a:pt x="2926" y="21"/>
                    <a:pt x="2947" y="0"/>
                    <a:pt x="2973" y="0"/>
                  </a:cubicBezTo>
                  <a:cubicBezTo>
                    <a:pt x="2998" y="0"/>
                    <a:pt x="3020" y="21"/>
                    <a:pt x="3020" y="47"/>
                  </a:cubicBezTo>
                  <a:close/>
                  <a:moveTo>
                    <a:pt x="3121" y="47"/>
                  </a:moveTo>
                  <a:cubicBezTo>
                    <a:pt x="3121" y="72"/>
                    <a:pt x="3099" y="94"/>
                    <a:pt x="3074" y="94"/>
                  </a:cubicBezTo>
                  <a:cubicBezTo>
                    <a:pt x="3048" y="94"/>
                    <a:pt x="3027" y="72"/>
                    <a:pt x="3027" y="47"/>
                  </a:cubicBezTo>
                  <a:cubicBezTo>
                    <a:pt x="3027" y="21"/>
                    <a:pt x="3048" y="0"/>
                    <a:pt x="3074" y="0"/>
                  </a:cubicBezTo>
                  <a:cubicBezTo>
                    <a:pt x="3099" y="0"/>
                    <a:pt x="3121" y="21"/>
                    <a:pt x="3121" y="47"/>
                  </a:cubicBezTo>
                  <a:close/>
                  <a:moveTo>
                    <a:pt x="3222" y="47"/>
                  </a:moveTo>
                  <a:cubicBezTo>
                    <a:pt x="3222" y="72"/>
                    <a:pt x="3200" y="94"/>
                    <a:pt x="3175" y="94"/>
                  </a:cubicBezTo>
                  <a:cubicBezTo>
                    <a:pt x="3149" y="94"/>
                    <a:pt x="3128" y="72"/>
                    <a:pt x="3128" y="47"/>
                  </a:cubicBezTo>
                  <a:cubicBezTo>
                    <a:pt x="3128" y="21"/>
                    <a:pt x="3149" y="0"/>
                    <a:pt x="3175" y="0"/>
                  </a:cubicBezTo>
                  <a:cubicBezTo>
                    <a:pt x="3200" y="0"/>
                    <a:pt x="3222" y="21"/>
                    <a:pt x="3222" y="47"/>
                  </a:cubicBezTo>
                  <a:close/>
                  <a:moveTo>
                    <a:pt x="3323" y="47"/>
                  </a:moveTo>
                  <a:cubicBezTo>
                    <a:pt x="3323" y="72"/>
                    <a:pt x="3301" y="94"/>
                    <a:pt x="3276" y="94"/>
                  </a:cubicBezTo>
                  <a:cubicBezTo>
                    <a:pt x="3250" y="94"/>
                    <a:pt x="3229" y="72"/>
                    <a:pt x="3229" y="47"/>
                  </a:cubicBezTo>
                  <a:cubicBezTo>
                    <a:pt x="3229" y="21"/>
                    <a:pt x="3250" y="0"/>
                    <a:pt x="3276" y="0"/>
                  </a:cubicBezTo>
                  <a:cubicBezTo>
                    <a:pt x="3301" y="0"/>
                    <a:pt x="3323" y="21"/>
                    <a:pt x="3323" y="47"/>
                  </a:cubicBezTo>
                  <a:close/>
                  <a:moveTo>
                    <a:pt x="3423" y="47"/>
                  </a:moveTo>
                  <a:cubicBezTo>
                    <a:pt x="3423" y="72"/>
                    <a:pt x="3401" y="94"/>
                    <a:pt x="3376" y="94"/>
                  </a:cubicBezTo>
                  <a:cubicBezTo>
                    <a:pt x="3350" y="94"/>
                    <a:pt x="3329" y="72"/>
                    <a:pt x="3329" y="47"/>
                  </a:cubicBezTo>
                  <a:cubicBezTo>
                    <a:pt x="3329" y="21"/>
                    <a:pt x="3350" y="0"/>
                    <a:pt x="3376" y="0"/>
                  </a:cubicBezTo>
                  <a:cubicBezTo>
                    <a:pt x="3401" y="0"/>
                    <a:pt x="3423" y="21"/>
                    <a:pt x="3423" y="47"/>
                  </a:cubicBezTo>
                  <a:close/>
                  <a:moveTo>
                    <a:pt x="3524" y="47"/>
                  </a:moveTo>
                  <a:cubicBezTo>
                    <a:pt x="3524" y="72"/>
                    <a:pt x="3502" y="94"/>
                    <a:pt x="3477" y="94"/>
                  </a:cubicBezTo>
                  <a:cubicBezTo>
                    <a:pt x="3451" y="94"/>
                    <a:pt x="3430" y="72"/>
                    <a:pt x="3430" y="47"/>
                  </a:cubicBezTo>
                  <a:cubicBezTo>
                    <a:pt x="3430" y="21"/>
                    <a:pt x="3451" y="0"/>
                    <a:pt x="3477" y="0"/>
                  </a:cubicBezTo>
                  <a:cubicBezTo>
                    <a:pt x="3502" y="0"/>
                    <a:pt x="3524" y="21"/>
                    <a:pt x="3524" y="47"/>
                  </a:cubicBezTo>
                  <a:close/>
                  <a:moveTo>
                    <a:pt x="3625" y="47"/>
                  </a:moveTo>
                  <a:cubicBezTo>
                    <a:pt x="3625" y="72"/>
                    <a:pt x="3603" y="94"/>
                    <a:pt x="3578" y="94"/>
                  </a:cubicBezTo>
                  <a:cubicBezTo>
                    <a:pt x="3552" y="94"/>
                    <a:pt x="3531" y="72"/>
                    <a:pt x="3531" y="47"/>
                  </a:cubicBezTo>
                  <a:cubicBezTo>
                    <a:pt x="3531" y="21"/>
                    <a:pt x="3552" y="0"/>
                    <a:pt x="3578" y="0"/>
                  </a:cubicBezTo>
                  <a:cubicBezTo>
                    <a:pt x="3603" y="0"/>
                    <a:pt x="3625" y="21"/>
                    <a:pt x="3625" y="47"/>
                  </a:cubicBezTo>
                  <a:close/>
                  <a:moveTo>
                    <a:pt x="3726" y="47"/>
                  </a:moveTo>
                  <a:cubicBezTo>
                    <a:pt x="3726" y="72"/>
                    <a:pt x="3704" y="94"/>
                    <a:pt x="3679" y="94"/>
                  </a:cubicBezTo>
                  <a:cubicBezTo>
                    <a:pt x="3653" y="94"/>
                    <a:pt x="3632" y="72"/>
                    <a:pt x="3632" y="47"/>
                  </a:cubicBezTo>
                  <a:cubicBezTo>
                    <a:pt x="3632" y="21"/>
                    <a:pt x="3653" y="0"/>
                    <a:pt x="3679" y="0"/>
                  </a:cubicBezTo>
                  <a:cubicBezTo>
                    <a:pt x="3704" y="0"/>
                    <a:pt x="3726" y="21"/>
                    <a:pt x="3726" y="47"/>
                  </a:cubicBezTo>
                  <a:close/>
                  <a:moveTo>
                    <a:pt x="3827" y="47"/>
                  </a:moveTo>
                  <a:cubicBezTo>
                    <a:pt x="3827" y="72"/>
                    <a:pt x="3805" y="94"/>
                    <a:pt x="3780" y="94"/>
                  </a:cubicBezTo>
                  <a:cubicBezTo>
                    <a:pt x="3754" y="94"/>
                    <a:pt x="3733" y="72"/>
                    <a:pt x="3733" y="47"/>
                  </a:cubicBezTo>
                  <a:cubicBezTo>
                    <a:pt x="3733" y="21"/>
                    <a:pt x="3754" y="0"/>
                    <a:pt x="3780" y="0"/>
                  </a:cubicBezTo>
                  <a:cubicBezTo>
                    <a:pt x="3805" y="0"/>
                    <a:pt x="3827" y="21"/>
                    <a:pt x="3827" y="47"/>
                  </a:cubicBezTo>
                  <a:close/>
                  <a:moveTo>
                    <a:pt x="3927" y="47"/>
                  </a:moveTo>
                  <a:cubicBezTo>
                    <a:pt x="3927" y="72"/>
                    <a:pt x="3905" y="94"/>
                    <a:pt x="3880" y="94"/>
                  </a:cubicBezTo>
                  <a:cubicBezTo>
                    <a:pt x="3854" y="94"/>
                    <a:pt x="3833" y="72"/>
                    <a:pt x="3833" y="47"/>
                  </a:cubicBezTo>
                  <a:cubicBezTo>
                    <a:pt x="3833" y="21"/>
                    <a:pt x="3854" y="0"/>
                    <a:pt x="3880" y="0"/>
                  </a:cubicBezTo>
                  <a:cubicBezTo>
                    <a:pt x="3905" y="0"/>
                    <a:pt x="3927" y="21"/>
                    <a:pt x="3927" y="47"/>
                  </a:cubicBezTo>
                  <a:close/>
                  <a:moveTo>
                    <a:pt x="4028" y="47"/>
                  </a:moveTo>
                  <a:cubicBezTo>
                    <a:pt x="4028" y="72"/>
                    <a:pt x="4006" y="94"/>
                    <a:pt x="3981" y="94"/>
                  </a:cubicBezTo>
                  <a:cubicBezTo>
                    <a:pt x="3955" y="94"/>
                    <a:pt x="3934" y="72"/>
                    <a:pt x="3934" y="47"/>
                  </a:cubicBezTo>
                  <a:cubicBezTo>
                    <a:pt x="3934" y="21"/>
                    <a:pt x="3955" y="0"/>
                    <a:pt x="3981" y="0"/>
                  </a:cubicBezTo>
                  <a:cubicBezTo>
                    <a:pt x="4006" y="0"/>
                    <a:pt x="4028" y="21"/>
                    <a:pt x="4028" y="47"/>
                  </a:cubicBezTo>
                  <a:close/>
                  <a:moveTo>
                    <a:pt x="4129" y="47"/>
                  </a:moveTo>
                  <a:cubicBezTo>
                    <a:pt x="4129" y="72"/>
                    <a:pt x="4107" y="94"/>
                    <a:pt x="4082" y="94"/>
                  </a:cubicBezTo>
                  <a:cubicBezTo>
                    <a:pt x="4056" y="94"/>
                    <a:pt x="4035" y="72"/>
                    <a:pt x="4035" y="47"/>
                  </a:cubicBezTo>
                  <a:cubicBezTo>
                    <a:pt x="4035" y="21"/>
                    <a:pt x="4056" y="0"/>
                    <a:pt x="4082" y="0"/>
                  </a:cubicBezTo>
                  <a:cubicBezTo>
                    <a:pt x="4107" y="0"/>
                    <a:pt x="4129" y="21"/>
                    <a:pt x="4129" y="47"/>
                  </a:cubicBezTo>
                  <a:close/>
                  <a:moveTo>
                    <a:pt x="4230" y="47"/>
                  </a:moveTo>
                  <a:cubicBezTo>
                    <a:pt x="4230" y="72"/>
                    <a:pt x="4208" y="94"/>
                    <a:pt x="4183" y="94"/>
                  </a:cubicBezTo>
                  <a:cubicBezTo>
                    <a:pt x="4157" y="94"/>
                    <a:pt x="4136" y="72"/>
                    <a:pt x="4136" y="47"/>
                  </a:cubicBezTo>
                  <a:cubicBezTo>
                    <a:pt x="4136" y="21"/>
                    <a:pt x="4157" y="0"/>
                    <a:pt x="4183" y="0"/>
                  </a:cubicBezTo>
                  <a:cubicBezTo>
                    <a:pt x="4208" y="0"/>
                    <a:pt x="4230" y="21"/>
                    <a:pt x="4230" y="47"/>
                  </a:cubicBezTo>
                  <a:close/>
                  <a:moveTo>
                    <a:pt x="4331" y="47"/>
                  </a:moveTo>
                  <a:cubicBezTo>
                    <a:pt x="4331" y="72"/>
                    <a:pt x="4309" y="94"/>
                    <a:pt x="4284" y="94"/>
                  </a:cubicBezTo>
                  <a:cubicBezTo>
                    <a:pt x="4258" y="94"/>
                    <a:pt x="4237" y="72"/>
                    <a:pt x="4237" y="47"/>
                  </a:cubicBezTo>
                  <a:cubicBezTo>
                    <a:pt x="4237" y="21"/>
                    <a:pt x="4258" y="0"/>
                    <a:pt x="4284" y="0"/>
                  </a:cubicBezTo>
                  <a:cubicBezTo>
                    <a:pt x="4309" y="0"/>
                    <a:pt x="4331" y="21"/>
                    <a:pt x="4331" y="47"/>
                  </a:cubicBezTo>
                  <a:close/>
                  <a:moveTo>
                    <a:pt x="4431" y="47"/>
                  </a:moveTo>
                  <a:cubicBezTo>
                    <a:pt x="4431" y="72"/>
                    <a:pt x="4409" y="94"/>
                    <a:pt x="4384" y="94"/>
                  </a:cubicBezTo>
                  <a:cubicBezTo>
                    <a:pt x="4358" y="94"/>
                    <a:pt x="4337" y="72"/>
                    <a:pt x="4337" y="47"/>
                  </a:cubicBezTo>
                  <a:cubicBezTo>
                    <a:pt x="4337" y="21"/>
                    <a:pt x="4358" y="0"/>
                    <a:pt x="4384" y="0"/>
                  </a:cubicBezTo>
                  <a:cubicBezTo>
                    <a:pt x="4409" y="0"/>
                    <a:pt x="4431" y="21"/>
                    <a:pt x="4431" y="47"/>
                  </a:cubicBezTo>
                  <a:close/>
                  <a:moveTo>
                    <a:pt x="4532" y="47"/>
                  </a:moveTo>
                  <a:cubicBezTo>
                    <a:pt x="4532" y="72"/>
                    <a:pt x="4510" y="94"/>
                    <a:pt x="4485" y="94"/>
                  </a:cubicBezTo>
                  <a:cubicBezTo>
                    <a:pt x="4459" y="94"/>
                    <a:pt x="4438" y="72"/>
                    <a:pt x="4438" y="47"/>
                  </a:cubicBezTo>
                  <a:cubicBezTo>
                    <a:pt x="4438" y="21"/>
                    <a:pt x="4459" y="0"/>
                    <a:pt x="4485" y="0"/>
                  </a:cubicBezTo>
                  <a:cubicBezTo>
                    <a:pt x="4510" y="0"/>
                    <a:pt x="4532" y="21"/>
                    <a:pt x="4532" y="47"/>
                  </a:cubicBezTo>
                  <a:close/>
                  <a:moveTo>
                    <a:pt x="4633" y="47"/>
                  </a:moveTo>
                  <a:cubicBezTo>
                    <a:pt x="4633" y="72"/>
                    <a:pt x="4611" y="94"/>
                    <a:pt x="4586" y="94"/>
                  </a:cubicBezTo>
                  <a:cubicBezTo>
                    <a:pt x="4560" y="94"/>
                    <a:pt x="4539" y="72"/>
                    <a:pt x="4539" y="47"/>
                  </a:cubicBezTo>
                  <a:cubicBezTo>
                    <a:pt x="4539" y="21"/>
                    <a:pt x="4560" y="0"/>
                    <a:pt x="4586" y="0"/>
                  </a:cubicBezTo>
                  <a:cubicBezTo>
                    <a:pt x="4611" y="0"/>
                    <a:pt x="4633" y="21"/>
                    <a:pt x="4633" y="47"/>
                  </a:cubicBezTo>
                  <a:close/>
                  <a:moveTo>
                    <a:pt x="4734" y="47"/>
                  </a:moveTo>
                  <a:cubicBezTo>
                    <a:pt x="4734" y="72"/>
                    <a:pt x="4712" y="94"/>
                    <a:pt x="4687" y="94"/>
                  </a:cubicBezTo>
                  <a:cubicBezTo>
                    <a:pt x="4661" y="94"/>
                    <a:pt x="4640" y="72"/>
                    <a:pt x="4640" y="47"/>
                  </a:cubicBezTo>
                  <a:cubicBezTo>
                    <a:pt x="4640" y="21"/>
                    <a:pt x="4661" y="0"/>
                    <a:pt x="4687" y="0"/>
                  </a:cubicBezTo>
                  <a:cubicBezTo>
                    <a:pt x="4712" y="0"/>
                    <a:pt x="4734" y="21"/>
                    <a:pt x="4734" y="47"/>
                  </a:cubicBezTo>
                  <a:close/>
                  <a:moveTo>
                    <a:pt x="4835" y="47"/>
                  </a:moveTo>
                  <a:cubicBezTo>
                    <a:pt x="4835" y="72"/>
                    <a:pt x="4813" y="94"/>
                    <a:pt x="4788" y="94"/>
                  </a:cubicBezTo>
                  <a:cubicBezTo>
                    <a:pt x="4762" y="94"/>
                    <a:pt x="4741" y="72"/>
                    <a:pt x="4741" y="47"/>
                  </a:cubicBezTo>
                  <a:cubicBezTo>
                    <a:pt x="4741" y="21"/>
                    <a:pt x="4762" y="0"/>
                    <a:pt x="4788" y="0"/>
                  </a:cubicBezTo>
                  <a:cubicBezTo>
                    <a:pt x="4813" y="0"/>
                    <a:pt x="4835" y="21"/>
                    <a:pt x="4835" y="47"/>
                  </a:cubicBezTo>
                  <a:close/>
                  <a:moveTo>
                    <a:pt x="4935" y="47"/>
                  </a:moveTo>
                  <a:cubicBezTo>
                    <a:pt x="4935" y="72"/>
                    <a:pt x="4913" y="94"/>
                    <a:pt x="4888" y="94"/>
                  </a:cubicBezTo>
                  <a:cubicBezTo>
                    <a:pt x="4862" y="94"/>
                    <a:pt x="4841" y="72"/>
                    <a:pt x="4841" y="47"/>
                  </a:cubicBezTo>
                  <a:cubicBezTo>
                    <a:pt x="4841" y="21"/>
                    <a:pt x="4862" y="0"/>
                    <a:pt x="4888" y="0"/>
                  </a:cubicBezTo>
                  <a:cubicBezTo>
                    <a:pt x="4913" y="0"/>
                    <a:pt x="4935" y="21"/>
                    <a:pt x="4935" y="47"/>
                  </a:cubicBezTo>
                  <a:close/>
                  <a:moveTo>
                    <a:pt x="5036" y="47"/>
                  </a:moveTo>
                  <a:cubicBezTo>
                    <a:pt x="5036" y="72"/>
                    <a:pt x="5014" y="94"/>
                    <a:pt x="4989" y="94"/>
                  </a:cubicBezTo>
                  <a:cubicBezTo>
                    <a:pt x="4963" y="94"/>
                    <a:pt x="4942" y="72"/>
                    <a:pt x="4942" y="47"/>
                  </a:cubicBezTo>
                  <a:cubicBezTo>
                    <a:pt x="4942" y="21"/>
                    <a:pt x="4963" y="0"/>
                    <a:pt x="4989" y="0"/>
                  </a:cubicBezTo>
                  <a:cubicBezTo>
                    <a:pt x="5014" y="0"/>
                    <a:pt x="5036" y="21"/>
                    <a:pt x="5036" y="47"/>
                  </a:cubicBezTo>
                  <a:close/>
                  <a:moveTo>
                    <a:pt x="5137" y="47"/>
                  </a:moveTo>
                  <a:cubicBezTo>
                    <a:pt x="5137" y="72"/>
                    <a:pt x="5115" y="94"/>
                    <a:pt x="5090" y="94"/>
                  </a:cubicBezTo>
                  <a:cubicBezTo>
                    <a:pt x="5064" y="94"/>
                    <a:pt x="5043" y="72"/>
                    <a:pt x="5043" y="47"/>
                  </a:cubicBezTo>
                  <a:cubicBezTo>
                    <a:pt x="5043" y="21"/>
                    <a:pt x="5064" y="0"/>
                    <a:pt x="5090" y="0"/>
                  </a:cubicBezTo>
                  <a:cubicBezTo>
                    <a:pt x="5115" y="0"/>
                    <a:pt x="5137" y="21"/>
                    <a:pt x="5137" y="47"/>
                  </a:cubicBezTo>
                  <a:close/>
                  <a:moveTo>
                    <a:pt x="5238" y="47"/>
                  </a:moveTo>
                  <a:cubicBezTo>
                    <a:pt x="5238" y="72"/>
                    <a:pt x="5216" y="94"/>
                    <a:pt x="5191" y="94"/>
                  </a:cubicBezTo>
                  <a:cubicBezTo>
                    <a:pt x="5165" y="94"/>
                    <a:pt x="5144" y="72"/>
                    <a:pt x="5144" y="47"/>
                  </a:cubicBezTo>
                  <a:cubicBezTo>
                    <a:pt x="5144" y="21"/>
                    <a:pt x="5165" y="0"/>
                    <a:pt x="5191" y="0"/>
                  </a:cubicBezTo>
                  <a:cubicBezTo>
                    <a:pt x="5216" y="0"/>
                    <a:pt x="5238" y="21"/>
                    <a:pt x="5238" y="47"/>
                  </a:cubicBezTo>
                  <a:close/>
                  <a:moveTo>
                    <a:pt x="5339" y="47"/>
                  </a:moveTo>
                  <a:cubicBezTo>
                    <a:pt x="5339" y="72"/>
                    <a:pt x="5317" y="94"/>
                    <a:pt x="5292" y="94"/>
                  </a:cubicBezTo>
                  <a:cubicBezTo>
                    <a:pt x="5266" y="94"/>
                    <a:pt x="5245" y="72"/>
                    <a:pt x="5245" y="47"/>
                  </a:cubicBezTo>
                  <a:cubicBezTo>
                    <a:pt x="5245" y="21"/>
                    <a:pt x="5266" y="0"/>
                    <a:pt x="5292" y="0"/>
                  </a:cubicBezTo>
                  <a:cubicBezTo>
                    <a:pt x="5317" y="0"/>
                    <a:pt x="5339" y="21"/>
                    <a:pt x="5339" y="47"/>
                  </a:cubicBezTo>
                  <a:close/>
                  <a:moveTo>
                    <a:pt x="5439" y="47"/>
                  </a:moveTo>
                  <a:cubicBezTo>
                    <a:pt x="5439" y="72"/>
                    <a:pt x="5417" y="94"/>
                    <a:pt x="5392" y="94"/>
                  </a:cubicBezTo>
                  <a:cubicBezTo>
                    <a:pt x="5366" y="94"/>
                    <a:pt x="5345" y="72"/>
                    <a:pt x="5345" y="47"/>
                  </a:cubicBezTo>
                  <a:cubicBezTo>
                    <a:pt x="5345" y="21"/>
                    <a:pt x="5366" y="0"/>
                    <a:pt x="5392" y="0"/>
                  </a:cubicBezTo>
                  <a:cubicBezTo>
                    <a:pt x="5417" y="0"/>
                    <a:pt x="5439" y="21"/>
                    <a:pt x="5439" y="47"/>
                  </a:cubicBezTo>
                  <a:close/>
                  <a:moveTo>
                    <a:pt x="5540" y="47"/>
                  </a:moveTo>
                  <a:cubicBezTo>
                    <a:pt x="5540" y="72"/>
                    <a:pt x="5518" y="94"/>
                    <a:pt x="5493" y="94"/>
                  </a:cubicBezTo>
                  <a:cubicBezTo>
                    <a:pt x="5467" y="94"/>
                    <a:pt x="5446" y="72"/>
                    <a:pt x="5446" y="47"/>
                  </a:cubicBezTo>
                  <a:cubicBezTo>
                    <a:pt x="5446" y="21"/>
                    <a:pt x="5467" y="0"/>
                    <a:pt x="5493" y="0"/>
                  </a:cubicBezTo>
                  <a:cubicBezTo>
                    <a:pt x="5518" y="0"/>
                    <a:pt x="5540" y="21"/>
                    <a:pt x="5540" y="47"/>
                  </a:cubicBezTo>
                  <a:close/>
                  <a:moveTo>
                    <a:pt x="5641" y="47"/>
                  </a:moveTo>
                  <a:cubicBezTo>
                    <a:pt x="5641" y="72"/>
                    <a:pt x="5619" y="94"/>
                    <a:pt x="5594" y="94"/>
                  </a:cubicBezTo>
                  <a:cubicBezTo>
                    <a:pt x="5568" y="94"/>
                    <a:pt x="5547" y="72"/>
                    <a:pt x="5547" y="47"/>
                  </a:cubicBezTo>
                  <a:cubicBezTo>
                    <a:pt x="5547" y="21"/>
                    <a:pt x="5568" y="0"/>
                    <a:pt x="5594" y="0"/>
                  </a:cubicBezTo>
                  <a:cubicBezTo>
                    <a:pt x="5619" y="0"/>
                    <a:pt x="5641" y="21"/>
                    <a:pt x="5641" y="47"/>
                  </a:cubicBezTo>
                  <a:close/>
                  <a:moveTo>
                    <a:pt x="5742" y="47"/>
                  </a:moveTo>
                  <a:cubicBezTo>
                    <a:pt x="5742" y="72"/>
                    <a:pt x="5720" y="94"/>
                    <a:pt x="5695" y="94"/>
                  </a:cubicBezTo>
                  <a:cubicBezTo>
                    <a:pt x="5669" y="94"/>
                    <a:pt x="5648" y="72"/>
                    <a:pt x="5648" y="47"/>
                  </a:cubicBezTo>
                  <a:cubicBezTo>
                    <a:pt x="5648" y="21"/>
                    <a:pt x="5669" y="0"/>
                    <a:pt x="5695" y="0"/>
                  </a:cubicBezTo>
                  <a:cubicBezTo>
                    <a:pt x="5720" y="0"/>
                    <a:pt x="5742" y="21"/>
                    <a:pt x="5742" y="47"/>
                  </a:cubicBezTo>
                  <a:close/>
                  <a:moveTo>
                    <a:pt x="5843" y="47"/>
                  </a:moveTo>
                  <a:cubicBezTo>
                    <a:pt x="5843" y="72"/>
                    <a:pt x="5821" y="94"/>
                    <a:pt x="5796" y="94"/>
                  </a:cubicBezTo>
                  <a:cubicBezTo>
                    <a:pt x="5770" y="94"/>
                    <a:pt x="5749" y="72"/>
                    <a:pt x="5749" y="47"/>
                  </a:cubicBezTo>
                  <a:cubicBezTo>
                    <a:pt x="5749" y="21"/>
                    <a:pt x="5770" y="0"/>
                    <a:pt x="5796" y="0"/>
                  </a:cubicBezTo>
                  <a:cubicBezTo>
                    <a:pt x="5821" y="0"/>
                    <a:pt x="5843" y="21"/>
                    <a:pt x="5843" y="47"/>
                  </a:cubicBezTo>
                  <a:close/>
                  <a:moveTo>
                    <a:pt x="5943" y="47"/>
                  </a:moveTo>
                  <a:cubicBezTo>
                    <a:pt x="5943" y="72"/>
                    <a:pt x="5921" y="94"/>
                    <a:pt x="5896" y="94"/>
                  </a:cubicBezTo>
                  <a:cubicBezTo>
                    <a:pt x="5870" y="94"/>
                    <a:pt x="5849" y="72"/>
                    <a:pt x="5849" y="47"/>
                  </a:cubicBezTo>
                  <a:cubicBezTo>
                    <a:pt x="5849" y="21"/>
                    <a:pt x="5870" y="0"/>
                    <a:pt x="5896" y="0"/>
                  </a:cubicBezTo>
                  <a:cubicBezTo>
                    <a:pt x="5921" y="0"/>
                    <a:pt x="5943" y="21"/>
                    <a:pt x="5943" y="47"/>
                  </a:cubicBezTo>
                  <a:close/>
                  <a:moveTo>
                    <a:pt x="6044" y="47"/>
                  </a:moveTo>
                  <a:cubicBezTo>
                    <a:pt x="6044" y="72"/>
                    <a:pt x="6022" y="94"/>
                    <a:pt x="5997" y="94"/>
                  </a:cubicBezTo>
                  <a:cubicBezTo>
                    <a:pt x="5971" y="94"/>
                    <a:pt x="5950" y="72"/>
                    <a:pt x="5950" y="47"/>
                  </a:cubicBezTo>
                  <a:cubicBezTo>
                    <a:pt x="5950" y="21"/>
                    <a:pt x="5971" y="0"/>
                    <a:pt x="5997" y="0"/>
                  </a:cubicBezTo>
                  <a:cubicBezTo>
                    <a:pt x="6022" y="0"/>
                    <a:pt x="6044" y="21"/>
                    <a:pt x="6044" y="47"/>
                  </a:cubicBezTo>
                  <a:close/>
                  <a:moveTo>
                    <a:pt x="6145" y="47"/>
                  </a:moveTo>
                  <a:cubicBezTo>
                    <a:pt x="6145" y="72"/>
                    <a:pt x="6123" y="94"/>
                    <a:pt x="6098" y="94"/>
                  </a:cubicBezTo>
                  <a:cubicBezTo>
                    <a:pt x="6072" y="94"/>
                    <a:pt x="6051" y="72"/>
                    <a:pt x="6051" y="47"/>
                  </a:cubicBezTo>
                  <a:cubicBezTo>
                    <a:pt x="6051" y="21"/>
                    <a:pt x="6072" y="0"/>
                    <a:pt x="6098" y="0"/>
                  </a:cubicBezTo>
                  <a:cubicBezTo>
                    <a:pt x="6123" y="0"/>
                    <a:pt x="6145" y="21"/>
                    <a:pt x="6145" y="47"/>
                  </a:cubicBezTo>
                  <a:close/>
                  <a:moveTo>
                    <a:pt x="6246" y="47"/>
                  </a:moveTo>
                  <a:cubicBezTo>
                    <a:pt x="6246" y="72"/>
                    <a:pt x="6224" y="94"/>
                    <a:pt x="6199" y="94"/>
                  </a:cubicBezTo>
                  <a:cubicBezTo>
                    <a:pt x="6173" y="94"/>
                    <a:pt x="6152" y="72"/>
                    <a:pt x="6152" y="47"/>
                  </a:cubicBezTo>
                  <a:cubicBezTo>
                    <a:pt x="6152" y="21"/>
                    <a:pt x="6173" y="0"/>
                    <a:pt x="6199" y="0"/>
                  </a:cubicBezTo>
                  <a:cubicBezTo>
                    <a:pt x="6224" y="0"/>
                    <a:pt x="6246" y="21"/>
                    <a:pt x="6246" y="47"/>
                  </a:cubicBezTo>
                  <a:close/>
                  <a:moveTo>
                    <a:pt x="6347" y="47"/>
                  </a:moveTo>
                  <a:cubicBezTo>
                    <a:pt x="6347" y="72"/>
                    <a:pt x="6325" y="94"/>
                    <a:pt x="6300" y="94"/>
                  </a:cubicBezTo>
                  <a:cubicBezTo>
                    <a:pt x="6274" y="94"/>
                    <a:pt x="6253" y="72"/>
                    <a:pt x="6253" y="47"/>
                  </a:cubicBezTo>
                  <a:cubicBezTo>
                    <a:pt x="6253" y="21"/>
                    <a:pt x="6274" y="0"/>
                    <a:pt x="6300" y="0"/>
                  </a:cubicBezTo>
                  <a:cubicBezTo>
                    <a:pt x="6325" y="0"/>
                    <a:pt x="6347" y="21"/>
                    <a:pt x="6347" y="47"/>
                  </a:cubicBezTo>
                  <a:close/>
                  <a:moveTo>
                    <a:pt x="6447" y="47"/>
                  </a:moveTo>
                  <a:cubicBezTo>
                    <a:pt x="6447" y="72"/>
                    <a:pt x="6425" y="94"/>
                    <a:pt x="6400" y="94"/>
                  </a:cubicBezTo>
                  <a:cubicBezTo>
                    <a:pt x="6374" y="94"/>
                    <a:pt x="6353" y="72"/>
                    <a:pt x="6353" y="47"/>
                  </a:cubicBezTo>
                  <a:cubicBezTo>
                    <a:pt x="6353" y="21"/>
                    <a:pt x="6374" y="0"/>
                    <a:pt x="6400" y="0"/>
                  </a:cubicBezTo>
                  <a:cubicBezTo>
                    <a:pt x="6425" y="0"/>
                    <a:pt x="6447" y="21"/>
                    <a:pt x="6447" y="47"/>
                  </a:cubicBezTo>
                  <a:close/>
                  <a:moveTo>
                    <a:pt x="6548" y="47"/>
                  </a:moveTo>
                  <a:cubicBezTo>
                    <a:pt x="6548" y="72"/>
                    <a:pt x="6526" y="94"/>
                    <a:pt x="6501" y="94"/>
                  </a:cubicBezTo>
                  <a:cubicBezTo>
                    <a:pt x="6475" y="94"/>
                    <a:pt x="6454" y="72"/>
                    <a:pt x="6454" y="47"/>
                  </a:cubicBezTo>
                  <a:cubicBezTo>
                    <a:pt x="6454" y="21"/>
                    <a:pt x="6475" y="0"/>
                    <a:pt x="6501" y="0"/>
                  </a:cubicBezTo>
                  <a:cubicBezTo>
                    <a:pt x="6526" y="0"/>
                    <a:pt x="6548" y="21"/>
                    <a:pt x="6548" y="47"/>
                  </a:cubicBezTo>
                  <a:close/>
                  <a:moveTo>
                    <a:pt x="6649" y="47"/>
                  </a:moveTo>
                  <a:cubicBezTo>
                    <a:pt x="6649" y="72"/>
                    <a:pt x="6627" y="94"/>
                    <a:pt x="6602" y="94"/>
                  </a:cubicBezTo>
                  <a:cubicBezTo>
                    <a:pt x="6576" y="94"/>
                    <a:pt x="6555" y="72"/>
                    <a:pt x="6555" y="47"/>
                  </a:cubicBezTo>
                  <a:cubicBezTo>
                    <a:pt x="6555" y="21"/>
                    <a:pt x="6576" y="0"/>
                    <a:pt x="6602" y="0"/>
                  </a:cubicBezTo>
                  <a:cubicBezTo>
                    <a:pt x="6627" y="0"/>
                    <a:pt x="6649" y="21"/>
                    <a:pt x="6649" y="47"/>
                  </a:cubicBezTo>
                  <a:close/>
                  <a:moveTo>
                    <a:pt x="6750" y="47"/>
                  </a:moveTo>
                  <a:cubicBezTo>
                    <a:pt x="6750" y="72"/>
                    <a:pt x="6728" y="94"/>
                    <a:pt x="6703" y="94"/>
                  </a:cubicBezTo>
                  <a:cubicBezTo>
                    <a:pt x="6677" y="94"/>
                    <a:pt x="6656" y="72"/>
                    <a:pt x="6656" y="47"/>
                  </a:cubicBezTo>
                  <a:cubicBezTo>
                    <a:pt x="6656" y="21"/>
                    <a:pt x="6677" y="0"/>
                    <a:pt x="6703" y="0"/>
                  </a:cubicBezTo>
                  <a:cubicBezTo>
                    <a:pt x="6728" y="0"/>
                    <a:pt x="6750" y="21"/>
                    <a:pt x="6750" y="47"/>
                  </a:cubicBezTo>
                  <a:close/>
                  <a:moveTo>
                    <a:pt x="6851" y="47"/>
                  </a:moveTo>
                  <a:cubicBezTo>
                    <a:pt x="6851" y="72"/>
                    <a:pt x="6829" y="94"/>
                    <a:pt x="6804" y="94"/>
                  </a:cubicBezTo>
                  <a:cubicBezTo>
                    <a:pt x="6778" y="94"/>
                    <a:pt x="6757" y="72"/>
                    <a:pt x="6757" y="47"/>
                  </a:cubicBezTo>
                  <a:cubicBezTo>
                    <a:pt x="6757" y="21"/>
                    <a:pt x="6778" y="0"/>
                    <a:pt x="6804" y="0"/>
                  </a:cubicBezTo>
                  <a:cubicBezTo>
                    <a:pt x="6829" y="0"/>
                    <a:pt x="6851" y="21"/>
                    <a:pt x="6851" y="47"/>
                  </a:cubicBezTo>
                  <a:close/>
                  <a:moveTo>
                    <a:pt x="6951" y="47"/>
                  </a:moveTo>
                  <a:cubicBezTo>
                    <a:pt x="6951" y="72"/>
                    <a:pt x="6929" y="94"/>
                    <a:pt x="6904" y="94"/>
                  </a:cubicBezTo>
                  <a:cubicBezTo>
                    <a:pt x="6878" y="94"/>
                    <a:pt x="6857" y="72"/>
                    <a:pt x="6857" y="47"/>
                  </a:cubicBezTo>
                  <a:cubicBezTo>
                    <a:pt x="6857" y="21"/>
                    <a:pt x="6878" y="0"/>
                    <a:pt x="6904" y="0"/>
                  </a:cubicBezTo>
                  <a:cubicBezTo>
                    <a:pt x="6929" y="0"/>
                    <a:pt x="6951" y="21"/>
                    <a:pt x="6951" y="47"/>
                  </a:cubicBezTo>
                  <a:close/>
                  <a:moveTo>
                    <a:pt x="7052" y="47"/>
                  </a:moveTo>
                  <a:cubicBezTo>
                    <a:pt x="7052" y="72"/>
                    <a:pt x="7030" y="94"/>
                    <a:pt x="7005" y="94"/>
                  </a:cubicBezTo>
                  <a:cubicBezTo>
                    <a:pt x="6979" y="94"/>
                    <a:pt x="6958" y="72"/>
                    <a:pt x="6958" y="47"/>
                  </a:cubicBezTo>
                  <a:cubicBezTo>
                    <a:pt x="6958" y="21"/>
                    <a:pt x="6979" y="0"/>
                    <a:pt x="7005" y="0"/>
                  </a:cubicBezTo>
                  <a:cubicBezTo>
                    <a:pt x="7030" y="0"/>
                    <a:pt x="7052" y="21"/>
                    <a:pt x="7052" y="47"/>
                  </a:cubicBezTo>
                  <a:close/>
                  <a:moveTo>
                    <a:pt x="7153" y="47"/>
                  </a:moveTo>
                  <a:cubicBezTo>
                    <a:pt x="7153" y="72"/>
                    <a:pt x="7131" y="94"/>
                    <a:pt x="7106" y="94"/>
                  </a:cubicBezTo>
                  <a:cubicBezTo>
                    <a:pt x="7080" y="94"/>
                    <a:pt x="7059" y="72"/>
                    <a:pt x="7059" y="47"/>
                  </a:cubicBezTo>
                  <a:cubicBezTo>
                    <a:pt x="7059" y="21"/>
                    <a:pt x="7080" y="0"/>
                    <a:pt x="7106" y="0"/>
                  </a:cubicBezTo>
                  <a:cubicBezTo>
                    <a:pt x="7131" y="0"/>
                    <a:pt x="7153" y="21"/>
                    <a:pt x="7153" y="47"/>
                  </a:cubicBezTo>
                  <a:close/>
                  <a:moveTo>
                    <a:pt x="7254" y="47"/>
                  </a:moveTo>
                  <a:cubicBezTo>
                    <a:pt x="7254" y="72"/>
                    <a:pt x="7232" y="94"/>
                    <a:pt x="7207" y="94"/>
                  </a:cubicBezTo>
                  <a:cubicBezTo>
                    <a:pt x="7181" y="94"/>
                    <a:pt x="7160" y="72"/>
                    <a:pt x="7160" y="47"/>
                  </a:cubicBezTo>
                  <a:cubicBezTo>
                    <a:pt x="7160" y="21"/>
                    <a:pt x="7181" y="0"/>
                    <a:pt x="7207" y="0"/>
                  </a:cubicBezTo>
                  <a:cubicBezTo>
                    <a:pt x="7232" y="0"/>
                    <a:pt x="7254" y="21"/>
                    <a:pt x="7254" y="47"/>
                  </a:cubicBezTo>
                  <a:close/>
                  <a:moveTo>
                    <a:pt x="7355" y="47"/>
                  </a:moveTo>
                  <a:cubicBezTo>
                    <a:pt x="7355" y="72"/>
                    <a:pt x="7333" y="94"/>
                    <a:pt x="7308" y="94"/>
                  </a:cubicBezTo>
                  <a:cubicBezTo>
                    <a:pt x="7282" y="94"/>
                    <a:pt x="7261" y="72"/>
                    <a:pt x="7261" y="47"/>
                  </a:cubicBezTo>
                  <a:cubicBezTo>
                    <a:pt x="7261" y="21"/>
                    <a:pt x="7282" y="0"/>
                    <a:pt x="7308" y="0"/>
                  </a:cubicBezTo>
                  <a:cubicBezTo>
                    <a:pt x="7333" y="0"/>
                    <a:pt x="7355" y="21"/>
                    <a:pt x="7355" y="47"/>
                  </a:cubicBezTo>
                  <a:close/>
                  <a:moveTo>
                    <a:pt x="7455" y="47"/>
                  </a:moveTo>
                  <a:cubicBezTo>
                    <a:pt x="7455" y="72"/>
                    <a:pt x="7433" y="94"/>
                    <a:pt x="7408" y="94"/>
                  </a:cubicBezTo>
                  <a:cubicBezTo>
                    <a:pt x="7382" y="94"/>
                    <a:pt x="7361" y="72"/>
                    <a:pt x="7361" y="47"/>
                  </a:cubicBezTo>
                  <a:cubicBezTo>
                    <a:pt x="7361" y="21"/>
                    <a:pt x="7382" y="0"/>
                    <a:pt x="7408" y="0"/>
                  </a:cubicBezTo>
                  <a:cubicBezTo>
                    <a:pt x="7433" y="0"/>
                    <a:pt x="7455" y="21"/>
                    <a:pt x="7455" y="47"/>
                  </a:cubicBezTo>
                  <a:close/>
                  <a:moveTo>
                    <a:pt x="7556" y="47"/>
                  </a:moveTo>
                  <a:cubicBezTo>
                    <a:pt x="7556" y="72"/>
                    <a:pt x="7534" y="94"/>
                    <a:pt x="7509" y="94"/>
                  </a:cubicBezTo>
                  <a:cubicBezTo>
                    <a:pt x="7483" y="94"/>
                    <a:pt x="7462" y="72"/>
                    <a:pt x="7462" y="47"/>
                  </a:cubicBezTo>
                  <a:cubicBezTo>
                    <a:pt x="7462" y="21"/>
                    <a:pt x="7483" y="0"/>
                    <a:pt x="7509" y="0"/>
                  </a:cubicBezTo>
                  <a:cubicBezTo>
                    <a:pt x="7534" y="0"/>
                    <a:pt x="7556" y="21"/>
                    <a:pt x="7556" y="47"/>
                  </a:cubicBezTo>
                  <a:close/>
                  <a:moveTo>
                    <a:pt x="7657" y="47"/>
                  </a:moveTo>
                  <a:cubicBezTo>
                    <a:pt x="7657" y="72"/>
                    <a:pt x="7635" y="94"/>
                    <a:pt x="7610" y="94"/>
                  </a:cubicBezTo>
                  <a:cubicBezTo>
                    <a:pt x="7584" y="94"/>
                    <a:pt x="7563" y="72"/>
                    <a:pt x="7563" y="47"/>
                  </a:cubicBezTo>
                  <a:cubicBezTo>
                    <a:pt x="7563" y="21"/>
                    <a:pt x="7584" y="0"/>
                    <a:pt x="7610" y="0"/>
                  </a:cubicBezTo>
                  <a:cubicBezTo>
                    <a:pt x="7635" y="0"/>
                    <a:pt x="7657" y="21"/>
                    <a:pt x="7657" y="47"/>
                  </a:cubicBezTo>
                  <a:close/>
                  <a:moveTo>
                    <a:pt x="7758" y="47"/>
                  </a:moveTo>
                  <a:cubicBezTo>
                    <a:pt x="7758" y="72"/>
                    <a:pt x="7736" y="94"/>
                    <a:pt x="7711" y="94"/>
                  </a:cubicBezTo>
                  <a:cubicBezTo>
                    <a:pt x="7685" y="94"/>
                    <a:pt x="7664" y="72"/>
                    <a:pt x="7664" y="47"/>
                  </a:cubicBezTo>
                  <a:cubicBezTo>
                    <a:pt x="7664" y="21"/>
                    <a:pt x="7685" y="0"/>
                    <a:pt x="7711" y="0"/>
                  </a:cubicBezTo>
                  <a:cubicBezTo>
                    <a:pt x="7736" y="0"/>
                    <a:pt x="7758" y="21"/>
                    <a:pt x="7758" y="47"/>
                  </a:cubicBezTo>
                  <a:close/>
                  <a:moveTo>
                    <a:pt x="7859" y="47"/>
                  </a:moveTo>
                  <a:cubicBezTo>
                    <a:pt x="7859" y="72"/>
                    <a:pt x="7837" y="94"/>
                    <a:pt x="7812" y="94"/>
                  </a:cubicBezTo>
                  <a:cubicBezTo>
                    <a:pt x="7786" y="94"/>
                    <a:pt x="7765" y="72"/>
                    <a:pt x="7765" y="47"/>
                  </a:cubicBezTo>
                  <a:cubicBezTo>
                    <a:pt x="7765" y="21"/>
                    <a:pt x="7786" y="0"/>
                    <a:pt x="7812" y="0"/>
                  </a:cubicBezTo>
                  <a:cubicBezTo>
                    <a:pt x="7837" y="0"/>
                    <a:pt x="7859" y="21"/>
                    <a:pt x="7859" y="47"/>
                  </a:cubicBezTo>
                  <a:close/>
                  <a:moveTo>
                    <a:pt x="7959" y="47"/>
                  </a:moveTo>
                  <a:cubicBezTo>
                    <a:pt x="7959" y="72"/>
                    <a:pt x="7937" y="94"/>
                    <a:pt x="7912" y="94"/>
                  </a:cubicBezTo>
                  <a:cubicBezTo>
                    <a:pt x="7886" y="94"/>
                    <a:pt x="7865" y="72"/>
                    <a:pt x="7865" y="47"/>
                  </a:cubicBezTo>
                  <a:cubicBezTo>
                    <a:pt x="7865" y="21"/>
                    <a:pt x="7886" y="0"/>
                    <a:pt x="7912" y="0"/>
                  </a:cubicBezTo>
                  <a:cubicBezTo>
                    <a:pt x="7937" y="0"/>
                    <a:pt x="7959" y="21"/>
                    <a:pt x="7959" y="47"/>
                  </a:cubicBezTo>
                  <a:close/>
                  <a:moveTo>
                    <a:pt x="8060" y="47"/>
                  </a:moveTo>
                  <a:cubicBezTo>
                    <a:pt x="8060" y="72"/>
                    <a:pt x="8038" y="94"/>
                    <a:pt x="8013" y="94"/>
                  </a:cubicBezTo>
                  <a:cubicBezTo>
                    <a:pt x="7987" y="94"/>
                    <a:pt x="7966" y="72"/>
                    <a:pt x="7966" y="47"/>
                  </a:cubicBezTo>
                  <a:cubicBezTo>
                    <a:pt x="7966" y="21"/>
                    <a:pt x="7987" y="0"/>
                    <a:pt x="8013" y="0"/>
                  </a:cubicBezTo>
                  <a:cubicBezTo>
                    <a:pt x="8038" y="0"/>
                    <a:pt x="8060" y="21"/>
                    <a:pt x="8060" y="47"/>
                  </a:cubicBezTo>
                  <a:close/>
                  <a:moveTo>
                    <a:pt x="8161" y="47"/>
                  </a:moveTo>
                  <a:cubicBezTo>
                    <a:pt x="8161" y="72"/>
                    <a:pt x="8139" y="94"/>
                    <a:pt x="8114" y="94"/>
                  </a:cubicBezTo>
                  <a:cubicBezTo>
                    <a:pt x="8088" y="94"/>
                    <a:pt x="8067" y="72"/>
                    <a:pt x="8067" y="47"/>
                  </a:cubicBezTo>
                  <a:cubicBezTo>
                    <a:pt x="8067" y="21"/>
                    <a:pt x="8088" y="0"/>
                    <a:pt x="8114" y="0"/>
                  </a:cubicBezTo>
                  <a:cubicBezTo>
                    <a:pt x="8139" y="0"/>
                    <a:pt x="8161" y="21"/>
                    <a:pt x="8161" y="47"/>
                  </a:cubicBezTo>
                  <a:close/>
                  <a:moveTo>
                    <a:pt x="8262" y="47"/>
                  </a:moveTo>
                  <a:cubicBezTo>
                    <a:pt x="8262" y="72"/>
                    <a:pt x="8240" y="94"/>
                    <a:pt x="8215" y="94"/>
                  </a:cubicBezTo>
                  <a:cubicBezTo>
                    <a:pt x="8189" y="94"/>
                    <a:pt x="8168" y="72"/>
                    <a:pt x="8168" y="47"/>
                  </a:cubicBezTo>
                  <a:cubicBezTo>
                    <a:pt x="8168" y="21"/>
                    <a:pt x="8189" y="0"/>
                    <a:pt x="8215" y="0"/>
                  </a:cubicBezTo>
                  <a:cubicBezTo>
                    <a:pt x="8240" y="0"/>
                    <a:pt x="8262" y="21"/>
                    <a:pt x="8262" y="47"/>
                  </a:cubicBezTo>
                  <a:close/>
                  <a:moveTo>
                    <a:pt x="8363" y="47"/>
                  </a:moveTo>
                  <a:cubicBezTo>
                    <a:pt x="8363" y="72"/>
                    <a:pt x="8341" y="94"/>
                    <a:pt x="8316" y="94"/>
                  </a:cubicBezTo>
                  <a:cubicBezTo>
                    <a:pt x="8290" y="94"/>
                    <a:pt x="8269" y="72"/>
                    <a:pt x="8269" y="47"/>
                  </a:cubicBezTo>
                  <a:cubicBezTo>
                    <a:pt x="8269" y="21"/>
                    <a:pt x="8290" y="0"/>
                    <a:pt x="8316" y="0"/>
                  </a:cubicBezTo>
                  <a:cubicBezTo>
                    <a:pt x="8341" y="0"/>
                    <a:pt x="8363" y="21"/>
                    <a:pt x="8363" y="47"/>
                  </a:cubicBezTo>
                  <a:close/>
                  <a:moveTo>
                    <a:pt x="8463" y="47"/>
                  </a:moveTo>
                  <a:cubicBezTo>
                    <a:pt x="8463" y="72"/>
                    <a:pt x="8441" y="94"/>
                    <a:pt x="8416" y="94"/>
                  </a:cubicBezTo>
                  <a:cubicBezTo>
                    <a:pt x="8390" y="94"/>
                    <a:pt x="8369" y="72"/>
                    <a:pt x="8369" y="47"/>
                  </a:cubicBezTo>
                  <a:cubicBezTo>
                    <a:pt x="8369" y="21"/>
                    <a:pt x="8390" y="0"/>
                    <a:pt x="8416" y="0"/>
                  </a:cubicBezTo>
                  <a:cubicBezTo>
                    <a:pt x="8441" y="0"/>
                    <a:pt x="8463" y="21"/>
                    <a:pt x="8463" y="47"/>
                  </a:cubicBezTo>
                  <a:close/>
                  <a:moveTo>
                    <a:pt x="8564" y="47"/>
                  </a:moveTo>
                  <a:cubicBezTo>
                    <a:pt x="8564" y="72"/>
                    <a:pt x="8542" y="94"/>
                    <a:pt x="8517" y="94"/>
                  </a:cubicBezTo>
                  <a:cubicBezTo>
                    <a:pt x="8491" y="94"/>
                    <a:pt x="8470" y="72"/>
                    <a:pt x="8470" y="47"/>
                  </a:cubicBezTo>
                  <a:cubicBezTo>
                    <a:pt x="8470" y="21"/>
                    <a:pt x="8491" y="0"/>
                    <a:pt x="8517" y="0"/>
                  </a:cubicBezTo>
                  <a:cubicBezTo>
                    <a:pt x="8542" y="0"/>
                    <a:pt x="8564" y="21"/>
                    <a:pt x="8564" y="47"/>
                  </a:cubicBezTo>
                  <a:close/>
                  <a:moveTo>
                    <a:pt x="8665" y="47"/>
                  </a:moveTo>
                  <a:cubicBezTo>
                    <a:pt x="8665" y="72"/>
                    <a:pt x="8643" y="94"/>
                    <a:pt x="8618" y="94"/>
                  </a:cubicBezTo>
                  <a:cubicBezTo>
                    <a:pt x="8592" y="94"/>
                    <a:pt x="8571" y="72"/>
                    <a:pt x="8571" y="47"/>
                  </a:cubicBezTo>
                  <a:cubicBezTo>
                    <a:pt x="8571" y="21"/>
                    <a:pt x="8592" y="0"/>
                    <a:pt x="8618" y="0"/>
                  </a:cubicBezTo>
                  <a:cubicBezTo>
                    <a:pt x="8643" y="0"/>
                    <a:pt x="8665" y="21"/>
                    <a:pt x="8665" y="47"/>
                  </a:cubicBezTo>
                  <a:close/>
                  <a:moveTo>
                    <a:pt x="8766" y="47"/>
                  </a:moveTo>
                  <a:cubicBezTo>
                    <a:pt x="8766" y="72"/>
                    <a:pt x="8744" y="94"/>
                    <a:pt x="8719" y="94"/>
                  </a:cubicBezTo>
                  <a:cubicBezTo>
                    <a:pt x="8693" y="94"/>
                    <a:pt x="8672" y="72"/>
                    <a:pt x="8672" y="47"/>
                  </a:cubicBezTo>
                  <a:cubicBezTo>
                    <a:pt x="8672" y="21"/>
                    <a:pt x="8693" y="0"/>
                    <a:pt x="8719" y="0"/>
                  </a:cubicBezTo>
                  <a:cubicBezTo>
                    <a:pt x="8744" y="0"/>
                    <a:pt x="8766" y="21"/>
                    <a:pt x="8766" y="47"/>
                  </a:cubicBezTo>
                  <a:close/>
                  <a:moveTo>
                    <a:pt x="8867" y="47"/>
                  </a:moveTo>
                  <a:cubicBezTo>
                    <a:pt x="8867" y="72"/>
                    <a:pt x="8845" y="94"/>
                    <a:pt x="8820" y="94"/>
                  </a:cubicBezTo>
                  <a:cubicBezTo>
                    <a:pt x="8794" y="94"/>
                    <a:pt x="8773" y="72"/>
                    <a:pt x="8773" y="47"/>
                  </a:cubicBezTo>
                  <a:cubicBezTo>
                    <a:pt x="8773" y="21"/>
                    <a:pt x="8794" y="0"/>
                    <a:pt x="8820" y="0"/>
                  </a:cubicBezTo>
                  <a:cubicBezTo>
                    <a:pt x="8845" y="0"/>
                    <a:pt x="8867" y="21"/>
                    <a:pt x="8867" y="47"/>
                  </a:cubicBezTo>
                  <a:close/>
                  <a:moveTo>
                    <a:pt x="8967" y="47"/>
                  </a:moveTo>
                  <a:cubicBezTo>
                    <a:pt x="8967" y="72"/>
                    <a:pt x="8945" y="94"/>
                    <a:pt x="8920" y="94"/>
                  </a:cubicBezTo>
                  <a:cubicBezTo>
                    <a:pt x="8894" y="94"/>
                    <a:pt x="8873" y="72"/>
                    <a:pt x="8873" y="47"/>
                  </a:cubicBezTo>
                  <a:cubicBezTo>
                    <a:pt x="8873" y="21"/>
                    <a:pt x="8894" y="0"/>
                    <a:pt x="8920" y="0"/>
                  </a:cubicBezTo>
                  <a:cubicBezTo>
                    <a:pt x="8945" y="0"/>
                    <a:pt x="8967" y="21"/>
                    <a:pt x="8967" y="47"/>
                  </a:cubicBezTo>
                  <a:close/>
                  <a:moveTo>
                    <a:pt x="9068" y="47"/>
                  </a:moveTo>
                  <a:cubicBezTo>
                    <a:pt x="9068" y="72"/>
                    <a:pt x="9046" y="94"/>
                    <a:pt x="9021" y="94"/>
                  </a:cubicBezTo>
                  <a:cubicBezTo>
                    <a:pt x="8995" y="94"/>
                    <a:pt x="8974" y="72"/>
                    <a:pt x="8974" y="47"/>
                  </a:cubicBezTo>
                  <a:cubicBezTo>
                    <a:pt x="8974" y="21"/>
                    <a:pt x="8995" y="0"/>
                    <a:pt x="9021" y="0"/>
                  </a:cubicBezTo>
                  <a:cubicBezTo>
                    <a:pt x="9046" y="0"/>
                    <a:pt x="9068" y="21"/>
                    <a:pt x="9068" y="47"/>
                  </a:cubicBezTo>
                  <a:close/>
                  <a:moveTo>
                    <a:pt x="9169" y="47"/>
                  </a:moveTo>
                  <a:cubicBezTo>
                    <a:pt x="9169" y="72"/>
                    <a:pt x="9147" y="94"/>
                    <a:pt x="9122" y="94"/>
                  </a:cubicBezTo>
                  <a:cubicBezTo>
                    <a:pt x="9096" y="94"/>
                    <a:pt x="9075" y="72"/>
                    <a:pt x="9075" y="47"/>
                  </a:cubicBezTo>
                  <a:cubicBezTo>
                    <a:pt x="9075" y="21"/>
                    <a:pt x="9096" y="0"/>
                    <a:pt x="9122" y="0"/>
                  </a:cubicBezTo>
                  <a:cubicBezTo>
                    <a:pt x="9147" y="0"/>
                    <a:pt x="9169" y="21"/>
                    <a:pt x="9169" y="47"/>
                  </a:cubicBezTo>
                  <a:close/>
                  <a:moveTo>
                    <a:pt x="9270" y="47"/>
                  </a:moveTo>
                  <a:cubicBezTo>
                    <a:pt x="9270" y="72"/>
                    <a:pt x="9248" y="94"/>
                    <a:pt x="9223" y="94"/>
                  </a:cubicBezTo>
                  <a:cubicBezTo>
                    <a:pt x="9197" y="94"/>
                    <a:pt x="9176" y="72"/>
                    <a:pt x="9176" y="47"/>
                  </a:cubicBezTo>
                  <a:cubicBezTo>
                    <a:pt x="9176" y="21"/>
                    <a:pt x="9197" y="0"/>
                    <a:pt x="9223" y="0"/>
                  </a:cubicBezTo>
                  <a:cubicBezTo>
                    <a:pt x="9248" y="0"/>
                    <a:pt x="9270" y="21"/>
                    <a:pt x="9270" y="47"/>
                  </a:cubicBezTo>
                  <a:close/>
                  <a:moveTo>
                    <a:pt x="9371" y="47"/>
                  </a:moveTo>
                  <a:cubicBezTo>
                    <a:pt x="9371" y="72"/>
                    <a:pt x="9349" y="94"/>
                    <a:pt x="9324" y="94"/>
                  </a:cubicBezTo>
                  <a:cubicBezTo>
                    <a:pt x="9298" y="94"/>
                    <a:pt x="9277" y="72"/>
                    <a:pt x="9277" y="47"/>
                  </a:cubicBezTo>
                  <a:cubicBezTo>
                    <a:pt x="9277" y="21"/>
                    <a:pt x="9298" y="0"/>
                    <a:pt x="9324" y="0"/>
                  </a:cubicBezTo>
                  <a:cubicBezTo>
                    <a:pt x="9349" y="0"/>
                    <a:pt x="9371" y="21"/>
                    <a:pt x="9371" y="47"/>
                  </a:cubicBezTo>
                  <a:close/>
                  <a:moveTo>
                    <a:pt x="9471" y="47"/>
                  </a:moveTo>
                  <a:cubicBezTo>
                    <a:pt x="9471" y="72"/>
                    <a:pt x="9449" y="94"/>
                    <a:pt x="9424" y="94"/>
                  </a:cubicBezTo>
                  <a:cubicBezTo>
                    <a:pt x="9398" y="94"/>
                    <a:pt x="9377" y="72"/>
                    <a:pt x="9377" y="47"/>
                  </a:cubicBezTo>
                  <a:cubicBezTo>
                    <a:pt x="9377" y="21"/>
                    <a:pt x="9398" y="0"/>
                    <a:pt x="9424" y="0"/>
                  </a:cubicBezTo>
                  <a:cubicBezTo>
                    <a:pt x="9449" y="0"/>
                    <a:pt x="9471" y="21"/>
                    <a:pt x="9471" y="47"/>
                  </a:cubicBezTo>
                  <a:close/>
                  <a:moveTo>
                    <a:pt x="9572" y="47"/>
                  </a:moveTo>
                  <a:cubicBezTo>
                    <a:pt x="9572" y="72"/>
                    <a:pt x="9550" y="94"/>
                    <a:pt x="9525" y="94"/>
                  </a:cubicBezTo>
                  <a:cubicBezTo>
                    <a:pt x="9499" y="94"/>
                    <a:pt x="9478" y="72"/>
                    <a:pt x="9478" y="47"/>
                  </a:cubicBezTo>
                  <a:cubicBezTo>
                    <a:pt x="9478" y="21"/>
                    <a:pt x="9499" y="0"/>
                    <a:pt x="9525" y="0"/>
                  </a:cubicBezTo>
                  <a:cubicBezTo>
                    <a:pt x="9550" y="0"/>
                    <a:pt x="9572" y="21"/>
                    <a:pt x="9572" y="47"/>
                  </a:cubicBezTo>
                  <a:close/>
                  <a:moveTo>
                    <a:pt x="9673" y="47"/>
                  </a:moveTo>
                  <a:cubicBezTo>
                    <a:pt x="9673" y="72"/>
                    <a:pt x="9651" y="94"/>
                    <a:pt x="9626" y="94"/>
                  </a:cubicBezTo>
                  <a:cubicBezTo>
                    <a:pt x="9600" y="94"/>
                    <a:pt x="9579" y="72"/>
                    <a:pt x="9579" y="47"/>
                  </a:cubicBezTo>
                  <a:cubicBezTo>
                    <a:pt x="9579" y="21"/>
                    <a:pt x="9600" y="0"/>
                    <a:pt x="9626" y="0"/>
                  </a:cubicBezTo>
                  <a:cubicBezTo>
                    <a:pt x="9651" y="0"/>
                    <a:pt x="9673" y="21"/>
                    <a:pt x="9673" y="47"/>
                  </a:cubicBezTo>
                  <a:close/>
                  <a:moveTo>
                    <a:pt x="9774" y="47"/>
                  </a:moveTo>
                  <a:cubicBezTo>
                    <a:pt x="9774" y="72"/>
                    <a:pt x="9752" y="94"/>
                    <a:pt x="9727" y="94"/>
                  </a:cubicBezTo>
                  <a:cubicBezTo>
                    <a:pt x="9701" y="94"/>
                    <a:pt x="9680" y="72"/>
                    <a:pt x="9680" y="47"/>
                  </a:cubicBezTo>
                  <a:cubicBezTo>
                    <a:pt x="9680" y="21"/>
                    <a:pt x="9701" y="0"/>
                    <a:pt x="9727" y="0"/>
                  </a:cubicBezTo>
                  <a:cubicBezTo>
                    <a:pt x="9752" y="0"/>
                    <a:pt x="9774" y="21"/>
                    <a:pt x="9774" y="47"/>
                  </a:cubicBezTo>
                  <a:close/>
                  <a:moveTo>
                    <a:pt x="9875" y="47"/>
                  </a:moveTo>
                  <a:cubicBezTo>
                    <a:pt x="9875" y="72"/>
                    <a:pt x="9853" y="94"/>
                    <a:pt x="9828" y="94"/>
                  </a:cubicBezTo>
                  <a:cubicBezTo>
                    <a:pt x="9802" y="94"/>
                    <a:pt x="9781" y="72"/>
                    <a:pt x="9781" y="47"/>
                  </a:cubicBezTo>
                  <a:cubicBezTo>
                    <a:pt x="9781" y="21"/>
                    <a:pt x="9802" y="0"/>
                    <a:pt x="9828" y="0"/>
                  </a:cubicBezTo>
                  <a:cubicBezTo>
                    <a:pt x="9853" y="0"/>
                    <a:pt x="9875" y="21"/>
                    <a:pt x="9875" y="47"/>
                  </a:cubicBezTo>
                  <a:close/>
                  <a:moveTo>
                    <a:pt x="9975" y="47"/>
                  </a:moveTo>
                  <a:cubicBezTo>
                    <a:pt x="9975" y="72"/>
                    <a:pt x="9953" y="94"/>
                    <a:pt x="9928" y="94"/>
                  </a:cubicBezTo>
                  <a:cubicBezTo>
                    <a:pt x="9902" y="94"/>
                    <a:pt x="9881" y="72"/>
                    <a:pt x="9881" y="47"/>
                  </a:cubicBezTo>
                  <a:cubicBezTo>
                    <a:pt x="9881" y="21"/>
                    <a:pt x="9902" y="0"/>
                    <a:pt x="9928" y="0"/>
                  </a:cubicBezTo>
                  <a:cubicBezTo>
                    <a:pt x="9953" y="0"/>
                    <a:pt x="9975" y="21"/>
                    <a:pt x="9975" y="47"/>
                  </a:cubicBezTo>
                  <a:close/>
                  <a:moveTo>
                    <a:pt x="10076" y="47"/>
                  </a:moveTo>
                  <a:cubicBezTo>
                    <a:pt x="10076" y="72"/>
                    <a:pt x="10054" y="94"/>
                    <a:pt x="10029" y="94"/>
                  </a:cubicBezTo>
                  <a:cubicBezTo>
                    <a:pt x="10003" y="94"/>
                    <a:pt x="9982" y="72"/>
                    <a:pt x="9982" y="47"/>
                  </a:cubicBezTo>
                  <a:cubicBezTo>
                    <a:pt x="9982" y="21"/>
                    <a:pt x="10003" y="0"/>
                    <a:pt x="10029" y="0"/>
                  </a:cubicBezTo>
                  <a:cubicBezTo>
                    <a:pt x="10054" y="0"/>
                    <a:pt x="10076" y="21"/>
                    <a:pt x="10076" y="47"/>
                  </a:cubicBezTo>
                  <a:close/>
                  <a:moveTo>
                    <a:pt x="10177" y="47"/>
                  </a:moveTo>
                  <a:cubicBezTo>
                    <a:pt x="10177" y="72"/>
                    <a:pt x="10155" y="94"/>
                    <a:pt x="10130" y="94"/>
                  </a:cubicBezTo>
                  <a:cubicBezTo>
                    <a:pt x="10104" y="94"/>
                    <a:pt x="10083" y="72"/>
                    <a:pt x="10083" y="47"/>
                  </a:cubicBezTo>
                  <a:cubicBezTo>
                    <a:pt x="10083" y="21"/>
                    <a:pt x="10104" y="0"/>
                    <a:pt x="10130" y="0"/>
                  </a:cubicBezTo>
                  <a:cubicBezTo>
                    <a:pt x="10155" y="0"/>
                    <a:pt x="10177" y="21"/>
                    <a:pt x="10177" y="47"/>
                  </a:cubicBezTo>
                  <a:close/>
                  <a:moveTo>
                    <a:pt x="10278" y="47"/>
                  </a:moveTo>
                  <a:cubicBezTo>
                    <a:pt x="10278" y="72"/>
                    <a:pt x="10256" y="94"/>
                    <a:pt x="10231" y="94"/>
                  </a:cubicBezTo>
                  <a:cubicBezTo>
                    <a:pt x="10205" y="94"/>
                    <a:pt x="10184" y="72"/>
                    <a:pt x="10184" y="47"/>
                  </a:cubicBezTo>
                  <a:cubicBezTo>
                    <a:pt x="10184" y="21"/>
                    <a:pt x="10205" y="0"/>
                    <a:pt x="10231" y="0"/>
                  </a:cubicBezTo>
                  <a:cubicBezTo>
                    <a:pt x="10256" y="0"/>
                    <a:pt x="10278" y="21"/>
                    <a:pt x="10278" y="47"/>
                  </a:cubicBezTo>
                  <a:close/>
                  <a:moveTo>
                    <a:pt x="10379" y="47"/>
                  </a:moveTo>
                  <a:cubicBezTo>
                    <a:pt x="10379" y="72"/>
                    <a:pt x="10357" y="94"/>
                    <a:pt x="10332" y="94"/>
                  </a:cubicBezTo>
                  <a:cubicBezTo>
                    <a:pt x="10306" y="94"/>
                    <a:pt x="10285" y="72"/>
                    <a:pt x="10285" y="47"/>
                  </a:cubicBezTo>
                  <a:cubicBezTo>
                    <a:pt x="10285" y="21"/>
                    <a:pt x="10306" y="0"/>
                    <a:pt x="10332" y="0"/>
                  </a:cubicBezTo>
                  <a:cubicBezTo>
                    <a:pt x="10357" y="0"/>
                    <a:pt x="10379" y="21"/>
                    <a:pt x="10379" y="47"/>
                  </a:cubicBezTo>
                  <a:close/>
                  <a:moveTo>
                    <a:pt x="10479" y="47"/>
                  </a:moveTo>
                  <a:cubicBezTo>
                    <a:pt x="10479" y="72"/>
                    <a:pt x="10457" y="94"/>
                    <a:pt x="10432" y="94"/>
                  </a:cubicBezTo>
                  <a:cubicBezTo>
                    <a:pt x="10406" y="94"/>
                    <a:pt x="10385" y="72"/>
                    <a:pt x="10385" y="47"/>
                  </a:cubicBezTo>
                  <a:cubicBezTo>
                    <a:pt x="10385" y="21"/>
                    <a:pt x="10406" y="0"/>
                    <a:pt x="10432" y="0"/>
                  </a:cubicBezTo>
                  <a:cubicBezTo>
                    <a:pt x="10457" y="0"/>
                    <a:pt x="10479" y="21"/>
                    <a:pt x="10479" y="47"/>
                  </a:cubicBezTo>
                  <a:close/>
                  <a:moveTo>
                    <a:pt x="10580" y="47"/>
                  </a:moveTo>
                  <a:cubicBezTo>
                    <a:pt x="10580" y="72"/>
                    <a:pt x="10558" y="94"/>
                    <a:pt x="10533" y="94"/>
                  </a:cubicBezTo>
                  <a:cubicBezTo>
                    <a:pt x="10507" y="94"/>
                    <a:pt x="10486" y="72"/>
                    <a:pt x="10486" y="47"/>
                  </a:cubicBezTo>
                  <a:cubicBezTo>
                    <a:pt x="10486" y="21"/>
                    <a:pt x="10507" y="0"/>
                    <a:pt x="10533" y="0"/>
                  </a:cubicBezTo>
                  <a:cubicBezTo>
                    <a:pt x="10558" y="0"/>
                    <a:pt x="10580" y="21"/>
                    <a:pt x="10580" y="47"/>
                  </a:cubicBezTo>
                  <a:close/>
                  <a:moveTo>
                    <a:pt x="10681" y="47"/>
                  </a:moveTo>
                  <a:cubicBezTo>
                    <a:pt x="10681" y="72"/>
                    <a:pt x="10659" y="94"/>
                    <a:pt x="10634" y="94"/>
                  </a:cubicBezTo>
                  <a:cubicBezTo>
                    <a:pt x="10608" y="94"/>
                    <a:pt x="10587" y="72"/>
                    <a:pt x="10587" y="47"/>
                  </a:cubicBezTo>
                  <a:cubicBezTo>
                    <a:pt x="10587" y="21"/>
                    <a:pt x="10608" y="0"/>
                    <a:pt x="10634" y="0"/>
                  </a:cubicBezTo>
                  <a:cubicBezTo>
                    <a:pt x="10659" y="0"/>
                    <a:pt x="10681" y="21"/>
                    <a:pt x="10681" y="47"/>
                  </a:cubicBezTo>
                  <a:close/>
                  <a:moveTo>
                    <a:pt x="10782" y="47"/>
                  </a:moveTo>
                  <a:cubicBezTo>
                    <a:pt x="10782" y="72"/>
                    <a:pt x="10760" y="94"/>
                    <a:pt x="10735" y="94"/>
                  </a:cubicBezTo>
                  <a:cubicBezTo>
                    <a:pt x="10709" y="94"/>
                    <a:pt x="10688" y="72"/>
                    <a:pt x="10688" y="47"/>
                  </a:cubicBezTo>
                  <a:cubicBezTo>
                    <a:pt x="10688" y="21"/>
                    <a:pt x="10709" y="0"/>
                    <a:pt x="10735" y="0"/>
                  </a:cubicBezTo>
                  <a:cubicBezTo>
                    <a:pt x="10760" y="0"/>
                    <a:pt x="10782" y="21"/>
                    <a:pt x="10782" y="47"/>
                  </a:cubicBezTo>
                  <a:close/>
                  <a:moveTo>
                    <a:pt x="10883" y="47"/>
                  </a:moveTo>
                  <a:cubicBezTo>
                    <a:pt x="10883" y="72"/>
                    <a:pt x="10861" y="94"/>
                    <a:pt x="10836" y="94"/>
                  </a:cubicBezTo>
                  <a:cubicBezTo>
                    <a:pt x="10810" y="94"/>
                    <a:pt x="10789" y="72"/>
                    <a:pt x="10789" y="47"/>
                  </a:cubicBezTo>
                  <a:cubicBezTo>
                    <a:pt x="10789" y="21"/>
                    <a:pt x="10810" y="0"/>
                    <a:pt x="10836" y="0"/>
                  </a:cubicBezTo>
                  <a:cubicBezTo>
                    <a:pt x="10861" y="0"/>
                    <a:pt x="10883" y="21"/>
                    <a:pt x="10883" y="47"/>
                  </a:cubicBezTo>
                  <a:close/>
                  <a:moveTo>
                    <a:pt x="10983" y="47"/>
                  </a:moveTo>
                  <a:cubicBezTo>
                    <a:pt x="10983" y="72"/>
                    <a:pt x="10961" y="94"/>
                    <a:pt x="10936" y="94"/>
                  </a:cubicBezTo>
                  <a:cubicBezTo>
                    <a:pt x="10910" y="94"/>
                    <a:pt x="10889" y="72"/>
                    <a:pt x="10889" y="47"/>
                  </a:cubicBezTo>
                  <a:cubicBezTo>
                    <a:pt x="10889" y="21"/>
                    <a:pt x="10910" y="0"/>
                    <a:pt x="10936" y="0"/>
                  </a:cubicBezTo>
                  <a:cubicBezTo>
                    <a:pt x="10961" y="0"/>
                    <a:pt x="10983" y="21"/>
                    <a:pt x="10983" y="47"/>
                  </a:cubicBezTo>
                  <a:close/>
                  <a:moveTo>
                    <a:pt x="11084" y="47"/>
                  </a:moveTo>
                  <a:cubicBezTo>
                    <a:pt x="11084" y="72"/>
                    <a:pt x="11062" y="94"/>
                    <a:pt x="11037" y="94"/>
                  </a:cubicBezTo>
                  <a:cubicBezTo>
                    <a:pt x="11011" y="94"/>
                    <a:pt x="10990" y="72"/>
                    <a:pt x="10990" y="47"/>
                  </a:cubicBezTo>
                  <a:cubicBezTo>
                    <a:pt x="10990" y="21"/>
                    <a:pt x="11011" y="0"/>
                    <a:pt x="11037" y="0"/>
                  </a:cubicBezTo>
                  <a:cubicBezTo>
                    <a:pt x="11062" y="0"/>
                    <a:pt x="11084" y="21"/>
                    <a:pt x="11084" y="47"/>
                  </a:cubicBezTo>
                  <a:close/>
                  <a:moveTo>
                    <a:pt x="11185" y="47"/>
                  </a:moveTo>
                  <a:cubicBezTo>
                    <a:pt x="11185" y="72"/>
                    <a:pt x="11163" y="94"/>
                    <a:pt x="11138" y="94"/>
                  </a:cubicBezTo>
                  <a:cubicBezTo>
                    <a:pt x="11112" y="94"/>
                    <a:pt x="11091" y="72"/>
                    <a:pt x="11091" y="47"/>
                  </a:cubicBezTo>
                  <a:cubicBezTo>
                    <a:pt x="11091" y="21"/>
                    <a:pt x="11112" y="0"/>
                    <a:pt x="11138" y="0"/>
                  </a:cubicBezTo>
                  <a:cubicBezTo>
                    <a:pt x="11163" y="0"/>
                    <a:pt x="11185" y="21"/>
                    <a:pt x="11185" y="47"/>
                  </a:cubicBezTo>
                  <a:close/>
                  <a:moveTo>
                    <a:pt x="11286" y="47"/>
                  </a:moveTo>
                  <a:cubicBezTo>
                    <a:pt x="11286" y="72"/>
                    <a:pt x="11264" y="94"/>
                    <a:pt x="11239" y="94"/>
                  </a:cubicBezTo>
                  <a:cubicBezTo>
                    <a:pt x="11213" y="94"/>
                    <a:pt x="11192" y="72"/>
                    <a:pt x="11192" y="47"/>
                  </a:cubicBezTo>
                  <a:cubicBezTo>
                    <a:pt x="11192" y="21"/>
                    <a:pt x="11213" y="0"/>
                    <a:pt x="11239" y="0"/>
                  </a:cubicBezTo>
                  <a:cubicBezTo>
                    <a:pt x="11264" y="0"/>
                    <a:pt x="11286" y="21"/>
                    <a:pt x="11286" y="47"/>
                  </a:cubicBezTo>
                  <a:close/>
                  <a:moveTo>
                    <a:pt x="11387" y="47"/>
                  </a:moveTo>
                  <a:cubicBezTo>
                    <a:pt x="11387" y="72"/>
                    <a:pt x="11365" y="94"/>
                    <a:pt x="11340" y="94"/>
                  </a:cubicBezTo>
                  <a:cubicBezTo>
                    <a:pt x="11314" y="94"/>
                    <a:pt x="11293" y="72"/>
                    <a:pt x="11293" y="47"/>
                  </a:cubicBezTo>
                  <a:cubicBezTo>
                    <a:pt x="11293" y="21"/>
                    <a:pt x="11314" y="0"/>
                    <a:pt x="11340" y="0"/>
                  </a:cubicBezTo>
                  <a:cubicBezTo>
                    <a:pt x="11365" y="0"/>
                    <a:pt x="11387" y="21"/>
                    <a:pt x="11387" y="47"/>
                  </a:cubicBezTo>
                  <a:close/>
                  <a:moveTo>
                    <a:pt x="11487" y="47"/>
                  </a:moveTo>
                  <a:cubicBezTo>
                    <a:pt x="11487" y="72"/>
                    <a:pt x="11465" y="94"/>
                    <a:pt x="11440" y="94"/>
                  </a:cubicBezTo>
                  <a:cubicBezTo>
                    <a:pt x="11414" y="94"/>
                    <a:pt x="11393" y="72"/>
                    <a:pt x="11393" y="47"/>
                  </a:cubicBezTo>
                  <a:cubicBezTo>
                    <a:pt x="11393" y="21"/>
                    <a:pt x="11414" y="0"/>
                    <a:pt x="11440" y="0"/>
                  </a:cubicBezTo>
                  <a:cubicBezTo>
                    <a:pt x="11465" y="0"/>
                    <a:pt x="11487" y="21"/>
                    <a:pt x="11487" y="47"/>
                  </a:cubicBezTo>
                  <a:close/>
                  <a:moveTo>
                    <a:pt x="11588" y="47"/>
                  </a:moveTo>
                  <a:cubicBezTo>
                    <a:pt x="11588" y="72"/>
                    <a:pt x="11566" y="94"/>
                    <a:pt x="11541" y="94"/>
                  </a:cubicBezTo>
                  <a:cubicBezTo>
                    <a:pt x="11515" y="94"/>
                    <a:pt x="11494" y="72"/>
                    <a:pt x="11494" y="47"/>
                  </a:cubicBezTo>
                  <a:cubicBezTo>
                    <a:pt x="11494" y="21"/>
                    <a:pt x="11515" y="0"/>
                    <a:pt x="11541" y="0"/>
                  </a:cubicBezTo>
                  <a:cubicBezTo>
                    <a:pt x="11566" y="0"/>
                    <a:pt x="11588" y="21"/>
                    <a:pt x="11588" y="47"/>
                  </a:cubicBezTo>
                  <a:close/>
                  <a:moveTo>
                    <a:pt x="11689" y="47"/>
                  </a:moveTo>
                  <a:cubicBezTo>
                    <a:pt x="11689" y="72"/>
                    <a:pt x="11667" y="94"/>
                    <a:pt x="11642" y="94"/>
                  </a:cubicBezTo>
                  <a:cubicBezTo>
                    <a:pt x="11616" y="94"/>
                    <a:pt x="11595" y="72"/>
                    <a:pt x="11595" y="47"/>
                  </a:cubicBezTo>
                  <a:cubicBezTo>
                    <a:pt x="11595" y="21"/>
                    <a:pt x="11616" y="0"/>
                    <a:pt x="11642" y="0"/>
                  </a:cubicBezTo>
                  <a:cubicBezTo>
                    <a:pt x="11667" y="0"/>
                    <a:pt x="11689" y="21"/>
                    <a:pt x="11689" y="47"/>
                  </a:cubicBezTo>
                  <a:close/>
                  <a:moveTo>
                    <a:pt x="11790" y="47"/>
                  </a:moveTo>
                  <a:cubicBezTo>
                    <a:pt x="11790" y="72"/>
                    <a:pt x="11768" y="94"/>
                    <a:pt x="11743" y="94"/>
                  </a:cubicBezTo>
                  <a:cubicBezTo>
                    <a:pt x="11717" y="94"/>
                    <a:pt x="11696" y="72"/>
                    <a:pt x="11696" y="47"/>
                  </a:cubicBezTo>
                  <a:cubicBezTo>
                    <a:pt x="11696" y="21"/>
                    <a:pt x="11717" y="0"/>
                    <a:pt x="11743" y="0"/>
                  </a:cubicBezTo>
                  <a:cubicBezTo>
                    <a:pt x="11768" y="0"/>
                    <a:pt x="11790" y="21"/>
                    <a:pt x="11790" y="47"/>
                  </a:cubicBezTo>
                  <a:close/>
                  <a:moveTo>
                    <a:pt x="11891" y="47"/>
                  </a:moveTo>
                  <a:cubicBezTo>
                    <a:pt x="11891" y="72"/>
                    <a:pt x="11869" y="94"/>
                    <a:pt x="11844" y="94"/>
                  </a:cubicBezTo>
                  <a:cubicBezTo>
                    <a:pt x="11818" y="94"/>
                    <a:pt x="11797" y="72"/>
                    <a:pt x="11797" y="47"/>
                  </a:cubicBezTo>
                  <a:cubicBezTo>
                    <a:pt x="11797" y="21"/>
                    <a:pt x="11818" y="0"/>
                    <a:pt x="11844" y="0"/>
                  </a:cubicBezTo>
                  <a:cubicBezTo>
                    <a:pt x="11869" y="0"/>
                    <a:pt x="11891" y="21"/>
                    <a:pt x="11891" y="47"/>
                  </a:cubicBezTo>
                  <a:close/>
                  <a:moveTo>
                    <a:pt x="11991" y="47"/>
                  </a:moveTo>
                  <a:cubicBezTo>
                    <a:pt x="11991" y="72"/>
                    <a:pt x="11969" y="94"/>
                    <a:pt x="11944" y="94"/>
                  </a:cubicBezTo>
                  <a:cubicBezTo>
                    <a:pt x="11918" y="94"/>
                    <a:pt x="11897" y="72"/>
                    <a:pt x="11897" y="47"/>
                  </a:cubicBezTo>
                  <a:cubicBezTo>
                    <a:pt x="11897" y="21"/>
                    <a:pt x="11918" y="0"/>
                    <a:pt x="11944" y="0"/>
                  </a:cubicBezTo>
                  <a:cubicBezTo>
                    <a:pt x="11969" y="0"/>
                    <a:pt x="11991" y="21"/>
                    <a:pt x="11991" y="47"/>
                  </a:cubicBezTo>
                  <a:close/>
                  <a:moveTo>
                    <a:pt x="12092" y="47"/>
                  </a:moveTo>
                  <a:cubicBezTo>
                    <a:pt x="12092" y="72"/>
                    <a:pt x="12070" y="94"/>
                    <a:pt x="12045" y="94"/>
                  </a:cubicBezTo>
                  <a:cubicBezTo>
                    <a:pt x="12019" y="94"/>
                    <a:pt x="11998" y="72"/>
                    <a:pt x="11998" y="47"/>
                  </a:cubicBezTo>
                  <a:cubicBezTo>
                    <a:pt x="11998" y="21"/>
                    <a:pt x="12019" y="0"/>
                    <a:pt x="12045" y="0"/>
                  </a:cubicBezTo>
                  <a:cubicBezTo>
                    <a:pt x="12070" y="0"/>
                    <a:pt x="12092" y="21"/>
                    <a:pt x="12092" y="47"/>
                  </a:cubicBezTo>
                  <a:close/>
                  <a:moveTo>
                    <a:pt x="12193" y="47"/>
                  </a:moveTo>
                  <a:cubicBezTo>
                    <a:pt x="12193" y="72"/>
                    <a:pt x="12171" y="94"/>
                    <a:pt x="12146" y="94"/>
                  </a:cubicBezTo>
                  <a:cubicBezTo>
                    <a:pt x="12120" y="94"/>
                    <a:pt x="12099" y="72"/>
                    <a:pt x="12099" y="47"/>
                  </a:cubicBezTo>
                  <a:cubicBezTo>
                    <a:pt x="12099" y="21"/>
                    <a:pt x="12120" y="0"/>
                    <a:pt x="12146" y="0"/>
                  </a:cubicBezTo>
                  <a:cubicBezTo>
                    <a:pt x="12171" y="0"/>
                    <a:pt x="12193" y="21"/>
                    <a:pt x="12193" y="47"/>
                  </a:cubicBezTo>
                  <a:close/>
                  <a:moveTo>
                    <a:pt x="12294" y="47"/>
                  </a:moveTo>
                  <a:cubicBezTo>
                    <a:pt x="12294" y="72"/>
                    <a:pt x="12272" y="94"/>
                    <a:pt x="12247" y="94"/>
                  </a:cubicBezTo>
                  <a:cubicBezTo>
                    <a:pt x="12221" y="94"/>
                    <a:pt x="12200" y="72"/>
                    <a:pt x="12200" y="47"/>
                  </a:cubicBezTo>
                  <a:cubicBezTo>
                    <a:pt x="12200" y="21"/>
                    <a:pt x="12221" y="0"/>
                    <a:pt x="12247" y="0"/>
                  </a:cubicBezTo>
                  <a:cubicBezTo>
                    <a:pt x="12272" y="0"/>
                    <a:pt x="12294" y="21"/>
                    <a:pt x="12294" y="47"/>
                  </a:cubicBezTo>
                  <a:close/>
                  <a:moveTo>
                    <a:pt x="12395" y="47"/>
                  </a:moveTo>
                  <a:cubicBezTo>
                    <a:pt x="12395" y="72"/>
                    <a:pt x="12373" y="94"/>
                    <a:pt x="12348" y="94"/>
                  </a:cubicBezTo>
                  <a:cubicBezTo>
                    <a:pt x="12322" y="94"/>
                    <a:pt x="12301" y="72"/>
                    <a:pt x="12301" y="47"/>
                  </a:cubicBezTo>
                  <a:cubicBezTo>
                    <a:pt x="12301" y="21"/>
                    <a:pt x="12322" y="0"/>
                    <a:pt x="12348" y="0"/>
                  </a:cubicBezTo>
                  <a:cubicBezTo>
                    <a:pt x="12373" y="0"/>
                    <a:pt x="12395" y="21"/>
                    <a:pt x="12395" y="47"/>
                  </a:cubicBezTo>
                  <a:close/>
                  <a:moveTo>
                    <a:pt x="12495" y="47"/>
                  </a:moveTo>
                  <a:cubicBezTo>
                    <a:pt x="12495" y="72"/>
                    <a:pt x="12473" y="94"/>
                    <a:pt x="12448" y="94"/>
                  </a:cubicBezTo>
                  <a:cubicBezTo>
                    <a:pt x="12422" y="94"/>
                    <a:pt x="12401" y="72"/>
                    <a:pt x="12401" y="47"/>
                  </a:cubicBezTo>
                  <a:cubicBezTo>
                    <a:pt x="12401" y="21"/>
                    <a:pt x="12422" y="0"/>
                    <a:pt x="12448" y="0"/>
                  </a:cubicBezTo>
                  <a:cubicBezTo>
                    <a:pt x="12473" y="0"/>
                    <a:pt x="12495" y="21"/>
                    <a:pt x="12495" y="47"/>
                  </a:cubicBezTo>
                  <a:close/>
                  <a:moveTo>
                    <a:pt x="12596" y="47"/>
                  </a:moveTo>
                  <a:cubicBezTo>
                    <a:pt x="12596" y="72"/>
                    <a:pt x="12574" y="94"/>
                    <a:pt x="12549" y="94"/>
                  </a:cubicBezTo>
                  <a:cubicBezTo>
                    <a:pt x="12523" y="94"/>
                    <a:pt x="12502" y="72"/>
                    <a:pt x="12502" y="47"/>
                  </a:cubicBezTo>
                  <a:cubicBezTo>
                    <a:pt x="12502" y="21"/>
                    <a:pt x="12523" y="0"/>
                    <a:pt x="12549" y="0"/>
                  </a:cubicBezTo>
                  <a:cubicBezTo>
                    <a:pt x="12574" y="0"/>
                    <a:pt x="12596" y="21"/>
                    <a:pt x="12596" y="47"/>
                  </a:cubicBezTo>
                  <a:close/>
                  <a:moveTo>
                    <a:pt x="97" y="553"/>
                  </a:moveTo>
                  <a:cubicBezTo>
                    <a:pt x="97" y="578"/>
                    <a:pt x="75" y="600"/>
                    <a:pt x="50" y="600"/>
                  </a:cubicBezTo>
                  <a:cubicBezTo>
                    <a:pt x="24" y="600"/>
                    <a:pt x="3" y="578"/>
                    <a:pt x="3" y="553"/>
                  </a:cubicBezTo>
                  <a:cubicBezTo>
                    <a:pt x="3" y="527"/>
                    <a:pt x="24" y="506"/>
                    <a:pt x="50" y="506"/>
                  </a:cubicBezTo>
                  <a:cubicBezTo>
                    <a:pt x="75" y="506"/>
                    <a:pt x="97" y="527"/>
                    <a:pt x="97" y="553"/>
                  </a:cubicBezTo>
                  <a:close/>
                  <a:moveTo>
                    <a:pt x="198" y="553"/>
                  </a:moveTo>
                  <a:cubicBezTo>
                    <a:pt x="198" y="578"/>
                    <a:pt x="176" y="600"/>
                    <a:pt x="151" y="600"/>
                  </a:cubicBezTo>
                  <a:cubicBezTo>
                    <a:pt x="125" y="600"/>
                    <a:pt x="104" y="578"/>
                    <a:pt x="104" y="553"/>
                  </a:cubicBezTo>
                  <a:cubicBezTo>
                    <a:pt x="104" y="527"/>
                    <a:pt x="125" y="506"/>
                    <a:pt x="151" y="506"/>
                  </a:cubicBezTo>
                  <a:cubicBezTo>
                    <a:pt x="176" y="506"/>
                    <a:pt x="198" y="527"/>
                    <a:pt x="198" y="553"/>
                  </a:cubicBezTo>
                  <a:close/>
                  <a:moveTo>
                    <a:pt x="299" y="553"/>
                  </a:moveTo>
                  <a:cubicBezTo>
                    <a:pt x="299" y="578"/>
                    <a:pt x="277" y="600"/>
                    <a:pt x="252" y="600"/>
                  </a:cubicBezTo>
                  <a:cubicBezTo>
                    <a:pt x="226" y="600"/>
                    <a:pt x="205" y="578"/>
                    <a:pt x="205" y="553"/>
                  </a:cubicBezTo>
                  <a:cubicBezTo>
                    <a:pt x="205" y="527"/>
                    <a:pt x="226" y="506"/>
                    <a:pt x="252" y="506"/>
                  </a:cubicBezTo>
                  <a:cubicBezTo>
                    <a:pt x="277" y="506"/>
                    <a:pt x="299" y="527"/>
                    <a:pt x="299" y="553"/>
                  </a:cubicBezTo>
                  <a:close/>
                  <a:moveTo>
                    <a:pt x="399" y="553"/>
                  </a:moveTo>
                  <a:cubicBezTo>
                    <a:pt x="399" y="578"/>
                    <a:pt x="377" y="600"/>
                    <a:pt x="352" y="600"/>
                  </a:cubicBezTo>
                  <a:cubicBezTo>
                    <a:pt x="326" y="600"/>
                    <a:pt x="305" y="578"/>
                    <a:pt x="305" y="553"/>
                  </a:cubicBezTo>
                  <a:cubicBezTo>
                    <a:pt x="305" y="527"/>
                    <a:pt x="326" y="506"/>
                    <a:pt x="352" y="506"/>
                  </a:cubicBezTo>
                  <a:cubicBezTo>
                    <a:pt x="377" y="506"/>
                    <a:pt x="399" y="527"/>
                    <a:pt x="399" y="553"/>
                  </a:cubicBezTo>
                  <a:close/>
                  <a:moveTo>
                    <a:pt x="500" y="553"/>
                  </a:moveTo>
                  <a:cubicBezTo>
                    <a:pt x="500" y="578"/>
                    <a:pt x="478" y="600"/>
                    <a:pt x="453" y="600"/>
                  </a:cubicBezTo>
                  <a:cubicBezTo>
                    <a:pt x="427" y="600"/>
                    <a:pt x="406" y="578"/>
                    <a:pt x="406" y="553"/>
                  </a:cubicBezTo>
                  <a:cubicBezTo>
                    <a:pt x="406" y="527"/>
                    <a:pt x="427" y="506"/>
                    <a:pt x="453" y="506"/>
                  </a:cubicBezTo>
                  <a:cubicBezTo>
                    <a:pt x="478" y="506"/>
                    <a:pt x="500" y="527"/>
                    <a:pt x="500" y="553"/>
                  </a:cubicBezTo>
                  <a:close/>
                  <a:moveTo>
                    <a:pt x="601" y="553"/>
                  </a:moveTo>
                  <a:cubicBezTo>
                    <a:pt x="601" y="578"/>
                    <a:pt x="579" y="600"/>
                    <a:pt x="554" y="600"/>
                  </a:cubicBezTo>
                  <a:cubicBezTo>
                    <a:pt x="528" y="600"/>
                    <a:pt x="507" y="578"/>
                    <a:pt x="507" y="553"/>
                  </a:cubicBezTo>
                  <a:cubicBezTo>
                    <a:pt x="507" y="527"/>
                    <a:pt x="528" y="506"/>
                    <a:pt x="554" y="506"/>
                  </a:cubicBezTo>
                  <a:cubicBezTo>
                    <a:pt x="579" y="506"/>
                    <a:pt x="601" y="527"/>
                    <a:pt x="601" y="553"/>
                  </a:cubicBezTo>
                  <a:close/>
                  <a:moveTo>
                    <a:pt x="702" y="553"/>
                  </a:moveTo>
                  <a:cubicBezTo>
                    <a:pt x="702" y="578"/>
                    <a:pt x="680" y="600"/>
                    <a:pt x="655" y="600"/>
                  </a:cubicBezTo>
                  <a:cubicBezTo>
                    <a:pt x="629" y="600"/>
                    <a:pt x="608" y="578"/>
                    <a:pt x="608" y="553"/>
                  </a:cubicBezTo>
                  <a:cubicBezTo>
                    <a:pt x="608" y="527"/>
                    <a:pt x="629" y="506"/>
                    <a:pt x="655" y="506"/>
                  </a:cubicBezTo>
                  <a:cubicBezTo>
                    <a:pt x="680" y="506"/>
                    <a:pt x="702" y="527"/>
                    <a:pt x="702" y="553"/>
                  </a:cubicBezTo>
                  <a:close/>
                  <a:moveTo>
                    <a:pt x="803" y="553"/>
                  </a:moveTo>
                  <a:cubicBezTo>
                    <a:pt x="803" y="578"/>
                    <a:pt x="781" y="600"/>
                    <a:pt x="756" y="600"/>
                  </a:cubicBezTo>
                  <a:cubicBezTo>
                    <a:pt x="730" y="600"/>
                    <a:pt x="709" y="578"/>
                    <a:pt x="709" y="553"/>
                  </a:cubicBezTo>
                  <a:cubicBezTo>
                    <a:pt x="709" y="527"/>
                    <a:pt x="730" y="506"/>
                    <a:pt x="756" y="506"/>
                  </a:cubicBezTo>
                  <a:cubicBezTo>
                    <a:pt x="781" y="506"/>
                    <a:pt x="803" y="527"/>
                    <a:pt x="803" y="553"/>
                  </a:cubicBezTo>
                  <a:close/>
                  <a:moveTo>
                    <a:pt x="903" y="553"/>
                  </a:moveTo>
                  <a:cubicBezTo>
                    <a:pt x="903" y="578"/>
                    <a:pt x="881" y="600"/>
                    <a:pt x="856" y="600"/>
                  </a:cubicBezTo>
                  <a:cubicBezTo>
                    <a:pt x="830" y="600"/>
                    <a:pt x="809" y="578"/>
                    <a:pt x="809" y="553"/>
                  </a:cubicBezTo>
                  <a:cubicBezTo>
                    <a:pt x="809" y="527"/>
                    <a:pt x="830" y="506"/>
                    <a:pt x="856" y="506"/>
                  </a:cubicBezTo>
                  <a:cubicBezTo>
                    <a:pt x="881" y="506"/>
                    <a:pt x="903" y="527"/>
                    <a:pt x="903" y="553"/>
                  </a:cubicBezTo>
                  <a:close/>
                  <a:moveTo>
                    <a:pt x="1004" y="553"/>
                  </a:moveTo>
                  <a:cubicBezTo>
                    <a:pt x="1004" y="578"/>
                    <a:pt x="982" y="600"/>
                    <a:pt x="957" y="600"/>
                  </a:cubicBezTo>
                  <a:cubicBezTo>
                    <a:pt x="931" y="600"/>
                    <a:pt x="910" y="578"/>
                    <a:pt x="910" y="553"/>
                  </a:cubicBezTo>
                  <a:cubicBezTo>
                    <a:pt x="910" y="527"/>
                    <a:pt x="931" y="506"/>
                    <a:pt x="957" y="506"/>
                  </a:cubicBezTo>
                  <a:cubicBezTo>
                    <a:pt x="982" y="506"/>
                    <a:pt x="1004" y="527"/>
                    <a:pt x="1004" y="553"/>
                  </a:cubicBezTo>
                  <a:close/>
                  <a:moveTo>
                    <a:pt x="1105" y="553"/>
                  </a:moveTo>
                  <a:cubicBezTo>
                    <a:pt x="1105" y="578"/>
                    <a:pt x="1083" y="600"/>
                    <a:pt x="1058" y="600"/>
                  </a:cubicBezTo>
                  <a:cubicBezTo>
                    <a:pt x="1032" y="600"/>
                    <a:pt x="1011" y="578"/>
                    <a:pt x="1011" y="553"/>
                  </a:cubicBezTo>
                  <a:cubicBezTo>
                    <a:pt x="1011" y="527"/>
                    <a:pt x="1032" y="506"/>
                    <a:pt x="1058" y="506"/>
                  </a:cubicBezTo>
                  <a:cubicBezTo>
                    <a:pt x="1083" y="506"/>
                    <a:pt x="1105" y="527"/>
                    <a:pt x="1105" y="553"/>
                  </a:cubicBezTo>
                  <a:close/>
                  <a:moveTo>
                    <a:pt x="1206" y="553"/>
                  </a:moveTo>
                  <a:cubicBezTo>
                    <a:pt x="1206" y="578"/>
                    <a:pt x="1184" y="600"/>
                    <a:pt x="1159" y="600"/>
                  </a:cubicBezTo>
                  <a:cubicBezTo>
                    <a:pt x="1133" y="600"/>
                    <a:pt x="1112" y="578"/>
                    <a:pt x="1112" y="553"/>
                  </a:cubicBezTo>
                  <a:cubicBezTo>
                    <a:pt x="1112" y="527"/>
                    <a:pt x="1133" y="506"/>
                    <a:pt x="1159" y="506"/>
                  </a:cubicBezTo>
                  <a:cubicBezTo>
                    <a:pt x="1184" y="506"/>
                    <a:pt x="1206" y="527"/>
                    <a:pt x="1206" y="553"/>
                  </a:cubicBezTo>
                  <a:close/>
                  <a:moveTo>
                    <a:pt x="1307" y="553"/>
                  </a:moveTo>
                  <a:cubicBezTo>
                    <a:pt x="1307" y="578"/>
                    <a:pt x="1285" y="600"/>
                    <a:pt x="1260" y="600"/>
                  </a:cubicBezTo>
                  <a:cubicBezTo>
                    <a:pt x="1234" y="600"/>
                    <a:pt x="1213" y="578"/>
                    <a:pt x="1213" y="553"/>
                  </a:cubicBezTo>
                  <a:cubicBezTo>
                    <a:pt x="1213" y="527"/>
                    <a:pt x="1234" y="506"/>
                    <a:pt x="1260" y="506"/>
                  </a:cubicBezTo>
                  <a:cubicBezTo>
                    <a:pt x="1285" y="506"/>
                    <a:pt x="1307" y="527"/>
                    <a:pt x="1307" y="553"/>
                  </a:cubicBezTo>
                  <a:close/>
                  <a:moveTo>
                    <a:pt x="1407" y="553"/>
                  </a:moveTo>
                  <a:cubicBezTo>
                    <a:pt x="1407" y="578"/>
                    <a:pt x="1385" y="600"/>
                    <a:pt x="1360" y="600"/>
                  </a:cubicBezTo>
                  <a:cubicBezTo>
                    <a:pt x="1334" y="600"/>
                    <a:pt x="1313" y="578"/>
                    <a:pt x="1313" y="553"/>
                  </a:cubicBezTo>
                  <a:cubicBezTo>
                    <a:pt x="1313" y="527"/>
                    <a:pt x="1334" y="506"/>
                    <a:pt x="1360" y="506"/>
                  </a:cubicBezTo>
                  <a:cubicBezTo>
                    <a:pt x="1385" y="506"/>
                    <a:pt x="1407" y="527"/>
                    <a:pt x="1407" y="553"/>
                  </a:cubicBezTo>
                  <a:close/>
                  <a:moveTo>
                    <a:pt x="1508" y="553"/>
                  </a:moveTo>
                  <a:cubicBezTo>
                    <a:pt x="1508" y="578"/>
                    <a:pt x="1486" y="600"/>
                    <a:pt x="1461" y="600"/>
                  </a:cubicBezTo>
                  <a:cubicBezTo>
                    <a:pt x="1435" y="600"/>
                    <a:pt x="1414" y="578"/>
                    <a:pt x="1414" y="553"/>
                  </a:cubicBezTo>
                  <a:cubicBezTo>
                    <a:pt x="1414" y="527"/>
                    <a:pt x="1435" y="506"/>
                    <a:pt x="1461" y="506"/>
                  </a:cubicBezTo>
                  <a:cubicBezTo>
                    <a:pt x="1486" y="506"/>
                    <a:pt x="1508" y="527"/>
                    <a:pt x="1508" y="553"/>
                  </a:cubicBezTo>
                  <a:close/>
                  <a:moveTo>
                    <a:pt x="1609" y="553"/>
                  </a:moveTo>
                  <a:cubicBezTo>
                    <a:pt x="1609" y="578"/>
                    <a:pt x="1587" y="600"/>
                    <a:pt x="1562" y="600"/>
                  </a:cubicBezTo>
                  <a:cubicBezTo>
                    <a:pt x="1536" y="600"/>
                    <a:pt x="1515" y="578"/>
                    <a:pt x="1515" y="553"/>
                  </a:cubicBezTo>
                  <a:cubicBezTo>
                    <a:pt x="1515" y="527"/>
                    <a:pt x="1536" y="506"/>
                    <a:pt x="1562" y="506"/>
                  </a:cubicBezTo>
                  <a:cubicBezTo>
                    <a:pt x="1587" y="506"/>
                    <a:pt x="1609" y="527"/>
                    <a:pt x="1609" y="553"/>
                  </a:cubicBezTo>
                  <a:close/>
                  <a:moveTo>
                    <a:pt x="1710" y="553"/>
                  </a:moveTo>
                  <a:cubicBezTo>
                    <a:pt x="1710" y="578"/>
                    <a:pt x="1688" y="600"/>
                    <a:pt x="1663" y="600"/>
                  </a:cubicBezTo>
                  <a:cubicBezTo>
                    <a:pt x="1637" y="600"/>
                    <a:pt x="1616" y="578"/>
                    <a:pt x="1616" y="553"/>
                  </a:cubicBezTo>
                  <a:cubicBezTo>
                    <a:pt x="1616" y="527"/>
                    <a:pt x="1637" y="506"/>
                    <a:pt x="1663" y="506"/>
                  </a:cubicBezTo>
                  <a:cubicBezTo>
                    <a:pt x="1688" y="506"/>
                    <a:pt x="1710" y="527"/>
                    <a:pt x="1710" y="553"/>
                  </a:cubicBezTo>
                  <a:close/>
                  <a:moveTo>
                    <a:pt x="1811" y="553"/>
                  </a:moveTo>
                  <a:cubicBezTo>
                    <a:pt x="1811" y="578"/>
                    <a:pt x="1789" y="600"/>
                    <a:pt x="1764" y="600"/>
                  </a:cubicBezTo>
                  <a:cubicBezTo>
                    <a:pt x="1738" y="600"/>
                    <a:pt x="1717" y="578"/>
                    <a:pt x="1717" y="553"/>
                  </a:cubicBezTo>
                  <a:cubicBezTo>
                    <a:pt x="1717" y="527"/>
                    <a:pt x="1738" y="506"/>
                    <a:pt x="1764" y="506"/>
                  </a:cubicBezTo>
                  <a:cubicBezTo>
                    <a:pt x="1789" y="506"/>
                    <a:pt x="1811" y="527"/>
                    <a:pt x="1811" y="553"/>
                  </a:cubicBezTo>
                  <a:close/>
                  <a:moveTo>
                    <a:pt x="1911" y="553"/>
                  </a:moveTo>
                  <a:cubicBezTo>
                    <a:pt x="1911" y="578"/>
                    <a:pt x="1889" y="600"/>
                    <a:pt x="1864" y="600"/>
                  </a:cubicBezTo>
                  <a:cubicBezTo>
                    <a:pt x="1838" y="600"/>
                    <a:pt x="1817" y="578"/>
                    <a:pt x="1817" y="553"/>
                  </a:cubicBezTo>
                  <a:cubicBezTo>
                    <a:pt x="1817" y="527"/>
                    <a:pt x="1838" y="506"/>
                    <a:pt x="1864" y="506"/>
                  </a:cubicBezTo>
                  <a:cubicBezTo>
                    <a:pt x="1889" y="506"/>
                    <a:pt x="1911" y="527"/>
                    <a:pt x="1911" y="553"/>
                  </a:cubicBezTo>
                  <a:close/>
                  <a:moveTo>
                    <a:pt x="2012" y="553"/>
                  </a:moveTo>
                  <a:cubicBezTo>
                    <a:pt x="2012" y="578"/>
                    <a:pt x="1990" y="600"/>
                    <a:pt x="1965" y="600"/>
                  </a:cubicBezTo>
                  <a:cubicBezTo>
                    <a:pt x="1939" y="600"/>
                    <a:pt x="1918" y="578"/>
                    <a:pt x="1918" y="553"/>
                  </a:cubicBezTo>
                  <a:cubicBezTo>
                    <a:pt x="1918" y="527"/>
                    <a:pt x="1939" y="506"/>
                    <a:pt x="1965" y="506"/>
                  </a:cubicBezTo>
                  <a:cubicBezTo>
                    <a:pt x="1990" y="506"/>
                    <a:pt x="2012" y="527"/>
                    <a:pt x="2012" y="553"/>
                  </a:cubicBezTo>
                  <a:close/>
                  <a:moveTo>
                    <a:pt x="2113" y="553"/>
                  </a:moveTo>
                  <a:cubicBezTo>
                    <a:pt x="2113" y="578"/>
                    <a:pt x="2091" y="600"/>
                    <a:pt x="2066" y="600"/>
                  </a:cubicBezTo>
                  <a:cubicBezTo>
                    <a:pt x="2040" y="600"/>
                    <a:pt x="2019" y="578"/>
                    <a:pt x="2019" y="553"/>
                  </a:cubicBezTo>
                  <a:cubicBezTo>
                    <a:pt x="2019" y="527"/>
                    <a:pt x="2040" y="506"/>
                    <a:pt x="2066" y="506"/>
                  </a:cubicBezTo>
                  <a:cubicBezTo>
                    <a:pt x="2091" y="506"/>
                    <a:pt x="2113" y="527"/>
                    <a:pt x="2113" y="553"/>
                  </a:cubicBezTo>
                  <a:close/>
                  <a:moveTo>
                    <a:pt x="2214" y="553"/>
                  </a:moveTo>
                  <a:cubicBezTo>
                    <a:pt x="2214" y="578"/>
                    <a:pt x="2192" y="600"/>
                    <a:pt x="2167" y="600"/>
                  </a:cubicBezTo>
                  <a:cubicBezTo>
                    <a:pt x="2141" y="600"/>
                    <a:pt x="2120" y="578"/>
                    <a:pt x="2120" y="553"/>
                  </a:cubicBezTo>
                  <a:cubicBezTo>
                    <a:pt x="2120" y="527"/>
                    <a:pt x="2141" y="506"/>
                    <a:pt x="2167" y="506"/>
                  </a:cubicBezTo>
                  <a:cubicBezTo>
                    <a:pt x="2192" y="506"/>
                    <a:pt x="2214" y="527"/>
                    <a:pt x="2214" y="553"/>
                  </a:cubicBezTo>
                  <a:close/>
                  <a:moveTo>
                    <a:pt x="2315" y="553"/>
                  </a:moveTo>
                  <a:cubicBezTo>
                    <a:pt x="2315" y="578"/>
                    <a:pt x="2293" y="600"/>
                    <a:pt x="2268" y="600"/>
                  </a:cubicBezTo>
                  <a:cubicBezTo>
                    <a:pt x="2242" y="600"/>
                    <a:pt x="2221" y="578"/>
                    <a:pt x="2221" y="553"/>
                  </a:cubicBezTo>
                  <a:cubicBezTo>
                    <a:pt x="2221" y="527"/>
                    <a:pt x="2242" y="506"/>
                    <a:pt x="2268" y="506"/>
                  </a:cubicBezTo>
                  <a:cubicBezTo>
                    <a:pt x="2293" y="506"/>
                    <a:pt x="2315" y="527"/>
                    <a:pt x="2315" y="553"/>
                  </a:cubicBezTo>
                  <a:close/>
                  <a:moveTo>
                    <a:pt x="2415" y="553"/>
                  </a:moveTo>
                  <a:cubicBezTo>
                    <a:pt x="2415" y="578"/>
                    <a:pt x="2393" y="600"/>
                    <a:pt x="2368" y="600"/>
                  </a:cubicBezTo>
                  <a:cubicBezTo>
                    <a:pt x="2342" y="600"/>
                    <a:pt x="2321" y="578"/>
                    <a:pt x="2321" y="553"/>
                  </a:cubicBezTo>
                  <a:cubicBezTo>
                    <a:pt x="2321" y="527"/>
                    <a:pt x="2342" y="506"/>
                    <a:pt x="2368" y="506"/>
                  </a:cubicBezTo>
                  <a:cubicBezTo>
                    <a:pt x="2393" y="506"/>
                    <a:pt x="2415" y="527"/>
                    <a:pt x="2415" y="553"/>
                  </a:cubicBezTo>
                  <a:close/>
                  <a:moveTo>
                    <a:pt x="2516" y="553"/>
                  </a:moveTo>
                  <a:cubicBezTo>
                    <a:pt x="2516" y="578"/>
                    <a:pt x="2494" y="600"/>
                    <a:pt x="2469" y="600"/>
                  </a:cubicBezTo>
                  <a:cubicBezTo>
                    <a:pt x="2443" y="600"/>
                    <a:pt x="2422" y="578"/>
                    <a:pt x="2422" y="553"/>
                  </a:cubicBezTo>
                  <a:cubicBezTo>
                    <a:pt x="2422" y="527"/>
                    <a:pt x="2443" y="506"/>
                    <a:pt x="2469" y="506"/>
                  </a:cubicBezTo>
                  <a:cubicBezTo>
                    <a:pt x="2494" y="506"/>
                    <a:pt x="2516" y="527"/>
                    <a:pt x="2516" y="553"/>
                  </a:cubicBezTo>
                  <a:close/>
                  <a:moveTo>
                    <a:pt x="2617" y="553"/>
                  </a:moveTo>
                  <a:cubicBezTo>
                    <a:pt x="2617" y="578"/>
                    <a:pt x="2595" y="600"/>
                    <a:pt x="2570" y="600"/>
                  </a:cubicBezTo>
                  <a:cubicBezTo>
                    <a:pt x="2544" y="600"/>
                    <a:pt x="2523" y="578"/>
                    <a:pt x="2523" y="553"/>
                  </a:cubicBezTo>
                  <a:cubicBezTo>
                    <a:pt x="2523" y="527"/>
                    <a:pt x="2544" y="506"/>
                    <a:pt x="2570" y="506"/>
                  </a:cubicBezTo>
                  <a:cubicBezTo>
                    <a:pt x="2595" y="506"/>
                    <a:pt x="2617" y="527"/>
                    <a:pt x="2617" y="553"/>
                  </a:cubicBezTo>
                  <a:close/>
                  <a:moveTo>
                    <a:pt x="2718" y="553"/>
                  </a:moveTo>
                  <a:cubicBezTo>
                    <a:pt x="2718" y="578"/>
                    <a:pt x="2696" y="600"/>
                    <a:pt x="2671" y="600"/>
                  </a:cubicBezTo>
                  <a:cubicBezTo>
                    <a:pt x="2645" y="600"/>
                    <a:pt x="2624" y="578"/>
                    <a:pt x="2624" y="553"/>
                  </a:cubicBezTo>
                  <a:cubicBezTo>
                    <a:pt x="2624" y="527"/>
                    <a:pt x="2645" y="506"/>
                    <a:pt x="2671" y="506"/>
                  </a:cubicBezTo>
                  <a:cubicBezTo>
                    <a:pt x="2696" y="506"/>
                    <a:pt x="2718" y="527"/>
                    <a:pt x="2718" y="553"/>
                  </a:cubicBezTo>
                  <a:close/>
                  <a:moveTo>
                    <a:pt x="2819" y="553"/>
                  </a:moveTo>
                  <a:cubicBezTo>
                    <a:pt x="2819" y="578"/>
                    <a:pt x="2797" y="600"/>
                    <a:pt x="2772" y="600"/>
                  </a:cubicBezTo>
                  <a:cubicBezTo>
                    <a:pt x="2746" y="600"/>
                    <a:pt x="2725" y="578"/>
                    <a:pt x="2725" y="553"/>
                  </a:cubicBezTo>
                  <a:cubicBezTo>
                    <a:pt x="2725" y="527"/>
                    <a:pt x="2746" y="506"/>
                    <a:pt x="2772" y="506"/>
                  </a:cubicBezTo>
                  <a:cubicBezTo>
                    <a:pt x="2797" y="506"/>
                    <a:pt x="2819" y="527"/>
                    <a:pt x="2819" y="553"/>
                  </a:cubicBezTo>
                  <a:close/>
                  <a:moveTo>
                    <a:pt x="2919" y="553"/>
                  </a:moveTo>
                  <a:cubicBezTo>
                    <a:pt x="2919" y="578"/>
                    <a:pt x="2897" y="600"/>
                    <a:pt x="2872" y="600"/>
                  </a:cubicBezTo>
                  <a:cubicBezTo>
                    <a:pt x="2846" y="600"/>
                    <a:pt x="2825" y="578"/>
                    <a:pt x="2825" y="553"/>
                  </a:cubicBezTo>
                  <a:cubicBezTo>
                    <a:pt x="2825" y="527"/>
                    <a:pt x="2846" y="506"/>
                    <a:pt x="2872" y="506"/>
                  </a:cubicBezTo>
                  <a:cubicBezTo>
                    <a:pt x="2897" y="506"/>
                    <a:pt x="2919" y="527"/>
                    <a:pt x="2919" y="553"/>
                  </a:cubicBezTo>
                  <a:close/>
                  <a:moveTo>
                    <a:pt x="3020" y="553"/>
                  </a:moveTo>
                  <a:cubicBezTo>
                    <a:pt x="3020" y="578"/>
                    <a:pt x="2998" y="600"/>
                    <a:pt x="2973" y="600"/>
                  </a:cubicBezTo>
                  <a:cubicBezTo>
                    <a:pt x="2947" y="600"/>
                    <a:pt x="2926" y="578"/>
                    <a:pt x="2926" y="553"/>
                  </a:cubicBezTo>
                  <a:cubicBezTo>
                    <a:pt x="2926" y="527"/>
                    <a:pt x="2947" y="506"/>
                    <a:pt x="2973" y="506"/>
                  </a:cubicBezTo>
                  <a:cubicBezTo>
                    <a:pt x="2998" y="506"/>
                    <a:pt x="3020" y="527"/>
                    <a:pt x="3020" y="553"/>
                  </a:cubicBezTo>
                  <a:close/>
                  <a:moveTo>
                    <a:pt x="3121" y="553"/>
                  </a:moveTo>
                  <a:cubicBezTo>
                    <a:pt x="3121" y="578"/>
                    <a:pt x="3099" y="600"/>
                    <a:pt x="3074" y="600"/>
                  </a:cubicBezTo>
                  <a:cubicBezTo>
                    <a:pt x="3048" y="600"/>
                    <a:pt x="3027" y="578"/>
                    <a:pt x="3027" y="553"/>
                  </a:cubicBezTo>
                  <a:cubicBezTo>
                    <a:pt x="3027" y="527"/>
                    <a:pt x="3048" y="506"/>
                    <a:pt x="3074" y="506"/>
                  </a:cubicBezTo>
                  <a:cubicBezTo>
                    <a:pt x="3099" y="506"/>
                    <a:pt x="3121" y="527"/>
                    <a:pt x="3121" y="553"/>
                  </a:cubicBezTo>
                  <a:close/>
                  <a:moveTo>
                    <a:pt x="3222" y="553"/>
                  </a:moveTo>
                  <a:cubicBezTo>
                    <a:pt x="3222" y="578"/>
                    <a:pt x="3200" y="600"/>
                    <a:pt x="3175" y="600"/>
                  </a:cubicBezTo>
                  <a:cubicBezTo>
                    <a:pt x="3149" y="600"/>
                    <a:pt x="3128" y="578"/>
                    <a:pt x="3128" y="553"/>
                  </a:cubicBezTo>
                  <a:cubicBezTo>
                    <a:pt x="3128" y="527"/>
                    <a:pt x="3149" y="506"/>
                    <a:pt x="3175" y="506"/>
                  </a:cubicBezTo>
                  <a:cubicBezTo>
                    <a:pt x="3200" y="506"/>
                    <a:pt x="3222" y="527"/>
                    <a:pt x="3222" y="553"/>
                  </a:cubicBezTo>
                  <a:close/>
                  <a:moveTo>
                    <a:pt x="3323" y="553"/>
                  </a:moveTo>
                  <a:cubicBezTo>
                    <a:pt x="3323" y="578"/>
                    <a:pt x="3301" y="600"/>
                    <a:pt x="3276" y="600"/>
                  </a:cubicBezTo>
                  <a:cubicBezTo>
                    <a:pt x="3250" y="600"/>
                    <a:pt x="3229" y="578"/>
                    <a:pt x="3229" y="553"/>
                  </a:cubicBezTo>
                  <a:cubicBezTo>
                    <a:pt x="3229" y="527"/>
                    <a:pt x="3250" y="506"/>
                    <a:pt x="3276" y="506"/>
                  </a:cubicBezTo>
                  <a:cubicBezTo>
                    <a:pt x="3301" y="506"/>
                    <a:pt x="3323" y="527"/>
                    <a:pt x="3323" y="553"/>
                  </a:cubicBezTo>
                  <a:close/>
                  <a:moveTo>
                    <a:pt x="3423" y="553"/>
                  </a:moveTo>
                  <a:cubicBezTo>
                    <a:pt x="3423" y="578"/>
                    <a:pt x="3401" y="600"/>
                    <a:pt x="3376" y="600"/>
                  </a:cubicBezTo>
                  <a:cubicBezTo>
                    <a:pt x="3350" y="600"/>
                    <a:pt x="3329" y="578"/>
                    <a:pt x="3329" y="553"/>
                  </a:cubicBezTo>
                  <a:cubicBezTo>
                    <a:pt x="3329" y="527"/>
                    <a:pt x="3350" y="506"/>
                    <a:pt x="3376" y="506"/>
                  </a:cubicBezTo>
                  <a:cubicBezTo>
                    <a:pt x="3401" y="506"/>
                    <a:pt x="3423" y="527"/>
                    <a:pt x="3423" y="553"/>
                  </a:cubicBezTo>
                  <a:close/>
                  <a:moveTo>
                    <a:pt x="3524" y="553"/>
                  </a:moveTo>
                  <a:cubicBezTo>
                    <a:pt x="3524" y="578"/>
                    <a:pt x="3502" y="600"/>
                    <a:pt x="3477" y="600"/>
                  </a:cubicBezTo>
                  <a:cubicBezTo>
                    <a:pt x="3451" y="600"/>
                    <a:pt x="3430" y="578"/>
                    <a:pt x="3430" y="553"/>
                  </a:cubicBezTo>
                  <a:cubicBezTo>
                    <a:pt x="3430" y="527"/>
                    <a:pt x="3451" y="506"/>
                    <a:pt x="3477" y="506"/>
                  </a:cubicBezTo>
                  <a:cubicBezTo>
                    <a:pt x="3502" y="506"/>
                    <a:pt x="3524" y="527"/>
                    <a:pt x="3524" y="553"/>
                  </a:cubicBezTo>
                  <a:close/>
                  <a:moveTo>
                    <a:pt x="3625" y="553"/>
                  </a:moveTo>
                  <a:cubicBezTo>
                    <a:pt x="3625" y="578"/>
                    <a:pt x="3603" y="600"/>
                    <a:pt x="3578" y="600"/>
                  </a:cubicBezTo>
                  <a:cubicBezTo>
                    <a:pt x="3552" y="600"/>
                    <a:pt x="3531" y="578"/>
                    <a:pt x="3531" y="553"/>
                  </a:cubicBezTo>
                  <a:cubicBezTo>
                    <a:pt x="3531" y="527"/>
                    <a:pt x="3552" y="506"/>
                    <a:pt x="3578" y="506"/>
                  </a:cubicBezTo>
                  <a:cubicBezTo>
                    <a:pt x="3603" y="506"/>
                    <a:pt x="3625" y="527"/>
                    <a:pt x="3625" y="553"/>
                  </a:cubicBezTo>
                  <a:close/>
                  <a:moveTo>
                    <a:pt x="3726" y="553"/>
                  </a:moveTo>
                  <a:cubicBezTo>
                    <a:pt x="3726" y="578"/>
                    <a:pt x="3704" y="600"/>
                    <a:pt x="3679" y="600"/>
                  </a:cubicBezTo>
                  <a:cubicBezTo>
                    <a:pt x="3653" y="600"/>
                    <a:pt x="3632" y="578"/>
                    <a:pt x="3632" y="553"/>
                  </a:cubicBezTo>
                  <a:cubicBezTo>
                    <a:pt x="3632" y="527"/>
                    <a:pt x="3653" y="506"/>
                    <a:pt x="3679" y="506"/>
                  </a:cubicBezTo>
                  <a:cubicBezTo>
                    <a:pt x="3704" y="506"/>
                    <a:pt x="3726" y="527"/>
                    <a:pt x="3726" y="553"/>
                  </a:cubicBezTo>
                  <a:close/>
                  <a:moveTo>
                    <a:pt x="3827" y="553"/>
                  </a:moveTo>
                  <a:cubicBezTo>
                    <a:pt x="3827" y="578"/>
                    <a:pt x="3805" y="600"/>
                    <a:pt x="3780" y="600"/>
                  </a:cubicBezTo>
                  <a:cubicBezTo>
                    <a:pt x="3754" y="600"/>
                    <a:pt x="3733" y="578"/>
                    <a:pt x="3733" y="553"/>
                  </a:cubicBezTo>
                  <a:cubicBezTo>
                    <a:pt x="3733" y="527"/>
                    <a:pt x="3754" y="506"/>
                    <a:pt x="3780" y="506"/>
                  </a:cubicBezTo>
                  <a:cubicBezTo>
                    <a:pt x="3805" y="506"/>
                    <a:pt x="3827" y="527"/>
                    <a:pt x="3827" y="553"/>
                  </a:cubicBezTo>
                  <a:close/>
                  <a:moveTo>
                    <a:pt x="3927" y="553"/>
                  </a:moveTo>
                  <a:cubicBezTo>
                    <a:pt x="3927" y="578"/>
                    <a:pt x="3905" y="600"/>
                    <a:pt x="3880" y="600"/>
                  </a:cubicBezTo>
                  <a:cubicBezTo>
                    <a:pt x="3854" y="600"/>
                    <a:pt x="3833" y="578"/>
                    <a:pt x="3833" y="553"/>
                  </a:cubicBezTo>
                  <a:cubicBezTo>
                    <a:pt x="3833" y="527"/>
                    <a:pt x="3854" y="506"/>
                    <a:pt x="3880" y="506"/>
                  </a:cubicBezTo>
                  <a:cubicBezTo>
                    <a:pt x="3905" y="506"/>
                    <a:pt x="3927" y="527"/>
                    <a:pt x="3927" y="553"/>
                  </a:cubicBezTo>
                  <a:close/>
                  <a:moveTo>
                    <a:pt x="4028" y="553"/>
                  </a:moveTo>
                  <a:cubicBezTo>
                    <a:pt x="4028" y="578"/>
                    <a:pt x="4006" y="600"/>
                    <a:pt x="3981" y="600"/>
                  </a:cubicBezTo>
                  <a:cubicBezTo>
                    <a:pt x="3955" y="600"/>
                    <a:pt x="3934" y="578"/>
                    <a:pt x="3934" y="553"/>
                  </a:cubicBezTo>
                  <a:cubicBezTo>
                    <a:pt x="3934" y="527"/>
                    <a:pt x="3955" y="506"/>
                    <a:pt x="3981" y="506"/>
                  </a:cubicBezTo>
                  <a:cubicBezTo>
                    <a:pt x="4006" y="506"/>
                    <a:pt x="4028" y="527"/>
                    <a:pt x="4028" y="553"/>
                  </a:cubicBezTo>
                  <a:close/>
                  <a:moveTo>
                    <a:pt x="4129" y="553"/>
                  </a:moveTo>
                  <a:cubicBezTo>
                    <a:pt x="4129" y="578"/>
                    <a:pt x="4107" y="600"/>
                    <a:pt x="4082" y="600"/>
                  </a:cubicBezTo>
                  <a:cubicBezTo>
                    <a:pt x="4056" y="600"/>
                    <a:pt x="4035" y="578"/>
                    <a:pt x="4035" y="553"/>
                  </a:cubicBezTo>
                  <a:cubicBezTo>
                    <a:pt x="4035" y="527"/>
                    <a:pt x="4056" y="506"/>
                    <a:pt x="4082" y="506"/>
                  </a:cubicBezTo>
                  <a:cubicBezTo>
                    <a:pt x="4107" y="506"/>
                    <a:pt x="4129" y="527"/>
                    <a:pt x="4129" y="553"/>
                  </a:cubicBezTo>
                  <a:close/>
                  <a:moveTo>
                    <a:pt x="4230" y="553"/>
                  </a:moveTo>
                  <a:cubicBezTo>
                    <a:pt x="4230" y="578"/>
                    <a:pt x="4208" y="600"/>
                    <a:pt x="4183" y="600"/>
                  </a:cubicBezTo>
                  <a:cubicBezTo>
                    <a:pt x="4157" y="600"/>
                    <a:pt x="4136" y="578"/>
                    <a:pt x="4136" y="553"/>
                  </a:cubicBezTo>
                  <a:cubicBezTo>
                    <a:pt x="4136" y="527"/>
                    <a:pt x="4157" y="506"/>
                    <a:pt x="4183" y="506"/>
                  </a:cubicBezTo>
                  <a:cubicBezTo>
                    <a:pt x="4208" y="506"/>
                    <a:pt x="4230" y="527"/>
                    <a:pt x="4230" y="553"/>
                  </a:cubicBezTo>
                  <a:close/>
                  <a:moveTo>
                    <a:pt x="4331" y="553"/>
                  </a:moveTo>
                  <a:cubicBezTo>
                    <a:pt x="4331" y="578"/>
                    <a:pt x="4309" y="600"/>
                    <a:pt x="4284" y="600"/>
                  </a:cubicBezTo>
                  <a:cubicBezTo>
                    <a:pt x="4258" y="600"/>
                    <a:pt x="4237" y="578"/>
                    <a:pt x="4237" y="553"/>
                  </a:cubicBezTo>
                  <a:cubicBezTo>
                    <a:pt x="4237" y="527"/>
                    <a:pt x="4258" y="506"/>
                    <a:pt x="4284" y="506"/>
                  </a:cubicBezTo>
                  <a:cubicBezTo>
                    <a:pt x="4309" y="506"/>
                    <a:pt x="4331" y="527"/>
                    <a:pt x="4331" y="553"/>
                  </a:cubicBezTo>
                  <a:close/>
                  <a:moveTo>
                    <a:pt x="4431" y="553"/>
                  </a:moveTo>
                  <a:cubicBezTo>
                    <a:pt x="4431" y="578"/>
                    <a:pt x="4409" y="600"/>
                    <a:pt x="4384" y="600"/>
                  </a:cubicBezTo>
                  <a:cubicBezTo>
                    <a:pt x="4358" y="600"/>
                    <a:pt x="4337" y="578"/>
                    <a:pt x="4337" y="553"/>
                  </a:cubicBezTo>
                  <a:cubicBezTo>
                    <a:pt x="4337" y="527"/>
                    <a:pt x="4358" y="506"/>
                    <a:pt x="4384" y="506"/>
                  </a:cubicBezTo>
                  <a:cubicBezTo>
                    <a:pt x="4409" y="506"/>
                    <a:pt x="4431" y="527"/>
                    <a:pt x="4431" y="553"/>
                  </a:cubicBezTo>
                  <a:close/>
                  <a:moveTo>
                    <a:pt x="4532" y="553"/>
                  </a:moveTo>
                  <a:cubicBezTo>
                    <a:pt x="4532" y="578"/>
                    <a:pt x="4510" y="600"/>
                    <a:pt x="4485" y="600"/>
                  </a:cubicBezTo>
                  <a:cubicBezTo>
                    <a:pt x="4459" y="600"/>
                    <a:pt x="4438" y="578"/>
                    <a:pt x="4438" y="553"/>
                  </a:cubicBezTo>
                  <a:cubicBezTo>
                    <a:pt x="4438" y="527"/>
                    <a:pt x="4459" y="506"/>
                    <a:pt x="4485" y="506"/>
                  </a:cubicBezTo>
                  <a:cubicBezTo>
                    <a:pt x="4510" y="506"/>
                    <a:pt x="4532" y="527"/>
                    <a:pt x="4532" y="553"/>
                  </a:cubicBezTo>
                  <a:close/>
                  <a:moveTo>
                    <a:pt x="4633" y="553"/>
                  </a:moveTo>
                  <a:cubicBezTo>
                    <a:pt x="4633" y="578"/>
                    <a:pt x="4611" y="600"/>
                    <a:pt x="4586" y="600"/>
                  </a:cubicBezTo>
                  <a:cubicBezTo>
                    <a:pt x="4560" y="600"/>
                    <a:pt x="4539" y="578"/>
                    <a:pt x="4539" y="553"/>
                  </a:cubicBezTo>
                  <a:cubicBezTo>
                    <a:pt x="4539" y="527"/>
                    <a:pt x="4560" y="506"/>
                    <a:pt x="4586" y="506"/>
                  </a:cubicBezTo>
                  <a:cubicBezTo>
                    <a:pt x="4611" y="506"/>
                    <a:pt x="4633" y="527"/>
                    <a:pt x="4633" y="553"/>
                  </a:cubicBezTo>
                  <a:close/>
                  <a:moveTo>
                    <a:pt x="4734" y="553"/>
                  </a:moveTo>
                  <a:cubicBezTo>
                    <a:pt x="4734" y="578"/>
                    <a:pt x="4712" y="600"/>
                    <a:pt x="4687" y="600"/>
                  </a:cubicBezTo>
                  <a:cubicBezTo>
                    <a:pt x="4661" y="600"/>
                    <a:pt x="4640" y="578"/>
                    <a:pt x="4640" y="553"/>
                  </a:cubicBezTo>
                  <a:cubicBezTo>
                    <a:pt x="4640" y="527"/>
                    <a:pt x="4661" y="506"/>
                    <a:pt x="4687" y="506"/>
                  </a:cubicBezTo>
                  <a:cubicBezTo>
                    <a:pt x="4712" y="506"/>
                    <a:pt x="4734" y="527"/>
                    <a:pt x="4734" y="553"/>
                  </a:cubicBezTo>
                  <a:close/>
                  <a:moveTo>
                    <a:pt x="4835" y="553"/>
                  </a:moveTo>
                  <a:cubicBezTo>
                    <a:pt x="4835" y="578"/>
                    <a:pt x="4813" y="600"/>
                    <a:pt x="4788" y="600"/>
                  </a:cubicBezTo>
                  <a:cubicBezTo>
                    <a:pt x="4762" y="600"/>
                    <a:pt x="4741" y="578"/>
                    <a:pt x="4741" y="553"/>
                  </a:cubicBezTo>
                  <a:cubicBezTo>
                    <a:pt x="4741" y="527"/>
                    <a:pt x="4762" y="506"/>
                    <a:pt x="4788" y="506"/>
                  </a:cubicBezTo>
                  <a:cubicBezTo>
                    <a:pt x="4813" y="506"/>
                    <a:pt x="4835" y="527"/>
                    <a:pt x="4835" y="553"/>
                  </a:cubicBezTo>
                  <a:close/>
                  <a:moveTo>
                    <a:pt x="4935" y="553"/>
                  </a:moveTo>
                  <a:cubicBezTo>
                    <a:pt x="4935" y="578"/>
                    <a:pt x="4913" y="600"/>
                    <a:pt x="4888" y="600"/>
                  </a:cubicBezTo>
                  <a:cubicBezTo>
                    <a:pt x="4862" y="600"/>
                    <a:pt x="4841" y="578"/>
                    <a:pt x="4841" y="553"/>
                  </a:cubicBezTo>
                  <a:cubicBezTo>
                    <a:pt x="4841" y="527"/>
                    <a:pt x="4862" y="506"/>
                    <a:pt x="4888" y="506"/>
                  </a:cubicBezTo>
                  <a:cubicBezTo>
                    <a:pt x="4913" y="506"/>
                    <a:pt x="4935" y="527"/>
                    <a:pt x="4935" y="553"/>
                  </a:cubicBezTo>
                  <a:close/>
                  <a:moveTo>
                    <a:pt x="5036" y="553"/>
                  </a:moveTo>
                  <a:cubicBezTo>
                    <a:pt x="5036" y="578"/>
                    <a:pt x="5014" y="600"/>
                    <a:pt x="4989" y="600"/>
                  </a:cubicBezTo>
                  <a:cubicBezTo>
                    <a:pt x="4963" y="600"/>
                    <a:pt x="4942" y="578"/>
                    <a:pt x="4942" y="553"/>
                  </a:cubicBezTo>
                  <a:cubicBezTo>
                    <a:pt x="4942" y="527"/>
                    <a:pt x="4963" y="506"/>
                    <a:pt x="4989" y="506"/>
                  </a:cubicBezTo>
                  <a:cubicBezTo>
                    <a:pt x="5014" y="506"/>
                    <a:pt x="5036" y="527"/>
                    <a:pt x="5036" y="553"/>
                  </a:cubicBezTo>
                  <a:close/>
                  <a:moveTo>
                    <a:pt x="5137" y="553"/>
                  </a:moveTo>
                  <a:cubicBezTo>
                    <a:pt x="5137" y="578"/>
                    <a:pt x="5115" y="600"/>
                    <a:pt x="5090" y="600"/>
                  </a:cubicBezTo>
                  <a:cubicBezTo>
                    <a:pt x="5064" y="600"/>
                    <a:pt x="5043" y="578"/>
                    <a:pt x="5043" y="553"/>
                  </a:cubicBezTo>
                  <a:cubicBezTo>
                    <a:pt x="5043" y="527"/>
                    <a:pt x="5064" y="506"/>
                    <a:pt x="5090" y="506"/>
                  </a:cubicBezTo>
                  <a:cubicBezTo>
                    <a:pt x="5115" y="506"/>
                    <a:pt x="5137" y="527"/>
                    <a:pt x="5137" y="553"/>
                  </a:cubicBezTo>
                  <a:close/>
                  <a:moveTo>
                    <a:pt x="5238" y="553"/>
                  </a:moveTo>
                  <a:cubicBezTo>
                    <a:pt x="5238" y="578"/>
                    <a:pt x="5216" y="600"/>
                    <a:pt x="5191" y="600"/>
                  </a:cubicBezTo>
                  <a:cubicBezTo>
                    <a:pt x="5165" y="600"/>
                    <a:pt x="5144" y="578"/>
                    <a:pt x="5144" y="553"/>
                  </a:cubicBezTo>
                  <a:cubicBezTo>
                    <a:pt x="5144" y="527"/>
                    <a:pt x="5165" y="506"/>
                    <a:pt x="5191" y="506"/>
                  </a:cubicBezTo>
                  <a:cubicBezTo>
                    <a:pt x="5216" y="506"/>
                    <a:pt x="5238" y="527"/>
                    <a:pt x="5238" y="553"/>
                  </a:cubicBezTo>
                  <a:close/>
                  <a:moveTo>
                    <a:pt x="5339" y="553"/>
                  </a:moveTo>
                  <a:cubicBezTo>
                    <a:pt x="5339" y="578"/>
                    <a:pt x="5317" y="600"/>
                    <a:pt x="5292" y="600"/>
                  </a:cubicBezTo>
                  <a:cubicBezTo>
                    <a:pt x="5266" y="600"/>
                    <a:pt x="5245" y="578"/>
                    <a:pt x="5245" y="553"/>
                  </a:cubicBezTo>
                  <a:cubicBezTo>
                    <a:pt x="5245" y="527"/>
                    <a:pt x="5266" y="506"/>
                    <a:pt x="5292" y="506"/>
                  </a:cubicBezTo>
                  <a:cubicBezTo>
                    <a:pt x="5317" y="506"/>
                    <a:pt x="5339" y="527"/>
                    <a:pt x="5339" y="553"/>
                  </a:cubicBezTo>
                  <a:close/>
                  <a:moveTo>
                    <a:pt x="5439" y="553"/>
                  </a:moveTo>
                  <a:cubicBezTo>
                    <a:pt x="5439" y="578"/>
                    <a:pt x="5417" y="600"/>
                    <a:pt x="5392" y="600"/>
                  </a:cubicBezTo>
                  <a:cubicBezTo>
                    <a:pt x="5366" y="600"/>
                    <a:pt x="5345" y="578"/>
                    <a:pt x="5345" y="553"/>
                  </a:cubicBezTo>
                  <a:cubicBezTo>
                    <a:pt x="5345" y="527"/>
                    <a:pt x="5366" y="506"/>
                    <a:pt x="5392" y="506"/>
                  </a:cubicBezTo>
                  <a:cubicBezTo>
                    <a:pt x="5417" y="506"/>
                    <a:pt x="5439" y="527"/>
                    <a:pt x="5439" y="553"/>
                  </a:cubicBezTo>
                  <a:close/>
                  <a:moveTo>
                    <a:pt x="5540" y="553"/>
                  </a:moveTo>
                  <a:cubicBezTo>
                    <a:pt x="5540" y="578"/>
                    <a:pt x="5518" y="600"/>
                    <a:pt x="5493" y="600"/>
                  </a:cubicBezTo>
                  <a:cubicBezTo>
                    <a:pt x="5467" y="600"/>
                    <a:pt x="5446" y="578"/>
                    <a:pt x="5446" y="553"/>
                  </a:cubicBezTo>
                  <a:cubicBezTo>
                    <a:pt x="5446" y="527"/>
                    <a:pt x="5467" y="506"/>
                    <a:pt x="5493" y="506"/>
                  </a:cubicBezTo>
                  <a:cubicBezTo>
                    <a:pt x="5518" y="506"/>
                    <a:pt x="5540" y="527"/>
                    <a:pt x="5540" y="553"/>
                  </a:cubicBezTo>
                  <a:close/>
                  <a:moveTo>
                    <a:pt x="5641" y="553"/>
                  </a:moveTo>
                  <a:cubicBezTo>
                    <a:pt x="5641" y="578"/>
                    <a:pt x="5619" y="600"/>
                    <a:pt x="5594" y="600"/>
                  </a:cubicBezTo>
                  <a:cubicBezTo>
                    <a:pt x="5568" y="600"/>
                    <a:pt x="5547" y="578"/>
                    <a:pt x="5547" y="553"/>
                  </a:cubicBezTo>
                  <a:cubicBezTo>
                    <a:pt x="5547" y="527"/>
                    <a:pt x="5568" y="506"/>
                    <a:pt x="5594" y="506"/>
                  </a:cubicBezTo>
                  <a:cubicBezTo>
                    <a:pt x="5619" y="506"/>
                    <a:pt x="5641" y="527"/>
                    <a:pt x="5641" y="553"/>
                  </a:cubicBezTo>
                  <a:close/>
                  <a:moveTo>
                    <a:pt x="5742" y="553"/>
                  </a:moveTo>
                  <a:cubicBezTo>
                    <a:pt x="5742" y="578"/>
                    <a:pt x="5720" y="600"/>
                    <a:pt x="5695" y="600"/>
                  </a:cubicBezTo>
                  <a:cubicBezTo>
                    <a:pt x="5669" y="600"/>
                    <a:pt x="5648" y="578"/>
                    <a:pt x="5648" y="553"/>
                  </a:cubicBezTo>
                  <a:cubicBezTo>
                    <a:pt x="5648" y="527"/>
                    <a:pt x="5669" y="506"/>
                    <a:pt x="5695" y="506"/>
                  </a:cubicBezTo>
                  <a:cubicBezTo>
                    <a:pt x="5720" y="506"/>
                    <a:pt x="5742" y="527"/>
                    <a:pt x="5742" y="553"/>
                  </a:cubicBezTo>
                  <a:close/>
                  <a:moveTo>
                    <a:pt x="5843" y="553"/>
                  </a:moveTo>
                  <a:cubicBezTo>
                    <a:pt x="5843" y="578"/>
                    <a:pt x="5821" y="600"/>
                    <a:pt x="5796" y="600"/>
                  </a:cubicBezTo>
                  <a:cubicBezTo>
                    <a:pt x="5770" y="600"/>
                    <a:pt x="5749" y="578"/>
                    <a:pt x="5749" y="553"/>
                  </a:cubicBezTo>
                  <a:cubicBezTo>
                    <a:pt x="5749" y="527"/>
                    <a:pt x="5770" y="506"/>
                    <a:pt x="5796" y="506"/>
                  </a:cubicBezTo>
                  <a:cubicBezTo>
                    <a:pt x="5821" y="506"/>
                    <a:pt x="5843" y="527"/>
                    <a:pt x="5843" y="553"/>
                  </a:cubicBezTo>
                  <a:close/>
                  <a:moveTo>
                    <a:pt x="5943" y="553"/>
                  </a:moveTo>
                  <a:cubicBezTo>
                    <a:pt x="5943" y="578"/>
                    <a:pt x="5921" y="600"/>
                    <a:pt x="5896" y="600"/>
                  </a:cubicBezTo>
                  <a:cubicBezTo>
                    <a:pt x="5870" y="600"/>
                    <a:pt x="5849" y="578"/>
                    <a:pt x="5849" y="553"/>
                  </a:cubicBezTo>
                  <a:cubicBezTo>
                    <a:pt x="5849" y="527"/>
                    <a:pt x="5870" y="506"/>
                    <a:pt x="5896" y="506"/>
                  </a:cubicBezTo>
                  <a:cubicBezTo>
                    <a:pt x="5921" y="506"/>
                    <a:pt x="5943" y="527"/>
                    <a:pt x="5943" y="553"/>
                  </a:cubicBezTo>
                  <a:close/>
                  <a:moveTo>
                    <a:pt x="6044" y="553"/>
                  </a:moveTo>
                  <a:cubicBezTo>
                    <a:pt x="6044" y="578"/>
                    <a:pt x="6022" y="600"/>
                    <a:pt x="5997" y="600"/>
                  </a:cubicBezTo>
                  <a:cubicBezTo>
                    <a:pt x="5971" y="600"/>
                    <a:pt x="5950" y="578"/>
                    <a:pt x="5950" y="553"/>
                  </a:cubicBezTo>
                  <a:cubicBezTo>
                    <a:pt x="5950" y="527"/>
                    <a:pt x="5971" y="506"/>
                    <a:pt x="5997" y="506"/>
                  </a:cubicBezTo>
                  <a:cubicBezTo>
                    <a:pt x="6022" y="506"/>
                    <a:pt x="6044" y="527"/>
                    <a:pt x="6044" y="553"/>
                  </a:cubicBezTo>
                  <a:close/>
                  <a:moveTo>
                    <a:pt x="6145" y="553"/>
                  </a:moveTo>
                  <a:cubicBezTo>
                    <a:pt x="6145" y="578"/>
                    <a:pt x="6123" y="600"/>
                    <a:pt x="6098" y="600"/>
                  </a:cubicBezTo>
                  <a:cubicBezTo>
                    <a:pt x="6072" y="600"/>
                    <a:pt x="6051" y="578"/>
                    <a:pt x="6051" y="553"/>
                  </a:cubicBezTo>
                  <a:cubicBezTo>
                    <a:pt x="6051" y="527"/>
                    <a:pt x="6072" y="506"/>
                    <a:pt x="6098" y="506"/>
                  </a:cubicBezTo>
                  <a:cubicBezTo>
                    <a:pt x="6123" y="506"/>
                    <a:pt x="6145" y="527"/>
                    <a:pt x="6145" y="553"/>
                  </a:cubicBezTo>
                  <a:close/>
                  <a:moveTo>
                    <a:pt x="6246" y="553"/>
                  </a:moveTo>
                  <a:cubicBezTo>
                    <a:pt x="6246" y="578"/>
                    <a:pt x="6224" y="600"/>
                    <a:pt x="6199" y="600"/>
                  </a:cubicBezTo>
                  <a:cubicBezTo>
                    <a:pt x="6173" y="600"/>
                    <a:pt x="6152" y="578"/>
                    <a:pt x="6152" y="553"/>
                  </a:cubicBezTo>
                  <a:cubicBezTo>
                    <a:pt x="6152" y="527"/>
                    <a:pt x="6173" y="506"/>
                    <a:pt x="6199" y="506"/>
                  </a:cubicBezTo>
                  <a:cubicBezTo>
                    <a:pt x="6224" y="506"/>
                    <a:pt x="6246" y="527"/>
                    <a:pt x="6246" y="553"/>
                  </a:cubicBezTo>
                  <a:close/>
                  <a:moveTo>
                    <a:pt x="6347" y="553"/>
                  </a:moveTo>
                  <a:cubicBezTo>
                    <a:pt x="6347" y="578"/>
                    <a:pt x="6325" y="600"/>
                    <a:pt x="6300" y="600"/>
                  </a:cubicBezTo>
                  <a:cubicBezTo>
                    <a:pt x="6274" y="600"/>
                    <a:pt x="6253" y="578"/>
                    <a:pt x="6253" y="553"/>
                  </a:cubicBezTo>
                  <a:cubicBezTo>
                    <a:pt x="6253" y="527"/>
                    <a:pt x="6274" y="506"/>
                    <a:pt x="6300" y="506"/>
                  </a:cubicBezTo>
                  <a:cubicBezTo>
                    <a:pt x="6325" y="506"/>
                    <a:pt x="6347" y="527"/>
                    <a:pt x="6347" y="553"/>
                  </a:cubicBezTo>
                  <a:close/>
                  <a:moveTo>
                    <a:pt x="6447" y="553"/>
                  </a:moveTo>
                  <a:cubicBezTo>
                    <a:pt x="6447" y="578"/>
                    <a:pt x="6425" y="600"/>
                    <a:pt x="6400" y="600"/>
                  </a:cubicBezTo>
                  <a:cubicBezTo>
                    <a:pt x="6374" y="600"/>
                    <a:pt x="6353" y="578"/>
                    <a:pt x="6353" y="553"/>
                  </a:cubicBezTo>
                  <a:cubicBezTo>
                    <a:pt x="6353" y="527"/>
                    <a:pt x="6374" y="506"/>
                    <a:pt x="6400" y="506"/>
                  </a:cubicBezTo>
                  <a:cubicBezTo>
                    <a:pt x="6425" y="506"/>
                    <a:pt x="6447" y="527"/>
                    <a:pt x="6447" y="553"/>
                  </a:cubicBezTo>
                  <a:close/>
                  <a:moveTo>
                    <a:pt x="6548" y="553"/>
                  </a:moveTo>
                  <a:cubicBezTo>
                    <a:pt x="6548" y="578"/>
                    <a:pt x="6526" y="600"/>
                    <a:pt x="6501" y="600"/>
                  </a:cubicBezTo>
                  <a:cubicBezTo>
                    <a:pt x="6475" y="600"/>
                    <a:pt x="6454" y="578"/>
                    <a:pt x="6454" y="553"/>
                  </a:cubicBezTo>
                  <a:cubicBezTo>
                    <a:pt x="6454" y="527"/>
                    <a:pt x="6475" y="506"/>
                    <a:pt x="6501" y="506"/>
                  </a:cubicBezTo>
                  <a:cubicBezTo>
                    <a:pt x="6526" y="506"/>
                    <a:pt x="6548" y="527"/>
                    <a:pt x="6548" y="553"/>
                  </a:cubicBezTo>
                  <a:close/>
                  <a:moveTo>
                    <a:pt x="6649" y="553"/>
                  </a:moveTo>
                  <a:cubicBezTo>
                    <a:pt x="6649" y="578"/>
                    <a:pt x="6627" y="600"/>
                    <a:pt x="6602" y="600"/>
                  </a:cubicBezTo>
                  <a:cubicBezTo>
                    <a:pt x="6576" y="600"/>
                    <a:pt x="6555" y="578"/>
                    <a:pt x="6555" y="553"/>
                  </a:cubicBezTo>
                  <a:cubicBezTo>
                    <a:pt x="6555" y="527"/>
                    <a:pt x="6576" y="506"/>
                    <a:pt x="6602" y="506"/>
                  </a:cubicBezTo>
                  <a:cubicBezTo>
                    <a:pt x="6627" y="506"/>
                    <a:pt x="6649" y="527"/>
                    <a:pt x="6649" y="553"/>
                  </a:cubicBezTo>
                  <a:close/>
                  <a:moveTo>
                    <a:pt x="6750" y="553"/>
                  </a:moveTo>
                  <a:cubicBezTo>
                    <a:pt x="6750" y="578"/>
                    <a:pt x="6728" y="600"/>
                    <a:pt x="6703" y="600"/>
                  </a:cubicBezTo>
                  <a:cubicBezTo>
                    <a:pt x="6677" y="600"/>
                    <a:pt x="6656" y="578"/>
                    <a:pt x="6656" y="553"/>
                  </a:cubicBezTo>
                  <a:cubicBezTo>
                    <a:pt x="6656" y="527"/>
                    <a:pt x="6677" y="506"/>
                    <a:pt x="6703" y="506"/>
                  </a:cubicBezTo>
                  <a:cubicBezTo>
                    <a:pt x="6728" y="506"/>
                    <a:pt x="6750" y="527"/>
                    <a:pt x="6750" y="553"/>
                  </a:cubicBezTo>
                  <a:close/>
                  <a:moveTo>
                    <a:pt x="6851" y="553"/>
                  </a:moveTo>
                  <a:cubicBezTo>
                    <a:pt x="6851" y="578"/>
                    <a:pt x="6829" y="600"/>
                    <a:pt x="6804" y="600"/>
                  </a:cubicBezTo>
                  <a:cubicBezTo>
                    <a:pt x="6778" y="600"/>
                    <a:pt x="6757" y="578"/>
                    <a:pt x="6757" y="553"/>
                  </a:cubicBezTo>
                  <a:cubicBezTo>
                    <a:pt x="6757" y="527"/>
                    <a:pt x="6778" y="506"/>
                    <a:pt x="6804" y="506"/>
                  </a:cubicBezTo>
                  <a:cubicBezTo>
                    <a:pt x="6829" y="506"/>
                    <a:pt x="6851" y="527"/>
                    <a:pt x="6851" y="553"/>
                  </a:cubicBezTo>
                  <a:close/>
                  <a:moveTo>
                    <a:pt x="6951" y="553"/>
                  </a:moveTo>
                  <a:cubicBezTo>
                    <a:pt x="6951" y="578"/>
                    <a:pt x="6929" y="600"/>
                    <a:pt x="6904" y="600"/>
                  </a:cubicBezTo>
                  <a:cubicBezTo>
                    <a:pt x="6878" y="600"/>
                    <a:pt x="6857" y="578"/>
                    <a:pt x="6857" y="553"/>
                  </a:cubicBezTo>
                  <a:cubicBezTo>
                    <a:pt x="6857" y="527"/>
                    <a:pt x="6878" y="506"/>
                    <a:pt x="6904" y="506"/>
                  </a:cubicBezTo>
                  <a:cubicBezTo>
                    <a:pt x="6929" y="506"/>
                    <a:pt x="6951" y="527"/>
                    <a:pt x="6951" y="553"/>
                  </a:cubicBezTo>
                  <a:close/>
                  <a:moveTo>
                    <a:pt x="7052" y="553"/>
                  </a:moveTo>
                  <a:cubicBezTo>
                    <a:pt x="7052" y="578"/>
                    <a:pt x="7030" y="600"/>
                    <a:pt x="7005" y="600"/>
                  </a:cubicBezTo>
                  <a:cubicBezTo>
                    <a:pt x="6979" y="600"/>
                    <a:pt x="6958" y="578"/>
                    <a:pt x="6958" y="553"/>
                  </a:cubicBezTo>
                  <a:cubicBezTo>
                    <a:pt x="6958" y="527"/>
                    <a:pt x="6979" y="506"/>
                    <a:pt x="7005" y="506"/>
                  </a:cubicBezTo>
                  <a:cubicBezTo>
                    <a:pt x="7030" y="506"/>
                    <a:pt x="7052" y="527"/>
                    <a:pt x="7052" y="553"/>
                  </a:cubicBezTo>
                  <a:close/>
                  <a:moveTo>
                    <a:pt x="7153" y="553"/>
                  </a:moveTo>
                  <a:cubicBezTo>
                    <a:pt x="7153" y="578"/>
                    <a:pt x="7131" y="600"/>
                    <a:pt x="7106" y="600"/>
                  </a:cubicBezTo>
                  <a:cubicBezTo>
                    <a:pt x="7080" y="600"/>
                    <a:pt x="7059" y="578"/>
                    <a:pt x="7059" y="553"/>
                  </a:cubicBezTo>
                  <a:cubicBezTo>
                    <a:pt x="7059" y="527"/>
                    <a:pt x="7080" y="506"/>
                    <a:pt x="7106" y="506"/>
                  </a:cubicBezTo>
                  <a:cubicBezTo>
                    <a:pt x="7131" y="506"/>
                    <a:pt x="7153" y="527"/>
                    <a:pt x="7153" y="553"/>
                  </a:cubicBezTo>
                  <a:close/>
                  <a:moveTo>
                    <a:pt x="7254" y="553"/>
                  </a:moveTo>
                  <a:cubicBezTo>
                    <a:pt x="7254" y="578"/>
                    <a:pt x="7232" y="600"/>
                    <a:pt x="7207" y="600"/>
                  </a:cubicBezTo>
                  <a:cubicBezTo>
                    <a:pt x="7181" y="600"/>
                    <a:pt x="7160" y="578"/>
                    <a:pt x="7160" y="553"/>
                  </a:cubicBezTo>
                  <a:cubicBezTo>
                    <a:pt x="7160" y="527"/>
                    <a:pt x="7181" y="506"/>
                    <a:pt x="7207" y="506"/>
                  </a:cubicBezTo>
                  <a:cubicBezTo>
                    <a:pt x="7232" y="506"/>
                    <a:pt x="7254" y="527"/>
                    <a:pt x="7254" y="553"/>
                  </a:cubicBezTo>
                  <a:close/>
                  <a:moveTo>
                    <a:pt x="7355" y="553"/>
                  </a:moveTo>
                  <a:cubicBezTo>
                    <a:pt x="7355" y="578"/>
                    <a:pt x="7333" y="600"/>
                    <a:pt x="7308" y="600"/>
                  </a:cubicBezTo>
                  <a:cubicBezTo>
                    <a:pt x="7282" y="600"/>
                    <a:pt x="7261" y="578"/>
                    <a:pt x="7261" y="553"/>
                  </a:cubicBezTo>
                  <a:cubicBezTo>
                    <a:pt x="7261" y="527"/>
                    <a:pt x="7282" y="506"/>
                    <a:pt x="7308" y="506"/>
                  </a:cubicBezTo>
                  <a:cubicBezTo>
                    <a:pt x="7333" y="506"/>
                    <a:pt x="7355" y="527"/>
                    <a:pt x="7355" y="553"/>
                  </a:cubicBezTo>
                  <a:close/>
                  <a:moveTo>
                    <a:pt x="7455" y="553"/>
                  </a:moveTo>
                  <a:cubicBezTo>
                    <a:pt x="7455" y="578"/>
                    <a:pt x="7433" y="600"/>
                    <a:pt x="7408" y="600"/>
                  </a:cubicBezTo>
                  <a:cubicBezTo>
                    <a:pt x="7382" y="600"/>
                    <a:pt x="7361" y="578"/>
                    <a:pt x="7361" y="553"/>
                  </a:cubicBezTo>
                  <a:cubicBezTo>
                    <a:pt x="7361" y="527"/>
                    <a:pt x="7382" y="506"/>
                    <a:pt x="7408" y="506"/>
                  </a:cubicBezTo>
                  <a:cubicBezTo>
                    <a:pt x="7433" y="506"/>
                    <a:pt x="7455" y="527"/>
                    <a:pt x="7455" y="553"/>
                  </a:cubicBezTo>
                  <a:close/>
                  <a:moveTo>
                    <a:pt x="7556" y="553"/>
                  </a:moveTo>
                  <a:cubicBezTo>
                    <a:pt x="7556" y="578"/>
                    <a:pt x="7534" y="600"/>
                    <a:pt x="7509" y="600"/>
                  </a:cubicBezTo>
                  <a:cubicBezTo>
                    <a:pt x="7483" y="600"/>
                    <a:pt x="7462" y="578"/>
                    <a:pt x="7462" y="553"/>
                  </a:cubicBezTo>
                  <a:cubicBezTo>
                    <a:pt x="7462" y="527"/>
                    <a:pt x="7483" y="506"/>
                    <a:pt x="7509" y="506"/>
                  </a:cubicBezTo>
                  <a:cubicBezTo>
                    <a:pt x="7534" y="506"/>
                    <a:pt x="7556" y="527"/>
                    <a:pt x="7556" y="553"/>
                  </a:cubicBezTo>
                  <a:close/>
                  <a:moveTo>
                    <a:pt x="7657" y="553"/>
                  </a:moveTo>
                  <a:cubicBezTo>
                    <a:pt x="7657" y="578"/>
                    <a:pt x="7635" y="600"/>
                    <a:pt x="7610" y="600"/>
                  </a:cubicBezTo>
                  <a:cubicBezTo>
                    <a:pt x="7584" y="600"/>
                    <a:pt x="7563" y="578"/>
                    <a:pt x="7563" y="553"/>
                  </a:cubicBezTo>
                  <a:cubicBezTo>
                    <a:pt x="7563" y="527"/>
                    <a:pt x="7584" y="506"/>
                    <a:pt x="7610" y="506"/>
                  </a:cubicBezTo>
                  <a:cubicBezTo>
                    <a:pt x="7635" y="506"/>
                    <a:pt x="7657" y="527"/>
                    <a:pt x="7657" y="553"/>
                  </a:cubicBezTo>
                  <a:close/>
                  <a:moveTo>
                    <a:pt x="7758" y="553"/>
                  </a:moveTo>
                  <a:cubicBezTo>
                    <a:pt x="7758" y="578"/>
                    <a:pt x="7736" y="600"/>
                    <a:pt x="7711" y="600"/>
                  </a:cubicBezTo>
                  <a:cubicBezTo>
                    <a:pt x="7685" y="600"/>
                    <a:pt x="7664" y="578"/>
                    <a:pt x="7664" y="553"/>
                  </a:cubicBezTo>
                  <a:cubicBezTo>
                    <a:pt x="7664" y="527"/>
                    <a:pt x="7685" y="506"/>
                    <a:pt x="7711" y="506"/>
                  </a:cubicBezTo>
                  <a:cubicBezTo>
                    <a:pt x="7736" y="506"/>
                    <a:pt x="7758" y="527"/>
                    <a:pt x="7758" y="553"/>
                  </a:cubicBezTo>
                  <a:close/>
                  <a:moveTo>
                    <a:pt x="7859" y="553"/>
                  </a:moveTo>
                  <a:cubicBezTo>
                    <a:pt x="7859" y="578"/>
                    <a:pt x="7837" y="600"/>
                    <a:pt x="7812" y="600"/>
                  </a:cubicBezTo>
                  <a:cubicBezTo>
                    <a:pt x="7786" y="600"/>
                    <a:pt x="7765" y="578"/>
                    <a:pt x="7765" y="553"/>
                  </a:cubicBezTo>
                  <a:cubicBezTo>
                    <a:pt x="7765" y="527"/>
                    <a:pt x="7786" y="506"/>
                    <a:pt x="7812" y="506"/>
                  </a:cubicBezTo>
                  <a:cubicBezTo>
                    <a:pt x="7837" y="506"/>
                    <a:pt x="7859" y="527"/>
                    <a:pt x="7859" y="553"/>
                  </a:cubicBezTo>
                  <a:close/>
                  <a:moveTo>
                    <a:pt x="7959" y="553"/>
                  </a:moveTo>
                  <a:cubicBezTo>
                    <a:pt x="7959" y="578"/>
                    <a:pt x="7937" y="600"/>
                    <a:pt x="7912" y="600"/>
                  </a:cubicBezTo>
                  <a:cubicBezTo>
                    <a:pt x="7886" y="600"/>
                    <a:pt x="7865" y="578"/>
                    <a:pt x="7865" y="553"/>
                  </a:cubicBezTo>
                  <a:cubicBezTo>
                    <a:pt x="7865" y="527"/>
                    <a:pt x="7886" y="506"/>
                    <a:pt x="7912" y="506"/>
                  </a:cubicBezTo>
                  <a:cubicBezTo>
                    <a:pt x="7937" y="506"/>
                    <a:pt x="7959" y="527"/>
                    <a:pt x="7959" y="553"/>
                  </a:cubicBezTo>
                  <a:close/>
                  <a:moveTo>
                    <a:pt x="8060" y="553"/>
                  </a:moveTo>
                  <a:cubicBezTo>
                    <a:pt x="8060" y="578"/>
                    <a:pt x="8038" y="600"/>
                    <a:pt x="8013" y="600"/>
                  </a:cubicBezTo>
                  <a:cubicBezTo>
                    <a:pt x="7987" y="600"/>
                    <a:pt x="7966" y="578"/>
                    <a:pt x="7966" y="553"/>
                  </a:cubicBezTo>
                  <a:cubicBezTo>
                    <a:pt x="7966" y="527"/>
                    <a:pt x="7987" y="506"/>
                    <a:pt x="8013" y="506"/>
                  </a:cubicBezTo>
                  <a:cubicBezTo>
                    <a:pt x="8038" y="506"/>
                    <a:pt x="8060" y="527"/>
                    <a:pt x="8060" y="553"/>
                  </a:cubicBezTo>
                  <a:close/>
                  <a:moveTo>
                    <a:pt x="8161" y="553"/>
                  </a:moveTo>
                  <a:cubicBezTo>
                    <a:pt x="8161" y="578"/>
                    <a:pt x="8139" y="600"/>
                    <a:pt x="8114" y="600"/>
                  </a:cubicBezTo>
                  <a:cubicBezTo>
                    <a:pt x="8088" y="600"/>
                    <a:pt x="8067" y="578"/>
                    <a:pt x="8067" y="553"/>
                  </a:cubicBezTo>
                  <a:cubicBezTo>
                    <a:pt x="8067" y="527"/>
                    <a:pt x="8088" y="506"/>
                    <a:pt x="8114" y="506"/>
                  </a:cubicBezTo>
                  <a:cubicBezTo>
                    <a:pt x="8139" y="506"/>
                    <a:pt x="8161" y="527"/>
                    <a:pt x="8161" y="553"/>
                  </a:cubicBezTo>
                  <a:close/>
                  <a:moveTo>
                    <a:pt x="8262" y="553"/>
                  </a:moveTo>
                  <a:cubicBezTo>
                    <a:pt x="8262" y="578"/>
                    <a:pt x="8240" y="600"/>
                    <a:pt x="8215" y="600"/>
                  </a:cubicBezTo>
                  <a:cubicBezTo>
                    <a:pt x="8189" y="600"/>
                    <a:pt x="8168" y="578"/>
                    <a:pt x="8168" y="553"/>
                  </a:cubicBezTo>
                  <a:cubicBezTo>
                    <a:pt x="8168" y="527"/>
                    <a:pt x="8189" y="506"/>
                    <a:pt x="8215" y="506"/>
                  </a:cubicBezTo>
                  <a:cubicBezTo>
                    <a:pt x="8240" y="506"/>
                    <a:pt x="8262" y="527"/>
                    <a:pt x="8262" y="553"/>
                  </a:cubicBezTo>
                  <a:close/>
                  <a:moveTo>
                    <a:pt x="8363" y="553"/>
                  </a:moveTo>
                  <a:cubicBezTo>
                    <a:pt x="8363" y="578"/>
                    <a:pt x="8341" y="600"/>
                    <a:pt x="8316" y="600"/>
                  </a:cubicBezTo>
                  <a:cubicBezTo>
                    <a:pt x="8290" y="600"/>
                    <a:pt x="8269" y="578"/>
                    <a:pt x="8269" y="553"/>
                  </a:cubicBezTo>
                  <a:cubicBezTo>
                    <a:pt x="8269" y="527"/>
                    <a:pt x="8290" y="506"/>
                    <a:pt x="8316" y="506"/>
                  </a:cubicBezTo>
                  <a:cubicBezTo>
                    <a:pt x="8341" y="506"/>
                    <a:pt x="8363" y="527"/>
                    <a:pt x="8363" y="553"/>
                  </a:cubicBezTo>
                  <a:close/>
                  <a:moveTo>
                    <a:pt x="8463" y="553"/>
                  </a:moveTo>
                  <a:cubicBezTo>
                    <a:pt x="8463" y="578"/>
                    <a:pt x="8441" y="600"/>
                    <a:pt x="8416" y="600"/>
                  </a:cubicBezTo>
                  <a:cubicBezTo>
                    <a:pt x="8390" y="600"/>
                    <a:pt x="8369" y="578"/>
                    <a:pt x="8369" y="553"/>
                  </a:cubicBezTo>
                  <a:cubicBezTo>
                    <a:pt x="8369" y="527"/>
                    <a:pt x="8390" y="506"/>
                    <a:pt x="8416" y="506"/>
                  </a:cubicBezTo>
                  <a:cubicBezTo>
                    <a:pt x="8441" y="506"/>
                    <a:pt x="8463" y="527"/>
                    <a:pt x="8463" y="553"/>
                  </a:cubicBezTo>
                  <a:close/>
                  <a:moveTo>
                    <a:pt x="8564" y="553"/>
                  </a:moveTo>
                  <a:cubicBezTo>
                    <a:pt x="8564" y="578"/>
                    <a:pt x="8542" y="600"/>
                    <a:pt x="8517" y="600"/>
                  </a:cubicBezTo>
                  <a:cubicBezTo>
                    <a:pt x="8491" y="600"/>
                    <a:pt x="8470" y="578"/>
                    <a:pt x="8470" y="553"/>
                  </a:cubicBezTo>
                  <a:cubicBezTo>
                    <a:pt x="8470" y="527"/>
                    <a:pt x="8491" y="506"/>
                    <a:pt x="8517" y="506"/>
                  </a:cubicBezTo>
                  <a:cubicBezTo>
                    <a:pt x="8542" y="506"/>
                    <a:pt x="8564" y="527"/>
                    <a:pt x="8564" y="553"/>
                  </a:cubicBezTo>
                  <a:close/>
                  <a:moveTo>
                    <a:pt x="8665" y="553"/>
                  </a:moveTo>
                  <a:cubicBezTo>
                    <a:pt x="8665" y="578"/>
                    <a:pt x="8643" y="600"/>
                    <a:pt x="8618" y="600"/>
                  </a:cubicBezTo>
                  <a:cubicBezTo>
                    <a:pt x="8592" y="600"/>
                    <a:pt x="8571" y="578"/>
                    <a:pt x="8571" y="553"/>
                  </a:cubicBezTo>
                  <a:cubicBezTo>
                    <a:pt x="8571" y="527"/>
                    <a:pt x="8592" y="506"/>
                    <a:pt x="8618" y="506"/>
                  </a:cubicBezTo>
                  <a:cubicBezTo>
                    <a:pt x="8643" y="506"/>
                    <a:pt x="8665" y="527"/>
                    <a:pt x="8665" y="553"/>
                  </a:cubicBezTo>
                  <a:close/>
                  <a:moveTo>
                    <a:pt x="8766" y="553"/>
                  </a:moveTo>
                  <a:cubicBezTo>
                    <a:pt x="8766" y="578"/>
                    <a:pt x="8744" y="600"/>
                    <a:pt x="8719" y="600"/>
                  </a:cubicBezTo>
                  <a:cubicBezTo>
                    <a:pt x="8693" y="600"/>
                    <a:pt x="8672" y="578"/>
                    <a:pt x="8672" y="553"/>
                  </a:cubicBezTo>
                  <a:cubicBezTo>
                    <a:pt x="8672" y="527"/>
                    <a:pt x="8693" y="506"/>
                    <a:pt x="8719" y="506"/>
                  </a:cubicBezTo>
                  <a:cubicBezTo>
                    <a:pt x="8744" y="506"/>
                    <a:pt x="8766" y="527"/>
                    <a:pt x="8766" y="553"/>
                  </a:cubicBezTo>
                  <a:close/>
                  <a:moveTo>
                    <a:pt x="8867" y="553"/>
                  </a:moveTo>
                  <a:cubicBezTo>
                    <a:pt x="8867" y="578"/>
                    <a:pt x="8845" y="600"/>
                    <a:pt x="8820" y="600"/>
                  </a:cubicBezTo>
                  <a:cubicBezTo>
                    <a:pt x="8794" y="600"/>
                    <a:pt x="8773" y="578"/>
                    <a:pt x="8773" y="553"/>
                  </a:cubicBezTo>
                  <a:cubicBezTo>
                    <a:pt x="8773" y="527"/>
                    <a:pt x="8794" y="506"/>
                    <a:pt x="8820" y="506"/>
                  </a:cubicBezTo>
                  <a:cubicBezTo>
                    <a:pt x="8845" y="506"/>
                    <a:pt x="8867" y="527"/>
                    <a:pt x="8867" y="553"/>
                  </a:cubicBezTo>
                  <a:close/>
                  <a:moveTo>
                    <a:pt x="8967" y="553"/>
                  </a:moveTo>
                  <a:cubicBezTo>
                    <a:pt x="8967" y="578"/>
                    <a:pt x="8945" y="600"/>
                    <a:pt x="8920" y="600"/>
                  </a:cubicBezTo>
                  <a:cubicBezTo>
                    <a:pt x="8894" y="600"/>
                    <a:pt x="8873" y="578"/>
                    <a:pt x="8873" y="553"/>
                  </a:cubicBezTo>
                  <a:cubicBezTo>
                    <a:pt x="8873" y="527"/>
                    <a:pt x="8894" y="506"/>
                    <a:pt x="8920" y="506"/>
                  </a:cubicBezTo>
                  <a:cubicBezTo>
                    <a:pt x="8945" y="506"/>
                    <a:pt x="8967" y="527"/>
                    <a:pt x="8967" y="553"/>
                  </a:cubicBezTo>
                  <a:close/>
                  <a:moveTo>
                    <a:pt x="9068" y="553"/>
                  </a:moveTo>
                  <a:cubicBezTo>
                    <a:pt x="9068" y="578"/>
                    <a:pt x="9046" y="600"/>
                    <a:pt x="9021" y="600"/>
                  </a:cubicBezTo>
                  <a:cubicBezTo>
                    <a:pt x="8995" y="600"/>
                    <a:pt x="8974" y="578"/>
                    <a:pt x="8974" y="553"/>
                  </a:cubicBezTo>
                  <a:cubicBezTo>
                    <a:pt x="8974" y="527"/>
                    <a:pt x="8995" y="506"/>
                    <a:pt x="9021" y="506"/>
                  </a:cubicBezTo>
                  <a:cubicBezTo>
                    <a:pt x="9046" y="506"/>
                    <a:pt x="9068" y="527"/>
                    <a:pt x="9068" y="553"/>
                  </a:cubicBezTo>
                  <a:close/>
                  <a:moveTo>
                    <a:pt x="9169" y="553"/>
                  </a:moveTo>
                  <a:cubicBezTo>
                    <a:pt x="9169" y="578"/>
                    <a:pt x="9147" y="600"/>
                    <a:pt x="9122" y="600"/>
                  </a:cubicBezTo>
                  <a:cubicBezTo>
                    <a:pt x="9096" y="600"/>
                    <a:pt x="9075" y="578"/>
                    <a:pt x="9075" y="553"/>
                  </a:cubicBezTo>
                  <a:cubicBezTo>
                    <a:pt x="9075" y="527"/>
                    <a:pt x="9096" y="506"/>
                    <a:pt x="9122" y="506"/>
                  </a:cubicBezTo>
                  <a:cubicBezTo>
                    <a:pt x="9147" y="506"/>
                    <a:pt x="9169" y="527"/>
                    <a:pt x="9169" y="553"/>
                  </a:cubicBezTo>
                  <a:close/>
                  <a:moveTo>
                    <a:pt x="9270" y="553"/>
                  </a:moveTo>
                  <a:cubicBezTo>
                    <a:pt x="9270" y="578"/>
                    <a:pt x="9248" y="600"/>
                    <a:pt x="9223" y="600"/>
                  </a:cubicBezTo>
                  <a:cubicBezTo>
                    <a:pt x="9197" y="600"/>
                    <a:pt x="9176" y="578"/>
                    <a:pt x="9176" y="553"/>
                  </a:cubicBezTo>
                  <a:cubicBezTo>
                    <a:pt x="9176" y="527"/>
                    <a:pt x="9197" y="506"/>
                    <a:pt x="9223" y="506"/>
                  </a:cubicBezTo>
                  <a:cubicBezTo>
                    <a:pt x="9248" y="506"/>
                    <a:pt x="9270" y="527"/>
                    <a:pt x="9270" y="553"/>
                  </a:cubicBezTo>
                  <a:close/>
                  <a:moveTo>
                    <a:pt x="9371" y="553"/>
                  </a:moveTo>
                  <a:cubicBezTo>
                    <a:pt x="9371" y="578"/>
                    <a:pt x="9349" y="600"/>
                    <a:pt x="9324" y="600"/>
                  </a:cubicBezTo>
                  <a:cubicBezTo>
                    <a:pt x="9298" y="600"/>
                    <a:pt x="9277" y="578"/>
                    <a:pt x="9277" y="553"/>
                  </a:cubicBezTo>
                  <a:cubicBezTo>
                    <a:pt x="9277" y="527"/>
                    <a:pt x="9298" y="506"/>
                    <a:pt x="9324" y="506"/>
                  </a:cubicBezTo>
                  <a:cubicBezTo>
                    <a:pt x="9349" y="506"/>
                    <a:pt x="9371" y="527"/>
                    <a:pt x="9371" y="553"/>
                  </a:cubicBezTo>
                  <a:close/>
                  <a:moveTo>
                    <a:pt x="9471" y="553"/>
                  </a:moveTo>
                  <a:cubicBezTo>
                    <a:pt x="9471" y="578"/>
                    <a:pt x="9449" y="600"/>
                    <a:pt x="9424" y="600"/>
                  </a:cubicBezTo>
                  <a:cubicBezTo>
                    <a:pt x="9398" y="600"/>
                    <a:pt x="9377" y="578"/>
                    <a:pt x="9377" y="553"/>
                  </a:cubicBezTo>
                  <a:cubicBezTo>
                    <a:pt x="9377" y="527"/>
                    <a:pt x="9398" y="506"/>
                    <a:pt x="9424" y="506"/>
                  </a:cubicBezTo>
                  <a:cubicBezTo>
                    <a:pt x="9449" y="506"/>
                    <a:pt x="9471" y="527"/>
                    <a:pt x="9471" y="553"/>
                  </a:cubicBezTo>
                  <a:close/>
                  <a:moveTo>
                    <a:pt x="9572" y="553"/>
                  </a:moveTo>
                  <a:cubicBezTo>
                    <a:pt x="9572" y="578"/>
                    <a:pt x="9550" y="600"/>
                    <a:pt x="9525" y="600"/>
                  </a:cubicBezTo>
                  <a:cubicBezTo>
                    <a:pt x="9499" y="600"/>
                    <a:pt x="9478" y="578"/>
                    <a:pt x="9478" y="553"/>
                  </a:cubicBezTo>
                  <a:cubicBezTo>
                    <a:pt x="9478" y="527"/>
                    <a:pt x="9499" y="506"/>
                    <a:pt x="9525" y="506"/>
                  </a:cubicBezTo>
                  <a:cubicBezTo>
                    <a:pt x="9550" y="506"/>
                    <a:pt x="9572" y="527"/>
                    <a:pt x="9572" y="553"/>
                  </a:cubicBezTo>
                  <a:close/>
                  <a:moveTo>
                    <a:pt x="9673" y="553"/>
                  </a:moveTo>
                  <a:cubicBezTo>
                    <a:pt x="9673" y="578"/>
                    <a:pt x="9651" y="600"/>
                    <a:pt x="9626" y="600"/>
                  </a:cubicBezTo>
                  <a:cubicBezTo>
                    <a:pt x="9600" y="600"/>
                    <a:pt x="9579" y="578"/>
                    <a:pt x="9579" y="553"/>
                  </a:cubicBezTo>
                  <a:cubicBezTo>
                    <a:pt x="9579" y="527"/>
                    <a:pt x="9600" y="506"/>
                    <a:pt x="9626" y="506"/>
                  </a:cubicBezTo>
                  <a:cubicBezTo>
                    <a:pt x="9651" y="506"/>
                    <a:pt x="9673" y="527"/>
                    <a:pt x="9673" y="553"/>
                  </a:cubicBezTo>
                  <a:close/>
                  <a:moveTo>
                    <a:pt x="9774" y="553"/>
                  </a:moveTo>
                  <a:cubicBezTo>
                    <a:pt x="9774" y="578"/>
                    <a:pt x="9752" y="600"/>
                    <a:pt x="9727" y="600"/>
                  </a:cubicBezTo>
                  <a:cubicBezTo>
                    <a:pt x="9701" y="600"/>
                    <a:pt x="9680" y="578"/>
                    <a:pt x="9680" y="553"/>
                  </a:cubicBezTo>
                  <a:cubicBezTo>
                    <a:pt x="9680" y="527"/>
                    <a:pt x="9701" y="506"/>
                    <a:pt x="9727" y="506"/>
                  </a:cubicBezTo>
                  <a:cubicBezTo>
                    <a:pt x="9752" y="506"/>
                    <a:pt x="9774" y="527"/>
                    <a:pt x="9774" y="553"/>
                  </a:cubicBezTo>
                  <a:close/>
                  <a:moveTo>
                    <a:pt x="9875" y="553"/>
                  </a:moveTo>
                  <a:cubicBezTo>
                    <a:pt x="9875" y="578"/>
                    <a:pt x="9853" y="600"/>
                    <a:pt x="9828" y="600"/>
                  </a:cubicBezTo>
                  <a:cubicBezTo>
                    <a:pt x="9802" y="600"/>
                    <a:pt x="9781" y="578"/>
                    <a:pt x="9781" y="553"/>
                  </a:cubicBezTo>
                  <a:cubicBezTo>
                    <a:pt x="9781" y="527"/>
                    <a:pt x="9802" y="506"/>
                    <a:pt x="9828" y="506"/>
                  </a:cubicBezTo>
                  <a:cubicBezTo>
                    <a:pt x="9853" y="506"/>
                    <a:pt x="9875" y="527"/>
                    <a:pt x="9875" y="553"/>
                  </a:cubicBezTo>
                  <a:close/>
                  <a:moveTo>
                    <a:pt x="9975" y="553"/>
                  </a:moveTo>
                  <a:cubicBezTo>
                    <a:pt x="9975" y="578"/>
                    <a:pt x="9953" y="600"/>
                    <a:pt x="9928" y="600"/>
                  </a:cubicBezTo>
                  <a:cubicBezTo>
                    <a:pt x="9902" y="600"/>
                    <a:pt x="9881" y="578"/>
                    <a:pt x="9881" y="553"/>
                  </a:cubicBezTo>
                  <a:cubicBezTo>
                    <a:pt x="9881" y="527"/>
                    <a:pt x="9902" y="506"/>
                    <a:pt x="9928" y="506"/>
                  </a:cubicBezTo>
                  <a:cubicBezTo>
                    <a:pt x="9953" y="506"/>
                    <a:pt x="9975" y="527"/>
                    <a:pt x="9975" y="553"/>
                  </a:cubicBezTo>
                  <a:close/>
                  <a:moveTo>
                    <a:pt x="10076" y="553"/>
                  </a:moveTo>
                  <a:cubicBezTo>
                    <a:pt x="10076" y="578"/>
                    <a:pt x="10054" y="600"/>
                    <a:pt x="10029" y="600"/>
                  </a:cubicBezTo>
                  <a:cubicBezTo>
                    <a:pt x="10003" y="600"/>
                    <a:pt x="9982" y="578"/>
                    <a:pt x="9982" y="553"/>
                  </a:cubicBezTo>
                  <a:cubicBezTo>
                    <a:pt x="9982" y="527"/>
                    <a:pt x="10003" y="506"/>
                    <a:pt x="10029" y="506"/>
                  </a:cubicBezTo>
                  <a:cubicBezTo>
                    <a:pt x="10054" y="506"/>
                    <a:pt x="10076" y="527"/>
                    <a:pt x="10076" y="553"/>
                  </a:cubicBezTo>
                  <a:close/>
                  <a:moveTo>
                    <a:pt x="10177" y="553"/>
                  </a:moveTo>
                  <a:cubicBezTo>
                    <a:pt x="10177" y="578"/>
                    <a:pt x="10155" y="600"/>
                    <a:pt x="10130" y="600"/>
                  </a:cubicBezTo>
                  <a:cubicBezTo>
                    <a:pt x="10104" y="600"/>
                    <a:pt x="10083" y="578"/>
                    <a:pt x="10083" y="553"/>
                  </a:cubicBezTo>
                  <a:cubicBezTo>
                    <a:pt x="10083" y="527"/>
                    <a:pt x="10104" y="506"/>
                    <a:pt x="10130" y="506"/>
                  </a:cubicBezTo>
                  <a:cubicBezTo>
                    <a:pt x="10155" y="506"/>
                    <a:pt x="10177" y="527"/>
                    <a:pt x="10177" y="553"/>
                  </a:cubicBezTo>
                  <a:close/>
                  <a:moveTo>
                    <a:pt x="10278" y="553"/>
                  </a:moveTo>
                  <a:cubicBezTo>
                    <a:pt x="10278" y="578"/>
                    <a:pt x="10256" y="600"/>
                    <a:pt x="10231" y="600"/>
                  </a:cubicBezTo>
                  <a:cubicBezTo>
                    <a:pt x="10205" y="600"/>
                    <a:pt x="10184" y="578"/>
                    <a:pt x="10184" y="553"/>
                  </a:cubicBezTo>
                  <a:cubicBezTo>
                    <a:pt x="10184" y="527"/>
                    <a:pt x="10205" y="506"/>
                    <a:pt x="10231" y="506"/>
                  </a:cubicBezTo>
                  <a:cubicBezTo>
                    <a:pt x="10256" y="506"/>
                    <a:pt x="10278" y="527"/>
                    <a:pt x="10278" y="553"/>
                  </a:cubicBezTo>
                  <a:close/>
                  <a:moveTo>
                    <a:pt x="10379" y="553"/>
                  </a:moveTo>
                  <a:cubicBezTo>
                    <a:pt x="10379" y="578"/>
                    <a:pt x="10357" y="600"/>
                    <a:pt x="10332" y="600"/>
                  </a:cubicBezTo>
                  <a:cubicBezTo>
                    <a:pt x="10306" y="600"/>
                    <a:pt x="10285" y="578"/>
                    <a:pt x="10285" y="553"/>
                  </a:cubicBezTo>
                  <a:cubicBezTo>
                    <a:pt x="10285" y="527"/>
                    <a:pt x="10306" y="506"/>
                    <a:pt x="10332" y="506"/>
                  </a:cubicBezTo>
                  <a:cubicBezTo>
                    <a:pt x="10357" y="506"/>
                    <a:pt x="10379" y="527"/>
                    <a:pt x="10379" y="553"/>
                  </a:cubicBezTo>
                  <a:close/>
                  <a:moveTo>
                    <a:pt x="10479" y="553"/>
                  </a:moveTo>
                  <a:cubicBezTo>
                    <a:pt x="10479" y="578"/>
                    <a:pt x="10457" y="600"/>
                    <a:pt x="10432" y="600"/>
                  </a:cubicBezTo>
                  <a:cubicBezTo>
                    <a:pt x="10406" y="600"/>
                    <a:pt x="10385" y="578"/>
                    <a:pt x="10385" y="553"/>
                  </a:cubicBezTo>
                  <a:cubicBezTo>
                    <a:pt x="10385" y="527"/>
                    <a:pt x="10406" y="506"/>
                    <a:pt x="10432" y="506"/>
                  </a:cubicBezTo>
                  <a:cubicBezTo>
                    <a:pt x="10457" y="506"/>
                    <a:pt x="10479" y="527"/>
                    <a:pt x="10479" y="553"/>
                  </a:cubicBezTo>
                  <a:close/>
                  <a:moveTo>
                    <a:pt x="10580" y="553"/>
                  </a:moveTo>
                  <a:cubicBezTo>
                    <a:pt x="10580" y="578"/>
                    <a:pt x="10558" y="600"/>
                    <a:pt x="10533" y="600"/>
                  </a:cubicBezTo>
                  <a:cubicBezTo>
                    <a:pt x="10507" y="600"/>
                    <a:pt x="10486" y="578"/>
                    <a:pt x="10486" y="553"/>
                  </a:cubicBezTo>
                  <a:cubicBezTo>
                    <a:pt x="10486" y="527"/>
                    <a:pt x="10507" y="506"/>
                    <a:pt x="10533" y="506"/>
                  </a:cubicBezTo>
                  <a:cubicBezTo>
                    <a:pt x="10558" y="506"/>
                    <a:pt x="10580" y="527"/>
                    <a:pt x="10580" y="553"/>
                  </a:cubicBezTo>
                  <a:close/>
                  <a:moveTo>
                    <a:pt x="10681" y="553"/>
                  </a:moveTo>
                  <a:cubicBezTo>
                    <a:pt x="10681" y="578"/>
                    <a:pt x="10659" y="600"/>
                    <a:pt x="10634" y="600"/>
                  </a:cubicBezTo>
                  <a:cubicBezTo>
                    <a:pt x="10608" y="600"/>
                    <a:pt x="10587" y="578"/>
                    <a:pt x="10587" y="553"/>
                  </a:cubicBezTo>
                  <a:cubicBezTo>
                    <a:pt x="10587" y="527"/>
                    <a:pt x="10608" y="506"/>
                    <a:pt x="10634" y="506"/>
                  </a:cubicBezTo>
                  <a:cubicBezTo>
                    <a:pt x="10659" y="506"/>
                    <a:pt x="10681" y="527"/>
                    <a:pt x="10681" y="553"/>
                  </a:cubicBezTo>
                  <a:close/>
                  <a:moveTo>
                    <a:pt x="10782" y="553"/>
                  </a:moveTo>
                  <a:cubicBezTo>
                    <a:pt x="10782" y="578"/>
                    <a:pt x="10760" y="600"/>
                    <a:pt x="10735" y="600"/>
                  </a:cubicBezTo>
                  <a:cubicBezTo>
                    <a:pt x="10709" y="600"/>
                    <a:pt x="10688" y="578"/>
                    <a:pt x="10688" y="553"/>
                  </a:cubicBezTo>
                  <a:cubicBezTo>
                    <a:pt x="10688" y="527"/>
                    <a:pt x="10709" y="506"/>
                    <a:pt x="10735" y="506"/>
                  </a:cubicBezTo>
                  <a:cubicBezTo>
                    <a:pt x="10760" y="506"/>
                    <a:pt x="10782" y="527"/>
                    <a:pt x="10782" y="553"/>
                  </a:cubicBezTo>
                  <a:close/>
                  <a:moveTo>
                    <a:pt x="10883" y="553"/>
                  </a:moveTo>
                  <a:cubicBezTo>
                    <a:pt x="10883" y="578"/>
                    <a:pt x="10861" y="600"/>
                    <a:pt x="10836" y="600"/>
                  </a:cubicBezTo>
                  <a:cubicBezTo>
                    <a:pt x="10810" y="600"/>
                    <a:pt x="10789" y="578"/>
                    <a:pt x="10789" y="553"/>
                  </a:cubicBezTo>
                  <a:cubicBezTo>
                    <a:pt x="10789" y="527"/>
                    <a:pt x="10810" y="506"/>
                    <a:pt x="10836" y="506"/>
                  </a:cubicBezTo>
                  <a:cubicBezTo>
                    <a:pt x="10861" y="506"/>
                    <a:pt x="10883" y="527"/>
                    <a:pt x="10883" y="553"/>
                  </a:cubicBezTo>
                  <a:close/>
                  <a:moveTo>
                    <a:pt x="10983" y="553"/>
                  </a:moveTo>
                  <a:cubicBezTo>
                    <a:pt x="10983" y="578"/>
                    <a:pt x="10961" y="600"/>
                    <a:pt x="10936" y="600"/>
                  </a:cubicBezTo>
                  <a:cubicBezTo>
                    <a:pt x="10910" y="600"/>
                    <a:pt x="10889" y="578"/>
                    <a:pt x="10889" y="553"/>
                  </a:cubicBezTo>
                  <a:cubicBezTo>
                    <a:pt x="10889" y="527"/>
                    <a:pt x="10910" y="506"/>
                    <a:pt x="10936" y="506"/>
                  </a:cubicBezTo>
                  <a:cubicBezTo>
                    <a:pt x="10961" y="506"/>
                    <a:pt x="10983" y="527"/>
                    <a:pt x="10983" y="553"/>
                  </a:cubicBezTo>
                  <a:close/>
                  <a:moveTo>
                    <a:pt x="11084" y="553"/>
                  </a:moveTo>
                  <a:cubicBezTo>
                    <a:pt x="11084" y="578"/>
                    <a:pt x="11062" y="600"/>
                    <a:pt x="11037" y="600"/>
                  </a:cubicBezTo>
                  <a:cubicBezTo>
                    <a:pt x="11011" y="600"/>
                    <a:pt x="10990" y="578"/>
                    <a:pt x="10990" y="553"/>
                  </a:cubicBezTo>
                  <a:cubicBezTo>
                    <a:pt x="10990" y="527"/>
                    <a:pt x="11011" y="506"/>
                    <a:pt x="11037" y="506"/>
                  </a:cubicBezTo>
                  <a:cubicBezTo>
                    <a:pt x="11062" y="506"/>
                    <a:pt x="11084" y="527"/>
                    <a:pt x="11084" y="553"/>
                  </a:cubicBezTo>
                  <a:close/>
                  <a:moveTo>
                    <a:pt x="11185" y="553"/>
                  </a:moveTo>
                  <a:cubicBezTo>
                    <a:pt x="11185" y="578"/>
                    <a:pt x="11163" y="600"/>
                    <a:pt x="11138" y="600"/>
                  </a:cubicBezTo>
                  <a:cubicBezTo>
                    <a:pt x="11112" y="600"/>
                    <a:pt x="11091" y="578"/>
                    <a:pt x="11091" y="553"/>
                  </a:cubicBezTo>
                  <a:cubicBezTo>
                    <a:pt x="11091" y="527"/>
                    <a:pt x="11112" y="506"/>
                    <a:pt x="11138" y="506"/>
                  </a:cubicBezTo>
                  <a:cubicBezTo>
                    <a:pt x="11163" y="506"/>
                    <a:pt x="11185" y="527"/>
                    <a:pt x="11185" y="553"/>
                  </a:cubicBezTo>
                  <a:close/>
                  <a:moveTo>
                    <a:pt x="11286" y="553"/>
                  </a:moveTo>
                  <a:cubicBezTo>
                    <a:pt x="11286" y="578"/>
                    <a:pt x="11264" y="600"/>
                    <a:pt x="11239" y="600"/>
                  </a:cubicBezTo>
                  <a:cubicBezTo>
                    <a:pt x="11213" y="600"/>
                    <a:pt x="11192" y="578"/>
                    <a:pt x="11192" y="553"/>
                  </a:cubicBezTo>
                  <a:cubicBezTo>
                    <a:pt x="11192" y="527"/>
                    <a:pt x="11213" y="506"/>
                    <a:pt x="11239" y="506"/>
                  </a:cubicBezTo>
                  <a:cubicBezTo>
                    <a:pt x="11264" y="506"/>
                    <a:pt x="11286" y="527"/>
                    <a:pt x="11286" y="553"/>
                  </a:cubicBezTo>
                  <a:close/>
                  <a:moveTo>
                    <a:pt x="11387" y="553"/>
                  </a:moveTo>
                  <a:cubicBezTo>
                    <a:pt x="11387" y="578"/>
                    <a:pt x="11365" y="600"/>
                    <a:pt x="11340" y="600"/>
                  </a:cubicBezTo>
                  <a:cubicBezTo>
                    <a:pt x="11314" y="600"/>
                    <a:pt x="11293" y="578"/>
                    <a:pt x="11293" y="553"/>
                  </a:cubicBezTo>
                  <a:cubicBezTo>
                    <a:pt x="11293" y="527"/>
                    <a:pt x="11314" y="506"/>
                    <a:pt x="11340" y="506"/>
                  </a:cubicBezTo>
                  <a:cubicBezTo>
                    <a:pt x="11365" y="506"/>
                    <a:pt x="11387" y="527"/>
                    <a:pt x="11387" y="553"/>
                  </a:cubicBezTo>
                  <a:close/>
                  <a:moveTo>
                    <a:pt x="11487" y="553"/>
                  </a:moveTo>
                  <a:cubicBezTo>
                    <a:pt x="11487" y="578"/>
                    <a:pt x="11465" y="600"/>
                    <a:pt x="11440" y="600"/>
                  </a:cubicBezTo>
                  <a:cubicBezTo>
                    <a:pt x="11414" y="600"/>
                    <a:pt x="11393" y="578"/>
                    <a:pt x="11393" y="553"/>
                  </a:cubicBezTo>
                  <a:cubicBezTo>
                    <a:pt x="11393" y="527"/>
                    <a:pt x="11414" y="506"/>
                    <a:pt x="11440" y="506"/>
                  </a:cubicBezTo>
                  <a:cubicBezTo>
                    <a:pt x="11465" y="506"/>
                    <a:pt x="11487" y="527"/>
                    <a:pt x="11487" y="553"/>
                  </a:cubicBezTo>
                  <a:close/>
                  <a:moveTo>
                    <a:pt x="11588" y="553"/>
                  </a:moveTo>
                  <a:cubicBezTo>
                    <a:pt x="11588" y="578"/>
                    <a:pt x="11566" y="600"/>
                    <a:pt x="11541" y="600"/>
                  </a:cubicBezTo>
                  <a:cubicBezTo>
                    <a:pt x="11515" y="600"/>
                    <a:pt x="11494" y="578"/>
                    <a:pt x="11494" y="553"/>
                  </a:cubicBezTo>
                  <a:cubicBezTo>
                    <a:pt x="11494" y="527"/>
                    <a:pt x="11515" y="506"/>
                    <a:pt x="11541" y="506"/>
                  </a:cubicBezTo>
                  <a:cubicBezTo>
                    <a:pt x="11566" y="506"/>
                    <a:pt x="11588" y="527"/>
                    <a:pt x="11588" y="553"/>
                  </a:cubicBezTo>
                  <a:close/>
                  <a:moveTo>
                    <a:pt x="11689" y="553"/>
                  </a:moveTo>
                  <a:cubicBezTo>
                    <a:pt x="11689" y="578"/>
                    <a:pt x="11667" y="600"/>
                    <a:pt x="11642" y="600"/>
                  </a:cubicBezTo>
                  <a:cubicBezTo>
                    <a:pt x="11616" y="600"/>
                    <a:pt x="11595" y="578"/>
                    <a:pt x="11595" y="553"/>
                  </a:cubicBezTo>
                  <a:cubicBezTo>
                    <a:pt x="11595" y="527"/>
                    <a:pt x="11616" y="506"/>
                    <a:pt x="11642" y="506"/>
                  </a:cubicBezTo>
                  <a:cubicBezTo>
                    <a:pt x="11667" y="506"/>
                    <a:pt x="11689" y="527"/>
                    <a:pt x="11689" y="553"/>
                  </a:cubicBezTo>
                  <a:close/>
                  <a:moveTo>
                    <a:pt x="11790" y="553"/>
                  </a:moveTo>
                  <a:cubicBezTo>
                    <a:pt x="11790" y="578"/>
                    <a:pt x="11768" y="600"/>
                    <a:pt x="11743" y="600"/>
                  </a:cubicBezTo>
                  <a:cubicBezTo>
                    <a:pt x="11717" y="600"/>
                    <a:pt x="11696" y="578"/>
                    <a:pt x="11696" y="553"/>
                  </a:cubicBezTo>
                  <a:cubicBezTo>
                    <a:pt x="11696" y="527"/>
                    <a:pt x="11717" y="506"/>
                    <a:pt x="11743" y="506"/>
                  </a:cubicBezTo>
                  <a:cubicBezTo>
                    <a:pt x="11768" y="506"/>
                    <a:pt x="11790" y="527"/>
                    <a:pt x="11790" y="553"/>
                  </a:cubicBezTo>
                  <a:close/>
                  <a:moveTo>
                    <a:pt x="11891" y="553"/>
                  </a:moveTo>
                  <a:cubicBezTo>
                    <a:pt x="11891" y="578"/>
                    <a:pt x="11869" y="600"/>
                    <a:pt x="11844" y="600"/>
                  </a:cubicBezTo>
                  <a:cubicBezTo>
                    <a:pt x="11818" y="600"/>
                    <a:pt x="11797" y="578"/>
                    <a:pt x="11797" y="553"/>
                  </a:cubicBezTo>
                  <a:cubicBezTo>
                    <a:pt x="11797" y="527"/>
                    <a:pt x="11818" y="506"/>
                    <a:pt x="11844" y="506"/>
                  </a:cubicBezTo>
                  <a:cubicBezTo>
                    <a:pt x="11869" y="506"/>
                    <a:pt x="11891" y="527"/>
                    <a:pt x="11891" y="553"/>
                  </a:cubicBezTo>
                  <a:close/>
                  <a:moveTo>
                    <a:pt x="11991" y="553"/>
                  </a:moveTo>
                  <a:cubicBezTo>
                    <a:pt x="11991" y="578"/>
                    <a:pt x="11969" y="600"/>
                    <a:pt x="11944" y="600"/>
                  </a:cubicBezTo>
                  <a:cubicBezTo>
                    <a:pt x="11918" y="600"/>
                    <a:pt x="11897" y="578"/>
                    <a:pt x="11897" y="553"/>
                  </a:cubicBezTo>
                  <a:cubicBezTo>
                    <a:pt x="11897" y="527"/>
                    <a:pt x="11918" y="506"/>
                    <a:pt x="11944" y="506"/>
                  </a:cubicBezTo>
                  <a:cubicBezTo>
                    <a:pt x="11969" y="506"/>
                    <a:pt x="11991" y="527"/>
                    <a:pt x="11991" y="553"/>
                  </a:cubicBezTo>
                  <a:close/>
                  <a:moveTo>
                    <a:pt x="12092" y="553"/>
                  </a:moveTo>
                  <a:cubicBezTo>
                    <a:pt x="12092" y="578"/>
                    <a:pt x="12070" y="600"/>
                    <a:pt x="12045" y="600"/>
                  </a:cubicBezTo>
                  <a:cubicBezTo>
                    <a:pt x="12019" y="600"/>
                    <a:pt x="11998" y="578"/>
                    <a:pt x="11998" y="553"/>
                  </a:cubicBezTo>
                  <a:cubicBezTo>
                    <a:pt x="11998" y="527"/>
                    <a:pt x="12019" y="506"/>
                    <a:pt x="12045" y="506"/>
                  </a:cubicBezTo>
                  <a:cubicBezTo>
                    <a:pt x="12070" y="506"/>
                    <a:pt x="12092" y="527"/>
                    <a:pt x="12092" y="553"/>
                  </a:cubicBezTo>
                  <a:close/>
                  <a:moveTo>
                    <a:pt x="12193" y="553"/>
                  </a:moveTo>
                  <a:cubicBezTo>
                    <a:pt x="12193" y="578"/>
                    <a:pt x="12171" y="600"/>
                    <a:pt x="12146" y="600"/>
                  </a:cubicBezTo>
                  <a:cubicBezTo>
                    <a:pt x="12120" y="600"/>
                    <a:pt x="12099" y="578"/>
                    <a:pt x="12099" y="553"/>
                  </a:cubicBezTo>
                  <a:cubicBezTo>
                    <a:pt x="12099" y="527"/>
                    <a:pt x="12120" y="506"/>
                    <a:pt x="12146" y="506"/>
                  </a:cubicBezTo>
                  <a:cubicBezTo>
                    <a:pt x="12171" y="506"/>
                    <a:pt x="12193" y="527"/>
                    <a:pt x="12193" y="553"/>
                  </a:cubicBezTo>
                  <a:close/>
                  <a:moveTo>
                    <a:pt x="12294" y="553"/>
                  </a:moveTo>
                  <a:cubicBezTo>
                    <a:pt x="12294" y="578"/>
                    <a:pt x="12272" y="600"/>
                    <a:pt x="12247" y="600"/>
                  </a:cubicBezTo>
                  <a:cubicBezTo>
                    <a:pt x="12221" y="600"/>
                    <a:pt x="12200" y="578"/>
                    <a:pt x="12200" y="553"/>
                  </a:cubicBezTo>
                  <a:cubicBezTo>
                    <a:pt x="12200" y="527"/>
                    <a:pt x="12221" y="506"/>
                    <a:pt x="12247" y="506"/>
                  </a:cubicBezTo>
                  <a:cubicBezTo>
                    <a:pt x="12272" y="506"/>
                    <a:pt x="12294" y="527"/>
                    <a:pt x="12294" y="553"/>
                  </a:cubicBezTo>
                  <a:close/>
                  <a:moveTo>
                    <a:pt x="12395" y="553"/>
                  </a:moveTo>
                  <a:cubicBezTo>
                    <a:pt x="12395" y="578"/>
                    <a:pt x="12373" y="600"/>
                    <a:pt x="12348" y="600"/>
                  </a:cubicBezTo>
                  <a:cubicBezTo>
                    <a:pt x="12322" y="600"/>
                    <a:pt x="12301" y="578"/>
                    <a:pt x="12301" y="553"/>
                  </a:cubicBezTo>
                  <a:cubicBezTo>
                    <a:pt x="12301" y="527"/>
                    <a:pt x="12322" y="506"/>
                    <a:pt x="12348" y="506"/>
                  </a:cubicBezTo>
                  <a:cubicBezTo>
                    <a:pt x="12373" y="506"/>
                    <a:pt x="12395" y="527"/>
                    <a:pt x="12395" y="553"/>
                  </a:cubicBezTo>
                  <a:close/>
                  <a:moveTo>
                    <a:pt x="12495" y="553"/>
                  </a:moveTo>
                  <a:cubicBezTo>
                    <a:pt x="12495" y="578"/>
                    <a:pt x="12473" y="600"/>
                    <a:pt x="12448" y="600"/>
                  </a:cubicBezTo>
                  <a:cubicBezTo>
                    <a:pt x="12422" y="600"/>
                    <a:pt x="12401" y="578"/>
                    <a:pt x="12401" y="553"/>
                  </a:cubicBezTo>
                  <a:cubicBezTo>
                    <a:pt x="12401" y="527"/>
                    <a:pt x="12422" y="506"/>
                    <a:pt x="12448" y="506"/>
                  </a:cubicBezTo>
                  <a:cubicBezTo>
                    <a:pt x="12473" y="506"/>
                    <a:pt x="12495" y="527"/>
                    <a:pt x="12495" y="553"/>
                  </a:cubicBezTo>
                  <a:close/>
                  <a:moveTo>
                    <a:pt x="12596" y="553"/>
                  </a:moveTo>
                  <a:cubicBezTo>
                    <a:pt x="12596" y="578"/>
                    <a:pt x="12574" y="600"/>
                    <a:pt x="12549" y="600"/>
                  </a:cubicBezTo>
                  <a:cubicBezTo>
                    <a:pt x="12523" y="600"/>
                    <a:pt x="12502" y="578"/>
                    <a:pt x="12502" y="553"/>
                  </a:cubicBezTo>
                  <a:cubicBezTo>
                    <a:pt x="12502" y="527"/>
                    <a:pt x="12523" y="506"/>
                    <a:pt x="12549" y="506"/>
                  </a:cubicBezTo>
                  <a:cubicBezTo>
                    <a:pt x="12574" y="506"/>
                    <a:pt x="12596" y="527"/>
                    <a:pt x="12596" y="553"/>
                  </a:cubicBezTo>
                  <a:close/>
                </a:path>
              </a:pathLst>
            </a:custGeom>
            <a:gradFill rotWithShape="1">
              <a:gsLst>
                <a:gs pos="0">
                  <a:srgbClr val="ECB693"/>
                </a:gs>
                <a:gs pos="55000">
                  <a:srgbClr val="E59866"/>
                </a:gs>
                <a:gs pos="100000">
                  <a:srgbClr val="B77951"/>
                </a:gs>
              </a:gsLst>
              <a:path path="circle">
                <a:fillToRect l="32000" t="28000" r="68000" b="72000"/>
              </a:path>
            </a:gradFill>
            <a:ln w="6350" cap="rnd">
              <a:solidFill>
                <a:srgbClr val="7D5338"/>
              </a:solidFill>
              <a:round/>
            </a:ln>
          </p:spPr>
        </p:sp>
        <p:sp>
          <p:nvSpPr>
            <p:cNvPr id="9" name="Forma 8"/>
            <p:cNvSpPr/>
            <p:nvPr/>
          </p:nvSpPr>
          <p:spPr>
            <a:xfrm>
              <a:off x="274320" y="2286000"/>
              <a:ext cx="11521440" cy="548640"/>
            </a:xfrm>
            <a:custGeom>
              <a:avLst/>
              <a:gdLst/>
              <a:ahLst/>
              <a:cxnLst/>
              <a:rect l="0" t="0" r="r" b="b"/>
              <a:pathLst>
                <a:path w="12600" h="600" fill="none">
                  <a:moveTo>
                    <a:pt x="35" y="94"/>
                  </a:moveTo>
                  <a:lnTo>
                    <a:pt x="35" y="290"/>
                  </a:lnTo>
                </a:path>
                <a:path w="12600" h="600" fill="none">
                  <a:moveTo>
                    <a:pt x="65" y="94"/>
                  </a:moveTo>
                  <a:lnTo>
                    <a:pt x="65" y="290"/>
                  </a:lnTo>
                </a:path>
                <a:path w="12600" h="600" fill="none">
                  <a:moveTo>
                    <a:pt x="35" y="506"/>
                  </a:moveTo>
                  <a:lnTo>
                    <a:pt x="35" y="310"/>
                  </a:lnTo>
                </a:path>
                <a:path w="12600" h="600" fill="none">
                  <a:moveTo>
                    <a:pt x="65" y="506"/>
                  </a:moveTo>
                  <a:lnTo>
                    <a:pt x="65" y="310"/>
                  </a:lnTo>
                </a:path>
                <a:path w="12600" h="600" fill="none">
                  <a:moveTo>
                    <a:pt x="136" y="94"/>
                  </a:moveTo>
                  <a:lnTo>
                    <a:pt x="136" y="290"/>
                  </a:lnTo>
                </a:path>
                <a:path w="12600" h="600" fill="none">
                  <a:moveTo>
                    <a:pt x="166" y="94"/>
                  </a:moveTo>
                  <a:lnTo>
                    <a:pt x="166" y="290"/>
                  </a:lnTo>
                </a:path>
                <a:path w="12600" h="600" fill="none">
                  <a:moveTo>
                    <a:pt x="136" y="506"/>
                  </a:moveTo>
                  <a:lnTo>
                    <a:pt x="136" y="310"/>
                  </a:lnTo>
                </a:path>
                <a:path w="12600" h="600" fill="none">
                  <a:moveTo>
                    <a:pt x="166" y="506"/>
                  </a:moveTo>
                  <a:lnTo>
                    <a:pt x="166" y="310"/>
                  </a:lnTo>
                </a:path>
                <a:path w="12600" h="600" fill="none">
                  <a:moveTo>
                    <a:pt x="237" y="94"/>
                  </a:moveTo>
                  <a:lnTo>
                    <a:pt x="237" y="290"/>
                  </a:lnTo>
                </a:path>
                <a:path w="12600" h="600" fill="none">
                  <a:moveTo>
                    <a:pt x="267" y="94"/>
                  </a:moveTo>
                  <a:lnTo>
                    <a:pt x="267" y="290"/>
                  </a:lnTo>
                </a:path>
                <a:path w="12600" h="600" fill="none">
                  <a:moveTo>
                    <a:pt x="237" y="506"/>
                  </a:moveTo>
                  <a:lnTo>
                    <a:pt x="237" y="310"/>
                  </a:lnTo>
                </a:path>
                <a:path w="12600" h="600" fill="none">
                  <a:moveTo>
                    <a:pt x="267" y="506"/>
                  </a:moveTo>
                  <a:lnTo>
                    <a:pt x="267" y="310"/>
                  </a:lnTo>
                </a:path>
                <a:path w="12600" h="600" fill="none">
                  <a:moveTo>
                    <a:pt x="337" y="94"/>
                  </a:moveTo>
                  <a:lnTo>
                    <a:pt x="337" y="290"/>
                  </a:lnTo>
                </a:path>
                <a:path w="12600" h="600" fill="none">
                  <a:moveTo>
                    <a:pt x="367" y="94"/>
                  </a:moveTo>
                  <a:lnTo>
                    <a:pt x="367" y="290"/>
                  </a:lnTo>
                </a:path>
                <a:path w="12600" h="600" fill="none">
                  <a:moveTo>
                    <a:pt x="337" y="506"/>
                  </a:moveTo>
                  <a:lnTo>
                    <a:pt x="337" y="310"/>
                  </a:lnTo>
                </a:path>
                <a:path w="12600" h="600" fill="none">
                  <a:moveTo>
                    <a:pt x="367" y="506"/>
                  </a:moveTo>
                  <a:lnTo>
                    <a:pt x="367" y="310"/>
                  </a:lnTo>
                </a:path>
                <a:path w="12600" h="600" fill="none">
                  <a:moveTo>
                    <a:pt x="438" y="94"/>
                  </a:moveTo>
                  <a:lnTo>
                    <a:pt x="438" y="290"/>
                  </a:lnTo>
                </a:path>
                <a:path w="12600" h="600" fill="none">
                  <a:moveTo>
                    <a:pt x="468" y="94"/>
                  </a:moveTo>
                  <a:lnTo>
                    <a:pt x="468" y="290"/>
                  </a:lnTo>
                </a:path>
                <a:path w="12600" h="600" fill="none">
                  <a:moveTo>
                    <a:pt x="438" y="506"/>
                  </a:moveTo>
                  <a:lnTo>
                    <a:pt x="438" y="310"/>
                  </a:lnTo>
                </a:path>
                <a:path w="12600" h="600" fill="none">
                  <a:moveTo>
                    <a:pt x="468" y="506"/>
                  </a:moveTo>
                  <a:lnTo>
                    <a:pt x="468" y="310"/>
                  </a:lnTo>
                </a:path>
                <a:path w="12600" h="600" fill="none">
                  <a:moveTo>
                    <a:pt x="539" y="94"/>
                  </a:moveTo>
                  <a:lnTo>
                    <a:pt x="539" y="290"/>
                  </a:lnTo>
                </a:path>
                <a:path w="12600" h="600" fill="none">
                  <a:moveTo>
                    <a:pt x="569" y="94"/>
                  </a:moveTo>
                  <a:lnTo>
                    <a:pt x="569" y="290"/>
                  </a:lnTo>
                </a:path>
                <a:path w="12600" h="600" fill="none">
                  <a:moveTo>
                    <a:pt x="539" y="506"/>
                  </a:moveTo>
                  <a:lnTo>
                    <a:pt x="539" y="310"/>
                  </a:lnTo>
                </a:path>
                <a:path w="12600" h="600" fill="none">
                  <a:moveTo>
                    <a:pt x="569" y="506"/>
                  </a:moveTo>
                  <a:lnTo>
                    <a:pt x="569" y="310"/>
                  </a:lnTo>
                </a:path>
                <a:path w="12600" h="600" fill="none">
                  <a:moveTo>
                    <a:pt x="640" y="94"/>
                  </a:moveTo>
                  <a:lnTo>
                    <a:pt x="640" y="290"/>
                  </a:lnTo>
                </a:path>
                <a:path w="12600" h="600" fill="none">
                  <a:moveTo>
                    <a:pt x="670" y="94"/>
                  </a:moveTo>
                  <a:lnTo>
                    <a:pt x="670" y="290"/>
                  </a:lnTo>
                </a:path>
                <a:path w="12600" h="600" fill="none">
                  <a:moveTo>
                    <a:pt x="640" y="506"/>
                  </a:moveTo>
                  <a:lnTo>
                    <a:pt x="640" y="310"/>
                  </a:lnTo>
                </a:path>
                <a:path w="12600" h="600" fill="none">
                  <a:moveTo>
                    <a:pt x="670" y="506"/>
                  </a:moveTo>
                  <a:lnTo>
                    <a:pt x="670" y="310"/>
                  </a:lnTo>
                </a:path>
                <a:path w="12600" h="600" fill="none">
                  <a:moveTo>
                    <a:pt x="741" y="94"/>
                  </a:moveTo>
                  <a:lnTo>
                    <a:pt x="741" y="290"/>
                  </a:lnTo>
                </a:path>
                <a:path w="12600" h="600" fill="none">
                  <a:moveTo>
                    <a:pt x="771" y="94"/>
                  </a:moveTo>
                  <a:lnTo>
                    <a:pt x="771" y="290"/>
                  </a:lnTo>
                </a:path>
                <a:path w="12600" h="600" fill="none">
                  <a:moveTo>
                    <a:pt x="741" y="506"/>
                  </a:moveTo>
                  <a:lnTo>
                    <a:pt x="741" y="310"/>
                  </a:lnTo>
                </a:path>
                <a:path w="12600" h="600" fill="none">
                  <a:moveTo>
                    <a:pt x="771" y="506"/>
                  </a:moveTo>
                  <a:lnTo>
                    <a:pt x="771" y="310"/>
                  </a:lnTo>
                </a:path>
                <a:path w="12600" h="600" fill="none">
                  <a:moveTo>
                    <a:pt x="841" y="94"/>
                  </a:moveTo>
                  <a:lnTo>
                    <a:pt x="841" y="290"/>
                  </a:lnTo>
                </a:path>
                <a:path w="12600" h="600" fill="none">
                  <a:moveTo>
                    <a:pt x="871" y="94"/>
                  </a:moveTo>
                  <a:lnTo>
                    <a:pt x="871" y="290"/>
                  </a:lnTo>
                </a:path>
                <a:path w="12600" h="600" fill="none">
                  <a:moveTo>
                    <a:pt x="841" y="506"/>
                  </a:moveTo>
                  <a:lnTo>
                    <a:pt x="841" y="310"/>
                  </a:lnTo>
                </a:path>
                <a:path w="12600" h="600" fill="none">
                  <a:moveTo>
                    <a:pt x="871" y="506"/>
                  </a:moveTo>
                  <a:lnTo>
                    <a:pt x="871" y="310"/>
                  </a:lnTo>
                </a:path>
                <a:path w="12600" h="600" fill="none">
                  <a:moveTo>
                    <a:pt x="942" y="94"/>
                  </a:moveTo>
                  <a:lnTo>
                    <a:pt x="942" y="290"/>
                  </a:lnTo>
                </a:path>
                <a:path w="12600" h="600" fill="none">
                  <a:moveTo>
                    <a:pt x="972" y="94"/>
                  </a:moveTo>
                  <a:lnTo>
                    <a:pt x="972" y="290"/>
                  </a:lnTo>
                </a:path>
                <a:path w="12600" h="600" fill="none">
                  <a:moveTo>
                    <a:pt x="942" y="506"/>
                  </a:moveTo>
                  <a:lnTo>
                    <a:pt x="942" y="310"/>
                  </a:lnTo>
                </a:path>
                <a:path w="12600" h="600" fill="none">
                  <a:moveTo>
                    <a:pt x="972" y="506"/>
                  </a:moveTo>
                  <a:lnTo>
                    <a:pt x="972" y="310"/>
                  </a:lnTo>
                </a:path>
                <a:path w="12600" h="600" fill="none">
                  <a:moveTo>
                    <a:pt x="1043" y="94"/>
                  </a:moveTo>
                  <a:lnTo>
                    <a:pt x="1043" y="290"/>
                  </a:lnTo>
                </a:path>
                <a:path w="12600" h="600" fill="none">
                  <a:moveTo>
                    <a:pt x="1073" y="94"/>
                  </a:moveTo>
                  <a:lnTo>
                    <a:pt x="1073" y="290"/>
                  </a:lnTo>
                </a:path>
                <a:path w="12600" h="600" fill="none">
                  <a:moveTo>
                    <a:pt x="1043" y="506"/>
                  </a:moveTo>
                  <a:lnTo>
                    <a:pt x="1043" y="310"/>
                  </a:lnTo>
                </a:path>
                <a:path w="12600" h="600" fill="none">
                  <a:moveTo>
                    <a:pt x="1073" y="506"/>
                  </a:moveTo>
                  <a:lnTo>
                    <a:pt x="1073" y="310"/>
                  </a:lnTo>
                </a:path>
                <a:path w="12600" h="600" fill="none">
                  <a:moveTo>
                    <a:pt x="1144" y="94"/>
                  </a:moveTo>
                  <a:lnTo>
                    <a:pt x="1144" y="290"/>
                  </a:lnTo>
                </a:path>
                <a:path w="12600" h="600" fill="none">
                  <a:moveTo>
                    <a:pt x="1174" y="94"/>
                  </a:moveTo>
                  <a:lnTo>
                    <a:pt x="1174" y="290"/>
                  </a:lnTo>
                </a:path>
                <a:path w="12600" h="600" fill="none">
                  <a:moveTo>
                    <a:pt x="1144" y="506"/>
                  </a:moveTo>
                  <a:lnTo>
                    <a:pt x="1144" y="310"/>
                  </a:lnTo>
                </a:path>
                <a:path w="12600" h="600" fill="none">
                  <a:moveTo>
                    <a:pt x="1174" y="506"/>
                  </a:moveTo>
                  <a:lnTo>
                    <a:pt x="1174" y="310"/>
                  </a:lnTo>
                </a:path>
                <a:path w="12600" h="600" fill="none">
                  <a:moveTo>
                    <a:pt x="1245" y="94"/>
                  </a:moveTo>
                  <a:lnTo>
                    <a:pt x="1245" y="290"/>
                  </a:lnTo>
                </a:path>
                <a:path w="12600" h="600" fill="none">
                  <a:moveTo>
                    <a:pt x="1275" y="94"/>
                  </a:moveTo>
                  <a:lnTo>
                    <a:pt x="1275" y="290"/>
                  </a:lnTo>
                </a:path>
                <a:path w="12600" h="600" fill="none">
                  <a:moveTo>
                    <a:pt x="1245" y="506"/>
                  </a:moveTo>
                  <a:lnTo>
                    <a:pt x="1245" y="310"/>
                  </a:lnTo>
                </a:path>
                <a:path w="12600" h="600" fill="none">
                  <a:moveTo>
                    <a:pt x="1275" y="506"/>
                  </a:moveTo>
                  <a:lnTo>
                    <a:pt x="1275" y="310"/>
                  </a:lnTo>
                </a:path>
                <a:path w="12600" h="600" fill="none">
                  <a:moveTo>
                    <a:pt x="1345" y="94"/>
                  </a:moveTo>
                  <a:lnTo>
                    <a:pt x="1345" y="290"/>
                  </a:lnTo>
                </a:path>
                <a:path w="12600" h="600" fill="none">
                  <a:moveTo>
                    <a:pt x="1375" y="94"/>
                  </a:moveTo>
                  <a:lnTo>
                    <a:pt x="1375" y="290"/>
                  </a:lnTo>
                </a:path>
                <a:path w="12600" h="600" fill="none">
                  <a:moveTo>
                    <a:pt x="1345" y="506"/>
                  </a:moveTo>
                  <a:lnTo>
                    <a:pt x="1345" y="310"/>
                  </a:lnTo>
                </a:path>
                <a:path w="12600" h="600" fill="none">
                  <a:moveTo>
                    <a:pt x="1375" y="506"/>
                  </a:moveTo>
                  <a:lnTo>
                    <a:pt x="1375" y="310"/>
                  </a:lnTo>
                </a:path>
                <a:path w="12600" h="600" fill="none">
                  <a:moveTo>
                    <a:pt x="1446" y="94"/>
                  </a:moveTo>
                  <a:lnTo>
                    <a:pt x="1446" y="290"/>
                  </a:lnTo>
                </a:path>
                <a:path w="12600" h="600" fill="none">
                  <a:moveTo>
                    <a:pt x="1476" y="94"/>
                  </a:moveTo>
                  <a:lnTo>
                    <a:pt x="1476" y="290"/>
                  </a:lnTo>
                </a:path>
                <a:path w="12600" h="600" fill="none">
                  <a:moveTo>
                    <a:pt x="1446" y="506"/>
                  </a:moveTo>
                  <a:lnTo>
                    <a:pt x="1446" y="310"/>
                  </a:lnTo>
                </a:path>
                <a:path w="12600" h="600" fill="none">
                  <a:moveTo>
                    <a:pt x="1476" y="506"/>
                  </a:moveTo>
                  <a:lnTo>
                    <a:pt x="1476" y="310"/>
                  </a:lnTo>
                </a:path>
                <a:path w="12600" h="600" fill="none">
                  <a:moveTo>
                    <a:pt x="1547" y="94"/>
                  </a:moveTo>
                  <a:lnTo>
                    <a:pt x="1547" y="290"/>
                  </a:lnTo>
                </a:path>
                <a:path w="12600" h="600" fill="none">
                  <a:moveTo>
                    <a:pt x="1577" y="94"/>
                  </a:moveTo>
                  <a:lnTo>
                    <a:pt x="1577" y="290"/>
                  </a:lnTo>
                </a:path>
                <a:path w="12600" h="600" fill="none">
                  <a:moveTo>
                    <a:pt x="1547" y="506"/>
                  </a:moveTo>
                  <a:lnTo>
                    <a:pt x="1547" y="310"/>
                  </a:lnTo>
                </a:path>
                <a:path w="12600" h="600" fill="none">
                  <a:moveTo>
                    <a:pt x="1577" y="506"/>
                  </a:moveTo>
                  <a:lnTo>
                    <a:pt x="1577" y="310"/>
                  </a:lnTo>
                </a:path>
                <a:path w="12600" h="600" fill="none">
                  <a:moveTo>
                    <a:pt x="1648" y="94"/>
                  </a:moveTo>
                  <a:lnTo>
                    <a:pt x="1648" y="290"/>
                  </a:lnTo>
                </a:path>
                <a:path w="12600" h="600" fill="none">
                  <a:moveTo>
                    <a:pt x="1678" y="94"/>
                  </a:moveTo>
                  <a:lnTo>
                    <a:pt x="1678" y="290"/>
                  </a:lnTo>
                </a:path>
                <a:path w="12600" h="600" fill="none">
                  <a:moveTo>
                    <a:pt x="1648" y="506"/>
                  </a:moveTo>
                  <a:lnTo>
                    <a:pt x="1648" y="310"/>
                  </a:lnTo>
                </a:path>
                <a:path w="12600" h="600" fill="none">
                  <a:moveTo>
                    <a:pt x="1678" y="506"/>
                  </a:moveTo>
                  <a:lnTo>
                    <a:pt x="1678" y="310"/>
                  </a:lnTo>
                </a:path>
                <a:path w="12600" h="600" fill="none">
                  <a:moveTo>
                    <a:pt x="1749" y="94"/>
                  </a:moveTo>
                  <a:lnTo>
                    <a:pt x="1749" y="290"/>
                  </a:lnTo>
                </a:path>
                <a:path w="12600" h="600" fill="none">
                  <a:moveTo>
                    <a:pt x="1779" y="94"/>
                  </a:moveTo>
                  <a:lnTo>
                    <a:pt x="1779" y="290"/>
                  </a:lnTo>
                </a:path>
                <a:path w="12600" h="600" fill="none">
                  <a:moveTo>
                    <a:pt x="1749" y="506"/>
                  </a:moveTo>
                  <a:lnTo>
                    <a:pt x="1749" y="310"/>
                  </a:lnTo>
                </a:path>
                <a:path w="12600" h="600" fill="none">
                  <a:moveTo>
                    <a:pt x="1779" y="506"/>
                  </a:moveTo>
                  <a:lnTo>
                    <a:pt x="1779" y="310"/>
                  </a:lnTo>
                </a:path>
                <a:path w="12600" h="600" fill="none">
                  <a:moveTo>
                    <a:pt x="1849" y="94"/>
                  </a:moveTo>
                  <a:lnTo>
                    <a:pt x="1849" y="290"/>
                  </a:lnTo>
                </a:path>
                <a:path w="12600" h="600" fill="none">
                  <a:moveTo>
                    <a:pt x="1879" y="94"/>
                  </a:moveTo>
                  <a:lnTo>
                    <a:pt x="1879" y="290"/>
                  </a:lnTo>
                </a:path>
                <a:path w="12600" h="600" fill="none">
                  <a:moveTo>
                    <a:pt x="1849" y="506"/>
                  </a:moveTo>
                  <a:lnTo>
                    <a:pt x="1849" y="310"/>
                  </a:lnTo>
                </a:path>
                <a:path w="12600" h="600" fill="none">
                  <a:moveTo>
                    <a:pt x="1879" y="506"/>
                  </a:moveTo>
                  <a:lnTo>
                    <a:pt x="1879" y="310"/>
                  </a:lnTo>
                </a:path>
                <a:path w="12600" h="600" fill="none">
                  <a:moveTo>
                    <a:pt x="1950" y="94"/>
                  </a:moveTo>
                  <a:lnTo>
                    <a:pt x="1950" y="290"/>
                  </a:lnTo>
                </a:path>
                <a:path w="12600" h="600" fill="none">
                  <a:moveTo>
                    <a:pt x="1980" y="94"/>
                  </a:moveTo>
                  <a:lnTo>
                    <a:pt x="1980" y="290"/>
                  </a:lnTo>
                </a:path>
                <a:path w="12600" h="600" fill="none">
                  <a:moveTo>
                    <a:pt x="1950" y="506"/>
                  </a:moveTo>
                  <a:lnTo>
                    <a:pt x="1950" y="310"/>
                  </a:lnTo>
                </a:path>
                <a:path w="12600" h="600" fill="none">
                  <a:moveTo>
                    <a:pt x="1980" y="506"/>
                  </a:moveTo>
                  <a:lnTo>
                    <a:pt x="1980" y="310"/>
                  </a:lnTo>
                </a:path>
                <a:path w="12600" h="600" fill="none">
                  <a:moveTo>
                    <a:pt x="2051" y="94"/>
                  </a:moveTo>
                  <a:lnTo>
                    <a:pt x="2051" y="290"/>
                  </a:lnTo>
                </a:path>
                <a:path w="12600" h="600" fill="none">
                  <a:moveTo>
                    <a:pt x="2081" y="94"/>
                  </a:moveTo>
                  <a:lnTo>
                    <a:pt x="2081" y="290"/>
                  </a:lnTo>
                </a:path>
                <a:path w="12600" h="600" fill="none">
                  <a:moveTo>
                    <a:pt x="2051" y="506"/>
                  </a:moveTo>
                  <a:lnTo>
                    <a:pt x="2051" y="310"/>
                  </a:lnTo>
                </a:path>
                <a:path w="12600" h="600" fill="none">
                  <a:moveTo>
                    <a:pt x="2081" y="506"/>
                  </a:moveTo>
                  <a:lnTo>
                    <a:pt x="2081" y="310"/>
                  </a:lnTo>
                </a:path>
                <a:path w="12600" h="600" fill="none">
                  <a:moveTo>
                    <a:pt x="2152" y="94"/>
                  </a:moveTo>
                  <a:lnTo>
                    <a:pt x="2152" y="290"/>
                  </a:lnTo>
                </a:path>
                <a:path w="12600" h="600" fill="none">
                  <a:moveTo>
                    <a:pt x="2182" y="94"/>
                  </a:moveTo>
                  <a:lnTo>
                    <a:pt x="2182" y="290"/>
                  </a:lnTo>
                </a:path>
                <a:path w="12600" h="600" fill="none">
                  <a:moveTo>
                    <a:pt x="2152" y="506"/>
                  </a:moveTo>
                  <a:lnTo>
                    <a:pt x="2152" y="310"/>
                  </a:lnTo>
                </a:path>
                <a:path w="12600" h="600" fill="none">
                  <a:moveTo>
                    <a:pt x="2182" y="506"/>
                  </a:moveTo>
                  <a:lnTo>
                    <a:pt x="2182" y="310"/>
                  </a:lnTo>
                </a:path>
                <a:path w="12600" h="600" fill="none">
                  <a:moveTo>
                    <a:pt x="2253" y="94"/>
                  </a:moveTo>
                  <a:lnTo>
                    <a:pt x="2253" y="290"/>
                  </a:lnTo>
                </a:path>
                <a:path w="12600" h="600" fill="none">
                  <a:moveTo>
                    <a:pt x="2283" y="94"/>
                  </a:moveTo>
                  <a:lnTo>
                    <a:pt x="2283" y="290"/>
                  </a:lnTo>
                </a:path>
                <a:path w="12600" h="600" fill="none">
                  <a:moveTo>
                    <a:pt x="2253" y="506"/>
                  </a:moveTo>
                  <a:lnTo>
                    <a:pt x="2253" y="310"/>
                  </a:lnTo>
                </a:path>
                <a:path w="12600" h="600" fill="none">
                  <a:moveTo>
                    <a:pt x="2283" y="506"/>
                  </a:moveTo>
                  <a:lnTo>
                    <a:pt x="2283" y="310"/>
                  </a:lnTo>
                </a:path>
                <a:path w="12600" h="600" fill="none">
                  <a:moveTo>
                    <a:pt x="2353" y="94"/>
                  </a:moveTo>
                  <a:lnTo>
                    <a:pt x="2353" y="290"/>
                  </a:lnTo>
                </a:path>
                <a:path w="12600" h="600" fill="none">
                  <a:moveTo>
                    <a:pt x="2383" y="94"/>
                  </a:moveTo>
                  <a:lnTo>
                    <a:pt x="2383" y="290"/>
                  </a:lnTo>
                </a:path>
                <a:path w="12600" h="600" fill="none">
                  <a:moveTo>
                    <a:pt x="2353" y="506"/>
                  </a:moveTo>
                  <a:lnTo>
                    <a:pt x="2353" y="310"/>
                  </a:lnTo>
                </a:path>
                <a:path w="12600" h="600" fill="none">
                  <a:moveTo>
                    <a:pt x="2383" y="506"/>
                  </a:moveTo>
                  <a:lnTo>
                    <a:pt x="2383" y="310"/>
                  </a:lnTo>
                </a:path>
                <a:path w="12600" h="600" fill="none">
                  <a:moveTo>
                    <a:pt x="2454" y="94"/>
                  </a:moveTo>
                  <a:lnTo>
                    <a:pt x="2454" y="290"/>
                  </a:lnTo>
                </a:path>
                <a:path w="12600" h="600" fill="none">
                  <a:moveTo>
                    <a:pt x="2484" y="94"/>
                  </a:moveTo>
                  <a:lnTo>
                    <a:pt x="2484" y="290"/>
                  </a:lnTo>
                </a:path>
                <a:path w="12600" h="600" fill="none">
                  <a:moveTo>
                    <a:pt x="2454" y="506"/>
                  </a:moveTo>
                  <a:lnTo>
                    <a:pt x="2454" y="310"/>
                  </a:lnTo>
                </a:path>
                <a:path w="12600" h="600" fill="none">
                  <a:moveTo>
                    <a:pt x="2484" y="506"/>
                  </a:moveTo>
                  <a:lnTo>
                    <a:pt x="2484" y="310"/>
                  </a:lnTo>
                </a:path>
                <a:path w="12600" h="600" fill="none">
                  <a:moveTo>
                    <a:pt x="2555" y="94"/>
                  </a:moveTo>
                  <a:lnTo>
                    <a:pt x="2555" y="290"/>
                  </a:lnTo>
                </a:path>
                <a:path w="12600" h="600" fill="none">
                  <a:moveTo>
                    <a:pt x="2585" y="94"/>
                  </a:moveTo>
                  <a:lnTo>
                    <a:pt x="2585" y="290"/>
                  </a:lnTo>
                </a:path>
                <a:path w="12600" h="600" fill="none">
                  <a:moveTo>
                    <a:pt x="2555" y="506"/>
                  </a:moveTo>
                  <a:lnTo>
                    <a:pt x="2555" y="310"/>
                  </a:lnTo>
                </a:path>
                <a:path w="12600" h="600" fill="none">
                  <a:moveTo>
                    <a:pt x="2585" y="506"/>
                  </a:moveTo>
                  <a:lnTo>
                    <a:pt x="2585" y="310"/>
                  </a:lnTo>
                </a:path>
                <a:path w="12600" h="600" fill="none">
                  <a:moveTo>
                    <a:pt x="2656" y="94"/>
                  </a:moveTo>
                  <a:lnTo>
                    <a:pt x="2656" y="290"/>
                  </a:lnTo>
                </a:path>
                <a:path w="12600" h="600" fill="none">
                  <a:moveTo>
                    <a:pt x="2686" y="94"/>
                  </a:moveTo>
                  <a:lnTo>
                    <a:pt x="2686" y="290"/>
                  </a:lnTo>
                </a:path>
                <a:path w="12600" h="600" fill="none">
                  <a:moveTo>
                    <a:pt x="2656" y="506"/>
                  </a:moveTo>
                  <a:lnTo>
                    <a:pt x="2656" y="310"/>
                  </a:lnTo>
                </a:path>
                <a:path w="12600" h="600" fill="none">
                  <a:moveTo>
                    <a:pt x="2686" y="506"/>
                  </a:moveTo>
                  <a:lnTo>
                    <a:pt x="2686" y="310"/>
                  </a:lnTo>
                </a:path>
                <a:path w="12600" h="600" fill="none">
                  <a:moveTo>
                    <a:pt x="2757" y="94"/>
                  </a:moveTo>
                  <a:lnTo>
                    <a:pt x="2757" y="290"/>
                  </a:lnTo>
                </a:path>
                <a:path w="12600" h="600" fill="none">
                  <a:moveTo>
                    <a:pt x="2787" y="94"/>
                  </a:moveTo>
                  <a:lnTo>
                    <a:pt x="2787" y="290"/>
                  </a:lnTo>
                </a:path>
                <a:path w="12600" h="600" fill="none">
                  <a:moveTo>
                    <a:pt x="2757" y="506"/>
                  </a:moveTo>
                  <a:lnTo>
                    <a:pt x="2757" y="310"/>
                  </a:lnTo>
                </a:path>
                <a:path w="12600" h="600" fill="none">
                  <a:moveTo>
                    <a:pt x="2787" y="506"/>
                  </a:moveTo>
                  <a:lnTo>
                    <a:pt x="2787" y="310"/>
                  </a:lnTo>
                </a:path>
                <a:path w="12600" h="600" fill="none">
                  <a:moveTo>
                    <a:pt x="2857" y="94"/>
                  </a:moveTo>
                  <a:lnTo>
                    <a:pt x="2857" y="290"/>
                  </a:lnTo>
                </a:path>
                <a:path w="12600" h="600" fill="none">
                  <a:moveTo>
                    <a:pt x="2887" y="94"/>
                  </a:moveTo>
                  <a:lnTo>
                    <a:pt x="2887" y="290"/>
                  </a:lnTo>
                </a:path>
                <a:path w="12600" h="600" fill="none">
                  <a:moveTo>
                    <a:pt x="2857" y="506"/>
                  </a:moveTo>
                  <a:lnTo>
                    <a:pt x="2857" y="310"/>
                  </a:lnTo>
                </a:path>
                <a:path w="12600" h="600" fill="none">
                  <a:moveTo>
                    <a:pt x="2887" y="506"/>
                  </a:moveTo>
                  <a:lnTo>
                    <a:pt x="2887" y="310"/>
                  </a:lnTo>
                </a:path>
                <a:path w="12600" h="600" fill="none">
                  <a:moveTo>
                    <a:pt x="2958" y="94"/>
                  </a:moveTo>
                  <a:lnTo>
                    <a:pt x="2958" y="290"/>
                  </a:lnTo>
                </a:path>
                <a:path w="12600" h="600" fill="none">
                  <a:moveTo>
                    <a:pt x="2988" y="94"/>
                  </a:moveTo>
                  <a:lnTo>
                    <a:pt x="2988" y="290"/>
                  </a:lnTo>
                </a:path>
                <a:path w="12600" h="600" fill="none">
                  <a:moveTo>
                    <a:pt x="2958" y="506"/>
                  </a:moveTo>
                  <a:lnTo>
                    <a:pt x="2958" y="310"/>
                  </a:lnTo>
                </a:path>
                <a:path w="12600" h="600" fill="none">
                  <a:moveTo>
                    <a:pt x="2988" y="506"/>
                  </a:moveTo>
                  <a:lnTo>
                    <a:pt x="2988" y="310"/>
                  </a:lnTo>
                </a:path>
                <a:path w="12600" h="600" fill="none">
                  <a:moveTo>
                    <a:pt x="3059" y="94"/>
                  </a:moveTo>
                  <a:lnTo>
                    <a:pt x="3059" y="290"/>
                  </a:lnTo>
                </a:path>
                <a:path w="12600" h="600" fill="none">
                  <a:moveTo>
                    <a:pt x="3089" y="94"/>
                  </a:moveTo>
                  <a:lnTo>
                    <a:pt x="3089" y="290"/>
                  </a:lnTo>
                </a:path>
                <a:path w="12600" h="600" fill="none">
                  <a:moveTo>
                    <a:pt x="3059" y="506"/>
                  </a:moveTo>
                  <a:lnTo>
                    <a:pt x="3059" y="310"/>
                  </a:lnTo>
                </a:path>
                <a:path w="12600" h="600" fill="none">
                  <a:moveTo>
                    <a:pt x="3089" y="506"/>
                  </a:moveTo>
                  <a:lnTo>
                    <a:pt x="3089" y="310"/>
                  </a:lnTo>
                </a:path>
                <a:path w="12600" h="600" fill="none">
                  <a:moveTo>
                    <a:pt x="3160" y="94"/>
                  </a:moveTo>
                  <a:lnTo>
                    <a:pt x="3160" y="290"/>
                  </a:lnTo>
                </a:path>
                <a:path w="12600" h="600" fill="none">
                  <a:moveTo>
                    <a:pt x="3190" y="94"/>
                  </a:moveTo>
                  <a:lnTo>
                    <a:pt x="3190" y="290"/>
                  </a:lnTo>
                </a:path>
                <a:path w="12600" h="600" fill="none">
                  <a:moveTo>
                    <a:pt x="3160" y="506"/>
                  </a:moveTo>
                  <a:lnTo>
                    <a:pt x="3160" y="310"/>
                  </a:lnTo>
                </a:path>
                <a:path w="12600" h="600" fill="none">
                  <a:moveTo>
                    <a:pt x="3190" y="506"/>
                  </a:moveTo>
                  <a:lnTo>
                    <a:pt x="3190" y="310"/>
                  </a:lnTo>
                </a:path>
                <a:path w="12600" h="600" fill="none">
                  <a:moveTo>
                    <a:pt x="3261" y="94"/>
                  </a:moveTo>
                  <a:lnTo>
                    <a:pt x="3261" y="290"/>
                  </a:lnTo>
                </a:path>
                <a:path w="12600" h="600" fill="none">
                  <a:moveTo>
                    <a:pt x="3291" y="94"/>
                  </a:moveTo>
                  <a:lnTo>
                    <a:pt x="3291" y="290"/>
                  </a:lnTo>
                </a:path>
                <a:path w="12600" h="600" fill="none">
                  <a:moveTo>
                    <a:pt x="3261" y="506"/>
                  </a:moveTo>
                  <a:lnTo>
                    <a:pt x="3261" y="310"/>
                  </a:lnTo>
                </a:path>
                <a:path w="12600" h="600" fill="none">
                  <a:moveTo>
                    <a:pt x="3291" y="506"/>
                  </a:moveTo>
                  <a:lnTo>
                    <a:pt x="3291" y="310"/>
                  </a:lnTo>
                </a:path>
                <a:path w="12600" h="600" fill="none">
                  <a:moveTo>
                    <a:pt x="3361" y="94"/>
                  </a:moveTo>
                  <a:lnTo>
                    <a:pt x="3361" y="290"/>
                  </a:lnTo>
                </a:path>
                <a:path w="12600" h="600" fill="none">
                  <a:moveTo>
                    <a:pt x="3391" y="94"/>
                  </a:moveTo>
                  <a:lnTo>
                    <a:pt x="3391" y="290"/>
                  </a:lnTo>
                </a:path>
                <a:path w="12600" h="600" fill="none">
                  <a:moveTo>
                    <a:pt x="3361" y="506"/>
                  </a:moveTo>
                  <a:lnTo>
                    <a:pt x="3361" y="310"/>
                  </a:lnTo>
                </a:path>
                <a:path w="12600" h="600" fill="none">
                  <a:moveTo>
                    <a:pt x="3391" y="506"/>
                  </a:moveTo>
                  <a:lnTo>
                    <a:pt x="3391" y="310"/>
                  </a:lnTo>
                </a:path>
                <a:path w="12600" h="600" fill="none">
                  <a:moveTo>
                    <a:pt x="3462" y="94"/>
                  </a:moveTo>
                  <a:lnTo>
                    <a:pt x="3462" y="290"/>
                  </a:lnTo>
                </a:path>
                <a:path w="12600" h="600" fill="none">
                  <a:moveTo>
                    <a:pt x="3492" y="94"/>
                  </a:moveTo>
                  <a:lnTo>
                    <a:pt x="3492" y="290"/>
                  </a:lnTo>
                </a:path>
                <a:path w="12600" h="600" fill="none">
                  <a:moveTo>
                    <a:pt x="3462" y="506"/>
                  </a:moveTo>
                  <a:lnTo>
                    <a:pt x="3462" y="310"/>
                  </a:lnTo>
                </a:path>
                <a:path w="12600" h="600" fill="none">
                  <a:moveTo>
                    <a:pt x="3492" y="506"/>
                  </a:moveTo>
                  <a:lnTo>
                    <a:pt x="3492" y="310"/>
                  </a:lnTo>
                </a:path>
                <a:path w="12600" h="600" fill="none">
                  <a:moveTo>
                    <a:pt x="3563" y="94"/>
                  </a:moveTo>
                  <a:lnTo>
                    <a:pt x="3563" y="290"/>
                  </a:lnTo>
                </a:path>
                <a:path w="12600" h="600" fill="none">
                  <a:moveTo>
                    <a:pt x="3593" y="94"/>
                  </a:moveTo>
                  <a:lnTo>
                    <a:pt x="3593" y="290"/>
                  </a:lnTo>
                </a:path>
                <a:path w="12600" h="600" fill="none">
                  <a:moveTo>
                    <a:pt x="3563" y="506"/>
                  </a:moveTo>
                  <a:lnTo>
                    <a:pt x="3563" y="310"/>
                  </a:lnTo>
                </a:path>
                <a:path w="12600" h="600" fill="none">
                  <a:moveTo>
                    <a:pt x="3593" y="506"/>
                  </a:moveTo>
                  <a:lnTo>
                    <a:pt x="3593" y="310"/>
                  </a:lnTo>
                </a:path>
                <a:path w="12600" h="600" fill="none">
                  <a:moveTo>
                    <a:pt x="3664" y="94"/>
                  </a:moveTo>
                  <a:lnTo>
                    <a:pt x="3664" y="290"/>
                  </a:lnTo>
                </a:path>
                <a:path w="12600" h="600" fill="none">
                  <a:moveTo>
                    <a:pt x="3694" y="94"/>
                  </a:moveTo>
                  <a:lnTo>
                    <a:pt x="3694" y="290"/>
                  </a:lnTo>
                </a:path>
                <a:path w="12600" h="600" fill="none">
                  <a:moveTo>
                    <a:pt x="3664" y="506"/>
                  </a:moveTo>
                  <a:lnTo>
                    <a:pt x="3664" y="310"/>
                  </a:lnTo>
                </a:path>
                <a:path w="12600" h="600" fill="none">
                  <a:moveTo>
                    <a:pt x="3694" y="506"/>
                  </a:moveTo>
                  <a:lnTo>
                    <a:pt x="3694" y="310"/>
                  </a:lnTo>
                </a:path>
                <a:path w="12600" h="600" fill="none">
                  <a:moveTo>
                    <a:pt x="3765" y="94"/>
                  </a:moveTo>
                  <a:lnTo>
                    <a:pt x="3765" y="290"/>
                  </a:lnTo>
                </a:path>
                <a:path w="12600" h="600" fill="none">
                  <a:moveTo>
                    <a:pt x="3795" y="94"/>
                  </a:moveTo>
                  <a:lnTo>
                    <a:pt x="3795" y="290"/>
                  </a:lnTo>
                </a:path>
                <a:path w="12600" h="600" fill="none">
                  <a:moveTo>
                    <a:pt x="3765" y="506"/>
                  </a:moveTo>
                  <a:lnTo>
                    <a:pt x="3765" y="310"/>
                  </a:lnTo>
                </a:path>
                <a:path w="12600" h="600" fill="none">
                  <a:moveTo>
                    <a:pt x="3795" y="506"/>
                  </a:moveTo>
                  <a:lnTo>
                    <a:pt x="3795" y="310"/>
                  </a:lnTo>
                </a:path>
                <a:path w="12600" h="600" fill="none">
                  <a:moveTo>
                    <a:pt x="3865" y="94"/>
                  </a:moveTo>
                  <a:lnTo>
                    <a:pt x="3865" y="290"/>
                  </a:lnTo>
                </a:path>
                <a:path w="12600" h="600" fill="none">
                  <a:moveTo>
                    <a:pt x="3895" y="94"/>
                  </a:moveTo>
                  <a:lnTo>
                    <a:pt x="3895" y="290"/>
                  </a:lnTo>
                </a:path>
                <a:path w="12600" h="600" fill="none">
                  <a:moveTo>
                    <a:pt x="3865" y="506"/>
                  </a:moveTo>
                  <a:lnTo>
                    <a:pt x="3865" y="310"/>
                  </a:lnTo>
                </a:path>
                <a:path w="12600" h="600" fill="none">
                  <a:moveTo>
                    <a:pt x="3895" y="506"/>
                  </a:moveTo>
                  <a:lnTo>
                    <a:pt x="3895" y="310"/>
                  </a:lnTo>
                </a:path>
                <a:path w="12600" h="600" fill="none">
                  <a:moveTo>
                    <a:pt x="3966" y="94"/>
                  </a:moveTo>
                  <a:lnTo>
                    <a:pt x="3966" y="290"/>
                  </a:lnTo>
                </a:path>
                <a:path w="12600" h="600" fill="none">
                  <a:moveTo>
                    <a:pt x="3996" y="94"/>
                  </a:moveTo>
                  <a:lnTo>
                    <a:pt x="3996" y="290"/>
                  </a:lnTo>
                </a:path>
                <a:path w="12600" h="600" fill="none">
                  <a:moveTo>
                    <a:pt x="3966" y="506"/>
                  </a:moveTo>
                  <a:lnTo>
                    <a:pt x="3966" y="310"/>
                  </a:lnTo>
                </a:path>
                <a:path w="12600" h="600" fill="none">
                  <a:moveTo>
                    <a:pt x="3996" y="506"/>
                  </a:moveTo>
                  <a:lnTo>
                    <a:pt x="3996" y="310"/>
                  </a:lnTo>
                </a:path>
                <a:path w="12600" h="600" fill="none">
                  <a:moveTo>
                    <a:pt x="4067" y="94"/>
                  </a:moveTo>
                  <a:lnTo>
                    <a:pt x="4067" y="290"/>
                  </a:lnTo>
                </a:path>
                <a:path w="12600" h="600" fill="none">
                  <a:moveTo>
                    <a:pt x="4097" y="94"/>
                  </a:moveTo>
                  <a:lnTo>
                    <a:pt x="4097" y="290"/>
                  </a:lnTo>
                </a:path>
                <a:path w="12600" h="600" fill="none">
                  <a:moveTo>
                    <a:pt x="4067" y="506"/>
                  </a:moveTo>
                  <a:lnTo>
                    <a:pt x="4067" y="310"/>
                  </a:lnTo>
                </a:path>
                <a:path w="12600" h="600" fill="none">
                  <a:moveTo>
                    <a:pt x="4097" y="506"/>
                  </a:moveTo>
                  <a:lnTo>
                    <a:pt x="4097" y="310"/>
                  </a:lnTo>
                </a:path>
                <a:path w="12600" h="600" fill="none">
                  <a:moveTo>
                    <a:pt x="4168" y="94"/>
                  </a:moveTo>
                  <a:lnTo>
                    <a:pt x="4168" y="290"/>
                  </a:lnTo>
                </a:path>
                <a:path w="12600" h="600" fill="none">
                  <a:moveTo>
                    <a:pt x="4198" y="94"/>
                  </a:moveTo>
                  <a:lnTo>
                    <a:pt x="4198" y="290"/>
                  </a:lnTo>
                </a:path>
                <a:path w="12600" h="600" fill="none">
                  <a:moveTo>
                    <a:pt x="4168" y="506"/>
                  </a:moveTo>
                  <a:lnTo>
                    <a:pt x="4168" y="310"/>
                  </a:lnTo>
                </a:path>
                <a:path w="12600" h="600" fill="none">
                  <a:moveTo>
                    <a:pt x="4198" y="506"/>
                  </a:moveTo>
                  <a:lnTo>
                    <a:pt x="4198" y="310"/>
                  </a:lnTo>
                </a:path>
                <a:path w="12600" h="600" fill="none">
                  <a:moveTo>
                    <a:pt x="4269" y="94"/>
                  </a:moveTo>
                  <a:lnTo>
                    <a:pt x="4269" y="290"/>
                  </a:lnTo>
                </a:path>
                <a:path w="12600" h="600" fill="none">
                  <a:moveTo>
                    <a:pt x="4299" y="94"/>
                  </a:moveTo>
                  <a:lnTo>
                    <a:pt x="4299" y="290"/>
                  </a:lnTo>
                </a:path>
                <a:path w="12600" h="600" fill="none">
                  <a:moveTo>
                    <a:pt x="4269" y="506"/>
                  </a:moveTo>
                  <a:lnTo>
                    <a:pt x="4269" y="310"/>
                  </a:lnTo>
                </a:path>
                <a:path w="12600" h="600" fill="none">
                  <a:moveTo>
                    <a:pt x="4299" y="506"/>
                  </a:moveTo>
                  <a:lnTo>
                    <a:pt x="4299" y="310"/>
                  </a:lnTo>
                </a:path>
                <a:path w="12600" h="600" fill="none">
                  <a:moveTo>
                    <a:pt x="4369" y="94"/>
                  </a:moveTo>
                  <a:lnTo>
                    <a:pt x="4369" y="290"/>
                  </a:lnTo>
                </a:path>
                <a:path w="12600" h="600" fill="none">
                  <a:moveTo>
                    <a:pt x="4399" y="94"/>
                  </a:moveTo>
                  <a:lnTo>
                    <a:pt x="4399" y="290"/>
                  </a:lnTo>
                </a:path>
                <a:path w="12600" h="600" fill="none">
                  <a:moveTo>
                    <a:pt x="4369" y="506"/>
                  </a:moveTo>
                  <a:lnTo>
                    <a:pt x="4369" y="310"/>
                  </a:lnTo>
                </a:path>
                <a:path w="12600" h="600" fill="none">
                  <a:moveTo>
                    <a:pt x="4399" y="506"/>
                  </a:moveTo>
                  <a:lnTo>
                    <a:pt x="4399" y="310"/>
                  </a:lnTo>
                </a:path>
                <a:path w="12600" h="600" fill="none">
                  <a:moveTo>
                    <a:pt x="4470" y="94"/>
                  </a:moveTo>
                  <a:lnTo>
                    <a:pt x="4470" y="290"/>
                  </a:lnTo>
                </a:path>
                <a:path w="12600" h="600" fill="none">
                  <a:moveTo>
                    <a:pt x="4500" y="94"/>
                  </a:moveTo>
                  <a:lnTo>
                    <a:pt x="4500" y="290"/>
                  </a:lnTo>
                </a:path>
                <a:path w="12600" h="600" fill="none">
                  <a:moveTo>
                    <a:pt x="4470" y="506"/>
                  </a:moveTo>
                  <a:lnTo>
                    <a:pt x="4470" y="310"/>
                  </a:lnTo>
                </a:path>
                <a:path w="12600" h="600" fill="none">
                  <a:moveTo>
                    <a:pt x="4500" y="506"/>
                  </a:moveTo>
                  <a:lnTo>
                    <a:pt x="4500" y="310"/>
                  </a:lnTo>
                </a:path>
                <a:path w="12600" h="600" fill="none">
                  <a:moveTo>
                    <a:pt x="4571" y="94"/>
                  </a:moveTo>
                  <a:lnTo>
                    <a:pt x="4571" y="290"/>
                  </a:lnTo>
                </a:path>
                <a:path w="12600" h="600" fill="none">
                  <a:moveTo>
                    <a:pt x="4601" y="94"/>
                  </a:moveTo>
                  <a:lnTo>
                    <a:pt x="4601" y="290"/>
                  </a:lnTo>
                </a:path>
                <a:path w="12600" h="600" fill="none">
                  <a:moveTo>
                    <a:pt x="4571" y="506"/>
                  </a:moveTo>
                  <a:lnTo>
                    <a:pt x="4571" y="310"/>
                  </a:lnTo>
                </a:path>
                <a:path w="12600" h="600" fill="none">
                  <a:moveTo>
                    <a:pt x="4601" y="506"/>
                  </a:moveTo>
                  <a:lnTo>
                    <a:pt x="4601" y="310"/>
                  </a:lnTo>
                </a:path>
                <a:path w="12600" h="600" fill="none">
                  <a:moveTo>
                    <a:pt x="4672" y="94"/>
                  </a:moveTo>
                  <a:lnTo>
                    <a:pt x="4672" y="290"/>
                  </a:lnTo>
                </a:path>
                <a:path w="12600" h="600" fill="none">
                  <a:moveTo>
                    <a:pt x="4702" y="94"/>
                  </a:moveTo>
                  <a:lnTo>
                    <a:pt x="4702" y="290"/>
                  </a:lnTo>
                </a:path>
                <a:path w="12600" h="600" fill="none">
                  <a:moveTo>
                    <a:pt x="4672" y="506"/>
                  </a:moveTo>
                  <a:lnTo>
                    <a:pt x="4672" y="310"/>
                  </a:lnTo>
                </a:path>
                <a:path w="12600" h="600" fill="none">
                  <a:moveTo>
                    <a:pt x="4702" y="506"/>
                  </a:moveTo>
                  <a:lnTo>
                    <a:pt x="4702" y="310"/>
                  </a:lnTo>
                </a:path>
                <a:path w="12600" h="600" fill="none">
                  <a:moveTo>
                    <a:pt x="4773" y="94"/>
                  </a:moveTo>
                  <a:lnTo>
                    <a:pt x="4773" y="290"/>
                  </a:lnTo>
                </a:path>
                <a:path w="12600" h="600" fill="none">
                  <a:moveTo>
                    <a:pt x="4803" y="94"/>
                  </a:moveTo>
                  <a:lnTo>
                    <a:pt x="4803" y="290"/>
                  </a:lnTo>
                </a:path>
                <a:path w="12600" h="600" fill="none">
                  <a:moveTo>
                    <a:pt x="4773" y="506"/>
                  </a:moveTo>
                  <a:lnTo>
                    <a:pt x="4773" y="310"/>
                  </a:lnTo>
                </a:path>
                <a:path w="12600" h="600" fill="none">
                  <a:moveTo>
                    <a:pt x="4803" y="506"/>
                  </a:moveTo>
                  <a:lnTo>
                    <a:pt x="4803" y="310"/>
                  </a:lnTo>
                </a:path>
                <a:path w="12600" h="600" fill="none">
                  <a:moveTo>
                    <a:pt x="4873" y="94"/>
                  </a:moveTo>
                  <a:lnTo>
                    <a:pt x="4873" y="290"/>
                  </a:lnTo>
                </a:path>
                <a:path w="12600" h="600" fill="none">
                  <a:moveTo>
                    <a:pt x="4903" y="94"/>
                  </a:moveTo>
                  <a:lnTo>
                    <a:pt x="4903" y="290"/>
                  </a:lnTo>
                </a:path>
                <a:path w="12600" h="600" fill="none">
                  <a:moveTo>
                    <a:pt x="4873" y="506"/>
                  </a:moveTo>
                  <a:lnTo>
                    <a:pt x="4873" y="310"/>
                  </a:lnTo>
                </a:path>
                <a:path w="12600" h="600" fill="none">
                  <a:moveTo>
                    <a:pt x="4903" y="506"/>
                  </a:moveTo>
                  <a:lnTo>
                    <a:pt x="4903" y="310"/>
                  </a:lnTo>
                </a:path>
                <a:path w="12600" h="600" fill="none">
                  <a:moveTo>
                    <a:pt x="4974" y="94"/>
                  </a:moveTo>
                  <a:lnTo>
                    <a:pt x="4974" y="290"/>
                  </a:lnTo>
                </a:path>
                <a:path w="12600" h="600" fill="none">
                  <a:moveTo>
                    <a:pt x="5004" y="94"/>
                  </a:moveTo>
                  <a:lnTo>
                    <a:pt x="5004" y="290"/>
                  </a:lnTo>
                </a:path>
                <a:path w="12600" h="600" fill="none">
                  <a:moveTo>
                    <a:pt x="4974" y="506"/>
                  </a:moveTo>
                  <a:lnTo>
                    <a:pt x="4974" y="310"/>
                  </a:lnTo>
                </a:path>
                <a:path w="12600" h="600" fill="none">
                  <a:moveTo>
                    <a:pt x="5004" y="506"/>
                  </a:moveTo>
                  <a:lnTo>
                    <a:pt x="5004" y="310"/>
                  </a:lnTo>
                </a:path>
                <a:path w="12600" h="600" fill="none">
                  <a:moveTo>
                    <a:pt x="5075" y="94"/>
                  </a:moveTo>
                  <a:lnTo>
                    <a:pt x="5075" y="290"/>
                  </a:lnTo>
                </a:path>
                <a:path w="12600" h="600" fill="none">
                  <a:moveTo>
                    <a:pt x="5105" y="94"/>
                  </a:moveTo>
                  <a:lnTo>
                    <a:pt x="5105" y="290"/>
                  </a:lnTo>
                </a:path>
                <a:path w="12600" h="600" fill="none">
                  <a:moveTo>
                    <a:pt x="5075" y="506"/>
                  </a:moveTo>
                  <a:lnTo>
                    <a:pt x="5075" y="310"/>
                  </a:lnTo>
                </a:path>
                <a:path w="12600" h="600" fill="none">
                  <a:moveTo>
                    <a:pt x="5105" y="506"/>
                  </a:moveTo>
                  <a:lnTo>
                    <a:pt x="5105" y="310"/>
                  </a:lnTo>
                </a:path>
                <a:path w="12600" h="600" fill="none">
                  <a:moveTo>
                    <a:pt x="5176" y="94"/>
                  </a:moveTo>
                  <a:lnTo>
                    <a:pt x="5176" y="290"/>
                  </a:lnTo>
                </a:path>
                <a:path w="12600" h="600" fill="none">
                  <a:moveTo>
                    <a:pt x="5206" y="94"/>
                  </a:moveTo>
                  <a:lnTo>
                    <a:pt x="5206" y="290"/>
                  </a:lnTo>
                </a:path>
                <a:path w="12600" h="600" fill="none">
                  <a:moveTo>
                    <a:pt x="5176" y="506"/>
                  </a:moveTo>
                  <a:lnTo>
                    <a:pt x="5176" y="310"/>
                  </a:lnTo>
                </a:path>
                <a:path w="12600" h="600" fill="none">
                  <a:moveTo>
                    <a:pt x="5206" y="506"/>
                  </a:moveTo>
                  <a:lnTo>
                    <a:pt x="5206" y="310"/>
                  </a:lnTo>
                </a:path>
                <a:path w="12600" h="600" fill="none">
                  <a:moveTo>
                    <a:pt x="5277" y="94"/>
                  </a:moveTo>
                  <a:lnTo>
                    <a:pt x="5277" y="290"/>
                  </a:lnTo>
                </a:path>
                <a:path w="12600" h="600" fill="none">
                  <a:moveTo>
                    <a:pt x="5307" y="94"/>
                  </a:moveTo>
                  <a:lnTo>
                    <a:pt x="5307" y="290"/>
                  </a:lnTo>
                </a:path>
                <a:path w="12600" h="600" fill="none">
                  <a:moveTo>
                    <a:pt x="5277" y="506"/>
                  </a:moveTo>
                  <a:lnTo>
                    <a:pt x="5277" y="310"/>
                  </a:lnTo>
                </a:path>
                <a:path w="12600" h="600" fill="none">
                  <a:moveTo>
                    <a:pt x="5307" y="506"/>
                  </a:moveTo>
                  <a:lnTo>
                    <a:pt x="5307" y="310"/>
                  </a:lnTo>
                </a:path>
                <a:path w="12600" h="600" fill="none">
                  <a:moveTo>
                    <a:pt x="5377" y="94"/>
                  </a:moveTo>
                  <a:lnTo>
                    <a:pt x="5377" y="290"/>
                  </a:lnTo>
                </a:path>
                <a:path w="12600" h="600" fill="none">
                  <a:moveTo>
                    <a:pt x="5407" y="94"/>
                  </a:moveTo>
                  <a:lnTo>
                    <a:pt x="5407" y="290"/>
                  </a:lnTo>
                </a:path>
                <a:path w="12600" h="600" fill="none">
                  <a:moveTo>
                    <a:pt x="5377" y="506"/>
                  </a:moveTo>
                  <a:lnTo>
                    <a:pt x="5377" y="310"/>
                  </a:lnTo>
                </a:path>
                <a:path w="12600" h="600" fill="none">
                  <a:moveTo>
                    <a:pt x="5407" y="506"/>
                  </a:moveTo>
                  <a:lnTo>
                    <a:pt x="5407" y="310"/>
                  </a:lnTo>
                </a:path>
                <a:path w="12600" h="600" fill="none">
                  <a:moveTo>
                    <a:pt x="5478" y="94"/>
                  </a:moveTo>
                  <a:lnTo>
                    <a:pt x="5478" y="290"/>
                  </a:lnTo>
                </a:path>
                <a:path w="12600" h="600" fill="none">
                  <a:moveTo>
                    <a:pt x="5508" y="94"/>
                  </a:moveTo>
                  <a:lnTo>
                    <a:pt x="5508" y="290"/>
                  </a:lnTo>
                </a:path>
                <a:path w="12600" h="600" fill="none">
                  <a:moveTo>
                    <a:pt x="5478" y="506"/>
                  </a:moveTo>
                  <a:lnTo>
                    <a:pt x="5478" y="310"/>
                  </a:lnTo>
                </a:path>
                <a:path w="12600" h="600" fill="none">
                  <a:moveTo>
                    <a:pt x="5508" y="506"/>
                  </a:moveTo>
                  <a:lnTo>
                    <a:pt x="5508" y="310"/>
                  </a:lnTo>
                </a:path>
                <a:path w="12600" h="600" fill="none">
                  <a:moveTo>
                    <a:pt x="5579" y="94"/>
                  </a:moveTo>
                  <a:lnTo>
                    <a:pt x="5579" y="290"/>
                  </a:lnTo>
                </a:path>
                <a:path w="12600" h="600" fill="none">
                  <a:moveTo>
                    <a:pt x="5609" y="94"/>
                  </a:moveTo>
                  <a:lnTo>
                    <a:pt x="5609" y="290"/>
                  </a:lnTo>
                </a:path>
                <a:path w="12600" h="600" fill="none">
                  <a:moveTo>
                    <a:pt x="5579" y="506"/>
                  </a:moveTo>
                  <a:lnTo>
                    <a:pt x="5579" y="310"/>
                  </a:lnTo>
                </a:path>
                <a:path w="12600" h="600" fill="none">
                  <a:moveTo>
                    <a:pt x="5609" y="506"/>
                  </a:moveTo>
                  <a:lnTo>
                    <a:pt x="5609" y="310"/>
                  </a:lnTo>
                </a:path>
                <a:path w="12600" h="600" fill="none">
                  <a:moveTo>
                    <a:pt x="5680" y="94"/>
                  </a:moveTo>
                  <a:lnTo>
                    <a:pt x="5680" y="290"/>
                  </a:lnTo>
                </a:path>
                <a:path w="12600" h="600" fill="none">
                  <a:moveTo>
                    <a:pt x="5710" y="94"/>
                  </a:moveTo>
                  <a:lnTo>
                    <a:pt x="5710" y="290"/>
                  </a:lnTo>
                </a:path>
                <a:path w="12600" h="600" fill="none">
                  <a:moveTo>
                    <a:pt x="5680" y="506"/>
                  </a:moveTo>
                  <a:lnTo>
                    <a:pt x="5680" y="310"/>
                  </a:lnTo>
                </a:path>
                <a:path w="12600" h="600" fill="none">
                  <a:moveTo>
                    <a:pt x="5710" y="506"/>
                  </a:moveTo>
                  <a:lnTo>
                    <a:pt x="5710" y="310"/>
                  </a:lnTo>
                </a:path>
                <a:path w="12600" h="600" fill="none">
                  <a:moveTo>
                    <a:pt x="5781" y="94"/>
                  </a:moveTo>
                  <a:lnTo>
                    <a:pt x="5781" y="290"/>
                  </a:lnTo>
                </a:path>
                <a:path w="12600" h="600" fill="none">
                  <a:moveTo>
                    <a:pt x="5811" y="94"/>
                  </a:moveTo>
                  <a:lnTo>
                    <a:pt x="5811" y="290"/>
                  </a:lnTo>
                </a:path>
                <a:path w="12600" h="600" fill="none">
                  <a:moveTo>
                    <a:pt x="5781" y="506"/>
                  </a:moveTo>
                  <a:lnTo>
                    <a:pt x="5781" y="310"/>
                  </a:lnTo>
                </a:path>
                <a:path w="12600" h="600" fill="none">
                  <a:moveTo>
                    <a:pt x="5811" y="506"/>
                  </a:moveTo>
                  <a:lnTo>
                    <a:pt x="5811" y="310"/>
                  </a:lnTo>
                </a:path>
                <a:path w="12600" h="600" fill="none">
                  <a:moveTo>
                    <a:pt x="5881" y="94"/>
                  </a:moveTo>
                  <a:lnTo>
                    <a:pt x="5881" y="290"/>
                  </a:lnTo>
                </a:path>
                <a:path w="12600" h="600" fill="none">
                  <a:moveTo>
                    <a:pt x="5911" y="94"/>
                  </a:moveTo>
                  <a:lnTo>
                    <a:pt x="5911" y="290"/>
                  </a:lnTo>
                </a:path>
                <a:path w="12600" h="600" fill="none">
                  <a:moveTo>
                    <a:pt x="5881" y="506"/>
                  </a:moveTo>
                  <a:lnTo>
                    <a:pt x="5881" y="310"/>
                  </a:lnTo>
                </a:path>
                <a:path w="12600" h="600" fill="none">
                  <a:moveTo>
                    <a:pt x="5911" y="506"/>
                  </a:moveTo>
                  <a:lnTo>
                    <a:pt x="5911" y="310"/>
                  </a:lnTo>
                </a:path>
                <a:path w="12600" h="600" fill="none">
                  <a:moveTo>
                    <a:pt x="5982" y="94"/>
                  </a:moveTo>
                  <a:lnTo>
                    <a:pt x="5982" y="290"/>
                  </a:lnTo>
                </a:path>
                <a:path w="12600" h="600" fill="none">
                  <a:moveTo>
                    <a:pt x="6012" y="94"/>
                  </a:moveTo>
                  <a:lnTo>
                    <a:pt x="6012" y="290"/>
                  </a:lnTo>
                </a:path>
                <a:path w="12600" h="600" fill="none">
                  <a:moveTo>
                    <a:pt x="5982" y="506"/>
                  </a:moveTo>
                  <a:lnTo>
                    <a:pt x="5982" y="310"/>
                  </a:lnTo>
                </a:path>
                <a:path w="12600" h="600" fill="none">
                  <a:moveTo>
                    <a:pt x="6012" y="506"/>
                  </a:moveTo>
                  <a:lnTo>
                    <a:pt x="6012" y="310"/>
                  </a:lnTo>
                </a:path>
                <a:path w="12600" h="600" fill="none">
                  <a:moveTo>
                    <a:pt x="6083" y="94"/>
                  </a:moveTo>
                  <a:lnTo>
                    <a:pt x="6083" y="290"/>
                  </a:lnTo>
                </a:path>
                <a:path w="12600" h="600" fill="none">
                  <a:moveTo>
                    <a:pt x="6113" y="94"/>
                  </a:moveTo>
                  <a:lnTo>
                    <a:pt x="6113" y="290"/>
                  </a:lnTo>
                </a:path>
                <a:path w="12600" h="600" fill="none">
                  <a:moveTo>
                    <a:pt x="6083" y="506"/>
                  </a:moveTo>
                  <a:lnTo>
                    <a:pt x="6083" y="310"/>
                  </a:lnTo>
                </a:path>
                <a:path w="12600" h="600" fill="none">
                  <a:moveTo>
                    <a:pt x="6113" y="506"/>
                  </a:moveTo>
                  <a:lnTo>
                    <a:pt x="6113" y="310"/>
                  </a:lnTo>
                </a:path>
                <a:path w="12600" h="600" fill="none">
                  <a:moveTo>
                    <a:pt x="6184" y="94"/>
                  </a:moveTo>
                  <a:lnTo>
                    <a:pt x="6184" y="290"/>
                  </a:lnTo>
                </a:path>
                <a:path w="12600" h="600" fill="none">
                  <a:moveTo>
                    <a:pt x="6214" y="94"/>
                  </a:moveTo>
                  <a:lnTo>
                    <a:pt x="6214" y="290"/>
                  </a:lnTo>
                </a:path>
                <a:path w="12600" h="600" fill="none">
                  <a:moveTo>
                    <a:pt x="6184" y="506"/>
                  </a:moveTo>
                  <a:lnTo>
                    <a:pt x="6184" y="310"/>
                  </a:lnTo>
                </a:path>
                <a:path w="12600" h="600" fill="none">
                  <a:moveTo>
                    <a:pt x="6214" y="506"/>
                  </a:moveTo>
                  <a:lnTo>
                    <a:pt x="6214" y="310"/>
                  </a:lnTo>
                </a:path>
                <a:path w="12600" h="600" fill="none">
                  <a:moveTo>
                    <a:pt x="6285" y="94"/>
                  </a:moveTo>
                  <a:lnTo>
                    <a:pt x="6285" y="290"/>
                  </a:lnTo>
                </a:path>
                <a:path w="12600" h="600" fill="none">
                  <a:moveTo>
                    <a:pt x="6315" y="94"/>
                  </a:moveTo>
                  <a:lnTo>
                    <a:pt x="6315" y="290"/>
                  </a:lnTo>
                </a:path>
                <a:path w="12600" h="600" fill="none">
                  <a:moveTo>
                    <a:pt x="6285" y="506"/>
                  </a:moveTo>
                  <a:lnTo>
                    <a:pt x="6285" y="310"/>
                  </a:lnTo>
                </a:path>
                <a:path w="12600" h="600" fill="none">
                  <a:moveTo>
                    <a:pt x="6315" y="506"/>
                  </a:moveTo>
                  <a:lnTo>
                    <a:pt x="6315" y="310"/>
                  </a:lnTo>
                </a:path>
                <a:path w="12600" h="600" fill="none">
                  <a:moveTo>
                    <a:pt x="6385" y="94"/>
                  </a:moveTo>
                  <a:lnTo>
                    <a:pt x="6385" y="290"/>
                  </a:lnTo>
                </a:path>
                <a:path w="12600" h="600" fill="none">
                  <a:moveTo>
                    <a:pt x="6415" y="94"/>
                  </a:moveTo>
                  <a:lnTo>
                    <a:pt x="6415" y="290"/>
                  </a:lnTo>
                </a:path>
                <a:path w="12600" h="600" fill="none">
                  <a:moveTo>
                    <a:pt x="6385" y="506"/>
                  </a:moveTo>
                  <a:lnTo>
                    <a:pt x="6385" y="310"/>
                  </a:lnTo>
                </a:path>
                <a:path w="12600" h="600" fill="none">
                  <a:moveTo>
                    <a:pt x="6415" y="506"/>
                  </a:moveTo>
                  <a:lnTo>
                    <a:pt x="6415" y="310"/>
                  </a:lnTo>
                </a:path>
                <a:path w="12600" h="600" fill="none">
                  <a:moveTo>
                    <a:pt x="6486" y="94"/>
                  </a:moveTo>
                  <a:lnTo>
                    <a:pt x="6486" y="290"/>
                  </a:lnTo>
                </a:path>
                <a:path w="12600" h="600" fill="none">
                  <a:moveTo>
                    <a:pt x="6516" y="94"/>
                  </a:moveTo>
                  <a:lnTo>
                    <a:pt x="6516" y="290"/>
                  </a:lnTo>
                </a:path>
                <a:path w="12600" h="600" fill="none">
                  <a:moveTo>
                    <a:pt x="6486" y="506"/>
                  </a:moveTo>
                  <a:lnTo>
                    <a:pt x="6486" y="310"/>
                  </a:lnTo>
                </a:path>
                <a:path w="12600" h="600" fill="none">
                  <a:moveTo>
                    <a:pt x="6516" y="506"/>
                  </a:moveTo>
                  <a:lnTo>
                    <a:pt x="6516" y="310"/>
                  </a:lnTo>
                </a:path>
                <a:path w="12600" h="600" fill="none">
                  <a:moveTo>
                    <a:pt x="6587" y="94"/>
                  </a:moveTo>
                  <a:lnTo>
                    <a:pt x="6587" y="290"/>
                  </a:lnTo>
                </a:path>
                <a:path w="12600" h="600" fill="none">
                  <a:moveTo>
                    <a:pt x="6617" y="94"/>
                  </a:moveTo>
                  <a:lnTo>
                    <a:pt x="6617" y="290"/>
                  </a:lnTo>
                </a:path>
                <a:path w="12600" h="600" fill="none">
                  <a:moveTo>
                    <a:pt x="6587" y="506"/>
                  </a:moveTo>
                  <a:lnTo>
                    <a:pt x="6587" y="310"/>
                  </a:lnTo>
                </a:path>
                <a:path w="12600" h="600" fill="none">
                  <a:moveTo>
                    <a:pt x="6617" y="506"/>
                  </a:moveTo>
                  <a:lnTo>
                    <a:pt x="6617" y="310"/>
                  </a:lnTo>
                </a:path>
                <a:path w="12600" h="600" fill="none">
                  <a:moveTo>
                    <a:pt x="6688" y="94"/>
                  </a:moveTo>
                  <a:lnTo>
                    <a:pt x="6688" y="290"/>
                  </a:lnTo>
                </a:path>
                <a:path w="12600" h="600" fill="none">
                  <a:moveTo>
                    <a:pt x="6718" y="94"/>
                  </a:moveTo>
                  <a:lnTo>
                    <a:pt x="6718" y="290"/>
                  </a:lnTo>
                </a:path>
                <a:path w="12600" h="600" fill="none">
                  <a:moveTo>
                    <a:pt x="6688" y="506"/>
                  </a:moveTo>
                  <a:lnTo>
                    <a:pt x="6688" y="310"/>
                  </a:lnTo>
                </a:path>
                <a:path w="12600" h="600" fill="none">
                  <a:moveTo>
                    <a:pt x="6718" y="506"/>
                  </a:moveTo>
                  <a:lnTo>
                    <a:pt x="6718" y="310"/>
                  </a:lnTo>
                </a:path>
                <a:path w="12600" h="600" fill="none">
                  <a:moveTo>
                    <a:pt x="6789" y="94"/>
                  </a:moveTo>
                  <a:lnTo>
                    <a:pt x="6789" y="290"/>
                  </a:lnTo>
                </a:path>
                <a:path w="12600" h="600" fill="none">
                  <a:moveTo>
                    <a:pt x="6819" y="94"/>
                  </a:moveTo>
                  <a:lnTo>
                    <a:pt x="6819" y="290"/>
                  </a:lnTo>
                </a:path>
                <a:path w="12600" h="600" fill="none">
                  <a:moveTo>
                    <a:pt x="6789" y="506"/>
                  </a:moveTo>
                  <a:lnTo>
                    <a:pt x="6789" y="310"/>
                  </a:lnTo>
                </a:path>
                <a:path w="12600" h="600" fill="none">
                  <a:moveTo>
                    <a:pt x="6819" y="506"/>
                  </a:moveTo>
                  <a:lnTo>
                    <a:pt x="6819" y="310"/>
                  </a:lnTo>
                </a:path>
                <a:path w="12600" h="600" fill="none">
                  <a:moveTo>
                    <a:pt x="6889" y="94"/>
                  </a:moveTo>
                  <a:lnTo>
                    <a:pt x="6889" y="290"/>
                  </a:lnTo>
                </a:path>
                <a:path w="12600" h="600" fill="none">
                  <a:moveTo>
                    <a:pt x="6919" y="94"/>
                  </a:moveTo>
                  <a:lnTo>
                    <a:pt x="6919" y="290"/>
                  </a:lnTo>
                </a:path>
                <a:path w="12600" h="600" fill="none">
                  <a:moveTo>
                    <a:pt x="6889" y="506"/>
                  </a:moveTo>
                  <a:lnTo>
                    <a:pt x="6889" y="310"/>
                  </a:lnTo>
                </a:path>
                <a:path w="12600" h="600" fill="none">
                  <a:moveTo>
                    <a:pt x="6919" y="506"/>
                  </a:moveTo>
                  <a:lnTo>
                    <a:pt x="6919" y="310"/>
                  </a:lnTo>
                </a:path>
                <a:path w="12600" h="600" fill="none">
                  <a:moveTo>
                    <a:pt x="6990" y="94"/>
                  </a:moveTo>
                  <a:lnTo>
                    <a:pt x="6990" y="290"/>
                  </a:lnTo>
                </a:path>
                <a:path w="12600" h="600" fill="none">
                  <a:moveTo>
                    <a:pt x="7020" y="94"/>
                  </a:moveTo>
                  <a:lnTo>
                    <a:pt x="7020" y="290"/>
                  </a:lnTo>
                </a:path>
                <a:path w="12600" h="600" fill="none">
                  <a:moveTo>
                    <a:pt x="6990" y="506"/>
                  </a:moveTo>
                  <a:lnTo>
                    <a:pt x="6990" y="310"/>
                  </a:lnTo>
                </a:path>
                <a:path w="12600" h="600" fill="none">
                  <a:moveTo>
                    <a:pt x="7020" y="506"/>
                  </a:moveTo>
                  <a:lnTo>
                    <a:pt x="7020" y="310"/>
                  </a:lnTo>
                </a:path>
                <a:path w="12600" h="600" fill="none">
                  <a:moveTo>
                    <a:pt x="7091" y="94"/>
                  </a:moveTo>
                  <a:lnTo>
                    <a:pt x="7091" y="290"/>
                  </a:lnTo>
                </a:path>
                <a:path w="12600" h="600" fill="none">
                  <a:moveTo>
                    <a:pt x="7121" y="94"/>
                  </a:moveTo>
                  <a:lnTo>
                    <a:pt x="7121" y="290"/>
                  </a:lnTo>
                </a:path>
                <a:path w="12600" h="600" fill="none">
                  <a:moveTo>
                    <a:pt x="7091" y="506"/>
                  </a:moveTo>
                  <a:lnTo>
                    <a:pt x="7091" y="310"/>
                  </a:lnTo>
                </a:path>
                <a:path w="12600" h="600" fill="none">
                  <a:moveTo>
                    <a:pt x="7121" y="506"/>
                  </a:moveTo>
                  <a:lnTo>
                    <a:pt x="7121" y="310"/>
                  </a:lnTo>
                </a:path>
                <a:path w="12600" h="600" fill="none">
                  <a:moveTo>
                    <a:pt x="7192" y="94"/>
                  </a:moveTo>
                  <a:lnTo>
                    <a:pt x="7192" y="290"/>
                  </a:lnTo>
                </a:path>
                <a:path w="12600" h="600" fill="none">
                  <a:moveTo>
                    <a:pt x="7222" y="94"/>
                  </a:moveTo>
                  <a:lnTo>
                    <a:pt x="7222" y="290"/>
                  </a:lnTo>
                </a:path>
                <a:path w="12600" h="600" fill="none">
                  <a:moveTo>
                    <a:pt x="7192" y="506"/>
                  </a:moveTo>
                  <a:lnTo>
                    <a:pt x="7192" y="310"/>
                  </a:lnTo>
                </a:path>
                <a:path w="12600" h="600" fill="none">
                  <a:moveTo>
                    <a:pt x="7222" y="506"/>
                  </a:moveTo>
                  <a:lnTo>
                    <a:pt x="7222" y="310"/>
                  </a:lnTo>
                </a:path>
                <a:path w="12600" h="600" fill="none">
                  <a:moveTo>
                    <a:pt x="7293" y="94"/>
                  </a:moveTo>
                  <a:lnTo>
                    <a:pt x="7293" y="290"/>
                  </a:lnTo>
                </a:path>
                <a:path w="12600" h="600" fill="none">
                  <a:moveTo>
                    <a:pt x="7323" y="94"/>
                  </a:moveTo>
                  <a:lnTo>
                    <a:pt x="7323" y="290"/>
                  </a:lnTo>
                </a:path>
                <a:path w="12600" h="600" fill="none">
                  <a:moveTo>
                    <a:pt x="7293" y="506"/>
                  </a:moveTo>
                  <a:lnTo>
                    <a:pt x="7293" y="310"/>
                  </a:lnTo>
                </a:path>
                <a:path w="12600" h="600" fill="none">
                  <a:moveTo>
                    <a:pt x="7323" y="506"/>
                  </a:moveTo>
                  <a:lnTo>
                    <a:pt x="7323" y="310"/>
                  </a:lnTo>
                </a:path>
                <a:path w="12600" h="600" fill="none">
                  <a:moveTo>
                    <a:pt x="7393" y="94"/>
                  </a:moveTo>
                  <a:lnTo>
                    <a:pt x="7393" y="290"/>
                  </a:lnTo>
                </a:path>
                <a:path w="12600" h="600" fill="none">
                  <a:moveTo>
                    <a:pt x="7423" y="94"/>
                  </a:moveTo>
                  <a:lnTo>
                    <a:pt x="7423" y="290"/>
                  </a:lnTo>
                </a:path>
                <a:path w="12600" h="600" fill="none">
                  <a:moveTo>
                    <a:pt x="7393" y="506"/>
                  </a:moveTo>
                  <a:lnTo>
                    <a:pt x="7393" y="310"/>
                  </a:lnTo>
                </a:path>
                <a:path w="12600" h="600" fill="none">
                  <a:moveTo>
                    <a:pt x="7423" y="506"/>
                  </a:moveTo>
                  <a:lnTo>
                    <a:pt x="7423" y="310"/>
                  </a:lnTo>
                </a:path>
                <a:path w="12600" h="600" fill="none">
                  <a:moveTo>
                    <a:pt x="7494" y="94"/>
                  </a:moveTo>
                  <a:lnTo>
                    <a:pt x="7494" y="290"/>
                  </a:lnTo>
                </a:path>
                <a:path w="12600" h="600" fill="none">
                  <a:moveTo>
                    <a:pt x="7524" y="94"/>
                  </a:moveTo>
                  <a:lnTo>
                    <a:pt x="7524" y="290"/>
                  </a:lnTo>
                </a:path>
                <a:path w="12600" h="600" fill="none">
                  <a:moveTo>
                    <a:pt x="7494" y="506"/>
                  </a:moveTo>
                  <a:lnTo>
                    <a:pt x="7494" y="310"/>
                  </a:lnTo>
                </a:path>
                <a:path w="12600" h="600" fill="none">
                  <a:moveTo>
                    <a:pt x="7524" y="506"/>
                  </a:moveTo>
                  <a:lnTo>
                    <a:pt x="7524" y="310"/>
                  </a:lnTo>
                </a:path>
                <a:path w="12600" h="600" fill="none">
                  <a:moveTo>
                    <a:pt x="7595" y="94"/>
                  </a:moveTo>
                  <a:lnTo>
                    <a:pt x="7595" y="290"/>
                  </a:lnTo>
                </a:path>
                <a:path w="12600" h="600" fill="none">
                  <a:moveTo>
                    <a:pt x="7625" y="94"/>
                  </a:moveTo>
                  <a:lnTo>
                    <a:pt x="7625" y="290"/>
                  </a:lnTo>
                </a:path>
                <a:path w="12600" h="600" fill="none">
                  <a:moveTo>
                    <a:pt x="7595" y="506"/>
                  </a:moveTo>
                  <a:lnTo>
                    <a:pt x="7595" y="310"/>
                  </a:lnTo>
                </a:path>
                <a:path w="12600" h="600" fill="none">
                  <a:moveTo>
                    <a:pt x="7625" y="506"/>
                  </a:moveTo>
                  <a:lnTo>
                    <a:pt x="7625" y="310"/>
                  </a:lnTo>
                </a:path>
                <a:path w="12600" h="600" fill="none">
                  <a:moveTo>
                    <a:pt x="7696" y="94"/>
                  </a:moveTo>
                  <a:lnTo>
                    <a:pt x="7696" y="290"/>
                  </a:lnTo>
                </a:path>
                <a:path w="12600" h="600" fill="none">
                  <a:moveTo>
                    <a:pt x="7726" y="94"/>
                  </a:moveTo>
                  <a:lnTo>
                    <a:pt x="7726" y="290"/>
                  </a:lnTo>
                </a:path>
                <a:path w="12600" h="600" fill="none">
                  <a:moveTo>
                    <a:pt x="7696" y="506"/>
                  </a:moveTo>
                  <a:lnTo>
                    <a:pt x="7696" y="310"/>
                  </a:lnTo>
                </a:path>
                <a:path w="12600" h="600" fill="none">
                  <a:moveTo>
                    <a:pt x="7726" y="506"/>
                  </a:moveTo>
                  <a:lnTo>
                    <a:pt x="7726" y="310"/>
                  </a:lnTo>
                </a:path>
                <a:path w="12600" h="600" fill="none">
                  <a:moveTo>
                    <a:pt x="7797" y="94"/>
                  </a:moveTo>
                  <a:lnTo>
                    <a:pt x="7797" y="290"/>
                  </a:lnTo>
                </a:path>
                <a:path w="12600" h="600" fill="none">
                  <a:moveTo>
                    <a:pt x="7827" y="94"/>
                  </a:moveTo>
                  <a:lnTo>
                    <a:pt x="7827" y="290"/>
                  </a:lnTo>
                </a:path>
                <a:path w="12600" h="600" fill="none">
                  <a:moveTo>
                    <a:pt x="7797" y="506"/>
                  </a:moveTo>
                  <a:lnTo>
                    <a:pt x="7797" y="310"/>
                  </a:lnTo>
                </a:path>
                <a:path w="12600" h="600" fill="none">
                  <a:moveTo>
                    <a:pt x="7827" y="506"/>
                  </a:moveTo>
                  <a:lnTo>
                    <a:pt x="7827" y="310"/>
                  </a:lnTo>
                </a:path>
                <a:path w="12600" h="600" fill="none">
                  <a:moveTo>
                    <a:pt x="7897" y="94"/>
                  </a:moveTo>
                  <a:lnTo>
                    <a:pt x="7897" y="290"/>
                  </a:lnTo>
                </a:path>
                <a:path w="12600" h="600" fill="none">
                  <a:moveTo>
                    <a:pt x="7927" y="94"/>
                  </a:moveTo>
                  <a:lnTo>
                    <a:pt x="7927" y="290"/>
                  </a:lnTo>
                </a:path>
                <a:path w="12600" h="600" fill="none">
                  <a:moveTo>
                    <a:pt x="7897" y="506"/>
                  </a:moveTo>
                  <a:lnTo>
                    <a:pt x="7897" y="310"/>
                  </a:lnTo>
                </a:path>
                <a:path w="12600" h="600" fill="none">
                  <a:moveTo>
                    <a:pt x="7927" y="506"/>
                  </a:moveTo>
                  <a:lnTo>
                    <a:pt x="7927" y="310"/>
                  </a:lnTo>
                </a:path>
                <a:path w="12600" h="600" fill="none">
                  <a:moveTo>
                    <a:pt x="7998" y="94"/>
                  </a:moveTo>
                  <a:lnTo>
                    <a:pt x="7998" y="290"/>
                  </a:lnTo>
                </a:path>
                <a:path w="12600" h="600" fill="none">
                  <a:moveTo>
                    <a:pt x="8028" y="94"/>
                  </a:moveTo>
                  <a:lnTo>
                    <a:pt x="8028" y="290"/>
                  </a:lnTo>
                </a:path>
                <a:path w="12600" h="600" fill="none">
                  <a:moveTo>
                    <a:pt x="7998" y="506"/>
                  </a:moveTo>
                  <a:lnTo>
                    <a:pt x="7998" y="310"/>
                  </a:lnTo>
                </a:path>
                <a:path w="12600" h="600" fill="none">
                  <a:moveTo>
                    <a:pt x="8028" y="506"/>
                  </a:moveTo>
                  <a:lnTo>
                    <a:pt x="8028" y="310"/>
                  </a:lnTo>
                </a:path>
                <a:path w="12600" h="600" fill="none">
                  <a:moveTo>
                    <a:pt x="8099" y="94"/>
                  </a:moveTo>
                  <a:lnTo>
                    <a:pt x="8099" y="290"/>
                  </a:lnTo>
                </a:path>
                <a:path w="12600" h="600" fill="none">
                  <a:moveTo>
                    <a:pt x="8129" y="94"/>
                  </a:moveTo>
                  <a:lnTo>
                    <a:pt x="8129" y="290"/>
                  </a:lnTo>
                </a:path>
                <a:path w="12600" h="600" fill="none">
                  <a:moveTo>
                    <a:pt x="8099" y="506"/>
                  </a:moveTo>
                  <a:lnTo>
                    <a:pt x="8099" y="310"/>
                  </a:lnTo>
                </a:path>
                <a:path w="12600" h="600" fill="none">
                  <a:moveTo>
                    <a:pt x="8129" y="506"/>
                  </a:moveTo>
                  <a:lnTo>
                    <a:pt x="8129" y="310"/>
                  </a:lnTo>
                </a:path>
                <a:path w="12600" h="600" fill="none">
                  <a:moveTo>
                    <a:pt x="8200" y="94"/>
                  </a:moveTo>
                  <a:lnTo>
                    <a:pt x="8200" y="290"/>
                  </a:lnTo>
                </a:path>
                <a:path w="12600" h="600" fill="none">
                  <a:moveTo>
                    <a:pt x="8230" y="94"/>
                  </a:moveTo>
                  <a:lnTo>
                    <a:pt x="8230" y="290"/>
                  </a:lnTo>
                </a:path>
                <a:path w="12600" h="600" fill="none">
                  <a:moveTo>
                    <a:pt x="8200" y="506"/>
                  </a:moveTo>
                  <a:lnTo>
                    <a:pt x="8200" y="310"/>
                  </a:lnTo>
                </a:path>
                <a:path w="12600" h="600" fill="none">
                  <a:moveTo>
                    <a:pt x="8230" y="506"/>
                  </a:moveTo>
                  <a:lnTo>
                    <a:pt x="8230" y="310"/>
                  </a:lnTo>
                </a:path>
                <a:path w="12600" h="600" fill="none">
                  <a:moveTo>
                    <a:pt x="8301" y="94"/>
                  </a:moveTo>
                  <a:lnTo>
                    <a:pt x="8301" y="290"/>
                  </a:lnTo>
                </a:path>
                <a:path w="12600" h="600" fill="none">
                  <a:moveTo>
                    <a:pt x="8331" y="94"/>
                  </a:moveTo>
                  <a:lnTo>
                    <a:pt x="8331" y="290"/>
                  </a:lnTo>
                </a:path>
                <a:path w="12600" h="600" fill="none">
                  <a:moveTo>
                    <a:pt x="8301" y="506"/>
                  </a:moveTo>
                  <a:lnTo>
                    <a:pt x="8301" y="310"/>
                  </a:lnTo>
                </a:path>
                <a:path w="12600" h="600" fill="none">
                  <a:moveTo>
                    <a:pt x="8331" y="506"/>
                  </a:moveTo>
                  <a:lnTo>
                    <a:pt x="8331" y="310"/>
                  </a:lnTo>
                </a:path>
                <a:path w="12600" h="600" fill="none">
                  <a:moveTo>
                    <a:pt x="8401" y="94"/>
                  </a:moveTo>
                  <a:lnTo>
                    <a:pt x="8401" y="290"/>
                  </a:lnTo>
                </a:path>
                <a:path w="12600" h="600" fill="none">
                  <a:moveTo>
                    <a:pt x="8431" y="94"/>
                  </a:moveTo>
                  <a:lnTo>
                    <a:pt x="8431" y="290"/>
                  </a:lnTo>
                </a:path>
                <a:path w="12600" h="600" fill="none">
                  <a:moveTo>
                    <a:pt x="8401" y="506"/>
                  </a:moveTo>
                  <a:lnTo>
                    <a:pt x="8401" y="310"/>
                  </a:lnTo>
                </a:path>
                <a:path w="12600" h="600" fill="none">
                  <a:moveTo>
                    <a:pt x="8431" y="506"/>
                  </a:moveTo>
                  <a:lnTo>
                    <a:pt x="8431" y="310"/>
                  </a:lnTo>
                </a:path>
                <a:path w="12600" h="600" fill="none">
                  <a:moveTo>
                    <a:pt x="8502" y="94"/>
                  </a:moveTo>
                  <a:lnTo>
                    <a:pt x="8502" y="290"/>
                  </a:lnTo>
                </a:path>
                <a:path w="12600" h="600" fill="none">
                  <a:moveTo>
                    <a:pt x="8532" y="94"/>
                  </a:moveTo>
                  <a:lnTo>
                    <a:pt x="8532" y="290"/>
                  </a:lnTo>
                </a:path>
                <a:path w="12600" h="600" fill="none">
                  <a:moveTo>
                    <a:pt x="8502" y="506"/>
                  </a:moveTo>
                  <a:lnTo>
                    <a:pt x="8502" y="310"/>
                  </a:lnTo>
                </a:path>
                <a:path w="12600" h="600" fill="none">
                  <a:moveTo>
                    <a:pt x="8532" y="506"/>
                  </a:moveTo>
                  <a:lnTo>
                    <a:pt x="8532" y="310"/>
                  </a:lnTo>
                </a:path>
                <a:path w="12600" h="600" fill="none">
                  <a:moveTo>
                    <a:pt x="8603" y="94"/>
                  </a:moveTo>
                  <a:lnTo>
                    <a:pt x="8603" y="290"/>
                  </a:lnTo>
                </a:path>
                <a:path w="12600" h="600" fill="none">
                  <a:moveTo>
                    <a:pt x="8633" y="94"/>
                  </a:moveTo>
                  <a:lnTo>
                    <a:pt x="8633" y="290"/>
                  </a:lnTo>
                </a:path>
                <a:path w="12600" h="600" fill="none">
                  <a:moveTo>
                    <a:pt x="8603" y="506"/>
                  </a:moveTo>
                  <a:lnTo>
                    <a:pt x="8603" y="310"/>
                  </a:lnTo>
                </a:path>
                <a:path w="12600" h="600" fill="none">
                  <a:moveTo>
                    <a:pt x="8633" y="506"/>
                  </a:moveTo>
                  <a:lnTo>
                    <a:pt x="8633" y="310"/>
                  </a:lnTo>
                </a:path>
                <a:path w="12600" h="600" fill="none">
                  <a:moveTo>
                    <a:pt x="8704" y="94"/>
                  </a:moveTo>
                  <a:lnTo>
                    <a:pt x="8704" y="290"/>
                  </a:lnTo>
                </a:path>
                <a:path w="12600" h="600" fill="none">
                  <a:moveTo>
                    <a:pt x="8734" y="94"/>
                  </a:moveTo>
                  <a:lnTo>
                    <a:pt x="8734" y="290"/>
                  </a:lnTo>
                </a:path>
                <a:path w="12600" h="600" fill="none">
                  <a:moveTo>
                    <a:pt x="8704" y="506"/>
                  </a:moveTo>
                  <a:lnTo>
                    <a:pt x="8704" y="310"/>
                  </a:lnTo>
                </a:path>
                <a:path w="12600" h="600" fill="none">
                  <a:moveTo>
                    <a:pt x="8734" y="506"/>
                  </a:moveTo>
                  <a:lnTo>
                    <a:pt x="8734" y="310"/>
                  </a:lnTo>
                </a:path>
                <a:path w="12600" h="600" fill="none">
                  <a:moveTo>
                    <a:pt x="8805" y="94"/>
                  </a:moveTo>
                  <a:lnTo>
                    <a:pt x="8805" y="290"/>
                  </a:lnTo>
                </a:path>
                <a:path w="12600" h="600" fill="none">
                  <a:moveTo>
                    <a:pt x="8835" y="94"/>
                  </a:moveTo>
                  <a:lnTo>
                    <a:pt x="8835" y="290"/>
                  </a:lnTo>
                </a:path>
                <a:path w="12600" h="600" fill="none">
                  <a:moveTo>
                    <a:pt x="8805" y="506"/>
                  </a:moveTo>
                  <a:lnTo>
                    <a:pt x="8805" y="310"/>
                  </a:lnTo>
                </a:path>
                <a:path w="12600" h="600" fill="none">
                  <a:moveTo>
                    <a:pt x="8835" y="506"/>
                  </a:moveTo>
                  <a:lnTo>
                    <a:pt x="8835" y="310"/>
                  </a:lnTo>
                </a:path>
                <a:path w="12600" h="600" fill="none">
                  <a:moveTo>
                    <a:pt x="8905" y="94"/>
                  </a:moveTo>
                  <a:lnTo>
                    <a:pt x="8905" y="290"/>
                  </a:lnTo>
                </a:path>
                <a:path w="12600" h="600" fill="none">
                  <a:moveTo>
                    <a:pt x="8935" y="94"/>
                  </a:moveTo>
                  <a:lnTo>
                    <a:pt x="8935" y="290"/>
                  </a:lnTo>
                </a:path>
                <a:path w="12600" h="600" fill="none">
                  <a:moveTo>
                    <a:pt x="8905" y="506"/>
                  </a:moveTo>
                  <a:lnTo>
                    <a:pt x="8905" y="310"/>
                  </a:lnTo>
                </a:path>
                <a:path w="12600" h="600" fill="none">
                  <a:moveTo>
                    <a:pt x="8935" y="506"/>
                  </a:moveTo>
                  <a:lnTo>
                    <a:pt x="8935" y="310"/>
                  </a:lnTo>
                </a:path>
                <a:path w="12600" h="600" fill="none">
                  <a:moveTo>
                    <a:pt x="9006" y="94"/>
                  </a:moveTo>
                  <a:lnTo>
                    <a:pt x="9006" y="290"/>
                  </a:lnTo>
                </a:path>
                <a:path w="12600" h="600" fill="none">
                  <a:moveTo>
                    <a:pt x="9036" y="94"/>
                  </a:moveTo>
                  <a:lnTo>
                    <a:pt x="9036" y="290"/>
                  </a:lnTo>
                </a:path>
                <a:path w="12600" h="600" fill="none">
                  <a:moveTo>
                    <a:pt x="9006" y="506"/>
                  </a:moveTo>
                  <a:lnTo>
                    <a:pt x="9006" y="310"/>
                  </a:lnTo>
                </a:path>
                <a:path w="12600" h="600" fill="none">
                  <a:moveTo>
                    <a:pt x="9036" y="506"/>
                  </a:moveTo>
                  <a:lnTo>
                    <a:pt x="9036" y="310"/>
                  </a:lnTo>
                </a:path>
                <a:path w="12600" h="600" fill="none">
                  <a:moveTo>
                    <a:pt x="9107" y="94"/>
                  </a:moveTo>
                  <a:lnTo>
                    <a:pt x="9107" y="290"/>
                  </a:lnTo>
                </a:path>
                <a:path w="12600" h="600" fill="none">
                  <a:moveTo>
                    <a:pt x="9137" y="94"/>
                  </a:moveTo>
                  <a:lnTo>
                    <a:pt x="9137" y="290"/>
                  </a:lnTo>
                </a:path>
                <a:path w="12600" h="600" fill="none">
                  <a:moveTo>
                    <a:pt x="9107" y="506"/>
                  </a:moveTo>
                  <a:lnTo>
                    <a:pt x="9107" y="310"/>
                  </a:lnTo>
                </a:path>
                <a:path w="12600" h="600" fill="none">
                  <a:moveTo>
                    <a:pt x="9137" y="506"/>
                  </a:moveTo>
                  <a:lnTo>
                    <a:pt x="9137" y="310"/>
                  </a:lnTo>
                </a:path>
                <a:path w="12600" h="600" fill="none">
                  <a:moveTo>
                    <a:pt x="9208" y="94"/>
                  </a:moveTo>
                  <a:lnTo>
                    <a:pt x="9208" y="290"/>
                  </a:lnTo>
                </a:path>
                <a:path w="12600" h="600" fill="none">
                  <a:moveTo>
                    <a:pt x="9238" y="94"/>
                  </a:moveTo>
                  <a:lnTo>
                    <a:pt x="9238" y="290"/>
                  </a:lnTo>
                </a:path>
                <a:path w="12600" h="600" fill="none">
                  <a:moveTo>
                    <a:pt x="9208" y="506"/>
                  </a:moveTo>
                  <a:lnTo>
                    <a:pt x="9208" y="310"/>
                  </a:lnTo>
                </a:path>
                <a:path w="12600" h="600" fill="none">
                  <a:moveTo>
                    <a:pt x="9238" y="506"/>
                  </a:moveTo>
                  <a:lnTo>
                    <a:pt x="9238" y="310"/>
                  </a:lnTo>
                </a:path>
                <a:path w="12600" h="600" fill="none">
                  <a:moveTo>
                    <a:pt x="9309" y="94"/>
                  </a:moveTo>
                  <a:lnTo>
                    <a:pt x="9309" y="290"/>
                  </a:lnTo>
                </a:path>
                <a:path w="12600" h="600" fill="none">
                  <a:moveTo>
                    <a:pt x="9339" y="94"/>
                  </a:moveTo>
                  <a:lnTo>
                    <a:pt x="9339" y="290"/>
                  </a:lnTo>
                </a:path>
                <a:path w="12600" h="600" fill="none">
                  <a:moveTo>
                    <a:pt x="9309" y="506"/>
                  </a:moveTo>
                  <a:lnTo>
                    <a:pt x="9309" y="310"/>
                  </a:lnTo>
                </a:path>
                <a:path w="12600" h="600" fill="none">
                  <a:moveTo>
                    <a:pt x="9339" y="506"/>
                  </a:moveTo>
                  <a:lnTo>
                    <a:pt x="9339" y="310"/>
                  </a:lnTo>
                </a:path>
                <a:path w="12600" h="600" fill="none">
                  <a:moveTo>
                    <a:pt x="9409" y="94"/>
                  </a:moveTo>
                  <a:lnTo>
                    <a:pt x="9409" y="290"/>
                  </a:lnTo>
                </a:path>
                <a:path w="12600" h="600" fill="none">
                  <a:moveTo>
                    <a:pt x="9439" y="94"/>
                  </a:moveTo>
                  <a:lnTo>
                    <a:pt x="9439" y="290"/>
                  </a:lnTo>
                </a:path>
                <a:path w="12600" h="600" fill="none">
                  <a:moveTo>
                    <a:pt x="9409" y="506"/>
                  </a:moveTo>
                  <a:lnTo>
                    <a:pt x="9409" y="310"/>
                  </a:lnTo>
                </a:path>
                <a:path w="12600" h="600" fill="none">
                  <a:moveTo>
                    <a:pt x="9439" y="506"/>
                  </a:moveTo>
                  <a:lnTo>
                    <a:pt x="9439" y="310"/>
                  </a:lnTo>
                </a:path>
                <a:path w="12600" h="600" fill="none">
                  <a:moveTo>
                    <a:pt x="9510" y="94"/>
                  </a:moveTo>
                  <a:lnTo>
                    <a:pt x="9510" y="290"/>
                  </a:lnTo>
                </a:path>
                <a:path w="12600" h="600" fill="none">
                  <a:moveTo>
                    <a:pt x="9540" y="94"/>
                  </a:moveTo>
                  <a:lnTo>
                    <a:pt x="9540" y="290"/>
                  </a:lnTo>
                </a:path>
                <a:path w="12600" h="600" fill="none">
                  <a:moveTo>
                    <a:pt x="9510" y="506"/>
                  </a:moveTo>
                  <a:lnTo>
                    <a:pt x="9510" y="310"/>
                  </a:lnTo>
                </a:path>
                <a:path w="12600" h="600" fill="none">
                  <a:moveTo>
                    <a:pt x="9540" y="506"/>
                  </a:moveTo>
                  <a:lnTo>
                    <a:pt x="9540" y="310"/>
                  </a:lnTo>
                </a:path>
                <a:path w="12600" h="600" fill="none">
                  <a:moveTo>
                    <a:pt x="9611" y="94"/>
                  </a:moveTo>
                  <a:lnTo>
                    <a:pt x="9611" y="290"/>
                  </a:lnTo>
                </a:path>
                <a:path w="12600" h="600" fill="none">
                  <a:moveTo>
                    <a:pt x="9641" y="94"/>
                  </a:moveTo>
                  <a:lnTo>
                    <a:pt x="9641" y="290"/>
                  </a:lnTo>
                </a:path>
                <a:path w="12600" h="600" fill="none">
                  <a:moveTo>
                    <a:pt x="9611" y="506"/>
                  </a:moveTo>
                  <a:lnTo>
                    <a:pt x="9611" y="310"/>
                  </a:lnTo>
                </a:path>
                <a:path w="12600" h="600" fill="none">
                  <a:moveTo>
                    <a:pt x="9641" y="506"/>
                  </a:moveTo>
                  <a:lnTo>
                    <a:pt x="9641" y="310"/>
                  </a:lnTo>
                </a:path>
                <a:path w="12600" h="600" fill="none">
                  <a:moveTo>
                    <a:pt x="9712" y="94"/>
                  </a:moveTo>
                  <a:lnTo>
                    <a:pt x="9712" y="290"/>
                  </a:lnTo>
                </a:path>
                <a:path w="12600" h="600" fill="none">
                  <a:moveTo>
                    <a:pt x="9742" y="94"/>
                  </a:moveTo>
                  <a:lnTo>
                    <a:pt x="9742" y="290"/>
                  </a:lnTo>
                </a:path>
                <a:path w="12600" h="600" fill="none">
                  <a:moveTo>
                    <a:pt x="9712" y="506"/>
                  </a:moveTo>
                  <a:lnTo>
                    <a:pt x="9712" y="310"/>
                  </a:lnTo>
                </a:path>
                <a:path w="12600" h="600" fill="none">
                  <a:moveTo>
                    <a:pt x="9742" y="506"/>
                  </a:moveTo>
                  <a:lnTo>
                    <a:pt x="9742" y="310"/>
                  </a:lnTo>
                </a:path>
                <a:path w="12600" h="600" fill="none">
                  <a:moveTo>
                    <a:pt x="9813" y="94"/>
                  </a:moveTo>
                  <a:lnTo>
                    <a:pt x="9813" y="290"/>
                  </a:lnTo>
                </a:path>
                <a:path w="12600" h="600" fill="none">
                  <a:moveTo>
                    <a:pt x="9843" y="94"/>
                  </a:moveTo>
                  <a:lnTo>
                    <a:pt x="9843" y="290"/>
                  </a:lnTo>
                </a:path>
                <a:path w="12600" h="600" fill="none">
                  <a:moveTo>
                    <a:pt x="9813" y="506"/>
                  </a:moveTo>
                  <a:lnTo>
                    <a:pt x="9813" y="310"/>
                  </a:lnTo>
                </a:path>
                <a:path w="12600" h="600" fill="none">
                  <a:moveTo>
                    <a:pt x="9843" y="506"/>
                  </a:moveTo>
                  <a:lnTo>
                    <a:pt x="9843" y="310"/>
                  </a:lnTo>
                </a:path>
                <a:path w="12600" h="600" fill="none">
                  <a:moveTo>
                    <a:pt x="9913" y="94"/>
                  </a:moveTo>
                  <a:lnTo>
                    <a:pt x="9913" y="290"/>
                  </a:lnTo>
                </a:path>
                <a:path w="12600" h="600" fill="none">
                  <a:moveTo>
                    <a:pt x="9943" y="94"/>
                  </a:moveTo>
                  <a:lnTo>
                    <a:pt x="9943" y="290"/>
                  </a:lnTo>
                </a:path>
                <a:path w="12600" h="600" fill="none">
                  <a:moveTo>
                    <a:pt x="9913" y="506"/>
                  </a:moveTo>
                  <a:lnTo>
                    <a:pt x="9913" y="310"/>
                  </a:lnTo>
                </a:path>
                <a:path w="12600" h="600" fill="none">
                  <a:moveTo>
                    <a:pt x="9943" y="506"/>
                  </a:moveTo>
                  <a:lnTo>
                    <a:pt x="9943" y="310"/>
                  </a:lnTo>
                </a:path>
                <a:path w="12600" h="600" fill="none">
                  <a:moveTo>
                    <a:pt x="10014" y="94"/>
                  </a:moveTo>
                  <a:lnTo>
                    <a:pt x="10014" y="290"/>
                  </a:lnTo>
                </a:path>
                <a:path w="12600" h="600" fill="none">
                  <a:moveTo>
                    <a:pt x="10044" y="94"/>
                  </a:moveTo>
                  <a:lnTo>
                    <a:pt x="10044" y="290"/>
                  </a:lnTo>
                </a:path>
                <a:path w="12600" h="600" fill="none">
                  <a:moveTo>
                    <a:pt x="10014" y="506"/>
                  </a:moveTo>
                  <a:lnTo>
                    <a:pt x="10014" y="310"/>
                  </a:lnTo>
                </a:path>
                <a:path w="12600" h="600" fill="none">
                  <a:moveTo>
                    <a:pt x="10044" y="506"/>
                  </a:moveTo>
                  <a:lnTo>
                    <a:pt x="10044" y="310"/>
                  </a:lnTo>
                </a:path>
                <a:path w="12600" h="600" fill="none">
                  <a:moveTo>
                    <a:pt x="10115" y="94"/>
                  </a:moveTo>
                  <a:lnTo>
                    <a:pt x="10115" y="290"/>
                  </a:lnTo>
                </a:path>
                <a:path w="12600" h="600" fill="none">
                  <a:moveTo>
                    <a:pt x="10145" y="94"/>
                  </a:moveTo>
                  <a:lnTo>
                    <a:pt x="10145" y="290"/>
                  </a:lnTo>
                </a:path>
                <a:path w="12600" h="600" fill="none">
                  <a:moveTo>
                    <a:pt x="10115" y="506"/>
                  </a:moveTo>
                  <a:lnTo>
                    <a:pt x="10115" y="310"/>
                  </a:lnTo>
                </a:path>
                <a:path w="12600" h="600" fill="none">
                  <a:moveTo>
                    <a:pt x="10145" y="506"/>
                  </a:moveTo>
                  <a:lnTo>
                    <a:pt x="10145" y="310"/>
                  </a:lnTo>
                </a:path>
                <a:path w="12600" h="600" fill="none">
                  <a:moveTo>
                    <a:pt x="10216" y="94"/>
                  </a:moveTo>
                  <a:lnTo>
                    <a:pt x="10216" y="290"/>
                  </a:lnTo>
                </a:path>
                <a:path w="12600" h="600" fill="none">
                  <a:moveTo>
                    <a:pt x="10246" y="94"/>
                  </a:moveTo>
                  <a:lnTo>
                    <a:pt x="10246" y="290"/>
                  </a:lnTo>
                </a:path>
                <a:path w="12600" h="600" fill="none">
                  <a:moveTo>
                    <a:pt x="10216" y="506"/>
                  </a:moveTo>
                  <a:lnTo>
                    <a:pt x="10216" y="310"/>
                  </a:lnTo>
                </a:path>
                <a:path w="12600" h="600" fill="none">
                  <a:moveTo>
                    <a:pt x="10246" y="506"/>
                  </a:moveTo>
                  <a:lnTo>
                    <a:pt x="10246" y="310"/>
                  </a:lnTo>
                </a:path>
                <a:path w="12600" h="600" fill="none">
                  <a:moveTo>
                    <a:pt x="10317" y="94"/>
                  </a:moveTo>
                  <a:lnTo>
                    <a:pt x="10317" y="290"/>
                  </a:lnTo>
                </a:path>
                <a:path w="12600" h="600" fill="none">
                  <a:moveTo>
                    <a:pt x="10347" y="94"/>
                  </a:moveTo>
                  <a:lnTo>
                    <a:pt x="10347" y="290"/>
                  </a:lnTo>
                </a:path>
                <a:path w="12600" h="600" fill="none">
                  <a:moveTo>
                    <a:pt x="10317" y="506"/>
                  </a:moveTo>
                  <a:lnTo>
                    <a:pt x="10317" y="310"/>
                  </a:lnTo>
                </a:path>
                <a:path w="12600" h="600" fill="none">
                  <a:moveTo>
                    <a:pt x="10347" y="506"/>
                  </a:moveTo>
                  <a:lnTo>
                    <a:pt x="10347" y="310"/>
                  </a:lnTo>
                </a:path>
                <a:path w="12600" h="600" fill="none">
                  <a:moveTo>
                    <a:pt x="10417" y="94"/>
                  </a:moveTo>
                  <a:lnTo>
                    <a:pt x="10417" y="290"/>
                  </a:lnTo>
                </a:path>
                <a:path w="12600" h="600" fill="none">
                  <a:moveTo>
                    <a:pt x="10447" y="94"/>
                  </a:moveTo>
                  <a:lnTo>
                    <a:pt x="10447" y="290"/>
                  </a:lnTo>
                </a:path>
                <a:path w="12600" h="600" fill="none">
                  <a:moveTo>
                    <a:pt x="10417" y="506"/>
                  </a:moveTo>
                  <a:lnTo>
                    <a:pt x="10417" y="310"/>
                  </a:lnTo>
                </a:path>
                <a:path w="12600" h="600" fill="none">
                  <a:moveTo>
                    <a:pt x="10447" y="506"/>
                  </a:moveTo>
                  <a:lnTo>
                    <a:pt x="10447" y="310"/>
                  </a:lnTo>
                </a:path>
                <a:path w="12600" h="600" fill="none">
                  <a:moveTo>
                    <a:pt x="10518" y="94"/>
                  </a:moveTo>
                  <a:lnTo>
                    <a:pt x="10518" y="290"/>
                  </a:lnTo>
                </a:path>
                <a:path w="12600" h="600" fill="none">
                  <a:moveTo>
                    <a:pt x="10548" y="94"/>
                  </a:moveTo>
                  <a:lnTo>
                    <a:pt x="10548" y="290"/>
                  </a:lnTo>
                </a:path>
                <a:path w="12600" h="600" fill="none">
                  <a:moveTo>
                    <a:pt x="10518" y="506"/>
                  </a:moveTo>
                  <a:lnTo>
                    <a:pt x="10518" y="310"/>
                  </a:lnTo>
                </a:path>
                <a:path w="12600" h="600" fill="none">
                  <a:moveTo>
                    <a:pt x="10548" y="506"/>
                  </a:moveTo>
                  <a:lnTo>
                    <a:pt x="10548" y="310"/>
                  </a:lnTo>
                </a:path>
                <a:path w="12600" h="600" fill="none">
                  <a:moveTo>
                    <a:pt x="10619" y="94"/>
                  </a:moveTo>
                  <a:lnTo>
                    <a:pt x="10619" y="290"/>
                  </a:lnTo>
                </a:path>
                <a:path w="12600" h="600" fill="none">
                  <a:moveTo>
                    <a:pt x="10649" y="94"/>
                  </a:moveTo>
                  <a:lnTo>
                    <a:pt x="10649" y="290"/>
                  </a:lnTo>
                </a:path>
                <a:path w="12600" h="600" fill="none">
                  <a:moveTo>
                    <a:pt x="10619" y="506"/>
                  </a:moveTo>
                  <a:lnTo>
                    <a:pt x="10619" y="310"/>
                  </a:lnTo>
                </a:path>
                <a:path w="12600" h="600" fill="none">
                  <a:moveTo>
                    <a:pt x="10649" y="506"/>
                  </a:moveTo>
                  <a:lnTo>
                    <a:pt x="10649" y="310"/>
                  </a:lnTo>
                </a:path>
                <a:path w="12600" h="600" fill="none">
                  <a:moveTo>
                    <a:pt x="10720" y="94"/>
                  </a:moveTo>
                  <a:lnTo>
                    <a:pt x="10720" y="290"/>
                  </a:lnTo>
                </a:path>
                <a:path w="12600" h="600" fill="none">
                  <a:moveTo>
                    <a:pt x="10750" y="94"/>
                  </a:moveTo>
                  <a:lnTo>
                    <a:pt x="10750" y="290"/>
                  </a:lnTo>
                </a:path>
                <a:path w="12600" h="600" fill="none">
                  <a:moveTo>
                    <a:pt x="10720" y="506"/>
                  </a:moveTo>
                  <a:lnTo>
                    <a:pt x="10720" y="310"/>
                  </a:lnTo>
                </a:path>
                <a:path w="12600" h="600" fill="none">
                  <a:moveTo>
                    <a:pt x="10750" y="506"/>
                  </a:moveTo>
                  <a:lnTo>
                    <a:pt x="10750" y="310"/>
                  </a:lnTo>
                </a:path>
                <a:path w="12600" h="600" fill="none">
                  <a:moveTo>
                    <a:pt x="10821" y="94"/>
                  </a:moveTo>
                  <a:lnTo>
                    <a:pt x="10821" y="290"/>
                  </a:lnTo>
                </a:path>
                <a:path w="12600" h="600" fill="none">
                  <a:moveTo>
                    <a:pt x="10851" y="94"/>
                  </a:moveTo>
                  <a:lnTo>
                    <a:pt x="10851" y="290"/>
                  </a:lnTo>
                </a:path>
                <a:path w="12600" h="600" fill="none">
                  <a:moveTo>
                    <a:pt x="10821" y="506"/>
                  </a:moveTo>
                  <a:lnTo>
                    <a:pt x="10821" y="310"/>
                  </a:lnTo>
                </a:path>
                <a:path w="12600" h="600" fill="none">
                  <a:moveTo>
                    <a:pt x="10851" y="506"/>
                  </a:moveTo>
                  <a:lnTo>
                    <a:pt x="10851" y="310"/>
                  </a:lnTo>
                </a:path>
                <a:path w="12600" h="600" fill="none">
                  <a:moveTo>
                    <a:pt x="10921" y="94"/>
                  </a:moveTo>
                  <a:lnTo>
                    <a:pt x="10921" y="290"/>
                  </a:lnTo>
                </a:path>
                <a:path w="12600" h="600" fill="none">
                  <a:moveTo>
                    <a:pt x="10951" y="94"/>
                  </a:moveTo>
                  <a:lnTo>
                    <a:pt x="10951" y="290"/>
                  </a:lnTo>
                </a:path>
                <a:path w="12600" h="600" fill="none">
                  <a:moveTo>
                    <a:pt x="10921" y="506"/>
                  </a:moveTo>
                  <a:lnTo>
                    <a:pt x="10921" y="310"/>
                  </a:lnTo>
                </a:path>
                <a:path w="12600" h="600" fill="none">
                  <a:moveTo>
                    <a:pt x="10951" y="506"/>
                  </a:moveTo>
                  <a:lnTo>
                    <a:pt x="10951" y="310"/>
                  </a:lnTo>
                </a:path>
                <a:path w="12600" h="600" fill="none">
                  <a:moveTo>
                    <a:pt x="11022" y="94"/>
                  </a:moveTo>
                  <a:lnTo>
                    <a:pt x="11022" y="290"/>
                  </a:lnTo>
                </a:path>
                <a:path w="12600" h="600" fill="none">
                  <a:moveTo>
                    <a:pt x="11052" y="94"/>
                  </a:moveTo>
                  <a:lnTo>
                    <a:pt x="11052" y="290"/>
                  </a:lnTo>
                </a:path>
                <a:path w="12600" h="600" fill="none">
                  <a:moveTo>
                    <a:pt x="11022" y="506"/>
                  </a:moveTo>
                  <a:lnTo>
                    <a:pt x="11022" y="310"/>
                  </a:lnTo>
                </a:path>
                <a:path w="12600" h="600" fill="none">
                  <a:moveTo>
                    <a:pt x="11052" y="506"/>
                  </a:moveTo>
                  <a:lnTo>
                    <a:pt x="11052" y="310"/>
                  </a:lnTo>
                </a:path>
                <a:path w="12600" h="600" fill="none">
                  <a:moveTo>
                    <a:pt x="11123" y="94"/>
                  </a:moveTo>
                  <a:lnTo>
                    <a:pt x="11123" y="290"/>
                  </a:lnTo>
                </a:path>
                <a:path w="12600" h="600" fill="none">
                  <a:moveTo>
                    <a:pt x="11153" y="94"/>
                  </a:moveTo>
                  <a:lnTo>
                    <a:pt x="11153" y="290"/>
                  </a:lnTo>
                </a:path>
                <a:path w="12600" h="600" fill="none">
                  <a:moveTo>
                    <a:pt x="11123" y="506"/>
                  </a:moveTo>
                  <a:lnTo>
                    <a:pt x="11123" y="310"/>
                  </a:lnTo>
                </a:path>
                <a:path w="12600" h="600" fill="none">
                  <a:moveTo>
                    <a:pt x="11153" y="506"/>
                  </a:moveTo>
                  <a:lnTo>
                    <a:pt x="11153" y="310"/>
                  </a:lnTo>
                </a:path>
                <a:path w="12600" h="600" fill="none">
                  <a:moveTo>
                    <a:pt x="11224" y="94"/>
                  </a:moveTo>
                  <a:lnTo>
                    <a:pt x="11224" y="290"/>
                  </a:lnTo>
                </a:path>
                <a:path w="12600" h="600" fill="none">
                  <a:moveTo>
                    <a:pt x="11254" y="94"/>
                  </a:moveTo>
                  <a:lnTo>
                    <a:pt x="11254" y="290"/>
                  </a:lnTo>
                </a:path>
                <a:path w="12600" h="600" fill="none">
                  <a:moveTo>
                    <a:pt x="11224" y="506"/>
                  </a:moveTo>
                  <a:lnTo>
                    <a:pt x="11224" y="310"/>
                  </a:lnTo>
                </a:path>
                <a:path w="12600" h="600" fill="none">
                  <a:moveTo>
                    <a:pt x="11254" y="506"/>
                  </a:moveTo>
                  <a:lnTo>
                    <a:pt x="11254" y="310"/>
                  </a:lnTo>
                </a:path>
                <a:path w="12600" h="600" fill="none">
                  <a:moveTo>
                    <a:pt x="11325" y="94"/>
                  </a:moveTo>
                  <a:lnTo>
                    <a:pt x="11325" y="290"/>
                  </a:lnTo>
                </a:path>
                <a:path w="12600" h="600" fill="none">
                  <a:moveTo>
                    <a:pt x="11355" y="94"/>
                  </a:moveTo>
                  <a:lnTo>
                    <a:pt x="11355" y="290"/>
                  </a:lnTo>
                </a:path>
                <a:path w="12600" h="600" fill="none">
                  <a:moveTo>
                    <a:pt x="11325" y="506"/>
                  </a:moveTo>
                  <a:lnTo>
                    <a:pt x="11325" y="310"/>
                  </a:lnTo>
                </a:path>
                <a:path w="12600" h="600" fill="none">
                  <a:moveTo>
                    <a:pt x="11355" y="506"/>
                  </a:moveTo>
                  <a:lnTo>
                    <a:pt x="11355" y="310"/>
                  </a:lnTo>
                </a:path>
                <a:path w="12600" h="600" fill="none">
                  <a:moveTo>
                    <a:pt x="11425" y="94"/>
                  </a:moveTo>
                  <a:lnTo>
                    <a:pt x="11425" y="290"/>
                  </a:lnTo>
                </a:path>
                <a:path w="12600" h="600" fill="none">
                  <a:moveTo>
                    <a:pt x="11455" y="94"/>
                  </a:moveTo>
                  <a:lnTo>
                    <a:pt x="11455" y="290"/>
                  </a:lnTo>
                </a:path>
                <a:path w="12600" h="600" fill="none">
                  <a:moveTo>
                    <a:pt x="11425" y="506"/>
                  </a:moveTo>
                  <a:lnTo>
                    <a:pt x="11425" y="310"/>
                  </a:lnTo>
                </a:path>
                <a:path w="12600" h="600" fill="none">
                  <a:moveTo>
                    <a:pt x="11455" y="506"/>
                  </a:moveTo>
                  <a:lnTo>
                    <a:pt x="11455" y="310"/>
                  </a:lnTo>
                </a:path>
                <a:path w="12600" h="600" fill="none">
                  <a:moveTo>
                    <a:pt x="11526" y="94"/>
                  </a:moveTo>
                  <a:lnTo>
                    <a:pt x="11526" y="290"/>
                  </a:lnTo>
                </a:path>
                <a:path w="12600" h="600" fill="none">
                  <a:moveTo>
                    <a:pt x="11556" y="94"/>
                  </a:moveTo>
                  <a:lnTo>
                    <a:pt x="11556" y="290"/>
                  </a:lnTo>
                </a:path>
                <a:path w="12600" h="600" fill="none">
                  <a:moveTo>
                    <a:pt x="11526" y="506"/>
                  </a:moveTo>
                  <a:lnTo>
                    <a:pt x="11526" y="310"/>
                  </a:lnTo>
                </a:path>
                <a:path w="12600" h="600" fill="none">
                  <a:moveTo>
                    <a:pt x="11556" y="506"/>
                  </a:moveTo>
                  <a:lnTo>
                    <a:pt x="11556" y="310"/>
                  </a:lnTo>
                </a:path>
                <a:path w="12600" h="600" fill="none">
                  <a:moveTo>
                    <a:pt x="11627" y="94"/>
                  </a:moveTo>
                  <a:lnTo>
                    <a:pt x="11627" y="290"/>
                  </a:lnTo>
                </a:path>
                <a:path w="12600" h="600" fill="none">
                  <a:moveTo>
                    <a:pt x="11657" y="94"/>
                  </a:moveTo>
                  <a:lnTo>
                    <a:pt x="11657" y="290"/>
                  </a:lnTo>
                </a:path>
                <a:path w="12600" h="600" fill="none">
                  <a:moveTo>
                    <a:pt x="11627" y="506"/>
                  </a:moveTo>
                  <a:lnTo>
                    <a:pt x="11627" y="310"/>
                  </a:lnTo>
                </a:path>
                <a:path w="12600" h="600" fill="none">
                  <a:moveTo>
                    <a:pt x="11657" y="506"/>
                  </a:moveTo>
                  <a:lnTo>
                    <a:pt x="11657" y="310"/>
                  </a:lnTo>
                </a:path>
                <a:path w="12600" h="600" fill="none">
                  <a:moveTo>
                    <a:pt x="11728" y="94"/>
                  </a:moveTo>
                  <a:lnTo>
                    <a:pt x="11728" y="290"/>
                  </a:lnTo>
                </a:path>
                <a:path w="12600" h="600" fill="none">
                  <a:moveTo>
                    <a:pt x="11758" y="94"/>
                  </a:moveTo>
                  <a:lnTo>
                    <a:pt x="11758" y="290"/>
                  </a:lnTo>
                </a:path>
                <a:path w="12600" h="600" fill="none">
                  <a:moveTo>
                    <a:pt x="11728" y="506"/>
                  </a:moveTo>
                  <a:lnTo>
                    <a:pt x="11728" y="310"/>
                  </a:lnTo>
                </a:path>
                <a:path w="12600" h="600" fill="none">
                  <a:moveTo>
                    <a:pt x="11758" y="506"/>
                  </a:moveTo>
                  <a:lnTo>
                    <a:pt x="11758" y="310"/>
                  </a:lnTo>
                </a:path>
                <a:path w="12600" h="600" fill="none">
                  <a:moveTo>
                    <a:pt x="11829" y="94"/>
                  </a:moveTo>
                  <a:lnTo>
                    <a:pt x="11829" y="290"/>
                  </a:lnTo>
                </a:path>
                <a:path w="12600" h="600" fill="none">
                  <a:moveTo>
                    <a:pt x="11859" y="94"/>
                  </a:moveTo>
                  <a:lnTo>
                    <a:pt x="11859" y="290"/>
                  </a:lnTo>
                </a:path>
                <a:path w="12600" h="600" fill="none">
                  <a:moveTo>
                    <a:pt x="11829" y="506"/>
                  </a:moveTo>
                  <a:lnTo>
                    <a:pt x="11829" y="310"/>
                  </a:lnTo>
                </a:path>
                <a:path w="12600" h="600" fill="none">
                  <a:moveTo>
                    <a:pt x="11859" y="506"/>
                  </a:moveTo>
                  <a:lnTo>
                    <a:pt x="11859" y="310"/>
                  </a:lnTo>
                </a:path>
                <a:path w="12600" h="600" fill="none">
                  <a:moveTo>
                    <a:pt x="11929" y="94"/>
                  </a:moveTo>
                  <a:lnTo>
                    <a:pt x="11929" y="290"/>
                  </a:lnTo>
                </a:path>
                <a:path w="12600" h="600" fill="none">
                  <a:moveTo>
                    <a:pt x="11959" y="94"/>
                  </a:moveTo>
                  <a:lnTo>
                    <a:pt x="11959" y="290"/>
                  </a:lnTo>
                </a:path>
                <a:path w="12600" h="600" fill="none">
                  <a:moveTo>
                    <a:pt x="11929" y="506"/>
                  </a:moveTo>
                  <a:lnTo>
                    <a:pt x="11929" y="310"/>
                  </a:lnTo>
                </a:path>
                <a:path w="12600" h="600" fill="none">
                  <a:moveTo>
                    <a:pt x="11959" y="506"/>
                  </a:moveTo>
                  <a:lnTo>
                    <a:pt x="11959" y="310"/>
                  </a:lnTo>
                </a:path>
                <a:path w="12600" h="600" fill="none">
                  <a:moveTo>
                    <a:pt x="12030" y="94"/>
                  </a:moveTo>
                  <a:lnTo>
                    <a:pt x="12030" y="290"/>
                  </a:lnTo>
                </a:path>
                <a:path w="12600" h="600" fill="none">
                  <a:moveTo>
                    <a:pt x="12060" y="94"/>
                  </a:moveTo>
                  <a:lnTo>
                    <a:pt x="12060" y="290"/>
                  </a:lnTo>
                </a:path>
                <a:path w="12600" h="600" fill="none">
                  <a:moveTo>
                    <a:pt x="12030" y="506"/>
                  </a:moveTo>
                  <a:lnTo>
                    <a:pt x="12030" y="310"/>
                  </a:lnTo>
                </a:path>
                <a:path w="12600" h="600" fill="none">
                  <a:moveTo>
                    <a:pt x="12060" y="506"/>
                  </a:moveTo>
                  <a:lnTo>
                    <a:pt x="12060" y="310"/>
                  </a:lnTo>
                </a:path>
                <a:path w="12600" h="600" fill="none">
                  <a:moveTo>
                    <a:pt x="12131" y="94"/>
                  </a:moveTo>
                  <a:lnTo>
                    <a:pt x="12131" y="290"/>
                  </a:lnTo>
                </a:path>
                <a:path w="12600" h="600" fill="none">
                  <a:moveTo>
                    <a:pt x="12161" y="94"/>
                  </a:moveTo>
                  <a:lnTo>
                    <a:pt x="12161" y="290"/>
                  </a:lnTo>
                </a:path>
                <a:path w="12600" h="600" fill="none">
                  <a:moveTo>
                    <a:pt x="12131" y="506"/>
                  </a:moveTo>
                  <a:lnTo>
                    <a:pt x="12131" y="310"/>
                  </a:lnTo>
                </a:path>
                <a:path w="12600" h="600" fill="none">
                  <a:moveTo>
                    <a:pt x="12161" y="506"/>
                  </a:moveTo>
                  <a:lnTo>
                    <a:pt x="12161" y="310"/>
                  </a:lnTo>
                </a:path>
                <a:path w="12600" h="600" fill="none">
                  <a:moveTo>
                    <a:pt x="12232" y="94"/>
                  </a:moveTo>
                  <a:lnTo>
                    <a:pt x="12232" y="290"/>
                  </a:lnTo>
                </a:path>
                <a:path w="12600" h="600" fill="none">
                  <a:moveTo>
                    <a:pt x="12262" y="94"/>
                  </a:moveTo>
                  <a:lnTo>
                    <a:pt x="12262" y="290"/>
                  </a:lnTo>
                </a:path>
                <a:path w="12600" h="600" fill="none">
                  <a:moveTo>
                    <a:pt x="12232" y="506"/>
                  </a:moveTo>
                  <a:lnTo>
                    <a:pt x="12232" y="310"/>
                  </a:lnTo>
                </a:path>
                <a:path w="12600" h="600" fill="none">
                  <a:moveTo>
                    <a:pt x="12262" y="506"/>
                  </a:moveTo>
                  <a:lnTo>
                    <a:pt x="12262" y="310"/>
                  </a:lnTo>
                </a:path>
                <a:path w="12600" h="600" fill="none">
                  <a:moveTo>
                    <a:pt x="12333" y="94"/>
                  </a:moveTo>
                  <a:lnTo>
                    <a:pt x="12333" y="290"/>
                  </a:lnTo>
                </a:path>
                <a:path w="12600" h="600" fill="none">
                  <a:moveTo>
                    <a:pt x="12363" y="94"/>
                  </a:moveTo>
                  <a:lnTo>
                    <a:pt x="12363" y="290"/>
                  </a:lnTo>
                </a:path>
                <a:path w="12600" h="600" fill="none">
                  <a:moveTo>
                    <a:pt x="12333" y="506"/>
                  </a:moveTo>
                  <a:lnTo>
                    <a:pt x="12333" y="310"/>
                  </a:lnTo>
                </a:path>
                <a:path w="12600" h="600" fill="none">
                  <a:moveTo>
                    <a:pt x="12363" y="506"/>
                  </a:moveTo>
                  <a:lnTo>
                    <a:pt x="12363" y="310"/>
                  </a:lnTo>
                </a:path>
                <a:path w="12600" h="600" fill="none">
                  <a:moveTo>
                    <a:pt x="12433" y="94"/>
                  </a:moveTo>
                  <a:lnTo>
                    <a:pt x="12433" y="290"/>
                  </a:lnTo>
                </a:path>
                <a:path w="12600" h="600" fill="none">
                  <a:moveTo>
                    <a:pt x="12463" y="94"/>
                  </a:moveTo>
                  <a:lnTo>
                    <a:pt x="12463" y="290"/>
                  </a:lnTo>
                </a:path>
                <a:path w="12600" h="600" fill="none">
                  <a:moveTo>
                    <a:pt x="12433" y="506"/>
                  </a:moveTo>
                  <a:lnTo>
                    <a:pt x="12433" y="310"/>
                  </a:lnTo>
                </a:path>
                <a:path w="12600" h="600" fill="none">
                  <a:moveTo>
                    <a:pt x="12463" y="506"/>
                  </a:moveTo>
                  <a:lnTo>
                    <a:pt x="12463" y="310"/>
                  </a:lnTo>
                </a:path>
                <a:path w="12600" h="600" fill="none">
                  <a:moveTo>
                    <a:pt x="12534" y="94"/>
                  </a:moveTo>
                  <a:lnTo>
                    <a:pt x="12534" y="290"/>
                  </a:lnTo>
                </a:path>
                <a:path w="12600" h="600" fill="none">
                  <a:moveTo>
                    <a:pt x="12564" y="94"/>
                  </a:moveTo>
                  <a:lnTo>
                    <a:pt x="12564" y="290"/>
                  </a:lnTo>
                </a:path>
                <a:path w="12600" h="600" fill="none">
                  <a:moveTo>
                    <a:pt x="12534" y="506"/>
                  </a:moveTo>
                  <a:lnTo>
                    <a:pt x="12534" y="310"/>
                  </a:lnTo>
                </a:path>
                <a:path w="12600" h="600" fill="none">
                  <a:moveTo>
                    <a:pt x="12564" y="506"/>
                  </a:moveTo>
                  <a:lnTo>
                    <a:pt x="12564" y="310"/>
                  </a:lnTo>
                </a:path>
              </a:pathLst>
            </a:custGeom>
            <a:noFill/>
            <a:ln w="9525" cap="rnd">
              <a:solidFill>
                <a:srgbClr val="A49887"/>
              </a:solidFill>
              <a:round/>
            </a:ln>
          </p:spPr>
        </p:sp>
      </p:grpSp>
      <p:sp>
        <p:nvSpPr>
          <p:cNvPr id="10" name="Matriz"/>
          <p:cNvSpPr/>
          <p:nvPr/>
        </p:nvSpPr>
        <p:spPr>
          <a:xfrm>
            <a:off x="274320" y="2880360"/>
            <a:ext cx="11521440" cy="2103120"/>
          </a:xfrm>
          <a:prstGeom prst="rect">
            <a:avLst/>
          </a:prstGeom>
          <a:solidFill>
            <a:srgbClr val="F8C471">
              <a:alpha val="55000"/>
            </a:srgbClr>
          </a:solidFill>
          <a:ln>
            <a:noFill/>
          </a:ln>
        </p:spPr>
      </p:sp>
      <p:sp>
        <p:nvSpPr>
          <p:cNvPr id="11" name="Forma 10"/>
          <p:cNvSpPr txBox="1"/>
          <p:nvPr/>
        </p:nvSpPr>
        <p:spPr>
          <a:xfrm>
            <a:off x="365760" y="4663440"/>
            <a:ext cx="365760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MATRIZ</a:t>
            </a:r>
            <a:endParaRPr lang="es-AR" sz="1250" dirty="0">
              <a:latin typeface="Bahnschrift SemiBold Condensed"/>
            </a:endParaRPr>
          </a:p>
        </p:txBody>
      </p:sp>
      <p:sp>
        <p:nvSpPr>
          <p:cNvPr id="12" name="Complejo I"/>
          <p:cNvSpPr/>
          <p:nvPr/>
        </p:nvSpPr>
        <p:spPr>
          <a:xfrm>
            <a:off x="731520" y="1965960"/>
            <a:ext cx="1143000" cy="1280160"/>
          </a:xfrm>
          <a:prstGeom prst="roundRect">
            <a:avLst>
              <a:gd name="adj" fmla="val 30000"/>
            </a:avLst>
          </a:prstGeom>
          <a:gradFill rotWithShape="1">
            <a:gsLst>
              <a:gs pos="0">
                <a:srgbClr val="C49DD4"/>
              </a:gs>
              <a:gs pos="55000">
                <a:srgbClr val="A569BD"/>
              </a:gs>
              <a:gs pos="100000">
                <a:srgbClr val="7B4E8D"/>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a:t>
            </a:r>
            <a:endParaRPr lang="es-AR" sz="1600" dirty="0">
              <a:latin typeface="Bahnschrift SemiBold Condensed"/>
            </a:endParaRPr>
          </a:p>
        </p:txBody>
      </p:sp>
      <p:sp>
        <p:nvSpPr>
          <p:cNvPr id="13" name="Complejo II"/>
          <p:cNvSpPr/>
          <p:nvPr/>
        </p:nvSpPr>
        <p:spPr>
          <a:xfrm>
            <a:off x="2377440" y="1965960"/>
            <a:ext cx="1143000" cy="1280160"/>
          </a:xfrm>
          <a:prstGeom prst="roundRect">
            <a:avLst>
              <a:gd name="adj" fmla="val 30000"/>
            </a:avLst>
          </a:prstGeom>
          <a:gradFill rotWithShape="1">
            <a:gsLst>
              <a:gs pos="0">
                <a:srgbClr val="95C9EC"/>
              </a:gs>
              <a:gs pos="55000">
                <a:srgbClr val="5DADE2"/>
              </a:gs>
              <a:gs pos="100000">
                <a:srgbClr val="4581A9"/>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II</a:t>
            </a:r>
            <a:endParaRPr lang="es-AR" sz="1600" dirty="0">
              <a:latin typeface="Bahnschrift SemiBold Condensed"/>
            </a:endParaRPr>
          </a:p>
        </p:txBody>
      </p:sp>
      <p:sp>
        <p:nvSpPr>
          <p:cNvPr id="14" name="Complejo ETF-QO"/>
          <p:cNvSpPr/>
          <p:nvPr/>
        </p:nvSpPr>
        <p:spPr>
          <a:xfrm>
            <a:off x="3566160" y="1965960"/>
            <a:ext cx="1280160" cy="1280160"/>
          </a:xfrm>
          <a:prstGeom prst="roundRect">
            <a:avLst>
              <a:gd name="adj" fmla="val 30000"/>
            </a:avLst>
          </a:prstGeom>
          <a:gradFill rotWithShape="1">
            <a:gsLst>
              <a:gs pos="0">
                <a:srgbClr val="88DBCB"/>
              </a:gs>
              <a:gs pos="55000">
                <a:srgbClr val="48C9B0"/>
              </a:gs>
              <a:gs pos="100000">
                <a:srgbClr val="369684"/>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ETF-QO</a:t>
            </a:r>
            <a:endParaRPr lang="es-AR" sz="1250" dirty="0">
              <a:latin typeface="Bahnschrift SemiBold Condensed"/>
            </a:endParaRPr>
          </a:p>
        </p:txBody>
      </p:sp>
      <p:sp>
        <p:nvSpPr>
          <p:cNvPr id="15" name="Complejo III"/>
          <p:cNvSpPr/>
          <p:nvPr/>
        </p:nvSpPr>
        <p:spPr>
          <a:xfrm>
            <a:off x="5120640" y="1965960"/>
            <a:ext cx="1143000" cy="1280160"/>
          </a:xfrm>
          <a:prstGeom prst="roundRect">
            <a:avLst>
              <a:gd name="adj" fmla="val 30000"/>
            </a:avLst>
          </a:prstGeom>
          <a:gradFill rotWithShape="1">
            <a:gsLst>
              <a:gs pos="0">
                <a:srgbClr val="F8CB83"/>
              </a:gs>
              <a:gs pos="55000">
                <a:srgbClr val="F5B041"/>
              </a:gs>
              <a:gs pos="100000">
                <a:srgbClr val="B7843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III</a:t>
            </a:r>
            <a:endParaRPr lang="es-AR" sz="1600" dirty="0">
              <a:latin typeface="Bahnschrift SemiBold Condensed"/>
            </a:endParaRPr>
          </a:p>
        </p:txBody>
      </p:sp>
      <p:sp>
        <p:nvSpPr>
          <p:cNvPr id="16" name="Complejo IV"/>
          <p:cNvSpPr/>
          <p:nvPr/>
        </p:nvSpPr>
        <p:spPr>
          <a:xfrm>
            <a:off x="6858000" y="1965960"/>
            <a:ext cx="1143000" cy="1280160"/>
          </a:xfrm>
          <a:prstGeom prst="roundRect">
            <a:avLst>
              <a:gd name="adj" fmla="val 30000"/>
            </a:avLst>
          </a:prstGeom>
          <a:gradFill rotWithShape="1">
            <a:gsLst>
              <a:gs pos="0">
                <a:srgbClr val="F2A299"/>
              </a:gs>
              <a:gs pos="55000">
                <a:srgbClr val="EC7063"/>
              </a:gs>
              <a:gs pos="100000">
                <a:srgbClr val="B1544A"/>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IV</a:t>
            </a:r>
            <a:endParaRPr lang="es-AR" sz="1600" dirty="0">
              <a:latin typeface="Bahnschrift SemiBold Condensed"/>
            </a:endParaRPr>
          </a:p>
        </p:txBody>
      </p:sp>
      <p:sp>
        <p:nvSpPr>
          <p:cNvPr id="17" name="Ubiquinona"/>
          <p:cNvSpPr/>
          <p:nvPr/>
        </p:nvSpPr>
        <p:spPr>
          <a:xfrm>
            <a:off x="2971800" y="2331720"/>
            <a:ext cx="365760" cy="365760"/>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280" b="1" dirty="0">
                <a:solidFill>
                  <a:srgbClr val="1E1E1E"/>
                </a:solidFill>
                <a:latin typeface="Bahnschrift SemiBold Condensed"/>
                <a:ea typeface="Bahnschrift SemiBold Condensed"/>
                <a:cs typeface="Bahnschrift SemiBold Condensed"/>
                <a:sym typeface="Bahnschrift SemiBold Condensed"/>
              </a:rPr>
              <a:t>Q</a:t>
            </a:r>
            <a:endParaRPr lang="es-AR" sz="1280" dirty="0">
              <a:latin typeface="Bahnschrift SemiBold Condensed"/>
            </a:endParaRPr>
          </a:p>
        </p:txBody>
      </p:sp>
      <p:sp>
        <p:nvSpPr>
          <p:cNvPr id="18" name="Citocromo c"/>
          <p:cNvSpPr/>
          <p:nvPr/>
        </p:nvSpPr>
        <p:spPr>
          <a:xfrm>
            <a:off x="6355080" y="1691640"/>
            <a:ext cx="320040" cy="32004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150" b="1" dirty="0">
                <a:solidFill>
                  <a:srgbClr val="FFFFFF"/>
                </a:solidFill>
                <a:latin typeface="Bahnschrift SemiBold Condensed"/>
                <a:ea typeface="Bahnschrift SemiBold Condensed"/>
                <a:cs typeface="Bahnschrift SemiBold Condensed"/>
                <a:sym typeface="Bahnschrift SemiBold Condensed"/>
              </a:rPr>
              <a:t>c</a:t>
            </a:r>
            <a:endParaRPr lang="es-AR" sz="1150" dirty="0">
              <a:latin typeface="Bahnschrift SemiBold Condensed"/>
            </a:endParaRPr>
          </a:p>
        </p:txBody>
      </p:sp>
      <p:grpSp>
        <p:nvGrpSpPr>
          <p:cNvPr id="19" name="ATP sintasa"/>
          <p:cNvGrpSpPr/>
          <p:nvPr/>
        </p:nvGrpSpPr>
        <p:grpSpPr>
          <a:xfrm>
            <a:off x="8961120" y="1280160"/>
            <a:ext cx="914400" cy="2011680"/>
            <a:chOff x="8961120" y="1280160"/>
            <a:chExt cx="914400" cy="2011680"/>
          </a:xfrm>
        </p:grpSpPr>
        <p:sp>
          <p:nvSpPr>
            <p:cNvPr id="20" name="Forma 19"/>
            <p:cNvSpPr/>
            <p:nvPr/>
          </p:nvSpPr>
          <p:spPr>
            <a:xfrm>
              <a:off x="8961120" y="1280160"/>
              <a:ext cx="914400" cy="1371600"/>
            </a:xfrm>
            <a:prstGeom prst="roundRect">
              <a:avLst>
                <a:gd name="adj" fmla="val 40000"/>
              </a:avLst>
            </a:prstGeom>
            <a:gradFill rotWithShape="1">
              <a:gsLst>
                <a:gs pos="0">
                  <a:srgbClr val="92E4B4"/>
                </a:gs>
                <a:gs pos="55000">
                  <a:srgbClr val="58D68D"/>
                </a:gs>
                <a:gs pos="100000">
                  <a:srgbClr val="42A069"/>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F</a:t>
              </a:r>
              <a:r>
                <a:rPr lang="es-AR" sz="1400" b="1" baseline="-25000" dirty="0">
                  <a:solidFill>
                    <a:srgbClr val="1E1E1E"/>
                  </a:solidFill>
                  <a:latin typeface="Bahnschrift SemiBold Condensed"/>
                  <a:ea typeface="Bahnschrift SemiBold Condensed"/>
                  <a:cs typeface="Bahnschrift SemiBold Condensed"/>
                  <a:sym typeface="Bahnschrift SemiBold Condensed"/>
                </a:rPr>
                <a:t>O</a:t>
              </a:r>
              <a:endParaRPr lang="es-AR" sz="1400" dirty="0">
                <a:latin typeface="Bahnschrift SemiBold Condensed"/>
              </a:endParaRPr>
            </a:p>
          </p:txBody>
        </p:sp>
        <p:sp>
          <p:nvSpPr>
            <p:cNvPr id="21" name="Forma 20"/>
            <p:cNvSpPr/>
            <p:nvPr/>
          </p:nvSpPr>
          <p:spPr>
            <a:xfrm>
              <a:off x="9281160" y="2651760"/>
              <a:ext cx="274320" cy="640080"/>
            </a:xfrm>
            <a:prstGeom prst="rect">
              <a:avLst/>
            </a:prstGeom>
            <a:solidFill>
              <a:srgbClr val="1E8449"/>
            </a:solidFill>
            <a:ln w="12700" cap="rnd">
              <a:solidFill>
                <a:srgbClr val="1E1E1E"/>
              </a:solidFill>
              <a:round/>
            </a:ln>
          </p:spPr>
        </p:sp>
      </p:grpSp>
      <p:sp>
        <p:nvSpPr>
          <p:cNvPr id="22" name="F1 rotor"/>
          <p:cNvSpPr/>
          <p:nvPr/>
        </p:nvSpPr>
        <p:spPr>
          <a:xfrm>
            <a:off x="8778240" y="3246120"/>
            <a:ext cx="1280160" cy="1097280"/>
          </a:xfrm>
          <a:prstGeom prst="ellipse">
            <a:avLst/>
          </a:prstGeom>
          <a:gradFill rotWithShape="1">
            <a:gsLst>
              <a:gs pos="0">
                <a:srgbClr val="B4ECCC"/>
              </a:gs>
              <a:gs pos="55000">
                <a:srgbClr val="82E0AA"/>
              </a:gs>
              <a:gs pos="100000">
                <a:srgbClr val="61A87F"/>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a:t>
            </a:r>
            <a:r>
              <a:rPr lang="es-AR" sz="1500" b="1" baseline="-25000"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23" name="NADH entra"/>
          <p:cNvSpPr/>
          <p:nvPr/>
        </p:nvSpPr>
        <p:spPr>
          <a:xfrm>
            <a:off x="685800" y="3749040"/>
            <a:ext cx="82296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NADH</a:t>
            </a:r>
            <a:endParaRPr lang="es-AR" sz="1050" dirty="0">
              <a:latin typeface="Bahnschrift SemiBold Condensed"/>
            </a:endParaRPr>
          </a:p>
        </p:txBody>
      </p:sp>
      <p:sp>
        <p:nvSpPr>
          <p:cNvPr id="24" name="FADH2 entra"/>
          <p:cNvSpPr/>
          <p:nvPr/>
        </p:nvSpPr>
        <p:spPr>
          <a:xfrm>
            <a:off x="3611880" y="3749040"/>
            <a:ext cx="128016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FADH</a:t>
            </a:r>
            <a:r>
              <a:rPr lang="es-AR" sz="850" b="1" baseline="-25000" dirty="0">
                <a:solidFill>
                  <a:srgbClr val="1E1E1E"/>
                </a:solidFill>
                <a:latin typeface="Bahnschrift SemiBold Condensed"/>
                <a:ea typeface="Bahnschrift SemiBold Condensed"/>
                <a:cs typeface="Bahnschrift SemiBold Condensed"/>
                <a:sym typeface="Bahnschrift SemiBold Condensed"/>
              </a:rPr>
              <a:t>2</a:t>
            </a:r>
            <a:r>
              <a:rPr lang="es-AR" sz="850" b="1" dirty="0">
                <a:solidFill>
                  <a:srgbClr val="1E1E1E"/>
                </a:solidFill>
                <a:latin typeface="Bahnschrift SemiBold Condensed"/>
                <a:ea typeface="Bahnschrift SemiBold Condensed"/>
                <a:cs typeface="Bahnschrift SemiBold Condensed"/>
                <a:sym typeface="Bahnschrift SemiBold Condensed"/>
              </a:rPr>
              <a:t>/ETF</a:t>
            </a:r>
            <a:endParaRPr lang="es-AR" sz="850" dirty="0">
              <a:latin typeface="Bahnschrift SemiBold Condensed"/>
            </a:endParaRPr>
          </a:p>
        </p:txBody>
      </p:sp>
      <p:sp>
        <p:nvSpPr>
          <p:cNvPr id="25" name="O2"/>
          <p:cNvSpPr/>
          <p:nvPr/>
        </p:nvSpPr>
        <p:spPr>
          <a:xfrm>
            <a:off x="6903720" y="3749040"/>
            <a:ext cx="411480" cy="411480"/>
          </a:xfrm>
          <a:prstGeom prst="ellipse">
            <a:avLst/>
          </a:prstGeom>
          <a:gradFill rotWithShape="1">
            <a:gsLst>
              <a:gs pos="0">
                <a:srgbClr val="95C9EC"/>
              </a:gs>
              <a:gs pos="55000">
                <a:srgbClr val="5DADE2"/>
              </a:gs>
              <a:gs pos="100000">
                <a:srgbClr val="4A8AB4"/>
              </a:gs>
            </a:gsLst>
            <a:path path="circle">
              <a:fillToRect l="32000" t="28000" r="68000" b="72000"/>
            </a:path>
          </a:gradFill>
          <a:ln w="12700" cap="rnd">
            <a:solidFill>
              <a:srgbClr val="335F7C"/>
            </a:solidFill>
            <a:round/>
          </a:ln>
        </p:spPr>
        <p:txBody>
          <a:bodyPr wrap="square" lIns="0" tIns="0" rIns="0" bIns="0" anchor="ctr" rtlCol="0">
            <a:noAutofit/>
          </a:bodyPr>
          <a:lstStyle/>
          <a:p>
            <a:pPr algn="ctr">
              <a:spcAft>
                <a:spcPts val="300"/>
              </a:spcAft>
              <a:buNone/>
            </a:pPr>
            <a:r>
              <a:rPr lang="es-AR" sz="1290" b="1" dirty="0">
                <a:solidFill>
                  <a:srgbClr val="1E1E1E"/>
                </a:solidFill>
                <a:latin typeface="Bahnschrift SemiBold Condensed"/>
                <a:ea typeface="Bahnschrift SemiBold Condensed"/>
                <a:cs typeface="Bahnschrift SemiBold Condensed"/>
                <a:sym typeface="Bahnschrift SemiBold Condensed"/>
              </a:rPr>
              <a:t>O</a:t>
            </a:r>
            <a:r>
              <a:rPr lang="es-AR" sz="1290" b="1" baseline="-25000" dirty="0">
                <a:solidFill>
                  <a:srgbClr val="1E1E1E"/>
                </a:solidFill>
                <a:latin typeface="Bahnschrift SemiBold Condensed"/>
                <a:ea typeface="Bahnschrift SemiBold Condensed"/>
                <a:cs typeface="Bahnschrift SemiBold Condensed"/>
                <a:sym typeface="Bahnschrift SemiBold Condensed"/>
              </a:rPr>
              <a:t>2</a:t>
            </a:r>
            <a:endParaRPr lang="es-AR" sz="1290" dirty="0">
              <a:latin typeface="Bahnschrift SemiBold Condensed"/>
            </a:endParaRPr>
          </a:p>
        </p:txBody>
      </p:sp>
      <p:sp>
        <p:nvSpPr>
          <p:cNvPr id="26" name="Agua"/>
          <p:cNvSpPr/>
          <p:nvPr/>
        </p:nvSpPr>
        <p:spPr>
          <a:xfrm>
            <a:off x="7452360" y="3794760"/>
            <a:ext cx="584094" cy="246062"/>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 H</a:t>
            </a:r>
            <a:r>
              <a:rPr lang="es-AR" sz="1250" b="1" baseline="-25000" dirty="0">
                <a:solidFill>
                  <a:srgbClr val="1E1E1E"/>
                </a:solidFill>
                <a:latin typeface="Bahnschrift SemiBold Condensed"/>
                <a:ea typeface="Bahnschrift SemiBold Condensed"/>
                <a:cs typeface="Bahnschrift SemiBold Condensed"/>
                <a:sym typeface="Bahnschrift SemiBold Condensed"/>
              </a:rPr>
              <a:t>2</a:t>
            </a:r>
            <a:r>
              <a:rPr lang="es-AR" sz="1250" b="1" dirty="0">
                <a:solidFill>
                  <a:srgbClr val="1E1E1E"/>
                </a:solidFill>
                <a:latin typeface="Bahnschrift SemiBold Condensed"/>
                <a:ea typeface="Bahnschrift SemiBold Condensed"/>
                <a:cs typeface="Bahnschrift SemiBold Condensed"/>
                <a:sym typeface="Bahnschrift SemiBold Condensed"/>
              </a:rPr>
              <a:t>O</a:t>
            </a:r>
            <a:endParaRPr lang="es-AR" sz="1250" dirty="0">
              <a:latin typeface="Bahnschrift SemiBold Condensed"/>
            </a:endParaRPr>
          </a:p>
        </p:txBody>
      </p:sp>
      <p:sp>
        <p:nvSpPr>
          <p:cNvPr id="27" name="Bombeo H 0"/>
          <p:cNvSpPr/>
          <p:nvPr/>
        </p:nvSpPr>
        <p:spPr>
          <a:xfrm>
            <a:off x="1280160" y="1371600"/>
            <a:ext cx="9144" cy="640080"/>
          </a:xfrm>
          <a:custGeom>
            <a:avLst/>
            <a:gdLst/>
            <a:ahLst/>
            <a:cxnLst/>
            <a:rect l="0" t="0" r="r" b="b"/>
            <a:pathLst>
              <a:path w="10" h="700" fill="none">
                <a:moveTo>
                  <a:pt x="0" y="700"/>
                </a:moveTo>
                <a:lnTo>
                  <a:pt x="0" y="0"/>
                </a:lnTo>
              </a:path>
            </a:pathLst>
          </a:custGeom>
          <a:noFill/>
          <a:ln w="38100" cap="rnd">
            <a:solidFill>
              <a:srgbClr val="C00000"/>
            </a:solidFill>
            <a:round/>
            <a:tailEnd type="triangle" w="med" len="med"/>
          </a:ln>
        </p:spPr>
      </p:sp>
      <p:sp>
        <p:nvSpPr>
          <p:cNvPr id="28" name="Bombeo H 1"/>
          <p:cNvSpPr/>
          <p:nvPr/>
        </p:nvSpPr>
        <p:spPr>
          <a:xfrm>
            <a:off x="5669280" y="1371600"/>
            <a:ext cx="9144" cy="640080"/>
          </a:xfrm>
          <a:custGeom>
            <a:avLst/>
            <a:gdLst/>
            <a:ahLst/>
            <a:cxnLst/>
            <a:rect l="0" t="0" r="r" b="b"/>
            <a:pathLst>
              <a:path w="10" h="700" fill="none">
                <a:moveTo>
                  <a:pt x="0" y="700"/>
                </a:moveTo>
                <a:lnTo>
                  <a:pt x="0" y="0"/>
                </a:lnTo>
              </a:path>
            </a:pathLst>
          </a:custGeom>
          <a:noFill/>
          <a:ln w="38100" cap="rnd">
            <a:solidFill>
              <a:srgbClr val="C00000"/>
            </a:solidFill>
            <a:round/>
            <a:tailEnd type="triangle" w="med" len="med"/>
          </a:ln>
        </p:spPr>
      </p:sp>
      <p:sp>
        <p:nvSpPr>
          <p:cNvPr id="29" name="Bombeo H 2"/>
          <p:cNvSpPr/>
          <p:nvPr/>
        </p:nvSpPr>
        <p:spPr>
          <a:xfrm>
            <a:off x="7406640" y="1371600"/>
            <a:ext cx="9144" cy="640080"/>
          </a:xfrm>
          <a:custGeom>
            <a:avLst/>
            <a:gdLst/>
            <a:ahLst/>
            <a:cxnLst/>
            <a:rect l="0" t="0" r="r" b="b"/>
            <a:pathLst>
              <a:path w="10" h="700" fill="none">
                <a:moveTo>
                  <a:pt x="0" y="700"/>
                </a:moveTo>
                <a:lnTo>
                  <a:pt x="0" y="0"/>
                </a:lnTo>
              </a:path>
            </a:pathLst>
          </a:custGeom>
          <a:noFill/>
          <a:ln w="38100" cap="rnd">
            <a:solidFill>
              <a:srgbClr val="C00000"/>
            </a:solidFill>
            <a:round/>
            <a:tailEnd type="triangle" w="med" len="med"/>
          </a:ln>
        </p:spPr>
      </p:sp>
      <p:sp>
        <p:nvSpPr>
          <p:cNvPr id="30" name="H 0"/>
          <p:cNvSpPr/>
          <p:nvPr/>
        </p:nvSpPr>
        <p:spPr>
          <a:xfrm>
            <a:off x="160020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31" name="H 1"/>
          <p:cNvSpPr/>
          <p:nvPr/>
        </p:nvSpPr>
        <p:spPr>
          <a:xfrm>
            <a:off x="598932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32" name="H 2"/>
          <p:cNvSpPr/>
          <p:nvPr/>
        </p:nvSpPr>
        <p:spPr>
          <a:xfrm>
            <a:off x="772668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33" name="Retorno H+"/>
          <p:cNvSpPr/>
          <p:nvPr/>
        </p:nvSpPr>
        <p:spPr>
          <a:xfrm>
            <a:off x="10241280" y="1463040"/>
            <a:ext cx="9144" cy="1828800"/>
          </a:xfrm>
          <a:custGeom>
            <a:avLst/>
            <a:gdLst/>
            <a:ahLst/>
            <a:cxnLst/>
            <a:rect l="0" t="0" r="r" b="b"/>
            <a:pathLst>
              <a:path w="10" h="2000" fill="none">
                <a:moveTo>
                  <a:pt x="0" y="0"/>
                </a:moveTo>
                <a:lnTo>
                  <a:pt x="0" y="2000"/>
                </a:lnTo>
              </a:path>
            </a:pathLst>
          </a:custGeom>
          <a:noFill/>
          <a:ln w="44450" cap="rnd">
            <a:solidFill>
              <a:srgbClr val="C00000"/>
            </a:solidFill>
            <a:round/>
            <a:tailEnd type="triangle" w="med" len="med"/>
          </a:ln>
        </p:spPr>
      </p:sp>
      <p:sp>
        <p:nvSpPr>
          <p:cNvPr id="34" name="ATP sintetizado"/>
          <p:cNvSpPr/>
          <p:nvPr/>
        </p:nvSpPr>
        <p:spPr>
          <a:xfrm>
            <a:off x="10332720" y="3611880"/>
            <a:ext cx="141732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ADP + P</a:t>
            </a:r>
            <a:r>
              <a:rPr lang="es-AR" sz="850" b="1" baseline="-25000" dirty="0">
                <a:solidFill>
                  <a:srgbClr val="1E1E1E"/>
                </a:solidFill>
                <a:latin typeface="Bahnschrift SemiBold Condensed"/>
                <a:ea typeface="Bahnschrift SemiBold Condensed"/>
                <a:cs typeface="Bahnschrift SemiBold Condensed"/>
                <a:sym typeface="Bahnschrift SemiBold Condensed"/>
              </a:rPr>
              <a:t>i</a:t>
            </a:r>
            <a:r>
              <a:rPr lang="es-AR" sz="850" b="1" dirty="0">
                <a:solidFill>
                  <a:srgbClr val="1E1E1E"/>
                </a:solidFill>
                <a:latin typeface="Bahnschrift SemiBold Condensed"/>
                <a:ea typeface="Bahnschrift SemiBold Condensed"/>
                <a:cs typeface="Bahnschrift SemiBold Condensed"/>
                <a:sym typeface="Bahnschrift SemiBold Condensed"/>
              </a:rPr>
              <a:t> → ATP</a:t>
            </a:r>
            <a:endParaRPr lang="es-AR" sz="850" dirty="0">
              <a:latin typeface="Bahnschrift SemiBold Condensed"/>
            </a:endParaRPr>
          </a:p>
        </p:txBody>
      </p:sp>
      <p:sp>
        <p:nvSpPr>
          <p:cNvPr id="35" name="Forma 34"/>
          <p:cNvSpPr/>
          <p:nvPr/>
        </p:nvSpPr>
        <p:spPr>
          <a:xfrm>
            <a:off x="274320" y="5120640"/>
            <a:ext cx="11521440" cy="1371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Los electrones de </a:t>
            </a:r>
            <a:r>
              <a:rPr lang="es-AR" sz="1650" b="1" dirty="0">
                <a:solidFill>
                  <a:srgbClr val="1E1E1E"/>
                </a:solidFill>
                <a:latin typeface="Bahnschrift"/>
                <a:ea typeface="Bahnschrift"/>
                <a:cs typeface="Bahnschrift"/>
                <a:sym typeface="Bahnschrift"/>
              </a:rPr>
              <a:t>NADH</a:t>
            </a:r>
            <a:r>
              <a:rPr lang="es-AR" sz="1650" dirty="0">
                <a:solidFill>
                  <a:srgbClr val="1E1E1E"/>
                </a:solidFill>
                <a:latin typeface="Bahnschrift"/>
                <a:ea typeface="Bahnschrift"/>
                <a:cs typeface="Bahnschrift"/>
                <a:sym typeface="Bahnschrift"/>
              </a:rPr>
              <a:t> (complejo I) y </a:t>
            </a:r>
            <a:r>
              <a:rPr lang="es-AR" sz="1650" b="1" dirty="0">
                <a:solidFill>
                  <a:srgbClr val="1E1E1E"/>
                </a:solidFill>
                <a:latin typeface="Bahnschrift"/>
                <a:ea typeface="Bahnschrift"/>
                <a:cs typeface="Bahnschrift"/>
                <a:sym typeface="Bahnschrift"/>
              </a:rPr>
              <a:t>FADH</a:t>
            </a:r>
            <a:r>
              <a:rPr lang="es-AR" sz="1650" b="1"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(vía ETF/ETF-QO o complejo II) llegan al </a:t>
            </a:r>
            <a:r>
              <a:rPr lang="es-AR" sz="1650" b="1" dirty="0">
                <a:solidFill>
                  <a:srgbClr val="1E1E1E"/>
                </a:solidFill>
                <a:latin typeface="Bahnschrift"/>
                <a:ea typeface="Bahnschrift"/>
                <a:cs typeface="Bahnschrift"/>
                <a:sym typeface="Bahnschrift"/>
              </a:rPr>
              <a:t>O</a:t>
            </a:r>
            <a:r>
              <a:rPr lang="es-AR" sz="1650" b="1"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el gradiente de </a:t>
            </a:r>
            <a:r>
              <a:rPr lang="es-AR" sz="1650" b="1" dirty="0">
                <a:solidFill>
                  <a:srgbClr val="1E1E1E"/>
                </a:solidFill>
                <a:latin typeface="Bahnschrift"/>
                <a:ea typeface="Bahnschrift"/>
                <a:cs typeface="Bahnschrift"/>
                <a:sym typeface="Bahnschrift"/>
              </a:rPr>
              <a:t>H</a:t>
            </a:r>
            <a:r>
              <a:rPr lang="es-AR" sz="1650" b="1"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impulsa la </a:t>
            </a:r>
            <a:r>
              <a:rPr lang="es-AR" sz="1650" b="1" dirty="0">
                <a:solidFill>
                  <a:srgbClr val="1E1E1E"/>
                </a:solidFill>
                <a:latin typeface="Bahnschrift"/>
                <a:ea typeface="Bahnschrift"/>
                <a:cs typeface="Bahnschrift"/>
                <a:sym typeface="Bahnschrift"/>
              </a:rPr>
              <a:t>ATP sintasa</a:t>
            </a:r>
            <a:r>
              <a:rPr lang="es-AR" sz="1650" dirty="0">
                <a:solidFill>
                  <a:srgbClr val="1E1E1E"/>
                </a:solidFill>
                <a:latin typeface="Bahnschrift"/>
                <a:ea typeface="Bahnschrift"/>
                <a:cs typeface="Bahnschrift"/>
                <a:sym typeface="Bahnschrift"/>
              </a:rPr>
              <a:t>. Cocientes P/O aproximados: </a:t>
            </a:r>
            <a:r>
              <a:rPr lang="es-AR" sz="1650" b="1" dirty="0">
                <a:solidFill>
                  <a:srgbClr val="1E1E1E"/>
                </a:solidFill>
                <a:latin typeface="Bahnschrift"/>
                <a:ea typeface="Bahnschrift"/>
                <a:cs typeface="Bahnschrift"/>
                <a:sym typeface="Bahnschrift"/>
              </a:rPr>
              <a:t>2,5 ATP/NADH</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1,5 ATP/FADH</a:t>
            </a:r>
            <a:r>
              <a:rPr lang="es-AR" sz="1650" b="1"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80329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15 · CADENA RESPIRATORIA Y ATP SINTASA</a:t>
            </a:r>
            <a:endParaRPr lang="es-AR" sz="2600" dirty="0">
              <a:latin typeface="Bahnschrift SemiBold Condensed"/>
            </a:endParaRPr>
          </a:p>
        </p:txBody>
      </p:sp>
      <p:sp>
        <p:nvSpPr>
          <p:cNvPr id="3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8"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3"/>
                                        </p:tgtEl>
                                        <p:attrNameLst>
                                          <p:attrName>style.visibility</p:attrName>
                                        </p:attrNameLst>
                                      </p:cBhvr>
                                      <p:to>
                                        <p:strVal val="visible"/>
                                      </p:to>
                                    </p:set>
                                    <p:animEffect transition="in" filter="fade">
                                      <p:cBhvr>
                                        <p:cTn id="5" dur="500"/>
                                        <p:tgtEl>
                                          <p:spTgt spid="23"/>
                                        </p:tgtEl>
                                      </p:cBhvr>
                                    </p:animEffect>
                                  </p:childTnLst>
                                </p:cTn>
                              </p:par>
                            </p:childTnLst>
                          </p:cTn>
                        </p:par>
                        <p:par>
                          <p:cTn id="17" fill="hold">
                            <p:stCondLst>
                              <p:cond delay="500"/>
                            </p:stCondLst>
                            <p:childTnLst>
                              <p:par>
                                <p:cTn id="7" presetID="6" presetClass="emph" presetSubtype="0" fill="hold" grpId="0" nodeType="afterEffect">
                                  <p:stCondLst>
                                    <p:cond delay="0"/>
                                  </p:stCondLst>
                                  <p:childTnLst>
                                    <p:animScale>
                                      <p:cBhvr>
                                        <p:cTn id="8" dur="300" autoRev="1" fill="hold"/>
                                        <p:tgtEl>
                                          <p:spTgt spid="12"/>
                                        </p:tgtEl>
                                      </p:cBhvr>
                                      <p:by x="112000" y="112000"/>
                                    </p:animScale>
                                  </p:childTnLst>
                                </p:cTn>
                              </p:par>
                              <p:par>
                                <p:cTn id="9" presetID="10" presetClass="entr" presetSubtype="0" fill="hold" grpId="0" nodeType="with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30"/>
                                        </p:tgtEl>
                                        <p:attrNameLst>
                                          <p:attrName>style.visibility</p:attrName>
                                        </p:attrNameLst>
                                      </p:cBhvr>
                                      <p:to>
                                        <p:strVal val="visible"/>
                                      </p:to>
                                    </p:set>
                                    <p:anim calcmode="lin" valueType="num">
                                      <p:cBhvr>
                                        <p:cTn id="14" dur="500" fill="hold"/>
                                        <p:tgtEl>
                                          <p:spTgt spid="30"/>
                                        </p:tgtEl>
                                        <p:attrNameLst>
                                          <p:attrName>ppt_w</p:attrName>
                                        </p:attrNameLst>
                                      </p:cBhvr>
                                      <p:tavLst>
                                        <p:tav tm="0">
                                          <p:val>
                                            <p:fltVal val="0"/>
                                          </p:val>
                                        </p:tav>
                                        <p:tav tm="100000">
                                          <p:val>
                                            <p:strVal val="#ppt_w"/>
                                          </p:val>
                                        </p:tav>
                                      </p:tavLst>
                                    </p:anim>
                                    <p:anim calcmode="lin" valueType="num">
                                      <p:cBhvr>
                                        <p:cTn id="15" dur="500" fill="hold"/>
                                        <p:tgtEl>
                                          <p:spTgt spid="30"/>
                                        </p:tgtEl>
                                        <p:attrNameLst>
                                          <p:attrName>ppt_h</p:attrName>
                                        </p:attrNameLst>
                                      </p:cBhvr>
                                      <p:tavLst>
                                        <p:tav tm="0">
                                          <p:val>
                                            <p:fltVal val="0"/>
                                          </p:val>
                                        </p:tav>
                                        <p:tav tm="100000">
                                          <p:val>
                                            <p:strVal val="#ppt_h"/>
                                          </p:val>
                                        </p:tav>
                                      </p:tavLst>
                                    </p:anim>
                                    <p:animEffect transition="in" filter="fade">
                                      <p:cBhvr>
                                        <p:cTn id="16" dur="500"/>
                                        <p:tgtEl>
                                          <p:spTgt spid="30"/>
                                        </p:tgtEl>
                                      </p:cBhvr>
                                    </p:animEffect>
                                  </p:childTnLst>
                                </p:cTn>
                              </p:par>
                            </p:childTnLst>
                          </p:cTn>
                        </p:par>
                      </p:childTnLst>
                    </p:cTn>
                  </p:par>
                  <p:par>
                    <p:cTn id="32" fill="hold">
                      <p:stCondLst>
                        <p:cond delay="indefinite"/>
                      </p:stCondLst>
                      <p:childTnLst>
                        <p:par>
                          <p:cTn id="22"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childTnLst>
                          </p:cTn>
                        </p:par>
                        <p:par>
                          <p:cTn id="25" fill="hold">
                            <p:stCondLst>
                              <p:cond delay="500"/>
                            </p:stCondLst>
                            <p:childTnLst>
                              <p:par>
                                <p:cTn id="23" presetID="6" presetClass="emph" presetSubtype="0" fill="hold" grpId="0" nodeType="afterEffect">
                                  <p:stCondLst>
                                    <p:cond delay="0"/>
                                  </p:stCondLst>
                                  <p:childTnLst>
                                    <p:animScale>
                                      <p:cBhvr>
                                        <p:cTn id="24" dur="300" autoRev="1" fill="hold"/>
                                        <p:tgtEl>
                                          <p:spTgt spid="14"/>
                                        </p:tgtEl>
                                      </p:cBhvr>
                                      <p:by x="112000" y="112000"/>
                                    </p:animScale>
                                  </p:childTnLst>
                                </p:cTn>
                              </p:par>
                            </p:childTnLst>
                          </p:cTn>
                        </p:par>
                        <p:par>
                          <p:cTn id="31" fill="hold">
                            <p:stCondLst>
                              <p:cond delay="800"/>
                            </p:stCondLst>
                            <p:childTnLst>
                              <p:par>
                                <p:cTn id="26" presetID="53" presetClass="entr" presetSubtype="16" fill="hold" grpId="0" nodeType="afterEffect">
                                  <p:stCondLst>
                                    <p:cond delay="0"/>
                                  </p:stCondLst>
                                  <p:childTnLst>
                                    <p:set>
                                      <p:cBhvr>
                                        <p:cTn id="27" dur="1" fill="hold">
                                          <p:stCondLst>
                                            <p:cond delay="0"/>
                                          </p:stCondLst>
                                        </p:cTn>
                                        <p:tgtEl>
                                          <p:spTgt spid="17"/>
                                        </p:tgtEl>
                                        <p:attrNameLst>
                                          <p:attrName>style.visibility</p:attrName>
                                        </p:attrNameLst>
                                      </p:cBhvr>
                                      <p:to>
                                        <p:strVal val="visible"/>
                                      </p:to>
                                    </p:set>
                                    <p:anim calcmode="lin" valueType="num">
                                      <p:cBhvr>
                                        <p:cTn id="28" dur="500" fill="hold"/>
                                        <p:tgtEl>
                                          <p:spTgt spid="17"/>
                                        </p:tgtEl>
                                        <p:attrNameLst>
                                          <p:attrName>ppt_w</p:attrName>
                                        </p:attrNameLst>
                                      </p:cBhvr>
                                      <p:tavLst>
                                        <p:tav tm="0">
                                          <p:val>
                                            <p:fltVal val="0"/>
                                          </p:val>
                                        </p:tav>
                                        <p:tav tm="100000">
                                          <p:val>
                                            <p:strVal val="#ppt_w"/>
                                          </p:val>
                                        </p:tav>
                                      </p:tavLst>
                                    </p:anim>
                                    <p:anim calcmode="lin" valueType="num">
                                      <p:cBhvr>
                                        <p:cTn id="29" dur="500" fill="hold"/>
                                        <p:tgtEl>
                                          <p:spTgt spid="17"/>
                                        </p:tgtEl>
                                        <p:attrNameLst>
                                          <p:attrName>ppt_h</p:attrName>
                                        </p:attrNameLst>
                                      </p:cBhvr>
                                      <p:tavLst>
                                        <p:tav tm="0">
                                          <p:val>
                                            <p:fltVal val="0"/>
                                          </p:val>
                                        </p:tav>
                                        <p:tav tm="100000">
                                          <p:val>
                                            <p:strVal val="#ppt_h"/>
                                          </p:val>
                                        </p:tav>
                                      </p:tavLst>
                                    </p:anim>
                                    <p:animEffect transition="in" filter="fade">
                                      <p:cBhvr>
                                        <p:cTn id="30" dur="500"/>
                                        <p:tgtEl>
                                          <p:spTgt spid="17"/>
                                        </p:tgtEl>
                                      </p:cBhvr>
                                    </p:animEffect>
                                  </p:childTnLst>
                                </p:cTn>
                              </p:par>
                            </p:childTnLst>
                          </p:cTn>
                        </p:par>
                      </p:childTnLst>
                    </p:cTn>
                  </p:par>
                  <p:par>
                    <p:cTn id="68" fill="hold">
                      <p:stCondLst>
                        <p:cond delay="indefinite"/>
                      </p:stCondLst>
                      <p:childTnLst>
                        <p:par>
                          <p:cTn id="43" fill="hold">
                            <p:stCondLst>
                              <p:cond delay="0"/>
                            </p:stCondLst>
                            <p:childTnLst>
                              <p:par>
                                <p:cTn id="33" presetID="6" presetClass="emph" presetSubtype="0" fill="hold" grpId="0" nodeType="clickEffect">
                                  <p:stCondLst>
                                    <p:cond delay="0"/>
                                  </p:stCondLst>
                                  <p:childTnLst>
                                    <p:animScale>
                                      <p:cBhvr>
                                        <p:cTn id="34" dur="300" autoRev="1" fill="hold"/>
                                        <p:tgtEl>
                                          <p:spTgt spid="15"/>
                                        </p:tgtEl>
                                      </p:cBhvr>
                                      <p:by x="112000" y="112000"/>
                                    </p:animScale>
                                  </p:childTnLst>
                                </p:cTn>
                              </p:par>
                              <p:par>
                                <p:cTn id="35" presetID="10" presetClass="entr" presetSubtype="0"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500"/>
                                        <p:tgtEl>
                                          <p:spTgt spid="28"/>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31"/>
                                        </p:tgtEl>
                                        <p:attrNameLst>
                                          <p:attrName>style.visibility</p:attrName>
                                        </p:attrNameLst>
                                      </p:cBhvr>
                                      <p:to>
                                        <p:strVal val="visible"/>
                                      </p:to>
                                    </p:set>
                                    <p:anim calcmode="lin" valueType="num">
                                      <p:cBhvr>
                                        <p:cTn id="40" dur="500" fill="hold"/>
                                        <p:tgtEl>
                                          <p:spTgt spid="31"/>
                                        </p:tgtEl>
                                        <p:attrNameLst>
                                          <p:attrName>ppt_w</p:attrName>
                                        </p:attrNameLst>
                                      </p:cBhvr>
                                      <p:tavLst>
                                        <p:tav tm="0">
                                          <p:val>
                                            <p:fltVal val="0"/>
                                          </p:val>
                                        </p:tav>
                                        <p:tav tm="100000">
                                          <p:val>
                                            <p:strVal val="#ppt_w"/>
                                          </p:val>
                                        </p:tav>
                                      </p:tavLst>
                                    </p:anim>
                                    <p:anim calcmode="lin" valueType="num">
                                      <p:cBhvr>
                                        <p:cTn id="41" dur="500" fill="hold"/>
                                        <p:tgtEl>
                                          <p:spTgt spid="31"/>
                                        </p:tgtEl>
                                        <p:attrNameLst>
                                          <p:attrName>ppt_h</p:attrName>
                                        </p:attrNameLst>
                                      </p:cBhvr>
                                      <p:tavLst>
                                        <p:tav tm="0">
                                          <p:val>
                                            <p:fltVal val="0"/>
                                          </p:val>
                                        </p:tav>
                                        <p:tav tm="100000">
                                          <p:val>
                                            <p:strVal val="#ppt_h"/>
                                          </p:val>
                                        </p:tav>
                                      </p:tavLst>
                                    </p:anim>
                                    <p:animEffect transition="in" filter="fade">
                                      <p:cBhvr>
                                        <p:cTn id="42" dur="500"/>
                                        <p:tgtEl>
                                          <p:spTgt spid="31"/>
                                        </p:tgtEl>
                                      </p:cBhvr>
                                    </p:animEffect>
                                  </p:childTnLst>
                                </p:cTn>
                              </p:par>
                            </p:childTnLst>
                          </p:cTn>
                        </p:par>
                        <p:par>
                          <p:cTn id="49" fill="hold">
                            <p:stCondLst>
                              <p:cond delay="500"/>
                            </p:stCondLst>
                            <p:childTnLst>
                              <p:par>
                                <p:cTn id="44" presetID="53" presetClass="entr" presetSubtype="16"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p:cTn id="46" dur="500" fill="hold"/>
                                        <p:tgtEl>
                                          <p:spTgt spid="18"/>
                                        </p:tgtEl>
                                        <p:attrNameLst>
                                          <p:attrName>ppt_w</p:attrName>
                                        </p:attrNameLst>
                                      </p:cBhvr>
                                      <p:tavLst>
                                        <p:tav tm="0">
                                          <p:val>
                                            <p:fltVal val="0"/>
                                          </p:val>
                                        </p:tav>
                                        <p:tav tm="100000">
                                          <p:val>
                                            <p:strVal val="#ppt_w"/>
                                          </p:val>
                                        </p:tav>
                                      </p:tavLst>
                                    </p:anim>
                                    <p:anim calcmode="lin" valueType="num">
                                      <p:cBhvr>
                                        <p:cTn id="47" dur="500" fill="hold"/>
                                        <p:tgtEl>
                                          <p:spTgt spid="18"/>
                                        </p:tgtEl>
                                        <p:attrNameLst>
                                          <p:attrName>ppt_h</p:attrName>
                                        </p:attrNameLst>
                                      </p:cBhvr>
                                      <p:tavLst>
                                        <p:tav tm="0">
                                          <p:val>
                                            <p:fltVal val="0"/>
                                          </p:val>
                                        </p:tav>
                                        <p:tav tm="100000">
                                          <p:val>
                                            <p:strVal val="#ppt_h"/>
                                          </p:val>
                                        </p:tav>
                                      </p:tavLst>
                                    </p:anim>
                                    <p:animEffect transition="in" filter="fade">
                                      <p:cBhvr>
                                        <p:cTn id="48" dur="500"/>
                                        <p:tgtEl>
                                          <p:spTgt spid="18"/>
                                        </p:tgtEl>
                                      </p:cBhvr>
                                    </p:animEffect>
                                  </p:childTnLst>
                                </p:cTn>
                              </p:par>
                            </p:childTnLst>
                          </p:cTn>
                        </p:par>
                        <p:par>
                          <p:cTn id="63" fill="hold">
                            <p:stCondLst>
                              <p:cond delay="1000"/>
                            </p:stCondLst>
                            <p:childTnLst>
                              <p:par>
                                <p:cTn id="50" presetID="6" presetClass="emph" presetSubtype="0" fill="hold" grpId="0" nodeType="afterEffect">
                                  <p:stCondLst>
                                    <p:cond delay="0"/>
                                  </p:stCondLst>
                                  <p:childTnLst>
                                    <p:animScale>
                                      <p:cBhvr>
                                        <p:cTn id="51" dur="300" autoRev="1" fill="hold"/>
                                        <p:tgtEl>
                                          <p:spTgt spid="16"/>
                                        </p:tgtEl>
                                      </p:cBhvr>
                                      <p:by x="112000" y="112000"/>
                                    </p:animScale>
                                  </p:childTnLst>
                                </p:cTn>
                              </p:par>
                              <p:par>
                                <p:cTn id="52" presetID="10" presetClass="entr" presetSubtype="0" fill="hold" grpId="0" nodeType="with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500"/>
                                        <p:tgtEl>
                                          <p:spTgt spid="29"/>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par>
                          <p:cTn id="67" fill="hold">
                            <p:stCondLst>
                              <p:cond delay="1500"/>
                            </p:stCondLst>
                            <p:childTnLst>
                              <p:par>
                                <p:cTn id="64" presetID="10" presetClass="entr" presetSubtype="0" fill="hold" grpId="0" nodeType="after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fade">
                                      <p:cBhvr>
                                        <p:cTn id="66" dur="500"/>
                                        <p:tgtEl>
                                          <p:spTgt spid="26"/>
                                        </p:tgtEl>
                                      </p:cBhvr>
                                    </p:animEffect>
                                  </p:childTnLst>
                                </p:cTn>
                              </p:par>
                            </p:childTnLst>
                          </p:cTn>
                        </p:par>
                      </p:childTnLst>
                    </p:cTn>
                  </p:par>
                  <p:par>
                    <p:cTn id="82" fill="hold">
                      <p:stCondLst>
                        <p:cond delay="indefinite"/>
                      </p:stCondLst>
                      <p:childTnLst>
                        <p:par>
                          <p:cTn id="72" fill="hold">
                            <p:stCondLst>
                              <p:cond delay="0"/>
                            </p:stCondLst>
                            <p:childTnLst>
                              <p:par>
                                <p:cTn id="69" presetID="22" presetClass="entr" presetSubtype="1"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wipe(up)">
                                      <p:cBhvr>
                                        <p:cTn id="71" dur="600"/>
                                        <p:tgtEl>
                                          <p:spTgt spid="33"/>
                                        </p:tgtEl>
                                      </p:cBhvr>
                                    </p:animEffect>
                                  </p:childTnLst>
                                </p:cTn>
                              </p:par>
                            </p:childTnLst>
                          </p:cTn>
                        </p:par>
                        <p:par>
                          <p:cTn id="75" fill="hold">
                            <p:stCondLst>
                              <p:cond delay="600"/>
                            </p:stCondLst>
                            <p:childTnLst>
                              <p:par>
                                <p:cTn id="73" presetID="8" presetClass="emph" presetSubtype="0" fill="hold" grpId="0" nodeType="afterEffect">
                                  <p:stCondLst>
                                    <p:cond delay="0"/>
                                  </p:stCondLst>
                                  <p:childTnLst>
                                    <p:animRot by="21600000">
                                      <p:cBhvr>
                                        <p:cTn id="74" dur="1500" fill="hold"/>
                                        <p:tgtEl>
                                          <p:spTgt spid="22"/>
                                        </p:tgtEl>
                                        <p:attrNameLst>
                                          <p:attrName>r</p:attrName>
                                        </p:attrNameLst>
                                      </p:cBhvr>
                                    </p:animRot>
                                  </p:childTnLst>
                                </p:cTn>
                              </p:par>
                            </p:childTnLst>
                          </p:cTn>
                        </p:par>
                        <p:par>
                          <p:cTn id="81" fill="hold">
                            <p:stCondLst>
                              <p:cond delay="2100"/>
                            </p:stCondLst>
                            <p:childTnLst>
                              <p:par>
                                <p:cTn id="76" presetID="53" presetClass="entr" presetSubtype="16" fill="hold" grpId="0" nodeType="afterEffect">
                                  <p:stCondLst>
                                    <p:cond delay="0"/>
                                  </p:stCondLst>
                                  <p:childTnLst>
                                    <p:set>
                                      <p:cBhvr>
                                        <p:cTn id="77" dur="1" fill="hold">
                                          <p:stCondLst>
                                            <p:cond delay="0"/>
                                          </p:stCondLst>
                                        </p:cTn>
                                        <p:tgtEl>
                                          <p:spTgt spid="34"/>
                                        </p:tgtEl>
                                        <p:attrNameLst>
                                          <p:attrName>style.visibility</p:attrName>
                                        </p:attrNameLst>
                                      </p:cBhvr>
                                      <p:to>
                                        <p:strVal val="visible"/>
                                      </p:to>
                                    </p:set>
                                    <p:anim calcmode="lin" valueType="num">
                                      <p:cBhvr>
                                        <p:cTn id="78" dur="500" fill="hold"/>
                                        <p:tgtEl>
                                          <p:spTgt spid="34"/>
                                        </p:tgtEl>
                                        <p:attrNameLst>
                                          <p:attrName>ppt_w</p:attrName>
                                        </p:attrNameLst>
                                      </p:cBhvr>
                                      <p:tavLst>
                                        <p:tav tm="0">
                                          <p:val>
                                            <p:fltVal val="0"/>
                                          </p:val>
                                        </p:tav>
                                        <p:tav tm="100000">
                                          <p:val>
                                            <p:strVal val="#ppt_w"/>
                                          </p:val>
                                        </p:tav>
                                      </p:tavLst>
                                    </p:anim>
                                    <p:anim calcmode="lin" valueType="num">
                                      <p:cBhvr>
                                        <p:cTn id="79" dur="500" fill="hold"/>
                                        <p:tgtEl>
                                          <p:spTgt spid="34"/>
                                        </p:tgtEl>
                                        <p:attrNameLst>
                                          <p:attrName>ppt_h</p:attrName>
                                        </p:attrNameLst>
                                      </p:cBhvr>
                                      <p:tavLst>
                                        <p:tav tm="0">
                                          <p:val>
                                            <p:fltVal val="0"/>
                                          </p:val>
                                        </p:tav>
                                        <p:tav tm="100000">
                                          <p:val>
                                            <p:strVal val="#ppt_h"/>
                                          </p:val>
                                        </p:tav>
                                      </p:tavLst>
                                    </p:anim>
                                    <p:animEffect transition="in" filter="fade">
                                      <p:cBhvr>
                                        <p:cTn id="80" dur="500"/>
                                        <p:tgtEl>
                                          <p:spTgt spid="34"/>
                                        </p:tgtEl>
                                      </p:cBhvr>
                                    </p:animEffect>
                                  </p:childTnLst>
                                </p:cTn>
                              </p:par>
                            </p:childTnLst>
                          </p:cTn>
                        </p:par>
                      </p:childTnLst>
                    </p:cTn>
                  </p:par>
                  <p:par>
                    <p:cTn id="87" fill="hold">
                      <p:stCondLst>
                        <p:cond delay="indefinite"/>
                      </p:stCondLst>
                      <p:childTnLst>
                        <p:par>
                          <p:cTn id="86"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5"/>
                                        </p:tgtEl>
                                        <p:attrNameLst>
                                          <p:attrName>style.visibility</p:attrName>
                                        </p:attrNameLst>
                                      </p:cBhvr>
                                      <p:to>
                                        <p:strVal val="visible"/>
                                      </p:to>
                                    </p:set>
                                    <p:animEffect transition="in" filter="fade">
                                      <p:cBhvr>
                                        <p:cTn id="8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12" grpId="0" animBg="1"/>
      <p:bldP spid="27" grpId="0" animBg="1"/>
      <p:bldP spid="30" grpId="0" animBg="1"/>
      <p:bldP spid="24" grpId="0" animBg="1"/>
      <p:bldP spid="14" grpId="0" animBg="1"/>
      <p:bldP spid="17" grpId="0" animBg="1"/>
      <p:bldP spid="15" grpId="0" animBg="1"/>
      <p:bldP spid="28" grpId="0" animBg="1"/>
      <p:bldP spid="31" grpId="0" animBg="1"/>
      <p:bldP spid="18" grpId="0" animBg="1"/>
      <p:bldP spid="16" grpId="0" animBg="1"/>
      <p:bldP spid="29" grpId="0" animBg="1"/>
      <p:bldP spid="32" grpId="0" animBg="1"/>
      <p:bldP spid="25" grpId="0" animBg="1"/>
      <p:bldP spid="26" grpId="0" animBg="1"/>
      <p:bldP spid="33" grpId="0" animBg="1"/>
      <p:bldP spid="22" grpId="0" animBg="1"/>
      <p:bldP spid="34" grpId="0" animBg="1"/>
      <p:bldP spid="35" grpId="0" animBg="1"/>
    </p:bldLst>
  </p:timing>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Palmitato"/>
          <p:cNvGrpSpPr/>
          <p:nvPr/>
        </p:nvGrpSpPr>
        <p:grpSpPr>
          <a:xfrm>
            <a:off x="438912" y="1152144"/>
            <a:ext cx="3218688" cy="493776"/>
            <a:chOff x="438912" y="1152144"/>
            <a:chExt cx="3218688" cy="493776"/>
          </a:xfrm>
        </p:grpSpPr>
        <p:sp>
          <p:nvSpPr>
            <p:cNvPr id="5" name="Flecha 4_2"/>
            <p:cNvSpPr/>
            <p:nvPr/>
          </p:nvSpPr>
          <p:spPr>
            <a:xfrm>
              <a:off x="603504" y="1207008"/>
              <a:ext cx="3054096" cy="438912"/>
            </a:xfrm>
            <a:custGeom>
              <a:avLst/>
              <a:gdLst/>
              <a:ahLst/>
              <a:cxnLst/>
              <a:rect l="0" t="0" r="r" b="b"/>
              <a:pathLst>
                <a:path w="3340" h="480" fill="none">
                  <a:moveTo>
                    <a:pt x="0" y="0"/>
                  </a:moveTo>
                  <a:lnTo>
                    <a:pt x="417" y="480"/>
                  </a:lnTo>
                  <a:lnTo>
                    <a:pt x="835" y="0"/>
                  </a:lnTo>
                  <a:lnTo>
                    <a:pt x="1252" y="480"/>
                  </a:lnTo>
                  <a:lnTo>
                    <a:pt x="1670" y="0"/>
                  </a:lnTo>
                  <a:lnTo>
                    <a:pt x="2087" y="480"/>
                  </a:lnTo>
                  <a:lnTo>
                    <a:pt x="2505" y="0"/>
                  </a:lnTo>
                  <a:lnTo>
                    <a:pt x="2922" y="480"/>
                  </a:lnTo>
                  <a:lnTo>
                    <a:pt x="3340" y="0"/>
                  </a:lnTo>
                </a:path>
              </a:pathLst>
            </a:custGeom>
            <a:noFill/>
            <a:ln w="28575" cap="rnd">
              <a:solidFill>
                <a:srgbClr val="B7950B"/>
              </a:solidFill>
              <a:round/>
            </a:ln>
          </p:spPr>
        </p:sp>
        <p:sp>
          <p:nvSpPr>
            <p:cNvPr id="6" name="Forma 6"/>
            <p:cNvSpPr/>
            <p:nvPr/>
          </p:nvSpPr>
          <p:spPr>
            <a:xfrm>
              <a:off x="438912" y="11521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7" name="Forma 7"/>
          <p:cNvSpPr txBox="1"/>
          <p:nvPr/>
        </p:nvSpPr>
        <p:spPr>
          <a:xfrm>
            <a:off x="457200" y="1783080"/>
            <a:ext cx="3291840" cy="365760"/>
          </a:xfrm>
          <a:prstGeom prst="rect">
            <a:avLst/>
          </a:prstGeom>
          <a:noFill/>
          <a:ln>
            <a:noFill/>
          </a:ln>
        </p:spPr>
        <p:txBody>
          <a:bodyPr wrap="square" lIns="0" tIns="0" rIns="0" bIns="0" anchor="t"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Palmitato C16:0</a:t>
            </a:r>
            <a:endParaRPr lang="es-AR" sz="1600" dirty="0">
              <a:latin typeface="Bahnschrift SemiBold Condensed"/>
            </a:endParaRPr>
          </a:p>
        </p:txBody>
      </p:sp>
      <p:graphicFrame>
        <p:nvGraphicFramePr>
          <p:cNvPr id="8" name="Tabla palmitato"/>
          <p:cNvGraphicFramePr>
            <a:graphicFrameLocks noGrp="1"/>
          </p:cNvGraphicFramePr>
          <p:nvPr/>
        </p:nvGraphicFramePr>
        <p:xfrm>
          <a:off x="4206240" y="1051560"/>
          <a:ext cx="7589520" cy="4389120"/>
        </p:xfrm>
        <a:graphic>
          <a:graphicData uri="http://schemas.openxmlformats.org/drawingml/2006/table">
            <a:tbl>
              <a:tblPr firstRow="1" bandRow="1"/>
              <a:tblGrid>
                <a:gridCol w="3108960"/>
                <a:gridCol w="1371600"/>
                <a:gridCol w="1645920"/>
                <a:gridCol w="1463040"/>
              </a:tblGrid>
              <a:tr h="548640">
                <a:tc>
                  <a:txBody>
                    <a:bodyPr/>
                    <a:lstStyle/>
                    <a:p>
                      <a:pPr algn="l">
                        <a:spcAft>
                          <a:spcPts val="1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Producto</a:t>
                      </a:r>
                      <a:endParaRPr lang="es-AR" sz="16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Cantidad</a:t>
                      </a:r>
                      <a:endParaRPr lang="es-AR" sz="16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ATP por unidad</a:t>
                      </a:r>
                      <a:endParaRPr lang="es-AR" sz="16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ATP</a:t>
                      </a:r>
                      <a:endParaRPr lang="es-AR" sz="16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Ciclos de β-oxidación</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7</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Acetil-CoA (ciclo de Krebs)</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8</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10</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80</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NADH</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7</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2,5</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17,5</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FADH</a:t>
                      </a:r>
                      <a:r>
                        <a:rPr lang="es-AR" sz="1550" b="1" baseline="-25000" dirty="0">
                          <a:solidFill>
                            <a:srgbClr val="1E1E1E"/>
                          </a:solidFill>
                          <a:latin typeface="Bahnschrift"/>
                          <a:ea typeface="Bahnschrift"/>
                          <a:cs typeface="Bahnschrift"/>
                          <a:sym typeface="Bahnschrift"/>
                        </a:rPr>
                        <a:t>2</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7</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1,5</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10,5</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Subtotal</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108</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Activación (ATP → AMP)</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50" dirty="0">
                          <a:solidFill>
                            <a:srgbClr val="1E1E1E"/>
                          </a:solidFill>
                          <a:latin typeface="Bahnschrift"/>
                          <a:ea typeface="Bahnschrift"/>
                          <a:cs typeface="Bahnschrift"/>
                          <a:sym typeface="Bahnschrift"/>
                        </a:rPr>
                        <a:t>−2</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48640">
                <a:tc>
                  <a:txBody>
                    <a:bodyPr/>
                    <a:lstStyle/>
                    <a:p>
                      <a:pPr algn="l">
                        <a:spcAft>
                          <a:spcPts val="100"/>
                        </a:spcAft>
                        <a:buNone/>
                      </a:pPr>
                      <a:r>
                        <a:rPr lang="es-AR" sz="1550" b="1" dirty="0">
                          <a:solidFill>
                            <a:srgbClr val="1E1E1E"/>
                          </a:solidFill>
                          <a:latin typeface="Bahnschrift"/>
                          <a:ea typeface="Bahnschrift"/>
                          <a:cs typeface="Bahnschrift"/>
                          <a:sym typeface="Bahnschrift"/>
                        </a:rPr>
                        <a:t>Rendimiento neto</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50" b="1" dirty="0">
                          <a:solidFill>
                            <a:srgbClr val="1E1E1E"/>
                          </a:solidFill>
                          <a:latin typeface="Bahnschrift"/>
                          <a:ea typeface="Bahnschrift"/>
                          <a:cs typeface="Bahnschrift"/>
                          <a:sym typeface="Bahnschrift"/>
                        </a:rPr>
                        <a:t>≈ 106 ATP</a:t>
                      </a:r>
                      <a:endParaRPr lang="es-AR" sz="15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9" name="Fórmula palmitato"/>
          <p:cNvSpPr/>
          <p:nvPr/>
        </p:nvSpPr>
        <p:spPr>
          <a:xfrm>
            <a:off x="365760" y="2377440"/>
            <a:ext cx="3566160" cy="146304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700" dirty="0">
                <a:solidFill>
                  <a:srgbClr val="1E1E1E"/>
                </a:solidFill>
                <a:latin typeface="Bahnschrift SemiBold Condensed"/>
                <a:ea typeface="Bahnschrift SemiBold Condensed"/>
                <a:cs typeface="Bahnschrift SemiBold Condensed"/>
                <a:sym typeface="Bahnschrift SemiBold Condensed"/>
              </a:rPr>
              <a:t>C16 → </a:t>
            </a:r>
            <a:r>
              <a:rPr lang="es-AR" sz="1700" b="1" dirty="0">
                <a:solidFill>
                  <a:srgbClr val="1E1E1E"/>
                </a:solidFill>
                <a:latin typeface="Bahnschrift SemiBold Condensed"/>
                <a:ea typeface="Bahnschrift SemiBold Condensed"/>
                <a:cs typeface="Bahnschrift SemiBold Condensed"/>
                <a:sym typeface="Bahnschrift SemiBold Condensed"/>
              </a:rPr>
              <a:t>8 acetil-CoA</a:t>
            </a:r>
            <a:r>
              <a:rPr lang="es-AR" sz="1700" dirty="0">
                <a:solidFill>
                  <a:srgbClr val="1E1E1E"/>
                </a:solidFill>
                <a:latin typeface="Bahnschrift SemiBold Condensed"/>
                <a:ea typeface="Bahnschrift SemiBold Condensed"/>
                <a:cs typeface="Bahnschrift SemiBold Condensed"/>
                <a:sym typeface="Bahnschrift SemiBold Condensed"/>
              </a:rPr>
              <a:t> + </a:t>
            </a:r>
            <a:r>
              <a:rPr lang="es-AR" sz="1700" b="1" dirty="0">
                <a:solidFill>
                  <a:srgbClr val="1E1E1E"/>
                </a:solidFill>
                <a:latin typeface="Bahnschrift SemiBold Condensed"/>
                <a:ea typeface="Bahnschrift SemiBold Condensed"/>
                <a:cs typeface="Bahnschrift SemiBold Condensed"/>
                <a:sym typeface="Bahnschrift SemiBold Condensed"/>
              </a:rPr>
              <a:t>7 FADH</a:t>
            </a:r>
            <a:r>
              <a:rPr lang="es-AR" sz="1700" b="1" baseline="-25000" dirty="0">
                <a:solidFill>
                  <a:srgbClr val="1E1E1E"/>
                </a:solidFill>
                <a:latin typeface="Bahnschrift SemiBold Condensed"/>
                <a:ea typeface="Bahnschrift SemiBold Condensed"/>
                <a:cs typeface="Bahnschrift SemiBold Condensed"/>
                <a:sym typeface="Bahnschrift SemiBold Condensed"/>
              </a:rPr>
              <a:t>2</a:t>
            </a:r>
            <a:r>
              <a:rPr lang="es-AR" sz="1700" dirty="0">
                <a:solidFill>
                  <a:srgbClr val="1E1E1E"/>
                </a:solidFill>
                <a:latin typeface="Bahnschrift SemiBold Condensed"/>
                <a:ea typeface="Bahnschrift SemiBold Condensed"/>
                <a:cs typeface="Bahnschrift SemiBold Condensed"/>
                <a:sym typeface="Bahnschrift SemiBold Condensed"/>
              </a:rPr>
              <a:t> + </a:t>
            </a:r>
            <a:r>
              <a:rPr lang="es-AR" sz="1700" b="1" dirty="0">
                <a:solidFill>
                  <a:srgbClr val="1E1E1E"/>
                </a:solidFill>
                <a:latin typeface="Bahnschrift SemiBold Condensed"/>
                <a:ea typeface="Bahnschrift SemiBold Condensed"/>
                <a:cs typeface="Bahnschrift SemiBold Condensed"/>
                <a:sym typeface="Bahnschrift SemiBold Condensed"/>
              </a:rPr>
              <a:t>7 NADH</a:t>
            </a:r>
            <a:endParaRPr lang="es-AR" sz="1700" dirty="0">
              <a:latin typeface="Bahnschrift SemiBold Condensed"/>
            </a:endParaRPr>
          </a:p>
        </p:txBody>
      </p:sp>
      <p:sp>
        <p:nvSpPr>
          <p:cNvPr id="10" name="Forma 10"/>
          <p:cNvSpPr/>
          <p:nvPr/>
        </p:nvSpPr>
        <p:spPr>
          <a:xfrm>
            <a:off x="365760" y="4069080"/>
            <a:ext cx="3566160" cy="24231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rendimiento </a:t>
            </a:r>
            <a:r>
              <a:rPr lang="es-AR" sz="1650" b="1" dirty="0">
                <a:solidFill>
                  <a:srgbClr val="1E1E1E"/>
                </a:solidFill>
                <a:latin typeface="Bahnschrift"/>
                <a:ea typeface="Bahnschrift"/>
                <a:cs typeface="Bahnschrift"/>
                <a:sym typeface="Bahnschrift"/>
              </a:rPr>
              <a:t>cambia</a:t>
            </a:r>
            <a:r>
              <a:rPr lang="es-AR" sz="1650" dirty="0">
                <a:solidFill>
                  <a:srgbClr val="1E1E1E"/>
                </a:solidFill>
                <a:latin typeface="Bahnschrift"/>
                <a:ea typeface="Bahnschrift"/>
                <a:cs typeface="Bahnschrift"/>
                <a:sym typeface="Bahnschrift"/>
              </a:rPr>
              <a:t> según longitud, </a:t>
            </a:r>
            <a:r>
              <a:rPr lang="es-AR" sz="1650" b="1" dirty="0">
                <a:solidFill>
                  <a:srgbClr val="1E1E1E"/>
                </a:solidFill>
                <a:latin typeface="Bahnschrift"/>
                <a:ea typeface="Bahnschrift"/>
                <a:cs typeface="Bahnschrift"/>
                <a:sym typeface="Bahnschrift"/>
              </a:rPr>
              <a:t>insaturación</a:t>
            </a:r>
            <a:r>
              <a:rPr lang="es-AR" sz="1650" dirty="0">
                <a:solidFill>
                  <a:srgbClr val="1E1E1E"/>
                </a:solidFill>
                <a:latin typeface="Bahnschrift"/>
                <a:ea typeface="Bahnschrift"/>
                <a:cs typeface="Bahnschrift"/>
                <a:sym typeface="Bahnschrift"/>
              </a:rPr>
              <a:t>, lanzaderas y acoplamiento mitocondrial.</a:t>
            </a:r>
            <a:endParaRPr lang="es-AR" sz="1650" dirty="0">
              <a:latin typeface="Bahnschrift"/>
            </a:endParaRPr>
          </a:p>
        </p:txBody>
      </p:sp>
      <p:sp>
        <p:nvSpPr>
          <p:cNvPr id="11" name="Perla"/>
          <p:cNvSpPr/>
          <p:nvPr/>
        </p:nvSpPr>
        <p:spPr>
          <a:xfrm>
            <a:off x="4206240" y="5577840"/>
            <a:ext cx="7589520" cy="9144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Cada acetil-CoA en Krebs ≈ 10 ATP (3 NADH + 1 FADH</a:t>
            </a:r>
            <a:r>
              <a:rPr lang="es-AR" sz="1650" baseline="-25000" dirty="0">
                <a:solidFill>
                  <a:srgbClr val="FFFFFF"/>
                </a:solidFill>
                <a:latin typeface="Bahnschrift"/>
                <a:ea typeface="Bahnschrift"/>
                <a:cs typeface="Bahnschrift"/>
                <a:sym typeface="Bahnschrift"/>
              </a:rPr>
              <a:t>2</a:t>
            </a:r>
            <a:r>
              <a:rPr lang="es-AR" sz="1650" dirty="0">
                <a:solidFill>
                  <a:srgbClr val="FFFFFF"/>
                </a:solidFill>
                <a:latin typeface="Bahnschrift"/>
                <a:ea typeface="Bahnschrift"/>
                <a:cs typeface="Bahnschrift"/>
                <a:sym typeface="Bahnschrift"/>
              </a:rPr>
              <a:t> + 1 GTP).</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77321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15 · BALANCE ENERGÉTICO DEL PALMITATO (C16:0)</a:t>
            </a:r>
            <a:endParaRPr lang="es-AR" sz="2600" dirty="0">
              <a:latin typeface="Bahnschrift SemiBold Condensed"/>
            </a:endParaRPr>
          </a:p>
        </p:txBody>
      </p:sp>
      <p:sp>
        <p:nvSpPr>
          <p:cNvPr id="1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Lst>
  </p:timing>
</p:sld>
</file>

<file path=ppt/slides/slide106.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Cadena impar Propionil-CoA"/>
          <p:cNvSpPr/>
          <p:nvPr/>
        </p:nvSpPr>
        <p:spPr>
          <a:xfrm>
            <a:off x="457200" y="1417320"/>
            <a:ext cx="23774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Propionil-CoA</a:t>
            </a:r>
            <a:endParaRPr lang="es-AR" sz="1300" dirty="0">
              <a:latin typeface="Bahnschrift SemiBold Condensed"/>
            </a:endParaRPr>
          </a:p>
        </p:txBody>
      </p:sp>
      <p:grpSp>
        <p:nvGrpSpPr>
          <p:cNvPr id="5" name="Cadena impar paso 1"/>
          <p:cNvGrpSpPr/>
          <p:nvPr/>
        </p:nvGrpSpPr>
        <p:grpSpPr>
          <a:xfrm>
            <a:off x="1645920" y="1810512"/>
            <a:ext cx="1549837" cy="448056"/>
            <a:chOff x="1645920" y="1810512"/>
            <a:chExt cx="1549837" cy="448056"/>
          </a:xfrm>
        </p:grpSpPr>
        <p:sp>
          <p:nvSpPr>
            <p:cNvPr id="6" name="Flecha 5_2"/>
            <p:cNvSpPr/>
            <p:nvPr/>
          </p:nvSpPr>
          <p:spPr>
            <a:xfrm>
              <a:off x="1645920" y="181051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7" name="Enzima carboxilasa (biotina"/>
            <p:cNvSpPr/>
            <p:nvPr/>
          </p:nvSpPr>
          <p:spPr>
            <a:xfrm>
              <a:off x="1755648" y="1888236"/>
              <a:ext cx="14401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carboxilasa (biotina)</a:t>
              </a:r>
              <a:endParaRPr lang="es-AR" sz="1150" dirty="0">
                <a:latin typeface="Bahnschrift SemiBold Condensed"/>
              </a:endParaRPr>
            </a:p>
          </p:txBody>
        </p:sp>
      </p:grpSp>
      <p:sp>
        <p:nvSpPr>
          <p:cNvPr id="8" name="Cadena impar Metilmalonil-CoA"/>
          <p:cNvSpPr/>
          <p:nvPr/>
        </p:nvSpPr>
        <p:spPr>
          <a:xfrm>
            <a:off x="457200" y="2286000"/>
            <a:ext cx="2377440" cy="36576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Metilmalonil-CoA</a:t>
            </a:r>
            <a:endParaRPr lang="es-AR" sz="1300" dirty="0">
              <a:latin typeface="Bahnschrift SemiBold Condensed"/>
            </a:endParaRPr>
          </a:p>
        </p:txBody>
      </p:sp>
      <p:grpSp>
        <p:nvGrpSpPr>
          <p:cNvPr id="9" name="Cadena impar paso 2"/>
          <p:cNvGrpSpPr/>
          <p:nvPr/>
        </p:nvGrpSpPr>
        <p:grpSpPr>
          <a:xfrm>
            <a:off x="1645920" y="2679192"/>
            <a:ext cx="1633473" cy="448056"/>
            <a:chOff x="1645920" y="2679192"/>
            <a:chExt cx="1633473" cy="448056"/>
          </a:xfrm>
        </p:grpSpPr>
        <p:sp>
          <p:nvSpPr>
            <p:cNvPr id="10" name="Flecha 10_2"/>
            <p:cNvSpPr/>
            <p:nvPr/>
          </p:nvSpPr>
          <p:spPr>
            <a:xfrm>
              <a:off x="1645920" y="267919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11" name="Enzima mutasa (vitamina B12"/>
            <p:cNvSpPr/>
            <p:nvPr/>
          </p:nvSpPr>
          <p:spPr>
            <a:xfrm>
              <a:off x="1755648" y="2756916"/>
              <a:ext cx="152374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mutasa (vitamina B</a:t>
              </a:r>
              <a:r>
                <a:rPr lang="es-AR" sz="1150" b="1" baseline="-25000" dirty="0">
                  <a:solidFill>
                    <a:srgbClr val="1F3864"/>
                  </a:solidFill>
                  <a:latin typeface="Bahnschrift SemiBold Condensed"/>
                  <a:ea typeface="Bahnschrift SemiBold Condensed"/>
                  <a:cs typeface="Bahnschrift SemiBold Condensed"/>
                  <a:sym typeface="Bahnschrift SemiBold Condensed"/>
                </a:rPr>
                <a:t>12</a:t>
              </a:r>
              <a:r>
                <a:rPr lang="es-AR" sz="1150" b="1" dirty="0">
                  <a:solidFill>
                    <a:srgbClr val="1F3864"/>
                  </a:solidFill>
                  <a:latin typeface="Bahnschrift SemiBold Condensed"/>
                  <a:ea typeface="Bahnschrift SemiBold Condensed"/>
                  <a:cs typeface="Bahnschrift SemiBold Condensed"/>
                  <a:sym typeface="Bahnschrift SemiBold Condensed"/>
                </a:rPr>
                <a:t>)</a:t>
              </a:r>
              <a:endParaRPr lang="es-AR" sz="1150" dirty="0">
                <a:latin typeface="Bahnschrift SemiBold Condensed"/>
              </a:endParaRPr>
            </a:p>
          </p:txBody>
        </p:sp>
      </p:grpSp>
      <p:sp>
        <p:nvSpPr>
          <p:cNvPr id="12" name="Cadena impar Succinil-CoA → Kre"/>
          <p:cNvSpPr/>
          <p:nvPr/>
        </p:nvSpPr>
        <p:spPr>
          <a:xfrm>
            <a:off x="457200" y="3154680"/>
            <a:ext cx="2377440" cy="365760"/>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Succinil-CoA → Krebs</a:t>
            </a:r>
            <a:endParaRPr lang="es-AR" sz="1300" dirty="0">
              <a:latin typeface="Bahnschrift SemiBold Condensed"/>
            </a:endParaRPr>
          </a:p>
        </p:txBody>
      </p:sp>
      <p:sp>
        <p:nvSpPr>
          <p:cNvPr id="13" name="Rótulo impares"/>
          <p:cNvSpPr/>
          <p:nvPr/>
        </p:nvSpPr>
        <p:spPr>
          <a:xfrm>
            <a:off x="457200" y="960120"/>
            <a:ext cx="1504409" cy="27559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CADENAS IMPARES</a:t>
            </a:r>
            <a:endParaRPr lang="es-AR" sz="1400" dirty="0">
              <a:latin typeface="Bahnschrift SemiBold Condensed"/>
            </a:endParaRPr>
          </a:p>
        </p:txBody>
      </p:sp>
      <p:sp>
        <p:nvSpPr>
          <p:cNvPr id="14" name="Forma 15"/>
          <p:cNvSpPr/>
          <p:nvPr/>
        </p:nvSpPr>
        <p:spPr>
          <a:xfrm>
            <a:off x="365760" y="4023360"/>
            <a:ext cx="3840480" cy="12344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Último ciclo → </a:t>
            </a:r>
            <a:r>
              <a:rPr lang="es-AR" sz="1600" b="1" dirty="0">
                <a:solidFill>
                  <a:srgbClr val="1E1E1E"/>
                </a:solidFill>
                <a:latin typeface="Bahnschrift"/>
                <a:ea typeface="Bahnschrift"/>
                <a:cs typeface="Bahnschrift"/>
                <a:sym typeface="Bahnschrift"/>
              </a:rPr>
              <a:t>propionil-CoA</a:t>
            </a:r>
            <a:r>
              <a:rPr lang="es-AR" sz="1600" dirty="0">
                <a:solidFill>
                  <a:srgbClr val="1E1E1E"/>
                </a:solidFill>
                <a:latin typeface="Bahnschrift"/>
                <a:ea typeface="Bahnschrift"/>
                <a:cs typeface="Bahnschrift"/>
                <a:sym typeface="Bahnschrift"/>
              </a:rPr>
              <a:t>: aporta </a:t>
            </a:r>
            <a:r>
              <a:rPr lang="es-AR" sz="1600" b="1" dirty="0">
                <a:solidFill>
                  <a:srgbClr val="1E1E1E"/>
                </a:solidFill>
                <a:latin typeface="Bahnschrift"/>
                <a:ea typeface="Bahnschrift"/>
                <a:cs typeface="Bahnschrift"/>
                <a:sym typeface="Bahnschrift"/>
              </a:rPr>
              <a:t>potencial gluconeogénico</a:t>
            </a:r>
            <a:r>
              <a:rPr lang="es-AR" sz="1600" dirty="0">
                <a:solidFill>
                  <a:srgbClr val="1E1E1E"/>
                </a:solidFill>
                <a:latin typeface="Bahnschrift"/>
                <a:ea typeface="Bahnschrift"/>
                <a:cs typeface="Bahnschrift"/>
                <a:sym typeface="Bahnschrift"/>
              </a:rPr>
              <a:t> (succinil-CoA).</a:t>
            </a:r>
            <a:endParaRPr lang="es-AR" sz="1600" dirty="0">
              <a:latin typeface="Bahnschrift"/>
            </a:endParaRPr>
          </a:p>
        </p:txBody>
      </p:sp>
      <p:grpSp>
        <p:nvGrpSpPr>
          <p:cNvPr id="15" name="Recuadro Peroxisoma"/>
          <p:cNvGrpSpPr/>
          <p:nvPr/>
        </p:nvGrpSpPr>
        <p:grpSpPr>
          <a:xfrm>
            <a:off x="4480560" y="960120"/>
            <a:ext cx="3566160" cy="2926080"/>
            <a:chOff x="4480560" y="960120"/>
            <a:chExt cx="3566160" cy="2926080"/>
          </a:xfrm>
        </p:grpSpPr>
        <p:sp>
          <p:nvSpPr>
            <p:cNvPr id="16" name="Forma 17"/>
            <p:cNvSpPr/>
            <p:nvPr/>
          </p:nvSpPr>
          <p:spPr>
            <a:xfrm>
              <a:off x="4480560" y="1143000"/>
              <a:ext cx="3566160" cy="274320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Los AG de </a:t>
              </a:r>
              <a:r>
                <a:rPr lang="es-AR" sz="1650" b="1" dirty="0">
                  <a:solidFill>
                    <a:srgbClr val="1E1E1E"/>
                  </a:solidFill>
                  <a:latin typeface="Bahnschrift"/>
                  <a:ea typeface="Bahnschrift"/>
                  <a:cs typeface="Bahnschrift"/>
                  <a:sym typeface="Bahnschrift"/>
                </a:rPr>
                <a:t>cadena muy larga</a:t>
              </a:r>
              <a:r>
                <a:rPr lang="es-AR" sz="1650" dirty="0">
                  <a:solidFill>
                    <a:srgbClr val="1E1E1E"/>
                  </a:solidFill>
                  <a:latin typeface="Bahnschrift"/>
                  <a:ea typeface="Bahnschrift"/>
                  <a:cs typeface="Bahnschrift"/>
                  <a:sym typeface="Bahnschrift"/>
                </a:rPr>
                <a:t> se acortan inicialmente en </a:t>
              </a:r>
              <a:r>
                <a:rPr lang="es-AR" sz="1650" b="1" dirty="0">
                  <a:solidFill>
                    <a:srgbClr val="1E1E1E"/>
                  </a:solidFill>
                  <a:latin typeface="Bahnschrift"/>
                  <a:ea typeface="Bahnschrift"/>
                  <a:cs typeface="Bahnschrift"/>
                  <a:sym typeface="Bahnschrift"/>
                </a:rPr>
                <a:t>peroxisomas</a:t>
              </a:r>
              <a:r>
                <a:rPr lang="es-AR" sz="1650" dirty="0">
                  <a:solidFill>
                    <a:srgbClr val="1E1E1E"/>
                  </a:solidFill>
                  <a:latin typeface="Bahnschrift"/>
                  <a:ea typeface="Bahnschrift"/>
                  <a:cs typeface="Bahnschrift"/>
                  <a:sym typeface="Bahnschrift"/>
                </a:rPr>
                <a:t>; la oxidación peroxisomal genera </a:t>
              </a:r>
              <a:r>
                <a:rPr lang="es-AR" sz="1650" b="1" dirty="0">
                  <a:solidFill>
                    <a:srgbClr val="1E1E1E"/>
                  </a:solidFill>
                  <a:latin typeface="Bahnschrift"/>
                  <a:ea typeface="Bahnschrift"/>
                  <a:cs typeface="Bahnschrift"/>
                  <a:sym typeface="Bahnschrift"/>
                </a:rPr>
                <a:t>H</a:t>
              </a:r>
              <a:r>
                <a:rPr lang="es-AR" sz="1650" b="1" baseline="-25000" dirty="0">
                  <a:solidFill>
                    <a:srgbClr val="1E1E1E"/>
                  </a:solidFill>
                  <a:latin typeface="Bahnschrift"/>
                  <a:ea typeface="Bahnschrift"/>
                  <a:cs typeface="Bahnschrift"/>
                  <a:sym typeface="Bahnschrift"/>
                </a:rPr>
                <a:t>2</a:t>
              </a:r>
              <a:r>
                <a:rPr lang="es-AR" sz="1650" b="1" dirty="0">
                  <a:solidFill>
                    <a:srgbClr val="1E1E1E"/>
                  </a:solidFill>
                  <a:latin typeface="Bahnschrift"/>
                  <a:ea typeface="Bahnschrift"/>
                  <a:cs typeface="Bahnschrift"/>
                  <a:sym typeface="Bahnschrift"/>
                </a:rPr>
                <a:t>O</a:t>
              </a:r>
              <a:r>
                <a:rPr lang="es-AR" sz="1650" b="1"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 y no conserva toda la energía como ATP.</a:t>
              </a:r>
              <a:endParaRPr lang="es-AR" sz="1650" dirty="0">
                <a:latin typeface="Bahnschrift"/>
              </a:endParaRPr>
            </a:p>
          </p:txBody>
        </p:sp>
        <p:sp>
          <p:nvSpPr>
            <p:cNvPr id="17" name="Forma 18"/>
            <p:cNvSpPr/>
            <p:nvPr/>
          </p:nvSpPr>
          <p:spPr>
            <a:xfrm>
              <a:off x="4590288" y="960120"/>
              <a:ext cx="126334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PEROXISOMA</a:t>
              </a:r>
              <a:endParaRPr lang="es-AR" sz="1500" dirty="0">
                <a:latin typeface="Bahnschrift SemiBold Condensed"/>
              </a:endParaRPr>
            </a:p>
          </p:txBody>
        </p:sp>
      </p:grpSp>
      <p:grpSp>
        <p:nvGrpSpPr>
          <p:cNvPr id="18" name="Recuadro Clínica"/>
          <p:cNvGrpSpPr/>
          <p:nvPr/>
        </p:nvGrpSpPr>
        <p:grpSpPr>
          <a:xfrm>
            <a:off x="8275320" y="960120"/>
            <a:ext cx="3520440" cy="4297680"/>
            <a:chOff x="8275320" y="960120"/>
            <a:chExt cx="3520440" cy="4297680"/>
          </a:xfrm>
        </p:grpSpPr>
        <p:sp>
          <p:nvSpPr>
            <p:cNvPr id="19" name="Forma 20"/>
            <p:cNvSpPr/>
            <p:nvPr/>
          </p:nvSpPr>
          <p:spPr>
            <a:xfrm>
              <a:off x="8275320" y="1143000"/>
              <a:ext cx="3520440" cy="41148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Deficiencia de MCAD</a:t>
              </a:r>
              <a:r>
                <a:rPr lang="es-AR" sz="1650" dirty="0">
                  <a:solidFill>
                    <a:srgbClr val="1E1E1E"/>
                  </a:solidFill>
                  <a:latin typeface="Bahnschrift"/>
                  <a:ea typeface="Bahnschrift"/>
                  <a:cs typeface="Bahnschrift"/>
                  <a:sym typeface="Bahnschrift"/>
                </a:rPr>
                <a:t> y otros defectos de oxidación: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intolerancia al ayuno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hipoglucemia hipocetósica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acilcarnitinas características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descompensación ante enfermedad</a:t>
              </a:r>
              <a:endParaRPr lang="es-AR" sz="1650" dirty="0">
                <a:latin typeface="Bahnschrift"/>
              </a:endParaRPr>
            </a:p>
          </p:txBody>
        </p:sp>
        <p:sp>
          <p:nvSpPr>
            <p:cNvPr id="20" name="Forma 21"/>
            <p:cNvSpPr/>
            <p:nvPr/>
          </p:nvSpPr>
          <p:spPr>
            <a:xfrm>
              <a:off x="8385048" y="96012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sp>
        <p:nvSpPr>
          <p:cNvPr id="21" name="Perla"/>
          <p:cNvSpPr/>
          <p:nvPr/>
        </p:nvSpPr>
        <p:spPr>
          <a:xfrm>
            <a:off x="365760" y="5440680"/>
            <a:ext cx="11430000" cy="10515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Error a evitar: «más AG disponibles garantiza ATP». </a:t>
            </a:r>
            <a:r>
              <a:rPr lang="es-AR" sz="1750" b="1" dirty="0">
                <a:solidFill>
                  <a:srgbClr val="FFFFFF"/>
                </a:solidFill>
                <a:latin typeface="Bahnschrift"/>
                <a:ea typeface="Bahnschrift"/>
                <a:cs typeface="Bahnschrift"/>
                <a:sym typeface="Bahnschrift"/>
              </a:rPr>
              <a:t>Debe funcionar el sistema de oxidación</a:t>
            </a:r>
            <a:r>
              <a:rPr lang="es-AR" sz="1750" dirty="0">
                <a:solidFill>
                  <a:srgbClr val="FFFFFF"/>
                </a:solidFill>
                <a:latin typeface="Bahnschrift"/>
                <a:ea typeface="Bahnschrift"/>
                <a:cs typeface="Bahnschrift"/>
                <a:sym typeface="Bahnschrift"/>
              </a:rPr>
              <a:t>.</a:t>
            </a:r>
            <a:endParaRPr lang="es-AR" sz="17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9499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15 · VARIANTES, REGULACIÓN Y CORRELATO CLÍNICO</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6"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4"/>
                                        </p:tgtEl>
                                        <p:attrNameLst>
                                          <p:attrName>style.visibility</p:attrName>
                                        </p:attrNameLst>
                                      </p:cBhvr>
                                      <p:to>
                                        <p:strVal val="visible"/>
                                      </p:to>
                                    </p:set>
                                    <p:animEffect transition="in" filter="fade">
                                      <p:cBhvr>
                                        <p:cTn id="8" dur="500"/>
                                        <p:tgtEl>
                                          <p:spTgt spid="4"/>
                                        </p:tgtEl>
                                      </p:cBhvr>
                                    </p:animEffect>
                                  </p:childTnLst>
                                </p:cTn>
                              </p:par>
                            </p:childTnLst>
                          </p:cTn>
                        </p:par>
                        <p:par>
                          <p:cTn id="13"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600"/>
                                        <p:tgtEl>
                                          <p:spTgt spid="5"/>
                                        </p:tgtEl>
                                      </p:cBhvr>
                                    </p:animEffect>
                                  </p:childTnLst>
                                </p:cTn>
                              </p:par>
                            </p:childTnLst>
                          </p:cTn>
                        </p:par>
                        <p:par>
                          <p:cTn id="17" fill="hold">
                            <p:stCondLst>
                              <p:cond delay="11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par>
                          <p:cTn id="21" fill="hold">
                            <p:stCondLst>
                              <p:cond delay="1600"/>
                            </p:stCondLst>
                            <p:childTnLst>
                              <p:par>
                                <p:cTn id="18" presetID="22" presetClass="entr" presetSubtype="1" fill="hold" grpId="0"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up)">
                                      <p:cBhvr>
                                        <p:cTn id="20" dur="600"/>
                                        <p:tgtEl>
                                          <p:spTgt spid="9"/>
                                        </p:tgtEl>
                                      </p:cBhvr>
                                    </p:animEffect>
                                  </p:childTnLst>
                                </p:cTn>
                              </p:par>
                            </p:childTnLst>
                          </p:cTn>
                        </p:par>
                        <p:par>
                          <p:cTn id="25" fill="hold">
                            <p:stCondLst>
                              <p:cond delay="2200"/>
                            </p:stCondLst>
                            <p:childTnLst>
                              <p:par>
                                <p:cTn id="22" presetID="10" presetClass="entr" presetSubtype="0" fill="hold" grpId="0"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31"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6"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childTnLst>
                          </p:cTn>
                        </p:par>
                      </p:childTnLst>
                    </p:cTn>
                  </p:par>
                  <p:par>
                    <p:cTn id="41" fill="hold">
                      <p:stCondLst>
                        <p:cond delay="indefinite"/>
                      </p:stCondLst>
                      <p:childTnLst>
                        <p:par>
                          <p:cTn id="40"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6" fill="hold">
                      <p:stCondLst>
                        <p:cond delay="indefinite"/>
                      </p:stCondLst>
                      <p:childTnLst>
                        <p:par>
                          <p:cTn id="45"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4" grpId="0" animBg="1"/>
      <p:bldP spid="8" grpId="0" animBg="1"/>
      <p:bldP spid="12" grpId="0" animBg="1"/>
      <p:bldP spid="14" grpId="0" animBg="1"/>
      <p:bldP spid="21" grpId="0" animBg="1"/>
    </p:bldLst>
  </p:timing>
</p:sld>
</file>

<file path=ppt/slides/slide107.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TAG centro"/>
          <p:cNvSpPr/>
          <p:nvPr/>
        </p:nvSpPr>
        <p:spPr>
          <a:xfrm>
            <a:off x="4206240" y="2377440"/>
            <a:ext cx="3749040" cy="2011680"/>
          </a:xfrm>
          <a:prstGeom prst="roundRect">
            <a:avLst>
              <a:gd name="adj" fmla="val 25000"/>
            </a:avLst>
          </a:prstGeom>
          <a:gradFill rotWithShape="1">
            <a:gsLst>
              <a:gs pos="0">
                <a:srgbClr val="F8E28B"/>
              </a:gs>
              <a:gs pos="55000">
                <a:srgbClr val="F4D03F"/>
              </a:gs>
              <a:gs pos="100000">
                <a:srgbClr val="C3A632"/>
              </a:gs>
            </a:gsLst>
            <a:path path="circle">
              <a:fillToRect l="32000" t="28000" r="68000" b="72000"/>
            </a:path>
          </a:gradFill>
          <a:ln w="2540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TAG</a:t>
            </a:r>
            <a:endParaRPr lang="es-AR" sz="2000" dirty="0">
              <a:latin typeface="Bahnschrift SemiBold Condensed"/>
            </a:endParaRPr>
          </a:p>
          <a:p>
            <a:pPr algn="ctr">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 glicerol-3-P + 3 acil-CoA</a:t>
            </a:r>
            <a:endParaRPr lang="es-AR" sz="2000" dirty="0">
              <a:latin typeface="Bahnschrift SemiBold Condensed"/>
            </a:endParaRPr>
          </a:p>
        </p:txBody>
      </p:sp>
      <p:sp>
        <p:nvSpPr>
          <p:cNvPr id="5" name="Cab G3P"/>
          <p:cNvSpPr/>
          <p:nvPr/>
        </p:nvSpPr>
        <p:spPr>
          <a:xfrm>
            <a:off x="365760" y="1005840"/>
            <a:ext cx="1809694" cy="29527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GLICEROL-3-FOSFATO</a:t>
            </a:r>
            <a:endParaRPr lang="es-AR" sz="1500" dirty="0">
              <a:latin typeface="Bahnschrift SemiBold Condensed"/>
            </a:endParaRPr>
          </a:p>
        </p:txBody>
      </p:sp>
      <p:grpSp>
        <p:nvGrpSpPr>
          <p:cNvPr id="6" name="Fuente G3P 0"/>
          <p:cNvGrpSpPr/>
          <p:nvPr/>
        </p:nvGrpSpPr>
        <p:grpSpPr>
          <a:xfrm>
            <a:off x="365760" y="1554480"/>
            <a:ext cx="3822192" cy="1828800"/>
            <a:chOff x="365760" y="1554480"/>
            <a:chExt cx="3822192" cy="1828800"/>
          </a:xfrm>
        </p:grpSpPr>
        <p:sp>
          <p:nvSpPr>
            <p:cNvPr id="7" name="Forma 6"/>
            <p:cNvSpPr/>
            <p:nvPr/>
          </p:nvSpPr>
          <p:spPr>
            <a:xfrm>
              <a:off x="365760" y="1554480"/>
              <a:ext cx="347472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dirty="0">
                  <a:solidFill>
                    <a:srgbClr val="1E1E1E"/>
                  </a:solidFill>
                  <a:latin typeface="Bahnschrift"/>
                  <a:ea typeface="Bahnschrift"/>
                  <a:cs typeface="Bahnschrift"/>
                  <a:sym typeface="Bahnschrift"/>
                </a:rPr>
                <a:t>DHAP (glucólisis) → G3P DH</a:t>
              </a:r>
              <a:endParaRPr lang="es-AR" sz="1400" dirty="0">
                <a:latin typeface="Bahnschrift"/>
              </a:endParaRPr>
            </a:p>
          </p:txBody>
        </p:sp>
        <p:sp>
          <p:nvSpPr>
            <p:cNvPr id="8" name="Flecha 7_2"/>
            <p:cNvSpPr/>
            <p:nvPr/>
          </p:nvSpPr>
          <p:spPr>
            <a:xfrm>
              <a:off x="3858768" y="2011680"/>
              <a:ext cx="329184" cy="1371600"/>
            </a:xfrm>
            <a:custGeom>
              <a:avLst/>
              <a:gdLst/>
              <a:ahLst/>
              <a:cxnLst/>
              <a:rect l="0" t="0" r="r" b="b"/>
              <a:pathLst>
                <a:path w="360" h="1500" fill="none">
                  <a:moveTo>
                    <a:pt x="0" y="0"/>
                  </a:moveTo>
                  <a:lnTo>
                    <a:pt x="360" y="1500"/>
                  </a:lnTo>
                </a:path>
              </a:pathLst>
            </a:custGeom>
            <a:noFill/>
            <a:ln w="31750" cap="rnd">
              <a:solidFill>
                <a:srgbClr val="1E8C3A"/>
              </a:solidFill>
              <a:round/>
              <a:tailEnd type="triangle" w="med" len="med"/>
            </a:ln>
          </p:spPr>
        </p:sp>
      </p:grpSp>
      <p:grpSp>
        <p:nvGrpSpPr>
          <p:cNvPr id="9" name="Fuente G3P 1"/>
          <p:cNvGrpSpPr/>
          <p:nvPr/>
        </p:nvGrpSpPr>
        <p:grpSpPr>
          <a:xfrm>
            <a:off x="365760" y="2743200"/>
            <a:ext cx="3822192" cy="960120"/>
            <a:chOff x="365760" y="2743200"/>
            <a:chExt cx="3822192" cy="960120"/>
          </a:xfrm>
        </p:grpSpPr>
        <p:sp>
          <p:nvSpPr>
            <p:cNvPr id="10" name="Forma 10"/>
            <p:cNvSpPr/>
            <p:nvPr/>
          </p:nvSpPr>
          <p:spPr>
            <a:xfrm>
              <a:off x="365760" y="2743200"/>
              <a:ext cx="347472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dirty="0">
                  <a:solidFill>
                    <a:srgbClr val="1E1E1E"/>
                  </a:solidFill>
                  <a:latin typeface="Bahnschrift"/>
                  <a:ea typeface="Bahnschrift"/>
                  <a:cs typeface="Bahnschrift"/>
                  <a:sym typeface="Bahnschrift"/>
                </a:rPr>
                <a:t>Glicerol → </a:t>
              </a:r>
              <a:r>
                <a:rPr lang="es-AR" sz="1400" b="1" dirty="0">
                  <a:solidFill>
                    <a:srgbClr val="1E1E1E"/>
                  </a:solidFill>
                  <a:latin typeface="Bahnschrift"/>
                  <a:ea typeface="Bahnschrift"/>
                  <a:cs typeface="Bahnschrift"/>
                  <a:sym typeface="Bahnschrift"/>
                </a:rPr>
                <a:t>glicerol cinasa</a:t>
              </a:r>
              <a:r>
                <a:rPr lang="es-AR" sz="1400" dirty="0">
                  <a:solidFill>
                    <a:srgbClr val="1E1E1E"/>
                  </a:solidFill>
                  <a:latin typeface="Bahnschrift"/>
                  <a:ea typeface="Bahnschrift"/>
                  <a:cs typeface="Bahnschrift"/>
                  <a:sym typeface="Bahnschrift"/>
                </a:rPr>
                <a:t> hepática</a:t>
              </a:r>
              <a:endParaRPr lang="es-AR" sz="1400" dirty="0">
                <a:latin typeface="Bahnschrift"/>
              </a:endParaRPr>
            </a:p>
          </p:txBody>
        </p:sp>
        <p:sp>
          <p:nvSpPr>
            <p:cNvPr id="11" name="Flecha 11_2"/>
            <p:cNvSpPr/>
            <p:nvPr/>
          </p:nvSpPr>
          <p:spPr>
            <a:xfrm>
              <a:off x="3858768" y="3200400"/>
              <a:ext cx="329184" cy="182880"/>
            </a:xfrm>
            <a:custGeom>
              <a:avLst/>
              <a:gdLst/>
              <a:ahLst/>
              <a:cxnLst/>
              <a:rect l="0" t="0" r="r" b="b"/>
              <a:pathLst>
                <a:path w="360" h="200" fill="none">
                  <a:moveTo>
                    <a:pt x="0" y="0"/>
                  </a:moveTo>
                  <a:lnTo>
                    <a:pt x="360" y="200"/>
                  </a:lnTo>
                </a:path>
              </a:pathLst>
            </a:custGeom>
            <a:noFill/>
            <a:ln w="31750" cap="rnd">
              <a:solidFill>
                <a:srgbClr val="1E8C3A"/>
              </a:solidFill>
              <a:round/>
              <a:tailEnd type="triangle" w="med" len="med"/>
            </a:ln>
          </p:spPr>
        </p:sp>
      </p:grpSp>
      <p:grpSp>
        <p:nvGrpSpPr>
          <p:cNvPr id="12" name="Fuente G3P 2"/>
          <p:cNvGrpSpPr/>
          <p:nvPr/>
        </p:nvGrpSpPr>
        <p:grpSpPr>
          <a:xfrm>
            <a:off x="365760" y="3383280"/>
            <a:ext cx="3822192" cy="1508760"/>
            <a:chOff x="365760" y="3383280"/>
            <a:chExt cx="3822192" cy="1508760"/>
          </a:xfrm>
        </p:grpSpPr>
        <p:sp>
          <p:nvSpPr>
            <p:cNvPr id="13" name="Forma 14"/>
            <p:cNvSpPr/>
            <p:nvPr/>
          </p:nvSpPr>
          <p:spPr>
            <a:xfrm>
              <a:off x="365760" y="3931920"/>
              <a:ext cx="347472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dirty="0">
                  <a:solidFill>
                    <a:srgbClr val="1E1E1E"/>
                  </a:solidFill>
                  <a:latin typeface="Bahnschrift"/>
                  <a:ea typeface="Bahnschrift"/>
                  <a:cs typeface="Bahnschrift"/>
                  <a:sym typeface="Bahnschrift"/>
                </a:rPr>
                <a:t>Gliceroneogénesis</a:t>
              </a:r>
              <a:endParaRPr lang="es-AR" sz="1400" dirty="0">
                <a:latin typeface="Bahnschrift"/>
              </a:endParaRPr>
            </a:p>
          </p:txBody>
        </p:sp>
        <p:sp>
          <p:nvSpPr>
            <p:cNvPr id="14" name="Flecha 15_2"/>
            <p:cNvSpPr/>
            <p:nvPr/>
          </p:nvSpPr>
          <p:spPr>
            <a:xfrm>
              <a:off x="3858768" y="3383280"/>
              <a:ext cx="329184" cy="1005840"/>
            </a:xfrm>
            <a:custGeom>
              <a:avLst/>
              <a:gdLst/>
              <a:ahLst/>
              <a:cxnLst/>
              <a:rect l="0" t="0" r="r" b="b"/>
              <a:pathLst>
                <a:path w="360" h="1100" fill="none">
                  <a:moveTo>
                    <a:pt x="0" y="1100"/>
                  </a:moveTo>
                  <a:lnTo>
                    <a:pt x="360" y="0"/>
                  </a:lnTo>
                </a:path>
              </a:pathLst>
            </a:custGeom>
            <a:noFill/>
            <a:ln w="31750" cap="rnd">
              <a:solidFill>
                <a:srgbClr val="1E8C3A"/>
              </a:solidFill>
              <a:round/>
              <a:tailEnd type="triangle" w="med" len="med"/>
            </a:ln>
          </p:spPr>
        </p:sp>
      </p:grpSp>
      <p:sp>
        <p:nvSpPr>
          <p:cNvPr id="15" name="Cab AG"/>
          <p:cNvSpPr/>
          <p:nvPr/>
        </p:nvSpPr>
        <p:spPr>
          <a:xfrm>
            <a:off x="8321040" y="1005840"/>
            <a:ext cx="2199613" cy="29527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ÁCIDOS GRASOS (acil-CoA)</a:t>
            </a:r>
            <a:endParaRPr lang="es-AR" sz="1500" dirty="0">
              <a:latin typeface="Bahnschrift SemiBold Condensed"/>
            </a:endParaRPr>
          </a:p>
        </p:txBody>
      </p:sp>
      <p:grpSp>
        <p:nvGrpSpPr>
          <p:cNvPr id="16" name="Fuente AG 0"/>
          <p:cNvGrpSpPr/>
          <p:nvPr/>
        </p:nvGrpSpPr>
        <p:grpSpPr>
          <a:xfrm>
            <a:off x="7973568" y="1554480"/>
            <a:ext cx="3822192" cy="1828800"/>
            <a:chOff x="7973568" y="1554480"/>
            <a:chExt cx="3822192" cy="1828800"/>
          </a:xfrm>
        </p:grpSpPr>
        <p:sp>
          <p:nvSpPr>
            <p:cNvPr id="17" name="Forma 19"/>
            <p:cNvSpPr/>
            <p:nvPr/>
          </p:nvSpPr>
          <p:spPr>
            <a:xfrm>
              <a:off x="8321040" y="1554480"/>
              <a:ext cx="347472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Lipogénesis de novo</a:t>
              </a:r>
              <a:r>
                <a:rPr lang="es-AR" sz="1400" dirty="0">
                  <a:solidFill>
                    <a:srgbClr val="1E1E1E"/>
                  </a:solidFill>
                  <a:latin typeface="Bahnschrift"/>
                  <a:ea typeface="Bahnschrift"/>
                  <a:cs typeface="Bahnschrift"/>
                  <a:sym typeface="Bahnschrift"/>
                </a:rPr>
                <a:t> (acetil-CoA + NADPH)</a:t>
              </a:r>
              <a:endParaRPr lang="es-AR" sz="1400" dirty="0">
                <a:latin typeface="Bahnschrift"/>
              </a:endParaRPr>
            </a:p>
          </p:txBody>
        </p:sp>
        <p:sp>
          <p:nvSpPr>
            <p:cNvPr id="18" name="Flecha 20_2"/>
            <p:cNvSpPr/>
            <p:nvPr/>
          </p:nvSpPr>
          <p:spPr>
            <a:xfrm>
              <a:off x="7973568" y="1965960"/>
              <a:ext cx="329184" cy="1417320"/>
            </a:xfrm>
            <a:custGeom>
              <a:avLst/>
              <a:gdLst/>
              <a:ahLst/>
              <a:cxnLst/>
              <a:rect l="0" t="0" r="r" b="b"/>
              <a:pathLst>
                <a:path w="359" h="1550" fill="none">
                  <a:moveTo>
                    <a:pt x="359" y="0"/>
                  </a:moveTo>
                  <a:lnTo>
                    <a:pt x="0" y="1550"/>
                  </a:lnTo>
                </a:path>
              </a:pathLst>
            </a:custGeom>
            <a:noFill/>
            <a:ln w="31750" cap="rnd">
              <a:solidFill>
                <a:srgbClr val="1E8C3A"/>
              </a:solidFill>
              <a:round/>
              <a:tailEnd type="triangle" w="med" len="med"/>
            </a:ln>
          </p:spPr>
        </p:sp>
      </p:grpSp>
      <p:grpSp>
        <p:nvGrpSpPr>
          <p:cNvPr id="19" name="Fuente AG 1"/>
          <p:cNvGrpSpPr/>
          <p:nvPr/>
        </p:nvGrpSpPr>
        <p:grpSpPr>
          <a:xfrm>
            <a:off x="7973568" y="2578608"/>
            <a:ext cx="3822192" cy="868680"/>
            <a:chOff x="7973568" y="2578608"/>
            <a:chExt cx="3822192" cy="868680"/>
          </a:xfrm>
        </p:grpSpPr>
        <p:sp>
          <p:nvSpPr>
            <p:cNvPr id="20" name="Forma 23"/>
            <p:cNvSpPr/>
            <p:nvPr/>
          </p:nvSpPr>
          <p:spPr>
            <a:xfrm>
              <a:off x="8321040" y="2578608"/>
              <a:ext cx="347472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AG no esterificados</a:t>
              </a:r>
              <a:r>
                <a:rPr lang="es-AR" sz="1400" dirty="0">
                  <a:solidFill>
                    <a:srgbClr val="1E1E1E"/>
                  </a:solidFill>
                  <a:latin typeface="Bahnschrift"/>
                  <a:ea typeface="Bahnschrift"/>
                  <a:cs typeface="Bahnschrift"/>
                  <a:sym typeface="Bahnschrift"/>
                </a:rPr>
                <a:t> plasmáticos</a:t>
              </a:r>
              <a:endParaRPr lang="es-AR" sz="1400" dirty="0">
                <a:latin typeface="Bahnschrift"/>
              </a:endParaRPr>
            </a:p>
          </p:txBody>
        </p:sp>
        <p:sp>
          <p:nvSpPr>
            <p:cNvPr id="21" name="Flecha 24_2"/>
            <p:cNvSpPr/>
            <p:nvPr/>
          </p:nvSpPr>
          <p:spPr>
            <a:xfrm>
              <a:off x="7973568" y="2990088"/>
              <a:ext cx="329184" cy="393192"/>
            </a:xfrm>
            <a:custGeom>
              <a:avLst/>
              <a:gdLst/>
              <a:ahLst/>
              <a:cxnLst/>
              <a:rect l="0" t="0" r="r" b="b"/>
              <a:pathLst>
                <a:path w="359" h="430" fill="none">
                  <a:moveTo>
                    <a:pt x="359" y="0"/>
                  </a:moveTo>
                  <a:lnTo>
                    <a:pt x="0" y="430"/>
                  </a:lnTo>
                </a:path>
              </a:pathLst>
            </a:custGeom>
            <a:noFill/>
            <a:ln w="31750" cap="rnd">
              <a:solidFill>
                <a:srgbClr val="1E8C3A"/>
              </a:solidFill>
              <a:round/>
              <a:tailEnd type="triangle" w="med" len="med"/>
            </a:ln>
          </p:spPr>
        </p:sp>
      </p:grpSp>
      <p:grpSp>
        <p:nvGrpSpPr>
          <p:cNvPr id="22" name="Fuente AG 2"/>
          <p:cNvGrpSpPr/>
          <p:nvPr/>
        </p:nvGrpSpPr>
        <p:grpSpPr>
          <a:xfrm>
            <a:off x="7973568" y="3383280"/>
            <a:ext cx="3822192" cy="1088136"/>
            <a:chOff x="7973568" y="3383280"/>
            <a:chExt cx="3822192" cy="1088136"/>
          </a:xfrm>
        </p:grpSpPr>
        <p:sp>
          <p:nvSpPr>
            <p:cNvPr id="23" name="Forma 27"/>
            <p:cNvSpPr/>
            <p:nvPr/>
          </p:nvSpPr>
          <p:spPr>
            <a:xfrm>
              <a:off x="8321040" y="3602736"/>
              <a:ext cx="347472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Remanentes</a:t>
              </a:r>
              <a:r>
                <a:rPr lang="es-AR" sz="1400" dirty="0">
                  <a:solidFill>
                    <a:srgbClr val="1E1E1E"/>
                  </a:solidFill>
                  <a:latin typeface="Bahnschrift"/>
                  <a:ea typeface="Bahnschrift"/>
                  <a:cs typeface="Bahnschrift"/>
                  <a:sym typeface="Bahnschrift"/>
                </a:rPr>
                <a:t> lipoproteicos</a:t>
              </a:r>
              <a:endParaRPr lang="es-AR" sz="1400" dirty="0">
                <a:latin typeface="Bahnschrift"/>
              </a:endParaRPr>
            </a:p>
          </p:txBody>
        </p:sp>
        <p:sp>
          <p:nvSpPr>
            <p:cNvPr id="24" name="Flecha 28_2"/>
            <p:cNvSpPr/>
            <p:nvPr/>
          </p:nvSpPr>
          <p:spPr>
            <a:xfrm>
              <a:off x="7973568" y="3383280"/>
              <a:ext cx="329184" cy="630936"/>
            </a:xfrm>
            <a:custGeom>
              <a:avLst/>
              <a:gdLst/>
              <a:ahLst/>
              <a:cxnLst/>
              <a:rect l="0" t="0" r="r" b="b"/>
              <a:pathLst>
                <a:path w="359" h="690" fill="none">
                  <a:moveTo>
                    <a:pt x="359" y="690"/>
                  </a:moveTo>
                  <a:lnTo>
                    <a:pt x="0" y="0"/>
                  </a:lnTo>
                </a:path>
              </a:pathLst>
            </a:custGeom>
            <a:noFill/>
            <a:ln w="31750" cap="rnd">
              <a:solidFill>
                <a:srgbClr val="1E8C3A"/>
              </a:solidFill>
              <a:round/>
              <a:tailEnd type="triangle" w="med" len="med"/>
            </a:ln>
          </p:spPr>
        </p:sp>
      </p:grpSp>
      <p:grpSp>
        <p:nvGrpSpPr>
          <p:cNvPr id="25" name="Fuente AG 3"/>
          <p:cNvGrpSpPr/>
          <p:nvPr/>
        </p:nvGrpSpPr>
        <p:grpSpPr>
          <a:xfrm>
            <a:off x="7973568" y="3383280"/>
            <a:ext cx="3822192" cy="2112264"/>
            <a:chOff x="7973568" y="3383280"/>
            <a:chExt cx="3822192" cy="2112264"/>
          </a:xfrm>
        </p:grpSpPr>
        <p:sp>
          <p:nvSpPr>
            <p:cNvPr id="26" name="Forma 31"/>
            <p:cNvSpPr/>
            <p:nvPr/>
          </p:nvSpPr>
          <p:spPr>
            <a:xfrm>
              <a:off x="8321040" y="4626864"/>
              <a:ext cx="347472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Recambio</a:t>
              </a:r>
              <a:r>
                <a:rPr lang="es-AR" sz="1400" dirty="0">
                  <a:solidFill>
                    <a:srgbClr val="1E1E1E"/>
                  </a:solidFill>
                  <a:latin typeface="Bahnschrift"/>
                  <a:ea typeface="Bahnschrift"/>
                  <a:cs typeface="Bahnschrift"/>
                  <a:sym typeface="Bahnschrift"/>
                </a:rPr>
                <a:t> lipídico intracelular</a:t>
              </a:r>
              <a:endParaRPr lang="es-AR" sz="1400" dirty="0">
                <a:latin typeface="Bahnschrift"/>
              </a:endParaRPr>
            </a:p>
          </p:txBody>
        </p:sp>
        <p:sp>
          <p:nvSpPr>
            <p:cNvPr id="27" name="Flecha 32_2"/>
            <p:cNvSpPr/>
            <p:nvPr/>
          </p:nvSpPr>
          <p:spPr>
            <a:xfrm>
              <a:off x="7973568" y="3383280"/>
              <a:ext cx="329184" cy="1655064"/>
            </a:xfrm>
            <a:custGeom>
              <a:avLst/>
              <a:gdLst/>
              <a:ahLst/>
              <a:cxnLst/>
              <a:rect l="0" t="0" r="r" b="b"/>
              <a:pathLst>
                <a:path w="359" h="1809" fill="none">
                  <a:moveTo>
                    <a:pt x="359" y="1809"/>
                  </a:moveTo>
                  <a:lnTo>
                    <a:pt x="0" y="0"/>
                  </a:lnTo>
                </a:path>
              </a:pathLst>
            </a:custGeom>
            <a:noFill/>
            <a:ln w="31750" cap="rnd">
              <a:solidFill>
                <a:srgbClr val="1E8C3A"/>
              </a:solidFill>
              <a:round/>
              <a:tailEnd type="triangle" w="med" len="med"/>
            </a:ln>
          </p:spPr>
        </p:sp>
      </p:grpSp>
      <p:sp>
        <p:nvSpPr>
          <p:cNvPr id="28" name="Forma 34"/>
          <p:cNvSpPr/>
          <p:nvPr/>
        </p:nvSpPr>
        <p:spPr>
          <a:xfrm>
            <a:off x="365760" y="5623560"/>
            <a:ext cx="11430000" cy="868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origen de cada pieza </a:t>
            </a:r>
            <a:r>
              <a:rPr lang="es-AR" sz="1700" b="1" dirty="0">
                <a:solidFill>
                  <a:srgbClr val="1E1E1E"/>
                </a:solidFill>
                <a:latin typeface="Bahnschrift"/>
                <a:ea typeface="Bahnschrift"/>
                <a:cs typeface="Bahnschrift"/>
                <a:sym typeface="Bahnschrift"/>
              </a:rPr>
              <a:t>cambia con el estado nutricional</a:t>
            </a:r>
            <a:r>
              <a:rPr lang="es-AR" sz="1700" dirty="0">
                <a:solidFill>
                  <a:srgbClr val="1E1E1E"/>
                </a:solidFill>
                <a:latin typeface="Bahnschrift"/>
                <a:ea typeface="Bahnschrift"/>
                <a:cs typeface="Bahnschrift"/>
                <a:sym typeface="Bahnschrift"/>
              </a:rPr>
              <a:t>: en saciedad predomina la DNL; en ayuno, los AG del adiposo.</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712332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16 · TAG HEPÁTICOS: ¿DE DÓNDE VIENEN SUS PIEZAS?</a:t>
            </a:r>
            <a:endParaRPr lang="es-AR" sz="2600" dirty="0">
              <a:latin typeface="Bahnschrift SemiBold Condensed"/>
            </a:endParaRPr>
          </a:p>
        </p:txBody>
      </p:sp>
      <p:sp>
        <p:nvSpPr>
          <p:cNvPr id="2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
                                        </p:tgtEl>
                                        <p:attrNameLst>
                                          <p:attrName>style.visibility</p:attrName>
                                        </p:attrNameLst>
                                      </p:cBhvr>
                                      <p:to>
                                        <p:strVal val="visible"/>
                                      </p:to>
                                    </p:set>
                                    <p:animEffect transition="in" filter="fade">
                                      <p:cBhvr>
                                        <p:cTn id="5" dur="500"/>
                                        <p:tgtEl>
                                          <p:spTgt spid="6"/>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108.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Esterificación Glicerol-3-P"/>
          <p:cNvSpPr/>
          <p:nvPr/>
        </p:nvSpPr>
        <p:spPr>
          <a:xfrm>
            <a:off x="457200" y="1097280"/>
            <a:ext cx="2468880" cy="45720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Glicerol-3-P</a:t>
            </a:r>
            <a:endParaRPr lang="es-AR" sz="1400" dirty="0">
              <a:latin typeface="Bahnschrift SemiBold Condensed"/>
            </a:endParaRPr>
          </a:p>
        </p:txBody>
      </p:sp>
      <p:grpSp>
        <p:nvGrpSpPr>
          <p:cNvPr id="5" name="Esterificación paso 1"/>
          <p:cNvGrpSpPr/>
          <p:nvPr/>
        </p:nvGrpSpPr>
        <p:grpSpPr>
          <a:xfrm>
            <a:off x="1691640" y="1581912"/>
            <a:ext cx="1341204" cy="402336"/>
            <a:chOff x="1691640" y="1581912"/>
            <a:chExt cx="1341204" cy="402336"/>
          </a:xfrm>
        </p:grpSpPr>
        <p:sp>
          <p:nvSpPr>
            <p:cNvPr id="6" name="Flecha 5_2"/>
            <p:cNvSpPr/>
            <p:nvPr/>
          </p:nvSpPr>
          <p:spPr>
            <a:xfrm>
              <a:off x="1691640" y="1581912"/>
              <a:ext cx="9144" cy="402336"/>
            </a:xfrm>
            <a:custGeom>
              <a:avLst/>
              <a:gdLst/>
              <a:ahLst/>
              <a:cxnLst/>
              <a:rect l="0" t="0" r="r" b="b"/>
              <a:pathLst>
                <a:path w="10" h="440" fill="none">
                  <a:moveTo>
                    <a:pt x="0" y="0"/>
                  </a:moveTo>
                  <a:lnTo>
                    <a:pt x="0" y="440"/>
                  </a:lnTo>
                </a:path>
              </a:pathLst>
            </a:custGeom>
            <a:noFill/>
            <a:ln w="44450" cap="rnd">
              <a:solidFill>
                <a:srgbClr val="1E1E1E"/>
              </a:solidFill>
              <a:round/>
              <a:tailEnd type="triangle" w="med" len="med"/>
            </a:ln>
          </p:spPr>
        </p:sp>
        <p:sp>
          <p:nvSpPr>
            <p:cNvPr id="7" name="Enzima GPAT (+ acil-CoA)"/>
            <p:cNvSpPr/>
            <p:nvPr/>
          </p:nvSpPr>
          <p:spPr>
            <a:xfrm>
              <a:off x="1801368" y="1636776"/>
              <a:ext cx="123147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GPAT (+ acil-CoA)</a:t>
              </a:r>
              <a:endParaRPr lang="es-AR" sz="1150" dirty="0">
                <a:latin typeface="Bahnschrift SemiBold Condensed"/>
              </a:endParaRPr>
            </a:p>
          </p:txBody>
        </p:sp>
      </p:grpSp>
      <p:sp>
        <p:nvSpPr>
          <p:cNvPr id="8" name="Esterificación Ácido lisofosfatíd"/>
          <p:cNvSpPr/>
          <p:nvPr/>
        </p:nvSpPr>
        <p:spPr>
          <a:xfrm>
            <a:off x="457200" y="2011680"/>
            <a:ext cx="246888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Ácido lisofosfatídico</a:t>
            </a:r>
            <a:endParaRPr lang="es-AR" sz="1400" dirty="0">
              <a:latin typeface="Bahnschrift SemiBold Condensed"/>
            </a:endParaRPr>
          </a:p>
        </p:txBody>
      </p:sp>
      <p:grpSp>
        <p:nvGrpSpPr>
          <p:cNvPr id="9" name="Esterificación paso 2"/>
          <p:cNvGrpSpPr/>
          <p:nvPr/>
        </p:nvGrpSpPr>
        <p:grpSpPr>
          <a:xfrm>
            <a:off x="1691640" y="2496312"/>
            <a:ext cx="1417302" cy="402336"/>
            <a:chOff x="1691640" y="2496312"/>
            <a:chExt cx="1417302" cy="402336"/>
          </a:xfrm>
        </p:grpSpPr>
        <p:sp>
          <p:nvSpPr>
            <p:cNvPr id="10" name="Flecha 10_2"/>
            <p:cNvSpPr/>
            <p:nvPr/>
          </p:nvSpPr>
          <p:spPr>
            <a:xfrm>
              <a:off x="1691640" y="2496312"/>
              <a:ext cx="9144" cy="402336"/>
            </a:xfrm>
            <a:custGeom>
              <a:avLst/>
              <a:gdLst/>
              <a:ahLst/>
              <a:cxnLst/>
              <a:rect l="0" t="0" r="r" b="b"/>
              <a:pathLst>
                <a:path w="10" h="440" fill="none">
                  <a:moveTo>
                    <a:pt x="0" y="0"/>
                  </a:moveTo>
                  <a:lnTo>
                    <a:pt x="0" y="440"/>
                  </a:lnTo>
                </a:path>
              </a:pathLst>
            </a:custGeom>
            <a:noFill/>
            <a:ln w="44450" cap="rnd">
              <a:solidFill>
                <a:srgbClr val="1E1E1E"/>
              </a:solidFill>
              <a:round/>
              <a:tailEnd type="triangle" w="med" len="med"/>
            </a:ln>
          </p:spPr>
        </p:sp>
        <p:sp>
          <p:nvSpPr>
            <p:cNvPr id="11" name="Enzima AGPAT (+ acil-CoA)"/>
            <p:cNvSpPr/>
            <p:nvPr/>
          </p:nvSpPr>
          <p:spPr>
            <a:xfrm>
              <a:off x="1801368" y="2551176"/>
              <a:ext cx="1307574"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AGPAT (+ acil-CoA)</a:t>
              </a:r>
              <a:endParaRPr lang="es-AR" sz="1150" dirty="0">
                <a:latin typeface="Bahnschrift SemiBold Condensed"/>
              </a:endParaRPr>
            </a:p>
          </p:txBody>
        </p:sp>
      </p:grpSp>
      <p:sp>
        <p:nvSpPr>
          <p:cNvPr id="12" name="Esterificación Ácido fosfatídico"/>
          <p:cNvSpPr/>
          <p:nvPr/>
        </p:nvSpPr>
        <p:spPr>
          <a:xfrm>
            <a:off x="457200" y="2926080"/>
            <a:ext cx="246888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Ácido fosfatídico</a:t>
            </a:r>
            <a:endParaRPr lang="es-AR" sz="1400" dirty="0">
              <a:latin typeface="Bahnschrift SemiBold Condensed"/>
            </a:endParaRPr>
          </a:p>
        </p:txBody>
      </p:sp>
      <p:grpSp>
        <p:nvGrpSpPr>
          <p:cNvPr id="13" name="Esterificación paso 3"/>
          <p:cNvGrpSpPr/>
          <p:nvPr/>
        </p:nvGrpSpPr>
        <p:grpSpPr>
          <a:xfrm>
            <a:off x="1691640" y="3410712"/>
            <a:ext cx="2055900" cy="402336"/>
            <a:chOff x="1691640" y="3410712"/>
            <a:chExt cx="2055900" cy="402336"/>
          </a:xfrm>
        </p:grpSpPr>
        <p:sp>
          <p:nvSpPr>
            <p:cNvPr id="14" name="Flecha 15_2"/>
            <p:cNvSpPr/>
            <p:nvPr/>
          </p:nvSpPr>
          <p:spPr>
            <a:xfrm>
              <a:off x="1691640" y="3410712"/>
              <a:ext cx="9144" cy="402336"/>
            </a:xfrm>
            <a:custGeom>
              <a:avLst/>
              <a:gdLst/>
              <a:ahLst/>
              <a:cxnLst/>
              <a:rect l="0" t="0" r="r" b="b"/>
              <a:pathLst>
                <a:path w="10" h="439" fill="none">
                  <a:moveTo>
                    <a:pt x="0" y="0"/>
                  </a:moveTo>
                  <a:lnTo>
                    <a:pt x="0" y="439"/>
                  </a:lnTo>
                </a:path>
              </a:pathLst>
            </a:custGeom>
            <a:noFill/>
            <a:ln w="44450" cap="rnd">
              <a:solidFill>
                <a:srgbClr val="1E1E1E"/>
              </a:solidFill>
              <a:round/>
              <a:tailEnd type="triangle" w="med" len="med"/>
            </a:ln>
          </p:spPr>
        </p:sp>
        <p:sp>
          <p:nvSpPr>
            <p:cNvPr id="15" name="Enzima Lipina (fosfatidato "/>
            <p:cNvSpPr/>
            <p:nvPr/>
          </p:nvSpPr>
          <p:spPr>
            <a:xfrm>
              <a:off x="1801368" y="3465576"/>
              <a:ext cx="194617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Lipina (fosfatidato fosfatasa)</a:t>
              </a:r>
              <a:endParaRPr lang="es-AR" sz="1150" dirty="0">
                <a:latin typeface="Bahnschrift SemiBold Condensed"/>
              </a:endParaRPr>
            </a:p>
          </p:txBody>
        </p:sp>
      </p:grpSp>
      <p:sp>
        <p:nvSpPr>
          <p:cNvPr id="16" name="Esterificación DAG"/>
          <p:cNvSpPr/>
          <p:nvPr/>
        </p:nvSpPr>
        <p:spPr>
          <a:xfrm>
            <a:off x="457200" y="3840480"/>
            <a:ext cx="246888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DAG</a:t>
            </a:r>
            <a:endParaRPr lang="es-AR" sz="1400" dirty="0">
              <a:latin typeface="Bahnschrift SemiBold Condensed"/>
            </a:endParaRPr>
          </a:p>
        </p:txBody>
      </p:sp>
      <p:grpSp>
        <p:nvGrpSpPr>
          <p:cNvPr id="17" name="Esterificación paso 4"/>
          <p:cNvGrpSpPr/>
          <p:nvPr/>
        </p:nvGrpSpPr>
        <p:grpSpPr>
          <a:xfrm>
            <a:off x="1691640" y="4325112"/>
            <a:ext cx="1531853" cy="402336"/>
            <a:chOff x="1691640" y="4325112"/>
            <a:chExt cx="1531853" cy="402336"/>
          </a:xfrm>
        </p:grpSpPr>
        <p:sp>
          <p:nvSpPr>
            <p:cNvPr id="18" name="Flecha 20_2"/>
            <p:cNvSpPr/>
            <p:nvPr/>
          </p:nvSpPr>
          <p:spPr>
            <a:xfrm>
              <a:off x="1691640" y="4325112"/>
              <a:ext cx="9144" cy="402336"/>
            </a:xfrm>
            <a:custGeom>
              <a:avLst/>
              <a:gdLst/>
              <a:ahLst/>
              <a:cxnLst/>
              <a:rect l="0" t="0" r="r" b="b"/>
              <a:pathLst>
                <a:path w="10" h="439" fill="none">
                  <a:moveTo>
                    <a:pt x="0" y="0"/>
                  </a:moveTo>
                  <a:lnTo>
                    <a:pt x="0" y="439"/>
                  </a:lnTo>
                </a:path>
              </a:pathLst>
            </a:custGeom>
            <a:noFill/>
            <a:ln w="44450" cap="rnd">
              <a:solidFill>
                <a:srgbClr val="1E1E1E"/>
              </a:solidFill>
              <a:round/>
              <a:tailEnd type="triangle" w="med" len="med"/>
            </a:ln>
          </p:spPr>
        </p:sp>
        <p:sp>
          <p:nvSpPr>
            <p:cNvPr id="19" name="Enzima DGAT1/2 (+ acil-CoA)"/>
            <p:cNvSpPr/>
            <p:nvPr/>
          </p:nvSpPr>
          <p:spPr>
            <a:xfrm>
              <a:off x="1801368" y="4379976"/>
              <a:ext cx="142212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DGAT1/2 (+ acil-CoA)</a:t>
              </a:r>
              <a:endParaRPr lang="es-AR" sz="1150" dirty="0">
                <a:latin typeface="Bahnschrift SemiBold Condensed"/>
              </a:endParaRPr>
            </a:p>
          </p:txBody>
        </p:sp>
      </p:grpSp>
      <p:sp>
        <p:nvSpPr>
          <p:cNvPr id="20" name="Esterificación TAG"/>
          <p:cNvSpPr/>
          <p:nvPr/>
        </p:nvSpPr>
        <p:spPr>
          <a:xfrm>
            <a:off x="457200" y="4754880"/>
            <a:ext cx="2468880" cy="45720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TAG</a:t>
            </a:r>
            <a:endParaRPr lang="es-AR" sz="1400" dirty="0">
              <a:latin typeface="Bahnschrift SemiBold Condensed"/>
            </a:endParaRPr>
          </a:p>
        </p:txBody>
      </p:sp>
      <p:grpSp>
        <p:nvGrpSpPr>
          <p:cNvPr id="21" name="RE"/>
          <p:cNvGrpSpPr/>
          <p:nvPr/>
        </p:nvGrpSpPr>
        <p:grpSpPr>
          <a:xfrm>
            <a:off x="5394960" y="1157021"/>
            <a:ext cx="2377440" cy="1149096"/>
            <a:chOff x="5394960" y="1157021"/>
            <a:chExt cx="2377440" cy="1149096"/>
          </a:xfrm>
        </p:grpSpPr>
        <p:sp>
          <p:nvSpPr>
            <p:cNvPr id="22" name="Forma 25"/>
            <p:cNvSpPr/>
            <p:nvPr/>
          </p:nvSpPr>
          <p:spPr>
            <a:xfrm>
              <a:off x="5394960" y="1188720"/>
              <a:ext cx="2377440" cy="2971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23" name="Forma 26"/>
            <p:cNvSpPr/>
            <p:nvPr/>
          </p:nvSpPr>
          <p:spPr>
            <a:xfrm>
              <a:off x="5394960" y="1157021"/>
              <a:ext cx="2377440" cy="35661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24" name="Forma 27"/>
            <p:cNvSpPr/>
            <p:nvPr/>
          </p:nvSpPr>
          <p:spPr>
            <a:xfrm>
              <a:off x="5394960" y="1584960"/>
              <a:ext cx="2377440" cy="2971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25" name="Forma 28"/>
            <p:cNvSpPr/>
            <p:nvPr/>
          </p:nvSpPr>
          <p:spPr>
            <a:xfrm>
              <a:off x="5394960" y="1553261"/>
              <a:ext cx="2377440" cy="35661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sp>
          <p:nvSpPr>
            <p:cNvPr id="26" name="Forma 29"/>
            <p:cNvSpPr/>
            <p:nvPr/>
          </p:nvSpPr>
          <p:spPr>
            <a:xfrm>
              <a:off x="5394960" y="1981200"/>
              <a:ext cx="2377440" cy="297180"/>
            </a:xfrm>
            <a:custGeom>
              <a:avLst/>
              <a:gdLst/>
              <a:ahLst/>
              <a:cxnLst/>
              <a:rect l="0" t="0" r="r" b="b"/>
              <a:pathLst>
                <a:path w="1000" h="1000">
                  <a:moveTo>
                    <a:pt x="0" y="300"/>
                  </a:moveTo>
                  <a:cubicBezTo>
                    <a:pt x="20" y="241"/>
                    <a:pt x="208" y="0"/>
                    <a:pt x="250" y="0"/>
                  </a:cubicBezTo>
                  <a:cubicBezTo>
                    <a:pt x="291" y="0"/>
                    <a:pt x="458" y="300"/>
                    <a:pt x="500" y="300"/>
                  </a:cubicBezTo>
                  <a:cubicBezTo>
                    <a:pt x="541" y="300"/>
                    <a:pt x="708" y="0"/>
                    <a:pt x="750" y="0"/>
                  </a:cubicBezTo>
                  <a:cubicBezTo>
                    <a:pt x="791" y="0"/>
                    <a:pt x="979" y="241"/>
                    <a:pt x="1000" y="300"/>
                  </a:cubicBezTo>
                  <a:cubicBezTo>
                    <a:pt x="1020" y="358"/>
                    <a:pt x="1020" y="641"/>
                    <a:pt x="1000" y="700"/>
                  </a:cubicBezTo>
                  <a:cubicBezTo>
                    <a:pt x="979" y="758"/>
                    <a:pt x="791" y="1000"/>
                    <a:pt x="750" y="1000"/>
                  </a:cubicBezTo>
                  <a:cubicBezTo>
                    <a:pt x="708" y="1000"/>
                    <a:pt x="541" y="700"/>
                    <a:pt x="500" y="700"/>
                  </a:cubicBezTo>
                  <a:cubicBezTo>
                    <a:pt x="458" y="700"/>
                    <a:pt x="291" y="1000"/>
                    <a:pt x="250" y="1000"/>
                  </a:cubicBezTo>
                  <a:cubicBezTo>
                    <a:pt x="208" y="1000"/>
                    <a:pt x="20" y="758"/>
                    <a:pt x="0" y="700"/>
                  </a:cubicBezTo>
                  <a:cubicBezTo>
                    <a:pt x="-20" y="641"/>
                    <a:pt x="-20" y="358"/>
                    <a:pt x="0" y="300"/>
                  </a:cubicBezTo>
                  <a:close/>
                </a:path>
              </a:pathLst>
            </a:custGeom>
            <a:solidFill>
              <a:srgbClr val="D8BEE2"/>
            </a:solidFill>
            <a:ln w="9525" cap="rnd">
              <a:solidFill>
                <a:srgbClr val="7E6489"/>
              </a:solidFill>
              <a:round/>
            </a:ln>
          </p:spPr>
        </p:sp>
        <p:sp>
          <p:nvSpPr>
            <p:cNvPr id="27" name="Forma 30"/>
            <p:cNvSpPr/>
            <p:nvPr/>
          </p:nvSpPr>
          <p:spPr>
            <a:xfrm>
              <a:off x="5394960" y="1949501"/>
              <a:ext cx="2377440" cy="356616"/>
            </a:xfrm>
            <a:custGeom>
              <a:avLst/>
              <a:gdLst/>
              <a:ahLst/>
              <a:cxnLst/>
              <a:rect l="0" t="0" r="r" b="b"/>
              <a:pathLst>
                <a:path w="1000" h="1000">
                  <a:moveTo>
                    <a:pt x="105" y="880"/>
                  </a:moveTo>
                  <a:cubicBezTo>
                    <a:pt x="105" y="904"/>
                    <a:pt x="84" y="925"/>
                    <a:pt x="60" y="925"/>
                  </a:cubicBezTo>
                  <a:cubicBezTo>
                    <a:pt x="35" y="925"/>
                    <a:pt x="15" y="904"/>
                    <a:pt x="15" y="880"/>
                  </a:cubicBezTo>
                  <a:cubicBezTo>
                    <a:pt x="15" y="855"/>
                    <a:pt x="35" y="835"/>
                    <a:pt x="60" y="835"/>
                  </a:cubicBezTo>
                  <a:cubicBezTo>
                    <a:pt x="84" y="835"/>
                    <a:pt x="105" y="855"/>
                    <a:pt x="105" y="880"/>
                  </a:cubicBezTo>
                  <a:close/>
                  <a:moveTo>
                    <a:pt x="185" y="120"/>
                  </a:moveTo>
                  <a:cubicBezTo>
                    <a:pt x="185" y="144"/>
                    <a:pt x="164" y="165"/>
                    <a:pt x="140" y="165"/>
                  </a:cubicBezTo>
                  <a:cubicBezTo>
                    <a:pt x="115" y="165"/>
                    <a:pt x="95" y="144"/>
                    <a:pt x="95" y="120"/>
                  </a:cubicBezTo>
                  <a:cubicBezTo>
                    <a:pt x="95" y="95"/>
                    <a:pt x="115" y="75"/>
                    <a:pt x="140" y="75"/>
                  </a:cubicBezTo>
                  <a:cubicBezTo>
                    <a:pt x="164" y="75"/>
                    <a:pt x="185" y="95"/>
                    <a:pt x="185" y="120"/>
                  </a:cubicBezTo>
                  <a:close/>
                  <a:moveTo>
                    <a:pt x="265" y="880"/>
                  </a:moveTo>
                  <a:cubicBezTo>
                    <a:pt x="265" y="904"/>
                    <a:pt x="244" y="925"/>
                    <a:pt x="220" y="925"/>
                  </a:cubicBezTo>
                  <a:cubicBezTo>
                    <a:pt x="195" y="925"/>
                    <a:pt x="175" y="904"/>
                    <a:pt x="175" y="880"/>
                  </a:cubicBezTo>
                  <a:cubicBezTo>
                    <a:pt x="175" y="855"/>
                    <a:pt x="195" y="835"/>
                    <a:pt x="220" y="835"/>
                  </a:cubicBezTo>
                  <a:cubicBezTo>
                    <a:pt x="244" y="835"/>
                    <a:pt x="265" y="855"/>
                    <a:pt x="265" y="880"/>
                  </a:cubicBezTo>
                  <a:close/>
                  <a:moveTo>
                    <a:pt x="345" y="120"/>
                  </a:moveTo>
                  <a:cubicBezTo>
                    <a:pt x="345" y="144"/>
                    <a:pt x="324" y="165"/>
                    <a:pt x="300" y="165"/>
                  </a:cubicBezTo>
                  <a:cubicBezTo>
                    <a:pt x="275" y="165"/>
                    <a:pt x="255" y="144"/>
                    <a:pt x="255" y="120"/>
                  </a:cubicBezTo>
                  <a:cubicBezTo>
                    <a:pt x="255" y="95"/>
                    <a:pt x="275" y="75"/>
                    <a:pt x="300" y="75"/>
                  </a:cubicBezTo>
                  <a:cubicBezTo>
                    <a:pt x="324" y="75"/>
                    <a:pt x="345" y="95"/>
                    <a:pt x="345" y="120"/>
                  </a:cubicBezTo>
                  <a:close/>
                  <a:moveTo>
                    <a:pt x="425" y="880"/>
                  </a:moveTo>
                  <a:cubicBezTo>
                    <a:pt x="425" y="904"/>
                    <a:pt x="404" y="925"/>
                    <a:pt x="380" y="925"/>
                  </a:cubicBezTo>
                  <a:cubicBezTo>
                    <a:pt x="355" y="925"/>
                    <a:pt x="335" y="904"/>
                    <a:pt x="335" y="880"/>
                  </a:cubicBezTo>
                  <a:cubicBezTo>
                    <a:pt x="335" y="855"/>
                    <a:pt x="355" y="835"/>
                    <a:pt x="380" y="835"/>
                  </a:cubicBezTo>
                  <a:cubicBezTo>
                    <a:pt x="404" y="835"/>
                    <a:pt x="425" y="855"/>
                    <a:pt x="425" y="880"/>
                  </a:cubicBezTo>
                  <a:close/>
                  <a:moveTo>
                    <a:pt x="505" y="120"/>
                  </a:moveTo>
                  <a:cubicBezTo>
                    <a:pt x="505" y="144"/>
                    <a:pt x="484" y="165"/>
                    <a:pt x="460" y="165"/>
                  </a:cubicBezTo>
                  <a:cubicBezTo>
                    <a:pt x="435" y="165"/>
                    <a:pt x="415" y="144"/>
                    <a:pt x="415" y="120"/>
                  </a:cubicBezTo>
                  <a:cubicBezTo>
                    <a:pt x="415" y="95"/>
                    <a:pt x="435" y="75"/>
                    <a:pt x="460" y="75"/>
                  </a:cubicBezTo>
                  <a:cubicBezTo>
                    <a:pt x="484" y="75"/>
                    <a:pt x="505" y="95"/>
                    <a:pt x="505" y="120"/>
                  </a:cubicBezTo>
                  <a:close/>
                  <a:moveTo>
                    <a:pt x="585" y="880"/>
                  </a:moveTo>
                  <a:cubicBezTo>
                    <a:pt x="585" y="904"/>
                    <a:pt x="564" y="925"/>
                    <a:pt x="540" y="925"/>
                  </a:cubicBezTo>
                  <a:cubicBezTo>
                    <a:pt x="515" y="925"/>
                    <a:pt x="495" y="904"/>
                    <a:pt x="495" y="880"/>
                  </a:cubicBezTo>
                  <a:cubicBezTo>
                    <a:pt x="495" y="855"/>
                    <a:pt x="515" y="835"/>
                    <a:pt x="540" y="835"/>
                  </a:cubicBezTo>
                  <a:cubicBezTo>
                    <a:pt x="564" y="835"/>
                    <a:pt x="585" y="855"/>
                    <a:pt x="585" y="880"/>
                  </a:cubicBezTo>
                  <a:close/>
                  <a:moveTo>
                    <a:pt x="665" y="120"/>
                  </a:moveTo>
                  <a:cubicBezTo>
                    <a:pt x="665" y="144"/>
                    <a:pt x="644" y="165"/>
                    <a:pt x="620" y="165"/>
                  </a:cubicBezTo>
                  <a:cubicBezTo>
                    <a:pt x="595" y="165"/>
                    <a:pt x="575" y="144"/>
                    <a:pt x="575" y="120"/>
                  </a:cubicBezTo>
                  <a:cubicBezTo>
                    <a:pt x="575" y="95"/>
                    <a:pt x="595" y="75"/>
                    <a:pt x="620" y="75"/>
                  </a:cubicBezTo>
                  <a:cubicBezTo>
                    <a:pt x="644" y="75"/>
                    <a:pt x="665" y="95"/>
                    <a:pt x="665" y="120"/>
                  </a:cubicBezTo>
                  <a:close/>
                  <a:moveTo>
                    <a:pt x="745" y="880"/>
                  </a:moveTo>
                  <a:cubicBezTo>
                    <a:pt x="745" y="904"/>
                    <a:pt x="724" y="925"/>
                    <a:pt x="700" y="925"/>
                  </a:cubicBezTo>
                  <a:cubicBezTo>
                    <a:pt x="675" y="925"/>
                    <a:pt x="655" y="904"/>
                    <a:pt x="655" y="880"/>
                  </a:cubicBezTo>
                  <a:cubicBezTo>
                    <a:pt x="655" y="855"/>
                    <a:pt x="675" y="835"/>
                    <a:pt x="700" y="835"/>
                  </a:cubicBezTo>
                  <a:cubicBezTo>
                    <a:pt x="724" y="835"/>
                    <a:pt x="745" y="855"/>
                    <a:pt x="745" y="880"/>
                  </a:cubicBezTo>
                  <a:close/>
                  <a:moveTo>
                    <a:pt x="825" y="120"/>
                  </a:moveTo>
                  <a:cubicBezTo>
                    <a:pt x="825" y="144"/>
                    <a:pt x="804" y="165"/>
                    <a:pt x="780" y="165"/>
                  </a:cubicBezTo>
                  <a:cubicBezTo>
                    <a:pt x="755" y="165"/>
                    <a:pt x="735" y="144"/>
                    <a:pt x="735" y="120"/>
                  </a:cubicBezTo>
                  <a:cubicBezTo>
                    <a:pt x="735" y="95"/>
                    <a:pt x="755" y="75"/>
                    <a:pt x="780" y="75"/>
                  </a:cubicBezTo>
                  <a:cubicBezTo>
                    <a:pt x="804" y="75"/>
                    <a:pt x="825" y="95"/>
                    <a:pt x="825" y="120"/>
                  </a:cubicBezTo>
                  <a:close/>
                  <a:moveTo>
                    <a:pt x="905" y="880"/>
                  </a:moveTo>
                  <a:cubicBezTo>
                    <a:pt x="905" y="904"/>
                    <a:pt x="884" y="925"/>
                    <a:pt x="860" y="925"/>
                  </a:cubicBezTo>
                  <a:cubicBezTo>
                    <a:pt x="835" y="925"/>
                    <a:pt x="815" y="904"/>
                    <a:pt x="815" y="880"/>
                  </a:cubicBezTo>
                  <a:cubicBezTo>
                    <a:pt x="815" y="855"/>
                    <a:pt x="835" y="835"/>
                    <a:pt x="860" y="835"/>
                  </a:cubicBezTo>
                  <a:cubicBezTo>
                    <a:pt x="884" y="835"/>
                    <a:pt x="905" y="855"/>
                    <a:pt x="905" y="880"/>
                  </a:cubicBezTo>
                  <a:close/>
                  <a:moveTo>
                    <a:pt x="985" y="120"/>
                  </a:moveTo>
                  <a:cubicBezTo>
                    <a:pt x="985" y="144"/>
                    <a:pt x="964" y="165"/>
                    <a:pt x="940" y="165"/>
                  </a:cubicBezTo>
                  <a:cubicBezTo>
                    <a:pt x="915" y="165"/>
                    <a:pt x="895" y="144"/>
                    <a:pt x="895" y="120"/>
                  </a:cubicBezTo>
                  <a:cubicBezTo>
                    <a:pt x="895" y="95"/>
                    <a:pt x="915" y="75"/>
                    <a:pt x="940" y="75"/>
                  </a:cubicBezTo>
                  <a:cubicBezTo>
                    <a:pt x="964" y="75"/>
                    <a:pt x="985" y="95"/>
                    <a:pt x="985" y="120"/>
                  </a:cubicBezTo>
                  <a:close/>
                </a:path>
              </a:pathLst>
            </a:custGeom>
            <a:solidFill>
              <a:srgbClr val="5D3A6E"/>
            </a:solidFill>
            <a:ln>
              <a:noFill/>
            </a:ln>
          </p:spPr>
        </p:sp>
      </p:grpSp>
      <p:sp>
        <p:nvSpPr>
          <p:cNvPr id="28" name="MTP"/>
          <p:cNvSpPr/>
          <p:nvPr/>
        </p:nvSpPr>
        <p:spPr>
          <a:xfrm>
            <a:off x="5577840" y="2651760"/>
            <a:ext cx="58686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MTP</a:t>
            </a:r>
            <a:endParaRPr lang="es-AR" sz="1250" dirty="0">
              <a:latin typeface="Bahnschrift SemiBold Condensed"/>
            </a:endParaRPr>
          </a:p>
        </p:txBody>
      </p:sp>
      <p:grpSp>
        <p:nvGrpSpPr>
          <p:cNvPr id="29" name="VLDL naciente"/>
          <p:cNvGrpSpPr/>
          <p:nvPr/>
        </p:nvGrpSpPr>
        <p:grpSpPr>
          <a:xfrm>
            <a:off x="5486400" y="3026664"/>
            <a:ext cx="2011680" cy="2276856"/>
            <a:chOff x="5486400" y="3026664"/>
            <a:chExt cx="2011680" cy="2276856"/>
          </a:xfrm>
        </p:grpSpPr>
        <p:sp>
          <p:nvSpPr>
            <p:cNvPr id="30" name="Forma 33"/>
            <p:cNvSpPr/>
            <p:nvPr/>
          </p:nvSpPr>
          <p:spPr>
            <a:xfrm>
              <a:off x="5486400" y="3291840"/>
              <a:ext cx="2011680" cy="201168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1" name="Forma 34"/>
            <p:cNvSpPr/>
            <p:nvPr/>
          </p:nvSpPr>
          <p:spPr>
            <a:xfrm>
              <a:off x="5486400" y="3291840"/>
              <a:ext cx="2011680" cy="2011680"/>
            </a:xfrm>
            <a:custGeom>
              <a:avLst/>
              <a:gdLst/>
              <a:ahLst/>
              <a:cxnLst/>
              <a:rect l="0" t="0" r="r" b="b"/>
              <a:pathLst>
                <a:path w="1000" h="1000">
                  <a:moveTo>
                    <a:pt x="984" y="500"/>
                  </a:moveTo>
                  <a:cubicBezTo>
                    <a:pt x="984" y="507"/>
                    <a:pt x="977" y="514"/>
                    <a:pt x="970" y="514"/>
                  </a:cubicBezTo>
                  <a:cubicBezTo>
                    <a:pt x="962" y="514"/>
                    <a:pt x="956" y="507"/>
                    <a:pt x="956" y="500"/>
                  </a:cubicBezTo>
                  <a:cubicBezTo>
                    <a:pt x="956" y="492"/>
                    <a:pt x="962" y="486"/>
                    <a:pt x="970" y="486"/>
                  </a:cubicBezTo>
                  <a:cubicBezTo>
                    <a:pt x="977" y="486"/>
                    <a:pt x="984" y="492"/>
                    <a:pt x="984" y="500"/>
                  </a:cubicBezTo>
                  <a:close/>
                  <a:moveTo>
                    <a:pt x="983" y="530"/>
                  </a:moveTo>
                  <a:cubicBezTo>
                    <a:pt x="983" y="537"/>
                    <a:pt x="976" y="544"/>
                    <a:pt x="969" y="544"/>
                  </a:cubicBezTo>
                  <a:cubicBezTo>
                    <a:pt x="961" y="544"/>
                    <a:pt x="955" y="537"/>
                    <a:pt x="955" y="530"/>
                  </a:cubicBezTo>
                  <a:cubicBezTo>
                    <a:pt x="955" y="522"/>
                    <a:pt x="961" y="516"/>
                    <a:pt x="969" y="516"/>
                  </a:cubicBezTo>
                  <a:cubicBezTo>
                    <a:pt x="976" y="516"/>
                    <a:pt x="983" y="522"/>
                    <a:pt x="983" y="530"/>
                  </a:cubicBezTo>
                  <a:close/>
                  <a:moveTo>
                    <a:pt x="980" y="560"/>
                  </a:moveTo>
                  <a:cubicBezTo>
                    <a:pt x="980" y="567"/>
                    <a:pt x="973" y="574"/>
                    <a:pt x="966" y="574"/>
                  </a:cubicBezTo>
                  <a:cubicBezTo>
                    <a:pt x="958" y="574"/>
                    <a:pt x="952" y="567"/>
                    <a:pt x="952" y="560"/>
                  </a:cubicBezTo>
                  <a:cubicBezTo>
                    <a:pt x="952" y="552"/>
                    <a:pt x="958" y="546"/>
                    <a:pt x="966" y="546"/>
                  </a:cubicBezTo>
                  <a:cubicBezTo>
                    <a:pt x="973" y="546"/>
                    <a:pt x="980" y="552"/>
                    <a:pt x="980" y="560"/>
                  </a:cubicBezTo>
                  <a:close/>
                  <a:moveTo>
                    <a:pt x="975" y="589"/>
                  </a:moveTo>
                  <a:cubicBezTo>
                    <a:pt x="975" y="596"/>
                    <a:pt x="968" y="603"/>
                    <a:pt x="961" y="603"/>
                  </a:cubicBezTo>
                  <a:cubicBezTo>
                    <a:pt x="953" y="603"/>
                    <a:pt x="947" y="596"/>
                    <a:pt x="947" y="589"/>
                  </a:cubicBezTo>
                  <a:cubicBezTo>
                    <a:pt x="947" y="581"/>
                    <a:pt x="953" y="575"/>
                    <a:pt x="961" y="575"/>
                  </a:cubicBezTo>
                  <a:cubicBezTo>
                    <a:pt x="968" y="575"/>
                    <a:pt x="975" y="581"/>
                    <a:pt x="975" y="589"/>
                  </a:cubicBezTo>
                  <a:close/>
                  <a:moveTo>
                    <a:pt x="968" y="619"/>
                  </a:moveTo>
                  <a:cubicBezTo>
                    <a:pt x="968" y="626"/>
                    <a:pt x="961" y="633"/>
                    <a:pt x="954" y="633"/>
                  </a:cubicBezTo>
                  <a:cubicBezTo>
                    <a:pt x="946" y="633"/>
                    <a:pt x="940" y="626"/>
                    <a:pt x="940" y="619"/>
                  </a:cubicBezTo>
                  <a:cubicBezTo>
                    <a:pt x="940" y="611"/>
                    <a:pt x="946" y="605"/>
                    <a:pt x="954" y="605"/>
                  </a:cubicBezTo>
                  <a:cubicBezTo>
                    <a:pt x="961" y="605"/>
                    <a:pt x="968" y="611"/>
                    <a:pt x="968" y="619"/>
                  </a:cubicBezTo>
                  <a:close/>
                  <a:moveTo>
                    <a:pt x="960" y="648"/>
                  </a:moveTo>
                  <a:cubicBezTo>
                    <a:pt x="960" y="655"/>
                    <a:pt x="953" y="662"/>
                    <a:pt x="946" y="662"/>
                  </a:cubicBezTo>
                  <a:cubicBezTo>
                    <a:pt x="938" y="662"/>
                    <a:pt x="932" y="655"/>
                    <a:pt x="932" y="648"/>
                  </a:cubicBezTo>
                  <a:cubicBezTo>
                    <a:pt x="932" y="640"/>
                    <a:pt x="938" y="634"/>
                    <a:pt x="946" y="634"/>
                  </a:cubicBezTo>
                  <a:cubicBezTo>
                    <a:pt x="953" y="634"/>
                    <a:pt x="960" y="640"/>
                    <a:pt x="960" y="648"/>
                  </a:cubicBezTo>
                  <a:close/>
                  <a:moveTo>
                    <a:pt x="949" y="676"/>
                  </a:moveTo>
                  <a:cubicBezTo>
                    <a:pt x="949" y="683"/>
                    <a:pt x="942" y="690"/>
                    <a:pt x="935" y="690"/>
                  </a:cubicBezTo>
                  <a:cubicBezTo>
                    <a:pt x="927" y="690"/>
                    <a:pt x="921" y="683"/>
                    <a:pt x="921" y="676"/>
                  </a:cubicBezTo>
                  <a:cubicBezTo>
                    <a:pt x="921" y="668"/>
                    <a:pt x="927" y="662"/>
                    <a:pt x="935" y="662"/>
                  </a:cubicBezTo>
                  <a:cubicBezTo>
                    <a:pt x="942" y="662"/>
                    <a:pt x="949" y="668"/>
                    <a:pt x="949" y="676"/>
                  </a:cubicBezTo>
                  <a:close/>
                  <a:moveTo>
                    <a:pt x="937" y="703"/>
                  </a:moveTo>
                  <a:cubicBezTo>
                    <a:pt x="937" y="710"/>
                    <a:pt x="930" y="717"/>
                    <a:pt x="923" y="717"/>
                  </a:cubicBezTo>
                  <a:cubicBezTo>
                    <a:pt x="915" y="717"/>
                    <a:pt x="909" y="710"/>
                    <a:pt x="909" y="703"/>
                  </a:cubicBezTo>
                  <a:cubicBezTo>
                    <a:pt x="909" y="695"/>
                    <a:pt x="915" y="689"/>
                    <a:pt x="923" y="689"/>
                  </a:cubicBezTo>
                  <a:cubicBezTo>
                    <a:pt x="930" y="689"/>
                    <a:pt x="937" y="695"/>
                    <a:pt x="937" y="703"/>
                  </a:cubicBezTo>
                  <a:close/>
                  <a:moveTo>
                    <a:pt x="923" y="730"/>
                  </a:moveTo>
                  <a:cubicBezTo>
                    <a:pt x="923" y="737"/>
                    <a:pt x="916" y="744"/>
                    <a:pt x="909" y="744"/>
                  </a:cubicBezTo>
                  <a:cubicBezTo>
                    <a:pt x="901" y="744"/>
                    <a:pt x="895" y="737"/>
                    <a:pt x="895" y="730"/>
                  </a:cubicBezTo>
                  <a:cubicBezTo>
                    <a:pt x="895" y="722"/>
                    <a:pt x="901" y="716"/>
                    <a:pt x="909" y="716"/>
                  </a:cubicBezTo>
                  <a:cubicBezTo>
                    <a:pt x="916" y="716"/>
                    <a:pt x="923" y="722"/>
                    <a:pt x="923" y="730"/>
                  </a:cubicBezTo>
                  <a:close/>
                  <a:moveTo>
                    <a:pt x="907" y="756"/>
                  </a:moveTo>
                  <a:cubicBezTo>
                    <a:pt x="907" y="763"/>
                    <a:pt x="900" y="770"/>
                    <a:pt x="893" y="770"/>
                  </a:cubicBezTo>
                  <a:cubicBezTo>
                    <a:pt x="885" y="770"/>
                    <a:pt x="879" y="763"/>
                    <a:pt x="879" y="756"/>
                  </a:cubicBezTo>
                  <a:cubicBezTo>
                    <a:pt x="879" y="748"/>
                    <a:pt x="885" y="742"/>
                    <a:pt x="893" y="742"/>
                  </a:cubicBezTo>
                  <a:cubicBezTo>
                    <a:pt x="900" y="742"/>
                    <a:pt x="907" y="748"/>
                    <a:pt x="907" y="756"/>
                  </a:cubicBezTo>
                  <a:close/>
                  <a:moveTo>
                    <a:pt x="890" y="781"/>
                  </a:moveTo>
                  <a:cubicBezTo>
                    <a:pt x="890" y="788"/>
                    <a:pt x="883" y="795"/>
                    <a:pt x="876" y="795"/>
                  </a:cubicBezTo>
                  <a:cubicBezTo>
                    <a:pt x="868" y="795"/>
                    <a:pt x="862" y="788"/>
                    <a:pt x="862" y="781"/>
                  </a:cubicBezTo>
                  <a:cubicBezTo>
                    <a:pt x="862" y="773"/>
                    <a:pt x="868" y="767"/>
                    <a:pt x="876" y="767"/>
                  </a:cubicBezTo>
                  <a:cubicBezTo>
                    <a:pt x="883" y="767"/>
                    <a:pt x="890" y="773"/>
                    <a:pt x="890" y="781"/>
                  </a:cubicBezTo>
                  <a:close/>
                  <a:moveTo>
                    <a:pt x="871" y="804"/>
                  </a:moveTo>
                  <a:cubicBezTo>
                    <a:pt x="871" y="811"/>
                    <a:pt x="864" y="818"/>
                    <a:pt x="857" y="818"/>
                  </a:cubicBezTo>
                  <a:cubicBezTo>
                    <a:pt x="849" y="818"/>
                    <a:pt x="843" y="811"/>
                    <a:pt x="843" y="804"/>
                  </a:cubicBezTo>
                  <a:cubicBezTo>
                    <a:pt x="843" y="796"/>
                    <a:pt x="849" y="790"/>
                    <a:pt x="857" y="790"/>
                  </a:cubicBezTo>
                  <a:cubicBezTo>
                    <a:pt x="864" y="790"/>
                    <a:pt x="871" y="796"/>
                    <a:pt x="871" y="804"/>
                  </a:cubicBezTo>
                  <a:close/>
                  <a:moveTo>
                    <a:pt x="851" y="826"/>
                  </a:moveTo>
                  <a:cubicBezTo>
                    <a:pt x="851" y="833"/>
                    <a:pt x="844" y="840"/>
                    <a:pt x="837" y="840"/>
                  </a:cubicBezTo>
                  <a:cubicBezTo>
                    <a:pt x="829" y="840"/>
                    <a:pt x="823" y="833"/>
                    <a:pt x="823" y="826"/>
                  </a:cubicBezTo>
                  <a:cubicBezTo>
                    <a:pt x="823" y="818"/>
                    <a:pt x="829" y="812"/>
                    <a:pt x="837" y="812"/>
                  </a:cubicBezTo>
                  <a:cubicBezTo>
                    <a:pt x="844" y="812"/>
                    <a:pt x="851" y="818"/>
                    <a:pt x="851" y="826"/>
                  </a:cubicBezTo>
                  <a:close/>
                  <a:moveTo>
                    <a:pt x="829" y="847"/>
                  </a:moveTo>
                  <a:cubicBezTo>
                    <a:pt x="829" y="854"/>
                    <a:pt x="822" y="861"/>
                    <a:pt x="815" y="861"/>
                  </a:cubicBezTo>
                  <a:cubicBezTo>
                    <a:pt x="807" y="861"/>
                    <a:pt x="801" y="854"/>
                    <a:pt x="801" y="847"/>
                  </a:cubicBezTo>
                  <a:cubicBezTo>
                    <a:pt x="801" y="839"/>
                    <a:pt x="807" y="833"/>
                    <a:pt x="815" y="833"/>
                  </a:cubicBezTo>
                  <a:cubicBezTo>
                    <a:pt x="822" y="833"/>
                    <a:pt x="829" y="839"/>
                    <a:pt x="829" y="847"/>
                  </a:cubicBezTo>
                  <a:close/>
                  <a:moveTo>
                    <a:pt x="807" y="867"/>
                  </a:moveTo>
                  <a:cubicBezTo>
                    <a:pt x="807" y="874"/>
                    <a:pt x="800" y="881"/>
                    <a:pt x="793" y="881"/>
                  </a:cubicBezTo>
                  <a:cubicBezTo>
                    <a:pt x="785" y="881"/>
                    <a:pt x="779" y="874"/>
                    <a:pt x="779" y="867"/>
                  </a:cubicBezTo>
                  <a:cubicBezTo>
                    <a:pt x="779" y="859"/>
                    <a:pt x="785" y="853"/>
                    <a:pt x="793" y="853"/>
                  </a:cubicBezTo>
                  <a:cubicBezTo>
                    <a:pt x="800" y="853"/>
                    <a:pt x="807" y="859"/>
                    <a:pt x="807" y="867"/>
                  </a:cubicBezTo>
                  <a:close/>
                  <a:moveTo>
                    <a:pt x="782" y="885"/>
                  </a:moveTo>
                  <a:cubicBezTo>
                    <a:pt x="782" y="892"/>
                    <a:pt x="775" y="899"/>
                    <a:pt x="768" y="899"/>
                  </a:cubicBezTo>
                  <a:cubicBezTo>
                    <a:pt x="760" y="899"/>
                    <a:pt x="754" y="892"/>
                    <a:pt x="754" y="885"/>
                  </a:cubicBezTo>
                  <a:cubicBezTo>
                    <a:pt x="754" y="877"/>
                    <a:pt x="760" y="871"/>
                    <a:pt x="768" y="871"/>
                  </a:cubicBezTo>
                  <a:cubicBezTo>
                    <a:pt x="775" y="871"/>
                    <a:pt x="782" y="877"/>
                    <a:pt x="782" y="885"/>
                  </a:cubicBezTo>
                  <a:close/>
                  <a:moveTo>
                    <a:pt x="757" y="901"/>
                  </a:moveTo>
                  <a:cubicBezTo>
                    <a:pt x="757" y="908"/>
                    <a:pt x="750" y="915"/>
                    <a:pt x="743" y="915"/>
                  </a:cubicBezTo>
                  <a:cubicBezTo>
                    <a:pt x="735" y="915"/>
                    <a:pt x="729" y="908"/>
                    <a:pt x="729" y="901"/>
                  </a:cubicBezTo>
                  <a:cubicBezTo>
                    <a:pt x="729" y="893"/>
                    <a:pt x="735" y="887"/>
                    <a:pt x="743" y="887"/>
                  </a:cubicBezTo>
                  <a:cubicBezTo>
                    <a:pt x="750" y="887"/>
                    <a:pt x="757" y="893"/>
                    <a:pt x="757" y="901"/>
                  </a:cubicBezTo>
                  <a:close/>
                  <a:moveTo>
                    <a:pt x="731" y="916"/>
                  </a:moveTo>
                  <a:cubicBezTo>
                    <a:pt x="731" y="923"/>
                    <a:pt x="724" y="930"/>
                    <a:pt x="717" y="930"/>
                  </a:cubicBezTo>
                  <a:cubicBezTo>
                    <a:pt x="709" y="930"/>
                    <a:pt x="703" y="923"/>
                    <a:pt x="703" y="916"/>
                  </a:cubicBezTo>
                  <a:cubicBezTo>
                    <a:pt x="703" y="908"/>
                    <a:pt x="709" y="902"/>
                    <a:pt x="717" y="902"/>
                  </a:cubicBezTo>
                  <a:cubicBezTo>
                    <a:pt x="724" y="902"/>
                    <a:pt x="731" y="908"/>
                    <a:pt x="731" y="916"/>
                  </a:cubicBezTo>
                  <a:close/>
                  <a:moveTo>
                    <a:pt x="704" y="929"/>
                  </a:moveTo>
                  <a:cubicBezTo>
                    <a:pt x="704" y="936"/>
                    <a:pt x="697" y="943"/>
                    <a:pt x="690" y="943"/>
                  </a:cubicBezTo>
                  <a:cubicBezTo>
                    <a:pt x="682" y="943"/>
                    <a:pt x="676" y="936"/>
                    <a:pt x="676" y="929"/>
                  </a:cubicBezTo>
                  <a:cubicBezTo>
                    <a:pt x="676" y="921"/>
                    <a:pt x="682" y="915"/>
                    <a:pt x="690" y="915"/>
                  </a:cubicBezTo>
                  <a:cubicBezTo>
                    <a:pt x="697" y="915"/>
                    <a:pt x="704" y="921"/>
                    <a:pt x="704" y="929"/>
                  </a:cubicBezTo>
                  <a:close/>
                  <a:moveTo>
                    <a:pt x="676" y="941"/>
                  </a:moveTo>
                  <a:cubicBezTo>
                    <a:pt x="676" y="948"/>
                    <a:pt x="669" y="955"/>
                    <a:pt x="662" y="955"/>
                  </a:cubicBezTo>
                  <a:cubicBezTo>
                    <a:pt x="654" y="955"/>
                    <a:pt x="648" y="948"/>
                    <a:pt x="648" y="941"/>
                  </a:cubicBezTo>
                  <a:cubicBezTo>
                    <a:pt x="648" y="933"/>
                    <a:pt x="654" y="927"/>
                    <a:pt x="662" y="927"/>
                  </a:cubicBezTo>
                  <a:cubicBezTo>
                    <a:pt x="669" y="927"/>
                    <a:pt x="676" y="933"/>
                    <a:pt x="676" y="941"/>
                  </a:cubicBezTo>
                  <a:close/>
                  <a:moveTo>
                    <a:pt x="647" y="950"/>
                  </a:moveTo>
                  <a:cubicBezTo>
                    <a:pt x="647" y="957"/>
                    <a:pt x="640" y="964"/>
                    <a:pt x="633" y="964"/>
                  </a:cubicBezTo>
                  <a:cubicBezTo>
                    <a:pt x="625" y="964"/>
                    <a:pt x="619" y="957"/>
                    <a:pt x="619" y="950"/>
                  </a:cubicBezTo>
                  <a:cubicBezTo>
                    <a:pt x="619" y="942"/>
                    <a:pt x="625" y="936"/>
                    <a:pt x="633" y="936"/>
                  </a:cubicBezTo>
                  <a:cubicBezTo>
                    <a:pt x="640" y="936"/>
                    <a:pt x="647" y="942"/>
                    <a:pt x="647" y="950"/>
                  </a:cubicBezTo>
                  <a:close/>
                  <a:moveTo>
                    <a:pt x="618" y="958"/>
                  </a:moveTo>
                  <a:cubicBezTo>
                    <a:pt x="618" y="965"/>
                    <a:pt x="611" y="972"/>
                    <a:pt x="604" y="972"/>
                  </a:cubicBezTo>
                  <a:cubicBezTo>
                    <a:pt x="596" y="972"/>
                    <a:pt x="590" y="965"/>
                    <a:pt x="590" y="958"/>
                  </a:cubicBezTo>
                  <a:cubicBezTo>
                    <a:pt x="590" y="950"/>
                    <a:pt x="596" y="944"/>
                    <a:pt x="604" y="944"/>
                  </a:cubicBezTo>
                  <a:cubicBezTo>
                    <a:pt x="611" y="944"/>
                    <a:pt x="618" y="950"/>
                    <a:pt x="618" y="958"/>
                  </a:cubicBezTo>
                  <a:close/>
                  <a:moveTo>
                    <a:pt x="589" y="963"/>
                  </a:moveTo>
                  <a:cubicBezTo>
                    <a:pt x="589" y="970"/>
                    <a:pt x="582" y="977"/>
                    <a:pt x="575" y="977"/>
                  </a:cubicBezTo>
                  <a:cubicBezTo>
                    <a:pt x="567" y="977"/>
                    <a:pt x="561" y="970"/>
                    <a:pt x="561" y="963"/>
                  </a:cubicBezTo>
                  <a:cubicBezTo>
                    <a:pt x="561" y="955"/>
                    <a:pt x="567" y="949"/>
                    <a:pt x="575" y="949"/>
                  </a:cubicBezTo>
                  <a:cubicBezTo>
                    <a:pt x="582" y="949"/>
                    <a:pt x="589" y="955"/>
                    <a:pt x="589" y="963"/>
                  </a:cubicBezTo>
                  <a:close/>
                  <a:moveTo>
                    <a:pt x="559" y="967"/>
                  </a:moveTo>
                  <a:cubicBezTo>
                    <a:pt x="559" y="974"/>
                    <a:pt x="552" y="981"/>
                    <a:pt x="545" y="981"/>
                  </a:cubicBezTo>
                  <a:cubicBezTo>
                    <a:pt x="537" y="981"/>
                    <a:pt x="531" y="974"/>
                    <a:pt x="531" y="967"/>
                  </a:cubicBezTo>
                  <a:cubicBezTo>
                    <a:pt x="531" y="959"/>
                    <a:pt x="537" y="953"/>
                    <a:pt x="545" y="953"/>
                  </a:cubicBezTo>
                  <a:cubicBezTo>
                    <a:pt x="552" y="953"/>
                    <a:pt x="559" y="959"/>
                    <a:pt x="559" y="967"/>
                  </a:cubicBezTo>
                  <a:close/>
                  <a:moveTo>
                    <a:pt x="529" y="969"/>
                  </a:moveTo>
                  <a:cubicBezTo>
                    <a:pt x="529" y="976"/>
                    <a:pt x="522" y="983"/>
                    <a:pt x="515" y="983"/>
                  </a:cubicBezTo>
                  <a:cubicBezTo>
                    <a:pt x="507" y="983"/>
                    <a:pt x="501" y="976"/>
                    <a:pt x="501" y="969"/>
                  </a:cubicBezTo>
                  <a:cubicBezTo>
                    <a:pt x="501" y="961"/>
                    <a:pt x="507" y="955"/>
                    <a:pt x="515" y="955"/>
                  </a:cubicBezTo>
                  <a:cubicBezTo>
                    <a:pt x="522" y="955"/>
                    <a:pt x="529" y="961"/>
                    <a:pt x="529" y="969"/>
                  </a:cubicBezTo>
                  <a:close/>
                  <a:moveTo>
                    <a:pt x="498" y="969"/>
                  </a:moveTo>
                  <a:cubicBezTo>
                    <a:pt x="498" y="976"/>
                    <a:pt x="491" y="983"/>
                    <a:pt x="484" y="983"/>
                  </a:cubicBezTo>
                  <a:cubicBezTo>
                    <a:pt x="476" y="983"/>
                    <a:pt x="470" y="976"/>
                    <a:pt x="470" y="969"/>
                  </a:cubicBezTo>
                  <a:cubicBezTo>
                    <a:pt x="470" y="961"/>
                    <a:pt x="476" y="955"/>
                    <a:pt x="484" y="955"/>
                  </a:cubicBezTo>
                  <a:cubicBezTo>
                    <a:pt x="491" y="955"/>
                    <a:pt x="498" y="961"/>
                    <a:pt x="498" y="969"/>
                  </a:cubicBezTo>
                  <a:close/>
                  <a:moveTo>
                    <a:pt x="468" y="967"/>
                  </a:moveTo>
                  <a:cubicBezTo>
                    <a:pt x="468" y="974"/>
                    <a:pt x="461" y="981"/>
                    <a:pt x="454" y="981"/>
                  </a:cubicBezTo>
                  <a:cubicBezTo>
                    <a:pt x="446" y="981"/>
                    <a:pt x="440" y="974"/>
                    <a:pt x="440" y="967"/>
                  </a:cubicBezTo>
                  <a:cubicBezTo>
                    <a:pt x="440" y="959"/>
                    <a:pt x="446" y="953"/>
                    <a:pt x="454" y="953"/>
                  </a:cubicBezTo>
                  <a:cubicBezTo>
                    <a:pt x="461" y="953"/>
                    <a:pt x="468" y="959"/>
                    <a:pt x="468" y="967"/>
                  </a:cubicBezTo>
                  <a:close/>
                  <a:moveTo>
                    <a:pt x="438" y="963"/>
                  </a:moveTo>
                  <a:cubicBezTo>
                    <a:pt x="438" y="970"/>
                    <a:pt x="431" y="977"/>
                    <a:pt x="424" y="977"/>
                  </a:cubicBezTo>
                  <a:cubicBezTo>
                    <a:pt x="416" y="977"/>
                    <a:pt x="410" y="970"/>
                    <a:pt x="410" y="963"/>
                  </a:cubicBezTo>
                  <a:cubicBezTo>
                    <a:pt x="410" y="955"/>
                    <a:pt x="416" y="949"/>
                    <a:pt x="424" y="949"/>
                  </a:cubicBezTo>
                  <a:cubicBezTo>
                    <a:pt x="431" y="949"/>
                    <a:pt x="438" y="955"/>
                    <a:pt x="438" y="963"/>
                  </a:cubicBezTo>
                  <a:close/>
                  <a:moveTo>
                    <a:pt x="409" y="958"/>
                  </a:moveTo>
                  <a:cubicBezTo>
                    <a:pt x="409" y="965"/>
                    <a:pt x="402" y="972"/>
                    <a:pt x="395" y="972"/>
                  </a:cubicBezTo>
                  <a:cubicBezTo>
                    <a:pt x="387" y="972"/>
                    <a:pt x="381" y="965"/>
                    <a:pt x="381" y="958"/>
                  </a:cubicBezTo>
                  <a:cubicBezTo>
                    <a:pt x="381" y="950"/>
                    <a:pt x="387" y="944"/>
                    <a:pt x="395" y="944"/>
                  </a:cubicBezTo>
                  <a:cubicBezTo>
                    <a:pt x="402" y="944"/>
                    <a:pt x="409" y="950"/>
                    <a:pt x="409" y="958"/>
                  </a:cubicBezTo>
                  <a:close/>
                  <a:moveTo>
                    <a:pt x="380" y="950"/>
                  </a:moveTo>
                  <a:cubicBezTo>
                    <a:pt x="380" y="957"/>
                    <a:pt x="373" y="964"/>
                    <a:pt x="366" y="964"/>
                  </a:cubicBezTo>
                  <a:cubicBezTo>
                    <a:pt x="358" y="964"/>
                    <a:pt x="352" y="957"/>
                    <a:pt x="352" y="950"/>
                  </a:cubicBezTo>
                  <a:cubicBezTo>
                    <a:pt x="352" y="942"/>
                    <a:pt x="358" y="936"/>
                    <a:pt x="366" y="936"/>
                  </a:cubicBezTo>
                  <a:cubicBezTo>
                    <a:pt x="373" y="936"/>
                    <a:pt x="380" y="942"/>
                    <a:pt x="380" y="950"/>
                  </a:cubicBezTo>
                  <a:close/>
                  <a:moveTo>
                    <a:pt x="351" y="941"/>
                  </a:moveTo>
                  <a:cubicBezTo>
                    <a:pt x="351" y="948"/>
                    <a:pt x="344" y="955"/>
                    <a:pt x="337" y="955"/>
                  </a:cubicBezTo>
                  <a:cubicBezTo>
                    <a:pt x="329" y="955"/>
                    <a:pt x="323" y="948"/>
                    <a:pt x="323" y="941"/>
                  </a:cubicBezTo>
                  <a:cubicBezTo>
                    <a:pt x="323" y="933"/>
                    <a:pt x="329" y="927"/>
                    <a:pt x="337" y="927"/>
                  </a:cubicBezTo>
                  <a:cubicBezTo>
                    <a:pt x="344" y="927"/>
                    <a:pt x="351" y="933"/>
                    <a:pt x="351" y="941"/>
                  </a:cubicBezTo>
                  <a:close/>
                  <a:moveTo>
                    <a:pt x="323" y="929"/>
                  </a:moveTo>
                  <a:cubicBezTo>
                    <a:pt x="323" y="936"/>
                    <a:pt x="316" y="943"/>
                    <a:pt x="309" y="943"/>
                  </a:cubicBezTo>
                  <a:cubicBezTo>
                    <a:pt x="301" y="943"/>
                    <a:pt x="295" y="936"/>
                    <a:pt x="295" y="929"/>
                  </a:cubicBezTo>
                  <a:cubicBezTo>
                    <a:pt x="295" y="921"/>
                    <a:pt x="301" y="915"/>
                    <a:pt x="309" y="915"/>
                  </a:cubicBezTo>
                  <a:cubicBezTo>
                    <a:pt x="316" y="915"/>
                    <a:pt x="323" y="921"/>
                    <a:pt x="323" y="929"/>
                  </a:cubicBezTo>
                  <a:close/>
                  <a:moveTo>
                    <a:pt x="296" y="916"/>
                  </a:moveTo>
                  <a:cubicBezTo>
                    <a:pt x="296" y="923"/>
                    <a:pt x="289" y="930"/>
                    <a:pt x="282" y="930"/>
                  </a:cubicBezTo>
                  <a:cubicBezTo>
                    <a:pt x="274" y="930"/>
                    <a:pt x="268" y="923"/>
                    <a:pt x="268" y="916"/>
                  </a:cubicBezTo>
                  <a:cubicBezTo>
                    <a:pt x="268" y="908"/>
                    <a:pt x="274" y="902"/>
                    <a:pt x="282" y="902"/>
                  </a:cubicBezTo>
                  <a:cubicBezTo>
                    <a:pt x="289" y="902"/>
                    <a:pt x="296" y="908"/>
                    <a:pt x="296" y="916"/>
                  </a:cubicBezTo>
                  <a:close/>
                  <a:moveTo>
                    <a:pt x="270" y="901"/>
                  </a:moveTo>
                  <a:cubicBezTo>
                    <a:pt x="270" y="908"/>
                    <a:pt x="263" y="915"/>
                    <a:pt x="256" y="915"/>
                  </a:cubicBezTo>
                  <a:cubicBezTo>
                    <a:pt x="248" y="915"/>
                    <a:pt x="242" y="908"/>
                    <a:pt x="242" y="901"/>
                  </a:cubicBezTo>
                  <a:cubicBezTo>
                    <a:pt x="242" y="893"/>
                    <a:pt x="248" y="887"/>
                    <a:pt x="256" y="887"/>
                  </a:cubicBezTo>
                  <a:cubicBezTo>
                    <a:pt x="263" y="887"/>
                    <a:pt x="270" y="893"/>
                    <a:pt x="270" y="901"/>
                  </a:cubicBezTo>
                  <a:close/>
                  <a:moveTo>
                    <a:pt x="245" y="885"/>
                  </a:moveTo>
                  <a:cubicBezTo>
                    <a:pt x="245" y="892"/>
                    <a:pt x="238" y="899"/>
                    <a:pt x="231" y="899"/>
                  </a:cubicBezTo>
                  <a:cubicBezTo>
                    <a:pt x="223" y="899"/>
                    <a:pt x="217" y="892"/>
                    <a:pt x="217" y="885"/>
                  </a:cubicBezTo>
                  <a:cubicBezTo>
                    <a:pt x="217" y="877"/>
                    <a:pt x="223" y="871"/>
                    <a:pt x="231" y="871"/>
                  </a:cubicBezTo>
                  <a:cubicBezTo>
                    <a:pt x="238" y="871"/>
                    <a:pt x="245" y="877"/>
                    <a:pt x="245" y="885"/>
                  </a:cubicBezTo>
                  <a:close/>
                  <a:moveTo>
                    <a:pt x="220" y="867"/>
                  </a:moveTo>
                  <a:cubicBezTo>
                    <a:pt x="220" y="874"/>
                    <a:pt x="213" y="881"/>
                    <a:pt x="206" y="881"/>
                  </a:cubicBezTo>
                  <a:cubicBezTo>
                    <a:pt x="198" y="881"/>
                    <a:pt x="192" y="874"/>
                    <a:pt x="192" y="867"/>
                  </a:cubicBezTo>
                  <a:cubicBezTo>
                    <a:pt x="192" y="859"/>
                    <a:pt x="198" y="853"/>
                    <a:pt x="206" y="853"/>
                  </a:cubicBezTo>
                  <a:cubicBezTo>
                    <a:pt x="213" y="853"/>
                    <a:pt x="220" y="859"/>
                    <a:pt x="220" y="867"/>
                  </a:cubicBezTo>
                  <a:close/>
                  <a:moveTo>
                    <a:pt x="198" y="847"/>
                  </a:moveTo>
                  <a:cubicBezTo>
                    <a:pt x="198" y="854"/>
                    <a:pt x="191" y="861"/>
                    <a:pt x="184" y="861"/>
                  </a:cubicBezTo>
                  <a:cubicBezTo>
                    <a:pt x="176" y="861"/>
                    <a:pt x="170" y="854"/>
                    <a:pt x="170" y="847"/>
                  </a:cubicBezTo>
                  <a:cubicBezTo>
                    <a:pt x="170" y="839"/>
                    <a:pt x="176" y="833"/>
                    <a:pt x="184" y="833"/>
                  </a:cubicBezTo>
                  <a:cubicBezTo>
                    <a:pt x="191" y="833"/>
                    <a:pt x="198" y="839"/>
                    <a:pt x="198" y="847"/>
                  </a:cubicBezTo>
                  <a:close/>
                  <a:moveTo>
                    <a:pt x="176" y="826"/>
                  </a:moveTo>
                  <a:cubicBezTo>
                    <a:pt x="176" y="833"/>
                    <a:pt x="169" y="840"/>
                    <a:pt x="162" y="840"/>
                  </a:cubicBezTo>
                  <a:cubicBezTo>
                    <a:pt x="154" y="840"/>
                    <a:pt x="148" y="833"/>
                    <a:pt x="148" y="826"/>
                  </a:cubicBezTo>
                  <a:cubicBezTo>
                    <a:pt x="148" y="818"/>
                    <a:pt x="154" y="812"/>
                    <a:pt x="162" y="812"/>
                  </a:cubicBezTo>
                  <a:cubicBezTo>
                    <a:pt x="169" y="812"/>
                    <a:pt x="176" y="818"/>
                    <a:pt x="176" y="826"/>
                  </a:cubicBezTo>
                  <a:close/>
                  <a:moveTo>
                    <a:pt x="156" y="804"/>
                  </a:moveTo>
                  <a:cubicBezTo>
                    <a:pt x="156" y="811"/>
                    <a:pt x="149" y="818"/>
                    <a:pt x="142" y="818"/>
                  </a:cubicBezTo>
                  <a:cubicBezTo>
                    <a:pt x="134" y="818"/>
                    <a:pt x="128" y="811"/>
                    <a:pt x="128" y="804"/>
                  </a:cubicBezTo>
                  <a:cubicBezTo>
                    <a:pt x="128" y="796"/>
                    <a:pt x="134" y="790"/>
                    <a:pt x="142" y="790"/>
                  </a:cubicBezTo>
                  <a:cubicBezTo>
                    <a:pt x="149" y="790"/>
                    <a:pt x="156" y="796"/>
                    <a:pt x="156" y="804"/>
                  </a:cubicBezTo>
                  <a:close/>
                  <a:moveTo>
                    <a:pt x="137" y="781"/>
                  </a:moveTo>
                  <a:cubicBezTo>
                    <a:pt x="137" y="788"/>
                    <a:pt x="130" y="795"/>
                    <a:pt x="123" y="795"/>
                  </a:cubicBezTo>
                  <a:cubicBezTo>
                    <a:pt x="115" y="795"/>
                    <a:pt x="109" y="788"/>
                    <a:pt x="109" y="781"/>
                  </a:cubicBezTo>
                  <a:cubicBezTo>
                    <a:pt x="109" y="773"/>
                    <a:pt x="115" y="767"/>
                    <a:pt x="123" y="767"/>
                  </a:cubicBezTo>
                  <a:cubicBezTo>
                    <a:pt x="130" y="767"/>
                    <a:pt x="137" y="773"/>
                    <a:pt x="137" y="781"/>
                  </a:cubicBezTo>
                  <a:close/>
                  <a:moveTo>
                    <a:pt x="120" y="756"/>
                  </a:moveTo>
                  <a:cubicBezTo>
                    <a:pt x="120" y="763"/>
                    <a:pt x="113" y="770"/>
                    <a:pt x="106" y="770"/>
                  </a:cubicBezTo>
                  <a:cubicBezTo>
                    <a:pt x="98" y="770"/>
                    <a:pt x="92" y="763"/>
                    <a:pt x="92" y="756"/>
                  </a:cubicBezTo>
                  <a:cubicBezTo>
                    <a:pt x="92" y="748"/>
                    <a:pt x="98" y="742"/>
                    <a:pt x="106" y="742"/>
                  </a:cubicBezTo>
                  <a:cubicBezTo>
                    <a:pt x="113" y="742"/>
                    <a:pt x="120" y="748"/>
                    <a:pt x="120" y="756"/>
                  </a:cubicBezTo>
                  <a:close/>
                  <a:moveTo>
                    <a:pt x="104" y="730"/>
                  </a:moveTo>
                  <a:cubicBezTo>
                    <a:pt x="104" y="737"/>
                    <a:pt x="97" y="744"/>
                    <a:pt x="90" y="744"/>
                  </a:cubicBezTo>
                  <a:cubicBezTo>
                    <a:pt x="82" y="744"/>
                    <a:pt x="76" y="737"/>
                    <a:pt x="76" y="730"/>
                  </a:cubicBezTo>
                  <a:cubicBezTo>
                    <a:pt x="76" y="722"/>
                    <a:pt x="82" y="716"/>
                    <a:pt x="90" y="716"/>
                  </a:cubicBezTo>
                  <a:cubicBezTo>
                    <a:pt x="97" y="716"/>
                    <a:pt x="104" y="722"/>
                    <a:pt x="104" y="730"/>
                  </a:cubicBezTo>
                  <a:close/>
                  <a:moveTo>
                    <a:pt x="90" y="703"/>
                  </a:moveTo>
                  <a:cubicBezTo>
                    <a:pt x="90" y="710"/>
                    <a:pt x="83" y="717"/>
                    <a:pt x="76" y="717"/>
                  </a:cubicBezTo>
                  <a:cubicBezTo>
                    <a:pt x="68" y="717"/>
                    <a:pt x="62" y="710"/>
                    <a:pt x="62" y="703"/>
                  </a:cubicBezTo>
                  <a:cubicBezTo>
                    <a:pt x="62" y="695"/>
                    <a:pt x="68" y="689"/>
                    <a:pt x="76" y="689"/>
                  </a:cubicBezTo>
                  <a:cubicBezTo>
                    <a:pt x="83" y="689"/>
                    <a:pt x="90" y="695"/>
                    <a:pt x="90" y="703"/>
                  </a:cubicBezTo>
                  <a:close/>
                  <a:moveTo>
                    <a:pt x="78" y="676"/>
                  </a:moveTo>
                  <a:cubicBezTo>
                    <a:pt x="78" y="683"/>
                    <a:pt x="71" y="690"/>
                    <a:pt x="64" y="690"/>
                  </a:cubicBezTo>
                  <a:cubicBezTo>
                    <a:pt x="56" y="690"/>
                    <a:pt x="50" y="683"/>
                    <a:pt x="50" y="676"/>
                  </a:cubicBezTo>
                  <a:cubicBezTo>
                    <a:pt x="50" y="668"/>
                    <a:pt x="56" y="662"/>
                    <a:pt x="64" y="662"/>
                  </a:cubicBezTo>
                  <a:cubicBezTo>
                    <a:pt x="71" y="662"/>
                    <a:pt x="78" y="668"/>
                    <a:pt x="78" y="676"/>
                  </a:cubicBezTo>
                  <a:close/>
                  <a:moveTo>
                    <a:pt x="67" y="648"/>
                  </a:moveTo>
                  <a:cubicBezTo>
                    <a:pt x="67" y="655"/>
                    <a:pt x="60" y="662"/>
                    <a:pt x="53" y="662"/>
                  </a:cubicBezTo>
                  <a:cubicBezTo>
                    <a:pt x="45" y="662"/>
                    <a:pt x="39" y="655"/>
                    <a:pt x="39" y="648"/>
                  </a:cubicBezTo>
                  <a:cubicBezTo>
                    <a:pt x="39" y="640"/>
                    <a:pt x="45" y="634"/>
                    <a:pt x="53" y="634"/>
                  </a:cubicBezTo>
                  <a:cubicBezTo>
                    <a:pt x="60" y="634"/>
                    <a:pt x="67" y="640"/>
                    <a:pt x="67" y="648"/>
                  </a:cubicBezTo>
                  <a:close/>
                  <a:moveTo>
                    <a:pt x="59" y="619"/>
                  </a:moveTo>
                  <a:cubicBezTo>
                    <a:pt x="59" y="626"/>
                    <a:pt x="52" y="633"/>
                    <a:pt x="45" y="633"/>
                  </a:cubicBezTo>
                  <a:cubicBezTo>
                    <a:pt x="37" y="633"/>
                    <a:pt x="31" y="626"/>
                    <a:pt x="31" y="619"/>
                  </a:cubicBezTo>
                  <a:cubicBezTo>
                    <a:pt x="31" y="611"/>
                    <a:pt x="37" y="605"/>
                    <a:pt x="45" y="605"/>
                  </a:cubicBezTo>
                  <a:cubicBezTo>
                    <a:pt x="52" y="605"/>
                    <a:pt x="59" y="611"/>
                    <a:pt x="59" y="619"/>
                  </a:cubicBezTo>
                  <a:close/>
                  <a:moveTo>
                    <a:pt x="52" y="589"/>
                  </a:moveTo>
                  <a:cubicBezTo>
                    <a:pt x="52" y="596"/>
                    <a:pt x="45" y="603"/>
                    <a:pt x="38" y="603"/>
                  </a:cubicBezTo>
                  <a:cubicBezTo>
                    <a:pt x="30" y="603"/>
                    <a:pt x="24" y="596"/>
                    <a:pt x="24" y="589"/>
                  </a:cubicBezTo>
                  <a:cubicBezTo>
                    <a:pt x="24" y="581"/>
                    <a:pt x="30" y="575"/>
                    <a:pt x="38" y="575"/>
                  </a:cubicBezTo>
                  <a:cubicBezTo>
                    <a:pt x="45" y="575"/>
                    <a:pt x="52" y="581"/>
                    <a:pt x="52" y="589"/>
                  </a:cubicBezTo>
                  <a:close/>
                  <a:moveTo>
                    <a:pt x="47" y="560"/>
                  </a:moveTo>
                  <a:cubicBezTo>
                    <a:pt x="47" y="567"/>
                    <a:pt x="40" y="574"/>
                    <a:pt x="33" y="574"/>
                  </a:cubicBezTo>
                  <a:cubicBezTo>
                    <a:pt x="25" y="574"/>
                    <a:pt x="19" y="567"/>
                    <a:pt x="19" y="560"/>
                  </a:cubicBezTo>
                  <a:cubicBezTo>
                    <a:pt x="19" y="552"/>
                    <a:pt x="25" y="546"/>
                    <a:pt x="33" y="546"/>
                  </a:cubicBezTo>
                  <a:cubicBezTo>
                    <a:pt x="40" y="546"/>
                    <a:pt x="47" y="552"/>
                    <a:pt x="47" y="560"/>
                  </a:cubicBezTo>
                  <a:close/>
                  <a:moveTo>
                    <a:pt x="44" y="530"/>
                  </a:moveTo>
                  <a:cubicBezTo>
                    <a:pt x="44" y="537"/>
                    <a:pt x="37" y="544"/>
                    <a:pt x="30" y="544"/>
                  </a:cubicBezTo>
                  <a:cubicBezTo>
                    <a:pt x="22" y="544"/>
                    <a:pt x="16" y="537"/>
                    <a:pt x="16" y="530"/>
                  </a:cubicBezTo>
                  <a:cubicBezTo>
                    <a:pt x="16" y="522"/>
                    <a:pt x="22" y="516"/>
                    <a:pt x="30" y="516"/>
                  </a:cubicBezTo>
                  <a:cubicBezTo>
                    <a:pt x="37" y="516"/>
                    <a:pt x="44" y="522"/>
                    <a:pt x="44" y="530"/>
                  </a:cubicBezTo>
                  <a:close/>
                  <a:moveTo>
                    <a:pt x="44" y="500"/>
                  </a:moveTo>
                  <a:cubicBezTo>
                    <a:pt x="44" y="507"/>
                    <a:pt x="37" y="514"/>
                    <a:pt x="30" y="514"/>
                  </a:cubicBezTo>
                  <a:cubicBezTo>
                    <a:pt x="22" y="514"/>
                    <a:pt x="16" y="507"/>
                    <a:pt x="16" y="500"/>
                  </a:cubicBezTo>
                  <a:cubicBezTo>
                    <a:pt x="16" y="492"/>
                    <a:pt x="22" y="486"/>
                    <a:pt x="30" y="486"/>
                  </a:cubicBezTo>
                  <a:cubicBezTo>
                    <a:pt x="37" y="486"/>
                    <a:pt x="44" y="492"/>
                    <a:pt x="44" y="500"/>
                  </a:cubicBezTo>
                  <a:close/>
                  <a:moveTo>
                    <a:pt x="44" y="469"/>
                  </a:moveTo>
                  <a:cubicBezTo>
                    <a:pt x="44" y="476"/>
                    <a:pt x="37" y="483"/>
                    <a:pt x="30" y="483"/>
                  </a:cubicBezTo>
                  <a:cubicBezTo>
                    <a:pt x="22" y="483"/>
                    <a:pt x="16" y="476"/>
                    <a:pt x="16" y="469"/>
                  </a:cubicBezTo>
                  <a:cubicBezTo>
                    <a:pt x="16" y="461"/>
                    <a:pt x="22" y="455"/>
                    <a:pt x="30" y="455"/>
                  </a:cubicBezTo>
                  <a:cubicBezTo>
                    <a:pt x="37" y="455"/>
                    <a:pt x="44" y="461"/>
                    <a:pt x="44" y="469"/>
                  </a:cubicBezTo>
                  <a:close/>
                  <a:moveTo>
                    <a:pt x="47" y="439"/>
                  </a:moveTo>
                  <a:cubicBezTo>
                    <a:pt x="47" y="446"/>
                    <a:pt x="40" y="453"/>
                    <a:pt x="33" y="453"/>
                  </a:cubicBezTo>
                  <a:cubicBezTo>
                    <a:pt x="25" y="453"/>
                    <a:pt x="19" y="446"/>
                    <a:pt x="19" y="439"/>
                  </a:cubicBezTo>
                  <a:cubicBezTo>
                    <a:pt x="19" y="431"/>
                    <a:pt x="25" y="425"/>
                    <a:pt x="33" y="425"/>
                  </a:cubicBezTo>
                  <a:cubicBezTo>
                    <a:pt x="40" y="425"/>
                    <a:pt x="47" y="431"/>
                    <a:pt x="47" y="439"/>
                  </a:cubicBezTo>
                  <a:close/>
                  <a:moveTo>
                    <a:pt x="52" y="410"/>
                  </a:moveTo>
                  <a:cubicBezTo>
                    <a:pt x="52" y="417"/>
                    <a:pt x="45" y="424"/>
                    <a:pt x="38" y="424"/>
                  </a:cubicBezTo>
                  <a:cubicBezTo>
                    <a:pt x="30" y="424"/>
                    <a:pt x="24" y="417"/>
                    <a:pt x="24" y="410"/>
                  </a:cubicBezTo>
                  <a:cubicBezTo>
                    <a:pt x="24" y="402"/>
                    <a:pt x="30" y="396"/>
                    <a:pt x="38" y="396"/>
                  </a:cubicBezTo>
                  <a:cubicBezTo>
                    <a:pt x="45" y="396"/>
                    <a:pt x="52" y="402"/>
                    <a:pt x="52" y="410"/>
                  </a:cubicBezTo>
                  <a:close/>
                  <a:moveTo>
                    <a:pt x="59" y="380"/>
                  </a:moveTo>
                  <a:cubicBezTo>
                    <a:pt x="59" y="387"/>
                    <a:pt x="52" y="394"/>
                    <a:pt x="45" y="394"/>
                  </a:cubicBezTo>
                  <a:cubicBezTo>
                    <a:pt x="37" y="394"/>
                    <a:pt x="31" y="387"/>
                    <a:pt x="31" y="380"/>
                  </a:cubicBezTo>
                  <a:cubicBezTo>
                    <a:pt x="31" y="372"/>
                    <a:pt x="37" y="366"/>
                    <a:pt x="45" y="366"/>
                  </a:cubicBezTo>
                  <a:cubicBezTo>
                    <a:pt x="52" y="366"/>
                    <a:pt x="59" y="372"/>
                    <a:pt x="59" y="380"/>
                  </a:cubicBezTo>
                  <a:close/>
                  <a:moveTo>
                    <a:pt x="67" y="351"/>
                  </a:moveTo>
                  <a:cubicBezTo>
                    <a:pt x="67" y="358"/>
                    <a:pt x="60" y="365"/>
                    <a:pt x="53" y="365"/>
                  </a:cubicBezTo>
                  <a:cubicBezTo>
                    <a:pt x="45" y="365"/>
                    <a:pt x="39" y="358"/>
                    <a:pt x="39" y="351"/>
                  </a:cubicBezTo>
                  <a:cubicBezTo>
                    <a:pt x="39" y="343"/>
                    <a:pt x="45" y="337"/>
                    <a:pt x="53" y="337"/>
                  </a:cubicBezTo>
                  <a:cubicBezTo>
                    <a:pt x="60" y="337"/>
                    <a:pt x="67" y="343"/>
                    <a:pt x="67" y="351"/>
                  </a:cubicBezTo>
                  <a:close/>
                  <a:moveTo>
                    <a:pt x="78" y="323"/>
                  </a:moveTo>
                  <a:cubicBezTo>
                    <a:pt x="78" y="330"/>
                    <a:pt x="71" y="337"/>
                    <a:pt x="64" y="337"/>
                  </a:cubicBezTo>
                  <a:cubicBezTo>
                    <a:pt x="56" y="337"/>
                    <a:pt x="50" y="330"/>
                    <a:pt x="50" y="323"/>
                  </a:cubicBezTo>
                  <a:cubicBezTo>
                    <a:pt x="50" y="315"/>
                    <a:pt x="56" y="309"/>
                    <a:pt x="64" y="309"/>
                  </a:cubicBezTo>
                  <a:cubicBezTo>
                    <a:pt x="71" y="309"/>
                    <a:pt x="78" y="315"/>
                    <a:pt x="78" y="323"/>
                  </a:cubicBezTo>
                  <a:close/>
                  <a:moveTo>
                    <a:pt x="90" y="296"/>
                  </a:moveTo>
                  <a:cubicBezTo>
                    <a:pt x="90" y="303"/>
                    <a:pt x="83" y="310"/>
                    <a:pt x="76" y="310"/>
                  </a:cubicBezTo>
                  <a:cubicBezTo>
                    <a:pt x="68" y="310"/>
                    <a:pt x="62" y="303"/>
                    <a:pt x="62" y="296"/>
                  </a:cubicBezTo>
                  <a:cubicBezTo>
                    <a:pt x="62" y="288"/>
                    <a:pt x="68" y="282"/>
                    <a:pt x="76" y="282"/>
                  </a:cubicBezTo>
                  <a:cubicBezTo>
                    <a:pt x="83" y="282"/>
                    <a:pt x="90" y="288"/>
                    <a:pt x="90" y="296"/>
                  </a:cubicBezTo>
                  <a:close/>
                  <a:moveTo>
                    <a:pt x="104" y="269"/>
                  </a:moveTo>
                  <a:cubicBezTo>
                    <a:pt x="104" y="276"/>
                    <a:pt x="97" y="283"/>
                    <a:pt x="90" y="283"/>
                  </a:cubicBezTo>
                  <a:cubicBezTo>
                    <a:pt x="82" y="283"/>
                    <a:pt x="76" y="276"/>
                    <a:pt x="76" y="269"/>
                  </a:cubicBezTo>
                  <a:cubicBezTo>
                    <a:pt x="76" y="261"/>
                    <a:pt x="82" y="255"/>
                    <a:pt x="90" y="255"/>
                  </a:cubicBezTo>
                  <a:cubicBezTo>
                    <a:pt x="97" y="255"/>
                    <a:pt x="104" y="261"/>
                    <a:pt x="104" y="269"/>
                  </a:cubicBezTo>
                  <a:close/>
                  <a:moveTo>
                    <a:pt x="120" y="243"/>
                  </a:moveTo>
                  <a:cubicBezTo>
                    <a:pt x="120" y="250"/>
                    <a:pt x="113" y="257"/>
                    <a:pt x="106" y="257"/>
                  </a:cubicBezTo>
                  <a:cubicBezTo>
                    <a:pt x="98" y="257"/>
                    <a:pt x="92" y="250"/>
                    <a:pt x="92" y="243"/>
                  </a:cubicBezTo>
                  <a:cubicBezTo>
                    <a:pt x="92" y="235"/>
                    <a:pt x="98" y="229"/>
                    <a:pt x="106" y="229"/>
                  </a:cubicBezTo>
                  <a:cubicBezTo>
                    <a:pt x="113" y="229"/>
                    <a:pt x="120" y="235"/>
                    <a:pt x="120" y="243"/>
                  </a:cubicBezTo>
                  <a:close/>
                  <a:moveTo>
                    <a:pt x="137" y="218"/>
                  </a:moveTo>
                  <a:cubicBezTo>
                    <a:pt x="137" y="225"/>
                    <a:pt x="130" y="232"/>
                    <a:pt x="123" y="232"/>
                  </a:cubicBezTo>
                  <a:cubicBezTo>
                    <a:pt x="115" y="232"/>
                    <a:pt x="109" y="225"/>
                    <a:pt x="109" y="218"/>
                  </a:cubicBezTo>
                  <a:cubicBezTo>
                    <a:pt x="109" y="210"/>
                    <a:pt x="115" y="204"/>
                    <a:pt x="123" y="204"/>
                  </a:cubicBezTo>
                  <a:cubicBezTo>
                    <a:pt x="130" y="204"/>
                    <a:pt x="137" y="210"/>
                    <a:pt x="137" y="218"/>
                  </a:cubicBezTo>
                  <a:close/>
                  <a:moveTo>
                    <a:pt x="156" y="195"/>
                  </a:moveTo>
                  <a:cubicBezTo>
                    <a:pt x="156" y="202"/>
                    <a:pt x="149" y="209"/>
                    <a:pt x="142" y="209"/>
                  </a:cubicBezTo>
                  <a:cubicBezTo>
                    <a:pt x="134" y="209"/>
                    <a:pt x="128" y="202"/>
                    <a:pt x="128" y="195"/>
                  </a:cubicBezTo>
                  <a:cubicBezTo>
                    <a:pt x="128" y="187"/>
                    <a:pt x="134" y="181"/>
                    <a:pt x="142" y="181"/>
                  </a:cubicBezTo>
                  <a:cubicBezTo>
                    <a:pt x="149" y="181"/>
                    <a:pt x="156" y="187"/>
                    <a:pt x="156" y="195"/>
                  </a:cubicBezTo>
                  <a:close/>
                  <a:moveTo>
                    <a:pt x="176" y="173"/>
                  </a:moveTo>
                  <a:cubicBezTo>
                    <a:pt x="176" y="180"/>
                    <a:pt x="169" y="187"/>
                    <a:pt x="162" y="187"/>
                  </a:cubicBezTo>
                  <a:cubicBezTo>
                    <a:pt x="154" y="187"/>
                    <a:pt x="148" y="180"/>
                    <a:pt x="148" y="173"/>
                  </a:cubicBezTo>
                  <a:cubicBezTo>
                    <a:pt x="148" y="165"/>
                    <a:pt x="154" y="159"/>
                    <a:pt x="162" y="159"/>
                  </a:cubicBezTo>
                  <a:cubicBezTo>
                    <a:pt x="169" y="159"/>
                    <a:pt x="176" y="165"/>
                    <a:pt x="176" y="173"/>
                  </a:cubicBezTo>
                  <a:close/>
                  <a:moveTo>
                    <a:pt x="198" y="152"/>
                  </a:moveTo>
                  <a:cubicBezTo>
                    <a:pt x="198" y="159"/>
                    <a:pt x="191" y="166"/>
                    <a:pt x="184" y="166"/>
                  </a:cubicBezTo>
                  <a:cubicBezTo>
                    <a:pt x="176" y="166"/>
                    <a:pt x="170" y="159"/>
                    <a:pt x="170" y="152"/>
                  </a:cubicBezTo>
                  <a:cubicBezTo>
                    <a:pt x="170" y="144"/>
                    <a:pt x="176" y="138"/>
                    <a:pt x="184" y="138"/>
                  </a:cubicBezTo>
                  <a:cubicBezTo>
                    <a:pt x="191" y="138"/>
                    <a:pt x="198" y="144"/>
                    <a:pt x="198" y="152"/>
                  </a:cubicBezTo>
                  <a:close/>
                  <a:moveTo>
                    <a:pt x="220" y="132"/>
                  </a:moveTo>
                  <a:cubicBezTo>
                    <a:pt x="220" y="139"/>
                    <a:pt x="213" y="146"/>
                    <a:pt x="206" y="146"/>
                  </a:cubicBezTo>
                  <a:cubicBezTo>
                    <a:pt x="198" y="146"/>
                    <a:pt x="192" y="139"/>
                    <a:pt x="192" y="132"/>
                  </a:cubicBezTo>
                  <a:cubicBezTo>
                    <a:pt x="192" y="124"/>
                    <a:pt x="198" y="118"/>
                    <a:pt x="206" y="118"/>
                  </a:cubicBezTo>
                  <a:cubicBezTo>
                    <a:pt x="213" y="118"/>
                    <a:pt x="220" y="124"/>
                    <a:pt x="220" y="132"/>
                  </a:cubicBezTo>
                  <a:close/>
                  <a:moveTo>
                    <a:pt x="245" y="114"/>
                  </a:moveTo>
                  <a:cubicBezTo>
                    <a:pt x="245" y="121"/>
                    <a:pt x="238" y="128"/>
                    <a:pt x="231" y="128"/>
                  </a:cubicBezTo>
                  <a:cubicBezTo>
                    <a:pt x="223" y="128"/>
                    <a:pt x="217" y="121"/>
                    <a:pt x="217" y="114"/>
                  </a:cubicBezTo>
                  <a:cubicBezTo>
                    <a:pt x="217" y="106"/>
                    <a:pt x="223" y="100"/>
                    <a:pt x="231" y="100"/>
                  </a:cubicBezTo>
                  <a:cubicBezTo>
                    <a:pt x="238" y="100"/>
                    <a:pt x="245" y="106"/>
                    <a:pt x="245" y="114"/>
                  </a:cubicBezTo>
                  <a:close/>
                  <a:moveTo>
                    <a:pt x="270" y="98"/>
                  </a:moveTo>
                  <a:cubicBezTo>
                    <a:pt x="270" y="105"/>
                    <a:pt x="263" y="112"/>
                    <a:pt x="256" y="112"/>
                  </a:cubicBezTo>
                  <a:cubicBezTo>
                    <a:pt x="248" y="112"/>
                    <a:pt x="242" y="105"/>
                    <a:pt x="242" y="98"/>
                  </a:cubicBezTo>
                  <a:cubicBezTo>
                    <a:pt x="242" y="90"/>
                    <a:pt x="248" y="84"/>
                    <a:pt x="256" y="84"/>
                  </a:cubicBezTo>
                  <a:cubicBezTo>
                    <a:pt x="263" y="84"/>
                    <a:pt x="270" y="90"/>
                    <a:pt x="270" y="98"/>
                  </a:cubicBezTo>
                  <a:close/>
                  <a:moveTo>
                    <a:pt x="296" y="83"/>
                  </a:moveTo>
                  <a:cubicBezTo>
                    <a:pt x="296" y="90"/>
                    <a:pt x="289" y="97"/>
                    <a:pt x="282" y="97"/>
                  </a:cubicBezTo>
                  <a:cubicBezTo>
                    <a:pt x="274" y="97"/>
                    <a:pt x="268" y="90"/>
                    <a:pt x="268" y="83"/>
                  </a:cubicBezTo>
                  <a:cubicBezTo>
                    <a:pt x="268" y="75"/>
                    <a:pt x="274" y="69"/>
                    <a:pt x="282" y="69"/>
                  </a:cubicBezTo>
                  <a:cubicBezTo>
                    <a:pt x="289" y="69"/>
                    <a:pt x="296" y="75"/>
                    <a:pt x="296" y="83"/>
                  </a:cubicBezTo>
                  <a:close/>
                  <a:moveTo>
                    <a:pt x="323" y="70"/>
                  </a:moveTo>
                  <a:cubicBezTo>
                    <a:pt x="323" y="77"/>
                    <a:pt x="316" y="84"/>
                    <a:pt x="309" y="84"/>
                  </a:cubicBezTo>
                  <a:cubicBezTo>
                    <a:pt x="301" y="84"/>
                    <a:pt x="295" y="77"/>
                    <a:pt x="295" y="70"/>
                  </a:cubicBezTo>
                  <a:cubicBezTo>
                    <a:pt x="295" y="62"/>
                    <a:pt x="301" y="56"/>
                    <a:pt x="309" y="56"/>
                  </a:cubicBezTo>
                  <a:cubicBezTo>
                    <a:pt x="316" y="56"/>
                    <a:pt x="323" y="62"/>
                    <a:pt x="323" y="70"/>
                  </a:cubicBezTo>
                  <a:close/>
                  <a:moveTo>
                    <a:pt x="351" y="58"/>
                  </a:moveTo>
                  <a:cubicBezTo>
                    <a:pt x="351" y="65"/>
                    <a:pt x="344" y="72"/>
                    <a:pt x="337" y="72"/>
                  </a:cubicBezTo>
                  <a:cubicBezTo>
                    <a:pt x="329" y="72"/>
                    <a:pt x="323" y="65"/>
                    <a:pt x="323" y="58"/>
                  </a:cubicBezTo>
                  <a:cubicBezTo>
                    <a:pt x="323" y="50"/>
                    <a:pt x="329" y="44"/>
                    <a:pt x="337" y="44"/>
                  </a:cubicBezTo>
                  <a:cubicBezTo>
                    <a:pt x="344" y="44"/>
                    <a:pt x="351" y="50"/>
                    <a:pt x="351" y="58"/>
                  </a:cubicBezTo>
                  <a:close/>
                  <a:moveTo>
                    <a:pt x="380" y="49"/>
                  </a:moveTo>
                  <a:cubicBezTo>
                    <a:pt x="380" y="56"/>
                    <a:pt x="373" y="63"/>
                    <a:pt x="366" y="63"/>
                  </a:cubicBezTo>
                  <a:cubicBezTo>
                    <a:pt x="358" y="63"/>
                    <a:pt x="352" y="56"/>
                    <a:pt x="352" y="49"/>
                  </a:cubicBezTo>
                  <a:cubicBezTo>
                    <a:pt x="352" y="41"/>
                    <a:pt x="358" y="35"/>
                    <a:pt x="366" y="35"/>
                  </a:cubicBezTo>
                  <a:cubicBezTo>
                    <a:pt x="373" y="35"/>
                    <a:pt x="380" y="41"/>
                    <a:pt x="380" y="49"/>
                  </a:cubicBezTo>
                  <a:close/>
                  <a:moveTo>
                    <a:pt x="409" y="41"/>
                  </a:moveTo>
                  <a:cubicBezTo>
                    <a:pt x="409" y="48"/>
                    <a:pt x="402" y="55"/>
                    <a:pt x="395" y="55"/>
                  </a:cubicBezTo>
                  <a:cubicBezTo>
                    <a:pt x="387" y="55"/>
                    <a:pt x="381" y="48"/>
                    <a:pt x="381" y="41"/>
                  </a:cubicBezTo>
                  <a:cubicBezTo>
                    <a:pt x="381" y="33"/>
                    <a:pt x="387" y="27"/>
                    <a:pt x="395" y="27"/>
                  </a:cubicBezTo>
                  <a:cubicBezTo>
                    <a:pt x="402" y="27"/>
                    <a:pt x="409" y="33"/>
                    <a:pt x="409" y="41"/>
                  </a:cubicBezTo>
                  <a:close/>
                  <a:moveTo>
                    <a:pt x="438" y="36"/>
                  </a:moveTo>
                  <a:cubicBezTo>
                    <a:pt x="438" y="43"/>
                    <a:pt x="431" y="50"/>
                    <a:pt x="424" y="50"/>
                  </a:cubicBezTo>
                  <a:cubicBezTo>
                    <a:pt x="416" y="50"/>
                    <a:pt x="410" y="43"/>
                    <a:pt x="410" y="36"/>
                  </a:cubicBezTo>
                  <a:cubicBezTo>
                    <a:pt x="410" y="28"/>
                    <a:pt x="416" y="22"/>
                    <a:pt x="424" y="22"/>
                  </a:cubicBezTo>
                  <a:cubicBezTo>
                    <a:pt x="431" y="22"/>
                    <a:pt x="438" y="28"/>
                    <a:pt x="438" y="36"/>
                  </a:cubicBezTo>
                  <a:close/>
                  <a:moveTo>
                    <a:pt x="468" y="32"/>
                  </a:moveTo>
                  <a:cubicBezTo>
                    <a:pt x="468" y="39"/>
                    <a:pt x="461" y="46"/>
                    <a:pt x="454" y="46"/>
                  </a:cubicBezTo>
                  <a:cubicBezTo>
                    <a:pt x="446" y="46"/>
                    <a:pt x="440" y="39"/>
                    <a:pt x="440" y="32"/>
                  </a:cubicBezTo>
                  <a:cubicBezTo>
                    <a:pt x="440" y="24"/>
                    <a:pt x="446" y="18"/>
                    <a:pt x="454" y="18"/>
                  </a:cubicBezTo>
                  <a:cubicBezTo>
                    <a:pt x="461" y="18"/>
                    <a:pt x="468" y="24"/>
                    <a:pt x="468" y="32"/>
                  </a:cubicBezTo>
                  <a:close/>
                  <a:moveTo>
                    <a:pt x="498" y="30"/>
                  </a:moveTo>
                  <a:cubicBezTo>
                    <a:pt x="498" y="37"/>
                    <a:pt x="491" y="44"/>
                    <a:pt x="484" y="44"/>
                  </a:cubicBezTo>
                  <a:cubicBezTo>
                    <a:pt x="476" y="44"/>
                    <a:pt x="470" y="37"/>
                    <a:pt x="470" y="30"/>
                  </a:cubicBezTo>
                  <a:cubicBezTo>
                    <a:pt x="470" y="22"/>
                    <a:pt x="476" y="16"/>
                    <a:pt x="484" y="16"/>
                  </a:cubicBezTo>
                  <a:cubicBezTo>
                    <a:pt x="491" y="16"/>
                    <a:pt x="498" y="22"/>
                    <a:pt x="498" y="30"/>
                  </a:cubicBezTo>
                  <a:close/>
                  <a:moveTo>
                    <a:pt x="529" y="30"/>
                  </a:moveTo>
                  <a:cubicBezTo>
                    <a:pt x="529" y="37"/>
                    <a:pt x="522" y="44"/>
                    <a:pt x="515" y="44"/>
                  </a:cubicBezTo>
                  <a:cubicBezTo>
                    <a:pt x="507" y="44"/>
                    <a:pt x="501" y="37"/>
                    <a:pt x="501" y="30"/>
                  </a:cubicBezTo>
                  <a:cubicBezTo>
                    <a:pt x="501" y="22"/>
                    <a:pt x="507" y="16"/>
                    <a:pt x="515" y="16"/>
                  </a:cubicBezTo>
                  <a:cubicBezTo>
                    <a:pt x="522" y="16"/>
                    <a:pt x="529" y="22"/>
                    <a:pt x="529" y="30"/>
                  </a:cubicBezTo>
                  <a:close/>
                  <a:moveTo>
                    <a:pt x="559" y="32"/>
                  </a:moveTo>
                  <a:cubicBezTo>
                    <a:pt x="559" y="39"/>
                    <a:pt x="552" y="46"/>
                    <a:pt x="545" y="46"/>
                  </a:cubicBezTo>
                  <a:cubicBezTo>
                    <a:pt x="537" y="46"/>
                    <a:pt x="531" y="39"/>
                    <a:pt x="531" y="32"/>
                  </a:cubicBezTo>
                  <a:cubicBezTo>
                    <a:pt x="531" y="24"/>
                    <a:pt x="537" y="18"/>
                    <a:pt x="545" y="18"/>
                  </a:cubicBezTo>
                  <a:cubicBezTo>
                    <a:pt x="552" y="18"/>
                    <a:pt x="559" y="24"/>
                    <a:pt x="559" y="32"/>
                  </a:cubicBezTo>
                  <a:close/>
                  <a:moveTo>
                    <a:pt x="589" y="36"/>
                  </a:moveTo>
                  <a:cubicBezTo>
                    <a:pt x="589" y="43"/>
                    <a:pt x="582" y="50"/>
                    <a:pt x="575" y="50"/>
                  </a:cubicBezTo>
                  <a:cubicBezTo>
                    <a:pt x="567" y="50"/>
                    <a:pt x="561" y="43"/>
                    <a:pt x="561" y="36"/>
                  </a:cubicBezTo>
                  <a:cubicBezTo>
                    <a:pt x="561" y="28"/>
                    <a:pt x="567" y="22"/>
                    <a:pt x="575" y="22"/>
                  </a:cubicBezTo>
                  <a:cubicBezTo>
                    <a:pt x="582" y="22"/>
                    <a:pt x="589" y="28"/>
                    <a:pt x="589" y="36"/>
                  </a:cubicBezTo>
                  <a:close/>
                  <a:moveTo>
                    <a:pt x="618" y="41"/>
                  </a:moveTo>
                  <a:cubicBezTo>
                    <a:pt x="618" y="48"/>
                    <a:pt x="611" y="55"/>
                    <a:pt x="604" y="55"/>
                  </a:cubicBezTo>
                  <a:cubicBezTo>
                    <a:pt x="596" y="55"/>
                    <a:pt x="590" y="48"/>
                    <a:pt x="590" y="41"/>
                  </a:cubicBezTo>
                  <a:cubicBezTo>
                    <a:pt x="590" y="33"/>
                    <a:pt x="596" y="27"/>
                    <a:pt x="604" y="27"/>
                  </a:cubicBezTo>
                  <a:cubicBezTo>
                    <a:pt x="611" y="27"/>
                    <a:pt x="618" y="33"/>
                    <a:pt x="618" y="41"/>
                  </a:cubicBezTo>
                  <a:close/>
                  <a:moveTo>
                    <a:pt x="647" y="49"/>
                  </a:moveTo>
                  <a:cubicBezTo>
                    <a:pt x="647" y="56"/>
                    <a:pt x="640" y="63"/>
                    <a:pt x="633" y="63"/>
                  </a:cubicBezTo>
                  <a:cubicBezTo>
                    <a:pt x="625" y="63"/>
                    <a:pt x="619" y="56"/>
                    <a:pt x="619" y="49"/>
                  </a:cubicBezTo>
                  <a:cubicBezTo>
                    <a:pt x="619" y="41"/>
                    <a:pt x="625" y="35"/>
                    <a:pt x="633" y="35"/>
                  </a:cubicBezTo>
                  <a:cubicBezTo>
                    <a:pt x="640" y="35"/>
                    <a:pt x="647" y="41"/>
                    <a:pt x="647" y="49"/>
                  </a:cubicBezTo>
                  <a:close/>
                  <a:moveTo>
                    <a:pt x="676" y="58"/>
                  </a:moveTo>
                  <a:cubicBezTo>
                    <a:pt x="676" y="65"/>
                    <a:pt x="669" y="72"/>
                    <a:pt x="662" y="72"/>
                  </a:cubicBezTo>
                  <a:cubicBezTo>
                    <a:pt x="654" y="72"/>
                    <a:pt x="648" y="65"/>
                    <a:pt x="648" y="58"/>
                  </a:cubicBezTo>
                  <a:cubicBezTo>
                    <a:pt x="648" y="50"/>
                    <a:pt x="654" y="44"/>
                    <a:pt x="662" y="44"/>
                  </a:cubicBezTo>
                  <a:cubicBezTo>
                    <a:pt x="669" y="44"/>
                    <a:pt x="676" y="50"/>
                    <a:pt x="676" y="58"/>
                  </a:cubicBezTo>
                  <a:close/>
                  <a:moveTo>
                    <a:pt x="704" y="70"/>
                  </a:moveTo>
                  <a:cubicBezTo>
                    <a:pt x="704" y="77"/>
                    <a:pt x="697" y="84"/>
                    <a:pt x="690" y="84"/>
                  </a:cubicBezTo>
                  <a:cubicBezTo>
                    <a:pt x="682" y="84"/>
                    <a:pt x="676" y="77"/>
                    <a:pt x="676" y="70"/>
                  </a:cubicBezTo>
                  <a:cubicBezTo>
                    <a:pt x="676" y="62"/>
                    <a:pt x="682" y="56"/>
                    <a:pt x="690" y="56"/>
                  </a:cubicBezTo>
                  <a:cubicBezTo>
                    <a:pt x="697" y="56"/>
                    <a:pt x="704" y="62"/>
                    <a:pt x="704" y="70"/>
                  </a:cubicBezTo>
                  <a:close/>
                  <a:moveTo>
                    <a:pt x="731" y="83"/>
                  </a:moveTo>
                  <a:cubicBezTo>
                    <a:pt x="731" y="90"/>
                    <a:pt x="724" y="97"/>
                    <a:pt x="717" y="97"/>
                  </a:cubicBezTo>
                  <a:cubicBezTo>
                    <a:pt x="709" y="97"/>
                    <a:pt x="703" y="90"/>
                    <a:pt x="703" y="83"/>
                  </a:cubicBezTo>
                  <a:cubicBezTo>
                    <a:pt x="703" y="75"/>
                    <a:pt x="709" y="69"/>
                    <a:pt x="717" y="69"/>
                  </a:cubicBezTo>
                  <a:cubicBezTo>
                    <a:pt x="724" y="69"/>
                    <a:pt x="731" y="75"/>
                    <a:pt x="731" y="83"/>
                  </a:cubicBezTo>
                  <a:close/>
                  <a:moveTo>
                    <a:pt x="757" y="98"/>
                  </a:moveTo>
                  <a:cubicBezTo>
                    <a:pt x="757" y="105"/>
                    <a:pt x="750" y="112"/>
                    <a:pt x="743" y="112"/>
                  </a:cubicBezTo>
                  <a:cubicBezTo>
                    <a:pt x="735" y="112"/>
                    <a:pt x="729" y="105"/>
                    <a:pt x="729" y="98"/>
                  </a:cubicBezTo>
                  <a:cubicBezTo>
                    <a:pt x="729" y="90"/>
                    <a:pt x="735" y="84"/>
                    <a:pt x="743" y="84"/>
                  </a:cubicBezTo>
                  <a:cubicBezTo>
                    <a:pt x="750" y="84"/>
                    <a:pt x="757" y="90"/>
                    <a:pt x="757" y="98"/>
                  </a:cubicBezTo>
                  <a:close/>
                  <a:moveTo>
                    <a:pt x="782" y="114"/>
                  </a:moveTo>
                  <a:cubicBezTo>
                    <a:pt x="782" y="121"/>
                    <a:pt x="775" y="128"/>
                    <a:pt x="768" y="128"/>
                  </a:cubicBezTo>
                  <a:cubicBezTo>
                    <a:pt x="760" y="128"/>
                    <a:pt x="754" y="121"/>
                    <a:pt x="754" y="114"/>
                  </a:cubicBezTo>
                  <a:cubicBezTo>
                    <a:pt x="754" y="106"/>
                    <a:pt x="760" y="100"/>
                    <a:pt x="768" y="100"/>
                  </a:cubicBezTo>
                  <a:cubicBezTo>
                    <a:pt x="775" y="100"/>
                    <a:pt x="782" y="106"/>
                    <a:pt x="782" y="114"/>
                  </a:cubicBezTo>
                  <a:close/>
                  <a:moveTo>
                    <a:pt x="807" y="132"/>
                  </a:moveTo>
                  <a:cubicBezTo>
                    <a:pt x="807" y="139"/>
                    <a:pt x="800" y="146"/>
                    <a:pt x="793" y="146"/>
                  </a:cubicBezTo>
                  <a:cubicBezTo>
                    <a:pt x="785" y="146"/>
                    <a:pt x="779" y="139"/>
                    <a:pt x="779" y="132"/>
                  </a:cubicBezTo>
                  <a:cubicBezTo>
                    <a:pt x="779" y="124"/>
                    <a:pt x="785" y="118"/>
                    <a:pt x="793" y="118"/>
                  </a:cubicBezTo>
                  <a:cubicBezTo>
                    <a:pt x="800" y="118"/>
                    <a:pt x="807" y="124"/>
                    <a:pt x="807" y="132"/>
                  </a:cubicBezTo>
                  <a:close/>
                  <a:moveTo>
                    <a:pt x="829" y="152"/>
                  </a:moveTo>
                  <a:cubicBezTo>
                    <a:pt x="829" y="159"/>
                    <a:pt x="822" y="166"/>
                    <a:pt x="815" y="166"/>
                  </a:cubicBezTo>
                  <a:cubicBezTo>
                    <a:pt x="807" y="166"/>
                    <a:pt x="801" y="159"/>
                    <a:pt x="801" y="152"/>
                  </a:cubicBezTo>
                  <a:cubicBezTo>
                    <a:pt x="801" y="144"/>
                    <a:pt x="807" y="138"/>
                    <a:pt x="815" y="138"/>
                  </a:cubicBezTo>
                  <a:cubicBezTo>
                    <a:pt x="822" y="138"/>
                    <a:pt x="829" y="144"/>
                    <a:pt x="829" y="152"/>
                  </a:cubicBezTo>
                  <a:close/>
                  <a:moveTo>
                    <a:pt x="851" y="173"/>
                  </a:moveTo>
                  <a:cubicBezTo>
                    <a:pt x="851" y="180"/>
                    <a:pt x="844" y="187"/>
                    <a:pt x="837" y="187"/>
                  </a:cubicBezTo>
                  <a:cubicBezTo>
                    <a:pt x="829" y="187"/>
                    <a:pt x="823" y="180"/>
                    <a:pt x="823" y="173"/>
                  </a:cubicBezTo>
                  <a:cubicBezTo>
                    <a:pt x="823" y="165"/>
                    <a:pt x="829" y="159"/>
                    <a:pt x="837" y="159"/>
                  </a:cubicBezTo>
                  <a:cubicBezTo>
                    <a:pt x="844" y="159"/>
                    <a:pt x="851" y="165"/>
                    <a:pt x="851" y="173"/>
                  </a:cubicBezTo>
                  <a:close/>
                  <a:moveTo>
                    <a:pt x="871" y="195"/>
                  </a:moveTo>
                  <a:cubicBezTo>
                    <a:pt x="871" y="202"/>
                    <a:pt x="864" y="209"/>
                    <a:pt x="857" y="209"/>
                  </a:cubicBezTo>
                  <a:cubicBezTo>
                    <a:pt x="849" y="209"/>
                    <a:pt x="843" y="202"/>
                    <a:pt x="843" y="195"/>
                  </a:cubicBezTo>
                  <a:cubicBezTo>
                    <a:pt x="843" y="187"/>
                    <a:pt x="849" y="181"/>
                    <a:pt x="857" y="181"/>
                  </a:cubicBezTo>
                  <a:cubicBezTo>
                    <a:pt x="864" y="181"/>
                    <a:pt x="871" y="187"/>
                    <a:pt x="871" y="195"/>
                  </a:cubicBezTo>
                  <a:close/>
                  <a:moveTo>
                    <a:pt x="890" y="218"/>
                  </a:moveTo>
                  <a:cubicBezTo>
                    <a:pt x="890" y="225"/>
                    <a:pt x="883" y="232"/>
                    <a:pt x="876" y="232"/>
                  </a:cubicBezTo>
                  <a:cubicBezTo>
                    <a:pt x="868" y="232"/>
                    <a:pt x="862" y="225"/>
                    <a:pt x="862" y="218"/>
                  </a:cubicBezTo>
                  <a:cubicBezTo>
                    <a:pt x="862" y="210"/>
                    <a:pt x="868" y="204"/>
                    <a:pt x="876" y="204"/>
                  </a:cubicBezTo>
                  <a:cubicBezTo>
                    <a:pt x="883" y="204"/>
                    <a:pt x="890" y="210"/>
                    <a:pt x="890" y="218"/>
                  </a:cubicBezTo>
                  <a:close/>
                  <a:moveTo>
                    <a:pt x="907" y="243"/>
                  </a:moveTo>
                  <a:cubicBezTo>
                    <a:pt x="907" y="250"/>
                    <a:pt x="900" y="257"/>
                    <a:pt x="893" y="257"/>
                  </a:cubicBezTo>
                  <a:cubicBezTo>
                    <a:pt x="885" y="257"/>
                    <a:pt x="879" y="250"/>
                    <a:pt x="879" y="243"/>
                  </a:cubicBezTo>
                  <a:cubicBezTo>
                    <a:pt x="879" y="235"/>
                    <a:pt x="885" y="229"/>
                    <a:pt x="893" y="229"/>
                  </a:cubicBezTo>
                  <a:cubicBezTo>
                    <a:pt x="900" y="229"/>
                    <a:pt x="907" y="235"/>
                    <a:pt x="907" y="243"/>
                  </a:cubicBezTo>
                  <a:close/>
                  <a:moveTo>
                    <a:pt x="923" y="269"/>
                  </a:moveTo>
                  <a:cubicBezTo>
                    <a:pt x="923" y="276"/>
                    <a:pt x="916" y="283"/>
                    <a:pt x="909" y="283"/>
                  </a:cubicBezTo>
                  <a:cubicBezTo>
                    <a:pt x="901" y="283"/>
                    <a:pt x="895" y="276"/>
                    <a:pt x="895" y="269"/>
                  </a:cubicBezTo>
                  <a:cubicBezTo>
                    <a:pt x="895" y="261"/>
                    <a:pt x="901" y="255"/>
                    <a:pt x="909" y="255"/>
                  </a:cubicBezTo>
                  <a:cubicBezTo>
                    <a:pt x="916" y="255"/>
                    <a:pt x="923" y="261"/>
                    <a:pt x="923" y="269"/>
                  </a:cubicBezTo>
                  <a:close/>
                  <a:moveTo>
                    <a:pt x="937" y="296"/>
                  </a:moveTo>
                  <a:cubicBezTo>
                    <a:pt x="937" y="303"/>
                    <a:pt x="930" y="310"/>
                    <a:pt x="923" y="310"/>
                  </a:cubicBezTo>
                  <a:cubicBezTo>
                    <a:pt x="915" y="310"/>
                    <a:pt x="909" y="303"/>
                    <a:pt x="909" y="296"/>
                  </a:cubicBezTo>
                  <a:cubicBezTo>
                    <a:pt x="909" y="288"/>
                    <a:pt x="915" y="282"/>
                    <a:pt x="923" y="282"/>
                  </a:cubicBezTo>
                  <a:cubicBezTo>
                    <a:pt x="930" y="282"/>
                    <a:pt x="937" y="288"/>
                    <a:pt x="937" y="296"/>
                  </a:cubicBezTo>
                  <a:close/>
                  <a:moveTo>
                    <a:pt x="949" y="323"/>
                  </a:moveTo>
                  <a:cubicBezTo>
                    <a:pt x="949" y="330"/>
                    <a:pt x="942" y="337"/>
                    <a:pt x="935" y="337"/>
                  </a:cubicBezTo>
                  <a:cubicBezTo>
                    <a:pt x="927" y="337"/>
                    <a:pt x="921" y="330"/>
                    <a:pt x="921" y="323"/>
                  </a:cubicBezTo>
                  <a:cubicBezTo>
                    <a:pt x="921" y="315"/>
                    <a:pt x="927" y="309"/>
                    <a:pt x="935" y="309"/>
                  </a:cubicBezTo>
                  <a:cubicBezTo>
                    <a:pt x="942" y="309"/>
                    <a:pt x="949" y="315"/>
                    <a:pt x="949" y="323"/>
                  </a:cubicBezTo>
                  <a:close/>
                  <a:moveTo>
                    <a:pt x="960" y="351"/>
                  </a:moveTo>
                  <a:cubicBezTo>
                    <a:pt x="960" y="358"/>
                    <a:pt x="953" y="365"/>
                    <a:pt x="946" y="365"/>
                  </a:cubicBezTo>
                  <a:cubicBezTo>
                    <a:pt x="938" y="365"/>
                    <a:pt x="932" y="358"/>
                    <a:pt x="932" y="351"/>
                  </a:cubicBezTo>
                  <a:cubicBezTo>
                    <a:pt x="932" y="343"/>
                    <a:pt x="938" y="337"/>
                    <a:pt x="946" y="337"/>
                  </a:cubicBezTo>
                  <a:cubicBezTo>
                    <a:pt x="953" y="337"/>
                    <a:pt x="960" y="343"/>
                    <a:pt x="960" y="351"/>
                  </a:cubicBezTo>
                  <a:close/>
                  <a:moveTo>
                    <a:pt x="968" y="380"/>
                  </a:moveTo>
                  <a:cubicBezTo>
                    <a:pt x="968" y="387"/>
                    <a:pt x="961" y="394"/>
                    <a:pt x="954" y="394"/>
                  </a:cubicBezTo>
                  <a:cubicBezTo>
                    <a:pt x="946" y="394"/>
                    <a:pt x="940" y="387"/>
                    <a:pt x="940" y="380"/>
                  </a:cubicBezTo>
                  <a:cubicBezTo>
                    <a:pt x="940" y="372"/>
                    <a:pt x="946" y="366"/>
                    <a:pt x="954" y="366"/>
                  </a:cubicBezTo>
                  <a:cubicBezTo>
                    <a:pt x="961" y="366"/>
                    <a:pt x="968" y="372"/>
                    <a:pt x="968" y="380"/>
                  </a:cubicBezTo>
                  <a:close/>
                  <a:moveTo>
                    <a:pt x="975" y="410"/>
                  </a:moveTo>
                  <a:cubicBezTo>
                    <a:pt x="975" y="417"/>
                    <a:pt x="968" y="424"/>
                    <a:pt x="961" y="424"/>
                  </a:cubicBezTo>
                  <a:cubicBezTo>
                    <a:pt x="953" y="424"/>
                    <a:pt x="947" y="417"/>
                    <a:pt x="947" y="410"/>
                  </a:cubicBezTo>
                  <a:cubicBezTo>
                    <a:pt x="947" y="402"/>
                    <a:pt x="953" y="396"/>
                    <a:pt x="961" y="396"/>
                  </a:cubicBezTo>
                  <a:cubicBezTo>
                    <a:pt x="968" y="396"/>
                    <a:pt x="975" y="402"/>
                    <a:pt x="975" y="410"/>
                  </a:cubicBezTo>
                  <a:close/>
                  <a:moveTo>
                    <a:pt x="980" y="439"/>
                  </a:moveTo>
                  <a:cubicBezTo>
                    <a:pt x="980" y="446"/>
                    <a:pt x="973" y="453"/>
                    <a:pt x="966" y="453"/>
                  </a:cubicBezTo>
                  <a:cubicBezTo>
                    <a:pt x="958" y="453"/>
                    <a:pt x="952" y="446"/>
                    <a:pt x="952" y="439"/>
                  </a:cubicBezTo>
                  <a:cubicBezTo>
                    <a:pt x="952" y="431"/>
                    <a:pt x="958" y="425"/>
                    <a:pt x="966" y="425"/>
                  </a:cubicBezTo>
                  <a:cubicBezTo>
                    <a:pt x="973" y="425"/>
                    <a:pt x="980" y="431"/>
                    <a:pt x="980" y="439"/>
                  </a:cubicBezTo>
                  <a:close/>
                  <a:moveTo>
                    <a:pt x="983" y="469"/>
                  </a:moveTo>
                  <a:cubicBezTo>
                    <a:pt x="983" y="476"/>
                    <a:pt x="976" y="483"/>
                    <a:pt x="969" y="483"/>
                  </a:cubicBezTo>
                  <a:cubicBezTo>
                    <a:pt x="961" y="483"/>
                    <a:pt x="955" y="476"/>
                    <a:pt x="955" y="469"/>
                  </a:cubicBezTo>
                  <a:cubicBezTo>
                    <a:pt x="955" y="461"/>
                    <a:pt x="961" y="455"/>
                    <a:pt x="969" y="455"/>
                  </a:cubicBezTo>
                  <a:cubicBezTo>
                    <a:pt x="976" y="455"/>
                    <a:pt x="983" y="461"/>
                    <a:pt x="983" y="469"/>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2" name="Forma 35"/>
            <p:cNvSpPr/>
            <p:nvPr/>
          </p:nvSpPr>
          <p:spPr>
            <a:xfrm>
              <a:off x="5486400" y="3291840"/>
              <a:ext cx="2011680" cy="2011680"/>
            </a:xfrm>
            <a:custGeom>
              <a:avLst/>
              <a:gdLst/>
              <a:ahLst/>
              <a:cxnLst/>
              <a:rect l="0" t="0" r="r" b="b"/>
              <a:pathLst>
                <a:path w="1000" h="1000" fill="none">
                  <a:moveTo>
                    <a:pt x="7" y="413"/>
                  </a:moveTo>
                  <a:cubicBezTo>
                    <a:pt x="16" y="385"/>
                    <a:pt x="37" y="298"/>
                    <a:pt x="66" y="249"/>
                  </a:cubicBezTo>
                  <a:cubicBezTo>
                    <a:pt x="94" y="199"/>
                    <a:pt x="134" y="152"/>
                    <a:pt x="178" y="116"/>
                  </a:cubicBezTo>
                  <a:cubicBezTo>
                    <a:pt x="221" y="79"/>
                    <a:pt x="274" y="49"/>
                    <a:pt x="328" y="30"/>
                  </a:cubicBezTo>
                  <a:cubicBezTo>
                    <a:pt x="381" y="10"/>
                    <a:pt x="441" y="0"/>
                    <a:pt x="499" y="0"/>
                  </a:cubicBezTo>
                  <a:cubicBezTo>
                    <a:pt x="556" y="0"/>
                    <a:pt x="617" y="10"/>
                    <a:pt x="671" y="30"/>
                  </a:cubicBezTo>
                  <a:cubicBezTo>
                    <a:pt x="724" y="49"/>
                    <a:pt x="777" y="79"/>
                    <a:pt x="821" y="116"/>
                  </a:cubicBezTo>
                  <a:cubicBezTo>
                    <a:pt x="864" y="152"/>
                    <a:pt x="904" y="199"/>
                    <a:pt x="933" y="249"/>
                  </a:cubicBezTo>
                  <a:cubicBezTo>
                    <a:pt x="961" y="298"/>
                    <a:pt x="982" y="385"/>
                    <a:pt x="992" y="413"/>
                  </a:cubicBezTo>
                </a:path>
              </a:pathLst>
            </a:custGeom>
            <a:noFill/>
            <a:ln w="88900" cap="rnd">
              <a:solidFill>
                <a:srgbClr val="2E4A9E"/>
              </a:solidFill>
              <a:round/>
            </a:ln>
          </p:spPr>
        </p:sp>
        <p:sp>
          <p:nvSpPr>
            <p:cNvPr id="33" name="Forma 36"/>
            <p:cNvSpPr txBox="1"/>
            <p:nvPr/>
          </p:nvSpPr>
          <p:spPr>
            <a:xfrm>
              <a:off x="6035040" y="3026664"/>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20336E"/>
                  </a:solidFill>
                  <a:latin typeface="Bahnschrift SemiBold Condensed"/>
                  <a:ea typeface="Bahnschrift SemiBold Condensed"/>
                  <a:cs typeface="Bahnschrift SemiBold Condensed"/>
                  <a:sym typeface="Bahnschrift SemiBold Condensed"/>
                </a:rPr>
                <a:t>ApoB-100</a:t>
              </a:r>
              <a:endParaRPr lang="es-AR" sz="1050" dirty="0">
                <a:latin typeface="Bahnschrift SemiBold Condensed"/>
              </a:endParaRPr>
            </a:p>
          </p:txBody>
        </p:sp>
        <p:sp>
          <p:nvSpPr>
            <p:cNvPr id="34" name="Forma 37"/>
            <p:cNvSpPr txBox="1"/>
            <p:nvPr/>
          </p:nvSpPr>
          <p:spPr>
            <a:xfrm>
              <a:off x="5486400" y="3895344"/>
              <a:ext cx="2011680" cy="804672"/>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VLDL</a:t>
              </a:r>
              <a:endParaRPr lang="es-AR" sz="1800" dirty="0">
                <a:latin typeface="Bahnschrift SemiBold Condensed"/>
              </a:endParaRPr>
            </a:p>
          </p:txBody>
        </p:sp>
      </p:grpSp>
      <p:sp>
        <p:nvSpPr>
          <p:cNvPr id="35" name="Gota hepática"/>
          <p:cNvSpPr/>
          <p:nvPr/>
        </p:nvSpPr>
        <p:spPr>
          <a:xfrm>
            <a:off x="3931920" y="4937760"/>
            <a:ext cx="1280160" cy="1280160"/>
          </a:xfrm>
          <a:custGeom>
            <a:avLst/>
            <a:gdLst/>
            <a:ahLst/>
            <a:cxnLst/>
            <a:rect l="0" t="0" r="r" b="b"/>
            <a:pathLst>
              <a:path w="1000" h="1000">
                <a:moveTo>
                  <a:pt x="920" y="500"/>
                </a:moveTo>
                <a:cubicBezTo>
                  <a:pt x="920" y="731"/>
                  <a:pt x="731" y="920"/>
                  <a:pt x="500" y="920"/>
                </a:cubicBezTo>
                <a:cubicBezTo>
                  <a:pt x="268" y="920"/>
                  <a:pt x="80" y="731"/>
                  <a:pt x="80" y="500"/>
                </a:cubicBezTo>
                <a:cubicBezTo>
                  <a:pt x="80" y="268"/>
                  <a:pt x="268" y="80"/>
                  <a:pt x="500" y="80"/>
                </a:cubicBezTo>
                <a:cubicBezTo>
                  <a:pt x="731" y="80"/>
                  <a:pt x="920" y="268"/>
                  <a:pt x="920" y="50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sp>
        <p:nvSpPr>
          <p:cNvPr id="36" name="Forma 39"/>
          <p:cNvSpPr txBox="1"/>
          <p:nvPr/>
        </p:nvSpPr>
        <p:spPr>
          <a:xfrm>
            <a:off x="3291840" y="6172200"/>
            <a:ext cx="256032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7E5109"/>
                </a:solidFill>
                <a:latin typeface="Bahnschrift SemiBold Condensed"/>
                <a:ea typeface="Bahnschrift SemiBold Condensed"/>
                <a:cs typeface="Bahnschrift SemiBold Condensed"/>
                <a:sym typeface="Bahnschrift SemiBold Condensed"/>
              </a:rPr>
              <a:t>almacenamiento en gotas</a:t>
            </a:r>
            <a:endParaRPr lang="es-AR" sz="1250" dirty="0">
              <a:latin typeface="Bahnschrift SemiBold Condensed"/>
            </a:endParaRPr>
          </a:p>
        </p:txBody>
      </p:sp>
      <p:grpSp>
        <p:nvGrpSpPr>
          <p:cNvPr id="37" name="Recuadro Tres destinos"/>
          <p:cNvGrpSpPr/>
          <p:nvPr/>
        </p:nvGrpSpPr>
        <p:grpSpPr>
          <a:xfrm>
            <a:off x="7955280" y="1005840"/>
            <a:ext cx="3840480" cy="2377440"/>
            <a:chOff x="7955280" y="1005840"/>
            <a:chExt cx="3840480" cy="2377440"/>
          </a:xfrm>
        </p:grpSpPr>
        <p:sp>
          <p:nvSpPr>
            <p:cNvPr id="38" name="Forma 41"/>
            <p:cNvSpPr/>
            <p:nvPr/>
          </p:nvSpPr>
          <p:spPr>
            <a:xfrm>
              <a:off x="7955280" y="1188720"/>
              <a:ext cx="3840480" cy="21945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Destinos del TAG hepático: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VLDL</a:t>
              </a:r>
              <a:r>
                <a:rPr lang="es-AR" sz="1650" dirty="0">
                  <a:solidFill>
                    <a:srgbClr val="1E1E1E"/>
                  </a:solidFill>
                  <a:latin typeface="Bahnschrift"/>
                  <a:ea typeface="Bahnschrift"/>
                  <a:cs typeface="Bahnschrift"/>
                  <a:sym typeface="Bahnschrift"/>
                </a:rPr>
                <a:t> (ApoB-100, MTP, fosfolípidos, colesterol)</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Gotas</a:t>
              </a:r>
              <a:r>
                <a:rPr lang="es-AR" sz="1650" dirty="0">
                  <a:solidFill>
                    <a:srgbClr val="1E1E1E"/>
                  </a:solidFill>
                  <a:latin typeface="Bahnschrift"/>
                  <a:ea typeface="Bahnschrift"/>
                  <a:cs typeface="Bahnschrift"/>
                  <a:sym typeface="Bahnschrift"/>
                </a:rPr>
                <a:t> citosólicas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Degradación</a:t>
              </a:r>
              <a:r>
                <a:rPr lang="es-AR" sz="1650" dirty="0">
                  <a:solidFill>
                    <a:srgbClr val="1E1E1E"/>
                  </a:solidFill>
                  <a:latin typeface="Bahnschrift"/>
                  <a:ea typeface="Bahnschrift"/>
                  <a:cs typeface="Bahnschrift"/>
                  <a:sym typeface="Bahnschrift"/>
                </a:rPr>
                <a:t> (lipólisis/lipofagia)</a:t>
              </a:r>
              <a:endParaRPr lang="es-AR" sz="1650" dirty="0">
                <a:latin typeface="Bahnschrift"/>
              </a:endParaRPr>
            </a:p>
          </p:txBody>
        </p:sp>
        <p:sp>
          <p:nvSpPr>
            <p:cNvPr id="39" name="Forma 42"/>
            <p:cNvSpPr/>
            <p:nvPr/>
          </p:nvSpPr>
          <p:spPr>
            <a:xfrm>
              <a:off x="8065008" y="1005840"/>
              <a:ext cx="147206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TRES DESTINOS</a:t>
              </a:r>
              <a:endParaRPr lang="es-AR" sz="1500" dirty="0">
                <a:latin typeface="Bahnschrift SemiBold Condensed"/>
              </a:endParaRPr>
            </a:p>
          </p:txBody>
        </p:sp>
      </p:grpSp>
      <p:grpSp>
        <p:nvGrpSpPr>
          <p:cNvPr id="40" name="Recuadro Regulación"/>
          <p:cNvGrpSpPr/>
          <p:nvPr/>
        </p:nvGrpSpPr>
        <p:grpSpPr>
          <a:xfrm>
            <a:off x="7955280" y="3566160"/>
            <a:ext cx="3840480" cy="2926080"/>
            <a:chOff x="7955280" y="3566160"/>
            <a:chExt cx="3840480" cy="2926080"/>
          </a:xfrm>
        </p:grpSpPr>
        <p:sp>
          <p:nvSpPr>
            <p:cNvPr id="41" name="Forma 44"/>
            <p:cNvSpPr/>
            <p:nvPr/>
          </p:nvSpPr>
          <p:spPr>
            <a:xfrm>
              <a:off x="7955280" y="3749040"/>
              <a:ext cx="3840480" cy="27432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Saciedad rica en carbohidratos: ↑ glucólisis/citrato, ACC, FASN, NADPH (insulina, </a:t>
              </a:r>
              <a:r>
                <a:rPr lang="es-AR" sz="1600" b="1" dirty="0">
                  <a:solidFill>
                    <a:srgbClr val="1E1E1E"/>
                  </a:solidFill>
                  <a:latin typeface="Bahnschrift"/>
                  <a:ea typeface="Bahnschrift"/>
                  <a:cs typeface="Bahnschrift"/>
                  <a:sym typeface="Bahnschrift"/>
                </a:rPr>
                <a:t>ChREBP, SREBP-1c</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secreción de </a:t>
              </a:r>
              <a:r>
                <a:rPr lang="es-AR" sz="1600" b="1" dirty="0">
                  <a:solidFill>
                    <a:srgbClr val="1E1E1E"/>
                  </a:solidFill>
                  <a:latin typeface="Bahnschrift"/>
                  <a:ea typeface="Bahnschrift"/>
                  <a:cs typeface="Bahnschrift"/>
                  <a:sym typeface="Bahnschrift"/>
                </a:rPr>
                <a:t>VLDL</a:t>
              </a:r>
              <a:r>
                <a:rPr lang="es-AR" sz="1600" dirty="0">
                  <a:solidFill>
                    <a:srgbClr val="1E1E1E"/>
                  </a:solidFill>
                  <a:latin typeface="Bahnschrift"/>
                  <a:ea typeface="Bahnschrift"/>
                  <a:cs typeface="Bahnschrift"/>
                  <a:sym typeface="Bahnschrift"/>
                </a:rPr>
                <a:t> puede aumentar si lipogénesis y esterificación </a:t>
              </a:r>
              <a:r>
                <a:rPr lang="es-AR" sz="1600" b="1" dirty="0">
                  <a:solidFill>
                    <a:srgbClr val="1E1E1E"/>
                  </a:solidFill>
                  <a:latin typeface="Bahnschrift"/>
                  <a:ea typeface="Bahnschrift"/>
                  <a:cs typeface="Bahnschrift"/>
                  <a:sym typeface="Bahnschrift"/>
                </a:rPr>
                <a:t>exceden</a:t>
              </a:r>
              <a:r>
                <a:rPr lang="es-AR" sz="1600" dirty="0">
                  <a:solidFill>
                    <a:srgbClr val="1E1E1E"/>
                  </a:solidFill>
                  <a:latin typeface="Bahnschrift"/>
                  <a:ea typeface="Bahnschrift"/>
                  <a:cs typeface="Bahnschrift"/>
                  <a:sym typeface="Bahnschrift"/>
                </a:rPr>
                <a:t> oxidación y depuración.</a:t>
              </a:r>
              <a:endParaRPr lang="es-AR" sz="1600" dirty="0">
                <a:latin typeface="Bahnschrift"/>
              </a:endParaRPr>
            </a:p>
          </p:txBody>
        </p:sp>
        <p:sp>
          <p:nvSpPr>
            <p:cNvPr id="42" name="Forma 45"/>
            <p:cNvSpPr/>
            <p:nvPr/>
          </p:nvSpPr>
          <p:spPr>
            <a:xfrm>
              <a:off x="8065008" y="3566160"/>
              <a:ext cx="121839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REGULACIÓN</a:t>
              </a:r>
              <a:endParaRPr lang="es-AR" sz="145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53973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16 · ESTERIFICACIÓN Y EXPORTACIÓN COMO VLDL</a:t>
            </a:r>
            <a:endParaRPr lang="es-AR" sz="2600" dirty="0">
              <a:latin typeface="Bahnschrift SemiBold Condensed"/>
            </a:endParaRPr>
          </a:p>
        </p:txBody>
      </p:sp>
      <p:sp>
        <p:nvSpPr>
          <p:cNvPr id="4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1"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up)">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up)">
                                      <p:cBhvr>
                                        <p:cTn id="19" dur="600"/>
                                        <p:tgtEl>
                                          <p:spTgt spid="9"/>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up)">
                                      <p:cBhvr>
                                        <p:cTn id="28" dur="600"/>
                                        <p:tgtEl>
                                          <p:spTgt spid="13"/>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up)">
                                      <p:cBhvr>
                                        <p:cTn id="37" dur="600"/>
                                        <p:tgtEl>
                                          <p:spTgt spid="17"/>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58"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par>
                          <p:cTn id="51" fill="hold">
                            <p:stCondLst>
                              <p:cond delay="500"/>
                            </p:stCondLst>
                            <p:childTnLst>
                              <p:par>
                                <p:cTn id="48" presetID="10" presetClass="entr" presetSubtype="0" fill="hold" grpId="0" nodeType="after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500"/>
                                        <p:tgtEl>
                                          <p:spTgt spid="28"/>
                                        </p:tgtEl>
                                      </p:cBhvr>
                                    </p:animEffect>
                                  </p:childTnLst>
                                </p:cTn>
                              </p:par>
                            </p:childTnLst>
                          </p:cTn>
                        </p:par>
                        <p:par>
                          <p:cTn id="57" fill="hold">
                            <p:stCondLst>
                              <p:cond delay="1000"/>
                            </p:stCondLst>
                            <p:childTnLst>
                              <p:par>
                                <p:cTn id="52" presetID="53" presetClass="entr" presetSubtype="16" fill="hold" grpId="0" nodeType="afterEffect">
                                  <p:stCondLst>
                                    <p:cond delay="0"/>
                                  </p:stCondLst>
                                  <p:childTnLst>
                                    <p:set>
                                      <p:cBhvr>
                                        <p:cTn id="53" dur="1" fill="hold">
                                          <p:stCondLst>
                                            <p:cond delay="0"/>
                                          </p:stCondLst>
                                        </p:cTn>
                                        <p:tgtEl>
                                          <p:spTgt spid="29"/>
                                        </p:tgtEl>
                                        <p:attrNameLst>
                                          <p:attrName>style.visibility</p:attrName>
                                        </p:attrNameLst>
                                      </p:cBhvr>
                                      <p:to>
                                        <p:strVal val="visible"/>
                                      </p:to>
                                    </p:set>
                                    <p:anim calcmode="lin" valueType="num">
                                      <p:cBhvr>
                                        <p:cTn id="54" dur="500" fill="hold"/>
                                        <p:tgtEl>
                                          <p:spTgt spid="29"/>
                                        </p:tgtEl>
                                        <p:attrNameLst>
                                          <p:attrName>ppt_w</p:attrName>
                                        </p:attrNameLst>
                                      </p:cBhvr>
                                      <p:tavLst>
                                        <p:tav tm="0">
                                          <p:val>
                                            <p:fltVal val="0"/>
                                          </p:val>
                                        </p:tav>
                                        <p:tav tm="100000">
                                          <p:val>
                                            <p:strVal val="#ppt_w"/>
                                          </p:val>
                                        </p:tav>
                                      </p:tavLst>
                                    </p:anim>
                                    <p:anim calcmode="lin" valueType="num">
                                      <p:cBhvr>
                                        <p:cTn id="55" dur="500" fill="hold"/>
                                        <p:tgtEl>
                                          <p:spTgt spid="29"/>
                                        </p:tgtEl>
                                        <p:attrNameLst>
                                          <p:attrName>ppt_h</p:attrName>
                                        </p:attrNameLst>
                                      </p:cBhvr>
                                      <p:tavLst>
                                        <p:tav tm="0">
                                          <p:val>
                                            <p:fltVal val="0"/>
                                          </p:val>
                                        </p:tav>
                                        <p:tav tm="100000">
                                          <p:val>
                                            <p:strVal val="#ppt_h"/>
                                          </p:val>
                                        </p:tav>
                                      </p:tavLst>
                                    </p:anim>
                                    <p:animEffect transition="in" filter="fade">
                                      <p:cBhvr>
                                        <p:cTn id="56" dur="500"/>
                                        <p:tgtEl>
                                          <p:spTgt spid="29"/>
                                        </p:tgtEl>
                                      </p:cBhvr>
                                    </p:animEffect>
                                  </p:childTnLst>
                                </p:cTn>
                              </p:par>
                            </p:childTnLst>
                          </p:cTn>
                        </p:par>
                      </p:childTnLst>
                    </p:cTn>
                  </p:par>
                  <p:par>
                    <p:cTn id="63" fill="hold">
                      <p:stCondLst>
                        <p:cond delay="indefinite"/>
                      </p:stCondLst>
                      <p:childTnLst>
                        <p:par>
                          <p:cTn id="62"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childTnLst>
                          </p:cTn>
                        </p:par>
                      </p:childTnLst>
                    </p:cTn>
                  </p:par>
                  <p:par>
                    <p:cTn id="68" fill="hold">
                      <p:stCondLst>
                        <p:cond delay="indefinite"/>
                      </p:stCondLst>
                      <p:childTnLst>
                        <p:par>
                          <p:cTn id="67"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7"/>
                                        </p:tgtEl>
                                        <p:attrNameLst>
                                          <p:attrName>style.visibility</p:attrName>
                                        </p:attrNameLst>
                                      </p:cBhvr>
                                      <p:to>
                                        <p:strVal val="visible"/>
                                      </p:to>
                                    </p:set>
                                    <p:animEffect transition="in" filter="fade">
                                      <p:cBhvr>
                                        <p:cTn id="66" dur="500"/>
                                        <p:tgtEl>
                                          <p:spTgt spid="37"/>
                                        </p:tgtEl>
                                      </p:cBhvr>
                                    </p:animEffect>
                                  </p:childTnLst>
                                </p:cTn>
                              </p:par>
                            </p:childTnLst>
                          </p:cTn>
                        </p:par>
                      </p:childTnLst>
                    </p:cTn>
                  </p:par>
                  <p:par>
                    <p:cTn id="73" fill="hold">
                      <p:stCondLst>
                        <p:cond delay="indefinite"/>
                      </p:stCondLst>
                      <p:childTnLst>
                        <p:par>
                          <p:cTn id="72"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2" grpId="0" animBg="1"/>
      <p:bldP spid="16" grpId="0" animBg="1"/>
      <p:bldP spid="20" grpId="0" animBg="1"/>
      <p:bldP spid="28" grpId="0" animBg="1"/>
      <p:bldP spid="35" grpId="0" animBg="1"/>
    </p:bldLst>
  </p:timing>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Recuadro Saciedad"/>
          <p:cNvGrpSpPr/>
          <p:nvPr/>
        </p:nvGrpSpPr>
        <p:grpSpPr>
          <a:xfrm>
            <a:off x="365760" y="1005840"/>
            <a:ext cx="5577840" cy="2743200"/>
            <a:chOff x="365760" y="1005840"/>
            <a:chExt cx="5577840" cy="2743200"/>
          </a:xfrm>
        </p:grpSpPr>
        <p:sp>
          <p:nvSpPr>
            <p:cNvPr id="5" name="Forma 4"/>
            <p:cNvSpPr/>
            <p:nvPr/>
          </p:nvSpPr>
          <p:spPr>
            <a:xfrm>
              <a:off x="365760" y="1188720"/>
              <a:ext cx="5577840" cy="25603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 DNL</a:t>
              </a:r>
              <a:r>
                <a:rPr lang="es-AR" sz="1750" dirty="0">
                  <a:solidFill>
                    <a:srgbClr val="1E1E1E"/>
                  </a:solidFill>
                  <a:latin typeface="Bahnschrift"/>
                  <a:ea typeface="Bahnschrift"/>
                  <a:cs typeface="Bahnschrift"/>
                  <a:sym typeface="Bahnschrift"/>
                </a:rPr>
                <a:t>: citrato → ATP-citrato liasa → ACC → FASN.</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Glicerol-3-P desde </a:t>
              </a:r>
              <a:r>
                <a:rPr lang="es-AR" sz="1750" b="1" dirty="0">
                  <a:solidFill>
                    <a:srgbClr val="1E1E1E"/>
                  </a:solidFill>
                  <a:latin typeface="Bahnschrift"/>
                  <a:ea typeface="Bahnschrift"/>
                  <a:cs typeface="Bahnschrift"/>
                  <a:sym typeface="Bahnschrift"/>
                </a:rPr>
                <a:t>glucólisis</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Insulina, ChREBP y SREBP-1c </a:t>
              </a:r>
              <a:r>
                <a:rPr lang="es-AR" sz="1750" b="1" dirty="0">
                  <a:solidFill>
                    <a:srgbClr val="1E1E1E"/>
                  </a:solidFill>
                  <a:latin typeface="Bahnschrift"/>
                  <a:ea typeface="Bahnschrift"/>
                  <a:cs typeface="Bahnschrift"/>
                  <a:sym typeface="Bahnschrift"/>
                </a:rPr>
                <a:t>inducen</a:t>
              </a:r>
              <a:r>
                <a:rPr lang="es-AR" sz="1750" dirty="0">
                  <a:solidFill>
                    <a:srgbClr val="1E1E1E"/>
                  </a:solidFill>
                  <a:latin typeface="Bahnschrift"/>
                  <a:ea typeface="Bahnschrift"/>
                  <a:cs typeface="Bahnschrift"/>
                  <a:sym typeface="Bahnschrift"/>
                </a:rPr>
                <a:t> la maquinaria.</a:t>
              </a:r>
              <a:endParaRPr lang="es-AR" sz="1750" dirty="0">
                <a:latin typeface="Bahnschrift"/>
              </a:endParaRPr>
            </a:p>
          </p:txBody>
        </p:sp>
        <p:sp>
          <p:nvSpPr>
            <p:cNvPr id="6" name="Forma 5"/>
            <p:cNvSpPr/>
            <p:nvPr/>
          </p:nvSpPr>
          <p:spPr>
            <a:xfrm>
              <a:off x="475488" y="1005840"/>
              <a:ext cx="1097982"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SACIEDAD</a:t>
              </a:r>
              <a:endParaRPr lang="es-AR" sz="1600" dirty="0">
                <a:latin typeface="Bahnschrift SemiBold Condensed"/>
              </a:endParaRPr>
            </a:p>
          </p:txBody>
        </p:sp>
      </p:grpSp>
      <p:grpSp>
        <p:nvGrpSpPr>
          <p:cNvPr id="7" name="Recuadro Ayuno"/>
          <p:cNvGrpSpPr/>
          <p:nvPr/>
        </p:nvGrpSpPr>
        <p:grpSpPr>
          <a:xfrm>
            <a:off x="6217920" y="1005840"/>
            <a:ext cx="5577840" cy="2743200"/>
            <a:chOff x="6217920" y="1005840"/>
            <a:chExt cx="5577840" cy="2743200"/>
          </a:xfrm>
        </p:grpSpPr>
        <p:sp>
          <p:nvSpPr>
            <p:cNvPr id="8" name="Forma 7"/>
            <p:cNvSpPr/>
            <p:nvPr/>
          </p:nvSpPr>
          <p:spPr>
            <a:xfrm>
              <a:off x="6217920" y="1188720"/>
              <a:ext cx="5577840" cy="25603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 DNL</a:t>
              </a:r>
              <a:r>
                <a:rPr lang="es-AR" sz="1750" dirty="0">
                  <a:solidFill>
                    <a:srgbClr val="1E1E1E"/>
                  </a:solidFill>
                  <a:latin typeface="Bahnschrift"/>
                  <a:ea typeface="Bahnschrift"/>
                  <a:cs typeface="Bahnschrift"/>
                  <a:sym typeface="Bahnschrift"/>
                </a:rPr>
                <a:t>, pero el hígado </a:t>
              </a:r>
              <a:r>
                <a:rPr lang="es-AR" sz="1750" b="1" dirty="0">
                  <a:solidFill>
                    <a:srgbClr val="1E1E1E"/>
                  </a:solidFill>
                  <a:latin typeface="Bahnschrift"/>
                  <a:ea typeface="Bahnschrift"/>
                  <a:cs typeface="Bahnschrift"/>
                  <a:sym typeface="Bahnschrift"/>
                </a:rPr>
                <a:t>sigue formando TAG y VLDL</a:t>
              </a:r>
              <a:r>
                <a:rPr lang="es-AR" sz="1750" dirty="0">
                  <a:solidFill>
                    <a:srgbClr val="1E1E1E"/>
                  </a:solidFill>
                  <a:latin typeface="Bahnschrift"/>
                  <a:ea typeface="Bahnschrift"/>
                  <a:cs typeface="Bahnschrift"/>
                  <a:sym typeface="Bahnschrift"/>
                </a:rPr>
                <a:t> desde AG del </a:t>
              </a:r>
              <a:r>
                <a:rPr lang="es-AR" sz="1750" b="1" dirty="0">
                  <a:solidFill>
                    <a:srgbClr val="1E1E1E"/>
                  </a:solidFill>
                  <a:latin typeface="Bahnschrift"/>
                  <a:ea typeface="Bahnschrift"/>
                  <a:cs typeface="Bahnschrift"/>
                  <a:sym typeface="Bahnschrift"/>
                </a:rPr>
                <a:t>adiposo</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Insulina baja, AMPK y CPT1 favorecen la </a:t>
              </a:r>
              <a:r>
                <a:rPr lang="es-AR" sz="1750" b="1" dirty="0">
                  <a:solidFill>
                    <a:srgbClr val="1E1E1E"/>
                  </a:solidFill>
                  <a:latin typeface="Bahnschrift"/>
                  <a:ea typeface="Bahnschrift"/>
                  <a:cs typeface="Bahnschrift"/>
                  <a:sym typeface="Bahnschrift"/>
                </a:rPr>
                <a:t>β-oxidación</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proporción oxidación/almacenamiento depende del contexto.</a:t>
              </a:r>
              <a:endParaRPr lang="es-AR" sz="1750" dirty="0">
                <a:latin typeface="Bahnschrift"/>
              </a:endParaRPr>
            </a:p>
          </p:txBody>
        </p:sp>
        <p:sp>
          <p:nvSpPr>
            <p:cNvPr id="9" name="Forma 8"/>
            <p:cNvSpPr/>
            <p:nvPr/>
          </p:nvSpPr>
          <p:spPr>
            <a:xfrm>
              <a:off x="6327648" y="1005840"/>
              <a:ext cx="854250" cy="347472"/>
            </a:xfrm>
            <a:prstGeom prst="rect">
              <a:avLst/>
            </a:prstGeom>
            <a:solidFill>
              <a:srgbClr val="2563B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AYUNO</a:t>
              </a:r>
              <a:endParaRPr lang="es-AR" sz="1600" dirty="0">
                <a:latin typeface="Bahnschrift SemiBold Condensed"/>
              </a:endParaRPr>
            </a:p>
          </p:txBody>
        </p:sp>
      </p:grpSp>
      <p:sp>
        <p:nvSpPr>
          <p:cNvPr id="10" name="Perla"/>
          <p:cNvSpPr/>
          <p:nvPr/>
        </p:nvSpPr>
        <p:spPr>
          <a:xfrm>
            <a:off x="365760" y="3931920"/>
            <a:ext cx="11430000" cy="8686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No es correcto oponer «ayuno = cero síntesis de TAG».</a:t>
            </a:r>
            <a:endParaRPr lang="es-AR" sz="1800" dirty="0">
              <a:latin typeface="Bahnschrift"/>
            </a:endParaRPr>
          </a:p>
        </p:txBody>
      </p:sp>
      <p:grpSp>
        <p:nvGrpSpPr>
          <p:cNvPr id="11" name="Hígado graso"/>
          <p:cNvGrpSpPr/>
          <p:nvPr/>
        </p:nvGrpSpPr>
        <p:grpSpPr>
          <a:xfrm>
            <a:off x="548640" y="4937760"/>
            <a:ext cx="2377440" cy="1680375"/>
            <a:chOff x="548640" y="4937760"/>
            <a:chExt cx="2377440" cy="1680375"/>
          </a:xfrm>
        </p:grpSpPr>
        <p:sp>
          <p:nvSpPr>
            <p:cNvPr id="12" name="Vesícula biliar"/>
            <p:cNvSpPr/>
            <p:nvPr/>
          </p:nvSpPr>
          <p:spPr>
            <a:xfrm>
              <a:off x="1190549" y="608749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3" name="Forma 12"/>
            <p:cNvSpPr/>
            <p:nvPr/>
          </p:nvSpPr>
          <p:spPr>
            <a:xfrm>
              <a:off x="548640" y="493776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4" name="Forma 13"/>
            <p:cNvSpPr/>
            <p:nvPr/>
          </p:nvSpPr>
          <p:spPr>
            <a:xfrm>
              <a:off x="548640" y="493776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5" name="Forma 14"/>
            <p:cNvSpPr/>
            <p:nvPr/>
          </p:nvSpPr>
          <p:spPr>
            <a:xfrm>
              <a:off x="548640" y="493776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6" name="Gotas esteatosis"/>
          <p:cNvSpPr/>
          <p:nvPr/>
        </p:nvSpPr>
        <p:spPr>
          <a:xfrm>
            <a:off x="914400" y="5074920"/>
            <a:ext cx="1645920" cy="914400"/>
          </a:xfrm>
          <a:custGeom>
            <a:avLst/>
            <a:gdLst/>
            <a:ahLst/>
            <a:cxnLst/>
            <a:rect l="0" t="0" r="r" b="b"/>
            <a:pathLst>
              <a:path w="1000" h="1000">
                <a:moveTo>
                  <a:pt x="320" y="400"/>
                </a:moveTo>
                <a:cubicBezTo>
                  <a:pt x="320" y="466"/>
                  <a:pt x="266" y="520"/>
                  <a:pt x="200" y="520"/>
                </a:cubicBezTo>
                <a:cubicBezTo>
                  <a:pt x="133" y="520"/>
                  <a:pt x="80" y="466"/>
                  <a:pt x="80" y="400"/>
                </a:cubicBezTo>
                <a:cubicBezTo>
                  <a:pt x="80" y="333"/>
                  <a:pt x="133" y="280"/>
                  <a:pt x="200" y="280"/>
                </a:cubicBezTo>
                <a:cubicBezTo>
                  <a:pt x="266" y="280"/>
                  <a:pt x="320" y="333"/>
                  <a:pt x="320" y="400"/>
                </a:cubicBezTo>
                <a:close/>
                <a:moveTo>
                  <a:pt x="650" y="300"/>
                </a:moveTo>
                <a:cubicBezTo>
                  <a:pt x="650" y="382"/>
                  <a:pt x="582" y="450"/>
                  <a:pt x="500" y="450"/>
                </a:cubicBezTo>
                <a:cubicBezTo>
                  <a:pt x="417" y="450"/>
                  <a:pt x="350" y="382"/>
                  <a:pt x="350" y="300"/>
                </a:cubicBezTo>
                <a:cubicBezTo>
                  <a:pt x="350" y="217"/>
                  <a:pt x="417" y="150"/>
                  <a:pt x="500" y="150"/>
                </a:cubicBezTo>
                <a:cubicBezTo>
                  <a:pt x="582" y="150"/>
                  <a:pt x="650" y="217"/>
                  <a:pt x="650" y="300"/>
                </a:cubicBezTo>
                <a:close/>
                <a:moveTo>
                  <a:pt x="860" y="550"/>
                </a:moveTo>
                <a:cubicBezTo>
                  <a:pt x="860" y="610"/>
                  <a:pt x="810" y="660"/>
                  <a:pt x="750" y="660"/>
                </a:cubicBezTo>
                <a:cubicBezTo>
                  <a:pt x="689" y="660"/>
                  <a:pt x="640" y="610"/>
                  <a:pt x="640" y="550"/>
                </a:cubicBezTo>
                <a:cubicBezTo>
                  <a:pt x="640" y="489"/>
                  <a:pt x="689" y="440"/>
                  <a:pt x="750" y="440"/>
                </a:cubicBezTo>
                <a:cubicBezTo>
                  <a:pt x="810" y="440"/>
                  <a:pt x="860" y="489"/>
                  <a:pt x="860" y="550"/>
                </a:cubicBezTo>
                <a:close/>
                <a:moveTo>
                  <a:pt x="500" y="700"/>
                </a:moveTo>
                <a:cubicBezTo>
                  <a:pt x="500" y="755"/>
                  <a:pt x="455" y="800"/>
                  <a:pt x="400" y="800"/>
                </a:cubicBezTo>
                <a:cubicBezTo>
                  <a:pt x="344" y="800"/>
                  <a:pt x="300" y="755"/>
                  <a:pt x="300" y="700"/>
                </a:cubicBezTo>
                <a:cubicBezTo>
                  <a:pt x="300" y="644"/>
                  <a:pt x="344" y="600"/>
                  <a:pt x="400" y="600"/>
                </a:cubicBezTo>
                <a:cubicBezTo>
                  <a:pt x="455" y="600"/>
                  <a:pt x="500" y="644"/>
                  <a:pt x="500" y="70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nvGrpSpPr>
          <p:cNvPr id="17" name="Recuadro Clínica"/>
          <p:cNvGrpSpPr/>
          <p:nvPr/>
        </p:nvGrpSpPr>
        <p:grpSpPr>
          <a:xfrm>
            <a:off x="3200400" y="4937760"/>
            <a:ext cx="8595360" cy="1554480"/>
            <a:chOff x="3200400" y="4937760"/>
            <a:chExt cx="8595360" cy="1554480"/>
          </a:xfrm>
        </p:grpSpPr>
        <p:sp>
          <p:nvSpPr>
            <p:cNvPr id="18" name="Forma 17"/>
            <p:cNvSpPr/>
            <p:nvPr/>
          </p:nvSpPr>
          <p:spPr>
            <a:xfrm>
              <a:off x="3200400" y="5120640"/>
              <a:ext cx="8595360" cy="13716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Esteatosis / MASLD</a:t>
              </a:r>
              <a:r>
                <a:rPr lang="es-AR" sz="1650" dirty="0">
                  <a:solidFill>
                    <a:srgbClr val="1E1E1E"/>
                  </a:solidFill>
                  <a:latin typeface="Bahnschrift"/>
                  <a:ea typeface="Bahnschrift"/>
                  <a:cs typeface="Bahnschrift"/>
                  <a:sym typeface="Bahnschrift"/>
                </a:rPr>
                <a:t> (enfermedad hepática esteatósica asociada a disfunción metabólica): surge de la integración entre </a:t>
              </a:r>
              <a:r>
                <a:rPr lang="es-AR" sz="1650" b="1" dirty="0">
                  <a:solidFill>
                    <a:srgbClr val="1E1E1E"/>
                  </a:solidFill>
                  <a:latin typeface="Bahnschrift"/>
                  <a:ea typeface="Bahnschrift"/>
                  <a:cs typeface="Bahnschrift"/>
                  <a:sym typeface="Bahnschrift"/>
                </a:rPr>
                <a:t>entrada de AG, DNL, oxidación y exportación de VLDL</a:t>
              </a:r>
              <a:r>
                <a:rPr lang="es-AR" sz="1650" dirty="0">
                  <a:solidFill>
                    <a:srgbClr val="1E1E1E"/>
                  </a:solidFill>
                  <a:latin typeface="Bahnschrift"/>
                  <a:ea typeface="Bahnschrift"/>
                  <a:cs typeface="Bahnschrift"/>
                  <a:sym typeface="Bahnschrift"/>
                </a:rPr>
                <a:t>; no se explica únicamente por comer grasas.</a:t>
              </a:r>
              <a:endParaRPr lang="es-AR" sz="1650" dirty="0">
                <a:latin typeface="Bahnschrift"/>
              </a:endParaRPr>
            </a:p>
          </p:txBody>
        </p:sp>
        <p:sp>
          <p:nvSpPr>
            <p:cNvPr id="19" name="Forma 18"/>
            <p:cNvSpPr/>
            <p:nvPr/>
          </p:nvSpPr>
          <p:spPr>
            <a:xfrm>
              <a:off x="3310128" y="493776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15820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16 · TAG HEPÁTICOS EN SACIEDAD Y EN AYUNO; HÍGADO GRASO</a:t>
            </a:r>
            <a:endParaRPr lang="es-AR" sz="2600" dirty="0">
              <a:latin typeface="Bahnschrift SemiBold Condensed"/>
            </a:endParaRPr>
          </a:p>
        </p:txBody>
      </p:sp>
      <p:sp>
        <p:nvSpPr>
          <p:cNvPr id="2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109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Definiciones"/>
          <p:cNvGrpSpPr/>
          <p:nvPr/>
        </p:nvGrpSpPr>
        <p:grpSpPr>
          <a:xfrm>
            <a:off x="365760" y="1005840"/>
            <a:ext cx="5623560" cy="777240"/>
            <a:chOff x="365760" y="1005840"/>
            <a:chExt cx="5623560" cy="777240"/>
          </a:xfrm>
        </p:grpSpPr>
        <p:sp>
          <p:nvSpPr>
            <p:cNvPr id="5" name="Forma 4"/>
            <p:cNvSpPr/>
            <p:nvPr/>
          </p:nvSpPr>
          <p:spPr>
            <a:xfrm>
              <a:off x="365760" y="1005840"/>
              <a:ext cx="1783080" cy="777240"/>
            </a:xfrm>
            <a:prstGeom prst="rect">
              <a:avLst/>
            </a:prstGeom>
            <a:solidFill>
              <a:srgbClr val="D5F5E3"/>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Corta</a:t>
              </a:r>
              <a:endParaRPr lang="es-AR" sz="1500" dirty="0">
                <a:latin typeface="Bahnschrift SemiBold Condensed"/>
              </a:endParaRPr>
            </a:p>
            <a:p>
              <a:pPr algn="ctr">
                <a:spcAft>
                  <a:spcPts val="300"/>
                </a:spcAft>
                <a:buNone/>
              </a:pPr>
              <a:r>
                <a:rPr lang="es-AR" sz="1500" dirty="0">
                  <a:solidFill>
                    <a:srgbClr val="1E1E1E"/>
                  </a:solidFill>
                  <a:latin typeface="Bahnschrift SemiBold Condensed"/>
                  <a:ea typeface="Bahnschrift SemiBold Condensed"/>
                  <a:cs typeface="Bahnschrift SemiBold Condensed"/>
                  <a:sym typeface="Bahnschrift SemiBold Condensed"/>
                </a:rPr>
                <a:t>&lt; 6 C</a:t>
              </a:r>
              <a:endParaRPr lang="es-AR" sz="1500" dirty="0">
                <a:latin typeface="Bahnschrift SemiBold Condensed"/>
              </a:endParaRPr>
            </a:p>
          </p:txBody>
        </p:sp>
        <p:sp>
          <p:nvSpPr>
            <p:cNvPr id="6" name="Forma 5"/>
            <p:cNvSpPr/>
            <p:nvPr/>
          </p:nvSpPr>
          <p:spPr>
            <a:xfrm>
              <a:off x="2286000" y="1005840"/>
              <a:ext cx="1783080" cy="777240"/>
            </a:xfrm>
            <a:prstGeom prst="rect">
              <a:avLst/>
            </a:prstGeom>
            <a:solidFill>
              <a:srgbClr val="FCF3CF"/>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Media</a:t>
              </a:r>
              <a:endParaRPr lang="es-AR" sz="1500" dirty="0">
                <a:latin typeface="Bahnschrift SemiBold Condensed"/>
              </a:endParaRPr>
            </a:p>
            <a:p>
              <a:pPr algn="ctr">
                <a:spcAft>
                  <a:spcPts val="300"/>
                </a:spcAft>
                <a:buNone/>
              </a:pPr>
              <a:r>
                <a:rPr lang="es-AR" sz="1500" dirty="0">
                  <a:solidFill>
                    <a:srgbClr val="1E1E1E"/>
                  </a:solidFill>
                  <a:latin typeface="Bahnschrift SemiBold Condensed"/>
                  <a:ea typeface="Bahnschrift SemiBold Condensed"/>
                  <a:cs typeface="Bahnschrift SemiBold Condensed"/>
                  <a:sym typeface="Bahnschrift SemiBold Condensed"/>
                </a:rPr>
                <a:t>6–12 C</a:t>
              </a:r>
              <a:endParaRPr lang="es-AR" sz="1500" dirty="0">
                <a:latin typeface="Bahnschrift SemiBold Condensed"/>
              </a:endParaRPr>
            </a:p>
          </p:txBody>
        </p:sp>
        <p:sp>
          <p:nvSpPr>
            <p:cNvPr id="7" name="Forma 6"/>
            <p:cNvSpPr/>
            <p:nvPr/>
          </p:nvSpPr>
          <p:spPr>
            <a:xfrm>
              <a:off x="4206240" y="1005840"/>
              <a:ext cx="1783080" cy="777240"/>
            </a:xfrm>
            <a:prstGeom prst="rect">
              <a:avLst/>
            </a:prstGeom>
            <a:solidFill>
              <a:srgbClr val="FAD7A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Larga</a:t>
              </a:r>
              <a:endParaRPr lang="es-AR" sz="1500" dirty="0">
                <a:latin typeface="Bahnschrift SemiBold Condensed"/>
              </a:endParaRPr>
            </a:p>
            <a:p>
              <a:pPr algn="ctr">
                <a:spcAft>
                  <a:spcPts val="300"/>
                </a:spcAft>
                <a:buNone/>
              </a:pPr>
              <a:r>
                <a:rPr lang="es-AR" sz="1500" dirty="0">
                  <a:solidFill>
                    <a:srgbClr val="1E1E1E"/>
                  </a:solidFill>
                  <a:latin typeface="Bahnschrift SemiBold Condensed"/>
                  <a:ea typeface="Bahnschrift SemiBold Condensed"/>
                  <a:cs typeface="Bahnschrift SemiBold Condensed"/>
                  <a:sym typeface="Bahnschrift SemiBold Condensed"/>
                </a:rPr>
                <a:t>≥ 14 C</a:t>
              </a:r>
              <a:endParaRPr lang="es-AR" sz="1500" dirty="0">
                <a:latin typeface="Bahnschrift SemiBold Condensed"/>
              </a:endParaRPr>
            </a:p>
          </p:txBody>
        </p:sp>
      </p:grpSp>
      <p:grpSp>
        <p:nvGrpSpPr>
          <p:cNvPr id="8" name="Enterocitos"/>
          <p:cNvGrpSpPr/>
          <p:nvPr/>
        </p:nvGrpSpPr>
        <p:grpSpPr>
          <a:xfrm>
            <a:off x="365760" y="2194560"/>
            <a:ext cx="5669280" cy="2011680"/>
            <a:chOff x="365760" y="2194560"/>
            <a:chExt cx="5669280" cy="2011680"/>
          </a:xfrm>
        </p:grpSpPr>
        <p:sp>
          <p:nvSpPr>
            <p:cNvPr id="9" name="Forma 8"/>
            <p:cNvSpPr/>
            <p:nvPr/>
          </p:nvSpPr>
          <p:spPr>
            <a:xfrm>
              <a:off x="365760" y="2395728"/>
              <a:ext cx="1889760" cy="1810512"/>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10" name="Forma 9"/>
            <p:cNvSpPr/>
            <p:nvPr/>
          </p:nvSpPr>
          <p:spPr>
            <a:xfrm>
              <a:off x="365760" y="2194560"/>
              <a:ext cx="1889760" cy="210312"/>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11" name="Forma 10"/>
            <p:cNvSpPr/>
            <p:nvPr/>
          </p:nvSpPr>
          <p:spPr>
            <a:xfrm>
              <a:off x="970483" y="3522269"/>
              <a:ext cx="680314" cy="40233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12" name="Forma 11"/>
            <p:cNvSpPr/>
            <p:nvPr/>
          </p:nvSpPr>
          <p:spPr>
            <a:xfrm>
              <a:off x="2255520" y="2395728"/>
              <a:ext cx="1889760" cy="1810512"/>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13" name="Forma 12"/>
            <p:cNvSpPr/>
            <p:nvPr/>
          </p:nvSpPr>
          <p:spPr>
            <a:xfrm>
              <a:off x="2255520" y="2194560"/>
              <a:ext cx="1889760" cy="210312"/>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14" name="Forma 13"/>
            <p:cNvSpPr/>
            <p:nvPr/>
          </p:nvSpPr>
          <p:spPr>
            <a:xfrm>
              <a:off x="2860243" y="3522269"/>
              <a:ext cx="680314" cy="40233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15" name="Forma 14"/>
            <p:cNvSpPr/>
            <p:nvPr/>
          </p:nvSpPr>
          <p:spPr>
            <a:xfrm>
              <a:off x="4145280" y="2395728"/>
              <a:ext cx="1889760" cy="1810512"/>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16" name="Forma 15"/>
            <p:cNvSpPr/>
            <p:nvPr/>
          </p:nvSpPr>
          <p:spPr>
            <a:xfrm>
              <a:off x="4145280" y="2194560"/>
              <a:ext cx="1889760" cy="210312"/>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17" name="Forma 16"/>
            <p:cNvSpPr/>
            <p:nvPr/>
          </p:nvSpPr>
          <p:spPr>
            <a:xfrm>
              <a:off x="4750003" y="3522269"/>
              <a:ext cx="680314" cy="40233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sp>
        <p:nvSpPr>
          <p:cNvPr id="18" name="Linfa"/>
          <p:cNvSpPr/>
          <p:nvPr/>
        </p:nvSpPr>
        <p:spPr>
          <a:xfrm>
            <a:off x="365760" y="4389120"/>
            <a:ext cx="2651760" cy="731520"/>
          </a:xfrm>
          <a:prstGeom prst="rect">
            <a:avLst/>
          </a:prstGeom>
          <a:gradFill rotWithShape="1">
            <a:gsLst>
              <a:gs pos="0">
                <a:srgbClr val="FDFEFE"/>
              </a:gs>
              <a:gs pos="100000">
                <a:srgbClr val="EAF2F8"/>
              </a:gs>
            </a:gsLst>
            <a:lin ang="5400000" scaled="0"/>
          </a:gradFill>
          <a:ln w="12700" cap="rnd">
            <a:solidFill>
              <a:srgbClr val="85929E"/>
            </a:solidFill>
            <a:round/>
          </a:ln>
        </p:spPr>
        <p:txBody>
          <a:bodyPr wrap="square" lIns="73152" tIns="45720" rIns="73152" bIns="45720" anchor="ctr" rtlCol="0">
            <a:noAutofit/>
          </a:bodyPr>
          <a:lstStyle/>
          <a:p>
            <a:pPr algn="ctr">
              <a:spcAft>
                <a:spcPts val="300"/>
              </a:spcAft>
              <a:buNone/>
            </a:pPr>
            <a:r>
              <a:rPr lang="es-AR" sz="1300" b="1" dirty="0">
                <a:solidFill>
                  <a:srgbClr val="34495E"/>
                </a:solidFill>
                <a:latin typeface="Bahnschrift SemiBold Condensed"/>
                <a:ea typeface="Bahnschrift SemiBold Condensed"/>
                <a:cs typeface="Bahnschrift SemiBold Condensed"/>
                <a:sym typeface="Bahnschrift SemiBold Condensed"/>
              </a:rPr>
              <a:t>Linfa (quilífero)</a:t>
            </a:r>
            <a:endParaRPr lang="es-AR" sz="1300" dirty="0">
              <a:latin typeface="Bahnschrift SemiBold Condensed"/>
            </a:endParaRPr>
          </a:p>
        </p:txBody>
      </p:sp>
      <p:grpSp>
        <p:nvGrpSpPr>
          <p:cNvPr id="19" name="Capilar portal"/>
          <p:cNvGrpSpPr/>
          <p:nvPr/>
        </p:nvGrpSpPr>
        <p:grpSpPr>
          <a:xfrm>
            <a:off x="3291840" y="4389120"/>
            <a:ext cx="2743200" cy="731520"/>
            <a:chOff x="3291840" y="4389120"/>
            <a:chExt cx="2743200" cy="731520"/>
          </a:xfrm>
        </p:grpSpPr>
        <p:sp>
          <p:nvSpPr>
            <p:cNvPr id="20" name="Forma 19"/>
            <p:cNvSpPr/>
            <p:nvPr/>
          </p:nvSpPr>
          <p:spPr>
            <a:xfrm>
              <a:off x="3291840" y="4389120"/>
              <a:ext cx="2743200" cy="73152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1" name="Forma 20"/>
            <p:cNvSpPr/>
            <p:nvPr/>
          </p:nvSpPr>
          <p:spPr>
            <a:xfrm>
              <a:off x="3401568" y="4520794"/>
              <a:ext cx="2523744" cy="468173"/>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2" name="Eritrocito"/>
            <p:cNvSpPr/>
            <p:nvPr/>
          </p:nvSpPr>
          <p:spPr>
            <a:xfrm>
              <a:off x="3923917" y="4745339"/>
              <a:ext cx="307238" cy="30723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3" name="Eritrocito_2"/>
            <p:cNvSpPr/>
            <p:nvPr/>
          </p:nvSpPr>
          <p:spPr>
            <a:xfrm>
              <a:off x="4614695" y="4587521"/>
              <a:ext cx="307238" cy="307238"/>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24" name="Forma 23"/>
          <p:cNvSpPr txBox="1"/>
          <p:nvPr/>
        </p:nvSpPr>
        <p:spPr>
          <a:xfrm>
            <a:off x="3383280" y="5166360"/>
            <a:ext cx="2560320" cy="27432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6E1A12"/>
                </a:solidFill>
                <a:latin typeface="Bahnschrift SemiBold Condensed"/>
                <a:ea typeface="Bahnschrift SemiBold Condensed"/>
                <a:cs typeface="Bahnschrift SemiBold Condensed"/>
                <a:sym typeface="Bahnschrift SemiBold Condensed"/>
              </a:rPr>
              <a:t>Vena porta → hígado</a:t>
            </a:r>
            <a:endParaRPr lang="es-AR" sz="1250" dirty="0">
              <a:latin typeface="Bahnschrift SemiBold Condensed"/>
            </a:endParaRPr>
          </a:p>
        </p:txBody>
      </p:sp>
      <p:grpSp>
        <p:nvGrpSpPr>
          <p:cNvPr id="25" name="AG largo"/>
          <p:cNvGrpSpPr/>
          <p:nvPr/>
        </p:nvGrpSpPr>
        <p:grpSpPr>
          <a:xfrm>
            <a:off x="713232" y="1792224"/>
            <a:ext cx="1115568" cy="219456"/>
            <a:chOff x="713232" y="1792224"/>
            <a:chExt cx="1115568" cy="219456"/>
          </a:xfrm>
        </p:grpSpPr>
        <p:sp>
          <p:nvSpPr>
            <p:cNvPr id="26" name="Flecha 25_2"/>
            <p:cNvSpPr/>
            <p:nvPr/>
          </p:nvSpPr>
          <p:spPr>
            <a:xfrm>
              <a:off x="877824" y="1847088"/>
              <a:ext cx="950976" cy="164592"/>
            </a:xfrm>
            <a:custGeom>
              <a:avLst/>
              <a:gdLst/>
              <a:ahLst/>
              <a:cxnLst/>
              <a:rect l="0" t="0" r="r" b="b"/>
              <a:pathLst>
                <a:path w="1040" h="180" fill="none">
                  <a:moveTo>
                    <a:pt x="0" y="0"/>
                  </a:moveTo>
                  <a:lnTo>
                    <a:pt x="130" y="180"/>
                  </a:lnTo>
                  <a:lnTo>
                    <a:pt x="260" y="0"/>
                  </a:lnTo>
                  <a:lnTo>
                    <a:pt x="390" y="180"/>
                  </a:lnTo>
                  <a:lnTo>
                    <a:pt x="519" y="0"/>
                  </a:lnTo>
                  <a:lnTo>
                    <a:pt x="650" y="180"/>
                  </a:lnTo>
                  <a:lnTo>
                    <a:pt x="780" y="0"/>
                  </a:lnTo>
                  <a:lnTo>
                    <a:pt x="910" y="180"/>
                  </a:lnTo>
                  <a:lnTo>
                    <a:pt x="1040" y="0"/>
                  </a:lnTo>
                </a:path>
              </a:pathLst>
            </a:custGeom>
            <a:noFill/>
            <a:ln w="28575" cap="rnd">
              <a:solidFill>
                <a:srgbClr val="B7950B"/>
              </a:solidFill>
              <a:round/>
            </a:ln>
          </p:spPr>
        </p:sp>
        <p:sp>
          <p:nvSpPr>
            <p:cNvPr id="27" name="Forma 27"/>
            <p:cNvSpPr/>
            <p:nvPr/>
          </p:nvSpPr>
          <p:spPr>
            <a:xfrm>
              <a:off x="713232" y="17922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28" name="AG medio"/>
          <p:cNvGrpSpPr/>
          <p:nvPr/>
        </p:nvGrpSpPr>
        <p:grpSpPr>
          <a:xfrm>
            <a:off x="3913632" y="1792224"/>
            <a:ext cx="566928" cy="219456"/>
            <a:chOff x="3913632" y="1792224"/>
            <a:chExt cx="566928" cy="219456"/>
          </a:xfrm>
        </p:grpSpPr>
        <p:sp>
          <p:nvSpPr>
            <p:cNvPr id="29" name="Flecha 29_2"/>
            <p:cNvSpPr/>
            <p:nvPr/>
          </p:nvSpPr>
          <p:spPr>
            <a:xfrm>
              <a:off x="4078224" y="1847088"/>
              <a:ext cx="402336" cy="164592"/>
            </a:xfrm>
            <a:custGeom>
              <a:avLst/>
              <a:gdLst/>
              <a:ahLst/>
              <a:cxnLst/>
              <a:rect l="0" t="0" r="r" b="b"/>
              <a:pathLst>
                <a:path w="440" h="180" fill="none">
                  <a:moveTo>
                    <a:pt x="0" y="0"/>
                  </a:moveTo>
                  <a:lnTo>
                    <a:pt x="54" y="180"/>
                  </a:lnTo>
                  <a:lnTo>
                    <a:pt x="110" y="0"/>
                  </a:lnTo>
                  <a:lnTo>
                    <a:pt x="165" y="180"/>
                  </a:lnTo>
                  <a:lnTo>
                    <a:pt x="219" y="0"/>
                  </a:lnTo>
                  <a:lnTo>
                    <a:pt x="275" y="180"/>
                  </a:lnTo>
                  <a:lnTo>
                    <a:pt x="330" y="0"/>
                  </a:lnTo>
                  <a:lnTo>
                    <a:pt x="384" y="180"/>
                  </a:lnTo>
                  <a:lnTo>
                    <a:pt x="440" y="0"/>
                  </a:lnTo>
                </a:path>
              </a:pathLst>
            </a:custGeom>
            <a:noFill/>
            <a:ln w="28575" cap="rnd">
              <a:solidFill>
                <a:srgbClr val="B7950B"/>
              </a:solidFill>
              <a:round/>
            </a:ln>
          </p:spPr>
        </p:sp>
        <p:sp>
          <p:nvSpPr>
            <p:cNvPr id="30" name="Forma 31"/>
            <p:cNvSpPr/>
            <p:nvPr/>
          </p:nvSpPr>
          <p:spPr>
            <a:xfrm>
              <a:off x="3913632" y="17922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31" name="QM"/>
          <p:cNvGrpSpPr/>
          <p:nvPr/>
        </p:nvGrpSpPr>
        <p:grpSpPr>
          <a:xfrm>
            <a:off x="1097280" y="2926080"/>
            <a:ext cx="731520" cy="731520"/>
            <a:chOff x="1097280" y="2926080"/>
            <a:chExt cx="731520" cy="731520"/>
          </a:xfrm>
        </p:grpSpPr>
        <p:sp>
          <p:nvSpPr>
            <p:cNvPr id="32" name="Forma 33"/>
            <p:cNvSpPr/>
            <p:nvPr/>
          </p:nvSpPr>
          <p:spPr>
            <a:xfrm>
              <a:off x="1097280" y="2926080"/>
              <a:ext cx="731520" cy="73152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3" name="Forma 34"/>
            <p:cNvSpPr/>
            <p:nvPr/>
          </p:nvSpPr>
          <p:spPr>
            <a:xfrm>
              <a:off x="1097280" y="2926080"/>
              <a:ext cx="731520" cy="73152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0" y="583"/>
                  </a:moveTo>
                  <a:cubicBezTo>
                    <a:pt x="990" y="598"/>
                    <a:pt x="977" y="611"/>
                    <a:pt x="962" y="611"/>
                  </a:cubicBezTo>
                  <a:cubicBezTo>
                    <a:pt x="946" y="611"/>
                    <a:pt x="934" y="598"/>
                    <a:pt x="934" y="583"/>
                  </a:cubicBezTo>
                  <a:cubicBezTo>
                    <a:pt x="934" y="567"/>
                    <a:pt x="946" y="555"/>
                    <a:pt x="962" y="555"/>
                  </a:cubicBezTo>
                  <a:cubicBezTo>
                    <a:pt x="977" y="555"/>
                    <a:pt x="990" y="567"/>
                    <a:pt x="990" y="583"/>
                  </a:cubicBezTo>
                  <a:close/>
                  <a:moveTo>
                    <a:pt x="968" y="665"/>
                  </a:moveTo>
                  <a:cubicBezTo>
                    <a:pt x="968" y="680"/>
                    <a:pt x="955" y="693"/>
                    <a:pt x="940" y="693"/>
                  </a:cubicBezTo>
                  <a:cubicBezTo>
                    <a:pt x="924" y="693"/>
                    <a:pt x="912" y="680"/>
                    <a:pt x="912" y="665"/>
                  </a:cubicBezTo>
                  <a:cubicBezTo>
                    <a:pt x="912" y="649"/>
                    <a:pt x="924" y="637"/>
                    <a:pt x="940" y="637"/>
                  </a:cubicBezTo>
                  <a:cubicBezTo>
                    <a:pt x="955" y="637"/>
                    <a:pt x="968" y="649"/>
                    <a:pt x="968" y="665"/>
                  </a:cubicBezTo>
                  <a:close/>
                  <a:moveTo>
                    <a:pt x="931" y="741"/>
                  </a:moveTo>
                  <a:cubicBezTo>
                    <a:pt x="931" y="756"/>
                    <a:pt x="918" y="769"/>
                    <a:pt x="903" y="769"/>
                  </a:cubicBezTo>
                  <a:cubicBezTo>
                    <a:pt x="887" y="769"/>
                    <a:pt x="875" y="756"/>
                    <a:pt x="875" y="741"/>
                  </a:cubicBezTo>
                  <a:cubicBezTo>
                    <a:pt x="875" y="725"/>
                    <a:pt x="887" y="713"/>
                    <a:pt x="903" y="713"/>
                  </a:cubicBezTo>
                  <a:cubicBezTo>
                    <a:pt x="918" y="713"/>
                    <a:pt x="931" y="725"/>
                    <a:pt x="931" y="741"/>
                  </a:cubicBezTo>
                  <a:close/>
                  <a:moveTo>
                    <a:pt x="881" y="809"/>
                  </a:moveTo>
                  <a:cubicBezTo>
                    <a:pt x="881" y="824"/>
                    <a:pt x="868" y="837"/>
                    <a:pt x="853" y="837"/>
                  </a:cubicBezTo>
                  <a:cubicBezTo>
                    <a:pt x="837" y="837"/>
                    <a:pt x="825" y="824"/>
                    <a:pt x="825" y="809"/>
                  </a:cubicBezTo>
                  <a:cubicBezTo>
                    <a:pt x="825" y="793"/>
                    <a:pt x="837" y="781"/>
                    <a:pt x="853" y="781"/>
                  </a:cubicBezTo>
                  <a:cubicBezTo>
                    <a:pt x="868" y="781"/>
                    <a:pt x="881" y="793"/>
                    <a:pt x="881" y="809"/>
                  </a:cubicBezTo>
                  <a:close/>
                  <a:moveTo>
                    <a:pt x="821" y="867"/>
                  </a:moveTo>
                  <a:cubicBezTo>
                    <a:pt x="821" y="882"/>
                    <a:pt x="808" y="895"/>
                    <a:pt x="793" y="895"/>
                  </a:cubicBezTo>
                  <a:cubicBezTo>
                    <a:pt x="777" y="895"/>
                    <a:pt x="765" y="882"/>
                    <a:pt x="765" y="867"/>
                  </a:cubicBezTo>
                  <a:cubicBezTo>
                    <a:pt x="765" y="851"/>
                    <a:pt x="777" y="839"/>
                    <a:pt x="793" y="839"/>
                  </a:cubicBezTo>
                  <a:cubicBezTo>
                    <a:pt x="808" y="839"/>
                    <a:pt x="821" y="851"/>
                    <a:pt x="821" y="867"/>
                  </a:cubicBezTo>
                  <a:close/>
                  <a:moveTo>
                    <a:pt x="750" y="913"/>
                  </a:moveTo>
                  <a:cubicBezTo>
                    <a:pt x="750" y="928"/>
                    <a:pt x="737" y="941"/>
                    <a:pt x="722" y="941"/>
                  </a:cubicBezTo>
                  <a:cubicBezTo>
                    <a:pt x="706" y="941"/>
                    <a:pt x="694" y="928"/>
                    <a:pt x="694" y="913"/>
                  </a:cubicBezTo>
                  <a:cubicBezTo>
                    <a:pt x="694" y="897"/>
                    <a:pt x="706" y="885"/>
                    <a:pt x="722" y="885"/>
                  </a:cubicBezTo>
                  <a:cubicBezTo>
                    <a:pt x="737" y="885"/>
                    <a:pt x="750" y="897"/>
                    <a:pt x="750" y="913"/>
                  </a:cubicBezTo>
                  <a:close/>
                  <a:moveTo>
                    <a:pt x="673" y="946"/>
                  </a:moveTo>
                  <a:cubicBezTo>
                    <a:pt x="673" y="961"/>
                    <a:pt x="660" y="974"/>
                    <a:pt x="645" y="974"/>
                  </a:cubicBezTo>
                  <a:cubicBezTo>
                    <a:pt x="629" y="974"/>
                    <a:pt x="617" y="961"/>
                    <a:pt x="617" y="946"/>
                  </a:cubicBezTo>
                  <a:cubicBezTo>
                    <a:pt x="617" y="930"/>
                    <a:pt x="629" y="918"/>
                    <a:pt x="645" y="918"/>
                  </a:cubicBezTo>
                  <a:cubicBezTo>
                    <a:pt x="660" y="918"/>
                    <a:pt x="673" y="930"/>
                    <a:pt x="673" y="946"/>
                  </a:cubicBezTo>
                  <a:close/>
                  <a:moveTo>
                    <a:pt x="591" y="965"/>
                  </a:moveTo>
                  <a:cubicBezTo>
                    <a:pt x="591" y="980"/>
                    <a:pt x="578" y="993"/>
                    <a:pt x="563" y="993"/>
                  </a:cubicBezTo>
                  <a:cubicBezTo>
                    <a:pt x="547" y="993"/>
                    <a:pt x="535" y="980"/>
                    <a:pt x="535" y="965"/>
                  </a:cubicBezTo>
                  <a:cubicBezTo>
                    <a:pt x="535" y="949"/>
                    <a:pt x="547" y="937"/>
                    <a:pt x="563" y="937"/>
                  </a:cubicBezTo>
                  <a:cubicBezTo>
                    <a:pt x="578" y="937"/>
                    <a:pt x="591" y="949"/>
                    <a:pt x="591" y="965"/>
                  </a:cubicBezTo>
                  <a:close/>
                  <a:moveTo>
                    <a:pt x="506" y="969"/>
                  </a:moveTo>
                  <a:cubicBezTo>
                    <a:pt x="506" y="984"/>
                    <a:pt x="493" y="997"/>
                    <a:pt x="478" y="997"/>
                  </a:cubicBezTo>
                  <a:cubicBezTo>
                    <a:pt x="462" y="997"/>
                    <a:pt x="450" y="984"/>
                    <a:pt x="450" y="969"/>
                  </a:cubicBezTo>
                  <a:cubicBezTo>
                    <a:pt x="450" y="953"/>
                    <a:pt x="462" y="941"/>
                    <a:pt x="478" y="941"/>
                  </a:cubicBezTo>
                  <a:cubicBezTo>
                    <a:pt x="493" y="941"/>
                    <a:pt x="506" y="953"/>
                    <a:pt x="506" y="969"/>
                  </a:cubicBezTo>
                  <a:close/>
                  <a:moveTo>
                    <a:pt x="423" y="958"/>
                  </a:moveTo>
                  <a:cubicBezTo>
                    <a:pt x="423" y="973"/>
                    <a:pt x="410" y="986"/>
                    <a:pt x="395" y="986"/>
                  </a:cubicBezTo>
                  <a:cubicBezTo>
                    <a:pt x="379" y="986"/>
                    <a:pt x="367" y="973"/>
                    <a:pt x="367" y="958"/>
                  </a:cubicBezTo>
                  <a:cubicBezTo>
                    <a:pt x="367" y="942"/>
                    <a:pt x="379" y="930"/>
                    <a:pt x="395" y="930"/>
                  </a:cubicBezTo>
                  <a:cubicBezTo>
                    <a:pt x="410" y="930"/>
                    <a:pt x="423" y="942"/>
                    <a:pt x="423" y="958"/>
                  </a:cubicBezTo>
                  <a:close/>
                  <a:moveTo>
                    <a:pt x="343" y="932"/>
                  </a:moveTo>
                  <a:cubicBezTo>
                    <a:pt x="343" y="947"/>
                    <a:pt x="330" y="960"/>
                    <a:pt x="315" y="960"/>
                  </a:cubicBezTo>
                  <a:cubicBezTo>
                    <a:pt x="299" y="960"/>
                    <a:pt x="287" y="947"/>
                    <a:pt x="287" y="932"/>
                  </a:cubicBezTo>
                  <a:cubicBezTo>
                    <a:pt x="287" y="916"/>
                    <a:pt x="299" y="904"/>
                    <a:pt x="315" y="904"/>
                  </a:cubicBezTo>
                  <a:cubicBezTo>
                    <a:pt x="330" y="904"/>
                    <a:pt x="343" y="916"/>
                    <a:pt x="343" y="932"/>
                  </a:cubicBezTo>
                  <a:close/>
                  <a:moveTo>
                    <a:pt x="269" y="892"/>
                  </a:moveTo>
                  <a:cubicBezTo>
                    <a:pt x="269" y="907"/>
                    <a:pt x="256" y="920"/>
                    <a:pt x="241" y="920"/>
                  </a:cubicBezTo>
                  <a:cubicBezTo>
                    <a:pt x="225" y="920"/>
                    <a:pt x="213" y="907"/>
                    <a:pt x="213" y="892"/>
                  </a:cubicBezTo>
                  <a:cubicBezTo>
                    <a:pt x="213" y="876"/>
                    <a:pt x="225" y="864"/>
                    <a:pt x="241" y="864"/>
                  </a:cubicBezTo>
                  <a:cubicBezTo>
                    <a:pt x="256" y="864"/>
                    <a:pt x="269" y="876"/>
                    <a:pt x="269" y="892"/>
                  </a:cubicBezTo>
                  <a:close/>
                  <a:moveTo>
                    <a:pt x="203" y="839"/>
                  </a:moveTo>
                  <a:cubicBezTo>
                    <a:pt x="203" y="854"/>
                    <a:pt x="190" y="867"/>
                    <a:pt x="175" y="867"/>
                  </a:cubicBezTo>
                  <a:cubicBezTo>
                    <a:pt x="159" y="867"/>
                    <a:pt x="147" y="854"/>
                    <a:pt x="147" y="839"/>
                  </a:cubicBezTo>
                  <a:cubicBezTo>
                    <a:pt x="147" y="823"/>
                    <a:pt x="159" y="811"/>
                    <a:pt x="175" y="811"/>
                  </a:cubicBezTo>
                  <a:cubicBezTo>
                    <a:pt x="190" y="811"/>
                    <a:pt x="203" y="823"/>
                    <a:pt x="203" y="839"/>
                  </a:cubicBezTo>
                  <a:close/>
                  <a:moveTo>
                    <a:pt x="147" y="776"/>
                  </a:moveTo>
                  <a:cubicBezTo>
                    <a:pt x="147" y="791"/>
                    <a:pt x="134" y="804"/>
                    <a:pt x="119" y="804"/>
                  </a:cubicBezTo>
                  <a:cubicBezTo>
                    <a:pt x="103" y="804"/>
                    <a:pt x="91" y="791"/>
                    <a:pt x="91" y="776"/>
                  </a:cubicBezTo>
                  <a:cubicBezTo>
                    <a:pt x="91" y="760"/>
                    <a:pt x="103" y="748"/>
                    <a:pt x="119" y="748"/>
                  </a:cubicBezTo>
                  <a:cubicBezTo>
                    <a:pt x="134" y="748"/>
                    <a:pt x="147" y="760"/>
                    <a:pt x="147" y="776"/>
                  </a:cubicBezTo>
                  <a:close/>
                  <a:moveTo>
                    <a:pt x="104" y="703"/>
                  </a:moveTo>
                  <a:cubicBezTo>
                    <a:pt x="104" y="718"/>
                    <a:pt x="91" y="731"/>
                    <a:pt x="76" y="731"/>
                  </a:cubicBezTo>
                  <a:cubicBezTo>
                    <a:pt x="60" y="731"/>
                    <a:pt x="48" y="718"/>
                    <a:pt x="48" y="703"/>
                  </a:cubicBezTo>
                  <a:cubicBezTo>
                    <a:pt x="48" y="687"/>
                    <a:pt x="60" y="675"/>
                    <a:pt x="76" y="675"/>
                  </a:cubicBezTo>
                  <a:cubicBezTo>
                    <a:pt x="91" y="675"/>
                    <a:pt x="104" y="687"/>
                    <a:pt x="104" y="703"/>
                  </a:cubicBezTo>
                  <a:close/>
                  <a:moveTo>
                    <a:pt x="74" y="625"/>
                  </a:moveTo>
                  <a:cubicBezTo>
                    <a:pt x="74" y="640"/>
                    <a:pt x="61" y="653"/>
                    <a:pt x="46" y="653"/>
                  </a:cubicBezTo>
                  <a:cubicBezTo>
                    <a:pt x="30" y="653"/>
                    <a:pt x="18" y="640"/>
                    <a:pt x="18" y="625"/>
                  </a:cubicBezTo>
                  <a:cubicBezTo>
                    <a:pt x="18" y="609"/>
                    <a:pt x="30" y="597"/>
                    <a:pt x="46" y="597"/>
                  </a:cubicBezTo>
                  <a:cubicBezTo>
                    <a:pt x="61" y="597"/>
                    <a:pt x="74" y="609"/>
                    <a:pt x="74" y="625"/>
                  </a:cubicBezTo>
                  <a:close/>
                  <a:moveTo>
                    <a:pt x="59" y="542"/>
                  </a:moveTo>
                  <a:cubicBezTo>
                    <a:pt x="59" y="557"/>
                    <a:pt x="46" y="570"/>
                    <a:pt x="31" y="570"/>
                  </a:cubicBezTo>
                  <a:cubicBezTo>
                    <a:pt x="15" y="570"/>
                    <a:pt x="3" y="557"/>
                    <a:pt x="3" y="542"/>
                  </a:cubicBezTo>
                  <a:cubicBezTo>
                    <a:pt x="3" y="526"/>
                    <a:pt x="15" y="514"/>
                    <a:pt x="31" y="514"/>
                  </a:cubicBezTo>
                  <a:cubicBezTo>
                    <a:pt x="46" y="514"/>
                    <a:pt x="59" y="526"/>
                    <a:pt x="59" y="542"/>
                  </a:cubicBezTo>
                  <a:close/>
                  <a:moveTo>
                    <a:pt x="59" y="457"/>
                  </a:moveTo>
                  <a:cubicBezTo>
                    <a:pt x="59" y="472"/>
                    <a:pt x="46" y="485"/>
                    <a:pt x="31" y="485"/>
                  </a:cubicBezTo>
                  <a:cubicBezTo>
                    <a:pt x="15" y="485"/>
                    <a:pt x="3" y="472"/>
                    <a:pt x="3" y="457"/>
                  </a:cubicBezTo>
                  <a:cubicBezTo>
                    <a:pt x="3" y="441"/>
                    <a:pt x="15" y="429"/>
                    <a:pt x="31" y="429"/>
                  </a:cubicBezTo>
                  <a:cubicBezTo>
                    <a:pt x="46" y="429"/>
                    <a:pt x="59" y="441"/>
                    <a:pt x="59" y="457"/>
                  </a:cubicBezTo>
                  <a:close/>
                  <a:moveTo>
                    <a:pt x="74" y="374"/>
                  </a:moveTo>
                  <a:cubicBezTo>
                    <a:pt x="74" y="389"/>
                    <a:pt x="61" y="402"/>
                    <a:pt x="46" y="402"/>
                  </a:cubicBezTo>
                  <a:cubicBezTo>
                    <a:pt x="30" y="402"/>
                    <a:pt x="18" y="389"/>
                    <a:pt x="18" y="374"/>
                  </a:cubicBezTo>
                  <a:cubicBezTo>
                    <a:pt x="18" y="358"/>
                    <a:pt x="30" y="346"/>
                    <a:pt x="46" y="346"/>
                  </a:cubicBezTo>
                  <a:cubicBezTo>
                    <a:pt x="61" y="346"/>
                    <a:pt x="74" y="358"/>
                    <a:pt x="74" y="374"/>
                  </a:cubicBezTo>
                  <a:close/>
                  <a:moveTo>
                    <a:pt x="104" y="296"/>
                  </a:moveTo>
                  <a:cubicBezTo>
                    <a:pt x="104" y="311"/>
                    <a:pt x="91" y="324"/>
                    <a:pt x="76" y="324"/>
                  </a:cubicBezTo>
                  <a:cubicBezTo>
                    <a:pt x="60" y="324"/>
                    <a:pt x="48" y="311"/>
                    <a:pt x="48" y="296"/>
                  </a:cubicBezTo>
                  <a:cubicBezTo>
                    <a:pt x="48" y="280"/>
                    <a:pt x="60" y="268"/>
                    <a:pt x="76" y="268"/>
                  </a:cubicBezTo>
                  <a:cubicBezTo>
                    <a:pt x="91" y="268"/>
                    <a:pt x="104" y="280"/>
                    <a:pt x="104" y="296"/>
                  </a:cubicBezTo>
                  <a:close/>
                  <a:moveTo>
                    <a:pt x="147" y="223"/>
                  </a:moveTo>
                  <a:cubicBezTo>
                    <a:pt x="147" y="238"/>
                    <a:pt x="134" y="251"/>
                    <a:pt x="119" y="251"/>
                  </a:cubicBezTo>
                  <a:cubicBezTo>
                    <a:pt x="103" y="251"/>
                    <a:pt x="91" y="238"/>
                    <a:pt x="91" y="223"/>
                  </a:cubicBezTo>
                  <a:cubicBezTo>
                    <a:pt x="91" y="207"/>
                    <a:pt x="103" y="195"/>
                    <a:pt x="119" y="195"/>
                  </a:cubicBezTo>
                  <a:cubicBezTo>
                    <a:pt x="134" y="195"/>
                    <a:pt x="147" y="207"/>
                    <a:pt x="147" y="223"/>
                  </a:cubicBezTo>
                  <a:close/>
                  <a:moveTo>
                    <a:pt x="203" y="160"/>
                  </a:moveTo>
                  <a:cubicBezTo>
                    <a:pt x="203" y="175"/>
                    <a:pt x="190" y="188"/>
                    <a:pt x="175" y="188"/>
                  </a:cubicBezTo>
                  <a:cubicBezTo>
                    <a:pt x="159" y="188"/>
                    <a:pt x="147" y="175"/>
                    <a:pt x="147" y="160"/>
                  </a:cubicBezTo>
                  <a:cubicBezTo>
                    <a:pt x="147" y="144"/>
                    <a:pt x="159" y="132"/>
                    <a:pt x="175" y="132"/>
                  </a:cubicBezTo>
                  <a:cubicBezTo>
                    <a:pt x="190" y="132"/>
                    <a:pt x="203" y="144"/>
                    <a:pt x="203" y="160"/>
                  </a:cubicBezTo>
                  <a:close/>
                  <a:moveTo>
                    <a:pt x="269" y="107"/>
                  </a:moveTo>
                  <a:cubicBezTo>
                    <a:pt x="269" y="122"/>
                    <a:pt x="256" y="135"/>
                    <a:pt x="241" y="135"/>
                  </a:cubicBezTo>
                  <a:cubicBezTo>
                    <a:pt x="225" y="135"/>
                    <a:pt x="213" y="122"/>
                    <a:pt x="213" y="107"/>
                  </a:cubicBezTo>
                  <a:cubicBezTo>
                    <a:pt x="213" y="91"/>
                    <a:pt x="225" y="79"/>
                    <a:pt x="241" y="79"/>
                  </a:cubicBezTo>
                  <a:cubicBezTo>
                    <a:pt x="256" y="79"/>
                    <a:pt x="269" y="91"/>
                    <a:pt x="269" y="107"/>
                  </a:cubicBezTo>
                  <a:close/>
                  <a:moveTo>
                    <a:pt x="343" y="67"/>
                  </a:moveTo>
                  <a:cubicBezTo>
                    <a:pt x="343" y="82"/>
                    <a:pt x="330" y="95"/>
                    <a:pt x="315" y="95"/>
                  </a:cubicBezTo>
                  <a:cubicBezTo>
                    <a:pt x="299" y="95"/>
                    <a:pt x="287" y="82"/>
                    <a:pt x="287" y="67"/>
                  </a:cubicBezTo>
                  <a:cubicBezTo>
                    <a:pt x="287" y="51"/>
                    <a:pt x="299" y="39"/>
                    <a:pt x="315" y="39"/>
                  </a:cubicBezTo>
                  <a:cubicBezTo>
                    <a:pt x="330" y="39"/>
                    <a:pt x="343" y="51"/>
                    <a:pt x="343" y="67"/>
                  </a:cubicBezTo>
                  <a:close/>
                  <a:moveTo>
                    <a:pt x="423" y="41"/>
                  </a:moveTo>
                  <a:cubicBezTo>
                    <a:pt x="423" y="56"/>
                    <a:pt x="410" y="69"/>
                    <a:pt x="395" y="69"/>
                  </a:cubicBezTo>
                  <a:cubicBezTo>
                    <a:pt x="379" y="69"/>
                    <a:pt x="367" y="56"/>
                    <a:pt x="367" y="41"/>
                  </a:cubicBezTo>
                  <a:cubicBezTo>
                    <a:pt x="367" y="25"/>
                    <a:pt x="379" y="13"/>
                    <a:pt x="395" y="13"/>
                  </a:cubicBezTo>
                  <a:cubicBezTo>
                    <a:pt x="410" y="13"/>
                    <a:pt x="423" y="25"/>
                    <a:pt x="423" y="41"/>
                  </a:cubicBezTo>
                  <a:close/>
                  <a:moveTo>
                    <a:pt x="506" y="30"/>
                  </a:moveTo>
                  <a:cubicBezTo>
                    <a:pt x="506" y="45"/>
                    <a:pt x="493" y="58"/>
                    <a:pt x="478" y="58"/>
                  </a:cubicBezTo>
                  <a:cubicBezTo>
                    <a:pt x="462" y="58"/>
                    <a:pt x="450" y="45"/>
                    <a:pt x="450" y="30"/>
                  </a:cubicBezTo>
                  <a:cubicBezTo>
                    <a:pt x="450" y="14"/>
                    <a:pt x="462" y="2"/>
                    <a:pt x="478" y="2"/>
                  </a:cubicBezTo>
                  <a:cubicBezTo>
                    <a:pt x="493" y="2"/>
                    <a:pt x="506" y="14"/>
                    <a:pt x="506" y="30"/>
                  </a:cubicBezTo>
                  <a:close/>
                  <a:moveTo>
                    <a:pt x="591" y="34"/>
                  </a:moveTo>
                  <a:cubicBezTo>
                    <a:pt x="591" y="49"/>
                    <a:pt x="578" y="62"/>
                    <a:pt x="563" y="62"/>
                  </a:cubicBezTo>
                  <a:cubicBezTo>
                    <a:pt x="547" y="62"/>
                    <a:pt x="535" y="49"/>
                    <a:pt x="535" y="34"/>
                  </a:cubicBezTo>
                  <a:cubicBezTo>
                    <a:pt x="535" y="18"/>
                    <a:pt x="547" y="6"/>
                    <a:pt x="563" y="6"/>
                  </a:cubicBezTo>
                  <a:cubicBezTo>
                    <a:pt x="578" y="6"/>
                    <a:pt x="591" y="18"/>
                    <a:pt x="591" y="34"/>
                  </a:cubicBezTo>
                  <a:close/>
                  <a:moveTo>
                    <a:pt x="673" y="53"/>
                  </a:moveTo>
                  <a:cubicBezTo>
                    <a:pt x="673" y="68"/>
                    <a:pt x="660" y="81"/>
                    <a:pt x="645" y="81"/>
                  </a:cubicBezTo>
                  <a:cubicBezTo>
                    <a:pt x="629" y="81"/>
                    <a:pt x="617" y="68"/>
                    <a:pt x="617" y="53"/>
                  </a:cubicBezTo>
                  <a:cubicBezTo>
                    <a:pt x="617" y="37"/>
                    <a:pt x="629" y="25"/>
                    <a:pt x="645" y="25"/>
                  </a:cubicBezTo>
                  <a:cubicBezTo>
                    <a:pt x="660" y="25"/>
                    <a:pt x="673" y="37"/>
                    <a:pt x="673" y="53"/>
                  </a:cubicBezTo>
                  <a:close/>
                  <a:moveTo>
                    <a:pt x="750" y="86"/>
                  </a:moveTo>
                  <a:cubicBezTo>
                    <a:pt x="750" y="101"/>
                    <a:pt x="737" y="114"/>
                    <a:pt x="722" y="114"/>
                  </a:cubicBezTo>
                  <a:cubicBezTo>
                    <a:pt x="706" y="114"/>
                    <a:pt x="694" y="101"/>
                    <a:pt x="694" y="86"/>
                  </a:cubicBezTo>
                  <a:cubicBezTo>
                    <a:pt x="694" y="70"/>
                    <a:pt x="706" y="58"/>
                    <a:pt x="722" y="58"/>
                  </a:cubicBezTo>
                  <a:cubicBezTo>
                    <a:pt x="737" y="58"/>
                    <a:pt x="750" y="70"/>
                    <a:pt x="750" y="86"/>
                  </a:cubicBezTo>
                  <a:close/>
                  <a:moveTo>
                    <a:pt x="821" y="132"/>
                  </a:moveTo>
                  <a:cubicBezTo>
                    <a:pt x="821" y="147"/>
                    <a:pt x="808" y="160"/>
                    <a:pt x="793" y="160"/>
                  </a:cubicBezTo>
                  <a:cubicBezTo>
                    <a:pt x="777" y="160"/>
                    <a:pt x="765" y="147"/>
                    <a:pt x="765" y="132"/>
                  </a:cubicBezTo>
                  <a:cubicBezTo>
                    <a:pt x="765" y="116"/>
                    <a:pt x="777" y="104"/>
                    <a:pt x="793" y="104"/>
                  </a:cubicBezTo>
                  <a:cubicBezTo>
                    <a:pt x="808" y="104"/>
                    <a:pt x="821" y="116"/>
                    <a:pt x="821" y="132"/>
                  </a:cubicBezTo>
                  <a:close/>
                  <a:moveTo>
                    <a:pt x="881" y="190"/>
                  </a:moveTo>
                  <a:cubicBezTo>
                    <a:pt x="881" y="205"/>
                    <a:pt x="868" y="218"/>
                    <a:pt x="853" y="218"/>
                  </a:cubicBezTo>
                  <a:cubicBezTo>
                    <a:pt x="837" y="218"/>
                    <a:pt x="825" y="205"/>
                    <a:pt x="825" y="190"/>
                  </a:cubicBezTo>
                  <a:cubicBezTo>
                    <a:pt x="825" y="174"/>
                    <a:pt x="837" y="162"/>
                    <a:pt x="853" y="162"/>
                  </a:cubicBezTo>
                  <a:cubicBezTo>
                    <a:pt x="868" y="162"/>
                    <a:pt x="881" y="174"/>
                    <a:pt x="881" y="190"/>
                  </a:cubicBezTo>
                  <a:close/>
                  <a:moveTo>
                    <a:pt x="931" y="258"/>
                  </a:moveTo>
                  <a:cubicBezTo>
                    <a:pt x="931" y="273"/>
                    <a:pt x="918" y="286"/>
                    <a:pt x="903" y="286"/>
                  </a:cubicBezTo>
                  <a:cubicBezTo>
                    <a:pt x="887" y="286"/>
                    <a:pt x="875" y="273"/>
                    <a:pt x="875" y="258"/>
                  </a:cubicBezTo>
                  <a:cubicBezTo>
                    <a:pt x="875" y="242"/>
                    <a:pt x="887" y="230"/>
                    <a:pt x="903" y="230"/>
                  </a:cubicBezTo>
                  <a:cubicBezTo>
                    <a:pt x="918" y="230"/>
                    <a:pt x="931" y="242"/>
                    <a:pt x="931" y="258"/>
                  </a:cubicBezTo>
                  <a:close/>
                  <a:moveTo>
                    <a:pt x="968" y="334"/>
                  </a:moveTo>
                  <a:cubicBezTo>
                    <a:pt x="968" y="349"/>
                    <a:pt x="955" y="362"/>
                    <a:pt x="940" y="362"/>
                  </a:cubicBezTo>
                  <a:cubicBezTo>
                    <a:pt x="924" y="362"/>
                    <a:pt x="912" y="349"/>
                    <a:pt x="912" y="334"/>
                  </a:cubicBezTo>
                  <a:cubicBezTo>
                    <a:pt x="912" y="318"/>
                    <a:pt x="924" y="306"/>
                    <a:pt x="940" y="306"/>
                  </a:cubicBezTo>
                  <a:cubicBezTo>
                    <a:pt x="955" y="306"/>
                    <a:pt x="968" y="318"/>
                    <a:pt x="968" y="334"/>
                  </a:cubicBezTo>
                  <a:close/>
                  <a:moveTo>
                    <a:pt x="990" y="416"/>
                  </a:moveTo>
                  <a:cubicBezTo>
                    <a:pt x="990" y="431"/>
                    <a:pt x="977" y="444"/>
                    <a:pt x="962" y="444"/>
                  </a:cubicBezTo>
                  <a:cubicBezTo>
                    <a:pt x="946" y="444"/>
                    <a:pt x="934" y="431"/>
                    <a:pt x="934" y="416"/>
                  </a:cubicBezTo>
                  <a:cubicBezTo>
                    <a:pt x="934" y="400"/>
                    <a:pt x="946" y="388"/>
                    <a:pt x="962" y="388"/>
                  </a:cubicBezTo>
                  <a:cubicBezTo>
                    <a:pt x="977" y="388"/>
                    <a:pt x="990" y="400"/>
                    <a:pt x="990" y="416"/>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4" name="Forma 35"/>
            <p:cNvSpPr/>
            <p:nvPr/>
          </p:nvSpPr>
          <p:spPr>
            <a:xfrm>
              <a:off x="1097280" y="2926080"/>
              <a:ext cx="731520" cy="731520"/>
            </a:xfrm>
            <a:custGeom>
              <a:avLst/>
              <a:gdLst/>
              <a:ahLst/>
              <a:cxnLst/>
              <a:rect l="0" t="0" r="r" b="b"/>
              <a:pathLst>
                <a:path w="1000" h="1000" fill="none">
                  <a:moveTo>
                    <a:pt x="30" y="328"/>
                  </a:moveTo>
                  <a:cubicBezTo>
                    <a:pt x="40" y="308"/>
                    <a:pt x="65" y="248"/>
                    <a:pt x="90" y="213"/>
                  </a:cubicBezTo>
                  <a:cubicBezTo>
                    <a:pt x="114" y="177"/>
                    <a:pt x="145" y="143"/>
                    <a:pt x="178" y="116"/>
                  </a:cubicBezTo>
                  <a:cubicBezTo>
                    <a:pt x="211" y="88"/>
                    <a:pt x="248" y="64"/>
                    <a:pt x="288" y="46"/>
                  </a:cubicBezTo>
                  <a:cubicBezTo>
                    <a:pt x="327" y="27"/>
                    <a:pt x="370" y="14"/>
                    <a:pt x="413" y="7"/>
                  </a:cubicBezTo>
                  <a:cubicBezTo>
                    <a:pt x="455" y="0"/>
                    <a:pt x="500" y="-2"/>
                    <a:pt x="543" y="1"/>
                  </a:cubicBezTo>
                  <a:cubicBezTo>
                    <a:pt x="586" y="4"/>
                    <a:pt x="630" y="15"/>
                    <a:pt x="671" y="30"/>
                  </a:cubicBezTo>
                  <a:cubicBezTo>
                    <a:pt x="711" y="44"/>
                    <a:pt x="750" y="65"/>
                    <a:pt x="786" y="90"/>
                  </a:cubicBezTo>
                  <a:cubicBezTo>
                    <a:pt x="821" y="114"/>
                    <a:pt x="866" y="163"/>
                    <a:pt x="883" y="178"/>
                  </a:cubicBezTo>
                </a:path>
              </a:pathLst>
            </a:custGeom>
            <a:noFill/>
            <a:ln w="50800" cap="rnd">
              <a:solidFill>
                <a:srgbClr val="2E4A9E"/>
              </a:solidFill>
              <a:round/>
            </a:ln>
          </p:spPr>
        </p:sp>
        <p:sp>
          <p:nvSpPr>
            <p:cNvPr id="35" name="Forma 36"/>
            <p:cNvSpPr txBox="1"/>
            <p:nvPr/>
          </p:nvSpPr>
          <p:spPr>
            <a:xfrm>
              <a:off x="1097280" y="3145536"/>
              <a:ext cx="731520" cy="292608"/>
            </a:xfrm>
            <a:prstGeom prst="rect">
              <a:avLst/>
            </a:prstGeom>
            <a:noFill/>
            <a:ln>
              <a:noFill/>
            </a:ln>
          </p:spPr>
          <p:txBody>
            <a:bodyPr wrap="square" lIns="0" tIns="0" rIns="0" bIns="0" anchor="ctr" rtlCol="0">
              <a:noAutofit/>
            </a:bodyPr>
            <a:lstStyle/>
            <a:p>
              <a:pPr algn="ctr">
                <a:spcAft>
                  <a:spcPts val="300"/>
                </a:spcAft>
                <a:buNone/>
              </a:pPr>
              <a:r>
                <a:rPr lang="es-AR" sz="1280" b="1" dirty="0">
                  <a:solidFill>
                    <a:srgbClr val="1E1E1E"/>
                  </a:solidFill>
                  <a:latin typeface="Bahnschrift SemiBold Condensed"/>
                  <a:ea typeface="Bahnschrift SemiBold Condensed"/>
                  <a:cs typeface="Bahnschrift SemiBold Condensed"/>
                  <a:sym typeface="Bahnschrift SemiBold Condensed"/>
                </a:rPr>
                <a:t>QM</a:t>
              </a:r>
              <a:endParaRPr lang="es-AR" sz="1280" dirty="0">
                <a:latin typeface="Bahnschrift SemiBold Condensed"/>
              </a:endParaRPr>
            </a:p>
          </p:txBody>
        </p:sp>
      </p:grpSp>
      <p:sp>
        <p:nvSpPr>
          <p:cNvPr id="36" name="Albúmina"/>
          <p:cNvSpPr/>
          <p:nvPr/>
        </p:nvSpPr>
        <p:spPr>
          <a:xfrm>
            <a:off x="3657600" y="3108960"/>
            <a:ext cx="914400" cy="411480"/>
          </a:xfrm>
          <a:prstGeom prst="ellipse">
            <a:avLst/>
          </a:prstGeom>
          <a:gradFill rotWithShape="1">
            <a:gsLst>
              <a:gs pos="0">
                <a:srgbClr val="FBF0C5"/>
              </a:gs>
              <a:gs pos="55000">
                <a:srgbClr val="F9E79F"/>
              </a:gs>
              <a:gs pos="100000">
                <a:srgbClr val="C7B87F"/>
              </a:gs>
            </a:gsLst>
            <a:path path="circle">
              <a:fillToRect l="32000" t="28000" r="68000" b="72000"/>
            </a:path>
          </a:gradFill>
          <a:ln w="12700" cap="rnd">
            <a:solidFill>
              <a:srgbClr val="9A7D0A"/>
            </a:solidFill>
            <a:round/>
          </a:ln>
        </p:spPr>
        <p:txBody>
          <a:bodyPr wrap="square" lIns="73152" tIns="45720" rIns="73152" bIns="45720" anchor="ctr" rtlCol="0">
            <a:noAutofit/>
          </a:bodyPr>
          <a:lstStyle/>
          <a:p>
            <a:pPr algn="ctr">
              <a:spcAft>
                <a:spcPts val="300"/>
              </a:spcAft>
              <a:buNone/>
            </a:pPr>
            <a:r>
              <a:rPr lang="es-AR" sz="1000" b="1" dirty="0">
                <a:solidFill>
                  <a:srgbClr val="1E1E1E"/>
                </a:solidFill>
                <a:latin typeface="Bahnschrift SemiBold Condensed"/>
                <a:ea typeface="Bahnschrift SemiBold Condensed"/>
                <a:cs typeface="Bahnschrift SemiBold Condensed"/>
                <a:sym typeface="Bahnschrift SemiBold Condensed"/>
              </a:rPr>
              <a:t>Albúmina</a:t>
            </a:r>
            <a:endParaRPr lang="es-AR" sz="1000" dirty="0">
              <a:latin typeface="Bahnschrift SemiBold Condensed"/>
            </a:endParaRPr>
          </a:p>
        </p:txBody>
      </p:sp>
      <p:grpSp>
        <p:nvGrpSpPr>
          <p:cNvPr id="37" name="Recuadro Cadena media (C8/C10)"/>
          <p:cNvGrpSpPr/>
          <p:nvPr/>
        </p:nvGrpSpPr>
        <p:grpSpPr>
          <a:xfrm>
            <a:off x="6309360" y="1005840"/>
            <a:ext cx="5486400" cy="2240280"/>
            <a:chOff x="6309360" y="1005840"/>
            <a:chExt cx="5486400" cy="2240280"/>
          </a:xfrm>
        </p:grpSpPr>
        <p:sp>
          <p:nvSpPr>
            <p:cNvPr id="38" name="Forma 39"/>
            <p:cNvSpPr/>
            <p:nvPr/>
          </p:nvSpPr>
          <p:spPr>
            <a:xfrm>
              <a:off x="6309360" y="1188720"/>
              <a:ext cx="5486400" cy="2057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Más </a:t>
              </a:r>
              <a:r>
                <a:rPr lang="es-AR" sz="1650" b="1" dirty="0">
                  <a:solidFill>
                    <a:srgbClr val="1E1E1E"/>
                  </a:solidFill>
                  <a:latin typeface="Bahnschrift"/>
                  <a:ea typeface="Bahnschrift"/>
                  <a:cs typeface="Bahnschrift"/>
                  <a:sym typeface="Bahnschrift"/>
                </a:rPr>
                <a:t>solubles</a:t>
              </a:r>
              <a:r>
                <a:rPr lang="es-AR" sz="1650" dirty="0">
                  <a:solidFill>
                    <a:srgbClr val="1E1E1E"/>
                  </a:solidFill>
                  <a:latin typeface="Bahnschrift"/>
                  <a:ea typeface="Bahnschrift"/>
                  <a:cs typeface="Bahnschrift"/>
                  <a:sym typeface="Bahnschrift"/>
                </a:rPr>
                <a:t>; tras la digestión una mayor fracción de </a:t>
              </a:r>
              <a:r>
                <a:rPr lang="es-AR" sz="1650" b="1" dirty="0">
                  <a:solidFill>
                    <a:srgbClr val="1E1E1E"/>
                  </a:solidFill>
                  <a:latin typeface="Bahnschrift"/>
                  <a:ea typeface="Bahnschrift"/>
                  <a:cs typeface="Bahnschrift"/>
                  <a:sym typeface="Bahnschrift"/>
                </a:rPr>
                <a:t>C8/C10</a:t>
              </a:r>
              <a:r>
                <a:rPr lang="es-AR" sz="1650" dirty="0">
                  <a:solidFill>
                    <a:srgbClr val="1E1E1E"/>
                  </a:solidFill>
                  <a:latin typeface="Bahnschrift"/>
                  <a:ea typeface="Bahnschrift"/>
                  <a:cs typeface="Bahnschrift"/>
                  <a:sym typeface="Bahnschrift"/>
                </a:rPr>
                <a:t> pasa al </a:t>
              </a:r>
              <a:r>
                <a:rPr lang="es-AR" sz="1650" b="1" dirty="0">
                  <a:solidFill>
                    <a:srgbClr val="1E1E1E"/>
                  </a:solidFill>
                  <a:latin typeface="Bahnschrift"/>
                  <a:ea typeface="Bahnschrift"/>
                  <a:cs typeface="Bahnschrift"/>
                  <a:sym typeface="Bahnschrift"/>
                </a:rPr>
                <a:t>sistema portal</a:t>
              </a:r>
              <a:r>
                <a:rPr lang="es-AR" sz="1650" dirty="0">
                  <a:solidFill>
                    <a:srgbClr val="1E1E1E"/>
                  </a:solidFill>
                  <a:latin typeface="Bahnschrift"/>
                  <a:ea typeface="Bahnschrift"/>
                  <a:cs typeface="Bahnschrift"/>
                  <a:sym typeface="Bahnschrift"/>
                </a:rPr>
                <a:t> unida a albúmina.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Entrada mitocondrial </a:t>
              </a:r>
              <a:r>
                <a:rPr lang="es-AR" sz="1650" b="1" dirty="0">
                  <a:solidFill>
                    <a:srgbClr val="1E1E1E"/>
                  </a:solidFill>
                  <a:latin typeface="Bahnschrift"/>
                  <a:ea typeface="Bahnschrift"/>
                  <a:cs typeface="Bahnschrift"/>
                  <a:sym typeface="Bahnschrift"/>
                </a:rPr>
                <a:t>relativamente independiente de CPT1/carnitina</a:t>
              </a:r>
              <a:r>
                <a:rPr lang="es-AR" sz="1650" dirty="0">
                  <a:solidFill>
                    <a:srgbClr val="1E1E1E"/>
                  </a:solidFill>
                  <a:latin typeface="Bahnschrift"/>
                  <a:ea typeface="Bahnschrift"/>
                  <a:cs typeface="Bahnschrift"/>
                  <a:sym typeface="Bahnschrift"/>
                </a:rPr>
                <a:t>: oxidación y cetogénesis rápidas.</a:t>
              </a:r>
              <a:endParaRPr lang="es-AR" sz="1650" dirty="0">
                <a:latin typeface="Bahnschrift"/>
              </a:endParaRPr>
            </a:p>
          </p:txBody>
        </p:sp>
        <p:sp>
          <p:nvSpPr>
            <p:cNvPr id="39" name="Forma 40"/>
            <p:cNvSpPr/>
            <p:nvPr/>
          </p:nvSpPr>
          <p:spPr>
            <a:xfrm>
              <a:off x="6419088" y="1005840"/>
              <a:ext cx="211766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CADENA MEDIA (C8/C10)</a:t>
              </a:r>
              <a:endParaRPr lang="es-AR" sz="1500" dirty="0">
                <a:latin typeface="Bahnschrift SemiBold Condensed"/>
              </a:endParaRPr>
            </a:p>
          </p:txBody>
        </p:sp>
      </p:grpSp>
      <p:grpSp>
        <p:nvGrpSpPr>
          <p:cNvPr id="40" name="Recuadro Cadena larga"/>
          <p:cNvGrpSpPr/>
          <p:nvPr/>
        </p:nvGrpSpPr>
        <p:grpSpPr>
          <a:xfrm>
            <a:off x="6309360" y="3429000"/>
            <a:ext cx="5486400" cy="1417320"/>
            <a:chOff x="6309360" y="3429000"/>
            <a:chExt cx="5486400" cy="1417320"/>
          </a:xfrm>
        </p:grpSpPr>
        <p:sp>
          <p:nvSpPr>
            <p:cNvPr id="41" name="Forma 42"/>
            <p:cNvSpPr/>
            <p:nvPr/>
          </p:nvSpPr>
          <p:spPr>
            <a:xfrm>
              <a:off x="6309360" y="3611880"/>
              <a:ext cx="5486400" cy="12344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Muchos AG largos se </a:t>
              </a:r>
              <a:r>
                <a:rPr lang="es-AR" sz="1650" b="1" dirty="0">
                  <a:solidFill>
                    <a:srgbClr val="1E1E1E"/>
                  </a:solidFill>
                  <a:latin typeface="Bahnschrift"/>
                  <a:ea typeface="Bahnschrift"/>
                  <a:cs typeface="Bahnschrift"/>
                  <a:sym typeface="Bahnschrift"/>
                </a:rPr>
                <a:t>reesterifican</a:t>
              </a:r>
              <a:r>
                <a:rPr lang="es-AR" sz="1650" dirty="0">
                  <a:solidFill>
                    <a:srgbClr val="1E1E1E"/>
                  </a:solidFill>
                  <a:latin typeface="Bahnschrift"/>
                  <a:ea typeface="Bahnschrift"/>
                  <a:cs typeface="Bahnschrift"/>
                  <a:sym typeface="Bahnschrift"/>
                </a:rPr>
                <a:t> en el enterocito y viajan en </a:t>
              </a:r>
              <a:r>
                <a:rPr lang="es-AR" sz="1650" b="1" dirty="0">
                  <a:solidFill>
                    <a:srgbClr val="1E1E1E"/>
                  </a:solidFill>
                  <a:latin typeface="Bahnschrift"/>
                  <a:ea typeface="Bahnschrift"/>
                  <a:cs typeface="Bahnschrift"/>
                  <a:sym typeface="Bahnschrift"/>
                </a:rPr>
                <a:t>QM por linfa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2" name="Forma 43"/>
            <p:cNvSpPr/>
            <p:nvPr/>
          </p:nvSpPr>
          <p:spPr>
            <a:xfrm>
              <a:off x="6419088" y="3429000"/>
              <a:ext cx="145418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CADENA LARGA</a:t>
              </a:r>
              <a:endParaRPr lang="es-AR" sz="1500" dirty="0">
                <a:latin typeface="Bahnschrift SemiBold Condensed"/>
              </a:endParaRPr>
            </a:p>
          </p:txBody>
        </p:sp>
      </p:grpSp>
      <p:sp>
        <p:nvSpPr>
          <p:cNvPr id="43" name="Perla"/>
          <p:cNvSpPr/>
          <p:nvPr/>
        </p:nvSpPr>
        <p:spPr>
          <a:xfrm>
            <a:off x="365760" y="5532120"/>
            <a:ext cx="11430000" cy="9601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b="1" dirty="0">
                <a:solidFill>
                  <a:srgbClr val="FFFFFF"/>
                </a:solidFill>
                <a:latin typeface="Bahnschrift"/>
                <a:ea typeface="Bahnschrift"/>
                <a:cs typeface="Bahnschrift"/>
                <a:sym typeface="Bahnschrift"/>
              </a:rPr>
              <a:t>C12 (laurato)</a:t>
            </a:r>
            <a:r>
              <a:rPr lang="es-AR" sz="1700" dirty="0">
                <a:solidFill>
                  <a:srgbClr val="FFFFFF"/>
                </a:solidFill>
                <a:latin typeface="Bahnschrift"/>
                <a:ea typeface="Bahnschrift"/>
                <a:cs typeface="Bahnschrift"/>
                <a:sym typeface="Bahnschrift"/>
              </a:rPr>
              <a:t> es intermedio y no se comporta como C8/C10: no todas las mezclas comerciales «MCT» son equivalentes.</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80655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300" b="1" dirty="0">
                <a:solidFill>
                  <a:srgbClr val="1E1E1E"/>
                </a:solidFill>
                <a:latin typeface="Bahnschrift SemiBold Condensed"/>
                <a:ea typeface="Bahnschrift SemiBold Condensed"/>
                <a:cs typeface="Bahnschrift SemiBold Condensed"/>
                <a:sym typeface="Bahnschrift SemiBold Condensed"/>
              </a:rPr>
              <a:t>17 · ÁCIDOS GRASOS DE CADENA CORTA Y MEDIA: OTRA RUTA DE ABSORCIÓN</a:t>
            </a:r>
            <a:endParaRPr lang="es-AR" sz="2300" dirty="0">
              <a:latin typeface="Bahnschrift SemiBold Condensed"/>
            </a:endParaRPr>
          </a:p>
        </p:txBody>
      </p:sp>
      <p:sp>
        <p:nvSpPr>
          <p:cNvPr id="4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27"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childTnLst>
                          </p:cTn>
                        </p:par>
                        <p:par>
                          <p:cTn id="14" fill="hold">
                            <p:stCondLst>
                              <p:cond delay="500"/>
                            </p:stCondLst>
                            <p:childTnLst>
                              <p:par>
                                <p:cTn id="12" presetID="0" presetClass="path" presetSubtype="0" accel="20000" decel="20000" fill="hold" grpId="0" nodeType="afterEffect">
                                  <p:stCondLst>
                                    <p:cond delay="0"/>
                                  </p:stCondLst>
                                  <p:childTnLst>
                                    <p:animMotion origin="layout" path="M 0 0 L 0.0000 0.1600 E" pathEditMode="relative" ptsTypes="">
                                      <p:cBhvr>
                                        <p:cTn id="13" dur="900" fill="hold"/>
                                        <p:tgtEl>
                                          <p:spTgt spid="25"/>
                                        </p:tgtEl>
                                        <p:attrNameLst>
                                          <p:attrName>ppt_x</p:attrName>
                                          <p:attrName>ppt_y</p:attrName>
                                        </p:attrNameLst>
                                      </p:cBhvr>
                                      <p:rCtr x="0" y="8000"/>
                                    </p:animMotion>
                                  </p:childTnLst>
                                </p:cTn>
                              </p:par>
                            </p:childTnLst>
                          </p:cTn>
                        </p:par>
                        <p:par>
                          <p:cTn id="20" fill="hold">
                            <p:stCondLst>
                              <p:cond delay="1400"/>
                            </p:stCondLst>
                            <p:childTnLst>
                              <p:par>
                                <p:cTn id="15" presetID="53" presetClass="entr" presetSubtype="16"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 calcmode="lin" valueType="num">
                                      <p:cBhvr>
                                        <p:cTn id="17" dur="500" fill="hold"/>
                                        <p:tgtEl>
                                          <p:spTgt spid="31"/>
                                        </p:tgtEl>
                                        <p:attrNameLst>
                                          <p:attrName>ppt_w</p:attrName>
                                        </p:attrNameLst>
                                      </p:cBhvr>
                                      <p:tavLst>
                                        <p:tav tm="0">
                                          <p:val>
                                            <p:fltVal val="0"/>
                                          </p:val>
                                        </p:tav>
                                        <p:tav tm="100000">
                                          <p:val>
                                            <p:strVal val="#ppt_w"/>
                                          </p:val>
                                        </p:tav>
                                      </p:tavLst>
                                    </p:anim>
                                    <p:anim calcmode="lin" valueType="num">
                                      <p:cBhvr>
                                        <p:cTn id="18" dur="500" fill="hold"/>
                                        <p:tgtEl>
                                          <p:spTgt spid="31"/>
                                        </p:tgtEl>
                                        <p:attrNameLst>
                                          <p:attrName>ppt_h</p:attrName>
                                        </p:attrNameLst>
                                      </p:cBhvr>
                                      <p:tavLst>
                                        <p:tav tm="0">
                                          <p:val>
                                            <p:fltVal val="0"/>
                                          </p:val>
                                        </p:tav>
                                        <p:tav tm="100000">
                                          <p:val>
                                            <p:strVal val="#ppt_h"/>
                                          </p:val>
                                        </p:tav>
                                      </p:tavLst>
                                    </p:anim>
                                    <p:animEffect transition="in" filter="fade">
                                      <p:cBhvr>
                                        <p:cTn id="19" dur="500"/>
                                        <p:tgtEl>
                                          <p:spTgt spid="31"/>
                                        </p:tgtEl>
                                      </p:cBhvr>
                                    </p:animEffect>
                                  </p:childTnLst>
                                </p:cTn>
                              </p:par>
                            </p:childTnLst>
                          </p:cTn>
                        </p:par>
                        <p:par>
                          <p:cTn id="26" fill="hold">
                            <p:stCondLst>
                              <p:cond delay="1900"/>
                            </p:stCondLst>
                            <p:childTnLst>
                              <p:par>
                                <p:cTn id="21" presetID="0" presetClass="path" presetSubtype="0" accel="20000" decel="20000" fill="hold" grpId="0" nodeType="afterEffect">
                                  <p:stCondLst>
                                    <p:cond delay="0"/>
                                  </p:stCondLst>
                                  <p:childTnLst>
                                    <p:animMotion origin="layout" path="M 0 0 L 0.0000 0.2133 E" pathEditMode="relative" ptsTypes="">
                                      <p:cBhvr>
                                        <p:cTn id="22" dur="1100" fill="hold"/>
                                        <p:tgtEl>
                                          <p:spTgt spid="31"/>
                                        </p:tgtEl>
                                        <p:attrNameLst>
                                          <p:attrName>ppt_x</p:attrName>
                                          <p:attrName>ppt_y</p:attrName>
                                        </p:attrNameLst>
                                      </p:cBhvr>
                                      <p:rCtr x="0" y="10666"/>
                                    </p:animMotion>
                                  </p:childTnLst>
                                </p:cTn>
                              </p:par>
                              <p:par>
                                <p:cTn id="23" presetID="10" presetClass="entr" presetSubtype="0"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childTnLst>
                    </p:cTn>
                  </p:par>
                  <p:par>
                    <p:cTn id="45"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500"/>
                                        <p:tgtEl>
                                          <p:spTgt spid="28"/>
                                        </p:tgtEl>
                                      </p:cBhvr>
                                    </p:animEffect>
                                  </p:childTnLst>
                                </p:cTn>
                              </p:par>
                            </p:childTnLst>
                          </p:cTn>
                        </p:par>
                        <p:par>
                          <p:cTn id="34" fill="hold">
                            <p:stCondLst>
                              <p:cond delay="500"/>
                            </p:stCondLst>
                            <p:childTnLst>
                              <p:par>
                                <p:cTn id="32" presetID="0" presetClass="path" presetSubtype="0" accel="20000" decel="20000" fill="hold" grpId="0" nodeType="afterEffect">
                                  <p:stCondLst>
                                    <p:cond delay="0"/>
                                  </p:stCondLst>
                                  <p:childTnLst>
                                    <p:animMotion origin="layout" path="M 0 0 L 0.0000 0.1867 E" pathEditMode="relative" ptsTypes="">
                                      <p:cBhvr>
                                        <p:cTn id="33" dur="900" fill="hold"/>
                                        <p:tgtEl>
                                          <p:spTgt spid="28"/>
                                        </p:tgtEl>
                                        <p:attrNameLst>
                                          <p:attrName>ppt_x</p:attrName>
                                          <p:attrName>ppt_y</p:attrName>
                                        </p:attrNameLst>
                                      </p:cBhvr>
                                      <p:rCtr x="0" y="9333"/>
                                    </p:animMotion>
                                  </p:childTnLst>
                                </p:cTn>
                              </p:par>
                            </p:childTnLst>
                          </p:cTn>
                        </p:par>
                        <p:par>
                          <p:cTn id="38" fill="hold">
                            <p:stCondLst>
                              <p:cond delay="1400"/>
                            </p:stCondLst>
                            <p:childTnLst>
                              <p:par>
                                <p:cTn id="35" presetID="10" presetClass="entr" presetSubtype="0" fill="hold" grpId="0"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par>
                          <p:cTn id="44" fill="hold">
                            <p:stCondLst>
                              <p:cond delay="1900"/>
                            </p:stCondLst>
                            <p:childTnLst>
                              <p:par>
                                <p:cTn id="39" presetID="0" presetClass="path" presetSubtype="0" accel="20000" decel="20000" fill="hold" grpId="0" nodeType="afterEffect">
                                  <p:stCondLst>
                                    <p:cond delay="0"/>
                                  </p:stCondLst>
                                  <p:childTnLst>
                                    <p:animMotion origin="layout" path="M 0 0 L 0.0450 0.2000 E" pathEditMode="relative" ptsTypes="">
                                      <p:cBhvr>
                                        <p:cTn id="40" dur="1100" fill="hold"/>
                                        <p:tgtEl>
                                          <p:spTgt spid="36"/>
                                        </p:tgtEl>
                                        <p:attrNameLst>
                                          <p:attrName>ppt_x</p:attrName>
                                          <p:attrName>ppt_y</p:attrName>
                                        </p:attrNameLst>
                                      </p:cBhvr>
                                      <p:rCtr x="2250" y="10000"/>
                                    </p:animMotion>
                                  </p:childTnLst>
                                </p:cTn>
                              </p:par>
                              <p:par>
                                <p:cTn id="41" presetID="10" presetClass="entr" presetSubtype="0" fill="hold" grpId="0"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fade">
                                      <p:cBhvr>
                                        <p:cTn id="43" dur="500"/>
                                        <p:tgtEl>
                                          <p:spTgt spid="37"/>
                                        </p:tgtEl>
                                      </p:cBhvr>
                                    </p:animEffect>
                                  </p:childTnLst>
                                </p:cTn>
                              </p:par>
                            </p:childTnLst>
                          </p:cTn>
                        </p:par>
                      </p:childTnLst>
                    </p:cTn>
                  </p:par>
                  <p:par>
                    <p:cTn id="50" fill="hold">
                      <p:stCondLst>
                        <p:cond delay="indefinite"/>
                      </p:stCondLst>
                      <p:childTnLst>
                        <p:par>
                          <p:cTn id="49"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43"/>
                                        </p:tgtEl>
                                        <p:attrNameLst>
                                          <p:attrName>style.visibility</p:attrName>
                                        </p:attrNameLst>
                                      </p:cBhvr>
                                      <p:to>
                                        <p:strVal val="visible"/>
                                      </p:to>
                                    </p:set>
                                    <p:animEffect transition="in" filter="fade">
                                      <p:cBhvr>
                                        <p:cTn id="48"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43" grpId="0" animBg="1"/>
    </p:bldLst>
  </p:timing>
</p:sld>
</file>

<file path=ppt/slides/slide111.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Recuadro Beneficios potenciales"/>
          <p:cNvGrpSpPr/>
          <p:nvPr/>
        </p:nvGrpSpPr>
        <p:grpSpPr>
          <a:xfrm>
            <a:off x="365760" y="1005840"/>
            <a:ext cx="5577840" cy="2743200"/>
            <a:chOff x="365760" y="1005840"/>
            <a:chExt cx="5577840" cy="2743200"/>
          </a:xfrm>
        </p:grpSpPr>
        <p:sp>
          <p:nvSpPr>
            <p:cNvPr id="5" name="Forma 4"/>
            <p:cNvSpPr/>
            <p:nvPr/>
          </p:nvSpPr>
          <p:spPr>
            <a:xfrm>
              <a:off x="365760" y="1188720"/>
              <a:ext cx="5577840" cy="25603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Combustible </a:t>
              </a:r>
              <a:r>
                <a:rPr lang="es-AR" sz="1700" b="1" dirty="0">
                  <a:solidFill>
                    <a:srgbClr val="1E1E1E"/>
                  </a:solidFill>
                  <a:latin typeface="Bahnschrift"/>
                  <a:ea typeface="Bahnschrift"/>
                  <a:cs typeface="Bahnschrift"/>
                  <a:sym typeface="Bahnschrift"/>
                </a:rPr>
                <a:t>rápido</a:t>
              </a:r>
              <a:r>
                <a:rPr lang="es-AR" sz="1700" dirty="0">
                  <a:solidFill>
                    <a:srgbClr val="1E1E1E"/>
                  </a:solidFill>
                  <a:latin typeface="Bahnschrift"/>
                  <a:ea typeface="Bahnschrift"/>
                  <a:cs typeface="Bahnschrift"/>
                  <a:sym typeface="Bahnschrift"/>
                </a:rPr>
                <a:t> con menor dependencia de </a:t>
              </a:r>
              <a:r>
                <a:rPr lang="es-AR" sz="1700" b="1" dirty="0">
                  <a:solidFill>
                    <a:srgbClr val="1E1E1E"/>
                  </a:solidFill>
                  <a:latin typeface="Bahnschrift"/>
                  <a:ea typeface="Bahnschrift"/>
                  <a:cs typeface="Bahnschrift"/>
                  <a:sym typeface="Bahnschrift"/>
                </a:rPr>
                <a:t>QM</a:t>
              </a:r>
              <a:r>
                <a:rPr lang="es-AR" sz="1700" dirty="0">
                  <a:solidFill>
                    <a:srgbClr val="1E1E1E"/>
                  </a:solidFill>
                  <a:latin typeface="Bahnschrift"/>
                  <a:ea typeface="Bahnschrift"/>
                  <a:cs typeface="Bahnschrift"/>
                  <a:sym typeface="Bahnschrift"/>
                </a:rPr>
                <a:t> y de la </a:t>
              </a:r>
              <a:r>
                <a:rPr lang="es-AR" sz="1700" b="1" dirty="0">
                  <a:solidFill>
                    <a:srgbClr val="1E1E1E"/>
                  </a:solidFill>
                  <a:latin typeface="Bahnschrift"/>
                  <a:ea typeface="Bahnschrift"/>
                  <a:cs typeface="Bahnschrift"/>
                  <a:sym typeface="Bahnschrift"/>
                </a:rPr>
                <a:t>lanzadera de carnitina</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Útil </a:t>
              </a:r>
              <a:r>
                <a:rPr lang="es-AR" sz="1700" b="1" dirty="0">
                  <a:solidFill>
                    <a:srgbClr val="1E1E1E"/>
                  </a:solidFill>
                  <a:latin typeface="Bahnschrift"/>
                  <a:ea typeface="Bahnschrift"/>
                  <a:cs typeface="Bahnschrift"/>
                  <a:sym typeface="Bahnschrift"/>
                </a:rPr>
                <a:t>bajo indicación especializada</a:t>
              </a:r>
              <a:r>
                <a:rPr lang="es-AR" sz="1700" dirty="0">
                  <a:solidFill>
                    <a:srgbClr val="1E1E1E"/>
                  </a:solidFill>
                  <a:latin typeface="Bahnschrift"/>
                  <a:ea typeface="Bahnschrift"/>
                  <a:cs typeface="Bahnschrift"/>
                  <a:sym typeface="Bahnschrift"/>
                </a:rPr>
                <a:t>: trastornos de transporte/oxidación de AG largos o </a:t>
              </a:r>
              <a:r>
                <a:rPr lang="es-AR" sz="1700" b="1" dirty="0">
                  <a:solidFill>
                    <a:srgbClr val="1E1E1E"/>
                  </a:solidFill>
                  <a:latin typeface="Bahnschrift"/>
                  <a:ea typeface="Bahnschrift"/>
                  <a:cs typeface="Bahnschrift"/>
                  <a:sym typeface="Bahnschrift"/>
                </a:rPr>
                <a:t>quilomicronemia familiar</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6" name="Forma 5"/>
            <p:cNvSpPr/>
            <p:nvPr/>
          </p:nvSpPr>
          <p:spPr>
            <a:xfrm>
              <a:off x="475488" y="1005840"/>
              <a:ext cx="2293516"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BENEFICIOS POTENCIALES</a:t>
              </a:r>
              <a:endParaRPr lang="es-AR" sz="1550" dirty="0">
                <a:latin typeface="Bahnschrift SemiBold Condensed"/>
              </a:endParaRPr>
            </a:p>
          </p:txBody>
        </p:sp>
      </p:grpSp>
      <p:grpSp>
        <p:nvGrpSpPr>
          <p:cNvPr id="7" name="Recuadro Límites"/>
          <p:cNvGrpSpPr/>
          <p:nvPr/>
        </p:nvGrpSpPr>
        <p:grpSpPr>
          <a:xfrm>
            <a:off x="6217920" y="1005840"/>
            <a:ext cx="5577840" cy="2743200"/>
            <a:chOff x="6217920" y="1005840"/>
            <a:chExt cx="5577840" cy="2743200"/>
          </a:xfrm>
        </p:grpSpPr>
        <p:sp>
          <p:nvSpPr>
            <p:cNvPr id="8" name="Forma 7"/>
            <p:cNvSpPr/>
            <p:nvPr/>
          </p:nvSpPr>
          <p:spPr>
            <a:xfrm>
              <a:off x="6217920" y="1188720"/>
              <a:ext cx="5577840" cy="25603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No</a:t>
              </a:r>
              <a:r>
                <a:rPr lang="es-AR" sz="1700" dirty="0">
                  <a:solidFill>
                    <a:srgbClr val="1E1E1E"/>
                  </a:solidFill>
                  <a:latin typeface="Bahnschrift"/>
                  <a:ea typeface="Bahnschrift"/>
                  <a:cs typeface="Bahnschrift"/>
                  <a:sym typeface="Bahnschrift"/>
                </a:rPr>
                <a:t> son «grasas que no se almacenan»: aportan calorías y se almacenan si hay superávit.</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No reemplazan</a:t>
              </a:r>
              <a:r>
                <a:rPr lang="es-AR" sz="1700" dirty="0">
                  <a:solidFill>
                    <a:srgbClr val="1E1E1E"/>
                  </a:solidFill>
                  <a:latin typeface="Bahnschrift"/>
                  <a:ea typeface="Bahnschrift"/>
                  <a:cs typeface="Bahnschrift"/>
                  <a:sym typeface="Bahnschrift"/>
                </a:rPr>
                <a:t> a los AG esenciales.</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No garantizan</a:t>
              </a:r>
              <a:r>
                <a:rPr lang="es-AR" sz="1700" dirty="0">
                  <a:solidFill>
                    <a:srgbClr val="1E1E1E"/>
                  </a:solidFill>
                  <a:latin typeface="Bahnschrift"/>
                  <a:ea typeface="Bahnschrift"/>
                  <a:cs typeface="Bahnschrift"/>
                  <a:sym typeface="Bahnschrift"/>
                </a:rPr>
                <a:t> adelgazamiento.</a:t>
              </a:r>
              <a:endParaRPr lang="es-AR" sz="1700" dirty="0">
                <a:latin typeface="Bahnschrift"/>
              </a:endParaRPr>
            </a:p>
          </p:txBody>
        </p:sp>
        <p:sp>
          <p:nvSpPr>
            <p:cNvPr id="9" name="Forma 8"/>
            <p:cNvSpPr/>
            <p:nvPr/>
          </p:nvSpPr>
          <p:spPr>
            <a:xfrm>
              <a:off x="6327648" y="1005840"/>
              <a:ext cx="928416"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LÍMITES</a:t>
              </a:r>
              <a:endParaRPr lang="es-AR" sz="1550" dirty="0">
                <a:latin typeface="Bahnschrift SemiBold Condensed"/>
              </a:endParaRPr>
            </a:p>
          </p:txBody>
        </p:sp>
      </p:grpSp>
      <p:grpSp>
        <p:nvGrpSpPr>
          <p:cNvPr id="10" name="Recuadro Leche humana"/>
          <p:cNvGrpSpPr/>
          <p:nvPr/>
        </p:nvGrpSpPr>
        <p:grpSpPr>
          <a:xfrm>
            <a:off x="365760" y="3977640"/>
            <a:ext cx="11430000" cy="2514600"/>
            <a:chOff x="365760" y="3977640"/>
            <a:chExt cx="11430000" cy="2514600"/>
          </a:xfrm>
        </p:grpSpPr>
        <p:sp>
          <p:nvSpPr>
            <p:cNvPr id="11" name="Forma 10"/>
            <p:cNvSpPr/>
            <p:nvPr/>
          </p:nvSpPr>
          <p:spPr>
            <a:xfrm>
              <a:off x="365760" y="4160520"/>
              <a:ext cx="11430000" cy="23317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Mezcla de </a:t>
              </a:r>
              <a:r>
                <a:rPr lang="es-AR" sz="1700" b="1" dirty="0">
                  <a:solidFill>
                    <a:srgbClr val="1E1E1E"/>
                  </a:solidFill>
                  <a:latin typeface="Bahnschrift"/>
                  <a:ea typeface="Bahnschrift"/>
                  <a:cs typeface="Bahnschrift"/>
                  <a:sym typeface="Bahnschrift"/>
                </a:rPr>
                <a:t>AG largos</a:t>
              </a:r>
              <a:r>
                <a:rPr lang="es-AR" sz="1700" dirty="0">
                  <a:solidFill>
                    <a:srgbClr val="1E1E1E"/>
                  </a:solidFill>
                  <a:latin typeface="Bahnschrift"/>
                  <a:ea typeface="Bahnschrift"/>
                  <a:cs typeface="Bahnschrift"/>
                  <a:sym typeface="Bahnschrift"/>
                </a:rPr>
                <a:t> y proporciones variables de </a:t>
              </a:r>
              <a:r>
                <a:rPr lang="es-AR" sz="1700" b="1" dirty="0">
                  <a:solidFill>
                    <a:srgbClr val="1E1E1E"/>
                  </a:solidFill>
                  <a:latin typeface="Bahnschrift"/>
                  <a:ea typeface="Bahnschrift"/>
                  <a:cs typeface="Bahnschrift"/>
                  <a:sym typeface="Bahnschrift"/>
                </a:rPr>
                <a:t>cadena media</a:t>
              </a:r>
              <a:r>
                <a:rPr lang="es-AR" sz="1700" dirty="0">
                  <a:solidFill>
                    <a:srgbClr val="1E1E1E"/>
                  </a:solidFill>
                  <a:latin typeface="Bahnschrift"/>
                  <a:ea typeface="Bahnschrift"/>
                  <a:cs typeface="Bahnschrift"/>
                  <a:sym typeface="Bahnschrift"/>
                </a:rPr>
                <a:t> (sobre todo </a:t>
              </a:r>
              <a:r>
                <a:rPr lang="es-AR" sz="1700" b="1" dirty="0">
                  <a:solidFill>
                    <a:srgbClr val="1E1E1E"/>
                  </a:solidFill>
                  <a:latin typeface="Bahnschrift"/>
                  <a:ea typeface="Bahnschrift"/>
                  <a:cs typeface="Bahnschrift"/>
                  <a:sym typeface="Bahnschrift"/>
                </a:rPr>
                <a:t>C10–C14</a:t>
              </a:r>
              <a:r>
                <a:rPr lang="es-AR" sz="1700" dirty="0">
                  <a:solidFill>
                    <a:srgbClr val="1E1E1E"/>
                  </a:solidFill>
                  <a:latin typeface="Bahnschrift"/>
                  <a:ea typeface="Bahnschrift"/>
                  <a:cs typeface="Bahnschrift"/>
                  <a:sym typeface="Bahnschrift"/>
                </a:rPr>
                <a:t>), según dieta y etapa de lactancia.</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Beneficio para el lactante: fuente energética </a:t>
              </a:r>
              <a:r>
                <a:rPr lang="es-AR" sz="1700" b="1" dirty="0">
                  <a:solidFill>
                    <a:srgbClr val="1E1E1E"/>
                  </a:solidFill>
                  <a:latin typeface="Bahnschrift"/>
                  <a:ea typeface="Bahnschrift"/>
                  <a:cs typeface="Bahnschrift"/>
                  <a:sym typeface="Bahnschrift"/>
                </a:rPr>
                <a:t>accesible</a:t>
              </a:r>
              <a:r>
                <a:rPr lang="es-AR" sz="1700" dirty="0">
                  <a:solidFill>
                    <a:srgbClr val="1E1E1E"/>
                  </a:solidFill>
                  <a:latin typeface="Bahnschrift"/>
                  <a:ea typeface="Bahnschrift"/>
                  <a:cs typeface="Bahnschrift"/>
                  <a:sym typeface="Bahnschrift"/>
                </a:rPr>
                <a:t> y composición adaptada.</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No</a:t>
              </a:r>
              <a:r>
                <a:rPr lang="es-AR" sz="1700" dirty="0">
                  <a:solidFill>
                    <a:srgbClr val="1E1E1E"/>
                  </a:solidFill>
                  <a:latin typeface="Bahnschrift"/>
                  <a:ea typeface="Bahnschrift"/>
                  <a:cs typeface="Bahnschrift"/>
                  <a:sym typeface="Bahnschrift"/>
                </a:rPr>
                <a:t> afirmar que los TAG de cadena corta/media sean la mayoría de sus lípidos: se requieren AG </a:t>
              </a:r>
              <a:r>
                <a:rPr lang="es-AR" sz="1700" b="1" dirty="0">
                  <a:solidFill>
                    <a:srgbClr val="1E1E1E"/>
                  </a:solidFill>
                  <a:latin typeface="Bahnschrift"/>
                  <a:ea typeface="Bahnschrift"/>
                  <a:cs typeface="Bahnschrift"/>
                  <a:sym typeface="Bahnschrift"/>
                </a:rPr>
                <a:t>esenciales y de cadena larga</a:t>
              </a:r>
              <a:r>
                <a:rPr lang="es-AR" sz="1700" dirty="0">
                  <a:solidFill>
                    <a:srgbClr val="1E1E1E"/>
                  </a:solidFill>
                  <a:latin typeface="Bahnschrift"/>
                  <a:ea typeface="Bahnschrift"/>
                  <a:cs typeface="Bahnschrift"/>
                  <a:sym typeface="Bahnschrift"/>
                </a:rPr>
                <a:t> para el desarrollo neuronal y las membranas.</a:t>
              </a:r>
              <a:endParaRPr lang="es-AR" sz="1700" dirty="0">
                <a:latin typeface="Bahnschrift"/>
              </a:endParaRPr>
            </a:p>
          </p:txBody>
        </p:sp>
        <p:sp>
          <p:nvSpPr>
            <p:cNvPr id="12" name="Forma 11"/>
            <p:cNvSpPr/>
            <p:nvPr/>
          </p:nvSpPr>
          <p:spPr>
            <a:xfrm>
              <a:off x="475488" y="3977640"/>
              <a:ext cx="149393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LECHE HUMANA</a:t>
              </a:r>
              <a:endParaRPr lang="es-AR" sz="155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49935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17 · MCT: BENEFICIOS, LÍMITES Y LECHE HUMANA</a:t>
            </a:r>
            <a:endParaRPr lang="es-AR" sz="2600" dirty="0">
              <a:latin typeface="Bahnschrift SemiBold Condensed"/>
            </a:endParaRPr>
          </a:p>
        </p:txBody>
      </p:sp>
      <p:sp>
        <p:nvSpPr>
          <p:cNvPr id="1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Síntesis mamaria Glucosa (GLUT1)"/>
          <p:cNvSpPr/>
          <p:nvPr/>
        </p:nvSpPr>
        <p:spPr>
          <a:xfrm>
            <a:off x="457200" y="1097280"/>
            <a:ext cx="2743200" cy="45720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Glucosa (GLUT1)</a:t>
            </a:r>
            <a:endParaRPr lang="es-AR" sz="1350" dirty="0">
              <a:latin typeface="Bahnschrift SemiBold Condensed"/>
            </a:endParaRPr>
          </a:p>
        </p:txBody>
      </p:sp>
      <p:grpSp>
        <p:nvGrpSpPr>
          <p:cNvPr id="5" name="Síntesis mamaria paso 1"/>
          <p:cNvGrpSpPr/>
          <p:nvPr/>
        </p:nvGrpSpPr>
        <p:grpSpPr>
          <a:xfrm>
            <a:off x="1828800" y="1581912"/>
            <a:ext cx="1203700" cy="448056"/>
            <a:chOff x="1828800" y="1581912"/>
            <a:chExt cx="1203700" cy="448056"/>
          </a:xfrm>
        </p:grpSpPr>
        <p:sp>
          <p:nvSpPr>
            <p:cNvPr id="6" name="Flecha 5_2"/>
            <p:cNvSpPr/>
            <p:nvPr/>
          </p:nvSpPr>
          <p:spPr>
            <a:xfrm>
              <a:off x="1828800" y="158191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7" name="Enzima glucólisis · PPP"/>
            <p:cNvSpPr/>
            <p:nvPr/>
          </p:nvSpPr>
          <p:spPr>
            <a:xfrm>
              <a:off x="1938528" y="1659636"/>
              <a:ext cx="109397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glucólisis · PPP</a:t>
              </a:r>
              <a:endParaRPr lang="es-AR" sz="1150" dirty="0">
                <a:latin typeface="Bahnschrift SemiBold Condensed"/>
              </a:endParaRPr>
            </a:p>
          </p:txBody>
        </p:sp>
      </p:grpSp>
      <p:sp>
        <p:nvSpPr>
          <p:cNvPr id="8" name="Síntesis mamaria Acetil-CoA / citra"/>
          <p:cNvSpPr/>
          <p:nvPr/>
        </p:nvSpPr>
        <p:spPr>
          <a:xfrm>
            <a:off x="457200" y="2057400"/>
            <a:ext cx="2743200" cy="45720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Acetil-CoA / citrato + NADPH</a:t>
            </a:r>
            <a:endParaRPr lang="es-AR" sz="1350" dirty="0">
              <a:latin typeface="Bahnschrift SemiBold Condensed"/>
            </a:endParaRPr>
          </a:p>
        </p:txBody>
      </p:sp>
      <p:grpSp>
        <p:nvGrpSpPr>
          <p:cNvPr id="9" name="Síntesis mamaria paso 2"/>
          <p:cNvGrpSpPr/>
          <p:nvPr/>
        </p:nvGrpSpPr>
        <p:grpSpPr>
          <a:xfrm>
            <a:off x="1828800" y="2542032"/>
            <a:ext cx="552171" cy="448056"/>
            <a:chOff x="1828800" y="2542032"/>
            <a:chExt cx="552171" cy="448056"/>
          </a:xfrm>
        </p:grpSpPr>
        <p:sp>
          <p:nvSpPr>
            <p:cNvPr id="10" name="Flecha 10_2"/>
            <p:cNvSpPr/>
            <p:nvPr/>
          </p:nvSpPr>
          <p:spPr>
            <a:xfrm>
              <a:off x="1828800" y="254203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11" name="Enzima ACC"/>
            <p:cNvSpPr/>
            <p:nvPr/>
          </p:nvSpPr>
          <p:spPr>
            <a:xfrm>
              <a:off x="1938528" y="2619756"/>
              <a:ext cx="44244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ACC</a:t>
              </a:r>
              <a:endParaRPr lang="es-AR" sz="1150" dirty="0">
                <a:latin typeface="Bahnschrift SemiBold Condensed"/>
              </a:endParaRPr>
            </a:p>
          </p:txBody>
        </p:sp>
      </p:grpSp>
      <p:sp>
        <p:nvSpPr>
          <p:cNvPr id="12" name="Síntesis mamaria Malonil-CoA"/>
          <p:cNvSpPr/>
          <p:nvPr/>
        </p:nvSpPr>
        <p:spPr>
          <a:xfrm>
            <a:off x="457200" y="3017520"/>
            <a:ext cx="2743200" cy="457200"/>
          </a:xfrm>
          <a:prstGeom prst="roundRect">
            <a:avLst>
              <a:gd name="adj" fmla="val 30000"/>
            </a:avLst>
          </a:prstGeom>
          <a:solidFill>
            <a:srgbClr val="C4A7D0"/>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Malonil-CoA</a:t>
            </a:r>
            <a:endParaRPr lang="es-AR" sz="1350" dirty="0">
              <a:latin typeface="Bahnschrift SemiBold Condensed"/>
            </a:endParaRPr>
          </a:p>
        </p:txBody>
      </p:sp>
      <p:grpSp>
        <p:nvGrpSpPr>
          <p:cNvPr id="13" name="Síntesis mamaria paso 3"/>
          <p:cNvGrpSpPr/>
          <p:nvPr/>
        </p:nvGrpSpPr>
        <p:grpSpPr>
          <a:xfrm>
            <a:off x="1828800" y="3502152"/>
            <a:ext cx="1413310" cy="448056"/>
            <a:chOff x="1828800" y="3502152"/>
            <a:chExt cx="1413310" cy="448056"/>
          </a:xfrm>
        </p:grpSpPr>
        <p:sp>
          <p:nvSpPr>
            <p:cNvPr id="14" name="Flecha 15_2"/>
            <p:cNvSpPr/>
            <p:nvPr/>
          </p:nvSpPr>
          <p:spPr>
            <a:xfrm>
              <a:off x="1828800" y="3502152"/>
              <a:ext cx="9144" cy="448056"/>
            </a:xfrm>
            <a:custGeom>
              <a:avLst/>
              <a:gdLst/>
              <a:ahLst/>
              <a:cxnLst/>
              <a:rect l="0" t="0" r="r" b="b"/>
              <a:pathLst>
                <a:path w="10" h="489" fill="none">
                  <a:moveTo>
                    <a:pt x="0" y="0"/>
                  </a:moveTo>
                  <a:lnTo>
                    <a:pt x="0" y="489"/>
                  </a:lnTo>
                </a:path>
              </a:pathLst>
            </a:custGeom>
            <a:noFill/>
            <a:ln w="44450" cap="rnd">
              <a:solidFill>
                <a:srgbClr val="1E1E1E"/>
              </a:solidFill>
              <a:round/>
              <a:tailEnd type="triangle" w="med" len="med"/>
            </a:ln>
          </p:spPr>
        </p:sp>
        <p:sp>
          <p:nvSpPr>
            <p:cNvPr id="15" name="Enzima FASN + tioesterasa"/>
            <p:cNvSpPr/>
            <p:nvPr/>
          </p:nvSpPr>
          <p:spPr>
            <a:xfrm>
              <a:off x="1938528" y="3579876"/>
              <a:ext cx="130358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FASN + tioesterasa</a:t>
              </a:r>
              <a:endParaRPr lang="es-AR" sz="1150" dirty="0">
                <a:latin typeface="Bahnschrift SemiBold Condensed"/>
              </a:endParaRPr>
            </a:p>
          </p:txBody>
        </p:sp>
      </p:grpSp>
      <p:sp>
        <p:nvSpPr>
          <p:cNvPr id="16" name="Síntesis mamaria AG de cadena media"/>
          <p:cNvSpPr/>
          <p:nvPr/>
        </p:nvSpPr>
        <p:spPr>
          <a:xfrm>
            <a:off x="457200" y="3977640"/>
            <a:ext cx="274320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AG de cadena media y larga</a:t>
            </a:r>
            <a:endParaRPr lang="es-AR" sz="1350" dirty="0">
              <a:latin typeface="Bahnschrift SemiBold Condensed"/>
            </a:endParaRPr>
          </a:p>
        </p:txBody>
      </p:sp>
      <p:grpSp>
        <p:nvGrpSpPr>
          <p:cNvPr id="17" name="Síntesis mamaria paso 4"/>
          <p:cNvGrpSpPr/>
          <p:nvPr/>
        </p:nvGrpSpPr>
        <p:grpSpPr>
          <a:xfrm>
            <a:off x="1828800" y="4462272"/>
            <a:ext cx="1473187" cy="448056"/>
            <a:chOff x="1828800" y="4462272"/>
            <a:chExt cx="1473187" cy="448056"/>
          </a:xfrm>
        </p:grpSpPr>
        <p:sp>
          <p:nvSpPr>
            <p:cNvPr id="18" name="Flecha 20_2"/>
            <p:cNvSpPr/>
            <p:nvPr/>
          </p:nvSpPr>
          <p:spPr>
            <a:xfrm>
              <a:off x="1828800" y="4462272"/>
              <a:ext cx="9144" cy="448056"/>
            </a:xfrm>
            <a:custGeom>
              <a:avLst/>
              <a:gdLst/>
              <a:ahLst/>
              <a:cxnLst/>
              <a:rect l="0" t="0" r="r" b="b"/>
              <a:pathLst>
                <a:path w="10" h="489" fill="none">
                  <a:moveTo>
                    <a:pt x="0" y="0"/>
                  </a:moveTo>
                  <a:lnTo>
                    <a:pt x="0" y="489"/>
                  </a:lnTo>
                </a:path>
              </a:pathLst>
            </a:custGeom>
            <a:noFill/>
            <a:ln w="44450" cap="rnd">
              <a:solidFill>
                <a:srgbClr val="1E1E1E"/>
              </a:solidFill>
              <a:round/>
              <a:tailEnd type="triangle" w="med" len="med"/>
            </a:ln>
          </p:spPr>
        </p:sp>
        <p:sp>
          <p:nvSpPr>
            <p:cNvPr id="19" name="Enzima GPAT · AGPAT · DGAT"/>
            <p:cNvSpPr/>
            <p:nvPr/>
          </p:nvSpPr>
          <p:spPr>
            <a:xfrm>
              <a:off x="1938528" y="4539996"/>
              <a:ext cx="136345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GPAT · AGPAT · DGAT</a:t>
              </a:r>
              <a:endParaRPr lang="es-AR" sz="1150" dirty="0">
                <a:latin typeface="Bahnschrift SemiBold Condensed"/>
              </a:endParaRPr>
            </a:p>
          </p:txBody>
        </p:sp>
      </p:grpSp>
      <p:sp>
        <p:nvSpPr>
          <p:cNvPr id="20" name="Síntesis mamaria TAG → glóbulo gras"/>
          <p:cNvSpPr/>
          <p:nvPr/>
        </p:nvSpPr>
        <p:spPr>
          <a:xfrm>
            <a:off x="457200" y="4937760"/>
            <a:ext cx="2743200" cy="457200"/>
          </a:xfrm>
          <a:prstGeom prst="roundRect">
            <a:avLst>
              <a:gd name="adj" fmla="val 30000"/>
            </a:avLst>
          </a:prstGeom>
          <a:solidFill>
            <a:srgbClr val="F9E79F"/>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TAG → glóbulo graso</a:t>
            </a:r>
            <a:endParaRPr lang="es-AR" sz="1350" dirty="0">
              <a:latin typeface="Bahnschrift SemiBold Condensed"/>
            </a:endParaRPr>
          </a:p>
        </p:txBody>
      </p:sp>
      <p:sp>
        <p:nvSpPr>
          <p:cNvPr id="21" name="Lactosa"/>
          <p:cNvSpPr/>
          <p:nvPr/>
        </p:nvSpPr>
        <p:spPr>
          <a:xfrm>
            <a:off x="3566160" y="1371600"/>
            <a:ext cx="1357308" cy="246062"/>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también → </a:t>
            </a:r>
            <a:r>
              <a:rPr lang="es-AR" sz="1250" b="1" dirty="0">
                <a:solidFill>
                  <a:srgbClr val="1E1E1E"/>
                </a:solidFill>
                <a:latin typeface="Bahnschrift SemiBold Condensed"/>
                <a:ea typeface="Bahnschrift SemiBold Condensed"/>
                <a:cs typeface="Bahnschrift SemiBold Condensed"/>
                <a:sym typeface="Bahnschrift SemiBold Condensed"/>
              </a:rPr>
              <a:t>lactosa</a:t>
            </a:r>
            <a:endParaRPr lang="es-AR" sz="1250" dirty="0">
              <a:latin typeface="Bahnschrift SemiBold Condensed"/>
            </a:endParaRPr>
          </a:p>
        </p:txBody>
      </p:sp>
      <p:graphicFrame>
        <p:nvGraphicFramePr>
          <p:cNvPr id="22" name="Tabla mamaria"/>
          <p:cNvGraphicFramePr>
            <a:graphicFrameLocks noGrp="1"/>
          </p:cNvGraphicFramePr>
          <p:nvPr/>
        </p:nvGraphicFramePr>
        <p:xfrm>
          <a:off x="5394960" y="1051560"/>
          <a:ext cx="6400800" cy="3108960"/>
        </p:xfrm>
        <a:graphic>
          <a:graphicData uri="http://schemas.openxmlformats.org/drawingml/2006/table">
            <a:tbl>
              <a:tblPr firstRow="1" bandRow="1"/>
              <a:tblGrid>
                <a:gridCol w="1737360"/>
                <a:gridCol w="1920240"/>
                <a:gridCol w="2743200"/>
              </a:tblGrid>
              <a:tr h="548640">
                <a:tc>
                  <a:txBody>
                    <a:bodyPr/>
                    <a:lstStyle/>
                    <a:p>
                      <a:pPr algn="l">
                        <a:spcAft>
                          <a:spcPts val="100"/>
                        </a:spcAft>
                        <a:buNone/>
                      </a:pP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Hepatocito</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Glándula mamaria</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914400">
                <a:tc>
                  <a:txBody>
                    <a:bodyPr/>
                    <a:lstStyle/>
                    <a:p>
                      <a:pPr algn="l">
                        <a:spcAft>
                          <a:spcPts val="100"/>
                        </a:spcAft>
                        <a:buNone/>
                      </a:pPr>
                      <a:r>
                        <a:rPr lang="es-AR" sz="1350" b="1" dirty="0">
                          <a:solidFill>
                            <a:srgbClr val="1E1E1E"/>
                          </a:solidFill>
                          <a:latin typeface="Bahnschrift"/>
                          <a:ea typeface="Bahnschrift"/>
                          <a:cs typeface="Bahnschrift"/>
                          <a:sym typeface="Bahnschrift"/>
                        </a:rPr>
                        <a:t>Longitud de AG sintetizados</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Típicamente </a:t>
                      </a:r>
                      <a:r>
                        <a:rPr lang="es-AR" sz="1350" b="1" dirty="0">
                          <a:solidFill>
                            <a:srgbClr val="1E1E1E"/>
                          </a:solidFill>
                          <a:latin typeface="Bahnschrift"/>
                          <a:ea typeface="Bahnschrift"/>
                          <a:cs typeface="Bahnschrift"/>
                          <a:sym typeface="Bahnschrift"/>
                        </a:rPr>
                        <a:t>C16</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Más cortos</a:t>
                      </a:r>
                      <a:r>
                        <a:rPr lang="es-AR" sz="1350" dirty="0">
                          <a:solidFill>
                            <a:srgbClr val="1E1E1E"/>
                          </a:solidFill>
                          <a:latin typeface="Bahnschrift"/>
                          <a:ea typeface="Bahnschrift"/>
                          <a:cs typeface="Bahnschrift"/>
                          <a:sym typeface="Bahnschrift"/>
                        </a:rPr>
                        <a:t> (terminación temprana: tioesterasa/especificidad mamaria)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48640">
                <a:tc>
                  <a:txBody>
                    <a:bodyPr/>
                    <a:lstStyle/>
                    <a:p>
                      <a:pPr algn="l">
                        <a:spcAft>
                          <a:spcPts val="100"/>
                        </a:spcAft>
                        <a:buNone/>
                      </a:pPr>
                      <a:r>
                        <a:rPr lang="es-AR" sz="1350" b="1" dirty="0">
                          <a:solidFill>
                            <a:srgbClr val="1E1E1E"/>
                          </a:solidFill>
                          <a:latin typeface="Bahnschrift"/>
                          <a:ea typeface="Bahnschrift"/>
                          <a:cs typeface="Bahnschrift"/>
                          <a:sym typeface="Bahnschrift"/>
                        </a:rPr>
                        <a:t>Glicerol-3-P</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Glucólisis / glicerol cinasa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Glucólisis</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48640">
                <a:tc>
                  <a:txBody>
                    <a:bodyPr/>
                    <a:lstStyle/>
                    <a:p>
                      <a:pPr algn="l">
                        <a:spcAft>
                          <a:spcPts val="100"/>
                        </a:spcAft>
                        <a:buNone/>
                      </a:pPr>
                      <a:r>
                        <a:rPr lang="es-AR" sz="1350" b="1" dirty="0">
                          <a:solidFill>
                            <a:srgbClr val="1E1E1E"/>
                          </a:solidFill>
                          <a:latin typeface="Bahnschrift"/>
                          <a:ea typeface="Bahnschrift"/>
                          <a:cs typeface="Bahnschrift"/>
                          <a:sym typeface="Bahnschrift"/>
                        </a:rPr>
                        <a:t>AG preformados</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Plasma, remanentes</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AG </a:t>
                      </a:r>
                      <a:r>
                        <a:rPr lang="es-AR" sz="1350" b="1" dirty="0">
                          <a:solidFill>
                            <a:srgbClr val="1E1E1E"/>
                          </a:solidFill>
                          <a:latin typeface="Bahnschrift"/>
                          <a:ea typeface="Bahnschrift"/>
                          <a:cs typeface="Bahnschrift"/>
                          <a:sym typeface="Bahnschrift"/>
                        </a:rPr>
                        <a:t>maternos</a:t>
                      </a:r>
                      <a:r>
                        <a:rPr lang="es-AR" sz="1350" dirty="0">
                          <a:solidFill>
                            <a:srgbClr val="1E1E1E"/>
                          </a:solidFill>
                          <a:latin typeface="Bahnschrift"/>
                          <a:ea typeface="Bahnschrift"/>
                          <a:cs typeface="Bahnschrift"/>
                          <a:sym typeface="Bahnschrift"/>
                        </a:rPr>
                        <a:t> también se incorporan</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48640">
                <a:tc>
                  <a:txBody>
                    <a:bodyPr/>
                    <a:lstStyle/>
                    <a:p>
                      <a:pPr algn="l">
                        <a:spcAft>
                          <a:spcPts val="100"/>
                        </a:spcAft>
                        <a:buNone/>
                      </a:pPr>
                      <a:r>
                        <a:rPr lang="es-AR" sz="1350" b="1" dirty="0">
                          <a:solidFill>
                            <a:srgbClr val="1E1E1E"/>
                          </a:solidFill>
                          <a:latin typeface="Bahnschrift"/>
                          <a:ea typeface="Bahnschrift"/>
                          <a:cs typeface="Bahnschrift"/>
                          <a:sym typeface="Bahnschrift"/>
                        </a:rPr>
                        <a:t>Destino del TAG</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Gotas o </a:t>
                      </a:r>
                      <a:r>
                        <a:rPr lang="es-AR" sz="1350" b="1" dirty="0">
                          <a:solidFill>
                            <a:srgbClr val="1E1E1E"/>
                          </a:solidFill>
                          <a:latin typeface="Bahnschrift"/>
                          <a:ea typeface="Bahnschrift"/>
                          <a:cs typeface="Bahnschrift"/>
                          <a:sym typeface="Bahnschrift"/>
                        </a:rPr>
                        <a:t>VLDL</a:t>
                      </a:r>
                      <a:r>
                        <a:rPr lang="es-AR" sz="1350" dirty="0">
                          <a:solidFill>
                            <a:srgbClr val="1E1E1E"/>
                          </a:solidFill>
                          <a:latin typeface="Bahnschrift"/>
                          <a:ea typeface="Bahnschrift"/>
                          <a:cs typeface="Bahnschrift"/>
                          <a:sym typeface="Bahnschrift"/>
                        </a:rPr>
                        <a:t> (ApoB-100)</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Glóbulos de grasa de la leche</a:t>
                      </a:r>
                      <a:r>
                        <a:rPr lang="es-AR" sz="1350" dirty="0">
                          <a:solidFill>
                            <a:srgbClr val="1E1E1E"/>
                          </a:solidFill>
                          <a:latin typeface="Bahnschrift"/>
                          <a:ea typeface="Bahnschrift"/>
                          <a:cs typeface="Bahnschrift"/>
                          <a:sym typeface="Bahnschrift"/>
                        </a:rPr>
                        <a:t> rodeados de membrana epitelial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27760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17 · SÍNTESIS DE GRASA EN LA GLÁNDULA MAMARIA LACTANTE</a:t>
            </a:r>
            <a:endParaRPr lang="es-AR" sz="2600" dirty="0">
              <a:latin typeface="Bahnschrift SemiBold Condensed"/>
            </a:endParaRPr>
          </a:p>
        </p:txBody>
      </p:sp>
      <p:sp>
        <p:nvSpPr>
          <p:cNvPr id="2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9"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wipe(up)">
                                      <p:cBhvr>
                                        <p:cTn id="9" dur="600"/>
                                        <p:tgtEl>
                                          <p:spTgt spid="5"/>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par>
                          <p:cTn id="18" fill="hold">
                            <p:stCondLst>
                              <p:cond delay="1600"/>
                            </p:stCondLst>
                            <p:childTnLst>
                              <p:par>
                                <p:cTn id="15" presetID="10" presetClass="entr" presetSubtype="0"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childTnLst>
                                </p:cTn>
                              </p:par>
                            </p:childTnLst>
                          </p:cTn>
                        </p:par>
                      </p:childTnLst>
                    </p:cTn>
                  </p:par>
                  <p:par>
                    <p:cTn id="36" fill="hold">
                      <p:stCondLst>
                        <p:cond delay="indefinite"/>
                      </p:stCondLst>
                      <p:childTnLst>
                        <p:par>
                          <p:cTn id="23"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up)">
                                      <p:cBhvr>
                                        <p:cTn id="22" dur="600"/>
                                        <p:tgtEl>
                                          <p:spTgt spid="9"/>
                                        </p:tgtEl>
                                      </p:cBhvr>
                                    </p:animEffect>
                                  </p:childTnLst>
                                </p:cTn>
                              </p:par>
                            </p:childTnLst>
                          </p:cTn>
                        </p:par>
                        <p:par>
                          <p:cTn id="27" fill="hold">
                            <p:stCondLst>
                              <p:cond delay="600"/>
                            </p:stCondLst>
                            <p:childTnLst>
                              <p:par>
                                <p:cTn id="24" presetID="10" presetClass="entr" presetSubtype="0" fill="hold" grpId="0"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31" fill="hold">
                            <p:stCondLst>
                              <p:cond delay="1100"/>
                            </p:stCondLst>
                            <p:childTnLst>
                              <p:par>
                                <p:cTn id="28" presetID="22" presetClass="entr" presetSubtype="1"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up)">
                                      <p:cBhvr>
                                        <p:cTn id="30" dur="600"/>
                                        <p:tgtEl>
                                          <p:spTgt spid="13"/>
                                        </p:tgtEl>
                                      </p:cBhvr>
                                    </p:animEffect>
                                  </p:childTnLst>
                                </p:cTn>
                              </p:par>
                            </p:childTnLst>
                          </p:cTn>
                        </p:par>
                        <p:par>
                          <p:cTn id="35" fill="hold">
                            <p:stCondLst>
                              <p:cond delay="1700"/>
                            </p:stCondLst>
                            <p:childTnLst>
                              <p:par>
                                <p:cTn id="32" presetID="10" presetClass="entr" presetSubtype="0" fill="hold" grpId="0"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45" fill="hold">
                      <p:stCondLst>
                        <p:cond delay="indefinite"/>
                      </p:stCondLst>
                      <p:childTnLst>
                        <p:par>
                          <p:cTn id="40"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up)">
                                      <p:cBhvr>
                                        <p:cTn id="39" dur="600"/>
                                        <p:tgtEl>
                                          <p:spTgt spid="17"/>
                                        </p:tgtEl>
                                      </p:cBhvr>
                                    </p:animEffect>
                                  </p:childTnLst>
                                </p:cTn>
                              </p:par>
                            </p:childTnLst>
                          </p:cTn>
                        </p:par>
                        <p:par>
                          <p:cTn id="44" fill="hold">
                            <p:stCondLst>
                              <p:cond delay="600"/>
                            </p:stCondLst>
                            <p:childTnLst>
                              <p:par>
                                <p:cTn id="41" presetID="10" presetClass="entr" presetSubtype="0"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childTnLst>
                    </p:cTn>
                  </p:par>
                  <p:par>
                    <p:cTn id="50" fill="hold">
                      <p:stCondLst>
                        <p:cond delay="indefinite"/>
                      </p:stCondLst>
                      <p:childTnLst>
                        <p:par>
                          <p:cTn id="49"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21" grpId="0" animBg="1"/>
      <p:bldP spid="12" grpId="0" animBg="1"/>
      <p:bldP spid="16" grpId="0" animBg="1"/>
      <p:bldP spid="20" grpId="0" animBg="1"/>
    </p:bldLst>
  </p:timing>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Linoleico"/>
          <p:cNvGrpSpPr/>
          <p:nvPr/>
        </p:nvGrpSpPr>
        <p:grpSpPr>
          <a:xfrm>
            <a:off x="502920" y="1234440"/>
            <a:ext cx="11292840" cy="594360"/>
            <a:chOff x="502920" y="1234440"/>
            <a:chExt cx="11292840" cy="594360"/>
          </a:xfrm>
        </p:grpSpPr>
        <p:sp>
          <p:nvSpPr>
            <p:cNvPr id="5" name="Flecha 4_2"/>
            <p:cNvSpPr/>
            <p:nvPr/>
          </p:nvSpPr>
          <p:spPr>
            <a:xfrm>
              <a:off x="822960" y="1463040"/>
              <a:ext cx="5596128" cy="274320"/>
            </a:xfrm>
            <a:custGeom>
              <a:avLst/>
              <a:gdLst/>
              <a:ahLst/>
              <a:cxnLst/>
              <a:rect l="0" t="0" r="r" b="b"/>
              <a:pathLst>
                <a:path w="6120" h="300" fill="none">
                  <a:moveTo>
                    <a:pt x="0" y="0"/>
                  </a:moveTo>
                  <a:lnTo>
                    <a:pt x="360" y="300"/>
                  </a:lnTo>
                  <a:lnTo>
                    <a:pt x="720" y="0"/>
                  </a:lnTo>
                  <a:lnTo>
                    <a:pt x="1080" y="300"/>
                  </a:lnTo>
                  <a:lnTo>
                    <a:pt x="1440" y="0"/>
                  </a:lnTo>
                  <a:lnTo>
                    <a:pt x="1799" y="300"/>
                  </a:lnTo>
                  <a:lnTo>
                    <a:pt x="2160" y="0"/>
                  </a:lnTo>
                  <a:lnTo>
                    <a:pt x="2520" y="300"/>
                  </a:lnTo>
                  <a:lnTo>
                    <a:pt x="2880" y="0"/>
                  </a:lnTo>
                  <a:lnTo>
                    <a:pt x="3239" y="300"/>
                  </a:lnTo>
                  <a:lnTo>
                    <a:pt x="3600" y="0"/>
                  </a:lnTo>
                  <a:lnTo>
                    <a:pt x="3960" y="300"/>
                  </a:lnTo>
                  <a:lnTo>
                    <a:pt x="4320" y="0"/>
                  </a:lnTo>
                  <a:lnTo>
                    <a:pt x="4680" y="300"/>
                  </a:lnTo>
                  <a:lnTo>
                    <a:pt x="5040" y="0"/>
                  </a:lnTo>
                  <a:lnTo>
                    <a:pt x="5399" y="300"/>
                  </a:lnTo>
                  <a:lnTo>
                    <a:pt x="5760" y="0"/>
                  </a:lnTo>
                  <a:lnTo>
                    <a:pt x="6120" y="300"/>
                  </a:lnTo>
                </a:path>
              </a:pathLst>
            </a:custGeom>
            <a:noFill/>
            <a:ln w="38100" cap="rnd">
              <a:solidFill>
                <a:srgbClr val="C0392B"/>
              </a:solidFill>
              <a:round/>
            </a:ln>
          </p:spPr>
        </p:sp>
        <p:sp>
          <p:nvSpPr>
            <p:cNvPr id="6" name="Forma 6"/>
            <p:cNvSpPr/>
            <p:nvPr/>
          </p:nvSpPr>
          <p:spPr>
            <a:xfrm>
              <a:off x="502920" y="1417320"/>
              <a:ext cx="365760" cy="365760"/>
            </a:xfrm>
            <a:prstGeom prst="ellipse">
              <a:avLst/>
            </a:prstGeom>
            <a:gradFill rotWithShape="1">
              <a:gsLst>
                <a:gs pos="0">
                  <a:srgbClr val="F0938A"/>
                </a:gs>
                <a:gs pos="55000">
                  <a:srgbClr val="E74C3C"/>
                </a:gs>
                <a:gs pos="100000">
                  <a:srgbClr val="B83C30"/>
                </a:gs>
              </a:gsLst>
              <a:path path="circle">
                <a:fillToRect l="32000" t="28000" r="68000" b="72000"/>
              </a:path>
            </a:gradFill>
            <a:ln w="12700" cap="rnd">
              <a:solidFill>
                <a:srgbClr val="922B21"/>
              </a:solidFill>
              <a:round/>
            </a:ln>
          </p:spPr>
          <p:txBody>
            <a:bodyPr wrap="square" lIns="0" tIns="0" rIns="0" bIns="0" anchor="ctr" rtlCol="0">
              <a:noAutofit/>
            </a:bodyPr>
            <a:lstStyle/>
            <a:p>
              <a:pPr algn="ctr">
                <a:spcAft>
                  <a:spcPts val="300"/>
                </a:spcAft>
                <a:buNone/>
              </a:pPr>
              <a:r>
                <a:rPr lang="es-AR" sz="700" b="1" dirty="0">
                  <a:solidFill>
                    <a:srgbClr val="FFFFFF"/>
                  </a:solidFill>
                  <a:latin typeface="Bahnschrift SemiBold Condensed"/>
                  <a:ea typeface="Bahnschrift SemiBold Condensed"/>
                  <a:cs typeface="Bahnschrift SemiBold Condensed"/>
                  <a:sym typeface="Bahnschrift SemiBold Condensed"/>
                </a:rPr>
                <a:t>COOH</a:t>
              </a:r>
              <a:endParaRPr lang="es-AR" sz="700" dirty="0">
                <a:latin typeface="Bahnschrift SemiBold Condensed"/>
              </a:endParaRPr>
            </a:p>
          </p:txBody>
        </p:sp>
        <p:sp>
          <p:nvSpPr>
            <p:cNvPr id="7" name="Forma 7"/>
            <p:cNvSpPr/>
            <p:nvPr/>
          </p:nvSpPr>
          <p:spPr>
            <a:xfrm>
              <a:off x="3493008" y="1234440"/>
              <a:ext cx="274320" cy="182880"/>
            </a:xfrm>
            <a:prstGeom prst="rect">
              <a:avLst/>
            </a:prstGeom>
            <a:solidFill>
              <a:srgbClr val="C0392B">
                <a:alpha val="60000"/>
              </a:srgbClr>
            </a:solidFill>
            <a:ln>
              <a:noFill/>
            </a:ln>
          </p:spPr>
        </p:sp>
        <p:sp>
          <p:nvSpPr>
            <p:cNvPr id="8" name="Forma 8"/>
            <p:cNvSpPr/>
            <p:nvPr/>
          </p:nvSpPr>
          <p:spPr>
            <a:xfrm>
              <a:off x="4480560" y="1234440"/>
              <a:ext cx="274320" cy="182880"/>
            </a:xfrm>
            <a:prstGeom prst="rect">
              <a:avLst/>
            </a:prstGeom>
            <a:solidFill>
              <a:srgbClr val="C0392B">
                <a:alpha val="60000"/>
              </a:srgbClr>
            </a:solidFill>
            <a:ln>
              <a:noFill/>
            </a:ln>
          </p:spPr>
        </p:sp>
        <p:sp>
          <p:nvSpPr>
            <p:cNvPr id="9" name="Forma 9"/>
            <p:cNvSpPr txBox="1"/>
            <p:nvPr/>
          </p:nvSpPr>
          <p:spPr>
            <a:xfrm>
              <a:off x="6766560" y="1371600"/>
              <a:ext cx="5029200" cy="45720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Ácido linoleico (LA)</a:t>
              </a:r>
              <a:r>
                <a:rPr lang="es-AR" sz="1500" b="1" dirty="0">
                  <a:solidFill>
                    <a:srgbClr val="1E1E1E"/>
                  </a:solidFill>
                  <a:latin typeface="Bahnschrift SemiBold Condensed"/>
                  <a:ea typeface="Bahnschrift SemiBold Condensed"/>
                  <a:cs typeface="Bahnschrift SemiBold Condensed"/>
                  <a:sym typeface="Bahnschrift SemiBold Condensed"/>
                </a:rPr>
                <a:t> · 18:2 n-6</a:t>
              </a:r>
              <a:endParaRPr lang="es-AR" sz="1500" dirty="0">
                <a:latin typeface="Bahnschrift SemiBold Condensed"/>
              </a:endParaRPr>
            </a:p>
          </p:txBody>
        </p:sp>
      </p:grpSp>
      <p:grpSp>
        <p:nvGrpSpPr>
          <p:cNvPr id="10" name="Alfa-linolénico"/>
          <p:cNvGrpSpPr/>
          <p:nvPr/>
        </p:nvGrpSpPr>
        <p:grpSpPr>
          <a:xfrm>
            <a:off x="502920" y="2331720"/>
            <a:ext cx="11292840" cy="594360"/>
            <a:chOff x="502920" y="2331720"/>
            <a:chExt cx="11292840" cy="594360"/>
          </a:xfrm>
        </p:grpSpPr>
        <p:sp>
          <p:nvSpPr>
            <p:cNvPr id="11" name="Flecha 11_2"/>
            <p:cNvSpPr/>
            <p:nvPr/>
          </p:nvSpPr>
          <p:spPr>
            <a:xfrm>
              <a:off x="822960" y="2560320"/>
              <a:ext cx="5596128" cy="274320"/>
            </a:xfrm>
            <a:custGeom>
              <a:avLst/>
              <a:gdLst/>
              <a:ahLst/>
              <a:cxnLst/>
              <a:rect l="0" t="0" r="r" b="b"/>
              <a:pathLst>
                <a:path w="6120" h="299" fill="none">
                  <a:moveTo>
                    <a:pt x="0" y="0"/>
                  </a:moveTo>
                  <a:lnTo>
                    <a:pt x="360" y="299"/>
                  </a:lnTo>
                  <a:lnTo>
                    <a:pt x="720" y="0"/>
                  </a:lnTo>
                  <a:lnTo>
                    <a:pt x="1080" y="299"/>
                  </a:lnTo>
                  <a:lnTo>
                    <a:pt x="1440" y="0"/>
                  </a:lnTo>
                  <a:lnTo>
                    <a:pt x="1799" y="299"/>
                  </a:lnTo>
                  <a:lnTo>
                    <a:pt x="2160" y="0"/>
                  </a:lnTo>
                  <a:lnTo>
                    <a:pt x="2520" y="299"/>
                  </a:lnTo>
                  <a:lnTo>
                    <a:pt x="2880" y="0"/>
                  </a:lnTo>
                  <a:lnTo>
                    <a:pt x="3239" y="299"/>
                  </a:lnTo>
                  <a:lnTo>
                    <a:pt x="3600" y="0"/>
                  </a:lnTo>
                  <a:lnTo>
                    <a:pt x="3960" y="299"/>
                  </a:lnTo>
                  <a:lnTo>
                    <a:pt x="4320" y="0"/>
                  </a:lnTo>
                  <a:lnTo>
                    <a:pt x="4680" y="299"/>
                  </a:lnTo>
                  <a:lnTo>
                    <a:pt x="5040" y="0"/>
                  </a:lnTo>
                  <a:lnTo>
                    <a:pt x="5399" y="299"/>
                  </a:lnTo>
                  <a:lnTo>
                    <a:pt x="5760" y="0"/>
                  </a:lnTo>
                  <a:lnTo>
                    <a:pt x="6120" y="299"/>
                  </a:lnTo>
                </a:path>
              </a:pathLst>
            </a:custGeom>
            <a:noFill/>
            <a:ln w="38100" cap="rnd">
              <a:solidFill>
                <a:srgbClr val="2471A3"/>
              </a:solidFill>
              <a:round/>
            </a:ln>
          </p:spPr>
        </p:sp>
        <p:sp>
          <p:nvSpPr>
            <p:cNvPr id="12" name="Forma 13"/>
            <p:cNvSpPr/>
            <p:nvPr/>
          </p:nvSpPr>
          <p:spPr>
            <a:xfrm>
              <a:off x="502920" y="2514600"/>
              <a:ext cx="365760" cy="365760"/>
            </a:xfrm>
            <a:prstGeom prst="ellipse">
              <a:avLst/>
            </a:prstGeom>
            <a:gradFill rotWithShape="1">
              <a:gsLst>
                <a:gs pos="0">
                  <a:srgbClr val="F0938A"/>
                </a:gs>
                <a:gs pos="55000">
                  <a:srgbClr val="E74C3C"/>
                </a:gs>
                <a:gs pos="100000">
                  <a:srgbClr val="B83C30"/>
                </a:gs>
              </a:gsLst>
              <a:path path="circle">
                <a:fillToRect l="32000" t="28000" r="68000" b="72000"/>
              </a:path>
            </a:gradFill>
            <a:ln w="12700" cap="rnd">
              <a:solidFill>
                <a:srgbClr val="922B21"/>
              </a:solidFill>
              <a:round/>
            </a:ln>
          </p:spPr>
          <p:txBody>
            <a:bodyPr wrap="square" lIns="0" tIns="0" rIns="0" bIns="0" anchor="ctr" rtlCol="0">
              <a:noAutofit/>
            </a:bodyPr>
            <a:lstStyle/>
            <a:p>
              <a:pPr algn="ctr">
                <a:spcAft>
                  <a:spcPts val="300"/>
                </a:spcAft>
                <a:buNone/>
              </a:pPr>
              <a:r>
                <a:rPr lang="es-AR" sz="700" b="1" dirty="0">
                  <a:solidFill>
                    <a:srgbClr val="FFFFFF"/>
                  </a:solidFill>
                  <a:latin typeface="Bahnschrift SemiBold Condensed"/>
                  <a:ea typeface="Bahnschrift SemiBold Condensed"/>
                  <a:cs typeface="Bahnschrift SemiBold Condensed"/>
                  <a:sym typeface="Bahnschrift SemiBold Condensed"/>
                </a:rPr>
                <a:t>COOH</a:t>
              </a:r>
              <a:endParaRPr lang="es-AR" sz="700" dirty="0">
                <a:latin typeface="Bahnschrift SemiBold Condensed"/>
              </a:endParaRPr>
            </a:p>
          </p:txBody>
        </p:sp>
        <p:sp>
          <p:nvSpPr>
            <p:cNvPr id="13" name="Forma 14"/>
            <p:cNvSpPr/>
            <p:nvPr/>
          </p:nvSpPr>
          <p:spPr>
            <a:xfrm>
              <a:off x="3493008" y="2331720"/>
              <a:ext cx="274320" cy="182880"/>
            </a:xfrm>
            <a:prstGeom prst="rect">
              <a:avLst/>
            </a:prstGeom>
            <a:solidFill>
              <a:srgbClr val="2471A3">
                <a:alpha val="60000"/>
              </a:srgbClr>
            </a:solidFill>
            <a:ln>
              <a:noFill/>
            </a:ln>
          </p:spPr>
        </p:sp>
        <p:sp>
          <p:nvSpPr>
            <p:cNvPr id="14" name="Forma 15"/>
            <p:cNvSpPr/>
            <p:nvPr/>
          </p:nvSpPr>
          <p:spPr>
            <a:xfrm>
              <a:off x="4480560" y="2331720"/>
              <a:ext cx="274320" cy="182880"/>
            </a:xfrm>
            <a:prstGeom prst="rect">
              <a:avLst/>
            </a:prstGeom>
            <a:solidFill>
              <a:srgbClr val="2471A3">
                <a:alpha val="60000"/>
              </a:srgbClr>
            </a:solidFill>
            <a:ln>
              <a:noFill/>
            </a:ln>
          </p:spPr>
        </p:sp>
        <p:sp>
          <p:nvSpPr>
            <p:cNvPr id="15" name="Forma 16"/>
            <p:cNvSpPr/>
            <p:nvPr/>
          </p:nvSpPr>
          <p:spPr>
            <a:xfrm>
              <a:off x="5468112" y="2331720"/>
              <a:ext cx="274320" cy="182880"/>
            </a:xfrm>
            <a:prstGeom prst="rect">
              <a:avLst/>
            </a:prstGeom>
            <a:solidFill>
              <a:srgbClr val="2471A3">
                <a:alpha val="60000"/>
              </a:srgbClr>
            </a:solidFill>
            <a:ln>
              <a:noFill/>
            </a:ln>
          </p:spPr>
        </p:sp>
        <p:sp>
          <p:nvSpPr>
            <p:cNvPr id="16" name="Forma 17"/>
            <p:cNvSpPr txBox="1"/>
            <p:nvPr/>
          </p:nvSpPr>
          <p:spPr>
            <a:xfrm>
              <a:off x="6766560" y="2468880"/>
              <a:ext cx="5029200" cy="457200"/>
            </a:xfrm>
            <a:prstGeom prst="rect">
              <a:avLst/>
            </a:prstGeom>
            <a:noFill/>
            <a:ln>
              <a:noFill/>
            </a:ln>
          </p:spPr>
          <p:txBody>
            <a:bodyPr wrap="square" lIns="0" tIns="0" rIns="0" bIns="0" anchor="ctr" rtlCol="0">
              <a:noAutofit/>
            </a:bodyPr>
            <a:lstStyle/>
            <a:p>
              <a:pPr algn="l">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Ácido α-linolénico (ALA)</a:t>
              </a:r>
              <a:r>
                <a:rPr lang="es-AR" sz="1500" b="1" dirty="0">
                  <a:solidFill>
                    <a:srgbClr val="1E1E1E"/>
                  </a:solidFill>
                  <a:latin typeface="Bahnschrift SemiBold Condensed"/>
                  <a:ea typeface="Bahnschrift SemiBold Condensed"/>
                  <a:cs typeface="Bahnschrift SemiBold Condensed"/>
                  <a:sym typeface="Bahnschrift SemiBold Condensed"/>
                </a:rPr>
                <a:t> · 18:3 n-3</a:t>
              </a:r>
              <a:endParaRPr lang="es-AR" sz="1500" dirty="0">
                <a:latin typeface="Bahnschrift SemiBold Condensed"/>
              </a:endParaRPr>
            </a:p>
          </p:txBody>
        </p:sp>
      </p:grpSp>
      <p:sp>
        <p:nvSpPr>
          <p:cNvPr id="17" name="Límite delta9"/>
          <p:cNvSpPr/>
          <p:nvPr/>
        </p:nvSpPr>
        <p:spPr>
          <a:xfrm>
            <a:off x="3502152" y="1051560"/>
            <a:ext cx="109728" cy="2103120"/>
          </a:xfrm>
          <a:prstGeom prst="rect">
            <a:avLst/>
          </a:prstGeom>
          <a:solidFill>
            <a:srgbClr val="1E8449">
              <a:alpha val="70000"/>
            </a:srgbClr>
          </a:solidFill>
          <a:ln>
            <a:noFill/>
          </a:ln>
        </p:spPr>
      </p:sp>
      <p:sp>
        <p:nvSpPr>
          <p:cNvPr id="18" name="Rótulo delta9"/>
          <p:cNvSpPr/>
          <p:nvPr/>
        </p:nvSpPr>
        <p:spPr>
          <a:xfrm>
            <a:off x="2011680" y="3246120"/>
            <a:ext cx="4169381"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Δ9: límite de nuestras desaturasas desde el extremo carboxilo</a:t>
            </a:r>
            <a:endParaRPr lang="es-AR" sz="1250" dirty="0">
              <a:latin typeface="Bahnschrift SemiBold Condensed"/>
            </a:endParaRPr>
          </a:p>
        </p:txBody>
      </p:sp>
      <p:grpSp>
        <p:nvGrpSpPr>
          <p:cNvPr id="19" name="Recuadro Fundamento"/>
          <p:cNvGrpSpPr/>
          <p:nvPr/>
        </p:nvGrpSpPr>
        <p:grpSpPr>
          <a:xfrm>
            <a:off x="365760" y="3886200"/>
            <a:ext cx="5577840" cy="2606040"/>
            <a:chOff x="365760" y="3886200"/>
            <a:chExt cx="5577840" cy="2606040"/>
          </a:xfrm>
        </p:grpSpPr>
        <p:sp>
          <p:nvSpPr>
            <p:cNvPr id="20" name="Forma 21"/>
            <p:cNvSpPr/>
            <p:nvPr/>
          </p:nvSpPr>
          <p:spPr>
            <a:xfrm>
              <a:off x="365760" y="4069080"/>
              <a:ext cx="5577840" cy="24231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Los humanos </a:t>
              </a:r>
              <a:r>
                <a:rPr lang="es-AR" sz="1700" b="1" dirty="0">
                  <a:solidFill>
                    <a:srgbClr val="1E1E1E"/>
                  </a:solidFill>
                  <a:latin typeface="Bahnschrift"/>
                  <a:ea typeface="Bahnschrift"/>
                  <a:cs typeface="Bahnschrift"/>
                  <a:sym typeface="Bahnschrift"/>
                </a:rPr>
                <a:t>no introducimos dobles enlaces más allá de Δ9</a:t>
              </a:r>
              <a:r>
                <a:rPr lang="es-AR" sz="1700" dirty="0">
                  <a:solidFill>
                    <a:srgbClr val="1E1E1E"/>
                  </a:solidFill>
                  <a:latin typeface="Bahnschrift"/>
                  <a:ea typeface="Bahnschrift"/>
                  <a:cs typeface="Bahnschrift"/>
                  <a:sym typeface="Bahnschrift"/>
                </a:rPr>
                <a:t> (contando desde el carboxilo): no sintetizamos de novo las familias </a:t>
              </a:r>
              <a:r>
                <a:rPr lang="es-AR" sz="1700" b="1" dirty="0">
                  <a:solidFill>
                    <a:srgbClr val="1E1E1E"/>
                  </a:solidFill>
                  <a:latin typeface="Bahnschrift"/>
                  <a:ea typeface="Bahnschrift"/>
                  <a:cs typeface="Bahnschrift"/>
                  <a:sym typeface="Bahnschrift"/>
                </a:rPr>
                <a:t>n-6 y n-3</a:t>
              </a:r>
              <a:r>
                <a:rPr lang="es-AR" sz="1700" dirty="0">
                  <a:solidFill>
                    <a:srgbClr val="1E1E1E"/>
                  </a:solidFill>
                  <a:latin typeface="Bahnschrift"/>
                  <a:ea typeface="Bahnschrift"/>
                  <a:cs typeface="Bahnschrift"/>
                  <a:sym typeface="Bahnschrift"/>
                </a:rPr>
                <a:t> a partir de n-9.</a:t>
              </a:r>
              <a:endParaRPr lang="es-AR" sz="1700" dirty="0">
                <a:latin typeface="Bahnschrift"/>
              </a:endParaRPr>
            </a:p>
          </p:txBody>
        </p:sp>
        <p:sp>
          <p:nvSpPr>
            <p:cNvPr id="21" name="Forma 22"/>
            <p:cNvSpPr/>
            <p:nvPr/>
          </p:nvSpPr>
          <p:spPr>
            <a:xfrm>
              <a:off x="475488" y="3886200"/>
              <a:ext cx="135390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FUNDAMENTO</a:t>
              </a:r>
              <a:endParaRPr lang="es-AR" sz="1550" dirty="0">
                <a:latin typeface="Bahnschrift SemiBold Condensed"/>
              </a:endParaRPr>
            </a:p>
          </p:txBody>
        </p:sp>
      </p:grpSp>
      <p:sp>
        <p:nvSpPr>
          <p:cNvPr id="22" name="Conversiones LA (18:2 n-6) → AA"/>
          <p:cNvSpPr/>
          <p:nvPr/>
        </p:nvSpPr>
        <p:spPr>
          <a:xfrm>
            <a:off x="6263640" y="3977640"/>
            <a:ext cx="5486400" cy="59436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LA (18:2 n-6) → </a:t>
            </a:r>
            <a:r>
              <a:rPr lang="es-AR" sz="1400" b="1" dirty="0">
                <a:solidFill>
                  <a:srgbClr val="1E1E1E"/>
                </a:solidFill>
                <a:latin typeface="Bahnschrift SemiBold Condensed"/>
                <a:ea typeface="Bahnschrift SemiBold Condensed"/>
                <a:cs typeface="Bahnschrift SemiBold Condensed"/>
                <a:sym typeface="Bahnschrift SemiBold Condensed"/>
              </a:rPr>
              <a:t>AA</a:t>
            </a:r>
            <a:r>
              <a:rPr lang="es-AR" sz="1400" b="1" dirty="0">
                <a:solidFill>
                  <a:srgbClr val="1E1E1E"/>
                </a:solidFill>
                <a:latin typeface="Bahnschrift SemiBold Condensed"/>
                <a:ea typeface="Bahnschrift SemiBold Condensed"/>
                <a:cs typeface="Bahnschrift SemiBold Condensed"/>
                <a:sym typeface="Bahnschrift SemiBold Condensed"/>
              </a:rPr>
              <a:t> (20:4 n-6)</a:t>
            </a:r>
            <a:endParaRPr lang="es-AR" sz="1400" dirty="0">
              <a:latin typeface="Bahnschrift SemiBold Condensed"/>
            </a:endParaRPr>
          </a:p>
        </p:txBody>
      </p:sp>
      <p:grpSp>
        <p:nvGrpSpPr>
          <p:cNvPr id="23" name="Conversiones paso 1"/>
          <p:cNvGrpSpPr/>
          <p:nvPr/>
        </p:nvGrpSpPr>
        <p:grpSpPr>
          <a:xfrm>
            <a:off x="9006840" y="4599432"/>
            <a:ext cx="9144" cy="493776"/>
            <a:chOff x="9006840" y="4599432"/>
            <a:chExt cx="9144" cy="493776"/>
          </a:xfrm>
        </p:grpSpPr>
        <p:sp>
          <p:nvSpPr>
            <p:cNvPr id="24" name="Flecha 25_2"/>
            <p:cNvSpPr/>
            <p:nvPr/>
          </p:nvSpPr>
          <p:spPr>
            <a:xfrm>
              <a:off x="9006840" y="4599432"/>
              <a:ext cx="9144" cy="493776"/>
            </a:xfrm>
            <a:custGeom>
              <a:avLst/>
              <a:gdLst/>
              <a:ahLst/>
              <a:cxnLst/>
              <a:rect l="0" t="0" r="r" b="b"/>
              <a:pathLst>
                <a:path w="10" h="539" fill="none">
                  <a:moveTo>
                    <a:pt x="0" y="0"/>
                  </a:moveTo>
                  <a:lnTo>
                    <a:pt x="0" y="539"/>
                  </a:lnTo>
                </a:path>
              </a:pathLst>
            </a:custGeom>
            <a:noFill/>
            <a:ln w="25400" cap="rnd">
              <a:solidFill>
                <a:srgbClr val="1E1E1E"/>
              </a:solidFill>
              <a:round/>
              <a:headEnd type="triangle" w="med" len="med"/>
              <a:tailEnd type="triangle" w="med" len="med"/>
            </a:ln>
          </p:spPr>
        </p:sp>
      </p:grpSp>
      <p:sp>
        <p:nvSpPr>
          <p:cNvPr id="25" name="Conversiones ALA (18:3 n-3) → E"/>
          <p:cNvSpPr/>
          <p:nvPr/>
        </p:nvSpPr>
        <p:spPr>
          <a:xfrm>
            <a:off x="6263640" y="5120640"/>
            <a:ext cx="5486400" cy="59436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ALA (18:3 n-3) → </a:t>
            </a:r>
            <a:r>
              <a:rPr lang="es-AR" sz="1400" b="1" dirty="0">
                <a:solidFill>
                  <a:srgbClr val="1E1E1E"/>
                </a:solidFill>
                <a:latin typeface="Bahnschrift SemiBold Condensed"/>
                <a:ea typeface="Bahnschrift SemiBold Condensed"/>
                <a:cs typeface="Bahnschrift SemiBold Condensed"/>
                <a:sym typeface="Bahnschrift SemiBold Condensed"/>
              </a:rPr>
              <a:t>EPA</a:t>
            </a:r>
            <a:r>
              <a:rPr lang="es-AR" sz="1400" b="1" dirty="0">
                <a:solidFill>
                  <a:srgbClr val="1E1E1E"/>
                </a:solidFill>
                <a:latin typeface="Bahnschrift SemiBold Condensed"/>
                <a:ea typeface="Bahnschrift SemiBold Condensed"/>
                <a:cs typeface="Bahnschrift SemiBold Condensed"/>
                <a:sym typeface="Bahnschrift SemiBold Condensed"/>
              </a:rPr>
              <a:t> → </a:t>
            </a:r>
            <a:r>
              <a:rPr lang="es-AR" sz="1400" b="1" dirty="0">
                <a:solidFill>
                  <a:srgbClr val="1E1E1E"/>
                </a:solidFill>
                <a:latin typeface="Bahnschrift SemiBold Condensed"/>
                <a:ea typeface="Bahnschrift SemiBold Condensed"/>
                <a:cs typeface="Bahnschrift SemiBold Condensed"/>
                <a:sym typeface="Bahnschrift SemiBold Condensed"/>
              </a:rPr>
              <a:t>DHA</a:t>
            </a:r>
            <a:endParaRPr lang="es-AR" sz="1400" dirty="0">
              <a:latin typeface="Bahnschrift SemiBold Condensed"/>
            </a:endParaRPr>
          </a:p>
        </p:txBody>
      </p:sp>
      <p:sp>
        <p:nvSpPr>
          <p:cNvPr id="26" name="Forma 28"/>
          <p:cNvSpPr txBox="1"/>
          <p:nvPr/>
        </p:nvSpPr>
        <p:spPr>
          <a:xfrm>
            <a:off x="6309360" y="5806440"/>
            <a:ext cx="5486400" cy="64008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Elongaciones y desaturaciones; conversión humana </a:t>
            </a:r>
            <a:r>
              <a:rPr lang="es-AR" sz="1350" b="1" dirty="0">
                <a:solidFill>
                  <a:srgbClr val="1E1E1E"/>
                </a:solidFill>
                <a:latin typeface="Bahnschrift"/>
                <a:ea typeface="Bahnschrift"/>
                <a:cs typeface="Bahnschrift"/>
                <a:sym typeface="Bahnschrift"/>
              </a:rPr>
              <a:t>limitada</a:t>
            </a:r>
            <a:r>
              <a:rPr lang="es-AR" sz="1350" dirty="0">
                <a:solidFill>
                  <a:srgbClr val="1E1E1E"/>
                </a:solidFill>
                <a:latin typeface="Bahnschrift"/>
                <a:ea typeface="Bahnschrift"/>
                <a:cs typeface="Bahnschrift"/>
                <a:sym typeface="Bahnschrift"/>
              </a:rPr>
              <a:t>, especialmente a DHA.</a:t>
            </a:r>
            <a:endParaRPr lang="es-AR" sz="13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40735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18 · ÁCIDOS GRASOS ESENCIALES: POR QUÉ NO LOS FABRICAMOS</a:t>
            </a:r>
            <a:endParaRPr lang="es-AR" sz="2600" dirty="0">
              <a:latin typeface="Bahnschrift SemiBold Condensed"/>
            </a:endParaRPr>
          </a:p>
        </p:txBody>
      </p:sp>
      <p:sp>
        <p:nvSpPr>
          <p:cNvPr id="2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21"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par>
                          <p:cTn id="20" fill="hold">
                            <p:stCondLst>
                              <p:cond delay="500"/>
                            </p:stCondLst>
                            <p:childTnLst>
                              <p:par>
                                <p:cTn id="17" presetID="10" presetClass="entr" presetSubtype="0"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par>
                    <p:cTn id="26" fill="hold">
                      <p:stCondLst>
                        <p:cond delay="indefinite"/>
                      </p:stCondLst>
                      <p:childTnLst>
                        <p:par>
                          <p:cTn id="25"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childTnLst>
                          </p:cTn>
                        </p:par>
                      </p:childTnLst>
                    </p:cTn>
                  </p:par>
                  <p:par>
                    <p:cTn id="38"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childTnLst>
                          </p:cTn>
                        </p:par>
                        <p:par>
                          <p:cTn id="37" fill="hold">
                            <p:stCondLst>
                              <p:cond delay="500"/>
                            </p:stCondLst>
                            <p:childTnLst>
                              <p:par>
                                <p:cTn id="31" presetID="10" presetClass="entr" presetSubtype="0"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2" grpId="0" animBg="1"/>
      <p:bldP spid="25" grpId="0" animBg="1"/>
      <p:bldP spid="26" grpId="0" animBg="1"/>
    </p:bldLst>
  </p:timing>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Función Membranas"/>
          <p:cNvGrpSpPr/>
          <p:nvPr/>
        </p:nvGrpSpPr>
        <p:grpSpPr>
          <a:xfrm>
            <a:off x="365760" y="1005840"/>
            <a:ext cx="2377440" cy="1737360"/>
            <a:chOff x="365760" y="1005840"/>
            <a:chExt cx="2377440" cy="1737360"/>
          </a:xfrm>
        </p:grpSpPr>
        <p:sp>
          <p:nvSpPr>
            <p:cNvPr id="5" name="Forma 4"/>
            <p:cNvSpPr/>
            <p:nvPr/>
          </p:nvSpPr>
          <p:spPr>
            <a:xfrm>
              <a:off x="365760" y="1005840"/>
              <a:ext cx="2377440" cy="17373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6" name="!!Membrana"/>
            <p:cNvGrpSpPr/>
            <p:nvPr/>
          </p:nvGrpSpPr>
          <p:grpSpPr>
            <a:xfrm>
              <a:off x="640080" y="1188720"/>
              <a:ext cx="1828800" cy="384048"/>
              <a:chOff x="640080" y="1188720"/>
              <a:chExt cx="1828800" cy="384048"/>
            </a:xfrm>
          </p:grpSpPr>
          <p:sp>
            <p:nvSpPr>
              <p:cNvPr id="7" name="Forma 6"/>
              <p:cNvSpPr/>
              <p:nvPr/>
            </p:nvSpPr>
            <p:spPr>
              <a:xfrm>
                <a:off x="640080" y="1257849"/>
                <a:ext cx="1828800" cy="245791"/>
              </a:xfrm>
              <a:prstGeom prst="rect">
                <a:avLst/>
              </a:prstGeom>
              <a:solidFill>
                <a:srgbClr val="FDEBD0"/>
              </a:solidFill>
              <a:ln>
                <a:noFill/>
              </a:ln>
            </p:spPr>
          </p:sp>
          <p:sp>
            <p:nvSpPr>
              <p:cNvPr id="8" name="Forma 7"/>
              <p:cNvSpPr/>
              <p:nvPr/>
            </p:nvSpPr>
            <p:spPr>
              <a:xfrm>
                <a:off x="640080" y="1188720"/>
                <a:ext cx="1828800" cy="384048"/>
              </a:xfrm>
              <a:custGeom>
                <a:avLst/>
                <a:gdLst/>
                <a:ahLst/>
                <a:cxnLst/>
                <a:rect l="0" t="0" r="r" b="b"/>
                <a:pathLst>
                  <a:path w="2000" h="42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7" y="47"/>
                    </a:moveTo>
                    <a:cubicBezTo>
                      <a:pt x="197" y="72"/>
                      <a:pt x="175" y="94"/>
                      <a:pt x="150" y="94"/>
                    </a:cubicBezTo>
                    <a:cubicBezTo>
                      <a:pt x="124" y="94"/>
                      <a:pt x="103" y="72"/>
                      <a:pt x="103" y="47"/>
                    </a:cubicBezTo>
                    <a:cubicBezTo>
                      <a:pt x="103" y="21"/>
                      <a:pt x="124" y="0"/>
                      <a:pt x="150" y="0"/>
                    </a:cubicBezTo>
                    <a:cubicBezTo>
                      <a:pt x="175" y="0"/>
                      <a:pt x="197" y="21"/>
                      <a:pt x="197" y="47"/>
                    </a:cubicBezTo>
                    <a:close/>
                    <a:moveTo>
                      <a:pt x="297" y="47"/>
                    </a:moveTo>
                    <a:cubicBezTo>
                      <a:pt x="297" y="72"/>
                      <a:pt x="275" y="94"/>
                      <a:pt x="250" y="94"/>
                    </a:cubicBezTo>
                    <a:cubicBezTo>
                      <a:pt x="224" y="94"/>
                      <a:pt x="203" y="72"/>
                      <a:pt x="203" y="47"/>
                    </a:cubicBezTo>
                    <a:cubicBezTo>
                      <a:pt x="203" y="21"/>
                      <a:pt x="224" y="0"/>
                      <a:pt x="250" y="0"/>
                    </a:cubicBezTo>
                    <a:cubicBezTo>
                      <a:pt x="275" y="0"/>
                      <a:pt x="297" y="21"/>
                      <a:pt x="297" y="47"/>
                    </a:cubicBezTo>
                    <a:close/>
                    <a:moveTo>
                      <a:pt x="397" y="47"/>
                    </a:moveTo>
                    <a:cubicBezTo>
                      <a:pt x="397" y="72"/>
                      <a:pt x="375" y="94"/>
                      <a:pt x="350" y="94"/>
                    </a:cubicBezTo>
                    <a:cubicBezTo>
                      <a:pt x="324" y="94"/>
                      <a:pt x="303" y="72"/>
                      <a:pt x="303" y="47"/>
                    </a:cubicBezTo>
                    <a:cubicBezTo>
                      <a:pt x="303" y="21"/>
                      <a:pt x="324" y="0"/>
                      <a:pt x="350" y="0"/>
                    </a:cubicBezTo>
                    <a:cubicBezTo>
                      <a:pt x="375" y="0"/>
                      <a:pt x="397" y="21"/>
                      <a:pt x="397" y="47"/>
                    </a:cubicBezTo>
                    <a:close/>
                    <a:moveTo>
                      <a:pt x="497" y="47"/>
                    </a:moveTo>
                    <a:cubicBezTo>
                      <a:pt x="497" y="72"/>
                      <a:pt x="475" y="94"/>
                      <a:pt x="450" y="94"/>
                    </a:cubicBezTo>
                    <a:cubicBezTo>
                      <a:pt x="424" y="94"/>
                      <a:pt x="403" y="72"/>
                      <a:pt x="403" y="47"/>
                    </a:cubicBezTo>
                    <a:cubicBezTo>
                      <a:pt x="403" y="21"/>
                      <a:pt x="424" y="0"/>
                      <a:pt x="450" y="0"/>
                    </a:cubicBezTo>
                    <a:cubicBezTo>
                      <a:pt x="475" y="0"/>
                      <a:pt x="497" y="21"/>
                      <a:pt x="497" y="47"/>
                    </a:cubicBezTo>
                    <a:close/>
                    <a:moveTo>
                      <a:pt x="597" y="47"/>
                    </a:moveTo>
                    <a:cubicBezTo>
                      <a:pt x="597" y="72"/>
                      <a:pt x="575" y="94"/>
                      <a:pt x="550" y="94"/>
                    </a:cubicBezTo>
                    <a:cubicBezTo>
                      <a:pt x="524" y="94"/>
                      <a:pt x="503" y="72"/>
                      <a:pt x="503" y="47"/>
                    </a:cubicBezTo>
                    <a:cubicBezTo>
                      <a:pt x="503" y="21"/>
                      <a:pt x="524" y="0"/>
                      <a:pt x="550" y="0"/>
                    </a:cubicBezTo>
                    <a:cubicBezTo>
                      <a:pt x="575" y="0"/>
                      <a:pt x="597" y="21"/>
                      <a:pt x="597" y="47"/>
                    </a:cubicBezTo>
                    <a:close/>
                    <a:moveTo>
                      <a:pt x="697" y="47"/>
                    </a:moveTo>
                    <a:cubicBezTo>
                      <a:pt x="697" y="72"/>
                      <a:pt x="675" y="94"/>
                      <a:pt x="650" y="94"/>
                    </a:cubicBezTo>
                    <a:cubicBezTo>
                      <a:pt x="624" y="94"/>
                      <a:pt x="603" y="72"/>
                      <a:pt x="603" y="47"/>
                    </a:cubicBezTo>
                    <a:cubicBezTo>
                      <a:pt x="603" y="21"/>
                      <a:pt x="624" y="0"/>
                      <a:pt x="650" y="0"/>
                    </a:cubicBezTo>
                    <a:cubicBezTo>
                      <a:pt x="675" y="0"/>
                      <a:pt x="697" y="21"/>
                      <a:pt x="697" y="47"/>
                    </a:cubicBezTo>
                    <a:close/>
                    <a:moveTo>
                      <a:pt x="797" y="47"/>
                    </a:moveTo>
                    <a:cubicBezTo>
                      <a:pt x="797" y="72"/>
                      <a:pt x="775" y="94"/>
                      <a:pt x="750" y="94"/>
                    </a:cubicBezTo>
                    <a:cubicBezTo>
                      <a:pt x="724" y="94"/>
                      <a:pt x="703" y="72"/>
                      <a:pt x="703" y="47"/>
                    </a:cubicBezTo>
                    <a:cubicBezTo>
                      <a:pt x="703" y="21"/>
                      <a:pt x="724" y="0"/>
                      <a:pt x="750" y="0"/>
                    </a:cubicBezTo>
                    <a:cubicBezTo>
                      <a:pt x="775" y="0"/>
                      <a:pt x="797" y="21"/>
                      <a:pt x="797" y="47"/>
                    </a:cubicBezTo>
                    <a:close/>
                    <a:moveTo>
                      <a:pt x="897" y="47"/>
                    </a:moveTo>
                    <a:cubicBezTo>
                      <a:pt x="897" y="72"/>
                      <a:pt x="875" y="94"/>
                      <a:pt x="850" y="94"/>
                    </a:cubicBezTo>
                    <a:cubicBezTo>
                      <a:pt x="824" y="94"/>
                      <a:pt x="803" y="72"/>
                      <a:pt x="803" y="47"/>
                    </a:cubicBezTo>
                    <a:cubicBezTo>
                      <a:pt x="803" y="21"/>
                      <a:pt x="824" y="0"/>
                      <a:pt x="850" y="0"/>
                    </a:cubicBezTo>
                    <a:cubicBezTo>
                      <a:pt x="875" y="0"/>
                      <a:pt x="897" y="21"/>
                      <a:pt x="897" y="47"/>
                    </a:cubicBezTo>
                    <a:close/>
                    <a:moveTo>
                      <a:pt x="997" y="47"/>
                    </a:moveTo>
                    <a:cubicBezTo>
                      <a:pt x="997" y="72"/>
                      <a:pt x="975" y="94"/>
                      <a:pt x="950" y="94"/>
                    </a:cubicBezTo>
                    <a:cubicBezTo>
                      <a:pt x="924" y="94"/>
                      <a:pt x="903" y="72"/>
                      <a:pt x="903" y="47"/>
                    </a:cubicBezTo>
                    <a:cubicBezTo>
                      <a:pt x="903" y="21"/>
                      <a:pt x="924" y="0"/>
                      <a:pt x="950" y="0"/>
                    </a:cubicBezTo>
                    <a:cubicBezTo>
                      <a:pt x="975" y="0"/>
                      <a:pt x="997" y="21"/>
                      <a:pt x="997" y="47"/>
                    </a:cubicBezTo>
                    <a:close/>
                    <a:moveTo>
                      <a:pt x="1097" y="47"/>
                    </a:moveTo>
                    <a:cubicBezTo>
                      <a:pt x="1097" y="72"/>
                      <a:pt x="1075" y="94"/>
                      <a:pt x="1050" y="94"/>
                    </a:cubicBezTo>
                    <a:cubicBezTo>
                      <a:pt x="1024" y="94"/>
                      <a:pt x="1003" y="72"/>
                      <a:pt x="1003" y="47"/>
                    </a:cubicBezTo>
                    <a:cubicBezTo>
                      <a:pt x="1003" y="21"/>
                      <a:pt x="1024" y="0"/>
                      <a:pt x="1050" y="0"/>
                    </a:cubicBezTo>
                    <a:cubicBezTo>
                      <a:pt x="1075" y="0"/>
                      <a:pt x="1097" y="21"/>
                      <a:pt x="1097" y="47"/>
                    </a:cubicBezTo>
                    <a:close/>
                    <a:moveTo>
                      <a:pt x="1197" y="47"/>
                    </a:moveTo>
                    <a:cubicBezTo>
                      <a:pt x="1197" y="72"/>
                      <a:pt x="1175" y="94"/>
                      <a:pt x="1150" y="94"/>
                    </a:cubicBezTo>
                    <a:cubicBezTo>
                      <a:pt x="1124" y="94"/>
                      <a:pt x="1103" y="72"/>
                      <a:pt x="1103" y="47"/>
                    </a:cubicBezTo>
                    <a:cubicBezTo>
                      <a:pt x="1103" y="21"/>
                      <a:pt x="1124" y="0"/>
                      <a:pt x="1150" y="0"/>
                    </a:cubicBezTo>
                    <a:cubicBezTo>
                      <a:pt x="1175" y="0"/>
                      <a:pt x="1197" y="21"/>
                      <a:pt x="1197" y="47"/>
                    </a:cubicBezTo>
                    <a:close/>
                    <a:moveTo>
                      <a:pt x="1297" y="47"/>
                    </a:moveTo>
                    <a:cubicBezTo>
                      <a:pt x="1297" y="72"/>
                      <a:pt x="1275" y="94"/>
                      <a:pt x="1250" y="94"/>
                    </a:cubicBezTo>
                    <a:cubicBezTo>
                      <a:pt x="1224" y="94"/>
                      <a:pt x="1203" y="72"/>
                      <a:pt x="1203" y="47"/>
                    </a:cubicBezTo>
                    <a:cubicBezTo>
                      <a:pt x="1203" y="21"/>
                      <a:pt x="1224" y="0"/>
                      <a:pt x="1250" y="0"/>
                    </a:cubicBezTo>
                    <a:cubicBezTo>
                      <a:pt x="1275" y="0"/>
                      <a:pt x="1297" y="21"/>
                      <a:pt x="1297" y="47"/>
                    </a:cubicBezTo>
                    <a:close/>
                    <a:moveTo>
                      <a:pt x="1397" y="47"/>
                    </a:moveTo>
                    <a:cubicBezTo>
                      <a:pt x="1397" y="72"/>
                      <a:pt x="1375" y="94"/>
                      <a:pt x="1350" y="94"/>
                    </a:cubicBezTo>
                    <a:cubicBezTo>
                      <a:pt x="1324" y="94"/>
                      <a:pt x="1303" y="72"/>
                      <a:pt x="1303" y="47"/>
                    </a:cubicBezTo>
                    <a:cubicBezTo>
                      <a:pt x="1303" y="21"/>
                      <a:pt x="1324" y="0"/>
                      <a:pt x="1350" y="0"/>
                    </a:cubicBezTo>
                    <a:cubicBezTo>
                      <a:pt x="1375" y="0"/>
                      <a:pt x="1397" y="21"/>
                      <a:pt x="1397" y="47"/>
                    </a:cubicBezTo>
                    <a:close/>
                    <a:moveTo>
                      <a:pt x="1497" y="47"/>
                    </a:moveTo>
                    <a:cubicBezTo>
                      <a:pt x="1497" y="72"/>
                      <a:pt x="1475" y="94"/>
                      <a:pt x="1450" y="94"/>
                    </a:cubicBezTo>
                    <a:cubicBezTo>
                      <a:pt x="1424" y="94"/>
                      <a:pt x="1403" y="72"/>
                      <a:pt x="1403" y="47"/>
                    </a:cubicBezTo>
                    <a:cubicBezTo>
                      <a:pt x="1403" y="21"/>
                      <a:pt x="1424" y="0"/>
                      <a:pt x="1450" y="0"/>
                    </a:cubicBezTo>
                    <a:cubicBezTo>
                      <a:pt x="1475" y="0"/>
                      <a:pt x="1497" y="21"/>
                      <a:pt x="1497" y="47"/>
                    </a:cubicBezTo>
                    <a:close/>
                    <a:moveTo>
                      <a:pt x="1597" y="47"/>
                    </a:moveTo>
                    <a:cubicBezTo>
                      <a:pt x="1597" y="72"/>
                      <a:pt x="1575" y="94"/>
                      <a:pt x="1550" y="94"/>
                    </a:cubicBezTo>
                    <a:cubicBezTo>
                      <a:pt x="1524" y="94"/>
                      <a:pt x="1503" y="72"/>
                      <a:pt x="1503" y="47"/>
                    </a:cubicBezTo>
                    <a:cubicBezTo>
                      <a:pt x="1503" y="21"/>
                      <a:pt x="1524" y="0"/>
                      <a:pt x="1550" y="0"/>
                    </a:cubicBezTo>
                    <a:cubicBezTo>
                      <a:pt x="1575" y="0"/>
                      <a:pt x="1597" y="21"/>
                      <a:pt x="1597" y="47"/>
                    </a:cubicBezTo>
                    <a:close/>
                    <a:moveTo>
                      <a:pt x="1697" y="47"/>
                    </a:moveTo>
                    <a:cubicBezTo>
                      <a:pt x="1697" y="72"/>
                      <a:pt x="1675" y="94"/>
                      <a:pt x="1650" y="94"/>
                    </a:cubicBezTo>
                    <a:cubicBezTo>
                      <a:pt x="1624" y="94"/>
                      <a:pt x="1603" y="72"/>
                      <a:pt x="1603" y="47"/>
                    </a:cubicBezTo>
                    <a:cubicBezTo>
                      <a:pt x="1603" y="21"/>
                      <a:pt x="1624" y="0"/>
                      <a:pt x="1650" y="0"/>
                    </a:cubicBezTo>
                    <a:cubicBezTo>
                      <a:pt x="1675" y="0"/>
                      <a:pt x="1697" y="21"/>
                      <a:pt x="1697" y="47"/>
                    </a:cubicBezTo>
                    <a:close/>
                    <a:moveTo>
                      <a:pt x="1797" y="47"/>
                    </a:moveTo>
                    <a:cubicBezTo>
                      <a:pt x="1797" y="72"/>
                      <a:pt x="1775" y="94"/>
                      <a:pt x="1750" y="94"/>
                    </a:cubicBezTo>
                    <a:cubicBezTo>
                      <a:pt x="1724" y="94"/>
                      <a:pt x="1703" y="72"/>
                      <a:pt x="1703" y="47"/>
                    </a:cubicBezTo>
                    <a:cubicBezTo>
                      <a:pt x="1703" y="21"/>
                      <a:pt x="1724" y="0"/>
                      <a:pt x="1750" y="0"/>
                    </a:cubicBezTo>
                    <a:cubicBezTo>
                      <a:pt x="1775" y="0"/>
                      <a:pt x="1797" y="21"/>
                      <a:pt x="1797" y="47"/>
                    </a:cubicBezTo>
                    <a:close/>
                    <a:moveTo>
                      <a:pt x="1897" y="47"/>
                    </a:moveTo>
                    <a:cubicBezTo>
                      <a:pt x="1897" y="72"/>
                      <a:pt x="1875" y="94"/>
                      <a:pt x="1850" y="94"/>
                    </a:cubicBezTo>
                    <a:cubicBezTo>
                      <a:pt x="1824" y="94"/>
                      <a:pt x="1803" y="72"/>
                      <a:pt x="1803" y="47"/>
                    </a:cubicBezTo>
                    <a:cubicBezTo>
                      <a:pt x="1803" y="21"/>
                      <a:pt x="1824" y="0"/>
                      <a:pt x="1850" y="0"/>
                    </a:cubicBezTo>
                    <a:cubicBezTo>
                      <a:pt x="1875" y="0"/>
                      <a:pt x="1897" y="21"/>
                      <a:pt x="1897" y="47"/>
                    </a:cubicBezTo>
                    <a:close/>
                    <a:moveTo>
                      <a:pt x="1997" y="47"/>
                    </a:moveTo>
                    <a:cubicBezTo>
                      <a:pt x="1997" y="72"/>
                      <a:pt x="1975" y="94"/>
                      <a:pt x="1950" y="94"/>
                    </a:cubicBezTo>
                    <a:cubicBezTo>
                      <a:pt x="1924" y="94"/>
                      <a:pt x="1903" y="72"/>
                      <a:pt x="1903" y="47"/>
                    </a:cubicBezTo>
                    <a:cubicBezTo>
                      <a:pt x="1903" y="21"/>
                      <a:pt x="1924" y="0"/>
                      <a:pt x="1950" y="0"/>
                    </a:cubicBezTo>
                    <a:cubicBezTo>
                      <a:pt x="1975" y="0"/>
                      <a:pt x="1997" y="21"/>
                      <a:pt x="1997" y="47"/>
                    </a:cubicBezTo>
                    <a:close/>
                    <a:moveTo>
                      <a:pt x="97" y="373"/>
                    </a:moveTo>
                    <a:cubicBezTo>
                      <a:pt x="97" y="398"/>
                      <a:pt x="75" y="420"/>
                      <a:pt x="50" y="420"/>
                    </a:cubicBezTo>
                    <a:cubicBezTo>
                      <a:pt x="24" y="420"/>
                      <a:pt x="3" y="398"/>
                      <a:pt x="3" y="373"/>
                    </a:cubicBezTo>
                    <a:cubicBezTo>
                      <a:pt x="3" y="347"/>
                      <a:pt x="24" y="326"/>
                      <a:pt x="50" y="326"/>
                    </a:cubicBezTo>
                    <a:cubicBezTo>
                      <a:pt x="75" y="326"/>
                      <a:pt x="97" y="347"/>
                      <a:pt x="97" y="373"/>
                    </a:cubicBezTo>
                    <a:close/>
                    <a:moveTo>
                      <a:pt x="197" y="373"/>
                    </a:moveTo>
                    <a:cubicBezTo>
                      <a:pt x="197" y="398"/>
                      <a:pt x="175" y="420"/>
                      <a:pt x="150" y="420"/>
                    </a:cubicBezTo>
                    <a:cubicBezTo>
                      <a:pt x="124" y="420"/>
                      <a:pt x="103" y="398"/>
                      <a:pt x="103" y="373"/>
                    </a:cubicBezTo>
                    <a:cubicBezTo>
                      <a:pt x="103" y="347"/>
                      <a:pt x="124" y="326"/>
                      <a:pt x="150" y="326"/>
                    </a:cubicBezTo>
                    <a:cubicBezTo>
                      <a:pt x="175" y="326"/>
                      <a:pt x="197" y="347"/>
                      <a:pt x="197" y="373"/>
                    </a:cubicBezTo>
                    <a:close/>
                    <a:moveTo>
                      <a:pt x="297" y="373"/>
                    </a:moveTo>
                    <a:cubicBezTo>
                      <a:pt x="297" y="398"/>
                      <a:pt x="275" y="420"/>
                      <a:pt x="250" y="420"/>
                    </a:cubicBezTo>
                    <a:cubicBezTo>
                      <a:pt x="224" y="420"/>
                      <a:pt x="203" y="398"/>
                      <a:pt x="203" y="373"/>
                    </a:cubicBezTo>
                    <a:cubicBezTo>
                      <a:pt x="203" y="347"/>
                      <a:pt x="224" y="326"/>
                      <a:pt x="250" y="326"/>
                    </a:cubicBezTo>
                    <a:cubicBezTo>
                      <a:pt x="275" y="326"/>
                      <a:pt x="297" y="347"/>
                      <a:pt x="297" y="373"/>
                    </a:cubicBezTo>
                    <a:close/>
                    <a:moveTo>
                      <a:pt x="397" y="373"/>
                    </a:moveTo>
                    <a:cubicBezTo>
                      <a:pt x="397" y="398"/>
                      <a:pt x="375" y="420"/>
                      <a:pt x="350" y="420"/>
                    </a:cubicBezTo>
                    <a:cubicBezTo>
                      <a:pt x="324" y="420"/>
                      <a:pt x="303" y="398"/>
                      <a:pt x="303" y="373"/>
                    </a:cubicBezTo>
                    <a:cubicBezTo>
                      <a:pt x="303" y="347"/>
                      <a:pt x="324" y="326"/>
                      <a:pt x="350" y="326"/>
                    </a:cubicBezTo>
                    <a:cubicBezTo>
                      <a:pt x="375" y="326"/>
                      <a:pt x="397" y="347"/>
                      <a:pt x="397" y="373"/>
                    </a:cubicBezTo>
                    <a:close/>
                    <a:moveTo>
                      <a:pt x="497" y="373"/>
                    </a:moveTo>
                    <a:cubicBezTo>
                      <a:pt x="497" y="398"/>
                      <a:pt x="475" y="420"/>
                      <a:pt x="450" y="420"/>
                    </a:cubicBezTo>
                    <a:cubicBezTo>
                      <a:pt x="424" y="420"/>
                      <a:pt x="403" y="398"/>
                      <a:pt x="403" y="373"/>
                    </a:cubicBezTo>
                    <a:cubicBezTo>
                      <a:pt x="403" y="347"/>
                      <a:pt x="424" y="326"/>
                      <a:pt x="450" y="326"/>
                    </a:cubicBezTo>
                    <a:cubicBezTo>
                      <a:pt x="475" y="326"/>
                      <a:pt x="497" y="347"/>
                      <a:pt x="497" y="373"/>
                    </a:cubicBezTo>
                    <a:close/>
                    <a:moveTo>
                      <a:pt x="597" y="373"/>
                    </a:moveTo>
                    <a:cubicBezTo>
                      <a:pt x="597" y="398"/>
                      <a:pt x="575" y="420"/>
                      <a:pt x="550" y="420"/>
                    </a:cubicBezTo>
                    <a:cubicBezTo>
                      <a:pt x="524" y="420"/>
                      <a:pt x="503" y="398"/>
                      <a:pt x="503" y="373"/>
                    </a:cubicBezTo>
                    <a:cubicBezTo>
                      <a:pt x="503" y="347"/>
                      <a:pt x="524" y="326"/>
                      <a:pt x="550" y="326"/>
                    </a:cubicBezTo>
                    <a:cubicBezTo>
                      <a:pt x="575" y="326"/>
                      <a:pt x="597" y="347"/>
                      <a:pt x="597" y="373"/>
                    </a:cubicBezTo>
                    <a:close/>
                    <a:moveTo>
                      <a:pt x="697" y="373"/>
                    </a:moveTo>
                    <a:cubicBezTo>
                      <a:pt x="697" y="398"/>
                      <a:pt x="675" y="420"/>
                      <a:pt x="650" y="420"/>
                    </a:cubicBezTo>
                    <a:cubicBezTo>
                      <a:pt x="624" y="420"/>
                      <a:pt x="603" y="398"/>
                      <a:pt x="603" y="373"/>
                    </a:cubicBezTo>
                    <a:cubicBezTo>
                      <a:pt x="603" y="347"/>
                      <a:pt x="624" y="326"/>
                      <a:pt x="650" y="326"/>
                    </a:cubicBezTo>
                    <a:cubicBezTo>
                      <a:pt x="675" y="326"/>
                      <a:pt x="697" y="347"/>
                      <a:pt x="697" y="373"/>
                    </a:cubicBezTo>
                    <a:close/>
                    <a:moveTo>
                      <a:pt x="797" y="373"/>
                    </a:moveTo>
                    <a:cubicBezTo>
                      <a:pt x="797" y="398"/>
                      <a:pt x="775" y="420"/>
                      <a:pt x="750" y="420"/>
                    </a:cubicBezTo>
                    <a:cubicBezTo>
                      <a:pt x="724" y="420"/>
                      <a:pt x="703" y="398"/>
                      <a:pt x="703" y="373"/>
                    </a:cubicBezTo>
                    <a:cubicBezTo>
                      <a:pt x="703" y="347"/>
                      <a:pt x="724" y="326"/>
                      <a:pt x="750" y="326"/>
                    </a:cubicBezTo>
                    <a:cubicBezTo>
                      <a:pt x="775" y="326"/>
                      <a:pt x="797" y="347"/>
                      <a:pt x="797" y="373"/>
                    </a:cubicBezTo>
                    <a:close/>
                    <a:moveTo>
                      <a:pt x="897" y="373"/>
                    </a:moveTo>
                    <a:cubicBezTo>
                      <a:pt x="897" y="398"/>
                      <a:pt x="875" y="420"/>
                      <a:pt x="850" y="420"/>
                    </a:cubicBezTo>
                    <a:cubicBezTo>
                      <a:pt x="824" y="420"/>
                      <a:pt x="803" y="398"/>
                      <a:pt x="803" y="373"/>
                    </a:cubicBezTo>
                    <a:cubicBezTo>
                      <a:pt x="803" y="347"/>
                      <a:pt x="824" y="326"/>
                      <a:pt x="850" y="326"/>
                    </a:cubicBezTo>
                    <a:cubicBezTo>
                      <a:pt x="875" y="326"/>
                      <a:pt x="897" y="347"/>
                      <a:pt x="897" y="373"/>
                    </a:cubicBezTo>
                    <a:close/>
                    <a:moveTo>
                      <a:pt x="997" y="373"/>
                    </a:moveTo>
                    <a:cubicBezTo>
                      <a:pt x="997" y="398"/>
                      <a:pt x="975" y="420"/>
                      <a:pt x="950" y="420"/>
                    </a:cubicBezTo>
                    <a:cubicBezTo>
                      <a:pt x="924" y="420"/>
                      <a:pt x="903" y="398"/>
                      <a:pt x="903" y="373"/>
                    </a:cubicBezTo>
                    <a:cubicBezTo>
                      <a:pt x="903" y="347"/>
                      <a:pt x="924" y="326"/>
                      <a:pt x="950" y="326"/>
                    </a:cubicBezTo>
                    <a:cubicBezTo>
                      <a:pt x="975" y="326"/>
                      <a:pt x="997" y="347"/>
                      <a:pt x="997" y="373"/>
                    </a:cubicBezTo>
                    <a:close/>
                    <a:moveTo>
                      <a:pt x="1097" y="373"/>
                    </a:moveTo>
                    <a:cubicBezTo>
                      <a:pt x="1097" y="398"/>
                      <a:pt x="1075" y="420"/>
                      <a:pt x="1050" y="420"/>
                    </a:cubicBezTo>
                    <a:cubicBezTo>
                      <a:pt x="1024" y="420"/>
                      <a:pt x="1003" y="398"/>
                      <a:pt x="1003" y="373"/>
                    </a:cubicBezTo>
                    <a:cubicBezTo>
                      <a:pt x="1003" y="347"/>
                      <a:pt x="1024" y="326"/>
                      <a:pt x="1050" y="326"/>
                    </a:cubicBezTo>
                    <a:cubicBezTo>
                      <a:pt x="1075" y="326"/>
                      <a:pt x="1097" y="347"/>
                      <a:pt x="1097" y="373"/>
                    </a:cubicBezTo>
                    <a:close/>
                    <a:moveTo>
                      <a:pt x="1197" y="373"/>
                    </a:moveTo>
                    <a:cubicBezTo>
                      <a:pt x="1197" y="398"/>
                      <a:pt x="1175" y="420"/>
                      <a:pt x="1150" y="420"/>
                    </a:cubicBezTo>
                    <a:cubicBezTo>
                      <a:pt x="1124" y="420"/>
                      <a:pt x="1103" y="398"/>
                      <a:pt x="1103" y="373"/>
                    </a:cubicBezTo>
                    <a:cubicBezTo>
                      <a:pt x="1103" y="347"/>
                      <a:pt x="1124" y="326"/>
                      <a:pt x="1150" y="326"/>
                    </a:cubicBezTo>
                    <a:cubicBezTo>
                      <a:pt x="1175" y="326"/>
                      <a:pt x="1197" y="347"/>
                      <a:pt x="1197" y="373"/>
                    </a:cubicBezTo>
                    <a:close/>
                    <a:moveTo>
                      <a:pt x="1297" y="373"/>
                    </a:moveTo>
                    <a:cubicBezTo>
                      <a:pt x="1297" y="398"/>
                      <a:pt x="1275" y="420"/>
                      <a:pt x="1250" y="420"/>
                    </a:cubicBezTo>
                    <a:cubicBezTo>
                      <a:pt x="1224" y="420"/>
                      <a:pt x="1203" y="398"/>
                      <a:pt x="1203" y="373"/>
                    </a:cubicBezTo>
                    <a:cubicBezTo>
                      <a:pt x="1203" y="347"/>
                      <a:pt x="1224" y="326"/>
                      <a:pt x="1250" y="326"/>
                    </a:cubicBezTo>
                    <a:cubicBezTo>
                      <a:pt x="1275" y="326"/>
                      <a:pt x="1297" y="347"/>
                      <a:pt x="1297" y="373"/>
                    </a:cubicBezTo>
                    <a:close/>
                    <a:moveTo>
                      <a:pt x="1397" y="373"/>
                    </a:moveTo>
                    <a:cubicBezTo>
                      <a:pt x="1397" y="398"/>
                      <a:pt x="1375" y="420"/>
                      <a:pt x="1350" y="420"/>
                    </a:cubicBezTo>
                    <a:cubicBezTo>
                      <a:pt x="1324" y="420"/>
                      <a:pt x="1303" y="398"/>
                      <a:pt x="1303" y="373"/>
                    </a:cubicBezTo>
                    <a:cubicBezTo>
                      <a:pt x="1303" y="347"/>
                      <a:pt x="1324" y="326"/>
                      <a:pt x="1350" y="326"/>
                    </a:cubicBezTo>
                    <a:cubicBezTo>
                      <a:pt x="1375" y="326"/>
                      <a:pt x="1397" y="347"/>
                      <a:pt x="1397" y="373"/>
                    </a:cubicBezTo>
                    <a:close/>
                    <a:moveTo>
                      <a:pt x="1497" y="373"/>
                    </a:moveTo>
                    <a:cubicBezTo>
                      <a:pt x="1497" y="398"/>
                      <a:pt x="1475" y="420"/>
                      <a:pt x="1450" y="420"/>
                    </a:cubicBezTo>
                    <a:cubicBezTo>
                      <a:pt x="1424" y="420"/>
                      <a:pt x="1403" y="398"/>
                      <a:pt x="1403" y="373"/>
                    </a:cubicBezTo>
                    <a:cubicBezTo>
                      <a:pt x="1403" y="347"/>
                      <a:pt x="1424" y="326"/>
                      <a:pt x="1450" y="326"/>
                    </a:cubicBezTo>
                    <a:cubicBezTo>
                      <a:pt x="1475" y="326"/>
                      <a:pt x="1497" y="347"/>
                      <a:pt x="1497" y="373"/>
                    </a:cubicBezTo>
                    <a:close/>
                    <a:moveTo>
                      <a:pt x="1597" y="373"/>
                    </a:moveTo>
                    <a:cubicBezTo>
                      <a:pt x="1597" y="398"/>
                      <a:pt x="1575" y="420"/>
                      <a:pt x="1550" y="420"/>
                    </a:cubicBezTo>
                    <a:cubicBezTo>
                      <a:pt x="1524" y="420"/>
                      <a:pt x="1503" y="398"/>
                      <a:pt x="1503" y="373"/>
                    </a:cubicBezTo>
                    <a:cubicBezTo>
                      <a:pt x="1503" y="347"/>
                      <a:pt x="1524" y="326"/>
                      <a:pt x="1550" y="326"/>
                    </a:cubicBezTo>
                    <a:cubicBezTo>
                      <a:pt x="1575" y="326"/>
                      <a:pt x="1597" y="347"/>
                      <a:pt x="1597" y="373"/>
                    </a:cubicBezTo>
                    <a:close/>
                    <a:moveTo>
                      <a:pt x="1697" y="373"/>
                    </a:moveTo>
                    <a:cubicBezTo>
                      <a:pt x="1697" y="398"/>
                      <a:pt x="1675" y="420"/>
                      <a:pt x="1650" y="420"/>
                    </a:cubicBezTo>
                    <a:cubicBezTo>
                      <a:pt x="1624" y="420"/>
                      <a:pt x="1603" y="398"/>
                      <a:pt x="1603" y="373"/>
                    </a:cubicBezTo>
                    <a:cubicBezTo>
                      <a:pt x="1603" y="347"/>
                      <a:pt x="1624" y="326"/>
                      <a:pt x="1650" y="326"/>
                    </a:cubicBezTo>
                    <a:cubicBezTo>
                      <a:pt x="1675" y="326"/>
                      <a:pt x="1697" y="347"/>
                      <a:pt x="1697" y="373"/>
                    </a:cubicBezTo>
                    <a:close/>
                    <a:moveTo>
                      <a:pt x="1797" y="373"/>
                    </a:moveTo>
                    <a:cubicBezTo>
                      <a:pt x="1797" y="398"/>
                      <a:pt x="1775" y="420"/>
                      <a:pt x="1750" y="420"/>
                    </a:cubicBezTo>
                    <a:cubicBezTo>
                      <a:pt x="1724" y="420"/>
                      <a:pt x="1703" y="398"/>
                      <a:pt x="1703" y="373"/>
                    </a:cubicBezTo>
                    <a:cubicBezTo>
                      <a:pt x="1703" y="347"/>
                      <a:pt x="1724" y="326"/>
                      <a:pt x="1750" y="326"/>
                    </a:cubicBezTo>
                    <a:cubicBezTo>
                      <a:pt x="1775" y="326"/>
                      <a:pt x="1797" y="347"/>
                      <a:pt x="1797" y="373"/>
                    </a:cubicBezTo>
                    <a:close/>
                    <a:moveTo>
                      <a:pt x="1897" y="373"/>
                    </a:moveTo>
                    <a:cubicBezTo>
                      <a:pt x="1897" y="398"/>
                      <a:pt x="1875" y="420"/>
                      <a:pt x="1850" y="420"/>
                    </a:cubicBezTo>
                    <a:cubicBezTo>
                      <a:pt x="1824" y="420"/>
                      <a:pt x="1803" y="398"/>
                      <a:pt x="1803" y="373"/>
                    </a:cubicBezTo>
                    <a:cubicBezTo>
                      <a:pt x="1803" y="347"/>
                      <a:pt x="1824" y="326"/>
                      <a:pt x="1850" y="326"/>
                    </a:cubicBezTo>
                    <a:cubicBezTo>
                      <a:pt x="1875" y="326"/>
                      <a:pt x="1897" y="347"/>
                      <a:pt x="1897" y="373"/>
                    </a:cubicBezTo>
                    <a:close/>
                    <a:moveTo>
                      <a:pt x="1997" y="373"/>
                    </a:moveTo>
                    <a:cubicBezTo>
                      <a:pt x="1997" y="398"/>
                      <a:pt x="1975" y="420"/>
                      <a:pt x="1950" y="420"/>
                    </a:cubicBezTo>
                    <a:cubicBezTo>
                      <a:pt x="1924" y="420"/>
                      <a:pt x="1903" y="398"/>
                      <a:pt x="1903" y="373"/>
                    </a:cubicBezTo>
                    <a:cubicBezTo>
                      <a:pt x="1903" y="347"/>
                      <a:pt x="1924" y="326"/>
                      <a:pt x="1950" y="326"/>
                    </a:cubicBezTo>
                    <a:cubicBezTo>
                      <a:pt x="1975" y="326"/>
                      <a:pt x="1997" y="347"/>
                      <a:pt x="1997" y="37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9" name="Forma 8"/>
              <p:cNvSpPr/>
              <p:nvPr/>
            </p:nvSpPr>
            <p:spPr>
              <a:xfrm>
                <a:off x="640080" y="1188720"/>
                <a:ext cx="1828800" cy="384048"/>
              </a:xfrm>
              <a:custGeom>
                <a:avLst/>
                <a:gdLst/>
                <a:ahLst/>
                <a:cxnLst/>
                <a:rect l="0" t="0" r="r" b="b"/>
                <a:pathLst>
                  <a:path w="2000" h="420" fill="none">
                    <a:moveTo>
                      <a:pt x="35" y="94"/>
                    </a:moveTo>
                    <a:lnTo>
                      <a:pt x="35" y="200"/>
                    </a:lnTo>
                  </a:path>
                  <a:path w="2000" h="420" fill="none">
                    <a:moveTo>
                      <a:pt x="65" y="94"/>
                    </a:moveTo>
                    <a:lnTo>
                      <a:pt x="65" y="200"/>
                    </a:lnTo>
                  </a:path>
                  <a:path w="2000" h="420" fill="none">
                    <a:moveTo>
                      <a:pt x="35" y="326"/>
                    </a:moveTo>
                    <a:lnTo>
                      <a:pt x="35" y="220"/>
                    </a:lnTo>
                  </a:path>
                  <a:path w="2000" h="420" fill="none">
                    <a:moveTo>
                      <a:pt x="65" y="326"/>
                    </a:moveTo>
                    <a:lnTo>
                      <a:pt x="65" y="220"/>
                    </a:lnTo>
                  </a:path>
                  <a:path w="2000" h="420" fill="none">
                    <a:moveTo>
                      <a:pt x="135" y="94"/>
                    </a:moveTo>
                    <a:lnTo>
                      <a:pt x="135" y="200"/>
                    </a:lnTo>
                  </a:path>
                  <a:path w="2000" h="420" fill="none">
                    <a:moveTo>
                      <a:pt x="165" y="94"/>
                    </a:moveTo>
                    <a:lnTo>
                      <a:pt x="165" y="200"/>
                    </a:lnTo>
                  </a:path>
                  <a:path w="2000" h="420" fill="none">
                    <a:moveTo>
                      <a:pt x="135" y="326"/>
                    </a:moveTo>
                    <a:lnTo>
                      <a:pt x="135" y="220"/>
                    </a:lnTo>
                  </a:path>
                  <a:path w="2000" h="420" fill="none">
                    <a:moveTo>
                      <a:pt x="165" y="326"/>
                    </a:moveTo>
                    <a:lnTo>
                      <a:pt x="165" y="220"/>
                    </a:lnTo>
                  </a:path>
                  <a:path w="2000" h="420" fill="none">
                    <a:moveTo>
                      <a:pt x="235" y="94"/>
                    </a:moveTo>
                    <a:lnTo>
                      <a:pt x="235" y="200"/>
                    </a:lnTo>
                  </a:path>
                  <a:path w="2000" h="420" fill="none">
                    <a:moveTo>
                      <a:pt x="265" y="94"/>
                    </a:moveTo>
                    <a:lnTo>
                      <a:pt x="265" y="200"/>
                    </a:lnTo>
                  </a:path>
                  <a:path w="2000" h="420" fill="none">
                    <a:moveTo>
                      <a:pt x="235" y="326"/>
                    </a:moveTo>
                    <a:lnTo>
                      <a:pt x="235" y="220"/>
                    </a:lnTo>
                  </a:path>
                  <a:path w="2000" h="420" fill="none">
                    <a:moveTo>
                      <a:pt x="265" y="326"/>
                    </a:moveTo>
                    <a:lnTo>
                      <a:pt x="265" y="220"/>
                    </a:lnTo>
                  </a:path>
                  <a:path w="2000" h="420" fill="none">
                    <a:moveTo>
                      <a:pt x="335" y="94"/>
                    </a:moveTo>
                    <a:lnTo>
                      <a:pt x="335" y="200"/>
                    </a:lnTo>
                  </a:path>
                  <a:path w="2000" h="420" fill="none">
                    <a:moveTo>
                      <a:pt x="365" y="94"/>
                    </a:moveTo>
                    <a:lnTo>
                      <a:pt x="365" y="200"/>
                    </a:lnTo>
                  </a:path>
                  <a:path w="2000" h="420" fill="none">
                    <a:moveTo>
                      <a:pt x="335" y="326"/>
                    </a:moveTo>
                    <a:lnTo>
                      <a:pt x="335" y="220"/>
                    </a:lnTo>
                  </a:path>
                  <a:path w="2000" h="420" fill="none">
                    <a:moveTo>
                      <a:pt x="365" y="326"/>
                    </a:moveTo>
                    <a:lnTo>
                      <a:pt x="365" y="220"/>
                    </a:lnTo>
                  </a:path>
                  <a:path w="2000" h="420" fill="none">
                    <a:moveTo>
                      <a:pt x="435" y="94"/>
                    </a:moveTo>
                    <a:lnTo>
                      <a:pt x="435" y="200"/>
                    </a:lnTo>
                  </a:path>
                  <a:path w="2000" h="420" fill="none">
                    <a:moveTo>
                      <a:pt x="465" y="94"/>
                    </a:moveTo>
                    <a:lnTo>
                      <a:pt x="465" y="200"/>
                    </a:lnTo>
                  </a:path>
                  <a:path w="2000" h="420" fill="none">
                    <a:moveTo>
                      <a:pt x="435" y="326"/>
                    </a:moveTo>
                    <a:lnTo>
                      <a:pt x="435" y="220"/>
                    </a:lnTo>
                  </a:path>
                  <a:path w="2000" h="420" fill="none">
                    <a:moveTo>
                      <a:pt x="465" y="326"/>
                    </a:moveTo>
                    <a:lnTo>
                      <a:pt x="465" y="220"/>
                    </a:lnTo>
                  </a:path>
                  <a:path w="2000" h="420" fill="none">
                    <a:moveTo>
                      <a:pt x="535" y="94"/>
                    </a:moveTo>
                    <a:lnTo>
                      <a:pt x="535" y="200"/>
                    </a:lnTo>
                  </a:path>
                  <a:path w="2000" h="420" fill="none">
                    <a:moveTo>
                      <a:pt x="565" y="94"/>
                    </a:moveTo>
                    <a:lnTo>
                      <a:pt x="565" y="200"/>
                    </a:lnTo>
                  </a:path>
                  <a:path w="2000" h="420" fill="none">
                    <a:moveTo>
                      <a:pt x="535" y="326"/>
                    </a:moveTo>
                    <a:lnTo>
                      <a:pt x="535" y="220"/>
                    </a:lnTo>
                  </a:path>
                  <a:path w="2000" h="420" fill="none">
                    <a:moveTo>
                      <a:pt x="565" y="326"/>
                    </a:moveTo>
                    <a:lnTo>
                      <a:pt x="565" y="220"/>
                    </a:lnTo>
                  </a:path>
                  <a:path w="2000" h="420" fill="none">
                    <a:moveTo>
                      <a:pt x="635" y="94"/>
                    </a:moveTo>
                    <a:lnTo>
                      <a:pt x="635" y="200"/>
                    </a:lnTo>
                  </a:path>
                  <a:path w="2000" h="420" fill="none">
                    <a:moveTo>
                      <a:pt x="665" y="94"/>
                    </a:moveTo>
                    <a:lnTo>
                      <a:pt x="665" y="200"/>
                    </a:lnTo>
                  </a:path>
                  <a:path w="2000" h="420" fill="none">
                    <a:moveTo>
                      <a:pt x="635" y="326"/>
                    </a:moveTo>
                    <a:lnTo>
                      <a:pt x="635" y="220"/>
                    </a:lnTo>
                  </a:path>
                  <a:path w="2000" h="420" fill="none">
                    <a:moveTo>
                      <a:pt x="665" y="326"/>
                    </a:moveTo>
                    <a:lnTo>
                      <a:pt x="665" y="220"/>
                    </a:lnTo>
                  </a:path>
                  <a:path w="2000" h="420" fill="none">
                    <a:moveTo>
                      <a:pt x="735" y="94"/>
                    </a:moveTo>
                    <a:lnTo>
                      <a:pt x="735" y="200"/>
                    </a:lnTo>
                  </a:path>
                  <a:path w="2000" h="420" fill="none">
                    <a:moveTo>
                      <a:pt x="765" y="94"/>
                    </a:moveTo>
                    <a:lnTo>
                      <a:pt x="765" y="200"/>
                    </a:lnTo>
                  </a:path>
                  <a:path w="2000" h="420" fill="none">
                    <a:moveTo>
                      <a:pt x="735" y="326"/>
                    </a:moveTo>
                    <a:lnTo>
                      <a:pt x="735" y="220"/>
                    </a:lnTo>
                  </a:path>
                  <a:path w="2000" h="420" fill="none">
                    <a:moveTo>
                      <a:pt x="765" y="326"/>
                    </a:moveTo>
                    <a:lnTo>
                      <a:pt x="765" y="220"/>
                    </a:lnTo>
                  </a:path>
                  <a:path w="2000" h="420" fill="none">
                    <a:moveTo>
                      <a:pt x="835" y="94"/>
                    </a:moveTo>
                    <a:lnTo>
                      <a:pt x="835" y="200"/>
                    </a:lnTo>
                  </a:path>
                  <a:path w="2000" h="420" fill="none">
                    <a:moveTo>
                      <a:pt x="865" y="94"/>
                    </a:moveTo>
                    <a:lnTo>
                      <a:pt x="865" y="200"/>
                    </a:lnTo>
                  </a:path>
                  <a:path w="2000" h="420" fill="none">
                    <a:moveTo>
                      <a:pt x="835" y="326"/>
                    </a:moveTo>
                    <a:lnTo>
                      <a:pt x="835" y="220"/>
                    </a:lnTo>
                  </a:path>
                  <a:path w="2000" h="420" fill="none">
                    <a:moveTo>
                      <a:pt x="865" y="326"/>
                    </a:moveTo>
                    <a:lnTo>
                      <a:pt x="865" y="220"/>
                    </a:lnTo>
                  </a:path>
                  <a:path w="2000" h="420" fill="none">
                    <a:moveTo>
                      <a:pt x="935" y="94"/>
                    </a:moveTo>
                    <a:lnTo>
                      <a:pt x="935" y="200"/>
                    </a:lnTo>
                  </a:path>
                  <a:path w="2000" h="420" fill="none">
                    <a:moveTo>
                      <a:pt x="965" y="94"/>
                    </a:moveTo>
                    <a:lnTo>
                      <a:pt x="965" y="200"/>
                    </a:lnTo>
                  </a:path>
                  <a:path w="2000" h="420" fill="none">
                    <a:moveTo>
                      <a:pt x="935" y="326"/>
                    </a:moveTo>
                    <a:lnTo>
                      <a:pt x="935" y="220"/>
                    </a:lnTo>
                  </a:path>
                  <a:path w="2000" h="420" fill="none">
                    <a:moveTo>
                      <a:pt x="965" y="326"/>
                    </a:moveTo>
                    <a:lnTo>
                      <a:pt x="965" y="220"/>
                    </a:lnTo>
                  </a:path>
                  <a:path w="2000" h="420" fill="none">
                    <a:moveTo>
                      <a:pt x="1035" y="94"/>
                    </a:moveTo>
                    <a:lnTo>
                      <a:pt x="1035" y="200"/>
                    </a:lnTo>
                  </a:path>
                  <a:path w="2000" h="420" fill="none">
                    <a:moveTo>
                      <a:pt x="1065" y="94"/>
                    </a:moveTo>
                    <a:lnTo>
                      <a:pt x="1065" y="200"/>
                    </a:lnTo>
                  </a:path>
                  <a:path w="2000" h="420" fill="none">
                    <a:moveTo>
                      <a:pt x="1035" y="326"/>
                    </a:moveTo>
                    <a:lnTo>
                      <a:pt x="1035" y="220"/>
                    </a:lnTo>
                  </a:path>
                  <a:path w="2000" h="420" fill="none">
                    <a:moveTo>
                      <a:pt x="1065" y="326"/>
                    </a:moveTo>
                    <a:lnTo>
                      <a:pt x="1065" y="220"/>
                    </a:lnTo>
                  </a:path>
                  <a:path w="2000" h="420" fill="none">
                    <a:moveTo>
                      <a:pt x="1135" y="94"/>
                    </a:moveTo>
                    <a:lnTo>
                      <a:pt x="1135" y="200"/>
                    </a:lnTo>
                  </a:path>
                  <a:path w="2000" h="420" fill="none">
                    <a:moveTo>
                      <a:pt x="1165" y="94"/>
                    </a:moveTo>
                    <a:lnTo>
                      <a:pt x="1165" y="200"/>
                    </a:lnTo>
                  </a:path>
                  <a:path w="2000" h="420" fill="none">
                    <a:moveTo>
                      <a:pt x="1135" y="326"/>
                    </a:moveTo>
                    <a:lnTo>
                      <a:pt x="1135" y="220"/>
                    </a:lnTo>
                  </a:path>
                  <a:path w="2000" h="420" fill="none">
                    <a:moveTo>
                      <a:pt x="1165" y="326"/>
                    </a:moveTo>
                    <a:lnTo>
                      <a:pt x="1165" y="220"/>
                    </a:lnTo>
                  </a:path>
                  <a:path w="2000" h="420" fill="none">
                    <a:moveTo>
                      <a:pt x="1235" y="94"/>
                    </a:moveTo>
                    <a:lnTo>
                      <a:pt x="1235" y="200"/>
                    </a:lnTo>
                  </a:path>
                  <a:path w="2000" h="420" fill="none">
                    <a:moveTo>
                      <a:pt x="1265" y="94"/>
                    </a:moveTo>
                    <a:lnTo>
                      <a:pt x="1265" y="200"/>
                    </a:lnTo>
                  </a:path>
                  <a:path w="2000" h="420" fill="none">
                    <a:moveTo>
                      <a:pt x="1235" y="326"/>
                    </a:moveTo>
                    <a:lnTo>
                      <a:pt x="1235" y="220"/>
                    </a:lnTo>
                  </a:path>
                  <a:path w="2000" h="420" fill="none">
                    <a:moveTo>
                      <a:pt x="1265" y="326"/>
                    </a:moveTo>
                    <a:lnTo>
                      <a:pt x="1265" y="220"/>
                    </a:lnTo>
                  </a:path>
                  <a:path w="2000" h="420" fill="none">
                    <a:moveTo>
                      <a:pt x="1335" y="94"/>
                    </a:moveTo>
                    <a:lnTo>
                      <a:pt x="1335" y="200"/>
                    </a:lnTo>
                  </a:path>
                  <a:path w="2000" h="420" fill="none">
                    <a:moveTo>
                      <a:pt x="1365" y="94"/>
                    </a:moveTo>
                    <a:lnTo>
                      <a:pt x="1365" y="200"/>
                    </a:lnTo>
                  </a:path>
                  <a:path w="2000" h="420" fill="none">
                    <a:moveTo>
                      <a:pt x="1335" y="326"/>
                    </a:moveTo>
                    <a:lnTo>
                      <a:pt x="1335" y="220"/>
                    </a:lnTo>
                  </a:path>
                  <a:path w="2000" h="420" fill="none">
                    <a:moveTo>
                      <a:pt x="1365" y="326"/>
                    </a:moveTo>
                    <a:lnTo>
                      <a:pt x="1365" y="220"/>
                    </a:lnTo>
                  </a:path>
                  <a:path w="2000" h="420" fill="none">
                    <a:moveTo>
                      <a:pt x="1435" y="94"/>
                    </a:moveTo>
                    <a:lnTo>
                      <a:pt x="1435" y="200"/>
                    </a:lnTo>
                  </a:path>
                  <a:path w="2000" h="420" fill="none">
                    <a:moveTo>
                      <a:pt x="1465" y="94"/>
                    </a:moveTo>
                    <a:lnTo>
                      <a:pt x="1465" y="200"/>
                    </a:lnTo>
                  </a:path>
                  <a:path w="2000" h="420" fill="none">
                    <a:moveTo>
                      <a:pt x="1435" y="326"/>
                    </a:moveTo>
                    <a:lnTo>
                      <a:pt x="1435" y="220"/>
                    </a:lnTo>
                  </a:path>
                  <a:path w="2000" h="420" fill="none">
                    <a:moveTo>
                      <a:pt x="1465" y="326"/>
                    </a:moveTo>
                    <a:lnTo>
                      <a:pt x="1465" y="220"/>
                    </a:lnTo>
                  </a:path>
                  <a:path w="2000" h="420" fill="none">
                    <a:moveTo>
                      <a:pt x="1535" y="94"/>
                    </a:moveTo>
                    <a:lnTo>
                      <a:pt x="1535" y="200"/>
                    </a:lnTo>
                  </a:path>
                  <a:path w="2000" h="420" fill="none">
                    <a:moveTo>
                      <a:pt x="1565" y="94"/>
                    </a:moveTo>
                    <a:lnTo>
                      <a:pt x="1565" y="200"/>
                    </a:lnTo>
                  </a:path>
                  <a:path w="2000" h="420" fill="none">
                    <a:moveTo>
                      <a:pt x="1535" y="326"/>
                    </a:moveTo>
                    <a:lnTo>
                      <a:pt x="1535" y="220"/>
                    </a:lnTo>
                  </a:path>
                  <a:path w="2000" h="420" fill="none">
                    <a:moveTo>
                      <a:pt x="1565" y="326"/>
                    </a:moveTo>
                    <a:lnTo>
                      <a:pt x="1565" y="220"/>
                    </a:lnTo>
                  </a:path>
                  <a:path w="2000" h="420" fill="none">
                    <a:moveTo>
                      <a:pt x="1635" y="94"/>
                    </a:moveTo>
                    <a:lnTo>
                      <a:pt x="1635" y="200"/>
                    </a:lnTo>
                  </a:path>
                  <a:path w="2000" h="420" fill="none">
                    <a:moveTo>
                      <a:pt x="1665" y="94"/>
                    </a:moveTo>
                    <a:lnTo>
                      <a:pt x="1665" y="200"/>
                    </a:lnTo>
                  </a:path>
                  <a:path w="2000" h="420" fill="none">
                    <a:moveTo>
                      <a:pt x="1635" y="326"/>
                    </a:moveTo>
                    <a:lnTo>
                      <a:pt x="1635" y="220"/>
                    </a:lnTo>
                  </a:path>
                  <a:path w="2000" h="420" fill="none">
                    <a:moveTo>
                      <a:pt x="1665" y="326"/>
                    </a:moveTo>
                    <a:lnTo>
                      <a:pt x="1665" y="220"/>
                    </a:lnTo>
                  </a:path>
                  <a:path w="2000" h="420" fill="none">
                    <a:moveTo>
                      <a:pt x="1735" y="94"/>
                    </a:moveTo>
                    <a:lnTo>
                      <a:pt x="1735" y="200"/>
                    </a:lnTo>
                  </a:path>
                  <a:path w="2000" h="420" fill="none">
                    <a:moveTo>
                      <a:pt x="1765" y="94"/>
                    </a:moveTo>
                    <a:lnTo>
                      <a:pt x="1765" y="200"/>
                    </a:lnTo>
                  </a:path>
                  <a:path w="2000" h="420" fill="none">
                    <a:moveTo>
                      <a:pt x="1735" y="326"/>
                    </a:moveTo>
                    <a:lnTo>
                      <a:pt x="1735" y="220"/>
                    </a:lnTo>
                  </a:path>
                  <a:path w="2000" h="420" fill="none">
                    <a:moveTo>
                      <a:pt x="1765" y="326"/>
                    </a:moveTo>
                    <a:lnTo>
                      <a:pt x="1765" y="220"/>
                    </a:lnTo>
                  </a:path>
                  <a:path w="2000" h="420" fill="none">
                    <a:moveTo>
                      <a:pt x="1835" y="94"/>
                    </a:moveTo>
                    <a:lnTo>
                      <a:pt x="1835" y="200"/>
                    </a:lnTo>
                  </a:path>
                  <a:path w="2000" h="420" fill="none">
                    <a:moveTo>
                      <a:pt x="1865" y="94"/>
                    </a:moveTo>
                    <a:lnTo>
                      <a:pt x="1865" y="200"/>
                    </a:lnTo>
                  </a:path>
                  <a:path w="2000" h="420" fill="none">
                    <a:moveTo>
                      <a:pt x="1835" y="326"/>
                    </a:moveTo>
                    <a:lnTo>
                      <a:pt x="1835" y="220"/>
                    </a:lnTo>
                  </a:path>
                  <a:path w="2000" h="420" fill="none">
                    <a:moveTo>
                      <a:pt x="1865" y="326"/>
                    </a:moveTo>
                    <a:lnTo>
                      <a:pt x="1865" y="220"/>
                    </a:lnTo>
                  </a:path>
                  <a:path w="2000" h="420" fill="none">
                    <a:moveTo>
                      <a:pt x="1935" y="94"/>
                    </a:moveTo>
                    <a:lnTo>
                      <a:pt x="1935" y="200"/>
                    </a:lnTo>
                  </a:path>
                  <a:path w="2000" h="420" fill="none">
                    <a:moveTo>
                      <a:pt x="1965" y="94"/>
                    </a:moveTo>
                    <a:lnTo>
                      <a:pt x="1965" y="200"/>
                    </a:lnTo>
                  </a:path>
                  <a:path w="2000" h="420" fill="none">
                    <a:moveTo>
                      <a:pt x="1935" y="326"/>
                    </a:moveTo>
                    <a:lnTo>
                      <a:pt x="1935" y="220"/>
                    </a:lnTo>
                  </a:path>
                  <a:path w="2000" h="420" fill="none">
                    <a:moveTo>
                      <a:pt x="1965" y="326"/>
                    </a:moveTo>
                    <a:lnTo>
                      <a:pt x="1965" y="220"/>
                    </a:lnTo>
                  </a:path>
                </a:pathLst>
              </a:custGeom>
              <a:noFill/>
              <a:ln w="9525" cap="rnd">
                <a:solidFill>
                  <a:srgbClr val="A49887"/>
                </a:solidFill>
                <a:round/>
              </a:ln>
            </p:spPr>
          </p:sp>
        </p:grpSp>
        <p:sp>
          <p:nvSpPr>
            <p:cNvPr id="10" name="Forma 9"/>
            <p:cNvSpPr txBox="1"/>
            <p:nvPr/>
          </p:nvSpPr>
          <p:spPr>
            <a:xfrm>
              <a:off x="457200" y="169164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Membranas</a:t>
              </a:r>
              <a:endParaRPr lang="es-AR" sz="1500" dirty="0">
                <a:latin typeface="Bahnschrift SemiBold Condensed"/>
              </a:endParaRPr>
            </a:p>
          </p:txBody>
        </p:sp>
        <p:sp>
          <p:nvSpPr>
            <p:cNvPr id="11" name="Forma 10"/>
            <p:cNvSpPr txBox="1"/>
            <p:nvPr/>
          </p:nvSpPr>
          <p:spPr>
            <a:xfrm>
              <a:off x="457200" y="2103120"/>
              <a:ext cx="2194560" cy="594360"/>
            </a:xfrm>
            <a:prstGeom prst="rect">
              <a:avLst/>
            </a:prstGeom>
            <a:noFill/>
            <a:ln>
              <a:noFill/>
            </a:ln>
          </p:spPr>
          <p:txBody>
            <a:bodyPr wrap="square" lIns="0" tIns="0" rIns="0" bIns="0" anchor="t" rtlCol="0">
              <a:noAutofit/>
            </a:bodyPr>
            <a:lstStyle/>
            <a:p>
              <a:pPr algn="ctr">
                <a:spcAft>
                  <a:spcPts val="300"/>
                </a:spcAft>
                <a:buNone/>
              </a:pPr>
              <a:r>
                <a:rPr lang="es-AR" sz="1250" dirty="0">
                  <a:solidFill>
                    <a:srgbClr val="1E1E1E"/>
                  </a:solidFill>
                  <a:latin typeface="Bahnschrift"/>
                  <a:ea typeface="Bahnschrift"/>
                  <a:cs typeface="Bahnschrift"/>
                  <a:sym typeface="Bahnschrift"/>
                </a:rPr>
                <a:t>fluidez y función</a:t>
              </a:r>
              <a:endParaRPr lang="es-AR" sz="1250" dirty="0">
                <a:latin typeface="Bahnschrift"/>
              </a:endParaRPr>
            </a:p>
          </p:txBody>
        </p:sp>
      </p:grpSp>
      <p:grpSp>
        <p:nvGrpSpPr>
          <p:cNvPr id="12" name="Función Barrera cutánea"/>
          <p:cNvGrpSpPr/>
          <p:nvPr/>
        </p:nvGrpSpPr>
        <p:grpSpPr>
          <a:xfrm>
            <a:off x="2880360" y="1005840"/>
            <a:ext cx="2377440" cy="1737360"/>
            <a:chOff x="2880360" y="1005840"/>
            <a:chExt cx="2377440" cy="1737360"/>
          </a:xfrm>
        </p:grpSpPr>
        <p:sp>
          <p:nvSpPr>
            <p:cNvPr id="13" name="Forma 12"/>
            <p:cNvSpPr/>
            <p:nvPr/>
          </p:nvSpPr>
          <p:spPr>
            <a:xfrm>
              <a:off x="2880360" y="1005840"/>
              <a:ext cx="2377440" cy="17373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sp>
          <p:nvSpPr>
            <p:cNvPr id="14" name="Molécula ag"/>
            <p:cNvSpPr/>
            <p:nvPr/>
          </p:nvSpPr>
          <p:spPr>
            <a:xfrm>
              <a:off x="3840480" y="1115568"/>
              <a:ext cx="457200" cy="457200"/>
            </a:xfrm>
            <a:prstGeom prst="ellipse">
              <a:avLst/>
            </a:prstGeom>
            <a:gradFill rotWithShape="1">
              <a:gsLst>
                <a:gs pos="0">
                  <a:srgbClr val="F6D163"/>
                </a:gs>
                <a:gs pos="55000">
                  <a:srgbClr val="F2B90F"/>
                </a:gs>
                <a:gs pos="100000">
                  <a:srgbClr val="C1940C"/>
                </a:gs>
              </a:gsLst>
              <a:path path="circle">
                <a:fillToRect l="32000" t="28000" r="68000" b="72000"/>
              </a:path>
            </a:gradFill>
            <a:ln w="12700" cap="rnd">
              <a:solidFill>
                <a:srgbClr val="856508"/>
              </a:solidFill>
              <a:round/>
            </a:ln>
          </p:spPr>
          <p:txBody>
            <a:bodyPr wrap="square" lIns="0" tIns="0" rIns="0" bIns="0" anchor="ctr" rtlCol="0">
              <a:noAutofit/>
            </a:bodyPr>
            <a:lstStyle/>
            <a:p>
              <a:pPr algn="ctr">
                <a:spcAft>
                  <a:spcPts val="300"/>
                </a:spcAft>
                <a:buNone/>
              </a:pPr>
              <a:endParaRPr lang="es-AR" sz="1300" dirty="0">
                <a:latin typeface="Bahnschrift SemiBold Condensed"/>
              </a:endParaRPr>
            </a:p>
          </p:txBody>
        </p:sp>
        <p:sp>
          <p:nvSpPr>
            <p:cNvPr id="15" name="Forma 14"/>
            <p:cNvSpPr txBox="1"/>
            <p:nvPr/>
          </p:nvSpPr>
          <p:spPr>
            <a:xfrm>
              <a:off x="2971800" y="169164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Barrera cutánea</a:t>
              </a:r>
              <a:endParaRPr lang="es-AR" sz="1500" dirty="0">
                <a:latin typeface="Bahnschrift SemiBold Condensed"/>
              </a:endParaRPr>
            </a:p>
          </p:txBody>
        </p:sp>
        <p:sp>
          <p:nvSpPr>
            <p:cNvPr id="16" name="Forma 15"/>
            <p:cNvSpPr txBox="1"/>
            <p:nvPr/>
          </p:nvSpPr>
          <p:spPr>
            <a:xfrm>
              <a:off x="2971800" y="2103120"/>
              <a:ext cx="2194560" cy="594360"/>
            </a:xfrm>
            <a:prstGeom prst="rect">
              <a:avLst/>
            </a:prstGeom>
            <a:noFill/>
            <a:ln>
              <a:noFill/>
            </a:ln>
          </p:spPr>
          <p:txBody>
            <a:bodyPr wrap="square" lIns="0" tIns="0" rIns="0" bIns="0" anchor="t" rtlCol="0">
              <a:noAutofit/>
            </a:bodyPr>
            <a:lstStyle/>
            <a:p>
              <a:pPr algn="ctr">
                <a:spcAft>
                  <a:spcPts val="300"/>
                </a:spcAft>
                <a:buNone/>
              </a:pPr>
              <a:r>
                <a:rPr lang="es-AR" sz="1250" dirty="0">
                  <a:solidFill>
                    <a:srgbClr val="1E1E1E"/>
                  </a:solidFill>
                  <a:latin typeface="Bahnschrift"/>
                  <a:ea typeface="Bahnschrift"/>
                  <a:cs typeface="Bahnschrift"/>
                  <a:sym typeface="Bahnschrift"/>
                </a:rPr>
                <a:t>integridad</a:t>
              </a:r>
              <a:endParaRPr lang="es-AR" sz="1250" dirty="0">
                <a:latin typeface="Bahnschrift"/>
              </a:endParaRPr>
            </a:p>
          </p:txBody>
        </p:sp>
      </p:grpSp>
      <p:grpSp>
        <p:nvGrpSpPr>
          <p:cNvPr id="17" name="Función Crecimiento"/>
          <p:cNvGrpSpPr/>
          <p:nvPr/>
        </p:nvGrpSpPr>
        <p:grpSpPr>
          <a:xfrm>
            <a:off x="5394960" y="1005840"/>
            <a:ext cx="2377440" cy="1737360"/>
            <a:chOff x="5394960" y="1005840"/>
            <a:chExt cx="2377440" cy="1737360"/>
          </a:xfrm>
        </p:grpSpPr>
        <p:sp>
          <p:nvSpPr>
            <p:cNvPr id="18" name="Forma 17"/>
            <p:cNvSpPr/>
            <p:nvPr/>
          </p:nvSpPr>
          <p:spPr>
            <a:xfrm>
              <a:off x="5394960" y="1005840"/>
              <a:ext cx="2377440" cy="17373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sp>
          <p:nvSpPr>
            <p:cNvPr id="19" name="Molécula ag_2"/>
            <p:cNvSpPr/>
            <p:nvPr/>
          </p:nvSpPr>
          <p:spPr>
            <a:xfrm>
              <a:off x="6355080" y="1115568"/>
              <a:ext cx="457200" cy="457200"/>
            </a:xfrm>
            <a:prstGeom prst="ellipse">
              <a:avLst/>
            </a:prstGeom>
            <a:gradFill rotWithShape="1">
              <a:gsLst>
                <a:gs pos="0">
                  <a:srgbClr val="F6D163"/>
                </a:gs>
                <a:gs pos="55000">
                  <a:srgbClr val="F2B90F"/>
                </a:gs>
                <a:gs pos="100000">
                  <a:srgbClr val="C1940C"/>
                </a:gs>
              </a:gsLst>
              <a:path path="circle">
                <a:fillToRect l="32000" t="28000" r="68000" b="72000"/>
              </a:path>
            </a:gradFill>
            <a:ln w="12700" cap="rnd">
              <a:solidFill>
                <a:srgbClr val="856508"/>
              </a:solidFill>
              <a:round/>
            </a:ln>
          </p:spPr>
          <p:txBody>
            <a:bodyPr wrap="square" lIns="0" tIns="0" rIns="0" bIns="0" anchor="ctr" rtlCol="0">
              <a:noAutofit/>
            </a:bodyPr>
            <a:lstStyle/>
            <a:p>
              <a:pPr algn="ctr">
                <a:spcAft>
                  <a:spcPts val="300"/>
                </a:spcAft>
                <a:buNone/>
              </a:pPr>
              <a:endParaRPr lang="es-AR" sz="1300" dirty="0">
                <a:latin typeface="Bahnschrift SemiBold Condensed"/>
              </a:endParaRPr>
            </a:p>
          </p:txBody>
        </p:sp>
        <p:sp>
          <p:nvSpPr>
            <p:cNvPr id="20" name="Forma 19"/>
            <p:cNvSpPr txBox="1"/>
            <p:nvPr/>
          </p:nvSpPr>
          <p:spPr>
            <a:xfrm>
              <a:off x="5486400" y="169164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Crecimiento</a:t>
              </a:r>
              <a:endParaRPr lang="es-AR" sz="1500" dirty="0">
                <a:latin typeface="Bahnschrift SemiBold Condensed"/>
              </a:endParaRPr>
            </a:p>
          </p:txBody>
        </p:sp>
        <p:sp>
          <p:nvSpPr>
            <p:cNvPr id="21" name="Forma 20"/>
            <p:cNvSpPr txBox="1"/>
            <p:nvPr/>
          </p:nvSpPr>
          <p:spPr>
            <a:xfrm>
              <a:off x="5486400" y="2103120"/>
              <a:ext cx="2194560" cy="594360"/>
            </a:xfrm>
            <a:prstGeom prst="rect">
              <a:avLst/>
            </a:prstGeom>
            <a:noFill/>
            <a:ln>
              <a:noFill/>
            </a:ln>
          </p:spPr>
          <p:txBody>
            <a:bodyPr wrap="square" lIns="0" tIns="0" rIns="0" bIns="0" anchor="t" rtlCol="0">
              <a:noAutofit/>
            </a:bodyPr>
            <a:lstStyle/>
            <a:p>
              <a:pPr algn="ctr">
                <a:spcAft>
                  <a:spcPts val="300"/>
                </a:spcAft>
                <a:buNone/>
              </a:pPr>
              <a:r>
                <a:rPr lang="es-AR" sz="1250" dirty="0">
                  <a:solidFill>
                    <a:srgbClr val="1E1E1E"/>
                  </a:solidFill>
                  <a:latin typeface="Bahnschrift"/>
                  <a:ea typeface="Bahnschrift"/>
                  <a:cs typeface="Bahnschrift"/>
                  <a:sym typeface="Bahnschrift"/>
                </a:rPr>
                <a:t>desarrollo</a:t>
              </a:r>
              <a:endParaRPr lang="es-AR" sz="1250" dirty="0">
                <a:latin typeface="Bahnschrift"/>
              </a:endParaRPr>
            </a:p>
          </p:txBody>
        </p:sp>
      </p:grpSp>
      <p:grpSp>
        <p:nvGrpSpPr>
          <p:cNvPr id="22" name="Función Retina y SNC"/>
          <p:cNvGrpSpPr/>
          <p:nvPr/>
        </p:nvGrpSpPr>
        <p:grpSpPr>
          <a:xfrm>
            <a:off x="365760" y="2926080"/>
            <a:ext cx="2377440" cy="1737360"/>
            <a:chOff x="365760" y="2926080"/>
            <a:chExt cx="2377440" cy="1737360"/>
          </a:xfrm>
        </p:grpSpPr>
        <p:sp>
          <p:nvSpPr>
            <p:cNvPr id="23" name="Forma 22"/>
            <p:cNvSpPr/>
            <p:nvPr/>
          </p:nvSpPr>
          <p:spPr>
            <a:xfrm>
              <a:off x="365760" y="2926080"/>
              <a:ext cx="2377440" cy="17373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24" name="!!Cerebro"/>
            <p:cNvGrpSpPr/>
            <p:nvPr/>
          </p:nvGrpSpPr>
          <p:grpSpPr>
            <a:xfrm>
              <a:off x="1188720" y="3017520"/>
              <a:ext cx="731520" cy="570586"/>
              <a:chOff x="1188720" y="3017520"/>
              <a:chExt cx="731520" cy="570586"/>
            </a:xfrm>
          </p:grpSpPr>
          <p:sp>
            <p:nvSpPr>
              <p:cNvPr id="25" name="Cerebelo"/>
              <p:cNvSpPr/>
              <p:nvPr/>
            </p:nvSpPr>
            <p:spPr>
              <a:xfrm>
                <a:off x="1188720" y="3017520"/>
                <a:ext cx="731520" cy="570586"/>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26" name="Forma 25"/>
              <p:cNvSpPr/>
              <p:nvPr/>
            </p:nvSpPr>
            <p:spPr>
              <a:xfrm>
                <a:off x="1188720" y="3017520"/>
                <a:ext cx="731520" cy="570586"/>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27" name="Forma 26"/>
              <p:cNvSpPr/>
              <p:nvPr/>
            </p:nvSpPr>
            <p:spPr>
              <a:xfrm>
                <a:off x="1188720" y="3017520"/>
                <a:ext cx="731520" cy="570586"/>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28" name="Forma 27"/>
              <p:cNvSpPr/>
              <p:nvPr/>
            </p:nvSpPr>
            <p:spPr>
              <a:xfrm>
                <a:off x="1188720" y="3017520"/>
                <a:ext cx="731520" cy="570586"/>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29" name="Forma 28"/>
            <p:cNvSpPr txBox="1"/>
            <p:nvPr/>
          </p:nvSpPr>
          <p:spPr>
            <a:xfrm>
              <a:off x="457200" y="361188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Retina y SNC</a:t>
              </a:r>
              <a:endParaRPr lang="es-AR" sz="1500" dirty="0">
                <a:latin typeface="Bahnschrift SemiBold Condensed"/>
              </a:endParaRPr>
            </a:p>
          </p:txBody>
        </p:sp>
        <p:sp>
          <p:nvSpPr>
            <p:cNvPr id="30" name="Forma 29"/>
            <p:cNvSpPr txBox="1"/>
            <p:nvPr/>
          </p:nvSpPr>
          <p:spPr>
            <a:xfrm>
              <a:off x="457200" y="4023360"/>
              <a:ext cx="2194560" cy="59436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1E1E1E"/>
                  </a:solidFill>
                  <a:latin typeface="Bahnschrift"/>
                  <a:ea typeface="Bahnschrift"/>
                  <a:cs typeface="Bahnschrift"/>
                  <a:sym typeface="Bahnschrift"/>
                </a:rPr>
                <a:t>DHA</a:t>
              </a:r>
              <a:endParaRPr lang="es-AR" sz="1250" dirty="0">
                <a:latin typeface="Bahnschrift"/>
              </a:endParaRPr>
            </a:p>
          </p:txBody>
        </p:sp>
      </p:grpSp>
      <p:grpSp>
        <p:nvGrpSpPr>
          <p:cNvPr id="31" name="Función Eicosanoides"/>
          <p:cNvGrpSpPr/>
          <p:nvPr/>
        </p:nvGrpSpPr>
        <p:grpSpPr>
          <a:xfrm>
            <a:off x="2880360" y="2926080"/>
            <a:ext cx="2377440" cy="1737360"/>
            <a:chOff x="2880360" y="2926080"/>
            <a:chExt cx="2377440" cy="1737360"/>
          </a:xfrm>
        </p:grpSpPr>
        <p:sp>
          <p:nvSpPr>
            <p:cNvPr id="32" name="Forma 31"/>
            <p:cNvSpPr/>
            <p:nvPr/>
          </p:nvSpPr>
          <p:spPr>
            <a:xfrm>
              <a:off x="2880360" y="2926080"/>
              <a:ext cx="2377440" cy="17373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sp>
          <p:nvSpPr>
            <p:cNvPr id="33" name="Molécula ag_3"/>
            <p:cNvSpPr/>
            <p:nvPr/>
          </p:nvSpPr>
          <p:spPr>
            <a:xfrm>
              <a:off x="3840480" y="3035808"/>
              <a:ext cx="457200" cy="457200"/>
            </a:xfrm>
            <a:prstGeom prst="ellipse">
              <a:avLst/>
            </a:prstGeom>
            <a:gradFill rotWithShape="1">
              <a:gsLst>
                <a:gs pos="0">
                  <a:srgbClr val="F6D163"/>
                </a:gs>
                <a:gs pos="55000">
                  <a:srgbClr val="F2B90F"/>
                </a:gs>
                <a:gs pos="100000">
                  <a:srgbClr val="C1940C"/>
                </a:gs>
              </a:gsLst>
              <a:path path="circle">
                <a:fillToRect l="32000" t="28000" r="68000" b="72000"/>
              </a:path>
            </a:gradFill>
            <a:ln w="12700" cap="rnd">
              <a:solidFill>
                <a:srgbClr val="856508"/>
              </a:solidFill>
              <a:round/>
            </a:ln>
          </p:spPr>
          <p:txBody>
            <a:bodyPr wrap="square" lIns="0" tIns="0" rIns="0" bIns="0" anchor="ctr" rtlCol="0">
              <a:noAutofit/>
            </a:bodyPr>
            <a:lstStyle/>
            <a:p>
              <a:pPr algn="ctr">
                <a:spcAft>
                  <a:spcPts val="300"/>
                </a:spcAft>
                <a:buNone/>
              </a:pPr>
              <a:endParaRPr lang="es-AR" sz="1300" dirty="0">
                <a:latin typeface="Bahnschrift SemiBold Condensed"/>
              </a:endParaRPr>
            </a:p>
          </p:txBody>
        </p:sp>
        <p:sp>
          <p:nvSpPr>
            <p:cNvPr id="34" name="Forma 33"/>
            <p:cNvSpPr txBox="1"/>
            <p:nvPr/>
          </p:nvSpPr>
          <p:spPr>
            <a:xfrm>
              <a:off x="2971800" y="361188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Eicosanoides</a:t>
              </a:r>
              <a:endParaRPr lang="es-AR" sz="1500" dirty="0">
                <a:latin typeface="Bahnschrift SemiBold Condensed"/>
              </a:endParaRPr>
            </a:p>
          </p:txBody>
        </p:sp>
        <p:sp>
          <p:nvSpPr>
            <p:cNvPr id="35" name="Forma 34"/>
            <p:cNvSpPr txBox="1"/>
            <p:nvPr/>
          </p:nvSpPr>
          <p:spPr>
            <a:xfrm>
              <a:off x="2971800" y="4023360"/>
              <a:ext cx="2194560" cy="594360"/>
            </a:xfrm>
            <a:prstGeom prst="rect">
              <a:avLst/>
            </a:prstGeom>
            <a:noFill/>
            <a:ln>
              <a:noFill/>
            </a:ln>
          </p:spPr>
          <p:txBody>
            <a:bodyPr wrap="square" lIns="0" tIns="0" rIns="0" bIns="0" anchor="t" rtlCol="0">
              <a:noAutofit/>
            </a:bodyPr>
            <a:lstStyle/>
            <a:p>
              <a:pPr algn="ctr">
                <a:spcAft>
                  <a:spcPts val="300"/>
                </a:spcAft>
                <a:buNone/>
              </a:pPr>
              <a:r>
                <a:rPr lang="es-AR" sz="1250" dirty="0">
                  <a:solidFill>
                    <a:srgbClr val="1E1E1E"/>
                  </a:solidFill>
                  <a:latin typeface="Bahnschrift"/>
                  <a:ea typeface="Bahnschrift"/>
                  <a:cs typeface="Bahnschrift"/>
                  <a:sym typeface="Bahnschrift"/>
                </a:rPr>
                <a:t>prostaglandinas, tromboxanos, leucotrienos</a:t>
              </a:r>
              <a:endParaRPr lang="es-AR" sz="1250" dirty="0">
                <a:latin typeface="Bahnschrift"/>
              </a:endParaRPr>
            </a:p>
          </p:txBody>
        </p:sp>
      </p:grpSp>
      <p:grpSp>
        <p:nvGrpSpPr>
          <p:cNvPr id="36" name="Función Mediadores proresolutivos"/>
          <p:cNvGrpSpPr/>
          <p:nvPr/>
        </p:nvGrpSpPr>
        <p:grpSpPr>
          <a:xfrm>
            <a:off x="5394960" y="2926080"/>
            <a:ext cx="2377440" cy="1737360"/>
            <a:chOff x="5394960" y="2926080"/>
            <a:chExt cx="2377440" cy="1737360"/>
          </a:xfrm>
        </p:grpSpPr>
        <p:sp>
          <p:nvSpPr>
            <p:cNvPr id="37" name="Forma 36"/>
            <p:cNvSpPr/>
            <p:nvPr/>
          </p:nvSpPr>
          <p:spPr>
            <a:xfrm>
              <a:off x="5394960" y="2926080"/>
              <a:ext cx="2377440" cy="17373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sp>
          <p:nvSpPr>
            <p:cNvPr id="38" name="Molécula ag_4"/>
            <p:cNvSpPr/>
            <p:nvPr/>
          </p:nvSpPr>
          <p:spPr>
            <a:xfrm>
              <a:off x="6355080" y="3035808"/>
              <a:ext cx="457200" cy="457200"/>
            </a:xfrm>
            <a:prstGeom prst="ellipse">
              <a:avLst/>
            </a:prstGeom>
            <a:gradFill rotWithShape="1">
              <a:gsLst>
                <a:gs pos="0">
                  <a:srgbClr val="F6D163"/>
                </a:gs>
                <a:gs pos="55000">
                  <a:srgbClr val="F2B90F"/>
                </a:gs>
                <a:gs pos="100000">
                  <a:srgbClr val="C1940C"/>
                </a:gs>
              </a:gsLst>
              <a:path path="circle">
                <a:fillToRect l="32000" t="28000" r="68000" b="72000"/>
              </a:path>
            </a:gradFill>
            <a:ln w="12700" cap="rnd">
              <a:solidFill>
                <a:srgbClr val="856508"/>
              </a:solidFill>
              <a:round/>
            </a:ln>
          </p:spPr>
          <p:txBody>
            <a:bodyPr wrap="square" lIns="0" tIns="0" rIns="0" bIns="0" anchor="ctr" rtlCol="0">
              <a:noAutofit/>
            </a:bodyPr>
            <a:lstStyle/>
            <a:p>
              <a:pPr algn="ctr">
                <a:spcAft>
                  <a:spcPts val="300"/>
                </a:spcAft>
                <a:buNone/>
              </a:pPr>
              <a:endParaRPr lang="es-AR" sz="1300" dirty="0">
                <a:latin typeface="Bahnschrift SemiBold Condensed"/>
              </a:endParaRPr>
            </a:p>
          </p:txBody>
        </p:sp>
        <p:sp>
          <p:nvSpPr>
            <p:cNvPr id="39" name="Forma 38"/>
            <p:cNvSpPr txBox="1"/>
            <p:nvPr/>
          </p:nvSpPr>
          <p:spPr>
            <a:xfrm>
              <a:off x="5486400" y="3611880"/>
              <a:ext cx="2194560" cy="41148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Mediadores proresolutivos</a:t>
              </a:r>
              <a:endParaRPr lang="es-AR" sz="1500" dirty="0">
                <a:latin typeface="Bahnschrift SemiBold Condensed"/>
              </a:endParaRPr>
            </a:p>
          </p:txBody>
        </p:sp>
        <p:sp>
          <p:nvSpPr>
            <p:cNvPr id="40" name="Forma 39"/>
            <p:cNvSpPr txBox="1"/>
            <p:nvPr/>
          </p:nvSpPr>
          <p:spPr>
            <a:xfrm>
              <a:off x="5486400" y="4023360"/>
              <a:ext cx="2194560" cy="594360"/>
            </a:xfrm>
            <a:prstGeom prst="rect">
              <a:avLst/>
            </a:prstGeom>
            <a:noFill/>
            <a:ln>
              <a:noFill/>
            </a:ln>
          </p:spPr>
          <p:txBody>
            <a:bodyPr wrap="square" lIns="0" tIns="0" rIns="0" bIns="0" anchor="t" rtlCol="0">
              <a:noAutofit/>
            </a:bodyPr>
            <a:lstStyle/>
            <a:p>
              <a:pPr algn="ctr">
                <a:spcAft>
                  <a:spcPts val="300"/>
                </a:spcAft>
                <a:buNone/>
              </a:pPr>
              <a:r>
                <a:rPr lang="es-AR" sz="1250" dirty="0">
                  <a:solidFill>
                    <a:srgbClr val="1E1E1E"/>
                  </a:solidFill>
                  <a:latin typeface="Bahnschrift"/>
                  <a:ea typeface="Bahnschrift"/>
                  <a:cs typeface="Bahnschrift"/>
                  <a:sym typeface="Bahnschrift"/>
                </a:rPr>
                <a:t>desde ciertos PUFA</a:t>
              </a:r>
              <a:endParaRPr lang="es-AR" sz="1250" dirty="0">
                <a:latin typeface="Bahnschrift"/>
              </a:endParaRPr>
            </a:p>
          </p:txBody>
        </p:sp>
      </p:grpSp>
      <p:grpSp>
        <p:nvGrpSpPr>
          <p:cNvPr id="41" name="Recuadro Déficit"/>
          <p:cNvGrpSpPr/>
          <p:nvPr/>
        </p:nvGrpSpPr>
        <p:grpSpPr>
          <a:xfrm>
            <a:off x="8092440" y="1005840"/>
            <a:ext cx="3703320" cy="2880360"/>
            <a:chOff x="8092440" y="1005840"/>
            <a:chExt cx="3703320" cy="2880360"/>
          </a:xfrm>
        </p:grpSpPr>
        <p:sp>
          <p:nvSpPr>
            <p:cNvPr id="42" name="Forma 41"/>
            <p:cNvSpPr/>
            <p:nvPr/>
          </p:nvSpPr>
          <p:spPr>
            <a:xfrm>
              <a:off x="8092440" y="1188720"/>
              <a:ext cx="3703320" cy="26974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Dermatitis descamativa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Alteración del crecimiento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pérdida transepidérmica de agua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Anomalías reproductivas/inmunes (casos avanzados)</a:t>
              </a:r>
              <a:endParaRPr lang="es-AR" sz="1650" dirty="0">
                <a:latin typeface="Bahnschrift"/>
              </a:endParaRPr>
            </a:p>
          </p:txBody>
        </p:sp>
        <p:sp>
          <p:nvSpPr>
            <p:cNvPr id="43" name="Forma 42"/>
            <p:cNvSpPr/>
            <p:nvPr/>
          </p:nvSpPr>
          <p:spPr>
            <a:xfrm>
              <a:off x="8202168" y="1005840"/>
              <a:ext cx="89421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DÉFICIT</a:t>
              </a:r>
              <a:endParaRPr lang="es-AR" sz="1500" dirty="0">
                <a:latin typeface="Bahnschrift SemiBold Condensed"/>
              </a:endParaRPr>
            </a:p>
          </p:txBody>
        </p:sp>
      </p:grpSp>
      <p:grpSp>
        <p:nvGrpSpPr>
          <p:cNvPr id="44" name="Recuadro Clínica"/>
          <p:cNvGrpSpPr/>
          <p:nvPr/>
        </p:nvGrpSpPr>
        <p:grpSpPr>
          <a:xfrm>
            <a:off x="8092440" y="4069080"/>
            <a:ext cx="3703320" cy="2423160"/>
            <a:chOff x="8092440" y="4069080"/>
            <a:chExt cx="3703320" cy="2423160"/>
          </a:xfrm>
        </p:grpSpPr>
        <p:sp>
          <p:nvSpPr>
            <p:cNvPr id="45" name="Forma 44"/>
            <p:cNvSpPr/>
            <p:nvPr/>
          </p:nvSpPr>
          <p:spPr>
            <a:xfrm>
              <a:off x="8092440" y="4251960"/>
              <a:ext cx="3703320" cy="22402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Deben garantizarse en dietas </a:t>
              </a:r>
              <a:r>
                <a:rPr lang="es-AR" sz="1600" b="1" dirty="0">
                  <a:solidFill>
                    <a:srgbClr val="1E1E1E"/>
                  </a:solidFill>
                  <a:latin typeface="Bahnschrift"/>
                  <a:ea typeface="Bahnschrift"/>
                  <a:cs typeface="Bahnschrift"/>
                  <a:sym typeface="Bahnschrift"/>
                </a:rPr>
                <a:t>muy bajas en grasa</a:t>
              </a:r>
              <a:r>
                <a:rPr lang="es-AR" sz="1600" dirty="0">
                  <a:solidFill>
                    <a:srgbClr val="1E1E1E"/>
                  </a:solidFill>
                  <a:latin typeface="Bahnschrift"/>
                  <a:ea typeface="Bahnschrift"/>
                  <a:cs typeface="Bahnschrift"/>
                  <a:sym typeface="Bahnschrift"/>
                </a:rPr>
                <a:t> (por ejemplo, quilomicronemia). DHA: </a:t>
              </a:r>
              <a:r>
                <a:rPr lang="es-AR" sz="1600" b="1" dirty="0">
                  <a:solidFill>
                    <a:srgbClr val="1E1E1E"/>
                  </a:solidFill>
                  <a:latin typeface="Bahnschrift"/>
                  <a:ea typeface="Bahnschrift"/>
                  <a:cs typeface="Bahnschrift"/>
                  <a:sym typeface="Bahnschrift"/>
                </a:rPr>
                <a:t>condicionalmente</a:t>
              </a:r>
              <a:r>
                <a:rPr lang="es-AR" sz="1600" dirty="0">
                  <a:solidFill>
                    <a:srgbClr val="1E1E1E"/>
                  </a:solidFill>
                  <a:latin typeface="Bahnschrift"/>
                  <a:ea typeface="Bahnschrift"/>
                  <a:cs typeface="Bahnschrift"/>
                  <a:sym typeface="Bahnschrift"/>
                </a:rPr>
                <a:t> importante en el desarrollo.</a:t>
              </a:r>
              <a:endParaRPr lang="es-AR" sz="1600" dirty="0">
                <a:latin typeface="Bahnschrift"/>
              </a:endParaRPr>
            </a:p>
          </p:txBody>
        </p:sp>
        <p:sp>
          <p:nvSpPr>
            <p:cNvPr id="46" name="Forma 45"/>
            <p:cNvSpPr/>
            <p:nvPr/>
          </p:nvSpPr>
          <p:spPr>
            <a:xfrm>
              <a:off x="8202168" y="4069080"/>
              <a:ext cx="89372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CLÍNICA</a:t>
              </a:r>
              <a:endParaRPr lang="es-AR" sz="1450" dirty="0">
                <a:latin typeface="Bahnschrift SemiBold Condensed"/>
              </a:endParaRPr>
            </a:p>
          </p:txBody>
        </p:sp>
      </p:grpSp>
      <p:sp>
        <p:nvSpPr>
          <p:cNvPr id="47" name="Perla"/>
          <p:cNvSpPr/>
          <p:nvPr/>
        </p:nvSpPr>
        <p:spPr>
          <a:xfrm>
            <a:off x="365760" y="4937760"/>
            <a:ext cx="749808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AA y EPA compiten parcialmente por enzimas, pero el efecto depende de </a:t>
            </a:r>
            <a:r>
              <a:rPr lang="es-AR" sz="1700" b="1" dirty="0">
                <a:solidFill>
                  <a:srgbClr val="FFFFFF"/>
                </a:solidFill>
                <a:latin typeface="Bahnschrift"/>
                <a:ea typeface="Bahnschrift"/>
                <a:cs typeface="Bahnschrift"/>
                <a:sym typeface="Bahnschrift"/>
              </a:rPr>
              <a:t>dosis y tejido</a:t>
            </a:r>
            <a:r>
              <a:rPr lang="es-AR" sz="1700" dirty="0">
                <a:solidFill>
                  <a:srgbClr val="FFFFFF"/>
                </a:solidFill>
                <a:latin typeface="Bahnschrift"/>
                <a:ea typeface="Bahnschrift"/>
                <a:cs typeface="Bahnschrift"/>
                <a:sym typeface="Bahnschrift"/>
              </a:rPr>
              <a:t>: evitar la simplificación «omega-6 malo, omega-3 bueno».</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769605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18 · FUNCIONES Y DÉFICIT DE ÁCIDOS GRASOS ESENCIALES</a:t>
            </a:r>
            <a:endParaRPr lang="es-AR" sz="2600" dirty="0">
              <a:latin typeface="Bahnschrift SemiBold Condensed"/>
            </a:endParaRPr>
          </a:p>
        </p:txBody>
      </p:sp>
      <p:sp>
        <p:nvSpPr>
          <p:cNvPr id="4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2"/>
                                        </p:tgtEl>
                                        <p:attrNameLst>
                                          <p:attrName>style.visibility</p:attrName>
                                        </p:attrNameLst>
                                      </p:cBhvr>
                                      <p:to>
                                        <p:strVal val="visible"/>
                                      </p:to>
                                    </p:set>
                                    <p:animEffect transition="in" filter="fade">
                                      <p:cBhvr>
                                        <p:cTn id="9" dur="500"/>
                                        <p:tgtEl>
                                          <p:spTgt spid="12"/>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par>
                          <p:cTn id="18"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par>
                          <p:cTn id="22"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childTnLst>
                          </p:cTn>
                        </p:par>
                        <p:par>
                          <p:cTn id="26"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500"/>
                                        <p:tgtEl>
                                          <p:spTgt spid="41"/>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fade">
                                      <p:cBhvr>
                                        <p:cTn id="35" dur="500"/>
                                        <p:tgtEl>
                                          <p:spTgt spid="44"/>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115.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QM grande"/>
          <p:cNvGrpSpPr/>
          <p:nvPr/>
        </p:nvGrpSpPr>
        <p:grpSpPr>
          <a:xfrm>
            <a:off x="548640" y="874478"/>
            <a:ext cx="2808684" cy="2417362"/>
            <a:chOff x="548640" y="874478"/>
            <a:chExt cx="2808684" cy="2417362"/>
          </a:xfrm>
        </p:grpSpPr>
        <p:sp>
          <p:nvSpPr>
            <p:cNvPr id="5" name="Forma 4"/>
            <p:cNvSpPr/>
            <p:nvPr/>
          </p:nvSpPr>
          <p:spPr>
            <a:xfrm>
              <a:off x="548640" y="1097280"/>
              <a:ext cx="2194560" cy="219456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6" name="Forma 5"/>
            <p:cNvSpPr/>
            <p:nvPr/>
          </p:nvSpPr>
          <p:spPr>
            <a:xfrm>
              <a:off x="548640" y="1097280"/>
              <a:ext cx="2194560" cy="2194560"/>
            </a:xfrm>
            <a:custGeom>
              <a:avLst/>
              <a:gdLst/>
              <a:ahLst/>
              <a:cxnLst/>
              <a:rect l="0" t="0" r="r" b="b"/>
              <a:pathLst>
                <a:path w="1000" h="1000">
                  <a:moveTo>
                    <a:pt x="983" y="500"/>
                  </a:moveTo>
                  <a:cubicBezTo>
                    <a:pt x="983" y="507"/>
                    <a:pt x="977" y="513"/>
                    <a:pt x="970" y="513"/>
                  </a:cubicBezTo>
                  <a:cubicBezTo>
                    <a:pt x="962" y="513"/>
                    <a:pt x="957" y="507"/>
                    <a:pt x="957" y="500"/>
                  </a:cubicBezTo>
                  <a:cubicBezTo>
                    <a:pt x="957" y="492"/>
                    <a:pt x="962" y="487"/>
                    <a:pt x="970" y="487"/>
                  </a:cubicBezTo>
                  <a:cubicBezTo>
                    <a:pt x="977" y="487"/>
                    <a:pt x="983" y="492"/>
                    <a:pt x="983" y="500"/>
                  </a:cubicBezTo>
                  <a:close/>
                  <a:moveTo>
                    <a:pt x="982" y="527"/>
                  </a:moveTo>
                  <a:cubicBezTo>
                    <a:pt x="982" y="534"/>
                    <a:pt x="976" y="540"/>
                    <a:pt x="969" y="540"/>
                  </a:cubicBezTo>
                  <a:cubicBezTo>
                    <a:pt x="961" y="540"/>
                    <a:pt x="956" y="534"/>
                    <a:pt x="956" y="527"/>
                  </a:cubicBezTo>
                  <a:cubicBezTo>
                    <a:pt x="956" y="519"/>
                    <a:pt x="961" y="514"/>
                    <a:pt x="969" y="514"/>
                  </a:cubicBezTo>
                  <a:cubicBezTo>
                    <a:pt x="976" y="514"/>
                    <a:pt x="982" y="519"/>
                    <a:pt x="982" y="527"/>
                  </a:cubicBezTo>
                  <a:close/>
                  <a:moveTo>
                    <a:pt x="979" y="555"/>
                  </a:moveTo>
                  <a:cubicBezTo>
                    <a:pt x="979" y="562"/>
                    <a:pt x="973" y="568"/>
                    <a:pt x="966" y="568"/>
                  </a:cubicBezTo>
                  <a:cubicBezTo>
                    <a:pt x="958" y="568"/>
                    <a:pt x="953" y="562"/>
                    <a:pt x="953" y="555"/>
                  </a:cubicBezTo>
                  <a:cubicBezTo>
                    <a:pt x="953" y="547"/>
                    <a:pt x="958" y="542"/>
                    <a:pt x="966" y="542"/>
                  </a:cubicBezTo>
                  <a:cubicBezTo>
                    <a:pt x="973" y="542"/>
                    <a:pt x="979" y="547"/>
                    <a:pt x="979" y="555"/>
                  </a:cubicBezTo>
                  <a:close/>
                  <a:moveTo>
                    <a:pt x="975" y="582"/>
                  </a:moveTo>
                  <a:cubicBezTo>
                    <a:pt x="975" y="589"/>
                    <a:pt x="969" y="595"/>
                    <a:pt x="962" y="595"/>
                  </a:cubicBezTo>
                  <a:cubicBezTo>
                    <a:pt x="954" y="595"/>
                    <a:pt x="949" y="589"/>
                    <a:pt x="949" y="582"/>
                  </a:cubicBezTo>
                  <a:cubicBezTo>
                    <a:pt x="949" y="574"/>
                    <a:pt x="954" y="569"/>
                    <a:pt x="962" y="569"/>
                  </a:cubicBezTo>
                  <a:cubicBezTo>
                    <a:pt x="969" y="569"/>
                    <a:pt x="975" y="574"/>
                    <a:pt x="975" y="582"/>
                  </a:cubicBezTo>
                  <a:close/>
                  <a:moveTo>
                    <a:pt x="970" y="609"/>
                  </a:moveTo>
                  <a:cubicBezTo>
                    <a:pt x="970" y="616"/>
                    <a:pt x="964" y="622"/>
                    <a:pt x="957" y="622"/>
                  </a:cubicBezTo>
                  <a:cubicBezTo>
                    <a:pt x="949" y="622"/>
                    <a:pt x="944" y="616"/>
                    <a:pt x="944" y="609"/>
                  </a:cubicBezTo>
                  <a:cubicBezTo>
                    <a:pt x="944" y="601"/>
                    <a:pt x="949" y="596"/>
                    <a:pt x="957" y="596"/>
                  </a:cubicBezTo>
                  <a:cubicBezTo>
                    <a:pt x="964" y="596"/>
                    <a:pt x="970" y="601"/>
                    <a:pt x="970" y="609"/>
                  </a:cubicBezTo>
                  <a:close/>
                  <a:moveTo>
                    <a:pt x="962" y="636"/>
                  </a:moveTo>
                  <a:cubicBezTo>
                    <a:pt x="962" y="643"/>
                    <a:pt x="956" y="649"/>
                    <a:pt x="949" y="649"/>
                  </a:cubicBezTo>
                  <a:cubicBezTo>
                    <a:pt x="941" y="649"/>
                    <a:pt x="936" y="643"/>
                    <a:pt x="936" y="636"/>
                  </a:cubicBezTo>
                  <a:cubicBezTo>
                    <a:pt x="936" y="628"/>
                    <a:pt x="941" y="623"/>
                    <a:pt x="949" y="623"/>
                  </a:cubicBezTo>
                  <a:cubicBezTo>
                    <a:pt x="956" y="623"/>
                    <a:pt x="962" y="628"/>
                    <a:pt x="962" y="636"/>
                  </a:cubicBezTo>
                  <a:close/>
                  <a:moveTo>
                    <a:pt x="954" y="662"/>
                  </a:moveTo>
                  <a:cubicBezTo>
                    <a:pt x="954" y="669"/>
                    <a:pt x="948" y="675"/>
                    <a:pt x="941" y="675"/>
                  </a:cubicBezTo>
                  <a:cubicBezTo>
                    <a:pt x="933" y="675"/>
                    <a:pt x="928" y="669"/>
                    <a:pt x="928" y="662"/>
                  </a:cubicBezTo>
                  <a:cubicBezTo>
                    <a:pt x="928" y="654"/>
                    <a:pt x="933" y="649"/>
                    <a:pt x="941" y="649"/>
                  </a:cubicBezTo>
                  <a:cubicBezTo>
                    <a:pt x="948" y="649"/>
                    <a:pt x="954" y="654"/>
                    <a:pt x="954" y="662"/>
                  </a:cubicBezTo>
                  <a:close/>
                  <a:moveTo>
                    <a:pt x="943" y="687"/>
                  </a:moveTo>
                  <a:cubicBezTo>
                    <a:pt x="943" y="694"/>
                    <a:pt x="937" y="700"/>
                    <a:pt x="930" y="700"/>
                  </a:cubicBezTo>
                  <a:cubicBezTo>
                    <a:pt x="922" y="700"/>
                    <a:pt x="917" y="694"/>
                    <a:pt x="917" y="687"/>
                  </a:cubicBezTo>
                  <a:cubicBezTo>
                    <a:pt x="917" y="679"/>
                    <a:pt x="922" y="674"/>
                    <a:pt x="930" y="674"/>
                  </a:cubicBezTo>
                  <a:cubicBezTo>
                    <a:pt x="937" y="674"/>
                    <a:pt x="943" y="679"/>
                    <a:pt x="943" y="687"/>
                  </a:cubicBezTo>
                  <a:close/>
                  <a:moveTo>
                    <a:pt x="932" y="712"/>
                  </a:moveTo>
                  <a:cubicBezTo>
                    <a:pt x="932" y="719"/>
                    <a:pt x="926" y="725"/>
                    <a:pt x="919" y="725"/>
                  </a:cubicBezTo>
                  <a:cubicBezTo>
                    <a:pt x="911" y="725"/>
                    <a:pt x="906" y="719"/>
                    <a:pt x="906" y="712"/>
                  </a:cubicBezTo>
                  <a:cubicBezTo>
                    <a:pt x="906" y="704"/>
                    <a:pt x="911" y="699"/>
                    <a:pt x="919" y="699"/>
                  </a:cubicBezTo>
                  <a:cubicBezTo>
                    <a:pt x="926" y="699"/>
                    <a:pt x="932" y="704"/>
                    <a:pt x="932" y="712"/>
                  </a:cubicBezTo>
                  <a:close/>
                  <a:moveTo>
                    <a:pt x="918" y="736"/>
                  </a:moveTo>
                  <a:cubicBezTo>
                    <a:pt x="918" y="743"/>
                    <a:pt x="912" y="749"/>
                    <a:pt x="905" y="749"/>
                  </a:cubicBezTo>
                  <a:cubicBezTo>
                    <a:pt x="897" y="749"/>
                    <a:pt x="892" y="743"/>
                    <a:pt x="892" y="736"/>
                  </a:cubicBezTo>
                  <a:cubicBezTo>
                    <a:pt x="892" y="728"/>
                    <a:pt x="897" y="723"/>
                    <a:pt x="905" y="723"/>
                  </a:cubicBezTo>
                  <a:cubicBezTo>
                    <a:pt x="912" y="723"/>
                    <a:pt x="918" y="728"/>
                    <a:pt x="918" y="736"/>
                  </a:cubicBezTo>
                  <a:close/>
                  <a:moveTo>
                    <a:pt x="904" y="760"/>
                  </a:moveTo>
                  <a:cubicBezTo>
                    <a:pt x="904" y="767"/>
                    <a:pt x="898" y="773"/>
                    <a:pt x="891" y="773"/>
                  </a:cubicBezTo>
                  <a:cubicBezTo>
                    <a:pt x="883" y="773"/>
                    <a:pt x="878" y="767"/>
                    <a:pt x="878" y="760"/>
                  </a:cubicBezTo>
                  <a:cubicBezTo>
                    <a:pt x="878" y="752"/>
                    <a:pt x="883" y="747"/>
                    <a:pt x="891" y="747"/>
                  </a:cubicBezTo>
                  <a:cubicBezTo>
                    <a:pt x="898" y="747"/>
                    <a:pt x="904" y="752"/>
                    <a:pt x="904" y="760"/>
                  </a:cubicBezTo>
                  <a:close/>
                  <a:moveTo>
                    <a:pt x="888" y="782"/>
                  </a:moveTo>
                  <a:cubicBezTo>
                    <a:pt x="888" y="789"/>
                    <a:pt x="882" y="795"/>
                    <a:pt x="875" y="795"/>
                  </a:cubicBezTo>
                  <a:cubicBezTo>
                    <a:pt x="867" y="795"/>
                    <a:pt x="862" y="789"/>
                    <a:pt x="862" y="782"/>
                  </a:cubicBezTo>
                  <a:cubicBezTo>
                    <a:pt x="862" y="774"/>
                    <a:pt x="867" y="769"/>
                    <a:pt x="875" y="769"/>
                  </a:cubicBezTo>
                  <a:cubicBezTo>
                    <a:pt x="882" y="769"/>
                    <a:pt x="888" y="774"/>
                    <a:pt x="888" y="782"/>
                  </a:cubicBezTo>
                  <a:close/>
                  <a:moveTo>
                    <a:pt x="871" y="804"/>
                  </a:moveTo>
                  <a:cubicBezTo>
                    <a:pt x="871" y="811"/>
                    <a:pt x="865" y="817"/>
                    <a:pt x="858" y="817"/>
                  </a:cubicBezTo>
                  <a:cubicBezTo>
                    <a:pt x="850" y="817"/>
                    <a:pt x="845" y="811"/>
                    <a:pt x="845" y="804"/>
                  </a:cubicBezTo>
                  <a:cubicBezTo>
                    <a:pt x="845" y="796"/>
                    <a:pt x="850" y="791"/>
                    <a:pt x="858" y="791"/>
                  </a:cubicBezTo>
                  <a:cubicBezTo>
                    <a:pt x="865" y="791"/>
                    <a:pt x="871" y="796"/>
                    <a:pt x="871" y="804"/>
                  </a:cubicBezTo>
                  <a:close/>
                  <a:moveTo>
                    <a:pt x="852" y="824"/>
                  </a:moveTo>
                  <a:cubicBezTo>
                    <a:pt x="852" y="831"/>
                    <a:pt x="846" y="837"/>
                    <a:pt x="839" y="837"/>
                  </a:cubicBezTo>
                  <a:cubicBezTo>
                    <a:pt x="831" y="837"/>
                    <a:pt x="826" y="831"/>
                    <a:pt x="826" y="824"/>
                  </a:cubicBezTo>
                  <a:cubicBezTo>
                    <a:pt x="826" y="816"/>
                    <a:pt x="831" y="811"/>
                    <a:pt x="839" y="811"/>
                  </a:cubicBezTo>
                  <a:cubicBezTo>
                    <a:pt x="846" y="811"/>
                    <a:pt x="852" y="816"/>
                    <a:pt x="852" y="824"/>
                  </a:cubicBezTo>
                  <a:close/>
                  <a:moveTo>
                    <a:pt x="832" y="844"/>
                  </a:moveTo>
                  <a:cubicBezTo>
                    <a:pt x="832" y="851"/>
                    <a:pt x="826" y="857"/>
                    <a:pt x="819" y="857"/>
                  </a:cubicBezTo>
                  <a:cubicBezTo>
                    <a:pt x="811" y="857"/>
                    <a:pt x="806" y="851"/>
                    <a:pt x="806" y="844"/>
                  </a:cubicBezTo>
                  <a:cubicBezTo>
                    <a:pt x="806" y="836"/>
                    <a:pt x="811" y="831"/>
                    <a:pt x="819" y="831"/>
                  </a:cubicBezTo>
                  <a:cubicBezTo>
                    <a:pt x="826" y="831"/>
                    <a:pt x="832" y="836"/>
                    <a:pt x="832" y="844"/>
                  </a:cubicBezTo>
                  <a:close/>
                  <a:moveTo>
                    <a:pt x="812" y="862"/>
                  </a:moveTo>
                  <a:cubicBezTo>
                    <a:pt x="812" y="869"/>
                    <a:pt x="806" y="875"/>
                    <a:pt x="799" y="875"/>
                  </a:cubicBezTo>
                  <a:cubicBezTo>
                    <a:pt x="791" y="875"/>
                    <a:pt x="786" y="869"/>
                    <a:pt x="786" y="862"/>
                  </a:cubicBezTo>
                  <a:cubicBezTo>
                    <a:pt x="786" y="854"/>
                    <a:pt x="791" y="849"/>
                    <a:pt x="799" y="849"/>
                  </a:cubicBezTo>
                  <a:cubicBezTo>
                    <a:pt x="806" y="849"/>
                    <a:pt x="812" y="854"/>
                    <a:pt x="812" y="862"/>
                  </a:cubicBezTo>
                  <a:close/>
                  <a:moveTo>
                    <a:pt x="790" y="879"/>
                  </a:moveTo>
                  <a:cubicBezTo>
                    <a:pt x="790" y="886"/>
                    <a:pt x="784" y="892"/>
                    <a:pt x="777" y="892"/>
                  </a:cubicBezTo>
                  <a:cubicBezTo>
                    <a:pt x="769" y="892"/>
                    <a:pt x="764" y="886"/>
                    <a:pt x="764" y="879"/>
                  </a:cubicBezTo>
                  <a:cubicBezTo>
                    <a:pt x="764" y="871"/>
                    <a:pt x="769" y="866"/>
                    <a:pt x="777" y="866"/>
                  </a:cubicBezTo>
                  <a:cubicBezTo>
                    <a:pt x="784" y="866"/>
                    <a:pt x="790" y="871"/>
                    <a:pt x="790" y="879"/>
                  </a:cubicBezTo>
                  <a:close/>
                  <a:moveTo>
                    <a:pt x="767" y="895"/>
                  </a:moveTo>
                  <a:cubicBezTo>
                    <a:pt x="767" y="902"/>
                    <a:pt x="761" y="908"/>
                    <a:pt x="754" y="908"/>
                  </a:cubicBezTo>
                  <a:cubicBezTo>
                    <a:pt x="746" y="908"/>
                    <a:pt x="741" y="902"/>
                    <a:pt x="741" y="895"/>
                  </a:cubicBezTo>
                  <a:cubicBezTo>
                    <a:pt x="741" y="887"/>
                    <a:pt x="746" y="882"/>
                    <a:pt x="754" y="882"/>
                  </a:cubicBezTo>
                  <a:cubicBezTo>
                    <a:pt x="761" y="882"/>
                    <a:pt x="767" y="887"/>
                    <a:pt x="767" y="895"/>
                  </a:cubicBezTo>
                  <a:close/>
                  <a:moveTo>
                    <a:pt x="744" y="909"/>
                  </a:moveTo>
                  <a:cubicBezTo>
                    <a:pt x="744" y="916"/>
                    <a:pt x="738" y="922"/>
                    <a:pt x="731" y="922"/>
                  </a:cubicBezTo>
                  <a:cubicBezTo>
                    <a:pt x="723" y="922"/>
                    <a:pt x="718" y="916"/>
                    <a:pt x="718" y="909"/>
                  </a:cubicBezTo>
                  <a:cubicBezTo>
                    <a:pt x="718" y="901"/>
                    <a:pt x="723" y="896"/>
                    <a:pt x="731" y="896"/>
                  </a:cubicBezTo>
                  <a:cubicBezTo>
                    <a:pt x="738" y="896"/>
                    <a:pt x="744" y="901"/>
                    <a:pt x="744" y="909"/>
                  </a:cubicBezTo>
                  <a:close/>
                  <a:moveTo>
                    <a:pt x="719" y="922"/>
                  </a:moveTo>
                  <a:cubicBezTo>
                    <a:pt x="719" y="929"/>
                    <a:pt x="713" y="935"/>
                    <a:pt x="706" y="935"/>
                  </a:cubicBezTo>
                  <a:cubicBezTo>
                    <a:pt x="698" y="935"/>
                    <a:pt x="693" y="929"/>
                    <a:pt x="693" y="922"/>
                  </a:cubicBezTo>
                  <a:cubicBezTo>
                    <a:pt x="693" y="914"/>
                    <a:pt x="698" y="909"/>
                    <a:pt x="706" y="909"/>
                  </a:cubicBezTo>
                  <a:cubicBezTo>
                    <a:pt x="713" y="909"/>
                    <a:pt x="719" y="914"/>
                    <a:pt x="719" y="922"/>
                  </a:cubicBezTo>
                  <a:close/>
                  <a:moveTo>
                    <a:pt x="694" y="933"/>
                  </a:moveTo>
                  <a:cubicBezTo>
                    <a:pt x="694" y="940"/>
                    <a:pt x="688" y="946"/>
                    <a:pt x="681" y="946"/>
                  </a:cubicBezTo>
                  <a:cubicBezTo>
                    <a:pt x="673" y="946"/>
                    <a:pt x="668" y="940"/>
                    <a:pt x="668" y="933"/>
                  </a:cubicBezTo>
                  <a:cubicBezTo>
                    <a:pt x="668" y="925"/>
                    <a:pt x="673" y="920"/>
                    <a:pt x="681" y="920"/>
                  </a:cubicBezTo>
                  <a:cubicBezTo>
                    <a:pt x="688" y="920"/>
                    <a:pt x="694" y="925"/>
                    <a:pt x="694" y="933"/>
                  </a:cubicBezTo>
                  <a:close/>
                  <a:moveTo>
                    <a:pt x="668" y="943"/>
                  </a:moveTo>
                  <a:cubicBezTo>
                    <a:pt x="668" y="950"/>
                    <a:pt x="662" y="956"/>
                    <a:pt x="655" y="956"/>
                  </a:cubicBezTo>
                  <a:cubicBezTo>
                    <a:pt x="647" y="956"/>
                    <a:pt x="642" y="950"/>
                    <a:pt x="642" y="943"/>
                  </a:cubicBezTo>
                  <a:cubicBezTo>
                    <a:pt x="642" y="935"/>
                    <a:pt x="647" y="930"/>
                    <a:pt x="655" y="930"/>
                  </a:cubicBezTo>
                  <a:cubicBezTo>
                    <a:pt x="662" y="930"/>
                    <a:pt x="668" y="935"/>
                    <a:pt x="668" y="943"/>
                  </a:cubicBezTo>
                  <a:close/>
                  <a:moveTo>
                    <a:pt x="642" y="951"/>
                  </a:moveTo>
                  <a:cubicBezTo>
                    <a:pt x="642" y="958"/>
                    <a:pt x="636" y="964"/>
                    <a:pt x="629" y="964"/>
                  </a:cubicBezTo>
                  <a:cubicBezTo>
                    <a:pt x="621" y="964"/>
                    <a:pt x="616" y="958"/>
                    <a:pt x="616" y="951"/>
                  </a:cubicBezTo>
                  <a:cubicBezTo>
                    <a:pt x="616" y="943"/>
                    <a:pt x="621" y="938"/>
                    <a:pt x="629" y="938"/>
                  </a:cubicBezTo>
                  <a:cubicBezTo>
                    <a:pt x="636" y="938"/>
                    <a:pt x="642" y="943"/>
                    <a:pt x="642" y="951"/>
                  </a:cubicBezTo>
                  <a:close/>
                  <a:moveTo>
                    <a:pt x="615" y="958"/>
                  </a:moveTo>
                  <a:cubicBezTo>
                    <a:pt x="615" y="965"/>
                    <a:pt x="609" y="971"/>
                    <a:pt x="602" y="971"/>
                  </a:cubicBezTo>
                  <a:cubicBezTo>
                    <a:pt x="594" y="971"/>
                    <a:pt x="589" y="965"/>
                    <a:pt x="589" y="958"/>
                  </a:cubicBezTo>
                  <a:cubicBezTo>
                    <a:pt x="589" y="950"/>
                    <a:pt x="594" y="945"/>
                    <a:pt x="602" y="945"/>
                  </a:cubicBezTo>
                  <a:cubicBezTo>
                    <a:pt x="609" y="945"/>
                    <a:pt x="615" y="950"/>
                    <a:pt x="615" y="958"/>
                  </a:cubicBezTo>
                  <a:close/>
                  <a:moveTo>
                    <a:pt x="588" y="963"/>
                  </a:moveTo>
                  <a:cubicBezTo>
                    <a:pt x="588" y="970"/>
                    <a:pt x="582" y="976"/>
                    <a:pt x="575" y="976"/>
                  </a:cubicBezTo>
                  <a:cubicBezTo>
                    <a:pt x="567" y="976"/>
                    <a:pt x="562" y="970"/>
                    <a:pt x="562" y="963"/>
                  </a:cubicBezTo>
                  <a:cubicBezTo>
                    <a:pt x="562" y="955"/>
                    <a:pt x="567" y="950"/>
                    <a:pt x="575" y="950"/>
                  </a:cubicBezTo>
                  <a:cubicBezTo>
                    <a:pt x="582" y="950"/>
                    <a:pt x="588" y="955"/>
                    <a:pt x="588" y="963"/>
                  </a:cubicBezTo>
                  <a:close/>
                  <a:moveTo>
                    <a:pt x="561" y="967"/>
                  </a:moveTo>
                  <a:cubicBezTo>
                    <a:pt x="561" y="974"/>
                    <a:pt x="555" y="980"/>
                    <a:pt x="548" y="980"/>
                  </a:cubicBezTo>
                  <a:cubicBezTo>
                    <a:pt x="540" y="980"/>
                    <a:pt x="535" y="974"/>
                    <a:pt x="535" y="967"/>
                  </a:cubicBezTo>
                  <a:cubicBezTo>
                    <a:pt x="535" y="959"/>
                    <a:pt x="540" y="954"/>
                    <a:pt x="548" y="954"/>
                  </a:cubicBezTo>
                  <a:cubicBezTo>
                    <a:pt x="555" y="954"/>
                    <a:pt x="561" y="959"/>
                    <a:pt x="561" y="967"/>
                  </a:cubicBezTo>
                  <a:close/>
                  <a:moveTo>
                    <a:pt x="533" y="969"/>
                  </a:moveTo>
                  <a:cubicBezTo>
                    <a:pt x="533" y="976"/>
                    <a:pt x="527" y="982"/>
                    <a:pt x="520" y="982"/>
                  </a:cubicBezTo>
                  <a:cubicBezTo>
                    <a:pt x="512" y="982"/>
                    <a:pt x="507" y="976"/>
                    <a:pt x="507" y="969"/>
                  </a:cubicBezTo>
                  <a:cubicBezTo>
                    <a:pt x="507" y="961"/>
                    <a:pt x="512" y="956"/>
                    <a:pt x="520" y="956"/>
                  </a:cubicBezTo>
                  <a:cubicBezTo>
                    <a:pt x="527" y="956"/>
                    <a:pt x="533" y="961"/>
                    <a:pt x="533" y="969"/>
                  </a:cubicBezTo>
                  <a:close/>
                  <a:moveTo>
                    <a:pt x="506" y="969"/>
                  </a:moveTo>
                  <a:cubicBezTo>
                    <a:pt x="506" y="976"/>
                    <a:pt x="500" y="982"/>
                    <a:pt x="493" y="982"/>
                  </a:cubicBezTo>
                  <a:cubicBezTo>
                    <a:pt x="485" y="982"/>
                    <a:pt x="480" y="976"/>
                    <a:pt x="480" y="969"/>
                  </a:cubicBezTo>
                  <a:cubicBezTo>
                    <a:pt x="480" y="961"/>
                    <a:pt x="485" y="956"/>
                    <a:pt x="493" y="956"/>
                  </a:cubicBezTo>
                  <a:cubicBezTo>
                    <a:pt x="500" y="956"/>
                    <a:pt x="506" y="961"/>
                    <a:pt x="506" y="969"/>
                  </a:cubicBezTo>
                  <a:close/>
                  <a:moveTo>
                    <a:pt x="478" y="968"/>
                  </a:moveTo>
                  <a:cubicBezTo>
                    <a:pt x="478" y="975"/>
                    <a:pt x="472" y="981"/>
                    <a:pt x="465" y="981"/>
                  </a:cubicBezTo>
                  <a:cubicBezTo>
                    <a:pt x="457" y="981"/>
                    <a:pt x="452" y="975"/>
                    <a:pt x="452" y="968"/>
                  </a:cubicBezTo>
                  <a:cubicBezTo>
                    <a:pt x="452" y="960"/>
                    <a:pt x="457" y="955"/>
                    <a:pt x="465" y="955"/>
                  </a:cubicBezTo>
                  <a:cubicBezTo>
                    <a:pt x="472" y="955"/>
                    <a:pt x="478" y="960"/>
                    <a:pt x="478" y="968"/>
                  </a:cubicBezTo>
                  <a:close/>
                  <a:moveTo>
                    <a:pt x="451" y="965"/>
                  </a:moveTo>
                  <a:cubicBezTo>
                    <a:pt x="451" y="972"/>
                    <a:pt x="445" y="978"/>
                    <a:pt x="438" y="978"/>
                  </a:cubicBezTo>
                  <a:cubicBezTo>
                    <a:pt x="430" y="978"/>
                    <a:pt x="425" y="972"/>
                    <a:pt x="425" y="965"/>
                  </a:cubicBezTo>
                  <a:cubicBezTo>
                    <a:pt x="425" y="957"/>
                    <a:pt x="430" y="952"/>
                    <a:pt x="438" y="952"/>
                  </a:cubicBezTo>
                  <a:cubicBezTo>
                    <a:pt x="445" y="952"/>
                    <a:pt x="451" y="957"/>
                    <a:pt x="451" y="965"/>
                  </a:cubicBezTo>
                  <a:close/>
                  <a:moveTo>
                    <a:pt x="423" y="961"/>
                  </a:moveTo>
                  <a:cubicBezTo>
                    <a:pt x="423" y="968"/>
                    <a:pt x="417" y="974"/>
                    <a:pt x="410" y="974"/>
                  </a:cubicBezTo>
                  <a:cubicBezTo>
                    <a:pt x="402" y="974"/>
                    <a:pt x="397" y="968"/>
                    <a:pt x="397" y="961"/>
                  </a:cubicBezTo>
                  <a:cubicBezTo>
                    <a:pt x="397" y="953"/>
                    <a:pt x="402" y="948"/>
                    <a:pt x="410" y="948"/>
                  </a:cubicBezTo>
                  <a:cubicBezTo>
                    <a:pt x="417" y="948"/>
                    <a:pt x="423" y="953"/>
                    <a:pt x="423" y="961"/>
                  </a:cubicBezTo>
                  <a:close/>
                  <a:moveTo>
                    <a:pt x="396" y="955"/>
                  </a:moveTo>
                  <a:cubicBezTo>
                    <a:pt x="396" y="962"/>
                    <a:pt x="390" y="968"/>
                    <a:pt x="383" y="968"/>
                  </a:cubicBezTo>
                  <a:cubicBezTo>
                    <a:pt x="375" y="968"/>
                    <a:pt x="370" y="962"/>
                    <a:pt x="370" y="955"/>
                  </a:cubicBezTo>
                  <a:cubicBezTo>
                    <a:pt x="370" y="947"/>
                    <a:pt x="375" y="942"/>
                    <a:pt x="383" y="942"/>
                  </a:cubicBezTo>
                  <a:cubicBezTo>
                    <a:pt x="390" y="942"/>
                    <a:pt x="396" y="947"/>
                    <a:pt x="396" y="955"/>
                  </a:cubicBezTo>
                  <a:close/>
                  <a:moveTo>
                    <a:pt x="370" y="947"/>
                  </a:moveTo>
                  <a:cubicBezTo>
                    <a:pt x="370" y="954"/>
                    <a:pt x="364" y="960"/>
                    <a:pt x="357" y="960"/>
                  </a:cubicBezTo>
                  <a:cubicBezTo>
                    <a:pt x="349" y="960"/>
                    <a:pt x="344" y="954"/>
                    <a:pt x="344" y="947"/>
                  </a:cubicBezTo>
                  <a:cubicBezTo>
                    <a:pt x="344" y="939"/>
                    <a:pt x="349" y="934"/>
                    <a:pt x="357" y="934"/>
                  </a:cubicBezTo>
                  <a:cubicBezTo>
                    <a:pt x="364" y="934"/>
                    <a:pt x="370" y="939"/>
                    <a:pt x="370" y="947"/>
                  </a:cubicBezTo>
                  <a:close/>
                  <a:moveTo>
                    <a:pt x="344" y="938"/>
                  </a:moveTo>
                  <a:cubicBezTo>
                    <a:pt x="344" y="945"/>
                    <a:pt x="338" y="951"/>
                    <a:pt x="331" y="951"/>
                  </a:cubicBezTo>
                  <a:cubicBezTo>
                    <a:pt x="323" y="951"/>
                    <a:pt x="318" y="945"/>
                    <a:pt x="318" y="938"/>
                  </a:cubicBezTo>
                  <a:cubicBezTo>
                    <a:pt x="318" y="930"/>
                    <a:pt x="323" y="925"/>
                    <a:pt x="331" y="925"/>
                  </a:cubicBezTo>
                  <a:cubicBezTo>
                    <a:pt x="338" y="925"/>
                    <a:pt x="344" y="930"/>
                    <a:pt x="344" y="938"/>
                  </a:cubicBezTo>
                  <a:close/>
                  <a:moveTo>
                    <a:pt x="318" y="928"/>
                  </a:moveTo>
                  <a:cubicBezTo>
                    <a:pt x="318" y="935"/>
                    <a:pt x="312" y="941"/>
                    <a:pt x="305" y="941"/>
                  </a:cubicBezTo>
                  <a:cubicBezTo>
                    <a:pt x="297" y="941"/>
                    <a:pt x="292" y="935"/>
                    <a:pt x="292" y="928"/>
                  </a:cubicBezTo>
                  <a:cubicBezTo>
                    <a:pt x="292" y="920"/>
                    <a:pt x="297" y="915"/>
                    <a:pt x="305" y="915"/>
                  </a:cubicBezTo>
                  <a:cubicBezTo>
                    <a:pt x="312" y="915"/>
                    <a:pt x="318" y="920"/>
                    <a:pt x="318" y="928"/>
                  </a:cubicBezTo>
                  <a:close/>
                  <a:moveTo>
                    <a:pt x="294" y="915"/>
                  </a:moveTo>
                  <a:cubicBezTo>
                    <a:pt x="294" y="922"/>
                    <a:pt x="288" y="928"/>
                    <a:pt x="281" y="928"/>
                  </a:cubicBezTo>
                  <a:cubicBezTo>
                    <a:pt x="273" y="928"/>
                    <a:pt x="268" y="922"/>
                    <a:pt x="268" y="915"/>
                  </a:cubicBezTo>
                  <a:cubicBezTo>
                    <a:pt x="268" y="907"/>
                    <a:pt x="273" y="902"/>
                    <a:pt x="281" y="902"/>
                  </a:cubicBezTo>
                  <a:cubicBezTo>
                    <a:pt x="288" y="902"/>
                    <a:pt x="294" y="907"/>
                    <a:pt x="294" y="915"/>
                  </a:cubicBezTo>
                  <a:close/>
                  <a:moveTo>
                    <a:pt x="270" y="902"/>
                  </a:moveTo>
                  <a:cubicBezTo>
                    <a:pt x="270" y="909"/>
                    <a:pt x="264" y="915"/>
                    <a:pt x="257" y="915"/>
                  </a:cubicBezTo>
                  <a:cubicBezTo>
                    <a:pt x="249" y="915"/>
                    <a:pt x="244" y="909"/>
                    <a:pt x="244" y="902"/>
                  </a:cubicBezTo>
                  <a:cubicBezTo>
                    <a:pt x="244" y="894"/>
                    <a:pt x="249" y="889"/>
                    <a:pt x="257" y="889"/>
                  </a:cubicBezTo>
                  <a:cubicBezTo>
                    <a:pt x="264" y="889"/>
                    <a:pt x="270" y="894"/>
                    <a:pt x="270" y="902"/>
                  </a:cubicBezTo>
                  <a:close/>
                  <a:moveTo>
                    <a:pt x="246" y="887"/>
                  </a:moveTo>
                  <a:cubicBezTo>
                    <a:pt x="246" y="894"/>
                    <a:pt x="240" y="900"/>
                    <a:pt x="233" y="900"/>
                  </a:cubicBezTo>
                  <a:cubicBezTo>
                    <a:pt x="225" y="900"/>
                    <a:pt x="220" y="894"/>
                    <a:pt x="220" y="887"/>
                  </a:cubicBezTo>
                  <a:cubicBezTo>
                    <a:pt x="220" y="879"/>
                    <a:pt x="225" y="874"/>
                    <a:pt x="233" y="874"/>
                  </a:cubicBezTo>
                  <a:cubicBezTo>
                    <a:pt x="240" y="874"/>
                    <a:pt x="246" y="879"/>
                    <a:pt x="246" y="887"/>
                  </a:cubicBezTo>
                  <a:close/>
                  <a:moveTo>
                    <a:pt x="224" y="871"/>
                  </a:moveTo>
                  <a:cubicBezTo>
                    <a:pt x="224" y="878"/>
                    <a:pt x="218" y="884"/>
                    <a:pt x="211" y="884"/>
                  </a:cubicBezTo>
                  <a:cubicBezTo>
                    <a:pt x="203" y="884"/>
                    <a:pt x="198" y="878"/>
                    <a:pt x="198" y="871"/>
                  </a:cubicBezTo>
                  <a:cubicBezTo>
                    <a:pt x="198" y="863"/>
                    <a:pt x="203" y="858"/>
                    <a:pt x="211" y="858"/>
                  </a:cubicBezTo>
                  <a:cubicBezTo>
                    <a:pt x="218" y="858"/>
                    <a:pt x="224" y="863"/>
                    <a:pt x="224" y="871"/>
                  </a:cubicBezTo>
                  <a:close/>
                  <a:moveTo>
                    <a:pt x="203" y="853"/>
                  </a:moveTo>
                  <a:cubicBezTo>
                    <a:pt x="203" y="860"/>
                    <a:pt x="197" y="866"/>
                    <a:pt x="190" y="866"/>
                  </a:cubicBezTo>
                  <a:cubicBezTo>
                    <a:pt x="182" y="866"/>
                    <a:pt x="177" y="860"/>
                    <a:pt x="177" y="853"/>
                  </a:cubicBezTo>
                  <a:cubicBezTo>
                    <a:pt x="177" y="845"/>
                    <a:pt x="182" y="840"/>
                    <a:pt x="190" y="840"/>
                  </a:cubicBezTo>
                  <a:cubicBezTo>
                    <a:pt x="197" y="840"/>
                    <a:pt x="203" y="845"/>
                    <a:pt x="203" y="853"/>
                  </a:cubicBezTo>
                  <a:close/>
                  <a:moveTo>
                    <a:pt x="183" y="834"/>
                  </a:moveTo>
                  <a:cubicBezTo>
                    <a:pt x="183" y="841"/>
                    <a:pt x="177" y="847"/>
                    <a:pt x="170" y="847"/>
                  </a:cubicBezTo>
                  <a:cubicBezTo>
                    <a:pt x="162" y="847"/>
                    <a:pt x="157" y="841"/>
                    <a:pt x="157" y="834"/>
                  </a:cubicBezTo>
                  <a:cubicBezTo>
                    <a:pt x="157" y="826"/>
                    <a:pt x="162" y="821"/>
                    <a:pt x="170" y="821"/>
                  </a:cubicBezTo>
                  <a:cubicBezTo>
                    <a:pt x="177" y="821"/>
                    <a:pt x="183" y="826"/>
                    <a:pt x="183" y="834"/>
                  </a:cubicBezTo>
                  <a:close/>
                  <a:moveTo>
                    <a:pt x="164" y="814"/>
                  </a:moveTo>
                  <a:cubicBezTo>
                    <a:pt x="164" y="821"/>
                    <a:pt x="158" y="827"/>
                    <a:pt x="151" y="827"/>
                  </a:cubicBezTo>
                  <a:cubicBezTo>
                    <a:pt x="143" y="827"/>
                    <a:pt x="138" y="821"/>
                    <a:pt x="138" y="814"/>
                  </a:cubicBezTo>
                  <a:cubicBezTo>
                    <a:pt x="138" y="806"/>
                    <a:pt x="143" y="801"/>
                    <a:pt x="151" y="801"/>
                  </a:cubicBezTo>
                  <a:cubicBezTo>
                    <a:pt x="158" y="801"/>
                    <a:pt x="164" y="806"/>
                    <a:pt x="164" y="814"/>
                  </a:cubicBezTo>
                  <a:close/>
                  <a:moveTo>
                    <a:pt x="146" y="793"/>
                  </a:moveTo>
                  <a:cubicBezTo>
                    <a:pt x="146" y="800"/>
                    <a:pt x="140" y="806"/>
                    <a:pt x="133" y="806"/>
                  </a:cubicBezTo>
                  <a:cubicBezTo>
                    <a:pt x="125" y="806"/>
                    <a:pt x="120" y="800"/>
                    <a:pt x="120" y="793"/>
                  </a:cubicBezTo>
                  <a:cubicBezTo>
                    <a:pt x="120" y="785"/>
                    <a:pt x="125" y="780"/>
                    <a:pt x="133" y="780"/>
                  </a:cubicBezTo>
                  <a:cubicBezTo>
                    <a:pt x="140" y="780"/>
                    <a:pt x="146" y="785"/>
                    <a:pt x="146" y="793"/>
                  </a:cubicBezTo>
                  <a:close/>
                  <a:moveTo>
                    <a:pt x="129" y="771"/>
                  </a:moveTo>
                  <a:cubicBezTo>
                    <a:pt x="129" y="778"/>
                    <a:pt x="123" y="784"/>
                    <a:pt x="116" y="784"/>
                  </a:cubicBezTo>
                  <a:cubicBezTo>
                    <a:pt x="108" y="784"/>
                    <a:pt x="103" y="778"/>
                    <a:pt x="103" y="771"/>
                  </a:cubicBezTo>
                  <a:cubicBezTo>
                    <a:pt x="103" y="763"/>
                    <a:pt x="108" y="758"/>
                    <a:pt x="116" y="758"/>
                  </a:cubicBezTo>
                  <a:cubicBezTo>
                    <a:pt x="123" y="758"/>
                    <a:pt x="129" y="763"/>
                    <a:pt x="129" y="771"/>
                  </a:cubicBezTo>
                  <a:close/>
                  <a:moveTo>
                    <a:pt x="114" y="748"/>
                  </a:moveTo>
                  <a:cubicBezTo>
                    <a:pt x="114" y="755"/>
                    <a:pt x="108" y="761"/>
                    <a:pt x="101" y="761"/>
                  </a:cubicBezTo>
                  <a:cubicBezTo>
                    <a:pt x="93" y="761"/>
                    <a:pt x="88" y="755"/>
                    <a:pt x="88" y="748"/>
                  </a:cubicBezTo>
                  <a:cubicBezTo>
                    <a:pt x="88" y="740"/>
                    <a:pt x="93" y="735"/>
                    <a:pt x="101" y="735"/>
                  </a:cubicBezTo>
                  <a:cubicBezTo>
                    <a:pt x="108" y="735"/>
                    <a:pt x="114" y="740"/>
                    <a:pt x="114" y="748"/>
                  </a:cubicBezTo>
                  <a:close/>
                  <a:moveTo>
                    <a:pt x="100" y="724"/>
                  </a:moveTo>
                  <a:cubicBezTo>
                    <a:pt x="100" y="731"/>
                    <a:pt x="94" y="737"/>
                    <a:pt x="87" y="737"/>
                  </a:cubicBezTo>
                  <a:cubicBezTo>
                    <a:pt x="79" y="737"/>
                    <a:pt x="74" y="731"/>
                    <a:pt x="74" y="724"/>
                  </a:cubicBezTo>
                  <a:cubicBezTo>
                    <a:pt x="74" y="716"/>
                    <a:pt x="79" y="711"/>
                    <a:pt x="87" y="711"/>
                  </a:cubicBezTo>
                  <a:cubicBezTo>
                    <a:pt x="94" y="711"/>
                    <a:pt x="100" y="716"/>
                    <a:pt x="100" y="724"/>
                  </a:cubicBezTo>
                  <a:close/>
                  <a:moveTo>
                    <a:pt x="87" y="700"/>
                  </a:moveTo>
                  <a:cubicBezTo>
                    <a:pt x="87" y="707"/>
                    <a:pt x="81" y="713"/>
                    <a:pt x="74" y="713"/>
                  </a:cubicBezTo>
                  <a:cubicBezTo>
                    <a:pt x="66" y="713"/>
                    <a:pt x="61" y="707"/>
                    <a:pt x="61" y="700"/>
                  </a:cubicBezTo>
                  <a:cubicBezTo>
                    <a:pt x="61" y="692"/>
                    <a:pt x="66" y="687"/>
                    <a:pt x="74" y="687"/>
                  </a:cubicBezTo>
                  <a:cubicBezTo>
                    <a:pt x="81" y="687"/>
                    <a:pt x="87" y="692"/>
                    <a:pt x="87" y="700"/>
                  </a:cubicBezTo>
                  <a:close/>
                  <a:moveTo>
                    <a:pt x="76" y="675"/>
                  </a:moveTo>
                  <a:cubicBezTo>
                    <a:pt x="76" y="682"/>
                    <a:pt x="70" y="688"/>
                    <a:pt x="63" y="688"/>
                  </a:cubicBezTo>
                  <a:cubicBezTo>
                    <a:pt x="55" y="688"/>
                    <a:pt x="50" y="682"/>
                    <a:pt x="50" y="675"/>
                  </a:cubicBezTo>
                  <a:cubicBezTo>
                    <a:pt x="50" y="667"/>
                    <a:pt x="55" y="662"/>
                    <a:pt x="63" y="662"/>
                  </a:cubicBezTo>
                  <a:cubicBezTo>
                    <a:pt x="70" y="662"/>
                    <a:pt x="76" y="667"/>
                    <a:pt x="76" y="675"/>
                  </a:cubicBezTo>
                  <a:close/>
                  <a:moveTo>
                    <a:pt x="67" y="649"/>
                  </a:moveTo>
                  <a:cubicBezTo>
                    <a:pt x="67" y="656"/>
                    <a:pt x="61" y="662"/>
                    <a:pt x="54" y="662"/>
                  </a:cubicBezTo>
                  <a:cubicBezTo>
                    <a:pt x="46" y="662"/>
                    <a:pt x="41" y="656"/>
                    <a:pt x="41" y="649"/>
                  </a:cubicBezTo>
                  <a:cubicBezTo>
                    <a:pt x="41" y="641"/>
                    <a:pt x="46" y="636"/>
                    <a:pt x="54" y="636"/>
                  </a:cubicBezTo>
                  <a:cubicBezTo>
                    <a:pt x="61" y="636"/>
                    <a:pt x="67" y="641"/>
                    <a:pt x="67" y="649"/>
                  </a:cubicBezTo>
                  <a:close/>
                  <a:moveTo>
                    <a:pt x="59" y="622"/>
                  </a:moveTo>
                  <a:cubicBezTo>
                    <a:pt x="59" y="629"/>
                    <a:pt x="53" y="635"/>
                    <a:pt x="46" y="635"/>
                  </a:cubicBezTo>
                  <a:cubicBezTo>
                    <a:pt x="38" y="635"/>
                    <a:pt x="33" y="629"/>
                    <a:pt x="33" y="622"/>
                  </a:cubicBezTo>
                  <a:cubicBezTo>
                    <a:pt x="33" y="614"/>
                    <a:pt x="38" y="609"/>
                    <a:pt x="46" y="609"/>
                  </a:cubicBezTo>
                  <a:cubicBezTo>
                    <a:pt x="53" y="609"/>
                    <a:pt x="59" y="614"/>
                    <a:pt x="59" y="622"/>
                  </a:cubicBezTo>
                  <a:close/>
                  <a:moveTo>
                    <a:pt x="52" y="595"/>
                  </a:moveTo>
                  <a:cubicBezTo>
                    <a:pt x="52" y="602"/>
                    <a:pt x="46" y="608"/>
                    <a:pt x="39" y="608"/>
                  </a:cubicBezTo>
                  <a:cubicBezTo>
                    <a:pt x="31" y="608"/>
                    <a:pt x="26" y="602"/>
                    <a:pt x="26" y="595"/>
                  </a:cubicBezTo>
                  <a:cubicBezTo>
                    <a:pt x="26" y="587"/>
                    <a:pt x="31" y="582"/>
                    <a:pt x="39" y="582"/>
                  </a:cubicBezTo>
                  <a:cubicBezTo>
                    <a:pt x="46" y="582"/>
                    <a:pt x="52" y="587"/>
                    <a:pt x="52" y="595"/>
                  </a:cubicBezTo>
                  <a:close/>
                  <a:moveTo>
                    <a:pt x="48" y="568"/>
                  </a:moveTo>
                  <a:cubicBezTo>
                    <a:pt x="48" y="575"/>
                    <a:pt x="42" y="581"/>
                    <a:pt x="35" y="581"/>
                  </a:cubicBezTo>
                  <a:cubicBezTo>
                    <a:pt x="27" y="581"/>
                    <a:pt x="22" y="575"/>
                    <a:pt x="22" y="568"/>
                  </a:cubicBezTo>
                  <a:cubicBezTo>
                    <a:pt x="22" y="560"/>
                    <a:pt x="27" y="555"/>
                    <a:pt x="35" y="555"/>
                  </a:cubicBezTo>
                  <a:cubicBezTo>
                    <a:pt x="42" y="555"/>
                    <a:pt x="48" y="560"/>
                    <a:pt x="48" y="568"/>
                  </a:cubicBezTo>
                  <a:close/>
                  <a:moveTo>
                    <a:pt x="44" y="541"/>
                  </a:moveTo>
                  <a:cubicBezTo>
                    <a:pt x="44" y="548"/>
                    <a:pt x="38" y="554"/>
                    <a:pt x="31" y="554"/>
                  </a:cubicBezTo>
                  <a:cubicBezTo>
                    <a:pt x="23" y="554"/>
                    <a:pt x="18" y="548"/>
                    <a:pt x="18" y="541"/>
                  </a:cubicBezTo>
                  <a:cubicBezTo>
                    <a:pt x="18" y="533"/>
                    <a:pt x="23" y="528"/>
                    <a:pt x="31" y="528"/>
                  </a:cubicBezTo>
                  <a:cubicBezTo>
                    <a:pt x="38" y="528"/>
                    <a:pt x="44" y="533"/>
                    <a:pt x="44" y="541"/>
                  </a:cubicBezTo>
                  <a:close/>
                  <a:moveTo>
                    <a:pt x="43" y="513"/>
                  </a:moveTo>
                  <a:cubicBezTo>
                    <a:pt x="43" y="520"/>
                    <a:pt x="37" y="526"/>
                    <a:pt x="30" y="526"/>
                  </a:cubicBezTo>
                  <a:cubicBezTo>
                    <a:pt x="22" y="526"/>
                    <a:pt x="17" y="520"/>
                    <a:pt x="17" y="513"/>
                  </a:cubicBezTo>
                  <a:cubicBezTo>
                    <a:pt x="17" y="505"/>
                    <a:pt x="22" y="500"/>
                    <a:pt x="30" y="500"/>
                  </a:cubicBezTo>
                  <a:cubicBezTo>
                    <a:pt x="37" y="500"/>
                    <a:pt x="43" y="505"/>
                    <a:pt x="43" y="513"/>
                  </a:cubicBezTo>
                  <a:close/>
                  <a:moveTo>
                    <a:pt x="43" y="486"/>
                  </a:moveTo>
                  <a:cubicBezTo>
                    <a:pt x="43" y="493"/>
                    <a:pt x="37" y="499"/>
                    <a:pt x="30" y="499"/>
                  </a:cubicBezTo>
                  <a:cubicBezTo>
                    <a:pt x="22" y="499"/>
                    <a:pt x="17" y="493"/>
                    <a:pt x="17" y="486"/>
                  </a:cubicBezTo>
                  <a:cubicBezTo>
                    <a:pt x="17" y="478"/>
                    <a:pt x="22" y="473"/>
                    <a:pt x="30" y="473"/>
                  </a:cubicBezTo>
                  <a:cubicBezTo>
                    <a:pt x="37" y="473"/>
                    <a:pt x="43" y="478"/>
                    <a:pt x="43" y="486"/>
                  </a:cubicBezTo>
                  <a:close/>
                  <a:moveTo>
                    <a:pt x="44" y="458"/>
                  </a:moveTo>
                  <a:cubicBezTo>
                    <a:pt x="44" y="465"/>
                    <a:pt x="38" y="471"/>
                    <a:pt x="31" y="471"/>
                  </a:cubicBezTo>
                  <a:cubicBezTo>
                    <a:pt x="23" y="471"/>
                    <a:pt x="18" y="465"/>
                    <a:pt x="18" y="458"/>
                  </a:cubicBezTo>
                  <a:cubicBezTo>
                    <a:pt x="18" y="450"/>
                    <a:pt x="23" y="445"/>
                    <a:pt x="31" y="445"/>
                  </a:cubicBezTo>
                  <a:cubicBezTo>
                    <a:pt x="38" y="445"/>
                    <a:pt x="44" y="450"/>
                    <a:pt x="44" y="458"/>
                  </a:cubicBezTo>
                  <a:close/>
                  <a:moveTo>
                    <a:pt x="48" y="431"/>
                  </a:moveTo>
                  <a:cubicBezTo>
                    <a:pt x="48" y="438"/>
                    <a:pt x="42" y="444"/>
                    <a:pt x="35" y="444"/>
                  </a:cubicBezTo>
                  <a:cubicBezTo>
                    <a:pt x="27" y="444"/>
                    <a:pt x="22" y="438"/>
                    <a:pt x="22" y="431"/>
                  </a:cubicBezTo>
                  <a:cubicBezTo>
                    <a:pt x="22" y="423"/>
                    <a:pt x="27" y="418"/>
                    <a:pt x="35" y="418"/>
                  </a:cubicBezTo>
                  <a:cubicBezTo>
                    <a:pt x="42" y="418"/>
                    <a:pt x="48" y="423"/>
                    <a:pt x="48" y="431"/>
                  </a:cubicBezTo>
                  <a:close/>
                  <a:moveTo>
                    <a:pt x="52" y="404"/>
                  </a:moveTo>
                  <a:cubicBezTo>
                    <a:pt x="52" y="411"/>
                    <a:pt x="46" y="417"/>
                    <a:pt x="39" y="417"/>
                  </a:cubicBezTo>
                  <a:cubicBezTo>
                    <a:pt x="31" y="417"/>
                    <a:pt x="26" y="411"/>
                    <a:pt x="26" y="404"/>
                  </a:cubicBezTo>
                  <a:cubicBezTo>
                    <a:pt x="26" y="396"/>
                    <a:pt x="31" y="391"/>
                    <a:pt x="39" y="391"/>
                  </a:cubicBezTo>
                  <a:cubicBezTo>
                    <a:pt x="46" y="391"/>
                    <a:pt x="52" y="396"/>
                    <a:pt x="52" y="404"/>
                  </a:cubicBezTo>
                  <a:close/>
                  <a:moveTo>
                    <a:pt x="59" y="377"/>
                  </a:moveTo>
                  <a:cubicBezTo>
                    <a:pt x="59" y="384"/>
                    <a:pt x="53" y="390"/>
                    <a:pt x="46" y="390"/>
                  </a:cubicBezTo>
                  <a:cubicBezTo>
                    <a:pt x="38" y="390"/>
                    <a:pt x="33" y="384"/>
                    <a:pt x="33" y="377"/>
                  </a:cubicBezTo>
                  <a:cubicBezTo>
                    <a:pt x="33" y="369"/>
                    <a:pt x="38" y="364"/>
                    <a:pt x="46" y="364"/>
                  </a:cubicBezTo>
                  <a:cubicBezTo>
                    <a:pt x="53" y="364"/>
                    <a:pt x="59" y="369"/>
                    <a:pt x="59" y="377"/>
                  </a:cubicBezTo>
                  <a:close/>
                  <a:moveTo>
                    <a:pt x="67" y="350"/>
                  </a:moveTo>
                  <a:cubicBezTo>
                    <a:pt x="67" y="357"/>
                    <a:pt x="61" y="363"/>
                    <a:pt x="54" y="363"/>
                  </a:cubicBezTo>
                  <a:cubicBezTo>
                    <a:pt x="46" y="363"/>
                    <a:pt x="41" y="357"/>
                    <a:pt x="41" y="350"/>
                  </a:cubicBezTo>
                  <a:cubicBezTo>
                    <a:pt x="41" y="342"/>
                    <a:pt x="46" y="337"/>
                    <a:pt x="54" y="337"/>
                  </a:cubicBezTo>
                  <a:cubicBezTo>
                    <a:pt x="61" y="337"/>
                    <a:pt x="67" y="342"/>
                    <a:pt x="67" y="350"/>
                  </a:cubicBezTo>
                  <a:close/>
                  <a:moveTo>
                    <a:pt x="76" y="324"/>
                  </a:moveTo>
                  <a:cubicBezTo>
                    <a:pt x="76" y="331"/>
                    <a:pt x="70" y="337"/>
                    <a:pt x="63" y="337"/>
                  </a:cubicBezTo>
                  <a:cubicBezTo>
                    <a:pt x="55" y="337"/>
                    <a:pt x="50" y="331"/>
                    <a:pt x="50" y="324"/>
                  </a:cubicBezTo>
                  <a:cubicBezTo>
                    <a:pt x="50" y="316"/>
                    <a:pt x="55" y="311"/>
                    <a:pt x="63" y="311"/>
                  </a:cubicBezTo>
                  <a:cubicBezTo>
                    <a:pt x="70" y="311"/>
                    <a:pt x="76" y="316"/>
                    <a:pt x="76" y="324"/>
                  </a:cubicBezTo>
                  <a:close/>
                  <a:moveTo>
                    <a:pt x="87" y="299"/>
                  </a:moveTo>
                  <a:cubicBezTo>
                    <a:pt x="87" y="306"/>
                    <a:pt x="81" y="312"/>
                    <a:pt x="74" y="312"/>
                  </a:cubicBezTo>
                  <a:cubicBezTo>
                    <a:pt x="66" y="312"/>
                    <a:pt x="61" y="306"/>
                    <a:pt x="61" y="299"/>
                  </a:cubicBezTo>
                  <a:cubicBezTo>
                    <a:pt x="61" y="291"/>
                    <a:pt x="66" y="286"/>
                    <a:pt x="74" y="286"/>
                  </a:cubicBezTo>
                  <a:cubicBezTo>
                    <a:pt x="81" y="286"/>
                    <a:pt x="87" y="291"/>
                    <a:pt x="87" y="299"/>
                  </a:cubicBezTo>
                  <a:close/>
                  <a:moveTo>
                    <a:pt x="100" y="275"/>
                  </a:moveTo>
                  <a:cubicBezTo>
                    <a:pt x="100" y="282"/>
                    <a:pt x="94" y="288"/>
                    <a:pt x="87" y="288"/>
                  </a:cubicBezTo>
                  <a:cubicBezTo>
                    <a:pt x="79" y="288"/>
                    <a:pt x="74" y="282"/>
                    <a:pt x="74" y="275"/>
                  </a:cubicBezTo>
                  <a:cubicBezTo>
                    <a:pt x="74" y="267"/>
                    <a:pt x="79" y="262"/>
                    <a:pt x="87" y="262"/>
                  </a:cubicBezTo>
                  <a:cubicBezTo>
                    <a:pt x="94" y="262"/>
                    <a:pt x="100" y="267"/>
                    <a:pt x="100" y="275"/>
                  </a:cubicBezTo>
                  <a:close/>
                  <a:moveTo>
                    <a:pt x="114" y="251"/>
                  </a:moveTo>
                  <a:cubicBezTo>
                    <a:pt x="114" y="258"/>
                    <a:pt x="108" y="264"/>
                    <a:pt x="101" y="264"/>
                  </a:cubicBezTo>
                  <a:cubicBezTo>
                    <a:pt x="93" y="264"/>
                    <a:pt x="88" y="258"/>
                    <a:pt x="88" y="251"/>
                  </a:cubicBezTo>
                  <a:cubicBezTo>
                    <a:pt x="88" y="243"/>
                    <a:pt x="93" y="238"/>
                    <a:pt x="101" y="238"/>
                  </a:cubicBezTo>
                  <a:cubicBezTo>
                    <a:pt x="108" y="238"/>
                    <a:pt x="114" y="243"/>
                    <a:pt x="114" y="251"/>
                  </a:cubicBezTo>
                  <a:close/>
                  <a:moveTo>
                    <a:pt x="129" y="228"/>
                  </a:moveTo>
                  <a:cubicBezTo>
                    <a:pt x="129" y="235"/>
                    <a:pt x="123" y="241"/>
                    <a:pt x="116" y="241"/>
                  </a:cubicBezTo>
                  <a:cubicBezTo>
                    <a:pt x="108" y="241"/>
                    <a:pt x="103" y="235"/>
                    <a:pt x="103" y="228"/>
                  </a:cubicBezTo>
                  <a:cubicBezTo>
                    <a:pt x="103" y="220"/>
                    <a:pt x="108" y="215"/>
                    <a:pt x="116" y="215"/>
                  </a:cubicBezTo>
                  <a:cubicBezTo>
                    <a:pt x="123" y="215"/>
                    <a:pt x="129" y="220"/>
                    <a:pt x="129" y="228"/>
                  </a:cubicBezTo>
                  <a:close/>
                  <a:moveTo>
                    <a:pt x="146" y="206"/>
                  </a:moveTo>
                  <a:cubicBezTo>
                    <a:pt x="146" y="213"/>
                    <a:pt x="140" y="219"/>
                    <a:pt x="133" y="219"/>
                  </a:cubicBezTo>
                  <a:cubicBezTo>
                    <a:pt x="125" y="219"/>
                    <a:pt x="120" y="213"/>
                    <a:pt x="120" y="206"/>
                  </a:cubicBezTo>
                  <a:cubicBezTo>
                    <a:pt x="120" y="198"/>
                    <a:pt x="125" y="193"/>
                    <a:pt x="133" y="193"/>
                  </a:cubicBezTo>
                  <a:cubicBezTo>
                    <a:pt x="140" y="193"/>
                    <a:pt x="146" y="198"/>
                    <a:pt x="146" y="206"/>
                  </a:cubicBezTo>
                  <a:close/>
                  <a:moveTo>
                    <a:pt x="164" y="185"/>
                  </a:moveTo>
                  <a:cubicBezTo>
                    <a:pt x="164" y="192"/>
                    <a:pt x="158" y="198"/>
                    <a:pt x="151" y="198"/>
                  </a:cubicBezTo>
                  <a:cubicBezTo>
                    <a:pt x="143" y="198"/>
                    <a:pt x="138" y="192"/>
                    <a:pt x="138" y="185"/>
                  </a:cubicBezTo>
                  <a:cubicBezTo>
                    <a:pt x="138" y="177"/>
                    <a:pt x="143" y="172"/>
                    <a:pt x="151" y="172"/>
                  </a:cubicBezTo>
                  <a:cubicBezTo>
                    <a:pt x="158" y="172"/>
                    <a:pt x="164" y="177"/>
                    <a:pt x="164" y="185"/>
                  </a:cubicBezTo>
                  <a:close/>
                  <a:moveTo>
                    <a:pt x="183" y="165"/>
                  </a:moveTo>
                  <a:cubicBezTo>
                    <a:pt x="183" y="172"/>
                    <a:pt x="177" y="178"/>
                    <a:pt x="170" y="178"/>
                  </a:cubicBezTo>
                  <a:cubicBezTo>
                    <a:pt x="162" y="178"/>
                    <a:pt x="157" y="172"/>
                    <a:pt x="157" y="165"/>
                  </a:cubicBezTo>
                  <a:cubicBezTo>
                    <a:pt x="157" y="157"/>
                    <a:pt x="162" y="152"/>
                    <a:pt x="170" y="152"/>
                  </a:cubicBezTo>
                  <a:cubicBezTo>
                    <a:pt x="177" y="152"/>
                    <a:pt x="183" y="157"/>
                    <a:pt x="183" y="165"/>
                  </a:cubicBezTo>
                  <a:close/>
                  <a:moveTo>
                    <a:pt x="203" y="146"/>
                  </a:moveTo>
                  <a:cubicBezTo>
                    <a:pt x="203" y="153"/>
                    <a:pt x="197" y="159"/>
                    <a:pt x="190" y="159"/>
                  </a:cubicBezTo>
                  <a:cubicBezTo>
                    <a:pt x="182" y="159"/>
                    <a:pt x="177" y="153"/>
                    <a:pt x="177" y="146"/>
                  </a:cubicBezTo>
                  <a:cubicBezTo>
                    <a:pt x="177" y="138"/>
                    <a:pt x="182" y="133"/>
                    <a:pt x="190" y="133"/>
                  </a:cubicBezTo>
                  <a:cubicBezTo>
                    <a:pt x="197" y="133"/>
                    <a:pt x="203" y="138"/>
                    <a:pt x="203" y="146"/>
                  </a:cubicBezTo>
                  <a:close/>
                  <a:moveTo>
                    <a:pt x="224" y="128"/>
                  </a:moveTo>
                  <a:cubicBezTo>
                    <a:pt x="224" y="135"/>
                    <a:pt x="218" y="141"/>
                    <a:pt x="211" y="141"/>
                  </a:cubicBezTo>
                  <a:cubicBezTo>
                    <a:pt x="203" y="141"/>
                    <a:pt x="198" y="135"/>
                    <a:pt x="198" y="128"/>
                  </a:cubicBezTo>
                  <a:cubicBezTo>
                    <a:pt x="198" y="120"/>
                    <a:pt x="203" y="115"/>
                    <a:pt x="211" y="115"/>
                  </a:cubicBezTo>
                  <a:cubicBezTo>
                    <a:pt x="218" y="115"/>
                    <a:pt x="224" y="120"/>
                    <a:pt x="224" y="128"/>
                  </a:cubicBezTo>
                  <a:close/>
                  <a:moveTo>
                    <a:pt x="246" y="112"/>
                  </a:moveTo>
                  <a:cubicBezTo>
                    <a:pt x="246" y="119"/>
                    <a:pt x="240" y="125"/>
                    <a:pt x="233" y="125"/>
                  </a:cubicBezTo>
                  <a:cubicBezTo>
                    <a:pt x="225" y="125"/>
                    <a:pt x="220" y="119"/>
                    <a:pt x="220" y="112"/>
                  </a:cubicBezTo>
                  <a:cubicBezTo>
                    <a:pt x="220" y="104"/>
                    <a:pt x="225" y="99"/>
                    <a:pt x="233" y="99"/>
                  </a:cubicBezTo>
                  <a:cubicBezTo>
                    <a:pt x="240" y="99"/>
                    <a:pt x="246" y="104"/>
                    <a:pt x="246" y="112"/>
                  </a:cubicBezTo>
                  <a:close/>
                  <a:moveTo>
                    <a:pt x="270" y="97"/>
                  </a:moveTo>
                  <a:cubicBezTo>
                    <a:pt x="270" y="104"/>
                    <a:pt x="264" y="110"/>
                    <a:pt x="257" y="110"/>
                  </a:cubicBezTo>
                  <a:cubicBezTo>
                    <a:pt x="249" y="110"/>
                    <a:pt x="244" y="104"/>
                    <a:pt x="244" y="97"/>
                  </a:cubicBezTo>
                  <a:cubicBezTo>
                    <a:pt x="244" y="89"/>
                    <a:pt x="249" y="84"/>
                    <a:pt x="257" y="84"/>
                  </a:cubicBezTo>
                  <a:cubicBezTo>
                    <a:pt x="264" y="84"/>
                    <a:pt x="270" y="89"/>
                    <a:pt x="270" y="97"/>
                  </a:cubicBezTo>
                  <a:close/>
                  <a:moveTo>
                    <a:pt x="294" y="84"/>
                  </a:moveTo>
                  <a:cubicBezTo>
                    <a:pt x="294" y="91"/>
                    <a:pt x="288" y="97"/>
                    <a:pt x="281" y="97"/>
                  </a:cubicBezTo>
                  <a:cubicBezTo>
                    <a:pt x="273" y="97"/>
                    <a:pt x="268" y="91"/>
                    <a:pt x="268" y="84"/>
                  </a:cubicBezTo>
                  <a:cubicBezTo>
                    <a:pt x="268" y="76"/>
                    <a:pt x="273" y="71"/>
                    <a:pt x="281" y="71"/>
                  </a:cubicBezTo>
                  <a:cubicBezTo>
                    <a:pt x="288" y="71"/>
                    <a:pt x="294" y="76"/>
                    <a:pt x="294" y="84"/>
                  </a:cubicBezTo>
                  <a:close/>
                  <a:moveTo>
                    <a:pt x="318" y="71"/>
                  </a:moveTo>
                  <a:cubicBezTo>
                    <a:pt x="318" y="78"/>
                    <a:pt x="312" y="84"/>
                    <a:pt x="305" y="84"/>
                  </a:cubicBezTo>
                  <a:cubicBezTo>
                    <a:pt x="297" y="84"/>
                    <a:pt x="292" y="78"/>
                    <a:pt x="292" y="71"/>
                  </a:cubicBezTo>
                  <a:cubicBezTo>
                    <a:pt x="292" y="63"/>
                    <a:pt x="297" y="58"/>
                    <a:pt x="305" y="58"/>
                  </a:cubicBezTo>
                  <a:cubicBezTo>
                    <a:pt x="312" y="58"/>
                    <a:pt x="318" y="63"/>
                    <a:pt x="318" y="71"/>
                  </a:cubicBezTo>
                  <a:close/>
                  <a:moveTo>
                    <a:pt x="344" y="61"/>
                  </a:moveTo>
                  <a:cubicBezTo>
                    <a:pt x="344" y="68"/>
                    <a:pt x="338" y="74"/>
                    <a:pt x="331" y="74"/>
                  </a:cubicBezTo>
                  <a:cubicBezTo>
                    <a:pt x="323" y="74"/>
                    <a:pt x="318" y="68"/>
                    <a:pt x="318" y="61"/>
                  </a:cubicBezTo>
                  <a:cubicBezTo>
                    <a:pt x="318" y="53"/>
                    <a:pt x="323" y="48"/>
                    <a:pt x="331" y="48"/>
                  </a:cubicBezTo>
                  <a:cubicBezTo>
                    <a:pt x="338" y="48"/>
                    <a:pt x="344" y="53"/>
                    <a:pt x="344" y="61"/>
                  </a:cubicBezTo>
                  <a:close/>
                  <a:moveTo>
                    <a:pt x="370" y="52"/>
                  </a:moveTo>
                  <a:cubicBezTo>
                    <a:pt x="370" y="59"/>
                    <a:pt x="364" y="65"/>
                    <a:pt x="357" y="65"/>
                  </a:cubicBezTo>
                  <a:cubicBezTo>
                    <a:pt x="349" y="65"/>
                    <a:pt x="344" y="59"/>
                    <a:pt x="344" y="52"/>
                  </a:cubicBezTo>
                  <a:cubicBezTo>
                    <a:pt x="344" y="44"/>
                    <a:pt x="349" y="39"/>
                    <a:pt x="357" y="39"/>
                  </a:cubicBezTo>
                  <a:cubicBezTo>
                    <a:pt x="364" y="39"/>
                    <a:pt x="370" y="44"/>
                    <a:pt x="370" y="52"/>
                  </a:cubicBezTo>
                  <a:close/>
                  <a:moveTo>
                    <a:pt x="396" y="44"/>
                  </a:moveTo>
                  <a:cubicBezTo>
                    <a:pt x="396" y="51"/>
                    <a:pt x="390" y="57"/>
                    <a:pt x="383" y="57"/>
                  </a:cubicBezTo>
                  <a:cubicBezTo>
                    <a:pt x="375" y="57"/>
                    <a:pt x="370" y="51"/>
                    <a:pt x="370" y="44"/>
                  </a:cubicBezTo>
                  <a:cubicBezTo>
                    <a:pt x="370" y="36"/>
                    <a:pt x="375" y="31"/>
                    <a:pt x="383" y="31"/>
                  </a:cubicBezTo>
                  <a:cubicBezTo>
                    <a:pt x="390" y="31"/>
                    <a:pt x="396" y="36"/>
                    <a:pt x="396" y="44"/>
                  </a:cubicBezTo>
                  <a:close/>
                  <a:moveTo>
                    <a:pt x="423" y="38"/>
                  </a:moveTo>
                  <a:cubicBezTo>
                    <a:pt x="423" y="45"/>
                    <a:pt x="417" y="51"/>
                    <a:pt x="410" y="51"/>
                  </a:cubicBezTo>
                  <a:cubicBezTo>
                    <a:pt x="402" y="51"/>
                    <a:pt x="397" y="45"/>
                    <a:pt x="397" y="38"/>
                  </a:cubicBezTo>
                  <a:cubicBezTo>
                    <a:pt x="397" y="30"/>
                    <a:pt x="402" y="25"/>
                    <a:pt x="410" y="25"/>
                  </a:cubicBezTo>
                  <a:cubicBezTo>
                    <a:pt x="417" y="25"/>
                    <a:pt x="423" y="30"/>
                    <a:pt x="423" y="38"/>
                  </a:cubicBezTo>
                  <a:close/>
                  <a:moveTo>
                    <a:pt x="451" y="34"/>
                  </a:moveTo>
                  <a:cubicBezTo>
                    <a:pt x="451" y="41"/>
                    <a:pt x="445" y="47"/>
                    <a:pt x="438" y="47"/>
                  </a:cubicBezTo>
                  <a:cubicBezTo>
                    <a:pt x="430" y="47"/>
                    <a:pt x="425" y="41"/>
                    <a:pt x="425" y="34"/>
                  </a:cubicBezTo>
                  <a:cubicBezTo>
                    <a:pt x="425" y="26"/>
                    <a:pt x="430" y="21"/>
                    <a:pt x="438" y="21"/>
                  </a:cubicBezTo>
                  <a:cubicBezTo>
                    <a:pt x="445" y="21"/>
                    <a:pt x="451" y="26"/>
                    <a:pt x="451" y="34"/>
                  </a:cubicBezTo>
                  <a:close/>
                  <a:moveTo>
                    <a:pt x="478" y="31"/>
                  </a:moveTo>
                  <a:cubicBezTo>
                    <a:pt x="478" y="38"/>
                    <a:pt x="472" y="44"/>
                    <a:pt x="465" y="44"/>
                  </a:cubicBezTo>
                  <a:cubicBezTo>
                    <a:pt x="457" y="44"/>
                    <a:pt x="452" y="38"/>
                    <a:pt x="452" y="31"/>
                  </a:cubicBezTo>
                  <a:cubicBezTo>
                    <a:pt x="452" y="23"/>
                    <a:pt x="457" y="18"/>
                    <a:pt x="465" y="18"/>
                  </a:cubicBezTo>
                  <a:cubicBezTo>
                    <a:pt x="472" y="18"/>
                    <a:pt x="478" y="23"/>
                    <a:pt x="478" y="31"/>
                  </a:cubicBezTo>
                  <a:close/>
                  <a:moveTo>
                    <a:pt x="506" y="30"/>
                  </a:moveTo>
                  <a:cubicBezTo>
                    <a:pt x="506" y="37"/>
                    <a:pt x="500" y="43"/>
                    <a:pt x="493" y="43"/>
                  </a:cubicBezTo>
                  <a:cubicBezTo>
                    <a:pt x="485" y="43"/>
                    <a:pt x="480" y="37"/>
                    <a:pt x="480" y="30"/>
                  </a:cubicBezTo>
                  <a:cubicBezTo>
                    <a:pt x="480" y="22"/>
                    <a:pt x="485" y="17"/>
                    <a:pt x="493" y="17"/>
                  </a:cubicBezTo>
                  <a:cubicBezTo>
                    <a:pt x="500" y="17"/>
                    <a:pt x="506" y="22"/>
                    <a:pt x="506" y="30"/>
                  </a:cubicBezTo>
                  <a:close/>
                  <a:moveTo>
                    <a:pt x="533" y="30"/>
                  </a:moveTo>
                  <a:cubicBezTo>
                    <a:pt x="533" y="37"/>
                    <a:pt x="527" y="43"/>
                    <a:pt x="520" y="43"/>
                  </a:cubicBezTo>
                  <a:cubicBezTo>
                    <a:pt x="512" y="43"/>
                    <a:pt x="507" y="37"/>
                    <a:pt x="507" y="30"/>
                  </a:cubicBezTo>
                  <a:cubicBezTo>
                    <a:pt x="507" y="22"/>
                    <a:pt x="512" y="17"/>
                    <a:pt x="520" y="17"/>
                  </a:cubicBezTo>
                  <a:cubicBezTo>
                    <a:pt x="527" y="17"/>
                    <a:pt x="533" y="22"/>
                    <a:pt x="533" y="30"/>
                  </a:cubicBezTo>
                  <a:close/>
                  <a:moveTo>
                    <a:pt x="561" y="32"/>
                  </a:moveTo>
                  <a:cubicBezTo>
                    <a:pt x="561" y="39"/>
                    <a:pt x="555" y="45"/>
                    <a:pt x="548" y="45"/>
                  </a:cubicBezTo>
                  <a:cubicBezTo>
                    <a:pt x="540" y="45"/>
                    <a:pt x="535" y="39"/>
                    <a:pt x="535" y="32"/>
                  </a:cubicBezTo>
                  <a:cubicBezTo>
                    <a:pt x="535" y="24"/>
                    <a:pt x="540" y="19"/>
                    <a:pt x="548" y="19"/>
                  </a:cubicBezTo>
                  <a:cubicBezTo>
                    <a:pt x="555" y="19"/>
                    <a:pt x="561" y="24"/>
                    <a:pt x="561" y="32"/>
                  </a:cubicBezTo>
                  <a:close/>
                  <a:moveTo>
                    <a:pt x="588" y="36"/>
                  </a:moveTo>
                  <a:cubicBezTo>
                    <a:pt x="588" y="43"/>
                    <a:pt x="582" y="49"/>
                    <a:pt x="575" y="49"/>
                  </a:cubicBezTo>
                  <a:cubicBezTo>
                    <a:pt x="567" y="49"/>
                    <a:pt x="562" y="43"/>
                    <a:pt x="562" y="36"/>
                  </a:cubicBezTo>
                  <a:cubicBezTo>
                    <a:pt x="562" y="28"/>
                    <a:pt x="567" y="23"/>
                    <a:pt x="575" y="23"/>
                  </a:cubicBezTo>
                  <a:cubicBezTo>
                    <a:pt x="582" y="23"/>
                    <a:pt x="588" y="28"/>
                    <a:pt x="588" y="36"/>
                  </a:cubicBezTo>
                  <a:close/>
                  <a:moveTo>
                    <a:pt x="615" y="41"/>
                  </a:moveTo>
                  <a:cubicBezTo>
                    <a:pt x="615" y="48"/>
                    <a:pt x="609" y="54"/>
                    <a:pt x="602" y="54"/>
                  </a:cubicBezTo>
                  <a:cubicBezTo>
                    <a:pt x="594" y="54"/>
                    <a:pt x="589" y="48"/>
                    <a:pt x="589" y="41"/>
                  </a:cubicBezTo>
                  <a:cubicBezTo>
                    <a:pt x="589" y="33"/>
                    <a:pt x="594" y="28"/>
                    <a:pt x="602" y="28"/>
                  </a:cubicBezTo>
                  <a:cubicBezTo>
                    <a:pt x="609" y="28"/>
                    <a:pt x="615" y="33"/>
                    <a:pt x="615" y="41"/>
                  </a:cubicBezTo>
                  <a:close/>
                  <a:moveTo>
                    <a:pt x="642" y="48"/>
                  </a:moveTo>
                  <a:cubicBezTo>
                    <a:pt x="642" y="55"/>
                    <a:pt x="636" y="61"/>
                    <a:pt x="629" y="61"/>
                  </a:cubicBezTo>
                  <a:cubicBezTo>
                    <a:pt x="621" y="61"/>
                    <a:pt x="616" y="55"/>
                    <a:pt x="616" y="48"/>
                  </a:cubicBezTo>
                  <a:cubicBezTo>
                    <a:pt x="616" y="40"/>
                    <a:pt x="621" y="35"/>
                    <a:pt x="629" y="35"/>
                  </a:cubicBezTo>
                  <a:cubicBezTo>
                    <a:pt x="636" y="35"/>
                    <a:pt x="642" y="40"/>
                    <a:pt x="642" y="48"/>
                  </a:cubicBezTo>
                  <a:close/>
                  <a:moveTo>
                    <a:pt x="668" y="56"/>
                  </a:moveTo>
                  <a:cubicBezTo>
                    <a:pt x="668" y="63"/>
                    <a:pt x="662" y="69"/>
                    <a:pt x="655" y="69"/>
                  </a:cubicBezTo>
                  <a:cubicBezTo>
                    <a:pt x="647" y="69"/>
                    <a:pt x="642" y="63"/>
                    <a:pt x="642" y="56"/>
                  </a:cubicBezTo>
                  <a:cubicBezTo>
                    <a:pt x="642" y="48"/>
                    <a:pt x="647" y="43"/>
                    <a:pt x="655" y="43"/>
                  </a:cubicBezTo>
                  <a:cubicBezTo>
                    <a:pt x="662" y="43"/>
                    <a:pt x="668" y="48"/>
                    <a:pt x="668" y="56"/>
                  </a:cubicBezTo>
                  <a:close/>
                  <a:moveTo>
                    <a:pt x="694" y="66"/>
                  </a:moveTo>
                  <a:cubicBezTo>
                    <a:pt x="694" y="73"/>
                    <a:pt x="688" y="79"/>
                    <a:pt x="681" y="79"/>
                  </a:cubicBezTo>
                  <a:cubicBezTo>
                    <a:pt x="673" y="79"/>
                    <a:pt x="668" y="73"/>
                    <a:pt x="668" y="66"/>
                  </a:cubicBezTo>
                  <a:cubicBezTo>
                    <a:pt x="668" y="58"/>
                    <a:pt x="673" y="53"/>
                    <a:pt x="681" y="53"/>
                  </a:cubicBezTo>
                  <a:cubicBezTo>
                    <a:pt x="688" y="53"/>
                    <a:pt x="694" y="58"/>
                    <a:pt x="694" y="66"/>
                  </a:cubicBezTo>
                  <a:close/>
                  <a:moveTo>
                    <a:pt x="719" y="77"/>
                  </a:moveTo>
                  <a:cubicBezTo>
                    <a:pt x="719" y="84"/>
                    <a:pt x="713" y="90"/>
                    <a:pt x="706" y="90"/>
                  </a:cubicBezTo>
                  <a:cubicBezTo>
                    <a:pt x="698" y="90"/>
                    <a:pt x="693" y="84"/>
                    <a:pt x="693" y="77"/>
                  </a:cubicBezTo>
                  <a:cubicBezTo>
                    <a:pt x="693" y="69"/>
                    <a:pt x="698" y="64"/>
                    <a:pt x="706" y="64"/>
                  </a:cubicBezTo>
                  <a:cubicBezTo>
                    <a:pt x="713" y="64"/>
                    <a:pt x="719" y="69"/>
                    <a:pt x="719" y="77"/>
                  </a:cubicBezTo>
                  <a:close/>
                  <a:moveTo>
                    <a:pt x="744" y="90"/>
                  </a:moveTo>
                  <a:cubicBezTo>
                    <a:pt x="744" y="97"/>
                    <a:pt x="738" y="103"/>
                    <a:pt x="731" y="103"/>
                  </a:cubicBezTo>
                  <a:cubicBezTo>
                    <a:pt x="723" y="103"/>
                    <a:pt x="718" y="97"/>
                    <a:pt x="718" y="90"/>
                  </a:cubicBezTo>
                  <a:cubicBezTo>
                    <a:pt x="718" y="82"/>
                    <a:pt x="723" y="77"/>
                    <a:pt x="731" y="77"/>
                  </a:cubicBezTo>
                  <a:cubicBezTo>
                    <a:pt x="738" y="77"/>
                    <a:pt x="744" y="82"/>
                    <a:pt x="744" y="90"/>
                  </a:cubicBezTo>
                  <a:close/>
                  <a:moveTo>
                    <a:pt x="767" y="104"/>
                  </a:moveTo>
                  <a:cubicBezTo>
                    <a:pt x="767" y="111"/>
                    <a:pt x="761" y="117"/>
                    <a:pt x="754" y="117"/>
                  </a:cubicBezTo>
                  <a:cubicBezTo>
                    <a:pt x="746" y="117"/>
                    <a:pt x="741" y="111"/>
                    <a:pt x="741" y="104"/>
                  </a:cubicBezTo>
                  <a:cubicBezTo>
                    <a:pt x="741" y="96"/>
                    <a:pt x="746" y="91"/>
                    <a:pt x="754" y="91"/>
                  </a:cubicBezTo>
                  <a:cubicBezTo>
                    <a:pt x="761" y="91"/>
                    <a:pt x="767" y="96"/>
                    <a:pt x="767" y="104"/>
                  </a:cubicBezTo>
                  <a:close/>
                  <a:moveTo>
                    <a:pt x="790" y="120"/>
                  </a:moveTo>
                  <a:cubicBezTo>
                    <a:pt x="790" y="127"/>
                    <a:pt x="784" y="133"/>
                    <a:pt x="777" y="133"/>
                  </a:cubicBezTo>
                  <a:cubicBezTo>
                    <a:pt x="769" y="133"/>
                    <a:pt x="764" y="127"/>
                    <a:pt x="764" y="120"/>
                  </a:cubicBezTo>
                  <a:cubicBezTo>
                    <a:pt x="764" y="112"/>
                    <a:pt x="769" y="107"/>
                    <a:pt x="777" y="107"/>
                  </a:cubicBezTo>
                  <a:cubicBezTo>
                    <a:pt x="784" y="107"/>
                    <a:pt x="790" y="112"/>
                    <a:pt x="790" y="120"/>
                  </a:cubicBezTo>
                  <a:close/>
                  <a:moveTo>
                    <a:pt x="812" y="137"/>
                  </a:moveTo>
                  <a:cubicBezTo>
                    <a:pt x="812" y="144"/>
                    <a:pt x="806" y="150"/>
                    <a:pt x="799" y="150"/>
                  </a:cubicBezTo>
                  <a:cubicBezTo>
                    <a:pt x="791" y="150"/>
                    <a:pt x="786" y="144"/>
                    <a:pt x="786" y="137"/>
                  </a:cubicBezTo>
                  <a:cubicBezTo>
                    <a:pt x="786" y="129"/>
                    <a:pt x="791" y="124"/>
                    <a:pt x="799" y="124"/>
                  </a:cubicBezTo>
                  <a:cubicBezTo>
                    <a:pt x="806" y="124"/>
                    <a:pt x="812" y="129"/>
                    <a:pt x="812" y="137"/>
                  </a:cubicBezTo>
                  <a:close/>
                  <a:moveTo>
                    <a:pt x="832" y="155"/>
                  </a:moveTo>
                  <a:cubicBezTo>
                    <a:pt x="832" y="162"/>
                    <a:pt x="826" y="168"/>
                    <a:pt x="819" y="168"/>
                  </a:cubicBezTo>
                  <a:cubicBezTo>
                    <a:pt x="811" y="168"/>
                    <a:pt x="806" y="162"/>
                    <a:pt x="806" y="155"/>
                  </a:cubicBezTo>
                  <a:cubicBezTo>
                    <a:pt x="806" y="147"/>
                    <a:pt x="811" y="142"/>
                    <a:pt x="819" y="142"/>
                  </a:cubicBezTo>
                  <a:cubicBezTo>
                    <a:pt x="826" y="142"/>
                    <a:pt x="832" y="147"/>
                    <a:pt x="832" y="155"/>
                  </a:cubicBezTo>
                  <a:close/>
                  <a:moveTo>
                    <a:pt x="852" y="175"/>
                  </a:moveTo>
                  <a:cubicBezTo>
                    <a:pt x="852" y="182"/>
                    <a:pt x="846" y="188"/>
                    <a:pt x="839" y="188"/>
                  </a:cubicBezTo>
                  <a:cubicBezTo>
                    <a:pt x="831" y="188"/>
                    <a:pt x="826" y="182"/>
                    <a:pt x="826" y="175"/>
                  </a:cubicBezTo>
                  <a:cubicBezTo>
                    <a:pt x="826" y="167"/>
                    <a:pt x="831" y="162"/>
                    <a:pt x="839" y="162"/>
                  </a:cubicBezTo>
                  <a:cubicBezTo>
                    <a:pt x="846" y="162"/>
                    <a:pt x="852" y="167"/>
                    <a:pt x="852" y="175"/>
                  </a:cubicBezTo>
                  <a:close/>
                  <a:moveTo>
                    <a:pt x="871" y="195"/>
                  </a:moveTo>
                  <a:cubicBezTo>
                    <a:pt x="871" y="202"/>
                    <a:pt x="865" y="208"/>
                    <a:pt x="858" y="208"/>
                  </a:cubicBezTo>
                  <a:cubicBezTo>
                    <a:pt x="850" y="208"/>
                    <a:pt x="845" y="202"/>
                    <a:pt x="845" y="195"/>
                  </a:cubicBezTo>
                  <a:cubicBezTo>
                    <a:pt x="845" y="187"/>
                    <a:pt x="850" y="182"/>
                    <a:pt x="858" y="182"/>
                  </a:cubicBezTo>
                  <a:cubicBezTo>
                    <a:pt x="865" y="182"/>
                    <a:pt x="871" y="187"/>
                    <a:pt x="871" y="195"/>
                  </a:cubicBezTo>
                  <a:close/>
                  <a:moveTo>
                    <a:pt x="888" y="217"/>
                  </a:moveTo>
                  <a:cubicBezTo>
                    <a:pt x="888" y="224"/>
                    <a:pt x="882" y="230"/>
                    <a:pt x="875" y="230"/>
                  </a:cubicBezTo>
                  <a:cubicBezTo>
                    <a:pt x="867" y="230"/>
                    <a:pt x="862" y="224"/>
                    <a:pt x="862" y="217"/>
                  </a:cubicBezTo>
                  <a:cubicBezTo>
                    <a:pt x="862" y="209"/>
                    <a:pt x="867" y="204"/>
                    <a:pt x="875" y="204"/>
                  </a:cubicBezTo>
                  <a:cubicBezTo>
                    <a:pt x="882" y="204"/>
                    <a:pt x="888" y="209"/>
                    <a:pt x="888" y="217"/>
                  </a:cubicBezTo>
                  <a:close/>
                  <a:moveTo>
                    <a:pt x="904" y="239"/>
                  </a:moveTo>
                  <a:cubicBezTo>
                    <a:pt x="904" y="246"/>
                    <a:pt x="898" y="252"/>
                    <a:pt x="891" y="252"/>
                  </a:cubicBezTo>
                  <a:cubicBezTo>
                    <a:pt x="883" y="252"/>
                    <a:pt x="878" y="246"/>
                    <a:pt x="878" y="239"/>
                  </a:cubicBezTo>
                  <a:cubicBezTo>
                    <a:pt x="878" y="231"/>
                    <a:pt x="883" y="226"/>
                    <a:pt x="891" y="226"/>
                  </a:cubicBezTo>
                  <a:cubicBezTo>
                    <a:pt x="898" y="226"/>
                    <a:pt x="904" y="231"/>
                    <a:pt x="904" y="239"/>
                  </a:cubicBezTo>
                  <a:close/>
                  <a:moveTo>
                    <a:pt x="918" y="263"/>
                  </a:moveTo>
                  <a:cubicBezTo>
                    <a:pt x="918" y="270"/>
                    <a:pt x="912" y="276"/>
                    <a:pt x="905" y="276"/>
                  </a:cubicBezTo>
                  <a:cubicBezTo>
                    <a:pt x="897" y="276"/>
                    <a:pt x="892" y="270"/>
                    <a:pt x="892" y="263"/>
                  </a:cubicBezTo>
                  <a:cubicBezTo>
                    <a:pt x="892" y="255"/>
                    <a:pt x="897" y="250"/>
                    <a:pt x="905" y="250"/>
                  </a:cubicBezTo>
                  <a:cubicBezTo>
                    <a:pt x="912" y="250"/>
                    <a:pt x="918" y="255"/>
                    <a:pt x="918" y="263"/>
                  </a:cubicBezTo>
                  <a:close/>
                  <a:moveTo>
                    <a:pt x="932" y="287"/>
                  </a:moveTo>
                  <a:cubicBezTo>
                    <a:pt x="932" y="294"/>
                    <a:pt x="926" y="300"/>
                    <a:pt x="919" y="300"/>
                  </a:cubicBezTo>
                  <a:cubicBezTo>
                    <a:pt x="911" y="300"/>
                    <a:pt x="906" y="294"/>
                    <a:pt x="906" y="287"/>
                  </a:cubicBezTo>
                  <a:cubicBezTo>
                    <a:pt x="906" y="279"/>
                    <a:pt x="911" y="274"/>
                    <a:pt x="919" y="274"/>
                  </a:cubicBezTo>
                  <a:cubicBezTo>
                    <a:pt x="926" y="274"/>
                    <a:pt x="932" y="279"/>
                    <a:pt x="932" y="287"/>
                  </a:cubicBezTo>
                  <a:close/>
                  <a:moveTo>
                    <a:pt x="943" y="312"/>
                  </a:moveTo>
                  <a:cubicBezTo>
                    <a:pt x="943" y="319"/>
                    <a:pt x="937" y="325"/>
                    <a:pt x="930" y="325"/>
                  </a:cubicBezTo>
                  <a:cubicBezTo>
                    <a:pt x="922" y="325"/>
                    <a:pt x="917" y="319"/>
                    <a:pt x="917" y="312"/>
                  </a:cubicBezTo>
                  <a:cubicBezTo>
                    <a:pt x="917" y="304"/>
                    <a:pt x="922" y="299"/>
                    <a:pt x="930" y="299"/>
                  </a:cubicBezTo>
                  <a:cubicBezTo>
                    <a:pt x="937" y="299"/>
                    <a:pt x="943" y="304"/>
                    <a:pt x="943" y="312"/>
                  </a:cubicBezTo>
                  <a:close/>
                  <a:moveTo>
                    <a:pt x="954" y="337"/>
                  </a:moveTo>
                  <a:cubicBezTo>
                    <a:pt x="954" y="344"/>
                    <a:pt x="948" y="350"/>
                    <a:pt x="941" y="350"/>
                  </a:cubicBezTo>
                  <a:cubicBezTo>
                    <a:pt x="933" y="350"/>
                    <a:pt x="928" y="344"/>
                    <a:pt x="928" y="337"/>
                  </a:cubicBezTo>
                  <a:cubicBezTo>
                    <a:pt x="928" y="329"/>
                    <a:pt x="933" y="324"/>
                    <a:pt x="941" y="324"/>
                  </a:cubicBezTo>
                  <a:cubicBezTo>
                    <a:pt x="948" y="324"/>
                    <a:pt x="954" y="329"/>
                    <a:pt x="954" y="337"/>
                  </a:cubicBezTo>
                  <a:close/>
                  <a:moveTo>
                    <a:pt x="962" y="363"/>
                  </a:moveTo>
                  <a:cubicBezTo>
                    <a:pt x="962" y="370"/>
                    <a:pt x="956" y="376"/>
                    <a:pt x="949" y="376"/>
                  </a:cubicBezTo>
                  <a:cubicBezTo>
                    <a:pt x="941" y="376"/>
                    <a:pt x="936" y="370"/>
                    <a:pt x="936" y="363"/>
                  </a:cubicBezTo>
                  <a:cubicBezTo>
                    <a:pt x="936" y="355"/>
                    <a:pt x="941" y="350"/>
                    <a:pt x="949" y="350"/>
                  </a:cubicBezTo>
                  <a:cubicBezTo>
                    <a:pt x="956" y="350"/>
                    <a:pt x="962" y="355"/>
                    <a:pt x="962" y="363"/>
                  </a:cubicBezTo>
                  <a:close/>
                  <a:moveTo>
                    <a:pt x="970" y="390"/>
                  </a:moveTo>
                  <a:cubicBezTo>
                    <a:pt x="970" y="397"/>
                    <a:pt x="964" y="403"/>
                    <a:pt x="957" y="403"/>
                  </a:cubicBezTo>
                  <a:cubicBezTo>
                    <a:pt x="949" y="403"/>
                    <a:pt x="944" y="397"/>
                    <a:pt x="944" y="390"/>
                  </a:cubicBezTo>
                  <a:cubicBezTo>
                    <a:pt x="944" y="382"/>
                    <a:pt x="949" y="377"/>
                    <a:pt x="957" y="377"/>
                  </a:cubicBezTo>
                  <a:cubicBezTo>
                    <a:pt x="964" y="377"/>
                    <a:pt x="970" y="382"/>
                    <a:pt x="970" y="390"/>
                  </a:cubicBezTo>
                  <a:close/>
                  <a:moveTo>
                    <a:pt x="975" y="417"/>
                  </a:moveTo>
                  <a:cubicBezTo>
                    <a:pt x="975" y="424"/>
                    <a:pt x="969" y="430"/>
                    <a:pt x="962" y="430"/>
                  </a:cubicBezTo>
                  <a:cubicBezTo>
                    <a:pt x="954" y="430"/>
                    <a:pt x="949" y="424"/>
                    <a:pt x="949" y="417"/>
                  </a:cubicBezTo>
                  <a:cubicBezTo>
                    <a:pt x="949" y="409"/>
                    <a:pt x="954" y="404"/>
                    <a:pt x="962" y="404"/>
                  </a:cubicBezTo>
                  <a:cubicBezTo>
                    <a:pt x="969" y="404"/>
                    <a:pt x="975" y="409"/>
                    <a:pt x="975" y="417"/>
                  </a:cubicBezTo>
                  <a:close/>
                  <a:moveTo>
                    <a:pt x="979" y="444"/>
                  </a:moveTo>
                  <a:cubicBezTo>
                    <a:pt x="979" y="451"/>
                    <a:pt x="973" y="457"/>
                    <a:pt x="966" y="457"/>
                  </a:cubicBezTo>
                  <a:cubicBezTo>
                    <a:pt x="958" y="457"/>
                    <a:pt x="953" y="451"/>
                    <a:pt x="953" y="444"/>
                  </a:cubicBezTo>
                  <a:cubicBezTo>
                    <a:pt x="953" y="436"/>
                    <a:pt x="958" y="431"/>
                    <a:pt x="966" y="431"/>
                  </a:cubicBezTo>
                  <a:cubicBezTo>
                    <a:pt x="973" y="431"/>
                    <a:pt x="979" y="436"/>
                    <a:pt x="979" y="444"/>
                  </a:cubicBezTo>
                  <a:close/>
                  <a:moveTo>
                    <a:pt x="982" y="472"/>
                  </a:moveTo>
                  <a:cubicBezTo>
                    <a:pt x="982" y="479"/>
                    <a:pt x="976" y="485"/>
                    <a:pt x="969" y="485"/>
                  </a:cubicBezTo>
                  <a:cubicBezTo>
                    <a:pt x="961" y="485"/>
                    <a:pt x="956" y="479"/>
                    <a:pt x="956" y="472"/>
                  </a:cubicBezTo>
                  <a:cubicBezTo>
                    <a:pt x="956" y="464"/>
                    <a:pt x="961" y="459"/>
                    <a:pt x="969" y="459"/>
                  </a:cubicBezTo>
                  <a:cubicBezTo>
                    <a:pt x="976" y="459"/>
                    <a:pt x="982" y="464"/>
                    <a:pt x="982" y="47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7" name="Forma 6"/>
            <p:cNvSpPr/>
            <p:nvPr/>
          </p:nvSpPr>
          <p:spPr>
            <a:xfrm>
              <a:off x="548640" y="1097280"/>
              <a:ext cx="2194560" cy="219456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88900" cap="rnd">
              <a:solidFill>
                <a:srgbClr val="2E4A9E"/>
              </a:solidFill>
              <a:round/>
            </a:ln>
          </p:spPr>
        </p:sp>
        <p:sp>
          <p:nvSpPr>
            <p:cNvPr id="8" name="Forma 7"/>
            <p:cNvSpPr txBox="1"/>
            <p:nvPr/>
          </p:nvSpPr>
          <p:spPr>
            <a:xfrm>
              <a:off x="852657" y="874478"/>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20336E"/>
                  </a:solidFill>
                  <a:latin typeface="Bahnschrift SemiBold Condensed"/>
                  <a:ea typeface="Bahnschrift SemiBold Condensed"/>
                  <a:cs typeface="Bahnschrift SemiBold Condensed"/>
                  <a:sym typeface="Bahnschrift SemiBold Condensed"/>
                </a:rPr>
                <a:t>ApoB-48</a:t>
              </a:r>
              <a:endParaRPr lang="es-AR" sz="1050" dirty="0">
                <a:latin typeface="Bahnschrift SemiBold Condensed"/>
              </a:endParaRPr>
            </a:p>
          </p:txBody>
        </p:sp>
        <p:sp>
          <p:nvSpPr>
            <p:cNvPr id="9" name="Forma 8"/>
            <p:cNvSpPr/>
            <p:nvPr/>
          </p:nvSpPr>
          <p:spPr>
            <a:xfrm>
              <a:off x="548640" y="1097280"/>
              <a:ext cx="2194560" cy="2194560"/>
            </a:xfrm>
            <a:custGeom>
              <a:avLst/>
              <a:gdLst/>
              <a:ahLst/>
              <a:cxnLst/>
              <a:rect l="0" t="0" r="r" b="b"/>
              <a:pathLst>
                <a:path w="1000" h="1000" fill="none">
                  <a:moveTo>
                    <a:pt x="933" y="249"/>
                  </a:moveTo>
                  <a:cubicBezTo>
                    <a:pt x="935" y="253"/>
                    <a:pt x="943" y="268"/>
                    <a:pt x="948" y="278"/>
                  </a:cubicBezTo>
                  <a:cubicBezTo>
                    <a:pt x="952" y="287"/>
                    <a:pt x="956" y="297"/>
                    <a:pt x="961" y="308"/>
                  </a:cubicBezTo>
                  <a:cubicBezTo>
                    <a:pt x="965" y="318"/>
                    <a:pt x="969" y="328"/>
                    <a:pt x="973" y="339"/>
                  </a:cubicBezTo>
                  <a:cubicBezTo>
                    <a:pt x="976" y="349"/>
                    <a:pt x="979" y="359"/>
                    <a:pt x="982" y="370"/>
                  </a:cubicBezTo>
                  <a:cubicBezTo>
                    <a:pt x="984" y="380"/>
                    <a:pt x="987" y="391"/>
                    <a:pt x="990" y="402"/>
                  </a:cubicBezTo>
                  <a:cubicBezTo>
                    <a:pt x="992" y="412"/>
                    <a:pt x="993" y="423"/>
                    <a:pt x="995" y="434"/>
                  </a:cubicBezTo>
                  <a:cubicBezTo>
                    <a:pt x="996" y="444"/>
                    <a:pt x="997" y="456"/>
                    <a:pt x="998" y="467"/>
                  </a:cubicBezTo>
                  <a:cubicBezTo>
                    <a:pt x="998" y="477"/>
                    <a:pt x="999" y="493"/>
                    <a:pt x="1000" y="499"/>
                  </a:cubicBezTo>
                </a:path>
              </a:pathLst>
            </a:custGeom>
            <a:noFill/>
            <a:ln w="63500" cap="rnd">
              <a:solidFill>
                <a:srgbClr val="27AE60"/>
              </a:solidFill>
              <a:round/>
            </a:ln>
          </p:spPr>
        </p:sp>
        <p:sp>
          <p:nvSpPr>
            <p:cNvPr id="10" name="Forma 9"/>
            <p:cNvSpPr txBox="1"/>
            <p:nvPr/>
          </p:nvSpPr>
          <p:spPr>
            <a:xfrm>
              <a:off x="2442924" y="1753825"/>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1B7943"/>
                  </a:solidFill>
                  <a:latin typeface="Bahnschrift SemiBold Condensed"/>
                  <a:ea typeface="Bahnschrift SemiBold Condensed"/>
                  <a:cs typeface="Bahnschrift SemiBold Condensed"/>
                  <a:sym typeface="Bahnschrift SemiBold Condensed"/>
                </a:rPr>
                <a:t>C-II</a:t>
              </a:r>
              <a:endParaRPr lang="es-AR" sz="1050" dirty="0">
                <a:latin typeface="Bahnschrift SemiBold Condensed"/>
              </a:endParaRPr>
            </a:p>
          </p:txBody>
        </p:sp>
        <p:sp>
          <p:nvSpPr>
            <p:cNvPr id="11" name="Forma 10"/>
            <p:cNvSpPr/>
            <p:nvPr/>
          </p:nvSpPr>
          <p:spPr>
            <a:xfrm>
              <a:off x="548640" y="1097280"/>
              <a:ext cx="2194560" cy="2194560"/>
            </a:xfrm>
            <a:custGeom>
              <a:avLst/>
              <a:gdLst/>
              <a:ahLst/>
              <a:cxnLst/>
              <a:rect l="0" t="0" r="r" b="b"/>
              <a:pathLst>
                <a:path w="1000" h="1000" fill="none">
                  <a:moveTo>
                    <a:pt x="969" y="671"/>
                  </a:moveTo>
                  <a:cubicBezTo>
                    <a:pt x="967" y="676"/>
                    <a:pt x="961" y="691"/>
                    <a:pt x="957" y="701"/>
                  </a:cubicBezTo>
                  <a:cubicBezTo>
                    <a:pt x="952" y="710"/>
                    <a:pt x="948" y="720"/>
                    <a:pt x="943" y="730"/>
                  </a:cubicBezTo>
                  <a:cubicBezTo>
                    <a:pt x="938" y="739"/>
                    <a:pt x="932" y="749"/>
                    <a:pt x="927" y="759"/>
                  </a:cubicBezTo>
                  <a:cubicBezTo>
                    <a:pt x="921" y="768"/>
                    <a:pt x="915" y="777"/>
                    <a:pt x="909" y="786"/>
                  </a:cubicBezTo>
                  <a:cubicBezTo>
                    <a:pt x="902" y="794"/>
                    <a:pt x="895" y="803"/>
                    <a:pt x="889" y="812"/>
                  </a:cubicBezTo>
                  <a:cubicBezTo>
                    <a:pt x="882" y="820"/>
                    <a:pt x="875" y="828"/>
                    <a:pt x="868" y="837"/>
                  </a:cubicBezTo>
                  <a:cubicBezTo>
                    <a:pt x="860" y="845"/>
                    <a:pt x="852" y="853"/>
                    <a:pt x="845" y="861"/>
                  </a:cubicBezTo>
                  <a:cubicBezTo>
                    <a:pt x="837" y="868"/>
                    <a:pt x="825" y="879"/>
                    <a:pt x="821" y="883"/>
                  </a:cubicBezTo>
                </a:path>
              </a:pathLst>
            </a:custGeom>
            <a:noFill/>
            <a:ln w="63500" cap="rnd">
              <a:solidFill>
                <a:srgbClr val="8E44AD"/>
              </a:solidFill>
              <a:round/>
            </a:ln>
          </p:spPr>
        </p:sp>
        <p:sp>
          <p:nvSpPr>
            <p:cNvPr id="12" name="Forma 11"/>
            <p:cNvSpPr txBox="1"/>
            <p:nvPr/>
          </p:nvSpPr>
          <p:spPr>
            <a:xfrm>
              <a:off x="2252346" y="2788978"/>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632F79"/>
                  </a:solidFill>
                  <a:latin typeface="Bahnschrift SemiBold Condensed"/>
                  <a:ea typeface="Bahnschrift SemiBold Condensed"/>
                  <a:cs typeface="Bahnschrift SemiBold Condensed"/>
                  <a:sym typeface="Bahnschrift SemiBold Condensed"/>
                </a:rPr>
                <a:t>E</a:t>
              </a:r>
              <a:endParaRPr lang="es-AR" sz="1050" dirty="0">
                <a:latin typeface="Bahnschrift SemiBold Condensed"/>
              </a:endParaRPr>
            </a:p>
          </p:txBody>
        </p:sp>
        <p:sp>
          <p:nvSpPr>
            <p:cNvPr id="13" name="Forma 12"/>
            <p:cNvSpPr txBox="1"/>
            <p:nvPr/>
          </p:nvSpPr>
          <p:spPr>
            <a:xfrm>
              <a:off x="548640" y="1755648"/>
              <a:ext cx="2194560" cy="877824"/>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QM</a:t>
              </a:r>
              <a:endParaRPr lang="es-AR" sz="1800" dirty="0">
                <a:latin typeface="Bahnschrift SemiBold Condensed"/>
              </a:endParaRPr>
            </a:p>
          </p:txBody>
        </p:sp>
      </p:grpSp>
      <p:grpSp>
        <p:nvGrpSpPr>
          <p:cNvPr id="14" name="VLDL grande"/>
          <p:cNvGrpSpPr/>
          <p:nvPr/>
        </p:nvGrpSpPr>
        <p:grpSpPr>
          <a:xfrm>
            <a:off x="777240" y="3670606"/>
            <a:ext cx="2391657" cy="1998674"/>
            <a:chOff x="777240" y="3670606"/>
            <a:chExt cx="2391657" cy="1998674"/>
          </a:xfrm>
        </p:grpSpPr>
        <p:sp>
          <p:nvSpPr>
            <p:cNvPr id="15" name="Forma 14"/>
            <p:cNvSpPr/>
            <p:nvPr/>
          </p:nvSpPr>
          <p:spPr>
            <a:xfrm>
              <a:off x="777240" y="3931920"/>
              <a:ext cx="1737360" cy="1737360"/>
            </a:xfrm>
            <a:prstGeom prst="ellipse">
              <a:avLst/>
            </a:prstGeom>
            <a:gradFill rotWithShape="1">
              <a:gsLst>
                <a:gs pos="0">
                  <a:srgbClr val="FBEADB"/>
                </a:gs>
                <a:gs pos="70000">
                  <a:srgbClr val="F5CBA7"/>
                </a:gs>
                <a:gs pos="100000">
                  <a:srgbClr val="C4A285"/>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16" name="Forma 15"/>
            <p:cNvSpPr/>
            <p:nvPr/>
          </p:nvSpPr>
          <p:spPr>
            <a:xfrm>
              <a:off x="777240" y="3931920"/>
              <a:ext cx="1737360" cy="1737360"/>
            </a:xfrm>
            <a:custGeom>
              <a:avLst/>
              <a:gdLst/>
              <a:ahLst/>
              <a:cxnLst/>
              <a:rect l="0" t="0" r="r" b="b"/>
              <a:pathLst>
                <a:path w="1000" h="1000">
                  <a:moveTo>
                    <a:pt x="986" y="500"/>
                  </a:moveTo>
                  <a:cubicBezTo>
                    <a:pt x="986" y="508"/>
                    <a:pt x="978" y="516"/>
                    <a:pt x="970" y="516"/>
                  </a:cubicBezTo>
                  <a:cubicBezTo>
                    <a:pt x="961" y="516"/>
                    <a:pt x="954" y="508"/>
                    <a:pt x="954" y="500"/>
                  </a:cubicBezTo>
                  <a:cubicBezTo>
                    <a:pt x="954" y="491"/>
                    <a:pt x="961" y="484"/>
                    <a:pt x="970" y="484"/>
                  </a:cubicBezTo>
                  <a:cubicBezTo>
                    <a:pt x="978" y="484"/>
                    <a:pt x="986" y="491"/>
                    <a:pt x="986" y="500"/>
                  </a:cubicBezTo>
                  <a:close/>
                  <a:moveTo>
                    <a:pt x="984" y="534"/>
                  </a:moveTo>
                  <a:cubicBezTo>
                    <a:pt x="984" y="542"/>
                    <a:pt x="976" y="550"/>
                    <a:pt x="968" y="550"/>
                  </a:cubicBezTo>
                  <a:cubicBezTo>
                    <a:pt x="959" y="550"/>
                    <a:pt x="952" y="542"/>
                    <a:pt x="952" y="534"/>
                  </a:cubicBezTo>
                  <a:cubicBezTo>
                    <a:pt x="952" y="525"/>
                    <a:pt x="959" y="518"/>
                    <a:pt x="968" y="518"/>
                  </a:cubicBezTo>
                  <a:cubicBezTo>
                    <a:pt x="976" y="518"/>
                    <a:pt x="984" y="525"/>
                    <a:pt x="984" y="534"/>
                  </a:cubicBezTo>
                  <a:close/>
                  <a:moveTo>
                    <a:pt x="980" y="569"/>
                  </a:moveTo>
                  <a:cubicBezTo>
                    <a:pt x="980" y="577"/>
                    <a:pt x="972" y="585"/>
                    <a:pt x="964" y="585"/>
                  </a:cubicBezTo>
                  <a:cubicBezTo>
                    <a:pt x="955" y="585"/>
                    <a:pt x="948" y="577"/>
                    <a:pt x="948" y="569"/>
                  </a:cubicBezTo>
                  <a:cubicBezTo>
                    <a:pt x="948" y="560"/>
                    <a:pt x="955" y="553"/>
                    <a:pt x="964" y="553"/>
                  </a:cubicBezTo>
                  <a:cubicBezTo>
                    <a:pt x="972" y="553"/>
                    <a:pt x="980" y="560"/>
                    <a:pt x="980" y="569"/>
                  </a:cubicBezTo>
                  <a:close/>
                  <a:moveTo>
                    <a:pt x="974" y="603"/>
                  </a:moveTo>
                  <a:cubicBezTo>
                    <a:pt x="974" y="611"/>
                    <a:pt x="966" y="619"/>
                    <a:pt x="958" y="619"/>
                  </a:cubicBezTo>
                  <a:cubicBezTo>
                    <a:pt x="949" y="619"/>
                    <a:pt x="942" y="611"/>
                    <a:pt x="942" y="603"/>
                  </a:cubicBezTo>
                  <a:cubicBezTo>
                    <a:pt x="942" y="594"/>
                    <a:pt x="949" y="587"/>
                    <a:pt x="958" y="587"/>
                  </a:cubicBezTo>
                  <a:cubicBezTo>
                    <a:pt x="966" y="587"/>
                    <a:pt x="974" y="594"/>
                    <a:pt x="974" y="603"/>
                  </a:cubicBezTo>
                  <a:close/>
                  <a:moveTo>
                    <a:pt x="965" y="636"/>
                  </a:moveTo>
                  <a:cubicBezTo>
                    <a:pt x="965" y="644"/>
                    <a:pt x="957" y="652"/>
                    <a:pt x="949" y="652"/>
                  </a:cubicBezTo>
                  <a:cubicBezTo>
                    <a:pt x="940" y="652"/>
                    <a:pt x="933" y="644"/>
                    <a:pt x="933" y="636"/>
                  </a:cubicBezTo>
                  <a:cubicBezTo>
                    <a:pt x="933" y="627"/>
                    <a:pt x="940" y="620"/>
                    <a:pt x="949" y="620"/>
                  </a:cubicBezTo>
                  <a:cubicBezTo>
                    <a:pt x="957" y="620"/>
                    <a:pt x="965" y="627"/>
                    <a:pt x="965" y="636"/>
                  </a:cubicBezTo>
                  <a:close/>
                  <a:moveTo>
                    <a:pt x="954" y="669"/>
                  </a:moveTo>
                  <a:cubicBezTo>
                    <a:pt x="954" y="677"/>
                    <a:pt x="946" y="685"/>
                    <a:pt x="938" y="685"/>
                  </a:cubicBezTo>
                  <a:cubicBezTo>
                    <a:pt x="929" y="685"/>
                    <a:pt x="922" y="677"/>
                    <a:pt x="922" y="669"/>
                  </a:cubicBezTo>
                  <a:cubicBezTo>
                    <a:pt x="922" y="660"/>
                    <a:pt x="929" y="653"/>
                    <a:pt x="938" y="653"/>
                  </a:cubicBezTo>
                  <a:cubicBezTo>
                    <a:pt x="946" y="653"/>
                    <a:pt x="954" y="660"/>
                    <a:pt x="954" y="669"/>
                  </a:cubicBezTo>
                  <a:close/>
                  <a:moveTo>
                    <a:pt x="940" y="701"/>
                  </a:moveTo>
                  <a:cubicBezTo>
                    <a:pt x="940" y="709"/>
                    <a:pt x="932" y="717"/>
                    <a:pt x="924" y="717"/>
                  </a:cubicBezTo>
                  <a:cubicBezTo>
                    <a:pt x="915" y="717"/>
                    <a:pt x="908" y="709"/>
                    <a:pt x="908" y="701"/>
                  </a:cubicBezTo>
                  <a:cubicBezTo>
                    <a:pt x="908" y="692"/>
                    <a:pt x="915" y="685"/>
                    <a:pt x="924" y="685"/>
                  </a:cubicBezTo>
                  <a:cubicBezTo>
                    <a:pt x="932" y="685"/>
                    <a:pt x="940" y="692"/>
                    <a:pt x="940" y="701"/>
                  </a:cubicBezTo>
                  <a:close/>
                  <a:moveTo>
                    <a:pt x="924" y="732"/>
                  </a:moveTo>
                  <a:cubicBezTo>
                    <a:pt x="924" y="740"/>
                    <a:pt x="916" y="748"/>
                    <a:pt x="908" y="748"/>
                  </a:cubicBezTo>
                  <a:cubicBezTo>
                    <a:pt x="899" y="748"/>
                    <a:pt x="892" y="740"/>
                    <a:pt x="892" y="732"/>
                  </a:cubicBezTo>
                  <a:cubicBezTo>
                    <a:pt x="892" y="723"/>
                    <a:pt x="899" y="716"/>
                    <a:pt x="908" y="716"/>
                  </a:cubicBezTo>
                  <a:cubicBezTo>
                    <a:pt x="916" y="716"/>
                    <a:pt x="924" y="723"/>
                    <a:pt x="924" y="732"/>
                  </a:cubicBezTo>
                  <a:close/>
                  <a:moveTo>
                    <a:pt x="906" y="762"/>
                  </a:moveTo>
                  <a:cubicBezTo>
                    <a:pt x="906" y="770"/>
                    <a:pt x="898" y="778"/>
                    <a:pt x="890" y="778"/>
                  </a:cubicBezTo>
                  <a:cubicBezTo>
                    <a:pt x="881" y="778"/>
                    <a:pt x="874" y="770"/>
                    <a:pt x="874" y="762"/>
                  </a:cubicBezTo>
                  <a:cubicBezTo>
                    <a:pt x="874" y="753"/>
                    <a:pt x="881" y="746"/>
                    <a:pt x="890" y="746"/>
                  </a:cubicBezTo>
                  <a:cubicBezTo>
                    <a:pt x="898" y="746"/>
                    <a:pt x="906" y="753"/>
                    <a:pt x="906" y="762"/>
                  </a:cubicBezTo>
                  <a:close/>
                  <a:moveTo>
                    <a:pt x="885" y="790"/>
                  </a:moveTo>
                  <a:cubicBezTo>
                    <a:pt x="885" y="798"/>
                    <a:pt x="877" y="806"/>
                    <a:pt x="869" y="806"/>
                  </a:cubicBezTo>
                  <a:cubicBezTo>
                    <a:pt x="860" y="806"/>
                    <a:pt x="853" y="798"/>
                    <a:pt x="853" y="790"/>
                  </a:cubicBezTo>
                  <a:cubicBezTo>
                    <a:pt x="853" y="781"/>
                    <a:pt x="860" y="774"/>
                    <a:pt x="869" y="774"/>
                  </a:cubicBezTo>
                  <a:cubicBezTo>
                    <a:pt x="877" y="774"/>
                    <a:pt x="885" y="781"/>
                    <a:pt x="885" y="790"/>
                  </a:cubicBezTo>
                  <a:close/>
                  <a:moveTo>
                    <a:pt x="863" y="816"/>
                  </a:moveTo>
                  <a:cubicBezTo>
                    <a:pt x="863" y="824"/>
                    <a:pt x="855" y="832"/>
                    <a:pt x="847" y="832"/>
                  </a:cubicBezTo>
                  <a:cubicBezTo>
                    <a:pt x="838" y="832"/>
                    <a:pt x="831" y="824"/>
                    <a:pt x="831" y="816"/>
                  </a:cubicBezTo>
                  <a:cubicBezTo>
                    <a:pt x="831" y="807"/>
                    <a:pt x="838" y="800"/>
                    <a:pt x="847" y="800"/>
                  </a:cubicBezTo>
                  <a:cubicBezTo>
                    <a:pt x="855" y="800"/>
                    <a:pt x="863" y="807"/>
                    <a:pt x="863" y="816"/>
                  </a:cubicBezTo>
                  <a:close/>
                  <a:moveTo>
                    <a:pt x="839" y="841"/>
                  </a:moveTo>
                  <a:cubicBezTo>
                    <a:pt x="839" y="849"/>
                    <a:pt x="831" y="857"/>
                    <a:pt x="823" y="857"/>
                  </a:cubicBezTo>
                  <a:cubicBezTo>
                    <a:pt x="814" y="857"/>
                    <a:pt x="807" y="849"/>
                    <a:pt x="807" y="841"/>
                  </a:cubicBezTo>
                  <a:cubicBezTo>
                    <a:pt x="807" y="832"/>
                    <a:pt x="814" y="825"/>
                    <a:pt x="823" y="825"/>
                  </a:cubicBezTo>
                  <a:cubicBezTo>
                    <a:pt x="831" y="825"/>
                    <a:pt x="839" y="832"/>
                    <a:pt x="839" y="841"/>
                  </a:cubicBezTo>
                  <a:close/>
                  <a:moveTo>
                    <a:pt x="812" y="864"/>
                  </a:moveTo>
                  <a:cubicBezTo>
                    <a:pt x="812" y="872"/>
                    <a:pt x="804" y="880"/>
                    <a:pt x="796" y="880"/>
                  </a:cubicBezTo>
                  <a:cubicBezTo>
                    <a:pt x="787" y="880"/>
                    <a:pt x="780" y="872"/>
                    <a:pt x="780" y="864"/>
                  </a:cubicBezTo>
                  <a:cubicBezTo>
                    <a:pt x="780" y="855"/>
                    <a:pt x="787" y="848"/>
                    <a:pt x="796" y="848"/>
                  </a:cubicBezTo>
                  <a:cubicBezTo>
                    <a:pt x="804" y="848"/>
                    <a:pt x="812" y="855"/>
                    <a:pt x="812" y="864"/>
                  </a:cubicBezTo>
                  <a:close/>
                  <a:moveTo>
                    <a:pt x="785" y="885"/>
                  </a:moveTo>
                  <a:cubicBezTo>
                    <a:pt x="785" y="893"/>
                    <a:pt x="777" y="901"/>
                    <a:pt x="769" y="901"/>
                  </a:cubicBezTo>
                  <a:cubicBezTo>
                    <a:pt x="760" y="901"/>
                    <a:pt x="753" y="893"/>
                    <a:pt x="753" y="885"/>
                  </a:cubicBezTo>
                  <a:cubicBezTo>
                    <a:pt x="753" y="876"/>
                    <a:pt x="760" y="869"/>
                    <a:pt x="769" y="869"/>
                  </a:cubicBezTo>
                  <a:cubicBezTo>
                    <a:pt x="777" y="869"/>
                    <a:pt x="785" y="876"/>
                    <a:pt x="785" y="885"/>
                  </a:cubicBezTo>
                  <a:close/>
                  <a:moveTo>
                    <a:pt x="755" y="904"/>
                  </a:moveTo>
                  <a:cubicBezTo>
                    <a:pt x="755" y="912"/>
                    <a:pt x="747" y="920"/>
                    <a:pt x="739" y="920"/>
                  </a:cubicBezTo>
                  <a:cubicBezTo>
                    <a:pt x="730" y="920"/>
                    <a:pt x="723" y="912"/>
                    <a:pt x="723" y="904"/>
                  </a:cubicBezTo>
                  <a:cubicBezTo>
                    <a:pt x="723" y="895"/>
                    <a:pt x="730" y="888"/>
                    <a:pt x="739" y="888"/>
                  </a:cubicBezTo>
                  <a:cubicBezTo>
                    <a:pt x="747" y="888"/>
                    <a:pt x="755" y="895"/>
                    <a:pt x="755" y="904"/>
                  </a:cubicBezTo>
                  <a:close/>
                  <a:moveTo>
                    <a:pt x="725" y="920"/>
                  </a:moveTo>
                  <a:cubicBezTo>
                    <a:pt x="725" y="928"/>
                    <a:pt x="717" y="936"/>
                    <a:pt x="709" y="936"/>
                  </a:cubicBezTo>
                  <a:cubicBezTo>
                    <a:pt x="700" y="936"/>
                    <a:pt x="693" y="928"/>
                    <a:pt x="693" y="920"/>
                  </a:cubicBezTo>
                  <a:cubicBezTo>
                    <a:pt x="693" y="911"/>
                    <a:pt x="700" y="904"/>
                    <a:pt x="709" y="904"/>
                  </a:cubicBezTo>
                  <a:cubicBezTo>
                    <a:pt x="717" y="904"/>
                    <a:pt x="725" y="911"/>
                    <a:pt x="725" y="920"/>
                  </a:cubicBezTo>
                  <a:close/>
                  <a:moveTo>
                    <a:pt x="693" y="935"/>
                  </a:moveTo>
                  <a:cubicBezTo>
                    <a:pt x="693" y="943"/>
                    <a:pt x="685" y="951"/>
                    <a:pt x="677" y="951"/>
                  </a:cubicBezTo>
                  <a:cubicBezTo>
                    <a:pt x="668" y="951"/>
                    <a:pt x="661" y="943"/>
                    <a:pt x="661" y="935"/>
                  </a:cubicBezTo>
                  <a:cubicBezTo>
                    <a:pt x="661" y="926"/>
                    <a:pt x="668" y="919"/>
                    <a:pt x="677" y="919"/>
                  </a:cubicBezTo>
                  <a:cubicBezTo>
                    <a:pt x="685" y="919"/>
                    <a:pt x="693" y="926"/>
                    <a:pt x="693" y="935"/>
                  </a:cubicBezTo>
                  <a:close/>
                  <a:moveTo>
                    <a:pt x="661" y="946"/>
                  </a:moveTo>
                  <a:cubicBezTo>
                    <a:pt x="661" y="954"/>
                    <a:pt x="653" y="962"/>
                    <a:pt x="645" y="962"/>
                  </a:cubicBezTo>
                  <a:cubicBezTo>
                    <a:pt x="636" y="962"/>
                    <a:pt x="629" y="954"/>
                    <a:pt x="629" y="946"/>
                  </a:cubicBezTo>
                  <a:cubicBezTo>
                    <a:pt x="629" y="937"/>
                    <a:pt x="636" y="930"/>
                    <a:pt x="645" y="930"/>
                  </a:cubicBezTo>
                  <a:cubicBezTo>
                    <a:pt x="653" y="930"/>
                    <a:pt x="661" y="937"/>
                    <a:pt x="661" y="946"/>
                  </a:cubicBezTo>
                  <a:close/>
                  <a:moveTo>
                    <a:pt x="627" y="956"/>
                  </a:moveTo>
                  <a:cubicBezTo>
                    <a:pt x="627" y="964"/>
                    <a:pt x="619" y="972"/>
                    <a:pt x="611" y="972"/>
                  </a:cubicBezTo>
                  <a:cubicBezTo>
                    <a:pt x="602" y="972"/>
                    <a:pt x="595" y="964"/>
                    <a:pt x="595" y="956"/>
                  </a:cubicBezTo>
                  <a:cubicBezTo>
                    <a:pt x="595" y="947"/>
                    <a:pt x="602" y="940"/>
                    <a:pt x="611" y="940"/>
                  </a:cubicBezTo>
                  <a:cubicBezTo>
                    <a:pt x="619" y="940"/>
                    <a:pt x="627" y="947"/>
                    <a:pt x="627" y="956"/>
                  </a:cubicBezTo>
                  <a:close/>
                  <a:moveTo>
                    <a:pt x="593" y="963"/>
                  </a:moveTo>
                  <a:cubicBezTo>
                    <a:pt x="593" y="971"/>
                    <a:pt x="585" y="979"/>
                    <a:pt x="577" y="979"/>
                  </a:cubicBezTo>
                  <a:cubicBezTo>
                    <a:pt x="568" y="979"/>
                    <a:pt x="561" y="971"/>
                    <a:pt x="561" y="963"/>
                  </a:cubicBezTo>
                  <a:cubicBezTo>
                    <a:pt x="561" y="954"/>
                    <a:pt x="568" y="947"/>
                    <a:pt x="577" y="947"/>
                  </a:cubicBezTo>
                  <a:cubicBezTo>
                    <a:pt x="585" y="947"/>
                    <a:pt x="593" y="954"/>
                    <a:pt x="593" y="963"/>
                  </a:cubicBezTo>
                  <a:close/>
                  <a:moveTo>
                    <a:pt x="559" y="967"/>
                  </a:moveTo>
                  <a:cubicBezTo>
                    <a:pt x="559" y="975"/>
                    <a:pt x="551" y="983"/>
                    <a:pt x="543" y="983"/>
                  </a:cubicBezTo>
                  <a:cubicBezTo>
                    <a:pt x="534" y="983"/>
                    <a:pt x="527" y="975"/>
                    <a:pt x="527" y="967"/>
                  </a:cubicBezTo>
                  <a:cubicBezTo>
                    <a:pt x="527" y="958"/>
                    <a:pt x="534" y="951"/>
                    <a:pt x="543" y="951"/>
                  </a:cubicBezTo>
                  <a:cubicBezTo>
                    <a:pt x="551" y="951"/>
                    <a:pt x="559" y="958"/>
                    <a:pt x="559" y="967"/>
                  </a:cubicBezTo>
                  <a:close/>
                  <a:moveTo>
                    <a:pt x="524" y="969"/>
                  </a:moveTo>
                  <a:cubicBezTo>
                    <a:pt x="524" y="977"/>
                    <a:pt x="516" y="985"/>
                    <a:pt x="508" y="985"/>
                  </a:cubicBezTo>
                  <a:cubicBezTo>
                    <a:pt x="499" y="985"/>
                    <a:pt x="492" y="977"/>
                    <a:pt x="492" y="969"/>
                  </a:cubicBezTo>
                  <a:cubicBezTo>
                    <a:pt x="492" y="960"/>
                    <a:pt x="499" y="953"/>
                    <a:pt x="508" y="953"/>
                  </a:cubicBezTo>
                  <a:cubicBezTo>
                    <a:pt x="516" y="953"/>
                    <a:pt x="524" y="960"/>
                    <a:pt x="524" y="969"/>
                  </a:cubicBezTo>
                  <a:close/>
                  <a:moveTo>
                    <a:pt x="489" y="969"/>
                  </a:moveTo>
                  <a:cubicBezTo>
                    <a:pt x="489" y="977"/>
                    <a:pt x="481" y="985"/>
                    <a:pt x="473" y="985"/>
                  </a:cubicBezTo>
                  <a:cubicBezTo>
                    <a:pt x="464" y="985"/>
                    <a:pt x="457" y="977"/>
                    <a:pt x="457" y="969"/>
                  </a:cubicBezTo>
                  <a:cubicBezTo>
                    <a:pt x="457" y="960"/>
                    <a:pt x="464" y="953"/>
                    <a:pt x="473" y="953"/>
                  </a:cubicBezTo>
                  <a:cubicBezTo>
                    <a:pt x="481" y="953"/>
                    <a:pt x="489" y="960"/>
                    <a:pt x="489" y="969"/>
                  </a:cubicBezTo>
                  <a:close/>
                  <a:moveTo>
                    <a:pt x="455" y="966"/>
                  </a:moveTo>
                  <a:cubicBezTo>
                    <a:pt x="455" y="974"/>
                    <a:pt x="447" y="982"/>
                    <a:pt x="439" y="982"/>
                  </a:cubicBezTo>
                  <a:cubicBezTo>
                    <a:pt x="430" y="982"/>
                    <a:pt x="423" y="974"/>
                    <a:pt x="423" y="966"/>
                  </a:cubicBezTo>
                  <a:cubicBezTo>
                    <a:pt x="423" y="957"/>
                    <a:pt x="430" y="950"/>
                    <a:pt x="439" y="950"/>
                  </a:cubicBezTo>
                  <a:cubicBezTo>
                    <a:pt x="447" y="950"/>
                    <a:pt x="455" y="957"/>
                    <a:pt x="455" y="966"/>
                  </a:cubicBezTo>
                  <a:close/>
                  <a:moveTo>
                    <a:pt x="421" y="960"/>
                  </a:moveTo>
                  <a:cubicBezTo>
                    <a:pt x="421" y="968"/>
                    <a:pt x="413" y="976"/>
                    <a:pt x="405" y="976"/>
                  </a:cubicBezTo>
                  <a:cubicBezTo>
                    <a:pt x="396" y="976"/>
                    <a:pt x="389" y="968"/>
                    <a:pt x="389" y="960"/>
                  </a:cubicBezTo>
                  <a:cubicBezTo>
                    <a:pt x="389" y="951"/>
                    <a:pt x="396" y="944"/>
                    <a:pt x="405" y="944"/>
                  </a:cubicBezTo>
                  <a:cubicBezTo>
                    <a:pt x="413" y="944"/>
                    <a:pt x="421" y="951"/>
                    <a:pt x="421" y="960"/>
                  </a:cubicBezTo>
                  <a:close/>
                  <a:moveTo>
                    <a:pt x="387" y="952"/>
                  </a:moveTo>
                  <a:cubicBezTo>
                    <a:pt x="387" y="960"/>
                    <a:pt x="379" y="968"/>
                    <a:pt x="371" y="968"/>
                  </a:cubicBezTo>
                  <a:cubicBezTo>
                    <a:pt x="362" y="968"/>
                    <a:pt x="355" y="960"/>
                    <a:pt x="355" y="952"/>
                  </a:cubicBezTo>
                  <a:cubicBezTo>
                    <a:pt x="355" y="943"/>
                    <a:pt x="362" y="936"/>
                    <a:pt x="371" y="936"/>
                  </a:cubicBezTo>
                  <a:cubicBezTo>
                    <a:pt x="379" y="936"/>
                    <a:pt x="387" y="943"/>
                    <a:pt x="387" y="952"/>
                  </a:cubicBezTo>
                  <a:close/>
                  <a:moveTo>
                    <a:pt x="354" y="941"/>
                  </a:moveTo>
                  <a:cubicBezTo>
                    <a:pt x="354" y="949"/>
                    <a:pt x="346" y="957"/>
                    <a:pt x="338" y="957"/>
                  </a:cubicBezTo>
                  <a:cubicBezTo>
                    <a:pt x="329" y="957"/>
                    <a:pt x="322" y="949"/>
                    <a:pt x="322" y="941"/>
                  </a:cubicBezTo>
                  <a:cubicBezTo>
                    <a:pt x="322" y="932"/>
                    <a:pt x="329" y="925"/>
                    <a:pt x="338" y="925"/>
                  </a:cubicBezTo>
                  <a:cubicBezTo>
                    <a:pt x="346" y="925"/>
                    <a:pt x="354" y="932"/>
                    <a:pt x="354" y="941"/>
                  </a:cubicBezTo>
                  <a:close/>
                  <a:moveTo>
                    <a:pt x="322" y="928"/>
                  </a:moveTo>
                  <a:cubicBezTo>
                    <a:pt x="322" y="936"/>
                    <a:pt x="314" y="944"/>
                    <a:pt x="306" y="944"/>
                  </a:cubicBezTo>
                  <a:cubicBezTo>
                    <a:pt x="297" y="944"/>
                    <a:pt x="290" y="936"/>
                    <a:pt x="290" y="928"/>
                  </a:cubicBezTo>
                  <a:cubicBezTo>
                    <a:pt x="290" y="919"/>
                    <a:pt x="297" y="912"/>
                    <a:pt x="306" y="912"/>
                  </a:cubicBezTo>
                  <a:cubicBezTo>
                    <a:pt x="314" y="912"/>
                    <a:pt x="322" y="919"/>
                    <a:pt x="322" y="928"/>
                  </a:cubicBezTo>
                  <a:close/>
                  <a:moveTo>
                    <a:pt x="291" y="912"/>
                  </a:moveTo>
                  <a:cubicBezTo>
                    <a:pt x="291" y="920"/>
                    <a:pt x="283" y="928"/>
                    <a:pt x="275" y="928"/>
                  </a:cubicBezTo>
                  <a:cubicBezTo>
                    <a:pt x="266" y="928"/>
                    <a:pt x="259" y="920"/>
                    <a:pt x="259" y="912"/>
                  </a:cubicBezTo>
                  <a:cubicBezTo>
                    <a:pt x="259" y="903"/>
                    <a:pt x="266" y="896"/>
                    <a:pt x="275" y="896"/>
                  </a:cubicBezTo>
                  <a:cubicBezTo>
                    <a:pt x="283" y="896"/>
                    <a:pt x="291" y="903"/>
                    <a:pt x="291" y="912"/>
                  </a:cubicBezTo>
                  <a:close/>
                  <a:moveTo>
                    <a:pt x="261" y="894"/>
                  </a:moveTo>
                  <a:cubicBezTo>
                    <a:pt x="261" y="902"/>
                    <a:pt x="253" y="910"/>
                    <a:pt x="245" y="910"/>
                  </a:cubicBezTo>
                  <a:cubicBezTo>
                    <a:pt x="236" y="910"/>
                    <a:pt x="229" y="902"/>
                    <a:pt x="229" y="894"/>
                  </a:cubicBezTo>
                  <a:cubicBezTo>
                    <a:pt x="229" y="885"/>
                    <a:pt x="236" y="878"/>
                    <a:pt x="245" y="878"/>
                  </a:cubicBezTo>
                  <a:cubicBezTo>
                    <a:pt x="253" y="878"/>
                    <a:pt x="261" y="885"/>
                    <a:pt x="261" y="894"/>
                  </a:cubicBezTo>
                  <a:close/>
                  <a:moveTo>
                    <a:pt x="232" y="875"/>
                  </a:moveTo>
                  <a:cubicBezTo>
                    <a:pt x="232" y="883"/>
                    <a:pt x="224" y="891"/>
                    <a:pt x="216" y="891"/>
                  </a:cubicBezTo>
                  <a:cubicBezTo>
                    <a:pt x="207" y="891"/>
                    <a:pt x="200" y="883"/>
                    <a:pt x="200" y="875"/>
                  </a:cubicBezTo>
                  <a:cubicBezTo>
                    <a:pt x="200" y="866"/>
                    <a:pt x="207" y="859"/>
                    <a:pt x="216" y="859"/>
                  </a:cubicBezTo>
                  <a:cubicBezTo>
                    <a:pt x="224" y="859"/>
                    <a:pt x="232" y="866"/>
                    <a:pt x="232" y="875"/>
                  </a:cubicBezTo>
                  <a:close/>
                  <a:moveTo>
                    <a:pt x="205" y="853"/>
                  </a:moveTo>
                  <a:cubicBezTo>
                    <a:pt x="205" y="861"/>
                    <a:pt x="197" y="869"/>
                    <a:pt x="189" y="869"/>
                  </a:cubicBezTo>
                  <a:cubicBezTo>
                    <a:pt x="180" y="869"/>
                    <a:pt x="173" y="861"/>
                    <a:pt x="173" y="853"/>
                  </a:cubicBezTo>
                  <a:cubicBezTo>
                    <a:pt x="173" y="844"/>
                    <a:pt x="180" y="837"/>
                    <a:pt x="189" y="837"/>
                  </a:cubicBezTo>
                  <a:cubicBezTo>
                    <a:pt x="197" y="837"/>
                    <a:pt x="205" y="844"/>
                    <a:pt x="205" y="853"/>
                  </a:cubicBezTo>
                  <a:close/>
                  <a:moveTo>
                    <a:pt x="180" y="829"/>
                  </a:moveTo>
                  <a:cubicBezTo>
                    <a:pt x="180" y="837"/>
                    <a:pt x="172" y="845"/>
                    <a:pt x="164" y="845"/>
                  </a:cubicBezTo>
                  <a:cubicBezTo>
                    <a:pt x="155" y="845"/>
                    <a:pt x="148" y="837"/>
                    <a:pt x="148" y="829"/>
                  </a:cubicBezTo>
                  <a:cubicBezTo>
                    <a:pt x="148" y="820"/>
                    <a:pt x="155" y="813"/>
                    <a:pt x="164" y="813"/>
                  </a:cubicBezTo>
                  <a:cubicBezTo>
                    <a:pt x="172" y="813"/>
                    <a:pt x="180" y="820"/>
                    <a:pt x="180" y="829"/>
                  </a:cubicBezTo>
                  <a:close/>
                  <a:moveTo>
                    <a:pt x="157" y="803"/>
                  </a:moveTo>
                  <a:cubicBezTo>
                    <a:pt x="157" y="811"/>
                    <a:pt x="149" y="819"/>
                    <a:pt x="141" y="819"/>
                  </a:cubicBezTo>
                  <a:cubicBezTo>
                    <a:pt x="132" y="819"/>
                    <a:pt x="125" y="811"/>
                    <a:pt x="125" y="803"/>
                  </a:cubicBezTo>
                  <a:cubicBezTo>
                    <a:pt x="125" y="794"/>
                    <a:pt x="132" y="787"/>
                    <a:pt x="141" y="787"/>
                  </a:cubicBezTo>
                  <a:cubicBezTo>
                    <a:pt x="149" y="787"/>
                    <a:pt x="157" y="794"/>
                    <a:pt x="157" y="803"/>
                  </a:cubicBezTo>
                  <a:close/>
                  <a:moveTo>
                    <a:pt x="135" y="776"/>
                  </a:moveTo>
                  <a:cubicBezTo>
                    <a:pt x="135" y="784"/>
                    <a:pt x="127" y="792"/>
                    <a:pt x="119" y="792"/>
                  </a:cubicBezTo>
                  <a:cubicBezTo>
                    <a:pt x="110" y="792"/>
                    <a:pt x="103" y="784"/>
                    <a:pt x="103" y="776"/>
                  </a:cubicBezTo>
                  <a:cubicBezTo>
                    <a:pt x="103" y="767"/>
                    <a:pt x="110" y="760"/>
                    <a:pt x="119" y="760"/>
                  </a:cubicBezTo>
                  <a:cubicBezTo>
                    <a:pt x="127" y="760"/>
                    <a:pt x="135" y="767"/>
                    <a:pt x="135" y="776"/>
                  </a:cubicBezTo>
                  <a:close/>
                  <a:moveTo>
                    <a:pt x="116" y="747"/>
                  </a:moveTo>
                  <a:cubicBezTo>
                    <a:pt x="116" y="755"/>
                    <a:pt x="108" y="763"/>
                    <a:pt x="100" y="763"/>
                  </a:cubicBezTo>
                  <a:cubicBezTo>
                    <a:pt x="91" y="763"/>
                    <a:pt x="84" y="755"/>
                    <a:pt x="84" y="747"/>
                  </a:cubicBezTo>
                  <a:cubicBezTo>
                    <a:pt x="84" y="738"/>
                    <a:pt x="91" y="731"/>
                    <a:pt x="100" y="731"/>
                  </a:cubicBezTo>
                  <a:cubicBezTo>
                    <a:pt x="108" y="731"/>
                    <a:pt x="116" y="738"/>
                    <a:pt x="116" y="747"/>
                  </a:cubicBezTo>
                  <a:close/>
                  <a:moveTo>
                    <a:pt x="99" y="717"/>
                  </a:moveTo>
                  <a:cubicBezTo>
                    <a:pt x="99" y="725"/>
                    <a:pt x="91" y="733"/>
                    <a:pt x="83" y="733"/>
                  </a:cubicBezTo>
                  <a:cubicBezTo>
                    <a:pt x="74" y="733"/>
                    <a:pt x="67" y="725"/>
                    <a:pt x="67" y="717"/>
                  </a:cubicBezTo>
                  <a:cubicBezTo>
                    <a:pt x="67" y="708"/>
                    <a:pt x="74" y="701"/>
                    <a:pt x="83" y="701"/>
                  </a:cubicBezTo>
                  <a:cubicBezTo>
                    <a:pt x="91" y="701"/>
                    <a:pt x="99" y="708"/>
                    <a:pt x="99" y="717"/>
                  </a:cubicBezTo>
                  <a:close/>
                  <a:moveTo>
                    <a:pt x="84" y="685"/>
                  </a:moveTo>
                  <a:cubicBezTo>
                    <a:pt x="84" y="693"/>
                    <a:pt x="76" y="701"/>
                    <a:pt x="68" y="701"/>
                  </a:cubicBezTo>
                  <a:cubicBezTo>
                    <a:pt x="59" y="701"/>
                    <a:pt x="52" y="693"/>
                    <a:pt x="52" y="685"/>
                  </a:cubicBezTo>
                  <a:cubicBezTo>
                    <a:pt x="52" y="676"/>
                    <a:pt x="59" y="669"/>
                    <a:pt x="68" y="669"/>
                  </a:cubicBezTo>
                  <a:cubicBezTo>
                    <a:pt x="76" y="669"/>
                    <a:pt x="84" y="676"/>
                    <a:pt x="84" y="685"/>
                  </a:cubicBezTo>
                  <a:close/>
                  <a:moveTo>
                    <a:pt x="71" y="653"/>
                  </a:moveTo>
                  <a:cubicBezTo>
                    <a:pt x="71" y="661"/>
                    <a:pt x="63" y="669"/>
                    <a:pt x="55" y="669"/>
                  </a:cubicBezTo>
                  <a:cubicBezTo>
                    <a:pt x="46" y="669"/>
                    <a:pt x="39" y="661"/>
                    <a:pt x="39" y="653"/>
                  </a:cubicBezTo>
                  <a:cubicBezTo>
                    <a:pt x="39" y="644"/>
                    <a:pt x="46" y="637"/>
                    <a:pt x="55" y="637"/>
                  </a:cubicBezTo>
                  <a:cubicBezTo>
                    <a:pt x="63" y="637"/>
                    <a:pt x="71" y="644"/>
                    <a:pt x="71" y="653"/>
                  </a:cubicBezTo>
                  <a:close/>
                  <a:moveTo>
                    <a:pt x="61" y="620"/>
                  </a:moveTo>
                  <a:cubicBezTo>
                    <a:pt x="61" y="628"/>
                    <a:pt x="53" y="636"/>
                    <a:pt x="45" y="636"/>
                  </a:cubicBezTo>
                  <a:cubicBezTo>
                    <a:pt x="36" y="636"/>
                    <a:pt x="29" y="628"/>
                    <a:pt x="29" y="620"/>
                  </a:cubicBezTo>
                  <a:cubicBezTo>
                    <a:pt x="29" y="611"/>
                    <a:pt x="36" y="604"/>
                    <a:pt x="45" y="604"/>
                  </a:cubicBezTo>
                  <a:cubicBezTo>
                    <a:pt x="53" y="604"/>
                    <a:pt x="61" y="611"/>
                    <a:pt x="61" y="620"/>
                  </a:cubicBezTo>
                  <a:close/>
                  <a:moveTo>
                    <a:pt x="54" y="586"/>
                  </a:moveTo>
                  <a:cubicBezTo>
                    <a:pt x="54" y="594"/>
                    <a:pt x="46" y="602"/>
                    <a:pt x="38" y="602"/>
                  </a:cubicBezTo>
                  <a:cubicBezTo>
                    <a:pt x="29" y="602"/>
                    <a:pt x="22" y="594"/>
                    <a:pt x="22" y="586"/>
                  </a:cubicBezTo>
                  <a:cubicBezTo>
                    <a:pt x="22" y="577"/>
                    <a:pt x="29" y="570"/>
                    <a:pt x="38" y="570"/>
                  </a:cubicBezTo>
                  <a:cubicBezTo>
                    <a:pt x="46" y="570"/>
                    <a:pt x="54" y="577"/>
                    <a:pt x="54" y="586"/>
                  </a:cubicBezTo>
                  <a:close/>
                  <a:moveTo>
                    <a:pt x="48" y="552"/>
                  </a:moveTo>
                  <a:cubicBezTo>
                    <a:pt x="48" y="560"/>
                    <a:pt x="40" y="568"/>
                    <a:pt x="32" y="568"/>
                  </a:cubicBezTo>
                  <a:cubicBezTo>
                    <a:pt x="23" y="568"/>
                    <a:pt x="16" y="560"/>
                    <a:pt x="16" y="552"/>
                  </a:cubicBezTo>
                  <a:cubicBezTo>
                    <a:pt x="16" y="543"/>
                    <a:pt x="23" y="536"/>
                    <a:pt x="32" y="536"/>
                  </a:cubicBezTo>
                  <a:cubicBezTo>
                    <a:pt x="40" y="536"/>
                    <a:pt x="48" y="543"/>
                    <a:pt x="48" y="552"/>
                  </a:cubicBezTo>
                  <a:close/>
                  <a:moveTo>
                    <a:pt x="46" y="517"/>
                  </a:moveTo>
                  <a:cubicBezTo>
                    <a:pt x="46" y="525"/>
                    <a:pt x="38" y="533"/>
                    <a:pt x="30" y="533"/>
                  </a:cubicBezTo>
                  <a:cubicBezTo>
                    <a:pt x="21" y="533"/>
                    <a:pt x="14" y="525"/>
                    <a:pt x="14" y="517"/>
                  </a:cubicBezTo>
                  <a:cubicBezTo>
                    <a:pt x="14" y="508"/>
                    <a:pt x="21" y="501"/>
                    <a:pt x="30" y="501"/>
                  </a:cubicBezTo>
                  <a:cubicBezTo>
                    <a:pt x="38" y="501"/>
                    <a:pt x="46" y="508"/>
                    <a:pt x="46" y="517"/>
                  </a:cubicBezTo>
                  <a:close/>
                  <a:moveTo>
                    <a:pt x="46" y="482"/>
                  </a:moveTo>
                  <a:cubicBezTo>
                    <a:pt x="46" y="490"/>
                    <a:pt x="38" y="498"/>
                    <a:pt x="30" y="498"/>
                  </a:cubicBezTo>
                  <a:cubicBezTo>
                    <a:pt x="21" y="498"/>
                    <a:pt x="14" y="490"/>
                    <a:pt x="14" y="482"/>
                  </a:cubicBezTo>
                  <a:cubicBezTo>
                    <a:pt x="14" y="473"/>
                    <a:pt x="21" y="466"/>
                    <a:pt x="30" y="466"/>
                  </a:cubicBezTo>
                  <a:cubicBezTo>
                    <a:pt x="38" y="466"/>
                    <a:pt x="46" y="473"/>
                    <a:pt x="46" y="482"/>
                  </a:cubicBezTo>
                  <a:close/>
                  <a:moveTo>
                    <a:pt x="48" y="447"/>
                  </a:moveTo>
                  <a:cubicBezTo>
                    <a:pt x="48" y="455"/>
                    <a:pt x="40" y="463"/>
                    <a:pt x="32" y="463"/>
                  </a:cubicBezTo>
                  <a:cubicBezTo>
                    <a:pt x="23" y="463"/>
                    <a:pt x="16" y="455"/>
                    <a:pt x="16" y="447"/>
                  </a:cubicBezTo>
                  <a:cubicBezTo>
                    <a:pt x="16" y="438"/>
                    <a:pt x="23" y="431"/>
                    <a:pt x="32" y="431"/>
                  </a:cubicBezTo>
                  <a:cubicBezTo>
                    <a:pt x="40" y="431"/>
                    <a:pt x="48" y="438"/>
                    <a:pt x="48" y="447"/>
                  </a:cubicBezTo>
                  <a:close/>
                  <a:moveTo>
                    <a:pt x="54" y="413"/>
                  </a:moveTo>
                  <a:cubicBezTo>
                    <a:pt x="54" y="421"/>
                    <a:pt x="46" y="429"/>
                    <a:pt x="38" y="429"/>
                  </a:cubicBezTo>
                  <a:cubicBezTo>
                    <a:pt x="29" y="429"/>
                    <a:pt x="22" y="421"/>
                    <a:pt x="22" y="413"/>
                  </a:cubicBezTo>
                  <a:cubicBezTo>
                    <a:pt x="22" y="404"/>
                    <a:pt x="29" y="397"/>
                    <a:pt x="38" y="397"/>
                  </a:cubicBezTo>
                  <a:cubicBezTo>
                    <a:pt x="46" y="397"/>
                    <a:pt x="54" y="404"/>
                    <a:pt x="54" y="413"/>
                  </a:cubicBezTo>
                  <a:close/>
                  <a:moveTo>
                    <a:pt x="61" y="379"/>
                  </a:moveTo>
                  <a:cubicBezTo>
                    <a:pt x="61" y="387"/>
                    <a:pt x="53" y="395"/>
                    <a:pt x="45" y="395"/>
                  </a:cubicBezTo>
                  <a:cubicBezTo>
                    <a:pt x="36" y="395"/>
                    <a:pt x="29" y="387"/>
                    <a:pt x="29" y="379"/>
                  </a:cubicBezTo>
                  <a:cubicBezTo>
                    <a:pt x="29" y="370"/>
                    <a:pt x="36" y="363"/>
                    <a:pt x="45" y="363"/>
                  </a:cubicBezTo>
                  <a:cubicBezTo>
                    <a:pt x="53" y="363"/>
                    <a:pt x="61" y="370"/>
                    <a:pt x="61" y="379"/>
                  </a:cubicBezTo>
                  <a:close/>
                  <a:moveTo>
                    <a:pt x="71" y="346"/>
                  </a:moveTo>
                  <a:cubicBezTo>
                    <a:pt x="71" y="354"/>
                    <a:pt x="63" y="362"/>
                    <a:pt x="55" y="362"/>
                  </a:cubicBezTo>
                  <a:cubicBezTo>
                    <a:pt x="46" y="362"/>
                    <a:pt x="39" y="354"/>
                    <a:pt x="39" y="346"/>
                  </a:cubicBezTo>
                  <a:cubicBezTo>
                    <a:pt x="39" y="337"/>
                    <a:pt x="46" y="330"/>
                    <a:pt x="55" y="330"/>
                  </a:cubicBezTo>
                  <a:cubicBezTo>
                    <a:pt x="63" y="330"/>
                    <a:pt x="71" y="337"/>
                    <a:pt x="71" y="346"/>
                  </a:cubicBezTo>
                  <a:close/>
                  <a:moveTo>
                    <a:pt x="84" y="314"/>
                  </a:moveTo>
                  <a:cubicBezTo>
                    <a:pt x="84" y="322"/>
                    <a:pt x="76" y="330"/>
                    <a:pt x="68" y="330"/>
                  </a:cubicBezTo>
                  <a:cubicBezTo>
                    <a:pt x="59" y="330"/>
                    <a:pt x="52" y="322"/>
                    <a:pt x="52" y="314"/>
                  </a:cubicBezTo>
                  <a:cubicBezTo>
                    <a:pt x="52" y="305"/>
                    <a:pt x="59" y="298"/>
                    <a:pt x="68" y="298"/>
                  </a:cubicBezTo>
                  <a:cubicBezTo>
                    <a:pt x="76" y="298"/>
                    <a:pt x="84" y="305"/>
                    <a:pt x="84" y="314"/>
                  </a:cubicBezTo>
                  <a:close/>
                  <a:moveTo>
                    <a:pt x="99" y="282"/>
                  </a:moveTo>
                  <a:cubicBezTo>
                    <a:pt x="99" y="290"/>
                    <a:pt x="91" y="298"/>
                    <a:pt x="83" y="298"/>
                  </a:cubicBezTo>
                  <a:cubicBezTo>
                    <a:pt x="74" y="298"/>
                    <a:pt x="67" y="290"/>
                    <a:pt x="67" y="282"/>
                  </a:cubicBezTo>
                  <a:cubicBezTo>
                    <a:pt x="67" y="273"/>
                    <a:pt x="74" y="266"/>
                    <a:pt x="83" y="266"/>
                  </a:cubicBezTo>
                  <a:cubicBezTo>
                    <a:pt x="91" y="266"/>
                    <a:pt x="99" y="273"/>
                    <a:pt x="99" y="282"/>
                  </a:cubicBezTo>
                  <a:close/>
                  <a:moveTo>
                    <a:pt x="116" y="252"/>
                  </a:moveTo>
                  <a:cubicBezTo>
                    <a:pt x="116" y="260"/>
                    <a:pt x="108" y="268"/>
                    <a:pt x="100" y="268"/>
                  </a:cubicBezTo>
                  <a:cubicBezTo>
                    <a:pt x="91" y="268"/>
                    <a:pt x="84" y="260"/>
                    <a:pt x="84" y="252"/>
                  </a:cubicBezTo>
                  <a:cubicBezTo>
                    <a:pt x="84" y="243"/>
                    <a:pt x="91" y="236"/>
                    <a:pt x="100" y="236"/>
                  </a:cubicBezTo>
                  <a:cubicBezTo>
                    <a:pt x="108" y="236"/>
                    <a:pt x="116" y="243"/>
                    <a:pt x="116" y="252"/>
                  </a:cubicBezTo>
                  <a:close/>
                  <a:moveTo>
                    <a:pt x="135" y="223"/>
                  </a:moveTo>
                  <a:cubicBezTo>
                    <a:pt x="135" y="231"/>
                    <a:pt x="127" y="239"/>
                    <a:pt x="119" y="239"/>
                  </a:cubicBezTo>
                  <a:cubicBezTo>
                    <a:pt x="110" y="239"/>
                    <a:pt x="103" y="231"/>
                    <a:pt x="103" y="223"/>
                  </a:cubicBezTo>
                  <a:cubicBezTo>
                    <a:pt x="103" y="214"/>
                    <a:pt x="110" y="207"/>
                    <a:pt x="119" y="207"/>
                  </a:cubicBezTo>
                  <a:cubicBezTo>
                    <a:pt x="127" y="207"/>
                    <a:pt x="135" y="214"/>
                    <a:pt x="135" y="223"/>
                  </a:cubicBezTo>
                  <a:close/>
                  <a:moveTo>
                    <a:pt x="157" y="196"/>
                  </a:moveTo>
                  <a:cubicBezTo>
                    <a:pt x="157" y="204"/>
                    <a:pt x="149" y="212"/>
                    <a:pt x="141" y="212"/>
                  </a:cubicBezTo>
                  <a:cubicBezTo>
                    <a:pt x="132" y="212"/>
                    <a:pt x="125" y="204"/>
                    <a:pt x="125" y="196"/>
                  </a:cubicBezTo>
                  <a:cubicBezTo>
                    <a:pt x="125" y="187"/>
                    <a:pt x="132" y="180"/>
                    <a:pt x="141" y="180"/>
                  </a:cubicBezTo>
                  <a:cubicBezTo>
                    <a:pt x="149" y="180"/>
                    <a:pt x="157" y="187"/>
                    <a:pt x="157" y="196"/>
                  </a:cubicBezTo>
                  <a:close/>
                  <a:moveTo>
                    <a:pt x="180" y="170"/>
                  </a:moveTo>
                  <a:cubicBezTo>
                    <a:pt x="180" y="178"/>
                    <a:pt x="172" y="186"/>
                    <a:pt x="164" y="186"/>
                  </a:cubicBezTo>
                  <a:cubicBezTo>
                    <a:pt x="155" y="186"/>
                    <a:pt x="148" y="178"/>
                    <a:pt x="148" y="170"/>
                  </a:cubicBezTo>
                  <a:cubicBezTo>
                    <a:pt x="148" y="161"/>
                    <a:pt x="155" y="154"/>
                    <a:pt x="164" y="154"/>
                  </a:cubicBezTo>
                  <a:cubicBezTo>
                    <a:pt x="172" y="154"/>
                    <a:pt x="180" y="161"/>
                    <a:pt x="180" y="170"/>
                  </a:cubicBezTo>
                  <a:close/>
                  <a:moveTo>
                    <a:pt x="205" y="146"/>
                  </a:moveTo>
                  <a:cubicBezTo>
                    <a:pt x="205" y="154"/>
                    <a:pt x="197" y="162"/>
                    <a:pt x="189" y="162"/>
                  </a:cubicBezTo>
                  <a:cubicBezTo>
                    <a:pt x="180" y="162"/>
                    <a:pt x="173" y="154"/>
                    <a:pt x="173" y="146"/>
                  </a:cubicBezTo>
                  <a:cubicBezTo>
                    <a:pt x="173" y="137"/>
                    <a:pt x="180" y="130"/>
                    <a:pt x="189" y="130"/>
                  </a:cubicBezTo>
                  <a:cubicBezTo>
                    <a:pt x="197" y="130"/>
                    <a:pt x="205" y="137"/>
                    <a:pt x="205" y="146"/>
                  </a:cubicBezTo>
                  <a:close/>
                  <a:moveTo>
                    <a:pt x="232" y="124"/>
                  </a:moveTo>
                  <a:cubicBezTo>
                    <a:pt x="232" y="132"/>
                    <a:pt x="224" y="140"/>
                    <a:pt x="216" y="140"/>
                  </a:cubicBezTo>
                  <a:cubicBezTo>
                    <a:pt x="207" y="140"/>
                    <a:pt x="200" y="132"/>
                    <a:pt x="200" y="124"/>
                  </a:cubicBezTo>
                  <a:cubicBezTo>
                    <a:pt x="200" y="115"/>
                    <a:pt x="207" y="108"/>
                    <a:pt x="216" y="108"/>
                  </a:cubicBezTo>
                  <a:cubicBezTo>
                    <a:pt x="224" y="108"/>
                    <a:pt x="232" y="115"/>
                    <a:pt x="232" y="124"/>
                  </a:cubicBezTo>
                  <a:close/>
                  <a:moveTo>
                    <a:pt x="261" y="105"/>
                  </a:moveTo>
                  <a:cubicBezTo>
                    <a:pt x="261" y="113"/>
                    <a:pt x="253" y="121"/>
                    <a:pt x="245" y="121"/>
                  </a:cubicBezTo>
                  <a:cubicBezTo>
                    <a:pt x="236" y="121"/>
                    <a:pt x="229" y="113"/>
                    <a:pt x="229" y="105"/>
                  </a:cubicBezTo>
                  <a:cubicBezTo>
                    <a:pt x="229" y="96"/>
                    <a:pt x="236" y="89"/>
                    <a:pt x="245" y="89"/>
                  </a:cubicBezTo>
                  <a:cubicBezTo>
                    <a:pt x="253" y="89"/>
                    <a:pt x="261" y="96"/>
                    <a:pt x="261" y="105"/>
                  </a:cubicBezTo>
                  <a:close/>
                  <a:moveTo>
                    <a:pt x="291" y="87"/>
                  </a:moveTo>
                  <a:cubicBezTo>
                    <a:pt x="291" y="95"/>
                    <a:pt x="283" y="103"/>
                    <a:pt x="275" y="103"/>
                  </a:cubicBezTo>
                  <a:cubicBezTo>
                    <a:pt x="266" y="103"/>
                    <a:pt x="259" y="95"/>
                    <a:pt x="259" y="87"/>
                  </a:cubicBezTo>
                  <a:cubicBezTo>
                    <a:pt x="259" y="78"/>
                    <a:pt x="266" y="71"/>
                    <a:pt x="275" y="71"/>
                  </a:cubicBezTo>
                  <a:cubicBezTo>
                    <a:pt x="283" y="71"/>
                    <a:pt x="291" y="78"/>
                    <a:pt x="291" y="87"/>
                  </a:cubicBezTo>
                  <a:close/>
                  <a:moveTo>
                    <a:pt x="322" y="71"/>
                  </a:moveTo>
                  <a:cubicBezTo>
                    <a:pt x="322" y="79"/>
                    <a:pt x="314" y="87"/>
                    <a:pt x="306" y="87"/>
                  </a:cubicBezTo>
                  <a:cubicBezTo>
                    <a:pt x="297" y="87"/>
                    <a:pt x="290" y="79"/>
                    <a:pt x="290" y="71"/>
                  </a:cubicBezTo>
                  <a:cubicBezTo>
                    <a:pt x="290" y="62"/>
                    <a:pt x="297" y="55"/>
                    <a:pt x="306" y="55"/>
                  </a:cubicBezTo>
                  <a:cubicBezTo>
                    <a:pt x="314" y="55"/>
                    <a:pt x="322" y="62"/>
                    <a:pt x="322" y="71"/>
                  </a:cubicBezTo>
                  <a:close/>
                  <a:moveTo>
                    <a:pt x="354" y="58"/>
                  </a:moveTo>
                  <a:cubicBezTo>
                    <a:pt x="354" y="66"/>
                    <a:pt x="346" y="74"/>
                    <a:pt x="338" y="74"/>
                  </a:cubicBezTo>
                  <a:cubicBezTo>
                    <a:pt x="329" y="74"/>
                    <a:pt x="322" y="66"/>
                    <a:pt x="322" y="58"/>
                  </a:cubicBezTo>
                  <a:cubicBezTo>
                    <a:pt x="322" y="49"/>
                    <a:pt x="329" y="42"/>
                    <a:pt x="338" y="42"/>
                  </a:cubicBezTo>
                  <a:cubicBezTo>
                    <a:pt x="346" y="42"/>
                    <a:pt x="354" y="49"/>
                    <a:pt x="354" y="58"/>
                  </a:cubicBezTo>
                  <a:close/>
                  <a:moveTo>
                    <a:pt x="387" y="47"/>
                  </a:moveTo>
                  <a:cubicBezTo>
                    <a:pt x="387" y="55"/>
                    <a:pt x="379" y="63"/>
                    <a:pt x="371" y="63"/>
                  </a:cubicBezTo>
                  <a:cubicBezTo>
                    <a:pt x="362" y="63"/>
                    <a:pt x="355" y="55"/>
                    <a:pt x="355" y="47"/>
                  </a:cubicBezTo>
                  <a:cubicBezTo>
                    <a:pt x="355" y="38"/>
                    <a:pt x="362" y="31"/>
                    <a:pt x="371" y="31"/>
                  </a:cubicBezTo>
                  <a:cubicBezTo>
                    <a:pt x="379" y="31"/>
                    <a:pt x="387" y="38"/>
                    <a:pt x="387" y="47"/>
                  </a:cubicBezTo>
                  <a:close/>
                  <a:moveTo>
                    <a:pt x="421" y="39"/>
                  </a:moveTo>
                  <a:cubicBezTo>
                    <a:pt x="421" y="47"/>
                    <a:pt x="413" y="55"/>
                    <a:pt x="405" y="55"/>
                  </a:cubicBezTo>
                  <a:cubicBezTo>
                    <a:pt x="396" y="55"/>
                    <a:pt x="389" y="47"/>
                    <a:pt x="389" y="39"/>
                  </a:cubicBezTo>
                  <a:cubicBezTo>
                    <a:pt x="389" y="30"/>
                    <a:pt x="396" y="23"/>
                    <a:pt x="405" y="23"/>
                  </a:cubicBezTo>
                  <a:cubicBezTo>
                    <a:pt x="413" y="23"/>
                    <a:pt x="421" y="30"/>
                    <a:pt x="421" y="39"/>
                  </a:cubicBezTo>
                  <a:close/>
                  <a:moveTo>
                    <a:pt x="455" y="33"/>
                  </a:moveTo>
                  <a:cubicBezTo>
                    <a:pt x="455" y="41"/>
                    <a:pt x="447" y="49"/>
                    <a:pt x="439" y="49"/>
                  </a:cubicBezTo>
                  <a:cubicBezTo>
                    <a:pt x="430" y="49"/>
                    <a:pt x="423" y="41"/>
                    <a:pt x="423" y="33"/>
                  </a:cubicBezTo>
                  <a:cubicBezTo>
                    <a:pt x="423" y="24"/>
                    <a:pt x="430" y="17"/>
                    <a:pt x="439" y="17"/>
                  </a:cubicBezTo>
                  <a:cubicBezTo>
                    <a:pt x="447" y="17"/>
                    <a:pt x="455" y="24"/>
                    <a:pt x="455" y="33"/>
                  </a:cubicBezTo>
                  <a:close/>
                  <a:moveTo>
                    <a:pt x="489" y="30"/>
                  </a:moveTo>
                  <a:cubicBezTo>
                    <a:pt x="489" y="38"/>
                    <a:pt x="481" y="46"/>
                    <a:pt x="473" y="46"/>
                  </a:cubicBezTo>
                  <a:cubicBezTo>
                    <a:pt x="464" y="46"/>
                    <a:pt x="457" y="38"/>
                    <a:pt x="457" y="30"/>
                  </a:cubicBezTo>
                  <a:cubicBezTo>
                    <a:pt x="457" y="21"/>
                    <a:pt x="464" y="14"/>
                    <a:pt x="473" y="14"/>
                  </a:cubicBezTo>
                  <a:cubicBezTo>
                    <a:pt x="481" y="14"/>
                    <a:pt x="489" y="21"/>
                    <a:pt x="489" y="30"/>
                  </a:cubicBezTo>
                  <a:close/>
                  <a:moveTo>
                    <a:pt x="524" y="30"/>
                  </a:moveTo>
                  <a:cubicBezTo>
                    <a:pt x="524" y="38"/>
                    <a:pt x="516" y="46"/>
                    <a:pt x="508" y="46"/>
                  </a:cubicBezTo>
                  <a:cubicBezTo>
                    <a:pt x="499" y="46"/>
                    <a:pt x="492" y="38"/>
                    <a:pt x="492" y="30"/>
                  </a:cubicBezTo>
                  <a:cubicBezTo>
                    <a:pt x="492" y="21"/>
                    <a:pt x="499" y="14"/>
                    <a:pt x="508" y="14"/>
                  </a:cubicBezTo>
                  <a:cubicBezTo>
                    <a:pt x="516" y="14"/>
                    <a:pt x="524" y="21"/>
                    <a:pt x="524" y="30"/>
                  </a:cubicBezTo>
                  <a:close/>
                  <a:moveTo>
                    <a:pt x="559" y="32"/>
                  </a:moveTo>
                  <a:cubicBezTo>
                    <a:pt x="559" y="40"/>
                    <a:pt x="551" y="48"/>
                    <a:pt x="543" y="48"/>
                  </a:cubicBezTo>
                  <a:cubicBezTo>
                    <a:pt x="534" y="48"/>
                    <a:pt x="527" y="40"/>
                    <a:pt x="527" y="32"/>
                  </a:cubicBezTo>
                  <a:cubicBezTo>
                    <a:pt x="527" y="23"/>
                    <a:pt x="534" y="16"/>
                    <a:pt x="543" y="16"/>
                  </a:cubicBezTo>
                  <a:cubicBezTo>
                    <a:pt x="551" y="16"/>
                    <a:pt x="559" y="23"/>
                    <a:pt x="559" y="32"/>
                  </a:cubicBezTo>
                  <a:close/>
                  <a:moveTo>
                    <a:pt x="593" y="36"/>
                  </a:moveTo>
                  <a:cubicBezTo>
                    <a:pt x="593" y="44"/>
                    <a:pt x="585" y="52"/>
                    <a:pt x="577" y="52"/>
                  </a:cubicBezTo>
                  <a:cubicBezTo>
                    <a:pt x="568" y="52"/>
                    <a:pt x="561" y="44"/>
                    <a:pt x="561" y="36"/>
                  </a:cubicBezTo>
                  <a:cubicBezTo>
                    <a:pt x="561" y="27"/>
                    <a:pt x="568" y="20"/>
                    <a:pt x="577" y="20"/>
                  </a:cubicBezTo>
                  <a:cubicBezTo>
                    <a:pt x="585" y="20"/>
                    <a:pt x="593" y="27"/>
                    <a:pt x="593" y="36"/>
                  </a:cubicBezTo>
                  <a:close/>
                  <a:moveTo>
                    <a:pt x="627" y="43"/>
                  </a:moveTo>
                  <a:cubicBezTo>
                    <a:pt x="627" y="51"/>
                    <a:pt x="619" y="59"/>
                    <a:pt x="611" y="59"/>
                  </a:cubicBezTo>
                  <a:cubicBezTo>
                    <a:pt x="602" y="59"/>
                    <a:pt x="595" y="51"/>
                    <a:pt x="595" y="43"/>
                  </a:cubicBezTo>
                  <a:cubicBezTo>
                    <a:pt x="595" y="34"/>
                    <a:pt x="602" y="27"/>
                    <a:pt x="611" y="27"/>
                  </a:cubicBezTo>
                  <a:cubicBezTo>
                    <a:pt x="619" y="27"/>
                    <a:pt x="627" y="34"/>
                    <a:pt x="627" y="43"/>
                  </a:cubicBezTo>
                  <a:close/>
                  <a:moveTo>
                    <a:pt x="661" y="53"/>
                  </a:moveTo>
                  <a:cubicBezTo>
                    <a:pt x="661" y="61"/>
                    <a:pt x="653" y="69"/>
                    <a:pt x="645" y="69"/>
                  </a:cubicBezTo>
                  <a:cubicBezTo>
                    <a:pt x="636" y="69"/>
                    <a:pt x="629" y="61"/>
                    <a:pt x="629" y="53"/>
                  </a:cubicBezTo>
                  <a:cubicBezTo>
                    <a:pt x="629" y="44"/>
                    <a:pt x="636" y="37"/>
                    <a:pt x="645" y="37"/>
                  </a:cubicBezTo>
                  <a:cubicBezTo>
                    <a:pt x="653" y="37"/>
                    <a:pt x="661" y="44"/>
                    <a:pt x="661" y="53"/>
                  </a:cubicBezTo>
                  <a:close/>
                  <a:moveTo>
                    <a:pt x="693" y="64"/>
                  </a:moveTo>
                  <a:cubicBezTo>
                    <a:pt x="693" y="72"/>
                    <a:pt x="685" y="80"/>
                    <a:pt x="677" y="80"/>
                  </a:cubicBezTo>
                  <a:cubicBezTo>
                    <a:pt x="668" y="80"/>
                    <a:pt x="661" y="72"/>
                    <a:pt x="661" y="64"/>
                  </a:cubicBezTo>
                  <a:cubicBezTo>
                    <a:pt x="661" y="55"/>
                    <a:pt x="668" y="48"/>
                    <a:pt x="677" y="48"/>
                  </a:cubicBezTo>
                  <a:cubicBezTo>
                    <a:pt x="685" y="48"/>
                    <a:pt x="693" y="55"/>
                    <a:pt x="693" y="64"/>
                  </a:cubicBezTo>
                  <a:close/>
                  <a:moveTo>
                    <a:pt x="725" y="79"/>
                  </a:moveTo>
                  <a:cubicBezTo>
                    <a:pt x="725" y="87"/>
                    <a:pt x="717" y="95"/>
                    <a:pt x="709" y="95"/>
                  </a:cubicBezTo>
                  <a:cubicBezTo>
                    <a:pt x="700" y="95"/>
                    <a:pt x="693" y="87"/>
                    <a:pt x="693" y="79"/>
                  </a:cubicBezTo>
                  <a:cubicBezTo>
                    <a:pt x="693" y="70"/>
                    <a:pt x="700" y="63"/>
                    <a:pt x="709" y="63"/>
                  </a:cubicBezTo>
                  <a:cubicBezTo>
                    <a:pt x="717" y="63"/>
                    <a:pt x="725" y="70"/>
                    <a:pt x="725" y="79"/>
                  </a:cubicBezTo>
                  <a:close/>
                  <a:moveTo>
                    <a:pt x="755" y="95"/>
                  </a:moveTo>
                  <a:cubicBezTo>
                    <a:pt x="755" y="103"/>
                    <a:pt x="747" y="111"/>
                    <a:pt x="739" y="111"/>
                  </a:cubicBezTo>
                  <a:cubicBezTo>
                    <a:pt x="730" y="111"/>
                    <a:pt x="723" y="103"/>
                    <a:pt x="723" y="95"/>
                  </a:cubicBezTo>
                  <a:cubicBezTo>
                    <a:pt x="723" y="86"/>
                    <a:pt x="730" y="79"/>
                    <a:pt x="739" y="79"/>
                  </a:cubicBezTo>
                  <a:cubicBezTo>
                    <a:pt x="747" y="79"/>
                    <a:pt x="755" y="86"/>
                    <a:pt x="755" y="95"/>
                  </a:cubicBezTo>
                  <a:close/>
                  <a:moveTo>
                    <a:pt x="785" y="114"/>
                  </a:moveTo>
                  <a:cubicBezTo>
                    <a:pt x="785" y="122"/>
                    <a:pt x="777" y="130"/>
                    <a:pt x="769" y="130"/>
                  </a:cubicBezTo>
                  <a:cubicBezTo>
                    <a:pt x="760" y="130"/>
                    <a:pt x="753" y="122"/>
                    <a:pt x="753" y="114"/>
                  </a:cubicBezTo>
                  <a:cubicBezTo>
                    <a:pt x="753" y="105"/>
                    <a:pt x="760" y="98"/>
                    <a:pt x="769" y="98"/>
                  </a:cubicBezTo>
                  <a:cubicBezTo>
                    <a:pt x="777" y="98"/>
                    <a:pt x="785" y="105"/>
                    <a:pt x="785" y="114"/>
                  </a:cubicBezTo>
                  <a:close/>
                  <a:moveTo>
                    <a:pt x="812" y="135"/>
                  </a:moveTo>
                  <a:cubicBezTo>
                    <a:pt x="812" y="143"/>
                    <a:pt x="804" y="151"/>
                    <a:pt x="796" y="151"/>
                  </a:cubicBezTo>
                  <a:cubicBezTo>
                    <a:pt x="787" y="151"/>
                    <a:pt x="780" y="143"/>
                    <a:pt x="780" y="135"/>
                  </a:cubicBezTo>
                  <a:cubicBezTo>
                    <a:pt x="780" y="126"/>
                    <a:pt x="787" y="119"/>
                    <a:pt x="796" y="119"/>
                  </a:cubicBezTo>
                  <a:cubicBezTo>
                    <a:pt x="804" y="119"/>
                    <a:pt x="812" y="126"/>
                    <a:pt x="812" y="135"/>
                  </a:cubicBezTo>
                  <a:close/>
                  <a:moveTo>
                    <a:pt x="839" y="158"/>
                  </a:moveTo>
                  <a:cubicBezTo>
                    <a:pt x="839" y="166"/>
                    <a:pt x="831" y="174"/>
                    <a:pt x="823" y="174"/>
                  </a:cubicBezTo>
                  <a:cubicBezTo>
                    <a:pt x="814" y="174"/>
                    <a:pt x="807" y="166"/>
                    <a:pt x="807" y="158"/>
                  </a:cubicBezTo>
                  <a:cubicBezTo>
                    <a:pt x="807" y="149"/>
                    <a:pt x="814" y="142"/>
                    <a:pt x="823" y="142"/>
                  </a:cubicBezTo>
                  <a:cubicBezTo>
                    <a:pt x="831" y="142"/>
                    <a:pt x="839" y="149"/>
                    <a:pt x="839" y="158"/>
                  </a:cubicBezTo>
                  <a:close/>
                  <a:moveTo>
                    <a:pt x="863" y="183"/>
                  </a:moveTo>
                  <a:cubicBezTo>
                    <a:pt x="863" y="191"/>
                    <a:pt x="855" y="199"/>
                    <a:pt x="847" y="199"/>
                  </a:cubicBezTo>
                  <a:cubicBezTo>
                    <a:pt x="838" y="199"/>
                    <a:pt x="831" y="191"/>
                    <a:pt x="831" y="183"/>
                  </a:cubicBezTo>
                  <a:cubicBezTo>
                    <a:pt x="831" y="174"/>
                    <a:pt x="838" y="167"/>
                    <a:pt x="847" y="167"/>
                  </a:cubicBezTo>
                  <a:cubicBezTo>
                    <a:pt x="855" y="167"/>
                    <a:pt x="863" y="174"/>
                    <a:pt x="863" y="183"/>
                  </a:cubicBezTo>
                  <a:close/>
                  <a:moveTo>
                    <a:pt x="885" y="209"/>
                  </a:moveTo>
                  <a:cubicBezTo>
                    <a:pt x="885" y="217"/>
                    <a:pt x="877" y="225"/>
                    <a:pt x="869" y="225"/>
                  </a:cubicBezTo>
                  <a:cubicBezTo>
                    <a:pt x="860" y="225"/>
                    <a:pt x="853" y="217"/>
                    <a:pt x="853" y="209"/>
                  </a:cubicBezTo>
                  <a:cubicBezTo>
                    <a:pt x="853" y="200"/>
                    <a:pt x="860" y="193"/>
                    <a:pt x="869" y="193"/>
                  </a:cubicBezTo>
                  <a:cubicBezTo>
                    <a:pt x="877" y="193"/>
                    <a:pt x="885" y="200"/>
                    <a:pt x="885" y="209"/>
                  </a:cubicBezTo>
                  <a:close/>
                  <a:moveTo>
                    <a:pt x="906" y="237"/>
                  </a:moveTo>
                  <a:cubicBezTo>
                    <a:pt x="906" y="245"/>
                    <a:pt x="898" y="253"/>
                    <a:pt x="890" y="253"/>
                  </a:cubicBezTo>
                  <a:cubicBezTo>
                    <a:pt x="881" y="253"/>
                    <a:pt x="874" y="245"/>
                    <a:pt x="874" y="237"/>
                  </a:cubicBezTo>
                  <a:cubicBezTo>
                    <a:pt x="874" y="228"/>
                    <a:pt x="881" y="221"/>
                    <a:pt x="890" y="221"/>
                  </a:cubicBezTo>
                  <a:cubicBezTo>
                    <a:pt x="898" y="221"/>
                    <a:pt x="906" y="228"/>
                    <a:pt x="906" y="237"/>
                  </a:cubicBezTo>
                  <a:close/>
                  <a:moveTo>
                    <a:pt x="924" y="267"/>
                  </a:moveTo>
                  <a:cubicBezTo>
                    <a:pt x="924" y="275"/>
                    <a:pt x="916" y="283"/>
                    <a:pt x="908" y="283"/>
                  </a:cubicBezTo>
                  <a:cubicBezTo>
                    <a:pt x="899" y="283"/>
                    <a:pt x="892" y="275"/>
                    <a:pt x="892" y="267"/>
                  </a:cubicBezTo>
                  <a:cubicBezTo>
                    <a:pt x="892" y="258"/>
                    <a:pt x="899" y="251"/>
                    <a:pt x="908" y="251"/>
                  </a:cubicBezTo>
                  <a:cubicBezTo>
                    <a:pt x="916" y="251"/>
                    <a:pt x="924" y="258"/>
                    <a:pt x="924" y="267"/>
                  </a:cubicBezTo>
                  <a:close/>
                  <a:moveTo>
                    <a:pt x="940" y="298"/>
                  </a:moveTo>
                  <a:cubicBezTo>
                    <a:pt x="940" y="306"/>
                    <a:pt x="932" y="314"/>
                    <a:pt x="924" y="314"/>
                  </a:cubicBezTo>
                  <a:cubicBezTo>
                    <a:pt x="915" y="314"/>
                    <a:pt x="908" y="306"/>
                    <a:pt x="908" y="298"/>
                  </a:cubicBezTo>
                  <a:cubicBezTo>
                    <a:pt x="908" y="289"/>
                    <a:pt x="915" y="282"/>
                    <a:pt x="924" y="282"/>
                  </a:cubicBezTo>
                  <a:cubicBezTo>
                    <a:pt x="932" y="282"/>
                    <a:pt x="940" y="289"/>
                    <a:pt x="940" y="298"/>
                  </a:cubicBezTo>
                  <a:close/>
                  <a:moveTo>
                    <a:pt x="954" y="330"/>
                  </a:moveTo>
                  <a:cubicBezTo>
                    <a:pt x="954" y="338"/>
                    <a:pt x="946" y="346"/>
                    <a:pt x="938" y="346"/>
                  </a:cubicBezTo>
                  <a:cubicBezTo>
                    <a:pt x="929" y="346"/>
                    <a:pt x="922" y="338"/>
                    <a:pt x="922" y="330"/>
                  </a:cubicBezTo>
                  <a:cubicBezTo>
                    <a:pt x="922" y="321"/>
                    <a:pt x="929" y="314"/>
                    <a:pt x="938" y="314"/>
                  </a:cubicBezTo>
                  <a:cubicBezTo>
                    <a:pt x="946" y="314"/>
                    <a:pt x="954" y="321"/>
                    <a:pt x="954" y="330"/>
                  </a:cubicBezTo>
                  <a:close/>
                  <a:moveTo>
                    <a:pt x="965" y="363"/>
                  </a:moveTo>
                  <a:cubicBezTo>
                    <a:pt x="965" y="371"/>
                    <a:pt x="957" y="379"/>
                    <a:pt x="949" y="379"/>
                  </a:cubicBezTo>
                  <a:cubicBezTo>
                    <a:pt x="940" y="379"/>
                    <a:pt x="933" y="371"/>
                    <a:pt x="933" y="363"/>
                  </a:cubicBezTo>
                  <a:cubicBezTo>
                    <a:pt x="933" y="354"/>
                    <a:pt x="940" y="347"/>
                    <a:pt x="949" y="347"/>
                  </a:cubicBezTo>
                  <a:cubicBezTo>
                    <a:pt x="957" y="347"/>
                    <a:pt x="965" y="354"/>
                    <a:pt x="965" y="363"/>
                  </a:cubicBezTo>
                  <a:close/>
                  <a:moveTo>
                    <a:pt x="974" y="396"/>
                  </a:moveTo>
                  <a:cubicBezTo>
                    <a:pt x="974" y="404"/>
                    <a:pt x="966" y="412"/>
                    <a:pt x="958" y="412"/>
                  </a:cubicBezTo>
                  <a:cubicBezTo>
                    <a:pt x="949" y="412"/>
                    <a:pt x="942" y="404"/>
                    <a:pt x="942" y="396"/>
                  </a:cubicBezTo>
                  <a:cubicBezTo>
                    <a:pt x="942" y="387"/>
                    <a:pt x="949" y="380"/>
                    <a:pt x="958" y="380"/>
                  </a:cubicBezTo>
                  <a:cubicBezTo>
                    <a:pt x="966" y="380"/>
                    <a:pt x="974" y="387"/>
                    <a:pt x="974" y="396"/>
                  </a:cubicBezTo>
                  <a:close/>
                  <a:moveTo>
                    <a:pt x="980" y="430"/>
                  </a:moveTo>
                  <a:cubicBezTo>
                    <a:pt x="980" y="438"/>
                    <a:pt x="972" y="446"/>
                    <a:pt x="964" y="446"/>
                  </a:cubicBezTo>
                  <a:cubicBezTo>
                    <a:pt x="955" y="446"/>
                    <a:pt x="948" y="438"/>
                    <a:pt x="948" y="430"/>
                  </a:cubicBezTo>
                  <a:cubicBezTo>
                    <a:pt x="948" y="421"/>
                    <a:pt x="955" y="414"/>
                    <a:pt x="964" y="414"/>
                  </a:cubicBezTo>
                  <a:cubicBezTo>
                    <a:pt x="972" y="414"/>
                    <a:pt x="980" y="421"/>
                    <a:pt x="980" y="430"/>
                  </a:cubicBezTo>
                  <a:close/>
                  <a:moveTo>
                    <a:pt x="984" y="465"/>
                  </a:moveTo>
                  <a:cubicBezTo>
                    <a:pt x="984" y="473"/>
                    <a:pt x="976" y="481"/>
                    <a:pt x="968" y="481"/>
                  </a:cubicBezTo>
                  <a:cubicBezTo>
                    <a:pt x="959" y="481"/>
                    <a:pt x="952" y="473"/>
                    <a:pt x="952" y="465"/>
                  </a:cubicBezTo>
                  <a:cubicBezTo>
                    <a:pt x="952" y="456"/>
                    <a:pt x="959" y="449"/>
                    <a:pt x="968" y="449"/>
                  </a:cubicBezTo>
                  <a:cubicBezTo>
                    <a:pt x="976" y="449"/>
                    <a:pt x="984" y="456"/>
                    <a:pt x="984" y="465"/>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17" name="Forma 16"/>
            <p:cNvSpPr/>
            <p:nvPr/>
          </p:nvSpPr>
          <p:spPr>
            <a:xfrm>
              <a:off x="777240" y="3931920"/>
              <a:ext cx="1737360" cy="1737360"/>
            </a:xfrm>
            <a:custGeom>
              <a:avLst/>
              <a:gdLst/>
              <a:ahLst/>
              <a:cxnLst/>
              <a:rect l="0" t="0" r="r" b="b"/>
              <a:pathLst>
                <a:path w="1000" h="1000" fill="none">
                  <a:moveTo>
                    <a:pt x="7" y="413"/>
                  </a:moveTo>
                  <a:cubicBezTo>
                    <a:pt x="16" y="387"/>
                    <a:pt x="35" y="306"/>
                    <a:pt x="61" y="259"/>
                  </a:cubicBezTo>
                  <a:cubicBezTo>
                    <a:pt x="86" y="212"/>
                    <a:pt x="122" y="167"/>
                    <a:pt x="162" y="131"/>
                  </a:cubicBezTo>
                  <a:cubicBezTo>
                    <a:pt x="201" y="94"/>
                    <a:pt x="249" y="63"/>
                    <a:pt x="298" y="42"/>
                  </a:cubicBezTo>
                  <a:cubicBezTo>
                    <a:pt x="347" y="20"/>
                    <a:pt x="402" y="5"/>
                    <a:pt x="456" y="1"/>
                  </a:cubicBezTo>
                  <a:cubicBezTo>
                    <a:pt x="509" y="-3"/>
                    <a:pt x="566" y="1"/>
                    <a:pt x="618" y="14"/>
                  </a:cubicBezTo>
                  <a:cubicBezTo>
                    <a:pt x="670" y="26"/>
                    <a:pt x="722" y="49"/>
                    <a:pt x="768" y="78"/>
                  </a:cubicBezTo>
                  <a:cubicBezTo>
                    <a:pt x="813" y="106"/>
                    <a:pt x="855" y="145"/>
                    <a:pt x="889" y="187"/>
                  </a:cubicBezTo>
                  <a:cubicBezTo>
                    <a:pt x="922" y="228"/>
                    <a:pt x="955" y="304"/>
                    <a:pt x="969" y="328"/>
                  </a:cubicBezTo>
                </a:path>
              </a:pathLst>
            </a:custGeom>
            <a:noFill/>
            <a:ln w="88900" cap="rnd">
              <a:solidFill>
                <a:srgbClr val="2E4A9E"/>
              </a:solidFill>
              <a:round/>
            </a:ln>
          </p:spPr>
        </p:sp>
        <p:sp>
          <p:nvSpPr>
            <p:cNvPr id="18" name="Forma 17"/>
            <p:cNvSpPr txBox="1"/>
            <p:nvPr/>
          </p:nvSpPr>
          <p:spPr>
            <a:xfrm>
              <a:off x="1095477" y="3670606"/>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20336E"/>
                  </a:solidFill>
                  <a:latin typeface="Bahnschrift SemiBold Condensed"/>
                  <a:ea typeface="Bahnschrift SemiBold Condensed"/>
                  <a:cs typeface="Bahnschrift SemiBold Condensed"/>
                  <a:sym typeface="Bahnschrift SemiBold Condensed"/>
                </a:rPr>
                <a:t>ApoB-100</a:t>
              </a:r>
              <a:endParaRPr lang="es-AR" sz="1050" dirty="0">
                <a:latin typeface="Bahnschrift SemiBold Condensed"/>
              </a:endParaRPr>
            </a:p>
          </p:txBody>
        </p:sp>
        <p:sp>
          <p:nvSpPr>
            <p:cNvPr id="19" name="Forma 18"/>
            <p:cNvSpPr/>
            <p:nvPr/>
          </p:nvSpPr>
          <p:spPr>
            <a:xfrm>
              <a:off x="777240" y="3931920"/>
              <a:ext cx="1737360" cy="1737360"/>
            </a:xfrm>
            <a:custGeom>
              <a:avLst/>
              <a:gdLst/>
              <a:ahLst/>
              <a:cxnLst/>
              <a:rect l="0" t="0" r="r" b="b"/>
              <a:pathLst>
                <a:path w="1000" h="1000" fill="none">
                  <a:moveTo>
                    <a:pt x="992" y="413"/>
                  </a:moveTo>
                  <a:cubicBezTo>
                    <a:pt x="992" y="418"/>
                    <a:pt x="995" y="434"/>
                    <a:pt x="997" y="445"/>
                  </a:cubicBezTo>
                  <a:cubicBezTo>
                    <a:pt x="998" y="455"/>
                    <a:pt x="998" y="467"/>
                    <a:pt x="999" y="478"/>
                  </a:cubicBezTo>
                  <a:cubicBezTo>
                    <a:pt x="999" y="488"/>
                    <a:pt x="999" y="499"/>
                    <a:pt x="999" y="510"/>
                  </a:cubicBezTo>
                  <a:cubicBezTo>
                    <a:pt x="998" y="520"/>
                    <a:pt x="998" y="532"/>
                    <a:pt x="998" y="543"/>
                  </a:cubicBezTo>
                  <a:cubicBezTo>
                    <a:pt x="997" y="554"/>
                    <a:pt x="995" y="565"/>
                    <a:pt x="994" y="576"/>
                  </a:cubicBezTo>
                  <a:cubicBezTo>
                    <a:pt x="992" y="586"/>
                    <a:pt x="990" y="597"/>
                    <a:pt x="988" y="608"/>
                  </a:cubicBezTo>
                  <a:cubicBezTo>
                    <a:pt x="985" y="618"/>
                    <a:pt x="983" y="628"/>
                    <a:pt x="980" y="639"/>
                  </a:cubicBezTo>
                  <a:cubicBezTo>
                    <a:pt x="976" y="649"/>
                    <a:pt x="970" y="665"/>
                    <a:pt x="969" y="671"/>
                  </a:cubicBezTo>
                </a:path>
              </a:pathLst>
            </a:custGeom>
            <a:noFill/>
            <a:ln w="50800" cap="rnd">
              <a:solidFill>
                <a:srgbClr val="27AE60"/>
              </a:solidFill>
              <a:round/>
            </a:ln>
          </p:spPr>
        </p:sp>
        <p:sp>
          <p:nvSpPr>
            <p:cNvPr id="20" name="Forma 19"/>
            <p:cNvSpPr txBox="1"/>
            <p:nvPr/>
          </p:nvSpPr>
          <p:spPr>
            <a:xfrm>
              <a:off x="2254497" y="4770190"/>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1B7943"/>
                  </a:solidFill>
                  <a:latin typeface="Bahnschrift SemiBold Condensed"/>
                  <a:ea typeface="Bahnschrift SemiBold Condensed"/>
                  <a:cs typeface="Bahnschrift SemiBold Condensed"/>
                  <a:sym typeface="Bahnschrift SemiBold Condensed"/>
                </a:rPr>
                <a:t>C-II</a:t>
              </a:r>
              <a:endParaRPr lang="es-AR" sz="1050" dirty="0">
                <a:latin typeface="Bahnschrift SemiBold Condensed"/>
              </a:endParaRPr>
            </a:p>
          </p:txBody>
        </p:sp>
        <p:sp>
          <p:nvSpPr>
            <p:cNvPr id="21" name="Forma 20"/>
            <p:cNvSpPr/>
            <p:nvPr/>
          </p:nvSpPr>
          <p:spPr>
            <a:xfrm>
              <a:off x="777240" y="3931920"/>
              <a:ext cx="1737360" cy="1737360"/>
            </a:xfrm>
            <a:custGeom>
              <a:avLst/>
              <a:gdLst/>
              <a:ahLst/>
              <a:cxnLst/>
              <a:rect l="0" t="0" r="r" b="b"/>
              <a:pathLst>
                <a:path w="1000" h="1000" fill="none">
                  <a:moveTo>
                    <a:pt x="933" y="750"/>
                  </a:moveTo>
                  <a:cubicBezTo>
                    <a:pt x="930" y="754"/>
                    <a:pt x="921" y="768"/>
                    <a:pt x="915" y="777"/>
                  </a:cubicBezTo>
                  <a:cubicBezTo>
                    <a:pt x="908" y="786"/>
                    <a:pt x="902" y="795"/>
                    <a:pt x="896" y="804"/>
                  </a:cubicBezTo>
                  <a:cubicBezTo>
                    <a:pt x="889" y="812"/>
                    <a:pt x="882" y="820"/>
                    <a:pt x="875" y="829"/>
                  </a:cubicBezTo>
                  <a:cubicBezTo>
                    <a:pt x="867" y="837"/>
                    <a:pt x="860" y="845"/>
                    <a:pt x="853" y="853"/>
                  </a:cubicBezTo>
                  <a:cubicBezTo>
                    <a:pt x="845" y="860"/>
                    <a:pt x="837" y="867"/>
                    <a:pt x="829" y="875"/>
                  </a:cubicBezTo>
                  <a:cubicBezTo>
                    <a:pt x="820" y="882"/>
                    <a:pt x="812" y="889"/>
                    <a:pt x="804" y="896"/>
                  </a:cubicBezTo>
                  <a:cubicBezTo>
                    <a:pt x="795" y="902"/>
                    <a:pt x="786" y="908"/>
                    <a:pt x="777" y="915"/>
                  </a:cubicBezTo>
                  <a:cubicBezTo>
                    <a:pt x="768" y="921"/>
                    <a:pt x="754" y="930"/>
                    <a:pt x="750" y="933"/>
                  </a:cubicBezTo>
                </a:path>
              </a:pathLst>
            </a:custGeom>
            <a:noFill/>
            <a:ln w="50800" cap="rnd">
              <a:solidFill>
                <a:srgbClr val="8E44AD"/>
              </a:solidFill>
              <a:round/>
            </a:ln>
          </p:spPr>
        </p:sp>
        <p:sp>
          <p:nvSpPr>
            <p:cNvPr id="22" name="Forma 21"/>
            <p:cNvSpPr txBox="1"/>
            <p:nvPr/>
          </p:nvSpPr>
          <p:spPr>
            <a:xfrm>
              <a:off x="1945217" y="5399430"/>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632F79"/>
                  </a:solidFill>
                  <a:latin typeface="Bahnschrift SemiBold Condensed"/>
                  <a:ea typeface="Bahnschrift SemiBold Condensed"/>
                  <a:cs typeface="Bahnschrift SemiBold Condensed"/>
                  <a:sym typeface="Bahnschrift SemiBold Condensed"/>
                </a:rPr>
                <a:t>E</a:t>
              </a:r>
              <a:endParaRPr lang="es-AR" sz="1050" dirty="0">
                <a:latin typeface="Bahnschrift SemiBold Condensed"/>
              </a:endParaRPr>
            </a:p>
          </p:txBody>
        </p:sp>
        <p:sp>
          <p:nvSpPr>
            <p:cNvPr id="23" name="Forma 22"/>
            <p:cNvSpPr txBox="1"/>
            <p:nvPr/>
          </p:nvSpPr>
          <p:spPr>
            <a:xfrm>
              <a:off x="777240" y="4453128"/>
              <a:ext cx="1737360" cy="694944"/>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VLDL</a:t>
              </a:r>
              <a:endParaRPr lang="es-AR" sz="1800" dirty="0">
                <a:latin typeface="Bahnschrift SemiBold Condensed"/>
              </a:endParaRPr>
            </a:p>
          </p:txBody>
        </p:sp>
      </p:grpSp>
      <p:graphicFrame>
        <p:nvGraphicFramePr>
          <p:cNvPr id="24" name="Tabla QM VLDL"/>
          <p:cNvGraphicFramePr>
            <a:graphicFrameLocks noGrp="1"/>
          </p:cNvGraphicFramePr>
          <p:nvPr/>
        </p:nvGraphicFramePr>
        <p:xfrm>
          <a:off x="3108960" y="1051560"/>
          <a:ext cx="8686800" cy="3968496"/>
        </p:xfrm>
        <a:graphic>
          <a:graphicData uri="http://schemas.openxmlformats.org/drawingml/2006/table">
            <a:tbl>
              <a:tblPr firstRow="1" bandRow="1"/>
              <a:tblGrid>
                <a:gridCol w="2286000"/>
                <a:gridCol w="3200400"/>
                <a:gridCol w="3200400"/>
              </a:tblGrid>
              <a:tr h="566928">
                <a:tc>
                  <a:txBody>
                    <a:bodyPr/>
                    <a:lstStyle/>
                    <a:p>
                      <a:pPr algn="l">
                        <a:spcAft>
                          <a:spcPts val="100"/>
                        </a:spcAft>
                        <a:buNone/>
                      </a:pPr>
                      <a:endParaRPr lang="es-AR" sz="14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Quilomicrón (QM)</a:t>
                      </a:r>
                      <a:endParaRPr lang="es-AR" sz="14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VLDL</a:t>
                      </a:r>
                      <a:endParaRPr lang="es-AR" sz="14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Origen</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b="1" dirty="0">
                          <a:solidFill>
                            <a:srgbClr val="1E1E1E"/>
                          </a:solidFill>
                          <a:latin typeface="Bahnschrift"/>
                          <a:ea typeface="Bahnschrift"/>
                          <a:cs typeface="Bahnschrift"/>
                          <a:sym typeface="Bahnschrift"/>
                        </a:rPr>
                        <a:t>Intestino</a:t>
                      </a:r>
                      <a:r>
                        <a:rPr lang="es-AR" sz="1400" dirty="0">
                          <a:solidFill>
                            <a:srgbClr val="1E1E1E"/>
                          </a:solidFill>
                          <a:latin typeface="Bahnschrift"/>
                          <a:ea typeface="Bahnschrift"/>
                          <a:cs typeface="Bahnschrift"/>
                          <a:sym typeface="Bahnschrift"/>
                        </a:rPr>
                        <a:t> (enterocito)</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b="1" dirty="0">
                          <a:solidFill>
                            <a:srgbClr val="1E1E1E"/>
                          </a:solidFill>
                          <a:latin typeface="Bahnschrift"/>
                          <a:ea typeface="Bahnschrift"/>
                          <a:cs typeface="Bahnschrift"/>
                          <a:sym typeface="Bahnschrift"/>
                        </a:rPr>
                        <a:t>Hígado</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Apolipoproteína estructural</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b="1" dirty="0">
                          <a:solidFill>
                            <a:srgbClr val="1E1E1E"/>
                          </a:solidFill>
                          <a:latin typeface="Bahnschrift"/>
                          <a:ea typeface="Bahnschrift"/>
                          <a:cs typeface="Bahnschrift"/>
                          <a:sym typeface="Bahnschrift"/>
                        </a:rPr>
                        <a:t>ApoB-48</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b="1" dirty="0">
                          <a:solidFill>
                            <a:srgbClr val="1E1E1E"/>
                          </a:solidFill>
                          <a:latin typeface="Bahnschrift"/>
                          <a:ea typeface="Bahnschrift"/>
                          <a:cs typeface="Bahnschrift"/>
                          <a:sym typeface="Bahnschrift"/>
                        </a:rPr>
                        <a:t>ApoB-100</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Lípidos transportados</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TAG </a:t>
                      </a:r>
                      <a:r>
                        <a:rPr lang="es-AR" sz="1400" b="1" dirty="0">
                          <a:solidFill>
                            <a:srgbClr val="1E1E1E"/>
                          </a:solidFill>
                          <a:latin typeface="Bahnschrift"/>
                          <a:ea typeface="Bahnschrift"/>
                          <a:cs typeface="Bahnschrift"/>
                          <a:sym typeface="Bahnschrift"/>
                        </a:rPr>
                        <a:t>dietarios</a:t>
                      </a:r>
                      <a:r>
                        <a:rPr lang="es-AR" sz="1400" dirty="0">
                          <a:solidFill>
                            <a:srgbClr val="1E1E1E"/>
                          </a:solidFill>
                          <a:latin typeface="Bahnschrift"/>
                          <a:ea typeface="Bahnschrift"/>
                          <a:cs typeface="Bahnschrift"/>
                          <a:sym typeface="Bahnschrift"/>
                        </a:rPr>
                        <a:t>, colesterol, vitaminas liposolubles</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TAG </a:t>
                      </a:r>
                      <a:r>
                        <a:rPr lang="es-AR" sz="1400" b="1" dirty="0">
                          <a:solidFill>
                            <a:srgbClr val="1E1E1E"/>
                          </a:solidFill>
                          <a:latin typeface="Bahnschrift"/>
                          <a:ea typeface="Bahnschrift"/>
                          <a:cs typeface="Bahnschrift"/>
                          <a:sym typeface="Bahnschrift"/>
                        </a:rPr>
                        <a:t>endógenos</a:t>
                      </a:r>
                      <a:r>
                        <a:rPr lang="es-AR" sz="1400" dirty="0">
                          <a:solidFill>
                            <a:srgbClr val="1E1E1E"/>
                          </a:solidFill>
                          <a:latin typeface="Bahnschrift"/>
                          <a:ea typeface="Bahnschrift"/>
                          <a:cs typeface="Bahnschrift"/>
                          <a:sym typeface="Bahnschrift"/>
                        </a:rPr>
                        <a:t> (DNL, AG plasmáticos, recambio)</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Vía de ingreso a la sangre</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Linfa → conducto torácico</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Directa (vena hepática)</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Producto tras LPL</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Remanente (captación por </a:t>
                      </a:r>
                      <a:r>
                        <a:rPr lang="es-AR" sz="1400" b="1" dirty="0">
                          <a:solidFill>
                            <a:srgbClr val="1E1E1E"/>
                          </a:solidFill>
                          <a:latin typeface="Bahnschrift"/>
                          <a:ea typeface="Bahnschrift"/>
                          <a:cs typeface="Bahnschrift"/>
                          <a:sym typeface="Bahnschrift"/>
                        </a:rPr>
                        <a:t>ApoE</a:t>
                      </a:r>
                      <a:r>
                        <a:rPr lang="es-AR" sz="1400" dirty="0">
                          <a:solidFill>
                            <a:srgbClr val="1E1E1E"/>
                          </a:solidFill>
                          <a:latin typeface="Bahnschrift"/>
                          <a:ea typeface="Bahnschrift"/>
                          <a:cs typeface="Bahnschrift"/>
                          <a:sym typeface="Bahnschrift"/>
                        </a:rPr>
                        <a:t>)</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00" b="1" dirty="0">
                          <a:solidFill>
                            <a:srgbClr val="1E1E1E"/>
                          </a:solidFill>
                          <a:latin typeface="Bahnschrift"/>
                          <a:ea typeface="Bahnschrift"/>
                          <a:cs typeface="Bahnschrift"/>
                          <a:sym typeface="Bahnschrift"/>
                        </a:rPr>
                        <a:t>IDL → LDL</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66928">
                <a:tc>
                  <a:txBody>
                    <a:bodyPr/>
                    <a:lstStyle/>
                    <a:p>
                      <a:pPr algn="l">
                        <a:spcAft>
                          <a:spcPts val="100"/>
                        </a:spcAft>
                        <a:buNone/>
                      </a:pPr>
                      <a:r>
                        <a:rPr lang="es-AR" sz="1400" b="1" dirty="0">
                          <a:solidFill>
                            <a:srgbClr val="1E1E1E"/>
                          </a:solidFill>
                          <a:latin typeface="Bahnschrift"/>
                          <a:ea typeface="Bahnschrift"/>
                          <a:cs typeface="Bahnschrift"/>
                          <a:sym typeface="Bahnschrift"/>
                        </a:rPr>
                        <a:t>Unión al receptor LDL</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ApoB-48 </a:t>
                      </a:r>
                      <a:r>
                        <a:rPr lang="es-AR" sz="1400" b="1" dirty="0">
                          <a:solidFill>
                            <a:srgbClr val="1E1E1E"/>
                          </a:solidFill>
                          <a:latin typeface="Bahnschrift"/>
                          <a:ea typeface="Bahnschrift"/>
                          <a:cs typeface="Bahnschrift"/>
                          <a:sym typeface="Bahnschrift"/>
                        </a:rPr>
                        <a:t>carece</a:t>
                      </a:r>
                      <a:r>
                        <a:rPr lang="es-AR" sz="1400" dirty="0">
                          <a:solidFill>
                            <a:srgbClr val="1E1E1E"/>
                          </a:solidFill>
                          <a:latin typeface="Bahnschrift"/>
                          <a:ea typeface="Bahnschrift"/>
                          <a:cs typeface="Bahnschrift"/>
                          <a:sym typeface="Bahnschrift"/>
                        </a:rPr>
                        <a:t> de la región de unión</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00" dirty="0">
                          <a:solidFill>
                            <a:srgbClr val="1E1E1E"/>
                          </a:solidFill>
                          <a:latin typeface="Bahnschrift"/>
                          <a:ea typeface="Bahnschrift"/>
                          <a:cs typeface="Bahnschrift"/>
                          <a:sym typeface="Bahnschrift"/>
                        </a:rPr>
                        <a:t>ApoB-100 es </a:t>
                      </a:r>
                      <a:r>
                        <a:rPr lang="es-AR" sz="1400" b="1" dirty="0">
                          <a:solidFill>
                            <a:srgbClr val="1E1E1E"/>
                          </a:solidFill>
                          <a:latin typeface="Bahnschrift"/>
                          <a:ea typeface="Bahnschrift"/>
                          <a:cs typeface="Bahnschrift"/>
                          <a:sym typeface="Bahnschrift"/>
                        </a:rPr>
                        <a:t>ligando</a:t>
                      </a:r>
                      <a:r>
                        <a:rPr lang="es-AR" sz="1400" dirty="0">
                          <a:solidFill>
                            <a:srgbClr val="1E1E1E"/>
                          </a:solidFill>
                          <a:latin typeface="Bahnschrift"/>
                          <a:ea typeface="Bahnschrift"/>
                          <a:cs typeface="Bahnschrift"/>
                          <a:sym typeface="Bahnschrift"/>
                        </a:rPr>
                        <a:t> del LDLR</a:t>
                      </a:r>
                      <a:endParaRPr lang="es-AR" sz="14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496001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19 · QUILOMICRONES FRENTE A VLDL</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4"/>
                                        </p:tgtEl>
                                        <p:attrNameLst>
                                          <p:attrName>style.visibility</p:attrName>
                                        </p:attrNameLst>
                                      </p:cBhvr>
                                      <p:to>
                                        <p:strVal val="visible"/>
                                      </p:to>
                                    </p:set>
                                    <p:animEffect transition="in" filter="fade">
                                      <p:cBhvr>
                                        <p:cTn id="9" dur="500"/>
                                        <p:tgtEl>
                                          <p:spTgt spid="14"/>
                                        </p:tgtEl>
                                      </p:cBhvr>
                                    </p:animEffect>
                                  </p:childTnLst>
                                </p:cTn>
                              </p:par>
                            </p:childTnLst>
                          </p:cTn>
                        </p:par>
                      </p:childTnLst>
                    </p:cTn>
                  </p:par>
                  <p:par>
                    <p:cTn id="16" fill="hold">
                      <p:stCondLst>
                        <p:cond delay="indefinite"/>
                      </p:stCondLst>
                      <p:childTnLst>
                        <p:par>
                          <p:cTn id="15"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Intestino lp"/>
          <p:cNvGrpSpPr/>
          <p:nvPr/>
        </p:nvGrpSpPr>
        <p:grpSpPr>
          <a:xfrm>
            <a:off x="274320" y="1005840"/>
            <a:ext cx="1554480" cy="1321308"/>
            <a:chOff x="274320" y="1005840"/>
            <a:chExt cx="1554480" cy="1321308"/>
          </a:xfrm>
        </p:grpSpPr>
        <p:sp>
          <p:nvSpPr>
            <p:cNvPr id="5" name="Forma 4"/>
            <p:cNvSpPr/>
            <p:nvPr/>
          </p:nvSpPr>
          <p:spPr>
            <a:xfrm>
              <a:off x="274320" y="1005840"/>
              <a:ext cx="1554480" cy="132130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 name="Forma 5"/>
            <p:cNvSpPr/>
            <p:nvPr/>
          </p:nvSpPr>
          <p:spPr>
            <a:xfrm>
              <a:off x="274320" y="1005840"/>
              <a:ext cx="1554480" cy="132130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7" name="Forma 6"/>
            <p:cNvSpPr/>
            <p:nvPr/>
          </p:nvSpPr>
          <p:spPr>
            <a:xfrm>
              <a:off x="274320" y="1005840"/>
              <a:ext cx="1554480" cy="132130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8" name="Forma 7"/>
            <p:cNvSpPr/>
            <p:nvPr/>
          </p:nvSpPr>
          <p:spPr>
            <a:xfrm>
              <a:off x="274320" y="1005840"/>
              <a:ext cx="1554480" cy="132130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9" name="Forma 8"/>
            <p:cNvSpPr/>
            <p:nvPr/>
          </p:nvSpPr>
          <p:spPr>
            <a:xfrm>
              <a:off x="274320" y="1005840"/>
              <a:ext cx="1554480" cy="132130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0" name="Hígado lp"/>
          <p:cNvGrpSpPr/>
          <p:nvPr/>
        </p:nvGrpSpPr>
        <p:grpSpPr>
          <a:xfrm>
            <a:off x="274320" y="4023360"/>
            <a:ext cx="2194560" cy="1551115"/>
            <a:chOff x="274320" y="4023360"/>
            <a:chExt cx="2194560" cy="1551115"/>
          </a:xfrm>
        </p:grpSpPr>
        <p:sp>
          <p:nvSpPr>
            <p:cNvPr id="11" name="Vesícula biliar"/>
            <p:cNvSpPr/>
            <p:nvPr/>
          </p:nvSpPr>
          <p:spPr>
            <a:xfrm>
              <a:off x="866851" y="5084649"/>
              <a:ext cx="285293" cy="489826"/>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274320" y="4023360"/>
              <a:ext cx="2194560" cy="136062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274320" y="4023360"/>
              <a:ext cx="2194560" cy="136062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274320" y="4023360"/>
              <a:ext cx="2194560" cy="136062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5" name="Capilar exógena"/>
          <p:cNvGrpSpPr/>
          <p:nvPr/>
        </p:nvGrpSpPr>
        <p:grpSpPr>
          <a:xfrm>
            <a:off x="2377440" y="1874520"/>
            <a:ext cx="6949440" cy="685800"/>
            <a:chOff x="2377440" y="1874520"/>
            <a:chExt cx="6949440" cy="685800"/>
          </a:xfrm>
        </p:grpSpPr>
        <p:sp>
          <p:nvSpPr>
            <p:cNvPr id="16" name="Forma 15"/>
            <p:cNvSpPr/>
            <p:nvPr/>
          </p:nvSpPr>
          <p:spPr>
            <a:xfrm>
              <a:off x="2377440" y="1874520"/>
              <a:ext cx="6949440" cy="68580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7" name="Forma 16"/>
            <p:cNvSpPr/>
            <p:nvPr/>
          </p:nvSpPr>
          <p:spPr>
            <a:xfrm>
              <a:off x="2480310" y="1997964"/>
              <a:ext cx="6743700" cy="438912"/>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8" name="Eritrocito"/>
            <p:cNvSpPr/>
            <p:nvPr/>
          </p:nvSpPr>
          <p:spPr>
            <a:xfrm>
              <a:off x="3399098" y="2208475"/>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9" name="Eritrocito_2"/>
            <p:cNvSpPr/>
            <p:nvPr/>
          </p:nvSpPr>
          <p:spPr>
            <a:xfrm>
              <a:off x="4765043" y="2060521"/>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0" name="Eritrocito_3"/>
            <p:cNvSpPr/>
            <p:nvPr/>
          </p:nvSpPr>
          <p:spPr>
            <a:xfrm>
              <a:off x="7563428" y="2172152"/>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21" name="Capilar endógena"/>
          <p:cNvGrpSpPr/>
          <p:nvPr/>
        </p:nvGrpSpPr>
        <p:grpSpPr>
          <a:xfrm>
            <a:off x="2377440" y="4709160"/>
            <a:ext cx="6949440" cy="685800"/>
            <a:chOff x="2377440" y="4709160"/>
            <a:chExt cx="6949440" cy="685800"/>
          </a:xfrm>
        </p:grpSpPr>
        <p:sp>
          <p:nvSpPr>
            <p:cNvPr id="22" name="Forma 21"/>
            <p:cNvSpPr/>
            <p:nvPr/>
          </p:nvSpPr>
          <p:spPr>
            <a:xfrm>
              <a:off x="2377440" y="4709160"/>
              <a:ext cx="6949440" cy="68580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3" name="Forma 22"/>
            <p:cNvSpPr/>
            <p:nvPr/>
          </p:nvSpPr>
          <p:spPr>
            <a:xfrm>
              <a:off x="2480310" y="4832604"/>
              <a:ext cx="6743700" cy="438912"/>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4" name="Eritrocito_4"/>
            <p:cNvSpPr/>
            <p:nvPr/>
          </p:nvSpPr>
          <p:spPr>
            <a:xfrm>
              <a:off x="3399098" y="5043115"/>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5" name="Eritrocito_5"/>
            <p:cNvSpPr/>
            <p:nvPr/>
          </p:nvSpPr>
          <p:spPr>
            <a:xfrm>
              <a:off x="4765043" y="4895161"/>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6" name="Eritrocito_6"/>
            <p:cNvSpPr/>
            <p:nvPr/>
          </p:nvSpPr>
          <p:spPr>
            <a:xfrm>
              <a:off x="7563428" y="5006792"/>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27" name="Forma 26"/>
          <p:cNvSpPr txBox="1"/>
          <p:nvPr/>
        </p:nvSpPr>
        <p:spPr>
          <a:xfrm>
            <a:off x="2468880" y="1005840"/>
            <a:ext cx="36576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E5109"/>
                </a:solidFill>
                <a:latin typeface="Bahnschrift SemiBold Condensed"/>
                <a:ea typeface="Bahnschrift SemiBold Condensed"/>
                <a:cs typeface="Bahnschrift SemiBold Condensed"/>
                <a:sym typeface="Bahnschrift SemiBold Condensed"/>
              </a:rPr>
              <a:t>VÍA EXÓGENA (lípidos dietarios)</a:t>
            </a:r>
            <a:endParaRPr lang="es-AR" sz="1400" dirty="0">
              <a:latin typeface="Bahnschrift SemiBold Condensed"/>
            </a:endParaRPr>
          </a:p>
        </p:txBody>
      </p:sp>
      <p:sp>
        <p:nvSpPr>
          <p:cNvPr id="28" name="Forma 27"/>
          <p:cNvSpPr txBox="1"/>
          <p:nvPr/>
        </p:nvSpPr>
        <p:spPr>
          <a:xfrm>
            <a:off x="2468880" y="3840480"/>
            <a:ext cx="3657600" cy="320040"/>
          </a:xfrm>
          <a:prstGeom prst="rect">
            <a:avLst/>
          </a:prstGeom>
          <a:noFill/>
          <a:ln>
            <a:noFill/>
          </a:ln>
        </p:spPr>
        <p:txBody>
          <a:bodyPr wrap="square" lIns="0" tIns="0" rIns="0" bIns="0" anchor="t" rtlCol="0">
            <a:noAutofit/>
          </a:bodyPr>
          <a:lstStyle/>
          <a:p>
            <a:pPr algn="l">
              <a:spcAft>
                <a:spcPts val="300"/>
              </a:spcAft>
              <a:buNone/>
            </a:pPr>
            <a:r>
              <a:rPr lang="es-AR" sz="1400" b="1" dirty="0">
                <a:solidFill>
                  <a:srgbClr val="7E5109"/>
                </a:solidFill>
                <a:latin typeface="Bahnschrift SemiBold Condensed"/>
                <a:ea typeface="Bahnschrift SemiBold Condensed"/>
                <a:cs typeface="Bahnschrift SemiBold Condensed"/>
                <a:sym typeface="Bahnschrift SemiBold Condensed"/>
              </a:rPr>
              <a:t>VÍA ENDÓGENA (lípidos hepáticos)</a:t>
            </a:r>
            <a:endParaRPr lang="es-AR" sz="1400" dirty="0">
              <a:latin typeface="Bahnschrift SemiBold Condensed"/>
            </a:endParaRPr>
          </a:p>
        </p:txBody>
      </p:sp>
      <p:grpSp>
        <p:nvGrpSpPr>
          <p:cNvPr id="29" name="QM ruta"/>
          <p:cNvGrpSpPr/>
          <p:nvPr/>
        </p:nvGrpSpPr>
        <p:grpSpPr>
          <a:xfrm>
            <a:off x="2011680" y="1463040"/>
            <a:ext cx="914400" cy="914400"/>
            <a:chOff x="2011680" y="1463040"/>
            <a:chExt cx="914400" cy="914400"/>
          </a:xfrm>
        </p:grpSpPr>
        <p:sp>
          <p:nvSpPr>
            <p:cNvPr id="30" name="Forma 29"/>
            <p:cNvSpPr/>
            <p:nvPr/>
          </p:nvSpPr>
          <p:spPr>
            <a:xfrm>
              <a:off x="2011680" y="146304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1" name="Forma 30"/>
            <p:cNvSpPr/>
            <p:nvPr/>
          </p:nvSpPr>
          <p:spPr>
            <a:xfrm>
              <a:off x="2011680" y="146304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2" name="Forma 31"/>
            <p:cNvSpPr/>
            <p:nvPr/>
          </p:nvSpPr>
          <p:spPr>
            <a:xfrm>
              <a:off x="2011680" y="146304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63500" cap="rnd">
              <a:solidFill>
                <a:srgbClr val="2E4A9E"/>
              </a:solidFill>
              <a:round/>
            </a:ln>
          </p:spPr>
        </p:sp>
        <p:sp>
          <p:nvSpPr>
            <p:cNvPr id="33" name="Forma 32"/>
            <p:cNvSpPr txBox="1"/>
            <p:nvPr/>
          </p:nvSpPr>
          <p:spPr>
            <a:xfrm>
              <a:off x="2011680" y="173736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sp>
        <p:nvSpPr>
          <p:cNvPr id="34" name="LPL 1"/>
          <p:cNvSpPr/>
          <p:nvPr/>
        </p:nvSpPr>
        <p:spPr>
          <a:xfrm>
            <a:off x="4937760" y="2651760"/>
            <a:ext cx="115743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LPL + ApoC-II</a:t>
            </a:r>
            <a:endParaRPr lang="es-AR" sz="1250" dirty="0">
              <a:latin typeface="Bahnschrift SemiBold Condensed"/>
            </a:endParaRPr>
          </a:p>
        </p:txBody>
      </p:sp>
      <p:grpSp>
        <p:nvGrpSpPr>
          <p:cNvPr id="35" name="AG exógenos"/>
          <p:cNvGrpSpPr/>
          <p:nvPr/>
        </p:nvGrpSpPr>
        <p:grpSpPr>
          <a:xfrm>
            <a:off x="5102352" y="3026664"/>
            <a:ext cx="749808" cy="182880"/>
            <a:chOff x="5102352" y="3026664"/>
            <a:chExt cx="749808" cy="182880"/>
          </a:xfrm>
        </p:grpSpPr>
        <p:sp>
          <p:nvSpPr>
            <p:cNvPr id="36" name="Flecha 35_2"/>
            <p:cNvSpPr/>
            <p:nvPr/>
          </p:nvSpPr>
          <p:spPr>
            <a:xfrm>
              <a:off x="5266944" y="3081528"/>
              <a:ext cx="585216" cy="118872"/>
            </a:xfrm>
            <a:custGeom>
              <a:avLst/>
              <a:gdLst/>
              <a:ahLst/>
              <a:cxnLst/>
              <a:rect l="0" t="0" r="r" b="b"/>
              <a:pathLst>
                <a:path w="639" h="129" fill="none">
                  <a:moveTo>
                    <a:pt x="0" y="0"/>
                  </a:moveTo>
                  <a:lnTo>
                    <a:pt x="80" y="129"/>
                  </a:lnTo>
                  <a:lnTo>
                    <a:pt x="160" y="0"/>
                  </a:lnTo>
                  <a:lnTo>
                    <a:pt x="240" y="129"/>
                  </a:lnTo>
                  <a:lnTo>
                    <a:pt x="320" y="0"/>
                  </a:lnTo>
                  <a:lnTo>
                    <a:pt x="400" y="129"/>
                  </a:lnTo>
                  <a:lnTo>
                    <a:pt x="480" y="0"/>
                  </a:lnTo>
                  <a:lnTo>
                    <a:pt x="560" y="129"/>
                  </a:lnTo>
                  <a:lnTo>
                    <a:pt x="639" y="0"/>
                  </a:lnTo>
                </a:path>
              </a:pathLst>
            </a:custGeom>
            <a:noFill/>
            <a:ln w="28575" cap="rnd">
              <a:solidFill>
                <a:srgbClr val="B7950B"/>
              </a:solidFill>
              <a:round/>
            </a:ln>
          </p:spPr>
        </p:sp>
        <p:sp>
          <p:nvSpPr>
            <p:cNvPr id="37" name="Forma 37"/>
            <p:cNvSpPr/>
            <p:nvPr/>
          </p:nvSpPr>
          <p:spPr>
            <a:xfrm>
              <a:off x="5102352" y="302666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38" name="Remanente QM"/>
          <p:cNvGrpSpPr/>
          <p:nvPr/>
        </p:nvGrpSpPr>
        <p:grpSpPr>
          <a:xfrm>
            <a:off x="6400800" y="1600200"/>
            <a:ext cx="685800" cy="685800"/>
            <a:chOff x="6400800" y="1600200"/>
            <a:chExt cx="685800" cy="685800"/>
          </a:xfrm>
        </p:grpSpPr>
        <p:sp>
          <p:nvSpPr>
            <p:cNvPr id="39" name="Forma 39"/>
            <p:cNvSpPr/>
            <p:nvPr/>
          </p:nvSpPr>
          <p:spPr>
            <a:xfrm>
              <a:off x="6400800" y="1600200"/>
              <a:ext cx="685800" cy="685800"/>
            </a:xfrm>
            <a:prstGeom prst="ellipse">
              <a:avLst/>
            </a:prstGeom>
            <a:gradFill rotWithShape="1">
              <a:gsLst>
                <a:gs pos="0">
                  <a:srgbClr val="FAD7A0"/>
                </a:gs>
                <a:gs pos="70000">
                  <a:srgbClr val="F39C12"/>
                </a:gs>
                <a:gs pos="100000">
                  <a:srgbClr val="C27C0E"/>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0" name="Forma 40"/>
            <p:cNvSpPr/>
            <p:nvPr/>
          </p:nvSpPr>
          <p:spPr>
            <a:xfrm>
              <a:off x="6400800" y="1600200"/>
              <a:ext cx="685800" cy="6858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9" y="588"/>
                  </a:moveTo>
                  <a:cubicBezTo>
                    <a:pt x="989" y="603"/>
                    <a:pt x="976" y="616"/>
                    <a:pt x="961" y="616"/>
                  </a:cubicBezTo>
                  <a:cubicBezTo>
                    <a:pt x="945" y="616"/>
                    <a:pt x="933" y="603"/>
                    <a:pt x="933" y="588"/>
                  </a:cubicBezTo>
                  <a:cubicBezTo>
                    <a:pt x="933" y="572"/>
                    <a:pt x="945" y="560"/>
                    <a:pt x="961" y="560"/>
                  </a:cubicBezTo>
                  <a:cubicBezTo>
                    <a:pt x="976" y="560"/>
                    <a:pt x="989" y="572"/>
                    <a:pt x="989" y="588"/>
                  </a:cubicBezTo>
                  <a:close/>
                  <a:moveTo>
                    <a:pt x="964" y="674"/>
                  </a:moveTo>
                  <a:cubicBezTo>
                    <a:pt x="964" y="689"/>
                    <a:pt x="951" y="702"/>
                    <a:pt x="936" y="702"/>
                  </a:cubicBezTo>
                  <a:cubicBezTo>
                    <a:pt x="920" y="702"/>
                    <a:pt x="908" y="689"/>
                    <a:pt x="908" y="674"/>
                  </a:cubicBezTo>
                  <a:cubicBezTo>
                    <a:pt x="908" y="658"/>
                    <a:pt x="920" y="646"/>
                    <a:pt x="936" y="646"/>
                  </a:cubicBezTo>
                  <a:cubicBezTo>
                    <a:pt x="951" y="646"/>
                    <a:pt x="964" y="658"/>
                    <a:pt x="964" y="674"/>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68" y="824"/>
                  </a:moveTo>
                  <a:cubicBezTo>
                    <a:pt x="868" y="839"/>
                    <a:pt x="855" y="852"/>
                    <a:pt x="840" y="852"/>
                  </a:cubicBezTo>
                  <a:cubicBezTo>
                    <a:pt x="824" y="852"/>
                    <a:pt x="812" y="839"/>
                    <a:pt x="812" y="824"/>
                  </a:cubicBezTo>
                  <a:cubicBezTo>
                    <a:pt x="812" y="808"/>
                    <a:pt x="824" y="796"/>
                    <a:pt x="840" y="796"/>
                  </a:cubicBezTo>
                  <a:cubicBezTo>
                    <a:pt x="855" y="796"/>
                    <a:pt x="868" y="808"/>
                    <a:pt x="868" y="824"/>
                  </a:cubicBezTo>
                  <a:close/>
                  <a:moveTo>
                    <a:pt x="800" y="882"/>
                  </a:moveTo>
                  <a:cubicBezTo>
                    <a:pt x="800" y="897"/>
                    <a:pt x="787" y="910"/>
                    <a:pt x="772" y="910"/>
                  </a:cubicBezTo>
                  <a:cubicBezTo>
                    <a:pt x="756" y="910"/>
                    <a:pt x="744" y="897"/>
                    <a:pt x="744" y="882"/>
                  </a:cubicBezTo>
                  <a:cubicBezTo>
                    <a:pt x="744" y="866"/>
                    <a:pt x="756" y="854"/>
                    <a:pt x="772" y="854"/>
                  </a:cubicBezTo>
                  <a:cubicBezTo>
                    <a:pt x="787" y="854"/>
                    <a:pt x="800" y="866"/>
                    <a:pt x="800" y="882"/>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38" y="956"/>
                  </a:moveTo>
                  <a:cubicBezTo>
                    <a:pt x="638" y="971"/>
                    <a:pt x="625" y="984"/>
                    <a:pt x="610" y="984"/>
                  </a:cubicBezTo>
                  <a:cubicBezTo>
                    <a:pt x="594" y="984"/>
                    <a:pt x="582" y="971"/>
                    <a:pt x="582" y="956"/>
                  </a:cubicBezTo>
                  <a:cubicBezTo>
                    <a:pt x="582" y="940"/>
                    <a:pt x="594" y="928"/>
                    <a:pt x="610" y="928"/>
                  </a:cubicBezTo>
                  <a:cubicBezTo>
                    <a:pt x="625" y="928"/>
                    <a:pt x="638" y="940"/>
                    <a:pt x="638" y="956"/>
                  </a:cubicBezTo>
                  <a:close/>
                  <a:moveTo>
                    <a:pt x="550" y="969"/>
                  </a:moveTo>
                  <a:cubicBezTo>
                    <a:pt x="550" y="984"/>
                    <a:pt x="537" y="997"/>
                    <a:pt x="522" y="997"/>
                  </a:cubicBezTo>
                  <a:cubicBezTo>
                    <a:pt x="506" y="997"/>
                    <a:pt x="494" y="984"/>
                    <a:pt x="494" y="969"/>
                  </a:cubicBezTo>
                  <a:cubicBezTo>
                    <a:pt x="494" y="953"/>
                    <a:pt x="506" y="941"/>
                    <a:pt x="522" y="941"/>
                  </a:cubicBezTo>
                  <a:cubicBezTo>
                    <a:pt x="537" y="941"/>
                    <a:pt x="550" y="953"/>
                    <a:pt x="550" y="969"/>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74" y="944"/>
                  </a:moveTo>
                  <a:cubicBezTo>
                    <a:pt x="374" y="959"/>
                    <a:pt x="361" y="972"/>
                    <a:pt x="346" y="972"/>
                  </a:cubicBezTo>
                  <a:cubicBezTo>
                    <a:pt x="330" y="972"/>
                    <a:pt x="318" y="959"/>
                    <a:pt x="318" y="944"/>
                  </a:cubicBezTo>
                  <a:cubicBezTo>
                    <a:pt x="318" y="928"/>
                    <a:pt x="330" y="916"/>
                    <a:pt x="346" y="916"/>
                  </a:cubicBezTo>
                  <a:cubicBezTo>
                    <a:pt x="361" y="916"/>
                    <a:pt x="374" y="928"/>
                    <a:pt x="374" y="944"/>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58" y="790"/>
                  </a:moveTo>
                  <a:cubicBezTo>
                    <a:pt x="158" y="805"/>
                    <a:pt x="145" y="818"/>
                    <a:pt x="130" y="818"/>
                  </a:cubicBezTo>
                  <a:cubicBezTo>
                    <a:pt x="114" y="818"/>
                    <a:pt x="102" y="805"/>
                    <a:pt x="102" y="790"/>
                  </a:cubicBezTo>
                  <a:cubicBezTo>
                    <a:pt x="102" y="774"/>
                    <a:pt x="114" y="762"/>
                    <a:pt x="130" y="762"/>
                  </a:cubicBezTo>
                  <a:cubicBezTo>
                    <a:pt x="145" y="762"/>
                    <a:pt x="158" y="774"/>
                    <a:pt x="158" y="790"/>
                  </a:cubicBezTo>
                  <a:close/>
                  <a:moveTo>
                    <a:pt x="110" y="715"/>
                  </a:moveTo>
                  <a:cubicBezTo>
                    <a:pt x="110" y="730"/>
                    <a:pt x="97" y="743"/>
                    <a:pt x="82" y="743"/>
                  </a:cubicBezTo>
                  <a:cubicBezTo>
                    <a:pt x="66" y="743"/>
                    <a:pt x="54" y="730"/>
                    <a:pt x="54" y="715"/>
                  </a:cubicBezTo>
                  <a:cubicBezTo>
                    <a:pt x="54" y="699"/>
                    <a:pt x="66" y="687"/>
                    <a:pt x="82" y="687"/>
                  </a:cubicBezTo>
                  <a:cubicBezTo>
                    <a:pt x="97" y="687"/>
                    <a:pt x="110" y="699"/>
                    <a:pt x="110" y="71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0" y="544"/>
                  </a:moveTo>
                  <a:cubicBezTo>
                    <a:pt x="60" y="559"/>
                    <a:pt x="47" y="572"/>
                    <a:pt x="32" y="572"/>
                  </a:cubicBezTo>
                  <a:cubicBezTo>
                    <a:pt x="16" y="572"/>
                    <a:pt x="4" y="559"/>
                    <a:pt x="4" y="544"/>
                  </a:cubicBezTo>
                  <a:cubicBezTo>
                    <a:pt x="4" y="528"/>
                    <a:pt x="16" y="516"/>
                    <a:pt x="32" y="516"/>
                  </a:cubicBezTo>
                  <a:cubicBezTo>
                    <a:pt x="47" y="516"/>
                    <a:pt x="60" y="528"/>
                    <a:pt x="60" y="544"/>
                  </a:cubicBezTo>
                  <a:close/>
                  <a:moveTo>
                    <a:pt x="60" y="455"/>
                  </a:moveTo>
                  <a:cubicBezTo>
                    <a:pt x="60" y="470"/>
                    <a:pt x="47" y="483"/>
                    <a:pt x="32" y="483"/>
                  </a:cubicBezTo>
                  <a:cubicBezTo>
                    <a:pt x="16" y="483"/>
                    <a:pt x="4" y="470"/>
                    <a:pt x="4" y="455"/>
                  </a:cubicBezTo>
                  <a:cubicBezTo>
                    <a:pt x="4" y="439"/>
                    <a:pt x="16" y="427"/>
                    <a:pt x="32" y="427"/>
                  </a:cubicBezTo>
                  <a:cubicBezTo>
                    <a:pt x="47" y="427"/>
                    <a:pt x="60" y="439"/>
                    <a:pt x="60" y="455"/>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10" y="284"/>
                  </a:moveTo>
                  <a:cubicBezTo>
                    <a:pt x="110" y="299"/>
                    <a:pt x="97" y="312"/>
                    <a:pt x="82" y="312"/>
                  </a:cubicBezTo>
                  <a:cubicBezTo>
                    <a:pt x="66" y="312"/>
                    <a:pt x="54" y="299"/>
                    <a:pt x="54" y="284"/>
                  </a:cubicBezTo>
                  <a:cubicBezTo>
                    <a:pt x="54" y="268"/>
                    <a:pt x="66" y="256"/>
                    <a:pt x="82" y="256"/>
                  </a:cubicBezTo>
                  <a:cubicBezTo>
                    <a:pt x="97" y="256"/>
                    <a:pt x="110" y="268"/>
                    <a:pt x="110" y="284"/>
                  </a:cubicBezTo>
                  <a:close/>
                  <a:moveTo>
                    <a:pt x="158" y="209"/>
                  </a:moveTo>
                  <a:cubicBezTo>
                    <a:pt x="158" y="224"/>
                    <a:pt x="145" y="237"/>
                    <a:pt x="130" y="237"/>
                  </a:cubicBezTo>
                  <a:cubicBezTo>
                    <a:pt x="114" y="237"/>
                    <a:pt x="102" y="224"/>
                    <a:pt x="102" y="209"/>
                  </a:cubicBezTo>
                  <a:cubicBezTo>
                    <a:pt x="102" y="193"/>
                    <a:pt x="114" y="181"/>
                    <a:pt x="130" y="181"/>
                  </a:cubicBezTo>
                  <a:cubicBezTo>
                    <a:pt x="145" y="181"/>
                    <a:pt x="158" y="193"/>
                    <a:pt x="158" y="209"/>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374" y="55"/>
                  </a:moveTo>
                  <a:cubicBezTo>
                    <a:pt x="374" y="70"/>
                    <a:pt x="361" y="83"/>
                    <a:pt x="346" y="83"/>
                  </a:cubicBezTo>
                  <a:cubicBezTo>
                    <a:pt x="330" y="83"/>
                    <a:pt x="318" y="70"/>
                    <a:pt x="318" y="55"/>
                  </a:cubicBezTo>
                  <a:cubicBezTo>
                    <a:pt x="318" y="39"/>
                    <a:pt x="330" y="27"/>
                    <a:pt x="346" y="27"/>
                  </a:cubicBezTo>
                  <a:cubicBezTo>
                    <a:pt x="361" y="27"/>
                    <a:pt x="374" y="39"/>
                    <a:pt x="374" y="55"/>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50" y="30"/>
                  </a:moveTo>
                  <a:cubicBezTo>
                    <a:pt x="550" y="45"/>
                    <a:pt x="537" y="58"/>
                    <a:pt x="522" y="58"/>
                  </a:cubicBezTo>
                  <a:cubicBezTo>
                    <a:pt x="506" y="58"/>
                    <a:pt x="494" y="45"/>
                    <a:pt x="494" y="30"/>
                  </a:cubicBezTo>
                  <a:cubicBezTo>
                    <a:pt x="494" y="14"/>
                    <a:pt x="506" y="2"/>
                    <a:pt x="522" y="2"/>
                  </a:cubicBezTo>
                  <a:cubicBezTo>
                    <a:pt x="537" y="2"/>
                    <a:pt x="550" y="14"/>
                    <a:pt x="550" y="30"/>
                  </a:cubicBezTo>
                  <a:close/>
                  <a:moveTo>
                    <a:pt x="638" y="43"/>
                  </a:moveTo>
                  <a:cubicBezTo>
                    <a:pt x="638" y="58"/>
                    <a:pt x="625" y="71"/>
                    <a:pt x="610" y="71"/>
                  </a:cubicBezTo>
                  <a:cubicBezTo>
                    <a:pt x="594" y="71"/>
                    <a:pt x="582" y="58"/>
                    <a:pt x="582" y="43"/>
                  </a:cubicBezTo>
                  <a:cubicBezTo>
                    <a:pt x="582" y="27"/>
                    <a:pt x="594" y="15"/>
                    <a:pt x="610" y="15"/>
                  </a:cubicBezTo>
                  <a:cubicBezTo>
                    <a:pt x="625" y="15"/>
                    <a:pt x="638" y="27"/>
                    <a:pt x="638" y="43"/>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800" y="117"/>
                  </a:moveTo>
                  <a:cubicBezTo>
                    <a:pt x="800" y="132"/>
                    <a:pt x="787" y="145"/>
                    <a:pt x="772" y="145"/>
                  </a:cubicBezTo>
                  <a:cubicBezTo>
                    <a:pt x="756" y="145"/>
                    <a:pt x="744" y="132"/>
                    <a:pt x="744" y="117"/>
                  </a:cubicBezTo>
                  <a:cubicBezTo>
                    <a:pt x="744" y="101"/>
                    <a:pt x="756" y="89"/>
                    <a:pt x="772" y="89"/>
                  </a:cubicBezTo>
                  <a:cubicBezTo>
                    <a:pt x="787" y="89"/>
                    <a:pt x="800" y="101"/>
                    <a:pt x="800" y="117"/>
                  </a:cubicBezTo>
                  <a:close/>
                  <a:moveTo>
                    <a:pt x="868" y="175"/>
                  </a:moveTo>
                  <a:cubicBezTo>
                    <a:pt x="868" y="190"/>
                    <a:pt x="855" y="203"/>
                    <a:pt x="840" y="203"/>
                  </a:cubicBezTo>
                  <a:cubicBezTo>
                    <a:pt x="824" y="203"/>
                    <a:pt x="812" y="190"/>
                    <a:pt x="812" y="175"/>
                  </a:cubicBezTo>
                  <a:cubicBezTo>
                    <a:pt x="812" y="159"/>
                    <a:pt x="824" y="147"/>
                    <a:pt x="840" y="147"/>
                  </a:cubicBezTo>
                  <a:cubicBezTo>
                    <a:pt x="855" y="147"/>
                    <a:pt x="868" y="159"/>
                    <a:pt x="868" y="175"/>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64" y="325"/>
                  </a:moveTo>
                  <a:cubicBezTo>
                    <a:pt x="964" y="340"/>
                    <a:pt x="951" y="353"/>
                    <a:pt x="936" y="353"/>
                  </a:cubicBezTo>
                  <a:cubicBezTo>
                    <a:pt x="920" y="353"/>
                    <a:pt x="908" y="340"/>
                    <a:pt x="908" y="325"/>
                  </a:cubicBezTo>
                  <a:cubicBezTo>
                    <a:pt x="908" y="309"/>
                    <a:pt x="920" y="297"/>
                    <a:pt x="936" y="297"/>
                  </a:cubicBezTo>
                  <a:cubicBezTo>
                    <a:pt x="951" y="297"/>
                    <a:pt x="964" y="309"/>
                    <a:pt x="964" y="325"/>
                  </a:cubicBezTo>
                  <a:close/>
                  <a:moveTo>
                    <a:pt x="989" y="411"/>
                  </a:moveTo>
                  <a:cubicBezTo>
                    <a:pt x="989" y="426"/>
                    <a:pt x="976" y="439"/>
                    <a:pt x="961" y="439"/>
                  </a:cubicBezTo>
                  <a:cubicBezTo>
                    <a:pt x="945" y="439"/>
                    <a:pt x="933" y="426"/>
                    <a:pt x="933" y="411"/>
                  </a:cubicBezTo>
                  <a:cubicBezTo>
                    <a:pt x="933" y="395"/>
                    <a:pt x="945" y="383"/>
                    <a:pt x="961" y="383"/>
                  </a:cubicBezTo>
                  <a:cubicBezTo>
                    <a:pt x="976" y="383"/>
                    <a:pt x="989" y="395"/>
                    <a:pt x="989" y="411"/>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1" name="Forma 41"/>
            <p:cNvSpPr/>
            <p:nvPr/>
          </p:nvSpPr>
          <p:spPr>
            <a:xfrm>
              <a:off x="6400800" y="1600200"/>
              <a:ext cx="685800" cy="685800"/>
            </a:xfrm>
            <a:custGeom>
              <a:avLst/>
              <a:gdLst/>
              <a:ahLst/>
              <a:cxnLst/>
              <a:rect l="0" t="0" r="r" b="b"/>
              <a:pathLst>
                <a:path w="1000" h="1000" fill="none">
                  <a:moveTo>
                    <a:pt x="750" y="66"/>
                  </a:moveTo>
                  <a:cubicBezTo>
                    <a:pt x="759" y="72"/>
                    <a:pt x="786" y="89"/>
                    <a:pt x="804" y="103"/>
                  </a:cubicBezTo>
                  <a:cubicBezTo>
                    <a:pt x="821" y="116"/>
                    <a:pt x="837" y="130"/>
                    <a:pt x="853" y="146"/>
                  </a:cubicBezTo>
                  <a:cubicBezTo>
                    <a:pt x="868" y="161"/>
                    <a:pt x="882" y="177"/>
                    <a:pt x="896" y="195"/>
                  </a:cubicBezTo>
                  <a:cubicBezTo>
                    <a:pt x="909" y="212"/>
                    <a:pt x="922" y="230"/>
                    <a:pt x="933" y="249"/>
                  </a:cubicBezTo>
                  <a:cubicBezTo>
                    <a:pt x="943" y="267"/>
                    <a:pt x="952" y="287"/>
                    <a:pt x="961" y="308"/>
                  </a:cubicBezTo>
                  <a:cubicBezTo>
                    <a:pt x="969" y="328"/>
                    <a:pt x="976" y="349"/>
                    <a:pt x="982" y="370"/>
                  </a:cubicBezTo>
                  <a:cubicBezTo>
                    <a:pt x="987" y="391"/>
                    <a:pt x="992" y="412"/>
                    <a:pt x="995" y="434"/>
                  </a:cubicBezTo>
                  <a:cubicBezTo>
                    <a:pt x="998" y="455"/>
                    <a:pt x="999" y="488"/>
                    <a:pt x="1000" y="499"/>
                  </a:cubicBezTo>
                </a:path>
              </a:pathLst>
            </a:custGeom>
            <a:noFill/>
            <a:ln w="50800" cap="rnd">
              <a:solidFill>
                <a:srgbClr val="8E44AD"/>
              </a:solidFill>
              <a:round/>
            </a:ln>
          </p:spPr>
        </p:sp>
        <p:sp>
          <p:nvSpPr>
            <p:cNvPr id="42" name="Forma 42"/>
            <p:cNvSpPr txBox="1"/>
            <p:nvPr/>
          </p:nvSpPr>
          <p:spPr>
            <a:xfrm>
              <a:off x="6400800" y="1805940"/>
              <a:ext cx="685800"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Rem</a:t>
              </a:r>
              <a:endParaRPr lang="es-AR" sz="1200" dirty="0">
                <a:latin typeface="Bahnschrift SemiBold Condensed"/>
              </a:endParaRPr>
            </a:p>
          </p:txBody>
        </p:sp>
      </p:grpSp>
      <p:grpSp>
        <p:nvGrpSpPr>
          <p:cNvPr id="43" name="VLDL ruta"/>
          <p:cNvGrpSpPr/>
          <p:nvPr/>
        </p:nvGrpSpPr>
        <p:grpSpPr>
          <a:xfrm>
            <a:off x="2103120" y="4343400"/>
            <a:ext cx="822960" cy="822960"/>
            <a:chOff x="2103120" y="4343400"/>
            <a:chExt cx="822960" cy="822960"/>
          </a:xfrm>
        </p:grpSpPr>
        <p:sp>
          <p:nvSpPr>
            <p:cNvPr id="44" name="Forma 44"/>
            <p:cNvSpPr/>
            <p:nvPr/>
          </p:nvSpPr>
          <p:spPr>
            <a:xfrm>
              <a:off x="2103120" y="4343400"/>
              <a:ext cx="822960" cy="822960"/>
            </a:xfrm>
            <a:prstGeom prst="ellipse">
              <a:avLst/>
            </a:prstGeom>
            <a:gradFill rotWithShape="1">
              <a:gsLst>
                <a:gs pos="0">
                  <a:srgbClr val="FBEADB"/>
                </a:gs>
                <a:gs pos="70000">
                  <a:srgbClr val="F5CBA7"/>
                </a:gs>
                <a:gs pos="100000">
                  <a:srgbClr val="C4A285"/>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5" name="Forma 45"/>
            <p:cNvSpPr/>
            <p:nvPr/>
          </p:nvSpPr>
          <p:spPr>
            <a:xfrm>
              <a:off x="2103120" y="4343400"/>
              <a:ext cx="822960" cy="82296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2" y="573"/>
                  </a:moveTo>
                  <a:cubicBezTo>
                    <a:pt x="992" y="588"/>
                    <a:pt x="979" y="601"/>
                    <a:pt x="964" y="601"/>
                  </a:cubicBezTo>
                  <a:cubicBezTo>
                    <a:pt x="948" y="601"/>
                    <a:pt x="936" y="588"/>
                    <a:pt x="936" y="573"/>
                  </a:cubicBezTo>
                  <a:cubicBezTo>
                    <a:pt x="936" y="557"/>
                    <a:pt x="948" y="545"/>
                    <a:pt x="964" y="545"/>
                  </a:cubicBezTo>
                  <a:cubicBezTo>
                    <a:pt x="979" y="545"/>
                    <a:pt x="992" y="557"/>
                    <a:pt x="992" y="573"/>
                  </a:cubicBezTo>
                  <a:close/>
                  <a:moveTo>
                    <a:pt x="974" y="645"/>
                  </a:moveTo>
                  <a:cubicBezTo>
                    <a:pt x="974" y="660"/>
                    <a:pt x="961" y="673"/>
                    <a:pt x="946" y="673"/>
                  </a:cubicBezTo>
                  <a:cubicBezTo>
                    <a:pt x="930" y="673"/>
                    <a:pt x="918" y="660"/>
                    <a:pt x="918" y="645"/>
                  </a:cubicBezTo>
                  <a:cubicBezTo>
                    <a:pt x="918" y="629"/>
                    <a:pt x="930" y="617"/>
                    <a:pt x="946" y="617"/>
                  </a:cubicBezTo>
                  <a:cubicBezTo>
                    <a:pt x="961" y="617"/>
                    <a:pt x="974" y="629"/>
                    <a:pt x="974" y="645"/>
                  </a:cubicBezTo>
                  <a:close/>
                  <a:moveTo>
                    <a:pt x="946" y="713"/>
                  </a:moveTo>
                  <a:cubicBezTo>
                    <a:pt x="946" y="728"/>
                    <a:pt x="933" y="741"/>
                    <a:pt x="918" y="741"/>
                  </a:cubicBezTo>
                  <a:cubicBezTo>
                    <a:pt x="902" y="741"/>
                    <a:pt x="890" y="728"/>
                    <a:pt x="890" y="713"/>
                  </a:cubicBezTo>
                  <a:cubicBezTo>
                    <a:pt x="890" y="697"/>
                    <a:pt x="902" y="685"/>
                    <a:pt x="918" y="685"/>
                  </a:cubicBezTo>
                  <a:cubicBezTo>
                    <a:pt x="933" y="685"/>
                    <a:pt x="946" y="697"/>
                    <a:pt x="946" y="713"/>
                  </a:cubicBezTo>
                  <a:close/>
                  <a:moveTo>
                    <a:pt x="908" y="776"/>
                  </a:moveTo>
                  <a:cubicBezTo>
                    <a:pt x="908" y="791"/>
                    <a:pt x="895" y="804"/>
                    <a:pt x="880" y="804"/>
                  </a:cubicBezTo>
                  <a:cubicBezTo>
                    <a:pt x="864" y="804"/>
                    <a:pt x="852" y="791"/>
                    <a:pt x="852" y="776"/>
                  </a:cubicBezTo>
                  <a:cubicBezTo>
                    <a:pt x="852" y="760"/>
                    <a:pt x="864" y="748"/>
                    <a:pt x="880" y="748"/>
                  </a:cubicBezTo>
                  <a:cubicBezTo>
                    <a:pt x="895" y="748"/>
                    <a:pt x="908" y="760"/>
                    <a:pt x="908" y="776"/>
                  </a:cubicBezTo>
                  <a:close/>
                  <a:moveTo>
                    <a:pt x="860" y="832"/>
                  </a:moveTo>
                  <a:cubicBezTo>
                    <a:pt x="860" y="847"/>
                    <a:pt x="847" y="860"/>
                    <a:pt x="832" y="860"/>
                  </a:cubicBezTo>
                  <a:cubicBezTo>
                    <a:pt x="816" y="860"/>
                    <a:pt x="804" y="847"/>
                    <a:pt x="804" y="832"/>
                  </a:cubicBezTo>
                  <a:cubicBezTo>
                    <a:pt x="804" y="816"/>
                    <a:pt x="816" y="804"/>
                    <a:pt x="832" y="804"/>
                  </a:cubicBezTo>
                  <a:cubicBezTo>
                    <a:pt x="847" y="804"/>
                    <a:pt x="860" y="816"/>
                    <a:pt x="860" y="832"/>
                  </a:cubicBezTo>
                  <a:close/>
                  <a:moveTo>
                    <a:pt x="804" y="880"/>
                  </a:moveTo>
                  <a:cubicBezTo>
                    <a:pt x="804" y="895"/>
                    <a:pt x="791" y="908"/>
                    <a:pt x="776" y="908"/>
                  </a:cubicBezTo>
                  <a:cubicBezTo>
                    <a:pt x="760" y="908"/>
                    <a:pt x="748" y="895"/>
                    <a:pt x="748" y="880"/>
                  </a:cubicBezTo>
                  <a:cubicBezTo>
                    <a:pt x="748" y="864"/>
                    <a:pt x="760" y="852"/>
                    <a:pt x="776" y="852"/>
                  </a:cubicBezTo>
                  <a:cubicBezTo>
                    <a:pt x="791" y="852"/>
                    <a:pt x="804" y="864"/>
                    <a:pt x="804" y="880"/>
                  </a:cubicBezTo>
                  <a:close/>
                  <a:moveTo>
                    <a:pt x="741" y="918"/>
                  </a:moveTo>
                  <a:cubicBezTo>
                    <a:pt x="741" y="933"/>
                    <a:pt x="728" y="946"/>
                    <a:pt x="713" y="946"/>
                  </a:cubicBezTo>
                  <a:cubicBezTo>
                    <a:pt x="697" y="946"/>
                    <a:pt x="685" y="933"/>
                    <a:pt x="685" y="918"/>
                  </a:cubicBezTo>
                  <a:cubicBezTo>
                    <a:pt x="685" y="902"/>
                    <a:pt x="697" y="890"/>
                    <a:pt x="713" y="890"/>
                  </a:cubicBezTo>
                  <a:cubicBezTo>
                    <a:pt x="728" y="890"/>
                    <a:pt x="741" y="902"/>
                    <a:pt x="741" y="918"/>
                  </a:cubicBezTo>
                  <a:close/>
                  <a:moveTo>
                    <a:pt x="673" y="946"/>
                  </a:moveTo>
                  <a:cubicBezTo>
                    <a:pt x="673" y="961"/>
                    <a:pt x="660" y="974"/>
                    <a:pt x="645" y="974"/>
                  </a:cubicBezTo>
                  <a:cubicBezTo>
                    <a:pt x="629" y="974"/>
                    <a:pt x="617" y="961"/>
                    <a:pt x="617" y="946"/>
                  </a:cubicBezTo>
                  <a:cubicBezTo>
                    <a:pt x="617" y="930"/>
                    <a:pt x="629" y="918"/>
                    <a:pt x="645" y="918"/>
                  </a:cubicBezTo>
                  <a:cubicBezTo>
                    <a:pt x="660" y="918"/>
                    <a:pt x="673" y="930"/>
                    <a:pt x="673" y="946"/>
                  </a:cubicBezTo>
                  <a:close/>
                  <a:moveTo>
                    <a:pt x="601" y="964"/>
                  </a:moveTo>
                  <a:cubicBezTo>
                    <a:pt x="601" y="979"/>
                    <a:pt x="588" y="992"/>
                    <a:pt x="573" y="992"/>
                  </a:cubicBezTo>
                  <a:cubicBezTo>
                    <a:pt x="557" y="992"/>
                    <a:pt x="545" y="979"/>
                    <a:pt x="545" y="964"/>
                  </a:cubicBezTo>
                  <a:cubicBezTo>
                    <a:pt x="545" y="948"/>
                    <a:pt x="557" y="936"/>
                    <a:pt x="573" y="936"/>
                  </a:cubicBezTo>
                  <a:cubicBezTo>
                    <a:pt x="588" y="936"/>
                    <a:pt x="601" y="948"/>
                    <a:pt x="601" y="964"/>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54" y="964"/>
                  </a:moveTo>
                  <a:cubicBezTo>
                    <a:pt x="454" y="979"/>
                    <a:pt x="441" y="992"/>
                    <a:pt x="426" y="992"/>
                  </a:cubicBezTo>
                  <a:cubicBezTo>
                    <a:pt x="410" y="992"/>
                    <a:pt x="398" y="979"/>
                    <a:pt x="398" y="964"/>
                  </a:cubicBezTo>
                  <a:cubicBezTo>
                    <a:pt x="398" y="948"/>
                    <a:pt x="410" y="936"/>
                    <a:pt x="426" y="936"/>
                  </a:cubicBezTo>
                  <a:cubicBezTo>
                    <a:pt x="441" y="936"/>
                    <a:pt x="454" y="948"/>
                    <a:pt x="454" y="964"/>
                  </a:cubicBezTo>
                  <a:close/>
                  <a:moveTo>
                    <a:pt x="382" y="946"/>
                  </a:moveTo>
                  <a:cubicBezTo>
                    <a:pt x="382" y="961"/>
                    <a:pt x="369" y="974"/>
                    <a:pt x="354" y="974"/>
                  </a:cubicBezTo>
                  <a:cubicBezTo>
                    <a:pt x="338" y="974"/>
                    <a:pt x="326" y="961"/>
                    <a:pt x="326" y="946"/>
                  </a:cubicBezTo>
                  <a:cubicBezTo>
                    <a:pt x="326" y="930"/>
                    <a:pt x="338" y="918"/>
                    <a:pt x="354" y="918"/>
                  </a:cubicBezTo>
                  <a:cubicBezTo>
                    <a:pt x="369" y="918"/>
                    <a:pt x="382" y="930"/>
                    <a:pt x="382" y="946"/>
                  </a:cubicBezTo>
                  <a:close/>
                  <a:moveTo>
                    <a:pt x="314" y="918"/>
                  </a:moveTo>
                  <a:cubicBezTo>
                    <a:pt x="314" y="933"/>
                    <a:pt x="301" y="946"/>
                    <a:pt x="286" y="946"/>
                  </a:cubicBezTo>
                  <a:cubicBezTo>
                    <a:pt x="270" y="946"/>
                    <a:pt x="258" y="933"/>
                    <a:pt x="258" y="918"/>
                  </a:cubicBezTo>
                  <a:cubicBezTo>
                    <a:pt x="258" y="902"/>
                    <a:pt x="270" y="890"/>
                    <a:pt x="286" y="890"/>
                  </a:cubicBezTo>
                  <a:cubicBezTo>
                    <a:pt x="301" y="890"/>
                    <a:pt x="314" y="902"/>
                    <a:pt x="314" y="918"/>
                  </a:cubicBezTo>
                  <a:close/>
                  <a:moveTo>
                    <a:pt x="251" y="880"/>
                  </a:moveTo>
                  <a:cubicBezTo>
                    <a:pt x="251" y="895"/>
                    <a:pt x="238" y="908"/>
                    <a:pt x="223" y="908"/>
                  </a:cubicBezTo>
                  <a:cubicBezTo>
                    <a:pt x="207" y="908"/>
                    <a:pt x="195" y="895"/>
                    <a:pt x="195" y="880"/>
                  </a:cubicBezTo>
                  <a:cubicBezTo>
                    <a:pt x="195" y="864"/>
                    <a:pt x="207" y="852"/>
                    <a:pt x="223" y="852"/>
                  </a:cubicBezTo>
                  <a:cubicBezTo>
                    <a:pt x="238" y="852"/>
                    <a:pt x="251" y="864"/>
                    <a:pt x="251" y="880"/>
                  </a:cubicBezTo>
                  <a:close/>
                  <a:moveTo>
                    <a:pt x="195" y="832"/>
                  </a:moveTo>
                  <a:cubicBezTo>
                    <a:pt x="195" y="847"/>
                    <a:pt x="182" y="860"/>
                    <a:pt x="167" y="860"/>
                  </a:cubicBezTo>
                  <a:cubicBezTo>
                    <a:pt x="151" y="860"/>
                    <a:pt x="139" y="847"/>
                    <a:pt x="139" y="832"/>
                  </a:cubicBezTo>
                  <a:cubicBezTo>
                    <a:pt x="139" y="816"/>
                    <a:pt x="151" y="804"/>
                    <a:pt x="167" y="804"/>
                  </a:cubicBezTo>
                  <a:cubicBezTo>
                    <a:pt x="182" y="804"/>
                    <a:pt x="195" y="816"/>
                    <a:pt x="195" y="832"/>
                  </a:cubicBezTo>
                  <a:close/>
                  <a:moveTo>
                    <a:pt x="147" y="776"/>
                  </a:moveTo>
                  <a:cubicBezTo>
                    <a:pt x="147" y="791"/>
                    <a:pt x="134" y="804"/>
                    <a:pt x="119" y="804"/>
                  </a:cubicBezTo>
                  <a:cubicBezTo>
                    <a:pt x="103" y="804"/>
                    <a:pt x="91" y="791"/>
                    <a:pt x="91" y="776"/>
                  </a:cubicBezTo>
                  <a:cubicBezTo>
                    <a:pt x="91" y="760"/>
                    <a:pt x="103" y="748"/>
                    <a:pt x="119" y="748"/>
                  </a:cubicBezTo>
                  <a:cubicBezTo>
                    <a:pt x="134" y="748"/>
                    <a:pt x="147" y="760"/>
                    <a:pt x="147" y="776"/>
                  </a:cubicBezTo>
                  <a:close/>
                  <a:moveTo>
                    <a:pt x="109" y="713"/>
                  </a:moveTo>
                  <a:cubicBezTo>
                    <a:pt x="109" y="728"/>
                    <a:pt x="96" y="741"/>
                    <a:pt x="81" y="741"/>
                  </a:cubicBezTo>
                  <a:cubicBezTo>
                    <a:pt x="65" y="741"/>
                    <a:pt x="53" y="728"/>
                    <a:pt x="53" y="713"/>
                  </a:cubicBezTo>
                  <a:cubicBezTo>
                    <a:pt x="53" y="697"/>
                    <a:pt x="65" y="685"/>
                    <a:pt x="81" y="685"/>
                  </a:cubicBezTo>
                  <a:cubicBezTo>
                    <a:pt x="96" y="685"/>
                    <a:pt x="109" y="697"/>
                    <a:pt x="109" y="713"/>
                  </a:cubicBezTo>
                  <a:close/>
                  <a:moveTo>
                    <a:pt x="81" y="645"/>
                  </a:moveTo>
                  <a:cubicBezTo>
                    <a:pt x="81" y="660"/>
                    <a:pt x="68" y="673"/>
                    <a:pt x="53" y="673"/>
                  </a:cubicBezTo>
                  <a:cubicBezTo>
                    <a:pt x="37" y="673"/>
                    <a:pt x="25" y="660"/>
                    <a:pt x="25" y="645"/>
                  </a:cubicBezTo>
                  <a:cubicBezTo>
                    <a:pt x="25" y="629"/>
                    <a:pt x="37" y="617"/>
                    <a:pt x="53" y="617"/>
                  </a:cubicBezTo>
                  <a:cubicBezTo>
                    <a:pt x="68" y="617"/>
                    <a:pt x="81" y="629"/>
                    <a:pt x="81" y="645"/>
                  </a:cubicBezTo>
                  <a:close/>
                  <a:moveTo>
                    <a:pt x="63" y="573"/>
                  </a:moveTo>
                  <a:cubicBezTo>
                    <a:pt x="63" y="588"/>
                    <a:pt x="50" y="601"/>
                    <a:pt x="35" y="601"/>
                  </a:cubicBezTo>
                  <a:cubicBezTo>
                    <a:pt x="19" y="601"/>
                    <a:pt x="7" y="588"/>
                    <a:pt x="7" y="573"/>
                  </a:cubicBezTo>
                  <a:cubicBezTo>
                    <a:pt x="7" y="557"/>
                    <a:pt x="19" y="545"/>
                    <a:pt x="35" y="545"/>
                  </a:cubicBezTo>
                  <a:cubicBezTo>
                    <a:pt x="50" y="545"/>
                    <a:pt x="63" y="557"/>
                    <a:pt x="63" y="573"/>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3" y="426"/>
                  </a:moveTo>
                  <a:cubicBezTo>
                    <a:pt x="63" y="441"/>
                    <a:pt x="50" y="454"/>
                    <a:pt x="35" y="454"/>
                  </a:cubicBezTo>
                  <a:cubicBezTo>
                    <a:pt x="19" y="454"/>
                    <a:pt x="7" y="441"/>
                    <a:pt x="7" y="426"/>
                  </a:cubicBezTo>
                  <a:cubicBezTo>
                    <a:pt x="7" y="410"/>
                    <a:pt x="19" y="398"/>
                    <a:pt x="35" y="398"/>
                  </a:cubicBezTo>
                  <a:cubicBezTo>
                    <a:pt x="50" y="398"/>
                    <a:pt x="63" y="410"/>
                    <a:pt x="63" y="426"/>
                  </a:cubicBezTo>
                  <a:close/>
                  <a:moveTo>
                    <a:pt x="81" y="354"/>
                  </a:moveTo>
                  <a:cubicBezTo>
                    <a:pt x="81" y="369"/>
                    <a:pt x="68" y="382"/>
                    <a:pt x="53" y="382"/>
                  </a:cubicBezTo>
                  <a:cubicBezTo>
                    <a:pt x="37" y="382"/>
                    <a:pt x="25" y="369"/>
                    <a:pt x="25" y="354"/>
                  </a:cubicBezTo>
                  <a:cubicBezTo>
                    <a:pt x="25" y="338"/>
                    <a:pt x="37" y="326"/>
                    <a:pt x="53" y="326"/>
                  </a:cubicBezTo>
                  <a:cubicBezTo>
                    <a:pt x="68" y="326"/>
                    <a:pt x="81" y="338"/>
                    <a:pt x="81" y="354"/>
                  </a:cubicBezTo>
                  <a:close/>
                  <a:moveTo>
                    <a:pt x="109" y="286"/>
                  </a:moveTo>
                  <a:cubicBezTo>
                    <a:pt x="109" y="301"/>
                    <a:pt x="96" y="314"/>
                    <a:pt x="81" y="314"/>
                  </a:cubicBezTo>
                  <a:cubicBezTo>
                    <a:pt x="65" y="314"/>
                    <a:pt x="53" y="301"/>
                    <a:pt x="53" y="286"/>
                  </a:cubicBezTo>
                  <a:cubicBezTo>
                    <a:pt x="53" y="270"/>
                    <a:pt x="65" y="258"/>
                    <a:pt x="81" y="258"/>
                  </a:cubicBezTo>
                  <a:cubicBezTo>
                    <a:pt x="96" y="258"/>
                    <a:pt x="109" y="270"/>
                    <a:pt x="109" y="286"/>
                  </a:cubicBezTo>
                  <a:close/>
                  <a:moveTo>
                    <a:pt x="147" y="223"/>
                  </a:moveTo>
                  <a:cubicBezTo>
                    <a:pt x="147" y="238"/>
                    <a:pt x="134" y="251"/>
                    <a:pt x="119" y="251"/>
                  </a:cubicBezTo>
                  <a:cubicBezTo>
                    <a:pt x="103" y="251"/>
                    <a:pt x="91" y="238"/>
                    <a:pt x="91" y="223"/>
                  </a:cubicBezTo>
                  <a:cubicBezTo>
                    <a:pt x="91" y="207"/>
                    <a:pt x="103" y="195"/>
                    <a:pt x="119" y="195"/>
                  </a:cubicBezTo>
                  <a:cubicBezTo>
                    <a:pt x="134" y="195"/>
                    <a:pt x="147" y="207"/>
                    <a:pt x="147" y="223"/>
                  </a:cubicBezTo>
                  <a:close/>
                  <a:moveTo>
                    <a:pt x="195" y="167"/>
                  </a:moveTo>
                  <a:cubicBezTo>
                    <a:pt x="195" y="182"/>
                    <a:pt x="182" y="195"/>
                    <a:pt x="167" y="195"/>
                  </a:cubicBezTo>
                  <a:cubicBezTo>
                    <a:pt x="151" y="195"/>
                    <a:pt x="139" y="182"/>
                    <a:pt x="139" y="167"/>
                  </a:cubicBezTo>
                  <a:cubicBezTo>
                    <a:pt x="139" y="151"/>
                    <a:pt x="151" y="139"/>
                    <a:pt x="167" y="139"/>
                  </a:cubicBezTo>
                  <a:cubicBezTo>
                    <a:pt x="182" y="139"/>
                    <a:pt x="195" y="151"/>
                    <a:pt x="195" y="167"/>
                  </a:cubicBezTo>
                  <a:close/>
                  <a:moveTo>
                    <a:pt x="251" y="119"/>
                  </a:moveTo>
                  <a:cubicBezTo>
                    <a:pt x="251" y="134"/>
                    <a:pt x="238" y="147"/>
                    <a:pt x="223" y="147"/>
                  </a:cubicBezTo>
                  <a:cubicBezTo>
                    <a:pt x="207" y="147"/>
                    <a:pt x="195" y="134"/>
                    <a:pt x="195" y="119"/>
                  </a:cubicBezTo>
                  <a:cubicBezTo>
                    <a:pt x="195" y="103"/>
                    <a:pt x="207" y="91"/>
                    <a:pt x="223" y="91"/>
                  </a:cubicBezTo>
                  <a:cubicBezTo>
                    <a:pt x="238" y="91"/>
                    <a:pt x="251" y="103"/>
                    <a:pt x="251" y="119"/>
                  </a:cubicBezTo>
                  <a:close/>
                  <a:moveTo>
                    <a:pt x="314" y="81"/>
                  </a:moveTo>
                  <a:cubicBezTo>
                    <a:pt x="314" y="96"/>
                    <a:pt x="301" y="109"/>
                    <a:pt x="286" y="109"/>
                  </a:cubicBezTo>
                  <a:cubicBezTo>
                    <a:pt x="270" y="109"/>
                    <a:pt x="258" y="96"/>
                    <a:pt x="258" y="81"/>
                  </a:cubicBezTo>
                  <a:cubicBezTo>
                    <a:pt x="258" y="65"/>
                    <a:pt x="270" y="53"/>
                    <a:pt x="286" y="53"/>
                  </a:cubicBezTo>
                  <a:cubicBezTo>
                    <a:pt x="301" y="53"/>
                    <a:pt x="314" y="65"/>
                    <a:pt x="314" y="81"/>
                  </a:cubicBezTo>
                  <a:close/>
                  <a:moveTo>
                    <a:pt x="382" y="53"/>
                  </a:moveTo>
                  <a:cubicBezTo>
                    <a:pt x="382" y="68"/>
                    <a:pt x="369" y="81"/>
                    <a:pt x="354" y="81"/>
                  </a:cubicBezTo>
                  <a:cubicBezTo>
                    <a:pt x="338" y="81"/>
                    <a:pt x="326" y="68"/>
                    <a:pt x="326" y="53"/>
                  </a:cubicBezTo>
                  <a:cubicBezTo>
                    <a:pt x="326" y="37"/>
                    <a:pt x="338" y="25"/>
                    <a:pt x="354" y="25"/>
                  </a:cubicBezTo>
                  <a:cubicBezTo>
                    <a:pt x="369" y="25"/>
                    <a:pt x="382" y="37"/>
                    <a:pt x="382" y="53"/>
                  </a:cubicBezTo>
                  <a:close/>
                  <a:moveTo>
                    <a:pt x="454" y="35"/>
                  </a:moveTo>
                  <a:cubicBezTo>
                    <a:pt x="454" y="50"/>
                    <a:pt x="441" y="63"/>
                    <a:pt x="426" y="63"/>
                  </a:cubicBezTo>
                  <a:cubicBezTo>
                    <a:pt x="410" y="63"/>
                    <a:pt x="398" y="50"/>
                    <a:pt x="398" y="35"/>
                  </a:cubicBezTo>
                  <a:cubicBezTo>
                    <a:pt x="398" y="19"/>
                    <a:pt x="410" y="7"/>
                    <a:pt x="426" y="7"/>
                  </a:cubicBezTo>
                  <a:cubicBezTo>
                    <a:pt x="441" y="7"/>
                    <a:pt x="454" y="19"/>
                    <a:pt x="454" y="35"/>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601" y="35"/>
                  </a:moveTo>
                  <a:cubicBezTo>
                    <a:pt x="601" y="50"/>
                    <a:pt x="588" y="63"/>
                    <a:pt x="573" y="63"/>
                  </a:cubicBezTo>
                  <a:cubicBezTo>
                    <a:pt x="557" y="63"/>
                    <a:pt x="545" y="50"/>
                    <a:pt x="545" y="35"/>
                  </a:cubicBezTo>
                  <a:cubicBezTo>
                    <a:pt x="545" y="19"/>
                    <a:pt x="557" y="7"/>
                    <a:pt x="573" y="7"/>
                  </a:cubicBezTo>
                  <a:cubicBezTo>
                    <a:pt x="588" y="7"/>
                    <a:pt x="601" y="19"/>
                    <a:pt x="601" y="35"/>
                  </a:cubicBezTo>
                  <a:close/>
                  <a:moveTo>
                    <a:pt x="673" y="53"/>
                  </a:moveTo>
                  <a:cubicBezTo>
                    <a:pt x="673" y="68"/>
                    <a:pt x="660" y="81"/>
                    <a:pt x="645" y="81"/>
                  </a:cubicBezTo>
                  <a:cubicBezTo>
                    <a:pt x="629" y="81"/>
                    <a:pt x="617" y="68"/>
                    <a:pt x="617" y="53"/>
                  </a:cubicBezTo>
                  <a:cubicBezTo>
                    <a:pt x="617" y="37"/>
                    <a:pt x="629" y="25"/>
                    <a:pt x="645" y="25"/>
                  </a:cubicBezTo>
                  <a:cubicBezTo>
                    <a:pt x="660" y="25"/>
                    <a:pt x="673" y="37"/>
                    <a:pt x="673" y="53"/>
                  </a:cubicBezTo>
                  <a:close/>
                  <a:moveTo>
                    <a:pt x="741" y="81"/>
                  </a:moveTo>
                  <a:cubicBezTo>
                    <a:pt x="741" y="96"/>
                    <a:pt x="728" y="109"/>
                    <a:pt x="713" y="109"/>
                  </a:cubicBezTo>
                  <a:cubicBezTo>
                    <a:pt x="697" y="109"/>
                    <a:pt x="685" y="96"/>
                    <a:pt x="685" y="81"/>
                  </a:cubicBezTo>
                  <a:cubicBezTo>
                    <a:pt x="685" y="65"/>
                    <a:pt x="697" y="53"/>
                    <a:pt x="713" y="53"/>
                  </a:cubicBezTo>
                  <a:cubicBezTo>
                    <a:pt x="728" y="53"/>
                    <a:pt x="741" y="65"/>
                    <a:pt x="741" y="81"/>
                  </a:cubicBezTo>
                  <a:close/>
                  <a:moveTo>
                    <a:pt x="804" y="119"/>
                  </a:moveTo>
                  <a:cubicBezTo>
                    <a:pt x="804" y="134"/>
                    <a:pt x="791" y="147"/>
                    <a:pt x="776" y="147"/>
                  </a:cubicBezTo>
                  <a:cubicBezTo>
                    <a:pt x="760" y="147"/>
                    <a:pt x="748" y="134"/>
                    <a:pt x="748" y="119"/>
                  </a:cubicBezTo>
                  <a:cubicBezTo>
                    <a:pt x="748" y="103"/>
                    <a:pt x="760" y="91"/>
                    <a:pt x="776" y="91"/>
                  </a:cubicBezTo>
                  <a:cubicBezTo>
                    <a:pt x="791" y="91"/>
                    <a:pt x="804" y="103"/>
                    <a:pt x="804" y="119"/>
                  </a:cubicBezTo>
                  <a:close/>
                  <a:moveTo>
                    <a:pt x="860" y="167"/>
                  </a:moveTo>
                  <a:cubicBezTo>
                    <a:pt x="860" y="182"/>
                    <a:pt x="847" y="195"/>
                    <a:pt x="832" y="195"/>
                  </a:cubicBezTo>
                  <a:cubicBezTo>
                    <a:pt x="816" y="195"/>
                    <a:pt x="804" y="182"/>
                    <a:pt x="804" y="167"/>
                  </a:cubicBezTo>
                  <a:cubicBezTo>
                    <a:pt x="804" y="151"/>
                    <a:pt x="816" y="139"/>
                    <a:pt x="832" y="139"/>
                  </a:cubicBezTo>
                  <a:cubicBezTo>
                    <a:pt x="847" y="139"/>
                    <a:pt x="860" y="151"/>
                    <a:pt x="860" y="167"/>
                  </a:cubicBezTo>
                  <a:close/>
                  <a:moveTo>
                    <a:pt x="908" y="223"/>
                  </a:moveTo>
                  <a:cubicBezTo>
                    <a:pt x="908" y="238"/>
                    <a:pt x="895" y="251"/>
                    <a:pt x="880" y="251"/>
                  </a:cubicBezTo>
                  <a:cubicBezTo>
                    <a:pt x="864" y="251"/>
                    <a:pt x="852" y="238"/>
                    <a:pt x="852" y="223"/>
                  </a:cubicBezTo>
                  <a:cubicBezTo>
                    <a:pt x="852" y="207"/>
                    <a:pt x="864" y="195"/>
                    <a:pt x="880" y="195"/>
                  </a:cubicBezTo>
                  <a:cubicBezTo>
                    <a:pt x="895" y="195"/>
                    <a:pt x="908" y="207"/>
                    <a:pt x="908" y="223"/>
                  </a:cubicBezTo>
                  <a:close/>
                  <a:moveTo>
                    <a:pt x="946" y="286"/>
                  </a:moveTo>
                  <a:cubicBezTo>
                    <a:pt x="946" y="301"/>
                    <a:pt x="933" y="314"/>
                    <a:pt x="918" y="314"/>
                  </a:cubicBezTo>
                  <a:cubicBezTo>
                    <a:pt x="902" y="314"/>
                    <a:pt x="890" y="301"/>
                    <a:pt x="890" y="286"/>
                  </a:cubicBezTo>
                  <a:cubicBezTo>
                    <a:pt x="890" y="270"/>
                    <a:pt x="902" y="258"/>
                    <a:pt x="918" y="258"/>
                  </a:cubicBezTo>
                  <a:cubicBezTo>
                    <a:pt x="933" y="258"/>
                    <a:pt x="946" y="270"/>
                    <a:pt x="946" y="286"/>
                  </a:cubicBezTo>
                  <a:close/>
                  <a:moveTo>
                    <a:pt x="974" y="354"/>
                  </a:moveTo>
                  <a:cubicBezTo>
                    <a:pt x="974" y="369"/>
                    <a:pt x="961" y="382"/>
                    <a:pt x="946" y="382"/>
                  </a:cubicBezTo>
                  <a:cubicBezTo>
                    <a:pt x="930" y="382"/>
                    <a:pt x="918" y="369"/>
                    <a:pt x="918" y="354"/>
                  </a:cubicBezTo>
                  <a:cubicBezTo>
                    <a:pt x="918" y="338"/>
                    <a:pt x="930" y="326"/>
                    <a:pt x="946" y="326"/>
                  </a:cubicBezTo>
                  <a:cubicBezTo>
                    <a:pt x="961" y="326"/>
                    <a:pt x="974" y="338"/>
                    <a:pt x="974" y="354"/>
                  </a:cubicBezTo>
                  <a:close/>
                  <a:moveTo>
                    <a:pt x="992" y="426"/>
                  </a:moveTo>
                  <a:cubicBezTo>
                    <a:pt x="992" y="441"/>
                    <a:pt x="979" y="454"/>
                    <a:pt x="964" y="454"/>
                  </a:cubicBezTo>
                  <a:cubicBezTo>
                    <a:pt x="948" y="454"/>
                    <a:pt x="936" y="441"/>
                    <a:pt x="936" y="426"/>
                  </a:cubicBezTo>
                  <a:cubicBezTo>
                    <a:pt x="936" y="410"/>
                    <a:pt x="948" y="398"/>
                    <a:pt x="964" y="398"/>
                  </a:cubicBezTo>
                  <a:cubicBezTo>
                    <a:pt x="979" y="398"/>
                    <a:pt x="992" y="410"/>
                    <a:pt x="992" y="426"/>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6" name="Forma 46"/>
            <p:cNvSpPr/>
            <p:nvPr/>
          </p:nvSpPr>
          <p:spPr>
            <a:xfrm>
              <a:off x="2103120" y="4343400"/>
              <a:ext cx="822960" cy="822960"/>
            </a:xfrm>
            <a:custGeom>
              <a:avLst/>
              <a:gdLst/>
              <a:ahLst/>
              <a:cxnLst/>
              <a:rect l="0" t="0" r="r" b="b"/>
              <a:pathLst>
                <a:path w="1000" h="1000" fill="none">
                  <a:moveTo>
                    <a:pt x="7" y="413"/>
                  </a:moveTo>
                  <a:cubicBezTo>
                    <a:pt x="16" y="387"/>
                    <a:pt x="35" y="306"/>
                    <a:pt x="61" y="259"/>
                  </a:cubicBezTo>
                  <a:cubicBezTo>
                    <a:pt x="86" y="212"/>
                    <a:pt x="122" y="167"/>
                    <a:pt x="162" y="131"/>
                  </a:cubicBezTo>
                  <a:cubicBezTo>
                    <a:pt x="201" y="94"/>
                    <a:pt x="249" y="63"/>
                    <a:pt x="298" y="42"/>
                  </a:cubicBezTo>
                  <a:cubicBezTo>
                    <a:pt x="347" y="20"/>
                    <a:pt x="402" y="5"/>
                    <a:pt x="456" y="1"/>
                  </a:cubicBezTo>
                  <a:cubicBezTo>
                    <a:pt x="509" y="-3"/>
                    <a:pt x="566" y="1"/>
                    <a:pt x="618" y="14"/>
                  </a:cubicBezTo>
                  <a:cubicBezTo>
                    <a:pt x="670" y="26"/>
                    <a:pt x="722" y="49"/>
                    <a:pt x="768" y="78"/>
                  </a:cubicBezTo>
                  <a:cubicBezTo>
                    <a:pt x="813" y="106"/>
                    <a:pt x="855" y="145"/>
                    <a:pt x="889" y="187"/>
                  </a:cubicBezTo>
                  <a:cubicBezTo>
                    <a:pt x="922" y="228"/>
                    <a:pt x="955" y="304"/>
                    <a:pt x="969" y="328"/>
                  </a:cubicBezTo>
                </a:path>
              </a:pathLst>
            </a:custGeom>
            <a:noFill/>
            <a:ln w="63500" cap="rnd">
              <a:solidFill>
                <a:srgbClr val="2E4A9E"/>
              </a:solidFill>
              <a:round/>
            </a:ln>
          </p:spPr>
        </p:sp>
        <p:sp>
          <p:nvSpPr>
            <p:cNvPr id="47" name="Forma 47"/>
            <p:cNvSpPr txBox="1"/>
            <p:nvPr/>
          </p:nvSpPr>
          <p:spPr>
            <a:xfrm>
              <a:off x="2103120" y="4590288"/>
              <a:ext cx="822960" cy="329184"/>
            </a:xfrm>
            <a:prstGeom prst="rect">
              <a:avLst/>
            </a:prstGeom>
            <a:noFill/>
            <a:ln>
              <a:noFill/>
            </a:ln>
          </p:spPr>
          <p:txBody>
            <a:bodyPr wrap="square" lIns="0" tIns="0" rIns="0" bIns="0" anchor="ctr" rtlCol="0">
              <a:noAutofit/>
            </a:bodyPr>
            <a:lstStyle/>
            <a:p>
              <a:pPr algn="ctr">
                <a:spcAft>
                  <a:spcPts val="300"/>
                </a:spcAft>
                <a:buNone/>
              </a:pPr>
              <a:r>
                <a:rPr lang="es-AR" sz="1440" b="1" dirty="0">
                  <a:solidFill>
                    <a:srgbClr val="1E1E1E"/>
                  </a:solidFill>
                  <a:latin typeface="Bahnschrift SemiBold Condensed"/>
                  <a:ea typeface="Bahnschrift SemiBold Condensed"/>
                  <a:cs typeface="Bahnschrift SemiBold Condensed"/>
                  <a:sym typeface="Bahnschrift SemiBold Condensed"/>
                </a:rPr>
                <a:t>VLDL</a:t>
              </a:r>
              <a:endParaRPr lang="es-AR" sz="1440" dirty="0">
                <a:latin typeface="Bahnschrift SemiBold Condensed"/>
              </a:endParaRPr>
            </a:p>
          </p:txBody>
        </p:sp>
      </p:grpSp>
      <p:sp>
        <p:nvSpPr>
          <p:cNvPr id="48" name="LPL 2"/>
          <p:cNvSpPr/>
          <p:nvPr/>
        </p:nvSpPr>
        <p:spPr>
          <a:xfrm>
            <a:off x="3931920" y="5486400"/>
            <a:ext cx="55815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LPL</a:t>
            </a:r>
            <a:endParaRPr lang="es-AR" sz="1250" dirty="0">
              <a:latin typeface="Bahnschrift SemiBold Condensed"/>
            </a:endParaRPr>
          </a:p>
        </p:txBody>
      </p:sp>
      <p:grpSp>
        <p:nvGrpSpPr>
          <p:cNvPr id="49" name="IDL"/>
          <p:cNvGrpSpPr/>
          <p:nvPr/>
        </p:nvGrpSpPr>
        <p:grpSpPr>
          <a:xfrm>
            <a:off x="4846320" y="4434840"/>
            <a:ext cx="685800" cy="685800"/>
            <a:chOff x="4846320" y="4434840"/>
            <a:chExt cx="685800" cy="685800"/>
          </a:xfrm>
        </p:grpSpPr>
        <p:sp>
          <p:nvSpPr>
            <p:cNvPr id="50" name="Forma 50"/>
            <p:cNvSpPr/>
            <p:nvPr/>
          </p:nvSpPr>
          <p:spPr>
            <a:xfrm>
              <a:off x="4846320" y="4434840"/>
              <a:ext cx="685800" cy="685800"/>
            </a:xfrm>
            <a:prstGeom prst="ellipse">
              <a:avLst/>
            </a:prstGeom>
            <a:gradFill rotWithShape="1">
              <a:gsLst>
                <a:gs pos="0">
                  <a:srgbClr val="F9E0C9"/>
                </a:gs>
                <a:gs pos="70000">
                  <a:srgbClr val="F0B27A"/>
                </a:gs>
                <a:gs pos="100000">
                  <a:srgbClr val="C08E61"/>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1" name="Forma 51"/>
            <p:cNvSpPr/>
            <p:nvPr/>
          </p:nvSpPr>
          <p:spPr>
            <a:xfrm>
              <a:off x="4846320" y="4434840"/>
              <a:ext cx="685800" cy="6858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9" y="588"/>
                  </a:moveTo>
                  <a:cubicBezTo>
                    <a:pt x="989" y="603"/>
                    <a:pt x="976" y="616"/>
                    <a:pt x="961" y="616"/>
                  </a:cubicBezTo>
                  <a:cubicBezTo>
                    <a:pt x="945" y="616"/>
                    <a:pt x="933" y="603"/>
                    <a:pt x="933" y="588"/>
                  </a:cubicBezTo>
                  <a:cubicBezTo>
                    <a:pt x="933" y="572"/>
                    <a:pt x="945" y="560"/>
                    <a:pt x="961" y="560"/>
                  </a:cubicBezTo>
                  <a:cubicBezTo>
                    <a:pt x="976" y="560"/>
                    <a:pt x="989" y="572"/>
                    <a:pt x="989" y="588"/>
                  </a:cubicBezTo>
                  <a:close/>
                  <a:moveTo>
                    <a:pt x="964" y="674"/>
                  </a:moveTo>
                  <a:cubicBezTo>
                    <a:pt x="964" y="689"/>
                    <a:pt x="951" y="702"/>
                    <a:pt x="936" y="702"/>
                  </a:cubicBezTo>
                  <a:cubicBezTo>
                    <a:pt x="920" y="702"/>
                    <a:pt x="908" y="689"/>
                    <a:pt x="908" y="674"/>
                  </a:cubicBezTo>
                  <a:cubicBezTo>
                    <a:pt x="908" y="658"/>
                    <a:pt x="920" y="646"/>
                    <a:pt x="936" y="646"/>
                  </a:cubicBezTo>
                  <a:cubicBezTo>
                    <a:pt x="951" y="646"/>
                    <a:pt x="964" y="658"/>
                    <a:pt x="964" y="674"/>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68" y="824"/>
                  </a:moveTo>
                  <a:cubicBezTo>
                    <a:pt x="868" y="839"/>
                    <a:pt x="855" y="852"/>
                    <a:pt x="840" y="852"/>
                  </a:cubicBezTo>
                  <a:cubicBezTo>
                    <a:pt x="824" y="852"/>
                    <a:pt x="812" y="839"/>
                    <a:pt x="812" y="824"/>
                  </a:cubicBezTo>
                  <a:cubicBezTo>
                    <a:pt x="812" y="808"/>
                    <a:pt x="824" y="796"/>
                    <a:pt x="840" y="796"/>
                  </a:cubicBezTo>
                  <a:cubicBezTo>
                    <a:pt x="855" y="796"/>
                    <a:pt x="868" y="808"/>
                    <a:pt x="868" y="824"/>
                  </a:cubicBezTo>
                  <a:close/>
                  <a:moveTo>
                    <a:pt x="800" y="882"/>
                  </a:moveTo>
                  <a:cubicBezTo>
                    <a:pt x="800" y="897"/>
                    <a:pt x="787" y="910"/>
                    <a:pt x="772" y="910"/>
                  </a:cubicBezTo>
                  <a:cubicBezTo>
                    <a:pt x="756" y="910"/>
                    <a:pt x="744" y="897"/>
                    <a:pt x="744" y="882"/>
                  </a:cubicBezTo>
                  <a:cubicBezTo>
                    <a:pt x="744" y="866"/>
                    <a:pt x="756" y="854"/>
                    <a:pt x="772" y="854"/>
                  </a:cubicBezTo>
                  <a:cubicBezTo>
                    <a:pt x="787" y="854"/>
                    <a:pt x="800" y="866"/>
                    <a:pt x="800" y="882"/>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38" y="956"/>
                  </a:moveTo>
                  <a:cubicBezTo>
                    <a:pt x="638" y="971"/>
                    <a:pt x="625" y="984"/>
                    <a:pt x="610" y="984"/>
                  </a:cubicBezTo>
                  <a:cubicBezTo>
                    <a:pt x="594" y="984"/>
                    <a:pt x="582" y="971"/>
                    <a:pt x="582" y="956"/>
                  </a:cubicBezTo>
                  <a:cubicBezTo>
                    <a:pt x="582" y="940"/>
                    <a:pt x="594" y="928"/>
                    <a:pt x="610" y="928"/>
                  </a:cubicBezTo>
                  <a:cubicBezTo>
                    <a:pt x="625" y="928"/>
                    <a:pt x="638" y="940"/>
                    <a:pt x="638" y="956"/>
                  </a:cubicBezTo>
                  <a:close/>
                  <a:moveTo>
                    <a:pt x="550" y="969"/>
                  </a:moveTo>
                  <a:cubicBezTo>
                    <a:pt x="550" y="984"/>
                    <a:pt x="537" y="997"/>
                    <a:pt x="522" y="997"/>
                  </a:cubicBezTo>
                  <a:cubicBezTo>
                    <a:pt x="506" y="997"/>
                    <a:pt x="494" y="984"/>
                    <a:pt x="494" y="969"/>
                  </a:cubicBezTo>
                  <a:cubicBezTo>
                    <a:pt x="494" y="953"/>
                    <a:pt x="506" y="941"/>
                    <a:pt x="522" y="941"/>
                  </a:cubicBezTo>
                  <a:cubicBezTo>
                    <a:pt x="537" y="941"/>
                    <a:pt x="550" y="953"/>
                    <a:pt x="550" y="969"/>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74" y="944"/>
                  </a:moveTo>
                  <a:cubicBezTo>
                    <a:pt x="374" y="959"/>
                    <a:pt x="361" y="972"/>
                    <a:pt x="346" y="972"/>
                  </a:cubicBezTo>
                  <a:cubicBezTo>
                    <a:pt x="330" y="972"/>
                    <a:pt x="318" y="959"/>
                    <a:pt x="318" y="944"/>
                  </a:cubicBezTo>
                  <a:cubicBezTo>
                    <a:pt x="318" y="928"/>
                    <a:pt x="330" y="916"/>
                    <a:pt x="346" y="916"/>
                  </a:cubicBezTo>
                  <a:cubicBezTo>
                    <a:pt x="361" y="916"/>
                    <a:pt x="374" y="928"/>
                    <a:pt x="374" y="944"/>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58" y="790"/>
                  </a:moveTo>
                  <a:cubicBezTo>
                    <a:pt x="158" y="805"/>
                    <a:pt x="145" y="818"/>
                    <a:pt x="130" y="818"/>
                  </a:cubicBezTo>
                  <a:cubicBezTo>
                    <a:pt x="114" y="818"/>
                    <a:pt x="102" y="805"/>
                    <a:pt x="102" y="790"/>
                  </a:cubicBezTo>
                  <a:cubicBezTo>
                    <a:pt x="102" y="774"/>
                    <a:pt x="114" y="762"/>
                    <a:pt x="130" y="762"/>
                  </a:cubicBezTo>
                  <a:cubicBezTo>
                    <a:pt x="145" y="762"/>
                    <a:pt x="158" y="774"/>
                    <a:pt x="158" y="790"/>
                  </a:cubicBezTo>
                  <a:close/>
                  <a:moveTo>
                    <a:pt x="110" y="715"/>
                  </a:moveTo>
                  <a:cubicBezTo>
                    <a:pt x="110" y="730"/>
                    <a:pt x="97" y="743"/>
                    <a:pt x="82" y="743"/>
                  </a:cubicBezTo>
                  <a:cubicBezTo>
                    <a:pt x="66" y="743"/>
                    <a:pt x="54" y="730"/>
                    <a:pt x="54" y="715"/>
                  </a:cubicBezTo>
                  <a:cubicBezTo>
                    <a:pt x="54" y="699"/>
                    <a:pt x="66" y="687"/>
                    <a:pt x="82" y="687"/>
                  </a:cubicBezTo>
                  <a:cubicBezTo>
                    <a:pt x="97" y="687"/>
                    <a:pt x="110" y="699"/>
                    <a:pt x="110" y="71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0" y="544"/>
                  </a:moveTo>
                  <a:cubicBezTo>
                    <a:pt x="60" y="559"/>
                    <a:pt x="47" y="572"/>
                    <a:pt x="32" y="572"/>
                  </a:cubicBezTo>
                  <a:cubicBezTo>
                    <a:pt x="16" y="572"/>
                    <a:pt x="4" y="559"/>
                    <a:pt x="4" y="544"/>
                  </a:cubicBezTo>
                  <a:cubicBezTo>
                    <a:pt x="4" y="528"/>
                    <a:pt x="16" y="516"/>
                    <a:pt x="32" y="516"/>
                  </a:cubicBezTo>
                  <a:cubicBezTo>
                    <a:pt x="47" y="516"/>
                    <a:pt x="60" y="528"/>
                    <a:pt x="60" y="544"/>
                  </a:cubicBezTo>
                  <a:close/>
                  <a:moveTo>
                    <a:pt x="60" y="455"/>
                  </a:moveTo>
                  <a:cubicBezTo>
                    <a:pt x="60" y="470"/>
                    <a:pt x="47" y="483"/>
                    <a:pt x="32" y="483"/>
                  </a:cubicBezTo>
                  <a:cubicBezTo>
                    <a:pt x="16" y="483"/>
                    <a:pt x="4" y="470"/>
                    <a:pt x="4" y="455"/>
                  </a:cubicBezTo>
                  <a:cubicBezTo>
                    <a:pt x="4" y="439"/>
                    <a:pt x="16" y="427"/>
                    <a:pt x="32" y="427"/>
                  </a:cubicBezTo>
                  <a:cubicBezTo>
                    <a:pt x="47" y="427"/>
                    <a:pt x="60" y="439"/>
                    <a:pt x="60" y="455"/>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10" y="284"/>
                  </a:moveTo>
                  <a:cubicBezTo>
                    <a:pt x="110" y="299"/>
                    <a:pt x="97" y="312"/>
                    <a:pt x="82" y="312"/>
                  </a:cubicBezTo>
                  <a:cubicBezTo>
                    <a:pt x="66" y="312"/>
                    <a:pt x="54" y="299"/>
                    <a:pt x="54" y="284"/>
                  </a:cubicBezTo>
                  <a:cubicBezTo>
                    <a:pt x="54" y="268"/>
                    <a:pt x="66" y="256"/>
                    <a:pt x="82" y="256"/>
                  </a:cubicBezTo>
                  <a:cubicBezTo>
                    <a:pt x="97" y="256"/>
                    <a:pt x="110" y="268"/>
                    <a:pt x="110" y="284"/>
                  </a:cubicBezTo>
                  <a:close/>
                  <a:moveTo>
                    <a:pt x="158" y="209"/>
                  </a:moveTo>
                  <a:cubicBezTo>
                    <a:pt x="158" y="224"/>
                    <a:pt x="145" y="237"/>
                    <a:pt x="130" y="237"/>
                  </a:cubicBezTo>
                  <a:cubicBezTo>
                    <a:pt x="114" y="237"/>
                    <a:pt x="102" y="224"/>
                    <a:pt x="102" y="209"/>
                  </a:cubicBezTo>
                  <a:cubicBezTo>
                    <a:pt x="102" y="193"/>
                    <a:pt x="114" y="181"/>
                    <a:pt x="130" y="181"/>
                  </a:cubicBezTo>
                  <a:cubicBezTo>
                    <a:pt x="145" y="181"/>
                    <a:pt x="158" y="193"/>
                    <a:pt x="158" y="209"/>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374" y="55"/>
                  </a:moveTo>
                  <a:cubicBezTo>
                    <a:pt x="374" y="70"/>
                    <a:pt x="361" y="83"/>
                    <a:pt x="346" y="83"/>
                  </a:cubicBezTo>
                  <a:cubicBezTo>
                    <a:pt x="330" y="83"/>
                    <a:pt x="318" y="70"/>
                    <a:pt x="318" y="55"/>
                  </a:cubicBezTo>
                  <a:cubicBezTo>
                    <a:pt x="318" y="39"/>
                    <a:pt x="330" y="27"/>
                    <a:pt x="346" y="27"/>
                  </a:cubicBezTo>
                  <a:cubicBezTo>
                    <a:pt x="361" y="27"/>
                    <a:pt x="374" y="39"/>
                    <a:pt x="374" y="55"/>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50" y="30"/>
                  </a:moveTo>
                  <a:cubicBezTo>
                    <a:pt x="550" y="45"/>
                    <a:pt x="537" y="58"/>
                    <a:pt x="522" y="58"/>
                  </a:cubicBezTo>
                  <a:cubicBezTo>
                    <a:pt x="506" y="58"/>
                    <a:pt x="494" y="45"/>
                    <a:pt x="494" y="30"/>
                  </a:cubicBezTo>
                  <a:cubicBezTo>
                    <a:pt x="494" y="14"/>
                    <a:pt x="506" y="2"/>
                    <a:pt x="522" y="2"/>
                  </a:cubicBezTo>
                  <a:cubicBezTo>
                    <a:pt x="537" y="2"/>
                    <a:pt x="550" y="14"/>
                    <a:pt x="550" y="30"/>
                  </a:cubicBezTo>
                  <a:close/>
                  <a:moveTo>
                    <a:pt x="638" y="43"/>
                  </a:moveTo>
                  <a:cubicBezTo>
                    <a:pt x="638" y="58"/>
                    <a:pt x="625" y="71"/>
                    <a:pt x="610" y="71"/>
                  </a:cubicBezTo>
                  <a:cubicBezTo>
                    <a:pt x="594" y="71"/>
                    <a:pt x="582" y="58"/>
                    <a:pt x="582" y="43"/>
                  </a:cubicBezTo>
                  <a:cubicBezTo>
                    <a:pt x="582" y="27"/>
                    <a:pt x="594" y="15"/>
                    <a:pt x="610" y="15"/>
                  </a:cubicBezTo>
                  <a:cubicBezTo>
                    <a:pt x="625" y="15"/>
                    <a:pt x="638" y="27"/>
                    <a:pt x="638" y="43"/>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800" y="117"/>
                  </a:moveTo>
                  <a:cubicBezTo>
                    <a:pt x="800" y="132"/>
                    <a:pt x="787" y="145"/>
                    <a:pt x="772" y="145"/>
                  </a:cubicBezTo>
                  <a:cubicBezTo>
                    <a:pt x="756" y="145"/>
                    <a:pt x="744" y="132"/>
                    <a:pt x="744" y="117"/>
                  </a:cubicBezTo>
                  <a:cubicBezTo>
                    <a:pt x="744" y="101"/>
                    <a:pt x="756" y="89"/>
                    <a:pt x="772" y="89"/>
                  </a:cubicBezTo>
                  <a:cubicBezTo>
                    <a:pt x="787" y="89"/>
                    <a:pt x="800" y="101"/>
                    <a:pt x="800" y="117"/>
                  </a:cubicBezTo>
                  <a:close/>
                  <a:moveTo>
                    <a:pt x="868" y="175"/>
                  </a:moveTo>
                  <a:cubicBezTo>
                    <a:pt x="868" y="190"/>
                    <a:pt x="855" y="203"/>
                    <a:pt x="840" y="203"/>
                  </a:cubicBezTo>
                  <a:cubicBezTo>
                    <a:pt x="824" y="203"/>
                    <a:pt x="812" y="190"/>
                    <a:pt x="812" y="175"/>
                  </a:cubicBezTo>
                  <a:cubicBezTo>
                    <a:pt x="812" y="159"/>
                    <a:pt x="824" y="147"/>
                    <a:pt x="840" y="147"/>
                  </a:cubicBezTo>
                  <a:cubicBezTo>
                    <a:pt x="855" y="147"/>
                    <a:pt x="868" y="159"/>
                    <a:pt x="868" y="175"/>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64" y="325"/>
                  </a:moveTo>
                  <a:cubicBezTo>
                    <a:pt x="964" y="340"/>
                    <a:pt x="951" y="353"/>
                    <a:pt x="936" y="353"/>
                  </a:cubicBezTo>
                  <a:cubicBezTo>
                    <a:pt x="920" y="353"/>
                    <a:pt x="908" y="340"/>
                    <a:pt x="908" y="325"/>
                  </a:cubicBezTo>
                  <a:cubicBezTo>
                    <a:pt x="908" y="309"/>
                    <a:pt x="920" y="297"/>
                    <a:pt x="936" y="297"/>
                  </a:cubicBezTo>
                  <a:cubicBezTo>
                    <a:pt x="951" y="297"/>
                    <a:pt x="964" y="309"/>
                    <a:pt x="964" y="325"/>
                  </a:cubicBezTo>
                  <a:close/>
                  <a:moveTo>
                    <a:pt x="989" y="411"/>
                  </a:moveTo>
                  <a:cubicBezTo>
                    <a:pt x="989" y="426"/>
                    <a:pt x="976" y="439"/>
                    <a:pt x="961" y="439"/>
                  </a:cubicBezTo>
                  <a:cubicBezTo>
                    <a:pt x="945" y="439"/>
                    <a:pt x="933" y="426"/>
                    <a:pt x="933" y="411"/>
                  </a:cubicBezTo>
                  <a:cubicBezTo>
                    <a:pt x="933" y="395"/>
                    <a:pt x="945" y="383"/>
                    <a:pt x="961" y="383"/>
                  </a:cubicBezTo>
                  <a:cubicBezTo>
                    <a:pt x="976" y="383"/>
                    <a:pt x="989" y="395"/>
                    <a:pt x="989" y="411"/>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2" name="Forma 52"/>
            <p:cNvSpPr/>
            <p:nvPr/>
          </p:nvSpPr>
          <p:spPr>
            <a:xfrm>
              <a:off x="4846320" y="4434840"/>
              <a:ext cx="685800" cy="685800"/>
            </a:xfrm>
            <a:custGeom>
              <a:avLst/>
              <a:gdLst/>
              <a:ahLst/>
              <a:cxnLst/>
              <a:rect l="0" t="0" r="r" b="b"/>
              <a:pathLst>
                <a:path w="1000" h="1000" fill="none">
                  <a:moveTo>
                    <a:pt x="7" y="413"/>
                  </a:moveTo>
                  <a:cubicBezTo>
                    <a:pt x="16" y="387"/>
                    <a:pt x="35" y="306"/>
                    <a:pt x="61" y="259"/>
                  </a:cubicBezTo>
                  <a:cubicBezTo>
                    <a:pt x="86" y="212"/>
                    <a:pt x="122" y="167"/>
                    <a:pt x="162" y="131"/>
                  </a:cubicBezTo>
                  <a:cubicBezTo>
                    <a:pt x="201" y="94"/>
                    <a:pt x="249" y="63"/>
                    <a:pt x="298" y="42"/>
                  </a:cubicBezTo>
                  <a:cubicBezTo>
                    <a:pt x="347" y="20"/>
                    <a:pt x="402" y="5"/>
                    <a:pt x="456" y="1"/>
                  </a:cubicBezTo>
                  <a:cubicBezTo>
                    <a:pt x="509" y="-3"/>
                    <a:pt x="566" y="1"/>
                    <a:pt x="618" y="14"/>
                  </a:cubicBezTo>
                  <a:cubicBezTo>
                    <a:pt x="670" y="26"/>
                    <a:pt x="722" y="49"/>
                    <a:pt x="768" y="78"/>
                  </a:cubicBezTo>
                  <a:cubicBezTo>
                    <a:pt x="813" y="106"/>
                    <a:pt x="855" y="145"/>
                    <a:pt x="889" y="187"/>
                  </a:cubicBezTo>
                  <a:cubicBezTo>
                    <a:pt x="922" y="228"/>
                    <a:pt x="955" y="304"/>
                    <a:pt x="969" y="328"/>
                  </a:cubicBezTo>
                </a:path>
              </a:pathLst>
            </a:custGeom>
            <a:noFill/>
            <a:ln w="50800" cap="rnd">
              <a:solidFill>
                <a:srgbClr val="2E4A9E"/>
              </a:solidFill>
              <a:round/>
            </a:ln>
          </p:spPr>
        </p:sp>
        <p:sp>
          <p:nvSpPr>
            <p:cNvPr id="53" name="Forma 53"/>
            <p:cNvSpPr txBox="1"/>
            <p:nvPr/>
          </p:nvSpPr>
          <p:spPr>
            <a:xfrm>
              <a:off x="4846320" y="4640580"/>
              <a:ext cx="685800" cy="274320"/>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IDL</a:t>
              </a:r>
              <a:endParaRPr lang="es-AR" sz="1200" dirty="0">
                <a:latin typeface="Bahnschrift SemiBold Condensed"/>
              </a:endParaRPr>
            </a:p>
          </p:txBody>
        </p:sp>
      </p:grpSp>
      <p:sp>
        <p:nvSpPr>
          <p:cNvPr id="54" name="HL"/>
          <p:cNvSpPr/>
          <p:nvPr/>
        </p:nvSpPr>
        <p:spPr>
          <a:xfrm>
            <a:off x="5669280" y="5486400"/>
            <a:ext cx="1330354"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Lipasa hepática</a:t>
            </a:r>
            <a:endParaRPr lang="es-AR" sz="1250" dirty="0">
              <a:latin typeface="Bahnschrift SemiBold Condensed"/>
            </a:endParaRPr>
          </a:p>
        </p:txBody>
      </p:sp>
      <p:grpSp>
        <p:nvGrpSpPr>
          <p:cNvPr id="55" name="LDL"/>
          <p:cNvGrpSpPr/>
          <p:nvPr/>
        </p:nvGrpSpPr>
        <p:grpSpPr>
          <a:xfrm>
            <a:off x="6766560" y="4480560"/>
            <a:ext cx="594360" cy="594360"/>
            <a:chOff x="6766560" y="4480560"/>
            <a:chExt cx="594360" cy="594360"/>
          </a:xfrm>
        </p:grpSpPr>
        <p:sp>
          <p:nvSpPr>
            <p:cNvPr id="56" name="Forma 56"/>
            <p:cNvSpPr/>
            <p:nvPr/>
          </p:nvSpPr>
          <p:spPr>
            <a:xfrm>
              <a:off x="6766560" y="4480560"/>
              <a:ext cx="594360" cy="59436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7" name="Forma 57"/>
            <p:cNvSpPr/>
            <p:nvPr/>
          </p:nvSpPr>
          <p:spPr>
            <a:xfrm>
              <a:off x="6766560" y="4480560"/>
              <a:ext cx="594360" cy="59436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7" y="601"/>
                  </a:moveTo>
                  <a:cubicBezTo>
                    <a:pt x="987" y="616"/>
                    <a:pt x="974" y="629"/>
                    <a:pt x="959" y="629"/>
                  </a:cubicBezTo>
                  <a:cubicBezTo>
                    <a:pt x="943" y="629"/>
                    <a:pt x="931" y="616"/>
                    <a:pt x="931" y="601"/>
                  </a:cubicBezTo>
                  <a:cubicBezTo>
                    <a:pt x="931" y="585"/>
                    <a:pt x="943" y="573"/>
                    <a:pt x="959" y="573"/>
                  </a:cubicBezTo>
                  <a:cubicBezTo>
                    <a:pt x="974" y="573"/>
                    <a:pt x="987" y="585"/>
                    <a:pt x="987" y="601"/>
                  </a:cubicBezTo>
                  <a:close/>
                  <a:moveTo>
                    <a:pt x="954" y="697"/>
                  </a:moveTo>
                  <a:cubicBezTo>
                    <a:pt x="954" y="712"/>
                    <a:pt x="941" y="725"/>
                    <a:pt x="926" y="725"/>
                  </a:cubicBezTo>
                  <a:cubicBezTo>
                    <a:pt x="910" y="725"/>
                    <a:pt x="898" y="712"/>
                    <a:pt x="898" y="697"/>
                  </a:cubicBezTo>
                  <a:cubicBezTo>
                    <a:pt x="898" y="681"/>
                    <a:pt x="910" y="669"/>
                    <a:pt x="926" y="669"/>
                  </a:cubicBezTo>
                  <a:cubicBezTo>
                    <a:pt x="941" y="669"/>
                    <a:pt x="954" y="681"/>
                    <a:pt x="954" y="697"/>
                  </a:cubicBezTo>
                  <a:close/>
                  <a:moveTo>
                    <a:pt x="902" y="784"/>
                  </a:moveTo>
                  <a:cubicBezTo>
                    <a:pt x="902" y="799"/>
                    <a:pt x="889" y="812"/>
                    <a:pt x="874" y="812"/>
                  </a:cubicBezTo>
                  <a:cubicBezTo>
                    <a:pt x="858" y="812"/>
                    <a:pt x="846" y="799"/>
                    <a:pt x="846" y="784"/>
                  </a:cubicBezTo>
                  <a:cubicBezTo>
                    <a:pt x="846" y="768"/>
                    <a:pt x="858" y="756"/>
                    <a:pt x="874" y="756"/>
                  </a:cubicBezTo>
                  <a:cubicBezTo>
                    <a:pt x="889" y="756"/>
                    <a:pt x="902" y="768"/>
                    <a:pt x="902" y="784"/>
                  </a:cubicBezTo>
                  <a:close/>
                  <a:moveTo>
                    <a:pt x="832" y="858"/>
                  </a:moveTo>
                  <a:cubicBezTo>
                    <a:pt x="832" y="873"/>
                    <a:pt x="819" y="886"/>
                    <a:pt x="804" y="886"/>
                  </a:cubicBezTo>
                  <a:cubicBezTo>
                    <a:pt x="788" y="886"/>
                    <a:pt x="776" y="873"/>
                    <a:pt x="776" y="858"/>
                  </a:cubicBezTo>
                  <a:cubicBezTo>
                    <a:pt x="776" y="842"/>
                    <a:pt x="788" y="830"/>
                    <a:pt x="804" y="830"/>
                  </a:cubicBezTo>
                  <a:cubicBezTo>
                    <a:pt x="819" y="830"/>
                    <a:pt x="832" y="842"/>
                    <a:pt x="832" y="858"/>
                  </a:cubicBezTo>
                  <a:close/>
                  <a:moveTo>
                    <a:pt x="748" y="915"/>
                  </a:moveTo>
                  <a:cubicBezTo>
                    <a:pt x="748" y="930"/>
                    <a:pt x="735" y="943"/>
                    <a:pt x="720" y="943"/>
                  </a:cubicBezTo>
                  <a:cubicBezTo>
                    <a:pt x="704" y="943"/>
                    <a:pt x="692" y="930"/>
                    <a:pt x="692" y="915"/>
                  </a:cubicBezTo>
                  <a:cubicBezTo>
                    <a:pt x="692" y="899"/>
                    <a:pt x="704" y="887"/>
                    <a:pt x="720" y="887"/>
                  </a:cubicBezTo>
                  <a:cubicBezTo>
                    <a:pt x="735" y="887"/>
                    <a:pt x="748" y="899"/>
                    <a:pt x="748" y="915"/>
                  </a:cubicBezTo>
                  <a:close/>
                  <a:moveTo>
                    <a:pt x="653" y="952"/>
                  </a:moveTo>
                  <a:cubicBezTo>
                    <a:pt x="653" y="967"/>
                    <a:pt x="640" y="980"/>
                    <a:pt x="625" y="980"/>
                  </a:cubicBezTo>
                  <a:cubicBezTo>
                    <a:pt x="609" y="980"/>
                    <a:pt x="597" y="967"/>
                    <a:pt x="597" y="952"/>
                  </a:cubicBezTo>
                  <a:cubicBezTo>
                    <a:pt x="597" y="936"/>
                    <a:pt x="609" y="924"/>
                    <a:pt x="625" y="924"/>
                  </a:cubicBezTo>
                  <a:cubicBezTo>
                    <a:pt x="640" y="924"/>
                    <a:pt x="653" y="936"/>
                    <a:pt x="653" y="952"/>
                  </a:cubicBezTo>
                  <a:close/>
                  <a:moveTo>
                    <a:pt x="553" y="969"/>
                  </a:moveTo>
                  <a:cubicBezTo>
                    <a:pt x="553" y="984"/>
                    <a:pt x="540" y="997"/>
                    <a:pt x="525" y="997"/>
                  </a:cubicBezTo>
                  <a:cubicBezTo>
                    <a:pt x="509" y="997"/>
                    <a:pt x="497" y="984"/>
                    <a:pt x="497" y="969"/>
                  </a:cubicBezTo>
                  <a:cubicBezTo>
                    <a:pt x="497" y="953"/>
                    <a:pt x="509" y="941"/>
                    <a:pt x="525" y="941"/>
                  </a:cubicBezTo>
                  <a:cubicBezTo>
                    <a:pt x="540" y="941"/>
                    <a:pt x="553" y="953"/>
                    <a:pt x="553" y="969"/>
                  </a:cubicBezTo>
                  <a:close/>
                  <a:moveTo>
                    <a:pt x="451" y="963"/>
                  </a:moveTo>
                  <a:cubicBezTo>
                    <a:pt x="451" y="978"/>
                    <a:pt x="438" y="991"/>
                    <a:pt x="423" y="991"/>
                  </a:cubicBezTo>
                  <a:cubicBezTo>
                    <a:pt x="407" y="991"/>
                    <a:pt x="395" y="978"/>
                    <a:pt x="395" y="963"/>
                  </a:cubicBezTo>
                  <a:cubicBezTo>
                    <a:pt x="395" y="947"/>
                    <a:pt x="407" y="935"/>
                    <a:pt x="423" y="935"/>
                  </a:cubicBezTo>
                  <a:cubicBezTo>
                    <a:pt x="438" y="935"/>
                    <a:pt x="451" y="947"/>
                    <a:pt x="451" y="963"/>
                  </a:cubicBezTo>
                  <a:close/>
                  <a:moveTo>
                    <a:pt x="354" y="936"/>
                  </a:moveTo>
                  <a:cubicBezTo>
                    <a:pt x="354" y="951"/>
                    <a:pt x="341" y="964"/>
                    <a:pt x="326" y="964"/>
                  </a:cubicBezTo>
                  <a:cubicBezTo>
                    <a:pt x="310" y="964"/>
                    <a:pt x="298" y="951"/>
                    <a:pt x="298" y="936"/>
                  </a:cubicBezTo>
                  <a:cubicBezTo>
                    <a:pt x="298" y="920"/>
                    <a:pt x="310" y="908"/>
                    <a:pt x="326" y="908"/>
                  </a:cubicBezTo>
                  <a:cubicBezTo>
                    <a:pt x="341" y="908"/>
                    <a:pt x="354" y="920"/>
                    <a:pt x="354" y="936"/>
                  </a:cubicBezTo>
                  <a:close/>
                  <a:moveTo>
                    <a:pt x="264" y="889"/>
                  </a:moveTo>
                  <a:cubicBezTo>
                    <a:pt x="264" y="904"/>
                    <a:pt x="251" y="917"/>
                    <a:pt x="236" y="917"/>
                  </a:cubicBezTo>
                  <a:cubicBezTo>
                    <a:pt x="220" y="917"/>
                    <a:pt x="208" y="904"/>
                    <a:pt x="208" y="889"/>
                  </a:cubicBezTo>
                  <a:cubicBezTo>
                    <a:pt x="208" y="873"/>
                    <a:pt x="220" y="861"/>
                    <a:pt x="236" y="861"/>
                  </a:cubicBezTo>
                  <a:cubicBezTo>
                    <a:pt x="251" y="861"/>
                    <a:pt x="264" y="873"/>
                    <a:pt x="264" y="889"/>
                  </a:cubicBezTo>
                  <a:close/>
                  <a:moveTo>
                    <a:pt x="186" y="823"/>
                  </a:moveTo>
                  <a:cubicBezTo>
                    <a:pt x="186" y="838"/>
                    <a:pt x="173" y="851"/>
                    <a:pt x="158" y="851"/>
                  </a:cubicBezTo>
                  <a:cubicBezTo>
                    <a:pt x="142" y="851"/>
                    <a:pt x="130" y="838"/>
                    <a:pt x="130" y="823"/>
                  </a:cubicBezTo>
                  <a:cubicBezTo>
                    <a:pt x="130" y="807"/>
                    <a:pt x="142" y="795"/>
                    <a:pt x="158" y="795"/>
                  </a:cubicBezTo>
                  <a:cubicBezTo>
                    <a:pt x="173" y="795"/>
                    <a:pt x="186" y="807"/>
                    <a:pt x="186" y="823"/>
                  </a:cubicBezTo>
                  <a:close/>
                  <a:moveTo>
                    <a:pt x="125" y="742"/>
                  </a:moveTo>
                  <a:cubicBezTo>
                    <a:pt x="125" y="757"/>
                    <a:pt x="112" y="770"/>
                    <a:pt x="97" y="770"/>
                  </a:cubicBezTo>
                  <a:cubicBezTo>
                    <a:pt x="81" y="770"/>
                    <a:pt x="69" y="757"/>
                    <a:pt x="69" y="742"/>
                  </a:cubicBezTo>
                  <a:cubicBezTo>
                    <a:pt x="69" y="726"/>
                    <a:pt x="81" y="714"/>
                    <a:pt x="97" y="714"/>
                  </a:cubicBezTo>
                  <a:cubicBezTo>
                    <a:pt x="112" y="714"/>
                    <a:pt x="125" y="726"/>
                    <a:pt x="125" y="742"/>
                  </a:cubicBezTo>
                  <a:close/>
                  <a:moveTo>
                    <a:pt x="82" y="650"/>
                  </a:moveTo>
                  <a:cubicBezTo>
                    <a:pt x="82" y="665"/>
                    <a:pt x="69" y="678"/>
                    <a:pt x="54" y="678"/>
                  </a:cubicBezTo>
                  <a:cubicBezTo>
                    <a:pt x="38" y="678"/>
                    <a:pt x="26" y="665"/>
                    <a:pt x="26" y="650"/>
                  </a:cubicBezTo>
                  <a:cubicBezTo>
                    <a:pt x="26" y="634"/>
                    <a:pt x="38" y="622"/>
                    <a:pt x="54" y="622"/>
                  </a:cubicBezTo>
                  <a:cubicBezTo>
                    <a:pt x="69" y="622"/>
                    <a:pt x="82" y="634"/>
                    <a:pt x="82" y="650"/>
                  </a:cubicBezTo>
                  <a:close/>
                  <a:moveTo>
                    <a:pt x="60" y="550"/>
                  </a:moveTo>
                  <a:cubicBezTo>
                    <a:pt x="60" y="565"/>
                    <a:pt x="47" y="578"/>
                    <a:pt x="32" y="578"/>
                  </a:cubicBezTo>
                  <a:cubicBezTo>
                    <a:pt x="16" y="578"/>
                    <a:pt x="4" y="565"/>
                    <a:pt x="4" y="550"/>
                  </a:cubicBezTo>
                  <a:cubicBezTo>
                    <a:pt x="4" y="534"/>
                    <a:pt x="16" y="522"/>
                    <a:pt x="32" y="522"/>
                  </a:cubicBezTo>
                  <a:cubicBezTo>
                    <a:pt x="47" y="522"/>
                    <a:pt x="60" y="534"/>
                    <a:pt x="60" y="550"/>
                  </a:cubicBezTo>
                  <a:close/>
                  <a:moveTo>
                    <a:pt x="60" y="449"/>
                  </a:moveTo>
                  <a:cubicBezTo>
                    <a:pt x="60" y="464"/>
                    <a:pt x="47" y="477"/>
                    <a:pt x="32" y="477"/>
                  </a:cubicBezTo>
                  <a:cubicBezTo>
                    <a:pt x="16" y="477"/>
                    <a:pt x="4" y="464"/>
                    <a:pt x="4" y="449"/>
                  </a:cubicBezTo>
                  <a:cubicBezTo>
                    <a:pt x="4" y="433"/>
                    <a:pt x="16" y="421"/>
                    <a:pt x="32" y="421"/>
                  </a:cubicBezTo>
                  <a:cubicBezTo>
                    <a:pt x="47" y="421"/>
                    <a:pt x="60" y="433"/>
                    <a:pt x="60" y="449"/>
                  </a:cubicBezTo>
                  <a:close/>
                  <a:moveTo>
                    <a:pt x="82" y="349"/>
                  </a:moveTo>
                  <a:cubicBezTo>
                    <a:pt x="82" y="364"/>
                    <a:pt x="69" y="377"/>
                    <a:pt x="54" y="377"/>
                  </a:cubicBezTo>
                  <a:cubicBezTo>
                    <a:pt x="38" y="377"/>
                    <a:pt x="26" y="364"/>
                    <a:pt x="26" y="349"/>
                  </a:cubicBezTo>
                  <a:cubicBezTo>
                    <a:pt x="26" y="333"/>
                    <a:pt x="38" y="321"/>
                    <a:pt x="54" y="321"/>
                  </a:cubicBezTo>
                  <a:cubicBezTo>
                    <a:pt x="69" y="321"/>
                    <a:pt x="82" y="333"/>
                    <a:pt x="82" y="349"/>
                  </a:cubicBezTo>
                  <a:close/>
                  <a:moveTo>
                    <a:pt x="125" y="257"/>
                  </a:moveTo>
                  <a:cubicBezTo>
                    <a:pt x="125" y="272"/>
                    <a:pt x="112" y="285"/>
                    <a:pt x="97" y="285"/>
                  </a:cubicBezTo>
                  <a:cubicBezTo>
                    <a:pt x="81" y="285"/>
                    <a:pt x="69" y="272"/>
                    <a:pt x="69" y="257"/>
                  </a:cubicBezTo>
                  <a:cubicBezTo>
                    <a:pt x="69" y="241"/>
                    <a:pt x="81" y="229"/>
                    <a:pt x="97" y="229"/>
                  </a:cubicBezTo>
                  <a:cubicBezTo>
                    <a:pt x="112" y="229"/>
                    <a:pt x="125" y="241"/>
                    <a:pt x="125" y="257"/>
                  </a:cubicBezTo>
                  <a:close/>
                  <a:moveTo>
                    <a:pt x="186" y="176"/>
                  </a:moveTo>
                  <a:cubicBezTo>
                    <a:pt x="186" y="191"/>
                    <a:pt x="173" y="204"/>
                    <a:pt x="158" y="204"/>
                  </a:cubicBezTo>
                  <a:cubicBezTo>
                    <a:pt x="142" y="204"/>
                    <a:pt x="130" y="191"/>
                    <a:pt x="130" y="176"/>
                  </a:cubicBezTo>
                  <a:cubicBezTo>
                    <a:pt x="130" y="160"/>
                    <a:pt x="142" y="148"/>
                    <a:pt x="158" y="148"/>
                  </a:cubicBezTo>
                  <a:cubicBezTo>
                    <a:pt x="173" y="148"/>
                    <a:pt x="186" y="160"/>
                    <a:pt x="186" y="176"/>
                  </a:cubicBezTo>
                  <a:close/>
                  <a:moveTo>
                    <a:pt x="264" y="110"/>
                  </a:moveTo>
                  <a:cubicBezTo>
                    <a:pt x="264" y="125"/>
                    <a:pt x="251" y="138"/>
                    <a:pt x="236" y="138"/>
                  </a:cubicBezTo>
                  <a:cubicBezTo>
                    <a:pt x="220" y="138"/>
                    <a:pt x="208" y="125"/>
                    <a:pt x="208" y="110"/>
                  </a:cubicBezTo>
                  <a:cubicBezTo>
                    <a:pt x="208" y="94"/>
                    <a:pt x="220" y="82"/>
                    <a:pt x="236" y="82"/>
                  </a:cubicBezTo>
                  <a:cubicBezTo>
                    <a:pt x="251" y="82"/>
                    <a:pt x="264" y="94"/>
                    <a:pt x="264" y="110"/>
                  </a:cubicBezTo>
                  <a:close/>
                  <a:moveTo>
                    <a:pt x="354" y="63"/>
                  </a:moveTo>
                  <a:cubicBezTo>
                    <a:pt x="354" y="78"/>
                    <a:pt x="341" y="91"/>
                    <a:pt x="326" y="91"/>
                  </a:cubicBezTo>
                  <a:cubicBezTo>
                    <a:pt x="310" y="91"/>
                    <a:pt x="298" y="78"/>
                    <a:pt x="298" y="63"/>
                  </a:cubicBezTo>
                  <a:cubicBezTo>
                    <a:pt x="298" y="47"/>
                    <a:pt x="310" y="35"/>
                    <a:pt x="326" y="35"/>
                  </a:cubicBezTo>
                  <a:cubicBezTo>
                    <a:pt x="341" y="35"/>
                    <a:pt x="354" y="47"/>
                    <a:pt x="354" y="63"/>
                  </a:cubicBezTo>
                  <a:close/>
                  <a:moveTo>
                    <a:pt x="451" y="36"/>
                  </a:moveTo>
                  <a:cubicBezTo>
                    <a:pt x="451" y="51"/>
                    <a:pt x="438" y="64"/>
                    <a:pt x="423" y="64"/>
                  </a:cubicBezTo>
                  <a:cubicBezTo>
                    <a:pt x="407" y="64"/>
                    <a:pt x="395" y="51"/>
                    <a:pt x="395" y="36"/>
                  </a:cubicBezTo>
                  <a:cubicBezTo>
                    <a:pt x="395" y="20"/>
                    <a:pt x="407" y="8"/>
                    <a:pt x="423" y="8"/>
                  </a:cubicBezTo>
                  <a:cubicBezTo>
                    <a:pt x="438" y="8"/>
                    <a:pt x="451" y="20"/>
                    <a:pt x="451" y="36"/>
                  </a:cubicBezTo>
                  <a:close/>
                  <a:moveTo>
                    <a:pt x="553" y="30"/>
                  </a:moveTo>
                  <a:cubicBezTo>
                    <a:pt x="553" y="45"/>
                    <a:pt x="540" y="58"/>
                    <a:pt x="525" y="58"/>
                  </a:cubicBezTo>
                  <a:cubicBezTo>
                    <a:pt x="509" y="58"/>
                    <a:pt x="497" y="45"/>
                    <a:pt x="497" y="30"/>
                  </a:cubicBezTo>
                  <a:cubicBezTo>
                    <a:pt x="497" y="14"/>
                    <a:pt x="509" y="2"/>
                    <a:pt x="525" y="2"/>
                  </a:cubicBezTo>
                  <a:cubicBezTo>
                    <a:pt x="540" y="2"/>
                    <a:pt x="553" y="14"/>
                    <a:pt x="553" y="30"/>
                  </a:cubicBezTo>
                  <a:close/>
                  <a:moveTo>
                    <a:pt x="653" y="47"/>
                  </a:moveTo>
                  <a:cubicBezTo>
                    <a:pt x="653" y="62"/>
                    <a:pt x="640" y="75"/>
                    <a:pt x="625" y="75"/>
                  </a:cubicBezTo>
                  <a:cubicBezTo>
                    <a:pt x="609" y="75"/>
                    <a:pt x="597" y="62"/>
                    <a:pt x="597" y="47"/>
                  </a:cubicBezTo>
                  <a:cubicBezTo>
                    <a:pt x="597" y="31"/>
                    <a:pt x="609" y="19"/>
                    <a:pt x="625" y="19"/>
                  </a:cubicBezTo>
                  <a:cubicBezTo>
                    <a:pt x="640" y="19"/>
                    <a:pt x="653" y="31"/>
                    <a:pt x="653" y="47"/>
                  </a:cubicBezTo>
                  <a:close/>
                  <a:moveTo>
                    <a:pt x="748" y="84"/>
                  </a:moveTo>
                  <a:cubicBezTo>
                    <a:pt x="748" y="99"/>
                    <a:pt x="735" y="112"/>
                    <a:pt x="720" y="112"/>
                  </a:cubicBezTo>
                  <a:cubicBezTo>
                    <a:pt x="704" y="112"/>
                    <a:pt x="692" y="99"/>
                    <a:pt x="692" y="84"/>
                  </a:cubicBezTo>
                  <a:cubicBezTo>
                    <a:pt x="692" y="68"/>
                    <a:pt x="704" y="56"/>
                    <a:pt x="720" y="56"/>
                  </a:cubicBezTo>
                  <a:cubicBezTo>
                    <a:pt x="735" y="56"/>
                    <a:pt x="748" y="68"/>
                    <a:pt x="748" y="84"/>
                  </a:cubicBezTo>
                  <a:close/>
                  <a:moveTo>
                    <a:pt x="832" y="141"/>
                  </a:moveTo>
                  <a:cubicBezTo>
                    <a:pt x="832" y="156"/>
                    <a:pt x="819" y="169"/>
                    <a:pt x="804" y="169"/>
                  </a:cubicBezTo>
                  <a:cubicBezTo>
                    <a:pt x="788" y="169"/>
                    <a:pt x="776" y="156"/>
                    <a:pt x="776" y="141"/>
                  </a:cubicBezTo>
                  <a:cubicBezTo>
                    <a:pt x="776" y="125"/>
                    <a:pt x="788" y="113"/>
                    <a:pt x="804" y="113"/>
                  </a:cubicBezTo>
                  <a:cubicBezTo>
                    <a:pt x="819" y="113"/>
                    <a:pt x="832" y="125"/>
                    <a:pt x="832" y="141"/>
                  </a:cubicBezTo>
                  <a:close/>
                  <a:moveTo>
                    <a:pt x="902" y="215"/>
                  </a:moveTo>
                  <a:cubicBezTo>
                    <a:pt x="902" y="230"/>
                    <a:pt x="889" y="243"/>
                    <a:pt x="874" y="243"/>
                  </a:cubicBezTo>
                  <a:cubicBezTo>
                    <a:pt x="858" y="243"/>
                    <a:pt x="846" y="230"/>
                    <a:pt x="846" y="215"/>
                  </a:cubicBezTo>
                  <a:cubicBezTo>
                    <a:pt x="846" y="199"/>
                    <a:pt x="858" y="187"/>
                    <a:pt x="874" y="187"/>
                  </a:cubicBezTo>
                  <a:cubicBezTo>
                    <a:pt x="889" y="187"/>
                    <a:pt x="902" y="199"/>
                    <a:pt x="902" y="215"/>
                  </a:cubicBezTo>
                  <a:close/>
                  <a:moveTo>
                    <a:pt x="954" y="302"/>
                  </a:moveTo>
                  <a:cubicBezTo>
                    <a:pt x="954" y="317"/>
                    <a:pt x="941" y="330"/>
                    <a:pt x="926" y="330"/>
                  </a:cubicBezTo>
                  <a:cubicBezTo>
                    <a:pt x="910" y="330"/>
                    <a:pt x="898" y="317"/>
                    <a:pt x="898" y="302"/>
                  </a:cubicBezTo>
                  <a:cubicBezTo>
                    <a:pt x="898" y="286"/>
                    <a:pt x="910" y="274"/>
                    <a:pt x="926" y="274"/>
                  </a:cubicBezTo>
                  <a:cubicBezTo>
                    <a:pt x="941" y="274"/>
                    <a:pt x="954" y="286"/>
                    <a:pt x="954" y="302"/>
                  </a:cubicBezTo>
                  <a:close/>
                  <a:moveTo>
                    <a:pt x="987" y="398"/>
                  </a:moveTo>
                  <a:cubicBezTo>
                    <a:pt x="987" y="413"/>
                    <a:pt x="974" y="426"/>
                    <a:pt x="959" y="426"/>
                  </a:cubicBezTo>
                  <a:cubicBezTo>
                    <a:pt x="943" y="426"/>
                    <a:pt x="931" y="413"/>
                    <a:pt x="931" y="398"/>
                  </a:cubicBezTo>
                  <a:cubicBezTo>
                    <a:pt x="931" y="382"/>
                    <a:pt x="943" y="370"/>
                    <a:pt x="959" y="370"/>
                  </a:cubicBezTo>
                  <a:cubicBezTo>
                    <a:pt x="974" y="370"/>
                    <a:pt x="987" y="382"/>
                    <a:pt x="987" y="39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8" name="Forma 58"/>
            <p:cNvSpPr/>
            <p:nvPr/>
          </p:nvSpPr>
          <p:spPr>
            <a:xfrm>
              <a:off x="6766560" y="4480560"/>
              <a:ext cx="594360" cy="59436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50800" cap="rnd">
              <a:solidFill>
                <a:srgbClr val="2E4A9E"/>
              </a:solidFill>
              <a:round/>
            </a:ln>
          </p:spPr>
        </p:sp>
        <p:sp>
          <p:nvSpPr>
            <p:cNvPr id="59" name="Forma 59"/>
            <p:cNvSpPr txBox="1"/>
            <p:nvPr/>
          </p:nvSpPr>
          <p:spPr>
            <a:xfrm>
              <a:off x="6766560" y="4658868"/>
              <a:ext cx="594360" cy="237744"/>
            </a:xfrm>
            <a:prstGeom prst="rect">
              <a:avLst/>
            </a:prstGeom>
            <a:noFill/>
            <a:ln>
              <a:noFill/>
            </a:ln>
          </p:spPr>
          <p:txBody>
            <a:bodyPr wrap="square" lIns="0" tIns="0" rIns="0" bIns="0" anchor="ctr" rtlCol="0">
              <a:noAutofit/>
            </a:bodyPr>
            <a:lstStyle/>
            <a:p>
              <a:pPr algn="ctr">
                <a:spcAft>
                  <a:spcPts val="300"/>
                </a:spcAft>
                <a:buNone/>
              </a:pPr>
              <a:r>
                <a:rPr lang="es-AR" sz="1040" b="1" dirty="0">
                  <a:solidFill>
                    <a:srgbClr val="1E1E1E"/>
                  </a:solidFill>
                  <a:latin typeface="Bahnschrift SemiBold Condensed"/>
                  <a:ea typeface="Bahnschrift SemiBold Condensed"/>
                  <a:cs typeface="Bahnschrift SemiBold Condensed"/>
                  <a:sym typeface="Bahnschrift SemiBold Condensed"/>
                </a:rPr>
                <a:t>LDL</a:t>
              </a:r>
              <a:endParaRPr lang="es-AR" sz="1040" dirty="0">
                <a:latin typeface="Bahnschrift SemiBold Condensed"/>
              </a:endParaRPr>
            </a:p>
          </p:txBody>
        </p:sp>
      </p:grpSp>
      <p:sp>
        <p:nvSpPr>
          <p:cNvPr id="60" name="LDLR"/>
          <p:cNvSpPr/>
          <p:nvPr/>
        </p:nvSpPr>
        <p:spPr>
          <a:xfrm>
            <a:off x="7589520" y="5486400"/>
            <a:ext cx="1631954"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LDLR (hígado y tejidos)</a:t>
            </a:r>
            <a:endParaRPr lang="es-AR" sz="1200" dirty="0">
              <a:latin typeface="Bahnschrift SemiBold Condensed"/>
            </a:endParaRPr>
          </a:p>
        </p:txBody>
      </p:sp>
      <p:sp>
        <p:nvSpPr>
          <p:cNvPr id="61" name="Remanente a hígado"/>
          <p:cNvSpPr/>
          <p:nvPr/>
        </p:nvSpPr>
        <p:spPr>
          <a:xfrm>
            <a:off x="2194560" y="1737360"/>
            <a:ext cx="4754880" cy="2286000"/>
          </a:xfrm>
          <a:custGeom>
            <a:avLst/>
            <a:gdLst/>
            <a:ahLst/>
            <a:cxnLst/>
            <a:rect l="0" t="0" r="r" b="b"/>
            <a:pathLst>
              <a:path w="5199" h="2500" fill="none">
                <a:moveTo>
                  <a:pt x="5199" y="0"/>
                </a:moveTo>
                <a:lnTo>
                  <a:pt x="0" y="2500"/>
                </a:lnTo>
              </a:path>
            </a:pathLst>
          </a:custGeom>
          <a:noFill/>
          <a:ln w="31750" cap="rnd">
            <a:solidFill>
              <a:srgbClr val="8E44AD"/>
            </a:solidFill>
            <a:prstDash val="dash"/>
            <a:round/>
            <a:tailEnd type="triangle" w="med" len="med"/>
          </a:ln>
        </p:spPr>
      </p:sp>
      <p:grpSp>
        <p:nvGrpSpPr>
          <p:cNvPr id="62" name="HDL ruta"/>
          <p:cNvGrpSpPr/>
          <p:nvPr/>
        </p:nvGrpSpPr>
        <p:grpSpPr>
          <a:xfrm>
            <a:off x="4023360" y="3063240"/>
            <a:ext cx="594360" cy="594360"/>
            <a:chOff x="4023360" y="3063240"/>
            <a:chExt cx="594360" cy="594360"/>
          </a:xfrm>
        </p:grpSpPr>
        <p:sp>
          <p:nvSpPr>
            <p:cNvPr id="63" name="Forma 63"/>
            <p:cNvSpPr/>
            <p:nvPr/>
          </p:nvSpPr>
          <p:spPr>
            <a:xfrm>
              <a:off x="4023360" y="3063240"/>
              <a:ext cx="594360" cy="594360"/>
            </a:xfrm>
            <a:prstGeom prst="ellipse">
              <a:avLst/>
            </a:prstGeom>
            <a:gradFill rotWithShape="1">
              <a:gsLst>
                <a:gs pos="0">
                  <a:srgbClr val="FEF7EC"/>
                </a:gs>
                <a:gs pos="70000">
                  <a:srgbClr val="FDEBD0"/>
                </a:gs>
                <a:gs pos="100000">
                  <a:srgbClr val="CABCA6"/>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64" name="Forma 64"/>
            <p:cNvSpPr/>
            <p:nvPr/>
          </p:nvSpPr>
          <p:spPr>
            <a:xfrm>
              <a:off x="4023360" y="3063240"/>
              <a:ext cx="594360" cy="59436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7" y="601"/>
                  </a:moveTo>
                  <a:cubicBezTo>
                    <a:pt x="987" y="616"/>
                    <a:pt x="974" y="629"/>
                    <a:pt x="959" y="629"/>
                  </a:cubicBezTo>
                  <a:cubicBezTo>
                    <a:pt x="943" y="629"/>
                    <a:pt x="931" y="616"/>
                    <a:pt x="931" y="601"/>
                  </a:cubicBezTo>
                  <a:cubicBezTo>
                    <a:pt x="931" y="585"/>
                    <a:pt x="943" y="573"/>
                    <a:pt x="959" y="573"/>
                  </a:cubicBezTo>
                  <a:cubicBezTo>
                    <a:pt x="974" y="573"/>
                    <a:pt x="987" y="585"/>
                    <a:pt x="987" y="601"/>
                  </a:cubicBezTo>
                  <a:close/>
                  <a:moveTo>
                    <a:pt x="954" y="697"/>
                  </a:moveTo>
                  <a:cubicBezTo>
                    <a:pt x="954" y="712"/>
                    <a:pt x="941" y="725"/>
                    <a:pt x="926" y="725"/>
                  </a:cubicBezTo>
                  <a:cubicBezTo>
                    <a:pt x="910" y="725"/>
                    <a:pt x="898" y="712"/>
                    <a:pt x="898" y="697"/>
                  </a:cubicBezTo>
                  <a:cubicBezTo>
                    <a:pt x="898" y="681"/>
                    <a:pt x="910" y="669"/>
                    <a:pt x="926" y="669"/>
                  </a:cubicBezTo>
                  <a:cubicBezTo>
                    <a:pt x="941" y="669"/>
                    <a:pt x="954" y="681"/>
                    <a:pt x="954" y="697"/>
                  </a:cubicBezTo>
                  <a:close/>
                  <a:moveTo>
                    <a:pt x="902" y="784"/>
                  </a:moveTo>
                  <a:cubicBezTo>
                    <a:pt x="902" y="799"/>
                    <a:pt x="889" y="812"/>
                    <a:pt x="874" y="812"/>
                  </a:cubicBezTo>
                  <a:cubicBezTo>
                    <a:pt x="858" y="812"/>
                    <a:pt x="846" y="799"/>
                    <a:pt x="846" y="784"/>
                  </a:cubicBezTo>
                  <a:cubicBezTo>
                    <a:pt x="846" y="768"/>
                    <a:pt x="858" y="756"/>
                    <a:pt x="874" y="756"/>
                  </a:cubicBezTo>
                  <a:cubicBezTo>
                    <a:pt x="889" y="756"/>
                    <a:pt x="902" y="768"/>
                    <a:pt x="902" y="784"/>
                  </a:cubicBezTo>
                  <a:close/>
                  <a:moveTo>
                    <a:pt x="832" y="858"/>
                  </a:moveTo>
                  <a:cubicBezTo>
                    <a:pt x="832" y="873"/>
                    <a:pt x="819" y="886"/>
                    <a:pt x="804" y="886"/>
                  </a:cubicBezTo>
                  <a:cubicBezTo>
                    <a:pt x="788" y="886"/>
                    <a:pt x="776" y="873"/>
                    <a:pt x="776" y="858"/>
                  </a:cubicBezTo>
                  <a:cubicBezTo>
                    <a:pt x="776" y="842"/>
                    <a:pt x="788" y="830"/>
                    <a:pt x="804" y="830"/>
                  </a:cubicBezTo>
                  <a:cubicBezTo>
                    <a:pt x="819" y="830"/>
                    <a:pt x="832" y="842"/>
                    <a:pt x="832" y="858"/>
                  </a:cubicBezTo>
                  <a:close/>
                  <a:moveTo>
                    <a:pt x="748" y="915"/>
                  </a:moveTo>
                  <a:cubicBezTo>
                    <a:pt x="748" y="930"/>
                    <a:pt x="735" y="943"/>
                    <a:pt x="720" y="943"/>
                  </a:cubicBezTo>
                  <a:cubicBezTo>
                    <a:pt x="704" y="943"/>
                    <a:pt x="692" y="930"/>
                    <a:pt x="692" y="915"/>
                  </a:cubicBezTo>
                  <a:cubicBezTo>
                    <a:pt x="692" y="899"/>
                    <a:pt x="704" y="887"/>
                    <a:pt x="720" y="887"/>
                  </a:cubicBezTo>
                  <a:cubicBezTo>
                    <a:pt x="735" y="887"/>
                    <a:pt x="748" y="899"/>
                    <a:pt x="748" y="915"/>
                  </a:cubicBezTo>
                  <a:close/>
                  <a:moveTo>
                    <a:pt x="653" y="952"/>
                  </a:moveTo>
                  <a:cubicBezTo>
                    <a:pt x="653" y="967"/>
                    <a:pt x="640" y="980"/>
                    <a:pt x="625" y="980"/>
                  </a:cubicBezTo>
                  <a:cubicBezTo>
                    <a:pt x="609" y="980"/>
                    <a:pt x="597" y="967"/>
                    <a:pt x="597" y="952"/>
                  </a:cubicBezTo>
                  <a:cubicBezTo>
                    <a:pt x="597" y="936"/>
                    <a:pt x="609" y="924"/>
                    <a:pt x="625" y="924"/>
                  </a:cubicBezTo>
                  <a:cubicBezTo>
                    <a:pt x="640" y="924"/>
                    <a:pt x="653" y="936"/>
                    <a:pt x="653" y="952"/>
                  </a:cubicBezTo>
                  <a:close/>
                  <a:moveTo>
                    <a:pt x="553" y="969"/>
                  </a:moveTo>
                  <a:cubicBezTo>
                    <a:pt x="553" y="984"/>
                    <a:pt x="540" y="997"/>
                    <a:pt x="525" y="997"/>
                  </a:cubicBezTo>
                  <a:cubicBezTo>
                    <a:pt x="509" y="997"/>
                    <a:pt x="497" y="984"/>
                    <a:pt x="497" y="969"/>
                  </a:cubicBezTo>
                  <a:cubicBezTo>
                    <a:pt x="497" y="953"/>
                    <a:pt x="509" y="941"/>
                    <a:pt x="525" y="941"/>
                  </a:cubicBezTo>
                  <a:cubicBezTo>
                    <a:pt x="540" y="941"/>
                    <a:pt x="553" y="953"/>
                    <a:pt x="553" y="969"/>
                  </a:cubicBezTo>
                  <a:close/>
                  <a:moveTo>
                    <a:pt x="451" y="963"/>
                  </a:moveTo>
                  <a:cubicBezTo>
                    <a:pt x="451" y="978"/>
                    <a:pt x="438" y="991"/>
                    <a:pt x="423" y="991"/>
                  </a:cubicBezTo>
                  <a:cubicBezTo>
                    <a:pt x="407" y="991"/>
                    <a:pt x="395" y="978"/>
                    <a:pt x="395" y="963"/>
                  </a:cubicBezTo>
                  <a:cubicBezTo>
                    <a:pt x="395" y="947"/>
                    <a:pt x="407" y="935"/>
                    <a:pt x="423" y="935"/>
                  </a:cubicBezTo>
                  <a:cubicBezTo>
                    <a:pt x="438" y="935"/>
                    <a:pt x="451" y="947"/>
                    <a:pt x="451" y="963"/>
                  </a:cubicBezTo>
                  <a:close/>
                  <a:moveTo>
                    <a:pt x="354" y="936"/>
                  </a:moveTo>
                  <a:cubicBezTo>
                    <a:pt x="354" y="951"/>
                    <a:pt x="341" y="964"/>
                    <a:pt x="326" y="964"/>
                  </a:cubicBezTo>
                  <a:cubicBezTo>
                    <a:pt x="310" y="964"/>
                    <a:pt x="298" y="951"/>
                    <a:pt x="298" y="936"/>
                  </a:cubicBezTo>
                  <a:cubicBezTo>
                    <a:pt x="298" y="920"/>
                    <a:pt x="310" y="908"/>
                    <a:pt x="326" y="908"/>
                  </a:cubicBezTo>
                  <a:cubicBezTo>
                    <a:pt x="341" y="908"/>
                    <a:pt x="354" y="920"/>
                    <a:pt x="354" y="936"/>
                  </a:cubicBezTo>
                  <a:close/>
                  <a:moveTo>
                    <a:pt x="264" y="889"/>
                  </a:moveTo>
                  <a:cubicBezTo>
                    <a:pt x="264" y="904"/>
                    <a:pt x="251" y="917"/>
                    <a:pt x="236" y="917"/>
                  </a:cubicBezTo>
                  <a:cubicBezTo>
                    <a:pt x="220" y="917"/>
                    <a:pt x="208" y="904"/>
                    <a:pt x="208" y="889"/>
                  </a:cubicBezTo>
                  <a:cubicBezTo>
                    <a:pt x="208" y="873"/>
                    <a:pt x="220" y="861"/>
                    <a:pt x="236" y="861"/>
                  </a:cubicBezTo>
                  <a:cubicBezTo>
                    <a:pt x="251" y="861"/>
                    <a:pt x="264" y="873"/>
                    <a:pt x="264" y="889"/>
                  </a:cubicBezTo>
                  <a:close/>
                  <a:moveTo>
                    <a:pt x="186" y="823"/>
                  </a:moveTo>
                  <a:cubicBezTo>
                    <a:pt x="186" y="838"/>
                    <a:pt x="173" y="851"/>
                    <a:pt x="158" y="851"/>
                  </a:cubicBezTo>
                  <a:cubicBezTo>
                    <a:pt x="142" y="851"/>
                    <a:pt x="130" y="838"/>
                    <a:pt x="130" y="823"/>
                  </a:cubicBezTo>
                  <a:cubicBezTo>
                    <a:pt x="130" y="807"/>
                    <a:pt x="142" y="795"/>
                    <a:pt x="158" y="795"/>
                  </a:cubicBezTo>
                  <a:cubicBezTo>
                    <a:pt x="173" y="795"/>
                    <a:pt x="186" y="807"/>
                    <a:pt x="186" y="823"/>
                  </a:cubicBezTo>
                  <a:close/>
                  <a:moveTo>
                    <a:pt x="125" y="742"/>
                  </a:moveTo>
                  <a:cubicBezTo>
                    <a:pt x="125" y="757"/>
                    <a:pt x="112" y="770"/>
                    <a:pt x="97" y="770"/>
                  </a:cubicBezTo>
                  <a:cubicBezTo>
                    <a:pt x="81" y="770"/>
                    <a:pt x="69" y="757"/>
                    <a:pt x="69" y="742"/>
                  </a:cubicBezTo>
                  <a:cubicBezTo>
                    <a:pt x="69" y="726"/>
                    <a:pt x="81" y="714"/>
                    <a:pt x="97" y="714"/>
                  </a:cubicBezTo>
                  <a:cubicBezTo>
                    <a:pt x="112" y="714"/>
                    <a:pt x="125" y="726"/>
                    <a:pt x="125" y="742"/>
                  </a:cubicBezTo>
                  <a:close/>
                  <a:moveTo>
                    <a:pt x="82" y="650"/>
                  </a:moveTo>
                  <a:cubicBezTo>
                    <a:pt x="82" y="665"/>
                    <a:pt x="69" y="678"/>
                    <a:pt x="54" y="678"/>
                  </a:cubicBezTo>
                  <a:cubicBezTo>
                    <a:pt x="38" y="678"/>
                    <a:pt x="26" y="665"/>
                    <a:pt x="26" y="650"/>
                  </a:cubicBezTo>
                  <a:cubicBezTo>
                    <a:pt x="26" y="634"/>
                    <a:pt x="38" y="622"/>
                    <a:pt x="54" y="622"/>
                  </a:cubicBezTo>
                  <a:cubicBezTo>
                    <a:pt x="69" y="622"/>
                    <a:pt x="82" y="634"/>
                    <a:pt x="82" y="650"/>
                  </a:cubicBezTo>
                  <a:close/>
                  <a:moveTo>
                    <a:pt x="60" y="550"/>
                  </a:moveTo>
                  <a:cubicBezTo>
                    <a:pt x="60" y="565"/>
                    <a:pt x="47" y="578"/>
                    <a:pt x="32" y="578"/>
                  </a:cubicBezTo>
                  <a:cubicBezTo>
                    <a:pt x="16" y="578"/>
                    <a:pt x="4" y="565"/>
                    <a:pt x="4" y="550"/>
                  </a:cubicBezTo>
                  <a:cubicBezTo>
                    <a:pt x="4" y="534"/>
                    <a:pt x="16" y="522"/>
                    <a:pt x="32" y="522"/>
                  </a:cubicBezTo>
                  <a:cubicBezTo>
                    <a:pt x="47" y="522"/>
                    <a:pt x="60" y="534"/>
                    <a:pt x="60" y="550"/>
                  </a:cubicBezTo>
                  <a:close/>
                  <a:moveTo>
                    <a:pt x="60" y="449"/>
                  </a:moveTo>
                  <a:cubicBezTo>
                    <a:pt x="60" y="464"/>
                    <a:pt x="47" y="477"/>
                    <a:pt x="32" y="477"/>
                  </a:cubicBezTo>
                  <a:cubicBezTo>
                    <a:pt x="16" y="477"/>
                    <a:pt x="4" y="464"/>
                    <a:pt x="4" y="449"/>
                  </a:cubicBezTo>
                  <a:cubicBezTo>
                    <a:pt x="4" y="433"/>
                    <a:pt x="16" y="421"/>
                    <a:pt x="32" y="421"/>
                  </a:cubicBezTo>
                  <a:cubicBezTo>
                    <a:pt x="47" y="421"/>
                    <a:pt x="60" y="433"/>
                    <a:pt x="60" y="449"/>
                  </a:cubicBezTo>
                  <a:close/>
                  <a:moveTo>
                    <a:pt x="82" y="349"/>
                  </a:moveTo>
                  <a:cubicBezTo>
                    <a:pt x="82" y="364"/>
                    <a:pt x="69" y="377"/>
                    <a:pt x="54" y="377"/>
                  </a:cubicBezTo>
                  <a:cubicBezTo>
                    <a:pt x="38" y="377"/>
                    <a:pt x="26" y="364"/>
                    <a:pt x="26" y="349"/>
                  </a:cubicBezTo>
                  <a:cubicBezTo>
                    <a:pt x="26" y="333"/>
                    <a:pt x="38" y="321"/>
                    <a:pt x="54" y="321"/>
                  </a:cubicBezTo>
                  <a:cubicBezTo>
                    <a:pt x="69" y="321"/>
                    <a:pt x="82" y="333"/>
                    <a:pt x="82" y="349"/>
                  </a:cubicBezTo>
                  <a:close/>
                  <a:moveTo>
                    <a:pt x="125" y="257"/>
                  </a:moveTo>
                  <a:cubicBezTo>
                    <a:pt x="125" y="272"/>
                    <a:pt x="112" y="285"/>
                    <a:pt x="97" y="285"/>
                  </a:cubicBezTo>
                  <a:cubicBezTo>
                    <a:pt x="81" y="285"/>
                    <a:pt x="69" y="272"/>
                    <a:pt x="69" y="257"/>
                  </a:cubicBezTo>
                  <a:cubicBezTo>
                    <a:pt x="69" y="241"/>
                    <a:pt x="81" y="229"/>
                    <a:pt x="97" y="229"/>
                  </a:cubicBezTo>
                  <a:cubicBezTo>
                    <a:pt x="112" y="229"/>
                    <a:pt x="125" y="241"/>
                    <a:pt x="125" y="257"/>
                  </a:cubicBezTo>
                  <a:close/>
                  <a:moveTo>
                    <a:pt x="186" y="176"/>
                  </a:moveTo>
                  <a:cubicBezTo>
                    <a:pt x="186" y="191"/>
                    <a:pt x="173" y="204"/>
                    <a:pt x="158" y="204"/>
                  </a:cubicBezTo>
                  <a:cubicBezTo>
                    <a:pt x="142" y="204"/>
                    <a:pt x="130" y="191"/>
                    <a:pt x="130" y="176"/>
                  </a:cubicBezTo>
                  <a:cubicBezTo>
                    <a:pt x="130" y="160"/>
                    <a:pt x="142" y="148"/>
                    <a:pt x="158" y="148"/>
                  </a:cubicBezTo>
                  <a:cubicBezTo>
                    <a:pt x="173" y="148"/>
                    <a:pt x="186" y="160"/>
                    <a:pt x="186" y="176"/>
                  </a:cubicBezTo>
                  <a:close/>
                  <a:moveTo>
                    <a:pt x="264" y="110"/>
                  </a:moveTo>
                  <a:cubicBezTo>
                    <a:pt x="264" y="125"/>
                    <a:pt x="251" y="138"/>
                    <a:pt x="236" y="138"/>
                  </a:cubicBezTo>
                  <a:cubicBezTo>
                    <a:pt x="220" y="138"/>
                    <a:pt x="208" y="125"/>
                    <a:pt x="208" y="110"/>
                  </a:cubicBezTo>
                  <a:cubicBezTo>
                    <a:pt x="208" y="94"/>
                    <a:pt x="220" y="82"/>
                    <a:pt x="236" y="82"/>
                  </a:cubicBezTo>
                  <a:cubicBezTo>
                    <a:pt x="251" y="82"/>
                    <a:pt x="264" y="94"/>
                    <a:pt x="264" y="110"/>
                  </a:cubicBezTo>
                  <a:close/>
                  <a:moveTo>
                    <a:pt x="354" y="63"/>
                  </a:moveTo>
                  <a:cubicBezTo>
                    <a:pt x="354" y="78"/>
                    <a:pt x="341" y="91"/>
                    <a:pt x="326" y="91"/>
                  </a:cubicBezTo>
                  <a:cubicBezTo>
                    <a:pt x="310" y="91"/>
                    <a:pt x="298" y="78"/>
                    <a:pt x="298" y="63"/>
                  </a:cubicBezTo>
                  <a:cubicBezTo>
                    <a:pt x="298" y="47"/>
                    <a:pt x="310" y="35"/>
                    <a:pt x="326" y="35"/>
                  </a:cubicBezTo>
                  <a:cubicBezTo>
                    <a:pt x="341" y="35"/>
                    <a:pt x="354" y="47"/>
                    <a:pt x="354" y="63"/>
                  </a:cubicBezTo>
                  <a:close/>
                  <a:moveTo>
                    <a:pt x="451" y="36"/>
                  </a:moveTo>
                  <a:cubicBezTo>
                    <a:pt x="451" y="51"/>
                    <a:pt x="438" y="64"/>
                    <a:pt x="423" y="64"/>
                  </a:cubicBezTo>
                  <a:cubicBezTo>
                    <a:pt x="407" y="64"/>
                    <a:pt x="395" y="51"/>
                    <a:pt x="395" y="36"/>
                  </a:cubicBezTo>
                  <a:cubicBezTo>
                    <a:pt x="395" y="20"/>
                    <a:pt x="407" y="8"/>
                    <a:pt x="423" y="8"/>
                  </a:cubicBezTo>
                  <a:cubicBezTo>
                    <a:pt x="438" y="8"/>
                    <a:pt x="451" y="20"/>
                    <a:pt x="451" y="36"/>
                  </a:cubicBezTo>
                  <a:close/>
                  <a:moveTo>
                    <a:pt x="553" y="30"/>
                  </a:moveTo>
                  <a:cubicBezTo>
                    <a:pt x="553" y="45"/>
                    <a:pt x="540" y="58"/>
                    <a:pt x="525" y="58"/>
                  </a:cubicBezTo>
                  <a:cubicBezTo>
                    <a:pt x="509" y="58"/>
                    <a:pt x="497" y="45"/>
                    <a:pt x="497" y="30"/>
                  </a:cubicBezTo>
                  <a:cubicBezTo>
                    <a:pt x="497" y="14"/>
                    <a:pt x="509" y="2"/>
                    <a:pt x="525" y="2"/>
                  </a:cubicBezTo>
                  <a:cubicBezTo>
                    <a:pt x="540" y="2"/>
                    <a:pt x="553" y="14"/>
                    <a:pt x="553" y="30"/>
                  </a:cubicBezTo>
                  <a:close/>
                  <a:moveTo>
                    <a:pt x="653" y="47"/>
                  </a:moveTo>
                  <a:cubicBezTo>
                    <a:pt x="653" y="62"/>
                    <a:pt x="640" y="75"/>
                    <a:pt x="625" y="75"/>
                  </a:cubicBezTo>
                  <a:cubicBezTo>
                    <a:pt x="609" y="75"/>
                    <a:pt x="597" y="62"/>
                    <a:pt x="597" y="47"/>
                  </a:cubicBezTo>
                  <a:cubicBezTo>
                    <a:pt x="597" y="31"/>
                    <a:pt x="609" y="19"/>
                    <a:pt x="625" y="19"/>
                  </a:cubicBezTo>
                  <a:cubicBezTo>
                    <a:pt x="640" y="19"/>
                    <a:pt x="653" y="31"/>
                    <a:pt x="653" y="47"/>
                  </a:cubicBezTo>
                  <a:close/>
                  <a:moveTo>
                    <a:pt x="748" y="84"/>
                  </a:moveTo>
                  <a:cubicBezTo>
                    <a:pt x="748" y="99"/>
                    <a:pt x="735" y="112"/>
                    <a:pt x="720" y="112"/>
                  </a:cubicBezTo>
                  <a:cubicBezTo>
                    <a:pt x="704" y="112"/>
                    <a:pt x="692" y="99"/>
                    <a:pt x="692" y="84"/>
                  </a:cubicBezTo>
                  <a:cubicBezTo>
                    <a:pt x="692" y="68"/>
                    <a:pt x="704" y="56"/>
                    <a:pt x="720" y="56"/>
                  </a:cubicBezTo>
                  <a:cubicBezTo>
                    <a:pt x="735" y="56"/>
                    <a:pt x="748" y="68"/>
                    <a:pt x="748" y="84"/>
                  </a:cubicBezTo>
                  <a:close/>
                  <a:moveTo>
                    <a:pt x="832" y="141"/>
                  </a:moveTo>
                  <a:cubicBezTo>
                    <a:pt x="832" y="156"/>
                    <a:pt x="819" y="169"/>
                    <a:pt x="804" y="169"/>
                  </a:cubicBezTo>
                  <a:cubicBezTo>
                    <a:pt x="788" y="169"/>
                    <a:pt x="776" y="156"/>
                    <a:pt x="776" y="141"/>
                  </a:cubicBezTo>
                  <a:cubicBezTo>
                    <a:pt x="776" y="125"/>
                    <a:pt x="788" y="113"/>
                    <a:pt x="804" y="113"/>
                  </a:cubicBezTo>
                  <a:cubicBezTo>
                    <a:pt x="819" y="113"/>
                    <a:pt x="832" y="125"/>
                    <a:pt x="832" y="141"/>
                  </a:cubicBezTo>
                  <a:close/>
                  <a:moveTo>
                    <a:pt x="902" y="215"/>
                  </a:moveTo>
                  <a:cubicBezTo>
                    <a:pt x="902" y="230"/>
                    <a:pt x="889" y="243"/>
                    <a:pt x="874" y="243"/>
                  </a:cubicBezTo>
                  <a:cubicBezTo>
                    <a:pt x="858" y="243"/>
                    <a:pt x="846" y="230"/>
                    <a:pt x="846" y="215"/>
                  </a:cubicBezTo>
                  <a:cubicBezTo>
                    <a:pt x="846" y="199"/>
                    <a:pt x="858" y="187"/>
                    <a:pt x="874" y="187"/>
                  </a:cubicBezTo>
                  <a:cubicBezTo>
                    <a:pt x="889" y="187"/>
                    <a:pt x="902" y="199"/>
                    <a:pt x="902" y="215"/>
                  </a:cubicBezTo>
                  <a:close/>
                  <a:moveTo>
                    <a:pt x="954" y="302"/>
                  </a:moveTo>
                  <a:cubicBezTo>
                    <a:pt x="954" y="317"/>
                    <a:pt x="941" y="330"/>
                    <a:pt x="926" y="330"/>
                  </a:cubicBezTo>
                  <a:cubicBezTo>
                    <a:pt x="910" y="330"/>
                    <a:pt x="898" y="317"/>
                    <a:pt x="898" y="302"/>
                  </a:cubicBezTo>
                  <a:cubicBezTo>
                    <a:pt x="898" y="286"/>
                    <a:pt x="910" y="274"/>
                    <a:pt x="926" y="274"/>
                  </a:cubicBezTo>
                  <a:cubicBezTo>
                    <a:pt x="941" y="274"/>
                    <a:pt x="954" y="286"/>
                    <a:pt x="954" y="302"/>
                  </a:cubicBezTo>
                  <a:close/>
                  <a:moveTo>
                    <a:pt x="987" y="398"/>
                  </a:moveTo>
                  <a:cubicBezTo>
                    <a:pt x="987" y="413"/>
                    <a:pt x="974" y="426"/>
                    <a:pt x="959" y="426"/>
                  </a:cubicBezTo>
                  <a:cubicBezTo>
                    <a:pt x="943" y="426"/>
                    <a:pt x="931" y="413"/>
                    <a:pt x="931" y="398"/>
                  </a:cubicBezTo>
                  <a:cubicBezTo>
                    <a:pt x="931" y="382"/>
                    <a:pt x="943" y="370"/>
                    <a:pt x="959" y="370"/>
                  </a:cubicBezTo>
                  <a:cubicBezTo>
                    <a:pt x="974" y="370"/>
                    <a:pt x="987" y="382"/>
                    <a:pt x="987" y="39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65" name="Forma 65"/>
            <p:cNvSpPr/>
            <p:nvPr/>
          </p:nvSpPr>
          <p:spPr>
            <a:xfrm>
              <a:off x="4023360" y="3063240"/>
              <a:ext cx="594360" cy="594360"/>
            </a:xfrm>
            <a:custGeom>
              <a:avLst/>
              <a:gdLst/>
              <a:ahLst/>
              <a:cxnLst/>
              <a:rect l="0" t="0" r="r" b="b"/>
              <a:pathLst>
                <a:path w="1000" h="1000" fill="none">
                  <a:moveTo>
                    <a:pt x="0" y="500"/>
                  </a:moveTo>
                  <a:cubicBezTo>
                    <a:pt x="5" y="471"/>
                    <a:pt x="10" y="381"/>
                    <a:pt x="30" y="328"/>
                  </a:cubicBezTo>
                  <a:cubicBezTo>
                    <a:pt x="49" y="274"/>
                    <a:pt x="79" y="221"/>
                    <a:pt x="116" y="178"/>
                  </a:cubicBezTo>
                  <a:cubicBezTo>
                    <a:pt x="152" y="134"/>
                    <a:pt x="199" y="94"/>
                    <a:pt x="249" y="66"/>
                  </a:cubicBezTo>
                  <a:cubicBezTo>
                    <a:pt x="298" y="37"/>
                    <a:pt x="356" y="16"/>
                    <a:pt x="413" y="7"/>
                  </a:cubicBezTo>
                  <a:cubicBezTo>
                    <a:pt x="469" y="-2"/>
                    <a:pt x="529" y="-2"/>
                    <a:pt x="586" y="7"/>
                  </a:cubicBezTo>
                  <a:cubicBezTo>
                    <a:pt x="642" y="16"/>
                    <a:pt x="700" y="37"/>
                    <a:pt x="750" y="66"/>
                  </a:cubicBezTo>
                  <a:cubicBezTo>
                    <a:pt x="799" y="94"/>
                    <a:pt x="846" y="134"/>
                    <a:pt x="883" y="178"/>
                  </a:cubicBezTo>
                  <a:cubicBezTo>
                    <a:pt x="919" y="221"/>
                    <a:pt x="954" y="303"/>
                    <a:pt x="969" y="328"/>
                  </a:cubicBezTo>
                </a:path>
              </a:pathLst>
            </a:custGeom>
            <a:noFill/>
            <a:ln w="50800" cap="rnd">
              <a:solidFill>
                <a:srgbClr val="5DADE2"/>
              </a:solidFill>
              <a:round/>
            </a:ln>
          </p:spPr>
        </p:sp>
        <p:sp>
          <p:nvSpPr>
            <p:cNvPr id="66" name="Forma 66"/>
            <p:cNvSpPr txBox="1"/>
            <p:nvPr/>
          </p:nvSpPr>
          <p:spPr>
            <a:xfrm>
              <a:off x="4023360" y="3241548"/>
              <a:ext cx="594360" cy="237744"/>
            </a:xfrm>
            <a:prstGeom prst="rect">
              <a:avLst/>
            </a:prstGeom>
            <a:noFill/>
            <a:ln>
              <a:noFill/>
            </a:ln>
          </p:spPr>
          <p:txBody>
            <a:bodyPr wrap="square" lIns="0" tIns="0" rIns="0" bIns="0" anchor="ctr" rtlCol="0">
              <a:noAutofit/>
            </a:bodyPr>
            <a:lstStyle/>
            <a:p>
              <a:pPr algn="ctr">
                <a:spcAft>
                  <a:spcPts val="300"/>
                </a:spcAft>
                <a:buNone/>
              </a:pPr>
              <a:r>
                <a:rPr lang="es-AR" sz="1040" b="1" dirty="0">
                  <a:solidFill>
                    <a:srgbClr val="1E1E1E"/>
                  </a:solidFill>
                  <a:latin typeface="Bahnschrift SemiBold Condensed"/>
                  <a:ea typeface="Bahnschrift SemiBold Condensed"/>
                  <a:cs typeface="Bahnschrift SemiBold Condensed"/>
                  <a:sym typeface="Bahnschrift SemiBold Condensed"/>
                </a:rPr>
                <a:t>HDL</a:t>
              </a:r>
              <a:endParaRPr lang="es-AR" sz="1040" dirty="0">
                <a:latin typeface="Bahnschrift SemiBold Condensed"/>
              </a:endParaRPr>
            </a:p>
          </p:txBody>
        </p:sp>
      </p:grpSp>
      <p:sp>
        <p:nvSpPr>
          <p:cNvPr id="67" name="HDL dona apos"/>
          <p:cNvSpPr/>
          <p:nvPr/>
        </p:nvSpPr>
        <p:spPr>
          <a:xfrm>
            <a:off x="2743200" y="2194560"/>
            <a:ext cx="1600200" cy="868680"/>
          </a:xfrm>
          <a:custGeom>
            <a:avLst/>
            <a:gdLst/>
            <a:ahLst/>
            <a:cxnLst/>
            <a:rect l="0" t="0" r="r" b="b"/>
            <a:pathLst>
              <a:path w="1750" h="950" fill="none">
                <a:moveTo>
                  <a:pt x="1750" y="950"/>
                </a:moveTo>
                <a:lnTo>
                  <a:pt x="0" y="0"/>
                </a:lnTo>
              </a:path>
            </a:pathLst>
          </a:custGeom>
          <a:noFill/>
          <a:ln w="25400" cap="rnd">
            <a:solidFill>
              <a:srgbClr val="1E8C3A"/>
            </a:solidFill>
            <a:round/>
            <a:tailEnd type="triangle" w="med" len="med"/>
          </a:ln>
        </p:spPr>
      </p:sp>
      <p:grpSp>
        <p:nvGrpSpPr>
          <p:cNvPr id="68" name="Recuadro Claves"/>
          <p:cNvGrpSpPr/>
          <p:nvPr/>
        </p:nvGrpSpPr>
        <p:grpSpPr>
          <a:xfrm>
            <a:off x="9509760" y="1005840"/>
            <a:ext cx="2286000" cy="5486400"/>
            <a:chOff x="9509760" y="1005840"/>
            <a:chExt cx="2286000" cy="5486400"/>
          </a:xfrm>
        </p:grpSpPr>
        <p:sp>
          <p:nvSpPr>
            <p:cNvPr id="69" name="Forma 69"/>
            <p:cNvSpPr/>
            <p:nvPr/>
          </p:nvSpPr>
          <p:spPr>
            <a:xfrm>
              <a:off x="9509760" y="1188720"/>
              <a:ext cx="2286000" cy="53035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ApoC-II</a:t>
              </a:r>
              <a:r>
                <a:rPr lang="es-AR" sz="1550" dirty="0">
                  <a:solidFill>
                    <a:srgbClr val="1E1E1E"/>
                  </a:solidFill>
                  <a:latin typeface="Bahnschrift"/>
                  <a:ea typeface="Bahnschrift"/>
                  <a:cs typeface="Bahnschrift"/>
                  <a:sym typeface="Bahnschrift"/>
                </a:rPr>
                <a:t> activa LPL; </a:t>
              </a:r>
              <a:r>
                <a:rPr lang="es-AR" sz="1550" b="1" dirty="0">
                  <a:solidFill>
                    <a:srgbClr val="1E1E1E"/>
                  </a:solidFill>
                  <a:latin typeface="Bahnschrift"/>
                  <a:ea typeface="Bahnschrift"/>
                  <a:cs typeface="Bahnschrift"/>
                  <a:sym typeface="Bahnschrift"/>
                </a:rPr>
                <a:t>ApoC-III</a:t>
              </a:r>
              <a:r>
                <a:rPr lang="es-AR" sz="1550" dirty="0">
                  <a:solidFill>
                    <a:srgbClr val="1E1E1E"/>
                  </a:solidFill>
                  <a:latin typeface="Bahnschrift"/>
                  <a:ea typeface="Bahnschrift"/>
                  <a:cs typeface="Bahnschrift"/>
                  <a:sym typeface="Bahnschrift"/>
                </a:rPr>
                <a:t> y </a:t>
              </a:r>
              <a:r>
                <a:rPr lang="es-AR" sz="1550" b="1" dirty="0">
                  <a:solidFill>
                    <a:srgbClr val="1E1E1E"/>
                  </a:solidFill>
                  <a:latin typeface="Bahnschrift"/>
                  <a:ea typeface="Bahnschrift"/>
                  <a:cs typeface="Bahnschrift"/>
                  <a:sym typeface="Bahnschrift"/>
                </a:rPr>
                <a:t>ANGPTL3/4/8</a:t>
              </a:r>
              <a:r>
                <a:rPr lang="es-AR" sz="1550" dirty="0">
                  <a:solidFill>
                    <a:srgbClr val="1E1E1E"/>
                  </a:solidFill>
                  <a:latin typeface="Bahnschrift"/>
                  <a:ea typeface="Bahnschrift"/>
                  <a:cs typeface="Bahnschrift"/>
                  <a:sym typeface="Bahnschrift"/>
                </a:rPr>
                <a:t> modulan la depuración.</a:t>
              </a:r>
              <a:endParaRPr lang="es-AR" sz="1550" dirty="0">
                <a:latin typeface="Bahnschrift"/>
              </a:endParaRPr>
            </a:p>
            <a:p>
              <a:pPr algn="l" marL="147637" indent="-147637">
                <a:spcAft>
                  <a:spcPts val="400"/>
                </a:spcAft>
                <a:buClr>
                  <a:srgbClr val="1E1E1E"/>
                </a:buClr>
                <a:buFont typeface="Arial"/>
                <a:buChar char="•"/>
              </a:pPr>
              <a:r>
                <a:rPr lang="es-AR" sz="1550" dirty="0">
                  <a:solidFill>
                    <a:srgbClr val="1E1E1E"/>
                  </a:solidFill>
                  <a:latin typeface="Bahnschrift"/>
                  <a:ea typeface="Bahnschrift"/>
                  <a:cs typeface="Bahnschrift"/>
                  <a:sym typeface="Bahnschrift"/>
                </a:rPr>
                <a:t>Remanentes ricos en colesterol → hígado (</a:t>
              </a:r>
              <a:r>
                <a:rPr lang="es-AR" sz="1550" b="1" dirty="0">
                  <a:solidFill>
                    <a:srgbClr val="1E1E1E"/>
                  </a:solidFill>
                  <a:latin typeface="Bahnschrift"/>
                  <a:ea typeface="Bahnschrift"/>
                  <a:cs typeface="Bahnschrift"/>
                  <a:sym typeface="Bahnschrift"/>
                </a:rPr>
                <a:t>ApoE</a:t>
              </a:r>
              <a:r>
                <a:rPr lang="es-AR" sz="1550" dirty="0">
                  <a:solidFill>
                    <a:srgbClr val="1E1E1E"/>
                  </a:solidFill>
                  <a:latin typeface="Bahnschrift"/>
                  <a:ea typeface="Bahnschrift"/>
                  <a:cs typeface="Bahnschrift"/>
                  <a:sym typeface="Bahnschrift"/>
                </a:rPr>
                <a:t>).</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LDL</a:t>
              </a:r>
              <a:r>
                <a:rPr lang="es-AR" sz="1550" dirty="0">
                  <a:solidFill>
                    <a:srgbClr val="1E1E1E"/>
                  </a:solidFill>
                  <a:latin typeface="Bahnschrift"/>
                  <a:ea typeface="Bahnschrift"/>
                  <a:cs typeface="Bahnschrift"/>
                  <a:sym typeface="Bahnschrift"/>
                </a:rPr>
                <a:t>: rica en colesterol esterificado.</a:t>
              </a:r>
              <a:endParaRPr lang="es-AR" sz="1550" dirty="0">
                <a:latin typeface="Bahnschrift"/>
              </a:endParaRPr>
            </a:p>
          </p:txBody>
        </p:sp>
        <p:sp>
          <p:nvSpPr>
            <p:cNvPr id="70" name="Forma 70"/>
            <p:cNvSpPr/>
            <p:nvPr/>
          </p:nvSpPr>
          <p:spPr>
            <a:xfrm>
              <a:off x="9619488" y="1005840"/>
              <a:ext cx="85066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CLAVES</a:t>
              </a:r>
              <a:endParaRPr lang="es-AR" sz="1400" dirty="0">
                <a:latin typeface="Bahnschrift SemiBold Condensed"/>
              </a:endParaRPr>
            </a:p>
          </p:txBody>
        </p:sp>
      </p:gr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825040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19 · ESQUEMA DE LIPOPROTEÍNAS: VÍAS EXÓGENA Y ENDÓGENA</a:t>
            </a:r>
            <a:endParaRPr lang="es-AR" sz="2600" dirty="0">
              <a:latin typeface="Bahnschrift SemiBold Condensed"/>
            </a:endParaRPr>
          </a:p>
        </p:txBody>
      </p:sp>
      <p:sp>
        <p:nvSpPr>
          <p:cNvPr id="7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9"/>
                                        </p:tgtEl>
                                        <p:attrNameLst>
                                          <p:attrName>style.visibility</p:attrName>
                                        </p:attrNameLst>
                                      </p:cBhvr>
                                      <p:to>
                                        <p:strVal val="visible"/>
                                      </p:to>
                                    </p:set>
                                    <p:animEffect transition="in" filter="fade">
                                      <p:cBhvr>
                                        <p:cTn id="5" dur="500"/>
                                        <p:tgtEl>
                                          <p:spTgt spid="29"/>
                                        </p:tgtEl>
                                      </p:cBhvr>
                                    </p:animEffect>
                                  </p:childTnLst>
                                </p:cTn>
                              </p:par>
                            </p:childTnLst>
                          </p:cTn>
                        </p:par>
                        <p:par>
                          <p:cTn id="12" fill="hold">
                            <p:stCondLst>
                              <p:cond delay="500"/>
                            </p:stCondLst>
                            <p:childTnLst>
                              <p:par>
                                <p:cTn id="7" presetID="0" presetClass="path" presetSubtype="0" accel="20000" decel="20000" fill="hold" grpId="0" nodeType="afterEffect">
                                  <p:stCondLst>
                                    <p:cond delay="0"/>
                                  </p:stCondLst>
                                  <p:childTnLst>
                                    <p:animMotion origin="layout" path="M 0 0 L 0.1200 0.0333 E" pathEditMode="relative" ptsTypes="">
                                      <p:cBhvr>
                                        <p:cTn id="8" dur="1200" fill="hold"/>
                                        <p:tgtEl>
                                          <p:spTgt spid="29"/>
                                        </p:tgtEl>
                                        <p:attrNameLst>
                                          <p:attrName>ppt_x</p:attrName>
                                          <p:attrName>ppt_y</p:attrName>
                                        </p:attrNameLst>
                                      </p:cBhvr>
                                      <p:rCtr x="6000" y="1666"/>
                                    </p:animMotion>
                                  </p:childTnLst>
                                </p:cTn>
                              </p:par>
                              <p:par>
                                <p:cTn id="9" presetID="10"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animEffect transition="in" filter="fade">
                                      <p:cBhvr>
                                        <p:cTn id="11" dur="500"/>
                                        <p:tgtEl>
                                          <p:spTgt spid="62"/>
                                        </p:tgtEl>
                                      </p:cBhvr>
                                    </p:animEffect>
                                  </p:childTnLst>
                                </p:cTn>
                              </p:par>
                            </p:childTnLst>
                          </p:cTn>
                        </p:par>
                        <p:par>
                          <p:cTn id="16" fill="hold">
                            <p:stCondLst>
                              <p:cond delay="1700"/>
                            </p:stCondLst>
                            <p:childTnLst>
                              <p:par>
                                <p:cTn id="13" presetID="22" presetClass="entr" presetSubtype="2" fill="hold" grpId="0" nodeType="afterEffect">
                                  <p:stCondLst>
                                    <p:cond delay="0"/>
                                  </p:stCondLst>
                                  <p:childTnLst>
                                    <p:set>
                                      <p:cBhvr>
                                        <p:cTn id="14" dur="1" fill="hold">
                                          <p:stCondLst>
                                            <p:cond delay="0"/>
                                          </p:stCondLst>
                                        </p:cTn>
                                        <p:tgtEl>
                                          <p:spTgt spid="67"/>
                                        </p:tgtEl>
                                        <p:attrNameLst>
                                          <p:attrName>style.visibility</p:attrName>
                                        </p:attrNameLst>
                                      </p:cBhvr>
                                      <p:to>
                                        <p:strVal val="visible"/>
                                      </p:to>
                                    </p:set>
                                    <p:animEffect transition="in" filter="wipe(right)">
                                      <p:cBhvr>
                                        <p:cTn id="15" dur="600"/>
                                        <p:tgtEl>
                                          <p:spTgt spid="67"/>
                                        </p:tgtEl>
                                      </p:cBhvr>
                                    </p:animEffect>
                                  </p:childTnLst>
                                </p:cTn>
                              </p:par>
                            </p:childTnLst>
                          </p:cTn>
                        </p:par>
                      </p:childTnLst>
                    </p:cTn>
                  </p:par>
                  <p:par>
                    <p:cTn id="36" fill="hold">
                      <p:stCondLst>
                        <p:cond delay="indefinite"/>
                      </p:stCondLst>
                      <p:childTnLst>
                        <p:par>
                          <p:cTn id="20" fill="hold">
                            <p:stCondLst>
                              <p:cond delay="0"/>
                            </p:stCondLst>
                            <p:childTnLst>
                              <p:par>
                                <p:cTn id="18" presetID="0" presetClass="path" presetSubtype="0" accel="20000" decel="20000" fill="hold" grpId="0" nodeType="clickEffect">
                                  <p:stCondLst>
                                    <p:cond delay="0"/>
                                  </p:stCondLst>
                                  <p:childTnLst>
                                    <p:animMotion origin="layout" path="M 0 0 L 0.2400 0.0333 E" pathEditMode="relative" ptsTypes="">
                                      <p:cBhvr>
                                        <p:cTn id="19" dur="1400" fill="hold"/>
                                        <p:tgtEl>
                                          <p:spTgt spid="29"/>
                                        </p:tgtEl>
                                        <p:attrNameLst>
                                          <p:attrName>ppt_x</p:attrName>
                                          <p:attrName>ppt_y</p:attrName>
                                        </p:attrNameLst>
                                      </p:cBhvr>
                                      <p:rCtr x="12000" y="1666"/>
                                    </p:animMotion>
                                  </p:childTnLst>
                                </p:cTn>
                              </p:par>
                            </p:childTnLst>
                          </p:cTn>
                        </p:par>
                        <p:par>
                          <p:cTn id="24" fill="hold">
                            <p:stCondLst>
                              <p:cond delay="1400"/>
                            </p:stCondLst>
                            <p:childTnLst>
                              <p:par>
                                <p:cTn id="21" presetID="10" presetClass="entr" presetSubtype="0" fill="hold" grpId="0"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8" fill="hold">
                            <p:stCondLst>
                              <p:cond delay="1900"/>
                            </p:stCondLst>
                            <p:childTnLst>
                              <p:par>
                                <p:cTn id="25" presetID="10" presetClass="entr" presetSubtype="0"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500"/>
                                        <p:tgtEl>
                                          <p:spTgt spid="35"/>
                                        </p:tgtEl>
                                      </p:cBhvr>
                                    </p:animEffect>
                                  </p:childTnLst>
                                </p:cTn>
                              </p:par>
                            </p:childTnLst>
                          </p:cTn>
                        </p:par>
                        <p:par>
                          <p:cTn id="35" fill="hold">
                            <p:stCondLst>
                              <p:cond delay="2400"/>
                            </p:stCondLst>
                            <p:childTnLst>
                              <p:par>
                                <p:cTn id="29" presetID="10" presetClass="exit" presetSubtype="0" fill="hold" grpId="0" nodeType="afterEffect">
                                  <p:stCondLst>
                                    <p:cond delay="0"/>
                                  </p:stCondLst>
                                  <p:childTnLst>
                                    <p:animEffect transition="out" filter="fade">
                                      <p:cBhvr>
                                        <p:cTn id="30" dur="400"/>
                                        <p:tgtEl>
                                          <p:spTgt spid="29"/>
                                        </p:tgtEl>
                                      </p:cBhvr>
                                    </p:animEffect>
                                    <p:set>
                                      <p:cBhvr>
                                        <p:cTn id="31" dur="1" fill="hold">
                                          <p:stCondLst>
                                            <p:cond delay="399"/>
                                          </p:stCondLst>
                                        </p:cTn>
                                        <p:tgtEl>
                                          <p:spTgt spid="29"/>
                                        </p:tgtEl>
                                        <p:attrNameLst>
                                          <p:attrName>style.visibility</p:attrName>
                                        </p:attrNameLst>
                                      </p:cBhvr>
                                      <p:to>
                                        <p:strVal val="hidden"/>
                                      </p:to>
                                    </p:set>
                                  </p:childTnLst>
                                </p:cTn>
                              </p:par>
                              <p:par>
                                <p:cTn id="32" presetID="10" presetClass="entr" presetSubtype="0" fill="hold" grpId="0" nodeType="withEffect">
                                  <p:stCondLst>
                                    <p:cond delay="0"/>
                                  </p:stCondLst>
                                  <p:childTnLst>
                                    <p:set>
                                      <p:cBhvr>
                                        <p:cTn id="33" dur="1" fill="hold">
                                          <p:stCondLst>
                                            <p:cond delay="0"/>
                                          </p:stCondLst>
                                        </p:cTn>
                                        <p:tgtEl>
                                          <p:spTgt spid="38"/>
                                        </p:tgtEl>
                                        <p:attrNameLst>
                                          <p:attrName>style.visibility</p:attrName>
                                        </p:attrNameLst>
                                      </p:cBhvr>
                                      <p:to>
                                        <p:strVal val="visible"/>
                                      </p:to>
                                    </p:set>
                                    <p:animEffect transition="in" filter="fade">
                                      <p:cBhvr>
                                        <p:cTn id="34" dur="500"/>
                                        <p:tgtEl>
                                          <p:spTgt spid="38"/>
                                        </p:tgtEl>
                                      </p:cBhvr>
                                    </p:animEffect>
                                  </p:childTnLst>
                                </p:cTn>
                              </p:par>
                            </p:childTnLst>
                          </p:cTn>
                        </p:par>
                      </p:childTnLst>
                    </p:cTn>
                  </p:par>
                  <p:par>
                    <p:cTn id="41" fill="hold">
                      <p:stCondLst>
                        <p:cond delay="indefinite"/>
                      </p:stCondLst>
                      <p:childTnLst>
                        <p:par>
                          <p:cTn id="40" fill="hold">
                            <p:stCondLst>
                              <p:cond delay="0"/>
                            </p:stCondLst>
                            <p:childTnLst>
                              <p:par>
                                <p:cTn id="37" presetID="22" presetClass="entr" presetSubtype="2"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wipe(right)">
                                      <p:cBhvr>
                                        <p:cTn id="39" dur="600"/>
                                        <p:tgtEl>
                                          <p:spTgt spid="61"/>
                                        </p:tgtEl>
                                      </p:cBhvr>
                                    </p:animEffect>
                                  </p:childTnLst>
                                </p:cTn>
                              </p:par>
                            </p:childTnLst>
                          </p:cTn>
                        </p:par>
                      </p:childTnLst>
                    </p:cTn>
                  </p:par>
                  <p:par>
                    <p:cTn id="60" fill="hold">
                      <p:stCondLst>
                        <p:cond delay="indefinite"/>
                      </p:stCondLst>
                      <p:childTnLst>
                        <p:par>
                          <p:cTn id="45"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500"/>
                                        <p:tgtEl>
                                          <p:spTgt spid="43"/>
                                        </p:tgtEl>
                                      </p:cBhvr>
                                    </p:animEffect>
                                  </p:childTnLst>
                                </p:cTn>
                              </p:par>
                            </p:childTnLst>
                          </p:cTn>
                        </p:par>
                        <p:par>
                          <p:cTn id="48" fill="hold">
                            <p:stCondLst>
                              <p:cond delay="500"/>
                            </p:stCondLst>
                            <p:childTnLst>
                              <p:par>
                                <p:cTn id="46" presetID="0" presetClass="path" presetSubtype="0" accel="20000" decel="20000" fill="hold" grpId="0" nodeType="afterEffect">
                                  <p:stCondLst>
                                    <p:cond delay="0"/>
                                  </p:stCondLst>
                                  <p:childTnLst>
                                    <p:animMotion origin="layout" path="M 0 0 L 0.0900 0.0267 E" pathEditMode="relative" ptsTypes="">
                                      <p:cBhvr>
                                        <p:cTn id="47" dur="1000" fill="hold"/>
                                        <p:tgtEl>
                                          <p:spTgt spid="43"/>
                                        </p:tgtEl>
                                        <p:attrNameLst>
                                          <p:attrName>ppt_x</p:attrName>
                                          <p:attrName>ppt_y</p:attrName>
                                        </p:attrNameLst>
                                      </p:cBhvr>
                                      <p:rCtr x="4500" y="1333"/>
                                    </p:animMotion>
                                  </p:childTnLst>
                                </p:cTn>
                              </p:par>
                            </p:childTnLst>
                          </p:cTn>
                        </p:par>
                        <p:par>
                          <p:cTn id="52" fill="hold">
                            <p:stCondLst>
                              <p:cond delay="1500"/>
                            </p:stCondLst>
                            <p:childTnLst>
                              <p:par>
                                <p:cTn id="49" presetID="10"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Effect transition="in" filter="fade">
                                      <p:cBhvr>
                                        <p:cTn id="51" dur="500"/>
                                        <p:tgtEl>
                                          <p:spTgt spid="48"/>
                                        </p:tgtEl>
                                      </p:cBhvr>
                                    </p:animEffect>
                                  </p:childTnLst>
                                </p:cTn>
                              </p:par>
                            </p:childTnLst>
                          </p:cTn>
                        </p:par>
                        <p:par>
                          <p:cTn id="59" fill="hold">
                            <p:stCondLst>
                              <p:cond delay="2000"/>
                            </p:stCondLst>
                            <p:childTnLst>
                              <p:par>
                                <p:cTn id="53" presetID="10" presetClass="exit" presetSubtype="0" fill="hold" grpId="0" nodeType="afterEffect">
                                  <p:stCondLst>
                                    <p:cond delay="0"/>
                                  </p:stCondLst>
                                  <p:childTnLst>
                                    <p:animEffect transition="out" filter="fade">
                                      <p:cBhvr>
                                        <p:cTn id="54" dur="400"/>
                                        <p:tgtEl>
                                          <p:spTgt spid="43"/>
                                        </p:tgtEl>
                                      </p:cBhvr>
                                    </p:animEffect>
                                    <p:set>
                                      <p:cBhvr>
                                        <p:cTn id="55" dur="1" fill="hold">
                                          <p:stCondLst>
                                            <p:cond delay="399"/>
                                          </p:stCondLst>
                                        </p:cTn>
                                        <p:tgtEl>
                                          <p:spTgt spid="43"/>
                                        </p:tgtEl>
                                        <p:attrNameLst>
                                          <p:attrName>style.visibility</p:attrName>
                                        </p:attrNameLst>
                                      </p:cBhvr>
                                      <p:to>
                                        <p:strVal val="hidden"/>
                                      </p:to>
                                    </p:set>
                                  </p:childTnLst>
                                </p:cTn>
                              </p:par>
                              <p:par>
                                <p:cTn id="56" presetID="10" presetClass="entr" presetSubtype="0"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Effect transition="in" filter="fade">
                                      <p:cBhvr>
                                        <p:cTn id="58" dur="500"/>
                                        <p:tgtEl>
                                          <p:spTgt spid="49"/>
                                        </p:tgtEl>
                                      </p:cBhvr>
                                    </p:animEffect>
                                  </p:childTnLst>
                                </p:cTn>
                              </p:par>
                            </p:childTnLst>
                          </p:cTn>
                        </p:par>
                      </p:childTnLst>
                    </p:cTn>
                  </p:par>
                  <p:par>
                    <p:cTn id="76" fill="hold">
                      <p:stCondLst>
                        <p:cond delay="indefinite"/>
                      </p:stCondLst>
                      <p:childTnLst>
                        <p:par>
                          <p:cTn id="64"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54"/>
                                        </p:tgtEl>
                                        <p:attrNameLst>
                                          <p:attrName>style.visibility</p:attrName>
                                        </p:attrNameLst>
                                      </p:cBhvr>
                                      <p:to>
                                        <p:strVal val="visible"/>
                                      </p:to>
                                    </p:set>
                                    <p:animEffect transition="in" filter="fade">
                                      <p:cBhvr>
                                        <p:cTn id="63" dur="500"/>
                                        <p:tgtEl>
                                          <p:spTgt spid="54"/>
                                        </p:tgtEl>
                                      </p:cBhvr>
                                    </p:animEffect>
                                  </p:childTnLst>
                                </p:cTn>
                              </p:par>
                            </p:childTnLst>
                          </p:cTn>
                        </p:par>
                        <p:par>
                          <p:cTn id="71" fill="hold">
                            <p:stCondLst>
                              <p:cond delay="500"/>
                            </p:stCondLst>
                            <p:childTnLst>
                              <p:par>
                                <p:cTn id="65" presetID="10" presetClass="exit" presetSubtype="0" fill="hold" grpId="0" nodeType="afterEffect">
                                  <p:stCondLst>
                                    <p:cond delay="0"/>
                                  </p:stCondLst>
                                  <p:childTnLst>
                                    <p:animEffect transition="out" filter="fade">
                                      <p:cBhvr>
                                        <p:cTn id="66" dur="400"/>
                                        <p:tgtEl>
                                          <p:spTgt spid="49"/>
                                        </p:tgtEl>
                                      </p:cBhvr>
                                    </p:animEffect>
                                    <p:set>
                                      <p:cBhvr>
                                        <p:cTn id="67" dur="1" fill="hold">
                                          <p:stCondLst>
                                            <p:cond delay="399"/>
                                          </p:stCondLst>
                                        </p:cTn>
                                        <p:tgtEl>
                                          <p:spTgt spid="49"/>
                                        </p:tgtEl>
                                        <p:attrNameLst>
                                          <p:attrName>style.visibility</p:attrName>
                                        </p:attrNameLst>
                                      </p:cBhvr>
                                      <p:to>
                                        <p:strVal val="hidden"/>
                                      </p:to>
                                    </p:set>
                                  </p:childTnLst>
                                </p:cTn>
                              </p:par>
                              <p:par>
                                <p:cTn id="68" presetID="10" presetClass="entr" presetSubtype="0" fill="hold" grpId="0" nodeType="withEffect">
                                  <p:stCondLst>
                                    <p:cond delay="0"/>
                                  </p:stCondLst>
                                  <p:childTnLst>
                                    <p:set>
                                      <p:cBhvr>
                                        <p:cTn id="69" dur="1" fill="hold">
                                          <p:stCondLst>
                                            <p:cond delay="0"/>
                                          </p:stCondLst>
                                        </p:cTn>
                                        <p:tgtEl>
                                          <p:spTgt spid="55"/>
                                        </p:tgtEl>
                                        <p:attrNameLst>
                                          <p:attrName>style.visibility</p:attrName>
                                        </p:attrNameLst>
                                      </p:cBhvr>
                                      <p:to>
                                        <p:strVal val="visible"/>
                                      </p:to>
                                    </p:set>
                                    <p:animEffect transition="in" filter="fade">
                                      <p:cBhvr>
                                        <p:cTn id="70" dur="500"/>
                                        <p:tgtEl>
                                          <p:spTgt spid="55"/>
                                        </p:tgtEl>
                                      </p:cBhvr>
                                    </p:animEffect>
                                  </p:childTnLst>
                                </p:cTn>
                              </p:par>
                            </p:childTnLst>
                          </p:cTn>
                        </p:par>
                        <p:par>
                          <p:cTn id="75"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60"/>
                                        </p:tgtEl>
                                        <p:attrNameLst>
                                          <p:attrName>style.visibility</p:attrName>
                                        </p:attrNameLst>
                                      </p:cBhvr>
                                      <p:to>
                                        <p:strVal val="visible"/>
                                      </p:to>
                                    </p:set>
                                    <p:animEffect transition="in" filter="fade">
                                      <p:cBhvr>
                                        <p:cTn id="74" dur="500"/>
                                        <p:tgtEl>
                                          <p:spTgt spid="60"/>
                                        </p:tgtEl>
                                      </p:cBhvr>
                                    </p:animEffect>
                                  </p:childTnLst>
                                </p:cTn>
                              </p:par>
                            </p:childTnLst>
                          </p:cTn>
                        </p:par>
                      </p:childTnLst>
                    </p:cTn>
                  </p:par>
                  <p:par>
                    <p:cTn id="81" fill="hold">
                      <p:stCondLst>
                        <p:cond delay="indefinite"/>
                      </p:stCondLst>
                      <p:childTnLst>
                        <p:par>
                          <p:cTn id="80"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4" grpId="0" animBg="1"/>
      <p:bldP spid="61" grpId="0" animBg="1"/>
      <p:bldP spid="48" grpId="0" animBg="1"/>
      <p:bldP spid="54" grpId="0" animBg="1"/>
      <p:bldP spid="60" grpId="0" animBg="1"/>
    </p:bldLst>
  </p:timing>
</p:sld>
</file>

<file path=ppt/slides/slide117.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HDL grande"/>
          <p:cNvGrpSpPr/>
          <p:nvPr/>
        </p:nvGrpSpPr>
        <p:grpSpPr>
          <a:xfrm>
            <a:off x="548640" y="845440"/>
            <a:ext cx="1463040" cy="1714880"/>
            <a:chOff x="548640" y="845440"/>
            <a:chExt cx="1463040" cy="1714880"/>
          </a:xfrm>
        </p:grpSpPr>
        <p:sp>
          <p:nvSpPr>
            <p:cNvPr id="5" name="Forma 4"/>
            <p:cNvSpPr/>
            <p:nvPr/>
          </p:nvSpPr>
          <p:spPr>
            <a:xfrm>
              <a:off x="548640" y="1097280"/>
              <a:ext cx="1463040" cy="1463040"/>
            </a:xfrm>
            <a:prstGeom prst="ellipse">
              <a:avLst/>
            </a:prstGeom>
            <a:gradFill rotWithShape="1">
              <a:gsLst>
                <a:gs pos="0">
                  <a:srgbClr val="FEF7EC"/>
                </a:gs>
                <a:gs pos="70000">
                  <a:srgbClr val="FDEBD0"/>
                </a:gs>
                <a:gs pos="100000">
                  <a:srgbClr val="CABCA6"/>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6" name="Forma 5"/>
            <p:cNvSpPr/>
            <p:nvPr/>
          </p:nvSpPr>
          <p:spPr>
            <a:xfrm>
              <a:off x="548640" y="1097280"/>
              <a:ext cx="1463040" cy="1463040"/>
            </a:xfrm>
            <a:custGeom>
              <a:avLst/>
              <a:gdLst/>
              <a:ahLst/>
              <a:cxnLst/>
              <a:rect l="0" t="0" r="r" b="b"/>
              <a:pathLst>
                <a:path w="1000" h="1000">
                  <a:moveTo>
                    <a:pt x="990" y="500"/>
                  </a:moveTo>
                  <a:cubicBezTo>
                    <a:pt x="990" y="511"/>
                    <a:pt x="981" y="520"/>
                    <a:pt x="970" y="520"/>
                  </a:cubicBezTo>
                  <a:cubicBezTo>
                    <a:pt x="958" y="520"/>
                    <a:pt x="950" y="511"/>
                    <a:pt x="950" y="500"/>
                  </a:cubicBezTo>
                  <a:cubicBezTo>
                    <a:pt x="950" y="488"/>
                    <a:pt x="958" y="480"/>
                    <a:pt x="970" y="480"/>
                  </a:cubicBezTo>
                  <a:cubicBezTo>
                    <a:pt x="981" y="480"/>
                    <a:pt x="990" y="488"/>
                    <a:pt x="990" y="500"/>
                  </a:cubicBezTo>
                  <a:close/>
                  <a:moveTo>
                    <a:pt x="988" y="541"/>
                  </a:moveTo>
                  <a:cubicBezTo>
                    <a:pt x="988" y="552"/>
                    <a:pt x="979" y="561"/>
                    <a:pt x="968" y="561"/>
                  </a:cubicBezTo>
                  <a:cubicBezTo>
                    <a:pt x="956" y="561"/>
                    <a:pt x="948" y="552"/>
                    <a:pt x="948" y="541"/>
                  </a:cubicBezTo>
                  <a:cubicBezTo>
                    <a:pt x="948" y="529"/>
                    <a:pt x="956" y="521"/>
                    <a:pt x="968" y="521"/>
                  </a:cubicBezTo>
                  <a:cubicBezTo>
                    <a:pt x="979" y="521"/>
                    <a:pt x="988" y="529"/>
                    <a:pt x="988" y="541"/>
                  </a:cubicBezTo>
                  <a:close/>
                  <a:moveTo>
                    <a:pt x="982" y="582"/>
                  </a:moveTo>
                  <a:cubicBezTo>
                    <a:pt x="982" y="593"/>
                    <a:pt x="973" y="602"/>
                    <a:pt x="962" y="602"/>
                  </a:cubicBezTo>
                  <a:cubicBezTo>
                    <a:pt x="950" y="602"/>
                    <a:pt x="942" y="593"/>
                    <a:pt x="942" y="582"/>
                  </a:cubicBezTo>
                  <a:cubicBezTo>
                    <a:pt x="942" y="570"/>
                    <a:pt x="950" y="562"/>
                    <a:pt x="962" y="562"/>
                  </a:cubicBezTo>
                  <a:cubicBezTo>
                    <a:pt x="973" y="562"/>
                    <a:pt x="982" y="570"/>
                    <a:pt x="982" y="582"/>
                  </a:cubicBezTo>
                  <a:close/>
                  <a:moveTo>
                    <a:pt x="973" y="623"/>
                  </a:moveTo>
                  <a:cubicBezTo>
                    <a:pt x="973" y="634"/>
                    <a:pt x="964" y="643"/>
                    <a:pt x="953" y="643"/>
                  </a:cubicBezTo>
                  <a:cubicBezTo>
                    <a:pt x="941" y="643"/>
                    <a:pt x="933" y="634"/>
                    <a:pt x="933" y="623"/>
                  </a:cubicBezTo>
                  <a:cubicBezTo>
                    <a:pt x="933" y="611"/>
                    <a:pt x="941" y="603"/>
                    <a:pt x="953" y="603"/>
                  </a:cubicBezTo>
                  <a:cubicBezTo>
                    <a:pt x="964" y="603"/>
                    <a:pt x="973" y="611"/>
                    <a:pt x="973" y="623"/>
                  </a:cubicBezTo>
                  <a:close/>
                  <a:moveTo>
                    <a:pt x="960" y="662"/>
                  </a:moveTo>
                  <a:cubicBezTo>
                    <a:pt x="960" y="673"/>
                    <a:pt x="951" y="682"/>
                    <a:pt x="940" y="682"/>
                  </a:cubicBezTo>
                  <a:cubicBezTo>
                    <a:pt x="928" y="682"/>
                    <a:pt x="920" y="673"/>
                    <a:pt x="920" y="662"/>
                  </a:cubicBezTo>
                  <a:cubicBezTo>
                    <a:pt x="920" y="650"/>
                    <a:pt x="928" y="642"/>
                    <a:pt x="940" y="642"/>
                  </a:cubicBezTo>
                  <a:cubicBezTo>
                    <a:pt x="951" y="642"/>
                    <a:pt x="960" y="650"/>
                    <a:pt x="960" y="662"/>
                  </a:cubicBezTo>
                  <a:close/>
                  <a:moveTo>
                    <a:pt x="944" y="701"/>
                  </a:moveTo>
                  <a:cubicBezTo>
                    <a:pt x="944" y="712"/>
                    <a:pt x="935" y="721"/>
                    <a:pt x="924" y="721"/>
                  </a:cubicBezTo>
                  <a:cubicBezTo>
                    <a:pt x="912" y="721"/>
                    <a:pt x="904" y="712"/>
                    <a:pt x="904" y="701"/>
                  </a:cubicBezTo>
                  <a:cubicBezTo>
                    <a:pt x="904" y="689"/>
                    <a:pt x="912" y="681"/>
                    <a:pt x="924" y="681"/>
                  </a:cubicBezTo>
                  <a:cubicBezTo>
                    <a:pt x="935" y="681"/>
                    <a:pt x="944" y="689"/>
                    <a:pt x="944" y="701"/>
                  </a:cubicBezTo>
                  <a:close/>
                  <a:moveTo>
                    <a:pt x="925" y="737"/>
                  </a:moveTo>
                  <a:cubicBezTo>
                    <a:pt x="925" y="748"/>
                    <a:pt x="916" y="757"/>
                    <a:pt x="905" y="757"/>
                  </a:cubicBezTo>
                  <a:cubicBezTo>
                    <a:pt x="893" y="757"/>
                    <a:pt x="885" y="748"/>
                    <a:pt x="885" y="737"/>
                  </a:cubicBezTo>
                  <a:cubicBezTo>
                    <a:pt x="885" y="725"/>
                    <a:pt x="893" y="717"/>
                    <a:pt x="905" y="717"/>
                  </a:cubicBezTo>
                  <a:cubicBezTo>
                    <a:pt x="916" y="717"/>
                    <a:pt x="925" y="725"/>
                    <a:pt x="925" y="737"/>
                  </a:cubicBezTo>
                  <a:close/>
                  <a:moveTo>
                    <a:pt x="902" y="772"/>
                  </a:moveTo>
                  <a:cubicBezTo>
                    <a:pt x="902" y="783"/>
                    <a:pt x="893" y="792"/>
                    <a:pt x="882" y="792"/>
                  </a:cubicBezTo>
                  <a:cubicBezTo>
                    <a:pt x="870" y="792"/>
                    <a:pt x="862" y="783"/>
                    <a:pt x="862" y="772"/>
                  </a:cubicBezTo>
                  <a:cubicBezTo>
                    <a:pt x="862" y="760"/>
                    <a:pt x="870" y="752"/>
                    <a:pt x="882" y="752"/>
                  </a:cubicBezTo>
                  <a:cubicBezTo>
                    <a:pt x="893" y="752"/>
                    <a:pt x="902" y="760"/>
                    <a:pt x="902" y="772"/>
                  </a:cubicBezTo>
                  <a:close/>
                  <a:moveTo>
                    <a:pt x="877" y="805"/>
                  </a:moveTo>
                  <a:cubicBezTo>
                    <a:pt x="877" y="816"/>
                    <a:pt x="868" y="825"/>
                    <a:pt x="857" y="825"/>
                  </a:cubicBezTo>
                  <a:cubicBezTo>
                    <a:pt x="845" y="825"/>
                    <a:pt x="837" y="816"/>
                    <a:pt x="837" y="805"/>
                  </a:cubicBezTo>
                  <a:cubicBezTo>
                    <a:pt x="837" y="793"/>
                    <a:pt x="845" y="785"/>
                    <a:pt x="857" y="785"/>
                  </a:cubicBezTo>
                  <a:cubicBezTo>
                    <a:pt x="868" y="785"/>
                    <a:pt x="877" y="793"/>
                    <a:pt x="877" y="805"/>
                  </a:cubicBezTo>
                  <a:close/>
                  <a:moveTo>
                    <a:pt x="848" y="835"/>
                  </a:moveTo>
                  <a:cubicBezTo>
                    <a:pt x="848" y="846"/>
                    <a:pt x="839" y="855"/>
                    <a:pt x="828" y="855"/>
                  </a:cubicBezTo>
                  <a:cubicBezTo>
                    <a:pt x="816" y="855"/>
                    <a:pt x="808" y="846"/>
                    <a:pt x="808" y="835"/>
                  </a:cubicBezTo>
                  <a:cubicBezTo>
                    <a:pt x="808" y="823"/>
                    <a:pt x="816" y="815"/>
                    <a:pt x="828" y="815"/>
                  </a:cubicBezTo>
                  <a:cubicBezTo>
                    <a:pt x="839" y="815"/>
                    <a:pt x="848" y="823"/>
                    <a:pt x="848" y="835"/>
                  </a:cubicBezTo>
                  <a:close/>
                  <a:moveTo>
                    <a:pt x="817" y="863"/>
                  </a:moveTo>
                  <a:cubicBezTo>
                    <a:pt x="817" y="874"/>
                    <a:pt x="808" y="883"/>
                    <a:pt x="797" y="883"/>
                  </a:cubicBezTo>
                  <a:cubicBezTo>
                    <a:pt x="785" y="883"/>
                    <a:pt x="777" y="874"/>
                    <a:pt x="777" y="863"/>
                  </a:cubicBezTo>
                  <a:cubicBezTo>
                    <a:pt x="777" y="851"/>
                    <a:pt x="785" y="843"/>
                    <a:pt x="797" y="843"/>
                  </a:cubicBezTo>
                  <a:cubicBezTo>
                    <a:pt x="808" y="843"/>
                    <a:pt x="817" y="851"/>
                    <a:pt x="817" y="863"/>
                  </a:cubicBezTo>
                  <a:close/>
                  <a:moveTo>
                    <a:pt x="784" y="888"/>
                  </a:moveTo>
                  <a:cubicBezTo>
                    <a:pt x="784" y="899"/>
                    <a:pt x="775" y="908"/>
                    <a:pt x="764" y="908"/>
                  </a:cubicBezTo>
                  <a:cubicBezTo>
                    <a:pt x="752" y="908"/>
                    <a:pt x="744" y="899"/>
                    <a:pt x="744" y="888"/>
                  </a:cubicBezTo>
                  <a:cubicBezTo>
                    <a:pt x="744" y="876"/>
                    <a:pt x="752" y="868"/>
                    <a:pt x="764" y="868"/>
                  </a:cubicBezTo>
                  <a:cubicBezTo>
                    <a:pt x="775" y="868"/>
                    <a:pt x="784" y="876"/>
                    <a:pt x="784" y="888"/>
                  </a:cubicBezTo>
                  <a:close/>
                  <a:moveTo>
                    <a:pt x="748" y="910"/>
                  </a:moveTo>
                  <a:cubicBezTo>
                    <a:pt x="748" y="921"/>
                    <a:pt x="739" y="930"/>
                    <a:pt x="728" y="930"/>
                  </a:cubicBezTo>
                  <a:cubicBezTo>
                    <a:pt x="716" y="930"/>
                    <a:pt x="708" y="921"/>
                    <a:pt x="708" y="910"/>
                  </a:cubicBezTo>
                  <a:cubicBezTo>
                    <a:pt x="708" y="898"/>
                    <a:pt x="716" y="890"/>
                    <a:pt x="728" y="890"/>
                  </a:cubicBezTo>
                  <a:cubicBezTo>
                    <a:pt x="739" y="890"/>
                    <a:pt x="748" y="898"/>
                    <a:pt x="748" y="910"/>
                  </a:cubicBezTo>
                  <a:close/>
                  <a:moveTo>
                    <a:pt x="711" y="929"/>
                  </a:moveTo>
                  <a:cubicBezTo>
                    <a:pt x="711" y="940"/>
                    <a:pt x="702" y="949"/>
                    <a:pt x="691" y="949"/>
                  </a:cubicBezTo>
                  <a:cubicBezTo>
                    <a:pt x="679" y="949"/>
                    <a:pt x="671" y="940"/>
                    <a:pt x="671" y="929"/>
                  </a:cubicBezTo>
                  <a:cubicBezTo>
                    <a:pt x="671" y="917"/>
                    <a:pt x="679" y="909"/>
                    <a:pt x="691" y="909"/>
                  </a:cubicBezTo>
                  <a:cubicBezTo>
                    <a:pt x="702" y="909"/>
                    <a:pt x="711" y="917"/>
                    <a:pt x="711" y="929"/>
                  </a:cubicBezTo>
                  <a:close/>
                  <a:moveTo>
                    <a:pt x="673" y="944"/>
                  </a:moveTo>
                  <a:cubicBezTo>
                    <a:pt x="673" y="955"/>
                    <a:pt x="664" y="964"/>
                    <a:pt x="653" y="964"/>
                  </a:cubicBezTo>
                  <a:cubicBezTo>
                    <a:pt x="641" y="964"/>
                    <a:pt x="633" y="955"/>
                    <a:pt x="633" y="944"/>
                  </a:cubicBezTo>
                  <a:cubicBezTo>
                    <a:pt x="633" y="932"/>
                    <a:pt x="641" y="924"/>
                    <a:pt x="653" y="924"/>
                  </a:cubicBezTo>
                  <a:cubicBezTo>
                    <a:pt x="664" y="924"/>
                    <a:pt x="673" y="932"/>
                    <a:pt x="673" y="944"/>
                  </a:cubicBezTo>
                  <a:close/>
                  <a:moveTo>
                    <a:pt x="633" y="956"/>
                  </a:moveTo>
                  <a:cubicBezTo>
                    <a:pt x="633" y="967"/>
                    <a:pt x="624" y="976"/>
                    <a:pt x="613" y="976"/>
                  </a:cubicBezTo>
                  <a:cubicBezTo>
                    <a:pt x="601" y="976"/>
                    <a:pt x="593" y="967"/>
                    <a:pt x="593" y="956"/>
                  </a:cubicBezTo>
                  <a:cubicBezTo>
                    <a:pt x="593" y="944"/>
                    <a:pt x="601" y="936"/>
                    <a:pt x="613" y="936"/>
                  </a:cubicBezTo>
                  <a:cubicBezTo>
                    <a:pt x="624" y="936"/>
                    <a:pt x="633" y="944"/>
                    <a:pt x="633" y="956"/>
                  </a:cubicBezTo>
                  <a:close/>
                  <a:moveTo>
                    <a:pt x="592" y="964"/>
                  </a:moveTo>
                  <a:cubicBezTo>
                    <a:pt x="592" y="975"/>
                    <a:pt x="583" y="984"/>
                    <a:pt x="572" y="984"/>
                  </a:cubicBezTo>
                  <a:cubicBezTo>
                    <a:pt x="560" y="984"/>
                    <a:pt x="552" y="975"/>
                    <a:pt x="552" y="964"/>
                  </a:cubicBezTo>
                  <a:cubicBezTo>
                    <a:pt x="552" y="952"/>
                    <a:pt x="560" y="944"/>
                    <a:pt x="572" y="944"/>
                  </a:cubicBezTo>
                  <a:cubicBezTo>
                    <a:pt x="583" y="944"/>
                    <a:pt x="592" y="952"/>
                    <a:pt x="592" y="964"/>
                  </a:cubicBezTo>
                  <a:close/>
                  <a:moveTo>
                    <a:pt x="551" y="968"/>
                  </a:moveTo>
                  <a:cubicBezTo>
                    <a:pt x="551" y="979"/>
                    <a:pt x="542" y="988"/>
                    <a:pt x="531" y="988"/>
                  </a:cubicBezTo>
                  <a:cubicBezTo>
                    <a:pt x="519" y="988"/>
                    <a:pt x="511" y="979"/>
                    <a:pt x="511" y="968"/>
                  </a:cubicBezTo>
                  <a:cubicBezTo>
                    <a:pt x="511" y="956"/>
                    <a:pt x="519" y="948"/>
                    <a:pt x="531" y="948"/>
                  </a:cubicBezTo>
                  <a:cubicBezTo>
                    <a:pt x="542" y="948"/>
                    <a:pt x="551" y="956"/>
                    <a:pt x="551" y="968"/>
                  </a:cubicBezTo>
                  <a:close/>
                  <a:moveTo>
                    <a:pt x="509" y="969"/>
                  </a:moveTo>
                  <a:cubicBezTo>
                    <a:pt x="509" y="980"/>
                    <a:pt x="500" y="989"/>
                    <a:pt x="489" y="989"/>
                  </a:cubicBezTo>
                  <a:cubicBezTo>
                    <a:pt x="477" y="989"/>
                    <a:pt x="469" y="980"/>
                    <a:pt x="469" y="969"/>
                  </a:cubicBezTo>
                  <a:cubicBezTo>
                    <a:pt x="469" y="957"/>
                    <a:pt x="477" y="949"/>
                    <a:pt x="489" y="949"/>
                  </a:cubicBezTo>
                  <a:cubicBezTo>
                    <a:pt x="500" y="949"/>
                    <a:pt x="509" y="957"/>
                    <a:pt x="509" y="969"/>
                  </a:cubicBezTo>
                  <a:close/>
                  <a:moveTo>
                    <a:pt x="468" y="967"/>
                  </a:moveTo>
                  <a:cubicBezTo>
                    <a:pt x="468" y="978"/>
                    <a:pt x="459" y="987"/>
                    <a:pt x="448" y="987"/>
                  </a:cubicBezTo>
                  <a:cubicBezTo>
                    <a:pt x="436" y="987"/>
                    <a:pt x="428" y="978"/>
                    <a:pt x="428" y="967"/>
                  </a:cubicBezTo>
                  <a:cubicBezTo>
                    <a:pt x="428" y="955"/>
                    <a:pt x="436" y="947"/>
                    <a:pt x="448" y="947"/>
                  </a:cubicBezTo>
                  <a:cubicBezTo>
                    <a:pt x="459" y="947"/>
                    <a:pt x="468" y="955"/>
                    <a:pt x="468" y="967"/>
                  </a:cubicBezTo>
                  <a:close/>
                  <a:moveTo>
                    <a:pt x="427" y="960"/>
                  </a:moveTo>
                  <a:cubicBezTo>
                    <a:pt x="427" y="971"/>
                    <a:pt x="418" y="980"/>
                    <a:pt x="407" y="980"/>
                  </a:cubicBezTo>
                  <a:cubicBezTo>
                    <a:pt x="395" y="980"/>
                    <a:pt x="387" y="971"/>
                    <a:pt x="387" y="960"/>
                  </a:cubicBezTo>
                  <a:cubicBezTo>
                    <a:pt x="387" y="948"/>
                    <a:pt x="395" y="940"/>
                    <a:pt x="407" y="940"/>
                  </a:cubicBezTo>
                  <a:cubicBezTo>
                    <a:pt x="418" y="940"/>
                    <a:pt x="427" y="948"/>
                    <a:pt x="427" y="960"/>
                  </a:cubicBezTo>
                  <a:close/>
                  <a:moveTo>
                    <a:pt x="386" y="950"/>
                  </a:moveTo>
                  <a:cubicBezTo>
                    <a:pt x="386" y="961"/>
                    <a:pt x="377" y="970"/>
                    <a:pt x="366" y="970"/>
                  </a:cubicBezTo>
                  <a:cubicBezTo>
                    <a:pt x="354" y="970"/>
                    <a:pt x="346" y="961"/>
                    <a:pt x="346" y="950"/>
                  </a:cubicBezTo>
                  <a:cubicBezTo>
                    <a:pt x="346" y="938"/>
                    <a:pt x="354" y="930"/>
                    <a:pt x="366" y="930"/>
                  </a:cubicBezTo>
                  <a:cubicBezTo>
                    <a:pt x="377" y="930"/>
                    <a:pt x="386" y="938"/>
                    <a:pt x="386" y="950"/>
                  </a:cubicBezTo>
                  <a:close/>
                  <a:moveTo>
                    <a:pt x="347" y="937"/>
                  </a:moveTo>
                  <a:cubicBezTo>
                    <a:pt x="347" y="948"/>
                    <a:pt x="338" y="957"/>
                    <a:pt x="327" y="957"/>
                  </a:cubicBezTo>
                  <a:cubicBezTo>
                    <a:pt x="315" y="957"/>
                    <a:pt x="307" y="948"/>
                    <a:pt x="307" y="937"/>
                  </a:cubicBezTo>
                  <a:cubicBezTo>
                    <a:pt x="307" y="925"/>
                    <a:pt x="315" y="917"/>
                    <a:pt x="327" y="917"/>
                  </a:cubicBezTo>
                  <a:cubicBezTo>
                    <a:pt x="338" y="917"/>
                    <a:pt x="347" y="925"/>
                    <a:pt x="347" y="937"/>
                  </a:cubicBezTo>
                  <a:close/>
                  <a:moveTo>
                    <a:pt x="309" y="920"/>
                  </a:moveTo>
                  <a:cubicBezTo>
                    <a:pt x="309" y="931"/>
                    <a:pt x="300" y="940"/>
                    <a:pt x="289" y="940"/>
                  </a:cubicBezTo>
                  <a:cubicBezTo>
                    <a:pt x="277" y="940"/>
                    <a:pt x="269" y="931"/>
                    <a:pt x="269" y="920"/>
                  </a:cubicBezTo>
                  <a:cubicBezTo>
                    <a:pt x="269" y="908"/>
                    <a:pt x="277" y="900"/>
                    <a:pt x="289" y="900"/>
                  </a:cubicBezTo>
                  <a:cubicBezTo>
                    <a:pt x="300" y="900"/>
                    <a:pt x="309" y="908"/>
                    <a:pt x="309" y="920"/>
                  </a:cubicBezTo>
                  <a:close/>
                  <a:moveTo>
                    <a:pt x="273" y="899"/>
                  </a:moveTo>
                  <a:cubicBezTo>
                    <a:pt x="273" y="910"/>
                    <a:pt x="264" y="919"/>
                    <a:pt x="253" y="919"/>
                  </a:cubicBezTo>
                  <a:cubicBezTo>
                    <a:pt x="241" y="919"/>
                    <a:pt x="233" y="910"/>
                    <a:pt x="233" y="899"/>
                  </a:cubicBezTo>
                  <a:cubicBezTo>
                    <a:pt x="233" y="887"/>
                    <a:pt x="241" y="879"/>
                    <a:pt x="253" y="879"/>
                  </a:cubicBezTo>
                  <a:cubicBezTo>
                    <a:pt x="264" y="879"/>
                    <a:pt x="273" y="887"/>
                    <a:pt x="273" y="899"/>
                  </a:cubicBezTo>
                  <a:close/>
                  <a:moveTo>
                    <a:pt x="238" y="876"/>
                  </a:moveTo>
                  <a:cubicBezTo>
                    <a:pt x="238" y="887"/>
                    <a:pt x="229" y="896"/>
                    <a:pt x="218" y="896"/>
                  </a:cubicBezTo>
                  <a:cubicBezTo>
                    <a:pt x="206" y="896"/>
                    <a:pt x="198" y="887"/>
                    <a:pt x="198" y="876"/>
                  </a:cubicBezTo>
                  <a:cubicBezTo>
                    <a:pt x="198" y="864"/>
                    <a:pt x="206" y="856"/>
                    <a:pt x="218" y="856"/>
                  </a:cubicBezTo>
                  <a:cubicBezTo>
                    <a:pt x="229" y="856"/>
                    <a:pt x="238" y="864"/>
                    <a:pt x="238" y="876"/>
                  </a:cubicBezTo>
                  <a:close/>
                  <a:moveTo>
                    <a:pt x="206" y="850"/>
                  </a:moveTo>
                  <a:cubicBezTo>
                    <a:pt x="206" y="861"/>
                    <a:pt x="197" y="870"/>
                    <a:pt x="186" y="870"/>
                  </a:cubicBezTo>
                  <a:cubicBezTo>
                    <a:pt x="174" y="870"/>
                    <a:pt x="166" y="861"/>
                    <a:pt x="166" y="850"/>
                  </a:cubicBezTo>
                  <a:cubicBezTo>
                    <a:pt x="166" y="838"/>
                    <a:pt x="174" y="830"/>
                    <a:pt x="186" y="830"/>
                  </a:cubicBezTo>
                  <a:cubicBezTo>
                    <a:pt x="197" y="830"/>
                    <a:pt x="206" y="838"/>
                    <a:pt x="206" y="850"/>
                  </a:cubicBezTo>
                  <a:close/>
                  <a:moveTo>
                    <a:pt x="176" y="821"/>
                  </a:moveTo>
                  <a:cubicBezTo>
                    <a:pt x="176" y="832"/>
                    <a:pt x="167" y="841"/>
                    <a:pt x="156" y="841"/>
                  </a:cubicBezTo>
                  <a:cubicBezTo>
                    <a:pt x="144" y="841"/>
                    <a:pt x="136" y="832"/>
                    <a:pt x="136" y="821"/>
                  </a:cubicBezTo>
                  <a:cubicBezTo>
                    <a:pt x="136" y="809"/>
                    <a:pt x="144" y="801"/>
                    <a:pt x="156" y="801"/>
                  </a:cubicBezTo>
                  <a:cubicBezTo>
                    <a:pt x="167" y="801"/>
                    <a:pt x="176" y="809"/>
                    <a:pt x="176" y="821"/>
                  </a:cubicBezTo>
                  <a:close/>
                  <a:moveTo>
                    <a:pt x="149" y="789"/>
                  </a:moveTo>
                  <a:cubicBezTo>
                    <a:pt x="149" y="800"/>
                    <a:pt x="140" y="809"/>
                    <a:pt x="129" y="809"/>
                  </a:cubicBezTo>
                  <a:cubicBezTo>
                    <a:pt x="117" y="809"/>
                    <a:pt x="109" y="800"/>
                    <a:pt x="109" y="789"/>
                  </a:cubicBezTo>
                  <a:cubicBezTo>
                    <a:pt x="109" y="777"/>
                    <a:pt x="117" y="769"/>
                    <a:pt x="129" y="769"/>
                  </a:cubicBezTo>
                  <a:cubicBezTo>
                    <a:pt x="140" y="769"/>
                    <a:pt x="149" y="777"/>
                    <a:pt x="149" y="789"/>
                  </a:cubicBezTo>
                  <a:close/>
                  <a:moveTo>
                    <a:pt x="125" y="755"/>
                  </a:moveTo>
                  <a:cubicBezTo>
                    <a:pt x="125" y="766"/>
                    <a:pt x="116" y="775"/>
                    <a:pt x="105" y="775"/>
                  </a:cubicBezTo>
                  <a:cubicBezTo>
                    <a:pt x="93" y="775"/>
                    <a:pt x="85" y="766"/>
                    <a:pt x="85" y="755"/>
                  </a:cubicBezTo>
                  <a:cubicBezTo>
                    <a:pt x="85" y="743"/>
                    <a:pt x="93" y="735"/>
                    <a:pt x="105" y="735"/>
                  </a:cubicBezTo>
                  <a:cubicBezTo>
                    <a:pt x="116" y="735"/>
                    <a:pt x="125" y="743"/>
                    <a:pt x="125" y="755"/>
                  </a:cubicBezTo>
                  <a:close/>
                  <a:moveTo>
                    <a:pt x="104" y="719"/>
                  </a:moveTo>
                  <a:cubicBezTo>
                    <a:pt x="104" y="730"/>
                    <a:pt x="95" y="739"/>
                    <a:pt x="84" y="739"/>
                  </a:cubicBezTo>
                  <a:cubicBezTo>
                    <a:pt x="72" y="739"/>
                    <a:pt x="64" y="730"/>
                    <a:pt x="64" y="719"/>
                  </a:cubicBezTo>
                  <a:cubicBezTo>
                    <a:pt x="64" y="707"/>
                    <a:pt x="72" y="699"/>
                    <a:pt x="84" y="699"/>
                  </a:cubicBezTo>
                  <a:cubicBezTo>
                    <a:pt x="95" y="699"/>
                    <a:pt x="104" y="707"/>
                    <a:pt x="104" y="719"/>
                  </a:cubicBezTo>
                  <a:close/>
                  <a:moveTo>
                    <a:pt x="86" y="682"/>
                  </a:moveTo>
                  <a:cubicBezTo>
                    <a:pt x="86" y="693"/>
                    <a:pt x="77" y="702"/>
                    <a:pt x="66" y="702"/>
                  </a:cubicBezTo>
                  <a:cubicBezTo>
                    <a:pt x="54" y="702"/>
                    <a:pt x="46" y="693"/>
                    <a:pt x="46" y="682"/>
                  </a:cubicBezTo>
                  <a:cubicBezTo>
                    <a:pt x="46" y="670"/>
                    <a:pt x="54" y="662"/>
                    <a:pt x="66" y="662"/>
                  </a:cubicBezTo>
                  <a:cubicBezTo>
                    <a:pt x="77" y="662"/>
                    <a:pt x="86" y="670"/>
                    <a:pt x="86" y="682"/>
                  </a:cubicBezTo>
                  <a:close/>
                  <a:moveTo>
                    <a:pt x="72" y="643"/>
                  </a:moveTo>
                  <a:cubicBezTo>
                    <a:pt x="72" y="654"/>
                    <a:pt x="63" y="663"/>
                    <a:pt x="52" y="663"/>
                  </a:cubicBezTo>
                  <a:cubicBezTo>
                    <a:pt x="40" y="663"/>
                    <a:pt x="32" y="654"/>
                    <a:pt x="32" y="643"/>
                  </a:cubicBezTo>
                  <a:cubicBezTo>
                    <a:pt x="32" y="631"/>
                    <a:pt x="40" y="623"/>
                    <a:pt x="52" y="623"/>
                  </a:cubicBezTo>
                  <a:cubicBezTo>
                    <a:pt x="63" y="623"/>
                    <a:pt x="72" y="631"/>
                    <a:pt x="72" y="643"/>
                  </a:cubicBezTo>
                  <a:close/>
                  <a:moveTo>
                    <a:pt x="61" y="603"/>
                  </a:moveTo>
                  <a:cubicBezTo>
                    <a:pt x="61" y="614"/>
                    <a:pt x="52" y="623"/>
                    <a:pt x="41" y="623"/>
                  </a:cubicBezTo>
                  <a:cubicBezTo>
                    <a:pt x="29" y="623"/>
                    <a:pt x="21" y="614"/>
                    <a:pt x="21" y="603"/>
                  </a:cubicBezTo>
                  <a:cubicBezTo>
                    <a:pt x="21" y="591"/>
                    <a:pt x="29" y="583"/>
                    <a:pt x="41" y="583"/>
                  </a:cubicBezTo>
                  <a:cubicBezTo>
                    <a:pt x="52" y="583"/>
                    <a:pt x="61" y="591"/>
                    <a:pt x="61" y="603"/>
                  </a:cubicBezTo>
                  <a:close/>
                  <a:moveTo>
                    <a:pt x="54" y="562"/>
                  </a:moveTo>
                  <a:cubicBezTo>
                    <a:pt x="54" y="573"/>
                    <a:pt x="45" y="582"/>
                    <a:pt x="34" y="582"/>
                  </a:cubicBezTo>
                  <a:cubicBezTo>
                    <a:pt x="22" y="582"/>
                    <a:pt x="14" y="573"/>
                    <a:pt x="14" y="562"/>
                  </a:cubicBezTo>
                  <a:cubicBezTo>
                    <a:pt x="14" y="550"/>
                    <a:pt x="22" y="542"/>
                    <a:pt x="34" y="542"/>
                  </a:cubicBezTo>
                  <a:cubicBezTo>
                    <a:pt x="45" y="542"/>
                    <a:pt x="54" y="550"/>
                    <a:pt x="54" y="562"/>
                  </a:cubicBezTo>
                  <a:close/>
                  <a:moveTo>
                    <a:pt x="50" y="520"/>
                  </a:moveTo>
                  <a:cubicBezTo>
                    <a:pt x="50" y="531"/>
                    <a:pt x="41" y="540"/>
                    <a:pt x="30" y="540"/>
                  </a:cubicBezTo>
                  <a:cubicBezTo>
                    <a:pt x="18" y="540"/>
                    <a:pt x="10" y="531"/>
                    <a:pt x="10" y="520"/>
                  </a:cubicBezTo>
                  <a:cubicBezTo>
                    <a:pt x="10" y="508"/>
                    <a:pt x="18" y="500"/>
                    <a:pt x="30" y="500"/>
                  </a:cubicBezTo>
                  <a:cubicBezTo>
                    <a:pt x="41" y="500"/>
                    <a:pt x="50" y="508"/>
                    <a:pt x="50" y="520"/>
                  </a:cubicBezTo>
                  <a:close/>
                  <a:moveTo>
                    <a:pt x="50" y="479"/>
                  </a:moveTo>
                  <a:cubicBezTo>
                    <a:pt x="50" y="490"/>
                    <a:pt x="41" y="499"/>
                    <a:pt x="30" y="499"/>
                  </a:cubicBezTo>
                  <a:cubicBezTo>
                    <a:pt x="18" y="499"/>
                    <a:pt x="10" y="490"/>
                    <a:pt x="10" y="479"/>
                  </a:cubicBezTo>
                  <a:cubicBezTo>
                    <a:pt x="10" y="467"/>
                    <a:pt x="18" y="459"/>
                    <a:pt x="30" y="459"/>
                  </a:cubicBezTo>
                  <a:cubicBezTo>
                    <a:pt x="41" y="459"/>
                    <a:pt x="50" y="467"/>
                    <a:pt x="50" y="479"/>
                  </a:cubicBezTo>
                  <a:close/>
                  <a:moveTo>
                    <a:pt x="54" y="437"/>
                  </a:moveTo>
                  <a:cubicBezTo>
                    <a:pt x="54" y="448"/>
                    <a:pt x="45" y="457"/>
                    <a:pt x="34" y="457"/>
                  </a:cubicBezTo>
                  <a:cubicBezTo>
                    <a:pt x="22" y="457"/>
                    <a:pt x="14" y="448"/>
                    <a:pt x="14" y="437"/>
                  </a:cubicBezTo>
                  <a:cubicBezTo>
                    <a:pt x="14" y="425"/>
                    <a:pt x="22" y="417"/>
                    <a:pt x="34" y="417"/>
                  </a:cubicBezTo>
                  <a:cubicBezTo>
                    <a:pt x="45" y="417"/>
                    <a:pt x="54" y="425"/>
                    <a:pt x="54" y="437"/>
                  </a:cubicBezTo>
                  <a:close/>
                  <a:moveTo>
                    <a:pt x="61" y="396"/>
                  </a:moveTo>
                  <a:cubicBezTo>
                    <a:pt x="61" y="407"/>
                    <a:pt x="52" y="416"/>
                    <a:pt x="41" y="416"/>
                  </a:cubicBezTo>
                  <a:cubicBezTo>
                    <a:pt x="29" y="416"/>
                    <a:pt x="21" y="407"/>
                    <a:pt x="21" y="396"/>
                  </a:cubicBezTo>
                  <a:cubicBezTo>
                    <a:pt x="21" y="384"/>
                    <a:pt x="29" y="376"/>
                    <a:pt x="41" y="376"/>
                  </a:cubicBezTo>
                  <a:cubicBezTo>
                    <a:pt x="52" y="376"/>
                    <a:pt x="61" y="384"/>
                    <a:pt x="61" y="396"/>
                  </a:cubicBezTo>
                  <a:close/>
                  <a:moveTo>
                    <a:pt x="72" y="356"/>
                  </a:moveTo>
                  <a:cubicBezTo>
                    <a:pt x="72" y="367"/>
                    <a:pt x="63" y="376"/>
                    <a:pt x="52" y="376"/>
                  </a:cubicBezTo>
                  <a:cubicBezTo>
                    <a:pt x="40" y="376"/>
                    <a:pt x="32" y="367"/>
                    <a:pt x="32" y="356"/>
                  </a:cubicBezTo>
                  <a:cubicBezTo>
                    <a:pt x="32" y="344"/>
                    <a:pt x="40" y="336"/>
                    <a:pt x="52" y="336"/>
                  </a:cubicBezTo>
                  <a:cubicBezTo>
                    <a:pt x="63" y="336"/>
                    <a:pt x="72" y="344"/>
                    <a:pt x="72" y="356"/>
                  </a:cubicBezTo>
                  <a:close/>
                  <a:moveTo>
                    <a:pt x="86" y="317"/>
                  </a:moveTo>
                  <a:cubicBezTo>
                    <a:pt x="86" y="328"/>
                    <a:pt x="77" y="337"/>
                    <a:pt x="66" y="337"/>
                  </a:cubicBezTo>
                  <a:cubicBezTo>
                    <a:pt x="54" y="337"/>
                    <a:pt x="46" y="328"/>
                    <a:pt x="46" y="317"/>
                  </a:cubicBezTo>
                  <a:cubicBezTo>
                    <a:pt x="46" y="305"/>
                    <a:pt x="54" y="297"/>
                    <a:pt x="66" y="297"/>
                  </a:cubicBezTo>
                  <a:cubicBezTo>
                    <a:pt x="77" y="297"/>
                    <a:pt x="86" y="305"/>
                    <a:pt x="86" y="317"/>
                  </a:cubicBezTo>
                  <a:close/>
                  <a:moveTo>
                    <a:pt x="104" y="280"/>
                  </a:moveTo>
                  <a:cubicBezTo>
                    <a:pt x="104" y="291"/>
                    <a:pt x="95" y="300"/>
                    <a:pt x="84" y="300"/>
                  </a:cubicBezTo>
                  <a:cubicBezTo>
                    <a:pt x="72" y="300"/>
                    <a:pt x="64" y="291"/>
                    <a:pt x="64" y="280"/>
                  </a:cubicBezTo>
                  <a:cubicBezTo>
                    <a:pt x="64" y="268"/>
                    <a:pt x="72" y="260"/>
                    <a:pt x="84" y="260"/>
                  </a:cubicBezTo>
                  <a:cubicBezTo>
                    <a:pt x="95" y="260"/>
                    <a:pt x="104" y="268"/>
                    <a:pt x="104" y="280"/>
                  </a:cubicBezTo>
                  <a:close/>
                  <a:moveTo>
                    <a:pt x="125" y="244"/>
                  </a:moveTo>
                  <a:cubicBezTo>
                    <a:pt x="125" y="255"/>
                    <a:pt x="116" y="264"/>
                    <a:pt x="105" y="264"/>
                  </a:cubicBezTo>
                  <a:cubicBezTo>
                    <a:pt x="93" y="264"/>
                    <a:pt x="85" y="255"/>
                    <a:pt x="85" y="244"/>
                  </a:cubicBezTo>
                  <a:cubicBezTo>
                    <a:pt x="85" y="232"/>
                    <a:pt x="93" y="224"/>
                    <a:pt x="105" y="224"/>
                  </a:cubicBezTo>
                  <a:cubicBezTo>
                    <a:pt x="116" y="224"/>
                    <a:pt x="125" y="232"/>
                    <a:pt x="125" y="244"/>
                  </a:cubicBezTo>
                  <a:close/>
                  <a:moveTo>
                    <a:pt x="149" y="210"/>
                  </a:moveTo>
                  <a:cubicBezTo>
                    <a:pt x="149" y="221"/>
                    <a:pt x="140" y="230"/>
                    <a:pt x="129" y="230"/>
                  </a:cubicBezTo>
                  <a:cubicBezTo>
                    <a:pt x="117" y="230"/>
                    <a:pt x="109" y="221"/>
                    <a:pt x="109" y="210"/>
                  </a:cubicBezTo>
                  <a:cubicBezTo>
                    <a:pt x="109" y="198"/>
                    <a:pt x="117" y="190"/>
                    <a:pt x="129" y="190"/>
                  </a:cubicBezTo>
                  <a:cubicBezTo>
                    <a:pt x="140" y="190"/>
                    <a:pt x="149" y="198"/>
                    <a:pt x="149" y="210"/>
                  </a:cubicBezTo>
                  <a:close/>
                  <a:moveTo>
                    <a:pt x="176" y="178"/>
                  </a:moveTo>
                  <a:cubicBezTo>
                    <a:pt x="176" y="189"/>
                    <a:pt x="167" y="198"/>
                    <a:pt x="156" y="198"/>
                  </a:cubicBezTo>
                  <a:cubicBezTo>
                    <a:pt x="144" y="198"/>
                    <a:pt x="136" y="189"/>
                    <a:pt x="136" y="178"/>
                  </a:cubicBezTo>
                  <a:cubicBezTo>
                    <a:pt x="136" y="166"/>
                    <a:pt x="144" y="158"/>
                    <a:pt x="156" y="158"/>
                  </a:cubicBezTo>
                  <a:cubicBezTo>
                    <a:pt x="167" y="158"/>
                    <a:pt x="176" y="166"/>
                    <a:pt x="176" y="178"/>
                  </a:cubicBezTo>
                  <a:close/>
                  <a:moveTo>
                    <a:pt x="206" y="149"/>
                  </a:moveTo>
                  <a:cubicBezTo>
                    <a:pt x="206" y="160"/>
                    <a:pt x="197" y="169"/>
                    <a:pt x="186" y="169"/>
                  </a:cubicBezTo>
                  <a:cubicBezTo>
                    <a:pt x="174" y="169"/>
                    <a:pt x="166" y="160"/>
                    <a:pt x="166" y="149"/>
                  </a:cubicBezTo>
                  <a:cubicBezTo>
                    <a:pt x="166" y="137"/>
                    <a:pt x="174" y="129"/>
                    <a:pt x="186" y="129"/>
                  </a:cubicBezTo>
                  <a:cubicBezTo>
                    <a:pt x="197" y="129"/>
                    <a:pt x="206" y="137"/>
                    <a:pt x="206" y="149"/>
                  </a:cubicBezTo>
                  <a:close/>
                  <a:moveTo>
                    <a:pt x="238" y="123"/>
                  </a:moveTo>
                  <a:cubicBezTo>
                    <a:pt x="238" y="134"/>
                    <a:pt x="229" y="143"/>
                    <a:pt x="218" y="143"/>
                  </a:cubicBezTo>
                  <a:cubicBezTo>
                    <a:pt x="206" y="143"/>
                    <a:pt x="198" y="134"/>
                    <a:pt x="198" y="123"/>
                  </a:cubicBezTo>
                  <a:cubicBezTo>
                    <a:pt x="198" y="111"/>
                    <a:pt x="206" y="103"/>
                    <a:pt x="218" y="103"/>
                  </a:cubicBezTo>
                  <a:cubicBezTo>
                    <a:pt x="229" y="103"/>
                    <a:pt x="238" y="111"/>
                    <a:pt x="238" y="123"/>
                  </a:cubicBezTo>
                  <a:close/>
                  <a:moveTo>
                    <a:pt x="273" y="100"/>
                  </a:moveTo>
                  <a:cubicBezTo>
                    <a:pt x="273" y="111"/>
                    <a:pt x="264" y="120"/>
                    <a:pt x="253" y="120"/>
                  </a:cubicBezTo>
                  <a:cubicBezTo>
                    <a:pt x="241" y="120"/>
                    <a:pt x="233" y="111"/>
                    <a:pt x="233" y="100"/>
                  </a:cubicBezTo>
                  <a:cubicBezTo>
                    <a:pt x="233" y="88"/>
                    <a:pt x="241" y="80"/>
                    <a:pt x="253" y="80"/>
                  </a:cubicBezTo>
                  <a:cubicBezTo>
                    <a:pt x="264" y="80"/>
                    <a:pt x="273" y="88"/>
                    <a:pt x="273" y="100"/>
                  </a:cubicBezTo>
                  <a:close/>
                  <a:moveTo>
                    <a:pt x="309" y="79"/>
                  </a:moveTo>
                  <a:cubicBezTo>
                    <a:pt x="309" y="90"/>
                    <a:pt x="300" y="99"/>
                    <a:pt x="289" y="99"/>
                  </a:cubicBezTo>
                  <a:cubicBezTo>
                    <a:pt x="277" y="99"/>
                    <a:pt x="269" y="90"/>
                    <a:pt x="269" y="79"/>
                  </a:cubicBezTo>
                  <a:cubicBezTo>
                    <a:pt x="269" y="67"/>
                    <a:pt x="277" y="59"/>
                    <a:pt x="289" y="59"/>
                  </a:cubicBezTo>
                  <a:cubicBezTo>
                    <a:pt x="300" y="59"/>
                    <a:pt x="309" y="67"/>
                    <a:pt x="309" y="79"/>
                  </a:cubicBezTo>
                  <a:close/>
                  <a:moveTo>
                    <a:pt x="347" y="62"/>
                  </a:moveTo>
                  <a:cubicBezTo>
                    <a:pt x="347" y="73"/>
                    <a:pt x="338" y="82"/>
                    <a:pt x="327" y="82"/>
                  </a:cubicBezTo>
                  <a:cubicBezTo>
                    <a:pt x="315" y="82"/>
                    <a:pt x="307" y="73"/>
                    <a:pt x="307" y="62"/>
                  </a:cubicBezTo>
                  <a:cubicBezTo>
                    <a:pt x="307" y="50"/>
                    <a:pt x="315" y="42"/>
                    <a:pt x="327" y="42"/>
                  </a:cubicBezTo>
                  <a:cubicBezTo>
                    <a:pt x="338" y="42"/>
                    <a:pt x="347" y="50"/>
                    <a:pt x="347" y="62"/>
                  </a:cubicBezTo>
                  <a:close/>
                  <a:moveTo>
                    <a:pt x="386" y="49"/>
                  </a:moveTo>
                  <a:cubicBezTo>
                    <a:pt x="386" y="60"/>
                    <a:pt x="377" y="69"/>
                    <a:pt x="366" y="69"/>
                  </a:cubicBezTo>
                  <a:cubicBezTo>
                    <a:pt x="354" y="69"/>
                    <a:pt x="346" y="60"/>
                    <a:pt x="346" y="49"/>
                  </a:cubicBezTo>
                  <a:cubicBezTo>
                    <a:pt x="346" y="37"/>
                    <a:pt x="354" y="29"/>
                    <a:pt x="366" y="29"/>
                  </a:cubicBezTo>
                  <a:cubicBezTo>
                    <a:pt x="377" y="29"/>
                    <a:pt x="386" y="37"/>
                    <a:pt x="386" y="49"/>
                  </a:cubicBezTo>
                  <a:close/>
                  <a:moveTo>
                    <a:pt x="427" y="39"/>
                  </a:moveTo>
                  <a:cubicBezTo>
                    <a:pt x="427" y="50"/>
                    <a:pt x="418" y="59"/>
                    <a:pt x="407" y="59"/>
                  </a:cubicBezTo>
                  <a:cubicBezTo>
                    <a:pt x="395" y="59"/>
                    <a:pt x="387" y="50"/>
                    <a:pt x="387" y="39"/>
                  </a:cubicBezTo>
                  <a:cubicBezTo>
                    <a:pt x="387" y="27"/>
                    <a:pt x="395" y="19"/>
                    <a:pt x="407" y="19"/>
                  </a:cubicBezTo>
                  <a:cubicBezTo>
                    <a:pt x="418" y="19"/>
                    <a:pt x="427" y="27"/>
                    <a:pt x="427" y="39"/>
                  </a:cubicBezTo>
                  <a:close/>
                  <a:moveTo>
                    <a:pt x="468" y="32"/>
                  </a:moveTo>
                  <a:cubicBezTo>
                    <a:pt x="468" y="43"/>
                    <a:pt x="459" y="52"/>
                    <a:pt x="448" y="52"/>
                  </a:cubicBezTo>
                  <a:cubicBezTo>
                    <a:pt x="436" y="52"/>
                    <a:pt x="428" y="43"/>
                    <a:pt x="428" y="32"/>
                  </a:cubicBezTo>
                  <a:cubicBezTo>
                    <a:pt x="428" y="20"/>
                    <a:pt x="436" y="12"/>
                    <a:pt x="448" y="12"/>
                  </a:cubicBezTo>
                  <a:cubicBezTo>
                    <a:pt x="459" y="12"/>
                    <a:pt x="468" y="20"/>
                    <a:pt x="468" y="32"/>
                  </a:cubicBezTo>
                  <a:close/>
                  <a:moveTo>
                    <a:pt x="509" y="30"/>
                  </a:moveTo>
                  <a:cubicBezTo>
                    <a:pt x="509" y="41"/>
                    <a:pt x="500" y="50"/>
                    <a:pt x="489" y="50"/>
                  </a:cubicBezTo>
                  <a:cubicBezTo>
                    <a:pt x="477" y="50"/>
                    <a:pt x="469" y="41"/>
                    <a:pt x="469" y="30"/>
                  </a:cubicBezTo>
                  <a:cubicBezTo>
                    <a:pt x="469" y="18"/>
                    <a:pt x="477" y="10"/>
                    <a:pt x="489" y="10"/>
                  </a:cubicBezTo>
                  <a:cubicBezTo>
                    <a:pt x="500" y="10"/>
                    <a:pt x="509" y="18"/>
                    <a:pt x="509" y="30"/>
                  </a:cubicBezTo>
                  <a:close/>
                  <a:moveTo>
                    <a:pt x="551" y="31"/>
                  </a:moveTo>
                  <a:cubicBezTo>
                    <a:pt x="551" y="42"/>
                    <a:pt x="542" y="51"/>
                    <a:pt x="531" y="51"/>
                  </a:cubicBezTo>
                  <a:cubicBezTo>
                    <a:pt x="519" y="51"/>
                    <a:pt x="511" y="42"/>
                    <a:pt x="511" y="31"/>
                  </a:cubicBezTo>
                  <a:cubicBezTo>
                    <a:pt x="511" y="19"/>
                    <a:pt x="519" y="11"/>
                    <a:pt x="531" y="11"/>
                  </a:cubicBezTo>
                  <a:cubicBezTo>
                    <a:pt x="542" y="11"/>
                    <a:pt x="551" y="19"/>
                    <a:pt x="551" y="31"/>
                  </a:cubicBezTo>
                  <a:close/>
                  <a:moveTo>
                    <a:pt x="592" y="35"/>
                  </a:moveTo>
                  <a:cubicBezTo>
                    <a:pt x="592" y="46"/>
                    <a:pt x="583" y="55"/>
                    <a:pt x="572" y="55"/>
                  </a:cubicBezTo>
                  <a:cubicBezTo>
                    <a:pt x="560" y="55"/>
                    <a:pt x="552" y="46"/>
                    <a:pt x="552" y="35"/>
                  </a:cubicBezTo>
                  <a:cubicBezTo>
                    <a:pt x="552" y="23"/>
                    <a:pt x="560" y="15"/>
                    <a:pt x="572" y="15"/>
                  </a:cubicBezTo>
                  <a:cubicBezTo>
                    <a:pt x="583" y="15"/>
                    <a:pt x="592" y="23"/>
                    <a:pt x="592" y="35"/>
                  </a:cubicBezTo>
                  <a:close/>
                  <a:moveTo>
                    <a:pt x="633" y="43"/>
                  </a:moveTo>
                  <a:cubicBezTo>
                    <a:pt x="633" y="54"/>
                    <a:pt x="624" y="63"/>
                    <a:pt x="613" y="63"/>
                  </a:cubicBezTo>
                  <a:cubicBezTo>
                    <a:pt x="601" y="63"/>
                    <a:pt x="593" y="54"/>
                    <a:pt x="593" y="43"/>
                  </a:cubicBezTo>
                  <a:cubicBezTo>
                    <a:pt x="593" y="31"/>
                    <a:pt x="601" y="23"/>
                    <a:pt x="613" y="23"/>
                  </a:cubicBezTo>
                  <a:cubicBezTo>
                    <a:pt x="624" y="23"/>
                    <a:pt x="633" y="31"/>
                    <a:pt x="633" y="43"/>
                  </a:cubicBezTo>
                  <a:close/>
                  <a:moveTo>
                    <a:pt x="673" y="55"/>
                  </a:moveTo>
                  <a:cubicBezTo>
                    <a:pt x="673" y="66"/>
                    <a:pt x="664" y="75"/>
                    <a:pt x="653" y="75"/>
                  </a:cubicBezTo>
                  <a:cubicBezTo>
                    <a:pt x="641" y="75"/>
                    <a:pt x="633" y="66"/>
                    <a:pt x="633" y="55"/>
                  </a:cubicBezTo>
                  <a:cubicBezTo>
                    <a:pt x="633" y="43"/>
                    <a:pt x="641" y="35"/>
                    <a:pt x="653" y="35"/>
                  </a:cubicBezTo>
                  <a:cubicBezTo>
                    <a:pt x="664" y="35"/>
                    <a:pt x="673" y="43"/>
                    <a:pt x="673" y="55"/>
                  </a:cubicBezTo>
                  <a:close/>
                  <a:moveTo>
                    <a:pt x="711" y="70"/>
                  </a:moveTo>
                  <a:cubicBezTo>
                    <a:pt x="711" y="81"/>
                    <a:pt x="702" y="90"/>
                    <a:pt x="691" y="90"/>
                  </a:cubicBezTo>
                  <a:cubicBezTo>
                    <a:pt x="679" y="90"/>
                    <a:pt x="671" y="81"/>
                    <a:pt x="671" y="70"/>
                  </a:cubicBezTo>
                  <a:cubicBezTo>
                    <a:pt x="671" y="58"/>
                    <a:pt x="679" y="50"/>
                    <a:pt x="691" y="50"/>
                  </a:cubicBezTo>
                  <a:cubicBezTo>
                    <a:pt x="702" y="50"/>
                    <a:pt x="711" y="58"/>
                    <a:pt x="711" y="70"/>
                  </a:cubicBezTo>
                  <a:close/>
                  <a:moveTo>
                    <a:pt x="748" y="89"/>
                  </a:moveTo>
                  <a:cubicBezTo>
                    <a:pt x="748" y="100"/>
                    <a:pt x="739" y="109"/>
                    <a:pt x="728" y="109"/>
                  </a:cubicBezTo>
                  <a:cubicBezTo>
                    <a:pt x="716" y="109"/>
                    <a:pt x="708" y="100"/>
                    <a:pt x="708" y="89"/>
                  </a:cubicBezTo>
                  <a:cubicBezTo>
                    <a:pt x="708" y="77"/>
                    <a:pt x="716" y="69"/>
                    <a:pt x="728" y="69"/>
                  </a:cubicBezTo>
                  <a:cubicBezTo>
                    <a:pt x="739" y="69"/>
                    <a:pt x="748" y="77"/>
                    <a:pt x="748" y="89"/>
                  </a:cubicBezTo>
                  <a:close/>
                  <a:moveTo>
                    <a:pt x="784" y="111"/>
                  </a:moveTo>
                  <a:cubicBezTo>
                    <a:pt x="784" y="122"/>
                    <a:pt x="775" y="131"/>
                    <a:pt x="764" y="131"/>
                  </a:cubicBezTo>
                  <a:cubicBezTo>
                    <a:pt x="752" y="131"/>
                    <a:pt x="744" y="122"/>
                    <a:pt x="744" y="111"/>
                  </a:cubicBezTo>
                  <a:cubicBezTo>
                    <a:pt x="744" y="99"/>
                    <a:pt x="752" y="91"/>
                    <a:pt x="764" y="91"/>
                  </a:cubicBezTo>
                  <a:cubicBezTo>
                    <a:pt x="775" y="91"/>
                    <a:pt x="784" y="99"/>
                    <a:pt x="784" y="111"/>
                  </a:cubicBezTo>
                  <a:close/>
                  <a:moveTo>
                    <a:pt x="817" y="136"/>
                  </a:moveTo>
                  <a:cubicBezTo>
                    <a:pt x="817" y="147"/>
                    <a:pt x="808" y="156"/>
                    <a:pt x="797" y="156"/>
                  </a:cubicBezTo>
                  <a:cubicBezTo>
                    <a:pt x="785" y="156"/>
                    <a:pt x="777" y="147"/>
                    <a:pt x="777" y="136"/>
                  </a:cubicBezTo>
                  <a:cubicBezTo>
                    <a:pt x="777" y="124"/>
                    <a:pt x="785" y="116"/>
                    <a:pt x="797" y="116"/>
                  </a:cubicBezTo>
                  <a:cubicBezTo>
                    <a:pt x="808" y="116"/>
                    <a:pt x="817" y="124"/>
                    <a:pt x="817" y="136"/>
                  </a:cubicBezTo>
                  <a:close/>
                  <a:moveTo>
                    <a:pt x="848" y="164"/>
                  </a:moveTo>
                  <a:cubicBezTo>
                    <a:pt x="848" y="175"/>
                    <a:pt x="839" y="184"/>
                    <a:pt x="828" y="184"/>
                  </a:cubicBezTo>
                  <a:cubicBezTo>
                    <a:pt x="816" y="184"/>
                    <a:pt x="808" y="175"/>
                    <a:pt x="808" y="164"/>
                  </a:cubicBezTo>
                  <a:cubicBezTo>
                    <a:pt x="808" y="152"/>
                    <a:pt x="816" y="144"/>
                    <a:pt x="828" y="144"/>
                  </a:cubicBezTo>
                  <a:cubicBezTo>
                    <a:pt x="839" y="144"/>
                    <a:pt x="848" y="152"/>
                    <a:pt x="848" y="164"/>
                  </a:cubicBezTo>
                  <a:close/>
                  <a:moveTo>
                    <a:pt x="877" y="194"/>
                  </a:moveTo>
                  <a:cubicBezTo>
                    <a:pt x="877" y="205"/>
                    <a:pt x="868" y="214"/>
                    <a:pt x="857" y="214"/>
                  </a:cubicBezTo>
                  <a:cubicBezTo>
                    <a:pt x="845" y="214"/>
                    <a:pt x="837" y="205"/>
                    <a:pt x="837" y="194"/>
                  </a:cubicBezTo>
                  <a:cubicBezTo>
                    <a:pt x="837" y="182"/>
                    <a:pt x="845" y="174"/>
                    <a:pt x="857" y="174"/>
                  </a:cubicBezTo>
                  <a:cubicBezTo>
                    <a:pt x="868" y="174"/>
                    <a:pt x="877" y="182"/>
                    <a:pt x="877" y="194"/>
                  </a:cubicBezTo>
                  <a:close/>
                  <a:moveTo>
                    <a:pt x="902" y="227"/>
                  </a:moveTo>
                  <a:cubicBezTo>
                    <a:pt x="902" y="238"/>
                    <a:pt x="893" y="247"/>
                    <a:pt x="882" y="247"/>
                  </a:cubicBezTo>
                  <a:cubicBezTo>
                    <a:pt x="870" y="247"/>
                    <a:pt x="862" y="238"/>
                    <a:pt x="862" y="227"/>
                  </a:cubicBezTo>
                  <a:cubicBezTo>
                    <a:pt x="862" y="215"/>
                    <a:pt x="870" y="207"/>
                    <a:pt x="882" y="207"/>
                  </a:cubicBezTo>
                  <a:cubicBezTo>
                    <a:pt x="893" y="207"/>
                    <a:pt x="902" y="215"/>
                    <a:pt x="902" y="227"/>
                  </a:cubicBezTo>
                  <a:close/>
                  <a:moveTo>
                    <a:pt x="925" y="262"/>
                  </a:moveTo>
                  <a:cubicBezTo>
                    <a:pt x="925" y="273"/>
                    <a:pt x="916" y="282"/>
                    <a:pt x="905" y="282"/>
                  </a:cubicBezTo>
                  <a:cubicBezTo>
                    <a:pt x="893" y="282"/>
                    <a:pt x="885" y="273"/>
                    <a:pt x="885" y="262"/>
                  </a:cubicBezTo>
                  <a:cubicBezTo>
                    <a:pt x="885" y="250"/>
                    <a:pt x="893" y="242"/>
                    <a:pt x="905" y="242"/>
                  </a:cubicBezTo>
                  <a:cubicBezTo>
                    <a:pt x="916" y="242"/>
                    <a:pt x="925" y="250"/>
                    <a:pt x="925" y="262"/>
                  </a:cubicBezTo>
                  <a:close/>
                  <a:moveTo>
                    <a:pt x="944" y="298"/>
                  </a:moveTo>
                  <a:cubicBezTo>
                    <a:pt x="944" y="309"/>
                    <a:pt x="935" y="318"/>
                    <a:pt x="924" y="318"/>
                  </a:cubicBezTo>
                  <a:cubicBezTo>
                    <a:pt x="912" y="318"/>
                    <a:pt x="904" y="309"/>
                    <a:pt x="904" y="298"/>
                  </a:cubicBezTo>
                  <a:cubicBezTo>
                    <a:pt x="904" y="286"/>
                    <a:pt x="912" y="278"/>
                    <a:pt x="924" y="278"/>
                  </a:cubicBezTo>
                  <a:cubicBezTo>
                    <a:pt x="935" y="278"/>
                    <a:pt x="944" y="286"/>
                    <a:pt x="944" y="298"/>
                  </a:cubicBezTo>
                  <a:close/>
                  <a:moveTo>
                    <a:pt x="960" y="337"/>
                  </a:moveTo>
                  <a:cubicBezTo>
                    <a:pt x="960" y="348"/>
                    <a:pt x="951" y="357"/>
                    <a:pt x="940" y="357"/>
                  </a:cubicBezTo>
                  <a:cubicBezTo>
                    <a:pt x="928" y="357"/>
                    <a:pt x="920" y="348"/>
                    <a:pt x="920" y="337"/>
                  </a:cubicBezTo>
                  <a:cubicBezTo>
                    <a:pt x="920" y="325"/>
                    <a:pt x="928" y="317"/>
                    <a:pt x="940" y="317"/>
                  </a:cubicBezTo>
                  <a:cubicBezTo>
                    <a:pt x="951" y="317"/>
                    <a:pt x="960" y="325"/>
                    <a:pt x="960" y="337"/>
                  </a:cubicBezTo>
                  <a:close/>
                  <a:moveTo>
                    <a:pt x="973" y="376"/>
                  </a:moveTo>
                  <a:cubicBezTo>
                    <a:pt x="973" y="387"/>
                    <a:pt x="964" y="396"/>
                    <a:pt x="953" y="396"/>
                  </a:cubicBezTo>
                  <a:cubicBezTo>
                    <a:pt x="941" y="396"/>
                    <a:pt x="933" y="387"/>
                    <a:pt x="933" y="376"/>
                  </a:cubicBezTo>
                  <a:cubicBezTo>
                    <a:pt x="933" y="364"/>
                    <a:pt x="941" y="356"/>
                    <a:pt x="953" y="356"/>
                  </a:cubicBezTo>
                  <a:cubicBezTo>
                    <a:pt x="964" y="356"/>
                    <a:pt x="973" y="364"/>
                    <a:pt x="973" y="376"/>
                  </a:cubicBezTo>
                  <a:close/>
                  <a:moveTo>
                    <a:pt x="982" y="417"/>
                  </a:moveTo>
                  <a:cubicBezTo>
                    <a:pt x="982" y="428"/>
                    <a:pt x="973" y="437"/>
                    <a:pt x="962" y="437"/>
                  </a:cubicBezTo>
                  <a:cubicBezTo>
                    <a:pt x="950" y="437"/>
                    <a:pt x="942" y="428"/>
                    <a:pt x="942" y="417"/>
                  </a:cubicBezTo>
                  <a:cubicBezTo>
                    <a:pt x="942" y="405"/>
                    <a:pt x="950" y="397"/>
                    <a:pt x="962" y="397"/>
                  </a:cubicBezTo>
                  <a:cubicBezTo>
                    <a:pt x="973" y="397"/>
                    <a:pt x="982" y="405"/>
                    <a:pt x="982" y="417"/>
                  </a:cubicBezTo>
                  <a:close/>
                  <a:moveTo>
                    <a:pt x="988" y="458"/>
                  </a:moveTo>
                  <a:cubicBezTo>
                    <a:pt x="988" y="469"/>
                    <a:pt x="979" y="478"/>
                    <a:pt x="968" y="478"/>
                  </a:cubicBezTo>
                  <a:cubicBezTo>
                    <a:pt x="956" y="478"/>
                    <a:pt x="948" y="469"/>
                    <a:pt x="948" y="458"/>
                  </a:cubicBezTo>
                  <a:cubicBezTo>
                    <a:pt x="948" y="446"/>
                    <a:pt x="956" y="438"/>
                    <a:pt x="968" y="438"/>
                  </a:cubicBezTo>
                  <a:cubicBezTo>
                    <a:pt x="979" y="438"/>
                    <a:pt x="988" y="446"/>
                    <a:pt x="988" y="45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7" name="Forma 6"/>
            <p:cNvSpPr/>
            <p:nvPr/>
          </p:nvSpPr>
          <p:spPr>
            <a:xfrm>
              <a:off x="548640" y="1097280"/>
              <a:ext cx="1463040" cy="1463040"/>
            </a:xfrm>
            <a:custGeom>
              <a:avLst/>
              <a:gdLst/>
              <a:ahLst/>
              <a:cxnLst/>
              <a:rect l="0" t="0" r="r" b="b"/>
              <a:pathLst>
                <a:path w="1000" h="1000" fill="none">
                  <a:moveTo>
                    <a:pt x="30" y="671"/>
                  </a:moveTo>
                  <a:cubicBezTo>
                    <a:pt x="25" y="635"/>
                    <a:pt x="-5" y="526"/>
                    <a:pt x="1" y="456"/>
                  </a:cubicBezTo>
                  <a:cubicBezTo>
                    <a:pt x="7" y="385"/>
                    <a:pt x="30" y="310"/>
                    <a:pt x="66" y="249"/>
                  </a:cubicBezTo>
                  <a:cubicBezTo>
                    <a:pt x="101" y="188"/>
                    <a:pt x="155" y="130"/>
                    <a:pt x="213" y="90"/>
                  </a:cubicBezTo>
                  <a:cubicBezTo>
                    <a:pt x="270" y="49"/>
                    <a:pt x="343" y="19"/>
                    <a:pt x="413" y="7"/>
                  </a:cubicBezTo>
                  <a:cubicBezTo>
                    <a:pt x="482" y="-5"/>
                    <a:pt x="561" y="-1"/>
                    <a:pt x="629" y="17"/>
                  </a:cubicBezTo>
                  <a:cubicBezTo>
                    <a:pt x="697" y="35"/>
                    <a:pt x="767" y="70"/>
                    <a:pt x="821" y="116"/>
                  </a:cubicBezTo>
                  <a:cubicBezTo>
                    <a:pt x="875" y="161"/>
                    <a:pt x="923" y="224"/>
                    <a:pt x="953" y="288"/>
                  </a:cubicBezTo>
                  <a:cubicBezTo>
                    <a:pt x="982" y="351"/>
                    <a:pt x="992" y="463"/>
                    <a:pt x="1000" y="499"/>
                  </a:cubicBezTo>
                </a:path>
              </a:pathLst>
            </a:custGeom>
            <a:noFill/>
            <a:ln w="76200" cap="rnd">
              <a:solidFill>
                <a:srgbClr val="5DADE2"/>
              </a:solidFill>
              <a:round/>
            </a:ln>
          </p:spPr>
        </p:sp>
        <p:sp>
          <p:nvSpPr>
            <p:cNvPr id="8" name="Forma 7"/>
            <p:cNvSpPr txBox="1"/>
            <p:nvPr/>
          </p:nvSpPr>
          <p:spPr>
            <a:xfrm>
              <a:off x="661000" y="845440"/>
              <a:ext cx="914400" cy="237744"/>
            </a:xfrm>
            <a:prstGeom prst="rect">
              <a:avLst/>
            </a:prstGeom>
            <a:noFill/>
            <a:ln>
              <a:noFill/>
            </a:ln>
          </p:spPr>
          <p:txBody>
            <a:bodyPr wrap="square" lIns="0" tIns="0" rIns="0" bIns="0" anchor="ctr" rtlCol="0">
              <a:noAutofit/>
            </a:bodyPr>
            <a:lstStyle/>
            <a:p>
              <a:pPr algn="ctr">
                <a:spcAft>
                  <a:spcPts val="300"/>
                </a:spcAft>
                <a:buNone/>
              </a:pPr>
              <a:r>
                <a:rPr lang="es-AR" sz="1050" b="1" dirty="0">
                  <a:solidFill>
                    <a:srgbClr val="41799E"/>
                  </a:solidFill>
                  <a:latin typeface="Bahnschrift SemiBold Condensed"/>
                  <a:ea typeface="Bahnschrift SemiBold Condensed"/>
                  <a:cs typeface="Bahnschrift SemiBold Condensed"/>
                  <a:sym typeface="Bahnschrift SemiBold Condensed"/>
                </a:rPr>
                <a:t>ApoA-I</a:t>
              </a:r>
              <a:endParaRPr lang="es-AR" sz="1050" dirty="0">
                <a:latin typeface="Bahnschrift SemiBold Condensed"/>
              </a:endParaRPr>
            </a:p>
          </p:txBody>
        </p:sp>
        <p:sp>
          <p:nvSpPr>
            <p:cNvPr id="9" name="Forma 8"/>
            <p:cNvSpPr txBox="1"/>
            <p:nvPr/>
          </p:nvSpPr>
          <p:spPr>
            <a:xfrm>
              <a:off x="548640" y="1536192"/>
              <a:ext cx="1463040" cy="585216"/>
            </a:xfrm>
            <a:prstGeom prst="rect">
              <a:avLst/>
            </a:prstGeom>
            <a:noFill/>
            <a:ln>
              <a:noFill/>
            </a:ln>
          </p:spPr>
          <p:txBody>
            <a:bodyPr wrap="square" lIns="0" tIns="0" rIns="0" bIns="0" anchor="ctr" rtlCol="0">
              <a:noAutofit/>
            </a:bodyPr>
            <a:lstStyle/>
            <a:p>
              <a:pPr algn="ctr">
                <a:spcAft>
                  <a:spcPts val="300"/>
                </a:spcAft>
                <a:buNone/>
              </a:pPr>
              <a:r>
                <a:rPr lang="es-AR" sz="1800" b="1" dirty="0">
                  <a:solidFill>
                    <a:srgbClr val="1E1E1E"/>
                  </a:solidFill>
                  <a:latin typeface="Bahnschrift SemiBold Condensed"/>
                  <a:ea typeface="Bahnschrift SemiBold Condensed"/>
                  <a:cs typeface="Bahnschrift SemiBold Condensed"/>
                  <a:sym typeface="Bahnschrift SemiBold Condensed"/>
                </a:rPr>
                <a:t>HDL</a:t>
              </a:r>
              <a:endParaRPr lang="es-AR" sz="1800" dirty="0">
                <a:latin typeface="Bahnschrift SemiBold Condensed"/>
              </a:endParaRPr>
            </a:p>
          </p:txBody>
        </p:sp>
      </p:grpSp>
      <p:grpSp>
        <p:nvGrpSpPr>
          <p:cNvPr id="10" name="Recuadro HDL"/>
          <p:cNvGrpSpPr/>
          <p:nvPr/>
        </p:nvGrpSpPr>
        <p:grpSpPr>
          <a:xfrm>
            <a:off x="2377440" y="1005840"/>
            <a:ext cx="3931920" cy="1920240"/>
            <a:chOff x="2377440" y="1005840"/>
            <a:chExt cx="3931920" cy="1920240"/>
          </a:xfrm>
        </p:grpSpPr>
        <p:sp>
          <p:nvSpPr>
            <p:cNvPr id="11" name="Forma 10"/>
            <p:cNvSpPr/>
            <p:nvPr/>
          </p:nvSpPr>
          <p:spPr>
            <a:xfrm>
              <a:off x="2377440" y="1188720"/>
              <a:ext cx="3931920" cy="1737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Intercambia apoproteínas y lípidos.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LCAT</a:t>
              </a:r>
              <a:r>
                <a:rPr lang="es-AR" sz="1600" dirty="0">
                  <a:solidFill>
                    <a:srgbClr val="1E1E1E"/>
                  </a:solidFill>
                  <a:latin typeface="Bahnschrift"/>
                  <a:ea typeface="Bahnschrift"/>
                  <a:cs typeface="Bahnschrift"/>
                  <a:sym typeface="Bahnschrift"/>
                </a:rPr>
                <a:t> esterifica colesterol en la HDL.</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CETP</a:t>
              </a:r>
              <a:r>
                <a:rPr lang="es-AR" sz="1600" dirty="0">
                  <a:solidFill>
                    <a:srgbClr val="1E1E1E"/>
                  </a:solidFill>
                  <a:latin typeface="Bahnschrift"/>
                  <a:ea typeface="Bahnschrift"/>
                  <a:cs typeface="Bahnschrift"/>
                  <a:sym typeface="Bahnschrift"/>
                </a:rPr>
                <a:t> intercambia ésteres de colesterol por TAG de VLDL/remanentes.</a:t>
              </a:r>
              <a:endParaRPr lang="es-AR" sz="1600" dirty="0">
                <a:latin typeface="Bahnschrift"/>
              </a:endParaRPr>
            </a:p>
          </p:txBody>
        </p:sp>
        <p:sp>
          <p:nvSpPr>
            <p:cNvPr id="12" name="Forma 11"/>
            <p:cNvSpPr/>
            <p:nvPr/>
          </p:nvSpPr>
          <p:spPr>
            <a:xfrm>
              <a:off x="2487168" y="1005840"/>
              <a:ext cx="60482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HDL</a:t>
              </a:r>
              <a:endParaRPr lang="es-AR" sz="1450" dirty="0">
                <a:latin typeface="Bahnschrift SemiBold Condensed"/>
              </a:endParaRPr>
            </a:p>
          </p:txBody>
        </p:sp>
      </p:grpSp>
      <p:sp>
        <p:nvSpPr>
          <p:cNvPr id="13" name="Perla"/>
          <p:cNvSpPr/>
          <p:nvPr/>
        </p:nvSpPr>
        <p:spPr>
          <a:xfrm>
            <a:off x="365760" y="3108960"/>
            <a:ext cx="5943600" cy="9144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El valor de </a:t>
            </a:r>
            <a:r>
              <a:rPr lang="es-AR" sz="1650" b="1" dirty="0">
                <a:solidFill>
                  <a:srgbClr val="FFFFFF"/>
                </a:solidFill>
                <a:latin typeface="Bahnschrift"/>
                <a:ea typeface="Bahnschrift"/>
                <a:cs typeface="Bahnschrift"/>
                <a:sym typeface="Bahnschrift"/>
              </a:rPr>
              <a:t>HDL-C</a:t>
            </a:r>
            <a:r>
              <a:rPr lang="es-AR" sz="1650" dirty="0">
                <a:solidFill>
                  <a:srgbClr val="FFFFFF"/>
                </a:solidFill>
                <a:latin typeface="Bahnschrift"/>
                <a:ea typeface="Bahnschrift"/>
                <a:cs typeface="Bahnschrift"/>
                <a:sym typeface="Bahnschrift"/>
              </a:rPr>
              <a:t> no resume automáticamente la </a:t>
            </a:r>
            <a:r>
              <a:rPr lang="es-AR" sz="1650" b="1" dirty="0">
                <a:solidFill>
                  <a:srgbClr val="FFFFFF"/>
                </a:solidFill>
                <a:latin typeface="Bahnschrift"/>
                <a:ea typeface="Bahnschrift"/>
                <a:cs typeface="Bahnschrift"/>
                <a:sym typeface="Bahnschrift"/>
              </a:rPr>
              <a:t>funcionalidad</a:t>
            </a:r>
            <a:r>
              <a:rPr lang="es-AR" sz="1650" dirty="0">
                <a:solidFill>
                  <a:srgbClr val="FFFFFF"/>
                </a:solidFill>
                <a:latin typeface="Bahnschrift"/>
                <a:ea typeface="Bahnschrift"/>
                <a:cs typeface="Bahnschrift"/>
                <a:sym typeface="Bahnschrift"/>
              </a:rPr>
              <a:t> de la HDL.</a:t>
            </a:r>
            <a:endParaRPr lang="es-AR" sz="1650" dirty="0">
              <a:latin typeface="Bahnschrift"/>
            </a:endParaRPr>
          </a:p>
        </p:txBody>
      </p:sp>
      <p:grpSp>
        <p:nvGrpSpPr>
          <p:cNvPr id="14" name="Recuadro Alimentación"/>
          <p:cNvGrpSpPr/>
          <p:nvPr/>
        </p:nvGrpSpPr>
        <p:grpSpPr>
          <a:xfrm>
            <a:off x="6583680" y="1005840"/>
            <a:ext cx="5212080" cy="1737360"/>
            <a:chOff x="6583680" y="1005840"/>
            <a:chExt cx="5212080" cy="1737360"/>
          </a:xfrm>
        </p:grpSpPr>
        <p:sp>
          <p:nvSpPr>
            <p:cNvPr id="15" name="Forma 14"/>
            <p:cNvSpPr/>
            <p:nvPr/>
          </p:nvSpPr>
          <p:spPr>
            <a:xfrm>
              <a:off x="6583680" y="1188720"/>
              <a:ext cx="5212080" cy="15544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Alimentación</a:t>
              </a:r>
              <a:r>
                <a:rPr lang="es-AR" sz="1600" dirty="0">
                  <a:solidFill>
                    <a:srgbClr val="1E1E1E"/>
                  </a:solidFill>
                  <a:latin typeface="Bahnschrift"/>
                  <a:ea typeface="Bahnschrift"/>
                  <a:cs typeface="Bahnschrift"/>
                  <a:sym typeface="Bahnschrift"/>
                </a:rPr>
                <a:t>: aparecen QM; el hígado sigue secretando VLDL; ambos </a:t>
              </a:r>
              <a:r>
                <a:rPr lang="es-AR" sz="1600" b="1" dirty="0">
                  <a:solidFill>
                    <a:srgbClr val="1E1E1E"/>
                  </a:solidFill>
                  <a:latin typeface="Bahnschrift"/>
                  <a:ea typeface="Bahnschrift"/>
                  <a:cs typeface="Bahnschrift"/>
                  <a:sym typeface="Bahnschrift"/>
                </a:rPr>
                <a:t>compiten</a:t>
              </a:r>
              <a:r>
                <a:rPr lang="es-AR" sz="1600" dirty="0">
                  <a:solidFill>
                    <a:srgbClr val="1E1E1E"/>
                  </a:solidFill>
                  <a:latin typeface="Bahnschrift"/>
                  <a:ea typeface="Bahnschrift"/>
                  <a:cs typeface="Bahnschrift"/>
                  <a:sym typeface="Bahnschrift"/>
                </a:rPr>
                <a:t> por la depuración de TAG (LPL).</a:t>
              </a:r>
              <a:endParaRPr lang="es-AR" sz="1600" dirty="0">
                <a:latin typeface="Bahnschrift"/>
              </a:endParaRPr>
            </a:p>
          </p:txBody>
        </p:sp>
        <p:sp>
          <p:nvSpPr>
            <p:cNvPr id="16" name="Forma 15"/>
            <p:cNvSpPr/>
            <p:nvPr/>
          </p:nvSpPr>
          <p:spPr>
            <a:xfrm>
              <a:off x="6693408" y="1005840"/>
              <a:ext cx="137662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ALIMENTACIÓN</a:t>
              </a:r>
              <a:endParaRPr lang="es-AR" sz="1450" dirty="0">
                <a:latin typeface="Bahnschrift SemiBold Condensed"/>
              </a:endParaRPr>
            </a:p>
          </p:txBody>
        </p:sp>
      </p:grpSp>
      <p:grpSp>
        <p:nvGrpSpPr>
          <p:cNvPr id="17" name="Recuadro Ayuno"/>
          <p:cNvGrpSpPr/>
          <p:nvPr/>
        </p:nvGrpSpPr>
        <p:grpSpPr>
          <a:xfrm>
            <a:off x="6583680" y="2880360"/>
            <a:ext cx="5212080" cy="1737360"/>
            <a:chOff x="6583680" y="2880360"/>
            <a:chExt cx="5212080" cy="1737360"/>
          </a:xfrm>
        </p:grpSpPr>
        <p:sp>
          <p:nvSpPr>
            <p:cNvPr id="18" name="Forma 17"/>
            <p:cNvSpPr/>
            <p:nvPr/>
          </p:nvSpPr>
          <p:spPr>
            <a:xfrm>
              <a:off x="6583680" y="3063240"/>
              <a:ext cx="5212080" cy="15544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Ayuno</a:t>
              </a:r>
              <a:r>
                <a:rPr lang="es-AR" sz="1600" dirty="0">
                  <a:solidFill>
                    <a:srgbClr val="1E1E1E"/>
                  </a:solidFill>
                  <a:latin typeface="Bahnschrift"/>
                  <a:ea typeface="Bahnschrift"/>
                  <a:cs typeface="Bahnschrift"/>
                  <a:sym typeface="Bahnschrift"/>
                </a:rPr>
                <a:t>: casi no deberían persistir QM; la </a:t>
              </a:r>
              <a:r>
                <a:rPr lang="es-AR" sz="1600" b="1" dirty="0">
                  <a:solidFill>
                    <a:srgbClr val="1E1E1E"/>
                  </a:solidFill>
                  <a:latin typeface="Bahnschrift"/>
                  <a:ea typeface="Bahnschrift"/>
                  <a:cs typeface="Bahnschrift"/>
                  <a:sym typeface="Bahnschrift"/>
                </a:rPr>
                <a:t>VLDL sí circula</a:t>
              </a:r>
              <a:r>
                <a:rPr lang="es-AR" sz="1600" dirty="0">
                  <a:solidFill>
                    <a:srgbClr val="1E1E1E"/>
                  </a:solidFill>
                  <a:latin typeface="Bahnschrift"/>
                  <a:ea typeface="Bahnschrift"/>
                  <a:cs typeface="Bahnschrift"/>
                  <a:sym typeface="Bahnschrift"/>
                </a:rPr>
                <a:t> (AG del adiposo). Un ayuno insuficiente puede mostrar QM tras una comida grasa.</a:t>
              </a:r>
              <a:endParaRPr lang="es-AR" sz="1600" dirty="0">
                <a:latin typeface="Bahnschrift"/>
              </a:endParaRPr>
            </a:p>
          </p:txBody>
        </p:sp>
        <p:sp>
          <p:nvSpPr>
            <p:cNvPr id="19" name="Forma 18"/>
            <p:cNvSpPr/>
            <p:nvPr/>
          </p:nvSpPr>
          <p:spPr>
            <a:xfrm>
              <a:off x="6693408" y="2880360"/>
              <a:ext cx="80501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AYUNO</a:t>
              </a:r>
              <a:endParaRPr lang="es-AR" sz="1450" dirty="0">
                <a:latin typeface="Bahnschrift SemiBold Condensed"/>
              </a:endParaRPr>
            </a:p>
          </p:txBody>
        </p:sp>
      </p:grpSp>
      <p:grpSp>
        <p:nvGrpSpPr>
          <p:cNvPr id="20" name="Recuadro Enfermedad"/>
          <p:cNvGrpSpPr/>
          <p:nvPr/>
        </p:nvGrpSpPr>
        <p:grpSpPr>
          <a:xfrm>
            <a:off x="365760" y="4206240"/>
            <a:ext cx="11430000" cy="2286000"/>
            <a:chOff x="365760" y="4206240"/>
            <a:chExt cx="11430000" cy="2286000"/>
          </a:xfrm>
        </p:grpSpPr>
        <p:sp>
          <p:nvSpPr>
            <p:cNvPr id="21" name="Forma 20"/>
            <p:cNvSpPr/>
            <p:nvPr/>
          </p:nvSpPr>
          <p:spPr>
            <a:xfrm>
              <a:off x="365760" y="4389120"/>
              <a:ext cx="11430000" cy="2103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Deficiencia de </a:t>
              </a:r>
              <a:r>
                <a:rPr lang="es-AR" sz="1700" b="1" dirty="0">
                  <a:solidFill>
                    <a:srgbClr val="1E1E1E"/>
                  </a:solidFill>
                  <a:latin typeface="Bahnschrift"/>
                  <a:ea typeface="Bahnschrift"/>
                  <a:cs typeface="Bahnschrift"/>
                  <a:sym typeface="Bahnschrift"/>
                </a:rPr>
                <a:t>LPL, ApoC-II, GPIHBP1 o APOA5</a:t>
              </a:r>
              <a:r>
                <a:rPr lang="es-AR" sz="1700" dirty="0">
                  <a:solidFill>
                    <a:srgbClr val="1E1E1E"/>
                  </a:solidFill>
                  <a:latin typeface="Bahnschrift"/>
                  <a:ea typeface="Bahnschrift"/>
                  <a:cs typeface="Bahnschrift"/>
                  <a:sym typeface="Bahnschrift"/>
                </a:rPr>
                <a:t> → </a:t>
              </a:r>
              <a:r>
                <a:rPr lang="es-AR" sz="1700" b="1" dirty="0">
                  <a:solidFill>
                    <a:srgbClr val="1E1E1E"/>
                  </a:solidFill>
                  <a:latin typeface="Bahnschrift"/>
                  <a:ea typeface="Bahnschrift"/>
                  <a:cs typeface="Bahnschrift"/>
                  <a:sym typeface="Bahnschrift"/>
                </a:rPr>
                <a:t>quilomicronemia</a:t>
              </a:r>
              <a:r>
                <a:rPr lang="es-AR" sz="1700" dirty="0">
                  <a:solidFill>
                    <a:srgbClr val="1E1E1E"/>
                  </a:solidFill>
                  <a:latin typeface="Bahnschrift"/>
                  <a:ea typeface="Bahnschrift"/>
                  <a:cs typeface="Bahnschrift"/>
                  <a:sym typeface="Bahnschrift"/>
                </a:rPr>
                <a:t> severa, hipertrigliceridemia y riesgo de </a:t>
              </a:r>
              <a:r>
                <a:rPr lang="es-AR" sz="1700" b="1" dirty="0">
                  <a:solidFill>
                    <a:srgbClr val="1E1E1E"/>
                  </a:solidFill>
                  <a:latin typeface="Bahnschrift"/>
                  <a:ea typeface="Bahnschrift"/>
                  <a:cs typeface="Bahnschrift"/>
                  <a:sym typeface="Bahnschrift"/>
                </a:rPr>
                <a:t>pancreatitis</a:t>
              </a:r>
              <a:r>
                <a:rPr lang="es-AR" sz="1700" dirty="0">
                  <a:solidFill>
                    <a:srgbClr val="1E1E1E"/>
                  </a:solidFill>
                  <a:latin typeface="Bahnschrift"/>
                  <a:ea typeface="Bahnschrift"/>
                  <a:cs typeface="Bahnschrift"/>
                  <a:sym typeface="Bahnschrift"/>
                </a:rPr>
                <a:t>.</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Resistencia insulínica</a:t>
              </a:r>
              <a:r>
                <a:rPr lang="es-AR" sz="1700" dirty="0">
                  <a:solidFill>
                    <a:srgbClr val="1E1E1E"/>
                  </a:solidFill>
                  <a:latin typeface="Bahnschrift"/>
                  <a:ea typeface="Bahnschrift"/>
                  <a:cs typeface="Bahnschrift"/>
                  <a:sym typeface="Bahnschrift"/>
                </a:rPr>
                <a:t>: exceso de AG hepáticos, DNL y alteración de la depuración → ↑ </a:t>
              </a:r>
              <a:r>
                <a:rPr lang="es-AR" sz="1700" b="1" dirty="0">
                  <a:solidFill>
                    <a:srgbClr val="1E1E1E"/>
                  </a:solidFill>
                  <a:latin typeface="Bahnschrift"/>
                  <a:ea typeface="Bahnschrift"/>
                  <a:cs typeface="Bahnschrift"/>
                  <a:sym typeface="Bahnschrift"/>
                </a:rPr>
                <a:t>VLDL</a:t>
              </a:r>
              <a:r>
                <a:rPr lang="es-AR" sz="1700" dirty="0">
                  <a:solidFill>
                    <a:srgbClr val="1E1E1E"/>
                  </a:solidFill>
                  <a:latin typeface="Bahnschrift"/>
                  <a:ea typeface="Bahnschrift"/>
                  <a:cs typeface="Bahnschrift"/>
                  <a:sym typeface="Bahnschrift"/>
                </a:rPr>
                <a:t> y partículas </a:t>
              </a:r>
              <a:r>
                <a:rPr lang="es-AR" sz="1700" b="1" dirty="0">
                  <a:solidFill>
                    <a:srgbClr val="1E1E1E"/>
                  </a:solidFill>
                  <a:latin typeface="Bahnschrift"/>
                  <a:ea typeface="Bahnschrift"/>
                  <a:cs typeface="Bahnschrift"/>
                  <a:sym typeface="Bahnschrift"/>
                </a:rPr>
                <a:t>remanentes</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2" name="Forma 21"/>
            <p:cNvSpPr/>
            <p:nvPr/>
          </p:nvSpPr>
          <p:spPr>
            <a:xfrm>
              <a:off x="475488" y="4206240"/>
              <a:ext cx="133181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ENFERMEDAD</a:t>
              </a:r>
              <a:endParaRPr lang="es-AR" sz="155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76748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50" b="1" dirty="0">
                <a:solidFill>
                  <a:srgbClr val="1E1E1E"/>
                </a:solidFill>
                <a:latin typeface="Bahnschrift SemiBold Condensed"/>
                <a:ea typeface="Bahnschrift SemiBold Condensed"/>
                <a:cs typeface="Bahnschrift SemiBold Condensed"/>
                <a:sym typeface="Bahnschrift SemiBold Condensed"/>
              </a:rPr>
              <a:t>19 · HDL, INTERCAMBIO DE LÍPIDOS Y CAMBIO ALIMENTACIÓN–AYUNO</a:t>
            </a:r>
            <a:endParaRPr lang="es-AR" sz="2550" dirty="0">
              <a:latin typeface="Bahnschrift SemiBold Condensed"/>
            </a:endParaRPr>
          </a:p>
        </p:txBody>
      </p:sp>
      <p:sp>
        <p:nvSpPr>
          <p:cNvPr id="2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1"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10"/>
                                        </p:tgtEl>
                                        <p:attrNameLst>
                                          <p:attrName>style.visibility</p:attrName>
                                        </p:attrNameLst>
                                      </p:cBhvr>
                                      <p:to>
                                        <p:strVal val="visible"/>
                                      </p:to>
                                    </p:set>
                                    <p:animEffect transition="in" filter="fade">
                                      <p:cBhvr>
                                        <p:cTn id="9" dur="500"/>
                                        <p:tgtEl>
                                          <p:spTgt spid="10"/>
                                        </p:tgtEl>
                                      </p:cBhvr>
                                    </p:animEffect>
                                  </p:childTnLst>
                                </p:cTn>
                              </p:par>
                            </p:childTnLst>
                          </p:cTn>
                        </p:par>
                      </p:childTnLst>
                    </p:cTn>
                  </p:par>
                  <p:par>
                    <p:cTn id="16" fill="hold">
                      <p:stCondLst>
                        <p:cond delay="indefinite"/>
                      </p:stCondLst>
                      <p:childTnLst>
                        <p:par>
                          <p:cTn id="15"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500"/>
                                        <p:tgtEl>
                                          <p:spTgt spid="13"/>
                                        </p:tgtEl>
                                      </p:cBhvr>
                                    </p:animEffect>
                                  </p:childTnLst>
                                </p:cTn>
                              </p:par>
                            </p:childTnLst>
                          </p:cTn>
                        </p:par>
                      </p:childTnLst>
                    </p:cTn>
                  </p:par>
                  <p:par>
                    <p:cTn id="21" fill="hold">
                      <p:stCondLst>
                        <p:cond delay="indefinite"/>
                      </p:stCondLst>
                      <p:childTnLst>
                        <p:par>
                          <p:cTn id="20"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par>
                    <p:cTn id="26" fill="hold">
                      <p:stCondLst>
                        <p:cond delay="indefinite"/>
                      </p:stCondLst>
                      <p:childTnLst>
                        <p:par>
                          <p:cTn id="25"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31"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18.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Subunidad alfa"/>
          <p:cNvSpPr/>
          <p:nvPr/>
        </p:nvSpPr>
        <p:spPr>
          <a:xfrm>
            <a:off x="914400" y="1645920"/>
            <a:ext cx="2011680" cy="1463040"/>
          </a:xfrm>
          <a:prstGeom prst="roundRect">
            <a:avLst>
              <a:gd name="adj" fmla="val 30000"/>
            </a:avLst>
          </a:prstGeom>
          <a:gradFill rotWithShape="1">
            <a:gsLst>
              <a:gs pos="0">
                <a:srgbClr val="EF8A80"/>
              </a:gs>
              <a:gs pos="55000">
                <a:srgbClr val="E74C3C"/>
              </a:gs>
              <a:gs pos="100000">
                <a:srgbClr val="B83C3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α</a:t>
            </a:r>
            <a:endParaRPr lang="es-AR" sz="1600" dirty="0">
              <a:latin typeface="Bahnschrift SemiBold Condensed"/>
            </a:endParaRPr>
          </a:p>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(catalítica)</a:t>
            </a:r>
            <a:endParaRPr lang="es-AR" sz="1600" dirty="0">
              <a:latin typeface="Bahnschrift SemiBold Condensed"/>
            </a:endParaRPr>
          </a:p>
        </p:txBody>
      </p:sp>
      <p:sp>
        <p:nvSpPr>
          <p:cNvPr id="5" name="Subunidad beta"/>
          <p:cNvSpPr/>
          <p:nvPr/>
        </p:nvSpPr>
        <p:spPr>
          <a:xfrm>
            <a:off x="2926080" y="1645920"/>
            <a:ext cx="1280160" cy="1463040"/>
          </a:xfrm>
          <a:prstGeom prst="roundRect">
            <a:avLst>
              <a:gd name="adj" fmla="val 30000"/>
            </a:avLst>
          </a:prstGeom>
          <a:gradFill rotWithShape="1">
            <a:gsLst>
              <a:gs pos="0">
                <a:srgbClr val="F8CB83"/>
              </a:gs>
              <a:gs pos="55000">
                <a:srgbClr val="F5B041"/>
              </a:gs>
              <a:gs pos="100000">
                <a:srgbClr val="C48C34"/>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β</a:t>
            </a:r>
            <a:endParaRPr lang="es-AR" sz="2000" dirty="0">
              <a:latin typeface="Bahnschrift SemiBold Condensed"/>
            </a:endParaRPr>
          </a:p>
        </p:txBody>
      </p:sp>
      <p:sp>
        <p:nvSpPr>
          <p:cNvPr id="6" name="Subunidad gamma"/>
          <p:cNvSpPr/>
          <p:nvPr/>
        </p:nvSpPr>
        <p:spPr>
          <a:xfrm>
            <a:off x="4206240" y="1645920"/>
            <a:ext cx="1645920" cy="1463040"/>
          </a:xfrm>
          <a:prstGeom prst="roundRect">
            <a:avLst>
              <a:gd name="adj" fmla="val 30000"/>
            </a:avLst>
          </a:prstGeom>
          <a:gradFill rotWithShape="1">
            <a:gsLst>
              <a:gs pos="0">
                <a:srgbClr val="95C9EC"/>
              </a:gs>
              <a:gs pos="55000">
                <a:srgbClr val="5DADE2"/>
              </a:gs>
              <a:gs pos="100000">
                <a:srgbClr val="4A8AB4"/>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γ</a:t>
            </a:r>
            <a:endParaRPr lang="es-AR" sz="1600" dirty="0">
              <a:latin typeface="Bahnschrift SemiBold Condensed"/>
            </a:endParaRPr>
          </a:p>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(sensor)</a:t>
            </a:r>
            <a:endParaRPr lang="es-AR" sz="1600" dirty="0">
              <a:latin typeface="Bahnschrift SemiBold Condensed"/>
            </a:endParaRPr>
          </a:p>
        </p:txBody>
      </p:sp>
      <p:sp>
        <p:nvSpPr>
          <p:cNvPr id="7" name="AMP ADP"/>
          <p:cNvSpPr/>
          <p:nvPr/>
        </p:nvSpPr>
        <p:spPr>
          <a:xfrm>
            <a:off x="4572000" y="3291840"/>
            <a:ext cx="1188720" cy="45720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AMP/ADP</a:t>
            </a:r>
            <a:endParaRPr lang="es-AR" sz="850" dirty="0">
              <a:latin typeface="Bahnschrift SemiBold Condensed"/>
            </a:endParaRPr>
          </a:p>
        </p:txBody>
      </p:sp>
      <p:sp>
        <p:nvSpPr>
          <p:cNvPr id="8" name="Thr172"/>
          <p:cNvSpPr/>
          <p:nvPr/>
        </p:nvSpPr>
        <p:spPr>
          <a:xfrm>
            <a:off x="1463040" y="1143000"/>
            <a:ext cx="118872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0" b="1" dirty="0">
                <a:solidFill>
                  <a:srgbClr val="1E1E1E"/>
                </a:solidFill>
                <a:latin typeface="Bahnschrift SemiBold Condensed"/>
                <a:ea typeface="Bahnschrift SemiBold Condensed"/>
                <a:cs typeface="Bahnschrift SemiBold Condensed"/>
                <a:sym typeface="Bahnschrift SemiBold Condensed"/>
              </a:rPr>
              <a:t>P-Thr172</a:t>
            </a:r>
            <a:endParaRPr lang="es-AR" sz="850" dirty="0">
              <a:latin typeface="Bahnschrift SemiBold Condensed"/>
            </a:endParaRPr>
          </a:p>
        </p:txBody>
      </p:sp>
      <p:sp>
        <p:nvSpPr>
          <p:cNvPr id="9" name="LKB1"/>
          <p:cNvSpPr/>
          <p:nvPr/>
        </p:nvSpPr>
        <p:spPr>
          <a:xfrm>
            <a:off x="365760" y="3383280"/>
            <a:ext cx="620158"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LKB1</a:t>
            </a:r>
            <a:endParaRPr lang="es-AR" sz="1250" dirty="0">
              <a:latin typeface="Bahnschrift SemiBold Condensed"/>
            </a:endParaRPr>
          </a:p>
        </p:txBody>
      </p:sp>
      <p:sp>
        <p:nvSpPr>
          <p:cNvPr id="10" name="CaMKK"/>
          <p:cNvSpPr/>
          <p:nvPr/>
        </p:nvSpPr>
        <p:spPr>
          <a:xfrm>
            <a:off x="1371600" y="3383280"/>
            <a:ext cx="1284151"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CaMKKβ (Ca</a:t>
            </a:r>
            <a:r>
              <a:rPr lang="es-AR" sz="1250" b="1" baseline="30000" dirty="0">
                <a:solidFill>
                  <a:srgbClr val="1F3864"/>
                </a:solidFill>
                <a:latin typeface="Bahnschrift SemiBold Condensed"/>
                <a:ea typeface="Bahnschrift SemiBold Condensed"/>
                <a:cs typeface="Bahnschrift SemiBold Condensed"/>
                <a:sym typeface="Bahnschrift SemiBold Condensed"/>
              </a:rPr>
              <a:t>2+</a:t>
            </a:r>
            <a:r>
              <a:rPr lang="es-AR" sz="1250" b="1" dirty="0">
                <a:solidFill>
                  <a:srgbClr val="1F3864"/>
                </a:solidFill>
                <a:latin typeface="Bahnschrift SemiBold Condensed"/>
                <a:ea typeface="Bahnschrift SemiBold Condensed"/>
                <a:cs typeface="Bahnschrift SemiBold Condensed"/>
                <a:sym typeface="Bahnschrift SemiBold Condensed"/>
              </a:rPr>
              <a:t>)</a:t>
            </a:r>
            <a:endParaRPr lang="es-AR" sz="1250" dirty="0">
              <a:latin typeface="Bahnschrift SemiBold Condensed"/>
            </a:endParaRPr>
          </a:p>
        </p:txBody>
      </p:sp>
      <p:sp>
        <p:nvSpPr>
          <p:cNvPr id="11" name="Flecha 10_2"/>
          <p:cNvSpPr/>
          <p:nvPr/>
        </p:nvSpPr>
        <p:spPr>
          <a:xfrm>
            <a:off x="822960" y="1554480"/>
            <a:ext cx="640080" cy="1810512"/>
          </a:xfrm>
          <a:custGeom>
            <a:avLst/>
            <a:gdLst/>
            <a:ahLst/>
            <a:cxnLst/>
            <a:rect l="0" t="0" r="r" b="b"/>
            <a:pathLst>
              <a:path w="700" h="1980" fill="none">
                <a:moveTo>
                  <a:pt x="0" y="1980"/>
                </a:moveTo>
                <a:lnTo>
                  <a:pt x="700" y="0"/>
                </a:lnTo>
              </a:path>
            </a:pathLst>
          </a:custGeom>
          <a:noFill/>
          <a:ln w="31750" cap="rnd">
            <a:solidFill>
              <a:srgbClr val="1E8C3A"/>
            </a:solidFill>
            <a:round/>
            <a:tailEnd type="triangle" w="med" len="med"/>
          </a:ln>
        </p:spPr>
      </p:sp>
      <p:sp>
        <p:nvSpPr>
          <p:cNvPr id="12" name="Flecha 12_2"/>
          <p:cNvSpPr/>
          <p:nvPr/>
        </p:nvSpPr>
        <p:spPr>
          <a:xfrm>
            <a:off x="1920240" y="1554480"/>
            <a:ext cx="182880" cy="1810512"/>
          </a:xfrm>
          <a:custGeom>
            <a:avLst/>
            <a:gdLst/>
            <a:ahLst/>
            <a:cxnLst/>
            <a:rect l="0" t="0" r="r" b="b"/>
            <a:pathLst>
              <a:path w="199" h="1980" fill="none">
                <a:moveTo>
                  <a:pt x="199" y="1980"/>
                </a:moveTo>
                <a:lnTo>
                  <a:pt x="0" y="0"/>
                </a:lnTo>
              </a:path>
            </a:pathLst>
          </a:custGeom>
          <a:noFill/>
          <a:ln w="31750" cap="rnd">
            <a:solidFill>
              <a:srgbClr val="1E8C3A"/>
            </a:solidFill>
            <a:round/>
            <a:tailEnd type="triangle" w="med" len="med"/>
          </a:ln>
        </p:spPr>
      </p:sp>
      <p:sp>
        <p:nvSpPr>
          <p:cNvPr id="13" name="Flecha 14_2"/>
          <p:cNvSpPr/>
          <p:nvPr/>
        </p:nvSpPr>
        <p:spPr>
          <a:xfrm>
            <a:off x="5029200" y="3108960"/>
            <a:ext cx="91440" cy="201168"/>
          </a:xfrm>
          <a:custGeom>
            <a:avLst/>
            <a:gdLst/>
            <a:ahLst/>
            <a:cxnLst/>
            <a:rect l="0" t="0" r="r" b="b"/>
            <a:pathLst>
              <a:path w="99" h="220" fill="none">
                <a:moveTo>
                  <a:pt x="99" y="220"/>
                </a:moveTo>
                <a:lnTo>
                  <a:pt x="0" y="0"/>
                </a:lnTo>
              </a:path>
            </a:pathLst>
          </a:custGeom>
          <a:noFill/>
          <a:ln w="31750" cap="rnd">
            <a:solidFill>
              <a:srgbClr val="1E8C3A"/>
            </a:solidFill>
            <a:round/>
            <a:tailEnd type="triangle" w="med" len="med"/>
          </a:ln>
        </p:spPr>
      </p:sp>
      <p:grpSp>
        <p:nvGrpSpPr>
          <p:cNvPr id="14" name="Recuadro Estímulos"/>
          <p:cNvGrpSpPr/>
          <p:nvPr/>
        </p:nvGrpSpPr>
        <p:grpSpPr>
          <a:xfrm>
            <a:off x="365760" y="4114800"/>
            <a:ext cx="5669280" cy="2377440"/>
            <a:chOff x="365760" y="4114800"/>
            <a:chExt cx="5669280" cy="2377440"/>
          </a:xfrm>
        </p:grpSpPr>
        <p:sp>
          <p:nvSpPr>
            <p:cNvPr id="15" name="Forma 17"/>
            <p:cNvSpPr/>
            <p:nvPr/>
          </p:nvSpPr>
          <p:spPr>
            <a:xfrm>
              <a:off x="365760" y="4297680"/>
              <a:ext cx="5669280" cy="21945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 relación energética </a:t>
              </a:r>
              <a:r>
                <a:rPr lang="es-AR" sz="1700" b="1" dirty="0">
                  <a:solidFill>
                    <a:srgbClr val="1E1E1E"/>
                  </a:solidFill>
                  <a:latin typeface="Bahnschrift"/>
                  <a:ea typeface="Bahnschrift"/>
                  <a:cs typeface="Bahnschrift"/>
                  <a:sym typeface="Bahnschrift"/>
                </a:rPr>
                <a:t>ATP/AMP-ADP</a:t>
              </a:r>
              <a:endParaRPr lang="es-AR" sz="1700" dirty="0">
                <a:latin typeface="Bahnschrift"/>
              </a:endParaRPr>
            </a:p>
            <a:p>
              <a:pPr algn="l" marL="161925" indent="-161925">
                <a:spcAft>
                  <a:spcPts val="400"/>
                </a:spcAft>
                <a:buClr>
                  <a:srgbClr val="1E1E1E"/>
                </a:buClr>
                <a:buFont typeface="Arial"/>
                <a:buChar char="•"/>
              </a:pPr>
              <a:r>
                <a:rPr lang="es-AR" sz="1700" b="1" dirty="0">
                  <a:solidFill>
                    <a:srgbClr val="1E1E1E"/>
                  </a:solidFill>
                  <a:latin typeface="Bahnschrift"/>
                  <a:ea typeface="Bahnschrift"/>
                  <a:cs typeface="Bahnschrift"/>
                  <a:sym typeface="Bahnschrift"/>
                </a:rPr>
                <a:t>Contracción</a:t>
              </a:r>
              <a:r>
                <a:rPr lang="es-AR" sz="1700" dirty="0">
                  <a:solidFill>
                    <a:srgbClr val="1E1E1E"/>
                  </a:solidFill>
                  <a:latin typeface="Bahnschrift"/>
                  <a:ea typeface="Bahnschrift"/>
                  <a:cs typeface="Bahnschrift"/>
                  <a:sym typeface="Bahnschrift"/>
                </a:rPr>
                <a:t>, </a:t>
              </a:r>
              <a:r>
                <a:rPr lang="es-AR" sz="1700" b="1" dirty="0">
                  <a:solidFill>
                    <a:srgbClr val="1E1E1E"/>
                  </a:solidFill>
                  <a:latin typeface="Bahnschrift"/>
                  <a:ea typeface="Bahnschrift"/>
                  <a:cs typeface="Bahnschrift"/>
                  <a:sym typeface="Bahnschrift"/>
                </a:rPr>
                <a:t>hipoxia</a:t>
              </a:r>
              <a:r>
                <a:rPr lang="es-AR" sz="1700" dirty="0">
                  <a:solidFill>
                    <a:srgbClr val="1E1E1E"/>
                  </a:solidFill>
                  <a:latin typeface="Bahnschrift"/>
                  <a:ea typeface="Bahnschrift"/>
                  <a:cs typeface="Bahnschrift"/>
                  <a:sym typeface="Bahnschrift"/>
                </a:rPr>
                <a:t> y otros estímulos</a:t>
              </a:r>
              <a:endParaRPr lang="es-AR" sz="1700" dirty="0">
                <a:latin typeface="Bahnschrift"/>
              </a:endParaRPr>
            </a:p>
            <a:p>
              <a:pPr algn="l" marL="161925" indent="-161925">
                <a:spcAft>
                  <a:spcPts val="400"/>
                </a:spcAft>
                <a:buClr>
                  <a:srgbClr val="1E1E1E"/>
                </a:buClr>
                <a:buFont typeface="Arial"/>
                <a:buChar char="•"/>
              </a:pPr>
              <a:r>
                <a:rPr lang="es-AR" sz="1700" dirty="0">
                  <a:solidFill>
                    <a:srgbClr val="1E1E1E"/>
                  </a:solidFill>
                  <a:latin typeface="Bahnschrift"/>
                  <a:ea typeface="Bahnschrift"/>
                  <a:cs typeface="Bahnschrift"/>
                  <a:sym typeface="Bahnschrift"/>
                </a:rPr>
                <a:t>Integra también señales </a:t>
              </a:r>
              <a:r>
                <a:rPr lang="es-AR" sz="1700" b="1" dirty="0">
                  <a:solidFill>
                    <a:srgbClr val="1E1E1E"/>
                  </a:solidFill>
                  <a:latin typeface="Bahnschrift"/>
                  <a:ea typeface="Bahnschrift"/>
                  <a:cs typeface="Bahnschrift"/>
                  <a:sym typeface="Bahnschrift"/>
                </a:rPr>
                <a:t>lisosomales</a:t>
              </a:r>
              <a:r>
                <a:rPr lang="es-AR" sz="1700" dirty="0">
                  <a:solidFill>
                    <a:srgbClr val="1E1E1E"/>
                  </a:solidFill>
                  <a:latin typeface="Bahnschrift"/>
                  <a:ea typeface="Bahnschrift"/>
                  <a:cs typeface="Bahnschrift"/>
                  <a:sym typeface="Bahnschrift"/>
                </a:rPr>
                <a:t> y de nutrientes</a:t>
              </a:r>
              <a:endParaRPr lang="es-AR" sz="1700" dirty="0">
                <a:latin typeface="Bahnschrift"/>
              </a:endParaRPr>
            </a:p>
          </p:txBody>
        </p:sp>
        <p:sp>
          <p:nvSpPr>
            <p:cNvPr id="16" name="Forma 18"/>
            <p:cNvSpPr/>
            <p:nvPr/>
          </p:nvSpPr>
          <p:spPr>
            <a:xfrm>
              <a:off x="475488" y="4114800"/>
              <a:ext cx="117507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ESTÍMULOS</a:t>
              </a:r>
              <a:endParaRPr lang="es-AR" sz="1550" dirty="0">
                <a:latin typeface="Bahnschrift SemiBold Condensed"/>
              </a:endParaRPr>
            </a:p>
          </p:txBody>
        </p:sp>
      </p:grpSp>
      <p:grpSp>
        <p:nvGrpSpPr>
          <p:cNvPr id="17" name="Recuadro Mecanismo"/>
          <p:cNvGrpSpPr/>
          <p:nvPr/>
        </p:nvGrpSpPr>
        <p:grpSpPr>
          <a:xfrm>
            <a:off x="6309360" y="1005840"/>
            <a:ext cx="5486400" cy="2743200"/>
            <a:chOff x="6309360" y="1005840"/>
            <a:chExt cx="5486400" cy="2743200"/>
          </a:xfrm>
        </p:grpSpPr>
        <p:sp>
          <p:nvSpPr>
            <p:cNvPr id="18" name="Forma 20"/>
            <p:cNvSpPr/>
            <p:nvPr/>
          </p:nvSpPr>
          <p:spPr>
            <a:xfrm>
              <a:off x="6309360" y="1188720"/>
              <a:ext cx="5486400" cy="25603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b="1" dirty="0">
                  <a:solidFill>
                    <a:srgbClr val="1E1E1E"/>
                  </a:solidFill>
                  <a:latin typeface="Bahnschrift"/>
                  <a:ea typeface="Bahnschrift"/>
                  <a:cs typeface="Bahnschrift"/>
                  <a:sym typeface="Bahnschrift"/>
                </a:rPr>
                <a:t>Heterotrímero</a:t>
              </a:r>
              <a:r>
                <a:rPr lang="es-AR" sz="1700" dirty="0">
                  <a:solidFill>
                    <a:srgbClr val="1E1E1E"/>
                  </a:solidFill>
                  <a:latin typeface="Bahnschrift"/>
                  <a:ea typeface="Bahnschrift"/>
                  <a:cs typeface="Bahnschrift"/>
                  <a:sym typeface="Bahnschrift"/>
                </a:rPr>
                <a:t>: α catalítica; β y γ reguladoras. El </a:t>
              </a:r>
              <a:r>
                <a:rPr lang="es-AR" sz="1700" b="1" dirty="0">
                  <a:solidFill>
                    <a:srgbClr val="1E1E1E"/>
                  </a:solidFill>
                  <a:latin typeface="Bahnschrift"/>
                  <a:ea typeface="Bahnschrift"/>
                  <a:cs typeface="Bahnschrift"/>
                  <a:sym typeface="Bahnschrift"/>
                </a:rPr>
                <a:t>AMP/ADP</a:t>
              </a:r>
              <a:r>
                <a:rPr lang="es-AR" sz="1700" dirty="0">
                  <a:solidFill>
                    <a:srgbClr val="1E1E1E"/>
                  </a:solidFill>
                  <a:latin typeface="Bahnschrift"/>
                  <a:ea typeface="Bahnschrift"/>
                  <a:cs typeface="Bahnschrift"/>
                  <a:sym typeface="Bahnschrift"/>
                </a:rPr>
                <a:t> unido a γ </a:t>
              </a:r>
              <a:r>
                <a:rPr lang="es-AR" sz="1700" b="1" dirty="0">
                  <a:solidFill>
                    <a:srgbClr val="1E1E1E"/>
                  </a:solidFill>
                  <a:latin typeface="Bahnschrift"/>
                  <a:ea typeface="Bahnschrift"/>
                  <a:cs typeface="Bahnschrift"/>
                  <a:sym typeface="Bahnschrift"/>
                </a:rPr>
                <a:t>protege</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facilita</a:t>
              </a:r>
              <a:r>
                <a:rPr lang="es-AR" sz="1700" dirty="0">
                  <a:solidFill>
                    <a:srgbClr val="1E1E1E"/>
                  </a:solidFill>
                  <a:latin typeface="Bahnschrift"/>
                  <a:ea typeface="Bahnschrift"/>
                  <a:cs typeface="Bahnschrift"/>
                  <a:sym typeface="Bahnschrift"/>
                </a:rPr>
                <a:t> la fosforilación de </a:t>
              </a:r>
              <a:r>
                <a:rPr lang="es-AR" sz="1700" b="1" dirty="0">
                  <a:solidFill>
                    <a:srgbClr val="1E1E1E"/>
                  </a:solidFill>
                  <a:latin typeface="Bahnschrift"/>
                  <a:ea typeface="Bahnschrift"/>
                  <a:cs typeface="Bahnschrift"/>
                  <a:sym typeface="Bahnschrift"/>
                </a:rPr>
                <a:t>Thr172</a:t>
              </a:r>
              <a:r>
                <a:rPr lang="es-AR" sz="1700" dirty="0">
                  <a:solidFill>
                    <a:srgbClr val="1E1E1E"/>
                  </a:solidFill>
                  <a:latin typeface="Bahnschrift"/>
                  <a:ea typeface="Bahnschrift"/>
                  <a:cs typeface="Bahnschrift"/>
                  <a:sym typeface="Bahnschrift"/>
                </a:rPr>
                <a:t> (principalmente por </a:t>
              </a:r>
              <a:r>
                <a:rPr lang="es-AR" sz="1700" b="1" dirty="0">
                  <a:solidFill>
                    <a:srgbClr val="1E1E1E"/>
                  </a:solidFill>
                  <a:latin typeface="Bahnschrift"/>
                  <a:ea typeface="Bahnschrift"/>
                  <a:cs typeface="Bahnschrift"/>
                  <a:sym typeface="Bahnschrift"/>
                </a:rPr>
                <a:t>LKB1</a:t>
              </a:r>
              <a:r>
                <a:rPr lang="es-AR" sz="1700" dirty="0">
                  <a:solidFill>
                    <a:srgbClr val="1E1E1E"/>
                  </a:solidFill>
                  <a:latin typeface="Bahnschrift"/>
                  <a:ea typeface="Bahnschrift"/>
                  <a:cs typeface="Bahnschrift"/>
                  <a:sym typeface="Bahnschrift"/>
                </a:rPr>
                <a:t>; </a:t>
              </a:r>
              <a:r>
                <a:rPr lang="es-AR" sz="1700" b="1" dirty="0">
                  <a:solidFill>
                    <a:srgbClr val="1E1E1E"/>
                  </a:solidFill>
                  <a:latin typeface="Bahnschrift"/>
                  <a:ea typeface="Bahnschrift"/>
                  <a:cs typeface="Bahnschrift"/>
                  <a:sym typeface="Bahnschrift"/>
                </a:rPr>
                <a:t>CaMKKβ</a:t>
              </a:r>
              <a:r>
                <a:rPr lang="es-AR" sz="1700" dirty="0">
                  <a:solidFill>
                    <a:srgbClr val="1E1E1E"/>
                  </a:solidFill>
                  <a:latin typeface="Bahnschrift"/>
                  <a:ea typeface="Bahnschrift"/>
                  <a:cs typeface="Bahnschrift"/>
                  <a:sym typeface="Bahnschrift"/>
                </a:rPr>
                <a:t> por Ca</a:t>
              </a:r>
              <a:r>
                <a:rPr lang="es-AR" sz="1700" baseline="30000" dirty="0">
                  <a:solidFill>
                    <a:srgbClr val="1E1E1E"/>
                  </a:solidFill>
                  <a:latin typeface="Bahnschrift"/>
                  <a:ea typeface="Bahnschrift"/>
                  <a:cs typeface="Bahnschrift"/>
                  <a:sym typeface="Bahnschrift"/>
                </a:rPr>
                <a:t>2+</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19" name="Forma 21"/>
            <p:cNvSpPr/>
            <p:nvPr/>
          </p:nvSpPr>
          <p:spPr>
            <a:xfrm>
              <a:off x="6419088" y="1005840"/>
              <a:ext cx="121654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MECANISMO</a:t>
              </a:r>
              <a:endParaRPr lang="es-AR" sz="1550" dirty="0">
                <a:latin typeface="Bahnschrift SemiBold Condensed"/>
              </a:endParaRPr>
            </a:p>
          </p:txBody>
        </p:sp>
      </p:grpSp>
      <p:sp>
        <p:nvSpPr>
          <p:cNvPr id="20" name="Perla"/>
          <p:cNvSpPr/>
          <p:nvPr/>
        </p:nvSpPr>
        <p:spPr>
          <a:xfrm>
            <a:off x="6309360" y="3931920"/>
            <a:ext cx="5486400" cy="25603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Paradoja aparente: activar AMPK </a:t>
            </a:r>
            <a:r>
              <a:rPr lang="es-AR" sz="1800" b="1" dirty="0">
                <a:solidFill>
                  <a:srgbClr val="FFFFFF"/>
                </a:solidFill>
                <a:latin typeface="Bahnschrift"/>
                <a:ea typeface="Bahnschrift"/>
                <a:cs typeface="Bahnschrift"/>
                <a:sym typeface="Bahnschrift"/>
              </a:rPr>
              <a:t>no produce ATP directamente</a:t>
            </a:r>
            <a:r>
              <a:rPr lang="es-AR" sz="1800" dirty="0">
                <a:solidFill>
                  <a:srgbClr val="FFFFFF"/>
                </a:solidFill>
                <a:latin typeface="Bahnschrift"/>
                <a:ea typeface="Bahnschrift"/>
                <a:cs typeface="Bahnschrift"/>
                <a:sym typeface="Bahnschrift"/>
              </a:rPr>
              <a:t>; </a:t>
            </a:r>
            <a:r>
              <a:rPr lang="es-AR" sz="1800" b="1" dirty="0">
                <a:solidFill>
                  <a:srgbClr val="FFFFFF"/>
                </a:solidFill>
                <a:latin typeface="Bahnschrift"/>
                <a:ea typeface="Bahnschrift"/>
                <a:cs typeface="Bahnschrift"/>
                <a:sym typeface="Bahnschrift"/>
              </a:rPr>
              <a:t>reorienta rutas</a:t>
            </a:r>
            <a:r>
              <a:rPr lang="es-AR" sz="1800" dirty="0">
                <a:solidFill>
                  <a:srgbClr val="FFFFFF"/>
                </a:solidFill>
                <a:latin typeface="Bahnschrift"/>
                <a:ea typeface="Bahnschrift"/>
                <a:cs typeface="Bahnschrift"/>
                <a:sym typeface="Bahnschrift"/>
              </a:rPr>
              <a:t> para que la generación supere al consumo.</a:t>
            </a:r>
            <a:endParaRPr lang="es-AR" sz="18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3695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20 · AMPK: ESTRUCTURA Y ACTIVACIÓN</a:t>
            </a:r>
            <a:endParaRPr lang="es-AR" sz="2600" dirty="0">
              <a:latin typeface="Bahnschrift SemiBold Condensed"/>
            </a:endParaRPr>
          </a:p>
        </p:txBody>
      </p:sp>
      <p:sp>
        <p:nvSpPr>
          <p:cNvPr id="2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fade">
                                      <p:cBhvr>
                                        <p:cTn id="9" dur="500"/>
                                        <p:tgtEl>
                                          <p:spTgt spid="5"/>
                                        </p:tgtEl>
                                      </p:cBhvr>
                                    </p:animEffect>
                                  </p:childTnLst>
                                </p:cTn>
                              </p:par>
                            </p:childTnLst>
                          </p:cTn>
                        </p:par>
                        <p:par>
                          <p:cTn id="14"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29" fill="hold">
                      <p:stCondLst>
                        <p:cond delay="indefinite"/>
                      </p:stCondLst>
                      <p:childTnLst>
                        <p:par>
                          <p:cTn id="21"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fltVal val="0"/>
                                          </p:val>
                                        </p:tav>
                                        <p:tav tm="100000">
                                          <p:val>
                                            <p:strVal val="#ppt_h"/>
                                          </p:val>
                                        </p:tav>
                                      </p:tavLst>
                                    </p:anim>
                                    <p:animEffect transition="in" filter="fade">
                                      <p:cBhvr>
                                        <p:cTn id="20" dur="500"/>
                                        <p:tgtEl>
                                          <p:spTgt spid="7"/>
                                        </p:tgtEl>
                                      </p:cBhvr>
                                    </p:animEffect>
                                  </p:childTnLst>
                                </p:cTn>
                              </p:par>
                            </p:childTnLst>
                          </p:cTn>
                        </p:par>
                        <p:par>
                          <p:cTn id="25" fill="hold">
                            <p:stCondLst>
                              <p:cond delay="500"/>
                            </p:stCondLst>
                            <p:childTnLst>
                              <p:par>
                                <p:cTn id="22" presetID="22" presetClass="entr" presetSubtype="1"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up)">
                                      <p:cBhvr>
                                        <p:cTn id="24" dur="600"/>
                                        <p:tgtEl>
                                          <p:spTgt spid="13"/>
                                        </p:tgtEl>
                                      </p:cBhvr>
                                    </p:animEffect>
                                  </p:childTnLst>
                                </p:cTn>
                              </p:par>
                            </p:childTnLst>
                          </p:cTn>
                        </p:par>
                        <p:par>
                          <p:cTn id="28" fill="hold">
                            <p:stCondLst>
                              <p:cond delay="1100"/>
                            </p:stCondLst>
                            <p:childTnLst>
                              <p:par>
                                <p:cTn id="26" presetID="6" presetClass="emph" presetSubtype="0" fill="hold" grpId="0" nodeType="afterEffect">
                                  <p:stCondLst>
                                    <p:cond delay="0"/>
                                  </p:stCondLst>
                                  <p:childTnLst>
                                    <p:animScale>
                                      <p:cBhvr>
                                        <p:cTn id="27" dur="300" autoRev="1" fill="hold"/>
                                        <p:tgtEl>
                                          <p:spTgt spid="6"/>
                                        </p:tgtEl>
                                      </p:cBhvr>
                                      <p:by x="112000" y="112000"/>
                                    </p:animScale>
                                  </p:childTnLst>
                                </p:cTn>
                              </p:par>
                            </p:childTnLst>
                          </p:cTn>
                        </p:par>
                      </p:childTnLst>
                    </p:cTn>
                  </p:par>
                  <p:par>
                    <p:cTn id="50" fill="hold">
                      <p:stCondLst>
                        <p:cond delay="indefinite"/>
                      </p:stCondLst>
                      <p:childTnLst>
                        <p:par>
                          <p:cTn id="36"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par>
                          <p:cTn id="43" fill="hold">
                            <p:stCondLst>
                              <p:cond delay="500"/>
                            </p:stCondLst>
                            <p:childTnLst>
                              <p:par>
                                <p:cTn id="37" presetID="22" presetClass="entr" presetSubtype="1" fill="hold" grpId="0"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up)">
                                      <p:cBhvr>
                                        <p:cTn id="39" dur="600"/>
                                        <p:tgtEl>
                                          <p:spTgt spid="11"/>
                                        </p:tgtEl>
                                      </p:cBhvr>
                                    </p:animEffect>
                                  </p:childTnLst>
                                </p:cTn>
                              </p:par>
                              <p:par>
                                <p:cTn id="40" presetID="22" presetClass="entr" presetSubtype="1"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up)">
                                      <p:cBhvr>
                                        <p:cTn id="42" dur="600"/>
                                        <p:tgtEl>
                                          <p:spTgt spid="12"/>
                                        </p:tgtEl>
                                      </p:cBhvr>
                                    </p:animEffect>
                                  </p:childTnLst>
                                </p:cTn>
                              </p:par>
                            </p:childTnLst>
                          </p:cTn>
                        </p:par>
                        <p:par>
                          <p:cTn id="49" fill="hold">
                            <p:stCondLst>
                              <p:cond delay="1100"/>
                            </p:stCondLst>
                            <p:childTnLst>
                              <p:par>
                                <p:cTn id="44" presetID="53" presetClass="entr" presetSubtype="16"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p:cTn id="46" dur="500" fill="hold"/>
                                        <p:tgtEl>
                                          <p:spTgt spid="8"/>
                                        </p:tgtEl>
                                        <p:attrNameLst>
                                          <p:attrName>ppt_w</p:attrName>
                                        </p:attrNameLst>
                                      </p:cBhvr>
                                      <p:tavLst>
                                        <p:tav tm="0">
                                          <p:val>
                                            <p:fltVal val="0"/>
                                          </p:val>
                                        </p:tav>
                                        <p:tav tm="100000">
                                          <p:val>
                                            <p:strVal val="#ppt_w"/>
                                          </p:val>
                                        </p:tav>
                                      </p:tavLst>
                                    </p:anim>
                                    <p:anim calcmode="lin" valueType="num">
                                      <p:cBhvr>
                                        <p:cTn id="47" dur="500" fill="hold"/>
                                        <p:tgtEl>
                                          <p:spTgt spid="8"/>
                                        </p:tgtEl>
                                        <p:attrNameLst>
                                          <p:attrName>ppt_h</p:attrName>
                                        </p:attrNameLst>
                                      </p:cBhvr>
                                      <p:tavLst>
                                        <p:tav tm="0">
                                          <p:val>
                                            <p:fltVal val="0"/>
                                          </p:val>
                                        </p:tav>
                                        <p:tav tm="100000">
                                          <p:val>
                                            <p:strVal val="#ppt_h"/>
                                          </p:val>
                                        </p:tav>
                                      </p:tavLst>
                                    </p:anim>
                                    <p:animEffect transition="in" filter="fade">
                                      <p:cBhvr>
                                        <p:cTn id="48" dur="500"/>
                                        <p:tgtEl>
                                          <p:spTgt spid="8"/>
                                        </p:tgtEl>
                                      </p:cBhvr>
                                    </p:animEffect>
                                  </p:childTnLst>
                                </p:cTn>
                              </p:par>
                            </p:childTnLst>
                          </p:cTn>
                        </p:par>
                      </p:childTnLst>
                    </p:cTn>
                  </p:par>
                  <p:par>
                    <p:cTn id="55" fill="hold">
                      <p:stCondLst>
                        <p:cond delay="indefinite"/>
                      </p:stCondLst>
                      <p:childTnLst>
                        <p:par>
                          <p:cTn id="54"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60" fill="hold">
                      <p:stCondLst>
                        <p:cond delay="indefinite"/>
                      </p:stCondLst>
                      <p:childTnLst>
                        <p:par>
                          <p:cTn id="59"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par>
                    <p:cTn id="65" fill="hold">
                      <p:stCondLst>
                        <p:cond delay="indefinite"/>
                      </p:stCondLst>
                      <p:childTnLst>
                        <p:par>
                          <p:cTn id="64"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13" grpId="0" animBg="1"/>
      <p:bldP spid="9" grpId="0" animBg="1"/>
      <p:bldP spid="10" grpId="0" animBg="1"/>
      <p:bldP spid="11" grpId="0" animBg="1"/>
      <p:bldP spid="12" grpId="0" animBg="1"/>
      <p:bldP spid="8" grpId="0" animBg="1"/>
      <p:bldP spid="20" grpId="0" animBg="1"/>
    </p:bldLst>
  </p:timing>
</p:sld>
</file>

<file path=ppt/slides/slide119.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AMPK centro"/>
          <p:cNvSpPr/>
          <p:nvPr/>
        </p:nvSpPr>
        <p:spPr>
          <a:xfrm>
            <a:off x="4709160" y="2743200"/>
            <a:ext cx="2743200" cy="1371600"/>
          </a:xfrm>
          <a:prstGeom prst="ellipse">
            <a:avLst/>
          </a:prstGeom>
          <a:gradFill rotWithShape="1">
            <a:gsLst>
              <a:gs pos="0">
                <a:srgbClr val="EF8A80"/>
              </a:gs>
              <a:gs pos="55000">
                <a:srgbClr val="E74C3C"/>
              </a:gs>
              <a:gs pos="100000">
                <a:srgbClr val="B83C30"/>
              </a:gs>
            </a:gsLst>
            <a:path path="circle">
              <a:fillToRect l="32000" t="28000" r="68000" b="72000"/>
            </a:path>
          </a:gradFill>
          <a:ln w="2540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3000" b="1" dirty="0">
                <a:solidFill>
                  <a:srgbClr val="FFFFFF"/>
                </a:solidFill>
                <a:latin typeface="Bahnschrift SemiBold Condensed"/>
                <a:ea typeface="Bahnschrift SemiBold Condensed"/>
                <a:cs typeface="Bahnschrift SemiBold Condensed"/>
                <a:sym typeface="Bahnschrift SemiBold Condensed"/>
              </a:rPr>
              <a:t>AMPK</a:t>
            </a:r>
            <a:endParaRPr lang="es-AR" sz="3000" dirty="0">
              <a:latin typeface="Bahnschrift SemiBold Condensed"/>
            </a:endParaRPr>
          </a:p>
        </p:txBody>
      </p:sp>
      <p:grpSp>
        <p:nvGrpSpPr>
          <p:cNvPr id="5" name="Efecto ACC1/ACC2 fosf"/>
          <p:cNvGrpSpPr/>
          <p:nvPr/>
        </p:nvGrpSpPr>
        <p:grpSpPr>
          <a:xfrm>
            <a:off x="365760" y="1005840"/>
            <a:ext cx="4389120" cy="2423160"/>
            <a:chOff x="365760" y="1005840"/>
            <a:chExt cx="4389120" cy="2423160"/>
          </a:xfrm>
        </p:grpSpPr>
        <p:grpSp>
          <p:nvGrpSpPr>
            <p:cNvPr id="6" name="Inhibición"/>
            <p:cNvGrpSpPr/>
            <p:nvPr/>
          </p:nvGrpSpPr>
          <p:grpSpPr>
            <a:xfrm>
              <a:off x="3885825" y="1650565"/>
              <a:ext cx="869055" cy="1778435"/>
              <a:chOff x="3885825" y="1650565"/>
              <a:chExt cx="869055" cy="1778435"/>
            </a:xfrm>
          </p:grpSpPr>
          <p:sp>
            <p:nvSpPr>
              <p:cNvPr id="7" name="Flecha 6_2"/>
              <p:cNvSpPr/>
              <p:nvPr/>
            </p:nvSpPr>
            <p:spPr>
              <a:xfrm>
                <a:off x="3977640" y="1691640"/>
                <a:ext cx="777240" cy="1737360"/>
              </a:xfrm>
              <a:custGeom>
                <a:avLst/>
                <a:gdLst/>
                <a:ahLst/>
                <a:cxnLst/>
                <a:rect l="0" t="0" r="r" b="b"/>
                <a:pathLst>
                  <a:path w="849" h="1900" fill="none">
                    <a:moveTo>
                      <a:pt x="849" y="1900"/>
                    </a:moveTo>
                    <a:lnTo>
                      <a:pt x="0" y="0"/>
                    </a:lnTo>
                  </a:path>
                </a:pathLst>
              </a:custGeom>
              <a:noFill/>
              <a:ln w="31750" cap="rnd">
                <a:solidFill>
                  <a:srgbClr val="C00000"/>
                </a:solidFill>
                <a:round/>
              </a:ln>
            </p:spPr>
          </p:sp>
          <p:sp>
            <p:nvSpPr>
              <p:cNvPr id="8" name="Flecha 8_2"/>
              <p:cNvSpPr/>
              <p:nvPr/>
            </p:nvSpPr>
            <p:spPr>
              <a:xfrm>
                <a:off x="3885825" y="1650565"/>
                <a:ext cx="183630" cy="82150"/>
              </a:xfrm>
              <a:custGeom>
                <a:avLst/>
                <a:gdLst/>
                <a:ahLst/>
                <a:cxnLst/>
                <a:rect l="0" t="0" r="r" b="b"/>
                <a:pathLst>
                  <a:path w="200" h="89" fill="none">
                    <a:moveTo>
                      <a:pt x="0" y="89"/>
                    </a:moveTo>
                    <a:lnTo>
                      <a:pt x="200" y="0"/>
                    </a:lnTo>
                  </a:path>
                </a:pathLst>
              </a:custGeom>
              <a:noFill/>
              <a:ln w="50800" cap="rnd">
                <a:solidFill>
                  <a:srgbClr val="C00000"/>
                </a:solidFill>
                <a:round/>
              </a:ln>
            </p:spPr>
          </p:sp>
        </p:grpSp>
        <p:sp>
          <p:nvSpPr>
            <p:cNvPr id="9" name="Forma 10"/>
            <p:cNvSpPr/>
            <p:nvPr/>
          </p:nvSpPr>
          <p:spPr>
            <a:xfrm>
              <a:off x="365760" y="1005840"/>
              <a:ext cx="3566160" cy="1463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ACC1/ACC2 fosforiladas</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 síntesis de AG, ↓ malonil-CoA, ↑ β-oxidación</a:t>
              </a:r>
              <a:endParaRPr lang="es-AR" sz="1400" dirty="0">
                <a:latin typeface="Bahnschrift"/>
              </a:endParaRPr>
            </a:p>
          </p:txBody>
        </p:sp>
      </p:grpSp>
      <p:grpSp>
        <p:nvGrpSpPr>
          <p:cNvPr id="10" name="Efecto mTORC1 inhibid"/>
          <p:cNvGrpSpPr/>
          <p:nvPr/>
        </p:nvGrpSpPr>
        <p:grpSpPr>
          <a:xfrm>
            <a:off x="365760" y="2834640"/>
            <a:ext cx="4389120" cy="1463040"/>
            <a:chOff x="365760" y="2834640"/>
            <a:chExt cx="4389120" cy="1463040"/>
          </a:xfrm>
        </p:grpSpPr>
        <p:grpSp>
          <p:nvGrpSpPr>
            <p:cNvPr id="11" name="Inhibición_2"/>
            <p:cNvGrpSpPr/>
            <p:nvPr/>
          </p:nvGrpSpPr>
          <p:grpSpPr>
            <a:xfrm>
              <a:off x="3965888" y="3420545"/>
              <a:ext cx="788992" cy="199790"/>
              <a:chOff x="3965888" y="3420545"/>
              <a:chExt cx="788992" cy="199790"/>
            </a:xfrm>
          </p:grpSpPr>
          <p:sp>
            <p:nvSpPr>
              <p:cNvPr id="12" name="Flecha 13_2"/>
              <p:cNvSpPr/>
              <p:nvPr/>
            </p:nvSpPr>
            <p:spPr>
              <a:xfrm>
                <a:off x="3977640" y="3429000"/>
                <a:ext cx="777240" cy="91440"/>
              </a:xfrm>
              <a:custGeom>
                <a:avLst/>
                <a:gdLst/>
                <a:ahLst/>
                <a:cxnLst/>
                <a:rect l="0" t="0" r="r" b="b"/>
                <a:pathLst>
                  <a:path w="849" h="100" fill="none">
                    <a:moveTo>
                      <a:pt x="849" y="0"/>
                    </a:moveTo>
                    <a:lnTo>
                      <a:pt x="0" y="100"/>
                    </a:lnTo>
                  </a:path>
                </a:pathLst>
              </a:custGeom>
              <a:noFill/>
              <a:ln w="31750" cap="rnd">
                <a:solidFill>
                  <a:srgbClr val="C00000"/>
                </a:solidFill>
                <a:round/>
              </a:ln>
            </p:spPr>
          </p:sp>
          <p:sp>
            <p:nvSpPr>
              <p:cNvPr id="13" name="Flecha 15_2"/>
              <p:cNvSpPr/>
              <p:nvPr/>
            </p:nvSpPr>
            <p:spPr>
              <a:xfrm>
                <a:off x="3965888" y="3420545"/>
                <a:ext cx="23505" cy="199790"/>
              </a:xfrm>
              <a:custGeom>
                <a:avLst/>
                <a:gdLst/>
                <a:ahLst/>
                <a:cxnLst/>
                <a:rect l="0" t="0" r="r" b="b"/>
                <a:pathLst>
                  <a:path w="25" h="218" fill="none">
                    <a:moveTo>
                      <a:pt x="25" y="218"/>
                    </a:moveTo>
                    <a:lnTo>
                      <a:pt x="0" y="0"/>
                    </a:lnTo>
                  </a:path>
                </a:pathLst>
              </a:custGeom>
              <a:noFill/>
              <a:ln w="50800" cap="rnd">
                <a:solidFill>
                  <a:srgbClr val="C00000"/>
                </a:solidFill>
                <a:round/>
              </a:ln>
            </p:spPr>
          </p:sp>
        </p:grpSp>
        <p:sp>
          <p:nvSpPr>
            <p:cNvPr id="14" name="Forma 17"/>
            <p:cNvSpPr/>
            <p:nvPr/>
          </p:nvSpPr>
          <p:spPr>
            <a:xfrm>
              <a:off x="365760" y="2834640"/>
              <a:ext cx="3566160" cy="1463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mTORC1 inhibido</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vía </a:t>
              </a:r>
              <a:r>
                <a:rPr lang="es-AR" sz="1400" b="1" dirty="0">
                  <a:solidFill>
                    <a:srgbClr val="1E1E1E"/>
                  </a:solidFill>
                  <a:latin typeface="Bahnschrift"/>
                  <a:ea typeface="Bahnschrift"/>
                  <a:cs typeface="Bahnschrift"/>
                  <a:sym typeface="Bahnschrift"/>
                </a:rPr>
                <a:t>TSC2/raptor</a:t>
              </a:r>
              <a:r>
                <a:rPr lang="es-AR" sz="1400" dirty="0">
                  <a:solidFill>
                    <a:srgbClr val="1E1E1E"/>
                  </a:solidFill>
                  <a:latin typeface="Bahnschrift"/>
                  <a:ea typeface="Bahnschrift"/>
                  <a:cs typeface="Bahnschrift"/>
                  <a:sym typeface="Bahnschrift"/>
                </a:rPr>
                <a:t>: ↓ síntesis proteica</a:t>
              </a:r>
              <a:endParaRPr lang="es-AR" sz="1400" dirty="0">
                <a:latin typeface="Bahnschrift"/>
              </a:endParaRPr>
            </a:p>
          </p:txBody>
        </p:sp>
      </p:grpSp>
      <p:grpSp>
        <p:nvGrpSpPr>
          <p:cNvPr id="15" name="Efecto HMG-CoA reduct"/>
          <p:cNvGrpSpPr/>
          <p:nvPr/>
        </p:nvGrpSpPr>
        <p:grpSpPr>
          <a:xfrm>
            <a:off x="365760" y="3429000"/>
            <a:ext cx="4389120" cy="2697480"/>
            <a:chOff x="365760" y="3429000"/>
            <a:chExt cx="4389120" cy="2697480"/>
          </a:xfrm>
        </p:grpSpPr>
        <p:grpSp>
          <p:nvGrpSpPr>
            <p:cNvPr id="16" name="Inhibición_3"/>
            <p:cNvGrpSpPr/>
            <p:nvPr/>
          </p:nvGrpSpPr>
          <p:grpSpPr>
            <a:xfrm>
              <a:off x="3884404" y="3429000"/>
              <a:ext cx="870476" cy="1957978"/>
              <a:chOff x="3884404" y="3429000"/>
              <a:chExt cx="870476" cy="1957978"/>
            </a:xfrm>
          </p:grpSpPr>
          <p:sp>
            <p:nvSpPr>
              <p:cNvPr id="17" name="Flecha 20_2"/>
              <p:cNvSpPr/>
              <p:nvPr/>
            </p:nvSpPr>
            <p:spPr>
              <a:xfrm>
                <a:off x="3977640" y="3429000"/>
                <a:ext cx="777240" cy="1920240"/>
              </a:xfrm>
              <a:custGeom>
                <a:avLst/>
                <a:gdLst/>
                <a:ahLst/>
                <a:cxnLst/>
                <a:rect l="0" t="0" r="r" b="b"/>
                <a:pathLst>
                  <a:path w="849" h="2099" fill="none">
                    <a:moveTo>
                      <a:pt x="849" y="0"/>
                    </a:moveTo>
                    <a:lnTo>
                      <a:pt x="0" y="2099"/>
                    </a:lnTo>
                  </a:path>
                </a:pathLst>
              </a:custGeom>
              <a:noFill/>
              <a:ln w="31750" cap="rnd">
                <a:solidFill>
                  <a:srgbClr val="C00000"/>
                </a:solidFill>
                <a:round/>
              </a:ln>
            </p:spPr>
          </p:sp>
          <p:sp>
            <p:nvSpPr>
              <p:cNvPr id="18" name="Flecha 22_2"/>
              <p:cNvSpPr/>
              <p:nvPr/>
            </p:nvSpPr>
            <p:spPr>
              <a:xfrm>
                <a:off x="3884404" y="5311502"/>
                <a:ext cx="186472" cy="75477"/>
              </a:xfrm>
              <a:custGeom>
                <a:avLst/>
                <a:gdLst/>
                <a:ahLst/>
                <a:cxnLst/>
                <a:rect l="0" t="0" r="r" b="b"/>
                <a:pathLst>
                  <a:path w="203" h="82" fill="none">
                    <a:moveTo>
                      <a:pt x="203" y="82"/>
                    </a:moveTo>
                    <a:lnTo>
                      <a:pt x="0" y="0"/>
                    </a:lnTo>
                  </a:path>
                </a:pathLst>
              </a:custGeom>
              <a:noFill/>
              <a:ln w="50800" cap="rnd">
                <a:solidFill>
                  <a:srgbClr val="C00000"/>
                </a:solidFill>
                <a:round/>
              </a:ln>
            </p:spPr>
          </p:sp>
        </p:grpSp>
        <p:sp>
          <p:nvSpPr>
            <p:cNvPr id="19" name="Forma 24"/>
            <p:cNvSpPr/>
            <p:nvPr/>
          </p:nvSpPr>
          <p:spPr>
            <a:xfrm>
              <a:off x="365760" y="4663440"/>
              <a:ext cx="3566160" cy="1463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HMG-CoA reductasa</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fosforilada/inhibida: ↓ síntesis de colesterol</a:t>
              </a:r>
              <a:endParaRPr lang="es-AR" sz="1400" dirty="0">
                <a:latin typeface="Bahnschrift"/>
              </a:endParaRPr>
            </a:p>
          </p:txBody>
        </p:sp>
      </p:grpSp>
      <p:grpSp>
        <p:nvGrpSpPr>
          <p:cNvPr id="20" name="Efecto GLUT4 (ejercic"/>
          <p:cNvGrpSpPr/>
          <p:nvPr/>
        </p:nvGrpSpPr>
        <p:grpSpPr>
          <a:xfrm>
            <a:off x="7406640" y="1005840"/>
            <a:ext cx="4389120" cy="2423160"/>
            <a:chOff x="7406640" y="1005840"/>
            <a:chExt cx="4389120" cy="2423160"/>
          </a:xfrm>
        </p:grpSpPr>
        <p:sp>
          <p:nvSpPr>
            <p:cNvPr id="21" name="Flecha 26_2"/>
            <p:cNvSpPr/>
            <p:nvPr/>
          </p:nvSpPr>
          <p:spPr>
            <a:xfrm>
              <a:off x="7406640" y="1691640"/>
              <a:ext cx="868680" cy="1737360"/>
            </a:xfrm>
            <a:custGeom>
              <a:avLst/>
              <a:gdLst/>
              <a:ahLst/>
              <a:cxnLst/>
              <a:rect l="0" t="0" r="r" b="b"/>
              <a:pathLst>
                <a:path w="950" h="1900" fill="none">
                  <a:moveTo>
                    <a:pt x="0" y="1900"/>
                  </a:moveTo>
                  <a:lnTo>
                    <a:pt x="950" y="0"/>
                  </a:lnTo>
                </a:path>
              </a:pathLst>
            </a:custGeom>
            <a:noFill/>
            <a:ln w="31750" cap="rnd">
              <a:solidFill>
                <a:srgbClr val="1E8C3A"/>
              </a:solidFill>
              <a:round/>
              <a:tailEnd type="triangle" w="med" len="med"/>
            </a:ln>
          </p:spPr>
        </p:sp>
        <p:sp>
          <p:nvSpPr>
            <p:cNvPr id="22" name="Forma 28"/>
            <p:cNvSpPr/>
            <p:nvPr/>
          </p:nvSpPr>
          <p:spPr>
            <a:xfrm>
              <a:off x="8229600" y="1005840"/>
              <a:ext cx="3566160" cy="14630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GLUT4 (ejercicio)</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 captación de glucosa muscular</a:t>
              </a:r>
              <a:endParaRPr lang="es-AR" sz="1400" dirty="0">
                <a:latin typeface="Bahnschrift"/>
              </a:endParaRPr>
            </a:p>
          </p:txBody>
        </p:sp>
      </p:grpSp>
      <p:grpSp>
        <p:nvGrpSpPr>
          <p:cNvPr id="23" name="Efecto PGC-1α"/>
          <p:cNvGrpSpPr/>
          <p:nvPr/>
        </p:nvGrpSpPr>
        <p:grpSpPr>
          <a:xfrm>
            <a:off x="7406640" y="2834640"/>
            <a:ext cx="4389120" cy="1463040"/>
            <a:chOff x="7406640" y="2834640"/>
            <a:chExt cx="4389120" cy="1463040"/>
          </a:xfrm>
        </p:grpSpPr>
        <p:sp>
          <p:nvSpPr>
            <p:cNvPr id="24" name="Flecha 30_2"/>
            <p:cNvSpPr/>
            <p:nvPr/>
          </p:nvSpPr>
          <p:spPr>
            <a:xfrm>
              <a:off x="7406640" y="3429000"/>
              <a:ext cx="868680" cy="91440"/>
            </a:xfrm>
            <a:custGeom>
              <a:avLst/>
              <a:gdLst/>
              <a:ahLst/>
              <a:cxnLst/>
              <a:rect l="0" t="0" r="r" b="b"/>
              <a:pathLst>
                <a:path w="950" h="100" fill="none">
                  <a:moveTo>
                    <a:pt x="0" y="0"/>
                  </a:moveTo>
                  <a:lnTo>
                    <a:pt x="950" y="100"/>
                  </a:lnTo>
                </a:path>
              </a:pathLst>
            </a:custGeom>
            <a:noFill/>
            <a:ln w="31750" cap="rnd">
              <a:solidFill>
                <a:srgbClr val="1E8C3A"/>
              </a:solidFill>
              <a:round/>
              <a:tailEnd type="triangle" w="med" len="med"/>
            </a:ln>
          </p:spPr>
        </p:sp>
        <p:sp>
          <p:nvSpPr>
            <p:cNvPr id="25" name="Forma 32"/>
            <p:cNvSpPr/>
            <p:nvPr/>
          </p:nvSpPr>
          <p:spPr>
            <a:xfrm>
              <a:off x="8229600" y="2834640"/>
              <a:ext cx="3566160" cy="14630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PGC-1α</a:t>
              </a:r>
              <a:endParaRPr lang="es-AR" sz="1400" dirty="0">
                <a:latin typeface="Bahnschrift"/>
              </a:endParaRPr>
            </a:p>
            <a:p>
              <a:pPr algn="l">
                <a:spcAft>
                  <a:spcPts val="400"/>
                </a:spcAft>
                <a:buNone/>
              </a:pPr>
              <a:r>
                <a:rPr lang="es-AR" sz="1400" b="1" dirty="0">
                  <a:solidFill>
                    <a:srgbClr val="1E1E1E"/>
                  </a:solidFill>
                  <a:latin typeface="Bahnschrift"/>
                  <a:ea typeface="Bahnschrift"/>
                  <a:cs typeface="Bahnschrift"/>
                  <a:sym typeface="Bahnschrift"/>
                </a:rPr>
                <a:t>biogénesis mitocondrial</a:t>
              </a:r>
              <a:r>
                <a:rPr lang="es-AR" sz="1400" dirty="0">
                  <a:solidFill>
                    <a:srgbClr val="1E1E1E"/>
                  </a:solidFill>
                  <a:latin typeface="Bahnschrift"/>
                  <a:ea typeface="Bahnschrift"/>
                  <a:cs typeface="Bahnschrift"/>
                  <a:sym typeface="Bahnschrift"/>
                </a:rPr>
                <a:t> (adaptación sostenida)</a:t>
              </a:r>
              <a:endParaRPr lang="es-AR" sz="1400" dirty="0">
                <a:latin typeface="Bahnschrift"/>
              </a:endParaRPr>
            </a:p>
          </p:txBody>
        </p:sp>
      </p:grpSp>
      <p:grpSp>
        <p:nvGrpSpPr>
          <p:cNvPr id="26" name="Efecto ULK1"/>
          <p:cNvGrpSpPr/>
          <p:nvPr/>
        </p:nvGrpSpPr>
        <p:grpSpPr>
          <a:xfrm>
            <a:off x="7406640" y="3429000"/>
            <a:ext cx="4389120" cy="2697480"/>
            <a:chOff x="7406640" y="3429000"/>
            <a:chExt cx="4389120" cy="2697480"/>
          </a:xfrm>
        </p:grpSpPr>
        <p:sp>
          <p:nvSpPr>
            <p:cNvPr id="27" name="Flecha 34_2"/>
            <p:cNvSpPr/>
            <p:nvPr/>
          </p:nvSpPr>
          <p:spPr>
            <a:xfrm>
              <a:off x="7406640" y="3429000"/>
              <a:ext cx="868680" cy="1920240"/>
            </a:xfrm>
            <a:custGeom>
              <a:avLst/>
              <a:gdLst/>
              <a:ahLst/>
              <a:cxnLst/>
              <a:rect l="0" t="0" r="r" b="b"/>
              <a:pathLst>
                <a:path w="950" h="2099" fill="none">
                  <a:moveTo>
                    <a:pt x="0" y="0"/>
                  </a:moveTo>
                  <a:lnTo>
                    <a:pt x="950" y="2099"/>
                  </a:lnTo>
                </a:path>
              </a:pathLst>
            </a:custGeom>
            <a:noFill/>
            <a:ln w="31750" cap="rnd">
              <a:solidFill>
                <a:srgbClr val="1E8C3A"/>
              </a:solidFill>
              <a:round/>
              <a:tailEnd type="triangle" w="med" len="med"/>
            </a:ln>
          </p:spPr>
        </p:sp>
        <p:sp>
          <p:nvSpPr>
            <p:cNvPr id="28" name="Forma 36"/>
            <p:cNvSpPr/>
            <p:nvPr/>
          </p:nvSpPr>
          <p:spPr>
            <a:xfrm>
              <a:off x="8229600" y="4663440"/>
              <a:ext cx="3566160" cy="14630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ULK1</a:t>
              </a:r>
              <a:endParaRPr lang="es-AR" sz="1400" dirty="0">
                <a:latin typeface="Bahnschrift"/>
              </a:endParaRPr>
            </a:p>
            <a:p>
              <a:pPr algn="l">
                <a:spcAft>
                  <a:spcPts val="400"/>
                </a:spcAft>
                <a:buNone/>
              </a:pPr>
              <a:r>
                <a:rPr lang="es-AR" sz="1400" b="1" dirty="0">
                  <a:solidFill>
                    <a:srgbClr val="1E1E1E"/>
                  </a:solidFill>
                  <a:latin typeface="Bahnschrift"/>
                  <a:ea typeface="Bahnschrift"/>
                  <a:cs typeface="Bahnschrift"/>
                  <a:sym typeface="Bahnschrift"/>
                </a:rPr>
                <a:t>autofagia</a:t>
              </a:r>
              <a:r>
                <a:rPr lang="es-AR" sz="1400" dirty="0">
                  <a:solidFill>
                    <a:srgbClr val="1E1E1E"/>
                  </a:solidFill>
                  <a:latin typeface="Bahnschrift"/>
                  <a:ea typeface="Bahnschrift"/>
                  <a:cs typeface="Bahnschrift"/>
                  <a:sym typeface="Bahnschrift"/>
                </a:rPr>
                <a:t> y homeostasis mitocondrial</a:t>
              </a:r>
              <a:endParaRPr lang="es-AR" sz="1400" dirty="0">
                <a:latin typeface="Bahnschrift"/>
              </a:endParaRPr>
            </a:p>
          </p:txBody>
        </p:sp>
      </p:grpSp>
      <p:sp>
        <p:nvSpPr>
          <p:cNvPr id="29" name="Metformina"/>
          <p:cNvSpPr/>
          <p:nvPr/>
        </p:nvSpPr>
        <p:spPr>
          <a:xfrm>
            <a:off x="4206240" y="4572000"/>
            <a:ext cx="3749040" cy="19202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Metformina</a:t>
            </a:r>
            <a:r>
              <a:rPr lang="es-AR" sz="1550" dirty="0">
                <a:solidFill>
                  <a:srgbClr val="1E1E1E"/>
                </a:solidFill>
                <a:latin typeface="Bahnschrift"/>
                <a:ea typeface="Bahnschrift"/>
                <a:cs typeface="Bahnschrift"/>
                <a:sym typeface="Bahnschrift"/>
              </a:rPr>
              <a:t> puede activar AMPK indirectamente, pero su efecto antihiperglucémico </a:t>
            </a:r>
            <a:r>
              <a:rPr lang="es-AR" sz="1550" b="1" dirty="0">
                <a:solidFill>
                  <a:srgbClr val="1E1E1E"/>
                </a:solidFill>
                <a:latin typeface="Bahnschrift"/>
                <a:ea typeface="Bahnschrift"/>
                <a:cs typeface="Bahnschrift"/>
                <a:sym typeface="Bahnschrift"/>
              </a:rPr>
              <a:t>no se reduce</a:t>
            </a:r>
            <a:r>
              <a:rPr lang="es-AR" sz="1550" dirty="0">
                <a:solidFill>
                  <a:srgbClr val="1E1E1E"/>
                </a:solidFill>
                <a:latin typeface="Bahnschrift"/>
                <a:ea typeface="Bahnschrift"/>
                <a:cs typeface="Bahnschrift"/>
                <a:sym typeface="Bahnschrift"/>
              </a:rPr>
              <a:t> a ese mecanismo.</a:t>
            </a:r>
            <a:endParaRPr lang="es-AR" sz="1550" dirty="0">
              <a:latin typeface="Bahnschrift"/>
            </a:endParaRPr>
          </a:p>
        </p:txBody>
      </p:sp>
      <p:sp>
        <p:nvSpPr>
          <p:cNvPr id="30" name="Precisión AMPK"/>
          <p:cNvSpPr txBox="1"/>
          <p:nvPr/>
        </p:nvSpPr>
        <p:spPr>
          <a:xfrm>
            <a:off x="4206240" y="1051560"/>
            <a:ext cx="3749040" cy="1417320"/>
          </a:xfrm>
          <a:prstGeom prst="rect">
            <a:avLst/>
          </a:prstGeom>
          <a:noFill/>
          <a:ln>
            <a:noFill/>
          </a:ln>
        </p:spPr>
        <p:txBody>
          <a:bodyPr wrap="square" lIns="0" tIns="0" rIns="0"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No todas las células oxidan AG: el </a:t>
            </a:r>
            <a:r>
              <a:rPr lang="es-AR" sz="1350" b="1" dirty="0">
                <a:solidFill>
                  <a:srgbClr val="1E1E1E"/>
                </a:solidFill>
                <a:latin typeface="Bahnschrift"/>
                <a:ea typeface="Bahnschrift"/>
                <a:cs typeface="Bahnschrift"/>
                <a:sym typeface="Bahnschrift"/>
              </a:rPr>
              <a:t>eritrocito no puede</a:t>
            </a:r>
            <a:r>
              <a:rPr lang="es-AR" sz="1350" dirty="0">
                <a:solidFill>
                  <a:srgbClr val="1E1E1E"/>
                </a:solidFill>
                <a:latin typeface="Bahnschrift"/>
                <a:ea typeface="Bahnschrift"/>
                <a:cs typeface="Bahnschrift"/>
                <a:sym typeface="Bahnschrift"/>
              </a:rPr>
              <a:t>; la actividad no depende </a:t>
            </a:r>
            <a:r>
              <a:rPr lang="es-AR" sz="1350" b="1" dirty="0">
                <a:solidFill>
                  <a:srgbClr val="1E1E1E"/>
                </a:solidFill>
                <a:latin typeface="Bahnschrift"/>
                <a:ea typeface="Bahnschrift"/>
                <a:cs typeface="Bahnschrift"/>
                <a:sym typeface="Bahnschrift"/>
              </a:rPr>
              <a:t>solo</a:t>
            </a:r>
            <a:r>
              <a:rPr lang="es-AR" sz="1350" dirty="0">
                <a:solidFill>
                  <a:srgbClr val="1E1E1E"/>
                </a:solidFill>
                <a:latin typeface="Bahnschrift"/>
                <a:ea typeface="Bahnschrift"/>
                <a:cs typeface="Bahnschrift"/>
                <a:sym typeface="Bahnschrift"/>
              </a:rPr>
              <a:t> de AMPK.</a:t>
            </a:r>
            <a:endParaRPr lang="es-AR" sz="13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58521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20 · MAPA DE AMPK Y SUS PRINCIPALES EFECTOS</a:t>
            </a:r>
            <a:endParaRPr lang="es-AR" sz="2600" dirty="0">
              <a:latin typeface="Bahnschrift SemiBold Condensed"/>
            </a:endParaRPr>
          </a:p>
        </p:txBody>
      </p:sp>
      <p:sp>
        <p:nvSpPr>
          <p:cNvPr id="3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119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9" fill="hold">
                      <p:stCondLst>
                        <p:cond delay="indefinite"/>
                      </p:stCondLst>
                      <p:childTnLst>
                        <p:par>
                          <p:cTn id="8" fill="hold">
                            <p:stCondLst>
                              <p:cond delay="0"/>
                            </p:stCondLst>
                            <p:childTnLst>
                              <p:par>
                                <p:cTn id="3" presetID="53" presetClass="entr" presetSubtype="16"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 calcmode="lin" valueType="num">
                                      <p:cBhvr>
                                        <p:cTn id="5" dur="500" fill="hold"/>
                                        <p:tgtEl>
                                          <p:spTgt spid="4"/>
                                        </p:tgtEl>
                                        <p:attrNameLst>
                                          <p:attrName>ppt_w</p:attrName>
                                        </p:attrNameLst>
                                      </p:cBhvr>
                                      <p:tavLst>
                                        <p:tav tm="0">
                                          <p:val>
                                            <p:fltVal val="0"/>
                                          </p:val>
                                        </p:tav>
                                        <p:tav tm="100000">
                                          <p:val>
                                            <p:strVal val="#ppt_w"/>
                                          </p:val>
                                        </p:tav>
                                      </p:tavLst>
                                    </p:anim>
                                    <p:anim calcmode="lin" valueType="num">
                                      <p:cBhvr>
                                        <p:cTn id="6" dur="500" fill="hold"/>
                                        <p:tgtEl>
                                          <p:spTgt spid="4"/>
                                        </p:tgtEl>
                                        <p:attrNameLst>
                                          <p:attrName>ppt_h</p:attrName>
                                        </p:attrNameLst>
                                      </p:cBhvr>
                                      <p:tavLst>
                                        <p:tav tm="0">
                                          <p:val>
                                            <p:fltVal val="0"/>
                                          </p:val>
                                        </p:tav>
                                        <p:tav tm="100000">
                                          <p:val>
                                            <p:strVal val="#ppt_h"/>
                                          </p:val>
                                        </p:tav>
                                      </p:tavLst>
                                    </p:anim>
                                    <p:animEffect transition="in" filter="fade">
                                      <p:cBhvr>
                                        <p:cTn id="7" dur="500"/>
                                        <p:tgtEl>
                                          <p:spTgt spid="4"/>
                                        </p:tgtEl>
                                      </p:cBhvr>
                                    </p:animEffect>
                                  </p:childTnLst>
                                </p:cTn>
                              </p:par>
                            </p:childTnLst>
                          </p:cTn>
                        </p:par>
                      </p:childTnLst>
                    </p:cTn>
                  </p:par>
                  <p:par>
                    <p:cTn id="14" fill="hold">
                      <p:stCondLst>
                        <p:cond delay="indefinite"/>
                      </p:stCondLst>
                      <p:childTnLst>
                        <p:par>
                          <p:cTn id="13"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9"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34" fill="hold">
                      <p:stCondLst>
                        <p:cond delay="indefinite"/>
                      </p:stCondLst>
                      <p:childTnLst>
                        <p:par>
                          <p:cTn id="33"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childTnLst>
                          </p:cTn>
                        </p:par>
                      </p:childTnLst>
                    </p:cTn>
                  </p:par>
                  <p:par>
                    <p:cTn id="49" fill="hold">
                      <p:stCondLst>
                        <p:cond delay="indefinite"/>
                      </p:stCondLst>
                      <p:childTnLst>
                        <p:par>
                          <p:cTn id="48"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0" grpId="0" animBg="1"/>
      <p:bldP spid="29" grpId="0" animBg="1"/>
    </p:bldLst>
  </p:timing>
</p:sld>
</file>

<file path=ppt/slides/slide120.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Colesterol Acetil-CoA (×3)"/>
          <p:cNvSpPr/>
          <p:nvPr/>
        </p:nvSpPr>
        <p:spPr>
          <a:xfrm>
            <a:off x="457200" y="1051560"/>
            <a:ext cx="2560320" cy="438912"/>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Acetil-CoA (×3)</a:t>
            </a:r>
            <a:endParaRPr lang="es-AR" sz="1350" dirty="0">
              <a:latin typeface="Bahnschrift SemiBold Condensed"/>
            </a:endParaRPr>
          </a:p>
        </p:txBody>
      </p:sp>
      <p:grpSp>
        <p:nvGrpSpPr>
          <p:cNvPr id="5" name="Colesterol paso 1"/>
          <p:cNvGrpSpPr/>
          <p:nvPr/>
        </p:nvGrpSpPr>
        <p:grpSpPr>
          <a:xfrm>
            <a:off x="1737360" y="1463040"/>
            <a:ext cx="725049" cy="274320"/>
            <a:chOff x="1737360" y="1463040"/>
            <a:chExt cx="725049" cy="274320"/>
          </a:xfrm>
        </p:grpSpPr>
        <p:sp>
          <p:nvSpPr>
            <p:cNvPr id="6" name="Flecha 5_2"/>
            <p:cNvSpPr/>
            <p:nvPr/>
          </p:nvSpPr>
          <p:spPr>
            <a:xfrm>
              <a:off x="1737360" y="1517904"/>
              <a:ext cx="9144" cy="182880"/>
            </a:xfrm>
            <a:custGeom>
              <a:avLst/>
              <a:gdLst/>
              <a:ahLst/>
              <a:cxnLst/>
              <a:rect l="0" t="0" r="r" b="b"/>
              <a:pathLst>
                <a:path w="10" h="199" fill="none">
                  <a:moveTo>
                    <a:pt x="0" y="0"/>
                  </a:moveTo>
                  <a:lnTo>
                    <a:pt x="0" y="199"/>
                  </a:lnTo>
                </a:path>
              </a:pathLst>
            </a:custGeom>
            <a:noFill/>
            <a:ln w="25400" cap="rnd">
              <a:solidFill>
                <a:srgbClr val="1E1E1E"/>
              </a:solidFill>
              <a:round/>
              <a:headEnd type="triangle" w="med" len="med"/>
              <a:tailEnd type="triangle" w="med" len="med"/>
            </a:ln>
          </p:spPr>
        </p:sp>
        <p:sp>
          <p:nvSpPr>
            <p:cNvPr id="7" name="Enzima tiolasa"/>
            <p:cNvSpPr/>
            <p:nvPr/>
          </p:nvSpPr>
          <p:spPr>
            <a:xfrm>
              <a:off x="1847088" y="1463040"/>
              <a:ext cx="61532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tiolasa</a:t>
              </a:r>
              <a:endParaRPr lang="es-AR" sz="1150" dirty="0">
                <a:latin typeface="Bahnschrift SemiBold Condensed"/>
              </a:endParaRPr>
            </a:p>
          </p:txBody>
        </p:sp>
      </p:grpSp>
      <p:sp>
        <p:nvSpPr>
          <p:cNvPr id="8" name="Colesterol Acetoacetil-CoA"/>
          <p:cNvSpPr/>
          <p:nvPr/>
        </p:nvSpPr>
        <p:spPr>
          <a:xfrm>
            <a:off x="457200" y="1728216"/>
            <a:ext cx="2560320" cy="438912"/>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Acetoacetil-CoA</a:t>
            </a:r>
            <a:endParaRPr lang="es-AR" sz="1350" dirty="0">
              <a:latin typeface="Bahnschrift SemiBold Condensed"/>
            </a:endParaRPr>
          </a:p>
        </p:txBody>
      </p:sp>
      <p:grpSp>
        <p:nvGrpSpPr>
          <p:cNvPr id="9" name="Colesterol paso 2"/>
          <p:cNvGrpSpPr/>
          <p:nvPr/>
        </p:nvGrpSpPr>
        <p:grpSpPr>
          <a:xfrm>
            <a:off x="1737360" y="2139696"/>
            <a:ext cx="1378403" cy="274320"/>
            <a:chOff x="1737360" y="2139696"/>
            <a:chExt cx="1378403" cy="274320"/>
          </a:xfrm>
        </p:grpSpPr>
        <p:sp>
          <p:nvSpPr>
            <p:cNvPr id="10" name="Flecha 10_2"/>
            <p:cNvSpPr/>
            <p:nvPr/>
          </p:nvSpPr>
          <p:spPr>
            <a:xfrm>
              <a:off x="1737360" y="2194560"/>
              <a:ext cx="9144" cy="182880"/>
            </a:xfrm>
            <a:custGeom>
              <a:avLst/>
              <a:gdLst/>
              <a:ahLst/>
              <a:cxnLst/>
              <a:rect l="0" t="0" r="r" b="b"/>
              <a:pathLst>
                <a:path w="10" h="200" fill="none">
                  <a:moveTo>
                    <a:pt x="0" y="0"/>
                  </a:moveTo>
                  <a:lnTo>
                    <a:pt x="0" y="200"/>
                  </a:lnTo>
                </a:path>
              </a:pathLst>
            </a:custGeom>
            <a:noFill/>
            <a:ln w="25400" cap="rnd">
              <a:solidFill>
                <a:srgbClr val="1E1E1E"/>
              </a:solidFill>
              <a:round/>
              <a:headEnd type="triangle" w="med" len="med"/>
              <a:tailEnd type="triangle" w="med" len="med"/>
            </a:ln>
          </p:spPr>
        </p:sp>
        <p:sp>
          <p:nvSpPr>
            <p:cNvPr id="11" name="Enzima HMG-CoA sintasa 1"/>
            <p:cNvSpPr/>
            <p:nvPr/>
          </p:nvSpPr>
          <p:spPr>
            <a:xfrm>
              <a:off x="1847088" y="2139696"/>
              <a:ext cx="126867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HMG-CoA sintasa 1</a:t>
              </a:r>
              <a:endParaRPr lang="es-AR" sz="1150" dirty="0">
                <a:latin typeface="Bahnschrift SemiBold Condensed"/>
              </a:endParaRPr>
            </a:p>
          </p:txBody>
        </p:sp>
      </p:grpSp>
      <p:sp>
        <p:nvSpPr>
          <p:cNvPr id="12" name="Colesterol HMG-CoA (citosólic"/>
          <p:cNvSpPr/>
          <p:nvPr/>
        </p:nvSpPr>
        <p:spPr>
          <a:xfrm>
            <a:off x="457200" y="2404872"/>
            <a:ext cx="2560320" cy="438912"/>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HMG-CoA (citosólico)</a:t>
            </a:r>
            <a:endParaRPr lang="es-AR" sz="1350" dirty="0">
              <a:latin typeface="Bahnschrift SemiBold Condensed"/>
            </a:endParaRPr>
          </a:p>
        </p:txBody>
      </p:sp>
      <p:grpSp>
        <p:nvGrpSpPr>
          <p:cNvPr id="13" name="Colesterol paso 3"/>
          <p:cNvGrpSpPr/>
          <p:nvPr/>
        </p:nvGrpSpPr>
        <p:grpSpPr>
          <a:xfrm>
            <a:off x="1737360" y="2816352"/>
            <a:ext cx="2085392" cy="274320"/>
            <a:chOff x="1737360" y="2816352"/>
            <a:chExt cx="2085392" cy="274320"/>
          </a:xfrm>
        </p:grpSpPr>
        <p:sp>
          <p:nvSpPr>
            <p:cNvPr id="14" name="Flecha 15_2"/>
            <p:cNvSpPr/>
            <p:nvPr/>
          </p:nvSpPr>
          <p:spPr>
            <a:xfrm>
              <a:off x="1737360" y="2871216"/>
              <a:ext cx="9144" cy="182880"/>
            </a:xfrm>
            <a:custGeom>
              <a:avLst/>
              <a:gdLst/>
              <a:ahLst/>
              <a:cxnLst/>
              <a:rect l="0" t="0" r="r" b="b"/>
              <a:pathLst>
                <a:path w="10" h="200" fill="none">
                  <a:moveTo>
                    <a:pt x="0" y="0"/>
                  </a:moveTo>
                  <a:lnTo>
                    <a:pt x="0" y="200"/>
                  </a:lnTo>
                </a:path>
              </a:pathLst>
            </a:custGeom>
            <a:noFill/>
            <a:ln w="44450" cap="rnd">
              <a:solidFill>
                <a:srgbClr val="1E1E1E"/>
              </a:solidFill>
              <a:round/>
              <a:tailEnd type="triangle" w="med" len="med"/>
            </a:ln>
          </p:spPr>
        </p:sp>
        <p:sp>
          <p:nvSpPr>
            <p:cNvPr id="15" name="Enzima HMG-CoA reductasa (2"/>
            <p:cNvSpPr/>
            <p:nvPr/>
          </p:nvSpPr>
          <p:spPr>
            <a:xfrm>
              <a:off x="1847088" y="2816352"/>
              <a:ext cx="1975664"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HMG-CoA reductasa</a:t>
              </a:r>
              <a:r>
                <a:rPr lang="es-AR" sz="1150" b="1" dirty="0">
                  <a:solidFill>
                    <a:srgbClr val="1F3864"/>
                  </a:solidFill>
                  <a:latin typeface="Bahnschrift SemiBold Condensed"/>
                  <a:ea typeface="Bahnschrift SemiBold Condensed"/>
                  <a:cs typeface="Bahnschrift SemiBold Condensed"/>
                  <a:sym typeface="Bahnschrift SemiBold Condensed"/>
                </a:rPr>
                <a:t> (2 NADPH)</a:t>
              </a:r>
              <a:endParaRPr lang="es-AR" sz="1150" dirty="0">
                <a:latin typeface="Bahnschrift SemiBold Condensed"/>
              </a:endParaRPr>
            </a:p>
          </p:txBody>
        </p:sp>
      </p:grpSp>
      <p:sp>
        <p:nvSpPr>
          <p:cNvPr id="16" name="Colesterol Mevalonato"/>
          <p:cNvSpPr/>
          <p:nvPr/>
        </p:nvSpPr>
        <p:spPr>
          <a:xfrm>
            <a:off x="457200" y="3081528"/>
            <a:ext cx="2560320" cy="438912"/>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Mevalonato</a:t>
            </a:r>
            <a:endParaRPr lang="es-AR" sz="1350" dirty="0">
              <a:latin typeface="Bahnschrift SemiBold Condensed"/>
            </a:endParaRPr>
          </a:p>
        </p:txBody>
      </p:sp>
      <p:grpSp>
        <p:nvGrpSpPr>
          <p:cNvPr id="17" name="Colesterol paso 4"/>
          <p:cNvGrpSpPr/>
          <p:nvPr/>
        </p:nvGrpSpPr>
        <p:grpSpPr>
          <a:xfrm>
            <a:off x="1737360" y="3493008"/>
            <a:ext cx="1139152" cy="274320"/>
            <a:chOff x="1737360" y="3493008"/>
            <a:chExt cx="1139152" cy="274320"/>
          </a:xfrm>
        </p:grpSpPr>
        <p:sp>
          <p:nvSpPr>
            <p:cNvPr id="18" name="Flecha 20_2"/>
            <p:cNvSpPr/>
            <p:nvPr/>
          </p:nvSpPr>
          <p:spPr>
            <a:xfrm>
              <a:off x="1737360" y="3547872"/>
              <a:ext cx="9144" cy="182880"/>
            </a:xfrm>
            <a:custGeom>
              <a:avLst/>
              <a:gdLst/>
              <a:ahLst/>
              <a:cxnLst/>
              <a:rect l="0" t="0" r="r" b="b"/>
              <a:pathLst>
                <a:path w="10" h="200" fill="none">
                  <a:moveTo>
                    <a:pt x="0" y="0"/>
                  </a:moveTo>
                  <a:lnTo>
                    <a:pt x="0" y="200"/>
                  </a:lnTo>
                </a:path>
              </a:pathLst>
            </a:custGeom>
            <a:noFill/>
            <a:ln w="44450" cap="rnd">
              <a:solidFill>
                <a:srgbClr val="1E1E1E"/>
              </a:solidFill>
              <a:round/>
              <a:tailEnd type="triangle" w="med" len="med"/>
            </a:ln>
          </p:spPr>
        </p:sp>
        <p:sp>
          <p:nvSpPr>
            <p:cNvPr id="19" name="Enzima cinasas (ATP)"/>
            <p:cNvSpPr/>
            <p:nvPr/>
          </p:nvSpPr>
          <p:spPr>
            <a:xfrm>
              <a:off x="1847088" y="3493008"/>
              <a:ext cx="1029424"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cinasas (ATP)</a:t>
              </a:r>
              <a:endParaRPr lang="es-AR" sz="1150" dirty="0">
                <a:latin typeface="Bahnschrift SemiBold Condensed"/>
              </a:endParaRPr>
            </a:p>
          </p:txBody>
        </p:sp>
      </p:grpSp>
      <p:sp>
        <p:nvSpPr>
          <p:cNvPr id="20" name="Colesterol IPP / DMAPP (isopr"/>
          <p:cNvSpPr/>
          <p:nvPr/>
        </p:nvSpPr>
        <p:spPr>
          <a:xfrm>
            <a:off x="457200" y="3758184"/>
            <a:ext cx="2560320" cy="438912"/>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IPP / DMAPP (isoprenoides)</a:t>
            </a:r>
            <a:endParaRPr lang="es-AR" sz="1350" dirty="0">
              <a:latin typeface="Bahnschrift SemiBold Condensed"/>
            </a:endParaRPr>
          </a:p>
        </p:txBody>
      </p:sp>
      <p:grpSp>
        <p:nvGrpSpPr>
          <p:cNvPr id="21" name="Colesterol paso 5"/>
          <p:cNvGrpSpPr/>
          <p:nvPr/>
        </p:nvGrpSpPr>
        <p:grpSpPr>
          <a:xfrm>
            <a:off x="1737360" y="4224528"/>
            <a:ext cx="9144" cy="182880"/>
            <a:chOff x="1737360" y="4224528"/>
            <a:chExt cx="9144" cy="182880"/>
          </a:xfrm>
        </p:grpSpPr>
        <p:sp>
          <p:nvSpPr>
            <p:cNvPr id="22" name="Flecha 25_2"/>
            <p:cNvSpPr/>
            <p:nvPr/>
          </p:nvSpPr>
          <p:spPr>
            <a:xfrm>
              <a:off x="1737360" y="4224528"/>
              <a:ext cx="9144" cy="182880"/>
            </a:xfrm>
            <a:custGeom>
              <a:avLst/>
              <a:gdLst/>
              <a:ahLst/>
              <a:cxnLst/>
              <a:rect l="0" t="0" r="r" b="b"/>
              <a:pathLst>
                <a:path w="10" h="199" fill="none">
                  <a:moveTo>
                    <a:pt x="0" y="0"/>
                  </a:moveTo>
                  <a:lnTo>
                    <a:pt x="0" y="199"/>
                  </a:lnTo>
                </a:path>
              </a:pathLst>
            </a:custGeom>
            <a:noFill/>
            <a:ln w="44450" cap="rnd">
              <a:solidFill>
                <a:srgbClr val="1E1E1E"/>
              </a:solidFill>
              <a:round/>
              <a:tailEnd type="triangle" w="med" len="med"/>
            </a:ln>
          </p:spPr>
        </p:sp>
      </p:grpSp>
      <p:sp>
        <p:nvSpPr>
          <p:cNvPr id="23" name="Colesterol Escualeno"/>
          <p:cNvSpPr/>
          <p:nvPr/>
        </p:nvSpPr>
        <p:spPr>
          <a:xfrm>
            <a:off x="457200" y="4434840"/>
            <a:ext cx="2560320" cy="438912"/>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Escualeno</a:t>
            </a:r>
            <a:endParaRPr lang="es-AR" sz="1350" dirty="0">
              <a:latin typeface="Bahnschrift SemiBold Condensed"/>
            </a:endParaRPr>
          </a:p>
        </p:txBody>
      </p:sp>
      <p:grpSp>
        <p:nvGrpSpPr>
          <p:cNvPr id="24" name="Colesterol paso 6"/>
          <p:cNvGrpSpPr/>
          <p:nvPr/>
        </p:nvGrpSpPr>
        <p:grpSpPr>
          <a:xfrm>
            <a:off x="1737360" y="4901184"/>
            <a:ext cx="9144" cy="182880"/>
            <a:chOff x="1737360" y="4901184"/>
            <a:chExt cx="9144" cy="182880"/>
          </a:xfrm>
        </p:grpSpPr>
        <p:sp>
          <p:nvSpPr>
            <p:cNvPr id="25" name="Flecha 29_2"/>
            <p:cNvSpPr/>
            <p:nvPr/>
          </p:nvSpPr>
          <p:spPr>
            <a:xfrm>
              <a:off x="1737360" y="4901184"/>
              <a:ext cx="9144" cy="182880"/>
            </a:xfrm>
            <a:custGeom>
              <a:avLst/>
              <a:gdLst/>
              <a:ahLst/>
              <a:cxnLst/>
              <a:rect l="0" t="0" r="r" b="b"/>
              <a:pathLst>
                <a:path w="10" h="199" fill="none">
                  <a:moveTo>
                    <a:pt x="0" y="0"/>
                  </a:moveTo>
                  <a:lnTo>
                    <a:pt x="0" y="199"/>
                  </a:lnTo>
                </a:path>
              </a:pathLst>
            </a:custGeom>
            <a:noFill/>
            <a:ln w="44450" cap="rnd">
              <a:solidFill>
                <a:srgbClr val="1E1E1E"/>
              </a:solidFill>
              <a:round/>
              <a:tailEnd type="triangle" w="med" len="med"/>
            </a:ln>
          </p:spPr>
        </p:sp>
      </p:grpSp>
      <p:sp>
        <p:nvSpPr>
          <p:cNvPr id="26" name="Colesterol Lanosterol"/>
          <p:cNvSpPr/>
          <p:nvPr/>
        </p:nvSpPr>
        <p:spPr>
          <a:xfrm>
            <a:off x="457200" y="5111496"/>
            <a:ext cx="2560320" cy="438912"/>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Lanosterol</a:t>
            </a:r>
            <a:endParaRPr lang="es-AR" sz="1350" dirty="0">
              <a:latin typeface="Bahnschrift SemiBold Condensed"/>
            </a:endParaRPr>
          </a:p>
        </p:txBody>
      </p:sp>
      <p:grpSp>
        <p:nvGrpSpPr>
          <p:cNvPr id="27" name="Colesterol paso 7"/>
          <p:cNvGrpSpPr/>
          <p:nvPr/>
        </p:nvGrpSpPr>
        <p:grpSpPr>
          <a:xfrm>
            <a:off x="1737360" y="5522976"/>
            <a:ext cx="1242620" cy="274320"/>
            <a:chOff x="1737360" y="5522976"/>
            <a:chExt cx="1242620" cy="274320"/>
          </a:xfrm>
        </p:grpSpPr>
        <p:sp>
          <p:nvSpPr>
            <p:cNvPr id="28" name="Flecha 33_2"/>
            <p:cNvSpPr/>
            <p:nvPr/>
          </p:nvSpPr>
          <p:spPr>
            <a:xfrm>
              <a:off x="1737360" y="5577840"/>
              <a:ext cx="9144" cy="182880"/>
            </a:xfrm>
            <a:custGeom>
              <a:avLst/>
              <a:gdLst/>
              <a:ahLst/>
              <a:cxnLst/>
              <a:rect l="0" t="0" r="r" b="b"/>
              <a:pathLst>
                <a:path w="10" h="199" fill="none">
                  <a:moveTo>
                    <a:pt x="0" y="0"/>
                  </a:moveTo>
                  <a:lnTo>
                    <a:pt x="0" y="199"/>
                  </a:lnTo>
                </a:path>
              </a:pathLst>
            </a:custGeom>
            <a:noFill/>
            <a:ln w="44450" cap="rnd">
              <a:solidFill>
                <a:srgbClr val="1E1E1E"/>
              </a:solidFill>
              <a:round/>
              <a:tailEnd type="triangle" w="med" len="med"/>
            </a:ln>
          </p:spPr>
        </p:sp>
        <p:sp>
          <p:nvSpPr>
            <p:cNvPr id="29" name="Enzima múltiples pasos"/>
            <p:cNvSpPr/>
            <p:nvPr/>
          </p:nvSpPr>
          <p:spPr>
            <a:xfrm>
              <a:off x="1847088" y="5522976"/>
              <a:ext cx="113289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múltiples pasos</a:t>
              </a:r>
              <a:endParaRPr lang="es-AR" sz="1150" dirty="0">
                <a:latin typeface="Bahnschrift SemiBold Condensed"/>
              </a:endParaRPr>
            </a:p>
          </p:txBody>
        </p:sp>
      </p:grpSp>
      <p:sp>
        <p:nvSpPr>
          <p:cNvPr id="30" name="Colesterol Colesterol"/>
          <p:cNvSpPr/>
          <p:nvPr/>
        </p:nvSpPr>
        <p:spPr>
          <a:xfrm>
            <a:off x="457200" y="5788152"/>
            <a:ext cx="2560320" cy="438912"/>
          </a:xfrm>
          <a:prstGeom prst="roundRect">
            <a:avLst>
              <a:gd name="adj" fmla="val 30000"/>
            </a:avLst>
          </a:prstGeom>
          <a:solidFill>
            <a:srgbClr val="F39C12"/>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Colesterol</a:t>
            </a:r>
            <a:endParaRPr lang="es-AR" sz="1350" dirty="0">
              <a:latin typeface="Bahnschrift SemiBold Condensed"/>
            </a:endParaRPr>
          </a:p>
        </p:txBody>
      </p:sp>
      <p:sp>
        <p:nvSpPr>
          <p:cNvPr id="31" name="Resalte paso limitante"/>
          <p:cNvSpPr/>
          <p:nvPr/>
        </p:nvSpPr>
        <p:spPr>
          <a:xfrm>
            <a:off x="320040" y="2331720"/>
            <a:ext cx="5669280" cy="868680"/>
          </a:xfrm>
          <a:prstGeom prst="rect">
            <a:avLst/>
          </a:prstGeom>
          <a:noFill/>
          <a:ln w="31750" cap="rnd">
            <a:solidFill>
              <a:srgbClr val="C00000"/>
            </a:solidFill>
            <a:prstDash val="dash"/>
            <a:round/>
          </a:ln>
        </p:spPr>
      </p:sp>
      <p:grpSp>
        <p:nvGrpSpPr>
          <p:cNvPr id="32" name="Recuadro Paso limitante"/>
          <p:cNvGrpSpPr/>
          <p:nvPr/>
        </p:nvGrpSpPr>
        <p:grpSpPr>
          <a:xfrm>
            <a:off x="6400800" y="1005840"/>
            <a:ext cx="5394960" cy="2194560"/>
            <a:chOff x="6400800" y="1005840"/>
            <a:chExt cx="5394960" cy="2194560"/>
          </a:xfrm>
        </p:grpSpPr>
        <p:sp>
          <p:nvSpPr>
            <p:cNvPr id="33" name="Forma 39"/>
            <p:cNvSpPr/>
            <p:nvPr/>
          </p:nvSpPr>
          <p:spPr>
            <a:xfrm>
              <a:off x="6400800" y="1188720"/>
              <a:ext cx="5394960" cy="2011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La </a:t>
              </a:r>
              <a:r>
                <a:rPr lang="es-AR" sz="1700" b="1" dirty="0">
                  <a:solidFill>
                    <a:srgbClr val="1E1E1E"/>
                  </a:solidFill>
                  <a:latin typeface="Bahnschrift"/>
                  <a:ea typeface="Bahnschrift"/>
                  <a:cs typeface="Bahnschrift"/>
                  <a:sym typeface="Bahnschrift"/>
                </a:rPr>
                <a:t>HMG-CoA reductasa</a:t>
              </a:r>
              <a:r>
                <a:rPr lang="es-AR" sz="1700" dirty="0">
                  <a:solidFill>
                    <a:srgbClr val="1E1E1E"/>
                  </a:solidFill>
                  <a:latin typeface="Bahnschrift"/>
                  <a:ea typeface="Bahnschrift"/>
                  <a:cs typeface="Bahnschrift"/>
                  <a:sym typeface="Bahnschrift"/>
                </a:rPr>
                <a:t> (RE, citosol) es la </a:t>
              </a:r>
              <a:r>
                <a:rPr lang="es-AR" sz="1700" b="1" dirty="0">
                  <a:solidFill>
                    <a:srgbClr val="1E1E1E"/>
                  </a:solidFill>
                  <a:latin typeface="Bahnschrift"/>
                  <a:ea typeface="Bahnschrift"/>
                  <a:cs typeface="Bahnschrift"/>
                  <a:sym typeface="Bahnschrift"/>
                </a:rPr>
                <a:t>enzima de control clásico</a:t>
              </a:r>
              <a:r>
                <a:rPr lang="es-AR" sz="1700" dirty="0">
                  <a:solidFill>
                    <a:srgbClr val="1E1E1E"/>
                  </a:solidFill>
                  <a:latin typeface="Bahnschrift"/>
                  <a:ea typeface="Bahnschrift"/>
                  <a:cs typeface="Bahnschrift"/>
                  <a:sym typeface="Bahnschrift"/>
                </a:rPr>
                <a:t> de la vía; usa NADPH.</a:t>
              </a:r>
              <a:endParaRPr lang="es-AR" sz="1700" dirty="0">
                <a:latin typeface="Bahnschrift"/>
              </a:endParaRPr>
            </a:p>
          </p:txBody>
        </p:sp>
        <p:sp>
          <p:nvSpPr>
            <p:cNvPr id="34" name="Forma 40"/>
            <p:cNvSpPr/>
            <p:nvPr/>
          </p:nvSpPr>
          <p:spPr>
            <a:xfrm>
              <a:off x="6510528" y="1005840"/>
              <a:ext cx="157081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PASO LIMITANTE</a:t>
              </a:r>
              <a:endParaRPr lang="es-AR" sz="1550" dirty="0">
                <a:latin typeface="Bahnschrift SemiBold Condensed"/>
              </a:endParaRPr>
            </a:p>
          </p:txBody>
        </p:sp>
      </p:grpSp>
      <p:sp>
        <p:nvSpPr>
          <p:cNvPr id="35" name="Perla"/>
          <p:cNvSpPr/>
          <p:nvPr/>
        </p:nvSpPr>
        <p:spPr>
          <a:xfrm>
            <a:off x="6400800" y="3383280"/>
            <a:ext cx="5394960" cy="18288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No confundir: </a:t>
            </a:r>
            <a:r>
              <a:rPr lang="es-AR" sz="1700" b="1" dirty="0">
                <a:solidFill>
                  <a:srgbClr val="FFFFFF"/>
                </a:solidFill>
                <a:latin typeface="Bahnschrift"/>
                <a:ea typeface="Bahnschrift"/>
                <a:cs typeface="Bahnschrift"/>
                <a:sym typeface="Bahnschrift"/>
              </a:rPr>
              <a:t>HMG-CoA reductasa</a:t>
            </a:r>
            <a:r>
              <a:rPr lang="es-AR" sz="1700" dirty="0">
                <a:solidFill>
                  <a:srgbClr val="FFFFFF"/>
                </a:solidFill>
                <a:latin typeface="Bahnschrift"/>
                <a:ea typeface="Bahnschrift"/>
                <a:cs typeface="Bahnschrift"/>
                <a:sym typeface="Bahnschrift"/>
              </a:rPr>
              <a:t> (colesterol, citosol/RE) ≠ </a:t>
            </a:r>
            <a:r>
              <a:rPr lang="es-AR" sz="1700" b="1" dirty="0">
                <a:solidFill>
                  <a:srgbClr val="FFFFFF"/>
                </a:solidFill>
                <a:latin typeface="Bahnschrift"/>
                <a:ea typeface="Bahnschrift"/>
                <a:cs typeface="Bahnschrift"/>
                <a:sym typeface="Bahnschrift"/>
              </a:rPr>
              <a:t>HMG-CoA liasa</a:t>
            </a:r>
            <a:r>
              <a:rPr lang="es-AR" sz="1700" dirty="0">
                <a:solidFill>
                  <a:srgbClr val="FFFFFF"/>
                </a:solidFill>
                <a:latin typeface="Bahnschrift"/>
                <a:ea typeface="Bahnschrift"/>
                <a:cs typeface="Bahnschrift"/>
                <a:sym typeface="Bahnschrift"/>
              </a:rPr>
              <a:t> mitocondrial (cetogénesis).</a:t>
            </a:r>
            <a:endParaRPr lang="es-AR" sz="1700" dirty="0">
              <a:latin typeface="Bahnschrift"/>
            </a:endParaRPr>
          </a:p>
        </p:txBody>
      </p:sp>
      <p:sp>
        <p:nvSpPr>
          <p:cNvPr id="36" name="Forma 42"/>
          <p:cNvSpPr/>
          <p:nvPr/>
        </p:nvSpPr>
        <p:spPr>
          <a:xfrm>
            <a:off x="6400800" y="5394960"/>
            <a:ext cx="5394960" cy="10972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Las </a:t>
            </a:r>
            <a:r>
              <a:rPr lang="es-AR" sz="1650" b="1" dirty="0">
                <a:solidFill>
                  <a:srgbClr val="1E1E1E"/>
                </a:solidFill>
                <a:latin typeface="Bahnschrift"/>
                <a:ea typeface="Bahnschrift"/>
                <a:cs typeface="Bahnschrift"/>
                <a:sym typeface="Bahnschrift"/>
              </a:rPr>
              <a:t>estatinas</a:t>
            </a:r>
            <a:r>
              <a:rPr lang="es-AR" sz="1650" dirty="0">
                <a:solidFill>
                  <a:srgbClr val="1E1E1E"/>
                </a:solidFill>
                <a:latin typeface="Bahnschrift"/>
                <a:ea typeface="Bahnschrift"/>
                <a:cs typeface="Bahnschrift"/>
                <a:sym typeface="Bahnschrift"/>
              </a:rPr>
              <a:t> inhiben competitivamente la HMG-CoA reductasa.</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98976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BIOSÍNTESIS DE COLESTEROL EN EL HEPATOCITO</a:t>
            </a:r>
            <a:endParaRPr lang="es-AR" sz="2600" dirty="0">
              <a:latin typeface="Bahnschrift SemiBold Condensed"/>
            </a:endParaRPr>
          </a:p>
        </p:txBody>
      </p:sp>
      <p:sp>
        <p:nvSpPr>
          <p:cNvPr id="3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wipe(up)">
                                      <p:cBhvr>
                                        <p:cTn id="9" dur="600"/>
                                        <p:tgtEl>
                                          <p:spTgt spid="5"/>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32" fill="hold">
                      <p:stCondLst>
                        <p:cond delay="indefinite"/>
                      </p:stCondLst>
                      <p:childTnLst>
                        <p:par>
                          <p:cTn id="19"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600"/>
                                        <p:tgtEl>
                                          <p:spTgt spid="9"/>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par>
                          <p:cTn id="27" fill="hold">
                            <p:stCondLst>
                              <p:cond delay="1100"/>
                            </p:stCondLst>
                            <p:childTnLst>
                              <p:par>
                                <p:cTn id="24" presetID="22" presetClass="entr" presetSubtype="1" fill="hold" grpId="0"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wipe(up)">
                                      <p:cBhvr>
                                        <p:cTn id="26" dur="600"/>
                                        <p:tgtEl>
                                          <p:spTgt spid="13"/>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49" fill="hold">
                      <p:stCondLst>
                        <p:cond delay="indefinite"/>
                      </p:stCondLst>
                      <p:childTnLst>
                        <p:par>
                          <p:cTn id="36"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600"/>
                                        <p:tgtEl>
                                          <p:spTgt spid="17"/>
                                        </p:tgtEl>
                                      </p:cBhvr>
                                    </p:animEffect>
                                  </p:childTnLst>
                                </p:cTn>
                              </p:par>
                            </p:childTnLst>
                          </p:cTn>
                        </p:par>
                        <p:par>
                          <p:cTn id="40" fill="hold">
                            <p:stCondLst>
                              <p:cond delay="600"/>
                            </p:stCondLst>
                            <p:childTnLst>
                              <p:par>
                                <p:cTn id="37" presetID="10" presetClass="entr" presetSubtype="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par>
                          <p:cTn id="44" fill="hold">
                            <p:stCondLst>
                              <p:cond delay="1100"/>
                            </p:stCondLst>
                            <p:childTnLst>
                              <p:par>
                                <p:cTn id="41" presetID="22" presetClass="entr" presetSubtype="1" fill="hold" grpId="0"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up)">
                                      <p:cBhvr>
                                        <p:cTn id="43" dur="600"/>
                                        <p:tgtEl>
                                          <p:spTgt spid="21"/>
                                        </p:tgtEl>
                                      </p:cBhvr>
                                    </p:animEffect>
                                  </p:childTnLst>
                                </p:cTn>
                              </p:par>
                            </p:childTnLst>
                          </p:cTn>
                        </p:par>
                        <p:par>
                          <p:cTn id="48" fill="hold">
                            <p:stCondLst>
                              <p:cond delay="1700"/>
                            </p:stCondLst>
                            <p:childTnLst>
                              <p:par>
                                <p:cTn id="45" presetID="10"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childTnLst>
                                </p:cTn>
                              </p:par>
                            </p:childTnLst>
                          </p:cTn>
                        </p:par>
                      </p:childTnLst>
                    </p:cTn>
                  </p:par>
                  <p:par>
                    <p:cTn id="66" fill="hold">
                      <p:stCondLst>
                        <p:cond delay="indefinite"/>
                      </p:stCondLst>
                      <p:childTnLst>
                        <p:par>
                          <p:cTn id="53" fill="hold">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wipe(up)">
                                      <p:cBhvr>
                                        <p:cTn id="52" dur="600"/>
                                        <p:tgtEl>
                                          <p:spTgt spid="24"/>
                                        </p:tgtEl>
                                      </p:cBhvr>
                                    </p:animEffect>
                                  </p:childTnLst>
                                </p:cTn>
                              </p:par>
                            </p:childTnLst>
                          </p:cTn>
                        </p:par>
                        <p:par>
                          <p:cTn id="57" fill="hold">
                            <p:stCondLst>
                              <p:cond delay="600"/>
                            </p:stCondLst>
                            <p:childTnLst>
                              <p:par>
                                <p:cTn id="54" presetID="10" presetClass="entr" presetSubtype="0"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par>
                          <p:cTn id="61" fill="hold">
                            <p:stCondLst>
                              <p:cond delay="1100"/>
                            </p:stCondLst>
                            <p:childTnLst>
                              <p:par>
                                <p:cTn id="58" presetID="22" presetClass="entr" presetSubtype="1" fill="hold" grpId="0" nodeType="after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wipe(up)">
                                      <p:cBhvr>
                                        <p:cTn id="60" dur="600"/>
                                        <p:tgtEl>
                                          <p:spTgt spid="27"/>
                                        </p:tgtEl>
                                      </p:cBhvr>
                                    </p:animEffect>
                                  </p:childTnLst>
                                </p:cTn>
                              </p:par>
                            </p:childTnLst>
                          </p:cTn>
                        </p:par>
                        <p:par>
                          <p:cTn id="65" fill="hold">
                            <p:stCondLst>
                              <p:cond delay="1700"/>
                            </p:stCondLst>
                            <p:childTnLst>
                              <p:par>
                                <p:cTn id="62" presetID="10" presetClass="entr" presetSubtype="0" fill="hold" grpId="0" nodeType="after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childTnLst>
                    </p:cTn>
                  </p:par>
                  <p:par>
                    <p:cTn id="74" fill="hold">
                      <p:stCondLst>
                        <p:cond delay="indefinite"/>
                      </p:stCondLst>
                      <p:childTnLst>
                        <p:par>
                          <p:cTn id="73"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fade">
                                      <p:cBhvr>
                                        <p:cTn id="69" dur="500"/>
                                        <p:tgtEl>
                                          <p:spTgt spid="3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childTnLst>
                          </p:cTn>
                        </p:par>
                      </p:childTnLst>
                    </p:cTn>
                  </p:par>
                  <p:par>
                    <p:cTn id="79" fill="hold">
                      <p:stCondLst>
                        <p:cond delay="indefinite"/>
                      </p:stCondLst>
                      <p:childTnLst>
                        <p:par>
                          <p:cTn id="78"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5"/>
                                        </p:tgtEl>
                                        <p:attrNameLst>
                                          <p:attrName>style.visibility</p:attrName>
                                        </p:attrNameLst>
                                      </p:cBhvr>
                                      <p:to>
                                        <p:strVal val="visible"/>
                                      </p:to>
                                    </p:set>
                                    <p:animEffect transition="in" filter="fade">
                                      <p:cBhvr>
                                        <p:cTn id="77" dur="500"/>
                                        <p:tgtEl>
                                          <p:spTgt spid="35"/>
                                        </p:tgtEl>
                                      </p:cBhvr>
                                    </p:animEffect>
                                  </p:childTnLst>
                                </p:cTn>
                              </p:par>
                            </p:childTnLst>
                          </p:cTn>
                        </p:par>
                      </p:childTnLst>
                    </p:cTn>
                  </p:par>
                  <p:par>
                    <p:cTn id="84" fill="hold">
                      <p:stCondLst>
                        <p:cond delay="indefinite"/>
                      </p:stCondLst>
                      <p:childTnLst>
                        <p:par>
                          <p:cTn id="83"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6"/>
                                        </p:tgtEl>
                                        <p:attrNameLst>
                                          <p:attrName>style.visibility</p:attrName>
                                        </p:attrNameLst>
                                      </p:cBhvr>
                                      <p:to>
                                        <p:strVal val="visible"/>
                                      </p:to>
                                    </p:set>
                                    <p:animEffect transition="in" filter="fade">
                                      <p:cBhvr>
                                        <p:cTn id="8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2" grpId="0" animBg="1"/>
      <p:bldP spid="16" grpId="0" animBg="1"/>
      <p:bldP spid="20" grpId="0" animBg="1"/>
      <p:bldP spid="23" grpId="0" animBg="1"/>
      <p:bldP spid="26" grpId="0" animBg="1"/>
      <p:bldP spid="30" grpId="0" animBg="1"/>
      <p:bldP spid="31" grpId="0" animBg="1"/>
      <p:bldP spid="35" grpId="0" animBg="1"/>
      <p:bldP spid="36" grpId="0" animBg="1"/>
    </p:bldLst>
  </p:timing>
</p:sld>
</file>

<file path=ppt/slides/slide121.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HMGCR"/>
          <p:cNvSpPr/>
          <p:nvPr/>
        </p:nvSpPr>
        <p:spPr>
          <a:xfrm>
            <a:off x="4251960" y="2651760"/>
            <a:ext cx="3657600" cy="1463040"/>
          </a:xfrm>
          <a:prstGeom prst="roundRect">
            <a:avLst>
              <a:gd name="adj" fmla="val 30000"/>
            </a:avLst>
          </a:prstGeom>
          <a:solidFill>
            <a:srgbClr val="FFFFFF"/>
          </a:solidFill>
          <a:ln w="38100" cap="rnd">
            <a:solidFill>
              <a:srgbClr val="1F3864"/>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400" b="1" dirty="0">
                <a:solidFill>
                  <a:srgbClr val="1F3864"/>
                </a:solidFill>
                <a:latin typeface="Bahnschrift SemiBold Condensed"/>
                <a:ea typeface="Bahnschrift SemiBold Condensed"/>
                <a:cs typeface="Bahnschrift SemiBold Condensed"/>
                <a:sym typeface="Bahnschrift SemiBold Condensed"/>
              </a:rPr>
              <a:t>HMG-CoA</a:t>
            </a:r>
            <a:endParaRPr lang="es-AR" sz="2400" dirty="0">
              <a:latin typeface="Bahnschrift SemiBold Condensed"/>
            </a:endParaRPr>
          </a:p>
          <a:p>
            <a:pPr algn="ctr">
              <a:spcAft>
                <a:spcPts val="300"/>
              </a:spcAft>
              <a:buNone/>
            </a:pPr>
            <a:r>
              <a:rPr lang="es-AR" sz="2400" b="1" dirty="0">
                <a:solidFill>
                  <a:srgbClr val="1F3864"/>
                </a:solidFill>
                <a:latin typeface="Bahnschrift SemiBold Condensed"/>
                <a:ea typeface="Bahnschrift SemiBold Condensed"/>
                <a:cs typeface="Bahnschrift SemiBold Condensed"/>
                <a:sym typeface="Bahnschrift SemiBold Condensed"/>
              </a:rPr>
              <a:t>REDUCTASA</a:t>
            </a:r>
            <a:endParaRPr lang="es-AR" sz="2400" dirty="0">
              <a:latin typeface="Bahnschrift SemiBold Condensed"/>
            </a:endParaRPr>
          </a:p>
        </p:txBody>
      </p:sp>
      <p:grpSp>
        <p:nvGrpSpPr>
          <p:cNvPr id="5" name="Regulador SREBP-2 ↑ tr"/>
          <p:cNvGrpSpPr/>
          <p:nvPr/>
        </p:nvGrpSpPr>
        <p:grpSpPr>
          <a:xfrm>
            <a:off x="365760" y="1005840"/>
            <a:ext cx="3858768" cy="2377440"/>
            <a:chOff x="365760" y="1005840"/>
            <a:chExt cx="3858768" cy="2377440"/>
          </a:xfrm>
        </p:grpSpPr>
        <p:sp>
          <p:nvSpPr>
            <p:cNvPr id="6" name="Flecha 5_2"/>
            <p:cNvSpPr/>
            <p:nvPr/>
          </p:nvSpPr>
          <p:spPr>
            <a:xfrm>
              <a:off x="3977640" y="1691640"/>
              <a:ext cx="246888" cy="1691640"/>
            </a:xfrm>
            <a:custGeom>
              <a:avLst/>
              <a:gdLst/>
              <a:ahLst/>
              <a:cxnLst/>
              <a:rect l="0" t="0" r="r" b="b"/>
              <a:pathLst>
                <a:path w="269" h="1850" fill="none">
                  <a:moveTo>
                    <a:pt x="0" y="0"/>
                  </a:moveTo>
                  <a:lnTo>
                    <a:pt x="269" y="1850"/>
                  </a:lnTo>
                </a:path>
              </a:pathLst>
            </a:custGeom>
            <a:noFill/>
            <a:ln w="38100" cap="rnd">
              <a:solidFill>
                <a:srgbClr val="1E8C3A"/>
              </a:solidFill>
              <a:round/>
              <a:tailEnd type="triangle" w="med" len="med"/>
            </a:ln>
          </p:spPr>
        </p:sp>
        <p:sp>
          <p:nvSpPr>
            <p:cNvPr id="7" name="Forma 7"/>
            <p:cNvSpPr/>
            <p:nvPr/>
          </p:nvSpPr>
          <p:spPr>
            <a:xfrm>
              <a:off x="365760" y="1005840"/>
              <a:ext cx="3566160" cy="13716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SREBP-2 ↑ transcripción</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cuando el </a:t>
              </a:r>
              <a:r>
                <a:rPr lang="es-AR" sz="1400" b="1" dirty="0">
                  <a:solidFill>
                    <a:srgbClr val="1E1E1E"/>
                  </a:solidFill>
                  <a:latin typeface="Bahnschrift"/>
                  <a:ea typeface="Bahnschrift"/>
                  <a:cs typeface="Bahnschrift"/>
                  <a:sym typeface="Bahnschrift"/>
                </a:rPr>
                <a:t>colesterol intracelular es bajo</a:t>
              </a:r>
              <a:endParaRPr lang="es-AR" sz="1400" dirty="0">
                <a:latin typeface="Bahnschrift"/>
              </a:endParaRPr>
            </a:p>
          </p:txBody>
        </p:sp>
      </p:grpSp>
      <p:grpSp>
        <p:nvGrpSpPr>
          <p:cNvPr id="8" name="Regulador Insulina"/>
          <p:cNvGrpSpPr/>
          <p:nvPr/>
        </p:nvGrpSpPr>
        <p:grpSpPr>
          <a:xfrm>
            <a:off x="365760" y="3383280"/>
            <a:ext cx="3858768" cy="2468880"/>
            <a:chOff x="365760" y="3383280"/>
            <a:chExt cx="3858768" cy="2468880"/>
          </a:xfrm>
        </p:grpSpPr>
        <p:sp>
          <p:nvSpPr>
            <p:cNvPr id="9" name="Flecha 9_2"/>
            <p:cNvSpPr/>
            <p:nvPr/>
          </p:nvSpPr>
          <p:spPr>
            <a:xfrm>
              <a:off x="3977640" y="3383280"/>
              <a:ext cx="246888" cy="1783080"/>
            </a:xfrm>
            <a:custGeom>
              <a:avLst/>
              <a:gdLst/>
              <a:ahLst/>
              <a:cxnLst/>
              <a:rect l="0" t="0" r="r" b="b"/>
              <a:pathLst>
                <a:path w="269" h="1950" fill="none">
                  <a:moveTo>
                    <a:pt x="0" y="1950"/>
                  </a:moveTo>
                  <a:lnTo>
                    <a:pt x="269" y="0"/>
                  </a:lnTo>
                </a:path>
              </a:pathLst>
            </a:custGeom>
            <a:noFill/>
            <a:ln w="38100" cap="rnd">
              <a:solidFill>
                <a:srgbClr val="1E8C3A"/>
              </a:solidFill>
              <a:round/>
              <a:tailEnd type="triangle" w="med" len="med"/>
            </a:ln>
          </p:spPr>
        </p:sp>
        <p:sp>
          <p:nvSpPr>
            <p:cNvPr id="10" name="Forma 11"/>
            <p:cNvSpPr/>
            <p:nvPr/>
          </p:nvSpPr>
          <p:spPr>
            <a:xfrm>
              <a:off x="365760" y="4480560"/>
              <a:ext cx="3566160" cy="13716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Insulina</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puede </a:t>
              </a:r>
              <a:r>
                <a:rPr lang="es-AR" sz="1400" b="1" dirty="0">
                  <a:solidFill>
                    <a:srgbClr val="1E1E1E"/>
                  </a:solidFill>
                  <a:latin typeface="Bahnschrift"/>
                  <a:ea typeface="Bahnschrift"/>
                  <a:cs typeface="Bahnschrift"/>
                  <a:sym typeface="Bahnschrift"/>
                </a:rPr>
                <a:t>favorecer</a:t>
              </a:r>
              <a:r>
                <a:rPr lang="es-AR" sz="1400" dirty="0">
                  <a:solidFill>
                    <a:srgbClr val="1E1E1E"/>
                  </a:solidFill>
                  <a:latin typeface="Bahnschrift"/>
                  <a:ea typeface="Bahnschrift"/>
                  <a:cs typeface="Bahnschrift"/>
                  <a:sym typeface="Bahnschrift"/>
                </a:rPr>
                <a:t> su actividad</a:t>
              </a:r>
              <a:endParaRPr lang="es-AR" sz="1400" dirty="0">
                <a:latin typeface="Bahnschrift"/>
              </a:endParaRPr>
            </a:p>
          </p:txBody>
        </p:sp>
      </p:grpSp>
      <p:grpSp>
        <p:nvGrpSpPr>
          <p:cNvPr id="11" name="Regulador Esteroles"/>
          <p:cNvGrpSpPr/>
          <p:nvPr/>
        </p:nvGrpSpPr>
        <p:grpSpPr>
          <a:xfrm>
            <a:off x="7837880" y="1005840"/>
            <a:ext cx="3957880" cy="2394584"/>
            <a:chOff x="7837880" y="1005840"/>
            <a:chExt cx="3957880" cy="2394584"/>
          </a:xfrm>
        </p:grpSpPr>
        <p:grpSp>
          <p:nvGrpSpPr>
            <p:cNvPr id="12" name="Inhibición"/>
            <p:cNvGrpSpPr/>
            <p:nvPr/>
          </p:nvGrpSpPr>
          <p:grpSpPr>
            <a:xfrm>
              <a:off x="7837880" y="1691640"/>
              <a:ext cx="391720" cy="1708784"/>
              <a:chOff x="7837880" y="1691640"/>
              <a:chExt cx="391720" cy="1708784"/>
            </a:xfrm>
          </p:grpSpPr>
          <p:sp>
            <p:nvSpPr>
              <p:cNvPr id="13" name="Flecha 14_2"/>
              <p:cNvSpPr/>
              <p:nvPr/>
            </p:nvSpPr>
            <p:spPr>
              <a:xfrm>
                <a:off x="7936992" y="1691640"/>
                <a:ext cx="292608" cy="1691640"/>
              </a:xfrm>
              <a:custGeom>
                <a:avLst/>
                <a:gdLst/>
                <a:ahLst/>
                <a:cxnLst/>
                <a:rect l="0" t="0" r="r" b="b"/>
                <a:pathLst>
                  <a:path w="320" h="1850" fill="none">
                    <a:moveTo>
                      <a:pt x="320" y="0"/>
                    </a:moveTo>
                    <a:lnTo>
                      <a:pt x="0" y="1850"/>
                    </a:lnTo>
                  </a:path>
                </a:pathLst>
              </a:custGeom>
              <a:noFill/>
              <a:ln w="38100" cap="rnd">
                <a:solidFill>
                  <a:srgbClr val="C00000"/>
                </a:solidFill>
                <a:round/>
              </a:ln>
            </p:spPr>
          </p:sp>
          <p:sp>
            <p:nvSpPr>
              <p:cNvPr id="14" name="Flecha 16_2"/>
              <p:cNvSpPr/>
              <p:nvPr/>
            </p:nvSpPr>
            <p:spPr>
              <a:xfrm>
                <a:off x="7837880" y="3366136"/>
                <a:ext cx="198224" cy="34287"/>
              </a:xfrm>
              <a:custGeom>
                <a:avLst/>
                <a:gdLst/>
                <a:ahLst/>
                <a:cxnLst/>
                <a:rect l="0" t="0" r="r" b="b"/>
                <a:pathLst>
                  <a:path w="216" h="37" fill="none">
                    <a:moveTo>
                      <a:pt x="216" y="37"/>
                    </a:moveTo>
                    <a:lnTo>
                      <a:pt x="0" y="0"/>
                    </a:lnTo>
                  </a:path>
                </a:pathLst>
              </a:custGeom>
              <a:noFill/>
              <a:ln w="60960" cap="rnd">
                <a:solidFill>
                  <a:srgbClr val="C00000"/>
                </a:solidFill>
                <a:round/>
              </a:ln>
            </p:spPr>
          </p:sp>
        </p:grpSp>
        <p:sp>
          <p:nvSpPr>
            <p:cNvPr id="15" name="Forma 18"/>
            <p:cNvSpPr/>
            <p:nvPr/>
          </p:nvSpPr>
          <p:spPr>
            <a:xfrm>
              <a:off x="8229600" y="1005840"/>
              <a:ext cx="3566160" cy="13716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Esteroles</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favorecen su </a:t>
              </a:r>
              <a:r>
                <a:rPr lang="es-AR" sz="1400" b="1" dirty="0">
                  <a:solidFill>
                    <a:srgbClr val="1E1E1E"/>
                  </a:solidFill>
                  <a:latin typeface="Bahnschrift"/>
                  <a:ea typeface="Bahnschrift"/>
                  <a:cs typeface="Bahnschrift"/>
                  <a:sym typeface="Bahnschrift"/>
                </a:rPr>
                <a:t>degradación</a:t>
              </a:r>
              <a:r>
                <a:rPr lang="es-AR" sz="1400" dirty="0">
                  <a:solidFill>
                    <a:srgbClr val="1E1E1E"/>
                  </a:solidFill>
                  <a:latin typeface="Bahnschrift"/>
                  <a:ea typeface="Bahnschrift"/>
                  <a:cs typeface="Bahnschrift"/>
                  <a:sym typeface="Bahnschrift"/>
                </a:rPr>
                <a:t> (Insig, ubiquitinación)</a:t>
              </a:r>
              <a:endParaRPr lang="es-AR" sz="1400" dirty="0">
                <a:latin typeface="Bahnschrift"/>
              </a:endParaRPr>
            </a:p>
          </p:txBody>
        </p:sp>
      </p:grpSp>
      <p:grpSp>
        <p:nvGrpSpPr>
          <p:cNvPr id="16" name="Regulador AMPK"/>
          <p:cNvGrpSpPr/>
          <p:nvPr/>
        </p:nvGrpSpPr>
        <p:grpSpPr>
          <a:xfrm>
            <a:off x="7921464" y="2743200"/>
            <a:ext cx="3874296" cy="1371600"/>
            <a:chOff x="7921464" y="2743200"/>
            <a:chExt cx="3874296" cy="1371600"/>
          </a:xfrm>
        </p:grpSpPr>
        <p:grpSp>
          <p:nvGrpSpPr>
            <p:cNvPr id="17" name="Inhibición_2"/>
            <p:cNvGrpSpPr/>
            <p:nvPr/>
          </p:nvGrpSpPr>
          <p:grpSpPr>
            <a:xfrm>
              <a:off x="7921464" y="3283902"/>
              <a:ext cx="308136" cy="198756"/>
              <a:chOff x="7921464" y="3283902"/>
              <a:chExt cx="308136" cy="198756"/>
            </a:xfrm>
          </p:grpSpPr>
          <p:sp>
            <p:nvSpPr>
              <p:cNvPr id="18" name="Flecha 21_2"/>
              <p:cNvSpPr/>
              <p:nvPr/>
            </p:nvSpPr>
            <p:spPr>
              <a:xfrm>
                <a:off x="7936992" y="3383280"/>
                <a:ext cx="292608" cy="45720"/>
              </a:xfrm>
              <a:custGeom>
                <a:avLst/>
                <a:gdLst/>
                <a:ahLst/>
                <a:cxnLst/>
                <a:rect l="0" t="0" r="r" b="b"/>
                <a:pathLst>
                  <a:path w="320" h="49" fill="none">
                    <a:moveTo>
                      <a:pt x="320" y="49"/>
                    </a:moveTo>
                    <a:lnTo>
                      <a:pt x="0" y="0"/>
                    </a:lnTo>
                  </a:path>
                </a:pathLst>
              </a:custGeom>
              <a:noFill/>
              <a:ln w="38100" cap="rnd">
                <a:solidFill>
                  <a:srgbClr val="C00000"/>
                </a:solidFill>
                <a:round/>
              </a:ln>
            </p:spPr>
          </p:sp>
          <p:sp>
            <p:nvSpPr>
              <p:cNvPr id="19" name="Flecha 23_2"/>
              <p:cNvSpPr/>
              <p:nvPr/>
            </p:nvSpPr>
            <p:spPr>
              <a:xfrm>
                <a:off x="7921464" y="3283902"/>
                <a:ext cx="31056" cy="198756"/>
              </a:xfrm>
              <a:custGeom>
                <a:avLst/>
                <a:gdLst/>
                <a:ahLst/>
                <a:cxnLst/>
                <a:rect l="0" t="0" r="r" b="b"/>
                <a:pathLst>
                  <a:path w="33" h="217" fill="none">
                    <a:moveTo>
                      <a:pt x="0" y="217"/>
                    </a:moveTo>
                    <a:lnTo>
                      <a:pt x="33" y="0"/>
                    </a:lnTo>
                  </a:path>
                </a:pathLst>
              </a:custGeom>
              <a:noFill/>
              <a:ln w="60960" cap="rnd">
                <a:solidFill>
                  <a:srgbClr val="C00000"/>
                </a:solidFill>
                <a:round/>
              </a:ln>
            </p:spPr>
          </p:sp>
        </p:grpSp>
        <p:sp>
          <p:nvSpPr>
            <p:cNvPr id="20" name="Forma 25"/>
            <p:cNvSpPr/>
            <p:nvPr/>
          </p:nvSpPr>
          <p:spPr>
            <a:xfrm>
              <a:off x="8229600" y="2743200"/>
              <a:ext cx="3566160" cy="13716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AMPK</a:t>
              </a:r>
              <a:endParaRPr lang="es-AR" sz="1400" dirty="0">
                <a:latin typeface="Bahnschrift"/>
              </a:endParaRPr>
            </a:p>
            <a:p>
              <a:pPr algn="l">
                <a:spcAft>
                  <a:spcPts val="400"/>
                </a:spcAft>
                <a:buNone/>
              </a:pPr>
              <a:r>
                <a:rPr lang="es-AR" sz="1400" b="1" dirty="0">
                  <a:solidFill>
                    <a:srgbClr val="1E1E1E"/>
                  </a:solidFill>
                  <a:latin typeface="Bahnschrift"/>
                  <a:ea typeface="Bahnschrift"/>
                  <a:cs typeface="Bahnschrift"/>
                  <a:sym typeface="Bahnschrift"/>
                </a:rPr>
                <a:t>fosforila e inhibe</a:t>
              </a:r>
              <a:r>
                <a:rPr lang="es-AR" sz="1400" dirty="0">
                  <a:solidFill>
                    <a:srgbClr val="1E1E1E"/>
                  </a:solidFill>
                  <a:latin typeface="Bahnschrift"/>
                  <a:ea typeface="Bahnschrift"/>
                  <a:cs typeface="Bahnschrift"/>
                  <a:sym typeface="Bahnschrift"/>
                </a:rPr>
                <a:t> la enzima</a:t>
              </a:r>
              <a:endParaRPr lang="es-AR" sz="1400" dirty="0">
                <a:latin typeface="Bahnschrift"/>
              </a:endParaRPr>
            </a:p>
          </p:txBody>
        </p:sp>
      </p:grpSp>
      <p:grpSp>
        <p:nvGrpSpPr>
          <p:cNvPr id="21" name="Regulador Glucagón / a"/>
          <p:cNvGrpSpPr/>
          <p:nvPr/>
        </p:nvGrpSpPr>
        <p:grpSpPr>
          <a:xfrm>
            <a:off x="7837736" y="3366992"/>
            <a:ext cx="3958024" cy="2485168"/>
            <a:chOff x="7837736" y="3366992"/>
            <a:chExt cx="3958024" cy="2485168"/>
          </a:xfrm>
        </p:grpSpPr>
        <p:grpSp>
          <p:nvGrpSpPr>
            <p:cNvPr id="22" name="Inhibición_3"/>
            <p:cNvGrpSpPr/>
            <p:nvPr/>
          </p:nvGrpSpPr>
          <p:grpSpPr>
            <a:xfrm>
              <a:off x="7837736" y="3366992"/>
              <a:ext cx="391864" cy="1799368"/>
              <a:chOff x="7837736" y="3366992"/>
              <a:chExt cx="391864" cy="1799368"/>
            </a:xfrm>
          </p:grpSpPr>
          <p:sp>
            <p:nvSpPr>
              <p:cNvPr id="23" name="Flecha 28_2"/>
              <p:cNvSpPr/>
              <p:nvPr/>
            </p:nvSpPr>
            <p:spPr>
              <a:xfrm>
                <a:off x="7936992" y="3383280"/>
                <a:ext cx="292608" cy="1783080"/>
              </a:xfrm>
              <a:custGeom>
                <a:avLst/>
                <a:gdLst/>
                <a:ahLst/>
                <a:cxnLst/>
                <a:rect l="0" t="0" r="r" b="b"/>
                <a:pathLst>
                  <a:path w="320" h="1950" fill="none">
                    <a:moveTo>
                      <a:pt x="320" y="1950"/>
                    </a:moveTo>
                    <a:lnTo>
                      <a:pt x="0" y="0"/>
                    </a:lnTo>
                  </a:path>
                </a:pathLst>
              </a:custGeom>
              <a:noFill/>
              <a:ln w="38100" cap="rnd">
                <a:solidFill>
                  <a:srgbClr val="C00000"/>
                </a:solidFill>
                <a:round/>
              </a:ln>
            </p:spPr>
          </p:sp>
          <p:sp>
            <p:nvSpPr>
              <p:cNvPr id="24" name="Flecha 30_2"/>
              <p:cNvSpPr/>
              <p:nvPr/>
            </p:nvSpPr>
            <p:spPr>
              <a:xfrm>
                <a:off x="7837736" y="3366992"/>
                <a:ext cx="198513" cy="32576"/>
              </a:xfrm>
              <a:custGeom>
                <a:avLst/>
                <a:gdLst/>
                <a:ahLst/>
                <a:cxnLst/>
                <a:rect l="0" t="0" r="r" b="b"/>
                <a:pathLst>
                  <a:path w="217" h="35" fill="none">
                    <a:moveTo>
                      <a:pt x="0" y="35"/>
                    </a:moveTo>
                    <a:lnTo>
                      <a:pt x="217" y="0"/>
                    </a:lnTo>
                  </a:path>
                </a:pathLst>
              </a:custGeom>
              <a:noFill/>
              <a:ln w="60960" cap="rnd">
                <a:solidFill>
                  <a:srgbClr val="C00000"/>
                </a:solidFill>
                <a:round/>
              </a:ln>
            </p:spPr>
          </p:sp>
        </p:grpSp>
        <p:sp>
          <p:nvSpPr>
            <p:cNvPr id="25" name="Forma 32"/>
            <p:cNvSpPr/>
            <p:nvPr/>
          </p:nvSpPr>
          <p:spPr>
            <a:xfrm>
              <a:off x="8229600" y="4480560"/>
              <a:ext cx="3566160" cy="13716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400" b="1" dirty="0">
                  <a:solidFill>
                    <a:srgbClr val="1E1E1E"/>
                  </a:solidFill>
                  <a:latin typeface="Bahnschrift"/>
                  <a:ea typeface="Bahnschrift"/>
                  <a:cs typeface="Bahnschrift"/>
                  <a:sym typeface="Bahnschrift"/>
                </a:rPr>
                <a:t>Glucagón / ayuno</a:t>
              </a:r>
              <a:endParaRPr lang="es-AR" sz="1400" dirty="0">
                <a:latin typeface="Bahnschrift"/>
              </a:endParaRPr>
            </a:p>
            <a:p>
              <a:pPr algn="l">
                <a:spcAft>
                  <a:spcPts val="400"/>
                </a:spcAft>
                <a:buNone/>
              </a:pPr>
              <a:r>
                <a:rPr lang="es-AR" sz="1400" dirty="0">
                  <a:solidFill>
                    <a:srgbClr val="1E1E1E"/>
                  </a:solidFill>
                  <a:latin typeface="Bahnschrift"/>
                  <a:ea typeface="Bahnschrift"/>
                  <a:cs typeface="Bahnschrift"/>
                  <a:sym typeface="Bahnschrift"/>
                </a:rPr>
                <a:t>reducen su actividad</a:t>
              </a:r>
              <a:endParaRPr lang="es-AR" sz="1400" dirty="0">
                <a:latin typeface="Bahnschrift"/>
              </a:endParaRPr>
            </a:p>
          </p:txBody>
        </p:sp>
      </p:grpSp>
      <p:sp>
        <p:nvSpPr>
          <p:cNvPr id="26" name="Forma 33"/>
          <p:cNvSpPr/>
          <p:nvPr/>
        </p:nvSpPr>
        <p:spPr>
          <a:xfrm>
            <a:off x="365760" y="2651760"/>
            <a:ext cx="3566160" cy="14630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dirty="0">
                <a:solidFill>
                  <a:srgbClr val="1E1E1E"/>
                </a:solidFill>
                <a:latin typeface="Bahnschrift"/>
                <a:ea typeface="Bahnschrift"/>
                <a:cs typeface="Bahnschrift"/>
                <a:sym typeface="Bahnschrift"/>
              </a:rPr>
              <a:t>Tres niveles: </a:t>
            </a:r>
            <a:r>
              <a:rPr lang="es-AR" sz="1650" b="1" dirty="0">
                <a:solidFill>
                  <a:srgbClr val="1E1E1E"/>
                </a:solidFill>
                <a:latin typeface="Bahnschrift"/>
                <a:ea typeface="Bahnschrift"/>
                <a:cs typeface="Bahnschrift"/>
                <a:sym typeface="Bahnschrift"/>
              </a:rPr>
              <a:t>transcripción</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degradación</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fosforilación</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08357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REGULACIÓN DE LA HMG-CoA REDUCTASA</a:t>
            </a:r>
            <a:endParaRPr lang="es-AR" sz="2600" dirty="0">
              <a:latin typeface="Bahnschrift SemiBold Condensed"/>
            </a:endParaRPr>
          </a:p>
        </p:txBody>
      </p:sp>
      <p:sp>
        <p:nvSpPr>
          <p:cNvPr id="2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9" fill="hold">
                      <p:stCondLst>
                        <p:cond delay="indefinite"/>
                      </p:stCondLst>
                      <p:childTnLst>
                        <p:par>
                          <p:cTn id="8" fill="hold">
                            <p:stCondLst>
                              <p:cond delay="0"/>
                            </p:stCondLst>
                            <p:childTnLst>
                              <p:par>
                                <p:cTn id="3" presetID="53" presetClass="entr" presetSubtype="16"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 calcmode="lin" valueType="num">
                                      <p:cBhvr>
                                        <p:cTn id="5" dur="500" fill="hold"/>
                                        <p:tgtEl>
                                          <p:spTgt spid="4"/>
                                        </p:tgtEl>
                                        <p:attrNameLst>
                                          <p:attrName>ppt_w</p:attrName>
                                        </p:attrNameLst>
                                      </p:cBhvr>
                                      <p:tavLst>
                                        <p:tav tm="0">
                                          <p:val>
                                            <p:fltVal val="0"/>
                                          </p:val>
                                        </p:tav>
                                        <p:tav tm="100000">
                                          <p:val>
                                            <p:strVal val="#ppt_w"/>
                                          </p:val>
                                        </p:tav>
                                      </p:tavLst>
                                    </p:anim>
                                    <p:anim calcmode="lin" valueType="num">
                                      <p:cBhvr>
                                        <p:cTn id="6" dur="500" fill="hold"/>
                                        <p:tgtEl>
                                          <p:spTgt spid="4"/>
                                        </p:tgtEl>
                                        <p:attrNameLst>
                                          <p:attrName>ppt_h</p:attrName>
                                        </p:attrNameLst>
                                      </p:cBhvr>
                                      <p:tavLst>
                                        <p:tav tm="0">
                                          <p:val>
                                            <p:fltVal val="0"/>
                                          </p:val>
                                        </p:tav>
                                        <p:tav tm="100000">
                                          <p:val>
                                            <p:strVal val="#ppt_h"/>
                                          </p:val>
                                        </p:tav>
                                      </p:tavLst>
                                    </p:anim>
                                    <p:animEffect transition="in" filter="fade">
                                      <p:cBhvr>
                                        <p:cTn id="7" dur="500"/>
                                        <p:tgtEl>
                                          <p:spTgt spid="4"/>
                                        </p:tgtEl>
                                      </p:cBhvr>
                                    </p:animEffect>
                                  </p:childTnLst>
                                </p:cTn>
                              </p:par>
                            </p:childTnLst>
                          </p:cTn>
                        </p:par>
                      </p:childTnLst>
                    </p:cTn>
                  </p:par>
                  <p:par>
                    <p:cTn id="14" fill="hold">
                      <p:stCondLst>
                        <p:cond delay="indefinite"/>
                      </p:stCondLst>
                      <p:childTnLst>
                        <p:par>
                          <p:cTn id="13"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9"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34" fill="hold">
                      <p:stCondLst>
                        <p:cond delay="indefinite"/>
                      </p:stCondLst>
                      <p:childTnLst>
                        <p:par>
                          <p:cTn id="33"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6" grpId="0" animBg="1"/>
    </p:bldLst>
  </p:timing>
</p:sld>
</file>

<file path=ppt/slides/slide122.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RE"/>
          <p:cNvSpPr/>
          <p:nvPr/>
        </p:nvSpPr>
        <p:spPr>
          <a:xfrm>
            <a:off x="365760" y="1188720"/>
            <a:ext cx="3566160" cy="2377440"/>
          </a:xfrm>
          <a:prstGeom prst="roundRect">
            <a:avLst>
              <a:gd name="adj" fmla="val 20000"/>
            </a:avLst>
          </a:prstGeom>
          <a:solidFill>
            <a:srgbClr val="D7BDE2">
              <a:alpha val="85000"/>
            </a:srgbClr>
          </a:solidFill>
          <a:ln w="25400" cap="rnd">
            <a:solidFill>
              <a:srgbClr val="6C3483"/>
            </a:solidFill>
            <a:round/>
          </a:ln>
        </p:spPr>
        <p:txBody>
          <a:bodyPr wrap="square" lIns="73152" tIns="45720" rIns="73152" bIns="45720" anchor="t" rtlCol="0">
            <a:noAutofit/>
          </a:bodyPr>
          <a:lstStyle/>
          <a:p>
            <a:pPr algn="ctr">
              <a:spcAft>
                <a:spcPts val="300"/>
              </a:spcAft>
              <a:buNone/>
            </a:pPr>
            <a:r>
              <a:rPr lang="es-AR" sz="1300" b="1" dirty="0">
                <a:solidFill>
                  <a:srgbClr val="4A235A"/>
                </a:solidFill>
                <a:latin typeface="Bahnschrift SemiBold Condensed"/>
                <a:ea typeface="Bahnschrift SemiBold Condensed"/>
                <a:cs typeface="Bahnschrift SemiBold Condensed"/>
                <a:sym typeface="Bahnschrift SemiBold Condensed"/>
              </a:rPr>
              <a:t>RETÍCULO ENDOPLASMÁTICO</a:t>
            </a:r>
            <a:endParaRPr lang="es-AR" sz="1300" dirty="0">
              <a:latin typeface="Bahnschrift SemiBold Condensed"/>
            </a:endParaRPr>
          </a:p>
        </p:txBody>
      </p:sp>
      <p:sp>
        <p:nvSpPr>
          <p:cNvPr id="5" name="Golgi"/>
          <p:cNvSpPr/>
          <p:nvPr/>
        </p:nvSpPr>
        <p:spPr>
          <a:xfrm>
            <a:off x="4572000" y="1188720"/>
            <a:ext cx="3017520" cy="2377440"/>
          </a:xfrm>
          <a:prstGeom prst="roundRect">
            <a:avLst>
              <a:gd name="adj" fmla="val 20000"/>
            </a:avLst>
          </a:prstGeom>
          <a:solidFill>
            <a:srgbClr val="FAD7A0">
              <a:alpha val="85000"/>
            </a:srgbClr>
          </a:solidFill>
          <a:ln w="25400" cap="rnd">
            <a:solidFill>
              <a:srgbClr val="A04000"/>
            </a:solidFill>
            <a:round/>
          </a:ln>
        </p:spPr>
        <p:txBody>
          <a:bodyPr wrap="square" lIns="73152" tIns="45720" rIns="73152" bIns="45720" anchor="t" rtlCol="0">
            <a:noAutofit/>
          </a:bodyPr>
          <a:lstStyle/>
          <a:p>
            <a:pPr algn="ctr">
              <a:spcAft>
                <a:spcPts val="300"/>
              </a:spcAft>
              <a:buNone/>
            </a:pPr>
            <a:r>
              <a:rPr lang="es-AR" sz="1300" b="1" dirty="0">
                <a:solidFill>
                  <a:srgbClr val="6E2C00"/>
                </a:solidFill>
                <a:latin typeface="Bahnschrift SemiBold Condensed"/>
                <a:ea typeface="Bahnschrift SemiBold Condensed"/>
                <a:cs typeface="Bahnschrift SemiBold Condensed"/>
                <a:sym typeface="Bahnschrift SemiBold Condensed"/>
              </a:rPr>
              <a:t>GOLGI</a:t>
            </a:r>
            <a:endParaRPr lang="es-AR" sz="1300" dirty="0">
              <a:latin typeface="Bahnschrift SemiBold Condensed"/>
            </a:endParaRPr>
          </a:p>
        </p:txBody>
      </p:sp>
      <p:sp>
        <p:nvSpPr>
          <p:cNvPr id="6" name="Núcleo"/>
          <p:cNvSpPr/>
          <p:nvPr/>
        </p:nvSpPr>
        <p:spPr>
          <a:xfrm>
            <a:off x="8229600" y="1188720"/>
            <a:ext cx="3566160" cy="2377440"/>
          </a:xfrm>
          <a:prstGeom prst="ellipse">
            <a:avLst/>
          </a:prstGeom>
          <a:solidFill>
            <a:srgbClr val="BB8FCE">
              <a:alpha val="80000"/>
            </a:srgbClr>
          </a:solidFill>
          <a:ln w="25400" cap="rnd">
            <a:solidFill>
              <a:srgbClr val="4A235A"/>
            </a:solidFill>
            <a:round/>
          </a:ln>
        </p:spPr>
        <p:txBody>
          <a:bodyPr wrap="square" lIns="73152" tIns="45720" rIns="73152" bIns="45720" anchor="t" rtlCol="0">
            <a:noAutofit/>
          </a:bodyPr>
          <a:lstStyle/>
          <a:p>
            <a:pPr algn="ctr">
              <a:spcAft>
                <a:spcPts val="300"/>
              </a:spcAft>
              <a:buNone/>
            </a:pPr>
            <a:r>
              <a:rPr lang="es-AR" sz="1300" b="1" dirty="0">
                <a:solidFill>
                  <a:srgbClr val="4A235A"/>
                </a:solidFill>
                <a:latin typeface="Bahnschrift SemiBold Condensed"/>
                <a:ea typeface="Bahnschrift SemiBold Condensed"/>
                <a:cs typeface="Bahnschrift SemiBold Condensed"/>
                <a:sym typeface="Bahnschrift SemiBold Condensed"/>
              </a:rPr>
              <a:t>NÚCLEO</a:t>
            </a:r>
            <a:endParaRPr lang="es-AR" sz="1300" dirty="0">
              <a:latin typeface="Bahnschrift SemiBold Condensed"/>
            </a:endParaRPr>
          </a:p>
        </p:txBody>
      </p:sp>
      <p:grpSp>
        <p:nvGrpSpPr>
          <p:cNvPr id="7" name="Complejo SCAP-SREBP2"/>
          <p:cNvGrpSpPr/>
          <p:nvPr/>
        </p:nvGrpSpPr>
        <p:grpSpPr>
          <a:xfrm>
            <a:off x="914400" y="2011680"/>
            <a:ext cx="2743200" cy="502920"/>
            <a:chOff x="914400" y="2011680"/>
            <a:chExt cx="2743200" cy="502920"/>
          </a:xfrm>
        </p:grpSpPr>
        <p:sp>
          <p:nvSpPr>
            <p:cNvPr id="8" name="Forma 7"/>
            <p:cNvSpPr/>
            <p:nvPr/>
          </p:nvSpPr>
          <p:spPr>
            <a:xfrm>
              <a:off x="914400" y="2011680"/>
              <a:ext cx="1280160" cy="502920"/>
            </a:xfrm>
            <a:prstGeom prst="roundRect">
              <a:avLst/>
            </a:prstGeom>
            <a:gradFill rotWithShape="1">
              <a:gsLst>
                <a:gs pos="0">
                  <a:srgbClr val="95C9EC"/>
                </a:gs>
                <a:gs pos="55000">
                  <a:srgbClr val="5DADE2"/>
                </a:gs>
                <a:gs pos="100000">
                  <a:srgbClr val="4A8AB4"/>
                </a:gs>
              </a:gsLst>
              <a:path path="circle">
                <a:fillToRect l="32000" t="28000" r="68000" b="72000"/>
              </a:path>
            </a:gradFill>
            <a:ln w="15875"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SCAP</a:t>
              </a:r>
              <a:endParaRPr lang="es-AR" sz="1300" dirty="0">
                <a:latin typeface="Bahnschrift SemiBold Condensed"/>
              </a:endParaRPr>
            </a:p>
          </p:txBody>
        </p:sp>
        <p:sp>
          <p:nvSpPr>
            <p:cNvPr id="9" name="Forma 8"/>
            <p:cNvSpPr/>
            <p:nvPr/>
          </p:nvSpPr>
          <p:spPr>
            <a:xfrm>
              <a:off x="2194560" y="2011680"/>
              <a:ext cx="1463040" cy="502920"/>
            </a:xfrm>
            <a:prstGeom prst="roundRect">
              <a:avLst/>
            </a:prstGeom>
            <a:gradFill rotWithShape="1">
              <a:gsLst>
                <a:gs pos="0">
                  <a:srgbClr val="F8CB83"/>
                </a:gs>
                <a:gs pos="55000">
                  <a:srgbClr val="F5B041"/>
                </a:gs>
                <a:gs pos="100000">
                  <a:srgbClr val="C48C34"/>
                </a:gs>
              </a:gsLst>
              <a:path path="circle">
                <a:fillToRect l="32000" t="28000" r="68000" b="72000"/>
              </a:path>
            </a:gradFill>
            <a:ln w="15875"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SREBP-2</a:t>
              </a:r>
              <a:endParaRPr lang="es-AR" sz="1300" dirty="0">
                <a:latin typeface="Bahnschrift SemiBold Condensed"/>
              </a:endParaRPr>
            </a:p>
          </p:txBody>
        </p:sp>
      </p:grpSp>
      <p:sp>
        <p:nvSpPr>
          <p:cNvPr id="10" name="Insig"/>
          <p:cNvSpPr/>
          <p:nvPr/>
        </p:nvSpPr>
        <p:spPr>
          <a:xfrm>
            <a:off x="1188720" y="2743200"/>
            <a:ext cx="1280160" cy="457200"/>
          </a:xfrm>
          <a:prstGeom prst="roundRect">
            <a:avLst/>
          </a:prstGeom>
          <a:solidFill>
            <a:srgbClr val="D5D8DC"/>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Insig</a:t>
            </a:r>
            <a:endParaRPr lang="es-AR" sz="1300" dirty="0">
              <a:latin typeface="Bahnschrift SemiBold Condensed"/>
            </a:endParaRPr>
          </a:p>
        </p:txBody>
      </p:sp>
      <p:sp>
        <p:nvSpPr>
          <p:cNvPr id="11" name="Proteasas"/>
          <p:cNvSpPr/>
          <p:nvPr/>
        </p:nvSpPr>
        <p:spPr>
          <a:xfrm>
            <a:off x="5029200" y="2926080"/>
            <a:ext cx="1735815"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S1P / S2P (proteólisis)</a:t>
            </a:r>
            <a:endParaRPr lang="es-AR" sz="1250" dirty="0">
              <a:latin typeface="Bahnschrift SemiBold Condensed"/>
            </a:endParaRPr>
          </a:p>
        </p:txBody>
      </p:sp>
      <p:sp>
        <p:nvSpPr>
          <p:cNvPr id="12" name="SREBP nuclear"/>
          <p:cNvSpPr/>
          <p:nvPr/>
        </p:nvSpPr>
        <p:spPr>
          <a:xfrm>
            <a:off x="5394960" y="2011680"/>
            <a:ext cx="1463040" cy="502920"/>
          </a:xfrm>
          <a:prstGeom prst="roundRect">
            <a:avLst/>
          </a:prstGeom>
          <a:gradFill rotWithShape="1">
            <a:gsLst>
              <a:gs pos="0">
                <a:srgbClr val="F8CB83"/>
              </a:gs>
              <a:gs pos="55000">
                <a:srgbClr val="F5B041"/>
              </a:gs>
              <a:gs pos="100000">
                <a:srgbClr val="C48C34"/>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nSREBP-2</a:t>
            </a:r>
            <a:endParaRPr lang="es-AR" sz="1300" dirty="0">
              <a:latin typeface="Bahnschrift SemiBold Condensed"/>
            </a:endParaRPr>
          </a:p>
        </p:txBody>
      </p:sp>
      <p:sp>
        <p:nvSpPr>
          <p:cNvPr id="13" name="Genes SREBP2"/>
          <p:cNvSpPr/>
          <p:nvPr/>
        </p:nvSpPr>
        <p:spPr>
          <a:xfrm>
            <a:off x="8778240" y="2286000"/>
            <a:ext cx="1979068" cy="255905"/>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 LDLR · ↑ HMGCR (· PCSK9)</a:t>
            </a:r>
            <a:endParaRPr lang="es-AR" sz="1300" dirty="0">
              <a:latin typeface="Bahnschrift SemiBold Condensed"/>
            </a:endParaRPr>
          </a:p>
        </p:txBody>
      </p:sp>
      <p:sp>
        <p:nvSpPr>
          <p:cNvPr id="14" name="Forma 13"/>
          <p:cNvSpPr/>
          <p:nvPr/>
        </p:nvSpPr>
        <p:spPr>
          <a:xfrm>
            <a:off x="365760" y="3794760"/>
            <a:ext cx="5577840" cy="14630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Colesterol bajo en el RE</a:t>
            </a:r>
            <a:r>
              <a:rPr lang="es-AR" sz="1600" dirty="0">
                <a:solidFill>
                  <a:srgbClr val="1E1E1E"/>
                </a:solidFill>
                <a:latin typeface="Bahnschrift"/>
                <a:ea typeface="Bahnschrift"/>
                <a:cs typeface="Bahnschrift"/>
                <a:sym typeface="Bahnschrift"/>
              </a:rPr>
              <a:t> → SCAP transporta SREBP-2 al Golgi → proteólisis → dominio </a:t>
            </a:r>
            <a:r>
              <a:rPr lang="es-AR" sz="1600" b="1" dirty="0">
                <a:solidFill>
                  <a:srgbClr val="1E1E1E"/>
                </a:solidFill>
                <a:latin typeface="Bahnschrift"/>
                <a:ea typeface="Bahnschrift"/>
                <a:cs typeface="Bahnschrift"/>
                <a:sym typeface="Bahnschrift"/>
              </a:rPr>
              <a:t>nuclear</a:t>
            </a:r>
            <a:r>
              <a:rPr lang="es-AR" sz="1600" dirty="0">
                <a:solidFill>
                  <a:srgbClr val="1E1E1E"/>
                </a:solidFill>
                <a:latin typeface="Bahnschrift"/>
                <a:ea typeface="Bahnschrift"/>
                <a:cs typeface="Bahnschrift"/>
                <a:sym typeface="Bahnschrift"/>
              </a:rPr>
              <a:t> → ↑ </a:t>
            </a:r>
            <a:r>
              <a:rPr lang="es-AR" sz="1600" b="1" dirty="0">
                <a:solidFill>
                  <a:srgbClr val="1E1E1E"/>
                </a:solidFill>
                <a:latin typeface="Bahnschrift"/>
                <a:ea typeface="Bahnschrift"/>
                <a:cs typeface="Bahnschrift"/>
                <a:sym typeface="Bahnschrift"/>
              </a:rPr>
              <a:t>síntesis y captación</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15" name="Forma 14"/>
          <p:cNvSpPr/>
          <p:nvPr/>
        </p:nvSpPr>
        <p:spPr>
          <a:xfrm>
            <a:off x="6217920" y="3794760"/>
            <a:ext cx="5577840" cy="1463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Colesterol alto</a:t>
            </a:r>
            <a:r>
              <a:rPr lang="es-AR" sz="1600" dirty="0">
                <a:solidFill>
                  <a:srgbClr val="1E1E1E"/>
                </a:solidFill>
                <a:latin typeface="Bahnschrift"/>
                <a:ea typeface="Bahnschrift"/>
                <a:cs typeface="Bahnschrift"/>
                <a:sym typeface="Bahnschrift"/>
              </a:rPr>
              <a:t> → SCAP se une a </a:t>
            </a:r>
            <a:r>
              <a:rPr lang="es-AR" sz="1600" b="1" dirty="0">
                <a:solidFill>
                  <a:srgbClr val="1E1E1E"/>
                </a:solidFill>
                <a:latin typeface="Bahnschrift"/>
                <a:ea typeface="Bahnschrift"/>
                <a:cs typeface="Bahnschrift"/>
                <a:sym typeface="Bahnschrift"/>
              </a:rPr>
              <a:t>Insig</a:t>
            </a:r>
            <a:r>
              <a:rPr lang="es-AR" sz="1600" dirty="0">
                <a:solidFill>
                  <a:srgbClr val="1E1E1E"/>
                </a:solidFill>
                <a:latin typeface="Bahnschrift"/>
                <a:ea typeface="Bahnschrift"/>
                <a:cs typeface="Bahnschrift"/>
                <a:sym typeface="Bahnschrift"/>
              </a:rPr>
              <a:t> y retiene SREBP en el RE → ↓ síntesis/captación.</a:t>
            </a:r>
            <a:endParaRPr lang="es-AR" sz="1600" dirty="0">
              <a:latin typeface="Bahnschrift"/>
            </a:endParaRPr>
          </a:p>
        </p:txBody>
      </p:sp>
      <p:sp>
        <p:nvSpPr>
          <p:cNvPr id="16" name="Forma 15"/>
          <p:cNvSpPr/>
          <p:nvPr/>
        </p:nvSpPr>
        <p:spPr>
          <a:xfrm>
            <a:off x="365760" y="5440680"/>
            <a:ext cx="11430000" cy="10515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ACAT/SOAT</a:t>
            </a:r>
            <a:r>
              <a:rPr lang="es-AR" sz="1600" dirty="0">
                <a:solidFill>
                  <a:srgbClr val="1E1E1E"/>
                </a:solidFill>
                <a:latin typeface="Bahnschrift"/>
                <a:ea typeface="Bahnschrift"/>
                <a:cs typeface="Bahnschrift"/>
                <a:sym typeface="Bahnschrift"/>
              </a:rPr>
              <a:t> esterifica colesterol para depósito · </a:t>
            </a:r>
            <a:r>
              <a:rPr lang="es-AR" sz="1600" b="1" dirty="0">
                <a:solidFill>
                  <a:srgbClr val="1E1E1E"/>
                </a:solidFill>
                <a:latin typeface="Bahnschrift"/>
                <a:ea typeface="Bahnschrift"/>
                <a:cs typeface="Bahnschrift"/>
                <a:sym typeface="Bahnschrift"/>
              </a:rPr>
              <a:t>ABCA1/ABCG1</a:t>
            </a:r>
            <a:r>
              <a:rPr lang="es-AR" sz="1600" dirty="0">
                <a:solidFill>
                  <a:srgbClr val="1E1E1E"/>
                </a:solidFill>
                <a:latin typeface="Bahnschrift"/>
                <a:ea typeface="Bahnschrift"/>
                <a:cs typeface="Bahnschrift"/>
                <a:sym typeface="Bahnschrift"/>
              </a:rPr>
              <a:t> favorecen el eflujo a ApoA-I/HDL · </a:t>
            </a:r>
            <a:r>
              <a:rPr lang="es-AR" sz="1600" b="1" dirty="0">
                <a:solidFill>
                  <a:srgbClr val="1E1E1E"/>
                </a:solidFill>
                <a:latin typeface="Bahnschrift"/>
                <a:ea typeface="Bahnschrift"/>
                <a:cs typeface="Bahnschrift"/>
                <a:sym typeface="Bahnschrift"/>
              </a:rPr>
              <a:t>LXR</a:t>
            </a:r>
            <a:r>
              <a:rPr lang="es-AR" sz="1600" dirty="0">
                <a:solidFill>
                  <a:srgbClr val="1E1E1E"/>
                </a:solidFill>
                <a:latin typeface="Bahnschrift"/>
                <a:ea typeface="Bahnschrift"/>
                <a:cs typeface="Bahnschrift"/>
                <a:sym typeface="Bahnschrift"/>
              </a:rPr>
              <a:t> responde a oxiesteroles · </a:t>
            </a:r>
            <a:r>
              <a:rPr lang="es-AR" sz="1600" b="1" dirty="0">
                <a:solidFill>
                  <a:srgbClr val="1E1E1E"/>
                </a:solidFill>
                <a:latin typeface="Bahnschrift"/>
                <a:ea typeface="Bahnschrift"/>
                <a:cs typeface="Bahnschrift"/>
                <a:sym typeface="Bahnschrift"/>
              </a:rPr>
              <a:t>PCSK9</a:t>
            </a:r>
            <a:r>
              <a:rPr lang="es-AR" sz="1600" dirty="0">
                <a:solidFill>
                  <a:srgbClr val="1E1E1E"/>
                </a:solidFill>
                <a:latin typeface="Bahnschrift"/>
                <a:ea typeface="Bahnschrift"/>
                <a:cs typeface="Bahnschrift"/>
                <a:sym typeface="Bahnschrift"/>
              </a:rPr>
              <a:t> dirige el LDLR a degradación lisosomal.</a:t>
            </a:r>
            <a:endParaRPr lang="es-AR" sz="1600" dirty="0">
              <a:latin typeface="Bahnschrift"/>
            </a:endParaRPr>
          </a:p>
        </p:txBody>
      </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672166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HOMEOSTASIS INTRACELULAR: SCAP/SREBP-2</a:t>
            </a:r>
            <a:endParaRPr lang="es-AR" sz="2600" dirty="0">
              <a:latin typeface="Bahnschrift SemiBold Condensed"/>
            </a:endParaRPr>
          </a:p>
        </p:txBody>
      </p:sp>
      <p:sp>
        <p:nvSpPr>
          <p:cNvPr id="1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7"/>
                                        </p:tgtEl>
                                        <p:attrNameLst>
                                          <p:attrName>style.visibility</p:attrName>
                                        </p:attrNameLst>
                                      </p:cBhvr>
                                      <p:to>
                                        <p:strVal val="visible"/>
                                      </p:to>
                                    </p:set>
                                    <p:animEffect transition="in" filter="fade">
                                      <p:cBhvr>
                                        <p:cTn id="5" dur="500"/>
                                        <p:tgtEl>
                                          <p:spTgt spid="7"/>
                                        </p:tgtEl>
                                      </p:cBhvr>
                                    </p:animEffect>
                                  </p:childTnLst>
                                </p:cTn>
                              </p:par>
                            </p:childTnLst>
                          </p:cTn>
                        </p:par>
                      </p:childTnLst>
                    </p:cTn>
                  </p:par>
                  <p:par>
                    <p:cTn id="15" fill="hold">
                      <p:stCondLst>
                        <p:cond delay="indefinite"/>
                      </p:stCondLst>
                      <p:childTnLst>
                        <p:par>
                          <p:cTn id="10" fill="hold">
                            <p:stCondLst>
                              <p:cond delay="0"/>
                            </p:stCondLst>
                            <p:childTnLst>
                              <p:par>
                                <p:cTn id="8" presetID="0" presetClass="path" presetSubtype="0" accel="20000" decel="20000" fill="hold" grpId="0" nodeType="clickEffect">
                                  <p:stCondLst>
                                    <p:cond delay="0"/>
                                  </p:stCondLst>
                                  <p:childTnLst>
                                    <p:animMotion origin="layout" path="M 0 0 L 0.3000 0.0000 E" pathEditMode="relative" ptsTypes="">
                                      <p:cBhvr>
                                        <p:cTn id="9" dur="1400" fill="hold"/>
                                        <p:tgtEl>
                                          <p:spTgt spid="7"/>
                                        </p:tgtEl>
                                        <p:attrNameLst>
                                          <p:attrName>ppt_x</p:attrName>
                                          <p:attrName>ppt_y</p:attrName>
                                        </p:attrNameLst>
                                      </p:cBhvr>
                                      <p:rCtr x="15000" y="0"/>
                                    </p:animMotion>
                                  </p:childTnLst>
                                </p:cTn>
                              </p:par>
                            </p:childTnLst>
                          </p:cTn>
                        </p:par>
                        <p:par>
                          <p:cTn id="14" fill="hold">
                            <p:stCondLst>
                              <p:cond delay="1400"/>
                            </p:stCondLst>
                            <p:childTnLst>
                              <p:par>
                                <p:cTn id="11" presetID="10"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childTnLst>
                    </p:cTn>
                  </p:par>
                  <p:par>
                    <p:cTn id="31" fill="hold">
                      <p:stCondLst>
                        <p:cond delay="indefinite"/>
                      </p:stCondLst>
                      <p:childTnLst>
                        <p:par>
                          <p:cTn id="19"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par>
                          <p:cTn id="23"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par>
                          <p:cTn id="26" fill="hold">
                            <p:stCondLst>
                              <p:cond delay="1000"/>
                            </p:stCondLst>
                            <p:childTnLst>
                              <p:par>
                                <p:cTn id="24" presetID="0" presetClass="path" presetSubtype="0" accel="20000" decel="20000" fill="hold" grpId="0" nodeType="afterEffect">
                                  <p:stCondLst>
                                    <p:cond delay="0"/>
                                  </p:stCondLst>
                                  <p:childTnLst>
                                    <p:animMotion origin="layout" path="M 0 0 L 0.2813 0.0000 E" pathEditMode="relative" ptsTypes="">
                                      <p:cBhvr>
                                        <p:cTn id="25" dur="1200" fill="hold"/>
                                        <p:tgtEl>
                                          <p:spTgt spid="12"/>
                                        </p:tgtEl>
                                        <p:attrNameLst>
                                          <p:attrName>ppt_x</p:attrName>
                                          <p:attrName>ppt_y</p:attrName>
                                        </p:attrNameLst>
                                      </p:cBhvr>
                                      <p:rCtr x="14062" y="0"/>
                                    </p:animMotion>
                                  </p:childTnLst>
                                </p:cTn>
                              </p:par>
                            </p:childTnLst>
                          </p:cTn>
                        </p:par>
                        <p:par>
                          <p:cTn id="30" fill="hold">
                            <p:stCondLst>
                              <p:cond delay="2200"/>
                            </p:stCondLst>
                            <p:childTnLst>
                              <p:par>
                                <p:cTn id="27" presetID="10" presetClass="entr" presetSubtype="0"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childTnLst>
                          </p:cTn>
                        </p:par>
                      </p:childTnLst>
                    </p:cTn>
                  </p:par>
                  <p:par>
                    <p:cTn id="40"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par>
                          <p:cTn id="39"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45" fill="hold">
                      <p:stCondLst>
                        <p:cond delay="indefinite"/>
                      </p:stCondLst>
                      <p:childTnLst>
                        <p:par>
                          <p:cTn id="44"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1" grpId="0" animBg="1"/>
      <p:bldP spid="12" grpId="0" animBg="1"/>
      <p:bldP spid="13" grpId="0" animBg="1"/>
      <p:bldP spid="10" grpId="0" animBg="1"/>
      <p:bldP spid="15" grpId="0" animBg="1"/>
      <p:bldP spid="16" grpId="0" animBg="1"/>
    </p:bldLst>
  </p:timing>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Membrana"/>
          <p:cNvGrpSpPr/>
          <p:nvPr/>
        </p:nvGrpSpPr>
        <p:grpSpPr>
          <a:xfrm>
            <a:off x="274320" y="1828800"/>
            <a:ext cx="7589520" cy="384048"/>
            <a:chOff x="274320" y="1828800"/>
            <a:chExt cx="7589520" cy="384048"/>
          </a:xfrm>
        </p:grpSpPr>
        <p:sp>
          <p:nvSpPr>
            <p:cNvPr id="5" name="Forma 4"/>
            <p:cNvSpPr/>
            <p:nvPr/>
          </p:nvSpPr>
          <p:spPr>
            <a:xfrm>
              <a:off x="274320" y="1897929"/>
              <a:ext cx="7589520" cy="245791"/>
            </a:xfrm>
            <a:prstGeom prst="rect">
              <a:avLst/>
            </a:prstGeom>
            <a:solidFill>
              <a:srgbClr val="FDEBD0"/>
            </a:solidFill>
            <a:ln>
              <a:noFill/>
            </a:ln>
          </p:spPr>
        </p:sp>
        <p:sp>
          <p:nvSpPr>
            <p:cNvPr id="6" name="Forma 5"/>
            <p:cNvSpPr/>
            <p:nvPr/>
          </p:nvSpPr>
          <p:spPr>
            <a:xfrm>
              <a:off x="274320" y="1828800"/>
              <a:ext cx="7589520" cy="384048"/>
            </a:xfrm>
            <a:custGeom>
              <a:avLst/>
              <a:gdLst/>
              <a:ahLst/>
              <a:cxnLst/>
              <a:rect l="0" t="0" r="r" b="b"/>
              <a:pathLst>
                <a:path w="8300" h="42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7" y="47"/>
                  </a:moveTo>
                  <a:cubicBezTo>
                    <a:pt x="197" y="72"/>
                    <a:pt x="175" y="94"/>
                    <a:pt x="150" y="94"/>
                  </a:cubicBezTo>
                  <a:cubicBezTo>
                    <a:pt x="124" y="94"/>
                    <a:pt x="103" y="72"/>
                    <a:pt x="103" y="47"/>
                  </a:cubicBezTo>
                  <a:cubicBezTo>
                    <a:pt x="103" y="21"/>
                    <a:pt x="124" y="0"/>
                    <a:pt x="150" y="0"/>
                  </a:cubicBezTo>
                  <a:cubicBezTo>
                    <a:pt x="175" y="0"/>
                    <a:pt x="197" y="21"/>
                    <a:pt x="197" y="47"/>
                  </a:cubicBezTo>
                  <a:close/>
                  <a:moveTo>
                    <a:pt x="297" y="47"/>
                  </a:moveTo>
                  <a:cubicBezTo>
                    <a:pt x="297" y="72"/>
                    <a:pt x="275" y="94"/>
                    <a:pt x="250" y="94"/>
                  </a:cubicBezTo>
                  <a:cubicBezTo>
                    <a:pt x="224" y="94"/>
                    <a:pt x="203" y="72"/>
                    <a:pt x="203" y="47"/>
                  </a:cubicBezTo>
                  <a:cubicBezTo>
                    <a:pt x="203" y="21"/>
                    <a:pt x="224" y="0"/>
                    <a:pt x="250" y="0"/>
                  </a:cubicBezTo>
                  <a:cubicBezTo>
                    <a:pt x="275" y="0"/>
                    <a:pt x="297" y="21"/>
                    <a:pt x="297" y="47"/>
                  </a:cubicBezTo>
                  <a:close/>
                  <a:moveTo>
                    <a:pt x="397" y="47"/>
                  </a:moveTo>
                  <a:cubicBezTo>
                    <a:pt x="397" y="72"/>
                    <a:pt x="375" y="94"/>
                    <a:pt x="350" y="94"/>
                  </a:cubicBezTo>
                  <a:cubicBezTo>
                    <a:pt x="324" y="94"/>
                    <a:pt x="303" y="72"/>
                    <a:pt x="303" y="47"/>
                  </a:cubicBezTo>
                  <a:cubicBezTo>
                    <a:pt x="303" y="21"/>
                    <a:pt x="324" y="0"/>
                    <a:pt x="350" y="0"/>
                  </a:cubicBezTo>
                  <a:cubicBezTo>
                    <a:pt x="375" y="0"/>
                    <a:pt x="397" y="21"/>
                    <a:pt x="397" y="47"/>
                  </a:cubicBezTo>
                  <a:close/>
                  <a:moveTo>
                    <a:pt x="497" y="47"/>
                  </a:moveTo>
                  <a:cubicBezTo>
                    <a:pt x="497" y="72"/>
                    <a:pt x="475" y="94"/>
                    <a:pt x="450" y="94"/>
                  </a:cubicBezTo>
                  <a:cubicBezTo>
                    <a:pt x="424" y="94"/>
                    <a:pt x="403" y="72"/>
                    <a:pt x="403" y="47"/>
                  </a:cubicBezTo>
                  <a:cubicBezTo>
                    <a:pt x="403" y="21"/>
                    <a:pt x="424" y="0"/>
                    <a:pt x="450" y="0"/>
                  </a:cubicBezTo>
                  <a:cubicBezTo>
                    <a:pt x="475" y="0"/>
                    <a:pt x="497" y="21"/>
                    <a:pt x="497" y="47"/>
                  </a:cubicBezTo>
                  <a:close/>
                  <a:moveTo>
                    <a:pt x="597" y="47"/>
                  </a:moveTo>
                  <a:cubicBezTo>
                    <a:pt x="597" y="72"/>
                    <a:pt x="575" y="94"/>
                    <a:pt x="550" y="94"/>
                  </a:cubicBezTo>
                  <a:cubicBezTo>
                    <a:pt x="524" y="94"/>
                    <a:pt x="503" y="72"/>
                    <a:pt x="503" y="47"/>
                  </a:cubicBezTo>
                  <a:cubicBezTo>
                    <a:pt x="503" y="21"/>
                    <a:pt x="524" y="0"/>
                    <a:pt x="550" y="0"/>
                  </a:cubicBezTo>
                  <a:cubicBezTo>
                    <a:pt x="575" y="0"/>
                    <a:pt x="597" y="21"/>
                    <a:pt x="597" y="47"/>
                  </a:cubicBezTo>
                  <a:close/>
                  <a:moveTo>
                    <a:pt x="697" y="47"/>
                  </a:moveTo>
                  <a:cubicBezTo>
                    <a:pt x="697" y="72"/>
                    <a:pt x="675" y="94"/>
                    <a:pt x="650" y="94"/>
                  </a:cubicBezTo>
                  <a:cubicBezTo>
                    <a:pt x="624" y="94"/>
                    <a:pt x="603" y="72"/>
                    <a:pt x="603" y="47"/>
                  </a:cubicBezTo>
                  <a:cubicBezTo>
                    <a:pt x="603" y="21"/>
                    <a:pt x="624" y="0"/>
                    <a:pt x="650" y="0"/>
                  </a:cubicBezTo>
                  <a:cubicBezTo>
                    <a:pt x="675" y="0"/>
                    <a:pt x="697" y="21"/>
                    <a:pt x="697" y="47"/>
                  </a:cubicBezTo>
                  <a:close/>
                  <a:moveTo>
                    <a:pt x="797" y="47"/>
                  </a:moveTo>
                  <a:cubicBezTo>
                    <a:pt x="797" y="72"/>
                    <a:pt x="775" y="94"/>
                    <a:pt x="750" y="94"/>
                  </a:cubicBezTo>
                  <a:cubicBezTo>
                    <a:pt x="724" y="94"/>
                    <a:pt x="703" y="72"/>
                    <a:pt x="703" y="47"/>
                  </a:cubicBezTo>
                  <a:cubicBezTo>
                    <a:pt x="703" y="21"/>
                    <a:pt x="724" y="0"/>
                    <a:pt x="750" y="0"/>
                  </a:cubicBezTo>
                  <a:cubicBezTo>
                    <a:pt x="775" y="0"/>
                    <a:pt x="797" y="21"/>
                    <a:pt x="797" y="47"/>
                  </a:cubicBezTo>
                  <a:close/>
                  <a:moveTo>
                    <a:pt x="897" y="47"/>
                  </a:moveTo>
                  <a:cubicBezTo>
                    <a:pt x="897" y="72"/>
                    <a:pt x="875" y="94"/>
                    <a:pt x="850" y="94"/>
                  </a:cubicBezTo>
                  <a:cubicBezTo>
                    <a:pt x="824" y="94"/>
                    <a:pt x="803" y="72"/>
                    <a:pt x="803" y="47"/>
                  </a:cubicBezTo>
                  <a:cubicBezTo>
                    <a:pt x="803" y="21"/>
                    <a:pt x="824" y="0"/>
                    <a:pt x="850" y="0"/>
                  </a:cubicBezTo>
                  <a:cubicBezTo>
                    <a:pt x="875" y="0"/>
                    <a:pt x="897" y="21"/>
                    <a:pt x="897" y="47"/>
                  </a:cubicBezTo>
                  <a:close/>
                  <a:moveTo>
                    <a:pt x="997" y="47"/>
                  </a:moveTo>
                  <a:cubicBezTo>
                    <a:pt x="997" y="72"/>
                    <a:pt x="975" y="94"/>
                    <a:pt x="950" y="94"/>
                  </a:cubicBezTo>
                  <a:cubicBezTo>
                    <a:pt x="924" y="94"/>
                    <a:pt x="903" y="72"/>
                    <a:pt x="903" y="47"/>
                  </a:cubicBezTo>
                  <a:cubicBezTo>
                    <a:pt x="903" y="21"/>
                    <a:pt x="924" y="0"/>
                    <a:pt x="950" y="0"/>
                  </a:cubicBezTo>
                  <a:cubicBezTo>
                    <a:pt x="975" y="0"/>
                    <a:pt x="997" y="21"/>
                    <a:pt x="997" y="47"/>
                  </a:cubicBezTo>
                  <a:close/>
                  <a:moveTo>
                    <a:pt x="1097" y="47"/>
                  </a:moveTo>
                  <a:cubicBezTo>
                    <a:pt x="1097" y="72"/>
                    <a:pt x="1075" y="94"/>
                    <a:pt x="1050" y="94"/>
                  </a:cubicBezTo>
                  <a:cubicBezTo>
                    <a:pt x="1024" y="94"/>
                    <a:pt x="1003" y="72"/>
                    <a:pt x="1003" y="47"/>
                  </a:cubicBezTo>
                  <a:cubicBezTo>
                    <a:pt x="1003" y="21"/>
                    <a:pt x="1024" y="0"/>
                    <a:pt x="1050" y="0"/>
                  </a:cubicBezTo>
                  <a:cubicBezTo>
                    <a:pt x="1075" y="0"/>
                    <a:pt x="1097" y="21"/>
                    <a:pt x="1097" y="47"/>
                  </a:cubicBezTo>
                  <a:close/>
                  <a:moveTo>
                    <a:pt x="1197" y="47"/>
                  </a:moveTo>
                  <a:cubicBezTo>
                    <a:pt x="1197" y="72"/>
                    <a:pt x="1175" y="94"/>
                    <a:pt x="1150" y="94"/>
                  </a:cubicBezTo>
                  <a:cubicBezTo>
                    <a:pt x="1124" y="94"/>
                    <a:pt x="1103" y="72"/>
                    <a:pt x="1103" y="47"/>
                  </a:cubicBezTo>
                  <a:cubicBezTo>
                    <a:pt x="1103" y="21"/>
                    <a:pt x="1124" y="0"/>
                    <a:pt x="1150" y="0"/>
                  </a:cubicBezTo>
                  <a:cubicBezTo>
                    <a:pt x="1175" y="0"/>
                    <a:pt x="1197" y="21"/>
                    <a:pt x="1197" y="47"/>
                  </a:cubicBezTo>
                  <a:close/>
                  <a:moveTo>
                    <a:pt x="1297" y="47"/>
                  </a:moveTo>
                  <a:cubicBezTo>
                    <a:pt x="1297" y="72"/>
                    <a:pt x="1275" y="94"/>
                    <a:pt x="1250" y="94"/>
                  </a:cubicBezTo>
                  <a:cubicBezTo>
                    <a:pt x="1224" y="94"/>
                    <a:pt x="1203" y="72"/>
                    <a:pt x="1203" y="47"/>
                  </a:cubicBezTo>
                  <a:cubicBezTo>
                    <a:pt x="1203" y="21"/>
                    <a:pt x="1224" y="0"/>
                    <a:pt x="1250" y="0"/>
                  </a:cubicBezTo>
                  <a:cubicBezTo>
                    <a:pt x="1275" y="0"/>
                    <a:pt x="1297" y="21"/>
                    <a:pt x="1297" y="47"/>
                  </a:cubicBezTo>
                  <a:close/>
                  <a:moveTo>
                    <a:pt x="1397" y="47"/>
                  </a:moveTo>
                  <a:cubicBezTo>
                    <a:pt x="1397" y="72"/>
                    <a:pt x="1375" y="94"/>
                    <a:pt x="1350" y="94"/>
                  </a:cubicBezTo>
                  <a:cubicBezTo>
                    <a:pt x="1324" y="94"/>
                    <a:pt x="1303" y="72"/>
                    <a:pt x="1303" y="47"/>
                  </a:cubicBezTo>
                  <a:cubicBezTo>
                    <a:pt x="1303" y="21"/>
                    <a:pt x="1324" y="0"/>
                    <a:pt x="1350" y="0"/>
                  </a:cubicBezTo>
                  <a:cubicBezTo>
                    <a:pt x="1375" y="0"/>
                    <a:pt x="1397" y="21"/>
                    <a:pt x="1397" y="47"/>
                  </a:cubicBezTo>
                  <a:close/>
                  <a:moveTo>
                    <a:pt x="1497" y="47"/>
                  </a:moveTo>
                  <a:cubicBezTo>
                    <a:pt x="1497" y="72"/>
                    <a:pt x="1475" y="94"/>
                    <a:pt x="1450" y="94"/>
                  </a:cubicBezTo>
                  <a:cubicBezTo>
                    <a:pt x="1424" y="94"/>
                    <a:pt x="1403" y="72"/>
                    <a:pt x="1403" y="47"/>
                  </a:cubicBezTo>
                  <a:cubicBezTo>
                    <a:pt x="1403" y="21"/>
                    <a:pt x="1424" y="0"/>
                    <a:pt x="1450" y="0"/>
                  </a:cubicBezTo>
                  <a:cubicBezTo>
                    <a:pt x="1475" y="0"/>
                    <a:pt x="1497" y="21"/>
                    <a:pt x="1497" y="47"/>
                  </a:cubicBezTo>
                  <a:close/>
                  <a:moveTo>
                    <a:pt x="1597" y="47"/>
                  </a:moveTo>
                  <a:cubicBezTo>
                    <a:pt x="1597" y="72"/>
                    <a:pt x="1575" y="94"/>
                    <a:pt x="1550" y="94"/>
                  </a:cubicBezTo>
                  <a:cubicBezTo>
                    <a:pt x="1524" y="94"/>
                    <a:pt x="1503" y="72"/>
                    <a:pt x="1503" y="47"/>
                  </a:cubicBezTo>
                  <a:cubicBezTo>
                    <a:pt x="1503" y="21"/>
                    <a:pt x="1524" y="0"/>
                    <a:pt x="1550" y="0"/>
                  </a:cubicBezTo>
                  <a:cubicBezTo>
                    <a:pt x="1575" y="0"/>
                    <a:pt x="1597" y="21"/>
                    <a:pt x="1597" y="47"/>
                  </a:cubicBezTo>
                  <a:close/>
                  <a:moveTo>
                    <a:pt x="1697" y="47"/>
                  </a:moveTo>
                  <a:cubicBezTo>
                    <a:pt x="1697" y="72"/>
                    <a:pt x="1675" y="94"/>
                    <a:pt x="1650" y="94"/>
                  </a:cubicBezTo>
                  <a:cubicBezTo>
                    <a:pt x="1624" y="94"/>
                    <a:pt x="1603" y="72"/>
                    <a:pt x="1603" y="47"/>
                  </a:cubicBezTo>
                  <a:cubicBezTo>
                    <a:pt x="1603" y="21"/>
                    <a:pt x="1624" y="0"/>
                    <a:pt x="1650" y="0"/>
                  </a:cubicBezTo>
                  <a:cubicBezTo>
                    <a:pt x="1675" y="0"/>
                    <a:pt x="1697" y="21"/>
                    <a:pt x="1697" y="47"/>
                  </a:cubicBezTo>
                  <a:close/>
                  <a:moveTo>
                    <a:pt x="1797" y="47"/>
                  </a:moveTo>
                  <a:cubicBezTo>
                    <a:pt x="1797" y="72"/>
                    <a:pt x="1775" y="94"/>
                    <a:pt x="1750" y="94"/>
                  </a:cubicBezTo>
                  <a:cubicBezTo>
                    <a:pt x="1724" y="94"/>
                    <a:pt x="1703" y="72"/>
                    <a:pt x="1703" y="47"/>
                  </a:cubicBezTo>
                  <a:cubicBezTo>
                    <a:pt x="1703" y="21"/>
                    <a:pt x="1724" y="0"/>
                    <a:pt x="1750" y="0"/>
                  </a:cubicBezTo>
                  <a:cubicBezTo>
                    <a:pt x="1775" y="0"/>
                    <a:pt x="1797" y="21"/>
                    <a:pt x="1797" y="47"/>
                  </a:cubicBezTo>
                  <a:close/>
                  <a:moveTo>
                    <a:pt x="1897" y="47"/>
                  </a:moveTo>
                  <a:cubicBezTo>
                    <a:pt x="1897" y="72"/>
                    <a:pt x="1875" y="94"/>
                    <a:pt x="1850" y="94"/>
                  </a:cubicBezTo>
                  <a:cubicBezTo>
                    <a:pt x="1824" y="94"/>
                    <a:pt x="1803" y="72"/>
                    <a:pt x="1803" y="47"/>
                  </a:cubicBezTo>
                  <a:cubicBezTo>
                    <a:pt x="1803" y="21"/>
                    <a:pt x="1824" y="0"/>
                    <a:pt x="1850" y="0"/>
                  </a:cubicBezTo>
                  <a:cubicBezTo>
                    <a:pt x="1875" y="0"/>
                    <a:pt x="1897" y="21"/>
                    <a:pt x="1897" y="47"/>
                  </a:cubicBezTo>
                  <a:close/>
                  <a:moveTo>
                    <a:pt x="1997" y="47"/>
                  </a:moveTo>
                  <a:cubicBezTo>
                    <a:pt x="1997" y="72"/>
                    <a:pt x="1975" y="94"/>
                    <a:pt x="1950" y="94"/>
                  </a:cubicBezTo>
                  <a:cubicBezTo>
                    <a:pt x="1924" y="94"/>
                    <a:pt x="1903" y="72"/>
                    <a:pt x="1903" y="47"/>
                  </a:cubicBezTo>
                  <a:cubicBezTo>
                    <a:pt x="1903" y="21"/>
                    <a:pt x="1924" y="0"/>
                    <a:pt x="1950" y="0"/>
                  </a:cubicBezTo>
                  <a:cubicBezTo>
                    <a:pt x="1975" y="0"/>
                    <a:pt x="1997" y="21"/>
                    <a:pt x="1997" y="47"/>
                  </a:cubicBezTo>
                  <a:close/>
                  <a:moveTo>
                    <a:pt x="2097" y="47"/>
                  </a:moveTo>
                  <a:cubicBezTo>
                    <a:pt x="2097" y="72"/>
                    <a:pt x="2075" y="94"/>
                    <a:pt x="2050" y="94"/>
                  </a:cubicBezTo>
                  <a:cubicBezTo>
                    <a:pt x="2024" y="94"/>
                    <a:pt x="2003" y="72"/>
                    <a:pt x="2003" y="47"/>
                  </a:cubicBezTo>
                  <a:cubicBezTo>
                    <a:pt x="2003" y="21"/>
                    <a:pt x="2024" y="0"/>
                    <a:pt x="2050" y="0"/>
                  </a:cubicBezTo>
                  <a:cubicBezTo>
                    <a:pt x="2075" y="0"/>
                    <a:pt x="2097" y="21"/>
                    <a:pt x="2097" y="47"/>
                  </a:cubicBezTo>
                  <a:close/>
                  <a:moveTo>
                    <a:pt x="2197" y="47"/>
                  </a:moveTo>
                  <a:cubicBezTo>
                    <a:pt x="2197" y="72"/>
                    <a:pt x="2175" y="94"/>
                    <a:pt x="2150" y="94"/>
                  </a:cubicBezTo>
                  <a:cubicBezTo>
                    <a:pt x="2124" y="94"/>
                    <a:pt x="2103" y="72"/>
                    <a:pt x="2103" y="47"/>
                  </a:cubicBezTo>
                  <a:cubicBezTo>
                    <a:pt x="2103" y="21"/>
                    <a:pt x="2124" y="0"/>
                    <a:pt x="2150" y="0"/>
                  </a:cubicBezTo>
                  <a:cubicBezTo>
                    <a:pt x="2175" y="0"/>
                    <a:pt x="2197" y="21"/>
                    <a:pt x="2197" y="47"/>
                  </a:cubicBezTo>
                  <a:close/>
                  <a:moveTo>
                    <a:pt x="2297" y="47"/>
                  </a:moveTo>
                  <a:cubicBezTo>
                    <a:pt x="2297" y="72"/>
                    <a:pt x="2275" y="94"/>
                    <a:pt x="2250" y="94"/>
                  </a:cubicBezTo>
                  <a:cubicBezTo>
                    <a:pt x="2224" y="94"/>
                    <a:pt x="2203" y="72"/>
                    <a:pt x="2203" y="47"/>
                  </a:cubicBezTo>
                  <a:cubicBezTo>
                    <a:pt x="2203" y="21"/>
                    <a:pt x="2224" y="0"/>
                    <a:pt x="2250" y="0"/>
                  </a:cubicBezTo>
                  <a:cubicBezTo>
                    <a:pt x="2275" y="0"/>
                    <a:pt x="2297" y="21"/>
                    <a:pt x="2297" y="47"/>
                  </a:cubicBezTo>
                  <a:close/>
                  <a:moveTo>
                    <a:pt x="2397" y="47"/>
                  </a:moveTo>
                  <a:cubicBezTo>
                    <a:pt x="2397" y="72"/>
                    <a:pt x="2375" y="94"/>
                    <a:pt x="2350" y="94"/>
                  </a:cubicBezTo>
                  <a:cubicBezTo>
                    <a:pt x="2324" y="94"/>
                    <a:pt x="2303" y="72"/>
                    <a:pt x="2303" y="47"/>
                  </a:cubicBezTo>
                  <a:cubicBezTo>
                    <a:pt x="2303" y="21"/>
                    <a:pt x="2324" y="0"/>
                    <a:pt x="2350" y="0"/>
                  </a:cubicBezTo>
                  <a:cubicBezTo>
                    <a:pt x="2375" y="0"/>
                    <a:pt x="2397" y="21"/>
                    <a:pt x="2397" y="47"/>
                  </a:cubicBezTo>
                  <a:close/>
                  <a:moveTo>
                    <a:pt x="2497" y="47"/>
                  </a:moveTo>
                  <a:cubicBezTo>
                    <a:pt x="2497" y="72"/>
                    <a:pt x="2475" y="94"/>
                    <a:pt x="2450" y="94"/>
                  </a:cubicBezTo>
                  <a:cubicBezTo>
                    <a:pt x="2424" y="94"/>
                    <a:pt x="2403" y="72"/>
                    <a:pt x="2403" y="47"/>
                  </a:cubicBezTo>
                  <a:cubicBezTo>
                    <a:pt x="2403" y="21"/>
                    <a:pt x="2424" y="0"/>
                    <a:pt x="2450" y="0"/>
                  </a:cubicBezTo>
                  <a:cubicBezTo>
                    <a:pt x="2475" y="0"/>
                    <a:pt x="2497" y="21"/>
                    <a:pt x="2497" y="47"/>
                  </a:cubicBezTo>
                  <a:close/>
                  <a:moveTo>
                    <a:pt x="2597" y="47"/>
                  </a:moveTo>
                  <a:cubicBezTo>
                    <a:pt x="2597" y="72"/>
                    <a:pt x="2575" y="94"/>
                    <a:pt x="2550" y="94"/>
                  </a:cubicBezTo>
                  <a:cubicBezTo>
                    <a:pt x="2524" y="94"/>
                    <a:pt x="2503" y="72"/>
                    <a:pt x="2503" y="47"/>
                  </a:cubicBezTo>
                  <a:cubicBezTo>
                    <a:pt x="2503" y="21"/>
                    <a:pt x="2524" y="0"/>
                    <a:pt x="2550" y="0"/>
                  </a:cubicBezTo>
                  <a:cubicBezTo>
                    <a:pt x="2575" y="0"/>
                    <a:pt x="2597" y="21"/>
                    <a:pt x="2597" y="47"/>
                  </a:cubicBezTo>
                  <a:close/>
                  <a:moveTo>
                    <a:pt x="2697" y="47"/>
                  </a:moveTo>
                  <a:cubicBezTo>
                    <a:pt x="2697" y="72"/>
                    <a:pt x="2675" y="94"/>
                    <a:pt x="2650" y="94"/>
                  </a:cubicBezTo>
                  <a:cubicBezTo>
                    <a:pt x="2624" y="94"/>
                    <a:pt x="2603" y="72"/>
                    <a:pt x="2603" y="47"/>
                  </a:cubicBezTo>
                  <a:cubicBezTo>
                    <a:pt x="2603" y="21"/>
                    <a:pt x="2624" y="0"/>
                    <a:pt x="2650" y="0"/>
                  </a:cubicBezTo>
                  <a:cubicBezTo>
                    <a:pt x="2675" y="0"/>
                    <a:pt x="2697" y="21"/>
                    <a:pt x="2697" y="47"/>
                  </a:cubicBezTo>
                  <a:close/>
                  <a:moveTo>
                    <a:pt x="2797" y="47"/>
                  </a:moveTo>
                  <a:cubicBezTo>
                    <a:pt x="2797" y="72"/>
                    <a:pt x="2775" y="94"/>
                    <a:pt x="2750" y="94"/>
                  </a:cubicBezTo>
                  <a:cubicBezTo>
                    <a:pt x="2724" y="94"/>
                    <a:pt x="2703" y="72"/>
                    <a:pt x="2703" y="47"/>
                  </a:cubicBezTo>
                  <a:cubicBezTo>
                    <a:pt x="2703" y="21"/>
                    <a:pt x="2724" y="0"/>
                    <a:pt x="2750" y="0"/>
                  </a:cubicBezTo>
                  <a:cubicBezTo>
                    <a:pt x="2775" y="0"/>
                    <a:pt x="2797" y="21"/>
                    <a:pt x="2797" y="47"/>
                  </a:cubicBezTo>
                  <a:close/>
                  <a:moveTo>
                    <a:pt x="2897" y="47"/>
                  </a:moveTo>
                  <a:cubicBezTo>
                    <a:pt x="2897" y="72"/>
                    <a:pt x="2875" y="94"/>
                    <a:pt x="2850" y="94"/>
                  </a:cubicBezTo>
                  <a:cubicBezTo>
                    <a:pt x="2824" y="94"/>
                    <a:pt x="2803" y="72"/>
                    <a:pt x="2803" y="47"/>
                  </a:cubicBezTo>
                  <a:cubicBezTo>
                    <a:pt x="2803" y="21"/>
                    <a:pt x="2824" y="0"/>
                    <a:pt x="2850" y="0"/>
                  </a:cubicBezTo>
                  <a:cubicBezTo>
                    <a:pt x="2875" y="0"/>
                    <a:pt x="2897" y="21"/>
                    <a:pt x="2897" y="47"/>
                  </a:cubicBezTo>
                  <a:close/>
                  <a:moveTo>
                    <a:pt x="2997" y="47"/>
                  </a:moveTo>
                  <a:cubicBezTo>
                    <a:pt x="2997" y="72"/>
                    <a:pt x="2975" y="94"/>
                    <a:pt x="2950" y="94"/>
                  </a:cubicBezTo>
                  <a:cubicBezTo>
                    <a:pt x="2924" y="94"/>
                    <a:pt x="2903" y="72"/>
                    <a:pt x="2903" y="47"/>
                  </a:cubicBezTo>
                  <a:cubicBezTo>
                    <a:pt x="2903" y="21"/>
                    <a:pt x="2924" y="0"/>
                    <a:pt x="2950" y="0"/>
                  </a:cubicBezTo>
                  <a:cubicBezTo>
                    <a:pt x="2975" y="0"/>
                    <a:pt x="2997" y="21"/>
                    <a:pt x="2997" y="47"/>
                  </a:cubicBezTo>
                  <a:close/>
                  <a:moveTo>
                    <a:pt x="3097" y="47"/>
                  </a:moveTo>
                  <a:cubicBezTo>
                    <a:pt x="3097" y="72"/>
                    <a:pt x="3075" y="94"/>
                    <a:pt x="3050" y="94"/>
                  </a:cubicBezTo>
                  <a:cubicBezTo>
                    <a:pt x="3024" y="94"/>
                    <a:pt x="3003" y="72"/>
                    <a:pt x="3003" y="47"/>
                  </a:cubicBezTo>
                  <a:cubicBezTo>
                    <a:pt x="3003" y="21"/>
                    <a:pt x="3024" y="0"/>
                    <a:pt x="3050" y="0"/>
                  </a:cubicBezTo>
                  <a:cubicBezTo>
                    <a:pt x="3075" y="0"/>
                    <a:pt x="3097" y="21"/>
                    <a:pt x="3097" y="47"/>
                  </a:cubicBezTo>
                  <a:close/>
                  <a:moveTo>
                    <a:pt x="3197" y="47"/>
                  </a:moveTo>
                  <a:cubicBezTo>
                    <a:pt x="3197" y="72"/>
                    <a:pt x="3175" y="94"/>
                    <a:pt x="3150" y="94"/>
                  </a:cubicBezTo>
                  <a:cubicBezTo>
                    <a:pt x="3124" y="94"/>
                    <a:pt x="3103" y="72"/>
                    <a:pt x="3103" y="47"/>
                  </a:cubicBezTo>
                  <a:cubicBezTo>
                    <a:pt x="3103" y="21"/>
                    <a:pt x="3124" y="0"/>
                    <a:pt x="3150" y="0"/>
                  </a:cubicBezTo>
                  <a:cubicBezTo>
                    <a:pt x="3175" y="0"/>
                    <a:pt x="3197" y="21"/>
                    <a:pt x="3197" y="47"/>
                  </a:cubicBezTo>
                  <a:close/>
                  <a:moveTo>
                    <a:pt x="3297" y="47"/>
                  </a:moveTo>
                  <a:cubicBezTo>
                    <a:pt x="3297" y="72"/>
                    <a:pt x="3275" y="94"/>
                    <a:pt x="3250" y="94"/>
                  </a:cubicBezTo>
                  <a:cubicBezTo>
                    <a:pt x="3224" y="94"/>
                    <a:pt x="3203" y="72"/>
                    <a:pt x="3203" y="47"/>
                  </a:cubicBezTo>
                  <a:cubicBezTo>
                    <a:pt x="3203" y="21"/>
                    <a:pt x="3224" y="0"/>
                    <a:pt x="3250" y="0"/>
                  </a:cubicBezTo>
                  <a:cubicBezTo>
                    <a:pt x="3275" y="0"/>
                    <a:pt x="3297" y="21"/>
                    <a:pt x="3297" y="47"/>
                  </a:cubicBezTo>
                  <a:close/>
                  <a:moveTo>
                    <a:pt x="3397" y="47"/>
                  </a:moveTo>
                  <a:cubicBezTo>
                    <a:pt x="3397" y="72"/>
                    <a:pt x="3375" y="94"/>
                    <a:pt x="3350" y="94"/>
                  </a:cubicBezTo>
                  <a:cubicBezTo>
                    <a:pt x="3324" y="94"/>
                    <a:pt x="3303" y="72"/>
                    <a:pt x="3303" y="47"/>
                  </a:cubicBezTo>
                  <a:cubicBezTo>
                    <a:pt x="3303" y="21"/>
                    <a:pt x="3324" y="0"/>
                    <a:pt x="3350" y="0"/>
                  </a:cubicBezTo>
                  <a:cubicBezTo>
                    <a:pt x="3375" y="0"/>
                    <a:pt x="3397" y="21"/>
                    <a:pt x="3397" y="47"/>
                  </a:cubicBezTo>
                  <a:close/>
                  <a:moveTo>
                    <a:pt x="3497" y="47"/>
                  </a:moveTo>
                  <a:cubicBezTo>
                    <a:pt x="3497" y="72"/>
                    <a:pt x="3475" y="94"/>
                    <a:pt x="3450" y="94"/>
                  </a:cubicBezTo>
                  <a:cubicBezTo>
                    <a:pt x="3424" y="94"/>
                    <a:pt x="3403" y="72"/>
                    <a:pt x="3403" y="47"/>
                  </a:cubicBezTo>
                  <a:cubicBezTo>
                    <a:pt x="3403" y="21"/>
                    <a:pt x="3424" y="0"/>
                    <a:pt x="3450" y="0"/>
                  </a:cubicBezTo>
                  <a:cubicBezTo>
                    <a:pt x="3475" y="0"/>
                    <a:pt x="3497" y="21"/>
                    <a:pt x="3497" y="47"/>
                  </a:cubicBezTo>
                  <a:close/>
                  <a:moveTo>
                    <a:pt x="3597" y="47"/>
                  </a:moveTo>
                  <a:cubicBezTo>
                    <a:pt x="3597" y="72"/>
                    <a:pt x="3575" y="94"/>
                    <a:pt x="3550" y="94"/>
                  </a:cubicBezTo>
                  <a:cubicBezTo>
                    <a:pt x="3524" y="94"/>
                    <a:pt x="3503" y="72"/>
                    <a:pt x="3503" y="47"/>
                  </a:cubicBezTo>
                  <a:cubicBezTo>
                    <a:pt x="3503" y="21"/>
                    <a:pt x="3524" y="0"/>
                    <a:pt x="3550" y="0"/>
                  </a:cubicBezTo>
                  <a:cubicBezTo>
                    <a:pt x="3575" y="0"/>
                    <a:pt x="3597" y="21"/>
                    <a:pt x="3597" y="47"/>
                  </a:cubicBezTo>
                  <a:close/>
                  <a:moveTo>
                    <a:pt x="3697" y="47"/>
                  </a:moveTo>
                  <a:cubicBezTo>
                    <a:pt x="3697" y="72"/>
                    <a:pt x="3675" y="94"/>
                    <a:pt x="3650" y="94"/>
                  </a:cubicBezTo>
                  <a:cubicBezTo>
                    <a:pt x="3624" y="94"/>
                    <a:pt x="3603" y="72"/>
                    <a:pt x="3603" y="47"/>
                  </a:cubicBezTo>
                  <a:cubicBezTo>
                    <a:pt x="3603" y="21"/>
                    <a:pt x="3624" y="0"/>
                    <a:pt x="3650" y="0"/>
                  </a:cubicBezTo>
                  <a:cubicBezTo>
                    <a:pt x="3675" y="0"/>
                    <a:pt x="3697" y="21"/>
                    <a:pt x="3697" y="47"/>
                  </a:cubicBezTo>
                  <a:close/>
                  <a:moveTo>
                    <a:pt x="3797" y="47"/>
                  </a:moveTo>
                  <a:cubicBezTo>
                    <a:pt x="3797" y="72"/>
                    <a:pt x="3775" y="94"/>
                    <a:pt x="3750" y="94"/>
                  </a:cubicBezTo>
                  <a:cubicBezTo>
                    <a:pt x="3724" y="94"/>
                    <a:pt x="3703" y="72"/>
                    <a:pt x="3703" y="47"/>
                  </a:cubicBezTo>
                  <a:cubicBezTo>
                    <a:pt x="3703" y="21"/>
                    <a:pt x="3724" y="0"/>
                    <a:pt x="3750" y="0"/>
                  </a:cubicBezTo>
                  <a:cubicBezTo>
                    <a:pt x="3775" y="0"/>
                    <a:pt x="3797" y="21"/>
                    <a:pt x="3797" y="47"/>
                  </a:cubicBezTo>
                  <a:close/>
                  <a:moveTo>
                    <a:pt x="3897" y="47"/>
                  </a:moveTo>
                  <a:cubicBezTo>
                    <a:pt x="3897" y="72"/>
                    <a:pt x="3875" y="94"/>
                    <a:pt x="3850" y="94"/>
                  </a:cubicBezTo>
                  <a:cubicBezTo>
                    <a:pt x="3824" y="94"/>
                    <a:pt x="3803" y="72"/>
                    <a:pt x="3803" y="47"/>
                  </a:cubicBezTo>
                  <a:cubicBezTo>
                    <a:pt x="3803" y="21"/>
                    <a:pt x="3824" y="0"/>
                    <a:pt x="3850" y="0"/>
                  </a:cubicBezTo>
                  <a:cubicBezTo>
                    <a:pt x="3875" y="0"/>
                    <a:pt x="3897" y="21"/>
                    <a:pt x="3897" y="47"/>
                  </a:cubicBezTo>
                  <a:close/>
                  <a:moveTo>
                    <a:pt x="3997" y="47"/>
                  </a:moveTo>
                  <a:cubicBezTo>
                    <a:pt x="3997" y="72"/>
                    <a:pt x="3975" y="94"/>
                    <a:pt x="3950" y="94"/>
                  </a:cubicBezTo>
                  <a:cubicBezTo>
                    <a:pt x="3924" y="94"/>
                    <a:pt x="3903" y="72"/>
                    <a:pt x="3903" y="47"/>
                  </a:cubicBezTo>
                  <a:cubicBezTo>
                    <a:pt x="3903" y="21"/>
                    <a:pt x="3924" y="0"/>
                    <a:pt x="3950" y="0"/>
                  </a:cubicBezTo>
                  <a:cubicBezTo>
                    <a:pt x="3975" y="0"/>
                    <a:pt x="3997" y="21"/>
                    <a:pt x="3997" y="47"/>
                  </a:cubicBezTo>
                  <a:close/>
                  <a:moveTo>
                    <a:pt x="4097" y="47"/>
                  </a:moveTo>
                  <a:cubicBezTo>
                    <a:pt x="4097" y="72"/>
                    <a:pt x="4075" y="94"/>
                    <a:pt x="4050" y="94"/>
                  </a:cubicBezTo>
                  <a:cubicBezTo>
                    <a:pt x="4024" y="94"/>
                    <a:pt x="4003" y="72"/>
                    <a:pt x="4003" y="47"/>
                  </a:cubicBezTo>
                  <a:cubicBezTo>
                    <a:pt x="4003" y="21"/>
                    <a:pt x="4024" y="0"/>
                    <a:pt x="4050" y="0"/>
                  </a:cubicBezTo>
                  <a:cubicBezTo>
                    <a:pt x="4075" y="0"/>
                    <a:pt x="4097" y="21"/>
                    <a:pt x="4097" y="47"/>
                  </a:cubicBezTo>
                  <a:close/>
                  <a:moveTo>
                    <a:pt x="4197" y="47"/>
                  </a:moveTo>
                  <a:cubicBezTo>
                    <a:pt x="4197" y="72"/>
                    <a:pt x="4175" y="94"/>
                    <a:pt x="4150" y="94"/>
                  </a:cubicBezTo>
                  <a:cubicBezTo>
                    <a:pt x="4124" y="94"/>
                    <a:pt x="4103" y="72"/>
                    <a:pt x="4103" y="47"/>
                  </a:cubicBezTo>
                  <a:cubicBezTo>
                    <a:pt x="4103" y="21"/>
                    <a:pt x="4124" y="0"/>
                    <a:pt x="4150" y="0"/>
                  </a:cubicBezTo>
                  <a:cubicBezTo>
                    <a:pt x="4175" y="0"/>
                    <a:pt x="4197" y="21"/>
                    <a:pt x="4197" y="47"/>
                  </a:cubicBezTo>
                  <a:close/>
                  <a:moveTo>
                    <a:pt x="4297" y="47"/>
                  </a:moveTo>
                  <a:cubicBezTo>
                    <a:pt x="4297" y="72"/>
                    <a:pt x="4275" y="94"/>
                    <a:pt x="4250" y="94"/>
                  </a:cubicBezTo>
                  <a:cubicBezTo>
                    <a:pt x="4224" y="94"/>
                    <a:pt x="4203" y="72"/>
                    <a:pt x="4203" y="47"/>
                  </a:cubicBezTo>
                  <a:cubicBezTo>
                    <a:pt x="4203" y="21"/>
                    <a:pt x="4224" y="0"/>
                    <a:pt x="4250" y="0"/>
                  </a:cubicBezTo>
                  <a:cubicBezTo>
                    <a:pt x="4275" y="0"/>
                    <a:pt x="4297" y="21"/>
                    <a:pt x="4297" y="47"/>
                  </a:cubicBezTo>
                  <a:close/>
                  <a:moveTo>
                    <a:pt x="4397" y="47"/>
                  </a:moveTo>
                  <a:cubicBezTo>
                    <a:pt x="4397" y="72"/>
                    <a:pt x="4375" y="94"/>
                    <a:pt x="4350" y="94"/>
                  </a:cubicBezTo>
                  <a:cubicBezTo>
                    <a:pt x="4324" y="94"/>
                    <a:pt x="4303" y="72"/>
                    <a:pt x="4303" y="47"/>
                  </a:cubicBezTo>
                  <a:cubicBezTo>
                    <a:pt x="4303" y="21"/>
                    <a:pt x="4324" y="0"/>
                    <a:pt x="4350" y="0"/>
                  </a:cubicBezTo>
                  <a:cubicBezTo>
                    <a:pt x="4375" y="0"/>
                    <a:pt x="4397" y="21"/>
                    <a:pt x="4397" y="47"/>
                  </a:cubicBezTo>
                  <a:close/>
                  <a:moveTo>
                    <a:pt x="4497" y="47"/>
                  </a:moveTo>
                  <a:cubicBezTo>
                    <a:pt x="4497" y="72"/>
                    <a:pt x="4475" y="94"/>
                    <a:pt x="4450" y="94"/>
                  </a:cubicBezTo>
                  <a:cubicBezTo>
                    <a:pt x="4424" y="94"/>
                    <a:pt x="4403" y="72"/>
                    <a:pt x="4403" y="47"/>
                  </a:cubicBezTo>
                  <a:cubicBezTo>
                    <a:pt x="4403" y="21"/>
                    <a:pt x="4424" y="0"/>
                    <a:pt x="4450" y="0"/>
                  </a:cubicBezTo>
                  <a:cubicBezTo>
                    <a:pt x="4475" y="0"/>
                    <a:pt x="4497" y="21"/>
                    <a:pt x="4497" y="47"/>
                  </a:cubicBezTo>
                  <a:close/>
                  <a:moveTo>
                    <a:pt x="4597" y="47"/>
                  </a:moveTo>
                  <a:cubicBezTo>
                    <a:pt x="4597" y="72"/>
                    <a:pt x="4575" y="94"/>
                    <a:pt x="4550" y="94"/>
                  </a:cubicBezTo>
                  <a:cubicBezTo>
                    <a:pt x="4524" y="94"/>
                    <a:pt x="4503" y="72"/>
                    <a:pt x="4503" y="47"/>
                  </a:cubicBezTo>
                  <a:cubicBezTo>
                    <a:pt x="4503" y="21"/>
                    <a:pt x="4524" y="0"/>
                    <a:pt x="4550" y="0"/>
                  </a:cubicBezTo>
                  <a:cubicBezTo>
                    <a:pt x="4575" y="0"/>
                    <a:pt x="4597" y="21"/>
                    <a:pt x="4597" y="47"/>
                  </a:cubicBezTo>
                  <a:close/>
                  <a:moveTo>
                    <a:pt x="4697" y="47"/>
                  </a:moveTo>
                  <a:cubicBezTo>
                    <a:pt x="4697" y="72"/>
                    <a:pt x="4675" y="94"/>
                    <a:pt x="4650" y="94"/>
                  </a:cubicBezTo>
                  <a:cubicBezTo>
                    <a:pt x="4624" y="94"/>
                    <a:pt x="4603" y="72"/>
                    <a:pt x="4603" y="47"/>
                  </a:cubicBezTo>
                  <a:cubicBezTo>
                    <a:pt x="4603" y="21"/>
                    <a:pt x="4624" y="0"/>
                    <a:pt x="4650" y="0"/>
                  </a:cubicBezTo>
                  <a:cubicBezTo>
                    <a:pt x="4675" y="0"/>
                    <a:pt x="4697" y="21"/>
                    <a:pt x="4697" y="47"/>
                  </a:cubicBezTo>
                  <a:close/>
                  <a:moveTo>
                    <a:pt x="4797" y="47"/>
                  </a:moveTo>
                  <a:cubicBezTo>
                    <a:pt x="4797" y="72"/>
                    <a:pt x="4775" y="94"/>
                    <a:pt x="4750" y="94"/>
                  </a:cubicBezTo>
                  <a:cubicBezTo>
                    <a:pt x="4724" y="94"/>
                    <a:pt x="4703" y="72"/>
                    <a:pt x="4703" y="47"/>
                  </a:cubicBezTo>
                  <a:cubicBezTo>
                    <a:pt x="4703" y="21"/>
                    <a:pt x="4724" y="0"/>
                    <a:pt x="4750" y="0"/>
                  </a:cubicBezTo>
                  <a:cubicBezTo>
                    <a:pt x="4775" y="0"/>
                    <a:pt x="4797" y="21"/>
                    <a:pt x="4797" y="47"/>
                  </a:cubicBezTo>
                  <a:close/>
                  <a:moveTo>
                    <a:pt x="4897" y="47"/>
                  </a:moveTo>
                  <a:cubicBezTo>
                    <a:pt x="4897" y="72"/>
                    <a:pt x="4875" y="94"/>
                    <a:pt x="4850" y="94"/>
                  </a:cubicBezTo>
                  <a:cubicBezTo>
                    <a:pt x="4824" y="94"/>
                    <a:pt x="4803" y="72"/>
                    <a:pt x="4803" y="47"/>
                  </a:cubicBezTo>
                  <a:cubicBezTo>
                    <a:pt x="4803" y="21"/>
                    <a:pt x="4824" y="0"/>
                    <a:pt x="4850" y="0"/>
                  </a:cubicBezTo>
                  <a:cubicBezTo>
                    <a:pt x="4875" y="0"/>
                    <a:pt x="4897" y="21"/>
                    <a:pt x="4897" y="47"/>
                  </a:cubicBezTo>
                  <a:close/>
                  <a:moveTo>
                    <a:pt x="4997" y="47"/>
                  </a:moveTo>
                  <a:cubicBezTo>
                    <a:pt x="4997" y="72"/>
                    <a:pt x="4975" y="94"/>
                    <a:pt x="4950" y="94"/>
                  </a:cubicBezTo>
                  <a:cubicBezTo>
                    <a:pt x="4924" y="94"/>
                    <a:pt x="4903" y="72"/>
                    <a:pt x="4903" y="47"/>
                  </a:cubicBezTo>
                  <a:cubicBezTo>
                    <a:pt x="4903" y="21"/>
                    <a:pt x="4924" y="0"/>
                    <a:pt x="4950" y="0"/>
                  </a:cubicBezTo>
                  <a:cubicBezTo>
                    <a:pt x="4975" y="0"/>
                    <a:pt x="4997" y="21"/>
                    <a:pt x="4997" y="47"/>
                  </a:cubicBezTo>
                  <a:close/>
                  <a:moveTo>
                    <a:pt x="5097" y="47"/>
                  </a:moveTo>
                  <a:cubicBezTo>
                    <a:pt x="5097" y="72"/>
                    <a:pt x="5075" y="94"/>
                    <a:pt x="5050" y="94"/>
                  </a:cubicBezTo>
                  <a:cubicBezTo>
                    <a:pt x="5024" y="94"/>
                    <a:pt x="5003" y="72"/>
                    <a:pt x="5003" y="47"/>
                  </a:cubicBezTo>
                  <a:cubicBezTo>
                    <a:pt x="5003" y="21"/>
                    <a:pt x="5024" y="0"/>
                    <a:pt x="5050" y="0"/>
                  </a:cubicBezTo>
                  <a:cubicBezTo>
                    <a:pt x="5075" y="0"/>
                    <a:pt x="5097" y="21"/>
                    <a:pt x="5097" y="47"/>
                  </a:cubicBezTo>
                  <a:close/>
                  <a:moveTo>
                    <a:pt x="5197" y="47"/>
                  </a:moveTo>
                  <a:cubicBezTo>
                    <a:pt x="5197" y="72"/>
                    <a:pt x="5175" y="94"/>
                    <a:pt x="5150" y="94"/>
                  </a:cubicBezTo>
                  <a:cubicBezTo>
                    <a:pt x="5124" y="94"/>
                    <a:pt x="5103" y="72"/>
                    <a:pt x="5103" y="47"/>
                  </a:cubicBezTo>
                  <a:cubicBezTo>
                    <a:pt x="5103" y="21"/>
                    <a:pt x="5124" y="0"/>
                    <a:pt x="5150" y="0"/>
                  </a:cubicBezTo>
                  <a:cubicBezTo>
                    <a:pt x="5175" y="0"/>
                    <a:pt x="5197" y="21"/>
                    <a:pt x="5197" y="47"/>
                  </a:cubicBezTo>
                  <a:close/>
                  <a:moveTo>
                    <a:pt x="5297" y="47"/>
                  </a:moveTo>
                  <a:cubicBezTo>
                    <a:pt x="5297" y="72"/>
                    <a:pt x="5275" y="94"/>
                    <a:pt x="5250" y="94"/>
                  </a:cubicBezTo>
                  <a:cubicBezTo>
                    <a:pt x="5224" y="94"/>
                    <a:pt x="5203" y="72"/>
                    <a:pt x="5203" y="47"/>
                  </a:cubicBezTo>
                  <a:cubicBezTo>
                    <a:pt x="5203" y="21"/>
                    <a:pt x="5224" y="0"/>
                    <a:pt x="5250" y="0"/>
                  </a:cubicBezTo>
                  <a:cubicBezTo>
                    <a:pt x="5275" y="0"/>
                    <a:pt x="5297" y="21"/>
                    <a:pt x="5297" y="47"/>
                  </a:cubicBezTo>
                  <a:close/>
                  <a:moveTo>
                    <a:pt x="5397" y="47"/>
                  </a:moveTo>
                  <a:cubicBezTo>
                    <a:pt x="5397" y="72"/>
                    <a:pt x="5375" y="94"/>
                    <a:pt x="5350" y="94"/>
                  </a:cubicBezTo>
                  <a:cubicBezTo>
                    <a:pt x="5324" y="94"/>
                    <a:pt x="5303" y="72"/>
                    <a:pt x="5303" y="47"/>
                  </a:cubicBezTo>
                  <a:cubicBezTo>
                    <a:pt x="5303" y="21"/>
                    <a:pt x="5324" y="0"/>
                    <a:pt x="5350" y="0"/>
                  </a:cubicBezTo>
                  <a:cubicBezTo>
                    <a:pt x="5375" y="0"/>
                    <a:pt x="5397" y="21"/>
                    <a:pt x="5397" y="47"/>
                  </a:cubicBezTo>
                  <a:close/>
                  <a:moveTo>
                    <a:pt x="5497" y="47"/>
                  </a:moveTo>
                  <a:cubicBezTo>
                    <a:pt x="5497" y="72"/>
                    <a:pt x="5475" y="94"/>
                    <a:pt x="5450" y="94"/>
                  </a:cubicBezTo>
                  <a:cubicBezTo>
                    <a:pt x="5424" y="94"/>
                    <a:pt x="5403" y="72"/>
                    <a:pt x="5403" y="47"/>
                  </a:cubicBezTo>
                  <a:cubicBezTo>
                    <a:pt x="5403" y="21"/>
                    <a:pt x="5424" y="0"/>
                    <a:pt x="5450" y="0"/>
                  </a:cubicBezTo>
                  <a:cubicBezTo>
                    <a:pt x="5475" y="0"/>
                    <a:pt x="5497" y="21"/>
                    <a:pt x="5497" y="47"/>
                  </a:cubicBezTo>
                  <a:close/>
                  <a:moveTo>
                    <a:pt x="5597" y="47"/>
                  </a:moveTo>
                  <a:cubicBezTo>
                    <a:pt x="5597" y="72"/>
                    <a:pt x="5575" y="94"/>
                    <a:pt x="5550" y="94"/>
                  </a:cubicBezTo>
                  <a:cubicBezTo>
                    <a:pt x="5524" y="94"/>
                    <a:pt x="5503" y="72"/>
                    <a:pt x="5503" y="47"/>
                  </a:cubicBezTo>
                  <a:cubicBezTo>
                    <a:pt x="5503" y="21"/>
                    <a:pt x="5524" y="0"/>
                    <a:pt x="5550" y="0"/>
                  </a:cubicBezTo>
                  <a:cubicBezTo>
                    <a:pt x="5575" y="0"/>
                    <a:pt x="5597" y="21"/>
                    <a:pt x="5597" y="47"/>
                  </a:cubicBezTo>
                  <a:close/>
                  <a:moveTo>
                    <a:pt x="5697" y="47"/>
                  </a:moveTo>
                  <a:cubicBezTo>
                    <a:pt x="5697" y="72"/>
                    <a:pt x="5675" y="94"/>
                    <a:pt x="5650" y="94"/>
                  </a:cubicBezTo>
                  <a:cubicBezTo>
                    <a:pt x="5624" y="94"/>
                    <a:pt x="5603" y="72"/>
                    <a:pt x="5603" y="47"/>
                  </a:cubicBezTo>
                  <a:cubicBezTo>
                    <a:pt x="5603" y="21"/>
                    <a:pt x="5624" y="0"/>
                    <a:pt x="5650" y="0"/>
                  </a:cubicBezTo>
                  <a:cubicBezTo>
                    <a:pt x="5675" y="0"/>
                    <a:pt x="5697" y="21"/>
                    <a:pt x="5697" y="47"/>
                  </a:cubicBezTo>
                  <a:close/>
                  <a:moveTo>
                    <a:pt x="5797" y="47"/>
                  </a:moveTo>
                  <a:cubicBezTo>
                    <a:pt x="5797" y="72"/>
                    <a:pt x="5775" y="94"/>
                    <a:pt x="5750" y="94"/>
                  </a:cubicBezTo>
                  <a:cubicBezTo>
                    <a:pt x="5724" y="94"/>
                    <a:pt x="5703" y="72"/>
                    <a:pt x="5703" y="47"/>
                  </a:cubicBezTo>
                  <a:cubicBezTo>
                    <a:pt x="5703" y="21"/>
                    <a:pt x="5724" y="0"/>
                    <a:pt x="5750" y="0"/>
                  </a:cubicBezTo>
                  <a:cubicBezTo>
                    <a:pt x="5775" y="0"/>
                    <a:pt x="5797" y="21"/>
                    <a:pt x="5797" y="47"/>
                  </a:cubicBezTo>
                  <a:close/>
                  <a:moveTo>
                    <a:pt x="5897" y="47"/>
                  </a:moveTo>
                  <a:cubicBezTo>
                    <a:pt x="5897" y="72"/>
                    <a:pt x="5875" y="94"/>
                    <a:pt x="5850" y="94"/>
                  </a:cubicBezTo>
                  <a:cubicBezTo>
                    <a:pt x="5824" y="94"/>
                    <a:pt x="5803" y="72"/>
                    <a:pt x="5803" y="47"/>
                  </a:cubicBezTo>
                  <a:cubicBezTo>
                    <a:pt x="5803" y="21"/>
                    <a:pt x="5824" y="0"/>
                    <a:pt x="5850" y="0"/>
                  </a:cubicBezTo>
                  <a:cubicBezTo>
                    <a:pt x="5875" y="0"/>
                    <a:pt x="5897" y="21"/>
                    <a:pt x="5897" y="47"/>
                  </a:cubicBezTo>
                  <a:close/>
                  <a:moveTo>
                    <a:pt x="5997" y="47"/>
                  </a:moveTo>
                  <a:cubicBezTo>
                    <a:pt x="5997" y="72"/>
                    <a:pt x="5975" y="94"/>
                    <a:pt x="5950" y="94"/>
                  </a:cubicBezTo>
                  <a:cubicBezTo>
                    <a:pt x="5924" y="94"/>
                    <a:pt x="5903" y="72"/>
                    <a:pt x="5903" y="47"/>
                  </a:cubicBezTo>
                  <a:cubicBezTo>
                    <a:pt x="5903" y="21"/>
                    <a:pt x="5924" y="0"/>
                    <a:pt x="5950" y="0"/>
                  </a:cubicBezTo>
                  <a:cubicBezTo>
                    <a:pt x="5975" y="0"/>
                    <a:pt x="5997" y="21"/>
                    <a:pt x="5997" y="47"/>
                  </a:cubicBezTo>
                  <a:close/>
                  <a:moveTo>
                    <a:pt x="6097" y="47"/>
                  </a:moveTo>
                  <a:cubicBezTo>
                    <a:pt x="6097" y="72"/>
                    <a:pt x="6075" y="94"/>
                    <a:pt x="6050" y="94"/>
                  </a:cubicBezTo>
                  <a:cubicBezTo>
                    <a:pt x="6024" y="94"/>
                    <a:pt x="6003" y="72"/>
                    <a:pt x="6003" y="47"/>
                  </a:cubicBezTo>
                  <a:cubicBezTo>
                    <a:pt x="6003" y="21"/>
                    <a:pt x="6024" y="0"/>
                    <a:pt x="6050" y="0"/>
                  </a:cubicBezTo>
                  <a:cubicBezTo>
                    <a:pt x="6075" y="0"/>
                    <a:pt x="6097" y="21"/>
                    <a:pt x="6097" y="47"/>
                  </a:cubicBezTo>
                  <a:close/>
                  <a:moveTo>
                    <a:pt x="6197" y="47"/>
                  </a:moveTo>
                  <a:cubicBezTo>
                    <a:pt x="6197" y="72"/>
                    <a:pt x="6175" y="94"/>
                    <a:pt x="6150" y="94"/>
                  </a:cubicBezTo>
                  <a:cubicBezTo>
                    <a:pt x="6124" y="94"/>
                    <a:pt x="6103" y="72"/>
                    <a:pt x="6103" y="47"/>
                  </a:cubicBezTo>
                  <a:cubicBezTo>
                    <a:pt x="6103" y="21"/>
                    <a:pt x="6124" y="0"/>
                    <a:pt x="6150" y="0"/>
                  </a:cubicBezTo>
                  <a:cubicBezTo>
                    <a:pt x="6175" y="0"/>
                    <a:pt x="6197" y="21"/>
                    <a:pt x="6197" y="47"/>
                  </a:cubicBezTo>
                  <a:close/>
                  <a:moveTo>
                    <a:pt x="6297" y="47"/>
                  </a:moveTo>
                  <a:cubicBezTo>
                    <a:pt x="6297" y="72"/>
                    <a:pt x="6275" y="94"/>
                    <a:pt x="6250" y="94"/>
                  </a:cubicBezTo>
                  <a:cubicBezTo>
                    <a:pt x="6224" y="94"/>
                    <a:pt x="6203" y="72"/>
                    <a:pt x="6203" y="47"/>
                  </a:cubicBezTo>
                  <a:cubicBezTo>
                    <a:pt x="6203" y="21"/>
                    <a:pt x="6224" y="0"/>
                    <a:pt x="6250" y="0"/>
                  </a:cubicBezTo>
                  <a:cubicBezTo>
                    <a:pt x="6275" y="0"/>
                    <a:pt x="6297" y="21"/>
                    <a:pt x="6297" y="47"/>
                  </a:cubicBezTo>
                  <a:close/>
                  <a:moveTo>
                    <a:pt x="6397" y="47"/>
                  </a:moveTo>
                  <a:cubicBezTo>
                    <a:pt x="6397" y="72"/>
                    <a:pt x="6375" y="94"/>
                    <a:pt x="6350" y="94"/>
                  </a:cubicBezTo>
                  <a:cubicBezTo>
                    <a:pt x="6324" y="94"/>
                    <a:pt x="6303" y="72"/>
                    <a:pt x="6303" y="47"/>
                  </a:cubicBezTo>
                  <a:cubicBezTo>
                    <a:pt x="6303" y="21"/>
                    <a:pt x="6324" y="0"/>
                    <a:pt x="6350" y="0"/>
                  </a:cubicBezTo>
                  <a:cubicBezTo>
                    <a:pt x="6375" y="0"/>
                    <a:pt x="6397" y="21"/>
                    <a:pt x="6397" y="47"/>
                  </a:cubicBezTo>
                  <a:close/>
                  <a:moveTo>
                    <a:pt x="6497" y="47"/>
                  </a:moveTo>
                  <a:cubicBezTo>
                    <a:pt x="6497" y="72"/>
                    <a:pt x="6475" y="94"/>
                    <a:pt x="6450" y="94"/>
                  </a:cubicBezTo>
                  <a:cubicBezTo>
                    <a:pt x="6424" y="94"/>
                    <a:pt x="6403" y="72"/>
                    <a:pt x="6403" y="47"/>
                  </a:cubicBezTo>
                  <a:cubicBezTo>
                    <a:pt x="6403" y="21"/>
                    <a:pt x="6424" y="0"/>
                    <a:pt x="6450" y="0"/>
                  </a:cubicBezTo>
                  <a:cubicBezTo>
                    <a:pt x="6475" y="0"/>
                    <a:pt x="6497" y="21"/>
                    <a:pt x="6497" y="47"/>
                  </a:cubicBezTo>
                  <a:close/>
                  <a:moveTo>
                    <a:pt x="6597" y="47"/>
                  </a:moveTo>
                  <a:cubicBezTo>
                    <a:pt x="6597" y="72"/>
                    <a:pt x="6575" y="94"/>
                    <a:pt x="6550" y="94"/>
                  </a:cubicBezTo>
                  <a:cubicBezTo>
                    <a:pt x="6524" y="94"/>
                    <a:pt x="6503" y="72"/>
                    <a:pt x="6503" y="47"/>
                  </a:cubicBezTo>
                  <a:cubicBezTo>
                    <a:pt x="6503" y="21"/>
                    <a:pt x="6524" y="0"/>
                    <a:pt x="6550" y="0"/>
                  </a:cubicBezTo>
                  <a:cubicBezTo>
                    <a:pt x="6575" y="0"/>
                    <a:pt x="6597" y="21"/>
                    <a:pt x="6597" y="47"/>
                  </a:cubicBezTo>
                  <a:close/>
                  <a:moveTo>
                    <a:pt x="6697" y="47"/>
                  </a:moveTo>
                  <a:cubicBezTo>
                    <a:pt x="6697" y="72"/>
                    <a:pt x="6675" y="94"/>
                    <a:pt x="6650" y="94"/>
                  </a:cubicBezTo>
                  <a:cubicBezTo>
                    <a:pt x="6624" y="94"/>
                    <a:pt x="6603" y="72"/>
                    <a:pt x="6603" y="47"/>
                  </a:cubicBezTo>
                  <a:cubicBezTo>
                    <a:pt x="6603" y="21"/>
                    <a:pt x="6624" y="0"/>
                    <a:pt x="6650" y="0"/>
                  </a:cubicBezTo>
                  <a:cubicBezTo>
                    <a:pt x="6675" y="0"/>
                    <a:pt x="6697" y="21"/>
                    <a:pt x="6697" y="47"/>
                  </a:cubicBezTo>
                  <a:close/>
                  <a:moveTo>
                    <a:pt x="6797" y="47"/>
                  </a:moveTo>
                  <a:cubicBezTo>
                    <a:pt x="6797" y="72"/>
                    <a:pt x="6775" y="94"/>
                    <a:pt x="6750" y="94"/>
                  </a:cubicBezTo>
                  <a:cubicBezTo>
                    <a:pt x="6724" y="94"/>
                    <a:pt x="6703" y="72"/>
                    <a:pt x="6703" y="47"/>
                  </a:cubicBezTo>
                  <a:cubicBezTo>
                    <a:pt x="6703" y="21"/>
                    <a:pt x="6724" y="0"/>
                    <a:pt x="6750" y="0"/>
                  </a:cubicBezTo>
                  <a:cubicBezTo>
                    <a:pt x="6775" y="0"/>
                    <a:pt x="6797" y="21"/>
                    <a:pt x="6797" y="47"/>
                  </a:cubicBezTo>
                  <a:close/>
                  <a:moveTo>
                    <a:pt x="6897" y="47"/>
                  </a:moveTo>
                  <a:cubicBezTo>
                    <a:pt x="6897" y="72"/>
                    <a:pt x="6875" y="94"/>
                    <a:pt x="6850" y="94"/>
                  </a:cubicBezTo>
                  <a:cubicBezTo>
                    <a:pt x="6824" y="94"/>
                    <a:pt x="6803" y="72"/>
                    <a:pt x="6803" y="47"/>
                  </a:cubicBezTo>
                  <a:cubicBezTo>
                    <a:pt x="6803" y="21"/>
                    <a:pt x="6824" y="0"/>
                    <a:pt x="6850" y="0"/>
                  </a:cubicBezTo>
                  <a:cubicBezTo>
                    <a:pt x="6875" y="0"/>
                    <a:pt x="6897" y="21"/>
                    <a:pt x="6897" y="47"/>
                  </a:cubicBezTo>
                  <a:close/>
                  <a:moveTo>
                    <a:pt x="6997" y="47"/>
                  </a:moveTo>
                  <a:cubicBezTo>
                    <a:pt x="6997" y="72"/>
                    <a:pt x="6975" y="94"/>
                    <a:pt x="6950" y="94"/>
                  </a:cubicBezTo>
                  <a:cubicBezTo>
                    <a:pt x="6924" y="94"/>
                    <a:pt x="6903" y="72"/>
                    <a:pt x="6903" y="47"/>
                  </a:cubicBezTo>
                  <a:cubicBezTo>
                    <a:pt x="6903" y="21"/>
                    <a:pt x="6924" y="0"/>
                    <a:pt x="6950" y="0"/>
                  </a:cubicBezTo>
                  <a:cubicBezTo>
                    <a:pt x="6975" y="0"/>
                    <a:pt x="6997" y="21"/>
                    <a:pt x="6997" y="47"/>
                  </a:cubicBezTo>
                  <a:close/>
                  <a:moveTo>
                    <a:pt x="7097" y="47"/>
                  </a:moveTo>
                  <a:cubicBezTo>
                    <a:pt x="7097" y="72"/>
                    <a:pt x="7075" y="94"/>
                    <a:pt x="7050" y="94"/>
                  </a:cubicBezTo>
                  <a:cubicBezTo>
                    <a:pt x="7024" y="94"/>
                    <a:pt x="7003" y="72"/>
                    <a:pt x="7003" y="47"/>
                  </a:cubicBezTo>
                  <a:cubicBezTo>
                    <a:pt x="7003" y="21"/>
                    <a:pt x="7024" y="0"/>
                    <a:pt x="7050" y="0"/>
                  </a:cubicBezTo>
                  <a:cubicBezTo>
                    <a:pt x="7075" y="0"/>
                    <a:pt x="7097" y="21"/>
                    <a:pt x="7097" y="47"/>
                  </a:cubicBezTo>
                  <a:close/>
                  <a:moveTo>
                    <a:pt x="7197" y="47"/>
                  </a:moveTo>
                  <a:cubicBezTo>
                    <a:pt x="7197" y="72"/>
                    <a:pt x="7175" y="94"/>
                    <a:pt x="7150" y="94"/>
                  </a:cubicBezTo>
                  <a:cubicBezTo>
                    <a:pt x="7124" y="94"/>
                    <a:pt x="7103" y="72"/>
                    <a:pt x="7103" y="47"/>
                  </a:cubicBezTo>
                  <a:cubicBezTo>
                    <a:pt x="7103" y="21"/>
                    <a:pt x="7124" y="0"/>
                    <a:pt x="7150" y="0"/>
                  </a:cubicBezTo>
                  <a:cubicBezTo>
                    <a:pt x="7175" y="0"/>
                    <a:pt x="7197" y="21"/>
                    <a:pt x="7197" y="47"/>
                  </a:cubicBezTo>
                  <a:close/>
                  <a:moveTo>
                    <a:pt x="7297" y="47"/>
                  </a:moveTo>
                  <a:cubicBezTo>
                    <a:pt x="7297" y="72"/>
                    <a:pt x="7275" y="94"/>
                    <a:pt x="7250" y="94"/>
                  </a:cubicBezTo>
                  <a:cubicBezTo>
                    <a:pt x="7224" y="94"/>
                    <a:pt x="7203" y="72"/>
                    <a:pt x="7203" y="47"/>
                  </a:cubicBezTo>
                  <a:cubicBezTo>
                    <a:pt x="7203" y="21"/>
                    <a:pt x="7224" y="0"/>
                    <a:pt x="7250" y="0"/>
                  </a:cubicBezTo>
                  <a:cubicBezTo>
                    <a:pt x="7275" y="0"/>
                    <a:pt x="7297" y="21"/>
                    <a:pt x="7297" y="47"/>
                  </a:cubicBezTo>
                  <a:close/>
                  <a:moveTo>
                    <a:pt x="7397" y="47"/>
                  </a:moveTo>
                  <a:cubicBezTo>
                    <a:pt x="7397" y="72"/>
                    <a:pt x="7375" y="94"/>
                    <a:pt x="7350" y="94"/>
                  </a:cubicBezTo>
                  <a:cubicBezTo>
                    <a:pt x="7324" y="94"/>
                    <a:pt x="7303" y="72"/>
                    <a:pt x="7303" y="47"/>
                  </a:cubicBezTo>
                  <a:cubicBezTo>
                    <a:pt x="7303" y="21"/>
                    <a:pt x="7324" y="0"/>
                    <a:pt x="7350" y="0"/>
                  </a:cubicBezTo>
                  <a:cubicBezTo>
                    <a:pt x="7375" y="0"/>
                    <a:pt x="7397" y="21"/>
                    <a:pt x="7397" y="47"/>
                  </a:cubicBezTo>
                  <a:close/>
                  <a:moveTo>
                    <a:pt x="7497" y="47"/>
                  </a:moveTo>
                  <a:cubicBezTo>
                    <a:pt x="7497" y="72"/>
                    <a:pt x="7475" y="94"/>
                    <a:pt x="7450" y="94"/>
                  </a:cubicBezTo>
                  <a:cubicBezTo>
                    <a:pt x="7424" y="94"/>
                    <a:pt x="7403" y="72"/>
                    <a:pt x="7403" y="47"/>
                  </a:cubicBezTo>
                  <a:cubicBezTo>
                    <a:pt x="7403" y="21"/>
                    <a:pt x="7424" y="0"/>
                    <a:pt x="7450" y="0"/>
                  </a:cubicBezTo>
                  <a:cubicBezTo>
                    <a:pt x="7475" y="0"/>
                    <a:pt x="7497" y="21"/>
                    <a:pt x="7497" y="47"/>
                  </a:cubicBezTo>
                  <a:close/>
                  <a:moveTo>
                    <a:pt x="7597" y="47"/>
                  </a:moveTo>
                  <a:cubicBezTo>
                    <a:pt x="7597" y="72"/>
                    <a:pt x="7575" y="94"/>
                    <a:pt x="7550" y="94"/>
                  </a:cubicBezTo>
                  <a:cubicBezTo>
                    <a:pt x="7524" y="94"/>
                    <a:pt x="7503" y="72"/>
                    <a:pt x="7503" y="47"/>
                  </a:cubicBezTo>
                  <a:cubicBezTo>
                    <a:pt x="7503" y="21"/>
                    <a:pt x="7524" y="0"/>
                    <a:pt x="7550" y="0"/>
                  </a:cubicBezTo>
                  <a:cubicBezTo>
                    <a:pt x="7575" y="0"/>
                    <a:pt x="7597" y="21"/>
                    <a:pt x="7597" y="47"/>
                  </a:cubicBezTo>
                  <a:close/>
                  <a:moveTo>
                    <a:pt x="7697" y="47"/>
                  </a:moveTo>
                  <a:cubicBezTo>
                    <a:pt x="7697" y="72"/>
                    <a:pt x="7675" y="94"/>
                    <a:pt x="7650" y="94"/>
                  </a:cubicBezTo>
                  <a:cubicBezTo>
                    <a:pt x="7624" y="94"/>
                    <a:pt x="7603" y="72"/>
                    <a:pt x="7603" y="47"/>
                  </a:cubicBezTo>
                  <a:cubicBezTo>
                    <a:pt x="7603" y="21"/>
                    <a:pt x="7624" y="0"/>
                    <a:pt x="7650" y="0"/>
                  </a:cubicBezTo>
                  <a:cubicBezTo>
                    <a:pt x="7675" y="0"/>
                    <a:pt x="7697" y="21"/>
                    <a:pt x="7697" y="47"/>
                  </a:cubicBezTo>
                  <a:close/>
                  <a:moveTo>
                    <a:pt x="7797" y="47"/>
                  </a:moveTo>
                  <a:cubicBezTo>
                    <a:pt x="7797" y="72"/>
                    <a:pt x="7775" y="94"/>
                    <a:pt x="7750" y="94"/>
                  </a:cubicBezTo>
                  <a:cubicBezTo>
                    <a:pt x="7724" y="94"/>
                    <a:pt x="7703" y="72"/>
                    <a:pt x="7703" y="47"/>
                  </a:cubicBezTo>
                  <a:cubicBezTo>
                    <a:pt x="7703" y="21"/>
                    <a:pt x="7724" y="0"/>
                    <a:pt x="7750" y="0"/>
                  </a:cubicBezTo>
                  <a:cubicBezTo>
                    <a:pt x="7775" y="0"/>
                    <a:pt x="7797" y="21"/>
                    <a:pt x="7797" y="47"/>
                  </a:cubicBezTo>
                  <a:close/>
                  <a:moveTo>
                    <a:pt x="7897" y="47"/>
                  </a:moveTo>
                  <a:cubicBezTo>
                    <a:pt x="7897" y="72"/>
                    <a:pt x="7875" y="94"/>
                    <a:pt x="7850" y="94"/>
                  </a:cubicBezTo>
                  <a:cubicBezTo>
                    <a:pt x="7824" y="94"/>
                    <a:pt x="7803" y="72"/>
                    <a:pt x="7803" y="47"/>
                  </a:cubicBezTo>
                  <a:cubicBezTo>
                    <a:pt x="7803" y="21"/>
                    <a:pt x="7824" y="0"/>
                    <a:pt x="7850" y="0"/>
                  </a:cubicBezTo>
                  <a:cubicBezTo>
                    <a:pt x="7875" y="0"/>
                    <a:pt x="7897" y="21"/>
                    <a:pt x="7897" y="47"/>
                  </a:cubicBezTo>
                  <a:close/>
                  <a:moveTo>
                    <a:pt x="7997" y="47"/>
                  </a:moveTo>
                  <a:cubicBezTo>
                    <a:pt x="7997" y="72"/>
                    <a:pt x="7975" y="94"/>
                    <a:pt x="7950" y="94"/>
                  </a:cubicBezTo>
                  <a:cubicBezTo>
                    <a:pt x="7924" y="94"/>
                    <a:pt x="7903" y="72"/>
                    <a:pt x="7903" y="47"/>
                  </a:cubicBezTo>
                  <a:cubicBezTo>
                    <a:pt x="7903" y="21"/>
                    <a:pt x="7924" y="0"/>
                    <a:pt x="7950" y="0"/>
                  </a:cubicBezTo>
                  <a:cubicBezTo>
                    <a:pt x="7975" y="0"/>
                    <a:pt x="7997" y="21"/>
                    <a:pt x="7997" y="47"/>
                  </a:cubicBezTo>
                  <a:close/>
                  <a:moveTo>
                    <a:pt x="8097" y="47"/>
                  </a:moveTo>
                  <a:cubicBezTo>
                    <a:pt x="8097" y="72"/>
                    <a:pt x="8075" y="94"/>
                    <a:pt x="8050" y="94"/>
                  </a:cubicBezTo>
                  <a:cubicBezTo>
                    <a:pt x="8024" y="94"/>
                    <a:pt x="8003" y="72"/>
                    <a:pt x="8003" y="47"/>
                  </a:cubicBezTo>
                  <a:cubicBezTo>
                    <a:pt x="8003" y="21"/>
                    <a:pt x="8024" y="0"/>
                    <a:pt x="8050" y="0"/>
                  </a:cubicBezTo>
                  <a:cubicBezTo>
                    <a:pt x="8075" y="0"/>
                    <a:pt x="8097" y="21"/>
                    <a:pt x="8097" y="47"/>
                  </a:cubicBezTo>
                  <a:close/>
                  <a:moveTo>
                    <a:pt x="8197" y="47"/>
                  </a:moveTo>
                  <a:cubicBezTo>
                    <a:pt x="8197" y="72"/>
                    <a:pt x="8175" y="94"/>
                    <a:pt x="8150" y="94"/>
                  </a:cubicBezTo>
                  <a:cubicBezTo>
                    <a:pt x="8124" y="94"/>
                    <a:pt x="8103" y="72"/>
                    <a:pt x="8103" y="47"/>
                  </a:cubicBezTo>
                  <a:cubicBezTo>
                    <a:pt x="8103" y="21"/>
                    <a:pt x="8124" y="0"/>
                    <a:pt x="8150" y="0"/>
                  </a:cubicBezTo>
                  <a:cubicBezTo>
                    <a:pt x="8175" y="0"/>
                    <a:pt x="8197" y="21"/>
                    <a:pt x="8197" y="47"/>
                  </a:cubicBezTo>
                  <a:close/>
                  <a:moveTo>
                    <a:pt x="8297" y="47"/>
                  </a:moveTo>
                  <a:cubicBezTo>
                    <a:pt x="8297" y="72"/>
                    <a:pt x="8275" y="94"/>
                    <a:pt x="8250" y="94"/>
                  </a:cubicBezTo>
                  <a:cubicBezTo>
                    <a:pt x="8224" y="94"/>
                    <a:pt x="8203" y="72"/>
                    <a:pt x="8203" y="47"/>
                  </a:cubicBezTo>
                  <a:cubicBezTo>
                    <a:pt x="8203" y="21"/>
                    <a:pt x="8224" y="0"/>
                    <a:pt x="8250" y="0"/>
                  </a:cubicBezTo>
                  <a:cubicBezTo>
                    <a:pt x="8275" y="0"/>
                    <a:pt x="8297" y="21"/>
                    <a:pt x="8297" y="47"/>
                  </a:cubicBezTo>
                  <a:close/>
                  <a:moveTo>
                    <a:pt x="97" y="373"/>
                  </a:moveTo>
                  <a:cubicBezTo>
                    <a:pt x="97" y="398"/>
                    <a:pt x="75" y="420"/>
                    <a:pt x="50" y="420"/>
                  </a:cubicBezTo>
                  <a:cubicBezTo>
                    <a:pt x="24" y="420"/>
                    <a:pt x="3" y="398"/>
                    <a:pt x="3" y="373"/>
                  </a:cubicBezTo>
                  <a:cubicBezTo>
                    <a:pt x="3" y="347"/>
                    <a:pt x="24" y="326"/>
                    <a:pt x="50" y="326"/>
                  </a:cubicBezTo>
                  <a:cubicBezTo>
                    <a:pt x="75" y="326"/>
                    <a:pt x="97" y="347"/>
                    <a:pt x="97" y="373"/>
                  </a:cubicBezTo>
                  <a:close/>
                  <a:moveTo>
                    <a:pt x="197" y="373"/>
                  </a:moveTo>
                  <a:cubicBezTo>
                    <a:pt x="197" y="398"/>
                    <a:pt x="175" y="420"/>
                    <a:pt x="150" y="420"/>
                  </a:cubicBezTo>
                  <a:cubicBezTo>
                    <a:pt x="124" y="420"/>
                    <a:pt x="103" y="398"/>
                    <a:pt x="103" y="373"/>
                  </a:cubicBezTo>
                  <a:cubicBezTo>
                    <a:pt x="103" y="347"/>
                    <a:pt x="124" y="326"/>
                    <a:pt x="150" y="326"/>
                  </a:cubicBezTo>
                  <a:cubicBezTo>
                    <a:pt x="175" y="326"/>
                    <a:pt x="197" y="347"/>
                    <a:pt x="197" y="373"/>
                  </a:cubicBezTo>
                  <a:close/>
                  <a:moveTo>
                    <a:pt x="297" y="373"/>
                  </a:moveTo>
                  <a:cubicBezTo>
                    <a:pt x="297" y="398"/>
                    <a:pt x="275" y="420"/>
                    <a:pt x="250" y="420"/>
                  </a:cubicBezTo>
                  <a:cubicBezTo>
                    <a:pt x="224" y="420"/>
                    <a:pt x="203" y="398"/>
                    <a:pt x="203" y="373"/>
                  </a:cubicBezTo>
                  <a:cubicBezTo>
                    <a:pt x="203" y="347"/>
                    <a:pt x="224" y="326"/>
                    <a:pt x="250" y="326"/>
                  </a:cubicBezTo>
                  <a:cubicBezTo>
                    <a:pt x="275" y="326"/>
                    <a:pt x="297" y="347"/>
                    <a:pt x="297" y="373"/>
                  </a:cubicBezTo>
                  <a:close/>
                  <a:moveTo>
                    <a:pt x="397" y="373"/>
                  </a:moveTo>
                  <a:cubicBezTo>
                    <a:pt x="397" y="398"/>
                    <a:pt x="375" y="420"/>
                    <a:pt x="350" y="420"/>
                  </a:cubicBezTo>
                  <a:cubicBezTo>
                    <a:pt x="324" y="420"/>
                    <a:pt x="303" y="398"/>
                    <a:pt x="303" y="373"/>
                  </a:cubicBezTo>
                  <a:cubicBezTo>
                    <a:pt x="303" y="347"/>
                    <a:pt x="324" y="326"/>
                    <a:pt x="350" y="326"/>
                  </a:cubicBezTo>
                  <a:cubicBezTo>
                    <a:pt x="375" y="326"/>
                    <a:pt x="397" y="347"/>
                    <a:pt x="397" y="373"/>
                  </a:cubicBezTo>
                  <a:close/>
                  <a:moveTo>
                    <a:pt x="497" y="373"/>
                  </a:moveTo>
                  <a:cubicBezTo>
                    <a:pt x="497" y="398"/>
                    <a:pt x="475" y="420"/>
                    <a:pt x="450" y="420"/>
                  </a:cubicBezTo>
                  <a:cubicBezTo>
                    <a:pt x="424" y="420"/>
                    <a:pt x="403" y="398"/>
                    <a:pt x="403" y="373"/>
                  </a:cubicBezTo>
                  <a:cubicBezTo>
                    <a:pt x="403" y="347"/>
                    <a:pt x="424" y="326"/>
                    <a:pt x="450" y="326"/>
                  </a:cubicBezTo>
                  <a:cubicBezTo>
                    <a:pt x="475" y="326"/>
                    <a:pt x="497" y="347"/>
                    <a:pt x="497" y="373"/>
                  </a:cubicBezTo>
                  <a:close/>
                  <a:moveTo>
                    <a:pt x="597" y="373"/>
                  </a:moveTo>
                  <a:cubicBezTo>
                    <a:pt x="597" y="398"/>
                    <a:pt x="575" y="420"/>
                    <a:pt x="550" y="420"/>
                  </a:cubicBezTo>
                  <a:cubicBezTo>
                    <a:pt x="524" y="420"/>
                    <a:pt x="503" y="398"/>
                    <a:pt x="503" y="373"/>
                  </a:cubicBezTo>
                  <a:cubicBezTo>
                    <a:pt x="503" y="347"/>
                    <a:pt x="524" y="326"/>
                    <a:pt x="550" y="326"/>
                  </a:cubicBezTo>
                  <a:cubicBezTo>
                    <a:pt x="575" y="326"/>
                    <a:pt x="597" y="347"/>
                    <a:pt x="597" y="373"/>
                  </a:cubicBezTo>
                  <a:close/>
                  <a:moveTo>
                    <a:pt x="697" y="373"/>
                  </a:moveTo>
                  <a:cubicBezTo>
                    <a:pt x="697" y="398"/>
                    <a:pt x="675" y="420"/>
                    <a:pt x="650" y="420"/>
                  </a:cubicBezTo>
                  <a:cubicBezTo>
                    <a:pt x="624" y="420"/>
                    <a:pt x="603" y="398"/>
                    <a:pt x="603" y="373"/>
                  </a:cubicBezTo>
                  <a:cubicBezTo>
                    <a:pt x="603" y="347"/>
                    <a:pt x="624" y="326"/>
                    <a:pt x="650" y="326"/>
                  </a:cubicBezTo>
                  <a:cubicBezTo>
                    <a:pt x="675" y="326"/>
                    <a:pt x="697" y="347"/>
                    <a:pt x="697" y="373"/>
                  </a:cubicBezTo>
                  <a:close/>
                  <a:moveTo>
                    <a:pt x="797" y="373"/>
                  </a:moveTo>
                  <a:cubicBezTo>
                    <a:pt x="797" y="398"/>
                    <a:pt x="775" y="420"/>
                    <a:pt x="750" y="420"/>
                  </a:cubicBezTo>
                  <a:cubicBezTo>
                    <a:pt x="724" y="420"/>
                    <a:pt x="703" y="398"/>
                    <a:pt x="703" y="373"/>
                  </a:cubicBezTo>
                  <a:cubicBezTo>
                    <a:pt x="703" y="347"/>
                    <a:pt x="724" y="326"/>
                    <a:pt x="750" y="326"/>
                  </a:cubicBezTo>
                  <a:cubicBezTo>
                    <a:pt x="775" y="326"/>
                    <a:pt x="797" y="347"/>
                    <a:pt x="797" y="373"/>
                  </a:cubicBezTo>
                  <a:close/>
                  <a:moveTo>
                    <a:pt x="897" y="373"/>
                  </a:moveTo>
                  <a:cubicBezTo>
                    <a:pt x="897" y="398"/>
                    <a:pt x="875" y="420"/>
                    <a:pt x="850" y="420"/>
                  </a:cubicBezTo>
                  <a:cubicBezTo>
                    <a:pt x="824" y="420"/>
                    <a:pt x="803" y="398"/>
                    <a:pt x="803" y="373"/>
                  </a:cubicBezTo>
                  <a:cubicBezTo>
                    <a:pt x="803" y="347"/>
                    <a:pt x="824" y="326"/>
                    <a:pt x="850" y="326"/>
                  </a:cubicBezTo>
                  <a:cubicBezTo>
                    <a:pt x="875" y="326"/>
                    <a:pt x="897" y="347"/>
                    <a:pt x="897" y="373"/>
                  </a:cubicBezTo>
                  <a:close/>
                  <a:moveTo>
                    <a:pt x="997" y="373"/>
                  </a:moveTo>
                  <a:cubicBezTo>
                    <a:pt x="997" y="398"/>
                    <a:pt x="975" y="420"/>
                    <a:pt x="950" y="420"/>
                  </a:cubicBezTo>
                  <a:cubicBezTo>
                    <a:pt x="924" y="420"/>
                    <a:pt x="903" y="398"/>
                    <a:pt x="903" y="373"/>
                  </a:cubicBezTo>
                  <a:cubicBezTo>
                    <a:pt x="903" y="347"/>
                    <a:pt x="924" y="326"/>
                    <a:pt x="950" y="326"/>
                  </a:cubicBezTo>
                  <a:cubicBezTo>
                    <a:pt x="975" y="326"/>
                    <a:pt x="997" y="347"/>
                    <a:pt x="997" y="373"/>
                  </a:cubicBezTo>
                  <a:close/>
                  <a:moveTo>
                    <a:pt x="1097" y="373"/>
                  </a:moveTo>
                  <a:cubicBezTo>
                    <a:pt x="1097" y="398"/>
                    <a:pt x="1075" y="420"/>
                    <a:pt x="1050" y="420"/>
                  </a:cubicBezTo>
                  <a:cubicBezTo>
                    <a:pt x="1024" y="420"/>
                    <a:pt x="1003" y="398"/>
                    <a:pt x="1003" y="373"/>
                  </a:cubicBezTo>
                  <a:cubicBezTo>
                    <a:pt x="1003" y="347"/>
                    <a:pt x="1024" y="326"/>
                    <a:pt x="1050" y="326"/>
                  </a:cubicBezTo>
                  <a:cubicBezTo>
                    <a:pt x="1075" y="326"/>
                    <a:pt x="1097" y="347"/>
                    <a:pt x="1097" y="373"/>
                  </a:cubicBezTo>
                  <a:close/>
                  <a:moveTo>
                    <a:pt x="1197" y="373"/>
                  </a:moveTo>
                  <a:cubicBezTo>
                    <a:pt x="1197" y="398"/>
                    <a:pt x="1175" y="420"/>
                    <a:pt x="1150" y="420"/>
                  </a:cubicBezTo>
                  <a:cubicBezTo>
                    <a:pt x="1124" y="420"/>
                    <a:pt x="1103" y="398"/>
                    <a:pt x="1103" y="373"/>
                  </a:cubicBezTo>
                  <a:cubicBezTo>
                    <a:pt x="1103" y="347"/>
                    <a:pt x="1124" y="326"/>
                    <a:pt x="1150" y="326"/>
                  </a:cubicBezTo>
                  <a:cubicBezTo>
                    <a:pt x="1175" y="326"/>
                    <a:pt x="1197" y="347"/>
                    <a:pt x="1197" y="373"/>
                  </a:cubicBezTo>
                  <a:close/>
                  <a:moveTo>
                    <a:pt x="1297" y="373"/>
                  </a:moveTo>
                  <a:cubicBezTo>
                    <a:pt x="1297" y="398"/>
                    <a:pt x="1275" y="420"/>
                    <a:pt x="1250" y="420"/>
                  </a:cubicBezTo>
                  <a:cubicBezTo>
                    <a:pt x="1224" y="420"/>
                    <a:pt x="1203" y="398"/>
                    <a:pt x="1203" y="373"/>
                  </a:cubicBezTo>
                  <a:cubicBezTo>
                    <a:pt x="1203" y="347"/>
                    <a:pt x="1224" y="326"/>
                    <a:pt x="1250" y="326"/>
                  </a:cubicBezTo>
                  <a:cubicBezTo>
                    <a:pt x="1275" y="326"/>
                    <a:pt x="1297" y="347"/>
                    <a:pt x="1297" y="373"/>
                  </a:cubicBezTo>
                  <a:close/>
                  <a:moveTo>
                    <a:pt x="1397" y="373"/>
                  </a:moveTo>
                  <a:cubicBezTo>
                    <a:pt x="1397" y="398"/>
                    <a:pt x="1375" y="420"/>
                    <a:pt x="1350" y="420"/>
                  </a:cubicBezTo>
                  <a:cubicBezTo>
                    <a:pt x="1324" y="420"/>
                    <a:pt x="1303" y="398"/>
                    <a:pt x="1303" y="373"/>
                  </a:cubicBezTo>
                  <a:cubicBezTo>
                    <a:pt x="1303" y="347"/>
                    <a:pt x="1324" y="326"/>
                    <a:pt x="1350" y="326"/>
                  </a:cubicBezTo>
                  <a:cubicBezTo>
                    <a:pt x="1375" y="326"/>
                    <a:pt x="1397" y="347"/>
                    <a:pt x="1397" y="373"/>
                  </a:cubicBezTo>
                  <a:close/>
                  <a:moveTo>
                    <a:pt x="1497" y="373"/>
                  </a:moveTo>
                  <a:cubicBezTo>
                    <a:pt x="1497" y="398"/>
                    <a:pt x="1475" y="420"/>
                    <a:pt x="1450" y="420"/>
                  </a:cubicBezTo>
                  <a:cubicBezTo>
                    <a:pt x="1424" y="420"/>
                    <a:pt x="1403" y="398"/>
                    <a:pt x="1403" y="373"/>
                  </a:cubicBezTo>
                  <a:cubicBezTo>
                    <a:pt x="1403" y="347"/>
                    <a:pt x="1424" y="326"/>
                    <a:pt x="1450" y="326"/>
                  </a:cubicBezTo>
                  <a:cubicBezTo>
                    <a:pt x="1475" y="326"/>
                    <a:pt x="1497" y="347"/>
                    <a:pt x="1497" y="373"/>
                  </a:cubicBezTo>
                  <a:close/>
                  <a:moveTo>
                    <a:pt x="1597" y="373"/>
                  </a:moveTo>
                  <a:cubicBezTo>
                    <a:pt x="1597" y="398"/>
                    <a:pt x="1575" y="420"/>
                    <a:pt x="1550" y="420"/>
                  </a:cubicBezTo>
                  <a:cubicBezTo>
                    <a:pt x="1524" y="420"/>
                    <a:pt x="1503" y="398"/>
                    <a:pt x="1503" y="373"/>
                  </a:cubicBezTo>
                  <a:cubicBezTo>
                    <a:pt x="1503" y="347"/>
                    <a:pt x="1524" y="326"/>
                    <a:pt x="1550" y="326"/>
                  </a:cubicBezTo>
                  <a:cubicBezTo>
                    <a:pt x="1575" y="326"/>
                    <a:pt x="1597" y="347"/>
                    <a:pt x="1597" y="373"/>
                  </a:cubicBezTo>
                  <a:close/>
                  <a:moveTo>
                    <a:pt x="1697" y="373"/>
                  </a:moveTo>
                  <a:cubicBezTo>
                    <a:pt x="1697" y="398"/>
                    <a:pt x="1675" y="420"/>
                    <a:pt x="1650" y="420"/>
                  </a:cubicBezTo>
                  <a:cubicBezTo>
                    <a:pt x="1624" y="420"/>
                    <a:pt x="1603" y="398"/>
                    <a:pt x="1603" y="373"/>
                  </a:cubicBezTo>
                  <a:cubicBezTo>
                    <a:pt x="1603" y="347"/>
                    <a:pt x="1624" y="326"/>
                    <a:pt x="1650" y="326"/>
                  </a:cubicBezTo>
                  <a:cubicBezTo>
                    <a:pt x="1675" y="326"/>
                    <a:pt x="1697" y="347"/>
                    <a:pt x="1697" y="373"/>
                  </a:cubicBezTo>
                  <a:close/>
                  <a:moveTo>
                    <a:pt x="1797" y="373"/>
                  </a:moveTo>
                  <a:cubicBezTo>
                    <a:pt x="1797" y="398"/>
                    <a:pt x="1775" y="420"/>
                    <a:pt x="1750" y="420"/>
                  </a:cubicBezTo>
                  <a:cubicBezTo>
                    <a:pt x="1724" y="420"/>
                    <a:pt x="1703" y="398"/>
                    <a:pt x="1703" y="373"/>
                  </a:cubicBezTo>
                  <a:cubicBezTo>
                    <a:pt x="1703" y="347"/>
                    <a:pt x="1724" y="326"/>
                    <a:pt x="1750" y="326"/>
                  </a:cubicBezTo>
                  <a:cubicBezTo>
                    <a:pt x="1775" y="326"/>
                    <a:pt x="1797" y="347"/>
                    <a:pt x="1797" y="373"/>
                  </a:cubicBezTo>
                  <a:close/>
                  <a:moveTo>
                    <a:pt x="1897" y="373"/>
                  </a:moveTo>
                  <a:cubicBezTo>
                    <a:pt x="1897" y="398"/>
                    <a:pt x="1875" y="420"/>
                    <a:pt x="1850" y="420"/>
                  </a:cubicBezTo>
                  <a:cubicBezTo>
                    <a:pt x="1824" y="420"/>
                    <a:pt x="1803" y="398"/>
                    <a:pt x="1803" y="373"/>
                  </a:cubicBezTo>
                  <a:cubicBezTo>
                    <a:pt x="1803" y="347"/>
                    <a:pt x="1824" y="326"/>
                    <a:pt x="1850" y="326"/>
                  </a:cubicBezTo>
                  <a:cubicBezTo>
                    <a:pt x="1875" y="326"/>
                    <a:pt x="1897" y="347"/>
                    <a:pt x="1897" y="373"/>
                  </a:cubicBezTo>
                  <a:close/>
                  <a:moveTo>
                    <a:pt x="1997" y="373"/>
                  </a:moveTo>
                  <a:cubicBezTo>
                    <a:pt x="1997" y="398"/>
                    <a:pt x="1975" y="420"/>
                    <a:pt x="1950" y="420"/>
                  </a:cubicBezTo>
                  <a:cubicBezTo>
                    <a:pt x="1924" y="420"/>
                    <a:pt x="1903" y="398"/>
                    <a:pt x="1903" y="373"/>
                  </a:cubicBezTo>
                  <a:cubicBezTo>
                    <a:pt x="1903" y="347"/>
                    <a:pt x="1924" y="326"/>
                    <a:pt x="1950" y="326"/>
                  </a:cubicBezTo>
                  <a:cubicBezTo>
                    <a:pt x="1975" y="326"/>
                    <a:pt x="1997" y="347"/>
                    <a:pt x="1997" y="373"/>
                  </a:cubicBezTo>
                  <a:close/>
                  <a:moveTo>
                    <a:pt x="2097" y="373"/>
                  </a:moveTo>
                  <a:cubicBezTo>
                    <a:pt x="2097" y="398"/>
                    <a:pt x="2075" y="420"/>
                    <a:pt x="2050" y="420"/>
                  </a:cubicBezTo>
                  <a:cubicBezTo>
                    <a:pt x="2024" y="420"/>
                    <a:pt x="2003" y="398"/>
                    <a:pt x="2003" y="373"/>
                  </a:cubicBezTo>
                  <a:cubicBezTo>
                    <a:pt x="2003" y="347"/>
                    <a:pt x="2024" y="326"/>
                    <a:pt x="2050" y="326"/>
                  </a:cubicBezTo>
                  <a:cubicBezTo>
                    <a:pt x="2075" y="326"/>
                    <a:pt x="2097" y="347"/>
                    <a:pt x="2097" y="373"/>
                  </a:cubicBezTo>
                  <a:close/>
                  <a:moveTo>
                    <a:pt x="2197" y="373"/>
                  </a:moveTo>
                  <a:cubicBezTo>
                    <a:pt x="2197" y="398"/>
                    <a:pt x="2175" y="420"/>
                    <a:pt x="2150" y="420"/>
                  </a:cubicBezTo>
                  <a:cubicBezTo>
                    <a:pt x="2124" y="420"/>
                    <a:pt x="2103" y="398"/>
                    <a:pt x="2103" y="373"/>
                  </a:cubicBezTo>
                  <a:cubicBezTo>
                    <a:pt x="2103" y="347"/>
                    <a:pt x="2124" y="326"/>
                    <a:pt x="2150" y="326"/>
                  </a:cubicBezTo>
                  <a:cubicBezTo>
                    <a:pt x="2175" y="326"/>
                    <a:pt x="2197" y="347"/>
                    <a:pt x="2197" y="373"/>
                  </a:cubicBezTo>
                  <a:close/>
                  <a:moveTo>
                    <a:pt x="2297" y="373"/>
                  </a:moveTo>
                  <a:cubicBezTo>
                    <a:pt x="2297" y="398"/>
                    <a:pt x="2275" y="420"/>
                    <a:pt x="2250" y="420"/>
                  </a:cubicBezTo>
                  <a:cubicBezTo>
                    <a:pt x="2224" y="420"/>
                    <a:pt x="2203" y="398"/>
                    <a:pt x="2203" y="373"/>
                  </a:cubicBezTo>
                  <a:cubicBezTo>
                    <a:pt x="2203" y="347"/>
                    <a:pt x="2224" y="326"/>
                    <a:pt x="2250" y="326"/>
                  </a:cubicBezTo>
                  <a:cubicBezTo>
                    <a:pt x="2275" y="326"/>
                    <a:pt x="2297" y="347"/>
                    <a:pt x="2297" y="373"/>
                  </a:cubicBezTo>
                  <a:close/>
                  <a:moveTo>
                    <a:pt x="2397" y="373"/>
                  </a:moveTo>
                  <a:cubicBezTo>
                    <a:pt x="2397" y="398"/>
                    <a:pt x="2375" y="420"/>
                    <a:pt x="2350" y="420"/>
                  </a:cubicBezTo>
                  <a:cubicBezTo>
                    <a:pt x="2324" y="420"/>
                    <a:pt x="2303" y="398"/>
                    <a:pt x="2303" y="373"/>
                  </a:cubicBezTo>
                  <a:cubicBezTo>
                    <a:pt x="2303" y="347"/>
                    <a:pt x="2324" y="326"/>
                    <a:pt x="2350" y="326"/>
                  </a:cubicBezTo>
                  <a:cubicBezTo>
                    <a:pt x="2375" y="326"/>
                    <a:pt x="2397" y="347"/>
                    <a:pt x="2397" y="373"/>
                  </a:cubicBezTo>
                  <a:close/>
                  <a:moveTo>
                    <a:pt x="2497" y="373"/>
                  </a:moveTo>
                  <a:cubicBezTo>
                    <a:pt x="2497" y="398"/>
                    <a:pt x="2475" y="420"/>
                    <a:pt x="2450" y="420"/>
                  </a:cubicBezTo>
                  <a:cubicBezTo>
                    <a:pt x="2424" y="420"/>
                    <a:pt x="2403" y="398"/>
                    <a:pt x="2403" y="373"/>
                  </a:cubicBezTo>
                  <a:cubicBezTo>
                    <a:pt x="2403" y="347"/>
                    <a:pt x="2424" y="326"/>
                    <a:pt x="2450" y="326"/>
                  </a:cubicBezTo>
                  <a:cubicBezTo>
                    <a:pt x="2475" y="326"/>
                    <a:pt x="2497" y="347"/>
                    <a:pt x="2497" y="373"/>
                  </a:cubicBezTo>
                  <a:close/>
                  <a:moveTo>
                    <a:pt x="2597" y="373"/>
                  </a:moveTo>
                  <a:cubicBezTo>
                    <a:pt x="2597" y="398"/>
                    <a:pt x="2575" y="420"/>
                    <a:pt x="2550" y="420"/>
                  </a:cubicBezTo>
                  <a:cubicBezTo>
                    <a:pt x="2524" y="420"/>
                    <a:pt x="2503" y="398"/>
                    <a:pt x="2503" y="373"/>
                  </a:cubicBezTo>
                  <a:cubicBezTo>
                    <a:pt x="2503" y="347"/>
                    <a:pt x="2524" y="326"/>
                    <a:pt x="2550" y="326"/>
                  </a:cubicBezTo>
                  <a:cubicBezTo>
                    <a:pt x="2575" y="326"/>
                    <a:pt x="2597" y="347"/>
                    <a:pt x="2597" y="373"/>
                  </a:cubicBezTo>
                  <a:close/>
                  <a:moveTo>
                    <a:pt x="2697" y="373"/>
                  </a:moveTo>
                  <a:cubicBezTo>
                    <a:pt x="2697" y="398"/>
                    <a:pt x="2675" y="420"/>
                    <a:pt x="2650" y="420"/>
                  </a:cubicBezTo>
                  <a:cubicBezTo>
                    <a:pt x="2624" y="420"/>
                    <a:pt x="2603" y="398"/>
                    <a:pt x="2603" y="373"/>
                  </a:cubicBezTo>
                  <a:cubicBezTo>
                    <a:pt x="2603" y="347"/>
                    <a:pt x="2624" y="326"/>
                    <a:pt x="2650" y="326"/>
                  </a:cubicBezTo>
                  <a:cubicBezTo>
                    <a:pt x="2675" y="326"/>
                    <a:pt x="2697" y="347"/>
                    <a:pt x="2697" y="373"/>
                  </a:cubicBezTo>
                  <a:close/>
                  <a:moveTo>
                    <a:pt x="2797" y="373"/>
                  </a:moveTo>
                  <a:cubicBezTo>
                    <a:pt x="2797" y="398"/>
                    <a:pt x="2775" y="420"/>
                    <a:pt x="2750" y="420"/>
                  </a:cubicBezTo>
                  <a:cubicBezTo>
                    <a:pt x="2724" y="420"/>
                    <a:pt x="2703" y="398"/>
                    <a:pt x="2703" y="373"/>
                  </a:cubicBezTo>
                  <a:cubicBezTo>
                    <a:pt x="2703" y="347"/>
                    <a:pt x="2724" y="326"/>
                    <a:pt x="2750" y="326"/>
                  </a:cubicBezTo>
                  <a:cubicBezTo>
                    <a:pt x="2775" y="326"/>
                    <a:pt x="2797" y="347"/>
                    <a:pt x="2797" y="373"/>
                  </a:cubicBezTo>
                  <a:close/>
                  <a:moveTo>
                    <a:pt x="2897" y="373"/>
                  </a:moveTo>
                  <a:cubicBezTo>
                    <a:pt x="2897" y="398"/>
                    <a:pt x="2875" y="420"/>
                    <a:pt x="2850" y="420"/>
                  </a:cubicBezTo>
                  <a:cubicBezTo>
                    <a:pt x="2824" y="420"/>
                    <a:pt x="2803" y="398"/>
                    <a:pt x="2803" y="373"/>
                  </a:cubicBezTo>
                  <a:cubicBezTo>
                    <a:pt x="2803" y="347"/>
                    <a:pt x="2824" y="326"/>
                    <a:pt x="2850" y="326"/>
                  </a:cubicBezTo>
                  <a:cubicBezTo>
                    <a:pt x="2875" y="326"/>
                    <a:pt x="2897" y="347"/>
                    <a:pt x="2897" y="373"/>
                  </a:cubicBezTo>
                  <a:close/>
                  <a:moveTo>
                    <a:pt x="2997" y="373"/>
                  </a:moveTo>
                  <a:cubicBezTo>
                    <a:pt x="2997" y="398"/>
                    <a:pt x="2975" y="420"/>
                    <a:pt x="2950" y="420"/>
                  </a:cubicBezTo>
                  <a:cubicBezTo>
                    <a:pt x="2924" y="420"/>
                    <a:pt x="2903" y="398"/>
                    <a:pt x="2903" y="373"/>
                  </a:cubicBezTo>
                  <a:cubicBezTo>
                    <a:pt x="2903" y="347"/>
                    <a:pt x="2924" y="326"/>
                    <a:pt x="2950" y="326"/>
                  </a:cubicBezTo>
                  <a:cubicBezTo>
                    <a:pt x="2975" y="326"/>
                    <a:pt x="2997" y="347"/>
                    <a:pt x="2997" y="373"/>
                  </a:cubicBezTo>
                  <a:close/>
                  <a:moveTo>
                    <a:pt x="3097" y="373"/>
                  </a:moveTo>
                  <a:cubicBezTo>
                    <a:pt x="3097" y="398"/>
                    <a:pt x="3075" y="420"/>
                    <a:pt x="3050" y="420"/>
                  </a:cubicBezTo>
                  <a:cubicBezTo>
                    <a:pt x="3024" y="420"/>
                    <a:pt x="3003" y="398"/>
                    <a:pt x="3003" y="373"/>
                  </a:cubicBezTo>
                  <a:cubicBezTo>
                    <a:pt x="3003" y="347"/>
                    <a:pt x="3024" y="326"/>
                    <a:pt x="3050" y="326"/>
                  </a:cubicBezTo>
                  <a:cubicBezTo>
                    <a:pt x="3075" y="326"/>
                    <a:pt x="3097" y="347"/>
                    <a:pt x="3097" y="373"/>
                  </a:cubicBezTo>
                  <a:close/>
                  <a:moveTo>
                    <a:pt x="3197" y="373"/>
                  </a:moveTo>
                  <a:cubicBezTo>
                    <a:pt x="3197" y="398"/>
                    <a:pt x="3175" y="420"/>
                    <a:pt x="3150" y="420"/>
                  </a:cubicBezTo>
                  <a:cubicBezTo>
                    <a:pt x="3124" y="420"/>
                    <a:pt x="3103" y="398"/>
                    <a:pt x="3103" y="373"/>
                  </a:cubicBezTo>
                  <a:cubicBezTo>
                    <a:pt x="3103" y="347"/>
                    <a:pt x="3124" y="326"/>
                    <a:pt x="3150" y="326"/>
                  </a:cubicBezTo>
                  <a:cubicBezTo>
                    <a:pt x="3175" y="326"/>
                    <a:pt x="3197" y="347"/>
                    <a:pt x="3197" y="373"/>
                  </a:cubicBezTo>
                  <a:close/>
                  <a:moveTo>
                    <a:pt x="3297" y="373"/>
                  </a:moveTo>
                  <a:cubicBezTo>
                    <a:pt x="3297" y="398"/>
                    <a:pt x="3275" y="420"/>
                    <a:pt x="3250" y="420"/>
                  </a:cubicBezTo>
                  <a:cubicBezTo>
                    <a:pt x="3224" y="420"/>
                    <a:pt x="3203" y="398"/>
                    <a:pt x="3203" y="373"/>
                  </a:cubicBezTo>
                  <a:cubicBezTo>
                    <a:pt x="3203" y="347"/>
                    <a:pt x="3224" y="326"/>
                    <a:pt x="3250" y="326"/>
                  </a:cubicBezTo>
                  <a:cubicBezTo>
                    <a:pt x="3275" y="326"/>
                    <a:pt x="3297" y="347"/>
                    <a:pt x="3297" y="373"/>
                  </a:cubicBezTo>
                  <a:close/>
                  <a:moveTo>
                    <a:pt x="3397" y="373"/>
                  </a:moveTo>
                  <a:cubicBezTo>
                    <a:pt x="3397" y="398"/>
                    <a:pt x="3375" y="420"/>
                    <a:pt x="3350" y="420"/>
                  </a:cubicBezTo>
                  <a:cubicBezTo>
                    <a:pt x="3324" y="420"/>
                    <a:pt x="3303" y="398"/>
                    <a:pt x="3303" y="373"/>
                  </a:cubicBezTo>
                  <a:cubicBezTo>
                    <a:pt x="3303" y="347"/>
                    <a:pt x="3324" y="326"/>
                    <a:pt x="3350" y="326"/>
                  </a:cubicBezTo>
                  <a:cubicBezTo>
                    <a:pt x="3375" y="326"/>
                    <a:pt x="3397" y="347"/>
                    <a:pt x="3397" y="373"/>
                  </a:cubicBezTo>
                  <a:close/>
                  <a:moveTo>
                    <a:pt x="3497" y="373"/>
                  </a:moveTo>
                  <a:cubicBezTo>
                    <a:pt x="3497" y="398"/>
                    <a:pt x="3475" y="420"/>
                    <a:pt x="3450" y="420"/>
                  </a:cubicBezTo>
                  <a:cubicBezTo>
                    <a:pt x="3424" y="420"/>
                    <a:pt x="3403" y="398"/>
                    <a:pt x="3403" y="373"/>
                  </a:cubicBezTo>
                  <a:cubicBezTo>
                    <a:pt x="3403" y="347"/>
                    <a:pt x="3424" y="326"/>
                    <a:pt x="3450" y="326"/>
                  </a:cubicBezTo>
                  <a:cubicBezTo>
                    <a:pt x="3475" y="326"/>
                    <a:pt x="3497" y="347"/>
                    <a:pt x="3497" y="373"/>
                  </a:cubicBezTo>
                  <a:close/>
                  <a:moveTo>
                    <a:pt x="3597" y="373"/>
                  </a:moveTo>
                  <a:cubicBezTo>
                    <a:pt x="3597" y="398"/>
                    <a:pt x="3575" y="420"/>
                    <a:pt x="3550" y="420"/>
                  </a:cubicBezTo>
                  <a:cubicBezTo>
                    <a:pt x="3524" y="420"/>
                    <a:pt x="3503" y="398"/>
                    <a:pt x="3503" y="373"/>
                  </a:cubicBezTo>
                  <a:cubicBezTo>
                    <a:pt x="3503" y="347"/>
                    <a:pt x="3524" y="326"/>
                    <a:pt x="3550" y="326"/>
                  </a:cubicBezTo>
                  <a:cubicBezTo>
                    <a:pt x="3575" y="326"/>
                    <a:pt x="3597" y="347"/>
                    <a:pt x="3597" y="373"/>
                  </a:cubicBezTo>
                  <a:close/>
                  <a:moveTo>
                    <a:pt x="3697" y="373"/>
                  </a:moveTo>
                  <a:cubicBezTo>
                    <a:pt x="3697" y="398"/>
                    <a:pt x="3675" y="420"/>
                    <a:pt x="3650" y="420"/>
                  </a:cubicBezTo>
                  <a:cubicBezTo>
                    <a:pt x="3624" y="420"/>
                    <a:pt x="3603" y="398"/>
                    <a:pt x="3603" y="373"/>
                  </a:cubicBezTo>
                  <a:cubicBezTo>
                    <a:pt x="3603" y="347"/>
                    <a:pt x="3624" y="326"/>
                    <a:pt x="3650" y="326"/>
                  </a:cubicBezTo>
                  <a:cubicBezTo>
                    <a:pt x="3675" y="326"/>
                    <a:pt x="3697" y="347"/>
                    <a:pt x="3697" y="373"/>
                  </a:cubicBezTo>
                  <a:close/>
                  <a:moveTo>
                    <a:pt x="3797" y="373"/>
                  </a:moveTo>
                  <a:cubicBezTo>
                    <a:pt x="3797" y="398"/>
                    <a:pt x="3775" y="420"/>
                    <a:pt x="3750" y="420"/>
                  </a:cubicBezTo>
                  <a:cubicBezTo>
                    <a:pt x="3724" y="420"/>
                    <a:pt x="3703" y="398"/>
                    <a:pt x="3703" y="373"/>
                  </a:cubicBezTo>
                  <a:cubicBezTo>
                    <a:pt x="3703" y="347"/>
                    <a:pt x="3724" y="326"/>
                    <a:pt x="3750" y="326"/>
                  </a:cubicBezTo>
                  <a:cubicBezTo>
                    <a:pt x="3775" y="326"/>
                    <a:pt x="3797" y="347"/>
                    <a:pt x="3797" y="373"/>
                  </a:cubicBezTo>
                  <a:close/>
                  <a:moveTo>
                    <a:pt x="3897" y="373"/>
                  </a:moveTo>
                  <a:cubicBezTo>
                    <a:pt x="3897" y="398"/>
                    <a:pt x="3875" y="420"/>
                    <a:pt x="3850" y="420"/>
                  </a:cubicBezTo>
                  <a:cubicBezTo>
                    <a:pt x="3824" y="420"/>
                    <a:pt x="3803" y="398"/>
                    <a:pt x="3803" y="373"/>
                  </a:cubicBezTo>
                  <a:cubicBezTo>
                    <a:pt x="3803" y="347"/>
                    <a:pt x="3824" y="326"/>
                    <a:pt x="3850" y="326"/>
                  </a:cubicBezTo>
                  <a:cubicBezTo>
                    <a:pt x="3875" y="326"/>
                    <a:pt x="3897" y="347"/>
                    <a:pt x="3897" y="373"/>
                  </a:cubicBezTo>
                  <a:close/>
                  <a:moveTo>
                    <a:pt x="3997" y="373"/>
                  </a:moveTo>
                  <a:cubicBezTo>
                    <a:pt x="3997" y="398"/>
                    <a:pt x="3975" y="420"/>
                    <a:pt x="3950" y="420"/>
                  </a:cubicBezTo>
                  <a:cubicBezTo>
                    <a:pt x="3924" y="420"/>
                    <a:pt x="3903" y="398"/>
                    <a:pt x="3903" y="373"/>
                  </a:cubicBezTo>
                  <a:cubicBezTo>
                    <a:pt x="3903" y="347"/>
                    <a:pt x="3924" y="326"/>
                    <a:pt x="3950" y="326"/>
                  </a:cubicBezTo>
                  <a:cubicBezTo>
                    <a:pt x="3975" y="326"/>
                    <a:pt x="3997" y="347"/>
                    <a:pt x="3997" y="373"/>
                  </a:cubicBezTo>
                  <a:close/>
                  <a:moveTo>
                    <a:pt x="4097" y="373"/>
                  </a:moveTo>
                  <a:cubicBezTo>
                    <a:pt x="4097" y="398"/>
                    <a:pt x="4075" y="420"/>
                    <a:pt x="4050" y="420"/>
                  </a:cubicBezTo>
                  <a:cubicBezTo>
                    <a:pt x="4024" y="420"/>
                    <a:pt x="4003" y="398"/>
                    <a:pt x="4003" y="373"/>
                  </a:cubicBezTo>
                  <a:cubicBezTo>
                    <a:pt x="4003" y="347"/>
                    <a:pt x="4024" y="326"/>
                    <a:pt x="4050" y="326"/>
                  </a:cubicBezTo>
                  <a:cubicBezTo>
                    <a:pt x="4075" y="326"/>
                    <a:pt x="4097" y="347"/>
                    <a:pt x="4097" y="373"/>
                  </a:cubicBezTo>
                  <a:close/>
                  <a:moveTo>
                    <a:pt x="4197" y="373"/>
                  </a:moveTo>
                  <a:cubicBezTo>
                    <a:pt x="4197" y="398"/>
                    <a:pt x="4175" y="420"/>
                    <a:pt x="4150" y="420"/>
                  </a:cubicBezTo>
                  <a:cubicBezTo>
                    <a:pt x="4124" y="420"/>
                    <a:pt x="4103" y="398"/>
                    <a:pt x="4103" y="373"/>
                  </a:cubicBezTo>
                  <a:cubicBezTo>
                    <a:pt x="4103" y="347"/>
                    <a:pt x="4124" y="326"/>
                    <a:pt x="4150" y="326"/>
                  </a:cubicBezTo>
                  <a:cubicBezTo>
                    <a:pt x="4175" y="326"/>
                    <a:pt x="4197" y="347"/>
                    <a:pt x="4197" y="373"/>
                  </a:cubicBezTo>
                  <a:close/>
                  <a:moveTo>
                    <a:pt x="4297" y="373"/>
                  </a:moveTo>
                  <a:cubicBezTo>
                    <a:pt x="4297" y="398"/>
                    <a:pt x="4275" y="420"/>
                    <a:pt x="4250" y="420"/>
                  </a:cubicBezTo>
                  <a:cubicBezTo>
                    <a:pt x="4224" y="420"/>
                    <a:pt x="4203" y="398"/>
                    <a:pt x="4203" y="373"/>
                  </a:cubicBezTo>
                  <a:cubicBezTo>
                    <a:pt x="4203" y="347"/>
                    <a:pt x="4224" y="326"/>
                    <a:pt x="4250" y="326"/>
                  </a:cubicBezTo>
                  <a:cubicBezTo>
                    <a:pt x="4275" y="326"/>
                    <a:pt x="4297" y="347"/>
                    <a:pt x="4297" y="373"/>
                  </a:cubicBezTo>
                  <a:close/>
                  <a:moveTo>
                    <a:pt x="4397" y="373"/>
                  </a:moveTo>
                  <a:cubicBezTo>
                    <a:pt x="4397" y="398"/>
                    <a:pt x="4375" y="420"/>
                    <a:pt x="4350" y="420"/>
                  </a:cubicBezTo>
                  <a:cubicBezTo>
                    <a:pt x="4324" y="420"/>
                    <a:pt x="4303" y="398"/>
                    <a:pt x="4303" y="373"/>
                  </a:cubicBezTo>
                  <a:cubicBezTo>
                    <a:pt x="4303" y="347"/>
                    <a:pt x="4324" y="326"/>
                    <a:pt x="4350" y="326"/>
                  </a:cubicBezTo>
                  <a:cubicBezTo>
                    <a:pt x="4375" y="326"/>
                    <a:pt x="4397" y="347"/>
                    <a:pt x="4397" y="373"/>
                  </a:cubicBezTo>
                  <a:close/>
                  <a:moveTo>
                    <a:pt x="4497" y="373"/>
                  </a:moveTo>
                  <a:cubicBezTo>
                    <a:pt x="4497" y="398"/>
                    <a:pt x="4475" y="420"/>
                    <a:pt x="4450" y="420"/>
                  </a:cubicBezTo>
                  <a:cubicBezTo>
                    <a:pt x="4424" y="420"/>
                    <a:pt x="4403" y="398"/>
                    <a:pt x="4403" y="373"/>
                  </a:cubicBezTo>
                  <a:cubicBezTo>
                    <a:pt x="4403" y="347"/>
                    <a:pt x="4424" y="326"/>
                    <a:pt x="4450" y="326"/>
                  </a:cubicBezTo>
                  <a:cubicBezTo>
                    <a:pt x="4475" y="326"/>
                    <a:pt x="4497" y="347"/>
                    <a:pt x="4497" y="373"/>
                  </a:cubicBezTo>
                  <a:close/>
                  <a:moveTo>
                    <a:pt x="4597" y="373"/>
                  </a:moveTo>
                  <a:cubicBezTo>
                    <a:pt x="4597" y="398"/>
                    <a:pt x="4575" y="420"/>
                    <a:pt x="4550" y="420"/>
                  </a:cubicBezTo>
                  <a:cubicBezTo>
                    <a:pt x="4524" y="420"/>
                    <a:pt x="4503" y="398"/>
                    <a:pt x="4503" y="373"/>
                  </a:cubicBezTo>
                  <a:cubicBezTo>
                    <a:pt x="4503" y="347"/>
                    <a:pt x="4524" y="326"/>
                    <a:pt x="4550" y="326"/>
                  </a:cubicBezTo>
                  <a:cubicBezTo>
                    <a:pt x="4575" y="326"/>
                    <a:pt x="4597" y="347"/>
                    <a:pt x="4597" y="373"/>
                  </a:cubicBezTo>
                  <a:close/>
                  <a:moveTo>
                    <a:pt x="4697" y="373"/>
                  </a:moveTo>
                  <a:cubicBezTo>
                    <a:pt x="4697" y="398"/>
                    <a:pt x="4675" y="420"/>
                    <a:pt x="4650" y="420"/>
                  </a:cubicBezTo>
                  <a:cubicBezTo>
                    <a:pt x="4624" y="420"/>
                    <a:pt x="4603" y="398"/>
                    <a:pt x="4603" y="373"/>
                  </a:cubicBezTo>
                  <a:cubicBezTo>
                    <a:pt x="4603" y="347"/>
                    <a:pt x="4624" y="326"/>
                    <a:pt x="4650" y="326"/>
                  </a:cubicBezTo>
                  <a:cubicBezTo>
                    <a:pt x="4675" y="326"/>
                    <a:pt x="4697" y="347"/>
                    <a:pt x="4697" y="373"/>
                  </a:cubicBezTo>
                  <a:close/>
                  <a:moveTo>
                    <a:pt x="4797" y="373"/>
                  </a:moveTo>
                  <a:cubicBezTo>
                    <a:pt x="4797" y="398"/>
                    <a:pt x="4775" y="420"/>
                    <a:pt x="4750" y="420"/>
                  </a:cubicBezTo>
                  <a:cubicBezTo>
                    <a:pt x="4724" y="420"/>
                    <a:pt x="4703" y="398"/>
                    <a:pt x="4703" y="373"/>
                  </a:cubicBezTo>
                  <a:cubicBezTo>
                    <a:pt x="4703" y="347"/>
                    <a:pt x="4724" y="326"/>
                    <a:pt x="4750" y="326"/>
                  </a:cubicBezTo>
                  <a:cubicBezTo>
                    <a:pt x="4775" y="326"/>
                    <a:pt x="4797" y="347"/>
                    <a:pt x="4797" y="373"/>
                  </a:cubicBezTo>
                  <a:close/>
                  <a:moveTo>
                    <a:pt x="4897" y="373"/>
                  </a:moveTo>
                  <a:cubicBezTo>
                    <a:pt x="4897" y="398"/>
                    <a:pt x="4875" y="420"/>
                    <a:pt x="4850" y="420"/>
                  </a:cubicBezTo>
                  <a:cubicBezTo>
                    <a:pt x="4824" y="420"/>
                    <a:pt x="4803" y="398"/>
                    <a:pt x="4803" y="373"/>
                  </a:cubicBezTo>
                  <a:cubicBezTo>
                    <a:pt x="4803" y="347"/>
                    <a:pt x="4824" y="326"/>
                    <a:pt x="4850" y="326"/>
                  </a:cubicBezTo>
                  <a:cubicBezTo>
                    <a:pt x="4875" y="326"/>
                    <a:pt x="4897" y="347"/>
                    <a:pt x="4897" y="373"/>
                  </a:cubicBezTo>
                  <a:close/>
                  <a:moveTo>
                    <a:pt x="4997" y="373"/>
                  </a:moveTo>
                  <a:cubicBezTo>
                    <a:pt x="4997" y="398"/>
                    <a:pt x="4975" y="420"/>
                    <a:pt x="4950" y="420"/>
                  </a:cubicBezTo>
                  <a:cubicBezTo>
                    <a:pt x="4924" y="420"/>
                    <a:pt x="4903" y="398"/>
                    <a:pt x="4903" y="373"/>
                  </a:cubicBezTo>
                  <a:cubicBezTo>
                    <a:pt x="4903" y="347"/>
                    <a:pt x="4924" y="326"/>
                    <a:pt x="4950" y="326"/>
                  </a:cubicBezTo>
                  <a:cubicBezTo>
                    <a:pt x="4975" y="326"/>
                    <a:pt x="4997" y="347"/>
                    <a:pt x="4997" y="373"/>
                  </a:cubicBezTo>
                  <a:close/>
                  <a:moveTo>
                    <a:pt x="5097" y="373"/>
                  </a:moveTo>
                  <a:cubicBezTo>
                    <a:pt x="5097" y="398"/>
                    <a:pt x="5075" y="420"/>
                    <a:pt x="5050" y="420"/>
                  </a:cubicBezTo>
                  <a:cubicBezTo>
                    <a:pt x="5024" y="420"/>
                    <a:pt x="5003" y="398"/>
                    <a:pt x="5003" y="373"/>
                  </a:cubicBezTo>
                  <a:cubicBezTo>
                    <a:pt x="5003" y="347"/>
                    <a:pt x="5024" y="326"/>
                    <a:pt x="5050" y="326"/>
                  </a:cubicBezTo>
                  <a:cubicBezTo>
                    <a:pt x="5075" y="326"/>
                    <a:pt x="5097" y="347"/>
                    <a:pt x="5097" y="373"/>
                  </a:cubicBezTo>
                  <a:close/>
                  <a:moveTo>
                    <a:pt x="5197" y="373"/>
                  </a:moveTo>
                  <a:cubicBezTo>
                    <a:pt x="5197" y="398"/>
                    <a:pt x="5175" y="420"/>
                    <a:pt x="5150" y="420"/>
                  </a:cubicBezTo>
                  <a:cubicBezTo>
                    <a:pt x="5124" y="420"/>
                    <a:pt x="5103" y="398"/>
                    <a:pt x="5103" y="373"/>
                  </a:cubicBezTo>
                  <a:cubicBezTo>
                    <a:pt x="5103" y="347"/>
                    <a:pt x="5124" y="326"/>
                    <a:pt x="5150" y="326"/>
                  </a:cubicBezTo>
                  <a:cubicBezTo>
                    <a:pt x="5175" y="326"/>
                    <a:pt x="5197" y="347"/>
                    <a:pt x="5197" y="373"/>
                  </a:cubicBezTo>
                  <a:close/>
                  <a:moveTo>
                    <a:pt x="5297" y="373"/>
                  </a:moveTo>
                  <a:cubicBezTo>
                    <a:pt x="5297" y="398"/>
                    <a:pt x="5275" y="420"/>
                    <a:pt x="5250" y="420"/>
                  </a:cubicBezTo>
                  <a:cubicBezTo>
                    <a:pt x="5224" y="420"/>
                    <a:pt x="5203" y="398"/>
                    <a:pt x="5203" y="373"/>
                  </a:cubicBezTo>
                  <a:cubicBezTo>
                    <a:pt x="5203" y="347"/>
                    <a:pt x="5224" y="326"/>
                    <a:pt x="5250" y="326"/>
                  </a:cubicBezTo>
                  <a:cubicBezTo>
                    <a:pt x="5275" y="326"/>
                    <a:pt x="5297" y="347"/>
                    <a:pt x="5297" y="373"/>
                  </a:cubicBezTo>
                  <a:close/>
                  <a:moveTo>
                    <a:pt x="5397" y="373"/>
                  </a:moveTo>
                  <a:cubicBezTo>
                    <a:pt x="5397" y="398"/>
                    <a:pt x="5375" y="420"/>
                    <a:pt x="5350" y="420"/>
                  </a:cubicBezTo>
                  <a:cubicBezTo>
                    <a:pt x="5324" y="420"/>
                    <a:pt x="5303" y="398"/>
                    <a:pt x="5303" y="373"/>
                  </a:cubicBezTo>
                  <a:cubicBezTo>
                    <a:pt x="5303" y="347"/>
                    <a:pt x="5324" y="326"/>
                    <a:pt x="5350" y="326"/>
                  </a:cubicBezTo>
                  <a:cubicBezTo>
                    <a:pt x="5375" y="326"/>
                    <a:pt x="5397" y="347"/>
                    <a:pt x="5397" y="373"/>
                  </a:cubicBezTo>
                  <a:close/>
                  <a:moveTo>
                    <a:pt x="5497" y="373"/>
                  </a:moveTo>
                  <a:cubicBezTo>
                    <a:pt x="5497" y="398"/>
                    <a:pt x="5475" y="420"/>
                    <a:pt x="5450" y="420"/>
                  </a:cubicBezTo>
                  <a:cubicBezTo>
                    <a:pt x="5424" y="420"/>
                    <a:pt x="5403" y="398"/>
                    <a:pt x="5403" y="373"/>
                  </a:cubicBezTo>
                  <a:cubicBezTo>
                    <a:pt x="5403" y="347"/>
                    <a:pt x="5424" y="326"/>
                    <a:pt x="5450" y="326"/>
                  </a:cubicBezTo>
                  <a:cubicBezTo>
                    <a:pt x="5475" y="326"/>
                    <a:pt x="5497" y="347"/>
                    <a:pt x="5497" y="373"/>
                  </a:cubicBezTo>
                  <a:close/>
                  <a:moveTo>
                    <a:pt x="5597" y="373"/>
                  </a:moveTo>
                  <a:cubicBezTo>
                    <a:pt x="5597" y="398"/>
                    <a:pt x="5575" y="420"/>
                    <a:pt x="5550" y="420"/>
                  </a:cubicBezTo>
                  <a:cubicBezTo>
                    <a:pt x="5524" y="420"/>
                    <a:pt x="5503" y="398"/>
                    <a:pt x="5503" y="373"/>
                  </a:cubicBezTo>
                  <a:cubicBezTo>
                    <a:pt x="5503" y="347"/>
                    <a:pt x="5524" y="326"/>
                    <a:pt x="5550" y="326"/>
                  </a:cubicBezTo>
                  <a:cubicBezTo>
                    <a:pt x="5575" y="326"/>
                    <a:pt x="5597" y="347"/>
                    <a:pt x="5597" y="373"/>
                  </a:cubicBezTo>
                  <a:close/>
                  <a:moveTo>
                    <a:pt x="5697" y="373"/>
                  </a:moveTo>
                  <a:cubicBezTo>
                    <a:pt x="5697" y="398"/>
                    <a:pt x="5675" y="420"/>
                    <a:pt x="5650" y="420"/>
                  </a:cubicBezTo>
                  <a:cubicBezTo>
                    <a:pt x="5624" y="420"/>
                    <a:pt x="5603" y="398"/>
                    <a:pt x="5603" y="373"/>
                  </a:cubicBezTo>
                  <a:cubicBezTo>
                    <a:pt x="5603" y="347"/>
                    <a:pt x="5624" y="326"/>
                    <a:pt x="5650" y="326"/>
                  </a:cubicBezTo>
                  <a:cubicBezTo>
                    <a:pt x="5675" y="326"/>
                    <a:pt x="5697" y="347"/>
                    <a:pt x="5697" y="373"/>
                  </a:cubicBezTo>
                  <a:close/>
                  <a:moveTo>
                    <a:pt x="5797" y="373"/>
                  </a:moveTo>
                  <a:cubicBezTo>
                    <a:pt x="5797" y="398"/>
                    <a:pt x="5775" y="420"/>
                    <a:pt x="5750" y="420"/>
                  </a:cubicBezTo>
                  <a:cubicBezTo>
                    <a:pt x="5724" y="420"/>
                    <a:pt x="5703" y="398"/>
                    <a:pt x="5703" y="373"/>
                  </a:cubicBezTo>
                  <a:cubicBezTo>
                    <a:pt x="5703" y="347"/>
                    <a:pt x="5724" y="326"/>
                    <a:pt x="5750" y="326"/>
                  </a:cubicBezTo>
                  <a:cubicBezTo>
                    <a:pt x="5775" y="326"/>
                    <a:pt x="5797" y="347"/>
                    <a:pt x="5797" y="373"/>
                  </a:cubicBezTo>
                  <a:close/>
                  <a:moveTo>
                    <a:pt x="5897" y="373"/>
                  </a:moveTo>
                  <a:cubicBezTo>
                    <a:pt x="5897" y="398"/>
                    <a:pt x="5875" y="420"/>
                    <a:pt x="5850" y="420"/>
                  </a:cubicBezTo>
                  <a:cubicBezTo>
                    <a:pt x="5824" y="420"/>
                    <a:pt x="5803" y="398"/>
                    <a:pt x="5803" y="373"/>
                  </a:cubicBezTo>
                  <a:cubicBezTo>
                    <a:pt x="5803" y="347"/>
                    <a:pt x="5824" y="326"/>
                    <a:pt x="5850" y="326"/>
                  </a:cubicBezTo>
                  <a:cubicBezTo>
                    <a:pt x="5875" y="326"/>
                    <a:pt x="5897" y="347"/>
                    <a:pt x="5897" y="373"/>
                  </a:cubicBezTo>
                  <a:close/>
                  <a:moveTo>
                    <a:pt x="5997" y="373"/>
                  </a:moveTo>
                  <a:cubicBezTo>
                    <a:pt x="5997" y="398"/>
                    <a:pt x="5975" y="420"/>
                    <a:pt x="5950" y="420"/>
                  </a:cubicBezTo>
                  <a:cubicBezTo>
                    <a:pt x="5924" y="420"/>
                    <a:pt x="5903" y="398"/>
                    <a:pt x="5903" y="373"/>
                  </a:cubicBezTo>
                  <a:cubicBezTo>
                    <a:pt x="5903" y="347"/>
                    <a:pt x="5924" y="326"/>
                    <a:pt x="5950" y="326"/>
                  </a:cubicBezTo>
                  <a:cubicBezTo>
                    <a:pt x="5975" y="326"/>
                    <a:pt x="5997" y="347"/>
                    <a:pt x="5997" y="373"/>
                  </a:cubicBezTo>
                  <a:close/>
                  <a:moveTo>
                    <a:pt x="6097" y="373"/>
                  </a:moveTo>
                  <a:cubicBezTo>
                    <a:pt x="6097" y="398"/>
                    <a:pt x="6075" y="420"/>
                    <a:pt x="6050" y="420"/>
                  </a:cubicBezTo>
                  <a:cubicBezTo>
                    <a:pt x="6024" y="420"/>
                    <a:pt x="6003" y="398"/>
                    <a:pt x="6003" y="373"/>
                  </a:cubicBezTo>
                  <a:cubicBezTo>
                    <a:pt x="6003" y="347"/>
                    <a:pt x="6024" y="326"/>
                    <a:pt x="6050" y="326"/>
                  </a:cubicBezTo>
                  <a:cubicBezTo>
                    <a:pt x="6075" y="326"/>
                    <a:pt x="6097" y="347"/>
                    <a:pt x="6097" y="373"/>
                  </a:cubicBezTo>
                  <a:close/>
                  <a:moveTo>
                    <a:pt x="6197" y="373"/>
                  </a:moveTo>
                  <a:cubicBezTo>
                    <a:pt x="6197" y="398"/>
                    <a:pt x="6175" y="420"/>
                    <a:pt x="6150" y="420"/>
                  </a:cubicBezTo>
                  <a:cubicBezTo>
                    <a:pt x="6124" y="420"/>
                    <a:pt x="6103" y="398"/>
                    <a:pt x="6103" y="373"/>
                  </a:cubicBezTo>
                  <a:cubicBezTo>
                    <a:pt x="6103" y="347"/>
                    <a:pt x="6124" y="326"/>
                    <a:pt x="6150" y="326"/>
                  </a:cubicBezTo>
                  <a:cubicBezTo>
                    <a:pt x="6175" y="326"/>
                    <a:pt x="6197" y="347"/>
                    <a:pt x="6197" y="373"/>
                  </a:cubicBezTo>
                  <a:close/>
                  <a:moveTo>
                    <a:pt x="6297" y="373"/>
                  </a:moveTo>
                  <a:cubicBezTo>
                    <a:pt x="6297" y="398"/>
                    <a:pt x="6275" y="420"/>
                    <a:pt x="6250" y="420"/>
                  </a:cubicBezTo>
                  <a:cubicBezTo>
                    <a:pt x="6224" y="420"/>
                    <a:pt x="6203" y="398"/>
                    <a:pt x="6203" y="373"/>
                  </a:cubicBezTo>
                  <a:cubicBezTo>
                    <a:pt x="6203" y="347"/>
                    <a:pt x="6224" y="326"/>
                    <a:pt x="6250" y="326"/>
                  </a:cubicBezTo>
                  <a:cubicBezTo>
                    <a:pt x="6275" y="326"/>
                    <a:pt x="6297" y="347"/>
                    <a:pt x="6297" y="373"/>
                  </a:cubicBezTo>
                  <a:close/>
                  <a:moveTo>
                    <a:pt x="6397" y="373"/>
                  </a:moveTo>
                  <a:cubicBezTo>
                    <a:pt x="6397" y="398"/>
                    <a:pt x="6375" y="420"/>
                    <a:pt x="6350" y="420"/>
                  </a:cubicBezTo>
                  <a:cubicBezTo>
                    <a:pt x="6324" y="420"/>
                    <a:pt x="6303" y="398"/>
                    <a:pt x="6303" y="373"/>
                  </a:cubicBezTo>
                  <a:cubicBezTo>
                    <a:pt x="6303" y="347"/>
                    <a:pt x="6324" y="326"/>
                    <a:pt x="6350" y="326"/>
                  </a:cubicBezTo>
                  <a:cubicBezTo>
                    <a:pt x="6375" y="326"/>
                    <a:pt x="6397" y="347"/>
                    <a:pt x="6397" y="373"/>
                  </a:cubicBezTo>
                  <a:close/>
                  <a:moveTo>
                    <a:pt x="6497" y="373"/>
                  </a:moveTo>
                  <a:cubicBezTo>
                    <a:pt x="6497" y="398"/>
                    <a:pt x="6475" y="420"/>
                    <a:pt x="6450" y="420"/>
                  </a:cubicBezTo>
                  <a:cubicBezTo>
                    <a:pt x="6424" y="420"/>
                    <a:pt x="6403" y="398"/>
                    <a:pt x="6403" y="373"/>
                  </a:cubicBezTo>
                  <a:cubicBezTo>
                    <a:pt x="6403" y="347"/>
                    <a:pt x="6424" y="326"/>
                    <a:pt x="6450" y="326"/>
                  </a:cubicBezTo>
                  <a:cubicBezTo>
                    <a:pt x="6475" y="326"/>
                    <a:pt x="6497" y="347"/>
                    <a:pt x="6497" y="373"/>
                  </a:cubicBezTo>
                  <a:close/>
                  <a:moveTo>
                    <a:pt x="6597" y="373"/>
                  </a:moveTo>
                  <a:cubicBezTo>
                    <a:pt x="6597" y="398"/>
                    <a:pt x="6575" y="420"/>
                    <a:pt x="6550" y="420"/>
                  </a:cubicBezTo>
                  <a:cubicBezTo>
                    <a:pt x="6524" y="420"/>
                    <a:pt x="6503" y="398"/>
                    <a:pt x="6503" y="373"/>
                  </a:cubicBezTo>
                  <a:cubicBezTo>
                    <a:pt x="6503" y="347"/>
                    <a:pt x="6524" y="326"/>
                    <a:pt x="6550" y="326"/>
                  </a:cubicBezTo>
                  <a:cubicBezTo>
                    <a:pt x="6575" y="326"/>
                    <a:pt x="6597" y="347"/>
                    <a:pt x="6597" y="373"/>
                  </a:cubicBezTo>
                  <a:close/>
                  <a:moveTo>
                    <a:pt x="6697" y="373"/>
                  </a:moveTo>
                  <a:cubicBezTo>
                    <a:pt x="6697" y="398"/>
                    <a:pt x="6675" y="420"/>
                    <a:pt x="6650" y="420"/>
                  </a:cubicBezTo>
                  <a:cubicBezTo>
                    <a:pt x="6624" y="420"/>
                    <a:pt x="6603" y="398"/>
                    <a:pt x="6603" y="373"/>
                  </a:cubicBezTo>
                  <a:cubicBezTo>
                    <a:pt x="6603" y="347"/>
                    <a:pt x="6624" y="326"/>
                    <a:pt x="6650" y="326"/>
                  </a:cubicBezTo>
                  <a:cubicBezTo>
                    <a:pt x="6675" y="326"/>
                    <a:pt x="6697" y="347"/>
                    <a:pt x="6697" y="373"/>
                  </a:cubicBezTo>
                  <a:close/>
                  <a:moveTo>
                    <a:pt x="6797" y="373"/>
                  </a:moveTo>
                  <a:cubicBezTo>
                    <a:pt x="6797" y="398"/>
                    <a:pt x="6775" y="420"/>
                    <a:pt x="6750" y="420"/>
                  </a:cubicBezTo>
                  <a:cubicBezTo>
                    <a:pt x="6724" y="420"/>
                    <a:pt x="6703" y="398"/>
                    <a:pt x="6703" y="373"/>
                  </a:cubicBezTo>
                  <a:cubicBezTo>
                    <a:pt x="6703" y="347"/>
                    <a:pt x="6724" y="326"/>
                    <a:pt x="6750" y="326"/>
                  </a:cubicBezTo>
                  <a:cubicBezTo>
                    <a:pt x="6775" y="326"/>
                    <a:pt x="6797" y="347"/>
                    <a:pt x="6797" y="373"/>
                  </a:cubicBezTo>
                  <a:close/>
                  <a:moveTo>
                    <a:pt x="6897" y="373"/>
                  </a:moveTo>
                  <a:cubicBezTo>
                    <a:pt x="6897" y="398"/>
                    <a:pt x="6875" y="420"/>
                    <a:pt x="6850" y="420"/>
                  </a:cubicBezTo>
                  <a:cubicBezTo>
                    <a:pt x="6824" y="420"/>
                    <a:pt x="6803" y="398"/>
                    <a:pt x="6803" y="373"/>
                  </a:cubicBezTo>
                  <a:cubicBezTo>
                    <a:pt x="6803" y="347"/>
                    <a:pt x="6824" y="326"/>
                    <a:pt x="6850" y="326"/>
                  </a:cubicBezTo>
                  <a:cubicBezTo>
                    <a:pt x="6875" y="326"/>
                    <a:pt x="6897" y="347"/>
                    <a:pt x="6897" y="373"/>
                  </a:cubicBezTo>
                  <a:close/>
                  <a:moveTo>
                    <a:pt x="6997" y="373"/>
                  </a:moveTo>
                  <a:cubicBezTo>
                    <a:pt x="6997" y="398"/>
                    <a:pt x="6975" y="420"/>
                    <a:pt x="6950" y="420"/>
                  </a:cubicBezTo>
                  <a:cubicBezTo>
                    <a:pt x="6924" y="420"/>
                    <a:pt x="6903" y="398"/>
                    <a:pt x="6903" y="373"/>
                  </a:cubicBezTo>
                  <a:cubicBezTo>
                    <a:pt x="6903" y="347"/>
                    <a:pt x="6924" y="326"/>
                    <a:pt x="6950" y="326"/>
                  </a:cubicBezTo>
                  <a:cubicBezTo>
                    <a:pt x="6975" y="326"/>
                    <a:pt x="6997" y="347"/>
                    <a:pt x="6997" y="373"/>
                  </a:cubicBezTo>
                  <a:close/>
                  <a:moveTo>
                    <a:pt x="7097" y="373"/>
                  </a:moveTo>
                  <a:cubicBezTo>
                    <a:pt x="7097" y="398"/>
                    <a:pt x="7075" y="420"/>
                    <a:pt x="7050" y="420"/>
                  </a:cubicBezTo>
                  <a:cubicBezTo>
                    <a:pt x="7024" y="420"/>
                    <a:pt x="7003" y="398"/>
                    <a:pt x="7003" y="373"/>
                  </a:cubicBezTo>
                  <a:cubicBezTo>
                    <a:pt x="7003" y="347"/>
                    <a:pt x="7024" y="326"/>
                    <a:pt x="7050" y="326"/>
                  </a:cubicBezTo>
                  <a:cubicBezTo>
                    <a:pt x="7075" y="326"/>
                    <a:pt x="7097" y="347"/>
                    <a:pt x="7097" y="373"/>
                  </a:cubicBezTo>
                  <a:close/>
                  <a:moveTo>
                    <a:pt x="7197" y="373"/>
                  </a:moveTo>
                  <a:cubicBezTo>
                    <a:pt x="7197" y="398"/>
                    <a:pt x="7175" y="420"/>
                    <a:pt x="7150" y="420"/>
                  </a:cubicBezTo>
                  <a:cubicBezTo>
                    <a:pt x="7124" y="420"/>
                    <a:pt x="7103" y="398"/>
                    <a:pt x="7103" y="373"/>
                  </a:cubicBezTo>
                  <a:cubicBezTo>
                    <a:pt x="7103" y="347"/>
                    <a:pt x="7124" y="326"/>
                    <a:pt x="7150" y="326"/>
                  </a:cubicBezTo>
                  <a:cubicBezTo>
                    <a:pt x="7175" y="326"/>
                    <a:pt x="7197" y="347"/>
                    <a:pt x="7197" y="373"/>
                  </a:cubicBezTo>
                  <a:close/>
                  <a:moveTo>
                    <a:pt x="7297" y="373"/>
                  </a:moveTo>
                  <a:cubicBezTo>
                    <a:pt x="7297" y="398"/>
                    <a:pt x="7275" y="420"/>
                    <a:pt x="7250" y="420"/>
                  </a:cubicBezTo>
                  <a:cubicBezTo>
                    <a:pt x="7224" y="420"/>
                    <a:pt x="7203" y="398"/>
                    <a:pt x="7203" y="373"/>
                  </a:cubicBezTo>
                  <a:cubicBezTo>
                    <a:pt x="7203" y="347"/>
                    <a:pt x="7224" y="326"/>
                    <a:pt x="7250" y="326"/>
                  </a:cubicBezTo>
                  <a:cubicBezTo>
                    <a:pt x="7275" y="326"/>
                    <a:pt x="7297" y="347"/>
                    <a:pt x="7297" y="373"/>
                  </a:cubicBezTo>
                  <a:close/>
                  <a:moveTo>
                    <a:pt x="7397" y="373"/>
                  </a:moveTo>
                  <a:cubicBezTo>
                    <a:pt x="7397" y="398"/>
                    <a:pt x="7375" y="420"/>
                    <a:pt x="7350" y="420"/>
                  </a:cubicBezTo>
                  <a:cubicBezTo>
                    <a:pt x="7324" y="420"/>
                    <a:pt x="7303" y="398"/>
                    <a:pt x="7303" y="373"/>
                  </a:cubicBezTo>
                  <a:cubicBezTo>
                    <a:pt x="7303" y="347"/>
                    <a:pt x="7324" y="326"/>
                    <a:pt x="7350" y="326"/>
                  </a:cubicBezTo>
                  <a:cubicBezTo>
                    <a:pt x="7375" y="326"/>
                    <a:pt x="7397" y="347"/>
                    <a:pt x="7397" y="373"/>
                  </a:cubicBezTo>
                  <a:close/>
                  <a:moveTo>
                    <a:pt x="7497" y="373"/>
                  </a:moveTo>
                  <a:cubicBezTo>
                    <a:pt x="7497" y="398"/>
                    <a:pt x="7475" y="420"/>
                    <a:pt x="7450" y="420"/>
                  </a:cubicBezTo>
                  <a:cubicBezTo>
                    <a:pt x="7424" y="420"/>
                    <a:pt x="7403" y="398"/>
                    <a:pt x="7403" y="373"/>
                  </a:cubicBezTo>
                  <a:cubicBezTo>
                    <a:pt x="7403" y="347"/>
                    <a:pt x="7424" y="326"/>
                    <a:pt x="7450" y="326"/>
                  </a:cubicBezTo>
                  <a:cubicBezTo>
                    <a:pt x="7475" y="326"/>
                    <a:pt x="7497" y="347"/>
                    <a:pt x="7497" y="373"/>
                  </a:cubicBezTo>
                  <a:close/>
                  <a:moveTo>
                    <a:pt x="7597" y="373"/>
                  </a:moveTo>
                  <a:cubicBezTo>
                    <a:pt x="7597" y="398"/>
                    <a:pt x="7575" y="420"/>
                    <a:pt x="7550" y="420"/>
                  </a:cubicBezTo>
                  <a:cubicBezTo>
                    <a:pt x="7524" y="420"/>
                    <a:pt x="7503" y="398"/>
                    <a:pt x="7503" y="373"/>
                  </a:cubicBezTo>
                  <a:cubicBezTo>
                    <a:pt x="7503" y="347"/>
                    <a:pt x="7524" y="326"/>
                    <a:pt x="7550" y="326"/>
                  </a:cubicBezTo>
                  <a:cubicBezTo>
                    <a:pt x="7575" y="326"/>
                    <a:pt x="7597" y="347"/>
                    <a:pt x="7597" y="373"/>
                  </a:cubicBezTo>
                  <a:close/>
                  <a:moveTo>
                    <a:pt x="7697" y="373"/>
                  </a:moveTo>
                  <a:cubicBezTo>
                    <a:pt x="7697" y="398"/>
                    <a:pt x="7675" y="420"/>
                    <a:pt x="7650" y="420"/>
                  </a:cubicBezTo>
                  <a:cubicBezTo>
                    <a:pt x="7624" y="420"/>
                    <a:pt x="7603" y="398"/>
                    <a:pt x="7603" y="373"/>
                  </a:cubicBezTo>
                  <a:cubicBezTo>
                    <a:pt x="7603" y="347"/>
                    <a:pt x="7624" y="326"/>
                    <a:pt x="7650" y="326"/>
                  </a:cubicBezTo>
                  <a:cubicBezTo>
                    <a:pt x="7675" y="326"/>
                    <a:pt x="7697" y="347"/>
                    <a:pt x="7697" y="373"/>
                  </a:cubicBezTo>
                  <a:close/>
                  <a:moveTo>
                    <a:pt x="7797" y="373"/>
                  </a:moveTo>
                  <a:cubicBezTo>
                    <a:pt x="7797" y="398"/>
                    <a:pt x="7775" y="420"/>
                    <a:pt x="7750" y="420"/>
                  </a:cubicBezTo>
                  <a:cubicBezTo>
                    <a:pt x="7724" y="420"/>
                    <a:pt x="7703" y="398"/>
                    <a:pt x="7703" y="373"/>
                  </a:cubicBezTo>
                  <a:cubicBezTo>
                    <a:pt x="7703" y="347"/>
                    <a:pt x="7724" y="326"/>
                    <a:pt x="7750" y="326"/>
                  </a:cubicBezTo>
                  <a:cubicBezTo>
                    <a:pt x="7775" y="326"/>
                    <a:pt x="7797" y="347"/>
                    <a:pt x="7797" y="373"/>
                  </a:cubicBezTo>
                  <a:close/>
                  <a:moveTo>
                    <a:pt x="7897" y="373"/>
                  </a:moveTo>
                  <a:cubicBezTo>
                    <a:pt x="7897" y="398"/>
                    <a:pt x="7875" y="420"/>
                    <a:pt x="7850" y="420"/>
                  </a:cubicBezTo>
                  <a:cubicBezTo>
                    <a:pt x="7824" y="420"/>
                    <a:pt x="7803" y="398"/>
                    <a:pt x="7803" y="373"/>
                  </a:cubicBezTo>
                  <a:cubicBezTo>
                    <a:pt x="7803" y="347"/>
                    <a:pt x="7824" y="326"/>
                    <a:pt x="7850" y="326"/>
                  </a:cubicBezTo>
                  <a:cubicBezTo>
                    <a:pt x="7875" y="326"/>
                    <a:pt x="7897" y="347"/>
                    <a:pt x="7897" y="373"/>
                  </a:cubicBezTo>
                  <a:close/>
                  <a:moveTo>
                    <a:pt x="7997" y="373"/>
                  </a:moveTo>
                  <a:cubicBezTo>
                    <a:pt x="7997" y="398"/>
                    <a:pt x="7975" y="420"/>
                    <a:pt x="7950" y="420"/>
                  </a:cubicBezTo>
                  <a:cubicBezTo>
                    <a:pt x="7924" y="420"/>
                    <a:pt x="7903" y="398"/>
                    <a:pt x="7903" y="373"/>
                  </a:cubicBezTo>
                  <a:cubicBezTo>
                    <a:pt x="7903" y="347"/>
                    <a:pt x="7924" y="326"/>
                    <a:pt x="7950" y="326"/>
                  </a:cubicBezTo>
                  <a:cubicBezTo>
                    <a:pt x="7975" y="326"/>
                    <a:pt x="7997" y="347"/>
                    <a:pt x="7997" y="373"/>
                  </a:cubicBezTo>
                  <a:close/>
                  <a:moveTo>
                    <a:pt x="8097" y="373"/>
                  </a:moveTo>
                  <a:cubicBezTo>
                    <a:pt x="8097" y="398"/>
                    <a:pt x="8075" y="420"/>
                    <a:pt x="8050" y="420"/>
                  </a:cubicBezTo>
                  <a:cubicBezTo>
                    <a:pt x="8024" y="420"/>
                    <a:pt x="8003" y="398"/>
                    <a:pt x="8003" y="373"/>
                  </a:cubicBezTo>
                  <a:cubicBezTo>
                    <a:pt x="8003" y="347"/>
                    <a:pt x="8024" y="326"/>
                    <a:pt x="8050" y="326"/>
                  </a:cubicBezTo>
                  <a:cubicBezTo>
                    <a:pt x="8075" y="326"/>
                    <a:pt x="8097" y="347"/>
                    <a:pt x="8097" y="373"/>
                  </a:cubicBezTo>
                  <a:close/>
                  <a:moveTo>
                    <a:pt x="8197" y="373"/>
                  </a:moveTo>
                  <a:cubicBezTo>
                    <a:pt x="8197" y="398"/>
                    <a:pt x="8175" y="420"/>
                    <a:pt x="8150" y="420"/>
                  </a:cubicBezTo>
                  <a:cubicBezTo>
                    <a:pt x="8124" y="420"/>
                    <a:pt x="8103" y="398"/>
                    <a:pt x="8103" y="373"/>
                  </a:cubicBezTo>
                  <a:cubicBezTo>
                    <a:pt x="8103" y="347"/>
                    <a:pt x="8124" y="326"/>
                    <a:pt x="8150" y="326"/>
                  </a:cubicBezTo>
                  <a:cubicBezTo>
                    <a:pt x="8175" y="326"/>
                    <a:pt x="8197" y="347"/>
                    <a:pt x="8197" y="373"/>
                  </a:cubicBezTo>
                  <a:close/>
                  <a:moveTo>
                    <a:pt x="8297" y="373"/>
                  </a:moveTo>
                  <a:cubicBezTo>
                    <a:pt x="8297" y="398"/>
                    <a:pt x="8275" y="420"/>
                    <a:pt x="8250" y="420"/>
                  </a:cubicBezTo>
                  <a:cubicBezTo>
                    <a:pt x="8224" y="420"/>
                    <a:pt x="8203" y="398"/>
                    <a:pt x="8203" y="373"/>
                  </a:cubicBezTo>
                  <a:cubicBezTo>
                    <a:pt x="8203" y="347"/>
                    <a:pt x="8224" y="326"/>
                    <a:pt x="8250" y="326"/>
                  </a:cubicBezTo>
                  <a:cubicBezTo>
                    <a:pt x="8275" y="326"/>
                    <a:pt x="8297" y="347"/>
                    <a:pt x="8297" y="37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84514B"/>
              </a:solidFill>
              <a:round/>
            </a:ln>
          </p:spPr>
        </p:sp>
        <p:sp>
          <p:nvSpPr>
            <p:cNvPr id="7" name="Forma 6"/>
            <p:cNvSpPr/>
            <p:nvPr/>
          </p:nvSpPr>
          <p:spPr>
            <a:xfrm>
              <a:off x="274320" y="1828800"/>
              <a:ext cx="7589520" cy="384048"/>
            </a:xfrm>
            <a:custGeom>
              <a:avLst/>
              <a:gdLst/>
              <a:ahLst/>
              <a:cxnLst/>
              <a:rect l="0" t="0" r="r" b="b"/>
              <a:pathLst>
                <a:path w="8300" h="420" fill="none">
                  <a:moveTo>
                    <a:pt x="35" y="94"/>
                  </a:moveTo>
                  <a:lnTo>
                    <a:pt x="35" y="200"/>
                  </a:lnTo>
                </a:path>
                <a:path w="8300" h="420" fill="none">
                  <a:moveTo>
                    <a:pt x="65" y="94"/>
                  </a:moveTo>
                  <a:lnTo>
                    <a:pt x="65" y="200"/>
                  </a:lnTo>
                </a:path>
                <a:path w="8300" h="420" fill="none">
                  <a:moveTo>
                    <a:pt x="35" y="326"/>
                  </a:moveTo>
                  <a:lnTo>
                    <a:pt x="35" y="220"/>
                  </a:lnTo>
                </a:path>
                <a:path w="8300" h="420" fill="none">
                  <a:moveTo>
                    <a:pt x="65" y="326"/>
                  </a:moveTo>
                  <a:lnTo>
                    <a:pt x="65" y="220"/>
                  </a:lnTo>
                </a:path>
                <a:path w="8300" h="420" fill="none">
                  <a:moveTo>
                    <a:pt x="135" y="94"/>
                  </a:moveTo>
                  <a:lnTo>
                    <a:pt x="135" y="200"/>
                  </a:lnTo>
                </a:path>
                <a:path w="8300" h="420" fill="none">
                  <a:moveTo>
                    <a:pt x="165" y="94"/>
                  </a:moveTo>
                  <a:lnTo>
                    <a:pt x="165" y="200"/>
                  </a:lnTo>
                </a:path>
                <a:path w="8300" h="420" fill="none">
                  <a:moveTo>
                    <a:pt x="135" y="326"/>
                  </a:moveTo>
                  <a:lnTo>
                    <a:pt x="135" y="220"/>
                  </a:lnTo>
                </a:path>
                <a:path w="8300" h="420" fill="none">
                  <a:moveTo>
                    <a:pt x="165" y="326"/>
                  </a:moveTo>
                  <a:lnTo>
                    <a:pt x="165" y="220"/>
                  </a:lnTo>
                </a:path>
                <a:path w="8300" h="420" fill="none">
                  <a:moveTo>
                    <a:pt x="235" y="94"/>
                  </a:moveTo>
                  <a:lnTo>
                    <a:pt x="235" y="200"/>
                  </a:lnTo>
                </a:path>
                <a:path w="8300" h="420" fill="none">
                  <a:moveTo>
                    <a:pt x="265" y="94"/>
                  </a:moveTo>
                  <a:lnTo>
                    <a:pt x="265" y="200"/>
                  </a:lnTo>
                </a:path>
                <a:path w="8300" h="420" fill="none">
                  <a:moveTo>
                    <a:pt x="235" y="326"/>
                  </a:moveTo>
                  <a:lnTo>
                    <a:pt x="235" y="220"/>
                  </a:lnTo>
                </a:path>
                <a:path w="8300" h="420" fill="none">
                  <a:moveTo>
                    <a:pt x="265" y="326"/>
                  </a:moveTo>
                  <a:lnTo>
                    <a:pt x="265" y="220"/>
                  </a:lnTo>
                </a:path>
                <a:path w="8300" h="420" fill="none">
                  <a:moveTo>
                    <a:pt x="335" y="94"/>
                  </a:moveTo>
                  <a:lnTo>
                    <a:pt x="335" y="200"/>
                  </a:lnTo>
                </a:path>
                <a:path w="8300" h="420" fill="none">
                  <a:moveTo>
                    <a:pt x="365" y="94"/>
                  </a:moveTo>
                  <a:lnTo>
                    <a:pt x="365" y="200"/>
                  </a:lnTo>
                </a:path>
                <a:path w="8300" h="420" fill="none">
                  <a:moveTo>
                    <a:pt x="335" y="326"/>
                  </a:moveTo>
                  <a:lnTo>
                    <a:pt x="335" y="220"/>
                  </a:lnTo>
                </a:path>
                <a:path w="8300" h="420" fill="none">
                  <a:moveTo>
                    <a:pt x="365" y="326"/>
                  </a:moveTo>
                  <a:lnTo>
                    <a:pt x="365" y="220"/>
                  </a:lnTo>
                </a:path>
                <a:path w="8300" h="420" fill="none">
                  <a:moveTo>
                    <a:pt x="435" y="94"/>
                  </a:moveTo>
                  <a:lnTo>
                    <a:pt x="435" y="200"/>
                  </a:lnTo>
                </a:path>
                <a:path w="8300" h="420" fill="none">
                  <a:moveTo>
                    <a:pt x="465" y="94"/>
                  </a:moveTo>
                  <a:lnTo>
                    <a:pt x="465" y="200"/>
                  </a:lnTo>
                </a:path>
                <a:path w="8300" h="420" fill="none">
                  <a:moveTo>
                    <a:pt x="435" y="326"/>
                  </a:moveTo>
                  <a:lnTo>
                    <a:pt x="435" y="220"/>
                  </a:lnTo>
                </a:path>
                <a:path w="8300" h="420" fill="none">
                  <a:moveTo>
                    <a:pt x="465" y="326"/>
                  </a:moveTo>
                  <a:lnTo>
                    <a:pt x="465" y="220"/>
                  </a:lnTo>
                </a:path>
                <a:path w="8300" h="420" fill="none">
                  <a:moveTo>
                    <a:pt x="535" y="94"/>
                  </a:moveTo>
                  <a:lnTo>
                    <a:pt x="535" y="200"/>
                  </a:lnTo>
                </a:path>
                <a:path w="8300" h="420" fill="none">
                  <a:moveTo>
                    <a:pt x="565" y="94"/>
                  </a:moveTo>
                  <a:lnTo>
                    <a:pt x="565" y="200"/>
                  </a:lnTo>
                </a:path>
                <a:path w="8300" h="420" fill="none">
                  <a:moveTo>
                    <a:pt x="535" y="326"/>
                  </a:moveTo>
                  <a:lnTo>
                    <a:pt x="535" y="220"/>
                  </a:lnTo>
                </a:path>
                <a:path w="8300" h="420" fill="none">
                  <a:moveTo>
                    <a:pt x="565" y="326"/>
                  </a:moveTo>
                  <a:lnTo>
                    <a:pt x="565" y="220"/>
                  </a:lnTo>
                </a:path>
                <a:path w="8300" h="420" fill="none">
                  <a:moveTo>
                    <a:pt x="635" y="94"/>
                  </a:moveTo>
                  <a:lnTo>
                    <a:pt x="635" y="200"/>
                  </a:lnTo>
                </a:path>
                <a:path w="8300" h="420" fill="none">
                  <a:moveTo>
                    <a:pt x="665" y="94"/>
                  </a:moveTo>
                  <a:lnTo>
                    <a:pt x="665" y="200"/>
                  </a:lnTo>
                </a:path>
                <a:path w="8300" h="420" fill="none">
                  <a:moveTo>
                    <a:pt x="635" y="326"/>
                  </a:moveTo>
                  <a:lnTo>
                    <a:pt x="635" y="220"/>
                  </a:lnTo>
                </a:path>
                <a:path w="8300" h="420" fill="none">
                  <a:moveTo>
                    <a:pt x="665" y="326"/>
                  </a:moveTo>
                  <a:lnTo>
                    <a:pt x="665" y="220"/>
                  </a:lnTo>
                </a:path>
                <a:path w="8300" h="420" fill="none">
                  <a:moveTo>
                    <a:pt x="735" y="94"/>
                  </a:moveTo>
                  <a:lnTo>
                    <a:pt x="735" y="200"/>
                  </a:lnTo>
                </a:path>
                <a:path w="8300" h="420" fill="none">
                  <a:moveTo>
                    <a:pt x="765" y="94"/>
                  </a:moveTo>
                  <a:lnTo>
                    <a:pt x="765" y="200"/>
                  </a:lnTo>
                </a:path>
                <a:path w="8300" h="420" fill="none">
                  <a:moveTo>
                    <a:pt x="735" y="326"/>
                  </a:moveTo>
                  <a:lnTo>
                    <a:pt x="735" y="220"/>
                  </a:lnTo>
                </a:path>
                <a:path w="8300" h="420" fill="none">
                  <a:moveTo>
                    <a:pt x="765" y="326"/>
                  </a:moveTo>
                  <a:lnTo>
                    <a:pt x="765" y="220"/>
                  </a:lnTo>
                </a:path>
                <a:path w="8300" h="420" fill="none">
                  <a:moveTo>
                    <a:pt x="835" y="94"/>
                  </a:moveTo>
                  <a:lnTo>
                    <a:pt x="835" y="200"/>
                  </a:lnTo>
                </a:path>
                <a:path w="8300" h="420" fill="none">
                  <a:moveTo>
                    <a:pt x="865" y="94"/>
                  </a:moveTo>
                  <a:lnTo>
                    <a:pt x="865" y="200"/>
                  </a:lnTo>
                </a:path>
                <a:path w="8300" h="420" fill="none">
                  <a:moveTo>
                    <a:pt x="835" y="326"/>
                  </a:moveTo>
                  <a:lnTo>
                    <a:pt x="835" y="220"/>
                  </a:lnTo>
                </a:path>
                <a:path w="8300" h="420" fill="none">
                  <a:moveTo>
                    <a:pt x="865" y="326"/>
                  </a:moveTo>
                  <a:lnTo>
                    <a:pt x="865" y="220"/>
                  </a:lnTo>
                </a:path>
                <a:path w="8300" h="420" fill="none">
                  <a:moveTo>
                    <a:pt x="935" y="94"/>
                  </a:moveTo>
                  <a:lnTo>
                    <a:pt x="935" y="200"/>
                  </a:lnTo>
                </a:path>
                <a:path w="8300" h="420" fill="none">
                  <a:moveTo>
                    <a:pt x="965" y="94"/>
                  </a:moveTo>
                  <a:lnTo>
                    <a:pt x="965" y="200"/>
                  </a:lnTo>
                </a:path>
                <a:path w="8300" h="420" fill="none">
                  <a:moveTo>
                    <a:pt x="935" y="326"/>
                  </a:moveTo>
                  <a:lnTo>
                    <a:pt x="935" y="220"/>
                  </a:lnTo>
                </a:path>
                <a:path w="8300" h="420" fill="none">
                  <a:moveTo>
                    <a:pt x="965" y="326"/>
                  </a:moveTo>
                  <a:lnTo>
                    <a:pt x="965" y="220"/>
                  </a:lnTo>
                </a:path>
                <a:path w="8300" h="420" fill="none">
                  <a:moveTo>
                    <a:pt x="1035" y="94"/>
                  </a:moveTo>
                  <a:lnTo>
                    <a:pt x="1035" y="200"/>
                  </a:lnTo>
                </a:path>
                <a:path w="8300" h="420" fill="none">
                  <a:moveTo>
                    <a:pt x="1065" y="94"/>
                  </a:moveTo>
                  <a:lnTo>
                    <a:pt x="1065" y="200"/>
                  </a:lnTo>
                </a:path>
                <a:path w="8300" h="420" fill="none">
                  <a:moveTo>
                    <a:pt x="1035" y="326"/>
                  </a:moveTo>
                  <a:lnTo>
                    <a:pt x="1035" y="220"/>
                  </a:lnTo>
                </a:path>
                <a:path w="8300" h="420" fill="none">
                  <a:moveTo>
                    <a:pt x="1065" y="326"/>
                  </a:moveTo>
                  <a:lnTo>
                    <a:pt x="1065" y="220"/>
                  </a:lnTo>
                </a:path>
                <a:path w="8300" h="420" fill="none">
                  <a:moveTo>
                    <a:pt x="1135" y="94"/>
                  </a:moveTo>
                  <a:lnTo>
                    <a:pt x="1135" y="200"/>
                  </a:lnTo>
                </a:path>
                <a:path w="8300" h="420" fill="none">
                  <a:moveTo>
                    <a:pt x="1165" y="94"/>
                  </a:moveTo>
                  <a:lnTo>
                    <a:pt x="1165" y="200"/>
                  </a:lnTo>
                </a:path>
                <a:path w="8300" h="420" fill="none">
                  <a:moveTo>
                    <a:pt x="1135" y="326"/>
                  </a:moveTo>
                  <a:lnTo>
                    <a:pt x="1135" y="220"/>
                  </a:lnTo>
                </a:path>
                <a:path w="8300" h="420" fill="none">
                  <a:moveTo>
                    <a:pt x="1165" y="326"/>
                  </a:moveTo>
                  <a:lnTo>
                    <a:pt x="1165" y="220"/>
                  </a:lnTo>
                </a:path>
                <a:path w="8300" h="420" fill="none">
                  <a:moveTo>
                    <a:pt x="1235" y="94"/>
                  </a:moveTo>
                  <a:lnTo>
                    <a:pt x="1235" y="200"/>
                  </a:lnTo>
                </a:path>
                <a:path w="8300" h="420" fill="none">
                  <a:moveTo>
                    <a:pt x="1265" y="94"/>
                  </a:moveTo>
                  <a:lnTo>
                    <a:pt x="1265" y="200"/>
                  </a:lnTo>
                </a:path>
                <a:path w="8300" h="420" fill="none">
                  <a:moveTo>
                    <a:pt x="1235" y="326"/>
                  </a:moveTo>
                  <a:lnTo>
                    <a:pt x="1235" y="220"/>
                  </a:lnTo>
                </a:path>
                <a:path w="8300" h="420" fill="none">
                  <a:moveTo>
                    <a:pt x="1265" y="326"/>
                  </a:moveTo>
                  <a:lnTo>
                    <a:pt x="1265" y="220"/>
                  </a:lnTo>
                </a:path>
                <a:path w="8300" h="420" fill="none">
                  <a:moveTo>
                    <a:pt x="1335" y="94"/>
                  </a:moveTo>
                  <a:lnTo>
                    <a:pt x="1335" y="200"/>
                  </a:lnTo>
                </a:path>
                <a:path w="8300" h="420" fill="none">
                  <a:moveTo>
                    <a:pt x="1365" y="94"/>
                  </a:moveTo>
                  <a:lnTo>
                    <a:pt x="1365" y="200"/>
                  </a:lnTo>
                </a:path>
                <a:path w="8300" h="420" fill="none">
                  <a:moveTo>
                    <a:pt x="1335" y="326"/>
                  </a:moveTo>
                  <a:lnTo>
                    <a:pt x="1335" y="220"/>
                  </a:lnTo>
                </a:path>
                <a:path w="8300" h="420" fill="none">
                  <a:moveTo>
                    <a:pt x="1365" y="326"/>
                  </a:moveTo>
                  <a:lnTo>
                    <a:pt x="1365" y="220"/>
                  </a:lnTo>
                </a:path>
                <a:path w="8300" h="420" fill="none">
                  <a:moveTo>
                    <a:pt x="1435" y="94"/>
                  </a:moveTo>
                  <a:lnTo>
                    <a:pt x="1435" y="200"/>
                  </a:lnTo>
                </a:path>
                <a:path w="8300" h="420" fill="none">
                  <a:moveTo>
                    <a:pt x="1465" y="94"/>
                  </a:moveTo>
                  <a:lnTo>
                    <a:pt x="1465" y="200"/>
                  </a:lnTo>
                </a:path>
                <a:path w="8300" h="420" fill="none">
                  <a:moveTo>
                    <a:pt x="1435" y="326"/>
                  </a:moveTo>
                  <a:lnTo>
                    <a:pt x="1435" y="220"/>
                  </a:lnTo>
                </a:path>
                <a:path w="8300" h="420" fill="none">
                  <a:moveTo>
                    <a:pt x="1465" y="326"/>
                  </a:moveTo>
                  <a:lnTo>
                    <a:pt x="1465" y="220"/>
                  </a:lnTo>
                </a:path>
                <a:path w="8300" h="420" fill="none">
                  <a:moveTo>
                    <a:pt x="1535" y="94"/>
                  </a:moveTo>
                  <a:lnTo>
                    <a:pt x="1535" y="200"/>
                  </a:lnTo>
                </a:path>
                <a:path w="8300" h="420" fill="none">
                  <a:moveTo>
                    <a:pt x="1565" y="94"/>
                  </a:moveTo>
                  <a:lnTo>
                    <a:pt x="1565" y="200"/>
                  </a:lnTo>
                </a:path>
                <a:path w="8300" h="420" fill="none">
                  <a:moveTo>
                    <a:pt x="1535" y="326"/>
                  </a:moveTo>
                  <a:lnTo>
                    <a:pt x="1535" y="220"/>
                  </a:lnTo>
                </a:path>
                <a:path w="8300" h="420" fill="none">
                  <a:moveTo>
                    <a:pt x="1565" y="326"/>
                  </a:moveTo>
                  <a:lnTo>
                    <a:pt x="1565" y="220"/>
                  </a:lnTo>
                </a:path>
                <a:path w="8300" h="420" fill="none">
                  <a:moveTo>
                    <a:pt x="1635" y="94"/>
                  </a:moveTo>
                  <a:lnTo>
                    <a:pt x="1635" y="200"/>
                  </a:lnTo>
                </a:path>
                <a:path w="8300" h="420" fill="none">
                  <a:moveTo>
                    <a:pt x="1665" y="94"/>
                  </a:moveTo>
                  <a:lnTo>
                    <a:pt x="1665" y="200"/>
                  </a:lnTo>
                </a:path>
                <a:path w="8300" h="420" fill="none">
                  <a:moveTo>
                    <a:pt x="1635" y="326"/>
                  </a:moveTo>
                  <a:lnTo>
                    <a:pt x="1635" y="220"/>
                  </a:lnTo>
                </a:path>
                <a:path w="8300" h="420" fill="none">
                  <a:moveTo>
                    <a:pt x="1665" y="326"/>
                  </a:moveTo>
                  <a:lnTo>
                    <a:pt x="1665" y="220"/>
                  </a:lnTo>
                </a:path>
                <a:path w="8300" h="420" fill="none">
                  <a:moveTo>
                    <a:pt x="1735" y="94"/>
                  </a:moveTo>
                  <a:lnTo>
                    <a:pt x="1735" y="200"/>
                  </a:lnTo>
                </a:path>
                <a:path w="8300" h="420" fill="none">
                  <a:moveTo>
                    <a:pt x="1765" y="94"/>
                  </a:moveTo>
                  <a:lnTo>
                    <a:pt x="1765" y="200"/>
                  </a:lnTo>
                </a:path>
                <a:path w="8300" h="420" fill="none">
                  <a:moveTo>
                    <a:pt x="1735" y="326"/>
                  </a:moveTo>
                  <a:lnTo>
                    <a:pt x="1735" y="220"/>
                  </a:lnTo>
                </a:path>
                <a:path w="8300" h="420" fill="none">
                  <a:moveTo>
                    <a:pt x="1765" y="326"/>
                  </a:moveTo>
                  <a:lnTo>
                    <a:pt x="1765" y="220"/>
                  </a:lnTo>
                </a:path>
                <a:path w="8300" h="420" fill="none">
                  <a:moveTo>
                    <a:pt x="1835" y="94"/>
                  </a:moveTo>
                  <a:lnTo>
                    <a:pt x="1835" y="200"/>
                  </a:lnTo>
                </a:path>
                <a:path w="8300" h="420" fill="none">
                  <a:moveTo>
                    <a:pt x="1865" y="94"/>
                  </a:moveTo>
                  <a:lnTo>
                    <a:pt x="1865" y="200"/>
                  </a:lnTo>
                </a:path>
                <a:path w="8300" h="420" fill="none">
                  <a:moveTo>
                    <a:pt x="1835" y="326"/>
                  </a:moveTo>
                  <a:lnTo>
                    <a:pt x="1835" y="220"/>
                  </a:lnTo>
                </a:path>
                <a:path w="8300" h="420" fill="none">
                  <a:moveTo>
                    <a:pt x="1865" y="326"/>
                  </a:moveTo>
                  <a:lnTo>
                    <a:pt x="1865" y="220"/>
                  </a:lnTo>
                </a:path>
                <a:path w="8300" h="420" fill="none">
                  <a:moveTo>
                    <a:pt x="1935" y="94"/>
                  </a:moveTo>
                  <a:lnTo>
                    <a:pt x="1935" y="200"/>
                  </a:lnTo>
                </a:path>
                <a:path w="8300" h="420" fill="none">
                  <a:moveTo>
                    <a:pt x="1965" y="94"/>
                  </a:moveTo>
                  <a:lnTo>
                    <a:pt x="1965" y="200"/>
                  </a:lnTo>
                </a:path>
                <a:path w="8300" h="420" fill="none">
                  <a:moveTo>
                    <a:pt x="1935" y="326"/>
                  </a:moveTo>
                  <a:lnTo>
                    <a:pt x="1935" y="220"/>
                  </a:lnTo>
                </a:path>
                <a:path w="8300" h="420" fill="none">
                  <a:moveTo>
                    <a:pt x="1965" y="326"/>
                  </a:moveTo>
                  <a:lnTo>
                    <a:pt x="1965" y="220"/>
                  </a:lnTo>
                </a:path>
                <a:path w="8300" h="420" fill="none">
                  <a:moveTo>
                    <a:pt x="2035" y="94"/>
                  </a:moveTo>
                  <a:lnTo>
                    <a:pt x="2035" y="200"/>
                  </a:lnTo>
                </a:path>
                <a:path w="8300" h="420" fill="none">
                  <a:moveTo>
                    <a:pt x="2065" y="94"/>
                  </a:moveTo>
                  <a:lnTo>
                    <a:pt x="2065" y="200"/>
                  </a:lnTo>
                </a:path>
                <a:path w="8300" h="420" fill="none">
                  <a:moveTo>
                    <a:pt x="2035" y="326"/>
                  </a:moveTo>
                  <a:lnTo>
                    <a:pt x="2035" y="220"/>
                  </a:lnTo>
                </a:path>
                <a:path w="8300" h="420" fill="none">
                  <a:moveTo>
                    <a:pt x="2065" y="326"/>
                  </a:moveTo>
                  <a:lnTo>
                    <a:pt x="2065" y="220"/>
                  </a:lnTo>
                </a:path>
                <a:path w="8300" h="420" fill="none">
                  <a:moveTo>
                    <a:pt x="2135" y="94"/>
                  </a:moveTo>
                  <a:lnTo>
                    <a:pt x="2135" y="200"/>
                  </a:lnTo>
                </a:path>
                <a:path w="8300" h="420" fill="none">
                  <a:moveTo>
                    <a:pt x="2165" y="94"/>
                  </a:moveTo>
                  <a:lnTo>
                    <a:pt x="2165" y="200"/>
                  </a:lnTo>
                </a:path>
                <a:path w="8300" h="420" fill="none">
                  <a:moveTo>
                    <a:pt x="2135" y="326"/>
                  </a:moveTo>
                  <a:lnTo>
                    <a:pt x="2135" y="220"/>
                  </a:lnTo>
                </a:path>
                <a:path w="8300" h="420" fill="none">
                  <a:moveTo>
                    <a:pt x="2165" y="326"/>
                  </a:moveTo>
                  <a:lnTo>
                    <a:pt x="2165" y="220"/>
                  </a:lnTo>
                </a:path>
                <a:path w="8300" h="420" fill="none">
                  <a:moveTo>
                    <a:pt x="2235" y="94"/>
                  </a:moveTo>
                  <a:lnTo>
                    <a:pt x="2235" y="200"/>
                  </a:lnTo>
                </a:path>
                <a:path w="8300" h="420" fill="none">
                  <a:moveTo>
                    <a:pt x="2265" y="94"/>
                  </a:moveTo>
                  <a:lnTo>
                    <a:pt x="2265" y="200"/>
                  </a:lnTo>
                </a:path>
                <a:path w="8300" h="420" fill="none">
                  <a:moveTo>
                    <a:pt x="2235" y="326"/>
                  </a:moveTo>
                  <a:lnTo>
                    <a:pt x="2235" y="220"/>
                  </a:lnTo>
                </a:path>
                <a:path w="8300" h="420" fill="none">
                  <a:moveTo>
                    <a:pt x="2265" y="326"/>
                  </a:moveTo>
                  <a:lnTo>
                    <a:pt x="2265" y="220"/>
                  </a:lnTo>
                </a:path>
                <a:path w="8300" h="420" fill="none">
                  <a:moveTo>
                    <a:pt x="2335" y="94"/>
                  </a:moveTo>
                  <a:lnTo>
                    <a:pt x="2335" y="200"/>
                  </a:lnTo>
                </a:path>
                <a:path w="8300" h="420" fill="none">
                  <a:moveTo>
                    <a:pt x="2365" y="94"/>
                  </a:moveTo>
                  <a:lnTo>
                    <a:pt x="2365" y="200"/>
                  </a:lnTo>
                </a:path>
                <a:path w="8300" h="420" fill="none">
                  <a:moveTo>
                    <a:pt x="2335" y="326"/>
                  </a:moveTo>
                  <a:lnTo>
                    <a:pt x="2335" y="220"/>
                  </a:lnTo>
                </a:path>
                <a:path w="8300" h="420" fill="none">
                  <a:moveTo>
                    <a:pt x="2365" y="326"/>
                  </a:moveTo>
                  <a:lnTo>
                    <a:pt x="2365" y="220"/>
                  </a:lnTo>
                </a:path>
                <a:path w="8300" h="420" fill="none">
                  <a:moveTo>
                    <a:pt x="2435" y="94"/>
                  </a:moveTo>
                  <a:lnTo>
                    <a:pt x="2435" y="200"/>
                  </a:lnTo>
                </a:path>
                <a:path w="8300" h="420" fill="none">
                  <a:moveTo>
                    <a:pt x="2465" y="94"/>
                  </a:moveTo>
                  <a:lnTo>
                    <a:pt x="2465" y="200"/>
                  </a:lnTo>
                </a:path>
                <a:path w="8300" h="420" fill="none">
                  <a:moveTo>
                    <a:pt x="2435" y="326"/>
                  </a:moveTo>
                  <a:lnTo>
                    <a:pt x="2435" y="220"/>
                  </a:lnTo>
                </a:path>
                <a:path w="8300" h="420" fill="none">
                  <a:moveTo>
                    <a:pt x="2465" y="326"/>
                  </a:moveTo>
                  <a:lnTo>
                    <a:pt x="2465" y="220"/>
                  </a:lnTo>
                </a:path>
                <a:path w="8300" h="420" fill="none">
                  <a:moveTo>
                    <a:pt x="2535" y="94"/>
                  </a:moveTo>
                  <a:lnTo>
                    <a:pt x="2535" y="200"/>
                  </a:lnTo>
                </a:path>
                <a:path w="8300" h="420" fill="none">
                  <a:moveTo>
                    <a:pt x="2565" y="94"/>
                  </a:moveTo>
                  <a:lnTo>
                    <a:pt x="2565" y="200"/>
                  </a:lnTo>
                </a:path>
                <a:path w="8300" h="420" fill="none">
                  <a:moveTo>
                    <a:pt x="2535" y="326"/>
                  </a:moveTo>
                  <a:lnTo>
                    <a:pt x="2535" y="220"/>
                  </a:lnTo>
                </a:path>
                <a:path w="8300" h="420" fill="none">
                  <a:moveTo>
                    <a:pt x="2565" y="326"/>
                  </a:moveTo>
                  <a:lnTo>
                    <a:pt x="2565" y="220"/>
                  </a:lnTo>
                </a:path>
                <a:path w="8300" h="420" fill="none">
                  <a:moveTo>
                    <a:pt x="2635" y="94"/>
                  </a:moveTo>
                  <a:lnTo>
                    <a:pt x="2635" y="200"/>
                  </a:lnTo>
                </a:path>
                <a:path w="8300" h="420" fill="none">
                  <a:moveTo>
                    <a:pt x="2665" y="94"/>
                  </a:moveTo>
                  <a:lnTo>
                    <a:pt x="2665" y="200"/>
                  </a:lnTo>
                </a:path>
                <a:path w="8300" h="420" fill="none">
                  <a:moveTo>
                    <a:pt x="2635" y="326"/>
                  </a:moveTo>
                  <a:lnTo>
                    <a:pt x="2635" y="220"/>
                  </a:lnTo>
                </a:path>
                <a:path w="8300" h="420" fill="none">
                  <a:moveTo>
                    <a:pt x="2665" y="326"/>
                  </a:moveTo>
                  <a:lnTo>
                    <a:pt x="2665" y="220"/>
                  </a:lnTo>
                </a:path>
                <a:path w="8300" h="420" fill="none">
                  <a:moveTo>
                    <a:pt x="2735" y="94"/>
                  </a:moveTo>
                  <a:lnTo>
                    <a:pt x="2735" y="200"/>
                  </a:lnTo>
                </a:path>
                <a:path w="8300" h="420" fill="none">
                  <a:moveTo>
                    <a:pt x="2765" y="94"/>
                  </a:moveTo>
                  <a:lnTo>
                    <a:pt x="2765" y="200"/>
                  </a:lnTo>
                </a:path>
                <a:path w="8300" h="420" fill="none">
                  <a:moveTo>
                    <a:pt x="2735" y="326"/>
                  </a:moveTo>
                  <a:lnTo>
                    <a:pt x="2735" y="220"/>
                  </a:lnTo>
                </a:path>
                <a:path w="8300" h="420" fill="none">
                  <a:moveTo>
                    <a:pt x="2765" y="326"/>
                  </a:moveTo>
                  <a:lnTo>
                    <a:pt x="2765" y="220"/>
                  </a:lnTo>
                </a:path>
                <a:path w="8300" h="420" fill="none">
                  <a:moveTo>
                    <a:pt x="2835" y="94"/>
                  </a:moveTo>
                  <a:lnTo>
                    <a:pt x="2835" y="200"/>
                  </a:lnTo>
                </a:path>
                <a:path w="8300" h="420" fill="none">
                  <a:moveTo>
                    <a:pt x="2865" y="94"/>
                  </a:moveTo>
                  <a:lnTo>
                    <a:pt x="2865" y="200"/>
                  </a:lnTo>
                </a:path>
                <a:path w="8300" h="420" fill="none">
                  <a:moveTo>
                    <a:pt x="2835" y="326"/>
                  </a:moveTo>
                  <a:lnTo>
                    <a:pt x="2835" y="220"/>
                  </a:lnTo>
                </a:path>
                <a:path w="8300" h="420" fill="none">
                  <a:moveTo>
                    <a:pt x="2865" y="326"/>
                  </a:moveTo>
                  <a:lnTo>
                    <a:pt x="2865" y="220"/>
                  </a:lnTo>
                </a:path>
                <a:path w="8300" h="420" fill="none">
                  <a:moveTo>
                    <a:pt x="2935" y="94"/>
                  </a:moveTo>
                  <a:lnTo>
                    <a:pt x="2935" y="200"/>
                  </a:lnTo>
                </a:path>
                <a:path w="8300" h="420" fill="none">
                  <a:moveTo>
                    <a:pt x="2965" y="94"/>
                  </a:moveTo>
                  <a:lnTo>
                    <a:pt x="2965" y="200"/>
                  </a:lnTo>
                </a:path>
                <a:path w="8300" h="420" fill="none">
                  <a:moveTo>
                    <a:pt x="2935" y="326"/>
                  </a:moveTo>
                  <a:lnTo>
                    <a:pt x="2935" y="220"/>
                  </a:lnTo>
                </a:path>
                <a:path w="8300" h="420" fill="none">
                  <a:moveTo>
                    <a:pt x="2965" y="326"/>
                  </a:moveTo>
                  <a:lnTo>
                    <a:pt x="2965" y="220"/>
                  </a:lnTo>
                </a:path>
                <a:path w="8300" h="420" fill="none">
                  <a:moveTo>
                    <a:pt x="3035" y="94"/>
                  </a:moveTo>
                  <a:lnTo>
                    <a:pt x="3035" y="200"/>
                  </a:lnTo>
                </a:path>
                <a:path w="8300" h="420" fill="none">
                  <a:moveTo>
                    <a:pt x="3065" y="94"/>
                  </a:moveTo>
                  <a:lnTo>
                    <a:pt x="3065" y="200"/>
                  </a:lnTo>
                </a:path>
                <a:path w="8300" h="420" fill="none">
                  <a:moveTo>
                    <a:pt x="3035" y="326"/>
                  </a:moveTo>
                  <a:lnTo>
                    <a:pt x="3035" y="220"/>
                  </a:lnTo>
                </a:path>
                <a:path w="8300" h="420" fill="none">
                  <a:moveTo>
                    <a:pt x="3065" y="326"/>
                  </a:moveTo>
                  <a:lnTo>
                    <a:pt x="3065" y="220"/>
                  </a:lnTo>
                </a:path>
                <a:path w="8300" h="420" fill="none">
                  <a:moveTo>
                    <a:pt x="3135" y="94"/>
                  </a:moveTo>
                  <a:lnTo>
                    <a:pt x="3135" y="200"/>
                  </a:lnTo>
                </a:path>
                <a:path w="8300" h="420" fill="none">
                  <a:moveTo>
                    <a:pt x="3165" y="94"/>
                  </a:moveTo>
                  <a:lnTo>
                    <a:pt x="3165" y="200"/>
                  </a:lnTo>
                </a:path>
                <a:path w="8300" h="420" fill="none">
                  <a:moveTo>
                    <a:pt x="3135" y="326"/>
                  </a:moveTo>
                  <a:lnTo>
                    <a:pt x="3135" y="220"/>
                  </a:lnTo>
                </a:path>
                <a:path w="8300" h="420" fill="none">
                  <a:moveTo>
                    <a:pt x="3165" y="326"/>
                  </a:moveTo>
                  <a:lnTo>
                    <a:pt x="3165" y="220"/>
                  </a:lnTo>
                </a:path>
                <a:path w="8300" h="420" fill="none">
                  <a:moveTo>
                    <a:pt x="3235" y="94"/>
                  </a:moveTo>
                  <a:lnTo>
                    <a:pt x="3235" y="200"/>
                  </a:lnTo>
                </a:path>
                <a:path w="8300" h="420" fill="none">
                  <a:moveTo>
                    <a:pt x="3265" y="94"/>
                  </a:moveTo>
                  <a:lnTo>
                    <a:pt x="3265" y="200"/>
                  </a:lnTo>
                </a:path>
                <a:path w="8300" h="420" fill="none">
                  <a:moveTo>
                    <a:pt x="3235" y="326"/>
                  </a:moveTo>
                  <a:lnTo>
                    <a:pt x="3235" y="220"/>
                  </a:lnTo>
                </a:path>
                <a:path w="8300" h="420" fill="none">
                  <a:moveTo>
                    <a:pt x="3265" y="326"/>
                  </a:moveTo>
                  <a:lnTo>
                    <a:pt x="3265" y="220"/>
                  </a:lnTo>
                </a:path>
                <a:path w="8300" h="420" fill="none">
                  <a:moveTo>
                    <a:pt x="3335" y="94"/>
                  </a:moveTo>
                  <a:lnTo>
                    <a:pt x="3335" y="200"/>
                  </a:lnTo>
                </a:path>
                <a:path w="8300" h="420" fill="none">
                  <a:moveTo>
                    <a:pt x="3365" y="94"/>
                  </a:moveTo>
                  <a:lnTo>
                    <a:pt x="3365" y="200"/>
                  </a:lnTo>
                </a:path>
                <a:path w="8300" h="420" fill="none">
                  <a:moveTo>
                    <a:pt x="3335" y="326"/>
                  </a:moveTo>
                  <a:lnTo>
                    <a:pt x="3335" y="220"/>
                  </a:lnTo>
                </a:path>
                <a:path w="8300" h="420" fill="none">
                  <a:moveTo>
                    <a:pt x="3365" y="326"/>
                  </a:moveTo>
                  <a:lnTo>
                    <a:pt x="3365" y="220"/>
                  </a:lnTo>
                </a:path>
                <a:path w="8300" h="420" fill="none">
                  <a:moveTo>
                    <a:pt x="3435" y="94"/>
                  </a:moveTo>
                  <a:lnTo>
                    <a:pt x="3435" y="200"/>
                  </a:lnTo>
                </a:path>
                <a:path w="8300" h="420" fill="none">
                  <a:moveTo>
                    <a:pt x="3465" y="94"/>
                  </a:moveTo>
                  <a:lnTo>
                    <a:pt x="3465" y="200"/>
                  </a:lnTo>
                </a:path>
                <a:path w="8300" h="420" fill="none">
                  <a:moveTo>
                    <a:pt x="3435" y="326"/>
                  </a:moveTo>
                  <a:lnTo>
                    <a:pt x="3435" y="220"/>
                  </a:lnTo>
                </a:path>
                <a:path w="8300" h="420" fill="none">
                  <a:moveTo>
                    <a:pt x="3465" y="326"/>
                  </a:moveTo>
                  <a:lnTo>
                    <a:pt x="3465" y="220"/>
                  </a:lnTo>
                </a:path>
                <a:path w="8300" h="420" fill="none">
                  <a:moveTo>
                    <a:pt x="3535" y="94"/>
                  </a:moveTo>
                  <a:lnTo>
                    <a:pt x="3535" y="200"/>
                  </a:lnTo>
                </a:path>
                <a:path w="8300" h="420" fill="none">
                  <a:moveTo>
                    <a:pt x="3565" y="94"/>
                  </a:moveTo>
                  <a:lnTo>
                    <a:pt x="3565" y="200"/>
                  </a:lnTo>
                </a:path>
                <a:path w="8300" h="420" fill="none">
                  <a:moveTo>
                    <a:pt x="3535" y="326"/>
                  </a:moveTo>
                  <a:lnTo>
                    <a:pt x="3535" y="220"/>
                  </a:lnTo>
                </a:path>
                <a:path w="8300" h="420" fill="none">
                  <a:moveTo>
                    <a:pt x="3565" y="326"/>
                  </a:moveTo>
                  <a:lnTo>
                    <a:pt x="3565" y="220"/>
                  </a:lnTo>
                </a:path>
                <a:path w="8300" h="420" fill="none">
                  <a:moveTo>
                    <a:pt x="3635" y="94"/>
                  </a:moveTo>
                  <a:lnTo>
                    <a:pt x="3635" y="200"/>
                  </a:lnTo>
                </a:path>
                <a:path w="8300" h="420" fill="none">
                  <a:moveTo>
                    <a:pt x="3665" y="94"/>
                  </a:moveTo>
                  <a:lnTo>
                    <a:pt x="3665" y="200"/>
                  </a:lnTo>
                </a:path>
                <a:path w="8300" h="420" fill="none">
                  <a:moveTo>
                    <a:pt x="3635" y="326"/>
                  </a:moveTo>
                  <a:lnTo>
                    <a:pt x="3635" y="220"/>
                  </a:lnTo>
                </a:path>
                <a:path w="8300" h="420" fill="none">
                  <a:moveTo>
                    <a:pt x="3665" y="326"/>
                  </a:moveTo>
                  <a:lnTo>
                    <a:pt x="3665" y="220"/>
                  </a:lnTo>
                </a:path>
                <a:path w="8300" h="420" fill="none">
                  <a:moveTo>
                    <a:pt x="3735" y="94"/>
                  </a:moveTo>
                  <a:lnTo>
                    <a:pt x="3735" y="200"/>
                  </a:lnTo>
                </a:path>
                <a:path w="8300" h="420" fill="none">
                  <a:moveTo>
                    <a:pt x="3765" y="94"/>
                  </a:moveTo>
                  <a:lnTo>
                    <a:pt x="3765" y="200"/>
                  </a:lnTo>
                </a:path>
                <a:path w="8300" h="420" fill="none">
                  <a:moveTo>
                    <a:pt x="3735" y="326"/>
                  </a:moveTo>
                  <a:lnTo>
                    <a:pt x="3735" y="220"/>
                  </a:lnTo>
                </a:path>
                <a:path w="8300" h="420" fill="none">
                  <a:moveTo>
                    <a:pt x="3765" y="326"/>
                  </a:moveTo>
                  <a:lnTo>
                    <a:pt x="3765" y="220"/>
                  </a:lnTo>
                </a:path>
                <a:path w="8300" h="420" fill="none">
                  <a:moveTo>
                    <a:pt x="3835" y="94"/>
                  </a:moveTo>
                  <a:lnTo>
                    <a:pt x="3835" y="200"/>
                  </a:lnTo>
                </a:path>
                <a:path w="8300" h="420" fill="none">
                  <a:moveTo>
                    <a:pt x="3865" y="94"/>
                  </a:moveTo>
                  <a:lnTo>
                    <a:pt x="3865" y="200"/>
                  </a:lnTo>
                </a:path>
                <a:path w="8300" h="420" fill="none">
                  <a:moveTo>
                    <a:pt x="3835" y="326"/>
                  </a:moveTo>
                  <a:lnTo>
                    <a:pt x="3835" y="220"/>
                  </a:lnTo>
                </a:path>
                <a:path w="8300" h="420" fill="none">
                  <a:moveTo>
                    <a:pt x="3865" y="326"/>
                  </a:moveTo>
                  <a:lnTo>
                    <a:pt x="3865" y="220"/>
                  </a:lnTo>
                </a:path>
                <a:path w="8300" h="420" fill="none">
                  <a:moveTo>
                    <a:pt x="3935" y="94"/>
                  </a:moveTo>
                  <a:lnTo>
                    <a:pt x="3935" y="200"/>
                  </a:lnTo>
                </a:path>
                <a:path w="8300" h="420" fill="none">
                  <a:moveTo>
                    <a:pt x="3965" y="94"/>
                  </a:moveTo>
                  <a:lnTo>
                    <a:pt x="3965" y="200"/>
                  </a:lnTo>
                </a:path>
                <a:path w="8300" h="420" fill="none">
                  <a:moveTo>
                    <a:pt x="3935" y="326"/>
                  </a:moveTo>
                  <a:lnTo>
                    <a:pt x="3935" y="220"/>
                  </a:lnTo>
                </a:path>
                <a:path w="8300" h="420" fill="none">
                  <a:moveTo>
                    <a:pt x="3965" y="326"/>
                  </a:moveTo>
                  <a:lnTo>
                    <a:pt x="3965" y="220"/>
                  </a:lnTo>
                </a:path>
                <a:path w="8300" h="420" fill="none">
                  <a:moveTo>
                    <a:pt x="4035" y="94"/>
                  </a:moveTo>
                  <a:lnTo>
                    <a:pt x="4035" y="200"/>
                  </a:lnTo>
                </a:path>
                <a:path w="8300" h="420" fill="none">
                  <a:moveTo>
                    <a:pt x="4065" y="94"/>
                  </a:moveTo>
                  <a:lnTo>
                    <a:pt x="4065" y="200"/>
                  </a:lnTo>
                </a:path>
                <a:path w="8300" h="420" fill="none">
                  <a:moveTo>
                    <a:pt x="4035" y="326"/>
                  </a:moveTo>
                  <a:lnTo>
                    <a:pt x="4035" y="220"/>
                  </a:lnTo>
                </a:path>
                <a:path w="8300" h="420" fill="none">
                  <a:moveTo>
                    <a:pt x="4065" y="326"/>
                  </a:moveTo>
                  <a:lnTo>
                    <a:pt x="4065" y="220"/>
                  </a:lnTo>
                </a:path>
                <a:path w="8300" h="420" fill="none">
                  <a:moveTo>
                    <a:pt x="4135" y="94"/>
                  </a:moveTo>
                  <a:lnTo>
                    <a:pt x="4135" y="200"/>
                  </a:lnTo>
                </a:path>
                <a:path w="8300" h="420" fill="none">
                  <a:moveTo>
                    <a:pt x="4165" y="94"/>
                  </a:moveTo>
                  <a:lnTo>
                    <a:pt x="4165" y="200"/>
                  </a:lnTo>
                </a:path>
                <a:path w="8300" h="420" fill="none">
                  <a:moveTo>
                    <a:pt x="4135" y="326"/>
                  </a:moveTo>
                  <a:lnTo>
                    <a:pt x="4135" y="220"/>
                  </a:lnTo>
                </a:path>
                <a:path w="8300" h="420" fill="none">
                  <a:moveTo>
                    <a:pt x="4165" y="326"/>
                  </a:moveTo>
                  <a:lnTo>
                    <a:pt x="4165" y="220"/>
                  </a:lnTo>
                </a:path>
                <a:path w="8300" h="420" fill="none">
                  <a:moveTo>
                    <a:pt x="4235" y="94"/>
                  </a:moveTo>
                  <a:lnTo>
                    <a:pt x="4235" y="200"/>
                  </a:lnTo>
                </a:path>
                <a:path w="8300" h="420" fill="none">
                  <a:moveTo>
                    <a:pt x="4265" y="94"/>
                  </a:moveTo>
                  <a:lnTo>
                    <a:pt x="4265" y="200"/>
                  </a:lnTo>
                </a:path>
                <a:path w="8300" h="420" fill="none">
                  <a:moveTo>
                    <a:pt x="4235" y="326"/>
                  </a:moveTo>
                  <a:lnTo>
                    <a:pt x="4235" y="220"/>
                  </a:lnTo>
                </a:path>
                <a:path w="8300" h="420" fill="none">
                  <a:moveTo>
                    <a:pt x="4265" y="326"/>
                  </a:moveTo>
                  <a:lnTo>
                    <a:pt x="4265" y="220"/>
                  </a:lnTo>
                </a:path>
                <a:path w="8300" h="420" fill="none">
                  <a:moveTo>
                    <a:pt x="4335" y="94"/>
                  </a:moveTo>
                  <a:lnTo>
                    <a:pt x="4335" y="200"/>
                  </a:lnTo>
                </a:path>
                <a:path w="8300" h="420" fill="none">
                  <a:moveTo>
                    <a:pt x="4365" y="94"/>
                  </a:moveTo>
                  <a:lnTo>
                    <a:pt x="4365" y="200"/>
                  </a:lnTo>
                </a:path>
                <a:path w="8300" h="420" fill="none">
                  <a:moveTo>
                    <a:pt x="4335" y="326"/>
                  </a:moveTo>
                  <a:lnTo>
                    <a:pt x="4335" y="220"/>
                  </a:lnTo>
                </a:path>
                <a:path w="8300" h="420" fill="none">
                  <a:moveTo>
                    <a:pt x="4365" y="326"/>
                  </a:moveTo>
                  <a:lnTo>
                    <a:pt x="4365" y="220"/>
                  </a:lnTo>
                </a:path>
                <a:path w="8300" h="420" fill="none">
                  <a:moveTo>
                    <a:pt x="4435" y="94"/>
                  </a:moveTo>
                  <a:lnTo>
                    <a:pt x="4435" y="200"/>
                  </a:lnTo>
                </a:path>
                <a:path w="8300" h="420" fill="none">
                  <a:moveTo>
                    <a:pt x="4465" y="94"/>
                  </a:moveTo>
                  <a:lnTo>
                    <a:pt x="4465" y="200"/>
                  </a:lnTo>
                </a:path>
                <a:path w="8300" h="420" fill="none">
                  <a:moveTo>
                    <a:pt x="4435" y="326"/>
                  </a:moveTo>
                  <a:lnTo>
                    <a:pt x="4435" y="220"/>
                  </a:lnTo>
                </a:path>
                <a:path w="8300" h="420" fill="none">
                  <a:moveTo>
                    <a:pt x="4465" y="326"/>
                  </a:moveTo>
                  <a:lnTo>
                    <a:pt x="4465" y="220"/>
                  </a:lnTo>
                </a:path>
                <a:path w="8300" h="420" fill="none">
                  <a:moveTo>
                    <a:pt x="4535" y="94"/>
                  </a:moveTo>
                  <a:lnTo>
                    <a:pt x="4535" y="200"/>
                  </a:lnTo>
                </a:path>
                <a:path w="8300" h="420" fill="none">
                  <a:moveTo>
                    <a:pt x="4565" y="94"/>
                  </a:moveTo>
                  <a:lnTo>
                    <a:pt x="4565" y="200"/>
                  </a:lnTo>
                </a:path>
                <a:path w="8300" h="420" fill="none">
                  <a:moveTo>
                    <a:pt x="4535" y="326"/>
                  </a:moveTo>
                  <a:lnTo>
                    <a:pt x="4535" y="220"/>
                  </a:lnTo>
                </a:path>
                <a:path w="8300" h="420" fill="none">
                  <a:moveTo>
                    <a:pt x="4565" y="326"/>
                  </a:moveTo>
                  <a:lnTo>
                    <a:pt x="4565" y="220"/>
                  </a:lnTo>
                </a:path>
                <a:path w="8300" h="420" fill="none">
                  <a:moveTo>
                    <a:pt x="4635" y="94"/>
                  </a:moveTo>
                  <a:lnTo>
                    <a:pt x="4635" y="200"/>
                  </a:lnTo>
                </a:path>
                <a:path w="8300" h="420" fill="none">
                  <a:moveTo>
                    <a:pt x="4665" y="94"/>
                  </a:moveTo>
                  <a:lnTo>
                    <a:pt x="4665" y="200"/>
                  </a:lnTo>
                </a:path>
                <a:path w="8300" h="420" fill="none">
                  <a:moveTo>
                    <a:pt x="4635" y="326"/>
                  </a:moveTo>
                  <a:lnTo>
                    <a:pt x="4635" y="220"/>
                  </a:lnTo>
                </a:path>
                <a:path w="8300" h="420" fill="none">
                  <a:moveTo>
                    <a:pt x="4665" y="326"/>
                  </a:moveTo>
                  <a:lnTo>
                    <a:pt x="4665" y="220"/>
                  </a:lnTo>
                </a:path>
                <a:path w="8300" h="420" fill="none">
                  <a:moveTo>
                    <a:pt x="4735" y="94"/>
                  </a:moveTo>
                  <a:lnTo>
                    <a:pt x="4735" y="200"/>
                  </a:lnTo>
                </a:path>
                <a:path w="8300" h="420" fill="none">
                  <a:moveTo>
                    <a:pt x="4765" y="94"/>
                  </a:moveTo>
                  <a:lnTo>
                    <a:pt x="4765" y="200"/>
                  </a:lnTo>
                </a:path>
                <a:path w="8300" h="420" fill="none">
                  <a:moveTo>
                    <a:pt x="4735" y="326"/>
                  </a:moveTo>
                  <a:lnTo>
                    <a:pt x="4735" y="220"/>
                  </a:lnTo>
                </a:path>
                <a:path w="8300" h="420" fill="none">
                  <a:moveTo>
                    <a:pt x="4765" y="326"/>
                  </a:moveTo>
                  <a:lnTo>
                    <a:pt x="4765" y="220"/>
                  </a:lnTo>
                </a:path>
                <a:path w="8300" h="420" fill="none">
                  <a:moveTo>
                    <a:pt x="4835" y="94"/>
                  </a:moveTo>
                  <a:lnTo>
                    <a:pt x="4835" y="200"/>
                  </a:lnTo>
                </a:path>
                <a:path w="8300" h="420" fill="none">
                  <a:moveTo>
                    <a:pt x="4865" y="94"/>
                  </a:moveTo>
                  <a:lnTo>
                    <a:pt x="4865" y="200"/>
                  </a:lnTo>
                </a:path>
                <a:path w="8300" h="420" fill="none">
                  <a:moveTo>
                    <a:pt x="4835" y="326"/>
                  </a:moveTo>
                  <a:lnTo>
                    <a:pt x="4835" y="220"/>
                  </a:lnTo>
                </a:path>
                <a:path w="8300" h="420" fill="none">
                  <a:moveTo>
                    <a:pt x="4865" y="326"/>
                  </a:moveTo>
                  <a:lnTo>
                    <a:pt x="4865" y="220"/>
                  </a:lnTo>
                </a:path>
                <a:path w="8300" h="420" fill="none">
                  <a:moveTo>
                    <a:pt x="4935" y="94"/>
                  </a:moveTo>
                  <a:lnTo>
                    <a:pt x="4935" y="200"/>
                  </a:lnTo>
                </a:path>
                <a:path w="8300" h="420" fill="none">
                  <a:moveTo>
                    <a:pt x="4965" y="94"/>
                  </a:moveTo>
                  <a:lnTo>
                    <a:pt x="4965" y="200"/>
                  </a:lnTo>
                </a:path>
                <a:path w="8300" h="420" fill="none">
                  <a:moveTo>
                    <a:pt x="4935" y="326"/>
                  </a:moveTo>
                  <a:lnTo>
                    <a:pt x="4935" y="220"/>
                  </a:lnTo>
                </a:path>
                <a:path w="8300" h="420" fill="none">
                  <a:moveTo>
                    <a:pt x="4965" y="326"/>
                  </a:moveTo>
                  <a:lnTo>
                    <a:pt x="4965" y="220"/>
                  </a:lnTo>
                </a:path>
                <a:path w="8300" h="420" fill="none">
                  <a:moveTo>
                    <a:pt x="5035" y="94"/>
                  </a:moveTo>
                  <a:lnTo>
                    <a:pt x="5035" y="200"/>
                  </a:lnTo>
                </a:path>
                <a:path w="8300" h="420" fill="none">
                  <a:moveTo>
                    <a:pt x="5065" y="94"/>
                  </a:moveTo>
                  <a:lnTo>
                    <a:pt x="5065" y="200"/>
                  </a:lnTo>
                </a:path>
                <a:path w="8300" h="420" fill="none">
                  <a:moveTo>
                    <a:pt x="5035" y="326"/>
                  </a:moveTo>
                  <a:lnTo>
                    <a:pt x="5035" y="220"/>
                  </a:lnTo>
                </a:path>
                <a:path w="8300" h="420" fill="none">
                  <a:moveTo>
                    <a:pt x="5065" y="326"/>
                  </a:moveTo>
                  <a:lnTo>
                    <a:pt x="5065" y="220"/>
                  </a:lnTo>
                </a:path>
                <a:path w="8300" h="420" fill="none">
                  <a:moveTo>
                    <a:pt x="5135" y="94"/>
                  </a:moveTo>
                  <a:lnTo>
                    <a:pt x="5135" y="200"/>
                  </a:lnTo>
                </a:path>
                <a:path w="8300" h="420" fill="none">
                  <a:moveTo>
                    <a:pt x="5165" y="94"/>
                  </a:moveTo>
                  <a:lnTo>
                    <a:pt x="5165" y="200"/>
                  </a:lnTo>
                </a:path>
                <a:path w="8300" h="420" fill="none">
                  <a:moveTo>
                    <a:pt x="5135" y="326"/>
                  </a:moveTo>
                  <a:lnTo>
                    <a:pt x="5135" y="220"/>
                  </a:lnTo>
                </a:path>
                <a:path w="8300" h="420" fill="none">
                  <a:moveTo>
                    <a:pt x="5165" y="326"/>
                  </a:moveTo>
                  <a:lnTo>
                    <a:pt x="5165" y="220"/>
                  </a:lnTo>
                </a:path>
                <a:path w="8300" h="420" fill="none">
                  <a:moveTo>
                    <a:pt x="5235" y="94"/>
                  </a:moveTo>
                  <a:lnTo>
                    <a:pt x="5235" y="200"/>
                  </a:lnTo>
                </a:path>
                <a:path w="8300" h="420" fill="none">
                  <a:moveTo>
                    <a:pt x="5265" y="94"/>
                  </a:moveTo>
                  <a:lnTo>
                    <a:pt x="5265" y="200"/>
                  </a:lnTo>
                </a:path>
                <a:path w="8300" h="420" fill="none">
                  <a:moveTo>
                    <a:pt x="5235" y="326"/>
                  </a:moveTo>
                  <a:lnTo>
                    <a:pt x="5235" y="220"/>
                  </a:lnTo>
                </a:path>
                <a:path w="8300" h="420" fill="none">
                  <a:moveTo>
                    <a:pt x="5265" y="326"/>
                  </a:moveTo>
                  <a:lnTo>
                    <a:pt x="5265" y="220"/>
                  </a:lnTo>
                </a:path>
                <a:path w="8300" h="420" fill="none">
                  <a:moveTo>
                    <a:pt x="5335" y="94"/>
                  </a:moveTo>
                  <a:lnTo>
                    <a:pt x="5335" y="200"/>
                  </a:lnTo>
                </a:path>
                <a:path w="8300" h="420" fill="none">
                  <a:moveTo>
                    <a:pt x="5365" y="94"/>
                  </a:moveTo>
                  <a:lnTo>
                    <a:pt x="5365" y="200"/>
                  </a:lnTo>
                </a:path>
                <a:path w="8300" h="420" fill="none">
                  <a:moveTo>
                    <a:pt x="5335" y="326"/>
                  </a:moveTo>
                  <a:lnTo>
                    <a:pt x="5335" y="220"/>
                  </a:lnTo>
                </a:path>
                <a:path w="8300" h="420" fill="none">
                  <a:moveTo>
                    <a:pt x="5365" y="326"/>
                  </a:moveTo>
                  <a:lnTo>
                    <a:pt x="5365" y="220"/>
                  </a:lnTo>
                </a:path>
                <a:path w="8300" h="420" fill="none">
                  <a:moveTo>
                    <a:pt x="5435" y="94"/>
                  </a:moveTo>
                  <a:lnTo>
                    <a:pt x="5435" y="200"/>
                  </a:lnTo>
                </a:path>
                <a:path w="8300" h="420" fill="none">
                  <a:moveTo>
                    <a:pt x="5465" y="94"/>
                  </a:moveTo>
                  <a:lnTo>
                    <a:pt x="5465" y="200"/>
                  </a:lnTo>
                </a:path>
                <a:path w="8300" h="420" fill="none">
                  <a:moveTo>
                    <a:pt x="5435" y="326"/>
                  </a:moveTo>
                  <a:lnTo>
                    <a:pt x="5435" y="220"/>
                  </a:lnTo>
                </a:path>
                <a:path w="8300" h="420" fill="none">
                  <a:moveTo>
                    <a:pt x="5465" y="326"/>
                  </a:moveTo>
                  <a:lnTo>
                    <a:pt x="5465" y="220"/>
                  </a:lnTo>
                </a:path>
                <a:path w="8300" h="420" fill="none">
                  <a:moveTo>
                    <a:pt x="5535" y="94"/>
                  </a:moveTo>
                  <a:lnTo>
                    <a:pt x="5535" y="200"/>
                  </a:lnTo>
                </a:path>
                <a:path w="8300" h="420" fill="none">
                  <a:moveTo>
                    <a:pt x="5565" y="94"/>
                  </a:moveTo>
                  <a:lnTo>
                    <a:pt x="5565" y="200"/>
                  </a:lnTo>
                </a:path>
                <a:path w="8300" h="420" fill="none">
                  <a:moveTo>
                    <a:pt x="5535" y="326"/>
                  </a:moveTo>
                  <a:lnTo>
                    <a:pt x="5535" y="220"/>
                  </a:lnTo>
                </a:path>
                <a:path w="8300" h="420" fill="none">
                  <a:moveTo>
                    <a:pt x="5565" y="326"/>
                  </a:moveTo>
                  <a:lnTo>
                    <a:pt x="5565" y="220"/>
                  </a:lnTo>
                </a:path>
                <a:path w="8300" h="420" fill="none">
                  <a:moveTo>
                    <a:pt x="5635" y="94"/>
                  </a:moveTo>
                  <a:lnTo>
                    <a:pt x="5635" y="200"/>
                  </a:lnTo>
                </a:path>
                <a:path w="8300" h="420" fill="none">
                  <a:moveTo>
                    <a:pt x="5665" y="94"/>
                  </a:moveTo>
                  <a:lnTo>
                    <a:pt x="5665" y="200"/>
                  </a:lnTo>
                </a:path>
                <a:path w="8300" h="420" fill="none">
                  <a:moveTo>
                    <a:pt x="5635" y="326"/>
                  </a:moveTo>
                  <a:lnTo>
                    <a:pt x="5635" y="220"/>
                  </a:lnTo>
                </a:path>
                <a:path w="8300" h="420" fill="none">
                  <a:moveTo>
                    <a:pt x="5665" y="326"/>
                  </a:moveTo>
                  <a:lnTo>
                    <a:pt x="5665" y="220"/>
                  </a:lnTo>
                </a:path>
                <a:path w="8300" h="420" fill="none">
                  <a:moveTo>
                    <a:pt x="5735" y="94"/>
                  </a:moveTo>
                  <a:lnTo>
                    <a:pt x="5735" y="200"/>
                  </a:lnTo>
                </a:path>
                <a:path w="8300" h="420" fill="none">
                  <a:moveTo>
                    <a:pt x="5765" y="94"/>
                  </a:moveTo>
                  <a:lnTo>
                    <a:pt x="5765" y="200"/>
                  </a:lnTo>
                </a:path>
                <a:path w="8300" h="420" fill="none">
                  <a:moveTo>
                    <a:pt x="5735" y="326"/>
                  </a:moveTo>
                  <a:lnTo>
                    <a:pt x="5735" y="220"/>
                  </a:lnTo>
                </a:path>
                <a:path w="8300" h="420" fill="none">
                  <a:moveTo>
                    <a:pt x="5765" y="326"/>
                  </a:moveTo>
                  <a:lnTo>
                    <a:pt x="5765" y="220"/>
                  </a:lnTo>
                </a:path>
                <a:path w="8300" h="420" fill="none">
                  <a:moveTo>
                    <a:pt x="5835" y="94"/>
                  </a:moveTo>
                  <a:lnTo>
                    <a:pt x="5835" y="200"/>
                  </a:lnTo>
                </a:path>
                <a:path w="8300" h="420" fill="none">
                  <a:moveTo>
                    <a:pt x="5865" y="94"/>
                  </a:moveTo>
                  <a:lnTo>
                    <a:pt x="5865" y="200"/>
                  </a:lnTo>
                </a:path>
                <a:path w="8300" h="420" fill="none">
                  <a:moveTo>
                    <a:pt x="5835" y="326"/>
                  </a:moveTo>
                  <a:lnTo>
                    <a:pt x="5835" y="220"/>
                  </a:lnTo>
                </a:path>
                <a:path w="8300" h="420" fill="none">
                  <a:moveTo>
                    <a:pt x="5865" y="326"/>
                  </a:moveTo>
                  <a:lnTo>
                    <a:pt x="5865" y="220"/>
                  </a:lnTo>
                </a:path>
                <a:path w="8300" h="420" fill="none">
                  <a:moveTo>
                    <a:pt x="5935" y="94"/>
                  </a:moveTo>
                  <a:lnTo>
                    <a:pt x="5935" y="200"/>
                  </a:lnTo>
                </a:path>
                <a:path w="8300" h="420" fill="none">
                  <a:moveTo>
                    <a:pt x="5965" y="94"/>
                  </a:moveTo>
                  <a:lnTo>
                    <a:pt x="5965" y="200"/>
                  </a:lnTo>
                </a:path>
                <a:path w="8300" h="420" fill="none">
                  <a:moveTo>
                    <a:pt x="5935" y="326"/>
                  </a:moveTo>
                  <a:lnTo>
                    <a:pt x="5935" y="220"/>
                  </a:lnTo>
                </a:path>
                <a:path w="8300" h="420" fill="none">
                  <a:moveTo>
                    <a:pt x="5965" y="326"/>
                  </a:moveTo>
                  <a:lnTo>
                    <a:pt x="5965" y="220"/>
                  </a:lnTo>
                </a:path>
                <a:path w="8300" h="420" fill="none">
                  <a:moveTo>
                    <a:pt x="6035" y="94"/>
                  </a:moveTo>
                  <a:lnTo>
                    <a:pt x="6035" y="200"/>
                  </a:lnTo>
                </a:path>
                <a:path w="8300" h="420" fill="none">
                  <a:moveTo>
                    <a:pt x="6065" y="94"/>
                  </a:moveTo>
                  <a:lnTo>
                    <a:pt x="6065" y="200"/>
                  </a:lnTo>
                </a:path>
                <a:path w="8300" h="420" fill="none">
                  <a:moveTo>
                    <a:pt x="6035" y="326"/>
                  </a:moveTo>
                  <a:lnTo>
                    <a:pt x="6035" y="220"/>
                  </a:lnTo>
                </a:path>
                <a:path w="8300" h="420" fill="none">
                  <a:moveTo>
                    <a:pt x="6065" y="326"/>
                  </a:moveTo>
                  <a:lnTo>
                    <a:pt x="6065" y="220"/>
                  </a:lnTo>
                </a:path>
                <a:path w="8300" h="420" fill="none">
                  <a:moveTo>
                    <a:pt x="6135" y="94"/>
                  </a:moveTo>
                  <a:lnTo>
                    <a:pt x="6135" y="200"/>
                  </a:lnTo>
                </a:path>
                <a:path w="8300" h="420" fill="none">
                  <a:moveTo>
                    <a:pt x="6165" y="94"/>
                  </a:moveTo>
                  <a:lnTo>
                    <a:pt x="6165" y="200"/>
                  </a:lnTo>
                </a:path>
                <a:path w="8300" h="420" fill="none">
                  <a:moveTo>
                    <a:pt x="6135" y="326"/>
                  </a:moveTo>
                  <a:lnTo>
                    <a:pt x="6135" y="220"/>
                  </a:lnTo>
                </a:path>
                <a:path w="8300" h="420" fill="none">
                  <a:moveTo>
                    <a:pt x="6165" y="326"/>
                  </a:moveTo>
                  <a:lnTo>
                    <a:pt x="6165" y="220"/>
                  </a:lnTo>
                </a:path>
                <a:path w="8300" h="420" fill="none">
                  <a:moveTo>
                    <a:pt x="6235" y="94"/>
                  </a:moveTo>
                  <a:lnTo>
                    <a:pt x="6235" y="200"/>
                  </a:lnTo>
                </a:path>
                <a:path w="8300" h="420" fill="none">
                  <a:moveTo>
                    <a:pt x="6265" y="94"/>
                  </a:moveTo>
                  <a:lnTo>
                    <a:pt x="6265" y="200"/>
                  </a:lnTo>
                </a:path>
                <a:path w="8300" h="420" fill="none">
                  <a:moveTo>
                    <a:pt x="6235" y="326"/>
                  </a:moveTo>
                  <a:lnTo>
                    <a:pt x="6235" y="220"/>
                  </a:lnTo>
                </a:path>
                <a:path w="8300" h="420" fill="none">
                  <a:moveTo>
                    <a:pt x="6265" y="326"/>
                  </a:moveTo>
                  <a:lnTo>
                    <a:pt x="6265" y="220"/>
                  </a:lnTo>
                </a:path>
                <a:path w="8300" h="420" fill="none">
                  <a:moveTo>
                    <a:pt x="6335" y="94"/>
                  </a:moveTo>
                  <a:lnTo>
                    <a:pt x="6335" y="200"/>
                  </a:lnTo>
                </a:path>
                <a:path w="8300" h="420" fill="none">
                  <a:moveTo>
                    <a:pt x="6365" y="94"/>
                  </a:moveTo>
                  <a:lnTo>
                    <a:pt x="6365" y="200"/>
                  </a:lnTo>
                </a:path>
                <a:path w="8300" h="420" fill="none">
                  <a:moveTo>
                    <a:pt x="6335" y="326"/>
                  </a:moveTo>
                  <a:lnTo>
                    <a:pt x="6335" y="220"/>
                  </a:lnTo>
                </a:path>
                <a:path w="8300" h="420" fill="none">
                  <a:moveTo>
                    <a:pt x="6365" y="326"/>
                  </a:moveTo>
                  <a:lnTo>
                    <a:pt x="6365" y="220"/>
                  </a:lnTo>
                </a:path>
                <a:path w="8300" h="420" fill="none">
                  <a:moveTo>
                    <a:pt x="6435" y="94"/>
                  </a:moveTo>
                  <a:lnTo>
                    <a:pt x="6435" y="200"/>
                  </a:lnTo>
                </a:path>
                <a:path w="8300" h="420" fill="none">
                  <a:moveTo>
                    <a:pt x="6465" y="94"/>
                  </a:moveTo>
                  <a:lnTo>
                    <a:pt x="6465" y="200"/>
                  </a:lnTo>
                </a:path>
                <a:path w="8300" h="420" fill="none">
                  <a:moveTo>
                    <a:pt x="6435" y="326"/>
                  </a:moveTo>
                  <a:lnTo>
                    <a:pt x="6435" y="220"/>
                  </a:lnTo>
                </a:path>
                <a:path w="8300" h="420" fill="none">
                  <a:moveTo>
                    <a:pt x="6465" y="326"/>
                  </a:moveTo>
                  <a:lnTo>
                    <a:pt x="6465" y="220"/>
                  </a:lnTo>
                </a:path>
                <a:path w="8300" h="420" fill="none">
                  <a:moveTo>
                    <a:pt x="6535" y="94"/>
                  </a:moveTo>
                  <a:lnTo>
                    <a:pt x="6535" y="200"/>
                  </a:lnTo>
                </a:path>
                <a:path w="8300" h="420" fill="none">
                  <a:moveTo>
                    <a:pt x="6565" y="94"/>
                  </a:moveTo>
                  <a:lnTo>
                    <a:pt x="6565" y="200"/>
                  </a:lnTo>
                </a:path>
                <a:path w="8300" h="420" fill="none">
                  <a:moveTo>
                    <a:pt x="6535" y="326"/>
                  </a:moveTo>
                  <a:lnTo>
                    <a:pt x="6535" y="220"/>
                  </a:lnTo>
                </a:path>
                <a:path w="8300" h="420" fill="none">
                  <a:moveTo>
                    <a:pt x="6565" y="326"/>
                  </a:moveTo>
                  <a:lnTo>
                    <a:pt x="6565" y="220"/>
                  </a:lnTo>
                </a:path>
                <a:path w="8300" h="420" fill="none">
                  <a:moveTo>
                    <a:pt x="6635" y="94"/>
                  </a:moveTo>
                  <a:lnTo>
                    <a:pt x="6635" y="200"/>
                  </a:lnTo>
                </a:path>
                <a:path w="8300" h="420" fill="none">
                  <a:moveTo>
                    <a:pt x="6665" y="94"/>
                  </a:moveTo>
                  <a:lnTo>
                    <a:pt x="6665" y="200"/>
                  </a:lnTo>
                </a:path>
                <a:path w="8300" h="420" fill="none">
                  <a:moveTo>
                    <a:pt x="6635" y="326"/>
                  </a:moveTo>
                  <a:lnTo>
                    <a:pt x="6635" y="220"/>
                  </a:lnTo>
                </a:path>
                <a:path w="8300" h="420" fill="none">
                  <a:moveTo>
                    <a:pt x="6665" y="326"/>
                  </a:moveTo>
                  <a:lnTo>
                    <a:pt x="6665" y="220"/>
                  </a:lnTo>
                </a:path>
                <a:path w="8300" h="420" fill="none">
                  <a:moveTo>
                    <a:pt x="6735" y="94"/>
                  </a:moveTo>
                  <a:lnTo>
                    <a:pt x="6735" y="200"/>
                  </a:lnTo>
                </a:path>
                <a:path w="8300" h="420" fill="none">
                  <a:moveTo>
                    <a:pt x="6765" y="94"/>
                  </a:moveTo>
                  <a:lnTo>
                    <a:pt x="6765" y="200"/>
                  </a:lnTo>
                </a:path>
                <a:path w="8300" h="420" fill="none">
                  <a:moveTo>
                    <a:pt x="6735" y="326"/>
                  </a:moveTo>
                  <a:lnTo>
                    <a:pt x="6735" y="220"/>
                  </a:lnTo>
                </a:path>
                <a:path w="8300" h="420" fill="none">
                  <a:moveTo>
                    <a:pt x="6765" y="326"/>
                  </a:moveTo>
                  <a:lnTo>
                    <a:pt x="6765" y="220"/>
                  </a:lnTo>
                </a:path>
                <a:path w="8300" h="420" fill="none">
                  <a:moveTo>
                    <a:pt x="6835" y="94"/>
                  </a:moveTo>
                  <a:lnTo>
                    <a:pt x="6835" y="200"/>
                  </a:lnTo>
                </a:path>
                <a:path w="8300" h="420" fill="none">
                  <a:moveTo>
                    <a:pt x="6865" y="94"/>
                  </a:moveTo>
                  <a:lnTo>
                    <a:pt x="6865" y="200"/>
                  </a:lnTo>
                </a:path>
                <a:path w="8300" h="420" fill="none">
                  <a:moveTo>
                    <a:pt x="6835" y="326"/>
                  </a:moveTo>
                  <a:lnTo>
                    <a:pt x="6835" y="220"/>
                  </a:lnTo>
                </a:path>
                <a:path w="8300" h="420" fill="none">
                  <a:moveTo>
                    <a:pt x="6865" y="326"/>
                  </a:moveTo>
                  <a:lnTo>
                    <a:pt x="6865" y="220"/>
                  </a:lnTo>
                </a:path>
                <a:path w="8300" h="420" fill="none">
                  <a:moveTo>
                    <a:pt x="6935" y="94"/>
                  </a:moveTo>
                  <a:lnTo>
                    <a:pt x="6935" y="200"/>
                  </a:lnTo>
                </a:path>
                <a:path w="8300" h="420" fill="none">
                  <a:moveTo>
                    <a:pt x="6965" y="94"/>
                  </a:moveTo>
                  <a:lnTo>
                    <a:pt x="6965" y="200"/>
                  </a:lnTo>
                </a:path>
                <a:path w="8300" h="420" fill="none">
                  <a:moveTo>
                    <a:pt x="6935" y="326"/>
                  </a:moveTo>
                  <a:lnTo>
                    <a:pt x="6935" y="220"/>
                  </a:lnTo>
                </a:path>
                <a:path w="8300" h="420" fill="none">
                  <a:moveTo>
                    <a:pt x="6965" y="326"/>
                  </a:moveTo>
                  <a:lnTo>
                    <a:pt x="6965" y="220"/>
                  </a:lnTo>
                </a:path>
                <a:path w="8300" h="420" fill="none">
                  <a:moveTo>
                    <a:pt x="7035" y="94"/>
                  </a:moveTo>
                  <a:lnTo>
                    <a:pt x="7035" y="200"/>
                  </a:lnTo>
                </a:path>
                <a:path w="8300" h="420" fill="none">
                  <a:moveTo>
                    <a:pt x="7065" y="94"/>
                  </a:moveTo>
                  <a:lnTo>
                    <a:pt x="7065" y="200"/>
                  </a:lnTo>
                </a:path>
                <a:path w="8300" h="420" fill="none">
                  <a:moveTo>
                    <a:pt x="7035" y="326"/>
                  </a:moveTo>
                  <a:lnTo>
                    <a:pt x="7035" y="220"/>
                  </a:lnTo>
                </a:path>
                <a:path w="8300" h="420" fill="none">
                  <a:moveTo>
                    <a:pt x="7065" y="326"/>
                  </a:moveTo>
                  <a:lnTo>
                    <a:pt x="7065" y="220"/>
                  </a:lnTo>
                </a:path>
                <a:path w="8300" h="420" fill="none">
                  <a:moveTo>
                    <a:pt x="7135" y="94"/>
                  </a:moveTo>
                  <a:lnTo>
                    <a:pt x="7135" y="200"/>
                  </a:lnTo>
                </a:path>
                <a:path w="8300" h="420" fill="none">
                  <a:moveTo>
                    <a:pt x="7165" y="94"/>
                  </a:moveTo>
                  <a:lnTo>
                    <a:pt x="7165" y="200"/>
                  </a:lnTo>
                </a:path>
                <a:path w="8300" h="420" fill="none">
                  <a:moveTo>
                    <a:pt x="7135" y="326"/>
                  </a:moveTo>
                  <a:lnTo>
                    <a:pt x="7135" y="220"/>
                  </a:lnTo>
                </a:path>
                <a:path w="8300" h="420" fill="none">
                  <a:moveTo>
                    <a:pt x="7165" y="326"/>
                  </a:moveTo>
                  <a:lnTo>
                    <a:pt x="7165" y="220"/>
                  </a:lnTo>
                </a:path>
                <a:path w="8300" h="420" fill="none">
                  <a:moveTo>
                    <a:pt x="7235" y="94"/>
                  </a:moveTo>
                  <a:lnTo>
                    <a:pt x="7235" y="200"/>
                  </a:lnTo>
                </a:path>
                <a:path w="8300" h="420" fill="none">
                  <a:moveTo>
                    <a:pt x="7265" y="94"/>
                  </a:moveTo>
                  <a:lnTo>
                    <a:pt x="7265" y="200"/>
                  </a:lnTo>
                </a:path>
                <a:path w="8300" h="420" fill="none">
                  <a:moveTo>
                    <a:pt x="7235" y="326"/>
                  </a:moveTo>
                  <a:lnTo>
                    <a:pt x="7235" y="220"/>
                  </a:lnTo>
                </a:path>
                <a:path w="8300" h="420" fill="none">
                  <a:moveTo>
                    <a:pt x="7265" y="326"/>
                  </a:moveTo>
                  <a:lnTo>
                    <a:pt x="7265" y="220"/>
                  </a:lnTo>
                </a:path>
                <a:path w="8300" h="420" fill="none">
                  <a:moveTo>
                    <a:pt x="7335" y="94"/>
                  </a:moveTo>
                  <a:lnTo>
                    <a:pt x="7335" y="200"/>
                  </a:lnTo>
                </a:path>
                <a:path w="8300" h="420" fill="none">
                  <a:moveTo>
                    <a:pt x="7365" y="94"/>
                  </a:moveTo>
                  <a:lnTo>
                    <a:pt x="7365" y="200"/>
                  </a:lnTo>
                </a:path>
                <a:path w="8300" h="420" fill="none">
                  <a:moveTo>
                    <a:pt x="7335" y="326"/>
                  </a:moveTo>
                  <a:lnTo>
                    <a:pt x="7335" y="220"/>
                  </a:lnTo>
                </a:path>
                <a:path w="8300" h="420" fill="none">
                  <a:moveTo>
                    <a:pt x="7365" y="326"/>
                  </a:moveTo>
                  <a:lnTo>
                    <a:pt x="7365" y="220"/>
                  </a:lnTo>
                </a:path>
                <a:path w="8300" h="420" fill="none">
                  <a:moveTo>
                    <a:pt x="7435" y="94"/>
                  </a:moveTo>
                  <a:lnTo>
                    <a:pt x="7435" y="200"/>
                  </a:lnTo>
                </a:path>
                <a:path w="8300" h="420" fill="none">
                  <a:moveTo>
                    <a:pt x="7465" y="94"/>
                  </a:moveTo>
                  <a:lnTo>
                    <a:pt x="7465" y="200"/>
                  </a:lnTo>
                </a:path>
                <a:path w="8300" h="420" fill="none">
                  <a:moveTo>
                    <a:pt x="7435" y="326"/>
                  </a:moveTo>
                  <a:lnTo>
                    <a:pt x="7435" y="220"/>
                  </a:lnTo>
                </a:path>
                <a:path w="8300" h="420" fill="none">
                  <a:moveTo>
                    <a:pt x="7465" y="326"/>
                  </a:moveTo>
                  <a:lnTo>
                    <a:pt x="7465" y="220"/>
                  </a:lnTo>
                </a:path>
                <a:path w="8300" h="420" fill="none">
                  <a:moveTo>
                    <a:pt x="7535" y="94"/>
                  </a:moveTo>
                  <a:lnTo>
                    <a:pt x="7535" y="200"/>
                  </a:lnTo>
                </a:path>
                <a:path w="8300" h="420" fill="none">
                  <a:moveTo>
                    <a:pt x="7565" y="94"/>
                  </a:moveTo>
                  <a:lnTo>
                    <a:pt x="7565" y="200"/>
                  </a:lnTo>
                </a:path>
                <a:path w="8300" h="420" fill="none">
                  <a:moveTo>
                    <a:pt x="7535" y="326"/>
                  </a:moveTo>
                  <a:lnTo>
                    <a:pt x="7535" y="220"/>
                  </a:lnTo>
                </a:path>
                <a:path w="8300" h="420" fill="none">
                  <a:moveTo>
                    <a:pt x="7565" y="326"/>
                  </a:moveTo>
                  <a:lnTo>
                    <a:pt x="7565" y="220"/>
                  </a:lnTo>
                </a:path>
                <a:path w="8300" h="420" fill="none">
                  <a:moveTo>
                    <a:pt x="7635" y="94"/>
                  </a:moveTo>
                  <a:lnTo>
                    <a:pt x="7635" y="200"/>
                  </a:lnTo>
                </a:path>
                <a:path w="8300" h="420" fill="none">
                  <a:moveTo>
                    <a:pt x="7665" y="94"/>
                  </a:moveTo>
                  <a:lnTo>
                    <a:pt x="7665" y="200"/>
                  </a:lnTo>
                </a:path>
                <a:path w="8300" h="420" fill="none">
                  <a:moveTo>
                    <a:pt x="7635" y="326"/>
                  </a:moveTo>
                  <a:lnTo>
                    <a:pt x="7635" y="220"/>
                  </a:lnTo>
                </a:path>
                <a:path w="8300" h="420" fill="none">
                  <a:moveTo>
                    <a:pt x="7665" y="326"/>
                  </a:moveTo>
                  <a:lnTo>
                    <a:pt x="7665" y="220"/>
                  </a:lnTo>
                </a:path>
                <a:path w="8300" h="420" fill="none">
                  <a:moveTo>
                    <a:pt x="7735" y="94"/>
                  </a:moveTo>
                  <a:lnTo>
                    <a:pt x="7735" y="200"/>
                  </a:lnTo>
                </a:path>
                <a:path w="8300" h="420" fill="none">
                  <a:moveTo>
                    <a:pt x="7765" y="94"/>
                  </a:moveTo>
                  <a:lnTo>
                    <a:pt x="7765" y="200"/>
                  </a:lnTo>
                </a:path>
                <a:path w="8300" h="420" fill="none">
                  <a:moveTo>
                    <a:pt x="7735" y="326"/>
                  </a:moveTo>
                  <a:lnTo>
                    <a:pt x="7735" y="220"/>
                  </a:lnTo>
                </a:path>
                <a:path w="8300" h="420" fill="none">
                  <a:moveTo>
                    <a:pt x="7765" y="326"/>
                  </a:moveTo>
                  <a:lnTo>
                    <a:pt x="7765" y="220"/>
                  </a:lnTo>
                </a:path>
                <a:path w="8300" h="420" fill="none">
                  <a:moveTo>
                    <a:pt x="7835" y="94"/>
                  </a:moveTo>
                  <a:lnTo>
                    <a:pt x="7835" y="200"/>
                  </a:lnTo>
                </a:path>
                <a:path w="8300" h="420" fill="none">
                  <a:moveTo>
                    <a:pt x="7865" y="94"/>
                  </a:moveTo>
                  <a:lnTo>
                    <a:pt x="7865" y="200"/>
                  </a:lnTo>
                </a:path>
                <a:path w="8300" h="420" fill="none">
                  <a:moveTo>
                    <a:pt x="7835" y="326"/>
                  </a:moveTo>
                  <a:lnTo>
                    <a:pt x="7835" y="220"/>
                  </a:lnTo>
                </a:path>
                <a:path w="8300" h="420" fill="none">
                  <a:moveTo>
                    <a:pt x="7865" y="326"/>
                  </a:moveTo>
                  <a:lnTo>
                    <a:pt x="7865" y="220"/>
                  </a:lnTo>
                </a:path>
                <a:path w="8300" h="420" fill="none">
                  <a:moveTo>
                    <a:pt x="7935" y="94"/>
                  </a:moveTo>
                  <a:lnTo>
                    <a:pt x="7935" y="200"/>
                  </a:lnTo>
                </a:path>
                <a:path w="8300" h="420" fill="none">
                  <a:moveTo>
                    <a:pt x="7965" y="94"/>
                  </a:moveTo>
                  <a:lnTo>
                    <a:pt x="7965" y="200"/>
                  </a:lnTo>
                </a:path>
                <a:path w="8300" h="420" fill="none">
                  <a:moveTo>
                    <a:pt x="7935" y="326"/>
                  </a:moveTo>
                  <a:lnTo>
                    <a:pt x="7935" y="220"/>
                  </a:lnTo>
                </a:path>
                <a:path w="8300" h="420" fill="none">
                  <a:moveTo>
                    <a:pt x="7965" y="326"/>
                  </a:moveTo>
                  <a:lnTo>
                    <a:pt x="7965" y="220"/>
                  </a:lnTo>
                </a:path>
                <a:path w="8300" h="420" fill="none">
                  <a:moveTo>
                    <a:pt x="8035" y="94"/>
                  </a:moveTo>
                  <a:lnTo>
                    <a:pt x="8035" y="200"/>
                  </a:lnTo>
                </a:path>
                <a:path w="8300" h="420" fill="none">
                  <a:moveTo>
                    <a:pt x="8065" y="94"/>
                  </a:moveTo>
                  <a:lnTo>
                    <a:pt x="8065" y="200"/>
                  </a:lnTo>
                </a:path>
                <a:path w="8300" h="420" fill="none">
                  <a:moveTo>
                    <a:pt x="8035" y="326"/>
                  </a:moveTo>
                  <a:lnTo>
                    <a:pt x="8035" y="220"/>
                  </a:lnTo>
                </a:path>
                <a:path w="8300" h="420" fill="none">
                  <a:moveTo>
                    <a:pt x="8065" y="326"/>
                  </a:moveTo>
                  <a:lnTo>
                    <a:pt x="8065" y="220"/>
                  </a:lnTo>
                </a:path>
                <a:path w="8300" h="420" fill="none">
                  <a:moveTo>
                    <a:pt x="8135" y="94"/>
                  </a:moveTo>
                  <a:lnTo>
                    <a:pt x="8135" y="200"/>
                  </a:lnTo>
                </a:path>
                <a:path w="8300" h="420" fill="none">
                  <a:moveTo>
                    <a:pt x="8165" y="94"/>
                  </a:moveTo>
                  <a:lnTo>
                    <a:pt x="8165" y="200"/>
                  </a:lnTo>
                </a:path>
                <a:path w="8300" h="420" fill="none">
                  <a:moveTo>
                    <a:pt x="8135" y="326"/>
                  </a:moveTo>
                  <a:lnTo>
                    <a:pt x="8135" y="220"/>
                  </a:lnTo>
                </a:path>
                <a:path w="8300" h="420" fill="none">
                  <a:moveTo>
                    <a:pt x="8165" y="326"/>
                  </a:moveTo>
                  <a:lnTo>
                    <a:pt x="8165" y="220"/>
                  </a:lnTo>
                </a:path>
                <a:path w="8300" h="420" fill="none">
                  <a:moveTo>
                    <a:pt x="8235" y="94"/>
                  </a:moveTo>
                  <a:lnTo>
                    <a:pt x="8235" y="200"/>
                  </a:lnTo>
                </a:path>
                <a:path w="8300" h="420" fill="none">
                  <a:moveTo>
                    <a:pt x="8265" y="94"/>
                  </a:moveTo>
                  <a:lnTo>
                    <a:pt x="8265" y="200"/>
                  </a:lnTo>
                </a:path>
                <a:path w="8300" h="420" fill="none">
                  <a:moveTo>
                    <a:pt x="8235" y="326"/>
                  </a:moveTo>
                  <a:lnTo>
                    <a:pt x="8235" y="220"/>
                  </a:lnTo>
                </a:path>
                <a:path w="8300" h="420" fill="none">
                  <a:moveTo>
                    <a:pt x="8265" y="326"/>
                  </a:moveTo>
                  <a:lnTo>
                    <a:pt x="8265" y="220"/>
                  </a:lnTo>
                </a:path>
              </a:pathLst>
            </a:custGeom>
            <a:noFill/>
            <a:ln w="9525" cap="rnd">
              <a:solidFill>
                <a:srgbClr val="A49887"/>
              </a:solidFill>
              <a:round/>
            </a:ln>
          </p:spPr>
        </p:sp>
      </p:grpSp>
      <p:grpSp>
        <p:nvGrpSpPr>
          <p:cNvPr id="8" name="LDL"/>
          <p:cNvGrpSpPr/>
          <p:nvPr/>
        </p:nvGrpSpPr>
        <p:grpSpPr>
          <a:xfrm>
            <a:off x="914400" y="868680"/>
            <a:ext cx="777240" cy="777240"/>
            <a:chOff x="914400" y="868680"/>
            <a:chExt cx="777240" cy="777240"/>
          </a:xfrm>
        </p:grpSpPr>
        <p:sp>
          <p:nvSpPr>
            <p:cNvPr id="9" name="Forma 8"/>
            <p:cNvSpPr/>
            <p:nvPr/>
          </p:nvSpPr>
          <p:spPr>
            <a:xfrm>
              <a:off x="914400" y="868680"/>
              <a:ext cx="777240" cy="77724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10" name="Forma 9"/>
            <p:cNvSpPr/>
            <p:nvPr/>
          </p:nvSpPr>
          <p:spPr>
            <a:xfrm>
              <a:off x="914400" y="868680"/>
              <a:ext cx="777240" cy="77724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1" y="577"/>
                  </a:moveTo>
                  <a:cubicBezTo>
                    <a:pt x="991" y="592"/>
                    <a:pt x="978" y="605"/>
                    <a:pt x="963" y="605"/>
                  </a:cubicBezTo>
                  <a:cubicBezTo>
                    <a:pt x="947" y="605"/>
                    <a:pt x="935" y="592"/>
                    <a:pt x="935" y="577"/>
                  </a:cubicBezTo>
                  <a:cubicBezTo>
                    <a:pt x="935" y="561"/>
                    <a:pt x="947" y="549"/>
                    <a:pt x="963" y="549"/>
                  </a:cubicBezTo>
                  <a:cubicBezTo>
                    <a:pt x="978" y="549"/>
                    <a:pt x="991" y="561"/>
                    <a:pt x="991" y="577"/>
                  </a:cubicBezTo>
                  <a:close/>
                  <a:moveTo>
                    <a:pt x="972" y="652"/>
                  </a:moveTo>
                  <a:cubicBezTo>
                    <a:pt x="972" y="667"/>
                    <a:pt x="959" y="680"/>
                    <a:pt x="944" y="680"/>
                  </a:cubicBezTo>
                  <a:cubicBezTo>
                    <a:pt x="928" y="680"/>
                    <a:pt x="916" y="667"/>
                    <a:pt x="916" y="652"/>
                  </a:cubicBezTo>
                  <a:cubicBezTo>
                    <a:pt x="916" y="636"/>
                    <a:pt x="928" y="624"/>
                    <a:pt x="944" y="624"/>
                  </a:cubicBezTo>
                  <a:cubicBezTo>
                    <a:pt x="959" y="624"/>
                    <a:pt x="972" y="636"/>
                    <a:pt x="972" y="652"/>
                  </a:cubicBezTo>
                  <a:close/>
                  <a:moveTo>
                    <a:pt x="941" y="723"/>
                  </a:moveTo>
                  <a:cubicBezTo>
                    <a:pt x="941" y="738"/>
                    <a:pt x="928" y="751"/>
                    <a:pt x="913" y="751"/>
                  </a:cubicBezTo>
                  <a:cubicBezTo>
                    <a:pt x="897" y="751"/>
                    <a:pt x="885" y="738"/>
                    <a:pt x="885" y="723"/>
                  </a:cubicBezTo>
                  <a:cubicBezTo>
                    <a:pt x="885" y="707"/>
                    <a:pt x="897" y="695"/>
                    <a:pt x="913" y="695"/>
                  </a:cubicBezTo>
                  <a:cubicBezTo>
                    <a:pt x="928" y="695"/>
                    <a:pt x="941" y="707"/>
                    <a:pt x="941" y="723"/>
                  </a:cubicBezTo>
                  <a:close/>
                  <a:moveTo>
                    <a:pt x="898" y="788"/>
                  </a:moveTo>
                  <a:cubicBezTo>
                    <a:pt x="898" y="803"/>
                    <a:pt x="885" y="816"/>
                    <a:pt x="870" y="816"/>
                  </a:cubicBezTo>
                  <a:cubicBezTo>
                    <a:pt x="854" y="816"/>
                    <a:pt x="842" y="803"/>
                    <a:pt x="842" y="788"/>
                  </a:cubicBezTo>
                  <a:cubicBezTo>
                    <a:pt x="842" y="772"/>
                    <a:pt x="854" y="760"/>
                    <a:pt x="870" y="760"/>
                  </a:cubicBezTo>
                  <a:cubicBezTo>
                    <a:pt x="885" y="760"/>
                    <a:pt x="898" y="772"/>
                    <a:pt x="898" y="788"/>
                  </a:cubicBezTo>
                  <a:close/>
                  <a:moveTo>
                    <a:pt x="846" y="845"/>
                  </a:moveTo>
                  <a:cubicBezTo>
                    <a:pt x="846" y="860"/>
                    <a:pt x="833" y="873"/>
                    <a:pt x="818" y="873"/>
                  </a:cubicBezTo>
                  <a:cubicBezTo>
                    <a:pt x="802" y="873"/>
                    <a:pt x="790" y="860"/>
                    <a:pt x="790" y="845"/>
                  </a:cubicBezTo>
                  <a:cubicBezTo>
                    <a:pt x="790" y="829"/>
                    <a:pt x="802" y="817"/>
                    <a:pt x="818" y="817"/>
                  </a:cubicBezTo>
                  <a:cubicBezTo>
                    <a:pt x="833" y="817"/>
                    <a:pt x="846" y="829"/>
                    <a:pt x="846" y="845"/>
                  </a:cubicBezTo>
                  <a:close/>
                  <a:moveTo>
                    <a:pt x="785" y="893"/>
                  </a:moveTo>
                  <a:cubicBezTo>
                    <a:pt x="785" y="908"/>
                    <a:pt x="772" y="921"/>
                    <a:pt x="757" y="921"/>
                  </a:cubicBezTo>
                  <a:cubicBezTo>
                    <a:pt x="741" y="921"/>
                    <a:pt x="729" y="908"/>
                    <a:pt x="729" y="893"/>
                  </a:cubicBezTo>
                  <a:cubicBezTo>
                    <a:pt x="729" y="877"/>
                    <a:pt x="741" y="865"/>
                    <a:pt x="757" y="865"/>
                  </a:cubicBezTo>
                  <a:cubicBezTo>
                    <a:pt x="772" y="865"/>
                    <a:pt x="785" y="877"/>
                    <a:pt x="785" y="893"/>
                  </a:cubicBezTo>
                  <a:close/>
                  <a:moveTo>
                    <a:pt x="716" y="930"/>
                  </a:moveTo>
                  <a:cubicBezTo>
                    <a:pt x="716" y="945"/>
                    <a:pt x="703" y="958"/>
                    <a:pt x="688" y="958"/>
                  </a:cubicBezTo>
                  <a:cubicBezTo>
                    <a:pt x="672" y="958"/>
                    <a:pt x="660" y="945"/>
                    <a:pt x="660" y="930"/>
                  </a:cubicBezTo>
                  <a:cubicBezTo>
                    <a:pt x="660" y="914"/>
                    <a:pt x="672" y="902"/>
                    <a:pt x="688" y="902"/>
                  </a:cubicBezTo>
                  <a:cubicBezTo>
                    <a:pt x="703" y="902"/>
                    <a:pt x="716" y="914"/>
                    <a:pt x="716" y="930"/>
                  </a:cubicBezTo>
                  <a:close/>
                  <a:moveTo>
                    <a:pt x="643" y="955"/>
                  </a:moveTo>
                  <a:cubicBezTo>
                    <a:pt x="643" y="970"/>
                    <a:pt x="630" y="983"/>
                    <a:pt x="615" y="983"/>
                  </a:cubicBezTo>
                  <a:cubicBezTo>
                    <a:pt x="599" y="983"/>
                    <a:pt x="587" y="970"/>
                    <a:pt x="587" y="955"/>
                  </a:cubicBezTo>
                  <a:cubicBezTo>
                    <a:pt x="587" y="939"/>
                    <a:pt x="599" y="927"/>
                    <a:pt x="615" y="927"/>
                  </a:cubicBezTo>
                  <a:cubicBezTo>
                    <a:pt x="630" y="927"/>
                    <a:pt x="643" y="939"/>
                    <a:pt x="643" y="955"/>
                  </a:cubicBezTo>
                  <a:close/>
                  <a:moveTo>
                    <a:pt x="566" y="968"/>
                  </a:moveTo>
                  <a:cubicBezTo>
                    <a:pt x="566" y="983"/>
                    <a:pt x="553" y="996"/>
                    <a:pt x="538" y="996"/>
                  </a:cubicBezTo>
                  <a:cubicBezTo>
                    <a:pt x="522" y="996"/>
                    <a:pt x="510" y="983"/>
                    <a:pt x="510" y="968"/>
                  </a:cubicBezTo>
                  <a:cubicBezTo>
                    <a:pt x="510" y="952"/>
                    <a:pt x="522" y="940"/>
                    <a:pt x="538" y="940"/>
                  </a:cubicBezTo>
                  <a:cubicBezTo>
                    <a:pt x="553" y="940"/>
                    <a:pt x="566" y="952"/>
                    <a:pt x="566" y="968"/>
                  </a:cubicBezTo>
                  <a:close/>
                  <a:moveTo>
                    <a:pt x="489" y="968"/>
                  </a:moveTo>
                  <a:cubicBezTo>
                    <a:pt x="489" y="983"/>
                    <a:pt x="476" y="996"/>
                    <a:pt x="461" y="996"/>
                  </a:cubicBezTo>
                  <a:cubicBezTo>
                    <a:pt x="445" y="996"/>
                    <a:pt x="433" y="983"/>
                    <a:pt x="433" y="968"/>
                  </a:cubicBezTo>
                  <a:cubicBezTo>
                    <a:pt x="433" y="952"/>
                    <a:pt x="445" y="940"/>
                    <a:pt x="461" y="940"/>
                  </a:cubicBezTo>
                  <a:cubicBezTo>
                    <a:pt x="476" y="940"/>
                    <a:pt x="489" y="952"/>
                    <a:pt x="489" y="968"/>
                  </a:cubicBezTo>
                  <a:close/>
                  <a:moveTo>
                    <a:pt x="412" y="955"/>
                  </a:moveTo>
                  <a:cubicBezTo>
                    <a:pt x="412" y="970"/>
                    <a:pt x="399" y="983"/>
                    <a:pt x="384" y="983"/>
                  </a:cubicBezTo>
                  <a:cubicBezTo>
                    <a:pt x="368" y="983"/>
                    <a:pt x="356" y="970"/>
                    <a:pt x="356" y="955"/>
                  </a:cubicBezTo>
                  <a:cubicBezTo>
                    <a:pt x="356" y="939"/>
                    <a:pt x="368" y="927"/>
                    <a:pt x="384" y="927"/>
                  </a:cubicBezTo>
                  <a:cubicBezTo>
                    <a:pt x="399" y="927"/>
                    <a:pt x="412" y="939"/>
                    <a:pt x="412" y="955"/>
                  </a:cubicBezTo>
                  <a:close/>
                  <a:moveTo>
                    <a:pt x="339" y="930"/>
                  </a:moveTo>
                  <a:cubicBezTo>
                    <a:pt x="339" y="945"/>
                    <a:pt x="326" y="958"/>
                    <a:pt x="311" y="958"/>
                  </a:cubicBezTo>
                  <a:cubicBezTo>
                    <a:pt x="295" y="958"/>
                    <a:pt x="283" y="945"/>
                    <a:pt x="283" y="930"/>
                  </a:cubicBezTo>
                  <a:cubicBezTo>
                    <a:pt x="283" y="914"/>
                    <a:pt x="295" y="902"/>
                    <a:pt x="311" y="902"/>
                  </a:cubicBezTo>
                  <a:cubicBezTo>
                    <a:pt x="326" y="902"/>
                    <a:pt x="339" y="914"/>
                    <a:pt x="339" y="930"/>
                  </a:cubicBezTo>
                  <a:close/>
                  <a:moveTo>
                    <a:pt x="270" y="893"/>
                  </a:moveTo>
                  <a:cubicBezTo>
                    <a:pt x="270" y="908"/>
                    <a:pt x="257" y="921"/>
                    <a:pt x="242" y="921"/>
                  </a:cubicBezTo>
                  <a:cubicBezTo>
                    <a:pt x="226" y="921"/>
                    <a:pt x="214" y="908"/>
                    <a:pt x="214" y="893"/>
                  </a:cubicBezTo>
                  <a:cubicBezTo>
                    <a:pt x="214" y="877"/>
                    <a:pt x="226" y="865"/>
                    <a:pt x="242" y="865"/>
                  </a:cubicBezTo>
                  <a:cubicBezTo>
                    <a:pt x="257" y="865"/>
                    <a:pt x="270" y="877"/>
                    <a:pt x="270" y="893"/>
                  </a:cubicBezTo>
                  <a:close/>
                  <a:moveTo>
                    <a:pt x="209" y="845"/>
                  </a:moveTo>
                  <a:cubicBezTo>
                    <a:pt x="209" y="860"/>
                    <a:pt x="196" y="873"/>
                    <a:pt x="181" y="873"/>
                  </a:cubicBezTo>
                  <a:cubicBezTo>
                    <a:pt x="165" y="873"/>
                    <a:pt x="153" y="860"/>
                    <a:pt x="153" y="845"/>
                  </a:cubicBezTo>
                  <a:cubicBezTo>
                    <a:pt x="153" y="829"/>
                    <a:pt x="165" y="817"/>
                    <a:pt x="181" y="817"/>
                  </a:cubicBezTo>
                  <a:cubicBezTo>
                    <a:pt x="196" y="817"/>
                    <a:pt x="209" y="829"/>
                    <a:pt x="209" y="845"/>
                  </a:cubicBezTo>
                  <a:close/>
                  <a:moveTo>
                    <a:pt x="157" y="788"/>
                  </a:moveTo>
                  <a:cubicBezTo>
                    <a:pt x="157" y="803"/>
                    <a:pt x="144" y="816"/>
                    <a:pt x="129" y="816"/>
                  </a:cubicBezTo>
                  <a:cubicBezTo>
                    <a:pt x="113" y="816"/>
                    <a:pt x="101" y="803"/>
                    <a:pt x="101" y="788"/>
                  </a:cubicBezTo>
                  <a:cubicBezTo>
                    <a:pt x="101" y="772"/>
                    <a:pt x="113" y="760"/>
                    <a:pt x="129" y="760"/>
                  </a:cubicBezTo>
                  <a:cubicBezTo>
                    <a:pt x="144" y="760"/>
                    <a:pt x="157" y="772"/>
                    <a:pt x="157" y="788"/>
                  </a:cubicBezTo>
                  <a:close/>
                  <a:moveTo>
                    <a:pt x="114" y="723"/>
                  </a:moveTo>
                  <a:cubicBezTo>
                    <a:pt x="114" y="738"/>
                    <a:pt x="101" y="751"/>
                    <a:pt x="86" y="751"/>
                  </a:cubicBezTo>
                  <a:cubicBezTo>
                    <a:pt x="70" y="751"/>
                    <a:pt x="58" y="738"/>
                    <a:pt x="58" y="723"/>
                  </a:cubicBezTo>
                  <a:cubicBezTo>
                    <a:pt x="58" y="707"/>
                    <a:pt x="70" y="695"/>
                    <a:pt x="86" y="695"/>
                  </a:cubicBezTo>
                  <a:cubicBezTo>
                    <a:pt x="101" y="695"/>
                    <a:pt x="114" y="707"/>
                    <a:pt x="114" y="723"/>
                  </a:cubicBezTo>
                  <a:close/>
                  <a:moveTo>
                    <a:pt x="83" y="652"/>
                  </a:moveTo>
                  <a:cubicBezTo>
                    <a:pt x="83" y="667"/>
                    <a:pt x="70" y="680"/>
                    <a:pt x="55" y="680"/>
                  </a:cubicBezTo>
                  <a:cubicBezTo>
                    <a:pt x="39" y="680"/>
                    <a:pt x="27" y="667"/>
                    <a:pt x="27" y="652"/>
                  </a:cubicBezTo>
                  <a:cubicBezTo>
                    <a:pt x="27" y="636"/>
                    <a:pt x="39" y="624"/>
                    <a:pt x="55" y="624"/>
                  </a:cubicBezTo>
                  <a:cubicBezTo>
                    <a:pt x="70" y="624"/>
                    <a:pt x="83" y="636"/>
                    <a:pt x="83" y="652"/>
                  </a:cubicBezTo>
                  <a:close/>
                  <a:moveTo>
                    <a:pt x="64" y="577"/>
                  </a:moveTo>
                  <a:cubicBezTo>
                    <a:pt x="64" y="592"/>
                    <a:pt x="51" y="605"/>
                    <a:pt x="36" y="605"/>
                  </a:cubicBezTo>
                  <a:cubicBezTo>
                    <a:pt x="20" y="605"/>
                    <a:pt x="8" y="592"/>
                    <a:pt x="8" y="577"/>
                  </a:cubicBezTo>
                  <a:cubicBezTo>
                    <a:pt x="8" y="561"/>
                    <a:pt x="20" y="549"/>
                    <a:pt x="36" y="549"/>
                  </a:cubicBezTo>
                  <a:cubicBezTo>
                    <a:pt x="51" y="549"/>
                    <a:pt x="64" y="561"/>
                    <a:pt x="64" y="577"/>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4" y="422"/>
                  </a:moveTo>
                  <a:cubicBezTo>
                    <a:pt x="64" y="437"/>
                    <a:pt x="51" y="450"/>
                    <a:pt x="36" y="450"/>
                  </a:cubicBezTo>
                  <a:cubicBezTo>
                    <a:pt x="20" y="450"/>
                    <a:pt x="8" y="437"/>
                    <a:pt x="8" y="422"/>
                  </a:cubicBezTo>
                  <a:cubicBezTo>
                    <a:pt x="8" y="406"/>
                    <a:pt x="20" y="394"/>
                    <a:pt x="36" y="394"/>
                  </a:cubicBezTo>
                  <a:cubicBezTo>
                    <a:pt x="51" y="394"/>
                    <a:pt x="64" y="406"/>
                    <a:pt x="64" y="422"/>
                  </a:cubicBezTo>
                  <a:close/>
                  <a:moveTo>
                    <a:pt x="83" y="347"/>
                  </a:moveTo>
                  <a:cubicBezTo>
                    <a:pt x="83" y="362"/>
                    <a:pt x="70" y="375"/>
                    <a:pt x="55" y="375"/>
                  </a:cubicBezTo>
                  <a:cubicBezTo>
                    <a:pt x="39" y="375"/>
                    <a:pt x="27" y="362"/>
                    <a:pt x="27" y="347"/>
                  </a:cubicBezTo>
                  <a:cubicBezTo>
                    <a:pt x="27" y="331"/>
                    <a:pt x="39" y="319"/>
                    <a:pt x="55" y="319"/>
                  </a:cubicBezTo>
                  <a:cubicBezTo>
                    <a:pt x="70" y="319"/>
                    <a:pt x="83" y="331"/>
                    <a:pt x="83" y="347"/>
                  </a:cubicBezTo>
                  <a:close/>
                  <a:moveTo>
                    <a:pt x="114" y="276"/>
                  </a:moveTo>
                  <a:cubicBezTo>
                    <a:pt x="114" y="291"/>
                    <a:pt x="101" y="304"/>
                    <a:pt x="86" y="304"/>
                  </a:cubicBezTo>
                  <a:cubicBezTo>
                    <a:pt x="70" y="304"/>
                    <a:pt x="58" y="291"/>
                    <a:pt x="58" y="276"/>
                  </a:cubicBezTo>
                  <a:cubicBezTo>
                    <a:pt x="58" y="260"/>
                    <a:pt x="70" y="248"/>
                    <a:pt x="86" y="248"/>
                  </a:cubicBezTo>
                  <a:cubicBezTo>
                    <a:pt x="101" y="248"/>
                    <a:pt x="114" y="260"/>
                    <a:pt x="114" y="276"/>
                  </a:cubicBezTo>
                  <a:close/>
                  <a:moveTo>
                    <a:pt x="157" y="211"/>
                  </a:moveTo>
                  <a:cubicBezTo>
                    <a:pt x="157" y="226"/>
                    <a:pt x="144" y="239"/>
                    <a:pt x="129" y="239"/>
                  </a:cubicBezTo>
                  <a:cubicBezTo>
                    <a:pt x="113" y="239"/>
                    <a:pt x="101" y="226"/>
                    <a:pt x="101" y="211"/>
                  </a:cubicBezTo>
                  <a:cubicBezTo>
                    <a:pt x="101" y="195"/>
                    <a:pt x="113" y="183"/>
                    <a:pt x="129" y="183"/>
                  </a:cubicBezTo>
                  <a:cubicBezTo>
                    <a:pt x="144" y="183"/>
                    <a:pt x="157" y="195"/>
                    <a:pt x="157" y="211"/>
                  </a:cubicBezTo>
                  <a:close/>
                  <a:moveTo>
                    <a:pt x="209" y="154"/>
                  </a:moveTo>
                  <a:cubicBezTo>
                    <a:pt x="209" y="169"/>
                    <a:pt x="196" y="182"/>
                    <a:pt x="181" y="182"/>
                  </a:cubicBezTo>
                  <a:cubicBezTo>
                    <a:pt x="165" y="182"/>
                    <a:pt x="153" y="169"/>
                    <a:pt x="153" y="154"/>
                  </a:cubicBezTo>
                  <a:cubicBezTo>
                    <a:pt x="153" y="138"/>
                    <a:pt x="165" y="126"/>
                    <a:pt x="181" y="126"/>
                  </a:cubicBezTo>
                  <a:cubicBezTo>
                    <a:pt x="196" y="126"/>
                    <a:pt x="209" y="138"/>
                    <a:pt x="209" y="154"/>
                  </a:cubicBezTo>
                  <a:close/>
                  <a:moveTo>
                    <a:pt x="270" y="106"/>
                  </a:moveTo>
                  <a:cubicBezTo>
                    <a:pt x="270" y="121"/>
                    <a:pt x="257" y="134"/>
                    <a:pt x="242" y="134"/>
                  </a:cubicBezTo>
                  <a:cubicBezTo>
                    <a:pt x="226" y="134"/>
                    <a:pt x="214" y="121"/>
                    <a:pt x="214" y="106"/>
                  </a:cubicBezTo>
                  <a:cubicBezTo>
                    <a:pt x="214" y="90"/>
                    <a:pt x="226" y="78"/>
                    <a:pt x="242" y="78"/>
                  </a:cubicBezTo>
                  <a:cubicBezTo>
                    <a:pt x="257" y="78"/>
                    <a:pt x="270" y="90"/>
                    <a:pt x="270" y="106"/>
                  </a:cubicBezTo>
                  <a:close/>
                  <a:moveTo>
                    <a:pt x="339" y="69"/>
                  </a:moveTo>
                  <a:cubicBezTo>
                    <a:pt x="339" y="84"/>
                    <a:pt x="326" y="97"/>
                    <a:pt x="311" y="97"/>
                  </a:cubicBezTo>
                  <a:cubicBezTo>
                    <a:pt x="295" y="97"/>
                    <a:pt x="283" y="84"/>
                    <a:pt x="283" y="69"/>
                  </a:cubicBezTo>
                  <a:cubicBezTo>
                    <a:pt x="283" y="53"/>
                    <a:pt x="295" y="41"/>
                    <a:pt x="311" y="41"/>
                  </a:cubicBezTo>
                  <a:cubicBezTo>
                    <a:pt x="326" y="41"/>
                    <a:pt x="339" y="53"/>
                    <a:pt x="339" y="69"/>
                  </a:cubicBezTo>
                  <a:close/>
                  <a:moveTo>
                    <a:pt x="412" y="44"/>
                  </a:moveTo>
                  <a:cubicBezTo>
                    <a:pt x="412" y="59"/>
                    <a:pt x="399" y="72"/>
                    <a:pt x="384" y="72"/>
                  </a:cubicBezTo>
                  <a:cubicBezTo>
                    <a:pt x="368" y="72"/>
                    <a:pt x="356" y="59"/>
                    <a:pt x="356" y="44"/>
                  </a:cubicBezTo>
                  <a:cubicBezTo>
                    <a:pt x="356" y="28"/>
                    <a:pt x="368" y="16"/>
                    <a:pt x="384" y="16"/>
                  </a:cubicBezTo>
                  <a:cubicBezTo>
                    <a:pt x="399" y="16"/>
                    <a:pt x="412" y="28"/>
                    <a:pt x="412" y="44"/>
                  </a:cubicBezTo>
                  <a:close/>
                  <a:moveTo>
                    <a:pt x="489" y="31"/>
                  </a:moveTo>
                  <a:cubicBezTo>
                    <a:pt x="489" y="46"/>
                    <a:pt x="476" y="59"/>
                    <a:pt x="461" y="59"/>
                  </a:cubicBezTo>
                  <a:cubicBezTo>
                    <a:pt x="445" y="59"/>
                    <a:pt x="433" y="46"/>
                    <a:pt x="433" y="31"/>
                  </a:cubicBezTo>
                  <a:cubicBezTo>
                    <a:pt x="433" y="15"/>
                    <a:pt x="445" y="3"/>
                    <a:pt x="461" y="3"/>
                  </a:cubicBezTo>
                  <a:cubicBezTo>
                    <a:pt x="476" y="3"/>
                    <a:pt x="489" y="15"/>
                    <a:pt x="489" y="31"/>
                  </a:cubicBezTo>
                  <a:close/>
                  <a:moveTo>
                    <a:pt x="566" y="31"/>
                  </a:moveTo>
                  <a:cubicBezTo>
                    <a:pt x="566" y="46"/>
                    <a:pt x="553" y="59"/>
                    <a:pt x="538" y="59"/>
                  </a:cubicBezTo>
                  <a:cubicBezTo>
                    <a:pt x="522" y="59"/>
                    <a:pt x="510" y="46"/>
                    <a:pt x="510" y="31"/>
                  </a:cubicBezTo>
                  <a:cubicBezTo>
                    <a:pt x="510" y="15"/>
                    <a:pt x="522" y="3"/>
                    <a:pt x="538" y="3"/>
                  </a:cubicBezTo>
                  <a:cubicBezTo>
                    <a:pt x="553" y="3"/>
                    <a:pt x="566" y="15"/>
                    <a:pt x="566" y="31"/>
                  </a:cubicBezTo>
                  <a:close/>
                  <a:moveTo>
                    <a:pt x="643" y="44"/>
                  </a:moveTo>
                  <a:cubicBezTo>
                    <a:pt x="643" y="59"/>
                    <a:pt x="630" y="72"/>
                    <a:pt x="615" y="72"/>
                  </a:cubicBezTo>
                  <a:cubicBezTo>
                    <a:pt x="599" y="72"/>
                    <a:pt x="587" y="59"/>
                    <a:pt x="587" y="44"/>
                  </a:cubicBezTo>
                  <a:cubicBezTo>
                    <a:pt x="587" y="28"/>
                    <a:pt x="599" y="16"/>
                    <a:pt x="615" y="16"/>
                  </a:cubicBezTo>
                  <a:cubicBezTo>
                    <a:pt x="630" y="16"/>
                    <a:pt x="643" y="28"/>
                    <a:pt x="643" y="44"/>
                  </a:cubicBezTo>
                  <a:close/>
                  <a:moveTo>
                    <a:pt x="716" y="69"/>
                  </a:moveTo>
                  <a:cubicBezTo>
                    <a:pt x="716" y="84"/>
                    <a:pt x="703" y="97"/>
                    <a:pt x="688" y="97"/>
                  </a:cubicBezTo>
                  <a:cubicBezTo>
                    <a:pt x="672" y="97"/>
                    <a:pt x="660" y="84"/>
                    <a:pt x="660" y="69"/>
                  </a:cubicBezTo>
                  <a:cubicBezTo>
                    <a:pt x="660" y="53"/>
                    <a:pt x="672" y="41"/>
                    <a:pt x="688" y="41"/>
                  </a:cubicBezTo>
                  <a:cubicBezTo>
                    <a:pt x="703" y="41"/>
                    <a:pt x="716" y="53"/>
                    <a:pt x="716" y="69"/>
                  </a:cubicBezTo>
                  <a:close/>
                  <a:moveTo>
                    <a:pt x="785" y="106"/>
                  </a:moveTo>
                  <a:cubicBezTo>
                    <a:pt x="785" y="121"/>
                    <a:pt x="772" y="134"/>
                    <a:pt x="757" y="134"/>
                  </a:cubicBezTo>
                  <a:cubicBezTo>
                    <a:pt x="741" y="134"/>
                    <a:pt x="729" y="121"/>
                    <a:pt x="729" y="106"/>
                  </a:cubicBezTo>
                  <a:cubicBezTo>
                    <a:pt x="729" y="90"/>
                    <a:pt x="741" y="78"/>
                    <a:pt x="757" y="78"/>
                  </a:cubicBezTo>
                  <a:cubicBezTo>
                    <a:pt x="772" y="78"/>
                    <a:pt x="785" y="90"/>
                    <a:pt x="785" y="106"/>
                  </a:cubicBezTo>
                  <a:close/>
                  <a:moveTo>
                    <a:pt x="846" y="154"/>
                  </a:moveTo>
                  <a:cubicBezTo>
                    <a:pt x="846" y="169"/>
                    <a:pt x="833" y="182"/>
                    <a:pt x="818" y="182"/>
                  </a:cubicBezTo>
                  <a:cubicBezTo>
                    <a:pt x="802" y="182"/>
                    <a:pt x="790" y="169"/>
                    <a:pt x="790" y="154"/>
                  </a:cubicBezTo>
                  <a:cubicBezTo>
                    <a:pt x="790" y="138"/>
                    <a:pt x="802" y="126"/>
                    <a:pt x="818" y="126"/>
                  </a:cubicBezTo>
                  <a:cubicBezTo>
                    <a:pt x="833" y="126"/>
                    <a:pt x="846" y="138"/>
                    <a:pt x="846" y="154"/>
                  </a:cubicBezTo>
                  <a:close/>
                  <a:moveTo>
                    <a:pt x="898" y="211"/>
                  </a:moveTo>
                  <a:cubicBezTo>
                    <a:pt x="898" y="226"/>
                    <a:pt x="885" y="239"/>
                    <a:pt x="870" y="239"/>
                  </a:cubicBezTo>
                  <a:cubicBezTo>
                    <a:pt x="854" y="239"/>
                    <a:pt x="842" y="226"/>
                    <a:pt x="842" y="211"/>
                  </a:cubicBezTo>
                  <a:cubicBezTo>
                    <a:pt x="842" y="195"/>
                    <a:pt x="854" y="183"/>
                    <a:pt x="870" y="183"/>
                  </a:cubicBezTo>
                  <a:cubicBezTo>
                    <a:pt x="885" y="183"/>
                    <a:pt x="898" y="195"/>
                    <a:pt x="898" y="211"/>
                  </a:cubicBezTo>
                  <a:close/>
                  <a:moveTo>
                    <a:pt x="941" y="276"/>
                  </a:moveTo>
                  <a:cubicBezTo>
                    <a:pt x="941" y="291"/>
                    <a:pt x="928" y="304"/>
                    <a:pt x="913" y="304"/>
                  </a:cubicBezTo>
                  <a:cubicBezTo>
                    <a:pt x="897" y="304"/>
                    <a:pt x="885" y="291"/>
                    <a:pt x="885" y="276"/>
                  </a:cubicBezTo>
                  <a:cubicBezTo>
                    <a:pt x="885" y="260"/>
                    <a:pt x="897" y="248"/>
                    <a:pt x="913" y="248"/>
                  </a:cubicBezTo>
                  <a:cubicBezTo>
                    <a:pt x="928" y="248"/>
                    <a:pt x="941" y="260"/>
                    <a:pt x="941" y="276"/>
                  </a:cubicBezTo>
                  <a:close/>
                  <a:moveTo>
                    <a:pt x="972" y="347"/>
                  </a:moveTo>
                  <a:cubicBezTo>
                    <a:pt x="972" y="362"/>
                    <a:pt x="959" y="375"/>
                    <a:pt x="944" y="375"/>
                  </a:cubicBezTo>
                  <a:cubicBezTo>
                    <a:pt x="928" y="375"/>
                    <a:pt x="916" y="362"/>
                    <a:pt x="916" y="347"/>
                  </a:cubicBezTo>
                  <a:cubicBezTo>
                    <a:pt x="916" y="331"/>
                    <a:pt x="928" y="319"/>
                    <a:pt x="944" y="319"/>
                  </a:cubicBezTo>
                  <a:cubicBezTo>
                    <a:pt x="959" y="319"/>
                    <a:pt x="972" y="331"/>
                    <a:pt x="972" y="347"/>
                  </a:cubicBezTo>
                  <a:close/>
                  <a:moveTo>
                    <a:pt x="991" y="422"/>
                  </a:moveTo>
                  <a:cubicBezTo>
                    <a:pt x="991" y="437"/>
                    <a:pt x="978" y="450"/>
                    <a:pt x="963" y="450"/>
                  </a:cubicBezTo>
                  <a:cubicBezTo>
                    <a:pt x="947" y="450"/>
                    <a:pt x="935" y="437"/>
                    <a:pt x="935" y="422"/>
                  </a:cubicBezTo>
                  <a:cubicBezTo>
                    <a:pt x="935" y="406"/>
                    <a:pt x="947" y="394"/>
                    <a:pt x="963" y="394"/>
                  </a:cubicBezTo>
                  <a:cubicBezTo>
                    <a:pt x="978" y="394"/>
                    <a:pt x="991" y="406"/>
                    <a:pt x="991" y="422"/>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11" name="Forma 10"/>
            <p:cNvSpPr/>
            <p:nvPr/>
          </p:nvSpPr>
          <p:spPr>
            <a:xfrm>
              <a:off x="914400" y="868680"/>
              <a:ext cx="777240" cy="77724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50800" cap="rnd">
              <a:solidFill>
                <a:srgbClr val="2E4A9E"/>
              </a:solidFill>
              <a:round/>
            </a:ln>
          </p:spPr>
        </p:sp>
        <p:sp>
          <p:nvSpPr>
            <p:cNvPr id="12" name="Forma 11"/>
            <p:cNvSpPr txBox="1"/>
            <p:nvPr/>
          </p:nvSpPr>
          <p:spPr>
            <a:xfrm>
              <a:off x="914400" y="1101852"/>
              <a:ext cx="777240" cy="310896"/>
            </a:xfrm>
            <a:prstGeom prst="rect">
              <a:avLst/>
            </a:prstGeom>
            <a:noFill/>
            <a:ln>
              <a:noFill/>
            </a:ln>
          </p:spPr>
          <p:txBody>
            <a:bodyPr wrap="square" lIns="0" tIns="0" rIns="0" bIns="0" anchor="ctr" rtlCol="0">
              <a:noAutofit/>
            </a:bodyPr>
            <a:lstStyle/>
            <a:p>
              <a:pPr algn="ctr">
                <a:spcAft>
                  <a:spcPts val="300"/>
                </a:spcAft>
                <a:buNone/>
              </a:pPr>
              <a:r>
                <a:rPr lang="es-AR" sz="1360" b="1" dirty="0">
                  <a:solidFill>
                    <a:srgbClr val="1E1E1E"/>
                  </a:solidFill>
                  <a:latin typeface="Bahnschrift SemiBold Condensed"/>
                  <a:ea typeface="Bahnschrift SemiBold Condensed"/>
                  <a:cs typeface="Bahnschrift SemiBold Condensed"/>
                  <a:sym typeface="Bahnschrift SemiBold Condensed"/>
                </a:rPr>
                <a:t>LDL</a:t>
              </a:r>
              <a:endParaRPr lang="es-AR" sz="1360" dirty="0">
                <a:latin typeface="Bahnschrift SemiBold Condensed"/>
              </a:endParaRPr>
            </a:p>
          </p:txBody>
        </p:sp>
      </p:grpSp>
      <p:sp>
        <p:nvSpPr>
          <p:cNvPr id="13" name="LDLR"/>
          <p:cNvSpPr/>
          <p:nvPr/>
        </p:nvSpPr>
        <p:spPr>
          <a:xfrm>
            <a:off x="1143000" y="1691640"/>
            <a:ext cx="320040" cy="685800"/>
          </a:xfrm>
          <a:prstGeom prst="roundRect">
            <a:avLst>
              <a:gd name="adj" fmla="val 50000"/>
            </a:avLst>
          </a:prstGeom>
          <a:gradFill rotWithShape="1">
            <a:gsLst>
              <a:gs pos="0">
                <a:srgbClr val="77B0D6"/>
              </a:gs>
              <a:gs pos="55000">
                <a:srgbClr val="2E86C1"/>
              </a:gs>
              <a:gs pos="100000">
                <a:srgbClr val="246B9A"/>
              </a:gs>
            </a:gsLst>
            <a:path path="circle">
              <a:fillToRect l="32000" t="28000" r="68000" b="72000"/>
            </a:path>
          </a:gradFill>
          <a:ln w="12700" cap="rnd">
            <a:solidFill>
              <a:srgbClr val="1E1E1E"/>
            </a:solidFill>
            <a:round/>
          </a:ln>
        </p:spPr>
      </p:sp>
      <p:sp>
        <p:nvSpPr>
          <p:cNvPr id="14" name="Fosita clatrina"/>
          <p:cNvSpPr/>
          <p:nvPr/>
        </p:nvSpPr>
        <p:spPr>
          <a:xfrm>
            <a:off x="731520" y="2194560"/>
            <a:ext cx="1188720" cy="548640"/>
          </a:xfrm>
          <a:prstGeom prst="ellipse">
            <a:avLst/>
          </a:prstGeom>
          <a:noFill/>
          <a:ln w="25400" cap="rnd">
            <a:solidFill>
              <a:srgbClr val="A04000"/>
            </a:solidFill>
            <a:prstDash val="dash"/>
            <a:round/>
          </a:ln>
        </p:spPr>
      </p:sp>
      <p:sp>
        <p:nvSpPr>
          <p:cNvPr id="15" name="Forma 14"/>
          <p:cNvSpPr txBox="1"/>
          <p:nvPr/>
        </p:nvSpPr>
        <p:spPr>
          <a:xfrm>
            <a:off x="274320" y="2743200"/>
            <a:ext cx="2194560" cy="274320"/>
          </a:xfrm>
          <a:prstGeom prst="rect">
            <a:avLst/>
          </a:prstGeom>
          <a:noFill/>
          <a:ln>
            <a:noFill/>
          </a:ln>
        </p:spPr>
        <p:txBody>
          <a:bodyPr wrap="square" lIns="0" tIns="0" rIns="0" bIns="0" anchor="t" rtlCol="0">
            <a:noAutofit/>
          </a:bodyPr>
          <a:lstStyle/>
          <a:p>
            <a:pPr algn="ctr">
              <a:spcAft>
                <a:spcPts val="300"/>
              </a:spcAft>
              <a:buNone/>
            </a:pPr>
            <a:r>
              <a:rPr lang="es-AR" sz="1150" b="1" dirty="0">
                <a:solidFill>
                  <a:srgbClr val="6E2C00"/>
                </a:solidFill>
                <a:latin typeface="Bahnschrift SemiBold Condensed"/>
                <a:ea typeface="Bahnschrift SemiBold Condensed"/>
                <a:cs typeface="Bahnschrift SemiBold Condensed"/>
                <a:sym typeface="Bahnschrift SemiBold Condensed"/>
              </a:rPr>
              <a:t>fosita recubierta (clatrina)</a:t>
            </a:r>
            <a:endParaRPr lang="es-AR" sz="1150" dirty="0">
              <a:latin typeface="Bahnschrift SemiBold Condensed"/>
            </a:endParaRPr>
          </a:p>
        </p:txBody>
      </p:sp>
      <p:sp>
        <p:nvSpPr>
          <p:cNvPr id="16" name="Endosoma"/>
          <p:cNvSpPr/>
          <p:nvPr/>
        </p:nvSpPr>
        <p:spPr>
          <a:xfrm>
            <a:off x="2743200" y="2834640"/>
            <a:ext cx="1371600" cy="1097280"/>
          </a:xfrm>
          <a:prstGeom prst="ellipse">
            <a:avLst/>
          </a:prstGeom>
          <a:solidFill>
            <a:srgbClr val="D6EAF8">
              <a:alpha val="85000"/>
            </a:srgbClr>
          </a:solidFill>
          <a:ln w="19050" cap="rnd">
            <a:solidFill>
              <a:srgbClr val="1F618D"/>
            </a:solidFill>
            <a:round/>
          </a:ln>
        </p:spPr>
        <p:txBody>
          <a:bodyPr wrap="square" lIns="73152" tIns="45720" rIns="73152" bIns="4572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Endosoma (pH ↓)</a:t>
            </a:r>
            <a:endParaRPr lang="es-AR" sz="1150" dirty="0">
              <a:latin typeface="Bahnschrift SemiBold Condensed"/>
            </a:endParaRPr>
          </a:p>
        </p:txBody>
      </p:sp>
      <p:sp>
        <p:nvSpPr>
          <p:cNvPr id="17" name="Reciclado LDLR"/>
          <p:cNvSpPr/>
          <p:nvPr/>
        </p:nvSpPr>
        <p:spPr>
          <a:xfrm>
            <a:off x="1828800" y="2240280"/>
            <a:ext cx="1463040" cy="548640"/>
          </a:xfrm>
          <a:custGeom>
            <a:avLst/>
            <a:gdLst/>
            <a:ahLst/>
            <a:cxnLst/>
            <a:rect l="0" t="0" r="r" b="b"/>
            <a:pathLst>
              <a:path w="1600" h="599" fill="none">
                <a:moveTo>
                  <a:pt x="1600" y="599"/>
                </a:moveTo>
                <a:lnTo>
                  <a:pt x="0" y="0"/>
                </a:lnTo>
              </a:path>
            </a:pathLst>
          </a:custGeom>
          <a:noFill/>
          <a:ln w="31750" cap="rnd">
            <a:solidFill>
              <a:srgbClr val="2563B0"/>
            </a:solidFill>
            <a:round/>
            <a:tailEnd type="triangle" w="med" len="med"/>
          </a:ln>
        </p:spPr>
      </p:sp>
      <p:sp>
        <p:nvSpPr>
          <p:cNvPr id="18" name="Forma 17"/>
          <p:cNvSpPr txBox="1"/>
          <p:nvPr/>
        </p:nvSpPr>
        <p:spPr>
          <a:xfrm>
            <a:off x="2011680" y="2331720"/>
            <a:ext cx="1371600" cy="274320"/>
          </a:xfrm>
          <a:prstGeom prst="rect">
            <a:avLst/>
          </a:prstGeom>
          <a:noFill/>
          <a:ln>
            <a:noFill/>
          </a:ln>
        </p:spPr>
        <p:txBody>
          <a:bodyPr wrap="square" lIns="0" tIns="0" rIns="0" bIns="0" anchor="t" rtlCol="0">
            <a:noAutofit/>
          </a:bodyPr>
          <a:lstStyle/>
          <a:p>
            <a:pPr algn="ctr">
              <a:spcAft>
                <a:spcPts val="300"/>
              </a:spcAft>
              <a:buNone/>
            </a:pPr>
            <a:r>
              <a:rPr lang="es-AR" sz="1150" b="1" dirty="0">
                <a:solidFill>
                  <a:srgbClr val="2563B0"/>
                </a:solidFill>
                <a:latin typeface="Bahnschrift SemiBold Condensed"/>
                <a:ea typeface="Bahnschrift SemiBold Condensed"/>
                <a:cs typeface="Bahnschrift SemiBold Condensed"/>
                <a:sym typeface="Bahnschrift SemiBold Condensed"/>
              </a:rPr>
              <a:t>LDLR recicla</a:t>
            </a:r>
            <a:endParaRPr lang="es-AR" sz="1150" dirty="0">
              <a:latin typeface="Bahnschrift SemiBold Condensed"/>
            </a:endParaRPr>
          </a:p>
        </p:txBody>
      </p:sp>
      <p:sp>
        <p:nvSpPr>
          <p:cNvPr id="19" name="Lisosoma"/>
          <p:cNvSpPr/>
          <p:nvPr/>
        </p:nvSpPr>
        <p:spPr>
          <a:xfrm>
            <a:off x="4754880" y="3931920"/>
            <a:ext cx="1463040" cy="1097280"/>
          </a:xfrm>
          <a:prstGeom prst="ellipse">
            <a:avLst/>
          </a:prstGeom>
          <a:solidFill>
            <a:srgbClr val="F5B7B1">
              <a:alpha val="85000"/>
            </a:srgbClr>
          </a:solidFill>
          <a:ln w="19050" cap="rnd">
            <a:solidFill>
              <a:srgbClr val="922B21"/>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Lisosoma</a:t>
            </a:r>
            <a:endParaRPr lang="es-AR" sz="1200" dirty="0">
              <a:latin typeface="Bahnschrift SemiBold Condensed"/>
            </a:endParaRPr>
          </a:p>
        </p:txBody>
      </p:sp>
      <p:sp>
        <p:nvSpPr>
          <p:cNvPr id="20" name="Hidrólisis CE"/>
          <p:cNvSpPr/>
          <p:nvPr/>
        </p:nvSpPr>
        <p:spPr>
          <a:xfrm>
            <a:off x="6355080" y="4251960"/>
            <a:ext cx="1484195"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CE → colesterol libre</a:t>
            </a:r>
            <a:endParaRPr lang="es-AR" sz="1250" dirty="0">
              <a:latin typeface="Bahnschrift SemiBold Condensed"/>
            </a:endParaRPr>
          </a:p>
        </p:txBody>
      </p:sp>
      <p:sp>
        <p:nvSpPr>
          <p:cNvPr id="21" name="PCSK9"/>
          <p:cNvSpPr/>
          <p:nvPr/>
        </p:nvSpPr>
        <p:spPr>
          <a:xfrm>
            <a:off x="4572000" y="960120"/>
            <a:ext cx="1188720" cy="502920"/>
          </a:xfrm>
          <a:prstGeom prst="roundRect">
            <a:avLst/>
          </a:prstGeom>
          <a:gradFill rotWithShape="1">
            <a:gsLst>
              <a:gs pos="0">
                <a:srgbClr val="D8BEE2"/>
              </a:gs>
              <a:gs pos="55000">
                <a:srgbClr val="C39BD3"/>
              </a:gs>
              <a:gs pos="100000">
                <a:srgbClr val="9C7CA8"/>
              </a:gs>
            </a:gsLst>
            <a:path path="circle">
              <a:fillToRect l="32000" t="28000" r="68000" b="72000"/>
            </a:path>
          </a:gradFill>
          <a:ln w="12700"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PCSK9</a:t>
            </a:r>
            <a:endParaRPr lang="es-AR" sz="1300" dirty="0">
              <a:latin typeface="Bahnschrift SemiBold Condensed"/>
            </a:endParaRPr>
          </a:p>
        </p:txBody>
      </p:sp>
      <p:sp>
        <p:nvSpPr>
          <p:cNvPr id="22" name="PCSK9 a lisosoma"/>
          <p:cNvSpPr/>
          <p:nvPr/>
        </p:nvSpPr>
        <p:spPr>
          <a:xfrm>
            <a:off x="4937760" y="1463040"/>
            <a:ext cx="365760" cy="2423160"/>
          </a:xfrm>
          <a:custGeom>
            <a:avLst/>
            <a:gdLst/>
            <a:ahLst/>
            <a:cxnLst/>
            <a:rect l="0" t="0" r="r" b="b"/>
            <a:pathLst>
              <a:path w="399" h="2650" fill="none">
                <a:moveTo>
                  <a:pt x="0" y="0"/>
                </a:moveTo>
                <a:lnTo>
                  <a:pt x="399" y="2650"/>
                </a:lnTo>
              </a:path>
            </a:pathLst>
          </a:custGeom>
          <a:noFill/>
          <a:ln w="31750" cap="rnd">
            <a:solidFill>
              <a:srgbClr val="7D3C98"/>
            </a:solidFill>
            <a:prstDash val="dash"/>
            <a:round/>
            <a:tailEnd type="triangle" w="med" len="med"/>
          </a:ln>
        </p:spPr>
      </p:sp>
      <p:sp>
        <p:nvSpPr>
          <p:cNvPr id="23" name="Forma 22"/>
          <p:cNvSpPr/>
          <p:nvPr/>
        </p:nvSpPr>
        <p:spPr>
          <a:xfrm>
            <a:off x="8138160" y="1005840"/>
            <a:ext cx="3657600" cy="5486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LDL</a:t>
            </a:r>
            <a:r>
              <a:rPr lang="es-AR" sz="1650" dirty="0">
                <a:solidFill>
                  <a:srgbClr val="1E1E1E"/>
                </a:solidFill>
                <a:latin typeface="Bahnschrift"/>
                <a:ea typeface="Bahnschrift"/>
                <a:cs typeface="Bahnschrift"/>
                <a:sym typeface="Bahnschrift"/>
              </a:rPr>
              <a:t>: ApoB-100 y alto % de colesterol </a:t>
            </a:r>
            <a:r>
              <a:rPr lang="es-AR" sz="1650" b="1" dirty="0">
                <a:solidFill>
                  <a:srgbClr val="1E1E1E"/>
                </a:solidFill>
                <a:latin typeface="Bahnschrift"/>
                <a:ea typeface="Bahnschrift"/>
                <a:cs typeface="Bahnschrift"/>
                <a:sym typeface="Bahnschrift"/>
              </a:rPr>
              <a:t>esterificado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Endocitosis por </a:t>
            </a:r>
            <a:r>
              <a:rPr lang="es-AR" sz="1650" b="1" dirty="0">
                <a:solidFill>
                  <a:srgbClr val="1E1E1E"/>
                </a:solidFill>
                <a:latin typeface="Bahnschrift"/>
                <a:ea typeface="Bahnschrift"/>
                <a:cs typeface="Bahnschrift"/>
                <a:sym typeface="Bahnschrift"/>
              </a:rPr>
              <a:t>clatrina</a:t>
            </a:r>
            <a:r>
              <a:rPr lang="es-AR" sz="1650" dirty="0">
                <a:solidFill>
                  <a:srgbClr val="1E1E1E"/>
                </a:solidFill>
                <a:latin typeface="Bahnschrift"/>
                <a:ea typeface="Bahnschrift"/>
                <a:cs typeface="Bahnschrift"/>
                <a:sym typeface="Bahnschrift"/>
              </a:rPr>
              <a:t>; la acidificación libera la LDL y el </a:t>
            </a:r>
            <a:r>
              <a:rPr lang="es-AR" sz="1650" b="1" dirty="0">
                <a:solidFill>
                  <a:srgbClr val="1E1E1E"/>
                </a:solidFill>
                <a:latin typeface="Bahnschrift"/>
                <a:ea typeface="Bahnschrift"/>
                <a:cs typeface="Bahnschrift"/>
                <a:sym typeface="Bahnschrift"/>
              </a:rPr>
              <a:t>LDLR recicla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lisosoma hidroliza ésteres de colesterol.</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PCSK9</a:t>
            </a:r>
            <a:r>
              <a:rPr lang="es-AR" sz="1650" dirty="0">
                <a:solidFill>
                  <a:srgbClr val="1E1E1E"/>
                </a:solidFill>
                <a:latin typeface="Bahnschrift"/>
                <a:ea typeface="Bahnschrift"/>
                <a:cs typeface="Bahnschrift"/>
                <a:sym typeface="Bahnschrift"/>
              </a:rPr>
              <a:t> desvía el LDLR al lisosoma → ↓ depuración de LDL.</a:t>
            </a:r>
            <a:endParaRPr lang="es-AR" sz="1650" dirty="0">
              <a:latin typeface="Bahnschrift"/>
            </a:endParaRPr>
          </a:p>
        </p:txBody>
      </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617260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CAPTACIÓN DE LDL POR EL RECEPTOR LDL</a:t>
            </a:r>
            <a:endParaRPr lang="es-AR" sz="2600" dirty="0">
              <a:latin typeface="Bahnschrift SemiBold Condensed"/>
            </a:endParaRPr>
          </a:p>
        </p:txBody>
      </p:sp>
      <p:sp>
        <p:nvSpPr>
          <p:cNvPr id="2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5" fill="hold">
                            <p:stCondLst>
                              <p:cond delay="0"/>
                            </p:stCondLst>
                            <p:childTnLst>
                              <p:par>
                                <p:cTn id="3" presetID="0" presetClass="path" presetSubtype="0" accel="20000" decel="20000" fill="hold" grpId="0" nodeType="clickEffect">
                                  <p:stCondLst>
                                    <p:cond delay="0"/>
                                  </p:stCondLst>
                                  <p:childTnLst>
                                    <p:animMotion origin="layout" path="M 0 0 L 0.0075 0.1133 E" pathEditMode="relative" ptsTypes="">
                                      <p:cBhvr>
                                        <p:cTn id="4" dur="1100" fill="hold"/>
                                        <p:tgtEl>
                                          <p:spTgt spid="8"/>
                                        </p:tgtEl>
                                        <p:attrNameLst>
                                          <p:attrName>ppt_x</p:attrName>
                                          <p:attrName>ppt_y</p:attrName>
                                        </p:attrNameLst>
                                      </p:cBhvr>
                                      <p:rCtr x="375" y="5666"/>
                                    </p:animMotion>
                                  </p:childTnLst>
                                </p:cTn>
                              </p:par>
                            </p:childTnLst>
                          </p:cTn>
                        </p:par>
                        <p:par>
                          <p:cTn id="8" fill="hold">
                            <p:stCondLst>
                              <p:cond delay="1100"/>
                            </p:stCondLst>
                            <p:childTnLst>
                              <p:par>
                                <p:cTn id="6" presetID="6" presetClass="emph" presetSubtype="0" fill="hold" grpId="0" nodeType="afterEffect">
                                  <p:stCondLst>
                                    <p:cond delay="0"/>
                                  </p:stCondLst>
                                  <p:childTnLst>
                                    <p:animScale>
                                      <p:cBhvr>
                                        <p:cTn id="7" dur="300" autoRev="1" fill="hold"/>
                                        <p:tgtEl>
                                          <p:spTgt spid="13"/>
                                        </p:tgtEl>
                                      </p:cBhvr>
                                      <p:by x="112000" y="112000"/>
                                    </p:animScale>
                                  </p:childTnLst>
                                </p:cTn>
                              </p:par>
                            </p:childTnLst>
                          </p:cTn>
                        </p:par>
                        <p:par>
                          <p:cTn id="12" fill="hold">
                            <p:stCondLst>
                              <p:cond delay="14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childTnLst>
                    </p:cTn>
                  </p:par>
                  <p:par>
                    <p:cTn id="25" fill="hold">
                      <p:stCondLst>
                        <p:cond delay="indefinite"/>
                      </p:stCondLst>
                      <p:childTnLst>
                        <p:par>
                          <p:cTn id="17"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par>
                          <p:cTn id="20" fill="hold">
                            <p:stCondLst>
                              <p:cond delay="500"/>
                            </p:stCondLst>
                            <p:childTnLst>
                              <p:par>
                                <p:cTn id="18" presetID="0" presetClass="path" presetSubtype="0" accel="20000" decel="20000" fill="hold" grpId="0" nodeType="afterEffect">
                                  <p:stCondLst>
                                    <p:cond delay="0"/>
                                  </p:stCondLst>
                                  <p:childTnLst>
                                    <p:animMotion origin="layout" path="M 0 0 L 0.1613 0.3067 E" pathEditMode="relative" ptsTypes="">
                                      <p:cBhvr>
                                        <p:cTn id="19" dur="1300" fill="hold"/>
                                        <p:tgtEl>
                                          <p:spTgt spid="8"/>
                                        </p:tgtEl>
                                        <p:attrNameLst>
                                          <p:attrName>ppt_x</p:attrName>
                                          <p:attrName>ppt_y</p:attrName>
                                        </p:attrNameLst>
                                      </p:cBhvr>
                                      <p:rCtr x="8062" y="15333"/>
                                    </p:animMotion>
                                  </p:childTnLst>
                                </p:cTn>
                              </p:par>
                            </p:childTnLst>
                          </p:cTn>
                        </p:par>
                        <p:par>
                          <p:cTn id="24" fill="hold">
                            <p:stCondLst>
                              <p:cond delay="1800"/>
                            </p:stCondLst>
                            <p:childTnLst>
                              <p:par>
                                <p:cTn id="21" presetID="22" presetClass="entr" presetSubtype="2"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wipe(right)">
                                      <p:cBhvr>
                                        <p:cTn id="23" dur="600"/>
                                        <p:tgtEl>
                                          <p:spTgt spid="17"/>
                                        </p:tgtEl>
                                      </p:cBhvr>
                                    </p:animEffect>
                                  </p:childTnLst>
                                </p:cTn>
                              </p:par>
                            </p:childTnLst>
                          </p:cTn>
                        </p:par>
                      </p:childTnLst>
                    </p:cTn>
                  </p:par>
                  <p:par>
                    <p:cTn id="37"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par>
                          <p:cTn id="32" fill="hold">
                            <p:stCondLst>
                              <p:cond delay="500"/>
                            </p:stCondLst>
                            <p:childTnLst>
                              <p:par>
                                <p:cTn id="30" presetID="0" presetClass="path" presetSubtype="0" accel="20000" decel="20000" fill="hold" grpId="0" nodeType="afterEffect">
                                  <p:stCondLst>
                                    <p:cond delay="0"/>
                                  </p:stCondLst>
                                  <p:childTnLst>
                                    <p:animMotion origin="layout" path="M 0 0 L 0.3300 0.4600 E" pathEditMode="relative" ptsTypes="">
                                      <p:cBhvr>
                                        <p:cTn id="31" dur="1200" fill="hold"/>
                                        <p:tgtEl>
                                          <p:spTgt spid="8"/>
                                        </p:tgtEl>
                                        <p:attrNameLst>
                                          <p:attrName>ppt_x</p:attrName>
                                          <p:attrName>ppt_y</p:attrName>
                                        </p:attrNameLst>
                                      </p:cBhvr>
                                      <p:rCtr x="16500" y="23000"/>
                                    </p:animMotion>
                                  </p:childTnLst>
                                </p:cTn>
                              </p:par>
                            </p:childTnLst>
                          </p:cTn>
                        </p:par>
                        <p:par>
                          <p:cTn id="36" fill="hold">
                            <p:stCondLst>
                              <p:cond delay="1700"/>
                            </p:stCondLst>
                            <p:childTnLst>
                              <p:par>
                                <p:cTn id="33" presetID="10" presetClass="entr" presetSubtype="0"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par>
                    <p:cTn id="46"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childTnLst>
                          </p:cTn>
                        </p:par>
                        <p:par>
                          <p:cTn id="45" fill="hold">
                            <p:stCondLst>
                              <p:cond delay="500"/>
                            </p:stCondLst>
                            <p:childTnLst>
                              <p:par>
                                <p:cTn id="42" presetID="22" presetClass="entr" presetSubtype="1" fill="hold" grpId="0" nodeType="after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wipe(up)">
                                      <p:cBhvr>
                                        <p:cTn id="44" dur="600"/>
                                        <p:tgtEl>
                                          <p:spTgt spid="22"/>
                                        </p:tgtEl>
                                      </p:cBhvr>
                                    </p:animEffect>
                                  </p:childTnLst>
                                </p:cTn>
                              </p:par>
                            </p:childTnLst>
                          </p:cTn>
                        </p:par>
                      </p:childTnLst>
                    </p:cTn>
                  </p:par>
                  <p:par>
                    <p:cTn id="51" fill="hold">
                      <p:stCondLst>
                        <p:cond delay="indefinite"/>
                      </p:stCondLst>
                      <p:childTnLst>
                        <p:par>
                          <p:cTn id="50"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6" grpId="0" animBg="1"/>
      <p:bldP spid="17" grpId="0" animBg="1"/>
      <p:bldP spid="19" grpId="0" animBg="1"/>
      <p:bldP spid="20" grpId="0" animBg="1"/>
      <p:bldP spid="21" grpId="0" animBg="1"/>
      <p:bldP spid="22" grpId="0" animBg="1"/>
      <p:bldP spid="23" grpId="0" animBg="1"/>
    </p:bldLst>
  </p:timing>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Macrófago"/>
          <p:cNvSpPr/>
          <p:nvPr/>
        </p:nvSpPr>
        <p:spPr>
          <a:xfrm>
            <a:off x="365760" y="2743200"/>
            <a:ext cx="2103120" cy="1828800"/>
          </a:xfrm>
          <a:prstGeom prst="ellipse">
            <a:avLst/>
          </a:prstGeom>
          <a:gradFill rotWithShape="1">
            <a:gsLst>
              <a:gs pos="0">
                <a:srgbClr val="F9DFCA"/>
              </a:gs>
              <a:gs pos="55000">
                <a:srgbClr val="F5CBA7"/>
              </a:gs>
              <a:gs pos="100000">
                <a:srgbClr val="B7987D"/>
              </a:gs>
            </a:gsLst>
            <a:path path="circle">
              <a:fillToRect l="32000" t="28000" r="68000" b="72000"/>
            </a:path>
          </a:gradFill>
          <a:ln w="22225" cap="rnd">
            <a:solidFill>
              <a:srgbClr val="A04000"/>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Célula periférica</a:t>
            </a:r>
            <a:endParaRPr lang="es-AR" sz="1300" dirty="0">
              <a:latin typeface="Bahnschrift SemiBold Condensed"/>
            </a:endParaRPr>
          </a:p>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(macrófago)</a:t>
            </a:r>
            <a:endParaRPr lang="es-AR" sz="1300" dirty="0">
              <a:latin typeface="Bahnschrift SemiBold Condensed"/>
            </a:endParaRPr>
          </a:p>
        </p:txBody>
      </p:sp>
      <p:sp>
        <p:nvSpPr>
          <p:cNvPr id="5" name="ABCA1"/>
          <p:cNvSpPr/>
          <p:nvPr/>
        </p:nvSpPr>
        <p:spPr>
          <a:xfrm>
            <a:off x="2011680" y="2377440"/>
            <a:ext cx="1139884" cy="246062"/>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ABCA1 / ABCG1</a:t>
            </a:r>
            <a:endParaRPr lang="es-AR" sz="1250" dirty="0">
              <a:latin typeface="Bahnschrift SemiBold Condensed"/>
            </a:endParaRPr>
          </a:p>
        </p:txBody>
      </p:sp>
      <p:grpSp>
        <p:nvGrpSpPr>
          <p:cNvPr id="6" name="HDL naciente"/>
          <p:cNvGrpSpPr/>
          <p:nvPr/>
        </p:nvGrpSpPr>
        <p:grpSpPr>
          <a:xfrm>
            <a:off x="2926080" y="3108960"/>
            <a:ext cx="640080" cy="640080"/>
            <a:chOff x="2926080" y="3108960"/>
            <a:chExt cx="640080" cy="640080"/>
          </a:xfrm>
        </p:grpSpPr>
        <p:sp>
          <p:nvSpPr>
            <p:cNvPr id="7" name="Forma 6"/>
            <p:cNvSpPr/>
            <p:nvPr/>
          </p:nvSpPr>
          <p:spPr>
            <a:xfrm>
              <a:off x="2926080" y="3108960"/>
              <a:ext cx="640080" cy="640080"/>
            </a:xfrm>
            <a:prstGeom prst="ellipse">
              <a:avLst/>
            </a:prstGeom>
            <a:gradFill rotWithShape="1">
              <a:gsLst>
                <a:gs pos="0">
                  <a:srgbClr val="FEFEFE"/>
                </a:gs>
                <a:gs pos="70000">
                  <a:srgbClr val="FDFEFE"/>
                </a:gs>
                <a:gs pos="100000">
                  <a:srgbClr val="CACBC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8" name="Forma 7"/>
            <p:cNvSpPr/>
            <p:nvPr/>
          </p:nvSpPr>
          <p:spPr>
            <a:xfrm>
              <a:off x="2926080" y="3108960"/>
              <a:ext cx="640080" cy="64008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8" y="594"/>
                  </a:moveTo>
                  <a:cubicBezTo>
                    <a:pt x="988" y="609"/>
                    <a:pt x="975" y="622"/>
                    <a:pt x="960" y="622"/>
                  </a:cubicBezTo>
                  <a:cubicBezTo>
                    <a:pt x="944" y="622"/>
                    <a:pt x="932" y="609"/>
                    <a:pt x="932" y="594"/>
                  </a:cubicBezTo>
                  <a:cubicBezTo>
                    <a:pt x="932" y="578"/>
                    <a:pt x="944" y="566"/>
                    <a:pt x="960" y="566"/>
                  </a:cubicBezTo>
                  <a:cubicBezTo>
                    <a:pt x="975" y="566"/>
                    <a:pt x="988" y="578"/>
                    <a:pt x="988" y="594"/>
                  </a:cubicBezTo>
                  <a:close/>
                  <a:moveTo>
                    <a:pt x="959" y="685"/>
                  </a:moveTo>
                  <a:cubicBezTo>
                    <a:pt x="959" y="700"/>
                    <a:pt x="946" y="713"/>
                    <a:pt x="931" y="713"/>
                  </a:cubicBezTo>
                  <a:cubicBezTo>
                    <a:pt x="915" y="713"/>
                    <a:pt x="903" y="700"/>
                    <a:pt x="903" y="685"/>
                  </a:cubicBezTo>
                  <a:cubicBezTo>
                    <a:pt x="903" y="669"/>
                    <a:pt x="915" y="657"/>
                    <a:pt x="931" y="657"/>
                  </a:cubicBezTo>
                  <a:cubicBezTo>
                    <a:pt x="946" y="657"/>
                    <a:pt x="959" y="669"/>
                    <a:pt x="959" y="685"/>
                  </a:cubicBezTo>
                  <a:close/>
                  <a:moveTo>
                    <a:pt x="913" y="768"/>
                  </a:moveTo>
                  <a:cubicBezTo>
                    <a:pt x="913" y="783"/>
                    <a:pt x="900" y="796"/>
                    <a:pt x="885" y="796"/>
                  </a:cubicBezTo>
                  <a:cubicBezTo>
                    <a:pt x="869" y="796"/>
                    <a:pt x="857" y="783"/>
                    <a:pt x="857" y="768"/>
                  </a:cubicBezTo>
                  <a:cubicBezTo>
                    <a:pt x="857" y="752"/>
                    <a:pt x="869" y="740"/>
                    <a:pt x="885" y="740"/>
                  </a:cubicBezTo>
                  <a:cubicBezTo>
                    <a:pt x="900" y="740"/>
                    <a:pt x="913" y="752"/>
                    <a:pt x="913" y="768"/>
                  </a:cubicBezTo>
                  <a:close/>
                  <a:moveTo>
                    <a:pt x="851" y="840"/>
                  </a:moveTo>
                  <a:cubicBezTo>
                    <a:pt x="851" y="855"/>
                    <a:pt x="838" y="868"/>
                    <a:pt x="823" y="868"/>
                  </a:cubicBezTo>
                  <a:cubicBezTo>
                    <a:pt x="807" y="868"/>
                    <a:pt x="795" y="855"/>
                    <a:pt x="795" y="840"/>
                  </a:cubicBezTo>
                  <a:cubicBezTo>
                    <a:pt x="795" y="824"/>
                    <a:pt x="807" y="812"/>
                    <a:pt x="823" y="812"/>
                  </a:cubicBezTo>
                  <a:cubicBezTo>
                    <a:pt x="838" y="812"/>
                    <a:pt x="851" y="824"/>
                    <a:pt x="851" y="840"/>
                  </a:cubicBezTo>
                  <a:close/>
                  <a:moveTo>
                    <a:pt x="776" y="898"/>
                  </a:moveTo>
                  <a:cubicBezTo>
                    <a:pt x="776" y="913"/>
                    <a:pt x="763" y="926"/>
                    <a:pt x="748" y="926"/>
                  </a:cubicBezTo>
                  <a:cubicBezTo>
                    <a:pt x="732" y="926"/>
                    <a:pt x="720" y="913"/>
                    <a:pt x="720" y="898"/>
                  </a:cubicBezTo>
                  <a:cubicBezTo>
                    <a:pt x="720" y="882"/>
                    <a:pt x="732" y="870"/>
                    <a:pt x="748" y="870"/>
                  </a:cubicBezTo>
                  <a:cubicBezTo>
                    <a:pt x="763" y="870"/>
                    <a:pt x="776" y="882"/>
                    <a:pt x="776" y="898"/>
                  </a:cubicBezTo>
                  <a:close/>
                  <a:moveTo>
                    <a:pt x="691" y="940"/>
                  </a:moveTo>
                  <a:cubicBezTo>
                    <a:pt x="691" y="955"/>
                    <a:pt x="678" y="968"/>
                    <a:pt x="663" y="968"/>
                  </a:cubicBezTo>
                  <a:cubicBezTo>
                    <a:pt x="647" y="968"/>
                    <a:pt x="635" y="955"/>
                    <a:pt x="635" y="940"/>
                  </a:cubicBezTo>
                  <a:cubicBezTo>
                    <a:pt x="635" y="924"/>
                    <a:pt x="647" y="912"/>
                    <a:pt x="663" y="912"/>
                  </a:cubicBezTo>
                  <a:cubicBezTo>
                    <a:pt x="678" y="912"/>
                    <a:pt x="691" y="924"/>
                    <a:pt x="691" y="940"/>
                  </a:cubicBezTo>
                  <a:close/>
                  <a:moveTo>
                    <a:pt x="599" y="964"/>
                  </a:moveTo>
                  <a:cubicBezTo>
                    <a:pt x="599" y="979"/>
                    <a:pt x="586" y="992"/>
                    <a:pt x="571" y="992"/>
                  </a:cubicBezTo>
                  <a:cubicBezTo>
                    <a:pt x="555" y="992"/>
                    <a:pt x="543" y="979"/>
                    <a:pt x="543" y="964"/>
                  </a:cubicBezTo>
                  <a:cubicBezTo>
                    <a:pt x="543" y="948"/>
                    <a:pt x="555" y="936"/>
                    <a:pt x="571" y="936"/>
                  </a:cubicBezTo>
                  <a:cubicBezTo>
                    <a:pt x="586" y="936"/>
                    <a:pt x="599" y="948"/>
                    <a:pt x="599" y="964"/>
                  </a:cubicBezTo>
                  <a:close/>
                  <a:moveTo>
                    <a:pt x="504" y="969"/>
                  </a:moveTo>
                  <a:cubicBezTo>
                    <a:pt x="504" y="984"/>
                    <a:pt x="491" y="997"/>
                    <a:pt x="476" y="997"/>
                  </a:cubicBezTo>
                  <a:cubicBezTo>
                    <a:pt x="460" y="997"/>
                    <a:pt x="448" y="984"/>
                    <a:pt x="448" y="969"/>
                  </a:cubicBezTo>
                  <a:cubicBezTo>
                    <a:pt x="448" y="953"/>
                    <a:pt x="460" y="941"/>
                    <a:pt x="476" y="941"/>
                  </a:cubicBezTo>
                  <a:cubicBezTo>
                    <a:pt x="491" y="941"/>
                    <a:pt x="504" y="953"/>
                    <a:pt x="504" y="969"/>
                  </a:cubicBezTo>
                  <a:close/>
                  <a:moveTo>
                    <a:pt x="410" y="954"/>
                  </a:moveTo>
                  <a:cubicBezTo>
                    <a:pt x="410" y="969"/>
                    <a:pt x="397" y="982"/>
                    <a:pt x="382" y="982"/>
                  </a:cubicBezTo>
                  <a:cubicBezTo>
                    <a:pt x="366" y="982"/>
                    <a:pt x="354" y="969"/>
                    <a:pt x="354" y="954"/>
                  </a:cubicBezTo>
                  <a:cubicBezTo>
                    <a:pt x="354" y="938"/>
                    <a:pt x="366" y="926"/>
                    <a:pt x="382" y="926"/>
                  </a:cubicBezTo>
                  <a:cubicBezTo>
                    <a:pt x="397" y="926"/>
                    <a:pt x="410" y="938"/>
                    <a:pt x="410" y="954"/>
                  </a:cubicBezTo>
                  <a:close/>
                  <a:moveTo>
                    <a:pt x="321" y="921"/>
                  </a:moveTo>
                  <a:cubicBezTo>
                    <a:pt x="321" y="936"/>
                    <a:pt x="308" y="949"/>
                    <a:pt x="293" y="949"/>
                  </a:cubicBezTo>
                  <a:cubicBezTo>
                    <a:pt x="277" y="949"/>
                    <a:pt x="265" y="936"/>
                    <a:pt x="265" y="921"/>
                  </a:cubicBezTo>
                  <a:cubicBezTo>
                    <a:pt x="265" y="905"/>
                    <a:pt x="277" y="893"/>
                    <a:pt x="293" y="893"/>
                  </a:cubicBezTo>
                  <a:cubicBezTo>
                    <a:pt x="308" y="893"/>
                    <a:pt x="321" y="905"/>
                    <a:pt x="321" y="921"/>
                  </a:cubicBezTo>
                  <a:close/>
                  <a:moveTo>
                    <a:pt x="240" y="871"/>
                  </a:moveTo>
                  <a:cubicBezTo>
                    <a:pt x="240" y="886"/>
                    <a:pt x="227" y="899"/>
                    <a:pt x="212" y="899"/>
                  </a:cubicBezTo>
                  <a:cubicBezTo>
                    <a:pt x="196" y="899"/>
                    <a:pt x="184" y="886"/>
                    <a:pt x="184" y="871"/>
                  </a:cubicBezTo>
                  <a:cubicBezTo>
                    <a:pt x="184" y="855"/>
                    <a:pt x="196" y="843"/>
                    <a:pt x="212" y="843"/>
                  </a:cubicBezTo>
                  <a:cubicBezTo>
                    <a:pt x="227" y="843"/>
                    <a:pt x="240" y="855"/>
                    <a:pt x="240" y="871"/>
                  </a:cubicBezTo>
                  <a:close/>
                  <a:moveTo>
                    <a:pt x="171" y="806"/>
                  </a:moveTo>
                  <a:cubicBezTo>
                    <a:pt x="171" y="821"/>
                    <a:pt x="158" y="834"/>
                    <a:pt x="143" y="834"/>
                  </a:cubicBezTo>
                  <a:cubicBezTo>
                    <a:pt x="127" y="834"/>
                    <a:pt x="115" y="821"/>
                    <a:pt x="115" y="806"/>
                  </a:cubicBezTo>
                  <a:cubicBezTo>
                    <a:pt x="115" y="790"/>
                    <a:pt x="127" y="778"/>
                    <a:pt x="143" y="778"/>
                  </a:cubicBezTo>
                  <a:cubicBezTo>
                    <a:pt x="158" y="778"/>
                    <a:pt x="171" y="790"/>
                    <a:pt x="171" y="806"/>
                  </a:cubicBezTo>
                  <a:close/>
                  <a:moveTo>
                    <a:pt x="117" y="728"/>
                  </a:moveTo>
                  <a:cubicBezTo>
                    <a:pt x="117" y="743"/>
                    <a:pt x="104" y="756"/>
                    <a:pt x="89" y="756"/>
                  </a:cubicBezTo>
                  <a:cubicBezTo>
                    <a:pt x="73" y="756"/>
                    <a:pt x="61" y="743"/>
                    <a:pt x="61" y="728"/>
                  </a:cubicBezTo>
                  <a:cubicBezTo>
                    <a:pt x="61" y="712"/>
                    <a:pt x="73" y="700"/>
                    <a:pt x="89" y="700"/>
                  </a:cubicBezTo>
                  <a:cubicBezTo>
                    <a:pt x="104" y="700"/>
                    <a:pt x="117" y="712"/>
                    <a:pt x="117" y="728"/>
                  </a:cubicBezTo>
                  <a:close/>
                  <a:moveTo>
                    <a:pt x="79" y="640"/>
                  </a:moveTo>
                  <a:cubicBezTo>
                    <a:pt x="79" y="655"/>
                    <a:pt x="66" y="668"/>
                    <a:pt x="51" y="668"/>
                  </a:cubicBezTo>
                  <a:cubicBezTo>
                    <a:pt x="35" y="668"/>
                    <a:pt x="23" y="655"/>
                    <a:pt x="23" y="640"/>
                  </a:cubicBezTo>
                  <a:cubicBezTo>
                    <a:pt x="23" y="624"/>
                    <a:pt x="35" y="612"/>
                    <a:pt x="51" y="612"/>
                  </a:cubicBezTo>
                  <a:cubicBezTo>
                    <a:pt x="66" y="612"/>
                    <a:pt x="79" y="624"/>
                    <a:pt x="79" y="640"/>
                  </a:cubicBezTo>
                  <a:close/>
                  <a:moveTo>
                    <a:pt x="60" y="547"/>
                  </a:moveTo>
                  <a:cubicBezTo>
                    <a:pt x="60" y="562"/>
                    <a:pt x="47" y="575"/>
                    <a:pt x="32" y="575"/>
                  </a:cubicBezTo>
                  <a:cubicBezTo>
                    <a:pt x="16" y="575"/>
                    <a:pt x="4" y="562"/>
                    <a:pt x="4" y="547"/>
                  </a:cubicBezTo>
                  <a:cubicBezTo>
                    <a:pt x="4" y="531"/>
                    <a:pt x="16" y="519"/>
                    <a:pt x="32" y="519"/>
                  </a:cubicBezTo>
                  <a:cubicBezTo>
                    <a:pt x="47" y="519"/>
                    <a:pt x="60" y="531"/>
                    <a:pt x="60" y="547"/>
                  </a:cubicBezTo>
                  <a:close/>
                  <a:moveTo>
                    <a:pt x="60" y="452"/>
                  </a:moveTo>
                  <a:cubicBezTo>
                    <a:pt x="60" y="467"/>
                    <a:pt x="47" y="480"/>
                    <a:pt x="32" y="480"/>
                  </a:cubicBezTo>
                  <a:cubicBezTo>
                    <a:pt x="16" y="480"/>
                    <a:pt x="4" y="467"/>
                    <a:pt x="4" y="452"/>
                  </a:cubicBezTo>
                  <a:cubicBezTo>
                    <a:pt x="4" y="436"/>
                    <a:pt x="16" y="424"/>
                    <a:pt x="32" y="424"/>
                  </a:cubicBezTo>
                  <a:cubicBezTo>
                    <a:pt x="47" y="424"/>
                    <a:pt x="60" y="436"/>
                    <a:pt x="60" y="452"/>
                  </a:cubicBezTo>
                  <a:close/>
                  <a:moveTo>
                    <a:pt x="79" y="359"/>
                  </a:moveTo>
                  <a:cubicBezTo>
                    <a:pt x="79" y="374"/>
                    <a:pt x="66" y="387"/>
                    <a:pt x="51" y="387"/>
                  </a:cubicBezTo>
                  <a:cubicBezTo>
                    <a:pt x="35" y="387"/>
                    <a:pt x="23" y="374"/>
                    <a:pt x="23" y="359"/>
                  </a:cubicBezTo>
                  <a:cubicBezTo>
                    <a:pt x="23" y="343"/>
                    <a:pt x="35" y="331"/>
                    <a:pt x="51" y="331"/>
                  </a:cubicBezTo>
                  <a:cubicBezTo>
                    <a:pt x="66" y="331"/>
                    <a:pt x="79" y="343"/>
                    <a:pt x="79" y="359"/>
                  </a:cubicBezTo>
                  <a:close/>
                  <a:moveTo>
                    <a:pt x="117" y="271"/>
                  </a:moveTo>
                  <a:cubicBezTo>
                    <a:pt x="117" y="286"/>
                    <a:pt x="104" y="299"/>
                    <a:pt x="89" y="299"/>
                  </a:cubicBezTo>
                  <a:cubicBezTo>
                    <a:pt x="73" y="299"/>
                    <a:pt x="61" y="286"/>
                    <a:pt x="61" y="271"/>
                  </a:cubicBezTo>
                  <a:cubicBezTo>
                    <a:pt x="61" y="255"/>
                    <a:pt x="73" y="243"/>
                    <a:pt x="89" y="243"/>
                  </a:cubicBezTo>
                  <a:cubicBezTo>
                    <a:pt x="104" y="243"/>
                    <a:pt x="117" y="255"/>
                    <a:pt x="117" y="271"/>
                  </a:cubicBezTo>
                  <a:close/>
                  <a:moveTo>
                    <a:pt x="171" y="193"/>
                  </a:moveTo>
                  <a:cubicBezTo>
                    <a:pt x="171" y="208"/>
                    <a:pt x="158" y="221"/>
                    <a:pt x="143" y="221"/>
                  </a:cubicBezTo>
                  <a:cubicBezTo>
                    <a:pt x="127" y="221"/>
                    <a:pt x="115" y="208"/>
                    <a:pt x="115" y="193"/>
                  </a:cubicBezTo>
                  <a:cubicBezTo>
                    <a:pt x="115" y="177"/>
                    <a:pt x="127" y="165"/>
                    <a:pt x="143" y="165"/>
                  </a:cubicBezTo>
                  <a:cubicBezTo>
                    <a:pt x="158" y="165"/>
                    <a:pt x="171" y="177"/>
                    <a:pt x="171" y="193"/>
                  </a:cubicBezTo>
                  <a:close/>
                  <a:moveTo>
                    <a:pt x="240" y="128"/>
                  </a:moveTo>
                  <a:cubicBezTo>
                    <a:pt x="240" y="143"/>
                    <a:pt x="227" y="156"/>
                    <a:pt x="212" y="156"/>
                  </a:cubicBezTo>
                  <a:cubicBezTo>
                    <a:pt x="196" y="156"/>
                    <a:pt x="184" y="143"/>
                    <a:pt x="184" y="128"/>
                  </a:cubicBezTo>
                  <a:cubicBezTo>
                    <a:pt x="184" y="112"/>
                    <a:pt x="196" y="100"/>
                    <a:pt x="212" y="100"/>
                  </a:cubicBezTo>
                  <a:cubicBezTo>
                    <a:pt x="227" y="100"/>
                    <a:pt x="240" y="112"/>
                    <a:pt x="240" y="128"/>
                  </a:cubicBezTo>
                  <a:close/>
                  <a:moveTo>
                    <a:pt x="321" y="78"/>
                  </a:moveTo>
                  <a:cubicBezTo>
                    <a:pt x="321" y="93"/>
                    <a:pt x="308" y="106"/>
                    <a:pt x="293" y="106"/>
                  </a:cubicBezTo>
                  <a:cubicBezTo>
                    <a:pt x="277" y="106"/>
                    <a:pt x="265" y="93"/>
                    <a:pt x="265" y="78"/>
                  </a:cubicBezTo>
                  <a:cubicBezTo>
                    <a:pt x="265" y="62"/>
                    <a:pt x="277" y="50"/>
                    <a:pt x="293" y="50"/>
                  </a:cubicBezTo>
                  <a:cubicBezTo>
                    <a:pt x="308" y="50"/>
                    <a:pt x="321" y="62"/>
                    <a:pt x="321" y="78"/>
                  </a:cubicBezTo>
                  <a:close/>
                  <a:moveTo>
                    <a:pt x="410" y="45"/>
                  </a:moveTo>
                  <a:cubicBezTo>
                    <a:pt x="410" y="60"/>
                    <a:pt x="397" y="73"/>
                    <a:pt x="382" y="73"/>
                  </a:cubicBezTo>
                  <a:cubicBezTo>
                    <a:pt x="366" y="73"/>
                    <a:pt x="354" y="60"/>
                    <a:pt x="354" y="45"/>
                  </a:cubicBezTo>
                  <a:cubicBezTo>
                    <a:pt x="354" y="29"/>
                    <a:pt x="366" y="17"/>
                    <a:pt x="382" y="17"/>
                  </a:cubicBezTo>
                  <a:cubicBezTo>
                    <a:pt x="397" y="17"/>
                    <a:pt x="410" y="29"/>
                    <a:pt x="410" y="45"/>
                  </a:cubicBezTo>
                  <a:close/>
                  <a:moveTo>
                    <a:pt x="504" y="30"/>
                  </a:moveTo>
                  <a:cubicBezTo>
                    <a:pt x="504" y="45"/>
                    <a:pt x="491" y="58"/>
                    <a:pt x="476" y="58"/>
                  </a:cubicBezTo>
                  <a:cubicBezTo>
                    <a:pt x="460" y="58"/>
                    <a:pt x="448" y="45"/>
                    <a:pt x="448" y="30"/>
                  </a:cubicBezTo>
                  <a:cubicBezTo>
                    <a:pt x="448" y="14"/>
                    <a:pt x="460" y="2"/>
                    <a:pt x="476" y="2"/>
                  </a:cubicBezTo>
                  <a:cubicBezTo>
                    <a:pt x="491" y="2"/>
                    <a:pt x="504" y="14"/>
                    <a:pt x="504" y="30"/>
                  </a:cubicBezTo>
                  <a:close/>
                  <a:moveTo>
                    <a:pt x="599" y="35"/>
                  </a:moveTo>
                  <a:cubicBezTo>
                    <a:pt x="599" y="50"/>
                    <a:pt x="586" y="63"/>
                    <a:pt x="571" y="63"/>
                  </a:cubicBezTo>
                  <a:cubicBezTo>
                    <a:pt x="555" y="63"/>
                    <a:pt x="543" y="50"/>
                    <a:pt x="543" y="35"/>
                  </a:cubicBezTo>
                  <a:cubicBezTo>
                    <a:pt x="543" y="19"/>
                    <a:pt x="555" y="7"/>
                    <a:pt x="571" y="7"/>
                  </a:cubicBezTo>
                  <a:cubicBezTo>
                    <a:pt x="586" y="7"/>
                    <a:pt x="599" y="19"/>
                    <a:pt x="599" y="35"/>
                  </a:cubicBezTo>
                  <a:close/>
                  <a:moveTo>
                    <a:pt x="691" y="59"/>
                  </a:moveTo>
                  <a:cubicBezTo>
                    <a:pt x="691" y="74"/>
                    <a:pt x="678" y="87"/>
                    <a:pt x="663" y="87"/>
                  </a:cubicBezTo>
                  <a:cubicBezTo>
                    <a:pt x="647" y="87"/>
                    <a:pt x="635" y="74"/>
                    <a:pt x="635" y="59"/>
                  </a:cubicBezTo>
                  <a:cubicBezTo>
                    <a:pt x="635" y="43"/>
                    <a:pt x="647" y="31"/>
                    <a:pt x="663" y="31"/>
                  </a:cubicBezTo>
                  <a:cubicBezTo>
                    <a:pt x="678" y="31"/>
                    <a:pt x="691" y="43"/>
                    <a:pt x="691" y="59"/>
                  </a:cubicBezTo>
                  <a:close/>
                  <a:moveTo>
                    <a:pt x="776" y="101"/>
                  </a:moveTo>
                  <a:cubicBezTo>
                    <a:pt x="776" y="116"/>
                    <a:pt x="763" y="129"/>
                    <a:pt x="748" y="129"/>
                  </a:cubicBezTo>
                  <a:cubicBezTo>
                    <a:pt x="732" y="129"/>
                    <a:pt x="720" y="116"/>
                    <a:pt x="720" y="101"/>
                  </a:cubicBezTo>
                  <a:cubicBezTo>
                    <a:pt x="720" y="85"/>
                    <a:pt x="732" y="73"/>
                    <a:pt x="748" y="73"/>
                  </a:cubicBezTo>
                  <a:cubicBezTo>
                    <a:pt x="763" y="73"/>
                    <a:pt x="776" y="85"/>
                    <a:pt x="776" y="101"/>
                  </a:cubicBezTo>
                  <a:close/>
                  <a:moveTo>
                    <a:pt x="851" y="159"/>
                  </a:moveTo>
                  <a:cubicBezTo>
                    <a:pt x="851" y="174"/>
                    <a:pt x="838" y="187"/>
                    <a:pt x="823" y="187"/>
                  </a:cubicBezTo>
                  <a:cubicBezTo>
                    <a:pt x="807" y="187"/>
                    <a:pt x="795" y="174"/>
                    <a:pt x="795" y="159"/>
                  </a:cubicBezTo>
                  <a:cubicBezTo>
                    <a:pt x="795" y="143"/>
                    <a:pt x="807" y="131"/>
                    <a:pt x="823" y="131"/>
                  </a:cubicBezTo>
                  <a:cubicBezTo>
                    <a:pt x="838" y="131"/>
                    <a:pt x="851" y="143"/>
                    <a:pt x="851" y="159"/>
                  </a:cubicBezTo>
                  <a:close/>
                  <a:moveTo>
                    <a:pt x="913" y="231"/>
                  </a:moveTo>
                  <a:cubicBezTo>
                    <a:pt x="913" y="246"/>
                    <a:pt x="900" y="259"/>
                    <a:pt x="885" y="259"/>
                  </a:cubicBezTo>
                  <a:cubicBezTo>
                    <a:pt x="869" y="259"/>
                    <a:pt x="857" y="246"/>
                    <a:pt x="857" y="231"/>
                  </a:cubicBezTo>
                  <a:cubicBezTo>
                    <a:pt x="857" y="215"/>
                    <a:pt x="869" y="203"/>
                    <a:pt x="885" y="203"/>
                  </a:cubicBezTo>
                  <a:cubicBezTo>
                    <a:pt x="900" y="203"/>
                    <a:pt x="913" y="215"/>
                    <a:pt x="913" y="231"/>
                  </a:cubicBezTo>
                  <a:close/>
                  <a:moveTo>
                    <a:pt x="959" y="314"/>
                  </a:moveTo>
                  <a:cubicBezTo>
                    <a:pt x="959" y="329"/>
                    <a:pt x="946" y="342"/>
                    <a:pt x="931" y="342"/>
                  </a:cubicBezTo>
                  <a:cubicBezTo>
                    <a:pt x="915" y="342"/>
                    <a:pt x="903" y="329"/>
                    <a:pt x="903" y="314"/>
                  </a:cubicBezTo>
                  <a:cubicBezTo>
                    <a:pt x="903" y="298"/>
                    <a:pt x="915" y="286"/>
                    <a:pt x="931" y="286"/>
                  </a:cubicBezTo>
                  <a:cubicBezTo>
                    <a:pt x="946" y="286"/>
                    <a:pt x="959" y="298"/>
                    <a:pt x="959" y="314"/>
                  </a:cubicBezTo>
                  <a:close/>
                  <a:moveTo>
                    <a:pt x="988" y="405"/>
                  </a:moveTo>
                  <a:cubicBezTo>
                    <a:pt x="988" y="420"/>
                    <a:pt x="975" y="433"/>
                    <a:pt x="960" y="433"/>
                  </a:cubicBezTo>
                  <a:cubicBezTo>
                    <a:pt x="944" y="433"/>
                    <a:pt x="932" y="420"/>
                    <a:pt x="932" y="405"/>
                  </a:cubicBezTo>
                  <a:cubicBezTo>
                    <a:pt x="932" y="389"/>
                    <a:pt x="944" y="377"/>
                    <a:pt x="960" y="377"/>
                  </a:cubicBezTo>
                  <a:cubicBezTo>
                    <a:pt x="975" y="377"/>
                    <a:pt x="988" y="389"/>
                    <a:pt x="988" y="405"/>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9" name="Forma 8"/>
            <p:cNvSpPr/>
            <p:nvPr/>
          </p:nvSpPr>
          <p:spPr>
            <a:xfrm>
              <a:off x="2926080" y="3108960"/>
              <a:ext cx="640080" cy="64008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50800" cap="rnd">
              <a:solidFill>
                <a:srgbClr val="5DADE2"/>
              </a:solidFill>
              <a:round/>
            </a:ln>
          </p:spPr>
        </p:sp>
        <p:sp>
          <p:nvSpPr>
            <p:cNvPr id="10" name="Forma 9"/>
            <p:cNvSpPr txBox="1"/>
            <p:nvPr/>
          </p:nvSpPr>
          <p:spPr>
            <a:xfrm>
              <a:off x="2926080" y="3300984"/>
              <a:ext cx="640080" cy="256032"/>
            </a:xfrm>
            <a:prstGeom prst="rect">
              <a:avLst/>
            </a:prstGeom>
            <a:noFill/>
            <a:ln>
              <a:noFill/>
            </a:ln>
          </p:spPr>
          <p:txBody>
            <a:bodyPr wrap="square" lIns="0" tIns="0" rIns="0" bIns="0" anchor="ctr" rtlCol="0">
              <a:noAutofit/>
            </a:bodyPr>
            <a:lstStyle/>
            <a:p>
              <a:pPr algn="ctr">
                <a:spcAft>
                  <a:spcPts val="300"/>
                </a:spcAft>
                <a:buNone/>
              </a:pPr>
              <a:r>
                <a:rPr lang="es-AR" sz="900" b="1" dirty="0">
                  <a:solidFill>
                    <a:srgbClr val="1E1E1E"/>
                  </a:solidFill>
                  <a:latin typeface="Bahnschrift SemiBold Condensed"/>
                  <a:ea typeface="Bahnschrift SemiBold Condensed"/>
                  <a:cs typeface="Bahnschrift SemiBold Condensed"/>
                  <a:sym typeface="Bahnschrift SemiBold Condensed"/>
                </a:rPr>
                <a:t>ApoA-I</a:t>
              </a:r>
              <a:endParaRPr lang="es-AR" sz="900" dirty="0">
                <a:latin typeface="Bahnschrift SemiBold Condensed"/>
              </a:endParaRPr>
            </a:p>
          </p:txBody>
        </p:sp>
      </p:grpSp>
      <p:sp>
        <p:nvSpPr>
          <p:cNvPr id="11" name="LCAT"/>
          <p:cNvSpPr/>
          <p:nvPr/>
        </p:nvSpPr>
        <p:spPr>
          <a:xfrm>
            <a:off x="3840480" y="2331720"/>
            <a:ext cx="63918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LCAT</a:t>
            </a:r>
            <a:endParaRPr lang="es-AR" sz="1250" dirty="0">
              <a:latin typeface="Bahnschrift SemiBold Condensed"/>
            </a:endParaRPr>
          </a:p>
        </p:txBody>
      </p:sp>
      <p:grpSp>
        <p:nvGrpSpPr>
          <p:cNvPr id="12" name="HDL madura"/>
          <p:cNvGrpSpPr/>
          <p:nvPr/>
        </p:nvGrpSpPr>
        <p:grpSpPr>
          <a:xfrm>
            <a:off x="4480560" y="2971800"/>
            <a:ext cx="1005840" cy="1005840"/>
            <a:chOff x="4480560" y="2971800"/>
            <a:chExt cx="1005840" cy="1005840"/>
          </a:xfrm>
        </p:grpSpPr>
        <p:sp>
          <p:nvSpPr>
            <p:cNvPr id="13" name="Forma 12"/>
            <p:cNvSpPr/>
            <p:nvPr/>
          </p:nvSpPr>
          <p:spPr>
            <a:xfrm>
              <a:off x="4480560" y="2971800"/>
              <a:ext cx="1005840" cy="1005840"/>
            </a:xfrm>
            <a:prstGeom prst="ellipse">
              <a:avLst/>
            </a:prstGeom>
            <a:gradFill rotWithShape="1">
              <a:gsLst>
                <a:gs pos="0">
                  <a:srgbClr val="FEF7EC"/>
                </a:gs>
                <a:gs pos="70000">
                  <a:srgbClr val="FDEBD0"/>
                </a:gs>
                <a:gs pos="100000">
                  <a:srgbClr val="CABCA6"/>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14" name="Forma 13"/>
            <p:cNvSpPr/>
            <p:nvPr/>
          </p:nvSpPr>
          <p:spPr>
            <a:xfrm>
              <a:off x="4480560" y="2971800"/>
              <a:ext cx="1005840" cy="100584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4" y="560"/>
                  </a:moveTo>
                  <a:cubicBezTo>
                    <a:pt x="994" y="575"/>
                    <a:pt x="981" y="588"/>
                    <a:pt x="966" y="588"/>
                  </a:cubicBezTo>
                  <a:cubicBezTo>
                    <a:pt x="950" y="588"/>
                    <a:pt x="938" y="575"/>
                    <a:pt x="938" y="560"/>
                  </a:cubicBezTo>
                  <a:cubicBezTo>
                    <a:pt x="938" y="544"/>
                    <a:pt x="950" y="532"/>
                    <a:pt x="966" y="532"/>
                  </a:cubicBezTo>
                  <a:cubicBezTo>
                    <a:pt x="981" y="532"/>
                    <a:pt x="994" y="544"/>
                    <a:pt x="994" y="560"/>
                  </a:cubicBezTo>
                  <a:close/>
                  <a:moveTo>
                    <a:pt x="982" y="619"/>
                  </a:moveTo>
                  <a:cubicBezTo>
                    <a:pt x="982" y="634"/>
                    <a:pt x="969" y="647"/>
                    <a:pt x="954" y="647"/>
                  </a:cubicBezTo>
                  <a:cubicBezTo>
                    <a:pt x="938" y="647"/>
                    <a:pt x="926" y="634"/>
                    <a:pt x="926" y="619"/>
                  </a:cubicBezTo>
                  <a:cubicBezTo>
                    <a:pt x="926" y="603"/>
                    <a:pt x="938" y="591"/>
                    <a:pt x="954" y="591"/>
                  </a:cubicBezTo>
                  <a:cubicBezTo>
                    <a:pt x="969" y="591"/>
                    <a:pt x="982" y="603"/>
                    <a:pt x="982" y="619"/>
                  </a:cubicBezTo>
                  <a:close/>
                  <a:moveTo>
                    <a:pt x="963" y="676"/>
                  </a:moveTo>
                  <a:cubicBezTo>
                    <a:pt x="963" y="691"/>
                    <a:pt x="950" y="704"/>
                    <a:pt x="935" y="704"/>
                  </a:cubicBezTo>
                  <a:cubicBezTo>
                    <a:pt x="919" y="704"/>
                    <a:pt x="907" y="691"/>
                    <a:pt x="907" y="676"/>
                  </a:cubicBezTo>
                  <a:cubicBezTo>
                    <a:pt x="907" y="660"/>
                    <a:pt x="919" y="648"/>
                    <a:pt x="935" y="648"/>
                  </a:cubicBezTo>
                  <a:cubicBezTo>
                    <a:pt x="950" y="648"/>
                    <a:pt x="963" y="660"/>
                    <a:pt x="963" y="676"/>
                  </a:cubicBezTo>
                  <a:close/>
                  <a:moveTo>
                    <a:pt x="937" y="730"/>
                  </a:moveTo>
                  <a:cubicBezTo>
                    <a:pt x="937" y="745"/>
                    <a:pt x="924" y="758"/>
                    <a:pt x="909" y="758"/>
                  </a:cubicBezTo>
                  <a:cubicBezTo>
                    <a:pt x="893" y="758"/>
                    <a:pt x="881" y="745"/>
                    <a:pt x="881" y="730"/>
                  </a:cubicBezTo>
                  <a:cubicBezTo>
                    <a:pt x="881" y="714"/>
                    <a:pt x="893" y="702"/>
                    <a:pt x="909" y="702"/>
                  </a:cubicBezTo>
                  <a:cubicBezTo>
                    <a:pt x="924" y="702"/>
                    <a:pt x="937" y="714"/>
                    <a:pt x="937" y="730"/>
                  </a:cubicBezTo>
                  <a:close/>
                  <a:moveTo>
                    <a:pt x="904" y="781"/>
                  </a:moveTo>
                  <a:cubicBezTo>
                    <a:pt x="904" y="796"/>
                    <a:pt x="891" y="809"/>
                    <a:pt x="876" y="809"/>
                  </a:cubicBezTo>
                  <a:cubicBezTo>
                    <a:pt x="860" y="809"/>
                    <a:pt x="848" y="796"/>
                    <a:pt x="848" y="781"/>
                  </a:cubicBezTo>
                  <a:cubicBezTo>
                    <a:pt x="848" y="765"/>
                    <a:pt x="860" y="753"/>
                    <a:pt x="876" y="753"/>
                  </a:cubicBezTo>
                  <a:cubicBezTo>
                    <a:pt x="891" y="753"/>
                    <a:pt x="904" y="765"/>
                    <a:pt x="904" y="781"/>
                  </a:cubicBezTo>
                  <a:close/>
                  <a:moveTo>
                    <a:pt x="865" y="826"/>
                  </a:moveTo>
                  <a:cubicBezTo>
                    <a:pt x="865" y="841"/>
                    <a:pt x="852" y="854"/>
                    <a:pt x="837" y="854"/>
                  </a:cubicBezTo>
                  <a:cubicBezTo>
                    <a:pt x="821" y="854"/>
                    <a:pt x="809" y="841"/>
                    <a:pt x="809" y="826"/>
                  </a:cubicBezTo>
                  <a:cubicBezTo>
                    <a:pt x="809" y="810"/>
                    <a:pt x="821" y="798"/>
                    <a:pt x="837" y="798"/>
                  </a:cubicBezTo>
                  <a:cubicBezTo>
                    <a:pt x="852" y="798"/>
                    <a:pt x="865" y="810"/>
                    <a:pt x="865" y="826"/>
                  </a:cubicBezTo>
                  <a:close/>
                  <a:moveTo>
                    <a:pt x="821" y="867"/>
                  </a:moveTo>
                  <a:cubicBezTo>
                    <a:pt x="821" y="882"/>
                    <a:pt x="808" y="895"/>
                    <a:pt x="793" y="895"/>
                  </a:cubicBezTo>
                  <a:cubicBezTo>
                    <a:pt x="777" y="895"/>
                    <a:pt x="765" y="882"/>
                    <a:pt x="765" y="867"/>
                  </a:cubicBezTo>
                  <a:cubicBezTo>
                    <a:pt x="765" y="851"/>
                    <a:pt x="777" y="839"/>
                    <a:pt x="793" y="839"/>
                  </a:cubicBezTo>
                  <a:cubicBezTo>
                    <a:pt x="808" y="839"/>
                    <a:pt x="821" y="851"/>
                    <a:pt x="821" y="867"/>
                  </a:cubicBezTo>
                  <a:close/>
                  <a:moveTo>
                    <a:pt x="771" y="901"/>
                  </a:moveTo>
                  <a:cubicBezTo>
                    <a:pt x="771" y="916"/>
                    <a:pt x="758" y="929"/>
                    <a:pt x="743" y="929"/>
                  </a:cubicBezTo>
                  <a:cubicBezTo>
                    <a:pt x="727" y="929"/>
                    <a:pt x="715" y="916"/>
                    <a:pt x="715" y="901"/>
                  </a:cubicBezTo>
                  <a:cubicBezTo>
                    <a:pt x="715" y="885"/>
                    <a:pt x="727" y="873"/>
                    <a:pt x="743" y="873"/>
                  </a:cubicBezTo>
                  <a:cubicBezTo>
                    <a:pt x="758" y="873"/>
                    <a:pt x="771" y="885"/>
                    <a:pt x="771" y="901"/>
                  </a:cubicBezTo>
                  <a:close/>
                  <a:moveTo>
                    <a:pt x="718" y="929"/>
                  </a:moveTo>
                  <a:cubicBezTo>
                    <a:pt x="718" y="944"/>
                    <a:pt x="705" y="957"/>
                    <a:pt x="690" y="957"/>
                  </a:cubicBezTo>
                  <a:cubicBezTo>
                    <a:pt x="674" y="957"/>
                    <a:pt x="662" y="944"/>
                    <a:pt x="662" y="929"/>
                  </a:cubicBezTo>
                  <a:cubicBezTo>
                    <a:pt x="662" y="913"/>
                    <a:pt x="674" y="901"/>
                    <a:pt x="690" y="901"/>
                  </a:cubicBezTo>
                  <a:cubicBezTo>
                    <a:pt x="705" y="901"/>
                    <a:pt x="718" y="913"/>
                    <a:pt x="718" y="929"/>
                  </a:cubicBezTo>
                  <a:close/>
                  <a:moveTo>
                    <a:pt x="661" y="950"/>
                  </a:moveTo>
                  <a:cubicBezTo>
                    <a:pt x="661" y="965"/>
                    <a:pt x="648" y="978"/>
                    <a:pt x="633" y="978"/>
                  </a:cubicBezTo>
                  <a:cubicBezTo>
                    <a:pt x="617" y="978"/>
                    <a:pt x="605" y="965"/>
                    <a:pt x="605" y="950"/>
                  </a:cubicBezTo>
                  <a:cubicBezTo>
                    <a:pt x="605" y="934"/>
                    <a:pt x="617" y="922"/>
                    <a:pt x="633" y="922"/>
                  </a:cubicBezTo>
                  <a:cubicBezTo>
                    <a:pt x="648" y="922"/>
                    <a:pt x="661" y="934"/>
                    <a:pt x="661" y="950"/>
                  </a:cubicBezTo>
                  <a:close/>
                  <a:moveTo>
                    <a:pt x="603" y="963"/>
                  </a:moveTo>
                  <a:cubicBezTo>
                    <a:pt x="603" y="978"/>
                    <a:pt x="590" y="991"/>
                    <a:pt x="575" y="991"/>
                  </a:cubicBezTo>
                  <a:cubicBezTo>
                    <a:pt x="559" y="991"/>
                    <a:pt x="547" y="978"/>
                    <a:pt x="547" y="963"/>
                  </a:cubicBezTo>
                  <a:cubicBezTo>
                    <a:pt x="547" y="947"/>
                    <a:pt x="559" y="935"/>
                    <a:pt x="575" y="935"/>
                  </a:cubicBezTo>
                  <a:cubicBezTo>
                    <a:pt x="590" y="935"/>
                    <a:pt x="603" y="947"/>
                    <a:pt x="603" y="963"/>
                  </a:cubicBezTo>
                  <a:close/>
                  <a:moveTo>
                    <a:pt x="543" y="969"/>
                  </a:moveTo>
                  <a:cubicBezTo>
                    <a:pt x="543" y="984"/>
                    <a:pt x="530" y="997"/>
                    <a:pt x="515" y="997"/>
                  </a:cubicBezTo>
                  <a:cubicBezTo>
                    <a:pt x="499" y="997"/>
                    <a:pt x="487" y="984"/>
                    <a:pt x="487" y="969"/>
                  </a:cubicBezTo>
                  <a:cubicBezTo>
                    <a:pt x="487" y="953"/>
                    <a:pt x="499" y="941"/>
                    <a:pt x="515" y="941"/>
                  </a:cubicBezTo>
                  <a:cubicBezTo>
                    <a:pt x="530" y="941"/>
                    <a:pt x="543" y="953"/>
                    <a:pt x="543" y="969"/>
                  </a:cubicBezTo>
                  <a:close/>
                  <a:moveTo>
                    <a:pt x="482" y="967"/>
                  </a:moveTo>
                  <a:cubicBezTo>
                    <a:pt x="482" y="982"/>
                    <a:pt x="469" y="995"/>
                    <a:pt x="454" y="995"/>
                  </a:cubicBezTo>
                  <a:cubicBezTo>
                    <a:pt x="438" y="995"/>
                    <a:pt x="426" y="982"/>
                    <a:pt x="426" y="967"/>
                  </a:cubicBezTo>
                  <a:cubicBezTo>
                    <a:pt x="426" y="951"/>
                    <a:pt x="438" y="939"/>
                    <a:pt x="454" y="939"/>
                  </a:cubicBezTo>
                  <a:cubicBezTo>
                    <a:pt x="469" y="939"/>
                    <a:pt x="482" y="951"/>
                    <a:pt x="482" y="967"/>
                  </a:cubicBezTo>
                  <a:close/>
                  <a:moveTo>
                    <a:pt x="423" y="958"/>
                  </a:moveTo>
                  <a:cubicBezTo>
                    <a:pt x="423" y="973"/>
                    <a:pt x="410" y="986"/>
                    <a:pt x="395" y="986"/>
                  </a:cubicBezTo>
                  <a:cubicBezTo>
                    <a:pt x="379" y="986"/>
                    <a:pt x="367" y="973"/>
                    <a:pt x="367" y="958"/>
                  </a:cubicBezTo>
                  <a:cubicBezTo>
                    <a:pt x="367" y="942"/>
                    <a:pt x="379" y="930"/>
                    <a:pt x="395" y="930"/>
                  </a:cubicBezTo>
                  <a:cubicBezTo>
                    <a:pt x="410" y="930"/>
                    <a:pt x="423" y="942"/>
                    <a:pt x="423" y="958"/>
                  </a:cubicBezTo>
                  <a:close/>
                  <a:moveTo>
                    <a:pt x="365" y="941"/>
                  </a:moveTo>
                  <a:cubicBezTo>
                    <a:pt x="365" y="956"/>
                    <a:pt x="352" y="969"/>
                    <a:pt x="337" y="969"/>
                  </a:cubicBezTo>
                  <a:cubicBezTo>
                    <a:pt x="321" y="969"/>
                    <a:pt x="309" y="956"/>
                    <a:pt x="309" y="941"/>
                  </a:cubicBezTo>
                  <a:cubicBezTo>
                    <a:pt x="309" y="925"/>
                    <a:pt x="321" y="913"/>
                    <a:pt x="337" y="913"/>
                  </a:cubicBezTo>
                  <a:cubicBezTo>
                    <a:pt x="352" y="913"/>
                    <a:pt x="365" y="925"/>
                    <a:pt x="365" y="941"/>
                  </a:cubicBezTo>
                  <a:close/>
                  <a:moveTo>
                    <a:pt x="310" y="916"/>
                  </a:moveTo>
                  <a:cubicBezTo>
                    <a:pt x="310" y="931"/>
                    <a:pt x="297" y="944"/>
                    <a:pt x="282" y="944"/>
                  </a:cubicBezTo>
                  <a:cubicBezTo>
                    <a:pt x="266" y="944"/>
                    <a:pt x="254" y="931"/>
                    <a:pt x="254" y="916"/>
                  </a:cubicBezTo>
                  <a:cubicBezTo>
                    <a:pt x="254" y="900"/>
                    <a:pt x="266" y="888"/>
                    <a:pt x="282" y="888"/>
                  </a:cubicBezTo>
                  <a:cubicBezTo>
                    <a:pt x="297" y="888"/>
                    <a:pt x="310" y="900"/>
                    <a:pt x="310" y="916"/>
                  </a:cubicBezTo>
                  <a:close/>
                  <a:moveTo>
                    <a:pt x="259" y="885"/>
                  </a:moveTo>
                  <a:cubicBezTo>
                    <a:pt x="259" y="900"/>
                    <a:pt x="246" y="913"/>
                    <a:pt x="231" y="913"/>
                  </a:cubicBezTo>
                  <a:cubicBezTo>
                    <a:pt x="215" y="913"/>
                    <a:pt x="203" y="900"/>
                    <a:pt x="203" y="885"/>
                  </a:cubicBezTo>
                  <a:cubicBezTo>
                    <a:pt x="203" y="869"/>
                    <a:pt x="215" y="857"/>
                    <a:pt x="231" y="857"/>
                  </a:cubicBezTo>
                  <a:cubicBezTo>
                    <a:pt x="246" y="857"/>
                    <a:pt x="259" y="869"/>
                    <a:pt x="259" y="885"/>
                  </a:cubicBezTo>
                  <a:close/>
                  <a:moveTo>
                    <a:pt x="212" y="847"/>
                  </a:moveTo>
                  <a:cubicBezTo>
                    <a:pt x="212" y="862"/>
                    <a:pt x="199" y="875"/>
                    <a:pt x="184" y="875"/>
                  </a:cubicBezTo>
                  <a:cubicBezTo>
                    <a:pt x="168" y="875"/>
                    <a:pt x="156" y="862"/>
                    <a:pt x="156" y="847"/>
                  </a:cubicBezTo>
                  <a:cubicBezTo>
                    <a:pt x="156" y="831"/>
                    <a:pt x="168" y="819"/>
                    <a:pt x="184" y="819"/>
                  </a:cubicBezTo>
                  <a:cubicBezTo>
                    <a:pt x="199" y="819"/>
                    <a:pt x="212" y="831"/>
                    <a:pt x="212" y="847"/>
                  </a:cubicBezTo>
                  <a:close/>
                  <a:moveTo>
                    <a:pt x="170" y="804"/>
                  </a:moveTo>
                  <a:cubicBezTo>
                    <a:pt x="170" y="819"/>
                    <a:pt x="157" y="832"/>
                    <a:pt x="142" y="832"/>
                  </a:cubicBezTo>
                  <a:cubicBezTo>
                    <a:pt x="126" y="832"/>
                    <a:pt x="114" y="819"/>
                    <a:pt x="114" y="804"/>
                  </a:cubicBezTo>
                  <a:cubicBezTo>
                    <a:pt x="114" y="788"/>
                    <a:pt x="126" y="776"/>
                    <a:pt x="142" y="776"/>
                  </a:cubicBezTo>
                  <a:cubicBezTo>
                    <a:pt x="157" y="776"/>
                    <a:pt x="170" y="788"/>
                    <a:pt x="170" y="804"/>
                  </a:cubicBezTo>
                  <a:close/>
                  <a:moveTo>
                    <a:pt x="134" y="756"/>
                  </a:moveTo>
                  <a:cubicBezTo>
                    <a:pt x="134" y="771"/>
                    <a:pt x="121" y="784"/>
                    <a:pt x="106" y="784"/>
                  </a:cubicBezTo>
                  <a:cubicBezTo>
                    <a:pt x="90" y="784"/>
                    <a:pt x="78" y="771"/>
                    <a:pt x="78" y="756"/>
                  </a:cubicBezTo>
                  <a:cubicBezTo>
                    <a:pt x="78" y="740"/>
                    <a:pt x="90" y="728"/>
                    <a:pt x="106" y="728"/>
                  </a:cubicBezTo>
                  <a:cubicBezTo>
                    <a:pt x="121" y="728"/>
                    <a:pt x="134" y="740"/>
                    <a:pt x="134" y="756"/>
                  </a:cubicBezTo>
                  <a:close/>
                  <a:moveTo>
                    <a:pt x="104" y="703"/>
                  </a:moveTo>
                  <a:cubicBezTo>
                    <a:pt x="104" y="718"/>
                    <a:pt x="91" y="731"/>
                    <a:pt x="76" y="731"/>
                  </a:cubicBezTo>
                  <a:cubicBezTo>
                    <a:pt x="60" y="731"/>
                    <a:pt x="48" y="718"/>
                    <a:pt x="48" y="703"/>
                  </a:cubicBezTo>
                  <a:cubicBezTo>
                    <a:pt x="48" y="687"/>
                    <a:pt x="60" y="675"/>
                    <a:pt x="76" y="675"/>
                  </a:cubicBezTo>
                  <a:cubicBezTo>
                    <a:pt x="91" y="675"/>
                    <a:pt x="104" y="687"/>
                    <a:pt x="104" y="703"/>
                  </a:cubicBezTo>
                  <a:close/>
                  <a:moveTo>
                    <a:pt x="81" y="648"/>
                  </a:moveTo>
                  <a:cubicBezTo>
                    <a:pt x="81" y="663"/>
                    <a:pt x="68" y="676"/>
                    <a:pt x="53" y="676"/>
                  </a:cubicBezTo>
                  <a:cubicBezTo>
                    <a:pt x="37" y="676"/>
                    <a:pt x="25" y="663"/>
                    <a:pt x="25" y="648"/>
                  </a:cubicBezTo>
                  <a:cubicBezTo>
                    <a:pt x="25" y="632"/>
                    <a:pt x="37" y="620"/>
                    <a:pt x="53" y="620"/>
                  </a:cubicBezTo>
                  <a:cubicBezTo>
                    <a:pt x="68" y="620"/>
                    <a:pt x="81" y="632"/>
                    <a:pt x="81" y="648"/>
                  </a:cubicBezTo>
                  <a:close/>
                  <a:moveTo>
                    <a:pt x="66" y="589"/>
                  </a:moveTo>
                  <a:cubicBezTo>
                    <a:pt x="66" y="604"/>
                    <a:pt x="53" y="617"/>
                    <a:pt x="38" y="617"/>
                  </a:cubicBezTo>
                  <a:cubicBezTo>
                    <a:pt x="22" y="617"/>
                    <a:pt x="10" y="604"/>
                    <a:pt x="10" y="589"/>
                  </a:cubicBezTo>
                  <a:cubicBezTo>
                    <a:pt x="10" y="573"/>
                    <a:pt x="22" y="561"/>
                    <a:pt x="38" y="561"/>
                  </a:cubicBezTo>
                  <a:cubicBezTo>
                    <a:pt x="53" y="561"/>
                    <a:pt x="66" y="573"/>
                    <a:pt x="66" y="589"/>
                  </a:cubicBezTo>
                  <a:close/>
                  <a:moveTo>
                    <a:pt x="58" y="530"/>
                  </a:moveTo>
                  <a:cubicBezTo>
                    <a:pt x="58" y="545"/>
                    <a:pt x="45" y="558"/>
                    <a:pt x="30" y="558"/>
                  </a:cubicBezTo>
                  <a:cubicBezTo>
                    <a:pt x="14" y="558"/>
                    <a:pt x="2" y="545"/>
                    <a:pt x="2" y="530"/>
                  </a:cubicBezTo>
                  <a:cubicBezTo>
                    <a:pt x="2" y="514"/>
                    <a:pt x="14" y="502"/>
                    <a:pt x="30" y="502"/>
                  </a:cubicBezTo>
                  <a:cubicBezTo>
                    <a:pt x="45" y="502"/>
                    <a:pt x="58" y="514"/>
                    <a:pt x="58" y="530"/>
                  </a:cubicBezTo>
                  <a:close/>
                  <a:moveTo>
                    <a:pt x="58" y="469"/>
                  </a:moveTo>
                  <a:cubicBezTo>
                    <a:pt x="58" y="484"/>
                    <a:pt x="45" y="497"/>
                    <a:pt x="30" y="497"/>
                  </a:cubicBezTo>
                  <a:cubicBezTo>
                    <a:pt x="14" y="497"/>
                    <a:pt x="2" y="484"/>
                    <a:pt x="2" y="469"/>
                  </a:cubicBezTo>
                  <a:cubicBezTo>
                    <a:pt x="2" y="453"/>
                    <a:pt x="14" y="441"/>
                    <a:pt x="30" y="441"/>
                  </a:cubicBezTo>
                  <a:cubicBezTo>
                    <a:pt x="45" y="441"/>
                    <a:pt x="58" y="453"/>
                    <a:pt x="58" y="469"/>
                  </a:cubicBezTo>
                  <a:close/>
                  <a:moveTo>
                    <a:pt x="66" y="410"/>
                  </a:moveTo>
                  <a:cubicBezTo>
                    <a:pt x="66" y="425"/>
                    <a:pt x="53" y="438"/>
                    <a:pt x="38" y="438"/>
                  </a:cubicBezTo>
                  <a:cubicBezTo>
                    <a:pt x="22" y="438"/>
                    <a:pt x="10" y="425"/>
                    <a:pt x="10" y="410"/>
                  </a:cubicBezTo>
                  <a:cubicBezTo>
                    <a:pt x="10" y="394"/>
                    <a:pt x="22" y="382"/>
                    <a:pt x="38" y="382"/>
                  </a:cubicBezTo>
                  <a:cubicBezTo>
                    <a:pt x="53" y="382"/>
                    <a:pt x="66" y="394"/>
                    <a:pt x="66" y="410"/>
                  </a:cubicBezTo>
                  <a:close/>
                  <a:moveTo>
                    <a:pt x="81" y="351"/>
                  </a:moveTo>
                  <a:cubicBezTo>
                    <a:pt x="81" y="366"/>
                    <a:pt x="68" y="379"/>
                    <a:pt x="53" y="379"/>
                  </a:cubicBezTo>
                  <a:cubicBezTo>
                    <a:pt x="37" y="379"/>
                    <a:pt x="25" y="366"/>
                    <a:pt x="25" y="351"/>
                  </a:cubicBezTo>
                  <a:cubicBezTo>
                    <a:pt x="25" y="335"/>
                    <a:pt x="37" y="323"/>
                    <a:pt x="53" y="323"/>
                  </a:cubicBezTo>
                  <a:cubicBezTo>
                    <a:pt x="68" y="323"/>
                    <a:pt x="81" y="335"/>
                    <a:pt x="81" y="351"/>
                  </a:cubicBezTo>
                  <a:close/>
                  <a:moveTo>
                    <a:pt x="104" y="296"/>
                  </a:moveTo>
                  <a:cubicBezTo>
                    <a:pt x="104" y="311"/>
                    <a:pt x="91" y="324"/>
                    <a:pt x="76" y="324"/>
                  </a:cubicBezTo>
                  <a:cubicBezTo>
                    <a:pt x="60" y="324"/>
                    <a:pt x="48" y="311"/>
                    <a:pt x="48" y="296"/>
                  </a:cubicBezTo>
                  <a:cubicBezTo>
                    <a:pt x="48" y="280"/>
                    <a:pt x="60" y="268"/>
                    <a:pt x="76" y="268"/>
                  </a:cubicBezTo>
                  <a:cubicBezTo>
                    <a:pt x="91" y="268"/>
                    <a:pt x="104" y="280"/>
                    <a:pt x="104" y="296"/>
                  </a:cubicBezTo>
                  <a:close/>
                  <a:moveTo>
                    <a:pt x="134" y="243"/>
                  </a:moveTo>
                  <a:cubicBezTo>
                    <a:pt x="134" y="258"/>
                    <a:pt x="121" y="271"/>
                    <a:pt x="106" y="271"/>
                  </a:cubicBezTo>
                  <a:cubicBezTo>
                    <a:pt x="90" y="271"/>
                    <a:pt x="78" y="258"/>
                    <a:pt x="78" y="243"/>
                  </a:cubicBezTo>
                  <a:cubicBezTo>
                    <a:pt x="78" y="227"/>
                    <a:pt x="90" y="215"/>
                    <a:pt x="106" y="215"/>
                  </a:cubicBezTo>
                  <a:cubicBezTo>
                    <a:pt x="121" y="215"/>
                    <a:pt x="134" y="227"/>
                    <a:pt x="134" y="243"/>
                  </a:cubicBezTo>
                  <a:close/>
                  <a:moveTo>
                    <a:pt x="170" y="195"/>
                  </a:moveTo>
                  <a:cubicBezTo>
                    <a:pt x="170" y="210"/>
                    <a:pt x="157" y="223"/>
                    <a:pt x="142" y="223"/>
                  </a:cubicBezTo>
                  <a:cubicBezTo>
                    <a:pt x="126" y="223"/>
                    <a:pt x="114" y="210"/>
                    <a:pt x="114" y="195"/>
                  </a:cubicBezTo>
                  <a:cubicBezTo>
                    <a:pt x="114" y="179"/>
                    <a:pt x="126" y="167"/>
                    <a:pt x="142" y="167"/>
                  </a:cubicBezTo>
                  <a:cubicBezTo>
                    <a:pt x="157" y="167"/>
                    <a:pt x="170" y="179"/>
                    <a:pt x="170" y="195"/>
                  </a:cubicBezTo>
                  <a:close/>
                  <a:moveTo>
                    <a:pt x="212" y="152"/>
                  </a:moveTo>
                  <a:cubicBezTo>
                    <a:pt x="212" y="167"/>
                    <a:pt x="199" y="180"/>
                    <a:pt x="184" y="180"/>
                  </a:cubicBezTo>
                  <a:cubicBezTo>
                    <a:pt x="168" y="180"/>
                    <a:pt x="156" y="167"/>
                    <a:pt x="156" y="152"/>
                  </a:cubicBezTo>
                  <a:cubicBezTo>
                    <a:pt x="156" y="136"/>
                    <a:pt x="168" y="124"/>
                    <a:pt x="184" y="124"/>
                  </a:cubicBezTo>
                  <a:cubicBezTo>
                    <a:pt x="199" y="124"/>
                    <a:pt x="212" y="136"/>
                    <a:pt x="212" y="152"/>
                  </a:cubicBezTo>
                  <a:close/>
                  <a:moveTo>
                    <a:pt x="259" y="114"/>
                  </a:moveTo>
                  <a:cubicBezTo>
                    <a:pt x="259" y="129"/>
                    <a:pt x="246" y="142"/>
                    <a:pt x="231" y="142"/>
                  </a:cubicBezTo>
                  <a:cubicBezTo>
                    <a:pt x="215" y="142"/>
                    <a:pt x="203" y="129"/>
                    <a:pt x="203" y="114"/>
                  </a:cubicBezTo>
                  <a:cubicBezTo>
                    <a:pt x="203" y="98"/>
                    <a:pt x="215" y="86"/>
                    <a:pt x="231" y="86"/>
                  </a:cubicBezTo>
                  <a:cubicBezTo>
                    <a:pt x="246" y="86"/>
                    <a:pt x="259" y="98"/>
                    <a:pt x="259" y="114"/>
                  </a:cubicBezTo>
                  <a:close/>
                  <a:moveTo>
                    <a:pt x="310" y="83"/>
                  </a:moveTo>
                  <a:cubicBezTo>
                    <a:pt x="310" y="98"/>
                    <a:pt x="297" y="111"/>
                    <a:pt x="282" y="111"/>
                  </a:cubicBezTo>
                  <a:cubicBezTo>
                    <a:pt x="266" y="111"/>
                    <a:pt x="254" y="98"/>
                    <a:pt x="254" y="83"/>
                  </a:cubicBezTo>
                  <a:cubicBezTo>
                    <a:pt x="254" y="67"/>
                    <a:pt x="266" y="55"/>
                    <a:pt x="282" y="55"/>
                  </a:cubicBezTo>
                  <a:cubicBezTo>
                    <a:pt x="297" y="55"/>
                    <a:pt x="310" y="67"/>
                    <a:pt x="310" y="83"/>
                  </a:cubicBezTo>
                  <a:close/>
                  <a:moveTo>
                    <a:pt x="365" y="58"/>
                  </a:moveTo>
                  <a:cubicBezTo>
                    <a:pt x="365" y="73"/>
                    <a:pt x="352" y="86"/>
                    <a:pt x="337" y="86"/>
                  </a:cubicBezTo>
                  <a:cubicBezTo>
                    <a:pt x="321" y="86"/>
                    <a:pt x="309" y="73"/>
                    <a:pt x="309" y="58"/>
                  </a:cubicBezTo>
                  <a:cubicBezTo>
                    <a:pt x="309" y="42"/>
                    <a:pt x="321" y="30"/>
                    <a:pt x="337" y="30"/>
                  </a:cubicBezTo>
                  <a:cubicBezTo>
                    <a:pt x="352" y="30"/>
                    <a:pt x="365" y="42"/>
                    <a:pt x="365" y="58"/>
                  </a:cubicBezTo>
                  <a:close/>
                  <a:moveTo>
                    <a:pt x="423" y="41"/>
                  </a:moveTo>
                  <a:cubicBezTo>
                    <a:pt x="423" y="56"/>
                    <a:pt x="410" y="69"/>
                    <a:pt x="395" y="69"/>
                  </a:cubicBezTo>
                  <a:cubicBezTo>
                    <a:pt x="379" y="69"/>
                    <a:pt x="367" y="56"/>
                    <a:pt x="367" y="41"/>
                  </a:cubicBezTo>
                  <a:cubicBezTo>
                    <a:pt x="367" y="25"/>
                    <a:pt x="379" y="13"/>
                    <a:pt x="395" y="13"/>
                  </a:cubicBezTo>
                  <a:cubicBezTo>
                    <a:pt x="410" y="13"/>
                    <a:pt x="423" y="25"/>
                    <a:pt x="423" y="41"/>
                  </a:cubicBezTo>
                  <a:close/>
                  <a:moveTo>
                    <a:pt x="482" y="32"/>
                  </a:moveTo>
                  <a:cubicBezTo>
                    <a:pt x="482" y="47"/>
                    <a:pt x="469" y="60"/>
                    <a:pt x="454" y="60"/>
                  </a:cubicBezTo>
                  <a:cubicBezTo>
                    <a:pt x="438" y="60"/>
                    <a:pt x="426" y="47"/>
                    <a:pt x="426" y="32"/>
                  </a:cubicBezTo>
                  <a:cubicBezTo>
                    <a:pt x="426" y="16"/>
                    <a:pt x="438" y="4"/>
                    <a:pt x="454" y="4"/>
                  </a:cubicBezTo>
                  <a:cubicBezTo>
                    <a:pt x="469" y="4"/>
                    <a:pt x="482" y="16"/>
                    <a:pt x="482" y="32"/>
                  </a:cubicBezTo>
                  <a:close/>
                  <a:moveTo>
                    <a:pt x="543" y="30"/>
                  </a:moveTo>
                  <a:cubicBezTo>
                    <a:pt x="543" y="45"/>
                    <a:pt x="530" y="58"/>
                    <a:pt x="515" y="58"/>
                  </a:cubicBezTo>
                  <a:cubicBezTo>
                    <a:pt x="499" y="58"/>
                    <a:pt x="487" y="45"/>
                    <a:pt x="487" y="30"/>
                  </a:cubicBezTo>
                  <a:cubicBezTo>
                    <a:pt x="487" y="14"/>
                    <a:pt x="499" y="2"/>
                    <a:pt x="515" y="2"/>
                  </a:cubicBezTo>
                  <a:cubicBezTo>
                    <a:pt x="530" y="2"/>
                    <a:pt x="543" y="14"/>
                    <a:pt x="543" y="30"/>
                  </a:cubicBezTo>
                  <a:close/>
                  <a:moveTo>
                    <a:pt x="603" y="36"/>
                  </a:moveTo>
                  <a:cubicBezTo>
                    <a:pt x="603" y="51"/>
                    <a:pt x="590" y="64"/>
                    <a:pt x="575" y="64"/>
                  </a:cubicBezTo>
                  <a:cubicBezTo>
                    <a:pt x="559" y="64"/>
                    <a:pt x="547" y="51"/>
                    <a:pt x="547" y="36"/>
                  </a:cubicBezTo>
                  <a:cubicBezTo>
                    <a:pt x="547" y="20"/>
                    <a:pt x="559" y="8"/>
                    <a:pt x="575" y="8"/>
                  </a:cubicBezTo>
                  <a:cubicBezTo>
                    <a:pt x="590" y="8"/>
                    <a:pt x="603" y="20"/>
                    <a:pt x="603" y="36"/>
                  </a:cubicBezTo>
                  <a:close/>
                  <a:moveTo>
                    <a:pt x="661" y="49"/>
                  </a:moveTo>
                  <a:cubicBezTo>
                    <a:pt x="661" y="64"/>
                    <a:pt x="648" y="77"/>
                    <a:pt x="633" y="77"/>
                  </a:cubicBezTo>
                  <a:cubicBezTo>
                    <a:pt x="617" y="77"/>
                    <a:pt x="605" y="64"/>
                    <a:pt x="605" y="49"/>
                  </a:cubicBezTo>
                  <a:cubicBezTo>
                    <a:pt x="605" y="33"/>
                    <a:pt x="617" y="21"/>
                    <a:pt x="633" y="21"/>
                  </a:cubicBezTo>
                  <a:cubicBezTo>
                    <a:pt x="648" y="21"/>
                    <a:pt x="661" y="33"/>
                    <a:pt x="661" y="49"/>
                  </a:cubicBezTo>
                  <a:close/>
                  <a:moveTo>
                    <a:pt x="718" y="70"/>
                  </a:moveTo>
                  <a:cubicBezTo>
                    <a:pt x="718" y="85"/>
                    <a:pt x="705" y="98"/>
                    <a:pt x="690" y="98"/>
                  </a:cubicBezTo>
                  <a:cubicBezTo>
                    <a:pt x="674" y="98"/>
                    <a:pt x="662" y="85"/>
                    <a:pt x="662" y="70"/>
                  </a:cubicBezTo>
                  <a:cubicBezTo>
                    <a:pt x="662" y="54"/>
                    <a:pt x="674" y="42"/>
                    <a:pt x="690" y="42"/>
                  </a:cubicBezTo>
                  <a:cubicBezTo>
                    <a:pt x="705" y="42"/>
                    <a:pt x="718" y="54"/>
                    <a:pt x="718" y="70"/>
                  </a:cubicBezTo>
                  <a:close/>
                  <a:moveTo>
                    <a:pt x="771" y="98"/>
                  </a:moveTo>
                  <a:cubicBezTo>
                    <a:pt x="771" y="113"/>
                    <a:pt x="758" y="126"/>
                    <a:pt x="743" y="126"/>
                  </a:cubicBezTo>
                  <a:cubicBezTo>
                    <a:pt x="727" y="126"/>
                    <a:pt x="715" y="113"/>
                    <a:pt x="715" y="98"/>
                  </a:cubicBezTo>
                  <a:cubicBezTo>
                    <a:pt x="715" y="82"/>
                    <a:pt x="727" y="70"/>
                    <a:pt x="743" y="70"/>
                  </a:cubicBezTo>
                  <a:cubicBezTo>
                    <a:pt x="758" y="70"/>
                    <a:pt x="771" y="82"/>
                    <a:pt x="771" y="98"/>
                  </a:cubicBezTo>
                  <a:close/>
                  <a:moveTo>
                    <a:pt x="821" y="132"/>
                  </a:moveTo>
                  <a:cubicBezTo>
                    <a:pt x="821" y="147"/>
                    <a:pt x="808" y="160"/>
                    <a:pt x="793" y="160"/>
                  </a:cubicBezTo>
                  <a:cubicBezTo>
                    <a:pt x="777" y="160"/>
                    <a:pt x="765" y="147"/>
                    <a:pt x="765" y="132"/>
                  </a:cubicBezTo>
                  <a:cubicBezTo>
                    <a:pt x="765" y="116"/>
                    <a:pt x="777" y="104"/>
                    <a:pt x="793" y="104"/>
                  </a:cubicBezTo>
                  <a:cubicBezTo>
                    <a:pt x="808" y="104"/>
                    <a:pt x="821" y="116"/>
                    <a:pt x="821" y="132"/>
                  </a:cubicBezTo>
                  <a:close/>
                  <a:moveTo>
                    <a:pt x="865" y="173"/>
                  </a:moveTo>
                  <a:cubicBezTo>
                    <a:pt x="865" y="188"/>
                    <a:pt x="852" y="201"/>
                    <a:pt x="837" y="201"/>
                  </a:cubicBezTo>
                  <a:cubicBezTo>
                    <a:pt x="821" y="201"/>
                    <a:pt x="809" y="188"/>
                    <a:pt x="809" y="173"/>
                  </a:cubicBezTo>
                  <a:cubicBezTo>
                    <a:pt x="809" y="157"/>
                    <a:pt x="821" y="145"/>
                    <a:pt x="837" y="145"/>
                  </a:cubicBezTo>
                  <a:cubicBezTo>
                    <a:pt x="852" y="145"/>
                    <a:pt x="865" y="157"/>
                    <a:pt x="865" y="173"/>
                  </a:cubicBezTo>
                  <a:close/>
                  <a:moveTo>
                    <a:pt x="904" y="218"/>
                  </a:moveTo>
                  <a:cubicBezTo>
                    <a:pt x="904" y="233"/>
                    <a:pt x="891" y="246"/>
                    <a:pt x="876" y="246"/>
                  </a:cubicBezTo>
                  <a:cubicBezTo>
                    <a:pt x="860" y="246"/>
                    <a:pt x="848" y="233"/>
                    <a:pt x="848" y="218"/>
                  </a:cubicBezTo>
                  <a:cubicBezTo>
                    <a:pt x="848" y="202"/>
                    <a:pt x="860" y="190"/>
                    <a:pt x="876" y="190"/>
                  </a:cubicBezTo>
                  <a:cubicBezTo>
                    <a:pt x="891" y="190"/>
                    <a:pt x="904" y="202"/>
                    <a:pt x="904" y="218"/>
                  </a:cubicBezTo>
                  <a:close/>
                  <a:moveTo>
                    <a:pt x="937" y="269"/>
                  </a:moveTo>
                  <a:cubicBezTo>
                    <a:pt x="937" y="284"/>
                    <a:pt x="924" y="297"/>
                    <a:pt x="909" y="297"/>
                  </a:cubicBezTo>
                  <a:cubicBezTo>
                    <a:pt x="893" y="297"/>
                    <a:pt x="881" y="284"/>
                    <a:pt x="881" y="269"/>
                  </a:cubicBezTo>
                  <a:cubicBezTo>
                    <a:pt x="881" y="253"/>
                    <a:pt x="893" y="241"/>
                    <a:pt x="909" y="241"/>
                  </a:cubicBezTo>
                  <a:cubicBezTo>
                    <a:pt x="924" y="241"/>
                    <a:pt x="937" y="253"/>
                    <a:pt x="937" y="269"/>
                  </a:cubicBezTo>
                  <a:close/>
                  <a:moveTo>
                    <a:pt x="963" y="323"/>
                  </a:moveTo>
                  <a:cubicBezTo>
                    <a:pt x="963" y="338"/>
                    <a:pt x="950" y="351"/>
                    <a:pt x="935" y="351"/>
                  </a:cubicBezTo>
                  <a:cubicBezTo>
                    <a:pt x="919" y="351"/>
                    <a:pt x="907" y="338"/>
                    <a:pt x="907" y="323"/>
                  </a:cubicBezTo>
                  <a:cubicBezTo>
                    <a:pt x="907" y="307"/>
                    <a:pt x="919" y="295"/>
                    <a:pt x="935" y="295"/>
                  </a:cubicBezTo>
                  <a:cubicBezTo>
                    <a:pt x="950" y="295"/>
                    <a:pt x="963" y="307"/>
                    <a:pt x="963" y="323"/>
                  </a:cubicBezTo>
                  <a:close/>
                  <a:moveTo>
                    <a:pt x="982" y="380"/>
                  </a:moveTo>
                  <a:cubicBezTo>
                    <a:pt x="982" y="395"/>
                    <a:pt x="969" y="408"/>
                    <a:pt x="954" y="408"/>
                  </a:cubicBezTo>
                  <a:cubicBezTo>
                    <a:pt x="938" y="408"/>
                    <a:pt x="926" y="395"/>
                    <a:pt x="926" y="380"/>
                  </a:cubicBezTo>
                  <a:cubicBezTo>
                    <a:pt x="926" y="364"/>
                    <a:pt x="938" y="352"/>
                    <a:pt x="954" y="352"/>
                  </a:cubicBezTo>
                  <a:cubicBezTo>
                    <a:pt x="969" y="352"/>
                    <a:pt x="982" y="364"/>
                    <a:pt x="982" y="380"/>
                  </a:cubicBezTo>
                  <a:close/>
                  <a:moveTo>
                    <a:pt x="994" y="439"/>
                  </a:moveTo>
                  <a:cubicBezTo>
                    <a:pt x="994" y="454"/>
                    <a:pt x="981" y="467"/>
                    <a:pt x="966" y="467"/>
                  </a:cubicBezTo>
                  <a:cubicBezTo>
                    <a:pt x="950" y="467"/>
                    <a:pt x="938" y="454"/>
                    <a:pt x="938" y="439"/>
                  </a:cubicBezTo>
                  <a:cubicBezTo>
                    <a:pt x="938" y="423"/>
                    <a:pt x="950" y="411"/>
                    <a:pt x="966" y="411"/>
                  </a:cubicBezTo>
                  <a:cubicBezTo>
                    <a:pt x="981" y="411"/>
                    <a:pt x="994" y="423"/>
                    <a:pt x="994" y="439"/>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15" name="Forma 14"/>
            <p:cNvSpPr/>
            <p:nvPr/>
          </p:nvSpPr>
          <p:spPr>
            <a:xfrm>
              <a:off x="4480560" y="2971800"/>
              <a:ext cx="1005840" cy="1005840"/>
            </a:xfrm>
            <a:custGeom>
              <a:avLst/>
              <a:gdLst/>
              <a:ahLst/>
              <a:cxnLst/>
              <a:rect l="0" t="0" r="r" b="b"/>
              <a:pathLst>
                <a:path w="1000" h="1000" fill="none">
                  <a:moveTo>
                    <a:pt x="30" y="671"/>
                  </a:moveTo>
                  <a:cubicBezTo>
                    <a:pt x="25" y="635"/>
                    <a:pt x="-5" y="526"/>
                    <a:pt x="1" y="456"/>
                  </a:cubicBezTo>
                  <a:cubicBezTo>
                    <a:pt x="7" y="385"/>
                    <a:pt x="30" y="310"/>
                    <a:pt x="66" y="249"/>
                  </a:cubicBezTo>
                  <a:cubicBezTo>
                    <a:pt x="101" y="188"/>
                    <a:pt x="155" y="130"/>
                    <a:pt x="213" y="90"/>
                  </a:cubicBezTo>
                  <a:cubicBezTo>
                    <a:pt x="270" y="49"/>
                    <a:pt x="343" y="19"/>
                    <a:pt x="413" y="7"/>
                  </a:cubicBezTo>
                  <a:cubicBezTo>
                    <a:pt x="482" y="-5"/>
                    <a:pt x="561" y="-1"/>
                    <a:pt x="629" y="17"/>
                  </a:cubicBezTo>
                  <a:cubicBezTo>
                    <a:pt x="697" y="35"/>
                    <a:pt x="767" y="70"/>
                    <a:pt x="821" y="116"/>
                  </a:cubicBezTo>
                  <a:cubicBezTo>
                    <a:pt x="875" y="161"/>
                    <a:pt x="923" y="224"/>
                    <a:pt x="953" y="288"/>
                  </a:cubicBezTo>
                  <a:cubicBezTo>
                    <a:pt x="982" y="351"/>
                    <a:pt x="992" y="463"/>
                    <a:pt x="1000" y="499"/>
                  </a:cubicBezTo>
                </a:path>
              </a:pathLst>
            </a:custGeom>
            <a:noFill/>
            <a:ln w="63500" cap="rnd">
              <a:solidFill>
                <a:srgbClr val="5DADE2"/>
              </a:solidFill>
              <a:round/>
            </a:ln>
          </p:spPr>
        </p:sp>
        <p:sp>
          <p:nvSpPr>
            <p:cNvPr id="16" name="Forma 15"/>
            <p:cNvSpPr txBox="1"/>
            <p:nvPr/>
          </p:nvSpPr>
          <p:spPr>
            <a:xfrm>
              <a:off x="4480560" y="3273552"/>
              <a:ext cx="1005840" cy="402336"/>
            </a:xfrm>
            <a:prstGeom prst="rect">
              <a:avLst/>
            </a:prstGeom>
            <a:noFill/>
            <a:ln>
              <a:noFill/>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HDL madura</a:t>
              </a:r>
              <a:endParaRPr lang="es-AR" sz="1100" dirty="0">
                <a:latin typeface="Bahnschrift SemiBold Condensed"/>
              </a:endParaRPr>
            </a:p>
          </p:txBody>
        </p:sp>
      </p:grpSp>
      <p:grpSp>
        <p:nvGrpSpPr>
          <p:cNvPr id="17" name="Hígado TR"/>
          <p:cNvGrpSpPr/>
          <p:nvPr/>
        </p:nvGrpSpPr>
        <p:grpSpPr>
          <a:xfrm>
            <a:off x="8229600" y="2377440"/>
            <a:ext cx="3474720" cy="2455932"/>
            <a:chOff x="8229600" y="2377440"/>
            <a:chExt cx="3474720" cy="2455932"/>
          </a:xfrm>
        </p:grpSpPr>
        <p:sp>
          <p:nvSpPr>
            <p:cNvPr id="18" name="Vesícula biliar"/>
            <p:cNvSpPr/>
            <p:nvPr/>
          </p:nvSpPr>
          <p:spPr>
            <a:xfrm>
              <a:off x="9167774" y="4057815"/>
              <a:ext cx="451714" cy="77555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9" name="Forma 18"/>
            <p:cNvSpPr/>
            <p:nvPr/>
          </p:nvSpPr>
          <p:spPr>
            <a:xfrm>
              <a:off x="8229600" y="2377440"/>
              <a:ext cx="3474720" cy="2154326"/>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0" name="Forma 19"/>
            <p:cNvSpPr/>
            <p:nvPr/>
          </p:nvSpPr>
          <p:spPr>
            <a:xfrm>
              <a:off x="8229600" y="2377440"/>
              <a:ext cx="3474720" cy="2154326"/>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1" name="Forma 20"/>
            <p:cNvSpPr/>
            <p:nvPr/>
          </p:nvSpPr>
          <p:spPr>
            <a:xfrm>
              <a:off x="8229600" y="2377440"/>
              <a:ext cx="3474720" cy="2154326"/>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22" name="SRBI"/>
          <p:cNvSpPr/>
          <p:nvPr/>
        </p:nvSpPr>
        <p:spPr>
          <a:xfrm>
            <a:off x="6400800" y="2377440"/>
            <a:ext cx="1301423"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SR-BI (selectiva)</a:t>
            </a:r>
            <a:endParaRPr lang="es-AR" sz="1250" dirty="0">
              <a:latin typeface="Bahnschrift SemiBold Condensed"/>
            </a:endParaRPr>
          </a:p>
        </p:txBody>
      </p:sp>
      <p:sp>
        <p:nvSpPr>
          <p:cNvPr id="23" name="CETP"/>
          <p:cNvSpPr/>
          <p:nvPr/>
        </p:nvSpPr>
        <p:spPr>
          <a:xfrm>
            <a:off x="6035040" y="4480560"/>
            <a:ext cx="2436784" cy="246062"/>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CETP → lipoproteínas ApoB → hígado</a:t>
            </a:r>
            <a:endParaRPr lang="es-AR" sz="1250" dirty="0">
              <a:latin typeface="Bahnschrift SemiBold Condensed"/>
            </a:endParaRPr>
          </a:p>
        </p:txBody>
      </p:sp>
      <p:sp>
        <p:nvSpPr>
          <p:cNvPr id="24" name="Flecha 23_2"/>
          <p:cNvSpPr/>
          <p:nvPr/>
        </p:nvSpPr>
        <p:spPr>
          <a:xfrm>
            <a:off x="2423160" y="3429000"/>
            <a:ext cx="502920" cy="137160"/>
          </a:xfrm>
          <a:custGeom>
            <a:avLst/>
            <a:gdLst/>
            <a:ahLst/>
            <a:cxnLst/>
            <a:rect l="0" t="0" r="r" b="b"/>
            <a:pathLst>
              <a:path w="550" h="149" fill="none">
                <a:moveTo>
                  <a:pt x="0" y="149"/>
                </a:moveTo>
                <a:lnTo>
                  <a:pt x="550" y="0"/>
                </a:lnTo>
              </a:path>
            </a:pathLst>
          </a:custGeom>
          <a:noFill/>
          <a:ln w="38100" cap="rnd">
            <a:solidFill>
              <a:srgbClr val="1E8C3A"/>
            </a:solidFill>
            <a:round/>
            <a:tailEnd type="triangle" w="med" len="med"/>
          </a:ln>
        </p:spPr>
      </p:sp>
      <p:sp>
        <p:nvSpPr>
          <p:cNvPr id="25" name="Flecha 25_2"/>
          <p:cNvSpPr/>
          <p:nvPr/>
        </p:nvSpPr>
        <p:spPr>
          <a:xfrm>
            <a:off x="3566160" y="3429000"/>
            <a:ext cx="914400" cy="45720"/>
          </a:xfrm>
          <a:custGeom>
            <a:avLst/>
            <a:gdLst/>
            <a:ahLst/>
            <a:cxnLst/>
            <a:rect l="0" t="0" r="r" b="b"/>
            <a:pathLst>
              <a:path w="1000" h="49" fill="none">
                <a:moveTo>
                  <a:pt x="0" y="0"/>
                </a:moveTo>
                <a:lnTo>
                  <a:pt x="1000" y="49"/>
                </a:lnTo>
              </a:path>
            </a:pathLst>
          </a:custGeom>
          <a:noFill/>
          <a:ln w="38100" cap="rnd">
            <a:solidFill>
              <a:srgbClr val="1E8C3A"/>
            </a:solidFill>
            <a:round/>
            <a:tailEnd type="triangle" w="med" len="med"/>
          </a:ln>
        </p:spPr>
      </p:sp>
      <p:sp>
        <p:nvSpPr>
          <p:cNvPr id="26" name="Flecha 27_2"/>
          <p:cNvSpPr/>
          <p:nvPr/>
        </p:nvSpPr>
        <p:spPr>
          <a:xfrm>
            <a:off x="5486400" y="3017520"/>
            <a:ext cx="2926080" cy="274320"/>
          </a:xfrm>
          <a:custGeom>
            <a:avLst/>
            <a:gdLst/>
            <a:ahLst/>
            <a:cxnLst/>
            <a:rect l="0" t="0" r="r" b="b"/>
            <a:pathLst>
              <a:path w="3199" h="300" fill="none">
                <a:moveTo>
                  <a:pt x="0" y="300"/>
                </a:moveTo>
                <a:lnTo>
                  <a:pt x="3199" y="0"/>
                </a:lnTo>
              </a:path>
            </a:pathLst>
          </a:custGeom>
          <a:noFill/>
          <a:ln w="38100" cap="rnd">
            <a:solidFill>
              <a:srgbClr val="1E8C3A"/>
            </a:solidFill>
            <a:round/>
            <a:tailEnd type="triangle" w="med" len="med"/>
          </a:ln>
        </p:spPr>
      </p:sp>
      <p:sp>
        <p:nvSpPr>
          <p:cNvPr id="27" name="Flecha 29_2"/>
          <p:cNvSpPr/>
          <p:nvPr/>
        </p:nvSpPr>
        <p:spPr>
          <a:xfrm>
            <a:off x="5120640" y="3977640"/>
            <a:ext cx="914400" cy="548640"/>
          </a:xfrm>
          <a:custGeom>
            <a:avLst/>
            <a:gdLst/>
            <a:ahLst/>
            <a:cxnLst/>
            <a:rect l="0" t="0" r="r" b="b"/>
            <a:pathLst>
              <a:path w="1000" h="600" fill="none">
                <a:moveTo>
                  <a:pt x="0" y="0"/>
                </a:moveTo>
                <a:lnTo>
                  <a:pt x="1000" y="600"/>
                </a:lnTo>
              </a:path>
            </a:pathLst>
          </a:custGeom>
          <a:noFill/>
          <a:ln w="31750" cap="rnd">
            <a:solidFill>
              <a:srgbClr val="8E44AD"/>
            </a:solidFill>
            <a:prstDash val="dash"/>
            <a:round/>
            <a:tailEnd type="triangle" w="med" len="med"/>
          </a:ln>
        </p:spPr>
      </p:sp>
      <p:sp>
        <p:nvSpPr>
          <p:cNvPr id="28" name="Perla"/>
          <p:cNvSpPr/>
          <p:nvPr/>
        </p:nvSpPr>
        <p:spPr>
          <a:xfrm>
            <a:off x="365760" y="5257800"/>
            <a:ext cx="11430000" cy="12344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b="1" dirty="0">
                <a:solidFill>
                  <a:srgbClr val="FFFFFF"/>
                </a:solidFill>
                <a:latin typeface="Bahnschrift"/>
                <a:ea typeface="Bahnschrift"/>
                <a:cs typeface="Bahnschrift"/>
                <a:sym typeface="Bahnschrift"/>
              </a:rPr>
              <a:t>Número de partículas</a:t>
            </a:r>
            <a:r>
              <a:rPr lang="es-AR" sz="1750" dirty="0">
                <a:solidFill>
                  <a:srgbClr val="FFFFFF"/>
                </a:solidFill>
                <a:latin typeface="Bahnschrift"/>
                <a:ea typeface="Bahnschrift"/>
                <a:cs typeface="Bahnschrift"/>
                <a:sym typeface="Bahnschrift"/>
              </a:rPr>
              <a:t> y </a:t>
            </a:r>
            <a:r>
              <a:rPr lang="es-AR" sz="1750" b="1" dirty="0">
                <a:solidFill>
                  <a:srgbClr val="FFFFFF"/>
                </a:solidFill>
                <a:latin typeface="Bahnschrift"/>
                <a:ea typeface="Bahnschrift"/>
                <a:cs typeface="Bahnschrift"/>
                <a:sym typeface="Bahnschrift"/>
              </a:rPr>
              <a:t>función</a:t>
            </a:r>
            <a:r>
              <a:rPr lang="es-AR" sz="1750" dirty="0">
                <a:solidFill>
                  <a:srgbClr val="FFFFFF"/>
                </a:solidFill>
                <a:latin typeface="Bahnschrift"/>
                <a:ea typeface="Bahnschrift"/>
                <a:cs typeface="Bahnschrift"/>
                <a:sym typeface="Bahnschrift"/>
              </a:rPr>
              <a:t> de la HDL son dimensiones distintas del </a:t>
            </a:r>
            <a:r>
              <a:rPr lang="es-AR" sz="1750" b="1" dirty="0">
                <a:solidFill>
                  <a:srgbClr val="FFFFFF"/>
                </a:solidFill>
                <a:latin typeface="Bahnschrift"/>
                <a:ea typeface="Bahnschrift"/>
                <a:cs typeface="Bahnschrift"/>
                <a:sym typeface="Bahnschrift"/>
              </a:rPr>
              <a:t>HDL-C</a:t>
            </a:r>
            <a:r>
              <a:rPr lang="es-AR" sz="1750" dirty="0">
                <a:solidFill>
                  <a:srgbClr val="FFFFFF"/>
                </a:solidFill>
                <a:latin typeface="Bahnschrift"/>
                <a:ea typeface="Bahnschrift"/>
                <a:cs typeface="Bahnschrift"/>
                <a:sym typeface="Bahnschrift"/>
              </a:rPr>
              <a:t> plasmático: un HDL-C alto </a:t>
            </a:r>
            <a:r>
              <a:rPr lang="es-AR" sz="1750" b="1" dirty="0">
                <a:solidFill>
                  <a:srgbClr val="FFFFFF"/>
                </a:solidFill>
                <a:latin typeface="Bahnschrift"/>
                <a:ea typeface="Bahnschrift"/>
                <a:cs typeface="Bahnschrift"/>
                <a:sym typeface="Bahnschrift"/>
              </a:rPr>
              <a:t>no garantiza causalmente</a:t>
            </a:r>
            <a:r>
              <a:rPr lang="es-AR" sz="1750" dirty="0">
                <a:solidFill>
                  <a:srgbClr val="FFFFFF"/>
                </a:solidFill>
                <a:latin typeface="Bahnschrift"/>
                <a:ea typeface="Bahnschrift"/>
                <a:cs typeface="Bahnschrift"/>
                <a:sym typeface="Bahnschrift"/>
              </a:rPr>
              <a:t> protección.</a:t>
            </a:r>
            <a:endParaRPr lang="es-AR" sz="17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91965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TRANSPORTE REVERSO DE COLESTEROL</a:t>
            </a:r>
            <a:endParaRPr lang="es-AR" sz="2600" dirty="0">
              <a:latin typeface="Bahnschrift SemiBold Condensed"/>
            </a:endParaRPr>
          </a:p>
        </p:txBody>
      </p:sp>
      <p:sp>
        <p:nvSpPr>
          <p:cNvPr id="2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par>
                          <p:cTn id="10" fill="hold">
                            <p:stCondLst>
                              <p:cond delay="500"/>
                            </p:stCondLst>
                            <p:childTnLst>
                              <p:par>
                                <p:cTn id="7" presetID="22" presetClass="entr" presetSubtype="8" fill="hold" grpId="0" nodeType="afterEffect">
                                  <p:stCondLst>
                                    <p:cond delay="0"/>
                                  </p:stCondLst>
                                  <p:childTnLst>
                                    <p:set>
                                      <p:cBhvr>
                                        <p:cTn id="8" dur="1" fill="hold">
                                          <p:stCondLst>
                                            <p:cond delay="0"/>
                                          </p:stCondLst>
                                        </p:cTn>
                                        <p:tgtEl>
                                          <p:spTgt spid="24"/>
                                        </p:tgtEl>
                                        <p:attrNameLst>
                                          <p:attrName>style.visibility</p:attrName>
                                        </p:attrNameLst>
                                      </p:cBhvr>
                                      <p:to>
                                        <p:strVal val="visible"/>
                                      </p:to>
                                    </p:set>
                                    <p:animEffect transition="in" filter="wipe(left)">
                                      <p:cBhvr>
                                        <p:cTn id="9" dur="600"/>
                                        <p:tgtEl>
                                          <p:spTgt spid="24"/>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30" fill="hold">
                      <p:stCondLst>
                        <p:cond delay="indefinite"/>
                      </p:stCondLst>
                      <p:childTnLst>
                        <p:par>
                          <p:cTn id="19"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par>
                          <p:cTn id="23"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left)">
                                      <p:cBhvr>
                                        <p:cTn id="22" dur="600"/>
                                        <p:tgtEl>
                                          <p:spTgt spid="25"/>
                                        </p:tgtEl>
                                      </p:cBhvr>
                                    </p:animEffect>
                                  </p:childTnLst>
                                </p:cTn>
                              </p:par>
                            </p:childTnLst>
                          </p:cTn>
                        </p:par>
                        <p:par>
                          <p:cTn id="29" fill="hold">
                            <p:stCondLst>
                              <p:cond delay="1100"/>
                            </p:stCondLst>
                            <p:childTnLst>
                              <p:par>
                                <p:cTn id="24" presetID="53" presetClass="entr" presetSubtype="16" fill="hold" grpId="0" nodeType="after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p:cTn id="26" dur="500" fill="hold"/>
                                        <p:tgtEl>
                                          <p:spTgt spid="12"/>
                                        </p:tgtEl>
                                        <p:attrNameLst>
                                          <p:attrName>ppt_w</p:attrName>
                                        </p:attrNameLst>
                                      </p:cBhvr>
                                      <p:tavLst>
                                        <p:tav tm="0">
                                          <p:val>
                                            <p:fltVal val="0"/>
                                          </p:val>
                                        </p:tav>
                                        <p:tav tm="100000">
                                          <p:val>
                                            <p:strVal val="#ppt_w"/>
                                          </p:val>
                                        </p:tav>
                                      </p:tavLst>
                                    </p:anim>
                                    <p:anim calcmode="lin" valueType="num">
                                      <p:cBhvr>
                                        <p:cTn id="27" dur="500" fill="hold"/>
                                        <p:tgtEl>
                                          <p:spTgt spid="12"/>
                                        </p:tgtEl>
                                        <p:attrNameLst>
                                          <p:attrName>ppt_h</p:attrName>
                                        </p:attrNameLst>
                                      </p:cBhvr>
                                      <p:tavLst>
                                        <p:tav tm="0">
                                          <p:val>
                                            <p:fltVal val="0"/>
                                          </p:val>
                                        </p:tav>
                                        <p:tav tm="100000">
                                          <p:val>
                                            <p:strVal val="#ppt_h"/>
                                          </p:val>
                                        </p:tav>
                                      </p:tavLst>
                                    </p:anim>
                                    <p:animEffect transition="in" filter="fade">
                                      <p:cBhvr>
                                        <p:cTn id="28" dur="500"/>
                                        <p:tgtEl>
                                          <p:spTgt spid="12"/>
                                        </p:tgtEl>
                                      </p:cBhvr>
                                    </p:animEffect>
                                  </p:childTnLst>
                                </p:cTn>
                              </p:par>
                            </p:childTnLst>
                          </p:cTn>
                        </p:par>
                      </p:childTnLst>
                    </p:cTn>
                  </p:par>
                  <p:par>
                    <p:cTn id="39" fill="hold">
                      <p:stCondLst>
                        <p:cond delay="indefinite"/>
                      </p:stCondLst>
                      <p:childTnLst>
                        <p:par>
                          <p:cTn id="34"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childTnLst>
                          </p:cTn>
                        </p:par>
                        <p:par>
                          <p:cTn id="38"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left)">
                                      <p:cBhvr>
                                        <p:cTn id="37" dur="600"/>
                                        <p:tgtEl>
                                          <p:spTgt spid="26"/>
                                        </p:tgtEl>
                                      </p:cBhvr>
                                    </p:animEffect>
                                  </p:childTnLst>
                                </p:cTn>
                              </p:par>
                            </p:childTnLst>
                          </p:cTn>
                        </p:par>
                      </p:childTnLst>
                    </p:cTn>
                  </p:par>
                  <p:par>
                    <p:cTn id="48" fill="hold">
                      <p:stCondLst>
                        <p:cond delay="indefinite"/>
                      </p:stCondLst>
                      <p:childTnLst>
                        <p:par>
                          <p:cTn id="43"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wipe(left)">
                                      <p:cBhvr>
                                        <p:cTn id="42" dur="600"/>
                                        <p:tgtEl>
                                          <p:spTgt spid="27"/>
                                        </p:tgtEl>
                                      </p:cBhvr>
                                    </p:animEffect>
                                  </p:childTnLst>
                                </p:cTn>
                              </p:par>
                            </p:childTnLst>
                          </p:cTn>
                        </p:par>
                        <p:par>
                          <p:cTn id="47" fill="hold">
                            <p:stCondLst>
                              <p:cond delay="600"/>
                            </p:stCondLst>
                            <p:childTnLst>
                              <p:par>
                                <p:cTn id="44" presetID="10"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par>
                    <p:cTn id="53" fill="hold">
                      <p:stCondLst>
                        <p:cond delay="indefinite"/>
                      </p:stCondLst>
                      <p:childTnLst>
                        <p:par>
                          <p:cTn id="52"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4" grpId="0" animBg="1"/>
      <p:bldP spid="11" grpId="0" animBg="1"/>
      <p:bldP spid="25" grpId="0" animBg="1"/>
      <p:bldP spid="22" grpId="0" animBg="1"/>
      <p:bldP spid="26" grpId="0" animBg="1"/>
      <p:bldP spid="27" grpId="0" animBg="1"/>
      <p:bldP spid="23" grpId="0" animBg="1"/>
      <p:bldP spid="28" grpId="0" animBg="1"/>
    </p:bldLst>
  </p:timing>
</p:sld>
</file>

<file path=ppt/slides/slide125.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Hígado AB"/>
          <p:cNvGrpSpPr/>
          <p:nvPr/>
        </p:nvGrpSpPr>
        <p:grpSpPr>
          <a:xfrm>
            <a:off x="365760" y="1097280"/>
            <a:ext cx="3108960" cy="2197413"/>
            <a:chOff x="365760" y="1097280"/>
            <a:chExt cx="3108960" cy="2197413"/>
          </a:xfrm>
        </p:grpSpPr>
        <p:sp>
          <p:nvSpPr>
            <p:cNvPr id="5" name="Vesícula biliar"/>
            <p:cNvSpPr/>
            <p:nvPr/>
          </p:nvSpPr>
          <p:spPr>
            <a:xfrm>
              <a:off x="1205179" y="2600773"/>
              <a:ext cx="404165" cy="693920"/>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365760" y="1097280"/>
              <a:ext cx="3108960" cy="1927555"/>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365760" y="1097280"/>
              <a:ext cx="3108960" cy="1927555"/>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365760" y="1097280"/>
              <a:ext cx="3108960" cy="1927555"/>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9" name="Ácidos biliares Colesterol"/>
          <p:cNvSpPr/>
          <p:nvPr/>
        </p:nvSpPr>
        <p:spPr>
          <a:xfrm>
            <a:off x="3840480" y="1051560"/>
            <a:ext cx="3291840" cy="502920"/>
          </a:xfrm>
          <a:prstGeom prst="roundRect">
            <a:avLst>
              <a:gd name="adj" fmla="val 30000"/>
            </a:avLst>
          </a:prstGeom>
          <a:solidFill>
            <a:srgbClr val="F39C12"/>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Colesterol</a:t>
            </a:r>
            <a:endParaRPr lang="es-AR" sz="1300" dirty="0">
              <a:latin typeface="Bahnschrift SemiBold Condensed"/>
            </a:endParaRPr>
          </a:p>
        </p:txBody>
      </p:sp>
      <p:grpSp>
        <p:nvGrpSpPr>
          <p:cNvPr id="10" name="Ácidos biliares paso 1"/>
          <p:cNvGrpSpPr/>
          <p:nvPr/>
        </p:nvGrpSpPr>
        <p:grpSpPr>
          <a:xfrm>
            <a:off x="5486400" y="1581912"/>
            <a:ext cx="1710931" cy="310896"/>
            <a:chOff x="5486400" y="1581912"/>
            <a:chExt cx="1710931" cy="310896"/>
          </a:xfrm>
        </p:grpSpPr>
        <p:sp>
          <p:nvSpPr>
            <p:cNvPr id="11" name="Flecha 10_2"/>
            <p:cNvSpPr/>
            <p:nvPr/>
          </p:nvSpPr>
          <p:spPr>
            <a:xfrm>
              <a:off x="5486400" y="1581912"/>
              <a:ext cx="9144" cy="310896"/>
            </a:xfrm>
            <a:custGeom>
              <a:avLst/>
              <a:gdLst/>
              <a:ahLst/>
              <a:cxnLst/>
              <a:rect l="0" t="0" r="r" b="b"/>
              <a:pathLst>
                <a:path w="10" h="340" fill="none">
                  <a:moveTo>
                    <a:pt x="0" y="0"/>
                  </a:moveTo>
                  <a:lnTo>
                    <a:pt x="0" y="340"/>
                  </a:lnTo>
                </a:path>
              </a:pathLst>
            </a:custGeom>
            <a:noFill/>
            <a:ln w="44450" cap="rnd">
              <a:solidFill>
                <a:srgbClr val="1E1E1E"/>
              </a:solidFill>
              <a:round/>
              <a:tailEnd type="triangle" w="med" len="med"/>
            </a:ln>
          </p:spPr>
        </p:sp>
        <p:sp>
          <p:nvSpPr>
            <p:cNvPr id="12" name="Enzima CYP7A1 (7α-hidroxila"/>
            <p:cNvSpPr/>
            <p:nvPr/>
          </p:nvSpPr>
          <p:spPr>
            <a:xfrm>
              <a:off x="5596128" y="1591056"/>
              <a:ext cx="160120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CYP7A1</a:t>
              </a:r>
              <a:r>
                <a:rPr lang="es-AR" sz="1150" b="1" dirty="0">
                  <a:solidFill>
                    <a:srgbClr val="1F3864"/>
                  </a:solidFill>
                  <a:latin typeface="Bahnschrift SemiBold Condensed"/>
                  <a:ea typeface="Bahnschrift SemiBold Condensed"/>
                  <a:cs typeface="Bahnschrift SemiBold Condensed"/>
                  <a:sym typeface="Bahnschrift SemiBold Condensed"/>
                </a:rPr>
                <a:t> (7α-hidroxilasa)</a:t>
              </a:r>
              <a:endParaRPr lang="es-AR" sz="1150" dirty="0">
                <a:latin typeface="Bahnschrift SemiBold Condensed"/>
              </a:endParaRPr>
            </a:p>
          </p:txBody>
        </p:sp>
      </p:grpSp>
      <p:sp>
        <p:nvSpPr>
          <p:cNvPr id="13" name="Ácidos biliares Ácidos biliares pr"/>
          <p:cNvSpPr/>
          <p:nvPr/>
        </p:nvSpPr>
        <p:spPr>
          <a:xfrm>
            <a:off x="3840480" y="1920240"/>
            <a:ext cx="329184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Ácidos biliares primarios (cólico, quenodesoxicólico)</a:t>
            </a:r>
            <a:endParaRPr lang="es-AR" sz="1300" dirty="0">
              <a:latin typeface="Bahnschrift SemiBold Condensed"/>
            </a:endParaRPr>
          </a:p>
        </p:txBody>
      </p:sp>
      <p:grpSp>
        <p:nvGrpSpPr>
          <p:cNvPr id="14" name="Ácidos biliares paso 2"/>
          <p:cNvGrpSpPr/>
          <p:nvPr/>
        </p:nvGrpSpPr>
        <p:grpSpPr>
          <a:xfrm>
            <a:off x="5486400" y="2450592"/>
            <a:ext cx="1034453" cy="310896"/>
            <a:chOff x="5486400" y="2450592"/>
            <a:chExt cx="1034453" cy="310896"/>
          </a:xfrm>
        </p:grpSpPr>
        <p:sp>
          <p:nvSpPr>
            <p:cNvPr id="15" name="Flecha 15_2"/>
            <p:cNvSpPr/>
            <p:nvPr/>
          </p:nvSpPr>
          <p:spPr>
            <a:xfrm>
              <a:off x="5486400" y="2450592"/>
              <a:ext cx="9144" cy="310896"/>
            </a:xfrm>
            <a:custGeom>
              <a:avLst/>
              <a:gdLst/>
              <a:ahLst/>
              <a:cxnLst/>
              <a:rect l="0" t="0" r="r" b="b"/>
              <a:pathLst>
                <a:path w="10" h="340" fill="none">
                  <a:moveTo>
                    <a:pt x="0" y="0"/>
                  </a:moveTo>
                  <a:lnTo>
                    <a:pt x="0" y="340"/>
                  </a:lnTo>
                </a:path>
              </a:pathLst>
            </a:custGeom>
            <a:noFill/>
            <a:ln w="44450" cap="rnd">
              <a:solidFill>
                <a:srgbClr val="1E1E1E"/>
              </a:solidFill>
              <a:round/>
              <a:tailEnd type="triangle" w="med" len="med"/>
            </a:ln>
          </p:spPr>
        </p:sp>
        <p:sp>
          <p:nvSpPr>
            <p:cNvPr id="16" name="Enzima conjugación"/>
            <p:cNvSpPr/>
            <p:nvPr/>
          </p:nvSpPr>
          <p:spPr>
            <a:xfrm>
              <a:off x="5596128" y="2459736"/>
              <a:ext cx="92472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conjugación</a:t>
              </a:r>
              <a:endParaRPr lang="es-AR" sz="1150" dirty="0">
                <a:latin typeface="Bahnschrift SemiBold Condensed"/>
              </a:endParaRPr>
            </a:p>
          </p:txBody>
        </p:sp>
      </p:grpSp>
      <p:sp>
        <p:nvSpPr>
          <p:cNvPr id="17" name="Ácidos biliares Conjugados (glicin"/>
          <p:cNvSpPr/>
          <p:nvPr/>
        </p:nvSpPr>
        <p:spPr>
          <a:xfrm>
            <a:off x="3840480" y="2788920"/>
            <a:ext cx="329184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Conjugados (glicina/taurina)</a:t>
            </a:r>
            <a:endParaRPr lang="es-AR" sz="1300" dirty="0">
              <a:latin typeface="Bahnschrift SemiBold Condensed"/>
            </a:endParaRPr>
          </a:p>
        </p:txBody>
      </p:sp>
      <p:grpSp>
        <p:nvGrpSpPr>
          <p:cNvPr id="18" name="Intestino AB"/>
          <p:cNvGrpSpPr/>
          <p:nvPr/>
        </p:nvGrpSpPr>
        <p:grpSpPr>
          <a:xfrm>
            <a:off x="548640" y="3840480"/>
            <a:ext cx="2377440" cy="2020824"/>
            <a:chOff x="548640" y="3840480"/>
            <a:chExt cx="2377440" cy="2020824"/>
          </a:xfrm>
        </p:grpSpPr>
        <p:sp>
          <p:nvSpPr>
            <p:cNvPr id="19" name="Forma 20"/>
            <p:cNvSpPr/>
            <p:nvPr/>
          </p:nvSpPr>
          <p:spPr>
            <a:xfrm>
              <a:off x="548640" y="3840480"/>
              <a:ext cx="2377440" cy="202082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20" name="Forma 21"/>
            <p:cNvSpPr/>
            <p:nvPr/>
          </p:nvSpPr>
          <p:spPr>
            <a:xfrm>
              <a:off x="548640" y="3840480"/>
              <a:ext cx="2377440" cy="202082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21" name="Forma 22"/>
            <p:cNvSpPr/>
            <p:nvPr/>
          </p:nvSpPr>
          <p:spPr>
            <a:xfrm>
              <a:off x="548640" y="38404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22" name="Forma 23"/>
            <p:cNvSpPr/>
            <p:nvPr/>
          </p:nvSpPr>
          <p:spPr>
            <a:xfrm>
              <a:off x="548640" y="38404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23" name="Forma 24"/>
            <p:cNvSpPr/>
            <p:nvPr/>
          </p:nvSpPr>
          <p:spPr>
            <a:xfrm>
              <a:off x="548640" y="3840480"/>
              <a:ext cx="2377440" cy="202082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24" name="Circulación enterohepática"/>
          <p:cNvSpPr/>
          <p:nvPr/>
        </p:nvSpPr>
        <p:spPr>
          <a:xfrm>
            <a:off x="2194560" y="2926080"/>
            <a:ext cx="2011680" cy="2377440"/>
          </a:xfrm>
          <a:custGeom>
            <a:avLst/>
            <a:gdLst/>
            <a:ahLst/>
            <a:cxnLst/>
            <a:rect l="0" t="0" r="r" b="b"/>
            <a:pathLst>
              <a:path w="2199" h="2599" fill="none">
                <a:moveTo>
                  <a:pt x="700" y="2099"/>
                </a:moveTo>
                <a:quadBezTo>
                  <a:pt x="2199" y="2599"/>
                  <a:pt x="0" y="0"/>
                </a:quadBezTo>
              </a:path>
            </a:pathLst>
          </a:custGeom>
          <a:noFill/>
          <a:ln w="44450" cap="rnd">
            <a:solidFill>
              <a:srgbClr val="2563B0"/>
            </a:solidFill>
            <a:round/>
            <a:tailEnd type="triangle" w="med" len="med"/>
          </a:ln>
        </p:spPr>
      </p:sp>
      <p:sp>
        <p:nvSpPr>
          <p:cNvPr id="25" name="Forma 26"/>
          <p:cNvSpPr txBox="1"/>
          <p:nvPr/>
        </p:nvSpPr>
        <p:spPr>
          <a:xfrm>
            <a:off x="3291840" y="5715000"/>
            <a:ext cx="292608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2563B0"/>
                </a:solidFill>
                <a:latin typeface="Bahnschrift SemiBold Condensed"/>
                <a:ea typeface="Bahnschrift SemiBold Condensed"/>
                <a:cs typeface="Bahnschrift SemiBold Condensed"/>
                <a:sym typeface="Bahnschrift SemiBold Condensed"/>
              </a:rPr>
              <a:t>circulación enterohepática</a:t>
            </a:r>
            <a:endParaRPr lang="es-AR" sz="1250" dirty="0">
              <a:latin typeface="Bahnschrift SemiBold Condensed"/>
            </a:endParaRPr>
          </a:p>
        </p:txBody>
      </p:sp>
      <p:sp>
        <p:nvSpPr>
          <p:cNvPr id="26" name="Forma 27"/>
          <p:cNvSpPr/>
          <p:nvPr/>
        </p:nvSpPr>
        <p:spPr>
          <a:xfrm>
            <a:off x="7498080" y="1051560"/>
            <a:ext cx="4297680" cy="5486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FXR ileal</a:t>
            </a:r>
            <a:endParaRPr lang="es-AR" sz="1350" dirty="0">
              <a:latin typeface="Bahnschrift"/>
            </a:endParaRPr>
          </a:p>
        </p:txBody>
      </p:sp>
      <p:sp>
        <p:nvSpPr>
          <p:cNvPr id="27" name="Flecha 28_2"/>
          <p:cNvSpPr/>
          <p:nvPr/>
        </p:nvSpPr>
        <p:spPr>
          <a:xfrm>
            <a:off x="9646920" y="1627632"/>
            <a:ext cx="9144" cy="128016"/>
          </a:xfrm>
          <a:custGeom>
            <a:avLst/>
            <a:gdLst/>
            <a:ahLst/>
            <a:cxnLst/>
            <a:rect l="0" t="0" r="r" b="b"/>
            <a:pathLst>
              <a:path w="10" h="139" fill="none">
                <a:moveTo>
                  <a:pt x="0" y="0"/>
                </a:moveTo>
                <a:lnTo>
                  <a:pt x="0" y="139"/>
                </a:lnTo>
              </a:path>
            </a:pathLst>
          </a:custGeom>
          <a:noFill/>
          <a:ln w="31750" cap="rnd">
            <a:solidFill>
              <a:srgbClr val="C00000"/>
            </a:solidFill>
            <a:round/>
            <a:tailEnd type="triangle" w="med" len="med"/>
          </a:ln>
        </p:spPr>
      </p:sp>
      <p:sp>
        <p:nvSpPr>
          <p:cNvPr id="28" name="Forma 30"/>
          <p:cNvSpPr/>
          <p:nvPr/>
        </p:nvSpPr>
        <p:spPr>
          <a:xfrm>
            <a:off x="7498080" y="1783080"/>
            <a:ext cx="4297680" cy="5486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FGF19</a:t>
            </a:r>
            <a:endParaRPr lang="es-AR" sz="1350" dirty="0">
              <a:latin typeface="Bahnschrift"/>
            </a:endParaRPr>
          </a:p>
        </p:txBody>
      </p:sp>
      <p:sp>
        <p:nvSpPr>
          <p:cNvPr id="29" name="Flecha 31_2"/>
          <p:cNvSpPr/>
          <p:nvPr/>
        </p:nvSpPr>
        <p:spPr>
          <a:xfrm>
            <a:off x="9646920" y="2359152"/>
            <a:ext cx="9144" cy="128016"/>
          </a:xfrm>
          <a:custGeom>
            <a:avLst/>
            <a:gdLst/>
            <a:ahLst/>
            <a:cxnLst/>
            <a:rect l="0" t="0" r="r" b="b"/>
            <a:pathLst>
              <a:path w="10" h="140" fill="none">
                <a:moveTo>
                  <a:pt x="0" y="0"/>
                </a:moveTo>
                <a:lnTo>
                  <a:pt x="0" y="140"/>
                </a:lnTo>
              </a:path>
            </a:pathLst>
          </a:custGeom>
          <a:noFill/>
          <a:ln w="31750" cap="rnd">
            <a:solidFill>
              <a:srgbClr val="C00000"/>
            </a:solidFill>
            <a:round/>
            <a:tailEnd type="triangle" w="med" len="med"/>
          </a:ln>
        </p:spPr>
      </p:sp>
      <p:sp>
        <p:nvSpPr>
          <p:cNvPr id="30" name="Forma 33"/>
          <p:cNvSpPr/>
          <p:nvPr/>
        </p:nvSpPr>
        <p:spPr>
          <a:xfrm>
            <a:off x="7498080" y="2514600"/>
            <a:ext cx="4297680" cy="5486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FGFR4/β-Klotho hepático</a:t>
            </a:r>
            <a:endParaRPr lang="es-AR" sz="1350" dirty="0">
              <a:latin typeface="Bahnschrift"/>
            </a:endParaRPr>
          </a:p>
        </p:txBody>
      </p:sp>
      <p:sp>
        <p:nvSpPr>
          <p:cNvPr id="31" name="Flecha 34_2"/>
          <p:cNvSpPr/>
          <p:nvPr/>
        </p:nvSpPr>
        <p:spPr>
          <a:xfrm>
            <a:off x="9646920" y="3090672"/>
            <a:ext cx="9144" cy="128016"/>
          </a:xfrm>
          <a:custGeom>
            <a:avLst/>
            <a:gdLst/>
            <a:ahLst/>
            <a:cxnLst/>
            <a:rect l="0" t="0" r="r" b="b"/>
            <a:pathLst>
              <a:path w="10" h="140" fill="none">
                <a:moveTo>
                  <a:pt x="0" y="0"/>
                </a:moveTo>
                <a:lnTo>
                  <a:pt x="0" y="140"/>
                </a:lnTo>
              </a:path>
            </a:pathLst>
          </a:custGeom>
          <a:noFill/>
          <a:ln w="31750" cap="rnd">
            <a:solidFill>
              <a:srgbClr val="C00000"/>
            </a:solidFill>
            <a:round/>
            <a:tailEnd type="triangle" w="med" len="med"/>
          </a:ln>
        </p:spPr>
      </p:sp>
      <p:sp>
        <p:nvSpPr>
          <p:cNvPr id="32" name="Forma 36"/>
          <p:cNvSpPr/>
          <p:nvPr/>
        </p:nvSpPr>
        <p:spPr>
          <a:xfrm>
            <a:off x="7498080" y="3246120"/>
            <a:ext cx="4297680" cy="5486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CYP7A1</a:t>
            </a:r>
            <a:endParaRPr lang="es-AR" sz="1350" dirty="0">
              <a:latin typeface="Bahnschrift"/>
            </a:endParaRPr>
          </a:p>
        </p:txBody>
      </p:sp>
      <p:sp>
        <p:nvSpPr>
          <p:cNvPr id="33" name="Forma 37"/>
          <p:cNvSpPr/>
          <p:nvPr/>
        </p:nvSpPr>
        <p:spPr>
          <a:xfrm>
            <a:off x="3840480" y="3840480"/>
            <a:ext cx="3429000" cy="26517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a:t>
            </a:r>
            <a:r>
              <a:rPr lang="es-AR" sz="1600" b="1" dirty="0">
                <a:solidFill>
                  <a:srgbClr val="1E1E1E"/>
                </a:solidFill>
                <a:latin typeface="Bahnschrift"/>
                <a:ea typeface="Bahnschrift"/>
                <a:cs typeface="Bahnschrift"/>
                <a:sym typeface="Bahnschrift"/>
              </a:rPr>
              <a:t>microbiota</a:t>
            </a:r>
            <a:r>
              <a:rPr lang="es-AR" sz="1600" dirty="0">
                <a:solidFill>
                  <a:srgbClr val="1E1E1E"/>
                </a:solidFill>
                <a:latin typeface="Bahnschrift"/>
                <a:ea typeface="Bahnschrift"/>
                <a:cs typeface="Bahnschrift"/>
                <a:sym typeface="Bahnschrift"/>
              </a:rPr>
              <a:t> forma ácidos </a:t>
            </a:r>
            <a:r>
              <a:rPr lang="es-AR" sz="1600" b="1" dirty="0">
                <a:solidFill>
                  <a:srgbClr val="1E1E1E"/>
                </a:solidFill>
                <a:latin typeface="Bahnschrift"/>
                <a:ea typeface="Bahnschrift"/>
                <a:cs typeface="Bahnschrift"/>
                <a:sym typeface="Bahnschrift"/>
              </a:rPr>
              <a:t>secundarios</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Reabsorción </a:t>
            </a:r>
            <a:r>
              <a:rPr lang="es-AR" sz="1600" b="1" dirty="0">
                <a:solidFill>
                  <a:srgbClr val="1E1E1E"/>
                </a:solidFill>
                <a:latin typeface="Bahnschrift"/>
                <a:ea typeface="Bahnschrift"/>
                <a:cs typeface="Bahnschrift"/>
                <a:sym typeface="Bahnschrift"/>
              </a:rPr>
              <a:t>mayoritaria</a:t>
            </a:r>
            <a:r>
              <a:rPr lang="es-AR" sz="1600" dirty="0">
                <a:solidFill>
                  <a:srgbClr val="1E1E1E"/>
                </a:solidFill>
                <a:latin typeface="Bahnschrift"/>
                <a:ea typeface="Bahnschrift"/>
                <a:cs typeface="Bahnschrift"/>
                <a:sym typeface="Bahnschrift"/>
              </a:rPr>
              <a:t> (enterohepática).</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excreción </a:t>
            </a:r>
            <a:r>
              <a:rPr lang="es-AR" sz="1600" b="1" dirty="0">
                <a:solidFill>
                  <a:srgbClr val="1E1E1E"/>
                </a:solidFill>
                <a:latin typeface="Bahnschrift"/>
                <a:ea typeface="Bahnschrift"/>
                <a:cs typeface="Bahnschrift"/>
                <a:sym typeface="Bahnschrift"/>
              </a:rPr>
              <a:t>fecal</a:t>
            </a:r>
            <a:r>
              <a:rPr lang="es-AR" sz="1600" dirty="0">
                <a:solidFill>
                  <a:srgbClr val="1E1E1E"/>
                </a:solidFill>
                <a:latin typeface="Bahnschrift"/>
                <a:ea typeface="Bahnschrift"/>
                <a:cs typeface="Bahnschrift"/>
                <a:sym typeface="Bahnschrift"/>
              </a:rPr>
              <a:t> es vía de eliminación </a:t>
            </a:r>
            <a:r>
              <a:rPr lang="es-AR" sz="1600" b="1" dirty="0">
                <a:solidFill>
                  <a:srgbClr val="1E1E1E"/>
                </a:solidFill>
                <a:latin typeface="Bahnschrift"/>
                <a:ea typeface="Bahnschrift"/>
                <a:cs typeface="Bahnschrift"/>
                <a:sym typeface="Bahnschrift"/>
              </a:rPr>
              <a:t>neta</a:t>
            </a:r>
            <a:r>
              <a:rPr lang="es-AR" sz="1600" dirty="0">
                <a:solidFill>
                  <a:srgbClr val="1E1E1E"/>
                </a:solidFill>
                <a:latin typeface="Bahnschrift"/>
                <a:ea typeface="Bahnschrift"/>
                <a:cs typeface="Bahnschrift"/>
                <a:sym typeface="Bahnschrift"/>
              </a:rPr>
              <a:t> de colesterol.</a:t>
            </a:r>
            <a:endParaRPr lang="es-AR" sz="1600" dirty="0">
              <a:latin typeface="Bahnschrift"/>
            </a:endParaRPr>
          </a:p>
        </p:txBody>
      </p:sp>
      <p:grpSp>
        <p:nvGrpSpPr>
          <p:cNvPr id="34" name="Recuadro Clínica"/>
          <p:cNvGrpSpPr/>
          <p:nvPr/>
        </p:nvGrpSpPr>
        <p:grpSpPr>
          <a:xfrm>
            <a:off x="7498080" y="3977640"/>
            <a:ext cx="4297680" cy="2514600"/>
            <a:chOff x="7498080" y="3977640"/>
            <a:chExt cx="4297680" cy="2514600"/>
          </a:xfrm>
        </p:grpSpPr>
        <p:sp>
          <p:nvSpPr>
            <p:cNvPr id="35" name="Forma 39"/>
            <p:cNvSpPr/>
            <p:nvPr/>
          </p:nvSpPr>
          <p:spPr>
            <a:xfrm>
              <a:off x="7498080" y="4160520"/>
              <a:ext cx="4297680" cy="23317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Estatinas</a:t>
              </a:r>
              <a:r>
                <a:rPr lang="es-AR" sz="1550" dirty="0">
                  <a:solidFill>
                    <a:srgbClr val="1E1E1E"/>
                  </a:solidFill>
                  <a:latin typeface="Bahnschrift"/>
                  <a:ea typeface="Bahnschrift"/>
                  <a:cs typeface="Bahnschrift"/>
                  <a:sym typeface="Bahnschrift"/>
                </a:rPr>
                <a:t>: ↓ HMGCR → ↓ colesterol del hepatocito → ↑ </a:t>
              </a:r>
              <a:r>
                <a:rPr lang="es-AR" sz="1550" b="1" dirty="0">
                  <a:solidFill>
                    <a:srgbClr val="1E1E1E"/>
                  </a:solidFill>
                  <a:latin typeface="Bahnschrift"/>
                  <a:ea typeface="Bahnschrift"/>
                  <a:cs typeface="Bahnschrift"/>
                  <a:sym typeface="Bahnschrift"/>
                </a:rPr>
                <a:t>LDLR</a:t>
              </a:r>
              <a:r>
                <a:rPr lang="es-AR" sz="1550" dirty="0">
                  <a:solidFill>
                    <a:srgbClr val="1E1E1E"/>
                  </a:solidFill>
                  <a:latin typeface="Bahnschrift"/>
                  <a:ea typeface="Bahnschrift"/>
                  <a:cs typeface="Bahnschrift"/>
                  <a:sym typeface="Bahnschrift"/>
                </a:rPr>
                <a:t> → ↓ LDL.</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Inhibidores de PCSK9</a:t>
              </a:r>
              <a:r>
                <a:rPr lang="es-AR" sz="1550" dirty="0">
                  <a:solidFill>
                    <a:srgbClr val="1E1E1E"/>
                  </a:solidFill>
                  <a:latin typeface="Bahnschrift"/>
                  <a:ea typeface="Bahnschrift"/>
                  <a:cs typeface="Bahnschrift"/>
                  <a:sym typeface="Bahnschrift"/>
                </a:rPr>
                <a:t>: ↑ receptores reciclados.</a:t>
              </a:r>
              <a:endParaRPr lang="es-AR" sz="1550" dirty="0">
                <a:latin typeface="Bahnschrift"/>
              </a:endParaRPr>
            </a:p>
            <a:p>
              <a:pPr algn="l" marL="147637" indent="-147637">
                <a:spcAft>
                  <a:spcPts val="400"/>
                </a:spcAft>
                <a:buClr>
                  <a:srgbClr val="1E1E1E"/>
                </a:buClr>
                <a:buFont typeface="Arial"/>
                <a:buChar char="•"/>
              </a:pPr>
              <a:r>
                <a:rPr lang="es-AR" sz="1550" b="1" dirty="0">
                  <a:solidFill>
                    <a:srgbClr val="1E1E1E"/>
                  </a:solidFill>
                  <a:latin typeface="Bahnschrift"/>
                  <a:ea typeface="Bahnschrift"/>
                  <a:cs typeface="Bahnschrift"/>
                  <a:sym typeface="Bahnschrift"/>
                </a:rPr>
                <a:t>Secuestrantes</a:t>
              </a:r>
              <a:r>
                <a:rPr lang="es-AR" sz="1550" dirty="0">
                  <a:solidFill>
                    <a:srgbClr val="1E1E1E"/>
                  </a:solidFill>
                  <a:latin typeface="Bahnschrift"/>
                  <a:ea typeface="Bahnschrift"/>
                  <a:cs typeface="Bahnschrift"/>
                  <a:sym typeface="Bahnschrift"/>
                </a:rPr>
                <a:t>: ↑ conversión de colesterol en ácidos biliares.</a:t>
              </a:r>
              <a:endParaRPr lang="es-AR" sz="1550" dirty="0">
                <a:latin typeface="Bahnschrift"/>
              </a:endParaRPr>
            </a:p>
          </p:txBody>
        </p:sp>
        <p:sp>
          <p:nvSpPr>
            <p:cNvPr id="36" name="Forma 40"/>
            <p:cNvSpPr/>
            <p:nvPr/>
          </p:nvSpPr>
          <p:spPr>
            <a:xfrm>
              <a:off x="7607808" y="3977640"/>
              <a:ext cx="87425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CLÍNICA</a:t>
              </a:r>
              <a:endParaRPr lang="es-AR" sz="14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41262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21 · ÁCIDOS BILIARES: LA VÍA DE ELIMINACIÓN DEL COLESTEROL</a:t>
            </a:r>
            <a:endParaRPr lang="es-AR" sz="2600" dirty="0">
              <a:latin typeface="Bahnschrift SemiBold Condensed"/>
            </a:endParaRPr>
          </a:p>
        </p:txBody>
      </p:sp>
      <p:sp>
        <p:nvSpPr>
          <p:cNvPr id="3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3"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10"/>
                                        </p:tgtEl>
                                        <p:attrNameLst>
                                          <p:attrName>style.visibility</p:attrName>
                                        </p:attrNameLst>
                                      </p:cBhvr>
                                      <p:to>
                                        <p:strVal val="visible"/>
                                      </p:to>
                                    </p:set>
                                    <p:animEffect transition="in" filter="wipe(up)">
                                      <p:cBhvr>
                                        <p:cTn id="9" dur="600"/>
                                        <p:tgtEl>
                                          <p:spTgt spid="10"/>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par>
                          <p:cTn id="18" fill="hold">
                            <p:stCondLst>
                              <p:cond delay="1600"/>
                            </p:stCondLst>
                            <p:childTnLst>
                              <p:par>
                                <p:cTn id="15" presetID="22" presetClass="entr" presetSubtype="1" fill="hold" grpId="0"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up)">
                                      <p:cBhvr>
                                        <p:cTn id="17" dur="600"/>
                                        <p:tgtEl>
                                          <p:spTgt spid="14"/>
                                        </p:tgtEl>
                                      </p:cBhvr>
                                    </p:animEffect>
                                  </p:childTnLst>
                                </p:cTn>
                              </p:par>
                            </p:childTnLst>
                          </p:cTn>
                        </p:par>
                        <p:par>
                          <p:cTn id="22" fill="hold">
                            <p:stCondLst>
                              <p:cond delay="22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32" fill="hold">
                      <p:stCondLst>
                        <p:cond delay="indefinite"/>
                      </p:stCondLst>
                      <p:childTnLst>
                        <p:par>
                          <p:cTn id="27"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wipe(left)">
                                      <p:cBhvr>
                                        <p:cTn id="26" dur="600"/>
                                        <p:tgtEl>
                                          <p:spTgt spid="24"/>
                                        </p:tgtEl>
                                      </p:cBhvr>
                                    </p:animEffect>
                                  </p:childTnLst>
                                </p:cTn>
                              </p:par>
                            </p:childTnLst>
                          </p:cTn>
                        </p:par>
                        <p:par>
                          <p:cTn id="31" fill="hold">
                            <p:stCondLst>
                              <p:cond delay="600"/>
                            </p:stCondLst>
                            <p:childTnLst>
                              <p:par>
                                <p:cTn id="28" presetID="10" presetClass="entr" presetSubtype="0" fill="hold" grpId="0"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500"/>
                                        <p:tgtEl>
                                          <p:spTgt spid="26"/>
                                        </p:tgtEl>
                                      </p:cBhvr>
                                    </p:animEffect>
                                  </p:childTnLst>
                                </p:cTn>
                              </p:par>
                            </p:childTnLst>
                          </p:cTn>
                        </p:par>
                      </p:childTnLst>
                    </p:cTn>
                  </p:par>
                  <p:par>
                    <p:cTn id="46" fill="hold">
                      <p:stCondLst>
                        <p:cond delay="indefinite"/>
                      </p:stCondLst>
                      <p:childTnLst>
                        <p:par>
                          <p:cTn id="41"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600"/>
                                        <p:tgtEl>
                                          <p:spTgt spid="27"/>
                                        </p:tgtEl>
                                      </p:cBhvr>
                                    </p:animEffect>
                                  </p:childTnLst>
                                </p:cTn>
                              </p:par>
                            </p:childTnLst>
                          </p:cTn>
                        </p:par>
                        <p:par>
                          <p:cTn id="45" fill="hold">
                            <p:stCondLst>
                              <p:cond delay="600"/>
                            </p:stCondLst>
                            <p:childTnLst>
                              <p:par>
                                <p:cTn id="42" presetID="10" presetClass="entr" presetSubtype="0" fill="hold" grpId="0" nodeType="after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childTnLst>
                          </p:cTn>
                        </p:par>
                      </p:childTnLst>
                    </p:cTn>
                  </p:par>
                  <p:par>
                    <p:cTn id="55" fill="hold">
                      <p:stCondLst>
                        <p:cond delay="indefinite"/>
                      </p:stCondLst>
                      <p:childTnLst>
                        <p:par>
                          <p:cTn id="50"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wipe(left)">
                                      <p:cBhvr>
                                        <p:cTn id="49" dur="600"/>
                                        <p:tgtEl>
                                          <p:spTgt spid="29"/>
                                        </p:tgtEl>
                                      </p:cBhvr>
                                    </p:animEffect>
                                  </p:childTnLst>
                                </p:cTn>
                              </p:par>
                            </p:childTnLst>
                          </p:cTn>
                        </p:par>
                        <p:par>
                          <p:cTn id="54" fill="hold">
                            <p:stCondLst>
                              <p:cond delay="600"/>
                            </p:stCondLst>
                            <p:childTnLst>
                              <p:par>
                                <p:cTn id="51" presetID="10" presetClass="entr" presetSubtype="0" fill="hold" grpId="0" nodeType="after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childTnLst>
                          </p:cTn>
                        </p:par>
                      </p:childTnLst>
                    </p:cTn>
                  </p:par>
                  <p:par>
                    <p:cTn id="64" fill="hold">
                      <p:stCondLst>
                        <p:cond delay="indefinite"/>
                      </p:stCondLst>
                      <p:childTnLst>
                        <p:par>
                          <p:cTn id="59"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wipe(left)">
                                      <p:cBhvr>
                                        <p:cTn id="58" dur="600"/>
                                        <p:tgtEl>
                                          <p:spTgt spid="31"/>
                                        </p:tgtEl>
                                      </p:cBhvr>
                                    </p:animEffect>
                                  </p:childTnLst>
                                </p:cTn>
                              </p:par>
                            </p:childTnLst>
                          </p:cTn>
                        </p:par>
                        <p:par>
                          <p:cTn id="63" fill="hold">
                            <p:stCondLst>
                              <p:cond delay="600"/>
                            </p:stCondLst>
                            <p:childTnLst>
                              <p:par>
                                <p:cTn id="60" presetID="10" presetClass="entr" presetSubtype="0" fill="hold" grpId="0" nodeType="after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childTnLst>
                          </p:cTn>
                        </p:par>
                      </p:childTnLst>
                    </p:cTn>
                  </p:par>
                  <p:par>
                    <p:cTn id="69" fill="hold">
                      <p:stCondLst>
                        <p:cond delay="indefinite"/>
                      </p:stCondLst>
                      <p:childTnLst>
                        <p:par>
                          <p:cTn id="68"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7" grpId="0" animBg="1"/>
      <p:bldP spid="24" grpId="0" animBg="1"/>
      <p:bldP spid="33" grpId="0" animBg="1"/>
      <p:bldP spid="26" grpId="0" animBg="1"/>
      <p:bldP spid="27" grpId="0" animBg="1"/>
      <p:bldP spid="28" grpId="0" animBg="1"/>
      <p:bldP spid="29" grpId="0" animBg="1"/>
      <p:bldP spid="30" grpId="0" animBg="1"/>
      <p:bldP spid="31" grpId="0" animBg="1"/>
      <p:bldP spid="32" grpId="0" animBg="1"/>
    </p:bldLst>
  </p:timing>
</p:sld>
</file>

<file path=ppt/slides/slide126.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Hígado M4"/>
          <p:cNvGrpSpPr/>
          <p:nvPr/>
        </p:nvGrpSpPr>
        <p:grpSpPr>
          <a:xfrm>
            <a:off x="548640" y="1188720"/>
            <a:ext cx="6949440" cy="4911864"/>
            <a:chOff x="548640" y="1188720"/>
            <a:chExt cx="6949440" cy="4911864"/>
          </a:xfrm>
        </p:grpSpPr>
        <p:sp>
          <p:nvSpPr>
            <p:cNvPr id="5" name="Vesícula biliar"/>
            <p:cNvSpPr/>
            <p:nvPr/>
          </p:nvSpPr>
          <p:spPr>
            <a:xfrm>
              <a:off x="2424989" y="4549469"/>
              <a:ext cx="903427" cy="155111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548640" y="1188720"/>
              <a:ext cx="6949440" cy="430865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548640" y="1188720"/>
              <a:ext cx="6949440" cy="430865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548640" y="1188720"/>
              <a:ext cx="6949440" cy="430865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9" name="!!AG M4 0"/>
          <p:cNvGrpSpPr/>
          <p:nvPr/>
        </p:nvGrpSpPr>
        <p:grpSpPr>
          <a:xfrm>
            <a:off x="1078992" y="2066544"/>
            <a:ext cx="1115568" cy="237744"/>
            <a:chOff x="1078992" y="2066544"/>
            <a:chExt cx="1115568" cy="237744"/>
          </a:xfrm>
        </p:grpSpPr>
        <p:sp>
          <p:nvSpPr>
            <p:cNvPr id="10" name="Flecha 9_2"/>
            <p:cNvSpPr/>
            <p:nvPr/>
          </p:nvSpPr>
          <p:spPr>
            <a:xfrm>
              <a:off x="1243584" y="2121408"/>
              <a:ext cx="950976" cy="182880"/>
            </a:xfrm>
            <a:custGeom>
              <a:avLst/>
              <a:gdLst/>
              <a:ahLst/>
              <a:cxnLst/>
              <a:rect l="0" t="0" r="r" b="b"/>
              <a:pathLst>
                <a:path w="1040" h="200" fill="none">
                  <a:moveTo>
                    <a:pt x="0" y="0"/>
                  </a:moveTo>
                  <a:lnTo>
                    <a:pt x="129" y="200"/>
                  </a:lnTo>
                  <a:lnTo>
                    <a:pt x="260" y="0"/>
                  </a:lnTo>
                  <a:lnTo>
                    <a:pt x="390" y="200"/>
                  </a:lnTo>
                  <a:lnTo>
                    <a:pt x="520" y="0"/>
                  </a:lnTo>
                  <a:lnTo>
                    <a:pt x="649" y="200"/>
                  </a:lnTo>
                  <a:lnTo>
                    <a:pt x="779" y="0"/>
                  </a:lnTo>
                  <a:lnTo>
                    <a:pt x="910" y="200"/>
                  </a:lnTo>
                  <a:lnTo>
                    <a:pt x="1040" y="0"/>
                  </a:lnTo>
                </a:path>
              </a:pathLst>
            </a:custGeom>
            <a:noFill/>
            <a:ln w="28575" cap="rnd">
              <a:solidFill>
                <a:srgbClr val="B7950B"/>
              </a:solidFill>
              <a:round/>
            </a:ln>
          </p:spPr>
        </p:sp>
        <p:sp>
          <p:nvSpPr>
            <p:cNvPr id="11" name="Forma 11"/>
            <p:cNvSpPr/>
            <p:nvPr/>
          </p:nvSpPr>
          <p:spPr>
            <a:xfrm>
              <a:off x="1078992" y="20665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2" name="!!AG M4 1"/>
          <p:cNvGrpSpPr/>
          <p:nvPr/>
        </p:nvGrpSpPr>
        <p:grpSpPr>
          <a:xfrm>
            <a:off x="2450592" y="2615184"/>
            <a:ext cx="1115568" cy="237744"/>
            <a:chOff x="2450592" y="2615184"/>
            <a:chExt cx="1115568" cy="237744"/>
          </a:xfrm>
        </p:grpSpPr>
        <p:sp>
          <p:nvSpPr>
            <p:cNvPr id="13" name="Flecha 13_2"/>
            <p:cNvSpPr/>
            <p:nvPr/>
          </p:nvSpPr>
          <p:spPr>
            <a:xfrm>
              <a:off x="2615184" y="2670048"/>
              <a:ext cx="950976" cy="182880"/>
            </a:xfrm>
            <a:custGeom>
              <a:avLst/>
              <a:gdLst/>
              <a:ahLst/>
              <a:cxnLst/>
              <a:rect l="0" t="0" r="r" b="b"/>
              <a:pathLst>
                <a:path w="1040" h="200" fill="none">
                  <a:moveTo>
                    <a:pt x="0" y="0"/>
                  </a:moveTo>
                  <a:lnTo>
                    <a:pt x="129" y="200"/>
                  </a:lnTo>
                  <a:lnTo>
                    <a:pt x="259" y="0"/>
                  </a:lnTo>
                  <a:lnTo>
                    <a:pt x="390" y="200"/>
                  </a:lnTo>
                  <a:lnTo>
                    <a:pt x="520" y="0"/>
                  </a:lnTo>
                  <a:lnTo>
                    <a:pt x="649" y="200"/>
                  </a:lnTo>
                  <a:lnTo>
                    <a:pt x="780" y="0"/>
                  </a:lnTo>
                  <a:lnTo>
                    <a:pt x="910" y="200"/>
                  </a:lnTo>
                  <a:lnTo>
                    <a:pt x="1040" y="0"/>
                  </a:lnTo>
                </a:path>
              </a:pathLst>
            </a:custGeom>
            <a:noFill/>
            <a:ln w="28575" cap="rnd">
              <a:solidFill>
                <a:srgbClr val="B7950B"/>
              </a:solidFill>
              <a:round/>
            </a:ln>
          </p:spPr>
        </p:sp>
        <p:sp>
          <p:nvSpPr>
            <p:cNvPr id="14" name="Forma 15"/>
            <p:cNvSpPr/>
            <p:nvPr/>
          </p:nvSpPr>
          <p:spPr>
            <a:xfrm>
              <a:off x="2450592" y="261518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5" name="!!AG M4 2"/>
          <p:cNvGrpSpPr/>
          <p:nvPr/>
        </p:nvGrpSpPr>
        <p:grpSpPr>
          <a:xfrm>
            <a:off x="3822192" y="2066544"/>
            <a:ext cx="1115568" cy="237744"/>
            <a:chOff x="3822192" y="2066544"/>
            <a:chExt cx="1115568" cy="237744"/>
          </a:xfrm>
        </p:grpSpPr>
        <p:sp>
          <p:nvSpPr>
            <p:cNvPr id="16" name="Flecha 17_2"/>
            <p:cNvSpPr/>
            <p:nvPr/>
          </p:nvSpPr>
          <p:spPr>
            <a:xfrm>
              <a:off x="3986784" y="2121408"/>
              <a:ext cx="950976" cy="182880"/>
            </a:xfrm>
            <a:custGeom>
              <a:avLst/>
              <a:gdLst/>
              <a:ahLst/>
              <a:cxnLst/>
              <a:rect l="0" t="0" r="r" b="b"/>
              <a:pathLst>
                <a:path w="1040" h="200" fill="none">
                  <a:moveTo>
                    <a:pt x="0" y="0"/>
                  </a:moveTo>
                  <a:lnTo>
                    <a:pt x="129" y="200"/>
                  </a:lnTo>
                  <a:lnTo>
                    <a:pt x="259" y="0"/>
                  </a:lnTo>
                  <a:lnTo>
                    <a:pt x="389" y="200"/>
                  </a:lnTo>
                  <a:lnTo>
                    <a:pt x="520" y="0"/>
                  </a:lnTo>
                  <a:lnTo>
                    <a:pt x="650" y="200"/>
                  </a:lnTo>
                  <a:lnTo>
                    <a:pt x="780" y="0"/>
                  </a:lnTo>
                  <a:lnTo>
                    <a:pt x="910" y="200"/>
                  </a:lnTo>
                  <a:lnTo>
                    <a:pt x="1040" y="0"/>
                  </a:lnTo>
                </a:path>
              </a:pathLst>
            </a:custGeom>
            <a:noFill/>
            <a:ln w="28575" cap="rnd">
              <a:solidFill>
                <a:srgbClr val="B7950B"/>
              </a:solidFill>
              <a:round/>
            </a:ln>
          </p:spPr>
        </p:sp>
        <p:sp>
          <p:nvSpPr>
            <p:cNvPr id="17" name="Forma 19"/>
            <p:cNvSpPr/>
            <p:nvPr/>
          </p:nvSpPr>
          <p:spPr>
            <a:xfrm>
              <a:off x="3822192" y="206654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8" name="!!Texto M4"/>
          <p:cNvGrpSpPr/>
          <p:nvPr/>
        </p:nvGrpSpPr>
        <p:grpSpPr>
          <a:xfrm>
            <a:off x="8138160" y="1005840"/>
            <a:ext cx="3657600" cy="3657600"/>
            <a:chOff x="8138160" y="1005840"/>
            <a:chExt cx="3657600" cy="3657600"/>
          </a:xfrm>
        </p:grpSpPr>
        <p:sp>
          <p:nvSpPr>
            <p:cNvPr id="19" name="Forma 21"/>
            <p:cNvSpPr/>
            <p:nvPr/>
          </p:nvSpPr>
          <p:spPr>
            <a:xfrm>
              <a:off x="8138160" y="1188720"/>
              <a:ext cx="365760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Insulina baja relativa</a:t>
              </a:r>
              <a:r>
                <a:rPr lang="es-AR" sz="1750" dirty="0">
                  <a:solidFill>
                    <a:srgbClr val="1E1E1E"/>
                  </a:solidFill>
                  <a:latin typeface="Bahnschrift"/>
                  <a:ea typeface="Bahnschrift"/>
                  <a:cs typeface="Bahnschrift"/>
                  <a:sym typeface="Bahnschrift"/>
                </a:rPr>
                <a:t> y alta disponibilidad de </a:t>
              </a:r>
              <a:r>
                <a:rPr lang="es-AR" sz="1750" b="1" dirty="0">
                  <a:solidFill>
                    <a:srgbClr val="1E1E1E"/>
                  </a:solidFill>
                  <a:latin typeface="Bahnschrift"/>
                  <a:ea typeface="Bahnschrift"/>
                  <a:cs typeface="Bahnschrift"/>
                  <a:sym typeface="Bahnschrift"/>
                </a:rPr>
                <a:t>AG</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 malonil-CoA → </a:t>
              </a:r>
              <a:r>
                <a:rPr lang="es-AR" sz="1750" b="1" dirty="0">
                  <a:solidFill>
                    <a:srgbClr val="1E1E1E"/>
                  </a:solidFill>
                  <a:latin typeface="Bahnschrift"/>
                  <a:ea typeface="Bahnschrift"/>
                  <a:cs typeface="Bahnschrift"/>
                  <a:sym typeface="Bahnschrift"/>
                </a:rPr>
                <a:t>CPT1 libre</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β-oxidación intensa → acetil-CoA, NADH y ATP.</a:t>
              </a:r>
              <a:endParaRPr lang="es-AR" sz="1750" dirty="0">
                <a:latin typeface="Bahnschrift"/>
              </a:endParaRPr>
            </a:p>
          </p:txBody>
        </p:sp>
        <p:sp>
          <p:nvSpPr>
            <p:cNvPr id="20" name="Forma 22"/>
            <p:cNvSpPr/>
            <p:nvPr/>
          </p:nvSpPr>
          <p:spPr>
            <a:xfrm>
              <a:off x="8247888" y="1005840"/>
              <a:ext cx="136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CONDICIONES</a:t>
              </a:r>
              <a:endParaRPr lang="es-AR" sz="1600" dirty="0">
                <a:latin typeface="Bahnschrift SemiBold Condensed"/>
              </a:endParaRPr>
            </a:p>
          </p:txBody>
        </p:sp>
      </p:grpSp>
      <p:sp>
        <p:nvSpPr>
          <p:cNvPr id="2" name="Etiqueta sección"/>
          <p:cNvSpPr/>
          <p:nvPr/>
        </p:nvSpPr>
        <p:spPr>
          <a:xfrm>
            <a:off x="9912039" y="201168"/>
            <a:ext cx="200533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4 · 1/4</a:t>
            </a:r>
            <a:endParaRPr lang="es-AR" sz="1300" dirty="0">
              <a:latin typeface="Bahnschrift SemiBold Condensed"/>
            </a:endParaRPr>
          </a:p>
        </p:txBody>
      </p:sp>
      <p:sp>
        <p:nvSpPr>
          <p:cNvPr id="3" name="Título"/>
          <p:cNvSpPr/>
          <p:nvPr/>
        </p:nvSpPr>
        <p:spPr>
          <a:xfrm>
            <a:off x="274320" y="146304"/>
            <a:ext cx="550521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22 · CETOGÉNESIS: EL HÍGADO EN AYUNO</a:t>
            </a:r>
            <a:endParaRPr lang="es-AR" sz="2600" dirty="0">
              <a:latin typeface="Bahnschrift SemiBold Condensed"/>
            </a:endParaRPr>
          </a:p>
        </p:txBody>
      </p:sp>
      <p:sp>
        <p:nvSpPr>
          <p:cNvPr id="2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126</a:t>
            </a:r>
            <a:endParaRPr lang="es-AR" sz="1000" dirty="0">
              <a:latin typeface="Bahnschrift SemiBold Condensed"/>
            </a:endParaRPr>
          </a:p>
        </p:txBody>
      </p:sp>
    </p:spTree>
  </p:cSld>
  <p:clrMapOvr>
    <a:masterClrMapping/>
  </p:clrMapOvr>
  <p:transition spd="med">
    <p:fade/>
  </p:transition>
</p:sld>
</file>

<file path=ppt/slides/slide127.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Hígado M4"/>
          <p:cNvGrpSpPr/>
          <p:nvPr/>
        </p:nvGrpSpPr>
        <p:grpSpPr>
          <a:xfrm>
            <a:off x="-7315200" y="-4572000"/>
            <a:ext cx="23774400" cy="16803746"/>
            <a:chOff x="-7315200" y="-4572000"/>
            <a:chExt cx="23774400" cy="16803746"/>
          </a:xfrm>
        </p:grpSpPr>
        <p:sp>
          <p:nvSpPr>
            <p:cNvPr id="5" name="Vesícula biliar"/>
            <p:cNvSpPr/>
            <p:nvPr/>
          </p:nvSpPr>
          <p:spPr>
            <a:xfrm>
              <a:off x="-896112" y="6925300"/>
              <a:ext cx="3090672" cy="5306446"/>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7315200" y="-4572000"/>
              <a:ext cx="23774400" cy="14740128"/>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7315200" y="-4572000"/>
              <a:ext cx="23774400" cy="14740128"/>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7315200" y="-4572000"/>
              <a:ext cx="23774400" cy="14740128"/>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9" name="!!Mitocondria M4"/>
          <p:cNvGrpSpPr/>
          <p:nvPr/>
        </p:nvGrpSpPr>
        <p:grpSpPr>
          <a:xfrm>
            <a:off x="365760" y="1097280"/>
            <a:ext cx="7498080" cy="5303520"/>
            <a:chOff x="365760" y="1097280"/>
            <a:chExt cx="7498080" cy="5303520"/>
          </a:xfrm>
        </p:grpSpPr>
        <p:sp>
          <p:nvSpPr>
            <p:cNvPr id="10" name="Forma 9"/>
            <p:cNvSpPr/>
            <p:nvPr/>
          </p:nvSpPr>
          <p:spPr>
            <a:xfrm>
              <a:off x="365760" y="1097280"/>
              <a:ext cx="7498080" cy="530352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1" name="Forma 10"/>
            <p:cNvSpPr/>
            <p:nvPr/>
          </p:nvSpPr>
          <p:spPr>
            <a:xfrm>
              <a:off x="890626" y="1839773"/>
              <a:ext cx="6448349" cy="3818534"/>
            </a:xfrm>
            <a:prstGeom prst="ellipse">
              <a:avLst/>
            </a:prstGeom>
            <a:solidFill>
              <a:srgbClr val="F8D8B4"/>
            </a:solidFill>
            <a:ln w="9525" cap="rnd">
              <a:solidFill>
                <a:srgbClr val="B2732B"/>
              </a:solidFill>
              <a:round/>
            </a:ln>
          </p:spPr>
        </p:sp>
        <p:sp>
          <p:nvSpPr>
            <p:cNvPr id="12" name="Forma 11"/>
            <p:cNvSpPr/>
            <p:nvPr/>
          </p:nvSpPr>
          <p:spPr>
            <a:xfrm>
              <a:off x="890626" y="1839773"/>
              <a:ext cx="6448349" cy="3818534"/>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13" name="!!AG M4 0"/>
          <p:cNvGrpSpPr/>
          <p:nvPr/>
        </p:nvGrpSpPr>
        <p:grpSpPr>
          <a:xfrm>
            <a:off x="804672" y="1335024"/>
            <a:ext cx="841248" cy="201168"/>
            <a:chOff x="804672" y="1335024"/>
            <a:chExt cx="841248" cy="201168"/>
          </a:xfrm>
        </p:grpSpPr>
        <p:sp>
          <p:nvSpPr>
            <p:cNvPr id="14" name="Flecha 13_2"/>
            <p:cNvSpPr/>
            <p:nvPr/>
          </p:nvSpPr>
          <p:spPr>
            <a:xfrm>
              <a:off x="969264" y="1389888"/>
              <a:ext cx="676656" cy="146304"/>
            </a:xfrm>
            <a:custGeom>
              <a:avLst/>
              <a:gdLst/>
              <a:ahLst/>
              <a:cxnLst/>
              <a:rect l="0" t="0" r="r" b="b"/>
              <a:pathLst>
                <a:path w="740" h="159" fill="none">
                  <a:moveTo>
                    <a:pt x="0" y="0"/>
                  </a:moveTo>
                  <a:lnTo>
                    <a:pt x="92" y="159"/>
                  </a:lnTo>
                  <a:lnTo>
                    <a:pt x="185" y="0"/>
                  </a:lnTo>
                  <a:lnTo>
                    <a:pt x="277" y="159"/>
                  </a:lnTo>
                  <a:lnTo>
                    <a:pt x="370" y="0"/>
                  </a:lnTo>
                  <a:lnTo>
                    <a:pt x="462" y="159"/>
                  </a:lnTo>
                  <a:lnTo>
                    <a:pt x="554" y="0"/>
                  </a:lnTo>
                  <a:lnTo>
                    <a:pt x="647" y="159"/>
                  </a:lnTo>
                  <a:lnTo>
                    <a:pt x="740" y="0"/>
                  </a:lnTo>
                </a:path>
              </a:pathLst>
            </a:custGeom>
            <a:noFill/>
            <a:ln w="28575" cap="rnd">
              <a:solidFill>
                <a:srgbClr val="B7950B"/>
              </a:solidFill>
              <a:round/>
            </a:ln>
          </p:spPr>
        </p:sp>
        <p:sp>
          <p:nvSpPr>
            <p:cNvPr id="15" name="Forma 15"/>
            <p:cNvSpPr/>
            <p:nvPr/>
          </p:nvSpPr>
          <p:spPr>
            <a:xfrm>
              <a:off x="804672" y="13350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6" name="!!AG M4 1"/>
          <p:cNvGrpSpPr/>
          <p:nvPr/>
        </p:nvGrpSpPr>
        <p:grpSpPr>
          <a:xfrm>
            <a:off x="1170432" y="1563624"/>
            <a:ext cx="841248" cy="201168"/>
            <a:chOff x="1170432" y="1563624"/>
            <a:chExt cx="841248" cy="201168"/>
          </a:xfrm>
        </p:grpSpPr>
        <p:sp>
          <p:nvSpPr>
            <p:cNvPr id="17" name="Flecha 17_2"/>
            <p:cNvSpPr/>
            <p:nvPr/>
          </p:nvSpPr>
          <p:spPr>
            <a:xfrm>
              <a:off x="1335024" y="1618488"/>
              <a:ext cx="676656" cy="146304"/>
            </a:xfrm>
            <a:custGeom>
              <a:avLst/>
              <a:gdLst/>
              <a:ahLst/>
              <a:cxnLst/>
              <a:rect l="0" t="0" r="r" b="b"/>
              <a:pathLst>
                <a:path w="740" h="159" fill="none">
                  <a:moveTo>
                    <a:pt x="0" y="0"/>
                  </a:moveTo>
                  <a:lnTo>
                    <a:pt x="92" y="159"/>
                  </a:lnTo>
                  <a:lnTo>
                    <a:pt x="185" y="0"/>
                  </a:lnTo>
                  <a:lnTo>
                    <a:pt x="277" y="159"/>
                  </a:lnTo>
                  <a:lnTo>
                    <a:pt x="370" y="0"/>
                  </a:lnTo>
                  <a:lnTo>
                    <a:pt x="462" y="159"/>
                  </a:lnTo>
                  <a:lnTo>
                    <a:pt x="554" y="0"/>
                  </a:lnTo>
                  <a:lnTo>
                    <a:pt x="647" y="159"/>
                  </a:lnTo>
                  <a:lnTo>
                    <a:pt x="740" y="0"/>
                  </a:lnTo>
                </a:path>
              </a:pathLst>
            </a:custGeom>
            <a:noFill/>
            <a:ln w="28575" cap="rnd">
              <a:solidFill>
                <a:srgbClr val="B7950B"/>
              </a:solidFill>
              <a:round/>
            </a:ln>
          </p:spPr>
        </p:sp>
        <p:sp>
          <p:nvSpPr>
            <p:cNvPr id="18" name="Forma 19"/>
            <p:cNvSpPr/>
            <p:nvPr/>
          </p:nvSpPr>
          <p:spPr>
            <a:xfrm>
              <a:off x="1170432" y="15636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grpSp>
        <p:nvGrpSpPr>
          <p:cNvPr id="19" name="!!AG M4 2"/>
          <p:cNvGrpSpPr/>
          <p:nvPr/>
        </p:nvGrpSpPr>
        <p:grpSpPr>
          <a:xfrm>
            <a:off x="1536192" y="1792224"/>
            <a:ext cx="841248" cy="201168"/>
            <a:chOff x="1536192" y="1792224"/>
            <a:chExt cx="841248" cy="201168"/>
          </a:xfrm>
        </p:grpSpPr>
        <p:sp>
          <p:nvSpPr>
            <p:cNvPr id="20" name="Flecha 21_2"/>
            <p:cNvSpPr/>
            <p:nvPr/>
          </p:nvSpPr>
          <p:spPr>
            <a:xfrm>
              <a:off x="1700784" y="1847088"/>
              <a:ext cx="676656" cy="146304"/>
            </a:xfrm>
            <a:custGeom>
              <a:avLst/>
              <a:gdLst/>
              <a:ahLst/>
              <a:cxnLst/>
              <a:rect l="0" t="0" r="r" b="b"/>
              <a:pathLst>
                <a:path w="740" h="160" fill="none">
                  <a:moveTo>
                    <a:pt x="0" y="0"/>
                  </a:moveTo>
                  <a:lnTo>
                    <a:pt x="92" y="160"/>
                  </a:lnTo>
                  <a:lnTo>
                    <a:pt x="184" y="0"/>
                  </a:lnTo>
                  <a:lnTo>
                    <a:pt x="277" y="160"/>
                  </a:lnTo>
                  <a:lnTo>
                    <a:pt x="369" y="0"/>
                  </a:lnTo>
                  <a:lnTo>
                    <a:pt x="462" y="160"/>
                  </a:lnTo>
                  <a:lnTo>
                    <a:pt x="554" y="0"/>
                  </a:lnTo>
                  <a:lnTo>
                    <a:pt x="647" y="160"/>
                  </a:lnTo>
                  <a:lnTo>
                    <a:pt x="740" y="0"/>
                  </a:lnTo>
                </a:path>
              </a:pathLst>
            </a:custGeom>
            <a:noFill/>
            <a:ln w="28575" cap="rnd">
              <a:solidFill>
                <a:srgbClr val="B7950B"/>
              </a:solidFill>
              <a:round/>
            </a:ln>
          </p:spPr>
        </p:sp>
        <p:sp>
          <p:nvSpPr>
            <p:cNvPr id="21" name="Forma 23"/>
            <p:cNvSpPr/>
            <p:nvPr/>
          </p:nvSpPr>
          <p:spPr>
            <a:xfrm>
              <a:off x="1536192" y="17922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22" name="Cetogénesis 2 Acetil-CoA"/>
          <p:cNvSpPr/>
          <p:nvPr/>
        </p:nvSpPr>
        <p:spPr>
          <a:xfrm>
            <a:off x="2286000" y="1737360"/>
            <a:ext cx="2194560" cy="45720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2 Acetil-CoA</a:t>
            </a:r>
            <a:endParaRPr lang="es-AR" sz="1400" dirty="0">
              <a:latin typeface="Bahnschrift SemiBold Condensed"/>
            </a:endParaRPr>
          </a:p>
        </p:txBody>
      </p:sp>
      <p:grpSp>
        <p:nvGrpSpPr>
          <p:cNvPr id="23" name="Cetogénesis paso 1"/>
          <p:cNvGrpSpPr/>
          <p:nvPr/>
        </p:nvGrpSpPr>
        <p:grpSpPr>
          <a:xfrm>
            <a:off x="3383280" y="2221992"/>
            <a:ext cx="725049" cy="402336"/>
            <a:chOff x="3383280" y="2221992"/>
            <a:chExt cx="725049" cy="402336"/>
          </a:xfrm>
        </p:grpSpPr>
        <p:sp>
          <p:nvSpPr>
            <p:cNvPr id="24" name="Flecha 26_2"/>
            <p:cNvSpPr/>
            <p:nvPr/>
          </p:nvSpPr>
          <p:spPr>
            <a:xfrm>
              <a:off x="3383280" y="2221992"/>
              <a:ext cx="9144" cy="402336"/>
            </a:xfrm>
            <a:custGeom>
              <a:avLst/>
              <a:gdLst/>
              <a:ahLst/>
              <a:cxnLst/>
              <a:rect l="0" t="0" r="r" b="b"/>
              <a:pathLst>
                <a:path w="10" h="440" fill="none">
                  <a:moveTo>
                    <a:pt x="0" y="0"/>
                  </a:moveTo>
                  <a:lnTo>
                    <a:pt x="0" y="440"/>
                  </a:lnTo>
                </a:path>
              </a:pathLst>
            </a:custGeom>
            <a:noFill/>
            <a:ln w="25400" cap="rnd">
              <a:solidFill>
                <a:srgbClr val="1E1E1E"/>
              </a:solidFill>
              <a:round/>
              <a:headEnd type="triangle" w="med" len="med"/>
              <a:tailEnd type="triangle" w="med" len="med"/>
            </a:ln>
          </p:spPr>
        </p:sp>
        <p:sp>
          <p:nvSpPr>
            <p:cNvPr id="25" name="Enzima tiolasa"/>
            <p:cNvSpPr/>
            <p:nvPr/>
          </p:nvSpPr>
          <p:spPr>
            <a:xfrm>
              <a:off x="3493008" y="2276856"/>
              <a:ext cx="61532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tiolasa</a:t>
              </a:r>
              <a:endParaRPr lang="es-AR" sz="1150" dirty="0">
                <a:latin typeface="Bahnschrift SemiBold Condensed"/>
              </a:endParaRPr>
            </a:p>
          </p:txBody>
        </p:sp>
      </p:grpSp>
      <p:sp>
        <p:nvSpPr>
          <p:cNvPr id="26" name="Cetogénesis Acetoacetil-CoA"/>
          <p:cNvSpPr/>
          <p:nvPr/>
        </p:nvSpPr>
        <p:spPr>
          <a:xfrm>
            <a:off x="2286000" y="2651760"/>
            <a:ext cx="219456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Acetoacetil-CoA</a:t>
            </a:r>
            <a:endParaRPr lang="es-AR" sz="1400" dirty="0">
              <a:latin typeface="Bahnschrift SemiBold Condensed"/>
            </a:endParaRPr>
          </a:p>
        </p:txBody>
      </p:sp>
      <p:grpSp>
        <p:nvGrpSpPr>
          <p:cNvPr id="27" name="Cetogénesis paso 2"/>
          <p:cNvGrpSpPr/>
          <p:nvPr/>
        </p:nvGrpSpPr>
        <p:grpSpPr>
          <a:xfrm>
            <a:off x="3383280" y="3136392"/>
            <a:ext cx="1739850" cy="402336"/>
            <a:chOff x="3383280" y="3136392"/>
            <a:chExt cx="1739850" cy="402336"/>
          </a:xfrm>
        </p:grpSpPr>
        <p:sp>
          <p:nvSpPr>
            <p:cNvPr id="28" name="Flecha 31_2"/>
            <p:cNvSpPr/>
            <p:nvPr/>
          </p:nvSpPr>
          <p:spPr>
            <a:xfrm>
              <a:off x="3383280" y="3136392"/>
              <a:ext cx="9144" cy="402336"/>
            </a:xfrm>
            <a:custGeom>
              <a:avLst/>
              <a:gdLst/>
              <a:ahLst/>
              <a:cxnLst/>
              <a:rect l="0" t="0" r="r" b="b"/>
              <a:pathLst>
                <a:path w="10" h="440" fill="none">
                  <a:moveTo>
                    <a:pt x="0" y="0"/>
                  </a:moveTo>
                  <a:lnTo>
                    <a:pt x="0" y="440"/>
                  </a:lnTo>
                </a:path>
              </a:pathLst>
            </a:custGeom>
            <a:noFill/>
            <a:ln w="44450" cap="rnd">
              <a:solidFill>
                <a:srgbClr val="1E1E1E"/>
              </a:solidFill>
              <a:round/>
              <a:tailEnd type="triangle" w="med" len="med"/>
            </a:ln>
          </p:spPr>
        </p:sp>
        <p:sp>
          <p:nvSpPr>
            <p:cNvPr id="29" name="Enzima HMGCS2 (paso regulad"/>
            <p:cNvSpPr/>
            <p:nvPr/>
          </p:nvSpPr>
          <p:spPr>
            <a:xfrm>
              <a:off x="3493008" y="3191256"/>
              <a:ext cx="163012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HMGCS2</a:t>
              </a:r>
              <a:r>
                <a:rPr lang="es-AR" sz="1150" b="1" dirty="0">
                  <a:solidFill>
                    <a:srgbClr val="1F3864"/>
                  </a:solidFill>
                  <a:latin typeface="Bahnschrift SemiBold Condensed"/>
                  <a:ea typeface="Bahnschrift SemiBold Condensed"/>
                  <a:cs typeface="Bahnschrift SemiBold Condensed"/>
                  <a:sym typeface="Bahnschrift SemiBold Condensed"/>
                </a:rPr>
                <a:t> (paso regulado)</a:t>
              </a:r>
              <a:endParaRPr lang="es-AR" sz="1150" dirty="0">
                <a:latin typeface="Bahnschrift SemiBold Condensed"/>
              </a:endParaRPr>
            </a:p>
          </p:txBody>
        </p:sp>
      </p:grpSp>
      <p:sp>
        <p:nvSpPr>
          <p:cNvPr id="30" name="Cetogénesis HMG-CoA"/>
          <p:cNvSpPr/>
          <p:nvPr/>
        </p:nvSpPr>
        <p:spPr>
          <a:xfrm>
            <a:off x="2286000" y="3566160"/>
            <a:ext cx="219456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HMG-CoA</a:t>
            </a:r>
            <a:endParaRPr lang="es-AR" sz="1400" dirty="0">
              <a:latin typeface="Bahnschrift SemiBold Condensed"/>
            </a:endParaRPr>
          </a:p>
        </p:txBody>
      </p:sp>
      <p:grpSp>
        <p:nvGrpSpPr>
          <p:cNvPr id="31" name="Cetogénesis paso 3"/>
          <p:cNvGrpSpPr/>
          <p:nvPr/>
        </p:nvGrpSpPr>
        <p:grpSpPr>
          <a:xfrm>
            <a:off x="3383280" y="4050792"/>
            <a:ext cx="1151021" cy="402336"/>
            <a:chOff x="3383280" y="4050792"/>
            <a:chExt cx="1151021" cy="402336"/>
          </a:xfrm>
        </p:grpSpPr>
        <p:sp>
          <p:nvSpPr>
            <p:cNvPr id="32" name="Flecha 36_2"/>
            <p:cNvSpPr/>
            <p:nvPr/>
          </p:nvSpPr>
          <p:spPr>
            <a:xfrm>
              <a:off x="3383280" y="4050792"/>
              <a:ext cx="9144" cy="402336"/>
            </a:xfrm>
            <a:custGeom>
              <a:avLst/>
              <a:gdLst/>
              <a:ahLst/>
              <a:cxnLst/>
              <a:rect l="0" t="0" r="r" b="b"/>
              <a:pathLst>
                <a:path w="10" h="439" fill="none">
                  <a:moveTo>
                    <a:pt x="0" y="0"/>
                  </a:moveTo>
                  <a:lnTo>
                    <a:pt x="0" y="439"/>
                  </a:lnTo>
                </a:path>
              </a:pathLst>
            </a:custGeom>
            <a:noFill/>
            <a:ln w="44450" cap="rnd">
              <a:solidFill>
                <a:srgbClr val="1E1E1E"/>
              </a:solidFill>
              <a:round/>
              <a:tailEnd type="triangle" w="med" len="med"/>
            </a:ln>
          </p:spPr>
        </p:sp>
        <p:sp>
          <p:nvSpPr>
            <p:cNvPr id="33" name="Enzima HMG-CoA liasa"/>
            <p:cNvSpPr/>
            <p:nvPr/>
          </p:nvSpPr>
          <p:spPr>
            <a:xfrm>
              <a:off x="3493008" y="4105656"/>
              <a:ext cx="104129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HMG-CoA </a:t>
              </a:r>
              <a:r>
                <a:rPr lang="es-AR" sz="1150" b="1" dirty="0">
                  <a:solidFill>
                    <a:srgbClr val="1F3864"/>
                  </a:solidFill>
                  <a:latin typeface="Bahnschrift SemiBold Condensed"/>
                  <a:ea typeface="Bahnschrift SemiBold Condensed"/>
                  <a:cs typeface="Bahnschrift SemiBold Condensed"/>
                  <a:sym typeface="Bahnschrift SemiBold Condensed"/>
                </a:rPr>
                <a:t>liasa</a:t>
              </a:r>
              <a:endParaRPr lang="es-AR" sz="1150" dirty="0">
                <a:latin typeface="Bahnschrift SemiBold Condensed"/>
              </a:endParaRPr>
            </a:p>
          </p:txBody>
        </p:sp>
      </p:grpSp>
      <p:sp>
        <p:nvSpPr>
          <p:cNvPr id="34" name="Cetogénesis Acetoacetato"/>
          <p:cNvSpPr/>
          <p:nvPr/>
        </p:nvSpPr>
        <p:spPr>
          <a:xfrm>
            <a:off x="2286000" y="4480560"/>
            <a:ext cx="2194560" cy="457200"/>
          </a:xfrm>
          <a:prstGeom prst="roundRect">
            <a:avLst>
              <a:gd name="adj" fmla="val 30000"/>
            </a:avLst>
          </a:prstGeom>
          <a:solidFill>
            <a:srgbClr val="E397B5"/>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Acetoacetato</a:t>
            </a:r>
            <a:endParaRPr lang="es-AR" sz="1400" dirty="0">
              <a:latin typeface="Bahnschrift SemiBold Condensed"/>
            </a:endParaRPr>
          </a:p>
        </p:txBody>
      </p:sp>
      <p:sp>
        <p:nvSpPr>
          <p:cNvPr id="35" name="BHB"/>
          <p:cNvSpPr/>
          <p:nvPr/>
        </p:nvSpPr>
        <p:spPr>
          <a:xfrm>
            <a:off x="5120640" y="4480560"/>
            <a:ext cx="2194560" cy="457200"/>
          </a:xfrm>
          <a:prstGeom prst="roundRect">
            <a:avLst/>
          </a:prstGeom>
          <a:solidFill>
            <a:srgbClr val="E397B5"/>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β-hidroxibutirato</a:t>
            </a:r>
            <a:endParaRPr lang="es-AR" sz="1400" dirty="0">
              <a:latin typeface="Bahnschrift SemiBold Condensed"/>
            </a:endParaRPr>
          </a:p>
        </p:txBody>
      </p:sp>
      <p:sp>
        <p:nvSpPr>
          <p:cNvPr id="36" name="Flecha 41_2"/>
          <p:cNvSpPr/>
          <p:nvPr/>
        </p:nvSpPr>
        <p:spPr>
          <a:xfrm>
            <a:off x="4498848" y="4709160"/>
            <a:ext cx="603504" cy="9144"/>
          </a:xfrm>
          <a:custGeom>
            <a:avLst/>
            <a:gdLst/>
            <a:ahLst/>
            <a:cxnLst/>
            <a:rect l="0" t="0" r="r" b="b"/>
            <a:pathLst>
              <a:path w="660" h="10" fill="none">
                <a:moveTo>
                  <a:pt x="0" y="0"/>
                </a:moveTo>
                <a:lnTo>
                  <a:pt x="660" y="0"/>
                </a:lnTo>
              </a:path>
            </a:pathLst>
          </a:custGeom>
          <a:noFill/>
          <a:ln w="31750" cap="rnd">
            <a:solidFill>
              <a:srgbClr val="1E1E1E"/>
            </a:solidFill>
            <a:round/>
            <a:headEnd type="triangle" w="med" len="med"/>
            <a:tailEnd type="triangle" w="med" len="med"/>
          </a:ln>
        </p:spPr>
      </p:sp>
      <p:sp>
        <p:nvSpPr>
          <p:cNvPr id="37" name="BDH"/>
          <p:cNvSpPr/>
          <p:nvPr/>
        </p:nvSpPr>
        <p:spPr>
          <a:xfrm>
            <a:off x="4206240" y="5074920"/>
            <a:ext cx="153367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BDH (NADH ↔ NAD</a:t>
            </a:r>
            <a:r>
              <a:rPr lang="es-AR" sz="1250" b="1" baseline="30000" dirty="0">
                <a:solidFill>
                  <a:srgbClr val="1F3864"/>
                </a:solidFill>
                <a:latin typeface="Bahnschrift SemiBold Condensed"/>
                <a:ea typeface="Bahnschrift SemiBold Condensed"/>
                <a:cs typeface="Bahnschrift SemiBold Condensed"/>
                <a:sym typeface="Bahnschrift SemiBold Condensed"/>
              </a:rPr>
              <a:t>+</a:t>
            </a:r>
            <a:r>
              <a:rPr lang="es-AR" sz="1250" b="1" dirty="0">
                <a:solidFill>
                  <a:srgbClr val="1F3864"/>
                </a:solidFill>
                <a:latin typeface="Bahnschrift SemiBold Condensed"/>
                <a:ea typeface="Bahnschrift SemiBold Condensed"/>
                <a:cs typeface="Bahnschrift SemiBold Condensed"/>
                <a:sym typeface="Bahnschrift SemiBold Condensed"/>
              </a:rPr>
              <a:t>)</a:t>
            </a:r>
            <a:endParaRPr lang="es-AR" sz="1250" dirty="0">
              <a:latin typeface="Bahnschrift SemiBold Condensed"/>
            </a:endParaRPr>
          </a:p>
        </p:txBody>
      </p:sp>
      <p:sp>
        <p:nvSpPr>
          <p:cNvPr id="38" name="Acetona"/>
          <p:cNvSpPr/>
          <p:nvPr/>
        </p:nvSpPr>
        <p:spPr>
          <a:xfrm>
            <a:off x="2926080" y="5394960"/>
            <a:ext cx="2661533" cy="236220"/>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Acetona (descarboxilación espontánea)</a:t>
            </a:r>
            <a:endParaRPr lang="es-AR" sz="1200" dirty="0">
              <a:latin typeface="Bahnschrift SemiBold Condensed"/>
            </a:endParaRPr>
          </a:p>
        </p:txBody>
      </p:sp>
      <p:sp>
        <p:nvSpPr>
          <p:cNvPr id="39" name="OAA"/>
          <p:cNvSpPr/>
          <p:nvPr/>
        </p:nvSpPr>
        <p:spPr>
          <a:xfrm>
            <a:off x="548640" y="3017520"/>
            <a:ext cx="1645920" cy="13716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dirty="0">
                <a:solidFill>
                  <a:srgbClr val="1E1E1E"/>
                </a:solidFill>
                <a:latin typeface="Bahnschrift"/>
                <a:ea typeface="Bahnschrift"/>
                <a:cs typeface="Bahnschrift"/>
                <a:sym typeface="Bahnschrift"/>
              </a:rPr>
              <a:t>OAA desviado a </a:t>
            </a:r>
            <a:r>
              <a:rPr lang="es-AR" sz="1250" b="1" dirty="0">
                <a:solidFill>
                  <a:srgbClr val="1E1E1E"/>
                </a:solidFill>
                <a:latin typeface="Bahnschrift"/>
                <a:ea typeface="Bahnschrift"/>
                <a:cs typeface="Bahnschrift"/>
                <a:sym typeface="Bahnschrift"/>
              </a:rPr>
              <a:t>GNG</a:t>
            </a:r>
            <a:endParaRPr lang="es-AR" sz="1250" dirty="0">
              <a:latin typeface="Bahnschrift"/>
            </a:endParaRPr>
          </a:p>
        </p:txBody>
      </p:sp>
      <p:grpSp>
        <p:nvGrpSpPr>
          <p:cNvPr id="40" name="!!Texto M4"/>
          <p:cNvGrpSpPr/>
          <p:nvPr/>
        </p:nvGrpSpPr>
        <p:grpSpPr>
          <a:xfrm>
            <a:off x="8138160" y="1005840"/>
            <a:ext cx="3657600" cy="3657600"/>
            <a:chOff x="8138160" y="1005840"/>
            <a:chExt cx="3657600" cy="3657600"/>
          </a:xfrm>
        </p:grpSpPr>
        <p:sp>
          <p:nvSpPr>
            <p:cNvPr id="41" name="Forma 47"/>
            <p:cNvSpPr/>
            <p:nvPr/>
          </p:nvSpPr>
          <p:spPr>
            <a:xfrm>
              <a:off x="8138160" y="1188720"/>
              <a:ext cx="365760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Parte del </a:t>
              </a:r>
              <a:r>
                <a:rPr lang="es-AR" sz="1750" b="1" dirty="0">
                  <a:solidFill>
                    <a:srgbClr val="1E1E1E"/>
                  </a:solidFill>
                  <a:latin typeface="Bahnschrift"/>
                  <a:ea typeface="Bahnschrift"/>
                  <a:cs typeface="Bahnschrift"/>
                  <a:sym typeface="Bahnschrift"/>
                </a:rPr>
                <a:t>oxaloacetato</a:t>
              </a:r>
              <a:r>
                <a:rPr lang="es-AR" sz="1750" dirty="0">
                  <a:solidFill>
                    <a:srgbClr val="1E1E1E"/>
                  </a:solidFill>
                  <a:latin typeface="Bahnschrift"/>
                  <a:ea typeface="Bahnschrift"/>
                  <a:cs typeface="Bahnschrift"/>
                  <a:sym typeface="Bahnschrift"/>
                </a:rPr>
                <a:t> va a gluconeogénesis: el acetil-CoA no se condensa todo en Krebs.</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HMGCS2</a:t>
              </a:r>
              <a:r>
                <a:rPr lang="es-AR" sz="1750" dirty="0">
                  <a:solidFill>
                    <a:srgbClr val="1E1E1E"/>
                  </a:solidFill>
                  <a:latin typeface="Bahnschrift"/>
                  <a:ea typeface="Bahnschrift"/>
                  <a:cs typeface="Bahnschrift"/>
                  <a:sym typeface="Bahnschrift"/>
                </a:rPr>
                <a:t> mitocondrial (PPARα, ayuno) dirige el exceso a </a:t>
              </a:r>
              <a:r>
                <a:rPr lang="es-AR" sz="1750" b="1" dirty="0">
                  <a:solidFill>
                    <a:srgbClr val="1E1E1E"/>
                  </a:solidFill>
                  <a:latin typeface="Bahnschrift"/>
                  <a:ea typeface="Bahnschrift"/>
                  <a:cs typeface="Bahnschrift"/>
                  <a:sym typeface="Bahnschrift"/>
                </a:rPr>
                <a:t>cuerpos cetónicos</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42" name="Forma 48"/>
            <p:cNvSpPr/>
            <p:nvPr/>
          </p:nvSpPr>
          <p:spPr>
            <a:xfrm>
              <a:off x="8247888" y="1005840"/>
              <a:ext cx="139821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MITOCONDRIA</a:t>
              </a:r>
              <a:endParaRPr lang="es-AR" sz="1600" dirty="0">
                <a:latin typeface="Bahnschrift SemiBold Condensed"/>
              </a:endParaRPr>
            </a:p>
          </p:txBody>
        </p:sp>
      </p:grpSp>
      <p:sp>
        <p:nvSpPr>
          <p:cNvPr id="2" name="Etiqueta sección"/>
          <p:cNvSpPr/>
          <p:nvPr/>
        </p:nvSpPr>
        <p:spPr>
          <a:xfrm>
            <a:off x="9884309" y="201168"/>
            <a:ext cx="20330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4 · 2/4</a:t>
            </a:r>
            <a:endParaRPr lang="es-AR" sz="1300" dirty="0">
              <a:latin typeface="Bahnschrift SemiBold Condensed"/>
            </a:endParaRPr>
          </a:p>
        </p:txBody>
      </p:sp>
      <p:sp>
        <p:nvSpPr>
          <p:cNvPr id="3" name="Título"/>
          <p:cNvSpPr/>
          <p:nvPr/>
        </p:nvSpPr>
        <p:spPr>
          <a:xfrm>
            <a:off x="274320" y="146304"/>
            <a:ext cx="661029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22 · CETOGÉNESIS EN LA MITOCONDRIA HEPÁTICA</a:t>
            </a:r>
            <a:endParaRPr lang="es-AR" sz="2600" dirty="0">
              <a:latin typeface="Bahnschrift SemiBold Condensed"/>
            </a:endParaRPr>
          </a:p>
        </p:txBody>
      </p:sp>
      <p:sp>
        <p:nvSpPr>
          <p:cNvPr id="4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127</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9"/>
                                        </p:tgtEl>
                                        <p:attrNameLst>
                                          <p:attrName>style.visibility</p:attrName>
                                        </p:attrNameLst>
                                      </p:cBhvr>
                                      <p:to>
                                        <p:strVal val="visible"/>
                                      </p:to>
                                    </p:set>
                                    <p:animEffect transition="in" filter="fade">
                                      <p:cBhvr>
                                        <p:cTn id="5" dur="500"/>
                                        <p:tgtEl>
                                          <p:spTgt spid="3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childTnLst>
                          </p:cTn>
                        </p:par>
                      </p:childTnLst>
                    </p:cTn>
                  </p:par>
                  <p:par>
                    <p:cTn id="21" fill="hold">
                      <p:stCondLst>
                        <p:cond delay="indefinite"/>
                      </p:stCondLst>
                      <p:childTnLst>
                        <p:par>
                          <p:cTn id="16"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up)">
                                      <p:cBhvr>
                                        <p:cTn id="15" dur="600"/>
                                        <p:tgtEl>
                                          <p:spTgt spid="23"/>
                                        </p:tgtEl>
                                      </p:cBhvr>
                                    </p:animEffect>
                                  </p:childTnLst>
                                </p:cTn>
                              </p:par>
                            </p:childTnLst>
                          </p:cTn>
                        </p:par>
                        <p:par>
                          <p:cTn id="20"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childTnLst>
                          </p:cTn>
                        </p:par>
                      </p:childTnLst>
                    </p:cTn>
                  </p:par>
                  <p:par>
                    <p:cTn id="30" fill="hold">
                      <p:stCondLst>
                        <p:cond delay="indefinite"/>
                      </p:stCondLst>
                      <p:childTnLst>
                        <p:par>
                          <p:cTn id="25"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wipe(up)">
                                      <p:cBhvr>
                                        <p:cTn id="24" dur="600"/>
                                        <p:tgtEl>
                                          <p:spTgt spid="27"/>
                                        </p:tgtEl>
                                      </p:cBhvr>
                                    </p:animEffect>
                                  </p:childTnLst>
                                </p:cTn>
                              </p:par>
                            </p:childTnLst>
                          </p:cTn>
                        </p:par>
                        <p:par>
                          <p:cTn id="29" fill="hold">
                            <p:stCondLst>
                              <p:cond delay="600"/>
                            </p:stCondLst>
                            <p:childTnLst>
                              <p:par>
                                <p:cTn id="26" presetID="10" presetClass="entr" presetSubtype="0" fill="hold" grpId="0" nodeType="after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39" fill="hold">
                      <p:stCondLst>
                        <p:cond delay="indefinite"/>
                      </p:stCondLst>
                      <p:childTnLst>
                        <p:par>
                          <p:cTn id="34" fill="hold">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wipe(up)">
                                      <p:cBhvr>
                                        <p:cTn id="33" dur="600"/>
                                        <p:tgtEl>
                                          <p:spTgt spid="31"/>
                                        </p:tgtEl>
                                      </p:cBhvr>
                                    </p:animEffect>
                                  </p:childTnLst>
                                </p:cTn>
                              </p:par>
                            </p:childTnLst>
                          </p:cTn>
                        </p:par>
                        <p:par>
                          <p:cTn id="38" fill="hold">
                            <p:stCondLst>
                              <p:cond delay="600"/>
                            </p:stCondLst>
                            <p:childTnLst>
                              <p:par>
                                <p:cTn id="35" presetID="10" presetClass="entr" presetSubtype="0" fill="hold" grpId="0" nodeType="afterEffect">
                                  <p:stCondLst>
                                    <p:cond delay="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500"/>
                                        <p:tgtEl>
                                          <p:spTgt spid="34"/>
                                        </p:tgtEl>
                                      </p:cBhvr>
                                    </p:animEffect>
                                  </p:childTnLst>
                                </p:cTn>
                              </p:par>
                            </p:childTnLst>
                          </p:cTn>
                        </p:par>
                      </p:childTnLst>
                    </p:cTn>
                  </p:par>
                  <p:par>
                    <p:cTn id="51" fill="hold">
                      <p:stCondLst>
                        <p:cond delay="indefinite"/>
                      </p:stCondLst>
                      <p:childTnLst>
                        <p:par>
                          <p:cTn id="43"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wipe(left)">
                                      <p:cBhvr>
                                        <p:cTn id="42" dur="600"/>
                                        <p:tgtEl>
                                          <p:spTgt spid="36"/>
                                        </p:tgtEl>
                                      </p:cBhvr>
                                    </p:animEffect>
                                  </p:childTnLst>
                                </p:cTn>
                              </p:par>
                            </p:childTnLst>
                          </p:cTn>
                        </p:par>
                        <p:par>
                          <p:cTn id="50" fill="hold">
                            <p:stCondLst>
                              <p:cond delay="600"/>
                            </p:stCondLst>
                            <p:childTnLst>
                              <p:par>
                                <p:cTn id="44" presetID="10" presetClass="entr" presetSubtype="0" fill="hold" grpId="0" nodeType="after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500"/>
                                        <p:tgtEl>
                                          <p:spTgt spid="37"/>
                                        </p:tgtEl>
                                      </p:cBhvr>
                                    </p:animEffect>
                                  </p:childTnLst>
                                </p:cTn>
                              </p:par>
                            </p:childTnLst>
                          </p:cTn>
                        </p:par>
                      </p:childTnLst>
                    </p:cTn>
                  </p:par>
                  <p:par>
                    <p:cTn id="56" fill="hold">
                      <p:stCondLst>
                        <p:cond delay="indefinite"/>
                      </p:stCondLst>
                      <p:childTnLst>
                        <p:par>
                          <p:cTn id="55"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22" grpId="0" animBg="1"/>
      <p:bldP spid="26" grpId="0" animBg="1"/>
      <p:bldP spid="30" grpId="0" animBg="1"/>
      <p:bldP spid="34" grpId="0" animBg="1"/>
      <p:bldP spid="36" grpId="0" animBg="1"/>
      <p:bldP spid="35" grpId="0" animBg="1"/>
      <p:bldP spid="37" grpId="0" animBg="1"/>
      <p:bldP spid="38" grpId="0" animBg="1"/>
    </p:bldLst>
  </p:timing>
</p:sld>
</file>

<file path=ppt/slides/slide128.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Mitocondria M4"/>
          <p:cNvGrpSpPr/>
          <p:nvPr/>
        </p:nvGrpSpPr>
        <p:grpSpPr>
          <a:xfrm>
            <a:off x="274320" y="1097280"/>
            <a:ext cx="2194560" cy="1463040"/>
            <a:chOff x="274320" y="1097280"/>
            <a:chExt cx="2194560" cy="1463040"/>
          </a:xfrm>
        </p:grpSpPr>
        <p:sp>
          <p:nvSpPr>
            <p:cNvPr id="5" name="Forma 4"/>
            <p:cNvSpPr/>
            <p:nvPr/>
          </p:nvSpPr>
          <p:spPr>
            <a:xfrm>
              <a:off x="274320" y="1097280"/>
              <a:ext cx="2194560" cy="146304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 name="Forma 5"/>
            <p:cNvSpPr/>
            <p:nvPr/>
          </p:nvSpPr>
          <p:spPr>
            <a:xfrm>
              <a:off x="427939" y="1302106"/>
              <a:ext cx="1887322" cy="1053389"/>
            </a:xfrm>
            <a:prstGeom prst="ellipse">
              <a:avLst/>
            </a:prstGeom>
            <a:solidFill>
              <a:srgbClr val="F8D8B4"/>
            </a:solidFill>
            <a:ln w="9525" cap="rnd">
              <a:solidFill>
                <a:srgbClr val="B2732B"/>
              </a:solidFill>
              <a:round/>
            </a:ln>
          </p:spPr>
        </p:sp>
        <p:sp>
          <p:nvSpPr>
            <p:cNvPr id="7" name="Forma 6"/>
            <p:cNvSpPr/>
            <p:nvPr/>
          </p:nvSpPr>
          <p:spPr>
            <a:xfrm>
              <a:off x="427939" y="1302106"/>
              <a:ext cx="1887322" cy="105338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8" name="Hígado pequeño"/>
          <p:cNvGrpSpPr/>
          <p:nvPr/>
        </p:nvGrpSpPr>
        <p:grpSpPr>
          <a:xfrm>
            <a:off x="274320" y="2651760"/>
            <a:ext cx="2377440" cy="1680375"/>
            <a:chOff x="274320" y="2651760"/>
            <a:chExt cx="2377440" cy="1680375"/>
          </a:xfrm>
        </p:grpSpPr>
        <p:sp>
          <p:nvSpPr>
            <p:cNvPr id="9" name="Vesícula biliar"/>
            <p:cNvSpPr/>
            <p:nvPr/>
          </p:nvSpPr>
          <p:spPr>
            <a:xfrm>
              <a:off x="916229" y="380149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0" name="Forma 9"/>
            <p:cNvSpPr/>
            <p:nvPr/>
          </p:nvSpPr>
          <p:spPr>
            <a:xfrm>
              <a:off x="274320" y="265176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1" name="Forma 10"/>
            <p:cNvSpPr/>
            <p:nvPr/>
          </p:nvSpPr>
          <p:spPr>
            <a:xfrm>
              <a:off x="274320" y="265176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2" name="Forma 11"/>
            <p:cNvSpPr/>
            <p:nvPr/>
          </p:nvSpPr>
          <p:spPr>
            <a:xfrm>
              <a:off x="274320" y="265176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3" name="!!Vaso M4"/>
          <p:cNvGrpSpPr/>
          <p:nvPr/>
        </p:nvGrpSpPr>
        <p:grpSpPr>
          <a:xfrm>
            <a:off x="274320" y="4343400"/>
            <a:ext cx="7680960" cy="685800"/>
            <a:chOff x="274320" y="4343400"/>
            <a:chExt cx="7680960" cy="685800"/>
          </a:xfrm>
        </p:grpSpPr>
        <p:sp>
          <p:nvSpPr>
            <p:cNvPr id="14" name="Forma 13"/>
            <p:cNvSpPr/>
            <p:nvPr/>
          </p:nvSpPr>
          <p:spPr>
            <a:xfrm>
              <a:off x="274320" y="4343400"/>
              <a:ext cx="7680960" cy="68580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5" name="Forma 14"/>
            <p:cNvSpPr/>
            <p:nvPr/>
          </p:nvSpPr>
          <p:spPr>
            <a:xfrm>
              <a:off x="377190" y="4466844"/>
              <a:ext cx="7475220" cy="438912"/>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6" name="Eritrocito"/>
            <p:cNvSpPr/>
            <p:nvPr/>
          </p:nvSpPr>
          <p:spPr>
            <a:xfrm>
              <a:off x="1161934" y="4677355"/>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7" name="Eritrocito_2"/>
            <p:cNvSpPr/>
            <p:nvPr/>
          </p:nvSpPr>
          <p:spPr>
            <a:xfrm>
              <a:off x="2303474" y="4529401"/>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8" name="Eritrocito_3"/>
            <p:cNvSpPr/>
            <p:nvPr/>
          </p:nvSpPr>
          <p:spPr>
            <a:xfrm>
              <a:off x="4642125" y="4641032"/>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9" name="Eritrocito_4"/>
            <p:cNvSpPr/>
            <p:nvPr/>
          </p:nvSpPr>
          <p:spPr>
            <a:xfrm>
              <a:off x="6306973" y="4567680"/>
              <a:ext cx="288036" cy="288036"/>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20" name="CC viajero 0"/>
          <p:cNvSpPr/>
          <p:nvPr/>
        </p:nvSpPr>
        <p:spPr>
          <a:xfrm>
            <a:off x="2468880" y="4480560"/>
            <a:ext cx="384048" cy="384048"/>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212" b="1" dirty="0">
                <a:solidFill>
                  <a:srgbClr val="FFFFFF"/>
                </a:solidFill>
                <a:latin typeface="Bahnschrift SemiBold Condensed"/>
                <a:ea typeface="Bahnschrift SemiBold Condensed"/>
                <a:cs typeface="Bahnschrift SemiBold Condensed"/>
                <a:sym typeface="Bahnschrift SemiBold Condensed"/>
              </a:rPr>
              <a:t>CC</a:t>
            </a:r>
            <a:endParaRPr lang="es-AR" sz="1212" dirty="0">
              <a:latin typeface="Bahnschrift SemiBold Condensed"/>
            </a:endParaRPr>
          </a:p>
        </p:txBody>
      </p:sp>
      <p:sp>
        <p:nvSpPr>
          <p:cNvPr id="21" name="CC viajero 1"/>
          <p:cNvSpPr/>
          <p:nvPr/>
        </p:nvSpPr>
        <p:spPr>
          <a:xfrm>
            <a:off x="2834640" y="4480560"/>
            <a:ext cx="384048" cy="384048"/>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212" b="1" dirty="0">
                <a:solidFill>
                  <a:srgbClr val="FFFFFF"/>
                </a:solidFill>
                <a:latin typeface="Bahnschrift SemiBold Condensed"/>
                <a:ea typeface="Bahnschrift SemiBold Condensed"/>
                <a:cs typeface="Bahnschrift SemiBold Condensed"/>
                <a:sym typeface="Bahnschrift SemiBold Condensed"/>
              </a:rPr>
              <a:t>CC</a:t>
            </a:r>
            <a:endParaRPr lang="es-AR" sz="1212" dirty="0">
              <a:latin typeface="Bahnschrift SemiBold Condensed"/>
            </a:endParaRPr>
          </a:p>
        </p:txBody>
      </p:sp>
      <p:sp>
        <p:nvSpPr>
          <p:cNvPr id="22" name="CC viajero 2"/>
          <p:cNvSpPr/>
          <p:nvPr/>
        </p:nvSpPr>
        <p:spPr>
          <a:xfrm>
            <a:off x="3200400" y="4480560"/>
            <a:ext cx="384048" cy="384048"/>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212" b="1" dirty="0">
                <a:solidFill>
                  <a:srgbClr val="FFFFFF"/>
                </a:solidFill>
                <a:latin typeface="Bahnschrift SemiBold Condensed"/>
                <a:ea typeface="Bahnschrift SemiBold Condensed"/>
                <a:cs typeface="Bahnschrift SemiBold Condensed"/>
                <a:sym typeface="Bahnschrift SemiBold Condensed"/>
              </a:rPr>
              <a:t>CC</a:t>
            </a:r>
            <a:endParaRPr lang="es-AR" sz="1212" dirty="0">
              <a:latin typeface="Bahnschrift SemiBold Condensed"/>
            </a:endParaRPr>
          </a:p>
        </p:txBody>
      </p:sp>
      <p:sp>
        <p:nvSpPr>
          <p:cNvPr id="23" name="CC viajero 3"/>
          <p:cNvSpPr/>
          <p:nvPr/>
        </p:nvSpPr>
        <p:spPr>
          <a:xfrm>
            <a:off x="3566160" y="4480560"/>
            <a:ext cx="384048" cy="384048"/>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212" b="1" dirty="0">
                <a:solidFill>
                  <a:srgbClr val="FFFFFF"/>
                </a:solidFill>
                <a:latin typeface="Bahnschrift SemiBold Condensed"/>
                <a:ea typeface="Bahnschrift SemiBold Condensed"/>
                <a:cs typeface="Bahnschrift SemiBold Condensed"/>
                <a:sym typeface="Bahnschrift SemiBold Condensed"/>
              </a:rPr>
              <a:t>CC</a:t>
            </a:r>
            <a:endParaRPr lang="es-AR" sz="1212" dirty="0">
              <a:latin typeface="Bahnschrift SemiBold Condensed"/>
            </a:endParaRPr>
          </a:p>
        </p:txBody>
      </p:sp>
      <p:grpSp>
        <p:nvGrpSpPr>
          <p:cNvPr id="24" name="Destino Corazón"/>
          <p:cNvGrpSpPr/>
          <p:nvPr/>
        </p:nvGrpSpPr>
        <p:grpSpPr>
          <a:xfrm>
            <a:off x="3229661" y="1117397"/>
            <a:ext cx="2211019" cy="792099"/>
            <a:chOff x="3229661" y="1117397"/>
            <a:chExt cx="2211019" cy="792099"/>
          </a:xfrm>
        </p:grpSpPr>
        <p:grpSp>
          <p:nvGrpSpPr>
            <p:cNvPr id="25" name="Ícono corazón"/>
            <p:cNvGrpSpPr/>
            <p:nvPr/>
          </p:nvGrpSpPr>
          <p:grpSpPr>
            <a:xfrm>
              <a:off x="3229661" y="1117397"/>
              <a:ext cx="754380" cy="792099"/>
              <a:chOff x="3229661" y="1117397"/>
              <a:chExt cx="754380" cy="792099"/>
            </a:xfrm>
          </p:grpSpPr>
          <p:sp>
            <p:nvSpPr>
              <p:cNvPr id="26" name="Forma 25"/>
              <p:cNvSpPr/>
              <p:nvPr/>
            </p:nvSpPr>
            <p:spPr>
              <a:xfrm>
                <a:off x="3229661" y="1117397"/>
                <a:ext cx="754380" cy="792099"/>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27" name="Forma 26"/>
              <p:cNvSpPr/>
              <p:nvPr/>
            </p:nvSpPr>
            <p:spPr>
              <a:xfrm>
                <a:off x="3229661" y="1117397"/>
                <a:ext cx="754380" cy="792099"/>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sp>
          <p:nvSpPr>
            <p:cNvPr id="28" name="Forma 27"/>
            <p:cNvSpPr txBox="1"/>
            <p:nvPr/>
          </p:nvSpPr>
          <p:spPr>
            <a:xfrm>
              <a:off x="4160520" y="1417320"/>
              <a:ext cx="128016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Corazón</a:t>
              </a:r>
              <a:endParaRPr lang="es-AR" sz="1400" dirty="0">
                <a:latin typeface="Bahnschrift SemiBold Condensed"/>
              </a:endParaRPr>
            </a:p>
          </p:txBody>
        </p:sp>
      </p:grpSp>
      <p:grpSp>
        <p:nvGrpSpPr>
          <p:cNvPr id="29" name="Destino Músculo"/>
          <p:cNvGrpSpPr/>
          <p:nvPr/>
        </p:nvGrpSpPr>
        <p:grpSpPr>
          <a:xfrm>
            <a:off x="4754880" y="1389888"/>
            <a:ext cx="2331720" cy="484632"/>
            <a:chOff x="4754880" y="1389888"/>
            <a:chExt cx="2331720" cy="484632"/>
          </a:xfrm>
        </p:grpSpPr>
        <p:grpSp>
          <p:nvGrpSpPr>
            <p:cNvPr id="30" name="Ícono músculo"/>
            <p:cNvGrpSpPr/>
            <p:nvPr/>
          </p:nvGrpSpPr>
          <p:grpSpPr>
            <a:xfrm>
              <a:off x="4754880" y="1389888"/>
              <a:ext cx="1005840" cy="329916"/>
              <a:chOff x="4754880" y="1389888"/>
              <a:chExt cx="1005840" cy="329916"/>
            </a:xfrm>
          </p:grpSpPr>
          <p:grpSp>
            <p:nvGrpSpPr>
              <p:cNvPr id="31" name="Fibra"/>
              <p:cNvGrpSpPr/>
              <p:nvPr/>
            </p:nvGrpSpPr>
            <p:grpSpPr>
              <a:xfrm>
                <a:off x="4754880" y="1389888"/>
                <a:ext cx="965606" cy="160934"/>
                <a:chOff x="4754880" y="1389888"/>
                <a:chExt cx="965606" cy="160934"/>
              </a:xfrm>
            </p:grpSpPr>
            <p:sp>
              <p:nvSpPr>
                <p:cNvPr id="32" name="Forma 31"/>
                <p:cNvSpPr/>
                <p:nvPr/>
              </p:nvSpPr>
              <p:spPr>
                <a:xfrm>
                  <a:off x="4754880" y="1389888"/>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3" name="Forma 32"/>
                <p:cNvSpPr/>
                <p:nvPr/>
              </p:nvSpPr>
              <p:spPr>
                <a:xfrm>
                  <a:off x="4795114" y="1389888"/>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34" name="Forma 33"/>
                <p:cNvSpPr/>
                <p:nvPr/>
              </p:nvSpPr>
              <p:spPr>
                <a:xfrm>
                  <a:off x="4948001" y="13963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5285964" y="13963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5575645" y="1396325"/>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5652894" y="1396325"/>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8" name="Fibra_2"/>
              <p:cNvGrpSpPr/>
              <p:nvPr/>
            </p:nvGrpSpPr>
            <p:grpSpPr>
              <a:xfrm>
                <a:off x="4795114" y="1558869"/>
                <a:ext cx="965606" cy="160934"/>
                <a:chOff x="4795114" y="1558869"/>
                <a:chExt cx="965606" cy="160934"/>
              </a:xfrm>
            </p:grpSpPr>
            <p:sp>
              <p:nvSpPr>
                <p:cNvPr id="39" name="Forma 38"/>
                <p:cNvSpPr/>
                <p:nvPr/>
              </p:nvSpPr>
              <p:spPr>
                <a:xfrm>
                  <a:off x="4795114" y="1558869"/>
                  <a:ext cx="965606" cy="16093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40" name="Forma 39"/>
                <p:cNvSpPr/>
                <p:nvPr/>
              </p:nvSpPr>
              <p:spPr>
                <a:xfrm>
                  <a:off x="4835347" y="1558869"/>
                  <a:ext cx="885139" cy="160934"/>
                </a:xfrm>
                <a:custGeom>
                  <a:avLst/>
                  <a:gdLst/>
                  <a:ahLst/>
                  <a:cxnLst/>
                  <a:rect l="0" t="0" r="r" b="b"/>
                  <a:pathLst>
                    <a:path w="1000" h="1000" fill="none">
                      <a:moveTo>
                        <a:pt x="45" y="80"/>
                      </a:moveTo>
                      <a:lnTo>
                        <a:pt x="45" y="920"/>
                      </a:lnTo>
                    </a:path>
                    <a:path w="1000" h="1000" fill="none">
                      <a:moveTo>
                        <a:pt x="136" y="80"/>
                      </a:moveTo>
                      <a:lnTo>
                        <a:pt x="136" y="920"/>
                      </a:lnTo>
                    </a:path>
                    <a:path w="1000" h="1000" fill="none">
                      <a:moveTo>
                        <a:pt x="227" y="80"/>
                      </a:moveTo>
                      <a:lnTo>
                        <a:pt x="227" y="920"/>
                      </a:lnTo>
                    </a:path>
                    <a:path w="1000" h="1000" fill="none">
                      <a:moveTo>
                        <a:pt x="318" y="80"/>
                      </a:moveTo>
                      <a:lnTo>
                        <a:pt x="318" y="920"/>
                      </a:lnTo>
                    </a:path>
                    <a:path w="1000" h="1000" fill="none">
                      <a:moveTo>
                        <a:pt x="409" y="80"/>
                      </a:moveTo>
                      <a:lnTo>
                        <a:pt x="409" y="920"/>
                      </a:lnTo>
                    </a:path>
                    <a:path w="1000" h="1000" fill="none">
                      <a:moveTo>
                        <a:pt x="500" y="80"/>
                      </a:moveTo>
                      <a:lnTo>
                        <a:pt x="500" y="920"/>
                      </a:lnTo>
                    </a:path>
                    <a:path w="1000" h="1000" fill="none">
                      <a:moveTo>
                        <a:pt x="590" y="80"/>
                      </a:moveTo>
                      <a:lnTo>
                        <a:pt x="590" y="920"/>
                      </a:lnTo>
                    </a:path>
                    <a:path w="1000" h="1000" fill="none">
                      <a:moveTo>
                        <a:pt x="681" y="80"/>
                      </a:moveTo>
                      <a:lnTo>
                        <a:pt x="681" y="920"/>
                      </a:lnTo>
                    </a:path>
                    <a:path w="1000" h="1000" fill="none">
                      <a:moveTo>
                        <a:pt x="772" y="80"/>
                      </a:moveTo>
                      <a:lnTo>
                        <a:pt x="772" y="920"/>
                      </a:lnTo>
                    </a:path>
                    <a:path w="1000" h="1000" fill="none">
                      <a:moveTo>
                        <a:pt x="863" y="80"/>
                      </a:moveTo>
                      <a:lnTo>
                        <a:pt x="863" y="920"/>
                      </a:lnTo>
                    </a:path>
                    <a:path w="1000" h="1000" fill="none">
                      <a:moveTo>
                        <a:pt x="954" y="80"/>
                      </a:moveTo>
                      <a:lnTo>
                        <a:pt x="954" y="920"/>
                      </a:lnTo>
                    </a:path>
                  </a:pathLst>
                </a:custGeom>
                <a:noFill/>
                <a:ln w="12700" cap="rnd">
                  <a:solidFill>
                    <a:srgbClr val="822E27"/>
                  </a:solidFill>
                  <a:round/>
                </a:ln>
              </p:spPr>
            </p:sp>
            <p:sp>
              <p:nvSpPr>
                <p:cNvPr id="41" name="Forma 40"/>
                <p:cNvSpPr/>
                <p:nvPr/>
              </p:nvSpPr>
              <p:spPr>
                <a:xfrm>
                  <a:off x="4988235" y="15653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2" name="Forma 41"/>
                <p:cNvSpPr/>
                <p:nvPr/>
              </p:nvSpPr>
              <p:spPr>
                <a:xfrm>
                  <a:off x="5326197" y="15653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3" name="Forma 42"/>
                <p:cNvSpPr/>
                <p:nvPr/>
              </p:nvSpPr>
              <p:spPr>
                <a:xfrm>
                  <a:off x="5615879" y="1565306"/>
                  <a:ext cx="80467" cy="289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4" name="Forma 43"/>
                <p:cNvSpPr/>
                <p:nvPr/>
              </p:nvSpPr>
              <p:spPr>
                <a:xfrm>
                  <a:off x="5693128" y="1565306"/>
                  <a:ext cx="64374" cy="14806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45" name="Forma 44"/>
            <p:cNvSpPr txBox="1"/>
            <p:nvPr/>
          </p:nvSpPr>
          <p:spPr>
            <a:xfrm>
              <a:off x="5806440" y="1508760"/>
              <a:ext cx="128016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Músculo</a:t>
              </a:r>
              <a:endParaRPr lang="es-AR" sz="1400" dirty="0">
                <a:latin typeface="Bahnschrift SemiBold Condensed"/>
              </a:endParaRPr>
            </a:p>
          </p:txBody>
        </p:sp>
      </p:grpSp>
      <p:grpSp>
        <p:nvGrpSpPr>
          <p:cNvPr id="46" name="Destino Riñón"/>
          <p:cNvGrpSpPr/>
          <p:nvPr/>
        </p:nvGrpSpPr>
        <p:grpSpPr>
          <a:xfrm>
            <a:off x="3493008" y="5303520"/>
            <a:ext cx="2130552" cy="844906"/>
            <a:chOff x="3493008" y="5303520"/>
            <a:chExt cx="2130552" cy="844906"/>
          </a:xfrm>
        </p:grpSpPr>
        <p:grpSp>
          <p:nvGrpSpPr>
            <p:cNvPr id="47" name="Ícono riñón"/>
            <p:cNvGrpSpPr/>
            <p:nvPr/>
          </p:nvGrpSpPr>
          <p:grpSpPr>
            <a:xfrm>
              <a:off x="3493008" y="5303520"/>
              <a:ext cx="603504" cy="844906"/>
              <a:chOff x="3493008" y="5303520"/>
              <a:chExt cx="603504" cy="844906"/>
            </a:xfrm>
          </p:grpSpPr>
          <p:sp>
            <p:nvSpPr>
              <p:cNvPr id="48" name="Forma 47"/>
              <p:cNvSpPr/>
              <p:nvPr/>
            </p:nvSpPr>
            <p:spPr>
              <a:xfrm>
                <a:off x="3493008" y="5303520"/>
                <a:ext cx="603504" cy="84490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49" name="Forma 48"/>
              <p:cNvSpPr/>
              <p:nvPr/>
            </p:nvSpPr>
            <p:spPr>
              <a:xfrm>
                <a:off x="3493008" y="5303520"/>
                <a:ext cx="603504" cy="84490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50" name="Forma 49"/>
              <p:cNvSpPr/>
              <p:nvPr/>
            </p:nvSpPr>
            <p:spPr>
              <a:xfrm>
                <a:off x="3493008" y="5303520"/>
                <a:ext cx="603504" cy="84490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51" name="Forma 50"/>
              <p:cNvSpPr/>
              <p:nvPr/>
            </p:nvSpPr>
            <p:spPr>
              <a:xfrm>
                <a:off x="3493008" y="5303520"/>
                <a:ext cx="603504" cy="84490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52" name="Forma 51"/>
            <p:cNvSpPr txBox="1"/>
            <p:nvPr/>
          </p:nvSpPr>
          <p:spPr>
            <a:xfrm>
              <a:off x="4343400" y="5623560"/>
              <a:ext cx="128016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Riñón</a:t>
              </a:r>
              <a:endParaRPr lang="es-AR" sz="1400" dirty="0">
                <a:latin typeface="Bahnschrift SemiBold Condensed"/>
              </a:endParaRPr>
            </a:p>
          </p:txBody>
        </p:sp>
      </p:grpSp>
      <p:grpSp>
        <p:nvGrpSpPr>
          <p:cNvPr id="53" name="Destino Cerebro"/>
          <p:cNvGrpSpPr/>
          <p:nvPr/>
        </p:nvGrpSpPr>
        <p:grpSpPr>
          <a:xfrm>
            <a:off x="5486400" y="5221224"/>
            <a:ext cx="2331720" cy="784555"/>
            <a:chOff x="5486400" y="5221224"/>
            <a:chExt cx="2331720" cy="784555"/>
          </a:xfrm>
        </p:grpSpPr>
        <p:grpSp>
          <p:nvGrpSpPr>
            <p:cNvPr id="54" name="Ícono cerebro"/>
            <p:cNvGrpSpPr/>
            <p:nvPr/>
          </p:nvGrpSpPr>
          <p:grpSpPr>
            <a:xfrm>
              <a:off x="5486400" y="5221224"/>
              <a:ext cx="1005840" cy="784555"/>
              <a:chOff x="5486400" y="5221224"/>
              <a:chExt cx="1005840" cy="784555"/>
            </a:xfrm>
          </p:grpSpPr>
          <p:sp>
            <p:nvSpPr>
              <p:cNvPr id="55" name="Cerebelo"/>
              <p:cNvSpPr/>
              <p:nvPr/>
            </p:nvSpPr>
            <p:spPr>
              <a:xfrm>
                <a:off x="5486400" y="5221224"/>
                <a:ext cx="1005840" cy="784555"/>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56" name="Forma 55"/>
              <p:cNvSpPr/>
              <p:nvPr/>
            </p:nvSpPr>
            <p:spPr>
              <a:xfrm>
                <a:off x="5486400" y="5221224"/>
                <a:ext cx="1005840" cy="784555"/>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57" name="Forma 56"/>
              <p:cNvSpPr/>
              <p:nvPr/>
            </p:nvSpPr>
            <p:spPr>
              <a:xfrm>
                <a:off x="5486400" y="5221224"/>
                <a:ext cx="1005840" cy="784555"/>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58" name="Forma 57"/>
              <p:cNvSpPr/>
              <p:nvPr/>
            </p:nvSpPr>
            <p:spPr>
              <a:xfrm>
                <a:off x="5486400" y="5221224"/>
                <a:ext cx="1005840" cy="784555"/>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59" name="Forma 58"/>
            <p:cNvSpPr txBox="1"/>
            <p:nvPr/>
          </p:nvSpPr>
          <p:spPr>
            <a:xfrm>
              <a:off x="6537960" y="5440680"/>
              <a:ext cx="1280160" cy="36576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Cerebro</a:t>
              </a:r>
              <a:endParaRPr lang="es-AR" sz="1400" dirty="0">
                <a:latin typeface="Bahnschrift SemiBold Condensed"/>
              </a:endParaRPr>
            </a:p>
          </p:txBody>
        </p:sp>
      </p:grpSp>
      <p:sp>
        <p:nvSpPr>
          <p:cNvPr id="60" name="No usan"/>
          <p:cNvSpPr/>
          <p:nvPr/>
        </p:nvSpPr>
        <p:spPr>
          <a:xfrm>
            <a:off x="274320" y="5257800"/>
            <a:ext cx="2743200" cy="12344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50" b="1" dirty="0">
                <a:solidFill>
                  <a:srgbClr val="1E1E1E"/>
                </a:solidFill>
                <a:latin typeface="Bahnschrift"/>
                <a:ea typeface="Bahnschrift"/>
                <a:cs typeface="Bahnschrift"/>
                <a:sym typeface="Bahnschrift"/>
              </a:rPr>
              <a:t>Hígado</a:t>
            </a:r>
            <a:r>
              <a:rPr lang="es-AR" sz="1250" dirty="0">
                <a:solidFill>
                  <a:srgbClr val="1E1E1E"/>
                </a:solidFill>
                <a:latin typeface="Bahnschrift"/>
                <a:ea typeface="Bahnschrift"/>
                <a:cs typeface="Bahnschrift"/>
                <a:sym typeface="Bahnschrift"/>
              </a:rPr>
              <a:t>: produce pero </a:t>
            </a:r>
            <a:r>
              <a:rPr lang="es-AR" sz="1250" b="1" dirty="0">
                <a:solidFill>
                  <a:srgbClr val="1E1E1E"/>
                </a:solidFill>
                <a:latin typeface="Bahnschrift"/>
                <a:ea typeface="Bahnschrift"/>
                <a:cs typeface="Bahnschrift"/>
                <a:sym typeface="Bahnschrift"/>
              </a:rPr>
              <a:t>no usa</a:t>
            </a:r>
            <a:r>
              <a:rPr lang="es-AR" sz="1250" dirty="0">
                <a:solidFill>
                  <a:srgbClr val="1E1E1E"/>
                </a:solidFill>
                <a:latin typeface="Bahnschrift"/>
                <a:ea typeface="Bahnschrift"/>
                <a:cs typeface="Bahnschrift"/>
                <a:sym typeface="Bahnschrift"/>
              </a:rPr>
              <a:t> cetonas (sin SCOT). </a:t>
            </a:r>
            <a:r>
              <a:rPr lang="es-AR" sz="1250" b="1" dirty="0">
                <a:solidFill>
                  <a:srgbClr val="1E1E1E"/>
                </a:solidFill>
                <a:latin typeface="Bahnschrift"/>
                <a:ea typeface="Bahnschrift"/>
                <a:cs typeface="Bahnschrift"/>
                <a:sym typeface="Bahnschrift"/>
              </a:rPr>
              <a:t>Eritrocito</a:t>
            </a:r>
            <a:r>
              <a:rPr lang="es-AR" sz="1250" dirty="0">
                <a:solidFill>
                  <a:srgbClr val="1E1E1E"/>
                </a:solidFill>
                <a:latin typeface="Bahnschrift"/>
                <a:ea typeface="Bahnschrift"/>
                <a:cs typeface="Bahnschrift"/>
                <a:sym typeface="Bahnschrift"/>
              </a:rPr>
              <a:t>: sin mitocondrias.</a:t>
            </a:r>
            <a:endParaRPr lang="es-AR" sz="1250" dirty="0">
              <a:latin typeface="Bahnschrift"/>
            </a:endParaRPr>
          </a:p>
        </p:txBody>
      </p:sp>
      <p:grpSp>
        <p:nvGrpSpPr>
          <p:cNvPr id="61" name="!!Texto M4"/>
          <p:cNvGrpSpPr/>
          <p:nvPr/>
        </p:nvGrpSpPr>
        <p:grpSpPr>
          <a:xfrm>
            <a:off x="8138160" y="1005840"/>
            <a:ext cx="3657600" cy="3657600"/>
            <a:chOff x="8138160" y="1005840"/>
            <a:chExt cx="3657600" cy="3657600"/>
          </a:xfrm>
        </p:grpSpPr>
        <p:sp>
          <p:nvSpPr>
            <p:cNvPr id="62" name="Forma 61"/>
            <p:cNvSpPr/>
            <p:nvPr/>
          </p:nvSpPr>
          <p:spPr>
            <a:xfrm>
              <a:off x="8138160" y="1188720"/>
              <a:ext cx="365760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Hidrosolubles</a:t>
              </a:r>
              <a:r>
                <a:rPr lang="es-AR" sz="1750" dirty="0">
                  <a:solidFill>
                    <a:srgbClr val="1E1E1E"/>
                  </a:solidFill>
                  <a:latin typeface="Bahnschrift"/>
                  <a:ea typeface="Bahnschrift"/>
                  <a:cs typeface="Bahnschrift"/>
                  <a:sym typeface="Bahnschrift"/>
                </a:rPr>
                <a:t>: viajan sin transportador plasmático.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Entran a corazón, riñón, músculo y cerebro por </a:t>
              </a:r>
              <a:r>
                <a:rPr lang="es-AR" sz="1750" b="1" dirty="0">
                  <a:solidFill>
                    <a:srgbClr val="1E1E1E"/>
                  </a:solidFill>
                  <a:latin typeface="Bahnschrift"/>
                  <a:ea typeface="Bahnschrift"/>
                  <a:cs typeface="Bahnschrift"/>
                  <a:sym typeface="Bahnschrift"/>
                </a:rPr>
                <a:t>MCT</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Exportan el poder energético de los AG a órganos que no usan AG largos de forma significativa.</a:t>
              </a:r>
              <a:endParaRPr lang="es-AR" sz="1750" dirty="0">
                <a:latin typeface="Bahnschrift"/>
              </a:endParaRPr>
            </a:p>
          </p:txBody>
        </p:sp>
        <p:sp>
          <p:nvSpPr>
            <p:cNvPr id="63" name="Forma 62"/>
            <p:cNvSpPr/>
            <p:nvPr/>
          </p:nvSpPr>
          <p:spPr>
            <a:xfrm>
              <a:off x="8247888" y="1005840"/>
              <a:ext cx="141195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EXPORTACIÓN</a:t>
              </a:r>
              <a:endParaRPr lang="es-AR" sz="1600" dirty="0">
                <a:latin typeface="Bahnschrift SemiBold Condensed"/>
              </a:endParaRPr>
            </a:p>
          </p:txBody>
        </p:sp>
      </p:grpSp>
      <p:sp>
        <p:nvSpPr>
          <p:cNvPr id="2" name="Etiqueta sección"/>
          <p:cNvSpPr/>
          <p:nvPr/>
        </p:nvSpPr>
        <p:spPr>
          <a:xfrm>
            <a:off x="9885179" y="201168"/>
            <a:ext cx="203219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4 · 3/4</a:t>
            </a:r>
            <a:endParaRPr lang="es-AR" sz="1300" dirty="0">
              <a:latin typeface="Bahnschrift SemiBold Condensed"/>
            </a:endParaRPr>
          </a:p>
        </p:txBody>
      </p:sp>
      <p:sp>
        <p:nvSpPr>
          <p:cNvPr id="3" name="Título"/>
          <p:cNvSpPr/>
          <p:nvPr/>
        </p:nvSpPr>
        <p:spPr>
          <a:xfrm>
            <a:off x="274320" y="146304"/>
            <a:ext cx="784523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22 · CUERPOS CETÓNICOS HACIA LOS TEJIDOS PERIFÉRICOS</a:t>
            </a:r>
            <a:endParaRPr lang="es-AR" sz="2600" dirty="0">
              <a:latin typeface="Bahnschrift SemiBold Condensed"/>
            </a:endParaRPr>
          </a:p>
        </p:txBody>
      </p:sp>
      <p:sp>
        <p:nvSpPr>
          <p:cNvPr id="6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128</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0"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4"/>
                                        </p:tgtEl>
                                        <p:attrNameLst>
                                          <p:attrName>style.visibility</p:attrName>
                                        </p:attrNameLst>
                                      </p:cBhvr>
                                      <p:to>
                                        <p:strVal val="visible"/>
                                      </p:to>
                                    </p:set>
                                    <p:animEffect transition="in" filter="fade">
                                      <p:cBhvr>
                                        <p:cTn id="5" dur="500"/>
                                        <p:tgtEl>
                                          <p:spTgt spid="24"/>
                                        </p:tgtEl>
                                      </p:cBhvr>
                                    </p:animEffect>
                                  </p:childTnLst>
                                </p:cTn>
                              </p:par>
                            </p:childTnLst>
                          </p:cTn>
                        </p:par>
                        <p:par>
                          <p:cTn id="9" fill="hold">
                            <p:stCondLst>
                              <p:cond delay="500"/>
                            </p:stCondLst>
                            <p:childTnLst>
                              <p:par>
                                <p:cTn id="7" presetID="0" presetClass="path" presetSubtype="0" accel="20000" decel="20000" fill="hold" grpId="0" nodeType="afterEffect">
                                  <p:stCondLst>
                                    <p:cond delay="0"/>
                                  </p:stCondLst>
                                  <p:childTnLst>
                                    <p:animMotion origin="layout" path="M 0 0 L 0.0825 -0.4400 E" pathEditMode="relative" ptsTypes="">
                                      <p:cBhvr>
                                        <p:cTn id="8" dur="1500" fill="hold"/>
                                        <p:tgtEl>
                                          <p:spTgt spid="20"/>
                                        </p:tgtEl>
                                        <p:attrNameLst>
                                          <p:attrName>ppt_x</p:attrName>
                                          <p:attrName>ppt_y</p:attrName>
                                        </p:attrNameLst>
                                      </p:cBhvr>
                                      <p:rCtr x="4125" y="-22000"/>
                                    </p:animMotion>
                                  </p:childTnLst>
                                </p:cTn>
                              </p:par>
                            </p:childTnLst>
                          </p:cTn>
                        </p:par>
                      </p:childTnLst>
                    </p:cTn>
                  </p:par>
                  <p:par>
                    <p:cTn id="18" fill="hold">
                      <p:stCondLst>
                        <p:cond delay="indefinite"/>
                      </p:stCondLst>
                      <p:childTnLst>
                        <p:par>
                          <p:cTn id="14"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fade">
                                      <p:cBhvr>
                                        <p:cTn id="13" dur="500"/>
                                        <p:tgtEl>
                                          <p:spTgt spid="29"/>
                                        </p:tgtEl>
                                      </p:cBhvr>
                                    </p:animEffect>
                                  </p:childTnLst>
                                </p:cTn>
                              </p:par>
                            </p:childTnLst>
                          </p:cTn>
                        </p:par>
                        <p:par>
                          <p:cTn id="17" fill="hold">
                            <p:stCondLst>
                              <p:cond delay="500"/>
                            </p:stCondLst>
                            <p:childTnLst>
                              <p:par>
                                <p:cTn id="15" presetID="0" presetClass="path" presetSubtype="0" accel="20000" decel="20000" fill="hold" grpId="0" nodeType="afterEffect">
                                  <p:stCondLst>
                                    <p:cond delay="0"/>
                                  </p:stCondLst>
                                  <p:childTnLst>
                                    <p:animMotion origin="layout" path="M 0 0 L 0.1875 -0.4267 E" pathEditMode="relative" ptsTypes="">
                                      <p:cBhvr>
                                        <p:cTn id="16" dur="1500" fill="hold"/>
                                        <p:tgtEl>
                                          <p:spTgt spid="21"/>
                                        </p:tgtEl>
                                        <p:attrNameLst>
                                          <p:attrName>ppt_x</p:attrName>
                                          <p:attrName>ppt_y</p:attrName>
                                        </p:attrNameLst>
                                      </p:cBhvr>
                                      <p:rCtr x="9375" y="-21333"/>
                                    </p:animMotion>
                                  </p:childTnLst>
                                </p:cTn>
                              </p:par>
                            </p:childTnLst>
                          </p:cTn>
                        </p:par>
                      </p:childTnLst>
                    </p:cTn>
                  </p:par>
                  <p:par>
                    <p:cTn id="26" fill="hold">
                      <p:stCondLst>
                        <p:cond delay="indefinite"/>
                      </p:stCondLst>
                      <p:childTnLst>
                        <p:par>
                          <p:cTn id="22"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46"/>
                                        </p:tgtEl>
                                        <p:attrNameLst>
                                          <p:attrName>style.visibility</p:attrName>
                                        </p:attrNameLst>
                                      </p:cBhvr>
                                      <p:to>
                                        <p:strVal val="visible"/>
                                      </p:to>
                                    </p:set>
                                    <p:animEffect transition="in" filter="fade">
                                      <p:cBhvr>
                                        <p:cTn id="21" dur="500"/>
                                        <p:tgtEl>
                                          <p:spTgt spid="46"/>
                                        </p:tgtEl>
                                      </p:cBhvr>
                                    </p:animEffect>
                                  </p:childTnLst>
                                </p:cTn>
                              </p:par>
                            </p:childTnLst>
                          </p:cTn>
                        </p:par>
                        <p:par>
                          <p:cTn id="25" fill="hold">
                            <p:stCondLst>
                              <p:cond delay="500"/>
                            </p:stCondLst>
                            <p:childTnLst>
                              <p:par>
                                <p:cTn id="23" presetID="0" presetClass="path" presetSubtype="0" accel="20000" decel="20000" fill="hold" grpId="0" nodeType="afterEffect">
                                  <p:stCondLst>
                                    <p:cond delay="0"/>
                                  </p:stCondLst>
                                  <p:childTnLst>
                                    <p:animMotion origin="layout" path="M 0 0 L 0.0375 0.1733 E" pathEditMode="relative" ptsTypes="">
                                      <p:cBhvr>
                                        <p:cTn id="24" dur="1500" fill="hold"/>
                                        <p:tgtEl>
                                          <p:spTgt spid="22"/>
                                        </p:tgtEl>
                                        <p:attrNameLst>
                                          <p:attrName>ppt_x</p:attrName>
                                          <p:attrName>ppt_y</p:attrName>
                                        </p:attrNameLst>
                                      </p:cBhvr>
                                      <p:rCtr x="1875" y="8666"/>
                                    </p:animMotion>
                                  </p:childTnLst>
                                </p:cTn>
                              </p:par>
                            </p:childTnLst>
                          </p:cTn>
                        </p:par>
                      </p:childTnLst>
                    </p:cTn>
                  </p:par>
                  <p:par>
                    <p:cTn id="34" fill="hold">
                      <p:stCondLst>
                        <p:cond delay="indefinite"/>
                      </p:stCondLst>
                      <p:childTnLst>
                        <p:par>
                          <p:cTn id="30"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53"/>
                                        </p:tgtEl>
                                        <p:attrNameLst>
                                          <p:attrName>style.visibility</p:attrName>
                                        </p:attrNameLst>
                                      </p:cBhvr>
                                      <p:to>
                                        <p:strVal val="visible"/>
                                      </p:to>
                                    </p:set>
                                    <p:animEffect transition="in" filter="fade">
                                      <p:cBhvr>
                                        <p:cTn id="29" dur="500"/>
                                        <p:tgtEl>
                                          <p:spTgt spid="53"/>
                                        </p:tgtEl>
                                      </p:cBhvr>
                                    </p:animEffect>
                                  </p:childTnLst>
                                </p:cTn>
                              </p:par>
                            </p:childTnLst>
                          </p:cTn>
                        </p:par>
                        <p:par>
                          <p:cTn id="33" fill="hold">
                            <p:stCondLst>
                              <p:cond delay="500"/>
                            </p:stCondLst>
                            <p:childTnLst>
                              <p:par>
                                <p:cTn id="31" presetID="0" presetClass="path" presetSubtype="0" accel="20000" decel="20000" fill="hold" grpId="0" nodeType="afterEffect">
                                  <p:stCondLst>
                                    <p:cond delay="0"/>
                                  </p:stCondLst>
                                  <p:childTnLst>
                                    <p:animMotion origin="layout" path="M 0 0 L 0.1875 0.1467 E" pathEditMode="relative" ptsTypes="">
                                      <p:cBhvr>
                                        <p:cTn id="32" dur="1500" fill="hold"/>
                                        <p:tgtEl>
                                          <p:spTgt spid="23"/>
                                        </p:tgtEl>
                                        <p:attrNameLst>
                                          <p:attrName>ppt_x</p:attrName>
                                          <p:attrName>ppt_y</p:attrName>
                                        </p:attrNameLst>
                                      </p:cBhvr>
                                      <p:rCtr x="9375" y="7333"/>
                                    </p:animMotion>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60"/>
                                        </p:tgtEl>
                                        <p:attrNameLst>
                                          <p:attrName>style.visibility</p:attrName>
                                        </p:attrNameLst>
                                      </p:cBhvr>
                                      <p:to>
                                        <p:strVal val="visible"/>
                                      </p:to>
                                    </p:set>
                                    <p:animEffect transition="in" filter="fade">
                                      <p:cBhvr>
                                        <p:cTn id="3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60" grpId="0" animBg="1"/>
    </p:bldLst>
  </p:timing>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Mitocondria M4"/>
          <p:cNvGrpSpPr/>
          <p:nvPr/>
        </p:nvGrpSpPr>
        <p:grpSpPr>
          <a:xfrm>
            <a:off x="365760" y="1097280"/>
            <a:ext cx="7498080" cy="5303520"/>
            <a:chOff x="365760" y="1097280"/>
            <a:chExt cx="7498080" cy="5303520"/>
          </a:xfrm>
        </p:grpSpPr>
        <p:sp>
          <p:nvSpPr>
            <p:cNvPr id="5" name="Forma 4"/>
            <p:cNvSpPr/>
            <p:nvPr/>
          </p:nvSpPr>
          <p:spPr>
            <a:xfrm>
              <a:off x="365760" y="1097280"/>
              <a:ext cx="7498080" cy="530352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 name="Forma 5"/>
            <p:cNvSpPr/>
            <p:nvPr/>
          </p:nvSpPr>
          <p:spPr>
            <a:xfrm>
              <a:off x="890626" y="1839773"/>
              <a:ext cx="6448349" cy="3818534"/>
            </a:xfrm>
            <a:prstGeom prst="ellipse">
              <a:avLst/>
            </a:prstGeom>
            <a:solidFill>
              <a:srgbClr val="F8D8B4"/>
            </a:solidFill>
            <a:ln w="9525" cap="rnd">
              <a:solidFill>
                <a:srgbClr val="B2732B"/>
              </a:solidFill>
              <a:round/>
            </a:ln>
          </p:spPr>
        </p:sp>
        <p:sp>
          <p:nvSpPr>
            <p:cNvPr id="7" name="Forma 6"/>
            <p:cNvSpPr/>
            <p:nvPr/>
          </p:nvSpPr>
          <p:spPr>
            <a:xfrm>
              <a:off x="890626" y="1839773"/>
              <a:ext cx="6448349" cy="3818534"/>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8" name="Cetólisis β-hidroxibutirato"/>
          <p:cNvSpPr/>
          <p:nvPr/>
        </p:nvSpPr>
        <p:spPr>
          <a:xfrm>
            <a:off x="2194560" y="1737360"/>
            <a:ext cx="2377440" cy="457200"/>
          </a:xfrm>
          <a:prstGeom prst="roundRect">
            <a:avLst>
              <a:gd name="adj" fmla="val 30000"/>
            </a:avLst>
          </a:prstGeom>
          <a:solidFill>
            <a:srgbClr val="E397B5"/>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β-hidroxibutirato</a:t>
            </a:r>
            <a:endParaRPr lang="es-AR" sz="1400" dirty="0">
              <a:latin typeface="Bahnschrift SemiBold Condensed"/>
            </a:endParaRPr>
          </a:p>
        </p:txBody>
      </p:sp>
      <p:grpSp>
        <p:nvGrpSpPr>
          <p:cNvPr id="9" name="Cetólisis paso 1"/>
          <p:cNvGrpSpPr/>
          <p:nvPr/>
        </p:nvGrpSpPr>
        <p:grpSpPr>
          <a:xfrm>
            <a:off x="3383280" y="2221992"/>
            <a:ext cx="1101804" cy="448056"/>
            <a:chOff x="3383280" y="2221992"/>
            <a:chExt cx="1101804" cy="448056"/>
          </a:xfrm>
        </p:grpSpPr>
        <p:sp>
          <p:nvSpPr>
            <p:cNvPr id="10" name="Flecha 9_2"/>
            <p:cNvSpPr/>
            <p:nvPr/>
          </p:nvSpPr>
          <p:spPr>
            <a:xfrm>
              <a:off x="3383280" y="2221992"/>
              <a:ext cx="9144" cy="448056"/>
            </a:xfrm>
            <a:custGeom>
              <a:avLst/>
              <a:gdLst/>
              <a:ahLst/>
              <a:cxnLst/>
              <a:rect l="0" t="0" r="r" b="b"/>
              <a:pathLst>
                <a:path w="10" h="490" fill="none">
                  <a:moveTo>
                    <a:pt x="0" y="0"/>
                  </a:moveTo>
                  <a:lnTo>
                    <a:pt x="0" y="490"/>
                  </a:lnTo>
                </a:path>
              </a:pathLst>
            </a:custGeom>
            <a:noFill/>
            <a:ln w="25400" cap="rnd">
              <a:solidFill>
                <a:srgbClr val="1E1E1E"/>
              </a:solidFill>
              <a:round/>
              <a:headEnd type="triangle" w="med" len="med"/>
              <a:tailEnd type="triangle" w="med" len="med"/>
            </a:ln>
          </p:spPr>
        </p:sp>
        <p:sp>
          <p:nvSpPr>
            <p:cNvPr id="11" name="Enzima BDH (→ NADH)"/>
            <p:cNvSpPr/>
            <p:nvPr/>
          </p:nvSpPr>
          <p:spPr>
            <a:xfrm>
              <a:off x="3493008" y="2299716"/>
              <a:ext cx="99207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BDH (→ NADH)</a:t>
              </a:r>
              <a:endParaRPr lang="es-AR" sz="1150" dirty="0">
                <a:latin typeface="Bahnschrift SemiBold Condensed"/>
              </a:endParaRPr>
            </a:p>
          </p:txBody>
        </p:sp>
      </p:grpSp>
      <p:sp>
        <p:nvSpPr>
          <p:cNvPr id="12" name="Cetólisis Acetoacetato"/>
          <p:cNvSpPr/>
          <p:nvPr/>
        </p:nvSpPr>
        <p:spPr>
          <a:xfrm>
            <a:off x="2194560" y="2697480"/>
            <a:ext cx="2377440" cy="457200"/>
          </a:xfrm>
          <a:prstGeom prst="roundRect">
            <a:avLst>
              <a:gd name="adj" fmla="val 30000"/>
            </a:avLst>
          </a:prstGeom>
          <a:solidFill>
            <a:srgbClr val="E397B5"/>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Acetoacetato</a:t>
            </a:r>
            <a:endParaRPr lang="es-AR" sz="1400" dirty="0">
              <a:latin typeface="Bahnschrift SemiBold Condensed"/>
            </a:endParaRPr>
          </a:p>
        </p:txBody>
      </p:sp>
      <p:grpSp>
        <p:nvGrpSpPr>
          <p:cNvPr id="13" name="Cetólisis paso 2"/>
          <p:cNvGrpSpPr/>
          <p:nvPr/>
        </p:nvGrpSpPr>
        <p:grpSpPr>
          <a:xfrm>
            <a:off x="3383280" y="3182112"/>
            <a:ext cx="1029421" cy="448056"/>
            <a:chOff x="3383280" y="3182112"/>
            <a:chExt cx="1029421" cy="448056"/>
          </a:xfrm>
        </p:grpSpPr>
        <p:sp>
          <p:nvSpPr>
            <p:cNvPr id="14" name="Flecha 14_2"/>
            <p:cNvSpPr/>
            <p:nvPr/>
          </p:nvSpPr>
          <p:spPr>
            <a:xfrm>
              <a:off x="3383280" y="3182112"/>
              <a:ext cx="9144" cy="448056"/>
            </a:xfrm>
            <a:custGeom>
              <a:avLst/>
              <a:gdLst/>
              <a:ahLst/>
              <a:cxnLst/>
              <a:rect l="0" t="0" r="r" b="b"/>
              <a:pathLst>
                <a:path w="10" h="490" fill="none">
                  <a:moveTo>
                    <a:pt x="0" y="0"/>
                  </a:moveTo>
                  <a:lnTo>
                    <a:pt x="0" y="490"/>
                  </a:lnTo>
                </a:path>
              </a:pathLst>
            </a:custGeom>
            <a:noFill/>
            <a:ln w="44450" cap="rnd">
              <a:solidFill>
                <a:srgbClr val="1E1E1E"/>
              </a:solidFill>
              <a:round/>
              <a:tailEnd type="triangle" w="med" len="med"/>
            </a:ln>
          </p:spPr>
        </p:sp>
        <p:sp>
          <p:nvSpPr>
            <p:cNvPr id="15" name="Enzima SCOT/OXCT1"/>
            <p:cNvSpPr/>
            <p:nvPr/>
          </p:nvSpPr>
          <p:spPr>
            <a:xfrm>
              <a:off x="3493008" y="3259836"/>
              <a:ext cx="91969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SCOT/OXCT1</a:t>
              </a:r>
              <a:endParaRPr lang="es-AR" sz="1150" dirty="0">
                <a:latin typeface="Bahnschrift SemiBold Condensed"/>
              </a:endParaRPr>
            </a:p>
          </p:txBody>
        </p:sp>
      </p:grpSp>
      <p:sp>
        <p:nvSpPr>
          <p:cNvPr id="16" name="Cetólisis Acetoacetil-CoA"/>
          <p:cNvSpPr/>
          <p:nvPr/>
        </p:nvSpPr>
        <p:spPr>
          <a:xfrm>
            <a:off x="2194560" y="3657600"/>
            <a:ext cx="2377440" cy="45720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Acetoacetil-CoA</a:t>
            </a:r>
            <a:endParaRPr lang="es-AR" sz="1400" dirty="0">
              <a:latin typeface="Bahnschrift SemiBold Condensed"/>
            </a:endParaRPr>
          </a:p>
        </p:txBody>
      </p:sp>
      <p:grpSp>
        <p:nvGrpSpPr>
          <p:cNvPr id="17" name="Cetólisis paso 3"/>
          <p:cNvGrpSpPr/>
          <p:nvPr/>
        </p:nvGrpSpPr>
        <p:grpSpPr>
          <a:xfrm>
            <a:off x="3383280" y="4142232"/>
            <a:ext cx="725049" cy="448056"/>
            <a:chOff x="3383280" y="4142232"/>
            <a:chExt cx="725049" cy="448056"/>
          </a:xfrm>
        </p:grpSpPr>
        <p:sp>
          <p:nvSpPr>
            <p:cNvPr id="18" name="Flecha 19_2"/>
            <p:cNvSpPr/>
            <p:nvPr/>
          </p:nvSpPr>
          <p:spPr>
            <a:xfrm>
              <a:off x="3383280" y="4142232"/>
              <a:ext cx="9144" cy="448056"/>
            </a:xfrm>
            <a:custGeom>
              <a:avLst/>
              <a:gdLst/>
              <a:ahLst/>
              <a:cxnLst/>
              <a:rect l="0" t="0" r="r" b="b"/>
              <a:pathLst>
                <a:path w="10" h="489" fill="none">
                  <a:moveTo>
                    <a:pt x="0" y="0"/>
                  </a:moveTo>
                  <a:lnTo>
                    <a:pt x="0" y="489"/>
                  </a:lnTo>
                </a:path>
              </a:pathLst>
            </a:custGeom>
            <a:noFill/>
            <a:ln w="25400" cap="rnd">
              <a:solidFill>
                <a:srgbClr val="1E1E1E"/>
              </a:solidFill>
              <a:round/>
              <a:headEnd type="triangle" w="med" len="med"/>
              <a:tailEnd type="triangle" w="med" len="med"/>
            </a:ln>
          </p:spPr>
        </p:sp>
        <p:sp>
          <p:nvSpPr>
            <p:cNvPr id="19" name="Enzima tiolasa"/>
            <p:cNvSpPr/>
            <p:nvPr/>
          </p:nvSpPr>
          <p:spPr>
            <a:xfrm>
              <a:off x="3493008" y="4219956"/>
              <a:ext cx="61532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tiolasa</a:t>
              </a:r>
              <a:endParaRPr lang="es-AR" sz="1150" dirty="0">
                <a:latin typeface="Bahnschrift SemiBold Condensed"/>
              </a:endParaRPr>
            </a:p>
          </p:txBody>
        </p:sp>
      </p:grpSp>
      <p:sp>
        <p:nvSpPr>
          <p:cNvPr id="20" name="Cetólisis 2 Acetil-CoA → Kre"/>
          <p:cNvSpPr/>
          <p:nvPr/>
        </p:nvSpPr>
        <p:spPr>
          <a:xfrm>
            <a:off x="2194560" y="4617720"/>
            <a:ext cx="2377440" cy="45720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2 Acetil-CoA → Krebs</a:t>
            </a:r>
            <a:endParaRPr lang="es-AR" sz="1400" dirty="0">
              <a:latin typeface="Bahnschrift SemiBold Condensed"/>
            </a:endParaRPr>
          </a:p>
        </p:txBody>
      </p:sp>
      <p:sp>
        <p:nvSpPr>
          <p:cNvPr id="21" name="Succinil"/>
          <p:cNvSpPr/>
          <p:nvPr/>
        </p:nvSpPr>
        <p:spPr>
          <a:xfrm>
            <a:off x="4754880" y="3246120"/>
            <a:ext cx="1728054" cy="23622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succinil-CoA → succinato</a:t>
            </a:r>
            <a:endParaRPr lang="es-AR" sz="1200" dirty="0">
              <a:latin typeface="Bahnschrift SemiBold Condensed"/>
            </a:endParaRPr>
          </a:p>
        </p:txBody>
      </p:sp>
      <p:grpSp>
        <p:nvGrpSpPr>
          <p:cNvPr id="22" name="!!Texto M4"/>
          <p:cNvGrpSpPr/>
          <p:nvPr/>
        </p:nvGrpSpPr>
        <p:grpSpPr>
          <a:xfrm>
            <a:off x="8138160" y="1005840"/>
            <a:ext cx="3657600" cy="3657600"/>
            <a:chOff x="8138160" y="1005840"/>
            <a:chExt cx="3657600" cy="3657600"/>
          </a:xfrm>
        </p:grpSpPr>
        <p:sp>
          <p:nvSpPr>
            <p:cNvPr id="23" name="Forma 25"/>
            <p:cNvSpPr/>
            <p:nvPr/>
          </p:nvSpPr>
          <p:spPr>
            <a:xfrm>
              <a:off x="8138160" y="1188720"/>
              <a:ext cx="365760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SCOT</a:t>
              </a:r>
              <a:r>
                <a:rPr lang="es-AR" sz="1750" dirty="0">
                  <a:solidFill>
                    <a:srgbClr val="1E1E1E"/>
                  </a:solidFill>
                  <a:latin typeface="Bahnschrift"/>
                  <a:ea typeface="Bahnschrift"/>
                  <a:cs typeface="Bahnschrift"/>
                  <a:sym typeface="Bahnschrift"/>
                </a:rPr>
                <a:t> transfiere el CoA desde </a:t>
              </a:r>
              <a:r>
                <a:rPr lang="es-AR" sz="1750" b="1" dirty="0">
                  <a:solidFill>
                    <a:srgbClr val="1E1E1E"/>
                  </a:solidFill>
                  <a:latin typeface="Bahnschrift"/>
                  <a:ea typeface="Bahnschrift"/>
                  <a:cs typeface="Bahnschrift"/>
                  <a:sym typeface="Bahnschrift"/>
                </a:rPr>
                <a:t>succinil-CoA</a:t>
              </a:r>
              <a:r>
                <a:rPr lang="es-AR" sz="1750" dirty="0">
                  <a:solidFill>
                    <a:srgbClr val="1E1E1E"/>
                  </a:solidFill>
                  <a:latin typeface="Bahnschrift"/>
                  <a:ea typeface="Bahnschrift"/>
                  <a:cs typeface="Bahnschrift"/>
                  <a:sym typeface="Bahnschrift"/>
                </a:rPr>
                <a:t> al acetoacetato.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El </a:t>
              </a:r>
              <a:r>
                <a:rPr lang="es-AR" sz="1750" b="1" dirty="0">
                  <a:solidFill>
                    <a:srgbClr val="1E1E1E"/>
                  </a:solidFill>
                  <a:latin typeface="Bahnschrift"/>
                  <a:ea typeface="Bahnschrift"/>
                  <a:cs typeface="Bahnschrift"/>
                  <a:sym typeface="Bahnschrift"/>
                </a:rPr>
                <a:t>hígado carece de SCOT</a:t>
              </a:r>
              <a:r>
                <a:rPr lang="es-AR" sz="1750" dirty="0">
                  <a:solidFill>
                    <a:srgbClr val="1E1E1E"/>
                  </a:solidFill>
                  <a:latin typeface="Bahnschrift"/>
                  <a:ea typeface="Bahnschrift"/>
                  <a:cs typeface="Bahnschrift"/>
                  <a:sym typeface="Bahnschrift"/>
                </a:rPr>
                <a:t> funcional.</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Error frecuente: «el hígado quema sus propias cetonas».</a:t>
              </a:r>
              <a:endParaRPr lang="es-AR" sz="1750" dirty="0">
                <a:latin typeface="Bahnschrift"/>
              </a:endParaRPr>
            </a:p>
          </p:txBody>
        </p:sp>
        <p:sp>
          <p:nvSpPr>
            <p:cNvPr id="24" name="Forma 26"/>
            <p:cNvSpPr/>
            <p:nvPr/>
          </p:nvSpPr>
          <p:spPr>
            <a:xfrm>
              <a:off x="8247888" y="1005840"/>
              <a:ext cx="203766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TEJIDOS PERIFÉRICOS</a:t>
              </a:r>
              <a:endParaRPr lang="es-AR" sz="1600" dirty="0">
                <a:latin typeface="Bahnschrift SemiBold Condensed"/>
              </a:endParaRPr>
            </a:p>
          </p:txBody>
        </p:sp>
      </p:grpSp>
      <p:sp>
        <p:nvSpPr>
          <p:cNvPr id="2" name="Etiqueta sección"/>
          <p:cNvSpPr/>
          <p:nvPr/>
        </p:nvSpPr>
        <p:spPr>
          <a:xfrm>
            <a:off x="9874223" y="201168"/>
            <a:ext cx="2043152"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4 · 4/4</a:t>
            </a:r>
            <a:endParaRPr lang="es-AR" sz="1300" dirty="0">
              <a:latin typeface="Bahnschrift SemiBold Condensed"/>
            </a:endParaRPr>
          </a:p>
        </p:txBody>
      </p:sp>
      <p:sp>
        <p:nvSpPr>
          <p:cNvPr id="3" name="Título"/>
          <p:cNvSpPr/>
          <p:nvPr/>
        </p:nvSpPr>
        <p:spPr>
          <a:xfrm>
            <a:off x="274320" y="146304"/>
            <a:ext cx="44088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22 · CETÓLISIS EXTRAHEPÁTICA</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129</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8"/>
                                        </p:tgtEl>
                                        <p:attrNameLst>
                                          <p:attrName>style.visibility</p:attrName>
                                        </p:attrNameLst>
                                      </p:cBhvr>
                                      <p:to>
                                        <p:strVal val="visible"/>
                                      </p:to>
                                    </p:set>
                                    <p:animEffect transition="in" filter="fade">
                                      <p:cBhvr>
                                        <p:cTn id="5" dur="500"/>
                                        <p:tgtEl>
                                          <p:spTgt spid="8"/>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1" fill="hold" grpId="0" nodeType="click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600"/>
                                        <p:tgtEl>
                                          <p:spTgt spid="9"/>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childTnLst>
                    </p:cTn>
                  </p:par>
                  <p:par>
                    <p:cTn id="29" fill="hold">
                      <p:stCondLst>
                        <p:cond delay="indefinite"/>
                      </p:stCondLst>
                      <p:childTnLst>
                        <p:par>
                          <p:cTn id="20" fill="hold">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up)">
                                      <p:cBhvr>
                                        <p:cTn id="19" dur="600"/>
                                        <p:tgtEl>
                                          <p:spTgt spid="13"/>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childTnLst>
                          </p:cTn>
                        </p:par>
                        <p:par>
                          <p:cTn id="28" fill="hold">
                            <p:stCondLst>
                              <p:cond delay="11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38" fill="hold">
                      <p:stCondLst>
                        <p:cond delay="indefinite"/>
                      </p:stCondLst>
                      <p:childTnLst>
                        <p:par>
                          <p:cTn id="33"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wipe(up)">
                                      <p:cBhvr>
                                        <p:cTn id="32" dur="600"/>
                                        <p:tgtEl>
                                          <p:spTgt spid="17"/>
                                        </p:tgtEl>
                                      </p:cBhvr>
                                    </p:animEffect>
                                  </p:childTnLst>
                                </p:cTn>
                              </p:par>
                            </p:childTnLst>
                          </p:cTn>
                        </p:par>
                        <p:par>
                          <p:cTn id="37" fill="hold">
                            <p:stCondLst>
                              <p:cond delay="600"/>
                            </p:stCondLst>
                            <p:childTnLst>
                              <p:par>
                                <p:cTn id="34" presetID="10" presetClass="entr" presetSubtype="0" fill="hold" grpId="0" nodeType="after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2" grpId="0" animBg="1"/>
      <p:bldP spid="16" grpId="0" animBg="1"/>
      <p:bldP spid="21" grpId="0" animBg="1"/>
      <p:bldP spid="20" grpId="0" animBg="1"/>
    </p:bldLst>
  </p:timing>
</p:sld>
</file>

<file path=ppt/slides/slide130.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Objetivo 0"/>
          <p:cNvSpPr/>
          <p:nvPr/>
        </p:nvSpPr>
        <p:spPr>
          <a:xfrm>
            <a:off x="365760" y="1005840"/>
            <a:ext cx="3657600" cy="20116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Exportar energía</a:t>
            </a:r>
            <a:r>
              <a:rPr lang="es-AR" sz="1750" dirty="0">
                <a:solidFill>
                  <a:srgbClr val="1E1E1E"/>
                </a:solidFill>
                <a:latin typeface="Bahnschrift"/>
                <a:ea typeface="Bahnschrift"/>
                <a:cs typeface="Bahnschrift"/>
                <a:sym typeface="Bahnschrift"/>
              </a:rPr>
              <a:t>: de los AG hepáticos a órganos que no usan AG largos de forma significativa (cerebro)</a:t>
            </a:r>
            <a:endParaRPr lang="es-AR" sz="1750" dirty="0">
              <a:latin typeface="Bahnschrift"/>
            </a:endParaRPr>
          </a:p>
        </p:txBody>
      </p:sp>
      <p:sp>
        <p:nvSpPr>
          <p:cNvPr id="5" name="Objetivo 1"/>
          <p:cNvSpPr/>
          <p:nvPr/>
        </p:nvSpPr>
        <p:spPr>
          <a:xfrm>
            <a:off x="4206240" y="1005840"/>
            <a:ext cx="3657600" cy="20116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Preservar glucosa</a:t>
            </a:r>
            <a:r>
              <a:rPr lang="es-AR" sz="1750" dirty="0">
                <a:solidFill>
                  <a:srgbClr val="1E1E1E"/>
                </a:solidFill>
                <a:latin typeface="Bahnschrift"/>
                <a:ea typeface="Bahnschrift"/>
                <a:cs typeface="Bahnschrift"/>
                <a:sym typeface="Bahnschrift"/>
              </a:rPr>
              <a:t>: menor consumo de glucosa periférica y cerebral</a:t>
            </a:r>
            <a:endParaRPr lang="es-AR" sz="1750" dirty="0">
              <a:latin typeface="Bahnschrift"/>
            </a:endParaRPr>
          </a:p>
        </p:txBody>
      </p:sp>
      <p:sp>
        <p:nvSpPr>
          <p:cNvPr id="6" name="Objetivo 2"/>
          <p:cNvSpPr/>
          <p:nvPr/>
        </p:nvSpPr>
        <p:spPr>
          <a:xfrm>
            <a:off x="8046720" y="1005840"/>
            <a:ext cx="3657600" cy="2011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Ahorrar proteína</a:t>
            </a:r>
            <a:r>
              <a:rPr lang="es-AR" sz="1750" dirty="0">
                <a:solidFill>
                  <a:srgbClr val="1E1E1E"/>
                </a:solidFill>
                <a:latin typeface="Bahnschrift"/>
                <a:ea typeface="Bahnschrift"/>
                <a:cs typeface="Bahnschrift"/>
                <a:sym typeface="Bahnschrift"/>
              </a:rPr>
              <a:t>: menor necesidad de proteólisis para gluconeogénesis prolongada</a:t>
            </a:r>
            <a:endParaRPr lang="es-AR" sz="1750" dirty="0">
              <a:latin typeface="Bahnschrift"/>
            </a:endParaRPr>
          </a:p>
        </p:txBody>
      </p:sp>
      <p:sp>
        <p:nvSpPr>
          <p:cNvPr id="7" name="Perla"/>
          <p:cNvSpPr/>
          <p:nvPr/>
        </p:nvSpPr>
        <p:spPr>
          <a:xfrm>
            <a:off x="365760" y="3246120"/>
            <a:ext cx="11430000" cy="11887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La cetogénesis </a:t>
            </a:r>
            <a:r>
              <a:rPr lang="es-AR" sz="1750" b="1" dirty="0">
                <a:solidFill>
                  <a:srgbClr val="FFFFFF"/>
                </a:solidFill>
                <a:latin typeface="Bahnschrift"/>
                <a:ea typeface="Bahnschrift"/>
                <a:cs typeface="Bahnschrift"/>
                <a:sym typeface="Bahnschrift"/>
              </a:rPr>
              <a:t>no convierte</a:t>
            </a:r>
            <a:r>
              <a:rPr lang="es-AR" sz="1750" dirty="0">
                <a:solidFill>
                  <a:srgbClr val="FFFFFF"/>
                </a:solidFill>
                <a:latin typeface="Bahnschrift"/>
                <a:ea typeface="Bahnschrift"/>
                <a:cs typeface="Bahnschrift"/>
                <a:sym typeface="Bahnschrift"/>
              </a:rPr>
              <a:t> los carbonos de AG pares en </a:t>
            </a:r>
            <a:r>
              <a:rPr lang="es-AR" sz="1750" b="1" dirty="0">
                <a:solidFill>
                  <a:srgbClr val="FFFFFF"/>
                </a:solidFill>
                <a:latin typeface="Bahnschrift"/>
                <a:ea typeface="Bahnschrift"/>
                <a:cs typeface="Bahnschrift"/>
                <a:sym typeface="Bahnschrift"/>
              </a:rPr>
              <a:t>glucosa neta</a:t>
            </a:r>
            <a:r>
              <a:rPr lang="es-AR" sz="1750" dirty="0">
                <a:solidFill>
                  <a:srgbClr val="FFFFFF"/>
                </a:solidFill>
                <a:latin typeface="Bahnschrift"/>
                <a:ea typeface="Bahnschrift"/>
                <a:cs typeface="Bahnschrift"/>
                <a:sym typeface="Bahnschrift"/>
              </a:rPr>
              <a:t>: provee combustible alternativo y la </a:t>
            </a:r>
            <a:r>
              <a:rPr lang="es-AR" sz="1750" b="1" dirty="0">
                <a:solidFill>
                  <a:srgbClr val="FFFFFF"/>
                </a:solidFill>
                <a:latin typeface="Bahnschrift"/>
                <a:ea typeface="Bahnschrift"/>
                <a:cs typeface="Bahnschrift"/>
                <a:sym typeface="Bahnschrift"/>
              </a:rPr>
              <a:t>energía</a:t>
            </a:r>
            <a:r>
              <a:rPr lang="es-AR" sz="1750" dirty="0">
                <a:solidFill>
                  <a:srgbClr val="FFFFFF"/>
                </a:solidFill>
                <a:latin typeface="Bahnschrift"/>
                <a:ea typeface="Bahnschrift"/>
                <a:cs typeface="Bahnschrift"/>
                <a:sym typeface="Bahnschrift"/>
              </a:rPr>
              <a:t> para fabricar glucosa desde </a:t>
            </a:r>
            <a:r>
              <a:rPr lang="es-AR" sz="1750" b="1" dirty="0">
                <a:solidFill>
                  <a:srgbClr val="FFFFFF"/>
                </a:solidFill>
                <a:latin typeface="Bahnschrift"/>
                <a:ea typeface="Bahnschrift"/>
                <a:cs typeface="Bahnschrift"/>
                <a:sym typeface="Bahnschrift"/>
              </a:rPr>
              <a:t>otros sustratos</a:t>
            </a:r>
            <a:r>
              <a:rPr lang="es-AR" sz="1750" dirty="0">
                <a:solidFill>
                  <a:srgbClr val="FFFFFF"/>
                </a:solidFill>
                <a:latin typeface="Bahnschrift"/>
                <a:ea typeface="Bahnschrift"/>
                <a:cs typeface="Bahnschrift"/>
                <a:sym typeface="Bahnschrift"/>
              </a:rPr>
              <a:t>.</a:t>
            </a:r>
            <a:endParaRPr lang="es-AR" sz="1750" dirty="0">
              <a:latin typeface="Bahnschrift"/>
            </a:endParaRPr>
          </a:p>
        </p:txBody>
      </p:sp>
      <p:grpSp>
        <p:nvGrpSpPr>
          <p:cNvPr id="8" name="Recuadro Clínica"/>
          <p:cNvGrpSpPr/>
          <p:nvPr/>
        </p:nvGrpSpPr>
        <p:grpSpPr>
          <a:xfrm>
            <a:off x="365760" y="4617720"/>
            <a:ext cx="11430000" cy="1874520"/>
            <a:chOff x="365760" y="4617720"/>
            <a:chExt cx="11430000" cy="1874520"/>
          </a:xfrm>
        </p:grpSpPr>
        <p:sp>
          <p:nvSpPr>
            <p:cNvPr id="9" name="Forma 8"/>
            <p:cNvSpPr/>
            <p:nvPr/>
          </p:nvSpPr>
          <p:spPr>
            <a:xfrm>
              <a:off x="365760" y="4800600"/>
              <a:ext cx="11430000" cy="16916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Cetosis fisiológica</a:t>
              </a:r>
              <a:r>
                <a:rPr lang="es-AR" sz="1650" dirty="0">
                  <a:solidFill>
                    <a:srgbClr val="1E1E1E"/>
                  </a:solidFill>
                  <a:latin typeface="Bahnschrift"/>
                  <a:ea typeface="Bahnschrift"/>
                  <a:cs typeface="Bahnschrift"/>
                  <a:sym typeface="Bahnschrift"/>
                </a:rPr>
                <a:t> del ayuno: pH conservado.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Cetoacidosis diabética</a:t>
              </a:r>
              <a:r>
                <a:rPr lang="es-AR" sz="1650" dirty="0">
                  <a:solidFill>
                    <a:srgbClr val="1E1E1E"/>
                  </a:solidFill>
                  <a:latin typeface="Bahnschrift"/>
                  <a:ea typeface="Bahnschrift"/>
                  <a:cs typeface="Bahnschrift"/>
                  <a:sym typeface="Bahnschrift"/>
                </a:rPr>
                <a:t>: producción que </a:t>
              </a:r>
              <a:r>
                <a:rPr lang="es-AR" sz="1650" b="1" dirty="0">
                  <a:solidFill>
                    <a:srgbClr val="1E1E1E"/>
                  </a:solidFill>
                  <a:latin typeface="Bahnschrift"/>
                  <a:ea typeface="Bahnschrift"/>
                  <a:cs typeface="Bahnschrift"/>
                  <a:sym typeface="Bahnschrift"/>
                </a:rPr>
                <a:t>excede</a:t>
              </a:r>
              <a:r>
                <a:rPr lang="es-AR" sz="1650" dirty="0">
                  <a:solidFill>
                    <a:srgbClr val="1E1E1E"/>
                  </a:solidFill>
                  <a:latin typeface="Bahnschrift"/>
                  <a:ea typeface="Bahnschrift"/>
                  <a:cs typeface="Bahnschrift"/>
                  <a:sym typeface="Bahnschrift"/>
                </a:rPr>
                <a:t> utilización, depuración y capacidad tampón → acidosis, deshidratación, alteraciones electrolíticas.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Medir </a:t>
              </a:r>
              <a:r>
                <a:rPr lang="es-AR" sz="1650" b="1" dirty="0">
                  <a:solidFill>
                    <a:srgbClr val="1E1E1E"/>
                  </a:solidFill>
                  <a:latin typeface="Bahnschrift"/>
                  <a:ea typeface="Bahnschrift"/>
                  <a:cs typeface="Bahnschrift"/>
                  <a:sym typeface="Bahnschrift"/>
                </a:rPr>
                <a:t>β-hidroxibutirato</a:t>
              </a:r>
              <a:r>
                <a:rPr lang="es-AR" sz="1650" dirty="0">
                  <a:solidFill>
                    <a:srgbClr val="1E1E1E"/>
                  </a:solidFill>
                  <a:latin typeface="Bahnschrift"/>
                  <a:ea typeface="Bahnschrift"/>
                  <a:cs typeface="Bahnschrift"/>
                  <a:sym typeface="Bahnschrift"/>
                </a:rPr>
                <a:t> en sangre interpreta mejor que las tiras urinarias de acetoacetato.</a:t>
              </a:r>
              <a:endParaRPr lang="es-AR" sz="1650" dirty="0">
                <a:latin typeface="Bahnschrift"/>
              </a:endParaRPr>
            </a:p>
          </p:txBody>
        </p:sp>
        <p:sp>
          <p:nvSpPr>
            <p:cNvPr id="10" name="Forma 9"/>
            <p:cNvSpPr/>
            <p:nvPr/>
          </p:nvSpPr>
          <p:spPr>
            <a:xfrm>
              <a:off x="475488" y="461772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23693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22 · CETOGÉNESIS: OBJETIVOS Y PRECISIONES</a:t>
            </a:r>
            <a:endParaRPr lang="es-AR" sz="2600" dirty="0">
              <a:latin typeface="Bahnschrift SemiBold Condensed"/>
            </a:endParaRPr>
          </a:p>
        </p:txBody>
      </p:sp>
      <p:sp>
        <p:nvSpPr>
          <p:cNvPr id="1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24" fill="hold">
                      <p:stCondLst>
                        <p:cond delay="indefinite"/>
                      </p:stCondLst>
                      <p:childTnLst>
                        <p:par>
                          <p:cTn id="23"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500" fill="hold"/>
                                        <p:tgtEl>
                                          <p:spTgt spid="7"/>
                                        </p:tgtEl>
                                        <p:attrNameLst>
                                          <p:attrName>ppt_w</p:attrName>
                                        </p:attrNameLst>
                                      </p:cBhvr>
                                      <p:tavLst>
                                        <p:tav tm="0">
                                          <p:val>
                                            <p:fltVal val="0"/>
                                          </p:val>
                                        </p:tav>
                                        <p:tav tm="100000">
                                          <p:val>
                                            <p:strVal val="#ppt_w"/>
                                          </p:val>
                                        </p:tav>
                                      </p:tavLst>
                                    </p:anim>
                                    <p:anim calcmode="lin" valueType="num">
                                      <p:cBhvr>
                                        <p:cTn id="21" dur="500" fill="hold"/>
                                        <p:tgtEl>
                                          <p:spTgt spid="7"/>
                                        </p:tgtEl>
                                        <p:attrNameLst>
                                          <p:attrName>ppt_h</p:attrName>
                                        </p:attrNameLst>
                                      </p:cBhvr>
                                      <p:tavLst>
                                        <p:tav tm="0">
                                          <p:val>
                                            <p:fltVal val="0"/>
                                          </p:val>
                                        </p:tav>
                                        <p:tav tm="100000">
                                          <p:val>
                                            <p:strVal val="#ppt_h"/>
                                          </p:val>
                                        </p:tav>
                                      </p:tavLst>
                                    </p:anim>
                                    <p:animEffect transition="in" filter="fade">
                                      <p:cBhvr>
                                        <p:cTn id="22" dur="500"/>
                                        <p:tgtEl>
                                          <p:spTgt spid="7"/>
                                        </p:tgtEl>
                                      </p:cBhvr>
                                    </p:animEffect>
                                  </p:childTnLst>
                                </p:cTn>
                              </p:par>
                            </p:childTnLst>
                          </p:cTn>
                        </p:par>
                      </p:childTnLst>
                    </p:cTn>
                  </p:par>
                  <p:par>
                    <p:cTn id="29" fill="hold">
                      <p:stCondLst>
                        <p:cond delay="indefinite"/>
                      </p:stCondLst>
                      <p:childTnLst>
                        <p:par>
                          <p:cTn id="28"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Lst>
  </p:timing>
</p:sld>
</file>

<file path=ppt/slides/slide131.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Escala ALOSTÉRICO"/>
          <p:cNvGrpSpPr/>
          <p:nvPr/>
        </p:nvGrpSpPr>
        <p:grpSpPr>
          <a:xfrm>
            <a:off x="365760" y="1051560"/>
            <a:ext cx="11430000" cy="1417320"/>
            <a:chOff x="365760" y="1051560"/>
            <a:chExt cx="11430000" cy="1417320"/>
          </a:xfrm>
        </p:grpSpPr>
        <p:sp>
          <p:nvSpPr>
            <p:cNvPr id="5" name="Forma 4"/>
            <p:cNvSpPr/>
            <p:nvPr/>
          </p:nvSpPr>
          <p:spPr>
            <a:xfrm>
              <a:off x="365760" y="1051560"/>
              <a:ext cx="11430000" cy="1417320"/>
            </a:xfrm>
            <a:prstGeom prst="rect">
              <a:avLst/>
            </a:prstGeom>
            <a:solidFill>
              <a:srgbClr val="BCEED1"/>
            </a:solidFill>
            <a:ln w="15875" cap="rnd">
              <a:solidFill>
                <a:srgbClr val="1E1E1E"/>
              </a:solidFill>
              <a:round/>
            </a:ln>
            <a:effectLst>
              <a:outerShdw blurRad="63500" dist="38100" dir="2700000" algn="tl" rotWithShape="0">
                <a:srgbClr val="000000">
                  <a:alpha val="32000"/>
                </a:srgbClr>
              </a:outerShdw>
            </a:effectLst>
          </p:spPr>
        </p:sp>
        <p:sp>
          <p:nvSpPr>
            <p:cNvPr id="6" name="Paso 1"/>
            <p:cNvSpPr/>
            <p:nvPr/>
          </p:nvSpPr>
          <p:spPr>
            <a:xfrm>
              <a:off x="548640" y="1463040"/>
              <a:ext cx="548640" cy="54864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7" name="Forma 6"/>
            <p:cNvSpPr txBox="1"/>
            <p:nvPr/>
          </p:nvSpPr>
          <p:spPr>
            <a:xfrm>
              <a:off x="1280160" y="1143000"/>
              <a:ext cx="3108960" cy="548640"/>
            </a:xfrm>
            <a:prstGeom prst="rect">
              <a:avLst/>
            </a:prstGeom>
            <a:noFill/>
            <a:ln>
              <a:noFill/>
            </a:ln>
          </p:spPr>
          <p:txBody>
            <a:bodyPr wrap="square" lIns="0" tIns="0" rIns="0" bIns="0" anchor="ctr" rtlCol="0">
              <a:noAutofit/>
            </a:bodyPr>
            <a:lstStyle/>
            <a:p>
              <a:pPr algn="l">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ALOSTÉRICO</a:t>
              </a:r>
              <a:endParaRPr lang="es-AR" sz="2000" dirty="0">
                <a:latin typeface="Bahnschrift SemiBold Condensed"/>
              </a:endParaRPr>
            </a:p>
          </p:txBody>
        </p:sp>
        <p:sp>
          <p:nvSpPr>
            <p:cNvPr id="8" name="Forma 7"/>
            <p:cNvSpPr/>
            <p:nvPr/>
          </p:nvSpPr>
          <p:spPr>
            <a:xfrm>
              <a:off x="1280160" y="1828800"/>
              <a:ext cx="867361" cy="411480"/>
            </a:xfrm>
            <a:prstGeom prst="rect">
              <a:avLst/>
            </a:prstGeom>
            <a:solidFill>
              <a:srgbClr val="FFFFFF"/>
            </a:solidFill>
            <a:ln w="12700"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segundos</a:t>
              </a:r>
              <a:endParaRPr lang="es-AR" sz="1300" dirty="0">
                <a:latin typeface="Bahnschrift SemiBold Condensed"/>
              </a:endParaRPr>
            </a:p>
          </p:txBody>
        </p:sp>
        <p:sp>
          <p:nvSpPr>
            <p:cNvPr id="9" name="Forma 8"/>
            <p:cNvSpPr txBox="1"/>
            <p:nvPr/>
          </p:nvSpPr>
          <p:spPr>
            <a:xfrm>
              <a:off x="4389120" y="1143000"/>
              <a:ext cx="7223760" cy="123444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Citrato → PFK-1; acetil-CoA → PC; malonil-CoA → CPT1; AMP → fosforilasa b</a:t>
              </a:r>
              <a:endParaRPr lang="es-AR" sz="1500" dirty="0">
                <a:latin typeface="Bahnschrift"/>
              </a:endParaRPr>
            </a:p>
          </p:txBody>
        </p:sp>
      </p:grpSp>
      <p:grpSp>
        <p:nvGrpSpPr>
          <p:cNvPr id="10" name="Escala COVALENTE"/>
          <p:cNvGrpSpPr/>
          <p:nvPr/>
        </p:nvGrpSpPr>
        <p:grpSpPr>
          <a:xfrm>
            <a:off x="365760" y="2651760"/>
            <a:ext cx="11430000" cy="1417320"/>
            <a:chOff x="365760" y="2651760"/>
            <a:chExt cx="11430000" cy="1417320"/>
          </a:xfrm>
        </p:grpSpPr>
        <p:sp>
          <p:nvSpPr>
            <p:cNvPr id="11" name="Forma 10"/>
            <p:cNvSpPr/>
            <p:nvPr/>
          </p:nvSpPr>
          <p:spPr>
            <a:xfrm>
              <a:off x="365760" y="2651760"/>
              <a:ext cx="11430000" cy="1417320"/>
            </a:xfrm>
            <a:prstGeom prst="rect">
              <a:avLst/>
            </a:prstGeom>
            <a:solidFill>
              <a:srgbClr val="FBDFB3"/>
            </a:solidFill>
            <a:ln w="15875" cap="rnd">
              <a:solidFill>
                <a:srgbClr val="1E1E1E"/>
              </a:solidFill>
              <a:round/>
            </a:ln>
            <a:effectLst>
              <a:outerShdw blurRad="63500" dist="38100" dir="2700000" algn="tl" rotWithShape="0">
                <a:srgbClr val="000000">
                  <a:alpha val="32000"/>
                </a:srgbClr>
              </a:outerShdw>
            </a:effectLst>
          </p:spPr>
        </p:sp>
        <p:sp>
          <p:nvSpPr>
            <p:cNvPr id="12" name="Paso 2"/>
            <p:cNvSpPr/>
            <p:nvPr/>
          </p:nvSpPr>
          <p:spPr>
            <a:xfrm>
              <a:off x="548640" y="3063240"/>
              <a:ext cx="548640" cy="54864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13" name="Forma 12"/>
            <p:cNvSpPr txBox="1"/>
            <p:nvPr/>
          </p:nvSpPr>
          <p:spPr>
            <a:xfrm>
              <a:off x="1280160" y="2743200"/>
              <a:ext cx="3108960" cy="548640"/>
            </a:xfrm>
            <a:prstGeom prst="rect">
              <a:avLst/>
            </a:prstGeom>
            <a:noFill/>
            <a:ln>
              <a:noFill/>
            </a:ln>
          </p:spPr>
          <p:txBody>
            <a:bodyPr wrap="square" lIns="0" tIns="0" rIns="0" bIns="0" anchor="ctr" rtlCol="0">
              <a:noAutofit/>
            </a:bodyPr>
            <a:lstStyle/>
            <a:p>
              <a:pPr algn="l">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COVALENTE</a:t>
              </a:r>
              <a:endParaRPr lang="es-AR" sz="2000" dirty="0">
                <a:latin typeface="Bahnschrift SemiBold Condensed"/>
              </a:endParaRPr>
            </a:p>
          </p:txBody>
        </p:sp>
        <p:sp>
          <p:nvSpPr>
            <p:cNvPr id="14" name="Forma 13"/>
            <p:cNvSpPr/>
            <p:nvPr/>
          </p:nvSpPr>
          <p:spPr>
            <a:xfrm>
              <a:off x="1280160" y="3429000"/>
              <a:ext cx="1464130" cy="411480"/>
            </a:xfrm>
            <a:prstGeom prst="rect">
              <a:avLst/>
            </a:prstGeom>
            <a:solidFill>
              <a:srgbClr val="FFFFFF"/>
            </a:solidFill>
            <a:ln w="12700"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segundos–minutos</a:t>
              </a:r>
              <a:endParaRPr lang="es-AR" sz="1300" dirty="0">
                <a:latin typeface="Bahnschrift SemiBold Condensed"/>
              </a:endParaRPr>
            </a:p>
          </p:txBody>
        </p:sp>
        <p:sp>
          <p:nvSpPr>
            <p:cNvPr id="15" name="Forma 14"/>
            <p:cNvSpPr txBox="1"/>
            <p:nvPr/>
          </p:nvSpPr>
          <p:spPr>
            <a:xfrm>
              <a:off x="4389120" y="2743200"/>
              <a:ext cx="7223760" cy="123444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PKA, Akt, AMPK: fosforilación/desfosforilación de ACC, GS, fosforilasa, PFK-2</a:t>
              </a:r>
              <a:endParaRPr lang="es-AR" sz="1500" dirty="0">
                <a:latin typeface="Bahnschrift"/>
              </a:endParaRPr>
            </a:p>
          </p:txBody>
        </p:sp>
      </p:grpSp>
      <p:grpSp>
        <p:nvGrpSpPr>
          <p:cNvPr id="16" name="Escala TRANSCRIPCIONAL"/>
          <p:cNvGrpSpPr/>
          <p:nvPr/>
        </p:nvGrpSpPr>
        <p:grpSpPr>
          <a:xfrm>
            <a:off x="365760" y="4251960"/>
            <a:ext cx="11430000" cy="1417320"/>
            <a:chOff x="365760" y="4251960"/>
            <a:chExt cx="11430000" cy="1417320"/>
          </a:xfrm>
        </p:grpSpPr>
        <p:sp>
          <p:nvSpPr>
            <p:cNvPr id="17" name="Forma 16"/>
            <p:cNvSpPr/>
            <p:nvPr/>
          </p:nvSpPr>
          <p:spPr>
            <a:xfrm>
              <a:off x="365760" y="4251960"/>
              <a:ext cx="11430000" cy="1417320"/>
            </a:xfrm>
            <a:prstGeom prst="rect">
              <a:avLst/>
            </a:prstGeom>
            <a:solidFill>
              <a:srgbClr val="BEDEF3"/>
            </a:solidFill>
            <a:ln w="15875" cap="rnd">
              <a:solidFill>
                <a:srgbClr val="1E1E1E"/>
              </a:solidFill>
              <a:round/>
            </a:ln>
            <a:effectLst>
              <a:outerShdw blurRad="63500" dist="38100" dir="2700000" algn="tl" rotWithShape="0">
                <a:srgbClr val="000000">
                  <a:alpha val="32000"/>
                </a:srgbClr>
              </a:outerShdw>
            </a:effectLst>
          </p:spPr>
        </p:sp>
        <p:sp>
          <p:nvSpPr>
            <p:cNvPr id="18" name="Paso 3"/>
            <p:cNvSpPr/>
            <p:nvPr/>
          </p:nvSpPr>
          <p:spPr>
            <a:xfrm>
              <a:off x="548640" y="4663440"/>
              <a:ext cx="548640" cy="54864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19" name="Forma 18"/>
            <p:cNvSpPr txBox="1"/>
            <p:nvPr/>
          </p:nvSpPr>
          <p:spPr>
            <a:xfrm>
              <a:off x="1280160" y="4343400"/>
              <a:ext cx="3108960" cy="548640"/>
            </a:xfrm>
            <a:prstGeom prst="rect">
              <a:avLst/>
            </a:prstGeom>
            <a:noFill/>
            <a:ln>
              <a:noFill/>
            </a:ln>
          </p:spPr>
          <p:txBody>
            <a:bodyPr wrap="square" lIns="0" tIns="0" rIns="0" bIns="0" anchor="ctr" rtlCol="0">
              <a:noAutofit/>
            </a:bodyPr>
            <a:lstStyle/>
            <a:p>
              <a:pPr algn="l">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TRANSCRIPCIONAL</a:t>
              </a:r>
              <a:endParaRPr lang="es-AR" sz="2000" dirty="0">
                <a:latin typeface="Bahnschrift SemiBold Condensed"/>
              </a:endParaRPr>
            </a:p>
          </p:txBody>
        </p:sp>
        <p:sp>
          <p:nvSpPr>
            <p:cNvPr id="20" name="Forma 19"/>
            <p:cNvSpPr/>
            <p:nvPr/>
          </p:nvSpPr>
          <p:spPr>
            <a:xfrm>
              <a:off x="1280160" y="5029200"/>
              <a:ext cx="950742" cy="411480"/>
            </a:xfrm>
            <a:prstGeom prst="rect">
              <a:avLst/>
            </a:prstGeom>
            <a:solidFill>
              <a:srgbClr val="FFFFFF"/>
            </a:solidFill>
            <a:ln w="12700"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horas–días</a:t>
              </a:r>
              <a:endParaRPr lang="es-AR" sz="1300" dirty="0">
                <a:latin typeface="Bahnschrift SemiBold Condensed"/>
              </a:endParaRPr>
            </a:p>
          </p:txBody>
        </p:sp>
        <p:sp>
          <p:nvSpPr>
            <p:cNvPr id="21" name="Forma 20"/>
            <p:cNvSpPr txBox="1"/>
            <p:nvPr/>
          </p:nvSpPr>
          <p:spPr>
            <a:xfrm>
              <a:off x="4389120" y="4343400"/>
              <a:ext cx="7223760" cy="1234440"/>
            </a:xfrm>
            <a:prstGeom prst="rect">
              <a:avLst/>
            </a:prstGeom>
            <a:noFill/>
            <a:ln>
              <a:noFill/>
            </a:ln>
          </p:spPr>
          <p:txBody>
            <a:bodyPr wrap="square" lIns="0" tIns="0" rIns="0" bIns="0" anchor="ctr" rtlCol="0">
              <a:noAutofit/>
            </a:bodyPr>
            <a:lstStyle/>
            <a:p>
              <a:pPr algn="l">
                <a:spcAft>
                  <a:spcPts val="300"/>
                </a:spcAft>
                <a:buNone/>
              </a:pPr>
              <a:r>
                <a:rPr lang="es-AR" sz="1500" dirty="0">
                  <a:solidFill>
                    <a:srgbClr val="1E1E1E"/>
                  </a:solidFill>
                  <a:latin typeface="Bahnschrift"/>
                  <a:ea typeface="Bahnschrift"/>
                  <a:cs typeface="Bahnschrift"/>
                  <a:sym typeface="Bahnschrift"/>
                </a:rPr>
                <a:t>CREB, FOXO1, ChREBP, SREBP-1c, SREBP-2, GR, PPARα: cambian la </a:t>
              </a:r>
              <a:r>
                <a:rPr lang="es-AR" sz="1500" b="1" dirty="0">
                  <a:solidFill>
                    <a:srgbClr val="1E1E1E"/>
                  </a:solidFill>
                  <a:latin typeface="Bahnschrift"/>
                  <a:ea typeface="Bahnschrift"/>
                  <a:cs typeface="Bahnschrift"/>
                  <a:sym typeface="Bahnschrift"/>
                </a:rPr>
                <a:t>cantidad</a:t>
              </a:r>
              <a:r>
                <a:rPr lang="es-AR" sz="1500" dirty="0">
                  <a:solidFill>
                    <a:srgbClr val="1E1E1E"/>
                  </a:solidFill>
                  <a:latin typeface="Bahnschrift"/>
                  <a:ea typeface="Bahnschrift"/>
                  <a:cs typeface="Bahnschrift"/>
                  <a:sym typeface="Bahnschrift"/>
                </a:rPr>
                <a:t> de enzima</a:t>
              </a:r>
              <a:endParaRPr lang="es-AR" sz="1500" dirty="0">
                <a:latin typeface="Bahnschrift"/>
              </a:endParaRPr>
            </a:p>
          </p:txBody>
        </p:sp>
      </p:grpSp>
      <p:sp>
        <p:nvSpPr>
          <p:cNvPr id="22" name="Perla"/>
          <p:cNvSpPr/>
          <p:nvPr/>
        </p:nvSpPr>
        <p:spPr>
          <a:xfrm>
            <a:off x="365760" y="5852160"/>
            <a:ext cx="11430000" cy="6858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Los factores de transcripción modulan </a:t>
            </a:r>
            <a:r>
              <a:rPr lang="es-AR" sz="1750" b="1" dirty="0">
                <a:solidFill>
                  <a:srgbClr val="FFFFFF"/>
                </a:solidFill>
                <a:latin typeface="Bahnschrift"/>
                <a:ea typeface="Bahnschrift"/>
                <a:cs typeface="Bahnschrift"/>
                <a:sym typeface="Bahnschrift"/>
              </a:rPr>
              <a:t>capacidad</a:t>
            </a:r>
            <a:r>
              <a:rPr lang="es-AR" sz="1750" dirty="0">
                <a:solidFill>
                  <a:srgbClr val="FFFFFF"/>
                </a:solidFill>
                <a:latin typeface="Bahnschrift"/>
                <a:ea typeface="Bahnschrift"/>
                <a:cs typeface="Bahnschrift"/>
                <a:sym typeface="Bahnschrift"/>
              </a:rPr>
              <a:t> enzimática, pero </a:t>
            </a:r>
            <a:r>
              <a:rPr lang="es-AR" sz="1750" b="1" dirty="0">
                <a:solidFill>
                  <a:srgbClr val="FFFFFF"/>
                </a:solidFill>
                <a:latin typeface="Bahnschrift"/>
                <a:ea typeface="Bahnschrift"/>
                <a:cs typeface="Bahnschrift"/>
                <a:sym typeface="Bahnschrift"/>
              </a:rPr>
              <a:t>no determinan solos el flujo</a:t>
            </a:r>
            <a:r>
              <a:rPr lang="es-AR" sz="1750" dirty="0">
                <a:solidFill>
                  <a:srgbClr val="FFFFFF"/>
                </a:solidFill>
                <a:latin typeface="Bahnschrift"/>
                <a:ea typeface="Bahnschrift"/>
                <a:cs typeface="Bahnschrift"/>
                <a:sym typeface="Bahnschrift"/>
              </a:rPr>
              <a:t>.</a:t>
            </a:r>
            <a:endParaRPr lang="es-AR" sz="17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614011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23 · TRES ESCALAS DE CONTROL METABÓLICO</a:t>
            </a:r>
            <a:endParaRPr lang="es-AR" sz="2600" dirty="0">
              <a:latin typeface="Bahnschrift SemiBold Condensed"/>
            </a:endParaRPr>
          </a:p>
        </p:txBody>
      </p:sp>
      <p:sp>
        <p:nvSpPr>
          <p:cNvPr id="2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Hepatocito"/>
          <p:cNvSpPr/>
          <p:nvPr/>
        </p:nvSpPr>
        <p:spPr>
          <a:xfrm>
            <a:off x="274320" y="960120"/>
            <a:ext cx="7680960" cy="5532120"/>
          </a:xfrm>
          <a:prstGeom prst="roundRect">
            <a:avLst>
              <a:gd name="adj" fmla="val 6000"/>
            </a:avLst>
          </a:prstGeom>
          <a:solidFill>
            <a:srgbClr val="F5CBA7">
              <a:alpha val="60000"/>
            </a:srgbClr>
          </a:solidFill>
          <a:ln w="25400" cap="rnd">
            <a:solidFill>
              <a:srgbClr val="A04000"/>
            </a:solidFill>
            <a:round/>
          </a:ln>
        </p:spPr>
      </p:sp>
      <p:sp>
        <p:nvSpPr>
          <p:cNvPr id="5" name="Núcleo"/>
          <p:cNvSpPr/>
          <p:nvPr/>
        </p:nvSpPr>
        <p:spPr>
          <a:xfrm>
            <a:off x="3291840" y="3017520"/>
            <a:ext cx="4389120" cy="3291840"/>
          </a:xfrm>
          <a:prstGeom prst="ellipse">
            <a:avLst/>
          </a:prstGeom>
          <a:solidFill>
            <a:srgbClr val="BB8FCE">
              <a:alpha val="75000"/>
            </a:srgbClr>
          </a:solidFill>
          <a:ln w="31750" cap="rnd">
            <a:solidFill>
              <a:srgbClr val="4A235A"/>
            </a:solidFill>
            <a:round/>
          </a:ln>
        </p:spPr>
      </p:sp>
      <p:sp>
        <p:nvSpPr>
          <p:cNvPr id="6" name="Forma 5"/>
          <p:cNvSpPr txBox="1"/>
          <p:nvPr/>
        </p:nvSpPr>
        <p:spPr>
          <a:xfrm>
            <a:off x="3931920" y="3154680"/>
            <a:ext cx="310896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4A235A"/>
                </a:solidFill>
                <a:latin typeface="Bahnschrift SemiBold Condensed"/>
                <a:ea typeface="Bahnschrift SemiBold Condensed"/>
                <a:cs typeface="Bahnschrift SemiBold Condensed"/>
                <a:sym typeface="Bahnschrift SemiBold Condensed"/>
              </a:rPr>
              <a:t>NÚCLEO DEL HEPATOCITO</a:t>
            </a:r>
            <a:endParaRPr lang="es-AR" sz="1250" dirty="0">
              <a:latin typeface="Bahnschrift SemiBold Condensed"/>
            </a:endParaRPr>
          </a:p>
        </p:txBody>
      </p:sp>
      <p:sp>
        <p:nvSpPr>
          <p:cNvPr id="7" name="ADN"/>
          <p:cNvSpPr/>
          <p:nvPr/>
        </p:nvSpPr>
        <p:spPr>
          <a:xfrm>
            <a:off x="3749040" y="5120640"/>
            <a:ext cx="3474720" cy="548640"/>
          </a:xfrm>
          <a:custGeom>
            <a:avLst/>
            <a:gdLst/>
            <a:ahLst/>
            <a:cxnLst/>
            <a:rect l="0" t="0" r="r" b="b"/>
            <a:pathLst>
              <a:path w="1000" h="1000" fill="none">
                <a:moveTo>
                  <a:pt x="0" y="500"/>
                </a:moveTo>
                <a:cubicBezTo>
                  <a:pt x="125" y="0"/>
                  <a:pt x="250" y="0"/>
                  <a:pt x="375" y="500"/>
                </a:cubicBezTo>
                <a:cubicBezTo>
                  <a:pt x="500" y="1000"/>
                  <a:pt x="625" y="1000"/>
                  <a:pt x="750" y="500"/>
                </a:cubicBezTo>
                <a:cubicBezTo>
                  <a:pt x="875" y="0"/>
                  <a:pt x="1000" y="0"/>
                  <a:pt x="1000" y="500"/>
                </a:cubicBezTo>
              </a:path>
              <a:path w="1000" h="1000" fill="none">
                <a:moveTo>
                  <a:pt x="0" y="500"/>
                </a:moveTo>
                <a:cubicBezTo>
                  <a:pt x="125" y="1000"/>
                  <a:pt x="250" y="1000"/>
                  <a:pt x="375" y="500"/>
                </a:cubicBezTo>
                <a:cubicBezTo>
                  <a:pt x="500" y="0"/>
                  <a:pt x="625" y="0"/>
                  <a:pt x="750" y="500"/>
                </a:cubicBezTo>
                <a:cubicBezTo>
                  <a:pt x="875" y="1000"/>
                  <a:pt x="1000" y="1000"/>
                  <a:pt x="1000" y="500"/>
                </a:cubicBezTo>
              </a:path>
            </a:pathLst>
          </a:custGeom>
          <a:noFill/>
          <a:ln w="25400" cap="rnd">
            <a:solidFill>
              <a:srgbClr val="4A235A"/>
            </a:solidFill>
            <a:round/>
          </a:ln>
        </p:spPr>
      </p:sp>
      <p:sp>
        <p:nvSpPr>
          <p:cNvPr id="8" name="Glucagón"/>
          <p:cNvSpPr/>
          <p:nvPr/>
        </p:nvSpPr>
        <p:spPr>
          <a:xfrm>
            <a:off x="457200" y="1097280"/>
            <a:ext cx="457200" cy="457200"/>
          </a:xfrm>
          <a:prstGeom prst="ellipse">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Gcg</a:t>
            </a:r>
            <a:endParaRPr lang="es-AR" sz="1300" dirty="0">
              <a:latin typeface="Bahnschrift SemiBold Condensed"/>
            </a:endParaRPr>
          </a:p>
        </p:txBody>
      </p:sp>
      <p:sp>
        <p:nvSpPr>
          <p:cNvPr id="9" name="PKA"/>
          <p:cNvSpPr/>
          <p:nvPr/>
        </p:nvSpPr>
        <p:spPr>
          <a:xfrm>
            <a:off x="548640" y="1828800"/>
            <a:ext cx="1522468"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GCGR → AMPc → PKA</a:t>
            </a:r>
            <a:endParaRPr lang="es-AR" sz="1250" dirty="0">
              <a:latin typeface="Bahnschrift SemiBold Condensed"/>
            </a:endParaRPr>
          </a:p>
        </p:txBody>
      </p:sp>
      <p:sp>
        <p:nvSpPr>
          <p:cNvPr id="10" name="CREB"/>
          <p:cNvSpPr/>
          <p:nvPr/>
        </p:nvSpPr>
        <p:spPr>
          <a:xfrm>
            <a:off x="4114800" y="3657600"/>
            <a:ext cx="1280160" cy="502920"/>
          </a:xfrm>
          <a:prstGeom prst="roundRect">
            <a:avLst/>
          </a:prstGeom>
          <a:gradFill rotWithShape="1">
            <a:gsLst>
              <a:gs pos="0">
                <a:srgbClr val="F8CB83"/>
              </a:gs>
              <a:gs pos="55000">
                <a:srgbClr val="F5B041"/>
              </a:gs>
              <a:gs pos="100000">
                <a:srgbClr val="C48C34"/>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CREB-P</a:t>
            </a:r>
            <a:endParaRPr lang="es-AR" sz="1300" dirty="0">
              <a:latin typeface="Bahnschrift SemiBold Condensed"/>
            </a:endParaRPr>
          </a:p>
        </p:txBody>
      </p:sp>
      <p:sp>
        <p:nvSpPr>
          <p:cNvPr id="11" name="CRTC2"/>
          <p:cNvSpPr/>
          <p:nvPr/>
        </p:nvSpPr>
        <p:spPr>
          <a:xfrm>
            <a:off x="4206240" y="4251960"/>
            <a:ext cx="619680"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CRTC2</a:t>
            </a:r>
            <a:endParaRPr lang="es-AR" sz="1200" dirty="0">
              <a:latin typeface="Bahnschrift SemiBold Condensed"/>
            </a:endParaRPr>
          </a:p>
        </p:txBody>
      </p:sp>
      <p:sp>
        <p:nvSpPr>
          <p:cNvPr id="12" name="FOXO1"/>
          <p:cNvSpPr/>
          <p:nvPr/>
        </p:nvSpPr>
        <p:spPr>
          <a:xfrm>
            <a:off x="5669280" y="3657600"/>
            <a:ext cx="1280160" cy="502920"/>
          </a:xfrm>
          <a:prstGeom prst="roundRect">
            <a:avLst/>
          </a:prstGeom>
          <a:gradFill rotWithShape="1">
            <a:gsLst>
              <a:gs pos="0">
                <a:srgbClr val="F2A299"/>
              </a:gs>
              <a:gs pos="55000">
                <a:srgbClr val="EC7063"/>
              </a:gs>
              <a:gs pos="100000">
                <a:srgbClr val="BC594F"/>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FOXO1</a:t>
            </a:r>
            <a:endParaRPr lang="es-AR" sz="1300" dirty="0">
              <a:latin typeface="Bahnschrift SemiBold Condensed"/>
            </a:endParaRPr>
          </a:p>
        </p:txBody>
      </p:sp>
      <p:sp>
        <p:nvSpPr>
          <p:cNvPr id="13" name="GR"/>
          <p:cNvSpPr/>
          <p:nvPr/>
        </p:nvSpPr>
        <p:spPr>
          <a:xfrm>
            <a:off x="5852160" y="4343400"/>
            <a:ext cx="1188720" cy="457200"/>
          </a:xfrm>
          <a:prstGeom prst="roundRect">
            <a:avLst/>
          </a:prstGeom>
          <a:gradFill rotWithShape="1">
            <a:gsLst>
              <a:gs pos="0">
                <a:srgbClr val="C49DD4"/>
              </a:gs>
              <a:gs pos="55000">
                <a:srgbClr val="A569BD"/>
              </a:gs>
              <a:gs pos="100000">
                <a:srgbClr val="845497"/>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GR</a:t>
            </a:r>
            <a:endParaRPr lang="es-AR" sz="1300" dirty="0">
              <a:latin typeface="Bahnschrift SemiBold Condensed"/>
            </a:endParaRPr>
          </a:p>
        </p:txBody>
      </p:sp>
      <p:sp>
        <p:nvSpPr>
          <p:cNvPr id="14" name="Genes GNG"/>
          <p:cNvSpPr/>
          <p:nvPr/>
        </p:nvSpPr>
        <p:spPr>
          <a:xfrm>
            <a:off x="4023360" y="5715000"/>
            <a:ext cx="2423322" cy="255905"/>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 PCK1 (PEPCK) · ↑ G6PC (G6Pasa)</a:t>
            </a:r>
            <a:endParaRPr lang="es-AR" sz="1300" dirty="0">
              <a:latin typeface="Bahnschrift SemiBold Condensed"/>
            </a:endParaRPr>
          </a:p>
        </p:txBody>
      </p:sp>
      <p:sp>
        <p:nvSpPr>
          <p:cNvPr id="15" name="Flecha 14_2"/>
          <p:cNvSpPr/>
          <p:nvPr/>
        </p:nvSpPr>
        <p:spPr>
          <a:xfrm>
            <a:off x="1371600" y="2148840"/>
            <a:ext cx="2834640" cy="1508760"/>
          </a:xfrm>
          <a:custGeom>
            <a:avLst/>
            <a:gdLst/>
            <a:ahLst/>
            <a:cxnLst/>
            <a:rect l="0" t="0" r="r" b="b"/>
            <a:pathLst>
              <a:path w="3099" h="1650" fill="none">
                <a:moveTo>
                  <a:pt x="0" y="0"/>
                </a:moveTo>
                <a:lnTo>
                  <a:pt x="3099" y="1650"/>
                </a:lnTo>
              </a:path>
            </a:pathLst>
          </a:custGeom>
          <a:noFill/>
          <a:ln w="31750" cap="rnd">
            <a:solidFill>
              <a:srgbClr val="1E8C3A"/>
            </a:solidFill>
            <a:round/>
            <a:tailEnd type="triangle" w="med" len="med"/>
          </a:ln>
        </p:spPr>
      </p:sp>
      <p:sp>
        <p:nvSpPr>
          <p:cNvPr id="16" name="Akt"/>
          <p:cNvSpPr/>
          <p:nvPr/>
        </p:nvSpPr>
        <p:spPr>
          <a:xfrm>
            <a:off x="548640" y="4754880"/>
            <a:ext cx="1179686"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Insulina → Akt</a:t>
            </a:r>
            <a:endParaRPr lang="es-AR" sz="1250" dirty="0">
              <a:latin typeface="Bahnschrift SemiBold Condensed"/>
            </a:endParaRPr>
          </a:p>
        </p:txBody>
      </p:sp>
      <p:sp>
        <p:nvSpPr>
          <p:cNvPr id="17" name="Exclusión nuclear"/>
          <p:cNvSpPr/>
          <p:nvPr/>
        </p:nvSpPr>
        <p:spPr>
          <a:xfrm>
            <a:off x="6400800" y="2194560"/>
            <a:ext cx="914400" cy="1417320"/>
          </a:xfrm>
          <a:custGeom>
            <a:avLst/>
            <a:gdLst/>
            <a:ahLst/>
            <a:cxnLst/>
            <a:rect l="0" t="0" r="r" b="b"/>
            <a:pathLst>
              <a:path w="1000" h="1550" fill="none">
                <a:moveTo>
                  <a:pt x="0" y="1550"/>
                </a:moveTo>
                <a:lnTo>
                  <a:pt x="1000" y="0"/>
                </a:lnTo>
              </a:path>
            </a:pathLst>
          </a:custGeom>
          <a:noFill/>
          <a:ln w="31750" cap="rnd">
            <a:solidFill>
              <a:srgbClr val="C00000"/>
            </a:solidFill>
            <a:prstDash val="dash"/>
            <a:round/>
            <a:tailEnd type="triangle" w="med" len="med"/>
          </a:ln>
        </p:spPr>
      </p:sp>
      <p:grpSp>
        <p:nvGrpSpPr>
          <p:cNvPr id="18" name="Recuadro CREB"/>
          <p:cNvGrpSpPr/>
          <p:nvPr/>
        </p:nvGrpSpPr>
        <p:grpSpPr>
          <a:xfrm>
            <a:off x="8183880" y="1005840"/>
            <a:ext cx="3611880" cy="2331720"/>
            <a:chOff x="8183880" y="1005840"/>
            <a:chExt cx="3611880" cy="2331720"/>
          </a:xfrm>
        </p:grpSpPr>
        <p:sp>
          <p:nvSpPr>
            <p:cNvPr id="19" name="Forma 19"/>
            <p:cNvSpPr/>
            <p:nvPr/>
          </p:nvSpPr>
          <p:spPr>
            <a:xfrm>
              <a:off x="8183880" y="1188720"/>
              <a:ext cx="3611880" cy="2148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CREB</a:t>
              </a:r>
              <a:r>
                <a:rPr lang="es-AR" sz="1600" dirty="0">
                  <a:solidFill>
                    <a:srgbClr val="1E1E1E"/>
                  </a:solidFill>
                  <a:latin typeface="Bahnschrift"/>
                  <a:ea typeface="Bahnschrift"/>
                  <a:cs typeface="Bahnschrift"/>
                  <a:sym typeface="Bahnschrift"/>
                </a:rPr>
                <a:t>: glucagón → PKA → fosforilación en </a:t>
              </a:r>
              <a:r>
                <a:rPr lang="es-AR" sz="1600" b="1" dirty="0">
                  <a:solidFill>
                    <a:srgbClr val="1E1E1E"/>
                  </a:solidFill>
                  <a:latin typeface="Bahnschrift"/>
                  <a:ea typeface="Bahnschrift"/>
                  <a:cs typeface="Bahnschrift"/>
                  <a:sym typeface="Bahnschrift"/>
                </a:rPr>
                <a:t>Ser133</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CRTC2</a:t>
              </a:r>
              <a:r>
                <a:rPr lang="es-AR" sz="1600" dirty="0">
                  <a:solidFill>
                    <a:srgbClr val="1E1E1E"/>
                  </a:solidFill>
                  <a:latin typeface="Bahnschrift"/>
                  <a:ea typeface="Bahnschrift"/>
                  <a:cs typeface="Bahnschrift"/>
                  <a:sym typeface="Bahnschrift"/>
                </a:rPr>
                <a:t> se incorpora → ↑ PCK1 y G6PC.</a:t>
              </a:r>
              <a:endParaRPr lang="es-AR" sz="1600" dirty="0">
                <a:latin typeface="Bahnschrift"/>
              </a:endParaRPr>
            </a:p>
          </p:txBody>
        </p:sp>
        <p:sp>
          <p:nvSpPr>
            <p:cNvPr id="20" name="Forma 20"/>
            <p:cNvSpPr/>
            <p:nvPr/>
          </p:nvSpPr>
          <p:spPr>
            <a:xfrm>
              <a:off x="8293608" y="1005840"/>
              <a:ext cx="69746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CREB</a:t>
              </a:r>
              <a:endParaRPr lang="es-AR" sz="1450" dirty="0">
                <a:latin typeface="Bahnschrift SemiBold Condensed"/>
              </a:endParaRPr>
            </a:p>
          </p:txBody>
        </p:sp>
      </p:grpSp>
      <p:grpSp>
        <p:nvGrpSpPr>
          <p:cNvPr id="21" name="Recuadro FOXO1"/>
          <p:cNvGrpSpPr/>
          <p:nvPr/>
        </p:nvGrpSpPr>
        <p:grpSpPr>
          <a:xfrm>
            <a:off x="8183880" y="3474720"/>
            <a:ext cx="3611880" cy="3017520"/>
            <a:chOff x="8183880" y="3474720"/>
            <a:chExt cx="3611880" cy="3017520"/>
          </a:xfrm>
        </p:grpSpPr>
        <p:sp>
          <p:nvSpPr>
            <p:cNvPr id="22" name="Forma 22"/>
            <p:cNvSpPr/>
            <p:nvPr/>
          </p:nvSpPr>
          <p:spPr>
            <a:xfrm>
              <a:off x="8183880" y="3657600"/>
              <a:ext cx="3611880" cy="28346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FOXO1</a:t>
              </a:r>
              <a:r>
                <a:rPr lang="es-AR" sz="1600" dirty="0">
                  <a:solidFill>
                    <a:srgbClr val="1E1E1E"/>
                  </a:solidFill>
                  <a:latin typeface="Bahnschrift"/>
                  <a:ea typeface="Bahnschrift"/>
                  <a:cs typeface="Bahnschrift"/>
                  <a:sym typeface="Bahnschrift"/>
                </a:rPr>
                <a:t>: con poca insulina permanece </a:t>
              </a:r>
              <a:r>
                <a:rPr lang="es-AR" sz="1600" b="1" dirty="0">
                  <a:solidFill>
                    <a:srgbClr val="1E1E1E"/>
                  </a:solidFill>
                  <a:latin typeface="Bahnschrift"/>
                  <a:ea typeface="Bahnschrift"/>
                  <a:cs typeface="Bahnschrift"/>
                  <a:sym typeface="Bahnschrift"/>
                </a:rPr>
                <a:t>nuclear</a:t>
              </a:r>
              <a:r>
                <a:rPr lang="es-AR" sz="1600" dirty="0">
                  <a:solidFill>
                    <a:srgbClr val="1E1E1E"/>
                  </a:solidFill>
                  <a:latin typeface="Bahnschrift"/>
                  <a:ea typeface="Bahnschrift"/>
                  <a:cs typeface="Bahnschrift"/>
                  <a:sym typeface="Bahnschrift"/>
                </a:rPr>
                <a:t>. En saciedad, </a:t>
              </a:r>
              <a:r>
                <a:rPr lang="es-AR" sz="1600" b="1" dirty="0">
                  <a:solidFill>
                    <a:srgbClr val="1E1E1E"/>
                  </a:solidFill>
                  <a:latin typeface="Bahnschrift"/>
                  <a:ea typeface="Bahnschrift"/>
                  <a:cs typeface="Bahnschrift"/>
                  <a:sym typeface="Bahnschrift"/>
                </a:rPr>
                <a:t>Akt</a:t>
              </a:r>
              <a:r>
                <a:rPr lang="es-AR" sz="1600" dirty="0">
                  <a:solidFill>
                    <a:srgbClr val="1E1E1E"/>
                  </a:solidFill>
                  <a:latin typeface="Bahnschrift"/>
                  <a:ea typeface="Bahnschrift"/>
                  <a:cs typeface="Bahnschrift"/>
                  <a:sym typeface="Bahnschrift"/>
                </a:rPr>
                <a:t> lo fosforila → </a:t>
              </a:r>
              <a:r>
                <a:rPr lang="es-AR" sz="1600" b="1" dirty="0">
                  <a:solidFill>
                    <a:srgbClr val="1E1E1E"/>
                  </a:solidFill>
                  <a:latin typeface="Bahnschrift"/>
                  <a:ea typeface="Bahnschrift"/>
                  <a:cs typeface="Bahnschrift"/>
                  <a:sym typeface="Bahnschrift"/>
                </a:rPr>
                <a:t>exclusión nuclear</a:t>
              </a:r>
              <a:r>
                <a:rPr lang="es-AR" sz="1600" dirty="0">
                  <a:solidFill>
                    <a:srgbClr val="1E1E1E"/>
                  </a:solidFill>
                  <a:latin typeface="Bahnschrift"/>
                  <a:ea typeface="Bahnschrift"/>
                  <a:cs typeface="Bahnschrift"/>
                  <a:sym typeface="Bahnschrift"/>
                </a:rPr>
                <a:t> → reprime el programa gluconeogénico (no de forma instantánea ni total).</a:t>
              </a:r>
              <a:endParaRPr lang="es-AR" sz="1600" dirty="0">
                <a:latin typeface="Bahnschrift"/>
              </a:endParaRPr>
            </a:p>
          </p:txBody>
        </p:sp>
        <p:sp>
          <p:nvSpPr>
            <p:cNvPr id="23" name="Forma 23"/>
            <p:cNvSpPr/>
            <p:nvPr/>
          </p:nvSpPr>
          <p:spPr>
            <a:xfrm>
              <a:off x="8293608" y="3474720"/>
              <a:ext cx="74967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FOXO1</a:t>
              </a:r>
              <a:endParaRPr lang="es-AR" sz="145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777527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23 · AYUNO: CREB Y FOXO1 INDUCEN LA GLUCONEOGÉNESIS</a:t>
            </a:r>
            <a:endParaRPr lang="es-AR" sz="2600" dirty="0">
              <a:latin typeface="Bahnschrift SemiBold Condensed"/>
            </a:endParaRPr>
          </a:p>
        </p:txBody>
      </p:sp>
      <p:sp>
        <p:nvSpPr>
          <p:cNvPr id="2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6"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8"/>
                                        </p:tgtEl>
                                        <p:attrNameLst>
                                          <p:attrName>style.visibility</p:attrName>
                                        </p:attrNameLst>
                                      </p:cBhvr>
                                      <p:to>
                                        <p:strVal val="visible"/>
                                      </p:to>
                                    </p:set>
                                    <p:animEffect transition="in" filter="fade">
                                      <p:cBhvr>
                                        <p:cTn id="5" dur="500"/>
                                        <p:tgtEl>
                                          <p:spTgt spid="8"/>
                                        </p:tgtEl>
                                      </p:cBhvr>
                                    </p:animEffect>
                                  </p:childTnLst>
                                </p:cTn>
                              </p:par>
                            </p:childTnLst>
                          </p:cTn>
                        </p:par>
                        <p:par>
                          <p:cTn id="10"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9"/>
                                        </p:tgtEl>
                                        <p:attrNameLst>
                                          <p:attrName>style.visibility</p:attrName>
                                        </p:attrNameLst>
                                      </p:cBhvr>
                                      <p:to>
                                        <p:strVal val="visible"/>
                                      </p:to>
                                    </p:set>
                                    <p:animEffect transition="in" filter="fade">
                                      <p:cBhvr>
                                        <p:cTn id="9" dur="500"/>
                                        <p:tgtEl>
                                          <p:spTgt spid="9"/>
                                        </p:tgtEl>
                                      </p:cBhvr>
                                    </p:animEffect>
                                  </p:childTnLst>
                                </p:cTn>
                              </p:par>
                            </p:childTnLst>
                          </p:cTn>
                        </p:par>
                        <p:par>
                          <p:cTn id="14"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left)">
                                      <p:cBhvr>
                                        <p:cTn id="13" dur="600"/>
                                        <p:tgtEl>
                                          <p:spTgt spid="15"/>
                                        </p:tgtEl>
                                      </p:cBhvr>
                                    </p:animEffect>
                                  </p:childTnLst>
                                </p:cTn>
                              </p:par>
                            </p:childTnLst>
                          </p:cTn>
                        </p:par>
                        <p:par>
                          <p:cTn id="18" fill="hold">
                            <p:stCondLst>
                              <p:cond delay="16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25" fill="hold">
                            <p:stCondLst>
                              <p:cond delay="2100"/>
                            </p:stCondLst>
                            <p:childTnLst>
                              <p:par>
                                <p:cTn id="19" presetID="10" presetClass="entr" presetSubtype="0"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childTnLst>
                    </p:cTn>
                  </p:par>
                  <p:par>
                    <p:cTn id="38" fill="hold">
                      <p:stCondLst>
                        <p:cond delay="indefinite"/>
                      </p:stCondLst>
                      <p:childTnLst>
                        <p:par>
                          <p:cTn id="33"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par>
                          <p:cTn id="37" fill="hold">
                            <p:stCondLst>
                              <p:cond delay="500"/>
                            </p:stCondLst>
                            <p:childTnLst>
                              <p:par>
                                <p:cTn id="34" presetID="10" presetClass="entr" presetSubtype="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childTnLst>
                          </p:cTn>
                        </p:par>
                      </p:childTnLst>
                    </p:cTn>
                  </p:par>
                  <p:par>
                    <p:cTn id="53" fill="hold">
                      <p:stCondLst>
                        <p:cond delay="indefinite"/>
                      </p:stCondLst>
                      <p:childTnLst>
                        <p:par>
                          <p:cTn id="42"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childTnLst>
                          </p:cTn>
                        </p:par>
                        <p:par>
                          <p:cTn id="46"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52" fill="hold">
                            <p:stCondLst>
                              <p:cond delay="1000"/>
                            </p:stCondLst>
                            <p:childTnLst>
                              <p:par>
                                <p:cTn id="47" presetID="0" presetClass="path" presetSubtype="0" accel="20000" decel="20000" fill="hold" grpId="0" nodeType="afterEffect">
                                  <p:stCondLst>
                                    <p:cond delay="0"/>
                                  </p:stCondLst>
                                  <p:childTnLst>
                                    <p:animMotion origin="layout" path="M 0 0 L 0.0750 -0.2267 E" pathEditMode="relative" ptsTypes="">
                                      <p:cBhvr>
                                        <p:cTn id="48" dur="1300" fill="hold"/>
                                        <p:tgtEl>
                                          <p:spTgt spid="12"/>
                                        </p:tgtEl>
                                        <p:attrNameLst>
                                          <p:attrName>ppt_x</p:attrName>
                                          <p:attrName>ppt_y</p:attrName>
                                        </p:attrNameLst>
                                      </p:cBhvr>
                                      <p:rCtr x="3750" y="-11333"/>
                                    </p:animMotion>
                                  </p:childTnLst>
                                </p:cTn>
                              </p:par>
                              <p:par>
                                <p:cTn id="49" presetID="22" presetClass="entr" presetSubtype="4"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wipe(down)">
                                      <p:cBhvr>
                                        <p:cTn id="51" dur="6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5" grpId="0" animBg="1"/>
      <p:bldP spid="10" grpId="0" animBg="1"/>
      <p:bldP spid="11" grpId="0" animBg="1"/>
      <p:bldP spid="12" grpId="0" animBg="1"/>
      <p:bldP spid="13" grpId="0" animBg="1"/>
      <p:bldP spid="14" grpId="0" animBg="1"/>
      <p:bldP spid="16" grpId="0" animBg="1"/>
      <p:bldP spid="17" grpId="0" animBg="1"/>
    </p:bldLst>
  </p:timing>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Hepatocito"/>
          <p:cNvSpPr/>
          <p:nvPr/>
        </p:nvSpPr>
        <p:spPr>
          <a:xfrm>
            <a:off x="274320" y="960120"/>
            <a:ext cx="7680960" cy="5532120"/>
          </a:xfrm>
          <a:prstGeom prst="roundRect">
            <a:avLst>
              <a:gd name="adj" fmla="val 6000"/>
            </a:avLst>
          </a:prstGeom>
          <a:solidFill>
            <a:srgbClr val="F5CBA7">
              <a:alpha val="60000"/>
            </a:srgbClr>
          </a:solidFill>
          <a:ln w="25400" cap="rnd">
            <a:solidFill>
              <a:srgbClr val="A04000"/>
            </a:solidFill>
            <a:round/>
          </a:ln>
        </p:spPr>
      </p:sp>
      <p:sp>
        <p:nvSpPr>
          <p:cNvPr id="5" name="Núcleo"/>
          <p:cNvSpPr/>
          <p:nvPr/>
        </p:nvSpPr>
        <p:spPr>
          <a:xfrm>
            <a:off x="3291840" y="3017520"/>
            <a:ext cx="4389120" cy="3291840"/>
          </a:xfrm>
          <a:prstGeom prst="ellipse">
            <a:avLst/>
          </a:prstGeom>
          <a:solidFill>
            <a:srgbClr val="BB8FCE">
              <a:alpha val="75000"/>
            </a:srgbClr>
          </a:solidFill>
          <a:ln w="31750" cap="rnd">
            <a:solidFill>
              <a:srgbClr val="4A235A"/>
            </a:solidFill>
            <a:round/>
          </a:ln>
        </p:spPr>
      </p:sp>
      <p:sp>
        <p:nvSpPr>
          <p:cNvPr id="6" name="Forma 5"/>
          <p:cNvSpPr txBox="1"/>
          <p:nvPr/>
        </p:nvSpPr>
        <p:spPr>
          <a:xfrm>
            <a:off x="3931920" y="3154680"/>
            <a:ext cx="3108960" cy="320040"/>
          </a:xfrm>
          <a:prstGeom prst="rect">
            <a:avLst/>
          </a:prstGeom>
          <a:noFill/>
          <a:ln>
            <a:noFill/>
          </a:ln>
        </p:spPr>
        <p:txBody>
          <a:bodyPr wrap="square" lIns="0" tIns="0" rIns="0" bIns="0" anchor="t" rtlCol="0">
            <a:noAutofit/>
          </a:bodyPr>
          <a:lstStyle/>
          <a:p>
            <a:pPr algn="ctr">
              <a:spcAft>
                <a:spcPts val="300"/>
              </a:spcAft>
              <a:buNone/>
            </a:pPr>
            <a:r>
              <a:rPr lang="es-AR" sz="1250" b="1" dirty="0">
                <a:solidFill>
                  <a:srgbClr val="4A235A"/>
                </a:solidFill>
                <a:latin typeface="Bahnschrift SemiBold Condensed"/>
                <a:ea typeface="Bahnschrift SemiBold Condensed"/>
                <a:cs typeface="Bahnschrift SemiBold Condensed"/>
                <a:sym typeface="Bahnschrift SemiBold Condensed"/>
              </a:rPr>
              <a:t>NÚCLEO DEL HEPATOCITO</a:t>
            </a:r>
            <a:endParaRPr lang="es-AR" sz="1250" dirty="0">
              <a:latin typeface="Bahnschrift SemiBold Condensed"/>
            </a:endParaRPr>
          </a:p>
        </p:txBody>
      </p:sp>
      <p:sp>
        <p:nvSpPr>
          <p:cNvPr id="7" name="ADN"/>
          <p:cNvSpPr/>
          <p:nvPr/>
        </p:nvSpPr>
        <p:spPr>
          <a:xfrm>
            <a:off x="3749040" y="5120640"/>
            <a:ext cx="3474720" cy="548640"/>
          </a:xfrm>
          <a:custGeom>
            <a:avLst/>
            <a:gdLst/>
            <a:ahLst/>
            <a:cxnLst/>
            <a:rect l="0" t="0" r="r" b="b"/>
            <a:pathLst>
              <a:path w="1000" h="1000" fill="none">
                <a:moveTo>
                  <a:pt x="0" y="500"/>
                </a:moveTo>
                <a:cubicBezTo>
                  <a:pt x="125" y="0"/>
                  <a:pt x="250" y="0"/>
                  <a:pt x="375" y="500"/>
                </a:cubicBezTo>
                <a:cubicBezTo>
                  <a:pt x="500" y="1000"/>
                  <a:pt x="625" y="1000"/>
                  <a:pt x="750" y="500"/>
                </a:cubicBezTo>
                <a:cubicBezTo>
                  <a:pt x="875" y="0"/>
                  <a:pt x="1000" y="0"/>
                  <a:pt x="1000" y="500"/>
                </a:cubicBezTo>
              </a:path>
              <a:path w="1000" h="1000" fill="none">
                <a:moveTo>
                  <a:pt x="0" y="500"/>
                </a:moveTo>
                <a:cubicBezTo>
                  <a:pt x="125" y="1000"/>
                  <a:pt x="250" y="1000"/>
                  <a:pt x="375" y="500"/>
                </a:cubicBezTo>
                <a:cubicBezTo>
                  <a:pt x="500" y="0"/>
                  <a:pt x="625" y="0"/>
                  <a:pt x="750" y="500"/>
                </a:cubicBezTo>
                <a:cubicBezTo>
                  <a:pt x="875" y="1000"/>
                  <a:pt x="1000" y="1000"/>
                  <a:pt x="1000" y="500"/>
                </a:cubicBezTo>
              </a:path>
            </a:pathLst>
          </a:custGeom>
          <a:noFill/>
          <a:ln w="25400" cap="rnd">
            <a:solidFill>
              <a:srgbClr val="4A235A"/>
            </a:solidFill>
            <a:round/>
          </a:ln>
        </p:spPr>
      </p:sp>
      <p:sp>
        <p:nvSpPr>
          <p:cNvPr id="8" name="Glucosa"/>
          <p:cNvSpPr/>
          <p:nvPr/>
        </p:nvSpPr>
        <p:spPr>
          <a:xfrm>
            <a:off x="457200" y="1097280"/>
            <a:ext cx="457200" cy="45720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9" name="Fructosa"/>
          <p:cNvSpPr/>
          <p:nvPr/>
        </p:nvSpPr>
        <p:spPr>
          <a:xfrm>
            <a:off x="1005840" y="1097280"/>
            <a:ext cx="457200" cy="457200"/>
          </a:xfrm>
          <a:prstGeom prst="hexagon">
            <a:avLst>
              <a:gd name="adj" fmla="val 28000"/>
              <a:gd name="vf" fmla="val 115470"/>
            </a:avLst>
          </a:prstGeom>
          <a:gradFill rotWithShape="1">
            <a:gsLst>
              <a:gs pos="0">
                <a:srgbClr val="EEAB6F"/>
              </a:gs>
              <a:gs pos="55000">
                <a:srgbClr val="E67E22"/>
              </a:gs>
              <a:gs pos="100000">
                <a:srgbClr val="B8641B"/>
              </a:gs>
            </a:gsLst>
            <a:path path="circle">
              <a:fillToRect l="32000" t="28000" r="68000" b="72000"/>
            </a:path>
          </a:gradFill>
          <a:ln w="12700" cap="rnd">
            <a:solidFill>
              <a:srgbClr val="7E451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Fru</a:t>
            </a:r>
            <a:endParaRPr lang="es-AR" sz="1300" dirty="0">
              <a:latin typeface="Bahnschrift SemiBold Condensed"/>
            </a:endParaRPr>
          </a:p>
        </p:txBody>
      </p:sp>
      <p:sp>
        <p:nvSpPr>
          <p:cNvPr id="10" name="Metabolitos"/>
          <p:cNvSpPr/>
          <p:nvPr/>
        </p:nvSpPr>
        <p:spPr>
          <a:xfrm>
            <a:off x="457200" y="1737360"/>
            <a:ext cx="1638600"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Metabolitos glucídicos</a:t>
            </a:r>
            <a:endParaRPr lang="es-AR" sz="1250" dirty="0">
              <a:latin typeface="Bahnschrift SemiBold Condensed"/>
            </a:endParaRPr>
          </a:p>
        </p:txBody>
      </p:sp>
      <p:sp>
        <p:nvSpPr>
          <p:cNvPr id="11" name="ChREBP"/>
          <p:cNvSpPr/>
          <p:nvPr/>
        </p:nvSpPr>
        <p:spPr>
          <a:xfrm>
            <a:off x="4023360" y="3657600"/>
            <a:ext cx="1645920" cy="502920"/>
          </a:xfrm>
          <a:prstGeom prst="roundRect">
            <a:avLst/>
          </a:prstGeom>
          <a:gradFill rotWithShape="1">
            <a:gsLst>
              <a:gs pos="0">
                <a:srgbClr val="92E4B4"/>
              </a:gs>
              <a:gs pos="55000">
                <a:srgbClr val="58D68D"/>
              </a:gs>
              <a:gs pos="100000">
                <a:srgbClr val="46AB70"/>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ChREBP/MLX</a:t>
            </a:r>
            <a:endParaRPr lang="es-AR" sz="1300" dirty="0">
              <a:latin typeface="Bahnschrift SemiBold Condensed"/>
            </a:endParaRPr>
          </a:p>
        </p:txBody>
      </p:sp>
      <p:sp>
        <p:nvSpPr>
          <p:cNvPr id="12" name="Insulina"/>
          <p:cNvSpPr/>
          <p:nvPr/>
        </p:nvSpPr>
        <p:spPr>
          <a:xfrm>
            <a:off x="457200" y="3931920"/>
            <a:ext cx="457200" cy="457200"/>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Ins</a:t>
            </a:r>
            <a:endParaRPr lang="es-AR" sz="1300" dirty="0">
              <a:latin typeface="Bahnschrift SemiBold Condensed"/>
            </a:endParaRPr>
          </a:p>
        </p:txBody>
      </p:sp>
      <p:sp>
        <p:nvSpPr>
          <p:cNvPr id="13" name="mTORC1"/>
          <p:cNvSpPr/>
          <p:nvPr/>
        </p:nvSpPr>
        <p:spPr>
          <a:xfrm>
            <a:off x="1005840" y="3977640"/>
            <a:ext cx="1139428"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Akt · mTORC1</a:t>
            </a:r>
            <a:endParaRPr lang="es-AR" sz="1250" dirty="0">
              <a:latin typeface="Bahnschrift SemiBold Condensed"/>
            </a:endParaRPr>
          </a:p>
        </p:txBody>
      </p:sp>
      <p:sp>
        <p:nvSpPr>
          <p:cNvPr id="14" name="SREBP1c"/>
          <p:cNvSpPr/>
          <p:nvPr/>
        </p:nvSpPr>
        <p:spPr>
          <a:xfrm>
            <a:off x="5760720" y="4389120"/>
            <a:ext cx="1645920" cy="502920"/>
          </a:xfrm>
          <a:prstGeom prst="roundRect">
            <a:avLst/>
          </a:prstGeom>
          <a:gradFill rotWithShape="1">
            <a:gsLst>
              <a:gs pos="0">
                <a:srgbClr val="F8CB83"/>
              </a:gs>
              <a:gs pos="55000">
                <a:srgbClr val="F5B041"/>
              </a:gs>
              <a:gs pos="100000">
                <a:srgbClr val="C48C34"/>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SREBP-1c</a:t>
            </a:r>
            <a:endParaRPr lang="es-AR" sz="1300" dirty="0">
              <a:latin typeface="Bahnschrift SemiBold Condensed"/>
            </a:endParaRPr>
          </a:p>
        </p:txBody>
      </p:sp>
      <p:sp>
        <p:nvSpPr>
          <p:cNvPr id="15" name="Genes lipogénicos"/>
          <p:cNvSpPr/>
          <p:nvPr/>
        </p:nvSpPr>
        <p:spPr>
          <a:xfrm>
            <a:off x="3749040" y="5715000"/>
            <a:ext cx="2882503"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 ACC (ACACA) · ↑ FASN · ↑ SCD1 · glucólisis</a:t>
            </a:r>
            <a:endParaRPr lang="es-AR" sz="1250" dirty="0">
              <a:latin typeface="Bahnschrift SemiBold Condensed"/>
            </a:endParaRPr>
          </a:p>
        </p:txBody>
      </p:sp>
      <p:sp>
        <p:nvSpPr>
          <p:cNvPr id="16" name="Flecha 15_2"/>
          <p:cNvSpPr/>
          <p:nvPr/>
        </p:nvSpPr>
        <p:spPr>
          <a:xfrm>
            <a:off x="1371600" y="2057400"/>
            <a:ext cx="3017520" cy="1600200"/>
          </a:xfrm>
          <a:custGeom>
            <a:avLst/>
            <a:gdLst/>
            <a:ahLst/>
            <a:cxnLst/>
            <a:rect l="0" t="0" r="r" b="b"/>
            <a:pathLst>
              <a:path w="3300" h="1750" fill="none">
                <a:moveTo>
                  <a:pt x="0" y="0"/>
                </a:moveTo>
                <a:lnTo>
                  <a:pt x="3300" y="1750"/>
                </a:lnTo>
              </a:path>
            </a:pathLst>
          </a:custGeom>
          <a:noFill/>
          <a:ln w="31750" cap="rnd">
            <a:solidFill>
              <a:srgbClr val="1E8C3A"/>
            </a:solidFill>
            <a:round/>
            <a:tailEnd type="triangle" w="med" len="med"/>
          </a:ln>
        </p:spPr>
      </p:sp>
      <p:sp>
        <p:nvSpPr>
          <p:cNvPr id="17" name="Flecha 17_2"/>
          <p:cNvSpPr/>
          <p:nvPr/>
        </p:nvSpPr>
        <p:spPr>
          <a:xfrm>
            <a:off x="2377440" y="4160520"/>
            <a:ext cx="3364992" cy="457200"/>
          </a:xfrm>
          <a:custGeom>
            <a:avLst/>
            <a:gdLst/>
            <a:ahLst/>
            <a:cxnLst/>
            <a:rect l="0" t="0" r="r" b="b"/>
            <a:pathLst>
              <a:path w="3680" h="500" fill="none">
                <a:moveTo>
                  <a:pt x="0" y="0"/>
                </a:moveTo>
                <a:lnTo>
                  <a:pt x="3680" y="500"/>
                </a:lnTo>
              </a:path>
            </a:pathLst>
          </a:custGeom>
          <a:noFill/>
          <a:ln w="31750" cap="rnd">
            <a:solidFill>
              <a:srgbClr val="1E8C3A"/>
            </a:solidFill>
            <a:round/>
            <a:tailEnd type="triangle" w="med" len="med"/>
          </a:ln>
        </p:spPr>
      </p:sp>
      <p:grpSp>
        <p:nvGrpSpPr>
          <p:cNvPr id="18" name="Recuadro ChREBP"/>
          <p:cNvGrpSpPr/>
          <p:nvPr/>
        </p:nvGrpSpPr>
        <p:grpSpPr>
          <a:xfrm>
            <a:off x="8183880" y="1005840"/>
            <a:ext cx="3611880" cy="2377440"/>
            <a:chOff x="8183880" y="1005840"/>
            <a:chExt cx="3611880" cy="2377440"/>
          </a:xfrm>
        </p:grpSpPr>
        <p:sp>
          <p:nvSpPr>
            <p:cNvPr id="19" name="Forma 20"/>
            <p:cNvSpPr/>
            <p:nvPr/>
          </p:nvSpPr>
          <p:spPr>
            <a:xfrm>
              <a:off x="8183880" y="1188720"/>
              <a:ext cx="3611880" cy="21945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ChREBP</a:t>
              </a:r>
              <a:r>
                <a:rPr lang="es-AR" sz="1550" dirty="0">
                  <a:solidFill>
                    <a:srgbClr val="1E1E1E"/>
                  </a:solidFill>
                  <a:latin typeface="Bahnschrift"/>
                  <a:ea typeface="Bahnschrift"/>
                  <a:cs typeface="Bahnschrift"/>
                  <a:sym typeface="Bahnschrift"/>
                </a:rPr>
                <a:t>: productos del metabolismo glucídico favorecen su activación y localización nuclear. Glucosa y fructosa activan programas lipogénicos por vías </a:t>
              </a:r>
              <a:r>
                <a:rPr lang="es-AR" sz="1550" b="1" dirty="0">
                  <a:solidFill>
                    <a:srgbClr val="1E1E1E"/>
                  </a:solidFill>
                  <a:latin typeface="Bahnschrift"/>
                  <a:ea typeface="Bahnschrift"/>
                  <a:cs typeface="Bahnschrift"/>
                  <a:sym typeface="Bahnschrift"/>
                </a:rPr>
                <a:t>parcialmente distintas</a:t>
              </a:r>
              <a:r>
                <a:rPr lang="es-AR" sz="1550" dirty="0">
                  <a:solidFill>
                    <a:srgbClr val="1E1E1E"/>
                  </a:solidFill>
                  <a:latin typeface="Bahnschrift"/>
                  <a:ea typeface="Bahnschrift"/>
                  <a:cs typeface="Bahnschrift"/>
                  <a:sym typeface="Bahnschrift"/>
                </a:rPr>
                <a:t>.</a:t>
              </a:r>
              <a:endParaRPr lang="es-AR" sz="1550" dirty="0">
                <a:latin typeface="Bahnschrift"/>
              </a:endParaRPr>
            </a:p>
          </p:txBody>
        </p:sp>
        <p:sp>
          <p:nvSpPr>
            <p:cNvPr id="20" name="Forma 21"/>
            <p:cNvSpPr/>
            <p:nvPr/>
          </p:nvSpPr>
          <p:spPr>
            <a:xfrm>
              <a:off x="8293608" y="1005840"/>
              <a:ext cx="86130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ChREBP</a:t>
              </a:r>
              <a:endParaRPr lang="es-AR" sz="1400" dirty="0">
                <a:latin typeface="Bahnschrift SemiBold Condensed"/>
              </a:endParaRPr>
            </a:p>
          </p:txBody>
        </p:sp>
      </p:grpSp>
      <p:grpSp>
        <p:nvGrpSpPr>
          <p:cNvPr id="21" name="Recuadro SREBP-1c"/>
          <p:cNvGrpSpPr/>
          <p:nvPr/>
        </p:nvGrpSpPr>
        <p:grpSpPr>
          <a:xfrm>
            <a:off x="8183880" y="3520440"/>
            <a:ext cx="3611880" cy="2971800"/>
            <a:chOff x="8183880" y="3520440"/>
            <a:chExt cx="3611880" cy="2971800"/>
          </a:xfrm>
        </p:grpSpPr>
        <p:sp>
          <p:nvSpPr>
            <p:cNvPr id="22" name="Forma 23"/>
            <p:cNvSpPr/>
            <p:nvPr/>
          </p:nvSpPr>
          <p:spPr>
            <a:xfrm>
              <a:off x="8183880" y="3703320"/>
              <a:ext cx="3611880" cy="27889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SREBP-1c</a:t>
              </a:r>
              <a:r>
                <a:rPr lang="es-AR" sz="1550" dirty="0">
                  <a:solidFill>
                    <a:srgbClr val="1E1E1E"/>
                  </a:solidFill>
                  <a:latin typeface="Bahnschrift"/>
                  <a:ea typeface="Bahnschrift"/>
                  <a:cs typeface="Bahnschrift"/>
                  <a:sym typeface="Bahnschrift"/>
                </a:rPr>
                <a:t>: insulina y mTORC1 favorecen su procesamiento/expresión. Es </a:t>
              </a:r>
              <a:r>
                <a:rPr lang="es-AR" sz="1550" b="1" dirty="0">
                  <a:solidFill>
                    <a:srgbClr val="1E1E1E"/>
                  </a:solidFill>
                  <a:latin typeface="Bahnschrift"/>
                  <a:ea typeface="Bahnschrift"/>
                  <a:cs typeface="Bahnschrift"/>
                  <a:sym typeface="Bahnschrift"/>
                </a:rPr>
                <a:t>lipogénico</a:t>
              </a:r>
              <a:r>
                <a:rPr lang="es-AR" sz="1550" dirty="0">
                  <a:solidFill>
                    <a:srgbClr val="1E1E1E"/>
                  </a:solidFill>
                  <a:latin typeface="Bahnschrift"/>
                  <a:ea typeface="Bahnschrift"/>
                  <a:cs typeface="Bahnschrift"/>
                  <a:sym typeface="Bahnschrift"/>
                </a:rPr>
                <a:t>, no el regulador principal del </a:t>
              </a:r>
              <a:r>
                <a:rPr lang="es-AR" sz="1550" b="1" dirty="0">
                  <a:solidFill>
                    <a:srgbClr val="1E1E1E"/>
                  </a:solidFill>
                  <a:latin typeface="Bahnschrift"/>
                  <a:ea typeface="Bahnschrift"/>
                  <a:cs typeface="Bahnschrift"/>
                  <a:sym typeface="Bahnschrift"/>
                </a:rPr>
                <a:t>LDLR</a:t>
              </a:r>
              <a:r>
                <a:rPr lang="es-AR" sz="1550" dirty="0">
                  <a:solidFill>
                    <a:srgbClr val="1E1E1E"/>
                  </a:solidFill>
                  <a:latin typeface="Bahnschrift"/>
                  <a:ea typeface="Bahnschrift"/>
                  <a:cs typeface="Bahnschrift"/>
                  <a:sym typeface="Bahnschrift"/>
                </a:rPr>
                <a:t>. La ruta DAG → TAG (</a:t>
              </a:r>
              <a:r>
                <a:rPr lang="es-AR" sz="1550" b="1" dirty="0">
                  <a:solidFill>
                    <a:srgbClr val="1E1E1E"/>
                  </a:solidFill>
                  <a:latin typeface="Bahnschrift"/>
                  <a:ea typeface="Bahnschrift"/>
                  <a:cs typeface="Bahnschrift"/>
                  <a:sym typeface="Bahnschrift"/>
                </a:rPr>
                <a:t>DGAT</a:t>
              </a:r>
              <a:r>
                <a:rPr lang="es-AR" sz="1550" dirty="0">
                  <a:solidFill>
                    <a:srgbClr val="1E1E1E"/>
                  </a:solidFill>
                  <a:latin typeface="Bahnschrift"/>
                  <a:ea typeface="Bahnschrift"/>
                  <a:cs typeface="Bahnschrift"/>
                  <a:sym typeface="Bahnschrift"/>
                </a:rPr>
                <a:t>) responde a control </a:t>
              </a:r>
              <a:r>
                <a:rPr lang="es-AR" sz="1550" b="1" dirty="0">
                  <a:solidFill>
                    <a:srgbClr val="1E1E1E"/>
                  </a:solidFill>
                  <a:latin typeface="Bahnschrift"/>
                  <a:ea typeface="Bahnschrift"/>
                  <a:cs typeface="Bahnschrift"/>
                  <a:sym typeface="Bahnschrift"/>
                </a:rPr>
                <a:t>multigénico</a:t>
              </a:r>
              <a:r>
                <a:rPr lang="es-AR" sz="1550" dirty="0">
                  <a:solidFill>
                    <a:srgbClr val="1E1E1E"/>
                  </a:solidFill>
                  <a:latin typeface="Bahnschrift"/>
                  <a:ea typeface="Bahnschrift"/>
                  <a:cs typeface="Bahnschrift"/>
                  <a:sym typeface="Bahnschrift"/>
                </a:rPr>
                <a:t>.</a:t>
              </a:r>
              <a:endParaRPr lang="es-AR" sz="1550" dirty="0">
                <a:latin typeface="Bahnschrift"/>
              </a:endParaRPr>
            </a:p>
          </p:txBody>
        </p:sp>
        <p:sp>
          <p:nvSpPr>
            <p:cNvPr id="23" name="Forma 24"/>
            <p:cNvSpPr/>
            <p:nvPr/>
          </p:nvSpPr>
          <p:spPr>
            <a:xfrm>
              <a:off x="8293608" y="3520440"/>
              <a:ext cx="97640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SREBP-1c</a:t>
              </a:r>
              <a:endParaRPr lang="es-AR" sz="1400" dirty="0">
                <a:latin typeface="Bahnschrift SemiBold Condensed"/>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59273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23 · ABUNDANCIA: ChREBP Y SREBP-1c INDUCEN LA LIPOGÉNESIS</a:t>
            </a:r>
            <a:endParaRPr lang="es-AR" sz="2600" dirty="0">
              <a:latin typeface="Bahnschrift SemiBold Condensed"/>
            </a:endParaRPr>
          </a:p>
        </p:txBody>
      </p:sp>
      <p:sp>
        <p:nvSpPr>
          <p:cNvPr id="2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25"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8"/>
                                        </p:tgtEl>
                                        <p:attrNameLst>
                                          <p:attrName>style.visibility</p:attrName>
                                        </p:attrNameLst>
                                      </p:cBhvr>
                                      <p:to>
                                        <p:strVal val="visible"/>
                                      </p:to>
                                    </p:set>
                                    <p:animEffect transition="in" filter="fade">
                                      <p:cBhvr>
                                        <p:cTn id="5" dur="500"/>
                                        <p:tgtEl>
                                          <p:spTgt spid="8"/>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9"/>
                                        </p:tgtEl>
                                        <p:attrNameLst>
                                          <p:attrName>style.visibility</p:attrName>
                                        </p:attrNameLst>
                                      </p:cBhvr>
                                      <p:to>
                                        <p:strVal val="visible"/>
                                      </p:to>
                                    </p:set>
                                    <p:animEffect transition="in" filter="fade">
                                      <p:cBhvr>
                                        <p:cTn id="8" dur="500"/>
                                        <p:tgtEl>
                                          <p:spTgt spid="9"/>
                                        </p:tgtEl>
                                      </p:cBhvr>
                                    </p:animEffect>
                                  </p:childTnLst>
                                </p:cTn>
                              </p:par>
                            </p:childTnLst>
                          </p:cTn>
                        </p:par>
                        <p:par>
                          <p:cTn id="13"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par>
                          <p:cTn id="17"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left)">
                                      <p:cBhvr>
                                        <p:cTn id="16" dur="600"/>
                                        <p:tgtEl>
                                          <p:spTgt spid="16"/>
                                        </p:tgtEl>
                                      </p:cBhvr>
                                    </p:animEffect>
                                  </p:childTnLst>
                                </p:cTn>
                              </p:par>
                            </p:childTnLst>
                          </p:cTn>
                        </p:par>
                        <p:par>
                          <p:cTn id="24" fill="hold">
                            <p:stCondLst>
                              <p:cond delay="1600"/>
                            </p:stCondLst>
                            <p:childTnLst>
                              <p:par>
                                <p:cTn id="18" presetID="10" presetClass="entr" presetSubtype="0" fill="hold" grpId="0" nodeType="after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par>
                    <p:cTn id="45"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par>
                          <p:cTn id="33" fill="hold">
                            <p:stCondLst>
                              <p:cond delay="500"/>
                            </p:stCondLst>
                            <p:childTnLst>
                              <p:par>
                                <p:cTn id="30" presetID="10" presetClass="entr" presetSubtype="0" fill="hold" grpId="0"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par>
                          <p:cTn id="37" fill="hold">
                            <p:stCondLst>
                              <p:cond delay="1000"/>
                            </p:stCondLst>
                            <p:childTnLst>
                              <p:par>
                                <p:cTn id="34" presetID="22" presetClass="entr" presetSubtype="8"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left)">
                                      <p:cBhvr>
                                        <p:cTn id="36" dur="600"/>
                                        <p:tgtEl>
                                          <p:spTgt spid="17"/>
                                        </p:tgtEl>
                                      </p:cBhvr>
                                    </p:animEffect>
                                  </p:childTnLst>
                                </p:cTn>
                              </p:par>
                            </p:childTnLst>
                          </p:cTn>
                        </p:par>
                        <p:par>
                          <p:cTn id="44" fill="hold">
                            <p:stCondLst>
                              <p:cond delay="1600"/>
                            </p:stCondLst>
                            <p:childTnLst>
                              <p:par>
                                <p:cTn id="38" presetID="10" presetClass="entr" presetSubtype="0" fill="hold" grpId="0" nodeType="after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50" fill="hold">
                      <p:stCondLst>
                        <p:cond delay="indefinite"/>
                      </p:stCondLst>
                      <p:childTnLst>
                        <p:par>
                          <p:cTn id="49"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6" grpId="0" animBg="1"/>
      <p:bldP spid="11" grpId="0" animBg="1"/>
      <p:bldP spid="12" grpId="0" animBg="1"/>
      <p:bldP spid="13" grpId="0" animBg="1"/>
      <p:bldP spid="17" grpId="0" animBg="1"/>
      <p:bldP spid="14" grpId="0" animBg="1"/>
      <p:bldP spid="15" grpId="0" animBg="1"/>
    </p:bldLst>
  </p:timing>
</p:sld>
</file>

<file path=ppt/slides/slide134.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Recuadro SREBP-2"/>
          <p:cNvGrpSpPr/>
          <p:nvPr/>
        </p:nvGrpSpPr>
        <p:grpSpPr>
          <a:xfrm>
            <a:off x="365760" y="1005840"/>
            <a:ext cx="5577840" cy="2148840"/>
            <a:chOff x="365760" y="1005840"/>
            <a:chExt cx="5577840" cy="2148840"/>
          </a:xfrm>
        </p:grpSpPr>
        <p:sp>
          <p:nvSpPr>
            <p:cNvPr id="5" name="Forma 4"/>
            <p:cNvSpPr/>
            <p:nvPr/>
          </p:nvSpPr>
          <p:spPr>
            <a:xfrm>
              <a:off x="365760" y="1188720"/>
              <a:ext cx="5577840" cy="1965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SREBP-2</a:t>
              </a:r>
              <a:r>
                <a:rPr lang="es-AR" sz="1600" dirty="0">
                  <a:solidFill>
                    <a:srgbClr val="1E1E1E"/>
                  </a:solidFill>
                  <a:latin typeface="Bahnschrift"/>
                  <a:ea typeface="Bahnschrift"/>
                  <a:cs typeface="Bahnschrift"/>
                  <a:sym typeface="Bahnschrift"/>
                </a:rPr>
                <a:t> (esterol intracelular bajo): ↑ </a:t>
              </a:r>
              <a:r>
                <a:rPr lang="es-AR" sz="1600" b="1" dirty="0">
                  <a:solidFill>
                    <a:srgbClr val="1E1E1E"/>
                  </a:solidFill>
                  <a:latin typeface="Bahnschrift"/>
                  <a:ea typeface="Bahnschrift"/>
                  <a:cs typeface="Bahnschrift"/>
                  <a:sym typeface="Bahnschrift"/>
                </a:rPr>
                <a:t>HMGCR</a:t>
              </a:r>
              <a:r>
                <a:rPr lang="es-AR" sz="1600" dirty="0">
                  <a:solidFill>
                    <a:srgbClr val="1E1E1E"/>
                  </a:solidFill>
                  <a:latin typeface="Bahnschrift"/>
                  <a:ea typeface="Bahnschrift"/>
                  <a:cs typeface="Bahnschrift"/>
                  <a:sym typeface="Bahnschrift"/>
                </a:rPr>
                <a:t> y </a:t>
              </a:r>
              <a:r>
                <a:rPr lang="es-AR" sz="1600" b="1" dirty="0">
                  <a:solidFill>
                    <a:srgbClr val="1E1E1E"/>
                  </a:solidFill>
                  <a:latin typeface="Bahnschrift"/>
                  <a:ea typeface="Bahnschrift"/>
                  <a:cs typeface="Bahnschrift"/>
                  <a:sym typeface="Bahnschrift"/>
                </a:rPr>
                <a:t>LDLR</a:t>
              </a:r>
              <a:r>
                <a:rPr lang="es-AR" sz="1600" dirty="0">
                  <a:solidFill>
                    <a:srgbClr val="1E1E1E"/>
                  </a:solidFill>
                  <a:latin typeface="Bahnschrift"/>
                  <a:ea typeface="Bahnschrift"/>
                  <a:cs typeface="Bahnschrift"/>
                  <a:sym typeface="Bahnschrift"/>
                </a:rPr>
                <a:t> (también PCSK9). Un hepatocito con poco colesterol </a:t>
              </a:r>
              <a:r>
                <a:rPr lang="es-AR" sz="1600" b="1" dirty="0">
                  <a:solidFill>
                    <a:srgbClr val="1E1E1E"/>
                  </a:solidFill>
                  <a:latin typeface="Bahnschrift"/>
                  <a:ea typeface="Bahnschrift"/>
                  <a:cs typeface="Bahnschrift"/>
                  <a:sym typeface="Bahnschrift"/>
                </a:rPr>
                <a:t>aumenta a la vez síntesis y captación</a:t>
              </a:r>
              <a:r>
                <a:rPr lang="es-AR" sz="1600" dirty="0">
                  <a:solidFill>
                    <a:srgbClr val="1E1E1E"/>
                  </a:solidFill>
                  <a:latin typeface="Bahnschrift"/>
                  <a:ea typeface="Bahnschrift"/>
                  <a:cs typeface="Bahnschrift"/>
                  <a:sym typeface="Bahnschrift"/>
                </a:rPr>
                <a:t>. Las estatinas provocan compensación de SREBP-2 pero inhiben la enzima: resultado neto </a:t>
              </a:r>
              <a:r>
                <a:rPr lang="es-AR" sz="1600" b="1" dirty="0">
                  <a:solidFill>
                    <a:srgbClr val="1E1E1E"/>
                  </a:solidFill>
                  <a:latin typeface="Bahnschrift"/>
                  <a:ea typeface="Bahnschrift"/>
                  <a:cs typeface="Bahnschrift"/>
                  <a:sym typeface="Bahnschrift"/>
                </a:rPr>
                <a:t>↑ depuración de LDL</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6" name="Forma 5"/>
            <p:cNvSpPr/>
            <p:nvPr/>
          </p:nvSpPr>
          <p:spPr>
            <a:xfrm>
              <a:off x="475488" y="1005840"/>
              <a:ext cx="94277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SREBP-2</a:t>
              </a:r>
              <a:endParaRPr lang="es-AR" sz="1450" dirty="0">
                <a:latin typeface="Bahnschrift SemiBold Condensed"/>
              </a:endParaRPr>
            </a:p>
          </p:txBody>
        </p:sp>
      </p:grpSp>
      <p:grpSp>
        <p:nvGrpSpPr>
          <p:cNvPr id="7" name="Recuadro Receptor glucocorticoide"/>
          <p:cNvGrpSpPr/>
          <p:nvPr/>
        </p:nvGrpSpPr>
        <p:grpSpPr>
          <a:xfrm>
            <a:off x="365760" y="3291840"/>
            <a:ext cx="5577840" cy="1965960"/>
            <a:chOff x="365760" y="3291840"/>
            <a:chExt cx="5577840" cy="1965960"/>
          </a:xfrm>
        </p:grpSpPr>
        <p:sp>
          <p:nvSpPr>
            <p:cNvPr id="8" name="Forma 7"/>
            <p:cNvSpPr/>
            <p:nvPr/>
          </p:nvSpPr>
          <p:spPr>
            <a:xfrm>
              <a:off x="365760" y="3474720"/>
              <a:ext cx="5577840" cy="17830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GR</a:t>
              </a:r>
              <a:r>
                <a:rPr lang="es-AR" sz="1600" dirty="0">
                  <a:solidFill>
                    <a:srgbClr val="1E1E1E"/>
                  </a:solidFill>
                  <a:latin typeface="Bahnschrift"/>
                  <a:ea typeface="Bahnschrift"/>
                  <a:cs typeface="Bahnschrift"/>
                  <a:sym typeface="Bahnschrift"/>
                </a:rPr>
                <a:t>: el cortisol activa un receptor intracelular que se transloca al núcleo (GRE); coopera con CREB/FOXO1 → ↑ </a:t>
              </a:r>
              <a:r>
                <a:rPr lang="es-AR" sz="1600" b="1" dirty="0">
                  <a:solidFill>
                    <a:srgbClr val="1E1E1E"/>
                  </a:solidFill>
                  <a:latin typeface="Bahnschrift"/>
                  <a:ea typeface="Bahnschrift"/>
                  <a:cs typeface="Bahnschrift"/>
                  <a:sym typeface="Bahnschrift"/>
                </a:rPr>
                <a:t>PCK1, G6PC</a:t>
              </a:r>
              <a:r>
                <a:rPr lang="es-AR" sz="1600" dirty="0">
                  <a:solidFill>
                    <a:srgbClr val="1E1E1E"/>
                  </a:solidFill>
                  <a:latin typeface="Bahnschrift"/>
                  <a:ea typeface="Bahnschrift"/>
                  <a:cs typeface="Bahnschrift"/>
                  <a:sym typeface="Bahnschrift"/>
                </a:rPr>
                <a:t> y disponibilidad de </a:t>
              </a:r>
              <a:r>
                <a:rPr lang="es-AR" sz="1600" b="1" dirty="0">
                  <a:solidFill>
                    <a:srgbClr val="1E1E1E"/>
                  </a:solidFill>
                  <a:latin typeface="Bahnschrift"/>
                  <a:ea typeface="Bahnschrift"/>
                  <a:cs typeface="Bahnschrift"/>
                  <a:sym typeface="Bahnschrift"/>
                </a:rPr>
                <a:t>aminoácidos</a:t>
              </a:r>
              <a:r>
                <a:rPr lang="es-AR" sz="1600" dirty="0">
                  <a:solidFill>
                    <a:srgbClr val="1E1E1E"/>
                  </a:solidFill>
                  <a:latin typeface="Bahnschrift"/>
                  <a:ea typeface="Bahnschrift"/>
                  <a:cs typeface="Bahnschrift"/>
                  <a:sym typeface="Bahnschrift"/>
                </a:rPr>
                <a:t>. Exceso crónico: hiperglucemia, resistencia insulínica, proteólisis.</a:t>
              </a:r>
              <a:endParaRPr lang="es-AR" sz="1600" dirty="0">
                <a:latin typeface="Bahnschrift"/>
              </a:endParaRPr>
            </a:p>
          </p:txBody>
        </p:sp>
        <p:sp>
          <p:nvSpPr>
            <p:cNvPr id="9" name="Forma 8"/>
            <p:cNvSpPr/>
            <p:nvPr/>
          </p:nvSpPr>
          <p:spPr>
            <a:xfrm>
              <a:off x="475488" y="3291840"/>
              <a:ext cx="240384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RECEPTOR GLUCOCORTICOIDE</a:t>
              </a:r>
              <a:endParaRPr lang="es-AR" sz="1450" dirty="0">
                <a:latin typeface="Bahnschrift SemiBold Condensed"/>
              </a:endParaRPr>
            </a:p>
          </p:txBody>
        </p:sp>
      </p:grpSp>
      <p:graphicFrame>
        <p:nvGraphicFramePr>
          <p:cNvPr id="10" name="Mapa de genes"/>
          <p:cNvGraphicFramePr>
            <a:graphicFrameLocks noGrp="1"/>
          </p:cNvGraphicFramePr>
          <p:nvPr/>
        </p:nvGraphicFramePr>
        <p:xfrm>
          <a:off x="6217920" y="1051560"/>
          <a:ext cx="5577840" cy="3017520"/>
        </p:xfrm>
        <a:graphic>
          <a:graphicData uri="http://schemas.openxmlformats.org/drawingml/2006/table">
            <a:tbl>
              <a:tblPr firstRow="1" bandRow="1"/>
              <a:tblGrid>
                <a:gridCol w="2011680"/>
                <a:gridCol w="2103120"/>
                <a:gridCol w="1463040"/>
              </a:tblGrid>
              <a:tr h="502920">
                <a:tc>
                  <a:txBody>
                    <a:bodyPr/>
                    <a:lstStyle/>
                    <a:p>
                      <a:pPr algn="l">
                        <a:spcAft>
                          <a:spcPts val="1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Gen</a:t>
                      </a: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Factor predominante</a:t>
                      </a: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Estado</a:t>
                      </a: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ACC (ACACA), FASN</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ChREBP · SREBP-1c</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Alimentado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DGAT1/2</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rutas lipogénicas + otros (no exclusivo)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Alimentado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PCK1 (PEPCK), G6PC</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CREB + FOXO1 + GR</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Ayuno / estrés</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LDLR, HMGCR</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SREBP-2</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Colesterol intracelular bajo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HMGCS2</a:t>
                      </a:r>
                      <a:r>
                        <a:rPr lang="es-AR" sz="1300" b="1" dirty="0">
                          <a:solidFill>
                            <a:srgbClr val="1E1E1E"/>
                          </a:solidFill>
                          <a:latin typeface="Bahnschrift"/>
                          <a:ea typeface="Bahnschrift"/>
                          <a:cs typeface="Bahnschrift"/>
                          <a:sym typeface="Bahnschrift"/>
                        </a:rPr>
                        <a:t>, genes de β-oxidación</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PPARα</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Ayuno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11" name="Perla"/>
          <p:cNvSpPr/>
          <p:nvPr/>
        </p:nvSpPr>
        <p:spPr>
          <a:xfrm>
            <a:off x="365760" y="5440680"/>
            <a:ext cx="11430000" cy="10515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«Insulina ↑ Akt, expulsa FOXO1 y ↓ PEPCK/G6Pasa; glucosa → ChREBP e insulina → SREBP-1c (↑ ACC/FASN); si baja el colesterol, SREBP-2 ↑ HMGCR y LDLR».</a:t>
            </a:r>
            <a:endParaRPr lang="es-AR" sz="16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823804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23 · SREBP-2, RECEPTOR GLUCOCORTICOIDE Y MAPA DE GENES</a:t>
            </a:r>
            <a:endParaRPr lang="es-AR" sz="2600" dirty="0">
              <a:latin typeface="Bahnschrift SemiBold Condensed"/>
            </a:endParaRPr>
          </a:p>
        </p:txBody>
      </p:sp>
      <p:sp>
        <p:nvSpPr>
          <p:cNvPr id="1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35.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Cerebro estrés"/>
          <p:cNvGrpSpPr/>
          <p:nvPr/>
        </p:nvGrpSpPr>
        <p:grpSpPr>
          <a:xfrm>
            <a:off x="365760" y="1005840"/>
            <a:ext cx="2011680" cy="1569110"/>
            <a:chOff x="365760" y="1005840"/>
            <a:chExt cx="2011680" cy="1569110"/>
          </a:xfrm>
        </p:grpSpPr>
        <p:sp>
          <p:nvSpPr>
            <p:cNvPr id="5" name="Cerebelo"/>
            <p:cNvSpPr/>
            <p:nvPr/>
          </p:nvSpPr>
          <p:spPr>
            <a:xfrm>
              <a:off x="365760" y="1005840"/>
              <a:ext cx="2011680" cy="1569110"/>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365760" y="1005840"/>
              <a:ext cx="2011680" cy="1569110"/>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365760" y="1005840"/>
              <a:ext cx="2011680" cy="1569110"/>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365760" y="1005840"/>
              <a:ext cx="2011680" cy="1569110"/>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Forma 8"/>
          <p:cNvSpPr/>
          <p:nvPr/>
        </p:nvSpPr>
        <p:spPr>
          <a:xfrm>
            <a:off x="2743200" y="1051560"/>
            <a:ext cx="1645920" cy="8229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Simpático</a:t>
            </a:r>
            <a:endParaRPr lang="es-AR" sz="1350" dirty="0">
              <a:latin typeface="Bahnschrift"/>
            </a:endParaRPr>
          </a:p>
        </p:txBody>
      </p:sp>
      <p:sp>
        <p:nvSpPr>
          <p:cNvPr id="10" name="Flecha 9_2"/>
          <p:cNvSpPr/>
          <p:nvPr/>
        </p:nvSpPr>
        <p:spPr>
          <a:xfrm>
            <a:off x="4425696" y="146304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11" name="Forma 11"/>
          <p:cNvSpPr/>
          <p:nvPr/>
        </p:nvSpPr>
        <p:spPr>
          <a:xfrm>
            <a:off x="4663440" y="1051560"/>
            <a:ext cx="1645920" cy="8229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Médula suprarrenal</a:t>
            </a:r>
            <a:endParaRPr lang="es-AR" sz="1350" dirty="0">
              <a:latin typeface="Bahnschrift"/>
            </a:endParaRPr>
          </a:p>
        </p:txBody>
      </p:sp>
      <p:sp>
        <p:nvSpPr>
          <p:cNvPr id="12" name="Flecha 12_2"/>
          <p:cNvSpPr/>
          <p:nvPr/>
        </p:nvSpPr>
        <p:spPr>
          <a:xfrm>
            <a:off x="6345936" y="146304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13" name="Forma 14"/>
          <p:cNvSpPr/>
          <p:nvPr/>
        </p:nvSpPr>
        <p:spPr>
          <a:xfrm>
            <a:off x="6583680" y="1051560"/>
            <a:ext cx="1645920" cy="82296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Adrenalina / noradrenalina</a:t>
            </a:r>
            <a:endParaRPr lang="es-AR" sz="1350" dirty="0">
              <a:latin typeface="Bahnschrift"/>
            </a:endParaRPr>
          </a:p>
        </p:txBody>
      </p:sp>
      <p:sp>
        <p:nvSpPr>
          <p:cNvPr id="14" name="Tiempo 1"/>
          <p:cNvSpPr/>
          <p:nvPr/>
        </p:nvSpPr>
        <p:spPr>
          <a:xfrm>
            <a:off x="8503920" y="1234440"/>
            <a:ext cx="956687" cy="27559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SEGUNDOS</a:t>
            </a:r>
            <a:endParaRPr lang="es-AR" sz="1400" dirty="0">
              <a:latin typeface="Bahnschrift SemiBold Condensed"/>
            </a:endParaRPr>
          </a:p>
        </p:txBody>
      </p:sp>
      <p:sp>
        <p:nvSpPr>
          <p:cNvPr id="15" name="Forma 16"/>
          <p:cNvSpPr/>
          <p:nvPr/>
        </p:nvSpPr>
        <p:spPr>
          <a:xfrm>
            <a:off x="2743200" y="2331720"/>
            <a:ext cx="1645920" cy="822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CRH</a:t>
            </a:r>
            <a:endParaRPr lang="es-AR" sz="1350" dirty="0">
              <a:latin typeface="Bahnschrift"/>
            </a:endParaRPr>
          </a:p>
        </p:txBody>
      </p:sp>
      <p:sp>
        <p:nvSpPr>
          <p:cNvPr id="16" name="Flecha 17_2"/>
          <p:cNvSpPr/>
          <p:nvPr/>
        </p:nvSpPr>
        <p:spPr>
          <a:xfrm>
            <a:off x="4425696" y="274320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17" name="Forma 19"/>
          <p:cNvSpPr/>
          <p:nvPr/>
        </p:nvSpPr>
        <p:spPr>
          <a:xfrm>
            <a:off x="4663440" y="2331720"/>
            <a:ext cx="1645920" cy="822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ACTH</a:t>
            </a:r>
            <a:endParaRPr lang="es-AR" sz="1350" dirty="0">
              <a:latin typeface="Bahnschrift"/>
            </a:endParaRPr>
          </a:p>
        </p:txBody>
      </p:sp>
      <p:sp>
        <p:nvSpPr>
          <p:cNvPr id="18" name="Flecha 20_2"/>
          <p:cNvSpPr/>
          <p:nvPr/>
        </p:nvSpPr>
        <p:spPr>
          <a:xfrm>
            <a:off x="6345936" y="274320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19" name="Forma 22"/>
          <p:cNvSpPr/>
          <p:nvPr/>
        </p:nvSpPr>
        <p:spPr>
          <a:xfrm>
            <a:off x="6583680" y="2331720"/>
            <a:ext cx="1645920" cy="822960"/>
          </a:xfrm>
          <a:prstGeom prst="rect">
            <a:avLst/>
          </a:prstGeom>
          <a:solidFill>
            <a:srgbClr val="2563B0"/>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Cortisol</a:t>
            </a:r>
            <a:endParaRPr lang="es-AR" sz="1350" dirty="0">
              <a:latin typeface="Bahnschrift"/>
            </a:endParaRPr>
          </a:p>
        </p:txBody>
      </p:sp>
      <p:sp>
        <p:nvSpPr>
          <p:cNvPr id="20" name="Tiempo 2"/>
          <p:cNvSpPr/>
          <p:nvPr/>
        </p:nvSpPr>
        <p:spPr>
          <a:xfrm>
            <a:off x="8503920" y="2514600"/>
            <a:ext cx="1372065" cy="27559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MINUTOS–HORAS</a:t>
            </a:r>
            <a:endParaRPr lang="es-AR" sz="1400" dirty="0">
              <a:latin typeface="Bahnschrift SemiBold Condensed"/>
            </a:endParaRPr>
          </a:p>
        </p:txBody>
      </p:sp>
      <p:sp>
        <p:nvSpPr>
          <p:cNvPr id="21" name="Forma 24"/>
          <p:cNvSpPr/>
          <p:nvPr/>
        </p:nvSpPr>
        <p:spPr>
          <a:xfrm>
            <a:off x="365760" y="3520440"/>
            <a:ext cx="5577840" cy="14630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Además: </a:t>
            </a:r>
            <a:r>
              <a:rPr lang="es-AR" sz="1650" b="1" dirty="0">
                <a:solidFill>
                  <a:srgbClr val="1E1E1E"/>
                </a:solidFill>
                <a:latin typeface="Bahnschrift"/>
                <a:ea typeface="Bahnschrift"/>
                <a:cs typeface="Bahnschrift"/>
                <a:sym typeface="Bahnschrift"/>
              </a:rPr>
              <a:t>citocinas</a:t>
            </a:r>
            <a:r>
              <a:rPr lang="es-AR" sz="1650" dirty="0">
                <a:solidFill>
                  <a:srgbClr val="1E1E1E"/>
                </a:solidFill>
                <a:latin typeface="Bahnschrift"/>
                <a:ea typeface="Bahnschrift"/>
                <a:cs typeface="Bahnschrift"/>
                <a:sym typeface="Bahnschrift"/>
              </a:rPr>
              <a:t> inflamatorias, </a:t>
            </a:r>
            <a:r>
              <a:rPr lang="es-AR" sz="1650" b="1" dirty="0">
                <a:solidFill>
                  <a:srgbClr val="1E1E1E"/>
                </a:solidFill>
                <a:latin typeface="Bahnschrift"/>
                <a:ea typeface="Bahnschrift"/>
                <a:cs typeface="Bahnschrift"/>
                <a:sym typeface="Bahnschrift"/>
              </a:rPr>
              <a:t>glucagón</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GH</a:t>
            </a:r>
            <a:r>
              <a:rPr lang="es-AR" sz="1650" dirty="0">
                <a:solidFill>
                  <a:srgbClr val="1E1E1E"/>
                </a:solidFill>
                <a:latin typeface="Bahnschrift"/>
                <a:ea typeface="Bahnschrift"/>
                <a:cs typeface="Bahnschrift"/>
                <a:sym typeface="Bahnschrift"/>
              </a:rPr>
              <a:t> según el estímulo.</a:t>
            </a:r>
            <a:endParaRPr lang="es-AR" sz="1650" dirty="0">
              <a:latin typeface="Bahnschrift"/>
            </a:endParaRPr>
          </a:p>
        </p:txBody>
      </p:sp>
      <p:sp>
        <p:nvSpPr>
          <p:cNvPr id="22" name="Forma 25"/>
          <p:cNvSpPr/>
          <p:nvPr/>
        </p:nvSpPr>
        <p:spPr>
          <a:xfrm>
            <a:off x="6217920" y="3520440"/>
            <a:ext cx="5577840" cy="14630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Objetivo</a:t>
            </a:r>
            <a:r>
              <a:rPr lang="es-AR" sz="1650" dirty="0">
                <a:solidFill>
                  <a:srgbClr val="1E1E1E"/>
                </a:solidFill>
                <a:latin typeface="Bahnschrift"/>
                <a:ea typeface="Bahnschrift"/>
                <a:cs typeface="Bahnschrift"/>
                <a:sym typeface="Bahnschrift"/>
              </a:rPr>
              <a:t>: garantizar combustible y </a:t>
            </a:r>
            <a:r>
              <a:rPr lang="es-AR" sz="1650" b="1" dirty="0">
                <a:solidFill>
                  <a:srgbClr val="1E1E1E"/>
                </a:solidFill>
                <a:latin typeface="Bahnschrift"/>
                <a:ea typeface="Bahnschrift"/>
                <a:cs typeface="Bahnschrift"/>
                <a:sym typeface="Bahnschrift"/>
              </a:rPr>
              <a:t>perfusión</a:t>
            </a:r>
            <a:r>
              <a:rPr lang="es-AR" sz="1650" dirty="0">
                <a:solidFill>
                  <a:srgbClr val="1E1E1E"/>
                </a:solidFill>
                <a:latin typeface="Bahnschrift"/>
                <a:ea typeface="Bahnschrift"/>
                <a:cs typeface="Bahnschrift"/>
                <a:sym typeface="Bahnschrift"/>
              </a:rPr>
              <a:t> a cerebro, corazón y músculo durante la amenaza.</a:t>
            </a:r>
            <a:endParaRPr lang="es-AR" sz="1650" dirty="0">
              <a:latin typeface="Bahnschrift"/>
            </a:endParaRPr>
          </a:p>
        </p:txBody>
      </p:sp>
      <p:sp>
        <p:nvSpPr>
          <p:cNvPr id="23" name="Perla"/>
          <p:cNvSpPr/>
          <p:nvPr/>
        </p:nvSpPr>
        <p:spPr>
          <a:xfrm>
            <a:off x="365760" y="5166360"/>
            <a:ext cx="11430000" cy="13258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FFFFFF"/>
                </a:solidFill>
                <a:latin typeface="Bahnschrift"/>
                <a:ea typeface="Bahnschrift"/>
                <a:cs typeface="Bahnschrift"/>
                <a:sym typeface="Bahnschrift"/>
              </a:rPr>
              <a:t>No confundir el </a:t>
            </a:r>
            <a:r>
              <a:rPr lang="es-AR" sz="1700" b="1" dirty="0">
                <a:solidFill>
                  <a:srgbClr val="FFFFFF"/>
                </a:solidFill>
                <a:latin typeface="Bahnschrift"/>
                <a:ea typeface="Bahnschrift"/>
                <a:cs typeface="Bahnschrift"/>
                <a:sym typeface="Bahnschrift"/>
              </a:rPr>
              <a:t>estrés agudo adaptativo</a:t>
            </a:r>
            <a:r>
              <a:rPr lang="es-AR" sz="1700" dirty="0">
                <a:solidFill>
                  <a:srgbClr val="FFFFFF"/>
                </a:solidFill>
                <a:latin typeface="Bahnschrift"/>
                <a:ea typeface="Bahnschrift"/>
                <a:cs typeface="Bahnschrift"/>
                <a:sym typeface="Bahnschrift"/>
              </a:rPr>
              <a:t> con el </a:t>
            </a:r>
            <a:r>
              <a:rPr lang="es-AR" sz="1700" b="1" dirty="0">
                <a:solidFill>
                  <a:srgbClr val="FFFFFF"/>
                </a:solidFill>
                <a:latin typeface="Bahnschrift"/>
                <a:ea typeface="Bahnschrift"/>
                <a:cs typeface="Bahnschrift"/>
                <a:sym typeface="Bahnschrift"/>
              </a:rPr>
              <a:t>estrés crónico</a:t>
            </a:r>
            <a:r>
              <a:rPr lang="es-AR" sz="1700" dirty="0">
                <a:solidFill>
                  <a:srgbClr val="FFFFFF"/>
                </a:solidFill>
                <a:latin typeface="Bahnschrift"/>
                <a:ea typeface="Bahnschrift"/>
                <a:cs typeface="Bahnschrift"/>
                <a:sym typeface="Bahnschrift"/>
              </a:rPr>
              <a:t>, que puede producir resistencia a la insulina, pérdida muscular, hígado graso y disfunción metabólica.</a:t>
            </a:r>
            <a:endParaRPr lang="es-AR" sz="170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779045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24 · ESTRÉS FISIOLÓGICO: DOS EJES Y DISTINTOS TIEMPOS</a:t>
            </a:r>
            <a:endParaRPr lang="es-AR" sz="2600" dirty="0">
              <a:latin typeface="Bahnschrift SemiBold Condensed"/>
            </a:endParaRPr>
          </a:p>
        </p:txBody>
      </p:sp>
      <p:sp>
        <p:nvSpPr>
          <p:cNvPr id="2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600"/>
                                        <p:tgtEl>
                                          <p:spTgt spid="10"/>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500"/>
                                        <p:tgtEl>
                                          <p:spTgt spid="11"/>
                                        </p:tgtEl>
                                      </p:cBhvr>
                                    </p:animEffect>
                                  </p:childTnLst>
                                </p:cTn>
                              </p:par>
                            </p:childTnLst>
                          </p:cTn>
                        </p:par>
                      </p:childTnLst>
                    </p:cTn>
                  </p:par>
                  <p:par>
                    <p:cTn id="28"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600"/>
                                        <p:tgtEl>
                                          <p:spTgt spid="12"/>
                                        </p:tgtEl>
                                      </p:cBhvr>
                                    </p:animEffect>
                                  </p:childTnLst>
                                </p:cTn>
                              </p:par>
                            </p:childTnLst>
                          </p:cTn>
                        </p:par>
                        <p:par>
                          <p:cTn id="27"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33" fill="hold">
                      <p:stCondLst>
                        <p:cond delay="indefinite"/>
                      </p:stCondLst>
                      <p:childTnLst>
                        <p:par>
                          <p:cTn id="32"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par>
                    <p:cTn id="42" fill="hold">
                      <p:stCondLst>
                        <p:cond delay="indefinite"/>
                      </p:stCondLst>
                      <p:childTnLst>
                        <p:par>
                          <p:cTn id="37"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wipe(left)">
                                      <p:cBhvr>
                                        <p:cTn id="36" dur="600"/>
                                        <p:tgtEl>
                                          <p:spTgt spid="16"/>
                                        </p:tgtEl>
                                      </p:cBhvr>
                                    </p:animEffect>
                                  </p:childTnLst>
                                </p:cTn>
                              </p:par>
                            </p:childTnLst>
                          </p:cTn>
                        </p:par>
                        <p:par>
                          <p:cTn id="41" fill="hold">
                            <p:stCondLst>
                              <p:cond delay="600"/>
                            </p:stCondLst>
                            <p:childTnLst>
                              <p:par>
                                <p:cTn id="38" presetID="10" presetClass="entr" presetSubtype="0" fill="hold" grpId="0" nodeType="after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childTnLst>
                          </p:cTn>
                        </p:par>
                      </p:childTnLst>
                    </p:cTn>
                  </p:par>
                  <p:par>
                    <p:cTn id="54" fill="hold">
                      <p:stCondLst>
                        <p:cond delay="indefinite"/>
                      </p:stCondLst>
                      <p:childTnLst>
                        <p:par>
                          <p:cTn id="46"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wipe(left)">
                                      <p:cBhvr>
                                        <p:cTn id="45" dur="600"/>
                                        <p:tgtEl>
                                          <p:spTgt spid="18"/>
                                        </p:tgtEl>
                                      </p:cBhvr>
                                    </p:animEffect>
                                  </p:childTnLst>
                                </p:cTn>
                              </p:par>
                            </p:childTnLst>
                          </p:cTn>
                        </p:par>
                        <p:par>
                          <p:cTn id="53" fill="hold">
                            <p:stCondLst>
                              <p:cond delay="600"/>
                            </p:stCondLst>
                            <p:childTnLst>
                              <p:par>
                                <p:cTn id="47" presetID="10" presetClass="entr" presetSubtype="0" fill="hold" grpId="0"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9" fill="hold">
                      <p:stCondLst>
                        <p:cond delay="indefinite"/>
                      </p:stCondLst>
                      <p:childTnLst>
                        <p:par>
                          <p:cTn id="58"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64" fill="hold">
                      <p:stCondLst>
                        <p:cond delay="indefinite"/>
                      </p:stCondLst>
                      <p:childTnLst>
                        <p:par>
                          <p:cTn id="63"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fade">
                                      <p:cBhvr>
                                        <p:cTn id="62" dur="500"/>
                                        <p:tgtEl>
                                          <p:spTgt spid="22"/>
                                        </p:tgtEl>
                                      </p:cBhvr>
                                    </p:animEffect>
                                  </p:childTnLst>
                                </p:cTn>
                              </p:par>
                            </p:childTnLst>
                          </p:cTn>
                        </p:par>
                      </p:childTnLst>
                    </p:cTn>
                  </p:par>
                  <p:par>
                    <p:cTn id="69" fill="hold">
                      <p:stCondLst>
                        <p:cond delay="indefinite"/>
                      </p:stCondLst>
                      <p:childTnLst>
                        <p:par>
                          <p:cTn id="68"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Lst>
  </p:timing>
</p:sld>
</file>

<file path=ppt/slides/slide136.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grpSp>
        <p:nvGrpSpPr>
          <p:cNvPr id="4" name="Tile HÍGADO"/>
          <p:cNvGrpSpPr/>
          <p:nvPr/>
        </p:nvGrpSpPr>
        <p:grpSpPr>
          <a:xfrm>
            <a:off x="365760" y="1005840"/>
            <a:ext cx="3749040" cy="2651760"/>
            <a:chOff x="365760" y="1005840"/>
            <a:chExt cx="3749040" cy="2651760"/>
          </a:xfrm>
        </p:grpSpPr>
        <p:sp>
          <p:nvSpPr>
            <p:cNvPr id="5" name="Forma 4"/>
            <p:cNvSpPr/>
            <p:nvPr/>
          </p:nvSpPr>
          <p:spPr>
            <a:xfrm>
              <a:off x="365760" y="1005840"/>
              <a:ext cx="374904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6" name="Ícono hígado"/>
            <p:cNvGrpSpPr/>
            <p:nvPr/>
          </p:nvGrpSpPr>
          <p:grpSpPr>
            <a:xfrm>
              <a:off x="457200" y="1209294"/>
              <a:ext cx="868680" cy="613983"/>
              <a:chOff x="457200" y="1209294"/>
              <a:chExt cx="868680" cy="613983"/>
            </a:xfrm>
          </p:grpSpPr>
          <p:sp>
            <p:nvSpPr>
              <p:cNvPr id="7" name="Vesícula biliar"/>
              <p:cNvSpPr/>
              <p:nvPr/>
            </p:nvSpPr>
            <p:spPr>
              <a:xfrm>
                <a:off x="691744" y="1629388"/>
                <a:ext cx="112928" cy="193889"/>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8" name="Forma 7"/>
              <p:cNvSpPr/>
              <p:nvPr/>
            </p:nvSpPr>
            <p:spPr>
              <a:xfrm>
                <a:off x="457200" y="1209294"/>
                <a:ext cx="868680" cy="53858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9" name="Forma 8"/>
              <p:cNvSpPr/>
              <p:nvPr/>
            </p:nvSpPr>
            <p:spPr>
              <a:xfrm>
                <a:off x="457200" y="1209294"/>
                <a:ext cx="868680" cy="53858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0" name="Forma 9"/>
              <p:cNvSpPr/>
              <p:nvPr/>
            </p:nvSpPr>
            <p:spPr>
              <a:xfrm>
                <a:off x="457200" y="1209294"/>
                <a:ext cx="868680" cy="53858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1" name="Forma 10"/>
            <p:cNvSpPr txBox="1"/>
            <p:nvPr/>
          </p:nvSpPr>
          <p:spPr>
            <a:xfrm>
              <a:off x="1463040"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HÍGADO</a:t>
              </a:r>
              <a:endParaRPr lang="es-AR" sz="1550" dirty="0">
                <a:latin typeface="Bahnschrift SemiBold Condensed"/>
              </a:endParaRPr>
            </a:p>
          </p:txBody>
        </p:sp>
        <p:sp>
          <p:nvSpPr>
            <p:cNvPr id="12" name="Forma 11"/>
            <p:cNvSpPr txBox="1"/>
            <p:nvPr/>
          </p:nvSpPr>
          <p:spPr>
            <a:xfrm>
              <a:off x="502920" y="2103120"/>
              <a:ext cx="347472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Catecolaminas y glucagón: </a:t>
              </a:r>
              <a:r>
                <a:rPr lang="es-AR" sz="1550" b="1" dirty="0">
                  <a:solidFill>
                    <a:srgbClr val="1E1E1E"/>
                  </a:solidFill>
                  <a:latin typeface="Bahnschrift"/>
                  <a:ea typeface="Bahnschrift"/>
                  <a:cs typeface="Bahnschrift"/>
                  <a:sym typeface="Bahnschrift"/>
                </a:rPr>
                <a:t>glucogenólisis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Cortisol: ↑ capacidad de </a:t>
              </a:r>
              <a:r>
                <a:rPr lang="es-AR" sz="1550" b="1" dirty="0">
                  <a:solidFill>
                    <a:srgbClr val="1E1E1E"/>
                  </a:solidFill>
                  <a:latin typeface="Bahnschrift"/>
                  <a:ea typeface="Bahnschrift"/>
                  <a:cs typeface="Bahnschrift"/>
                  <a:sym typeface="Bahnschrift"/>
                </a:rPr>
                <a:t>GNG</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Sustratos: lactato, alanina, glicerol</a:t>
              </a:r>
              <a:endParaRPr lang="es-AR" sz="1550" dirty="0">
                <a:latin typeface="Bahnschrift"/>
              </a:endParaRPr>
            </a:p>
          </p:txBody>
        </p:sp>
      </p:grpSp>
      <p:grpSp>
        <p:nvGrpSpPr>
          <p:cNvPr id="13" name="Tile MÚSCULO"/>
          <p:cNvGrpSpPr/>
          <p:nvPr/>
        </p:nvGrpSpPr>
        <p:grpSpPr>
          <a:xfrm>
            <a:off x="4224528" y="1005840"/>
            <a:ext cx="3749040" cy="2651760"/>
            <a:chOff x="4224528" y="1005840"/>
            <a:chExt cx="3749040" cy="2651760"/>
          </a:xfrm>
        </p:grpSpPr>
        <p:sp>
          <p:nvSpPr>
            <p:cNvPr id="14" name="Forma 13"/>
            <p:cNvSpPr/>
            <p:nvPr/>
          </p:nvSpPr>
          <p:spPr>
            <a:xfrm>
              <a:off x="4224528" y="1005840"/>
              <a:ext cx="3749040" cy="2651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15" name="Ícono músculo"/>
            <p:cNvGrpSpPr/>
            <p:nvPr/>
          </p:nvGrpSpPr>
          <p:grpSpPr>
            <a:xfrm>
              <a:off x="4315968" y="1252728"/>
              <a:ext cx="868680" cy="284927"/>
              <a:chOff x="4315968" y="1252728"/>
              <a:chExt cx="868680" cy="284927"/>
            </a:xfrm>
          </p:grpSpPr>
          <p:grpSp>
            <p:nvGrpSpPr>
              <p:cNvPr id="16" name="Fibra"/>
              <p:cNvGrpSpPr/>
              <p:nvPr/>
            </p:nvGrpSpPr>
            <p:grpSpPr>
              <a:xfrm>
                <a:off x="4315968" y="1252728"/>
                <a:ext cx="833933" cy="138989"/>
                <a:chOff x="4315968" y="1252728"/>
                <a:chExt cx="833933" cy="138989"/>
              </a:xfrm>
            </p:grpSpPr>
            <p:sp>
              <p:nvSpPr>
                <p:cNvPr id="17" name="Forma 16"/>
                <p:cNvSpPr/>
                <p:nvPr/>
              </p:nvSpPr>
              <p:spPr>
                <a:xfrm>
                  <a:off x="4315968" y="1252728"/>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8" name="Forma 17"/>
                <p:cNvSpPr/>
                <p:nvPr/>
              </p:nvSpPr>
              <p:spPr>
                <a:xfrm>
                  <a:off x="4350715" y="1252728"/>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19" name="Forma 18"/>
                <p:cNvSpPr/>
                <p:nvPr/>
              </p:nvSpPr>
              <p:spPr>
                <a:xfrm>
                  <a:off x="4482755"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19"/>
                <p:cNvSpPr/>
                <p:nvPr/>
              </p:nvSpPr>
              <p:spPr>
                <a:xfrm>
                  <a:off x="4774631"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1" name="Forma 20"/>
                <p:cNvSpPr/>
                <p:nvPr/>
              </p:nvSpPr>
              <p:spPr>
                <a:xfrm>
                  <a:off x="5024811"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2" name="Forma 21"/>
                <p:cNvSpPr/>
                <p:nvPr/>
              </p:nvSpPr>
              <p:spPr>
                <a:xfrm>
                  <a:off x="5091526" y="1258288"/>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3" name="Fibra_2"/>
              <p:cNvGrpSpPr/>
              <p:nvPr/>
            </p:nvGrpSpPr>
            <p:grpSpPr>
              <a:xfrm>
                <a:off x="4350715" y="1398666"/>
                <a:ext cx="833933" cy="138989"/>
                <a:chOff x="4350715" y="1398666"/>
                <a:chExt cx="833933" cy="138989"/>
              </a:xfrm>
            </p:grpSpPr>
            <p:sp>
              <p:nvSpPr>
                <p:cNvPr id="24" name="Forma 23"/>
                <p:cNvSpPr/>
                <p:nvPr/>
              </p:nvSpPr>
              <p:spPr>
                <a:xfrm>
                  <a:off x="4350715" y="1398666"/>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5" name="Forma 24"/>
                <p:cNvSpPr/>
                <p:nvPr/>
              </p:nvSpPr>
              <p:spPr>
                <a:xfrm>
                  <a:off x="4385462" y="1398666"/>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26" name="Forma 25"/>
                <p:cNvSpPr/>
                <p:nvPr/>
              </p:nvSpPr>
              <p:spPr>
                <a:xfrm>
                  <a:off x="4517502"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6"/>
                <p:cNvSpPr/>
                <p:nvPr/>
              </p:nvSpPr>
              <p:spPr>
                <a:xfrm>
                  <a:off x="4809378"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8" name="Forma 27"/>
                <p:cNvSpPr/>
                <p:nvPr/>
              </p:nvSpPr>
              <p:spPr>
                <a:xfrm>
                  <a:off x="5059558"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5126273" y="1404226"/>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0" name="Forma 29"/>
            <p:cNvSpPr txBox="1"/>
            <p:nvPr/>
          </p:nvSpPr>
          <p:spPr>
            <a:xfrm>
              <a:off x="5321808"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MÚSCULO</a:t>
              </a:r>
              <a:endParaRPr lang="es-AR" sz="1550" dirty="0">
                <a:latin typeface="Bahnschrift SemiBold Condensed"/>
              </a:endParaRPr>
            </a:p>
          </p:txBody>
        </p:sp>
        <p:sp>
          <p:nvSpPr>
            <p:cNvPr id="31" name="Forma 30"/>
            <p:cNvSpPr txBox="1"/>
            <p:nvPr/>
          </p:nvSpPr>
          <p:spPr>
            <a:xfrm>
              <a:off x="4361688" y="2103120"/>
              <a:ext cx="347472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Adrenalina y Ca</a:t>
              </a:r>
              <a:r>
                <a:rPr lang="es-AR" sz="1550" baseline="30000" dirty="0">
                  <a:solidFill>
                    <a:srgbClr val="1E1E1E"/>
                  </a:solidFill>
                  <a:latin typeface="Bahnschrift"/>
                  <a:ea typeface="Bahnschrift"/>
                  <a:cs typeface="Bahnschrift"/>
                  <a:sym typeface="Bahnschrift"/>
                </a:rPr>
                <a:t>2+</a:t>
              </a:r>
              <a:r>
                <a:rPr lang="es-AR" sz="1550" dirty="0">
                  <a:solidFill>
                    <a:srgbClr val="1E1E1E"/>
                  </a:solidFill>
                  <a:latin typeface="Bahnschrift"/>
                  <a:ea typeface="Bahnschrift"/>
                  <a:cs typeface="Bahnschrift"/>
                  <a:sym typeface="Bahnschrift"/>
                </a:rPr>
                <a:t>: glucogenólisis</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Cortisol sostenido: </a:t>
              </a:r>
              <a:r>
                <a:rPr lang="es-AR" sz="1550" b="1" dirty="0">
                  <a:solidFill>
                    <a:srgbClr val="1E1E1E"/>
                  </a:solidFill>
                  <a:latin typeface="Bahnschrift"/>
                  <a:ea typeface="Bahnschrift"/>
                  <a:cs typeface="Bahnschrift"/>
                  <a:sym typeface="Bahnschrift"/>
                </a:rPr>
                <a:t>proteólisis</a:t>
              </a:r>
              <a:r>
                <a:rPr lang="es-AR" sz="1550" dirty="0">
                  <a:solidFill>
                    <a:srgbClr val="1E1E1E"/>
                  </a:solidFill>
                  <a:latin typeface="Bahnschrift"/>
                  <a:ea typeface="Bahnschrift"/>
                  <a:cs typeface="Bahnschrift"/>
                  <a:sym typeface="Bahnschrift"/>
                </a:rPr>
                <a:t> → alanina y glutamina</a:t>
              </a:r>
              <a:endParaRPr lang="es-AR" sz="1550" dirty="0">
                <a:latin typeface="Bahnschrift"/>
              </a:endParaRPr>
            </a:p>
          </p:txBody>
        </p:sp>
      </p:grpSp>
      <p:grpSp>
        <p:nvGrpSpPr>
          <p:cNvPr id="32" name="Tile MIOCARDIO"/>
          <p:cNvGrpSpPr/>
          <p:nvPr/>
        </p:nvGrpSpPr>
        <p:grpSpPr>
          <a:xfrm>
            <a:off x="8083296" y="1005840"/>
            <a:ext cx="3749040" cy="2651760"/>
            <a:chOff x="8083296" y="1005840"/>
            <a:chExt cx="3749040" cy="2651760"/>
          </a:xfrm>
        </p:grpSpPr>
        <p:sp>
          <p:nvSpPr>
            <p:cNvPr id="33" name="Forma 32"/>
            <p:cNvSpPr/>
            <p:nvPr/>
          </p:nvSpPr>
          <p:spPr>
            <a:xfrm>
              <a:off x="8083296" y="1005840"/>
              <a:ext cx="3749040" cy="265176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sp>
        <p:grpSp>
          <p:nvGrpSpPr>
            <p:cNvPr id="34" name="Ícono corazón"/>
            <p:cNvGrpSpPr/>
            <p:nvPr/>
          </p:nvGrpSpPr>
          <p:grpSpPr>
            <a:xfrm>
              <a:off x="8278978" y="1096366"/>
              <a:ext cx="651510" cy="684085"/>
              <a:chOff x="8278978" y="1096366"/>
              <a:chExt cx="651510" cy="684085"/>
            </a:xfrm>
          </p:grpSpPr>
          <p:sp>
            <p:nvSpPr>
              <p:cNvPr id="35" name="Forma 34"/>
              <p:cNvSpPr/>
              <p:nvPr/>
            </p:nvSpPr>
            <p:spPr>
              <a:xfrm>
                <a:off x="8278978" y="1096366"/>
                <a:ext cx="651510" cy="684085"/>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36" name="Forma 35"/>
              <p:cNvSpPr/>
              <p:nvPr/>
            </p:nvSpPr>
            <p:spPr>
              <a:xfrm>
                <a:off x="8278978" y="1096366"/>
                <a:ext cx="651510" cy="684085"/>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sp>
          <p:nvSpPr>
            <p:cNvPr id="37" name="Forma 36"/>
            <p:cNvSpPr txBox="1"/>
            <p:nvPr/>
          </p:nvSpPr>
          <p:spPr>
            <a:xfrm>
              <a:off x="9180576"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MIOCARDIO</a:t>
              </a:r>
              <a:endParaRPr lang="es-AR" sz="1550" dirty="0">
                <a:latin typeface="Bahnschrift SemiBold Condensed"/>
              </a:endParaRPr>
            </a:p>
          </p:txBody>
        </p:sp>
        <p:sp>
          <p:nvSpPr>
            <p:cNvPr id="38" name="Forma 37"/>
            <p:cNvSpPr txBox="1"/>
            <p:nvPr/>
          </p:nvSpPr>
          <p:spPr>
            <a:xfrm>
              <a:off x="8220456" y="2103120"/>
              <a:ext cx="347472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 trabajo y consumo de O</a:t>
              </a:r>
              <a:r>
                <a:rPr lang="es-AR" sz="1550" baseline="-25000" dirty="0">
                  <a:solidFill>
                    <a:srgbClr val="1E1E1E"/>
                  </a:solidFill>
                  <a:latin typeface="Bahnschrift"/>
                  <a:ea typeface="Bahnschrift"/>
                  <a:cs typeface="Bahnschrift"/>
                  <a:sym typeface="Bahnschrift"/>
                </a:rPr>
                <a:t>2</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Oxida AG/lactato/glucosa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 cronotropismo e inotropismo</a:t>
              </a:r>
              <a:endParaRPr lang="es-AR" sz="1550" dirty="0">
                <a:latin typeface="Bahnschrift"/>
              </a:endParaRPr>
            </a:p>
          </p:txBody>
        </p:sp>
      </p:grpSp>
      <p:grpSp>
        <p:nvGrpSpPr>
          <p:cNvPr id="39" name="Tile ADIPOSO"/>
          <p:cNvGrpSpPr/>
          <p:nvPr/>
        </p:nvGrpSpPr>
        <p:grpSpPr>
          <a:xfrm>
            <a:off x="365760" y="3767328"/>
            <a:ext cx="3749040" cy="2651760"/>
            <a:chOff x="365760" y="3767328"/>
            <a:chExt cx="3749040" cy="2651760"/>
          </a:xfrm>
        </p:grpSpPr>
        <p:sp>
          <p:nvSpPr>
            <p:cNvPr id="40" name="Forma 39"/>
            <p:cNvSpPr/>
            <p:nvPr/>
          </p:nvSpPr>
          <p:spPr>
            <a:xfrm>
              <a:off x="365760" y="3767328"/>
              <a:ext cx="3749040" cy="2651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grpSp>
          <p:nvGrpSpPr>
            <p:cNvPr id="41" name="Ícono adiposo"/>
            <p:cNvGrpSpPr/>
            <p:nvPr/>
          </p:nvGrpSpPr>
          <p:grpSpPr>
            <a:xfrm>
              <a:off x="544068" y="3883914"/>
              <a:ext cx="694944" cy="694944"/>
              <a:chOff x="544068" y="3883914"/>
              <a:chExt cx="694944" cy="694944"/>
            </a:xfrm>
          </p:grpSpPr>
          <p:sp>
            <p:nvSpPr>
              <p:cNvPr id="42" name="Forma 41"/>
              <p:cNvSpPr/>
              <p:nvPr/>
            </p:nvSpPr>
            <p:spPr>
              <a:xfrm>
                <a:off x="544068" y="3883914"/>
                <a:ext cx="694944" cy="694944"/>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3" name="Gota lipídica"/>
              <p:cNvSpPr/>
              <p:nvPr/>
            </p:nvSpPr>
            <p:spPr>
              <a:xfrm>
                <a:off x="578815" y="3918661"/>
                <a:ext cx="625450" cy="625450"/>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4" name="Forma 43"/>
              <p:cNvSpPr/>
              <p:nvPr/>
            </p:nvSpPr>
            <p:spPr>
              <a:xfrm rot="2400000">
                <a:off x="1044428" y="3925611"/>
                <a:ext cx="152888" cy="8339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5" name="Mitocondria"/>
              <p:cNvGrpSpPr/>
              <p:nvPr/>
            </p:nvGrpSpPr>
            <p:grpSpPr>
              <a:xfrm>
                <a:off x="599664" y="4398173"/>
                <a:ext cx="69494" cy="34747"/>
                <a:chOff x="599664" y="4398173"/>
                <a:chExt cx="69494" cy="34747"/>
              </a:xfrm>
            </p:grpSpPr>
            <p:sp>
              <p:nvSpPr>
                <p:cNvPr id="46" name="Forma 45"/>
                <p:cNvSpPr/>
                <p:nvPr/>
              </p:nvSpPr>
              <p:spPr>
                <a:xfrm rot="-2400000">
                  <a:off x="599664" y="4398173"/>
                  <a:ext cx="69494" cy="34747"/>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7" name="Forma 46"/>
                <p:cNvSpPr/>
                <p:nvPr/>
              </p:nvSpPr>
              <p:spPr>
                <a:xfrm rot="-2400000">
                  <a:off x="604528" y="4403037"/>
                  <a:ext cx="59765" cy="25018"/>
                </a:xfrm>
                <a:prstGeom prst="ellipse">
                  <a:avLst/>
                </a:prstGeom>
                <a:solidFill>
                  <a:srgbClr val="F8D8B4"/>
                </a:solidFill>
                <a:ln w="9525" cap="rnd">
                  <a:solidFill>
                    <a:srgbClr val="B2732B"/>
                  </a:solidFill>
                  <a:round/>
                </a:ln>
              </p:spPr>
            </p:sp>
            <p:sp>
              <p:nvSpPr>
                <p:cNvPr id="48" name="Forma 47"/>
                <p:cNvSpPr/>
                <p:nvPr/>
              </p:nvSpPr>
              <p:spPr>
                <a:xfrm rot="-2400000">
                  <a:off x="604528" y="4403037"/>
                  <a:ext cx="59765" cy="2501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49" name="Forma 48"/>
            <p:cNvSpPr txBox="1"/>
            <p:nvPr/>
          </p:nvSpPr>
          <p:spPr>
            <a:xfrm>
              <a:off x="1463040"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ADIPOSO</a:t>
              </a:r>
              <a:endParaRPr lang="es-AR" sz="1550" dirty="0">
                <a:latin typeface="Bahnschrift SemiBold Condensed"/>
              </a:endParaRPr>
            </a:p>
          </p:txBody>
        </p:sp>
        <p:sp>
          <p:nvSpPr>
            <p:cNvPr id="50" name="Forma 49"/>
            <p:cNvSpPr txBox="1"/>
            <p:nvPr/>
          </p:nvSpPr>
          <p:spPr>
            <a:xfrm>
              <a:off x="502920" y="4864608"/>
              <a:ext cx="347472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b="1" dirty="0">
                  <a:solidFill>
                    <a:srgbClr val="1E1E1E"/>
                  </a:solidFill>
                  <a:latin typeface="Bahnschrift"/>
                  <a:ea typeface="Bahnschrift"/>
                  <a:cs typeface="Bahnschrift"/>
                  <a:sym typeface="Bahnschrift"/>
                </a:rPr>
                <a:t>Lipólisis</a:t>
              </a:r>
              <a:r>
                <a:rPr lang="es-AR" sz="1550" dirty="0">
                  <a:solidFill>
                    <a:srgbClr val="1E1E1E"/>
                  </a:solidFill>
                  <a:latin typeface="Bahnschrift"/>
                  <a:ea typeface="Bahnschrift"/>
                  <a:cs typeface="Bahnschrift"/>
                  <a:sym typeface="Bahnschrift"/>
                </a:rPr>
                <a:t> β-adrenérgica (AMPc–PKA), modulada por α</a:t>
              </a:r>
              <a:r>
                <a:rPr lang="es-AR" sz="1550" baseline="-25000" dirty="0">
                  <a:solidFill>
                    <a:srgbClr val="1E1E1E"/>
                  </a:solidFill>
                  <a:latin typeface="Bahnschrift"/>
                  <a:ea typeface="Bahnschrift"/>
                  <a:cs typeface="Bahnschrift"/>
                  <a:sym typeface="Bahnschrift"/>
                </a:rPr>
                <a:t>2</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La insulina contrarregula</a:t>
              </a:r>
              <a:endParaRPr lang="es-AR" sz="1550" dirty="0">
                <a:latin typeface="Bahnschrift"/>
              </a:endParaRPr>
            </a:p>
          </p:txBody>
        </p:sp>
      </p:grpSp>
      <p:grpSp>
        <p:nvGrpSpPr>
          <p:cNvPr id="51" name="Tile SNC"/>
          <p:cNvGrpSpPr/>
          <p:nvPr/>
        </p:nvGrpSpPr>
        <p:grpSpPr>
          <a:xfrm>
            <a:off x="4224528" y="3767328"/>
            <a:ext cx="3749040" cy="2651760"/>
            <a:chOff x="4224528" y="3767328"/>
            <a:chExt cx="3749040" cy="2651760"/>
          </a:xfrm>
        </p:grpSpPr>
        <p:sp>
          <p:nvSpPr>
            <p:cNvPr id="52" name="Forma 51"/>
            <p:cNvSpPr/>
            <p:nvPr/>
          </p:nvSpPr>
          <p:spPr>
            <a:xfrm>
              <a:off x="4224528" y="3767328"/>
              <a:ext cx="3749040" cy="26517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sp>
        <p:grpSp>
          <p:nvGrpSpPr>
            <p:cNvPr id="53" name="Ícono cerebro"/>
            <p:cNvGrpSpPr/>
            <p:nvPr/>
          </p:nvGrpSpPr>
          <p:grpSpPr>
            <a:xfrm>
              <a:off x="4315968" y="3927348"/>
              <a:ext cx="868680" cy="677570"/>
              <a:chOff x="4315968" y="3927348"/>
              <a:chExt cx="868680" cy="677570"/>
            </a:xfrm>
          </p:grpSpPr>
          <p:sp>
            <p:nvSpPr>
              <p:cNvPr id="54" name="Cerebelo"/>
              <p:cNvSpPr/>
              <p:nvPr/>
            </p:nvSpPr>
            <p:spPr>
              <a:xfrm>
                <a:off x="4315968" y="3927348"/>
                <a:ext cx="868680" cy="677570"/>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55" name="Forma 54"/>
              <p:cNvSpPr/>
              <p:nvPr/>
            </p:nvSpPr>
            <p:spPr>
              <a:xfrm>
                <a:off x="4315968" y="3927348"/>
                <a:ext cx="868680" cy="677570"/>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56" name="Forma 55"/>
              <p:cNvSpPr/>
              <p:nvPr/>
            </p:nvSpPr>
            <p:spPr>
              <a:xfrm>
                <a:off x="4315968" y="3927348"/>
                <a:ext cx="868680" cy="677570"/>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57" name="Forma 56"/>
              <p:cNvSpPr/>
              <p:nvPr/>
            </p:nvSpPr>
            <p:spPr>
              <a:xfrm>
                <a:off x="4315968" y="3927348"/>
                <a:ext cx="868680" cy="677570"/>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58" name="Forma 57"/>
            <p:cNvSpPr txBox="1"/>
            <p:nvPr/>
          </p:nvSpPr>
          <p:spPr>
            <a:xfrm>
              <a:off x="5321808"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SNC</a:t>
              </a:r>
              <a:endParaRPr lang="es-AR" sz="1550" dirty="0">
                <a:latin typeface="Bahnschrift SemiBold Condensed"/>
              </a:endParaRPr>
            </a:p>
          </p:txBody>
        </p:sp>
        <p:sp>
          <p:nvSpPr>
            <p:cNvPr id="59" name="Forma 58"/>
            <p:cNvSpPr txBox="1"/>
            <p:nvPr/>
          </p:nvSpPr>
          <p:spPr>
            <a:xfrm>
              <a:off x="4361688" y="4864608"/>
              <a:ext cx="3474720" cy="1463040"/>
            </a:xfrm>
            <a:prstGeom prst="rect">
              <a:avLst/>
            </a:prstGeom>
            <a:noFill/>
            <a:ln>
              <a:noFill/>
            </a:ln>
          </p:spPr>
          <p:txBody>
            <a:bodyPr wrap="square" lIns="0" tIns="0" rIns="0" bIns="0" anchor="t" rtlCol="0">
              <a:noAutofit/>
            </a:bodyPr>
            <a:lstStyle/>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Mantener </a:t>
              </a:r>
              <a:r>
                <a:rPr lang="es-AR" sz="1550" b="1" dirty="0">
                  <a:solidFill>
                    <a:srgbClr val="1E1E1E"/>
                  </a:solidFill>
                  <a:latin typeface="Bahnschrift"/>
                  <a:ea typeface="Bahnschrift"/>
                  <a:cs typeface="Bahnschrift"/>
                  <a:sym typeface="Bahnschrift"/>
                </a:rPr>
                <a:t>glucosa</a:t>
              </a:r>
              <a:r>
                <a:rPr lang="es-AR" sz="1550" dirty="0">
                  <a:solidFill>
                    <a:srgbClr val="1E1E1E"/>
                  </a:solidFill>
                  <a:latin typeface="Bahnschrift"/>
                  <a:ea typeface="Bahnschrift"/>
                  <a:cs typeface="Bahnschrift"/>
                  <a:sym typeface="Bahnschrift"/>
                </a:rPr>
                <a:t> cerebral y alerta</a:t>
              </a:r>
              <a:endParaRPr lang="es-AR" sz="1550" dirty="0">
                <a:latin typeface="Bahnschrift"/>
              </a:endParaRPr>
            </a:p>
            <a:p>
              <a:pPr algn="l" marL="147637" indent="-147637">
                <a:spcAft>
                  <a:spcPts val="200"/>
                </a:spcAft>
                <a:buClr>
                  <a:srgbClr val="1E1E1E"/>
                </a:buClr>
                <a:buFont typeface="Arial"/>
                <a:buChar char="•"/>
              </a:pPr>
              <a:r>
                <a:rPr lang="es-AR" sz="1550" dirty="0">
                  <a:solidFill>
                    <a:srgbClr val="1E1E1E"/>
                  </a:solidFill>
                  <a:latin typeface="Bahnschrift"/>
                  <a:ea typeface="Bahnschrift"/>
                  <a:cs typeface="Bahnschrift"/>
                  <a:sym typeface="Bahnschrift"/>
                </a:rPr>
                <a:t>Exceso crónico de cortisol: sueño, apetito</a:t>
              </a:r>
              <a:endParaRPr lang="es-AR" sz="1550" dirty="0">
                <a:latin typeface="Bahnschrift"/>
              </a:endParaRPr>
            </a:p>
          </p:txBody>
        </p:sp>
      </p:grpSp>
      <p:grpSp>
        <p:nvGrpSpPr>
          <p:cNvPr id="60" name="Tile SUPRARRENAL"/>
          <p:cNvGrpSpPr/>
          <p:nvPr/>
        </p:nvGrpSpPr>
        <p:grpSpPr>
          <a:xfrm>
            <a:off x="8083296" y="3767328"/>
            <a:ext cx="3749040" cy="2651760"/>
            <a:chOff x="8083296" y="3767328"/>
            <a:chExt cx="3749040" cy="2651760"/>
          </a:xfrm>
        </p:grpSpPr>
        <p:sp>
          <p:nvSpPr>
            <p:cNvPr id="61" name="Forma 60"/>
            <p:cNvSpPr/>
            <p:nvPr/>
          </p:nvSpPr>
          <p:spPr>
            <a:xfrm>
              <a:off x="8083296" y="3767328"/>
              <a:ext cx="374904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sp>
          <p:nvSpPr>
            <p:cNvPr id="62" name="Ícono suprarrenal"/>
            <p:cNvSpPr/>
            <p:nvPr/>
          </p:nvSpPr>
          <p:spPr>
            <a:xfrm>
              <a:off x="8261604" y="3927348"/>
              <a:ext cx="694944" cy="651510"/>
            </a:xfrm>
            <a:custGeom>
              <a:avLst/>
              <a:gdLst/>
              <a:ahLst/>
              <a:cxnLst/>
              <a:rect l="0" t="0" r="r" b="b"/>
              <a:pathLst>
                <a:path w="1000" h="1000">
                  <a:moveTo>
                    <a:pt x="500" y="0"/>
                  </a:moveTo>
                  <a:cubicBezTo>
                    <a:pt x="633" y="0"/>
                    <a:pt x="841" y="333"/>
                    <a:pt x="900" y="500"/>
                  </a:cubicBezTo>
                  <a:cubicBezTo>
                    <a:pt x="958" y="666"/>
                    <a:pt x="975" y="916"/>
                    <a:pt x="850" y="1000"/>
                  </a:cubicBezTo>
                  <a:cubicBezTo>
                    <a:pt x="725" y="1083"/>
                    <a:pt x="275" y="1083"/>
                    <a:pt x="150" y="1000"/>
                  </a:cubicBezTo>
                  <a:cubicBezTo>
                    <a:pt x="25" y="916"/>
                    <a:pt x="41" y="666"/>
                    <a:pt x="100" y="500"/>
                  </a:cubicBezTo>
                  <a:cubicBezTo>
                    <a:pt x="158" y="333"/>
                    <a:pt x="366" y="0"/>
                    <a:pt x="500" y="0"/>
                  </a:cubicBezTo>
                  <a:close/>
                </a:path>
              </a:pathLst>
            </a:custGeom>
            <a:gradFill rotWithShape="1">
              <a:gsLst>
                <a:gs pos="0">
                  <a:srgbClr val="F9CF8D"/>
                </a:gs>
                <a:gs pos="55000">
                  <a:srgbClr val="F5B041"/>
                </a:gs>
                <a:gs pos="100000">
                  <a:srgbClr val="AB7B2D"/>
                </a:gs>
              </a:gsLst>
              <a:path path="circle">
                <a:fillToRect l="32000" t="28000" r="68000" b="72000"/>
              </a:path>
            </a:gradFill>
            <a:ln w="15875" cap="rnd">
              <a:solidFill>
                <a:srgbClr val="9C640C"/>
              </a:solidFill>
              <a:round/>
            </a:ln>
          </p:spPr>
        </p:sp>
        <p:sp>
          <p:nvSpPr>
            <p:cNvPr id="63" name="Forma 62"/>
            <p:cNvSpPr txBox="1"/>
            <p:nvPr/>
          </p:nvSpPr>
          <p:spPr>
            <a:xfrm>
              <a:off x="9180576"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SUPRARRENAL</a:t>
              </a:r>
              <a:endParaRPr lang="es-AR" sz="1550" dirty="0">
                <a:latin typeface="Bahnschrift SemiBold Condensed"/>
              </a:endParaRPr>
            </a:p>
          </p:txBody>
        </p:sp>
        <p:sp>
          <p:nvSpPr>
            <p:cNvPr id="64" name="Forma 63"/>
            <p:cNvSpPr txBox="1"/>
            <p:nvPr/>
          </p:nvSpPr>
          <p:spPr>
            <a:xfrm>
              <a:off x="8220456" y="4864608"/>
              <a:ext cx="3474720" cy="1463040"/>
            </a:xfrm>
            <a:prstGeom prst="rect">
              <a:avLst/>
            </a:prstGeom>
            <a:noFill/>
            <a:ln>
              <a:noFill/>
            </a:ln>
          </p:spPr>
          <p:txBody>
            <a:bodyPr wrap="square" lIns="0" tIns="0" rIns="0" bIns="0" anchor="t" rtlCol="0">
              <a:noAutofit/>
            </a:bodyPr>
            <a:lstStyle/>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Corteza: cortisol desde </a:t>
              </a:r>
              <a:r>
                <a:rPr lang="es-AR" sz="1500" b="1" dirty="0">
                  <a:solidFill>
                    <a:srgbClr val="1E1E1E"/>
                  </a:solidFill>
                  <a:latin typeface="Bahnschrift"/>
                  <a:ea typeface="Bahnschrift"/>
                  <a:cs typeface="Bahnschrift"/>
                  <a:sym typeface="Bahnschrift"/>
                </a:rPr>
                <a:t>colesterol</a:t>
              </a:r>
              <a:r>
                <a:rPr lang="es-AR" sz="1500" dirty="0">
                  <a:solidFill>
                    <a:srgbClr val="1E1E1E"/>
                  </a:solidFill>
                  <a:latin typeface="Bahnschrift"/>
                  <a:ea typeface="Bahnschrift"/>
                  <a:cs typeface="Bahnschrift"/>
                  <a:sym typeface="Bahnschrift"/>
                </a:rPr>
                <a:t> (StAR)</a:t>
              </a:r>
              <a:endParaRPr lang="es-AR" sz="1500" dirty="0">
                <a:latin typeface="Bahnschrift"/>
              </a:endParaRPr>
            </a:p>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Médula: catecolaminas desde </a:t>
              </a:r>
              <a:r>
                <a:rPr lang="es-AR" sz="1500" b="1" dirty="0">
                  <a:solidFill>
                    <a:srgbClr val="1E1E1E"/>
                  </a:solidFill>
                  <a:latin typeface="Bahnschrift"/>
                  <a:ea typeface="Bahnschrift"/>
                  <a:cs typeface="Bahnschrift"/>
                  <a:sym typeface="Bahnschrift"/>
                </a:rPr>
                <a:t>tirosina</a:t>
              </a:r>
              <a:endParaRPr lang="es-AR" sz="1500" dirty="0">
                <a:latin typeface="Bahnschrift"/>
              </a:endParaRPr>
            </a:p>
            <a:p>
              <a:pPr algn="l" marL="142875" indent="-142875">
                <a:spcAft>
                  <a:spcPts val="200"/>
                </a:spcAft>
                <a:buClr>
                  <a:srgbClr val="1E1E1E"/>
                </a:buClr>
                <a:buFont typeface="Arial"/>
                <a:buChar char="•"/>
              </a:pPr>
              <a:r>
                <a:rPr lang="es-AR" sz="1500" dirty="0">
                  <a:solidFill>
                    <a:srgbClr val="1E1E1E"/>
                  </a:solidFill>
                  <a:latin typeface="Bahnschrift"/>
                  <a:ea typeface="Bahnschrift"/>
                  <a:cs typeface="Bahnschrift"/>
                  <a:sym typeface="Bahnschrift"/>
                </a:rPr>
                <a:t>El cortisol induce </a:t>
              </a:r>
              <a:r>
                <a:rPr lang="es-AR" sz="1500" b="1" dirty="0">
                  <a:solidFill>
                    <a:srgbClr val="1E1E1E"/>
                  </a:solidFill>
                  <a:latin typeface="Bahnschrift"/>
                  <a:ea typeface="Bahnschrift"/>
                  <a:cs typeface="Bahnschrift"/>
                  <a:sym typeface="Bahnschrift"/>
                </a:rPr>
                <a:t>PNMT</a:t>
              </a:r>
              <a:r>
                <a:rPr lang="es-AR" sz="1500" dirty="0">
                  <a:solidFill>
                    <a:srgbClr val="1E1E1E"/>
                  </a:solidFill>
                  <a:latin typeface="Bahnschrift"/>
                  <a:ea typeface="Bahnschrift"/>
                  <a:cs typeface="Bahnschrift"/>
                  <a:sym typeface="Bahnschrift"/>
                </a:rPr>
                <a:t> → adrenalina</a:t>
              </a:r>
              <a:endParaRPr lang="es-AR" sz="1500" dirty="0">
                <a:latin typeface="Bahnschrift"/>
              </a:endParaRPr>
            </a:p>
          </p:txBody>
        </p:sp>
      </p:gr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69420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24 · ESTRÉS: RESPUESTA MULTIORGÁNICA</a:t>
            </a:r>
            <a:endParaRPr lang="es-AR" sz="2600" dirty="0">
              <a:latin typeface="Bahnschrift SemiBold Condensed"/>
            </a:endParaRPr>
          </a:p>
        </p:txBody>
      </p:sp>
      <p:sp>
        <p:nvSpPr>
          <p:cNvPr id="6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fade">
                                      <p:cBhvr>
                                        <p:cTn id="20" dur="500"/>
                                        <p:tgtEl>
                                          <p:spTgt spid="39"/>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500"/>
                                        <p:tgtEl>
                                          <p:spTgt spid="51"/>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0"/>
                                        </p:tgtEl>
                                        <p:attrNameLst>
                                          <p:attrName>style.visibility</p:attrName>
                                        </p:attrNameLst>
                                      </p:cBhvr>
                                      <p:to>
                                        <p:strVal val="visible"/>
                                      </p:to>
                                    </p:set>
                                    <p:animEffect transition="in" filter="fade">
                                      <p:cBhvr>
                                        <p:cTn id="30"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p="http://schemas.openxmlformats.org/presentationml/2006/main" xmlns:r="http://schemas.openxmlformats.org/officeDocument/2006/relationships">
  <p:cSld>
    <p:bg>
      <p:bgPr>
        <a:solidFill>
          <a:srgbClr val="FFF3A6"/>
        </a:solidFill>
        <a:effectLst/>
      </p:bgPr>
    </p:bg>
    <p:spTree>
      <p:nvGrpSpPr>
        <p:cNvPr id="1" name=""/>
        <p:cNvGrpSpPr/>
        <p:nvPr/>
      </p:nvGrpSpPr>
      <p:grpSpPr/>
      <p:sp>
        <p:nvSpPr>
          <p:cNvPr id="4" name="Forma 3"/>
          <p:cNvSpPr/>
          <p:nvPr/>
        </p:nvSpPr>
        <p:spPr>
          <a:xfrm>
            <a:off x="365760" y="1097280"/>
            <a:ext cx="2617470" cy="1280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50" dirty="0">
                <a:solidFill>
                  <a:srgbClr val="1E1E1E"/>
                </a:solidFill>
                <a:latin typeface="Bahnschrift"/>
                <a:ea typeface="Bahnschrift"/>
                <a:cs typeface="Bahnschrift"/>
                <a:sym typeface="Bahnschrift"/>
              </a:rPr>
              <a:t>Inflamación · cortisol · catecolaminas</a:t>
            </a:r>
            <a:endParaRPr lang="es-AR" sz="1450" dirty="0">
              <a:latin typeface="Bahnschrift"/>
            </a:endParaRPr>
          </a:p>
        </p:txBody>
      </p:sp>
      <p:sp>
        <p:nvSpPr>
          <p:cNvPr id="5" name="Flecha 4_2"/>
          <p:cNvSpPr/>
          <p:nvPr/>
        </p:nvSpPr>
        <p:spPr>
          <a:xfrm>
            <a:off x="3019806" y="1737360"/>
            <a:ext cx="246888" cy="9144"/>
          </a:xfrm>
          <a:custGeom>
            <a:avLst/>
            <a:gdLst/>
            <a:ahLst/>
            <a:cxnLst/>
            <a:rect l="0" t="0" r="r" b="b"/>
            <a:pathLst>
              <a:path w="270" h="10" fill="none">
                <a:moveTo>
                  <a:pt x="0" y="0"/>
                </a:moveTo>
                <a:lnTo>
                  <a:pt x="270" y="0"/>
                </a:lnTo>
              </a:path>
            </a:pathLst>
          </a:custGeom>
          <a:noFill/>
          <a:ln w="31750" cap="rnd">
            <a:solidFill>
              <a:srgbClr val="C00000"/>
            </a:solidFill>
            <a:round/>
            <a:tailEnd type="triangle" w="med" len="med"/>
          </a:ln>
        </p:spPr>
      </p:sp>
      <p:sp>
        <p:nvSpPr>
          <p:cNvPr id="6" name="Forma 6"/>
          <p:cNvSpPr/>
          <p:nvPr/>
        </p:nvSpPr>
        <p:spPr>
          <a:xfrm>
            <a:off x="3303270" y="1097280"/>
            <a:ext cx="2617470" cy="12801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50" dirty="0">
                <a:solidFill>
                  <a:srgbClr val="1E1E1E"/>
                </a:solidFill>
                <a:latin typeface="Bahnschrift"/>
                <a:ea typeface="Bahnschrift"/>
                <a:cs typeface="Bahnschrift"/>
                <a:sym typeface="Bahnschrift"/>
              </a:rPr>
              <a:t>Hiperglucemia de estrés</a:t>
            </a:r>
            <a:endParaRPr lang="es-AR" sz="1450" dirty="0">
              <a:latin typeface="Bahnschrift"/>
            </a:endParaRPr>
          </a:p>
        </p:txBody>
      </p:sp>
      <p:sp>
        <p:nvSpPr>
          <p:cNvPr id="7" name="Flecha 7_2"/>
          <p:cNvSpPr/>
          <p:nvPr/>
        </p:nvSpPr>
        <p:spPr>
          <a:xfrm>
            <a:off x="5957316" y="1737360"/>
            <a:ext cx="246888" cy="9144"/>
          </a:xfrm>
          <a:custGeom>
            <a:avLst/>
            <a:gdLst/>
            <a:ahLst/>
            <a:cxnLst/>
            <a:rect l="0" t="0" r="r" b="b"/>
            <a:pathLst>
              <a:path w="269" h="10" fill="none">
                <a:moveTo>
                  <a:pt x="0" y="0"/>
                </a:moveTo>
                <a:lnTo>
                  <a:pt x="269" y="0"/>
                </a:lnTo>
              </a:path>
            </a:pathLst>
          </a:custGeom>
          <a:noFill/>
          <a:ln w="31750" cap="rnd">
            <a:solidFill>
              <a:srgbClr val="C00000"/>
            </a:solidFill>
            <a:round/>
            <a:tailEnd type="triangle" w="med" len="med"/>
          </a:ln>
        </p:spPr>
      </p:sp>
      <p:sp>
        <p:nvSpPr>
          <p:cNvPr id="8" name="Forma 9"/>
          <p:cNvSpPr/>
          <p:nvPr/>
        </p:nvSpPr>
        <p:spPr>
          <a:xfrm>
            <a:off x="6240780" y="1097280"/>
            <a:ext cx="2617470" cy="128016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50" dirty="0">
                <a:solidFill>
                  <a:srgbClr val="1E1E1E"/>
                </a:solidFill>
                <a:latin typeface="Bahnschrift"/>
                <a:ea typeface="Bahnschrift"/>
                <a:cs typeface="Bahnschrift"/>
                <a:sym typeface="Bahnschrift"/>
              </a:rPr>
              <a:t>Proteólisis y resistencia a la insulina</a:t>
            </a:r>
            <a:endParaRPr lang="es-AR" sz="1450" dirty="0">
              <a:latin typeface="Bahnschrift"/>
            </a:endParaRPr>
          </a:p>
        </p:txBody>
      </p:sp>
      <p:sp>
        <p:nvSpPr>
          <p:cNvPr id="9" name="Flecha 10_2"/>
          <p:cNvSpPr/>
          <p:nvPr/>
        </p:nvSpPr>
        <p:spPr>
          <a:xfrm>
            <a:off x="8894826" y="1737360"/>
            <a:ext cx="246888" cy="9144"/>
          </a:xfrm>
          <a:custGeom>
            <a:avLst/>
            <a:gdLst/>
            <a:ahLst/>
            <a:cxnLst/>
            <a:rect l="0" t="0" r="r" b="b"/>
            <a:pathLst>
              <a:path w="270" h="10" fill="none">
                <a:moveTo>
                  <a:pt x="0" y="0"/>
                </a:moveTo>
                <a:lnTo>
                  <a:pt x="270" y="0"/>
                </a:lnTo>
              </a:path>
            </a:pathLst>
          </a:custGeom>
          <a:noFill/>
          <a:ln w="31750" cap="rnd">
            <a:solidFill>
              <a:srgbClr val="C00000"/>
            </a:solidFill>
            <a:round/>
            <a:tailEnd type="triangle" w="med" len="med"/>
          </a:ln>
        </p:spPr>
      </p:sp>
      <p:sp>
        <p:nvSpPr>
          <p:cNvPr id="10" name="Forma 12"/>
          <p:cNvSpPr/>
          <p:nvPr/>
        </p:nvSpPr>
        <p:spPr>
          <a:xfrm>
            <a:off x="9178290" y="1097280"/>
            <a:ext cx="2617470" cy="128016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50" dirty="0">
                <a:solidFill>
                  <a:srgbClr val="FFFFFF"/>
                </a:solidFill>
                <a:latin typeface="Bahnschrift"/>
                <a:ea typeface="Bahnschrift"/>
                <a:cs typeface="Bahnschrift"/>
                <a:sym typeface="Bahnschrift"/>
              </a:rPr>
              <a:t>Balance nitrogenado negativo</a:t>
            </a:r>
            <a:endParaRPr lang="es-AR" sz="1450" dirty="0">
              <a:latin typeface="Bahnschrift"/>
            </a:endParaRPr>
          </a:p>
        </p:txBody>
      </p:sp>
      <p:grpSp>
        <p:nvGrpSpPr>
          <p:cNvPr id="11" name="Recuadro Precisión"/>
          <p:cNvGrpSpPr/>
          <p:nvPr/>
        </p:nvGrpSpPr>
        <p:grpSpPr>
          <a:xfrm>
            <a:off x="365760" y="2743200"/>
            <a:ext cx="5577840" cy="2194560"/>
            <a:chOff x="365760" y="2743200"/>
            <a:chExt cx="5577840" cy="2194560"/>
          </a:xfrm>
        </p:grpSpPr>
        <p:sp>
          <p:nvSpPr>
            <p:cNvPr id="12" name="Forma 14"/>
            <p:cNvSpPr/>
            <p:nvPr/>
          </p:nvSpPr>
          <p:spPr>
            <a:xfrm>
              <a:off x="365760" y="2926080"/>
              <a:ext cx="5577840" cy="20116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La </a:t>
              </a:r>
              <a:r>
                <a:rPr lang="es-AR" sz="1750" b="1" dirty="0">
                  <a:solidFill>
                    <a:srgbClr val="1E1E1E"/>
                  </a:solidFill>
                  <a:latin typeface="Bahnschrift"/>
                  <a:ea typeface="Bahnschrift"/>
                  <a:cs typeface="Bahnschrift"/>
                  <a:sym typeface="Bahnschrift"/>
                </a:rPr>
                <a:t>glucemia</a:t>
              </a:r>
              <a:r>
                <a:rPr lang="es-AR" sz="1750" dirty="0">
                  <a:solidFill>
                    <a:srgbClr val="1E1E1E"/>
                  </a:solidFill>
                  <a:latin typeface="Bahnschrift"/>
                  <a:ea typeface="Bahnschrift"/>
                  <a:cs typeface="Bahnschrift"/>
                  <a:sym typeface="Bahnschrift"/>
                </a:rPr>
                <a:t> no revela necesariamente la disponibilidad energética </a:t>
              </a:r>
              <a:r>
                <a:rPr lang="es-AR" sz="1750" b="1" dirty="0">
                  <a:solidFill>
                    <a:srgbClr val="1E1E1E"/>
                  </a:solidFill>
                  <a:latin typeface="Bahnschrift"/>
                  <a:ea typeface="Bahnschrift"/>
                  <a:cs typeface="Bahnschrift"/>
                  <a:sym typeface="Bahnschrift"/>
                </a:rPr>
                <a:t>intracelular</a:t>
              </a:r>
              <a:r>
                <a:rPr lang="es-AR" sz="1750" dirty="0">
                  <a:solidFill>
                    <a:srgbClr val="1E1E1E"/>
                  </a:solidFill>
                  <a:latin typeface="Bahnschrift"/>
                  <a:ea typeface="Bahnschrift"/>
                  <a:cs typeface="Bahnschrift"/>
                  <a:sym typeface="Bahnschrift"/>
                </a:rPr>
                <a:t>, la </a:t>
              </a:r>
              <a:r>
                <a:rPr lang="es-AR" sz="1750" b="1" dirty="0">
                  <a:solidFill>
                    <a:srgbClr val="1E1E1E"/>
                  </a:solidFill>
                  <a:latin typeface="Bahnschrift"/>
                  <a:ea typeface="Bahnschrift"/>
                  <a:cs typeface="Bahnschrift"/>
                  <a:sym typeface="Bahnschrift"/>
                </a:rPr>
                <a:t>perfusión</a:t>
              </a:r>
              <a:r>
                <a:rPr lang="es-AR" sz="1750" dirty="0">
                  <a:solidFill>
                    <a:srgbClr val="1E1E1E"/>
                  </a:solidFill>
                  <a:latin typeface="Bahnschrift"/>
                  <a:ea typeface="Bahnschrift"/>
                  <a:cs typeface="Bahnschrift"/>
                  <a:sym typeface="Bahnschrift"/>
                </a:rPr>
                <a:t> ni la </a:t>
              </a:r>
              <a:r>
                <a:rPr lang="es-AR" sz="1750" b="1" dirty="0">
                  <a:solidFill>
                    <a:srgbClr val="1E1E1E"/>
                  </a:solidFill>
                  <a:latin typeface="Bahnschrift"/>
                  <a:ea typeface="Bahnschrift"/>
                  <a:cs typeface="Bahnschrift"/>
                  <a:sym typeface="Bahnschrift"/>
                </a:rPr>
                <a:t>función mitocondrial</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13" name="Forma 15"/>
            <p:cNvSpPr/>
            <p:nvPr/>
          </p:nvSpPr>
          <p:spPr>
            <a:xfrm>
              <a:off x="475488" y="2743200"/>
              <a:ext cx="115342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PRECISIÓN</a:t>
              </a:r>
              <a:endParaRPr lang="es-AR" sz="1600" dirty="0">
                <a:latin typeface="Bahnschrift SemiBold Condensed"/>
              </a:endParaRPr>
            </a:p>
          </p:txBody>
        </p:sp>
      </p:grpSp>
      <p:grpSp>
        <p:nvGrpSpPr>
          <p:cNvPr id="14" name="Recuadro Clínica"/>
          <p:cNvGrpSpPr/>
          <p:nvPr/>
        </p:nvGrpSpPr>
        <p:grpSpPr>
          <a:xfrm>
            <a:off x="6217920" y="2743200"/>
            <a:ext cx="5577840" cy="2194560"/>
            <a:chOff x="6217920" y="2743200"/>
            <a:chExt cx="5577840" cy="2194560"/>
          </a:xfrm>
        </p:grpSpPr>
        <p:sp>
          <p:nvSpPr>
            <p:cNvPr id="15" name="Forma 17"/>
            <p:cNvSpPr/>
            <p:nvPr/>
          </p:nvSpPr>
          <p:spPr>
            <a:xfrm>
              <a:off x="6217920" y="2926080"/>
              <a:ext cx="5577840" cy="20116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La sepsis tiene </a:t>
              </a:r>
              <a:r>
                <a:rPr lang="es-AR" sz="1750" b="1" dirty="0">
                  <a:solidFill>
                    <a:srgbClr val="1E1E1E"/>
                  </a:solidFill>
                  <a:latin typeface="Bahnschrift"/>
                  <a:ea typeface="Bahnschrift"/>
                  <a:cs typeface="Bahnschrift"/>
                  <a:sym typeface="Bahnschrift"/>
                </a:rPr>
                <a:t>heterogeneidad metabólica</a:t>
              </a:r>
              <a:r>
                <a:rPr lang="es-AR" sz="1750" dirty="0">
                  <a:solidFill>
                    <a:srgbClr val="1E1E1E"/>
                  </a:solidFill>
                  <a:latin typeface="Bahnschrift"/>
                  <a:ea typeface="Bahnschrift"/>
                  <a:cs typeface="Bahnschrift"/>
                  <a:sym typeface="Bahnschrift"/>
                </a:rPr>
                <a:t> y requiere interpretación clínica específica.</a:t>
              </a:r>
              <a:endParaRPr lang="es-AR" sz="1750" dirty="0">
                <a:latin typeface="Bahnschrift"/>
              </a:endParaRPr>
            </a:p>
          </p:txBody>
        </p:sp>
        <p:sp>
          <p:nvSpPr>
            <p:cNvPr id="16" name="Forma 18"/>
            <p:cNvSpPr/>
            <p:nvPr/>
          </p:nvSpPr>
          <p:spPr>
            <a:xfrm>
              <a:off x="6327648" y="2743200"/>
              <a:ext cx="95209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CLÍNICA</a:t>
              </a:r>
              <a:endParaRPr lang="es-AR" sz="1600" dirty="0">
                <a:latin typeface="Bahnschrift SemiBold Condensed"/>
              </a:endParaRPr>
            </a:p>
          </p:txBody>
        </p:sp>
      </p:grpSp>
      <p:sp>
        <p:nvSpPr>
          <p:cNvPr id="17" name="Perla"/>
          <p:cNvSpPr/>
          <p:nvPr/>
        </p:nvSpPr>
        <p:spPr>
          <a:xfrm>
            <a:off x="365760" y="5120640"/>
            <a:ext cx="11430000" cy="13716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Glucemia ≠ flujo metabólico de glucosa: una cifra plasmática no informa por sí sola cuánta glucosa se produce, se capta o se oxida.</a:t>
            </a:r>
            <a:endParaRPr lang="es-AR" sz="1750" dirty="0">
              <a:latin typeface="Bahnschrift"/>
            </a:endParaRPr>
          </a:p>
        </p:txBody>
      </p:sp>
      <p:sp>
        <p:nvSpPr>
          <p:cNvPr id="2" name="Etiqueta sección"/>
          <p:cNvSpPr/>
          <p:nvPr/>
        </p:nvSpPr>
        <p:spPr>
          <a:xfrm>
            <a:off x="9562122" y="201168"/>
            <a:ext cx="23552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III · LÍPIDOS Y CONTROL</a:t>
            </a:r>
            <a:endParaRPr lang="es-AR" sz="1300" dirty="0">
              <a:latin typeface="Bahnschrift SemiBold Condensed"/>
            </a:endParaRPr>
          </a:p>
        </p:txBody>
      </p:sp>
      <p:sp>
        <p:nvSpPr>
          <p:cNvPr id="3" name="Título"/>
          <p:cNvSpPr/>
          <p:nvPr/>
        </p:nvSpPr>
        <p:spPr>
          <a:xfrm>
            <a:off x="274320" y="146304"/>
            <a:ext cx="510025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24 · SEPSIS, TRAUMA Y QUEMADURAS</a:t>
            </a:r>
            <a:endParaRPr lang="es-AR" sz="2600" dirty="0">
              <a:latin typeface="Bahnschrift SemiBold Condensed"/>
            </a:endParaRPr>
          </a:p>
        </p:txBody>
      </p:sp>
      <p:sp>
        <p:nvSpPr>
          <p:cNvPr id="1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600"/>
                                        <p:tgtEl>
                                          <p:spTgt spid="7"/>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600"/>
                                        <p:tgtEl>
                                          <p:spTgt spid="9"/>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9" fill="hold">
                      <p:stCondLst>
                        <p:cond delay="indefinite"/>
                      </p:stCondLst>
                      <p:childTnLst>
                        <p:par>
                          <p:cTn id="48"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7" grpId="0" animBg="1"/>
    </p:bldLst>
  </p:timing>
</p:sld>
</file>

<file path=ppt/slides/slide138.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2" name="Etiqueta unidad"/>
          <p:cNvSpPr/>
          <p:nvPr/>
        </p:nvSpPr>
        <p:spPr>
          <a:xfrm>
            <a:off x="548640" y="502920"/>
            <a:ext cx="1321148"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IV</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NITRÓGENO, RIÑÓN</a:t>
            </a:r>
            <a:endParaRPr lang="es-AR" sz="4600" dirty="0">
              <a:latin typeface="Bahnschrift"/>
            </a:endParaRPr>
          </a:p>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Y HOMEOSTASIS</a:t>
            </a:r>
            <a:endParaRPr lang="es-AR" sz="460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Carbono, nitrógeno, ácido–base y balance energético</a:t>
            </a:r>
            <a:endParaRPr lang="es-AR" sz="1800" dirty="0">
              <a:latin typeface="Bahnschrift SemiBold Condensed"/>
            </a:endParaRPr>
          </a:p>
        </p:txBody>
      </p:sp>
      <p:grpSp>
        <p:nvGrpSpPr>
          <p:cNvPr id="5" name="Temario"/>
          <p:cNvGrpSpPr/>
          <p:nvPr/>
        </p:nvGrpSpPr>
        <p:grpSpPr>
          <a:xfrm>
            <a:off x="502920" y="3703320"/>
            <a:ext cx="6583680" cy="2788920"/>
            <a:chOff x="502920" y="3703320"/>
            <a:chExt cx="6583680" cy="2788920"/>
          </a:xfrm>
        </p:grpSpPr>
        <p:sp>
          <p:nvSpPr>
            <p:cNvPr id="6" name="Forma 5"/>
            <p:cNvSpPr/>
            <p:nvPr/>
          </p:nvSpPr>
          <p:spPr>
            <a:xfrm>
              <a:off x="50292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25 · Zonación hepática y amoníaco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26 · Ureogénesis en saciedad y ayuno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27 · Dieta hiperproteica y agua</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28 · Ciclo de urea en la inanición</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29 · Glutamina: carbono y nitrógeno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30 · Gluconeogénesis renal</a:t>
              </a:r>
              <a:endParaRPr lang="es-AR" sz="1350" dirty="0">
                <a:latin typeface="Bahnschrift"/>
              </a:endParaRPr>
            </a:p>
          </p:txBody>
        </p:sp>
        <p:sp>
          <p:nvSpPr>
            <p:cNvPr id="7" name="Forma 6"/>
            <p:cNvSpPr/>
            <p:nvPr/>
          </p:nvSpPr>
          <p:spPr>
            <a:xfrm>
              <a:off x="384048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31 · AMP desaminasa en el ejercicio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32 · Tejido adiposo blanco y marrón</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33 · Balance energético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34 · Control hipotalámico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35 · Azúcares, lipogénesis y adiposidad</a:t>
              </a:r>
              <a:endParaRPr lang="es-AR" sz="1350" dirty="0">
                <a:latin typeface="Bahnschrift"/>
              </a:endParaRPr>
            </a:p>
          </p:txBody>
        </p:sp>
      </p:grpSp>
      <p:grpSp>
        <p:nvGrpSpPr>
          <p:cNvPr id="8" name="Arte riñón"/>
          <p:cNvGrpSpPr/>
          <p:nvPr/>
        </p:nvGrpSpPr>
        <p:grpSpPr>
          <a:xfrm>
            <a:off x="7863840" y="822960"/>
            <a:ext cx="1463040" cy="2048256"/>
            <a:chOff x="7863840" y="822960"/>
            <a:chExt cx="1463040" cy="2048256"/>
          </a:xfrm>
        </p:grpSpPr>
        <p:sp>
          <p:nvSpPr>
            <p:cNvPr id="9" name="Forma 8"/>
            <p:cNvSpPr/>
            <p:nvPr/>
          </p:nvSpPr>
          <p:spPr>
            <a:xfrm>
              <a:off x="7863840" y="822960"/>
              <a:ext cx="1463040" cy="204825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10" name="Forma 9"/>
            <p:cNvSpPr/>
            <p:nvPr/>
          </p:nvSpPr>
          <p:spPr>
            <a:xfrm>
              <a:off x="7863840" y="822960"/>
              <a:ext cx="1463040" cy="204825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11" name="Forma 10"/>
            <p:cNvSpPr/>
            <p:nvPr/>
          </p:nvSpPr>
          <p:spPr>
            <a:xfrm>
              <a:off x="7863840" y="822960"/>
              <a:ext cx="1463040" cy="204825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12" name="Forma 11"/>
            <p:cNvSpPr/>
            <p:nvPr/>
          </p:nvSpPr>
          <p:spPr>
            <a:xfrm>
              <a:off x="7863840" y="822960"/>
              <a:ext cx="1463040" cy="204825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nvGrpSpPr>
          <p:cNvPr id="13" name="Arte hígado"/>
          <p:cNvGrpSpPr/>
          <p:nvPr/>
        </p:nvGrpSpPr>
        <p:grpSpPr>
          <a:xfrm>
            <a:off x="9144000" y="1188720"/>
            <a:ext cx="2743200" cy="1938894"/>
            <a:chOff x="9144000" y="1188720"/>
            <a:chExt cx="2743200" cy="1938894"/>
          </a:xfrm>
        </p:grpSpPr>
        <p:sp>
          <p:nvSpPr>
            <p:cNvPr id="14" name="Vesícula biliar"/>
            <p:cNvSpPr/>
            <p:nvPr/>
          </p:nvSpPr>
          <p:spPr>
            <a:xfrm>
              <a:off x="9884664" y="251533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9144000" y="118872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9144000" y="118872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9144000" y="118872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Arte músculo"/>
          <p:cNvGrpSpPr/>
          <p:nvPr/>
        </p:nvGrpSpPr>
        <p:grpSpPr>
          <a:xfrm>
            <a:off x="7680960" y="3291840"/>
            <a:ext cx="2926080" cy="959754"/>
            <a:chOff x="7680960" y="3291840"/>
            <a:chExt cx="2926080" cy="959754"/>
          </a:xfrm>
        </p:grpSpPr>
        <p:grpSp>
          <p:nvGrpSpPr>
            <p:cNvPr id="19" name="Fibra"/>
            <p:cNvGrpSpPr/>
            <p:nvPr/>
          </p:nvGrpSpPr>
          <p:grpSpPr>
            <a:xfrm>
              <a:off x="7680960" y="3291840"/>
              <a:ext cx="2809037" cy="468173"/>
              <a:chOff x="7680960" y="3291840"/>
              <a:chExt cx="2809037" cy="468173"/>
            </a:xfrm>
          </p:grpSpPr>
          <p:sp>
            <p:nvSpPr>
              <p:cNvPr id="20" name="Forma 19"/>
              <p:cNvSpPr/>
              <p:nvPr/>
            </p:nvSpPr>
            <p:spPr>
              <a:xfrm>
                <a:off x="7680960" y="3291840"/>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1" name="Forma 20"/>
              <p:cNvSpPr/>
              <p:nvPr/>
            </p:nvSpPr>
            <p:spPr>
              <a:xfrm>
                <a:off x="7798003" y="3291840"/>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22" name="Forma 21"/>
              <p:cNvSpPr/>
              <p:nvPr/>
            </p:nvSpPr>
            <p:spPr>
              <a:xfrm>
                <a:off x="8242767" y="33105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3" name="Forma 22"/>
              <p:cNvSpPr/>
              <p:nvPr/>
            </p:nvSpPr>
            <p:spPr>
              <a:xfrm>
                <a:off x="9225930" y="33105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4" name="Forma 23"/>
              <p:cNvSpPr/>
              <p:nvPr/>
            </p:nvSpPr>
            <p:spPr>
              <a:xfrm>
                <a:off x="10068641" y="3310567"/>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10293364" y="3310567"/>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6" name="Fibra_2"/>
            <p:cNvGrpSpPr/>
            <p:nvPr/>
          </p:nvGrpSpPr>
          <p:grpSpPr>
            <a:xfrm>
              <a:off x="7798003" y="3783421"/>
              <a:ext cx="2809037" cy="468173"/>
              <a:chOff x="7798003" y="3783421"/>
              <a:chExt cx="2809037" cy="468173"/>
            </a:xfrm>
          </p:grpSpPr>
          <p:sp>
            <p:nvSpPr>
              <p:cNvPr id="27" name="Forma 26"/>
              <p:cNvSpPr/>
              <p:nvPr/>
            </p:nvSpPr>
            <p:spPr>
              <a:xfrm>
                <a:off x="7798003" y="3783421"/>
                <a:ext cx="2809037" cy="46817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8" name="Forma 27"/>
              <p:cNvSpPr/>
              <p:nvPr/>
            </p:nvSpPr>
            <p:spPr>
              <a:xfrm>
                <a:off x="7915046" y="3783421"/>
                <a:ext cx="2574950" cy="468173"/>
              </a:xfrm>
              <a:custGeom>
                <a:avLst/>
                <a:gdLst/>
                <a:ahLst/>
                <a:cxnLst/>
                <a:rect l="0" t="0" r="r" b="b"/>
                <a:pathLst>
                  <a:path w="1000" h="1000" fill="none">
                    <a:moveTo>
                      <a:pt x="14" y="80"/>
                    </a:moveTo>
                    <a:lnTo>
                      <a:pt x="14" y="920"/>
                    </a:lnTo>
                  </a:path>
                  <a:path w="1000" h="1000" fill="none">
                    <a:moveTo>
                      <a:pt x="44" y="80"/>
                    </a:moveTo>
                    <a:lnTo>
                      <a:pt x="44" y="920"/>
                    </a:lnTo>
                  </a:path>
                  <a:path w="1000" h="1000" fill="none">
                    <a:moveTo>
                      <a:pt x="73" y="80"/>
                    </a:moveTo>
                    <a:lnTo>
                      <a:pt x="73" y="920"/>
                    </a:lnTo>
                  </a:path>
                  <a:path w="1000" h="1000" fill="none">
                    <a:moveTo>
                      <a:pt x="102" y="80"/>
                    </a:moveTo>
                    <a:lnTo>
                      <a:pt x="102" y="920"/>
                    </a:lnTo>
                  </a:path>
                  <a:path w="1000" h="1000" fill="none">
                    <a:moveTo>
                      <a:pt x="132" y="80"/>
                    </a:moveTo>
                    <a:lnTo>
                      <a:pt x="132" y="920"/>
                    </a:lnTo>
                  </a:path>
                  <a:path w="1000" h="1000" fill="none">
                    <a:moveTo>
                      <a:pt x="161" y="80"/>
                    </a:moveTo>
                    <a:lnTo>
                      <a:pt x="161" y="920"/>
                    </a:lnTo>
                  </a:path>
                  <a:path w="1000" h="1000" fill="none">
                    <a:moveTo>
                      <a:pt x="191" y="80"/>
                    </a:moveTo>
                    <a:lnTo>
                      <a:pt x="191" y="920"/>
                    </a:lnTo>
                  </a:path>
                  <a:path w="1000" h="1000" fill="none">
                    <a:moveTo>
                      <a:pt x="220" y="80"/>
                    </a:moveTo>
                    <a:lnTo>
                      <a:pt x="220" y="920"/>
                    </a:lnTo>
                  </a:path>
                  <a:path w="1000" h="1000" fill="none">
                    <a:moveTo>
                      <a:pt x="250" y="80"/>
                    </a:moveTo>
                    <a:lnTo>
                      <a:pt x="250" y="920"/>
                    </a:lnTo>
                  </a:path>
                  <a:path w="1000" h="1000" fill="none">
                    <a:moveTo>
                      <a:pt x="279" y="80"/>
                    </a:moveTo>
                    <a:lnTo>
                      <a:pt x="279" y="920"/>
                    </a:lnTo>
                  </a:path>
                  <a:path w="1000" h="1000" fill="none">
                    <a:moveTo>
                      <a:pt x="308" y="80"/>
                    </a:moveTo>
                    <a:lnTo>
                      <a:pt x="308" y="920"/>
                    </a:lnTo>
                  </a:path>
                  <a:path w="1000" h="1000" fill="none">
                    <a:moveTo>
                      <a:pt x="338" y="80"/>
                    </a:moveTo>
                    <a:lnTo>
                      <a:pt x="338" y="920"/>
                    </a:lnTo>
                  </a:path>
                  <a:path w="1000" h="1000" fill="none">
                    <a:moveTo>
                      <a:pt x="367" y="80"/>
                    </a:moveTo>
                    <a:lnTo>
                      <a:pt x="367" y="920"/>
                    </a:lnTo>
                  </a:path>
                  <a:path w="1000" h="1000" fill="none">
                    <a:moveTo>
                      <a:pt x="397" y="80"/>
                    </a:moveTo>
                    <a:lnTo>
                      <a:pt x="397" y="920"/>
                    </a:lnTo>
                  </a:path>
                  <a:path w="1000" h="1000" fill="none">
                    <a:moveTo>
                      <a:pt x="426" y="80"/>
                    </a:moveTo>
                    <a:lnTo>
                      <a:pt x="426" y="920"/>
                    </a:lnTo>
                  </a:path>
                  <a:path w="1000" h="1000" fill="none">
                    <a:moveTo>
                      <a:pt x="455" y="80"/>
                    </a:moveTo>
                    <a:lnTo>
                      <a:pt x="455" y="920"/>
                    </a:lnTo>
                  </a:path>
                  <a:path w="1000" h="1000" fill="none">
                    <a:moveTo>
                      <a:pt x="485" y="80"/>
                    </a:moveTo>
                    <a:lnTo>
                      <a:pt x="485" y="920"/>
                    </a:lnTo>
                  </a:path>
                  <a:path w="1000" h="1000" fill="none">
                    <a:moveTo>
                      <a:pt x="514" y="80"/>
                    </a:moveTo>
                    <a:lnTo>
                      <a:pt x="514" y="920"/>
                    </a:lnTo>
                  </a:path>
                  <a:path w="1000" h="1000" fill="none">
                    <a:moveTo>
                      <a:pt x="544" y="80"/>
                    </a:moveTo>
                    <a:lnTo>
                      <a:pt x="544" y="920"/>
                    </a:lnTo>
                  </a:path>
                  <a:path w="1000" h="1000" fill="none">
                    <a:moveTo>
                      <a:pt x="573" y="80"/>
                    </a:moveTo>
                    <a:lnTo>
                      <a:pt x="573" y="920"/>
                    </a:lnTo>
                  </a:path>
                  <a:path w="1000" h="1000" fill="none">
                    <a:moveTo>
                      <a:pt x="602" y="80"/>
                    </a:moveTo>
                    <a:lnTo>
                      <a:pt x="602" y="920"/>
                    </a:lnTo>
                  </a:path>
                  <a:path w="1000" h="1000" fill="none">
                    <a:moveTo>
                      <a:pt x="632" y="80"/>
                    </a:moveTo>
                    <a:lnTo>
                      <a:pt x="632" y="920"/>
                    </a:lnTo>
                  </a:path>
                  <a:path w="1000" h="1000" fill="none">
                    <a:moveTo>
                      <a:pt x="661" y="80"/>
                    </a:moveTo>
                    <a:lnTo>
                      <a:pt x="661" y="920"/>
                    </a:lnTo>
                  </a:path>
                  <a:path w="1000" h="1000" fill="none">
                    <a:moveTo>
                      <a:pt x="691" y="80"/>
                    </a:moveTo>
                    <a:lnTo>
                      <a:pt x="691" y="920"/>
                    </a:lnTo>
                  </a:path>
                  <a:path w="1000" h="1000" fill="none">
                    <a:moveTo>
                      <a:pt x="720" y="80"/>
                    </a:moveTo>
                    <a:lnTo>
                      <a:pt x="720" y="920"/>
                    </a:lnTo>
                  </a:path>
                  <a:path w="1000" h="1000" fill="none">
                    <a:moveTo>
                      <a:pt x="750" y="80"/>
                    </a:moveTo>
                    <a:lnTo>
                      <a:pt x="750" y="920"/>
                    </a:lnTo>
                  </a:path>
                  <a:path w="1000" h="1000" fill="none">
                    <a:moveTo>
                      <a:pt x="779" y="80"/>
                    </a:moveTo>
                    <a:lnTo>
                      <a:pt x="779" y="920"/>
                    </a:lnTo>
                  </a:path>
                  <a:path w="1000" h="1000" fill="none">
                    <a:moveTo>
                      <a:pt x="808" y="80"/>
                    </a:moveTo>
                    <a:lnTo>
                      <a:pt x="808" y="920"/>
                    </a:lnTo>
                  </a:path>
                  <a:path w="1000" h="1000" fill="none">
                    <a:moveTo>
                      <a:pt x="838" y="80"/>
                    </a:moveTo>
                    <a:lnTo>
                      <a:pt x="838" y="920"/>
                    </a:lnTo>
                  </a:path>
                  <a:path w="1000" h="1000" fill="none">
                    <a:moveTo>
                      <a:pt x="867" y="80"/>
                    </a:moveTo>
                    <a:lnTo>
                      <a:pt x="867" y="920"/>
                    </a:lnTo>
                  </a:path>
                  <a:path w="1000" h="1000" fill="none">
                    <a:moveTo>
                      <a:pt x="897" y="80"/>
                    </a:moveTo>
                    <a:lnTo>
                      <a:pt x="897" y="920"/>
                    </a:lnTo>
                  </a:path>
                  <a:path w="1000" h="1000" fill="none">
                    <a:moveTo>
                      <a:pt x="926" y="80"/>
                    </a:moveTo>
                    <a:lnTo>
                      <a:pt x="926" y="920"/>
                    </a:lnTo>
                  </a:path>
                  <a:path w="1000" h="1000" fill="none">
                    <a:moveTo>
                      <a:pt x="955" y="80"/>
                    </a:moveTo>
                    <a:lnTo>
                      <a:pt x="955" y="920"/>
                    </a:lnTo>
                  </a:path>
                  <a:path w="1000" h="1000" fill="none">
                    <a:moveTo>
                      <a:pt x="985" y="80"/>
                    </a:moveTo>
                    <a:lnTo>
                      <a:pt x="985" y="920"/>
                    </a:lnTo>
                  </a:path>
                </a:pathLst>
              </a:custGeom>
              <a:noFill/>
              <a:ln w="12700" cap="rnd">
                <a:solidFill>
                  <a:srgbClr val="822E27"/>
                </a:solidFill>
                <a:round/>
              </a:ln>
            </p:spPr>
          </p:sp>
          <p:sp>
            <p:nvSpPr>
              <p:cNvPr id="29" name="Forma 28"/>
              <p:cNvSpPr/>
              <p:nvPr/>
            </p:nvSpPr>
            <p:spPr>
              <a:xfrm>
                <a:off x="8359811" y="38021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9342973" y="38021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10185684" y="3802148"/>
                <a:ext cx="234086" cy="8427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10410407" y="3802148"/>
                <a:ext cx="187269" cy="43071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33" name="Molécula urea"/>
          <p:cNvSpPr/>
          <p:nvPr/>
        </p:nvSpPr>
        <p:spPr>
          <a:xfrm>
            <a:off x="10789920" y="3566160"/>
            <a:ext cx="594360" cy="59436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34" name="Molécula nh4"/>
          <p:cNvSpPr/>
          <p:nvPr/>
        </p:nvSpPr>
        <p:spPr>
          <a:xfrm>
            <a:off x="11155680" y="4297680"/>
            <a:ext cx="548640" cy="54864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35" name="Molécula gln"/>
          <p:cNvSpPr/>
          <p:nvPr/>
        </p:nvSpPr>
        <p:spPr>
          <a:xfrm>
            <a:off x="10515600" y="4846320"/>
            <a:ext cx="548640" cy="54864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grpSp>
        <p:nvGrpSpPr>
          <p:cNvPr id="36" name="Arte cerebro"/>
          <p:cNvGrpSpPr/>
          <p:nvPr/>
        </p:nvGrpSpPr>
        <p:grpSpPr>
          <a:xfrm>
            <a:off x="7863840" y="4846320"/>
            <a:ext cx="1828800" cy="1426464"/>
            <a:chOff x="7863840" y="4846320"/>
            <a:chExt cx="1828800" cy="1426464"/>
          </a:xfrm>
        </p:grpSpPr>
        <p:sp>
          <p:nvSpPr>
            <p:cNvPr id="37" name="Cerebelo"/>
            <p:cNvSpPr/>
            <p:nvPr/>
          </p:nvSpPr>
          <p:spPr>
            <a:xfrm>
              <a:off x="7863840" y="4846320"/>
              <a:ext cx="1828800" cy="1426464"/>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38" name="Forma 37"/>
            <p:cNvSpPr/>
            <p:nvPr/>
          </p:nvSpPr>
          <p:spPr>
            <a:xfrm>
              <a:off x="7863840" y="4846320"/>
              <a:ext cx="1828800" cy="1426464"/>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39" name="Forma 38"/>
            <p:cNvSpPr/>
            <p:nvPr/>
          </p:nvSpPr>
          <p:spPr>
            <a:xfrm>
              <a:off x="7863840" y="4846320"/>
              <a:ext cx="1828800" cy="1426464"/>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0" name="Forma 39"/>
            <p:cNvSpPr/>
            <p:nvPr/>
          </p:nvSpPr>
          <p:spPr>
            <a:xfrm>
              <a:off x="7863840" y="4846320"/>
              <a:ext cx="1828800" cy="1426464"/>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41" name="Arte BAT"/>
          <p:cNvGrpSpPr/>
          <p:nvPr/>
        </p:nvGrpSpPr>
        <p:grpSpPr>
          <a:xfrm>
            <a:off x="9966960" y="5120640"/>
            <a:ext cx="1280160" cy="1280160"/>
            <a:chOff x="9966960" y="5120640"/>
            <a:chExt cx="1280160" cy="1280160"/>
          </a:xfrm>
        </p:grpSpPr>
        <p:sp>
          <p:nvSpPr>
            <p:cNvPr id="42" name="Forma 41"/>
            <p:cNvSpPr/>
            <p:nvPr/>
          </p:nvSpPr>
          <p:spPr>
            <a:xfrm>
              <a:off x="9966960" y="5120640"/>
              <a:ext cx="1280160" cy="1280160"/>
            </a:xfrm>
            <a:custGeom>
              <a:avLst/>
              <a:gdLst/>
              <a:ahLst/>
              <a:cxnLst/>
              <a:rect l="0" t="0" r="r" b="b"/>
              <a:pathLst>
                <a:path w="1000" h="1000">
                  <a:moveTo>
                    <a:pt x="150" y="120"/>
                  </a:moveTo>
                  <a:cubicBezTo>
                    <a:pt x="197" y="75"/>
                    <a:pt x="429" y="29"/>
                    <a:pt x="500" y="30"/>
                  </a:cubicBezTo>
                  <a:cubicBezTo>
                    <a:pt x="571" y="31"/>
                    <a:pt x="813" y="83"/>
                    <a:pt x="860" y="130"/>
                  </a:cubicBezTo>
                  <a:cubicBezTo>
                    <a:pt x="907" y="177"/>
                    <a:pt x="971" y="425"/>
                    <a:pt x="970" y="500"/>
                  </a:cubicBezTo>
                  <a:cubicBezTo>
                    <a:pt x="969" y="575"/>
                    <a:pt x="899" y="833"/>
                    <a:pt x="850" y="880"/>
                  </a:cubicBezTo>
                  <a:cubicBezTo>
                    <a:pt x="801" y="927"/>
                    <a:pt x="553" y="972"/>
                    <a:pt x="480" y="970"/>
                  </a:cubicBezTo>
                  <a:cubicBezTo>
                    <a:pt x="407" y="968"/>
                    <a:pt x="165" y="909"/>
                    <a:pt x="120" y="860"/>
                  </a:cubicBezTo>
                  <a:cubicBezTo>
                    <a:pt x="75" y="811"/>
                    <a:pt x="27" y="554"/>
                    <a:pt x="30" y="480"/>
                  </a:cubicBezTo>
                  <a:cubicBezTo>
                    <a:pt x="33" y="406"/>
                    <a:pt x="103" y="165"/>
                    <a:pt x="150" y="120"/>
                  </a:cubicBezTo>
                  <a:close/>
                </a:path>
              </a:pathLst>
            </a:custGeom>
            <a:gradFill rotWithShape="1">
              <a:gsLst>
                <a:gs pos="0">
                  <a:srgbClr val="E1B0A4"/>
                </a:gs>
                <a:gs pos="55000">
                  <a:srgbClr val="C9715A"/>
                </a:gs>
                <a:gs pos="100000">
                  <a:srgbClr val="965443"/>
                </a:gs>
              </a:gsLst>
              <a:path path="circle">
                <a:fillToRect l="32000" t="28000" r="68000" b="72000"/>
              </a:path>
            </a:gradFill>
            <a:ln w="22225" cap="rnd">
              <a:solidFill>
                <a:srgbClr val="6E2C1E"/>
              </a:solidFill>
              <a:round/>
            </a:ln>
            <a:effectLst>
              <a:outerShdw blurRad="101600" dist="50800" dir="2700000" algn="tl" rotWithShape="0">
                <a:srgbClr val="000000">
                  <a:alpha val="30000"/>
                </a:srgbClr>
              </a:outerShdw>
            </a:effectLst>
          </p:spPr>
        </p:sp>
        <p:sp>
          <p:nvSpPr>
            <p:cNvPr id="43" name="Gotas lipídicas"/>
            <p:cNvSpPr/>
            <p:nvPr/>
          </p:nvSpPr>
          <p:spPr>
            <a:xfrm>
              <a:off x="9966960" y="5120640"/>
              <a:ext cx="1280160" cy="1280160"/>
            </a:xfrm>
            <a:custGeom>
              <a:avLst/>
              <a:gdLst/>
              <a:ahLst/>
              <a:cxnLst/>
              <a:rect l="0" t="0" r="r" b="b"/>
              <a:pathLst>
                <a:path w="1000" h="1000">
                  <a:moveTo>
                    <a:pt x="355" y="260"/>
                  </a:moveTo>
                  <a:cubicBezTo>
                    <a:pt x="355" y="312"/>
                    <a:pt x="312" y="355"/>
                    <a:pt x="260" y="355"/>
                  </a:cubicBezTo>
                  <a:cubicBezTo>
                    <a:pt x="207" y="355"/>
                    <a:pt x="165" y="312"/>
                    <a:pt x="165" y="260"/>
                  </a:cubicBezTo>
                  <a:cubicBezTo>
                    <a:pt x="165" y="207"/>
                    <a:pt x="207" y="165"/>
                    <a:pt x="260" y="165"/>
                  </a:cubicBezTo>
                  <a:cubicBezTo>
                    <a:pt x="312" y="165"/>
                    <a:pt x="355" y="207"/>
                    <a:pt x="355" y="260"/>
                  </a:cubicBezTo>
                  <a:close/>
                  <a:moveTo>
                    <a:pt x="785" y="250"/>
                  </a:moveTo>
                  <a:cubicBezTo>
                    <a:pt x="785" y="296"/>
                    <a:pt x="746" y="335"/>
                    <a:pt x="700" y="335"/>
                  </a:cubicBezTo>
                  <a:cubicBezTo>
                    <a:pt x="653" y="335"/>
                    <a:pt x="615" y="296"/>
                    <a:pt x="615" y="250"/>
                  </a:cubicBezTo>
                  <a:cubicBezTo>
                    <a:pt x="615" y="203"/>
                    <a:pt x="653" y="165"/>
                    <a:pt x="700" y="165"/>
                  </a:cubicBezTo>
                  <a:cubicBezTo>
                    <a:pt x="746" y="165"/>
                    <a:pt x="785" y="203"/>
                    <a:pt x="785" y="250"/>
                  </a:cubicBezTo>
                  <a:close/>
                  <a:moveTo>
                    <a:pt x="870" y="620"/>
                  </a:moveTo>
                  <a:cubicBezTo>
                    <a:pt x="870" y="669"/>
                    <a:pt x="829" y="710"/>
                    <a:pt x="780" y="710"/>
                  </a:cubicBezTo>
                  <a:cubicBezTo>
                    <a:pt x="730" y="710"/>
                    <a:pt x="690" y="669"/>
                    <a:pt x="690" y="620"/>
                  </a:cubicBezTo>
                  <a:cubicBezTo>
                    <a:pt x="690" y="570"/>
                    <a:pt x="730" y="530"/>
                    <a:pt x="780" y="530"/>
                  </a:cubicBezTo>
                  <a:cubicBezTo>
                    <a:pt x="829" y="530"/>
                    <a:pt x="870" y="570"/>
                    <a:pt x="870" y="620"/>
                  </a:cubicBezTo>
                  <a:close/>
                  <a:moveTo>
                    <a:pt x="385" y="720"/>
                  </a:moveTo>
                  <a:cubicBezTo>
                    <a:pt x="385" y="766"/>
                    <a:pt x="346" y="805"/>
                    <a:pt x="300" y="805"/>
                  </a:cubicBezTo>
                  <a:cubicBezTo>
                    <a:pt x="253" y="805"/>
                    <a:pt x="215" y="766"/>
                    <a:pt x="215" y="720"/>
                  </a:cubicBezTo>
                  <a:cubicBezTo>
                    <a:pt x="215" y="673"/>
                    <a:pt x="253" y="635"/>
                    <a:pt x="300" y="635"/>
                  </a:cubicBezTo>
                  <a:cubicBezTo>
                    <a:pt x="346" y="635"/>
                    <a:pt x="385" y="673"/>
                    <a:pt x="385" y="720"/>
                  </a:cubicBezTo>
                  <a:close/>
                  <a:moveTo>
                    <a:pt x="590" y="820"/>
                  </a:moveTo>
                  <a:cubicBezTo>
                    <a:pt x="590" y="858"/>
                    <a:pt x="558" y="890"/>
                    <a:pt x="520" y="890"/>
                  </a:cubicBezTo>
                  <a:cubicBezTo>
                    <a:pt x="481" y="890"/>
                    <a:pt x="450" y="858"/>
                    <a:pt x="450" y="820"/>
                  </a:cubicBezTo>
                  <a:cubicBezTo>
                    <a:pt x="450" y="781"/>
                    <a:pt x="481" y="750"/>
                    <a:pt x="520" y="750"/>
                  </a:cubicBezTo>
                  <a:cubicBezTo>
                    <a:pt x="558" y="750"/>
                    <a:pt x="590" y="781"/>
                    <a:pt x="590" y="820"/>
                  </a:cubicBezTo>
                  <a:close/>
                  <a:moveTo>
                    <a:pt x="245" y="500"/>
                  </a:moveTo>
                  <a:cubicBezTo>
                    <a:pt x="245" y="535"/>
                    <a:pt x="215" y="565"/>
                    <a:pt x="180" y="565"/>
                  </a:cubicBezTo>
                  <a:cubicBezTo>
                    <a:pt x="144" y="565"/>
                    <a:pt x="115" y="535"/>
                    <a:pt x="115" y="500"/>
                  </a:cubicBezTo>
                  <a:cubicBezTo>
                    <a:pt x="115" y="464"/>
                    <a:pt x="144" y="435"/>
                    <a:pt x="180" y="435"/>
                  </a:cubicBezTo>
                  <a:cubicBezTo>
                    <a:pt x="215" y="435"/>
                    <a:pt x="245" y="464"/>
                    <a:pt x="245" y="500"/>
                  </a:cubicBezTo>
                  <a:close/>
                  <a:moveTo>
                    <a:pt x="820" y="420"/>
                  </a:moveTo>
                  <a:cubicBezTo>
                    <a:pt x="820" y="453"/>
                    <a:pt x="793" y="480"/>
                    <a:pt x="760" y="480"/>
                  </a:cubicBezTo>
                  <a:cubicBezTo>
                    <a:pt x="726" y="480"/>
                    <a:pt x="700" y="453"/>
                    <a:pt x="700" y="420"/>
                  </a:cubicBezTo>
                  <a:cubicBezTo>
                    <a:pt x="700" y="386"/>
                    <a:pt x="726" y="360"/>
                    <a:pt x="760" y="360"/>
                  </a:cubicBezTo>
                  <a:cubicBezTo>
                    <a:pt x="793" y="360"/>
                    <a:pt x="820" y="386"/>
                    <a:pt x="820" y="42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nvGrpSpPr>
            <p:cNvPr id="44" name="Mitocondria"/>
            <p:cNvGrpSpPr/>
            <p:nvPr/>
          </p:nvGrpSpPr>
          <p:grpSpPr>
            <a:xfrm>
              <a:off x="10415016" y="5274259"/>
              <a:ext cx="204826" cy="102413"/>
              <a:chOff x="10415016" y="5274259"/>
              <a:chExt cx="204826" cy="102413"/>
            </a:xfrm>
          </p:grpSpPr>
          <p:sp>
            <p:nvSpPr>
              <p:cNvPr id="45" name="Forma 44"/>
              <p:cNvSpPr/>
              <p:nvPr/>
            </p:nvSpPr>
            <p:spPr>
              <a:xfrm rot="600000">
                <a:off x="10415016" y="5274259"/>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46" name="Forma 45"/>
              <p:cNvSpPr/>
              <p:nvPr/>
            </p:nvSpPr>
            <p:spPr>
              <a:xfrm rot="600000">
                <a:off x="10429354" y="5288597"/>
                <a:ext cx="176150" cy="73737"/>
              </a:xfrm>
              <a:prstGeom prst="ellipse">
                <a:avLst/>
              </a:prstGeom>
              <a:solidFill>
                <a:srgbClr val="E7BFA9"/>
              </a:solidFill>
              <a:ln w="9525" cap="rnd">
                <a:solidFill>
                  <a:srgbClr val="904217"/>
                </a:solidFill>
                <a:round/>
              </a:ln>
            </p:spPr>
          </p:sp>
          <p:sp>
            <p:nvSpPr>
              <p:cNvPr id="47" name="Forma 46"/>
              <p:cNvSpPr/>
              <p:nvPr/>
            </p:nvSpPr>
            <p:spPr>
              <a:xfrm rot="600000">
                <a:off x="10429354" y="5288597"/>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48" name="Mitocondria_2"/>
            <p:cNvGrpSpPr/>
            <p:nvPr/>
          </p:nvGrpSpPr>
          <p:grpSpPr>
            <a:xfrm>
              <a:off x="10607040" y="5504688"/>
              <a:ext cx="204826" cy="102413"/>
              <a:chOff x="10607040" y="5504688"/>
              <a:chExt cx="204826" cy="102413"/>
            </a:xfrm>
          </p:grpSpPr>
          <p:sp>
            <p:nvSpPr>
              <p:cNvPr id="49" name="Forma 48"/>
              <p:cNvSpPr/>
              <p:nvPr/>
            </p:nvSpPr>
            <p:spPr>
              <a:xfrm rot="-1800000">
                <a:off x="10607040" y="5504688"/>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50" name="Forma 49"/>
              <p:cNvSpPr/>
              <p:nvPr/>
            </p:nvSpPr>
            <p:spPr>
              <a:xfrm rot="-1800000">
                <a:off x="10621378" y="5519026"/>
                <a:ext cx="176150" cy="73737"/>
              </a:xfrm>
              <a:prstGeom prst="ellipse">
                <a:avLst/>
              </a:prstGeom>
              <a:solidFill>
                <a:srgbClr val="E7BFA9"/>
              </a:solidFill>
              <a:ln w="9525" cap="rnd">
                <a:solidFill>
                  <a:srgbClr val="904217"/>
                </a:solidFill>
                <a:round/>
              </a:ln>
            </p:spPr>
          </p:sp>
          <p:sp>
            <p:nvSpPr>
              <p:cNvPr id="51" name="Forma 50"/>
              <p:cNvSpPr/>
              <p:nvPr/>
            </p:nvSpPr>
            <p:spPr>
              <a:xfrm rot="-1800000">
                <a:off x="10621378" y="5519026"/>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52" name="Mitocondria_3"/>
            <p:cNvGrpSpPr/>
            <p:nvPr/>
          </p:nvGrpSpPr>
          <p:grpSpPr>
            <a:xfrm>
              <a:off x="10120579" y="5914339"/>
              <a:ext cx="204826" cy="102413"/>
              <a:chOff x="10120579" y="5914339"/>
              <a:chExt cx="204826" cy="102413"/>
            </a:xfrm>
          </p:grpSpPr>
          <p:sp>
            <p:nvSpPr>
              <p:cNvPr id="53" name="Forma 52"/>
              <p:cNvSpPr/>
              <p:nvPr/>
            </p:nvSpPr>
            <p:spPr>
              <a:xfrm rot="3600000">
                <a:off x="10120579" y="5914339"/>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54" name="Forma 53"/>
              <p:cNvSpPr/>
              <p:nvPr/>
            </p:nvSpPr>
            <p:spPr>
              <a:xfrm rot="3600000">
                <a:off x="10134917" y="5928677"/>
                <a:ext cx="176150" cy="73737"/>
              </a:xfrm>
              <a:prstGeom prst="ellipse">
                <a:avLst/>
              </a:prstGeom>
              <a:solidFill>
                <a:srgbClr val="E7BFA9"/>
              </a:solidFill>
              <a:ln w="9525" cap="rnd">
                <a:solidFill>
                  <a:srgbClr val="904217"/>
                </a:solidFill>
                <a:round/>
              </a:ln>
            </p:spPr>
          </p:sp>
          <p:sp>
            <p:nvSpPr>
              <p:cNvPr id="55" name="Forma 54"/>
              <p:cNvSpPr/>
              <p:nvPr/>
            </p:nvSpPr>
            <p:spPr>
              <a:xfrm rot="3600000">
                <a:off x="10134917" y="5928677"/>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56" name="Mitocondria_4"/>
            <p:cNvGrpSpPr/>
            <p:nvPr/>
          </p:nvGrpSpPr>
          <p:grpSpPr>
            <a:xfrm>
              <a:off x="10709453" y="5888736"/>
              <a:ext cx="204826" cy="102413"/>
              <a:chOff x="10709453" y="5888736"/>
              <a:chExt cx="204826" cy="102413"/>
            </a:xfrm>
          </p:grpSpPr>
          <p:sp>
            <p:nvSpPr>
              <p:cNvPr id="57" name="Forma 56"/>
              <p:cNvSpPr/>
              <p:nvPr/>
            </p:nvSpPr>
            <p:spPr>
              <a:xfrm rot="1200000">
                <a:off x="10709453" y="5888736"/>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58" name="Forma 57"/>
              <p:cNvSpPr/>
              <p:nvPr/>
            </p:nvSpPr>
            <p:spPr>
              <a:xfrm rot="1200000">
                <a:off x="10723791" y="5903074"/>
                <a:ext cx="176150" cy="73737"/>
              </a:xfrm>
              <a:prstGeom prst="ellipse">
                <a:avLst/>
              </a:prstGeom>
              <a:solidFill>
                <a:srgbClr val="E7BFA9"/>
              </a:solidFill>
              <a:ln w="9525" cap="rnd">
                <a:solidFill>
                  <a:srgbClr val="904217"/>
                </a:solidFill>
                <a:round/>
              </a:ln>
            </p:spPr>
          </p:sp>
          <p:sp>
            <p:nvSpPr>
              <p:cNvPr id="59" name="Forma 58"/>
              <p:cNvSpPr/>
              <p:nvPr/>
            </p:nvSpPr>
            <p:spPr>
              <a:xfrm rot="1200000">
                <a:off x="10723791" y="5903074"/>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60" name="Mitocondria_5"/>
            <p:cNvGrpSpPr/>
            <p:nvPr/>
          </p:nvGrpSpPr>
          <p:grpSpPr>
            <a:xfrm>
              <a:off x="10760659" y="6195974"/>
              <a:ext cx="204826" cy="102413"/>
              <a:chOff x="10760659" y="6195974"/>
              <a:chExt cx="204826" cy="102413"/>
            </a:xfrm>
          </p:grpSpPr>
          <p:sp>
            <p:nvSpPr>
              <p:cNvPr id="61" name="Forma 60"/>
              <p:cNvSpPr/>
              <p:nvPr/>
            </p:nvSpPr>
            <p:spPr>
              <a:xfrm rot="-600000">
                <a:off x="10760659" y="6195974"/>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62" name="Forma 61"/>
              <p:cNvSpPr/>
              <p:nvPr/>
            </p:nvSpPr>
            <p:spPr>
              <a:xfrm rot="-600000">
                <a:off x="10774997" y="6210312"/>
                <a:ext cx="176150" cy="73737"/>
              </a:xfrm>
              <a:prstGeom prst="ellipse">
                <a:avLst/>
              </a:prstGeom>
              <a:solidFill>
                <a:srgbClr val="E7BFA9"/>
              </a:solidFill>
              <a:ln w="9525" cap="rnd">
                <a:solidFill>
                  <a:srgbClr val="904217"/>
                </a:solidFill>
                <a:round/>
              </a:ln>
            </p:spPr>
          </p:sp>
          <p:sp>
            <p:nvSpPr>
              <p:cNvPr id="63" name="Forma 62"/>
              <p:cNvSpPr/>
              <p:nvPr/>
            </p:nvSpPr>
            <p:spPr>
              <a:xfrm rot="-600000">
                <a:off x="10774997" y="6210312"/>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64" name="Mitocondria_6"/>
            <p:cNvGrpSpPr/>
            <p:nvPr/>
          </p:nvGrpSpPr>
          <p:grpSpPr>
            <a:xfrm>
              <a:off x="10427818" y="5760720"/>
              <a:ext cx="204826" cy="102413"/>
              <a:chOff x="10427818" y="5760720"/>
              <a:chExt cx="204826" cy="102413"/>
            </a:xfrm>
          </p:grpSpPr>
          <p:sp>
            <p:nvSpPr>
              <p:cNvPr id="65" name="Forma 64"/>
              <p:cNvSpPr/>
              <p:nvPr/>
            </p:nvSpPr>
            <p:spPr>
              <a:xfrm rot="4800000">
                <a:off x="10427818" y="5760720"/>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66" name="Forma 65"/>
              <p:cNvSpPr/>
              <p:nvPr/>
            </p:nvSpPr>
            <p:spPr>
              <a:xfrm rot="4800000">
                <a:off x="10442155" y="5775058"/>
                <a:ext cx="176150" cy="73737"/>
              </a:xfrm>
              <a:prstGeom prst="ellipse">
                <a:avLst/>
              </a:prstGeom>
              <a:solidFill>
                <a:srgbClr val="E7BFA9"/>
              </a:solidFill>
              <a:ln w="9525" cap="rnd">
                <a:solidFill>
                  <a:srgbClr val="904217"/>
                </a:solidFill>
                <a:round/>
              </a:ln>
            </p:spPr>
          </p:sp>
          <p:sp>
            <p:nvSpPr>
              <p:cNvPr id="67" name="Forma 66"/>
              <p:cNvSpPr/>
              <p:nvPr/>
            </p:nvSpPr>
            <p:spPr>
              <a:xfrm rot="4800000">
                <a:off x="10442155" y="5775058"/>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68" name="Mitocondria_7"/>
            <p:cNvGrpSpPr/>
            <p:nvPr/>
          </p:nvGrpSpPr>
          <p:grpSpPr>
            <a:xfrm>
              <a:off x="10991088" y="6144768"/>
              <a:ext cx="204826" cy="102413"/>
              <a:chOff x="10991088" y="6144768"/>
              <a:chExt cx="204826" cy="102413"/>
            </a:xfrm>
          </p:grpSpPr>
          <p:sp>
            <p:nvSpPr>
              <p:cNvPr id="69" name="Forma 68"/>
              <p:cNvSpPr/>
              <p:nvPr/>
            </p:nvSpPr>
            <p:spPr>
              <a:xfrm rot="2400000">
                <a:off x="10991088" y="6144768"/>
                <a:ext cx="204826" cy="102413"/>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70" name="Forma 69"/>
              <p:cNvSpPr/>
              <p:nvPr/>
            </p:nvSpPr>
            <p:spPr>
              <a:xfrm rot="2400000">
                <a:off x="11005426" y="6159106"/>
                <a:ext cx="176150" cy="73737"/>
              </a:xfrm>
              <a:prstGeom prst="ellipse">
                <a:avLst/>
              </a:prstGeom>
              <a:solidFill>
                <a:srgbClr val="E7BFA9"/>
              </a:solidFill>
              <a:ln w="9525" cap="rnd">
                <a:solidFill>
                  <a:srgbClr val="904217"/>
                </a:solidFill>
                <a:round/>
              </a:ln>
            </p:spPr>
          </p:sp>
          <p:sp>
            <p:nvSpPr>
              <p:cNvPr id="71" name="Forma 70"/>
              <p:cNvSpPr/>
              <p:nvPr/>
            </p:nvSpPr>
            <p:spPr>
              <a:xfrm rot="2400000">
                <a:off x="11005426" y="6159106"/>
                <a:ext cx="176150" cy="73737"/>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72" name="Núcleo"/>
            <p:cNvGrpSpPr/>
            <p:nvPr/>
          </p:nvGrpSpPr>
          <p:grpSpPr>
            <a:xfrm>
              <a:off x="10479024" y="5607101"/>
              <a:ext cx="256032" cy="230429"/>
              <a:chOff x="10479024" y="5607101"/>
              <a:chExt cx="256032" cy="230429"/>
            </a:xfrm>
          </p:grpSpPr>
          <p:sp>
            <p:nvSpPr>
              <p:cNvPr id="73" name="Forma 72"/>
              <p:cNvSpPr/>
              <p:nvPr/>
            </p:nvSpPr>
            <p:spPr>
              <a:xfrm>
                <a:off x="10479024" y="5607101"/>
                <a:ext cx="256032" cy="230429"/>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74" name="Forma 73"/>
              <p:cNvSpPr/>
              <p:nvPr/>
            </p:nvSpPr>
            <p:spPr>
              <a:xfrm>
                <a:off x="10612161" y="5683910"/>
                <a:ext cx="56327" cy="51206"/>
              </a:xfrm>
              <a:prstGeom prst="ellipse">
                <a:avLst/>
              </a:prstGeom>
              <a:solidFill>
                <a:srgbClr val="513B6B"/>
              </a:solidFill>
              <a:ln>
                <a:noFill/>
              </a:ln>
            </p:spPr>
          </p:sp>
        </p:grpSp>
      </p:grpSp>
      <p:sp>
        <p:nvSpPr>
          <p:cNvPr id="7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Músculo M5"/>
          <p:cNvGrpSpPr/>
          <p:nvPr/>
        </p:nvGrpSpPr>
        <p:grpSpPr>
          <a:xfrm>
            <a:off x="365760" y="1188720"/>
            <a:ext cx="7498080" cy="3719048"/>
            <a:chOff x="365760" y="1188720"/>
            <a:chExt cx="7498080" cy="3719048"/>
          </a:xfrm>
        </p:grpSpPr>
        <p:grpSp>
          <p:nvGrpSpPr>
            <p:cNvPr id="5" name="Fibra"/>
            <p:cNvGrpSpPr/>
            <p:nvPr/>
          </p:nvGrpSpPr>
          <p:grpSpPr>
            <a:xfrm>
              <a:off x="365760" y="1188720"/>
              <a:ext cx="6898234" cy="1199693"/>
              <a:chOff x="365760" y="1188720"/>
              <a:chExt cx="6898234" cy="1199693"/>
            </a:xfrm>
          </p:grpSpPr>
          <p:sp>
            <p:nvSpPr>
              <p:cNvPr id="6" name="Forma 5"/>
              <p:cNvSpPr/>
              <p:nvPr/>
            </p:nvSpPr>
            <p:spPr>
              <a:xfrm>
                <a:off x="365760" y="1188720"/>
                <a:ext cx="6898234" cy="119969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665683" y="1188720"/>
                <a:ext cx="6298387" cy="1199693"/>
              </a:xfrm>
              <a:custGeom>
                <a:avLst/>
                <a:gdLst/>
                <a:ahLst/>
                <a:cxnLst/>
                <a:rect l="0" t="0" r="r" b="b"/>
                <a:pathLst>
                  <a:path w="1000" h="1000" fill="none">
                    <a:moveTo>
                      <a:pt x="6" y="80"/>
                    </a:moveTo>
                    <a:lnTo>
                      <a:pt x="6" y="920"/>
                    </a:lnTo>
                  </a:path>
                  <a:path w="1000" h="1000" fill="none">
                    <a:moveTo>
                      <a:pt x="18" y="80"/>
                    </a:moveTo>
                    <a:lnTo>
                      <a:pt x="18" y="920"/>
                    </a:lnTo>
                  </a:path>
                  <a:path w="1000" h="1000" fill="none">
                    <a:moveTo>
                      <a:pt x="30" y="80"/>
                    </a:moveTo>
                    <a:lnTo>
                      <a:pt x="30" y="920"/>
                    </a:lnTo>
                  </a:path>
                  <a:path w="1000" h="1000" fill="none">
                    <a:moveTo>
                      <a:pt x="42" y="80"/>
                    </a:moveTo>
                    <a:lnTo>
                      <a:pt x="42" y="920"/>
                    </a:lnTo>
                  </a:path>
                  <a:path w="1000" h="1000" fill="none">
                    <a:moveTo>
                      <a:pt x="54" y="80"/>
                    </a:moveTo>
                    <a:lnTo>
                      <a:pt x="54" y="920"/>
                    </a:lnTo>
                  </a:path>
                  <a:path w="1000" h="1000" fill="none">
                    <a:moveTo>
                      <a:pt x="66" y="80"/>
                    </a:moveTo>
                    <a:lnTo>
                      <a:pt x="66" y="920"/>
                    </a:lnTo>
                  </a:path>
                  <a:path w="1000" h="1000" fill="none">
                    <a:moveTo>
                      <a:pt x="78" y="80"/>
                    </a:moveTo>
                    <a:lnTo>
                      <a:pt x="78" y="920"/>
                    </a:lnTo>
                  </a:path>
                  <a:path w="1000" h="1000" fill="none">
                    <a:moveTo>
                      <a:pt x="90" y="80"/>
                    </a:moveTo>
                    <a:lnTo>
                      <a:pt x="90" y="920"/>
                    </a:lnTo>
                  </a:path>
                  <a:path w="1000" h="1000" fill="none">
                    <a:moveTo>
                      <a:pt x="102" y="80"/>
                    </a:moveTo>
                    <a:lnTo>
                      <a:pt x="102" y="920"/>
                    </a:lnTo>
                  </a:path>
                  <a:path w="1000" h="1000" fill="none">
                    <a:moveTo>
                      <a:pt x="114" y="80"/>
                    </a:moveTo>
                    <a:lnTo>
                      <a:pt x="114" y="920"/>
                    </a:lnTo>
                  </a:path>
                  <a:path w="1000" h="1000" fill="none">
                    <a:moveTo>
                      <a:pt x="126" y="80"/>
                    </a:moveTo>
                    <a:lnTo>
                      <a:pt x="126" y="920"/>
                    </a:lnTo>
                  </a:path>
                  <a:path w="1000" h="1000" fill="none">
                    <a:moveTo>
                      <a:pt x="138" y="80"/>
                    </a:moveTo>
                    <a:lnTo>
                      <a:pt x="138" y="920"/>
                    </a:lnTo>
                  </a:path>
                  <a:path w="1000" h="1000" fill="none">
                    <a:moveTo>
                      <a:pt x="150" y="80"/>
                    </a:moveTo>
                    <a:lnTo>
                      <a:pt x="150" y="920"/>
                    </a:lnTo>
                  </a:path>
                  <a:path w="1000" h="1000" fill="none">
                    <a:moveTo>
                      <a:pt x="162" y="80"/>
                    </a:moveTo>
                    <a:lnTo>
                      <a:pt x="162" y="920"/>
                    </a:lnTo>
                  </a:path>
                  <a:path w="1000" h="1000" fill="none">
                    <a:moveTo>
                      <a:pt x="174" y="80"/>
                    </a:moveTo>
                    <a:lnTo>
                      <a:pt x="174" y="920"/>
                    </a:lnTo>
                  </a:path>
                  <a:path w="1000" h="1000" fill="none">
                    <a:moveTo>
                      <a:pt x="186" y="80"/>
                    </a:moveTo>
                    <a:lnTo>
                      <a:pt x="186" y="920"/>
                    </a:lnTo>
                  </a:path>
                  <a:path w="1000" h="1000" fill="none">
                    <a:moveTo>
                      <a:pt x="198" y="80"/>
                    </a:moveTo>
                    <a:lnTo>
                      <a:pt x="198" y="920"/>
                    </a:lnTo>
                  </a:path>
                  <a:path w="1000" h="1000" fill="none">
                    <a:moveTo>
                      <a:pt x="210" y="80"/>
                    </a:moveTo>
                    <a:lnTo>
                      <a:pt x="210" y="920"/>
                    </a:lnTo>
                  </a:path>
                  <a:path w="1000" h="1000" fill="none">
                    <a:moveTo>
                      <a:pt x="222" y="80"/>
                    </a:moveTo>
                    <a:lnTo>
                      <a:pt x="222" y="920"/>
                    </a:lnTo>
                  </a:path>
                  <a:path w="1000" h="1000" fill="none">
                    <a:moveTo>
                      <a:pt x="234" y="80"/>
                    </a:moveTo>
                    <a:lnTo>
                      <a:pt x="234" y="920"/>
                    </a:lnTo>
                  </a:path>
                  <a:path w="1000" h="1000" fill="none">
                    <a:moveTo>
                      <a:pt x="246" y="80"/>
                    </a:moveTo>
                    <a:lnTo>
                      <a:pt x="246" y="920"/>
                    </a:lnTo>
                  </a:path>
                  <a:path w="1000" h="1000" fill="none">
                    <a:moveTo>
                      <a:pt x="259" y="80"/>
                    </a:moveTo>
                    <a:lnTo>
                      <a:pt x="259" y="920"/>
                    </a:lnTo>
                  </a:path>
                  <a:path w="1000" h="1000" fill="none">
                    <a:moveTo>
                      <a:pt x="271" y="80"/>
                    </a:moveTo>
                    <a:lnTo>
                      <a:pt x="271" y="920"/>
                    </a:lnTo>
                  </a:path>
                  <a:path w="1000" h="1000" fill="none">
                    <a:moveTo>
                      <a:pt x="283" y="80"/>
                    </a:moveTo>
                    <a:lnTo>
                      <a:pt x="283" y="920"/>
                    </a:lnTo>
                  </a:path>
                  <a:path w="1000" h="1000" fill="none">
                    <a:moveTo>
                      <a:pt x="295" y="80"/>
                    </a:moveTo>
                    <a:lnTo>
                      <a:pt x="295" y="920"/>
                    </a:lnTo>
                  </a:path>
                  <a:path w="1000" h="1000" fill="none">
                    <a:moveTo>
                      <a:pt x="307" y="80"/>
                    </a:moveTo>
                    <a:lnTo>
                      <a:pt x="307" y="920"/>
                    </a:lnTo>
                  </a:path>
                  <a:path w="1000" h="1000" fill="none">
                    <a:moveTo>
                      <a:pt x="319" y="80"/>
                    </a:moveTo>
                    <a:lnTo>
                      <a:pt x="319" y="920"/>
                    </a:lnTo>
                  </a:path>
                  <a:path w="1000" h="1000" fill="none">
                    <a:moveTo>
                      <a:pt x="331" y="80"/>
                    </a:moveTo>
                    <a:lnTo>
                      <a:pt x="331" y="920"/>
                    </a:lnTo>
                  </a:path>
                  <a:path w="1000" h="1000" fill="none">
                    <a:moveTo>
                      <a:pt x="343" y="80"/>
                    </a:moveTo>
                    <a:lnTo>
                      <a:pt x="343" y="920"/>
                    </a:lnTo>
                  </a:path>
                  <a:path w="1000" h="1000" fill="none">
                    <a:moveTo>
                      <a:pt x="355" y="80"/>
                    </a:moveTo>
                    <a:lnTo>
                      <a:pt x="355" y="920"/>
                    </a:lnTo>
                  </a:path>
                  <a:path w="1000" h="1000" fill="none">
                    <a:moveTo>
                      <a:pt x="367" y="80"/>
                    </a:moveTo>
                    <a:lnTo>
                      <a:pt x="367" y="920"/>
                    </a:lnTo>
                  </a:path>
                  <a:path w="1000" h="1000" fill="none">
                    <a:moveTo>
                      <a:pt x="379" y="80"/>
                    </a:moveTo>
                    <a:lnTo>
                      <a:pt x="379" y="920"/>
                    </a:lnTo>
                  </a:path>
                  <a:path w="1000" h="1000" fill="none">
                    <a:moveTo>
                      <a:pt x="391" y="80"/>
                    </a:moveTo>
                    <a:lnTo>
                      <a:pt x="391" y="920"/>
                    </a:lnTo>
                  </a:path>
                  <a:path w="1000" h="1000" fill="none">
                    <a:moveTo>
                      <a:pt x="403" y="80"/>
                    </a:moveTo>
                    <a:lnTo>
                      <a:pt x="403" y="920"/>
                    </a:lnTo>
                  </a:path>
                  <a:path w="1000" h="1000" fill="none">
                    <a:moveTo>
                      <a:pt x="415" y="80"/>
                    </a:moveTo>
                    <a:lnTo>
                      <a:pt x="415" y="920"/>
                    </a:lnTo>
                  </a:path>
                  <a:path w="1000" h="1000" fill="none">
                    <a:moveTo>
                      <a:pt x="427" y="80"/>
                    </a:moveTo>
                    <a:lnTo>
                      <a:pt x="427" y="920"/>
                    </a:lnTo>
                  </a:path>
                  <a:path w="1000" h="1000" fill="none">
                    <a:moveTo>
                      <a:pt x="439" y="80"/>
                    </a:moveTo>
                    <a:lnTo>
                      <a:pt x="439" y="920"/>
                    </a:lnTo>
                  </a:path>
                  <a:path w="1000" h="1000" fill="none">
                    <a:moveTo>
                      <a:pt x="451" y="80"/>
                    </a:moveTo>
                    <a:lnTo>
                      <a:pt x="451" y="920"/>
                    </a:lnTo>
                  </a:path>
                  <a:path w="1000" h="1000" fill="none">
                    <a:moveTo>
                      <a:pt x="463" y="80"/>
                    </a:moveTo>
                    <a:lnTo>
                      <a:pt x="463" y="920"/>
                    </a:lnTo>
                  </a:path>
                  <a:path w="1000" h="1000" fill="none">
                    <a:moveTo>
                      <a:pt x="475" y="80"/>
                    </a:moveTo>
                    <a:lnTo>
                      <a:pt x="475" y="920"/>
                    </a:lnTo>
                  </a:path>
                  <a:path w="1000" h="1000" fill="none">
                    <a:moveTo>
                      <a:pt x="487" y="80"/>
                    </a:moveTo>
                    <a:lnTo>
                      <a:pt x="487" y="920"/>
                    </a:lnTo>
                  </a:path>
                  <a:path w="1000" h="1000" fill="none">
                    <a:moveTo>
                      <a:pt x="500" y="80"/>
                    </a:moveTo>
                    <a:lnTo>
                      <a:pt x="500" y="920"/>
                    </a:lnTo>
                  </a:path>
                  <a:path w="1000" h="1000" fill="none">
                    <a:moveTo>
                      <a:pt x="512" y="80"/>
                    </a:moveTo>
                    <a:lnTo>
                      <a:pt x="512" y="920"/>
                    </a:lnTo>
                  </a:path>
                  <a:path w="1000" h="1000" fill="none">
                    <a:moveTo>
                      <a:pt x="524" y="80"/>
                    </a:moveTo>
                    <a:lnTo>
                      <a:pt x="524" y="920"/>
                    </a:lnTo>
                  </a:path>
                  <a:path w="1000" h="1000" fill="none">
                    <a:moveTo>
                      <a:pt x="536" y="80"/>
                    </a:moveTo>
                    <a:lnTo>
                      <a:pt x="536" y="920"/>
                    </a:lnTo>
                  </a:path>
                  <a:path w="1000" h="1000" fill="none">
                    <a:moveTo>
                      <a:pt x="548" y="80"/>
                    </a:moveTo>
                    <a:lnTo>
                      <a:pt x="548" y="920"/>
                    </a:lnTo>
                  </a:path>
                  <a:path w="1000" h="1000" fill="none">
                    <a:moveTo>
                      <a:pt x="560" y="80"/>
                    </a:moveTo>
                    <a:lnTo>
                      <a:pt x="560" y="920"/>
                    </a:lnTo>
                  </a:path>
                  <a:path w="1000" h="1000" fill="none">
                    <a:moveTo>
                      <a:pt x="572" y="80"/>
                    </a:moveTo>
                    <a:lnTo>
                      <a:pt x="572" y="920"/>
                    </a:lnTo>
                  </a:path>
                  <a:path w="1000" h="1000" fill="none">
                    <a:moveTo>
                      <a:pt x="584" y="80"/>
                    </a:moveTo>
                    <a:lnTo>
                      <a:pt x="584" y="920"/>
                    </a:lnTo>
                  </a:path>
                  <a:path w="1000" h="1000" fill="none">
                    <a:moveTo>
                      <a:pt x="596" y="80"/>
                    </a:moveTo>
                    <a:lnTo>
                      <a:pt x="596" y="920"/>
                    </a:lnTo>
                  </a:path>
                  <a:path w="1000" h="1000" fill="none">
                    <a:moveTo>
                      <a:pt x="608" y="80"/>
                    </a:moveTo>
                    <a:lnTo>
                      <a:pt x="608" y="920"/>
                    </a:lnTo>
                  </a:path>
                  <a:path w="1000" h="1000" fill="none">
                    <a:moveTo>
                      <a:pt x="620" y="80"/>
                    </a:moveTo>
                    <a:lnTo>
                      <a:pt x="620" y="920"/>
                    </a:lnTo>
                  </a:path>
                  <a:path w="1000" h="1000" fill="none">
                    <a:moveTo>
                      <a:pt x="632" y="80"/>
                    </a:moveTo>
                    <a:lnTo>
                      <a:pt x="632" y="920"/>
                    </a:lnTo>
                  </a:path>
                  <a:path w="1000" h="1000" fill="none">
                    <a:moveTo>
                      <a:pt x="644" y="80"/>
                    </a:moveTo>
                    <a:lnTo>
                      <a:pt x="644" y="920"/>
                    </a:lnTo>
                  </a:path>
                  <a:path w="1000" h="1000" fill="none">
                    <a:moveTo>
                      <a:pt x="656" y="80"/>
                    </a:moveTo>
                    <a:lnTo>
                      <a:pt x="656" y="920"/>
                    </a:lnTo>
                  </a:path>
                  <a:path w="1000" h="1000" fill="none">
                    <a:moveTo>
                      <a:pt x="668" y="80"/>
                    </a:moveTo>
                    <a:lnTo>
                      <a:pt x="668" y="920"/>
                    </a:lnTo>
                  </a:path>
                  <a:path w="1000" h="1000" fill="none">
                    <a:moveTo>
                      <a:pt x="680" y="80"/>
                    </a:moveTo>
                    <a:lnTo>
                      <a:pt x="680" y="920"/>
                    </a:lnTo>
                  </a:path>
                  <a:path w="1000" h="1000" fill="none">
                    <a:moveTo>
                      <a:pt x="692" y="80"/>
                    </a:moveTo>
                    <a:lnTo>
                      <a:pt x="692" y="920"/>
                    </a:lnTo>
                  </a:path>
                  <a:path w="1000" h="1000" fill="none">
                    <a:moveTo>
                      <a:pt x="704" y="80"/>
                    </a:moveTo>
                    <a:lnTo>
                      <a:pt x="704" y="920"/>
                    </a:lnTo>
                  </a:path>
                  <a:path w="1000" h="1000" fill="none">
                    <a:moveTo>
                      <a:pt x="716" y="80"/>
                    </a:moveTo>
                    <a:lnTo>
                      <a:pt x="716" y="920"/>
                    </a:lnTo>
                  </a:path>
                  <a:path w="1000" h="1000" fill="none">
                    <a:moveTo>
                      <a:pt x="728" y="80"/>
                    </a:moveTo>
                    <a:lnTo>
                      <a:pt x="728" y="920"/>
                    </a:lnTo>
                  </a:path>
                  <a:path w="1000" h="1000" fill="none">
                    <a:moveTo>
                      <a:pt x="740" y="80"/>
                    </a:moveTo>
                    <a:lnTo>
                      <a:pt x="740" y="920"/>
                    </a:lnTo>
                  </a:path>
                  <a:path w="1000" h="1000" fill="none">
                    <a:moveTo>
                      <a:pt x="753" y="80"/>
                    </a:moveTo>
                    <a:lnTo>
                      <a:pt x="753" y="920"/>
                    </a:lnTo>
                  </a:path>
                  <a:path w="1000" h="1000" fill="none">
                    <a:moveTo>
                      <a:pt x="765" y="80"/>
                    </a:moveTo>
                    <a:lnTo>
                      <a:pt x="765" y="920"/>
                    </a:lnTo>
                  </a:path>
                  <a:path w="1000" h="1000" fill="none">
                    <a:moveTo>
                      <a:pt x="777" y="80"/>
                    </a:moveTo>
                    <a:lnTo>
                      <a:pt x="777" y="920"/>
                    </a:lnTo>
                  </a:path>
                  <a:path w="1000" h="1000" fill="none">
                    <a:moveTo>
                      <a:pt x="789" y="80"/>
                    </a:moveTo>
                    <a:lnTo>
                      <a:pt x="789" y="920"/>
                    </a:lnTo>
                  </a:path>
                  <a:path w="1000" h="1000" fill="none">
                    <a:moveTo>
                      <a:pt x="801" y="80"/>
                    </a:moveTo>
                    <a:lnTo>
                      <a:pt x="801" y="920"/>
                    </a:lnTo>
                  </a:path>
                  <a:path w="1000" h="1000" fill="none">
                    <a:moveTo>
                      <a:pt x="813" y="80"/>
                    </a:moveTo>
                    <a:lnTo>
                      <a:pt x="813" y="920"/>
                    </a:lnTo>
                  </a:path>
                  <a:path w="1000" h="1000" fill="none">
                    <a:moveTo>
                      <a:pt x="825" y="80"/>
                    </a:moveTo>
                    <a:lnTo>
                      <a:pt x="825" y="920"/>
                    </a:lnTo>
                  </a:path>
                  <a:path w="1000" h="1000" fill="none">
                    <a:moveTo>
                      <a:pt x="837" y="80"/>
                    </a:moveTo>
                    <a:lnTo>
                      <a:pt x="837" y="920"/>
                    </a:lnTo>
                  </a:path>
                  <a:path w="1000" h="1000" fill="none">
                    <a:moveTo>
                      <a:pt x="849" y="80"/>
                    </a:moveTo>
                    <a:lnTo>
                      <a:pt x="849" y="920"/>
                    </a:lnTo>
                  </a:path>
                  <a:path w="1000" h="1000" fill="none">
                    <a:moveTo>
                      <a:pt x="861" y="80"/>
                    </a:moveTo>
                    <a:lnTo>
                      <a:pt x="861" y="920"/>
                    </a:lnTo>
                  </a:path>
                  <a:path w="1000" h="1000" fill="none">
                    <a:moveTo>
                      <a:pt x="873" y="80"/>
                    </a:moveTo>
                    <a:lnTo>
                      <a:pt x="873" y="920"/>
                    </a:lnTo>
                  </a:path>
                  <a:path w="1000" h="1000" fill="none">
                    <a:moveTo>
                      <a:pt x="885" y="80"/>
                    </a:moveTo>
                    <a:lnTo>
                      <a:pt x="885" y="920"/>
                    </a:lnTo>
                  </a:path>
                  <a:path w="1000" h="1000" fill="none">
                    <a:moveTo>
                      <a:pt x="897" y="80"/>
                    </a:moveTo>
                    <a:lnTo>
                      <a:pt x="897" y="920"/>
                    </a:lnTo>
                  </a:path>
                  <a:path w="1000" h="1000" fill="none">
                    <a:moveTo>
                      <a:pt x="909" y="80"/>
                    </a:moveTo>
                    <a:lnTo>
                      <a:pt x="909" y="920"/>
                    </a:lnTo>
                  </a:path>
                  <a:path w="1000" h="1000" fill="none">
                    <a:moveTo>
                      <a:pt x="921" y="80"/>
                    </a:moveTo>
                    <a:lnTo>
                      <a:pt x="921" y="920"/>
                    </a:lnTo>
                  </a:path>
                  <a:path w="1000" h="1000" fill="none">
                    <a:moveTo>
                      <a:pt x="933" y="80"/>
                    </a:moveTo>
                    <a:lnTo>
                      <a:pt x="933" y="920"/>
                    </a:lnTo>
                  </a:path>
                  <a:path w="1000" h="1000" fill="none">
                    <a:moveTo>
                      <a:pt x="945" y="80"/>
                    </a:moveTo>
                    <a:lnTo>
                      <a:pt x="945" y="920"/>
                    </a:lnTo>
                  </a:path>
                  <a:path w="1000" h="1000" fill="none">
                    <a:moveTo>
                      <a:pt x="957" y="80"/>
                    </a:moveTo>
                    <a:lnTo>
                      <a:pt x="957" y="920"/>
                    </a:lnTo>
                  </a:path>
                  <a:path w="1000" h="1000" fill="none">
                    <a:moveTo>
                      <a:pt x="969" y="80"/>
                    </a:moveTo>
                    <a:lnTo>
                      <a:pt x="969" y="920"/>
                    </a:lnTo>
                  </a:path>
                  <a:path w="1000" h="1000" fill="none">
                    <a:moveTo>
                      <a:pt x="981" y="80"/>
                    </a:moveTo>
                    <a:lnTo>
                      <a:pt x="981" y="920"/>
                    </a:lnTo>
                  </a:path>
                  <a:path w="1000" h="1000" fill="none">
                    <a:moveTo>
                      <a:pt x="993" y="80"/>
                    </a:moveTo>
                    <a:lnTo>
                      <a:pt x="993" y="920"/>
                    </a:lnTo>
                  </a:path>
                </a:pathLst>
              </a:custGeom>
              <a:noFill/>
              <a:ln w="12700" cap="rnd">
                <a:solidFill>
                  <a:srgbClr val="822E27"/>
                </a:solidFill>
                <a:round/>
              </a:ln>
            </p:spPr>
          </p:sp>
          <p:sp>
            <p:nvSpPr>
              <p:cNvPr id="8" name="Forma 7"/>
              <p:cNvSpPr/>
              <p:nvPr/>
            </p:nvSpPr>
            <p:spPr>
              <a:xfrm>
                <a:off x="1745407" y="1236708"/>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4159788" y="1236708"/>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6229259" y="1236708"/>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6760123" y="1236708"/>
                <a:ext cx="479877" cy="1103717"/>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665683" y="2448397"/>
              <a:ext cx="6898234" cy="1199693"/>
              <a:chOff x="665683" y="2448397"/>
              <a:chExt cx="6898234" cy="1199693"/>
            </a:xfrm>
          </p:grpSpPr>
          <p:sp>
            <p:nvSpPr>
              <p:cNvPr id="13" name="Forma 12"/>
              <p:cNvSpPr/>
              <p:nvPr/>
            </p:nvSpPr>
            <p:spPr>
              <a:xfrm>
                <a:off x="665683" y="2448397"/>
                <a:ext cx="6898234" cy="119969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965606" y="2448397"/>
                <a:ext cx="6298387" cy="1199693"/>
              </a:xfrm>
              <a:custGeom>
                <a:avLst/>
                <a:gdLst/>
                <a:ahLst/>
                <a:cxnLst/>
                <a:rect l="0" t="0" r="r" b="b"/>
                <a:pathLst>
                  <a:path w="1000" h="1000" fill="none">
                    <a:moveTo>
                      <a:pt x="6" y="80"/>
                    </a:moveTo>
                    <a:lnTo>
                      <a:pt x="6" y="920"/>
                    </a:lnTo>
                  </a:path>
                  <a:path w="1000" h="1000" fill="none">
                    <a:moveTo>
                      <a:pt x="18" y="80"/>
                    </a:moveTo>
                    <a:lnTo>
                      <a:pt x="18" y="920"/>
                    </a:lnTo>
                  </a:path>
                  <a:path w="1000" h="1000" fill="none">
                    <a:moveTo>
                      <a:pt x="30" y="80"/>
                    </a:moveTo>
                    <a:lnTo>
                      <a:pt x="30" y="920"/>
                    </a:lnTo>
                  </a:path>
                  <a:path w="1000" h="1000" fill="none">
                    <a:moveTo>
                      <a:pt x="42" y="80"/>
                    </a:moveTo>
                    <a:lnTo>
                      <a:pt x="42" y="920"/>
                    </a:lnTo>
                  </a:path>
                  <a:path w="1000" h="1000" fill="none">
                    <a:moveTo>
                      <a:pt x="54" y="80"/>
                    </a:moveTo>
                    <a:lnTo>
                      <a:pt x="54" y="920"/>
                    </a:lnTo>
                  </a:path>
                  <a:path w="1000" h="1000" fill="none">
                    <a:moveTo>
                      <a:pt x="66" y="80"/>
                    </a:moveTo>
                    <a:lnTo>
                      <a:pt x="66" y="920"/>
                    </a:lnTo>
                  </a:path>
                  <a:path w="1000" h="1000" fill="none">
                    <a:moveTo>
                      <a:pt x="78" y="80"/>
                    </a:moveTo>
                    <a:lnTo>
                      <a:pt x="78" y="920"/>
                    </a:lnTo>
                  </a:path>
                  <a:path w="1000" h="1000" fill="none">
                    <a:moveTo>
                      <a:pt x="90" y="80"/>
                    </a:moveTo>
                    <a:lnTo>
                      <a:pt x="90" y="920"/>
                    </a:lnTo>
                  </a:path>
                  <a:path w="1000" h="1000" fill="none">
                    <a:moveTo>
                      <a:pt x="102" y="80"/>
                    </a:moveTo>
                    <a:lnTo>
                      <a:pt x="102" y="920"/>
                    </a:lnTo>
                  </a:path>
                  <a:path w="1000" h="1000" fill="none">
                    <a:moveTo>
                      <a:pt x="114" y="80"/>
                    </a:moveTo>
                    <a:lnTo>
                      <a:pt x="114" y="920"/>
                    </a:lnTo>
                  </a:path>
                  <a:path w="1000" h="1000" fill="none">
                    <a:moveTo>
                      <a:pt x="126" y="80"/>
                    </a:moveTo>
                    <a:lnTo>
                      <a:pt x="126" y="920"/>
                    </a:lnTo>
                  </a:path>
                  <a:path w="1000" h="1000" fill="none">
                    <a:moveTo>
                      <a:pt x="138" y="80"/>
                    </a:moveTo>
                    <a:lnTo>
                      <a:pt x="138" y="920"/>
                    </a:lnTo>
                  </a:path>
                  <a:path w="1000" h="1000" fill="none">
                    <a:moveTo>
                      <a:pt x="150" y="80"/>
                    </a:moveTo>
                    <a:lnTo>
                      <a:pt x="150" y="920"/>
                    </a:lnTo>
                  </a:path>
                  <a:path w="1000" h="1000" fill="none">
                    <a:moveTo>
                      <a:pt x="162" y="80"/>
                    </a:moveTo>
                    <a:lnTo>
                      <a:pt x="162" y="920"/>
                    </a:lnTo>
                  </a:path>
                  <a:path w="1000" h="1000" fill="none">
                    <a:moveTo>
                      <a:pt x="174" y="80"/>
                    </a:moveTo>
                    <a:lnTo>
                      <a:pt x="174" y="920"/>
                    </a:lnTo>
                  </a:path>
                  <a:path w="1000" h="1000" fill="none">
                    <a:moveTo>
                      <a:pt x="186" y="80"/>
                    </a:moveTo>
                    <a:lnTo>
                      <a:pt x="186" y="920"/>
                    </a:lnTo>
                  </a:path>
                  <a:path w="1000" h="1000" fill="none">
                    <a:moveTo>
                      <a:pt x="198" y="80"/>
                    </a:moveTo>
                    <a:lnTo>
                      <a:pt x="198" y="920"/>
                    </a:lnTo>
                  </a:path>
                  <a:path w="1000" h="1000" fill="none">
                    <a:moveTo>
                      <a:pt x="210" y="80"/>
                    </a:moveTo>
                    <a:lnTo>
                      <a:pt x="210" y="920"/>
                    </a:lnTo>
                  </a:path>
                  <a:path w="1000" h="1000" fill="none">
                    <a:moveTo>
                      <a:pt x="222" y="80"/>
                    </a:moveTo>
                    <a:lnTo>
                      <a:pt x="222" y="920"/>
                    </a:lnTo>
                  </a:path>
                  <a:path w="1000" h="1000" fill="none">
                    <a:moveTo>
                      <a:pt x="234" y="80"/>
                    </a:moveTo>
                    <a:lnTo>
                      <a:pt x="234" y="920"/>
                    </a:lnTo>
                  </a:path>
                  <a:path w="1000" h="1000" fill="none">
                    <a:moveTo>
                      <a:pt x="246" y="80"/>
                    </a:moveTo>
                    <a:lnTo>
                      <a:pt x="246" y="920"/>
                    </a:lnTo>
                  </a:path>
                  <a:path w="1000" h="1000" fill="none">
                    <a:moveTo>
                      <a:pt x="259" y="80"/>
                    </a:moveTo>
                    <a:lnTo>
                      <a:pt x="259" y="920"/>
                    </a:lnTo>
                  </a:path>
                  <a:path w="1000" h="1000" fill="none">
                    <a:moveTo>
                      <a:pt x="271" y="80"/>
                    </a:moveTo>
                    <a:lnTo>
                      <a:pt x="271" y="920"/>
                    </a:lnTo>
                  </a:path>
                  <a:path w="1000" h="1000" fill="none">
                    <a:moveTo>
                      <a:pt x="283" y="80"/>
                    </a:moveTo>
                    <a:lnTo>
                      <a:pt x="283" y="920"/>
                    </a:lnTo>
                  </a:path>
                  <a:path w="1000" h="1000" fill="none">
                    <a:moveTo>
                      <a:pt x="295" y="80"/>
                    </a:moveTo>
                    <a:lnTo>
                      <a:pt x="295" y="920"/>
                    </a:lnTo>
                  </a:path>
                  <a:path w="1000" h="1000" fill="none">
                    <a:moveTo>
                      <a:pt x="307" y="80"/>
                    </a:moveTo>
                    <a:lnTo>
                      <a:pt x="307" y="920"/>
                    </a:lnTo>
                  </a:path>
                  <a:path w="1000" h="1000" fill="none">
                    <a:moveTo>
                      <a:pt x="319" y="80"/>
                    </a:moveTo>
                    <a:lnTo>
                      <a:pt x="319" y="920"/>
                    </a:lnTo>
                  </a:path>
                  <a:path w="1000" h="1000" fill="none">
                    <a:moveTo>
                      <a:pt x="331" y="80"/>
                    </a:moveTo>
                    <a:lnTo>
                      <a:pt x="331" y="920"/>
                    </a:lnTo>
                  </a:path>
                  <a:path w="1000" h="1000" fill="none">
                    <a:moveTo>
                      <a:pt x="343" y="80"/>
                    </a:moveTo>
                    <a:lnTo>
                      <a:pt x="343" y="920"/>
                    </a:lnTo>
                  </a:path>
                  <a:path w="1000" h="1000" fill="none">
                    <a:moveTo>
                      <a:pt x="355" y="80"/>
                    </a:moveTo>
                    <a:lnTo>
                      <a:pt x="355" y="920"/>
                    </a:lnTo>
                  </a:path>
                  <a:path w="1000" h="1000" fill="none">
                    <a:moveTo>
                      <a:pt x="367" y="80"/>
                    </a:moveTo>
                    <a:lnTo>
                      <a:pt x="367" y="920"/>
                    </a:lnTo>
                  </a:path>
                  <a:path w="1000" h="1000" fill="none">
                    <a:moveTo>
                      <a:pt x="379" y="80"/>
                    </a:moveTo>
                    <a:lnTo>
                      <a:pt x="379" y="920"/>
                    </a:lnTo>
                  </a:path>
                  <a:path w="1000" h="1000" fill="none">
                    <a:moveTo>
                      <a:pt x="391" y="80"/>
                    </a:moveTo>
                    <a:lnTo>
                      <a:pt x="391" y="920"/>
                    </a:lnTo>
                  </a:path>
                  <a:path w="1000" h="1000" fill="none">
                    <a:moveTo>
                      <a:pt x="403" y="80"/>
                    </a:moveTo>
                    <a:lnTo>
                      <a:pt x="403" y="920"/>
                    </a:lnTo>
                  </a:path>
                  <a:path w="1000" h="1000" fill="none">
                    <a:moveTo>
                      <a:pt x="415" y="80"/>
                    </a:moveTo>
                    <a:lnTo>
                      <a:pt x="415" y="920"/>
                    </a:lnTo>
                  </a:path>
                  <a:path w="1000" h="1000" fill="none">
                    <a:moveTo>
                      <a:pt x="427" y="80"/>
                    </a:moveTo>
                    <a:lnTo>
                      <a:pt x="427" y="920"/>
                    </a:lnTo>
                  </a:path>
                  <a:path w="1000" h="1000" fill="none">
                    <a:moveTo>
                      <a:pt x="439" y="80"/>
                    </a:moveTo>
                    <a:lnTo>
                      <a:pt x="439" y="920"/>
                    </a:lnTo>
                  </a:path>
                  <a:path w="1000" h="1000" fill="none">
                    <a:moveTo>
                      <a:pt x="451" y="80"/>
                    </a:moveTo>
                    <a:lnTo>
                      <a:pt x="451" y="920"/>
                    </a:lnTo>
                  </a:path>
                  <a:path w="1000" h="1000" fill="none">
                    <a:moveTo>
                      <a:pt x="463" y="80"/>
                    </a:moveTo>
                    <a:lnTo>
                      <a:pt x="463" y="920"/>
                    </a:lnTo>
                  </a:path>
                  <a:path w="1000" h="1000" fill="none">
                    <a:moveTo>
                      <a:pt x="475" y="80"/>
                    </a:moveTo>
                    <a:lnTo>
                      <a:pt x="475" y="920"/>
                    </a:lnTo>
                  </a:path>
                  <a:path w="1000" h="1000" fill="none">
                    <a:moveTo>
                      <a:pt x="487" y="80"/>
                    </a:moveTo>
                    <a:lnTo>
                      <a:pt x="487" y="920"/>
                    </a:lnTo>
                  </a:path>
                  <a:path w="1000" h="1000" fill="none">
                    <a:moveTo>
                      <a:pt x="500" y="80"/>
                    </a:moveTo>
                    <a:lnTo>
                      <a:pt x="500" y="920"/>
                    </a:lnTo>
                  </a:path>
                  <a:path w="1000" h="1000" fill="none">
                    <a:moveTo>
                      <a:pt x="512" y="80"/>
                    </a:moveTo>
                    <a:lnTo>
                      <a:pt x="512" y="920"/>
                    </a:lnTo>
                  </a:path>
                  <a:path w="1000" h="1000" fill="none">
                    <a:moveTo>
                      <a:pt x="524" y="80"/>
                    </a:moveTo>
                    <a:lnTo>
                      <a:pt x="524" y="920"/>
                    </a:lnTo>
                  </a:path>
                  <a:path w="1000" h="1000" fill="none">
                    <a:moveTo>
                      <a:pt x="536" y="80"/>
                    </a:moveTo>
                    <a:lnTo>
                      <a:pt x="536" y="920"/>
                    </a:lnTo>
                  </a:path>
                  <a:path w="1000" h="1000" fill="none">
                    <a:moveTo>
                      <a:pt x="548" y="80"/>
                    </a:moveTo>
                    <a:lnTo>
                      <a:pt x="548" y="920"/>
                    </a:lnTo>
                  </a:path>
                  <a:path w="1000" h="1000" fill="none">
                    <a:moveTo>
                      <a:pt x="560" y="80"/>
                    </a:moveTo>
                    <a:lnTo>
                      <a:pt x="560" y="920"/>
                    </a:lnTo>
                  </a:path>
                  <a:path w="1000" h="1000" fill="none">
                    <a:moveTo>
                      <a:pt x="572" y="80"/>
                    </a:moveTo>
                    <a:lnTo>
                      <a:pt x="572" y="920"/>
                    </a:lnTo>
                  </a:path>
                  <a:path w="1000" h="1000" fill="none">
                    <a:moveTo>
                      <a:pt x="584" y="80"/>
                    </a:moveTo>
                    <a:lnTo>
                      <a:pt x="584" y="920"/>
                    </a:lnTo>
                  </a:path>
                  <a:path w="1000" h="1000" fill="none">
                    <a:moveTo>
                      <a:pt x="596" y="80"/>
                    </a:moveTo>
                    <a:lnTo>
                      <a:pt x="596" y="920"/>
                    </a:lnTo>
                  </a:path>
                  <a:path w="1000" h="1000" fill="none">
                    <a:moveTo>
                      <a:pt x="608" y="80"/>
                    </a:moveTo>
                    <a:lnTo>
                      <a:pt x="608" y="920"/>
                    </a:lnTo>
                  </a:path>
                  <a:path w="1000" h="1000" fill="none">
                    <a:moveTo>
                      <a:pt x="620" y="80"/>
                    </a:moveTo>
                    <a:lnTo>
                      <a:pt x="620" y="920"/>
                    </a:lnTo>
                  </a:path>
                  <a:path w="1000" h="1000" fill="none">
                    <a:moveTo>
                      <a:pt x="632" y="80"/>
                    </a:moveTo>
                    <a:lnTo>
                      <a:pt x="632" y="920"/>
                    </a:lnTo>
                  </a:path>
                  <a:path w="1000" h="1000" fill="none">
                    <a:moveTo>
                      <a:pt x="644" y="80"/>
                    </a:moveTo>
                    <a:lnTo>
                      <a:pt x="644" y="920"/>
                    </a:lnTo>
                  </a:path>
                  <a:path w="1000" h="1000" fill="none">
                    <a:moveTo>
                      <a:pt x="656" y="80"/>
                    </a:moveTo>
                    <a:lnTo>
                      <a:pt x="656" y="920"/>
                    </a:lnTo>
                  </a:path>
                  <a:path w="1000" h="1000" fill="none">
                    <a:moveTo>
                      <a:pt x="668" y="80"/>
                    </a:moveTo>
                    <a:lnTo>
                      <a:pt x="668" y="920"/>
                    </a:lnTo>
                  </a:path>
                  <a:path w="1000" h="1000" fill="none">
                    <a:moveTo>
                      <a:pt x="680" y="80"/>
                    </a:moveTo>
                    <a:lnTo>
                      <a:pt x="680" y="920"/>
                    </a:lnTo>
                  </a:path>
                  <a:path w="1000" h="1000" fill="none">
                    <a:moveTo>
                      <a:pt x="692" y="80"/>
                    </a:moveTo>
                    <a:lnTo>
                      <a:pt x="692" y="920"/>
                    </a:lnTo>
                  </a:path>
                  <a:path w="1000" h="1000" fill="none">
                    <a:moveTo>
                      <a:pt x="704" y="80"/>
                    </a:moveTo>
                    <a:lnTo>
                      <a:pt x="704" y="920"/>
                    </a:lnTo>
                  </a:path>
                  <a:path w="1000" h="1000" fill="none">
                    <a:moveTo>
                      <a:pt x="716" y="80"/>
                    </a:moveTo>
                    <a:lnTo>
                      <a:pt x="716" y="920"/>
                    </a:lnTo>
                  </a:path>
                  <a:path w="1000" h="1000" fill="none">
                    <a:moveTo>
                      <a:pt x="728" y="80"/>
                    </a:moveTo>
                    <a:lnTo>
                      <a:pt x="728" y="920"/>
                    </a:lnTo>
                  </a:path>
                  <a:path w="1000" h="1000" fill="none">
                    <a:moveTo>
                      <a:pt x="740" y="80"/>
                    </a:moveTo>
                    <a:lnTo>
                      <a:pt x="740" y="920"/>
                    </a:lnTo>
                  </a:path>
                  <a:path w="1000" h="1000" fill="none">
                    <a:moveTo>
                      <a:pt x="753" y="80"/>
                    </a:moveTo>
                    <a:lnTo>
                      <a:pt x="753" y="920"/>
                    </a:lnTo>
                  </a:path>
                  <a:path w="1000" h="1000" fill="none">
                    <a:moveTo>
                      <a:pt x="765" y="80"/>
                    </a:moveTo>
                    <a:lnTo>
                      <a:pt x="765" y="920"/>
                    </a:lnTo>
                  </a:path>
                  <a:path w="1000" h="1000" fill="none">
                    <a:moveTo>
                      <a:pt x="777" y="80"/>
                    </a:moveTo>
                    <a:lnTo>
                      <a:pt x="777" y="920"/>
                    </a:lnTo>
                  </a:path>
                  <a:path w="1000" h="1000" fill="none">
                    <a:moveTo>
                      <a:pt x="789" y="80"/>
                    </a:moveTo>
                    <a:lnTo>
                      <a:pt x="789" y="920"/>
                    </a:lnTo>
                  </a:path>
                  <a:path w="1000" h="1000" fill="none">
                    <a:moveTo>
                      <a:pt x="801" y="80"/>
                    </a:moveTo>
                    <a:lnTo>
                      <a:pt x="801" y="920"/>
                    </a:lnTo>
                  </a:path>
                  <a:path w="1000" h="1000" fill="none">
                    <a:moveTo>
                      <a:pt x="813" y="80"/>
                    </a:moveTo>
                    <a:lnTo>
                      <a:pt x="813" y="920"/>
                    </a:lnTo>
                  </a:path>
                  <a:path w="1000" h="1000" fill="none">
                    <a:moveTo>
                      <a:pt x="825" y="80"/>
                    </a:moveTo>
                    <a:lnTo>
                      <a:pt x="825" y="920"/>
                    </a:lnTo>
                  </a:path>
                  <a:path w="1000" h="1000" fill="none">
                    <a:moveTo>
                      <a:pt x="837" y="80"/>
                    </a:moveTo>
                    <a:lnTo>
                      <a:pt x="837" y="920"/>
                    </a:lnTo>
                  </a:path>
                  <a:path w="1000" h="1000" fill="none">
                    <a:moveTo>
                      <a:pt x="849" y="80"/>
                    </a:moveTo>
                    <a:lnTo>
                      <a:pt x="849" y="920"/>
                    </a:lnTo>
                  </a:path>
                  <a:path w="1000" h="1000" fill="none">
                    <a:moveTo>
                      <a:pt x="861" y="80"/>
                    </a:moveTo>
                    <a:lnTo>
                      <a:pt x="861" y="920"/>
                    </a:lnTo>
                  </a:path>
                  <a:path w="1000" h="1000" fill="none">
                    <a:moveTo>
                      <a:pt x="873" y="80"/>
                    </a:moveTo>
                    <a:lnTo>
                      <a:pt x="873" y="920"/>
                    </a:lnTo>
                  </a:path>
                  <a:path w="1000" h="1000" fill="none">
                    <a:moveTo>
                      <a:pt x="885" y="80"/>
                    </a:moveTo>
                    <a:lnTo>
                      <a:pt x="885" y="920"/>
                    </a:lnTo>
                  </a:path>
                  <a:path w="1000" h="1000" fill="none">
                    <a:moveTo>
                      <a:pt x="897" y="80"/>
                    </a:moveTo>
                    <a:lnTo>
                      <a:pt x="897" y="920"/>
                    </a:lnTo>
                  </a:path>
                  <a:path w="1000" h="1000" fill="none">
                    <a:moveTo>
                      <a:pt x="909" y="80"/>
                    </a:moveTo>
                    <a:lnTo>
                      <a:pt x="909" y="920"/>
                    </a:lnTo>
                  </a:path>
                  <a:path w="1000" h="1000" fill="none">
                    <a:moveTo>
                      <a:pt x="921" y="80"/>
                    </a:moveTo>
                    <a:lnTo>
                      <a:pt x="921" y="920"/>
                    </a:lnTo>
                  </a:path>
                  <a:path w="1000" h="1000" fill="none">
                    <a:moveTo>
                      <a:pt x="933" y="80"/>
                    </a:moveTo>
                    <a:lnTo>
                      <a:pt x="933" y="920"/>
                    </a:lnTo>
                  </a:path>
                  <a:path w="1000" h="1000" fill="none">
                    <a:moveTo>
                      <a:pt x="945" y="80"/>
                    </a:moveTo>
                    <a:lnTo>
                      <a:pt x="945" y="920"/>
                    </a:lnTo>
                  </a:path>
                  <a:path w="1000" h="1000" fill="none">
                    <a:moveTo>
                      <a:pt x="957" y="80"/>
                    </a:moveTo>
                    <a:lnTo>
                      <a:pt x="957" y="920"/>
                    </a:lnTo>
                  </a:path>
                  <a:path w="1000" h="1000" fill="none">
                    <a:moveTo>
                      <a:pt x="969" y="80"/>
                    </a:moveTo>
                    <a:lnTo>
                      <a:pt x="969" y="920"/>
                    </a:lnTo>
                  </a:path>
                  <a:path w="1000" h="1000" fill="none">
                    <a:moveTo>
                      <a:pt x="981" y="80"/>
                    </a:moveTo>
                    <a:lnTo>
                      <a:pt x="981" y="920"/>
                    </a:lnTo>
                  </a:path>
                  <a:path w="1000" h="1000" fill="none">
                    <a:moveTo>
                      <a:pt x="993" y="80"/>
                    </a:moveTo>
                    <a:lnTo>
                      <a:pt x="993" y="920"/>
                    </a:lnTo>
                  </a:path>
                </a:pathLst>
              </a:custGeom>
              <a:noFill/>
              <a:ln w="12700" cap="rnd">
                <a:solidFill>
                  <a:srgbClr val="822E27"/>
                </a:solidFill>
                <a:round/>
              </a:ln>
            </p:spPr>
          </p:sp>
          <p:sp>
            <p:nvSpPr>
              <p:cNvPr id="15" name="Forma 14"/>
              <p:cNvSpPr/>
              <p:nvPr/>
            </p:nvSpPr>
            <p:spPr>
              <a:xfrm>
                <a:off x="2045330" y="2496385"/>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4459712" y="2496385"/>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6529182" y="2496385"/>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7060046" y="2496385"/>
                <a:ext cx="479877" cy="1103717"/>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9" name="Fibra_3"/>
            <p:cNvGrpSpPr/>
            <p:nvPr/>
          </p:nvGrpSpPr>
          <p:grpSpPr>
            <a:xfrm>
              <a:off x="965606" y="3708075"/>
              <a:ext cx="6898234" cy="1199693"/>
              <a:chOff x="965606" y="3708075"/>
              <a:chExt cx="6898234" cy="1199693"/>
            </a:xfrm>
          </p:grpSpPr>
          <p:sp>
            <p:nvSpPr>
              <p:cNvPr id="20" name="Forma 19"/>
              <p:cNvSpPr/>
              <p:nvPr/>
            </p:nvSpPr>
            <p:spPr>
              <a:xfrm>
                <a:off x="965606" y="3708075"/>
                <a:ext cx="6898234" cy="119969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1" name="Forma 20"/>
              <p:cNvSpPr/>
              <p:nvPr/>
            </p:nvSpPr>
            <p:spPr>
              <a:xfrm>
                <a:off x="1265530" y="3708075"/>
                <a:ext cx="6298387" cy="1199693"/>
              </a:xfrm>
              <a:custGeom>
                <a:avLst/>
                <a:gdLst/>
                <a:ahLst/>
                <a:cxnLst/>
                <a:rect l="0" t="0" r="r" b="b"/>
                <a:pathLst>
                  <a:path w="1000" h="1000" fill="none">
                    <a:moveTo>
                      <a:pt x="6" y="80"/>
                    </a:moveTo>
                    <a:lnTo>
                      <a:pt x="6" y="920"/>
                    </a:lnTo>
                  </a:path>
                  <a:path w="1000" h="1000" fill="none">
                    <a:moveTo>
                      <a:pt x="18" y="80"/>
                    </a:moveTo>
                    <a:lnTo>
                      <a:pt x="18" y="920"/>
                    </a:lnTo>
                  </a:path>
                  <a:path w="1000" h="1000" fill="none">
                    <a:moveTo>
                      <a:pt x="30" y="80"/>
                    </a:moveTo>
                    <a:lnTo>
                      <a:pt x="30" y="920"/>
                    </a:lnTo>
                  </a:path>
                  <a:path w="1000" h="1000" fill="none">
                    <a:moveTo>
                      <a:pt x="42" y="80"/>
                    </a:moveTo>
                    <a:lnTo>
                      <a:pt x="42" y="920"/>
                    </a:lnTo>
                  </a:path>
                  <a:path w="1000" h="1000" fill="none">
                    <a:moveTo>
                      <a:pt x="54" y="80"/>
                    </a:moveTo>
                    <a:lnTo>
                      <a:pt x="54" y="920"/>
                    </a:lnTo>
                  </a:path>
                  <a:path w="1000" h="1000" fill="none">
                    <a:moveTo>
                      <a:pt x="66" y="80"/>
                    </a:moveTo>
                    <a:lnTo>
                      <a:pt x="66" y="920"/>
                    </a:lnTo>
                  </a:path>
                  <a:path w="1000" h="1000" fill="none">
                    <a:moveTo>
                      <a:pt x="78" y="80"/>
                    </a:moveTo>
                    <a:lnTo>
                      <a:pt x="78" y="920"/>
                    </a:lnTo>
                  </a:path>
                  <a:path w="1000" h="1000" fill="none">
                    <a:moveTo>
                      <a:pt x="90" y="80"/>
                    </a:moveTo>
                    <a:lnTo>
                      <a:pt x="90" y="920"/>
                    </a:lnTo>
                  </a:path>
                  <a:path w="1000" h="1000" fill="none">
                    <a:moveTo>
                      <a:pt x="102" y="80"/>
                    </a:moveTo>
                    <a:lnTo>
                      <a:pt x="102" y="920"/>
                    </a:lnTo>
                  </a:path>
                  <a:path w="1000" h="1000" fill="none">
                    <a:moveTo>
                      <a:pt x="114" y="80"/>
                    </a:moveTo>
                    <a:lnTo>
                      <a:pt x="114" y="920"/>
                    </a:lnTo>
                  </a:path>
                  <a:path w="1000" h="1000" fill="none">
                    <a:moveTo>
                      <a:pt x="126" y="80"/>
                    </a:moveTo>
                    <a:lnTo>
                      <a:pt x="126" y="920"/>
                    </a:lnTo>
                  </a:path>
                  <a:path w="1000" h="1000" fill="none">
                    <a:moveTo>
                      <a:pt x="138" y="80"/>
                    </a:moveTo>
                    <a:lnTo>
                      <a:pt x="138" y="920"/>
                    </a:lnTo>
                  </a:path>
                  <a:path w="1000" h="1000" fill="none">
                    <a:moveTo>
                      <a:pt x="150" y="80"/>
                    </a:moveTo>
                    <a:lnTo>
                      <a:pt x="150" y="920"/>
                    </a:lnTo>
                  </a:path>
                  <a:path w="1000" h="1000" fill="none">
                    <a:moveTo>
                      <a:pt x="162" y="80"/>
                    </a:moveTo>
                    <a:lnTo>
                      <a:pt x="162" y="920"/>
                    </a:lnTo>
                  </a:path>
                  <a:path w="1000" h="1000" fill="none">
                    <a:moveTo>
                      <a:pt x="174" y="80"/>
                    </a:moveTo>
                    <a:lnTo>
                      <a:pt x="174" y="920"/>
                    </a:lnTo>
                  </a:path>
                  <a:path w="1000" h="1000" fill="none">
                    <a:moveTo>
                      <a:pt x="186" y="80"/>
                    </a:moveTo>
                    <a:lnTo>
                      <a:pt x="186" y="920"/>
                    </a:lnTo>
                  </a:path>
                  <a:path w="1000" h="1000" fill="none">
                    <a:moveTo>
                      <a:pt x="198" y="80"/>
                    </a:moveTo>
                    <a:lnTo>
                      <a:pt x="198" y="920"/>
                    </a:lnTo>
                  </a:path>
                  <a:path w="1000" h="1000" fill="none">
                    <a:moveTo>
                      <a:pt x="210" y="80"/>
                    </a:moveTo>
                    <a:lnTo>
                      <a:pt x="210" y="920"/>
                    </a:lnTo>
                  </a:path>
                  <a:path w="1000" h="1000" fill="none">
                    <a:moveTo>
                      <a:pt x="222" y="80"/>
                    </a:moveTo>
                    <a:lnTo>
                      <a:pt x="222" y="920"/>
                    </a:lnTo>
                  </a:path>
                  <a:path w="1000" h="1000" fill="none">
                    <a:moveTo>
                      <a:pt x="234" y="80"/>
                    </a:moveTo>
                    <a:lnTo>
                      <a:pt x="234" y="920"/>
                    </a:lnTo>
                  </a:path>
                  <a:path w="1000" h="1000" fill="none">
                    <a:moveTo>
                      <a:pt x="246" y="80"/>
                    </a:moveTo>
                    <a:lnTo>
                      <a:pt x="246" y="920"/>
                    </a:lnTo>
                  </a:path>
                  <a:path w="1000" h="1000" fill="none">
                    <a:moveTo>
                      <a:pt x="259" y="80"/>
                    </a:moveTo>
                    <a:lnTo>
                      <a:pt x="259" y="920"/>
                    </a:lnTo>
                  </a:path>
                  <a:path w="1000" h="1000" fill="none">
                    <a:moveTo>
                      <a:pt x="271" y="80"/>
                    </a:moveTo>
                    <a:lnTo>
                      <a:pt x="271" y="920"/>
                    </a:lnTo>
                  </a:path>
                  <a:path w="1000" h="1000" fill="none">
                    <a:moveTo>
                      <a:pt x="283" y="80"/>
                    </a:moveTo>
                    <a:lnTo>
                      <a:pt x="283" y="920"/>
                    </a:lnTo>
                  </a:path>
                  <a:path w="1000" h="1000" fill="none">
                    <a:moveTo>
                      <a:pt x="295" y="80"/>
                    </a:moveTo>
                    <a:lnTo>
                      <a:pt x="295" y="920"/>
                    </a:lnTo>
                  </a:path>
                  <a:path w="1000" h="1000" fill="none">
                    <a:moveTo>
                      <a:pt x="307" y="80"/>
                    </a:moveTo>
                    <a:lnTo>
                      <a:pt x="307" y="920"/>
                    </a:lnTo>
                  </a:path>
                  <a:path w="1000" h="1000" fill="none">
                    <a:moveTo>
                      <a:pt x="319" y="80"/>
                    </a:moveTo>
                    <a:lnTo>
                      <a:pt x="319" y="920"/>
                    </a:lnTo>
                  </a:path>
                  <a:path w="1000" h="1000" fill="none">
                    <a:moveTo>
                      <a:pt x="331" y="80"/>
                    </a:moveTo>
                    <a:lnTo>
                      <a:pt x="331" y="920"/>
                    </a:lnTo>
                  </a:path>
                  <a:path w="1000" h="1000" fill="none">
                    <a:moveTo>
                      <a:pt x="343" y="80"/>
                    </a:moveTo>
                    <a:lnTo>
                      <a:pt x="343" y="920"/>
                    </a:lnTo>
                  </a:path>
                  <a:path w="1000" h="1000" fill="none">
                    <a:moveTo>
                      <a:pt x="355" y="80"/>
                    </a:moveTo>
                    <a:lnTo>
                      <a:pt x="355" y="920"/>
                    </a:lnTo>
                  </a:path>
                  <a:path w="1000" h="1000" fill="none">
                    <a:moveTo>
                      <a:pt x="367" y="80"/>
                    </a:moveTo>
                    <a:lnTo>
                      <a:pt x="367" y="920"/>
                    </a:lnTo>
                  </a:path>
                  <a:path w="1000" h="1000" fill="none">
                    <a:moveTo>
                      <a:pt x="379" y="80"/>
                    </a:moveTo>
                    <a:lnTo>
                      <a:pt x="379" y="920"/>
                    </a:lnTo>
                  </a:path>
                  <a:path w="1000" h="1000" fill="none">
                    <a:moveTo>
                      <a:pt x="391" y="80"/>
                    </a:moveTo>
                    <a:lnTo>
                      <a:pt x="391" y="920"/>
                    </a:lnTo>
                  </a:path>
                  <a:path w="1000" h="1000" fill="none">
                    <a:moveTo>
                      <a:pt x="403" y="80"/>
                    </a:moveTo>
                    <a:lnTo>
                      <a:pt x="403" y="920"/>
                    </a:lnTo>
                  </a:path>
                  <a:path w="1000" h="1000" fill="none">
                    <a:moveTo>
                      <a:pt x="415" y="80"/>
                    </a:moveTo>
                    <a:lnTo>
                      <a:pt x="415" y="920"/>
                    </a:lnTo>
                  </a:path>
                  <a:path w="1000" h="1000" fill="none">
                    <a:moveTo>
                      <a:pt x="427" y="80"/>
                    </a:moveTo>
                    <a:lnTo>
                      <a:pt x="427" y="920"/>
                    </a:lnTo>
                  </a:path>
                  <a:path w="1000" h="1000" fill="none">
                    <a:moveTo>
                      <a:pt x="439" y="80"/>
                    </a:moveTo>
                    <a:lnTo>
                      <a:pt x="439" y="920"/>
                    </a:lnTo>
                  </a:path>
                  <a:path w="1000" h="1000" fill="none">
                    <a:moveTo>
                      <a:pt x="451" y="80"/>
                    </a:moveTo>
                    <a:lnTo>
                      <a:pt x="451" y="920"/>
                    </a:lnTo>
                  </a:path>
                  <a:path w="1000" h="1000" fill="none">
                    <a:moveTo>
                      <a:pt x="463" y="80"/>
                    </a:moveTo>
                    <a:lnTo>
                      <a:pt x="463" y="920"/>
                    </a:lnTo>
                  </a:path>
                  <a:path w="1000" h="1000" fill="none">
                    <a:moveTo>
                      <a:pt x="475" y="80"/>
                    </a:moveTo>
                    <a:lnTo>
                      <a:pt x="475" y="920"/>
                    </a:lnTo>
                  </a:path>
                  <a:path w="1000" h="1000" fill="none">
                    <a:moveTo>
                      <a:pt x="487" y="80"/>
                    </a:moveTo>
                    <a:lnTo>
                      <a:pt x="487" y="920"/>
                    </a:lnTo>
                  </a:path>
                  <a:path w="1000" h="1000" fill="none">
                    <a:moveTo>
                      <a:pt x="500" y="80"/>
                    </a:moveTo>
                    <a:lnTo>
                      <a:pt x="500" y="920"/>
                    </a:lnTo>
                  </a:path>
                  <a:path w="1000" h="1000" fill="none">
                    <a:moveTo>
                      <a:pt x="512" y="80"/>
                    </a:moveTo>
                    <a:lnTo>
                      <a:pt x="512" y="920"/>
                    </a:lnTo>
                  </a:path>
                  <a:path w="1000" h="1000" fill="none">
                    <a:moveTo>
                      <a:pt x="524" y="80"/>
                    </a:moveTo>
                    <a:lnTo>
                      <a:pt x="524" y="920"/>
                    </a:lnTo>
                  </a:path>
                  <a:path w="1000" h="1000" fill="none">
                    <a:moveTo>
                      <a:pt x="536" y="80"/>
                    </a:moveTo>
                    <a:lnTo>
                      <a:pt x="536" y="920"/>
                    </a:lnTo>
                  </a:path>
                  <a:path w="1000" h="1000" fill="none">
                    <a:moveTo>
                      <a:pt x="548" y="80"/>
                    </a:moveTo>
                    <a:lnTo>
                      <a:pt x="548" y="920"/>
                    </a:lnTo>
                  </a:path>
                  <a:path w="1000" h="1000" fill="none">
                    <a:moveTo>
                      <a:pt x="560" y="80"/>
                    </a:moveTo>
                    <a:lnTo>
                      <a:pt x="560" y="920"/>
                    </a:lnTo>
                  </a:path>
                  <a:path w="1000" h="1000" fill="none">
                    <a:moveTo>
                      <a:pt x="572" y="80"/>
                    </a:moveTo>
                    <a:lnTo>
                      <a:pt x="572" y="920"/>
                    </a:lnTo>
                  </a:path>
                  <a:path w="1000" h="1000" fill="none">
                    <a:moveTo>
                      <a:pt x="584" y="80"/>
                    </a:moveTo>
                    <a:lnTo>
                      <a:pt x="584" y="920"/>
                    </a:lnTo>
                  </a:path>
                  <a:path w="1000" h="1000" fill="none">
                    <a:moveTo>
                      <a:pt x="596" y="80"/>
                    </a:moveTo>
                    <a:lnTo>
                      <a:pt x="596" y="920"/>
                    </a:lnTo>
                  </a:path>
                  <a:path w="1000" h="1000" fill="none">
                    <a:moveTo>
                      <a:pt x="608" y="80"/>
                    </a:moveTo>
                    <a:lnTo>
                      <a:pt x="608" y="920"/>
                    </a:lnTo>
                  </a:path>
                  <a:path w="1000" h="1000" fill="none">
                    <a:moveTo>
                      <a:pt x="620" y="80"/>
                    </a:moveTo>
                    <a:lnTo>
                      <a:pt x="620" y="920"/>
                    </a:lnTo>
                  </a:path>
                  <a:path w="1000" h="1000" fill="none">
                    <a:moveTo>
                      <a:pt x="632" y="80"/>
                    </a:moveTo>
                    <a:lnTo>
                      <a:pt x="632" y="920"/>
                    </a:lnTo>
                  </a:path>
                  <a:path w="1000" h="1000" fill="none">
                    <a:moveTo>
                      <a:pt x="644" y="80"/>
                    </a:moveTo>
                    <a:lnTo>
                      <a:pt x="644" y="920"/>
                    </a:lnTo>
                  </a:path>
                  <a:path w="1000" h="1000" fill="none">
                    <a:moveTo>
                      <a:pt x="656" y="80"/>
                    </a:moveTo>
                    <a:lnTo>
                      <a:pt x="656" y="920"/>
                    </a:lnTo>
                  </a:path>
                  <a:path w="1000" h="1000" fill="none">
                    <a:moveTo>
                      <a:pt x="668" y="80"/>
                    </a:moveTo>
                    <a:lnTo>
                      <a:pt x="668" y="920"/>
                    </a:lnTo>
                  </a:path>
                  <a:path w="1000" h="1000" fill="none">
                    <a:moveTo>
                      <a:pt x="680" y="80"/>
                    </a:moveTo>
                    <a:lnTo>
                      <a:pt x="680" y="920"/>
                    </a:lnTo>
                  </a:path>
                  <a:path w="1000" h="1000" fill="none">
                    <a:moveTo>
                      <a:pt x="692" y="80"/>
                    </a:moveTo>
                    <a:lnTo>
                      <a:pt x="692" y="920"/>
                    </a:lnTo>
                  </a:path>
                  <a:path w="1000" h="1000" fill="none">
                    <a:moveTo>
                      <a:pt x="704" y="80"/>
                    </a:moveTo>
                    <a:lnTo>
                      <a:pt x="704" y="920"/>
                    </a:lnTo>
                  </a:path>
                  <a:path w="1000" h="1000" fill="none">
                    <a:moveTo>
                      <a:pt x="716" y="80"/>
                    </a:moveTo>
                    <a:lnTo>
                      <a:pt x="716" y="920"/>
                    </a:lnTo>
                  </a:path>
                  <a:path w="1000" h="1000" fill="none">
                    <a:moveTo>
                      <a:pt x="728" y="80"/>
                    </a:moveTo>
                    <a:lnTo>
                      <a:pt x="728" y="920"/>
                    </a:lnTo>
                  </a:path>
                  <a:path w="1000" h="1000" fill="none">
                    <a:moveTo>
                      <a:pt x="740" y="80"/>
                    </a:moveTo>
                    <a:lnTo>
                      <a:pt x="740" y="920"/>
                    </a:lnTo>
                  </a:path>
                  <a:path w="1000" h="1000" fill="none">
                    <a:moveTo>
                      <a:pt x="753" y="80"/>
                    </a:moveTo>
                    <a:lnTo>
                      <a:pt x="753" y="920"/>
                    </a:lnTo>
                  </a:path>
                  <a:path w="1000" h="1000" fill="none">
                    <a:moveTo>
                      <a:pt x="765" y="80"/>
                    </a:moveTo>
                    <a:lnTo>
                      <a:pt x="765" y="920"/>
                    </a:lnTo>
                  </a:path>
                  <a:path w="1000" h="1000" fill="none">
                    <a:moveTo>
                      <a:pt x="777" y="80"/>
                    </a:moveTo>
                    <a:lnTo>
                      <a:pt x="777" y="920"/>
                    </a:lnTo>
                  </a:path>
                  <a:path w="1000" h="1000" fill="none">
                    <a:moveTo>
                      <a:pt x="789" y="80"/>
                    </a:moveTo>
                    <a:lnTo>
                      <a:pt x="789" y="920"/>
                    </a:lnTo>
                  </a:path>
                  <a:path w="1000" h="1000" fill="none">
                    <a:moveTo>
                      <a:pt x="801" y="80"/>
                    </a:moveTo>
                    <a:lnTo>
                      <a:pt x="801" y="920"/>
                    </a:lnTo>
                  </a:path>
                  <a:path w="1000" h="1000" fill="none">
                    <a:moveTo>
                      <a:pt x="813" y="80"/>
                    </a:moveTo>
                    <a:lnTo>
                      <a:pt x="813" y="920"/>
                    </a:lnTo>
                  </a:path>
                  <a:path w="1000" h="1000" fill="none">
                    <a:moveTo>
                      <a:pt x="825" y="80"/>
                    </a:moveTo>
                    <a:lnTo>
                      <a:pt x="825" y="920"/>
                    </a:lnTo>
                  </a:path>
                  <a:path w="1000" h="1000" fill="none">
                    <a:moveTo>
                      <a:pt x="837" y="80"/>
                    </a:moveTo>
                    <a:lnTo>
                      <a:pt x="837" y="920"/>
                    </a:lnTo>
                  </a:path>
                  <a:path w="1000" h="1000" fill="none">
                    <a:moveTo>
                      <a:pt x="849" y="80"/>
                    </a:moveTo>
                    <a:lnTo>
                      <a:pt x="849" y="920"/>
                    </a:lnTo>
                  </a:path>
                  <a:path w="1000" h="1000" fill="none">
                    <a:moveTo>
                      <a:pt x="861" y="80"/>
                    </a:moveTo>
                    <a:lnTo>
                      <a:pt x="861" y="920"/>
                    </a:lnTo>
                  </a:path>
                  <a:path w="1000" h="1000" fill="none">
                    <a:moveTo>
                      <a:pt x="873" y="80"/>
                    </a:moveTo>
                    <a:lnTo>
                      <a:pt x="873" y="920"/>
                    </a:lnTo>
                  </a:path>
                  <a:path w="1000" h="1000" fill="none">
                    <a:moveTo>
                      <a:pt x="885" y="80"/>
                    </a:moveTo>
                    <a:lnTo>
                      <a:pt x="885" y="920"/>
                    </a:lnTo>
                  </a:path>
                  <a:path w="1000" h="1000" fill="none">
                    <a:moveTo>
                      <a:pt x="897" y="80"/>
                    </a:moveTo>
                    <a:lnTo>
                      <a:pt x="897" y="920"/>
                    </a:lnTo>
                  </a:path>
                  <a:path w="1000" h="1000" fill="none">
                    <a:moveTo>
                      <a:pt x="909" y="80"/>
                    </a:moveTo>
                    <a:lnTo>
                      <a:pt x="909" y="920"/>
                    </a:lnTo>
                  </a:path>
                  <a:path w="1000" h="1000" fill="none">
                    <a:moveTo>
                      <a:pt x="921" y="80"/>
                    </a:moveTo>
                    <a:lnTo>
                      <a:pt x="921" y="920"/>
                    </a:lnTo>
                  </a:path>
                  <a:path w="1000" h="1000" fill="none">
                    <a:moveTo>
                      <a:pt x="933" y="80"/>
                    </a:moveTo>
                    <a:lnTo>
                      <a:pt x="933" y="920"/>
                    </a:lnTo>
                  </a:path>
                  <a:path w="1000" h="1000" fill="none">
                    <a:moveTo>
                      <a:pt x="945" y="80"/>
                    </a:moveTo>
                    <a:lnTo>
                      <a:pt x="945" y="920"/>
                    </a:lnTo>
                  </a:path>
                  <a:path w="1000" h="1000" fill="none">
                    <a:moveTo>
                      <a:pt x="957" y="80"/>
                    </a:moveTo>
                    <a:lnTo>
                      <a:pt x="957" y="920"/>
                    </a:lnTo>
                  </a:path>
                  <a:path w="1000" h="1000" fill="none">
                    <a:moveTo>
                      <a:pt x="969" y="80"/>
                    </a:moveTo>
                    <a:lnTo>
                      <a:pt x="969" y="920"/>
                    </a:lnTo>
                  </a:path>
                  <a:path w="1000" h="1000" fill="none">
                    <a:moveTo>
                      <a:pt x="981" y="80"/>
                    </a:moveTo>
                    <a:lnTo>
                      <a:pt x="981" y="920"/>
                    </a:lnTo>
                  </a:path>
                  <a:path w="1000" h="1000" fill="none">
                    <a:moveTo>
                      <a:pt x="993" y="80"/>
                    </a:moveTo>
                    <a:lnTo>
                      <a:pt x="993" y="920"/>
                    </a:lnTo>
                  </a:path>
                </a:pathLst>
              </a:custGeom>
              <a:noFill/>
              <a:ln w="12700" cap="rnd">
                <a:solidFill>
                  <a:srgbClr val="822E27"/>
                </a:solidFill>
                <a:round/>
              </a:ln>
            </p:spPr>
          </p:sp>
          <p:sp>
            <p:nvSpPr>
              <p:cNvPr id="22" name="Forma 21"/>
              <p:cNvSpPr/>
              <p:nvPr/>
            </p:nvSpPr>
            <p:spPr>
              <a:xfrm>
                <a:off x="2345253" y="3756063"/>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3" name="Forma 22"/>
              <p:cNvSpPr/>
              <p:nvPr/>
            </p:nvSpPr>
            <p:spPr>
              <a:xfrm>
                <a:off x="4759635" y="3756063"/>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4" name="Forma 23"/>
              <p:cNvSpPr/>
              <p:nvPr/>
            </p:nvSpPr>
            <p:spPr>
              <a:xfrm>
                <a:off x="6829105" y="3756063"/>
                <a:ext cx="599846" cy="21594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7359969" y="3756063"/>
                <a:ext cx="479877" cy="1103717"/>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26" name="!!AA M5 0"/>
          <p:cNvSpPr/>
          <p:nvPr/>
        </p:nvSpPr>
        <p:spPr>
          <a:xfrm>
            <a:off x="1371600" y="219456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27" name="!!AA M5 1"/>
          <p:cNvSpPr/>
          <p:nvPr/>
        </p:nvSpPr>
        <p:spPr>
          <a:xfrm>
            <a:off x="2560320" y="310896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28" name="!!AA M5 2"/>
          <p:cNvSpPr/>
          <p:nvPr/>
        </p:nvSpPr>
        <p:spPr>
          <a:xfrm>
            <a:off x="3749040" y="219456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29" name="!!AA M5 3"/>
          <p:cNvSpPr/>
          <p:nvPr/>
        </p:nvSpPr>
        <p:spPr>
          <a:xfrm>
            <a:off x="4937760" y="310896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30" name="!!AA M5 4"/>
          <p:cNvSpPr/>
          <p:nvPr/>
        </p:nvSpPr>
        <p:spPr>
          <a:xfrm>
            <a:off x="6126480" y="2194560"/>
            <a:ext cx="457200" cy="45720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grpSp>
        <p:nvGrpSpPr>
          <p:cNvPr id="31" name="!!Texto M5"/>
          <p:cNvGrpSpPr/>
          <p:nvPr/>
        </p:nvGrpSpPr>
        <p:grpSpPr>
          <a:xfrm>
            <a:off x="8138160" y="1005840"/>
            <a:ext cx="3657600" cy="4023360"/>
            <a:chOff x="8138160" y="1005840"/>
            <a:chExt cx="3657600" cy="4023360"/>
          </a:xfrm>
        </p:grpSpPr>
        <p:sp>
          <p:nvSpPr>
            <p:cNvPr id="32" name="Forma 31"/>
            <p:cNvSpPr/>
            <p:nvPr/>
          </p:nvSpPr>
          <p:spPr>
            <a:xfrm>
              <a:off x="8138160" y="1188720"/>
              <a:ext cx="3657600" cy="3840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Proteólisis</a:t>
              </a:r>
              <a:r>
                <a:rPr lang="es-AR" sz="1750" dirty="0">
                  <a:solidFill>
                    <a:srgbClr val="1E1E1E"/>
                  </a:solidFill>
                  <a:latin typeface="Bahnschrift"/>
                  <a:ea typeface="Bahnschrift"/>
                  <a:cs typeface="Bahnschrift"/>
                  <a:sym typeface="Bahnschrift"/>
                </a:rPr>
                <a:t> muscular (recambio, ayuno, estrés).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Los grupos amino se concentran en </a:t>
              </a:r>
              <a:r>
                <a:rPr lang="es-AR" sz="1750" b="1" dirty="0">
                  <a:solidFill>
                    <a:srgbClr val="1E1E1E"/>
                  </a:solidFill>
                  <a:latin typeface="Bahnschrift"/>
                  <a:ea typeface="Bahnschrift"/>
                  <a:cs typeface="Bahnschrift"/>
                  <a:sym typeface="Bahnschrift"/>
                </a:rPr>
                <a:t>glutamato</a:t>
              </a:r>
              <a:r>
                <a:rPr lang="es-AR" sz="1750" dirty="0">
                  <a:solidFill>
                    <a:srgbClr val="1E1E1E"/>
                  </a:solidFill>
                  <a:latin typeface="Bahnschrift"/>
                  <a:ea typeface="Bahnschrift"/>
                  <a:cs typeface="Bahnschrift"/>
                  <a:sym typeface="Bahnschrift"/>
                </a:rPr>
                <a:t> por transaminación.</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Se exportan como </a:t>
              </a:r>
              <a:r>
                <a:rPr lang="es-AR" sz="1750" b="1" dirty="0">
                  <a:solidFill>
                    <a:srgbClr val="1E1E1E"/>
                  </a:solidFill>
                  <a:latin typeface="Bahnschrift"/>
                  <a:ea typeface="Bahnschrift"/>
                  <a:cs typeface="Bahnschrift"/>
                  <a:sym typeface="Bahnschrift"/>
                </a:rPr>
                <a:t>alanina</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glutamina</a:t>
              </a:r>
              <a:r>
                <a:rPr lang="es-AR" sz="1750" dirty="0">
                  <a:solidFill>
                    <a:srgbClr val="1E1E1E"/>
                  </a:solidFill>
                  <a:latin typeface="Bahnschrift"/>
                  <a:ea typeface="Bahnschrift"/>
                  <a:cs typeface="Bahnschrift"/>
                  <a:sym typeface="Bahnschrift"/>
                </a:rPr>
                <a:t>: formas seguras de transporte de N.</a:t>
              </a:r>
              <a:endParaRPr lang="es-AR" sz="1750" dirty="0">
                <a:latin typeface="Bahnschrift"/>
              </a:endParaRPr>
            </a:p>
          </p:txBody>
        </p:sp>
        <p:sp>
          <p:nvSpPr>
            <p:cNvPr id="33" name="Forma 32"/>
            <p:cNvSpPr/>
            <p:nvPr/>
          </p:nvSpPr>
          <p:spPr>
            <a:xfrm>
              <a:off x="8247888" y="1005840"/>
              <a:ext cx="105842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MÚSCULO</a:t>
              </a:r>
              <a:endParaRPr lang="es-AR" sz="1600" dirty="0">
                <a:latin typeface="Bahnschrift SemiBold Condensed"/>
              </a:endParaRPr>
            </a:p>
          </p:txBody>
        </p:sp>
      </p:grpSp>
      <p:sp>
        <p:nvSpPr>
          <p:cNvPr id="2" name="Etiqueta sección"/>
          <p:cNvSpPr/>
          <p:nvPr/>
        </p:nvSpPr>
        <p:spPr>
          <a:xfrm>
            <a:off x="9932550" y="201168"/>
            <a:ext cx="198482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5 · 1/5</a:t>
            </a:r>
            <a:endParaRPr lang="es-AR" sz="1300" dirty="0">
              <a:latin typeface="Bahnschrift SemiBold Condensed"/>
            </a:endParaRPr>
          </a:p>
        </p:txBody>
      </p:sp>
      <p:sp>
        <p:nvSpPr>
          <p:cNvPr id="3" name="Título"/>
          <p:cNvSpPr/>
          <p:nvPr/>
        </p:nvSpPr>
        <p:spPr>
          <a:xfrm>
            <a:off x="274320" y="146304"/>
            <a:ext cx="638074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NITRÓGENO: DEL MÚSCULO A LOS AMINOÁCIDOS</a:t>
            </a:r>
            <a:endParaRPr lang="es-AR" sz="26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139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3" fill="hold">
                      <p:stCondLst>
                        <p:cond delay="indefinite"/>
                      </p:stCondLst>
                      <p:childTnLst>
                        <p:par>
                          <p:cTn id="8" fill="hold">
                            <p:stCondLst>
                              <p:cond delay="0"/>
                            </p:stCondLst>
                            <p:childTnLst>
                              <p:par>
                                <p:cTn id="3" presetID="53" presetClass="entr" presetSubtype="16" fill="hold" grpId="0" nodeType="clickEffect">
                                  <p:stCondLst>
                                    <p:cond delay="0"/>
                                  </p:stCondLst>
                                  <p:childTnLst>
                                    <p:set>
                                      <p:cBhvr>
                                        <p:cTn id="4" dur="1" fill="hold">
                                          <p:stCondLst>
                                            <p:cond delay="0"/>
                                          </p:stCondLst>
                                        </p:cTn>
                                        <p:tgtEl>
                                          <p:spTgt spid="26"/>
                                        </p:tgtEl>
                                        <p:attrNameLst>
                                          <p:attrName>style.visibility</p:attrName>
                                        </p:attrNameLst>
                                      </p:cBhvr>
                                      <p:to>
                                        <p:strVal val="visible"/>
                                      </p:to>
                                    </p:set>
                                    <p:anim calcmode="lin" valueType="num">
                                      <p:cBhvr>
                                        <p:cTn id="5" dur="500" fill="hold"/>
                                        <p:tgtEl>
                                          <p:spTgt spid="26"/>
                                        </p:tgtEl>
                                        <p:attrNameLst>
                                          <p:attrName>ppt_w</p:attrName>
                                        </p:attrNameLst>
                                      </p:cBhvr>
                                      <p:tavLst>
                                        <p:tav tm="0">
                                          <p:val>
                                            <p:fltVal val="0"/>
                                          </p:val>
                                        </p:tav>
                                        <p:tav tm="100000">
                                          <p:val>
                                            <p:strVal val="#ppt_w"/>
                                          </p:val>
                                        </p:tav>
                                      </p:tavLst>
                                    </p:anim>
                                    <p:anim calcmode="lin" valueType="num">
                                      <p:cBhvr>
                                        <p:cTn id="6" dur="500" fill="hold"/>
                                        <p:tgtEl>
                                          <p:spTgt spid="26"/>
                                        </p:tgtEl>
                                        <p:attrNameLst>
                                          <p:attrName>ppt_h</p:attrName>
                                        </p:attrNameLst>
                                      </p:cBhvr>
                                      <p:tavLst>
                                        <p:tav tm="0">
                                          <p:val>
                                            <p:fltVal val="0"/>
                                          </p:val>
                                        </p:tav>
                                        <p:tav tm="100000">
                                          <p:val>
                                            <p:strVal val="#ppt_h"/>
                                          </p:val>
                                        </p:tav>
                                      </p:tavLst>
                                    </p:anim>
                                    <p:animEffect transition="in" filter="fade">
                                      <p:cBhvr>
                                        <p:cTn id="7" dur="500"/>
                                        <p:tgtEl>
                                          <p:spTgt spid="26"/>
                                        </p:tgtEl>
                                      </p:cBhvr>
                                    </p:animEffect>
                                  </p:childTnLst>
                                </p:cTn>
                              </p:par>
                            </p:childTnLst>
                          </p:cTn>
                        </p:par>
                        <p:par>
                          <p:cTn id="14"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500" fill="hold"/>
                                        <p:tgtEl>
                                          <p:spTgt spid="27"/>
                                        </p:tgtEl>
                                        <p:attrNameLst>
                                          <p:attrName>ppt_w</p:attrName>
                                        </p:attrNameLst>
                                      </p:cBhvr>
                                      <p:tavLst>
                                        <p:tav tm="0">
                                          <p:val>
                                            <p:fltVal val="0"/>
                                          </p:val>
                                        </p:tav>
                                        <p:tav tm="100000">
                                          <p:val>
                                            <p:strVal val="#ppt_w"/>
                                          </p:val>
                                        </p:tav>
                                      </p:tavLst>
                                    </p:anim>
                                    <p:anim calcmode="lin" valueType="num">
                                      <p:cBhvr>
                                        <p:cTn id="12" dur="500" fill="hold"/>
                                        <p:tgtEl>
                                          <p:spTgt spid="27"/>
                                        </p:tgtEl>
                                        <p:attrNameLst>
                                          <p:attrName>ppt_h</p:attrName>
                                        </p:attrNameLst>
                                      </p:cBhvr>
                                      <p:tavLst>
                                        <p:tav tm="0">
                                          <p:val>
                                            <p:fltVal val="0"/>
                                          </p:val>
                                        </p:tav>
                                        <p:tav tm="100000">
                                          <p:val>
                                            <p:strVal val="#ppt_h"/>
                                          </p:val>
                                        </p:tav>
                                      </p:tavLst>
                                    </p:anim>
                                    <p:animEffect transition="in" filter="fade">
                                      <p:cBhvr>
                                        <p:cTn id="13" dur="500"/>
                                        <p:tgtEl>
                                          <p:spTgt spid="27"/>
                                        </p:tgtEl>
                                      </p:cBhvr>
                                    </p:animEffect>
                                  </p:childTnLst>
                                </p:cTn>
                              </p:par>
                            </p:childTnLst>
                          </p:cTn>
                        </p:par>
                        <p:par>
                          <p:cTn id="20"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p:cTn id="17" dur="500" fill="hold"/>
                                        <p:tgtEl>
                                          <p:spTgt spid="28"/>
                                        </p:tgtEl>
                                        <p:attrNameLst>
                                          <p:attrName>ppt_w</p:attrName>
                                        </p:attrNameLst>
                                      </p:cBhvr>
                                      <p:tavLst>
                                        <p:tav tm="0">
                                          <p:val>
                                            <p:fltVal val="0"/>
                                          </p:val>
                                        </p:tav>
                                        <p:tav tm="100000">
                                          <p:val>
                                            <p:strVal val="#ppt_w"/>
                                          </p:val>
                                        </p:tav>
                                      </p:tavLst>
                                    </p:anim>
                                    <p:anim calcmode="lin" valueType="num">
                                      <p:cBhvr>
                                        <p:cTn id="18" dur="500" fill="hold"/>
                                        <p:tgtEl>
                                          <p:spTgt spid="28"/>
                                        </p:tgtEl>
                                        <p:attrNameLst>
                                          <p:attrName>ppt_h</p:attrName>
                                        </p:attrNameLst>
                                      </p:cBhvr>
                                      <p:tavLst>
                                        <p:tav tm="0">
                                          <p:val>
                                            <p:fltVal val="0"/>
                                          </p:val>
                                        </p:tav>
                                        <p:tav tm="100000">
                                          <p:val>
                                            <p:strVal val="#ppt_h"/>
                                          </p:val>
                                        </p:tav>
                                      </p:tavLst>
                                    </p:anim>
                                    <p:animEffect transition="in" filter="fade">
                                      <p:cBhvr>
                                        <p:cTn id="19" dur="500"/>
                                        <p:tgtEl>
                                          <p:spTgt spid="28"/>
                                        </p:tgtEl>
                                      </p:cBhvr>
                                    </p:animEffect>
                                  </p:childTnLst>
                                </p:cTn>
                              </p:par>
                            </p:childTnLst>
                          </p:cTn>
                        </p:par>
                        <p:par>
                          <p:cTn id="26"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Effect transition="in" filter="fade">
                                      <p:cBhvr>
                                        <p:cTn id="25" dur="500"/>
                                        <p:tgtEl>
                                          <p:spTgt spid="29"/>
                                        </p:tgtEl>
                                      </p:cBhvr>
                                    </p:animEffect>
                                  </p:childTnLst>
                                </p:cTn>
                              </p:par>
                            </p:childTnLst>
                          </p:cTn>
                        </p:par>
                        <p:par>
                          <p:cTn id="32"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p:cTn id="29" dur="500" fill="hold"/>
                                        <p:tgtEl>
                                          <p:spTgt spid="30"/>
                                        </p:tgtEl>
                                        <p:attrNameLst>
                                          <p:attrName>ppt_w</p:attrName>
                                        </p:attrNameLst>
                                      </p:cBhvr>
                                      <p:tavLst>
                                        <p:tav tm="0">
                                          <p:val>
                                            <p:fltVal val="0"/>
                                          </p:val>
                                        </p:tav>
                                        <p:tav tm="100000">
                                          <p:val>
                                            <p:strVal val="#ppt_w"/>
                                          </p:val>
                                        </p:tav>
                                      </p:tavLst>
                                    </p:anim>
                                    <p:anim calcmode="lin" valueType="num">
                                      <p:cBhvr>
                                        <p:cTn id="30" dur="500" fill="hold"/>
                                        <p:tgtEl>
                                          <p:spTgt spid="30"/>
                                        </p:tgtEl>
                                        <p:attrNameLst>
                                          <p:attrName>ppt_h</p:attrName>
                                        </p:attrNameLst>
                                      </p:cBhvr>
                                      <p:tavLst>
                                        <p:tav tm="0">
                                          <p:val>
                                            <p:fltVal val="0"/>
                                          </p:val>
                                        </p:tav>
                                        <p:tav tm="100000">
                                          <p:val>
                                            <p:strVal val="#ppt_h"/>
                                          </p:val>
                                        </p:tav>
                                      </p:tavLst>
                                    </p:anim>
                                    <p:animEffect transition="in" filter="fade">
                                      <p:cBhvr>
                                        <p:cTn id="3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29" grpId="0" animBg="1"/>
      <p:bldP spid="30" grpId="0" animBg="1"/>
    </p:bldLst>
  </p:timing>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Músculo M5"/>
          <p:cNvGrpSpPr/>
          <p:nvPr/>
        </p:nvGrpSpPr>
        <p:grpSpPr>
          <a:xfrm>
            <a:off x="365760" y="4389120"/>
            <a:ext cx="3291840" cy="1632753"/>
            <a:chOff x="365760" y="4389120"/>
            <a:chExt cx="3291840" cy="1632753"/>
          </a:xfrm>
        </p:grpSpPr>
        <p:grpSp>
          <p:nvGrpSpPr>
            <p:cNvPr id="5" name="Fibra"/>
            <p:cNvGrpSpPr/>
            <p:nvPr/>
          </p:nvGrpSpPr>
          <p:grpSpPr>
            <a:xfrm>
              <a:off x="365760" y="4389120"/>
              <a:ext cx="3028493" cy="526694"/>
              <a:chOff x="365760" y="4389120"/>
              <a:chExt cx="3028493" cy="526694"/>
            </a:xfrm>
          </p:grpSpPr>
          <p:sp>
            <p:nvSpPr>
              <p:cNvPr id="6" name="Forma 5"/>
              <p:cNvSpPr/>
              <p:nvPr/>
            </p:nvSpPr>
            <p:spPr>
              <a:xfrm>
                <a:off x="365760" y="4389120"/>
                <a:ext cx="3028493"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497434" y="4389120"/>
                <a:ext cx="2765146" cy="526694"/>
              </a:xfrm>
              <a:custGeom>
                <a:avLst/>
                <a:gdLst/>
                <a:ahLst/>
                <a:cxnLst/>
                <a:rect l="0" t="0" r="r" b="b"/>
                <a:pathLst>
                  <a:path w="1000" h="1000" fill="none">
                    <a:moveTo>
                      <a:pt x="13" y="80"/>
                    </a:moveTo>
                    <a:lnTo>
                      <a:pt x="13" y="920"/>
                    </a:lnTo>
                  </a:path>
                  <a:path w="1000" h="1000" fill="none">
                    <a:moveTo>
                      <a:pt x="41" y="80"/>
                    </a:moveTo>
                    <a:lnTo>
                      <a:pt x="41" y="920"/>
                    </a:lnTo>
                  </a:path>
                  <a:path w="1000" h="1000" fill="none">
                    <a:moveTo>
                      <a:pt x="69" y="80"/>
                    </a:moveTo>
                    <a:lnTo>
                      <a:pt x="69" y="920"/>
                    </a:lnTo>
                  </a:path>
                  <a:path w="1000" h="1000" fill="none">
                    <a:moveTo>
                      <a:pt x="97" y="80"/>
                    </a:moveTo>
                    <a:lnTo>
                      <a:pt x="97" y="920"/>
                    </a:lnTo>
                  </a:path>
                  <a:path w="1000" h="1000" fill="none">
                    <a:moveTo>
                      <a:pt x="125" y="80"/>
                    </a:moveTo>
                    <a:lnTo>
                      <a:pt x="125" y="920"/>
                    </a:lnTo>
                  </a:path>
                  <a:path w="1000" h="1000" fill="none">
                    <a:moveTo>
                      <a:pt x="152" y="80"/>
                    </a:moveTo>
                    <a:lnTo>
                      <a:pt x="152" y="920"/>
                    </a:lnTo>
                  </a:path>
                  <a:path w="1000" h="1000" fill="none">
                    <a:moveTo>
                      <a:pt x="180" y="80"/>
                    </a:moveTo>
                    <a:lnTo>
                      <a:pt x="180" y="920"/>
                    </a:lnTo>
                  </a:path>
                  <a:path w="1000" h="1000" fill="none">
                    <a:moveTo>
                      <a:pt x="208" y="80"/>
                    </a:moveTo>
                    <a:lnTo>
                      <a:pt x="208" y="920"/>
                    </a:lnTo>
                  </a:path>
                  <a:path w="1000" h="1000" fill="none">
                    <a:moveTo>
                      <a:pt x="236" y="80"/>
                    </a:moveTo>
                    <a:lnTo>
                      <a:pt x="236" y="920"/>
                    </a:lnTo>
                  </a:path>
                  <a:path w="1000" h="1000" fill="none">
                    <a:moveTo>
                      <a:pt x="263" y="80"/>
                    </a:moveTo>
                    <a:lnTo>
                      <a:pt x="263" y="920"/>
                    </a:lnTo>
                  </a:path>
                  <a:path w="1000" h="1000" fill="none">
                    <a:moveTo>
                      <a:pt x="291" y="80"/>
                    </a:moveTo>
                    <a:lnTo>
                      <a:pt x="291" y="920"/>
                    </a:lnTo>
                  </a:path>
                  <a:path w="1000" h="1000" fill="none">
                    <a:moveTo>
                      <a:pt x="319" y="80"/>
                    </a:moveTo>
                    <a:lnTo>
                      <a:pt x="319" y="920"/>
                    </a:lnTo>
                  </a:path>
                  <a:path w="1000" h="1000" fill="none">
                    <a:moveTo>
                      <a:pt x="347" y="80"/>
                    </a:moveTo>
                    <a:lnTo>
                      <a:pt x="347" y="920"/>
                    </a:lnTo>
                  </a:path>
                  <a:path w="1000" h="1000" fill="none">
                    <a:moveTo>
                      <a:pt x="375" y="80"/>
                    </a:moveTo>
                    <a:lnTo>
                      <a:pt x="375" y="920"/>
                    </a:lnTo>
                  </a:path>
                  <a:path w="1000" h="1000" fill="none">
                    <a:moveTo>
                      <a:pt x="402" y="80"/>
                    </a:moveTo>
                    <a:lnTo>
                      <a:pt x="402" y="920"/>
                    </a:lnTo>
                  </a:path>
                  <a:path w="1000" h="1000" fill="none">
                    <a:moveTo>
                      <a:pt x="430" y="80"/>
                    </a:moveTo>
                    <a:lnTo>
                      <a:pt x="430" y="920"/>
                    </a:lnTo>
                  </a:path>
                  <a:path w="1000" h="1000" fill="none">
                    <a:moveTo>
                      <a:pt x="458" y="80"/>
                    </a:moveTo>
                    <a:lnTo>
                      <a:pt x="458" y="920"/>
                    </a:lnTo>
                  </a:path>
                  <a:path w="1000" h="1000" fill="none">
                    <a:moveTo>
                      <a:pt x="486" y="80"/>
                    </a:moveTo>
                    <a:lnTo>
                      <a:pt x="486" y="920"/>
                    </a:lnTo>
                  </a:path>
                  <a:path w="1000" h="1000" fill="none">
                    <a:moveTo>
                      <a:pt x="513" y="80"/>
                    </a:moveTo>
                    <a:lnTo>
                      <a:pt x="513" y="920"/>
                    </a:lnTo>
                  </a:path>
                  <a:path w="1000" h="1000" fill="none">
                    <a:moveTo>
                      <a:pt x="541" y="80"/>
                    </a:moveTo>
                    <a:lnTo>
                      <a:pt x="541" y="920"/>
                    </a:lnTo>
                  </a:path>
                  <a:path w="1000" h="1000" fill="none">
                    <a:moveTo>
                      <a:pt x="569" y="80"/>
                    </a:moveTo>
                    <a:lnTo>
                      <a:pt x="569" y="920"/>
                    </a:lnTo>
                  </a:path>
                  <a:path w="1000" h="1000" fill="none">
                    <a:moveTo>
                      <a:pt x="597" y="80"/>
                    </a:moveTo>
                    <a:lnTo>
                      <a:pt x="597" y="920"/>
                    </a:lnTo>
                  </a:path>
                  <a:path w="1000" h="1000" fill="none">
                    <a:moveTo>
                      <a:pt x="625" y="80"/>
                    </a:moveTo>
                    <a:lnTo>
                      <a:pt x="625" y="920"/>
                    </a:lnTo>
                  </a:path>
                  <a:path w="1000" h="1000" fill="none">
                    <a:moveTo>
                      <a:pt x="652" y="80"/>
                    </a:moveTo>
                    <a:lnTo>
                      <a:pt x="652" y="920"/>
                    </a:lnTo>
                  </a:path>
                  <a:path w="1000" h="1000" fill="none">
                    <a:moveTo>
                      <a:pt x="680" y="80"/>
                    </a:moveTo>
                    <a:lnTo>
                      <a:pt x="680" y="920"/>
                    </a:lnTo>
                  </a:path>
                  <a:path w="1000" h="1000" fill="none">
                    <a:moveTo>
                      <a:pt x="708" y="80"/>
                    </a:moveTo>
                    <a:lnTo>
                      <a:pt x="708" y="920"/>
                    </a:lnTo>
                  </a:path>
                  <a:path w="1000" h="1000" fill="none">
                    <a:moveTo>
                      <a:pt x="736" y="80"/>
                    </a:moveTo>
                    <a:lnTo>
                      <a:pt x="736" y="920"/>
                    </a:lnTo>
                  </a:path>
                  <a:path w="1000" h="1000" fill="none">
                    <a:moveTo>
                      <a:pt x="763" y="80"/>
                    </a:moveTo>
                    <a:lnTo>
                      <a:pt x="763" y="920"/>
                    </a:lnTo>
                  </a:path>
                  <a:path w="1000" h="1000" fill="none">
                    <a:moveTo>
                      <a:pt x="791" y="80"/>
                    </a:moveTo>
                    <a:lnTo>
                      <a:pt x="791" y="920"/>
                    </a:lnTo>
                  </a:path>
                  <a:path w="1000" h="1000" fill="none">
                    <a:moveTo>
                      <a:pt x="819" y="80"/>
                    </a:moveTo>
                    <a:lnTo>
                      <a:pt x="819" y="920"/>
                    </a:lnTo>
                  </a:path>
                  <a:path w="1000" h="1000" fill="none">
                    <a:moveTo>
                      <a:pt x="847" y="80"/>
                    </a:moveTo>
                    <a:lnTo>
                      <a:pt x="847" y="920"/>
                    </a:lnTo>
                  </a:path>
                  <a:path w="1000" h="1000" fill="none">
                    <a:moveTo>
                      <a:pt x="875" y="80"/>
                    </a:moveTo>
                    <a:lnTo>
                      <a:pt x="875" y="920"/>
                    </a:lnTo>
                  </a:path>
                  <a:path w="1000" h="1000" fill="none">
                    <a:moveTo>
                      <a:pt x="902" y="80"/>
                    </a:moveTo>
                    <a:lnTo>
                      <a:pt x="902" y="920"/>
                    </a:lnTo>
                  </a:path>
                  <a:path w="1000" h="1000" fill="none">
                    <a:moveTo>
                      <a:pt x="930" y="80"/>
                    </a:moveTo>
                    <a:lnTo>
                      <a:pt x="930" y="920"/>
                    </a:lnTo>
                  </a:path>
                  <a:path w="1000" h="1000" fill="none">
                    <a:moveTo>
                      <a:pt x="958" y="80"/>
                    </a:moveTo>
                    <a:lnTo>
                      <a:pt x="958" y="920"/>
                    </a:lnTo>
                  </a:path>
                  <a:path w="1000" h="1000" fill="none">
                    <a:moveTo>
                      <a:pt x="986" y="80"/>
                    </a:moveTo>
                    <a:lnTo>
                      <a:pt x="986" y="920"/>
                    </a:lnTo>
                  </a:path>
                </a:pathLst>
              </a:custGeom>
              <a:noFill/>
              <a:ln w="12700" cap="rnd">
                <a:solidFill>
                  <a:srgbClr val="822E27"/>
                </a:solidFill>
                <a:round/>
              </a:ln>
            </p:spPr>
          </p:sp>
          <p:sp>
            <p:nvSpPr>
              <p:cNvPr id="8" name="Forma 7"/>
              <p:cNvSpPr/>
              <p:nvPr/>
            </p:nvSpPr>
            <p:spPr>
              <a:xfrm>
                <a:off x="971459" y="441018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2031431" y="441018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2939979" y="4410188"/>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3173041" y="4410188"/>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Fibra_2"/>
            <p:cNvGrpSpPr/>
            <p:nvPr/>
          </p:nvGrpSpPr>
          <p:grpSpPr>
            <a:xfrm>
              <a:off x="497434" y="4942149"/>
              <a:ext cx="3028493" cy="526694"/>
              <a:chOff x="497434" y="4942149"/>
              <a:chExt cx="3028493" cy="526694"/>
            </a:xfrm>
          </p:grpSpPr>
          <p:sp>
            <p:nvSpPr>
              <p:cNvPr id="13" name="Forma 12"/>
              <p:cNvSpPr/>
              <p:nvPr/>
            </p:nvSpPr>
            <p:spPr>
              <a:xfrm>
                <a:off x="497434" y="4942149"/>
                <a:ext cx="3028493"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629107" y="4942149"/>
                <a:ext cx="2765146" cy="526694"/>
              </a:xfrm>
              <a:custGeom>
                <a:avLst/>
                <a:gdLst/>
                <a:ahLst/>
                <a:cxnLst/>
                <a:rect l="0" t="0" r="r" b="b"/>
                <a:pathLst>
                  <a:path w="1000" h="1000" fill="none">
                    <a:moveTo>
                      <a:pt x="13" y="80"/>
                    </a:moveTo>
                    <a:lnTo>
                      <a:pt x="13" y="920"/>
                    </a:lnTo>
                  </a:path>
                  <a:path w="1000" h="1000" fill="none">
                    <a:moveTo>
                      <a:pt x="41" y="80"/>
                    </a:moveTo>
                    <a:lnTo>
                      <a:pt x="41" y="920"/>
                    </a:lnTo>
                  </a:path>
                  <a:path w="1000" h="1000" fill="none">
                    <a:moveTo>
                      <a:pt x="69" y="80"/>
                    </a:moveTo>
                    <a:lnTo>
                      <a:pt x="69" y="920"/>
                    </a:lnTo>
                  </a:path>
                  <a:path w="1000" h="1000" fill="none">
                    <a:moveTo>
                      <a:pt x="97" y="80"/>
                    </a:moveTo>
                    <a:lnTo>
                      <a:pt x="97" y="920"/>
                    </a:lnTo>
                  </a:path>
                  <a:path w="1000" h="1000" fill="none">
                    <a:moveTo>
                      <a:pt x="125" y="80"/>
                    </a:moveTo>
                    <a:lnTo>
                      <a:pt x="125" y="920"/>
                    </a:lnTo>
                  </a:path>
                  <a:path w="1000" h="1000" fill="none">
                    <a:moveTo>
                      <a:pt x="152" y="80"/>
                    </a:moveTo>
                    <a:lnTo>
                      <a:pt x="152" y="920"/>
                    </a:lnTo>
                  </a:path>
                  <a:path w="1000" h="1000" fill="none">
                    <a:moveTo>
                      <a:pt x="180" y="80"/>
                    </a:moveTo>
                    <a:lnTo>
                      <a:pt x="180" y="920"/>
                    </a:lnTo>
                  </a:path>
                  <a:path w="1000" h="1000" fill="none">
                    <a:moveTo>
                      <a:pt x="208" y="80"/>
                    </a:moveTo>
                    <a:lnTo>
                      <a:pt x="208" y="920"/>
                    </a:lnTo>
                  </a:path>
                  <a:path w="1000" h="1000" fill="none">
                    <a:moveTo>
                      <a:pt x="236" y="80"/>
                    </a:moveTo>
                    <a:lnTo>
                      <a:pt x="236" y="920"/>
                    </a:lnTo>
                  </a:path>
                  <a:path w="1000" h="1000" fill="none">
                    <a:moveTo>
                      <a:pt x="263" y="80"/>
                    </a:moveTo>
                    <a:lnTo>
                      <a:pt x="263" y="920"/>
                    </a:lnTo>
                  </a:path>
                  <a:path w="1000" h="1000" fill="none">
                    <a:moveTo>
                      <a:pt x="291" y="80"/>
                    </a:moveTo>
                    <a:lnTo>
                      <a:pt x="291" y="920"/>
                    </a:lnTo>
                  </a:path>
                  <a:path w="1000" h="1000" fill="none">
                    <a:moveTo>
                      <a:pt x="319" y="80"/>
                    </a:moveTo>
                    <a:lnTo>
                      <a:pt x="319" y="920"/>
                    </a:lnTo>
                  </a:path>
                  <a:path w="1000" h="1000" fill="none">
                    <a:moveTo>
                      <a:pt x="347" y="80"/>
                    </a:moveTo>
                    <a:lnTo>
                      <a:pt x="347" y="920"/>
                    </a:lnTo>
                  </a:path>
                  <a:path w="1000" h="1000" fill="none">
                    <a:moveTo>
                      <a:pt x="375" y="80"/>
                    </a:moveTo>
                    <a:lnTo>
                      <a:pt x="375" y="920"/>
                    </a:lnTo>
                  </a:path>
                  <a:path w="1000" h="1000" fill="none">
                    <a:moveTo>
                      <a:pt x="402" y="80"/>
                    </a:moveTo>
                    <a:lnTo>
                      <a:pt x="402" y="920"/>
                    </a:lnTo>
                  </a:path>
                  <a:path w="1000" h="1000" fill="none">
                    <a:moveTo>
                      <a:pt x="430" y="80"/>
                    </a:moveTo>
                    <a:lnTo>
                      <a:pt x="430" y="920"/>
                    </a:lnTo>
                  </a:path>
                  <a:path w="1000" h="1000" fill="none">
                    <a:moveTo>
                      <a:pt x="458" y="80"/>
                    </a:moveTo>
                    <a:lnTo>
                      <a:pt x="458" y="920"/>
                    </a:lnTo>
                  </a:path>
                  <a:path w="1000" h="1000" fill="none">
                    <a:moveTo>
                      <a:pt x="486" y="80"/>
                    </a:moveTo>
                    <a:lnTo>
                      <a:pt x="486" y="920"/>
                    </a:lnTo>
                  </a:path>
                  <a:path w="1000" h="1000" fill="none">
                    <a:moveTo>
                      <a:pt x="513" y="80"/>
                    </a:moveTo>
                    <a:lnTo>
                      <a:pt x="513" y="920"/>
                    </a:lnTo>
                  </a:path>
                  <a:path w="1000" h="1000" fill="none">
                    <a:moveTo>
                      <a:pt x="541" y="80"/>
                    </a:moveTo>
                    <a:lnTo>
                      <a:pt x="541" y="920"/>
                    </a:lnTo>
                  </a:path>
                  <a:path w="1000" h="1000" fill="none">
                    <a:moveTo>
                      <a:pt x="569" y="80"/>
                    </a:moveTo>
                    <a:lnTo>
                      <a:pt x="569" y="920"/>
                    </a:lnTo>
                  </a:path>
                  <a:path w="1000" h="1000" fill="none">
                    <a:moveTo>
                      <a:pt x="597" y="80"/>
                    </a:moveTo>
                    <a:lnTo>
                      <a:pt x="597" y="920"/>
                    </a:lnTo>
                  </a:path>
                  <a:path w="1000" h="1000" fill="none">
                    <a:moveTo>
                      <a:pt x="625" y="80"/>
                    </a:moveTo>
                    <a:lnTo>
                      <a:pt x="625" y="920"/>
                    </a:lnTo>
                  </a:path>
                  <a:path w="1000" h="1000" fill="none">
                    <a:moveTo>
                      <a:pt x="652" y="80"/>
                    </a:moveTo>
                    <a:lnTo>
                      <a:pt x="652" y="920"/>
                    </a:lnTo>
                  </a:path>
                  <a:path w="1000" h="1000" fill="none">
                    <a:moveTo>
                      <a:pt x="680" y="80"/>
                    </a:moveTo>
                    <a:lnTo>
                      <a:pt x="680" y="920"/>
                    </a:lnTo>
                  </a:path>
                  <a:path w="1000" h="1000" fill="none">
                    <a:moveTo>
                      <a:pt x="708" y="80"/>
                    </a:moveTo>
                    <a:lnTo>
                      <a:pt x="708" y="920"/>
                    </a:lnTo>
                  </a:path>
                  <a:path w="1000" h="1000" fill="none">
                    <a:moveTo>
                      <a:pt x="736" y="80"/>
                    </a:moveTo>
                    <a:lnTo>
                      <a:pt x="736" y="920"/>
                    </a:lnTo>
                  </a:path>
                  <a:path w="1000" h="1000" fill="none">
                    <a:moveTo>
                      <a:pt x="763" y="80"/>
                    </a:moveTo>
                    <a:lnTo>
                      <a:pt x="763" y="920"/>
                    </a:lnTo>
                  </a:path>
                  <a:path w="1000" h="1000" fill="none">
                    <a:moveTo>
                      <a:pt x="791" y="80"/>
                    </a:moveTo>
                    <a:lnTo>
                      <a:pt x="791" y="920"/>
                    </a:lnTo>
                  </a:path>
                  <a:path w="1000" h="1000" fill="none">
                    <a:moveTo>
                      <a:pt x="819" y="80"/>
                    </a:moveTo>
                    <a:lnTo>
                      <a:pt x="819" y="920"/>
                    </a:lnTo>
                  </a:path>
                  <a:path w="1000" h="1000" fill="none">
                    <a:moveTo>
                      <a:pt x="847" y="80"/>
                    </a:moveTo>
                    <a:lnTo>
                      <a:pt x="847" y="920"/>
                    </a:lnTo>
                  </a:path>
                  <a:path w="1000" h="1000" fill="none">
                    <a:moveTo>
                      <a:pt x="875" y="80"/>
                    </a:moveTo>
                    <a:lnTo>
                      <a:pt x="875" y="920"/>
                    </a:lnTo>
                  </a:path>
                  <a:path w="1000" h="1000" fill="none">
                    <a:moveTo>
                      <a:pt x="902" y="80"/>
                    </a:moveTo>
                    <a:lnTo>
                      <a:pt x="902" y="920"/>
                    </a:lnTo>
                  </a:path>
                  <a:path w="1000" h="1000" fill="none">
                    <a:moveTo>
                      <a:pt x="930" y="80"/>
                    </a:moveTo>
                    <a:lnTo>
                      <a:pt x="930" y="920"/>
                    </a:lnTo>
                  </a:path>
                  <a:path w="1000" h="1000" fill="none">
                    <a:moveTo>
                      <a:pt x="958" y="80"/>
                    </a:moveTo>
                    <a:lnTo>
                      <a:pt x="958" y="920"/>
                    </a:lnTo>
                  </a:path>
                  <a:path w="1000" h="1000" fill="none">
                    <a:moveTo>
                      <a:pt x="986" y="80"/>
                    </a:moveTo>
                    <a:lnTo>
                      <a:pt x="986" y="920"/>
                    </a:lnTo>
                  </a:path>
                </a:pathLst>
              </a:custGeom>
              <a:noFill/>
              <a:ln w="12700" cap="rnd">
                <a:solidFill>
                  <a:srgbClr val="822E27"/>
                </a:solidFill>
                <a:round/>
              </a:ln>
            </p:spPr>
          </p:sp>
          <p:sp>
            <p:nvSpPr>
              <p:cNvPr id="15" name="Forma 14"/>
              <p:cNvSpPr/>
              <p:nvPr/>
            </p:nvSpPr>
            <p:spPr>
              <a:xfrm>
                <a:off x="1103132" y="496321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2163105" y="496321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3071652" y="4963217"/>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3304715" y="4963217"/>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9" name="Fibra_3"/>
            <p:cNvGrpSpPr/>
            <p:nvPr/>
          </p:nvGrpSpPr>
          <p:grpSpPr>
            <a:xfrm>
              <a:off x="629107" y="5495178"/>
              <a:ext cx="3028493" cy="526694"/>
              <a:chOff x="629107" y="5495178"/>
              <a:chExt cx="3028493" cy="526694"/>
            </a:xfrm>
          </p:grpSpPr>
          <p:sp>
            <p:nvSpPr>
              <p:cNvPr id="20" name="Forma 19"/>
              <p:cNvSpPr/>
              <p:nvPr/>
            </p:nvSpPr>
            <p:spPr>
              <a:xfrm>
                <a:off x="629107" y="5495178"/>
                <a:ext cx="3028493" cy="52669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1" name="Forma 20"/>
              <p:cNvSpPr/>
              <p:nvPr/>
            </p:nvSpPr>
            <p:spPr>
              <a:xfrm>
                <a:off x="760781" y="5495178"/>
                <a:ext cx="2765146" cy="526694"/>
              </a:xfrm>
              <a:custGeom>
                <a:avLst/>
                <a:gdLst/>
                <a:ahLst/>
                <a:cxnLst/>
                <a:rect l="0" t="0" r="r" b="b"/>
                <a:pathLst>
                  <a:path w="1000" h="1000" fill="none">
                    <a:moveTo>
                      <a:pt x="13" y="80"/>
                    </a:moveTo>
                    <a:lnTo>
                      <a:pt x="13" y="920"/>
                    </a:lnTo>
                  </a:path>
                  <a:path w="1000" h="1000" fill="none">
                    <a:moveTo>
                      <a:pt x="41" y="80"/>
                    </a:moveTo>
                    <a:lnTo>
                      <a:pt x="41" y="920"/>
                    </a:lnTo>
                  </a:path>
                  <a:path w="1000" h="1000" fill="none">
                    <a:moveTo>
                      <a:pt x="69" y="80"/>
                    </a:moveTo>
                    <a:lnTo>
                      <a:pt x="69" y="920"/>
                    </a:lnTo>
                  </a:path>
                  <a:path w="1000" h="1000" fill="none">
                    <a:moveTo>
                      <a:pt x="97" y="80"/>
                    </a:moveTo>
                    <a:lnTo>
                      <a:pt x="97" y="920"/>
                    </a:lnTo>
                  </a:path>
                  <a:path w="1000" h="1000" fill="none">
                    <a:moveTo>
                      <a:pt x="125" y="80"/>
                    </a:moveTo>
                    <a:lnTo>
                      <a:pt x="125" y="920"/>
                    </a:lnTo>
                  </a:path>
                  <a:path w="1000" h="1000" fill="none">
                    <a:moveTo>
                      <a:pt x="152" y="80"/>
                    </a:moveTo>
                    <a:lnTo>
                      <a:pt x="152" y="920"/>
                    </a:lnTo>
                  </a:path>
                  <a:path w="1000" h="1000" fill="none">
                    <a:moveTo>
                      <a:pt x="180" y="80"/>
                    </a:moveTo>
                    <a:lnTo>
                      <a:pt x="180" y="920"/>
                    </a:lnTo>
                  </a:path>
                  <a:path w="1000" h="1000" fill="none">
                    <a:moveTo>
                      <a:pt x="208" y="80"/>
                    </a:moveTo>
                    <a:lnTo>
                      <a:pt x="208" y="920"/>
                    </a:lnTo>
                  </a:path>
                  <a:path w="1000" h="1000" fill="none">
                    <a:moveTo>
                      <a:pt x="236" y="80"/>
                    </a:moveTo>
                    <a:lnTo>
                      <a:pt x="236" y="920"/>
                    </a:lnTo>
                  </a:path>
                  <a:path w="1000" h="1000" fill="none">
                    <a:moveTo>
                      <a:pt x="263" y="80"/>
                    </a:moveTo>
                    <a:lnTo>
                      <a:pt x="263" y="920"/>
                    </a:lnTo>
                  </a:path>
                  <a:path w="1000" h="1000" fill="none">
                    <a:moveTo>
                      <a:pt x="291" y="80"/>
                    </a:moveTo>
                    <a:lnTo>
                      <a:pt x="291" y="920"/>
                    </a:lnTo>
                  </a:path>
                  <a:path w="1000" h="1000" fill="none">
                    <a:moveTo>
                      <a:pt x="319" y="80"/>
                    </a:moveTo>
                    <a:lnTo>
                      <a:pt x="319" y="920"/>
                    </a:lnTo>
                  </a:path>
                  <a:path w="1000" h="1000" fill="none">
                    <a:moveTo>
                      <a:pt x="347" y="80"/>
                    </a:moveTo>
                    <a:lnTo>
                      <a:pt x="347" y="920"/>
                    </a:lnTo>
                  </a:path>
                  <a:path w="1000" h="1000" fill="none">
                    <a:moveTo>
                      <a:pt x="375" y="80"/>
                    </a:moveTo>
                    <a:lnTo>
                      <a:pt x="375" y="920"/>
                    </a:lnTo>
                  </a:path>
                  <a:path w="1000" h="1000" fill="none">
                    <a:moveTo>
                      <a:pt x="402" y="80"/>
                    </a:moveTo>
                    <a:lnTo>
                      <a:pt x="402" y="920"/>
                    </a:lnTo>
                  </a:path>
                  <a:path w="1000" h="1000" fill="none">
                    <a:moveTo>
                      <a:pt x="430" y="80"/>
                    </a:moveTo>
                    <a:lnTo>
                      <a:pt x="430" y="920"/>
                    </a:lnTo>
                  </a:path>
                  <a:path w="1000" h="1000" fill="none">
                    <a:moveTo>
                      <a:pt x="458" y="80"/>
                    </a:moveTo>
                    <a:lnTo>
                      <a:pt x="458" y="920"/>
                    </a:lnTo>
                  </a:path>
                  <a:path w="1000" h="1000" fill="none">
                    <a:moveTo>
                      <a:pt x="486" y="80"/>
                    </a:moveTo>
                    <a:lnTo>
                      <a:pt x="486" y="920"/>
                    </a:lnTo>
                  </a:path>
                  <a:path w="1000" h="1000" fill="none">
                    <a:moveTo>
                      <a:pt x="513" y="80"/>
                    </a:moveTo>
                    <a:lnTo>
                      <a:pt x="513" y="920"/>
                    </a:lnTo>
                  </a:path>
                  <a:path w="1000" h="1000" fill="none">
                    <a:moveTo>
                      <a:pt x="541" y="80"/>
                    </a:moveTo>
                    <a:lnTo>
                      <a:pt x="541" y="920"/>
                    </a:lnTo>
                  </a:path>
                  <a:path w="1000" h="1000" fill="none">
                    <a:moveTo>
                      <a:pt x="569" y="80"/>
                    </a:moveTo>
                    <a:lnTo>
                      <a:pt x="569" y="920"/>
                    </a:lnTo>
                  </a:path>
                  <a:path w="1000" h="1000" fill="none">
                    <a:moveTo>
                      <a:pt x="597" y="80"/>
                    </a:moveTo>
                    <a:lnTo>
                      <a:pt x="597" y="920"/>
                    </a:lnTo>
                  </a:path>
                  <a:path w="1000" h="1000" fill="none">
                    <a:moveTo>
                      <a:pt x="625" y="80"/>
                    </a:moveTo>
                    <a:lnTo>
                      <a:pt x="625" y="920"/>
                    </a:lnTo>
                  </a:path>
                  <a:path w="1000" h="1000" fill="none">
                    <a:moveTo>
                      <a:pt x="652" y="80"/>
                    </a:moveTo>
                    <a:lnTo>
                      <a:pt x="652" y="920"/>
                    </a:lnTo>
                  </a:path>
                  <a:path w="1000" h="1000" fill="none">
                    <a:moveTo>
                      <a:pt x="680" y="80"/>
                    </a:moveTo>
                    <a:lnTo>
                      <a:pt x="680" y="920"/>
                    </a:lnTo>
                  </a:path>
                  <a:path w="1000" h="1000" fill="none">
                    <a:moveTo>
                      <a:pt x="708" y="80"/>
                    </a:moveTo>
                    <a:lnTo>
                      <a:pt x="708" y="920"/>
                    </a:lnTo>
                  </a:path>
                  <a:path w="1000" h="1000" fill="none">
                    <a:moveTo>
                      <a:pt x="736" y="80"/>
                    </a:moveTo>
                    <a:lnTo>
                      <a:pt x="736" y="920"/>
                    </a:lnTo>
                  </a:path>
                  <a:path w="1000" h="1000" fill="none">
                    <a:moveTo>
                      <a:pt x="763" y="80"/>
                    </a:moveTo>
                    <a:lnTo>
                      <a:pt x="763" y="920"/>
                    </a:lnTo>
                  </a:path>
                  <a:path w="1000" h="1000" fill="none">
                    <a:moveTo>
                      <a:pt x="791" y="80"/>
                    </a:moveTo>
                    <a:lnTo>
                      <a:pt x="791" y="920"/>
                    </a:lnTo>
                  </a:path>
                  <a:path w="1000" h="1000" fill="none">
                    <a:moveTo>
                      <a:pt x="819" y="80"/>
                    </a:moveTo>
                    <a:lnTo>
                      <a:pt x="819" y="920"/>
                    </a:lnTo>
                  </a:path>
                  <a:path w="1000" h="1000" fill="none">
                    <a:moveTo>
                      <a:pt x="847" y="80"/>
                    </a:moveTo>
                    <a:lnTo>
                      <a:pt x="847" y="920"/>
                    </a:lnTo>
                  </a:path>
                  <a:path w="1000" h="1000" fill="none">
                    <a:moveTo>
                      <a:pt x="875" y="80"/>
                    </a:moveTo>
                    <a:lnTo>
                      <a:pt x="875" y="920"/>
                    </a:lnTo>
                  </a:path>
                  <a:path w="1000" h="1000" fill="none">
                    <a:moveTo>
                      <a:pt x="902" y="80"/>
                    </a:moveTo>
                    <a:lnTo>
                      <a:pt x="902" y="920"/>
                    </a:lnTo>
                  </a:path>
                  <a:path w="1000" h="1000" fill="none">
                    <a:moveTo>
                      <a:pt x="930" y="80"/>
                    </a:moveTo>
                    <a:lnTo>
                      <a:pt x="930" y="920"/>
                    </a:lnTo>
                  </a:path>
                  <a:path w="1000" h="1000" fill="none">
                    <a:moveTo>
                      <a:pt x="958" y="80"/>
                    </a:moveTo>
                    <a:lnTo>
                      <a:pt x="958" y="920"/>
                    </a:lnTo>
                  </a:path>
                  <a:path w="1000" h="1000" fill="none">
                    <a:moveTo>
                      <a:pt x="986" y="80"/>
                    </a:moveTo>
                    <a:lnTo>
                      <a:pt x="986" y="920"/>
                    </a:lnTo>
                  </a:path>
                </a:pathLst>
              </a:custGeom>
              <a:noFill/>
              <a:ln w="12700" cap="rnd">
                <a:solidFill>
                  <a:srgbClr val="822E27"/>
                </a:solidFill>
                <a:round/>
              </a:ln>
            </p:spPr>
          </p:sp>
          <p:sp>
            <p:nvSpPr>
              <p:cNvPr id="22" name="Forma 21"/>
              <p:cNvSpPr/>
              <p:nvPr/>
            </p:nvSpPr>
            <p:spPr>
              <a:xfrm>
                <a:off x="1234806" y="5516246"/>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3" name="Forma 22"/>
              <p:cNvSpPr/>
              <p:nvPr/>
            </p:nvSpPr>
            <p:spPr>
              <a:xfrm>
                <a:off x="2294778" y="5516246"/>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4" name="Forma 23"/>
              <p:cNvSpPr/>
              <p:nvPr/>
            </p:nvSpPr>
            <p:spPr>
              <a:xfrm>
                <a:off x="3203326" y="5516246"/>
                <a:ext cx="263347" cy="948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3436388" y="5516246"/>
                <a:ext cx="210678" cy="48455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26" name="!!Vaso M5"/>
          <p:cNvGrpSpPr/>
          <p:nvPr/>
        </p:nvGrpSpPr>
        <p:grpSpPr>
          <a:xfrm>
            <a:off x="274320" y="3108960"/>
            <a:ext cx="7680960" cy="822960"/>
            <a:chOff x="274320" y="3108960"/>
            <a:chExt cx="7680960" cy="822960"/>
          </a:xfrm>
        </p:grpSpPr>
        <p:sp>
          <p:nvSpPr>
            <p:cNvPr id="27" name="Forma 26"/>
            <p:cNvSpPr/>
            <p:nvPr/>
          </p:nvSpPr>
          <p:spPr>
            <a:xfrm>
              <a:off x="274320" y="3108960"/>
              <a:ext cx="7680960" cy="82296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8" name="Forma 27"/>
            <p:cNvSpPr/>
            <p:nvPr/>
          </p:nvSpPr>
          <p:spPr>
            <a:xfrm>
              <a:off x="397764" y="3257093"/>
              <a:ext cx="7434072" cy="526694"/>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9" name="Eritrocito"/>
            <p:cNvSpPr/>
            <p:nvPr/>
          </p:nvSpPr>
          <p:spPr>
            <a:xfrm>
              <a:off x="1192592" y="3509706"/>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0" name="Eritrocito_2"/>
            <p:cNvSpPr/>
            <p:nvPr/>
          </p:nvSpPr>
          <p:spPr>
            <a:xfrm>
              <a:off x="2316570" y="3332162"/>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1" name="Eritrocito_3"/>
            <p:cNvSpPr/>
            <p:nvPr/>
          </p:nvSpPr>
          <p:spPr>
            <a:xfrm>
              <a:off x="4619241" y="3466118"/>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2" name="Eritrocito_4"/>
            <p:cNvSpPr/>
            <p:nvPr/>
          </p:nvSpPr>
          <p:spPr>
            <a:xfrm>
              <a:off x="6258476" y="3378096"/>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33" name="!!Hígado M5"/>
          <p:cNvGrpSpPr/>
          <p:nvPr/>
        </p:nvGrpSpPr>
        <p:grpSpPr>
          <a:xfrm>
            <a:off x="4206240" y="868680"/>
            <a:ext cx="3657600" cy="2585192"/>
            <a:chOff x="4206240" y="868680"/>
            <a:chExt cx="3657600" cy="2585192"/>
          </a:xfrm>
        </p:grpSpPr>
        <p:sp>
          <p:nvSpPr>
            <p:cNvPr id="34" name="Vesícula biliar"/>
            <p:cNvSpPr/>
            <p:nvPr/>
          </p:nvSpPr>
          <p:spPr>
            <a:xfrm>
              <a:off x="5193792" y="2637495"/>
              <a:ext cx="475488" cy="816376"/>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35" name="Forma 34"/>
            <p:cNvSpPr/>
            <p:nvPr/>
          </p:nvSpPr>
          <p:spPr>
            <a:xfrm>
              <a:off x="4206240" y="868680"/>
              <a:ext cx="3657600" cy="226771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36" name="Forma 35"/>
            <p:cNvSpPr/>
            <p:nvPr/>
          </p:nvSpPr>
          <p:spPr>
            <a:xfrm>
              <a:off x="4206240" y="868680"/>
              <a:ext cx="3657600" cy="226771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37" name="Forma 36"/>
            <p:cNvSpPr/>
            <p:nvPr/>
          </p:nvSpPr>
          <p:spPr>
            <a:xfrm>
              <a:off x="4206240" y="868680"/>
              <a:ext cx="3657600" cy="226771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38" name="!!AA M5 0"/>
          <p:cNvSpPr/>
          <p:nvPr/>
        </p:nvSpPr>
        <p:spPr>
          <a:xfrm>
            <a:off x="914400" y="3291840"/>
            <a:ext cx="457200" cy="45720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Ala</a:t>
            </a:r>
            <a:endParaRPr lang="es-AR" sz="1300" dirty="0">
              <a:latin typeface="Bahnschrift SemiBold Condensed"/>
            </a:endParaRPr>
          </a:p>
        </p:txBody>
      </p:sp>
      <p:sp>
        <p:nvSpPr>
          <p:cNvPr id="39" name="!!AA M5 1"/>
          <p:cNvSpPr/>
          <p:nvPr/>
        </p:nvSpPr>
        <p:spPr>
          <a:xfrm>
            <a:off x="2103120" y="3291840"/>
            <a:ext cx="457200" cy="45720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sp>
        <p:nvSpPr>
          <p:cNvPr id="40" name="!!AA M5 2"/>
          <p:cNvSpPr/>
          <p:nvPr/>
        </p:nvSpPr>
        <p:spPr>
          <a:xfrm>
            <a:off x="3291840" y="3291840"/>
            <a:ext cx="457200" cy="45720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Ala</a:t>
            </a:r>
            <a:endParaRPr lang="es-AR" sz="1300" dirty="0">
              <a:latin typeface="Bahnschrift SemiBold Condensed"/>
            </a:endParaRPr>
          </a:p>
        </p:txBody>
      </p:sp>
      <p:sp>
        <p:nvSpPr>
          <p:cNvPr id="41" name="!!AA M5 3"/>
          <p:cNvSpPr/>
          <p:nvPr/>
        </p:nvSpPr>
        <p:spPr>
          <a:xfrm>
            <a:off x="4480560" y="3291840"/>
            <a:ext cx="457200" cy="45720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sp>
        <p:nvSpPr>
          <p:cNvPr id="42" name="!!AA M5 4"/>
          <p:cNvSpPr/>
          <p:nvPr/>
        </p:nvSpPr>
        <p:spPr>
          <a:xfrm>
            <a:off x="5669280" y="3291840"/>
            <a:ext cx="457200" cy="457200"/>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Ala</a:t>
            </a:r>
            <a:endParaRPr lang="es-AR" sz="1300" dirty="0">
              <a:latin typeface="Bahnschrift SemiBold Condensed"/>
            </a:endParaRPr>
          </a:p>
        </p:txBody>
      </p:sp>
      <p:grpSp>
        <p:nvGrpSpPr>
          <p:cNvPr id="43" name="!!Texto M5"/>
          <p:cNvGrpSpPr/>
          <p:nvPr/>
        </p:nvGrpSpPr>
        <p:grpSpPr>
          <a:xfrm>
            <a:off x="8138160" y="1005840"/>
            <a:ext cx="3657600" cy="4023360"/>
            <a:chOff x="8138160" y="1005840"/>
            <a:chExt cx="3657600" cy="4023360"/>
          </a:xfrm>
        </p:grpSpPr>
        <p:sp>
          <p:nvSpPr>
            <p:cNvPr id="44" name="Forma 43"/>
            <p:cNvSpPr/>
            <p:nvPr/>
          </p:nvSpPr>
          <p:spPr>
            <a:xfrm>
              <a:off x="8138160" y="1188720"/>
              <a:ext cx="3657600" cy="3840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Alanina</a:t>
              </a:r>
              <a:r>
                <a:rPr lang="es-AR" sz="1750" dirty="0">
                  <a:solidFill>
                    <a:srgbClr val="1E1E1E"/>
                  </a:solidFill>
                  <a:latin typeface="Bahnschrift"/>
                  <a:ea typeface="Bahnschrift"/>
                  <a:cs typeface="Bahnschrift"/>
                  <a:sym typeface="Bahnschrift"/>
                </a:rPr>
                <a:t> → hígado (gluconeogénesis + urea).</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Glutamina</a:t>
              </a:r>
              <a:r>
                <a:rPr lang="es-AR" sz="1750" dirty="0">
                  <a:solidFill>
                    <a:srgbClr val="1E1E1E"/>
                  </a:solidFill>
                  <a:latin typeface="Bahnschrift"/>
                  <a:ea typeface="Bahnschrift"/>
                  <a:cs typeface="Bahnschrift"/>
                  <a:sym typeface="Bahnschrift"/>
                </a:rPr>
                <a:t> → riñón e intestino (y hígado periportal).</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Así se evita circular </a:t>
              </a:r>
              <a:r>
                <a:rPr lang="es-AR" sz="1750" b="1" dirty="0">
                  <a:solidFill>
                    <a:srgbClr val="1E1E1E"/>
                  </a:solidFill>
                  <a:latin typeface="Bahnschrift"/>
                  <a:ea typeface="Bahnschrift"/>
                  <a:cs typeface="Bahnschrift"/>
                  <a:sym typeface="Bahnschrift"/>
                </a:rPr>
                <a:t>NH</a:t>
              </a:r>
              <a:r>
                <a:rPr lang="es-AR" sz="1750" b="1" baseline="-25000" dirty="0">
                  <a:solidFill>
                    <a:srgbClr val="1E1E1E"/>
                  </a:solidFill>
                  <a:latin typeface="Bahnschrift"/>
                  <a:ea typeface="Bahnschrift"/>
                  <a:cs typeface="Bahnschrift"/>
                  <a:sym typeface="Bahnschrift"/>
                </a:rPr>
                <a:t>3</a:t>
              </a:r>
              <a:r>
                <a:rPr lang="es-AR" sz="1750" dirty="0">
                  <a:solidFill>
                    <a:srgbClr val="1E1E1E"/>
                  </a:solidFill>
                  <a:latin typeface="Bahnschrift"/>
                  <a:ea typeface="Bahnschrift"/>
                  <a:cs typeface="Bahnschrift"/>
                  <a:sym typeface="Bahnschrift"/>
                </a:rPr>
                <a:t> libre, neurotóxico.</a:t>
              </a:r>
              <a:endParaRPr lang="es-AR" sz="1750" dirty="0">
                <a:latin typeface="Bahnschrift"/>
              </a:endParaRPr>
            </a:p>
          </p:txBody>
        </p:sp>
        <p:sp>
          <p:nvSpPr>
            <p:cNvPr id="45" name="Forma 44"/>
            <p:cNvSpPr/>
            <p:nvPr/>
          </p:nvSpPr>
          <p:spPr>
            <a:xfrm>
              <a:off x="8247888" y="1005840"/>
              <a:ext cx="95514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SANGRE</a:t>
              </a:r>
              <a:endParaRPr lang="es-AR" sz="1600" dirty="0">
                <a:latin typeface="Bahnschrift SemiBold Condensed"/>
              </a:endParaRPr>
            </a:p>
          </p:txBody>
        </p:sp>
      </p:grpSp>
      <p:sp>
        <p:nvSpPr>
          <p:cNvPr id="2" name="Etiqueta sección"/>
          <p:cNvSpPr/>
          <p:nvPr/>
        </p:nvSpPr>
        <p:spPr>
          <a:xfrm>
            <a:off x="9904819" y="201168"/>
            <a:ext cx="201255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5 · 2/5</a:t>
            </a:r>
            <a:endParaRPr lang="es-AR" sz="1300" dirty="0">
              <a:latin typeface="Bahnschrift SemiBold Condensed"/>
            </a:endParaRPr>
          </a:p>
        </p:txBody>
      </p:sp>
      <p:sp>
        <p:nvSpPr>
          <p:cNvPr id="3" name="Título"/>
          <p:cNvSpPr/>
          <p:nvPr/>
        </p:nvSpPr>
        <p:spPr>
          <a:xfrm>
            <a:off x="274320" y="146304"/>
            <a:ext cx="524056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NITRÓGENO: TRANSPORTE EN SANGRE</a:t>
            </a:r>
            <a:endParaRPr lang="es-AR" sz="2600" dirty="0">
              <a:latin typeface="Bahnschrift SemiBold Condensed"/>
            </a:endParaRPr>
          </a:p>
        </p:txBody>
      </p:sp>
      <p:sp>
        <p:nvSpPr>
          <p:cNvPr id="4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140</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141.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Vaso M5"/>
          <p:cNvGrpSpPr/>
          <p:nvPr/>
        </p:nvGrpSpPr>
        <p:grpSpPr>
          <a:xfrm>
            <a:off x="274320" y="5577840"/>
            <a:ext cx="7680960" cy="640080"/>
            <a:chOff x="274320" y="5577840"/>
            <a:chExt cx="7680960" cy="640080"/>
          </a:xfrm>
        </p:grpSpPr>
        <p:sp>
          <p:nvSpPr>
            <p:cNvPr id="5" name="Forma 4"/>
            <p:cNvSpPr/>
            <p:nvPr/>
          </p:nvSpPr>
          <p:spPr>
            <a:xfrm>
              <a:off x="274320" y="5577840"/>
              <a:ext cx="7680960" cy="64008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 name="Forma 5"/>
            <p:cNvSpPr/>
            <p:nvPr/>
          </p:nvSpPr>
          <p:spPr>
            <a:xfrm>
              <a:off x="370332" y="5693054"/>
              <a:ext cx="7488936" cy="409651"/>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7" name="Eritrocito"/>
            <p:cNvSpPr/>
            <p:nvPr/>
          </p:nvSpPr>
          <p:spPr>
            <a:xfrm>
              <a:off x="1151715" y="588953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8" name="Eritrocito_2"/>
            <p:cNvSpPr/>
            <p:nvPr/>
          </p:nvSpPr>
          <p:spPr>
            <a:xfrm>
              <a:off x="2299109" y="5751441"/>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9" name="Eritrocito_3"/>
            <p:cNvSpPr/>
            <p:nvPr/>
          </p:nvSpPr>
          <p:spPr>
            <a:xfrm>
              <a:off x="4649752" y="5855630"/>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 name="Eritrocito_4"/>
            <p:cNvSpPr/>
            <p:nvPr/>
          </p:nvSpPr>
          <p:spPr>
            <a:xfrm>
              <a:off x="6323139" y="5787168"/>
              <a:ext cx="268834" cy="268834"/>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11" name="!!Hígado M5"/>
          <p:cNvGrpSpPr/>
          <p:nvPr/>
        </p:nvGrpSpPr>
        <p:grpSpPr>
          <a:xfrm>
            <a:off x="365760" y="914400"/>
            <a:ext cx="7315200" cy="5170383"/>
            <a:chOff x="365760" y="914400"/>
            <a:chExt cx="7315200" cy="5170383"/>
          </a:xfrm>
        </p:grpSpPr>
        <p:sp>
          <p:nvSpPr>
            <p:cNvPr id="12" name="Vesícula biliar"/>
            <p:cNvSpPr/>
            <p:nvPr/>
          </p:nvSpPr>
          <p:spPr>
            <a:xfrm>
              <a:off x="2340864" y="4452031"/>
              <a:ext cx="950976" cy="163275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3" name="Forma 12"/>
            <p:cNvSpPr/>
            <p:nvPr/>
          </p:nvSpPr>
          <p:spPr>
            <a:xfrm>
              <a:off x="365760" y="914400"/>
              <a:ext cx="7315200" cy="453542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4" name="Forma 13"/>
            <p:cNvSpPr/>
            <p:nvPr/>
          </p:nvSpPr>
          <p:spPr>
            <a:xfrm>
              <a:off x="365760" y="914400"/>
              <a:ext cx="7315200" cy="453542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5" name="Forma 14"/>
            <p:cNvSpPr/>
            <p:nvPr/>
          </p:nvSpPr>
          <p:spPr>
            <a:xfrm>
              <a:off x="365760" y="914400"/>
              <a:ext cx="7315200" cy="453542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6" name="!!AA M5 0"/>
          <p:cNvSpPr/>
          <p:nvPr/>
        </p:nvSpPr>
        <p:spPr>
          <a:xfrm>
            <a:off x="1280160" y="2103120"/>
            <a:ext cx="457200" cy="45720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NH</a:t>
            </a:r>
            <a:r>
              <a:rPr lang="es-AR" sz="1180" b="1" baseline="-25000" dirty="0">
                <a:solidFill>
                  <a:srgbClr val="FFFFFF"/>
                </a:solidFill>
                <a:latin typeface="Bahnschrift SemiBold Condensed"/>
                <a:ea typeface="Bahnschrift SemiBold Condensed"/>
                <a:cs typeface="Bahnschrift SemiBold Condensed"/>
                <a:sym typeface="Bahnschrift SemiBold Condensed"/>
              </a:rPr>
              <a:t>4</a:t>
            </a:r>
            <a:r>
              <a:rPr lang="es-AR" sz="118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80" dirty="0">
              <a:latin typeface="Bahnschrift SemiBold Condensed"/>
            </a:endParaRPr>
          </a:p>
        </p:txBody>
      </p:sp>
      <p:sp>
        <p:nvSpPr>
          <p:cNvPr id="17" name="!!AA M5 1"/>
          <p:cNvSpPr/>
          <p:nvPr/>
        </p:nvSpPr>
        <p:spPr>
          <a:xfrm>
            <a:off x="1828800" y="2103120"/>
            <a:ext cx="457200" cy="45720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NH</a:t>
            </a:r>
            <a:r>
              <a:rPr lang="es-AR" sz="1180" b="1" baseline="-25000" dirty="0">
                <a:solidFill>
                  <a:srgbClr val="FFFFFF"/>
                </a:solidFill>
                <a:latin typeface="Bahnschrift SemiBold Condensed"/>
                <a:ea typeface="Bahnschrift SemiBold Condensed"/>
                <a:cs typeface="Bahnschrift SemiBold Condensed"/>
                <a:sym typeface="Bahnschrift SemiBold Condensed"/>
              </a:rPr>
              <a:t>4</a:t>
            </a:r>
            <a:r>
              <a:rPr lang="es-AR" sz="118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80" dirty="0">
              <a:latin typeface="Bahnschrift SemiBold Condensed"/>
            </a:endParaRPr>
          </a:p>
        </p:txBody>
      </p:sp>
      <p:sp>
        <p:nvSpPr>
          <p:cNvPr id="18" name="!!AA M5 2"/>
          <p:cNvSpPr/>
          <p:nvPr/>
        </p:nvSpPr>
        <p:spPr>
          <a:xfrm>
            <a:off x="2377440" y="2103120"/>
            <a:ext cx="457200" cy="45720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NH</a:t>
            </a:r>
            <a:r>
              <a:rPr lang="es-AR" sz="1180" b="1" baseline="-25000" dirty="0">
                <a:solidFill>
                  <a:srgbClr val="FFFFFF"/>
                </a:solidFill>
                <a:latin typeface="Bahnschrift SemiBold Condensed"/>
                <a:ea typeface="Bahnschrift SemiBold Condensed"/>
                <a:cs typeface="Bahnschrift SemiBold Condensed"/>
                <a:sym typeface="Bahnschrift SemiBold Condensed"/>
              </a:rPr>
              <a:t>4</a:t>
            </a:r>
            <a:r>
              <a:rPr lang="es-AR" sz="118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80" dirty="0">
              <a:latin typeface="Bahnschrift SemiBold Condensed"/>
            </a:endParaRPr>
          </a:p>
        </p:txBody>
      </p:sp>
      <p:sp>
        <p:nvSpPr>
          <p:cNvPr id="19" name="!!AA M5 3"/>
          <p:cNvSpPr/>
          <p:nvPr/>
        </p:nvSpPr>
        <p:spPr>
          <a:xfrm>
            <a:off x="2926080" y="2103120"/>
            <a:ext cx="457200" cy="45720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NH</a:t>
            </a:r>
            <a:r>
              <a:rPr lang="es-AR" sz="1180" b="1" baseline="-25000" dirty="0">
                <a:solidFill>
                  <a:srgbClr val="FFFFFF"/>
                </a:solidFill>
                <a:latin typeface="Bahnschrift SemiBold Condensed"/>
                <a:ea typeface="Bahnschrift SemiBold Condensed"/>
                <a:cs typeface="Bahnschrift SemiBold Condensed"/>
                <a:sym typeface="Bahnschrift SemiBold Condensed"/>
              </a:rPr>
              <a:t>4</a:t>
            </a:r>
            <a:r>
              <a:rPr lang="es-AR" sz="118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80" dirty="0">
              <a:latin typeface="Bahnschrift SemiBold Condensed"/>
            </a:endParaRPr>
          </a:p>
        </p:txBody>
      </p:sp>
      <p:sp>
        <p:nvSpPr>
          <p:cNvPr id="20" name="!!AA M5 4"/>
          <p:cNvSpPr/>
          <p:nvPr/>
        </p:nvSpPr>
        <p:spPr>
          <a:xfrm>
            <a:off x="3474720" y="2103120"/>
            <a:ext cx="457200" cy="45720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80" b="1" dirty="0">
                <a:solidFill>
                  <a:srgbClr val="FFFFFF"/>
                </a:solidFill>
                <a:latin typeface="Bahnschrift SemiBold Condensed"/>
                <a:ea typeface="Bahnschrift SemiBold Condensed"/>
                <a:cs typeface="Bahnschrift SemiBold Condensed"/>
                <a:sym typeface="Bahnschrift SemiBold Condensed"/>
              </a:rPr>
              <a:t>NH</a:t>
            </a:r>
            <a:r>
              <a:rPr lang="es-AR" sz="1180" b="1" baseline="-25000" dirty="0">
                <a:solidFill>
                  <a:srgbClr val="FFFFFF"/>
                </a:solidFill>
                <a:latin typeface="Bahnschrift SemiBold Condensed"/>
                <a:ea typeface="Bahnschrift SemiBold Condensed"/>
                <a:cs typeface="Bahnschrift SemiBold Condensed"/>
                <a:sym typeface="Bahnschrift SemiBold Condensed"/>
              </a:rPr>
              <a:t>4</a:t>
            </a:r>
            <a:r>
              <a:rPr lang="es-AR" sz="118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80" dirty="0">
              <a:latin typeface="Bahnschrift SemiBold Condensed"/>
            </a:endParaRPr>
          </a:p>
        </p:txBody>
      </p:sp>
      <p:sp>
        <p:nvSpPr>
          <p:cNvPr id="21" name="!!Ciclo urea M5"/>
          <p:cNvSpPr/>
          <p:nvPr/>
        </p:nvSpPr>
        <p:spPr>
          <a:xfrm>
            <a:off x="1828800" y="2743200"/>
            <a:ext cx="2743200" cy="1463040"/>
          </a:xfrm>
          <a:prstGeom prst="ellipse">
            <a:avLst/>
          </a:prstGeom>
          <a:solidFill>
            <a:srgbClr val="FFFFFF">
              <a:alpha val="60000"/>
            </a:srgbClr>
          </a:solidFill>
          <a:ln w="38100" cap="rnd">
            <a:solidFill>
              <a:srgbClr val="1E844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8449"/>
                </a:solidFill>
                <a:latin typeface="Bahnschrift SemiBold Condensed"/>
                <a:ea typeface="Bahnschrift SemiBold Condensed"/>
                <a:cs typeface="Bahnschrift SemiBold Condensed"/>
                <a:sym typeface="Bahnschrift SemiBold Condensed"/>
              </a:rPr>
              <a:t>CICLO</a:t>
            </a:r>
            <a:endParaRPr lang="es-AR" sz="1600" dirty="0">
              <a:latin typeface="Bahnschrift SemiBold Condensed"/>
            </a:endParaRPr>
          </a:p>
          <a:p>
            <a:pPr algn="ctr">
              <a:spcAft>
                <a:spcPts val="300"/>
              </a:spcAft>
              <a:buNone/>
            </a:pPr>
            <a:r>
              <a:rPr lang="es-AR" sz="1600" b="1" dirty="0">
                <a:solidFill>
                  <a:srgbClr val="1E8449"/>
                </a:solidFill>
                <a:latin typeface="Bahnschrift SemiBold Condensed"/>
                <a:ea typeface="Bahnschrift SemiBold Condensed"/>
                <a:cs typeface="Bahnschrift SemiBold Condensed"/>
                <a:sym typeface="Bahnschrift SemiBold Condensed"/>
              </a:rPr>
              <a:t>DE LA UREA</a:t>
            </a:r>
            <a:endParaRPr lang="es-AR" sz="1600" dirty="0">
              <a:latin typeface="Bahnschrift SemiBold Condensed"/>
            </a:endParaRPr>
          </a:p>
        </p:txBody>
      </p:sp>
      <p:sp>
        <p:nvSpPr>
          <p:cNvPr id="22" name="!!Urea M5"/>
          <p:cNvSpPr/>
          <p:nvPr/>
        </p:nvSpPr>
        <p:spPr>
          <a:xfrm>
            <a:off x="4937760" y="3200400"/>
            <a:ext cx="594360" cy="59436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grpSp>
        <p:nvGrpSpPr>
          <p:cNvPr id="23" name="!!Texto M5"/>
          <p:cNvGrpSpPr/>
          <p:nvPr/>
        </p:nvGrpSpPr>
        <p:grpSpPr>
          <a:xfrm>
            <a:off x="8138160" y="1005840"/>
            <a:ext cx="3657600" cy="4023360"/>
            <a:chOff x="8138160" y="1005840"/>
            <a:chExt cx="3657600" cy="4023360"/>
          </a:xfrm>
        </p:grpSpPr>
        <p:sp>
          <p:nvSpPr>
            <p:cNvPr id="24" name="Forma 23"/>
            <p:cNvSpPr/>
            <p:nvPr/>
          </p:nvSpPr>
          <p:spPr>
            <a:xfrm>
              <a:off x="8138160" y="1188720"/>
              <a:ext cx="3657600" cy="3840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Desaminación/transaminación → </a:t>
              </a:r>
              <a:r>
                <a:rPr lang="es-AR" sz="1750" b="1" dirty="0">
                  <a:solidFill>
                    <a:srgbClr val="1E1E1E"/>
                  </a:solidFill>
                  <a:latin typeface="Bahnschrift"/>
                  <a:ea typeface="Bahnschrift"/>
                  <a:cs typeface="Bahnschrift"/>
                  <a:sym typeface="Bahnschrift"/>
                </a:rPr>
                <a:t>NH</a:t>
              </a:r>
              <a:r>
                <a:rPr lang="es-AR" sz="1750" b="1" baseline="-25000" dirty="0">
                  <a:solidFill>
                    <a:srgbClr val="1E1E1E"/>
                  </a:solidFill>
                  <a:latin typeface="Bahnschrift"/>
                  <a:ea typeface="Bahnschrift"/>
                  <a:cs typeface="Bahnschrift"/>
                  <a:sym typeface="Bahnschrift"/>
                </a:rPr>
                <a:t>4</a:t>
              </a:r>
              <a:r>
                <a:rPr lang="es-AR" sz="1750" b="1" baseline="30000" dirty="0">
                  <a:solidFill>
                    <a:srgbClr val="1E1E1E"/>
                  </a:solidFill>
                  <a:latin typeface="Bahnschrift"/>
                  <a:ea typeface="Bahnschrift"/>
                  <a:cs typeface="Bahnschrift"/>
                  <a:sym typeface="Bahnschrift"/>
                </a:rPr>
                <a:t>+</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aspartato</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Ciclo de la urea</a:t>
              </a:r>
              <a:r>
                <a:rPr lang="es-AR" sz="1750" dirty="0">
                  <a:solidFill>
                    <a:srgbClr val="1E1E1E"/>
                  </a:solidFill>
                  <a:latin typeface="Bahnschrift"/>
                  <a:ea typeface="Bahnschrift"/>
                  <a:cs typeface="Bahnschrift"/>
                  <a:sym typeface="Bahnschrift"/>
                </a:rPr>
                <a:t> (mitocondria + citosol) en la zona </a:t>
              </a:r>
              <a:r>
                <a:rPr lang="es-AR" sz="1750" b="1" dirty="0">
                  <a:solidFill>
                    <a:srgbClr val="1E1E1E"/>
                  </a:solidFill>
                  <a:latin typeface="Bahnschrift"/>
                  <a:ea typeface="Bahnschrift"/>
                  <a:cs typeface="Bahnschrift"/>
                  <a:sym typeface="Bahnschrift"/>
                </a:rPr>
                <a:t>periportal</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a:t>
              </a:r>
              <a:r>
                <a:rPr lang="es-AR" sz="1750" b="1" dirty="0">
                  <a:solidFill>
                    <a:srgbClr val="1E1E1E"/>
                  </a:solidFill>
                  <a:latin typeface="Bahnschrift"/>
                  <a:ea typeface="Bahnschrift"/>
                  <a:cs typeface="Bahnschrift"/>
                  <a:sym typeface="Bahnschrift"/>
                </a:rPr>
                <a:t>urea</a:t>
              </a:r>
              <a:r>
                <a:rPr lang="es-AR" sz="1750" dirty="0">
                  <a:solidFill>
                    <a:srgbClr val="1E1E1E"/>
                  </a:solidFill>
                  <a:latin typeface="Bahnschrift"/>
                  <a:ea typeface="Bahnschrift"/>
                  <a:cs typeface="Bahnschrift"/>
                  <a:sym typeface="Bahnschrift"/>
                </a:rPr>
                <a:t> es hidrosoluble y poco tóxica.</a:t>
              </a:r>
              <a:endParaRPr lang="es-AR" sz="1750" dirty="0">
                <a:latin typeface="Bahnschrift"/>
              </a:endParaRPr>
            </a:p>
          </p:txBody>
        </p:sp>
        <p:sp>
          <p:nvSpPr>
            <p:cNvPr id="25" name="Forma 24"/>
            <p:cNvSpPr/>
            <p:nvPr/>
          </p:nvSpPr>
          <p:spPr>
            <a:xfrm>
              <a:off x="8247888" y="1005840"/>
              <a:ext cx="90448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HÍGADO</a:t>
              </a:r>
              <a:endParaRPr lang="es-AR" sz="1600" dirty="0">
                <a:latin typeface="Bahnschrift SemiBold Condensed"/>
              </a:endParaRPr>
            </a:p>
          </p:txBody>
        </p:sp>
      </p:grpSp>
      <p:sp>
        <p:nvSpPr>
          <p:cNvPr id="2" name="Etiqueta sección"/>
          <p:cNvSpPr/>
          <p:nvPr/>
        </p:nvSpPr>
        <p:spPr>
          <a:xfrm>
            <a:off x="9905690" y="201168"/>
            <a:ext cx="201168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5 · 3/5</a:t>
            </a:r>
            <a:endParaRPr lang="es-AR" sz="1300" dirty="0">
              <a:latin typeface="Bahnschrift SemiBold Condensed"/>
            </a:endParaRPr>
          </a:p>
        </p:txBody>
      </p:sp>
      <p:sp>
        <p:nvSpPr>
          <p:cNvPr id="3" name="Título"/>
          <p:cNvSpPr/>
          <p:nvPr/>
        </p:nvSpPr>
        <p:spPr>
          <a:xfrm>
            <a:off x="274320" y="146304"/>
            <a:ext cx="689226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NITRÓGENO: EL HÍGADO PERIPORTAL FABRICA UREA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141</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2" fill="hold">
                      <p:stCondLst>
                        <p:cond delay="indefinite"/>
                      </p:stCondLst>
                      <p:childTnLst>
                        <p:par>
                          <p:cTn id="5" fill="hold">
                            <p:stCondLst>
                              <p:cond delay="0"/>
                            </p:stCondLst>
                            <p:childTnLst>
                              <p:par>
                                <p:cTn id="3" presetID="6" presetClass="emph" presetSubtype="0" fill="hold" grpId="0" nodeType="clickEffect">
                                  <p:stCondLst>
                                    <p:cond delay="0"/>
                                  </p:stCondLst>
                                  <p:childTnLst>
                                    <p:animScale>
                                      <p:cBhvr>
                                        <p:cTn id="4" dur="300" autoRev="1" fill="hold"/>
                                        <p:tgtEl>
                                          <p:spTgt spid="21"/>
                                        </p:tgtEl>
                                      </p:cBhvr>
                                      <p:by x="112000" y="112000"/>
                                    </p:animScale>
                                  </p:childTnLst>
                                </p:cTn>
                              </p:par>
                            </p:childTnLst>
                          </p:cTn>
                        </p:par>
                        <p:par>
                          <p:cTn id="11" fill="hold">
                            <p:stCondLst>
                              <p:cond delay="300"/>
                            </p:stCondLst>
                            <p:childTnLst>
                              <p:par>
                                <p:cTn id="6" presetID="53" presetClass="entr" presetSubtype="16" fill="hold" grpId="0" nodeType="afterEffect">
                                  <p:stCondLst>
                                    <p:cond delay="0"/>
                                  </p:stCondLst>
                                  <p:childTnLst>
                                    <p:set>
                                      <p:cBhvr>
                                        <p:cTn id="7" dur="1" fill="hold">
                                          <p:stCondLst>
                                            <p:cond delay="0"/>
                                          </p:stCondLst>
                                        </p:cTn>
                                        <p:tgtEl>
                                          <p:spTgt spid="22"/>
                                        </p:tgtEl>
                                        <p:attrNameLst>
                                          <p:attrName>style.visibility</p:attrName>
                                        </p:attrNameLst>
                                      </p:cBhvr>
                                      <p:to>
                                        <p:strVal val="visible"/>
                                      </p:to>
                                    </p:set>
                                    <p:anim calcmode="lin" valueType="num">
                                      <p:cBhvr>
                                        <p:cTn id="8" dur="500" fill="hold"/>
                                        <p:tgtEl>
                                          <p:spTgt spid="22"/>
                                        </p:tgtEl>
                                        <p:attrNameLst>
                                          <p:attrName>ppt_w</p:attrName>
                                        </p:attrNameLst>
                                      </p:cBhvr>
                                      <p:tavLst>
                                        <p:tav tm="0">
                                          <p:val>
                                            <p:fltVal val="0"/>
                                          </p:val>
                                        </p:tav>
                                        <p:tav tm="100000">
                                          <p:val>
                                            <p:strVal val="#ppt_w"/>
                                          </p:val>
                                        </p:tav>
                                      </p:tavLst>
                                    </p:anim>
                                    <p:anim calcmode="lin" valueType="num">
                                      <p:cBhvr>
                                        <p:cTn id="9" dur="500" fill="hold"/>
                                        <p:tgtEl>
                                          <p:spTgt spid="22"/>
                                        </p:tgtEl>
                                        <p:attrNameLst>
                                          <p:attrName>ppt_h</p:attrName>
                                        </p:attrNameLst>
                                      </p:cBhvr>
                                      <p:tavLst>
                                        <p:tav tm="0">
                                          <p:val>
                                            <p:fltVal val="0"/>
                                          </p:val>
                                        </p:tav>
                                        <p:tav tm="100000">
                                          <p:val>
                                            <p:strVal val="#ppt_h"/>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Hígado M5"/>
          <p:cNvGrpSpPr/>
          <p:nvPr/>
        </p:nvGrpSpPr>
        <p:grpSpPr>
          <a:xfrm>
            <a:off x="274320" y="914400"/>
            <a:ext cx="2377440" cy="1680375"/>
            <a:chOff x="274320" y="914400"/>
            <a:chExt cx="2377440" cy="1680375"/>
          </a:xfrm>
        </p:grpSpPr>
        <p:sp>
          <p:nvSpPr>
            <p:cNvPr id="5" name="Vesícula biliar"/>
            <p:cNvSpPr/>
            <p:nvPr/>
          </p:nvSpPr>
          <p:spPr>
            <a:xfrm>
              <a:off x="916229" y="206413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6" name="Forma 5"/>
            <p:cNvSpPr/>
            <p:nvPr/>
          </p:nvSpPr>
          <p:spPr>
            <a:xfrm>
              <a:off x="274320" y="91440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7" name="Forma 6"/>
            <p:cNvSpPr/>
            <p:nvPr/>
          </p:nvSpPr>
          <p:spPr>
            <a:xfrm>
              <a:off x="274320" y="91440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8" name="Forma 7"/>
            <p:cNvSpPr/>
            <p:nvPr/>
          </p:nvSpPr>
          <p:spPr>
            <a:xfrm>
              <a:off x="274320" y="91440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9" name="!!Vaso M5"/>
          <p:cNvGrpSpPr/>
          <p:nvPr/>
        </p:nvGrpSpPr>
        <p:grpSpPr>
          <a:xfrm>
            <a:off x="274320" y="3108960"/>
            <a:ext cx="7680960" cy="822960"/>
            <a:chOff x="274320" y="3108960"/>
            <a:chExt cx="7680960" cy="822960"/>
          </a:xfrm>
        </p:grpSpPr>
        <p:sp>
          <p:nvSpPr>
            <p:cNvPr id="10" name="Forma 9"/>
            <p:cNvSpPr/>
            <p:nvPr/>
          </p:nvSpPr>
          <p:spPr>
            <a:xfrm>
              <a:off x="274320" y="3108960"/>
              <a:ext cx="7680960" cy="82296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1" name="Forma 10"/>
            <p:cNvSpPr/>
            <p:nvPr/>
          </p:nvSpPr>
          <p:spPr>
            <a:xfrm>
              <a:off x="397764" y="3257093"/>
              <a:ext cx="7434072" cy="526694"/>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2" name="Eritrocito"/>
            <p:cNvSpPr/>
            <p:nvPr/>
          </p:nvSpPr>
          <p:spPr>
            <a:xfrm>
              <a:off x="1192592" y="3509706"/>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3" name="Eritrocito_2"/>
            <p:cNvSpPr/>
            <p:nvPr/>
          </p:nvSpPr>
          <p:spPr>
            <a:xfrm>
              <a:off x="2316570" y="3332162"/>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4" name="Eritrocito_3"/>
            <p:cNvSpPr/>
            <p:nvPr/>
          </p:nvSpPr>
          <p:spPr>
            <a:xfrm>
              <a:off x="4619241" y="3466118"/>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5" name="Eritrocito_4"/>
            <p:cNvSpPr/>
            <p:nvPr/>
          </p:nvSpPr>
          <p:spPr>
            <a:xfrm>
              <a:off x="6258476" y="3378096"/>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16" name="!!Ciclo urea M5"/>
          <p:cNvSpPr/>
          <p:nvPr/>
        </p:nvSpPr>
        <p:spPr>
          <a:xfrm>
            <a:off x="914400" y="1828800"/>
            <a:ext cx="1097280" cy="548640"/>
          </a:xfrm>
          <a:prstGeom prst="ellipse">
            <a:avLst/>
          </a:prstGeom>
          <a:solidFill>
            <a:srgbClr val="FFFFFF">
              <a:alpha val="60000"/>
            </a:srgbClr>
          </a:solidFill>
          <a:ln w="25400" cap="rnd">
            <a:solidFill>
              <a:srgbClr val="1E8449"/>
            </a:solidFill>
            <a:round/>
          </a:ln>
        </p:spPr>
        <p:txBody>
          <a:bodyPr wrap="square" lIns="73152" tIns="45720" rIns="73152" bIns="45720" anchor="ctr" rtlCol="0">
            <a:noAutofit/>
          </a:bodyPr>
          <a:lstStyle/>
          <a:p>
            <a:pPr algn="ctr">
              <a:spcAft>
                <a:spcPts val="300"/>
              </a:spcAft>
              <a:buNone/>
            </a:pPr>
            <a:r>
              <a:rPr lang="es-AR" sz="1100" b="1" dirty="0">
                <a:solidFill>
                  <a:srgbClr val="1E8449"/>
                </a:solidFill>
                <a:latin typeface="Bahnschrift SemiBold Condensed"/>
                <a:ea typeface="Bahnschrift SemiBold Condensed"/>
                <a:cs typeface="Bahnschrift SemiBold Condensed"/>
                <a:sym typeface="Bahnschrift SemiBold Condensed"/>
              </a:rPr>
              <a:t>urea</a:t>
            </a:r>
            <a:endParaRPr lang="es-AR" sz="1100" dirty="0">
              <a:latin typeface="Bahnschrift SemiBold Condensed"/>
            </a:endParaRPr>
          </a:p>
        </p:txBody>
      </p:sp>
      <p:sp>
        <p:nvSpPr>
          <p:cNvPr id="17" name="!!Urea M5"/>
          <p:cNvSpPr/>
          <p:nvPr/>
        </p:nvSpPr>
        <p:spPr>
          <a:xfrm>
            <a:off x="3291840" y="3246120"/>
            <a:ext cx="548640" cy="54864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grpSp>
        <p:nvGrpSpPr>
          <p:cNvPr id="18" name="!!Riñón M5"/>
          <p:cNvGrpSpPr/>
          <p:nvPr/>
        </p:nvGrpSpPr>
        <p:grpSpPr>
          <a:xfrm>
            <a:off x="5486400" y="914400"/>
            <a:ext cx="1554480" cy="2176272"/>
            <a:chOff x="5486400" y="914400"/>
            <a:chExt cx="1554480" cy="2176272"/>
          </a:xfrm>
        </p:grpSpPr>
        <p:sp>
          <p:nvSpPr>
            <p:cNvPr id="19" name="Forma 18"/>
            <p:cNvSpPr/>
            <p:nvPr/>
          </p:nvSpPr>
          <p:spPr>
            <a:xfrm>
              <a:off x="5486400" y="914400"/>
              <a:ext cx="1554480" cy="2176272"/>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20" name="Forma 19"/>
            <p:cNvSpPr/>
            <p:nvPr/>
          </p:nvSpPr>
          <p:spPr>
            <a:xfrm>
              <a:off x="5486400" y="914400"/>
              <a:ext cx="1554480" cy="2176272"/>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21" name="Forma 20"/>
            <p:cNvSpPr/>
            <p:nvPr/>
          </p:nvSpPr>
          <p:spPr>
            <a:xfrm>
              <a:off x="5486400" y="914400"/>
              <a:ext cx="1554480" cy="2176272"/>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22" name="Forma 21"/>
            <p:cNvSpPr/>
            <p:nvPr/>
          </p:nvSpPr>
          <p:spPr>
            <a:xfrm>
              <a:off x="5486400" y="914400"/>
              <a:ext cx="1554480" cy="2176272"/>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23" name="!!AA M5 0"/>
          <p:cNvSpPr/>
          <p:nvPr/>
        </p:nvSpPr>
        <p:spPr>
          <a:xfrm>
            <a:off x="4023360" y="3291840"/>
            <a:ext cx="411480" cy="41148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050" b="1" dirty="0">
                <a:solidFill>
                  <a:srgbClr val="FFFFFF"/>
                </a:solidFill>
                <a:latin typeface="Bahnschrift SemiBold Condensed"/>
                <a:ea typeface="Bahnschrift SemiBold Condensed"/>
                <a:cs typeface="Bahnschrift SemiBold Condensed"/>
                <a:sym typeface="Bahnschrift SemiBold Condensed"/>
              </a:rPr>
              <a:t>Urea</a:t>
            </a:r>
            <a:endParaRPr lang="es-AR" sz="1050" dirty="0">
              <a:latin typeface="Bahnschrift SemiBold Condensed"/>
            </a:endParaRPr>
          </a:p>
        </p:txBody>
      </p:sp>
      <p:sp>
        <p:nvSpPr>
          <p:cNvPr id="24" name="!!AA M5 1"/>
          <p:cNvSpPr/>
          <p:nvPr/>
        </p:nvSpPr>
        <p:spPr>
          <a:xfrm>
            <a:off x="4480560" y="3291840"/>
            <a:ext cx="411480" cy="41148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050" b="1" dirty="0">
                <a:solidFill>
                  <a:srgbClr val="FFFFFF"/>
                </a:solidFill>
                <a:latin typeface="Bahnschrift SemiBold Condensed"/>
                <a:ea typeface="Bahnschrift SemiBold Condensed"/>
                <a:cs typeface="Bahnschrift SemiBold Condensed"/>
                <a:sym typeface="Bahnschrift SemiBold Condensed"/>
              </a:rPr>
              <a:t>Urea</a:t>
            </a:r>
            <a:endParaRPr lang="es-AR" sz="1050" dirty="0">
              <a:latin typeface="Bahnschrift SemiBold Condensed"/>
            </a:endParaRPr>
          </a:p>
        </p:txBody>
      </p:sp>
      <p:sp>
        <p:nvSpPr>
          <p:cNvPr id="25" name="!!AA M5 2"/>
          <p:cNvSpPr/>
          <p:nvPr/>
        </p:nvSpPr>
        <p:spPr>
          <a:xfrm>
            <a:off x="4937760" y="3291840"/>
            <a:ext cx="411480" cy="41148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050" b="1" dirty="0">
                <a:solidFill>
                  <a:srgbClr val="FFFFFF"/>
                </a:solidFill>
                <a:latin typeface="Bahnschrift SemiBold Condensed"/>
                <a:ea typeface="Bahnschrift SemiBold Condensed"/>
                <a:cs typeface="Bahnschrift SemiBold Condensed"/>
                <a:sym typeface="Bahnschrift SemiBold Condensed"/>
              </a:rPr>
              <a:t>Urea</a:t>
            </a:r>
            <a:endParaRPr lang="es-AR" sz="1050" dirty="0">
              <a:latin typeface="Bahnschrift SemiBold Condensed"/>
            </a:endParaRPr>
          </a:p>
        </p:txBody>
      </p:sp>
      <p:sp>
        <p:nvSpPr>
          <p:cNvPr id="26" name="!!AA M5 3"/>
          <p:cNvSpPr/>
          <p:nvPr/>
        </p:nvSpPr>
        <p:spPr>
          <a:xfrm>
            <a:off x="5394960" y="3291840"/>
            <a:ext cx="411480" cy="41148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050" b="1" dirty="0">
                <a:solidFill>
                  <a:srgbClr val="FFFFFF"/>
                </a:solidFill>
                <a:latin typeface="Bahnschrift SemiBold Condensed"/>
                <a:ea typeface="Bahnschrift SemiBold Condensed"/>
                <a:cs typeface="Bahnschrift SemiBold Condensed"/>
                <a:sym typeface="Bahnschrift SemiBold Condensed"/>
              </a:rPr>
              <a:t>Urea</a:t>
            </a:r>
            <a:endParaRPr lang="es-AR" sz="1050" dirty="0">
              <a:latin typeface="Bahnschrift SemiBold Condensed"/>
            </a:endParaRPr>
          </a:p>
        </p:txBody>
      </p:sp>
      <p:sp>
        <p:nvSpPr>
          <p:cNvPr id="27" name="!!AA M5 4"/>
          <p:cNvSpPr/>
          <p:nvPr/>
        </p:nvSpPr>
        <p:spPr>
          <a:xfrm>
            <a:off x="5852160" y="3291840"/>
            <a:ext cx="411480" cy="41148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050" b="1" dirty="0">
                <a:solidFill>
                  <a:srgbClr val="FFFFFF"/>
                </a:solidFill>
                <a:latin typeface="Bahnschrift SemiBold Condensed"/>
                <a:ea typeface="Bahnschrift SemiBold Condensed"/>
                <a:cs typeface="Bahnschrift SemiBold Condensed"/>
                <a:sym typeface="Bahnschrift SemiBold Condensed"/>
              </a:rPr>
              <a:t>Urea</a:t>
            </a:r>
            <a:endParaRPr lang="es-AR" sz="1050" dirty="0">
              <a:latin typeface="Bahnschrift SemiBold Condensed"/>
            </a:endParaRPr>
          </a:p>
        </p:txBody>
      </p:sp>
      <p:sp>
        <p:nvSpPr>
          <p:cNvPr id="28" name="Glutamina a riñón"/>
          <p:cNvSpPr/>
          <p:nvPr/>
        </p:nvSpPr>
        <p:spPr>
          <a:xfrm>
            <a:off x="1097280" y="4572000"/>
            <a:ext cx="502920" cy="50292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grpSp>
        <p:nvGrpSpPr>
          <p:cNvPr id="29" name="!!Texto M5"/>
          <p:cNvGrpSpPr/>
          <p:nvPr/>
        </p:nvGrpSpPr>
        <p:grpSpPr>
          <a:xfrm>
            <a:off x="8138160" y="1005840"/>
            <a:ext cx="3657600" cy="4023360"/>
            <a:chOff x="8138160" y="1005840"/>
            <a:chExt cx="3657600" cy="4023360"/>
          </a:xfrm>
        </p:grpSpPr>
        <p:sp>
          <p:nvSpPr>
            <p:cNvPr id="30" name="Forma 29"/>
            <p:cNvSpPr/>
            <p:nvPr/>
          </p:nvSpPr>
          <p:spPr>
            <a:xfrm>
              <a:off x="8138160" y="1188720"/>
              <a:ext cx="3657600" cy="3840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a:t>
              </a:r>
              <a:r>
                <a:rPr lang="es-AR" sz="1750" b="1" dirty="0">
                  <a:solidFill>
                    <a:srgbClr val="1E1E1E"/>
                  </a:solidFill>
                  <a:latin typeface="Bahnschrift"/>
                  <a:ea typeface="Bahnschrift"/>
                  <a:cs typeface="Bahnschrift"/>
                  <a:sym typeface="Bahnschrift"/>
                </a:rPr>
                <a:t>urea</a:t>
              </a:r>
              <a:r>
                <a:rPr lang="es-AR" sz="1750" dirty="0">
                  <a:solidFill>
                    <a:srgbClr val="1E1E1E"/>
                  </a:solidFill>
                  <a:latin typeface="Bahnschrift"/>
                  <a:ea typeface="Bahnschrift"/>
                  <a:cs typeface="Bahnschrift"/>
                  <a:sym typeface="Bahnschrift"/>
                </a:rPr>
                <a:t> se </a:t>
              </a:r>
              <a:r>
                <a:rPr lang="es-AR" sz="1750" b="1" dirty="0">
                  <a:solidFill>
                    <a:srgbClr val="1E1E1E"/>
                  </a:solidFill>
                  <a:latin typeface="Bahnschrift"/>
                  <a:ea typeface="Bahnschrift"/>
                  <a:cs typeface="Bahnschrift"/>
                  <a:sym typeface="Bahnschrift"/>
                </a:rPr>
                <a:t>filtra</a:t>
              </a:r>
              <a:r>
                <a:rPr lang="es-AR" sz="1750" dirty="0">
                  <a:solidFill>
                    <a:srgbClr val="1E1E1E"/>
                  </a:solidFill>
                  <a:latin typeface="Bahnschrift"/>
                  <a:ea typeface="Bahnschrift"/>
                  <a:cs typeface="Bahnschrift"/>
                  <a:sym typeface="Bahnschrift"/>
                </a:rPr>
                <a:t> en el glomérulo; su reabsorción depende del flujo y de </a:t>
              </a:r>
              <a:r>
                <a:rPr lang="es-AR" sz="1750" b="1" dirty="0">
                  <a:solidFill>
                    <a:srgbClr val="1E1E1E"/>
                  </a:solidFill>
                  <a:latin typeface="Bahnschrift"/>
                  <a:ea typeface="Bahnschrift"/>
                  <a:cs typeface="Bahnschrift"/>
                  <a:sym typeface="Bahnschrift"/>
                </a:rPr>
                <a:t>ADH</a:t>
              </a:r>
              <a:r>
                <a:rPr lang="es-AR" sz="1750" dirty="0">
                  <a:solidFill>
                    <a:srgbClr val="1E1E1E"/>
                  </a:solidFill>
                  <a:latin typeface="Bahnschrift"/>
                  <a:ea typeface="Bahnschrift"/>
                  <a:cs typeface="Bahnschrift"/>
                  <a:sym typeface="Bahnschrift"/>
                </a:rPr>
                <a:t>.</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a:t>
              </a:r>
              <a:r>
                <a:rPr lang="es-AR" sz="1750" b="1" dirty="0">
                  <a:solidFill>
                    <a:srgbClr val="1E1E1E"/>
                  </a:solidFill>
                  <a:latin typeface="Bahnschrift"/>
                  <a:ea typeface="Bahnschrift"/>
                  <a:cs typeface="Bahnschrift"/>
                  <a:sym typeface="Bahnschrift"/>
                </a:rPr>
                <a:t>glutamina</a:t>
              </a:r>
              <a:r>
                <a:rPr lang="es-AR" sz="1750" dirty="0">
                  <a:solidFill>
                    <a:srgbClr val="1E1E1E"/>
                  </a:solidFill>
                  <a:latin typeface="Bahnschrift"/>
                  <a:ea typeface="Bahnschrift"/>
                  <a:cs typeface="Bahnschrift"/>
                  <a:sym typeface="Bahnschrift"/>
                </a:rPr>
                <a:t> llega al túbulo proximal: </a:t>
              </a:r>
              <a:r>
                <a:rPr lang="es-AR" sz="1750" b="1" dirty="0">
                  <a:solidFill>
                    <a:srgbClr val="1E1E1E"/>
                  </a:solidFill>
                  <a:latin typeface="Bahnschrift"/>
                  <a:ea typeface="Bahnschrift"/>
                  <a:cs typeface="Bahnschrift"/>
                  <a:sym typeface="Bahnschrift"/>
                </a:rPr>
                <a:t>amoniogénesis</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31" name="Forma 30"/>
            <p:cNvSpPr/>
            <p:nvPr/>
          </p:nvSpPr>
          <p:spPr>
            <a:xfrm>
              <a:off x="8247888" y="1005840"/>
              <a:ext cx="136715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CIRCULACIÓN</a:t>
              </a:r>
              <a:endParaRPr lang="es-AR" sz="1600" dirty="0">
                <a:latin typeface="Bahnschrift SemiBold Condensed"/>
              </a:endParaRPr>
            </a:p>
          </p:txBody>
        </p:sp>
      </p:grpSp>
      <p:sp>
        <p:nvSpPr>
          <p:cNvPr id="2" name="Etiqueta sección"/>
          <p:cNvSpPr/>
          <p:nvPr/>
        </p:nvSpPr>
        <p:spPr>
          <a:xfrm>
            <a:off x="9894734" y="201168"/>
            <a:ext cx="202264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5 · 4/5</a:t>
            </a:r>
            <a:endParaRPr lang="es-AR" sz="1300" dirty="0">
              <a:latin typeface="Bahnschrift SemiBold Condensed"/>
            </a:endParaRPr>
          </a:p>
        </p:txBody>
      </p:sp>
      <p:sp>
        <p:nvSpPr>
          <p:cNvPr id="3" name="Título"/>
          <p:cNvSpPr/>
          <p:nvPr/>
        </p:nvSpPr>
        <p:spPr>
          <a:xfrm>
            <a:off x="274320" y="146304"/>
            <a:ext cx="527273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NITRÓGENO: LA UREA LLEGA AL RIÑÓN</a:t>
            </a:r>
            <a:endParaRPr lang="es-AR" sz="2600" dirty="0">
              <a:latin typeface="Bahnschrift SemiBold Condensed"/>
            </a:endParaRPr>
          </a:p>
        </p:txBody>
      </p:sp>
      <p:sp>
        <p:nvSpPr>
          <p:cNvPr id="3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142</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10"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8"/>
                                        </p:tgtEl>
                                        <p:attrNameLst>
                                          <p:attrName>style.visibility</p:attrName>
                                        </p:attrNameLst>
                                      </p:cBhvr>
                                      <p:to>
                                        <p:strVal val="visible"/>
                                      </p:to>
                                    </p:set>
                                    <p:animEffect transition="in" filter="fade">
                                      <p:cBhvr>
                                        <p:cTn id="5" dur="500"/>
                                        <p:tgtEl>
                                          <p:spTgt spid="28"/>
                                        </p:tgtEl>
                                      </p:cBhvr>
                                    </p:animEffect>
                                  </p:childTnLst>
                                </p:cTn>
                              </p:par>
                            </p:childTnLst>
                          </p:cTn>
                        </p:par>
                        <p:par>
                          <p:cTn id="9" fill="hold">
                            <p:stCondLst>
                              <p:cond delay="500"/>
                            </p:stCondLst>
                            <p:childTnLst>
                              <p:par>
                                <p:cTn id="7" presetID="0" presetClass="path" presetSubtype="0" accel="20000" decel="20000" fill="hold" grpId="0" nodeType="afterEffect">
                                  <p:stCondLst>
                                    <p:cond delay="0"/>
                                  </p:stCondLst>
                                  <p:childTnLst>
                                    <p:animMotion origin="layout" path="M 0 0 L 0.4200 -0.2133 E" pathEditMode="relative" ptsTypes="">
                                      <p:cBhvr>
                                        <p:cTn id="8" dur="1600" fill="hold"/>
                                        <p:tgtEl>
                                          <p:spTgt spid="28"/>
                                        </p:tgtEl>
                                        <p:attrNameLst>
                                          <p:attrName>ppt_x</p:attrName>
                                          <p:attrName>ppt_y</p:attrName>
                                        </p:attrNameLst>
                                      </p:cBhvr>
                                      <p:rCtr x="21000" y="-106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143.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Riñón M5"/>
          <p:cNvGrpSpPr/>
          <p:nvPr/>
        </p:nvGrpSpPr>
        <p:grpSpPr>
          <a:xfrm>
            <a:off x="548640" y="914400"/>
            <a:ext cx="3291840" cy="4608576"/>
            <a:chOff x="548640" y="914400"/>
            <a:chExt cx="3291840" cy="4608576"/>
          </a:xfrm>
        </p:grpSpPr>
        <p:sp>
          <p:nvSpPr>
            <p:cNvPr id="5" name="Forma 4"/>
            <p:cNvSpPr/>
            <p:nvPr/>
          </p:nvSpPr>
          <p:spPr>
            <a:xfrm>
              <a:off x="548640" y="914400"/>
              <a:ext cx="3291840" cy="460857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6" name="Forma 5"/>
            <p:cNvSpPr/>
            <p:nvPr/>
          </p:nvSpPr>
          <p:spPr>
            <a:xfrm>
              <a:off x="548640" y="914400"/>
              <a:ext cx="3291840" cy="460857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 name="Forma 6"/>
            <p:cNvSpPr/>
            <p:nvPr/>
          </p:nvSpPr>
          <p:spPr>
            <a:xfrm>
              <a:off x="548640" y="914400"/>
              <a:ext cx="3291840" cy="460857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 name="Forma 7"/>
            <p:cNvSpPr/>
            <p:nvPr/>
          </p:nvSpPr>
          <p:spPr>
            <a:xfrm>
              <a:off x="548640" y="914400"/>
              <a:ext cx="3291840" cy="460857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9" name="!!AA M5 0"/>
          <p:cNvSpPr/>
          <p:nvPr/>
        </p:nvSpPr>
        <p:spPr>
          <a:xfrm>
            <a:off x="5029200" y="4206240"/>
            <a:ext cx="502920" cy="50292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10" name="!!AA M5 1"/>
          <p:cNvSpPr/>
          <p:nvPr/>
        </p:nvSpPr>
        <p:spPr>
          <a:xfrm>
            <a:off x="5669280" y="4206240"/>
            <a:ext cx="502920" cy="50292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11" name="!!AA M5 2"/>
          <p:cNvSpPr/>
          <p:nvPr/>
        </p:nvSpPr>
        <p:spPr>
          <a:xfrm>
            <a:off x="6309360" y="4206240"/>
            <a:ext cx="502920" cy="50292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12" name="!!AA M5 3"/>
          <p:cNvSpPr/>
          <p:nvPr/>
        </p:nvSpPr>
        <p:spPr>
          <a:xfrm>
            <a:off x="5029200" y="4846320"/>
            <a:ext cx="502920" cy="50292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13" name="!!AA M5 4"/>
          <p:cNvSpPr/>
          <p:nvPr/>
        </p:nvSpPr>
        <p:spPr>
          <a:xfrm>
            <a:off x="5669280" y="4846320"/>
            <a:ext cx="502920" cy="50292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14" name="Orina"/>
          <p:cNvSpPr/>
          <p:nvPr/>
        </p:nvSpPr>
        <p:spPr>
          <a:xfrm>
            <a:off x="4754880" y="3931920"/>
            <a:ext cx="2651760" cy="1828800"/>
          </a:xfrm>
          <a:prstGeom prst="roundRect">
            <a:avLst/>
          </a:prstGeom>
          <a:solidFill>
            <a:srgbClr val="F9E79F">
              <a:alpha val="60000"/>
            </a:srgbClr>
          </a:solidFill>
          <a:ln w="25400" cap="rnd">
            <a:solidFill>
              <a:srgbClr val="B7950B"/>
            </a:solidFill>
            <a:round/>
          </a:ln>
        </p:spPr>
        <p:txBody>
          <a:bodyPr wrap="square" lIns="73152" tIns="45720" rIns="73152" bIns="45720" anchor="b" rtlCol="0">
            <a:noAutofit/>
          </a:bodyPr>
          <a:lstStyle/>
          <a:p>
            <a:pPr algn="ctr">
              <a:spcAft>
                <a:spcPts val="300"/>
              </a:spcAft>
              <a:buNone/>
            </a:pPr>
            <a:r>
              <a:rPr lang="es-AR" sz="1400" b="1" dirty="0">
                <a:solidFill>
                  <a:srgbClr val="7E5109"/>
                </a:solidFill>
                <a:latin typeface="Bahnschrift SemiBold Condensed"/>
                <a:ea typeface="Bahnschrift SemiBold Condensed"/>
                <a:cs typeface="Bahnschrift SemiBold Condensed"/>
                <a:sym typeface="Bahnschrift SemiBold Condensed"/>
              </a:rPr>
              <a:t>ORINA</a:t>
            </a:r>
            <a:endParaRPr lang="es-AR" sz="1400" dirty="0">
              <a:latin typeface="Bahnschrift SemiBold Condensed"/>
            </a:endParaRPr>
          </a:p>
        </p:txBody>
      </p:sp>
      <p:grpSp>
        <p:nvGrpSpPr>
          <p:cNvPr id="15" name="!!Texto M5"/>
          <p:cNvGrpSpPr/>
          <p:nvPr/>
        </p:nvGrpSpPr>
        <p:grpSpPr>
          <a:xfrm>
            <a:off x="8138160" y="1005840"/>
            <a:ext cx="3657600" cy="4023360"/>
            <a:chOff x="8138160" y="1005840"/>
            <a:chExt cx="3657600" cy="4023360"/>
          </a:xfrm>
        </p:grpSpPr>
        <p:sp>
          <p:nvSpPr>
            <p:cNvPr id="16" name="Forma 15"/>
            <p:cNvSpPr/>
            <p:nvPr/>
          </p:nvSpPr>
          <p:spPr>
            <a:xfrm>
              <a:off x="8138160" y="1188720"/>
              <a:ext cx="3657600" cy="3840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Urea</a:t>
              </a:r>
              <a:r>
                <a:rPr lang="es-AR" sz="1750" dirty="0">
                  <a:solidFill>
                    <a:srgbClr val="1E1E1E"/>
                  </a:solidFill>
                  <a:latin typeface="Bahnschrift"/>
                  <a:ea typeface="Bahnschrift"/>
                  <a:cs typeface="Bahnschrift"/>
                  <a:sym typeface="Bahnschrift"/>
                </a:rPr>
                <a:t>: principal forma de excreción de N.</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NH</a:t>
              </a:r>
              <a:r>
                <a:rPr lang="es-AR" sz="1750" b="1" baseline="-25000" dirty="0">
                  <a:solidFill>
                    <a:srgbClr val="1E1E1E"/>
                  </a:solidFill>
                  <a:latin typeface="Bahnschrift"/>
                  <a:ea typeface="Bahnschrift"/>
                  <a:cs typeface="Bahnschrift"/>
                  <a:sym typeface="Bahnschrift"/>
                </a:rPr>
                <a:t>4</a:t>
              </a:r>
              <a:r>
                <a:rPr lang="es-AR" sz="1750" b="1" baseline="30000" dirty="0">
                  <a:solidFill>
                    <a:srgbClr val="1E1E1E"/>
                  </a:solidFill>
                  <a:latin typeface="Bahnschrift"/>
                  <a:ea typeface="Bahnschrift"/>
                  <a:cs typeface="Bahnschrift"/>
                  <a:sym typeface="Bahnschrift"/>
                </a:rPr>
                <a:t>+</a:t>
              </a:r>
              <a:r>
                <a:rPr lang="es-AR" sz="1750" dirty="0">
                  <a:solidFill>
                    <a:srgbClr val="1E1E1E"/>
                  </a:solidFill>
                  <a:latin typeface="Bahnschrift"/>
                  <a:ea typeface="Bahnschrift"/>
                  <a:cs typeface="Bahnschrift"/>
                  <a:sym typeface="Bahnschrift"/>
                </a:rPr>
                <a:t> urinario: excreción de </a:t>
              </a:r>
              <a:r>
                <a:rPr lang="es-AR" sz="1750" b="1" dirty="0">
                  <a:solidFill>
                    <a:srgbClr val="1E1E1E"/>
                  </a:solidFill>
                  <a:latin typeface="Bahnschrift"/>
                  <a:ea typeface="Bahnschrift"/>
                  <a:cs typeface="Bahnschrift"/>
                  <a:sym typeface="Bahnschrift"/>
                </a:rPr>
                <a:t>ácido neto</a:t>
              </a:r>
              <a:r>
                <a:rPr lang="es-AR" sz="1750" dirty="0">
                  <a:solidFill>
                    <a:srgbClr val="1E1E1E"/>
                  </a:solidFill>
                  <a:latin typeface="Bahnschrift"/>
                  <a:ea typeface="Bahnschrift"/>
                  <a:cs typeface="Bahnschrift"/>
                  <a:sym typeface="Bahnschrift"/>
                </a:rPr>
                <a:t> (crece en acidosis y ayuno).</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Ureogénesis ≠ amoniogénesis</a:t>
              </a:r>
              <a:r>
                <a:rPr lang="es-AR" sz="1750" dirty="0">
                  <a:solidFill>
                    <a:srgbClr val="1E1E1E"/>
                  </a:solidFill>
                  <a:latin typeface="Bahnschrift"/>
                  <a:ea typeface="Bahnschrift"/>
                  <a:cs typeface="Bahnschrift"/>
                  <a:sym typeface="Bahnschrift"/>
                </a:rPr>
                <a:t>: distinta enzimología, órgano y función.</a:t>
              </a:r>
              <a:endParaRPr lang="es-AR" sz="1750" dirty="0">
                <a:latin typeface="Bahnschrift"/>
              </a:endParaRPr>
            </a:p>
          </p:txBody>
        </p:sp>
        <p:sp>
          <p:nvSpPr>
            <p:cNvPr id="17" name="Forma 16"/>
            <p:cNvSpPr/>
            <p:nvPr/>
          </p:nvSpPr>
          <p:spPr>
            <a:xfrm>
              <a:off x="8247888" y="1005840"/>
              <a:ext cx="120104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EXCRECIÓN</a:t>
              </a:r>
              <a:endParaRPr lang="es-AR" sz="1600" dirty="0">
                <a:latin typeface="Bahnschrift SemiBold Condensed"/>
              </a:endParaRPr>
            </a:p>
          </p:txBody>
        </p:sp>
      </p:grpSp>
      <p:sp>
        <p:nvSpPr>
          <p:cNvPr id="2" name="Etiqueta sección"/>
          <p:cNvSpPr/>
          <p:nvPr/>
        </p:nvSpPr>
        <p:spPr>
          <a:xfrm>
            <a:off x="9904989" y="201168"/>
            <a:ext cx="201238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SECUENCIA MORPH 5 · 5/5</a:t>
            </a:r>
            <a:endParaRPr lang="es-AR" sz="1300" dirty="0">
              <a:latin typeface="Bahnschrift SemiBold Condensed"/>
            </a:endParaRPr>
          </a:p>
        </p:txBody>
      </p:sp>
      <p:sp>
        <p:nvSpPr>
          <p:cNvPr id="3" name="Título"/>
          <p:cNvSpPr/>
          <p:nvPr/>
        </p:nvSpPr>
        <p:spPr>
          <a:xfrm>
            <a:off x="274320" y="146304"/>
            <a:ext cx="652345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NITRÓGENO: EXCRECIÓN RENAL DE UREA Y NH</a:t>
            </a:r>
            <a:r>
              <a:rPr lang="es-AR" sz="2600" b="1" baseline="-25000" dirty="0">
                <a:solidFill>
                  <a:srgbClr val="1E1E1E"/>
                </a:solidFill>
                <a:latin typeface="Bahnschrift SemiBold Condensed"/>
                <a:ea typeface="Bahnschrift SemiBold Condensed"/>
                <a:cs typeface="Bahnschrift SemiBold Condensed"/>
                <a:sym typeface="Bahnschrift SemiBold Condensed"/>
              </a:rPr>
              <a:t>4</a:t>
            </a:r>
            <a:r>
              <a:rPr lang="es-AR" sz="2600" b="1" baseline="30000" dirty="0">
                <a:solidFill>
                  <a:srgbClr val="1E1E1E"/>
                </a:solidFill>
                <a:latin typeface="Bahnschrift SemiBold Condensed"/>
                <a:ea typeface="Bahnschrift SemiBold Condensed"/>
                <a:cs typeface="Bahnschrift SemiBold Condensed"/>
                <a:sym typeface="Bahnschrift SemiBold Condensed"/>
              </a:rPr>
              <a:t>+</a:t>
            </a:r>
            <a:endParaRPr lang="es-AR" sz="2600" dirty="0">
              <a:latin typeface="Bahnschrift SemiBold Condensed"/>
            </a:endParaRPr>
          </a:p>
        </p:txBody>
      </p:sp>
      <p:sp>
        <p:nvSpPr>
          <p:cNvPr id="1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143</a:t>
            </a:r>
            <a:endParaRPr lang="es-AR" sz="1000" dirty="0">
              <a:latin typeface="Bahnschrift SemiBold Condensed"/>
            </a:endParaRPr>
          </a:p>
        </p:txBody>
      </p:sp>
    </p:spTree>
  </p:cSld>
  <p:clrMapOvr>
    <a:masterClrMapping/>
  </p:clrMapOvr>
  <mc:AlternateContent xmlns:mc="http://schemas.openxmlformats.org/markup-compatibility/2006">
    <mc:Choice xmlns:p159="http://schemas.microsoft.com/office/powerpoint/2015/09/main" xmlns:p14="http://schemas.microsoft.com/office/powerpoint/2010/main" Requires="p159">
      <p:transition spd="slow" p14:dur="1600">
        <p159:morph option="byObject"/>
      </p:transition>
    </mc:Choice>
    <mc:Fallback>
      <p:transition spd="slow">
        <p:fade/>
      </p:transition>
    </mc:Fallback>
  </mc:AlternateContent>
</p:sld>
</file>

<file path=ppt/slides/slide144.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Tríada portal"/>
          <p:cNvGrpSpPr/>
          <p:nvPr/>
        </p:nvGrpSpPr>
        <p:grpSpPr>
          <a:xfrm>
            <a:off x="365760" y="2103120"/>
            <a:ext cx="1280160" cy="2514600"/>
            <a:chOff x="365760" y="2103120"/>
            <a:chExt cx="1280160" cy="2514600"/>
          </a:xfrm>
        </p:grpSpPr>
        <p:sp>
          <p:nvSpPr>
            <p:cNvPr id="5" name="Forma 4"/>
            <p:cNvSpPr/>
            <p:nvPr/>
          </p:nvSpPr>
          <p:spPr>
            <a:xfrm>
              <a:off x="365760" y="2103120"/>
              <a:ext cx="1280160" cy="2194560"/>
            </a:xfrm>
            <a:prstGeom prst="roundRect">
              <a:avLst>
                <a:gd name="adj" fmla="val 30000"/>
              </a:avLst>
            </a:prstGeom>
            <a:solidFill>
              <a:srgbClr val="FFFFFF">
                <a:alpha val="60000"/>
              </a:srgbClr>
            </a:solidFill>
            <a:ln w="12700" cap="rnd">
              <a:solidFill>
                <a:srgbClr val="1E1E1E"/>
              </a:solidFill>
              <a:round/>
            </a:ln>
          </p:spPr>
        </p:sp>
        <p:sp>
          <p:nvSpPr>
            <p:cNvPr id="6" name="Forma 5"/>
            <p:cNvSpPr/>
            <p:nvPr/>
          </p:nvSpPr>
          <p:spPr>
            <a:xfrm>
              <a:off x="502920" y="2286000"/>
              <a:ext cx="548640" cy="548640"/>
            </a:xfrm>
            <a:prstGeom prst="ellipse">
              <a:avLst/>
            </a:prstGeom>
            <a:gradFill rotWithShape="1">
              <a:gsLst>
                <a:gs pos="0">
                  <a:srgbClr val="8D98A4"/>
                </a:gs>
                <a:gs pos="55000">
                  <a:srgbClr val="5D6D7E"/>
                </a:gs>
                <a:gs pos="100000">
                  <a:srgbClr val="4A5764"/>
                </a:gs>
              </a:gsLst>
              <a:path path="circle">
                <a:fillToRect l="32000" t="28000" r="68000" b="72000"/>
              </a:path>
            </a:gradFill>
            <a:ln w="12700" cap="rnd">
              <a:solidFill>
                <a:srgbClr val="1E1E1E"/>
              </a:solidFill>
              <a:round/>
            </a:ln>
          </p:spPr>
          <p:txBody>
            <a:bodyPr wrap="square" lIns="0" tIns="0" rIns="0" bIns="0" anchor="ctr" rtlCol="0">
              <a:noAutofit/>
            </a:bodyPr>
            <a:lstStyle/>
            <a:p>
              <a:pPr algn="ctr">
                <a:spcAft>
                  <a:spcPts val="300"/>
                </a:spcAft>
                <a:buNone/>
              </a:pPr>
              <a:r>
                <a:rPr lang="es-AR" sz="1000" b="1" dirty="0">
                  <a:solidFill>
                    <a:srgbClr val="FFFFFF"/>
                  </a:solidFill>
                  <a:latin typeface="Bahnschrift SemiBold Condensed"/>
                  <a:ea typeface="Bahnschrift SemiBold Condensed"/>
                  <a:cs typeface="Bahnschrift SemiBold Condensed"/>
                  <a:sym typeface="Bahnschrift SemiBold Condensed"/>
                </a:rPr>
                <a:t>VP</a:t>
              </a:r>
              <a:endParaRPr lang="es-AR" sz="1000" dirty="0">
                <a:latin typeface="Bahnschrift SemiBold Condensed"/>
              </a:endParaRPr>
            </a:p>
          </p:txBody>
        </p:sp>
        <p:sp>
          <p:nvSpPr>
            <p:cNvPr id="7" name="Forma 6"/>
            <p:cNvSpPr/>
            <p:nvPr/>
          </p:nvSpPr>
          <p:spPr>
            <a:xfrm>
              <a:off x="1051560" y="2926080"/>
              <a:ext cx="411480" cy="411480"/>
            </a:xfrm>
            <a:prstGeom prst="ellipse">
              <a:avLst/>
            </a:prstGeom>
            <a:gradFill rotWithShape="1">
              <a:gsLst>
                <a:gs pos="0">
                  <a:srgbClr val="D2746A"/>
                </a:gs>
                <a:gs pos="55000">
                  <a:srgbClr val="C0392B"/>
                </a:gs>
                <a:gs pos="100000">
                  <a:srgbClr val="992D22"/>
                </a:gs>
              </a:gsLst>
              <a:path path="circle">
                <a:fillToRect l="32000" t="28000" r="68000" b="72000"/>
              </a:path>
            </a:gradFill>
            <a:ln w="12700" cap="rnd">
              <a:solidFill>
                <a:srgbClr val="1E1E1E"/>
              </a:solidFill>
              <a:round/>
            </a:ln>
          </p:spPr>
          <p:txBody>
            <a:bodyPr wrap="square" lIns="0" tIns="0" rIns="0" bIns="0" anchor="ctr" rtlCol="0">
              <a:noAutofit/>
            </a:bodyPr>
            <a:lstStyle/>
            <a:p>
              <a:pPr algn="ctr">
                <a:spcAft>
                  <a:spcPts val="300"/>
                </a:spcAft>
                <a:buNone/>
              </a:pPr>
              <a:r>
                <a:rPr lang="es-AR" sz="1000" b="1" dirty="0">
                  <a:solidFill>
                    <a:srgbClr val="FFFFFF"/>
                  </a:solidFill>
                  <a:latin typeface="Bahnschrift SemiBold Condensed"/>
                  <a:ea typeface="Bahnschrift SemiBold Condensed"/>
                  <a:cs typeface="Bahnschrift SemiBold Condensed"/>
                  <a:sym typeface="Bahnschrift SemiBold Condensed"/>
                </a:rPr>
                <a:t>A</a:t>
              </a:r>
              <a:endParaRPr lang="es-AR" sz="1000" dirty="0">
                <a:latin typeface="Bahnschrift SemiBold Condensed"/>
              </a:endParaRPr>
            </a:p>
          </p:txBody>
        </p:sp>
        <p:sp>
          <p:nvSpPr>
            <p:cNvPr id="8" name="Forma 7"/>
            <p:cNvSpPr/>
            <p:nvPr/>
          </p:nvSpPr>
          <p:spPr>
            <a:xfrm>
              <a:off x="548640" y="3474720"/>
              <a:ext cx="365760" cy="365760"/>
            </a:xfrm>
            <a:prstGeom prst="ellipse">
              <a:avLst/>
            </a:prstGeom>
            <a:gradFill rotWithShape="1">
              <a:gsLst>
                <a:gs pos="0">
                  <a:srgbClr val="67C68F"/>
                </a:gs>
                <a:gs pos="55000">
                  <a:srgbClr val="27AE60"/>
                </a:gs>
                <a:gs pos="100000">
                  <a:srgbClr val="1F8B4C"/>
                </a:gs>
              </a:gsLst>
              <a:path path="circle">
                <a:fillToRect l="32000" t="28000" r="68000" b="72000"/>
              </a:path>
            </a:gradFill>
            <a:ln w="12700" cap="rnd">
              <a:solidFill>
                <a:srgbClr val="1E1E1E"/>
              </a:solidFill>
              <a:round/>
            </a:ln>
          </p:spPr>
          <p:txBody>
            <a:bodyPr wrap="square" lIns="0" tIns="0" rIns="0" bIns="0" anchor="ctr" rtlCol="0">
              <a:noAutofit/>
            </a:bodyPr>
            <a:lstStyle/>
            <a:p>
              <a:pPr algn="ctr">
                <a:spcAft>
                  <a:spcPts val="300"/>
                </a:spcAft>
                <a:buNone/>
              </a:pPr>
              <a:r>
                <a:rPr lang="es-AR" sz="1000" b="1" dirty="0">
                  <a:solidFill>
                    <a:srgbClr val="FFFFFF"/>
                  </a:solidFill>
                  <a:latin typeface="Bahnschrift SemiBold Condensed"/>
                  <a:ea typeface="Bahnschrift SemiBold Condensed"/>
                  <a:cs typeface="Bahnschrift SemiBold Condensed"/>
                  <a:sym typeface="Bahnschrift SemiBold Condensed"/>
                </a:rPr>
                <a:t>B</a:t>
              </a:r>
              <a:endParaRPr lang="es-AR" sz="1000" dirty="0">
                <a:latin typeface="Bahnschrift SemiBold Condensed"/>
              </a:endParaRPr>
            </a:p>
          </p:txBody>
        </p:sp>
        <p:sp>
          <p:nvSpPr>
            <p:cNvPr id="9" name="Forma 8"/>
            <p:cNvSpPr txBox="1"/>
            <p:nvPr/>
          </p:nvSpPr>
          <p:spPr>
            <a:xfrm>
              <a:off x="365760" y="4343400"/>
              <a:ext cx="1280160" cy="274320"/>
            </a:xfrm>
            <a:prstGeom prst="rect">
              <a:avLst/>
            </a:prstGeom>
            <a:noFill/>
            <a:ln>
              <a:noFill/>
            </a:ln>
          </p:spPr>
          <p:txBody>
            <a:bodyPr wrap="square" lIns="0" tIns="0" rIns="0" bIns="0" anchor="t"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Tríada portal</a:t>
              </a:r>
              <a:endParaRPr lang="es-AR" sz="1200" dirty="0">
                <a:latin typeface="Bahnschrift SemiBold Condensed"/>
              </a:endParaRPr>
            </a:p>
          </p:txBody>
        </p:sp>
      </p:grpSp>
      <p:sp>
        <p:nvSpPr>
          <p:cNvPr id="10" name="Vena central"/>
          <p:cNvSpPr/>
          <p:nvPr/>
        </p:nvSpPr>
        <p:spPr>
          <a:xfrm>
            <a:off x="10058400" y="2377440"/>
            <a:ext cx="1463040" cy="1463040"/>
          </a:xfrm>
          <a:prstGeom prst="ellipse">
            <a:avLst/>
          </a:prstGeom>
          <a:gradFill rotWithShape="1">
            <a:gsLst>
              <a:gs pos="0">
                <a:srgbClr val="8C6B9A"/>
              </a:gs>
              <a:gs pos="55000">
                <a:srgbClr val="5B2C6F"/>
              </a:gs>
              <a:gs pos="100000">
                <a:srgbClr val="482358"/>
              </a:gs>
            </a:gsLst>
            <a:path path="circle">
              <a:fillToRect l="32000" t="28000" r="68000" b="72000"/>
            </a:path>
          </a:gra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Vena</a:t>
            </a:r>
            <a:endParaRPr lang="es-AR" sz="1200" dirty="0">
              <a:latin typeface="Bahnschrift SemiBold Condensed"/>
            </a:endParaRPr>
          </a:p>
          <a:p>
            <a:pPr algn="ctr">
              <a:spcAft>
                <a:spcPts val="300"/>
              </a:spcAft>
              <a:buNone/>
            </a:pPr>
            <a:r>
              <a:rPr lang="es-AR" sz="1200" b="1" dirty="0">
                <a:solidFill>
                  <a:srgbClr val="FFFFFF"/>
                </a:solidFill>
                <a:latin typeface="Bahnschrift SemiBold Condensed"/>
                <a:ea typeface="Bahnschrift SemiBold Condensed"/>
                <a:cs typeface="Bahnschrift SemiBold Condensed"/>
                <a:sym typeface="Bahnschrift SemiBold Condensed"/>
              </a:rPr>
              <a:t>central</a:t>
            </a:r>
            <a:endParaRPr lang="es-AR" sz="1200" dirty="0">
              <a:latin typeface="Bahnschrift SemiBold Condensed"/>
            </a:endParaRPr>
          </a:p>
        </p:txBody>
      </p:sp>
      <p:sp>
        <p:nvSpPr>
          <p:cNvPr id="11" name="Sinusoide"/>
          <p:cNvSpPr/>
          <p:nvPr/>
        </p:nvSpPr>
        <p:spPr>
          <a:xfrm>
            <a:off x="1645920" y="2880360"/>
            <a:ext cx="8412480" cy="548640"/>
          </a:xfrm>
          <a:prstGeom prst="rect">
            <a:avLst/>
          </a:prstGeom>
          <a:gradFill rotWithShape="1">
            <a:gsLst>
              <a:gs pos="0">
                <a:srgbClr val="F5B7B1"/>
              </a:gs>
              <a:gs pos="100000">
                <a:srgbClr val="C39BD3"/>
              </a:gs>
            </a:gsLst>
            <a:lin ang="0" scaled="0"/>
          </a:gradFill>
          <a:ln w="9525" cap="rnd">
            <a:solidFill>
              <a:srgbClr val="1E1E1E"/>
            </a:solidFill>
            <a:round/>
          </a:ln>
        </p:spPr>
        <p:txBody>
          <a:bodyPr wrap="square" lIns="73152" tIns="45720" rIns="73152" bIns="4572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sinusoide: gradiente de O</a:t>
            </a:r>
            <a:r>
              <a:rPr lang="es-AR" sz="1200" b="1" baseline="-25000" dirty="0">
                <a:solidFill>
                  <a:srgbClr val="1E1E1E"/>
                </a:solidFill>
                <a:latin typeface="Bahnschrift SemiBold Condensed"/>
                <a:ea typeface="Bahnschrift SemiBold Condensed"/>
                <a:cs typeface="Bahnschrift SemiBold Condensed"/>
                <a:sym typeface="Bahnschrift SemiBold Condensed"/>
              </a:rPr>
              <a:t>2</a:t>
            </a:r>
            <a:r>
              <a:rPr lang="es-AR" sz="1200" b="1" dirty="0">
                <a:solidFill>
                  <a:srgbClr val="1E1E1E"/>
                </a:solidFill>
                <a:latin typeface="Bahnschrift SemiBold Condensed"/>
                <a:ea typeface="Bahnschrift SemiBold Condensed"/>
                <a:cs typeface="Bahnschrift SemiBold Condensed"/>
                <a:sym typeface="Bahnschrift SemiBold Condensed"/>
              </a:rPr>
              <a:t>, hormonas y sustratos →</a:t>
            </a:r>
            <a:endParaRPr lang="es-AR" sz="1200" dirty="0">
              <a:latin typeface="Bahnschrift SemiBold Condensed"/>
            </a:endParaRPr>
          </a:p>
        </p:txBody>
      </p:sp>
      <p:sp>
        <p:nvSpPr>
          <p:cNvPr id="12" name="Hepatocito 0-0"/>
          <p:cNvSpPr/>
          <p:nvPr/>
        </p:nvSpPr>
        <p:spPr>
          <a:xfrm>
            <a:off x="1691640" y="1965960"/>
            <a:ext cx="896112" cy="868680"/>
          </a:xfrm>
          <a:prstGeom prst="hexagon">
            <a:avLst>
              <a:gd name="adj" fmla="val 25000"/>
              <a:gd name="vf" fmla="val 115470"/>
            </a:avLst>
          </a:prstGeom>
          <a:gradFill rotWithShape="1">
            <a:gsLst>
              <a:gs pos="0">
                <a:srgbClr val="F8C7B8"/>
              </a:gs>
              <a:gs pos="55000">
                <a:srgbClr val="F5B09A"/>
              </a:gs>
              <a:gs pos="100000">
                <a:srgbClr val="D09582"/>
              </a:gs>
            </a:gsLst>
            <a:path path="circle">
              <a:fillToRect l="32000" t="28000" r="68000" b="72000"/>
            </a:path>
          </a:gradFill>
          <a:ln w="9525" cap="rnd">
            <a:solidFill>
              <a:srgbClr val="7B241C"/>
            </a:solidFill>
            <a:round/>
          </a:ln>
        </p:spPr>
      </p:sp>
      <p:sp>
        <p:nvSpPr>
          <p:cNvPr id="13" name="Hepatocito 0-1"/>
          <p:cNvSpPr/>
          <p:nvPr/>
        </p:nvSpPr>
        <p:spPr>
          <a:xfrm>
            <a:off x="2624328" y="1965960"/>
            <a:ext cx="896112" cy="868680"/>
          </a:xfrm>
          <a:prstGeom prst="hexagon">
            <a:avLst>
              <a:gd name="adj" fmla="val 25000"/>
              <a:gd name="vf" fmla="val 115470"/>
            </a:avLst>
          </a:prstGeom>
          <a:gradFill rotWithShape="1">
            <a:gsLst>
              <a:gs pos="0">
                <a:srgbClr val="F2C4BC"/>
              </a:gs>
              <a:gs pos="55000">
                <a:srgbClr val="EDABA0"/>
              </a:gs>
              <a:gs pos="100000">
                <a:srgbClr val="C99188"/>
              </a:gs>
            </a:gsLst>
            <a:path path="circle">
              <a:fillToRect l="32000" t="28000" r="68000" b="72000"/>
            </a:path>
          </a:gradFill>
          <a:ln w="9525" cap="rnd">
            <a:solidFill>
              <a:srgbClr val="7B241C"/>
            </a:solidFill>
            <a:round/>
          </a:ln>
        </p:spPr>
      </p:sp>
      <p:sp>
        <p:nvSpPr>
          <p:cNvPr id="14" name="Hepatocito 0-2"/>
          <p:cNvSpPr/>
          <p:nvPr/>
        </p:nvSpPr>
        <p:spPr>
          <a:xfrm>
            <a:off x="3557016" y="1965960"/>
            <a:ext cx="896112" cy="868680"/>
          </a:xfrm>
          <a:prstGeom prst="hexagon">
            <a:avLst>
              <a:gd name="adj" fmla="val 25000"/>
              <a:gd name="vf" fmla="val 115470"/>
            </a:avLst>
          </a:prstGeom>
          <a:gradFill rotWithShape="1">
            <a:gsLst>
              <a:gs pos="0">
                <a:srgbClr val="EDC1C1"/>
              </a:gs>
              <a:gs pos="55000">
                <a:srgbClr val="E6A7A7"/>
              </a:gs>
              <a:gs pos="100000">
                <a:srgbClr val="C38D8D"/>
              </a:gs>
            </a:gsLst>
            <a:path path="circle">
              <a:fillToRect l="32000" t="28000" r="68000" b="72000"/>
            </a:path>
          </a:gradFill>
          <a:ln w="9525" cap="rnd">
            <a:solidFill>
              <a:srgbClr val="7B241C"/>
            </a:solidFill>
            <a:round/>
          </a:ln>
        </p:spPr>
      </p:sp>
      <p:sp>
        <p:nvSpPr>
          <p:cNvPr id="15" name="Hepatocito 0-3"/>
          <p:cNvSpPr/>
          <p:nvPr/>
        </p:nvSpPr>
        <p:spPr>
          <a:xfrm>
            <a:off x="4489704" y="1965960"/>
            <a:ext cx="896112" cy="868680"/>
          </a:xfrm>
          <a:prstGeom prst="hexagon">
            <a:avLst>
              <a:gd name="adj" fmla="val 25000"/>
              <a:gd name="vf" fmla="val 115470"/>
            </a:avLst>
          </a:prstGeom>
          <a:gradFill rotWithShape="1">
            <a:gsLst>
              <a:gs pos="0">
                <a:srgbClr val="E8BEC5"/>
              </a:gs>
              <a:gs pos="55000">
                <a:srgbClr val="DFA3AD"/>
              </a:gs>
              <a:gs pos="100000">
                <a:srgbClr val="BD8A93"/>
              </a:gs>
            </a:gsLst>
            <a:path path="circle">
              <a:fillToRect l="32000" t="28000" r="68000" b="72000"/>
            </a:path>
          </a:gradFill>
          <a:ln w="9525" cap="rnd">
            <a:solidFill>
              <a:srgbClr val="7B241C"/>
            </a:solidFill>
            <a:round/>
          </a:ln>
        </p:spPr>
      </p:sp>
      <p:sp>
        <p:nvSpPr>
          <p:cNvPr id="16" name="Hepatocito 0-4"/>
          <p:cNvSpPr/>
          <p:nvPr/>
        </p:nvSpPr>
        <p:spPr>
          <a:xfrm>
            <a:off x="5422392" y="1965960"/>
            <a:ext cx="896112" cy="868680"/>
          </a:xfrm>
          <a:prstGeom prst="hexagon">
            <a:avLst>
              <a:gd name="adj" fmla="val 25000"/>
              <a:gd name="vf" fmla="val 115470"/>
            </a:avLst>
          </a:prstGeom>
          <a:gradFill rotWithShape="1">
            <a:gsLst>
              <a:gs pos="0">
                <a:srgbClr val="E3BBCA"/>
              </a:gs>
              <a:gs pos="55000">
                <a:srgbClr val="D89FB4"/>
              </a:gs>
              <a:gs pos="100000">
                <a:srgbClr val="B78799"/>
              </a:gs>
            </a:gsLst>
            <a:path path="circle">
              <a:fillToRect l="32000" t="28000" r="68000" b="72000"/>
            </a:path>
          </a:gradFill>
          <a:ln w="9525" cap="rnd">
            <a:solidFill>
              <a:srgbClr val="7B241C"/>
            </a:solidFill>
            <a:round/>
          </a:ln>
        </p:spPr>
      </p:sp>
      <p:sp>
        <p:nvSpPr>
          <p:cNvPr id="17" name="Hepatocito 0-5"/>
          <p:cNvSpPr/>
          <p:nvPr/>
        </p:nvSpPr>
        <p:spPr>
          <a:xfrm>
            <a:off x="6355080" y="1965960"/>
            <a:ext cx="896112" cy="868680"/>
          </a:xfrm>
          <a:prstGeom prst="hexagon">
            <a:avLst>
              <a:gd name="adj" fmla="val 25000"/>
              <a:gd name="vf" fmla="val 115470"/>
            </a:avLst>
          </a:prstGeom>
          <a:gradFill rotWithShape="1">
            <a:gsLst>
              <a:gs pos="0">
                <a:srgbClr val="DEB9CE"/>
              </a:gs>
              <a:gs pos="55000">
                <a:srgbClr val="D09BBA"/>
              </a:gs>
              <a:gs pos="100000">
                <a:srgbClr val="B0839E"/>
              </a:gs>
            </a:gsLst>
            <a:path path="circle">
              <a:fillToRect l="32000" t="28000" r="68000" b="72000"/>
            </a:path>
          </a:gradFill>
          <a:ln w="9525" cap="rnd">
            <a:solidFill>
              <a:srgbClr val="7B241C"/>
            </a:solidFill>
            <a:round/>
          </a:ln>
        </p:spPr>
      </p:sp>
      <p:sp>
        <p:nvSpPr>
          <p:cNvPr id="18" name="Hepatocito 0-6"/>
          <p:cNvSpPr/>
          <p:nvPr/>
        </p:nvSpPr>
        <p:spPr>
          <a:xfrm>
            <a:off x="7287768" y="1965960"/>
            <a:ext cx="896112" cy="868680"/>
          </a:xfrm>
          <a:prstGeom prst="hexagon">
            <a:avLst>
              <a:gd name="adj" fmla="val 25000"/>
              <a:gd name="vf" fmla="val 115470"/>
            </a:avLst>
          </a:prstGeom>
          <a:gradFill rotWithShape="1">
            <a:gsLst>
              <a:gs pos="0">
                <a:srgbClr val="D9B6D3"/>
              </a:gs>
              <a:gs pos="55000">
                <a:srgbClr val="C997C1"/>
              </a:gs>
              <a:gs pos="100000">
                <a:srgbClr val="AA80A4"/>
              </a:gs>
            </a:gsLst>
            <a:path path="circle">
              <a:fillToRect l="32000" t="28000" r="68000" b="72000"/>
            </a:path>
          </a:gradFill>
          <a:ln w="9525" cap="rnd">
            <a:solidFill>
              <a:srgbClr val="7B241C"/>
            </a:solidFill>
            <a:round/>
          </a:ln>
        </p:spPr>
      </p:sp>
      <p:sp>
        <p:nvSpPr>
          <p:cNvPr id="19" name="Hepatocito 0-7"/>
          <p:cNvSpPr/>
          <p:nvPr/>
        </p:nvSpPr>
        <p:spPr>
          <a:xfrm>
            <a:off x="8220456" y="1965960"/>
            <a:ext cx="896112" cy="868680"/>
          </a:xfrm>
          <a:prstGeom prst="hexagon">
            <a:avLst>
              <a:gd name="adj" fmla="val 25000"/>
              <a:gd name="vf" fmla="val 115470"/>
            </a:avLst>
          </a:prstGeom>
          <a:gradFill rotWithShape="1">
            <a:gsLst>
              <a:gs pos="0">
                <a:srgbClr val="D4B3D7"/>
              </a:gs>
              <a:gs pos="55000">
                <a:srgbClr val="C293C7"/>
              </a:gs>
              <a:gs pos="100000">
                <a:srgbClr val="A47CA9"/>
              </a:gs>
            </a:gsLst>
            <a:path path="circle">
              <a:fillToRect l="32000" t="28000" r="68000" b="72000"/>
            </a:path>
          </a:gradFill>
          <a:ln w="9525" cap="rnd">
            <a:solidFill>
              <a:srgbClr val="7B241C"/>
            </a:solidFill>
            <a:round/>
          </a:ln>
        </p:spPr>
      </p:sp>
      <p:sp>
        <p:nvSpPr>
          <p:cNvPr id="20" name="Hepatocito 0-8"/>
          <p:cNvSpPr/>
          <p:nvPr/>
        </p:nvSpPr>
        <p:spPr>
          <a:xfrm>
            <a:off x="9153144" y="1965960"/>
            <a:ext cx="896112" cy="868680"/>
          </a:xfrm>
          <a:prstGeom prst="hexagon">
            <a:avLst>
              <a:gd name="adj" fmla="val 25000"/>
              <a:gd name="vf" fmla="val 115470"/>
            </a:avLst>
          </a:prstGeom>
          <a:gradFill rotWithShape="1">
            <a:gsLst>
              <a:gs pos="0">
                <a:srgbClr val="CFB0DC"/>
              </a:gs>
              <a:gs pos="55000">
                <a:srgbClr val="BB8FCE"/>
              </a:gs>
              <a:gs pos="100000">
                <a:srgbClr val="9E79AF"/>
              </a:gs>
            </a:gsLst>
            <a:path path="circle">
              <a:fillToRect l="32000" t="28000" r="68000" b="72000"/>
            </a:path>
          </a:gradFill>
          <a:ln w="9525" cap="rnd">
            <a:solidFill>
              <a:srgbClr val="7B241C"/>
            </a:solidFill>
            <a:round/>
          </a:ln>
        </p:spPr>
      </p:sp>
      <p:sp>
        <p:nvSpPr>
          <p:cNvPr id="21" name="Hepatocito 1-0"/>
          <p:cNvSpPr/>
          <p:nvPr/>
        </p:nvSpPr>
        <p:spPr>
          <a:xfrm>
            <a:off x="1691640" y="3520440"/>
            <a:ext cx="896112" cy="868680"/>
          </a:xfrm>
          <a:prstGeom prst="hexagon">
            <a:avLst>
              <a:gd name="adj" fmla="val 25000"/>
              <a:gd name="vf" fmla="val 115470"/>
            </a:avLst>
          </a:prstGeom>
          <a:gradFill rotWithShape="1">
            <a:gsLst>
              <a:gs pos="0">
                <a:srgbClr val="F8C7B8"/>
              </a:gs>
              <a:gs pos="55000">
                <a:srgbClr val="F5B09A"/>
              </a:gs>
              <a:gs pos="100000">
                <a:srgbClr val="D09582"/>
              </a:gs>
            </a:gsLst>
            <a:path path="circle">
              <a:fillToRect l="32000" t="28000" r="68000" b="72000"/>
            </a:path>
          </a:gradFill>
          <a:ln w="9525" cap="rnd">
            <a:solidFill>
              <a:srgbClr val="7B241C"/>
            </a:solidFill>
            <a:round/>
          </a:ln>
        </p:spPr>
      </p:sp>
      <p:sp>
        <p:nvSpPr>
          <p:cNvPr id="22" name="Hepatocito 1-1"/>
          <p:cNvSpPr/>
          <p:nvPr/>
        </p:nvSpPr>
        <p:spPr>
          <a:xfrm>
            <a:off x="2624328" y="3520440"/>
            <a:ext cx="896112" cy="868680"/>
          </a:xfrm>
          <a:prstGeom prst="hexagon">
            <a:avLst>
              <a:gd name="adj" fmla="val 25000"/>
              <a:gd name="vf" fmla="val 115470"/>
            </a:avLst>
          </a:prstGeom>
          <a:gradFill rotWithShape="1">
            <a:gsLst>
              <a:gs pos="0">
                <a:srgbClr val="F2C4BC"/>
              </a:gs>
              <a:gs pos="55000">
                <a:srgbClr val="EDABA0"/>
              </a:gs>
              <a:gs pos="100000">
                <a:srgbClr val="C99188"/>
              </a:gs>
            </a:gsLst>
            <a:path path="circle">
              <a:fillToRect l="32000" t="28000" r="68000" b="72000"/>
            </a:path>
          </a:gradFill>
          <a:ln w="9525" cap="rnd">
            <a:solidFill>
              <a:srgbClr val="7B241C"/>
            </a:solidFill>
            <a:round/>
          </a:ln>
        </p:spPr>
      </p:sp>
      <p:sp>
        <p:nvSpPr>
          <p:cNvPr id="23" name="Hepatocito 1-2"/>
          <p:cNvSpPr/>
          <p:nvPr/>
        </p:nvSpPr>
        <p:spPr>
          <a:xfrm>
            <a:off x="3557016" y="3520440"/>
            <a:ext cx="896112" cy="868680"/>
          </a:xfrm>
          <a:prstGeom prst="hexagon">
            <a:avLst>
              <a:gd name="adj" fmla="val 25000"/>
              <a:gd name="vf" fmla="val 115470"/>
            </a:avLst>
          </a:prstGeom>
          <a:gradFill rotWithShape="1">
            <a:gsLst>
              <a:gs pos="0">
                <a:srgbClr val="EDC1C1"/>
              </a:gs>
              <a:gs pos="55000">
                <a:srgbClr val="E6A7A7"/>
              </a:gs>
              <a:gs pos="100000">
                <a:srgbClr val="C38D8D"/>
              </a:gs>
            </a:gsLst>
            <a:path path="circle">
              <a:fillToRect l="32000" t="28000" r="68000" b="72000"/>
            </a:path>
          </a:gradFill>
          <a:ln w="9525" cap="rnd">
            <a:solidFill>
              <a:srgbClr val="7B241C"/>
            </a:solidFill>
            <a:round/>
          </a:ln>
        </p:spPr>
      </p:sp>
      <p:sp>
        <p:nvSpPr>
          <p:cNvPr id="24" name="Hepatocito 1-3"/>
          <p:cNvSpPr/>
          <p:nvPr/>
        </p:nvSpPr>
        <p:spPr>
          <a:xfrm>
            <a:off x="4489704" y="3520440"/>
            <a:ext cx="896112" cy="868680"/>
          </a:xfrm>
          <a:prstGeom prst="hexagon">
            <a:avLst>
              <a:gd name="adj" fmla="val 25000"/>
              <a:gd name="vf" fmla="val 115470"/>
            </a:avLst>
          </a:prstGeom>
          <a:gradFill rotWithShape="1">
            <a:gsLst>
              <a:gs pos="0">
                <a:srgbClr val="E8BEC5"/>
              </a:gs>
              <a:gs pos="55000">
                <a:srgbClr val="DFA3AD"/>
              </a:gs>
              <a:gs pos="100000">
                <a:srgbClr val="BD8A93"/>
              </a:gs>
            </a:gsLst>
            <a:path path="circle">
              <a:fillToRect l="32000" t="28000" r="68000" b="72000"/>
            </a:path>
          </a:gradFill>
          <a:ln w="9525" cap="rnd">
            <a:solidFill>
              <a:srgbClr val="7B241C"/>
            </a:solidFill>
            <a:round/>
          </a:ln>
        </p:spPr>
      </p:sp>
      <p:sp>
        <p:nvSpPr>
          <p:cNvPr id="25" name="Hepatocito 1-4"/>
          <p:cNvSpPr/>
          <p:nvPr/>
        </p:nvSpPr>
        <p:spPr>
          <a:xfrm>
            <a:off x="5422392" y="3520440"/>
            <a:ext cx="896112" cy="868680"/>
          </a:xfrm>
          <a:prstGeom prst="hexagon">
            <a:avLst>
              <a:gd name="adj" fmla="val 25000"/>
              <a:gd name="vf" fmla="val 115470"/>
            </a:avLst>
          </a:prstGeom>
          <a:gradFill rotWithShape="1">
            <a:gsLst>
              <a:gs pos="0">
                <a:srgbClr val="E3BBCA"/>
              </a:gs>
              <a:gs pos="55000">
                <a:srgbClr val="D89FB4"/>
              </a:gs>
              <a:gs pos="100000">
                <a:srgbClr val="B78799"/>
              </a:gs>
            </a:gsLst>
            <a:path path="circle">
              <a:fillToRect l="32000" t="28000" r="68000" b="72000"/>
            </a:path>
          </a:gradFill>
          <a:ln w="9525" cap="rnd">
            <a:solidFill>
              <a:srgbClr val="7B241C"/>
            </a:solidFill>
            <a:round/>
          </a:ln>
        </p:spPr>
      </p:sp>
      <p:sp>
        <p:nvSpPr>
          <p:cNvPr id="26" name="Hepatocito 1-5"/>
          <p:cNvSpPr/>
          <p:nvPr/>
        </p:nvSpPr>
        <p:spPr>
          <a:xfrm>
            <a:off x="6355080" y="3520440"/>
            <a:ext cx="896112" cy="868680"/>
          </a:xfrm>
          <a:prstGeom prst="hexagon">
            <a:avLst>
              <a:gd name="adj" fmla="val 25000"/>
              <a:gd name="vf" fmla="val 115470"/>
            </a:avLst>
          </a:prstGeom>
          <a:gradFill rotWithShape="1">
            <a:gsLst>
              <a:gs pos="0">
                <a:srgbClr val="DEB9CE"/>
              </a:gs>
              <a:gs pos="55000">
                <a:srgbClr val="D09BBA"/>
              </a:gs>
              <a:gs pos="100000">
                <a:srgbClr val="B0839E"/>
              </a:gs>
            </a:gsLst>
            <a:path path="circle">
              <a:fillToRect l="32000" t="28000" r="68000" b="72000"/>
            </a:path>
          </a:gradFill>
          <a:ln w="9525" cap="rnd">
            <a:solidFill>
              <a:srgbClr val="7B241C"/>
            </a:solidFill>
            <a:round/>
          </a:ln>
        </p:spPr>
      </p:sp>
      <p:sp>
        <p:nvSpPr>
          <p:cNvPr id="27" name="Hepatocito 1-6"/>
          <p:cNvSpPr/>
          <p:nvPr/>
        </p:nvSpPr>
        <p:spPr>
          <a:xfrm>
            <a:off x="7287768" y="3520440"/>
            <a:ext cx="896112" cy="868680"/>
          </a:xfrm>
          <a:prstGeom prst="hexagon">
            <a:avLst>
              <a:gd name="adj" fmla="val 25000"/>
              <a:gd name="vf" fmla="val 115470"/>
            </a:avLst>
          </a:prstGeom>
          <a:gradFill rotWithShape="1">
            <a:gsLst>
              <a:gs pos="0">
                <a:srgbClr val="D9B6D3"/>
              </a:gs>
              <a:gs pos="55000">
                <a:srgbClr val="C997C1"/>
              </a:gs>
              <a:gs pos="100000">
                <a:srgbClr val="AA80A4"/>
              </a:gs>
            </a:gsLst>
            <a:path path="circle">
              <a:fillToRect l="32000" t="28000" r="68000" b="72000"/>
            </a:path>
          </a:gradFill>
          <a:ln w="9525" cap="rnd">
            <a:solidFill>
              <a:srgbClr val="7B241C"/>
            </a:solidFill>
            <a:round/>
          </a:ln>
        </p:spPr>
      </p:sp>
      <p:sp>
        <p:nvSpPr>
          <p:cNvPr id="28" name="Hepatocito 1-7"/>
          <p:cNvSpPr/>
          <p:nvPr/>
        </p:nvSpPr>
        <p:spPr>
          <a:xfrm>
            <a:off x="8220456" y="3520440"/>
            <a:ext cx="896112" cy="868680"/>
          </a:xfrm>
          <a:prstGeom prst="hexagon">
            <a:avLst>
              <a:gd name="adj" fmla="val 25000"/>
              <a:gd name="vf" fmla="val 115470"/>
            </a:avLst>
          </a:prstGeom>
          <a:gradFill rotWithShape="1">
            <a:gsLst>
              <a:gs pos="0">
                <a:srgbClr val="D4B3D7"/>
              </a:gs>
              <a:gs pos="55000">
                <a:srgbClr val="C293C7"/>
              </a:gs>
              <a:gs pos="100000">
                <a:srgbClr val="A47CA9"/>
              </a:gs>
            </a:gsLst>
            <a:path path="circle">
              <a:fillToRect l="32000" t="28000" r="68000" b="72000"/>
            </a:path>
          </a:gradFill>
          <a:ln w="9525" cap="rnd">
            <a:solidFill>
              <a:srgbClr val="7B241C"/>
            </a:solidFill>
            <a:round/>
          </a:ln>
        </p:spPr>
      </p:sp>
      <p:sp>
        <p:nvSpPr>
          <p:cNvPr id="29" name="Hepatocito 1-8"/>
          <p:cNvSpPr/>
          <p:nvPr/>
        </p:nvSpPr>
        <p:spPr>
          <a:xfrm>
            <a:off x="9153144" y="3520440"/>
            <a:ext cx="896112" cy="868680"/>
          </a:xfrm>
          <a:prstGeom prst="hexagon">
            <a:avLst>
              <a:gd name="adj" fmla="val 25000"/>
              <a:gd name="vf" fmla="val 115470"/>
            </a:avLst>
          </a:prstGeom>
          <a:gradFill rotWithShape="1">
            <a:gsLst>
              <a:gs pos="0">
                <a:srgbClr val="CFB0DC"/>
              </a:gs>
              <a:gs pos="55000">
                <a:srgbClr val="BB8FCE"/>
              </a:gs>
              <a:gs pos="100000">
                <a:srgbClr val="9E79AF"/>
              </a:gs>
            </a:gsLst>
            <a:path path="circle">
              <a:fillToRect l="32000" t="28000" r="68000" b="72000"/>
            </a:path>
          </a:gradFill>
          <a:ln w="9525" cap="rnd">
            <a:solidFill>
              <a:srgbClr val="7B241C"/>
            </a:solidFill>
            <a:round/>
          </a:ln>
        </p:spPr>
      </p:sp>
      <p:sp>
        <p:nvSpPr>
          <p:cNvPr id="30" name="Zona 1"/>
          <p:cNvSpPr/>
          <p:nvPr/>
        </p:nvSpPr>
        <p:spPr>
          <a:xfrm>
            <a:off x="1691640" y="1097280"/>
            <a:ext cx="2743200" cy="73152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ZONA 1 · PERIPORTAL</a:t>
            </a:r>
            <a:endParaRPr lang="es-AR" sz="1400" dirty="0">
              <a:latin typeface="Bahnschrift SemiBold Condensed"/>
            </a:endParaRPr>
          </a:p>
        </p:txBody>
      </p:sp>
      <p:sp>
        <p:nvSpPr>
          <p:cNvPr id="31" name="Zona 3"/>
          <p:cNvSpPr/>
          <p:nvPr/>
        </p:nvSpPr>
        <p:spPr>
          <a:xfrm>
            <a:off x="7315200" y="1097280"/>
            <a:ext cx="2651760" cy="73152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ZONA 3 · PERIVENOSA</a:t>
            </a:r>
            <a:endParaRPr lang="es-AR" sz="1400" dirty="0">
              <a:latin typeface="Bahnschrift SemiBold Condensed"/>
            </a:endParaRPr>
          </a:p>
        </p:txBody>
      </p:sp>
      <p:sp>
        <p:nvSpPr>
          <p:cNvPr id="32" name="NH4 sinusoide 0"/>
          <p:cNvSpPr/>
          <p:nvPr/>
        </p:nvSpPr>
        <p:spPr>
          <a:xfrm>
            <a:off x="1828800" y="2971800"/>
            <a:ext cx="347472" cy="34747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868" b="1" dirty="0">
                <a:solidFill>
                  <a:srgbClr val="FFFFFF"/>
                </a:solidFill>
                <a:latin typeface="Bahnschrift SemiBold Condensed"/>
                <a:ea typeface="Bahnschrift SemiBold Condensed"/>
                <a:cs typeface="Bahnschrift SemiBold Condensed"/>
                <a:sym typeface="Bahnschrift SemiBold Condensed"/>
              </a:rPr>
              <a:t>NH</a:t>
            </a:r>
            <a:r>
              <a:rPr lang="es-AR" sz="868" b="1" baseline="-25000" dirty="0">
                <a:solidFill>
                  <a:srgbClr val="FFFFFF"/>
                </a:solidFill>
                <a:latin typeface="Bahnschrift SemiBold Condensed"/>
                <a:ea typeface="Bahnschrift SemiBold Condensed"/>
                <a:cs typeface="Bahnschrift SemiBold Condensed"/>
                <a:sym typeface="Bahnschrift SemiBold Condensed"/>
              </a:rPr>
              <a:t>4</a:t>
            </a:r>
            <a:r>
              <a:rPr lang="es-AR" sz="868" b="1" baseline="30000" dirty="0">
                <a:solidFill>
                  <a:srgbClr val="FFFFFF"/>
                </a:solidFill>
                <a:latin typeface="Bahnschrift SemiBold Condensed"/>
                <a:ea typeface="Bahnschrift SemiBold Condensed"/>
                <a:cs typeface="Bahnschrift SemiBold Condensed"/>
                <a:sym typeface="Bahnschrift SemiBold Condensed"/>
              </a:rPr>
              <a:t>+</a:t>
            </a:r>
            <a:endParaRPr lang="es-AR" sz="868" dirty="0">
              <a:latin typeface="Bahnschrift SemiBold Condensed"/>
            </a:endParaRPr>
          </a:p>
        </p:txBody>
      </p:sp>
      <p:sp>
        <p:nvSpPr>
          <p:cNvPr id="33" name="NH4 sinusoide 1"/>
          <p:cNvSpPr/>
          <p:nvPr/>
        </p:nvSpPr>
        <p:spPr>
          <a:xfrm>
            <a:off x="2148840" y="2971800"/>
            <a:ext cx="347472" cy="34747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868" b="1" dirty="0">
                <a:solidFill>
                  <a:srgbClr val="FFFFFF"/>
                </a:solidFill>
                <a:latin typeface="Bahnschrift SemiBold Condensed"/>
                <a:ea typeface="Bahnschrift SemiBold Condensed"/>
                <a:cs typeface="Bahnschrift SemiBold Condensed"/>
                <a:sym typeface="Bahnschrift SemiBold Condensed"/>
              </a:rPr>
              <a:t>NH</a:t>
            </a:r>
            <a:r>
              <a:rPr lang="es-AR" sz="868" b="1" baseline="-25000" dirty="0">
                <a:solidFill>
                  <a:srgbClr val="FFFFFF"/>
                </a:solidFill>
                <a:latin typeface="Bahnschrift SemiBold Condensed"/>
                <a:ea typeface="Bahnschrift SemiBold Condensed"/>
                <a:cs typeface="Bahnschrift SemiBold Condensed"/>
                <a:sym typeface="Bahnschrift SemiBold Condensed"/>
              </a:rPr>
              <a:t>4</a:t>
            </a:r>
            <a:r>
              <a:rPr lang="es-AR" sz="868" b="1" baseline="30000" dirty="0">
                <a:solidFill>
                  <a:srgbClr val="FFFFFF"/>
                </a:solidFill>
                <a:latin typeface="Bahnschrift SemiBold Condensed"/>
                <a:ea typeface="Bahnschrift SemiBold Condensed"/>
                <a:cs typeface="Bahnschrift SemiBold Condensed"/>
                <a:sym typeface="Bahnschrift SemiBold Condensed"/>
              </a:rPr>
              <a:t>+</a:t>
            </a:r>
            <a:endParaRPr lang="es-AR" sz="868" dirty="0">
              <a:latin typeface="Bahnschrift SemiBold Condensed"/>
            </a:endParaRPr>
          </a:p>
        </p:txBody>
      </p:sp>
      <p:sp>
        <p:nvSpPr>
          <p:cNvPr id="34" name="NH4 sinusoide 2"/>
          <p:cNvSpPr/>
          <p:nvPr/>
        </p:nvSpPr>
        <p:spPr>
          <a:xfrm>
            <a:off x="2468880" y="2971800"/>
            <a:ext cx="347472" cy="34747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868" b="1" dirty="0">
                <a:solidFill>
                  <a:srgbClr val="FFFFFF"/>
                </a:solidFill>
                <a:latin typeface="Bahnschrift SemiBold Condensed"/>
                <a:ea typeface="Bahnschrift SemiBold Condensed"/>
                <a:cs typeface="Bahnschrift SemiBold Condensed"/>
                <a:sym typeface="Bahnschrift SemiBold Condensed"/>
              </a:rPr>
              <a:t>NH</a:t>
            </a:r>
            <a:r>
              <a:rPr lang="es-AR" sz="868" b="1" baseline="-25000" dirty="0">
                <a:solidFill>
                  <a:srgbClr val="FFFFFF"/>
                </a:solidFill>
                <a:latin typeface="Bahnschrift SemiBold Condensed"/>
                <a:ea typeface="Bahnschrift SemiBold Condensed"/>
                <a:cs typeface="Bahnschrift SemiBold Condensed"/>
                <a:sym typeface="Bahnschrift SemiBold Condensed"/>
              </a:rPr>
              <a:t>4</a:t>
            </a:r>
            <a:r>
              <a:rPr lang="es-AR" sz="868" b="1" baseline="30000" dirty="0">
                <a:solidFill>
                  <a:srgbClr val="FFFFFF"/>
                </a:solidFill>
                <a:latin typeface="Bahnschrift SemiBold Condensed"/>
                <a:ea typeface="Bahnschrift SemiBold Condensed"/>
                <a:cs typeface="Bahnschrift SemiBold Condensed"/>
                <a:sym typeface="Bahnschrift SemiBold Condensed"/>
              </a:rPr>
              <a:t>+</a:t>
            </a:r>
            <a:endParaRPr lang="es-AR" sz="868" dirty="0">
              <a:latin typeface="Bahnschrift SemiBold Condensed"/>
            </a:endParaRPr>
          </a:p>
        </p:txBody>
      </p:sp>
      <p:sp>
        <p:nvSpPr>
          <p:cNvPr id="35" name="NH4 sinusoide 3"/>
          <p:cNvSpPr/>
          <p:nvPr/>
        </p:nvSpPr>
        <p:spPr>
          <a:xfrm>
            <a:off x="2788920" y="2971800"/>
            <a:ext cx="347472" cy="34747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868" b="1" dirty="0">
                <a:solidFill>
                  <a:srgbClr val="FFFFFF"/>
                </a:solidFill>
                <a:latin typeface="Bahnschrift SemiBold Condensed"/>
                <a:ea typeface="Bahnschrift SemiBold Condensed"/>
                <a:cs typeface="Bahnschrift SemiBold Condensed"/>
                <a:sym typeface="Bahnschrift SemiBold Condensed"/>
              </a:rPr>
              <a:t>NH</a:t>
            </a:r>
            <a:r>
              <a:rPr lang="es-AR" sz="868" b="1" baseline="-25000" dirty="0">
                <a:solidFill>
                  <a:srgbClr val="FFFFFF"/>
                </a:solidFill>
                <a:latin typeface="Bahnschrift SemiBold Condensed"/>
                <a:ea typeface="Bahnschrift SemiBold Condensed"/>
                <a:cs typeface="Bahnschrift SemiBold Condensed"/>
                <a:sym typeface="Bahnschrift SemiBold Condensed"/>
              </a:rPr>
              <a:t>4</a:t>
            </a:r>
            <a:r>
              <a:rPr lang="es-AR" sz="868" b="1" baseline="30000" dirty="0">
                <a:solidFill>
                  <a:srgbClr val="FFFFFF"/>
                </a:solidFill>
                <a:latin typeface="Bahnschrift SemiBold Condensed"/>
                <a:ea typeface="Bahnschrift SemiBold Condensed"/>
                <a:cs typeface="Bahnschrift SemiBold Condensed"/>
                <a:sym typeface="Bahnschrift SemiBold Condensed"/>
              </a:rPr>
              <a:t>+</a:t>
            </a:r>
            <a:endParaRPr lang="es-AR" sz="868" dirty="0">
              <a:latin typeface="Bahnschrift SemiBold Condensed"/>
            </a:endParaRPr>
          </a:p>
        </p:txBody>
      </p:sp>
      <p:sp>
        <p:nvSpPr>
          <p:cNvPr id="36" name="Urea zona 1"/>
          <p:cNvSpPr/>
          <p:nvPr/>
        </p:nvSpPr>
        <p:spPr>
          <a:xfrm>
            <a:off x="4069080" y="3611880"/>
            <a:ext cx="502920" cy="50292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37" name="Glutamina zona 3"/>
          <p:cNvSpPr/>
          <p:nvPr/>
        </p:nvSpPr>
        <p:spPr>
          <a:xfrm>
            <a:off x="8641080" y="3611880"/>
            <a:ext cx="502920" cy="50292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sp>
        <p:nvSpPr>
          <p:cNvPr id="38" name="Forma 37"/>
          <p:cNvSpPr/>
          <p:nvPr/>
        </p:nvSpPr>
        <p:spPr>
          <a:xfrm>
            <a:off x="365760" y="4709160"/>
            <a:ext cx="5303520" cy="17830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Zona 1</a:t>
            </a:r>
            <a:r>
              <a:rPr lang="es-AR" sz="1600" dirty="0">
                <a:solidFill>
                  <a:srgbClr val="1E1E1E"/>
                </a:solidFill>
                <a:latin typeface="Bahnschrift"/>
                <a:ea typeface="Bahnschrift"/>
                <a:cs typeface="Bahnschrift"/>
                <a:sym typeface="Bahnschrift"/>
              </a:rPr>
              <a:t>: más O</a:t>
            </a:r>
            <a:r>
              <a:rPr lang="es-AR" sz="1600" baseline="-25000" dirty="0">
                <a:solidFill>
                  <a:srgbClr val="1E1E1E"/>
                </a:solidFill>
                <a:latin typeface="Bahnschrift"/>
                <a:ea typeface="Bahnschrift"/>
                <a:cs typeface="Bahnschrift"/>
                <a:sym typeface="Bahnschrift"/>
              </a:rPr>
              <a:t>2</a:t>
            </a:r>
            <a:r>
              <a:rPr lang="es-AR" sz="1600" dirty="0">
                <a:solidFill>
                  <a:srgbClr val="1E1E1E"/>
                </a:solidFill>
                <a:latin typeface="Bahnschrift"/>
                <a:ea typeface="Bahnschrift"/>
                <a:cs typeface="Bahnschrift"/>
                <a:sym typeface="Bahnschrift"/>
              </a:rPr>
              <a:t>; transaminaciones, </a:t>
            </a:r>
            <a:r>
              <a:rPr lang="es-AR" sz="1600" b="1" dirty="0">
                <a:solidFill>
                  <a:srgbClr val="1E1E1E"/>
                </a:solidFill>
                <a:latin typeface="Bahnschrift"/>
                <a:ea typeface="Bahnschrift"/>
                <a:cs typeface="Bahnschrift"/>
                <a:sym typeface="Bahnschrift"/>
              </a:rPr>
              <a:t>glutaminasa</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GDH</a:t>
            </a:r>
            <a:r>
              <a:rPr lang="es-AR" sz="1600" dirty="0">
                <a:solidFill>
                  <a:srgbClr val="1E1E1E"/>
                </a:solidFill>
                <a:latin typeface="Bahnschrift"/>
                <a:ea typeface="Bahnschrift"/>
                <a:cs typeface="Bahnschrift"/>
                <a:sym typeface="Bahnschrift"/>
              </a:rPr>
              <a:t> y ciclo de la urea (</a:t>
            </a:r>
            <a:r>
              <a:rPr lang="es-AR" sz="1600" b="1" dirty="0">
                <a:solidFill>
                  <a:srgbClr val="1E1E1E"/>
                </a:solidFill>
                <a:latin typeface="Bahnschrift"/>
                <a:ea typeface="Bahnschrift"/>
                <a:cs typeface="Bahnschrift"/>
                <a:sym typeface="Bahnschrift"/>
              </a:rPr>
              <a:t>CPS1, OTC, ASS1, ASL, ARG1</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Gran capacidad</a:t>
            </a:r>
            <a:r>
              <a:rPr lang="es-AR" sz="1600" dirty="0">
                <a:solidFill>
                  <a:srgbClr val="1E1E1E"/>
                </a:solidFill>
                <a:latin typeface="Bahnschrift"/>
                <a:ea typeface="Bahnschrift"/>
                <a:cs typeface="Bahnschrift"/>
                <a:sym typeface="Bahnschrift"/>
              </a:rPr>
              <a:t>, afinidad global menor.</a:t>
            </a:r>
            <a:endParaRPr lang="es-AR" sz="1600" dirty="0">
              <a:latin typeface="Bahnschrift"/>
            </a:endParaRPr>
          </a:p>
        </p:txBody>
      </p:sp>
      <p:sp>
        <p:nvSpPr>
          <p:cNvPr id="39" name="Forma 38"/>
          <p:cNvSpPr/>
          <p:nvPr/>
        </p:nvSpPr>
        <p:spPr>
          <a:xfrm>
            <a:off x="6035040" y="4709160"/>
            <a:ext cx="5760720" cy="17830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Zona 3</a:t>
            </a:r>
            <a:r>
              <a:rPr lang="es-AR" sz="1600" dirty="0">
                <a:solidFill>
                  <a:srgbClr val="1E1E1E"/>
                </a:solidFill>
                <a:latin typeface="Bahnschrift"/>
                <a:ea typeface="Bahnschrift"/>
                <a:cs typeface="Bahnschrift"/>
                <a:sym typeface="Bahnschrift"/>
              </a:rPr>
              <a:t>: banda pequeña con </a:t>
            </a:r>
            <a:r>
              <a:rPr lang="es-AR" sz="1600" b="1" dirty="0">
                <a:solidFill>
                  <a:srgbClr val="1E1E1E"/>
                </a:solidFill>
                <a:latin typeface="Bahnschrift"/>
                <a:ea typeface="Bahnschrift"/>
                <a:cs typeface="Bahnschrift"/>
                <a:sym typeface="Bahnschrift"/>
              </a:rPr>
              <a:t>glutamina sintetasa</a:t>
            </a:r>
            <a:r>
              <a:rPr lang="es-AR" sz="1600" dirty="0">
                <a:solidFill>
                  <a:srgbClr val="1E1E1E"/>
                </a:solidFill>
                <a:latin typeface="Bahnschrift"/>
                <a:ea typeface="Bahnschrift"/>
                <a:cs typeface="Bahnschrift"/>
                <a:sym typeface="Bahnschrift"/>
              </a:rPr>
              <a:t> (GS): glutamato + NH</a:t>
            </a:r>
            <a:r>
              <a:rPr lang="es-AR" sz="1600" baseline="-25000" dirty="0">
                <a:solidFill>
                  <a:srgbClr val="1E1E1E"/>
                </a:solidFill>
                <a:latin typeface="Bahnschrift"/>
                <a:ea typeface="Bahnschrift"/>
                <a:cs typeface="Bahnschrift"/>
                <a:sym typeface="Bahnschrift"/>
              </a:rPr>
              <a:t>4</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 ATP → glutamina. </a:t>
            </a:r>
            <a:r>
              <a:rPr lang="es-AR" sz="1600" b="1" dirty="0">
                <a:solidFill>
                  <a:srgbClr val="1E1E1E"/>
                </a:solidFill>
                <a:latin typeface="Bahnschrift"/>
                <a:ea typeface="Bahnschrift"/>
                <a:cs typeface="Bahnschrift"/>
                <a:sym typeface="Bahnschrift"/>
              </a:rPr>
              <a:t>Último filtro de alta afinidad</a:t>
            </a:r>
            <a:r>
              <a:rPr lang="es-AR" sz="1600" dirty="0">
                <a:solidFill>
                  <a:srgbClr val="1E1E1E"/>
                </a:solidFill>
                <a:latin typeface="Bahnschrift"/>
                <a:ea typeface="Bahnschrift"/>
                <a:cs typeface="Bahnschrift"/>
                <a:sym typeface="Bahnschrift"/>
              </a:rPr>
              <a:t> para el NH</a:t>
            </a:r>
            <a:r>
              <a:rPr lang="es-AR" sz="1600" baseline="-25000" dirty="0">
                <a:solidFill>
                  <a:srgbClr val="1E1E1E"/>
                </a:solidFill>
                <a:latin typeface="Bahnschrift"/>
                <a:ea typeface="Bahnschrift"/>
                <a:cs typeface="Bahnschrift"/>
                <a:sym typeface="Bahnschrift"/>
              </a:rPr>
              <a:t>4</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residual.</a:t>
            </a:r>
            <a:endParaRPr lang="es-AR" sz="1600" dirty="0">
              <a:latin typeface="Bahnschrift"/>
            </a:endParaRPr>
          </a:p>
        </p:txBody>
      </p:sp>
      <p:sp>
        <p:nvSpPr>
          <p:cNvPr id="2" name="Etiqueta sección"/>
          <p:cNvSpPr/>
          <p:nvPr/>
        </p:nvSpPr>
        <p:spPr>
          <a:xfrm>
            <a:off x="10514477" y="201168"/>
            <a:ext cx="140289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ÁCINO HEPÁTICO</a:t>
            </a:r>
            <a:endParaRPr lang="es-AR" sz="1300" dirty="0">
              <a:latin typeface="Bahnschrift SemiBold Condensed"/>
            </a:endParaRPr>
          </a:p>
        </p:txBody>
      </p:sp>
      <p:sp>
        <p:nvSpPr>
          <p:cNvPr id="3" name="Título"/>
          <p:cNvSpPr/>
          <p:nvPr/>
        </p:nvSpPr>
        <p:spPr>
          <a:xfrm>
            <a:off x="274320" y="146304"/>
            <a:ext cx="826203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25 · ZONACIÓN HEPÁTICA: PERIPORTAL FRENTE A PERIVENOSA</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0"/>
                                        </p:tgtEl>
                                        <p:attrNameLst>
                                          <p:attrName>style.visibility</p:attrName>
                                        </p:attrNameLst>
                                      </p:cBhvr>
                                      <p:to>
                                        <p:strVal val="visible"/>
                                      </p:to>
                                    </p:set>
                                    <p:animEffect transition="in" filter="fade">
                                      <p:cBhvr>
                                        <p:cTn id="5" dur="500"/>
                                        <p:tgtEl>
                                          <p:spTgt spid="30"/>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31"/>
                                        </p:tgtEl>
                                        <p:attrNameLst>
                                          <p:attrName>style.visibility</p:attrName>
                                        </p:attrNameLst>
                                      </p:cBhvr>
                                      <p:to>
                                        <p:strVal val="visible"/>
                                      </p:to>
                                    </p:set>
                                    <p:animEffect transition="in" filter="fade">
                                      <p:cBhvr>
                                        <p:cTn id="8" dur="500"/>
                                        <p:tgtEl>
                                          <p:spTgt spid="31"/>
                                        </p:tgtEl>
                                      </p:cBhvr>
                                    </p:animEffect>
                                  </p:childTnLst>
                                </p:cTn>
                              </p:par>
                            </p:childTnLst>
                          </p:cTn>
                        </p:par>
                      </p:childTnLst>
                    </p:cTn>
                  </p:par>
                  <p:par>
                    <p:cTn id="22" fill="hold">
                      <p:stCondLst>
                        <p:cond delay="indefinite"/>
                      </p:stCondLst>
                      <p:childTnLst>
                        <p:par>
                          <p:cTn id="13" fill="hold">
                            <p:stCondLst>
                              <p:cond delay="0"/>
                            </p:stCondLst>
                            <p:childTnLst>
                              <p:par>
                                <p:cTn id="11" presetID="0" presetClass="path" presetSubtype="0" accel="20000" decel="20000" fill="hold" grpId="0" nodeType="clickEffect">
                                  <p:stCondLst>
                                    <p:cond delay="0"/>
                                  </p:stCondLst>
                                  <p:childTnLst>
                                    <p:animMotion origin="layout" path="M 0 0 L 0.1200 0.0000 E" pathEditMode="relative" ptsTypes="">
                                      <p:cBhvr>
                                        <p:cTn id="12" dur="1200" fill="hold"/>
                                        <p:tgtEl>
                                          <p:spTgt spid="32"/>
                                        </p:tgtEl>
                                        <p:attrNameLst>
                                          <p:attrName>ppt_x</p:attrName>
                                          <p:attrName>ppt_y</p:attrName>
                                        </p:attrNameLst>
                                      </p:cBhvr>
                                      <p:rCtr x="6000" y="0"/>
                                    </p:animMotion>
                                  </p:childTnLst>
                                </p:cTn>
                              </p:par>
                            </p:childTnLst>
                          </p:cTn>
                        </p:par>
                        <p:par>
                          <p:cTn id="16" fill="hold">
                            <p:stCondLst>
                              <p:cond delay="150"/>
                            </p:stCondLst>
                            <p:childTnLst>
                              <p:par>
                                <p:cTn id="14" presetID="0" presetClass="path" presetSubtype="0" accel="20000" decel="20000" fill="hold" grpId="0" nodeType="afterEffect">
                                  <p:stCondLst>
                                    <p:cond delay="0"/>
                                  </p:stCondLst>
                                  <p:childTnLst>
                                    <p:animMotion origin="layout" path="M 0 0 L 0.0975 0.0000 E" pathEditMode="relative" ptsTypes="">
                                      <p:cBhvr>
                                        <p:cTn id="15" dur="1200" fill="hold"/>
                                        <p:tgtEl>
                                          <p:spTgt spid="33"/>
                                        </p:tgtEl>
                                        <p:attrNameLst>
                                          <p:attrName>ppt_x</p:attrName>
                                          <p:attrName>ppt_y</p:attrName>
                                        </p:attrNameLst>
                                      </p:cBhvr>
                                      <p:rCtr x="4875" y="0"/>
                                    </p:animMotion>
                                  </p:childTnLst>
                                </p:cTn>
                              </p:par>
                            </p:childTnLst>
                          </p:cTn>
                        </p:par>
                        <p:par>
                          <p:cTn id="21" fill="hold">
                            <p:stCondLst>
                              <p:cond delay="450"/>
                            </p:stCondLst>
                            <p:childTnLst>
                              <p:par>
                                <p:cTn id="17" presetID="0" presetClass="path" presetSubtype="0" accel="20000" decel="20000" fill="hold" grpId="0" nodeType="afterEffect">
                                  <p:stCondLst>
                                    <p:cond delay="0"/>
                                  </p:stCondLst>
                                  <p:childTnLst>
                                    <p:animMotion origin="layout" path="M 0 0 L 0.0750 0.0000 E" pathEditMode="relative" ptsTypes="">
                                      <p:cBhvr>
                                        <p:cTn id="18" dur="1200" fill="hold"/>
                                        <p:tgtEl>
                                          <p:spTgt spid="34"/>
                                        </p:tgtEl>
                                        <p:attrNameLst>
                                          <p:attrName>ppt_x</p:attrName>
                                          <p:attrName>ppt_y</p:attrName>
                                        </p:attrNameLst>
                                      </p:cBhvr>
                                      <p:rCtr x="3750" y="0"/>
                                    </p:animMotion>
                                  </p:childTnLst>
                                </p:cTn>
                              </p:par>
                              <p:par>
                                <p:cTn id="19" presetID="0" presetClass="path" presetSubtype="0" accel="20000" decel="20000" fill="hold" grpId="0" nodeType="withEffect">
                                  <p:stCondLst>
                                    <p:cond delay="0"/>
                                  </p:stCondLst>
                                  <p:childTnLst>
                                    <p:animMotion origin="layout" path="M 0 0 L 0.5475 0.0000 E" pathEditMode="relative" ptsTypes="">
                                      <p:cBhvr>
                                        <p:cTn id="20" dur="2200" fill="hold"/>
                                        <p:tgtEl>
                                          <p:spTgt spid="35"/>
                                        </p:tgtEl>
                                        <p:attrNameLst>
                                          <p:attrName>ppt_x</p:attrName>
                                          <p:attrName>ppt_y</p:attrName>
                                        </p:attrNameLst>
                                      </p:cBhvr>
                                      <p:rCtr x="27375" y="0"/>
                                    </p:animMotion>
                                  </p:childTnLst>
                                </p:cTn>
                              </p:par>
                            </p:childTnLst>
                          </p:cTn>
                        </p:par>
                      </p:childTnLst>
                    </p:cTn>
                  </p:par>
                  <p:par>
                    <p:cTn id="42" fill="hold">
                      <p:stCondLst>
                        <p:cond delay="indefinite"/>
                      </p:stCondLst>
                      <p:childTnLst>
                        <p:par>
                          <p:cTn id="32" fill="hold">
                            <p:stCondLst>
                              <p:cond delay="0"/>
                            </p:stCondLst>
                            <p:childTnLst>
                              <p:par>
                                <p:cTn id="23" presetID="10" presetClass="exit" presetSubtype="0" fill="hold" grpId="0" nodeType="clickEffect">
                                  <p:stCondLst>
                                    <p:cond delay="0"/>
                                  </p:stCondLst>
                                  <p:childTnLst>
                                    <p:animEffect transition="out" filter="fade">
                                      <p:cBhvr>
                                        <p:cTn id="24" dur="400"/>
                                        <p:tgtEl>
                                          <p:spTgt spid="32"/>
                                        </p:tgtEl>
                                      </p:cBhvr>
                                    </p:animEffect>
                                    <p:set>
                                      <p:cBhvr>
                                        <p:cTn id="25" dur="1" fill="hold">
                                          <p:stCondLst>
                                            <p:cond delay="399"/>
                                          </p:stCondLst>
                                        </p:cTn>
                                        <p:tgtEl>
                                          <p:spTgt spid="32"/>
                                        </p:tgtEl>
                                        <p:attrNameLst>
                                          <p:attrName>style.visibility</p:attrName>
                                        </p:attrNameLst>
                                      </p:cBhvr>
                                      <p:to>
                                        <p:strVal val="hidden"/>
                                      </p:to>
                                    </p:set>
                                  </p:childTnLst>
                                </p:cTn>
                              </p:par>
                              <p:par>
                                <p:cTn id="26" presetID="10" presetClass="exit" presetSubtype="0" fill="hold" grpId="0" nodeType="withEffect">
                                  <p:stCondLst>
                                    <p:cond delay="0"/>
                                  </p:stCondLst>
                                  <p:childTnLst>
                                    <p:animEffect transition="out" filter="fade">
                                      <p:cBhvr>
                                        <p:cTn id="27" dur="400"/>
                                        <p:tgtEl>
                                          <p:spTgt spid="33"/>
                                        </p:tgtEl>
                                      </p:cBhvr>
                                    </p:animEffect>
                                    <p:set>
                                      <p:cBhvr>
                                        <p:cTn id="28" dur="1" fill="hold">
                                          <p:stCondLst>
                                            <p:cond delay="399"/>
                                          </p:stCondLst>
                                        </p:cTn>
                                        <p:tgtEl>
                                          <p:spTgt spid="33"/>
                                        </p:tgtEl>
                                        <p:attrNameLst>
                                          <p:attrName>style.visibility</p:attrName>
                                        </p:attrNameLst>
                                      </p:cBhvr>
                                      <p:to>
                                        <p:strVal val="hidden"/>
                                      </p:to>
                                    </p:set>
                                  </p:childTnLst>
                                </p:cTn>
                              </p:par>
                              <p:par>
                                <p:cTn id="29" presetID="10" presetClass="exit" presetSubtype="0" fill="hold" grpId="0" nodeType="withEffect">
                                  <p:stCondLst>
                                    <p:cond delay="0"/>
                                  </p:stCondLst>
                                  <p:childTnLst>
                                    <p:animEffect transition="out" filter="fade">
                                      <p:cBhvr>
                                        <p:cTn id="30" dur="400"/>
                                        <p:tgtEl>
                                          <p:spTgt spid="34"/>
                                        </p:tgtEl>
                                      </p:cBhvr>
                                    </p:animEffect>
                                    <p:set>
                                      <p:cBhvr>
                                        <p:cTn id="31" dur="1" fill="hold">
                                          <p:stCondLst>
                                            <p:cond delay="399"/>
                                          </p:stCondLst>
                                        </p:cTn>
                                        <p:tgtEl>
                                          <p:spTgt spid="34"/>
                                        </p:tgtEl>
                                        <p:attrNameLst>
                                          <p:attrName>style.visibility</p:attrName>
                                        </p:attrNameLst>
                                      </p:cBhvr>
                                      <p:to>
                                        <p:strVal val="hidden"/>
                                      </p:to>
                                    </p:set>
                                  </p:childTnLst>
                                </p:cTn>
                              </p:par>
                            </p:childTnLst>
                          </p:cTn>
                        </p:par>
                        <p:par>
                          <p:cTn id="41" fill="hold">
                            <p:stCondLst>
                              <p:cond delay="400"/>
                            </p:stCondLst>
                            <p:childTnLst>
                              <p:par>
                                <p:cTn id="33" presetID="53" presetClass="entr" presetSubtype="16"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500" fill="hold"/>
                                        <p:tgtEl>
                                          <p:spTgt spid="36"/>
                                        </p:tgtEl>
                                        <p:attrNameLst>
                                          <p:attrName>ppt_w</p:attrName>
                                        </p:attrNameLst>
                                      </p:cBhvr>
                                      <p:tavLst>
                                        <p:tav tm="0">
                                          <p:val>
                                            <p:fltVal val="0"/>
                                          </p:val>
                                        </p:tav>
                                        <p:tav tm="100000">
                                          <p:val>
                                            <p:strVal val="#ppt_w"/>
                                          </p:val>
                                        </p:tav>
                                      </p:tavLst>
                                    </p:anim>
                                    <p:anim calcmode="lin" valueType="num">
                                      <p:cBhvr>
                                        <p:cTn id="36" dur="500" fill="hold"/>
                                        <p:tgtEl>
                                          <p:spTgt spid="36"/>
                                        </p:tgtEl>
                                        <p:attrNameLst>
                                          <p:attrName>ppt_h</p:attrName>
                                        </p:attrNameLst>
                                      </p:cBhvr>
                                      <p:tavLst>
                                        <p:tav tm="0">
                                          <p:val>
                                            <p:fltVal val="0"/>
                                          </p:val>
                                        </p:tav>
                                        <p:tav tm="100000">
                                          <p:val>
                                            <p:strVal val="#ppt_h"/>
                                          </p:val>
                                        </p:tav>
                                      </p:tavLst>
                                    </p:anim>
                                    <p:animEffect transition="in" filter="fade">
                                      <p:cBhvr>
                                        <p:cTn id="37" dur="500"/>
                                        <p:tgtEl>
                                          <p:spTgt spid="36"/>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8"/>
                                        </p:tgtEl>
                                        <p:attrNameLst>
                                          <p:attrName>style.visibility</p:attrName>
                                        </p:attrNameLst>
                                      </p:cBhvr>
                                      <p:to>
                                        <p:strVal val="visible"/>
                                      </p:to>
                                    </p:set>
                                    <p:animEffect transition="in" filter="fade">
                                      <p:cBhvr>
                                        <p:cTn id="40" dur="500"/>
                                        <p:tgtEl>
                                          <p:spTgt spid="38"/>
                                        </p:tgtEl>
                                      </p:cBhvr>
                                    </p:animEffect>
                                  </p:childTnLst>
                                </p:cTn>
                              </p:par>
                            </p:childTnLst>
                          </p:cTn>
                        </p:par>
                      </p:childTnLst>
                    </p:cTn>
                  </p:par>
                  <p:par>
                    <p:cTn id="56" fill="hold">
                      <p:stCondLst>
                        <p:cond delay="indefinite"/>
                      </p:stCondLst>
                      <p:childTnLst>
                        <p:par>
                          <p:cTn id="46" fill="hold">
                            <p:stCondLst>
                              <p:cond delay="0"/>
                            </p:stCondLst>
                            <p:childTnLst>
                              <p:par>
                                <p:cTn id="43" presetID="10" presetClass="exit" presetSubtype="0" fill="hold" grpId="0" nodeType="clickEffect">
                                  <p:stCondLst>
                                    <p:cond delay="0"/>
                                  </p:stCondLst>
                                  <p:childTnLst>
                                    <p:animEffect transition="out" filter="fade">
                                      <p:cBhvr>
                                        <p:cTn id="44" dur="400"/>
                                        <p:tgtEl>
                                          <p:spTgt spid="35"/>
                                        </p:tgtEl>
                                      </p:cBhvr>
                                    </p:animEffect>
                                    <p:set>
                                      <p:cBhvr>
                                        <p:cTn id="45" dur="1" fill="hold">
                                          <p:stCondLst>
                                            <p:cond delay="399"/>
                                          </p:stCondLst>
                                        </p:cTn>
                                        <p:tgtEl>
                                          <p:spTgt spid="35"/>
                                        </p:tgtEl>
                                        <p:attrNameLst>
                                          <p:attrName>style.visibility</p:attrName>
                                        </p:attrNameLst>
                                      </p:cBhvr>
                                      <p:to>
                                        <p:strVal val="hidden"/>
                                      </p:to>
                                    </p:set>
                                  </p:childTnLst>
                                </p:cTn>
                              </p:par>
                            </p:childTnLst>
                          </p:cTn>
                        </p:par>
                        <p:par>
                          <p:cTn id="55" fill="hold">
                            <p:stCondLst>
                              <p:cond delay="400"/>
                            </p:stCondLst>
                            <p:childTnLst>
                              <p:par>
                                <p:cTn id="47" presetID="53" presetClass="entr" presetSubtype="16" fill="hold" grpId="0" nodeType="afterEffect">
                                  <p:stCondLst>
                                    <p:cond delay="0"/>
                                  </p:stCondLst>
                                  <p:childTnLst>
                                    <p:set>
                                      <p:cBhvr>
                                        <p:cTn id="48" dur="1" fill="hold">
                                          <p:stCondLst>
                                            <p:cond delay="0"/>
                                          </p:stCondLst>
                                        </p:cTn>
                                        <p:tgtEl>
                                          <p:spTgt spid="37"/>
                                        </p:tgtEl>
                                        <p:attrNameLst>
                                          <p:attrName>style.visibility</p:attrName>
                                        </p:attrNameLst>
                                      </p:cBhvr>
                                      <p:to>
                                        <p:strVal val="visible"/>
                                      </p:to>
                                    </p:set>
                                    <p:anim calcmode="lin" valueType="num">
                                      <p:cBhvr>
                                        <p:cTn id="49" dur="500" fill="hold"/>
                                        <p:tgtEl>
                                          <p:spTgt spid="37"/>
                                        </p:tgtEl>
                                        <p:attrNameLst>
                                          <p:attrName>ppt_w</p:attrName>
                                        </p:attrNameLst>
                                      </p:cBhvr>
                                      <p:tavLst>
                                        <p:tav tm="0">
                                          <p:val>
                                            <p:fltVal val="0"/>
                                          </p:val>
                                        </p:tav>
                                        <p:tav tm="100000">
                                          <p:val>
                                            <p:strVal val="#ppt_w"/>
                                          </p:val>
                                        </p:tav>
                                      </p:tavLst>
                                    </p:anim>
                                    <p:anim calcmode="lin" valueType="num">
                                      <p:cBhvr>
                                        <p:cTn id="50" dur="500" fill="hold"/>
                                        <p:tgtEl>
                                          <p:spTgt spid="37"/>
                                        </p:tgtEl>
                                        <p:attrNameLst>
                                          <p:attrName>ppt_h</p:attrName>
                                        </p:attrNameLst>
                                      </p:cBhvr>
                                      <p:tavLst>
                                        <p:tav tm="0">
                                          <p:val>
                                            <p:fltVal val="0"/>
                                          </p:val>
                                        </p:tav>
                                        <p:tav tm="100000">
                                          <p:val>
                                            <p:strVal val="#ppt_h"/>
                                          </p:val>
                                        </p:tav>
                                      </p:tavLst>
                                    </p:anim>
                                    <p:animEffect transition="in" filter="fade">
                                      <p:cBhvr>
                                        <p:cTn id="51" dur="500"/>
                                        <p:tgtEl>
                                          <p:spTgt spid="3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Effect transition="in" filter="fade">
                                      <p:cBhvr>
                                        <p:cTn id="5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animBg="1"/>
      <p:bldP spid="34" grpId="0" animBg="1"/>
      <p:bldP spid="35" grpId="0" animBg="1"/>
      <p:bldP spid="36" grpId="0" animBg="1"/>
      <p:bldP spid="38" grpId="0" animBg="1"/>
      <p:bldP spid="37" grpId="0" animBg="1"/>
      <p:bldP spid="39" grpId="0" animBg="1"/>
    </p:bldLst>
  </p:timing>
</p:sld>
</file>

<file path=ppt/slides/slide145.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Mitocondria"/>
          <p:cNvSpPr/>
          <p:nvPr/>
        </p:nvSpPr>
        <p:spPr>
          <a:xfrm>
            <a:off x="274320" y="960120"/>
            <a:ext cx="3840480" cy="5532120"/>
          </a:xfrm>
          <a:prstGeom prst="roundRect">
            <a:avLst>
              <a:gd name="adj" fmla="val 15000"/>
            </a:avLst>
          </a:prstGeom>
          <a:solidFill>
            <a:srgbClr val="F8C471">
              <a:alpha val="65000"/>
            </a:srgbClr>
          </a:solidFill>
          <a:ln w="31750" cap="rnd">
            <a:solidFill>
              <a:srgbClr val="B9770E"/>
            </a:solidFill>
            <a:round/>
          </a:ln>
        </p:spPr>
      </p:sp>
      <p:sp>
        <p:nvSpPr>
          <p:cNvPr id="5" name="Forma 4"/>
          <p:cNvSpPr txBox="1"/>
          <p:nvPr/>
        </p:nvSpPr>
        <p:spPr>
          <a:xfrm>
            <a:off x="365760" y="1005840"/>
            <a:ext cx="365760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MITOCONDRIA</a:t>
            </a:r>
            <a:endParaRPr lang="es-AR" sz="1300" dirty="0">
              <a:latin typeface="Bahnschrift SemiBold Condensed"/>
            </a:endParaRPr>
          </a:p>
        </p:txBody>
      </p:sp>
      <p:sp>
        <p:nvSpPr>
          <p:cNvPr id="6" name="Forma 5"/>
          <p:cNvSpPr txBox="1"/>
          <p:nvPr/>
        </p:nvSpPr>
        <p:spPr>
          <a:xfrm>
            <a:off x="4297680" y="1005840"/>
            <a:ext cx="402336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CITOSOL</a:t>
            </a:r>
            <a:endParaRPr lang="es-AR" sz="1300" dirty="0">
              <a:latin typeface="Bahnschrift SemiBold Condensed"/>
            </a:endParaRPr>
          </a:p>
        </p:txBody>
      </p:sp>
      <p:sp>
        <p:nvSpPr>
          <p:cNvPr id="7" name="NH4"/>
          <p:cNvSpPr/>
          <p:nvPr/>
        </p:nvSpPr>
        <p:spPr>
          <a:xfrm>
            <a:off x="457200" y="1463040"/>
            <a:ext cx="438912" cy="43891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28" b="1" dirty="0">
                <a:solidFill>
                  <a:srgbClr val="FFFFFF"/>
                </a:solidFill>
                <a:latin typeface="Bahnschrift SemiBold Condensed"/>
                <a:ea typeface="Bahnschrift SemiBold Condensed"/>
                <a:cs typeface="Bahnschrift SemiBold Condensed"/>
                <a:sym typeface="Bahnschrift SemiBold Condensed"/>
              </a:rPr>
              <a:t>NH</a:t>
            </a:r>
            <a:r>
              <a:rPr lang="es-AR" sz="1128" b="1" baseline="-25000" dirty="0">
                <a:solidFill>
                  <a:srgbClr val="FFFFFF"/>
                </a:solidFill>
                <a:latin typeface="Bahnschrift SemiBold Condensed"/>
                <a:ea typeface="Bahnschrift SemiBold Condensed"/>
                <a:cs typeface="Bahnschrift SemiBold Condensed"/>
                <a:sym typeface="Bahnschrift SemiBold Condensed"/>
              </a:rPr>
              <a:t>4</a:t>
            </a:r>
            <a:r>
              <a:rPr lang="es-AR" sz="1128"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28" dirty="0">
              <a:latin typeface="Bahnschrift SemiBold Condensed"/>
            </a:endParaRPr>
          </a:p>
        </p:txBody>
      </p:sp>
      <p:sp>
        <p:nvSpPr>
          <p:cNvPr id="8" name="HCO3"/>
          <p:cNvSpPr/>
          <p:nvPr/>
        </p:nvSpPr>
        <p:spPr>
          <a:xfrm>
            <a:off x="1005840" y="1508760"/>
            <a:ext cx="630976" cy="246062"/>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HCO</a:t>
            </a:r>
            <a:r>
              <a:rPr lang="es-AR" sz="1250" b="1" baseline="-25000" dirty="0">
                <a:solidFill>
                  <a:srgbClr val="1E1E1E"/>
                </a:solidFill>
                <a:latin typeface="Bahnschrift SemiBold Condensed"/>
                <a:ea typeface="Bahnschrift SemiBold Condensed"/>
                <a:cs typeface="Bahnschrift SemiBold Condensed"/>
                <a:sym typeface="Bahnschrift SemiBold Condensed"/>
              </a:rPr>
              <a:t>3</a:t>
            </a:r>
            <a:r>
              <a:rPr lang="es-AR" sz="1250" b="1" baseline="30000" dirty="0">
                <a:solidFill>
                  <a:srgbClr val="1E1E1E"/>
                </a:solidFill>
                <a:latin typeface="Bahnschrift SemiBold Condensed"/>
                <a:ea typeface="Bahnschrift SemiBold Condensed"/>
                <a:cs typeface="Bahnschrift SemiBold Condensed"/>
                <a:sym typeface="Bahnschrift SemiBold Condensed"/>
              </a:rPr>
              <a:t>−</a:t>
            </a:r>
            <a:endParaRPr lang="es-AR" sz="1250" dirty="0">
              <a:latin typeface="Bahnschrift SemiBold Condensed"/>
            </a:endParaRPr>
          </a:p>
        </p:txBody>
      </p:sp>
      <p:sp>
        <p:nvSpPr>
          <p:cNvPr id="9" name="2ATP"/>
          <p:cNvSpPr/>
          <p:nvPr/>
        </p:nvSpPr>
        <p:spPr>
          <a:xfrm>
            <a:off x="2103120" y="1481328"/>
            <a:ext cx="685800" cy="384048"/>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852" b="1" dirty="0">
                <a:solidFill>
                  <a:srgbClr val="1E1E1E"/>
                </a:solidFill>
                <a:latin typeface="Bahnschrift SemiBold Condensed"/>
                <a:ea typeface="Bahnschrift SemiBold Condensed"/>
                <a:cs typeface="Bahnschrift SemiBold Condensed"/>
                <a:sym typeface="Bahnschrift SemiBold Condensed"/>
              </a:rPr>
              <a:t>2 ATP</a:t>
            </a:r>
            <a:endParaRPr lang="es-AR" sz="852" dirty="0">
              <a:latin typeface="Bahnschrift SemiBold Condensed"/>
            </a:endParaRPr>
          </a:p>
        </p:txBody>
      </p:sp>
      <p:sp>
        <p:nvSpPr>
          <p:cNvPr id="10" name="CPS1"/>
          <p:cNvSpPr/>
          <p:nvPr/>
        </p:nvSpPr>
        <p:spPr>
          <a:xfrm>
            <a:off x="502920" y="2103120"/>
            <a:ext cx="616591"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CPS1</a:t>
            </a:r>
            <a:endParaRPr lang="es-AR" sz="1250" dirty="0">
              <a:latin typeface="Bahnschrift SemiBold Condensed"/>
            </a:endParaRPr>
          </a:p>
        </p:txBody>
      </p:sp>
      <p:sp>
        <p:nvSpPr>
          <p:cNvPr id="11" name="NAG"/>
          <p:cNvSpPr/>
          <p:nvPr/>
        </p:nvSpPr>
        <p:spPr>
          <a:xfrm>
            <a:off x="1417320" y="2057400"/>
            <a:ext cx="1463040" cy="384048"/>
          </a:xfrm>
          <a:prstGeom prst="roundRect">
            <a:avLst/>
          </a:prstGeom>
          <a:solidFill>
            <a:srgbClr val="CDE8C4"/>
          </a:solidFill>
          <a:ln w="19050" cap="rnd">
            <a:solidFill>
              <a:srgbClr val="1E8C3A"/>
            </a:solidFill>
            <a:round/>
          </a:ln>
        </p:spPr>
        <p:txBody>
          <a:bodyPr wrap="square" lIns="73152" tIns="45720" rIns="73152" bIns="4572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NAG (obligatorio)</a:t>
            </a:r>
            <a:endParaRPr lang="es-AR" sz="1150" dirty="0">
              <a:latin typeface="Bahnschrift SemiBold Condensed"/>
            </a:endParaRPr>
          </a:p>
        </p:txBody>
      </p:sp>
      <p:sp>
        <p:nvSpPr>
          <p:cNvPr id="12" name="Carbamoil-P"/>
          <p:cNvSpPr/>
          <p:nvPr/>
        </p:nvSpPr>
        <p:spPr>
          <a:xfrm>
            <a:off x="502920" y="2697480"/>
            <a:ext cx="155448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Carbamoil-P</a:t>
            </a:r>
            <a:endParaRPr lang="es-AR" sz="1300" dirty="0">
              <a:latin typeface="Bahnschrift SemiBold Condensed"/>
            </a:endParaRPr>
          </a:p>
        </p:txBody>
      </p:sp>
      <p:sp>
        <p:nvSpPr>
          <p:cNvPr id="13" name="Ornitina mito"/>
          <p:cNvSpPr/>
          <p:nvPr/>
        </p:nvSpPr>
        <p:spPr>
          <a:xfrm>
            <a:off x="2331720" y="3611880"/>
            <a:ext cx="137160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Ornitina</a:t>
            </a:r>
            <a:endParaRPr lang="es-AR" sz="1300" dirty="0">
              <a:latin typeface="Bahnschrift SemiBold Condensed"/>
            </a:endParaRPr>
          </a:p>
        </p:txBody>
      </p:sp>
      <p:sp>
        <p:nvSpPr>
          <p:cNvPr id="14" name="OTC"/>
          <p:cNvSpPr/>
          <p:nvPr/>
        </p:nvSpPr>
        <p:spPr>
          <a:xfrm>
            <a:off x="548640" y="3611880"/>
            <a:ext cx="570219"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250" b="1" dirty="0">
                <a:solidFill>
                  <a:srgbClr val="1F3864"/>
                </a:solidFill>
                <a:latin typeface="Bahnschrift SemiBold Condensed"/>
                <a:ea typeface="Bahnschrift SemiBold Condensed"/>
                <a:cs typeface="Bahnschrift SemiBold Condensed"/>
                <a:sym typeface="Bahnschrift SemiBold Condensed"/>
              </a:rPr>
              <a:t>OTC</a:t>
            </a:r>
            <a:endParaRPr lang="es-AR" sz="1250" dirty="0">
              <a:latin typeface="Bahnschrift SemiBold Condensed"/>
            </a:endParaRPr>
          </a:p>
        </p:txBody>
      </p:sp>
      <p:sp>
        <p:nvSpPr>
          <p:cNvPr id="15" name="Citrulina mito"/>
          <p:cNvSpPr/>
          <p:nvPr/>
        </p:nvSpPr>
        <p:spPr>
          <a:xfrm>
            <a:off x="502920" y="4297680"/>
            <a:ext cx="155448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Citrulina</a:t>
            </a:r>
            <a:endParaRPr lang="es-AR" sz="1300" dirty="0">
              <a:latin typeface="Bahnschrift SemiBold Condensed"/>
            </a:endParaRPr>
          </a:p>
        </p:txBody>
      </p:sp>
      <p:sp>
        <p:nvSpPr>
          <p:cNvPr id="16" name="Flecha 15_2"/>
          <p:cNvSpPr/>
          <p:nvPr/>
        </p:nvSpPr>
        <p:spPr>
          <a:xfrm>
            <a:off x="914400" y="1920240"/>
            <a:ext cx="9144" cy="758952"/>
          </a:xfrm>
          <a:custGeom>
            <a:avLst/>
            <a:gdLst/>
            <a:ahLst/>
            <a:cxnLst/>
            <a:rect l="0" t="0" r="r" b="b"/>
            <a:pathLst>
              <a:path w="10" h="830" fill="none">
                <a:moveTo>
                  <a:pt x="0" y="0"/>
                </a:moveTo>
                <a:lnTo>
                  <a:pt x="0" y="830"/>
                </a:lnTo>
              </a:path>
            </a:pathLst>
          </a:custGeom>
          <a:noFill/>
          <a:ln w="38100" cap="rnd">
            <a:solidFill>
              <a:srgbClr val="1E8C3A"/>
            </a:solidFill>
            <a:round/>
            <a:tailEnd type="triangle" w="med" len="med"/>
          </a:ln>
        </p:spPr>
      </p:sp>
      <p:sp>
        <p:nvSpPr>
          <p:cNvPr id="17" name="Flecha 17_2"/>
          <p:cNvSpPr/>
          <p:nvPr/>
        </p:nvSpPr>
        <p:spPr>
          <a:xfrm>
            <a:off x="1280160" y="3081528"/>
            <a:ext cx="9144" cy="1197864"/>
          </a:xfrm>
          <a:custGeom>
            <a:avLst/>
            <a:gdLst/>
            <a:ahLst/>
            <a:cxnLst/>
            <a:rect l="0" t="0" r="r" b="b"/>
            <a:pathLst>
              <a:path w="10" h="1309" fill="none">
                <a:moveTo>
                  <a:pt x="0" y="0"/>
                </a:moveTo>
                <a:lnTo>
                  <a:pt x="0" y="1309"/>
                </a:lnTo>
              </a:path>
            </a:pathLst>
          </a:custGeom>
          <a:noFill/>
          <a:ln w="38100" cap="rnd">
            <a:solidFill>
              <a:srgbClr val="1E8C3A"/>
            </a:solidFill>
            <a:round/>
            <a:tailEnd type="triangle" w="med" len="med"/>
          </a:ln>
        </p:spPr>
      </p:sp>
      <p:sp>
        <p:nvSpPr>
          <p:cNvPr id="18" name="Flecha 19_2"/>
          <p:cNvSpPr/>
          <p:nvPr/>
        </p:nvSpPr>
        <p:spPr>
          <a:xfrm>
            <a:off x="2075688" y="3794760"/>
            <a:ext cx="256032" cy="640080"/>
          </a:xfrm>
          <a:custGeom>
            <a:avLst/>
            <a:gdLst/>
            <a:ahLst/>
            <a:cxnLst/>
            <a:rect l="0" t="0" r="r" b="b"/>
            <a:pathLst>
              <a:path w="279" h="699" fill="none">
                <a:moveTo>
                  <a:pt x="279" y="0"/>
                </a:moveTo>
                <a:lnTo>
                  <a:pt x="0" y="699"/>
                </a:lnTo>
              </a:path>
            </a:pathLst>
          </a:custGeom>
          <a:noFill/>
          <a:ln w="31750" cap="rnd">
            <a:solidFill>
              <a:srgbClr val="1E8C3A"/>
            </a:solidFill>
            <a:round/>
            <a:tailEnd type="triangle" w="med" len="med"/>
          </a:ln>
        </p:spPr>
      </p:sp>
      <p:sp>
        <p:nvSpPr>
          <p:cNvPr id="19" name="Citrulina cito"/>
          <p:cNvSpPr/>
          <p:nvPr/>
        </p:nvSpPr>
        <p:spPr>
          <a:xfrm>
            <a:off x="4480560" y="1828800"/>
            <a:ext cx="155448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Citrulina</a:t>
            </a:r>
            <a:endParaRPr lang="es-AR" sz="1300" dirty="0">
              <a:latin typeface="Bahnschrift SemiBold Condensed"/>
            </a:endParaRPr>
          </a:p>
        </p:txBody>
      </p:sp>
      <p:sp>
        <p:nvSpPr>
          <p:cNvPr id="20" name="Argininosuccinato"/>
          <p:cNvSpPr/>
          <p:nvPr/>
        </p:nvSpPr>
        <p:spPr>
          <a:xfrm>
            <a:off x="6766560" y="1828800"/>
            <a:ext cx="182880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Argininosuccinato</a:t>
            </a:r>
            <a:endParaRPr lang="es-AR" sz="1300" dirty="0">
              <a:latin typeface="Bahnschrift SemiBold Condensed"/>
            </a:endParaRPr>
          </a:p>
        </p:txBody>
      </p:sp>
      <p:sp>
        <p:nvSpPr>
          <p:cNvPr id="21" name="Arginina"/>
          <p:cNvSpPr/>
          <p:nvPr/>
        </p:nvSpPr>
        <p:spPr>
          <a:xfrm>
            <a:off x="6766560" y="4297680"/>
            <a:ext cx="182880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Arginina</a:t>
            </a:r>
            <a:endParaRPr lang="es-AR" sz="1300" dirty="0">
              <a:latin typeface="Bahnschrift SemiBold Condensed"/>
            </a:endParaRPr>
          </a:p>
        </p:txBody>
      </p:sp>
      <p:sp>
        <p:nvSpPr>
          <p:cNvPr id="22" name="Ornitina cito"/>
          <p:cNvSpPr/>
          <p:nvPr/>
        </p:nvSpPr>
        <p:spPr>
          <a:xfrm>
            <a:off x="4480560" y="4297680"/>
            <a:ext cx="1554480" cy="255905"/>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Ornitina</a:t>
            </a:r>
            <a:endParaRPr lang="es-AR" sz="1300" dirty="0">
              <a:latin typeface="Bahnschrift SemiBold Condensed"/>
            </a:endParaRPr>
          </a:p>
        </p:txBody>
      </p:sp>
      <p:sp>
        <p:nvSpPr>
          <p:cNvPr id="23" name="Salida citrulina"/>
          <p:cNvSpPr/>
          <p:nvPr/>
        </p:nvSpPr>
        <p:spPr>
          <a:xfrm>
            <a:off x="2075688" y="2011680"/>
            <a:ext cx="2386584" cy="2331720"/>
          </a:xfrm>
          <a:custGeom>
            <a:avLst/>
            <a:gdLst/>
            <a:ahLst/>
            <a:cxnLst/>
            <a:rect l="0" t="0" r="r" b="b"/>
            <a:pathLst>
              <a:path w="2610" h="2550" fill="none">
                <a:moveTo>
                  <a:pt x="0" y="2550"/>
                </a:moveTo>
                <a:lnTo>
                  <a:pt x="2610" y="0"/>
                </a:lnTo>
              </a:path>
            </a:pathLst>
          </a:custGeom>
          <a:noFill/>
          <a:ln w="31750" cap="rnd">
            <a:solidFill>
              <a:srgbClr val="2563B0"/>
            </a:solidFill>
            <a:round/>
            <a:tailEnd type="triangle" w="med" len="med"/>
          </a:ln>
        </p:spPr>
      </p:sp>
      <p:grpSp>
        <p:nvGrpSpPr>
          <p:cNvPr id="24" name="Paso ASS1"/>
          <p:cNvGrpSpPr/>
          <p:nvPr/>
        </p:nvGrpSpPr>
        <p:grpSpPr>
          <a:xfrm>
            <a:off x="5760720" y="1234440"/>
            <a:ext cx="2468880" cy="1389888"/>
            <a:chOff x="5760720" y="1234440"/>
            <a:chExt cx="2468880" cy="1389888"/>
          </a:xfrm>
        </p:grpSpPr>
        <p:sp>
          <p:nvSpPr>
            <p:cNvPr id="25" name="Flecha 27_2"/>
            <p:cNvSpPr/>
            <p:nvPr/>
          </p:nvSpPr>
          <p:spPr>
            <a:xfrm>
              <a:off x="6053328" y="2011680"/>
              <a:ext cx="694944" cy="9144"/>
            </a:xfrm>
            <a:custGeom>
              <a:avLst/>
              <a:gdLst/>
              <a:ahLst/>
              <a:cxnLst/>
              <a:rect l="0" t="0" r="r" b="b"/>
              <a:pathLst>
                <a:path w="759" h="10" fill="none">
                  <a:moveTo>
                    <a:pt x="0" y="0"/>
                  </a:moveTo>
                  <a:lnTo>
                    <a:pt x="759" y="0"/>
                  </a:lnTo>
                </a:path>
              </a:pathLst>
            </a:custGeom>
            <a:noFill/>
            <a:ln w="38100" cap="rnd">
              <a:solidFill>
                <a:srgbClr val="1E8C3A"/>
              </a:solidFill>
              <a:round/>
              <a:tailEnd type="triangle" w="med" len="med"/>
            </a:ln>
          </p:spPr>
        </p:sp>
        <p:sp>
          <p:nvSpPr>
            <p:cNvPr id="26" name="Enzima ASS1"/>
            <p:cNvSpPr/>
            <p:nvPr/>
          </p:nvSpPr>
          <p:spPr>
            <a:xfrm>
              <a:off x="5760720" y="2331720"/>
              <a:ext cx="592343"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ASS1</a:t>
              </a:r>
              <a:endParaRPr lang="es-AR" sz="1150" dirty="0">
                <a:latin typeface="Bahnschrift SemiBold Condensed"/>
              </a:endParaRPr>
            </a:p>
          </p:txBody>
        </p:sp>
        <p:sp>
          <p:nvSpPr>
            <p:cNvPr id="27" name="Aspartato"/>
            <p:cNvSpPr/>
            <p:nvPr/>
          </p:nvSpPr>
          <p:spPr>
            <a:xfrm>
              <a:off x="6080760" y="1234440"/>
              <a:ext cx="384048" cy="384048"/>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Asp</a:t>
              </a:r>
              <a:endParaRPr lang="es-AR" sz="1092" dirty="0">
                <a:latin typeface="Bahnschrift SemiBold Condensed"/>
              </a:endParaRPr>
            </a:p>
          </p:txBody>
        </p:sp>
        <p:sp>
          <p:nvSpPr>
            <p:cNvPr id="28" name="Forma 31"/>
            <p:cNvSpPr txBox="1"/>
            <p:nvPr/>
          </p:nvSpPr>
          <p:spPr>
            <a:xfrm>
              <a:off x="6492240" y="1234440"/>
              <a:ext cx="1737360" cy="365760"/>
            </a:xfrm>
            <a:prstGeom prst="rect">
              <a:avLst/>
            </a:prstGeom>
            <a:noFill/>
            <a:ln>
              <a:noFill/>
            </a:ln>
          </p:spPr>
          <p:txBody>
            <a:bodyPr wrap="square" lIns="0" tIns="0" rIns="0" bIns="0" anchor="ctr" rtlCol="0">
              <a:noAutofit/>
            </a:bodyPr>
            <a:lstStyle/>
            <a:p>
              <a:pPr algn="l" marL="138747" indent="-138747">
                <a:spcAft>
                  <a:spcPts val="300"/>
                </a:spcAft>
                <a:buClr>
                  <a:srgbClr val="1E8C3A"/>
                </a:buClr>
                <a:buFont typeface="Segoe UI Symbol"/>
                <a:buChar char="✓"/>
              </a:pPr>
              <a:r>
                <a:rPr lang="es-AR" sz="1150" b="1" dirty="0">
                  <a:solidFill>
                    <a:srgbClr val="7E5109"/>
                  </a:solidFill>
                  <a:latin typeface="Bahnschrift SemiBold Condensed"/>
                  <a:ea typeface="Bahnschrift SemiBold Condensed"/>
                  <a:cs typeface="Bahnschrift SemiBold Condensed"/>
                  <a:sym typeface="Bahnschrift SemiBold Condensed"/>
                </a:rPr>
                <a:t>ATP → AMP + PP</a:t>
              </a:r>
              <a:r>
                <a:rPr lang="es-AR" sz="1150" b="1" baseline="-25000" dirty="0">
                  <a:solidFill>
                    <a:srgbClr val="7E5109"/>
                  </a:solidFill>
                  <a:latin typeface="Bahnschrift SemiBold Condensed"/>
                  <a:ea typeface="Bahnschrift SemiBold Condensed"/>
                  <a:cs typeface="Bahnschrift SemiBold Condensed"/>
                  <a:sym typeface="Bahnschrift SemiBold Condensed"/>
                </a:rPr>
                <a:t>i</a:t>
              </a:r>
              <a:endParaRPr lang="es-AR" sz="1150" dirty="0">
                <a:latin typeface="Bahnschrift SemiBold Condensed"/>
              </a:endParaRPr>
            </a:p>
          </p:txBody>
        </p:sp>
      </p:grpSp>
      <p:grpSp>
        <p:nvGrpSpPr>
          <p:cNvPr id="29" name="Paso ASL"/>
          <p:cNvGrpSpPr/>
          <p:nvPr/>
        </p:nvGrpSpPr>
        <p:grpSpPr>
          <a:xfrm>
            <a:off x="7680960" y="2221992"/>
            <a:ext cx="680902" cy="2057400"/>
            <a:chOff x="7680960" y="2221992"/>
            <a:chExt cx="680902" cy="2057400"/>
          </a:xfrm>
        </p:grpSpPr>
        <p:sp>
          <p:nvSpPr>
            <p:cNvPr id="30" name="Flecha 33_2"/>
            <p:cNvSpPr/>
            <p:nvPr/>
          </p:nvSpPr>
          <p:spPr>
            <a:xfrm>
              <a:off x="7680960" y="2221992"/>
              <a:ext cx="9144" cy="2057400"/>
            </a:xfrm>
            <a:custGeom>
              <a:avLst/>
              <a:gdLst/>
              <a:ahLst/>
              <a:cxnLst/>
              <a:rect l="0" t="0" r="r" b="b"/>
              <a:pathLst>
                <a:path w="10" h="2249" fill="none">
                  <a:moveTo>
                    <a:pt x="0" y="0"/>
                  </a:moveTo>
                  <a:lnTo>
                    <a:pt x="0" y="2249"/>
                  </a:lnTo>
                </a:path>
              </a:pathLst>
            </a:custGeom>
            <a:noFill/>
            <a:ln w="38100" cap="rnd">
              <a:solidFill>
                <a:srgbClr val="1E8C3A"/>
              </a:solidFill>
              <a:round/>
              <a:tailEnd type="triangle" w="med" len="med"/>
            </a:ln>
          </p:spPr>
        </p:sp>
        <p:sp>
          <p:nvSpPr>
            <p:cNvPr id="31" name="Enzima ASL"/>
            <p:cNvSpPr/>
            <p:nvPr/>
          </p:nvSpPr>
          <p:spPr>
            <a:xfrm>
              <a:off x="7818120" y="2926080"/>
              <a:ext cx="543742"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ASL</a:t>
              </a:r>
              <a:endParaRPr lang="es-AR" sz="1150" dirty="0">
                <a:latin typeface="Bahnschrift SemiBold Condensed"/>
              </a:endParaRPr>
            </a:p>
          </p:txBody>
        </p:sp>
      </p:grpSp>
      <p:sp>
        <p:nvSpPr>
          <p:cNvPr id="32" name="Fumarato"/>
          <p:cNvSpPr/>
          <p:nvPr/>
        </p:nvSpPr>
        <p:spPr>
          <a:xfrm>
            <a:off x="7818120" y="3337560"/>
            <a:ext cx="1302060" cy="236220"/>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Fumarato → Krebs</a:t>
            </a:r>
            <a:endParaRPr lang="es-AR" sz="1200" dirty="0">
              <a:latin typeface="Bahnschrift SemiBold Condensed"/>
            </a:endParaRPr>
          </a:p>
        </p:txBody>
      </p:sp>
      <p:grpSp>
        <p:nvGrpSpPr>
          <p:cNvPr id="33" name="Paso ARG1"/>
          <p:cNvGrpSpPr/>
          <p:nvPr/>
        </p:nvGrpSpPr>
        <p:grpSpPr>
          <a:xfrm>
            <a:off x="5760720" y="4480560"/>
            <a:ext cx="987552" cy="612648"/>
            <a:chOff x="5760720" y="4480560"/>
            <a:chExt cx="987552" cy="612648"/>
          </a:xfrm>
        </p:grpSpPr>
        <p:sp>
          <p:nvSpPr>
            <p:cNvPr id="34" name="Flecha 38_2"/>
            <p:cNvSpPr/>
            <p:nvPr/>
          </p:nvSpPr>
          <p:spPr>
            <a:xfrm>
              <a:off x="6053328" y="4480560"/>
              <a:ext cx="694944" cy="9144"/>
            </a:xfrm>
            <a:custGeom>
              <a:avLst/>
              <a:gdLst/>
              <a:ahLst/>
              <a:cxnLst/>
              <a:rect l="0" t="0" r="r" b="b"/>
              <a:pathLst>
                <a:path w="759" h="10" fill="none">
                  <a:moveTo>
                    <a:pt x="759" y="0"/>
                  </a:moveTo>
                  <a:lnTo>
                    <a:pt x="0" y="0"/>
                  </a:lnTo>
                </a:path>
              </a:pathLst>
            </a:custGeom>
            <a:noFill/>
            <a:ln w="38100" cap="rnd">
              <a:solidFill>
                <a:srgbClr val="1E8C3A"/>
              </a:solidFill>
              <a:round/>
              <a:tailEnd type="triangle" w="med" len="med"/>
            </a:ln>
          </p:spPr>
        </p:sp>
        <p:sp>
          <p:nvSpPr>
            <p:cNvPr id="35" name="Enzima Arginasa 1"/>
            <p:cNvSpPr/>
            <p:nvPr/>
          </p:nvSpPr>
          <p:spPr>
            <a:xfrm>
              <a:off x="5760720" y="4800600"/>
              <a:ext cx="921940" cy="292608"/>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Arginasa 1</a:t>
              </a:r>
              <a:endParaRPr lang="es-AR" sz="1150" dirty="0">
                <a:latin typeface="Bahnschrift SemiBold Condensed"/>
              </a:endParaRPr>
            </a:p>
          </p:txBody>
        </p:sp>
      </p:grpSp>
      <p:sp>
        <p:nvSpPr>
          <p:cNvPr id="36" name="Urea producto"/>
          <p:cNvSpPr/>
          <p:nvPr/>
        </p:nvSpPr>
        <p:spPr>
          <a:xfrm>
            <a:off x="6035040" y="5257800"/>
            <a:ext cx="548640" cy="548640"/>
          </a:xfrm>
          <a:prstGeom prst="ellipse">
            <a:avLst/>
          </a:prstGeom>
          <a:gradFill rotWithShape="1">
            <a:gsLst>
              <a:gs pos="0">
                <a:srgbClr val="ABB4B4"/>
              </a:gs>
              <a:gs pos="55000">
                <a:srgbClr val="7F8C8D"/>
              </a:gs>
              <a:gs pos="100000">
                <a:srgbClr val="657070"/>
              </a:gs>
            </a:gsLst>
            <a:path path="circle">
              <a:fillToRect l="32000" t="28000" r="68000" b="72000"/>
            </a:path>
          </a:gradFill>
          <a:ln w="12700" cap="rnd">
            <a:solidFill>
              <a:srgbClr val="454D4D"/>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Urea</a:t>
            </a:r>
            <a:endParaRPr lang="es-AR" sz="1300" dirty="0">
              <a:latin typeface="Bahnschrift SemiBold Condensed"/>
            </a:endParaRPr>
          </a:p>
        </p:txBody>
      </p:sp>
      <p:sp>
        <p:nvSpPr>
          <p:cNvPr id="37" name="Ornitina regresa"/>
          <p:cNvSpPr/>
          <p:nvPr/>
        </p:nvSpPr>
        <p:spPr>
          <a:xfrm>
            <a:off x="3703320" y="3840480"/>
            <a:ext cx="758952" cy="685800"/>
          </a:xfrm>
          <a:custGeom>
            <a:avLst/>
            <a:gdLst/>
            <a:ahLst/>
            <a:cxnLst/>
            <a:rect l="0" t="0" r="r" b="b"/>
            <a:pathLst>
              <a:path w="830" h="750" fill="none">
                <a:moveTo>
                  <a:pt x="830" y="750"/>
                </a:moveTo>
                <a:lnTo>
                  <a:pt x="0" y="0"/>
                </a:lnTo>
              </a:path>
            </a:pathLst>
          </a:custGeom>
          <a:noFill/>
          <a:ln w="31750" cap="rnd">
            <a:solidFill>
              <a:srgbClr val="2563B0"/>
            </a:solidFill>
            <a:round/>
            <a:tailEnd type="triangle" w="med" len="med"/>
          </a:ln>
        </p:spPr>
      </p:sp>
      <p:grpSp>
        <p:nvGrpSpPr>
          <p:cNvPr id="38" name="Recuadro Balance"/>
          <p:cNvGrpSpPr/>
          <p:nvPr/>
        </p:nvGrpSpPr>
        <p:grpSpPr>
          <a:xfrm>
            <a:off x="8503920" y="1005840"/>
            <a:ext cx="3291840" cy="5486400"/>
            <a:chOff x="8503920" y="1005840"/>
            <a:chExt cx="3291840" cy="5486400"/>
          </a:xfrm>
        </p:grpSpPr>
        <p:sp>
          <p:nvSpPr>
            <p:cNvPr id="39" name="Forma 44"/>
            <p:cNvSpPr/>
            <p:nvPr/>
          </p:nvSpPr>
          <p:spPr>
            <a:xfrm>
              <a:off x="8503920" y="1188720"/>
              <a:ext cx="3291840" cy="53035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Costo</a:t>
              </a:r>
              <a:r>
                <a:rPr lang="es-AR" sz="1650" dirty="0">
                  <a:solidFill>
                    <a:srgbClr val="1E1E1E"/>
                  </a:solidFill>
                  <a:latin typeface="Bahnschrift"/>
                  <a:ea typeface="Bahnschrift"/>
                  <a:cs typeface="Bahnschrift"/>
                  <a:sym typeface="Bahnschrift"/>
                </a:rPr>
                <a:t>: 3 ATP, pero </a:t>
              </a:r>
              <a:r>
                <a:rPr lang="es-AR" sz="1650" b="1" dirty="0">
                  <a:solidFill>
                    <a:srgbClr val="1E1E1E"/>
                  </a:solidFill>
                  <a:latin typeface="Bahnschrift"/>
                  <a:ea typeface="Bahnschrift"/>
                  <a:cs typeface="Bahnschrift"/>
                  <a:sym typeface="Bahnschrift"/>
                </a:rPr>
                <a:t>4 enlaces</a:t>
              </a:r>
              <a:r>
                <a:rPr lang="es-AR" sz="1650" dirty="0">
                  <a:solidFill>
                    <a:srgbClr val="1E1E1E"/>
                  </a:solidFill>
                  <a:latin typeface="Bahnschrift"/>
                  <a:ea typeface="Bahnschrift"/>
                  <a:cs typeface="Bahnschrift"/>
                  <a:sym typeface="Bahnschrift"/>
                </a:rPr>
                <a:t> de alta energía por urea.</a:t>
              </a:r>
              <a:endParaRPr lang="es-AR" sz="1650" dirty="0">
                <a:latin typeface="Bahnschrift"/>
              </a:endParaRPr>
            </a:p>
            <a:p>
              <a:pPr algn="l">
                <a:spcAft>
                  <a:spcPts val="400"/>
                </a:spcAft>
                <a:buNone/>
              </a:pPr>
              <a:endParaRPr lang="es-AR" sz="1650" dirty="0">
                <a:latin typeface="Bahnschrift"/>
              </a:endParaRPr>
            </a:p>
            <a:p>
              <a:pPr algn="l">
                <a:spcAft>
                  <a:spcPts val="400"/>
                </a:spcAft>
                <a:buNone/>
              </a:pPr>
              <a:r>
                <a:rPr lang="es-AR" sz="1650" b="1" dirty="0">
                  <a:solidFill>
                    <a:srgbClr val="1E1E1E"/>
                  </a:solidFill>
                  <a:latin typeface="Bahnschrift"/>
                  <a:ea typeface="Bahnschrift"/>
                  <a:cs typeface="Bahnschrift"/>
                  <a:sym typeface="Bahnschrift"/>
                </a:rPr>
                <a:t>Nitrógenos</a:t>
              </a:r>
              <a:r>
                <a:rPr lang="es-AR" sz="1650" dirty="0">
                  <a:solidFill>
                    <a:srgbClr val="1E1E1E"/>
                  </a:solidFill>
                  <a:latin typeface="Bahnschrift"/>
                  <a:ea typeface="Bahnschrift"/>
                  <a:cs typeface="Bahnschrift"/>
                  <a:sym typeface="Bahnschrift"/>
                </a:rPr>
                <a:t>: NH</a:t>
              </a:r>
              <a:r>
                <a:rPr lang="es-AR" sz="1650" baseline="-25000" dirty="0">
                  <a:solidFill>
                    <a:srgbClr val="1E1E1E"/>
                  </a:solidFill>
                  <a:latin typeface="Bahnschrift"/>
                  <a:ea typeface="Bahnschrift"/>
                  <a:cs typeface="Bahnschrift"/>
                  <a:sym typeface="Bahnschrift"/>
                </a:rPr>
                <a:t>4</a:t>
              </a:r>
              <a:r>
                <a:rPr lang="es-AR" sz="1650"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libre y </a:t>
              </a:r>
              <a:r>
                <a:rPr lang="es-AR" sz="1650" b="1" dirty="0">
                  <a:solidFill>
                    <a:srgbClr val="1E1E1E"/>
                  </a:solidFill>
                  <a:latin typeface="Bahnschrift"/>
                  <a:ea typeface="Bahnschrift"/>
                  <a:cs typeface="Bahnschrift"/>
                  <a:sym typeface="Bahnschrift"/>
                </a:rPr>
                <a:t>aspartato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a:spcAft>
                  <a:spcPts val="400"/>
                </a:spcAft>
                <a:buNone/>
              </a:pPr>
              <a:endParaRPr lang="es-AR" sz="1650" dirty="0">
                <a:latin typeface="Bahnschrift"/>
              </a:endParaRPr>
            </a:p>
            <a:p>
              <a:pPr algn="l">
                <a:spcAft>
                  <a:spcPts val="400"/>
                </a:spcAft>
                <a:buNone/>
              </a:pPr>
              <a:r>
                <a:rPr lang="es-AR" sz="1650" b="1" dirty="0">
                  <a:solidFill>
                    <a:srgbClr val="1E1E1E"/>
                  </a:solidFill>
                  <a:latin typeface="Bahnschrift"/>
                  <a:ea typeface="Bahnschrift"/>
                  <a:cs typeface="Bahnschrift"/>
                  <a:sym typeface="Bahnschrift"/>
                </a:rPr>
                <a:t>Carbono</a:t>
              </a:r>
              <a:r>
                <a:rPr lang="es-AR" sz="1650" dirty="0">
                  <a:solidFill>
                    <a:srgbClr val="1E1E1E"/>
                  </a:solidFill>
                  <a:latin typeface="Bahnschrift"/>
                  <a:ea typeface="Bahnschrift"/>
                  <a:cs typeface="Bahnschrift"/>
                  <a:sym typeface="Bahnschrift"/>
                </a:rPr>
                <a:t>: bicarbonato/CO</a:t>
              </a:r>
              <a:r>
                <a:rPr lang="es-AR" sz="1650" baseline="-25000" dirty="0">
                  <a:solidFill>
                    <a:srgbClr val="1E1E1E"/>
                  </a:solidFill>
                  <a:latin typeface="Bahnschrift"/>
                  <a:ea typeface="Bahnschrift"/>
                  <a:cs typeface="Bahnschrift"/>
                  <a:sym typeface="Bahnschrift"/>
                </a:rPr>
                <a:t>2</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a:spcAft>
                  <a:spcPts val="400"/>
                </a:spcAft>
                <a:buNone/>
              </a:pPr>
              <a:endParaRPr lang="es-AR" sz="1650" dirty="0">
                <a:latin typeface="Bahnschrift"/>
              </a:endParaRPr>
            </a:p>
            <a:p>
              <a:pPr algn="l">
                <a:spcAft>
                  <a:spcPts val="400"/>
                </a:spcAft>
                <a:buNone/>
              </a:pPr>
              <a:r>
                <a:rPr lang="es-AR" sz="1650" b="1" dirty="0">
                  <a:solidFill>
                    <a:srgbClr val="1E1E1E"/>
                  </a:solidFill>
                  <a:latin typeface="Bahnschrift"/>
                  <a:ea typeface="Bahnschrift"/>
                  <a:cs typeface="Bahnschrift"/>
                  <a:sym typeface="Bahnschrift"/>
                </a:rPr>
                <a:t>CPS1</a:t>
              </a:r>
              <a:r>
                <a:rPr lang="es-AR" sz="1650" dirty="0">
                  <a:solidFill>
                    <a:srgbClr val="1E1E1E"/>
                  </a:solidFill>
                  <a:latin typeface="Bahnschrift"/>
                  <a:ea typeface="Bahnschrift"/>
                  <a:cs typeface="Bahnschrift"/>
                  <a:sym typeface="Bahnschrift"/>
                </a:rPr>
                <a:t> exige </a:t>
              </a:r>
              <a:r>
                <a:rPr lang="es-AR" sz="1650" b="1" dirty="0">
                  <a:solidFill>
                    <a:srgbClr val="1E1E1E"/>
                  </a:solidFill>
                  <a:latin typeface="Bahnschrift"/>
                  <a:ea typeface="Bahnschrift"/>
                  <a:cs typeface="Bahnschrift"/>
                  <a:sym typeface="Bahnschrift"/>
                </a:rPr>
                <a:t>N-acetilglutamato</a:t>
              </a:r>
              <a:r>
                <a:rPr lang="es-AR" sz="1650" dirty="0">
                  <a:solidFill>
                    <a:srgbClr val="1E1E1E"/>
                  </a:solidFill>
                  <a:latin typeface="Bahnschrift"/>
                  <a:ea typeface="Bahnschrift"/>
                  <a:cs typeface="Bahnschrift"/>
                  <a:sym typeface="Bahnschrift"/>
                </a:rPr>
                <a:t> (NAG).</a:t>
              </a:r>
              <a:endParaRPr lang="es-AR" sz="1650" dirty="0">
                <a:latin typeface="Bahnschrift"/>
              </a:endParaRPr>
            </a:p>
          </p:txBody>
        </p:sp>
        <p:sp>
          <p:nvSpPr>
            <p:cNvPr id="40" name="Forma 45"/>
            <p:cNvSpPr/>
            <p:nvPr/>
          </p:nvSpPr>
          <p:spPr>
            <a:xfrm>
              <a:off x="8613648" y="1005840"/>
              <a:ext cx="101245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BALANCE</a:t>
              </a:r>
              <a:endParaRPr lang="es-AR" sz="1500" dirty="0">
                <a:latin typeface="Bahnschrift SemiBold Condensed"/>
              </a:endParaRPr>
            </a:p>
          </p:txBody>
        </p:sp>
      </p:grpSp>
      <p:sp>
        <p:nvSpPr>
          <p:cNvPr id="2" name="Etiqueta sección"/>
          <p:cNvSpPr/>
          <p:nvPr/>
        </p:nvSpPr>
        <p:spPr>
          <a:xfrm>
            <a:off x="10566391" y="201168"/>
            <a:ext cx="135098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CICLO ANIMADO</a:t>
            </a:r>
            <a:endParaRPr lang="es-AR" sz="1300" dirty="0">
              <a:latin typeface="Bahnschrift SemiBold Condensed"/>
            </a:endParaRPr>
          </a:p>
        </p:txBody>
      </p:sp>
      <p:sp>
        <p:nvSpPr>
          <p:cNvPr id="3" name="Título"/>
          <p:cNvSpPr/>
          <p:nvPr/>
        </p:nvSpPr>
        <p:spPr>
          <a:xfrm>
            <a:off x="274320" y="146304"/>
            <a:ext cx="494481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25 · CICLO DE LA UREA PASO A PASO</a:t>
            </a:r>
            <a:endParaRPr lang="es-AR" sz="2600" dirty="0">
              <a:latin typeface="Bahnschrift SemiBold Condensed"/>
            </a:endParaRPr>
          </a:p>
        </p:txBody>
      </p:sp>
      <p:sp>
        <p:nvSpPr>
          <p:cNvPr id="4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7"/>
                                        </p:tgtEl>
                                        <p:attrNameLst>
                                          <p:attrName>style.visibility</p:attrName>
                                        </p:attrNameLst>
                                      </p:cBhvr>
                                      <p:to>
                                        <p:strVal val="visible"/>
                                      </p:to>
                                    </p:set>
                                    <p:animEffect transition="in" filter="fade">
                                      <p:cBhvr>
                                        <p:cTn id="5" dur="500"/>
                                        <p:tgtEl>
                                          <p:spTgt spid="7"/>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8"/>
                                        </p:tgtEl>
                                        <p:attrNameLst>
                                          <p:attrName>style.visibility</p:attrName>
                                        </p:attrNameLst>
                                      </p:cBhvr>
                                      <p:to>
                                        <p:strVal val="visible"/>
                                      </p:to>
                                    </p:set>
                                    <p:animEffect transition="in" filter="fade">
                                      <p:cBhvr>
                                        <p:cTn id="8" dur="500"/>
                                        <p:tgtEl>
                                          <p:spTgt spid="8"/>
                                        </p:tgtEl>
                                      </p:cBhvr>
                                    </p:animEffect>
                                  </p:childTnLst>
                                </p:cTn>
                              </p:par>
                            </p:childTnLst>
                          </p:cTn>
                        </p:par>
                        <p:par>
                          <p:cTn id="21"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par>
                          <p:cTn id="25"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par>
                          <p:cTn id="29"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48" fill="hold">
                      <p:stCondLst>
                        <p:cond delay="indefinite"/>
                      </p:stCondLst>
                      <p:childTnLst>
                        <p:par>
                          <p:cTn id="43"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par>
                                <p:cTn id="37" presetID="22" presetClass="entr" presetSubtype="1"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up)">
                                      <p:cBhvr>
                                        <p:cTn id="39" dur="600"/>
                                        <p:tgtEl>
                                          <p:spTgt spid="17"/>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wipe(left)">
                                      <p:cBhvr>
                                        <p:cTn id="42" dur="600"/>
                                        <p:tgtEl>
                                          <p:spTgt spid="18"/>
                                        </p:tgtEl>
                                      </p:cBhvr>
                                    </p:animEffect>
                                  </p:childTnLst>
                                </p:cTn>
                              </p:par>
                            </p:childTnLst>
                          </p:cTn>
                        </p:par>
                        <p:par>
                          <p:cTn id="47" fill="hold">
                            <p:stCondLst>
                              <p:cond delay="600"/>
                            </p:stCondLst>
                            <p:childTnLst>
                              <p:par>
                                <p:cTn id="44" presetID="10" presetClass="entr" presetSubtype="0" fill="hold" grpId="0" nodeType="after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57" fill="hold">
                      <p:stCondLst>
                        <p:cond delay="indefinite"/>
                      </p:stCondLst>
                      <p:childTnLst>
                        <p:par>
                          <p:cTn id="52"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wipe(left)">
                                      <p:cBhvr>
                                        <p:cTn id="51" dur="600"/>
                                        <p:tgtEl>
                                          <p:spTgt spid="23"/>
                                        </p:tgtEl>
                                      </p:cBhvr>
                                    </p:animEffect>
                                  </p:childTnLst>
                                </p:cTn>
                              </p:par>
                            </p:childTnLst>
                          </p:cTn>
                        </p:par>
                        <p:par>
                          <p:cTn id="56" fill="hold">
                            <p:stCondLst>
                              <p:cond delay="600"/>
                            </p:stCondLst>
                            <p:childTnLst>
                              <p:par>
                                <p:cTn id="53" presetID="10" presetClass="entr" presetSubtype="0" fill="hold" grpId="0" nodeType="after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fade">
                                      <p:cBhvr>
                                        <p:cTn id="55" dur="500"/>
                                        <p:tgtEl>
                                          <p:spTgt spid="19"/>
                                        </p:tgtEl>
                                      </p:cBhvr>
                                    </p:animEffect>
                                  </p:childTnLst>
                                </p:cTn>
                              </p:par>
                            </p:childTnLst>
                          </p:cTn>
                        </p:par>
                      </p:childTnLst>
                    </p:cTn>
                  </p:par>
                  <p:par>
                    <p:cTn id="66" fill="hold">
                      <p:stCondLst>
                        <p:cond delay="indefinite"/>
                      </p:stCondLst>
                      <p:childTnLst>
                        <p:par>
                          <p:cTn id="61"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5"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childTnLst>
                          </p:cTn>
                        </p:par>
                      </p:childTnLst>
                    </p:cTn>
                  </p:par>
                  <p:par>
                    <p:cTn id="78" fill="hold">
                      <p:stCondLst>
                        <p:cond delay="indefinite"/>
                      </p:stCondLst>
                      <p:childTnLst>
                        <p:par>
                          <p:cTn id="70"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par>
                          <p:cTn id="77" fill="hold">
                            <p:stCondLst>
                              <p:cond delay="500"/>
                            </p:stCondLst>
                            <p:childTnLst>
                              <p:par>
                                <p:cTn id="71" presetID="10" presetClass="entr" presetSubtype="0"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childTnLst>
                          </p:cTn>
                        </p:par>
                      </p:childTnLst>
                    </p:cTn>
                  </p:par>
                  <p:par>
                    <p:cTn id="93" fill="hold">
                      <p:stCondLst>
                        <p:cond delay="indefinite"/>
                      </p:stCondLst>
                      <p:childTnLst>
                        <p:par>
                          <p:cTn id="82"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3"/>
                                        </p:tgtEl>
                                        <p:attrNameLst>
                                          <p:attrName>style.visibility</p:attrName>
                                        </p:attrNameLst>
                                      </p:cBhvr>
                                      <p:to>
                                        <p:strVal val="visible"/>
                                      </p:to>
                                    </p:set>
                                    <p:animEffect transition="in" filter="fade">
                                      <p:cBhvr>
                                        <p:cTn id="81" dur="500"/>
                                        <p:tgtEl>
                                          <p:spTgt spid="33"/>
                                        </p:tgtEl>
                                      </p:cBhvr>
                                    </p:animEffect>
                                  </p:childTnLst>
                                </p:cTn>
                              </p:par>
                            </p:childTnLst>
                          </p:cTn>
                        </p:par>
                        <p:par>
                          <p:cTn id="86" fill="hold">
                            <p:stCondLst>
                              <p:cond delay="500"/>
                            </p:stCondLst>
                            <p:childTnLst>
                              <p:par>
                                <p:cTn id="83" presetID="10" presetClass="entr" presetSubtype="0" fill="hold" grpId="0" nodeType="afterEffect">
                                  <p:stCondLst>
                                    <p:cond delay="0"/>
                                  </p:stCondLst>
                                  <p:childTnLst>
                                    <p:set>
                                      <p:cBhvr>
                                        <p:cTn id="84" dur="1" fill="hold">
                                          <p:stCondLst>
                                            <p:cond delay="0"/>
                                          </p:stCondLst>
                                        </p:cTn>
                                        <p:tgtEl>
                                          <p:spTgt spid="22"/>
                                        </p:tgtEl>
                                        <p:attrNameLst>
                                          <p:attrName>style.visibility</p:attrName>
                                        </p:attrNameLst>
                                      </p:cBhvr>
                                      <p:to>
                                        <p:strVal val="visible"/>
                                      </p:to>
                                    </p:set>
                                    <p:animEffect transition="in" filter="fade">
                                      <p:cBhvr>
                                        <p:cTn id="85" dur="500"/>
                                        <p:tgtEl>
                                          <p:spTgt spid="22"/>
                                        </p:tgtEl>
                                      </p:cBhvr>
                                    </p:animEffect>
                                  </p:childTnLst>
                                </p:cTn>
                              </p:par>
                            </p:childTnLst>
                          </p:cTn>
                        </p:par>
                        <p:par>
                          <p:cTn id="92" fill="hold">
                            <p:stCondLst>
                              <p:cond delay="1000"/>
                            </p:stCondLst>
                            <p:childTnLst>
                              <p:par>
                                <p:cTn id="87" presetID="53" presetClass="entr" presetSubtype="16" fill="hold" grpId="0" nodeType="afterEffect">
                                  <p:stCondLst>
                                    <p:cond delay="0"/>
                                  </p:stCondLst>
                                  <p:childTnLst>
                                    <p:set>
                                      <p:cBhvr>
                                        <p:cTn id="88" dur="1" fill="hold">
                                          <p:stCondLst>
                                            <p:cond delay="0"/>
                                          </p:stCondLst>
                                        </p:cTn>
                                        <p:tgtEl>
                                          <p:spTgt spid="36"/>
                                        </p:tgtEl>
                                        <p:attrNameLst>
                                          <p:attrName>style.visibility</p:attrName>
                                        </p:attrNameLst>
                                      </p:cBhvr>
                                      <p:to>
                                        <p:strVal val="visible"/>
                                      </p:to>
                                    </p:set>
                                    <p:anim calcmode="lin" valueType="num">
                                      <p:cBhvr>
                                        <p:cTn id="89" dur="500" fill="hold"/>
                                        <p:tgtEl>
                                          <p:spTgt spid="36"/>
                                        </p:tgtEl>
                                        <p:attrNameLst>
                                          <p:attrName>ppt_w</p:attrName>
                                        </p:attrNameLst>
                                      </p:cBhvr>
                                      <p:tavLst>
                                        <p:tav tm="0">
                                          <p:val>
                                            <p:fltVal val="0"/>
                                          </p:val>
                                        </p:tav>
                                        <p:tav tm="100000">
                                          <p:val>
                                            <p:strVal val="#ppt_w"/>
                                          </p:val>
                                        </p:tav>
                                      </p:tavLst>
                                    </p:anim>
                                    <p:anim calcmode="lin" valueType="num">
                                      <p:cBhvr>
                                        <p:cTn id="90" dur="500" fill="hold"/>
                                        <p:tgtEl>
                                          <p:spTgt spid="36"/>
                                        </p:tgtEl>
                                        <p:attrNameLst>
                                          <p:attrName>ppt_h</p:attrName>
                                        </p:attrNameLst>
                                      </p:cBhvr>
                                      <p:tavLst>
                                        <p:tav tm="0">
                                          <p:val>
                                            <p:fltVal val="0"/>
                                          </p:val>
                                        </p:tav>
                                        <p:tav tm="100000">
                                          <p:val>
                                            <p:strVal val="#ppt_h"/>
                                          </p:val>
                                        </p:tav>
                                      </p:tavLst>
                                    </p:anim>
                                    <p:animEffect transition="in" filter="fade">
                                      <p:cBhvr>
                                        <p:cTn id="91" dur="500"/>
                                        <p:tgtEl>
                                          <p:spTgt spid="36"/>
                                        </p:tgtEl>
                                      </p:cBhvr>
                                    </p:animEffect>
                                  </p:childTnLst>
                                </p:cTn>
                              </p:par>
                            </p:childTnLst>
                          </p:cTn>
                        </p:par>
                      </p:childTnLst>
                    </p:cTn>
                  </p:par>
                  <p:par>
                    <p:cTn id="101" fill="hold">
                      <p:stCondLst>
                        <p:cond delay="indefinite"/>
                      </p:stCondLst>
                      <p:childTnLst>
                        <p:par>
                          <p:cTn id="97" fill="hold">
                            <p:stCondLst>
                              <p:cond delay="0"/>
                            </p:stCondLst>
                            <p:childTnLst>
                              <p:par>
                                <p:cTn id="94" presetID="22" presetClass="entr" presetSubtype="2" fill="hold" grpId="0" nodeType="clickEffect">
                                  <p:stCondLst>
                                    <p:cond delay="0"/>
                                  </p:stCondLst>
                                  <p:childTnLst>
                                    <p:set>
                                      <p:cBhvr>
                                        <p:cTn id="95" dur="1" fill="hold">
                                          <p:stCondLst>
                                            <p:cond delay="0"/>
                                          </p:stCondLst>
                                        </p:cTn>
                                        <p:tgtEl>
                                          <p:spTgt spid="37"/>
                                        </p:tgtEl>
                                        <p:attrNameLst>
                                          <p:attrName>style.visibility</p:attrName>
                                        </p:attrNameLst>
                                      </p:cBhvr>
                                      <p:to>
                                        <p:strVal val="visible"/>
                                      </p:to>
                                    </p:set>
                                    <p:animEffect transition="in" filter="wipe(right)">
                                      <p:cBhvr>
                                        <p:cTn id="96" dur="600"/>
                                        <p:tgtEl>
                                          <p:spTgt spid="37"/>
                                        </p:tgtEl>
                                      </p:cBhvr>
                                    </p:animEffect>
                                  </p:childTnLst>
                                </p:cTn>
                              </p:par>
                            </p:childTnLst>
                          </p:cTn>
                        </p:par>
                        <p:par>
                          <p:cTn id="100" fill="hold">
                            <p:stCondLst>
                              <p:cond delay="600"/>
                            </p:stCondLst>
                            <p:childTnLst>
                              <p:par>
                                <p:cTn id="98" presetID="6" presetClass="emph" presetSubtype="0" fill="hold" grpId="0" nodeType="afterEffect">
                                  <p:stCondLst>
                                    <p:cond delay="0"/>
                                  </p:stCondLst>
                                  <p:childTnLst>
                                    <p:animScale>
                                      <p:cBhvr>
                                        <p:cTn id="99" dur="300" autoRev="1" fill="hold"/>
                                        <p:tgtEl>
                                          <p:spTgt spid="13"/>
                                        </p:tgtEl>
                                      </p:cBhvr>
                                      <p:by x="112000" y="112000"/>
                                    </p:animScale>
                                  </p:childTnLst>
                                </p:cTn>
                              </p:par>
                            </p:childTnLst>
                          </p:cTn>
                        </p:par>
                      </p:childTnLst>
                    </p:cTn>
                  </p:par>
                  <p:par>
                    <p:cTn id="106" fill="hold">
                      <p:stCondLst>
                        <p:cond delay="indefinite"/>
                      </p:stCondLst>
                      <p:childTnLst>
                        <p:par>
                          <p:cTn id="105"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38"/>
                                        </p:tgtEl>
                                        <p:attrNameLst>
                                          <p:attrName>style.visibility</p:attrName>
                                        </p:attrNameLst>
                                      </p:cBhvr>
                                      <p:to>
                                        <p:strVal val="visible"/>
                                      </p:to>
                                    </p:set>
                                    <p:animEffect transition="in" filter="fade">
                                      <p:cBhvr>
                                        <p:cTn id="104"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6" grpId="0" animBg="1"/>
      <p:bldP spid="12" grpId="0" animBg="1"/>
      <p:bldP spid="13" grpId="0" animBg="1"/>
      <p:bldP spid="14" grpId="0" animBg="1"/>
      <p:bldP spid="17" grpId="0" animBg="1"/>
      <p:bldP spid="18" grpId="0" animBg="1"/>
      <p:bldP spid="15" grpId="0" animBg="1"/>
      <p:bldP spid="23" grpId="0" animBg="1"/>
      <p:bldP spid="19" grpId="0" animBg="1"/>
      <p:bldP spid="20" grpId="0" animBg="1"/>
      <p:bldP spid="21" grpId="0" animBg="1"/>
      <p:bldP spid="32" grpId="0" animBg="1"/>
      <p:bldP spid="22" grpId="0" animBg="1"/>
      <p:bldP spid="36" grpId="0" animBg="1"/>
      <p:bldP spid="37" grpId="0" animBg="1"/>
    </p:bldLst>
  </p:timing>
</p:sld>
</file>

<file path=ppt/slides/slide146.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Ciclo urea"/>
          <p:cNvSpPr/>
          <p:nvPr/>
        </p:nvSpPr>
        <p:spPr>
          <a:xfrm>
            <a:off x="548640" y="1371600"/>
            <a:ext cx="4572000" cy="4206240"/>
          </a:xfrm>
          <a:prstGeom prst="ellipse">
            <a:avLst/>
          </a:prstGeom>
          <a:noFill/>
          <a:ln w="50800" cap="rnd">
            <a:solidFill>
              <a:srgbClr val="1E8449"/>
            </a:solidFill>
            <a:round/>
          </a:ln>
        </p:spPr>
      </p:sp>
      <p:sp>
        <p:nvSpPr>
          <p:cNvPr id="5" name="Ciclo Krebs"/>
          <p:cNvSpPr/>
          <p:nvPr/>
        </p:nvSpPr>
        <p:spPr>
          <a:xfrm>
            <a:off x="7040880" y="1371600"/>
            <a:ext cx="4572000" cy="4206240"/>
          </a:xfrm>
          <a:prstGeom prst="ellipse">
            <a:avLst/>
          </a:prstGeom>
          <a:noFill/>
          <a:ln w="50800" cap="rnd">
            <a:solidFill>
              <a:srgbClr val="B9770E"/>
            </a:solidFill>
            <a:round/>
          </a:ln>
        </p:spPr>
      </p:sp>
      <p:sp>
        <p:nvSpPr>
          <p:cNvPr id="6" name="Forma 5"/>
          <p:cNvSpPr txBox="1"/>
          <p:nvPr/>
        </p:nvSpPr>
        <p:spPr>
          <a:xfrm>
            <a:off x="1554480" y="3200400"/>
            <a:ext cx="2560320" cy="548640"/>
          </a:xfrm>
          <a:prstGeom prst="rect">
            <a:avLst/>
          </a:prstGeom>
          <a:noFill/>
          <a:ln>
            <a:noFill/>
          </a:ln>
        </p:spPr>
        <p:txBody>
          <a:bodyPr wrap="square" lIns="0" tIns="0" rIns="0" bIns="0" anchor="ctr" rtlCol="0">
            <a:noAutofit/>
          </a:bodyPr>
          <a:lstStyle/>
          <a:p>
            <a:pPr algn="ctr">
              <a:spcAft>
                <a:spcPts val="300"/>
              </a:spcAft>
              <a:buNone/>
            </a:pPr>
            <a:r>
              <a:rPr lang="es-AR" sz="1650" b="1" dirty="0">
                <a:solidFill>
                  <a:srgbClr val="1E8449"/>
                </a:solidFill>
                <a:latin typeface="Bahnschrift SemiBold Condensed"/>
                <a:ea typeface="Bahnschrift SemiBold Condensed"/>
                <a:cs typeface="Bahnschrift SemiBold Condensed"/>
                <a:sym typeface="Bahnschrift SemiBold Condensed"/>
              </a:rPr>
              <a:t>CICLO DE</a:t>
            </a:r>
            <a:endParaRPr lang="es-AR" sz="1650" dirty="0">
              <a:latin typeface="Bahnschrift SemiBold Condensed"/>
            </a:endParaRPr>
          </a:p>
          <a:p>
            <a:pPr algn="ctr">
              <a:spcAft>
                <a:spcPts val="300"/>
              </a:spcAft>
              <a:buNone/>
            </a:pPr>
            <a:r>
              <a:rPr lang="es-AR" sz="1650" b="1" dirty="0">
                <a:solidFill>
                  <a:srgbClr val="1E8449"/>
                </a:solidFill>
                <a:latin typeface="Bahnschrift SemiBold Condensed"/>
                <a:ea typeface="Bahnschrift SemiBold Condensed"/>
                <a:cs typeface="Bahnschrift SemiBold Condensed"/>
                <a:sym typeface="Bahnschrift SemiBold Condensed"/>
              </a:rPr>
              <a:t>LA UREA</a:t>
            </a:r>
            <a:endParaRPr lang="es-AR" sz="1650" dirty="0">
              <a:latin typeface="Bahnschrift SemiBold Condensed"/>
            </a:endParaRPr>
          </a:p>
        </p:txBody>
      </p:sp>
      <p:sp>
        <p:nvSpPr>
          <p:cNvPr id="7" name="Forma 6"/>
          <p:cNvSpPr txBox="1"/>
          <p:nvPr/>
        </p:nvSpPr>
        <p:spPr>
          <a:xfrm>
            <a:off x="8046720" y="3200400"/>
            <a:ext cx="2560320" cy="548640"/>
          </a:xfrm>
          <a:prstGeom prst="rect">
            <a:avLst/>
          </a:prstGeom>
          <a:noFill/>
          <a:ln>
            <a:noFill/>
          </a:ln>
        </p:spPr>
        <p:txBody>
          <a:bodyPr wrap="square" lIns="0" tIns="0" rIns="0" bIns="0" anchor="ctr" rtlCol="0">
            <a:noAutofit/>
          </a:bodyPr>
          <a:lstStyle/>
          <a:p>
            <a:pPr algn="ctr">
              <a:spcAft>
                <a:spcPts val="300"/>
              </a:spcAft>
              <a:buNone/>
            </a:pPr>
            <a:r>
              <a:rPr lang="es-AR" sz="1650" b="1" dirty="0">
                <a:solidFill>
                  <a:srgbClr val="7E5109"/>
                </a:solidFill>
                <a:latin typeface="Bahnschrift SemiBold Condensed"/>
                <a:ea typeface="Bahnschrift SemiBold Condensed"/>
                <a:cs typeface="Bahnschrift SemiBold Condensed"/>
                <a:sym typeface="Bahnschrift SemiBold Condensed"/>
              </a:rPr>
              <a:t>CICLO DE</a:t>
            </a:r>
            <a:endParaRPr lang="es-AR" sz="1650" dirty="0">
              <a:latin typeface="Bahnschrift SemiBold Condensed"/>
            </a:endParaRPr>
          </a:p>
          <a:p>
            <a:pPr algn="ctr">
              <a:spcAft>
                <a:spcPts val="300"/>
              </a:spcAft>
              <a:buNone/>
            </a:pPr>
            <a:r>
              <a:rPr lang="es-AR" sz="1650" b="1" dirty="0">
                <a:solidFill>
                  <a:srgbClr val="7E5109"/>
                </a:solidFill>
                <a:latin typeface="Bahnschrift SemiBold Condensed"/>
                <a:ea typeface="Bahnschrift SemiBold Condensed"/>
                <a:cs typeface="Bahnschrift SemiBold Condensed"/>
                <a:sym typeface="Bahnschrift SemiBold Condensed"/>
              </a:rPr>
              <a:t>KREBS</a:t>
            </a:r>
            <a:endParaRPr lang="es-AR" sz="1650" dirty="0">
              <a:latin typeface="Bahnschrift SemiBold Condensed"/>
            </a:endParaRPr>
          </a:p>
        </p:txBody>
      </p:sp>
      <p:sp>
        <p:nvSpPr>
          <p:cNvPr id="8" name="U Ornitina"/>
          <p:cNvSpPr/>
          <p:nvPr/>
        </p:nvSpPr>
        <p:spPr>
          <a:xfrm>
            <a:off x="914400" y="4480560"/>
            <a:ext cx="734932"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Ornitina</a:t>
            </a:r>
            <a:endParaRPr lang="es-AR" sz="1250" dirty="0">
              <a:latin typeface="Bahnschrift SemiBold Condensed"/>
            </a:endParaRPr>
          </a:p>
        </p:txBody>
      </p:sp>
      <p:sp>
        <p:nvSpPr>
          <p:cNvPr id="9" name="U Citrulina"/>
          <p:cNvSpPr/>
          <p:nvPr/>
        </p:nvSpPr>
        <p:spPr>
          <a:xfrm>
            <a:off x="914400" y="1463040"/>
            <a:ext cx="770603"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Citrulina</a:t>
            </a:r>
            <a:endParaRPr lang="es-AR" sz="1250" dirty="0">
              <a:latin typeface="Bahnschrift SemiBold Condensed"/>
            </a:endParaRPr>
          </a:p>
        </p:txBody>
      </p:sp>
      <p:sp>
        <p:nvSpPr>
          <p:cNvPr id="10" name="U Argininosuccinato"/>
          <p:cNvSpPr/>
          <p:nvPr/>
        </p:nvSpPr>
        <p:spPr>
          <a:xfrm>
            <a:off x="2926080" y="1143000"/>
            <a:ext cx="1383636"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Argininosuccinato</a:t>
            </a:r>
            <a:endParaRPr lang="es-AR" sz="1250" dirty="0">
              <a:latin typeface="Bahnschrift SemiBold Condensed"/>
            </a:endParaRPr>
          </a:p>
        </p:txBody>
      </p:sp>
      <p:sp>
        <p:nvSpPr>
          <p:cNvPr id="11" name="U Arginina"/>
          <p:cNvSpPr/>
          <p:nvPr/>
        </p:nvSpPr>
        <p:spPr>
          <a:xfrm>
            <a:off x="3566160" y="4846320"/>
            <a:ext cx="763299" cy="246062"/>
          </a:xfrm>
          <a:prstGeom prst="rect">
            <a:avLst/>
          </a:prstGeom>
          <a:solidFill>
            <a:srgbClr val="CDE8C4"/>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Arginina</a:t>
            </a:r>
            <a:endParaRPr lang="es-AR" sz="1250" dirty="0">
              <a:latin typeface="Bahnschrift SemiBold Condensed"/>
            </a:endParaRPr>
          </a:p>
        </p:txBody>
      </p:sp>
      <p:sp>
        <p:nvSpPr>
          <p:cNvPr id="12" name="K Citrato"/>
          <p:cNvSpPr/>
          <p:nvPr/>
        </p:nvSpPr>
        <p:spPr>
          <a:xfrm>
            <a:off x="9692640" y="1234440"/>
            <a:ext cx="667496"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Citrato</a:t>
            </a:r>
            <a:endParaRPr lang="es-AR" sz="1250" dirty="0">
              <a:latin typeface="Bahnschrift SemiBold Condensed"/>
            </a:endParaRPr>
          </a:p>
        </p:txBody>
      </p:sp>
      <p:sp>
        <p:nvSpPr>
          <p:cNvPr id="13" name="K α-cetoglutarato"/>
          <p:cNvSpPr/>
          <p:nvPr/>
        </p:nvSpPr>
        <p:spPr>
          <a:xfrm>
            <a:off x="10241280" y="3200400"/>
            <a:ext cx="1226514"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α-cetoglutarato</a:t>
            </a:r>
            <a:endParaRPr lang="es-AR" sz="1250" dirty="0">
              <a:latin typeface="Bahnschrift SemiBold Condensed"/>
            </a:endParaRPr>
          </a:p>
        </p:txBody>
      </p:sp>
      <p:sp>
        <p:nvSpPr>
          <p:cNvPr id="14" name="K Succinil-CoA"/>
          <p:cNvSpPr/>
          <p:nvPr/>
        </p:nvSpPr>
        <p:spPr>
          <a:xfrm>
            <a:off x="9692640" y="5120640"/>
            <a:ext cx="1033380"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Succinil-CoA</a:t>
            </a:r>
            <a:endParaRPr lang="es-AR" sz="1250" dirty="0">
              <a:latin typeface="Bahnschrift SemiBold Condensed"/>
            </a:endParaRPr>
          </a:p>
        </p:txBody>
      </p:sp>
      <p:sp>
        <p:nvSpPr>
          <p:cNvPr id="15" name="K Oxaloacetato"/>
          <p:cNvSpPr/>
          <p:nvPr/>
        </p:nvSpPr>
        <p:spPr>
          <a:xfrm>
            <a:off x="6949440" y="1828800"/>
            <a:ext cx="1073637" cy="246062"/>
          </a:xfrm>
          <a:prstGeom prst="rect">
            <a:avLst/>
          </a:prstGeom>
          <a:solidFill>
            <a:srgbClr val="FFE07A"/>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Oxaloacetato</a:t>
            </a:r>
            <a:endParaRPr lang="es-AR" sz="1250" dirty="0">
              <a:latin typeface="Bahnschrift SemiBold Condensed"/>
            </a:endParaRPr>
          </a:p>
        </p:txBody>
      </p:sp>
      <p:sp>
        <p:nvSpPr>
          <p:cNvPr id="16" name="Fumarato puente"/>
          <p:cNvSpPr/>
          <p:nvPr/>
        </p:nvSpPr>
        <p:spPr>
          <a:xfrm>
            <a:off x="5120640" y="4206240"/>
            <a:ext cx="1463040" cy="457200"/>
          </a:xfrm>
          <a:prstGeom prst="roundRect">
            <a:avLst/>
          </a:prstGeom>
          <a:solidFill>
            <a:srgbClr val="FAD3BC"/>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Fumarato</a:t>
            </a:r>
            <a:endParaRPr lang="es-AR" sz="1350" dirty="0">
              <a:latin typeface="Bahnschrift SemiBold Condensed"/>
            </a:endParaRPr>
          </a:p>
        </p:txBody>
      </p:sp>
      <p:sp>
        <p:nvSpPr>
          <p:cNvPr id="17" name="Malato puente"/>
          <p:cNvSpPr/>
          <p:nvPr/>
        </p:nvSpPr>
        <p:spPr>
          <a:xfrm>
            <a:off x="6492240" y="3657600"/>
            <a:ext cx="1280160" cy="457200"/>
          </a:xfrm>
          <a:prstGeom prst="roundRect">
            <a:avLst/>
          </a:prstGeom>
          <a:solidFill>
            <a:srgbClr val="FFE07A"/>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Malato</a:t>
            </a:r>
            <a:endParaRPr lang="es-AR" sz="1350" dirty="0">
              <a:latin typeface="Bahnschrift SemiBold Condensed"/>
            </a:endParaRPr>
          </a:p>
        </p:txBody>
      </p:sp>
      <p:sp>
        <p:nvSpPr>
          <p:cNvPr id="18" name="Aspartato puente"/>
          <p:cNvSpPr/>
          <p:nvPr/>
        </p:nvSpPr>
        <p:spPr>
          <a:xfrm>
            <a:off x="5120640" y="1188720"/>
            <a:ext cx="1463040" cy="457200"/>
          </a:xfrm>
          <a:prstGeom prst="roundRect">
            <a:avLst/>
          </a:prstGeom>
          <a:solidFill>
            <a:srgbClr val="CDE8C4"/>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Aspartato</a:t>
            </a:r>
            <a:endParaRPr lang="es-AR" sz="1350" dirty="0">
              <a:latin typeface="Bahnschrift SemiBold Condensed"/>
            </a:endParaRPr>
          </a:p>
        </p:txBody>
      </p:sp>
      <p:sp>
        <p:nvSpPr>
          <p:cNvPr id="19" name="Flecha 18_2"/>
          <p:cNvSpPr/>
          <p:nvPr/>
        </p:nvSpPr>
        <p:spPr>
          <a:xfrm>
            <a:off x="4663440" y="4023360"/>
            <a:ext cx="457200" cy="320040"/>
          </a:xfrm>
          <a:custGeom>
            <a:avLst/>
            <a:gdLst/>
            <a:ahLst/>
            <a:cxnLst/>
            <a:rect l="0" t="0" r="r" b="b"/>
            <a:pathLst>
              <a:path w="500" h="349" fill="none">
                <a:moveTo>
                  <a:pt x="0" y="0"/>
                </a:moveTo>
                <a:lnTo>
                  <a:pt x="500" y="349"/>
                </a:lnTo>
              </a:path>
            </a:pathLst>
          </a:custGeom>
          <a:noFill/>
          <a:ln w="38100" cap="rnd">
            <a:solidFill>
              <a:srgbClr val="1E8C3A"/>
            </a:solidFill>
            <a:round/>
            <a:tailEnd type="triangle" w="med" len="med"/>
          </a:ln>
        </p:spPr>
      </p:sp>
      <p:sp>
        <p:nvSpPr>
          <p:cNvPr id="20" name="Flecha 20_2"/>
          <p:cNvSpPr/>
          <p:nvPr/>
        </p:nvSpPr>
        <p:spPr>
          <a:xfrm>
            <a:off x="6583680" y="4133088"/>
            <a:ext cx="274320" cy="301752"/>
          </a:xfrm>
          <a:custGeom>
            <a:avLst/>
            <a:gdLst/>
            <a:ahLst/>
            <a:cxnLst/>
            <a:rect l="0" t="0" r="r" b="b"/>
            <a:pathLst>
              <a:path w="299" h="330" fill="none">
                <a:moveTo>
                  <a:pt x="0" y="330"/>
                </a:moveTo>
                <a:lnTo>
                  <a:pt x="299" y="0"/>
                </a:lnTo>
              </a:path>
            </a:pathLst>
          </a:custGeom>
          <a:noFill/>
          <a:ln w="38100" cap="rnd">
            <a:solidFill>
              <a:srgbClr val="1E8C3A"/>
            </a:solidFill>
            <a:round/>
            <a:tailEnd type="triangle" w="med" len="med"/>
          </a:ln>
        </p:spPr>
      </p:sp>
      <p:sp>
        <p:nvSpPr>
          <p:cNvPr id="21" name="Flecha 22_2"/>
          <p:cNvSpPr/>
          <p:nvPr/>
        </p:nvSpPr>
        <p:spPr>
          <a:xfrm>
            <a:off x="7132320" y="2286000"/>
            <a:ext cx="365760" cy="1353312"/>
          </a:xfrm>
          <a:custGeom>
            <a:avLst/>
            <a:gdLst/>
            <a:ahLst/>
            <a:cxnLst/>
            <a:rect l="0" t="0" r="r" b="b"/>
            <a:pathLst>
              <a:path w="399" h="1480" fill="none">
                <a:moveTo>
                  <a:pt x="0" y="1480"/>
                </a:moveTo>
                <a:lnTo>
                  <a:pt x="399" y="0"/>
                </a:lnTo>
              </a:path>
            </a:pathLst>
          </a:custGeom>
          <a:noFill/>
          <a:ln w="38100" cap="rnd">
            <a:solidFill>
              <a:srgbClr val="1E8C3A"/>
            </a:solidFill>
            <a:round/>
            <a:tailEnd type="triangle" w="med" len="med"/>
          </a:ln>
        </p:spPr>
      </p:sp>
      <p:grpSp>
        <p:nvGrpSpPr>
          <p:cNvPr id="22" name="Flecha transaminación (AS"/>
          <p:cNvGrpSpPr/>
          <p:nvPr/>
        </p:nvGrpSpPr>
        <p:grpSpPr>
          <a:xfrm>
            <a:off x="5486400" y="1463040"/>
            <a:ext cx="1920240" cy="440436"/>
            <a:chOff x="5486400" y="1463040"/>
            <a:chExt cx="1920240" cy="440436"/>
          </a:xfrm>
        </p:grpSpPr>
        <p:sp>
          <p:nvSpPr>
            <p:cNvPr id="23" name="Flecha 25_2"/>
            <p:cNvSpPr/>
            <p:nvPr/>
          </p:nvSpPr>
          <p:spPr>
            <a:xfrm>
              <a:off x="6601968" y="1463040"/>
              <a:ext cx="347472" cy="365760"/>
            </a:xfrm>
            <a:custGeom>
              <a:avLst/>
              <a:gdLst/>
              <a:ahLst/>
              <a:cxnLst/>
              <a:rect l="0" t="0" r="r" b="b"/>
              <a:pathLst>
                <a:path w="379" h="399" fill="none">
                  <a:moveTo>
                    <a:pt x="379" y="399"/>
                  </a:moveTo>
                  <a:lnTo>
                    <a:pt x="0" y="0"/>
                  </a:lnTo>
                </a:path>
              </a:pathLst>
            </a:custGeom>
            <a:noFill/>
            <a:ln w="38100" cap="rnd">
              <a:solidFill>
                <a:srgbClr val="1E8C3A"/>
              </a:solidFill>
              <a:round/>
              <a:tailEnd type="triangle" w="med" len="med"/>
            </a:ln>
          </p:spPr>
        </p:sp>
        <p:sp>
          <p:nvSpPr>
            <p:cNvPr id="24" name="Forma 27"/>
            <p:cNvSpPr txBox="1"/>
            <p:nvPr/>
          </p:nvSpPr>
          <p:spPr>
            <a:xfrm>
              <a:off x="5486400" y="1691640"/>
              <a:ext cx="1920240" cy="211836"/>
            </a:xfrm>
            <a:prstGeom prst="rect">
              <a:avLst/>
            </a:prstGeom>
            <a:noFill/>
            <a:ln>
              <a:noFill/>
            </a:ln>
          </p:spPr>
          <p:txBody>
            <a:bodyPr wrap="square" lIns="0" tIns="0" rIns="0" bIns="0" anchor="ctr" rtlCol="0">
              <a:noAutofit/>
            </a:bodyPr>
            <a:lstStyle/>
            <a:p>
              <a:pPr algn="ctr">
                <a:spcAft>
                  <a:spcPts val="300"/>
                </a:spcAft>
                <a:buNone/>
              </a:pPr>
              <a:r>
                <a:rPr lang="es-AR" sz="1150" b="1" dirty="0">
                  <a:solidFill>
                    <a:srgbClr val="1E8C3A"/>
                  </a:solidFill>
                  <a:latin typeface="Bahnschrift SemiBold Condensed"/>
                  <a:ea typeface="Bahnschrift SemiBold Condensed"/>
                  <a:cs typeface="Bahnschrift SemiBold Condensed"/>
                  <a:sym typeface="Bahnschrift SemiBold Condensed"/>
                </a:rPr>
                <a:t>transaminación (AST)</a:t>
              </a:r>
              <a:endParaRPr lang="es-AR" sz="1150" dirty="0">
                <a:latin typeface="Bahnschrift SemiBold Condensed"/>
              </a:endParaRPr>
            </a:p>
          </p:txBody>
        </p:sp>
      </p:grpSp>
      <p:sp>
        <p:nvSpPr>
          <p:cNvPr id="25" name="Flecha 28_2"/>
          <p:cNvSpPr/>
          <p:nvPr/>
        </p:nvSpPr>
        <p:spPr>
          <a:xfrm>
            <a:off x="4526280" y="1371600"/>
            <a:ext cx="594360" cy="45720"/>
          </a:xfrm>
          <a:custGeom>
            <a:avLst/>
            <a:gdLst/>
            <a:ahLst/>
            <a:cxnLst/>
            <a:rect l="0" t="0" r="r" b="b"/>
            <a:pathLst>
              <a:path w="649" h="50" fill="none">
                <a:moveTo>
                  <a:pt x="649" y="50"/>
                </a:moveTo>
                <a:lnTo>
                  <a:pt x="0" y="0"/>
                </a:lnTo>
              </a:path>
            </a:pathLst>
          </a:custGeom>
          <a:noFill/>
          <a:ln w="38100" cap="rnd">
            <a:solidFill>
              <a:srgbClr val="1E8C3A"/>
            </a:solidFill>
            <a:round/>
            <a:tailEnd type="triangle" w="med" len="med"/>
          </a:ln>
        </p:spPr>
      </p:sp>
      <p:sp>
        <p:nvSpPr>
          <p:cNvPr id="26" name="Perla"/>
          <p:cNvSpPr/>
          <p:nvPr/>
        </p:nvSpPr>
        <p:spPr>
          <a:xfrm>
            <a:off x="365760" y="5806440"/>
            <a:ext cx="11430000" cy="6858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Derivación </a:t>
            </a:r>
            <a:r>
              <a:rPr lang="es-AR" sz="1650" b="1" dirty="0">
                <a:solidFill>
                  <a:srgbClr val="FFFFFF"/>
                </a:solidFill>
                <a:latin typeface="Bahnschrift"/>
                <a:ea typeface="Bahnschrift"/>
                <a:cs typeface="Bahnschrift"/>
                <a:sym typeface="Bahnschrift"/>
              </a:rPr>
              <a:t>aspartato–argininosuccinato</a:t>
            </a:r>
            <a:r>
              <a:rPr lang="es-AR" sz="1650" dirty="0">
                <a:solidFill>
                  <a:srgbClr val="FFFFFF"/>
                </a:solidFill>
                <a:latin typeface="Bahnschrift"/>
                <a:ea typeface="Bahnschrift"/>
                <a:cs typeface="Bahnschrift"/>
                <a:sym typeface="Bahnschrift"/>
              </a:rPr>
              <a:t>: fumarato → malato → oxaloacetato → aspartato, que aporta el </a:t>
            </a:r>
            <a:r>
              <a:rPr lang="es-AR" sz="1650" b="1" dirty="0">
                <a:solidFill>
                  <a:srgbClr val="FFFFFF"/>
                </a:solidFill>
                <a:latin typeface="Bahnschrift"/>
                <a:ea typeface="Bahnschrift"/>
                <a:cs typeface="Bahnschrift"/>
                <a:sym typeface="Bahnschrift"/>
              </a:rPr>
              <a:t>segundo N</a:t>
            </a:r>
            <a:r>
              <a:rPr lang="es-AR" sz="1650" dirty="0">
                <a:solidFill>
                  <a:srgbClr val="FFFFFF"/>
                </a:solidFill>
                <a:latin typeface="Bahnschrift"/>
                <a:ea typeface="Bahnschrift"/>
                <a:cs typeface="Bahnschrift"/>
                <a:sym typeface="Bahnschrift"/>
              </a:rPr>
              <a:t> de la urea.</a:t>
            </a:r>
            <a:endParaRPr lang="es-AR" sz="16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37072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25 · CICLO DE KREBS CONECTADO CON LA UREOGÉNESIS</a:t>
            </a:r>
            <a:endParaRPr lang="es-AR" sz="2600" dirty="0">
              <a:latin typeface="Bahnschrift SemiBold Condensed"/>
            </a:endParaRPr>
          </a:p>
        </p:txBody>
      </p:sp>
      <p:sp>
        <p:nvSpPr>
          <p:cNvPr id="2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5"/>
                                        </p:tgtEl>
                                        <p:attrNameLst>
                                          <p:attrName>style.visibility</p:attrName>
                                        </p:attrNameLst>
                                      </p:cBhvr>
                                      <p:to>
                                        <p:strVal val="visible"/>
                                      </p:to>
                                    </p:set>
                                    <p:animEffect transition="in" filter="fade">
                                      <p:cBhvr>
                                        <p:cTn id="8" dur="500"/>
                                        <p:tgtEl>
                                          <p:spTgt spid="5"/>
                                        </p:tgtEl>
                                      </p:cBhvr>
                                    </p:animEffect>
                                  </p:childTnLst>
                                </p:cTn>
                              </p:par>
                            </p:childTnLst>
                          </p:cTn>
                        </p:par>
                      </p:childTnLst>
                    </p:cTn>
                  </p:par>
                  <p:par>
                    <p:cTn id="19" fill="hold">
                      <p:stCondLst>
                        <p:cond delay="indefinite"/>
                      </p:stCondLst>
                      <p:childTnLst>
                        <p:par>
                          <p:cTn id="14"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left)">
                                      <p:cBhvr>
                                        <p:cTn id="13" dur="600"/>
                                        <p:tgtEl>
                                          <p:spTgt spid="19"/>
                                        </p:tgtEl>
                                      </p:cBhvr>
                                    </p:animEffect>
                                  </p:childTnLst>
                                </p:cTn>
                              </p:par>
                            </p:childTnLst>
                          </p:cTn>
                        </p:par>
                        <p:par>
                          <p:cTn id="18" fill="hold">
                            <p:stCondLst>
                              <p:cond delay="600"/>
                            </p:stCondLst>
                            <p:childTnLst>
                              <p:par>
                                <p:cTn id="15" presetID="10" presetClass="entr" presetSubtype="0"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32" fill="hold">
                      <p:stCondLst>
                        <p:cond delay="indefinite"/>
                      </p:stCondLst>
                      <p:childTnLst>
                        <p:par>
                          <p:cTn id="23"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left)">
                                      <p:cBhvr>
                                        <p:cTn id="22" dur="600"/>
                                        <p:tgtEl>
                                          <p:spTgt spid="20"/>
                                        </p:tgtEl>
                                      </p:cBhvr>
                                    </p:animEffect>
                                  </p:childTnLst>
                                </p:cTn>
                              </p:par>
                            </p:childTnLst>
                          </p:cTn>
                        </p:par>
                        <p:par>
                          <p:cTn id="27" fill="hold">
                            <p:stCondLst>
                              <p:cond delay="600"/>
                            </p:stCondLst>
                            <p:childTnLst>
                              <p:par>
                                <p:cTn id="24" presetID="10" presetClass="entr" presetSubtype="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par>
                          <p:cTn id="31" fill="hold">
                            <p:stCondLst>
                              <p:cond delay="1100"/>
                            </p:stCondLst>
                            <p:childTnLst>
                              <p:par>
                                <p:cTn id="28" presetID="22" presetClass="entr" presetSubtype="4" fill="hold" grpId="0" nodeType="after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wipe(down)">
                                      <p:cBhvr>
                                        <p:cTn id="30" dur="600"/>
                                        <p:tgtEl>
                                          <p:spTgt spid="21"/>
                                        </p:tgtEl>
                                      </p:cBhvr>
                                    </p:animEffect>
                                  </p:childTnLst>
                                </p:cTn>
                              </p:par>
                            </p:childTnLst>
                          </p:cTn>
                        </p:par>
                      </p:childTnLst>
                    </p:cTn>
                  </p:par>
                  <p:par>
                    <p:cTn id="45" fill="hold">
                      <p:stCondLst>
                        <p:cond delay="indefinite"/>
                      </p:stCondLst>
                      <p:childTnLst>
                        <p:par>
                          <p:cTn id="36" fill="hold">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right)">
                                      <p:cBhvr>
                                        <p:cTn id="35" dur="600"/>
                                        <p:tgtEl>
                                          <p:spTgt spid="22"/>
                                        </p:tgtEl>
                                      </p:cBhvr>
                                    </p:animEffect>
                                  </p:childTnLst>
                                </p:cTn>
                              </p:par>
                            </p:childTnLst>
                          </p:cTn>
                        </p:par>
                        <p:par>
                          <p:cTn id="40" fill="hold">
                            <p:stCondLst>
                              <p:cond delay="600"/>
                            </p:stCondLst>
                            <p:childTnLst>
                              <p:par>
                                <p:cTn id="37" presetID="10" presetClass="entr" presetSubtype="0"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par>
                          <p:cTn id="44" fill="hold">
                            <p:stCondLst>
                              <p:cond delay="1100"/>
                            </p:stCondLst>
                            <p:childTnLst>
                              <p:par>
                                <p:cTn id="41" presetID="22" presetClass="entr" presetSubtype="2"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right)">
                                      <p:cBhvr>
                                        <p:cTn id="43" dur="600"/>
                                        <p:tgtEl>
                                          <p:spTgt spid="25"/>
                                        </p:tgtEl>
                                      </p:cBhvr>
                                    </p:animEffect>
                                  </p:childTnLst>
                                </p:cTn>
                              </p:par>
                            </p:childTnLst>
                          </p:cTn>
                        </p:par>
                      </p:childTnLst>
                    </p:cTn>
                  </p:par>
                  <p:par>
                    <p:cTn id="50" fill="hold">
                      <p:stCondLst>
                        <p:cond delay="indefinite"/>
                      </p:stCondLst>
                      <p:childTnLst>
                        <p:par>
                          <p:cTn id="49"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9" grpId="0" animBg="1"/>
      <p:bldP spid="16" grpId="0" animBg="1"/>
      <p:bldP spid="20" grpId="0" animBg="1"/>
      <p:bldP spid="17" grpId="0" animBg="1"/>
      <p:bldP spid="21" grpId="0" animBg="1"/>
      <p:bldP spid="18" grpId="0" animBg="1"/>
      <p:bldP spid="25" grpId="0" animBg="1"/>
      <p:bldP spid="26" grpId="0" animBg="1"/>
    </p:bldLst>
  </p:timing>
</p:sld>
</file>

<file path=ppt/slides/slide147.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Forma 3"/>
          <p:cNvSpPr/>
          <p:nvPr/>
        </p:nvSpPr>
        <p:spPr>
          <a:xfrm>
            <a:off x="365760" y="1051560"/>
            <a:ext cx="5486400" cy="603504"/>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50" b="1" dirty="0">
                <a:solidFill>
                  <a:srgbClr val="1E1E1E"/>
                </a:solidFill>
                <a:latin typeface="Bahnschrift"/>
                <a:ea typeface="Bahnschrift"/>
                <a:cs typeface="Bahnschrift"/>
                <a:sym typeface="Bahnschrift"/>
              </a:rPr>
              <a:t>Arginina ↑</a:t>
            </a:r>
            <a:endParaRPr lang="es-AR" sz="1450" dirty="0">
              <a:latin typeface="Bahnschrift"/>
            </a:endParaRPr>
          </a:p>
        </p:txBody>
      </p:sp>
      <p:sp>
        <p:nvSpPr>
          <p:cNvPr id="5" name="Flecha 4_2"/>
          <p:cNvSpPr/>
          <p:nvPr/>
        </p:nvSpPr>
        <p:spPr>
          <a:xfrm>
            <a:off x="3108960" y="1682496"/>
            <a:ext cx="9144" cy="146304"/>
          </a:xfrm>
          <a:custGeom>
            <a:avLst/>
            <a:gdLst/>
            <a:ahLst/>
            <a:cxnLst/>
            <a:rect l="0" t="0" r="r" b="b"/>
            <a:pathLst>
              <a:path w="10" h="159" fill="none">
                <a:moveTo>
                  <a:pt x="0" y="0"/>
                </a:moveTo>
                <a:lnTo>
                  <a:pt x="0" y="159"/>
                </a:lnTo>
              </a:path>
            </a:pathLst>
          </a:custGeom>
          <a:noFill/>
          <a:ln w="31750" cap="rnd">
            <a:solidFill>
              <a:srgbClr val="1E8C3A"/>
            </a:solidFill>
            <a:round/>
            <a:tailEnd type="triangle" w="med" len="med"/>
          </a:ln>
        </p:spPr>
      </p:sp>
      <p:sp>
        <p:nvSpPr>
          <p:cNvPr id="6" name="Forma 6"/>
          <p:cNvSpPr/>
          <p:nvPr/>
        </p:nvSpPr>
        <p:spPr>
          <a:xfrm>
            <a:off x="365760" y="1856232"/>
            <a:ext cx="5486400" cy="603504"/>
          </a:xfrm>
          <a:prstGeom prst="rect">
            <a:avLst/>
          </a:prstGeom>
          <a:solidFill>
            <a:srgbClr val="FFFFFF"/>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50" b="1" dirty="0">
                <a:solidFill>
                  <a:srgbClr val="1E1E1E"/>
                </a:solidFill>
                <a:latin typeface="Bahnschrift"/>
                <a:ea typeface="Bahnschrift"/>
                <a:cs typeface="Bahnschrift"/>
                <a:sym typeface="Bahnschrift"/>
              </a:rPr>
              <a:t>NAGS</a:t>
            </a:r>
            <a:endParaRPr lang="es-AR" sz="1450" dirty="0">
              <a:latin typeface="Bahnschrift"/>
            </a:endParaRPr>
          </a:p>
        </p:txBody>
      </p:sp>
      <p:sp>
        <p:nvSpPr>
          <p:cNvPr id="7" name="Flecha 7_2"/>
          <p:cNvSpPr/>
          <p:nvPr/>
        </p:nvSpPr>
        <p:spPr>
          <a:xfrm>
            <a:off x="3108960" y="2487168"/>
            <a:ext cx="9144" cy="146304"/>
          </a:xfrm>
          <a:custGeom>
            <a:avLst/>
            <a:gdLst/>
            <a:ahLst/>
            <a:cxnLst/>
            <a:rect l="0" t="0" r="r" b="b"/>
            <a:pathLst>
              <a:path w="10" h="160" fill="none">
                <a:moveTo>
                  <a:pt x="0" y="0"/>
                </a:moveTo>
                <a:lnTo>
                  <a:pt x="0" y="160"/>
                </a:lnTo>
              </a:path>
            </a:pathLst>
          </a:custGeom>
          <a:noFill/>
          <a:ln w="31750" cap="rnd">
            <a:solidFill>
              <a:srgbClr val="1E8C3A"/>
            </a:solidFill>
            <a:round/>
            <a:tailEnd type="triangle" w="med" len="med"/>
          </a:ln>
        </p:spPr>
      </p:sp>
      <p:sp>
        <p:nvSpPr>
          <p:cNvPr id="8" name="Forma 9"/>
          <p:cNvSpPr/>
          <p:nvPr/>
        </p:nvSpPr>
        <p:spPr>
          <a:xfrm>
            <a:off x="365760" y="2660904"/>
            <a:ext cx="5486400" cy="603504"/>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50" b="1" dirty="0">
                <a:solidFill>
                  <a:srgbClr val="1E1E1E"/>
                </a:solidFill>
                <a:latin typeface="Bahnschrift"/>
                <a:ea typeface="Bahnschrift"/>
                <a:cs typeface="Bahnschrift"/>
                <a:sym typeface="Bahnschrift"/>
              </a:rPr>
              <a:t>N-acetilglutamato</a:t>
            </a:r>
            <a:endParaRPr lang="es-AR" sz="1450" dirty="0">
              <a:latin typeface="Bahnschrift"/>
            </a:endParaRPr>
          </a:p>
        </p:txBody>
      </p:sp>
      <p:sp>
        <p:nvSpPr>
          <p:cNvPr id="9" name="Flecha 10_2"/>
          <p:cNvSpPr/>
          <p:nvPr/>
        </p:nvSpPr>
        <p:spPr>
          <a:xfrm>
            <a:off x="3108960" y="3291840"/>
            <a:ext cx="9144" cy="146304"/>
          </a:xfrm>
          <a:custGeom>
            <a:avLst/>
            <a:gdLst/>
            <a:ahLst/>
            <a:cxnLst/>
            <a:rect l="0" t="0" r="r" b="b"/>
            <a:pathLst>
              <a:path w="10" h="160" fill="none">
                <a:moveTo>
                  <a:pt x="0" y="0"/>
                </a:moveTo>
                <a:lnTo>
                  <a:pt x="0" y="160"/>
                </a:lnTo>
              </a:path>
            </a:pathLst>
          </a:custGeom>
          <a:noFill/>
          <a:ln w="31750" cap="rnd">
            <a:solidFill>
              <a:srgbClr val="1E8C3A"/>
            </a:solidFill>
            <a:round/>
            <a:tailEnd type="triangle" w="med" len="med"/>
          </a:ln>
        </p:spPr>
      </p:sp>
      <p:sp>
        <p:nvSpPr>
          <p:cNvPr id="10" name="Forma 12"/>
          <p:cNvSpPr/>
          <p:nvPr/>
        </p:nvSpPr>
        <p:spPr>
          <a:xfrm>
            <a:off x="365760" y="3465576"/>
            <a:ext cx="5486400" cy="603504"/>
          </a:xfrm>
          <a:prstGeom prst="rect">
            <a:avLst/>
          </a:prstGeom>
          <a:solidFill>
            <a:srgbClr val="1E8C3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50" b="1" dirty="0">
                <a:solidFill>
                  <a:srgbClr val="FFFFFF"/>
                </a:solidFill>
                <a:latin typeface="Bahnschrift"/>
                <a:ea typeface="Bahnschrift"/>
                <a:cs typeface="Bahnschrift"/>
                <a:sym typeface="Bahnschrift"/>
              </a:rPr>
              <a:t>CPS1 activa</a:t>
            </a:r>
            <a:endParaRPr lang="es-AR" sz="1450" dirty="0">
              <a:latin typeface="Bahnschrift"/>
            </a:endParaRPr>
          </a:p>
        </p:txBody>
      </p:sp>
      <p:grpSp>
        <p:nvGrpSpPr>
          <p:cNvPr id="11" name="Recuadro Regulación"/>
          <p:cNvGrpSpPr/>
          <p:nvPr/>
        </p:nvGrpSpPr>
        <p:grpSpPr>
          <a:xfrm>
            <a:off x="6126480" y="1005840"/>
            <a:ext cx="5669280" cy="1645920"/>
            <a:chOff x="6126480" y="1005840"/>
            <a:chExt cx="5669280" cy="1645920"/>
          </a:xfrm>
        </p:grpSpPr>
        <p:sp>
          <p:nvSpPr>
            <p:cNvPr id="12" name="Forma 14"/>
            <p:cNvSpPr/>
            <p:nvPr/>
          </p:nvSpPr>
          <p:spPr>
            <a:xfrm>
              <a:off x="6126480" y="1188720"/>
              <a:ext cx="5669280" cy="14630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La arginina favorece la síntesis de </a:t>
              </a:r>
              <a:r>
                <a:rPr lang="es-AR" sz="1600" b="1" dirty="0">
                  <a:solidFill>
                    <a:srgbClr val="1E1E1E"/>
                  </a:solidFill>
                  <a:latin typeface="Bahnschrift"/>
                  <a:ea typeface="Bahnschrift"/>
                  <a:cs typeface="Bahnschrift"/>
                  <a:sym typeface="Bahnschrift"/>
                </a:rPr>
                <a:t>NAG</a:t>
              </a:r>
              <a:r>
                <a:rPr lang="es-AR" sz="1600" dirty="0">
                  <a:solidFill>
                    <a:srgbClr val="1E1E1E"/>
                  </a:solidFill>
                  <a:latin typeface="Bahnschrift"/>
                  <a:ea typeface="Bahnschrift"/>
                  <a:cs typeface="Bahnschrift"/>
                  <a:sym typeface="Bahnschrift"/>
                </a:rPr>
                <a:t> vía </a:t>
              </a:r>
              <a:r>
                <a:rPr lang="es-AR" sz="1600" b="1" dirty="0">
                  <a:solidFill>
                    <a:srgbClr val="1E1E1E"/>
                  </a:solidFill>
                  <a:latin typeface="Bahnschrift"/>
                  <a:ea typeface="Bahnschrift"/>
                  <a:cs typeface="Bahnschrift"/>
                  <a:sym typeface="Bahnschrift"/>
                </a:rPr>
                <a:t>NAGS</a:t>
              </a:r>
              <a:r>
                <a:rPr lang="es-AR" sz="1600" dirty="0">
                  <a:solidFill>
                    <a:srgbClr val="1E1E1E"/>
                  </a:solidFill>
                  <a:latin typeface="Bahnschrift"/>
                  <a:ea typeface="Bahnschrift"/>
                  <a:cs typeface="Bahnschrift"/>
                  <a:sym typeface="Bahnschrift"/>
                </a:rPr>
                <a:t>: acopla la necesidad de eliminar N con la activación de CPS1. En estados proteicos/catabólicos ↑ la </a:t>
              </a:r>
              <a:r>
                <a:rPr lang="es-AR" sz="1600" b="1" dirty="0">
                  <a:solidFill>
                    <a:srgbClr val="1E1E1E"/>
                  </a:solidFill>
                  <a:latin typeface="Bahnschrift"/>
                  <a:ea typeface="Bahnschrift"/>
                  <a:cs typeface="Bahnschrift"/>
                  <a:sym typeface="Bahnschrift"/>
                </a:rPr>
                <a:t>expresión</a:t>
              </a:r>
              <a:r>
                <a:rPr lang="es-AR" sz="1600" dirty="0">
                  <a:solidFill>
                    <a:srgbClr val="1E1E1E"/>
                  </a:solidFill>
                  <a:latin typeface="Bahnschrift"/>
                  <a:ea typeface="Bahnschrift"/>
                  <a:cs typeface="Bahnschrift"/>
                  <a:sym typeface="Bahnschrift"/>
                </a:rPr>
                <a:t> de varias enzimas.</a:t>
              </a:r>
              <a:endParaRPr lang="es-AR" sz="1600" dirty="0">
                <a:latin typeface="Bahnschrift"/>
              </a:endParaRPr>
            </a:p>
          </p:txBody>
        </p:sp>
        <p:sp>
          <p:nvSpPr>
            <p:cNvPr id="13" name="Forma 15"/>
            <p:cNvSpPr/>
            <p:nvPr/>
          </p:nvSpPr>
          <p:spPr>
            <a:xfrm>
              <a:off x="6236208" y="1005840"/>
              <a:ext cx="121839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REGULACIÓN</a:t>
              </a:r>
              <a:endParaRPr lang="es-AR" sz="1450" dirty="0">
                <a:latin typeface="Bahnschrift SemiBold Condensed"/>
              </a:endParaRPr>
            </a:p>
          </p:txBody>
        </p:sp>
      </p:grpSp>
      <p:grpSp>
        <p:nvGrpSpPr>
          <p:cNvPr id="14" name="Recuadro GDH"/>
          <p:cNvGrpSpPr/>
          <p:nvPr/>
        </p:nvGrpSpPr>
        <p:grpSpPr>
          <a:xfrm>
            <a:off x="6126480" y="2788920"/>
            <a:ext cx="5669280" cy="1280160"/>
            <a:chOff x="6126480" y="2788920"/>
            <a:chExt cx="5669280" cy="1280160"/>
          </a:xfrm>
        </p:grpSpPr>
        <p:sp>
          <p:nvSpPr>
            <p:cNvPr id="15" name="Forma 17"/>
            <p:cNvSpPr/>
            <p:nvPr/>
          </p:nvSpPr>
          <p:spPr>
            <a:xfrm>
              <a:off x="6126480" y="2971800"/>
              <a:ext cx="5669280" cy="10972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GDH</a:t>
              </a:r>
              <a:r>
                <a:rPr lang="es-AR" sz="1600" dirty="0">
                  <a:solidFill>
                    <a:srgbClr val="1E1E1E"/>
                  </a:solidFill>
                  <a:latin typeface="Bahnschrift"/>
                  <a:ea typeface="Bahnschrift"/>
                  <a:cs typeface="Bahnschrift"/>
                  <a:sym typeface="Bahnschrift"/>
                </a:rPr>
                <a:t>: desamina glutamato a α-KG + NH</a:t>
              </a:r>
              <a:r>
                <a:rPr lang="es-AR" sz="1600" baseline="-25000" dirty="0">
                  <a:solidFill>
                    <a:srgbClr val="1E1E1E"/>
                  </a:solidFill>
                  <a:latin typeface="Bahnschrift"/>
                  <a:ea typeface="Bahnschrift"/>
                  <a:cs typeface="Bahnschrift"/>
                  <a:sym typeface="Bahnschrift"/>
                </a:rPr>
                <a:t>4</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o lo amina</a:t>
              </a:r>
              <a:r>
                <a:rPr lang="es-AR" sz="1600" dirty="0">
                  <a:solidFill>
                    <a:srgbClr val="1E1E1E"/>
                  </a:solidFill>
                  <a:latin typeface="Bahnschrift"/>
                  <a:ea typeface="Bahnschrift"/>
                  <a:cs typeface="Bahnschrift"/>
                  <a:sym typeface="Bahnschrift"/>
                </a:rPr>
                <a:t> según las condiciones: no es una flecha irreversible.</a:t>
              </a:r>
              <a:endParaRPr lang="es-AR" sz="1600" dirty="0">
                <a:latin typeface="Bahnschrift"/>
              </a:endParaRPr>
            </a:p>
          </p:txBody>
        </p:sp>
        <p:sp>
          <p:nvSpPr>
            <p:cNvPr id="16" name="Forma 18"/>
            <p:cNvSpPr/>
            <p:nvPr/>
          </p:nvSpPr>
          <p:spPr>
            <a:xfrm>
              <a:off x="6236208" y="2788920"/>
              <a:ext cx="61211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GDH</a:t>
              </a:r>
              <a:endParaRPr lang="es-AR" sz="1450" dirty="0">
                <a:latin typeface="Bahnschrift SemiBold Condensed"/>
              </a:endParaRPr>
            </a:p>
          </p:txBody>
        </p:sp>
      </p:grpSp>
      <p:sp>
        <p:nvSpPr>
          <p:cNvPr id="17" name="Perla"/>
          <p:cNvSpPr/>
          <p:nvPr/>
        </p:nvSpPr>
        <p:spPr>
          <a:xfrm>
            <a:off x="365760" y="4251960"/>
            <a:ext cx="5486400" cy="10515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FFFFFF"/>
                </a:solidFill>
                <a:latin typeface="Bahnschrift"/>
                <a:ea typeface="Bahnschrift"/>
                <a:cs typeface="Bahnschrift"/>
                <a:sym typeface="Bahnschrift"/>
              </a:rPr>
              <a:t>Glutaminasa</a:t>
            </a:r>
            <a:r>
              <a:rPr lang="es-AR" sz="1600" dirty="0">
                <a:solidFill>
                  <a:srgbClr val="FFFFFF"/>
                </a:solidFill>
                <a:latin typeface="Bahnschrift"/>
                <a:ea typeface="Bahnschrift"/>
                <a:cs typeface="Bahnschrift"/>
                <a:sym typeface="Bahnschrift"/>
              </a:rPr>
              <a:t>: glutamina → glutamato + NH</a:t>
            </a:r>
            <a:r>
              <a:rPr lang="es-AR" sz="1600" baseline="-25000" dirty="0">
                <a:solidFill>
                  <a:srgbClr val="FFFFFF"/>
                </a:solidFill>
                <a:latin typeface="Bahnschrift"/>
                <a:ea typeface="Bahnschrift"/>
                <a:cs typeface="Bahnschrift"/>
                <a:sym typeface="Bahnschrift"/>
              </a:rPr>
              <a:t>4</a:t>
            </a:r>
            <a:r>
              <a:rPr lang="es-AR" sz="1600" baseline="30000" dirty="0">
                <a:solidFill>
                  <a:srgbClr val="FFFFFF"/>
                </a:solidFill>
                <a:latin typeface="Bahnschrift"/>
                <a:ea typeface="Bahnschrift"/>
                <a:cs typeface="Bahnschrift"/>
                <a:sym typeface="Bahnschrift"/>
              </a:rPr>
              <a:t>+</a:t>
            </a:r>
            <a:r>
              <a:rPr lang="es-AR" sz="1600" dirty="0">
                <a:solidFill>
                  <a:srgbClr val="FFFFFF"/>
                </a:solidFill>
                <a:latin typeface="Bahnschrift"/>
                <a:ea typeface="Bahnschrift"/>
                <a:cs typeface="Bahnschrift"/>
                <a:sym typeface="Bahnschrift"/>
              </a:rPr>
              <a:t>. </a:t>
            </a:r>
            <a:r>
              <a:rPr lang="es-AR" sz="1600" b="1" dirty="0">
                <a:solidFill>
                  <a:srgbClr val="FFFFFF"/>
                </a:solidFill>
                <a:latin typeface="Bahnschrift"/>
                <a:ea typeface="Bahnschrift"/>
                <a:cs typeface="Bahnschrift"/>
                <a:sym typeface="Bahnschrift"/>
              </a:rPr>
              <a:t>GS</a:t>
            </a:r>
            <a:r>
              <a:rPr lang="es-AR" sz="1600" dirty="0">
                <a:solidFill>
                  <a:srgbClr val="FFFFFF"/>
                </a:solidFill>
                <a:latin typeface="Bahnschrift"/>
                <a:ea typeface="Bahnschrift"/>
                <a:cs typeface="Bahnschrift"/>
                <a:sym typeface="Bahnschrift"/>
              </a:rPr>
              <a:t>: dirección contraria y </a:t>
            </a:r>
            <a:r>
              <a:rPr lang="es-AR" sz="1600" b="1" dirty="0">
                <a:solidFill>
                  <a:srgbClr val="FFFFFF"/>
                </a:solidFill>
                <a:latin typeface="Bahnschrift"/>
                <a:ea typeface="Bahnschrift"/>
                <a:cs typeface="Bahnschrift"/>
                <a:sym typeface="Bahnschrift"/>
              </a:rPr>
              <a:t>gasta ATP</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grpSp>
        <p:nvGrpSpPr>
          <p:cNvPr id="18" name="Recuadro Clínica"/>
          <p:cNvGrpSpPr/>
          <p:nvPr/>
        </p:nvGrpSpPr>
        <p:grpSpPr>
          <a:xfrm>
            <a:off x="6126480" y="4251960"/>
            <a:ext cx="5669280" cy="2240280"/>
            <a:chOff x="6126480" y="4251960"/>
            <a:chExt cx="5669280" cy="2240280"/>
          </a:xfrm>
        </p:grpSpPr>
        <p:sp>
          <p:nvSpPr>
            <p:cNvPr id="19" name="Forma 21"/>
            <p:cNvSpPr/>
            <p:nvPr/>
          </p:nvSpPr>
          <p:spPr>
            <a:xfrm>
              <a:off x="6126480" y="4434840"/>
              <a:ext cx="5669280" cy="20574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Si falla la urea, </a:t>
              </a:r>
              <a:r>
                <a:rPr lang="es-AR" sz="1600" b="1" dirty="0">
                  <a:solidFill>
                    <a:srgbClr val="1E1E1E"/>
                  </a:solidFill>
                  <a:latin typeface="Bahnschrift"/>
                  <a:ea typeface="Bahnschrift"/>
                  <a:cs typeface="Bahnschrift"/>
                  <a:sym typeface="Bahnschrift"/>
                </a:rPr>
                <a:t>asciende el amonio</a:t>
              </a:r>
              <a:r>
                <a:rPr lang="es-AR" sz="1600" dirty="0">
                  <a:solidFill>
                    <a:srgbClr val="1E1E1E"/>
                  </a:solidFill>
                  <a:latin typeface="Bahnschrift"/>
                  <a:ea typeface="Bahnschrift"/>
                  <a:cs typeface="Bahnschrift"/>
                  <a:sym typeface="Bahnschrift"/>
                </a:rPr>
                <a:t> (neurotóxico, altera el metabolismo astroglial).</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Déficit de </a:t>
              </a:r>
              <a:r>
                <a:rPr lang="es-AR" sz="1600" b="1" dirty="0">
                  <a:solidFill>
                    <a:srgbClr val="1E1E1E"/>
                  </a:solidFill>
                  <a:latin typeface="Bahnschrift"/>
                  <a:ea typeface="Bahnschrift"/>
                  <a:cs typeface="Bahnschrift"/>
                  <a:sym typeface="Bahnschrift"/>
                </a:rPr>
                <a:t>OTC</a:t>
              </a:r>
              <a:r>
                <a:rPr lang="es-AR" sz="1600" dirty="0">
                  <a:solidFill>
                    <a:srgbClr val="1E1E1E"/>
                  </a:solidFill>
                  <a:latin typeface="Bahnschrift"/>
                  <a:ea typeface="Bahnschrift"/>
                  <a:cs typeface="Bahnschrift"/>
                  <a:sym typeface="Bahnschrift"/>
                </a:rPr>
                <a:t>: el carbamoil-P se desvía a </a:t>
              </a:r>
              <a:r>
                <a:rPr lang="es-AR" sz="1600" b="1" dirty="0">
                  <a:solidFill>
                    <a:srgbClr val="1E1E1E"/>
                  </a:solidFill>
                  <a:latin typeface="Bahnschrift"/>
                  <a:ea typeface="Bahnschrift"/>
                  <a:cs typeface="Bahnschrift"/>
                  <a:sym typeface="Bahnschrift"/>
                </a:rPr>
                <a:t>pirimidinas</a:t>
              </a:r>
              <a:r>
                <a:rPr lang="es-AR" sz="1600" dirty="0">
                  <a:solidFill>
                    <a:srgbClr val="1E1E1E"/>
                  </a:solidFill>
                  <a:latin typeface="Bahnschrift"/>
                  <a:ea typeface="Bahnschrift"/>
                  <a:cs typeface="Bahnschrift"/>
                  <a:sym typeface="Bahnschrift"/>
                </a:rPr>
                <a:t> → ↑ </a:t>
              </a:r>
              <a:r>
                <a:rPr lang="es-AR" sz="1600" b="1" dirty="0">
                  <a:solidFill>
                    <a:srgbClr val="1E1E1E"/>
                  </a:solidFill>
                  <a:latin typeface="Bahnschrift"/>
                  <a:ea typeface="Bahnschrift"/>
                  <a:cs typeface="Bahnschrift"/>
                  <a:sym typeface="Bahnschrift"/>
                </a:rPr>
                <a:t>ácido orótico</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Alcalosis respiratoria</a:t>
              </a:r>
              <a:r>
                <a:rPr lang="es-AR" sz="1600" dirty="0">
                  <a:solidFill>
                    <a:srgbClr val="1E1E1E"/>
                  </a:solidFill>
                  <a:latin typeface="Bahnschrift"/>
                  <a:ea typeface="Bahnschrift"/>
                  <a:cs typeface="Bahnschrift"/>
                  <a:sym typeface="Bahnschrift"/>
                </a:rPr>
                <a:t> temprana y encefalopatía orientan a hiperamonemia grave.</a:t>
              </a:r>
              <a:endParaRPr lang="es-AR" sz="1600" dirty="0">
                <a:latin typeface="Bahnschrift"/>
              </a:endParaRPr>
            </a:p>
          </p:txBody>
        </p:sp>
        <p:sp>
          <p:nvSpPr>
            <p:cNvPr id="20" name="Forma 22"/>
            <p:cNvSpPr/>
            <p:nvPr/>
          </p:nvSpPr>
          <p:spPr>
            <a:xfrm>
              <a:off x="6236208" y="4251960"/>
              <a:ext cx="89372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CLÍNICA</a:t>
              </a:r>
              <a:endParaRPr lang="es-AR" sz="1450" dirty="0">
                <a:latin typeface="Bahnschrift SemiBold Condensed"/>
              </a:endParaRPr>
            </a:p>
          </p:txBody>
        </p:sp>
      </p:grpSp>
      <p:sp>
        <p:nvSpPr>
          <p:cNvPr id="21" name="Forma 23"/>
          <p:cNvSpPr/>
          <p:nvPr/>
        </p:nvSpPr>
        <p:spPr>
          <a:xfrm>
            <a:off x="365760" y="5486400"/>
            <a:ext cx="5486400" cy="1005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 diferencia del amonio, la </a:t>
            </a:r>
            <a:r>
              <a:rPr lang="es-AR" sz="1650" b="1" dirty="0">
                <a:solidFill>
                  <a:srgbClr val="1E1E1E"/>
                </a:solidFill>
                <a:latin typeface="Bahnschrift"/>
                <a:ea typeface="Bahnschrift"/>
                <a:cs typeface="Bahnschrift"/>
                <a:sym typeface="Bahnschrift"/>
              </a:rPr>
              <a:t>urea no es neurotóxica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607157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25 · CONTROL DE LA UREOGÉNESIS Y CLÍNICA</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600"/>
                                        <p:tgtEl>
                                          <p:spTgt spid="7"/>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600"/>
                                        <p:tgtEl>
                                          <p:spTgt spid="9"/>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9" fill="hold">
                      <p:stCondLst>
                        <p:cond delay="indefinite"/>
                      </p:stCondLst>
                      <p:childTnLst>
                        <p:par>
                          <p:cTn id="48"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54" fill="hold">
                      <p:stCondLst>
                        <p:cond delay="indefinite"/>
                      </p:stCondLst>
                      <p:childTnLst>
                        <p:par>
                          <p:cTn id="53"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9" fill="hold">
                      <p:stCondLst>
                        <p:cond delay="indefinite"/>
                      </p:stCondLst>
                      <p:childTnLst>
                        <p:par>
                          <p:cTn id="58"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7" grpId="0" animBg="1"/>
      <p:bldP spid="21" grpId="0" animBg="1"/>
    </p:bldLst>
  </p:timing>
</p:sld>
</file>

<file path=ppt/slides/slide148.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Recuadro Saciedad"/>
          <p:cNvGrpSpPr/>
          <p:nvPr/>
        </p:nvGrpSpPr>
        <p:grpSpPr>
          <a:xfrm>
            <a:off x="365760" y="1005840"/>
            <a:ext cx="5577840" cy="2651760"/>
            <a:chOff x="365760" y="1005840"/>
            <a:chExt cx="5577840" cy="2651760"/>
          </a:xfrm>
        </p:grpSpPr>
        <p:sp>
          <p:nvSpPr>
            <p:cNvPr id="5" name="Forma 4"/>
            <p:cNvSpPr/>
            <p:nvPr/>
          </p:nvSpPr>
          <p:spPr>
            <a:xfrm>
              <a:off x="365760" y="1188720"/>
              <a:ext cx="557784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La ingesta proteica entrega </a:t>
              </a:r>
              <a:r>
                <a:rPr lang="es-AR" sz="1750" b="1" dirty="0">
                  <a:solidFill>
                    <a:srgbClr val="1E1E1E"/>
                  </a:solidFill>
                  <a:latin typeface="Bahnschrift"/>
                  <a:ea typeface="Bahnschrift"/>
                  <a:cs typeface="Bahnschrift"/>
                  <a:sym typeface="Bahnschrift"/>
                </a:rPr>
                <a:t>N que excede</a:t>
              </a:r>
              <a:r>
                <a:rPr lang="es-AR" sz="1750" dirty="0">
                  <a:solidFill>
                    <a:srgbClr val="1E1E1E"/>
                  </a:solidFill>
                  <a:latin typeface="Bahnschrift"/>
                  <a:ea typeface="Bahnschrift"/>
                  <a:cs typeface="Bahnschrift"/>
                  <a:sym typeface="Bahnschrift"/>
                </a:rPr>
                <a:t> los requerimientos anabólicos.</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 transaminación/desaminación → </a:t>
              </a:r>
              <a:r>
                <a:rPr lang="es-AR" sz="1750" b="1" dirty="0">
                  <a:solidFill>
                    <a:srgbClr val="1E1E1E"/>
                  </a:solidFill>
                  <a:latin typeface="Bahnschrift"/>
                  <a:ea typeface="Bahnschrift"/>
                  <a:cs typeface="Bahnschrift"/>
                  <a:sym typeface="Bahnschrift"/>
                </a:rPr>
                <a:t>↑ urea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6" name="Forma 5"/>
            <p:cNvSpPr/>
            <p:nvPr/>
          </p:nvSpPr>
          <p:spPr>
            <a:xfrm>
              <a:off x="475488" y="1005840"/>
              <a:ext cx="1097982"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SACIEDAD</a:t>
              </a:r>
              <a:endParaRPr lang="es-AR" sz="1600" dirty="0">
                <a:latin typeface="Bahnschrift SemiBold Condensed"/>
              </a:endParaRPr>
            </a:p>
          </p:txBody>
        </p:sp>
      </p:grpSp>
      <p:grpSp>
        <p:nvGrpSpPr>
          <p:cNvPr id="7" name="Recuadro Ayuno"/>
          <p:cNvGrpSpPr/>
          <p:nvPr/>
        </p:nvGrpSpPr>
        <p:grpSpPr>
          <a:xfrm>
            <a:off x="6217920" y="1005840"/>
            <a:ext cx="5577840" cy="2651760"/>
            <a:chOff x="6217920" y="1005840"/>
            <a:chExt cx="5577840" cy="2651760"/>
          </a:xfrm>
        </p:grpSpPr>
        <p:sp>
          <p:nvSpPr>
            <p:cNvPr id="8" name="Forma 7"/>
            <p:cNvSpPr/>
            <p:nvPr/>
          </p:nvSpPr>
          <p:spPr>
            <a:xfrm>
              <a:off x="6217920" y="1188720"/>
              <a:ext cx="5577840" cy="24688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Sin aporte dietario, la </a:t>
              </a:r>
              <a:r>
                <a:rPr lang="es-AR" sz="1750" b="1" dirty="0">
                  <a:solidFill>
                    <a:srgbClr val="1E1E1E"/>
                  </a:solidFill>
                  <a:latin typeface="Bahnschrift"/>
                  <a:ea typeface="Bahnschrift"/>
                  <a:cs typeface="Bahnschrift"/>
                  <a:sym typeface="Bahnschrift"/>
                </a:rPr>
                <a:t>proteólisis endógena</a:t>
              </a:r>
              <a:r>
                <a:rPr lang="es-AR" sz="1750" dirty="0">
                  <a:solidFill>
                    <a:srgbClr val="1E1E1E"/>
                  </a:solidFill>
                  <a:latin typeface="Bahnschrift"/>
                  <a:ea typeface="Bahnschrift"/>
                  <a:cs typeface="Bahnschrift"/>
                  <a:sym typeface="Bahnschrift"/>
                </a:rPr>
                <a:t> y el reciclado de AA generan N (sobre todo en la adaptación inicial).</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Luego la </a:t>
              </a:r>
              <a:r>
                <a:rPr lang="es-AR" sz="1750" b="1" dirty="0">
                  <a:solidFill>
                    <a:srgbClr val="1E1E1E"/>
                  </a:solidFill>
                  <a:latin typeface="Bahnschrift"/>
                  <a:ea typeface="Bahnschrift"/>
                  <a:cs typeface="Bahnschrift"/>
                  <a:sym typeface="Bahnschrift"/>
                </a:rPr>
                <a:t>cetosis reduce</a:t>
              </a:r>
              <a:r>
                <a:rPr lang="es-AR" sz="1750" dirty="0">
                  <a:solidFill>
                    <a:srgbClr val="1E1E1E"/>
                  </a:solidFill>
                  <a:latin typeface="Bahnschrift"/>
                  <a:ea typeface="Bahnschrift"/>
                  <a:cs typeface="Bahnschrift"/>
                  <a:sym typeface="Bahnschrift"/>
                </a:rPr>
                <a:t> el catabolismo proteico relativo.</a:t>
              </a:r>
              <a:endParaRPr lang="es-AR" sz="1750" dirty="0">
                <a:latin typeface="Bahnschrift"/>
              </a:endParaRPr>
            </a:p>
          </p:txBody>
        </p:sp>
        <p:sp>
          <p:nvSpPr>
            <p:cNvPr id="9" name="Forma 8"/>
            <p:cNvSpPr/>
            <p:nvPr/>
          </p:nvSpPr>
          <p:spPr>
            <a:xfrm>
              <a:off x="6327648" y="1005840"/>
              <a:ext cx="854250" cy="347472"/>
            </a:xfrm>
            <a:prstGeom prst="rect">
              <a:avLst/>
            </a:prstGeom>
            <a:solidFill>
              <a:srgbClr val="2563B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AYUNO</a:t>
              </a:r>
              <a:endParaRPr lang="es-AR" sz="1600" dirty="0">
                <a:latin typeface="Bahnschrift SemiBold Condensed"/>
              </a:endParaRPr>
            </a:p>
          </p:txBody>
        </p:sp>
      </p:grpSp>
      <p:grpSp>
        <p:nvGrpSpPr>
          <p:cNvPr id="10" name="Recuadro Base común"/>
          <p:cNvGrpSpPr/>
          <p:nvPr/>
        </p:nvGrpSpPr>
        <p:grpSpPr>
          <a:xfrm>
            <a:off x="365760" y="3840480"/>
            <a:ext cx="5577840" cy="2651760"/>
            <a:chOff x="365760" y="3840480"/>
            <a:chExt cx="5577840" cy="2651760"/>
          </a:xfrm>
        </p:grpSpPr>
        <p:sp>
          <p:nvSpPr>
            <p:cNvPr id="11" name="Forma 10"/>
            <p:cNvSpPr/>
            <p:nvPr/>
          </p:nvSpPr>
          <p:spPr>
            <a:xfrm>
              <a:off x="365760" y="4023360"/>
              <a:ext cx="5577840" cy="24688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Siempre se degradan proteínas: </a:t>
              </a:r>
              <a:r>
                <a:rPr lang="es-AR" sz="1700" b="1" dirty="0">
                  <a:solidFill>
                    <a:srgbClr val="1E1E1E"/>
                  </a:solidFill>
                  <a:latin typeface="Bahnschrift"/>
                  <a:ea typeface="Bahnschrift"/>
                  <a:cs typeface="Bahnschrift"/>
                  <a:sym typeface="Bahnschrift"/>
                </a:rPr>
                <a:t>recambio</a:t>
              </a:r>
              <a:r>
                <a:rPr lang="es-AR" sz="1700" dirty="0">
                  <a:solidFill>
                    <a:srgbClr val="1E1E1E"/>
                  </a:solidFill>
                  <a:latin typeface="Bahnschrift"/>
                  <a:ea typeface="Bahnschrift"/>
                  <a:cs typeface="Bahnschrift"/>
                  <a:sym typeface="Bahnschrift"/>
                </a:rPr>
                <a:t>, mantenimiento intestinal y tisular, neurotransmisores. </a:t>
              </a:r>
              <a:r>
                <a:rPr lang="es-AR" sz="1700" b="1" dirty="0">
                  <a:solidFill>
                    <a:srgbClr val="1E1E1E"/>
                  </a:solidFill>
                  <a:latin typeface="Bahnschrift"/>
                  <a:ea typeface="Bahnschrift"/>
                  <a:cs typeface="Bahnschrift"/>
                  <a:sym typeface="Bahnschrift"/>
                </a:rPr>
                <a:t>No existe depósito</a:t>
              </a:r>
              <a:r>
                <a:rPr lang="es-AR" sz="1700" dirty="0">
                  <a:solidFill>
                    <a:srgbClr val="1E1E1E"/>
                  </a:solidFill>
                  <a:latin typeface="Bahnschrift"/>
                  <a:ea typeface="Bahnschrift"/>
                  <a:cs typeface="Bahnschrift"/>
                  <a:sym typeface="Bahnschrift"/>
                </a:rPr>
                <a:t> de AA. La urea es una vía </a:t>
              </a:r>
              <a:r>
                <a:rPr lang="es-AR" sz="1700" b="1" dirty="0">
                  <a:solidFill>
                    <a:srgbClr val="1E1E1E"/>
                  </a:solidFill>
                  <a:latin typeface="Bahnschrift"/>
                  <a:ea typeface="Bahnschrift"/>
                  <a:cs typeface="Bahnschrift"/>
                  <a:sym typeface="Bahnschrift"/>
                </a:rPr>
                <a:t>segura de excreción</a:t>
              </a:r>
              <a:r>
                <a:rPr lang="es-AR" sz="1700" dirty="0">
                  <a:solidFill>
                    <a:srgbClr val="1E1E1E"/>
                  </a:solidFill>
                  <a:latin typeface="Bahnschrift"/>
                  <a:ea typeface="Bahnschrift"/>
                  <a:cs typeface="Bahnschrift"/>
                  <a:sym typeface="Bahnschrift"/>
                </a:rPr>
                <a:t>, no de ATP.</a:t>
              </a:r>
              <a:endParaRPr lang="es-AR" sz="1700" dirty="0">
                <a:latin typeface="Bahnschrift"/>
              </a:endParaRPr>
            </a:p>
          </p:txBody>
        </p:sp>
        <p:sp>
          <p:nvSpPr>
            <p:cNvPr id="12" name="Forma 11"/>
            <p:cNvSpPr/>
            <p:nvPr/>
          </p:nvSpPr>
          <p:spPr>
            <a:xfrm>
              <a:off x="475488" y="3840480"/>
              <a:ext cx="128544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BASE COMÚN</a:t>
              </a:r>
              <a:endParaRPr lang="es-AR" sz="1550" dirty="0">
                <a:latin typeface="Bahnschrift SemiBold Condensed"/>
              </a:endParaRPr>
            </a:p>
          </p:txBody>
        </p:sp>
      </p:grpSp>
      <p:sp>
        <p:nvSpPr>
          <p:cNvPr id="13" name="Perla"/>
          <p:cNvSpPr/>
          <p:nvPr/>
        </p:nvSpPr>
        <p:spPr>
          <a:xfrm>
            <a:off x="6217920" y="3840480"/>
            <a:ext cx="5577840" cy="265176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b="1" dirty="0">
                <a:solidFill>
                  <a:srgbClr val="FFFFFF"/>
                </a:solidFill>
                <a:latin typeface="Bahnschrift"/>
                <a:ea typeface="Bahnschrift"/>
                <a:cs typeface="Bahnschrift"/>
                <a:sym typeface="Bahnschrift"/>
              </a:rPr>
              <a:t>Urea plasmática ≠ velocidad de producción</a:t>
            </a:r>
            <a:r>
              <a:rPr lang="es-AR" sz="1700" dirty="0">
                <a:solidFill>
                  <a:srgbClr val="FFFFFF"/>
                </a:solidFill>
                <a:latin typeface="Bahnschrift"/>
                <a:ea typeface="Bahnschrift"/>
                <a:cs typeface="Bahnschrift"/>
                <a:sym typeface="Bahnschrift"/>
              </a:rPr>
              <a:t>: cambia con función renal, hidratación (ADH) y </a:t>
            </a:r>
            <a:r>
              <a:rPr lang="es-AR" sz="1700" b="1" dirty="0">
                <a:solidFill>
                  <a:srgbClr val="FFFFFF"/>
                </a:solidFill>
                <a:latin typeface="Bahnschrift"/>
                <a:ea typeface="Bahnschrift"/>
                <a:cs typeface="Bahnschrift"/>
                <a:sym typeface="Bahnschrift"/>
              </a:rPr>
              <a:t>hemorragia digestiva</a:t>
            </a:r>
            <a:r>
              <a:rPr lang="es-AR" sz="1700" dirty="0">
                <a:solidFill>
                  <a:srgbClr val="FFFFFF"/>
                </a:solidFill>
                <a:latin typeface="Bahnschrift"/>
                <a:ea typeface="Bahnschrift"/>
                <a:cs typeface="Bahnschrift"/>
                <a:sym typeface="Bahnschrift"/>
              </a:rPr>
              <a:t>. No equiparar urea alta con dieta proteica.</a:t>
            </a:r>
            <a:endParaRPr lang="es-AR" sz="170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03248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26 · ¿POR QUÉ HAY UREOGÉNESIS EN SACIEDAD Y EN AYUNO?</a:t>
            </a:r>
            <a:endParaRPr lang="es-AR" sz="26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49.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Riñón agua"/>
          <p:cNvGrpSpPr/>
          <p:nvPr/>
        </p:nvGrpSpPr>
        <p:grpSpPr>
          <a:xfrm>
            <a:off x="457200" y="1051560"/>
            <a:ext cx="1280160" cy="1792224"/>
            <a:chOff x="457200" y="1051560"/>
            <a:chExt cx="1280160" cy="1792224"/>
          </a:xfrm>
        </p:grpSpPr>
        <p:sp>
          <p:nvSpPr>
            <p:cNvPr id="5" name="Forma 4"/>
            <p:cNvSpPr/>
            <p:nvPr/>
          </p:nvSpPr>
          <p:spPr>
            <a:xfrm>
              <a:off x="457200" y="1051560"/>
              <a:ext cx="1280160" cy="1792224"/>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6" name="Forma 5"/>
            <p:cNvSpPr/>
            <p:nvPr/>
          </p:nvSpPr>
          <p:spPr>
            <a:xfrm>
              <a:off x="457200" y="1051560"/>
              <a:ext cx="1280160" cy="1792224"/>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 name="Forma 6"/>
            <p:cNvSpPr/>
            <p:nvPr/>
          </p:nvSpPr>
          <p:spPr>
            <a:xfrm>
              <a:off x="457200" y="1051560"/>
              <a:ext cx="1280160" cy="1792224"/>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 name="Forma 7"/>
            <p:cNvSpPr/>
            <p:nvPr/>
          </p:nvSpPr>
          <p:spPr>
            <a:xfrm>
              <a:off x="457200" y="1051560"/>
              <a:ext cx="1280160" cy="1792224"/>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9" name="Fórmula volumen"/>
          <p:cNvSpPr/>
          <p:nvPr/>
        </p:nvSpPr>
        <p:spPr>
          <a:xfrm>
            <a:off x="2194560" y="1097280"/>
            <a:ext cx="9601200" cy="1188720"/>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900" dirty="0">
                <a:solidFill>
                  <a:srgbClr val="1E1E1E"/>
                </a:solidFill>
                <a:latin typeface="Bahnschrift SemiBold Condensed"/>
                <a:ea typeface="Bahnschrift SemiBold Condensed"/>
                <a:cs typeface="Bahnschrift SemiBold Condensed"/>
                <a:sym typeface="Bahnschrift SemiBold Condensed"/>
              </a:rPr>
              <a:t>Volumen urinario mínimo ≈ </a:t>
            </a:r>
            <a:r>
              <a:rPr lang="es-AR" sz="1900" b="1" dirty="0">
                <a:solidFill>
                  <a:srgbClr val="1E1E1E"/>
                </a:solidFill>
                <a:latin typeface="Bahnschrift SemiBold Condensed"/>
                <a:ea typeface="Bahnschrift SemiBold Condensed"/>
                <a:cs typeface="Bahnschrift SemiBold Condensed"/>
                <a:sym typeface="Bahnschrift SemiBold Condensed"/>
              </a:rPr>
              <a:t>osmoles a excretar</a:t>
            </a:r>
            <a:r>
              <a:rPr lang="es-AR" sz="1900" dirty="0">
                <a:solidFill>
                  <a:srgbClr val="1E1E1E"/>
                </a:solidFill>
                <a:latin typeface="Bahnschrift SemiBold Condensed"/>
                <a:ea typeface="Bahnschrift SemiBold Condensed"/>
                <a:cs typeface="Bahnschrift SemiBold Condensed"/>
                <a:sym typeface="Bahnschrift SemiBold Condensed"/>
              </a:rPr>
              <a:t> / </a:t>
            </a:r>
            <a:r>
              <a:rPr lang="es-AR" sz="1900" b="1" dirty="0">
                <a:solidFill>
                  <a:srgbClr val="1E1E1E"/>
                </a:solidFill>
                <a:latin typeface="Bahnschrift SemiBold Condensed"/>
                <a:ea typeface="Bahnschrift SemiBold Condensed"/>
                <a:cs typeface="Bahnschrift SemiBold Condensed"/>
                <a:sym typeface="Bahnschrift SemiBold Condensed"/>
              </a:rPr>
              <a:t>osmolalidad urinaria máxima</a:t>
            </a:r>
            <a:endParaRPr lang="es-AR" sz="1900" dirty="0">
              <a:latin typeface="Bahnschrift SemiBold Condensed"/>
            </a:endParaRPr>
          </a:p>
        </p:txBody>
      </p:sp>
      <p:sp>
        <p:nvSpPr>
          <p:cNvPr id="10" name="Ejemplo"/>
          <p:cNvSpPr/>
          <p:nvPr/>
        </p:nvSpPr>
        <p:spPr>
          <a:xfrm>
            <a:off x="2194560" y="2514600"/>
            <a:ext cx="9601200" cy="1005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500" dirty="0">
                <a:solidFill>
                  <a:srgbClr val="1E1E1E"/>
                </a:solidFill>
                <a:latin typeface="Bahnschrift"/>
                <a:ea typeface="Bahnschrift"/>
                <a:cs typeface="Bahnschrift"/>
                <a:sym typeface="Bahnschrift"/>
              </a:rPr>
              <a:t>Ejemplo teórico: 900 mOsm/d ÷ 1200 mOsm/kg ≈ </a:t>
            </a:r>
            <a:r>
              <a:rPr lang="es-AR" sz="1500" b="1" dirty="0">
                <a:solidFill>
                  <a:srgbClr val="1E1E1E"/>
                </a:solidFill>
                <a:latin typeface="Bahnschrift"/>
                <a:ea typeface="Bahnschrift"/>
                <a:cs typeface="Bahnschrift"/>
                <a:sym typeface="Bahnschrift"/>
              </a:rPr>
              <a:t>0,75 L/d</a:t>
            </a:r>
            <a:r>
              <a:rPr lang="es-AR" sz="1500" dirty="0">
                <a:solidFill>
                  <a:srgbClr val="1E1E1E"/>
                </a:solidFill>
                <a:latin typeface="Bahnschrift"/>
                <a:ea typeface="Bahnschrift"/>
                <a:cs typeface="Bahnschrift"/>
                <a:sym typeface="Bahnschrift"/>
              </a:rPr>
              <a:t> como mínimo. Con menor capacidad de concentración el volumen necesario </a:t>
            </a:r>
            <a:r>
              <a:rPr lang="es-AR" sz="1500" b="1" dirty="0">
                <a:solidFill>
                  <a:srgbClr val="1E1E1E"/>
                </a:solidFill>
                <a:latin typeface="Bahnschrift"/>
                <a:ea typeface="Bahnschrift"/>
                <a:cs typeface="Bahnschrift"/>
                <a:sym typeface="Bahnschrift"/>
              </a:rPr>
              <a:t>aumenta</a:t>
            </a:r>
            <a:r>
              <a:rPr lang="es-AR" sz="1500" dirty="0">
                <a:solidFill>
                  <a:srgbClr val="1E1E1E"/>
                </a:solidFill>
                <a:latin typeface="Bahnschrift"/>
                <a:ea typeface="Bahnschrift"/>
                <a:cs typeface="Bahnschrift"/>
                <a:sym typeface="Bahnschrift"/>
              </a:rPr>
              <a:t>.</a:t>
            </a:r>
            <a:endParaRPr lang="es-AR" sz="1500" dirty="0">
              <a:latin typeface="Bahnschrift"/>
            </a:endParaRPr>
          </a:p>
        </p:txBody>
      </p:sp>
      <p:grpSp>
        <p:nvGrpSpPr>
          <p:cNvPr id="11" name="Recuadro Fundamento renal"/>
          <p:cNvGrpSpPr/>
          <p:nvPr/>
        </p:nvGrpSpPr>
        <p:grpSpPr>
          <a:xfrm>
            <a:off x="365760" y="3749040"/>
            <a:ext cx="5577840" cy="2743200"/>
            <a:chOff x="365760" y="3749040"/>
            <a:chExt cx="5577840" cy="2743200"/>
          </a:xfrm>
        </p:grpSpPr>
        <p:sp>
          <p:nvSpPr>
            <p:cNvPr id="12" name="Forma 11"/>
            <p:cNvSpPr/>
            <p:nvPr/>
          </p:nvSpPr>
          <p:spPr>
            <a:xfrm>
              <a:off x="365760" y="3931920"/>
              <a:ext cx="5577840" cy="25603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Más proteína que excede la síntesis → ↑ </a:t>
              </a:r>
              <a:r>
                <a:rPr lang="es-AR" sz="1650" b="1" dirty="0">
                  <a:solidFill>
                    <a:srgbClr val="1E1E1E"/>
                  </a:solidFill>
                  <a:latin typeface="Bahnschrift"/>
                  <a:ea typeface="Bahnschrift"/>
                  <a:cs typeface="Bahnschrift"/>
                  <a:sym typeface="Bahnschrift"/>
                </a:rPr>
                <a:t>urea</a:t>
              </a:r>
              <a:r>
                <a:rPr lang="es-AR" sz="1650" dirty="0">
                  <a:solidFill>
                    <a:srgbClr val="1E1E1E"/>
                  </a:solidFill>
                  <a:latin typeface="Bahnschrift"/>
                  <a:ea typeface="Bahnschrift"/>
                  <a:cs typeface="Bahnschrift"/>
                  <a:sym typeface="Bahnschrift"/>
                </a:rPr>
                <a:t> y otros solutos: mayor </a:t>
              </a:r>
              <a:r>
                <a:rPr lang="es-AR" sz="1650" b="1" dirty="0">
                  <a:solidFill>
                    <a:srgbClr val="1E1E1E"/>
                  </a:solidFill>
                  <a:latin typeface="Bahnschrift"/>
                  <a:ea typeface="Bahnschrift"/>
                  <a:cs typeface="Bahnschrift"/>
                  <a:sym typeface="Bahnschrift"/>
                </a:rPr>
                <a:t>carga osmótica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Hidratación suficiente ayuda a excretarla (ejercicio, calor).</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No</a:t>
              </a:r>
              <a:r>
                <a:rPr lang="es-AR" sz="1650" dirty="0">
                  <a:solidFill>
                    <a:srgbClr val="1E1E1E"/>
                  </a:solidFill>
                  <a:latin typeface="Bahnschrift"/>
                  <a:ea typeface="Bahnschrift"/>
                  <a:cs typeface="Bahnschrift"/>
                  <a:sym typeface="Bahnschrift"/>
                </a:rPr>
                <a:t> implica beber litros excesivos ni que el agua «neutralice» una insuficiencia renal.</a:t>
              </a:r>
              <a:endParaRPr lang="es-AR" sz="1650" dirty="0">
                <a:latin typeface="Bahnschrift"/>
              </a:endParaRPr>
            </a:p>
          </p:txBody>
        </p:sp>
        <p:sp>
          <p:nvSpPr>
            <p:cNvPr id="13" name="Forma 12"/>
            <p:cNvSpPr/>
            <p:nvPr/>
          </p:nvSpPr>
          <p:spPr>
            <a:xfrm>
              <a:off x="475488" y="3749040"/>
              <a:ext cx="1848583"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FUNDAMENTO RENAL</a:t>
              </a:r>
              <a:endParaRPr lang="es-AR" sz="1500" dirty="0">
                <a:latin typeface="Bahnschrift SemiBold Condensed"/>
              </a:endParaRPr>
            </a:p>
          </p:txBody>
        </p:sp>
      </p:grpSp>
      <p:grpSp>
        <p:nvGrpSpPr>
          <p:cNvPr id="14" name="Recuadro Ácido–base"/>
          <p:cNvGrpSpPr/>
          <p:nvPr/>
        </p:nvGrpSpPr>
        <p:grpSpPr>
          <a:xfrm>
            <a:off x="6217920" y="3749040"/>
            <a:ext cx="5577840" cy="1463040"/>
            <a:chOff x="6217920" y="3749040"/>
            <a:chExt cx="5577840" cy="1463040"/>
          </a:xfrm>
        </p:grpSpPr>
        <p:sp>
          <p:nvSpPr>
            <p:cNvPr id="15" name="Forma 14"/>
            <p:cNvSpPr/>
            <p:nvPr/>
          </p:nvSpPr>
          <p:spPr>
            <a:xfrm>
              <a:off x="6217920" y="3931920"/>
              <a:ext cx="5577840" cy="1280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Proteínas animales ricas en AA </a:t>
              </a:r>
              <a:r>
                <a:rPr lang="es-AR" sz="1650" b="1" dirty="0">
                  <a:solidFill>
                    <a:srgbClr val="1E1E1E"/>
                  </a:solidFill>
                  <a:latin typeface="Bahnschrift"/>
                  <a:ea typeface="Bahnschrift"/>
                  <a:cs typeface="Bahnschrift"/>
                  <a:sym typeface="Bahnschrift"/>
                </a:rPr>
                <a:t>azufrados</a:t>
              </a:r>
              <a:r>
                <a:rPr lang="es-AR" sz="1650" dirty="0">
                  <a:solidFill>
                    <a:srgbClr val="1E1E1E"/>
                  </a:solidFill>
                  <a:latin typeface="Bahnschrift"/>
                  <a:ea typeface="Bahnschrift"/>
                  <a:cs typeface="Bahnschrift"/>
                  <a:sym typeface="Bahnschrift"/>
                </a:rPr>
                <a:t> ↑ ácidos fijos y la </a:t>
              </a:r>
              <a:r>
                <a:rPr lang="es-AR" sz="1650" b="1" dirty="0">
                  <a:solidFill>
                    <a:srgbClr val="1E1E1E"/>
                  </a:solidFill>
                  <a:latin typeface="Bahnschrift"/>
                  <a:ea typeface="Bahnschrift"/>
                  <a:cs typeface="Bahnschrift"/>
                  <a:sym typeface="Bahnschrift"/>
                </a:rPr>
                <a:t>carga ácida</a:t>
              </a:r>
              <a:r>
                <a:rPr lang="es-AR" sz="1650" dirty="0">
                  <a:solidFill>
                    <a:srgbClr val="1E1E1E"/>
                  </a:solidFill>
                  <a:latin typeface="Bahnschrift"/>
                  <a:ea typeface="Bahnschrift"/>
                  <a:cs typeface="Bahnschrift"/>
                  <a:sym typeface="Bahnschrift"/>
                </a:rPr>
                <a:t> renal.</a:t>
              </a:r>
              <a:endParaRPr lang="es-AR" sz="1650" dirty="0">
                <a:latin typeface="Bahnschrift"/>
              </a:endParaRPr>
            </a:p>
          </p:txBody>
        </p:sp>
        <p:sp>
          <p:nvSpPr>
            <p:cNvPr id="16" name="Forma 15"/>
            <p:cNvSpPr/>
            <p:nvPr/>
          </p:nvSpPr>
          <p:spPr>
            <a:xfrm>
              <a:off x="6327648" y="3749040"/>
              <a:ext cx="121951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ÁCIDO–BASE</a:t>
              </a:r>
              <a:endParaRPr lang="es-AR" sz="1500" dirty="0">
                <a:latin typeface="Bahnschrift SemiBold Condensed"/>
              </a:endParaRPr>
            </a:p>
          </p:txBody>
        </p:sp>
      </p:grpSp>
      <p:sp>
        <p:nvSpPr>
          <p:cNvPr id="17" name="Forma 16"/>
          <p:cNvSpPr/>
          <p:nvPr/>
        </p:nvSpPr>
        <p:spPr>
          <a:xfrm>
            <a:off x="6217920" y="5349240"/>
            <a:ext cx="5577840" cy="1143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No intercambiar: urea sérica · excreción de urea · volumen urinario · osmoles · </a:t>
            </a:r>
            <a:r>
              <a:rPr lang="es-AR" sz="1600" b="1" dirty="0">
                <a:solidFill>
                  <a:srgbClr val="1E1E1E"/>
                </a:solidFill>
                <a:latin typeface="Bahnschrift"/>
                <a:ea typeface="Bahnschrift"/>
                <a:cs typeface="Bahnschrift"/>
                <a:sym typeface="Bahnschrift"/>
              </a:rPr>
              <a:t>TFG</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663819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27 · DIETA HIPERPROTEICA Y NECESIDAD DE AGUA</a:t>
            </a:r>
            <a:endParaRPr lang="es-AR" sz="2600" dirty="0">
              <a:latin typeface="Bahnschrift SemiBold Condensed"/>
            </a:endParaRPr>
          </a:p>
        </p:txBody>
      </p:sp>
      <p:sp>
        <p:nvSpPr>
          <p:cNvPr id="1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149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7" grpId="0" animBg="1"/>
    </p:bldLst>
  </p:timing>
</p:sld>
</file>

<file path=ppt/slides/slide150.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aphicFrame>
        <p:nvGraphicFramePr>
          <p:cNvPr id="4" name="Curva tres fases"/>
          <p:cNvGraphicFramePr>
            <a:graphicFrameLocks noGrp="1"/>
          </p:cNvGraphicFramePr>
          <p:nvPr/>
        </p:nvGraphicFramePr>
        <p:xfrm>
          <a:off x="365760" y="1005840"/>
          <a:ext cx="6949440" cy="5486400"/>
        </p:xfrm>
        <a:graphic>
          <a:graphicData uri="http://schemas.openxmlformats.org/drawingml/2006/chart">
            <c:chart xmlns:c="http://schemas.openxmlformats.org/drawingml/2006/chart" r:id="rId2"/>
          </a:graphicData>
        </a:graphic>
      </p:graphicFrame>
      <p:grpSp>
        <p:nvGrpSpPr>
          <p:cNvPr id="5" name="Recuadro Inicio"/>
          <p:cNvGrpSpPr/>
          <p:nvPr/>
        </p:nvGrpSpPr>
        <p:grpSpPr>
          <a:xfrm>
            <a:off x="7589520" y="1005840"/>
            <a:ext cx="4206240" cy="1691640"/>
            <a:chOff x="7589520" y="1005840"/>
            <a:chExt cx="4206240" cy="1691640"/>
          </a:xfrm>
        </p:grpSpPr>
        <p:sp>
          <p:nvSpPr>
            <p:cNvPr id="6" name="Forma 4"/>
            <p:cNvSpPr/>
            <p:nvPr/>
          </p:nvSpPr>
          <p:spPr>
            <a:xfrm>
              <a:off x="7589520" y="1188720"/>
              <a:ext cx="4206240" cy="1508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Fase 1</a:t>
              </a:r>
              <a:r>
                <a:rPr lang="es-AR" sz="1650" dirty="0">
                  <a:solidFill>
                    <a:srgbClr val="1E1E1E"/>
                  </a:solidFill>
                  <a:latin typeface="Bahnschrift"/>
                  <a:ea typeface="Bahnschrift"/>
                  <a:cs typeface="Bahnschrift"/>
                  <a:sym typeface="Bahnschrift"/>
                </a:rPr>
                <a:t>: proteólisis para GNG → </a:t>
              </a:r>
              <a:r>
                <a:rPr lang="es-AR" sz="1650" b="1" dirty="0">
                  <a:solidFill>
                    <a:srgbClr val="1E1E1E"/>
                  </a:solidFill>
                  <a:latin typeface="Bahnschrift"/>
                  <a:ea typeface="Bahnschrift"/>
                  <a:cs typeface="Bahnschrift"/>
                  <a:sym typeface="Bahnschrift"/>
                </a:rPr>
                <a:t>↑ urea</a:t>
              </a:r>
              <a:r>
                <a:rPr lang="es-AR" sz="1650" dirty="0">
                  <a:solidFill>
                    <a:srgbClr val="1E1E1E"/>
                  </a:solidFill>
                  <a:latin typeface="Bahnschrift"/>
                  <a:ea typeface="Bahnschrift"/>
                  <a:cs typeface="Bahnschrift"/>
                  <a:sym typeface="Bahnschrift"/>
                </a:rPr>
                <a:t> e inducción de enzimas ureogénicas.</a:t>
              </a:r>
              <a:endParaRPr lang="es-AR" sz="1650" dirty="0">
                <a:latin typeface="Bahnschrift"/>
              </a:endParaRPr>
            </a:p>
          </p:txBody>
        </p:sp>
        <p:sp>
          <p:nvSpPr>
            <p:cNvPr id="7" name="Forma 5"/>
            <p:cNvSpPr/>
            <p:nvPr/>
          </p:nvSpPr>
          <p:spPr>
            <a:xfrm>
              <a:off x="7699248" y="1005840"/>
              <a:ext cx="77271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INICIO</a:t>
              </a:r>
              <a:endParaRPr lang="es-AR" sz="1500" dirty="0">
                <a:latin typeface="Bahnschrift SemiBold Condensed"/>
              </a:endParaRPr>
            </a:p>
          </p:txBody>
        </p:sp>
      </p:grpSp>
      <p:grpSp>
        <p:nvGrpSpPr>
          <p:cNvPr id="8" name="Recuadro Adaptación"/>
          <p:cNvGrpSpPr/>
          <p:nvPr/>
        </p:nvGrpSpPr>
        <p:grpSpPr>
          <a:xfrm>
            <a:off x="7589520" y="2834640"/>
            <a:ext cx="4206240" cy="1691640"/>
            <a:chOff x="7589520" y="2834640"/>
            <a:chExt cx="4206240" cy="1691640"/>
          </a:xfrm>
        </p:grpSpPr>
        <p:sp>
          <p:nvSpPr>
            <p:cNvPr id="9" name="Forma 7"/>
            <p:cNvSpPr/>
            <p:nvPr/>
          </p:nvSpPr>
          <p:spPr>
            <a:xfrm>
              <a:off x="7589520" y="3017520"/>
              <a:ext cx="4206240" cy="1508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Fase 2</a:t>
              </a:r>
              <a:r>
                <a:rPr lang="es-AR" sz="1650" dirty="0">
                  <a:solidFill>
                    <a:srgbClr val="1E1E1E"/>
                  </a:solidFill>
                  <a:latin typeface="Bahnschrift"/>
                  <a:ea typeface="Bahnschrift"/>
                  <a:cs typeface="Bahnschrift"/>
                  <a:sym typeface="Bahnschrift"/>
                </a:rPr>
                <a:t>: adaptación cetónica → </a:t>
              </a:r>
              <a:r>
                <a:rPr lang="es-AR" sz="1650" b="1" dirty="0">
                  <a:solidFill>
                    <a:srgbClr val="1E1E1E"/>
                  </a:solidFill>
                  <a:latin typeface="Bahnschrift"/>
                  <a:ea typeface="Bahnschrift"/>
                  <a:cs typeface="Bahnschrift"/>
                  <a:sym typeface="Bahnschrift"/>
                </a:rPr>
                <a:t>ahorro nitrogenado</a:t>
              </a:r>
              <a:r>
                <a:rPr lang="es-AR" sz="1650" dirty="0">
                  <a:solidFill>
                    <a:srgbClr val="1E1E1E"/>
                  </a:solidFill>
                  <a:latin typeface="Bahnschrift"/>
                  <a:ea typeface="Bahnschrift"/>
                  <a:cs typeface="Bahnschrift"/>
                  <a:sym typeface="Bahnschrift"/>
                </a:rPr>
                <a:t>, ↓ excreción de urea.</a:t>
              </a:r>
              <a:endParaRPr lang="es-AR" sz="1650" dirty="0">
                <a:latin typeface="Bahnschrift"/>
              </a:endParaRPr>
            </a:p>
          </p:txBody>
        </p:sp>
        <p:sp>
          <p:nvSpPr>
            <p:cNvPr id="10" name="Forma 8"/>
            <p:cNvSpPr/>
            <p:nvPr/>
          </p:nvSpPr>
          <p:spPr>
            <a:xfrm>
              <a:off x="7699248" y="2834640"/>
              <a:ext cx="125988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ADAPTACIÓN</a:t>
              </a:r>
              <a:endParaRPr lang="es-AR" sz="1500" dirty="0">
                <a:latin typeface="Bahnschrift SemiBold Condensed"/>
              </a:endParaRPr>
            </a:p>
          </p:txBody>
        </p:sp>
      </p:grpSp>
      <p:grpSp>
        <p:nvGrpSpPr>
          <p:cNvPr id="11" name="Recuadro Terminal"/>
          <p:cNvGrpSpPr/>
          <p:nvPr/>
        </p:nvGrpSpPr>
        <p:grpSpPr>
          <a:xfrm>
            <a:off x="7589520" y="4663440"/>
            <a:ext cx="4206240" cy="1828800"/>
            <a:chOff x="7589520" y="4663440"/>
            <a:chExt cx="4206240" cy="1828800"/>
          </a:xfrm>
        </p:grpSpPr>
        <p:sp>
          <p:nvSpPr>
            <p:cNvPr id="12" name="Forma 10"/>
            <p:cNvSpPr/>
            <p:nvPr/>
          </p:nvSpPr>
          <p:spPr>
            <a:xfrm>
              <a:off x="7589520" y="4846320"/>
              <a:ext cx="4206240" cy="164592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FFFFFF"/>
                  </a:solidFill>
                  <a:latin typeface="Bahnschrift"/>
                  <a:ea typeface="Bahnschrift"/>
                  <a:cs typeface="Bahnschrift"/>
                  <a:sym typeface="Bahnschrift"/>
                </a:rPr>
                <a:t>Fase 3</a:t>
              </a:r>
              <a:r>
                <a:rPr lang="es-AR" sz="1650" dirty="0">
                  <a:solidFill>
                    <a:srgbClr val="FFFFFF"/>
                  </a:solidFill>
                  <a:latin typeface="Bahnschrift"/>
                  <a:ea typeface="Bahnschrift"/>
                  <a:cs typeface="Bahnschrift"/>
                  <a:sym typeface="Bahnschrift"/>
                </a:rPr>
                <a:t>: si se </a:t>
              </a:r>
              <a:r>
                <a:rPr lang="es-AR" sz="1650" b="1" dirty="0">
                  <a:solidFill>
                    <a:srgbClr val="FFFFFF"/>
                  </a:solidFill>
                  <a:latin typeface="Bahnschrift"/>
                  <a:ea typeface="Bahnschrift"/>
                  <a:cs typeface="Bahnschrift"/>
                  <a:sym typeface="Bahnschrift"/>
                </a:rPr>
                <a:t>agota la grasa</a:t>
              </a:r>
              <a:r>
                <a:rPr lang="es-AR" sz="1650" dirty="0">
                  <a:solidFill>
                    <a:srgbClr val="FFFFFF"/>
                  </a:solidFill>
                  <a:latin typeface="Bahnschrift"/>
                  <a:ea typeface="Bahnschrift"/>
                  <a:cs typeface="Bahnschrift"/>
                  <a:sym typeface="Bahnschrift"/>
                </a:rPr>
                <a:t>, fracasa el ahorro proteico y vuelve a intensificarse la proteólisis.</a:t>
              </a:r>
              <a:endParaRPr lang="es-AR" sz="1650" dirty="0">
                <a:latin typeface="Bahnschrift"/>
              </a:endParaRPr>
            </a:p>
          </p:txBody>
        </p:sp>
        <p:sp>
          <p:nvSpPr>
            <p:cNvPr id="13" name="Forma 11"/>
            <p:cNvSpPr/>
            <p:nvPr/>
          </p:nvSpPr>
          <p:spPr>
            <a:xfrm>
              <a:off x="7699248" y="4663440"/>
              <a:ext cx="107666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TERMINAL</a:t>
              </a:r>
              <a:endParaRPr lang="es-AR" sz="1500" dirty="0">
                <a:latin typeface="Bahnschrift SemiBold Condensed"/>
              </a:endParaRPr>
            </a:p>
          </p:txBody>
        </p:sp>
      </p:gr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20901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100" b="1" dirty="0">
                <a:solidFill>
                  <a:srgbClr val="1E1E1E"/>
                </a:solidFill>
                <a:latin typeface="Bahnschrift SemiBold Condensed"/>
                <a:ea typeface="Bahnschrift SemiBold Condensed"/>
                <a:cs typeface="Bahnschrift SemiBold Condensed"/>
                <a:sym typeface="Bahnschrift SemiBold Condensed"/>
              </a:rPr>
              <a:t>28 · INANICIÓN Y CICLO DE LA UREA: UNA AFIRMACIÓN CON MATIZ TEMPORAL</a:t>
            </a:r>
            <a:endParaRPr lang="es-AR" sz="21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Tile HEPATOCITO"/>
          <p:cNvGrpSpPr/>
          <p:nvPr/>
        </p:nvGrpSpPr>
        <p:grpSpPr>
          <a:xfrm>
            <a:off x="365760" y="1005840"/>
            <a:ext cx="3749040" cy="2651760"/>
            <a:chOff x="365760" y="1005840"/>
            <a:chExt cx="3749040" cy="2651760"/>
          </a:xfrm>
        </p:grpSpPr>
        <p:sp>
          <p:nvSpPr>
            <p:cNvPr id="5" name="Forma 4"/>
            <p:cNvSpPr/>
            <p:nvPr/>
          </p:nvSpPr>
          <p:spPr>
            <a:xfrm>
              <a:off x="365760" y="1005840"/>
              <a:ext cx="3749040" cy="26517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6" name="Ícono hígado"/>
            <p:cNvGrpSpPr/>
            <p:nvPr/>
          </p:nvGrpSpPr>
          <p:grpSpPr>
            <a:xfrm>
              <a:off x="457200" y="1209294"/>
              <a:ext cx="868680" cy="613983"/>
              <a:chOff x="457200" y="1209294"/>
              <a:chExt cx="868680" cy="613983"/>
            </a:xfrm>
          </p:grpSpPr>
          <p:sp>
            <p:nvSpPr>
              <p:cNvPr id="7" name="Vesícula biliar"/>
              <p:cNvSpPr/>
              <p:nvPr/>
            </p:nvSpPr>
            <p:spPr>
              <a:xfrm>
                <a:off x="691744" y="1629388"/>
                <a:ext cx="112928" cy="193889"/>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8" name="Forma 7"/>
              <p:cNvSpPr/>
              <p:nvPr/>
            </p:nvSpPr>
            <p:spPr>
              <a:xfrm>
                <a:off x="457200" y="1209294"/>
                <a:ext cx="868680" cy="53858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9" name="Forma 8"/>
              <p:cNvSpPr/>
              <p:nvPr/>
            </p:nvSpPr>
            <p:spPr>
              <a:xfrm>
                <a:off x="457200" y="1209294"/>
                <a:ext cx="868680" cy="53858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0" name="Forma 9"/>
              <p:cNvSpPr/>
              <p:nvPr/>
            </p:nvSpPr>
            <p:spPr>
              <a:xfrm>
                <a:off x="457200" y="1209294"/>
                <a:ext cx="868680" cy="53858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1" name="Forma 10"/>
            <p:cNvSpPr txBox="1"/>
            <p:nvPr/>
          </p:nvSpPr>
          <p:spPr>
            <a:xfrm>
              <a:off x="1463040"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HEPATOCITO</a:t>
              </a:r>
              <a:endParaRPr lang="es-AR" sz="1550" dirty="0">
                <a:latin typeface="Bahnschrift SemiBold Condensed"/>
              </a:endParaRPr>
            </a:p>
          </p:txBody>
        </p:sp>
        <p:sp>
          <p:nvSpPr>
            <p:cNvPr id="12" name="Forma 11"/>
            <p:cNvSpPr txBox="1"/>
            <p:nvPr/>
          </p:nvSpPr>
          <p:spPr>
            <a:xfrm>
              <a:off x="502920" y="2103120"/>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b="1" dirty="0">
                  <a:solidFill>
                    <a:srgbClr val="1E1E1E"/>
                  </a:solidFill>
                  <a:latin typeface="Bahnschrift"/>
                  <a:ea typeface="Bahnschrift"/>
                  <a:cs typeface="Bahnschrift"/>
                  <a:sym typeface="Bahnschrift"/>
                </a:rPr>
                <a:t>Glutaminasa</a:t>
              </a:r>
              <a:r>
                <a:rPr lang="es-AR" sz="1450" dirty="0">
                  <a:solidFill>
                    <a:srgbClr val="1E1E1E"/>
                  </a:solidFill>
                  <a:latin typeface="Bahnschrift"/>
                  <a:ea typeface="Bahnschrift"/>
                  <a:cs typeface="Bahnschrift"/>
                  <a:sym typeface="Bahnschrift"/>
                </a:rPr>
                <a:t> periportal → NH</a:t>
              </a:r>
              <a:r>
                <a:rPr lang="es-AR" sz="1450" baseline="-25000" dirty="0">
                  <a:solidFill>
                    <a:srgbClr val="1E1E1E"/>
                  </a:solidFill>
                  <a:latin typeface="Bahnschrift"/>
                  <a:ea typeface="Bahnschrift"/>
                  <a:cs typeface="Bahnschrift"/>
                  <a:sym typeface="Bahnschrift"/>
                </a:rPr>
                <a:t>4</a:t>
              </a:r>
              <a:r>
                <a:rPr lang="es-AR" sz="1450" baseline="30000" dirty="0">
                  <a:solidFill>
                    <a:srgbClr val="1E1E1E"/>
                  </a:solidFill>
                  <a:latin typeface="Bahnschrift"/>
                  <a:ea typeface="Bahnschrift"/>
                  <a:cs typeface="Bahnschrift"/>
                  <a:sym typeface="Bahnschrift"/>
                </a:rPr>
                <a:t>+</a:t>
              </a:r>
              <a:r>
                <a:rPr lang="es-AR" sz="1450" dirty="0">
                  <a:solidFill>
                    <a:srgbClr val="1E1E1E"/>
                  </a:solidFill>
                  <a:latin typeface="Bahnschrift"/>
                  <a:ea typeface="Bahnschrift"/>
                  <a:cs typeface="Bahnschrift"/>
                  <a:sym typeface="Bahnschrift"/>
                </a:rPr>
                <a:t> para urea</a:t>
              </a:r>
              <a:endParaRPr lang="es-AR" sz="1450" dirty="0">
                <a:latin typeface="Bahnschrift"/>
              </a:endParaRPr>
            </a:p>
            <a:p>
              <a:pPr algn="l" marL="138112" indent="-138112">
                <a:spcAft>
                  <a:spcPts val="200"/>
                </a:spcAft>
                <a:buClr>
                  <a:srgbClr val="1E1E1E"/>
                </a:buClr>
                <a:buFont typeface="Arial"/>
                <a:buChar char="•"/>
              </a:pPr>
              <a:r>
                <a:rPr lang="es-AR" sz="1450" b="1" dirty="0">
                  <a:solidFill>
                    <a:srgbClr val="1E1E1E"/>
                  </a:solidFill>
                  <a:latin typeface="Bahnschrift"/>
                  <a:ea typeface="Bahnschrift"/>
                  <a:cs typeface="Bahnschrift"/>
                  <a:sym typeface="Bahnschrift"/>
                </a:rPr>
                <a:t>GS</a:t>
              </a:r>
              <a:r>
                <a:rPr lang="es-AR" sz="1450" dirty="0">
                  <a:solidFill>
                    <a:srgbClr val="1E1E1E"/>
                  </a:solidFill>
                  <a:latin typeface="Bahnschrift"/>
                  <a:ea typeface="Bahnschrift"/>
                  <a:cs typeface="Bahnschrift"/>
                  <a:sym typeface="Bahnschrift"/>
                </a:rPr>
                <a:t> perivenosa captura NH</a:t>
              </a:r>
              <a:r>
                <a:rPr lang="es-AR" sz="1450" baseline="-25000" dirty="0">
                  <a:solidFill>
                    <a:srgbClr val="1E1E1E"/>
                  </a:solidFill>
                  <a:latin typeface="Bahnschrift"/>
                  <a:ea typeface="Bahnschrift"/>
                  <a:cs typeface="Bahnschrift"/>
                  <a:sym typeface="Bahnschrift"/>
                </a:rPr>
                <a:t>4</a:t>
              </a:r>
              <a:r>
                <a:rPr lang="es-AR" sz="1450" baseline="30000" dirty="0">
                  <a:solidFill>
                    <a:srgbClr val="1E1E1E"/>
                  </a:solidFill>
                  <a:latin typeface="Bahnschrift"/>
                  <a:ea typeface="Bahnschrift"/>
                  <a:cs typeface="Bahnschrift"/>
                  <a:sym typeface="Bahnschrift"/>
                </a:rPr>
                <a:t>+</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Balance neto según pH y nutrición</a:t>
              </a:r>
              <a:endParaRPr lang="es-AR" sz="1450" dirty="0">
                <a:latin typeface="Bahnschrift"/>
              </a:endParaRPr>
            </a:p>
          </p:txBody>
        </p:sp>
      </p:grpSp>
      <p:grpSp>
        <p:nvGrpSpPr>
          <p:cNvPr id="13" name="Tile ENTEROCITO"/>
          <p:cNvGrpSpPr/>
          <p:nvPr/>
        </p:nvGrpSpPr>
        <p:grpSpPr>
          <a:xfrm>
            <a:off x="4224528" y="1005840"/>
            <a:ext cx="3749040" cy="2651760"/>
            <a:chOff x="4224528" y="1005840"/>
            <a:chExt cx="3749040" cy="2651760"/>
          </a:xfrm>
        </p:grpSpPr>
        <p:sp>
          <p:nvSpPr>
            <p:cNvPr id="14" name="Forma 13"/>
            <p:cNvSpPr/>
            <p:nvPr/>
          </p:nvSpPr>
          <p:spPr>
            <a:xfrm>
              <a:off x="4224528" y="1005840"/>
              <a:ext cx="3749040" cy="2651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15" name="Ícono enterocito"/>
            <p:cNvGrpSpPr/>
            <p:nvPr/>
          </p:nvGrpSpPr>
          <p:grpSpPr>
            <a:xfrm>
              <a:off x="4315968" y="1252728"/>
              <a:ext cx="868680" cy="521208"/>
              <a:chOff x="4315968" y="1252728"/>
              <a:chExt cx="868680" cy="521208"/>
            </a:xfrm>
          </p:grpSpPr>
          <p:sp>
            <p:nvSpPr>
              <p:cNvPr id="16" name="Forma 15"/>
              <p:cNvSpPr/>
              <p:nvPr/>
            </p:nvSpPr>
            <p:spPr>
              <a:xfrm>
                <a:off x="4315968" y="1304849"/>
                <a:ext cx="289560" cy="469087"/>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17" name="Forma 16"/>
              <p:cNvSpPr/>
              <p:nvPr/>
            </p:nvSpPr>
            <p:spPr>
              <a:xfrm>
                <a:off x="4315968" y="1252728"/>
                <a:ext cx="289560" cy="61265"/>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18" name="Forma 17"/>
              <p:cNvSpPr/>
              <p:nvPr/>
            </p:nvSpPr>
            <p:spPr>
              <a:xfrm>
                <a:off x="4408627" y="1596725"/>
                <a:ext cx="104242" cy="10424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19" name="Forma 18"/>
              <p:cNvSpPr/>
              <p:nvPr/>
            </p:nvSpPr>
            <p:spPr>
              <a:xfrm>
                <a:off x="4605528" y="1304849"/>
                <a:ext cx="289560" cy="469087"/>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20" name="Forma 19"/>
              <p:cNvSpPr/>
              <p:nvPr/>
            </p:nvSpPr>
            <p:spPr>
              <a:xfrm>
                <a:off x="4605528" y="1252728"/>
                <a:ext cx="289560" cy="61265"/>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21" name="Forma 20"/>
              <p:cNvSpPr/>
              <p:nvPr/>
            </p:nvSpPr>
            <p:spPr>
              <a:xfrm>
                <a:off x="4698187" y="1596725"/>
                <a:ext cx="104242" cy="10424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sp>
            <p:nvSpPr>
              <p:cNvPr id="22" name="Forma 21"/>
              <p:cNvSpPr/>
              <p:nvPr/>
            </p:nvSpPr>
            <p:spPr>
              <a:xfrm>
                <a:off x="4895088" y="1304849"/>
                <a:ext cx="289560" cy="469087"/>
              </a:xfrm>
              <a:prstGeom prst="rect">
                <a:avLst/>
              </a:prstGeom>
              <a:gradFill rotWithShape="1">
                <a:gsLst>
                  <a:gs pos="0">
                    <a:srgbClr val="F9D3C9"/>
                  </a:gs>
                  <a:gs pos="55000">
                    <a:srgbClr val="F5B7A5"/>
                  </a:gs>
                  <a:gs pos="100000">
                    <a:srgbClr val="D09B8C"/>
                  </a:gs>
                </a:gsLst>
                <a:path path="circle">
                  <a:fillToRect l="32000" t="28000" r="68000" b="72000"/>
                </a:path>
              </a:gradFill>
              <a:ln w="15875" cap="rnd">
                <a:solidFill>
                  <a:srgbClr val="7A5B52"/>
                </a:solidFill>
                <a:round/>
              </a:ln>
            </p:spPr>
          </p:sp>
          <p:sp>
            <p:nvSpPr>
              <p:cNvPr id="23" name="Forma 22"/>
              <p:cNvSpPr/>
              <p:nvPr/>
            </p:nvSpPr>
            <p:spPr>
              <a:xfrm>
                <a:off x="4895088" y="1252728"/>
                <a:ext cx="289560" cy="61265"/>
              </a:xfrm>
              <a:custGeom>
                <a:avLst/>
                <a:gdLst/>
                <a:ahLst/>
                <a:cxnLst/>
                <a:rect l="0" t="0" r="r" b="b"/>
                <a:pathLst>
                  <a:path w="1000" h="1000" fill="none">
                    <a:moveTo>
                      <a:pt x="55" y="0"/>
                    </a:moveTo>
                    <a:lnTo>
                      <a:pt x="55" y="100"/>
                    </a:lnTo>
                  </a:path>
                  <a:path w="1000" h="1000" fill="none">
                    <a:moveTo>
                      <a:pt x="166" y="0"/>
                    </a:moveTo>
                    <a:lnTo>
                      <a:pt x="166" y="100"/>
                    </a:lnTo>
                  </a:path>
                  <a:path w="1000" h="1000" fill="none">
                    <a:moveTo>
                      <a:pt x="277" y="0"/>
                    </a:moveTo>
                    <a:lnTo>
                      <a:pt x="277" y="100"/>
                    </a:lnTo>
                  </a:path>
                  <a:path w="1000" h="1000" fill="none">
                    <a:moveTo>
                      <a:pt x="388" y="0"/>
                    </a:moveTo>
                    <a:lnTo>
                      <a:pt x="388" y="100"/>
                    </a:lnTo>
                  </a:path>
                  <a:path w="1000" h="1000" fill="none">
                    <a:moveTo>
                      <a:pt x="500" y="0"/>
                    </a:moveTo>
                    <a:lnTo>
                      <a:pt x="500" y="100"/>
                    </a:lnTo>
                  </a:path>
                  <a:path w="1000" h="1000" fill="none">
                    <a:moveTo>
                      <a:pt x="611" y="0"/>
                    </a:moveTo>
                    <a:lnTo>
                      <a:pt x="611" y="100"/>
                    </a:lnTo>
                  </a:path>
                  <a:path w="1000" h="1000" fill="none">
                    <a:moveTo>
                      <a:pt x="722" y="0"/>
                    </a:moveTo>
                    <a:lnTo>
                      <a:pt x="722" y="100"/>
                    </a:lnTo>
                  </a:path>
                  <a:path w="1000" h="1000" fill="none">
                    <a:moveTo>
                      <a:pt x="833" y="0"/>
                    </a:moveTo>
                    <a:lnTo>
                      <a:pt x="833" y="100"/>
                    </a:lnTo>
                  </a:path>
                  <a:path w="1000" h="1000" fill="none">
                    <a:moveTo>
                      <a:pt x="944" y="0"/>
                    </a:moveTo>
                    <a:lnTo>
                      <a:pt x="944" y="100"/>
                    </a:lnTo>
                  </a:path>
                </a:pathLst>
              </a:custGeom>
              <a:noFill/>
              <a:ln w="28575" cap="rnd">
                <a:solidFill>
                  <a:srgbClr val="936D63"/>
                </a:solidFill>
                <a:round/>
              </a:ln>
            </p:spPr>
          </p:sp>
          <p:sp>
            <p:nvSpPr>
              <p:cNvPr id="24" name="Forma 23"/>
              <p:cNvSpPr/>
              <p:nvPr/>
            </p:nvSpPr>
            <p:spPr>
              <a:xfrm>
                <a:off x="4987747" y="1596725"/>
                <a:ext cx="104242" cy="10424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sp>
          <p:nvSpPr>
            <p:cNvPr id="25" name="Forma 24"/>
            <p:cNvSpPr txBox="1"/>
            <p:nvPr/>
          </p:nvSpPr>
          <p:spPr>
            <a:xfrm>
              <a:off x="5321808"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ENTEROCITO</a:t>
              </a:r>
              <a:endParaRPr lang="es-AR" sz="1550" dirty="0">
                <a:latin typeface="Bahnschrift SemiBold Condensed"/>
              </a:endParaRPr>
            </a:p>
          </p:txBody>
        </p:sp>
        <p:sp>
          <p:nvSpPr>
            <p:cNvPr id="26" name="Forma 25"/>
            <p:cNvSpPr txBox="1"/>
            <p:nvPr/>
          </p:nvSpPr>
          <p:spPr>
            <a:xfrm>
              <a:off x="4361688" y="2103120"/>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Combustible y precursor de nucleótidos</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Glutaminasa → glutamato → α-KG</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Produce NH</a:t>
              </a:r>
              <a:r>
                <a:rPr lang="es-AR" sz="1450" baseline="-25000" dirty="0">
                  <a:solidFill>
                    <a:srgbClr val="1E1E1E"/>
                  </a:solidFill>
                  <a:latin typeface="Bahnschrift"/>
                  <a:ea typeface="Bahnschrift"/>
                  <a:cs typeface="Bahnschrift"/>
                  <a:sym typeface="Bahnschrift"/>
                </a:rPr>
                <a:t>3</a:t>
              </a:r>
              <a:r>
                <a:rPr lang="es-AR" sz="1450" dirty="0">
                  <a:solidFill>
                    <a:srgbClr val="1E1E1E"/>
                  </a:solidFill>
                  <a:latin typeface="Bahnschrift"/>
                  <a:ea typeface="Bahnschrift"/>
                  <a:cs typeface="Bahnschrift"/>
                  <a:sym typeface="Bahnschrift"/>
                </a:rPr>
                <a:t>, citrulina</a:t>
              </a:r>
              <a:endParaRPr lang="es-AR" sz="1450" dirty="0">
                <a:latin typeface="Bahnschrift"/>
              </a:endParaRPr>
            </a:p>
          </p:txBody>
        </p:sp>
      </p:grpSp>
      <p:grpSp>
        <p:nvGrpSpPr>
          <p:cNvPr id="27" name="Tile MÚSCULO"/>
          <p:cNvGrpSpPr/>
          <p:nvPr/>
        </p:nvGrpSpPr>
        <p:grpSpPr>
          <a:xfrm>
            <a:off x="8083296" y="1005840"/>
            <a:ext cx="3749040" cy="2651760"/>
            <a:chOff x="8083296" y="1005840"/>
            <a:chExt cx="3749040" cy="2651760"/>
          </a:xfrm>
        </p:grpSpPr>
        <p:sp>
          <p:nvSpPr>
            <p:cNvPr id="28" name="Forma 27"/>
            <p:cNvSpPr/>
            <p:nvPr/>
          </p:nvSpPr>
          <p:spPr>
            <a:xfrm>
              <a:off x="8083296" y="1005840"/>
              <a:ext cx="3749040" cy="26517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29" name="Ícono músculo"/>
            <p:cNvGrpSpPr/>
            <p:nvPr/>
          </p:nvGrpSpPr>
          <p:grpSpPr>
            <a:xfrm>
              <a:off x="8174736" y="1252728"/>
              <a:ext cx="868680" cy="284927"/>
              <a:chOff x="8174736" y="1252728"/>
              <a:chExt cx="868680" cy="284927"/>
            </a:xfrm>
          </p:grpSpPr>
          <p:grpSp>
            <p:nvGrpSpPr>
              <p:cNvPr id="30" name="Fibra"/>
              <p:cNvGrpSpPr/>
              <p:nvPr/>
            </p:nvGrpSpPr>
            <p:grpSpPr>
              <a:xfrm>
                <a:off x="8174736" y="1252728"/>
                <a:ext cx="833933" cy="138989"/>
                <a:chOff x="8174736" y="1252728"/>
                <a:chExt cx="833933" cy="138989"/>
              </a:xfrm>
            </p:grpSpPr>
            <p:sp>
              <p:nvSpPr>
                <p:cNvPr id="31" name="Forma 30"/>
                <p:cNvSpPr/>
                <p:nvPr/>
              </p:nvSpPr>
              <p:spPr>
                <a:xfrm>
                  <a:off x="8174736" y="1252728"/>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2" name="Forma 31"/>
                <p:cNvSpPr/>
                <p:nvPr/>
              </p:nvSpPr>
              <p:spPr>
                <a:xfrm>
                  <a:off x="8209483" y="1252728"/>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33" name="Forma 32"/>
                <p:cNvSpPr/>
                <p:nvPr/>
              </p:nvSpPr>
              <p:spPr>
                <a:xfrm>
                  <a:off x="8341523"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4" name="Forma 33"/>
                <p:cNvSpPr/>
                <p:nvPr/>
              </p:nvSpPr>
              <p:spPr>
                <a:xfrm>
                  <a:off x="8633399"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5" name="Forma 34"/>
                <p:cNvSpPr/>
                <p:nvPr/>
              </p:nvSpPr>
              <p:spPr>
                <a:xfrm>
                  <a:off x="8883579" y="1258288"/>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8950294" y="1258288"/>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7" name="Fibra_2"/>
              <p:cNvGrpSpPr/>
              <p:nvPr/>
            </p:nvGrpSpPr>
            <p:grpSpPr>
              <a:xfrm>
                <a:off x="8209483" y="1398666"/>
                <a:ext cx="833933" cy="138989"/>
                <a:chOff x="8209483" y="1398666"/>
                <a:chExt cx="833933" cy="138989"/>
              </a:xfrm>
            </p:grpSpPr>
            <p:sp>
              <p:nvSpPr>
                <p:cNvPr id="38" name="Forma 37"/>
                <p:cNvSpPr/>
                <p:nvPr/>
              </p:nvSpPr>
              <p:spPr>
                <a:xfrm>
                  <a:off x="8209483" y="1398666"/>
                  <a:ext cx="833933" cy="138989"/>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9" name="Forma 38"/>
                <p:cNvSpPr/>
                <p:nvPr/>
              </p:nvSpPr>
              <p:spPr>
                <a:xfrm>
                  <a:off x="8244230" y="1398666"/>
                  <a:ext cx="764438" cy="138989"/>
                </a:xfrm>
                <a:custGeom>
                  <a:avLst/>
                  <a:gdLst/>
                  <a:ahLst/>
                  <a:cxnLst/>
                  <a:rect l="0" t="0" r="r" b="b"/>
                  <a:pathLst>
                    <a:path w="1000" h="1000" fill="none">
                      <a:moveTo>
                        <a:pt x="50" y="80"/>
                      </a:moveTo>
                      <a:lnTo>
                        <a:pt x="50" y="920"/>
                      </a:lnTo>
                    </a:path>
                    <a:path w="1000" h="1000" fill="none">
                      <a:moveTo>
                        <a:pt x="150" y="80"/>
                      </a:moveTo>
                      <a:lnTo>
                        <a:pt x="150" y="920"/>
                      </a:lnTo>
                    </a:path>
                    <a:path w="1000" h="1000" fill="none">
                      <a:moveTo>
                        <a:pt x="250" y="80"/>
                      </a:moveTo>
                      <a:lnTo>
                        <a:pt x="250" y="920"/>
                      </a:lnTo>
                    </a:path>
                    <a:path w="1000" h="1000" fill="none">
                      <a:moveTo>
                        <a:pt x="350" y="80"/>
                      </a:moveTo>
                      <a:lnTo>
                        <a:pt x="350" y="920"/>
                      </a:lnTo>
                    </a:path>
                    <a:path w="1000" h="1000" fill="none">
                      <a:moveTo>
                        <a:pt x="450" y="80"/>
                      </a:moveTo>
                      <a:lnTo>
                        <a:pt x="450" y="920"/>
                      </a:lnTo>
                    </a:path>
                    <a:path w="1000" h="1000" fill="none">
                      <a:moveTo>
                        <a:pt x="550" y="80"/>
                      </a:moveTo>
                      <a:lnTo>
                        <a:pt x="550" y="920"/>
                      </a:lnTo>
                    </a:path>
                    <a:path w="1000" h="1000" fill="none">
                      <a:moveTo>
                        <a:pt x="650" y="80"/>
                      </a:moveTo>
                      <a:lnTo>
                        <a:pt x="650" y="920"/>
                      </a:lnTo>
                    </a:path>
                    <a:path w="1000" h="1000" fill="none">
                      <a:moveTo>
                        <a:pt x="750" y="80"/>
                      </a:moveTo>
                      <a:lnTo>
                        <a:pt x="750" y="920"/>
                      </a:lnTo>
                    </a:path>
                    <a:path w="1000" h="1000" fill="none">
                      <a:moveTo>
                        <a:pt x="850" y="80"/>
                      </a:moveTo>
                      <a:lnTo>
                        <a:pt x="850" y="920"/>
                      </a:lnTo>
                    </a:path>
                    <a:path w="1000" h="1000" fill="none">
                      <a:moveTo>
                        <a:pt x="950" y="80"/>
                      </a:moveTo>
                      <a:lnTo>
                        <a:pt x="950" y="920"/>
                      </a:lnTo>
                    </a:path>
                  </a:pathLst>
                </a:custGeom>
                <a:noFill/>
                <a:ln w="12700" cap="rnd">
                  <a:solidFill>
                    <a:srgbClr val="822E27"/>
                  </a:solidFill>
                  <a:round/>
                </a:ln>
              </p:spPr>
            </p:sp>
            <p:sp>
              <p:nvSpPr>
                <p:cNvPr id="40" name="Forma 39"/>
                <p:cNvSpPr/>
                <p:nvPr/>
              </p:nvSpPr>
              <p:spPr>
                <a:xfrm>
                  <a:off x="8376270"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1" name="Forma 40"/>
                <p:cNvSpPr/>
                <p:nvPr/>
              </p:nvSpPr>
              <p:spPr>
                <a:xfrm>
                  <a:off x="8668146"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2" name="Forma 41"/>
                <p:cNvSpPr/>
                <p:nvPr/>
              </p:nvSpPr>
              <p:spPr>
                <a:xfrm>
                  <a:off x="8918326" y="1404226"/>
                  <a:ext cx="69494" cy="2501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3" name="Forma 42"/>
                <p:cNvSpPr/>
                <p:nvPr/>
              </p:nvSpPr>
              <p:spPr>
                <a:xfrm>
                  <a:off x="8985041" y="1404226"/>
                  <a:ext cx="55596" cy="12787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44" name="Forma 43"/>
            <p:cNvSpPr txBox="1"/>
            <p:nvPr/>
          </p:nvSpPr>
          <p:spPr>
            <a:xfrm>
              <a:off x="9180576" y="1097280"/>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MÚSCULO</a:t>
              </a:r>
              <a:endParaRPr lang="es-AR" sz="1550" dirty="0">
                <a:latin typeface="Bahnschrift SemiBold Condensed"/>
              </a:endParaRPr>
            </a:p>
          </p:txBody>
        </p:sp>
        <p:sp>
          <p:nvSpPr>
            <p:cNvPr id="45" name="Forma 44"/>
            <p:cNvSpPr txBox="1"/>
            <p:nvPr/>
          </p:nvSpPr>
          <p:spPr>
            <a:xfrm>
              <a:off x="8220456" y="2103120"/>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b="1" dirty="0">
                  <a:solidFill>
                    <a:srgbClr val="1E1E1E"/>
                  </a:solidFill>
                  <a:latin typeface="Bahnschrift"/>
                  <a:ea typeface="Bahnschrift"/>
                  <a:cs typeface="Bahnschrift"/>
                  <a:sym typeface="Bahnschrift"/>
                </a:rPr>
                <a:t>GS</a:t>
              </a:r>
              <a:r>
                <a:rPr lang="es-AR" sz="1450" dirty="0">
                  <a:solidFill>
                    <a:srgbClr val="1E1E1E"/>
                  </a:solidFill>
                  <a:latin typeface="Bahnschrift"/>
                  <a:ea typeface="Bahnschrift"/>
                  <a:cs typeface="Bahnschrift"/>
                  <a:sym typeface="Bahnschrift"/>
                </a:rPr>
                <a:t> incorpora N en glutamina</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La exporta a riñón e intestino</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Transporte seguro de NH</a:t>
              </a:r>
              <a:r>
                <a:rPr lang="es-AR" sz="1450" baseline="-25000" dirty="0">
                  <a:solidFill>
                    <a:srgbClr val="1E1E1E"/>
                  </a:solidFill>
                  <a:latin typeface="Bahnschrift"/>
                  <a:ea typeface="Bahnschrift"/>
                  <a:cs typeface="Bahnschrift"/>
                  <a:sym typeface="Bahnschrift"/>
                </a:rPr>
                <a:t>3</a:t>
              </a:r>
              <a:endParaRPr lang="es-AR" sz="1450" dirty="0">
                <a:latin typeface="Bahnschrift"/>
              </a:endParaRPr>
            </a:p>
          </p:txBody>
        </p:sp>
      </p:grpSp>
      <p:grpSp>
        <p:nvGrpSpPr>
          <p:cNvPr id="46" name="Tile ASTROCITO–NEURONA"/>
          <p:cNvGrpSpPr/>
          <p:nvPr/>
        </p:nvGrpSpPr>
        <p:grpSpPr>
          <a:xfrm>
            <a:off x="365760" y="3767328"/>
            <a:ext cx="3749040" cy="2651760"/>
            <a:chOff x="365760" y="3767328"/>
            <a:chExt cx="3749040" cy="2651760"/>
          </a:xfrm>
        </p:grpSpPr>
        <p:sp>
          <p:nvSpPr>
            <p:cNvPr id="47" name="Forma 46"/>
            <p:cNvSpPr/>
            <p:nvPr/>
          </p:nvSpPr>
          <p:spPr>
            <a:xfrm>
              <a:off x="365760" y="3767328"/>
              <a:ext cx="3749040" cy="26517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sp>
        <p:grpSp>
          <p:nvGrpSpPr>
            <p:cNvPr id="48" name="Ícono astrocito"/>
            <p:cNvGrpSpPr/>
            <p:nvPr/>
          </p:nvGrpSpPr>
          <p:grpSpPr>
            <a:xfrm>
              <a:off x="457200" y="3927348"/>
              <a:ext cx="868680" cy="694944"/>
              <a:chOff x="457200" y="3927348"/>
              <a:chExt cx="868680" cy="694944"/>
            </a:xfrm>
          </p:grpSpPr>
          <p:sp>
            <p:nvSpPr>
              <p:cNvPr id="49" name="Forma 48"/>
              <p:cNvSpPr/>
              <p:nvPr/>
            </p:nvSpPr>
            <p:spPr>
              <a:xfrm>
                <a:off x="457200" y="3927348"/>
                <a:ext cx="868680" cy="694944"/>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101600" cap="rnd">
                <a:solidFill>
                  <a:srgbClr val="54704D"/>
                </a:solidFill>
                <a:round/>
              </a:ln>
            </p:spPr>
          </p:sp>
          <p:sp>
            <p:nvSpPr>
              <p:cNvPr id="50" name="Forma 49"/>
              <p:cNvSpPr/>
              <p:nvPr/>
            </p:nvSpPr>
            <p:spPr>
              <a:xfrm>
                <a:off x="457200" y="3927348"/>
                <a:ext cx="868680" cy="694944"/>
              </a:xfrm>
              <a:custGeom>
                <a:avLst/>
                <a:gdLst/>
                <a:ahLst/>
                <a:cxnLst/>
                <a:rect l="0" t="0" r="r" b="b"/>
                <a:pathLst>
                  <a:path w="1000" h="1000" fill="none">
                    <a:moveTo>
                      <a:pt x="500" y="500"/>
                    </a:moveTo>
                    <a:cubicBezTo>
                      <a:pt x="420" y="380"/>
                      <a:pt x="330" y="300"/>
                      <a:pt x="180" y="220"/>
                    </a:cubicBezTo>
                  </a:path>
                  <a:path w="1000" h="1000" fill="none">
                    <a:moveTo>
                      <a:pt x="500" y="500"/>
                    </a:moveTo>
                    <a:cubicBezTo>
                      <a:pt x="560" y="360"/>
                      <a:pt x="600" y="250"/>
                      <a:pt x="680" y="120"/>
                    </a:cubicBezTo>
                  </a:path>
                  <a:path w="1000" h="1000" fill="none">
                    <a:moveTo>
                      <a:pt x="500" y="500"/>
                    </a:moveTo>
                    <a:cubicBezTo>
                      <a:pt x="650" y="520"/>
                      <a:pt x="780" y="480"/>
                      <a:pt x="940" y="420"/>
                    </a:cubicBezTo>
                  </a:path>
                  <a:path w="1000" h="1000" fill="none">
                    <a:moveTo>
                      <a:pt x="500" y="500"/>
                    </a:moveTo>
                    <a:cubicBezTo>
                      <a:pt x="420" y="640"/>
                      <a:pt x="330" y="760"/>
                      <a:pt x="200" y="900"/>
                    </a:cubicBezTo>
                  </a:path>
                  <a:path w="1000" h="1000" fill="none">
                    <a:moveTo>
                      <a:pt x="500" y="500"/>
                    </a:moveTo>
                    <a:cubicBezTo>
                      <a:pt x="600" y="650"/>
                      <a:pt x="700" y="760"/>
                      <a:pt x="820" y="920"/>
                    </a:cubicBezTo>
                  </a:path>
                  <a:path w="1000" h="1000" fill="none">
                    <a:moveTo>
                      <a:pt x="500" y="500"/>
                    </a:moveTo>
                    <a:cubicBezTo>
                      <a:pt x="380" y="520"/>
                      <a:pt x="230" y="540"/>
                      <a:pt x="60" y="520"/>
                    </a:cubicBezTo>
                  </a:path>
                </a:pathLst>
              </a:custGeom>
              <a:noFill/>
              <a:ln w="76200" cap="rnd">
                <a:solidFill>
                  <a:srgbClr val="9ACD8C"/>
                </a:solidFill>
                <a:round/>
              </a:ln>
            </p:spPr>
          </p:sp>
          <p:sp>
            <p:nvSpPr>
              <p:cNvPr id="51" name="Forma 50"/>
              <p:cNvSpPr/>
              <p:nvPr/>
            </p:nvSpPr>
            <p:spPr>
              <a:xfrm>
                <a:off x="457200" y="3927348"/>
                <a:ext cx="868680" cy="694944"/>
              </a:xfrm>
              <a:custGeom>
                <a:avLst/>
                <a:gdLst/>
                <a:ahLst/>
                <a:cxnLst/>
                <a:rect l="0" t="0" r="r" b="b"/>
                <a:pathLst>
                  <a:path w="1000" h="1000">
                    <a:moveTo>
                      <a:pt x="420" y="420"/>
                    </a:moveTo>
                    <a:cubicBezTo>
                      <a:pt x="440" y="393"/>
                      <a:pt x="488" y="373"/>
                      <a:pt x="520" y="380"/>
                    </a:cubicBezTo>
                    <a:cubicBezTo>
                      <a:pt x="551" y="386"/>
                      <a:pt x="598" y="426"/>
                      <a:pt x="610" y="460"/>
                    </a:cubicBezTo>
                    <a:cubicBezTo>
                      <a:pt x="621" y="493"/>
                      <a:pt x="611" y="553"/>
                      <a:pt x="590" y="580"/>
                    </a:cubicBezTo>
                    <a:cubicBezTo>
                      <a:pt x="568" y="606"/>
                      <a:pt x="511" y="626"/>
                      <a:pt x="480" y="620"/>
                    </a:cubicBezTo>
                    <a:cubicBezTo>
                      <a:pt x="448" y="613"/>
                      <a:pt x="410" y="573"/>
                      <a:pt x="400" y="540"/>
                    </a:cubicBezTo>
                    <a:cubicBezTo>
                      <a:pt x="390" y="506"/>
                      <a:pt x="400" y="446"/>
                      <a:pt x="420" y="420"/>
                    </a:cubicBezTo>
                    <a:close/>
                  </a:path>
                </a:pathLst>
              </a:custGeom>
              <a:gradFill rotWithShape="1">
                <a:gsLst>
                  <a:gs pos="0">
                    <a:srgbClr val="C7E3BF"/>
                  </a:gs>
                  <a:gs pos="55000">
                    <a:srgbClr val="9ACD8C"/>
                  </a:gs>
                  <a:gs pos="100000">
                    <a:srgbClr val="739969"/>
                  </a:gs>
                </a:gsLst>
                <a:path path="circle">
                  <a:fillToRect l="32000" t="28000" r="68000" b="72000"/>
                </a:path>
              </a:gradFill>
              <a:ln w="19050" cap="rnd">
                <a:solidFill>
                  <a:srgbClr val="54704D"/>
                </a:solidFill>
                <a:round/>
              </a:ln>
            </p:spPr>
          </p:sp>
          <p:sp>
            <p:nvSpPr>
              <p:cNvPr id="52" name="Forma 51"/>
              <p:cNvSpPr/>
              <p:nvPr/>
            </p:nvSpPr>
            <p:spPr>
              <a:xfrm>
                <a:off x="457200" y="3927348"/>
                <a:ext cx="868680" cy="694944"/>
              </a:xfrm>
              <a:custGeom>
                <a:avLst/>
                <a:gdLst/>
                <a:ahLst/>
                <a:cxnLst/>
                <a:rect l="0" t="0" r="r" b="b"/>
                <a:pathLst>
                  <a:path w="1000" h="1000">
                    <a:moveTo>
                      <a:pt x="555" y="500"/>
                    </a:moveTo>
                    <a:cubicBezTo>
                      <a:pt x="555" y="527"/>
                      <a:pt x="532" y="550"/>
                      <a:pt x="505" y="550"/>
                    </a:cubicBezTo>
                    <a:cubicBezTo>
                      <a:pt x="477" y="550"/>
                      <a:pt x="455" y="527"/>
                      <a:pt x="455" y="500"/>
                    </a:cubicBezTo>
                    <a:cubicBezTo>
                      <a:pt x="455" y="472"/>
                      <a:pt x="477" y="450"/>
                      <a:pt x="505" y="450"/>
                    </a:cubicBezTo>
                    <a:cubicBezTo>
                      <a:pt x="532" y="450"/>
                      <a:pt x="555" y="472"/>
                      <a:pt x="555" y="500"/>
                    </a:cubicBezTo>
                    <a:close/>
                  </a:path>
                </a:pathLst>
              </a:custGeom>
              <a:gradFill rotWithShape="1">
                <a:gsLst>
                  <a:gs pos="0">
                    <a:srgbClr val="8DAD83"/>
                  </a:gs>
                  <a:gs pos="55000">
                    <a:srgbClr val="5D8A4E"/>
                  </a:gs>
                  <a:gs pos="100000">
                    <a:srgbClr val="416036"/>
                  </a:gs>
                </a:gsLst>
                <a:path path="circle">
                  <a:fillToRect l="32000" t="28000" r="68000" b="72000"/>
                </a:path>
              </a:gradFill>
              <a:ln>
                <a:noFill/>
              </a:ln>
            </p:spPr>
          </p:sp>
        </p:grpSp>
        <p:sp>
          <p:nvSpPr>
            <p:cNvPr id="53" name="Forma 52"/>
            <p:cNvSpPr txBox="1"/>
            <p:nvPr/>
          </p:nvSpPr>
          <p:spPr>
            <a:xfrm>
              <a:off x="1463040"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ASTROCITO–NEURONA</a:t>
              </a:r>
              <a:endParaRPr lang="es-AR" sz="1550" dirty="0">
                <a:latin typeface="Bahnschrift SemiBold Condensed"/>
              </a:endParaRPr>
            </a:p>
          </p:txBody>
        </p:sp>
        <p:sp>
          <p:nvSpPr>
            <p:cNvPr id="54" name="Forma 53"/>
            <p:cNvSpPr txBox="1"/>
            <p:nvPr/>
          </p:nvSpPr>
          <p:spPr>
            <a:xfrm>
              <a:off x="502920" y="4864608"/>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GS astroglial recicla glutamato/GABA</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En hiperamonemia: </a:t>
              </a:r>
              <a:r>
                <a:rPr lang="es-AR" sz="1450" b="1" dirty="0">
                  <a:solidFill>
                    <a:srgbClr val="1E1E1E"/>
                  </a:solidFill>
                  <a:latin typeface="Bahnschrift"/>
                  <a:ea typeface="Bahnschrift"/>
                  <a:cs typeface="Bahnschrift"/>
                  <a:sym typeface="Bahnschrift"/>
                </a:rPr>
                <a:t>edema</a:t>
              </a:r>
              <a:r>
                <a:rPr lang="es-AR" sz="1450" dirty="0">
                  <a:solidFill>
                    <a:srgbClr val="1E1E1E"/>
                  </a:solidFill>
                  <a:latin typeface="Bahnschrift"/>
                  <a:ea typeface="Bahnschrift"/>
                  <a:cs typeface="Bahnschrift"/>
                  <a:sym typeface="Bahnschrift"/>
                </a:rPr>
                <a:t> y disfunción</a:t>
              </a:r>
              <a:endParaRPr lang="es-AR" sz="1450" dirty="0">
                <a:latin typeface="Bahnschrift"/>
              </a:endParaRPr>
            </a:p>
          </p:txBody>
        </p:sp>
      </p:grpSp>
      <p:grpSp>
        <p:nvGrpSpPr>
          <p:cNvPr id="55" name="Tile RIÑÓN (TÚBULO PROXIMAL)"/>
          <p:cNvGrpSpPr/>
          <p:nvPr/>
        </p:nvGrpSpPr>
        <p:grpSpPr>
          <a:xfrm>
            <a:off x="4224528" y="3767328"/>
            <a:ext cx="3749040" cy="2651760"/>
            <a:chOff x="4224528" y="3767328"/>
            <a:chExt cx="3749040" cy="2651760"/>
          </a:xfrm>
        </p:grpSpPr>
        <p:sp>
          <p:nvSpPr>
            <p:cNvPr id="56" name="Forma 55"/>
            <p:cNvSpPr/>
            <p:nvPr/>
          </p:nvSpPr>
          <p:spPr>
            <a:xfrm>
              <a:off x="4224528" y="3767328"/>
              <a:ext cx="3749040" cy="26517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57" name="Ícono riñón"/>
            <p:cNvGrpSpPr/>
            <p:nvPr/>
          </p:nvGrpSpPr>
          <p:grpSpPr>
            <a:xfrm>
              <a:off x="4489704" y="3840480"/>
              <a:ext cx="521208" cy="729691"/>
              <a:chOff x="4489704" y="3840480"/>
              <a:chExt cx="521208" cy="729691"/>
            </a:xfrm>
          </p:grpSpPr>
          <p:sp>
            <p:nvSpPr>
              <p:cNvPr id="58" name="Forma 57"/>
              <p:cNvSpPr/>
              <p:nvPr/>
            </p:nvSpPr>
            <p:spPr>
              <a:xfrm>
                <a:off x="4489704" y="3840480"/>
                <a:ext cx="521208" cy="729691"/>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59" name="Forma 58"/>
              <p:cNvSpPr/>
              <p:nvPr/>
            </p:nvSpPr>
            <p:spPr>
              <a:xfrm>
                <a:off x="4489704" y="3840480"/>
                <a:ext cx="521208" cy="729691"/>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60" name="Forma 59"/>
              <p:cNvSpPr/>
              <p:nvPr/>
            </p:nvSpPr>
            <p:spPr>
              <a:xfrm>
                <a:off x="4489704" y="3840480"/>
                <a:ext cx="521208" cy="729691"/>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61" name="Forma 60"/>
              <p:cNvSpPr/>
              <p:nvPr/>
            </p:nvSpPr>
            <p:spPr>
              <a:xfrm>
                <a:off x="4489704" y="3840480"/>
                <a:ext cx="521208" cy="729691"/>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62" name="Forma 61"/>
            <p:cNvSpPr txBox="1"/>
            <p:nvPr/>
          </p:nvSpPr>
          <p:spPr>
            <a:xfrm>
              <a:off x="5321808"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RIÑÓN (TÚBULO PROXIMAL)</a:t>
              </a:r>
              <a:endParaRPr lang="es-AR" sz="1550" dirty="0">
                <a:latin typeface="Bahnschrift SemiBold Condensed"/>
              </a:endParaRPr>
            </a:p>
          </p:txBody>
        </p:sp>
        <p:sp>
          <p:nvSpPr>
            <p:cNvPr id="63" name="Forma 62"/>
            <p:cNvSpPr txBox="1"/>
            <p:nvPr/>
          </p:nvSpPr>
          <p:spPr>
            <a:xfrm>
              <a:off x="4361688" y="4864608"/>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Glutaminasa + GDH → </a:t>
              </a:r>
              <a:r>
                <a:rPr lang="es-AR" sz="1450" b="1" dirty="0">
                  <a:solidFill>
                    <a:srgbClr val="1E1E1E"/>
                  </a:solidFill>
                  <a:latin typeface="Bahnschrift"/>
                  <a:ea typeface="Bahnschrift"/>
                  <a:cs typeface="Bahnschrift"/>
                  <a:sym typeface="Bahnschrift"/>
                </a:rPr>
                <a:t>2 NH</a:t>
              </a:r>
              <a:r>
                <a:rPr lang="es-AR" sz="1450" b="1" baseline="-25000" dirty="0">
                  <a:solidFill>
                    <a:srgbClr val="1E1E1E"/>
                  </a:solidFill>
                  <a:latin typeface="Bahnschrift"/>
                  <a:ea typeface="Bahnschrift"/>
                  <a:cs typeface="Bahnschrift"/>
                  <a:sym typeface="Bahnschrift"/>
                </a:rPr>
                <a:t>4</a:t>
              </a:r>
              <a:r>
                <a:rPr lang="es-AR" sz="1450" b="1" baseline="30000" dirty="0">
                  <a:solidFill>
                    <a:srgbClr val="1E1E1E"/>
                  </a:solidFill>
                  <a:latin typeface="Bahnschrift"/>
                  <a:ea typeface="Bahnschrift"/>
                  <a:cs typeface="Bahnschrift"/>
                  <a:sym typeface="Bahnschrift"/>
                </a:rPr>
                <a:t>+</a:t>
              </a:r>
              <a:endParaRPr lang="es-AR" sz="1450" dirty="0">
                <a:latin typeface="Bahnschrift"/>
              </a:endParaRPr>
            </a:p>
            <a:p>
              <a:pPr algn="l" marL="138112" indent="-138112">
                <a:spcAft>
                  <a:spcPts val="200"/>
                </a:spcAft>
                <a:buClr>
                  <a:srgbClr val="1E1E1E"/>
                </a:buClr>
                <a:buFont typeface="Arial"/>
                <a:buChar char="•"/>
              </a:pPr>
              <a:r>
                <a:rPr lang="es-AR" sz="1450" b="1" dirty="0">
                  <a:solidFill>
                    <a:srgbClr val="1E1E1E"/>
                  </a:solidFill>
                  <a:latin typeface="Bahnschrift"/>
                  <a:ea typeface="Bahnschrift"/>
                  <a:cs typeface="Bahnschrift"/>
                  <a:sym typeface="Bahnschrift"/>
                </a:rPr>
                <a:t>HCO</a:t>
              </a:r>
              <a:r>
                <a:rPr lang="es-AR" sz="1450" b="1" baseline="-25000" dirty="0">
                  <a:solidFill>
                    <a:srgbClr val="1E1E1E"/>
                  </a:solidFill>
                  <a:latin typeface="Bahnschrift"/>
                  <a:ea typeface="Bahnschrift"/>
                  <a:cs typeface="Bahnschrift"/>
                  <a:sym typeface="Bahnschrift"/>
                </a:rPr>
                <a:t>3</a:t>
              </a:r>
              <a:r>
                <a:rPr lang="es-AR" sz="1450" b="1" baseline="30000" dirty="0">
                  <a:solidFill>
                    <a:srgbClr val="1E1E1E"/>
                  </a:solidFill>
                  <a:latin typeface="Bahnschrift"/>
                  <a:ea typeface="Bahnschrift"/>
                  <a:cs typeface="Bahnschrift"/>
                  <a:sym typeface="Bahnschrift"/>
                </a:rPr>
                <a:t>−</a:t>
              </a:r>
              <a:r>
                <a:rPr lang="es-AR" sz="1450" b="1" dirty="0">
                  <a:solidFill>
                    <a:srgbClr val="1E1E1E"/>
                  </a:solidFill>
                  <a:latin typeface="Bahnschrift"/>
                  <a:ea typeface="Bahnschrift"/>
                  <a:cs typeface="Bahnschrift"/>
                  <a:sym typeface="Bahnschrift"/>
                </a:rPr>
                <a:t> nuevo</a:t>
              </a:r>
              <a:r>
                <a:rPr lang="es-AR" sz="1450" dirty="0">
                  <a:solidFill>
                    <a:srgbClr val="1E1E1E"/>
                  </a:solidFill>
                  <a:latin typeface="Bahnschrift"/>
                  <a:ea typeface="Bahnschrift"/>
                  <a:cs typeface="Bahnschrift"/>
                  <a:sym typeface="Bahnschrift"/>
                </a:rPr>
                <a:t> y gluconeogénesis</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Clave en </a:t>
              </a:r>
              <a:r>
                <a:rPr lang="es-AR" sz="1450" b="1" dirty="0">
                  <a:solidFill>
                    <a:srgbClr val="1E1E1E"/>
                  </a:solidFill>
                  <a:latin typeface="Bahnschrift"/>
                  <a:ea typeface="Bahnschrift"/>
                  <a:cs typeface="Bahnschrift"/>
                  <a:sym typeface="Bahnschrift"/>
                </a:rPr>
                <a:t>acidosis</a:t>
              </a:r>
              <a:r>
                <a:rPr lang="es-AR" sz="1450" dirty="0">
                  <a:solidFill>
                    <a:srgbClr val="1E1E1E"/>
                  </a:solidFill>
                  <a:latin typeface="Bahnschrift"/>
                  <a:ea typeface="Bahnschrift"/>
                  <a:cs typeface="Bahnschrift"/>
                  <a:sym typeface="Bahnschrift"/>
                </a:rPr>
                <a:t> y ayuno</a:t>
              </a:r>
              <a:endParaRPr lang="es-AR" sz="1450" dirty="0">
                <a:latin typeface="Bahnschrift"/>
              </a:endParaRPr>
            </a:p>
          </p:txBody>
        </p:sp>
      </p:grpSp>
      <p:grpSp>
        <p:nvGrpSpPr>
          <p:cNvPr id="64" name="Tile RECAMBIO RÁPIDO"/>
          <p:cNvGrpSpPr/>
          <p:nvPr/>
        </p:nvGrpSpPr>
        <p:grpSpPr>
          <a:xfrm>
            <a:off x="8083296" y="3767328"/>
            <a:ext cx="3749040" cy="2651760"/>
            <a:chOff x="8083296" y="3767328"/>
            <a:chExt cx="3749040" cy="2651760"/>
          </a:xfrm>
        </p:grpSpPr>
        <p:sp>
          <p:nvSpPr>
            <p:cNvPr id="65" name="Forma 64"/>
            <p:cNvSpPr/>
            <p:nvPr/>
          </p:nvSpPr>
          <p:spPr>
            <a:xfrm>
              <a:off x="8083296" y="3767328"/>
              <a:ext cx="3749040" cy="26517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sp>
          <p:nvSpPr>
            <p:cNvPr id="66" name="Ícono célula"/>
            <p:cNvSpPr/>
            <p:nvPr/>
          </p:nvSpPr>
          <p:spPr>
            <a:xfrm>
              <a:off x="8261604" y="3927348"/>
              <a:ext cx="694944" cy="694944"/>
            </a:xfrm>
            <a:prstGeom prst="ellipse">
              <a:avLst/>
            </a:prstGeom>
            <a:gradFill rotWithShape="1">
              <a:gsLst>
                <a:gs pos="0">
                  <a:srgbClr val="C9A5D7"/>
                </a:gs>
                <a:gs pos="55000">
                  <a:srgbClr val="A569BD"/>
                </a:gs>
                <a:gs pos="100000">
                  <a:srgbClr val="734984"/>
                </a:gs>
              </a:gsLst>
              <a:path path="circle">
                <a:fillToRect l="32000" t="28000" r="68000" b="72000"/>
              </a:path>
            </a:gradFill>
            <a:ln w="15875" cap="rnd">
              <a:solidFill>
                <a:srgbClr val="5B2C6F"/>
              </a:solidFill>
              <a:round/>
            </a:ln>
          </p:spPr>
        </p:sp>
        <p:sp>
          <p:nvSpPr>
            <p:cNvPr id="67" name="Forma 66"/>
            <p:cNvSpPr txBox="1"/>
            <p:nvPr/>
          </p:nvSpPr>
          <p:spPr>
            <a:xfrm>
              <a:off x="9180576" y="3858768"/>
              <a:ext cx="256032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RECAMBIO RÁPIDO</a:t>
              </a:r>
              <a:endParaRPr lang="es-AR" sz="1550" dirty="0">
                <a:latin typeface="Bahnschrift SemiBold Condensed"/>
              </a:endParaRPr>
            </a:p>
          </p:txBody>
        </p:sp>
        <p:sp>
          <p:nvSpPr>
            <p:cNvPr id="68" name="Forma 67"/>
            <p:cNvSpPr txBox="1"/>
            <p:nvPr/>
          </p:nvSpPr>
          <p:spPr>
            <a:xfrm>
              <a:off x="8220456" y="4864608"/>
              <a:ext cx="3474720" cy="1463040"/>
            </a:xfrm>
            <a:prstGeom prst="rect">
              <a:avLst/>
            </a:prstGeom>
            <a:noFill/>
            <a:ln>
              <a:noFill/>
            </a:ln>
          </p:spPr>
          <p:txBody>
            <a:bodyPr wrap="square" lIns="0" tIns="0" rIns="0" bIns="0" anchor="t" rtlCol="0">
              <a:noAutofit/>
            </a:bodyPr>
            <a:lstStyle/>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Linfocitos, intestino, algunos tumores</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N para purinas/pirimidinas; anaplerosis</a:t>
              </a:r>
              <a:endParaRPr lang="es-AR" sz="1450" dirty="0">
                <a:latin typeface="Bahnschrift"/>
              </a:endParaRPr>
            </a:p>
            <a:p>
              <a:pPr algn="l" marL="138112" indent="-138112">
                <a:spcAft>
                  <a:spcPts val="200"/>
                </a:spcAft>
                <a:buClr>
                  <a:srgbClr val="1E1E1E"/>
                </a:buClr>
                <a:buFont typeface="Arial"/>
                <a:buChar char="•"/>
              </a:pPr>
              <a:r>
                <a:rPr lang="es-AR" sz="1450" dirty="0">
                  <a:solidFill>
                    <a:srgbClr val="1E1E1E"/>
                  </a:solidFill>
                  <a:latin typeface="Bahnschrift"/>
                  <a:ea typeface="Bahnschrift"/>
                  <a:cs typeface="Bahnschrift"/>
                  <a:sym typeface="Bahnschrift"/>
                </a:rPr>
                <a:t>No deducir «alimenta al tumor»</a:t>
              </a:r>
              <a:endParaRPr lang="es-AR" sz="1450" dirty="0">
                <a:latin typeface="Bahnschrift"/>
              </a:endParaRPr>
            </a:p>
          </p:txBody>
        </p:sp>
      </p:gr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29025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450" b="1" dirty="0">
                <a:solidFill>
                  <a:srgbClr val="1E1E1E"/>
                </a:solidFill>
                <a:latin typeface="Bahnschrift SemiBold Condensed"/>
                <a:ea typeface="Bahnschrift SemiBold Condensed"/>
                <a:cs typeface="Bahnschrift SemiBold Condensed"/>
                <a:sym typeface="Bahnschrift SemiBold Condensed"/>
              </a:rPr>
              <a:t>29 · GLUTAMINA: MONEDA DE CARBONO, NITRÓGENO Y ÁCIDO–BASE</a:t>
            </a:r>
            <a:endParaRPr lang="es-AR" sz="2450" dirty="0">
              <a:latin typeface="Bahnschrift SemiBold Condensed"/>
            </a:endParaRPr>
          </a:p>
        </p:txBody>
      </p:sp>
      <p:sp>
        <p:nvSpPr>
          <p:cNvPr id="6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6"/>
                                        </p:tgtEl>
                                        <p:attrNameLst>
                                          <p:attrName>style.visibility</p:attrName>
                                        </p:attrNameLst>
                                      </p:cBhvr>
                                      <p:to>
                                        <p:strVal val="visible"/>
                                      </p:to>
                                    </p:set>
                                    <p:animEffect transition="in" filter="fade">
                                      <p:cBhvr>
                                        <p:cTn id="20" dur="500"/>
                                        <p:tgtEl>
                                          <p:spTgt spid="4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5"/>
                                        </p:tgtEl>
                                        <p:attrNameLst>
                                          <p:attrName>style.visibility</p:attrName>
                                        </p:attrNameLst>
                                      </p:cBhvr>
                                      <p:to>
                                        <p:strVal val="visible"/>
                                      </p:to>
                                    </p:set>
                                    <p:animEffect transition="in" filter="fade">
                                      <p:cBhvr>
                                        <p:cTn id="25" dur="500"/>
                                        <p:tgtEl>
                                          <p:spTgt spid="55"/>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fade">
                                      <p:cBhvr>
                                        <p:cTn id="30"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Luz"/>
          <p:cNvSpPr/>
          <p:nvPr/>
        </p:nvSpPr>
        <p:spPr>
          <a:xfrm>
            <a:off x="274320" y="960120"/>
            <a:ext cx="7863840" cy="777240"/>
          </a:xfrm>
          <a:prstGeom prst="rect">
            <a:avLst/>
          </a:prstGeom>
          <a:solidFill>
            <a:srgbClr val="F9E79F">
              <a:alpha val="70000"/>
            </a:srgbClr>
          </a:solidFill>
          <a:ln w="12700" cap="rnd">
            <a:solidFill>
              <a:srgbClr val="B7950B"/>
            </a:solidFill>
            <a:round/>
          </a:ln>
        </p:spPr>
        <p:txBody>
          <a:bodyPr wrap="square" lIns="73152" tIns="45720" rIns="73152" bIns="45720" anchor="ctr" rtlCol="0">
            <a:noAutofit/>
          </a:bodyPr>
          <a:lstStyle/>
          <a:p>
            <a:pPr algn="ctr">
              <a:spcAft>
                <a:spcPts val="300"/>
              </a:spcAft>
              <a:buNone/>
            </a:pPr>
            <a:r>
              <a:rPr lang="es-AR" sz="1300" b="1" dirty="0">
                <a:solidFill>
                  <a:srgbClr val="7E5109"/>
                </a:solidFill>
                <a:latin typeface="Bahnschrift SemiBold Condensed"/>
                <a:ea typeface="Bahnschrift SemiBold Condensed"/>
                <a:cs typeface="Bahnschrift SemiBold Condensed"/>
                <a:sym typeface="Bahnschrift SemiBold Condensed"/>
              </a:rPr>
              <a:t>LUZ TUBULAR (orina)</a:t>
            </a:r>
            <a:endParaRPr lang="es-AR" sz="1300" dirty="0">
              <a:latin typeface="Bahnschrift SemiBold Condensed"/>
            </a:endParaRPr>
          </a:p>
        </p:txBody>
      </p:sp>
      <p:grpSp>
        <p:nvGrpSpPr>
          <p:cNvPr id="5" name="Célula túbulo proximal"/>
          <p:cNvGrpSpPr/>
          <p:nvPr/>
        </p:nvGrpSpPr>
        <p:grpSpPr>
          <a:xfrm>
            <a:off x="274320" y="1691640"/>
            <a:ext cx="7863840" cy="3840480"/>
            <a:chOff x="274320" y="1691640"/>
            <a:chExt cx="7863840" cy="3840480"/>
          </a:xfrm>
        </p:grpSpPr>
        <p:sp>
          <p:nvSpPr>
            <p:cNvPr id="6" name="Forma 5"/>
            <p:cNvSpPr/>
            <p:nvPr/>
          </p:nvSpPr>
          <p:spPr>
            <a:xfrm>
              <a:off x="274320" y="2075688"/>
              <a:ext cx="7863840" cy="3456432"/>
            </a:xfrm>
            <a:prstGeom prst="roundRect">
              <a:avLst>
                <a:gd name="adj" fmla="val 8000"/>
              </a:avLst>
            </a:prstGeom>
            <a:gradFill rotWithShape="1">
              <a:gsLst>
                <a:gs pos="0">
                  <a:srgbClr val="F7DAC6"/>
                </a:gs>
                <a:gs pos="55000">
                  <a:srgbClr val="F3C2A0"/>
                </a:gs>
                <a:gs pos="100000">
                  <a:srgbClr val="C29B80"/>
                </a:gs>
              </a:gsLst>
              <a:path path="circle">
                <a:fillToRect l="32000" t="28000" r="68000" b="72000"/>
              </a:path>
            </a:gradFill>
            <a:ln w="22225" cap="rnd">
              <a:solidFill>
                <a:srgbClr val="6D5748"/>
              </a:solidFill>
              <a:round/>
            </a:ln>
            <a:effectLst>
              <a:outerShdw blurRad="101600" dist="50800" dir="2700000" algn="tl" rotWithShape="0">
                <a:srgbClr val="000000">
                  <a:alpha val="30000"/>
                </a:srgbClr>
              </a:outerShdw>
            </a:effectLst>
          </p:spPr>
        </p:sp>
        <p:sp>
          <p:nvSpPr>
            <p:cNvPr id="7" name="Forma 6"/>
            <p:cNvSpPr/>
            <p:nvPr/>
          </p:nvSpPr>
          <p:spPr>
            <a:xfrm>
              <a:off x="274320" y="1691640"/>
              <a:ext cx="7863840" cy="393192"/>
            </a:xfrm>
            <a:custGeom>
              <a:avLst/>
              <a:gdLst/>
              <a:ahLst/>
              <a:cxnLst/>
              <a:rect l="0" t="0" r="r" b="b"/>
              <a:pathLst>
                <a:path w="1000" h="1000" fill="none">
                  <a:moveTo>
                    <a:pt x="5" y="0"/>
                  </a:moveTo>
                  <a:lnTo>
                    <a:pt x="5" y="100"/>
                  </a:lnTo>
                </a:path>
                <a:path w="1000" h="1000" fill="none">
                  <a:moveTo>
                    <a:pt x="15" y="0"/>
                  </a:moveTo>
                  <a:lnTo>
                    <a:pt x="15" y="100"/>
                  </a:lnTo>
                </a:path>
                <a:path w="1000" h="1000" fill="none">
                  <a:moveTo>
                    <a:pt x="26" y="0"/>
                  </a:moveTo>
                  <a:lnTo>
                    <a:pt x="26" y="100"/>
                  </a:lnTo>
                </a:path>
                <a:path w="1000" h="1000" fill="none">
                  <a:moveTo>
                    <a:pt x="36" y="0"/>
                  </a:moveTo>
                  <a:lnTo>
                    <a:pt x="36" y="100"/>
                  </a:lnTo>
                </a:path>
                <a:path w="1000" h="1000" fill="none">
                  <a:moveTo>
                    <a:pt x="47" y="0"/>
                  </a:moveTo>
                  <a:lnTo>
                    <a:pt x="47" y="100"/>
                  </a:lnTo>
                </a:path>
                <a:path w="1000" h="1000" fill="none">
                  <a:moveTo>
                    <a:pt x="57" y="0"/>
                  </a:moveTo>
                  <a:lnTo>
                    <a:pt x="57" y="100"/>
                  </a:lnTo>
                </a:path>
                <a:path w="1000" h="1000" fill="none">
                  <a:moveTo>
                    <a:pt x="68" y="0"/>
                  </a:moveTo>
                  <a:lnTo>
                    <a:pt x="68" y="100"/>
                  </a:lnTo>
                </a:path>
                <a:path w="1000" h="1000" fill="none">
                  <a:moveTo>
                    <a:pt x="78" y="0"/>
                  </a:moveTo>
                  <a:lnTo>
                    <a:pt x="78" y="100"/>
                  </a:lnTo>
                </a:path>
                <a:path w="1000" h="1000" fill="none">
                  <a:moveTo>
                    <a:pt x="89" y="0"/>
                  </a:moveTo>
                  <a:lnTo>
                    <a:pt x="89" y="100"/>
                  </a:lnTo>
                </a:path>
                <a:path w="1000" h="1000" fill="none">
                  <a:moveTo>
                    <a:pt x="100" y="0"/>
                  </a:moveTo>
                  <a:lnTo>
                    <a:pt x="100" y="100"/>
                  </a:lnTo>
                </a:path>
                <a:path w="1000" h="1000" fill="none">
                  <a:moveTo>
                    <a:pt x="110" y="0"/>
                  </a:moveTo>
                  <a:lnTo>
                    <a:pt x="110" y="100"/>
                  </a:lnTo>
                </a:path>
                <a:path w="1000" h="1000" fill="none">
                  <a:moveTo>
                    <a:pt x="121" y="0"/>
                  </a:moveTo>
                  <a:lnTo>
                    <a:pt x="121" y="100"/>
                  </a:lnTo>
                </a:path>
                <a:path w="1000" h="1000" fill="none">
                  <a:moveTo>
                    <a:pt x="131" y="0"/>
                  </a:moveTo>
                  <a:lnTo>
                    <a:pt x="131" y="100"/>
                  </a:lnTo>
                </a:path>
                <a:path w="1000" h="1000" fill="none">
                  <a:moveTo>
                    <a:pt x="142" y="0"/>
                  </a:moveTo>
                  <a:lnTo>
                    <a:pt x="142" y="100"/>
                  </a:lnTo>
                </a:path>
                <a:path w="1000" h="1000" fill="none">
                  <a:moveTo>
                    <a:pt x="152" y="0"/>
                  </a:moveTo>
                  <a:lnTo>
                    <a:pt x="152" y="100"/>
                  </a:lnTo>
                </a:path>
                <a:path w="1000" h="1000" fill="none">
                  <a:moveTo>
                    <a:pt x="163" y="0"/>
                  </a:moveTo>
                  <a:lnTo>
                    <a:pt x="163" y="100"/>
                  </a:lnTo>
                </a:path>
                <a:path w="1000" h="1000" fill="none">
                  <a:moveTo>
                    <a:pt x="173" y="0"/>
                  </a:moveTo>
                  <a:lnTo>
                    <a:pt x="173" y="100"/>
                  </a:lnTo>
                </a:path>
                <a:path w="1000" h="1000" fill="none">
                  <a:moveTo>
                    <a:pt x="184" y="0"/>
                  </a:moveTo>
                  <a:lnTo>
                    <a:pt x="184" y="100"/>
                  </a:lnTo>
                </a:path>
                <a:path w="1000" h="1000" fill="none">
                  <a:moveTo>
                    <a:pt x="194" y="0"/>
                  </a:moveTo>
                  <a:lnTo>
                    <a:pt x="194" y="100"/>
                  </a:lnTo>
                </a:path>
                <a:path w="1000" h="1000" fill="none">
                  <a:moveTo>
                    <a:pt x="205" y="0"/>
                  </a:moveTo>
                  <a:lnTo>
                    <a:pt x="205" y="100"/>
                  </a:lnTo>
                </a:path>
                <a:path w="1000" h="1000" fill="none">
                  <a:moveTo>
                    <a:pt x="215" y="0"/>
                  </a:moveTo>
                  <a:lnTo>
                    <a:pt x="215" y="100"/>
                  </a:lnTo>
                </a:path>
                <a:path w="1000" h="1000" fill="none">
                  <a:moveTo>
                    <a:pt x="226" y="0"/>
                  </a:moveTo>
                  <a:lnTo>
                    <a:pt x="226" y="100"/>
                  </a:lnTo>
                </a:path>
                <a:path w="1000" h="1000" fill="none">
                  <a:moveTo>
                    <a:pt x="236" y="0"/>
                  </a:moveTo>
                  <a:lnTo>
                    <a:pt x="236" y="100"/>
                  </a:lnTo>
                </a:path>
                <a:path w="1000" h="1000" fill="none">
                  <a:moveTo>
                    <a:pt x="247" y="0"/>
                  </a:moveTo>
                  <a:lnTo>
                    <a:pt x="247" y="100"/>
                  </a:lnTo>
                </a:path>
                <a:path w="1000" h="1000" fill="none">
                  <a:moveTo>
                    <a:pt x="257" y="0"/>
                  </a:moveTo>
                  <a:lnTo>
                    <a:pt x="257" y="100"/>
                  </a:lnTo>
                </a:path>
                <a:path w="1000" h="1000" fill="none">
                  <a:moveTo>
                    <a:pt x="268" y="0"/>
                  </a:moveTo>
                  <a:lnTo>
                    <a:pt x="268" y="100"/>
                  </a:lnTo>
                </a:path>
                <a:path w="1000" h="1000" fill="none">
                  <a:moveTo>
                    <a:pt x="278" y="0"/>
                  </a:moveTo>
                  <a:lnTo>
                    <a:pt x="278" y="100"/>
                  </a:lnTo>
                </a:path>
                <a:path w="1000" h="1000" fill="none">
                  <a:moveTo>
                    <a:pt x="289" y="0"/>
                  </a:moveTo>
                  <a:lnTo>
                    <a:pt x="289" y="100"/>
                  </a:lnTo>
                </a:path>
                <a:path w="1000" h="1000" fill="none">
                  <a:moveTo>
                    <a:pt x="300" y="0"/>
                  </a:moveTo>
                  <a:lnTo>
                    <a:pt x="300" y="100"/>
                  </a:lnTo>
                </a:path>
                <a:path w="1000" h="1000" fill="none">
                  <a:moveTo>
                    <a:pt x="310" y="0"/>
                  </a:moveTo>
                  <a:lnTo>
                    <a:pt x="310" y="100"/>
                  </a:lnTo>
                </a:path>
                <a:path w="1000" h="1000" fill="none">
                  <a:moveTo>
                    <a:pt x="321" y="0"/>
                  </a:moveTo>
                  <a:lnTo>
                    <a:pt x="321" y="100"/>
                  </a:lnTo>
                </a:path>
                <a:path w="1000" h="1000" fill="none">
                  <a:moveTo>
                    <a:pt x="331" y="0"/>
                  </a:moveTo>
                  <a:lnTo>
                    <a:pt x="331" y="100"/>
                  </a:lnTo>
                </a:path>
                <a:path w="1000" h="1000" fill="none">
                  <a:moveTo>
                    <a:pt x="342" y="0"/>
                  </a:moveTo>
                  <a:lnTo>
                    <a:pt x="342" y="100"/>
                  </a:lnTo>
                </a:path>
                <a:path w="1000" h="1000" fill="none">
                  <a:moveTo>
                    <a:pt x="352" y="0"/>
                  </a:moveTo>
                  <a:lnTo>
                    <a:pt x="352" y="100"/>
                  </a:lnTo>
                </a:path>
                <a:path w="1000" h="1000" fill="none">
                  <a:moveTo>
                    <a:pt x="363" y="0"/>
                  </a:moveTo>
                  <a:lnTo>
                    <a:pt x="363" y="100"/>
                  </a:lnTo>
                </a:path>
                <a:path w="1000" h="1000" fill="none">
                  <a:moveTo>
                    <a:pt x="373" y="0"/>
                  </a:moveTo>
                  <a:lnTo>
                    <a:pt x="373" y="100"/>
                  </a:lnTo>
                </a:path>
                <a:path w="1000" h="1000" fill="none">
                  <a:moveTo>
                    <a:pt x="384" y="0"/>
                  </a:moveTo>
                  <a:lnTo>
                    <a:pt x="384" y="100"/>
                  </a:lnTo>
                </a:path>
                <a:path w="1000" h="1000" fill="none">
                  <a:moveTo>
                    <a:pt x="394" y="0"/>
                  </a:moveTo>
                  <a:lnTo>
                    <a:pt x="394" y="100"/>
                  </a:lnTo>
                </a:path>
                <a:path w="1000" h="1000" fill="none">
                  <a:moveTo>
                    <a:pt x="405" y="0"/>
                  </a:moveTo>
                  <a:lnTo>
                    <a:pt x="405" y="100"/>
                  </a:lnTo>
                </a:path>
                <a:path w="1000" h="1000" fill="none">
                  <a:moveTo>
                    <a:pt x="415" y="0"/>
                  </a:moveTo>
                  <a:lnTo>
                    <a:pt x="415" y="100"/>
                  </a:lnTo>
                </a:path>
                <a:path w="1000" h="1000" fill="none">
                  <a:moveTo>
                    <a:pt x="426" y="0"/>
                  </a:moveTo>
                  <a:lnTo>
                    <a:pt x="426" y="100"/>
                  </a:lnTo>
                </a:path>
                <a:path w="1000" h="1000" fill="none">
                  <a:moveTo>
                    <a:pt x="436" y="0"/>
                  </a:moveTo>
                  <a:lnTo>
                    <a:pt x="436" y="100"/>
                  </a:lnTo>
                </a:path>
                <a:path w="1000" h="1000" fill="none">
                  <a:moveTo>
                    <a:pt x="447" y="0"/>
                  </a:moveTo>
                  <a:lnTo>
                    <a:pt x="447" y="100"/>
                  </a:lnTo>
                </a:path>
                <a:path w="1000" h="1000" fill="none">
                  <a:moveTo>
                    <a:pt x="457" y="0"/>
                  </a:moveTo>
                  <a:lnTo>
                    <a:pt x="457" y="100"/>
                  </a:lnTo>
                </a:path>
                <a:path w="1000" h="1000" fill="none">
                  <a:moveTo>
                    <a:pt x="468" y="0"/>
                  </a:moveTo>
                  <a:lnTo>
                    <a:pt x="468" y="100"/>
                  </a:lnTo>
                </a:path>
                <a:path w="1000" h="1000" fill="none">
                  <a:moveTo>
                    <a:pt x="478" y="0"/>
                  </a:moveTo>
                  <a:lnTo>
                    <a:pt x="478" y="100"/>
                  </a:lnTo>
                </a:path>
                <a:path w="1000" h="1000" fill="none">
                  <a:moveTo>
                    <a:pt x="489" y="0"/>
                  </a:moveTo>
                  <a:lnTo>
                    <a:pt x="489" y="100"/>
                  </a:lnTo>
                </a:path>
                <a:path w="1000" h="1000" fill="none">
                  <a:moveTo>
                    <a:pt x="500" y="0"/>
                  </a:moveTo>
                  <a:lnTo>
                    <a:pt x="500" y="100"/>
                  </a:lnTo>
                </a:path>
                <a:path w="1000" h="1000" fill="none">
                  <a:moveTo>
                    <a:pt x="510" y="0"/>
                  </a:moveTo>
                  <a:lnTo>
                    <a:pt x="510" y="100"/>
                  </a:lnTo>
                </a:path>
                <a:path w="1000" h="1000" fill="none">
                  <a:moveTo>
                    <a:pt x="521" y="0"/>
                  </a:moveTo>
                  <a:lnTo>
                    <a:pt x="521" y="100"/>
                  </a:lnTo>
                </a:path>
                <a:path w="1000" h="1000" fill="none">
                  <a:moveTo>
                    <a:pt x="531" y="0"/>
                  </a:moveTo>
                  <a:lnTo>
                    <a:pt x="531" y="100"/>
                  </a:lnTo>
                </a:path>
                <a:path w="1000" h="1000" fill="none">
                  <a:moveTo>
                    <a:pt x="542" y="0"/>
                  </a:moveTo>
                  <a:lnTo>
                    <a:pt x="542" y="100"/>
                  </a:lnTo>
                </a:path>
                <a:path w="1000" h="1000" fill="none">
                  <a:moveTo>
                    <a:pt x="552" y="0"/>
                  </a:moveTo>
                  <a:lnTo>
                    <a:pt x="552" y="100"/>
                  </a:lnTo>
                </a:path>
                <a:path w="1000" h="1000" fill="none">
                  <a:moveTo>
                    <a:pt x="563" y="0"/>
                  </a:moveTo>
                  <a:lnTo>
                    <a:pt x="563" y="100"/>
                  </a:lnTo>
                </a:path>
                <a:path w="1000" h="1000" fill="none">
                  <a:moveTo>
                    <a:pt x="573" y="0"/>
                  </a:moveTo>
                  <a:lnTo>
                    <a:pt x="573" y="100"/>
                  </a:lnTo>
                </a:path>
                <a:path w="1000" h="1000" fill="none">
                  <a:moveTo>
                    <a:pt x="584" y="0"/>
                  </a:moveTo>
                  <a:lnTo>
                    <a:pt x="584" y="100"/>
                  </a:lnTo>
                </a:path>
                <a:path w="1000" h="1000" fill="none">
                  <a:moveTo>
                    <a:pt x="594" y="0"/>
                  </a:moveTo>
                  <a:lnTo>
                    <a:pt x="594" y="100"/>
                  </a:lnTo>
                </a:path>
                <a:path w="1000" h="1000" fill="none">
                  <a:moveTo>
                    <a:pt x="605" y="0"/>
                  </a:moveTo>
                  <a:lnTo>
                    <a:pt x="605" y="100"/>
                  </a:lnTo>
                </a:path>
                <a:path w="1000" h="1000" fill="none">
                  <a:moveTo>
                    <a:pt x="615" y="0"/>
                  </a:moveTo>
                  <a:lnTo>
                    <a:pt x="615" y="100"/>
                  </a:lnTo>
                </a:path>
                <a:path w="1000" h="1000" fill="none">
                  <a:moveTo>
                    <a:pt x="626" y="0"/>
                  </a:moveTo>
                  <a:lnTo>
                    <a:pt x="626" y="100"/>
                  </a:lnTo>
                </a:path>
                <a:path w="1000" h="1000" fill="none">
                  <a:moveTo>
                    <a:pt x="636" y="0"/>
                  </a:moveTo>
                  <a:lnTo>
                    <a:pt x="636" y="100"/>
                  </a:lnTo>
                </a:path>
                <a:path w="1000" h="1000" fill="none">
                  <a:moveTo>
                    <a:pt x="647" y="0"/>
                  </a:moveTo>
                  <a:lnTo>
                    <a:pt x="647" y="100"/>
                  </a:lnTo>
                </a:path>
                <a:path w="1000" h="1000" fill="none">
                  <a:moveTo>
                    <a:pt x="657" y="0"/>
                  </a:moveTo>
                  <a:lnTo>
                    <a:pt x="657" y="100"/>
                  </a:lnTo>
                </a:path>
                <a:path w="1000" h="1000" fill="none">
                  <a:moveTo>
                    <a:pt x="668" y="0"/>
                  </a:moveTo>
                  <a:lnTo>
                    <a:pt x="668" y="100"/>
                  </a:lnTo>
                </a:path>
                <a:path w="1000" h="1000" fill="none">
                  <a:moveTo>
                    <a:pt x="678" y="0"/>
                  </a:moveTo>
                  <a:lnTo>
                    <a:pt x="678" y="100"/>
                  </a:lnTo>
                </a:path>
                <a:path w="1000" h="1000" fill="none">
                  <a:moveTo>
                    <a:pt x="689" y="0"/>
                  </a:moveTo>
                  <a:lnTo>
                    <a:pt x="689" y="100"/>
                  </a:lnTo>
                </a:path>
                <a:path w="1000" h="1000" fill="none">
                  <a:moveTo>
                    <a:pt x="700" y="0"/>
                  </a:moveTo>
                  <a:lnTo>
                    <a:pt x="700" y="100"/>
                  </a:lnTo>
                </a:path>
                <a:path w="1000" h="1000" fill="none">
                  <a:moveTo>
                    <a:pt x="710" y="0"/>
                  </a:moveTo>
                  <a:lnTo>
                    <a:pt x="710" y="100"/>
                  </a:lnTo>
                </a:path>
                <a:path w="1000" h="1000" fill="none">
                  <a:moveTo>
                    <a:pt x="721" y="0"/>
                  </a:moveTo>
                  <a:lnTo>
                    <a:pt x="721" y="100"/>
                  </a:lnTo>
                </a:path>
                <a:path w="1000" h="1000" fill="none">
                  <a:moveTo>
                    <a:pt x="731" y="0"/>
                  </a:moveTo>
                  <a:lnTo>
                    <a:pt x="731" y="100"/>
                  </a:lnTo>
                </a:path>
                <a:path w="1000" h="1000" fill="none">
                  <a:moveTo>
                    <a:pt x="742" y="0"/>
                  </a:moveTo>
                  <a:lnTo>
                    <a:pt x="742" y="100"/>
                  </a:lnTo>
                </a:path>
                <a:path w="1000" h="1000" fill="none">
                  <a:moveTo>
                    <a:pt x="752" y="0"/>
                  </a:moveTo>
                  <a:lnTo>
                    <a:pt x="752" y="100"/>
                  </a:lnTo>
                </a:path>
                <a:path w="1000" h="1000" fill="none">
                  <a:moveTo>
                    <a:pt x="763" y="0"/>
                  </a:moveTo>
                  <a:lnTo>
                    <a:pt x="763" y="100"/>
                  </a:lnTo>
                </a:path>
                <a:path w="1000" h="1000" fill="none">
                  <a:moveTo>
                    <a:pt x="773" y="0"/>
                  </a:moveTo>
                  <a:lnTo>
                    <a:pt x="773" y="100"/>
                  </a:lnTo>
                </a:path>
                <a:path w="1000" h="1000" fill="none">
                  <a:moveTo>
                    <a:pt x="784" y="0"/>
                  </a:moveTo>
                  <a:lnTo>
                    <a:pt x="784" y="100"/>
                  </a:lnTo>
                </a:path>
                <a:path w="1000" h="1000" fill="none">
                  <a:moveTo>
                    <a:pt x="794" y="0"/>
                  </a:moveTo>
                  <a:lnTo>
                    <a:pt x="794" y="100"/>
                  </a:lnTo>
                </a:path>
                <a:path w="1000" h="1000" fill="none">
                  <a:moveTo>
                    <a:pt x="805" y="0"/>
                  </a:moveTo>
                  <a:lnTo>
                    <a:pt x="805" y="100"/>
                  </a:lnTo>
                </a:path>
                <a:path w="1000" h="1000" fill="none">
                  <a:moveTo>
                    <a:pt x="815" y="0"/>
                  </a:moveTo>
                  <a:lnTo>
                    <a:pt x="815" y="100"/>
                  </a:lnTo>
                </a:path>
                <a:path w="1000" h="1000" fill="none">
                  <a:moveTo>
                    <a:pt x="826" y="0"/>
                  </a:moveTo>
                  <a:lnTo>
                    <a:pt x="826" y="100"/>
                  </a:lnTo>
                </a:path>
                <a:path w="1000" h="1000" fill="none">
                  <a:moveTo>
                    <a:pt x="836" y="0"/>
                  </a:moveTo>
                  <a:lnTo>
                    <a:pt x="836" y="100"/>
                  </a:lnTo>
                </a:path>
                <a:path w="1000" h="1000" fill="none">
                  <a:moveTo>
                    <a:pt x="847" y="0"/>
                  </a:moveTo>
                  <a:lnTo>
                    <a:pt x="847" y="100"/>
                  </a:lnTo>
                </a:path>
                <a:path w="1000" h="1000" fill="none">
                  <a:moveTo>
                    <a:pt x="857" y="0"/>
                  </a:moveTo>
                  <a:lnTo>
                    <a:pt x="857" y="100"/>
                  </a:lnTo>
                </a:path>
                <a:path w="1000" h="1000" fill="none">
                  <a:moveTo>
                    <a:pt x="868" y="0"/>
                  </a:moveTo>
                  <a:lnTo>
                    <a:pt x="868" y="100"/>
                  </a:lnTo>
                </a:path>
                <a:path w="1000" h="1000" fill="none">
                  <a:moveTo>
                    <a:pt x="878" y="0"/>
                  </a:moveTo>
                  <a:lnTo>
                    <a:pt x="878" y="100"/>
                  </a:lnTo>
                </a:path>
                <a:path w="1000" h="1000" fill="none">
                  <a:moveTo>
                    <a:pt x="889" y="0"/>
                  </a:moveTo>
                  <a:lnTo>
                    <a:pt x="889" y="100"/>
                  </a:lnTo>
                </a:path>
                <a:path w="1000" h="1000" fill="none">
                  <a:moveTo>
                    <a:pt x="900" y="0"/>
                  </a:moveTo>
                  <a:lnTo>
                    <a:pt x="900" y="100"/>
                  </a:lnTo>
                </a:path>
                <a:path w="1000" h="1000" fill="none">
                  <a:moveTo>
                    <a:pt x="910" y="0"/>
                  </a:moveTo>
                  <a:lnTo>
                    <a:pt x="910" y="100"/>
                  </a:lnTo>
                </a:path>
                <a:path w="1000" h="1000" fill="none">
                  <a:moveTo>
                    <a:pt x="921" y="0"/>
                  </a:moveTo>
                  <a:lnTo>
                    <a:pt x="921" y="100"/>
                  </a:lnTo>
                </a:path>
                <a:path w="1000" h="1000" fill="none">
                  <a:moveTo>
                    <a:pt x="931" y="0"/>
                  </a:moveTo>
                  <a:lnTo>
                    <a:pt x="931" y="100"/>
                  </a:lnTo>
                </a:path>
                <a:path w="1000" h="1000" fill="none">
                  <a:moveTo>
                    <a:pt x="942" y="0"/>
                  </a:moveTo>
                  <a:lnTo>
                    <a:pt x="942" y="100"/>
                  </a:lnTo>
                </a:path>
                <a:path w="1000" h="1000" fill="none">
                  <a:moveTo>
                    <a:pt x="952" y="0"/>
                  </a:moveTo>
                  <a:lnTo>
                    <a:pt x="952" y="100"/>
                  </a:lnTo>
                </a:path>
                <a:path w="1000" h="1000" fill="none">
                  <a:moveTo>
                    <a:pt x="963" y="0"/>
                  </a:moveTo>
                  <a:lnTo>
                    <a:pt x="963" y="100"/>
                  </a:lnTo>
                </a:path>
                <a:path w="1000" h="1000" fill="none">
                  <a:moveTo>
                    <a:pt x="973" y="0"/>
                  </a:moveTo>
                  <a:lnTo>
                    <a:pt x="973" y="100"/>
                  </a:lnTo>
                </a:path>
                <a:path w="1000" h="1000" fill="none">
                  <a:moveTo>
                    <a:pt x="984" y="0"/>
                  </a:moveTo>
                  <a:lnTo>
                    <a:pt x="984" y="100"/>
                  </a:lnTo>
                </a:path>
                <a:path w="1000" h="1000" fill="none">
                  <a:moveTo>
                    <a:pt x="994" y="0"/>
                  </a:moveTo>
                  <a:lnTo>
                    <a:pt x="994" y="100"/>
                  </a:lnTo>
                </a:path>
              </a:pathLst>
            </a:custGeom>
            <a:noFill/>
            <a:ln w="28575" cap="rnd">
              <a:solidFill>
                <a:srgbClr val="856A58"/>
              </a:solidFill>
              <a:round/>
            </a:ln>
          </p:spPr>
        </p:sp>
        <p:grpSp>
          <p:nvGrpSpPr>
            <p:cNvPr id="8" name="Núcleo"/>
            <p:cNvGrpSpPr/>
            <p:nvPr/>
          </p:nvGrpSpPr>
          <p:grpSpPr>
            <a:xfrm>
              <a:off x="903427" y="3919118"/>
              <a:ext cx="1415491" cy="1273942"/>
              <a:chOff x="903427" y="3919118"/>
              <a:chExt cx="1415491" cy="1273942"/>
            </a:xfrm>
          </p:grpSpPr>
          <p:sp>
            <p:nvSpPr>
              <p:cNvPr id="9" name="Forma 8"/>
              <p:cNvSpPr/>
              <p:nvPr/>
            </p:nvSpPr>
            <p:spPr>
              <a:xfrm>
                <a:off x="903427" y="3919118"/>
                <a:ext cx="1415491" cy="1273942"/>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10" name="Forma 9"/>
              <p:cNvSpPr/>
              <p:nvPr/>
            </p:nvSpPr>
            <p:spPr>
              <a:xfrm>
                <a:off x="1639483" y="4343766"/>
                <a:ext cx="311408" cy="283098"/>
              </a:xfrm>
              <a:prstGeom prst="ellipse">
                <a:avLst/>
              </a:prstGeom>
              <a:solidFill>
                <a:srgbClr val="513B6B"/>
              </a:solidFill>
              <a:ln>
                <a:noFill/>
              </a:ln>
            </p:spPr>
          </p:sp>
        </p:grpSp>
        <p:grpSp>
          <p:nvGrpSpPr>
            <p:cNvPr id="11" name="Mitocondria"/>
            <p:cNvGrpSpPr/>
            <p:nvPr/>
          </p:nvGrpSpPr>
          <p:grpSpPr>
            <a:xfrm>
              <a:off x="5936285" y="4379976"/>
              <a:ext cx="1022299" cy="511150"/>
              <a:chOff x="5936285" y="4379976"/>
              <a:chExt cx="1022299" cy="511150"/>
            </a:xfrm>
          </p:grpSpPr>
          <p:sp>
            <p:nvSpPr>
              <p:cNvPr id="12" name="Forma 11"/>
              <p:cNvSpPr/>
              <p:nvPr/>
            </p:nvSpPr>
            <p:spPr>
              <a:xfrm rot="4800000">
                <a:off x="5936285" y="4379976"/>
                <a:ext cx="1022299" cy="51115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3" name="Forma 12"/>
              <p:cNvSpPr/>
              <p:nvPr/>
            </p:nvSpPr>
            <p:spPr>
              <a:xfrm rot="4800000">
                <a:off x="6007846" y="4451537"/>
                <a:ext cx="879177" cy="368028"/>
              </a:xfrm>
              <a:prstGeom prst="ellipse">
                <a:avLst/>
              </a:prstGeom>
              <a:solidFill>
                <a:srgbClr val="F8D8B4"/>
              </a:solidFill>
              <a:ln w="9525" cap="rnd">
                <a:solidFill>
                  <a:srgbClr val="B2732B"/>
                </a:solidFill>
                <a:round/>
              </a:ln>
            </p:spPr>
          </p:sp>
          <p:sp>
            <p:nvSpPr>
              <p:cNvPr id="14" name="Forma 13"/>
              <p:cNvSpPr/>
              <p:nvPr/>
            </p:nvSpPr>
            <p:spPr>
              <a:xfrm rot="4800000">
                <a:off x="6007846" y="4451537"/>
                <a:ext cx="879177" cy="3680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15" name="Mitocondria_2"/>
            <p:cNvGrpSpPr/>
            <p:nvPr/>
          </p:nvGrpSpPr>
          <p:grpSpPr>
            <a:xfrm>
              <a:off x="6722669" y="4303166"/>
              <a:ext cx="1022299" cy="511150"/>
              <a:chOff x="6722669" y="4303166"/>
              <a:chExt cx="1022299" cy="511150"/>
            </a:xfrm>
          </p:grpSpPr>
          <p:sp>
            <p:nvSpPr>
              <p:cNvPr id="16" name="Forma 15"/>
              <p:cNvSpPr/>
              <p:nvPr/>
            </p:nvSpPr>
            <p:spPr>
              <a:xfrm rot="5100000">
                <a:off x="6722669" y="4303166"/>
                <a:ext cx="1022299" cy="51115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7" name="Forma 16"/>
              <p:cNvSpPr/>
              <p:nvPr/>
            </p:nvSpPr>
            <p:spPr>
              <a:xfrm rot="5100000">
                <a:off x="6794230" y="4374727"/>
                <a:ext cx="879177" cy="368028"/>
              </a:xfrm>
              <a:prstGeom prst="ellipse">
                <a:avLst/>
              </a:prstGeom>
              <a:solidFill>
                <a:srgbClr val="F8D8B4"/>
              </a:solidFill>
              <a:ln w="9525" cap="rnd">
                <a:solidFill>
                  <a:srgbClr val="B2732B"/>
                </a:solidFill>
                <a:round/>
              </a:ln>
            </p:spPr>
          </p:sp>
          <p:sp>
            <p:nvSpPr>
              <p:cNvPr id="18" name="Forma 17"/>
              <p:cNvSpPr/>
              <p:nvPr/>
            </p:nvSpPr>
            <p:spPr>
              <a:xfrm rot="5100000">
                <a:off x="6794230" y="4374727"/>
                <a:ext cx="879177" cy="3680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19" name="Mitocondria_3"/>
            <p:cNvGrpSpPr/>
            <p:nvPr/>
          </p:nvGrpSpPr>
          <p:grpSpPr>
            <a:xfrm>
              <a:off x="5149901" y="4456786"/>
              <a:ext cx="1022299" cy="511150"/>
              <a:chOff x="5149901" y="4456786"/>
              <a:chExt cx="1022299" cy="511150"/>
            </a:xfrm>
          </p:grpSpPr>
          <p:sp>
            <p:nvSpPr>
              <p:cNvPr id="20" name="Forma 19"/>
              <p:cNvSpPr/>
              <p:nvPr/>
            </p:nvSpPr>
            <p:spPr>
              <a:xfrm rot="5700000">
                <a:off x="5149901" y="4456786"/>
                <a:ext cx="1022299" cy="51115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1" name="Forma 20"/>
              <p:cNvSpPr/>
              <p:nvPr/>
            </p:nvSpPr>
            <p:spPr>
              <a:xfrm rot="5700000">
                <a:off x="5221462" y="4528347"/>
                <a:ext cx="879177" cy="368028"/>
              </a:xfrm>
              <a:prstGeom prst="ellipse">
                <a:avLst/>
              </a:prstGeom>
              <a:solidFill>
                <a:srgbClr val="F8D8B4"/>
              </a:solidFill>
              <a:ln w="9525" cap="rnd">
                <a:solidFill>
                  <a:srgbClr val="B2732B"/>
                </a:solidFill>
                <a:round/>
              </a:ln>
            </p:spPr>
          </p:sp>
          <p:sp>
            <p:nvSpPr>
              <p:cNvPr id="22" name="Forma 21"/>
              <p:cNvSpPr/>
              <p:nvPr/>
            </p:nvSpPr>
            <p:spPr>
              <a:xfrm rot="5700000">
                <a:off x="5221462" y="4528347"/>
                <a:ext cx="879177" cy="3680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nvGrpSpPr>
            <p:cNvPr id="23" name="Mitocondria_4"/>
            <p:cNvGrpSpPr/>
            <p:nvPr/>
          </p:nvGrpSpPr>
          <p:grpSpPr>
            <a:xfrm>
              <a:off x="2633472" y="2843784"/>
              <a:ext cx="1022299" cy="511150"/>
              <a:chOff x="2633472" y="2843784"/>
              <a:chExt cx="1022299" cy="511150"/>
            </a:xfrm>
          </p:grpSpPr>
          <p:sp>
            <p:nvSpPr>
              <p:cNvPr id="24" name="Forma 23"/>
              <p:cNvSpPr/>
              <p:nvPr/>
            </p:nvSpPr>
            <p:spPr>
              <a:xfrm rot="600000">
                <a:off x="2633472" y="2843784"/>
                <a:ext cx="1022299" cy="51115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5" name="Forma 24"/>
              <p:cNvSpPr/>
              <p:nvPr/>
            </p:nvSpPr>
            <p:spPr>
              <a:xfrm rot="600000">
                <a:off x="2705033" y="2915345"/>
                <a:ext cx="879177" cy="368028"/>
              </a:xfrm>
              <a:prstGeom prst="ellipse">
                <a:avLst/>
              </a:prstGeom>
              <a:solidFill>
                <a:srgbClr val="F8D8B4"/>
              </a:solidFill>
              <a:ln w="9525" cap="rnd">
                <a:solidFill>
                  <a:srgbClr val="B2732B"/>
                </a:solidFill>
                <a:round/>
              </a:ln>
            </p:spPr>
          </p:sp>
          <p:sp>
            <p:nvSpPr>
              <p:cNvPr id="26" name="Forma 25"/>
              <p:cNvSpPr/>
              <p:nvPr/>
            </p:nvSpPr>
            <p:spPr>
              <a:xfrm rot="600000">
                <a:off x="2705033" y="2915345"/>
                <a:ext cx="879177" cy="36802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7" name="Capilar peritubular"/>
          <p:cNvGrpSpPr/>
          <p:nvPr/>
        </p:nvGrpSpPr>
        <p:grpSpPr>
          <a:xfrm>
            <a:off x="274320" y="5623560"/>
            <a:ext cx="7863840" cy="777240"/>
            <a:chOff x="274320" y="5623560"/>
            <a:chExt cx="7863840" cy="777240"/>
          </a:xfrm>
        </p:grpSpPr>
        <p:sp>
          <p:nvSpPr>
            <p:cNvPr id="28" name="Forma 27"/>
            <p:cNvSpPr/>
            <p:nvPr/>
          </p:nvSpPr>
          <p:spPr>
            <a:xfrm>
              <a:off x="274320" y="5623560"/>
              <a:ext cx="7863840" cy="7772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9" name="Forma 28"/>
            <p:cNvSpPr/>
            <p:nvPr/>
          </p:nvSpPr>
          <p:spPr>
            <a:xfrm>
              <a:off x="390906" y="5763463"/>
              <a:ext cx="7630668" cy="497434"/>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30" name="Eritrocito"/>
            <p:cNvSpPr/>
            <p:nvPr/>
          </p:nvSpPr>
          <p:spPr>
            <a:xfrm>
              <a:off x="1430645" y="6002042"/>
              <a:ext cx="326441" cy="326441"/>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1" name="Eritrocito_2"/>
            <p:cNvSpPr/>
            <p:nvPr/>
          </p:nvSpPr>
          <p:spPr>
            <a:xfrm>
              <a:off x="2976114" y="5834361"/>
              <a:ext cx="326441" cy="326441"/>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2" name="Eritrocito_3"/>
            <p:cNvSpPr/>
            <p:nvPr/>
          </p:nvSpPr>
          <p:spPr>
            <a:xfrm>
              <a:off x="6142287" y="5960876"/>
              <a:ext cx="326441" cy="326441"/>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33" name="Mitocondria_5"/>
          <p:cNvSpPr/>
          <p:nvPr/>
        </p:nvSpPr>
        <p:spPr>
          <a:xfrm>
            <a:off x="1737360" y="2743200"/>
            <a:ext cx="4206240" cy="2103120"/>
          </a:xfrm>
          <a:prstGeom prst="ellipse">
            <a:avLst/>
          </a:prstGeom>
          <a:solidFill>
            <a:srgbClr val="F8C471">
              <a:alpha val="70000"/>
            </a:srgbClr>
          </a:solidFill>
          <a:ln w="25400" cap="rnd">
            <a:solidFill>
              <a:srgbClr val="B9770E"/>
            </a:solidFill>
            <a:round/>
          </a:ln>
        </p:spPr>
      </p:sp>
      <p:sp>
        <p:nvSpPr>
          <p:cNvPr id="34" name="Glutamina sangre"/>
          <p:cNvSpPr/>
          <p:nvPr/>
        </p:nvSpPr>
        <p:spPr>
          <a:xfrm>
            <a:off x="2011680" y="5715000"/>
            <a:ext cx="457200" cy="457200"/>
          </a:xfrm>
          <a:prstGeom prst="ellipse">
            <a:avLst/>
          </a:prstGeom>
          <a:gradFill rotWithShape="1">
            <a:gsLst>
              <a:gs pos="0">
                <a:srgbClr val="67C1AF"/>
              </a:gs>
              <a:gs pos="55000">
                <a:srgbClr val="16A085"/>
              </a:gs>
              <a:gs pos="100000">
                <a:srgbClr val="11806A"/>
              </a:gs>
            </a:gsLst>
            <a:path path="circle">
              <a:fillToRect l="32000" t="28000" r="68000" b="72000"/>
            </a:path>
          </a:gradFill>
          <a:ln w="12700" cap="rnd">
            <a:solidFill>
              <a:srgbClr val="0C5849"/>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Gln</a:t>
            </a:r>
            <a:endParaRPr lang="es-AR" sz="1300" dirty="0">
              <a:latin typeface="Bahnschrift SemiBold Condensed"/>
            </a:endParaRPr>
          </a:p>
        </p:txBody>
      </p:sp>
      <p:sp>
        <p:nvSpPr>
          <p:cNvPr id="35" name="Amoniogénesis Glutamina"/>
          <p:cNvSpPr/>
          <p:nvPr/>
        </p:nvSpPr>
        <p:spPr>
          <a:xfrm>
            <a:off x="2377440" y="2926080"/>
            <a:ext cx="1737360" cy="384048"/>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Glutamina</a:t>
            </a:r>
            <a:endParaRPr lang="es-AR" sz="1300" dirty="0">
              <a:latin typeface="Bahnschrift SemiBold Condensed"/>
            </a:endParaRPr>
          </a:p>
        </p:txBody>
      </p:sp>
      <p:grpSp>
        <p:nvGrpSpPr>
          <p:cNvPr id="36" name="Amoniogénesis paso 1"/>
          <p:cNvGrpSpPr/>
          <p:nvPr/>
        </p:nvGrpSpPr>
        <p:grpSpPr>
          <a:xfrm>
            <a:off x="3246120" y="3291840"/>
            <a:ext cx="1045579" cy="274320"/>
            <a:chOff x="3246120" y="3291840"/>
            <a:chExt cx="1045579" cy="274320"/>
          </a:xfrm>
        </p:grpSpPr>
        <p:sp>
          <p:nvSpPr>
            <p:cNvPr id="37" name="Flecha 36_2"/>
            <p:cNvSpPr/>
            <p:nvPr/>
          </p:nvSpPr>
          <p:spPr>
            <a:xfrm>
              <a:off x="3246120" y="3337560"/>
              <a:ext cx="9144" cy="201168"/>
            </a:xfrm>
            <a:custGeom>
              <a:avLst/>
              <a:gdLst/>
              <a:ahLst/>
              <a:cxnLst/>
              <a:rect l="0" t="0" r="r" b="b"/>
              <a:pathLst>
                <a:path w="10" h="220" fill="none">
                  <a:moveTo>
                    <a:pt x="0" y="0"/>
                  </a:moveTo>
                  <a:lnTo>
                    <a:pt x="0" y="220"/>
                  </a:lnTo>
                </a:path>
              </a:pathLst>
            </a:custGeom>
            <a:noFill/>
            <a:ln w="44450" cap="rnd">
              <a:solidFill>
                <a:srgbClr val="1E1E1E"/>
              </a:solidFill>
              <a:round/>
              <a:tailEnd type="triangle" w="med" len="med"/>
            </a:ln>
          </p:spPr>
        </p:sp>
        <p:sp>
          <p:nvSpPr>
            <p:cNvPr id="38" name="Enzima glutaminasa"/>
            <p:cNvSpPr/>
            <p:nvPr/>
          </p:nvSpPr>
          <p:spPr>
            <a:xfrm>
              <a:off x="3355848" y="3291840"/>
              <a:ext cx="93585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glutaminasa</a:t>
              </a:r>
              <a:endParaRPr lang="es-AR" sz="1150" dirty="0">
                <a:latin typeface="Bahnschrift SemiBold Condensed"/>
              </a:endParaRPr>
            </a:p>
          </p:txBody>
        </p:sp>
      </p:grpSp>
      <p:sp>
        <p:nvSpPr>
          <p:cNvPr id="39" name="Amoniogénesis Glutamato"/>
          <p:cNvSpPr/>
          <p:nvPr/>
        </p:nvSpPr>
        <p:spPr>
          <a:xfrm>
            <a:off x="2377440" y="3566160"/>
            <a:ext cx="1737360" cy="384048"/>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Glutamato</a:t>
            </a:r>
            <a:endParaRPr lang="es-AR" sz="1300" dirty="0">
              <a:latin typeface="Bahnschrift SemiBold Condensed"/>
            </a:endParaRPr>
          </a:p>
        </p:txBody>
      </p:sp>
      <p:grpSp>
        <p:nvGrpSpPr>
          <p:cNvPr id="40" name="Amoniogénesis paso 2"/>
          <p:cNvGrpSpPr/>
          <p:nvPr/>
        </p:nvGrpSpPr>
        <p:grpSpPr>
          <a:xfrm>
            <a:off x="3246120" y="3931920"/>
            <a:ext cx="553594" cy="274320"/>
            <a:chOff x="3246120" y="3931920"/>
            <a:chExt cx="553594" cy="274320"/>
          </a:xfrm>
        </p:grpSpPr>
        <p:sp>
          <p:nvSpPr>
            <p:cNvPr id="41" name="Flecha 41_2"/>
            <p:cNvSpPr/>
            <p:nvPr/>
          </p:nvSpPr>
          <p:spPr>
            <a:xfrm>
              <a:off x="3246120" y="3977640"/>
              <a:ext cx="9144" cy="201168"/>
            </a:xfrm>
            <a:custGeom>
              <a:avLst/>
              <a:gdLst/>
              <a:ahLst/>
              <a:cxnLst/>
              <a:rect l="0" t="0" r="r" b="b"/>
              <a:pathLst>
                <a:path w="10" h="219" fill="none">
                  <a:moveTo>
                    <a:pt x="0" y="0"/>
                  </a:moveTo>
                  <a:lnTo>
                    <a:pt x="0" y="219"/>
                  </a:lnTo>
                </a:path>
              </a:pathLst>
            </a:custGeom>
            <a:noFill/>
            <a:ln w="25400" cap="rnd">
              <a:solidFill>
                <a:srgbClr val="1E1E1E"/>
              </a:solidFill>
              <a:round/>
              <a:headEnd type="triangle" w="med" len="med"/>
              <a:tailEnd type="triangle" w="med" len="med"/>
            </a:ln>
          </p:spPr>
        </p:sp>
        <p:sp>
          <p:nvSpPr>
            <p:cNvPr id="42" name="Enzima GDH"/>
            <p:cNvSpPr/>
            <p:nvPr/>
          </p:nvSpPr>
          <p:spPr>
            <a:xfrm>
              <a:off x="3355848" y="3931920"/>
              <a:ext cx="443866"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GDH</a:t>
              </a:r>
              <a:endParaRPr lang="es-AR" sz="1150" dirty="0">
                <a:latin typeface="Bahnschrift SemiBold Condensed"/>
              </a:endParaRPr>
            </a:p>
          </p:txBody>
        </p:sp>
      </p:grpSp>
      <p:sp>
        <p:nvSpPr>
          <p:cNvPr id="43" name="Amoniogénesis α-cetoglutarato"/>
          <p:cNvSpPr/>
          <p:nvPr/>
        </p:nvSpPr>
        <p:spPr>
          <a:xfrm>
            <a:off x="2377440" y="4206240"/>
            <a:ext cx="1737360" cy="384048"/>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α-cetoglutarato</a:t>
            </a:r>
            <a:endParaRPr lang="es-AR" sz="1300" dirty="0">
              <a:latin typeface="Bahnschrift SemiBold Condensed"/>
            </a:endParaRPr>
          </a:p>
        </p:txBody>
      </p:sp>
      <p:sp>
        <p:nvSpPr>
          <p:cNvPr id="44" name="NH4 1"/>
          <p:cNvSpPr/>
          <p:nvPr/>
        </p:nvSpPr>
        <p:spPr>
          <a:xfrm>
            <a:off x="4572000" y="3246120"/>
            <a:ext cx="384048" cy="384048"/>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72" b="1" dirty="0">
                <a:solidFill>
                  <a:srgbClr val="FFFFFF"/>
                </a:solidFill>
                <a:latin typeface="Bahnschrift SemiBold Condensed"/>
                <a:ea typeface="Bahnschrift SemiBold Condensed"/>
                <a:cs typeface="Bahnschrift SemiBold Condensed"/>
                <a:sym typeface="Bahnschrift SemiBold Condensed"/>
              </a:rPr>
              <a:t>NH</a:t>
            </a:r>
            <a:r>
              <a:rPr lang="es-AR" sz="972" b="1" baseline="-25000" dirty="0">
                <a:solidFill>
                  <a:srgbClr val="FFFFFF"/>
                </a:solidFill>
                <a:latin typeface="Bahnschrift SemiBold Condensed"/>
                <a:ea typeface="Bahnschrift SemiBold Condensed"/>
                <a:cs typeface="Bahnschrift SemiBold Condensed"/>
                <a:sym typeface="Bahnschrift SemiBold Condensed"/>
              </a:rPr>
              <a:t>4</a:t>
            </a:r>
            <a:r>
              <a:rPr lang="es-AR" sz="97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72" dirty="0">
              <a:latin typeface="Bahnschrift SemiBold Condensed"/>
            </a:endParaRPr>
          </a:p>
        </p:txBody>
      </p:sp>
      <p:sp>
        <p:nvSpPr>
          <p:cNvPr id="45" name="NH4 2"/>
          <p:cNvSpPr/>
          <p:nvPr/>
        </p:nvSpPr>
        <p:spPr>
          <a:xfrm>
            <a:off x="4572000" y="3886200"/>
            <a:ext cx="384048" cy="384048"/>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972" b="1" dirty="0">
                <a:solidFill>
                  <a:srgbClr val="FFFFFF"/>
                </a:solidFill>
                <a:latin typeface="Bahnschrift SemiBold Condensed"/>
                <a:ea typeface="Bahnschrift SemiBold Condensed"/>
                <a:cs typeface="Bahnschrift SemiBold Condensed"/>
                <a:sym typeface="Bahnschrift SemiBold Condensed"/>
              </a:rPr>
              <a:t>NH</a:t>
            </a:r>
            <a:r>
              <a:rPr lang="es-AR" sz="972" b="1" baseline="-25000" dirty="0">
                <a:solidFill>
                  <a:srgbClr val="FFFFFF"/>
                </a:solidFill>
                <a:latin typeface="Bahnschrift SemiBold Condensed"/>
                <a:ea typeface="Bahnschrift SemiBold Condensed"/>
                <a:cs typeface="Bahnschrift SemiBold Condensed"/>
                <a:sym typeface="Bahnschrift SemiBold Condensed"/>
              </a:rPr>
              <a:t>4</a:t>
            </a:r>
            <a:r>
              <a:rPr lang="es-AR" sz="972" b="1" baseline="30000" dirty="0">
                <a:solidFill>
                  <a:srgbClr val="FFFFFF"/>
                </a:solidFill>
                <a:latin typeface="Bahnschrift SemiBold Condensed"/>
                <a:ea typeface="Bahnschrift SemiBold Condensed"/>
                <a:cs typeface="Bahnschrift SemiBold Condensed"/>
                <a:sym typeface="Bahnschrift SemiBold Condensed"/>
              </a:rPr>
              <a:t>+</a:t>
            </a:r>
            <a:endParaRPr lang="es-AR" sz="972" dirty="0">
              <a:latin typeface="Bahnschrift SemiBold Condensed"/>
            </a:endParaRPr>
          </a:p>
        </p:txBody>
      </p:sp>
      <p:sp>
        <p:nvSpPr>
          <p:cNvPr id="46" name="NHE3"/>
          <p:cNvSpPr/>
          <p:nvPr/>
        </p:nvSpPr>
        <p:spPr>
          <a:xfrm>
            <a:off x="6035040" y="1828800"/>
            <a:ext cx="1281528" cy="236220"/>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NHE3 / secreción</a:t>
            </a:r>
            <a:endParaRPr lang="es-AR" sz="1200" dirty="0">
              <a:latin typeface="Bahnschrift SemiBold Condensed"/>
            </a:endParaRPr>
          </a:p>
        </p:txBody>
      </p:sp>
      <p:sp>
        <p:nvSpPr>
          <p:cNvPr id="47" name="Glucosa renal"/>
          <p:cNvSpPr/>
          <p:nvPr/>
        </p:nvSpPr>
        <p:spPr>
          <a:xfrm>
            <a:off x="6217920" y="5029200"/>
            <a:ext cx="411480" cy="41148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170" b="1" dirty="0">
                <a:solidFill>
                  <a:srgbClr val="FFFFFF"/>
                </a:solidFill>
                <a:latin typeface="Bahnschrift SemiBold Condensed"/>
                <a:ea typeface="Bahnschrift SemiBold Condensed"/>
                <a:cs typeface="Bahnschrift SemiBold Condensed"/>
                <a:sym typeface="Bahnschrift SemiBold Condensed"/>
              </a:rPr>
              <a:t>Glc</a:t>
            </a:r>
            <a:endParaRPr lang="es-AR" sz="1170" dirty="0">
              <a:latin typeface="Bahnschrift SemiBold Condensed"/>
            </a:endParaRPr>
          </a:p>
        </p:txBody>
      </p:sp>
      <p:sp>
        <p:nvSpPr>
          <p:cNvPr id="48" name="Bicarbonato"/>
          <p:cNvSpPr/>
          <p:nvPr/>
        </p:nvSpPr>
        <p:spPr>
          <a:xfrm>
            <a:off x="6720840" y="5074920"/>
            <a:ext cx="741556" cy="246062"/>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2 HCO</a:t>
            </a:r>
            <a:r>
              <a:rPr lang="es-AR" sz="1250" b="1" baseline="-25000" dirty="0">
                <a:solidFill>
                  <a:srgbClr val="1E1E1E"/>
                </a:solidFill>
                <a:latin typeface="Bahnschrift SemiBold Condensed"/>
                <a:ea typeface="Bahnschrift SemiBold Condensed"/>
                <a:cs typeface="Bahnschrift SemiBold Condensed"/>
                <a:sym typeface="Bahnschrift SemiBold Condensed"/>
              </a:rPr>
              <a:t>3</a:t>
            </a:r>
            <a:r>
              <a:rPr lang="es-AR" sz="1250" b="1" baseline="30000" dirty="0">
                <a:solidFill>
                  <a:srgbClr val="1E1E1E"/>
                </a:solidFill>
                <a:latin typeface="Bahnschrift SemiBold Condensed"/>
                <a:ea typeface="Bahnschrift SemiBold Condensed"/>
                <a:cs typeface="Bahnschrift SemiBold Condensed"/>
                <a:sym typeface="Bahnschrift SemiBold Condensed"/>
              </a:rPr>
              <a:t>−</a:t>
            </a:r>
            <a:endParaRPr lang="es-AR" sz="1250" dirty="0">
              <a:latin typeface="Bahnschrift SemiBold Condensed"/>
            </a:endParaRPr>
          </a:p>
        </p:txBody>
      </p:sp>
      <p:sp>
        <p:nvSpPr>
          <p:cNvPr id="49" name="Flecha 50_2"/>
          <p:cNvSpPr/>
          <p:nvPr/>
        </p:nvSpPr>
        <p:spPr>
          <a:xfrm>
            <a:off x="4114800" y="4480560"/>
            <a:ext cx="2103120" cy="640080"/>
          </a:xfrm>
          <a:custGeom>
            <a:avLst/>
            <a:gdLst/>
            <a:ahLst/>
            <a:cxnLst/>
            <a:rect l="0" t="0" r="r" b="b"/>
            <a:pathLst>
              <a:path w="2300" h="699" fill="none">
                <a:moveTo>
                  <a:pt x="0" y="0"/>
                </a:moveTo>
                <a:lnTo>
                  <a:pt x="2300" y="699"/>
                </a:lnTo>
              </a:path>
            </a:pathLst>
          </a:custGeom>
          <a:noFill/>
          <a:ln w="31750" cap="rnd">
            <a:solidFill>
              <a:srgbClr val="1E8C3A"/>
            </a:solidFill>
            <a:round/>
            <a:tailEnd type="triangle" w="med" len="med"/>
          </a:ln>
        </p:spPr>
      </p:sp>
      <p:sp>
        <p:nvSpPr>
          <p:cNvPr id="50" name="Forma 52"/>
          <p:cNvSpPr/>
          <p:nvPr/>
        </p:nvSpPr>
        <p:spPr>
          <a:xfrm>
            <a:off x="8412480" y="1005840"/>
            <a:ext cx="3383280" cy="5486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Glutaminasa</a:t>
            </a:r>
            <a:r>
              <a:rPr lang="es-AR" sz="1650" dirty="0">
                <a:solidFill>
                  <a:srgbClr val="1E1E1E"/>
                </a:solidFill>
                <a:latin typeface="Bahnschrift"/>
                <a:ea typeface="Bahnschrift"/>
                <a:cs typeface="Bahnschrift"/>
                <a:sym typeface="Bahnschrift"/>
              </a:rPr>
              <a:t> → glutamato + NH</a:t>
            </a:r>
            <a:r>
              <a:rPr lang="es-AR" sz="1650" baseline="-25000" dirty="0">
                <a:solidFill>
                  <a:srgbClr val="1E1E1E"/>
                </a:solidFill>
                <a:latin typeface="Bahnschrift"/>
                <a:ea typeface="Bahnschrift"/>
                <a:cs typeface="Bahnschrift"/>
                <a:sym typeface="Bahnschrift"/>
              </a:rPr>
              <a:t>4</a:t>
            </a:r>
            <a:r>
              <a:rPr lang="es-AR" sz="1650"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GDH</a:t>
            </a:r>
            <a:r>
              <a:rPr lang="es-AR" sz="1650" dirty="0">
                <a:solidFill>
                  <a:srgbClr val="1E1E1E"/>
                </a:solidFill>
                <a:latin typeface="Bahnschrift"/>
                <a:ea typeface="Bahnschrift"/>
                <a:cs typeface="Bahnschrift"/>
                <a:sym typeface="Bahnschrift"/>
              </a:rPr>
              <a:t> → α-KG + NH</a:t>
            </a:r>
            <a:r>
              <a:rPr lang="es-AR" sz="1650" baseline="-25000" dirty="0">
                <a:solidFill>
                  <a:srgbClr val="1E1E1E"/>
                </a:solidFill>
                <a:latin typeface="Bahnschrift"/>
                <a:ea typeface="Bahnschrift"/>
                <a:cs typeface="Bahnschrift"/>
                <a:sym typeface="Bahnschrift"/>
              </a:rPr>
              <a:t>4</a:t>
            </a:r>
            <a:r>
              <a:rPr lang="es-AR" sz="1650"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t>
            </a:r>
            <a:r>
              <a:rPr lang="es-AR" sz="1650" b="1" dirty="0">
                <a:solidFill>
                  <a:srgbClr val="1E1E1E"/>
                </a:solidFill>
                <a:latin typeface="Bahnschrift"/>
                <a:ea typeface="Bahnschrift"/>
                <a:cs typeface="Bahnschrift"/>
                <a:sym typeface="Bahnschrift"/>
              </a:rPr>
              <a:t>NH</a:t>
            </a:r>
            <a:r>
              <a:rPr lang="es-AR" sz="1650" b="1" baseline="-25000" dirty="0">
                <a:solidFill>
                  <a:srgbClr val="1E1E1E"/>
                </a:solidFill>
                <a:latin typeface="Bahnschrift"/>
                <a:ea typeface="Bahnschrift"/>
                <a:cs typeface="Bahnschrift"/>
                <a:sym typeface="Bahnschrift"/>
              </a:rPr>
              <a:t>4</a:t>
            </a:r>
            <a:r>
              <a:rPr lang="es-AR" sz="1650" b="1"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se excreta en la orina (</a:t>
            </a:r>
            <a:r>
              <a:rPr lang="es-AR" sz="1650" b="1" dirty="0">
                <a:solidFill>
                  <a:srgbClr val="1E1E1E"/>
                </a:solidFill>
                <a:latin typeface="Bahnschrift"/>
                <a:ea typeface="Bahnschrift"/>
                <a:cs typeface="Bahnschrift"/>
                <a:sym typeface="Bahnschrift"/>
              </a:rPr>
              <a:t>ácido neto</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esqueleto carbonado genera </a:t>
            </a:r>
            <a:r>
              <a:rPr lang="es-AR" sz="1650" b="1" dirty="0">
                <a:solidFill>
                  <a:srgbClr val="1E1E1E"/>
                </a:solidFill>
                <a:latin typeface="Bahnschrift"/>
                <a:ea typeface="Bahnschrift"/>
                <a:cs typeface="Bahnschrift"/>
                <a:sym typeface="Bahnschrift"/>
              </a:rPr>
              <a:t>HCO</a:t>
            </a:r>
            <a:r>
              <a:rPr lang="es-AR" sz="1650" b="1" baseline="-25000" dirty="0">
                <a:solidFill>
                  <a:srgbClr val="1E1E1E"/>
                </a:solidFill>
                <a:latin typeface="Bahnschrift"/>
                <a:ea typeface="Bahnschrift"/>
                <a:cs typeface="Bahnschrift"/>
                <a:sym typeface="Bahnschrift"/>
              </a:rPr>
              <a:t>3</a:t>
            </a:r>
            <a:r>
              <a:rPr lang="es-AR" sz="1650" b="1" baseline="30000" dirty="0">
                <a:solidFill>
                  <a:srgbClr val="1E1E1E"/>
                </a:solidFill>
                <a:latin typeface="Bahnschrift"/>
                <a:ea typeface="Bahnschrift"/>
                <a:cs typeface="Bahnschrift"/>
                <a:sym typeface="Bahnschrift"/>
              </a:rPr>
              <a:t>−</a:t>
            </a:r>
            <a:r>
              <a:rPr lang="es-AR" sz="1650" b="1" dirty="0">
                <a:solidFill>
                  <a:srgbClr val="1E1E1E"/>
                </a:solidFill>
                <a:latin typeface="Bahnschrift"/>
                <a:ea typeface="Bahnschrift"/>
                <a:cs typeface="Bahnschrift"/>
                <a:sym typeface="Bahnschrift"/>
              </a:rPr>
              <a:t> nuevo</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glucosa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acidosis</a:t>
            </a:r>
            <a:r>
              <a:rPr lang="es-AR" sz="1650" dirty="0">
                <a:solidFill>
                  <a:srgbClr val="1E1E1E"/>
                </a:solidFill>
                <a:latin typeface="Bahnschrift"/>
                <a:ea typeface="Bahnschrift"/>
                <a:cs typeface="Bahnschrift"/>
                <a:sym typeface="Bahnschrift"/>
              </a:rPr>
              <a:t> aumenta la amoniogénesis.</a:t>
            </a:r>
            <a:endParaRPr lang="es-AR" sz="1650" dirty="0">
              <a:latin typeface="Bahnschrift"/>
            </a:endParaRPr>
          </a:p>
        </p:txBody>
      </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924679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29 · AMONIOGÉNESIS RENAL: EXCRETAR ÁCIDO Y CREAR BICARBONATO</a:t>
            </a:r>
            <a:endParaRPr lang="es-AR" sz="2600" dirty="0">
              <a:latin typeface="Bahnschrift SemiBold Condensed"/>
            </a:endParaRPr>
          </a:p>
        </p:txBody>
      </p:sp>
      <p:sp>
        <p:nvSpPr>
          <p:cNvPr id="5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4"/>
                                        </p:tgtEl>
                                        <p:attrNameLst>
                                          <p:attrName>style.visibility</p:attrName>
                                        </p:attrNameLst>
                                      </p:cBhvr>
                                      <p:to>
                                        <p:strVal val="visible"/>
                                      </p:to>
                                    </p:set>
                                    <p:animEffect transition="in" filter="fade">
                                      <p:cBhvr>
                                        <p:cTn id="5" dur="500"/>
                                        <p:tgtEl>
                                          <p:spTgt spid="34"/>
                                        </p:tgtEl>
                                      </p:cBhvr>
                                    </p:animEffect>
                                  </p:childTnLst>
                                </p:cTn>
                              </p:par>
                            </p:childTnLst>
                          </p:cTn>
                        </p:par>
                        <p:par>
                          <p:cTn id="9" fill="hold">
                            <p:stCondLst>
                              <p:cond delay="500"/>
                            </p:stCondLst>
                            <p:childTnLst>
                              <p:par>
                                <p:cTn id="7" presetID="0" presetClass="path" presetSubtype="0" accel="20000" decel="20000" fill="hold" grpId="0" nodeType="afterEffect">
                                  <p:stCondLst>
                                    <p:cond delay="0"/>
                                  </p:stCondLst>
                                  <p:childTnLst>
                                    <p:animMotion origin="layout" path="M 0 0 L 0.0375 -0.3933 E" pathEditMode="relative" ptsTypes="">
                                      <p:cBhvr>
                                        <p:cTn id="8" dur="1400" fill="hold"/>
                                        <p:tgtEl>
                                          <p:spTgt spid="34"/>
                                        </p:tgtEl>
                                        <p:attrNameLst>
                                          <p:attrName>ppt_x</p:attrName>
                                          <p:attrName>ppt_y</p:attrName>
                                        </p:attrNameLst>
                                      </p:cBhvr>
                                      <p:rCtr x="1875" y="-19666"/>
                                    </p:animMotion>
                                  </p:childTnLst>
                                </p:cTn>
                              </p:par>
                            </p:childTnLst>
                          </p:cTn>
                        </p:par>
                      </p:childTnLst>
                    </p:cTn>
                  </p:par>
                  <p:par>
                    <p:cTn id="31" fill="hold">
                      <p:stCondLst>
                        <p:cond delay="indefinite"/>
                      </p:stCondLst>
                      <p:childTnLst>
                        <p:par>
                          <p:cTn id="14"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8" fill="hold">
                            <p:stCondLst>
                              <p:cond delay="500"/>
                            </p:stCondLst>
                            <p:childTnLst>
                              <p:par>
                                <p:cTn id="15" presetID="22" presetClass="entr" presetSubtype="1" fill="hold" grpId="0" nodeType="after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wipe(up)">
                                      <p:cBhvr>
                                        <p:cTn id="17" dur="600"/>
                                        <p:tgtEl>
                                          <p:spTgt spid="36"/>
                                        </p:tgtEl>
                                      </p:cBhvr>
                                    </p:animEffect>
                                  </p:childTnLst>
                                </p:cTn>
                              </p:par>
                            </p:childTnLst>
                          </p:cTn>
                        </p:par>
                        <p:par>
                          <p:cTn id="22" fill="hold">
                            <p:stCondLst>
                              <p:cond delay="1100"/>
                            </p:stCondLst>
                            <p:childTnLst>
                              <p:par>
                                <p:cTn id="19" presetID="10" presetClass="entr" presetSubtype="0"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fade">
                                      <p:cBhvr>
                                        <p:cTn id="21" dur="500"/>
                                        <p:tgtEl>
                                          <p:spTgt spid="39"/>
                                        </p:tgtEl>
                                      </p:cBhvr>
                                    </p:animEffect>
                                  </p:childTnLst>
                                </p:cTn>
                              </p:par>
                            </p:childTnLst>
                          </p:cTn>
                        </p:par>
                        <p:par>
                          <p:cTn id="26" fill="hold">
                            <p:stCondLst>
                              <p:cond delay="1600"/>
                            </p:stCondLst>
                            <p:childTnLst>
                              <p:par>
                                <p:cTn id="23" presetID="22" presetClass="entr" presetSubtype="1"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wipe(up)">
                                      <p:cBhvr>
                                        <p:cTn id="25" dur="600"/>
                                        <p:tgtEl>
                                          <p:spTgt spid="40"/>
                                        </p:tgtEl>
                                      </p:cBhvr>
                                    </p:animEffect>
                                  </p:childTnLst>
                                </p:cTn>
                              </p:par>
                            </p:childTnLst>
                          </p:cTn>
                        </p:par>
                        <p:par>
                          <p:cTn id="30" fill="hold">
                            <p:stCondLst>
                              <p:cond delay="2200"/>
                            </p:stCondLst>
                            <p:childTnLst>
                              <p:par>
                                <p:cTn id="27" presetID="10"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childTnLst>
                          </p:cTn>
                        </p:par>
                      </p:childTnLst>
                    </p:cTn>
                  </p:par>
                  <p:par>
                    <p:cTn id="52" fill="hold">
                      <p:stCondLst>
                        <p:cond delay="indefinite"/>
                      </p:stCondLst>
                      <p:childTnLst>
                        <p:par>
                          <p:cTn id="37"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44"/>
                                        </p:tgtEl>
                                        <p:attrNameLst>
                                          <p:attrName>style.visibility</p:attrName>
                                        </p:attrNameLst>
                                      </p:cBhvr>
                                      <p:to>
                                        <p:strVal val="visible"/>
                                      </p:to>
                                    </p:set>
                                    <p:anim calcmode="lin" valueType="num">
                                      <p:cBhvr>
                                        <p:cTn id="34" dur="500" fill="hold"/>
                                        <p:tgtEl>
                                          <p:spTgt spid="44"/>
                                        </p:tgtEl>
                                        <p:attrNameLst>
                                          <p:attrName>ppt_w</p:attrName>
                                        </p:attrNameLst>
                                      </p:cBhvr>
                                      <p:tavLst>
                                        <p:tav tm="0">
                                          <p:val>
                                            <p:fltVal val="0"/>
                                          </p:val>
                                        </p:tav>
                                        <p:tav tm="100000">
                                          <p:val>
                                            <p:strVal val="#ppt_w"/>
                                          </p:val>
                                        </p:tav>
                                      </p:tavLst>
                                    </p:anim>
                                    <p:anim calcmode="lin" valueType="num">
                                      <p:cBhvr>
                                        <p:cTn id="35" dur="500" fill="hold"/>
                                        <p:tgtEl>
                                          <p:spTgt spid="44"/>
                                        </p:tgtEl>
                                        <p:attrNameLst>
                                          <p:attrName>ppt_h</p:attrName>
                                        </p:attrNameLst>
                                      </p:cBhvr>
                                      <p:tavLst>
                                        <p:tav tm="0">
                                          <p:val>
                                            <p:fltVal val="0"/>
                                          </p:val>
                                        </p:tav>
                                        <p:tav tm="100000">
                                          <p:val>
                                            <p:strVal val="#ppt_h"/>
                                          </p:val>
                                        </p:tav>
                                      </p:tavLst>
                                    </p:anim>
                                    <p:animEffect transition="in" filter="fade">
                                      <p:cBhvr>
                                        <p:cTn id="36" dur="500"/>
                                        <p:tgtEl>
                                          <p:spTgt spid="44"/>
                                        </p:tgtEl>
                                      </p:cBhvr>
                                    </p:animEffect>
                                  </p:childTnLst>
                                </p:cTn>
                              </p:par>
                            </p:childTnLst>
                          </p:cTn>
                        </p:par>
                        <p:par>
                          <p:cTn id="46" fill="hold">
                            <p:stCondLst>
                              <p:cond delay="500"/>
                            </p:stCondLst>
                            <p:childTnLst>
                              <p:par>
                                <p:cTn id="38" presetID="53" presetClass="entr" presetSubtype="16"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 calcmode="lin" valueType="num">
                                      <p:cBhvr>
                                        <p:cTn id="40" dur="500" fill="hold"/>
                                        <p:tgtEl>
                                          <p:spTgt spid="45"/>
                                        </p:tgtEl>
                                        <p:attrNameLst>
                                          <p:attrName>ppt_w</p:attrName>
                                        </p:attrNameLst>
                                      </p:cBhvr>
                                      <p:tavLst>
                                        <p:tav tm="0">
                                          <p:val>
                                            <p:fltVal val="0"/>
                                          </p:val>
                                        </p:tav>
                                        <p:tav tm="100000">
                                          <p:val>
                                            <p:strVal val="#ppt_w"/>
                                          </p:val>
                                        </p:tav>
                                      </p:tavLst>
                                    </p:anim>
                                    <p:anim calcmode="lin" valueType="num">
                                      <p:cBhvr>
                                        <p:cTn id="41" dur="500" fill="hold"/>
                                        <p:tgtEl>
                                          <p:spTgt spid="45"/>
                                        </p:tgtEl>
                                        <p:attrNameLst>
                                          <p:attrName>ppt_h</p:attrName>
                                        </p:attrNameLst>
                                      </p:cBhvr>
                                      <p:tavLst>
                                        <p:tav tm="0">
                                          <p:val>
                                            <p:fltVal val="0"/>
                                          </p:val>
                                        </p:tav>
                                        <p:tav tm="100000">
                                          <p:val>
                                            <p:strVal val="#ppt_h"/>
                                          </p:val>
                                        </p:tav>
                                      </p:tavLst>
                                    </p:anim>
                                    <p:animEffect transition="in" filter="fade">
                                      <p:cBhvr>
                                        <p:cTn id="42" dur="500"/>
                                        <p:tgtEl>
                                          <p:spTgt spid="4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46"/>
                                        </p:tgtEl>
                                        <p:attrNameLst>
                                          <p:attrName>style.visibility</p:attrName>
                                        </p:attrNameLst>
                                      </p:cBhvr>
                                      <p:to>
                                        <p:strVal val="visible"/>
                                      </p:to>
                                    </p:set>
                                    <p:animEffect transition="in" filter="fade">
                                      <p:cBhvr>
                                        <p:cTn id="45" dur="500"/>
                                        <p:tgtEl>
                                          <p:spTgt spid="46"/>
                                        </p:tgtEl>
                                      </p:cBhvr>
                                    </p:animEffect>
                                  </p:childTnLst>
                                </p:cTn>
                              </p:par>
                            </p:childTnLst>
                          </p:cTn>
                        </p:par>
                        <p:par>
                          <p:cTn id="51" fill="hold">
                            <p:stCondLst>
                              <p:cond delay="1000"/>
                            </p:stCondLst>
                            <p:childTnLst>
                              <p:par>
                                <p:cTn id="47" presetID="0" presetClass="path" presetSubtype="0" accel="20000" decel="20000" fill="hold" grpId="0" nodeType="afterEffect">
                                  <p:stCondLst>
                                    <p:cond delay="0"/>
                                  </p:stCondLst>
                                  <p:childTnLst>
                                    <p:animMotion origin="layout" path="M 0 0 L 0.1350 -0.3467 E" pathEditMode="relative" ptsTypes="">
                                      <p:cBhvr>
                                        <p:cTn id="48" dur="1300" fill="hold"/>
                                        <p:tgtEl>
                                          <p:spTgt spid="44"/>
                                        </p:tgtEl>
                                        <p:attrNameLst>
                                          <p:attrName>ppt_x</p:attrName>
                                          <p:attrName>ppt_y</p:attrName>
                                        </p:attrNameLst>
                                      </p:cBhvr>
                                      <p:rCtr x="6750" y="-17333"/>
                                    </p:animMotion>
                                  </p:childTnLst>
                                </p:cTn>
                              </p:par>
                              <p:par>
                                <p:cTn id="49" presetID="0" presetClass="path" presetSubtype="0" accel="20000" decel="20000" fill="hold" grpId="0" nodeType="withEffect">
                                  <p:stCondLst>
                                    <p:cond delay="0"/>
                                  </p:stCondLst>
                                  <p:childTnLst>
                                    <p:animMotion origin="layout" path="M 0 0 L 0.1725 -0.4333 E" pathEditMode="relative" ptsTypes="">
                                      <p:cBhvr>
                                        <p:cTn id="50" dur="1400" fill="hold"/>
                                        <p:tgtEl>
                                          <p:spTgt spid="45"/>
                                        </p:tgtEl>
                                        <p:attrNameLst>
                                          <p:attrName>ppt_x</p:attrName>
                                          <p:attrName>ppt_y</p:attrName>
                                        </p:attrNameLst>
                                      </p:cBhvr>
                                      <p:rCtr x="8625" y="-21666"/>
                                    </p:animMotion>
                                  </p:childTnLst>
                                </p:cTn>
                              </p:par>
                            </p:childTnLst>
                          </p:cTn>
                        </p:par>
                      </p:childTnLst>
                    </p:cTn>
                  </p:par>
                  <p:par>
                    <p:cTn id="69" fill="hold">
                      <p:stCondLst>
                        <p:cond delay="indefinite"/>
                      </p:stCondLst>
                      <p:childTnLst>
                        <p:par>
                          <p:cTn id="56"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wipe(left)">
                                      <p:cBhvr>
                                        <p:cTn id="55" dur="600"/>
                                        <p:tgtEl>
                                          <p:spTgt spid="49"/>
                                        </p:tgtEl>
                                      </p:cBhvr>
                                    </p:animEffect>
                                  </p:childTnLst>
                                </p:cTn>
                              </p:par>
                            </p:childTnLst>
                          </p:cTn>
                        </p:par>
                        <p:par>
                          <p:cTn id="65" fill="hold">
                            <p:stCondLst>
                              <p:cond delay="600"/>
                            </p:stCondLst>
                            <p:childTnLst>
                              <p:par>
                                <p:cTn id="57" presetID="53" presetClass="entr" presetSubtype="16" fill="hold" grpId="0" nodeType="after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p:cTn id="59" dur="500" fill="hold"/>
                                        <p:tgtEl>
                                          <p:spTgt spid="47"/>
                                        </p:tgtEl>
                                        <p:attrNameLst>
                                          <p:attrName>ppt_w</p:attrName>
                                        </p:attrNameLst>
                                      </p:cBhvr>
                                      <p:tavLst>
                                        <p:tav tm="0">
                                          <p:val>
                                            <p:fltVal val="0"/>
                                          </p:val>
                                        </p:tav>
                                        <p:tav tm="100000">
                                          <p:val>
                                            <p:strVal val="#ppt_w"/>
                                          </p:val>
                                        </p:tav>
                                      </p:tavLst>
                                    </p:anim>
                                    <p:anim calcmode="lin" valueType="num">
                                      <p:cBhvr>
                                        <p:cTn id="60" dur="500" fill="hold"/>
                                        <p:tgtEl>
                                          <p:spTgt spid="47"/>
                                        </p:tgtEl>
                                        <p:attrNameLst>
                                          <p:attrName>ppt_h</p:attrName>
                                        </p:attrNameLst>
                                      </p:cBhvr>
                                      <p:tavLst>
                                        <p:tav tm="0">
                                          <p:val>
                                            <p:fltVal val="0"/>
                                          </p:val>
                                        </p:tav>
                                        <p:tav tm="100000">
                                          <p:val>
                                            <p:strVal val="#ppt_h"/>
                                          </p:val>
                                        </p:tav>
                                      </p:tavLst>
                                    </p:anim>
                                    <p:animEffect transition="in" filter="fade">
                                      <p:cBhvr>
                                        <p:cTn id="61" dur="500"/>
                                        <p:tgtEl>
                                          <p:spTgt spid="4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48"/>
                                        </p:tgtEl>
                                        <p:attrNameLst>
                                          <p:attrName>style.visibility</p:attrName>
                                        </p:attrNameLst>
                                      </p:cBhvr>
                                      <p:to>
                                        <p:strVal val="visible"/>
                                      </p:to>
                                    </p:set>
                                    <p:animEffect transition="in" filter="fade">
                                      <p:cBhvr>
                                        <p:cTn id="64" dur="500"/>
                                        <p:tgtEl>
                                          <p:spTgt spid="48"/>
                                        </p:tgtEl>
                                      </p:cBhvr>
                                    </p:animEffect>
                                  </p:childTnLst>
                                </p:cTn>
                              </p:par>
                            </p:childTnLst>
                          </p:cTn>
                        </p:par>
                        <p:par>
                          <p:cTn id="68" fill="hold">
                            <p:stCondLst>
                              <p:cond delay="1100"/>
                            </p:stCondLst>
                            <p:childTnLst>
                              <p:par>
                                <p:cTn id="66" presetID="0" presetClass="path" presetSubtype="0" accel="20000" decel="20000" fill="hold" grpId="0" nodeType="afterEffect">
                                  <p:stCondLst>
                                    <p:cond delay="0"/>
                                  </p:stCondLst>
                                  <p:childTnLst>
                                    <p:animMotion origin="layout" path="M 0 0 L 0.0000 0.1133 E" pathEditMode="relative" ptsTypes="">
                                      <p:cBhvr>
                                        <p:cTn id="67" dur="900" fill="hold"/>
                                        <p:tgtEl>
                                          <p:spTgt spid="48"/>
                                        </p:tgtEl>
                                        <p:attrNameLst>
                                          <p:attrName>ppt_x</p:attrName>
                                          <p:attrName>ppt_y</p:attrName>
                                        </p:attrNameLst>
                                      </p:cBhvr>
                                      <p:rCtr x="0" y="5666"/>
                                    </p:animMotion>
                                  </p:childTnLst>
                                </p:cTn>
                              </p:par>
                            </p:childTnLst>
                          </p:cTn>
                        </p:par>
                      </p:childTnLst>
                    </p:cTn>
                  </p:par>
                  <p:par>
                    <p:cTn id="74" fill="hold">
                      <p:stCondLst>
                        <p:cond delay="indefinite"/>
                      </p:stCondLst>
                      <p:childTnLst>
                        <p:par>
                          <p:cTn id="73"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fade">
                                      <p:cBhvr>
                                        <p:cTn id="7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9" grpId="0" animBg="1"/>
      <p:bldP spid="43" grpId="0" animBg="1"/>
      <p:bldP spid="44" grpId="0" animBg="1"/>
      <p:bldP spid="45" grpId="0" animBg="1"/>
      <p:bldP spid="46" grpId="0" animBg="1"/>
      <p:bldP spid="49" grpId="0" animBg="1"/>
      <p:bldP spid="47" grpId="0" animBg="1"/>
      <p:bldP spid="48" grpId="0" animBg="1"/>
      <p:bldP spid="50" grpId="0" animBg="1"/>
    </p:bldLst>
  </p:timing>
</p:sld>
</file>

<file path=ppt/slides/slide153.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Riñón GNG"/>
          <p:cNvGrpSpPr/>
          <p:nvPr/>
        </p:nvGrpSpPr>
        <p:grpSpPr>
          <a:xfrm>
            <a:off x="365760" y="1005840"/>
            <a:ext cx="2377440" cy="3328416"/>
            <a:chOff x="365760" y="1005840"/>
            <a:chExt cx="2377440" cy="3328416"/>
          </a:xfrm>
        </p:grpSpPr>
        <p:sp>
          <p:nvSpPr>
            <p:cNvPr id="5" name="Forma 4"/>
            <p:cNvSpPr/>
            <p:nvPr/>
          </p:nvSpPr>
          <p:spPr>
            <a:xfrm>
              <a:off x="365760" y="1005840"/>
              <a:ext cx="2377440" cy="332841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6" name="Forma 5"/>
            <p:cNvSpPr/>
            <p:nvPr/>
          </p:nvSpPr>
          <p:spPr>
            <a:xfrm>
              <a:off x="365760" y="1005840"/>
              <a:ext cx="2377440" cy="332841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 name="Forma 6"/>
            <p:cNvSpPr/>
            <p:nvPr/>
          </p:nvSpPr>
          <p:spPr>
            <a:xfrm>
              <a:off x="365760" y="1005840"/>
              <a:ext cx="2377440" cy="332841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 name="Forma 7"/>
            <p:cNvSpPr/>
            <p:nvPr/>
          </p:nvSpPr>
          <p:spPr>
            <a:xfrm>
              <a:off x="365760" y="1005840"/>
              <a:ext cx="2377440" cy="332841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nvGrpSpPr>
          <p:cNvPr id="9" name="Recuadro Corteza: produce glucosa"/>
          <p:cNvGrpSpPr/>
          <p:nvPr/>
        </p:nvGrpSpPr>
        <p:grpSpPr>
          <a:xfrm>
            <a:off x="3108960" y="1005840"/>
            <a:ext cx="4206240" cy="2011680"/>
            <a:chOff x="3108960" y="1005840"/>
            <a:chExt cx="4206240" cy="2011680"/>
          </a:xfrm>
        </p:grpSpPr>
        <p:sp>
          <p:nvSpPr>
            <p:cNvPr id="10" name="Forma 9"/>
            <p:cNvSpPr/>
            <p:nvPr/>
          </p:nvSpPr>
          <p:spPr>
            <a:xfrm>
              <a:off x="3108960" y="1188720"/>
              <a:ext cx="4206240" cy="18288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Corteza</a:t>
              </a:r>
              <a:r>
                <a:rPr lang="es-AR" sz="1600" dirty="0">
                  <a:solidFill>
                    <a:srgbClr val="1E1E1E"/>
                  </a:solidFill>
                  <a:latin typeface="Bahnschrift"/>
                  <a:ea typeface="Bahnschrift"/>
                  <a:cs typeface="Bahnschrift"/>
                  <a:sym typeface="Bahnschrift"/>
                </a:rPr>
                <a:t> (túbulo proximal): lactato → piruvato; </a:t>
              </a:r>
              <a:r>
                <a:rPr lang="es-AR" sz="1600" b="1" dirty="0">
                  <a:solidFill>
                    <a:srgbClr val="1E1E1E"/>
                  </a:solidFill>
                  <a:latin typeface="Bahnschrift"/>
                  <a:ea typeface="Bahnschrift"/>
                  <a:cs typeface="Bahnschrift"/>
                  <a:sym typeface="Bahnschrift"/>
                </a:rPr>
                <a:t>glutamina</a:t>
              </a:r>
              <a:r>
                <a:rPr lang="es-AR" sz="1600" dirty="0">
                  <a:solidFill>
                    <a:srgbClr val="1E1E1E"/>
                  </a:solidFill>
                  <a:latin typeface="Bahnschrift"/>
                  <a:ea typeface="Bahnschrift"/>
                  <a:cs typeface="Bahnschrift"/>
                  <a:sym typeface="Bahnschrift"/>
                </a:rPr>
                <a:t> → α-KG → OAA; </a:t>
              </a:r>
              <a:r>
                <a:rPr lang="es-AR" sz="1600" b="1" dirty="0">
                  <a:solidFill>
                    <a:srgbClr val="1E1E1E"/>
                  </a:solidFill>
                  <a:latin typeface="Bahnschrift"/>
                  <a:ea typeface="Bahnschrift"/>
                  <a:cs typeface="Bahnschrift"/>
                  <a:sym typeface="Bahnschrift"/>
                </a:rPr>
                <a:t>glicerol</a:t>
              </a:r>
              <a:r>
                <a:rPr lang="es-AR" sz="1600" dirty="0">
                  <a:solidFill>
                    <a:srgbClr val="1E1E1E"/>
                  </a:solidFill>
                  <a:latin typeface="Bahnschrift"/>
                  <a:ea typeface="Bahnschrift"/>
                  <a:cs typeface="Bahnschrift"/>
                  <a:sym typeface="Bahnschrift"/>
                </a:rPr>
                <a:t> → DHAP.</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PC, PEPCK (PCK1/PCK2), FBPasa, G6Pasa</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11" name="Forma 10"/>
            <p:cNvSpPr/>
            <p:nvPr/>
          </p:nvSpPr>
          <p:spPr>
            <a:xfrm>
              <a:off x="3218688" y="1005840"/>
              <a:ext cx="241481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CORTEZA: PRODUCE GLUCOSA</a:t>
              </a:r>
              <a:endParaRPr lang="es-AR" sz="1450" dirty="0">
                <a:latin typeface="Bahnschrift SemiBold Condensed"/>
              </a:endParaRPr>
            </a:p>
          </p:txBody>
        </p:sp>
      </p:grpSp>
      <p:grpSp>
        <p:nvGrpSpPr>
          <p:cNvPr id="12" name="Recuadro Médula: consume glucosa"/>
          <p:cNvGrpSpPr/>
          <p:nvPr/>
        </p:nvGrpSpPr>
        <p:grpSpPr>
          <a:xfrm>
            <a:off x="3108960" y="3200400"/>
            <a:ext cx="4206240" cy="1463040"/>
            <a:chOff x="3108960" y="3200400"/>
            <a:chExt cx="4206240" cy="1463040"/>
          </a:xfrm>
        </p:grpSpPr>
        <p:sp>
          <p:nvSpPr>
            <p:cNvPr id="13" name="Forma 12"/>
            <p:cNvSpPr/>
            <p:nvPr/>
          </p:nvSpPr>
          <p:spPr>
            <a:xfrm>
              <a:off x="3108960" y="3383280"/>
              <a:ext cx="4206240" cy="1280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Médula</a:t>
              </a:r>
              <a:r>
                <a:rPr lang="es-AR" sz="1600" dirty="0">
                  <a:solidFill>
                    <a:srgbClr val="1E1E1E"/>
                  </a:solidFill>
                  <a:latin typeface="Bahnschrift"/>
                  <a:ea typeface="Bahnschrift"/>
                  <a:cs typeface="Bahnschrift"/>
                  <a:sym typeface="Bahnschrift"/>
                </a:rPr>
                <a:t>: metabolismo más </a:t>
              </a:r>
              <a:r>
                <a:rPr lang="es-AR" sz="1600" b="1" dirty="0">
                  <a:solidFill>
                    <a:srgbClr val="1E1E1E"/>
                  </a:solidFill>
                  <a:latin typeface="Bahnschrift"/>
                  <a:ea typeface="Bahnschrift"/>
                  <a:cs typeface="Bahnschrift"/>
                  <a:sym typeface="Bahnschrift"/>
                </a:rPr>
                <a:t>glucolítico</a:t>
              </a:r>
              <a:r>
                <a:rPr lang="es-AR" sz="1600" dirty="0">
                  <a:solidFill>
                    <a:srgbClr val="1E1E1E"/>
                  </a:solidFill>
                  <a:latin typeface="Bahnschrift"/>
                  <a:ea typeface="Bahnschrift"/>
                  <a:cs typeface="Bahnschrift"/>
                  <a:sym typeface="Bahnschrift"/>
                </a:rPr>
                <a:t> → </a:t>
              </a:r>
              <a:r>
                <a:rPr lang="es-AR" sz="1600" b="1" dirty="0">
                  <a:solidFill>
                    <a:srgbClr val="1E1E1E"/>
                  </a:solidFill>
                  <a:latin typeface="Bahnschrift"/>
                  <a:ea typeface="Bahnschrift"/>
                  <a:cs typeface="Bahnschrift"/>
                  <a:sym typeface="Bahnschrift"/>
                </a:rPr>
                <a:t>lactato</a:t>
              </a:r>
              <a:r>
                <a:rPr lang="es-AR" sz="1600" dirty="0">
                  <a:solidFill>
                    <a:srgbClr val="1E1E1E"/>
                  </a:solidFill>
                  <a:latin typeface="Bahnschrift"/>
                  <a:ea typeface="Bahnschrift"/>
                  <a:cs typeface="Bahnschrift"/>
                  <a:sym typeface="Bahnschrift"/>
                </a:rPr>
                <a:t>. Evitar decir «todo el riñón hace glucosa».</a:t>
              </a:r>
              <a:endParaRPr lang="es-AR" sz="1600" dirty="0">
                <a:latin typeface="Bahnschrift"/>
              </a:endParaRPr>
            </a:p>
          </p:txBody>
        </p:sp>
        <p:sp>
          <p:nvSpPr>
            <p:cNvPr id="14" name="Forma 13"/>
            <p:cNvSpPr/>
            <p:nvPr/>
          </p:nvSpPr>
          <p:spPr>
            <a:xfrm>
              <a:off x="3218688" y="3200400"/>
              <a:ext cx="236135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MÉDULA: CONSUME GLUCOSA</a:t>
              </a:r>
              <a:endParaRPr lang="es-AR" sz="1450" dirty="0">
                <a:latin typeface="Bahnschrift SemiBold Condensed"/>
              </a:endParaRPr>
            </a:p>
          </p:txBody>
        </p:sp>
      </p:grpSp>
      <p:grpSp>
        <p:nvGrpSpPr>
          <p:cNvPr id="15" name="Recuadro Acoplamiento ácido–base"/>
          <p:cNvGrpSpPr/>
          <p:nvPr/>
        </p:nvGrpSpPr>
        <p:grpSpPr>
          <a:xfrm>
            <a:off x="7589520" y="1005840"/>
            <a:ext cx="4206240" cy="3657600"/>
            <a:chOff x="7589520" y="1005840"/>
            <a:chExt cx="4206240" cy="3657600"/>
          </a:xfrm>
        </p:grpSpPr>
        <p:sp>
          <p:nvSpPr>
            <p:cNvPr id="16" name="Forma 15"/>
            <p:cNvSpPr/>
            <p:nvPr/>
          </p:nvSpPr>
          <p:spPr>
            <a:xfrm>
              <a:off x="7589520" y="1188720"/>
              <a:ext cx="4206240" cy="34747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glutaminólisis forma </a:t>
              </a:r>
              <a:r>
                <a:rPr lang="es-AR" sz="1600" b="1" dirty="0">
                  <a:solidFill>
                    <a:srgbClr val="1E1E1E"/>
                  </a:solidFill>
                  <a:latin typeface="Bahnschrift"/>
                  <a:ea typeface="Bahnschrift"/>
                  <a:cs typeface="Bahnschrift"/>
                  <a:sym typeface="Bahnschrift"/>
                </a:rPr>
                <a:t>NH</a:t>
              </a:r>
              <a:r>
                <a:rPr lang="es-AR" sz="1600" b="1" baseline="-25000" dirty="0">
                  <a:solidFill>
                    <a:srgbClr val="1E1E1E"/>
                  </a:solidFill>
                  <a:latin typeface="Bahnschrift"/>
                  <a:ea typeface="Bahnschrift"/>
                  <a:cs typeface="Bahnschrift"/>
                  <a:sym typeface="Bahnschrift"/>
                </a:rPr>
                <a:t>4</a:t>
              </a:r>
              <a:r>
                <a:rPr lang="es-AR" sz="1600" b="1"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(orina) y </a:t>
              </a:r>
              <a:r>
                <a:rPr lang="es-AR" sz="1600" b="1" dirty="0">
                  <a:solidFill>
                    <a:srgbClr val="1E1E1E"/>
                  </a:solidFill>
                  <a:latin typeface="Bahnschrift"/>
                  <a:ea typeface="Bahnschrift"/>
                  <a:cs typeface="Bahnschrift"/>
                  <a:sym typeface="Bahnschrift"/>
                </a:rPr>
                <a:t>HCO</a:t>
              </a:r>
              <a:r>
                <a:rPr lang="es-AR" sz="1600" b="1" baseline="-25000" dirty="0">
                  <a:solidFill>
                    <a:srgbClr val="1E1E1E"/>
                  </a:solidFill>
                  <a:latin typeface="Bahnschrift"/>
                  <a:ea typeface="Bahnschrift"/>
                  <a:cs typeface="Bahnschrift"/>
                  <a:sym typeface="Bahnschrift"/>
                </a:rPr>
                <a:t>3</a:t>
              </a:r>
              <a:r>
                <a:rPr lang="es-AR" sz="1600" b="1"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nuevo (sangre).</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La </a:t>
              </a:r>
              <a:r>
                <a:rPr lang="es-AR" sz="1600" b="1" dirty="0">
                  <a:solidFill>
                    <a:srgbClr val="1E1E1E"/>
                  </a:solidFill>
                  <a:latin typeface="Bahnschrift"/>
                  <a:ea typeface="Bahnschrift"/>
                  <a:cs typeface="Bahnschrift"/>
                  <a:sym typeface="Bahnschrift"/>
                </a:rPr>
                <a:t>acidosis</a:t>
              </a:r>
              <a:r>
                <a:rPr lang="es-AR" sz="1600" dirty="0">
                  <a:solidFill>
                    <a:srgbClr val="1E1E1E"/>
                  </a:solidFill>
                  <a:latin typeface="Bahnschrift"/>
                  <a:ea typeface="Bahnschrift"/>
                  <a:cs typeface="Bahnschrift"/>
                  <a:sym typeface="Bahnschrift"/>
                </a:rPr>
                <a:t> aumenta amoniogénesis y uso de glutamina.</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El riñón </a:t>
              </a:r>
              <a:r>
                <a:rPr lang="es-AR" sz="1600" b="1" dirty="0">
                  <a:solidFill>
                    <a:srgbClr val="1E1E1E"/>
                  </a:solidFill>
                  <a:latin typeface="Bahnschrift"/>
                  <a:ea typeface="Bahnschrift"/>
                  <a:cs typeface="Bahnschrift"/>
                  <a:sym typeface="Bahnschrift"/>
                </a:rPr>
                <a:t>prefiere excretar N como NH</a:t>
              </a:r>
              <a:r>
                <a:rPr lang="es-AR" sz="1600" b="1" baseline="-25000" dirty="0">
                  <a:solidFill>
                    <a:srgbClr val="1E1E1E"/>
                  </a:solidFill>
                  <a:latin typeface="Bahnschrift"/>
                  <a:ea typeface="Bahnschrift"/>
                  <a:cs typeface="Bahnschrift"/>
                  <a:sym typeface="Bahnschrift"/>
                </a:rPr>
                <a:t>4</a:t>
              </a:r>
              <a:r>
                <a:rPr lang="es-AR" sz="1600" b="1"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para eliminar ácido; el hígado, como urea.</a:t>
              </a:r>
              <a:endParaRPr lang="es-AR" sz="1600" dirty="0">
                <a:latin typeface="Bahnschrift"/>
              </a:endParaRPr>
            </a:p>
          </p:txBody>
        </p:sp>
        <p:sp>
          <p:nvSpPr>
            <p:cNvPr id="17" name="Forma 16"/>
            <p:cNvSpPr/>
            <p:nvPr/>
          </p:nvSpPr>
          <p:spPr>
            <a:xfrm>
              <a:off x="7699248" y="1005840"/>
              <a:ext cx="232636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ACOPLAMIENTO ÁCIDO–BASE</a:t>
              </a:r>
              <a:endParaRPr lang="es-AR" sz="1450" dirty="0">
                <a:latin typeface="Bahnschrift SemiBold Condensed"/>
              </a:endParaRPr>
            </a:p>
          </p:txBody>
        </p:sp>
      </p:grpSp>
      <p:sp>
        <p:nvSpPr>
          <p:cNvPr id="18" name="Forma 17"/>
          <p:cNvSpPr/>
          <p:nvPr/>
        </p:nvSpPr>
        <p:spPr>
          <a:xfrm>
            <a:off x="365760" y="4846320"/>
            <a:ext cx="11430000" cy="16459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La </a:t>
            </a:r>
            <a:r>
              <a:rPr lang="es-AR" sz="1600" b="1" dirty="0">
                <a:solidFill>
                  <a:srgbClr val="1E1E1E"/>
                </a:solidFill>
                <a:latin typeface="Bahnschrift"/>
                <a:ea typeface="Bahnschrift"/>
                <a:cs typeface="Bahnschrift"/>
                <a:sym typeface="Bahnschrift"/>
              </a:rPr>
              <a:t>contribución renal</a:t>
            </a:r>
            <a:r>
              <a:rPr lang="es-AR" sz="1600" dirty="0">
                <a:solidFill>
                  <a:srgbClr val="1E1E1E"/>
                </a:solidFill>
                <a:latin typeface="Bahnschrift"/>
                <a:ea typeface="Bahnschrift"/>
                <a:cs typeface="Bahnschrift"/>
                <a:sym typeface="Bahnschrift"/>
              </a:rPr>
              <a:t> a la producción sistémica de glucosa </a:t>
            </a:r>
            <a:r>
              <a:rPr lang="es-AR" sz="1600" b="1" dirty="0">
                <a:solidFill>
                  <a:srgbClr val="1E1E1E"/>
                </a:solidFill>
                <a:latin typeface="Bahnschrift"/>
                <a:ea typeface="Bahnschrift"/>
                <a:cs typeface="Bahnschrift"/>
                <a:sym typeface="Bahnschrift"/>
              </a:rPr>
              <a:t>aumenta relativamente con el ayuno</a:t>
            </a:r>
            <a:r>
              <a:rPr lang="es-AR" sz="1600" dirty="0">
                <a:solidFill>
                  <a:srgbClr val="1E1E1E"/>
                </a:solidFill>
                <a:latin typeface="Bahnschrift"/>
                <a:ea typeface="Bahnschrift"/>
                <a:cs typeface="Bahnschrift"/>
                <a:sym typeface="Bahnschrift"/>
              </a:rPr>
              <a:t> y puede ser considerable; las proporciones exactas dependen del método. </a:t>
            </a:r>
            <a:r>
              <a:rPr lang="es-AR" sz="1600" b="1" dirty="0">
                <a:solidFill>
                  <a:srgbClr val="1E1E1E"/>
                </a:solidFill>
                <a:latin typeface="Bahnschrift"/>
                <a:ea typeface="Bahnschrift"/>
                <a:cs typeface="Bahnschrift"/>
                <a:sym typeface="Bahnschrift"/>
              </a:rPr>
              <a:t>Clínica</a:t>
            </a:r>
            <a:r>
              <a:rPr lang="es-AR" sz="1600" dirty="0">
                <a:solidFill>
                  <a:srgbClr val="1E1E1E"/>
                </a:solidFill>
                <a:latin typeface="Bahnschrift"/>
                <a:ea typeface="Bahnschrift"/>
                <a:cs typeface="Bahnschrift"/>
                <a:sym typeface="Bahnschrift"/>
              </a:rPr>
              <a:t>: la insuficiencia renal altera la homeostasis glucémica (menor GNG, menor eliminación de </a:t>
            </a:r>
            <a:r>
              <a:rPr lang="es-AR" sz="1600" b="1" dirty="0">
                <a:solidFill>
                  <a:srgbClr val="1E1E1E"/>
                </a:solidFill>
                <a:latin typeface="Bahnschrift"/>
                <a:ea typeface="Bahnschrift"/>
                <a:cs typeface="Bahnschrift"/>
                <a:sym typeface="Bahnschrift"/>
              </a:rPr>
              <a:t>insulina</a:t>
            </a:r>
            <a:r>
              <a:rPr lang="es-AR" sz="1600" dirty="0">
                <a:solidFill>
                  <a:srgbClr val="1E1E1E"/>
                </a:solidFill>
                <a:latin typeface="Bahnschrift"/>
                <a:ea typeface="Bahnschrift"/>
                <a:cs typeface="Bahnschrift"/>
                <a:sym typeface="Bahnschrift"/>
              </a:rPr>
              <a:t>), con efectos netos no predecibles por una sola variable.</a:t>
            </a:r>
            <a:endParaRPr lang="es-AR" sz="160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75266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30 · GLUCONEOGÉNESIS RENAL EN EL AYUNO PROLONGADO</a:t>
            </a:r>
            <a:endParaRPr lang="es-AR" sz="2600" dirty="0">
              <a:latin typeface="Bahnschrift SemiBold Condensed"/>
            </a:endParaRPr>
          </a:p>
        </p:txBody>
      </p:sp>
      <p:sp>
        <p:nvSpPr>
          <p:cNvPr id="1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aphicFrame>
        <p:nvGraphicFramePr>
          <p:cNvPr id="4" name="Tabla urea amonio"/>
          <p:cNvGraphicFramePr>
            <a:graphicFrameLocks noGrp="1"/>
          </p:cNvGraphicFramePr>
          <p:nvPr/>
        </p:nvGraphicFramePr>
        <p:xfrm>
          <a:off x="365760" y="1005840"/>
          <a:ext cx="6400800" cy="3017520"/>
        </p:xfrm>
        <a:graphic>
          <a:graphicData uri="http://schemas.openxmlformats.org/drawingml/2006/table">
            <a:tbl>
              <a:tblPr firstRow="1" bandRow="1"/>
              <a:tblGrid>
                <a:gridCol w="1737360"/>
                <a:gridCol w="2331720"/>
                <a:gridCol w="2331720"/>
              </a:tblGrid>
              <a:tr h="502920">
                <a:tc>
                  <a:txBody>
                    <a:bodyPr/>
                    <a:lstStyle/>
                    <a:p>
                      <a:pPr algn="l">
                        <a:spcAft>
                          <a:spcPts val="100"/>
                        </a:spcAft>
                        <a:buNone/>
                      </a:pP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Ureogénesis</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Amoniogénesis</a:t>
                      </a:r>
                      <a:endParaRPr lang="es-AR" sz="14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Órgano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Hígado</a:t>
                      </a:r>
                      <a:r>
                        <a:rPr lang="es-AR" sz="1350" dirty="0">
                          <a:solidFill>
                            <a:srgbClr val="1E1E1E"/>
                          </a:solidFill>
                          <a:latin typeface="Bahnschrift"/>
                          <a:ea typeface="Bahnschrift"/>
                          <a:cs typeface="Bahnschrift"/>
                          <a:sym typeface="Bahnschrift"/>
                        </a:rPr>
                        <a:t> (zona periportal)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Riñón</a:t>
                      </a:r>
                      <a:r>
                        <a:rPr lang="es-AR" sz="1350" dirty="0">
                          <a:solidFill>
                            <a:srgbClr val="1E1E1E"/>
                          </a:solidFill>
                          <a:latin typeface="Bahnschrift"/>
                          <a:ea typeface="Bahnschrift"/>
                          <a:cs typeface="Bahnschrift"/>
                          <a:sym typeface="Bahnschrift"/>
                        </a:rPr>
                        <a:t> (túbulo proximal)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Producto excretado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Urea</a:t>
                      </a:r>
                      <a:r>
                        <a:rPr lang="es-AR" sz="1350" dirty="0">
                          <a:solidFill>
                            <a:srgbClr val="1E1E1E"/>
                          </a:solidFill>
                          <a:latin typeface="Bahnschrift"/>
                          <a:ea typeface="Bahnschrift"/>
                          <a:cs typeface="Bahnschrift"/>
                          <a:sym typeface="Bahnschrift"/>
                        </a:rPr>
                        <a:t> (neutra)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NH</a:t>
                      </a:r>
                      <a:r>
                        <a:rPr lang="es-AR" sz="1350" b="1" baseline="-25000" dirty="0">
                          <a:solidFill>
                            <a:srgbClr val="1E1E1E"/>
                          </a:solidFill>
                          <a:latin typeface="Bahnschrift"/>
                          <a:ea typeface="Bahnschrift"/>
                          <a:cs typeface="Bahnschrift"/>
                          <a:sym typeface="Bahnschrift"/>
                        </a:rPr>
                        <a:t>4</a:t>
                      </a:r>
                      <a:r>
                        <a:rPr lang="es-AR" sz="1350" b="1"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urinario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Sustrato principal</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 aspartato + HCO</a:t>
                      </a:r>
                      <a:r>
                        <a:rPr lang="es-AR" sz="1350" baseline="-25000" dirty="0">
                          <a:solidFill>
                            <a:srgbClr val="1E1E1E"/>
                          </a:solidFill>
                          <a:latin typeface="Bahnschrift"/>
                          <a:ea typeface="Bahnschrift"/>
                          <a:cs typeface="Bahnschrift"/>
                          <a:sym typeface="Bahnschrift"/>
                        </a:rPr>
                        <a:t>3</a:t>
                      </a:r>
                      <a:r>
                        <a:rPr lang="es-AR" sz="1350" baseline="30000" dirty="0">
                          <a:solidFill>
                            <a:srgbClr val="1E1E1E"/>
                          </a:solidFill>
                          <a:latin typeface="Bahnschrift"/>
                          <a:ea typeface="Bahnschrift"/>
                          <a:cs typeface="Bahnschrift"/>
                          <a:sym typeface="Bahnschrift"/>
                        </a:rPr>
                        <a:t>−</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Glutamina</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Efecto ácido–base</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Consume HCO</a:t>
                      </a:r>
                      <a:r>
                        <a:rPr lang="es-AR" sz="1350" baseline="-25000" dirty="0">
                          <a:solidFill>
                            <a:srgbClr val="1E1E1E"/>
                          </a:solidFill>
                          <a:latin typeface="Bahnschrift"/>
                          <a:ea typeface="Bahnschrift"/>
                          <a:cs typeface="Bahnschrift"/>
                          <a:sym typeface="Bahnschrift"/>
                        </a:rPr>
                        <a:t>3</a:t>
                      </a:r>
                      <a:r>
                        <a:rPr lang="es-AR" sz="1350" baseline="30000" dirty="0">
                          <a:solidFill>
                            <a:srgbClr val="1E1E1E"/>
                          </a:solidFill>
                          <a:latin typeface="Bahnschrift"/>
                          <a:ea typeface="Bahnschrift"/>
                          <a:cs typeface="Bahnschrift"/>
                          <a:sym typeface="Bahnschrift"/>
                        </a:rPr>
                        <a:t>−</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Excreta ácido y genera </a:t>
                      </a:r>
                      <a:r>
                        <a:rPr lang="es-AR" sz="1350" b="1" dirty="0">
                          <a:solidFill>
                            <a:srgbClr val="1E1E1E"/>
                          </a:solidFill>
                          <a:latin typeface="Bahnschrift"/>
                          <a:ea typeface="Bahnschrift"/>
                          <a:cs typeface="Bahnschrift"/>
                          <a:sym typeface="Bahnschrift"/>
                        </a:rPr>
                        <a:t>HCO</a:t>
                      </a:r>
                      <a:r>
                        <a:rPr lang="es-AR" sz="1350" b="1" baseline="-25000" dirty="0">
                          <a:solidFill>
                            <a:srgbClr val="1E1E1E"/>
                          </a:solidFill>
                          <a:latin typeface="Bahnschrift"/>
                          <a:ea typeface="Bahnschrift"/>
                          <a:cs typeface="Bahnschrift"/>
                          <a:sym typeface="Bahnschrift"/>
                        </a:rPr>
                        <a:t>3</a:t>
                      </a:r>
                      <a:r>
                        <a:rPr lang="es-AR" sz="1350" b="1" baseline="30000" dirty="0">
                          <a:solidFill>
                            <a:srgbClr val="1E1E1E"/>
                          </a:solidFill>
                          <a:latin typeface="Bahnschrift"/>
                          <a:ea typeface="Bahnschrift"/>
                          <a:cs typeface="Bahnschrift"/>
                          <a:sym typeface="Bahnschrift"/>
                        </a:rPr>
                        <a:t>−</a:t>
                      </a:r>
                      <a:r>
                        <a:rPr lang="es-AR" sz="1350" b="1" dirty="0">
                          <a:solidFill>
                            <a:srgbClr val="1E1E1E"/>
                          </a:solidFill>
                          <a:latin typeface="Bahnschrift"/>
                          <a:ea typeface="Bahnschrift"/>
                          <a:cs typeface="Bahnschrift"/>
                          <a:sym typeface="Bahnschrift"/>
                        </a:rPr>
                        <a:t> nuevo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50" b="1" dirty="0">
                          <a:solidFill>
                            <a:srgbClr val="1E1E1E"/>
                          </a:solidFill>
                          <a:latin typeface="Bahnschrift"/>
                          <a:ea typeface="Bahnschrift"/>
                          <a:cs typeface="Bahnschrift"/>
                          <a:sym typeface="Bahnschrift"/>
                        </a:rPr>
                        <a:t>Estímulo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dirty="0">
                          <a:solidFill>
                            <a:srgbClr val="1E1E1E"/>
                          </a:solidFill>
                          <a:latin typeface="Bahnschrift"/>
                          <a:ea typeface="Bahnschrift"/>
                          <a:cs typeface="Bahnschrift"/>
                          <a:sym typeface="Bahnschrift"/>
                        </a:rPr>
                        <a:t>Carga proteica, catabolismo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50" b="1" dirty="0">
                          <a:solidFill>
                            <a:srgbClr val="1E1E1E"/>
                          </a:solidFill>
                          <a:latin typeface="Bahnschrift"/>
                          <a:ea typeface="Bahnschrift"/>
                          <a:cs typeface="Bahnschrift"/>
                          <a:sym typeface="Bahnschrift"/>
                        </a:rPr>
                        <a:t>Acidosis</a:t>
                      </a:r>
                      <a:r>
                        <a:rPr lang="es-AR" sz="1350" dirty="0">
                          <a:solidFill>
                            <a:srgbClr val="1E1E1E"/>
                          </a:solidFill>
                          <a:latin typeface="Bahnschrift"/>
                          <a:ea typeface="Bahnschrift"/>
                          <a:cs typeface="Bahnschrift"/>
                          <a:sym typeface="Bahnschrift"/>
                        </a:rPr>
                        <a:t>, ayuno prolongado</a:t>
                      </a:r>
                      <a:endParaRPr lang="es-AR" sz="13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graphicFrame>
        <p:nvGraphicFramePr>
          <p:cNvPr id="5" name="Tabla GS glutaminasa"/>
          <p:cNvGraphicFramePr>
            <a:graphicFrameLocks noGrp="1"/>
          </p:cNvGraphicFramePr>
          <p:nvPr/>
        </p:nvGraphicFramePr>
        <p:xfrm>
          <a:off x="7040880" y="1005840"/>
          <a:ext cx="4754880" cy="2194560"/>
        </p:xfrm>
        <a:graphic>
          <a:graphicData uri="http://schemas.openxmlformats.org/drawingml/2006/table">
            <a:tbl>
              <a:tblPr firstRow="1" bandRow="1"/>
              <a:tblGrid>
                <a:gridCol w="1097280"/>
                <a:gridCol w="1828800"/>
                <a:gridCol w="1828800"/>
              </a:tblGrid>
              <a:tr h="502920">
                <a:tc>
                  <a:txBody>
                    <a:bodyPr/>
                    <a:lstStyle/>
                    <a:p>
                      <a:pPr algn="l">
                        <a:spcAft>
                          <a:spcPts val="100"/>
                        </a:spcAft>
                        <a:buNone/>
                      </a:pP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Glutaminasa</a:t>
                      </a: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Glutamina sintetasa</a:t>
                      </a:r>
                      <a:endParaRPr lang="es-AR" sz="13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Reacción</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Gln → Glu + NH</a:t>
                      </a:r>
                      <a:r>
                        <a:rPr lang="es-AR" sz="1300" baseline="-25000" dirty="0">
                          <a:solidFill>
                            <a:srgbClr val="1E1E1E"/>
                          </a:solidFill>
                          <a:latin typeface="Bahnschrift"/>
                          <a:ea typeface="Bahnschrift"/>
                          <a:cs typeface="Bahnschrift"/>
                          <a:sym typeface="Bahnschrift"/>
                        </a:rPr>
                        <a:t>4</a:t>
                      </a:r>
                      <a:r>
                        <a:rPr lang="es-AR" sz="1300" baseline="30000" dirty="0">
                          <a:solidFill>
                            <a:srgbClr val="1E1E1E"/>
                          </a:solidFill>
                          <a:latin typeface="Bahnschrift"/>
                          <a:ea typeface="Bahnschrift"/>
                          <a:cs typeface="Bahnschrift"/>
                          <a:sym typeface="Bahnschrift"/>
                        </a:rPr>
                        <a:t>+</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Glu + NH</a:t>
                      </a:r>
                      <a:r>
                        <a:rPr lang="es-AR" sz="1300" baseline="-25000" dirty="0">
                          <a:solidFill>
                            <a:srgbClr val="1E1E1E"/>
                          </a:solidFill>
                          <a:latin typeface="Bahnschrift"/>
                          <a:ea typeface="Bahnschrift"/>
                          <a:cs typeface="Bahnschrift"/>
                          <a:sym typeface="Bahnschrift"/>
                        </a:rPr>
                        <a:t>4</a:t>
                      </a:r>
                      <a:r>
                        <a:rPr lang="es-AR" sz="1300" baseline="30000" dirty="0">
                          <a:solidFill>
                            <a:srgbClr val="1E1E1E"/>
                          </a:solidFill>
                          <a:latin typeface="Bahnschrift"/>
                          <a:ea typeface="Bahnschrift"/>
                          <a:cs typeface="Bahnschrift"/>
                          <a:sym typeface="Bahnschrift"/>
                        </a:rPr>
                        <a:t>+</a:t>
                      </a:r>
                      <a:r>
                        <a:rPr lang="es-AR" sz="1300" dirty="0">
                          <a:solidFill>
                            <a:srgbClr val="1E1E1E"/>
                          </a:solidFill>
                          <a:latin typeface="Bahnschrift"/>
                          <a:ea typeface="Bahnschrift"/>
                          <a:cs typeface="Bahnschrift"/>
                          <a:sym typeface="Bahnschrift"/>
                        </a:rPr>
                        <a:t> + </a:t>
                      </a:r>
                      <a:r>
                        <a:rPr lang="es-AR" sz="1300" b="1" dirty="0">
                          <a:solidFill>
                            <a:srgbClr val="1E1E1E"/>
                          </a:solidFill>
                          <a:latin typeface="Bahnschrift"/>
                          <a:ea typeface="Bahnschrift"/>
                          <a:cs typeface="Bahnschrift"/>
                          <a:sym typeface="Bahnschrift"/>
                        </a:rPr>
                        <a:t>ATP</a:t>
                      </a:r>
                      <a:r>
                        <a:rPr lang="es-AR" sz="1300" dirty="0">
                          <a:solidFill>
                            <a:srgbClr val="1E1E1E"/>
                          </a:solidFill>
                          <a:latin typeface="Bahnschrift"/>
                          <a:ea typeface="Bahnschrift"/>
                          <a:cs typeface="Bahnschrift"/>
                          <a:sym typeface="Bahnschrift"/>
                        </a:rPr>
                        <a:t> → Gln</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85800">
                <a:tc>
                  <a:txBody>
                    <a:bodyPr/>
                    <a:lstStyle/>
                    <a:p>
                      <a:pPr algn="l">
                        <a:spcAft>
                          <a:spcPts val="100"/>
                        </a:spcAft>
                        <a:buNone/>
                      </a:pPr>
                      <a:r>
                        <a:rPr lang="es-AR" sz="1300" b="1" dirty="0">
                          <a:solidFill>
                            <a:srgbClr val="1E1E1E"/>
                          </a:solidFill>
                          <a:latin typeface="Bahnschrift"/>
                          <a:ea typeface="Bahnschrift"/>
                          <a:cs typeface="Bahnschrift"/>
                          <a:sym typeface="Bahnschrift"/>
                        </a:rPr>
                        <a:t>Dónde</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Hígado periportal, riñón, intestino, neurona</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300" dirty="0">
                          <a:solidFill>
                            <a:srgbClr val="1E1E1E"/>
                          </a:solidFill>
                          <a:latin typeface="Bahnschrift"/>
                          <a:ea typeface="Bahnschrift"/>
                          <a:cs typeface="Bahnschrift"/>
                          <a:sym typeface="Bahnschrift"/>
                        </a:rPr>
                        <a:t>Hígado perivenoso, músculo, astrocito</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502920">
                <a:tc>
                  <a:txBody>
                    <a:bodyPr/>
                    <a:lstStyle/>
                    <a:p>
                      <a:pPr algn="l">
                        <a:spcAft>
                          <a:spcPts val="100"/>
                        </a:spcAft>
                        <a:buNone/>
                      </a:pPr>
                      <a:r>
                        <a:rPr lang="es-AR" sz="1300" b="1" dirty="0">
                          <a:solidFill>
                            <a:srgbClr val="1E1E1E"/>
                          </a:solidFill>
                          <a:latin typeface="Bahnschrift"/>
                          <a:ea typeface="Bahnschrift"/>
                          <a:cs typeface="Bahnschrift"/>
                          <a:sym typeface="Bahnschrift"/>
                        </a:rPr>
                        <a:t>Función</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b="1" dirty="0">
                          <a:solidFill>
                            <a:srgbClr val="1E1E1E"/>
                          </a:solidFill>
                          <a:latin typeface="Bahnschrift"/>
                          <a:ea typeface="Bahnschrift"/>
                          <a:cs typeface="Bahnschrift"/>
                          <a:sym typeface="Bahnschrift"/>
                        </a:rPr>
                        <a:t>Libera</a:t>
                      </a:r>
                      <a:r>
                        <a:rPr lang="es-AR" sz="1300" dirty="0">
                          <a:solidFill>
                            <a:srgbClr val="1E1E1E"/>
                          </a:solidFill>
                          <a:latin typeface="Bahnschrift"/>
                          <a:ea typeface="Bahnschrift"/>
                          <a:cs typeface="Bahnschrift"/>
                          <a:sym typeface="Bahnschrift"/>
                        </a:rPr>
                        <a:t> NH</a:t>
                      </a:r>
                      <a:r>
                        <a:rPr lang="es-AR" sz="1300" baseline="-25000" dirty="0">
                          <a:solidFill>
                            <a:srgbClr val="1E1E1E"/>
                          </a:solidFill>
                          <a:latin typeface="Bahnschrift"/>
                          <a:ea typeface="Bahnschrift"/>
                          <a:cs typeface="Bahnschrift"/>
                          <a:sym typeface="Bahnschrift"/>
                        </a:rPr>
                        <a:t>4</a:t>
                      </a:r>
                      <a:r>
                        <a:rPr lang="es-AR" sz="1300" baseline="30000" dirty="0">
                          <a:solidFill>
                            <a:srgbClr val="1E1E1E"/>
                          </a:solidFill>
                          <a:latin typeface="Bahnschrift"/>
                          <a:ea typeface="Bahnschrift"/>
                          <a:cs typeface="Bahnschrift"/>
                          <a:sym typeface="Bahnschrift"/>
                        </a:rPr>
                        <a:t>+</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300" b="1" dirty="0">
                          <a:solidFill>
                            <a:srgbClr val="1E1E1E"/>
                          </a:solidFill>
                          <a:latin typeface="Bahnschrift"/>
                          <a:ea typeface="Bahnschrift"/>
                          <a:cs typeface="Bahnschrift"/>
                          <a:sym typeface="Bahnschrift"/>
                        </a:rPr>
                        <a:t>Captura</a:t>
                      </a:r>
                      <a:r>
                        <a:rPr lang="es-AR" sz="1300" dirty="0">
                          <a:solidFill>
                            <a:srgbClr val="1E1E1E"/>
                          </a:solidFill>
                          <a:latin typeface="Bahnschrift"/>
                          <a:ea typeface="Bahnschrift"/>
                          <a:cs typeface="Bahnschrift"/>
                          <a:sym typeface="Bahnschrift"/>
                        </a:rPr>
                        <a:t> NH</a:t>
                      </a:r>
                      <a:r>
                        <a:rPr lang="es-AR" sz="1300" baseline="-25000" dirty="0">
                          <a:solidFill>
                            <a:srgbClr val="1E1E1E"/>
                          </a:solidFill>
                          <a:latin typeface="Bahnschrift"/>
                          <a:ea typeface="Bahnschrift"/>
                          <a:cs typeface="Bahnschrift"/>
                          <a:sym typeface="Bahnschrift"/>
                        </a:rPr>
                        <a:t>4</a:t>
                      </a:r>
                      <a:r>
                        <a:rPr lang="es-AR" sz="1300" baseline="30000" dirty="0">
                          <a:solidFill>
                            <a:srgbClr val="1E1E1E"/>
                          </a:solidFill>
                          <a:latin typeface="Bahnschrift"/>
                          <a:ea typeface="Bahnschrift"/>
                          <a:cs typeface="Bahnschrift"/>
                          <a:sym typeface="Bahnschrift"/>
                        </a:rPr>
                        <a:t>+</a:t>
                      </a:r>
                      <a:r>
                        <a:rPr lang="es-AR" sz="1300" dirty="0">
                          <a:solidFill>
                            <a:srgbClr val="1E1E1E"/>
                          </a:solidFill>
                          <a:latin typeface="Bahnschrift"/>
                          <a:ea typeface="Bahnschrift"/>
                          <a:cs typeface="Bahnschrift"/>
                          <a:sym typeface="Bahnschrift"/>
                        </a:rPr>
                        <a:t> (alta afinidad)</a:t>
                      </a:r>
                      <a:endParaRPr lang="es-AR" sz="13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6" name="Perla"/>
          <p:cNvSpPr/>
          <p:nvPr/>
        </p:nvSpPr>
        <p:spPr>
          <a:xfrm>
            <a:off x="7040880" y="3383280"/>
            <a:ext cx="4754880" cy="11887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Dos enzimas </a:t>
            </a:r>
            <a:r>
              <a:rPr lang="es-AR" sz="1750" b="1" dirty="0">
                <a:solidFill>
                  <a:srgbClr val="FFFFFF"/>
                </a:solidFill>
                <a:latin typeface="Bahnschrift"/>
                <a:ea typeface="Bahnschrift"/>
                <a:cs typeface="Bahnschrift"/>
                <a:sym typeface="Bahnschrift"/>
              </a:rPr>
              <a:t>opuestas</a:t>
            </a:r>
            <a:r>
              <a:rPr lang="es-AR" sz="1750" dirty="0">
                <a:solidFill>
                  <a:srgbClr val="FFFFFF"/>
                </a:solidFill>
                <a:latin typeface="Bahnschrift"/>
                <a:ea typeface="Bahnschrift"/>
                <a:cs typeface="Bahnschrift"/>
                <a:sym typeface="Bahnschrift"/>
              </a:rPr>
              <a:t> sobre el mismo par glutamato/glutamina: no confundirlas.</a:t>
            </a:r>
            <a:endParaRPr lang="es-AR" sz="17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53956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DISTINCIONES CLAVE DEL METABOLISMO DEL NITRÓGENO</a:t>
            </a:r>
            <a:endParaRPr lang="es-AR" sz="2600" dirty="0">
              <a:latin typeface="Bahnschrift SemiBold Condensed"/>
            </a:endParaRPr>
          </a:p>
        </p:txBody>
      </p:sp>
      <p:sp>
        <p:nvSpPr>
          <p:cNvPr id="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55.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Fibra en sprint"/>
          <p:cNvGrpSpPr/>
          <p:nvPr/>
        </p:nvGrpSpPr>
        <p:grpSpPr>
          <a:xfrm>
            <a:off x="365760" y="1051560"/>
            <a:ext cx="11430000" cy="640080"/>
            <a:chOff x="365760" y="1051560"/>
            <a:chExt cx="11430000" cy="640080"/>
          </a:xfrm>
        </p:grpSpPr>
        <p:sp>
          <p:nvSpPr>
            <p:cNvPr id="5" name="Forma 4"/>
            <p:cNvSpPr/>
            <p:nvPr/>
          </p:nvSpPr>
          <p:spPr>
            <a:xfrm>
              <a:off x="365760" y="1051560"/>
              <a:ext cx="11430000" cy="640080"/>
            </a:xfrm>
            <a:prstGeom prst="roundRect">
              <a:avLst>
                <a:gd name="adj" fmla="val 50000"/>
              </a:avLst>
            </a:prstGeom>
            <a:gradFill rotWithShape="1">
              <a:gsLst>
                <a:gs pos="0">
                  <a:srgbClr val="6D231C"/>
                </a:gs>
                <a:gs pos="30000">
                  <a:srgbClr val="C97970"/>
                </a:gs>
                <a:gs pos="55000">
                  <a:srgbClr val="B03A2E"/>
                </a:gs>
                <a:gs pos="100000">
                  <a:srgbClr val="6D231C"/>
                </a:gs>
              </a:gsLst>
              <a:lin ang="5400000" scaled="0"/>
            </a:gradFill>
            <a:ln w="15875" cap="rnd">
              <a:solidFill>
                <a:srgbClr val="4F1A14"/>
              </a:solidFill>
              <a:round/>
            </a:ln>
            <a:effectLst>
              <a:outerShdw blurRad="101600" dist="50800" dir="2700000" algn="tl" rotWithShape="0">
                <a:srgbClr val="000000">
                  <a:alpha val="30000"/>
                </a:srgbClr>
              </a:outerShdw>
            </a:effectLst>
          </p:spPr>
        </p:sp>
        <p:sp>
          <p:nvSpPr>
            <p:cNvPr id="6" name="Forma 5"/>
            <p:cNvSpPr/>
            <p:nvPr/>
          </p:nvSpPr>
          <p:spPr>
            <a:xfrm>
              <a:off x="525780" y="1051560"/>
              <a:ext cx="11109960" cy="640080"/>
            </a:xfrm>
            <a:custGeom>
              <a:avLst/>
              <a:gdLst/>
              <a:ahLst/>
              <a:cxnLst/>
              <a:rect l="0" t="0" r="r" b="b"/>
              <a:pathLst>
                <a:path w="1000" h="1000" fill="none">
                  <a:moveTo>
                    <a:pt x="3" y="80"/>
                  </a:moveTo>
                  <a:lnTo>
                    <a:pt x="3" y="920"/>
                  </a:lnTo>
                </a:path>
                <a:path w="1000" h="1000" fill="none">
                  <a:moveTo>
                    <a:pt x="10" y="80"/>
                  </a:moveTo>
                  <a:lnTo>
                    <a:pt x="10" y="920"/>
                  </a:lnTo>
                </a:path>
                <a:path w="1000" h="1000" fill="none">
                  <a:moveTo>
                    <a:pt x="18" y="80"/>
                  </a:moveTo>
                  <a:lnTo>
                    <a:pt x="18" y="920"/>
                  </a:lnTo>
                </a:path>
                <a:path w="1000" h="1000" fill="none">
                  <a:moveTo>
                    <a:pt x="25" y="80"/>
                  </a:moveTo>
                  <a:lnTo>
                    <a:pt x="25" y="920"/>
                  </a:lnTo>
                </a:path>
                <a:path w="1000" h="1000" fill="none">
                  <a:moveTo>
                    <a:pt x="32" y="80"/>
                  </a:moveTo>
                  <a:lnTo>
                    <a:pt x="32" y="920"/>
                  </a:lnTo>
                </a:path>
                <a:path w="1000" h="1000" fill="none">
                  <a:moveTo>
                    <a:pt x="39" y="80"/>
                  </a:moveTo>
                  <a:lnTo>
                    <a:pt x="39" y="920"/>
                  </a:lnTo>
                </a:path>
                <a:path w="1000" h="1000" fill="none">
                  <a:moveTo>
                    <a:pt x="47" y="80"/>
                  </a:moveTo>
                  <a:lnTo>
                    <a:pt x="47" y="920"/>
                  </a:lnTo>
                </a:path>
                <a:path w="1000" h="1000" fill="none">
                  <a:moveTo>
                    <a:pt x="54" y="80"/>
                  </a:moveTo>
                  <a:lnTo>
                    <a:pt x="54" y="920"/>
                  </a:lnTo>
                </a:path>
                <a:path w="1000" h="1000" fill="none">
                  <a:moveTo>
                    <a:pt x="61" y="80"/>
                  </a:moveTo>
                  <a:lnTo>
                    <a:pt x="61" y="920"/>
                  </a:lnTo>
                </a:path>
                <a:path w="1000" h="1000" fill="none">
                  <a:moveTo>
                    <a:pt x="68" y="80"/>
                  </a:moveTo>
                  <a:lnTo>
                    <a:pt x="68" y="920"/>
                  </a:lnTo>
                </a:path>
                <a:path w="1000" h="1000" fill="none">
                  <a:moveTo>
                    <a:pt x="76" y="80"/>
                  </a:moveTo>
                  <a:lnTo>
                    <a:pt x="76" y="920"/>
                  </a:lnTo>
                </a:path>
                <a:path w="1000" h="1000" fill="none">
                  <a:moveTo>
                    <a:pt x="83" y="80"/>
                  </a:moveTo>
                  <a:lnTo>
                    <a:pt x="83" y="920"/>
                  </a:lnTo>
                </a:path>
                <a:path w="1000" h="1000" fill="none">
                  <a:moveTo>
                    <a:pt x="90" y="80"/>
                  </a:moveTo>
                  <a:lnTo>
                    <a:pt x="90" y="920"/>
                  </a:lnTo>
                </a:path>
                <a:path w="1000" h="1000" fill="none">
                  <a:moveTo>
                    <a:pt x="97" y="80"/>
                  </a:moveTo>
                  <a:lnTo>
                    <a:pt x="97" y="920"/>
                  </a:lnTo>
                </a:path>
                <a:path w="1000" h="1000" fill="none">
                  <a:moveTo>
                    <a:pt x="105" y="80"/>
                  </a:moveTo>
                  <a:lnTo>
                    <a:pt x="105" y="920"/>
                  </a:lnTo>
                </a:path>
                <a:path w="1000" h="1000" fill="none">
                  <a:moveTo>
                    <a:pt x="112" y="80"/>
                  </a:moveTo>
                  <a:lnTo>
                    <a:pt x="112" y="920"/>
                  </a:lnTo>
                </a:path>
                <a:path w="1000" h="1000" fill="none">
                  <a:moveTo>
                    <a:pt x="119" y="80"/>
                  </a:moveTo>
                  <a:lnTo>
                    <a:pt x="119" y="920"/>
                  </a:lnTo>
                </a:path>
                <a:path w="1000" h="1000" fill="none">
                  <a:moveTo>
                    <a:pt x="126" y="80"/>
                  </a:moveTo>
                  <a:lnTo>
                    <a:pt x="126" y="920"/>
                  </a:lnTo>
                </a:path>
                <a:path w="1000" h="1000" fill="none">
                  <a:moveTo>
                    <a:pt x="134" y="80"/>
                  </a:moveTo>
                  <a:lnTo>
                    <a:pt x="134" y="920"/>
                  </a:lnTo>
                </a:path>
                <a:path w="1000" h="1000" fill="none">
                  <a:moveTo>
                    <a:pt x="141" y="80"/>
                  </a:moveTo>
                  <a:lnTo>
                    <a:pt x="141" y="920"/>
                  </a:lnTo>
                </a:path>
                <a:path w="1000" h="1000" fill="none">
                  <a:moveTo>
                    <a:pt x="148" y="80"/>
                  </a:moveTo>
                  <a:lnTo>
                    <a:pt x="148" y="920"/>
                  </a:lnTo>
                </a:path>
                <a:path w="1000" h="1000" fill="none">
                  <a:moveTo>
                    <a:pt x="155" y="80"/>
                  </a:moveTo>
                  <a:lnTo>
                    <a:pt x="155" y="920"/>
                  </a:lnTo>
                </a:path>
                <a:path w="1000" h="1000" fill="none">
                  <a:moveTo>
                    <a:pt x="163" y="80"/>
                  </a:moveTo>
                  <a:lnTo>
                    <a:pt x="163" y="920"/>
                  </a:lnTo>
                </a:path>
                <a:path w="1000" h="1000" fill="none">
                  <a:moveTo>
                    <a:pt x="170" y="80"/>
                  </a:moveTo>
                  <a:lnTo>
                    <a:pt x="170" y="920"/>
                  </a:lnTo>
                </a:path>
                <a:path w="1000" h="1000" fill="none">
                  <a:moveTo>
                    <a:pt x="177" y="80"/>
                  </a:moveTo>
                  <a:lnTo>
                    <a:pt x="177" y="920"/>
                  </a:lnTo>
                </a:path>
                <a:path w="1000" h="1000" fill="none">
                  <a:moveTo>
                    <a:pt x="184" y="80"/>
                  </a:moveTo>
                  <a:lnTo>
                    <a:pt x="184" y="920"/>
                  </a:lnTo>
                </a:path>
                <a:path w="1000" h="1000" fill="none">
                  <a:moveTo>
                    <a:pt x="192" y="80"/>
                  </a:moveTo>
                  <a:lnTo>
                    <a:pt x="192" y="920"/>
                  </a:lnTo>
                </a:path>
                <a:path w="1000" h="1000" fill="none">
                  <a:moveTo>
                    <a:pt x="199" y="80"/>
                  </a:moveTo>
                  <a:lnTo>
                    <a:pt x="199" y="920"/>
                  </a:lnTo>
                </a:path>
                <a:path w="1000" h="1000" fill="none">
                  <a:moveTo>
                    <a:pt x="206" y="80"/>
                  </a:moveTo>
                  <a:lnTo>
                    <a:pt x="206" y="920"/>
                  </a:lnTo>
                </a:path>
                <a:path w="1000" h="1000" fill="none">
                  <a:moveTo>
                    <a:pt x="213" y="80"/>
                  </a:moveTo>
                  <a:lnTo>
                    <a:pt x="213" y="920"/>
                  </a:lnTo>
                </a:path>
                <a:path w="1000" h="1000" fill="none">
                  <a:moveTo>
                    <a:pt x="221" y="80"/>
                  </a:moveTo>
                  <a:lnTo>
                    <a:pt x="221" y="920"/>
                  </a:lnTo>
                </a:path>
                <a:path w="1000" h="1000" fill="none">
                  <a:moveTo>
                    <a:pt x="228" y="80"/>
                  </a:moveTo>
                  <a:lnTo>
                    <a:pt x="228" y="920"/>
                  </a:lnTo>
                </a:path>
                <a:path w="1000" h="1000" fill="none">
                  <a:moveTo>
                    <a:pt x="235" y="80"/>
                  </a:moveTo>
                  <a:lnTo>
                    <a:pt x="235" y="920"/>
                  </a:lnTo>
                </a:path>
                <a:path w="1000" h="1000" fill="none">
                  <a:moveTo>
                    <a:pt x="242" y="80"/>
                  </a:moveTo>
                  <a:lnTo>
                    <a:pt x="242" y="920"/>
                  </a:lnTo>
                </a:path>
                <a:path w="1000" h="1000" fill="none">
                  <a:moveTo>
                    <a:pt x="250" y="80"/>
                  </a:moveTo>
                  <a:lnTo>
                    <a:pt x="250" y="920"/>
                  </a:lnTo>
                </a:path>
                <a:path w="1000" h="1000" fill="none">
                  <a:moveTo>
                    <a:pt x="257" y="80"/>
                  </a:moveTo>
                  <a:lnTo>
                    <a:pt x="257" y="920"/>
                  </a:lnTo>
                </a:path>
                <a:path w="1000" h="1000" fill="none">
                  <a:moveTo>
                    <a:pt x="264" y="80"/>
                  </a:moveTo>
                  <a:lnTo>
                    <a:pt x="264" y="920"/>
                  </a:lnTo>
                </a:path>
                <a:path w="1000" h="1000" fill="none">
                  <a:moveTo>
                    <a:pt x="271" y="80"/>
                  </a:moveTo>
                  <a:lnTo>
                    <a:pt x="271" y="920"/>
                  </a:lnTo>
                </a:path>
                <a:path w="1000" h="1000" fill="none">
                  <a:moveTo>
                    <a:pt x="278" y="80"/>
                  </a:moveTo>
                  <a:lnTo>
                    <a:pt x="278" y="920"/>
                  </a:lnTo>
                </a:path>
                <a:path w="1000" h="1000" fill="none">
                  <a:moveTo>
                    <a:pt x="286" y="80"/>
                  </a:moveTo>
                  <a:lnTo>
                    <a:pt x="286" y="920"/>
                  </a:lnTo>
                </a:path>
                <a:path w="1000" h="1000" fill="none">
                  <a:moveTo>
                    <a:pt x="293" y="80"/>
                  </a:moveTo>
                  <a:lnTo>
                    <a:pt x="293" y="920"/>
                  </a:lnTo>
                </a:path>
                <a:path w="1000" h="1000" fill="none">
                  <a:moveTo>
                    <a:pt x="300" y="80"/>
                  </a:moveTo>
                  <a:lnTo>
                    <a:pt x="300" y="920"/>
                  </a:lnTo>
                </a:path>
                <a:path w="1000" h="1000" fill="none">
                  <a:moveTo>
                    <a:pt x="307" y="80"/>
                  </a:moveTo>
                  <a:lnTo>
                    <a:pt x="307" y="920"/>
                  </a:lnTo>
                </a:path>
                <a:path w="1000" h="1000" fill="none">
                  <a:moveTo>
                    <a:pt x="315" y="80"/>
                  </a:moveTo>
                  <a:lnTo>
                    <a:pt x="315" y="920"/>
                  </a:lnTo>
                </a:path>
                <a:path w="1000" h="1000" fill="none">
                  <a:moveTo>
                    <a:pt x="322" y="80"/>
                  </a:moveTo>
                  <a:lnTo>
                    <a:pt x="322" y="920"/>
                  </a:lnTo>
                </a:path>
                <a:path w="1000" h="1000" fill="none">
                  <a:moveTo>
                    <a:pt x="329" y="80"/>
                  </a:moveTo>
                  <a:lnTo>
                    <a:pt x="329" y="920"/>
                  </a:lnTo>
                </a:path>
                <a:path w="1000" h="1000" fill="none">
                  <a:moveTo>
                    <a:pt x="336" y="80"/>
                  </a:moveTo>
                  <a:lnTo>
                    <a:pt x="336" y="920"/>
                  </a:lnTo>
                </a:path>
                <a:path w="1000" h="1000" fill="none">
                  <a:moveTo>
                    <a:pt x="344" y="80"/>
                  </a:moveTo>
                  <a:lnTo>
                    <a:pt x="344" y="920"/>
                  </a:lnTo>
                </a:path>
                <a:path w="1000" h="1000" fill="none">
                  <a:moveTo>
                    <a:pt x="351" y="80"/>
                  </a:moveTo>
                  <a:lnTo>
                    <a:pt x="351" y="920"/>
                  </a:lnTo>
                </a:path>
                <a:path w="1000" h="1000" fill="none">
                  <a:moveTo>
                    <a:pt x="358" y="80"/>
                  </a:moveTo>
                  <a:lnTo>
                    <a:pt x="358" y="920"/>
                  </a:lnTo>
                </a:path>
                <a:path w="1000" h="1000" fill="none">
                  <a:moveTo>
                    <a:pt x="365" y="80"/>
                  </a:moveTo>
                  <a:lnTo>
                    <a:pt x="365" y="920"/>
                  </a:lnTo>
                </a:path>
                <a:path w="1000" h="1000" fill="none">
                  <a:moveTo>
                    <a:pt x="373" y="80"/>
                  </a:moveTo>
                  <a:lnTo>
                    <a:pt x="373" y="920"/>
                  </a:lnTo>
                </a:path>
                <a:path w="1000" h="1000" fill="none">
                  <a:moveTo>
                    <a:pt x="380" y="80"/>
                  </a:moveTo>
                  <a:lnTo>
                    <a:pt x="380" y="920"/>
                  </a:lnTo>
                </a:path>
                <a:path w="1000" h="1000" fill="none">
                  <a:moveTo>
                    <a:pt x="387" y="80"/>
                  </a:moveTo>
                  <a:lnTo>
                    <a:pt x="387" y="920"/>
                  </a:lnTo>
                </a:path>
                <a:path w="1000" h="1000" fill="none">
                  <a:moveTo>
                    <a:pt x="394" y="80"/>
                  </a:moveTo>
                  <a:lnTo>
                    <a:pt x="394" y="920"/>
                  </a:lnTo>
                </a:path>
                <a:path w="1000" h="1000" fill="none">
                  <a:moveTo>
                    <a:pt x="402" y="80"/>
                  </a:moveTo>
                  <a:lnTo>
                    <a:pt x="402" y="920"/>
                  </a:lnTo>
                </a:path>
                <a:path w="1000" h="1000" fill="none">
                  <a:moveTo>
                    <a:pt x="409" y="80"/>
                  </a:moveTo>
                  <a:lnTo>
                    <a:pt x="409" y="920"/>
                  </a:lnTo>
                </a:path>
                <a:path w="1000" h="1000" fill="none">
                  <a:moveTo>
                    <a:pt x="416" y="80"/>
                  </a:moveTo>
                  <a:lnTo>
                    <a:pt x="416" y="920"/>
                  </a:lnTo>
                </a:path>
                <a:path w="1000" h="1000" fill="none">
                  <a:moveTo>
                    <a:pt x="423" y="80"/>
                  </a:moveTo>
                  <a:lnTo>
                    <a:pt x="423" y="920"/>
                  </a:lnTo>
                </a:path>
                <a:path w="1000" h="1000" fill="none">
                  <a:moveTo>
                    <a:pt x="431" y="80"/>
                  </a:moveTo>
                  <a:lnTo>
                    <a:pt x="431" y="920"/>
                  </a:lnTo>
                </a:path>
                <a:path w="1000" h="1000" fill="none">
                  <a:moveTo>
                    <a:pt x="438" y="80"/>
                  </a:moveTo>
                  <a:lnTo>
                    <a:pt x="438" y="920"/>
                  </a:lnTo>
                </a:path>
                <a:path w="1000" h="1000" fill="none">
                  <a:moveTo>
                    <a:pt x="445" y="80"/>
                  </a:moveTo>
                  <a:lnTo>
                    <a:pt x="445" y="920"/>
                  </a:lnTo>
                </a:path>
                <a:path w="1000" h="1000" fill="none">
                  <a:moveTo>
                    <a:pt x="452" y="80"/>
                  </a:moveTo>
                  <a:lnTo>
                    <a:pt x="452" y="920"/>
                  </a:lnTo>
                </a:path>
                <a:path w="1000" h="1000" fill="none">
                  <a:moveTo>
                    <a:pt x="460" y="80"/>
                  </a:moveTo>
                  <a:lnTo>
                    <a:pt x="460" y="920"/>
                  </a:lnTo>
                </a:path>
                <a:path w="1000" h="1000" fill="none">
                  <a:moveTo>
                    <a:pt x="467" y="80"/>
                  </a:moveTo>
                  <a:lnTo>
                    <a:pt x="467" y="920"/>
                  </a:lnTo>
                </a:path>
                <a:path w="1000" h="1000" fill="none">
                  <a:moveTo>
                    <a:pt x="474" y="80"/>
                  </a:moveTo>
                  <a:lnTo>
                    <a:pt x="474" y="920"/>
                  </a:lnTo>
                </a:path>
                <a:path w="1000" h="1000" fill="none">
                  <a:moveTo>
                    <a:pt x="481" y="80"/>
                  </a:moveTo>
                  <a:lnTo>
                    <a:pt x="481" y="920"/>
                  </a:lnTo>
                </a:path>
                <a:path w="1000" h="1000" fill="none">
                  <a:moveTo>
                    <a:pt x="489" y="80"/>
                  </a:moveTo>
                  <a:lnTo>
                    <a:pt x="489" y="920"/>
                  </a:lnTo>
                </a:path>
                <a:path w="1000" h="1000" fill="none">
                  <a:moveTo>
                    <a:pt x="496" y="80"/>
                  </a:moveTo>
                  <a:lnTo>
                    <a:pt x="496" y="920"/>
                  </a:lnTo>
                </a:path>
                <a:path w="1000" h="1000" fill="none">
                  <a:moveTo>
                    <a:pt x="503" y="80"/>
                  </a:moveTo>
                  <a:lnTo>
                    <a:pt x="503" y="920"/>
                  </a:lnTo>
                </a:path>
                <a:path w="1000" h="1000" fill="none">
                  <a:moveTo>
                    <a:pt x="510" y="80"/>
                  </a:moveTo>
                  <a:lnTo>
                    <a:pt x="510" y="920"/>
                  </a:lnTo>
                </a:path>
                <a:path w="1000" h="1000" fill="none">
                  <a:moveTo>
                    <a:pt x="518" y="80"/>
                  </a:moveTo>
                  <a:lnTo>
                    <a:pt x="518" y="920"/>
                  </a:lnTo>
                </a:path>
                <a:path w="1000" h="1000" fill="none">
                  <a:moveTo>
                    <a:pt x="525" y="80"/>
                  </a:moveTo>
                  <a:lnTo>
                    <a:pt x="525" y="920"/>
                  </a:lnTo>
                </a:path>
                <a:path w="1000" h="1000" fill="none">
                  <a:moveTo>
                    <a:pt x="532" y="80"/>
                  </a:moveTo>
                  <a:lnTo>
                    <a:pt x="532" y="920"/>
                  </a:lnTo>
                </a:path>
                <a:path w="1000" h="1000" fill="none">
                  <a:moveTo>
                    <a:pt x="539" y="80"/>
                  </a:moveTo>
                  <a:lnTo>
                    <a:pt x="539" y="920"/>
                  </a:lnTo>
                </a:path>
                <a:path w="1000" h="1000" fill="none">
                  <a:moveTo>
                    <a:pt x="547" y="80"/>
                  </a:moveTo>
                  <a:lnTo>
                    <a:pt x="547" y="920"/>
                  </a:lnTo>
                </a:path>
                <a:path w="1000" h="1000" fill="none">
                  <a:moveTo>
                    <a:pt x="554" y="80"/>
                  </a:moveTo>
                  <a:lnTo>
                    <a:pt x="554" y="920"/>
                  </a:lnTo>
                </a:path>
                <a:path w="1000" h="1000" fill="none">
                  <a:moveTo>
                    <a:pt x="561" y="80"/>
                  </a:moveTo>
                  <a:lnTo>
                    <a:pt x="561" y="920"/>
                  </a:lnTo>
                </a:path>
                <a:path w="1000" h="1000" fill="none">
                  <a:moveTo>
                    <a:pt x="568" y="80"/>
                  </a:moveTo>
                  <a:lnTo>
                    <a:pt x="568" y="920"/>
                  </a:lnTo>
                </a:path>
                <a:path w="1000" h="1000" fill="none">
                  <a:moveTo>
                    <a:pt x="576" y="80"/>
                  </a:moveTo>
                  <a:lnTo>
                    <a:pt x="576" y="920"/>
                  </a:lnTo>
                </a:path>
                <a:path w="1000" h="1000" fill="none">
                  <a:moveTo>
                    <a:pt x="583" y="80"/>
                  </a:moveTo>
                  <a:lnTo>
                    <a:pt x="583" y="920"/>
                  </a:lnTo>
                </a:path>
                <a:path w="1000" h="1000" fill="none">
                  <a:moveTo>
                    <a:pt x="590" y="80"/>
                  </a:moveTo>
                  <a:lnTo>
                    <a:pt x="590" y="920"/>
                  </a:lnTo>
                </a:path>
                <a:path w="1000" h="1000" fill="none">
                  <a:moveTo>
                    <a:pt x="597" y="80"/>
                  </a:moveTo>
                  <a:lnTo>
                    <a:pt x="597" y="920"/>
                  </a:lnTo>
                </a:path>
                <a:path w="1000" h="1000" fill="none">
                  <a:moveTo>
                    <a:pt x="605" y="80"/>
                  </a:moveTo>
                  <a:lnTo>
                    <a:pt x="605" y="920"/>
                  </a:lnTo>
                </a:path>
                <a:path w="1000" h="1000" fill="none">
                  <a:moveTo>
                    <a:pt x="612" y="80"/>
                  </a:moveTo>
                  <a:lnTo>
                    <a:pt x="612" y="920"/>
                  </a:lnTo>
                </a:path>
                <a:path w="1000" h="1000" fill="none">
                  <a:moveTo>
                    <a:pt x="619" y="80"/>
                  </a:moveTo>
                  <a:lnTo>
                    <a:pt x="619" y="920"/>
                  </a:lnTo>
                </a:path>
                <a:path w="1000" h="1000" fill="none">
                  <a:moveTo>
                    <a:pt x="626" y="80"/>
                  </a:moveTo>
                  <a:lnTo>
                    <a:pt x="626" y="920"/>
                  </a:lnTo>
                </a:path>
                <a:path w="1000" h="1000" fill="none">
                  <a:moveTo>
                    <a:pt x="634" y="80"/>
                  </a:moveTo>
                  <a:lnTo>
                    <a:pt x="634" y="920"/>
                  </a:lnTo>
                </a:path>
                <a:path w="1000" h="1000" fill="none">
                  <a:moveTo>
                    <a:pt x="641" y="80"/>
                  </a:moveTo>
                  <a:lnTo>
                    <a:pt x="641" y="920"/>
                  </a:lnTo>
                </a:path>
                <a:path w="1000" h="1000" fill="none">
                  <a:moveTo>
                    <a:pt x="648" y="80"/>
                  </a:moveTo>
                  <a:lnTo>
                    <a:pt x="648" y="920"/>
                  </a:lnTo>
                </a:path>
                <a:path w="1000" h="1000" fill="none">
                  <a:moveTo>
                    <a:pt x="655" y="80"/>
                  </a:moveTo>
                  <a:lnTo>
                    <a:pt x="655" y="920"/>
                  </a:lnTo>
                </a:path>
                <a:path w="1000" h="1000" fill="none">
                  <a:moveTo>
                    <a:pt x="663" y="80"/>
                  </a:moveTo>
                  <a:lnTo>
                    <a:pt x="663" y="920"/>
                  </a:lnTo>
                </a:path>
                <a:path w="1000" h="1000" fill="none">
                  <a:moveTo>
                    <a:pt x="670" y="80"/>
                  </a:moveTo>
                  <a:lnTo>
                    <a:pt x="670" y="920"/>
                  </a:lnTo>
                </a:path>
                <a:path w="1000" h="1000" fill="none">
                  <a:moveTo>
                    <a:pt x="677" y="80"/>
                  </a:moveTo>
                  <a:lnTo>
                    <a:pt x="677" y="920"/>
                  </a:lnTo>
                </a:path>
                <a:path w="1000" h="1000" fill="none">
                  <a:moveTo>
                    <a:pt x="684" y="80"/>
                  </a:moveTo>
                  <a:lnTo>
                    <a:pt x="684" y="920"/>
                  </a:lnTo>
                </a:path>
                <a:path w="1000" h="1000" fill="none">
                  <a:moveTo>
                    <a:pt x="692" y="80"/>
                  </a:moveTo>
                  <a:lnTo>
                    <a:pt x="692" y="920"/>
                  </a:lnTo>
                </a:path>
                <a:path w="1000" h="1000" fill="none">
                  <a:moveTo>
                    <a:pt x="699" y="80"/>
                  </a:moveTo>
                  <a:lnTo>
                    <a:pt x="699" y="920"/>
                  </a:lnTo>
                </a:path>
                <a:path w="1000" h="1000" fill="none">
                  <a:moveTo>
                    <a:pt x="706" y="80"/>
                  </a:moveTo>
                  <a:lnTo>
                    <a:pt x="706" y="920"/>
                  </a:lnTo>
                </a:path>
                <a:path w="1000" h="1000" fill="none">
                  <a:moveTo>
                    <a:pt x="713" y="80"/>
                  </a:moveTo>
                  <a:lnTo>
                    <a:pt x="713" y="920"/>
                  </a:lnTo>
                </a:path>
                <a:path w="1000" h="1000" fill="none">
                  <a:moveTo>
                    <a:pt x="721" y="80"/>
                  </a:moveTo>
                  <a:lnTo>
                    <a:pt x="721" y="920"/>
                  </a:lnTo>
                </a:path>
                <a:path w="1000" h="1000" fill="none">
                  <a:moveTo>
                    <a:pt x="728" y="80"/>
                  </a:moveTo>
                  <a:lnTo>
                    <a:pt x="728" y="920"/>
                  </a:lnTo>
                </a:path>
                <a:path w="1000" h="1000" fill="none">
                  <a:moveTo>
                    <a:pt x="735" y="80"/>
                  </a:moveTo>
                  <a:lnTo>
                    <a:pt x="735" y="920"/>
                  </a:lnTo>
                </a:path>
                <a:path w="1000" h="1000" fill="none">
                  <a:moveTo>
                    <a:pt x="742" y="80"/>
                  </a:moveTo>
                  <a:lnTo>
                    <a:pt x="742" y="920"/>
                  </a:lnTo>
                </a:path>
                <a:path w="1000" h="1000" fill="none">
                  <a:moveTo>
                    <a:pt x="750" y="80"/>
                  </a:moveTo>
                  <a:lnTo>
                    <a:pt x="750" y="920"/>
                  </a:lnTo>
                </a:path>
                <a:path w="1000" h="1000" fill="none">
                  <a:moveTo>
                    <a:pt x="757" y="80"/>
                  </a:moveTo>
                  <a:lnTo>
                    <a:pt x="757" y="920"/>
                  </a:lnTo>
                </a:path>
                <a:path w="1000" h="1000" fill="none">
                  <a:moveTo>
                    <a:pt x="764" y="80"/>
                  </a:moveTo>
                  <a:lnTo>
                    <a:pt x="764" y="920"/>
                  </a:lnTo>
                </a:path>
                <a:path w="1000" h="1000" fill="none">
                  <a:moveTo>
                    <a:pt x="771" y="80"/>
                  </a:moveTo>
                  <a:lnTo>
                    <a:pt x="771" y="920"/>
                  </a:lnTo>
                </a:path>
                <a:path w="1000" h="1000" fill="none">
                  <a:moveTo>
                    <a:pt x="778" y="80"/>
                  </a:moveTo>
                  <a:lnTo>
                    <a:pt x="778" y="920"/>
                  </a:lnTo>
                </a:path>
                <a:path w="1000" h="1000" fill="none">
                  <a:moveTo>
                    <a:pt x="786" y="80"/>
                  </a:moveTo>
                  <a:lnTo>
                    <a:pt x="786" y="920"/>
                  </a:lnTo>
                </a:path>
                <a:path w="1000" h="1000" fill="none">
                  <a:moveTo>
                    <a:pt x="793" y="80"/>
                  </a:moveTo>
                  <a:lnTo>
                    <a:pt x="793" y="920"/>
                  </a:lnTo>
                </a:path>
                <a:path w="1000" h="1000" fill="none">
                  <a:moveTo>
                    <a:pt x="800" y="80"/>
                  </a:moveTo>
                  <a:lnTo>
                    <a:pt x="800" y="920"/>
                  </a:lnTo>
                </a:path>
                <a:path w="1000" h="1000" fill="none">
                  <a:moveTo>
                    <a:pt x="807" y="80"/>
                  </a:moveTo>
                  <a:lnTo>
                    <a:pt x="807" y="920"/>
                  </a:lnTo>
                </a:path>
                <a:path w="1000" h="1000" fill="none">
                  <a:moveTo>
                    <a:pt x="815" y="80"/>
                  </a:moveTo>
                  <a:lnTo>
                    <a:pt x="815" y="920"/>
                  </a:lnTo>
                </a:path>
                <a:path w="1000" h="1000" fill="none">
                  <a:moveTo>
                    <a:pt x="822" y="80"/>
                  </a:moveTo>
                  <a:lnTo>
                    <a:pt x="822" y="920"/>
                  </a:lnTo>
                </a:path>
                <a:path w="1000" h="1000" fill="none">
                  <a:moveTo>
                    <a:pt x="829" y="80"/>
                  </a:moveTo>
                  <a:lnTo>
                    <a:pt x="829" y="920"/>
                  </a:lnTo>
                </a:path>
                <a:path w="1000" h="1000" fill="none">
                  <a:moveTo>
                    <a:pt x="836" y="80"/>
                  </a:moveTo>
                  <a:lnTo>
                    <a:pt x="836" y="920"/>
                  </a:lnTo>
                </a:path>
                <a:path w="1000" h="1000" fill="none">
                  <a:moveTo>
                    <a:pt x="844" y="80"/>
                  </a:moveTo>
                  <a:lnTo>
                    <a:pt x="844" y="920"/>
                  </a:lnTo>
                </a:path>
                <a:path w="1000" h="1000" fill="none">
                  <a:moveTo>
                    <a:pt x="851" y="80"/>
                  </a:moveTo>
                  <a:lnTo>
                    <a:pt x="851" y="920"/>
                  </a:lnTo>
                </a:path>
                <a:path w="1000" h="1000" fill="none">
                  <a:moveTo>
                    <a:pt x="858" y="80"/>
                  </a:moveTo>
                  <a:lnTo>
                    <a:pt x="858" y="920"/>
                  </a:lnTo>
                </a:path>
                <a:path w="1000" h="1000" fill="none">
                  <a:moveTo>
                    <a:pt x="865" y="80"/>
                  </a:moveTo>
                  <a:lnTo>
                    <a:pt x="865" y="920"/>
                  </a:lnTo>
                </a:path>
                <a:path w="1000" h="1000" fill="none">
                  <a:moveTo>
                    <a:pt x="873" y="80"/>
                  </a:moveTo>
                  <a:lnTo>
                    <a:pt x="873" y="920"/>
                  </a:lnTo>
                </a:path>
                <a:path w="1000" h="1000" fill="none">
                  <a:moveTo>
                    <a:pt x="880" y="80"/>
                  </a:moveTo>
                  <a:lnTo>
                    <a:pt x="880" y="920"/>
                  </a:lnTo>
                </a:path>
                <a:path w="1000" h="1000" fill="none">
                  <a:moveTo>
                    <a:pt x="887" y="80"/>
                  </a:moveTo>
                  <a:lnTo>
                    <a:pt x="887" y="920"/>
                  </a:lnTo>
                </a:path>
                <a:path w="1000" h="1000" fill="none">
                  <a:moveTo>
                    <a:pt x="894" y="80"/>
                  </a:moveTo>
                  <a:lnTo>
                    <a:pt x="894" y="920"/>
                  </a:lnTo>
                </a:path>
                <a:path w="1000" h="1000" fill="none">
                  <a:moveTo>
                    <a:pt x="902" y="80"/>
                  </a:moveTo>
                  <a:lnTo>
                    <a:pt x="902" y="920"/>
                  </a:lnTo>
                </a:path>
                <a:path w="1000" h="1000" fill="none">
                  <a:moveTo>
                    <a:pt x="909" y="80"/>
                  </a:moveTo>
                  <a:lnTo>
                    <a:pt x="909" y="920"/>
                  </a:lnTo>
                </a:path>
                <a:path w="1000" h="1000" fill="none">
                  <a:moveTo>
                    <a:pt x="916" y="80"/>
                  </a:moveTo>
                  <a:lnTo>
                    <a:pt x="916" y="920"/>
                  </a:lnTo>
                </a:path>
                <a:path w="1000" h="1000" fill="none">
                  <a:moveTo>
                    <a:pt x="923" y="80"/>
                  </a:moveTo>
                  <a:lnTo>
                    <a:pt x="923" y="920"/>
                  </a:lnTo>
                </a:path>
                <a:path w="1000" h="1000" fill="none">
                  <a:moveTo>
                    <a:pt x="931" y="80"/>
                  </a:moveTo>
                  <a:lnTo>
                    <a:pt x="931" y="920"/>
                  </a:lnTo>
                </a:path>
                <a:path w="1000" h="1000" fill="none">
                  <a:moveTo>
                    <a:pt x="938" y="80"/>
                  </a:moveTo>
                  <a:lnTo>
                    <a:pt x="938" y="920"/>
                  </a:lnTo>
                </a:path>
                <a:path w="1000" h="1000" fill="none">
                  <a:moveTo>
                    <a:pt x="945" y="80"/>
                  </a:moveTo>
                  <a:lnTo>
                    <a:pt x="945" y="920"/>
                  </a:lnTo>
                </a:path>
                <a:path w="1000" h="1000" fill="none">
                  <a:moveTo>
                    <a:pt x="952" y="80"/>
                  </a:moveTo>
                  <a:lnTo>
                    <a:pt x="952" y="920"/>
                  </a:lnTo>
                </a:path>
                <a:path w="1000" h="1000" fill="none">
                  <a:moveTo>
                    <a:pt x="960" y="80"/>
                  </a:moveTo>
                  <a:lnTo>
                    <a:pt x="960" y="920"/>
                  </a:lnTo>
                </a:path>
                <a:path w="1000" h="1000" fill="none">
                  <a:moveTo>
                    <a:pt x="967" y="80"/>
                  </a:moveTo>
                  <a:lnTo>
                    <a:pt x="967" y="920"/>
                  </a:lnTo>
                </a:path>
                <a:path w="1000" h="1000" fill="none">
                  <a:moveTo>
                    <a:pt x="974" y="80"/>
                  </a:moveTo>
                  <a:lnTo>
                    <a:pt x="974" y="920"/>
                  </a:lnTo>
                </a:path>
                <a:path w="1000" h="1000" fill="none">
                  <a:moveTo>
                    <a:pt x="981" y="80"/>
                  </a:moveTo>
                  <a:lnTo>
                    <a:pt x="981" y="920"/>
                  </a:lnTo>
                </a:path>
                <a:path w="1000" h="1000" fill="none">
                  <a:moveTo>
                    <a:pt x="989" y="80"/>
                  </a:moveTo>
                  <a:lnTo>
                    <a:pt x="989" y="920"/>
                  </a:lnTo>
                </a:path>
                <a:path w="1000" h="1000" fill="none">
                  <a:moveTo>
                    <a:pt x="996" y="80"/>
                  </a:moveTo>
                  <a:lnTo>
                    <a:pt x="996" y="920"/>
                  </a:lnTo>
                </a:path>
              </a:pathLst>
            </a:custGeom>
            <a:noFill/>
            <a:ln w="12700" cap="rnd">
              <a:solidFill>
                <a:srgbClr val="72251D"/>
              </a:solidFill>
              <a:round/>
            </a:ln>
          </p:spPr>
        </p:sp>
        <p:sp>
          <p:nvSpPr>
            <p:cNvPr id="7" name="Forma 6"/>
            <p:cNvSpPr/>
            <p:nvPr/>
          </p:nvSpPr>
          <p:spPr>
            <a:xfrm>
              <a:off x="2651760" y="1077163"/>
              <a:ext cx="320040" cy="11521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 name="Forma 7"/>
            <p:cNvSpPr/>
            <p:nvPr/>
          </p:nvSpPr>
          <p:spPr>
            <a:xfrm>
              <a:off x="6652260" y="1077163"/>
              <a:ext cx="320040" cy="11521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10081260" y="1077163"/>
              <a:ext cx="320040" cy="115214"/>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11526926" y="1077163"/>
              <a:ext cx="256032" cy="588874"/>
            </a:xfrm>
            <a:prstGeom prst="ellipse">
              <a:avLst/>
            </a:prstGeom>
            <a:gradFill rotWithShape="1">
              <a:gsLst>
                <a:gs pos="0">
                  <a:srgbClr val="F9E79F"/>
                </a:gs>
                <a:gs pos="100000">
                  <a:srgbClr val="E59866"/>
                </a:gs>
              </a:gsLst>
              <a:path path="circle">
                <a:fillToRect l="50000" t="50000" r="50000" b="50000"/>
              </a:path>
            </a:gradFill>
            <a:ln w="12700" cap="rnd">
              <a:solidFill>
                <a:srgbClr val="581D17"/>
              </a:solidFill>
              <a:round/>
            </a:ln>
          </p:spPr>
        </p:sp>
      </p:grpSp>
      <p:sp>
        <p:nvSpPr>
          <p:cNvPr id="11" name="Reacción AK"/>
          <p:cNvSpPr/>
          <p:nvPr/>
        </p:nvSpPr>
        <p:spPr>
          <a:xfrm>
            <a:off x="365760" y="1965960"/>
            <a:ext cx="5486400" cy="8229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Adenilato cinasa</a:t>
            </a:r>
            <a:r>
              <a:rPr lang="es-AR" sz="1600" dirty="0">
                <a:solidFill>
                  <a:srgbClr val="1E1E1E"/>
                </a:solidFill>
                <a:latin typeface="Bahnschrift SemiBold Condensed"/>
                <a:ea typeface="Bahnschrift SemiBold Condensed"/>
                <a:cs typeface="Bahnschrift SemiBold Condensed"/>
                <a:sym typeface="Bahnschrift SemiBold Condensed"/>
              </a:rPr>
              <a:t> (mioquinasa): 2 ADP ⇌ ATP + AMP</a:t>
            </a:r>
            <a:endParaRPr lang="es-AR" sz="1600" dirty="0">
              <a:latin typeface="Bahnschrift SemiBold Condensed"/>
            </a:endParaRPr>
          </a:p>
        </p:txBody>
      </p:sp>
      <p:sp>
        <p:nvSpPr>
          <p:cNvPr id="12" name="Reacción AMPD"/>
          <p:cNvSpPr/>
          <p:nvPr/>
        </p:nvSpPr>
        <p:spPr>
          <a:xfrm>
            <a:off x="365760" y="2971800"/>
            <a:ext cx="5486400" cy="822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AMP desaminasa (AMPD1)</a:t>
            </a:r>
            <a:r>
              <a:rPr lang="es-AR" sz="1600" dirty="0">
                <a:solidFill>
                  <a:srgbClr val="1E1E1E"/>
                </a:solidFill>
                <a:latin typeface="Bahnschrift SemiBold Condensed"/>
                <a:ea typeface="Bahnschrift SemiBold Condensed"/>
                <a:cs typeface="Bahnschrift SemiBold Condensed"/>
                <a:sym typeface="Bahnschrift SemiBold Condensed"/>
              </a:rPr>
              <a:t>: AMP + H</a:t>
            </a:r>
            <a:r>
              <a:rPr lang="es-AR" sz="1600" baseline="-25000" dirty="0">
                <a:solidFill>
                  <a:srgbClr val="1E1E1E"/>
                </a:solidFill>
                <a:latin typeface="Bahnschrift SemiBold Condensed"/>
                <a:ea typeface="Bahnschrift SemiBold Condensed"/>
                <a:cs typeface="Bahnschrift SemiBold Condensed"/>
                <a:sym typeface="Bahnschrift SemiBold Condensed"/>
              </a:rPr>
              <a:t>2</a:t>
            </a:r>
            <a:r>
              <a:rPr lang="es-AR" sz="1600" dirty="0">
                <a:solidFill>
                  <a:srgbClr val="1E1E1E"/>
                </a:solidFill>
                <a:latin typeface="Bahnschrift SemiBold Condensed"/>
                <a:ea typeface="Bahnschrift SemiBold Condensed"/>
                <a:cs typeface="Bahnschrift SemiBold Condensed"/>
                <a:sym typeface="Bahnschrift SemiBold Condensed"/>
              </a:rPr>
              <a:t>O → IMP + NH</a:t>
            </a:r>
            <a:r>
              <a:rPr lang="es-AR" sz="1600" baseline="-25000" dirty="0">
                <a:solidFill>
                  <a:srgbClr val="1E1E1E"/>
                </a:solidFill>
                <a:latin typeface="Bahnschrift SemiBold Condensed"/>
                <a:ea typeface="Bahnschrift SemiBold Condensed"/>
                <a:cs typeface="Bahnschrift SemiBold Condensed"/>
                <a:sym typeface="Bahnschrift SemiBold Condensed"/>
              </a:rPr>
              <a:t>3</a:t>
            </a:r>
            <a:endParaRPr lang="es-AR" sz="1600" dirty="0">
              <a:latin typeface="Bahnschrift SemiBold Condensed"/>
            </a:endParaRPr>
          </a:p>
        </p:txBody>
      </p:sp>
      <p:sp>
        <p:nvSpPr>
          <p:cNvPr id="13" name="Forma 12"/>
          <p:cNvSpPr/>
          <p:nvPr/>
        </p:nvSpPr>
        <p:spPr>
          <a:xfrm>
            <a:off x="365760" y="3977640"/>
            <a:ext cx="5486400" cy="13258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a:t>
            </a:r>
            <a:r>
              <a:rPr lang="es-AR" sz="1700" b="1" dirty="0">
                <a:solidFill>
                  <a:srgbClr val="1E1E1E"/>
                </a:solidFill>
                <a:latin typeface="Bahnschrift"/>
                <a:ea typeface="Bahnschrift"/>
                <a:cs typeface="Bahnschrift"/>
                <a:sym typeface="Bahnschrift"/>
              </a:rPr>
              <a:t>AMP</a:t>
            </a:r>
            <a:r>
              <a:rPr lang="es-AR" sz="1700" dirty="0">
                <a:solidFill>
                  <a:srgbClr val="1E1E1E"/>
                </a:solidFill>
                <a:latin typeface="Bahnschrift"/>
                <a:ea typeface="Bahnschrift"/>
                <a:cs typeface="Bahnschrift"/>
                <a:sym typeface="Bahnschrift"/>
              </a:rPr>
              <a:t> acumulado señaliza déficit: activa </a:t>
            </a:r>
            <a:r>
              <a:rPr lang="es-AR" sz="1700" b="1" dirty="0">
                <a:solidFill>
                  <a:srgbClr val="1E1E1E"/>
                </a:solidFill>
                <a:latin typeface="Bahnschrift"/>
                <a:ea typeface="Bahnschrift"/>
                <a:cs typeface="Bahnschrift"/>
                <a:sym typeface="Bahnschrift"/>
              </a:rPr>
              <a:t>AMPK</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PFK-1</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14" name="Forma 13"/>
          <p:cNvSpPr/>
          <p:nvPr/>
        </p:nvSpPr>
        <p:spPr>
          <a:xfrm>
            <a:off x="365760" y="5486400"/>
            <a:ext cx="5486400" cy="10058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Al </a:t>
            </a:r>
            <a:r>
              <a:rPr lang="es-AR" sz="1650" b="1" dirty="0">
                <a:solidFill>
                  <a:srgbClr val="1E1E1E"/>
                </a:solidFill>
                <a:latin typeface="Bahnschrift"/>
                <a:ea typeface="Bahnschrift"/>
                <a:cs typeface="Bahnschrift"/>
                <a:sym typeface="Bahnschrift"/>
              </a:rPr>
              <a:t>remover AMP</a:t>
            </a:r>
            <a:r>
              <a:rPr lang="es-AR" sz="1650" dirty="0">
                <a:solidFill>
                  <a:srgbClr val="1E1E1E"/>
                </a:solidFill>
                <a:latin typeface="Bahnschrift"/>
                <a:ea typeface="Bahnschrift"/>
                <a:cs typeface="Bahnschrift"/>
                <a:sym typeface="Bahnschrift"/>
              </a:rPr>
              <a:t>, AMPD empuja la adenilato cinasa hacia </a:t>
            </a:r>
            <a:r>
              <a:rPr lang="es-AR" sz="1650" b="1" dirty="0">
                <a:solidFill>
                  <a:srgbClr val="1E1E1E"/>
                </a:solidFill>
                <a:latin typeface="Bahnschrift"/>
                <a:ea typeface="Bahnschrift"/>
                <a:cs typeface="Bahnschrift"/>
                <a:sym typeface="Bahnschrift"/>
              </a:rPr>
              <a:t>más ATP</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grpSp>
        <p:nvGrpSpPr>
          <p:cNvPr id="15" name="Ciclo de nucleótidos de purina"/>
          <p:cNvGrpSpPr/>
          <p:nvPr/>
        </p:nvGrpSpPr>
        <p:grpSpPr>
          <a:xfrm>
            <a:off x="6400800" y="1965960"/>
            <a:ext cx="5394960" cy="4526280"/>
            <a:chOff x="6400800" y="1965960"/>
            <a:chExt cx="5394960" cy="4526280"/>
          </a:xfrm>
        </p:grpSpPr>
        <p:sp>
          <p:nvSpPr>
            <p:cNvPr id="16" name="Forma 15"/>
            <p:cNvSpPr/>
            <p:nvPr/>
          </p:nvSpPr>
          <p:spPr>
            <a:xfrm>
              <a:off x="6400800" y="1965960"/>
              <a:ext cx="5394960" cy="4526280"/>
            </a:xfrm>
            <a:prstGeom prst="rect">
              <a:avLst/>
            </a:prstGeom>
            <a:solidFill>
              <a:srgbClr val="FFFFFF">
                <a:alpha val="45000"/>
              </a:srgbClr>
            </a:solidFill>
            <a:ln w="15875" cap="rnd">
              <a:solidFill>
                <a:srgbClr val="1E1E1E"/>
              </a:solidFill>
              <a:round/>
            </a:ln>
            <a:effectLst>
              <a:outerShdw blurRad="63500" dist="38100" dir="2700000" algn="tl" rotWithShape="0">
                <a:srgbClr val="000000">
                  <a:alpha val="32000"/>
                </a:srgbClr>
              </a:outerShdw>
            </a:effectLst>
          </p:spPr>
        </p:sp>
        <p:sp>
          <p:nvSpPr>
            <p:cNvPr id="17" name="Forma 16"/>
            <p:cNvSpPr txBox="1"/>
            <p:nvPr/>
          </p:nvSpPr>
          <p:spPr>
            <a:xfrm>
              <a:off x="6492240" y="2011680"/>
              <a:ext cx="5212080" cy="365760"/>
            </a:xfrm>
            <a:prstGeom prst="rect">
              <a:avLst/>
            </a:prstGeom>
            <a:noFill/>
            <a:ln>
              <a:noFill/>
            </a:ln>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CICLO DE NUCLEÓTIDOS DE PURINA</a:t>
              </a:r>
              <a:endParaRPr lang="es-AR" sz="1500" dirty="0">
                <a:latin typeface="Bahnschrift SemiBold Condensed"/>
              </a:endParaRPr>
            </a:p>
          </p:txBody>
        </p:sp>
        <p:sp>
          <p:nvSpPr>
            <p:cNvPr id="18" name="Forma 17"/>
            <p:cNvSpPr/>
            <p:nvPr/>
          </p:nvSpPr>
          <p:spPr>
            <a:xfrm>
              <a:off x="7498080" y="2560320"/>
              <a:ext cx="3200400" cy="3108960"/>
            </a:xfrm>
            <a:prstGeom prst="ellipse">
              <a:avLst/>
            </a:prstGeom>
            <a:noFill/>
            <a:ln w="38100" cap="rnd">
              <a:solidFill>
                <a:srgbClr val="1E8C3A"/>
              </a:solidFill>
              <a:round/>
            </a:ln>
          </p:spPr>
        </p:sp>
        <p:sp>
          <p:nvSpPr>
            <p:cNvPr id="19" name="Forma 18"/>
            <p:cNvSpPr/>
            <p:nvPr/>
          </p:nvSpPr>
          <p:spPr>
            <a:xfrm>
              <a:off x="8595360" y="2331720"/>
              <a:ext cx="914400" cy="457200"/>
            </a:xfrm>
            <a:prstGeom prst="round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AMP</a:t>
              </a:r>
              <a:endParaRPr lang="es-AR" sz="1300" dirty="0">
                <a:latin typeface="Bahnschrift SemiBold Condensed"/>
              </a:endParaRPr>
            </a:p>
          </p:txBody>
        </p:sp>
        <p:sp>
          <p:nvSpPr>
            <p:cNvPr id="20" name="Forma 19"/>
            <p:cNvSpPr/>
            <p:nvPr/>
          </p:nvSpPr>
          <p:spPr>
            <a:xfrm>
              <a:off x="10195560" y="3886200"/>
              <a:ext cx="914400" cy="457200"/>
            </a:xfrm>
            <a:prstGeom prst="round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IMP</a:t>
              </a:r>
              <a:endParaRPr lang="es-AR" sz="1300" dirty="0">
                <a:latin typeface="Bahnschrift SemiBold Condensed"/>
              </a:endParaRPr>
            </a:p>
          </p:txBody>
        </p:sp>
        <p:sp>
          <p:nvSpPr>
            <p:cNvPr id="21" name="Forma 20"/>
            <p:cNvSpPr/>
            <p:nvPr/>
          </p:nvSpPr>
          <p:spPr>
            <a:xfrm>
              <a:off x="8183880" y="5440680"/>
              <a:ext cx="1828800" cy="457200"/>
            </a:xfrm>
            <a:prstGeom prst="round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Adenilosuccinato</a:t>
              </a:r>
              <a:endParaRPr lang="es-AR" sz="1300" dirty="0">
                <a:latin typeface="Bahnschrift SemiBold Condensed"/>
              </a:endParaRPr>
            </a:p>
          </p:txBody>
        </p:sp>
        <p:sp>
          <p:nvSpPr>
            <p:cNvPr id="22" name="Forma 21"/>
            <p:cNvSpPr txBox="1"/>
            <p:nvPr/>
          </p:nvSpPr>
          <p:spPr>
            <a:xfrm>
              <a:off x="10332720" y="3017520"/>
              <a:ext cx="1371600" cy="640080"/>
            </a:xfrm>
            <a:prstGeom prst="rect">
              <a:avLst/>
            </a:prstGeom>
            <a:noFill/>
            <a:ln>
              <a:noFill/>
            </a:ln>
          </p:spPr>
          <p:txBody>
            <a:bodyPr wrap="square" lIns="0" tIns="0" rIns="0" bIns="0" anchor="ctr" rtlCol="0">
              <a:noAutofit/>
            </a:bodyPr>
            <a:lstStyle/>
            <a:p>
              <a:pPr algn="l">
                <a:spcAft>
                  <a:spcPts val="300"/>
                </a:spcAft>
                <a:buNone/>
              </a:pPr>
              <a:r>
                <a:rPr lang="es-AR" sz="1400" b="1" dirty="0">
                  <a:solidFill>
                    <a:srgbClr val="0F7C7C"/>
                  </a:solidFill>
                  <a:latin typeface="Bahnschrift SemiBold Condensed"/>
                  <a:ea typeface="Bahnschrift SemiBold Condensed"/>
                  <a:cs typeface="Bahnschrift SemiBold Condensed"/>
                  <a:sym typeface="Bahnschrift SemiBold Condensed"/>
                </a:rPr>
                <a:t>→ NH</a:t>
              </a:r>
              <a:r>
                <a:rPr lang="es-AR" sz="1400" b="1" baseline="-25000" dirty="0">
                  <a:solidFill>
                    <a:srgbClr val="0F7C7C"/>
                  </a:solidFill>
                  <a:latin typeface="Bahnschrift SemiBold Condensed"/>
                  <a:ea typeface="Bahnschrift SemiBold Condensed"/>
                  <a:cs typeface="Bahnschrift SemiBold Condensed"/>
                  <a:sym typeface="Bahnschrift SemiBold Condensed"/>
                </a:rPr>
                <a:t>3</a:t>
              </a:r>
              <a:endParaRPr lang="es-AR" sz="1400" dirty="0">
                <a:latin typeface="Bahnschrift SemiBold Condensed"/>
              </a:endParaRPr>
            </a:p>
          </p:txBody>
        </p:sp>
        <p:sp>
          <p:nvSpPr>
            <p:cNvPr id="23" name="Forma 22"/>
            <p:cNvSpPr txBox="1"/>
            <p:nvPr/>
          </p:nvSpPr>
          <p:spPr>
            <a:xfrm>
              <a:off x="6492240" y="3931920"/>
              <a:ext cx="1280160" cy="548640"/>
            </a:xfrm>
            <a:prstGeom prst="rect">
              <a:avLst/>
            </a:prstGeom>
            <a:noFill/>
            <a:ln>
              <a:noFill/>
            </a:ln>
          </p:spPr>
          <p:txBody>
            <a:bodyPr wrap="square" lIns="0" tIns="0" rIns="0" bIns="0" anchor="ctr" rtlCol="0">
              <a:noAutofit/>
            </a:bodyPr>
            <a:lstStyle/>
            <a:p>
              <a:pPr algn="r" marL="156845" indent="-156845">
                <a:spcAft>
                  <a:spcPts val="300"/>
                </a:spcAft>
                <a:buClr>
                  <a:srgbClr val="1E8C3A"/>
                </a:buClr>
                <a:buFont typeface="Segoe UI Symbol"/>
                <a:buChar char="✓"/>
              </a:pPr>
              <a:r>
                <a:rPr lang="es-AR" sz="1300" b="1" dirty="0">
                  <a:solidFill>
                    <a:srgbClr val="1E8449"/>
                  </a:solidFill>
                  <a:latin typeface="Bahnschrift SemiBold Condensed"/>
                  <a:ea typeface="Bahnschrift SemiBold Condensed"/>
                  <a:cs typeface="Bahnschrift SemiBold Condensed"/>
                  <a:sym typeface="Bahnschrift SemiBold Condensed"/>
                </a:rPr>
                <a:t>Asp</a:t>
              </a:r>
              <a:endParaRPr lang="es-AR" sz="1300" dirty="0">
                <a:latin typeface="Bahnschrift SemiBold Condensed"/>
              </a:endParaRPr>
            </a:p>
            <a:p>
              <a:pPr algn="r" marL="156845" indent="-156845">
                <a:spcAft>
                  <a:spcPts val="300"/>
                </a:spcAft>
                <a:buClr>
                  <a:srgbClr val="1E8C3A"/>
                </a:buClr>
                <a:buFont typeface="Segoe UI Symbol"/>
                <a:buChar char="✓"/>
              </a:pPr>
              <a:r>
                <a:rPr lang="es-AR" sz="1300" b="1" dirty="0">
                  <a:solidFill>
                    <a:srgbClr val="1E8449"/>
                  </a:solidFill>
                  <a:latin typeface="Bahnschrift SemiBold Condensed"/>
                  <a:ea typeface="Bahnschrift SemiBold Condensed"/>
                  <a:cs typeface="Bahnschrift SemiBold Condensed"/>
                  <a:sym typeface="Bahnschrift SemiBold Condensed"/>
                </a:rPr>
                <a:t>GTP</a:t>
              </a:r>
              <a:endParaRPr lang="es-AR" sz="1300" dirty="0">
                <a:latin typeface="Bahnschrift SemiBold Condensed"/>
              </a:endParaRPr>
            </a:p>
          </p:txBody>
        </p:sp>
        <p:sp>
          <p:nvSpPr>
            <p:cNvPr id="24" name="Forma 23"/>
            <p:cNvSpPr txBox="1"/>
            <p:nvPr/>
          </p:nvSpPr>
          <p:spPr>
            <a:xfrm>
              <a:off x="6492240" y="2743200"/>
              <a:ext cx="1097280" cy="548640"/>
            </a:xfrm>
            <a:prstGeom prst="rect">
              <a:avLst/>
            </a:prstGeom>
            <a:noFill/>
            <a:ln>
              <a:noFill/>
            </a:ln>
          </p:spPr>
          <p:txBody>
            <a:bodyPr wrap="square" lIns="0" tIns="0" rIns="0" bIns="0" anchor="ctr" rtlCol="0">
              <a:noAutofit/>
            </a:bodyPr>
            <a:lstStyle/>
            <a:p>
              <a:pPr algn="r">
                <a:spcAft>
                  <a:spcPts val="300"/>
                </a:spcAft>
                <a:buNone/>
              </a:pPr>
              <a:r>
                <a:rPr lang="es-AR" sz="1300" b="1" dirty="0">
                  <a:solidFill>
                    <a:srgbClr val="C55A11"/>
                  </a:solidFill>
                  <a:latin typeface="Bahnschrift SemiBold Condensed"/>
                  <a:ea typeface="Bahnschrift SemiBold Condensed"/>
                  <a:cs typeface="Bahnschrift SemiBold Condensed"/>
                  <a:sym typeface="Bahnschrift SemiBold Condensed"/>
                </a:rPr>
                <a:t>Fumarato</a:t>
              </a:r>
              <a:endParaRPr lang="es-AR" sz="1300" dirty="0">
                <a:latin typeface="Bahnschrift SemiBold Condensed"/>
              </a:endParaRPr>
            </a:p>
            <a:p>
              <a:pPr algn="r">
                <a:spcAft>
                  <a:spcPts val="300"/>
                </a:spcAft>
                <a:buNone/>
              </a:pPr>
              <a:r>
                <a:rPr lang="es-AR" sz="1300" b="1" dirty="0">
                  <a:solidFill>
                    <a:srgbClr val="C55A11"/>
                  </a:solidFill>
                  <a:latin typeface="Bahnschrift SemiBold Condensed"/>
                  <a:ea typeface="Bahnschrift SemiBold Condensed"/>
                  <a:cs typeface="Bahnschrift SemiBold Condensed"/>
                  <a:sym typeface="Bahnschrift SemiBold Condensed"/>
                </a:rPr>
                <a:t>→ Krebs</a:t>
              </a:r>
              <a:endParaRPr lang="es-AR" sz="1300" dirty="0">
                <a:latin typeface="Bahnschrift SemiBold Condensed"/>
              </a:endParaRPr>
            </a:p>
          </p:txBody>
        </p:sp>
      </p:gr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23558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300" b="1" dirty="0">
                <a:solidFill>
                  <a:srgbClr val="1E1E1E"/>
                </a:solidFill>
                <a:latin typeface="Bahnschrift SemiBold Condensed"/>
                <a:ea typeface="Bahnschrift SemiBold Condensed"/>
                <a:cs typeface="Bahnschrift SemiBold Condensed"/>
                <a:sym typeface="Bahnschrift SemiBold Condensed"/>
              </a:rPr>
              <a:t>31 · ADENILATO CINASA Y AMP DESAMINASA EN EL EJERCICIO INTENSO</a:t>
            </a:r>
            <a:endParaRPr lang="es-AR" sz="23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1"/>
                                        </p:tgtEl>
                                        <p:attrNameLst>
                                          <p:attrName>style.visibility</p:attrName>
                                        </p:attrNameLst>
                                      </p:cBhvr>
                                      <p:to>
                                        <p:strVal val="visible"/>
                                      </p:to>
                                    </p:set>
                                    <p:animEffect transition="in" filter="fade">
                                      <p:cBhvr>
                                        <p:cTn id="5" dur="500"/>
                                        <p:tgtEl>
                                          <p:spTgt spid="11"/>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Lst>
  </p:timing>
</p:sld>
</file>

<file path=ppt/slides/slide156.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Degradación purinas ATP → ADP → AMP"/>
          <p:cNvSpPr/>
          <p:nvPr/>
        </p:nvSpPr>
        <p:spPr>
          <a:xfrm>
            <a:off x="457200" y="1051560"/>
            <a:ext cx="2743200" cy="50292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ATP → ADP → AMP</a:t>
            </a:r>
            <a:endParaRPr lang="es-AR" sz="1450" dirty="0">
              <a:latin typeface="Bahnschrift SemiBold Condensed"/>
            </a:endParaRPr>
          </a:p>
        </p:txBody>
      </p:sp>
      <p:grpSp>
        <p:nvGrpSpPr>
          <p:cNvPr id="5" name="Degradación purinas paso 1"/>
          <p:cNvGrpSpPr/>
          <p:nvPr/>
        </p:nvGrpSpPr>
        <p:grpSpPr>
          <a:xfrm>
            <a:off x="1828800" y="1581912"/>
            <a:ext cx="690821" cy="310896"/>
            <a:chOff x="1828800" y="1581912"/>
            <a:chExt cx="690821" cy="310896"/>
          </a:xfrm>
        </p:grpSpPr>
        <p:sp>
          <p:nvSpPr>
            <p:cNvPr id="6" name="Flecha 5_2"/>
            <p:cNvSpPr/>
            <p:nvPr/>
          </p:nvSpPr>
          <p:spPr>
            <a:xfrm>
              <a:off x="1828800" y="1581912"/>
              <a:ext cx="9144" cy="310896"/>
            </a:xfrm>
            <a:custGeom>
              <a:avLst/>
              <a:gdLst/>
              <a:ahLst/>
              <a:cxnLst/>
              <a:rect l="0" t="0" r="r" b="b"/>
              <a:pathLst>
                <a:path w="10" h="340" fill="none">
                  <a:moveTo>
                    <a:pt x="0" y="0"/>
                  </a:moveTo>
                  <a:lnTo>
                    <a:pt x="0" y="340"/>
                  </a:lnTo>
                </a:path>
              </a:pathLst>
            </a:custGeom>
            <a:noFill/>
            <a:ln w="44450" cap="rnd">
              <a:solidFill>
                <a:srgbClr val="1E1E1E"/>
              </a:solidFill>
              <a:round/>
              <a:tailEnd type="triangle" w="med" len="med"/>
            </a:ln>
          </p:spPr>
        </p:sp>
        <p:sp>
          <p:nvSpPr>
            <p:cNvPr id="7" name="Enzima AMPD1"/>
            <p:cNvSpPr/>
            <p:nvPr/>
          </p:nvSpPr>
          <p:spPr>
            <a:xfrm>
              <a:off x="1938528" y="1591056"/>
              <a:ext cx="58109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AMPD1</a:t>
              </a:r>
              <a:endParaRPr lang="es-AR" sz="1150" dirty="0">
                <a:latin typeface="Bahnschrift SemiBold Condensed"/>
              </a:endParaRPr>
            </a:p>
          </p:txBody>
        </p:sp>
      </p:grpSp>
      <p:sp>
        <p:nvSpPr>
          <p:cNvPr id="8" name="Degradación purinas IMP"/>
          <p:cNvSpPr/>
          <p:nvPr/>
        </p:nvSpPr>
        <p:spPr>
          <a:xfrm>
            <a:off x="457200" y="1920240"/>
            <a:ext cx="274320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IMP</a:t>
            </a:r>
            <a:endParaRPr lang="es-AR" sz="1450" dirty="0">
              <a:latin typeface="Bahnschrift SemiBold Condensed"/>
            </a:endParaRPr>
          </a:p>
        </p:txBody>
      </p:sp>
      <p:grpSp>
        <p:nvGrpSpPr>
          <p:cNvPr id="9" name="Degradación purinas paso 2"/>
          <p:cNvGrpSpPr/>
          <p:nvPr/>
        </p:nvGrpSpPr>
        <p:grpSpPr>
          <a:xfrm>
            <a:off x="1828800" y="2450592"/>
            <a:ext cx="9144" cy="310896"/>
            <a:chOff x="1828800" y="2450592"/>
            <a:chExt cx="9144" cy="310896"/>
          </a:xfrm>
        </p:grpSpPr>
        <p:sp>
          <p:nvSpPr>
            <p:cNvPr id="10" name="Flecha 10_2"/>
            <p:cNvSpPr/>
            <p:nvPr/>
          </p:nvSpPr>
          <p:spPr>
            <a:xfrm>
              <a:off x="1828800" y="2450592"/>
              <a:ext cx="9144" cy="310896"/>
            </a:xfrm>
            <a:custGeom>
              <a:avLst/>
              <a:gdLst/>
              <a:ahLst/>
              <a:cxnLst/>
              <a:rect l="0" t="0" r="r" b="b"/>
              <a:pathLst>
                <a:path w="10" h="340" fill="none">
                  <a:moveTo>
                    <a:pt x="0" y="0"/>
                  </a:moveTo>
                  <a:lnTo>
                    <a:pt x="0" y="340"/>
                  </a:lnTo>
                </a:path>
              </a:pathLst>
            </a:custGeom>
            <a:noFill/>
            <a:ln w="44450" cap="rnd">
              <a:solidFill>
                <a:srgbClr val="1E1E1E"/>
              </a:solidFill>
              <a:round/>
              <a:tailEnd type="triangle" w="med" len="med"/>
            </a:ln>
          </p:spPr>
        </p:sp>
      </p:grpSp>
      <p:sp>
        <p:nvSpPr>
          <p:cNvPr id="11" name="Degradación purinas Inosina"/>
          <p:cNvSpPr/>
          <p:nvPr/>
        </p:nvSpPr>
        <p:spPr>
          <a:xfrm>
            <a:off x="457200" y="2788920"/>
            <a:ext cx="274320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Inosina</a:t>
            </a:r>
            <a:endParaRPr lang="es-AR" sz="1450" dirty="0">
              <a:latin typeface="Bahnschrift SemiBold Condensed"/>
            </a:endParaRPr>
          </a:p>
        </p:txBody>
      </p:sp>
      <p:grpSp>
        <p:nvGrpSpPr>
          <p:cNvPr id="12" name="Degradación purinas paso 3"/>
          <p:cNvGrpSpPr/>
          <p:nvPr/>
        </p:nvGrpSpPr>
        <p:grpSpPr>
          <a:xfrm>
            <a:off x="1828800" y="3319272"/>
            <a:ext cx="9144" cy="310896"/>
            <a:chOff x="1828800" y="3319272"/>
            <a:chExt cx="9144" cy="310896"/>
          </a:xfrm>
        </p:grpSpPr>
        <p:sp>
          <p:nvSpPr>
            <p:cNvPr id="13" name="Flecha 14_2"/>
            <p:cNvSpPr/>
            <p:nvPr/>
          </p:nvSpPr>
          <p:spPr>
            <a:xfrm>
              <a:off x="1828800" y="3319272"/>
              <a:ext cx="9144" cy="310896"/>
            </a:xfrm>
            <a:custGeom>
              <a:avLst/>
              <a:gdLst/>
              <a:ahLst/>
              <a:cxnLst/>
              <a:rect l="0" t="0" r="r" b="b"/>
              <a:pathLst>
                <a:path w="10" h="340" fill="none">
                  <a:moveTo>
                    <a:pt x="0" y="0"/>
                  </a:moveTo>
                  <a:lnTo>
                    <a:pt x="0" y="340"/>
                  </a:lnTo>
                </a:path>
              </a:pathLst>
            </a:custGeom>
            <a:noFill/>
            <a:ln w="44450" cap="rnd">
              <a:solidFill>
                <a:srgbClr val="1E1E1E"/>
              </a:solidFill>
              <a:round/>
              <a:tailEnd type="triangle" w="med" len="med"/>
            </a:ln>
          </p:spPr>
        </p:sp>
      </p:grpSp>
      <p:sp>
        <p:nvSpPr>
          <p:cNvPr id="14" name="Degradación purinas Hipoxantina"/>
          <p:cNvSpPr/>
          <p:nvPr/>
        </p:nvSpPr>
        <p:spPr>
          <a:xfrm>
            <a:off x="457200" y="3657600"/>
            <a:ext cx="274320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Hipoxantina</a:t>
            </a:r>
            <a:endParaRPr lang="es-AR" sz="1450" dirty="0">
              <a:latin typeface="Bahnschrift SemiBold Condensed"/>
            </a:endParaRPr>
          </a:p>
        </p:txBody>
      </p:sp>
      <p:grpSp>
        <p:nvGrpSpPr>
          <p:cNvPr id="15" name="Degradación purinas paso 4"/>
          <p:cNvGrpSpPr/>
          <p:nvPr/>
        </p:nvGrpSpPr>
        <p:grpSpPr>
          <a:xfrm>
            <a:off x="1828800" y="4187952"/>
            <a:ext cx="1754437" cy="310896"/>
            <a:chOff x="1828800" y="4187952"/>
            <a:chExt cx="1754437" cy="310896"/>
          </a:xfrm>
        </p:grpSpPr>
        <p:sp>
          <p:nvSpPr>
            <p:cNvPr id="16" name="Flecha 18_2"/>
            <p:cNvSpPr/>
            <p:nvPr/>
          </p:nvSpPr>
          <p:spPr>
            <a:xfrm>
              <a:off x="1828800" y="4187952"/>
              <a:ext cx="9144" cy="310896"/>
            </a:xfrm>
            <a:custGeom>
              <a:avLst/>
              <a:gdLst/>
              <a:ahLst/>
              <a:cxnLst/>
              <a:rect l="0" t="0" r="r" b="b"/>
              <a:pathLst>
                <a:path w="10" h="339" fill="none">
                  <a:moveTo>
                    <a:pt x="0" y="0"/>
                  </a:moveTo>
                  <a:lnTo>
                    <a:pt x="0" y="339"/>
                  </a:lnTo>
                </a:path>
              </a:pathLst>
            </a:custGeom>
            <a:noFill/>
            <a:ln w="44450" cap="rnd">
              <a:solidFill>
                <a:srgbClr val="1E1E1E"/>
              </a:solidFill>
              <a:round/>
              <a:tailEnd type="triangle" w="med" len="med"/>
            </a:ln>
          </p:spPr>
        </p:sp>
        <p:sp>
          <p:nvSpPr>
            <p:cNvPr id="17" name="Enzima xantina oxidorreduct"/>
            <p:cNvSpPr/>
            <p:nvPr/>
          </p:nvSpPr>
          <p:spPr>
            <a:xfrm>
              <a:off x="1938528" y="4197096"/>
              <a:ext cx="16447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xantina oxidorreductasa</a:t>
              </a:r>
              <a:endParaRPr lang="es-AR" sz="1150" dirty="0">
                <a:latin typeface="Bahnschrift SemiBold Condensed"/>
              </a:endParaRPr>
            </a:p>
          </p:txBody>
        </p:sp>
      </p:grpSp>
      <p:sp>
        <p:nvSpPr>
          <p:cNvPr id="18" name="Degradación purinas Xantina"/>
          <p:cNvSpPr/>
          <p:nvPr/>
        </p:nvSpPr>
        <p:spPr>
          <a:xfrm>
            <a:off x="457200" y="4526280"/>
            <a:ext cx="274320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Xantina</a:t>
            </a:r>
            <a:endParaRPr lang="es-AR" sz="1450" dirty="0">
              <a:latin typeface="Bahnschrift SemiBold Condensed"/>
            </a:endParaRPr>
          </a:p>
        </p:txBody>
      </p:sp>
      <p:grpSp>
        <p:nvGrpSpPr>
          <p:cNvPr id="19" name="Degradación purinas paso 5"/>
          <p:cNvGrpSpPr/>
          <p:nvPr/>
        </p:nvGrpSpPr>
        <p:grpSpPr>
          <a:xfrm>
            <a:off x="1828800" y="5056632"/>
            <a:ext cx="1754437" cy="310896"/>
            <a:chOff x="1828800" y="5056632"/>
            <a:chExt cx="1754437" cy="310896"/>
          </a:xfrm>
        </p:grpSpPr>
        <p:sp>
          <p:nvSpPr>
            <p:cNvPr id="20" name="Flecha 23_2"/>
            <p:cNvSpPr/>
            <p:nvPr/>
          </p:nvSpPr>
          <p:spPr>
            <a:xfrm>
              <a:off x="1828800" y="5056632"/>
              <a:ext cx="9144" cy="310896"/>
            </a:xfrm>
            <a:custGeom>
              <a:avLst/>
              <a:gdLst/>
              <a:ahLst/>
              <a:cxnLst/>
              <a:rect l="0" t="0" r="r" b="b"/>
              <a:pathLst>
                <a:path w="10" h="339" fill="none">
                  <a:moveTo>
                    <a:pt x="0" y="0"/>
                  </a:moveTo>
                  <a:lnTo>
                    <a:pt x="0" y="339"/>
                  </a:lnTo>
                </a:path>
              </a:pathLst>
            </a:custGeom>
            <a:noFill/>
            <a:ln w="44450" cap="rnd">
              <a:solidFill>
                <a:srgbClr val="1E1E1E"/>
              </a:solidFill>
              <a:round/>
              <a:tailEnd type="triangle" w="med" len="med"/>
            </a:ln>
          </p:spPr>
        </p:sp>
        <p:sp>
          <p:nvSpPr>
            <p:cNvPr id="21" name="Enzima xantina oxidorreduct_2"/>
            <p:cNvSpPr/>
            <p:nvPr/>
          </p:nvSpPr>
          <p:spPr>
            <a:xfrm>
              <a:off x="1938528" y="5065776"/>
              <a:ext cx="16447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xantina oxidorreductasa</a:t>
              </a:r>
              <a:endParaRPr lang="es-AR" sz="1150" dirty="0">
                <a:latin typeface="Bahnschrift SemiBold Condensed"/>
              </a:endParaRPr>
            </a:p>
          </p:txBody>
        </p:sp>
      </p:grpSp>
      <p:sp>
        <p:nvSpPr>
          <p:cNvPr id="22" name="Degradación purinas Ácido úrico"/>
          <p:cNvSpPr/>
          <p:nvPr/>
        </p:nvSpPr>
        <p:spPr>
          <a:xfrm>
            <a:off x="457200" y="5394960"/>
            <a:ext cx="2743200" cy="502920"/>
          </a:xfrm>
          <a:prstGeom prst="roundRect">
            <a:avLst>
              <a:gd name="adj" fmla="val 30000"/>
            </a:avLst>
          </a:prstGeom>
          <a:solidFill>
            <a:srgbClr val="CF9F7F"/>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Ácido úrico</a:t>
            </a:r>
            <a:endParaRPr lang="es-AR" sz="1450" dirty="0">
              <a:latin typeface="Bahnschrift SemiBold Condensed"/>
            </a:endParaRPr>
          </a:p>
        </p:txBody>
      </p:sp>
      <p:grpSp>
        <p:nvGrpSpPr>
          <p:cNvPr id="23" name="Recuadro Costo"/>
          <p:cNvGrpSpPr/>
          <p:nvPr/>
        </p:nvGrpSpPr>
        <p:grpSpPr>
          <a:xfrm>
            <a:off x="4206240" y="1005840"/>
            <a:ext cx="7589520" cy="1737360"/>
            <a:chOff x="4206240" y="1005840"/>
            <a:chExt cx="7589520" cy="1737360"/>
          </a:xfrm>
        </p:grpSpPr>
        <p:sp>
          <p:nvSpPr>
            <p:cNvPr id="24" name="Forma 28"/>
            <p:cNvSpPr/>
            <p:nvPr/>
          </p:nvSpPr>
          <p:spPr>
            <a:xfrm>
              <a:off x="4206240" y="1188720"/>
              <a:ext cx="758952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Si el IMP se degrada continuamente → </a:t>
              </a:r>
              <a:r>
                <a:rPr lang="es-AR" sz="1700" b="1" dirty="0">
                  <a:solidFill>
                    <a:srgbClr val="1E1E1E"/>
                  </a:solidFill>
                  <a:latin typeface="Bahnschrift"/>
                  <a:ea typeface="Bahnschrift"/>
                  <a:cs typeface="Bahnschrift"/>
                  <a:sym typeface="Bahnschrift"/>
                </a:rPr>
                <a:t>pérdida de nucleótidos</a:t>
              </a:r>
              <a:r>
                <a:rPr lang="es-AR" sz="1700" dirty="0">
                  <a:solidFill>
                    <a:srgbClr val="1E1E1E"/>
                  </a:solidFill>
                  <a:latin typeface="Bahnschrift"/>
                  <a:ea typeface="Bahnschrift"/>
                  <a:cs typeface="Bahnschrift"/>
                  <a:sym typeface="Bahnschrift"/>
                </a:rPr>
                <a:t> de purina y riesgo de </a:t>
              </a:r>
              <a:r>
                <a:rPr lang="es-AR" sz="1700" b="1" dirty="0">
                  <a:solidFill>
                    <a:srgbClr val="1E1E1E"/>
                  </a:solidFill>
                  <a:latin typeface="Bahnschrift"/>
                  <a:ea typeface="Bahnschrift"/>
                  <a:cs typeface="Bahnschrift"/>
                  <a:sym typeface="Bahnschrift"/>
                </a:rPr>
                <a:t>hiperuricemia transitoria</a:t>
              </a:r>
              <a:r>
                <a:rPr lang="es-AR" sz="1700" dirty="0">
                  <a:solidFill>
                    <a:srgbClr val="1E1E1E"/>
                  </a:solidFill>
                  <a:latin typeface="Bahnschrift"/>
                  <a:ea typeface="Bahnschrift"/>
                  <a:cs typeface="Bahnschrift"/>
                  <a:sym typeface="Bahnschrift"/>
                </a:rPr>
                <a:t>. El esfuerzo intenso puede elevar </a:t>
              </a:r>
              <a:r>
                <a:rPr lang="es-AR" sz="1700" b="1" dirty="0">
                  <a:solidFill>
                    <a:srgbClr val="1E1E1E"/>
                  </a:solidFill>
                  <a:latin typeface="Bahnschrift"/>
                  <a:ea typeface="Bahnschrift"/>
                  <a:cs typeface="Bahnschrift"/>
                  <a:sym typeface="Bahnschrift"/>
                </a:rPr>
                <a:t>hipoxantina</a:t>
              </a:r>
              <a:r>
                <a:rPr lang="es-AR" sz="1700" dirty="0">
                  <a:solidFill>
                    <a:srgbClr val="1E1E1E"/>
                  </a:solidFill>
                  <a:latin typeface="Bahnschrift"/>
                  <a:ea typeface="Bahnschrift"/>
                  <a:cs typeface="Bahnschrift"/>
                  <a:sym typeface="Bahnschrift"/>
                </a:rPr>
                <a:t> y </a:t>
              </a:r>
              <a:r>
                <a:rPr lang="es-AR" sz="1700" b="1" dirty="0">
                  <a:solidFill>
                    <a:srgbClr val="1E1E1E"/>
                  </a:solidFill>
                  <a:latin typeface="Bahnschrift"/>
                  <a:ea typeface="Bahnschrift"/>
                  <a:cs typeface="Bahnschrift"/>
                  <a:sym typeface="Bahnschrift"/>
                </a:rPr>
                <a:t>lactato</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5" name="Forma 29"/>
            <p:cNvSpPr/>
            <p:nvPr/>
          </p:nvSpPr>
          <p:spPr>
            <a:xfrm>
              <a:off x="4315968" y="1005840"/>
              <a:ext cx="82395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COSTO</a:t>
              </a:r>
              <a:endParaRPr lang="es-AR" sz="1550" dirty="0">
                <a:latin typeface="Bahnschrift SemiBold Condensed"/>
              </a:endParaRPr>
            </a:p>
          </p:txBody>
        </p:sp>
      </p:grpSp>
      <p:grpSp>
        <p:nvGrpSpPr>
          <p:cNvPr id="26" name="Recuadro Riñón"/>
          <p:cNvGrpSpPr/>
          <p:nvPr/>
        </p:nvGrpSpPr>
        <p:grpSpPr>
          <a:xfrm>
            <a:off x="4206240" y="2926080"/>
            <a:ext cx="7589520" cy="1371600"/>
            <a:chOff x="4206240" y="2926080"/>
            <a:chExt cx="7589520" cy="1371600"/>
          </a:xfrm>
        </p:grpSpPr>
        <p:sp>
          <p:nvSpPr>
            <p:cNvPr id="27" name="Forma 31"/>
            <p:cNvSpPr/>
            <p:nvPr/>
          </p:nvSpPr>
          <p:spPr>
            <a:xfrm>
              <a:off x="4206240" y="3108960"/>
              <a:ext cx="7589520" cy="11887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a:t>
              </a:r>
              <a:r>
                <a:rPr lang="es-AR" sz="1700" b="1" dirty="0">
                  <a:solidFill>
                    <a:srgbClr val="1E1E1E"/>
                  </a:solidFill>
                  <a:latin typeface="Bahnschrift"/>
                  <a:ea typeface="Bahnschrift"/>
                  <a:cs typeface="Bahnschrift"/>
                  <a:sym typeface="Bahnschrift"/>
                </a:rPr>
                <a:t>lactato</a:t>
              </a:r>
              <a:r>
                <a:rPr lang="es-AR" sz="1700" dirty="0">
                  <a:solidFill>
                    <a:srgbClr val="1E1E1E"/>
                  </a:solidFill>
                  <a:latin typeface="Bahnschrift"/>
                  <a:ea typeface="Bahnschrift"/>
                  <a:cs typeface="Bahnschrift"/>
                  <a:sym typeface="Bahnschrift"/>
                </a:rPr>
                <a:t> puede </a:t>
              </a:r>
              <a:r>
                <a:rPr lang="es-AR" sz="1700" b="1" dirty="0">
                  <a:solidFill>
                    <a:srgbClr val="1E1E1E"/>
                  </a:solidFill>
                  <a:latin typeface="Bahnschrift"/>
                  <a:ea typeface="Bahnschrift"/>
                  <a:cs typeface="Bahnschrift"/>
                  <a:sym typeface="Bahnschrift"/>
                </a:rPr>
                <a:t>competir</a:t>
              </a:r>
              <a:r>
                <a:rPr lang="es-AR" sz="1700" dirty="0">
                  <a:solidFill>
                    <a:srgbClr val="1E1E1E"/>
                  </a:solidFill>
                  <a:latin typeface="Bahnschrift"/>
                  <a:ea typeface="Bahnschrift"/>
                  <a:cs typeface="Bahnschrift"/>
                  <a:sym typeface="Bahnschrift"/>
                </a:rPr>
                <a:t> con la excreción renal de urato en determinadas condiciones.</a:t>
              </a:r>
              <a:endParaRPr lang="es-AR" sz="1700" dirty="0">
                <a:latin typeface="Bahnschrift"/>
              </a:endParaRPr>
            </a:p>
          </p:txBody>
        </p:sp>
        <p:sp>
          <p:nvSpPr>
            <p:cNvPr id="28" name="Forma 32"/>
            <p:cNvSpPr/>
            <p:nvPr/>
          </p:nvSpPr>
          <p:spPr>
            <a:xfrm>
              <a:off x="4315968" y="2926080"/>
              <a:ext cx="80078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RIÑÓN</a:t>
              </a:r>
              <a:endParaRPr lang="es-AR" sz="1550" dirty="0">
                <a:latin typeface="Bahnschrift SemiBold Condensed"/>
              </a:endParaRPr>
            </a:p>
          </p:txBody>
        </p:sp>
      </p:grpSp>
      <p:grpSp>
        <p:nvGrpSpPr>
          <p:cNvPr id="29" name="Recuadro Clínica"/>
          <p:cNvGrpSpPr/>
          <p:nvPr/>
        </p:nvGrpSpPr>
        <p:grpSpPr>
          <a:xfrm>
            <a:off x="4206240" y="4480560"/>
            <a:ext cx="7589520" cy="2011680"/>
            <a:chOff x="4206240" y="4480560"/>
            <a:chExt cx="7589520" cy="2011680"/>
          </a:xfrm>
        </p:grpSpPr>
        <p:sp>
          <p:nvSpPr>
            <p:cNvPr id="30" name="Forma 34"/>
            <p:cNvSpPr/>
            <p:nvPr/>
          </p:nvSpPr>
          <p:spPr>
            <a:xfrm>
              <a:off x="4206240" y="4663440"/>
              <a:ext cx="7589520" cy="18288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Déficit de AMPD1</a:t>
              </a:r>
              <a:r>
                <a:rPr lang="es-AR" sz="1650" dirty="0">
                  <a:solidFill>
                    <a:srgbClr val="1E1E1E"/>
                  </a:solidFill>
                  <a:latin typeface="Bahnschrift"/>
                  <a:ea typeface="Bahnschrift"/>
                  <a:cs typeface="Bahnschrift"/>
                  <a:sym typeface="Bahnschrift"/>
                </a:rPr>
                <a:t>: intolerancia al ejercicio, calambres </a:t>
              </a:r>
              <a:r>
                <a:rPr lang="es-AR" sz="1650" b="1" dirty="0">
                  <a:solidFill>
                    <a:srgbClr val="1E1E1E"/>
                  </a:solidFill>
                  <a:latin typeface="Bahnschrift"/>
                  <a:ea typeface="Bahnschrift"/>
                  <a:cs typeface="Bahnschrift"/>
                  <a:sym typeface="Bahnschrift"/>
                </a:rPr>
                <a:t>o asintomático</a:t>
              </a:r>
              <a:r>
                <a:rPr lang="es-AR" sz="1650" dirty="0">
                  <a:solidFill>
                    <a:srgbClr val="1E1E1E"/>
                  </a:solidFill>
                  <a:latin typeface="Bahnschrift"/>
                  <a:ea typeface="Bahnschrift"/>
                  <a:cs typeface="Bahnschrift"/>
                  <a:sym typeface="Bahnschrift"/>
                </a:rPr>
                <a:t>; relación genotipo–fenotipo heterogénea. </a:t>
              </a:r>
              <a:r>
                <a:rPr lang="es-AR" sz="1650" b="1" dirty="0">
                  <a:solidFill>
                    <a:srgbClr val="1E1E1E"/>
                  </a:solidFill>
                  <a:latin typeface="Bahnschrift"/>
                  <a:ea typeface="Bahnschrift"/>
                  <a:cs typeface="Bahnschrift"/>
                  <a:sym typeface="Bahnschrift"/>
                </a:rPr>
                <a:t>No</a:t>
              </a:r>
              <a:r>
                <a:rPr lang="es-AR" sz="1650" dirty="0">
                  <a:solidFill>
                    <a:srgbClr val="1E1E1E"/>
                  </a:solidFill>
                  <a:latin typeface="Bahnschrift"/>
                  <a:ea typeface="Bahnschrift"/>
                  <a:cs typeface="Bahnschrift"/>
                  <a:sym typeface="Bahnschrift"/>
                </a:rPr>
                <a:t> es el mismo mecanismo que los defectos de oxidación de AG o las glucogenosis musculares.</a:t>
              </a:r>
              <a:endParaRPr lang="es-AR" sz="1650" dirty="0">
                <a:latin typeface="Bahnschrift"/>
              </a:endParaRPr>
            </a:p>
          </p:txBody>
        </p:sp>
        <p:sp>
          <p:nvSpPr>
            <p:cNvPr id="31" name="Forma 35"/>
            <p:cNvSpPr/>
            <p:nvPr/>
          </p:nvSpPr>
          <p:spPr>
            <a:xfrm>
              <a:off x="4315968" y="448056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662481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31 · COSTO ADAPTATIVO: DEL IMP AL ÁCIDO ÚRICO</a:t>
            </a:r>
            <a:endParaRPr lang="es-AR" sz="2600" dirty="0">
              <a:latin typeface="Bahnschrift SemiBold Condensed"/>
            </a:endParaRPr>
          </a:p>
        </p:txBody>
      </p:sp>
      <p:sp>
        <p:nvSpPr>
          <p:cNvPr id="3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wipe(up)">
                                      <p:cBhvr>
                                        <p:cTn id="9" dur="600"/>
                                        <p:tgtEl>
                                          <p:spTgt spid="5"/>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32" fill="hold">
                      <p:stCondLst>
                        <p:cond delay="indefinite"/>
                      </p:stCondLst>
                      <p:childTnLst>
                        <p:par>
                          <p:cTn id="19"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600"/>
                                        <p:tgtEl>
                                          <p:spTgt spid="9"/>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par>
                          <p:cTn id="27" fill="hold">
                            <p:stCondLst>
                              <p:cond delay="1100"/>
                            </p:stCondLst>
                            <p:childTnLst>
                              <p:par>
                                <p:cTn id="24" presetID="22" presetClass="entr" presetSubtype="1" fill="hold" grpId="0"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wipe(up)">
                                      <p:cBhvr>
                                        <p:cTn id="26" dur="600"/>
                                        <p:tgtEl>
                                          <p:spTgt spid="12"/>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par>
                    <p:cTn id="49" fill="hold">
                      <p:stCondLst>
                        <p:cond delay="indefinite"/>
                      </p:stCondLst>
                      <p:childTnLst>
                        <p:par>
                          <p:cTn id="36"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up)">
                                      <p:cBhvr>
                                        <p:cTn id="35" dur="600"/>
                                        <p:tgtEl>
                                          <p:spTgt spid="15"/>
                                        </p:tgtEl>
                                      </p:cBhvr>
                                    </p:animEffect>
                                  </p:childTnLst>
                                </p:cTn>
                              </p:par>
                            </p:childTnLst>
                          </p:cTn>
                        </p:par>
                        <p:par>
                          <p:cTn id="40" fill="hold">
                            <p:stCondLst>
                              <p:cond delay="600"/>
                            </p:stCondLst>
                            <p:childTnLst>
                              <p:par>
                                <p:cTn id="37" presetID="10" presetClass="entr" presetSubtype="0"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par>
                          <p:cTn id="44" fill="hold">
                            <p:stCondLst>
                              <p:cond delay="1100"/>
                            </p:stCondLst>
                            <p:childTnLst>
                              <p:par>
                                <p:cTn id="41" presetID="22" presetClass="entr" presetSubtype="1" fill="hold" grpId="0" nodeType="after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wipe(up)">
                                      <p:cBhvr>
                                        <p:cTn id="43" dur="600"/>
                                        <p:tgtEl>
                                          <p:spTgt spid="19"/>
                                        </p:tgtEl>
                                      </p:cBhvr>
                                    </p:animEffect>
                                  </p:childTnLst>
                                </p:cTn>
                              </p:par>
                            </p:childTnLst>
                          </p:cTn>
                        </p:par>
                        <p:par>
                          <p:cTn id="48" fill="hold">
                            <p:stCondLst>
                              <p:cond delay="1700"/>
                            </p:stCondLst>
                            <p:childTnLst>
                              <p:par>
                                <p:cTn id="45" presetID="10" presetClass="entr" presetSubtype="0"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54" fill="hold">
                      <p:stCondLst>
                        <p:cond delay="indefinite"/>
                      </p:stCondLst>
                      <p:childTnLst>
                        <p:par>
                          <p:cTn id="53"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childTnLst>
                          </p:cTn>
                        </p:par>
                      </p:childTnLst>
                    </p:cTn>
                  </p:par>
                  <p:par>
                    <p:cTn id="59" fill="hold">
                      <p:stCondLst>
                        <p:cond delay="indefinite"/>
                      </p:stCondLst>
                      <p:childTnLst>
                        <p:par>
                          <p:cTn id="58"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childTnLst>
                          </p:cTn>
                        </p:par>
                      </p:childTnLst>
                    </p:cTn>
                  </p:par>
                  <p:par>
                    <p:cTn id="64" fill="hold">
                      <p:stCondLst>
                        <p:cond delay="indefinite"/>
                      </p:stCondLst>
                      <p:childTnLst>
                        <p:par>
                          <p:cTn id="63"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1" grpId="0" animBg="1"/>
      <p:bldP spid="14" grpId="0" animBg="1"/>
      <p:bldP spid="18" grpId="0" animBg="1"/>
      <p:bldP spid="22" grpId="0" animBg="1"/>
    </p:bldLst>
  </p:timing>
</p:sld>
</file>

<file path=ppt/slides/slide157.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Adipocito blanco"/>
          <p:cNvGrpSpPr/>
          <p:nvPr/>
        </p:nvGrpSpPr>
        <p:grpSpPr>
          <a:xfrm>
            <a:off x="548640" y="1097280"/>
            <a:ext cx="2926080" cy="2926080"/>
            <a:chOff x="548640" y="1097280"/>
            <a:chExt cx="2926080" cy="2926080"/>
          </a:xfrm>
        </p:grpSpPr>
        <p:sp>
          <p:nvSpPr>
            <p:cNvPr id="5" name="Forma 4"/>
            <p:cNvSpPr/>
            <p:nvPr/>
          </p:nvSpPr>
          <p:spPr>
            <a:xfrm>
              <a:off x="548640" y="1097280"/>
              <a:ext cx="2926080" cy="29260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6" name="Gota lipídica"/>
            <p:cNvSpPr/>
            <p:nvPr/>
          </p:nvSpPr>
          <p:spPr>
            <a:xfrm>
              <a:off x="694944" y="1243584"/>
              <a:ext cx="2633472" cy="263347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7" name="Forma 6"/>
            <p:cNvSpPr/>
            <p:nvPr/>
          </p:nvSpPr>
          <p:spPr>
            <a:xfrm rot="2400000">
              <a:off x="2655418" y="1272845"/>
              <a:ext cx="643738" cy="351130"/>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8" name="Mitocondria"/>
            <p:cNvGrpSpPr/>
            <p:nvPr/>
          </p:nvGrpSpPr>
          <p:grpSpPr>
            <a:xfrm>
              <a:off x="782726" y="3262579"/>
              <a:ext cx="292608" cy="146304"/>
              <a:chOff x="782726" y="3262579"/>
              <a:chExt cx="292608" cy="146304"/>
            </a:xfrm>
          </p:grpSpPr>
          <p:sp>
            <p:nvSpPr>
              <p:cNvPr id="9" name="Forma 8"/>
              <p:cNvSpPr/>
              <p:nvPr/>
            </p:nvSpPr>
            <p:spPr>
              <a:xfrm rot="-2400000">
                <a:off x="782726" y="3262579"/>
                <a:ext cx="292608" cy="146304"/>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0" name="Forma 9"/>
              <p:cNvSpPr/>
              <p:nvPr/>
            </p:nvSpPr>
            <p:spPr>
              <a:xfrm rot="-2400000">
                <a:off x="803209" y="3283062"/>
                <a:ext cx="251643" cy="105339"/>
              </a:xfrm>
              <a:prstGeom prst="ellipse">
                <a:avLst/>
              </a:prstGeom>
              <a:solidFill>
                <a:srgbClr val="F8D8B4"/>
              </a:solidFill>
              <a:ln w="9525" cap="rnd">
                <a:solidFill>
                  <a:srgbClr val="B2732B"/>
                </a:solidFill>
                <a:round/>
              </a:ln>
            </p:spPr>
          </p:sp>
          <p:sp>
            <p:nvSpPr>
              <p:cNvPr id="11" name="Forma 10"/>
              <p:cNvSpPr/>
              <p:nvPr/>
            </p:nvSpPr>
            <p:spPr>
              <a:xfrm rot="-2400000">
                <a:off x="803209" y="3283062"/>
                <a:ext cx="251643" cy="10533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12" name="Adipocito marrón"/>
          <p:cNvGrpSpPr/>
          <p:nvPr/>
        </p:nvGrpSpPr>
        <p:grpSpPr>
          <a:xfrm>
            <a:off x="6492240" y="1097280"/>
            <a:ext cx="2926080" cy="2926080"/>
            <a:chOff x="6492240" y="1097280"/>
            <a:chExt cx="2926080" cy="2926080"/>
          </a:xfrm>
        </p:grpSpPr>
        <p:sp>
          <p:nvSpPr>
            <p:cNvPr id="13" name="Forma 12"/>
            <p:cNvSpPr/>
            <p:nvPr/>
          </p:nvSpPr>
          <p:spPr>
            <a:xfrm>
              <a:off x="6492240" y="1097280"/>
              <a:ext cx="2926080" cy="2926080"/>
            </a:xfrm>
            <a:custGeom>
              <a:avLst/>
              <a:gdLst/>
              <a:ahLst/>
              <a:cxnLst/>
              <a:rect l="0" t="0" r="r" b="b"/>
              <a:pathLst>
                <a:path w="1000" h="1000">
                  <a:moveTo>
                    <a:pt x="150" y="120"/>
                  </a:moveTo>
                  <a:cubicBezTo>
                    <a:pt x="197" y="75"/>
                    <a:pt x="429" y="29"/>
                    <a:pt x="500" y="30"/>
                  </a:cubicBezTo>
                  <a:cubicBezTo>
                    <a:pt x="571" y="31"/>
                    <a:pt x="813" y="83"/>
                    <a:pt x="860" y="130"/>
                  </a:cubicBezTo>
                  <a:cubicBezTo>
                    <a:pt x="907" y="177"/>
                    <a:pt x="971" y="425"/>
                    <a:pt x="970" y="500"/>
                  </a:cubicBezTo>
                  <a:cubicBezTo>
                    <a:pt x="969" y="575"/>
                    <a:pt x="899" y="833"/>
                    <a:pt x="850" y="880"/>
                  </a:cubicBezTo>
                  <a:cubicBezTo>
                    <a:pt x="801" y="927"/>
                    <a:pt x="553" y="972"/>
                    <a:pt x="480" y="970"/>
                  </a:cubicBezTo>
                  <a:cubicBezTo>
                    <a:pt x="407" y="968"/>
                    <a:pt x="165" y="909"/>
                    <a:pt x="120" y="860"/>
                  </a:cubicBezTo>
                  <a:cubicBezTo>
                    <a:pt x="75" y="811"/>
                    <a:pt x="27" y="554"/>
                    <a:pt x="30" y="480"/>
                  </a:cubicBezTo>
                  <a:cubicBezTo>
                    <a:pt x="33" y="406"/>
                    <a:pt x="103" y="165"/>
                    <a:pt x="150" y="120"/>
                  </a:cubicBezTo>
                  <a:close/>
                </a:path>
              </a:pathLst>
            </a:custGeom>
            <a:gradFill rotWithShape="1">
              <a:gsLst>
                <a:gs pos="0">
                  <a:srgbClr val="E1B0A4"/>
                </a:gs>
                <a:gs pos="55000">
                  <a:srgbClr val="C9715A"/>
                </a:gs>
                <a:gs pos="100000">
                  <a:srgbClr val="965443"/>
                </a:gs>
              </a:gsLst>
              <a:path path="circle">
                <a:fillToRect l="32000" t="28000" r="68000" b="72000"/>
              </a:path>
            </a:gradFill>
            <a:ln w="22225" cap="rnd">
              <a:solidFill>
                <a:srgbClr val="6E2C1E"/>
              </a:solidFill>
              <a:round/>
            </a:ln>
            <a:effectLst>
              <a:outerShdw blurRad="101600" dist="50800" dir="2700000" algn="tl" rotWithShape="0">
                <a:srgbClr val="000000">
                  <a:alpha val="30000"/>
                </a:srgbClr>
              </a:outerShdw>
            </a:effectLst>
          </p:spPr>
        </p:sp>
        <p:sp>
          <p:nvSpPr>
            <p:cNvPr id="14" name="Gotas lipídicas"/>
            <p:cNvSpPr/>
            <p:nvPr/>
          </p:nvSpPr>
          <p:spPr>
            <a:xfrm>
              <a:off x="6492240" y="1097280"/>
              <a:ext cx="2926080" cy="2926080"/>
            </a:xfrm>
            <a:custGeom>
              <a:avLst/>
              <a:gdLst/>
              <a:ahLst/>
              <a:cxnLst/>
              <a:rect l="0" t="0" r="r" b="b"/>
              <a:pathLst>
                <a:path w="1000" h="1000">
                  <a:moveTo>
                    <a:pt x="355" y="260"/>
                  </a:moveTo>
                  <a:cubicBezTo>
                    <a:pt x="355" y="312"/>
                    <a:pt x="312" y="355"/>
                    <a:pt x="260" y="355"/>
                  </a:cubicBezTo>
                  <a:cubicBezTo>
                    <a:pt x="207" y="355"/>
                    <a:pt x="165" y="312"/>
                    <a:pt x="165" y="260"/>
                  </a:cubicBezTo>
                  <a:cubicBezTo>
                    <a:pt x="165" y="207"/>
                    <a:pt x="207" y="165"/>
                    <a:pt x="260" y="165"/>
                  </a:cubicBezTo>
                  <a:cubicBezTo>
                    <a:pt x="312" y="165"/>
                    <a:pt x="355" y="207"/>
                    <a:pt x="355" y="260"/>
                  </a:cubicBezTo>
                  <a:close/>
                  <a:moveTo>
                    <a:pt x="785" y="250"/>
                  </a:moveTo>
                  <a:cubicBezTo>
                    <a:pt x="785" y="296"/>
                    <a:pt x="746" y="335"/>
                    <a:pt x="700" y="335"/>
                  </a:cubicBezTo>
                  <a:cubicBezTo>
                    <a:pt x="653" y="335"/>
                    <a:pt x="615" y="296"/>
                    <a:pt x="615" y="250"/>
                  </a:cubicBezTo>
                  <a:cubicBezTo>
                    <a:pt x="615" y="203"/>
                    <a:pt x="653" y="165"/>
                    <a:pt x="700" y="165"/>
                  </a:cubicBezTo>
                  <a:cubicBezTo>
                    <a:pt x="746" y="165"/>
                    <a:pt x="785" y="203"/>
                    <a:pt x="785" y="250"/>
                  </a:cubicBezTo>
                  <a:close/>
                  <a:moveTo>
                    <a:pt x="870" y="620"/>
                  </a:moveTo>
                  <a:cubicBezTo>
                    <a:pt x="870" y="669"/>
                    <a:pt x="829" y="710"/>
                    <a:pt x="780" y="710"/>
                  </a:cubicBezTo>
                  <a:cubicBezTo>
                    <a:pt x="730" y="710"/>
                    <a:pt x="690" y="669"/>
                    <a:pt x="690" y="620"/>
                  </a:cubicBezTo>
                  <a:cubicBezTo>
                    <a:pt x="690" y="570"/>
                    <a:pt x="730" y="530"/>
                    <a:pt x="780" y="530"/>
                  </a:cubicBezTo>
                  <a:cubicBezTo>
                    <a:pt x="829" y="530"/>
                    <a:pt x="870" y="570"/>
                    <a:pt x="870" y="620"/>
                  </a:cubicBezTo>
                  <a:close/>
                  <a:moveTo>
                    <a:pt x="385" y="720"/>
                  </a:moveTo>
                  <a:cubicBezTo>
                    <a:pt x="385" y="766"/>
                    <a:pt x="346" y="805"/>
                    <a:pt x="300" y="805"/>
                  </a:cubicBezTo>
                  <a:cubicBezTo>
                    <a:pt x="253" y="805"/>
                    <a:pt x="215" y="766"/>
                    <a:pt x="215" y="720"/>
                  </a:cubicBezTo>
                  <a:cubicBezTo>
                    <a:pt x="215" y="673"/>
                    <a:pt x="253" y="635"/>
                    <a:pt x="300" y="635"/>
                  </a:cubicBezTo>
                  <a:cubicBezTo>
                    <a:pt x="346" y="635"/>
                    <a:pt x="385" y="673"/>
                    <a:pt x="385" y="720"/>
                  </a:cubicBezTo>
                  <a:close/>
                  <a:moveTo>
                    <a:pt x="590" y="820"/>
                  </a:moveTo>
                  <a:cubicBezTo>
                    <a:pt x="590" y="858"/>
                    <a:pt x="558" y="890"/>
                    <a:pt x="520" y="890"/>
                  </a:cubicBezTo>
                  <a:cubicBezTo>
                    <a:pt x="481" y="890"/>
                    <a:pt x="450" y="858"/>
                    <a:pt x="450" y="820"/>
                  </a:cubicBezTo>
                  <a:cubicBezTo>
                    <a:pt x="450" y="781"/>
                    <a:pt x="481" y="750"/>
                    <a:pt x="520" y="750"/>
                  </a:cubicBezTo>
                  <a:cubicBezTo>
                    <a:pt x="558" y="750"/>
                    <a:pt x="590" y="781"/>
                    <a:pt x="590" y="820"/>
                  </a:cubicBezTo>
                  <a:close/>
                  <a:moveTo>
                    <a:pt x="245" y="500"/>
                  </a:moveTo>
                  <a:cubicBezTo>
                    <a:pt x="245" y="535"/>
                    <a:pt x="215" y="565"/>
                    <a:pt x="180" y="565"/>
                  </a:cubicBezTo>
                  <a:cubicBezTo>
                    <a:pt x="144" y="565"/>
                    <a:pt x="115" y="535"/>
                    <a:pt x="115" y="500"/>
                  </a:cubicBezTo>
                  <a:cubicBezTo>
                    <a:pt x="115" y="464"/>
                    <a:pt x="144" y="435"/>
                    <a:pt x="180" y="435"/>
                  </a:cubicBezTo>
                  <a:cubicBezTo>
                    <a:pt x="215" y="435"/>
                    <a:pt x="245" y="464"/>
                    <a:pt x="245" y="500"/>
                  </a:cubicBezTo>
                  <a:close/>
                  <a:moveTo>
                    <a:pt x="820" y="420"/>
                  </a:moveTo>
                  <a:cubicBezTo>
                    <a:pt x="820" y="453"/>
                    <a:pt x="793" y="480"/>
                    <a:pt x="760" y="480"/>
                  </a:cubicBezTo>
                  <a:cubicBezTo>
                    <a:pt x="726" y="480"/>
                    <a:pt x="700" y="453"/>
                    <a:pt x="700" y="420"/>
                  </a:cubicBezTo>
                  <a:cubicBezTo>
                    <a:pt x="700" y="386"/>
                    <a:pt x="726" y="360"/>
                    <a:pt x="760" y="360"/>
                  </a:cubicBezTo>
                  <a:cubicBezTo>
                    <a:pt x="793" y="360"/>
                    <a:pt x="820" y="386"/>
                    <a:pt x="820" y="420"/>
                  </a:cubicBezTo>
                  <a:close/>
                </a:path>
              </a:pathLst>
            </a:custGeom>
            <a:gradFill rotWithShape="1">
              <a:gsLst>
                <a:gs pos="0">
                  <a:srgbClr val="FFF6C2"/>
                </a:gs>
                <a:gs pos="100000">
                  <a:srgbClr val="E9B90B"/>
                </a:gs>
              </a:gsLst>
              <a:path path="circle">
                <a:fillToRect l="35000" t="30000" r="65000" b="70000"/>
              </a:path>
            </a:gradFill>
            <a:ln w="9525" cap="rnd">
              <a:solidFill>
                <a:srgbClr val="9A7D0A"/>
              </a:solidFill>
              <a:round/>
            </a:ln>
          </p:spPr>
        </p:sp>
        <p:grpSp>
          <p:nvGrpSpPr>
            <p:cNvPr id="15" name="Mitocondria_2"/>
            <p:cNvGrpSpPr/>
            <p:nvPr/>
          </p:nvGrpSpPr>
          <p:grpSpPr>
            <a:xfrm>
              <a:off x="7516368" y="1448410"/>
              <a:ext cx="468173" cy="234086"/>
              <a:chOff x="7516368" y="1448410"/>
              <a:chExt cx="468173" cy="234086"/>
            </a:xfrm>
          </p:grpSpPr>
          <p:sp>
            <p:nvSpPr>
              <p:cNvPr id="16" name="Forma 15"/>
              <p:cNvSpPr/>
              <p:nvPr/>
            </p:nvSpPr>
            <p:spPr>
              <a:xfrm rot="600000">
                <a:off x="7516368" y="1448410"/>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17" name="Forma 16"/>
              <p:cNvSpPr/>
              <p:nvPr/>
            </p:nvSpPr>
            <p:spPr>
              <a:xfrm rot="600000">
                <a:off x="7549140" y="1481182"/>
                <a:ext cx="402629" cy="168542"/>
              </a:xfrm>
              <a:prstGeom prst="ellipse">
                <a:avLst/>
              </a:prstGeom>
              <a:solidFill>
                <a:srgbClr val="E7BFA9"/>
              </a:solidFill>
              <a:ln w="9525" cap="rnd">
                <a:solidFill>
                  <a:srgbClr val="904217"/>
                </a:solidFill>
                <a:round/>
              </a:ln>
            </p:spPr>
          </p:sp>
          <p:sp>
            <p:nvSpPr>
              <p:cNvPr id="18" name="Forma 17"/>
              <p:cNvSpPr/>
              <p:nvPr/>
            </p:nvSpPr>
            <p:spPr>
              <a:xfrm rot="600000">
                <a:off x="7549140" y="1481182"/>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19" name="Mitocondria_3"/>
            <p:cNvGrpSpPr/>
            <p:nvPr/>
          </p:nvGrpSpPr>
          <p:grpSpPr>
            <a:xfrm>
              <a:off x="7955280" y="1975104"/>
              <a:ext cx="468173" cy="234086"/>
              <a:chOff x="7955280" y="1975104"/>
              <a:chExt cx="468173" cy="234086"/>
            </a:xfrm>
          </p:grpSpPr>
          <p:sp>
            <p:nvSpPr>
              <p:cNvPr id="20" name="Forma 19"/>
              <p:cNvSpPr/>
              <p:nvPr/>
            </p:nvSpPr>
            <p:spPr>
              <a:xfrm rot="-1800000">
                <a:off x="7955280" y="1975104"/>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21" name="Forma 20"/>
              <p:cNvSpPr/>
              <p:nvPr/>
            </p:nvSpPr>
            <p:spPr>
              <a:xfrm rot="-1800000">
                <a:off x="7988052" y="2007876"/>
                <a:ext cx="402629" cy="168542"/>
              </a:xfrm>
              <a:prstGeom prst="ellipse">
                <a:avLst/>
              </a:prstGeom>
              <a:solidFill>
                <a:srgbClr val="E7BFA9"/>
              </a:solidFill>
              <a:ln w="9525" cap="rnd">
                <a:solidFill>
                  <a:srgbClr val="904217"/>
                </a:solidFill>
                <a:round/>
              </a:ln>
            </p:spPr>
          </p:sp>
          <p:sp>
            <p:nvSpPr>
              <p:cNvPr id="22" name="Forma 21"/>
              <p:cNvSpPr/>
              <p:nvPr/>
            </p:nvSpPr>
            <p:spPr>
              <a:xfrm rot="-1800000">
                <a:off x="7988052" y="2007876"/>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23" name="Mitocondria_4"/>
            <p:cNvGrpSpPr/>
            <p:nvPr/>
          </p:nvGrpSpPr>
          <p:grpSpPr>
            <a:xfrm>
              <a:off x="6843370" y="2911450"/>
              <a:ext cx="468173" cy="234086"/>
              <a:chOff x="6843370" y="2911450"/>
              <a:chExt cx="468173" cy="234086"/>
            </a:xfrm>
          </p:grpSpPr>
          <p:sp>
            <p:nvSpPr>
              <p:cNvPr id="24" name="Forma 23"/>
              <p:cNvSpPr/>
              <p:nvPr/>
            </p:nvSpPr>
            <p:spPr>
              <a:xfrm rot="3600000">
                <a:off x="6843370" y="2911450"/>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25" name="Forma 24"/>
              <p:cNvSpPr/>
              <p:nvPr/>
            </p:nvSpPr>
            <p:spPr>
              <a:xfrm rot="3600000">
                <a:off x="6876142" y="2944222"/>
                <a:ext cx="402629" cy="168542"/>
              </a:xfrm>
              <a:prstGeom prst="ellipse">
                <a:avLst/>
              </a:prstGeom>
              <a:solidFill>
                <a:srgbClr val="E7BFA9"/>
              </a:solidFill>
              <a:ln w="9525" cap="rnd">
                <a:solidFill>
                  <a:srgbClr val="904217"/>
                </a:solidFill>
                <a:round/>
              </a:ln>
            </p:spPr>
          </p:sp>
          <p:sp>
            <p:nvSpPr>
              <p:cNvPr id="26" name="Forma 25"/>
              <p:cNvSpPr/>
              <p:nvPr/>
            </p:nvSpPr>
            <p:spPr>
              <a:xfrm rot="3600000">
                <a:off x="6876142" y="2944222"/>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27" name="Mitocondria_5"/>
            <p:cNvGrpSpPr/>
            <p:nvPr/>
          </p:nvGrpSpPr>
          <p:grpSpPr>
            <a:xfrm>
              <a:off x="8189366" y="2852928"/>
              <a:ext cx="468173" cy="234086"/>
              <a:chOff x="8189366" y="2852928"/>
              <a:chExt cx="468173" cy="234086"/>
            </a:xfrm>
          </p:grpSpPr>
          <p:sp>
            <p:nvSpPr>
              <p:cNvPr id="28" name="Forma 27"/>
              <p:cNvSpPr/>
              <p:nvPr/>
            </p:nvSpPr>
            <p:spPr>
              <a:xfrm rot="1200000">
                <a:off x="8189366" y="2852928"/>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29" name="Forma 28"/>
              <p:cNvSpPr/>
              <p:nvPr/>
            </p:nvSpPr>
            <p:spPr>
              <a:xfrm rot="1200000">
                <a:off x="8222138" y="2885700"/>
                <a:ext cx="402629" cy="168542"/>
              </a:xfrm>
              <a:prstGeom prst="ellipse">
                <a:avLst/>
              </a:prstGeom>
              <a:solidFill>
                <a:srgbClr val="E7BFA9"/>
              </a:solidFill>
              <a:ln w="9525" cap="rnd">
                <a:solidFill>
                  <a:srgbClr val="904217"/>
                </a:solidFill>
                <a:round/>
              </a:ln>
            </p:spPr>
          </p:sp>
          <p:sp>
            <p:nvSpPr>
              <p:cNvPr id="30" name="Forma 29"/>
              <p:cNvSpPr/>
              <p:nvPr/>
            </p:nvSpPr>
            <p:spPr>
              <a:xfrm rot="1200000">
                <a:off x="8222138" y="2885700"/>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31" name="Mitocondria_6"/>
            <p:cNvGrpSpPr/>
            <p:nvPr/>
          </p:nvGrpSpPr>
          <p:grpSpPr>
            <a:xfrm>
              <a:off x="8306410" y="3555187"/>
              <a:ext cx="468173" cy="234086"/>
              <a:chOff x="8306410" y="3555187"/>
              <a:chExt cx="468173" cy="234086"/>
            </a:xfrm>
          </p:grpSpPr>
          <p:sp>
            <p:nvSpPr>
              <p:cNvPr id="32" name="Forma 31"/>
              <p:cNvSpPr/>
              <p:nvPr/>
            </p:nvSpPr>
            <p:spPr>
              <a:xfrm rot="-600000">
                <a:off x="8306410" y="3555187"/>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33" name="Forma 32"/>
              <p:cNvSpPr/>
              <p:nvPr/>
            </p:nvSpPr>
            <p:spPr>
              <a:xfrm rot="-600000">
                <a:off x="8339182" y="3587959"/>
                <a:ext cx="402629" cy="168542"/>
              </a:xfrm>
              <a:prstGeom prst="ellipse">
                <a:avLst/>
              </a:prstGeom>
              <a:solidFill>
                <a:srgbClr val="E7BFA9"/>
              </a:solidFill>
              <a:ln w="9525" cap="rnd">
                <a:solidFill>
                  <a:srgbClr val="904217"/>
                </a:solidFill>
                <a:round/>
              </a:ln>
            </p:spPr>
          </p:sp>
          <p:sp>
            <p:nvSpPr>
              <p:cNvPr id="34" name="Forma 33"/>
              <p:cNvSpPr/>
              <p:nvPr/>
            </p:nvSpPr>
            <p:spPr>
              <a:xfrm rot="-600000">
                <a:off x="8339182" y="3587959"/>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35" name="Mitocondria_7"/>
            <p:cNvGrpSpPr/>
            <p:nvPr/>
          </p:nvGrpSpPr>
          <p:grpSpPr>
            <a:xfrm>
              <a:off x="7545629" y="2560320"/>
              <a:ext cx="468173" cy="234086"/>
              <a:chOff x="7545629" y="2560320"/>
              <a:chExt cx="468173" cy="234086"/>
            </a:xfrm>
          </p:grpSpPr>
          <p:sp>
            <p:nvSpPr>
              <p:cNvPr id="36" name="Forma 35"/>
              <p:cNvSpPr/>
              <p:nvPr/>
            </p:nvSpPr>
            <p:spPr>
              <a:xfrm rot="4800000">
                <a:off x="7545629" y="2560320"/>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37" name="Forma 36"/>
              <p:cNvSpPr/>
              <p:nvPr/>
            </p:nvSpPr>
            <p:spPr>
              <a:xfrm rot="4800000">
                <a:off x="7578401" y="2593092"/>
                <a:ext cx="402629" cy="168542"/>
              </a:xfrm>
              <a:prstGeom prst="ellipse">
                <a:avLst/>
              </a:prstGeom>
              <a:solidFill>
                <a:srgbClr val="E7BFA9"/>
              </a:solidFill>
              <a:ln w="9525" cap="rnd">
                <a:solidFill>
                  <a:srgbClr val="904217"/>
                </a:solidFill>
                <a:round/>
              </a:ln>
            </p:spPr>
          </p:sp>
          <p:sp>
            <p:nvSpPr>
              <p:cNvPr id="38" name="Forma 37"/>
              <p:cNvSpPr/>
              <p:nvPr/>
            </p:nvSpPr>
            <p:spPr>
              <a:xfrm rot="4800000">
                <a:off x="7578401" y="2593092"/>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39" name="Mitocondria_8"/>
            <p:cNvGrpSpPr/>
            <p:nvPr/>
          </p:nvGrpSpPr>
          <p:grpSpPr>
            <a:xfrm>
              <a:off x="8833104" y="3438144"/>
              <a:ext cx="468173" cy="234086"/>
              <a:chOff x="8833104" y="3438144"/>
              <a:chExt cx="468173" cy="234086"/>
            </a:xfrm>
          </p:grpSpPr>
          <p:sp>
            <p:nvSpPr>
              <p:cNvPr id="40" name="Forma 39"/>
              <p:cNvSpPr/>
              <p:nvPr/>
            </p:nvSpPr>
            <p:spPr>
              <a:xfrm rot="2400000">
                <a:off x="8833104" y="3438144"/>
                <a:ext cx="468173" cy="234086"/>
              </a:xfrm>
              <a:prstGeom prst="ellipse">
                <a:avLst/>
              </a:prstGeom>
              <a:gradFill rotWithShape="1">
                <a:gsLst>
                  <a:gs pos="0">
                    <a:srgbClr val="D6926D"/>
                  </a:gs>
                  <a:gs pos="55000">
                    <a:srgbClr val="C0581F"/>
                  </a:gs>
                  <a:gs pos="100000">
                    <a:srgbClr val="863D15"/>
                  </a:gs>
                </a:gsLst>
                <a:path path="circle">
                  <a:fillToRect l="32000" t="28000" r="68000" b="72000"/>
                </a:path>
              </a:gradFill>
              <a:ln w="12700" cap="rnd">
                <a:solidFill>
                  <a:srgbClr val="602C0F"/>
                </a:solidFill>
                <a:round/>
              </a:ln>
            </p:spPr>
          </p:sp>
          <p:sp>
            <p:nvSpPr>
              <p:cNvPr id="41" name="Forma 40"/>
              <p:cNvSpPr/>
              <p:nvPr/>
            </p:nvSpPr>
            <p:spPr>
              <a:xfrm rot="2400000">
                <a:off x="8865876" y="3470916"/>
                <a:ext cx="402629" cy="168542"/>
              </a:xfrm>
              <a:prstGeom prst="ellipse">
                <a:avLst/>
              </a:prstGeom>
              <a:solidFill>
                <a:srgbClr val="E7BFA9"/>
              </a:solidFill>
              <a:ln w="9525" cap="rnd">
                <a:solidFill>
                  <a:srgbClr val="904217"/>
                </a:solidFill>
                <a:round/>
              </a:ln>
            </p:spPr>
          </p:sp>
          <p:sp>
            <p:nvSpPr>
              <p:cNvPr id="42" name="Forma 41"/>
              <p:cNvSpPr/>
              <p:nvPr/>
            </p:nvSpPr>
            <p:spPr>
              <a:xfrm rot="2400000">
                <a:off x="8865876" y="3470916"/>
                <a:ext cx="402629" cy="168542"/>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7C3914"/>
                </a:solidFill>
                <a:round/>
              </a:ln>
            </p:spPr>
          </p:sp>
        </p:grpSp>
        <p:grpSp>
          <p:nvGrpSpPr>
            <p:cNvPr id="43" name="Núcleo"/>
            <p:cNvGrpSpPr/>
            <p:nvPr/>
          </p:nvGrpSpPr>
          <p:grpSpPr>
            <a:xfrm>
              <a:off x="7662672" y="2209190"/>
              <a:ext cx="585216" cy="526694"/>
              <a:chOff x="7662672" y="2209190"/>
              <a:chExt cx="585216" cy="526694"/>
            </a:xfrm>
          </p:grpSpPr>
          <p:sp>
            <p:nvSpPr>
              <p:cNvPr id="44" name="Forma 43"/>
              <p:cNvSpPr/>
              <p:nvPr/>
            </p:nvSpPr>
            <p:spPr>
              <a:xfrm>
                <a:off x="7662672" y="2209190"/>
                <a:ext cx="585216" cy="526694"/>
              </a:xfrm>
              <a:prstGeom prst="ellipse">
                <a:avLst/>
              </a:prstGeom>
              <a:gradFill rotWithShape="1">
                <a:gsLst>
                  <a:gs pos="0">
                    <a:srgbClr val="B7A4CE"/>
                  </a:gs>
                  <a:gs pos="55000">
                    <a:srgbClr val="7D5BA6"/>
                  </a:gs>
                  <a:gs pos="100000">
                    <a:srgbClr val="573F74"/>
                  </a:gs>
                </a:gsLst>
                <a:path path="circle">
                  <a:fillToRect l="32000" t="28000" r="68000" b="72000"/>
                </a:path>
              </a:gradFill>
              <a:ln w="12700" cap="rnd">
                <a:solidFill>
                  <a:srgbClr val="4B3663"/>
                </a:solidFill>
                <a:round/>
              </a:ln>
            </p:spPr>
          </p:sp>
          <p:sp>
            <p:nvSpPr>
              <p:cNvPr id="45" name="Forma 44"/>
              <p:cNvSpPr/>
              <p:nvPr/>
            </p:nvSpPr>
            <p:spPr>
              <a:xfrm>
                <a:off x="7966984" y="2384755"/>
                <a:ext cx="128748" cy="117043"/>
              </a:xfrm>
              <a:prstGeom prst="ellipse">
                <a:avLst/>
              </a:prstGeom>
              <a:solidFill>
                <a:srgbClr val="513B6B"/>
              </a:solidFill>
              <a:ln>
                <a:noFill/>
              </a:ln>
            </p:spPr>
          </p:sp>
        </p:grpSp>
      </p:grpSp>
      <p:grpSp>
        <p:nvGrpSpPr>
          <p:cNvPr id="46" name="Recuadro Blanco (WAT)"/>
          <p:cNvGrpSpPr/>
          <p:nvPr/>
        </p:nvGrpSpPr>
        <p:grpSpPr>
          <a:xfrm>
            <a:off x="365760" y="4206240"/>
            <a:ext cx="5577840" cy="2286000"/>
            <a:chOff x="365760" y="4206240"/>
            <a:chExt cx="5577840" cy="2286000"/>
          </a:xfrm>
        </p:grpSpPr>
        <p:sp>
          <p:nvSpPr>
            <p:cNvPr id="47" name="Forma 46"/>
            <p:cNvSpPr/>
            <p:nvPr/>
          </p:nvSpPr>
          <p:spPr>
            <a:xfrm>
              <a:off x="365760" y="4389120"/>
              <a:ext cx="5577840" cy="21031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Adipocito grande </a:t>
              </a:r>
              <a:r>
                <a:rPr lang="es-AR" sz="1650" b="1" dirty="0">
                  <a:solidFill>
                    <a:srgbClr val="1E1E1E"/>
                  </a:solidFill>
                  <a:latin typeface="Bahnschrift"/>
                  <a:ea typeface="Bahnschrift"/>
                  <a:cs typeface="Bahnschrift"/>
                  <a:sym typeface="Bahnschrift"/>
                </a:rPr>
                <a:t>unilocular</a:t>
              </a:r>
              <a:r>
                <a:rPr lang="es-AR" sz="1650" dirty="0">
                  <a:solidFill>
                    <a:srgbClr val="1E1E1E"/>
                  </a:solidFill>
                  <a:latin typeface="Bahnschrift"/>
                  <a:ea typeface="Bahnschrift"/>
                  <a:cs typeface="Bahnschrift"/>
                  <a:sym typeface="Bahnschrift"/>
                </a:rPr>
                <a:t>: una gota de TAG.</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Núcleo desplazado a la </a:t>
              </a:r>
              <a:r>
                <a:rPr lang="es-AR" sz="1650" b="1" dirty="0">
                  <a:solidFill>
                    <a:srgbClr val="1E1E1E"/>
                  </a:solidFill>
                  <a:latin typeface="Bahnschrift"/>
                  <a:ea typeface="Bahnschrift"/>
                  <a:cs typeface="Bahnschrift"/>
                  <a:sym typeface="Bahnschrift"/>
                </a:rPr>
                <a:t>periferia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Menor densidad mitocondrial por volumen.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Estroma con células inmunes y fibroblastos.</a:t>
              </a:r>
              <a:endParaRPr lang="es-AR" sz="1650" dirty="0">
                <a:latin typeface="Bahnschrift"/>
              </a:endParaRPr>
            </a:p>
          </p:txBody>
        </p:sp>
        <p:sp>
          <p:nvSpPr>
            <p:cNvPr id="48" name="Forma 47"/>
            <p:cNvSpPr/>
            <p:nvPr/>
          </p:nvSpPr>
          <p:spPr>
            <a:xfrm>
              <a:off x="475488" y="4206240"/>
              <a:ext cx="141868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BLANCO (WAT)</a:t>
              </a:r>
              <a:endParaRPr lang="es-AR" sz="1500" dirty="0">
                <a:latin typeface="Bahnschrift SemiBold Condensed"/>
              </a:endParaRPr>
            </a:p>
          </p:txBody>
        </p:sp>
      </p:grpSp>
      <p:grpSp>
        <p:nvGrpSpPr>
          <p:cNvPr id="49" name="Recuadro Marrón (BAT)"/>
          <p:cNvGrpSpPr/>
          <p:nvPr/>
        </p:nvGrpSpPr>
        <p:grpSpPr>
          <a:xfrm>
            <a:off x="6217920" y="4206240"/>
            <a:ext cx="5577840" cy="2286000"/>
            <a:chOff x="6217920" y="4206240"/>
            <a:chExt cx="5577840" cy="2286000"/>
          </a:xfrm>
        </p:grpSpPr>
        <p:sp>
          <p:nvSpPr>
            <p:cNvPr id="50" name="Forma 49"/>
            <p:cNvSpPr/>
            <p:nvPr/>
          </p:nvSpPr>
          <p:spPr>
            <a:xfrm>
              <a:off x="6217920" y="4389120"/>
              <a:ext cx="5577840" cy="2103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Multilocular</a:t>
              </a:r>
              <a:r>
                <a:rPr lang="es-AR" sz="1650" dirty="0">
                  <a:solidFill>
                    <a:srgbClr val="1E1E1E"/>
                  </a:solidFill>
                  <a:latin typeface="Bahnschrift"/>
                  <a:ea typeface="Bahnschrift"/>
                  <a:cs typeface="Bahnschrift"/>
                  <a:sym typeface="Bahnschrift"/>
                </a:rPr>
                <a:t>, con </a:t>
              </a:r>
              <a:r>
                <a:rPr lang="es-AR" sz="1650" b="1" dirty="0">
                  <a:solidFill>
                    <a:srgbClr val="1E1E1E"/>
                  </a:solidFill>
                  <a:latin typeface="Bahnschrift"/>
                  <a:ea typeface="Bahnschrift"/>
                  <a:cs typeface="Bahnschrift"/>
                  <a:sym typeface="Bahnschrift"/>
                </a:rPr>
                <a:t>numerosas mitocondrias</a:t>
              </a:r>
              <a:r>
                <a:rPr lang="es-AR" sz="1650" dirty="0">
                  <a:solidFill>
                    <a:srgbClr val="1E1E1E"/>
                  </a:solidFill>
                  <a:latin typeface="Bahnschrift"/>
                  <a:ea typeface="Bahnschrift"/>
                  <a:cs typeface="Bahnschrift"/>
                  <a:sym typeface="Bahnschrift"/>
                </a:rPr>
                <a:t> (citocromos: color).</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Rica </a:t>
              </a:r>
              <a:r>
                <a:rPr lang="es-AR" sz="1650" b="1" dirty="0">
                  <a:solidFill>
                    <a:srgbClr val="1E1E1E"/>
                  </a:solidFill>
                  <a:latin typeface="Bahnschrift"/>
                  <a:ea typeface="Bahnschrift"/>
                  <a:cs typeface="Bahnschrift"/>
                  <a:sym typeface="Bahnschrift"/>
                </a:rPr>
                <a:t>irrigación e inervación simpática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UCP1</a:t>
              </a:r>
              <a:r>
                <a:rPr lang="es-AR" sz="1650" dirty="0">
                  <a:solidFill>
                    <a:srgbClr val="1E1E1E"/>
                  </a:solidFill>
                  <a:latin typeface="Bahnschrift"/>
                  <a:ea typeface="Bahnschrift"/>
                  <a:cs typeface="Bahnschrift"/>
                  <a:sym typeface="Bahnschrift"/>
                </a:rPr>
                <a:t> (termogenina) en la membrana mitocondrial interna.</a:t>
              </a:r>
              <a:endParaRPr lang="es-AR" sz="1650" dirty="0">
                <a:latin typeface="Bahnschrift"/>
              </a:endParaRPr>
            </a:p>
          </p:txBody>
        </p:sp>
        <p:sp>
          <p:nvSpPr>
            <p:cNvPr id="51" name="Forma 50"/>
            <p:cNvSpPr/>
            <p:nvPr/>
          </p:nvSpPr>
          <p:spPr>
            <a:xfrm>
              <a:off x="6327648" y="4206240"/>
              <a:ext cx="141097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MARRÓN (BAT)</a:t>
              </a:r>
              <a:endParaRPr lang="es-AR" sz="1500" dirty="0">
                <a:latin typeface="Bahnschrift SemiBold Condensed"/>
              </a:endParaRPr>
            </a:p>
          </p:txBody>
        </p:sp>
      </p:grpSp>
      <p:sp>
        <p:nvSpPr>
          <p:cNvPr id="52" name="Rótulo una gota"/>
          <p:cNvSpPr/>
          <p:nvPr/>
        </p:nvSpPr>
        <p:spPr>
          <a:xfrm>
            <a:off x="3657600" y="2103120"/>
            <a:ext cx="807654" cy="255905"/>
          </a:xfrm>
          <a:prstGeom prst="rect">
            <a:avLst/>
          </a:prstGeom>
          <a:solidFill>
            <a:srgbClr val="FFF4D6"/>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una gota</a:t>
            </a:r>
            <a:endParaRPr lang="es-AR" sz="1300" dirty="0">
              <a:latin typeface="Bahnschrift SemiBold Condensed"/>
            </a:endParaRPr>
          </a:p>
        </p:txBody>
      </p:sp>
      <p:sp>
        <p:nvSpPr>
          <p:cNvPr id="53" name="Rótulo muchas"/>
          <p:cNvSpPr/>
          <p:nvPr/>
        </p:nvSpPr>
        <p:spPr>
          <a:xfrm>
            <a:off x="9601200" y="2103120"/>
            <a:ext cx="2172308" cy="255905"/>
          </a:xfrm>
          <a:prstGeom prst="rect">
            <a:avLst/>
          </a:prstGeom>
          <a:solidFill>
            <a:srgbClr val="FFF4D6"/>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muchas gotas + mitocondrias</a:t>
            </a:r>
            <a:endParaRPr lang="es-AR" sz="1300" dirty="0">
              <a:latin typeface="Bahnschrift SemiBold Condensed"/>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25715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32 · TEJIDO ADIPOSO BLANCO FRENTE A MARRÓN: HISTOLOGÍA</a:t>
            </a:r>
            <a:endParaRPr lang="es-AR" sz="2600" dirty="0">
              <a:latin typeface="Bahnschrift SemiBold Condensed"/>
            </a:endParaRPr>
          </a:p>
        </p:txBody>
      </p:sp>
      <p:sp>
        <p:nvSpPr>
          <p:cNvPr id="5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2"/>
                                        </p:tgtEl>
                                        <p:attrNameLst>
                                          <p:attrName>style.visibility</p:attrName>
                                        </p:attrNameLst>
                                      </p:cBhvr>
                                      <p:to>
                                        <p:strVal val="visible"/>
                                      </p:to>
                                    </p:set>
                                    <p:animEffect transition="in" filter="fade">
                                      <p:cBhvr>
                                        <p:cTn id="5" dur="500"/>
                                        <p:tgtEl>
                                          <p:spTgt spid="52"/>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46"/>
                                        </p:tgtEl>
                                        <p:attrNameLst>
                                          <p:attrName>style.visibility</p:attrName>
                                        </p:attrNameLst>
                                      </p:cBhvr>
                                      <p:to>
                                        <p:strVal val="visible"/>
                                      </p:to>
                                    </p:set>
                                    <p:animEffect transition="in" filter="fade">
                                      <p:cBhvr>
                                        <p:cTn id="8" dur="500"/>
                                        <p:tgtEl>
                                          <p:spTgt spid="46"/>
                                        </p:tgtEl>
                                      </p:cBhvr>
                                    </p:animEffect>
                                  </p:childTnLst>
                                </p:cTn>
                              </p:par>
                            </p:childTnLst>
                          </p:cTn>
                        </p:par>
                      </p:childTnLst>
                    </p:cTn>
                  </p:par>
                  <p:par>
                    <p:cTn id="18" fill="hold">
                      <p:stCondLst>
                        <p:cond delay="indefinite"/>
                      </p:stCondLst>
                      <p:childTnLst>
                        <p:par>
                          <p:cTn id="17"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fade">
                                      <p:cBhvr>
                                        <p:cTn id="13" dur="500"/>
                                        <p:tgtEl>
                                          <p:spTgt spid="5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fade">
                                      <p:cBhvr>
                                        <p:cTn id="16"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Lst>
  </p:timing>
</p:sld>
</file>

<file path=ppt/slides/slide158.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Espacio intermembrana"/>
          <p:cNvSpPr/>
          <p:nvPr/>
        </p:nvSpPr>
        <p:spPr>
          <a:xfrm>
            <a:off x="274320" y="960120"/>
            <a:ext cx="7680960" cy="1188720"/>
          </a:xfrm>
          <a:prstGeom prst="rect">
            <a:avLst/>
          </a:prstGeom>
          <a:solidFill>
            <a:srgbClr val="F5B7B1">
              <a:alpha val="45000"/>
            </a:srgbClr>
          </a:solidFill>
          <a:ln>
            <a:noFill/>
          </a:ln>
        </p:spPr>
      </p:sp>
      <p:sp>
        <p:nvSpPr>
          <p:cNvPr id="5" name="Forma 4"/>
          <p:cNvSpPr txBox="1"/>
          <p:nvPr/>
        </p:nvSpPr>
        <p:spPr>
          <a:xfrm>
            <a:off x="365760" y="987552"/>
            <a:ext cx="3657600" cy="274320"/>
          </a:xfrm>
          <a:prstGeom prst="rect">
            <a:avLst/>
          </a:prstGeom>
          <a:noFill/>
          <a:ln>
            <a:noFill/>
          </a:ln>
        </p:spPr>
        <p:txBody>
          <a:bodyPr wrap="square" lIns="0" tIns="0" rIns="0" bIns="0" anchor="t" rtlCol="0">
            <a:noAutofit/>
          </a:bodyPr>
          <a:lstStyle/>
          <a:p>
            <a:pPr algn="l">
              <a:spcAft>
                <a:spcPts val="300"/>
              </a:spcAft>
              <a:buNone/>
            </a:pPr>
            <a:r>
              <a:rPr lang="es-AR" sz="1250" b="1" dirty="0">
                <a:solidFill>
                  <a:srgbClr val="922B21"/>
                </a:solidFill>
                <a:latin typeface="Bahnschrift SemiBold Condensed"/>
                <a:ea typeface="Bahnschrift SemiBold Condensed"/>
                <a:cs typeface="Bahnschrift SemiBold Condensed"/>
                <a:sym typeface="Bahnschrift SemiBold Condensed"/>
              </a:rPr>
              <a:t>ESPACIO INTERMEMBRANA</a:t>
            </a:r>
            <a:endParaRPr lang="es-AR" sz="1250" dirty="0">
              <a:latin typeface="Bahnschrift SemiBold Condensed"/>
            </a:endParaRPr>
          </a:p>
        </p:txBody>
      </p:sp>
      <p:grpSp>
        <p:nvGrpSpPr>
          <p:cNvPr id="6" name="Membrana interna"/>
          <p:cNvGrpSpPr/>
          <p:nvPr/>
        </p:nvGrpSpPr>
        <p:grpSpPr>
          <a:xfrm>
            <a:off x="274320" y="2194560"/>
            <a:ext cx="7680960" cy="548640"/>
            <a:chOff x="274320" y="2194560"/>
            <a:chExt cx="7680960" cy="548640"/>
          </a:xfrm>
        </p:grpSpPr>
        <p:sp>
          <p:nvSpPr>
            <p:cNvPr id="7" name="Forma 6"/>
            <p:cNvSpPr/>
            <p:nvPr/>
          </p:nvSpPr>
          <p:spPr>
            <a:xfrm>
              <a:off x="274320" y="2293315"/>
              <a:ext cx="7680960" cy="351130"/>
            </a:xfrm>
            <a:prstGeom prst="rect">
              <a:avLst/>
            </a:prstGeom>
            <a:solidFill>
              <a:srgbClr val="FDEBD0"/>
            </a:solidFill>
            <a:ln>
              <a:noFill/>
            </a:ln>
          </p:spPr>
        </p:sp>
        <p:sp>
          <p:nvSpPr>
            <p:cNvPr id="8" name="Forma 7"/>
            <p:cNvSpPr/>
            <p:nvPr/>
          </p:nvSpPr>
          <p:spPr>
            <a:xfrm>
              <a:off x="274320" y="2194560"/>
              <a:ext cx="7680960" cy="548640"/>
            </a:xfrm>
            <a:custGeom>
              <a:avLst/>
              <a:gdLst/>
              <a:ahLst/>
              <a:cxnLst/>
              <a:rect l="0" t="0" r="r" b="b"/>
              <a:pathLst>
                <a:path w="8400" h="600">
                  <a:moveTo>
                    <a:pt x="97" y="47"/>
                  </a:moveTo>
                  <a:cubicBezTo>
                    <a:pt x="97" y="72"/>
                    <a:pt x="75" y="94"/>
                    <a:pt x="50" y="94"/>
                  </a:cubicBezTo>
                  <a:cubicBezTo>
                    <a:pt x="24" y="94"/>
                    <a:pt x="3" y="72"/>
                    <a:pt x="3" y="47"/>
                  </a:cubicBezTo>
                  <a:cubicBezTo>
                    <a:pt x="3" y="21"/>
                    <a:pt x="24" y="0"/>
                    <a:pt x="50" y="0"/>
                  </a:cubicBezTo>
                  <a:cubicBezTo>
                    <a:pt x="75" y="0"/>
                    <a:pt x="97" y="21"/>
                    <a:pt x="97" y="47"/>
                  </a:cubicBezTo>
                  <a:close/>
                  <a:moveTo>
                    <a:pt x="197" y="47"/>
                  </a:moveTo>
                  <a:cubicBezTo>
                    <a:pt x="197" y="72"/>
                    <a:pt x="175" y="94"/>
                    <a:pt x="150" y="94"/>
                  </a:cubicBezTo>
                  <a:cubicBezTo>
                    <a:pt x="124" y="94"/>
                    <a:pt x="103" y="72"/>
                    <a:pt x="103" y="47"/>
                  </a:cubicBezTo>
                  <a:cubicBezTo>
                    <a:pt x="103" y="21"/>
                    <a:pt x="124" y="0"/>
                    <a:pt x="150" y="0"/>
                  </a:cubicBezTo>
                  <a:cubicBezTo>
                    <a:pt x="175" y="0"/>
                    <a:pt x="197" y="21"/>
                    <a:pt x="197" y="47"/>
                  </a:cubicBezTo>
                  <a:close/>
                  <a:moveTo>
                    <a:pt x="297" y="47"/>
                  </a:moveTo>
                  <a:cubicBezTo>
                    <a:pt x="297" y="72"/>
                    <a:pt x="275" y="94"/>
                    <a:pt x="250" y="94"/>
                  </a:cubicBezTo>
                  <a:cubicBezTo>
                    <a:pt x="224" y="94"/>
                    <a:pt x="203" y="72"/>
                    <a:pt x="203" y="47"/>
                  </a:cubicBezTo>
                  <a:cubicBezTo>
                    <a:pt x="203" y="21"/>
                    <a:pt x="224" y="0"/>
                    <a:pt x="250" y="0"/>
                  </a:cubicBezTo>
                  <a:cubicBezTo>
                    <a:pt x="275" y="0"/>
                    <a:pt x="297" y="21"/>
                    <a:pt x="297" y="47"/>
                  </a:cubicBezTo>
                  <a:close/>
                  <a:moveTo>
                    <a:pt x="397" y="47"/>
                  </a:moveTo>
                  <a:cubicBezTo>
                    <a:pt x="397" y="72"/>
                    <a:pt x="375" y="94"/>
                    <a:pt x="350" y="94"/>
                  </a:cubicBezTo>
                  <a:cubicBezTo>
                    <a:pt x="324" y="94"/>
                    <a:pt x="303" y="72"/>
                    <a:pt x="303" y="47"/>
                  </a:cubicBezTo>
                  <a:cubicBezTo>
                    <a:pt x="303" y="21"/>
                    <a:pt x="324" y="0"/>
                    <a:pt x="350" y="0"/>
                  </a:cubicBezTo>
                  <a:cubicBezTo>
                    <a:pt x="375" y="0"/>
                    <a:pt x="397" y="21"/>
                    <a:pt x="397" y="47"/>
                  </a:cubicBezTo>
                  <a:close/>
                  <a:moveTo>
                    <a:pt x="497" y="47"/>
                  </a:moveTo>
                  <a:cubicBezTo>
                    <a:pt x="497" y="72"/>
                    <a:pt x="475" y="94"/>
                    <a:pt x="450" y="94"/>
                  </a:cubicBezTo>
                  <a:cubicBezTo>
                    <a:pt x="424" y="94"/>
                    <a:pt x="403" y="72"/>
                    <a:pt x="403" y="47"/>
                  </a:cubicBezTo>
                  <a:cubicBezTo>
                    <a:pt x="403" y="21"/>
                    <a:pt x="424" y="0"/>
                    <a:pt x="450" y="0"/>
                  </a:cubicBezTo>
                  <a:cubicBezTo>
                    <a:pt x="475" y="0"/>
                    <a:pt x="497" y="21"/>
                    <a:pt x="497" y="47"/>
                  </a:cubicBezTo>
                  <a:close/>
                  <a:moveTo>
                    <a:pt x="597" y="47"/>
                  </a:moveTo>
                  <a:cubicBezTo>
                    <a:pt x="597" y="72"/>
                    <a:pt x="575" y="94"/>
                    <a:pt x="550" y="94"/>
                  </a:cubicBezTo>
                  <a:cubicBezTo>
                    <a:pt x="524" y="94"/>
                    <a:pt x="503" y="72"/>
                    <a:pt x="503" y="47"/>
                  </a:cubicBezTo>
                  <a:cubicBezTo>
                    <a:pt x="503" y="21"/>
                    <a:pt x="524" y="0"/>
                    <a:pt x="550" y="0"/>
                  </a:cubicBezTo>
                  <a:cubicBezTo>
                    <a:pt x="575" y="0"/>
                    <a:pt x="597" y="21"/>
                    <a:pt x="597" y="47"/>
                  </a:cubicBezTo>
                  <a:close/>
                  <a:moveTo>
                    <a:pt x="697" y="47"/>
                  </a:moveTo>
                  <a:cubicBezTo>
                    <a:pt x="697" y="72"/>
                    <a:pt x="675" y="94"/>
                    <a:pt x="650" y="94"/>
                  </a:cubicBezTo>
                  <a:cubicBezTo>
                    <a:pt x="624" y="94"/>
                    <a:pt x="603" y="72"/>
                    <a:pt x="603" y="47"/>
                  </a:cubicBezTo>
                  <a:cubicBezTo>
                    <a:pt x="603" y="21"/>
                    <a:pt x="624" y="0"/>
                    <a:pt x="650" y="0"/>
                  </a:cubicBezTo>
                  <a:cubicBezTo>
                    <a:pt x="675" y="0"/>
                    <a:pt x="697" y="21"/>
                    <a:pt x="697" y="47"/>
                  </a:cubicBezTo>
                  <a:close/>
                  <a:moveTo>
                    <a:pt x="797" y="47"/>
                  </a:moveTo>
                  <a:cubicBezTo>
                    <a:pt x="797" y="72"/>
                    <a:pt x="775" y="94"/>
                    <a:pt x="750" y="94"/>
                  </a:cubicBezTo>
                  <a:cubicBezTo>
                    <a:pt x="724" y="94"/>
                    <a:pt x="703" y="72"/>
                    <a:pt x="703" y="47"/>
                  </a:cubicBezTo>
                  <a:cubicBezTo>
                    <a:pt x="703" y="21"/>
                    <a:pt x="724" y="0"/>
                    <a:pt x="750" y="0"/>
                  </a:cubicBezTo>
                  <a:cubicBezTo>
                    <a:pt x="775" y="0"/>
                    <a:pt x="797" y="21"/>
                    <a:pt x="797" y="47"/>
                  </a:cubicBezTo>
                  <a:close/>
                  <a:moveTo>
                    <a:pt x="897" y="47"/>
                  </a:moveTo>
                  <a:cubicBezTo>
                    <a:pt x="897" y="72"/>
                    <a:pt x="875" y="94"/>
                    <a:pt x="850" y="94"/>
                  </a:cubicBezTo>
                  <a:cubicBezTo>
                    <a:pt x="824" y="94"/>
                    <a:pt x="803" y="72"/>
                    <a:pt x="803" y="47"/>
                  </a:cubicBezTo>
                  <a:cubicBezTo>
                    <a:pt x="803" y="21"/>
                    <a:pt x="824" y="0"/>
                    <a:pt x="850" y="0"/>
                  </a:cubicBezTo>
                  <a:cubicBezTo>
                    <a:pt x="875" y="0"/>
                    <a:pt x="897" y="21"/>
                    <a:pt x="897" y="47"/>
                  </a:cubicBezTo>
                  <a:close/>
                  <a:moveTo>
                    <a:pt x="997" y="47"/>
                  </a:moveTo>
                  <a:cubicBezTo>
                    <a:pt x="997" y="72"/>
                    <a:pt x="975" y="94"/>
                    <a:pt x="950" y="94"/>
                  </a:cubicBezTo>
                  <a:cubicBezTo>
                    <a:pt x="924" y="94"/>
                    <a:pt x="903" y="72"/>
                    <a:pt x="903" y="47"/>
                  </a:cubicBezTo>
                  <a:cubicBezTo>
                    <a:pt x="903" y="21"/>
                    <a:pt x="924" y="0"/>
                    <a:pt x="950" y="0"/>
                  </a:cubicBezTo>
                  <a:cubicBezTo>
                    <a:pt x="975" y="0"/>
                    <a:pt x="997" y="21"/>
                    <a:pt x="997" y="47"/>
                  </a:cubicBezTo>
                  <a:close/>
                  <a:moveTo>
                    <a:pt x="1097" y="47"/>
                  </a:moveTo>
                  <a:cubicBezTo>
                    <a:pt x="1097" y="72"/>
                    <a:pt x="1075" y="94"/>
                    <a:pt x="1050" y="94"/>
                  </a:cubicBezTo>
                  <a:cubicBezTo>
                    <a:pt x="1024" y="94"/>
                    <a:pt x="1003" y="72"/>
                    <a:pt x="1003" y="47"/>
                  </a:cubicBezTo>
                  <a:cubicBezTo>
                    <a:pt x="1003" y="21"/>
                    <a:pt x="1024" y="0"/>
                    <a:pt x="1050" y="0"/>
                  </a:cubicBezTo>
                  <a:cubicBezTo>
                    <a:pt x="1075" y="0"/>
                    <a:pt x="1097" y="21"/>
                    <a:pt x="1097" y="47"/>
                  </a:cubicBezTo>
                  <a:close/>
                  <a:moveTo>
                    <a:pt x="1197" y="47"/>
                  </a:moveTo>
                  <a:cubicBezTo>
                    <a:pt x="1197" y="72"/>
                    <a:pt x="1175" y="94"/>
                    <a:pt x="1150" y="94"/>
                  </a:cubicBezTo>
                  <a:cubicBezTo>
                    <a:pt x="1124" y="94"/>
                    <a:pt x="1103" y="72"/>
                    <a:pt x="1103" y="47"/>
                  </a:cubicBezTo>
                  <a:cubicBezTo>
                    <a:pt x="1103" y="21"/>
                    <a:pt x="1124" y="0"/>
                    <a:pt x="1150" y="0"/>
                  </a:cubicBezTo>
                  <a:cubicBezTo>
                    <a:pt x="1175" y="0"/>
                    <a:pt x="1197" y="21"/>
                    <a:pt x="1197" y="47"/>
                  </a:cubicBezTo>
                  <a:close/>
                  <a:moveTo>
                    <a:pt x="1297" y="47"/>
                  </a:moveTo>
                  <a:cubicBezTo>
                    <a:pt x="1297" y="72"/>
                    <a:pt x="1275" y="94"/>
                    <a:pt x="1250" y="94"/>
                  </a:cubicBezTo>
                  <a:cubicBezTo>
                    <a:pt x="1224" y="94"/>
                    <a:pt x="1203" y="72"/>
                    <a:pt x="1203" y="47"/>
                  </a:cubicBezTo>
                  <a:cubicBezTo>
                    <a:pt x="1203" y="21"/>
                    <a:pt x="1224" y="0"/>
                    <a:pt x="1250" y="0"/>
                  </a:cubicBezTo>
                  <a:cubicBezTo>
                    <a:pt x="1275" y="0"/>
                    <a:pt x="1297" y="21"/>
                    <a:pt x="1297" y="47"/>
                  </a:cubicBezTo>
                  <a:close/>
                  <a:moveTo>
                    <a:pt x="1397" y="47"/>
                  </a:moveTo>
                  <a:cubicBezTo>
                    <a:pt x="1397" y="72"/>
                    <a:pt x="1375" y="94"/>
                    <a:pt x="1350" y="94"/>
                  </a:cubicBezTo>
                  <a:cubicBezTo>
                    <a:pt x="1324" y="94"/>
                    <a:pt x="1303" y="72"/>
                    <a:pt x="1303" y="47"/>
                  </a:cubicBezTo>
                  <a:cubicBezTo>
                    <a:pt x="1303" y="21"/>
                    <a:pt x="1324" y="0"/>
                    <a:pt x="1350" y="0"/>
                  </a:cubicBezTo>
                  <a:cubicBezTo>
                    <a:pt x="1375" y="0"/>
                    <a:pt x="1397" y="21"/>
                    <a:pt x="1397" y="47"/>
                  </a:cubicBezTo>
                  <a:close/>
                  <a:moveTo>
                    <a:pt x="1497" y="47"/>
                  </a:moveTo>
                  <a:cubicBezTo>
                    <a:pt x="1497" y="72"/>
                    <a:pt x="1475" y="94"/>
                    <a:pt x="1450" y="94"/>
                  </a:cubicBezTo>
                  <a:cubicBezTo>
                    <a:pt x="1424" y="94"/>
                    <a:pt x="1403" y="72"/>
                    <a:pt x="1403" y="47"/>
                  </a:cubicBezTo>
                  <a:cubicBezTo>
                    <a:pt x="1403" y="21"/>
                    <a:pt x="1424" y="0"/>
                    <a:pt x="1450" y="0"/>
                  </a:cubicBezTo>
                  <a:cubicBezTo>
                    <a:pt x="1475" y="0"/>
                    <a:pt x="1497" y="21"/>
                    <a:pt x="1497" y="47"/>
                  </a:cubicBezTo>
                  <a:close/>
                  <a:moveTo>
                    <a:pt x="1597" y="47"/>
                  </a:moveTo>
                  <a:cubicBezTo>
                    <a:pt x="1597" y="72"/>
                    <a:pt x="1575" y="94"/>
                    <a:pt x="1550" y="94"/>
                  </a:cubicBezTo>
                  <a:cubicBezTo>
                    <a:pt x="1524" y="94"/>
                    <a:pt x="1503" y="72"/>
                    <a:pt x="1503" y="47"/>
                  </a:cubicBezTo>
                  <a:cubicBezTo>
                    <a:pt x="1503" y="21"/>
                    <a:pt x="1524" y="0"/>
                    <a:pt x="1550" y="0"/>
                  </a:cubicBezTo>
                  <a:cubicBezTo>
                    <a:pt x="1575" y="0"/>
                    <a:pt x="1597" y="21"/>
                    <a:pt x="1597" y="47"/>
                  </a:cubicBezTo>
                  <a:close/>
                  <a:moveTo>
                    <a:pt x="1697" y="47"/>
                  </a:moveTo>
                  <a:cubicBezTo>
                    <a:pt x="1697" y="72"/>
                    <a:pt x="1675" y="94"/>
                    <a:pt x="1650" y="94"/>
                  </a:cubicBezTo>
                  <a:cubicBezTo>
                    <a:pt x="1624" y="94"/>
                    <a:pt x="1603" y="72"/>
                    <a:pt x="1603" y="47"/>
                  </a:cubicBezTo>
                  <a:cubicBezTo>
                    <a:pt x="1603" y="21"/>
                    <a:pt x="1624" y="0"/>
                    <a:pt x="1650" y="0"/>
                  </a:cubicBezTo>
                  <a:cubicBezTo>
                    <a:pt x="1675" y="0"/>
                    <a:pt x="1697" y="21"/>
                    <a:pt x="1697" y="47"/>
                  </a:cubicBezTo>
                  <a:close/>
                  <a:moveTo>
                    <a:pt x="1797" y="47"/>
                  </a:moveTo>
                  <a:cubicBezTo>
                    <a:pt x="1797" y="72"/>
                    <a:pt x="1775" y="94"/>
                    <a:pt x="1750" y="94"/>
                  </a:cubicBezTo>
                  <a:cubicBezTo>
                    <a:pt x="1724" y="94"/>
                    <a:pt x="1703" y="72"/>
                    <a:pt x="1703" y="47"/>
                  </a:cubicBezTo>
                  <a:cubicBezTo>
                    <a:pt x="1703" y="21"/>
                    <a:pt x="1724" y="0"/>
                    <a:pt x="1750" y="0"/>
                  </a:cubicBezTo>
                  <a:cubicBezTo>
                    <a:pt x="1775" y="0"/>
                    <a:pt x="1797" y="21"/>
                    <a:pt x="1797" y="47"/>
                  </a:cubicBezTo>
                  <a:close/>
                  <a:moveTo>
                    <a:pt x="1897" y="47"/>
                  </a:moveTo>
                  <a:cubicBezTo>
                    <a:pt x="1897" y="72"/>
                    <a:pt x="1875" y="94"/>
                    <a:pt x="1850" y="94"/>
                  </a:cubicBezTo>
                  <a:cubicBezTo>
                    <a:pt x="1824" y="94"/>
                    <a:pt x="1803" y="72"/>
                    <a:pt x="1803" y="47"/>
                  </a:cubicBezTo>
                  <a:cubicBezTo>
                    <a:pt x="1803" y="21"/>
                    <a:pt x="1824" y="0"/>
                    <a:pt x="1850" y="0"/>
                  </a:cubicBezTo>
                  <a:cubicBezTo>
                    <a:pt x="1875" y="0"/>
                    <a:pt x="1897" y="21"/>
                    <a:pt x="1897" y="47"/>
                  </a:cubicBezTo>
                  <a:close/>
                  <a:moveTo>
                    <a:pt x="1997" y="47"/>
                  </a:moveTo>
                  <a:cubicBezTo>
                    <a:pt x="1997" y="72"/>
                    <a:pt x="1975" y="94"/>
                    <a:pt x="1950" y="94"/>
                  </a:cubicBezTo>
                  <a:cubicBezTo>
                    <a:pt x="1924" y="94"/>
                    <a:pt x="1903" y="72"/>
                    <a:pt x="1903" y="47"/>
                  </a:cubicBezTo>
                  <a:cubicBezTo>
                    <a:pt x="1903" y="21"/>
                    <a:pt x="1924" y="0"/>
                    <a:pt x="1950" y="0"/>
                  </a:cubicBezTo>
                  <a:cubicBezTo>
                    <a:pt x="1975" y="0"/>
                    <a:pt x="1997" y="21"/>
                    <a:pt x="1997" y="47"/>
                  </a:cubicBezTo>
                  <a:close/>
                  <a:moveTo>
                    <a:pt x="2097" y="47"/>
                  </a:moveTo>
                  <a:cubicBezTo>
                    <a:pt x="2097" y="72"/>
                    <a:pt x="2075" y="94"/>
                    <a:pt x="2050" y="94"/>
                  </a:cubicBezTo>
                  <a:cubicBezTo>
                    <a:pt x="2024" y="94"/>
                    <a:pt x="2003" y="72"/>
                    <a:pt x="2003" y="47"/>
                  </a:cubicBezTo>
                  <a:cubicBezTo>
                    <a:pt x="2003" y="21"/>
                    <a:pt x="2024" y="0"/>
                    <a:pt x="2050" y="0"/>
                  </a:cubicBezTo>
                  <a:cubicBezTo>
                    <a:pt x="2075" y="0"/>
                    <a:pt x="2097" y="21"/>
                    <a:pt x="2097" y="47"/>
                  </a:cubicBezTo>
                  <a:close/>
                  <a:moveTo>
                    <a:pt x="2197" y="47"/>
                  </a:moveTo>
                  <a:cubicBezTo>
                    <a:pt x="2197" y="72"/>
                    <a:pt x="2175" y="94"/>
                    <a:pt x="2150" y="94"/>
                  </a:cubicBezTo>
                  <a:cubicBezTo>
                    <a:pt x="2124" y="94"/>
                    <a:pt x="2103" y="72"/>
                    <a:pt x="2103" y="47"/>
                  </a:cubicBezTo>
                  <a:cubicBezTo>
                    <a:pt x="2103" y="21"/>
                    <a:pt x="2124" y="0"/>
                    <a:pt x="2150" y="0"/>
                  </a:cubicBezTo>
                  <a:cubicBezTo>
                    <a:pt x="2175" y="0"/>
                    <a:pt x="2197" y="21"/>
                    <a:pt x="2197" y="47"/>
                  </a:cubicBezTo>
                  <a:close/>
                  <a:moveTo>
                    <a:pt x="2297" y="47"/>
                  </a:moveTo>
                  <a:cubicBezTo>
                    <a:pt x="2297" y="72"/>
                    <a:pt x="2275" y="94"/>
                    <a:pt x="2250" y="94"/>
                  </a:cubicBezTo>
                  <a:cubicBezTo>
                    <a:pt x="2224" y="94"/>
                    <a:pt x="2203" y="72"/>
                    <a:pt x="2203" y="47"/>
                  </a:cubicBezTo>
                  <a:cubicBezTo>
                    <a:pt x="2203" y="21"/>
                    <a:pt x="2224" y="0"/>
                    <a:pt x="2250" y="0"/>
                  </a:cubicBezTo>
                  <a:cubicBezTo>
                    <a:pt x="2275" y="0"/>
                    <a:pt x="2297" y="21"/>
                    <a:pt x="2297" y="47"/>
                  </a:cubicBezTo>
                  <a:close/>
                  <a:moveTo>
                    <a:pt x="2397" y="47"/>
                  </a:moveTo>
                  <a:cubicBezTo>
                    <a:pt x="2397" y="72"/>
                    <a:pt x="2375" y="94"/>
                    <a:pt x="2350" y="94"/>
                  </a:cubicBezTo>
                  <a:cubicBezTo>
                    <a:pt x="2324" y="94"/>
                    <a:pt x="2303" y="72"/>
                    <a:pt x="2303" y="47"/>
                  </a:cubicBezTo>
                  <a:cubicBezTo>
                    <a:pt x="2303" y="21"/>
                    <a:pt x="2324" y="0"/>
                    <a:pt x="2350" y="0"/>
                  </a:cubicBezTo>
                  <a:cubicBezTo>
                    <a:pt x="2375" y="0"/>
                    <a:pt x="2397" y="21"/>
                    <a:pt x="2397" y="47"/>
                  </a:cubicBezTo>
                  <a:close/>
                  <a:moveTo>
                    <a:pt x="2497" y="47"/>
                  </a:moveTo>
                  <a:cubicBezTo>
                    <a:pt x="2497" y="72"/>
                    <a:pt x="2475" y="94"/>
                    <a:pt x="2450" y="94"/>
                  </a:cubicBezTo>
                  <a:cubicBezTo>
                    <a:pt x="2424" y="94"/>
                    <a:pt x="2403" y="72"/>
                    <a:pt x="2403" y="47"/>
                  </a:cubicBezTo>
                  <a:cubicBezTo>
                    <a:pt x="2403" y="21"/>
                    <a:pt x="2424" y="0"/>
                    <a:pt x="2450" y="0"/>
                  </a:cubicBezTo>
                  <a:cubicBezTo>
                    <a:pt x="2475" y="0"/>
                    <a:pt x="2497" y="21"/>
                    <a:pt x="2497" y="47"/>
                  </a:cubicBezTo>
                  <a:close/>
                  <a:moveTo>
                    <a:pt x="2597" y="47"/>
                  </a:moveTo>
                  <a:cubicBezTo>
                    <a:pt x="2597" y="72"/>
                    <a:pt x="2575" y="94"/>
                    <a:pt x="2550" y="94"/>
                  </a:cubicBezTo>
                  <a:cubicBezTo>
                    <a:pt x="2524" y="94"/>
                    <a:pt x="2503" y="72"/>
                    <a:pt x="2503" y="47"/>
                  </a:cubicBezTo>
                  <a:cubicBezTo>
                    <a:pt x="2503" y="21"/>
                    <a:pt x="2524" y="0"/>
                    <a:pt x="2550" y="0"/>
                  </a:cubicBezTo>
                  <a:cubicBezTo>
                    <a:pt x="2575" y="0"/>
                    <a:pt x="2597" y="21"/>
                    <a:pt x="2597" y="47"/>
                  </a:cubicBezTo>
                  <a:close/>
                  <a:moveTo>
                    <a:pt x="2697" y="47"/>
                  </a:moveTo>
                  <a:cubicBezTo>
                    <a:pt x="2697" y="72"/>
                    <a:pt x="2675" y="94"/>
                    <a:pt x="2650" y="94"/>
                  </a:cubicBezTo>
                  <a:cubicBezTo>
                    <a:pt x="2624" y="94"/>
                    <a:pt x="2603" y="72"/>
                    <a:pt x="2603" y="47"/>
                  </a:cubicBezTo>
                  <a:cubicBezTo>
                    <a:pt x="2603" y="21"/>
                    <a:pt x="2624" y="0"/>
                    <a:pt x="2650" y="0"/>
                  </a:cubicBezTo>
                  <a:cubicBezTo>
                    <a:pt x="2675" y="0"/>
                    <a:pt x="2697" y="21"/>
                    <a:pt x="2697" y="47"/>
                  </a:cubicBezTo>
                  <a:close/>
                  <a:moveTo>
                    <a:pt x="2797" y="47"/>
                  </a:moveTo>
                  <a:cubicBezTo>
                    <a:pt x="2797" y="72"/>
                    <a:pt x="2775" y="94"/>
                    <a:pt x="2750" y="94"/>
                  </a:cubicBezTo>
                  <a:cubicBezTo>
                    <a:pt x="2724" y="94"/>
                    <a:pt x="2703" y="72"/>
                    <a:pt x="2703" y="47"/>
                  </a:cubicBezTo>
                  <a:cubicBezTo>
                    <a:pt x="2703" y="21"/>
                    <a:pt x="2724" y="0"/>
                    <a:pt x="2750" y="0"/>
                  </a:cubicBezTo>
                  <a:cubicBezTo>
                    <a:pt x="2775" y="0"/>
                    <a:pt x="2797" y="21"/>
                    <a:pt x="2797" y="47"/>
                  </a:cubicBezTo>
                  <a:close/>
                  <a:moveTo>
                    <a:pt x="2897" y="47"/>
                  </a:moveTo>
                  <a:cubicBezTo>
                    <a:pt x="2897" y="72"/>
                    <a:pt x="2875" y="94"/>
                    <a:pt x="2850" y="94"/>
                  </a:cubicBezTo>
                  <a:cubicBezTo>
                    <a:pt x="2824" y="94"/>
                    <a:pt x="2803" y="72"/>
                    <a:pt x="2803" y="47"/>
                  </a:cubicBezTo>
                  <a:cubicBezTo>
                    <a:pt x="2803" y="21"/>
                    <a:pt x="2824" y="0"/>
                    <a:pt x="2850" y="0"/>
                  </a:cubicBezTo>
                  <a:cubicBezTo>
                    <a:pt x="2875" y="0"/>
                    <a:pt x="2897" y="21"/>
                    <a:pt x="2897" y="47"/>
                  </a:cubicBezTo>
                  <a:close/>
                  <a:moveTo>
                    <a:pt x="2997" y="47"/>
                  </a:moveTo>
                  <a:cubicBezTo>
                    <a:pt x="2997" y="72"/>
                    <a:pt x="2975" y="94"/>
                    <a:pt x="2950" y="94"/>
                  </a:cubicBezTo>
                  <a:cubicBezTo>
                    <a:pt x="2924" y="94"/>
                    <a:pt x="2903" y="72"/>
                    <a:pt x="2903" y="47"/>
                  </a:cubicBezTo>
                  <a:cubicBezTo>
                    <a:pt x="2903" y="21"/>
                    <a:pt x="2924" y="0"/>
                    <a:pt x="2950" y="0"/>
                  </a:cubicBezTo>
                  <a:cubicBezTo>
                    <a:pt x="2975" y="0"/>
                    <a:pt x="2997" y="21"/>
                    <a:pt x="2997" y="47"/>
                  </a:cubicBezTo>
                  <a:close/>
                  <a:moveTo>
                    <a:pt x="3097" y="47"/>
                  </a:moveTo>
                  <a:cubicBezTo>
                    <a:pt x="3097" y="72"/>
                    <a:pt x="3075" y="94"/>
                    <a:pt x="3050" y="94"/>
                  </a:cubicBezTo>
                  <a:cubicBezTo>
                    <a:pt x="3024" y="94"/>
                    <a:pt x="3003" y="72"/>
                    <a:pt x="3003" y="47"/>
                  </a:cubicBezTo>
                  <a:cubicBezTo>
                    <a:pt x="3003" y="21"/>
                    <a:pt x="3024" y="0"/>
                    <a:pt x="3050" y="0"/>
                  </a:cubicBezTo>
                  <a:cubicBezTo>
                    <a:pt x="3075" y="0"/>
                    <a:pt x="3097" y="21"/>
                    <a:pt x="3097" y="47"/>
                  </a:cubicBezTo>
                  <a:close/>
                  <a:moveTo>
                    <a:pt x="3197" y="47"/>
                  </a:moveTo>
                  <a:cubicBezTo>
                    <a:pt x="3197" y="72"/>
                    <a:pt x="3175" y="94"/>
                    <a:pt x="3150" y="94"/>
                  </a:cubicBezTo>
                  <a:cubicBezTo>
                    <a:pt x="3124" y="94"/>
                    <a:pt x="3103" y="72"/>
                    <a:pt x="3103" y="47"/>
                  </a:cubicBezTo>
                  <a:cubicBezTo>
                    <a:pt x="3103" y="21"/>
                    <a:pt x="3124" y="0"/>
                    <a:pt x="3150" y="0"/>
                  </a:cubicBezTo>
                  <a:cubicBezTo>
                    <a:pt x="3175" y="0"/>
                    <a:pt x="3197" y="21"/>
                    <a:pt x="3197" y="47"/>
                  </a:cubicBezTo>
                  <a:close/>
                  <a:moveTo>
                    <a:pt x="3297" y="47"/>
                  </a:moveTo>
                  <a:cubicBezTo>
                    <a:pt x="3297" y="72"/>
                    <a:pt x="3275" y="94"/>
                    <a:pt x="3250" y="94"/>
                  </a:cubicBezTo>
                  <a:cubicBezTo>
                    <a:pt x="3224" y="94"/>
                    <a:pt x="3203" y="72"/>
                    <a:pt x="3203" y="47"/>
                  </a:cubicBezTo>
                  <a:cubicBezTo>
                    <a:pt x="3203" y="21"/>
                    <a:pt x="3224" y="0"/>
                    <a:pt x="3250" y="0"/>
                  </a:cubicBezTo>
                  <a:cubicBezTo>
                    <a:pt x="3275" y="0"/>
                    <a:pt x="3297" y="21"/>
                    <a:pt x="3297" y="47"/>
                  </a:cubicBezTo>
                  <a:close/>
                  <a:moveTo>
                    <a:pt x="3397" y="47"/>
                  </a:moveTo>
                  <a:cubicBezTo>
                    <a:pt x="3397" y="72"/>
                    <a:pt x="3375" y="94"/>
                    <a:pt x="3350" y="94"/>
                  </a:cubicBezTo>
                  <a:cubicBezTo>
                    <a:pt x="3324" y="94"/>
                    <a:pt x="3303" y="72"/>
                    <a:pt x="3303" y="47"/>
                  </a:cubicBezTo>
                  <a:cubicBezTo>
                    <a:pt x="3303" y="21"/>
                    <a:pt x="3324" y="0"/>
                    <a:pt x="3350" y="0"/>
                  </a:cubicBezTo>
                  <a:cubicBezTo>
                    <a:pt x="3375" y="0"/>
                    <a:pt x="3397" y="21"/>
                    <a:pt x="3397" y="47"/>
                  </a:cubicBezTo>
                  <a:close/>
                  <a:moveTo>
                    <a:pt x="3497" y="47"/>
                  </a:moveTo>
                  <a:cubicBezTo>
                    <a:pt x="3497" y="72"/>
                    <a:pt x="3475" y="94"/>
                    <a:pt x="3450" y="94"/>
                  </a:cubicBezTo>
                  <a:cubicBezTo>
                    <a:pt x="3424" y="94"/>
                    <a:pt x="3403" y="72"/>
                    <a:pt x="3403" y="47"/>
                  </a:cubicBezTo>
                  <a:cubicBezTo>
                    <a:pt x="3403" y="21"/>
                    <a:pt x="3424" y="0"/>
                    <a:pt x="3450" y="0"/>
                  </a:cubicBezTo>
                  <a:cubicBezTo>
                    <a:pt x="3475" y="0"/>
                    <a:pt x="3497" y="21"/>
                    <a:pt x="3497" y="47"/>
                  </a:cubicBezTo>
                  <a:close/>
                  <a:moveTo>
                    <a:pt x="3597" y="47"/>
                  </a:moveTo>
                  <a:cubicBezTo>
                    <a:pt x="3597" y="72"/>
                    <a:pt x="3575" y="94"/>
                    <a:pt x="3550" y="94"/>
                  </a:cubicBezTo>
                  <a:cubicBezTo>
                    <a:pt x="3524" y="94"/>
                    <a:pt x="3503" y="72"/>
                    <a:pt x="3503" y="47"/>
                  </a:cubicBezTo>
                  <a:cubicBezTo>
                    <a:pt x="3503" y="21"/>
                    <a:pt x="3524" y="0"/>
                    <a:pt x="3550" y="0"/>
                  </a:cubicBezTo>
                  <a:cubicBezTo>
                    <a:pt x="3575" y="0"/>
                    <a:pt x="3597" y="21"/>
                    <a:pt x="3597" y="47"/>
                  </a:cubicBezTo>
                  <a:close/>
                  <a:moveTo>
                    <a:pt x="3697" y="47"/>
                  </a:moveTo>
                  <a:cubicBezTo>
                    <a:pt x="3697" y="72"/>
                    <a:pt x="3675" y="94"/>
                    <a:pt x="3650" y="94"/>
                  </a:cubicBezTo>
                  <a:cubicBezTo>
                    <a:pt x="3624" y="94"/>
                    <a:pt x="3603" y="72"/>
                    <a:pt x="3603" y="47"/>
                  </a:cubicBezTo>
                  <a:cubicBezTo>
                    <a:pt x="3603" y="21"/>
                    <a:pt x="3624" y="0"/>
                    <a:pt x="3650" y="0"/>
                  </a:cubicBezTo>
                  <a:cubicBezTo>
                    <a:pt x="3675" y="0"/>
                    <a:pt x="3697" y="21"/>
                    <a:pt x="3697" y="47"/>
                  </a:cubicBezTo>
                  <a:close/>
                  <a:moveTo>
                    <a:pt x="3797" y="47"/>
                  </a:moveTo>
                  <a:cubicBezTo>
                    <a:pt x="3797" y="72"/>
                    <a:pt x="3775" y="94"/>
                    <a:pt x="3750" y="94"/>
                  </a:cubicBezTo>
                  <a:cubicBezTo>
                    <a:pt x="3724" y="94"/>
                    <a:pt x="3703" y="72"/>
                    <a:pt x="3703" y="47"/>
                  </a:cubicBezTo>
                  <a:cubicBezTo>
                    <a:pt x="3703" y="21"/>
                    <a:pt x="3724" y="0"/>
                    <a:pt x="3750" y="0"/>
                  </a:cubicBezTo>
                  <a:cubicBezTo>
                    <a:pt x="3775" y="0"/>
                    <a:pt x="3797" y="21"/>
                    <a:pt x="3797" y="47"/>
                  </a:cubicBezTo>
                  <a:close/>
                  <a:moveTo>
                    <a:pt x="3897" y="47"/>
                  </a:moveTo>
                  <a:cubicBezTo>
                    <a:pt x="3897" y="72"/>
                    <a:pt x="3875" y="94"/>
                    <a:pt x="3850" y="94"/>
                  </a:cubicBezTo>
                  <a:cubicBezTo>
                    <a:pt x="3824" y="94"/>
                    <a:pt x="3803" y="72"/>
                    <a:pt x="3803" y="47"/>
                  </a:cubicBezTo>
                  <a:cubicBezTo>
                    <a:pt x="3803" y="21"/>
                    <a:pt x="3824" y="0"/>
                    <a:pt x="3850" y="0"/>
                  </a:cubicBezTo>
                  <a:cubicBezTo>
                    <a:pt x="3875" y="0"/>
                    <a:pt x="3897" y="21"/>
                    <a:pt x="3897" y="47"/>
                  </a:cubicBezTo>
                  <a:close/>
                  <a:moveTo>
                    <a:pt x="3997" y="47"/>
                  </a:moveTo>
                  <a:cubicBezTo>
                    <a:pt x="3997" y="72"/>
                    <a:pt x="3975" y="94"/>
                    <a:pt x="3950" y="94"/>
                  </a:cubicBezTo>
                  <a:cubicBezTo>
                    <a:pt x="3924" y="94"/>
                    <a:pt x="3903" y="72"/>
                    <a:pt x="3903" y="47"/>
                  </a:cubicBezTo>
                  <a:cubicBezTo>
                    <a:pt x="3903" y="21"/>
                    <a:pt x="3924" y="0"/>
                    <a:pt x="3950" y="0"/>
                  </a:cubicBezTo>
                  <a:cubicBezTo>
                    <a:pt x="3975" y="0"/>
                    <a:pt x="3997" y="21"/>
                    <a:pt x="3997" y="47"/>
                  </a:cubicBezTo>
                  <a:close/>
                  <a:moveTo>
                    <a:pt x="4097" y="47"/>
                  </a:moveTo>
                  <a:cubicBezTo>
                    <a:pt x="4097" y="72"/>
                    <a:pt x="4075" y="94"/>
                    <a:pt x="4050" y="94"/>
                  </a:cubicBezTo>
                  <a:cubicBezTo>
                    <a:pt x="4024" y="94"/>
                    <a:pt x="4003" y="72"/>
                    <a:pt x="4003" y="47"/>
                  </a:cubicBezTo>
                  <a:cubicBezTo>
                    <a:pt x="4003" y="21"/>
                    <a:pt x="4024" y="0"/>
                    <a:pt x="4050" y="0"/>
                  </a:cubicBezTo>
                  <a:cubicBezTo>
                    <a:pt x="4075" y="0"/>
                    <a:pt x="4097" y="21"/>
                    <a:pt x="4097" y="47"/>
                  </a:cubicBezTo>
                  <a:close/>
                  <a:moveTo>
                    <a:pt x="4197" y="47"/>
                  </a:moveTo>
                  <a:cubicBezTo>
                    <a:pt x="4197" y="72"/>
                    <a:pt x="4175" y="94"/>
                    <a:pt x="4150" y="94"/>
                  </a:cubicBezTo>
                  <a:cubicBezTo>
                    <a:pt x="4124" y="94"/>
                    <a:pt x="4103" y="72"/>
                    <a:pt x="4103" y="47"/>
                  </a:cubicBezTo>
                  <a:cubicBezTo>
                    <a:pt x="4103" y="21"/>
                    <a:pt x="4124" y="0"/>
                    <a:pt x="4150" y="0"/>
                  </a:cubicBezTo>
                  <a:cubicBezTo>
                    <a:pt x="4175" y="0"/>
                    <a:pt x="4197" y="21"/>
                    <a:pt x="4197" y="47"/>
                  </a:cubicBezTo>
                  <a:close/>
                  <a:moveTo>
                    <a:pt x="4297" y="47"/>
                  </a:moveTo>
                  <a:cubicBezTo>
                    <a:pt x="4297" y="72"/>
                    <a:pt x="4275" y="94"/>
                    <a:pt x="4250" y="94"/>
                  </a:cubicBezTo>
                  <a:cubicBezTo>
                    <a:pt x="4224" y="94"/>
                    <a:pt x="4203" y="72"/>
                    <a:pt x="4203" y="47"/>
                  </a:cubicBezTo>
                  <a:cubicBezTo>
                    <a:pt x="4203" y="21"/>
                    <a:pt x="4224" y="0"/>
                    <a:pt x="4250" y="0"/>
                  </a:cubicBezTo>
                  <a:cubicBezTo>
                    <a:pt x="4275" y="0"/>
                    <a:pt x="4297" y="21"/>
                    <a:pt x="4297" y="47"/>
                  </a:cubicBezTo>
                  <a:close/>
                  <a:moveTo>
                    <a:pt x="4397" y="47"/>
                  </a:moveTo>
                  <a:cubicBezTo>
                    <a:pt x="4397" y="72"/>
                    <a:pt x="4375" y="94"/>
                    <a:pt x="4350" y="94"/>
                  </a:cubicBezTo>
                  <a:cubicBezTo>
                    <a:pt x="4324" y="94"/>
                    <a:pt x="4303" y="72"/>
                    <a:pt x="4303" y="47"/>
                  </a:cubicBezTo>
                  <a:cubicBezTo>
                    <a:pt x="4303" y="21"/>
                    <a:pt x="4324" y="0"/>
                    <a:pt x="4350" y="0"/>
                  </a:cubicBezTo>
                  <a:cubicBezTo>
                    <a:pt x="4375" y="0"/>
                    <a:pt x="4397" y="21"/>
                    <a:pt x="4397" y="47"/>
                  </a:cubicBezTo>
                  <a:close/>
                  <a:moveTo>
                    <a:pt x="4497" y="47"/>
                  </a:moveTo>
                  <a:cubicBezTo>
                    <a:pt x="4497" y="72"/>
                    <a:pt x="4475" y="94"/>
                    <a:pt x="4450" y="94"/>
                  </a:cubicBezTo>
                  <a:cubicBezTo>
                    <a:pt x="4424" y="94"/>
                    <a:pt x="4403" y="72"/>
                    <a:pt x="4403" y="47"/>
                  </a:cubicBezTo>
                  <a:cubicBezTo>
                    <a:pt x="4403" y="21"/>
                    <a:pt x="4424" y="0"/>
                    <a:pt x="4450" y="0"/>
                  </a:cubicBezTo>
                  <a:cubicBezTo>
                    <a:pt x="4475" y="0"/>
                    <a:pt x="4497" y="21"/>
                    <a:pt x="4497" y="47"/>
                  </a:cubicBezTo>
                  <a:close/>
                  <a:moveTo>
                    <a:pt x="4597" y="47"/>
                  </a:moveTo>
                  <a:cubicBezTo>
                    <a:pt x="4597" y="72"/>
                    <a:pt x="4575" y="94"/>
                    <a:pt x="4550" y="94"/>
                  </a:cubicBezTo>
                  <a:cubicBezTo>
                    <a:pt x="4524" y="94"/>
                    <a:pt x="4503" y="72"/>
                    <a:pt x="4503" y="47"/>
                  </a:cubicBezTo>
                  <a:cubicBezTo>
                    <a:pt x="4503" y="21"/>
                    <a:pt x="4524" y="0"/>
                    <a:pt x="4550" y="0"/>
                  </a:cubicBezTo>
                  <a:cubicBezTo>
                    <a:pt x="4575" y="0"/>
                    <a:pt x="4597" y="21"/>
                    <a:pt x="4597" y="47"/>
                  </a:cubicBezTo>
                  <a:close/>
                  <a:moveTo>
                    <a:pt x="4697" y="47"/>
                  </a:moveTo>
                  <a:cubicBezTo>
                    <a:pt x="4697" y="72"/>
                    <a:pt x="4675" y="94"/>
                    <a:pt x="4650" y="94"/>
                  </a:cubicBezTo>
                  <a:cubicBezTo>
                    <a:pt x="4624" y="94"/>
                    <a:pt x="4603" y="72"/>
                    <a:pt x="4603" y="47"/>
                  </a:cubicBezTo>
                  <a:cubicBezTo>
                    <a:pt x="4603" y="21"/>
                    <a:pt x="4624" y="0"/>
                    <a:pt x="4650" y="0"/>
                  </a:cubicBezTo>
                  <a:cubicBezTo>
                    <a:pt x="4675" y="0"/>
                    <a:pt x="4697" y="21"/>
                    <a:pt x="4697" y="47"/>
                  </a:cubicBezTo>
                  <a:close/>
                  <a:moveTo>
                    <a:pt x="4797" y="47"/>
                  </a:moveTo>
                  <a:cubicBezTo>
                    <a:pt x="4797" y="72"/>
                    <a:pt x="4775" y="94"/>
                    <a:pt x="4750" y="94"/>
                  </a:cubicBezTo>
                  <a:cubicBezTo>
                    <a:pt x="4724" y="94"/>
                    <a:pt x="4703" y="72"/>
                    <a:pt x="4703" y="47"/>
                  </a:cubicBezTo>
                  <a:cubicBezTo>
                    <a:pt x="4703" y="21"/>
                    <a:pt x="4724" y="0"/>
                    <a:pt x="4750" y="0"/>
                  </a:cubicBezTo>
                  <a:cubicBezTo>
                    <a:pt x="4775" y="0"/>
                    <a:pt x="4797" y="21"/>
                    <a:pt x="4797" y="47"/>
                  </a:cubicBezTo>
                  <a:close/>
                  <a:moveTo>
                    <a:pt x="4897" y="47"/>
                  </a:moveTo>
                  <a:cubicBezTo>
                    <a:pt x="4897" y="72"/>
                    <a:pt x="4875" y="94"/>
                    <a:pt x="4850" y="94"/>
                  </a:cubicBezTo>
                  <a:cubicBezTo>
                    <a:pt x="4824" y="94"/>
                    <a:pt x="4803" y="72"/>
                    <a:pt x="4803" y="47"/>
                  </a:cubicBezTo>
                  <a:cubicBezTo>
                    <a:pt x="4803" y="21"/>
                    <a:pt x="4824" y="0"/>
                    <a:pt x="4850" y="0"/>
                  </a:cubicBezTo>
                  <a:cubicBezTo>
                    <a:pt x="4875" y="0"/>
                    <a:pt x="4897" y="21"/>
                    <a:pt x="4897" y="47"/>
                  </a:cubicBezTo>
                  <a:close/>
                  <a:moveTo>
                    <a:pt x="4997" y="47"/>
                  </a:moveTo>
                  <a:cubicBezTo>
                    <a:pt x="4997" y="72"/>
                    <a:pt x="4975" y="94"/>
                    <a:pt x="4950" y="94"/>
                  </a:cubicBezTo>
                  <a:cubicBezTo>
                    <a:pt x="4924" y="94"/>
                    <a:pt x="4903" y="72"/>
                    <a:pt x="4903" y="47"/>
                  </a:cubicBezTo>
                  <a:cubicBezTo>
                    <a:pt x="4903" y="21"/>
                    <a:pt x="4924" y="0"/>
                    <a:pt x="4950" y="0"/>
                  </a:cubicBezTo>
                  <a:cubicBezTo>
                    <a:pt x="4975" y="0"/>
                    <a:pt x="4997" y="21"/>
                    <a:pt x="4997" y="47"/>
                  </a:cubicBezTo>
                  <a:close/>
                  <a:moveTo>
                    <a:pt x="5097" y="47"/>
                  </a:moveTo>
                  <a:cubicBezTo>
                    <a:pt x="5097" y="72"/>
                    <a:pt x="5075" y="94"/>
                    <a:pt x="5050" y="94"/>
                  </a:cubicBezTo>
                  <a:cubicBezTo>
                    <a:pt x="5024" y="94"/>
                    <a:pt x="5003" y="72"/>
                    <a:pt x="5003" y="47"/>
                  </a:cubicBezTo>
                  <a:cubicBezTo>
                    <a:pt x="5003" y="21"/>
                    <a:pt x="5024" y="0"/>
                    <a:pt x="5050" y="0"/>
                  </a:cubicBezTo>
                  <a:cubicBezTo>
                    <a:pt x="5075" y="0"/>
                    <a:pt x="5097" y="21"/>
                    <a:pt x="5097" y="47"/>
                  </a:cubicBezTo>
                  <a:close/>
                  <a:moveTo>
                    <a:pt x="5197" y="47"/>
                  </a:moveTo>
                  <a:cubicBezTo>
                    <a:pt x="5197" y="72"/>
                    <a:pt x="5175" y="94"/>
                    <a:pt x="5150" y="94"/>
                  </a:cubicBezTo>
                  <a:cubicBezTo>
                    <a:pt x="5124" y="94"/>
                    <a:pt x="5103" y="72"/>
                    <a:pt x="5103" y="47"/>
                  </a:cubicBezTo>
                  <a:cubicBezTo>
                    <a:pt x="5103" y="21"/>
                    <a:pt x="5124" y="0"/>
                    <a:pt x="5150" y="0"/>
                  </a:cubicBezTo>
                  <a:cubicBezTo>
                    <a:pt x="5175" y="0"/>
                    <a:pt x="5197" y="21"/>
                    <a:pt x="5197" y="47"/>
                  </a:cubicBezTo>
                  <a:close/>
                  <a:moveTo>
                    <a:pt x="5297" y="47"/>
                  </a:moveTo>
                  <a:cubicBezTo>
                    <a:pt x="5297" y="72"/>
                    <a:pt x="5275" y="94"/>
                    <a:pt x="5250" y="94"/>
                  </a:cubicBezTo>
                  <a:cubicBezTo>
                    <a:pt x="5224" y="94"/>
                    <a:pt x="5203" y="72"/>
                    <a:pt x="5203" y="47"/>
                  </a:cubicBezTo>
                  <a:cubicBezTo>
                    <a:pt x="5203" y="21"/>
                    <a:pt x="5224" y="0"/>
                    <a:pt x="5250" y="0"/>
                  </a:cubicBezTo>
                  <a:cubicBezTo>
                    <a:pt x="5275" y="0"/>
                    <a:pt x="5297" y="21"/>
                    <a:pt x="5297" y="47"/>
                  </a:cubicBezTo>
                  <a:close/>
                  <a:moveTo>
                    <a:pt x="5397" y="47"/>
                  </a:moveTo>
                  <a:cubicBezTo>
                    <a:pt x="5397" y="72"/>
                    <a:pt x="5375" y="94"/>
                    <a:pt x="5350" y="94"/>
                  </a:cubicBezTo>
                  <a:cubicBezTo>
                    <a:pt x="5324" y="94"/>
                    <a:pt x="5303" y="72"/>
                    <a:pt x="5303" y="47"/>
                  </a:cubicBezTo>
                  <a:cubicBezTo>
                    <a:pt x="5303" y="21"/>
                    <a:pt x="5324" y="0"/>
                    <a:pt x="5350" y="0"/>
                  </a:cubicBezTo>
                  <a:cubicBezTo>
                    <a:pt x="5375" y="0"/>
                    <a:pt x="5397" y="21"/>
                    <a:pt x="5397" y="47"/>
                  </a:cubicBezTo>
                  <a:close/>
                  <a:moveTo>
                    <a:pt x="5497" y="47"/>
                  </a:moveTo>
                  <a:cubicBezTo>
                    <a:pt x="5497" y="72"/>
                    <a:pt x="5475" y="94"/>
                    <a:pt x="5450" y="94"/>
                  </a:cubicBezTo>
                  <a:cubicBezTo>
                    <a:pt x="5424" y="94"/>
                    <a:pt x="5403" y="72"/>
                    <a:pt x="5403" y="47"/>
                  </a:cubicBezTo>
                  <a:cubicBezTo>
                    <a:pt x="5403" y="21"/>
                    <a:pt x="5424" y="0"/>
                    <a:pt x="5450" y="0"/>
                  </a:cubicBezTo>
                  <a:cubicBezTo>
                    <a:pt x="5475" y="0"/>
                    <a:pt x="5497" y="21"/>
                    <a:pt x="5497" y="47"/>
                  </a:cubicBezTo>
                  <a:close/>
                  <a:moveTo>
                    <a:pt x="5597" y="47"/>
                  </a:moveTo>
                  <a:cubicBezTo>
                    <a:pt x="5597" y="72"/>
                    <a:pt x="5575" y="94"/>
                    <a:pt x="5550" y="94"/>
                  </a:cubicBezTo>
                  <a:cubicBezTo>
                    <a:pt x="5524" y="94"/>
                    <a:pt x="5503" y="72"/>
                    <a:pt x="5503" y="47"/>
                  </a:cubicBezTo>
                  <a:cubicBezTo>
                    <a:pt x="5503" y="21"/>
                    <a:pt x="5524" y="0"/>
                    <a:pt x="5550" y="0"/>
                  </a:cubicBezTo>
                  <a:cubicBezTo>
                    <a:pt x="5575" y="0"/>
                    <a:pt x="5597" y="21"/>
                    <a:pt x="5597" y="47"/>
                  </a:cubicBezTo>
                  <a:close/>
                  <a:moveTo>
                    <a:pt x="5697" y="47"/>
                  </a:moveTo>
                  <a:cubicBezTo>
                    <a:pt x="5697" y="72"/>
                    <a:pt x="5675" y="94"/>
                    <a:pt x="5650" y="94"/>
                  </a:cubicBezTo>
                  <a:cubicBezTo>
                    <a:pt x="5624" y="94"/>
                    <a:pt x="5603" y="72"/>
                    <a:pt x="5603" y="47"/>
                  </a:cubicBezTo>
                  <a:cubicBezTo>
                    <a:pt x="5603" y="21"/>
                    <a:pt x="5624" y="0"/>
                    <a:pt x="5650" y="0"/>
                  </a:cubicBezTo>
                  <a:cubicBezTo>
                    <a:pt x="5675" y="0"/>
                    <a:pt x="5697" y="21"/>
                    <a:pt x="5697" y="47"/>
                  </a:cubicBezTo>
                  <a:close/>
                  <a:moveTo>
                    <a:pt x="5797" y="47"/>
                  </a:moveTo>
                  <a:cubicBezTo>
                    <a:pt x="5797" y="72"/>
                    <a:pt x="5775" y="94"/>
                    <a:pt x="5750" y="94"/>
                  </a:cubicBezTo>
                  <a:cubicBezTo>
                    <a:pt x="5724" y="94"/>
                    <a:pt x="5703" y="72"/>
                    <a:pt x="5703" y="47"/>
                  </a:cubicBezTo>
                  <a:cubicBezTo>
                    <a:pt x="5703" y="21"/>
                    <a:pt x="5724" y="0"/>
                    <a:pt x="5750" y="0"/>
                  </a:cubicBezTo>
                  <a:cubicBezTo>
                    <a:pt x="5775" y="0"/>
                    <a:pt x="5797" y="21"/>
                    <a:pt x="5797" y="47"/>
                  </a:cubicBezTo>
                  <a:close/>
                  <a:moveTo>
                    <a:pt x="5897" y="47"/>
                  </a:moveTo>
                  <a:cubicBezTo>
                    <a:pt x="5897" y="72"/>
                    <a:pt x="5875" y="94"/>
                    <a:pt x="5850" y="94"/>
                  </a:cubicBezTo>
                  <a:cubicBezTo>
                    <a:pt x="5824" y="94"/>
                    <a:pt x="5803" y="72"/>
                    <a:pt x="5803" y="47"/>
                  </a:cubicBezTo>
                  <a:cubicBezTo>
                    <a:pt x="5803" y="21"/>
                    <a:pt x="5824" y="0"/>
                    <a:pt x="5850" y="0"/>
                  </a:cubicBezTo>
                  <a:cubicBezTo>
                    <a:pt x="5875" y="0"/>
                    <a:pt x="5897" y="21"/>
                    <a:pt x="5897" y="47"/>
                  </a:cubicBezTo>
                  <a:close/>
                  <a:moveTo>
                    <a:pt x="5997" y="47"/>
                  </a:moveTo>
                  <a:cubicBezTo>
                    <a:pt x="5997" y="72"/>
                    <a:pt x="5975" y="94"/>
                    <a:pt x="5950" y="94"/>
                  </a:cubicBezTo>
                  <a:cubicBezTo>
                    <a:pt x="5924" y="94"/>
                    <a:pt x="5903" y="72"/>
                    <a:pt x="5903" y="47"/>
                  </a:cubicBezTo>
                  <a:cubicBezTo>
                    <a:pt x="5903" y="21"/>
                    <a:pt x="5924" y="0"/>
                    <a:pt x="5950" y="0"/>
                  </a:cubicBezTo>
                  <a:cubicBezTo>
                    <a:pt x="5975" y="0"/>
                    <a:pt x="5997" y="21"/>
                    <a:pt x="5997" y="47"/>
                  </a:cubicBezTo>
                  <a:close/>
                  <a:moveTo>
                    <a:pt x="6097" y="47"/>
                  </a:moveTo>
                  <a:cubicBezTo>
                    <a:pt x="6097" y="72"/>
                    <a:pt x="6075" y="94"/>
                    <a:pt x="6050" y="94"/>
                  </a:cubicBezTo>
                  <a:cubicBezTo>
                    <a:pt x="6024" y="94"/>
                    <a:pt x="6003" y="72"/>
                    <a:pt x="6003" y="47"/>
                  </a:cubicBezTo>
                  <a:cubicBezTo>
                    <a:pt x="6003" y="21"/>
                    <a:pt x="6024" y="0"/>
                    <a:pt x="6050" y="0"/>
                  </a:cubicBezTo>
                  <a:cubicBezTo>
                    <a:pt x="6075" y="0"/>
                    <a:pt x="6097" y="21"/>
                    <a:pt x="6097" y="47"/>
                  </a:cubicBezTo>
                  <a:close/>
                  <a:moveTo>
                    <a:pt x="6197" y="47"/>
                  </a:moveTo>
                  <a:cubicBezTo>
                    <a:pt x="6197" y="72"/>
                    <a:pt x="6175" y="94"/>
                    <a:pt x="6150" y="94"/>
                  </a:cubicBezTo>
                  <a:cubicBezTo>
                    <a:pt x="6124" y="94"/>
                    <a:pt x="6103" y="72"/>
                    <a:pt x="6103" y="47"/>
                  </a:cubicBezTo>
                  <a:cubicBezTo>
                    <a:pt x="6103" y="21"/>
                    <a:pt x="6124" y="0"/>
                    <a:pt x="6150" y="0"/>
                  </a:cubicBezTo>
                  <a:cubicBezTo>
                    <a:pt x="6175" y="0"/>
                    <a:pt x="6197" y="21"/>
                    <a:pt x="6197" y="47"/>
                  </a:cubicBezTo>
                  <a:close/>
                  <a:moveTo>
                    <a:pt x="6297" y="47"/>
                  </a:moveTo>
                  <a:cubicBezTo>
                    <a:pt x="6297" y="72"/>
                    <a:pt x="6275" y="94"/>
                    <a:pt x="6250" y="94"/>
                  </a:cubicBezTo>
                  <a:cubicBezTo>
                    <a:pt x="6224" y="94"/>
                    <a:pt x="6203" y="72"/>
                    <a:pt x="6203" y="47"/>
                  </a:cubicBezTo>
                  <a:cubicBezTo>
                    <a:pt x="6203" y="21"/>
                    <a:pt x="6224" y="0"/>
                    <a:pt x="6250" y="0"/>
                  </a:cubicBezTo>
                  <a:cubicBezTo>
                    <a:pt x="6275" y="0"/>
                    <a:pt x="6297" y="21"/>
                    <a:pt x="6297" y="47"/>
                  </a:cubicBezTo>
                  <a:close/>
                  <a:moveTo>
                    <a:pt x="6397" y="47"/>
                  </a:moveTo>
                  <a:cubicBezTo>
                    <a:pt x="6397" y="72"/>
                    <a:pt x="6375" y="94"/>
                    <a:pt x="6350" y="94"/>
                  </a:cubicBezTo>
                  <a:cubicBezTo>
                    <a:pt x="6324" y="94"/>
                    <a:pt x="6303" y="72"/>
                    <a:pt x="6303" y="47"/>
                  </a:cubicBezTo>
                  <a:cubicBezTo>
                    <a:pt x="6303" y="21"/>
                    <a:pt x="6324" y="0"/>
                    <a:pt x="6350" y="0"/>
                  </a:cubicBezTo>
                  <a:cubicBezTo>
                    <a:pt x="6375" y="0"/>
                    <a:pt x="6397" y="21"/>
                    <a:pt x="6397" y="47"/>
                  </a:cubicBezTo>
                  <a:close/>
                  <a:moveTo>
                    <a:pt x="6497" y="47"/>
                  </a:moveTo>
                  <a:cubicBezTo>
                    <a:pt x="6497" y="72"/>
                    <a:pt x="6475" y="94"/>
                    <a:pt x="6450" y="94"/>
                  </a:cubicBezTo>
                  <a:cubicBezTo>
                    <a:pt x="6424" y="94"/>
                    <a:pt x="6403" y="72"/>
                    <a:pt x="6403" y="47"/>
                  </a:cubicBezTo>
                  <a:cubicBezTo>
                    <a:pt x="6403" y="21"/>
                    <a:pt x="6424" y="0"/>
                    <a:pt x="6450" y="0"/>
                  </a:cubicBezTo>
                  <a:cubicBezTo>
                    <a:pt x="6475" y="0"/>
                    <a:pt x="6497" y="21"/>
                    <a:pt x="6497" y="47"/>
                  </a:cubicBezTo>
                  <a:close/>
                  <a:moveTo>
                    <a:pt x="6597" y="47"/>
                  </a:moveTo>
                  <a:cubicBezTo>
                    <a:pt x="6597" y="72"/>
                    <a:pt x="6575" y="94"/>
                    <a:pt x="6550" y="94"/>
                  </a:cubicBezTo>
                  <a:cubicBezTo>
                    <a:pt x="6524" y="94"/>
                    <a:pt x="6503" y="72"/>
                    <a:pt x="6503" y="47"/>
                  </a:cubicBezTo>
                  <a:cubicBezTo>
                    <a:pt x="6503" y="21"/>
                    <a:pt x="6524" y="0"/>
                    <a:pt x="6550" y="0"/>
                  </a:cubicBezTo>
                  <a:cubicBezTo>
                    <a:pt x="6575" y="0"/>
                    <a:pt x="6597" y="21"/>
                    <a:pt x="6597" y="47"/>
                  </a:cubicBezTo>
                  <a:close/>
                  <a:moveTo>
                    <a:pt x="6697" y="47"/>
                  </a:moveTo>
                  <a:cubicBezTo>
                    <a:pt x="6697" y="72"/>
                    <a:pt x="6675" y="94"/>
                    <a:pt x="6650" y="94"/>
                  </a:cubicBezTo>
                  <a:cubicBezTo>
                    <a:pt x="6624" y="94"/>
                    <a:pt x="6603" y="72"/>
                    <a:pt x="6603" y="47"/>
                  </a:cubicBezTo>
                  <a:cubicBezTo>
                    <a:pt x="6603" y="21"/>
                    <a:pt x="6624" y="0"/>
                    <a:pt x="6650" y="0"/>
                  </a:cubicBezTo>
                  <a:cubicBezTo>
                    <a:pt x="6675" y="0"/>
                    <a:pt x="6697" y="21"/>
                    <a:pt x="6697" y="47"/>
                  </a:cubicBezTo>
                  <a:close/>
                  <a:moveTo>
                    <a:pt x="6797" y="47"/>
                  </a:moveTo>
                  <a:cubicBezTo>
                    <a:pt x="6797" y="72"/>
                    <a:pt x="6775" y="94"/>
                    <a:pt x="6750" y="94"/>
                  </a:cubicBezTo>
                  <a:cubicBezTo>
                    <a:pt x="6724" y="94"/>
                    <a:pt x="6703" y="72"/>
                    <a:pt x="6703" y="47"/>
                  </a:cubicBezTo>
                  <a:cubicBezTo>
                    <a:pt x="6703" y="21"/>
                    <a:pt x="6724" y="0"/>
                    <a:pt x="6750" y="0"/>
                  </a:cubicBezTo>
                  <a:cubicBezTo>
                    <a:pt x="6775" y="0"/>
                    <a:pt x="6797" y="21"/>
                    <a:pt x="6797" y="47"/>
                  </a:cubicBezTo>
                  <a:close/>
                  <a:moveTo>
                    <a:pt x="6897" y="47"/>
                  </a:moveTo>
                  <a:cubicBezTo>
                    <a:pt x="6897" y="72"/>
                    <a:pt x="6875" y="94"/>
                    <a:pt x="6850" y="94"/>
                  </a:cubicBezTo>
                  <a:cubicBezTo>
                    <a:pt x="6824" y="94"/>
                    <a:pt x="6803" y="72"/>
                    <a:pt x="6803" y="47"/>
                  </a:cubicBezTo>
                  <a:cubicBezTo>
                    <a:pt x="6803" y="21"/>
                    <a:pt x="6824" y="0"/>
                    <a:pt x="6850" y="0"/>
                  </a:cubicBezTo>
                  <a:cubicBezTo>
                    <a:pt x="6875" y="0"/>
                    <a:pt x="6897" y="21"/>
                    <a:pt x="6897" y="47"/>
                  </a:cubicBezTo>
                  <a:close/>
                  <a:moveTo>
                    <a:pt x="6997" y="47"/>
                  </a:moveTo>
                  <a:cubicBezTo>
                    <a:pt x="6997" y="72"/>
                    <a:pt x="6975" y="94"/>
                    <a:pt x="6950" y="94"/>
                  </a:cubicBezTo>
                  <a:cubicBezTo>
                    <a:pt x="6924" y="94"/>
                    <a:pt x="6903" y="72"/>
                    <a:pt x="6903" y="47"/>
                  </a:cubicBezTo>
                  <a:cubicBezTo>
                    <a:pt x="6903" y="21"/>
                    <a:pt x="6924" y="0"/>
                    <a:pt x="6950" y="0"/>
                  </a:cubicBezTo>
                  <a:cubicBezTo>
                    <a:pt x="6975" y="0"/>
                    <a:pt x="6997" y="21"/>
                    <a:pt x="6997" y="47"/>
                  </a:cubicBezTo>
                  <a:close/>
                  <a:moveTo>
                    <a:pt x="7097" y="47"/>
                  </a:moveTo>
                  <a:cubicBezTo>
                    <a:pt x="7097" y="72"/>
                    <a:pt x="7075" y="94"/>
                    <a:pt x="7050" y="94"/>
                  </a:cubicBezTo>
                  <a:cubicBezTo>
                    <a:pt x="7024" y="94"/>
                    <a:pt x="7003" y="72"/>
                    <a:pt x="7003" y="47"/>
                  </a:cubicBezTo>
                  <a:cubicBezTo>
                    <a:pt x="7003" y="21"/>
                    <a:pt x="7024" y="0"/>
                    <a:pt x="7050" y="0"/>
                  </a:cubicBezTo>
                  <a:cubicBezTo>
                    <a:pt x="7075" y="0"/>
                    <a:pt x="7097" y="21"/>
                    <a:pt x="7097" y="47"/>
                  </a:cubicBezTo>
                  <a:close/>
                  <a:moveTo>
                    <a:pt x="7197" y="47"/>
                  </a:moveTo>
                  <a:cubicBezTo>
                    <a:pt x="7197" y="72"/>
                    <a:pt x="7175" y="94"/>
                    <a:pt x="7150" y="94"/>
                  </a:cubicBezTo>
                  <a:cubicBezTo>
                    <a:pt x="7124" y="94"/>
                    <a:pt x="7103" y="72"/>
                    <a:pt x="7103" y="47"/>
                  </a:cubicBezTo>
                  <a:cubicBezTo>
                    <a:pt x="7103" y="21"/>
                    <a:pt x="7124" y="0"/>
                    <a:pt x="7150" y="0"/>
                  </a:cubicBezTo>
                  <a:cubicBezTo>
                    <a:pt x="7175" y="0"/>
                    <a:pt x="7197" y="21"/>
                    <a:pt x="7197" y="47"/>
                  </a:cubicBezTo>
                  <a:close/>
                  <a:moveTo>
                    <a:pt x="7297" y="47"/>
                  </a:moveTo>
                  <a:cubicBezTo>
                    <a:pt x="7297" y="72"/>
                    <a:pt x="7275" y="94"/>
                    <a:pt x="7250" y="94"/>
                  </a:cubicBezTo>
                  <a:cubicBezTo>
                    <a:pt x="7224" y="94"/>
                    <a:pt x="7203" y="72"/>
                    <a:pt x="7203" y="47"/>
                  </a:cubicBezTo>
                  <a:cubicBezTo>
                    <a:pt x="7203" y="21"/>
                    <a:pt x="7224" y="0"/>
                    <a:pt x="7250" y="0"/>
                  </a:cubicBezTo>
                  <a:cubicBezTo>
                    <a:pt x="7275" y="0"/>
                    <a:pt x="7297" y="21"/>
                    <a:pt x="7297" y="47"/>
                  </a:cubicBezTo>
                  <a:close/>
                  <a:moveTo>
                    <a:pt x="7397" y="47"/>
                  </a:moveTo>
                  <a:cubicBezTo>
                    <a:pt x="7397" y="72"/>
                    <a:pt x="7375" y="94"/>
                    <a:pt x="7350" y="94"/>
                  </a:cubicBezTo>
                  <a:cubicBezTo>
                    <a:pt x="7324" y="94"/>
                    <a:pt x="7303" y="72"/>
                    <a:pt x="7303" y="47"/>
                  </a:cubicBezTo>
                  <a:cubicBezTo>
                    <a:pt x="7303" y="21"/>
                    <a:pt x="7324" y="0"/>
                    <a:pt x="7350" y="0"/>
                  </a:cubicBezTo>
                  <a:cubicBezTo>
                    <a:pt x="7375" y="0"/>
                    <a:pt x="7397" y="21"/>
                    <a:pt x="7397" y="47"/>
                  </a:cubicBezTo>
                  <a:close/>
                  <a:moveTo>
                    <a:pt x="7497" y="47"/>
                  </a:moveTo>
                  <a:cubicBezTo>
                    <a:pt x="7497" y="72"/>
                    <a:pt x="7475" y="94"/>
                    <a:pt x="7450" y="94"/>
                  </a:cubicBezTo>
                  <a:cubicBezTo>
                    <a:pt x="7424" y="94"/>
                    <a:pt x="7403" y="72"/>
                    <a:pt x="7403" y="47"/>
                  </a:cubicBezTo>
                  <a:cubicBezTo>
                    <a:pt x="7403" y="21"/>
                    <a:pt x="7424" y="0"/>
                    <a:pt x="7450" y="0"/>
                  </a:cubicBezTo>
                  <a:cubicBezTo>
                    <a:pt x="7475" y="0"/>
                    <a:pt x="7497" y="21"/>
                    <a:pt x="7497" y="47"/>
                  </a:cubicBezTo>
                  <a:close/>
                  <a:moveTo>
                    <a:pt x="7597" y="47"/>
                  </a:moveTo>
                  <a:cubicBezTo>
                    <a:pt x="7597" y="72"/>
                    <a:pt x="7575" y="94"/>
                    <a:pt x="7550" y="94"/>
                  </a:cubicBezTo>
                  <a:cubicBezTo>
                    <a:pt x="7524" y="94"/>
                    <a:pt x="7503" y="72"/>
                    <a:pt x="7503" y="47"/>
                  </a:cubicBezTo>
                  <a:cubicBezTo>
                    <a:pt x="7503" y="21"/>
                    <a:pt x="7524" y="0"/>
                    <a:pt x="7550" y="0"/>
                  </a:cubicBezTo>
                  <a:cubicBezTo>
                    <a:pt x="7575" y="0"/>
                    <a:pt x="7597" y="21"/>
                    <a:pt x="7597" y="47"/>
                  </a:cubicBezTo>
                  <a:close/>
                  <a:moveTo>
                    <a:pt x="7697" y="47"/>
                  </a:moveTo>
                  <a:cubicBezTo>
                    <a:pt x="7697" y="72"/>
                    <a:pt x="7675" y="94"/>
                    <a:pt x="7650" y="94"/>
                  </a:cubicBezTo>
                  <a:cubicBezTo>
                    <a:pt x="7624" y="94"/>
                    <a:pt x="7603" y="72"/>
                    <a:pt x="7603" y="47"/>
                  </a:cubicBezTo>
                  <a:cubicBezTo>
                    <a:pt x="7603" y="21"/>
                    <a:pt x="7624" y="0"/>
                    <a:pt x="7650" y="0"/>
                  </a:cubicBezTo>
                  <a:cubicBezTo>
                    <a:pt x="7675" y="0"/>
                    <a:pt x="7697" y="21"/>
                    <a:pt x="7697" y="47"/>
                  </a:cubicBezTo>
                  <a:close/>
                  <a:moveTo>
                    <a:pt x="7797" y="47"/>
                  </a:moveTo>
                  <a:cubicBezTo>
                    <a:pt x="7797" y="72"/>
                    <a:pt x="7775" y="94"/>
                    <a:pt x="7750" y="94"/>
                  </a:cubicBezTo>
                  <a:cubicBezTo>
                    <a:pt x="7724" y="94"/>
                    <a:pt x="7703" y="72"/>
                    <a:pt x="7703" y="47"/>
                  </a:cubicBezTo>
                  <a:cubicBezTo>
                    <a:pt x="7703" y="21"/>
                    <a:pt x="7724" y="0"/>
                    <a:pt x="7750" y="0"/>
                  </a:cubicBezTo>
                  <a:cubicBezTo>
                    <a:pt x="7775" y="0"/>
                    <a:pt x="7797" y="21"/>
                    <a:pt x="7797" y="47"/>
                  </a:cubicBezTo>
                  <a:close/>
                  <a:moveTo>
                    <a:pt x="7897" y="47"/>
                  </a:moveTo>
                  <a:cubicBezTo>
                    <a:pt x="7897" y="72"/>
                    <a:pt x="7875" y="94"/>
                    <a:pt x="7850" y="94"/>
                  </a:cubicBezTo>
                  <a:cubicBezTo>
                    <a:pt x="7824" y="94"/>
                    <a:pt x="7803" y="72"/>
                    <a:pt x="7803" y="47"/>
                  </a:cubicBezTo>
                  <a:cubicBezTo>
                    <a:pt x="7803" y="21"/>
                    <a:pt x="7824" y="0"/>
                    <a:pt x="7850" y="0"/>
                  </a:cubicBezTo>
                  <a:cubicBezTo>
                    <a:pt x="7875" y="0"/>
                    <a:pt x="7897" y="21"/>
                    <a:pt x="7897" y="47"/>
                  </a:cubicBezTo>
                  <a:close/>
                  <a:moveTo>
                    <a:pt x="7997" y="47"/>
                  </a:moveTo>
                  <a:cubicBezTo>
                    <a:pt x="7997" y="72"/>
                    <a:pt x="7975" y="94"/>
                    <a:pt x="7950" y="94"/>
                  </a:cubicBezTo>
                  <a:cubicBezTo>
                    <a:pt x="7924" y="94"/>
                    <a:pt x="7903" y="72"/>
                    <a:pt x="7903" y="47"/>
                  </a:cubicBezTo>
                  <a:cubicBezTo>
                    <a:pt x="7903" y="21"/>
                    <a:pt x="7924" y="0"/>
                    <a:pt x="7950" y="0"/>
                  </a:cubicBezTo>
                  <a:cubicBezTo>
                    <a:pt x="7975" y="0"/>
                    <a:pt x="7997" y="21"/>
                    <a:pt x="7997" y="47"/>
                  </a:cubicBezTo>
                  <a:close/>
                  <a:moveTo>
                    <a:pt x="8097" y="47"/>
                  </a:moveTo>
                  <a:cubicBezTo>
                    <a:pt x="8097" y="72"/>
                    <a:pt x="8075" y="94"/>
                    <a:pt x="8050" y="94"/>
                  </a:cubicBezTo>
                  <a:cubicBezTo>
                    <a:pt x="8024" y="94"/>
                    <a:pt x="8003" y="72"/>
                    <a:pt x="8003" y="47"/>
                  </a:cubicBezTo>
                  <a:cubicBezTo>
                    <a:pt x="8003" y="21"/>
                    <a:pt x="8024" y="0"/>
                    <a:pt x="8050" y="0"/>
                  </a:cubicBezTo>
                  <a:cubicBezTo>
                    <a:pt x="8075" y="0"/>
                    <a:pt x="8097" y="21"/>
                    <a:pt x="8097" y="47"/>
                  </a:cubicBezTo>
                  <a:close/>
                  <a:moveTo>
                    <a:pt x="8197" y="47"/>
                  </a:moveTo>
                  <a:cubicBezTo>
                    <a:pt x="8197" y="72"/>
                    <a:pt x="8175" y="94"/>
                    <a:pt x="8150" y="94"/>
                  </a:cubicBezTo>
                  <a:cubicBezTo>
                    <a:pt x="8124" y="94"/>
                    <a:pt x="8103" y="72"/>
                    <a:pt x="8103" y="47"/>
                  </a:cubicBezTo>
                  <a:cubicBezTo>
                    <a:pt x="8103" y="21"/>
                    <a:pt x="8124" y="0"/>
                    <a:pt x="8150" y="0"/>
                  </a:cubicBezTo>
                  <a:cubicBezTo>
                    <a:pt x="8175" y="0"/>
                    <a:pt x="8197" y="21"/>
                    <a:pt x="8197" y="47"/>
                  </a:cubicBezTo>
                  <a:close/>
                  <a:moveTo>
                    <a:pt x="8297" y="47"/>
                  </a:moveTo>
                  <a:cubicBezTo>
                    <a:pt x="8297" y="72"/>
                    <a:pt x="8275" y="94"/>
                    <a:pt x="8250" y="94"/>
                  </a:cubicBezTo>
                  <a:cubicBezTo>
                    <a:pt x="8224" y="94"/>
                    <a:pt x="8203" y="72"/>
                    <a:pt x="8203" y="47"/>
                  </a:cubicBezTo>
                  <a:cubicBezTo>
                    <a:pt x="8203" y="21"/>
                    <a:pt x="8224" y="0"/>
                    <a:pt x="8250" y="0"/>
                  </a:cubicBezTo>
                  <a:cubicBezTo>
                    <a:pt x="8275" y="0"/>
                    <a:pt x="8297" y="21"/>
                    <a:pt x="8297" y="47"/>
                  </a:cubicBezTo>
                  <a:close/>
                  <a:moveTo>
                    <a:pt x="8397" y="47"/>
                  </a:moveTo>
                  <a:cubicBezTo>
                    <a:pt x="8397" y="72"/>
                    <a:pt x="8375" y="94"/>
                    <a:pt x="8350" y="94"/>
                  </a:cubicBezTo>
                  <a:cubicBezTo>
                    <a:pt x="8324" y="94"/>
                    <a:pt x="8303" y="72"/>
                    <a:pt x="8303" y="47"/>
                  </a:cubicBezTo>
                  <a:cubicBezTo>
                    <a:pt x="8303" y="21"/>
                    <a:pt x="8324" y="0"/>
                    <a:pt x="8350" y="0"/>
                  </a:cubicBezTo>
                  <a:cubicBezTo>
                    <a:pt x="8375" y="0"/>
                    <a:pt x="8397" y="21"/>
                    <a:pt x="8397" y="47"/>
                  </a:cubicBezTo>
                  <a:close/>
                  <a:moveTo>
                    <a:pt x="97" y="553"/>
                  </a:moveTo>
                  <a:cubicBezTo>
                    <a:pt x="97" y="578"/>
                    <a:pt x="75" y="600"/>
                    <a:pt x="50" y="600"/>
                  </a:cubicBezTo>
                  <a:cubicBezTo>
                    <a:pt x="24" y="600"/>
                    <a:pt x="3" y="578"/>
                    <a:pt x="3" y="553"/>
                  </a:cubicBezTo>
                  <a:cubicBezTo>
                    <a:pt x="3" y="527"/>
                    <a:pt x="24" y="506"/>
                    <a:pt x="50" y="506"/>
                  </a:cubicBezTo>
                  <a:cubicBezTo>
                    <a:pt x="75" y="506"/>
                    <a:pt x="97" y="527"/>
                    <a:pt x="97" y="553"/>
                  </a:cubicBezTo>
                  <a:close/>
                  <a:moveTo>
                    <a:pt x="197" y="553"/>
                  </a:moveTo>
                  <a:cubicBezTo>
                    <a:pt x="197" y="578"/>
                    <a:pt x="175" y="600"/>
                    <a:pt x="150" y="600"/>
                  </a:cubicBezTo>
                  <a:cubicBezTo>
                    <a:pt x="124" y="600"/>
                    <a:pt x="103" y="578"/>
                    <a:pt x="103" y="553"/>
                  </a:cubicBezTo>
                  <a:cubicBezTo>
                    <a:pt x="103" y="527"/>
                    <a:pt x="124" y="506"/>
                    <a:pt x="150" y="506"/>
                  </a:cubicBezTo>
                  <a:cubicBezTo>
                    <a:pt x="175" y="506"/>
                    <a:pt x="197" y="527"/>
                    <a:pt x="197" y="553"/>
                  </a:cubicBezTo>
                  <a:close/>
                  <a:moveTo>
                    <a:pt x="297" y="553"/>
                  </a:moveTo>
                  <a:cubicBezTo>
                    <a:pt x="297" y="578"/>
                    <a:pt x="275" y="600"/>
                    <a:pt x="250" y="600"/>
                  </a:cubicBezTo>
                  <a:cubicBezTo>
                    <a:pt x="224" y="600"/>
                    <a:pt x="203" y="578"/>
                    <a:pt x="203" y="553"/>
                  </a:cubicBezTo>
                  <a:cubicBezTo>
                    <a:pt x="203" y="527"/>
                    <a:pt x="224" y="506"/>
                    <a:pt x="250" y="506"/>
                  </a:cubicBezTo>
                  <a:cubicBezTo>
                    <a:pt x="275" y="506"/>
                    <a:pt x="297" y="527"/>
                    <a:pt x="297" y="553"/>
                  </a:cubicBezTo>
                  <a:close/>
                  <a:moveTo>
                    <a:pt x="397" y="553"/>
                  </a:moveTo>
                  <a:cubicBezTo>
                    <a:pt x="397" y="578"/>
                    <a:pt x="375" y="600"/>
                    <a:pt x="350" y="600"/>
                  </a:cubicBezTo>
                  <a:cubicBezTo>
                    <a:pt x="324" y="600"/>
                    <a:pt x="303" y="578"/>
                    <a:pt x="303" y="553"/>
                  </a:cubicBezTo>
                  <a:cubicBezTo>
                    <a:pt x="303" y="527"/>
                    <a:pt x="324" y="506"/>
                    <a:pt x="350" y="506"/>
                  </a:cubicBezTo>
                  <a:cubicBezTo>
                    <a:pt x="375" y="506"/>
                    <a:pt x="397" y="527"/>
                    <a:pt x="397" y="553"/>
                  </a:cubicBezTo>
                  <a:close/>
                  <a:moveTo>
                    <a:pt x="497" y="553"/>
                  </a:moveTo>
                  <a:cubicBezTo>
                    <a:pt x="497" y="578"/>
                    <a:pt x="475" y="600"/>
                    <a:pt x="450" y="600"/>
                  </a:cubicBezTo>
                  <a:cubicBezTo>
                    <a:pt x="424" y="600"/>
                    <a:pt x="403" y="578"/>
                    <a:pt x="403" y="553"/>
                  </a:cubicBezTo>
                  <a:cubicBezTo>
                    <a:pt x="403" y="527"/>
                    <a:pt x="424" y="506"/>
                    <a:pt x="450" y="506"/>
                  </a:cubicBezTo>
                  <a:cubicBezTo>
                    <a:pt x="475" y="506"/>
                    <a:pt x="497" y="527"/>
                    <a:pt x="497" y="553"/>
                  </a:cubicBezTo>
                  <a:close/>
                  <a:moveTo>
                    <a:pt x="597" y="553"/>
                  </a:moveTo>
                  <a:cubicBezTo>
                    <a:pt x="597" y="578"/>
                    <a:pt x="575" y="600"/>
                    <a:pt x="550" y="600"/>
                  </a:cubicBezTo>
                  <a:cubicBezTo>
                    <a:pt x="524" y="600"/>
                    <a:pt x="503" y="578"/>
                    <a:pt x="503" y="553"/>
                  </a:cubicBezTo>
                  <a:cubicBezTo>
                    <a:pt x="503" y="527"/>
                    <a:pt x="524" y="506"/>
                    <a:pt x="550" y="506"/>
                  </a:cubicBezTo>
                  <a:cubicBezTo>
                    <a:pt x="575" y="506"/>
                    <a:pt x="597" y="527"/>
                    <a:pt x="597" y="553"/>
                  </a:cubicBezTo>
                  <a:close/>
                  <a:moveTo>
                    <a:pt x="697" y="553"/>
                  </a:moveTo>
                  <a:cubicBezTo>
                    <a:pt x="697" y="578"/>
                    <a:pt x="675" y="600"/>
                    <a:pt x="650" y="600"/>
                  </a:cubicBezTo>
                  <a:cubicBezTo>
                    <a:pt x="624" y="600"/>
                    <a:pt x="603" y="578"/>
                    <a:pt x="603" y="553"/>
                  </a:cubicBezTo>
                  <a:cubicBezTo>
                    <a:pt x="603" y="527"/>
                    <a:pt x="624" y="506"/>
                    <a:pt x="650" y="506"/>
                  </a:cubicBezTo>
                  <a:cubicBezTo>
                    <a:pt x="675" y="506"/>
                    <a:pt x="697" y="527"/>
                    <a:pt x="697" y="553"/>
                  </a:cubicBezTo>
                  <a:close/>
                  <a:moveTo>
                    <a:pt x="797" y="553"/>
                  </a:moveTo>
                  <a:cubicBezTo>
                    <a:pt x="797" y="578"/>
                    <a:pt x="775" y="600"/>
                    <a:pt x="750" y="600"/>
                  </a:cubicBezTo>
                  <a:cubicBezTo>
                    <a:pt x="724" y="600"/>
                    <a:pt x="703" y="578"/>
                    <a:pt x="703" y="553"/>
                  </a:cubicBezTo>
                  <a:cubicBezTo>
                    <a:pt x="703" y="527"/>
                    <a:pt x="724" y="506"/>
                    <a:pt x="750" y="506"/>
                  </a:cubicBezTo>
                  <a:cubicBezTo>
                    <a:pt x="775" y="506"/>
                    <a:pt x="797" y="527"/>
                    <a:pt x="797" y="553"/>
                  </a:cubicBezTo>
                  <a:close/>
                  <a:moveTo>
                    <a:pt x="897" y="553"/>
                  </a:moveTo>
                  <a:cubicBezTo>
                    <a:pt x="897" y="578"/>
                    <a:pt x="875" y="600"/>
                    <a:pt x="850" y="600"/>
                  </a:cubicBezTo>
                  <a:cubicBezTo>
                    <a:pt x="824" y="600"/>
                    <a:pt x="803" y="578"/>
                    <a:pt x="803" y="553"/>
                  </a:cubicBezTo>
                  <a:cubicBezTo>
                    <a:pt x="803" y="527"/>
                    <a:pt x="824" y="506"/>
                    <a:pt x="850" y="506"/>
                  </a:cubicBezTo>
                  <a:cubicBezTo>
                    <a:pt x="875" y="506"/>
                    <a:pt x="897" y="527"/>
                    <a:pt x="897" y="553"/>
                  </a:cubicBezTo>
                  <a:close/>
                  <a:moveTo>
                    <a:pt x="997" y="553"/>
                  </a:moveTo>
                  <a:cubicBezTo>
                    <a:pt x="997" y="578"/>
                    <a:pt x="975" y="600"/>
                    <a:pt x="950" y="600"/>
                  </a:cubicBezTo>
                  <a:cubicBezTo>
                    <a:pt x="924" y="600"/>
                    <a:pt x="903" y="578"/>
                    <a:pt x="903" y="553"/>
                  </a:cubicBezTo>
                  <a:cubicBezTo>
                    <a:pt x="903" y="527"/>
                    <a:pt x="924" y="506"/>
                    <a:pt x="950" y="506"/>
                  </a:cubicBezTo>
                  <a:cubicBezTo>
                    <a:pt x="975" y="506"/>
                    <a:pt x="997" y="527"/>
                    <a:pt x="997" y="553"/>
                  </a:cubicBezTo>
                  <a:close/>
                  <a:moveTo>
                    <a:pt x="1097" y="553"/>
                  </a:moveTo>
                  <a:cubicBezTo>
                    <a:pt x="1097" y="578"/>
                    <a:pt x="1075" y="600"/>
                    <a:pt x="1050" y="600"/>
                  </a:cubicBezTo>
                  <a:cubicBezTo>
                    <a:pt x="1024" y="600"/>
                    <a:pt x="1003" y="578"/>
                    <a:pt x="1003" y="553"/>
                  </a:cubicBezTo>
                  <a:cubicBezTo>
                    <a:pt x="1003" y="527"/>
                    <a:pt x="1024" y="506"/>
                    <a:pt x="1050" y="506"/>
                  </a:cubicBezTo>
                  <a:cubicBezTo>
                    <a:pt x="1075" y="506"/>
                    <a:pt x="1097" y="527"/>
                    <a:pt x="1097" y="553"/>
                  </a:cubicBezTo>
                  <a:close/>
                  <a:moveTo>
                    <a:pt x="1197" y="553"/>
                  </a:moveTo>
                  <a:cubicBezTo>
                    <a:pt x="1197" y="578"/>
                    <a:pt x="1175" y="600"/>
                    <a:pt x="1150" y="600"/>
                  </a:cubicBezTo>
                  <a:cubicBezTo>
                    <a:pt x="1124" y="600"/>
                    <a:pt x="1103" y="578"/>
                    <a:pt x="1103" y="553"/>
                  </a:cubicBezTo>
                  <a:cubicBezTo>
                    <a:pt x="1103" y="527"/>
                    <a:pt x="1124" y="506"/>
                    <a:pt x="1150" y="506"/>
                  </a:cubicBezTo>
                  <a:cubicBezTo>
                    <a:pt x="1175" y="506"/>
                    <a:pt x="1197" y="527"/>
                    <a:pt x="1197" y="553"/>
                  </a:cubicBezTo>
                  <a:close/>
                  <a:moveTo>
                    <a:pt x="1297" y="553"/>
                  </a:moveTo>
                  <a:cubicBezTo>
                    <a:pt x="1297" y="578"/>
                    <a:pt x="1275" y="600"/>
                    <a:pt x="1250" y="600"/>
                  </a:cubicBezTo>
                  <a:cubicBezTo>
                    <a:pt x="1224" y="600"/>
                    <a:pt x="1203" y="578"/>
                    <a:pt x="1203" y="553"/>
                  </a:cubicBezTo>
                  <a:cubicBezTo>
                    <a:pt x="1203" y="527"/>
                    <a:pt x="1224" y="506"/>
                    <a:pt x="1250" y="506"/>
                  </a:cubicBezTo>
                  <a:cubicBezTo>
                    <a:pt x="1275" y="506"/>
                    <a:pt x="1297" y="527"/>
                    <a:pt x="1297" y="553"/>
                  </a:cubicBezTo>
                  <a:close/>
                  <a:moveTo>
                    <a:pt x="1397" y="553"/>
                  </a:moveTo>
                  <a:cubicBezTo>
                    <a:pt x="1397" y="578"/>
                    <a:pt x="1375" y="600"/>
                    <a:pt x="1350" y="600"/>
                  </a:cubicBezTo>
                  <a:cubicBezTo>
                    <a:pt x="1324" y="600"/>
                    <a:pt x="1303" y="578"/>
                    <a:pt x="1303" y="553"/>
                  </a:cubicBezTo>
                  <a:cubicBezTo>
                    <a:pt x="1303" y="527"/>
                    <a:pt x="1324" y="506"/>
                    <a:pt x="1350" y="506"/>
                  </a:cubicBezTo>
                  <a:cubicBezTo>
                    <a:pt x="1375" y="506"/>
                    <a:pt x="1397" y="527"/>
                    <a:pt x="1397" y="553"/>
                  </a:cubicBezTo>
                  <a:close/>
                  <a:moveTo>
                    <a:pt x="1497" y="553"/>
                  </a:moveTo>
                  <a:cubicBezTo>
                    <a:pt x="1497" y="578"/>
                    <a:pt x="1475" y="600"/>
                    <a:pt x="1450" y="600"/>
                  </a:cubicBezTo>
                  <a:cubicBezTo>
                    <a:pt x="1424" y="600"/>
                    <a:pt x="1403" y="578"/>
                    <a:pt x="1403" y="553"/>
                  </a:cubicBezTo>
                  <a:cubicBezTo>
                    <a:pt x="1403" y="527"/>
                    <a:pt x="1424" y="506"/>
                    <a:pt x="1450" y="506"/>
                  </a:cubicBezTo>
                  <a:cubicBezTo>
                    <a:pt x="1475" y="506"/>
                    <a:pt x="1497" y="527"/>
                    <a:pt x="1497" y="553"/>
                  </a:cubicBezTo>
                  <a:close/>
                  <a:moveTo>
                    <a:pt x="1597" y="553"/>
                  </a:moveTo>
                  <a:cubicBezTo>
                    <a:pt x="1597" y="578"/>
                    <a:pt x="1575" y="600"/>
                    <a:pt x="1550" y="600"/>
                  </a:cubicBezTo>
                  <a:cubicBezTo>
                    <a:pt x="1524" y="600"/>
                    <a:pt x="1503" y="578"/>
                    <a:pt x="1503" y="553"/>
                  </a:cubicBezTo>
                  <a:cubicBezTo>
                    <a:pt x="1503" y="527"/>
                    <a:pt x="1524" y="506"/>
                    <a:pt x="1550" y="506"/>
                  </a:cubicBezTo>
                  <a:cubicBezTo>
                    <a:pt x="1575" y="506"/>
                    <a:pt x="1597" y="527"/>
                    <a:pt x="1597" y="553"/>
                  </a:cubicBezTo>
                  <a:close/>
                  <a:moveTo>
                    <a:pt x="1697" y="553"/>
                  </a:moveTo>
                  <a:cubicBezTo>
                    <a:pt x="1697" y="578"/>
                    <a:pt x="1675" y="600"/>
                    <a:pt x="1650" y="600"/>
                  </a:cubicBezTo>
                  <a:cubicBezTo>
                    <a:pt x="1624" y="600"/>
                    <a:pt x="1603" y="578"/>
                    <a:pt x="1603" y="553"/>
                  </a:cubicBezTo>
                  <a:cubicBezTo>
                    <a:pt x="1603" y="527"/>
                    <a:pt x="1624" y="506"/>
                    <a:pt x="1650" y="506"/>
                  </a:cubicBezTo>
                  <a:cubicBezTo>
                    <a:pt x="1675" y="506"/>
                    <a:pt x="1697" y="527"/>
                    <a:pt x="1697" y="553"/>
                  </a:cubicBezTo>
                  <a:close/>
                  <a:moveTo>
                    <a:pt x="1797" y="553"/>
                  </a:moveTo>
                  <a:cubicBezTo>
                    <a:pt x="1797" y="578"/>
                    <a:pt x="1775" y="600"/>
                    <a:pt x="1750" y="600"/>
                  </a:cubicBezTo>
                  <a:cubicBezTo>
                    <a:pt x="1724" y="600"/>
                    <a:pt x="1703" y="578"/>
                    <a:pt x="1703" y="553"/>
                  </a:cubicBezTo>
                  <a:cubicBezTo>
                    <a:pt x="1703" y="527"/>
                    <a:pt x="1724" y="506"/>
                    <a:pt x="1750" y="506"/>
                  </a:cubicBezTo>
                  <a:cubicBezTo>
                    <a:pt x="1775" y="506"/>
                    <a:pt x="1797" y="527"/>
                    <a:pt x="1797" y="553"/>
                  </a:cubicBezTo>
                  <a:close/>
                  <a:moveTo>
                    <a:pt x="1897" y="553"/>
                  </a:moveTo>
                  <a:cubicBezTo>
                    <a:pt x="1897" y="578"/>
                    <a:pt x="1875" y="600"/>
                    <a:pt x="1850" y="600"/>
                  </a:cubicBezTo>
                  <a:cubicBezTo>
                    <a:pt x="1824" y="600"/>
                    <a:pt x="1803" y="578"/>
                    <a:pt x="1803" y="553"/>
                  </a:cubicBezTo>
                  <a:cubicBezTo>
                    <a:pt x="1803" y="527"/>
                    <a:pt x="1824" y="506"/>
                    <a:pt x="1850" y="506"/>
                  </a:cubicBezTo>
                  <a:cubicBezTo>
                    <a:pt x="1875" y="506"/>
                    <a:pt x="1897" y="527"/>
                    <a:pt x="1897" y="553"/>
                  </a:cubicBezTo>
                  <a:close/>
                  <a:moveTo>
                    <a:pt x="1997" y="553"/>
                  </a:moveTo>
                  <a:cubicBezTo>
                    <a:pt x="1997" y="578"/>
                    <a:pt x="1975" y="600"/>
                    <a:pt x="1950" y="600"/>
                  </a:cubicBezTo>
                  <a:cubicBezTo>
                    <a:pt x="1924" y="600"/>
                    <a:pt x="1903" y="578"/>
                    <a:pt x="1903" y="553"/>
                  </a:cubicBezTo>
                  <a:cubicBezTo>
                    <a:pt x="1903" y="527"/>
                    <a:pt x="1924" y="506"/>
                    <a:pt x="1950" y="506"/>
                  </a:cubicBezTo>
                  <a:cubicBezTo>
                    <a:pt x="1975" y="506"/>
                    <a:pt x="1997" y="527"/>
                    <a:pt x="1997" y="553"/>
                  </a:cubicBezTo>
                  <a:close/>
                  <a:moveTo>
                    <a:pt x="2097" y="553"/>
                  </a:moveTo>
                  <a:cubicBezTo>
                    <a:pt x="2097" y="578"/>
                    <a:pt x="2075" y="600"/>
                    <a:pt x="2050" y="600"/>
                  </a:cubicBezTo>
                  <a:cubicBezTo>
                    <a:pt x="2024" y="600"/>
                    <a:pt x="2003" y="578"/>
                    <a:pt x="2003" y="553"/>
                  </a:cubicBezTo>
                  <a:cubicBezTo>
                    <a:pt x="2003" y="527"/>
                    <a:pt x="2024" y="506"/>
                    <a:pt x="2050" y="506"/>
                  </a:cubicBezTo>
                  <a:cubicBezTo>
                    <a:pt x="2075" y="506"/>
                    <a:pt x="2097" y="527"/>
                    <a:pt x="2097" y="553"/>
                  </a:cubicBezTo>
                  <a:close/>
                  <a:moveTo>
                    <a:pt x="2197" y="553"/>
                  </a:moveTo>
                  <a:cubicBezTo>
                    <a:pt x="2197" y="578"/>
                    <a:pt x="2175" y="600"/>
                    <a:pt x="2150" y="600"/>
                  </a:cubicBezTo>
                  <a:cubicBezTo>
                    <a:pt x="2124" y="600"/>
                    <a:pt x="2103" y="578"/>
                    <a:pt x="2103" y="553"/>
                  </a:cubicBezTo>
                  <a:cubicBezTo>
                    <a:pt x="2103" y="527"/>
                    <a:pt x="2124" y="506"/>
                    <a:pt x="2150" y="506"/>
                  </a:cubicBezTo>
                  <a:cubicBezTo>
                    <a:pt x="2175" y="506"/>
                    <a:pt x="2197" y="527"/>
                    <a:pt x="2197" y="553"/>
                  </a:cubicBezTo>
                  <a:close/>
                  <a:moveTo>
                    <a:pt x="2297" y="553"/>
                  </a:moveTo>
                  <a:cubicBezTo>
                    <a:pt x="2297" y="578"/>
                    <a:pt x="2275" y="600"/>
                    <a:pt x="2250" y="600"/>
                  </a:cubicBezTo>
                  <a:cubicBezTo>
                    <a:pt x="2224" y="600"/>
                    <a:pt x="2203" y="578"/>
                    <a:pt x="2203" y="553"/>
                  </a:cubicBezTo>
                  <a:cubicBezTo>
                    <a:pt x="2203" y="527"/>
                    <a:pt x="2224" y="506"/>
                    <a:pt x="2250" y="506"/>
                  </a:cubicBezTo>
                  <a:cubicBezTo>
                    <a:pt x="2275" y="506"/>
                    <a:pt x="2297" y="527"/>
                    <a:pt x="2297" y="553"/>
                  </a:cubicBezTo>
                  <a:close/>
                  <a:moveTo>
                    <a:pt x="2397" y="553"/>
                  </a:moveTo>
                  <a:cubicBezTo>
                    <a:pt x="2397" y="578"/>
                    <a:pt x="2375" y="600"/>
                    <a:pt x="2350" y="600"/>
                  </a:cubicBezTo>
                  <a:cubicBezTo>
                    <a:pt x="2324" y="600"/>
                    <a:pt x="2303" y="578"/>
                    <a:pt x="2303" y="553"/>
                  </a:cubicBezTo>
                  <a:cubicBezTo>
                    <a:pt x="2303" y="527"/>
                    <a:pt x="2324" y="506"/>
                    <a:pt x="2350" y="506"/>
                  </a:cubicBezTo>
                  <a:cubicBezTo>
                    <a:pt x="2375" y="506"/>
                    <a:pt x="2397" y="527"/>
                    <a:pt x="2397" y="553"/>
                  </a:cubicBezTo>
                  <a:close/>
                  <a:moveTo>
                    <a:pt x="2497" y="553"/>
                  </a:moveTo>
                  <a:cubicBezTo>
                    <a:pt x="2497" y="578"/>
                    <a:pt x="2475" y="600"/>
                    <a:pt x="2450" y="600"/>
                  </a:cubicBezTo>
                  <a:cubicBezTo>
                    <a:pt x="2424" y="600"/>
                    <a:pt x="2403" y="578"/>
                    <a:pt x="2403" y="553"/>
                  </a:cubicBezTo>
                  <a:cubicBezTo>
                    <a:pt x="2403" y="527"/>
                    <a:pt x="2424" y="506"/>
                    <a:pt x="2450" y="506"/>
                  </a:cubicBezTo>
                  <a:cubicBezTo>
                    <a:pt x="2475" y="506"/>
                    <a:pt x="2497" y="527"/>
                    <a:pt x="2497" y="553"/>
                  </a:cubicBezTo>
                  <a:close/>
                  <a:moveTo>
                    <a:pt x="2597" y="553"/>
                  </a:moveTo>
                  <a:cubicBezTo>
                    <a:pt x="2597" y="578"/>
                    <a:pt x="2575" y="600"/>
                    <a:pt x="2550" y="600"/>
                  </a:cubicBezTo>
                  <a:cubicBezTo>
                    <a:pt x="2524" y="600"/>
                    <a:pt x="2503" y="578"/>
                    <a:pt x="2503" y="553"/>
                  </a:cubicBezTo>
                  <a:cubicBezTo>
                    <a:pt x="2503" y="527"/>
                    <a:pt x="2524" y="506"/>
                    <a:pt x="2550" y="506"/>
                  </a:cubicBezTo>
                  <a:cubicBezTo>
                    <a:pt x="2575" y="506"/>
                    <a:pt x="2597" y="527"/>
                    <a:pt x="2597" y="553"/>
                  </a:cubicBezTo>
                  <a:close/>
                  <a:moveTo>
                    <a:pt x="2697" y="553"/>
                  </a:moveTo>
                  <a:cubicBezTo>
                    <a:pt x="2697" y="578"/>
                    <a:pt x="2675" y="600"/>
                    <a:pt x="2650" y="600"/>
                  </a:cubicBezTo>
                  <a:cubicBezTo>
                    <a:pt x="2624" y="600"/>
                    <a:pt x="2603" y="578"/>
                    <a:pt x="2603" y="553"/>
                  </a:cubicBezTo>
                  <a:cubicBezTo>
                    <a:pt x="2603" y="527"/>
                    <a:pt x="2624" y="506"/>
                    <a:pt x="2650" y="506"/>
                  </a:cubicBezTo>
                  <a:cubicBezTo>
                    <a:pt x="2675" y="506"/>
                    <a:pt x="2697" y="527"/>
                    <a:pt x="2697" y="553"/>
                  </a:cubicBezTo>
                  <a:close/>
                  <a:moveTo>
                    <a:pt x="2797" y="553"/>
                  </a:moveTo>
                  <a:cubicBezTo>
                    <a:pt x="2797" y="578"/>
                    <a:pt x="2775" y="600"/>
                    <a:pt x="2750" y="600"/>
                  </a:cubicBezTo>
                  <a:cubicBezTo>
                    <a:pt x="2724" y="600"/>
                    <a:pt x="2703" y="578"/>
                    <a:pt x="2703" y="553"/>
                  </a:cubicBezTo>
                  <a:cubicBezTo>
                    <a:pt x="2703" y="527"/>
                    <a:pt x="2724" y="506"/>
                    <a:pt x="2750" y="506"/>
                  </a:cubicBezTo>
                  <a:cubicBezTo>
                    <a:pt x="2775" y="506"/>
                    <a:pt x="2797" y="527"/>
                    <a:pt x="2797" y="553"/>
                  </a:cubicBezTo>
                  <a:close/>
                  <a:moveTo>
                    <a:pt x="2897" y="553"/>
                  </a:moveTo>
                  <a:cubicBezTo>
                    <a:pt x="2897" y="578"/>
                    <a:pt x="2875" y="600"/>
                    <a:pt x="2850" y="600"/>
                  </a:cubicBezTo>
                  <a:cubicBezTo>
                    <a:pt x="2824" y="600"/>
                    <a:pt x="2803" y="578"/>
                    <a:pt x="2803" y="553"/>
                  </a:cubicBezTo>
                  <a:cubicBezTo>
                    <a:pt x="2803" y="527"/>
                    <a:pt x="2824" y="506"/>
                    <a:pt x="2850" y="506"/>
                  </a:cubicBezTo>
                  <a:cubicBezTo>
                    <a:pt x="2875" y="506"/>
                    <a:pt x="2897" y="527"/>
                    <a:pt x="2897" y="553"/>
                  </a:cubicBezTo>
                  <a:close/>
                  <a:moveTo>
                    <a:pt x="2997" y="553"/>
                  </a:moveTo>
                  <a:cubicBezTo>
                    <a:pt x="2997" y="578"/>
                    <a:pt x="2975" y="600"/>
                    <a:pt x="2950" y="600"/>
                  </a:cubicBezTo>
                  <a:cubicBezTo>
                    <a:pt x="2924" y="600"/>
                    <a:pt x="2903" y="578"/>
                    <a:pt x="2903" y="553"/>
                  </a:cubicBezTo>
                  <a:cubicBezTo>
                    <a:pt x="2903" y="527"/>
                    <a:pt x="2924" y="506"/>
                    <a:pt x="2950" y="506"/>
                  </a:cubicBezTo>
                  <a:cubicBezTo>
                    <a:pt x="2975" y="506"/>
                    <a:pt x="2997" y="527"/>
                    <a:pt x="2997" y="553"/>
                  </a:cubicBezTo>
                  <a:close/>
                  <a:moveTo>
                    <a:pt x="3097" y="553"/>
                  </a:moveTo>
                  <a:cubicBezTo>
                    <a:pt x="3097" y="578"/>
                    <a:pt x="3075" y="600"/>
                    <a:pt x="3050" y="600"/>
                  </a:cubicBezTo>
                  <a:cubicBezTo>
                    <a:pt x="3024" y="600"/>
                    <a:pt x="3003" y="578"/>
                    <a:pt x="3003" y="553"/>
                  </a:cubicBezTo>
                  <a:cubicBezTo>
                    <a:pt x="3003" y="527"/>
                    <a:pt x="3024" y="506"/>
                    <a:pt x="3050" y="506"/>
                  </a:cubicBezTo>
                  <a:cubicBezTo>
                    <a:pt x="3075" y="506"/>
                    <a:pt x="3097" y="527"/>
                    <a:pt x="3097" y="553"/>
                  </a:cubicBezTo>
                  <a:close/>
                  <a:moveTo>
                    <a:pt x="3197" y="553"/>
                  </a:moveTo>
                  <a:cubicBezTo>
                    <a:pt x="3197" y="578"/>
                    <a:pt x="3175" y="600"/>
                    <a:pt x="3150" y="600"/>
                  </a:cubicBezTo>
                  <a:cubicBezTo>
                    <a:pt x="3124" y="600"/>
                    <a:pt x="3103" y="578"/>
                    <a:pt x="3103" y="553"/>
                  </a:cubicBezTo>
                  <a:cubicBezTo>
                    <a:pt x="3103" y="527"/>
                    <a:pt x="3124" y="506"/>
                    <a:pt x="3150" y="506"/>
                  </a:cubicBezTo>
                  <a:cubicBezTo>
                    <a:pt x="3175" y="506"/>
                    <a:pt x="3197" y="527"/>
                    <a:pt x="3197" y="553"/>
                  </a:cubicBezTo>
                  <a:close/>
                  <a:moveTo>
                    <a:pt x="3297" y="553"/>
                  </a:moveTo>
                  <a:cubicBezTo>
                    <a:pt x="3297" y="578"/>
                    <a:pt x="3275" y="600"/>
                    <a:pt x="3250" y="600"/>
                  </a:cubicBezTo>
                  <a:cubicBezTo>
                    <a:pt x="3224" y="600"/>
                    <a:pt x="3203" y="578"/>
                    <a:pt x="3203" y="553"/>
                  </a:cubicBezTo>
                  <a:cubicBezTo>
                    <a:pt x="3203" y="527"/>
                    <a:pt x="3224" y="506"/>
                    <a:pt x="3250" y="506"/>
                  </a:cubicBezTo>
                  <a:cubicBezTo>
                    <a:pt x="3275" y="506"/>
                    <a:pt x="3297" y="527"/>
                    <a:pt x="3297" y="553"/>
                  </a:cubicBezTo>
                  <a:close/>
                  <a:moveTo>
                    <a:pt x="3397" y="553"/>
                  </a:moveTo>
                  <a:cubicBezTo>
                    <a:pt x="3397" y="578"/>
                    <a:pt x="3375" y="600"/>
                    <a:pt x="3350" y="600"/>
                  </a:cubicBezTo>
                  <a:cubicBezTo>
                    <a:pt x="3324" y="600"/>
                    <a:pt x="3303" y="578"/>
                    <a:pt x="3303" y="553"/>
                  </a:cubicBezTo>
                  <a:cubicBezTo>
                    <a:pt x="3303" y="527"/>
                    <a:pt x="3324" y="506"/>
                    <a:pt x="3350" y="506"/>
                  </a:cubicBezTo>
                  <a:cubicBezTo>
                    <a:pt x="3375" y="506"/>
                    <a:pt x="3397" y="527"/>
                    <a:pt x="3397" y="553"/>
                  </a:cubicBezTo>
                  <a:close/>
                  <a:moveTo>
                    <a:pt x="3497" y="553"/>
                  </a:moveTo>
                  <a:cubicBezTo>
                    <a:pt x="3497" y="578"/>
                    <a:pt x="3475" y="600"/>
                    <a:pt x="3450" y="600"/>
                  </a:cubicBezTo>
                  <a:cubicBezTo>
                    <a:pt x="3424" y="600"/>
                    <a:pt x="3403" y="578"/>
                    <a:pt x="3403" y="553"/>
                  </a:cubicBezTo>
                  <a:cubicBezTo>
                    <a:pt x="3403" y="527"/>
                    <a:pt x="3424" y="506"/>
                    <a:pt x="3450" y="506"/>
                  </a:cubicBezTo>
                  <a:cubicBezTo>
                    <a:pt x="3475" y="506"/>
                    <a:pt x="3497" y="527"/>
                    <a:pt x="3497" y="553"/>
                  </a:cubicBezTo>
                  <a:close/>
                  <a:moveTo>
                    <a:pt x="3597" y="553"/>
                  </a:moveTo>
                  <a:cubicBezTo>
                    <a:pt x="3597" y="578"/>
                    <a:pt x="3575" y="600"/>
                    <a:pt x="3550" y="600"/>
                  </a:cubicBezTo>
                  <a:cubicBezTo>
                    <a:pt x="3524" y="600"/>
                    <a:pt x="3503" y="578"/>
                    <a:pt x="3503" y="553"/>
                  </a:cubicBezTo>
                  <a:cubicBezTo>
                    <a:pt x="3503" y="527"/>
                    <a:pt x="3524" y="506"/>
                    <a:pt x="3550" y="506"/>
                  </a:cubicBezTo>
                  <a:cubicBezTo>
                    <a:pt x="3575" y="506"/>
                    <a:pt x="3597" y="527"/>
                    <a:pt x="3597" y="553"/>
                  </a:cubicBezTo>
                  <a:close/>
                  <a:moveTo>
                    <a:pt x="3697" y="553"/>
                  </a:moveTo>
                  <a:cubicBezTo>
                    <a:pt x="3697" y="578"/>
                    <a:pt x="3675" y="600"/>
                    <a:pt x="3650" y="600"/>
                  </a:cubicBezTo>
                  <a:cubicBezTo>
                    <a:pt x="3624" y="600"/>
                    <a:pt x="3603" y="578"/>
                    <a:pt x="3603" y="553"/>
                  </a:cubicBezTo>
                  <a:cubicBezTo>
                    <a:pt x="3603" y="527"/>
                    <a:pt x="3624" y="506"/>
                    <a:pt x="3650" y="506"/>
                  </a:cubicBezTo>
                  <a:cubicBezTo>
                    <a:pt x="3675" y="506"/>
                    <a:pt x="3697" y="527"/>
                    <a:pt x="3697" y="553"/>
                  </a:cubicBezTo>
                  <a:close/>
                  <a:moveTo>
                    <a:pt x="3797" y="553"/>
                  </a:moveTo>
                  <a:cubicBezTo>
                    <a:pt x="3797" y="578"/>
                    <a:pt x="3775" y="600"/>
                    <a:pt x="3750" y="600"/>
                  </a:cubicBezTo>
                  <a:cubicBezTo>
                    <a:pt x="3724" y="600"/>
                    <a:pt x="3703" y="578"/>
                    <a:pt x="3703" y="553"/>
                  </a:cubicBezTo>
                  <a:cubicBezTo>
                    <a:pt x="3703" y="527"/>
                    <a:pt x="3724" y="506"/>
                    <a:pt x="3750" y="506"/>
                  </a:cubicBezTo>
                  <a:cubicBezTo>
                    <a:pt x="3775" y="506"/>
                    <a:pt x="3797" y="527"/>
                    <a:pt x="3797" y="553"/>
                  </a:cubicBezTo>
                  <a:close/>
                  <a:moveTo>
                    <a:pt x="3897" y="553"/>
                  </a:moveTo>
                  <a:cubicBezTo>
                    <a:pt x="3897" y="578"/>
                    <a:pt x="3875" y="600"/>
                    <a:pt x="3850" y="600"/>
                  </a:cubicBezTo>
                  <a:cubicBezTo>
                    <a:pt x="3824" y="600"/>
                    <a:pt x="3803" y="578"/>
                    <a:pt x="3803" y="553"/>
                  </a:cubicBezTo>
                  <a:cubicBezTo>
                    <a:pt x="3803" y="527"/>
                    <a:pt x="3824" y="506"/>
                    <a:pt x="3850" y="506"/>
                  </a:cubicBezTo>
                  <a:cubicBezTo>
                    <a:pt x="3875" y="506"/>
                    <a:pt x="3897" y="527"/>
                    <a:pt x="3897" y="553"/>
                  </a:cubicBezTo>
                  <a:close/>
                  <a:moveTo>
                    <a:pt x="3997" y="553"/>
                  </a:moveTo>
                  <a:cubicBezTo>
                    <a:pt x="3997" y="578"/>
                    <a:pt x="3975" y="600"/>
                    <a:pt x="3950" y="600"/>
                  </a:cubicBezTo>
                  <a:cubicBezTo>
                    <a:pt x="3924" y="600"/>
                    <a:pt x="3903" y="578"/>
                    <a:pt x="3903" y="553"/>
                  </a:cubicBezTo>
                  <a:cubicBezTo>
                    <a:pt x="3903" y="527"/>
                    <a:pt x="3924" y="506"/>
                    <a:pt x="3950" y="506"/>
                  </a:cubicBezTo>
                  <a:cubicBezTo>
                    <a:pt x="3975" y="506"/>
                    <a:pt x="3997" y="527"/>
                    <a:pt x="3997" y="553"/>
                  </a:cubicBezTo>
                  <a:close/>
                  <a:moveTo>
                    <a:pt x="4097" y="553"/>
                  </a:moveTo>
                  <a:cubicBezTo>
                    <a:pt x="4097" y="578"/>
                    <a:pt x="4075" y="600"/>
                    <a:pt x="4050" y="600"/>
                  </a:cubicBezTo>
                  <a:cubicBezTo>
                    <a:pt x="4024" y="600"/>
                    <a:pt x="4003" y="578"/>
                    <a:pt x="4003" y="553"/>
                  </a:cubicBezTo>
                  <a:cubicBezTo>
                    <a:pt x="4003" y="527"/>
                    <a:pt x="4024" y="506"/>
                    <a:pt x="4050" y="506"/>
                  </a:cubicBezTo>
                  <a:cubicBezTo>
                    <a:pt x="4075" y="506"/>
                    <a:pt x="4097" y="527"/>
                    <a:pt x="4097" y="553"/>
                  </a:cubicBezTo>
                  <a:close/>
                  <a:moveTo>
                    <a:pt x="4197" y="553"/>
                  </a:moveTo>
                  <a:cubicBezTo>
                    <a:pt x="4197" y="578"/>
                    <a:pt x="4175" y="600"/>
                    <a:pt x="4150" y="600"/>
                  </a:cubicBezTo>
                  <a:cubicBezTo>
                    <a:pt x="4124" y="600"/>
                    <a:pt x="4103" y="578"/>
                    <a:pt x="4103" y="553"/>
                  </a:cubicBezTo>
                  <a:cubicBezTo>
                    <a:pt x="4103" y="527"/>
                    <a:pt x="4124" y="506"/>
                    <a:pt x="4150" y="506"/>
                  </a:cubicBezTo>
                  <a:cubicBezTo>
                    <a:pt x="4175" y="506"/>
                    <a:pt x="4197" y="527"/>
                    <a:pt x="4197" y="553"/>
                  </a:cubicBezTo>
                  <a:close/>
                  <a:moveTo>
                    <a:pt x="4297" y="553"/>
                  </a:moveTo>
                  <a:cubicBezTo>
                    <a:pt x="4297" y="578"/>
                    <a:pt x="4275" y="600"/>
                    <a:pt x="4250" y="600"/>
                  </a:cubicBezTo>
                  <a:cubicBezTo>
                    <a:pt x="4224" y="600"/>
                    <a:pt x="4203" y="578"/>
                    <a:pt x="4203" y="553"/>
                  </a:cubicBezTo>
                  <a:cubicBezTo>
                    <a:pt x="4203" y="527"/>
                    <a:pt x="4224" y="506"/>
                    <a:pt x="4250" y="506"/>
                  </a:cubicBezTo>
                  <a:cubicBezTo>
                    <a:pt x="4275" y="506"/>
                    <a:pt x="4297" y="527"/>
                    <a:pt x="4297" y="553"/>
                  </a:cubicBezTo>
                  <a:close/>
                  <a:moveTo>
                    <a:pt x="4397" y="553"/>
                  </a:moveTo>
                  <a:cubicBezTo>
                    <a:pt x="4397" y="578"/>
                    <a:pt x="4375" y="600"/>
                    <a:pt x="4350" y="600"/>
                  </a:cubicBezTo>
                  <a:cubicBezTo>
                    <a:pt x="4324" y="600"/>
                    <a:pt x="4303" y="578"/>
                    <a:pt x="4303" y="553"/>
                  </a:cubicBezTo>
                  <a:cubicBezTo>
                    <a:pt x="4303" y="527"/>
                    <a:pt x="4324" y="506"/>
                    <a:pt x="4350" y="506"/>
                  </a:cubicBezTo>
                  <a:cubicBezTo>
                    <a:pt x="4375" y="506"/>
                    <a:pt x="4397" y="527"/>
                    <a:pt x="4397" y="553"/>
                  </a:cubicBezTo>
                  <a:close/>
                  <a:moveTo>
                    <a:pt x="4497" y="553"/>
                  </a:moveTo>
                  <a:cubicBezTo>
                    <a:pt x="4497" y="578"/>
                    <a:pt x="4475" y="600"/>
                    <a:pt x="4450" y="600"/>
                  </a:cubicBezTo>
                  <a:cubicBezTo>
                    <a:pt x="4424" y="600"/>
                    <a:pt x="4403" y="578"/>
                    <a:pt x="4403" y="553"/>
                  </a:cubicBezTo>
                  <a:cubicBezTo>
                    <a:pt x="4403" y="527"/>
                    <a:pt x="4424" y="506"/>
                    <a:pt x="4450" y="506"/>
                  </a:cubicBezTo>
                  <a:cubicBezTo>
                    <a:pt x="4475" y="506"/>
                    <a:pt x="4497" y="527"/>
                    <a:pt x="4497" y="553"/>
                  </a:cubicBezTo>
                  <a:close/>
                  <a:moveTo>
                    <a:pt x="4597" y="553"/>
                  </a:moveTo>
                  <a:cubicBezTo>
                    <a:pt x="4597" y="578"/>
                    <a:pt x="4575" y="600"/>
                    <a:pt x="4550" y="600"/>
                  </a:cubicBezTo>
                  <a:cubicBezTo>
                    <a:pt x="4524" y="600"/>
                    <a:pt x="4503" y="578"/>
                    <a:pt x="4503" y="553"/>
                  </a:cubicBezTo>
                  <a:cubicBezTo>
                    <a:pt x="4503" y="527"/>
                    <a:pt x="4524" y="506"/>
                    <a:pt x="4550" y="506"/>
                  </a:cubicBezTo>
                  <a:cubicBezTo>
                    <a:pt x="4575" y="506"/>
                    <a:pt x="4597" y="527"/>
                    <a:pt x="4597" y="553"/>
                  </a:cubicBezTo>
                  <a:close/>
                  <a:moveTo>
                    <a:pt x="4697" y="553"/>
                  </a:moveTo>
                  <a:cubicBezTo>
                    <a:pt x="4697" y="578"/>
                    <a:pt x="4675" y="600"/>
                    <a:pt x="4650" y="600"/>
                  </a:cubicBezTo>
                  <a:cubicBezTo>
                    <a:pt x="4624" y="600"/>
                    <a:pt x="4603" y="578"/>
                    <a:pt x="4603" y="553"/>
                  </a:cubicBezTo>
                  <a:cubicBezTo>
                    <a:pt x="4603" y="527"/>
                    <a:pt x="4624" y="506"/>
                    <a:pt x="4650" y="506"/>
                  </a:cubicBezTo>
                  <a:cubicBezTo>
                    <a:pt x="4675" y="506"/>
                    <a:pt x="4697" y="527"/>
                    <a:pt x="4697" y="553"/>
                  </a:cubicBezTo>
                  <a:close/>
                  <a:moveTo>
                    <a:pt x="4797" y="553"/>
                  </a:moveTo>
                  <a:cubicBezTo>
                    <a:pt x="4797" y="578"/>
                    <a:pt x="4775" y="600"/>
                    <a:pt x="4750" y="600"/>
                  </a:cubicBezTo>
                  <a:cubicBezTo>
                    <a:pt x="4724" y="600"/>
                    <a:pt x="4703" y="578"/>
                    <a:pt x="4703" y="553"/>
                  </a:cubicBezTo>
                  <a:cubicBezTo>
                    <a:pt x="4703" y="527"/>
                    <a:pt x="4724" y="506"/>
                    <a:pt x="4750" y="506"/>
                  </a:cubicBezTo>
                  <a:cubicBezTo>
                    <a:pt x="4775" y="506"/>
                    <a:pt x="4797" y="527"/>
                    <a:pt x="4797" y="553"/>
                  </a:cubicBezTo>
                  <a:close/>
                  <a:moveTo>
                    <a:pt x="4897" y="553"/>
                  </a:moveTo>
                  <a:cubicBezTo>
                    <a:pt x="4897" y="578"/>
                    <a:pt x="4875" y="600"/>
                    <a:pt x="4850" y="600"/>
                  </a:cubicBezTo>
                  <a:cubicBezTo>
                    <a:pt x="4824" y="600"/>
                    <a:pt x="4803" y="578"/>
                    <a:pt x="4803" y="553"/>
                  </a:cubicBezTo>
                  <a:cubicBezTo>
                    <a:pt x="4803" y="527"/>
                    <a:pt x="4824" y="506"/>
                    <a:pt x="4850" y="506"/>
                  </a:cubicBezTo>
                  <a:cubicBezTo>
                    <a:pt x="4875" y="506"/>
                    <a:pt x="4897" y="527"/>
                    <a:pt x="4897" y="553"/>
                  </a:cubicBezTo>
                  <a:close/>
                  <a:moveTo>
                    <a:pt x="4997" y="553"/>
                  </a:moveTo>
                  <a:cubicBezTo>
                    <a:pt x="4997" y="578"/>
                    <a:pt x="4975" y="600"/>
                    <a:pt x="4950" y="600"/>
                  </a:cubicBezTo>
                  <a:cubicBezTo>
                    <a:pt x="4924" y="600"/>
                    <a:pt x="4903" y="578"/>
                    <a:pt x="4903" y="553"/>
                  </a:cubicBezTo>
                  <a:cubicBezTo>
                    <a:pt x="4903" y="527"/>
                    <a:pt x="4924" y="506"/>
                    <a:pt x="4950" y="506"/>
                  </a:cubicBezTo>
                  <a:cubicBezTo>
                    <a:pt x="4975" y="506"/>
                    <a:pt x="4997" y="527"/>
                    <a:pt x="4997" y="553"/>
                  </a:cubicBezTo>
                  <a:close/>
                  <a:moveTo>
                    <a:pt x="5097" y="553"/>
                  </a:moveTo>
                  <a:cubicBezTo>
                    <a:pt x="5097" y="578"/>
                    <a:pt x="5075" y="600"/>
                    <a:pt x="5050" y="600"/>
                  </a:cubicBezTo>
                  <a:cubicBezTo>
                    <a:pt x="5024" y="600"/>
                    <a:pt x="5003" y="578"/>
                    <a:pt x="5003" y="553"/>
                  </a:cubicBezTo>
                  <a:cubicBezTo>
                    <a:pt x="5003" y="527"/>
                    <a:pt x="5024" y="506"/>
                    <a:pt x="5050" y="506"/>
                  </a:cubicBezTo>
                  <a:cubicBezTo>
                    <a:pt x="5075" y="506"/>
                    <a:pt x="5097" y="527"/>
                    <a:pt x="5097" y="553"/>
                  </a:cubicBezTo>
                  <a:close/>
                  <a:moveTo>
                    <a:pt x="5197" y="553"/>
                  </a:moveTo>
                  <a:cubicBezTo>
                    <a:pt x="5197" y="578"/>
                    <a:pt x="5175" y="600"/>
                    <a:pt x="5150" y="600"/>
                  </a:cubicBezTo>
                  <a:cubicBezTo>
                    <a:pt x="5124" y="600"/>
                    <a:pt x="5103" y="578"/>
                    <a:pt x="5103" y="553"/>
                  </a:cubicBezTo>
                  <a:cubicBezTo>
                    <a:pt x="5103" y="527"/>
                    <a:pt x="5124" y="506"/>
                    <a:pt x="5150" y="506"/>
                  </a:cubicBezTo>
                  <a:cubicBezTo>
                    <a:pt x="5175" y="506"/>
                    <a:pt x="5197" y="527"/>
                    <a:pt x="5197" y="553"/>
                  </a:cubicBezTo>
                  <a:close/>
                  <a:moveTo>
                    <a:pt x="5297" y="553"/>
                  </a:moveTo>
                  <a:cubicBezTo>
                    <a:pt x="5297" y="578"/>
                    <a:pt x="5275" y="600"/>
                    <a:pt x="5250" y="600"/>
                  </a:cubicBezTo>
                  <a:cubicBezTo>
                    <a:pt x="5224" y="600"/>
                    <a:pt x="5203" y="578"/>
                    <a:pt x="5203" y="553"/>
                  </a:cubicBezTo>
                  <a:cubicBezTo>
                    <a:pt x="5203" y="527"/>
                    <a:pt x="5224" y="506"/>
                    <a:pt x="5250" y="506"/>
                  </a:cubicBezTo>
                  <a:cubicBezTo>
                    <a:pt x="5275" y="506"/>
                    <a:pt x="5297" y="527"/>
                    <a:pt x="5297" y="553"/>
                  </a:cubicBezTo>
                  <a:close/>
                  <a:moveTo>
                    <a:pt x="5397" y="553"/>
                  </a:moveTo>
                  <a:cubicBezTo>
                    <a:pt x="5397" y="578"/>
                    <a:pt x="5375" y="600"/>
                    <a:pt x="5350" y="600"/>
                  </a:cubicBezTo>
                  <a:cubicBezTo>
                    <a:pt x="5324" y="600"/>
                    <a:pt x="5303" y="578"/>
                    <a:pt x="5303" y="553"/>
                  </a:cubicBezTo>
                  <a:cubicBezTo>
                    <a:pt x="5303" y="527"/>
                    <a:pt x="5324" y="506"/>
                    <a:pt x="5350" y="506"/>
                  </a:cubicBezTo>
                  <a:cubicBezTo>
                    <a:pt x="5375" y="506"/>
                    <a:pt x="5397" y="527"/>
                    <a:pt x="5397" y="553"/>
                  </a:cubicBezTo>
                  <a:close/>
                  <a:moveTo>
                    <a:pt x="5497" y="553"/>
                  </a:moveTo>
                  <a:cubicBezTo>
                    <a:pt x="5497" y="578"/>
                    <a:pt x="5475" y="600"/>
                    <a:pt x="5450" y="600"/>
                  </a:cubicBezTo>
                  <a:cubicBezTo>
                    <a:pt x="5424" y="600"/>
                    <a:pt x="5403" y="578"/>
                    <a:pt x="5403" y="553"/>
                  </a:cubicBezTo>
                  <a:cubicBezTo>
                    <a:pt x="5403" y="527"/>
                    <a:pt x="5424" y="506"/>
                    <a:pt x="5450" y="506"/>
                  </a:cubicBezTo>
                  <a:cubicBezTo>
                    <a:pt x="5475" y="506"/>
                    <a:pt x="5497" y="527"/>
                    <a:pt x="5497" y="553"/>
                  </a:cubicBezTo>
                  <a:close/>
                  <a:moveTo>
                    <a:pt x="5597" y="553"/>
                  </a:moveTo>
                  <a:cubicBezTo>
                    <a:pt x="5597" y="578"/>
                    <a:pt x="5575" y="600"/>
                    <a:pt x="5550" y="600"/>
                  </a:cubicBezTo>
                  <a:cubicBezTo>
                    <a:pt x="5524" y="600"/>
                    <a:pt x="5503" y="578"/>
                    <a:pt x="5503" y="553"/>
                  </a:cubicBezTo>
                  <a:cubicBezTo>
                    <a:pt x="5503" y="527"/>
                    <a:pt x="5524" y="506"/>
                    <a:pt x="5550" y="506"/>
                  </a:cubicBezTo>
                  <a:cubicBezTo>
                    <a:pt x="5575" y="506"/>
                    <a:pt x="5597" y="527"/>
                    <a:pt x="5597" y="553"/>
                  </a:cubicBezTo>
                  <a:close/>
                  <a:moveTo>
                    <a:pt x="5697" y="553"/>
                  </a:moveTo>
                  <a:cubicBezTo>
                    <a:pt x="5697" y="578"/>
                    <a:pt x="5675" y="600"/>
                    <a:pt x="5650" y="600"/>
                  </a:cubicBezTo>
                  <a:cubicBezTo>
                    <a:pt x="5624" y="600"/>
                    <a:pt x="5603" y="578"/>
                    <a:pt x="5603" y="553"/>
                  </a:cubicBezTo>
                  <a:cubicBezTo>
                    <a:pt x="5603" y="527"/>
                    <a:pt x="5624" y="506"/>
                    <a:pt x="5650" y="506"/>
                  </a:cubicBezTo>
                  <a:cubicBezTo>
                    <a:pt x="5675" y="506"/>
                    <a:pt x="5697" y="527"/>
                    <a:pt x="5697" y="553"/>
                  </a:cubicBezTo>
                  <a:close/>
                  <a:moveTo>
                    <a:pt x="5797" y="553"/>
                  </a:moveTo>
                  <a:cubicBezTo>
                    <a:pt x="5797" y="578"/>
                    <a:pt x="5775" y="600"/>
                    <a:pt x="5750" y="600"/>
                  </a:cubicBezTo>
                  <a:cubicBezTo>
                    <a:pt x="5724" y="600"/>
                    <a:pt x="5703" y="578"/>
                    <a:pt x="5703" y="553"/>
                  </a:cubicBezTo>
                  <a:cubicBezTo>
                    <a:pt x="5703" y="527"/>
                    <a:pt x="5724" y="506"/>
                    <a:pt x="5750" y="506"/>
                  </a:cubicBezTo>
                  <a:cubicBezTo>
                    <a:pt x="5775" y="506"/>
                    <a:pt x="5797" y="527"/>
                    <a:pt x="5797" y="553"/>
                  </a:cubicBezTo>
                  <a:close/>
                  <a:moveTo>
                    <a:pt x="5897" y="553"/>
                  </a:moveTo>
                  <a:cubicBezTo>
                    <a:pt x="5897" y="578"/>
                    <a:pt x="5875" y="600"/>
                    <a:pt x="5850" y="600"/>
                  </a:cubicBezTo>
                  <a:cubicBezTo>
                    <a:pt x="5824" y="600"/>
                    <a:pt x="5803" y="578"/>
                    <a:pt x="5803" y="553"/>
                  </a:cubicBezTo>
                  <a:cubicBezTo>
                    <a:pt x="5803" y="527"/>
                    <a:pt x="5824" y="506"/>
                    <a:pt x="5850" y="506"/>
                  </a:cubicBezTo>
                  <a:cubicBezTo>
                    <a:pt x="5875" y="506"/>
                    <a:pt x="5897" y="527"/>
                    <a:pt x="5897" y="553"/>
                  </a:cubicBezTo>
                  <a:close/>
                  <a:moveTo>
                    <a:pt x="5997" y="553"/>
                  </a:moveTo>
                  <a:cubicBezTo>
                    <a:pt x="5997" y="578"/>
                    <a:pt x="5975" y="600"/>
                    <a:pt x="5950" y="600"/>
                  </a:cubicBezTo>
                  <a:cubicBezTo>
                    <a:pt x="5924" y="600"/>
                    <a:pt x="5903" y="578"/>
                    <a:pt x="5903" y="553"/>
                  </a:cubicBezTo>
                  <a:cubicBezTo>
                    <a:pt x="5903" y="527"/>
                    <a:pt x="5924" y="506"/>
                    <a:pt x="5950" y="506"/>
                  </a:cubicBezTo>
                  <a:cubicBezTo>
                    <a:pt x="5975" y="506"/>
                    <a:pt x="5997" y="527"/>
                    <a:pt x="5997" y="553"/>
                  </a:cubicBezTo>
                  <a:close/>
                  <a:moveTo>
                    <a:pt x="6097" y="553"/>
                  </a:moveTo>
                  <a:cubicBezTo>
                    <a:pt x="6097" y="578"/>
                    <a:pt x="6075" y="600"/>
                    <a:pt x="6050" y="600"/>
                  </a:cubicBezTo>
                  <a:cubicBezTo>
                    <a:pt x="6024" y="600"/>
                    <a:pt x="6003" y="578"/>
                    <a:pt x="6003" y="553"/>
                  </a:cubicBezTo>
                  <a:cubicBezTo>
                    <a:pt x="6003" y="527"/>
                    <a:pt x="6024" y="506"/>
                    <a:pt x="6050" y="506"/>
                  </a:cubicBezTo>
                  <a:cubicBezTo>
                    <a:pt x="6075" y="506"/>
                    <a:pt x="6097" y="527"/>
                    <a:pt x="6097" y="553"/>
                  </a:cubicBezTo>
                  <a:close/>
                  <a:moveTo>
                    <a:pt x="6197" y="553"/>
                  </a:moveTo>
                  <a:cubicBezTo>
                    <a:pt x="6197" y="578"/>
                    <a:pt x="6175" y="600"/>
                    <a:pt x="6150" y="600"/>
                  </a:cubicBezTo>
                  <a:cubicBezTo>
                    <a:pt x="6124" y="600"/>
                    <a:pt x="6103" y="578"/>
                    <a:pt x="6103" y="553"/>
                  </a:cubicBezTo>
                  <a:cubicBezTo>
                    <a:pt x="6103" y="527"/>
                    <a:pt x="6124" y="506"/>
                    <a:pt x="6150" y="506"/>
                  </a:cubicBezTo>
                  <a:cubicBezTo>
                    <a:pt x="6175" y="506"/>
                    <a:pt x="6197" y="527"/>
                    <a:pt x="6197" y="553"/>
                  </a:cubicBezTo>
                  <a:close/>
                  <a:moveTo>
                    <a:pt x="6297" y="553"/>
                  </a:moveTo>
                  <a:cubicBezTo>
                    <a:pt x="6297" y="578"/>
                    <a:pt x="6275" y="600"/>
                    <a:pt x="6250" y="600"/>
                  </a:cubicBezTo>
                  <a:cubicBezTo>
                    <a:pt x="6224" y="600"/>
                    <a:pt x="6203" y="578"/>
                    <a:pt x="6203" y="553"/>
                  </a:cubicBezTo>
                  <a:cubicBezTo>
                    <a:pt x="6203" y="527"/>
                    <a:pt x="6224" y="506"/>
                    <a:pt x="6250" y="506"/>
                  </a:cubicBezTo>
                  <a:cubicBezTo>
                    <a:pt x="6275" y="506"/>
                    <a:pt x="6297" y="527"/>
                    <a:pt x="6297" y="553"/>
                  </a:cubicBezTo>
                  <a:close/>
                  <a:moveTo>
                    <a:pt x="6397" y="553"/>
                  </a:moveTo>
                  <a:cubicBezTo>
                    <a:pt x="6397" y="578"/>
                    <a:pt x="6375" y="600"/>
                    <a:pt x="6350" y="600"/>
                  </a:cubicBezTo>
                  <a:cubicBezTo>
                    <a:pt x="6324" y="600"/>
                    <a:pt x="6303" y="578"/>
                    <a:pt x="6303" y="553"/>
                  </a:cubicBezTo>
                  <a:cubicBezTo>
                    <a:pt x="6303" y="527"/>
                    <a:pt x="6324" y="506"/>
                    <a:pt x="6350" y="506"/>
                  </a:cubicBezTo>
                  <a:cubicBezTo>
                    <a:pt x="6375" y="506"/>
                    <a:pt x="6397" y="527"/>
                    <a:pt x="6397" y="553"/>
                  </a:cubicBezTo>
                  <a:close/>
                  <a:moveTo>
                    <a:pt x="6497" y="553"/>
                  </a:moveTo>
                  <a:cubicBezTo>
                    <a:pt x="6497" y="578"/>
                    <a:pt x="6475" y="600"/>
                    <a:pt x="6450" y="600"/>
                  </a:cubicBezTo>
                  <a:cubicBezTo>
                    <a:pt x="6424" y="600"/>
                    <a:pt x="6403" y="578"/>
                    <a:pt x="6403" y="553"/>
                  </a:cubicBezTo>
                  <a:cubicBezTo>
                    <a:pt x="6403" y="527"/>
                    <a:pt x="6424" y="506"/>
                    <a:pt x="6450" y="506"/>
                  </a:cubicBezTo>
                  <a:cubicBezTo>
                    <a:pt x="6475" y="506"/>
                    <a:pt x="6497" y="527"/>
                    <a:pt x="6497" y="553"/>
                  </a:cubicBezTo>
                  <a:close/>
                  <a:moveTo>
                    <a:pt x="6597" y="553"/>
                  </a:moveTo>
                  <a:cubicBezTo>
                    <a:pt x="6597" y="578"/>
                    <a:pt x="6575" y="600"/>
                    <a:pt x="6550" y="600"/>
                  </a:cubicBezTo>
                  <a:cubicBezTo>
                    <a:pt x="6524" y="600"/>
                    <a:pt x="6503" y="578"/>
                    <a:pt x="6503" y="553"/>
                  </a:cubicBezTo>
                  <a:cubicBezTo>
                    <a:pt x="6503" y="527"/>
                    <a:pt x="6524" y="506"/>
                    <a:pt x="6550" y="506"/>
                  </a:cubicBezTo>
                  <a:cubicBezTo>
                    <a:pt x="6575" y="506"/>
                    <a:pt x="6597" y="527"/>
                    <a:pt x="6597" y="553"/>
                  </a:cubicBezTo>
                  <a:close/>
                  <a:moveTo>
                    <a:pt x="6697" y="553"/>
                  </a:moveTo>
                  <a:cubicBezTo>
                    <a:pt x="6697" y="578"/>
                    <a:pt x="6675" y="600"/>
                    <a:pt x="6650" y="600"/>
                  </a:cubicBezTo>
                  <a:cubicBezTo>
                    <a:pt x="6624" y="600"/>
                    <a:pt x="6603" y="578"/>
                    <a:pt x="6603" y="553"/>
                  </a:cubicBezTo>
                  <a:cubicBezTo>
                    <a:pt x="6603" y="527"/>
                    <a:pt x="6624" y="506"/>
                    <a:pt x="6650" y="506"/>
                  </a:cubicBezTo>
                  <a:cubicBezTo>
                    <a:pt x="6675" y="506"/>
                    <a:pt x="6697" y="527"/>
                    <a:pt x="6697" y="553"/>
                  </a:cubicBezTo>
                  <a:close/>
                  <a:moveTo>
                    <a:pt x="6797" y="553"/>
                  </a:moveTo>
                  <a:cubicBezTo>
                    <a:pt x="6797" y="578"/>
                    <a:pt x="6775" y="600"/>
                    <a:pt x="6750" y="600"/>
                  </a:cubicBezTo>
                  <a:cubicBezTo>
                    <a:pt x="6724" y="600"/>
                    <a:pt x="6703" y="578"/>
                    <a:pt x="6703" y="553"/>
                  </a:cubicBezTo>
                  <a:cubicBezTo>
                    <a:pt x="6703" y="527"/>
                    <a:pt x="6724" y="506"/>
                    <a:pt x="6750" y="506"/>
                  </a:cubicBezTo>
                  <a:cubicBezTo>
                    <a:pt x="6775" y="506"/>
                    <a:pt x="6797" y="527"/>
                    <a:pt x="6797" y="553"/>
                  </a:cubicBezTo>
                  <a:close/>
                  <a:moveTo>
                    <a:pt x="6897" y="553"/>
                  </a:moveTo>
                  <a:cubicBezTo>
                    <a:pt x="6897" y="578"/>
                    <a:pt x="6875" y="600"/>
                    <a:pt x="6850" y="600"/>
                  </a:cubicBezTo>
                  <a:cubicBezTo>
                    <a:pt x="6824" y="600"/>
                    <a:pt x="6803" y="578"/>
                    <a:pt x="6803" y="553"/>
                  </a:cubicBezTo>
                  <a:cubicBezTo>
                    <a:pt x="6803" y="527"/>
                    <a:pt x="6824" y="506"/>
                    <a:pt x="6850" y="506"/>
                  </a:cubicBezTo>
                  <a:cubicBezTo>
                    <a:pt x="6875" y="506"/>
                    <a:pt x="6897" y="527"/>
                    <a:pt x="6897" y="553"/>
                  </a:cubicBezTo>
                  <a:close/>
                  <a:moveTo>
                    <a:pt x="6997" y="553"/>
                  </a:moveTo>
                  <a:cubicBezTo>
                    <a:pt x="6997" y="578"/>
                    <a:pt x="6975" y="600"/>
                    <a:pt x="6950" y="600"/>
                  </a:cubicBezTo>
                  <a:cubicBezTo>
                    <a:pt x="6924" y="600"/>
                    <a:pt x="6903" y="578"/>
                    <a:pt x="6903" y="553"/>
                  </a:cubicBezTo>
                  <a:cubicBezTo>
                    <a:pt x="6903" y="527"/>
                    <a:pt x="6924" y="506"/>
                    <a:pt x="6950" y="506"/>
                  </a:cubicBezTo>
                  <a:cubicBezTo>
                    <a:pt x="6975" y="506"/>
                    <a:pt x="6997" y="527"/>
                    <a:pt x="6997" y="553"/>
                  </a:cubicBezTo>
                  <a:close/>
                  <a:moveTo>
                    <a:pt x="7097" y="553"/>
                  </a:moveTo>
                  <a:cubicBezTo>
                    <a:pt x="7097" y="578"/>
                    <a:pt x="7075" y="600"/>
                    <a:pt x="7050" y="600"/>
                  </a:cubicBezTo>
                  <a:cubicBezTo>
                    <a:pt x="7024" y="600"/>
                    <a:pt x="7003" y="578"/>
                    <a:pt x="7003" y="553"/>
                  </a:cubicBezTo>
                  <a:cubicBezTo>
                    <a:pt x="7003" y="527"/>
                    <a:pt x="7024" y="506"/>
                    <a:pt x="7050" y="506"/>
                  </a:cubicBezTo>
                  <a:cubicBezTo>
                    <a:pt x="7075" y="506"/>
                    <a:pt x="7097" y="527"/>
                    <a:pt x="7097" y="553"/>
                  </a:cubicBezTo>
                  <a:close/>
                  <a:moveTo>
                    <a:pt x="7197" y="553"/>
                  </a:moveTo>
                  <a:cubicBezTo>
                    <a:pt x="7197" y="578"/>
                    <a:pt x="7175" y="600"/>
                    <a:pt x="7150" y="600"/>
                  </a:cubicBezTo>
                  <a:cubicBezTo>
                    <a:pt x="7124" y="600"/>
                    <a:pt x="7103" y="578"/>
                    <a:pt x="7103" y="553"/>
                  </a:cubicBezTo>
                  <a:cubicBezTo>
                    <a:pt x="7103" y="527"/>
                    <a:pt x="7124" y="506"/>
                    <a:pt x="7150" y="506"/>
                  </a:cubicBezTo>
                  <a:cubicBezTo>
                    <a:pt x="7175" y="506"/>
                    <a:pt x="7197" y="527"/>
                    <a:pt x="7197" y="553"/>
                  </a:cubicBezTo>
                  <a:close/>
                  <a:moveTo>
                    <a:pt x="7297" y="553"/>
                  </a:moveTo>
                  <a:cubicBezTo>
                    <a:pt x="7297" y="578"/>
                    <a:pt x="7275" y="600"/>
                    <a:pt x="7250" y="600"/>
                  </a:cubicBezTo>
                  <a:cubicBezTo>
                    <a:pt x="7224" y="600"/>
                    <a:pt x="7203" y="578"/>
                    <a:pt x="7203" y="553"/>
                  </a:cubicBezTo>
                  <a:cubicBezTo>
                    <a:pt x="7203" y="527"/>
                    <a:pt x="7224" y="506"/>
                    <a:pt x="7250" y="506"/>
                  </a:cubicBezTo>
                  <a:cubicBezTo>
                    <a:pt x="7275" y="506"/>
                    <a:pt x="7297" y="527"/>
                    <a:pt x="7297" y="553"/>
                  </a:cubicBezTo>
                  <a:close/>
                  <a:moveTo>
                    <a:pt x="7397" y="553"/>
                  </a:moveTo>
                  <a:cubicBezTo>
                    <a:pt x="7397" y="578"/>
                    <a:pt x="7375" y="600"/>
                    <a:pt x="7350" y="600"/>
                  </a:cubicBezTo>
                  <a:cubicBezTo>
                    <a:pt x="7324" y="600"/>
                    <a:pt x="7303" y="578"/>
                    <a:pt x="7303" y="553"/>
                  </a:cubicBezTo>
                  <a:cubicBezTo>
                    <a:pt x="7303" y="527"/>
                    <a:pt x="7324" y="506"/>
                    <a:pt x="7350" y="506"/>
                  </a:cubicBezTo>
                  <a:cubicBezTo>
                    <a:pt x="7375" y="506"/>
                    <a:pt x="7397" y="527"/>
                    <a:pt x="7397" y="553"/>
                  </a:cubicBezTo>
                  <a:close/>
                  <a:moveTo>
                    <a:pt x="7497" y="553"/>
                  </a:moveTo>
                  <a:cubicBezTo>
                    <a:pt x="7497" y="578"/>
                    <a:pt x="7475" y="600"/>
                    <a:pt x="7450" y="600"/>
                  </a:cubicBezTo>
                  <a:cubicBezTo>
                    <a:pt x="7424" y="600"/>
                    <a:pt x="7403" y="578"/>
                    <a:pt x="7403" y="553"/>
                  </a:cubicBezTo>
                  <a:cubicBezTo>
                    <a:pt x="7403" y="527"/>
                    <a:pt x="7424" y="506"/>
                    <a:pt x="7450" y="506"/>
                  </a:cubicBezTo>
                  <a:cubicBezTo>
                    <a:pt x="7475" y="506"/>
                    <a:pt x="7497" y="527"/>
                    <a:pt x="7497" y="553"/>
                  </a:cubicBezTo>
                  <a:close/>
                  <a:moveTo>
                    <a:pt x="7597" y="553"/>
                  </a:moveTo>
                  <a:cubicBezTo>
                    <a:pt x="7597" y="578"/>
                    <a:pt x="7575" y="600"/>
                    <a:pt x="7550" y="600"/>
                  </a:cubicBezTo>
                  <a:cubicBezTo>
                    <a:pt x="7524" y="600"/>
                    <a:pt x="7503" y="578"/>
                    <a:pt x="7503" y="553"/>
                  </a:cubicBezTo>
                  <a:cubicBezTo>
                    <a:pt x="7503" y="527"/>
                    <a:pt x="7524" y="506"/>
                    <a:pt x="7550" y="506"/>
                  </a:cubicBezTo>
                  <a:cubicBezTo>
                    <a:pt x="7575" y="506"/>
                    <a:pt x="7597" y="527"/>
                    <a:pt x="7597" y="553"/>
                  </a:cubicBezTo>
                  <a:close/>
                  <a:moveTo>
                    <a:pt x="7697" y="553"/>
                  </a:moveTo>
                  <a:cubicBezTo>
                    <a:pt x="7697" y="578"/>
                    <a:pt x="7675" y="600"/>
                    <a:pt x="7650" y="600"/>
                  </a:cubicBezTo>
                  <a:cubicBezTo>
                    <a:pt x="7624" y="600"/>
                    <a:pt x="7603" y="578"/>
                    <a:pt x="7603" y="553"/>
                  </a:cubicBezTo>
                  <a:cubicBezTo>
                    <a:pt x="7603" y="527"/>
                    <a:pt x="7624" y="506"/>
                    <a:pt x="7650" y="506"/>
                  </a:cubicBezTo>
                  <a:cubicBezTo>
                    <a:pt x="7675" y="506"/>
                    <a:pt x="7697" y="527"/>
                    <a:pt x="7697" y="553"/>
                  </a:cubicBezTo>
                  <a:close/>
                  <a:moveTo>
                    <a:pt x="7797" y="553"/>
                  </a:moveTo>
                  <a:cubicBezTo>
                    <a:pt x="7797" y="578"/>
                    <a:pt x="7775" y="600"/>
                    <a:pt x="7750" y="600"/>
                  </a:cubicBezTo>
                  <a:cubicBezTo>
                    <a:pt x="7724" y="600"/>
                    <a:pt x="7703" y="578"/>
                    <a:pt x="7703" y="553"/>
                  </a:cubicBezTo>
                  <a:cubicBezTo>
                    <a:pt x="7703" y="527"/>
                    <a:pt x="7724" y="506"/>
                    <a:pt x="7750" y="506"/>
                  </a:cubicBezTo>
                  <a:cubicBezTo>
                    <a:pt x="7775" y="506"/>
                    <a:pt x="7797" y="527"/>
                    <a:pt x="7797" y="553"/>
                  </a:cubicBezTo>
                  <a:close/>
                  <a:moveTo>
                    <a:pt x="7897" y="553"/>
                  </a:moveTo>
                  <a:cubicBezTo>
                    <a:pt x="7897" y="578"/>
                    <a:pt x="7875" y="600"/>
                    <a:pt x="7850" y="600"/>
                  </a:cubicBezTo>
                  <a:cubicBezTo>
                    <a:pt x="7824" y="600"/>
                    <a:pt x="7803" y="578"/>
                    <a:pt x="7803" y="553"/>
                  </a:cubicBezTo>
                  <a:cubicBezTo>
                    <a:pt x="7803" y="527"/>
                    <a:pt x="7824" y="506"/>
                    <a:pt x="7850" y="506"/>
                  </a:cubicBezTo>
                  <a:cubicBezTo>
                    <a:pt x="7875" y="506"/>
                    <a:pt x="7897" y="527"/>
                    <a:pt x="7897" y="553"/>
                  </a:cubicBezTo>
                  <a:close/>
                  <a:moveTo>
                    <a:pt x="7997" y="553"/>
                  </a:moveTo>
                  <a:cubicBezTo>
                    <a:pt x="7997" y="578"/>
                    <a:pt x="7975" y="600"/>
                    <a:pt x="7950" y="600"/>
                  </a:cubicBezTo>
                  <a:cubicBezTo>
                    <a:pt x="7924" y="600"/>
                    <a:pt x="7903" y="578"/>
                    <a:pt x="7903" y="553"/>
                  </a:cubicBezTo>
                  <a:cubicBezTo>
                    <a:pt x="7903" y="527"/>
                    <a:pt x="7924" y="506"/>
                    <a:pt x="7950" y="506"/>
                  </a:cubicBezTo>
                  <a:cubicBezTo>
                    <a:pt x="7975" y="506"/>
                    <a:pt x="7997" y="527"/>
                    <a:pt x="7997" y="553"/>
                  </a:cubicBezTo>
                  <a:close/>
                  <a:moveTo>
                    <a:pt x="8097" y="553"/>
                  </a:moveTo>
                  <a:cubicBezTo>
                    <a:pt x="8097" y="578"/>
                    <a:pt x="8075" y="600"/>
                    <a:pt x="8050" y="600"/>
                  </a:cubicBezTo>
                  <a:cubicBezTo>
                    <a:pt x="8024" y="600"/>
                    <a:pt x="8003" y="578"/>
                    <a:pt x="8003" y="553"/>
                  </a:cubicBezTo>
                  <a:cubicBezTo>
                    <a:pt x="8003" y="527"/>
                    <a:pt x="8024" y="506"/>
                    <a:pt x="8050" y="506"/>
                  </a:cubicBezTo>
                  <a:cubicBezTo>
                    <a:pt x="8075" y="506"/>
                    <a:pt x="8097" y="527"/>
                    <a:pt x="8097" y="553"/>
                  </a:cubicBezTo>
                  <a:close/>
                  <a:moveTo>
                    <a:pt x="8197" y="553"/>
                  </a:moveTo>
                  <a:cubicBezTo>
                    <a:pt x="8197" y="578"/>
                    <a:pt x="8175" y="600"/>
                    <a:pt x="8150" y="600"/>
                  </a:cubicBezTo>
                  <a:cubicBezTo>
                    <a:pt x="8124" y="600"/>
                    <a:pt x="8103" y="578"/>
                    <a:pt x="8103" y="553"/>
                  </a:cubicBezTo>
                  <a:cubicBezTo>
                    <a:pt x="8103" y="527"/>
                    <a:pt x="8124" y="506"/>
                    <a:pt x="8150" y="506"/>
                  </a:cubicBezTo>
                  <a:cubicBezTo>
                    <a:pt x="8175" y="506"/>
                    <a:pt x="8197" y="527"/>
                    <a:pt x="8197" y="553"/>
                  </a:cubicBezTo>
                  <a:close/>
                  <a:moveTo>
                    <a:pt x="8297" y="553"/>
                  </a:moveTo>
                  <a:cubicBezTo>
                    <a:pt x="8297" y="578"/>
                    <a:pt x="8275" y="600"/>
                    <a:pt x="8250" y="600"/>
                  </a:cubicBezTo>
                  <a:cubicBezTo>
                    <a:pt x="8224" y="600"/>
                    <a:pt x="8203" y="578"/>
                    <a:pt x="8203" y="553"/>
                  </a:cubicBezTo>
                  <a:cubicBezTo>
                    <a:pt x="8203" y="527"/>
                    <a:pt x="8224" y="506"/>
                    <a:pt x="8250" y="506"/>
                  </a:cubicBezTo>
                  <a:cubicBezTo>
                    <a:pt x="8275" y="506"/>
                    <a:pt x="8297" y="527"/>
                    <a:pt x="8297" y="553"/>
                  </a:cubicBezTo>
                  <a:close/>
                  <a:moveTo>
                    <a:pt x="8397" y="553"/>
                  </a:moveTo>
                  <a:cubicBezTo>
                    <a:pt x="8397" y="578"/>
                    <a:pt x="8375" y="600"/>
                    <a:pt x="8350" y="600"/>
                  </a:cubicBezTo>
                  <a:cubicBezTo>
                    <a:pt x="8324" y="600"/>
                    <a:pt x="8303" y="578"/>
                    <a:pt x="8303" y="553"/>
                  </a:cubicBezTo>
                  <a:cubicBezTo>
                    <a:pt x="8303" y="527"/>
                    <a:pt x="8324" y="506"/>
                    <a:pt x="8350" y="506"/>
                  </a:cubicBezTo>
                  <a:cubicBezTo>
                    <a:pt x="8375" y="506"/>
                    <a:pt x="8397" y="527"/>
                    <a:pt x="8397" y="553"/>
                  </a:cubicBezTo>
                  <a:close/>
                </a:path>
              </a:pathLst>
            </a:custGeom>
            <a:gradFill rotWithShape="1">
              <a:gsLst>
                <a:gs pos="0">
                  <a:srgbClr val="ECB693"/>
                </a:gs>
                <a:gs pos="55000">
                  <a:srgbClr val="E59866"/>
                </a:gs>
                <a:gs pos="100000">
                  <a:srgbClr val="B77951"/>
                </a:gs>
              </a:gsLst>
              <a:path path="circle">
                <a:fillToRect l="32000" t="28000" r="68000" b="72000"/>
              </a:path>
            </a:gradFill>
            <a:ln w="6350" cap="rnd">
              <a:solidFill>
                <a:srgbClr val="7D5338"/>
              </a:solidFill>
              <a:round/>
            </a:ln>
          </p:spPr>
        </p:sp>
        <p:sp>
          <p:nvSpPr>
            <p:cNvPr id="9" name="Forma 8"/>
            <p:cNvSpPr/>
            <p:nvPr/>
          </p:nvSpPr>
          <p:spPr>
            <a:xfrm>
              <a:off x="274320" y="2194560"/>
              <a:ext cx="7680960" cy="548640"/>
            </a:xfrm>
            <a:custGeom>
              <a:avLst/>
              <a:gdLst/>
              <a:ahLst/>
              <a:cxnLst/>
              <a:rect l="0" t="0" r="r" b="b"/>
              <a:pathLst>
                <a:path w="8400" h="600" fill="none">
                  <a:moveTo>
                    <a:pt x="35" y="94"/>
                  </a:moveTo>
                  <a:lnTo>
                    <a:pt x="35" y="290"/>
                  </a:lnTo>
                </a:path>
                <a:path w="8400" h="600" fill="none">
                  <a:moveTo>
                    <a:pt x="65" y="94"/>
                  </a:moveTo>
                  <a:lnTo>
                    <a:pt x="65" y="290"/>
                  </a:lnTo>
                </a:path>
                <a:path w="8400" h="600" fill="none">
                  <a:moveTo>
                    <a:pt x="35" y="506"/>
                  </a:moveTo>
                  <a:lnTo>
                    <a:pt x="35" y="310"/>
                  </a:lnTo>
                </a:path>
                <a:path w="8400" h="600" fill="none">
                  <a:moveTo>
                    <a:pt x="65" y="506"/>
                  </a:moveTo>
                  <a:lnTo>
                    <a:pt x="65" y="310"/>
                  </a:lnTo>
                </a:path>
                <a:path w="8400" h="600" fill="none">
                  <a:moveTo>
                    <a:pt x="135" y="94"/>
                  </a:moveTo>
                  <a:lnTo>
                    <a:pt x="135" y="290"/>
                  </a:lnTo>
                </a:path>
                <a:path w="8400" h="600" fill="none">
                  <a:moveTo>
                    <a:pt x="165" y="94"/>
                  </a:moveTo>
                  <a:lnTo>
                    <a:pt x="165" y="290"/>
                  </a:lnTo>
                </a:path>
                <a:path w="8400" h="600" fill="none">
                  <a:moveTo>
                    <a:pt x="135" y="506"/>
                  </a:moveTo>
                  <a:lnTo>
                    <a:pt x="135" y="310"/>
                  </a:lnTo>
                </a:path>
                <a:path w="8400" h="600" fill="none">
                  <a:moveTo>
                    <a:pt x="165" y="506"/>
                  </a:moveTo>
                  <a:lnTo>
                    <a:pt x="165" y="310"/>
                  </a:lnTo>
                </a:path>
                <a:path w="8400" h="600" fill="none">
                  <a:moveTo>
                    <a:pt x="235" y="94"/>
                  </a:moveTo>
                  <a:lnTo>
                    <a:pt x="235" y="290"/>
                  </a:lnTo>
                </a:path>
                <a:path w="8400" h="600" fill="none">
                  <a:moveTo>
                    <a:pt x="265" y="94"/>
                  </a:moveTo>
                  <a:lnTo>
                    <a:pt x="265" y="290"/>
                  </a:lnTo>
                </a:path>
                <a:path w="8400" h="600" fill="none">
                  <a:moveTo>
                    <a:pt x="235" y="506"/>
                  </a:moveTo>
                  <a:lnTo>
                    <a:pt x="235" y="310"/>
                  </a:lnTo>
                </a:path>
                <a:path w="8400" h="600" fill="none">
                  <a:moveTo>
                    <a:pt x="265" y="506"/>
                  </a:moveTo>
                  <a:lnTo>
                    <a:pt x="265" y="310"/>
                  </a:lnTo>
                </a:path>
                <a:path w="8400" h="600" fill="none">
                  <a:moveTo>
                    <a:pt x="335" y="94"/>
                  </a:moveTo>
                  <a:lnTo>
                    <a:pt x="335" y="290"/>
                  </a:lnTo>
                </a:path>
                <a:path w="8400" h="600" fill="none">
                  <a:moveTo>
                    <a:pt x="365" y="94"/>
                  </a:moveTo>
                  <a:lnTo>
                    <a:pt x="365" y="290"/>
                  </a:lnTo>
                </a:path>
                <a:path w="8400" h="600" fill="none">
                  <a:moveTo>
                    <a:pt x="335" y="506"/>
                  </a:moveTo>
                  <a:lnTo>
                    <a:pt x="335" y="310"/>
                  </a:lnTo>
                </a:path>
                <a:path w="8400" h="600" fill="none">
                  <a:moveTo>
                    <a:pt x="365" y="506"/>
                  </a:moveTo>
                  <a:lnTo>
                    <a:pt x="365" y="310"/>
                  </a:lnTo>
                </a:path>
                <a:path w="8400" h="600" fill="none">
                  <a:moveTo>
                    <a:pt x="435" y="94"/>
                  </a:moveTo>
                  <a:lnTo>
                    <a:pt x="435" y="290"/>
                  </a:lnTo>
                </a:path>
                <a:path w="8400" h="600" fill="none">
                  <a:moveTo>
                    <a:pt x="465" y="94"/>
                  </a:moveTo>
                  <a:lnTo>
                    <a:pt x="465" y="290"/>
                  </a:lnTo>
                </a:path>
                <a:path w="8400" h="600" fill="none">
                  <a:moveTo>
                    <a:pt x="435" y="506"/>
                  </a:moveTo>
                  <a:lnTo>
                    <a:pt x="435" y="310"/>
                  </a:lnTo>
                </a:path>
                <a:path w="8400" h="600" fill="none">
                  <a:moveTo>
                    <a:pt x="465" y="506"/>
                  </a:moveTo>
                  <a:lnTo>
                    <a:pt x="465" y="310"/>
                  </a:lnTo>
                </a:path>
                <a:path w="8400" h="600" fill="none">
                  <a:moveTo>
                    <a:pt x="535" y="94"/>
                  </a:moveTo>
                  <a:lnTo>
                    <a:pt x="535" y="290"/>
                  </a:lnTo>
                </a:path>
                <a:path w="8400" h="600" fill="none">
                  <a:moveTo>
                    <a:pt x="565" y="94"/>
                  </a:moveTo>
                  <a:lnTo>
                    <a:pt x="565" y="290"/>
                  </a:lnTo>
                </a:path>
                <a:path w="8400" h="600" fill="none">
                  <a:moveTo>
                    <a:pt x="535" y="506"/>
                  </a:moveTo>
                  <a:lnTo>
                    <a:pt x="535" y="310"/>
                  </a:lnTo>
                </a:path>
                <a:path w="8400" h="600" fill="none">
                  <a:moveTo>
                    <a:pt x="565" y="506"/>
                  </a:moveTo>
                  <a:lnTo>
                    <a:pt x="565" y="310"/>
                  </a:lnTo>
                </a:path>
                <a:path w="8400" h="600" fill="none">
                  <a:moveTo>
                    <a:pt x="635" y="94"/>
                  </a:moveTo>
                  <a:lnTo>
                    <a:pt x="635" y="290"/>
                  </a:lnTo>
                </a:path>
                <a:path w="8400" h="600" fill="none">
                  <a:moveTo>
                    <a:pt x="665" y="94"/>
                  </a:moveTo>
                  <a:lnTo>
                    <a:pt x="665" y="290"/>
                  </a:lnTo>
                </a:path>
                <a:path w="8400" h="600" fill="none">
                  <a:moveTo>
                    <a:pt x="635" y="506"/>
                  </a:moveTo>
                  <a:lnTo>
                    <a:pt x="635" y="310"/>
                  </a:lnTo>
                </a:path>
                <a:path w="8400" h="600" fill="none">
                  <a:moveTo>
                    <a:pt x="665" y="506"/>
                  </a:moveTo>
                  <a:lnTo>
                    <a:pt x="665" y="310"/>
                  </a:lnTo>
                </a:path>
                <a:path w="8400" h="600" fill="none">
                  <a:moveTo>
                    <a:pt x="735" y="94"/>
                  </a:moveTo>
                  <a:lnTo>
                    <a:pt x="735" y="290"/>
                  </a:lnTo>
                </a:path>
                <a:path w="8400" h="600" fill="none">
                  <a:moveTo>
                    <a:pt x="765" y="94"/>
                  </a:moveTo>
                  <a:lnTo>
                    <a:pt x="765" y="290"/>
                  </a:lnTo>
                </a:path>
                <a:path w="8400" h="600" fill="none">
                  <a:moveTo>
                    <a:pt x="735" y="506"/>
                  </a:moveTo>
                  <a:lnTo>
                    <a:pt x="735" y="310"/>
                  </a:lnTo>
                </a:path>
                <a:path w="8400" h="600" fill="none">
                  <a:moveTo>
                    <a:pt x="765" y="506"/>
                  </a:moveTo>
                  <a:lnTo>
                    <a:pt x="765" y="310"/>
                  </a:lnTo>
                </a:path>
                <a:path w="8400" h="600" fill="none">
                  <a:moveTo>
                    <a:pt x="835" y="94"/>
                  </a:moveTo>
                  <a:lnTo>
                    <a:pt x="835" y="290"/>
                  </a:lnTo>
                </a:path>
                <a:path w="8400" h="600" fill="none">
                  <a:moveTo>
                    <a:pt x="865" y="94"/>
                  </a:moveTo>
                  <a:lnTo>
                    <a:pt x="865" y="290"/>
                  </a:lnTo>
                </a:path>
                <a:path w="8400" h="600" fill="none">
                  <a:moveTo>
                    <a:pt x="835" y="506"/>
                  </a:moveTo>
                  <a:lnTo>
                    <a:pt x="835" y="310"/>
                  </a:lnTo>
                </a:path>
                <a:path w="8400" h="600" fill="none">
                  <a:moveTo>
                    <a:pt x="865" y="506"/>
                  </a:moveTo>
                  <a:lnTo>
                    <a:pt x="865" y="310"/>
                  </a:lnTo>
                </a:path>
                <a:path w="8400" h="600" fill="none">
                  <a:moveTo>
                    <a:pt x="935" y="94"/>
                  </a:moveTo>
                  <a:lnTo>
                    <a:pt x="935" y="290"/>
                  </a:lnTo>
                </a:path>
                <a:path w="8400" h="600" fill="none">
                  <a:moveTo>
                    <a:pt x="965" y="94"/>
                  </a:moveTo>
                  <a:lnTo>
                    <a:pt x="965" y="290"/>
                  </a:lnTo>
                </a:path>
                <a:path w="8400" h="600" fill="none">
                  <a:moveTo>
                    <a:pt x="935" y="506"/>
                  </a:moveTo>
                  <a:lnTo>
                    <a:pt x="935" y="310"/>
                  </a:lnTo>
                </a:path>
                <a:path w="8400" h="600" fill="none">
                  <a:moveTo>
                    <a:pt x="965" y="506"/>
                  </a:moveTo>
                  <a:lnTo>
                    <a:pt x="965" y="310"/>
                  </a:lnTo>
                </a:path>
                <a:path w="8400" h="600" fill="none">
                  <a:moveTo>
                    <a:pt x="1035" y="94"/>
                  </a:moveTo>
                  <a:lnTo>
                    <a:pt x="1035" y="290"/>
                  </a:lnTo>
                </a:path>
                <a:path w="8400" h="600" fill="none">
                  <a:moveTo>
                    <a:pt x="1065" y="94"/>
                  </a:moveTo>
                  <a:lnTo>
                    <a:pt x="1065" y="290"/>
                  </a:lnTo>
                </a:path>
                <a:path w="8400" h="600" fill="none">
                  <a:moveTo>
                    <a:pt x="1035" y="506"/>
                  </a:moveTo>
                  <a:lnTo>
                    <a:pt x="1035" y="310"/>
                  </a:lnTo>
                </a:path>
                <a:path w="8400" h="600" fill="none">
                  <a:moveTo>
                    <a:pt x="1065" y="506"/>
                  </a:moveTo>
                  <a:lnTo>
                    <a:pt x="1065" y="310"/>
                  </a:lnTo>
                </a:path>
                <a:path w="8400" h="600" fill="none">
                  <a:moveTo>
                    <a:pt x="1135" y="94"/>
                  </a:moveTo>
                  <a:lnTo>
                    <a:pt x="1135" y="290"/>
                  </a:lnTo>
                </a:path>
                <a:path w="8400" h="600" fill="none">
                  <a:moveTo>
                    <a:pt x="1165" y="94"/>
                  </a:moveTo>
                  <a:lnTo>
                    <a:pt x="1165" y="290"/>
                  </a:lnTo>
                </a:path>
                <a:path w="8400" h="600" fill="none">
                  <a:moveTo>
                    <a:pt x="1135" y="506"/>
                  </a:moveTo>
                  <a:lnTo>
                    <a:pt x="1135" y="310"/>
                  </a:lnTo>
                </a:path>
                <a:path w="8400" h="600" fill="none">
                  <a:moveTo>
                    <a:pt x="1165" y="506"/>
                  </a:moveTo>
                  <a:lnTo>
                    <a:pt x="1165" y="310"/>
                  </a:lnTo>
                </a:path>
                <a:path w="8400" h="600" fill="none">
                  <a:moveTo>
                    <a:pt x="1235" y="94"/>
                  </a:moveTo>
                  <a:lnTo>
                    <a:pt x="1235" y="290"/>
                  </a:lnTo>
                </a:path>
                <a:path w="8400" h="600" fill="none">
                  <a:moveTo>
                    <a:pt x="1265" y="94"/>
                  </a:moveTo>
                  <a:lnTo>
                    <a:pt x="1265" y="290"/>
                  </a:lnTo>
                </a:path>
                <a:path w="8400" h="600" fill="none">
                  <a:moveTo>
                    <a:pt x="1235" y="506"/>
                  </a:moveTo>
                  <a:lnTo>
                    <a:pt x="1235" y="310"/>
                  </a:lnTo>
                </a:path>
                <a:path w="8400" h="600" fill="none">
                  <a:moveTo>
                    <a:pt x="1265" y="506"/>
                  </a:moveTo>
                  <a:lnTo>
                    <a:pt x="1265" y="310"/>
                  </a:lnTo>
                </a:path>
                <a:path w="8400" h="600" fill="none">
                  <a:moveTo>
                    <a:pt x="1335" y="94"/>
                  </a:moveTo>
                  <a:lnTo>
                    <a:pt x="1335" y="290"/>
                  </a:lnTo>
                </a:path>
                <a:path w="8400" h="600" fill="none">
                  <a:moveTo>
                    <a:pt x="1365" y="94"/>
                  </a:moveTo>
                  <a:lnTo>
                    <a:pt x="1365" y="290"/>
                  </a:lnTo>
                </a:path>
                <a:path w="8400" h="600" fill="none">
                  <a:moveTo>
                    <a:pt x="1335" y="506"/>
                  </a:moveTo>
                  <a:lnTo>
                    <a:pt x="1335" y="310"/>
                  </a:lnTo>
                </a:path>
                <a:path w="8400" h="600" fill="none">
                  <a:moveTo>
                    <a:pt x="1365" y="506"/>
                  </a:moveTo>
                  <a:lnTo>
                    <a:pt x="1365" y="310"/>
                  </a:lnTo>
                </a:path>
                <a:path w="8400" h="600" fill="none">
                  <a:moveTo>
                    <a:pt x="1435" y="94"/>
                  </a:moveTo>
                  <a:lnTo>
                    <a:pt x="1435" y="290"/>
                  </a:lnTo>
                </a:path>
                <a:path w="8400" h="600" fill="none">
                  <a:moveTo>
                    <a:pt x="1465" y="94"/>
                  </a:moveTo>
                  <a:lnTo>
                    <a:pt x="1465" y="290"/>
                  </a:lnTo>
                </a:path>
                <a:path w="8400" h="600" fill="none">
                  <a:moveTo>
                    <a:pt x="1435" y="506"/>
                  </a:moveTo>
                  <a:lnTo>
                    <a:pt x="1435" y="310"/>
                  </a:lnTo>
                </a:path>
                <a:path w="8400" h="600" fill="none">
                  <a:moveTo>
                    <a:pt x="1465" y="506"/>
                  </a:moveTo>
                  <a:lnTo>
                    <a:pt x="1465" y="310"/>
                  </a:lnTo>
                </a:path>
                <a:path w="8400" h="600" fill="none">
                  <a:moveTo>
                    <a:pt x="1535" y="94"/>
                  </a:moveTo>
                  <a:lnTo>
                    <a:pt x="1535" y="290"/>
                  </a:lnTo>
                </a:path>
                <a:path w="8400" h="600" fill="none">
                  <a:moveTo>
                    <a:pt x="1565" y="94"/>
                  </a:moveTo>
                  <a:lnTo>
                    <a:pt x="1565" y="290"/>
                  </a:lnTo>
                </a:path>
                <a:path w="8400" h="600" fill="none">
                  <a:moveTo>
                    <a:pt x="1535" y="506"/>
                  </a:moveTo>
                  <a:lnTo>
                    <a:pt x="1535" y="310"/>
                  </a:lnTo>
                </a:path>
                <a:path w="8400" h="600" fill="none">
                  <a:moveTo>
                    <a:pt x="1565" y="506"/>
                  </a:moveTo>
                  <a:lnTo>
                    <a:pt x="1565" y="310"/>
                  </a:lnTo>
                </a:path>
                <a:path w="8400" h="600" fill="none">
                  <a:moveTo>
                    <a:pt x="1635" y="94"/>
                  </a:moveTo>
                  <a:lnTo>
                    <a:pt x="1635" y="290"/>
                  </a:lnTo>
                </a:path>
                <a:path w="8400" h="600" fill="none">
                  <a:moveTo>
                    <a:pt x="1665" y="94"/>
                  </a:moveTo>
                  <a:lnTo>
                    <a:pt x="1665" y="290"/>
                  </a:lnTo>
                </a:path>
                <a:path w="8400" h="600" fill="none">
                  <a:moveTo>
                    <a:pt x="1635" y="506"/>
                  </a:moveTo>
                  <a:lnTo>
                    <a:pt x="1635" y="310"/>
                  </a:lnTo>
                </a:path>
                <a:path w="8400" h="600" fill="none">
                  <a:moveTo>
                    <a:pt x="1665" y="506"/>
                  </a:moveTo>
                  <a:lnTo>
                    <a:pt x="1665" y="310"/>
                  </a:lnTo>
                </a:path>
                <a:path w="8400" h="600" fill="none">
                  <a:moveTo>
                    <a:pt x="1735" y="94"/>
                  </a:moveTo>
                  <a:lnTo>
                    <a:pt x="1735" y="290"/>
                  </a:lnTo>
                </a:path>
                <a:path w="8400" h="600" fill="none">
                  <a:moveTo>
                    <a:pt x="1765" y="94"/>
                  </a:moveTo>
                  <a:lnTo>
                    <a:pt x="1765" y="290"/>
                  </a:lnTo>
                </a:path>
                <a:path w="8400" h="600" fill="none">
                  <a:moveTo>
                    <a:pt x="1735" y="506"/>
                  </a:moveTo>
                  <a:lnTo>
                    <a:pt x="1735" y="310"/>
                  </a:lnTo>
                </a:path>
                <a:path w="8400" h="600" fill="none">
                  <a:moveTo>
                    <a:pt x="1765" y="506"/>
                  </a:moveTo>
                  <a:lnTo>
                    <a:pt x="1765" y="310"/>
                  </a:lnTo>
                </a:path>
                <a:path w="8400" h="600" fill="none">
                  <a:moveTo>
                    <a:pt x="1835" y="94"/>
                  </a:moveTo>
                  <a:lnTo>
                    <a:pt x="1835" y="290"/>
                  </a:lnTo>
                </a:path>
                <a:path w="8400" h="600" fill="none">
                  <a:moveTo>
                    <a:pt x="1865" y="94"/>
                  </a:moveTo>
                  <a:lnTo>
                    <a:pt x="1865" y="290"/>
                  </a:lnTo>
                </a:path>
                <a:path w="8400" h="600" fill="none">
                  <a:moveTo>
                    <a:pt x="1835" y="506"/>
                  </a:moveTo>
                  <a:lnTo>
                    <a:pt x="1835" y="310"/>
                  </a:lnTo>
                </a:path>
                <a:path w="8400" h="600" fill="none">
                  <a:moveTo>
                    <a:pt x="1865" y="506"/>
                  </a:moveTo>
                  <a:lnTo>
                    <a:pt x="1865" y="310"/>
                  </a:lnTo>
                </a:path>
                <a:path w="8400" h="600" fill="none">
                  <a:moveTo>
                    <a:pt x="1935" y="94"/>
                  </a:moveTo>
                  <a:lnTo>
                    <a:pt x="1935" y="290"/>
                  </a:lnTo>
                </a:path>
                <a:path w="8400" h="600" fill="none">
                  <a:moveTo>
                    <a:pt x="1965" y="94"/>
                  </a:moveTo>
                  <a:lnTo>
                    <a:pt x="1965" y="290"/>
                  </a:lnTo>
                </a:path>
                <a:path w="8400" h="600" fill="none">
                  <a:moveTo>
                    <a:pt x="1935" y="506"/>
                  </a:moveTo>
                  <a:lnTo>
                    <a:pt x="1935" y="310"/>
                  </a:lnTo>
                </a:path>
                <a:path w="8400" h="600" fill="none">
                  <a:moveTo>
                    <a:pt x="1965" y="506"/>
                  </a:moveTo>
                  <a:lnTo>
                    <a:pt x="1965" y="310"/>
                  </a:lnTo>
                </a:path>
                <a:path w="8400" h="600" fill="none">
                  <a:moveTo>
                    <a:pt x="2035" y="94"/>
                  </a:moveTo>
                  <a:lnTo>
                    <a:pt x="2035" y="290"/>
                  </a:lnTo>
                </a:path>
                <a:path w="8400" h="600" fill="none">
                  <a:moveTo>
                    <a:pt x="2065" y="94"/>
                  </a:moveTo>
                  <a:lnTo>
                    <a:pt x="2065" y="290"/>
                  </a:lnTo>
                </a:path>
                <a:path w="8400" h="600" fill="none">
                  <a:moveTo>
                    <a:pt x="2035" y="506"/>
                  </a:moveTo>
                  <a:lnTo>
                    <a:pt x="2035" y="310"/>
                  </a:lnTo>
                </a:path>
                <a:path w="8400" h="600" fill="none">
                  <a:moveTo>
                    <a:pt x="2065" y="506"/>
                  </a:moveTo>
                  <a:lnTo>
                    <a:pt x="2065" y="310"/>
                  </a:lnTo>
                </a:path>
                <a:path w="8400" h="600" fill="none">
                  <a:moveTo>
                    <a:pt x="2135" y="94"/>
                  </a:moveTo>
                  <a:lnTo>
                    <a:pt x="2135" y="290"/>
                  </a:lnTo>
                </a:path>
                <a:path w="8400" h="600" fill="none">
                  <a:moveTo>
                    <a:pt x="2165" y="94"/>
                  </a:moveTo>
                  <a:lnTo>
                    <a:pt x="2165" y="290"/>
                  </a:lnTo>
                </a:path>
                <a:path w="8400" h="600" fill="none">
                  <a:moveTo>
                    <a:pt x="2135" y="506"/>
                  </a:moveTo>
                  <a:lnTo>
                    <a:pt x="2135" y="310"/>
                  </a:lnTo>
                </a:path>
                <a:path w="8400" h="600" fill="none">
                  <a:moveTo>
                    <a:pt x="2165" y="506"/>
                  </a:moveTo>
                  <a:lnTo>
                    <a:pt x="2165" y="310"/>
                  </a:lnTo>
                </a:path>
                <a:path w="8400" h="600" fill="none">
                  <a:moveTo>
                    <a:pt x="2235" y="94"/>
                  </a:moveTo>
                  <a:lnTo>
                    <a:pt x="2235" y="290"/>
                  </a:lnTo>
                </a:path>
                <a:path w="8400" h="600" fill="none">
                  <a:moveTo>
                    <a:pt x="2265" y="94"/>
                  </a:moveTo>
                  <a:lnTo>
                    <a:pt x="2265" y="290"/>
                  </a:lnTo>
                </a:path>
                <a:path w="8400" h="600" fill="none">
                  <a:moveTo>
                    <a:pt x="2235" y="506"/>
                  </a:moveTo>
                  <a:lnTo>
                    <a:pt x="2235" y="310"/>
                  </a:lnTo>
                </a:path>
                <a:path w="8400" h="600" fill="none">
                  <a:moveTo>
                    <a:pt x="2265" y="506"/>
                  </a:moveTo>
                  <a:lnTo>
                    <a:pt x="2265" y="310"/>
                  </a:lnTo>
                </a:path>
                <a:path w="8400" h="600" fill="none">
                  <a:moveTo>
                    <a:pt x="2335" y="94"/>
                  </a:moveTo>
                  <a:lnTo>
                    <a:pt x="2335" y="290"/>
                  </a:lnTo>
                </a:path>
                <a:path w="8400" h="600" fill="none">
                  <a:moveTo>
                    <a:pt x="2365" y="94"/>
                  </a:moveTo>
                  <a:lnTo>
                    <a:pt x="2365" y="290"/>
                  </a:lnTo>
                </a:path>
                <a:path w="8400" h="600" fill="none">
                  <a:moveTo>
                    <a:pt x="2335" y="506"/>
                  </a:moveTo>
                  <a:lnTo>
                    <a:pt x="2335" y="310"/>
                  </a:lnTo>
                </a:path>
                <a:path w="8400" h="600" fill="none">
                  <a:moveTo>
                    <a:pt x="2365" y="506"/>
                  </a:moveTo>
                  <a:lnTo>
                    <a:pt x="2365" y="310"/>
                  </a:lnTo>
                </a:path>
                <a:path w="8400" h="600" fill="none">
                  <a:moveTo>
                    <a:pt x="2435" y="94"/>
                  </a:moveTo>
                  <a:lnTo>
                    <a:pt x="2435" y="290"/>
                  </a:lnTo>
                </a:path>
                <a:path w="8400" h="600" fill="none">
                  <a:moveTo>
                    <a:pt x="2465" y="94"/>
                  </a:moveTo>
                  <a:lnTo>
                    <a:pt x="2465" y="290"/>
                  </a:lnTo>
                </a:path>
                <a:path w="8400" h="600" fill="none">
                  <a:moveTo>
                    <a:pt x="2435" y="506"/>
                  </a:moveTo>
                  <a:lnTo>
                    <a:pt x="2435" y="310"/>
                  </a:lnTo>
                </a:path>
                <a:path w="8400" h="600" fill="none">
                  <a:moveTo>
                    <a:pt x="2465" y="506"/>
                  </a:moveTo>
                  <a:lnTo>
                    <a:pt x="2465" y="310"/>
                  </a:lnTo>
                </a:path>
                <a:path w="8400" h="600" fill="none">
                  <a:moveTo>
                    <a:pt x="2535" y="94"/>
                  </a:moveTo>
                  <a:lnTo>
                    <a:pt x="2535" y="290"/>
                  </a:lnTo>
                </a:path>
                <a:path w="8400" h="600" fill="none">
                  <a:moveTo>
                    <a:pt x="2565" y="94"/>
                  </a:moveTo>
                  <a:lnTo>
                    <a:pt x="2565" y="290"/>
                  </a:lnTo>
                </a:path>
                <a:path w="8400" h="600" fill="none">
                  <a:moveTo>
                    <a:pt x="2535" y="506"/>
                  </a:moveTo>
                  <a:lnTo>
                    <a:pt x="2535" y="310"/>
                  </a:lnTo>
                </a:path>
                <a:path w="8400" h="600" fill="none">
                  <a:moveTo>
                    <a:pt x="2565" y="506"/>
                  </a:moveTo>
                  <a:lnTo>
                    <a:pt x="2565" y="310"/>
                  </a:lnTo>
                </a:path>
                <a:path w="8400" h="600" fill="none">
                  <a:moveTo>
                    <a:pt x="2635" y="94"/>
                  </a:moveTo>
                  <a:lnTo>
                    <a:pt x="2635" y="290"/>
                  </a:lnTo>
                </a:path>
                <a:path w="8400" h="600" fill="none">
                  <a:moveTo>
                    <a:pt x="2665" y="94"/>
                  </a:moveTo>
                  <a:lnTo>
                    <a:pt x="2665" y="290"/>
                  </a:lnTo>
                </a:path>
                <a:path w="8400" h="600" fill="none">
                  <a:moveTo>
                    <a:pt x="2635" y="506"/>
                  </a:moveTo>
                  <a:lnTo>
                    <a:pt x="2635" y="310"/>
                  </a:lnTo>
                </a:path>
                <a:path w="8400" h="600" fill="none">
                  <a:moveTo>
                    <a:pt x="2665" y="506"/>
                  </a:moveTo>
                  <a:lnTo>
                    <a:pt x="2665" y="310"/>
                  </a:lnTo>
                </a:path>
                <a:path w="8400" h="600" fill="none">
                  <a:moveTo>
                    <a:pt x="2735" y="94"/>
                  </a:moveTo>
                  <a:lnTo>
                    <a:pt x="2735" y="290"/>
                  </a:lnTo>
                </a:path>
                <a:path w="8400" h="600" fill="none">
                  <a:moveTo>
                    <a:pt x="2765" y="94"/>
                  </a:moveTo>
                  <a:lnTo>
                    <a:pt x="2765" y="290"/>
                  </a:lnTo>
                </a:path>
                <a:path w="8400" h="600" fill="none">
                  <a:moveTo>
                    <a:pt x="2735" y="506"/>
                  </a:moveTo>
                  <a:lnTo>
                    <a:pt x="2735" y="310"/>
                  </a:lnTo>
                </a:path>
                <a:path w="8400" h="600" fill="none">
                  <a:moveTo>
                    <a:pt x="2765" y="506"/>
                  </a:moveTo>
                  <a:lnTo>
                    <a:pt x="2765" y="310"/>
                  </a:lnTo>
                </a:path>
                <a:path w="8400" h="600" fill="none">
                  <a:moveTo>
                    <a:pt x="2835" y="94"/>
                  </a:moveTo>
                  <a:lnTo>
                    <a:pt x="2835" y="290"/>
                  </a:lnTo>
                </a:path>
                <a:path w="8400" h="600" fill="none">
                  <a:moveTo>
                    <a:pt x="2865" y="94"/>
                  </a:moveTo>
                  <a:lnTo>
                    <a:pt x="2865" y="290"/>
                  </a:lnTo>
                </a:path>
                <a:path w="8400" h="600" fill="none">
                  <a:moveTo>
                    <a:pt x="2835" y="506"/>
                  </a:moveTo>
                  <a:lnTo>
                    <a:pt x="2835" y="310"/>
                  </a:lnTo>
                </a:path>
                <a:path w="8400" h="600" fill="none">
                  <a:moveTo>
                    <a:pt x="2865" y="506"/>
                  </a:moveTo>
                  <a:lnTo>
                    <a:pt x="2865" y="310"/>
                  </a:lnTo>
                </a:path>
                <a:path w="8400" h="600" fill="none">
                  <a:moveTo>
                    <a:pt x="2935" y="94"/>
                  </a:moveTo>
                  <a:lnTo>
                    <a:pt x="2935" y="290"/>
                  </a:lnTo>
                </a:path>
                <a:path w="8400" h="600" fill="none">
                  <a:moveTo>
                    <a:pt x="2965" y="94"/>
                  </a:moveTo>
                  <a:lnTo>
                    <a:pt x="2965" y="290"/>
                  </a:lnTo>
                </a:path>
                <a:path w="8400" h="600" fill="none">
                  <a:moveTo>
                    <a:pt x="2935" y="506"/>
                  </a:moveTo>
                  <a:lnTo>
                    <a:pt x="2935" y="310"/>
                  </a:lnTo>
                </a:path>
                <a:path w="8400" h="600" fill="none">
                  <a:moveTo>
                    <a:pt x="2965" y="506"/>
                  </a:moveTo>
                  <a:lnTo>
                    <a:pt x="2965" y="310"/>
                  </a:lnTo>
                </a:path>
                <a:path w="8400" h="600" fill="none">
                  <a:moveTo>
                    <a:pt x="3035" y="94"/>
                  </a:moveTo>
                  <a:lnTo>
                    <a:pt x="3035" y="290"/>
                  </a:lnTo>
                </a:path>
                <a:path w="8400" h="600" fill="none">
                  <a:moveTo>
                    <a:pt x="3065" y="94"/>
                  </a:moveTo>
                  <a:lnTo>
                    <a:pt x="3065" y="290"/>
                  </a:lnTo>
                </a:path>
                <a:path w="8400" h="600" fill="none">
                  <a:moveTo>
                    <a:pt x="3035" y="506"/>
                  </a:moveTo>
                  <a:lnTo>
                    <a:pt x="3035" y="310"/>
                  </a:lnTo>
                </a:path>
                <a:path w="8400" h="600" fill="none">
                  <a:moveTo>
                    <a:pt x="3065" y="506"/>
                  </a:moveTo>
                  <a:lnTo>
                    <a:pt x="3065" y="310"/>
                  </a:lnTo>
                </a:path>
                <a:path w="8400" h="600" fill="none">
                  <a:moveTo>
                    <a:pt x="3135" y="94"/>
                  </a:moveTo>
                  <a:lnTo>
                    <a:pt x="3135" y="290"/>
                  </a:lnTo>
                </a:path>
                <a:path w="8400" h="600" fill="none">
                  <a:moveTo>
                    <a:pt x="3165" y="94"/>
                  </a:moveTo>
                  <a:lnTo>
                    <a:pt x="3165" y="290"/>
                  </a:lnTo>
                </a:path>
                <a:path w="8400" h="600" fill="none">
                  <a:moveTo>
                    <a:pt x="3135" y="506"/>
                  </a:moveTo>
                  <a:lnTo>
                    <a:pt x="3135" y="310"/>
                  </a:lnTo>
                </a:path>
                <a:path w="8400" h="600" fill="none">
                  <a:moveTo>
                    <a:pt x="3165" y="506"/>
                  </a:moveTo>
                  <a:lnTo>
                    <a:pt x="3165" y="310"/>
                  </a:lnTo>
                </a:path>
                <a:path w="8400" h="600" fill="none">
                  <a:moveTo>
                    <a:pt x="3235" y="94"/>
                  </a:moveTo>
                  <a:lnTo>
                    <a:pt x="3235" y="290"/>
                  </a:lnTo>
                </a:path>
                <a:path w="8400" h="600" fill="none">
                  <a:moveTo>
                    <a:pt x="3265" y="94"/>
                  </a:moveTo>
                  <a:lnTo>
                    <a:pt x="3265" y="290"/>
                  </a:lnTo>
                </a:path>
                <a:path w="8400" h="600" fill="none">
                  <a:moveTo>
                    <a:pt x="3235" y="506"/>
                  </a:moveTo>
                  <a:lnTo>
                    <a:pt x="3235" y="310"/>
                  </a:lnTo>
                </a:path>
                <a:path w="8400" h="600" fill="none">
                  <a:moveTo>
                    <a:pt x="3265" y="506"/>
                  </a:moveTo>
                  <a:lnTo>
                    <a:pt x="3265" y="310"/>
                  </a:lnTo>
                </a:path>
                <a:path w="8400" h="600" fill="none">
                  <a:moveTo>
                    <a:pt x="3335" y="94"/>
                  </a:moveTo>
                  <a:lnTo>
                    <a:pt x="3335" y="290"/>
                  </a:lnTo>
                </a:path>
                <a:path w="8400" h="600" fill="none">
                  <a:moveTo>
                    <a:pt x="3365" y="94"/>
                  </a:moveTo>
                  <a:lnTo>
                    <a:pt x="3365" y="290"/>
                  </a:lnTo>
                </a:path>
                <a:path w="8400" h="600" fill="none">
                  <a:moveTo>
                    <a:pt x="3335" y="506"/>
                  </a:moveTo>
                  <a:lnTo>
                    <a:pt x="3335" y="310"/>
                  </a:lnTo>
                </a:path>
                <a:path w="8400" h="600" fill="none">
                  <a:moveTo>
                    <a:pt x="3365" y="506"/>
                  </a:moveTo>
                  <a:lnTo>
                    <a:pt x="3365" y="310"/>
                  </a:lnTo>
                </a:path>
                <a:path w="8400" h="600" fill="none">
                  <a:moveTo>
                    <a:pt x="3435" y="94"/>
                  </a:moveTo>
                  <a:lnTo>
                    <a:pt x="3435" y="290"/>
                  </a:lnTo>
                </a:path>
                <a:path w="8400" h="600" fill="none">
                  <a:moveTo>
                    <a:pt x="3465" y="94"/>
                  </a:moveTo>
                  <a:lnTo>
                    <a:pt x="3465" y="290"/>
                  </a:lnTo>
                </a:path>
                <a:path w="8400" h="600" fill="none">
                  <a:moveTo>
                    <a:pt x="3435" y="506"/>
                  </a:moveTo>
                  <a:lnTo>
                    <a:pt x="3435" y="310"/>
                  </a:lnTo>
                </a:path>
                <a:path w="8400" h="600" fill="none">
                  <a:moveTo>
                    <a:pt x="3465" y="506"/>
                  </a:moveTo>
                  <a:lnTo>
                    <a:pt x="3465" y="310"/>
                  </a:lnTo>
                </a:path>
                <a:path w="8400" h="600" fill="none">
                  <a:moveTo>
                    <a:pt x="3535" y="94"/>
                  </a:moveTo>
                  <a:lnTo>
                    <a:pt x="3535" y="290"/>
                  </a:lnTo>
                </a:path>
                <a:path w="8400" h="600" fill="none">
                  <a:moveTo>
                    <a:pt x="3565" y="94"/>
                  </a:moveTo>
                  <a:lnTo>
                    <a:pt x="3565" y="290"/>
                  </a:lnTo>
                </a:path>
                <a:path w="8400" h="600" fill="none">
                  <a:moveTo>
                    <a:pt x="3535" y="506"/>
                  </a:moveTo>
                  <a:lnTo>
                    <a:pt x="3535" y="310"/>
                  </a:lnTo>
                </a:path>
                <a:path w="8400" h="600" fill="none">
                  <a:moveTo>
                    <a:pt x="3565" y="506"/>
                  </a:moveTo>
                  <a:lnTo>
                    <a:pt x="3565" y="310"/>
                  </a:lnTo>
                </a:path>
                <a:path w="8400" h="600" fill="none">
                  <a:moveTo>
                    <a:pt x="3635" y="94"/>
                  </a:moveTo>
                  <a:lnTo>
                    <a:pt x="3635" y="290"/>
                  </a:lnTo>
                </a:path>
                <a:path w="8400" h="600" fill="none">
                  <a:moveTo>
                    <a:pt x="3665" y="94"/>
                  </a:moveTo>
                  <a:lnTo>
                    <a:pt x="3665" y="290"/>
                  </a:lnTo>
                </a:path>
                <a:path w="8400" h="600" fill="none">
                  <a:moveTo>
                    <a:pt x="3635" y="506"/>
                  </a:moveTo>
                  <a:lnTo>
                    <a:pt x="3635" y="310"/>
                  </a:lnTo>
                </a:path>
                <a:path w="8400" h="600" fill="none">
                  <a:moveTo>
                    <a:pt x="3665" y="506"/>
                  </a:moveTo>
                  <a:lnTo>
                    <a:pt x="3665" y="310"/>
                  </a:lnTo>
                </a:path>
                <a:path w="8400" h="600" fill="none">
                  <a:moveTo>
                    <a:pt x="3735" y="94"/>
                  </a:moveTo>
                  <a:lnTo>
                    <a:pt x="3735" y="290"/>
                  </a:lnTo>
                </a:path>
                <a:path w="8400" h="600" fill="none">
                  <a:moveTo>
                    <a:pt x="3765" y="94"/>
                  </a:moveTo>
                  <a:lnTo>
                    <a:pt x="3765" y="290"/>
                  </a:lnTo>
                </a:path>
                <a:path w="8400" h="600" fill="none">
                  <a:moveTo>
                    <a:pt x="3735" y="506"/>
                  </a:moveTo>
                  <a:lnTo>
                    <a:pt x="3735" y="310"/>
                  </a:lnTo>
                </a:path>
                <a:path w="8400" h="600" fill="none">
                  <a:moveTo>
                    <a:pt x="3765" y="506"/>
                  </a:moveTo>
                  <a:lnTo>
                    <a:pt x="3765" y="310"/>
                  </a:lnTo>
                </a:path>
                <a:path w="8400" h="600" fill="none">
                  <a:moveTo>
                    <a:pt x="3835" y="94"/>
                  </a:moveTo>
                  <a:lnTo>
                    <a:pt x="3835" y="290"/>
                  </a:lnTo>
                </a:path>
                <a:path w="8400" h="600" fill="none">
                  <a:moveTo>
                    <a:pt x="3865" y="94"/>
                  </a:moveTo>
                  <a:lnTo>
                    <a:pt x="3865" y="290"/>
                  </a:lnTo>
                </a:path>
                <a:path w="8400" h="600" fill="none">
                  <a:moveTo>
                    <a:pt x="3835" y="506"/>
                  </a:moveTo>
                  <a:lnTo>
                    <a:pt x="3835" y="310"/>
                  </a:lnTo>
                </a:path>
                <a:path w="8400" h="600" fill="none">
                  <a:moveTo>
                    <a:pt x="3865" y="506"/>
                  </a:moveTo>
                  <a:lnTo>
                    <a:pt x="3865" y="310"/>
                  </a:lnTo>
                </a:path>
                <a:path w="8400" h="600" fill="none">
                  <a:moveTo>
                    <a:pt x="3935" y="94"/>
                  </a:moveTo>
                  <a:lnTo>
                    <a:pt x="3935" y="290"/>
                  </a:lnTo>
                </a:path>
                <a:path w="8400" h="600" fill="none">
                  <a:moveTo>
                    <a:pt x="3965" y="94"/>
                  </a:moveTo>
                  <a:lnTo>
                    <a:pt x="3965" y="290"/>
                  </a:lnTo>
                </a:path>
                <a:path w="8400" h="600" fill="none">
                  <a:moveTo>
                    <a:pt x="3935" y="506"/>
                  </a:moveTo>
                  <a:lnTo>
                    <a:pt x="3935" y="310"/>
                  </a:lnTo>
                </a:path>
                <a:path w="8400" h="600" fill="none">
                  <a:moveTo>
                    <a:pt x="3965" y="506"/>
                  </a:moveTo>
                  <a:lnTo>
                    <a:pt x="3965" y="310"/>
                  </a:lnTo>
                </a:path>
                <a:path w="8400" h="600" fill="none">
                  <a:moveTo>
                    <a:pt x="4035" y="94"/>
                  </a:moveTo>
                  <a:lnTo>
                    <a:pt x="4035" y="290"/>
                  </a:lnTo>
                </a:path>
                <a:path w="8400" h="600" fill="none">
                  <a:moveTo>
                    <a:pt x="4065" y="94"/>
                  </a:moveTo>
                  <a:lnTo>
                    <a:pt x="4065" y="290"/>
                  </a:lnTo>
                </a:path>
                <a:path w="8400" h="600" fill="none">
                  <a:moveTo>
                    <a:pt x="4035" y="506"/>
                  </a:moveTo>
                  <a:lnTo>
                    <a:pt x="4035" y="310"/>
                  </a:lnTo>
                </a:path>
                <a:path w="8400" h="600" fill="none">
                  <a:moveTo>
                    <a:pt x="4065" y="506"/>
                  </a:moveTo>
                  <a:lnTo>
                    <a:pt x="4065" y="310"/>
                  </a:lnTo>
                </a:path>
                <a:path w="8400" h="600" fill="none">
                  <a:moveTo>
                    <a:pt x="4135" y="94"/>
                  </a:moveTo>
                  <a:lnTo>
                    <a:pt x="4135" y="290"/>
                  </a:lnTo>
                </a:path>
                <a:path w="8400" h="600" fill="none">
                  <a:moveTo>
                    <a:pt x="4165" y="94"/>
                  </a:moveTo>
                  <a:lnTo>
                    <a:pt x="4165" y="290"/>
                  </a:lnTo>
                </a:path>
                <a:path w="8400" h="600" fill="none">
                  <a:moveTo>
                    <a:pt x="4135" y="506"/>
                  </a:moveTo>
                  <a:lnTo>
                    <a:pt x="4135" y="310"/>
                  </a:lnTo>
                </a:path>
                <a:path w="8400" h="600" fill="none">
                  <a:moveTo>
                    <a:pt x="4165" y="506"/>
                  </a:moveTo>
                  <a:lnTo>
                    <a:pt x="4165" y="310"/>
                  </a:lnTo>
                </a:path>
                <a:path w="8400" h="600" fill="none">
                  <a:moveTo>
                    <a:pt x="4235" y="94"/>
                  </a:moveTo>
                  <a:lnTo>
                    <a:pt x="4235" y="290"/>
                  </a:lnTo>
                </a:path>
                <a:path w="8400" h="600" fill="none">
                  <a:moveTo>
                    <a:pt x="4265" y="94"/>
                  </a:moveTo>
                  <a:lnTo>
                    <a:pt x="4265" y="290"/>
                  </a:lnTo>
                </a:path>
                <a:path w="8400" h="600" fill="none">
                  <a:moveTo>
                    <a:pt x="4235" y="506"/>
                  </a:moveTo>
                  <a:lnTo>
                    <a:pt x="4235" y="310"/>
                  </a:lnTo>
                </a:path>
                <a:path w="8400" h="600" fill="none">
                  <a:moveTo>
                    <a:pt x="4265" y="506"/>
                  </a:moveTo>
                  <a:lnTo>
                    <a:pt x="4265" y="310"/>
                  </a:lnTo>
                </a:path>
                <a:path w="8400" h="600" fill="none">
                  <a:moveTo>
                    <a:pt x="4335" y="94"/>
                  </a:moveTo>
                  <a:lnTo>
                    <a:pt x="4335" y="290"/>
                  </a:lnTo>
                </a:path>
                <a:path w="8400" h="600" fill="none">
                  <a:moveTo>
                    <a:pt x="4365" y="94"/>
                  </a:moveTo>
                  <a:lnTo>
                    <a:pt x="4365" y="290"/>
                  </a:lnTo>
                </a:path>
                <a:path w="8400" h="600" fill="none">
                  <a:moveTo>
                    <a:pt x="4335" y="506"/>
                  </a:moveTo>
                  <a:lnTo>
                    <a:pt x="4335" y="310"/>
                  </a:lnTo>
                </a:path>
                <a:path w="8400" h="600" fill="none">
                  <a:moveTo>
                    <a:pt x="4365" y="506"/>
                  </a:moveTo>
                  <a:lnTo>
                    <a:pt x="4365" y="310"/>
                  </a:lnTo>
                </a:path>
                <a:path w="8400" h="600" fill="none">
                  <a:moveTo>
                    <a:pt x="4435" y="94"/>
                  </a:moveTo>
                  <a:lnTo>
                    <a:pt x="4435" y="290"/>
                  </a:lnTo>
                </a:path>
                <a:path w="8400" h="600" fill="none">
                  <a:moveTo>
                    <a:pt x="4465" y="94"/>
                  </a:moveTo>
                  <a:lnTo>
                    <a:pt x="4465" y="290"/>
                  </a:lnTo>
                </a:path>
                <a:path w="8400" h="600" fill="none">
                  <a:moveTo>
                    <a:pt x="4435" y="506"/>
                  </a:moveTo>
                  <a:lnTo>
                    <a:pt x="4435" y="310"/>
                  </a:lnTo>
                </a:path>
                <a:path w="8400" h="600" fill="none">
                  <a:moveTo>
                    <a:pt x="4465" y="506"/>
                  </a:moveTo>
                  <a:lnTo>
                    <a:pt x="4465" y="310"/>
                  </a:lnTo>
                </a:path>
                <a:path w="8400" h="600" fill="none">
                  <a:moveTo>
                    <a:pt x="4535" y="94"/>
                  </a:moveTo>
                  <a:lnTo>
                    <a:pt x="4535" y="290"/>
                  </a:lnTo>
                </a:path>
                <a:path w="8400" h="600" fill="none">
                  <a:moveTo>
                    <a:pt x="4565" y="94"/>
                  </a:moveTo>
                  <a:lnTo>
                    <a:pt x="4565" y="290"/>
                  </a:lnTo>
                </a:path>
                <a:path w="8400" h="600" fill="none">
                  <a:moveTo>
                    <a:pt x="4535" y="506"/>
                  </a:moveTo>
                  <a:lnTo>
                    <a:pt x="4535" y="310"/>
                  </a:lnTo>
                </a:path>
                <a:path w="8400" h="600" fill="none">
                  <a:moveTo>
                    <a:pt x="4565" y="506"/>
                  </a:moveTo>
                  <a:lnTo>
                    <a:pt x="4565" y="310"/>
                  </a:lnTo>
                </a:path>
                <a:path w="8400" h="600" fill="none">
                  <a:moveTo>
                    <a:pt x="4635" y="94"/>
                  </a:moveTo>
                  <a:lnTo>
                    <a:pt x="4635" y="290"/>
                  </a:lnTo>
                </a:path>
                <a:path w="8400" h="600" fill="none">
                  <a:moveTo>
                    <a:pt x="4665" y="94"/>
                  </a:moveTo>
                  <a:lnTo>
                    <a:pt x="4665" y="290"/>
                  </a:lnTo>
                </a:path>
                <a:path w="8400" h="600" fill="none">
                  <a:moveTo>
                    <a:pt x="4635" y="506"/>
                  </a:moveTo>
                  <a:lnTo>
                    <a:pt x="4635" y="310"/>
                  </a:lnTo>
                </a:path>
                <a:path w="8400" h="600" fill="none">
                  <a:moveTo>
                    <a:pt x="4665" y="506"/>
                  </a:moveTo>
                  <a:lnTo>
                    <a:pt x="4665" y="310"/>
                  </a:lnTo>
                </a:path>
                <a:path w="8400" h="600" fill="none">
                  <a:moveTo>
                    <a:pt x="4735" y="94"/>
                  </a:moveTo>
                  <a:lnTo>
                    <a:pt x="4735" y="290"/>
                  </a:lnTo>
                </a:path>
                <a:path w="8400" h="600" fill="none">
                  <a:moveTo>
                    <a:pt x="4765" y="94"/>
                  </a:moveTo>
                  <a:lnTo>
                    <a:pt x="4765" y="290"/>
                  </a:lnTo>
                </a:path>
                <a:path w="8400" h="600" fill="none">
                  <a:moveTo>
                    <a:pt x="4735" y="506"/>
                  </a:moveTo>
                  <a:lnTo>
                    <a:pt x="4735" y="310"/>
                  </a:lnTo>
                </a:path>
                <a:path w="8400" h="600" fill="none">
                  <a:moveTo>
                    <a:pt x="4765" y="506"/>
                  </a:moveTo>
                  <a:lnTo>
                    <a:pt x="4765" y="310"/>
                  </a:lnTo>
                </a:path>
                <a:path w="8400" h="600" fill="none">
                  <a:moveTo>
                    <a:pt x="4835" y="94"/>
                  </a:moveTo>
                  <a:lnTo>
                    <a:pt x="4835" y="290"/>
                  </a:lnTo>
                </a:path>
                <a:path w="8400" h="600" fill="none">
                  <a:moveTo>
                    <a:pt x="4865" y="94"/>
                  </a:moveTo>
                  <a:lnTo>
                    <a:pt x="4865" y="290"/>
                  </a:lnTo>
                </a:path>
                <a:path w="8400" h="600" fill="none">
                  <a:moveTo>
                    <a:pt x="4835" y="506"/>
                  </a:moveTo>
                  <a:lnTo>
                    <a:pt x="4835" y="310"/>
                  </a:lnTo>
                </a:path>
                <a:path w="8400" h="600" fill="none">
                  <a:moveTo>
                    <a:pt x="4865" y="506"/>
                  </a:moveTo>
                  <a:lnTo>
                    <a:pt x="4865" y="310"/>
                  </a:lnTo>
                </a:path>
                <a:path w="8400" h="600" fill="none">
                  <a:moveTo>
                    <a:pt x="4935" y="94"/>
                  </a:moveTo>
                  <a:lnTo>
                    <a:pt x="4935" y="290"/>
                  </a:lnTo>
                </a:path>
                <a:path w="8400" h="600" fill="none">
                  <a:moveTo>
                    <a:pt x="4965" y="94"/>
                  </a:moveTo>
                  <a:lnTo>
                    <a:pt x="4965" y="290"/>
                  </a:lnTo>
                </a:path>
                <a:path w="8400" h="600" fill="none">
                  <a:moveTo>
                    <a:pt x="4935" y="506"/>
                  </a:moveTo>
                  <a:lnTo>
                    <a:pt x="4935" y="310"/>
                  </a:lnTo>
                </a:path>
                <a:path w="8400" h="600" fill="none">
                  <a:moveTo>
                    <a:pt x="4965" y="506"/>
                  </a:moveTo>
                  <a:lnTo>
                    <a:pt x="4965" y="310"/>
                  </a:lnTo>
                </a:path>
                <a:path w="8400" h="600" fill="none">
                  <a:moveTo>
                    <a:pt x="5035" y="94"/>
                  </a:moveTo>
                  <a:lnTo>
                    <a:pt x="5035" y="290"/>
                  </a:lnTo>
                </a:path>
                <a:path w="8400" h="600" fill="none">
                  <a:moveTo>
                    <a:pt x="5065" y="94"/>
                  </a:moveTo>
                  <a:lnTo>
                    <a:pt x="5065" y="290"/>
                  </a:lnTo>
                </a:path>
                <a:path w="8400" h="600" fill="none">
                  <a:moveTo>
                    <a:pt x="5035" y="506"/>
                  </a:moveTo>
                  <a:lnTo>
                    <a:pt x="5035" y="310"/>
                  </a:lnTo>
                </a:path>
                <a:path w="8400" h="600" fill="none">
                  <a:moveTo>
                    <a:pt x="5065" y="506"/>
                  </a:moveTo>
                  <a:lnTo>
                    <a:pt x="5065" y="310"/>
                  </a:lnTo>
                </a:path>
                <a:path w="8400" h="600" fill="none">
                  <a:moveTo>
                    <a:pt x="5135" y="94"/>
                  </a:moveTo>
                  <a:lnTo>
                    <a:pt x="5135" y="290"/>
                  </a:lnTo>
                </a:path>
                <a:path w="8400" h="600" fill="none">
                  <a:moveTo>
                    <a:pt x="5165" y="94"/>
                  </a:moveTo>
                  <a:lnTo>
                    <a:pt x="5165" y="290"/>
                  </a:lnTo>
                </a:path>
                <a:path w="8400" h="600" fill="none">
                  <a:moveTo>
                    <a:pt x="5135" y="506"/>
                  </a:moveTo>
                  <a:lnTo>
                    <a:pt x="5135" y="310"/>
                  </a:lnTo>
                </a:path>
                <a:path w="8400" h="600" fill="none">
                  <a:moveTo>
                    <a:pt x="5165" y="506"/>
                  </a:moveTo>
                  <a:lnTo>
                    <a:pt x="5165" y="310"/>
                  </a:lnTo>
                </a:path>
                <a:path w="8400" h="600" fill="none">
                  <a:moveTo>
                    <a:pt x="5235" y="94"/>
                  </a:moveTo>
                  <a:lnTo>
                    <a:pt x="5235" y="290"/>
                  </a:lnTo>
                </a:path>
                <a:path w="8400" h="600" fill="none">
                  <a:moveTo>
                    <a:pt x="5265" y="94"/>
                  </a:moveTo>
                  <a:lnTo>
                    <a:pt x="5265" y="290"/>
                  </a:lnTo>
                </a:path>
                <a:path w="8400" h="600" fill="none">
                  <a:moveTo>
                    <a:pt x="5235" y="506"/>
                  </a:moveTo>
                  <a:lnTo>
                    <a:pt x="5235" y="310"/>
                  </a:lnTo>
                </a:path>
                <a:path w="8400" h="600" fill="none">
                  <a:moveTo>
                    <a:pt x="5265" y="506"/>
                  </a:moveTo>
                  <a:lnTo>
                    <a:pt x="5265" y="310"/>
                  </a:lnTo>
                </a:path>
                <a:path w="8400" h="600" fill="none">
                  <a:moveTo>
                    <a:pt x="5335" y="94"/>
                  </a:moveTo>
                  <a:lnTo>
                    <a:pt x="5335" y="290"/>
                  </a:lnTo>
                </a:path>
                <a:path w="8400" h="600" fill="none">
                  <a:moveTo>
                    <a:pt x="5365" y="94"/>
                  </a:moveTo>
                  <a:lnTo>
                    <a:pt x="5365" y="290"/>
                  </a:lnTo>
                </a:path>
                <a:path w="8400" h="600" fill="none">
                  <a:moveTo>
                    <a:pt x="5335" y="506"/>
                  </a:moveTo>
                  <a:lnTo>
                    <a:pt x="5335" y="310"/>
                  </a:lnTo>
                </a:path>
                <a:path w="8400" h="600" fill="none">
                  <a:moveTo>
                    <a:pt x="5365" y="506"/>
                  </a:moveTo>
                  <a:lnTo>
                    <a:pt x="5365" y="310"/>
                  </a:lnTo>
                </a:path>
                <a:path w="8400" h="600" fill="none">
                  <a:moveTo>
                    <a:pt x="5435" y="94"/>
                  </a:moveTo>
                  <a:lnTo>
                    <a:pt x="5435" y="290"/>
                  </a:lnTo>
                </a:path>
                <a:path w="8400" h="600" fill="none">
                  <a:moveTo>
                    <a:pt x="5465" y="94"/>
                  </a:moveTo>
                  <a:lnTo>
                    <a:pt x="5465" y="290"/>
                  </a:lnTo>
                </a:path>
                <a:path w="8400" h="600" fill="none">
                  <a:moveTo>
                    <a:pt x="5435" y="506"/>
                  </a:moveTo>
                  <a:lnTo>
                    <a:pt x="5435" y="310"/>
                  </a:lnTo>
                </a:path>
                <a:path w="8400" h="600" fill="none">
                  <a:moveTo>
                    <a:pt x="5465" y="506"/>
                  </a:moveTo>
                  <a:lnTo>
                    <a:pt x="5465" y="310"/>
                  </a:lnTo>
                </a:path>
                <a:path w="8400" h="600" fill="none">
                  <a:moveTo>
                    <a:pt x="5535" y="94"/>
                  </a:moveTo>
                  <a:lnTo>
                    <a:pt x="5535" y="290"/>
                  </a:lnTo>
                </a:path>
                <a:path w="8400" h="600" fill="none">
                  <a:moveTo>
                    <a:pt x="5565" y="94"/>
                  </a:moveTo>
                  <a:lnTo>
                    <a:pt x="5565" y="290"/>
                  </a:lnTo>
                </a:path>
                <a:path w="8400" h="600" fill="none">
                  <a:moveTo>
                    <a:pt x="5535" y="506"/>
                  </a:moveTo>
                  <a:lnTo>
                    <a:pt x="5535" y="310"/>
                  </a:lnTo>
                </a:path>
                <a:path w="8400" h="600" fill="none">
                  <a:moveTo>
                    <a:pt x="5565" y="506"/>
                  </a:moveTo>
                  <a:lnTo>
                    <a:pt x="5565" y="310"/>
                  </a:lnTo>
                </a:path>
                <a:path w="8400" h="600" fill="none">
                  <a:moveTo>
                    <a:pt x="5635" y="94"/>
                  </a:moveTo>
                  <a:lnTo>
                    <a:pt x="5635" y="290"/>
                  </a:lnTo>
                </a:path>
                <a:path w="8400" h="600" fill="none">
                  <a:moveTo>
                    <a:pt x="5665" y="94"/>
                  </a:moveTo>
                  <a:lnTo>
                    <a:pt x="5665" y="290"/>
                  </a:lnTo>
                </a:path>
                <a:path w="8400" h="600" fill="none">
                  <a:moveTo>
                    <a:pt x="5635" y="506"/>
                  </a:moveTo>
                  <a:lnTo>
                    <a:pt x="5635" y="310"/>
                  </a:lnTo>
                </a:path>
                <a:path w="8400" h="600" fill="none">
                  <a:moveTo>
                    <a:pt x="5665" y="506"/>
                  </a:moveTo>
                  <a:lnTo>
                    <a:pt x="5665" y="310"/>
                  </a:lnTo>
                </a:path>
                <a:path w="8400" h="600" fill="none">
                  <a:moveTo>
                    <a:pt x="5735" y="94"/>
                  </a:moveTo>
                  <a:lnTo>
                    <a:pt x="5735" y="290"/>
                  </a:lnTo>
                </a:path>
                <a:path w="8400" h="600" fill="none">
                  <a:moveTo>
                    <a:pt x="5765" y="94"/>
                  </a:moveTo>
                  <a:lnTo>
                    <a:pt x="5765" y="290"/>
                  </a:lnTo>
                </a:path>
                <a:path w="8400" h="600" fill="none">
                  <a:moveTo>
                    <a:pt x="5735" y="506"/>
                  </a:moveTo>
                  <a:lnTo>
                    <a:pt x="5735" y="310"/>
                  </a:lnTo>
                </a:path>
                <a:path w="8400" h="600" fill="none">
                  <a:moveTo>
                    <a:pt x="5765" y="506"/>
                  </a:moveTo>
                  <a:lnTo>
                    <a:pt x="5765" y="310"/>
                  </a:lnTo>
                </a:path>
                <a:path w="8400" h="600" fill="none">
                  <a:moveTo>
                    <a:pt x="5835" y="94"/>
                  </a:moveTo>
                  <a:lnTo>
                    <a:pt x="5835" y="290"/>
                  </a:lnTo>
                </a:path>
                <a:path w="8400" h="600" fill="none">
                  <a:moveTo>
                    <a:pt x="5865" y="94"/>
                  </a:moveTo>
                  <a:lnTo>
                    <a:pt x="5865" y="290"/>
                  </a:lnTo>
                </a:path>
                <a:path w="8400" h="600" fill="none">
                  <a:moveTo>
                    <a:pt x="5835" y="506"/>
                  </a:moveTo>
                  <a:lnTo>
                    <a:pt x="5835" y="310"/>
                  </a:lnTo>
                </a:path>
                <a:path w="8400" h="600" fill="none">
                  <a:moveTo>
                    <a:pt x="5865" y="506"/>
                  </a:moveTo>
                  <a:lnTo>
                    <a:pt x="5865" y="310"/>
                  </a:lnTo>
                </a:path>
                <a:path w="8400" h="600" fill="none">
                  <a:moveTo>
                    <a:pt x="5935" y="94"/>
                  </a:moveTo>
                  <a:lnTo>
                    <a:pt x="5935" y="290"/>
                  </a:lnTo>
                </a:path>
                <a:path w="8400" h="600" fill="none">
                  <a:moveTo>
                    <a:pt x="5965" y="94"/>
                  </a:moveTo>
                  <a:lnTo>
                    <a:pt x="5965" y="290"/>
                  </a:lnTo>
                </a:path>
                <a:path w="8400" h="600" fill="none">
                  <a:moveTo>
                    <a:pt x="5935" y="506"/>
                  </a:moveTo>
                  <a:lnTo>
                    <a:pt x="5935" y="310"/>
                  </a:lnTo>
                </a:path>
                <a:path w="8400" h="600" fill="none">
                  <a:moveTo>
                    <a:pt x="5965" y="506"/>
                  </a:moveTo>
                  <a:lnTo>
                    <a:pt x="5965" y="310"/>
                  </a:lnTo>
                </a:path>
                <a:path w="8400" h="600" fill="none">
                  <a:moveTo>
                    <a:pt x="6035" y="94"/>
                  </a:moveTo>
                  <a:lnTo>
                    <a:pt x="6035" y="290"/>
                  </a:lnTo>
                </a:path>
                <a:path w="8400" h="600" fill="none">
                  <a:moveTo>
                    <a:pt x="6065" y="94"/>
                  </a:moveTo>
                  <a:lnTo>
                    <a:pt x="6065" y="290"/>
                  </a:lnTo>
                </a:path>
                <a:path w="8400" h="600" fill="none">
                  <a:moveTo>
                    <a:pt x="6035" y="506"/>
                  </a:moveTo>
                  <a:lnTo>
                    <a:pt x="6035" y="310"/>
                  </a:lnTo>
                </a:path>
                <a:path w="8400" h="600" fill="none">
                  <a:moveTo>
                    <a:pt x="6065" y="506"/>
                  </a:moveTo>
                  <a:lnTo>
                    <a:pt x="6065" y="310"/>
                  </a:lnTo>
                </a:path>
                <a:path w="8400" h="600" fill="none">
                  <a:moveTo>
                    <a:pt x="6135" y="94"/>
                  </a:moveTo>
                  <a:lnTo>
                    <a:pt x="6135" y="290"/>
                  </a:lnTo>
                </a:path>
                <a:path w="8400" h="600" fill="none">
                  <a:moveTo>
                    <a:pt x="6165" y="94"/>
                  </a:moveTo>
                  <a:lnTo>
                    <a:pt x="6165" y="290"/>
                  </a:lnTo>
                </a:path>
                <a:path w="8400" h="600" fill="none">
                  <a:moveTo>
                    <a:pt x="6135" y="506"/>
                  </a:moveTo>
                  <a:lnTo>
                    <a:pt x="6135" y="310"/>
                  </a:lnTo>
                </a:path>
                <a:path w="8400" h="600" fill="none">
                  <a:moveTo>
                    <a:pt x="6165" y="506"/>
                  </a:moveTo>
                  <a:lnTo>
                    <a:pt x="6165" y="310"/>
                  </a:lnTo>
                </a:path>
                <a:path w="8400" h="600" fill="none">
                  <a:moveTo>
                    <a:pt x="6235" y="94"/>
                  </a:moveTo>
                  <a:lnTo>
                    <a:pt x="6235" y="290"/>
                  </a:lnTo>
                </a:path>
                <a:path w="8400" h="600" fill="none">
                  <a:moveTo>
                    <a:pt x="6265" y="94"/>
                  </a:moveTo>
                  <a:lnTo>
                    <a:pt x="6265" y="290"/>
                  </a:lnTo>
                </a:path>
                <a:path w="8400" h="600" fill="none">
                  <a:moveTo>
                    <a:pt x="6235" y="506"/>
                  </a:moveTo>
                  <a:lnTo>
                    <a:pt x="6235" y="310"/>
                  </a:lnTo>
                </a:path>
                <a:path w="8400" h="600" fill="none">
                  <a:moveTo>
                    <a:pt x="6265" y="506"/>
                  </a:moveTo>
                  <a:lnTo>
                    <a:pt x="6265" y="310"/>
                  </a:lnTo>
                </a:path>
                <a:path w="8400" h="600" fill="none">
                  <a:moveTo>
                    <a:pt x="6335" y="94"/>
                  </a:moveTo>
                  <a:lnTo>
                    <a:pt x="6335" y="290"/>
                  </a:lnTo>
                </a:path>
                <a:path w="8400" h="600" fill="none">
                  <a:moveTo>
                    <a:pt x="6365" y="94"/>
                  </a:moveTo>
                  <a:lnTo>
                    <a:pt x="6365" y="290"/>
                  </a:lnTo>
                </a:path>
                <a:path w="8400" h="600" fill="none">
                  <a:moveTo>
                    <a:pt x="6335" y="506"/>
                  </a:moveTo>
                  <a:lnTo>
                    <a:pt x="6335" y="310"/>
                  </a:lnTo>
                </a:path>
                <a:path w="8400" h="600" fill="none">
                  <a:moveTo>
                    <a:pt x="6365" y="506"/>
                  </a:moveTo>
                  <a:lnTo>
                    <a:pt x="6365" y="310"/>
                  </a:lnTo>
                </a:path>
                <a:path w="8400" h="600" fill="none">
                  <a:moveTo>
                    <a:pt x="6435" y="94"/>
                  </a:moveTo>
                  <a:lnTo>
                    <a:pt x="6435" y="290"/>
                  </a:lnTo>
                </a:path>
                <a:path w="8400" h="600" fill="none">
                  <a:moveTo>
                    <a:pt x="6465" y="94"/>
                  </a:moveTo>
                  <a:lnTo>
                    <a:pt x="6465" y="290"/>
                  </a:lnTo>
                </a:path>
                <a:path w="8400" h="600" fill="none">
                  <a:moveTo>
                    <a:pt x="6435" y="506"/>
                  </a:moveTo>
                  <a:lnTo>
                    <a:pt x="6435" y="310"/>
                  </a:lnTo>
                </a:path>
                <a:path w="8400" h="600" fill="none">
                  <a:moveTo>
                    <a:pt x="6465" y="506"/>
                  </a:moveTo>
                  <a:lnTo>
                    <a:pt x="6465" y="310"/>
                  </a:lnTo>
                </a:path>
                <a:path w="8400" h="600" fill="none">
                  <a:moveTo>
                    <a:pt x="6535" y="94"/>
                  </a:moveTo>
                  <a:lnTo>
                    <a:pt x="6535" y="290"/>
                  </a:lnTo>
                </a:path>
                <a:path w="8400" h="600" fill="none">
                  <a:moveTo>
                    <a:pt x="6565" y="94"/>
                  </a:moveTo>
                  <a:lnTo>
                    <a:pt x="6565" y="290"/>
                  </a:lnTo>
                </a:path>
                <a:path w="8400" h="600" fill="none">
                  <a:moveTo>
                    <a:pt x="6535" y="506"/>
                  </a:moveTo>
                  <a:lnTo>
                    <a:pt x="6535" y="310"/>
                  </a:lnTo>
                </a:path>
                <a:path w="8400" h="600" fill="none">
                  <a:moveTo>
                    <a:pt x="6565" y="506"/>
                  </a:moveTo>
                  <a:lnTo>
                    <a:pt x="6565" y="310"/>
                  </a:lnTo>
                </a:path>
                <a:path w="8400" h="600" fill="none">
                  <a:moveTo>
                    <a:pt x="6635" y="94"/>
                  </a:moveTo>
                  <a:lnTo>
                    <a:pt x="6635" y="290"/>
                  </a:lnTo>
                </a:path>
                <a:path w="8400" h="600" fill="none">
                  <a:moveTo>
                    <a:pt x="6665" y="94"/>
                  </a:moveTo>
                  <a:lnTo>
                    <a:pt x="6665" y="290"/>
                  </a:lnTo>
                </a:path>
                <a:path w="8400" h="600" fill="none">
                  <a:moveTo>
                    <a:pt x="6635" y="506"/>
                  </a:moveTo>
                  <a:lnTo>
                    <a:pt x="6635" y="310"/>
                  </a:lnTo>
                </a:path>
                <a:path w="8400" h="600" fill="none">
                  <a:moveTo>
                    <a:pt x="6665" y="506"/>
                  </a:moveTo>
                  <a:lnTo>
                    <a:pt x="6665" y="310"/>
                  </a:lnTo>
                </a:path>
                <a:path w="8400" h="600" fill="none">
                  <a:moveTo>
                    <a:pt x="6735" y="94"/>
                  </a:moveTo>
                  <a:lnTo>
                    <a:pt x="6735" y="290"/>
                  </a:lnTo>
                </a:path>
                <a:path w="8400" h="600" fill="none">
                  <a:moveTo>
                    <a:pt x="6765" y="94"/>
                  </a:moveTo>
                  <a:lnTo>
                    <a:pt x="6765" y="290"/>
                  </a:lnTo>
                </a:path>
                <a:path w="8400" h="600" fill="none">
                  <a:moveTo>
                    <a:pt x="6735" y="506"/>
                  </a:moveTo>
                  <a:lnTo>
                    <a:pt x="6735" y="310"/>
                  </a:lnTo>
                </a:path>
                <a:path w="8400" h="600" fill="none">
                  <a:moveTo>
                    <a:pt x="6765" y="506"/>
                  </a:moveTo>
                  <a:lnTo>
                    <a:pt x="6765" y="310"/>
                  </a:lnTo>
                </a:path>
                <a:path w="8400" h="600" fill="none">
                  <a:moveTo>
                    <a:pt x="6835" y="94"/>
                  </a:moveTo>
                  <a:lnTo>
                    <a:pt x="6835" y="290"/>
                  </a:lnTo>
                </a:path>
                <a:path w="8400" h="600" fill="none">
                  <a:moveTo>
                    <a:pt x="6865" y="94"/>
                  </a:moveTo>
                  <a:lnTo>
                    <a:pt x="6865" y="290"/>
                  </a:lnTo>
                </a:path>
                <a:path w="8400" h="600" fill="none">
                  <a:moveTo>
                    <a:pt x="6835" y="506"/>
                  </a:moveTo>
                  <a:lnTo>
                    <a:pt x="6835" y="310"/>
                  </a:lnTo>
                </a:path>
                <a:path w="8400" h="600" fill="none">
                  <a:moveTo>
                    <a:pt x="6865" y="506"/>
                  </a:moveTo>
                  <a:lnTo>
                    <a:pt x="6865" y="310"/>
                  </a:lnTo>
                </a:path>
                <a:path w="8400" h="600" fill="none">
                  <a:moveTo>
                    <a:pt x="6935" y="94"/>
                  </a:moveTo>
                  <a:lnTo>
                    <a:pt x="6935" y="290"/>
                  </a:lnTo>
                </a:path>
                <a:path w="8400" h="600" fill="none">
                  <a:moveTo>
                    <a:pt x="6965" y="94"/>
                  </a:moveTo>
                  <a:lnTo>
                    <a:pt x="6965" y="290"/>
                  </a:lnTo>
                </a:path>
                <a:path w="8400" h="600" fill="none">
                  <a:moveTo>
                    <a:pt x="6935" y="506"/>
                  </a:moveTo>
                  <a:lnTo>
                    <a:pt x="6935" y="310"/>
                  </a:lnTo>
                </a:path>
                <a:path w="8400" h="600" fill="none">
                  <a:moveTo>
                    <a:pt x="6965" y="506"/>
                  </a:moveTo>
                  <a:lnTo>
                    <a:pt x="6965" y="310"/>
                  </a:lnTo>
                </a:path>
                <a:path w="8400" h="600" fill="none">
                  <a:moveTo>
                    <a:pt x="7035" y="94"/>
                  </a:moveTo>
                  <a:lnTo>
                    <a:pt x="7035" y="290"/>
                  </a:lnTo>
                </a:path>
                <a:path w="8400" h="600" fill="none">
                  <a:moveTo>
                    <a:pt x="7065" y="94"/>
                  </a:moveTo>
                  <a:lnTo>
                    <a:pt x="7065" y="290"/>
                  </a:lnTo>
                </a:path>
                <a:path w="8400" h="600" fill="none">
                  <a:moveTo>
                    <a:pt x="7035" y="506"/>
                  </a:moveTo>
                  <a:lnTo>
                    <a:pt x="7035" y="310"/>
                  </a:lnTo>
                </a:path>
                <a:path w="8400" h="600" fill="none">
                  <a:moveTo>
                    <a:pt x="7065" y="506"/>
                  </a:moveTo>
                  <a:lnTo>
                    <a:pt x="7065" y="310"/>
                  </a:lnTo>
                </a:path>
                <a:path w="8400" h="600" fill="none">
                  <a:moveTo>
                    <a:pt x="7135" y="94"/>
                  </a:moveTo>
                  <a:lnTo>
                    <a:pt x="7135" y="290"/>
                  </a:lnTo>
                </a:path>
                <a:path w="8400" h="600" fill="none">
                  <a:moveTo>
                    <a:pt x="7165" y="94"/>
                  </a:moveTo>
                  <a:lnTo>
                    <a:pt x="7165" y="290"/>
                  </a:lnTo>
                </a:path>
                <a:path w="8400" h="600" fill="none">
                  <a:moveTo>
                    <a:pt x="7135" y="506"/>
                  </a:moveTo>
                  <a:lnTo>
                    <a:pt x="7135" y="310"/>
                  </a:lnTo>
                </a:path>
                <a:path w="8400" h="600" fill="none">
                  <a:moveTo>
                    <a:pt x="7165" y="506"/>
                  </a:moveTo>
                  <a:lnTo>
                    <a:pt x="7165" y="310"/>
                  </a:lnTo>
                </a:path>
                <a:path w="8400" h="600" fill="none">
                  <a:moveTo>
                    <a:pt x="7235" y="94"/>
                  </a:moveTo>
                  <a:lnTo>
                    <a:pt x="7235" y="290"/>
                  </a:lnTo>
                </a:path>
                <a:path w="8400" h="600" fill="none">
                  <a:moveTo>
                    <a:pt x="7265" y="94"/>
                  </a:moveTo>
                  <a:lnTo>
                    <a:pt x="7265" y="290"/>
                  </a:lnTo>
                </a:path>
                <a:path w="8400" h="600" fill="none">
                  <a:moveTo>
                    <a:pt x="7235" y="506"/>
                  </a:moveTo>
                  <a:lnTo>
                    <a:pt x="7235" y="310"/>
                  </a:lnTo>
                </a:path>
                <a:path w="8400" h="600" fill="none">
                  <a:moveTo>
                    <a:pt x="7265" y="506"/>
                  </a:moveTo>
                  <a:lnTo>
                    <a:pt x="7265" y="310"/>
                  </a:lnTo>
                </a:path>
                <a:path w="8400" h="600" fill="none">
                  <a:moveTo>
                    <a:pt x="7335" y="94"/>
                  </a:moveTo>
                  <a:lnTo>
                    <a:pt x="7335" y="290"/>
                  </a:lnTo>
                </a:path>
                <a:path w="8400" h="600" fill="none">
                  <a:moveTo>
                    <a:pt x="7365" y="94"/>
                  </a:moveTo>
                  <a:lnTo>
                    <a:pt x="7365" y="290"/>
                  </a:lnTo>
                </a:path>
                <a:path w="8400" h="600" fill="none">
                  <a:moveTo>
                    <a:pt x="7335" y="506"/>
                  </a:moveTo>
                  <a:lnTo>
                    <a:pt x="7335" y="310"/>
                  </a:lnTo>
                </a:path>
                <a:path w="8400" h="600" fill="none">
                  <a:moveTo>
                    <a:pt x="7365" y="506"/>
                  </a:moveTo>
                  <a:lnTo>
                    <a:pt x="7365" y="310"/>
                  </a:lnTo>
                </a:path>
                <a:path w="8400" h="600" fill="none">
                  <a:moveTo>
                    <a:pt x="7435" y="94"/>
                  </a:moveTo>
                  <a:lnTo>
                    <a:pt x="7435" y="290"/>
                  </a:lnTo>
                </a:path>
                <a:path w="8400" h="600" fill="none">
                  <a:moveTo>
                    <a:pt x="7465" y="94"/>
                  </a:moveTo>
                  <a:lnTo>
                    <a:pt x="7465" y="290"/>
                  </a:lnTo>
                </a:path>
                <a:path w="8400" h="600" fill="none">
                  <a:moveTo>
                    <a:pt x="7435" y="506"/>
                  </a:moveTo>
                  <a:lnTo>
                    <a:pt x="7435" y="310"/>
                  </a:lnTo>
                </a:path>
                <a:path w="8400" h="600" fill="none">
                  <a:moveTo>
                    <a:pt x="7465" y="506"/>
                  </a:moveTo>
                  <a:lnTo>
                    <a:pt x="7465" y="310"/>
                  </a:lnTo>
                </a:path>
                <a:path w="8400" h="600" fill="none">
                  <a:moveTo>
                    <a:pt x="7535" y="94"/>
                  </a:moveTo>
                  <a:lnTo>
                    <a:pt x="7535" y="290"/>
                  </a:lnTo>
                </a:path>
                <a:path w="8400" h="600" fill="none">
                  <a:moveTo>
                    <a:pt x="7565" y="94"/>
                  </a:moveTo>
                  <a:lnTo>
                    <a:pt x="7565" y="290"/>
                  </a:lnTo>
                </a:path>
                <a:path w="8400" h="600" fill="none">
                  <a:moveTo>
                    <a:pt x="7535" y="506"/>
                  </a:moveTo>
                  <a:lnTo>
                    <a:pt x="7535" y="310"/>
                  </a:lnTo>
                </a:path>
                <a:path w="8400" h="600" fill="none">
                  <a:moveTo>
                    <a:pt x="7565" y="506"/>
                  </a:moveTo>
                  <a:lnTo>
                    <a:pt x="7565" y="310"/>
                  </a:lnTo>
                </a:path>
                <a:path w="8400" h="600" fill="none">
                  <a:moveTo>
                    <a:pt x="7635" y="94"/>
                  </a:moveTo>
                  <a:lnTo>
                    <a:pt x="7635" y="290"/>
                  </a:lnTo>
                </a:path>
                <a:path w="8400" h="600" fill="none">
                  <a:moveTo>
                    <a:pt x="7665" y="94"/>
                  </a:moveTo>
                  <a:lnTo>
                    <a:pt x="7665" y="290"/>
                  </a:lnTo>
                </a:path>
                <a:path w="8400" h="600" fill="none">
                  <a:moveTo>
                    <a:pt x="7635" y="506"/>
                  </a:moveTo>
                  <a:lnTo>
                    <a:pt x="7635" y="310"/>
                  </a:lnTo>
                </a:path>
                <a:path w="8400" h="600" fill="none">
                  <a:moveTo>
                    <a:pt x="7665" y="506"/>
                  </a:moveTo>
                  <a:lnTo>
                    <a:pt x="7665" y="310"/>
                  </a:lnTo>
                </a:path>
                <a:path w="8400" h="600" fill="none">
                  <a:moveTo>
                    <a:pt x="7735" y="94"/>
                  </a:moveTo>
                  <a:lnTo>
                    <a:pt x="7735" y="290"/>
                  </a:lnTo>
                </a:path>
                <a:path w="8400" h="600" fill="none">
                  <a:moveTo>
                    <a:pt x="7765" y="94"/>
                  </a:moveTo>
                  <a:lnTo>
                    <a:pt x="7765" y="290"/>
                  </a:lnTo>
                </a:path>
                <a:path w="8400" h="600" fill="none">
                  <a:moveTo>
                    <a:pt x="7735" y="506"/>
                  </a:moveTo>
                  <a:lnTo>
                    <a:pt x="7735" y="310"/>
                  </a:lnTo>
                </a:path>
                <a:path w="8400" h="600" fill="none">
                  <a:moveTo>
                    <a:pt x="7765" y="506"/>
                  </a:moveTo>
                  <a:lnTo>
                    <a:pt x="7765" y="310"/>
                  </a:lnTo>
                </a:path>
                <a:path w="8400" h="600" fill="none">
                  <a:moveTo>
                    <a:pt x="7835" y="94"/>
                  </a:moveTo>
                  <a:lnTo>
                    <a:pt x="7835" y="290"/>
                  </a:lnTo>
                </a:path>
                <a:path w="8400" h="600" fill="none">
                  <a:moveTo>
                    <a:pt x="7865" y="94"/>
                  </a:moveTo>
                  <a:lnTo>
                    <a:pt x="7865" y="290"/>
                  </a:lnTo>
                </a:path>
                <a:path w="8400" h="600" fill="none">
                  <a:moveTo>
                    <a:pt x="7835" y="506"/>
                  </a:moveTo>
                  <a:lnTo>
                    <a:pt x="7835" y="310"/>
                  </a:lnTo>
                </a:path>
                <a:path w="8400" h="600" fill="none">
                  <a:moveTo>
                    <a:pt x="7865" y="506"/>
                  </a:moveTo>
                  <a:lnTo>
                    <a:pt x="7865" y="310"/>
                  </a:lnTo>
                </a:path>
                <a:path w="8400" h="600" fill="none">
                  <a:moveTo>
                    <a:pt x="7935" y="94"/>
                  </a:moveTo>
                  <a:lnTo>
                    <a:pt x="7935" y="290"/>
                  </a:lnTo>
                </a:path>
                <a:path w="8400" h="600" fill="none">
                  <a:moveTo>
                    <a:pt x="7965" y="94"/>
                  </a:moveTo>
                  <a:lnTo>
                    <a:pt x="7965" y="290"/>
                  </a:lnTo>
                </a:path>
                <a:path w="8400" h="600" fill="none">
                  <a:moveTo>
                    <a:pt x="7935" y="506"/>
                  </a:moveTo>
                  <a:lnTo>
                    <a:pt x="7935" y="310"/>
                  </a:lnTo>
                </a:path>
                <a:path w="8400" h="600" fill="none">
                  <a:moveTo>
                    <a:pt x="7965" y="506"/>
                  </a:moveTo>
                  <a:lnTo>
                    <a:pt x="7965" y="310"/>
                  </a:lnTo>
                </a:path>
                <a:path w="8400" h="600" fill="none">
                  <a:moveTo>
                    <a:pt x="8035" y="94"/>
                  </a:moveTo>
                  <a:lnTo>
                    <a:pt x="8035" y="290"/>
                  </a:lnTo>
                </a:path>
                <a:path w="8400" h="600" fill="none">
                  <a:moveTo>
                    <a:pt x="8065" y="94"/>
                  </a:moveTo>
                  <a:lnTo>
                    <a:pt x="8065" y="290"/>
                  </a:lnTo>
                </a:path>
                <a:path w="8400" h="600" fill="none">
                  <a:moveTo>
                    <a:pt x="8035" y="506"/>
                  </a:moveTo>
                  <a:lnTo>
                    <a:pt x="8035" y="310"/>
                  </a:lnTo>
                </a:path>
                <a:path w="8400" h="600" fill="none">
                  <a:moveTo>
                    <a:pt x="8065" y="506"/>
                  </a:moveTo>
                  <a:lnTo>
                    <a:pt x="8065" y="310"/>
                  </a:lnTo>
                </a:path>
                <a:path w="8400" h="600" fill="none">
                  <a:moveTo>
                    <a:pt x="8135" y="94"/>
                  </a:moveTo>
                  <a:lnTo>
                    <a:pt x="8135" y="290"/>
                  </a:lnTo>
                </a:path>
                <a:path w="8400" h="600" fill="none">
                  <a:moveTo>
                    <a:pt x="8165" y="94"/>
                  </a:moveTo>
                  <a:lnTo>
                    <a:pt x="8165" y="290"/>
                  </a:lnTo>
                </a:path>
                <a:path w="8400" h="600" fill="none">
                  <a:moveTo>
                    <a:pt x="8135" y="506"/>
                  </a:moveTo>
                  <a:lnTo>
                    <a:pt x="8135" y="310"/>
                  </a:lnTo>
                </a:path>
                <a:path w="8400" h="600" fill="none">
                  <a:moveTo>
                    <a:pt x="8165" y="506"/>
                  </a:moveTo>
                  <a:lnTo>
                    <a:pt x="8165" y="310"/>
                  </a:lnTo>
                </a:path>
                <a:path w="8400" h="600" fill="none">
                  <a:moveTo>
                    <a:pt x="8235" y="94"/>
                  </a:moveTo>
                  <a:lnTo>
                    <a:pt x="8235" y="290"/>
                  </a:lnTo>
                </a:path>
                <a:path w="8400" h="600" fill="none">
                  <a:moveTo>
                    <a:pt x="8265" y="94"/>
                  </a:moveTo>
                  <a:lnTo>
                    <a:pt x="8265" y="290"/>
                  </a:lnTo>
                </a:path>
                <a:path w="8400" h="600" fill="none">
                  <a:moveTo>
                    <a:pt x="8235" y="506"/>
                  </a:moveTo>
                  <a:lnTo>
                    <a:pt x="8235" y="310"/>
                  </a:lnTo>
                </a:path>
                <a:path w="8400" h="600" fill="none">
                  <a:moveTo>
                    <a:pt x="8265" y="506"/>
                  </a:moveTo>
                  <a:lnTo>
                    <a:pt x="8265" y="310"/>
                  </a:lnTo>
                </a:path>
                <a:path w="8400" h="600" fill="none">
                  <a:moveTo>
                    <a:pt x="8335" y="94"/>
                  </a:moveTo>
                  <a:lnTo>
                    <a:pt x="8335" y="290"/>
                  </a:lnTo>
                </a:path>
                <a:path w="8400" h="600" fill="none">
                  <a:moveTo>
                    <a:pt x="8365" y="94"/>
                  </a:moveTo>
                  <a:lnTo>
                    <a:pt x="8365" y="290"/>
                  </a:lnTo>
                </a:path>
                <a:path w="8400" h="600" fill="none">
                  <a:moveTo>
                    <a:pt x="8335" y="506"/>
                  </a:moveTo>
                  <a:lnTo>
                    <a:pt x="8335" y="310"/>
                  </a:lnTo>
                </a:path>
                <a:path w="8400" h="600" fill="none">
                  <a:moveTo>
                    <a:pt x="8365" y="506"/>
                  </a:moveTo>
                  <a:lnTo>
                    <a:pt x="8365" y="310"/>
                  </a:lnTo>
                </a:path>
              </a:pathLst>
            </a:custGeom>
            <a:noFill/>
            <a:ln w="9525" cap="rnd">
              <a:solidFill>
                <a:srgbClr val="A49887"/>
              </a:solidFill>
              <a:round/>
            </a:ln>
          </p:spPr>
        </p:sp>
      </p:grpSp>
      <p:sp>
        <p:nvSpPr>
          <p:cNvPr id="10" name="Matriz"/>
          <p:cNvSpPr/>
          <p:nvPr/>
        </p:nvSpPr>
        <p:spPr>
          <a:xfrm>
            <a:off x="274320" y="2788920"/>
            <a:ext cx="7680960" cy="2286000"/>
          </a:xfrm>
          <a:prstGeom prst="rect">
            <a:avLst/>
          </a:prstGeom>
          <a:solidFill>
            <a:srgbClr val="F8C471">
              <a:alpha val="55000"/>
            </a:srgbClr>
          </a:solidFill>
          <a:ln>
            <a:noFill/>
          </a:ln>
        </p:spPr>
      </p:sp>
      <p:sp>
        <p:nvSpPr>
          <p:cNvPr id="11" name="Cadena"/>
          <p:cNvSpPr/>
          <p:nvPr/>
        </p:nvSpPr>
        <p:spPr>
          <a:xfrm>
            <a:off x="731520" y="1874520"/>
            <a:ext cx="1645920" cy="1188720"/>
          </a:xfrm>
          <a:prstGeom prst="roundRect">
            <a:avLst/>
          </a:prstGeom>
          <a:gradFill rotWithShape="1">
            <a:gsLst>
              <a:gs pos="0">
                <a:srgbClr val="C49DD4"/>
              </a:gs>
              <a:gs pos="55000">
                <a:srgbClr val="A569BD"/>
              </a:gs>
              <a:gs pos="100000">
                <a:srgbClr val="7B4E8D"/>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Cadena</a:t>
            </a:r>
            <a:endParaRPr lang="es-AR" sz="1300" dirty="0">
              <a:latin typeface="Bahnschrift SemiBold Condensed"/>
            </a:endParaRPr>
          </a:p>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respiratoria</a:t>
            </a:r>
            <a:endParaRPr lang="es-AR" sz="1300" dirty="0">
              <a:latin typeface="Bahnschrift SemiBold Condensed"/>
            </a:endParaRPr>
          </a:p>
        </p:txBody>
      </p:sp>
      <p:sp>
        <p:nvSpPr>
          <p:cNvPr id="12" name="ATP sintasa"/>
          <p:cNvSpPr/>
          <p:nvPr/>
        </p:nvSpPr>
        <p:spPr>
          <a:xfrm>
            <a:off x="3108960" y="1874520"/>
            <a:ext cx="1188720" cy="1188720"/>
          </a:xfrm>
          <a:prstGeom prst="roundRect">
            <a:avLst/>
          </a:prstGeom>
          <a:gradFill rotWithShape="1">
            <a:gsLst>
              <a:gs pos="0">
                <a:srgbClr val="92E4B4"/>
              </a:gs>
              <a:gs pos="55000">
                <a:srgbClr val="58D68D"/>
              </a:gs>
              <a:gs pos="100000">
                <a:srgbClr val="42A069"/>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ATP</a:t>
            </a:r>
            <a:endParaRPr lang="es-AR" sz="1300" dirty="0">
              <a:latin typeface="Bahnschrift SemiBold Condensed"/>
            </a:endParaRPr>
          </a:p>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sintasa</a:t>
            </a:r>
            <a:endParaRPr lang="es-AR" sz="1300" dirty="0">
              <a:latin typeface="Bahnschrift SemiBold Condensed"/>
            </a:endParaRPr>
          </a:p>
        </p:txBody>
      </p:sp>
      <p:sp>
        <p:nvSpPr>
          <p:cNvPr id="13" name="UCP1"/>
          <p:cNvSpPr/>
          <p:nvPr/>
        </p:nvSpPr>
        <p:spPr>
          <a:xfrm>
            <a:off x="5303520" y="1874520"/>
            <a:ext cx="1188720" cy="1188720"/>
          </a:xfrm>
          <a:prstGeom prst="roundRect">
            <a:avLst/>
          </a:prstGeom>
          <a:gradFill rotWithShape="1">
            <a:gsLst>
              <a:gs pos="0">
                <a:srgbClr val="EF8A80"/>
              </a:gs>
              <a:gs pos="55000">
                <a:srgbClr val="E74C3C"/>
              </a:gs>
              <a:gs pos="100000">
                <a:srgbClr val="AD392D"/>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UCP1</a:t>
            </a:r>
            <a:endParaRPr lang="es-AR" sz="1600" dirty="0">
              <a:latin typeface="Bahnschrift SemiBold Condensed"/>
            </a:endParaRPr>
          </a:p>
        </p:txBody>
      </p:sp>
      <p:sp>
        <p:nvSpPr>
          <p:cNvPr id="14" name="Flecha 13_2"/>
          <p:cNvSpPr/>
          <p:nvPr/>
        </p:nvSpPr>
        <p:spPr>
          <a:xfrm>
            <a:off x="1554480" y="1280160"/>
            <a:ext cx="9144" cy="594360"/>
          </a:xfrm>
          <a:custGeom>
            <a:avLst/>
            <a:gdLst/>
            <a:ahLst/>
            <a:cxnLst/>
            <a:rect l="0" t="0" r="r" b="b"/>
            <a:pathLst>
              <a:path w="10" h="649" fill="none">
                <a:moveTo>
                  <a:pt x="0" y="649"/>
                </a:moveTo>
                <a:lnTo>
                  <a:pt x="0" y="0"/>
                </a:lnTo>
              </a:path>
            </a:pathLst>
          </a:custGeom>
          <a:noFill/>
          <a:ln w="44450" cap="rnd">
            <a:solidFill>
              <a:srgbClr val="C00000"/>
            </a:solidFill>
            <a:round/>
            <a:tailEnd type="triangle" w="med" len="med"/>
          </a:ln>
        </p:spPr>
      </p:sp>
      <p:sp>
        <p:nvSpPr>
          <p:cNvPr id="15" name="H 0"/>
          <p:cNvSpPr/>
          <p:nvPr/>
        </p:nvSpPr>
        <p:spPr>
          <a:xfrm>
            <a:off x="182880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16" name="H 1"/>
          <p:cNvSpPr/>
          <p:nvPr/>
        </p:nvSpPr>
        <p:spPr>
          <a:xfrm>
            <a:off x="219456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17" name="H 2"/>
          <p:cNvSpPr/>
          <p:nvPr/>
        </p:nvSpPr>
        <p:spPr>
          <a:xfrm>
            <a:off x="2560320" y="128016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18" name="Fuga H+"/>
          <p:cNvSpPr/>
          <p:nvPr/>
        </p:nvSpPr>
        <p:spPr>
          <a:xfrm>
            <a:off x="5897880" y="1325880"/>
            <a:ext cx="9144" cy="2240280"/>
          </a:xfrm>
          <a:custGeom>
            <a:avLst/>
            <a:gdLst/>
            <a:ahLst/>
            <a:cxnLst/>
            <a:rect l="0" t="0" r="r" b="b"/>
            <a:pathLst>
              <a:path w="10" h="2450" fill="none">
                <a:moveTo>
                  <a:pt x="0" y="0"/>
                </a:moveTo>
                <a:lnTo>
                  <a:pt x="0" y="2450"/>
                </a:lnTo>
              </a:path>
            </a:pathLst>
          </a:custGeom>
          <a:noFill/>
          <a:ln w="57150" cap="rnd">
            <a:solidFill>
              <a:srgbClr val="C00000"/>
            </a:solidFill>
            <a:round/>
            <a:tailEnd type="triangle" w="med" len="med"/>
          </a:ln>
        </p:spPr>
      </p:sp>
      <p:sp>
        <p:nvSpPr>
          <p:cNvPr id="19" name="Calor"/>
          <p:cNvSpPr/>
          <p:nvPr/>
        </p:nvSpPr>
        <p:spPr>
          <a:xfrm>
            <a:off x="5623560" y="3657600"/>
            <a:ext cx="640080" cy="832104"/>
          </a:xfrm>
          <a:custGeom>
            <a:avLst/>
            <a:gdLst/>
            <a:ahLst/>
            <a:cxnLst/>
            <a:rect l="0" t="0" r="r" b="b"/>
            <a:pathLst>
              <a:path w="1000" h="1000">
                <a:moveTo>
                  <a:pt x="500" y="0"/>
                </a:moveTo>
                <a:cubicBezTo>
                  <a:pt x="555" y="-36"/>
                  <a:pt x="683" y="191"/>
                  <a:pt x="750" y="300"/>
                </a:cubicBezTo>
                <a:cubicBezTo>
                  <a:pt x="816" y="408"/>
                  <a:pt x="908" y="536"/>
                  <a:pt x="900" y="650"/>
                </a:cubicBezTo>
                <a:cubicBezTo>
                  <a:pt x="891" y="763"/>
                  <a:pt x="800" y="925"/>
                  <a:pt x="700" y="980"/>
                </a:cubicBezTo>
                <a:cubicBezTo>
                  <a:pt x="600" y="1035"/>
                  <a:pt x="400" y="1035"/>
                  <a:pt x="300" y="980"/>
                </a:cubicBezTo>
                <a:cubicBezTo>
                  <a:pt x="200" y="925"/>
                  <a:pt x="100" y="743"/>
                  <a:pt x="100" y="650"/>
                </a:cubicBezTo>
                <a:cubicBezTo>
                  <a:pt x="100" y="556"/>
                  <a:pt x="246" y="441"/>
                  <a:pt x="300" y="420"/>
                </a:cubicBezTo>
                <a:cubicBezTo>
                  <a:pt x="353" y="398"/>
                  <a:pt x="386" y="590"/>
                  <a:pt x="420" y="520"/>
                </a:cubicBezTo>
                <a:cubicBezTo>
                  <a:pt x="453" y="450"/>
                  <a:pt x="445" y="36"/>
                  <a:pt x="500" y="0"/>
                </a:cubicBezTo>
                <a:close/>
              </a:path>
            </a:pathLst>
          </a:custGeom>
          <a:gradFill rotWithShape="1">
            <a:gsLst>
              <a:gs pos="0">
                <a:srgbClr val="FFE066"/>
              </a:gs>
              <a:gs pos="60000">
                <a:srgbClr val="F39C12"/>
              </a:gs>
              <a:gs pos="100000">
                <a:srgbClr val="E74C3C"/>
              </a:gs>
            </a:gsLst>
            <a:lin ang="16200000" scaled="0"/>
          </a:gradFill>
          <a:ln w="15875" cap="rnd">
            <a:solidFill>
              <a:srgbClr val="A04000"/>
            </a:solidFill>
            <a:round/>
          </a:ln>
        </p:spPr>
      </p:sp>
      <p:sp>
        <p:nvSpPr>
          <p:cNvPr id="20" name="Menor ATP"/>
          <p:cNvSpPr/>
          <p:nvPr/>
        </p:nvSpPr>
        <p:spPr>
          <a:xfrm>
            <a:off x="3703320" y="1325880"/>
            <a:ext cx="9144" cy="1965960"/>
          </a:xfrm>
          <a:custGeom>
            <a:avLst/>
            <a:gdLst/>
            <a:ahLst/>
            <a:cxnLst/>
            <a:rect l="0" t="0" r="r" b="b"/>
            <a:pathLst>
              <a:path w="10" h="2150" fill="none">
                <a:moveTo>
                  <a:pt x="0" y="0"/>
                </a:moveTo>
                <a:lnTo>
                  <a:pt x="0" y="2150"/>
                </a:lnTo>
              </a:path>
            </a:pathLst>
          </a:custGeom>
          <a:noFill/>
          <a:ln w="19050" cap="rnd">
            <a:solidFill>
              <a:srgbClr val="C00000"/>
            </a:solidFill>
            <a:prstDash val="dash"/>
            <a:round/>
            <a:tailEnd type="triangle" w="med" len="med"/>
          </a:ln>
        </p:spPr>
      </p:sp>
      <p:sp>
        <p:nvSpPr>
          <p:cNvPr id="21" name="Forma 21"/>
          <p:cNvSpPr/>
          <p:nvPr/>
        </p:nvSpPr>
        <p:spPr>
          <a:xfrm>
            <a:off x="8229600" y="1005840"/>
            <a:ext cx="3566160" cy="950976"/>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Frío</a:t>
            </a:r>
            <a:endParaRPr lang="es-AR" sz="1350" dirty="0">
              <a:latin typeface="Bahnschrift"/>
            </a:endParaRPr>
          </a:p>
        </p:txBody>
      </p:sp>
      <p:sp>
        <p:nvSpPr>
          <p:cNvPr id="22" name="Flecha 22_2"/>
          <p:cNvSpPr/>
          <p:nvPr/>
        </p:nvSpPr>
        <p:spPr>
          <a:xfrm>
            <a:off x="10012680" y="1984248"/>
            <a:ext cx="9144" cy="128016"/>
          </a:xfrm>
          <a:custGeom>
            <a:avLst/>
            <a:gdLst/>
            <a:ahLst/>
            <a:cxnLst/>
            <a:rect l="0" t="0" r="r" b="b"/>
            <a:pathLst>
              <a:path w="10" h="140" fill="none">
                <a:moveTo>
                  <a:pt x="0" y="0"/>
                </a:moveTo>
                <a:lnTo>
                  <a:pt x="0" y="140"/>
                </a:lnTo>
              </a:path>
            </a:pathLst>
          </a:custGeom>
          <a:noFill/>
          <a:ln w="31750" cap="rnd">
            <a:solidFill>
              <a:srgbClr val="1E8C3A"/>
            </a:solidFill>
            <a:round/>
            <a:tailEnd type="triangle" w="med" len="med"/>
          </a:ln>
        </p:spPr>
      </p:sp>
      <p:sp>
        <p:nvSpPr>
          <p:cNvPr id="23" name="Forma 24"/>
          <p:cNvSpPr/>
          <p:nvPr/>
        </p:nvSpPr>
        <p:spPr>
          <a:xfrm>
            <a:off x="8229600" y="2139696"/>
            <a:ext cx="3566160" cy="950976"/>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Noradrenalina (simpático)</a:t>
            </a:r>
            <a:endParaRPr lang="es-AR" sz="1350" dirty="0">
              <a:latin typeface="Bahnschrift"/>
            </a:endParaRPr>
          </a:p>
        </p:txBody>
      </p:sp>
      <p:sp>
        <p:nvSpPr>
          <p:cNvPr id="24" name="Flecha 25_2"/>
          <p:cNvSpPr/>
          <p:nvPr/>
        </p:nvSpPr>
        <p:spPr>
          <a:xfrm>
            <a:off x="10012680" y="3118104"/>
            <a:ext cx="9144" cy="128016"/>
          </a:xfrm>
          <a:custGeom>
            <a:avLst/>
            <a:gdLst/>
            <a:ahLst/>
            <a:cxnLst/>
            <a:rect l="0" t="0" r="r" b="b"/>
            <a:pathLst>
              <a:path w="10" h="140" fill="none">
                <a:moveTo>
                  <a:pt x="0" y="0"/>
                </a:moveTo>
                <a:lnTo>
                  <a:pt x="0" y="140"/>
                </a:lnTo>
              </a:path>
            </a:pathLst>
          </a:custGeom>
          <a:noFill/>
          <a:ln w="31750" cap="rnd">
            <a:solidFill>
              <a:srgbClr val="1E8C3A"/>
            </a:solidFill>
            <a:round/>
            <a:tailEnd type="triangle" w="med" len="med"/>
          </a:ln>
        </p:spPr>
      </p:sp>
      <p:sp>
        <p:nvSpPr>
          <p:cNvPr id="25" name="Forma 27"/>
          <p:cNvSpPr/>
          <p:nvPr/>
        </p:nvSpPr>
        <p:spPr>
          <a:xfrm>
            <a:off x="8229600" y="3273552"/>
            <a:ext cx="3566160" cy="950976"/>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Receptor β-adrenérgico</a:t>
            </a:r>
            <a:endParaRPr lang="es-AR" sz="1350" dirty="0">
              <a:latin typeface="Bahnschrift"/>
            </a:endParaRPr>
          </a:p>
        </p:txBody>
      </p:sp>
      <p:sp>
        <p:nvSpPr>
          <p:cNvPr id="26" name="Flecha 28_2"/>
          <p:cNvSpPr/>
          <p:nvPr/>
        </p:nvSpPr>
        <p:spPr>
          <a:xfrm>
            <a:off x="10012680" y="4251960"/>
            <a:ext cx="9144" cy="128016"/>
          </a:xfrm>
          <a:custGeom>
            <a:avLst/>
            <a:gdLst/>
            <a:ahLst/>
            <a:cxnLst/>
            <a:rect l="0" t="0" r="r" b="b"/>
            <a:pathLst>
              <a:path w="10" h="139" fill="none">
                <a:moveTo>
                  <a:pt x="0" y="0"/>
                </a:moveTo>
                <a:lnTo>
                  <a:pt x="0" y="139"/>
                </a:lnTo>
              </a:path>
            </a:pathLst>
          </a:custGeom>
          <a:noFill/>
          <a:ln w="31750" cap="rnd">
            <a:solidFill>
              <a:srgbClr val="1E8C3A"/>
            </a:solidFill>
            <a:round/>
            <a:tailEnd type="triangle" w="med" len="med"/>
          </a:ln>
        </p:spPr>
      </p:sp>
      <p:sp>
        <p:nvSpPr>
          <p:cNvPr id="27" name="Forma 30"/>
          <p:cNvSpPr/>
          <p:nvPr/>
        </p:nvSpPr>
        <p:spPr>
          <a:xfrm>
            <a:off x="8229600" y="4407408"/>
            <a:ext cx="3566160" cy="950976"/>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AMPc → PKA</a:t>
            </a:r>
            <a:endParaRPr lang="es-AR" sz="1350" dirty="0">
              <a:latin typeface="Bahnschrift"/>
            </a:endParaRPr>
          </a:p>
        </p:txBody>
      </p:sp>
      <p:sp>
        <p:nvSpPr>
          <p:cNvPr id="28" name="Flecha 31_2"/>
          <p:cNvSpPr/>
          <p:nvPr/>
        </p:nvSpPr>
        <p:spPr>
          <a:xfrm>
            <a:off x="10012680" y="5385816"/>
            <a:ext cx="9144" cy="128016"/>
          </a:xfrm>
          <a:custGeom>
            <a:avLst/>
            <a:gdLst/>
            <a:ahLst/>
            <a:cxnLst/>
            <a:rect l="0" t="0" r="r" b="b"/>
            <a:pathLst>
              <a:path w="10" h="139" fill="none">
                <a:moveTo>
                  <a:pt x="0" y="0"/>
                </a:moveTo>
                <a:lnTo>
                  <a:pt x="0" y="139"/>
                </a:lnTo>
              </a:path>
            </a:pathLst>
          </a:custGeom>
          <a:noFill/>
          <a:ln w="31750" cap="rnd">
            <a:solidFill>
              <a:srgbClr val="1E8C3A"/>
            </a:solidFill>
            <a:round/>
            <a:tailEnd type="triangle" w="med" len="med"/>
          </a:ln>
        </p:spPr>
      </p:sp>
      <p:sp>
        <p:nvSpPr>
          <p:cNvPr id="29" name="Forma 33"/>
          <p:cNvSpPr/>
          <p:nvPr/>
        </p:nvSpPr>
        <p:spPr>
          <a:xfrm>
            <a:off x="8229600" y="5541264"/>
            <a:ext cx="3566160" cy="950976"/>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Lipólisis → AG activan UCP1</a:t>
            </a:r>
            <a:endParaRPr lang="es-AR" sz="1350" dirty="0">
              <a:latin typeface="Bahnschrift"/>
            </a:endParaRPr>
          </a:p>
        </p:txBody>
      </p:sp>
      <p:sp>
        <p:nvSpPr>
          <p:cNvPr id="30" name="Forma 34"/>
          <p:cNvSpPr/>
          <p:nvPr/>
        </p:nvSpPr>
        <p:spPr>
          <a:xfrm>
            <a:off x="274320" y="5257800"/>
            <a:ext cx="7680960" cy="12344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UCP1 permite el </a:t>
            </a:r>
            <a:r>
              <a:rPr lang="es-AR" sz="1600" b="1" dirty="0">
                <a:solidFill>
                  <a:srgbClr val="1E1E1E"/>
                </a:solidFill>
                <a:latin typeface="Bahnschrift"/>
                <a:ea typeface="Bahnschrift"/>
                <a:cs typeface="Bahnschrift"/>
                <a:sym typeface="Bahnschrift"/>
              </a:rPr>
              <a:t>retorno de protones sin producir ATP</a:t>
            </a:r>
            <a:r>
              <a:rPr lang="es-AR" sz="1600" dirty="0">
                <a:solidFill>
                  <a:srgbClr val="1E1E1E"/>
                </a:solidFill>
                <a:latin typeface="Bahnschrift"/>
                <a:ea typeface="Bahnschrift"/>
                <a:cs typeface="Bahnschrift"/>
                <a:sym typeface="Bahnschrift"/>
              </a:rPr>
              <a:t>: la energía del gradiente se disipa como </a:t>
            </a:r>
            <a:r>
              <a:rPr lang="es-AR" sz="1600" b="1" dirty="0">
                <a:solidFill>
                  <a:srgbClr val="1E1E1E"/>
                </a:solidFill>
                <a:latin typeface="Bahnschrift"/>
                <a:ea typeface="Bahnschrift"/>
                <a:cs typeface="Bahnschrift"/>
                <a:sym typeface="Bahnschrift"/>
              </a:rPr>
              <a:t>calor</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T3</a:t>
            </a:r>
            <a:r>
              <a:rPr lang="es-AR" sz="1600" dirty="0">
                <a:solidFill>
                  <a:srgbClr val="1E1E1E"/>
                </a:solidFill>
                <a:latin typeface="Bahnschrift"/>
                <a:ea typeface="Bahnschrift"/>
                <a:cs typeface="Bahnschrift"/>
                <a:sym typeface="Bahnschrift"/>
              </a:rPr>
              <a:t> favorece la maquinaria termogénica; pueden surgir adipocitos </a:t>
            </a:r>
            <a:r>
              <a:rPr lang="es-AR" sz="1600" b="1" dirty="0">
                <a:solidFill>
                  <a:srgbClr val="1E1E1E"/>
                </a:solidFill>
                <a:latin typeface="Bahnschrift"/>
                <a:ea typeface="Bahnschrift"/>
                <a:cs typeface="Bahnschrift"/>
                <a:sym typeface="Bahnschrift"/>
              </a:rPr>
              <a:t>beige</a:t>
            </a:r>
            <a:r>
              <a:rPr lang="es-AR" sz="1600" dirty="0">
                <a:solidFill>
                  <a:srgbClr val="1E1E1E"/>
                </a:solidFill>
                <a:latin typeface="Bahnschrift"/>
                <a:ea typeface="Bahnschrift"/>
                <a:cs typeface="Bahnschrift"/>
                <a:sym typeface="Bahnschrift"/>
              </a:rPr>
              <a:t> en depósitos blancos.</a:t>
            </a:r>
            <a:endParaRPr lang="es-AR" sz="1600" dirty="0">
              <a:latin typeface="Bahnschrift"/>
            </a:endParaRPr>
          </a:p>
        </p:txBody>
      </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813168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32 · TERMOGÉNESIS: UCP1 DISIPA EL GRADIENTE COMO CALOR</a:t>
            </a:r>
            <a:endParaRPr lang="es-AR" sz="2600" dirty="0">
              <a:latin typeface="Bahnschrift SemiBold Condensed"/>
            </a:endParaRPr>
          </a:p>
        </p:txBody>
      </p:sp>
      <p:sp>
        <p:nvSpPr>
          <p:cNvPr id="3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1"/>
                                        </p:tgtEl>
                                        <p:attrNameLst>
                                          <p:attrName>style.visibility</p:attrName>
                                        </p:attrNameLst>
                                      </p:cBhvr>
                                      <p:to>
                                        <p:strVal val="visible"/>
                                      </p:to>
                                    </p:set>
                                    <p:animEffect transition="in" filter="fade">
                                      <p:cBhvr>
                                        <p:cTn id="5" dur="500"/>
                                        <p:tgtEl>
                                          <p:spTgt spid="21"/>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left)">
                                      <p:cBhvr>
                                        <p:cTn id="10" dur="600"/>
                                        <p:tgtEl>
                                          <p:spTgt spid="22"/>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600"/>
                                        <p:tgtEl>
                                          <p:spTgt spid="24"/>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left)">
                                      <p:cBhvr>
                                        <p:cTn id="28" dur="600"/>
                                        <p:tgtEl>
                                          <p:spTgt spid="26"/>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wipe(left)">
                                      <p:cBhvr>
                                        <p:cTn id="37" dur="600"/>
                                        <p:tgtEl>
                                          <p:spTgt spid="28"/>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29"/>
                                        </p:tgtEl>
                                        <p:attrNameLst>
                                          <p:attrName>style.visibility</p:attrName>
                                        </p:attrNameLst>
                                      </p:cBhvr>
                                      <p:to>
                                        <p:strVal val="visible"/>
                                      </p:to>
                                    </p:set>
                                    <p:animEffect transition="in" filter="fade">
                                      <p:cBhvr>
                                        <p:cTn id="41" dur="500"/>
                                        <p:tgtEl>
                                          <p:spTgt spid="29"/>
                                        </p:tgtEl>
                                      </p:cBhvr>
                                    </p:animEffect>
                                  </p:childTnLst>
                                </p:cTn>
                              </p:par>
                            </p:childTnLst>
                          </p:cTn>
                        </p:par>
                      </p:childTnLst>
                    </p:cTn>
                  </p:par>
                  <p:par>
                    <p:cTn id="68"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500"/>
                                        <p:tgtEl>
                                          <p:spTgt spid="11"/>
                                        </p:tgtEl>
                                      </p:cBhvr>
                                    </p:animEffect>
                                  </p:childTnLst>
                                </p:cTn>
                              </p:par>
                            </p:childTnLst>
                          </p:cTn>
                        </p:par>
                        <p:par>
                          <p:cTn id="51" fill="hold">
                            <p:stCondLst>
                              <p:cond delay="500"/>
                            </p:stCondLst>
                            <p:childTnLst>
                              <p:par>
                                <p:cTn id="48" presetID="22" presetClass="entr" presetSubtype="4"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wipe(down)">
                                      <p:cBhvr>
                                        <p:cTn id="50" dur="600"/>
                                        <p:tgtEl>
                                          <p:spTgt spid="14"/>
                                        </p:tgtEl>
                                      </p:cBhvr>
                                    </p:animEffect>
                                  </p:childTnLst>
                                </p:cTn>
                              </p:par>
                            </p:childTnLst>
                          </p:cTn>
                        </p:par>
                        <p:par>
                          <p:cTn id="67" fill="hold">
                            <p:stCondLst>
                              <p:cond delay="1100"/>
                            </p:stCondLst>
                            <p:childTnLst>
                              <p:par>
                                <p:cTn id="52" presetID="53" presetClass="entr" presetSubtype="16" fill="hold" grpId="0" nodeType="after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p:cTn id="54" dur="500" fill="hold"/>
                                        <p:tgtEl>
                                          <p:spTgt spid="15"/>
                                        </p:tgtEl>
                                        <p:attrNameLst>
                                          <p:attrName>ppt_w</p:attrName>
                                        </p:attrNameLst>
                                      </p:cBhvr>
                                      <p:tavLst>
                                        <p:tav tm="0">
                                          <p:val>
                                            <p:fltVal val="0"/>
                                          </p:val>
                                        </p:tav>
                                        <p:tav tm="100000">
                                          <p:val>
                                            <p:strVal val="#ppt_w"/>
                                          </p:val>
                                        </p:tav>
                                      </p:tavLst>
                                    </p:anim>
                                    <p:anim calcmode="lin" valueType="num">
                                      <p:cBhvr>
                                        <p:cTn id="55" dur="500" fill="hold"/>
                                        <p:tgtEl>
                                          <p:spTgt spid="15"/>
                                        </p:tgtEl>
                                        <p:attrNameLst>
                                          <p:attrName>ppt_h</p:attrName>
                                        </p:attrNameLst>
                                      </p:cBhvr>
                                      <p:tavLst>
                                        <p:tav tm="0">
                                          <p:val>
                                            <p:fltVal val="0"/>
                                          </p:val>
                                        </p:tav>
                                        <p:tav tm="100000">
                                          <p:val>
                                            <p:strVal val="#ppt_h"/>
                                          </p:val>
                                        </p:tav>
                                      </p:tavLst>
                                    </p:anim>
                                    <p:animEffect transition="in" filter="fade">
                                      <p:cBhvr>
                                        <p:cTn id="56" dur="500"/>
                                        <p:tgtEl>
                                          <p:spTgt spid="15"/>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p:cTn id="59" dur="500" fill="hold"/>
                                        <p:tgtEl>
                                          <p:spTgt spid="16"/>
                                        </p:tgtEl>
                                        <p:attrNameLst>
                                          <p:attrName>ppt_w</p:attrName>
                                        </p:attrNameLst>
                                      </p:cBhvr>
                                      <p:tavLst>
                                        <p:tav tm="0">
                                          <p:val>
                                            <p:fltVal val="0"/>
                                          </p:val>
                                        </p:tav>
                                        <p:tav tm="100000">
                                          <p:val>
                                            <p:strVal val="#ppt_w"/>
                                          </p:val>
                                        </p:tav>
                                      </p:tavLst>
                                    </p:anim>
                                    <p:anim calcmode="lin" valueType="num">
                                      <p:cBhvr>
                                        <p:cTn id="60" dur="500" fill="hold"/>
                                        <p:tgtEl>
                                          <p:spTgt spid="16"/>
                                        </p:tgtEl>
                                        <p:attrNameLst>
                                          <p:attrName>ppt_h</p:attrName>
                                        </p:attrNameLst>
                                      </p:cBhvr>
                                      <p:tavLst>
                                        <p:tav tm="0">
                                          <p:val>
                                            <p:fltVal val="0"/>
                                          </p:val>
                                        </p:tav>
                                        <p:tav tm="100000">
                                          <p:val>
                                            <p:strVal val="#ppt_h"/>
                                          </p:val>
                                        </p:tav>
                                      </p:tavLst>
                                    </p:anim>
                                    <p:animEffect transition="in" filter="fade">
                                      <p:cBhvr>
                                        <p:cTn id="61" dur="500"/>
                                        <p:tgtEl>
                                          <p:spTgt spid="16"/>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7"/>
                                        </p:tgtEl>
                                        <p:attrNameLst>
                                          <p:attrName>style.visibility</p:attrName>
                                        </p:attrNameLst>
                                      </p:cBhvr>
                                      <p:to>
                                        <p:strVal val="visible"/>
                                      </p:to>
                                    </p:set>
                                    <p:anim calcmode="lin" valueType="num">
                                      <p:cBhvr>
                                        <p:cTn id="64" dur="500" fill="hold"/>
                                        <p:tgtEl>
                                          <p:spTgt spid="17"/>
                                        </p:tgtEl>
                                        <p:attrNameLst>
                                          <p:attrName>ppt_w</p:attrName>
                                        </p:attrNameLst>
                                      </p:cBhvr>
                                      <p:tavLst>
                                        <p:tav tm="0">
                                          <p:val>
                                            <p:fltVal val="0"/>
                                          </p:val>
                                        </p:tav>
                                        <p:tav tm="100000">
                                          <p:val>
                                            <p:strVal val="#ppt_w"/>
                                          </p:val>
                                        </p:tav>
                                      </p:tavLst>
                                    </p:anim>
                                    <p:anim calcmode="lin" valueType="num">
                                      <p:cBhvr>
                                        <p:cTn id="65" dur="500" fill="hold"/>
                                        <p:tgtEl>
                                          <p:spTgt spid="17"/>
                                        </p:tgtEl>
                                        <p:attrNameLst>
                                          <p:attrName>ppt_h</p:attrName>
                                        </p:attrNameLst>
                                      </p:cBhvr>
                                      <p:tavLst>
                                        <p:tav tm="0">
                                          <p:val>
                                            <p:fltVal val="0"/>
                                          </p:val>
                                        </p:tav>
                                        <p:tav tm="100000">
                                          <p:val>
                                            <p:strVal val="#ppt_h"/>
                                          </p:val>
                                        </p:tav>
                                      </p:tavLst>
                                    </p:anim>
                                    <p:animEffect transition="in" filter="fade">
                                      <p:cBhvr>
                                        <p:cTn id="66" dur="500"/>
                                        <p:tgtEl>
                                          <p:spTgt spid="17"/>
                                        </p:tgtEl>
                                      </p:cBhvr>
                                    </p:animEffect>
                                  </p:childTnLst>
                                </p:cTn>
                              </p:par>
                            </p:childTnLst>
                          </p:cTn>
                        </p:par>
                      </p:childTnLst>
                    </p:cTn>
                  </p:par>
                  <p:par>
                    <p:cTn id="77" fill="hold">
                      <p:stCondLst>
                        <p:cond delay="indefinite"/>
                      </p:stCondLst>
                      <p:childTnLst>
                        <p:par>
                          <p:cTn id="72"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2"/>
                                        </p:tgtEl>
                                        <p:attrNameLst>
                                          <p:attrName>style.visibility</p:attrName>
                                        </p:attrNameLst>
                                      </p:cBhvr>
                                      <p:to>
                                        <p:strVal val="visible"/>
                                      </p:to>
                                    </p:set>
                                    <p:animEffect transition="in" filter="fade">
                                      <p:cBhvr>
                                        <p:cTn id="71" dur="500"/>
                                        <p:tgtEl>
                                          <p:spTgt spid="12"/>
                                        </p:tgtEl>
                                      </p:cBhvr>
                                    </p:animEffect>
                                  </p:childTnLst>
                                </p:cTn>
                              </p:par>
                            </p:childTnLst>
                          </p:cTn>
                        </p:par>
                        <p:par>
                          <p:cTn id="76" fill="hold">
                            <p:stCondLst>
                              <p:cond delay="500"/>
                            </p:stCondLst>
                            <p:childTnLst>
                              <p:par>
                                <p:cTn id="73" presetID="22" presetClass="entr" presetSubtype="1" fill="hold" grpId="0" nodeType="after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wipe(up)">
                                      <p:cBhvr>
                                        <p:cTn id="75" dur="600"/>
                                        <p:tgtEl>
                                          <p:spTgt spid="20"/>
                                        </p:tgtEl>
                                      </p:cBhvr>
                                    </p:animEffect>
                                  </p:childTnLst>
                                </p:cTn>
                              </p:par>
                            </p:childTnLst>
                          </p:cTn>
                        </p:par>
                      </p:childTnLst>
                    </p:cTn>
                  </p:par>
                  <p:par>
                    <p:cTn id="94" fill="hold">
                      <p:stCondLst>
                        <p:cond delay="indefinite"/>
                      </p:stCondLst>
                      <p:childTnLst>
                        <p:par>
                          <p:cTn id="80" fill="hold">
                            <p:stCondLst>
                              <p:cond delay="0"/>
                            </p:stCondLst>
                            <p:childTnLst>
                              <p:par>
                                <p:cTn id="78" presetID="6" presetClass="emph" presetSubtype="0" fill="hold" grpId="0" nodeType="clickEffect">
                                  <p:stCondLst>
                                    <p:cond delay="0"/>
                                  </p:stCondLst>
                                  <p:childTnLst>
                                    <p:animScale>
                                      <p:cBhvr>
                                        <p:cTn id="79" dur="300" autoRev="1" fill="hold"/>
                                        <p:tgtEl>
                                          <p:spTgt spid="13"/>
                                        </p:tgtEl>
                                      </p:cBhvr>
                                      <p:by x="112000" y="112000"/>
                                    </p:animScale>
                                  </p:childTnLst>
                                </p:cTn>
                              </p:par>
                            </p:childTnLst>
                          </p:cTn>
                        </p:par>
                        <p:par>
                          <p:cTn id="84" fill="hold">
                            <p:stCondLst>
                              <p:cond delay="300"/>
                            </p:stCondLst>
                            <p:childTnLst>
                              <p:par>
                                <p:cTn id="81" presetID="22" presetClass="entr" presetSubtype="1" fill="hold" grpId="0" nodeType="after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wipe(up)">
                                      <p:cBhvr>
                                        <p:cTn id="83" dur="600"/>
                                        <p:tgtEl>
                                          <p:spTgt spid="18"/>
                                        </p:tgtEl>
                                      </p:cBhvr>
                                    </p:animEffect>
                                  </p:childTnLst>
                                </p:cTn>
                              </p:par>
                            </p:childTnLst>
                          </p:cTn>
                        </p:par>
                        <p:par>
                          <p:cTn id="90" fill="hold">
                            <p:stCondLst>
                              <p:cond delay="900"/>
                            </p:stCondLst>
                            <p:childTnLst>
                              <p:par>
                                <p:cTn id="85" presetID="53" presetClass="entr" presetSubtype="16" fill="hold" grpId="0" nodeType="after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p:cTn id="87" dur="500" fill="hold"/>
                                        <p:tgtEl>
                                          <p:spTgt spid="19"/>
                                        </p:tgtEl>
                                        <p:attrNameLst>
                                          <p:attrName>ppt_w</p:attrName>
                                        </p:attrNameLst>
                                      </p:cBhvr>
                                      <p:tavLst>
                                        <p:tav tm="0">
                                          <p:val>
                                            <p:fltVal val="0"/>
                                          </p:val>
                                        </p:tav>
                                        <p:tav tm="100000">
                                          <p:val>
                                            <p:strVal val="#ppt_w"/>
                                          </p:val>
                                        </p:tav>
                                      </p:tavLst>
                                    </p:anim>
                                    <p:anim calcmode="lin" valueType="num">
                                      <p:cBhvr>
                                        <p:cTn id="88" dur="500" fill="hold"/>
                                        <p:tgtEl>
                                          <p:spTgt spid="19"/>
                                        </p:tgtEl>
                                        <p:attrNameLst>
                                          <p:attrName>ppt_h</p:attrName>
                                        </p:attrNameLst>
                                      </p:cBhvr>
                                      <p:tavLst>
                                        <p:tav tm="0">
                                          <p:val>
                                            <p:fltVal val="0"/>
                                          </p:val>
                                        </p:tav>
                                        <p:tav tm="100000">
                                          <p:val>
                                            <p:strVal val="#ppt_h"/>
                                          </p:val>
                                        </p:tav>
                                      </p:tavLst>
                                    </p:anim>
                                    <p:animEffect transition="in" filter="fade">
                                      <p:cBhvr>
                                        <p:cTn id="89" dur="500"/>
                                        <p:tgtEl>
                                          <p:spTgt spid="19"/>
                                        </p:tgtEl>
                                      </p:cBhvr>
                                    </p:animEffect>
                                  </p:childTnLst>
                                </p:cTn>
                              </p:par>
                            </p:childTnLst>
                          </p:cTn>
                        </p:par>
                        <p:par>
                          <p:cTn id="93" fill="hold">
                            <p:stCondLst>
                              <p:cond delay="1400"/>
                            </p:stCondLst>
                            <p:childTnLst>
                              <p:par>
                                <p:cTn id="91" presetID="6" presetClass="emph" presetSubtype="0" fill="hold" grpId="0" nodeType="afterEffect">
                                  <p:stCondLst>
                                    <p:cond delay="0"/>
                                  </p:stCondLst>
                                  <p:childTnLst>
                                    <p:animScale>
                                      <p:cBhvr>
                                        <p:cTn id="92" dur="300" autoRev="1" fill="hold"/>
                                        <p:tgtEl>
                                          <p:spTgt spid="19"/>
                                        </p:tgtEl>
                                      </p:cBhvr>
                                      <p:by x="112000" y="112000"/>
                                    </p:animScale>
                                  </p:childTnLst>
                                </p:cTn>
                              </p:par>
                            </p:childTnLst>
                          </p:cTn>
                        </p:par>
                      </p:childTnLst>
                    </p:cTn>
                  </p:par>
                  <p:par>
                    <p:cTn id="99" fill="hold">
                      <p:stCondLst>
                        <p:cond delay="indefinite"/>
                      </p:stCondLst>
                      <p:childTnLst>
                        <p:par>
                          <p:cTn id="98"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P spid="11" grpId="0" animBg="1"/>
      <p:bldP spid="14" grpId="0" animBg="1"/>
      <p:bldP spid="15" grpId="0" animBg="1"/>
      <p:bldP spid="16" grpId="0" animBg="1"/>
      <p:bldP spid="17" grpId="0" animBg="1"/>
      <p:bldP spid="12" grpId="0" animBg="1"/>
      <p:bldP spid="20" grpId="0" animBg="1"/>
      <p:bldP spid="13" grpId="0" animBg="1"/>
      <p:bldP spid="18" grpId="0" animBg="1"/>
      <p:bldP spid="19" grpId="0" animBg="1"/>
      <p:bldP spid="30" grpId="0" animBg="1"/>
    </p:bldLst>
  </p:timing>
</p:sld>
</file>

<file path=ppt/slides/slide159.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Tejido adiposo central"/>
          <p:cNvGrpSpPr/>
          <p:nvPr/>
        </p:nvGrpSpPr>
        <p:grpSpPr>
          <a:xfrm>
            <a:off x="4114800" y="2011680"/>
            <a:ext cx="3931920" cy="2918694"/>
            <a:chOff x="4114800" y="2011680"/>
            <a:chExt cx="3931920" cy="2918694"/>
          </a:xfrm>
        </p:grpSpPr>
        <p:grpSp>
          <p:nvGrpSpPr>
            <p:cNvPr id="5" name="Adipocito"/>
            <p:cNvGrpSpPr/>
            <p:nvPr/>
          </p:nvGrpSpPr>
          <p:grpSpPr>
            <a:xfrm>
              <a:off x="4114800" y="2389749"/>
              <a:ext cx="1482031" cy="1482031"/>
              <a:chOff x="4114800" y="2389749"/>
              <a:chExt cx="1482031" cy="1482031"/>
            </a:xfrm>
          </p:grpSpPr>
          <p:sp>
            <p:nvSpPr>
              <p:cNvPr id="6" name="Forma 5"/>
              <p:cNvSpPr/>
              <p:nvPr/>
            </p:nvSpPr>
            <p:spPr>
              <a:xfrm>
                <a:off x="4114800" y="2389749"/>
                <a:ext cx="1482031" cy="1482031"/>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7" name="Gota lipídica"/>
              <p:cNvSpPr/>
              <p:nvPr/>
            </p:nvSpPr>
            <p:spPr>
              <a:xfrm>
                <a:off x="4188902" y="2463851"/>
                <a:ext cx="1333828" cy="133382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8" name="Forma 7"/>
              <p:cNvSpPr/>
              <p:nvPr/>
            </p:nvSpPr>
            <p:spPr>
              <a:xfrm rot="2400000">
                <a:off x="5181863" y="2478671"/>
                <a:ext cx="326047" cy="17784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9" name="Mitocondria"/>
              <p:cNvGrpSpPr/>
              <p:nvPr/>
            </p:nvGrpSpPr>
            <p:grpSpPr>
              <a:xfrm>
                <a:off x="4233363" y="3486452"/>
                <a:ext cx="148203" cy="74102"/>
                <a:chOff x="4233363" y="3486452"/>
                <a:chExt cx="148203" cy="74102"/>
              </a:xfrm>
            </p:grpSpPr>
            <p:sp>
              <p:nvSpPr>
                <p:cNvPr id="10" name="Forma 9"/>
                <p:cNvSpPr/>
                <p:nvPr/>
              </p:nvSpPr>
              <p:spPr>
                <a:xfrm rot="-2400000">
                  <a:off x="4233363" y="3486452"/>
                  <a:ext cx="148203" cy="741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1" name="Forma 10"/>
                <p:cNvSpPr/>
                <p:nvPr/>
              </p:nvSpPr>
              <p:spPr>
                <a:xfrm rot="-2400000">
                  <a:off x="4243737" y="3496827"/>
                  <a:ext cx="127455" cy="53353"/>
                </a:xfrm>
                <a:prstGeom prst="ellipse">
                  <a:avLst/>
                </a:prstGeom>
                <a:solidFill>
                  <a:srgbClr val="F8D8B4"/>
                </a:solidFill>
                <a:ln w="9525" cap="rnd">
                  <a:solidFill>
                    <a:srgbClr val="B2732B"/>
                  </a:solidFill>
                  <a:round/>
                </a:ln>
              </p:spPr>
            </p:sp>
            <p:sp>
              <p:nvSpPr>
                <p:cNvPr id="12" name="Forma 11"/>
                <p:cNvSpPr/>
                <p:nvPr/>
              </p:nvSpPr>
              <p:spPr>
                <a:xfrm rot="-2400000">
                  <a:off x="4243737" y="3496827"/>
                  <a:ext cx="127455" cy="5335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13" name="Adipocito_2"/>
            <p:cNvGrpSpPr/>
            <p:nvPr/>
          </p:nvGrpSpPr>
          <p:grpSpPr>
            <a:xfrm>
              <a:off x="5354867" y="2011680"/>
              <a:ext cx="1482031" cy="1482031"/>
              <a:chOff x="5354867" y="2011680"/>
              <a:chExt cx="1482031" cy="1482031"/>
            </a:xfrm>
          </p:grpSpPr>
          <p:sp>
            <p:nvSpPr>
              <p:cNvPr id="14" name="Forma 13"/>
              <p:cNvSpPr/>
              <p:nvPr/>
            </p:nvSpPr>
            <p:spPr>
              <a:xfrm>
                <a:off x="5354867" y="2011680"/>
                <a:ext cx="1482031" cy="1482031"/>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5" name="Gota lipídica_2"/>
              <p:cNvSpPr/>
              <p:nvPr/>
            </p:nvSpPr>
            <p:spPr>
              <a:xfrm>
                <a:off x="5428969" y="2085782"/>
                <a:ext cx="1333828" cy="133382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6" name="Forma 15"/>
              <p:cNvSpPr/>
              <p:nvPr/>
            </p:nvSpPr>
            <p:spPr>
              <a:xfrm rot="2400000">
                <a:off x="6421930" y="2100602"/>
                <a:ext cx="326047" cy="17784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7" name="Mitocondria_2"/>
              <p:cNvGrpSpPr/>
              <p:nvPr/>
            </p:nvGrpSpPr>
            <p:grpSpPr>
              <a:xfrm>
                <a:off x="5473430" y="3108383"/>
                <a:ext cx="148203" cy="74102"/>
                <a:chOff x="5473430" y="3108383"/>
                <a:chExt cx="148203" cy="74102"/>
              </a:xfrm>
            </p:grpSpPr>
            <p:sp>
              <p:nvSpPr>
                <p:cNvPr id="18" name="Forma 17"/>
                <p:cNvSpPr/>
                <p:nvPr/>
              </p:nvSpPr>
              <p:spPr>
                <a:xfrm rot="-2400000">
                  <a:off x="5473430" y="3108383"/>
                  <a:ext cx="148203" cy="741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19" name="Forma 18"/>
                <p:cNvSpPr/>
                <p:nvPr/>
              </p:nvSpPr>
              <p:spPr>
                <a:xfrm rot="-2400000">
                  <a:off x="5483804" y="3118757"/>
                  <a:ext cx="127455" cy="53353"/>
                </a:xfrm>
                <a:prstGeom prst="ellipse">
                  <a:avLst/>
                </a:prstGeom>
                <a:solidFill>
                  <a:srgbClr val="F8D8B4"/>
                </a:solidFill>
                <a:ln w="9525" cap="rnd">
                  <a:solidFill>
                    <a:srgbClr val="B2732B"/>
                  </a:solidFill>
                  <a:round/>
                </a:ln>
              </p:spPr>
            </p:sp>
            <p:sp>
              <p:nvSpPr>
                <p:cNvPr id="20" name="Forma 19"/>
                <p:cNvSpPr/>
                <p:nvPr/>
              </p:nvSpPr>
              <p:spPr>
                <a:xfrm rot="-2400000">
                  <a:off x="5483804" y="3118757"/>
                  <a:ext cx="127455" cy="5335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1" name="Adipocito_3"/>
            <p:cNvGrpSpPr/>
            <p:nvPr/>
          </p:nvGrpSpPr>
          <p:grpSpPr>
            <a:xfrm>
              <a:off x="6564689" y="2465363"/>
              <a:ext cx="1482031" cy="1482031"/>
              <a:chOff x="6564689" y="2465363"/>
              <a:chExt cx="1482031" cy="1482031"/>
            </a:xfrm>
          </p:grpSpPr>
          <p:sp>
            <p:nvSpPr>
              <p:cNvPr id="22" name="Forma 21"/>
              <p:cNvSpPr/>
              <p:nvPr/>
            </p:nvSpPr>
            <p:spPr>
              <a:xfrm>
                <a:off x="6564689" y="2465363"/>
                <a:ext cx="1482031" cy="1482031"/>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3" name="Gota lipídica_3"/>
              <p:cNvSpPr/>
              <p:nvPr/>
            </p:nvSpPr>
            <p:spPr>
              <a:xfrm>
                <a:off x="6638790" y="2539465"/>
                <a:ext cx="1333828" cy="133382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4" name="Forma 23"/>
              <p:cNvSpPr/>
              <p:nvPr/>
            </p:nvSpPr>
            <p:spPr>
              <a:xfrm rot="2400000">
                <a:off x="7631751" y="2554285"/>
                <a:ext cx="326047" cy="17784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5" name="Mitocondria_3"/>
              <p:cNvGrpSpPr/>
              <p:nvPr/>
            </p:nvGrpSpPr>
            <p:grpSpPr>
              <a:xfrm>
                <a:off x="6683251" y="3562066"/>
                <a:ext cx="148203" cy="74102"/>
                <a:chOff x="6683251" y="3562066"/>
                <a:chExt cx="148203" cy="74102"/>
              </a:xfrm>
            </p:grpSpPr>
            <p:sp>
              <p:nvSpPr>
                <p:cNvPr id="26" name="Forma 25"/>
                <p:cNvSpPr/>
                <p:nvPr/>
              </p:nvSpPr>
              <p:spPr>
                <a:xfrm rot="-2400000">
                  <a:off x="6683251" y="3562066"/>
                  <a:ext cx="148203" cy="741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7" name="Forma 26"/>
                <p:cNvSpPr/>
                <p:nvPr/>
              </p:nvSpPr>
              <p:spPr>
                <a:xfrm rot="-2400000">
                  <a:off x="6693625" y="3572441"/>
                  <a:ext cx="127455" cy="53353"/>
                </a:xfrm>
                <a:prstGeom prst="ellipse">
                  <a:avLst/>
                </a:prstGeom>
                <a:solidFill>
                  <a:srgbClr val="F8D8B4"/>
                </a:solidFill>
                <a:ln w="9525" cap="rnd">
                  <a:solidFill>
                    <a:srgbClr val="B2732B"/>
                  </a:solidFill>
                  <a:round/>
                </a:ln>
              </p:spPr>
            </p:sp>
            <p:sp>
              <p:nvSpPr>
                <p:cNvPr id="28" name="Forma 27"/>
                <p:cNvSpPr/>
                <p:nvPr/>
              </p:nvSpPr>
              <p:spPr>
                <a:xfrm rot="-2400000">
                  <a:off x="6693625" y="3572441"/>
                  <a:ext cx="127455" cy="5335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9" name="Adipocito_4"/>
            <p:cNvGrpSpPr/>
            <p:nvPr/>
          </p:nvGrpSpPr>
          <p:grpSpPr>
            <a:xfrm>
              <a:off x="4795325" y="3448343"/>
              <a:ext cx="1482031" cy="1482031"/>
              <a:chOff x="4795325" y="3448343"/>
              <a:chExt cx="1482031" cy="1482031"/>
            </a:xfrm>
          </p:grpSpPr>
          <p:sp>
            <p:nvSpPr>
              <p:cNvPr id="30" name="Forma 29"/>
              <p:cNvSpPr/>
              <p:nvPr/>
            </p:nvSpPr>
            <p:spPr>
              <a:xfrm>
                <a:off x="4795325" y="3448343"/>
                <a:ext cx="1482031" cy="1482031"/>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1" name="Gota lipídica_4"/>
              <p:cNvSpPr/>
              <p:nvPr/>
            </p:nvSpPr>
            <p:spPr>
              <a:xfrm>
                <a:off x="4869426" y="3522445"/>
                <a:ext cx="1333828" cy="133382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2" name="Forma 31"/>
              <p:cNvSpPr/>
              <p:nvPr/>
            </p:nvSpPr>
            <p:spPr>
              <a:xfrm rot="2400000">
                <a:off x="5862387" y="3537265"/>
                <a:ext cx="326047" cy="17784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3" name="Mitocondria_4"/>
              <p:cNvGrpSpPr/>
              <p:nvPr/>
            </p:nvGrpSpPr>
            <p:grpSpPr>
              <a:xfrm>
                <a:off x="4913887" y="4545046"/>
                <a:ext cx="148203" cy="74102"/>
                <a:chOff x="4913887" y="4545046"/>
                <a:chExt cx="148203" cy="74102"/>
              </a:xfrm>
            </p:grpSpPr>
            <p:sp>
              <p:nvSpPr>
                <p:cNvPr id="34" name="Forma 33"/>
                <p:cNvSpPr/>
                <p:nvPr/>
              </p:nvSpPr>
              <p:spPr>
                <a:xfrm rot="-2400000">
                  <a:off x="4913887" y="4545046"/>
                  <a:ext cx="148203" cy="741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5" name="Forma 34"/>
                <p:cNvSpPr/>
                <p:nvPr/>
              </p:nvSpPr>
              <p:spPr>
                <a:xfrm rot="-2400000">
                  <a:off x="4924261" y="4555421"/>
                  <a:ext cx="127455" cy="53353"/>
                </a:xfrm>
                <a:prstGeom prst="ellipse">
                  <a:avLst/>
                </a:prstGeom>
                <a:solidFill>
                  <a:srgbClr val="F8D8B4"/>
                </a:solidFill>
                <a:ln w="9525" cap="rnd">
                  <a:solidFill>
                    <a:srgbClr val="B2732B"/>
                  </a:solidFill>
                  <a:round/>
                </a:ln>
              </p:spPr>
            </p:sp>
            <p:sp>
              <p:nvSpPr>
                <p:cNvPr id="36" name="Forma 35"/>
                <p:cNvSpPr/>
                <p:nvPr/>
              </p:nvSpPr>
              <p:spPr>
                <a:xfrm rot="-2400000">
                  <a:off x="4924261" y="4555421"/>
                  <a:ext cx="127455" cy="5335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7" name="Adipocito_5"/>
            <p:cNvGrpSpPr/>
            <p:nvPr/>
          </p:nvGrpSpPr>
          <p:grpSpPr>
            <a:xfrm>
              <a:off x="6005146" y="3372729"/>
              <a:ext cx="1482031" cy="1482031"/>
              <a:chOff x="6005146" y="3372729"/>
              <a:chExt cx="1482031" cy="1482031"/>
            </a:xfrm>
          </p:grpSpPr>
          <p:sp>
            <p:nvSpPr>
              <p:cNvPr id="38" name="Forma 37"/>
              <p:cNvSpPr/>
              <p:nvPr/>
            </p:nvSpPr>
            <p:spPr>
              <a:xfrm>
                <a:off x="6005146" y="3372729"/>
                <a:ext cx="1482031" cy="1482031"/>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9" name="Gota lipídica_5"/>
              <p:cNvSpPr/>
              <p:nvPr/>
            </p:nvSpPr>
            <p:spPr>
              <a:xfrm>
                <a:off x="6079248" y="3446831"/>
                <a:ext cx="1333828" cy="1333828"/>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0" name="Forma 39"/>
              <p:cNvSpPr/>
              <p:nvPr/>
            </p:nvSpPr>
            <p:spPr>
              <a:xfrm rot="2400000">
                <a:off x="7072209" y="3461651"/>
                <a:ext cx="326047" cy="177844"/>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1" name="Mitocondria_5"/>
              <p:cNvGrpSpPr/>
              <p:nvPr/>
            </p:nvGrpSpPr>
            <p:grpSpPr>
              <a:xfrm>
                <a:off x="6123709" y="4469432"/>
                <a:ext cx="148203" cy="74102"/>
                <a:chOff x="6123709" y="4469432"/>
                <a:chExt cx="148203" cy="74102"/>
              </a:xfrm>
            </p:grpSpPr>
            <p:sp>
              <p:nvSpPr>
                <p:cNvPr id="42" name="Forma 41"/>
                <p:cNvSpPr/>
                <p:nvPr/>
              </p:nvSpPr>
              <p:spPr>
                <a:xfrm rot="-2400000">
                  <a:off x="6123709" y="4469432"/>
                  <a:ext cx="148203" cy="7410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3" name="Forma 42"/>
                <p:cNvSpPr/>
                <p:nvPr/>
              </p:nvSpPr>
              <p:spPr>
                <a:xfrm rot="-2400000">
                  <a:off x="6134083" y="4479807"/>
                  <a:ext cx="127455" cy="53353"/>
                </a:xfrm>
                <a:prstGeom prst="ellipse">
                  <a:avLst/>
                </a:prstGeom>
                <a:solidFill>
                  <a:srgbClr val="F8D8B4"/>
                </a:solidFill>
                <a:ln w="9525" cap="rnd">
                  <a:solidFill>
                    <a:srgbClr val="B2732B"/>
                  </a:solidFill>
                  <a:round/>
                </a:ln>
              </p:spPr>
            </p:sp>
            <p:sp>
              <p:nvSpPr>
                <p:cNvPr id="44" name="Forma 43"/>
                <p:cNvSpPr/>
                <p:nvPr/>
              </p:nvSpPr>
              <p:spPr>
                <a:xfrm rot="-2400000">
                  <a:off x="6134083" y="4479807"/>
                  <a:ext cx="127455" cy="53353"/>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sp>
        <p:nvSpPr>
          <p:cNvPr id="45" name="Adipocina Leptina"/>
          <p:cNvSpPr/>
          <p:nvPr/>
        </p:nvSpPr>
        <p:spPr>
          <a:xfrm>
            <a:off x="365760" y="1005840"/>
            <a:ext cx="3566160" cy="16459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Leptina</a:t>
            </a:r>
            <a:r>
              <a:rPr lang="es-AR" sz="1650" dirty="0">
                <a:solidFill>
                  <a:srgbClr val="1E1E1E"/>
                </a:solidFill>
                <a:latin typeface="Bahnschrift"/>
                <a:ea typeface="Bahnschrift"/>
                <a:cs typeface="Bahnschrift"/>
                <a:sym typeface="Bahnschrift"/>
              </a:rPr>
              <a:t>: informa el </a:t>
            </a:r>
            <a:r>
              <a:rPr lang="es-AR" sz="1650" b="1" dirty="0">
                <a:solidFill>
                  <a:srgbClr val="1E1E1E"/>
                </a:solidFill>
                <a:latin typeface="Bahnschrift"/>
                <a:ea typeface="Bahnschrift"/>
                <a:cs typeface="Bahnschrift"/>
                <a:sym typeface="Bahnschrift"/>
              </a:rPr>
              <a:t>tamaño de las reservas</a:t>
            </a:r>
            <a:r>
              <a:rPr lang="es-AR" sz="1650" dirty="0">
                <a:solidFill>
                  <a:srgbClr val="1E1E1E"/>
                </a:solidFill>
                <a:latin typeface="Bahnschrift"/>
                <a:ea typeface="Bahnschrift"/>
                <a:cs typeface="Bahnschrift"/>
                <a:sym typeface="Bahnschrift"/>
              </a:rPr>
              <a:t> al hipotálamo y otros tejidos</a:t>
            </a:r>
            <a:endParaRPr lang="es-AR" sz="1650" dirty="0">
              <a:latin typeface="Bahnschrift"/>
            </a:endParaRPr>
          </a:p>
        </p:txBody>
      </p:sp>
      <p:sp>
        <p:nvSpPr>
          <p:cNvPr id="46" name="Adipocina Adiponectina"/>
          <p:cNvSpPr/>
          <p:nvPr/>
        </p:nvSpPr>
        <p:spPr>
          <a:xfrm>
            <a:off x="365760" y="2834640"/>
            <a:ext cx="3566160" cy="16459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Adiponectina</a:t>
            </a:r>
            <a:r>
              <a:rPr lang="es-AR" sz="1650" dirty="0">
                <a:solidFill>
                  <a:srgbClr val="1E1E1E"/>
                </a:solidFill>
                <a:latin typeface="Bahnschrift"/>
                <a:ea typeface="Bahnschrift"/>
                <a:cs typeface="Bahnschrift"/>
                <a:sym typeface="Bahnschrift"/>
              </a:rPr>
              <a:t>: mejora sensibilidad insulínica y oxidación; </a:t>
            </a:r>
            <a:r>
              <a:rPr lang="es-AR" sz="1650" b="1" dirty="0">
                <a:solidFill>
                  <a:srgbClr val="1E1E1E"/>
                </a:solidFill>
                <a:latin typeface="Bahnschrift"/>
                <a:ea typeface="Bahnschrift"/>
                <a:cs typeface="Bahnschrift"/>
                <a:sym typeface="Bahnschrift"/>
              </a:rPr>
              <a:t>inversa</a:t>
            </a:r>
            <a:r>
              <a:rPr lang="es-AR" sz="1650" dirty="0">
                <a:solidFill>
                  <a:srgbClr val="1E1E1E"/>
                </a:solidFill>
                <a:latin typeface="Bahnschrift"/>
                <a:ea typeface="Bahnschrift"/>
                <a:cs typeface="Bahnschrift"/>
                <a:sym typeface="Bahnschrift"/>
              </a:rPr>
              <a:t> a la adiposidad visceral</a:t>
            </a:r>
            <a:endParaRPr lang="es-AR" sz="1650" dirty="0">
              <a:latin typeface="Bahnschrift"/>
            </a:endParaRPr>
          </a:p>
        </p:txBody>
      </p:sp>
      <p:sp>
        <p:nvSpPr>
          <p:cNvPr id="47" name="Adipocina Resistina"/>
          <p:cNvSpPr/>
          <p:nvPr/>
        </p:nvSpPr>
        <p:spPr>
          <a:xfrm>
            <a:off x="365760" y="4663440"/>
            <a:ext cx="3566160" cy="16459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Resistina</a:t>
            </a:r>
            <a:r>
              <a:rPr lang="es-AR" sz="1650" dirty="0">
                <a:solidFill>
                  <a:srgbClr val="1E1E1E"/>
                </a:solidFill>
                <a:latin typeface="Bahnschrift"/>
                <a:ea typeface="Bahnschrift"/>
                <a:cs typeface="Bahnschrift"/>
                <a:sym typeface="Bahnschrift"/>
              </a:rPr>
              <a:t>: papel humano </a:t>
            </a:r>
            <a:r>
              <a:rPr lang="es-AR" sz="1650" b="1" dirty="0">
                <a:solidFill>
                  <a:srgbClr val="1E1E1E"/>
                </a:solidFill>
                <a:latin typeface="Bahnschrift"/>
                <a:ea typeface="Bahnschrift"/>
                <a:cs typeface="Bahnschrift"/>
                <a:sym typeface="Bahnschrift"/>
              </a:rPr>
              <a:t>distinto</a:t>
            </a:r>
            <a:r>
              <a:rPr lang="es-AR" sz="1650" dirty="0">
                <a:solidFill>
                  <a:srgbClr val="1E1E1E"/>
                </a:solidFill>
                <a:latin typeface="Bahnschrift"/>
                <a:ea typeface="Bahnschrift"/>
                <a:cs typeface="Bahnschrift"/>
                <a:sym typeface="Bahnschrift"/>
              </a:rPr>
              <a:t> al murino</a:t>
            </a:r>
            <a:endParaRPr lang="es-AR" sz="1650" dirty="0">
              <a:latin typeface="Bahnschrift"/>
            </a:endParaRPr>
          </a:p>
        </p:txBody>
      </p:sp>
      <p:sp>
        <p:nvSpPr>
          <p:cNvPr id="48" name="Adipocina TNF-α · IL-6"/>
          <p:cNvSpPr/>
          <p:nvPr/>
        </p:nvSpPr>
        <p:spPr>
          <a:xfrm>
            <a:off x="8229600" y="1005840"/>
            <a:ext cx="3566160" cy="16459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TNF-α · IL-6</a:t>
            </a:r>
            <a:r>
              <a:rPr lang="es-AR" sz="1650" dirty="0">
                <a:solidFill>
                  <a:srgbClr val="1E1E1E"/>
                </a:solidFill>
                <a:latin typeface="Bahnschrift"/>
                <a:ea typeface="Bahnschrift"/>
                <a:cs typeface="Bahnschrift"/>
                <a:sym typeface="Bahnschrift"/>
              </a:rPr>
              <a:t>: inflamación: alteran </a:t>
            </a:r>
            <a:r>
              <a:rPr lang="es-AR" sz="1650" b="1" dirty="0">
                <a:solidFill>
                  <a:srgbClr val="1E1E1E"/>
                </a:solidFill>
                <a:latin typeface="Bahnschrift"/>
                <a:ea typeface="Bahnschrift"/>
                <a:cs typeface="Bahnschrift"/>
                <a:sym typeface="Bahnschrift"/>
              </a:rPr>
              <a:t>IRS/PI3K/Akt</a:t>
            </a:r>
            <a:r>
              <a:rPr lang="es-AR" sz="1650" dirty="0">
                <a:solidFill>
                  <a:srgbClr val="1E1E1E"/>
                </a:solidFill>
                <a:latin typeface="Bahnschrift"/>
                <a:ea typeface="Bahnschrift"/>
                <a:cs typeface="Bahnschrift"/>
                <a:sym typeface="Bahnschrift"/>
              </a:rPr>
              <a:t>, lipólisis y endotelio</a:t>
            </a:r>
            <a:endParaRPr lang="es-AR" sz="1650" dirty="0">
              <a:latin typeface="Bahnschrift"/>
            </a:endParaRPr>
          </a:p>
        </p:txBody>
      </p:sp>
      <p:sp>
        <p:nvSpPr>
          <p:cNvPr id="49" name="Adipocina PAI-1 · angiotensinógeno"/>
          <p:cNvSpPr/>
          <p:nvPr/>
        </p:nvSpPr>
        <p:spPr>
          <a:xfrm>
            <a:off x="8229600" y="2834640"/>
            <a:ext cx="3566160" cy="16459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PAI-1 · angiotensinógeno</a:t>
            </a:r>
            <a:r>
              <a:rPr lang="es-AR" sz="1650" dirty="0">
                <a:solidFill>
                  <a:srgbClr val="1E1E1E"/>
                </a:solidFill>
                <a:latin typeface="Bahnschrift"/>
                <a:ea typeface="Bahnschrift"/>
                <a:cs typeface="Bahnschrift"/>
                <a:sym typeface="Bahnschrift"/>
              </a:rPr>
              <a:t>: trombosis y presión arterial</a:t>
            </a:r>
            <a:endParaRPr lang="es-AR" sz="1650" dirty="0">
              <a:latin typeface="Bahnschrift"/>
            </a:endParaRPr>
          </a:p>
        </p:txBody>
      </p:sp>
      <p:sp>
        <p:nvSpPr>
          <p:cNvPr id="50" name="Adipocina Fuente celular"/>
          <p:cNvSpPr/>
          <p:nvPr/>
        </p:nvSpPr>
        <p:spPr>
          <a:xfrm>
            <a:off x="8229600" y="4663440"/>
            <a:ext cx="3566160" cy="1645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Fuente celular</a:t>
            </a:r>
            <a:r>
              <a:rPr lang="es-AR" sz="1650" dirty="0">
                <a:solidFill>
                  <a:srgbClr val="1E1E1E"/>
                </a:solidFill>
                <a:latin typeface="Bahnschrift"/>
                <a:ea typeface="Bahnschrift"/>
                <a:cs typeface="Bahnschrift"/>
                <a:sym typeface="Bahnschrift"/>
              </a:rPr>
              <a:t>: adipocito </a:t>
            </a:r>
            <a:r>
              <a:rPr lang="es-AR" sz="1650" b="1" dirty="0">
                <a:solidFill>
                  <a:srgbClr val="1E1E1E"/>
                </a:solidFill>
                <a:latin typeface="Bahnschrift"/>
                <a:ea typeface="Bahnschrift"/>
                <a:cs typeface="Bahnschrift"/>
                <a:sym typeface="Bahnschrift"/>
              </a:rPr>
              <a:t>o</a:t>
            </a:r>
            <a:r>
              <a:rPr lang="es-AR" sz="1650" dirty="0">
                <a:solidFill>
                  <a:srgbClr val="1E1E1E"/>
                </a:solidFill>
                <a:latin typeface="Bahnschrift"/>
                <a:ea typeface="Bahnschrift"/>
                <a:cs typeface="Bahnschrift"/>
                <a:sym typeface="Bahnschrift"/>
              </a:rPr>
              <a:t> células inmunes del estroma</a:t>
            </a:r>
            <a:endParaRPr lang="es-AR" sz="1650" dirty="0">
              <a:latin typeface="Bahnschrift"/>
            </a:endParaRPr>
          </a:p>
        </p:txBody>
      </p:sp>
      <p:sp>
        <p:nvSpPr>
          <p:cNvPr id="51" name="Visceral"/>
          <p:cNvSpPr/>
          <p:nvPr/>
        </p:nvSpPr>
        <p:spPr>
          <a:xfrm>
            <a:off x="4206240" y="1051560"/>
            <a:ext cx="1801774" cy="275590"/>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Visceral ≠ subcutáneo</a:t>
            </a:r>
            <a:endParaRPr lang="es-AR" sz="1400" dirty="0">
              <a:latin typeface="Bahnschrift SemiBold Condensed"/>
            </a:endParaRPr>
          </a:p>
        </p:txBody>
      </p:sp>
      <p:sp>
        <p:nvSpPr>
          <p:cNvPr id="52" name="Perla"/>
          <p:cNvSpPr/>
          <p:nvPr/>
        </p:nvSpPr>
        <p:spPr>
          <a:xfrm>
            <a:off x="4069080" y="5257800"/>
            <a:ext cx="3931920" cy="12344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FFFFFF"/>
                </a:solidFill>
                <a:latin typeface="Bahnschrift"/>
                <a:ea typeface="Bahnschrift"/>
                <a:cs typeface="Bahnschrift"/>
                <a:sym typeface="Bahnschrift"/>
              </a:rPr>
              <a:t>Lipodistrofia</a:t>
            </a:r>
            <a:r>
              <a:rPr lang="es-AR" sz="1550" dirty="0">
                <a:solidFill>
                  <a:srgbClr val="FFFFFF"/>
                </a:solidFill>
                <a:latin typeface="Bahnschrift"/>
                <a:ea typeface="Bahnschrift"/>
                <a:cs typeface="Bahnschrift"/>
                <a:sym typeface="Bahnschrift"/>
              </a:rPr>
              <a:t>: diabetes e hipertrigliceridemia severas con </a:t>
            </a:r>
            <a:r>
              <a:rPr lang="es-AR" sz="1550" b="1" dirty="0">
                <a:solidFill>
                  <a:srgbClr val="FFFFFF"/>
                </a:solidFill>
                <a:latin typeface="Bahnschrift"/>
                <a:ea typeface="Bahnschrift"/>
                <a:cs typeface="Bahnschrift"/>
                <a:sym typeface="Bahnschrift"/>
              </a:rPr>
              <a:t>poca grasa</a:t>
            </a:r>
            <a:r>
              <a:rPr lang="es-AR" sz="1550" dirty="0">
                <a:solidFill>
                  <a:srgbClr val="FFFFFF"/>
                </a:solidFill>
                <a:latin typeface="Bahnschrift"/>
                <a:ea typeface="Bahnschrift"/>
                <a:cs typeface="Bahnschrift"/>
                <a:sym typeface="Bahnschrift"/>
              </a:rPr>
              <a:t>.</a:t>
            </a:r>
            <a:endParaRPr lang="es-AR" sz="15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91273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32 · EL TEJIDO ADIPOSO BLANCO COMO ÓRGANO ENDOCRINO</a:t>
            </a:r>
            <a:endParaRPr lang="es-AR" sz="2600" dirty="0">
              <a:latin typeface="Bahnschrift SemiBold Condensed"/>
            </a:endParaRPr>
          </a:p>
        </p:txBody>
      </p:sp>
      <p:sp>
        <p:nvSpPr>
          <p:cNvPr id="5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159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5"/>
                                        </p:tgtEl>
                                        <p:attrNameLst>
                                          <p:attrName>style.visibility</p:attrName>
                                        </p:attrNameLst>
                                      </p:cBhvr>
                                      <p:to>
                                        <p:strVal val="visible"/>
                                      </p:to>
                                    </p:set>
                                    <p:animEffect transition="in" filter="fade">
                                      <p:cBhvr>
                                        <p:cTn id="5" dur="500"/>
                                        <p:tgtEl>
                                          <p:spTgt spid="45"/>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fade">
                                      <p:cBhvr>
                                        <p:cTn id="20" dur="500"/>
                                        <p:tgtEl>
                                          <p:spTgt spid="48"/>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500"/>
                                        <p:tgtEl>
                                          <p:spTgt spid="49"/>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51"/>
                                        </p:tgtEl>
                                        <p:attrNameLst>
                                          <p:attrName>style.visibility</p:attrName>
                                        </p:attrNameLst>
                                      </p:cBhvr>
                                      <p:to>
                                        <p:strVal val="visible"/>
                                      </p:to>
                                    </p:set>
                                    <p:animEffect transition="in" filter="fade">
                                      <p:cBhvr>
                                        <p:cTn id="35" dur="500"/>
                                        <p:tgtEl>
                                          <p:spTgt spid="51"/>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animBg="1"/>
      <p:bldP spid="47" grpId="0" animBg="1"/>
      <p:bldP spid="48" grpId="0" animBg="1"/>
      <p:bldP spid="49" grpId="0" animBg="1"/>
      <p:bldP spid="50" grpId="0" animBg="1"/>
      <p:bldP spid="51" grpId="0" animBg="1"/>
      <p:bldP spid="52" grpId="0" animBg="1"/>
    </p:bldLst>
  </p:timing>
</p:sld>
</file>

<file path=ppt/slides/slide160.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Balanza energética"/>
          <p:cNvGrpSpPr/>
          <p:nvPr/>
        </p:nvGrpSpPr>
        <p:grpSpPr>
          <a:xfrm>
            <a:off x="1280160" y="4572000"/>
            <a:ext cx="9601200" cy="1554480"/>
            <a:chOff x="1280160" y="4572000"/>
            <a:chExt cx="9601200" cy="1554480"/>
          </a:xfrm>
        </p:grpSpPr>
        <p:sp>
          <p:nvSpPr>
            <p:cNvPr id="5" name="Forma 4"/>
            <p:cNvSpPr/>
            <p:nvPr/>
          </p:nvSpPr>
          <p:spPr>
            <a:xfrm>
              <a:off x="5394960" y="4846320"/>
              <a:ext cx="1371600" cy="1280160"/>
            </a:xfrm>
            <a:prstGeom prst="triangle">
              <a:avLst/>
            </a:prstGeom>
            <a:gradFill rotWithShape="1">
              <a:gsLst>
                <a:gs pos="0">
                  <a:srgbClr val="BC794C"/>
                </a:gs>
                <a:gs pos="55000">
                  <a:srgbClr val="A04000"/>
                </a:gs>
                <a:gs pos="100000">
                  <a:srgbClr val="803300"/>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sp>
        <p:sp>
          <p:nvSpPr>
            <p:cNvPr id="6" name="Forma 5"/>
            <p:cNvSpPr/>
            <p:nvPr/>
          </p:nvSpPr>
          <p:spPr>
            <a:xfrm>
              <a:off x="1280160" y="4572000"/>
              <a:ext cx="9601200" cy="182880"/>
            </a:xfrm>
            <a:prstGeom prst="rect">
              <a:avLst/>
            </a:prstGeom>
            <a:solidFill>
              <a:srgbClr val="6E2C00"/>
            </a:solidFill>
            <a:ln w="12700" cap="rnd">
              <a:solidFill>
                <a:srgbClr val="1E1E1E"/>
              </a:solidFill>
              <a:round/>
            </a:ln>
          </p:spPr>
        </p:sp>
      </p:grpSp>
      <p:grpSp>
        <p:nvGrpSpPr>
          <p:cNvPr id="7" name="Recuadro Ingreso de energía"/>
          <p:cNvGrpSpPr/>
          <p:nvPr/>
        </p:nvGrpSpPr>
        <p:grpSpPr>
          <a:xfrm>
            <a:off x="365760" y="1005840"/>
            <a:ext cx="5394960" cy="3383280"/>
            <a:chOff x="365760" y="1005840"/>
            <a:chExt cx="5394960" cy="3383280"/>
          </a:xfrm>
        </p:grpSpPr>
        <p:sp>
          <p:nvSpPr>
            <p:cNvPr id="8" name="Forma 7"/>
            <p:cNvSpPr/>
            <p:nvPr/>
          </p:nvSpPr>
          <p:spPr>
            <a:xfrm>
              <a:off x="365760" y="1188720"/>
              <a:ext cx="5394960" cy="32004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Disponibilidad y elección</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Hambre y saciedad</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Digestión, absorción y biodisponibilidad</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Factores </a:t>
              </a:r>
              <a:r>
                <a:rPr lang="es-AR" sz="1750" b="1" dirty="0">
                  <a:solidFill>
                    <a:srgbClr val="1E1E1E"/>
                  </a:solidFill>
                  <a:latin typeface="Bahnschrift"/>
                  <a:ea typeface="Bahnschrift"/>
                  <a:cs typeface="Bahnschrift"/>
                  <a:sym typeface="Bahnschrift"/>
                </a:rPr>
                <a:t>hipotalámicos</a:t>
              </a:r>
              <a:r>
                <a:rPr lang="es-AR" sz="1750" dirty="0">
                  <a:solidFill>
                    <a:srgbClr val="1E1E1E"/>
                  </a:solidFill>
                  <a:latin typeface="Bahnschrift"/>
                  <a:ea typeface="Bahnschrift"/>
                  <a:cs typeface="Bahnschrift"/>
                  <a:sym typeface="Bahnschrift"/>
                </a:rPr>
                <a:t>, </a:t>
              </a:r>
              <a:r>
                <a:rPr lang="es-AR" sz="1750" b="1" dirty="0">
                  <a:solidFill>
                    <a:srgbClr val="1E1E1E"/>
                  </a:solidFill>
                  <a:latin typeface="Bahnschrift"/>
                  <a:ea typeface="Bahnschrift"/>
                  <a:cs typeface="Bahnschrift"/>
                  <a:sym typeface="Bahnschrift"/>
                </a:rPr>
                <a:t>hedónicos</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sociales</a:t>
              </a:r>
              <a:endParaRPr lang="es-AR" sz="1750" dirty="0">
                <a:latin typeface="Bahnschrift"/>
              </a:endParaRPr>
            </a:p>
          </p:txBody>
        </p:sp>
        <p:sp>
          <p:nvSpPr>
            <p:cNvPr id="9" name="Forma 8"/>
            <p:cNvSpPr/>
            <p:nvPr/>
          </p:nvSpPr>
          <p:spPr>
            <a:xfrm>
              <a:off x="475488" y="1005840"/>
              <a:ext cx="196115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INGRESO DE ENERGÍA</a:t>
              </a:r>
              <a:endParaRPr lang="es-AR" sz="1600" dirty="0">
                <a:latin typeface="Bahnschrift SemiBold Condensed"/>
              </a:endParaRPr>
            </a:p>
          </p:txBody>
        </p:sp>
      </p:grpSp>
      <p:grpSp>
        <p:nvGrpSpPr>
          <p:cNvPr id="10" name="Recuadro Gasto de energía"/>
          <p:cNvGrpSpPr/>
          <p:nvPr/>
        </p:nvGrpSpPr>
        <p:grpSpPr>
          <a:xfrm>
            <a:off x="6400800" y="1005840"/>
            <a:ext cx="5394960" cy="3383280"/>
            <a:chOff x="6400800" y="1005840"/>
            <a:chExt cx="5394960" cy="3383280"/>
          </a:xfrm>
        </p:grpSpPr>
        <p:sp>
          <p:nvSpPr>
            <p:cNvPr id="11" name="Forma 10"/>
            <p:cNvSpPr/>
            <p:nvPr/>
          </p:nvSpPr>
          <p:spPr>
            <a:xfrm>
              <a:off x="6400800" y="1188720"/>
              <a:ext cx="5394960" cy="32004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Metabolismo </a:t>
              </a:r>
              <a:r>
                <a:rPr lang="es-AR" sz="1750" b="1" dirty="0">
                  <a:solidFill>
                    <a:srgbClr val="1E1E1E"/>
                  </a:solidFill>
                  <a:latin typeface="Bahnschrift"/>
                  <a:ea typeface="Bahnschrift"/>
                  <a:cs typeface="Bahnschrift"/>
                  <a:sym typeface="Bahnschrift"/>
                </a:rPr>
                <a:t>basal/reposo</a:t>
              </a:r>
              <a:endParaRPr lang="es-AR" sz="1750" dirty="0">
                <a:latin typeface="Bahnschrift"/>
              </a:endParaRPr>
            </a:p>
            <a:p>
              <a:pPr algn="l" marL="166687" indent="-166687">
                <a:spcAft>
                  <a:spcPts val="400"/>
                </a:spcAft>
                <a:buClr>
                  <a:srgbClr val="1E1E1E"/>
                </a:buClr>
                <a:buFont typeface="Arial"/>
                <a:buChar char="•"/>
              </a:pPr>
              <a:r>
                <a:rPr lang="es-AR" sz="1750" dirty="0">
                  <a:solidFill>
                    <a:srgbClr val="1E1E1E"/>
                  </a:solidFill>
                  <a:latin typeface="Bahnschrift"/>
                  <a:ea typeface="Bahnschrift"/>
                  <a:cs typeface="Bahnschrift"/>
                  <a:sym typeface="Bahnschrift"/>
                </a:rPr>
                <a:t>Actividad física </a:t>
              </a:r>
              <a:r>
                <a:rPr lang="es-AR" sz="1750" b="1" dirty="0">
                  <a:solidFill>
                    <a:srgbClr val="1E1E1E"/>
                  </a:solidFill>
                  <a:latin typeface="Bahnschrift"/>
                  <a:ea typeface="Bahnschrift"/>
                  <a:cs typeface="Bahnschrift"/>
                  <a:sym typeface="Bahnschrift"/>
                </a:rPr>
                <a:t>voluntaria e involuntaria</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Efecto térmico</a:t>
              </a:r>
              <a:r>
                <a:rPr lang="es-AR" sz="1750" dirty="0">
                  <a:solidFill>
                    <a:srgbClr val="1E1E1E"/>
                  </a:solidFill>
                  <a:latin typeface="Bahnschrift"/>
                  <a:ea typeface="Bahnschrift"/>
                  <a:cs typeface="Bahnschrift"/>
                  <a:sym typeface="Bahnschrift"/>
                </a:rPr>
                <a:t> de la alimentación</a:t>
              </a:r>
              <a:endParaRPr lang="es-AR" sz="1750" dirty="0">
                <a:latin typeface="Bahnschrift"/>
              </a:endParaRPr>
            </a:p>
            <a:p>
              <a:pPr algn="l" marL="166687" indent="-166687">
                <a:spcAft>
                  <a:spcPts val="400"/>
                </a:spcAft>
                <a:buClr>
                  <a:srgbClr val="1E1E1E"/>
                </a:buClr>
                <a:buFont typeface="Arial"/>
                <a:buChar char="•"/>
              </a:pPr>
              <a:r>
                <a:rPr lang="es-AR" sz="1750" b="1" dirty="0">
                  <a:solidFill>
                    <a:srgbClr val="1E1E1E"/>
                  </a:solidFill>
                  <a:latin typeface="Bahnschrift"/>
                  <a:ea typeface="Bahnschrift"/>
                  <a:cs typeface="Bahnschrift"/>
                  <a:sym typeface="Bahnschrift"/>
                </a:rPr>
                <a:t>Termogénesis adaptativa</a:t>
              </a:r>
              <a:endParaRPr lang="es-AR" sz="1750" dirty="0">
                <a:latin typeface="Bahnschrift"/>
              </a:endParaRPr>
            </a:p>
          </p:txBody>
        </p:sp>
        <p:sp>
          <p:nvSpPr>
            <p:cNvPr id="12" name="Forma 11"/>
            <p:cNvSpPr/>
            <p:nvPr/>
          </p:nvSpPr>
          <p:spPr>
            <a:xfrm>
              <a:off x="6510528" y="1005840"/>
              <a:ext cx="179983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GASTO DE ENERGÍA</a:t>
              </a:r>
              <a:endParaRPr lang="es-AR" sz="1600" dirty="0">
                <a:latin typeface="Bahnschrift SemiBold Condensed"/>
              </a:endParaRPr>
            </a:p>
          </p:txBody>
        </p:sp>
      </p:grpSp>
      <p:sp>
        <p:nvSpPr>
          <p:cNvPr id="13" name="Perla"/>
          <p:cNvSpPr/>
          <p:nvPr/>
        </p:nvSpPr>
        <p:spPr>
          <a:xfrm>
            <a:off x="365760" y="5577840"/>
            <a:ext cx="11430000" cy="9144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El peso cambia si ingreso y gasto </a:t>
            </a:r>
            <a:r>
              <a:rPr lang="es-AR" sz="1750" b="1" dirty="0">
                <a:solidFill>
                  <a:srgbClr val="FFFFFF"/>
                </a:solidFill>
                <a:latin typeface="Bahnschrift"/>
                <a:ea typeface="Bahnschrift"/>
                <a:cs typeface="Bahnschrift"/>
                <a:sym typeface="Bahnschrift"/>
              </a:rPr>
              <a:t>divergen sostenidamente</a:t>
            </a:r>
            <a:r>
              <a:rPr lang="es-AR" sz="1750" dirty="0">
                <a:solidFill>
                  <a:srgbClr val="FFFFFF"/>
                </a:solidFill>
                <a:latin typeface="Bahnschrift"/>
                <a:ea typeface="Bahnschrift"/>
                <a:cs typeface="Bahnschrift"/>
                <a:sym typeface="Bahnschrift"/>
              </a:rPr>
              <a:t>, y el cuerpo </a:t>
            </a:r>
            <a:r>
              <a:rPr lang="es-AR" sz="1750" b="1" dirty="0">
                <a:solidFill>
                  <a:srgbClr val="FFFFFF"/>
                </a:solidFill>
                <a:latin typeface="Bahnschrift"/>
                <a:ea typeface="Bahnschrift"/>
                <a:cs typeface="Bahnschrift"/>
                <a:sym typeface="Bahnschrift"/>
              </a:rPr>
              <a:t>modifica ambos</a:t>
            </a:r>
            <a:r>
              <a:rPr lang="es-AR" sz="1750" dirty="0">
                <a:solidFill>
                  <a:srgbClr val="FFFFFF"/>
                </a:solidFill>
                <a:latin typeface="Bahnschrift"/>
                <a:ea typeface="Bahnschrift"/>
                <a:cs typeface="Bahnschrift"/>
                <a:sym typeface="Bahnschrift"/>
              </a:rPr>
              <a:t> con la propia variación de peso.</a:t>
            </a:r>
            <a:endParaRPr lang="es-AR" sz="17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93704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33 · BALANCE ENERGÉTICO: INGRESO, GASTO Y REGULACIÓN</a:t>
            </a:r>
            <a:endParaRPr lang="es-AR" sz="26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61.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Tile HIPOTÁLAMO Y TRONCO"/>
          <p:cNvGrpSpPr/>
          <p:nvPr/>
        </p:nvGrpSpPr>
        <p:grpSpPr>
          <a:xfrm>
            <a:off x="365760" y="1005840"/>
            <a:ext cx="2788920" cy="1828800"/>
            <a:chOff x="365760" y="1005840"/>
            <a:chExt cx="2788920" cy="1828800"/>
          </a:xfrm>
        </p:grpSpPr>
        <p:sp>
          <p:nvSpPr>
            <p:cNvPr id="5" name="Forma 4"/>
            <p:cNvSpPr/>
            <p:nvPr/>
          </p:nvSpPr>
          <p:spPr>
            <a:xfrm>
              <a:off x="365760" y="1005840"/>
              <a:ext cx="2788920" cy="182880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sp>
        <p:grpSp>
          <p:nvGrpSpPr>
            <p:cNvPr id="6" name="Ícono cerebro"/>
            <p:cNvGrpSpPr/>
            <p:nvPr/>
          </p:nvGrpSpPr>
          <p:grpSpPr>
            <a:xfrm>
              <a:off x="457200" y="1152144"/>
              <a:ext cx="731520" cy="570586"/>
              <a:chOff x="457200" y="1152144"/>
              <a:chExt cx="731520" cy="570586"/>
            </a:xfrm>
          </p:grpSpPr>
          <p:sp>
            <p:nvSpPr>
              <p:cNvPr id="7" name="Cerebelo"/>
              <p:cNvSpPr/>
              <p:nvPr/>
            </p:nvSpPr>
            <p:spPr>
              <a:xfrm>
                <a:off x="457200" y="1152144"/>
                <a:ext cx="731520" cy="570586"/>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8" name="Forma 7"/>
              <p:cNvSpPr/>
              <p:nvPr/>
            </p:nvSpPr>
            <p:spPr>
              <a:xfrm>
                <a:off x="457200" y="1152144"/>
                <a:ext cx="731520" cy="570586"/>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9" name="Forma 8"/>
              <p:cNvSpPr/>
              <p:nvPr/>
            </p:nvSpPr>
            <p:spPr>
              <a:xfrm>
                <a:off x="457200" y="1152144"/>
                <a:ext cx="731520" cy="570586"/>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10" name="Forma 9"/>
              <p:cNvSpPr/>
              <p:nvPr/>
            </p:nvSpPr>
            <p:spPr>
              <a:xfrm>
                <a:off x="457200" y="1152144"/>
                <a:ext cx="731520" cy="570586"/>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11" name="Forma 10"/>
            <p:cNvSpPr txBox="1"/>
            <p:nvPr/>
          </p:nvSpPr>
          <p:spPr>
            <a:xfrm>
              <a:off x="1325880" y="1097280"/>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HIPOTÁLAMO Y TRONCO</a:t>
              </a:r>
              <a:endParaRPr lang="es-AR" sz="1550" dirty="0">
                <a:latin typeface="Bahnschrift SemiBold Condensed"/>
              </a:endParaRPr>
            </a:p>
          </p:txBody>
        </p:sp>
        <p:sp>
          <p:nvSpPr>
            <p:cNvPr id="12" name="Forma 11"/>
            <p:cNvSpPr txBox="1"/>
            <p:nvPr/>
          </p:nvSpPr>
          <p:spPr>
            <a:xfrm>
              <a:off x="502920" y="1965960"/>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Integran leptina, insulina, PYY, GLP-1, CCK, grelina, vagales y nutrientes</a:t>
              </a:r>
              <a:endParaRPr lang="es-AR" sz="1350" dirty="0">
                <a:latin typeface="Bahnschrift"/>
              </a:endParaRPr>
            </a:p>
          </p:txBody>
        </p:sp>
      </p:grpSp>
      <p:grpSp>
        <p:nvGrpSpPr>
          <p:cNvPr id="13" name="Tile INTESTINO"/>
          <p:cNvGrpSpPr/>
          <p:nvPr/>
        </p:nvGrpSpPr>
        <p:grpSpPr>
          <a:xfrm>
            <a:off x="3264408" y="1005840"/>
            <a:ext cx="2788920" cy="1828800"/>
            <a:chOff x="3264408" y="1005840"/>
            <a:chExt cx="2788920" cy="1828800"/>
          </a:xfrm>
        </p:grpSpPr>
        <p:sp>
          <p:nvSpPr>
            <p:cNvPr id="14" name="Forma 13"/>
            <p:cNvSpPr/>
            <p:nvPr/>
          </p:nvSpPr>
          <p:spPr>
            <a:xfrm>
              <a:off x="3264408" y="1005840"/>
              <a:ext cx="2788920" cy="18288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15" name="Ícono intestino"/>
            <p:cNvGrpSpPr/>
            <p:nvPr/>
          </p:nvGrpSpPr>
          <p:grpSpPr>
            <a:xfrm>
              <a:off x="3392424" y="1115568"/>
              <a:ext cx="658368" cy="559613"/>
              <a:chOff x="3392424" y="1115568"/>
              <a:chExt cx="658368" cy="559613"/>
            </a:xfrm>
          </p:grpSpPr>
          <p:sp>
            <p:nvSpPr>
              <p:cNvPr id="16" name="Forma 15"/>
              <p:cNvSpPr/>
              <p:nvPr/>
            </p:nvSpPr>
            <p:spPr>
              <a:xfrm>
                <a:off x="3392424" y="1115568"/>
                <a:ext cx="658368" cy="559613"/>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7" name="Forma 16"/>
              <p:cNvSpPr/>
              <p:nvPr/>
            </p:nvSpPr>
            <p:spPr>
              <a:xfrm>
                <a:off x="3392424" y="1115568"/>
                <a:ext cx="658368" cy="559613"/>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18" name="Forma 17"/>
              <p:cNvSpPr/>
              <p:nvPr/>
            </p:nvSpPr>
            <p:spPr>
              <a:xfrm>
                <a:off x="3392424" y="1115568"/>
                <a:ext cx="658368" cy="55961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9" name="Forma 18"/>
              <p:cNvSpPr/>
              <p:nvPr/>
            </p:nvSpPr>
            <p:spPr>
              <a:xfrm>
                <a:off x="3392424" y="1115568"/>
                <a:ext cx="658368" cy="55961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20" name="Forma 19"/>
              <p:cNvSpPr/>
              <p:nvPr/>
            </p:nvSpPr>
            <p:spPr>
              <a:xfrm>
                <a:off x="3392424" y="1115568"/>
                <a:ext cx="658368" cy="55961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21" name="Forma 20"/>
            <p:cNvSpPr txBox="1"/>
            <p:nvPr/>
          </p:nvSpPr>
          <p:spPr>
            <a:xfrm>
              <a:off x="4224528" y="1097280"/>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INTESTINO</a:t>
              </a:r>
              <a:endParaRPr lang="es-AR" sz="1550" dirty="0">
                <a:latin typeface="Bahnschrift SemiBold Condensed"/>
              </a:endParaRPr>
            </a:p>
          </p:txBody>
        </p:sp>
        <p:sp>
          <p:nvSpPr>
            <p:cNvPr id="22" name="Forma 21"/>
            <p:cNvSpPr txBox="1"/>
            <p:nvPr/>
          </p:nvSpPr>
          <p:spPr>
            <a:xfrm>
              <a:off x="3401568" y="1965960"/>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Absorción, incretinas, saciedad</a:t>
              </a:r>
              <a:endParaRPr lang="es-AR" sz="1350" dirty="0">
                <a:latin typeface="Bahnschrift"/>
              </a:endParaRPr>
            </a:p>
          </p:txBody>
        </p:sp>
      </p:grpSp>
      <p:grpSp>
        <p:nvGrpSpPr>
          <p:cNvPr id="23" name="Tile PÁNCREAS"/>
          <p:cNvGrpSpPr/>
          <p:nvPr/>
        </p:nvGrpSpPr>
        <p:grpSpPr>
          <a:xfrm>
            <a:off x="6163056" y="1005840"/>
            <a:ext cx="2788920" cy="1828800"/>
            <a:chOff x="6163056" y="1005840"/>
            <a:chExt cx="2788920" cy="1828800"/>
          </a:xfrm>
        </p:grpSpPr>
        <p:sp>
          <p:nvSpPr>
            <p:cNvPr id="24" name="Forma 23"/>
            <p:cNvSpPr/>
            <p:nvPr/>
          </p:nvSpPr>
          <p:spPr>
            <a:xfrm>
              <a:off x="6163056" y="1005840"/>
              <a:ext cx="2788920" cy="18288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25" name="Ícono páncreas"/>
            <p:cNvGrpSpPr/>
            <p:nvPr/>
          </p:nvGrpSpPr>
          <p:grpSpPr>
            <a:xfrm>
              <a:off x="6254496" y="1298448"/>
              <a:ext cx="731520" cy="307238"/>
              <a:chOff x="6254496" y="1298448"/>
              <a:chExt cx="731520" cy="307238"/>
            </a:xfrm>
          </p:grpSpPr>
          <p:sp>
            <p:nvSpPr>
              <p:cNvPr id="26" name="Forma 25"/>
              <p:cNvSpPr/>
              <p:nvPr/>
            </p:nvSpPr>
            <p:spPr>
              <a:xfrm>
                <a:off x="6254496" y="1298448"/>
                <a:ext cx="731520" cy="307238"/>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27" name="Forma 26"/>
              <p:cNvSpPr/>
              <p:nvPr/>
            </p:nvSpPr>
            <p:spPr>
              <a:xfrm>
                <a:off x="6254496" y="1298448"/>
                <a:ext cx="731520" cy="307238"/>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28" name="Islotes"/>
              <p:cNvSpPr/>
              <p:nvPr/>
            </p:nvSpPr>
            <p:spPr>
              <a:xfrm>
                <a:off x="6254496" y="1298448"/>
                <a:ext cx="731520" cy="307238"/>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9" name="Forma 28"/>
              <p:cNvSpPr/>
              <p:nvPr/>
            </p:nvSpPr>
            <p:spPr>
              <a:xfrm>
                <a:off x="6254496" y="1298448"/>
                <a:ext cx="731520" cy="307238"/>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30" name="Forma 29"/>
            <p:cNvSpPr txBox="1"/>
            <p:nvPr/>
          </p:nvSpPr>
          <p:spPr>
            <a:xfrm>
              <a:off x="7123176" y="1097280"/>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PÁNCREAS</a:t>
              </a:r>
              <a:endParaRPr lang="es-AR" sz="1550" dirty="0">
                <a:latin typeface="Bahnschrift SemiBold Condensed"/>
              </a:endParaRPr>
            </a:p>
          </p:txBody>
        </p:sp>
        <p:sp>
          <p:nvSpPr>
            <p:cNvPr id="31" name="Forma 30"/>
            <p:cNvSpPr txBox="1"/>
            <p:nvPr/>
          </p:nvSpPr>
          <p:spPr>
            <a:xfrm>
              <a:off x="6300216" y="1965960"/>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Insulina/glucagón ajustan sustratos</a:t>
              </a:r>
              <a:endParaRPr lang="es-AR" sz="1350" dirty="0">
                <a:latin typeface="Bahnschrift"/>
              </a:endParaRPr>
            </a:p>
          </p:txBody>
        </p:sp>
      </p:grpSp>
      <p:grpSp>
        <p:nvGrpSpPr>
          <p:cNvPr id="32" name="Tile HÍGADO"/>
          <p:cNvGrpSpPr/>
          <p:nvPr/>
        </p:nvGrpSpPr>
        <p:grpSpPr>
          <a:xfrm>
            <a:off x="9061704" y="1005840"/>
            <a:ext cx="2788920" cy="1828800"/>
            <a:chOff x="9061704" y="1005840"/>
            <a:chExt cx="2788920" cy="1828800"/>
          </a:xfrm>
        </p:grpSpPr>
        <p:sp>
          <p:nvSpPr>
            <p:cNvPr id="33" name="Forma 32"/>
            <p:cNvSpPr/>
            <p:nvPr/>
          </p:nvSpPr>
          <p:spPr>
            <a:xfrm>
              <a:off x="9061704" y="1005840"/>
              <a:ext cx="2788920" cy="18288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grpSp>
          <p:nvGrpSpPr>
            <p:cNvPr id="34" name="Ícono hígado"/>
            <p:cNvGrpSpPr/>
            <p:nvPr/>
          </p:nvGrpSpPr>
          <p:grpSpPr>
            <a:xfrm>
              <a:off x="9153144" y="1188720"/>
              <a:ext cx="731520" cy="517038"/>
              <a:chOff x="9153144" y="1188720"/>
              <a:chExt cx="731520" cy="517038"/>
            </a:xfrm>
          </p:grpSpPr>
          <p:sp>
            <p:nvSpPr>
              <p:cNvPr id="35" name="Vesícula biliar"/>
              <p:cNvSpPr/>
              <p:nvPr/>
            </p:nvSpPr>
            <p:spPr>
              <a:xfrm>
                <a:off x="9350654" y="1542483"/>
                <a:ext cx="95098" cy="16327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36" name="Forma 35"/>
              <p:cNvSpPr/>
              <p:nvPr/>
            </p:nvSpPr>
            <p:spPr>
              <a:xfrm>
                <a:off x="9153144" y="1188720"/>
                <a:ext cx="731520" cy="453542"/>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37" name="Forma 36"/>
              <p:cNvSpPr/>
              <p:nvPr/>
            </p:nvSpPr>
            <p:spPr>
              <a:xfrm>
                <a:off x="9153144" y="1188720"/>
                <a:ext cx="731520" cy="453542"/>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38" name="Forma 37"/>
              <p:cNvSpPr/>
              <p:nvPr/>
            </p:nvSpPr>
            <p:spPr>
              <a:xfrm>
                <a:off x="9153144" y="1188720"/>
                <a:ext cx="731520" cy="453542"/>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39" name="Forma 38"/>
            <p:cNvSpPr txBox="1"/>
            <p:nvPr/>
          </p:nvSpPr>
          <p:spPr>
            <a:xfrm>
              <a:off x="10021824" y="1097280"/>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HÍGADO</a:t>
              </a:r>
              <a:endParaRPr lang="es-AR" sz="1550" dirty="0">
                <a:latin typeface="Bahnschrift SemiBold Condensed"/>
              </a:endParaRPr>
            </a:p>
          </p:txBody>
        </p:sp>
        <p:sp>
          <p:nvSpPr>
            <p:cNvPr id="40" name="Forma 39"/>
            <p:cNvSpPr txBox="1"/>
            <p:nvPr/>
          </p:nvSpPr>
          <p:spPr>
            <a:xfrm>
              <a:off x="9198864" y="1965960"/>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Distribuye combustibles; señales metabólicas y neurales</a:t>
              </a:r>
              <a:endParaRPr lang="es-AR" sz="1350" dirty="0">
                <a:latin typeface="Bahnschrift"/>
              </a:endParaRPr>
            </a:p>
          </p:txBody>
        </p:sp>
      </p:grpSp>
      <p:grpSp>
        <p:nvGrpSpPr>
          <p:cNvPr id="41" name="Tile ADIPOSO"/>
          <p:cNvGrpSpPr/>
          <p:nvPr/>
        </p:nvGrpSpPr>
        <p:grpSpPr>
          <a:xfrm>
            <a:off x="365760" y="2944368"/>
            <a:ext cx="2788920" cy="1828800"/>
            <a:chOff x="365760" y="2944368"/>
            <a:chExt cx="2788920" cy="1828800"/>
          </a:xfrm>
        </p:grpSpPr>
        <p:sp>
          <p:nvSpPr>
            <p:cNvPr id="42" name="Forma 41"/>
            <p:cNvSpPr/>
            <p:nvPr/>
          </p:nvSpPr>
          <p:spPr>
            <a:xfrm>
              <a:off x="365760" y="2944368"/>
              <a:ext cx="2788920" cy="18288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grpSp>
          <p:nvGrpSpPr>
            <p:cNvPr id="43" name="Ícono adiposo"/>
            <p:cNvGrpSpPr/>
            <p:nvPr/>
          </p:nvGrpSpPr>
          <p:grpSpPr>
            <a:xfrm>
              <a:off x="530352" y="3054096"/>
              <a:ext cx="585216" cy="585216"/>
              <a:chOff x="530352" y="3054096"/>
              <a:chExt cx="585216" cy="585216"/>
            </a:xfrm>
          </p:grpSpPr>
          <p:sp>
            <p:nvSpPr>
              <p:cNvPr id="44" name="Forma 43"/>
              <p:cNvSpPr/>
              <p:nvPr/>
            </p:nvSpPr>
            <p:spPr>
              <a:xfrm>
                <a:off x="530352" y="3054096"/>
                <a:ext cx="585216" cy="585216"/>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5" name="Gota lipídica"/>
              <p:cNvSpPr/>
              <p:nvPr/>
            </p:nvSpPr>
            <p:spPr>
              <a:xfrm>
                <a:off x="559613" y="3083357"/>
                <a:ext cx="526694" cy="526694"/>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6" name="Forma 45"/>
              <p:cNvSpPr/>
              <p:nvPr/>
            </p:nvSpPr>
            <p:spPr>
              <a:xfrm rot="2400000">
                <a:off x="951708" y="3089209"/>
                <a:ext cx="128748" cy="70226"/>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7" name="Mitocondria"/>
              <p:cNvGrpSpPr/>
              <p:nvPr/>
            </p:nvGrpSpPr>
            <p:grpSpPr>
              <a:xfrm>
                <a:off x="577169" y="3487156"/>
                <a:ext cx="58522" cy="29261"/>
                <a:chOff x="577169" y="3487156"/>
                <a:chExt cx="58522" cy="29261"/>
              </a:xfrm>
            </p:grpSpPr>
            <p:sp>
              <p:nvSpPr>
                <p:cNvPr id="48" name="Forma 47"/>
                <p:cNvSpPr/>
                <p:nvPr/>
              </p:nvSpPr>
              <p:spPr>
                <a:xfrm rot="-2400000">
                  <a:off x="577169" y="3487156"/>
                  <a:ext cx="58522" cy="29261"/>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9" name="Forma 48"/>
                <p:cNvSpPr/>
                <p:nvPr/>
              </p:nvSpPr>
              <p:spPr>
                <a:xfrm rot="-2400000">
                  <a:off x="581266" y="3491252"/>
                  <a:ext cx="50329" cy="21068"/>
                </a:xfrm>
                <a:prstGeom prst="ellipse">
                  <a:avLst/>
                </a:prstGeom>
                <a:solidFill>
                  <a:srgbClr val="F8D8B4"/>
                </a:solidFill>
                <a:ln w="9525" cap="rnd">
                  <a:solidFill>
                    <a:srgbClr val="B2732B"/>
                  </a:solidFill>
                  <a:round/>
                </a:ln>
              </p:spPr>
            </p:sp>
            <p:sp>
              <p:nvSpPr>
                <p:cNvPr id="50" name="Forma 49"/>
                <p:cNvSpPr/>
                <p:nvPr/>
              </p:nvSpPr>
              <p:spPr>
                <a:xfrm rot="-2400000">
                  <a:off x="581266" y="3491252"/>
                  <a:ext cx="50329" cy="2106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sp>
          <p:nvSpPr>
            <p:cNvPr id="51" name="Forma 50"/>
            <p:cNvSpPr txBox="1"/>
            <p:nvPr/>
          </p:nvSpPr>
          <p:spPr>
            <a:xfrm>
              <a:off x="1325880" y="3035808"/>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ADIPOSO</a:t>
              </a:r>
              <a:endParaRPr lang="es-AR" sz="1550" dirty="0">
                <a:latin typeface="Bahnschrift SemiBold Condensed"/>
              </a:endParaRPr>
            </a:p>
          </p:txBody>
        </p:sp>
        <p:sp>
          <p:nvSpPr>
            <p:cNvPr id="52" name="Forma 51"/>
            <p:cNvSpPr txBox="1"/>
            <p:nvPr/>
          </p:nvSpPr>
          <p:spPr>
            <a:xfrm>
              <a:off x="502920" y="3904488"/>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Almacena; envía leptina, adiponectina, AG</a:t>
              </a:r>
              <a:endParaRPr lang="es-AR" sz="1350" dirty="0">
                <a:latin typeface="Bahnschrift"/>
              </a:endParaRPr>
            </a:p>
          </p:txBody>
        </p:sp>
      </p:grpSp>
      <p:grpSp>
        <p:nvGrpSpPr>
          <p:cNvPr id="53" name="Tile MÚSCULO"/>
          <p:cNvGrpSpPr/>
          <p:nvPr/>
        </p:nvGrpSpPr>
        <p:grpSpPr>
          <a:xfrm>
            <a:off x="3264408" y="2944368"/>
            <a:ext cx="2788920" cy="1828800"/>
            <a:chOff x="3264408" y="2944368"/>
            <a:chExt cx="2788920" cy="1828800"/>
          </a:xfrm>
        </p:grpSpPr>
        <p:sp>
          <p:nvSpPr>
            <p:cNvPr id="54" name="Forma 53"/>
            <p:cNvSpPr/>
            <p:nvPr/>
          </p:nvSpPr>
          <p:spPr>
            <a:xfrm>
              <a:off x="3264408" y="2944368"/>
              <a:ext cx="2788920" cy="18288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grpSp>
          <p:nvGrpSpPr>
            <p:cNvPr id="55" name="Ícono músculo"/>
            <p:cNvGrpSpPr/>
            <p:nvPr/>
          </p:nvGrpSpPr>
          <p:grpSpPr>
            <a:xfrm>
              <a:off x="3355848" y="3163824"/>
              <a:ext cx="731520" cy="239939"/>
              <a:chOff x="3355848" y="3163824"/>
              <a:chExt cx="731520" cy="239939"/>
            </a:xfrm>
          </p:grpSpPr>
          <p:grpSp>
            <p:nvGrpSpPr>
              <p:cNvPr id="56" name="Fibra"/>
              <p:cNvGrpSpPr/>
              <p:nvPr/>
            </p:nvGrpSpPr>
            <p:grpSpPr>
              <a:xfrm>
                <a:off x="3355848" y="3163824"/>
                <a:ext cx="702259" cy="117043"/>
                <a:chOff x="3355848" y="3163824"/>
                <a:chExt cx="702259" cy="117043"/>
              </a:xfrm>
            </p:grpSpPr>
            <p:sp>
              <p:nvSpPr>
                <p:cNvPr id="57" name="Forma 56"/>
                <p:cNvSpPr/>
                <p:nvPr/>
              </p:nvSpPr>
              <p:spPr>
                <a:xfrm>
                  <a:off x="3355848" y="3163824"/>
                  <a:ext cx="702259" cy="11704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58" name="Forma 57"/>
                <p:cNvSpPr/>
                <p:nvPr/>
              </p:nvSpPr>
              <p:spPr>
                <a:xfrm>
                  <a:off x="3385109" y="3163824"/>
                  <a:ext cx="643738" cy="117043"/>
                </a:xfrm>
                <a:custGeom>
                  <a:avLst/>
                  <a:gdLst/>
                  <a:ahLst/>
                  <a:cxnLst/>
                  <a:rect l="0" t="0" r="r" b="b"/>
                  <a:pathLst>
                    <a:path w="1000" h="1000" fill="none">
                      <a:moveTo>
                        <a:pt x="62" y="80"/>
                      </a:moveTo>
                      <a:lnTo>
                        <a:pt x="62" y="920"/>
                      </a:lnTo>
                    </a:path>
                    <a:path w="1000" h="1000" fill="none">
                      <a:moveTo>
                        <a:pt x="187" y="80"/>
                      </a:moveTo>
                      <a:lnTo>
                        <a:pt x="187" y="920"/>
                      </a:lnTo>
                    </a:path>
                    <a:path w="1000" h="1000" fill="none">
                      <a:moveTo>
                        <a:pt x="312" y="80"/>
                      </a:moveTo>
                      <a:lnTo>
                        <a:pt x="312" y="920"/>
                      </a:lnTo>
                    </a:path>
                    <a:path w="1000" h="1000" fill="none">
                      <a:moveTo>
                        <a:pt x="437" y="80"/>
                      </a:moveTo>
                      <a:lnTo>
                        <a:pt x="437" y="920"/>
                      </a:lnTo>
                    </a:path>
                    <a:path w="1000" h="1000" fill="none">
                      <a:moveTo>
                        <a:pt x="562" y="80"/>
                      </a:moveTo>
                      <a:lnTo>
                        <a:pt x="562" y="920"/>
                      </a:lnTo>
                    </a:path>
                    <a:path w="1000" h="1000" fill="none">
                      <a:moveTo>
                        <a:pt x="687" y="80"/>
                      </a:moveTo>
                      <a:lnTo>
                        <a:pt x="687" y="920"/>
                      </a:lnTo>
                    </a:path>
                    <a:path w="1000" h="1000" fill="none">
                      <a:moveTo>
                        <a:pt x="812" y="80"/>
                      </a:moveTo>
                      <a:lnTo>
                        <a:pt x="812" y="920"/>
                      </a:lnTo>
                    </a:path>
                    <a:path w="1000" h="1000" fill="none">
                      <a:moveTo>
                        <a:pt x="937" y="80"/>
                      </a:moveTo>
                      <a:lnTo>
                        <a:pt x="937" y="920"/>
                      </a:lnTo>
                    </a:path>
                  </a:pathLst>
                </a:custGeom>
                <a:noFill/>
                <a:ln w="12700" cap="rnd">
                  <a:solidFill>
                    <a:srgbClr val="822E27"/>
                  </a:solidFill>
                  <a:round/>
                </a:ln>
              </p:spPr>
            </p:sp>
            <p:sp>
              <p:nvSpPr>
                <p:cNvPr id="59" name="Forma 58"/>
                <p:cNvSpPr/>
                <p:nvPr/>
              </p:nvSpPr>
              <p:spPr>
                <a:xfrm>
                  <a:off x="3496300" y="3168506"/>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0" name="Forma 59"/>
                <p:cNvSpPr/>
                <p:nvPr/>
              </p:nvSpPr>
              <p:spPr>
                <a:xfrm>
                  <a:off x="3742091" y="3168506"/>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1" name="Forma 60"/>
                <p:cNvSpPr/>
                <p:nvPr/>
              </p:nvSpPr>
              <p:spPr>
                <a:xfrm>
                  <a:off x="3952768" y="3168506"/>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2" name="Forma 61"/>
                <p:cNvSpPr/>
                <p:nvPr/>
              </p:nvSpPr>
              <p:spPr>
                <a:xfrm>
                  <a:off x="4008949" y="3168506"/>
                  <a:ext cx="46817" cy="10768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63" name="Fibra_2"/>
              <p:cNvGrpSpPr/>
              <p:nvPr/>
            </p:nvGrpSpPr>
            <p:grpSpPr>
              <a:xfrm>
                <a:off x="3385109" y="3286719"/>
                <a:ext cx="702259" cy="117043"/>
                <a:chOff x="3385109" y="3286719"/>
                <a:chExt cx="702259" cy="117043"/>
              </a:xfrm>
            </p:grpSpPr>
            <p:sp>
              <p:nvSpPr>
                <p:cNvPr id="64" name="Forma 63"/>
                <p:cNvSpPr/>
                <p:nvPr/>
              </p:nvSpPr>
              <p:spPr>
                <a:xfrm>
                  <a:off x="3385109" y="3286719"/>
                  <a:ext cx="702259" cy="117043"/>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65" name="Forma 64"/>
                <p:cNvSpPr/>
                <p:nvPr/>
              </p:nvSpPr>
              <p:spPr>
                <a:xfrm>
                  <a:off x="3414370" y="3286719"/>
                  <a:ext cx="643738" cy="117043"/>
                </a:xfrm>
                <a:custGeom>
                  <a:avLst/>
                  <a:gdLst/>
                  <a:ahLst/>
                  <a:cxnLst/>
                  <a:rect l="0" t="0" r="r" b="b"/>
                  <a:pathLst>
                    <a:path w="1000" h="1000" fill="none">
                      <a:moveTo>
                        <a:pt x="62" y="80"/>
                      </a:moveTo>
                      <a:lnTo>
                        <a:pt x="62" y="920"/>
                      </a:lnTo>
                    </a:path>
                    <a:path w="1000" h="1000" fill="none">
                      <a:moveTo>
                        <a:pt x="187" y="80"/>
                      </a:moveTo>
                      <a:lnTo>
                        <a:pt x="187" y="920"/>
                      </a:lnTo>
                    </a:path>
                    <a:path w="1000" h="1000" fill="none">
                      <a:moveTo>
                        <a:pt x="312" y="80"/>
                      </a:moveTo>
                      <a:lnTo>
                        <a:pt x="312" y="920"/>
                      </a:lnTo>
                    </a:path>
                    <a:path w="1000" h="1000" fill="none">
                      <a:moveTo>
                        <a:pt x="437" y="80"/>
                      </a:moveTo>
                      <a:lnTo>
                        <a:pt x="437" y="920"/>
                      </a:lnTo>
                    </a:path>
                    <a:path w="1000" h="1000" fill="none">
                      <a:moveTo>
                        <a:pt x="562" y="80"/>
                      </a:moveTo>
                      <a:lnTo>
                        <a:pt x="562" y="920"/>
                      </a:lnTo>
                    </a:path>
                    <a:path w="1000" h="1000" fill="none">
                      <a:moveTo>
                        <a:pt x="687" y="80"/>
                      </a:moveTo>
                      <a:lnTo>
                        <a:pt x="687" y="920"/>
                      </a:lnTo>
                    </a:path>
                    <a:path w="1000" h="1000" fill="none">
                      <a:moveTo>
                        <a:pt x="812" y="80"/>
                      </a:moveTo>
                      <a:lnTo>
                        <a:pt x="812" y="920"/>
                      </a:lnTo>
                    </a:path>
                    <a:path w="1000" h="1000" fill="none">
                      <a:moveTo>
                        <a:pt x="937" y="80"/>
                      </a:moveTo>
                      <a:lnTo>
                        <a:pt x="937" y="920"/>
                      </a:lnTo>
                    </a:path>
                  </a:pathLst>
                </a:custGeom>
                <a:noFill/>
                <a:ln w="12700" cap="rnd">
                  <a:solidFill>
                    <a:srgbClr val="822E27"/>
                  </a:solidFill>
                  <a:round/>
                </a:ln>
              </p:spPr>
            </p:sp>
            <p:sp>
              <p:nvSpPr>
                <p:cNvPr id="66" name="Forma 65"/>
                <p:cNvSpPr/>
                <p:nvPr/>
              </p:nvSpPr>
              <p:spPr>
                <a:xfrm>
                  <a:off x="3525561" y="3291401"/>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7" name="Forma 66"/>
                <p:cNvSpPr/>
                <p:nvPr/>
              </p:nvSpPr>
              <p:spPr>
                <a:xfrm>
                  <a:off x="3771351" y="3291401"/>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8" name="Forma 67"/>
                <p:cNvSpPr/>
                <p:nvPr/>
              </p:nvSpPr>
              <p:spPr>
                <a:xfrm>
                  <a:off x="3982029" y="3291401"/>
                  <a:ext cx="58522" cy="21068"/>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69" name="Forma 68"/>
                <p:cNvSpPr/>
                <p:nvPr/>
              </p:nvSpPr>
              <p:spPr>
                <a:xfrm>
                  <a:off x="4038210" y="3291401"/>
                  <a:ext cx="46817" cy="10768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70" name="Forma 69"/>
            <p:cNvSpPr txBox="1"/>
            <p:nvPr/>
          </p:nvSpPr>
          <p:spPr>
            <a:xfrm>
              <a:off x="4224528" y="3035808"/>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MÚSCULO</a:t>
              </a:r>
              <a:endParaRPr lang="es-AR" sz="1550" dirty="0">
                <a:latin typeface="Bahnschrift SemiBold Condensed"/>
              </a:endParaRPr>
            </a:p>
          </p:txBody>
        </p:sp>
        <p:sp>
          <p:nvSpPr>
            <p:cNvPr id="71" name="Forma 70"/>
            <p:cNvSpPr txBox="1"/>
            <p:nvPr/>
          </p:nvSpPr>
          <p:spPr>
            <a:xfrm>
              <a:off x="3401568" y="3904488"/>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Reservorio proteico; gran consumidor en actividad</a:t>
              </a:r>
              <a:endParaRPr lang="es-AR" sz="1350" dirty="0">
                <a:latin typeface="Bahnschrift"/>
              </a:endParaRPr>
            </a:p>
          </p:txBody>
        </p:sp>
      </p:grpSp>
      <p:grpSp>
        <p:nvGrpSpPr>
          <p:cNvPr id="72" name="Tile TIROIDES"/>
          <p:cNvGrpSpPr/>
          <p:nvPr/>
        </p:nvGrpSpPr>
        <p:grpSpPr>
          <a:xfrm>
            <a:off x="6163056" y="2944368"/>
            <a:ext cx="2788920" cy="1828800"/>
            <a:chOff x="6163056" y="2944368"/>
            <a:chExt cx="2788920" cy="1828800"/>
          </a:xfrm>
        </p:grpSpPr>
        <p:sp>
          <p:nvSpPr>
            <p:cNvPr id="73" name="Forma 72"/>
            <p:cNvSpPr/>
            <p:nvPr/>
          </p:nvSpPr>
          <p:spPr>
            <a:xfrm>
              <a:off x="6163056" y="2944368"/>
              <a:ext cx="2788920" cy="1828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74" name="Ícono suprarrenal"/>
            <p:cNvSpPr/>
            <p:nvPr/>
          </p:nvSpPr>
          <p:spPr>
            <a:xfrm>
              <a:off x="6327648" y="3090672"/>
              <a:ext cx="585216" cy="548640"/>
            </a:xfrm>
            <a:custGeom>
              <a:avLst/>
              <a:gdLst/>
              <a:ahLst/>
              <a:cxnLst/>
              <a:rect l="0" t="0" r="r" b="b"/>
              <a:pathLst>
                <a:path w="1000" h="1000">
                  <a:moveTo>
                    <a:pt x="500" y="0"/>
                  </a:moveTo>
                  <a:cubicBezTo>
                    <a:pt x="633" y="0"/>
                    <a:pt x="841" y="333"/>
                    <a:pt x="900" y="500"/>
                  </a:cubicBezTo>
                  <a:cubicBezTo>
                    <a:pt x="958" y="666"/>
                    <a:pt x="975" y="916"/>
                    <a:pt x="850" y="1000"/>
                  </a:cubicBezTo>
                  <a:cubicBezTo>
                    <a:pt x="725" y="1083"/>
                    <a:pt x="275" y="1083"/>
                    <a:pt x="150" y="1000"/>
                  </a:cubicBezTo>
                  <a:cubicBezTo>
                    <a:pt x="25" y="916"/>
                    <a:pt x="41" y="666"/>
                    <a:pt x="100" y="500"/>
                  </a:cubicBezTo>
                  <a:cubicBezTo>
                    <a:pt x="158" y="333"/>
                    <a:pt x="366" y="0"/>
                    <a:pt x="500" y="0"/>
                  </a:cubicBezTo>
                  <a:close/>
                </a:path>
              </a:pathLst>
            </a:custGeom>
            <a:gradFill rotWithShape="1">
              <a:gsLst>
                <a:gs pos="0">
                  <a:srgbClr val="F9CF8D"/>
                </a:gs>
                <a:gs pos="55000">
                  <a:srgbClr val="F5B041"/>
                </a:gs>
                <a:gs pos="100000">
                  <a:srgbClr val="AB7B2D"/>
                </a:gs>
              </a:gsLst>
              <a:path path="circle">
                <a:fillToRect l="32000" t="28000" r="68000" b="72000"/>
              </a:path>
            </a:gradFill>
            <a:ln w="15875" cap="rnd">
              <a:solidFill>
                <a:srgbClr val="9C640C"/>
              </a:solidFill>
              <a:round/>
            </a:ln>
          </p:spPr>
        </p:sp>
        <p:sp>
          <p:nvSpPr>
            <p:cNvPr id="75" name="Forma 74"/>
            <p:cNvSpPr txBox="1"/>
            <p:nvPr/>
          </p:nvSpPr>
          <p:spPr>
            <a:xfrm>
              <a:off x="7123176" y="3035808"/>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TIROIDES</a:t>
              </a:r>
              <a:endParaRPr lang="es-AR" sz="1550" dirty="0">
                <a:latin typeface="Bahnschrift SemiBold Condensed"/>
              </a:endParaRPr>
            </a:p>
          </p:txBody>
        </p:sp>
        <p:sp>
          <p:nvSpPr>
            <p:cNvPr id="76" name="Forma 75"/>
            <p:cNvSpPr txBox="1"/>
            <p:nvPr/>
          </p:nvSpPr>
          <p:spPr>
            <a:xfrm>
              <a:off x="6300216" y="3904488"/>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Modula el gasto basal (T3)</a:t>
              </a:r>
              <a:endParaRPr lang="es-AR" sz="1350" dirty="0">
                <a:latin typeface="Bahnschrift"/>
              </a:endParaRPr>
            </a:p>
          </p:txBody>
        </p:sp>
      </p:grpSp>
      <p:grpSp>
        <p:nvGrpSpPr>
          <p:cNvPr id="77" name="Tile RIÑÓN"/>
          <p:cNvGrpSpPr/>
          <p:nvPr/>
        </p:nvGrpSpPr>
        <p:grpSpPr>
          <a:xfrm>
            <a:off x="9061704" y="2944368"/>
            <a:ext cx="2788920" cy="1828800"/>
            <a:chOff x="9061704" y="2944368"/>
            <a:chExt cx="2788920" cy="1828800"/>
          </a:xfrm>
        </p:grpSpPr>
        <p:sp>
          <p:nvSpPr>
            <p:cNvPr id="78" name="Forma 77"/>
            <p:cNvSpPr/>
            <p:nvPr/>
          </p:nvSpPr>
          <p:spPr>
            <a:xfrm>
              <a:off x="9061704" y="2944368"/>
              <a:ext cx="2788920" cy="18288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grpSp>
          <p:nvGrpSpPr>
            <p:cNvPr id="79" name="Ícono riñón"/>
            <p:cNvGrpSpPr/>
            <p:nvPr/>
          </p:nvGrpSpPr>
          <p:grpSpPr>
            <a:xfrm>
              <a:off x="9299448" y="3017520"/>
              <a:ext cx="438912" cy="614477"/>
              <a:chOff x="9299448" y="3017520"/>
              <a:chExt cx="438912" cy="614477"/>
            </a:xfrm>
          </p:grpSpPr>
          <p:sp>
            <p:nvSpPr>
              <p:cNvPr id="80" name="Forma 79"/>
              <p:cNvSpPr/>
              <p:nvPr/>
            </p:nvSpPr>
            <p:spPr>
              <a:xfrm>
                <a:off x="9299448" y="3017520"/>
                <a:ext cx="438912" cy="614477"/>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81" name="Forma 80"/>
              <p:cNvSpPr/>
              <p:nvPr/>
            </p:nvSpPr>
            <p:spPr>
              <a:xfrm>
                <a:off x="9299448" y="3017520"/>
                <a:ext cx="438912" cy="614477"/>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82" name="Forma 81"/>
              <p:cNvSpPr/>
              <p:nvPr/>
            </p:nvSpPr>
            <p:spPr>
              <a:xfrm>
                <a:off x="9299448" y="3017520"/>
                <a:ext cx="438912" cy="614477"/>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83" name="Forma 82"/>
              <p:cNvSpPr/>
              <p:nvPr/>
            </p:nvSpPr>
            <p:spPr>
              <a:xfrm>
                <a:off x="9299448" y="3017520"/>
                <a:ext cx="438912" cy="614477"/>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84" name="Forma 83"/>
            <p:cNvSpPr txBox="1"/>
            <p:nvPr/>
          </p:nvSpPr>
          <p:spPr>
            <a:xfrm>
              <a:off x="10021824" y="3035808"/>
              <a:ext cx="1737360" cy="731520"/>
            </a:xfrm>
            <a:prstGeom prst="rect">
              <a:avLst/>
            </a:prstGeom>
            <a:noFill/>
            <a:ln>
              <a:noFill/>
            </a:ln>
          </p:spPr>
          <p:txBody>
            <a:bodyPr wrap="square" lIns="0" tIns="0" rIns="0" bIns="0" anchor="ctr" rtlCol="0">
              <a:noAutofit/>
            </a:bodyPr>
            <a:lstStyle/>
            <a:p>
              <a:pPr algn="l">
                <a:spcAft>
                  <a:spcPts val="3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RIÑÓN</a:t>
              </a:r>
              <a:endParaRPr lang="es-AR" sz="1550" dirty="0">
                <a:latin typeface="Bahnschrift SemiBold Condensed"/>
              </a:endParaRPr>
            </a:p>
          </p:txBody>
        </p:sp>
        <p:sp>
          <p:nvSpPr>
            <p:cNvPr id="85" name="Forma 84"/>
            <p:cNvSpPr txBox="1"/>
            <p:nvPr/>
          </p:nvSpPr>
          <p:spPr>
            <a:xfrm>
              <a:off x="9198864" y="3904488"/>
              <a:ext cx="2514600" cy="777240"/>
            </a:xfrm>
            <a:prstGeom prst="rect">
              <a:avLst/>
            </a:prstGeom>
            <a:noFill/>
            <a:ln>
              <a:noFill/>
            </a:ln>
          </p:spPr>
          <p:txBody>
            <a:bodyPr wrap="square" lIns="0" tIns="0" rIns="0" bIns="0"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Agua, nitrógeno, glucosa y ácido–base</a:t>
              </a:r>
              <a:endParaRPr lang="es-AR" sz="1350" dirty="0">
                <a:latin typeface="Bahnschrift"/>
              </a:endParaRPr>
            </a:p>
          </p:txBody>
        </p:sp>
      </p:grpSp>
      <p:sp>
        <p:nvSpPr>
          <p:cNvPr id="86" name="Forma 85"/>
          <p:cNvSpPr/>
          <p:nvPr/>
        </p:nvSpPr>
        <p:spPr>
          <a:xfrm>
            <a:off x="365760" y="4937760"/>
            <a:ext cx="11430000" cy="15544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Control dinámico</a:t>
            </a:r>
            <a:r>
              <a:rPr lang="es-AR" sz="1650" dirty="0">
                <a:solidFill>
                  <a:srgbClr val="1E1E1E"/>
                </a:solidFill>
                <a:latin typeface="Bahnschrift"/>
                <a:ea typeface="Bahnschrift"/>
                <a:cs typeface="Bahnschrift"/>
                <a:sym typeface="Bahnschrift"/>
              </a:rPr>
              <a:t>: al reducirse las reservas ↓ leptina y a menudo ↓ T3 y actividad simpática, ↑ impulso alimentario y ↓ gasto relativo → </a:t>
            </a:r>
            <a:r>
              <a:rPr lang="es-AR" sz="1650" b="1" dirty="0">
                <a:solidFill>
                  <a:srgbClr val="1E1E1E"/>
                </a:solidFill>
                <a:latin typeface="Bahnschrift"/>
                <a:ea typeface="Bahnschrift"/>
                <a:cs typeface="Bahnschrift"/>
                <a:sym typeface="Bahnschrift"/>
              </a:rPr>
              <a:t>se opone</a:t>
            </a:r>
            <a:r>
              <a:rPr lang="es-AR" sz="1650" dirty="0">
                <a:solidFill>
                  <a:srgbClr val="1E1E1E"/>
                </a:solidFill>
                <a:latin typeface="Bahnschrift"/>
                <a:ea typeface="Bahnschrift"/>
                <a:cs typeface="Bahnschrift"/>
                <a:sym typeface="Bahnschrift"/>
              </a:rPr>
              <a:t> al descenso sostenido de peso. Con sobrealimentación ↑ la termogénesis en grado variable, sin compensar siempre el exceso. </a:t>
            </a:r>
            <a:r>
              <a:rPr lang="es-AR" sz="1650" b="1" dirty="0">
                <a:solidFill>
                  <a:srgbClr val="1E1E1E"/>
                </a:solidFill>
                <a:latin typeface="Bahnschrift"/>
                <a:ea typeface="Bahnschrift"/>
                <a:cs typeface="Bahnschrift"/>
                <a:sym typeface="Bahnschrift"/>
              </a:rPr>
              <a:t>El peso es resultado de redes, no de una sola hormona.</a:t>
            </a:r>
            <a:endParaRPr lang="es-AR" sz="165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06648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33 · ÓRGANOS Y SEÑALES DEL BALANCE ENERGÉTICO</a:t>
            </a:r>
            <a:endParaRPr lang="es-AR" sz="2600" dirty="0">
              <a:latin typeface="Bahnschrift SemiBold Condensed"/>
            </a:endParaRPr>
          </a:p>
        </p:txBody>
      </p:sp>
      <p:sp>
        <p:nvSpPr>
          <p:cNvPr id="8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fade">
                                      <p:cBhvr>
                                        <p:cTn id="20" dur="500"/>
                                        <p:tgtEl>
                                          <p:spTgt spid="3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fade">
                                      <p:cBhvr>
                                        <p:cTn id="30" dur="500"/>
                                        <p:tgtEl>
                                          <p:spTgt spid="53"/>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fade">
                                      <p:cBhvr>
                                        <p:cTn id="35" dur="500"/>
                                        <p:tgtEl>
                                          <p:spTgt spid="72"/>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7"/>
                                        </p:tgtEl>
                                        <p:attrNameLst>
                                          <p:attrName>style.visibility</p:attrName>
                                        </p:attrNameLst>
                                      </p:cBhvr>
                                      <p:to>
                                        <p:strVal val="visible"/>
                                      </p:to>
                                    </p:set>
                                    <p:animEffect transition="in" filter="fade">
                                      <p:cBhvr>
                                        <p:cTn id="40" dur="500"/>
                                        <p:tgtEl>
                                          <p:spTgt spid="77"/>
                                        </p:tgtEl>
                                      </p:cBhvr>
                                    </p:animEffect>
                                  </p:childTnLst>
                                </p:cTn>
                              </p:par>
                            </p:childTnLst>
                          </p:cTn>
                        </p:par>
                      </p:childTnLst>
                    </p:cTn>
                  </p:par>
                  <p:par>
                    <p:cTn id="47" fill="hold">
                      <p:stCondLst>
                        <p:cond delay="indefinite"/>
                      </p:stCondLst>
                      <p:childTnLst>
                        <p:par>
                          <p:cTn id="46"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86"/>
                                        </p:tgtEl>
                                        <p:attrNameLst>
                                          <p:attrName>style.visibility</p:attrName>
                                        </p:attrNameLst>
                                      </p:cBhvr>
                                      <p:to>
                                        <p:strVal val="visible"/>
                                      </p:to>
                                    </p:set>
                                    <p:animEffect transition="in" filter="fade">
                                      <p:cBhvr>
                                        <p:cTn id="45"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Lst>
  </p:timing>
</p:sld>
</file>

<file path=ppt/slides/slide162.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Hipotálamo"/>
          <p:cNvSpPr/>
          <p:nvPr/>
        </p:nvSpPr>
        <p:spPr>
          <a:xfrm>
            <a:off x="365760" y="1005840"/>
            <a:ext cx="6949440" cy="5486400"/>
          </a:xfrm>
          <a:prstGeom prst="roundRect">
            <a:avLst>
              <a:gd name="adj" fmla="val 10000"/>
            </a:avLst>
          </a:prstGeom>
          <a:solidFill>
            <a:srgbClr val="E8DAEF">
              <a:alpha val="80000"/>
            </a:srgbClr>
          </a:solidFill>
          <a:ln w="25400" cap="rnd">
            <a:solidFill>
              <a:srgbClr val="6C3483"/>
            </a:solidFill>
            <a:round/>
          </a:ln>
        </p:spPr>
      </p:sp>
      <p:sp>
        <p:nvSpPr>
          <p:cNvPr id="5" name="Forma 4"/>
          <p:cNvSpPr txBox="1"/>
          <p:nvPr/>
        </p:nvSpPr>
        <p:spPr>
          <a:xfrm>
            <a:off x="457200" y="105156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4A235A"/>
                </a:solidFill>
                <a:latin typeface="Bahnschrift SemiBold Condensed"/>
                <a:ea typeface="Bahnschrift SemiBold Condensed"/>
                <a:cs typeface="Bahnschrift SemiBold Condensed"/>
                <a:sym typeface="Bahnschrift SemiBold Condensed"/>
              </a:rPr>
              <a:t>HIPOTÁLAMO</a:t>
            </a:r>
            <a:endParaRPr lang="es-AR" sz="1300" dirty="0">
              <a:latin typeface="Bahnschrift SemiBold Condensed"/>
            </a:endParaRPr>
          </a:p>
        </p:txBody>
      </p:sp>
      <p:sp>
        <p:nvSpPr>
          <p:cNvPr id="6" name="AgRP"/>
          <p:cNvSpPr/>
          <p:nvPr/>
        </p:nvSpPr>
        <p:spPr>
          <a:xfrm>
            <a:off x="914400" y="4023360"/>
            <a:ext cx="2011680" cy="1005840"/>
          </a:xfrm>
          <a:prstGeom prst="ellipse">
            <a:avLst/>
          </a:prstGeom>
          <a:gradFill rotWithShape="1">
            <a:gsLst>
              <a:gs pos="0">
                <a:srgbClr val="EF8A80"/>
              </a:gs>
              <a:gs pos="55000">
                <a:srgbClr val="E74C3C"/>
              </a:gs>
              <a:gs pos="100000">
                <a:srgbClr val="AD392D"/>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250" b="1" dirty="0">
                <a:solidFill>
                  <a:srgbClr val="FFFFFF"/>
                </a:solidFill>
                <a:latin typeface="Bahnschrift SemiBold Condensed"/>
                <a:ea typeface="Bahnschrift SemiBold Condensed"/>
                <a:cs typeface="Bahnschrift SemiBold Condensed"/>
                <a:sym typeface="Bahnschrift SemiBold Condensed"/>
              </a:rPr>
              <a:t>NPY / AgRP</a:t>
            </a:r>
            <a:endParaRPr lang="es-AR" sz="1250" dirty="0">
              <a:latin typeface="Bahnschrift SemiBold Condensed"/>
            </a:endParaRPr>
          </a:p>
          <a:p>
            <a:pPr algn="ctr">
              <a:spcAft>
                <a:spcPts val="300"/>
              </a:spcAft>
              <a:buNone/>
            </a:pPr>
            <a:r>
              <a:rPr lang="es-AR" sz="1250" b="1" dirty="0">
                <a:solidFill>
                  <a:srgbClr val="FFFFFF"/>
                </a:solidFill>
                <a:latin typeface="Bahnschrift SemiBold Condensed"/>
                <a:ea typeface="Bahnschrift SemiBold Condensed"/>
                <a:cs typeface="Bahnschrift SemiBold Condensed"/>
                <a:sym typeface="Bahnschrift SemiBold Condensed"/>
              </a:rPr>
              <a:t>(orexigénica)</a:t>
            </a:r>
            <a:endParaRPr lang="es-AR" sz="1250" dirty="0">
              <a:latin typeface="Bahnschrift SemiBold Condensed"/>
            </a:endParaRPr>
          </a:p>
        </p:txBody>
      </p:sp>
      <p:sp>
        <p:nvSpPr>
          <p:cNvPr id="7" name="POMC"/>
          <p:cNvSpPr/>
          <p:nvPr/>
        </p:nvSpPr>
        <p:spPr>
          <a:xfrm>
            <a:off x="4480560" y="4023360"/>
            <a:ext cx="2011680" cy="1005840"/>
          </a:xfrm>
          <a:prstGeom prst="ellipse">
            <a:avLst/>
          </a:prstGeom>
          <a:gradFill rotWithShape="1">
            <a:gsLst>
              <a:gs pos="0">
                <a:srgbClr val="72CA97"/>
              </a:gs>
              <a:gs pos="55000">
                <a:srgbClr val="27AE60"/>
              </a:gs>
              <a:gs pos="100000">
                <a:srgbClr val="1D8248"/>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250" b="1" dirty="0">
                <a:solidFill>
                  <a:srgbClr val="FFFFFF"/>
                </a:solidFill>
                <a:latin typeface="Bahnschrift SemiBold Condensed"/>
                <a:ea typeface="Bahnschrift SemiBold Condensed"/>
                <a:cs typeface="Bahnschrift SemiBold Condensed"/>
                <a:sym typeface="Bahnschrift SemiBold Condensed"/>
              </a:rPr>
              <a:t>POMC / CART</a:t>
            </a:r>
            <a:endParaRPr lang="es-AR" sz="1250" dirty="0">
              <a:latin typeface="Bahnschrift SemiBold Condensed"/>
            </a:endParaRPr>
          </a:p>
          <a:p>
            <a:pPr algn="ctr">
              <a:spcAft>
                <a:spcPts val="300"/>
              </a:spcAft>
              <a:buNone/>
            </a:pPr>
            <a:r>
              <a:rPr lang="es-AR" sz="1250" b="1" dirty="0">
                <a:solidFill>
                  <a:srgbClr val="FFFFFF"/>
                </a:solidFill>
                <a:latin typeface="Bahnschrift SemiBold Condensed"/>
                <a:ea typeface="Bahnschrift SemiBold Condensed"/>
                <a:cs typeface="Bahnschrift SemiBold Condensed"/>
                <a:sym typeface="Bahnschrift SemiBold Condensed"/>
              </a:rPr>
              <a:t>(anorexigénica)</a:t>
            </a:r>
            <a:endParaRPr lang="es-AR" sz="1250" dirty="0">
              <a:latin typeface="Bahnschrift SemiBold Condensed"/>
            </a:endParaRPr>
          </a:p>
        </p:txBody>
      </p:sp>
      <p:sp>
        <p:nvSpPr>
          <p:cNvPr id="8" name="Forma 7"/>
          <p:cNvSpPr txBox="1"/>
          <p:nvPr/>
        </p:nvSpPr>
        <p:spPr>
          <a:xfrm>
            <a:off x="914400" y="5120640"/>
            <a:ext cx="5577840" cy="320040"/>
          </a:xfrm>
          <a:prstGeom prst="rect">
            <a:avLst/>
          </a:prstGeom>
          <a:noFill/>
          <a:ln>
            <a:noFill/>
          </a:ln>
        </p:spPr>
        <p:txBody>
          <a:bodyPr wrap="square" lIns="0" tIns="0" rIns="0" bIns="0" anchor="t" rtlCol="0">
            <a:noAutofit/>
          </a:bodyPr>
          <a:lstStyle/>
          <a:p>
            <a:pPr algn="ctr">
              <a:spcAft>
                <a:spcPts val="300"/>
              </a:spcAft>
              <a:buNone/>
            </a:pPr>
            <a:r>
              <a:rPr lang="es-AR" sz="1300" b="1" dirty="0">
                <a:solidFill>
                  <a:srgbClr val="4A235A"/>
                </a:solidFill>
                <a:latin typeface="Bahnschrift SemiBold Condensed"/>
                <a:ea typeface="Bahnschrift SemiBold Condensed"/>
                <a:cs typeface="Bahnschrift SemiBold Condensed"/>
                <a:sym typeface="Bahnschrift SemiBold Condensed"/>
              </a:rPr>
              <a:t>NÚCLEO ARCUATO (ARC)</a:t>
            </a:r>
            <a:endParaRPr lang="es-AR" sz="1300" dirty="0">
              <a:latin typeface="Bahnschrift SemiBold Condensed"/>
            </a:endParaRPr>
          </a:p>
        </p:txBody>
      </p:sp>
      <p:sp>
        <p:nvSpPr>
          <p:cNvPr id="9" name="PVN"/>
          <p:cNvSpPr/>
          <p:nvPr/>
        </p:nvSpPr>
        <p:spPr>
          <a:xfrm>
            <a:off x="2651760" y="1554480"/>
            <a:ext cx="2194560" cy="1005840"/>
          </a:xfrm>
          <a:prstGeom prst="ellipse">
            <a:avLst/>
          </a:prstGeom>
          <a:gradFill rotWithShape="1">
            <a:gsLst>
              <a:gs pos="0">
                <a:srgbClr val="AFD6F0"/>
              </a:gs>
              <a:gs pos="55000">
                <a:srgbClr val="85C1E9"/>
              </a:gs>
              <a:gs pos="100000">
                <a:srgbClr val="6390AE"/>
              </a:gs>
            </a:gsLst>
            <a:path path="circle">
              <a:fillToRect l="32000" t="28000" r="68000" b="72000"/>
            </a:path>
          </a:gra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PVN</a:t>
            </a:r>
            <a:endParaRPr lang="es-AR" sz="1300" dirty="0">
              <a:latin typeface="Bahnschrift SemiBold Condensed"/>
            </a:endParaRPr>
          </a:p>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(MC4R)</a:t>
            </a:r>
            <a:endParaRPr lang="es-AR" sz="1300" dirty="0">
              <a:latin typeface="Bahnschrift SemiBold Condensed"/>
            </a:endParaRPr>
          </a:p>
        </p:txBody>
      </p:sp>
      <p:sp>
        <p:nvSpPr>
          <p:cNvPr id="10" name="Flecha 9_2"/>
          <p:cNvSpPr/>
          <p:nvPr/>
        </p:nvSpPr>
        <p:spPr>
          <a:xfrm>
            <a:off x="4480560" y="2606040"/>
            <a:ext cx="1005840" cy="1399032"/>
          </a:xfrm>
          <a:custGeom>
            <a:avLst/>
            <a:gdLst/>
            <a:ahLst/>
            <a:cxnLst/>
            <a:rect l="0" t="0" r="r" b="b"/>
            <a:pathLst>
              <a:path w="1099" h="1529" fill="none">
                <a:moveTo>
                  <a:pt x="1099" y="1529"/>
                </a:moveTo>
                <a:lnTo>
                  <a:pt x="0" y="0"/>
                </a:lnTo>
              </a:path>
            </a:pathLst>
          </a:custGeom>
          <a:noFill/>
          <a:ln w="44450" cap="rnd">
            <a:solidFill>
              <a:srgbClr val="1E8C3A"/>
            </a:solidFill>
            <a:round/>
            <a:tailEnd type="triangle" w="med" len="med"/>
          </a:ln>
        </p:spPr>
      </p:sp>
      <p:sp>
        <p:nvSpPr>
          <p:cNvPr id="11" name="aMSH"/>
          <p:cNvSpPr txBox="1"/>
          <p:nvPr/>
        </p:nvSpPr>
        <p:spPr>
          <a:xfrm>
            <a:off x="5120640" y="3108960"/>
            <a:ext cx="146304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1E8C3A"/>
                </a:solidFill>
                <a:latin typeface="Bahnschrift SemiBold Condensed"/>
                <a:ea typeface="Bahnschrift SemiBold Condensed"/>
                <a:cs typeface="Bahnschrift SemiBold Condensed"/>
                <a:sym typeface="Bahnschrift SemiBold Condensed"/>
              </a:rPr>
              <a:t>α-MSH</a:t>
            </a:r>
            <a:endParaRPr lang="es-AR" sz="1300" dirty="0">
              <a:latin typeface="Bahnschrift SemiBold Condensed"/>
            </a:endParaRPr>
          </a:p>
        </p:txBody>
      </p:sp>
      <p:grpSp>
        <p:nvGrpSpPr>
          <p:cNvPr id="12" name="Inhibición"/>
          <p:cNvGrpSpPr/>
          <p:nvPr/>
        </p:nvGrpSpPr>
        <p:grpSpPr>
          <a:xfrm>
            <a:off x="1920240" y="2543966"/>
            <a:ext cx="1176425" cy="1461106"/>
            <a:chOff x="1920240" y="2543966"/>
            <a:chExt cx="1176425" cy="1461106"/>
          </a:xfrm>
        </p:grpSpPr>
        <p:sp>
          <p:nvSpPr>
            <p:cNvPr id="13" name="Flecha 13_2"/>
            <p:cNvSpPr/>
            <p:nvPr/>
          </p:nvSpPr>
          <p:spPr>
            <a:xfrm>
              <a:off x="1920240" y="2606040"/>
              <a:ext cx="1097280" cy="1399032"/>
            </a:xfrm>
            <a:custGeom>
              <a:avLst/>
              <a:gdLst/>
              <a:ahLst/>
              <a:cxnLst/>
              <a:rect l="0" t="0" r="r" b="b"/>
              <a:pathLst>
                <a:path w="1199" h="1529" fill="none">
                  <a:moveTo>
                    <a:pt x="0" y="1529"/>
                  </a:moveTo>
                  <a:lnTo>
                    <a:pt x="1199" y="0"/>
                  </a:lnTo>
                </a:path>
              </a:pathLst>
            </a:custGeom>
            <a:noFill/>
            <a:ln w="44450" cap="rnd">
              <a:solidFill>
                <a:srgbClr val="C00000"/>
              </a:solidFill>
              <a:round/>
            </a:ln>
          </p:spPr>
        </p:sp>
        <p:sp>
          <p:nvSpPr>
            <p:cNvPr id="14" name="Flecha 15_2"/>
            <p:cNvSpPr/>
            <p:nvPr/>
          </p:nvSpPr>
          <p:spPr>
            <a:xfrm>
              <a:off x="2938375" y="2543966"/>
              <a:ext cx="158290" cy="124149"/>
            </a:xfrm>
            <a:custGeom>
              <a:avLst/>
              <a:gdLst/>
              <a:ahLst/>
              <a:cxnLst/>
              <a:rect l="0" t="0" r="r" b="b"/>
              <a:pathLst>
                <a:path w="173" h="135" fill="none">
                  <a:moveTo>
                    <a:pt x="0" y="0"/>
                  </a:moveTo>
                  <a:lnTo>
                    <a:pt x="173" y="135"/>
                  </a:lnTo>
                </a:path>
              </a:pathLst>
            </a:custGeom>
            <a:noFill/>
            <a:ln w="71120" cap="rnd">
              <a:solidFill>
                <a:srgbClr val="C00000"/>
              </a:solidFill>
              <a:round/>
            </a:ln>
          </p:spPr>
        </p:sp>
      </p:grpSp>
      <p:sp>
        <p:nvSpPr>
          <p:cNvPr id="15" name="AgRPtxt"/>
          <p:cNvSpPr txBox="1"/>
          <p:nvPr/>
        </p:nvSpPr>
        <p:spPr>
          <a:xfrm>
            <a:off x="822960" y="3108960"/>
            <a:ext cx="1645920" cy="320040"/>
          </a:xfrm>
          <a:prstGeom prst="rect">
            <a:avLst/>
          </a:prstGeom>
          <a:noFill/>
          <a:ln>
            <a:noFill/>
          </a:ln>
        </p:spPr>
        <p:txBody>
          <a:bodyPr wrap="square" lIns="0" tIns="0" rIns="0" bIns="0" anchor="t" rtlCol="0">
            <a:noAutofit/>
          </a:bodyPr>
          <a:lstStyle/>
          <a:p>
            <a:pPr algn="r">
              <a:spcAft>
                <a:spcPts val="300"/>
              </a:spcAft>
              <a:buNone/>
            </a:pPr>
            <a:r>
              <a:rPr lang="es-AR" sz="1250" b="1" dirty="0">
                <a:solidFill>
                  <a:srgbClr val="C00000"/>
                </a:solidFill>
                <a:latin typeface="Bahnschrift SemiBold Condensed"/>
                <a:ea typeface="Bahnschrift SemiBold Condensed"/>
                <a:cs typeface="Bahnschrift SemiBold Condensed"/>
                <a:sym typeface="Bahnschrift SemiBold Condensed"/>
              </a:rPr>
              <a:t>AgRP (antagoniza)</a:t>
            </a:r>
            <a:endParaRPr lang="es-AR" sz="1250" dirty="0">
              <a:latin typeface="Bahnschrift SemiBold Condensed"/>
            </a:endParaRPr>
          </a:p>
        </p:txBody>
      </p:sp>
      <p:grpSp>
        <p:nvGrpSpPr>
          <p:cNvPr id="16" name="AgRP inhibe POMC"/>
          <p:cNvGrpSpPr/>
          <p:nvPr/>
        </p:nvGrpSpPr>
        <p:grpSpPr>
          <a:xfrm>
            <a:off x="2971800" y="4425696"/>
            <a:ext cx="1472184" cy="201168"/>
            <a:chOff x="2971800" y="4425696"/>
            <a:chExt cx="1472184" cy="201168"/>
          </a:xfrm>
        </p:grpSpPr>
        <p:sp>
          <p:nvSpPr>
            <p:cNvPr id="17" name="Flecha 19_2"/>
            <p:cNvSpPr/>
            <p:nvPr/>
          </p:nvSpPr>
          <p:spPr>
            <a:xfrm>
              <a:off x="2971800" y="4526280"/>
              <a:ext cx="1463040" cy="9144"/>
            </a:xfrm>
            <a:custGeom>
              <a:avLst/>
              <a:gdLst/>
              <a:ahLst/>
              <a:cxnLst/>
              <a:rect l="0" t="0" r="r" b="b"/>
              <a:pathLst>
                <a:path w="1599" h="10" fill="none">
                  <a:moveTo>
                    <a:pt x="0" y="0"/>
                  </a:moveTo>
                  <a:lnTo>
                    <a:pt x="1599" y="0"/>
                  </a:lnTo>
                </a:path>
              </a:pathLst>
            </a:custGeom>
            <a:noFill/>
            <a:ln w="38100" cap="rnd">
              <a:solidFill>
                <a:srgbClr val="C00000"/>
              </a:solidFill>
              <a:round/>
            </a:ln>
          </p:spPr>
        </p:sp>
        <p:sp>
          <p:nvSpPr>
            <p:cNvPr id="18" name="Flecha 21_2"/>
            <p:cNvSpPr/>
            <p:nvPr/>
          </p:nvSpPr>
          <p:spPr>
            <a:xfrm>
              <a:off x="4434840" y="4425696"/>
              <a:ext cx="9144" cy="201168"/>
            </a:xfrm>
            <a:custGeom>
              <a:avLst/>
              <a:gdLst/>
              <a:ahLst/>
              <a:cxnLst/>
              <a:rect l="0" t="0" r="r" b="b"/>
              <a:pathLst>
                <a:path w="10" h="220" fill="none">
                  <a:moveTo>
                    <a:pt x="0" y="0"/>
                  </a:moveTo>
                  <a:lnTo>
                    <a:pt x="0" y="220"/>
                  </a:lnTo>
                </a:path>
              </a:pathLst>
            </a:custGeom>
            <a:noFill/>
            <a:ln w="60960" cap="rnd">
              <a:solidFill>
                <a:srgbClr val="C00000"/>
              </a:solidFill>
              <a:round/>
            </a:ln>
          </p:spPr>
        </p:sp>
      </p:grpSp>
      <p:sp>
        <p:nvSpPr>
          <p:cNvPr id="19" name="Leptina"/>
          <p:cNvSpPr/>
          <p:nvPr/>
        </p:nvSpPr>
        <p:spPr>
          <a:xfrm>
            <a:off x="3657600" y="5715000"/>
            <a:ext cx="1051560" cy="457200"/>
          </a:xfrm>
          <a:prstGeom prst="roundRect">
            <a:avLst>
              <a:gd name="adj" fmla="val 50000"/>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Leptina</a:t>
            </a:r>
            <a:endParaRPr lang="es-AR" sz="1150" dirty="0">
              <a:latin typeface="Bahnschrift SemiBold Condensed"/>
            </a:endParaRPr>
          </a:p>
        </p:txBody>
      </p:sp>
      <p:sp>
        <p:nvSpPr>
          <p:cNvPr id="20" name="Insulina"/>
          <p:cNvSpPr/>
          <p:nvPr/>
        </p:nvSpPr>
        <p:spPr>
          <a:xfrm>
            <a:off x="4937760" y="5715000"/>
            <a:ext cx="1051560" cy="457200"/>
          </a:xfrm>
          <a:prstGeom prst="roundRect">
            <a:avLst>
              <a:gd name="adj" fmla="val 50000"/>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150" b="1" dirty="0">
                <a:solidFill>
                  <a:srgbClr val="FFFFFF"/>
                </a:solidFill>
                <a:latin typeface="Bahnschrift SemiBold Condensed"/>
                <a:ea typeface="Bahnschrift SemiBold Condensed"/>
                <a:cs typeface="Bahnschrift SemiBold Condensed"/>
                <a:sym typeface="Bahnschrift SemiBold Condensed"/>
              </a:rPr>
              <a:t>Insulina</a:t>
            </a:r>
            <a:endParaRPr lang="es-AR" sz="1150" dirty="0">
              <a:latin typeface="Bahnschrift SemiBold Condensed"/>
            </a:endParaRPr>
          </a:p>
        </p:txBody>
      </p:sp>
      <p:sp>
        <p:nvSpPr>
          <p:cNvPr id="21" name="Grelina"/>
          <p:cNvSpPr/>
          <p:nvPr/>
        </p:nvSpPr>
        <p:spPr>
          <a:xfrm>
            <a:off x="731520" y="5715000"/>
            <a:ext cx="1051560" cy="457200"/>
          </a:xfrm>
          <a:prstGeom prst="roundRect">
            <a:avLst>
              <a:gd name="adj" fmla="val 50000"/>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150" b="1" dirty="0">
                <a:solidFill>
                  <a:srgbClr val="FFFFFF"/>
                </a:solidFill>
                <a:latin typeface="Bahnschrift SemiBold Condensed"/>
                <a:ea typeface="Bahnschrift SemiBold Condensed"/>
                <a:cs typeface="Bahnschrift SemiBold Condensed"/>
                <a:sym typeface="Bahnschrift SemiBold Condensed"/>
              </a:rPr>
              <a:t>Grelina</a:t>
            </a:r>
            <a:endParaRPr lang="es-AR" sz="1150" dirty="0">
              <a:latin typeface="Bahnschrift SemiBold Condensed"/>
            </a:endParaRPr>
          </a:p>
        </p:txBody>
      </p:sp>
      <p:sp>
        <p:nvSpPr>
          <p:cNvPr id="22" name="PYY"/>
          <p:cNvSpPr/>
          <p:nvPr/>
        </p:nvSpPr>
        <p:spPr>
          <a:xfrm>
            <a:off x="1965960" y="5715000"/>
            <a:ext cx="1097280" cy="457200"/>
          </a:xfrm>
          <a:prstGeom prst="roundRect">
            <a:avLst>
              <a:gd name="adj" fmla="val 50000"/>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150" b="1" dirty="0">
                <a:solidFill>
                  <a:srgbClr val="FFFFFF"/>
                </a:solidFill>
                <a:latin typeface="Bahnschrift SemiBold Condensed"/>
                <a:ea typeface="Bahnschrift SemiBold Condensed"/>
                <a:cs typeface="Bahnschrift SemiBold Condensed"/>
                <a:sym typeface="Bahnschrift SemiBold Condensed"/>
              </a:rPr>
              <a:t>PYY</a:t>
            </a:r>
            <a:r>
              <a:rPr lang="es-AR" sz="1150" b="1" baseline="-25000" dirty="0">
                <a:solidFill>
                  <a:srgbClr val="FFFFFF"/>
                </a:solidFill>
                <a:latin typeface="Bahnschrift SemiBold Condensed"/>
                <a:ea typeface="Bahnschrift SemiBold Condensed"/>
                <a:cs typeface="Bahnschrift SemiBold Condensed"/>
                <a:sym typeface="Bahnschrift SemiBold Condensed"/>
              </a:rPr>
              <a:t>3-36</a:t>
            </a:r>
            <a:endParaRPr lang="es-AR" sz="1150" dirty="0">
              <a:latin typeface="Bahnschrift SemiBold Condensed"/>
            </a:endParaRPr>
          </a:p>
        </p:txBody>
      </p:sp>
      <p:sp>
        <p:nvSpPr>
          <p:cNvPr id="23" name="Flecha 27_2"/>
          <p:cNvSpPr/>
          <p:nvPr/>
        </p:nvSpPr>
        <p:spPr>
          <a:xfrm>
            <a:off x="4572000" y="5047488"/>
            <a:ext cx="731520" cy="667512"/>
          </a:xfrm>
          <a:custGeom>
            <a:avLst/>
            <a:gdLst/>
            <a:ahLst/>
            <a:cxnLst/>
            <a:rect l="0" t="0" r="r" b="b"/>
            <a:pathLst>
              <a:path w="799" h="730" fill="none">
                <a:moveTo>
                  <a:pt x="0" y="730"/>
                </a:moveTo>
                <a:lnTo>
                  <a:pt x="799" y="0"/>
                </a:lnTo>
              </a:path>
            </a:pathLst>
          </a:custGeom>
          <a:noFill/>
          <a:ln w="31750" cap="rnd">
            <a:solidFill>
              <a:srgbClr val="1E8C3A"/>
            </a:solidFill>
            <a:round/>
            <a:tailEnd type="triangle" w="med" len="med"/>
          </a:ln>
        </p:spPr>
      </p:sp>
      <p:grpSp>
        <p:nvGrpSpPr>
          <p:cNvPr id="24" name="Inhibición_2"/>
          <p:cNvGrpSpPr/>
          <p:nvPr/>
        </p:nvGrpSpPr>
        <p:grpSpPr>
          <a:xfrm>
            <a:off x="2427129" y="4955979"/>
            <a:ext cx="1504791" cy="759021"/>
            <a:chOff x="2427129" y="4955979"/>
            <a:chExt cx="1504791" cy="759021"/>
          </a:xfrm>
        </p:grpSpPr>
        <p:sp>
          <p:nvSpPr>
            <p:cNvPr id="25" name="Flecha 30_2"/>
            <p:cNvSpPr/>
            <p:nvPr/>
          </p:nvSpPr>
          <p:spPr>
            <a:xfrm>
              <a:off x="2468880" y="5047488"/>
              <a:ext cx="1463040" cy="667512"/>
            </a:xfrm>
            <a:custGeom>
              <a:avLst/>
              <a:gdLst/>
              <a:ahLst/>
              <a:cxnLst/>
              <a:rect l="0" t="0" r="r" b="b"/>
              <a:pathLst>
                <a:path w="1599" h="730" fill="none">
                  <a:moveTo>
                    <a:pt x="1599" y="730"/>
                  </a:moveTo>
                  <a:lnTo>
                    <a:pt x="0" y="0"/>
                  </a:lnTo>
                </a:path>
              </a:pathLst>
            </a:custGeom>
            <a:noFill/>
            <a:ln w="31750" cap="rnd">
              <a:solidFill>
                <a:srgbClr val="C00000"/>
              </a:solidFill>
              <a:round/>
            </a:ln>
          </p:spPr>
        </p:sp>
        <p:sp>
          <p:nvSpPr>
            <p:cNvPr id="26" name="Flecha 32_2"/>
            <p:cNvSpPr/>
            <p:nvPr/>
          </p:nvSpPr>
          <p:spPr>
            <a:xfrm>
              <a:off x="2427129" y="4955979"/>
              <a:ext cx="83502" cy="183019"/>
            </a:xfrm>
            <a:custGeom>
              <a:avLst/>
              <a:gdLst/>
              <a:ahLst/>
              <a:cxnLst/>
              <a:rect l="0" t="0" r="r" b="b"/>
              <a:pathLst>
                <a:path w="91" h="200" fill="none">
                  <a:moveTo>
                    <a:pt x="0" y="200"/>
                  </a:moveTo>
                  <a:lnTo>
                    <a:pt x="91" y="0"/>
                  </a:lnTo>
                </a:path>
              </a:pathLst>
            </a:custGeom>
            <a:noFill/>
            <a:ln w="50800" cap="rnd">
              <a:solidFill>
                <a:srgbClr val="C00000"/>
              </a:solidFill>
              <a:round/>
            </a:ln>
          </p:spPr>
        </p:sp>
      </p:grpSp>
      <p:sp>
        <p:nvSpPr>
          <p:cNvPr id="27" name="Flecha 34_2"/>
          <p:cNvSpPr/>
          <p:nvPr/>
        </p:nvSpPr>
        <p:spPr>
          <a:xfrm>
            <a:off x="1280160" y="5047488"/>
            <a:ext cx="274320" cy="667512"/>
          </a:xfrm>
          <a:custGeom>
            <a:avLst/>
            <a:gdLst/>
            <a:ahLst/>
            <a:cxnLst/>
            <a:rect l="0" t="0" r="r" b="b"/>
            <a:pathLst>
              <a:path w="300" h="730" fill="none">
                <a:moveTo>
                  <a:pt x="0" y="730"/>
                </a:moveTo>
                <a:lnTo>
                  <a:pt x="300" y="0"/>
                </a:lnTo>
              </a:path>
            </a:pathLst>
          </a:custGeom>
          <a:noFill/>
          <a:ln w="31750" cap="rnd">
            <a:solidFill>
              <a:srgbClr val="1E8C3A"/>
            </a:solidFill>
            <a:round/>
            <a:tailEnd type="triangle" w="med" len="med"/>
          </a:ln>
        </p:spPr>
      </p:sp>
      <p:grpSp>
        <p:nvGrpSpPr>
          <p:cNvPr id="28" name="Inhibición_3"/>
          <p:cNvGrpSpPr/>
          <p:nvPr/>
        </p:nvGrpSpPr>
        <p:grpSpPr>
          <a:xfrm>
            <a:off x="2010086" y="5009255"/>
            <a:ext cx="367354" cy="705745"/>
            <a:chOff x="2010086" y="5009255"/>
            <a:chExt cx="367354" cy="705745"/>
          </a:xfrm>
        </p:grpSpPr>
        <p:sp>
          <p:nvSpPr>
            <p:cNvPr id="29" name="Flecha 37_2"/>
            <p:cNvSpPr/>
            <p:nvPr/>
          </p:nvSpPr>
          <p:spPr>
            <a:xfrm>
              <a:off x="2103120" y="5047488"/>
              <a:ext cx="274320" cy="667512"/>
            </a:xfrm>
            <a:custGeom>
              <a:avLst/>
              <a:gdLst/>
              <a:ahLst/>
              <a:cxnLst/>
              <a:rect l="0" t="0" r="r" b="b"/>
              <a:pathLst>
                <a:path w="300" h="730" fill="none">
                  <a:moveTo>
                    <a:pt x="300" y="730"/>
                  </a:moveTo>
                  <a:lnTo>
                    <a:pt x="0" y="0"/>
                  </a:lnTo>
                </a:path>
              </a:pathLst>
            </a:custGeom>
            <a:noFill/>
            <a:ln w="31750" cap="rnd">
              <a:solidFill>
                <a:srgbClr val="C00000"/>
              </a:solidFill>
              <a:round/>
            </a:ln>
          </p:spPr>
        </p:sp>
        <p:sp>
          <p:nvSpPr>
            <p:cNvPr id="30" name="Flecha 39_2"/>
            <p:cNvSpPr/>
            <p:nvPr/>
          </p:nvSpPr>
          <p:spPr>
            <a:xfrm>
              <a:off x="2010086" y="5009255"/>
              <a:ext cx="186068" cy="76466"/>
            </a:xfrm>
            <a:custGeom>
              <a:avLst/>
              <a:gdLst/>
              <a:ahLst/>
              <a:cxnLst/>
              <a:rect l="0" t="0" r="r" b="b"/>
              <a:pathLst>
                <a:path w="203" h="83" fill="none">
                  <a:moveTo>
                    <a:pt x="0" y="83"/>
                  </a:moveTo>
                  <a:lnTo>
                    <a:pt x="203" y="0"/>
                  </a:lnTo>
                </a:path>
              </a:pathLst>
            </a:custGeom>
            <a:noFill/>
            <a:ln w="50800" cap="rnd">
              <a:solidFill>
                <a:srgbClr val="C00000"/>
              </a:solidFill>
              <a:round/>
            </a:ln>
          </p:spPr>
        </p:sp>
      </p:grpSp>
      <p:grpSp>
        <p:nvGrpSpPr>
          <p:cNvPr id="31" name="Recuadro Orexigénicas"/>
          <p:cNvGrpSpPr/>
          <p:nvPr/>
        </p:nvGrpSpPr>
        <p:grpSpPr>
          <a:xfrm>
            <a:off x="7589520" y="1005840"/>
            <a:ext cx="4206240" cy="2286000"/>
            <a:chOff x="7589520" y="1005840"/>
            <a:chExt cx="4206240" cy="2286000"/>
          </a:xfrm>
        </p:grpSpPr>
        <p:sp>
          <p:nvSpPr>
            <p:cNvPr id="32" name="Forma 42"/>
            <p:cNvSpPr/>
            <p:nvPr/>
          </p:nvSpPr>
          <p:spPr>
            <a:xfrm>
              <a:off x="7589520" y="1188720"/>
              <a:ext cx="4206240" cy="2103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NPY/AgRP</a:t>
              </a:r>
              <a:r>
                <a:rPr lang="es-AR" sz="1600" dirty="0">
                  <a:solidFill>
                    <a:srgbClr val="1E1E1E"/>
                  </a:solidFill>
                  <a:latin typeface="Bahnschrift"/>
                  <a:ea typeface="Bahnschrift"/>
                  <a:cs typeface="Bahnschrift"/>
                  <a:sym typeface="Bahnschrift"/>
                </a:rPr>
                <a:t> favorecen la ingesta: AgRP antagoniza/invierte el tono de </a:t>
              </a:r>
              <a:r>
                <a:rPr lang="es-AR" sz="1600" b="1" dirty="0">
                  <a:solidFill>
                    <a:srgbClr val="1E1E1E"/>
                  </a:solidFill>
                  <a:latin typeface="Bahnschrift"/>
                  <a:ea typeface="Bahnschrift"/>
                  <a:cs typeface="Bahnschrift"/>
                  <a:sym typeface="Bahnschrift"/>
                </a:rPr>
                <a:t>MC3R/MC4R</a:t>
              </a:r>
              <a:r>
                <a:rPr lang="es-AR" sz="1600" dirty="0">
                  <a:solidFill>
                    <a:srgbClr val="1E1E1E"/>
                  </a:solidFill>
                  <a:latin typeface="Bahnschrift"/>
                  <a:ea typeface="Bahnschrift"/>
                  <a:cs typeface="Bahnschrift"/>
                  <a:sym typeface="Bahnschrift"/>
                </a:rPr>
                <a:t>; NPY actúa en receptores </a:t>
              </a:r>
              <a:r>
                <a:rPr lang="es-AR" sz="1600" b="1" dirty="0">
                  <a:solidFill>
                    <a:srgbClr val="1E1E1E"/>
                  </a:solidFill>
                  <a:latin typeface="Bahnschrift"/>
                  <a:ea typeface="Bahnschrift"/>
                  <a:cs typeface="Bahnschrift"/>
                  <a:sym typeface="Bahnschrift"/>
                </a:rPr>
                <a:t>Y</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33" name="Forma 43"/>
            <p:cNvSpPr/>
            <p:nvPr/>
          </p:nvSpPr>
          <p:spPr>
            <a:xfrm>
              <a:off x="7699248" y="1005840"/>
              <a:ext cx="135201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OREXIGÉNICAS</a:t>
              </a:r>
              <a:endParaRPr lang="es-AR" sz="1450" dirty="0">
                <a:latin typeface="Bahnschrift SemiBold Condensed"/>
              </a:endParaRPr>
            </a:p>
          </p:txBody>
        </p:sp>
      </p:grpSp>
      <p:grpSp>
        <p:nvGrpSpPr>
          <p:cNvPr id="34" name="Recuadro Anorexigénicas"/>
          <p:cNvGrpSpPr/>
          <p:nvPr/>
        </p:nvGrpSpPr>
        <p:grpSpPr>
          <a:xfrm>
            <a:off x="7589520" y="3429000"/>
            <a:ext cx="4206240" cy="1783080"/>
            <a:chOff x="7589520" y="3429000"/>
            <a:chExt cx="4206240" cy="1783080"/>
          </a:xfrm>
        </p:grpSpPr>
        <p:sp>
          <p:nvSpPr>
            <p:cNvPr id="35" name="Forma 45"/>
            <p:cNvSpPr/>
            <p:nvPr/>
          </p:nvSpPr>
          <p:spPr>
            <a:xfrm>
              <a:off x="7589520" y="3611880"/>
              <a:ext cx="4206240" cy="16002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POMC/CART</a:t>
              </a:r>
              <a:r>
                <a:rPr lang="es-AR" sz="1600" dirty="0">
                  <a:solidFill>
                    <a:srgbClr val="1E1E1E"/>
                  </a:solidFill>
                  <a:latin typeface="Bahnschrift"/>
                  <a:ea typeface="Bahnschrift"/>
                  <a:cs typeface="Bahnschrift"/>
                  <a:sym typeface="Bahnschrift"/>
                </a:rPr>
                <a:t>: el POMC se procesa a </a:t>
              </a:r>
              <a:r>
                <a:rPr lang="es-AR" sz="1600" b="1" dirty="0">
                  <a:solidFill>
                    <a:srgbClr val="1E1E1E"/>
                  </a:solidFill>
                  <a:latin typeface="Bahnschrift"/>
                  <a:ea typeface="Bahnschrift"/>
                  <a:cs typeface="Bahnschrift"/>
                  <a:sym typeface="Bahnschrift"/>
                </a:rPr>
                <a:t>α-MSH</a:t>
              </a:r>
              <a:r>
                <a:rPr lang="es-AR" sz="1600" dirty="0">
                  <a:solidFill>
                    <a:srgbClr val="1E1E1E"/>
                  </a:solidFill>
                  <a:latin typeface="Bahnschrift"/>
                  <a:ea typeface="Bahnschrift"/>
                  <a:cs typeface="Bahnschrift"/>
                  <a:sym typeface="Bahnschrift"/>
                </a:rPr>
                <a:t>, que activa </a:t>
              </a:r>
              <a:r>
                <a:rPr lang="es-AR" sz="1600" b="1" dirty="0">
                  <a:solidFill>
                    <a:srgbClr val="1E1E1E"/>
                  </a:solidFill>
                  <a:latin typeface="Bahnschrift"/>
                  <a:ea typeface="Bahnschrift"/>
                  <a:cs typeface="Bahnschrift"/>
                  <a:sym typeface="Bahnschrift"/>
                </a:rPr>
                <a:t>MC4R</a:t>
              </a:r>
              <a:r>
                <a:rPr lang="es-AR" sz="1600" dirty="0">
                  <a:solidFill>
                    <a:srgbClr val="1E1E1E"/>
                  </a:solidFill>
                  <a:latin typeface="Bahnschrift"/>
                  <a:ea typeface="Bahnschrift"/>
                  <a:cs typeface="Bahnschrift"/>
                  <a:sym typeface="Bahnschrift"/>
                </a:rPr>
                <a:t> (saciedad y gasto).</a:t>
              </a:r>
              <a:endParaRPr lang="es-AR" sz="1600" dirty="0">
                <a:latin typeface="Bahnschrift"/>
              </a:endParaRPr>
            </a:p>
          </p:txBody>
        </p:sp>
        <p:sp>
          <p:nvSpPr>
            <p:cNvPr id="36" name="Forma 46"/>
            <p:cNvSpPr/>
            <p:nvPr/>
          </p:nvSpPr>
          <p:spPr>
            <a:xfrm>
              <a:off x="7699248" y="3429000"/>
              <a:ext cx="155495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ANOREXIGÉNICAS</a:t>
              </a:r>
              <a:endParaRPr lang="es-AR" sz="1450" dirty="0">
                <a:latin typeface="Bahnschrift SemiBold Condensed"/>
              </a:endParaRPr>
            </a:p>
          </p:txBody>
        </p:sp>
      </p:grpSp>
      <p:sp>
        <p:nvSpPr>
          <p:cNvPr id="37" name="Forma 47"/>
          <p:cNvSpPr/>
          <p:nvPr/>
        </p:nvSpPr>
        <p:spPr>
          <a:xfrm>
            <a:off x="7589520" y="5349240"/>
            <a:ext cx="4206240" cy="11430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b="1" dirty="0">
                <a:solidFill>
                  <a:srgbClr val="1E1E1E"/>
                </a:solidFill>
                <a:latin typeface="Bahnschrift"/>
                <a:ea typeface="Bahnschrift"/>
                <a:cs typeface="Bahnschrift"/>
                <a:sym typeface="Bahnschrift"/>
              </a:rPr>
              <a:t>Leptina e insulina</a:t>
            </a:r>
            <a:r>
              <a:rPr lang="es-AR" sz="1550" dirty="0">
                <a:solidFill>
                  <a:srgbClr val="1E1E1E"/>
                </a:solidFill>
                <a:latin typeface="Bahnschrift"/>
                <a:ea typeface="Bahnschrift"/>
                <a:cs typeface="Bahnschrift"/>
                <a:sym typeface="Bahnschrift"/>
              </a:rPr>
              <a:t>: activan POMC y frenan AgRP (JAK2–STAT3, PI3K).</a:t>
            </a:r>
            <a:endParaRPr lang="es-AR" sz="1550" dirty="0">
              <a:latin typeface="Bahnschrift"/>
            </a:endParaRPr>
          </a:p>
        </p:txBody>
      </p:sp>
      <p:sp>
        <p:nvSpPr>
          <p:cNvPr id="2" name="Etiqueta sección"/>
          <p:cNvSpPr/>
          <p:nvPr/>
        </p:nvSpPr>
        <p:spPr>
          <a:xfrm>
            <a:off x="10225392" y="201168"/>
            <a:ext cx="169198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HIPOTALÁMICO</a:t>
            </a:r>
            <a:endParaRPr lang="es-AR" sz="1300" dirty="0">
              <a:latin typeface="Bahnschrift SemiBold Condensed"/>
            </a:endParaRPr>
          </a:p>
        </p:txBody>
      </p:sp>
      <p:sp>
        <p:nvSpPr>
          <p:cNvPr id="3" name="Título"/>
          <p:cNvSpPr/>
          <p:nvPr/>
        </p:nvSpPr>
        <p:spPr>
          <a:xfrm>
            <a:off x="274320" y="146304"/>
            <a:ext cx="884014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34 · NÚCLEO ARCUATO: DOS POBLACIONES NEURONALES OPUESTAS</a:t>
            </a:r>
            <a:endParaRPr lang="es-AR" sz="26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3" fill="hold">
                      <p:stCondLst>
                        <p:cond delay="indefinite"/>
                      </p:stCondLst>
                      <p:childTnLst>
                        <p:par>
                          <p:cTn id="12"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
                                        </p:tgtEl>
                                        <p:attrNameLst>
                                          <p:attrName>style.visibility</p:attrName>
                                        </p:attrNameLst>
                                      </p:cBhvr>
                                      <p:to>
                                        <p:strVal val="visible"/>
                                      </p:to>
                                    </p:set>
                                    <p:animEffect transition="in" filter="fade">
                                      <p:cBhvr>
                                        <p:cTn id="5" dur="500"/>
                                        <p:tgtEl>
                                          <p:spTgt spid="6"/>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7"/>
                                        </p:tgtEl>
                                        <p:attrNameLst>
                                          <p:attrName>style.visibility</p:attrName>
                                        </p:attrNameLst>
                                      </p:cBhvr>
                                      <p:to>
                                        <p:strVal val="visible"/>
                                      </p:to>
                                    </p:set>
                                    <p:animEffect transition="in" filter="fade">
                                      <p:cBhvr>
                                        <p:cTn id="8" dur="500"/>
                                        <p:tgtEl>
                                          <p:spTgt spid="7"/>
                                        </p:tgtEl>
                                      </p:cBhvr>
                                    </p:animEffect>
                                  </p:childTnLst>
                                </p:cTn>
                              </p:par>
                              <p:par>
                                <p:cTn id="9" presetID="10"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par>
                    <p:cTn id="21" fill="hold">
                      <p:stCondLst>
                        <p:cond delay="indefinite"/>
                      </p:stCondLst>
                      <p:childTnLst>
                        <p:par>
                          <p:cTn id="20"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wipe(down)">
                                      <p:cBhvr>
                                        <p:cTn id="16" dur="6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childTnLst>
                          </p:cTn>
                        </p:par>
                      </p:childTnLst>
                    </p:cTn>
                  </p:par>
                  <p:par>
                    <p:cTn id="32" fill="hold">
                      <p:stCondLst>
                        <p:cond delay="indefinite"/>
                      </p:stCondLst>
                      <p:childTnLst>
                        <p:par>
                          <p:cTn id="3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wipe(down)">
                                      <p:cBhvr>
                                        <p:cTn id="24" dur="600"/>
                                        <p:tgtEl>
                                          <p:spTgt spid="12"/>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600"/>
                                        <p:tgtEl>
                                          <p:spTgt spid="1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childTnLst>
                          </p:cTn>
                        </p:par>
                      </p:childTnLst>
                    </p:cTn>
                  </p:par>
                  <p:par>
                    <p:cTn id="50" fill="hold">
                      <p:stCondLst>
                        <p:cond delay="indefinite"/>
                      </p:stCondLst>
                      <p:childTnLst>
                        <p:par>
                          <p:cTn id="39"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childTnLst>
                          </p:cTn>
                        </p:par>
                        <p:par>
                          <p:cTn id="49" fill="hold">
                            <p:stCondLst>
                              <p:cond delay="500"/>
                            </p:stCondLst>
                            <p:childTnLst>
                              <p:par>
                                <p:cTn id="40" presetID="22" presetClass="entr" presetSubtype="4" fill="hold" grpId="0" nodeType="after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down)">
                                      <p:cBhvr>
                                        <p:cTn id="42" dur="600"/>
                                        <p:tgtEl>
                                          <p:spTgt spid="23"/>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wipe(down)">
                                      <p:cBhvr>
                                        <p:cTn id="45" dur="600"/>
                                        <p:tgtEl>
                                          <p:spTgt spid="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fade">
                                      <p:cBhvr>
                                        <p:cTn id="48" dur="500"/>
                                        <p:tgtEl>
                                          <p:spTgt spid="37"/>
                                        </p:tgtEl>
                                      </p:cBhvr>
                                    </p:animEffect>
                                  </p:childTnLst>
                                </p:cTn>
                              </p:par>
                            </p:childTnLst>
                          </p:cTn>
                        </p:par>
                      </p:childTnLst>
                    </p:cTn>
                  </p:par>
                  <p:par>
                    <p:cTn id="65" fill="hold">
                      <p:stCondLst>
                        <p:cond delay="indefinite"/>
                      </p:stCondLst>
                      <p:childTnLst>
                        <p:par>
                          <p:cTn id="54"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childTnLst>
                          </p:cTn>
                        </p:par>
                        <p:par>
                          <p:cTn id="64" fill="hold">
                            <p:stCondLst>
                              <p:cond delay="500"/>
                            </p:stCondLst>
                            <p:childTnLst>
                              <p:par>
                                <p:cTn id="55" presetID="22" presetClass="entr" presetSubtype="4"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wipe(down)">
                                      <p:cBhvr>
                                        <p:cTn id="57" dur="600"/>
                                        <p:tgtEl>
                                          <p:spTgt spid="2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down)">
                                      <p:cBhvr>
                                        <p:cTn id="63" dur="6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animBg="1"/>
      <p:bldP spid="19" grpId="0" animBg="1"/>
      <p:bldP spid="20" grpId="0" animBg="1"/>
      <p:bldP spid="23" grpId="0" animBg="1"/>
      <p:bldP spid="37" grpId="0" animBg="1"/>
      <p:bldP spid="21" grpId="0" animBg="1"/>
      <p:bldP spid="27" grpId="0" animBg="1"/>
      <p:bldP spid="22" grpId="0" animBg="1"/>
    </p:bldLst>
  </p:timing>
</p:sld>
</file>

<file path=ppt/slides/slide163.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Cerebro sagital"/>
          <p:cNvGrpSpPr/>
          <p:nvPr/>
        </p:nvGrpSpPr>
        <p:grpSpPr>
          <a:xfrm>
            <a:off x="365760" y="1097280"/>
            <a:ext cx="4206240" cy="3280867"/>
            <a:chOff x="365760" y="1097280"/>
            <a:chExt cx="4206240" cy="3280867"/>
          </a:xfrm>
        </p:grpSpPr>
        <p:sp>
          <p:nvSpPr>
            <p:cNvPr id="5" name="Cerebelo"/>
            <p:cNvSpPr/>
            <p:nvPr/>
          </p:nvSpPr>
          <p:spPr>
            <a:xfrm>
              <a:off x="365760" y="1097280"/>
              <a:ext cx="4206240" cy="328086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365760" y="1097280"/>
              <a:ext cx="4206240" cy="328086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365760" y="1097280"/>
              <a:ext cx="4206240" cy="328086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365760" y="1097280"/>
              <a:ext cx="4206240" cy="328086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Núcleo PVN"/>
          <p:cNvSpPr/>
          <p:nvPr/>
        </p:nvSpPr>
        <p:spPr>
          <a:xfrm>
            <a:off x="4846320" y="1005840"/>
            <a:ext cx="6949440" cy="8229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b="1" dirty="0">
                <a:solidFill>
                  <a:srgbClr val="1E1E1E"/>
                </a:solidFill>
                <a:latin typeface="Bahnschrift"/>
                <a:ea typeface="Bahnschrift"/>
                <a:cs typeface="Bahnschrift"/>
                <a:sym typeface="Bahnschrift"/>
              </a:rPr>
              <a:t>PVN</a:t>
            </a:r>
            <a:r>
              <a:rPr lang="es-AR" sz="1350" dirty="0">
                <a:solidFill>
                  <a:srgbClr val="1E1E1E"/>
                </a:solidFill>
                <a:latin typeface="Bahnschrift"/>
                <a:ea typeface="Bahnschrift"/>
                <a:cs typeface="Bahnschrift"/>
                <a:sym typeface="Bahnschrift"/>
              </a:rPr>
              <a:t>: salida autónoma y endocrina: </a:t>
            </a:r>
            <a:r>
              <a:rPr lang="es-AR" sz="1350" b="1" dirty="0">
                <a:solidFill>
                  <a:srgbClr val="1E1E1E"/>
                </a:solidFill>
                <a:latin typeface="Bahnschrift"/>
                <a:ea typeface="Bahnschrift"/>
                <a:cs typeface="Bahnschrift"/>
                <a:sym typeface="Bahnschrift"/>
              </a:rPr>
              <a:t>CRH</a:t>
            </a:r>
            <a:r>
              <a:rPr lang="es-AR" sz="1350" dirty="0">
                <a:solidFill>
                  <a:srgbClr val="1E1E1E"/>
                </a:solidFill>
                <a:latin typeface="Bahnschrift"/>
                <a:ea typeface="Bahnschrift"/>
                <a:cs typeface="Bahnschrift"/>
                <a:sym typeface="Bahnschrift"/>
              </a:rPr>
              <a:t>, </a:t>
            </a:r>
            <a:r>
              <a:rPr lang="es-AR" sz="1350" b="1" dirty="0">
                <a:solidFill>
                  <a:srgbClr val="1E1E1E"/>
                </a:solidFill>
                <a:latin typeface="Bahnschrift"/>
                <a:ea typeface="Bahnschrift"/>
                <a:cs typeface="Bahnschrift"/>
                <a:sym typeface="Bahnschrift"/>
              </a:rPr>
              <a:t>TRH</a:t>
            </a:r>
            <a:r>
              <a:rPr lang="es-AR" sz="1350" dirty="0">
                <a:solidFill>
                  <a:srgbClr val="1E1E1E"/>
                </a:solidFill>
                <a:latin typeface="Bahnschrift"/>
                <a:ea typeface="Bahnschrift"/>
                <a:cs typeface="Bahnschrift"/>
                <a:sym typeface="Bahnschrift"/>
              </a:rPr>
              <a:t>, simpático; MC4R</a:t>
            </a:r>
            <a:endParaRPr lang="es-AR" sz="1350" dirty="0">
              <a:latin typeface="Bahnschrift"/>
            </a:endParaRPr>
          </a:p>
        </p:txBody>
      </p:sp>
      <p:sp>
        <p:nvSpPr>
          <p:cNvPr id="10" name="Núcleo VMH"/>
          <p:cNvSpPr/>
          <p:nvPr/>
        </p:nvSpPr>
        <p:spPr>
          <a:xfrm>
            <a:off x="4846320" y="1920240"/>
            <a:ext cx="6949440" cy="822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b="1" dirty="0">
                <a:solidFill>
                  <a:srgbClr val="1E1E1E"/>
                </a:solidFill>
                <a:latin typeface="Bahnschrift"/>
                <a:ea typeface="Bahnschrift"/>
                <a:cs typeface="Bahnschrift"/>
                <a:sym typeface="Bahnschrift"/>
              </a:rPr>
              <a:t>VMH</a:t>
            </a:r>
            <a:r>
              <a:rPr lang="es-AR" sz="1350" dirty="0">
                <a:solidFill>
                  <a:srgbClr val="1E1E1E"/>
                </a:solidFill>
                <a:latin typeface="Bahnschrift"/>
                <a:ea typeface="Bahnschrift"/>
                <a:cs typeface="Bahnschrift"/>
                <a:sym typeface="Bahnschrift"/>
              </a:rPr>
              <a:t>: detección de energía/glucosa; gasto y simpático (no solo «centro de saciedad»)</a:t>
            </a:r>
            <a:endParaRPr lang="es-AR" sz="1350" dirty="0">
              <a:latin typeface="Bahnschrift"/>
            </a:endParaRPr>
          </a:p>
        </p:txBody>
      </p:sp>
      <p:sp>
        <p:nvSpPr>
          <p:cNvPr id="11" name="Núcleo Hipotálamo lateral"/>
          <p:cNvSpPr/>
          <p:nvPr/>
        </p:nvSpPr>
        <p:spPr>
          <a:xfrm>
            <a:off x="4846320" y="2834640"/>
            <a:ext cx="6949440" cy="8229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b="1" dirty="0">
                <a:solidFill>
                  <a:srgbClr val="1E1E1E"/>
                </a:solidFill>
                <a:latin typeface="Bahnschrift"/>
                <a:ea typeface="Bahnschrift"/>
                <a:cs typeface="Bahnschrift"/>
                <a:sym typeface="Bahnschrift"/>
              </a:rPr>
              <a:t>Hipotálamo lateral</a:t>
            </a:r>
            <a:r>
              <a:rPr lang="es-AR" sz="1350" dirty="0">
                <a:solidFill>
                  <a:srgbClr val="1E1E1E"/>
                </a:solidFill>
                <a:latin typeface="Bahnschrift"/>
                <a:ea typeface="Bahnschrift"/>
                <a:cs typeface="Bahnschrift"/>
                <a:sym typeface="Bahnschrift"/>
              </a:rPr>
              <a:t>: </a:t>
            </a:r>
            <a:r>
              <a:rPr lang="es-AR" sz="1350" b="1" dirty="0">
                <a:solidFill>
                  <a:srgbClr val="1E1E1E"/>
                </a:solidFill>
                <a:latin typeface="Bahnschrift"/>
                <a:ea typeface="Bahnschrift"/>
                <a:cs typeface="Bahnschrift"/>
                <a:sym typeface="Bahnschrift"/>
              </a:rPr>
              <a:t>orexina/hipocretina</a:t>
            </a:r>
            <a:r>
              <a:rPr lang="es-AR" sz="1350" dirty="0">
                <a:solidFill>
                  <a:srgbClr val="1E1E1E"/>
                </a:solidFill>
                <a:latin typeface="Bahnschrift"/>
                <a:ea typeface="Bahnschrift"/>
                <a:cs typeface="Bahnschrift"/>
                <a:sym typeface="Bahnschrift"/>
              </a:rPr>
              <a:t> y </a:t>
            </a:r>
            <a:r>
              <a:rPr lang="es-AR" sz="1350" b="1" dirty="0">
                <a:solidFill>
                  <a:srgbClr val="1E1E1E"/>
                </a:solidFill>
                <a:latin typeface="Bahnschrift"/>
                <a:ea typeface="Bahnschrift"/>
                <a:cs typeface="Bahnschrift"/>
                <a:sym typeface="Bahnschrift"/>
              </a:rPr>
              <a:t>MCH</a:t>
            </a:r>
            <a:r>
              <a:rPr lang="es-AR" sz="1350" dirty="0">
                <a:solidFill>
                  <a:srgbClr val="1E1E1E"/>
                </a:solidFill>
                <a:latin typeface="Bahnschrift"/>
                <a:ea typeface="Bahnschrift"/>
                <a:cs typeface="Bahnschrift"/>
                <a:sym typeface="Bahnschrift"/>
              </a:rPr>
              <a:t>: alerta, búsqueda de alimento</a:t>
            </a:r>
            <a:endParaRPr lang="es-AR" sz="1350" dirty="0">
              <a:latin typeface="Bahnschrift"/>
            </a:endParaRPr>
          </a:p>
        </p:txBody>
      </p:sp>
      <p:sp>
        <p:nvSpPr>
          <p:cNvPr id="12" name="Núcleo Tronco / NTS"/>
          <p:cNvSpPr/>
          <p:nvPr/>
        </p:nvSpPr>
        <p:spPr>
          <a:xfrm>
            <a:off x="4846320" y="3749040"/>
            <a:ext cx="6949440" cy="82296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b="1" dirty="0">
                <a:solidFill>
                  <a:srgbClr val="1E1E1E"/>
                </a:solidFill>
                <a:latin typeface="Bahnschrift"/>
                <a:ea typeface="Bahnschrift"/>
                <a:cs typeface="Bahnschrift"/>
                <a:sym typeface="Bahnschrift"/>
              </a:rPr>
              <a:t>Tronco / NTS</a:t>
            </a:r>
            <a:r>
              <a:rPr lang="es-AR" sz="1350" dirty="0">
                <a:solidFill>
                  <a:srgbClr val="1E1E1E"/>
                </a:solidFill>
                <a:latin typeface="Bahnschrift"/>
                <a:ea typeface="Bahnschrift"/>
                <a:cs typeface="Bahnschrift"/>
                <a:sym typeface="Bahnschrift"/>
              </a:rPr>
              <a:t>: integra señales </a:t>
            </a:r>
            <a:r>
              <a:rPr lang="es-AR" sz="1350" b="1" dirty="0">
                <a:solidFill>
                  <a:srgbClr val="1E1E1E"/>
                </a:solidFill>
                <a:latin typeface="Bahnschrift"/>
                <a:ea typeface="Bahnschrift"/>
                <a:cs typeface="Bahnschrift"/>
                <a:sym typeface="Bahnschrift"/>
              </a:rPr>
              <a:t>vagales</a:t>
            </a:r>
            <a:r>
              <a:rPr lang="es-AR" sz="1350" dirty="0">
                <a:solidFill>
                  <a:srgbClr val="1E1E1E"/>
                </a:solidFill>
                <a:latin typeface="Bahnschrift"/>
                <a:ea typeface="Bahnschrift"/>
                <a:cs typeface="Bahnschrift"/>
                <a:sym typeface="Bahnschrift"/>
              </a:rPr>
              <a:t> intestinales</a:t>
            </a:r>
            <a:endParaRPr lang="es-AR" sz="1350" dirty="0">
              <a:latin typeface="Bahnschrift"/>
            </a:endParaRPr>
          </a:p>
        </p:txBody>
      </p:sp>
      <p:graphicFrame>
        <p:nvGraphicFramePr>
          <p:cNvPr id="13" name="Tabla señales"/>
          <p:cNvGraphicFramePr>
            <a:graphicFrameLocks noGrp="1"/>
          </p:cNvGraphicFramePr>
          <p:nvPr/>
        </p:nvGraphicFramePr>
        <p:xfrm>
          <a:off x="365760" y="4663440"/>
          <a:ext cx="11430000" cy="1920240"/>
        </p:xfrm>
        <a:graphic>
          <a:graphicData uri="http://schemas.openxmlformats.org/drawingml/2006/table">
            <a:tbl>
              <a:tblPr firstRow="1" bandRow="1"/>
              <a:tblGrid>
                <a:gridCol w="1463040"/>
                <a:gridCol w="9966960"/>
              </a:tblGrid>
              <a:tr h="320040">
                <a:tc>
                  <a:txBody>
                    <a:bodyPr/>
                    <a:lstStyle/>
                    <a:p>
                      <a:pPr algn="l">
                        <a:spcAft>
                          <a:spcPts val="1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Señal</a:t>
                      </a:r>
                      <a:endParaRPr lang="es-AR" sz="13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Origen y acción</a:t>
                      </a:r>
                      <a:endParaRPr lang="es-AR" sz="13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320040">
                <a:tc>
                  <a:txBody>
                    <a:bodyPr/>
                    <a:lstStyle/>
                    <a:p>
                      <a:pPr algn="l">
                        <a:spcAft>
                          <a:spcPts val="100"/>
                        </a:spcAft>
                        <a:buNone/>
                      </a:pPr>
                      <a:r>
                        <a:rPr lang="es-AR" sz="1250" b="1" dirty="0">
                          <a:solidFill>
                            <a:srgbClr val="1E1E1E"/>
                          </a:solidFill>
                          <a:latin typeface="Bahnschrift"/>
                          <a:ea typeface="Bahnschrift"/>
                          <a:cs typeface="Bahnschrift"/>
                          <a:sym typeface="Bahnschrift"/>
                        </a:rPr>
                        <a:t>CCK</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250" dirty="0">
                          <a:solidFill>
                            <a:srgbClr val="1E1E1E"/>
                          </a:solidFill>
                          <a:latin typeface="Bahnschrift"/>
                          <a:ea typeface="Bahnschrift"/>
                          <a:cs typeface="Bahnschrift"/>
                          <a:sym typeface="Bahnschrift"/>
                        </a:rPr>
                        <a:t>células </a:t>
                      </a:r>
                      <a:r>
                        <a:rPr lang="es-AR" sz="1250" b="1" dirty="0">
                          <a:solidFill>
                            <a:srgbClr val="1E1E1E"/>
                          </a:solidFill>
                          <a:latin typeface="Bahnschrift"/>
                          <a:ea typeface="Bahnschrift"/>
                          <a:cs typeface="Bahnschrift"/>
                          <a:sym typeface="Bahnschrift"/>
                        </a:rPr>
                        <a:t>I</a:t>
                      </a:r>
                      <a:r>
                        <a:rPr lang="es-AR" sz="1250" dirty="0">
                          <a:solidFill>
                            <a:srgbClr val="1E1E1E"/>
                          </a:solidFill>
                          <a:latin typeface="Bahnschrift"/>
                          <a:ea typeface="Bahnschrift"/>
                          <a:cs typeface="Bahnschrift"/>
                          <a:sym typeface="Bahnschrift"/>
                        </a:rPr>
                        <a:t> duodenoyeyunales (grasas/proteínas): vago, enlentece vaciamiento, saciedad corta; vesícula y páncreas</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320040">
                <a:tc>
                  <a:txBody>
                    <a:bodyPr/>
                    <a:lstStyle/>
                    <a:p>
                      <a:pPr algn="l">
                        <a:spcAft>
                          <a:spcPts val="100"/>
                        </a:spcAft>
                        <a:buNone/>
                      </a:pPr>
                      <a:r>
                        <a:rPr lang="es-AR" sz="1250" b="1" dirty="0">
                          <a:solidFill>
                            <a:srgbClr val="1E1E1E"/>
                          </a:solidFill>
                          <a:latin typeface="Bahnschrift"/>
                          <a:ea typeface="Bahnschrift"/>
                          <a:cs typeface="Bahnschrift"/>
                          <a:sym typeface="Bahnschrift"/>
                        </a:rPr>
                        <a:t>PYY</a:t>
                      </a:r>
                      <a:r>
                        <a:rPr lang="es-AR" sz="1250" b="1" baseline="-25000" dirty="0">
                          <a:solidFill>
                            <a:srgbClr val="1E1E1E"/>
                          </a:solidFill>
                          <a:latin typeface="Bahnschrift"/>
                          <a:ea typeface="Bahnschrift"/>
                          <a:cs typeface="Bahnschrift"/>
                          <a:sym typeface="Bahnschrift"/>
                        </a:rPr>
                        <a:t>3-36</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250" dirty="0">
                          <a:solidFill>
                            <a:srgbClr val="1E1E1E"/>
                          </a:solidFill>
                          <a:latin typeface="Bahnschrift"/>
                          <a:ea typeface="Bahnschrift"/>
                          <a:cs typeface="Bahnschrift"/>
                          <a:sym typeface="Bahnschrift"/>
                        </a:rPr>
                        <a:t>células </a:t>
                      </a:r>
                      <a:r>
                        <a:rPr lang="es-AR" sz="1250" b="1" dirty="0">
                          <a:solidFill>
                            <a:srgbClr val="1E1E1E"/>
                          </a:solidFill>
                          <a:latin typeface="Bahnschrift"/>
                          <a:ea typeface="Bahnschrift"/>
                          <a:cs typeface="Bahnschrift"/>
                          <a:sym typeface="Bahnschrift"/>
                        </a:rPr>
                        <a:t>L</a:t>
                      </a:r>
                      <a:r>
                        <a:rPr lang="es-AR" sz="1250" dirty="0">
                          <a:solidFill>
                            <a:srgbClr val="1E1E1E"/>
                          </a:solidFill>
                          <a:latin typeface="Bahnschrift"/>
                          <a:ea typeface="Bahnschrift"/>
                          <a:cs typeface="Bahnschrift"/>
                          <a:sym typeface="Bahnschrift"/>
                        </a:rPr>
                        <a:t> ileocólicas: </a:t>
                      </a:r>
                      <a:r>
                        <a:rPr lang="es-AR" sz="1250" b="1" dirty="0">
                          <a:solidFill>
                            <a:srgbClr val="1E1E1E"/>
                          </a:solidFill>
                          <a:latin typeface="Bahnschrift"/>
                          <a:ea typeface="Bahnschrift"/>
                          <a:cs typeface="Bahnschrift"/>
                          <a:sym typeface="Bahnschrift"/>
                        </a:rPr>
                        <a:t>Y2</a:t>
                      </a:r>
                      <a:r>
                        <a:rPr lang="es-AR" sz="1250" dirty="0">
                          <a:solidFill>
                            <a:srgbClr val="1E1E1E"/>
                          </a:solidFill>
                          <a:latin typeface="Bahnschrift"/>
                          <a:ea typeface="Bahnschrift"/>
                          <a:cs typeface="Bahnschrift"/>
                          <a:sym typeface="Bahnschrift"/>
                        </a:rPr>
                        <a:t> → inhibe NPY/AgRP</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320040">
                <a:tc>
                  <a:txBody>
                    <a:bodyPr/>
                    <a:lstStyle/>
                    <a:p>
                      <a:pPr algn="l">
                        <a:spcAft>
                          <a:spcPts val="100"/>
                        </a:spcAft>
                        <a:buNone/>
                      </a:pPr>
                      <a:r>
                        <a:rPr lang="es-AR" sz="1250" b="1" dirty="0">
                          <a:solidFill>
                            <a:srgbClr val="1E1E1E"/>
                          </a:solidFill>
                          <a:latin typeface="Bahnschrift"/>
                          <a:ea typeface="Bahnschrift"/>
                          <a:cs typeface="Bahnschrift"/>
                          <a:sym typeface="Bahnschrift"/>
                        </a:rPr>
                        <a:t>PP</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250" dirty="0">
                          <a:solidFill>
                            <a:srgbClr val="1E1E1E"/>
                          </a:solidFill>
                          <a:latin typeface="Bahnschrift"/>
                          <a:ea typeface="Bahnschrift"/>
                          <a:cs typeface="Bahnschrift"/>
                          <a:sym typeface="Bahnschrift"/>
                        </a:rPr>
                        <a:t>células </a:t>
                      </a:r>
                      <a:r>
                        <a:rPr lang="es-AR" sz="1250" b="1" dirty="0">
                          <a:solidFill>
                            <a:srgbClr val="1E1E1E"/>
                          </a:solidFill>
                          <a:latin typeface="Bahnschrift"/>
                          <a:ea typeface="Bahnschrift"/>
                          <a:cs typeface="Bahnschrift"/>
                          <a:sym typeface="Bahnschrift"/>
                        </a:rPr>
                        <a:t>PP</a:t>
                      </a:r>
                      <a:r>
                        <a:rPr lang="es-AR" sz="1250" dirty="0">
                          <a:solidFill>
                            <a:srgbClr val="1E1E1E"/>
                          </a:solidFill>
                          <a:latin typeface="Bahnschrift"/>
                          <a:ea typeface="Bahnschrift"/>
                          <a:cs typeface="Bahnschrift"/>
                          <a:sym typeface="Bahnschrift"/>
                        </a:rPr>
                        <a:t> pancreáticas: </a:t>
                      </a:r>
                      <a:r>
                        <a:rPr lang="es-AR" sz="1250" b="1" dirty="0">
                          <a:solidFill>
                            <a:srgbClr val="1E1E1E"/>
                          </a:solidFill>
                          <a:latin typeface="Bahnschrift"/>
                          <a:ea typeface="Bahnschrift"/>
                          <a:cs typeface="Bahnschrift"/>
                          <a:sym typeface="Bahnschrift"/>
                        </a:rPr>
                        <a:t>otra</a:t>
                      </a:r>
                      <a:r>
                        <a:rPr lang="es-AR" sz="1250" dirty="0">
                          <a:solidFill>
                            <a:srgbClr val="1E1E1E"/>
                          </a:solidFill>
                          <a:latin typeface="Bahnschrift"/>
                          <a:ea typeface="Bahnschrift"/>
                          <a:cs typeface="Bahnschrift"/>
                          <a:sym typeface="Bahnschrift"/>
                        </a:rPr>
                        <a:t> hormona (≠ PYY)</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320040">
                <a:tc>
                  <a:txBody>
                    <a:bodyPr/>
                    <a:lstStyle/>
                    <a:p>
                      <a:pPr algn="l">
                        <a:spcAft>
                          <a:spcPts val="100"/>
                        </a:spcAft>
                        <a:buNone/>
                      </a:pPr>
                      <a:r>
                        <a:rPr lang="es-AR" sz="1250" b="1" dirty="0">
                          <a:solidFill>
                            <a:srgbClr val="1E1E1E"/>
                          </a:solidFill>
                          <a:latin typeface="Bahnschrift"/>
                          <a:ea typeface="Bahnschrift"/>
                          <a:cs typeface="Bahnschrift"/>
                          <a:sym typeface="Bahnschrift"/>
                        </a:rPr>
                        <a:t>GLP-1</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250" dirty="0">
                          <a:solidFill>
                            <a:srgbClr val="1E1E1E"/>
                          </a:solidFill>
                          <a:latin typeface="Bahnschrift"/>
                          <a:ea typeface="Bahnschrift"/>
                          <a:cs typeface="Bahnschrift"/>
                          <a:sym typeface="Bahnschrift"/>
                        </a:rPr>
                        <a:t>incretina y señal de saciedad/retardo del vaciamiento</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320040">
                <a:tc>
                  <a:txBody>
                    <a:bodyPr/>
                    <a:lstStyle/>
                    <a:p>
                      <a:pPr algn="l">
                        <a:spcAft>
                          <a:spcPts val="100"/>
                        </a:spcAft>
                        <a:buNone/>
                      </a:pPr>
                      <a:r>
                        <a:rPr lang="es-AR" sz="1250" b="1" dirty="0">
                          <a:solidFill>
                            <a:srgbClr val="1E1E1E"/>
                          </a:solidFill>
                          <a:latin typeface="Bahnschrift"/>
                          <a:ea typeface="Bahnschrift"/>
                          <a:cs typeface="Bahnschrift"/>
                          <a:sym typeface="Bahnschrift"/>
                        </a:rPr>
                        <a:t>Insulina</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250" dirty="0">
                          <a:solidFill>
                            <a:srgbClr val="1E1E1E"/>
                          </a:solidFill>
                          <a:latin typeface="Bahnschrift"/>
                          <a:ea typeface="Bahnschrift"/>
                          <a:cs typeface="Bahnschrift"/>
                          <a:sym typeface="Bahnschrift"/>
                        </a:rPr>
                        <a:t>señal </a:t>
                      </a:r>
                      <a:r>
                        <a:rPr lang="es-AR" sz="1250" b="1" dirty="0">
                          <a:solidFill>
                            <a:srgbClr val="1E1E1E"/>
                          </a:solidFill>
                          <a:latin typeface="Bahnschrift"/>
                          <a:ea typeface="Bahnschrift"/>
                          <a:cs typeface="Bahnschrift"/>
                          <a:sym typeface="Bahnschrift"/>
                        </a:rPr>
                        <a:t>aguda</a:t>
                      </a:r>
                      <a:r>
                        <a:rPr lang="es-AR" sz="1250" dirty="0">
                          <a:solidFill>
                            <a:srgbClr val="1E1E1E"/>
                          </a:solidFill>
                          <a:latin typeface="Bahnschrift"/>
                          <a:ea typeface="Bahnschrift"/>
                          <a:cs typeface="Bahnschrift"/>
                          <a:sym typeface="Bahnschrift"/>
                        </a:rPr>
                        <a:t> de nutrientes y </a:t>
                      </a:r>
                      <a:r>
                        <a:rPr lang="es-AR" sz="1250" b="1" dirty="0">
                          <a:solidFill>
                            <a:srgbClr val="1E1E1E"/>
                          </a:solidFill>
                          <a:latin typeface="Bahnschrift"/>
                          <a:ea typeface="Bahnschrift"/>
                          <a:cs typeface="Bahnschrift"/>
                          <a:sym typeface="Bahnschrift"/>
                        </a:rPr>
                        <a:t>crónica</a:t>
                      </a:r>
                      <a:r>
                        <a:rPr lang="es-AR" sz="1250" dirty="0">
                          <a:solidFill>
                            <a:srgbClr val="1E1E1E"/>
                          </a:solidFill>
                          <a:latin typeface="Bahnschrift"/>
                          <a:ea typeface="Bahnschrift"/>
                          <a:cs typeface="Bahnschrift"/>
                          <a:sym typeface="Bahnschrift"/>
                        </a:rPr>
                        <a:t> de adiposidad</a:t>
                      </a:r>
                      <a:endParaRPr lang="es-AR" sz="12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2" name="Etiqueta sección"/>
          <p:cNvSpPr/>
          <p:nvPr/>
        </p:nvSpPr>
        <p:spPr>
          <a:xfrm>
            <a:off x="10225392" y="201168"/>
            <a:ext cx="169198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HIPOTALÁMICO</a:t>
            </a:r>
            <a:endParaRPr lang="es-AR" sz="1300" dirty="0">
              <a:latin typeface="Bahnschrift SemiBold Condensed"/>
            </a:endParaRPr>
          </a:p>
        </p:txBody>
      </p:sp>
      <p:sp>
        <p:nvSpPr>
          <p:cNvPr id="3" name="Título"/>
          <p:cNvSpPr/>
          <p:nvPr/>
        </p:nvSpPr>
        <p:spPr>
          <a:xfrm>
            <a:off x="274320" y="146304"/>
            <a:ext cx="620793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34 · OTROS NÚCLEOS Y SEÑALES PERIFÉRICAS</a:t>
            </a:r>
            <a:endParaRPr lang="es-AR" sz="26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9"/>
                                        </p:tgtEl>
                                        <p:attrNameLst>
                                          <p:attrName>style.visibility</p:attrName>
                                        </p:attrNameLst>
                                      </p:cBhvr>
                                      <p:to>
                                        <p:strVal val="visible"/>
                                      </p:to>
                                    </p:set>
                                    <p:animEffect transition="in" filter="fade">
                                      <p:cBhvr>
                                        <p:cTn id="5" dur="500"/>
                                        <p:tgtEl>
                                          <p:spTgt spid="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Lst>
  </p:timing>
</p:sld>
</file>

<file path=ppt/slides/slide164.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Forma 3"/>
          <p:cNvSpPr/>
          <p:nvPr/>
        </p:nvSpPr>
        <p:spPr>
          <a:xfrm>
            <a:off x="365760" y="1005840"/>
            <a:ext cx="3627120" cy="8686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TRH</a:t>
            </a:r>
            <a:endParaRPr lang="es-AR" sz="1400" dirty="0">
              <a:latin typeface="Bahnschrift"/>
            </a:endParaRPr>
          </a:p>
        </p:txBody>
      </p:sp>
      <p:sp>
        <p:nvSpPr>
          <p:cNvPr id="5" name="Flecha 4_2"/>
          <p:cNvSpPr/>
          <p:nvPr/>
        </p:nvSpPr>
        <p:spPr>
          <a:xfrm>
            <a:off x="4029456" y="144018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6" name="Forma 6"/>
          <p:cNvSpPr/>
          <p:nvPr/>
        </p:nvSpPr>
        <p:spPr>
          <a:xfrm>
            <a:off x="4267200" y="1005840"/>
            <a:ext cx="3627120" cy="8686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TSH</a:t>
            </a:r>
            <a:endParaRPr lang="es-AR" sz="1400" dirty="0">
              <a:latin typeface="Bahnschrift"/>
            </a:endParaRPr>
          </a:p>
        </p:txBody>
      </p:sp>
      <p:sp>
        <p:nvSpPr>
          <p:cNvPr id="7" name="Flecha 7_2"/>
          <p:cNvSpPr/>
          <p:nvPr/>
        </p:nvSpPr>
        <p:spPr>
          <a:xfrm>
            <a:off x="7930896" y="1440180"/>
            <a:ext cx="201168" cy="9144"/>
          </a:xfrm>
          <a:custGeom>
            <a:avLst/>
            <a:gdLst/>
            <a:ahLst/>
            <a:cxnLst/>
            <a:rect l="0" t="0" r="r" b="b"/>
            <a:pathLst>
              <a:path w="220" h="10" fill="none">
                <a:moveTo>
                  <a:pt x="0" y="0"/>
                </a:moveTo>
                <a:lnTo>
                  <a:pt x="220" y="0"/>
                </a:lnTo>
              </a:path>
            </a:pathLst>
          </a:custGeom>
          <a:noFill/>
          <a:ln w="31750" cap="rnd">
            <a:solidFill>
              <a:srgbClr val="1E1E1E"/>
            </a:solidFill>
            <a:round/>
            <a:tailEnd type="triangle" w="med" len="med"/>
          </a:ln>
        </p:spPr>
      </p:sp>
      <p:sp>
        <p:nvSpPr>
          <p:cNvPr id="8" name="Forma 9"/>
          <p:cNvSpPr/>
          <p:nvPr/>
        </p:nvSpPr>
        <p:spPr>
          <a:xfrm>
            <a:off x="8168640" y="1005840"/>
            <a:ext cx="3627120" cy="8686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T4 → T3 nuclear: ↑ metabolismo basal, Na</a:t>
            </a:r>
            <a:r>
              <a:rPr lang="es-AR" sz="1400" baseline="30000" dirty="0">
                <a:solidFill>
                  <a:srgbClr val="1E1E1E"/>
                </a:solidFill>
                <a:latin typeface="Bahnschrift"/>
                <a:ea typeface="Bahnschrift"/>
                <a:cs typeface="Bahnschrift"/>
                <a:sym typeface="Bahnschrift"/>
              </a:rPr>
              <a:t>+</a:t>
            </a:r>
            <a:r>
              <a:rPr lang="es-AR" sz="1400" dirty="0">
                <a:solidFill>
                  <a:srgbClr val="1E1E1E"/>
                </a:solidFill>
                <a:latin typeface="Bahnschrift"/>
                <a:ea typeface="Bahnschrift"/>
                <a:cs typeface="Bahnschrift"/>
                <a:sym typeface="Bahnschrift"/>
              </a:rPr>
              <a:t>/K</a:t>
            </a:r>
            <a:r>
              <a:rPr lang="es-AR" sz="1400" baseline="30000" dirty="0">
                <a:solidFill>
                  <a:srgbClr val="1E1E1E"/>
                </a:solidFill>
                <a:latin typeface="Bahnschrift"/>
                <a:ea typeface="Bahnschrift"/>
                <a:cs typeface="Bahnschrift"/>
                <a:sym typeface="Bahnschrift"/>
              </a:rPr>
              <a:t>+</a:t>
            </a:r>
            <a:r>
              <a:rPr lang="es-AR" sz="1400" dirty="0">
                <a:solidFill>
                  <a:srgbClr val="1E1E1E"/>
                </a:solidFill>
                <a:latin typeface="Bahnschrift"/>
                <a:ea typeface="Bahnschrift"/>
                <a:cs typeface="Bahnschrift"/>
                <a:sym typeface="Bahnschrift"/>
              </a:rPr>
              <a:t> ATPasa, termogénesis</a:t>
            </a:r>
            <a:endParaRPr lang="es-AR" sz="1400" dirty="0">
              <a:latin typeface="Bahnschrift"/>
            </a:endParaRPr>
          </a:p>
        </p:txBody>
      </p:sp>
      <p:sp>
        <p:nvSpPr>
          <p:cNvPr id="9" name="Forma 10"/>
          <p:cNvSpPr/>
          <p:nvPr/>
        </p:nvSpPr>
        <p:spPr>
          <a:xfrm>
            <a:off x="365760" y="2103120"/>
            <a:ext cx="3627120" cy="8686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CRH</a:t>
            </a:r>
            <a:endParaRPr lang="es-AR" sz="1400" dirty="0">
              <a:latin typeface="Bahnschrift"/>
            </a:endParaRPr>
          </a:p>
        </p:txBody>
      </p:sp>
      <p:sp>
        <p:nvSpPr>
          <p:cNvPr id="10" name="Flecha 11_2"/>
          <p:cNvSpPr/>
          <p:nvPr/>
        </p:nvSpPr>
        <p:spPr>
          <a:xfrm>
            <a:off x="4029456" y="2537460"/>
            <a:ext cx="201168" cy="9144"/>
          </a:xfrm>
          <a:custGeom>
            <a:avLst/>
            <a:gdLst/>
            <a:ahLst/>
            <a:cxnLst/>
            <a:rect l="0" t="0" r="r" b="b"/>
            <a:pathLst>
              <a:path w="219" h="10" fill="none">
                <a:moveTo>
                  <a:pt x="0" y="0"/>
                </a:moveTo>
                <a:lnTo>
                  <a:pt x="219" y="0"/>
                </a:lnTo>
              </a:path>
            </a:pathLst>
          </a:custGeom>
          <a:noFill/>
          <a:ln w="31750" cap="rnd">
            <a:solidFill>
              <a:srgbClr val="1E1E1E"/>
            </a:solidFill>
            <a:round/>
            <a:tailEnd type="triangle" w="med" len="med"/>
          </a:ln>
        </p:spPr>
      </p:sp>
      <p:sp>
        <p:nvSpPr>
          <p:cNvPr id="11" name="Forma 13"/>
          <p:cNvSpPr/>
          <p:nvPr/>
        </p:nvSpPr>
        <p:spPr>
          <a:xfrm>
            <a:off x="4267200" y="2103120"/>
            <a:ext cx="3627120" cy="8686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ACTH</a:t>
            </a:r>
            <a:endParaRPr lang="es-AR" sz="1400" dirty="0">
              <a:latin typeface="Bahnschrift"/>
            </a:endParaRPr>
          </a:p>
        </p:txBody>
      </p:sp>
      <p:sp>
        <p:nvSpPr>
          <p:cNvPr id="12" name="Flecha 14_2"/>
          <p:cNvSpPr/>
          <p:nvPr/>
        </p:nvSpPr>
        <p:spPr>
          <a:xfrm>
            <a:off x="7930896" y="2537460"/>
            <a:ext cx="201168" cy="9144"/>
          </a:xfrm>
          <a:custGeom>
            <a:avLst/>
            <a:gdLst/>
            <a:ahLst/>
            <a:cxnLst/>
            <a:rect l="0" t="0" r="r" b="b"/>
            <a:pathLst>
              <a:path w="220" h="10" fill="none">
                <a:moveTo>
                  <a:pt x="0" y="0"/>
                </a:moveTo>
                <a:lnTo>
                  <a:pt x="220" y="0"/>
                </a:lnTo>
              </a:path>
            </a:pathLst>
          </a:custGeom>
          <a:noFill/>
          <a:ln w="31750" cap="rnd">
            <a:solidFill>
              <a:srgbClr val="1E1E1E"/>
            </a:solidFill>
            <a:round/>
            <a:tailEnd type="triangle" w="med" len="med"/>
          </a:ln>
        </p:spPr>
      </p:sp>
      <p:sp>
        <p:nvSpPr>
          <p:cNvPr id="13" name="Forma 16"/>
          <p:cNvSpPr/>
          <p:nvPr/>
        </p:nvSpPr>
        <p:spPr>
          <a:xfrm>
            <a:off x="8168640" y="2103120"/>
            <a:ext cx="3627120" cy="8686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Cortisol: moviliza energía; exceso crónico → hiperfagia, adiposidad central, catabolismo</a:t>
            </a:r>
            <a:endParaRPr lang="es-AR" sz="1400" dirty="0">
              <a:latin typeface="Bahnschrift"/>
            </a:endParaRPr>
          </a:p>
        </p:txBody>
      </p:sp>
      <p:sp>
        <p:nvSpPr>
          <p:cNvPr id="14" name="Forma 17"/>
          <p:cNvSpPr/>
          <p:nvPr/>
        </p:nvSpPr>
        <p:spPr>
          <a:xfrm>
            <a:off x="365760" y="3200400"/>
            <a:ext cx="11430000" cy="7772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50" b="1" dirty="0">
                <a:solidFill>
                  <a:srgbClr val="1E1E1E"/>
                </a:solidFill>
                <a:latin typeface="Bahnschrift"/>
                <a:ea typeface="Bahnschrift"/>
                <a:cs typeface="Bahnschrift"/>
                <a:sym typeface="Bahnschrift"/>
              </a:rPr>
              <a:t>Simpático</a:t>
            </a:r>
            <a:r>
              <a:rPr lang="es-AR" sz="1350" dirty="0">
                <a:solidFill>
                  <a:srgbClr val="1E1E1E"/>
                </a:solidFill>
                <a:latin typeface="Bahnschrift"/>
                <a:ea typeface="Bahnschrift"/>
                <a:cs typeface="Bahnschrift"/>
                <a:sym typeface="Bahnschrift"/>
              </a:rPr>
              <a:t>: noradrenalina estimula BAT y lipólisis; «termogénesis» </a:t>
            </a:r>
            <a:r>
              <a:rPr lang="es-AR" sz="1350" b="1" dirty="0">
                <a:solidFill>
                  <a:srgbClr val="1E1E1E"/>
                </a:solidFill>
                <a:latin typeface="Bahnschrift"/>
                <a:ea typeface="Bahnschrift"/>
                <a:cs typeface="Bahnschrift"/>
                <a:sym typeface="Bahnschrift"/>
              </a:rPr>
              <a:t>no siempre</a:t>
            </a:r>
            <a:r>
              <a:rPr lang="es-AR" sz="1350" dirty="0">
                <a:solidFill>
                  <a:srgbClr val="1E1E1E"/>
                </a:solidFill>
                <a:latin typeface="Bahnschrift"/>
                <a:ea typeface="Bahnschrift"/>
                <a:cs typeface="Bahnschrift"/>
                <a:sym typeface="Bahnschrift"/>
              </a:rPr>
              <a:t> equivale a un cambio de peso clínicamente importante.</a:t>
            </a:r>
            <a:endParaRPr lang="es-AR" sz="1350" dirty="0">
              <a:latin typeface="Bahnschrift"/>
            </a:endParaRPr>
          </a:p>
        </p:txBody>
      </p:sp>
      <p:sp>
        <p:nvSpPr>
          <p:cNvPr id="15" name="Forma 18"/>
          <p:cNvSpPr/>
          <p:nvPr/>
        </p:nvSpPr>
        <p:spPr>
          <a:xfrm>
            <a:off x="365760" y="4160520"/>
            <a:ext cx="5577840" cy="1280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Ayuno</a:t>
            </a:r>
            <a:r>
              <a:rPr lang="es-AR" sz="1600" dirty="0">
                <a:solidFill>
                  <a:srgbClr val="1E1E1E"/>
                </a:solidFill>
                <a:latin typeface="Bahnschrift"/>
                <a:ea typeface="Bahnschrift"/>
                <a:cs typeface="Bahnschrift"/>
                <a:sym typeface="Bahnschrift"/>
              </a:rPr>
              <a:t>: leptina/insulina ↓, grelina puede ↑, NPY/AgRP activas → </a:t>
            </a:r>
            <a:r>
              <a:rPr lang="es-AR" sz="1600" b="1" dirty="0">
                <a:solidFill>
                  <a:srgbClr val="1E1E1E"/>
                </a:solidFill>
                <a:latin typeface="Bahnschrift"/>
                <a:ea typeface="Bahnschrift"/>
                <a:cs typeface="Bahnschrift"/>
                <a:sym typeface="Bahnschrift"/>
              </a:rPr>
              <a:t>hambre y conservación</a:t>
            </a:r>
            <a:r>
              <a:rPr lang="es-AR" sz="1600" dirty="0">
                <a:solidFill>
                  <a:srgbClr val="1E1E1E"/>
                </a:solidFill>
                <a:latin typeface="Bahnschrift"/>
                <a:ea typeface="Bahnschrift"/>
                <a:cs typeface="Bahnschrift"/>
                <a:sym typeface="Bahnschrift"/>
              </a:rPr>
              <a:t> energética.</a:t>
            </a:r>
            <a:endParaRPr lang="es-AR" sz="1600" dirty="0">
              <a:latin typeface="Bahnschrift"/>
            </a:endParaRPr>
          </a:p>
        </p:txBody>
      </p:sp>
      <p:sp>
        <p:nvSpPr>
          <p:cNvPr id="16" name="Forma 19"/>
          <p:cNvSpPr/>
          <p:nvPr/>
        </p:nvSpPr>
        <p:spPr>
          <a:xfrm>
            <a:off x="6217920" y="4160520"/>
            <a:ext cx="5577840" cy="12801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b="1" dirty="0">
                <a:solidFill>
                  <a:srgbClr val="1E1E1E"/>
                </a:solidFill>
                <a:latin typeface="Bahnschrift"/>
                <a:ea typeface="Bahnschrift"/>
                <a:cs typeface="Bahnschrift"/>
                <a:sym typeface="Bahnschrift"/>
              </a:rPr>
              <a:t>Saciedad</a:t>
            </a:r>
            <a:r>
              <a:rPr lang="es-AR" sz="1600" dirty="0">
                <a:solidFill>
                  <a:srgbClr val="1E1E1E"/>
                </a:solidFill>
                <a:latin typeface="Bahnschrift"/>
                <a:ea typeface="Bahnschrift"/>
                <a:cs typeface="Bahnschrift"/>
                <a:sym typeface="Bahnschrift"/>
              </a:rPr>
              <a:t>: nutrientes, CCK, PYY, GLP-1, insulina y leptina → </a:t>
            </a:r>
            <a:r>
              <a:rPr lang="es-AR" sz="1600" b="1" dirty="0">
                <a:solidFill>
                  <a:srgbClr val="1E1E1E"/>
                </a:solidFill>
                <a:latin typeface="Bahnschrift"/>
                <a:ea typeface="Bahnschrift"/>
                <a:cs typeface="Bahnschrift"/>
                <a:sym typeface="Bahnschrift"/>
              </a:rPr>
              <a:t>POMC/α-MSH</a:t>
            </a:r>
            <a:r>
              <a:rPr lang="es-AR" sz="1600" dirty="0">
                <a:solidFill>
                  <a:srgbClr val="1E1E1E"/>
                </a:solidFill>
                <a:latin typeface="Bahnschrift"/>
                <a:ea typeface="Bahnschrift"/>
                <a:cs typeface="Bahnschrift"/>
                <a:sym typeface="Bahnschrift"/>
              </a:rPr>
              <a:t> limitan la ingesta.</a:t>
            </a:r>
            <a:endParaRPr lang="es-AR" sz="1600" dirty="0">
              <a:latin typeface="Bahnschrift"/>
            </a:endParaRPr>
          </a:p>
        </p:txBody>
      </p:sp>
      <p:sp>
        <p:nvSpPr>
          <p:cNvPr id="17" name="Forma 20"/>
          <p:cNvSpPr/>
          <p:nvPr/>
        </p:nvSpPr>
        <p:spPr>
          <a:xfrm>
            <a:off x="365760" y="5577840"/>
            <a:ext cx="11430000" cy="9144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00" dirty="0">
                <a:solidFill>
                  <a:srgbClr val="1E1E1E"/>
                </a:solidFill>
                <a:latin typeface="Bahnschrift"/>
                <a:ea typeface="Bahnschrift"/>
                <a:cs typeface="Bahnschrift"/>
                <a:sym typeface="Bahnschrift"/>
              </a:rPr>
              <a:t>¿Leptina alta y hambre? </a:t>
            </a:r>
            <a:r>
              <a:rPr lang="es-AR" sz="1300" b="1" dirty="0">
                <a:solidFill>
                  <a:srgbClr val="1E1E1E"/>
                </a:solidFill>
                <a:latin typeface="Bahnschrift"/>
                <a:ea typeface="Bahnschrift"/>
                <a:cs typeface="Bahnschrift"/>
                <a:sym typeface="Bahnschrift"/>
              </a:rPr>
              <a:t>Resistencia central</a:t>
            </a:r>
            <a:r>
              <a:rPr lang="es-AR" sz="1300" dirty="0">
                <a:solidFill>
                  <a:srgbClr val="1E1E1E"/>
                </a:solidFill>
                <a:latin typeface="Bahnschrift"/>
                <a:ea typeface="Bahnschrift"/>
                <a:cs typeface="Bahnschrift"/>
                <a:sym typeface="Bahnschrift"/>
              </a:rPr>
              <a:t> y redundancia · ¿Hipertiroidismo y pérdida de peso pese al hambre? </a:t>
            </a:r>
            <a:r>
              <a:rPr lang="es-AR" sz="1300" b="1" dirty="0">
                <a:solidFill>
                  <a:srgbClr val="1E1E1E"/>
                </a:solidFill>
                <a:latin typeface="Bahnschrift"/>
                <a:ea typeface="Bahnschrift"/>
                <a:cs typeface="Bahnschrift"/>
                <a:sym typeface="Bahnschrift"/>
              </a:rPr>
              <a:t>Gasto &gt; aporte</a:t>
            </a:r>
            <a:r>
              <a:rPr lang="es-AR" sz="1300" dirty="0">
                <a:solidFill>
                  <a:srgbClr val="1E1E1E"/>
                </a:solidFill>
                <a:latin typeface="Bahnschrift"/>
                <a:ea typeface="Bahnschrift"/>
                <a:cs typeface="Bahnschrift"/>
                <a:sym typeface="Bahnschrift"/>
              </a:rPr>
              <a:t> · ¿Por qué cuesta mantener el descenso? </a:t>
            </a:r>
            <a:r>
              <a:rPr lang="es-AR" sz="1300" b="1" dirty="0">
                <a:solidFill>
                  <a:srgbClr val="1E1E1E"/>
                </a:solidFill>
                <a:latin typeface="Bahnschrift"/>
                <a:ea typeface="Bahnschrift"/>
                <a:cs typeface="Bahnschrift"/>
                <a:sym typeface="Bahnschrift"/>
              </a:rPr>
              <a:t>Señales compensatorias</a:t>
            </a:r>
            <a:r>
              <a:rPr lang="es-AR" sz="1300" dirty="0">
                <a:solidFill>
                  <a:srgbClr val="1E1E1E"/>
                </a:solidFill>
                <a:latin typeface="Bahnschrift"/>
                <a:ea typeface="Bahnschrift"/>
                <a:cs typeface="Bahnschrift"/>
                <a:sym typeface="Bahnschrift"/>
              </a:rPr>
              <a:t>.</a:t>
            </a:r>
            <a:endParaRPr lang="es-AR" sz="130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829857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50" b="1" dirty="0">
                <a:solidFill>
                  <a:srgbClr val="1E1E1E"/>
                </a:solidFill>
                <a:latin typeface="Bahnschrift SemiBold Condensed"/>
                <a:ea typeface="Bahnschrift SemiBold Condensed"/>
                <a:cs typeface="Bahnschrift SemiBold Condensed"/>
                <a:sym typeface="Bahnschrift SemiBold Condensed"/>
              </a:rPr>
              <a:t>34 · EJES NEUROENDOCRINOS E INTEGRACIÓN AYUNO–SACIEDAD</a:t>
            </a:r>
            <a:endParaRPr lang="es-AR" sz="2550" dirty="0">
              <a:latin typeface="Bahnschrift SemiBold Condensed"/>
            </a:endParaRPr>
          </a:p>
        </p:txBody>
      </p:sp>
      <p:sp>
        <p:nvSpPr>
          <p:cNvPr id="1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600"/>
                                        <p:tgtEl>
                                          <p:spTgt spid="5"/>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600"/>
                                        <p:tgtEl>
                                          <p:spTgt spid="7"/>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30" fill="hold">
                      <p:stCondLst>
                        <p:cond delay="indefinite"/>
                      </p:stCondLst>
                      <p:childTnLst>
                        <p:par>
                          <p:cTn id="29"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39" fill="hold">
                      <p:stCondLst>
                        <p:cond delay="indefinite"/>
                      </p:stCondLst>
                      <p:childTnLst>
                        <p:par>
                          <p:cTn id="34"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ipe(left)">
                                      <p:cBhvr>
                                        <p:cTn id="33" dur="600"/>
                                        <p:tgtEl>
                                          <p:spTgt spid="10"/>
                                        </p:tgtEl>
                                      </p:cBhvr>
                                    </p:animEffect>
                                  </p:childTnLst>
                                </p:cTn>
                              </p:par>
                            </p:childTnLst>
                          </p:cTn>
                        </p:par>
                        <p:par>
                          <p:cTn id="38" fill="hold">
                            <p:stCondLst>
                              <p:cond delay="600"/>
                            </p:stCondLst>
                            <p:childTnLst>
                              <p:par>
                                <p:cTn id="35" presetID="10" presetClass="entr" presetSubtype="0"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48" fill="hold">
                      <p:stCondLst>
                        <p:cond delay="indefinite"/>
                      </p:stCondLst>
                      <p:childTnLst>
                        <p:par>
                          <p:cTn id="43"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left)">
                                      <p:cBhvr>
                                        <p:cTn id="42" dur="600"/>
                                        <p:tgtEl>
                                          <p:spTgt spid="12"/>
                                        </p:tgtEl>
                                      </p:cBhvr>
                                    </p:animEffect>
                                  </p:childTnLst>
                                </p:cTn>
                              </p:par>
                            </p:childTnLst>
                          </p:cTn>
                        </p:par>
                        <p:par>
                          <p:cTn id="47" fill="hold">
                            <p:stCondLst>
                              <p:cond delay="600"/>
                            </p:stCondLst>
                            <p:childTnLst>
                              <p:par>
                                <p:cTn id="44" presetID="10" presetClass="entr" presetSubtype="0" fill="hold" grpId="0"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53" fill="hold">
                      <p:stCondLst>
                        <p:cond delay="indefinite"/>
                      </p:stCondLst>
                      <p:childTnLst>
                        <p:par>
                          <p:cTn id="52"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8" fill="hold">
                      <p:stCondLst>
                        <p:cond delay="indefinite"/>
                      </p:stCondLst>
                      <p:childTnLst>
                        <p:par>
                          <p:cTn id="57"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63" fill="hold">
                      <p:stCondLst>
                        <p:cond delay="indefinite"/>
                      </p:stCondLst>
                      <p:childTnLst>
                        <p:par>
                          <p:cTn id="62"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8" fill="hold">
                      <p:stCondLst>
                        <p:cond delay="indefinite"/>
                      </p:stCondLst>
                      <p:childTnLst>
                        <p:par>
                          <p:cTn id="67"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Lst>
  </p:timing>
</p:sld>
</file>

<file path=ppt/slides/slide165.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Frase"/>
          <p:cNvSpPr/>
          <p:nvPr/>
        </p:nvSpPr>
        <p:spPr>
          <a:xfrm>
            <a:off x="365760" y="1005840"/>
            <a:ext cx="11430000" cy="9144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2000" dirty="0">
                <a:solidFill>
                  <a:srgbClr val="FFFFFF"/>
                </a:solidFill>
                <a:latin typeface="Bahnschrift SemiBold Condensed"/>
                <a:ea typeface="Bahnschrift SemiBold Condensed"/>
                <a:cs typeface="Bahnschrift SemiBold Condensed"/>
                <a:sym typeface="Bahnschrift SemiBold Condensed"/>
              </a:rPr>
              <a:t>«Los azúcares engordan» → la frase es </a:t>
            </a:r>
            <a:r>
              <a:rPr lang="es-AR" sz="2000" b="1" dirty="0">
                <a:solidFill>
                  <a:srgbClr val="FFFFFF"/>
                </a:solidFill>
                <a:latin typeface="Bahnschrift SemiBold Condensed"/>
                <a:ea typeface="Bahnschrift SemiBold Condensed"/>
                <a:cs typeface="Bahnschrift SemiBold Condensed"/>
                <a:sym typeface="Bahnschrift SemiBold Condensed"/>
              </a:rPr>
              <a:t>demasiado absoluta</a:t>
            </a:r>
            <a:endParaRPr lang="es-AR" sz="2000" dirty="0">
              <a:latin typeface="Bahnschrift SemiBold Condensed"/>
            </a:endParaRPr>
          </a:p>
        </p:txBody>
      </p:sp>
      <p:sp>
        <p:nvSpPr>
          <p:cNvPr id="5" name="Destino Oxidación"/>
          <p:cNvSpPr/>
          <p:nvPr/>
        </p:nvSpPr>
        <p:spPr>
          <a:xfrm>
            <a:off x="365760" y="2148840"/>
            <a:ext cx="3657600" cy="14630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Oxidación</a:t>
            </a:r>
            <a:r>
              <a:rPr lang="es-AR" sz="1750" dirty="0">
                <a:solidFill>
                  <a:srgbClr val="1E1E1E"/>
                </a:solidFill>
                <a:latin typeface="Bahnschrift"/>
                <a:ea typeface="Bahnschrift"/>
                <a:cs typeface="Bahnschrift"/>
                <a:sym typeface="Bahnschrift"/>
              </a:rPr>
              <a:t>: una gran fracción se </a:t>
            </a:r>
            <a:r>
              <a:rPr lang="es-AR" sz="1750" b="1" dirty="0">
                <a:solidFill>
                  <a:srgbClr val="1E1E1E"/>
                </a:solidFill>
                <a:latin typeface="Bahnschrift"/>
                <a:ea typeface="Bahnschrift"/>
                <a:cs typeface="Bahnschrift"/>
                <a:sym typeface="Bahnschrift"/>
              </a:rPr>
              <a:t>oxida</a:t>
            </a:r>
            <a:endParaRPr lang="es-AR" sz="1750" dirty="0">
              <a:latin typeface="Bahnschrift"/>
            </a:endParaRPr>
          </a:p>
        </p:txBody>
      </p:sp>
      <p:sp>
        <p:nvSpPr>
          <p:cNvPr id="6" name="Destino Glucógeno"/>
          <p:cNvSpPr/>
          <p:nvPr/>
        </p:nvSpPr>
        <p:spPr>
          <a:xfrm>
            <a:off x="4206240" y="2148840"/>
            <a:ext cx="3657600" cy="14630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Glucógeno</a:t>
            </a:r>
            <a:r>
              <a:rPr lang="es-AR" sz="1750" dirty="0">
                <a:solidFill>
                  <a:srgbClr val="1E1E1E"/>
                </a:solidFill>
                <a:latin typeface="Bahnschrift"/>
                <a:ea typeface="Bahnschrift"/>
                <a:cs typeface="Bahnschrift"/>
                <a:sym typeface="Bahnschrift"/>
              </a:rPr>
              <a:t>: repone </a:t>
            </a:r>
            <a:r>
              <a:rPr lang="es-AR" sz="1750" b="1" dirty="0">
                <a:solidFill>
                  <a:srgbClr val="1E1E1E"/>
                </a:solidFill>
                <a:latin typeface="Bahnschrift"/>
                <a:ea typeface="Bahnschrift"/>
                <a:cs typeface="Bahnschrift"/>
                <a:sym typeface="Bahnschrift"/>
              </a:rPr>
              <a:t>glucógeno</a:t>
            </a:r>
            <a:endParaRPr lang="es-AR" sz="1750" dirty="0">
              <a:latin typeface="Bahnschrift"/>
            </a:endParaRPr>
          </a:p>
        </p:txBody>
      </p:sp>
      <p:sp>
        <p:nvSpPr>
          <p:cNvPr id="7" name="Destino DNL"/>
          <p:cNvSpPr/>
          <p:nvPr/>
        </p:nvSpPr>
        <p:spPr>
          <a:xfrm>
            <a:off x="8046720" y="2148840"/>
            <a:ext cx="3657600" cy="14630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750" b="1" dirty="0">
                <a:solidFill>
                  <a:srgbClr val="1E1E1E"/>
                </a:solidFill>
                <a:latin typeface="Bahnschrift"/>
                <a:ea typeface="Bahnschrift"/>
                <a:cs typeface="Bahnschrift"/>
                <a:sym typeface="Bahnschrift"/>
              </a:rPr>
              <a:t>DNL</a:t>
            </a:r>
            <a:r>
              <a:rPr lang="es-AR" sz="1750" dirty="0">
                <a:solidFill>
                  <a:srgbClr val="1E1E1E"/>
                </a:solidFill>
                <a:latin typeface="Bahnschrift"/>
                <a:ea typeface="Bahnschrift"/>
                <a:cs typeface="Bahnschrift"/>
                <a:sym typeface="Bahnschrift"/>
              </a:rPr>
              <a:t>: bajo ciertas condiciones → </a:t>
            </a:r>
            <a:r>
              <a:rPr lang="es-AR" sz="1750" b="1" dirty="0">
                <a:solidFill>
                  <a:srgbClr val="1E1E1E"/>
                </a:solidFill>
                <a:latin typeface="Bahnschrift"/>
                <a:ea typeface="Bahnschrift"/>
                <a:cs typeface="Bahnschrift"/>
                <a:sym typeface="Bahnschrift"/>
              </a:rPr>
              <a:t>lipogénesis de novo</a:t>
            </a:r>
            <a:endParaRPr lang="es-AR" sz="1750" dirty="0">
              <a:latin typeface="Bahnschrift"/>
            </a:endParaRPr>
          </a:p>
        </p:txBody>
      </p:sp>
      <p:grpSp>
        <p:nvGrpSpPr>
          <p:cNvPr id="8" name="Recuadro Balance"/>
          <p:cNvGrpSpPr/>
          <p:nvPr/>
        </p:nvGrpSpPr>
        <p:grpSpPr>
          <a:xfrm>
            <a:off x="365760" y="3840480"/>
            <a:ext cx="5577840" cy="2651760"/>
            <a:chOff x="365760" y="3840480"/>
            <a:chExt cx="5577840" cy="2651760"/>
          </a:xfrm>
        </p:grpSpPr>
        <p:sp>
          <p:nvSpPr>
            <p:cNvPr id="9" name="Forma 8"/>
            <p:cNvSpPr/>
            <p:nvPr/>
          </p:nvSpPr>
          <p:spPr>
            <a:xfrm>
              <a:off x="365760" y="4023360"/>
              <a:ext cx="5577840" cy="24688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El </a:t>
              </a:r>
              <a:r>
                <a:rPr lang="es-AR" sz="1650" b="1" dirty="0">
                  <a:solidFill>
                    <a:srgbClr val="1E1E1E"/>
                  </a:solidFill>
                  <a:latin typeface="Bahnschrift"/>
                  <a:ea typeface="Bahnschrift"/>
                  <a:cs typeface="Bahnschrift"/>
                  <a:sym typeface="Bahnschrift"/>
                </a:rPr>
                <a:t>exceso energético sostenido</a:t>
              </a:r>
              <a:r>
                <a:rPr lang="es-AR" sz="1650" dirty="0">
                  <a:solidFill>
                    <a:srgbClr val="1E1E1E"/>
                  </a:solidFill>
                  <a:latin typeface="Bahnschrift"/>
                  <a:ea typeface="Bahnschrift"/>
                  <a:cs typeface="Bahnschrift"/>
                  <a:sym typeface="Bahnschrift"/>
                </a:rPr>
                <a:t> favorece la acumulación de grasa </a:t>
              </a:r>
              <a:r>
                <a:rPr lang="es-AR" sz="1650" b="1" dirty="0">
                  <a:solidFill>
                    <a:srgbClr val="1E1E1E"/>
                  </a:solidFill>
                  <a:latin typeface="Bahnschrift"/>
                  <a:ea typeface="Bahnschrift"/>
                  <a:cs typeface="Bahnschrift"/>
                  <a:sym typeface="Bahnschrift"/>
                </a:rPr>
                <a:t>independientemente</a:t>
              </a:r>
              <a:r>
                <a:rPr lang="es-AR" sz="1650" dirty="0">
                  <a:solidFill>
                    <a:srgbClr val="1E1E1E"/>
                  </a:solidFill>
                  <a:latin typeface="Bahnschrift"/>
                  <a:ea typeface="Bahnschrift"/>
                  <a:cs typeface="Bahnschrift"/>
                  <a:sym typeface="Bahnschrift"/>
                </a:rPr>
                <a:t> de que las calorías provengan de azúcares, grasas o mezclas. Depende del patrón alimentario, densidad energética, saciedad, actividad y sensibilidad a insulina.</a:t>
              </a:r>
              <a:endParaRPr lang="es-AR" sz="1650" dirty="0">
                <a:latin typeface="Bahnschrift"/>
              </a:endParaRPr>
            </a:p>
          </p:txBody>
        </p:sp>
        <p:sp>
          <p:nvSpPr>
            <p:cNvPr id="10" name="Forma 9"/>
            <p:cNvSpPr/>
            <p:nvPr/>
          </p:nvSpPr>
          <p:spPr>
            <a:xfrm>
              <a:off x="475488" y="3840480"/>
              <a:ext cx="101245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BALANCE</a:t>
              </a:r>
              <a:endParaRPr lang="es-AR" sz="1500" dirty="0">
                <a:latin typeface="Bahnschrift SemiBold Condensed"/>
              </a:endParaRPr>
            </a:p>
          </p:txBody>
        </p:sp>
      </p:grpSp>
      <p:grpSp>
        <p:nvGrpSpPr>
          <p:cNvPr id="11" name="Recuadro Insulina"/>
          <p:cNvGrpSpPr/>
          <p:nvPr/>
        </p:nvGrpSpPr>
        <p:grpSpPr>
          <a:xfrm>
            <a:off x="6217920" y="3840480"/>
            <a:ext cx="5577840" cy="2651760"/>
            <a:chOff x="6217920" y="3840480"/>
            <a:chExt cx="5577840" cy="2651760"/>
          </a:xfrm>
        </p:grpSpPr>
        <p:sp>
          <p:nvSpPr>
            <p:cNvPr id="12" name="Forma 11"/>
            <p:cNvSpPr/>
            <p:nvPr/>
          </p:nvSpPr>
          <p:spPr>
            <a:xfrm>
              <a:off x="6217920" y="4023360"/>
              <a:ext cx="5577840" cy="24688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 insulina facilita el almacenamiento lipídico e inhibe la lipólisis, pero </a:t>
              </a:r>
              <a:r>
                <a:rPr lang="es-AR" sz="1650" b="1" dirty="0">
                  <a:solidFill>
                    <a:srgbClr val="1E1E1E"/>
                  </a:solidFill>
                  <a:latin typeface="Bahnschrift"/>
                  <a:ea typeface="Bahnschrift"/>
                  <a:cs typeface="Bahnschrift"/>
                  <a:sym typeface="Bahnschrift"/>
                </a:rPr>
                <a:t>no viola el balance energético</a:t>
              </a:r>
              <a:r>
                <a:rPr lang="es-AR" sz="1650" dirty="0">
                  <a:solidFill>
                    <a:srgbClr val="1E1E1E"/>
                  </a:solidFill>
                  <a:latin typeface="Bahnschrift"/>
                  <a:ea typeface="Bahnschrift"/>
                  <a:cs typeface="Bahnschrift"/>
                  <a:sym typeface="Bahnschrift"/>
                </a:rPr>
                <a:t>. «Comer azúcar se convierte automáticamente en grasa» es </a:t>
              </a:r>
              <a:r>
                <a:rPr lang="es-AR" sz="1650" b="1" dirty="0">
                  <a:solidFill>
                    <a:srgbClr val="1E1E1E"/>
                  </a:solidFill>
                  <a:latin typeface="Bahnschrift"/>
                  <a:ea typeface="Bahnschrift"/>
                  <a:cs typeface="Bahnschrift"/>
                  <a:sym typeface="Bahnschrift"/>
                </a:rPr>
                <a:t>falso</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3" name="Forma 12"/>
            <p:cNvSpPr/>
            <p:nvPr/>
          </p:nvSpPr>
          <p:spPr>
            <a:xfrm>
              <a:off x="6327648" y="3840480"/>
              <a:ext cx="102077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INSULINA</a:t>
              </a:r>
              <a:endParaRPr lang="es-AR" sz="1500" dirty="0">
                <a:latin typeface="Bahnschrift SemiBold Condensed"/>
              </a:endParaRPr>
            </a:p>
          </p:txBody>
        </p:sp>
      </p:gr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703471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35 · «LOS AZÚCARES ENGORDAN»: ANÁLISIS CRÍTICO</a:t>
            </a:r>
            <a:endParaRPr lang="es-AR" sz="2600" dirty="0">
              <a:latin typeface="Bahnschrift SemiBold Condensed"/>
            </a:endParaRPr>
          </a:p>
        </p:txBody>
      </p:sp>
      <p:sp>
        <p:nvSpPr>
          <p:cNvPr id="1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Lst>
  </p:timing>
</p:sld>
</file>

<file path=ppt/slides/slide166.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sp>
        <p:nvSpPr>
          <p:cNvPr id="4" name="Sacarosa"/>
          <p:cNvSpPr/>
          <p:nvPr/>
        </p:nvSpPr>
        <p:spPr>
          <a:xfrm>
            <a:off x="4206240" y="1005840"/>
            <a:ext cx="946262" cy="29527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Sacarosa</a:t>
            </a:r>
            <a:endParaRPr lang="es-AR" sz="1500" dirty="0">
              <a:latin typeface="Bahnschrift SemiBold Condensed"/>
            </a:endParaRPr>
          </a:p>
        </p:txBody>
      </p:sp>
      <p:sp>
        <p:nvSpPr>
          <p:cNvPr id="5" name="Ruta glucosa Glucosa"/>
          <p:cNvSpPr/>
          <p:nvPr/>
        </p:nvSpPr>
        <p:spPr>
          <a:xfrm>
            <a:off x="914400" y="1737360"/>
            <a:ext cx="3017520" cy="502920"/>
          </a:xfrm>
          <a:prstGeom prst="roundRect">
            <a:avLst>
              <a:gd name="adj" fmla="val 30000"/>
            </a:avLst>
          </a:prstGeom>
          <a:solidFill>
            <a:srgbClr val="DCEBF8"/>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Glucosa</a:t>
            </a:r>
            <a:endParaRPr lang="es-AR" sz="1350" dirty="0">
              <a:latin typeface="Bahnschrift SemiBold Condensed"/>
            </a:endParaRPr>
          </a:p>
        </p:txBody>
      </p:sp>
      <p:grpSp>
        <p:nvGrpSpPr>
          <p:cNvPr id="6" name="Ruta glucosa paso 1"/>
          <p:cNvGrpSpPr/>
          <p:nvPr/>
        </p:nvGrpSpPr>
        <p:grpSpPr>
          <a:xfrm>
            <a:off x="2423160" y="2267712"/>
            <a:ext cx="1296381" cy="493776"/>
            <a:chOff x="2423160" y="2267712"/>
            <a:chExt cx="1296381" cy="493776"/>
          </a:xfrm>
        </p:grpSpPr>
        <p:sp>
          <p:nvSpPr>
            <p:cNvPr id="7" name="Flecha 6_2"/>
            <p:cNvSpPr/>
            <p:nvPr/>
          </p:nvSpPr>
          <p:spPr>
            <a:xfrm>
              <a:off x="2423160" y="226771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sp>
          <p:nvSpPr>
            <p:cNvPr id="8" name="Enzima PFK-1 (regulada)"/>
            <p:cNvSpPr/>
            <p:nvPr/>
          </p:nvSpPr>
          <p:spPr>
            <a:xfrm>
              <a:off x="2532888" y="2368296"/>
              <a:ext cx="118665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PFK-1 (regulada)</a:t>
              </a:r>
              <a:endParaRPr lang="es-AR" sz="1150" dirty="0">
                <a:latin typeface="Bahnschrift SemiBold Condensed"/>
              </a:endParaRPr>
            </a:p>
          </p:txBody>
        </p:sp>
      </p:grpSp>
      <p:sp>
        <p:nvSpPr>
          <p:cNvPr id="9" name="Ruta glucosa Glucólisis → piruv"/>
          <p:cNvSpPr/>
          <p:nvPr/>
        </p:nvSpPr>
        <p:spPr>
          <a:xfrm>
            <a:off x="914400" y="2788920"/>
            <a:ext cx="301752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Glucólisis → piruvato</a:t>
            </a:r>
            <a:endParaRPr lang="es-AR" sz="1350" dirty="0">
              <a:latin typeface="Bahnschrift SemiBold Condensed"/>
            </a:endParaRPr>
          </a:p>
        </p:txBody>
      </p:sp>
      <p:grpSp>
        <p:nvGrpSpPr>
          <p:cNvPr id="10" name="Ruta glucosa paso 2"/>
          <p:cNvGrpSpPr/>
          <p:nvPr/>
        </p:nvGrpSpPr>
        <p:grpSpPr>
          <a:xfrm>
            <a:off x="2423160" y="3319272"/>
            <a:ext cx="553763" cy="493776"/>
            <a:chOff x="2423160" y="3319272"/>
            <a:chExt cx="553763" cy="493776"/>
          </a:xfrm>
        </p:grpSpPr>
        <p:sp>
          <p:nvSpPr>
            <p:cNvPr id="11" name="Flecha 11_2"/>
            <p:cNvSpPr/>
            <p:nvPr/>
          </p:nvSpPr>
          <p:spPr>
            <a:xfrm>
              <a:off x="2423160" y="3319272"/>
              <a:ext cx="9144" cy="493776"/>
            </a:xfrm>
            <a:custGeom>
              <a:avLst/>
              <a:gdLst/>
              <a:ahLst/>
              <a:cxnLst/>
              <a:rect l="0" t="0" r="r" b="b"/>
              <a:pathLst>
                <a:path w="10" h="539" fill="none">
                  <a:moveTo>
                    <a:pt x="0" y="0"/>
                  </a:moveTo>
                  <a:lnTo>
                    <a:pt x="0" y="539"/>
                  </a:lnTo>
                </a:path>
              </a:pathLst>
            </a:custGeom>
            <a:noFill/>
            <a:ln w="44450" cap="rnd">
              <a:solidFill>
                <a:srgbClr val="1E1E1E"/>
              </a:solidFill>
              <a:round/>
              <a:tailEnd type="triangle" w="med" len="med"/>
            </a:ln>
          </p:spPr>
        </p:sp>
        <p:sp>
          <p:nvSpPr>
            <p:cNvPr id="12" name="Enzima PDH"/>
            <p:cNvSpPr/>
            <p:nvPr/>
          </p:nvSpPr>
          <p:spPr>
            <a:xfrm>
              <a:off x="2532888" y="3419856"/>
              <a:ext cx="444035"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PDH</a:t>
              </a:r>
              <a:endParaRPr lang="es-AR" sz="1150" dirty="0">
                <a:latin typeface="Bahnschrift SemiBold Condensed"/>
              </a:endParaRPr>
            </a:p>
          </p:txBody>
        </p:sp>
      </p:grpSp>
      <p:sp>
        <p:nvSpPr>
          <p:cNvPr id="13" name="Ruta glucosa Acetil-CoA → citra"/>
          <p:cNvSpPr/>
          <p:nvPr/>
        </p:nvSpPr>
        <p:spPr>
          <a:xfrm>
            <a:off x="914400" y="3840480"/>
            <a:ext cx="3017520" cy="50292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Acetil-CoA → citrato citosólico</a:t>
            </a:r>
            <a:endParaRPr lang="es-AR" sz="1350" dirty="0">
              <a:latin typeface="Bahnschrift SemiBold Condensed"/>
            </a:endParaRPr>
          </a:p>
        </p:txBody>
      </p:sp>
      <p:grpSp>
        <p:nvGrpSpPr>
          <p:cNvPr id="14" name="Ruta glucosa paso 3"/>
          <p:cNvGrpSpPr/>
          <p:nvPr/>
        </p:nvGrpSpPr>
        <p:grpSpPr>
          <a:xfrm>
            <a:off x="2423160" y="4370832"/>
            <a:ext cx="9144" cy="493776"/>
            <a:chOff x="2423160" y="4370832"/>
            <a:chExt cx="9144" cy="493776"/>
          </a:xfrm>
        </p:grpSpPr>
        <p:sp>
          <p:nvSpPr>
            <p:cNvPr id="15" name="Flecha 16_2"/>
            <p:cNvSpPr/>
            <p:nvPr/>
          </p:nvSpPr>
          <p:spPr>
            <a:xfrm>
              <a:off x="2423160" y="437083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grpSp>
      <p:sp>
        <p:nvSpPr>
          <p:cNvPr id="16" name="Ruta glucosa ACC/FASN → AG → TA"/>
          <p:cNvSpPr/>
          <p:nvPr/>
        </p:nvSpPr>
        <p:spPr>
          <a:xfrm>
            <a:off x="914400" y="4892040"/>
            <a:ext cx="3017520" cy="50292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ACC/FASN → AG → TAG</a:t>
            </a:r>
            <a:endParaRPr lang="es-AR" sz="1350" dirty="0">
              <a:latin typeface="Bahnschrift SemiBold Condensed"/>
            </a:endParaRPr>
          </a:p>
        </p:txBody>
      </p:sp>
      <p:sp>
        <p:nvSpPr>
          <p:cNvPr id="17" name="Ruta fructosa Fructosa"/>
          <p:cNvSpPr/>
          <p:nvPr/>
        </p:nvSpPr>
        <p:spPr>
          <a:xfrm>
            <a:off x="6949440" y="1737360"/>
            <a:ext cx="3291840" cy="502920"/>
          </a:xfrm>
          <a:prstGeom prst="roundRect">
            <a:avLst>
              <a:gd name="adj" fmla="val 30000"/>
            </a:avLst>
          </a:prstGeom>
          <a:solidFill>
            <a:srgbClr val="F2BE90"/>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Fructosa</a:t>
            </a:r>
            <a:endParaRPr lang="es-AR" sz="1350" dirty="0">
              <a:latin typeface="Bahnschrift SemiBold Condensed"/>
            </a:endParaRPr>
          </a:p>
        </p:txBody>
      </p:sp>
      <p:grpSp>
        <p:nvGrpSpPr>
          <p:cNvPr id="18" name="Ruta fructosa paso 1"/>
          <p:cNvGrpSpPr/>
          <p:nvPr/>
        </p:nvGrpSpPr>
        <p:grpSpPr>
          <a:xfrm>
            <a:off x="8595360" y="2267712"/>
            <a:ext cx="1728809" cy="493776"/>
            <a:chOff x="8595360" y="2267712"/>
            <a:chExt cx="1728809" cy="493776"/>
          </a:xfrm>
        </p:grpSpPr>
        <p:sp>
          <p:nvSpPr>
            <p:cNvPr id="19" name="Flecha 21_2"/>
            <p:cNvSpPr/>
            <p:nvPr/>
          </p:nvSpPr>
          <p:spPr>
            <a:xfrm>
              <a:off x="8595360" y="226771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sp>
          <p:nvSpPr>
            <p:cNvPr id="20" name="Enzima KHK (fructocinasa, A"/>
            <p:cNvSpPr/>
            <p:nvPr/>
          </p:nvSpPr>
          <p:spPr>
            <a:xfrm>
              <a:off x="8705088" y="2368296"/>
              <a:ext cx="1619081"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KHK (fructocinasa, ATP)</a:t>
              </a:r>
              <a:endParaRPr lang="es-AR" sz="1150" dirty="0">
                <a:latin typeface="Bahnschrift SemiBold Condensed"/>
              </a:endParaRPr>
            </a:p>
          </p:txBody>
        </p:sp>
      </p:grpSp>
      <p:sp>
        <p:nvSpPr>
          <p:cNvPr id="21" name="Ruta fructosa Fructosa-1-P"/>
          <p:cNvSpPr/>
          <p:nvPr/>
        </p:nvSpPr>
        <p:spPr>
          <a:xfrm>
            <a:off x="6949440" y="2788920"/>
            <a:ext cx="329184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Fructosa-1-P</a:t>
            </a:r>
            <a:endParaRPr lang="es-AR" sz="1350" dirty="0">
              <a:latin typeface="Bahnschrift SemiBold Condensed"/>
            </a:endParaRPr>
          </a:p>
        </p:txBody>
      </p:sp>
      <p:grpSp>
        <p:nvGrpSpPr>
          <p:cNvPr id="22" name="Ruta fructosa paso 2"/>
          <p:cNvGrpSpPr/>
          <p:nvPr/>
        </p:nvGrpSpPr>
        <p:grpSpPr>
          <a:xfrm>
            <a:off x="8595360" y="3319272"/>
            <a:ext cx="925720" cy="493776"/>
            <a:chOff x="8595360" y="3319272"/>
            <a:chExt cx="925720" cy="493776"/>
          </a:xfrm>
        </p:grpSpPr>
        <p:sp>
          <p:nvSpPr>
            <p:cNvPr id="23" name="Flecha 26_2"/>
            <p:cNvSpPr/>
            <p:nvPr/>
          </p:nvSpPr>
          <p:spPr>
            <a:xfrm>
              <a:off x="8595360" y="3319272"/>
              <a:ext cx="9144" cy="493776"/>
            </a:xfrm>
            <a:custGeom>
              <a:avLst/>
              <a:gdLst/>
              <a:ahLst/>
              <a:cxnLst/>
              <a:rect l="0" t="0" r="r" b="b"/>
              <a:pathLst>
                <a:path w="10" h="539" fill="none">
                  <a:moveTo>
                    <a:pt x="0" y="0"/>
                  </a:moveTo>
                  <a:lnTo>
                    <a:pt x="0" y="539"/>
                  </a:lnTo>
                </a:path>
              </a:pathLst>
            </a:custGeom>
            <a:noFill/>
            <a:ln w="44450" cap="rnd">
              <a:solidFill>
                <a:srgbClr val="1E1E1E"/>
              </a:solidFill>
              <a:round/>
              <a:tailEnd type="triangle" w="med" len="med"/>
            </a:ln>
          </p:spPr>
        </p:sp>
        <p:sp>
          <p:nvSpPr>
            <p:cNvPr id="24" name="Enzima aldolasa B"/>
            <p:cNvSpPr/>
            <p:nvPr/>
          </p:nvSpPr>
          <p:spPr>
            <a:xfrm>
              <a:off x="8705088" y="3419856"/>
              <a:ext cx="81599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aldolasa B</a:t>
              </a:r>
              <a:endParaRPr lang="es-AR" sz="1150" dirty="0">
                <a:latin typeface="Bahnschrift SemiBold Condensed"/>
              </a:endParaRPr>
            </a:p>
          </p:txBody>
        </p:sp>
      </p:grpSp>
      <p:sp>
        <p:nvSpPr>
          <p:cNvPr id="25" name="Ruta fructosa Triosas (DHAP + gl"/>
          <p:cNvSpPr/>
          <p:nvPr/>
        </p:nvSpPr>
        <p:spPr>
          <a:xfrm>
            <a:off x="6949440" y="3840480"/>
            <a:ext cx="329184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Triosas (DHAP + gliceraldehído)</a:t>
            </a:r>
            <a:endParaRPr lang="es-AR" sz="1350" dirty="0">
              <a:latin typeface="Bahnschrift SemiBold Condensed"/>
            </a:endParaRPr>
          </a:p>
        </p:txBody>
      </p:sp>
      <p:grpSp>
        <p:nvGrpSpPr>
          <p:cNvPr id="26" name="Ruta fructosa paso 3"/>
          <p:cNvGrpSpPr/>
          <p:nvPr/>
        </p:nvGrpSpPr>
        <p:grpSpPr>
          <a:xfrm>
            <a:off x="8595360" y="4370832"/>
            <a:ext cx="9144" cy="493776"/>
            <a:chOff x="8595360" y="4370832"/>
            <a:chExt cx="9144" cy="493776"/>
          </a:xfrm>
        </p:grpSpPr>
        <p:sp>
          <p:nvSpPr>
            <p:cNvPr id="27" name="Flecha 31_2"/>
            <p:cNvSpPr/>
            <p:nvPr/>
          </p:nvSpPr>
          <p:spPr>
            <a:xfrm>
              <a:off x="8595360" y="437083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grpSp>
      <p:sp>
        <p:nvSpPr>
          <p:cNvPr id="28" name="Ruta fructosa Glucosa · glucógen"/>
          <p:cNvSpPr/>
          <p:nvPr/>
        </p:nvSpPr>
        <p:spPr>
          <a:xfrm>
            <a:off x="6949440" y="4892040"/>
            <a:ext cx="3291840" cy="502920"/>
          </a:xfrm>
          <a:prstGeom prst="roundRect">
            <a:avLst>
              <a:gd name="adj" fmla="val 30000"/>
            </a:avLst>
          </a:prstGeom>
          <a:solidFill>
            <a:srgbClr val="CDE8C4"/>
          </a:solidFill>
          <a:ln w="12700" cap="rnd">
            <a:solidFill>
              <a:srgbClr val="1E1E1E"/>
            </a:solidFill>
            <a:round/>
          </a:ln>
        </p:spPr>
        <p:txBody>
          <a:bodyPr wrap="square" lIns="27432" tIns="0" rIns="27432"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Glucosa · glucógeno · lactato · DNL</a:t>
            </a:r>
            <a:endParaRPr lang="es-AR" sz="1350" dirty="0">
              <a:latin typeface="Bahnschrift SemiBold Condensed"/>
            </a:endParaRPr>
          </a:p>
        </p:txBody>
      </p:sp>
      <p:sp>
        <p:nvSpPr>
          <p:cNvPr id="29" name="Flecha 34_2"/>
          <p:cNvSpPr/>
          <p:nvPr/>
        </p:nvSpPr>
        <p:spPr>
          <a:xfrm>
            <a:off x="2423160" y="1463040"/>
            <a:ext cx="2057400" cy="256032"/>
          </a:xfrm>
          <a:custGeom>
            <a:avLst/>
            <a:gdLst/>
            <a:ahLst/>
            <a:cxnLst/>
            <a:rect l="0" t="0" r="r" b="b"/>
            <a:pathLst>
              <a:path w="2250" h="279" fill="none">
                <a:moveTo>
                  <a:pt x="2250" y="0"/>
                </a:moveTo>
                <a:lnTo>
                  <a:pt x="0" y="279"/>
                </a:lnTo>
              </a:path>
            </a:pathLst>
          </a:custGeom>
          <a:noFill/>
          <a:ln w="31750" cap="rnd">
            <a:solidFill>
              <a:srgbClr val="1E1E1E"/>
            </a:solidFill>
            <a:round/>
            <a:tailEnd type="triangle" w="med" len="med"/>
          </a:ln>
        </p:spPr>
      </p:sp>
      <p:sp>
        <p:nvSpPr>
          <p:cNvPr id="30" name="Flecha 36_2"/>
          <p:cNvSpPr/>
          <p:nvPr/>
        </p:nvSpPr>
        <p:spPr>
          <a:xfrm>
            <a:off x="5120640" y="1463040"/>
            <a:ext cx="3474720" cy="256032"/>
          </a:xfrm>
          <a:custGeom>
            <a:avLst/>
            <a:gdLst/>
            <a:ahLst/>
            <a:cxnLst/>
            <a:rect l="0" t="0" r="r" b="b"/>
            <a:pathLst>
              <a:path w="3800" h="279" fill="none">
                <a:moveTo>
                  <a:pt x="0" y="0"/>
                </a:moveTo>
                <a:lnTo>
                  <a:pt x="3800" y="279"/>
                </a:lnTo>
              </a:path>
            </a:pathLst>
          </a:custGeom>
          <a:noFill/>
          <a:ln w="31750" cap="rnd">
            <a:solidFill>
              <a:srgbClr val="1E1E1E"/>
            </a:solidFill>
            <a:round/>
            <a:tailEnd type="triangle" w="med" len="med"/>
          </a:ln>
        </p:spPr>
      </p:sp>
      <p:sp>
        <p:nvSpPr>
          <p:cNvPr id="31" name="Bypass"/>
          <p:cNvSpPr/>
          <p:nvPr/>
        </p:nvSpPr>
        <p:spPr>
          <a:xfrm>
            <a:off x="4206240" y="2834640"/>
            <a:ext cx="2468880" cy="16002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La fructosa </a:t>
            </a:r>
            <a:r>
              <a:rPr lang="es-AR" sz="1600" b="1" dirty="0">
                <a:solidFill>
                  <a:srgbClr val="FFFFFF"/>
                </a:solidFill>
                <a:latin typeface="Bahnschrift"/>
                <a:ea typeface="Bahnschrift"/>
                <a:cs typeface="Bahnschrift"/>
                <a:sym typeface="Bahnschrift"/>
              </a:rPr>
              <a:t>evita</a:t>
            </a:r>
            <a:r>
              <a:rPr lang="es-AR" sz="1600" dirty="0">
                <a:solidFill>
                  <a:srgbClr val="FFFFFF"/>
                </a:solidFill>
                <a:latin typeface="Bahnschrift"/>
                <a:ea typeface="Bahnschrift"/>
                <a:cs typeface="Bahnschrift"/>
                <a:sym typeface="Bahnschrift"/>
              </a:rPr>
              <a:t> el paso limitante de </a:t>
            </a:r>
            <a:r>
              <a:rPr lang="es-AR" sz="1600" b="1" dirty="0">
                <a:solidFill>
                  <a:srgbClr val="FFFFFF"/>
                </a:solidFill>
                <a:latin typeface="Bahnschrift"/>
                <a:ea typeface="Bahnschrift"/>
                <a:cs typeface="Bahnschrift"/>
                <a:sym typeface="Bahnschrift"/>
              </a:rPr>
              <a:t>PFK-1</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sp>
        <p:nvSpPr>
          <p:cNvPr id="32" name="Forma 39"/>
          <p:cNvSpPr/>
          <p:nvPr/>
        </p:nvSpPr>
        <p:spPr>
          <a:xfrm>
            <a:off x="365760" y="5806440"/>
            <a:ext cx="11430000" cy="685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400" dirty="0">
                <a:solidFill>
                  <a:srgbClr val="1E1E1E"/>
                </a:solidFill>
                <a:latin typeface="Bahnschrift"/>
                <a:ea typeface="Bahnschrift"/>
                <a:cs typeface="Bahnschrift"/>
                <a:sym typeface="Bahnschrift"/>
              </a:rPr>
              <a:t>En ingestas </a:t>
            </a:r>
            <a:r>
              <a:rPr lang="es-AR" sz="1400" b="1" dirty="0">
                <a:solidFill>
                  <a:srgbClr val="1E1E1E"/>
                </a:solidFill>
                <a:latin typeface="Bahnschrift"/>
                <a:ea typeface="Bahnschrift"/>
                <a:cs typeface="Bahnschrift"/>
                <a:sym typeface="Bahnschrift"/>
              </a:rPr>
              <a:t>elevadas y sostenidas</a:t>
            </a:r>
            <a:r>
              <a:rPr lang="es-AR" sz="1400" dirty="0">
                <a:solidFill>
                  <a:srgbClr val="1E1E1E"/>
                </a:solidFill>
                <a:latin typeface="Bahnschrift"/>
                <a:ea typeface="Bahnschrift"/>
                <a:cs typeface="Bahnschrift"/>
                <a:sym typeface="Bahnschrift"/>
              </a:rPr>
              <a:t> (sobre todo </a:t>
            </a:r>
            <a:r>
              <a:rPr lang="es-AR" sz="1400" b="1" dirty="0">
                <a:solidFill>
                  <a:srgbClr val="1E1E1E"/>
                </a:solidFill>
                <a:latin typeface="Bahnschrift"/>
                <a:ea typeface="Bahnschrift"/>
                <a:cs typeface="Bahnschrift"/>
                <a:sym typeface="Bahnschrift"/>
              </a:rPr>
              <a:t>bebidas azucaradas</a:t>
            </a:r>
            <a:r>
              <a:rPr lang="es-AR" sz="1400" dirty="0">
                <a:solidFill>
                  <a:srgbClr val="1E1E1E"/>
                </a:solidFill>
                <a:latin typeface="Bahnschrift"/>
                <a:ea typeface="Bahnschrift"/>
                <a:cs typeface="Bahnschrift"/>
                <a:sym typeface="Bahnschrift"/>
              </a:rPr>
              <a:t>) pueden aumentar la DNL y los TAG hepáticos/VLDL.</a:t>
            </a:r>
            <a:endParaRPr lang="es-AR" sz="1400" dirty="0">
              <a:latin typeface="Bahnschrift"/>
            </a:endParaRPr>
          </a:p>
        </p:txBody>
      </p:sp>
      <p:sp>
        <p:nvSpPr>
          <p:cNvPr id="2" name="Etiqueta sección"/>
          <p:cNvSpPr/>
          <p:nvPr/>
        </p:nvSpPr>
        <p:spPr>
          <a:xfrm>
            <a:off x="10599196" y="201168"/>
            <a:ext cx="13181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RUTA ANIMADA</a:t>
            </a:r>
            <a:endParaRPr lang="es-AR" sz="1300" dirty="0">
              <a:latin typeface="Bahnschrift SemiBold Condensed"/>
            </a:endParaRPr>
          </a:p>
        </p:txBody>
      </p:sp>
      <p:sp>
        <p:nvSpPr>
          <p:cNvPr id="3" name="Título"/>
          <p:cNvSpPr/>
          <p:nvPr/>
        </p:nvSpPr>
        <p:spPr>
          <a:xfrm>
            <a:off x="274320" y="146304"/>
            <a:ext cx="789855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35 · RUTA MECANÍSTICA: SACAROSA, GLUCOSA Y FRUCTOSA</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4"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par>
                          <p:cTn id="13" fill="hold">
                            <p:stCondLst>
                              <p:cond delay="500"/>
                            </p:stCondLst>
                            <p:childTnLst>
                              <p:par>
                                <p:cTn id="7" presetID="22" presetClass="entr" presetSubtype="2" fill="hold" grpId="0" nodeType="afterEffect">
                                  <p:stCondLst>
                                    <p:cond delay="0"/>
                                  </p:stCondLst>
                                  <p:childTnLst>
                                    <p:set>
                                      <p:cBhvr>
                                        <p:cTn id="8" dur="1" fill="hold">
                                          <p:stCondLst>
                                            <p:cond delay="0"/>
                                          </p:stCondLst>
                                        </p:cTn>
                                        <p:tgtEl>
                                          <p:spTgt spid="29"/>
                                        </p:tgtEl>
                                        <p:attrNameLst>
                                          <p:attrName>style.visibility</p:attrName>
                                        </p:attrNameLst>
                                      </p:cBhvr>
                                      <p:to>
                                        <p:strVal val="visible"/>
                                      </p:to>
                                    </p:set>
                                    <p:animEffect transition="in" filter="wipe(right)">
                                      <p:cBhvr>
                                        <p:cTn id="9" dur="600"/>
                                        <p:tgtEl>
                                          <p:spTgt spid="29"/>
                                        </p:tgtEl>
                                      </p:cBhvr>
                                    </p:animEffect>
                                  </p:childTnLst>
                                </p:cTn>
                              </p:par>
                              <p:par>
                                <p:cTn id="10" presetID="22" presetClass="entr" presetSubtype="8" fill="hold" grpId="0" nodeType="with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left)">
                                      <p:cBhvr>
                                        <p:cTn id="12" dur="600"/>
                                        <p:tgtEl>
                                          <p:spTgt spid="30"/>
                                        </p:tgtEl>
                                      </p:cBhvr>
                                    </p:animEffect>
                                  </p:childTnLst>
                                </p:cTn>
                              </p:par>
                            </p:childTnLst>
                          </p:cTn>
                        </p:par>
                      </p:childTnLst>
                    </p:cTn>
                  </p:par>
                  <p:par>
                    <p:cTn id="43" fill="hold">
                      <p:stCondLst>
                        <p:cond delay="indefinite"/>
                      </p:stCondLst>
                      <p:childTnLst>
                        <p:par>
                          <p:cTn id="18"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par>
                          <p:cTn id="22" fill="hold">
                            <p:stCondLst>
                              <p:cond delay="500"/>
                            </p:stCondLst>
                            <p:childTnLst>
                              <p:par>
                                <p:cTn id="19" presetID="22" presetClass="entr" presetSubtype="1"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up)">
                                      <p:cBhvr>
                                        <p:cTn id="21" dur="600"/>
                                        <p:tgtEl>
                                          <p:spTgt spid="6"/>
                                        </p:tgtEl>
                                      </p:cBhvr>
                                    </p:animEffect>
                                  </p:childTnLst>
                                </p:cTn>
                              </p:par>
                            </p:childTnLst>
                          </p:cTn>
                        </p:par>
                        <p:par>
                          <p:cTn id="26" fill="hold">
                            <p:stCondLst>
                              <p:cond delay="11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30" fill="hold">
                            <p:stCondLst>
                              <p:cond delay="1600"/>
                            </p:stCondLst>
                            <p:childTnLst>
                              <p:par>
                                <p:cTn id="27" presetID="22" presetClass="entr" presetSubtype="1"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up)">
                                      <p:cBhvr>
                                        <p:cTn id="29" dur="600"/>
                                        <p:tgtEl>
                                          <p:spTgt spid="10"/>
                                        </p:tgtEl>
                                      </p:cBhvr>
                                    </p:animEffect>
                                  </p:childTnLst>
                                </p:cTn>
                              </p:par>
                            </p:childTnLst>
                          </p:cTn>
                        </p:par>
                        <p:par>
                          <p:cTn id="34" fill="hold">
                            <p:stCondLst>
                              <p:cond delay="2200"/>
                            </p:stCondLst>
                            <p:childTnLst>
                              <p:par>
                                <p:cTn id="31" presetID="10" presetClass="entr" presetSubtype="0"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par>
                          <p:cTn id="38" fill="hold">
                            <p:stCondLst>
                              <p:cond delay="2700"/>
                            </p:stCondLst>
                            <p:childTnLst>
                              <p:par>
                                <p:cTn id="35" presetID="22" presetClass="entr" presetSubtype="1"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up)">
                                      <p:cBhvr>
                                        <p:cTn id="37" dur="600"/>
                                        <p:tgtEl>
                                          <p:spTgt spid="14"/>
                                        </p:tgtEl>
                                      </p:cBhvr>
                                    </p:animEffect>
                                  </p:childTnLst>
                                </p:cTn>
                              </p:par>
                            </p:childTnLst>
                          </p:cTn>
                        </p:par>
                        <p:par>
                          <p:cTn id="42" fill="hold">
                            <p:stCondLst>
                              <p:cond delay="3300"/>
                            </p:stCondLst>
                            <p:childTnLst>
                              <p:par>
                                <p:cTn id="39" presetID="10" presetClass="entr" presetSubtype="0" fill="hold" grpId="0" nodeType="after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childTnLst>
                          </p:cTn>
                        </p:par>
                      </p:childTnLst>
                    </p:cTn>
                  </p:par>
                  <p:par>
                    <p:cTn id="72"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par>
                          <p:cTn id="51" fill="hold">
                            <p:stCondLst>
                              <p:cond delay="500"/>
                            </p:stCondLst>
                            <p:childTnLst>
                              <p:par>
                                <p:cTn id="48" presetID="22" presetClass="entr" presetSubtype="1" fill="hold" grpId="0"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wipe(up)">
                                      <p:cBhvr>
                                        <p:cTn id="50" dur="600"/>
                                        <p:tgtEl>
                                          <p:spTgt spid="18"/>
                                        </p:tgtEl>
                                      </p:cBhvr>
                                    </p:animEffect>
                                  </p:childTnLst>
                                </p:cTn>
                              </p:par>
                            </p:childTnLst>
                          </p:cTn>
                        </p:par>
                        <p:par>
                          <p:cTn id="55" fill="hold">
                            <p:stCondLst>
                              <p:cond delay="1100"/>
                            </p:stCondLst>
                            <p:childTnLst>
                              <p:par>
                                <p:cTn id="52" presetID="10" presetClass="entr" presetSubtype="0"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childTnLst>
                          </p:cTn>
                        </p:par>
                        <p:par>
                          <p:cTn id="59" fill="hold">
                            <p:stCondLst>
                              <p:cond delay="1600"/>
                            </p:stCondLst>
                            <p:childTnLst>
                              <p:par>
                                <p:cTn id="56" presetID="22" presetClass="entr" presetSubtype="1" fill="hold" grpId="0" nodeType="after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wipe(up)">
                                      <p:cBhvr>
                                        <p:cTn id="58" dur="600"/>
                                        <p:tgtEl>
                                          <p:spTgt spid="22"/>
                                        </p:tgtEl>
                                      </p:cBhvr>
                                    </p:animEffect>
                                  </p:childTnLst>
                                </p:cTn>
                              </p:par>
                            </p:childTnLst>
                          </p:cTn>
                        </p:par>
                        <p:par>
                          <p:cTn id="63" fill="hold">
                            <p:stCondLst>
                              <p:cond delay="2200"/>
                            </p:stCondLst>
                            <p:childTnLst>
                              <p:par>
                                <p:cTn id="60" presetID="10" presetClass="entr" presetSubtype="0" fill="hold" grpId="0" nodeType="after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par>
                          <p:cTn id="67" fill="hold">
                            <p:stCondLst>
                              <p:cond delay="2700"/>
                            </p:stCondLst>
                            <p:childTnLst>
                              <p:par>
                                <p:cTn id="64" presetID="22" presetClass="entr" presetSubtype="1" fill="hold" grpId="0" nodeType="after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wipe(up)">
                                      <p:cBhvr>
                                        <p:cTn id="66" dur="600"/>
                                        <p:tgtEl>
                                          <p:spTgt spid="26"/>
                                        </p:tgtEl>
                                      </p:cBhvr>
                                    </p:animEffect>
                                  </p:childTnLst>
                                </p:cTn>
                              </p:par>
                            </p:childTnLst>
                          </p:cTn>
                        </p:par>
                        <p:par>
                          <p:cTn id="71" fill="hold">
                            <p:stCondLst>
                              <p:cond delay="3300"/>
                            </p:stCondLst>
                            <p:childTnLst>
                              <p:par>
                                <p:cTn id="68" presetID="10" presetClass="entr" presetSubtype="0" fill="hold" grpId="0" nodeType="after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500"/>
                                        <p:tgtEl>
                                          <p:spTgt spid="28"/>
                                        </p:tgtEl>
                                      </p:cBhvr>
                                    </p:animEffect>
                                  </p:childTnLst>
                                </p:cTn>
                              </p:par>
                            </p:childTnLst>
                          </p:cTn>
                        </p:par>
                      </p:childTnLst>
                    </p:cTn>
                  </p:par>
                  <p:par>
                    <p:cTn id="79" fill="hold">
                      <p:stCondLst>
                        <p:cond delay="indefinite"/>
                      </p:stCondLst>
                      <p:childTnLst>
                        <p:par>
                          <p:cTn id="78" fill="hold">
                            <p:stCondLst>
                              <p:cond delay="0"/>
                            </p:stCondLst>
                            <p:childTnLst>
                              <p:par>
                                <p:cTn id="73" presetID="53" presetClass="entr" presetSubtype="16" fill="hold" grpId="0" nodeType="clickEffect">
                                  <p:stCondLst>
                                    <p:cond delay="0"/>
                                  </p:stCondLst>
                                  <p:childTnLst>
                                    <p:set>
                                      <p:cBhvr>
                                        <p:cTn id="74" dur="1" fill="hold">
                                          <p:stCondLst>
                                            <p:cond delay="0"/>
                                          </p:stCondLst>
                                        </p:cTn>
                                        <p:tgtEl>
                                          <p:spTgt spid="31"/>
                                        </p:tgtEl>
                                        <p:attrNameLst>
                                          <p:attrName>style.visibility</p:attrName>
                                        </p:attrNameLst>
                                      </p:cBhvr>
                                      <p:to>
                                        <p:strVal val="visible"/>
                                      </p:to>
                                    </p:set>
                                    <p:anim calcmode="lin" valueType="num">
                                      <p:cBhvr>
                                        <p:cTn id="75" dur="500" fill="hold"/>
                                        <p:tgtEl>
                                          <p:spTgt spid="31"/>
                                        </p:tgtEl>
                                        <p:attrNameLst>
                                          <p:attrName>ppt_w</p:attrName>
                                        </p:attrNameLst>
                                      </p:cBhvr>
                                      <p:tavLst>
                                        <p:tav tm="0">
                                          <p:val>
                                            <p:fltVal val="0"/>
                                          </p:val>
                                        </p:tav>
                                        <p:tav tm="100000">
                                          <p:val>
                                            <p:strVal val="#ppt_w"/>
                                          </p:val>
                                        </p:tav>
                                      </p:tavLst>
                                    </p:anim>
                                    <p:anim calcmode="lin" valueType="num">
                                      <p:cBhvr>
                                        <p:cTn id="76" dur="500" fill="hold"/>
                                        <p:tgtEl>
                                          <p:spTgt spid="31"/>
                                        </p:tgtEl>
                                        <p:attrNameLst>
                                          <p:attrName>ppt_h</p:attrName>
                                        </p:attrNameLst>
                                      </p:cBhvr>
                                      <p:tavLst>
                                        <p:tav tm="0">
                                          <p:val>
                                            <p:fltVal val="0"/>
                                          </p:val>
                                        </p:tav>
                                        <p:tav tm="100000">
                                          <p:val>
                                            <p:strVal val="#ppt_h"/>
                                          </p:val>
                                        </p:tav>
                                      </p:tavLst>
                                    </p:anim>
                                    <p:animEffect transition="in" filter="fade">
                                      <p:cBhvr>
                                        <p:cTn id="77" dur="500"/>
                                        <p:tgtEl>
                                          <p:spTgt spid="31"/>
                                        </p:tgtEl>
                                      </p:cBhvr>
                                    </p:animEffect>
                                  </p:childTnLst>
                                </p:cTn>
                              </p:par>
                            </p:childTnLst>
                          </p:cTn>
                        </p:par>
                      </p:childTnLst>
                    </p:cTn>
                  </p:par>
                  <p:par>
                    <p:cTn id="84" fill="hold">
                      <p:stCondLst>
                        <p:cond delay="indefinite"/>
                      </p:stCondLst>
                      <p:childTnLst>
                        <p:par>
                          <p:cTn id="83"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fade">
                                      <p:cBhvr>
                                        <p:cTn id="8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9" grpId="0" animBg="1"/>
      <p:bldP spid="30" grpId="0" animBg="1"/>
      <p:bldP spid="5" grpId="0" animBg="1"/>
      <p:bldP spid="9" grpId="0" animBg="1"/>
      <p:bldP spid="13" grpId="0" animBg="1"/>
      <p:bldP spid="16" grpId="0" animBg="1"/>
      <p:bldP spid="17" grpId="0" animBg="1"/>
      <p:bldP spid="21" grpId="0" animBg="1"/>
      <p:bldP spid="25" grpId="0" animBg="1"/>
      <p:bldP spid="28" grpId="0" animBg="1"/>
      <p:bldP spid="31" grpId="0" animBg="1"/>
      <p:bldP spid="32" grpId="0" animBg="1"/>
    </p:bldLst>
  </p:timing>
</p:sld>
</file>

<file path=ppt/slides/slide167.xml><?xml version="1.0" encoding="utf-8"?>
<p:sld xmlns:a="http://schemas.openxmlformats.org/drawingml/2006/main" xmlns:p="http://schemas.openxmlformats.org/presentationml/2006/main" xmlns:r="http://schemas.openxmlformats.org/officeDocument/2006/relationships">
  <p:cSld>
    <p:bg>
      <p:bgPr>
        <a:solidFill>
          <a:srgbClr val="D3E5F5"/>
        </a:solidFill>
        <a:effectLst/>
      </p:bgPr>
    </p:bg>
    <p:spTree>
      <p:nvGrpSpPr>
        <p:cNvPr id="1" name=""/>
        <p:cNvGrpSpPr/>
        <p:nvPr/>
      </p:nvGrpSpPr>
      <p:grpSpPr/>
      <p:grpSp>
        <p:nvGrpSpPr>
          <p:cNvPr id="4" name="Recuadro Bebidas azucaradas"/>
          <p:cNvGrpSpPr/>
          <p:nvPr/>
        </p:nvGrpSpPr>
        <p:grpSpPr>
          <a:xfrm>
            <a:off x="365760" y="1005840"/>
            <a:ext cx="5577840" cy="2926080"/>
            <a:chOff x="365760" y="1005840"/>
            <a:chExt cx="5577840" cy="2926080"/>
          </a:xfrm>
        </p:grpSpPr>
        <p:sp>
          <p:nvSpPr>
            <p:cNvPr id="5" name="Forma 4"/>
            <p:cNvSpPr/>
            <p:nvPr/>
          </p:nvSpPr>
          <p:spPr>
            <a:xfrm>
              <a:off x="365760" y="1188720"/>
              <a:ext cx="5577840" cy="27432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800" b="1" dirty="0">
                  <a:solidFill>
                    <a:srgbClr val="1E1E1E"/>
                  </a:solidFill>
                  <a:latin typeface="Bahnschrift"/>
                  <a:ea typeface="Bahnschrift"/>
                  <a:cs typeface="Bahnschrift"/>
                  <a:sym typeface="Bahnschrift"/>
                </a:rPr>
                <a:t>Azúcar añadido líquido</a:t>
              </a:r>
              <a:r>
                <a:rPr lang="es-AR" sz="1800" dirty="0">
                  <a:solidFill>
                    <a:srgbClr val="1E1E1E"/>
                  </a:solidFill>
                  <a:latin typeface="Bahnschrift"/>
                  <a:ea typeface="Bahnschrift"/>
                  <a:cs typeface="Bahnschrift"/>
                  <a:sym typeface="Bahnschrift"/>
                </a:rPr>
                <a:t>: baja capacidad </a:t>
              </a:r>
              <a:r>
                <a:rPr lang="es-AR" sz="1800" b="1" dirty="0">
                  <a:solidFill>
                    <a:srgbClr val="1E1E1E"/>
                  </a:solidFill>
                  <a:latin typeface="Bahnschrift"/>
                  <a:ea typeface="Bahnschrift"/>
                  <a:cs typeface="Bahnschrift"/>
                  <a:sym typeface="Bahnschrift"/>
                </a:rPr>
                <a:t>saciante</a:t>
              </a:r>
              <a:r>
                <a:rPr lang="es-AR" sz="1800" dirty="0">
                  <a:solidFill>
                    <a:srgbClr val="1E1E1E"/>
                  </a:solidFill>
                  <a:latin typeface="Bahnschrift"/>
                  <a:ea typeface="Bahnschrift"/>
                  <a:cs typeface="Bahnschrift"/>
                  <a:sym typeface="Bahnschrift"/>
                </a:rPr>
                <a:t> por caloría en muchas circunstancias → facilita la </a:t>
              </a:r>
              <a:r>
                <a:rPr lang="es-AR" sz="1800" b="1" dirty="0">
                  <a:solidFill>
                    <a:srgbClr val="1E1E1E"/>
                  </a:solidFill>
                  <a:latin typeface="Bahnschrift"/>
                  <a:ea typeface="Bahnschrift"/>
                  <a:cs typeface="Bahnschrift"/>
                  <a:sym typeface="Bahnschrift"/>
                </a:rPr>
                <a:t>ingesta excesiva</a:t>
              </a:r>
              <a:r>
                <a:rPr lang="es-AR" sz="1800" dirty="0">
                  <a:solidFill>
                    <a:srgbClr val="1E1E1E"/>
                  </a:solidFill>
                  <a:latin typeface="Bahnschrift"/>
                  <a:ea typeface="Bahnschrift"/>
                  <a:cs typeface="Bahnschrift"/>
                  <a:sym typeface="Bahnschrift"/>
                </a:rPr>
                <a:t>.</a:t>
              </a:r>
              <a:endParaRPr lang="es-AR" sz="1800" dirty="0">
                <a:latin typeface="Bahnschrift"/>
              </a:endParaRPr>
            </a:p>
          </p:txBody>
        </p:sp>
        <p:sp>
          <p:nvSpPr>
            <p:cNvPr id="6" name="Forma 5"/>
            <p:cNvSpPr/>
            <p:nvPr/>
          </p:nvSpPr>
          <p:spPr>
            <a:xfrm>
              <a:off x="475488" y="1005840"/>
              <a:ext cx="2065497"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BEBIDAS AZUCARADAS</a:t>
              </a:r>
              <a:endParaRPr lang="es-AR" sz="1600" dirty="0">
                <a:latin typeface="Bahnschrift SemiBold Condensed"/>
              </a:endParaRPr>
            </a:p>
          </p:txBody>
        </p:sp>
      </p:grpSp>
      <p:grpSp>
        <p:nvGrpSpPr>
          <p:cNvPr id="7" name="Recuadro Fruta entera"/>
          <p:cNvGrpSpPr/>
          <p:nvPr/>
        </p:nvGrpSpPr>
        <p:grpSpPr>
          <a:xfrm>
            <a:off x="6217920" y="1005840"/>
            <a:ext cx="5577840" cy="2926080"/>
            <a:chOff x="6217920" y="1005840"/>
            <a:chExt cx="5577840" cy="2926080"/>
          </a:xfrm>
        </p:grpSpPr>
        <p:sp>
          <p:nvSpPr>
            <p:cNvPr id="8" name="Forma 7"/>
            <p:cNvSpPr/>
            <p:nvPr/>
          </p:nvSpPr>
          <p:spPr>
            <a:xfrm>
              <a:off x="6217920" y="1188720"/>
              <a:ext cx="5577840" cy="27432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800" b="1" dirty="0">
                  <a:solidFill>
                    <a:srgbClr val="1E1E1E"/>
                  </a:solidFill>
                  <a:latin typeface="Bahnschrift"/>
                  <a:ea typeface="Bahnschrift"/>
                  <a:cs typeface="Bahnschrift"/>
                  <a:sym typeface="Bahnschrift"/>
                </a:rPr>
                <a:t>Frutas enteras</a:t>
              </a:r>
              <a:r>
                <a:rPr lang="es-AR" sz="1800" dirty="0">
                  <a:solidFill>
                    <a:srgbClr val="1E1E1E"/>
                  </a:solidFill>
                  <a:latin typeface="Bahnschrift"/>
                  <a:ea typeface="Bahnschrift"/>
                  <a:cs typeface="Bahnschrift"/>
                  <a:sym typeface="Bahnschrift"/>
                </a:rPr>
                <a:t>: azúcares junto con </a:t>
              </a:r>
              <a:r>
                <a:rPr lang="es-AR" sz="1800" b="1" dirty="0">
                  <a:solidFill>
                    <a:srgbClr val="1E1E1E"/>
                  </a:solidFill>
                  <a:latin typeface="Bahnschrift"/>
                  <a:ea typeface="Bahnschrift"/>
                  <a:cs typeface="Bahnschrift"/>
                  <a:sym typeface="Bahnschrift"/>
                </a:rPr>
                <a:t>fibra, agua y matriz alimentaria</a:t>
              </a:r>
              <a:r>
                <a:rPr lang="es-AR" sz="1800" dirty="0">
                  <a:solidFill>
                    <a:srgbClr val="1E1E1E"/>
                  </a:solidFill>
                  <a:latin typeface="Bahnschrift"/>
                  <a:ea typeface="Bahnschrift"/>
                  <a:cs typeface="Bahnschrift"/>
                  <a:sym typeface="Bahnschrift"/>
                </a:rPr>
                <a:t>; no son metabólicamente intercambiables con grandes dosis de bebidas azucaradas.</a:t>
              </a:r>
              <a:endParaRPr lang="es-AR" sz="1800" dirty="0">
                <a:latin typeface="Bahnschrift"/>
              </a:endParaRPr>
            </a:p>
          </p:txBody>
        </p:sp>
        <p:sp>
          <p:nvSpPr>
            <p:cNvPr id="9" name="Forma 8"/>
            <p:cNvSpPr/>
            <p:nvPr/>
          </p:nvSpPr>
          <p:spPr>
            <a:xfrm>
              <a:off x="6327648" y="1005840"/>
              <a:ext cx="150278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FRUTA ENTERA</a:t>
              </a:r>
              <a:endParaRPr lang="es-AR" sz="1600" dirty="0">
                <a:latin typeface="Bahnschrift SemiBold Condensed"/>
              </a:endParaRPr>
            </a:p>
          </p:txBody>
        </p:sp>
      </p:grpSp>
      <p:grpSp>
        <p:nvGrpSpPr>
          <p:cNvPr id="10" name="Ícono bebida"/>
          <p:cNvGrpSpPr/>
          <p:nvPr/>
        </p:nvGrpSpPr>
        <p:grpSpPr>
          <a:xfrm>
            <a:off x="1097280" y="3749040"/>
            <a:ext cx="914400" cy="1920240"/>
            <a:chOff x="1097280" y="3749040"/>
            <a:chExt cx="914400" cy="1920240"/>
          </a:xfrm>
        </p:grpSpPr>
        <p:sp>
          <p:nvSpPr>
            <p:cNvPr id="11" name="Forma 10"/>
            <p:cNvSpPr/>
            <p:nvPr/>
          </p:nvSpPr>
          <p:spPr>
            <a:xfrm>
              <a:off x="1097280" y="4206240"/>
              <a:ext cx="914400" cy="1463040"/>
            </a:xfrm>
            <a:custGeom>
              <a:avLst/>
              <a:gdLst/>
              <a:ahLst/>
              <a:cxnLst/>
              <a:rect l="0" t="0" r="r" b="b"/>
              <a:pathLst>
                <a:path w="1000" h="1000">
                  <a:moveTo>
                    <a:pt x="0" y="0"/>
                  </a:moveTo>
                  <a:lnTo>
                    <a:pt x="1000" y="0"/>
                  </a:lnTo>
                  <a:lnTo>
                    <a:pt x="850" y="1000"/>
                  </a:lnTo>
                  <a:lnTo>
                    <a:pt x="150" y="1000"/>
                  </a:lnTo>
                  <a:close/>
                </a:path>
              </a:pathLst>
            </a:custGeom>
            <a:gradFill rotWithShape="1">
              <a:gsLst>
                <a:gs pos="0">
                  <a:srgbClr val="F5B041"/>
                </a:gs>
                <a:gs pos="100000">
                  <a:srgbClr val="D35400"/>
                </a:gs>
              </a:gsLst>
              <a:lin ang="5400000" scaled="0"/>
            </a:gradFill>
            <a:ln w="19050" cap="rnd">
              <a:solidFill>
                <a:srgbClr val="1E1E1E"/>
              </a:solidFill>
              <a:round/>
            </a:ln>
          </p:spPr>
        </p:sp>
        <p:sp>
          <p:nvSpPr>
            <p:cNvPr id="12" name="Flecha 11_2"/>
            <p:cNvSpPr/>
            <p:nvPr/>
          </p:nvSpPr>
          <p:spPr>
            <a:xfrm>
              <a:off x="1600200" y="3749040"/>
              <a:ext cx="182880" cy="731520"/>
            </a:xfrm>
            <a:custGeom>
              <a:avLst/>
              <a:gdLst/>
              <a:ahLst/>
              <a:cxnLst/>
              <a:rect l="0" t="0" r="r" b="b"/>
              <a:pathLst>
                <a:path w="199" h="800" fill="none">
                  <a:moveTo>
                    <a:pt x="199" y="0"/>
                  </a:moveTo>
                  <a:lnTo>
                    <a:pt x="0" y="800"/>
                  </a:lnTo>
                </a:path>
              </a:pathLst>
            </a:custGeom>
            <a:noFill/>
            <a:ln w="50800" cap="rnd">
              <a:solidFill>
                <a:srgbClr val="E74C3C"/>
              </a:solidFill>
              <a:round/>
            </a:ln>
          </p:spPr>
        </p:sp>
      </p:grpSp>
      <p:grpSp>
        <p:nvGrpSpPr>
          <p:cNvPr id="13" name="Ícono fruta"/>
          <p:cNvGrpSpPr/>
          <p:nvPr/>
        </p:nvGrpSpPr>
        <p:grpSpPr>
          <a:xfrm>
            <a:off x="9875520" y="3977640"/>
            <a:ext cx="1280160" cy="1600200"/>
            <a:chOff x="9875520" y="3977640"/>
            <a:chExt cx="1280160" cy="1600200"/>
          </a:xfrm>
        </p:grpSpPr>
        <p:sp>
          <p:nvSpPr>
            <p:cNvPr id="14" name="Forma 14"/>
            <p:cNvSpPr/>
            <p:nvPr/>
          </p:nvSpPr>
          <p:spPr>
            <a:xfrm>
              <a:off x="9875520" y="4343400"/>
              <a:ext cx="1280160" cy="1234440"/>
            </a:xfrm>
            <a:prstGeom prst="ellipse">
              <a:avLst/>
            </a:prstGeom>
            <a:gradFill rotWithShape="1">
              <a:gsLst>
                <a:gs pos="0">
                  <a:srgbClr val="F0938A"/>
                </a:gs>
                <a:gs pos="55000">
                  <a:srgbClr val="E74C3C"/>
                </a:gs>
                <a:gs pos="100000">
                  <a:srgbClr val="A1352A"/>
                </a:gs>
              </a:gsLst>
              <a:path path="circle">
                <a:fillToRect l="32000" t="28000" r="68000" b="72000"/>
              </a:path>
            </a:gradFill>
            <a:ln w="19050" cap="rnd">
              <a:solidFill>
                <a:srgbClr val="922B21"/>
              </a:solidFill>
              <a:round/>
            </a:ln>
          </p:spPr>
        </p:sp>
        <p:sp>
          <p:nvSpPr>
            <p:cNvPr id="15" name="Forma 15"/>
            <p:cNvSpPr/>
            <p:nvPr/>
          </p:nvSpPr>
          <p:spPr>
            <a:xfrm>
              <a:off x="10469880" y="3977640"/>
              <a:ext cx="457200" cy="411480"/>
            </a:xfrm>
            <a:custGeom>
              <a:avLst/>
              <a:gdLst/>
              <a:ahLst/>
              <a:cxnLst/>
              <a:rect l="0" t="0" r="r" b="b"/>
              <a:pathLst>
                <a:path w="1000" h="1000">
                  <a:moveTo>
                    <a:pt x="0" y="1000"/>
                  </a:moveTo>
                  <a:cubicBezTo>
                    <a:pt x="-66" y="916"/>
                    <a:pt x="133" y="366"/>
                    <a:pt x="300" y="200"/>
                  </a:cubicBezTo>
                  <a:cubicBezTo>
                    <a:pt x="466" y="33"/>
                    <a:pt x="933" y="-83"/>
                    <a:pt x="1000" y="0"/>
                  </a:cubicBezTo>
                  <a:cubicBezTo>
                    <a:pt x="1066" y="83"/>
                    <a:pt x="866" y="533"/>
                    <a:pt x="700" y="700"/>
                  </a:cubicBezTo>
                  <a:cubicBezTo>
                    <a:pt x="533" y="866"/>
                    <a:pt x="66" y="1083"/>
                    <a:pt x="0" y="1000"/>
                  </a:cubicBezTo>
                  <a:close/>
                </a:path>
              </a:pathLst>
            </a:custGeom>
            <a:gradFill rotWithShape="1">
              <a:gsLst>
                <a:gs pos="0">
                  <a:srgbClr val="8AE2AF"/>
                </a:gs>
                <a:gs pos="55000">
                  <a:srgbClr val="58D68D"/>
                </a:gs>
                <a:gs pos="100000">
                  <a:srgbClr val="46AB70"/>
                </a:gs>
              </a:gsLst>
              <a:path path="circle">
                <a:fillToRect l="32000" t="28000" r="68000" b="72000"/>
              </a:path>
            </a:gradFill>
            <a:ln w="12700" cap="rnd">
              <a:solidFill>
                <a:srgbClr val="1E8449"/>
              </a:solidFill>
              <a:round/>
            </a:ln>
          </p:spPr>
        </p:sp>
      </p:grpSp>
      <p:sp>
        <p:nvSpPr>
          <p:cNvPr id="16" name="Perla"/>
          <p:cNvSpPr/>
          <p:nvPr/>
        </p:nvSpPr>
        <p:spPr>
          <a:xfrm>
            <a:off x="2377440" y="4160520"/>
            <a:ext cx="7223760" cy="233172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800" dirty="0">
                <a:solidFill>
                  <a:srgbClr val="FFFFFF"/>
                </a:solidFill>
                <a:latin typeface="Bahnschrift"/>
                <a:ea typeface="Bahnschrift"/>
                <a:cs typeface="Bahnschrift"/>
                <a:sym typeface="Bahnschrift"/>
              </a:rPr>
              <a:t>«Toda la fructosa se convierte en grasa» → </a:t>
            </a:r>
            <a:r>
              <a:rPr lang="es-AR" sz="1800" b="1" dirty="0">
                <a:solidFill>
                  <a:srgbClr val="FFFFFF"/>
                </a:solidFill>
                <a:latin typeface="Bahnschrift"/>
                <a:ea typeface="Bahnschrift"/>
                <a:cs typeface="Bahnschrift"/>
                <a:sym typeface="Bahnschrift"/>
              </a:rPr>
              <a:t>falso</a:t>
            </a:r>
            <a:r>
              <a:rPr lang="es-AR" sz="1800" dirty="0">
                <a:solidFill>
                  <a:srgbClr val="FFFFFF"/>
                </a:solidFill>
                <a:latin typeface="Bahnschrift"/>
                <a:ea typeface="Bahnschrift"/>
                <a:cs typeface="Bahnschrift"/>
                <a:sym typeface="Bahnschrift"/>
              </a:rPr>
              <a:t>: tiene muchos destinos; la DNL puede aumentar con </a:t>
            </a:r>
            <a:r>
              <a:rPr lang="es-AR" sz="1800" b="1" dirty="0">
                <a:solidFill>
                  <a:srgbClr val="FFFFFF"/>
                </a:solidFill>
                <a:latin typeface="Bahnschrift"/>
                <a:ea typeface="Bahnschrift"/>
                <a:cs typeface="Bahnschrift"/>
                <a:sym typeface="Bahnschrift"/>
              </a:rPr>
              <a:t>altas cargas</a:t>
            </a:r>
            <a:r>
              <a:rPr lang="es-AR" sz="1800" dirty="0">
                <a:solidFill>
                  <a:srgbClr val="FFFFFF"/>
                </a:solidFill>
                <a:latin typeface="Bahnschrift"/>
                <a:ea typeface="Bahnschrift"/>
                <a:cs typeface="Bahnschrift"/>
                <a:sym typeface="Bahnschrift"/>
              </a:rPr>
              <a:t>.</a:t>
            </a:r>
            <a:endParaRPr lang="es-AR" sz="1800" dirty="0">
              <a:latin typeface="Bahnschrift"/>
            </a:endParaRPr>
          </a:p>
          <a:p>
            <a:pPr algn="l">
              <a:spcAft>
                <a:spcPts val="400"/>
              </a:spcAft>
              <a:buNone/>
            </a:pPr>
            <a:r>
              <a:rPr lang="es-AR" sz="1800" dirty="0">
                <a:solidFill>
                  <a:srgbClr val="FFFFFF"/>
                </a:solidFill>
                <a:latin typeface="Bahnschrift"/>
                <a:ea typeface="Bahnschrift"/>
                <a:cs typeface="Bahnschrift"/>
                <a:sym typeface="Bahnschrift"/>
              </a:rPr>
              <a:t>«Comer azúcar se convierte automáticamente en grasa» → </a:t>
            </a:r>
            <a:r>
              <a:rPr lang="es-AR" sz="1800" b="1" dirty="0">
                <a:solidFill>
                  <a:srgbClr val="FFFFFF"/>
                </a:solidFill>
                <a:latin typeface="Bahnschrift"/>
                <a:ea typeface="Bahnschrift"/>
                <a:cs typeface="Bahnschrift"/>
                <a:sym typeface="Bahnschrift"/>
              </a:rPr>
              <a:t>falso</a:t>
            </a:r>
            <a:r>
              <a:rPr lang="es-AR" sz="1800" dirty="0">
                <a:solidFill>
                  <a:srgbClr val="FFFFFF"/>
                </a:solidFill>
                <a:latin typeface="Bahnschrift"/>
                <a:ea typeface="Bahnschrift"/>
                <a:cs typeface="Bahnschrift"/>
                <a:sym typeface="Bahnschrift"/>
              </a:rPr>
              <a:t>: la ganancia de adiposidad depende del </a:t>
            </a:r>
            <a:r>
              <a:rPr lang="es-AR" sz="1800" b="1" dirty="0">
                <a:solidFill>
                  <a:srgbClr val="FFFFFF"/>
                </a:solidFill>
                <a:latin typeface="Bahnschrift"/>
                <a:ea typeface="Bahnschrift"/>
                <a:cs typeface="Bahnschrift"/>
                <a:sym typeface="Bahnschrift"/>
              </a:rPr>
              <a:t>balance sostenido</a:t>
            </a:r>
            <a:r>
              <a:rPr lang="es-AR" sz="1800" dirty="0">
                <a:solidFill>
                  <a:srgbClr val="FFFFFF"/>
                </a:solidFill>
                <a:latin typeface="Bahnschrift"/>
                <a:ea typeface="Bahnschrift"/>
                <a:cs typeface="Bahnschrift"/>
                <a:sym typeface="Bahnschrift"/>
              </a:rPr>
              <a:t>.</a:t>
            </a:r>
            <a:endParaRPr lang="es-AR" sz="1800" dirty="0">
              <a:latin typeface="Bahnschrift"/>
            </a:endParaRPr>
          </a:p>
        </p:txBody>
      </p:sp>
      <p:sp>
        <p:nvSpPr>
          <p:cNvPr id="2" name="Etiqueta sección"/>
          <p:cNvSpPr/>
          <p:nvPr/>
        </p:nvSpPr>
        <p:spPr>
          <a:xfrm>
            <a:off x="9042045" y="201168"/>
            <a:ext cx="287533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UNIDAD IV · NITRÓGENO Y HOMEOSTASIS</a:t>
            </a:r>
            <a:endParaRPr lang="es-AR" sz="1300" dirty="0">
              <a:latin typeface="Bahnschrift SemiBold Condensed"/>
            </a:endParaRPr>
          </a:p>
        </p:txBody>
      </p:sp>
      <p:sp>
        <p:nvSpPr>
          <p:cNvPr id="3" name="Título"/>
          <p:cNvSpPr/>
          <p:nvPr/>
        </p:nvSpPr>
        <p:spPr>
          <a:xfrm>
            <a:off x="274320" y="146304"/>
            <a:ext cx="514444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35 · CONSECUENCIAS NUTRICIONALES</a:t>
            </a:r>
            <a:endParaRPr lang="es-AR" sz="2600" dirty="0">
              <a:latin typeface="Bahnschrift SemiBold Condensed"/>
            </a:endParaRPr>
          </a:p>
        </p:txBody>
      </p:sp>
      <p:sp>
        <p:nvSpPr>
          <p:cNvPr id="1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0"/>
                                        </p:tgtEl>
                                        <p:attrNameLst>
                                          <p:attrName>style.visibility</p:attrName>
                                        </p:attrNameLst>
                                      </p:cBhvr>
                                      <p:to>
                                        <p:strVal val="visible"/>
                                      </p:to>
                                    </p:set>
                                    <p:animEffect transition="in" filter="fade">
                                      <p:cBhvr>
                                        <p:cTn id="5" dur="500"/>
                                        <p:tgtEl>
                                          <p:spTgt spid="10"/>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4"/>
                                        </p:tgtEl>
                                        <p:attrNameLst>
                                          <p:attrName>style.visibility</p:attrName>
                                        </p:attrNameLst>
                                      </p:cBhvr>
                                      <p:to>
                                        <p:strVal val="visible"/>
                                      </p:to>
                                    </p:set>
                                    <p:animEffect transition="in" filter="fade">
                                      <p:cBhvr>
                                        <p:cTn id="8" dur="500"/>
                                        <p:tgtEl>
                                          <p:spTgt spid="4"/>
                                        </p:tgtEl>
                                      </p:cBhvr>
                                    </p:animEffect>
                                  </p:childTnLst>
                                </p:cTn>
                              </p:par>
                            </p:childTnLst>
                          </p:cTn>
                        </p:par>
                      </p:childTnLst>
                    </p:cTn>
                  </p:par>
                  <p:par>
                    <p:cTn id="18" fill="hold">
                      <p:stCondLst>
                        <p:cond delay="indefinite"/>
                      </p:stCondLst>
                      <p:childTnLst>
                        <p:par>
                          <p:cTn id="17"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par>
                    <p:cTn id="23" fill="hold">
                      <p:stCondLst>
                        <p:cond delay="indefinite"/>
                      </p:stCondLst>
                      <p:childTnLst>
                        <p:par>
                          <p:cTn id="22"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68.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sp>
        <p:nvSpPr>
          <p:cNvPr id="2" name="Etiqueta unidad"/>
          <p:cNvSpPr/>
          <p:nvPr/>
        </p:nvSpPr>
        <p:spPr>
          <a:xfrm>
            <a:off x="548640" y="502920"/>
            <a:ext cx="1250889"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V</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INTEGRACIÓN</a:t>
            </a:r>
            <a:endParaRPr lang="es-AR" sz="4600" dirty="0">
              <a:latin typeface="Bahnschrift"/>
            </a:endParaRPr>
          </a:p>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EN PATOLOGÍA</a:t>
            </a:r>
            <a:endParaRPr lang="es-AR" sz="460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Cuando un engranaje falla, todo el sistema cambia</a:t>
            </a:r>
            <a:endParaRPr lang="es-AR" sz="1800" dirty="0">
              <a:latin typeface="Bahnschrift SemiBold Condensed"/>
            </a:endParaRPr>
          </a:p>
        </p:txBody>
      </p:sp>
      <p:grpSp>
        <p:nvGrpSpPr>
          <p:cNvPr id="5" name="Temario"/>
          <p:cNvGrpSpPr/>
          <p:nvPr/>
        </p:nvGrpSpPr>
        <p:grpSpPr>
          <a:xfrm>
            <a:off x="502920" y="3703320"/>
            <a:ext cx="6583680" cy="2788920"/>
            <a:chOff x="502920" y="3703320"/>
            <a:chExt cx="6583680" cy="2788920"/>
          </a:xfrm>
        </p:grpSpPr>
        <p:sp>
          <p:nvSpPr>
            <p:cNvPr id="6" name="Forma 5"/>
            <p:cNvSpPr/>
            <p:nvPr/>
          </p:nvSpPr>
          <p:spPr>
            <a:xfrm>
              <a:off x="50292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P1 · Insuficiencia funcional hepática</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P2 · Fructosa, hipertrigliceridemia e hígado graso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P3 · Deficiencia de CPT1 o de carnitina</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P4 · TAG de cadena media en hiperquilomicronemia</a:t>
              </a:r>
              <a:endParaRPr lang="es-AR" sz="1350" dirty="0">
                <a:latin typeface="Bahnschrift"/>
              </a:endParaRPr>
            </a:p>
          </p:txBody>
        </p:sp>
        <p:sp>
          <p:nvSpPr>
            <p:cNvPr id="7" name="Forma 6"/>
            <p:cNvSpPr/>
            <p:nvPr/>
          </p:nvSpPr>
          <p:spPr>
            <a:xfrm>
              <a:off x="3840480" y="3703320"/>
              <a:ext cx="3246120" cy="27889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350" dirty="0">
                  <a:solidFill>
                    <a:srgbClr val="1E1E1E"/>
                  </a:solidFill>
                  <a:latin typeface="Bahnschrift"/>
                  <a:ea typeface="Bahnschrift"/>
                  <a:cs typeface="Bahnschrift"/>
                  <a:sym typeface="Bahnschrift"/>
                </a:rPr>
                <a:t>P5 · LDL, HDL, íntima arterial y aterogénesis</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P6 · Hipertrigliceridemia y riesgo aterogénico</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P7 · Proteínas, neomicina y lactulosa</a:t>
              </a:r>
              <a:endParaRPr lang="es-AR" sz="1350" dirty="0">
                <a:latin typeface="Bahnschrift"/>
              </a:endParaRPr>
            </a:p>
            <a:p>
              <a:pPr algn="l">
                <a:spcAft>
                  <a:spcPts val="200"/>
                </a:spcAft>
                <a:buNone/>
              </a:pPr>
              <a:r>
                <a:rPr lang="es-AR" sz="1350" dirty="0">
                  <a:solidFill>
                    <a:srgbClr val="1E1E1E"/>
                  </a:solidFill>
                  <a:latin typeface="Bahnschrift"/>
                  <a:ea typeface="Bahnschrift"/>
                  <a:cs typeface="Bahnschrift"/>
                  <a:sym typeface="Bahnschrift"/>
                </a:rPr>
                <a:t>P8 · Hiperuricemia y metabolismo de purinas</a:t>
              </a:r>
              <a:endParaRPr lang="es-AR" sz="1350" dirty="0">
                <a:latin typeface="Bahnschrift"/>
              </a:endParaRPr>
            </a:p>
          </p:txBody>
        </p:sp>
      </p:grpSp>
      <p:grpSp>
        <p:nvGrpSpPr>
          <p:cNvPr id="8" name="Arte hígado"/>
          <p:cNvGrpSpPr/>
          <p:nvPr/>
        </p:nvGrpSpPr>
        <p:grpSpPr>
          <a:xfrm>
            <a:off x="7680960" y="822960"/>
            <a:ext cx="4023360" cy="2843711"/>
            <a:chOff x="7680960" y="822960"/>
            <a:chExt cx="4023360" cy="2843711"/>
          </a:xfrm>
        </p:grpSpPr>
        <p:sp>
          <p:nvSpPr>
            <p:cNvPr id="9" name="Vesícula biliar"/>
            <p:cNvSpPr/>
            <p:nvPr/>
          </p:nvSpPr>
          <p:spPr>
            <a:xfrm>
              <a:off x="8767267" y="2768657"/>
              <a:ext cx="523037" cy="898014"/>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0" name="Forma 9"/>
            <p:cNvSpPr/>
            <p:nvPr/>
          </p:nvSpPr>
          <p:spPr>
            <a:xfrm>
              <a:off x="7680960" y="822960"/>
              <a:ext cx="4023360" cy="249448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1" name="Forma 10"/>
            <p:cNvSpPr/>
            <p:nvPr/>
          </p:nvSpPr>
          <p:spPr>
            <a:xfrm>
              <a:off x="7680960" y="822960"/>
              <a:ext cx="4023360" cy="249448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2" name="Forma 11"/>
            <p:cNvSpPr/>
            <p:nvPr/>
          </p:nvSpPr>
          <p:spPr>
            <a:xfrm>
              <a:off x="7680960" y="822960"/>
              <a:ext cx="4023360" cy="249448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3" name="Arte corazón"/>
          <p:cNvGrpSpPr/>
          <p:nvPr/>
        </p:nvGrpSpPr>
        <p:grpSpPr>
          <a:xfrm>
            <a:off x="7863840" y="3566160"/>
            <a:ext cx="1463040" cy="1536192"/>
            <a:chOff x="7863840" y="3566160"/>
            <a:chExt cx="1463040" cy="1536192"/>
          </a:xfrm>
        </p:grpSpPr>
        <p:sp>
          <p:nvSpPr>
            <p:cNvPr id="14" name="Forma 13"/>
            <p:cNvSpPr/>
            <p:nvPr/>
          </p:nvSpPr>
          <p:spPr>
            <a:xfrm>
              <a:off x="7863840" y="3566160"/>
              <a:ext cx="1463040" cy="1536192"/>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15" name="Forma 14"/>
            <p:cNvSpPr/>
            <p:nvPr/>
          </p:nvSpPr>
          <p:spPr>
            <a:xfrm>
              <a:off x="7863840" y="3566160"/>
              <a:ext cx="1463040" cy="1536192"/>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grpSp>
        <p:nvGrpSpPr>
          <p:cNvPr id="16" name="Arte arteria"/>
          <p:cNvGrpSpPr/>
          <p:nvPr/>
        </p:nvGrpSpPr>
        <p:grpSpPr>
          <a:xfrm>
            <a:off x="9509760" y="3566160"/>
            <a:ext cx="2532888" cy="1645920"/>
            <a:chOff x="9509760" y="3566160"/>
            <a:chExt cx="2532888" cy="1645920"/>
          </a:xfrm>
        </p:grpSpPr>
        <p:sp>
          <p:nvSpPr>
            <p:cNvPr id="17" name="Luz arterial"/>
            <p:cNvSpPr/>
            <p:nvPr/>
          </p:nvSpPr>
          <p:spPr>
            <a:xfrm>
              <a:off x="9509760" y="3566160"/>
              <a:ext cx="2377440" cy="493776"/>
            </a:xfrm>
            <a:prstGeom prst="rect">
              <a:avLst/>
            </a:prstGeom>
            <a:gradFill rotWithShape="1">
              <a:gsLst>
                <a:gs pos="0">
                  <a:srgbClr val="F5B7B1"/>
                </a:gs>
                <a:gs pos="100000">
                  <a:srgbClr val="E6B0AA"/>
                </a:gs>
              </a:gsLst>
              <a:lin ang="5400000" scaled="0"/>
            </a:gradFill>
            <a:ln>
              <a:noFill/>
            </a:ln>
          </p:spPr>
        </p:sp>
        <p:sp>
          <p:nvSpPr>
            <p:cNvPr id="18" name="Forma 17"/>
            <p:cNvSpPr/>
            <p:nvPr/>
          </p:nvSpPr>
          <p:spPr>
            <a:xfrm>
              <a:off x="9509760" y="4059936"/>
              <a:ext cx="792480" cy="98755"/>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9" name="Forma 18"/>
            <p:cNvSpPr/>
            <p:nvPr/>
          </p:nvSpPr>
          <p:spPr>
            <a:xfrm>
              <a:off x="10302240" y="4059936"/>
              <a:ext cx="792480" cy="98755"/>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0" name="Forma 19"/>
            <p:cNvSpPr/>
            <p:nvPr/>
          </p:nvSpPr>
          <p:spPr>
            <a:xfrm>
              <a:off x="11094720" y="4059936"/>
              <a:ext cx="792480" cy="98755"/>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1" name="Íntima"/>
            <p:cNvSpPr/>
            <p:nvPr/>
          </p:nvSpPr>
          <p:spPr>
            <a:xfrm>
              <a:off x="9509760" y="4158691"/>
              <a:ext cx="2377440" cy="395021"/>
            </a:xfrm>
            <a:prstGeom prst="rect">
              <a:avLst/>
            </a:prstGeom>
            <a:gradFill rotWithShape="1">
              <a:gsLst>
                <a:gs pos="0">
                  <a:srgbClr val="FDEBD0"/>
                </a:gs>
                <a:gs pos="100000">
                  <a:srgbClr val="FAD7A0"/>
                </a:gs>
              </a:gsLst>
              <a:lin ang="5400000" scaled="0"/>
            </a:gradFill>
            <a:ln w="9525" cap="rnd">
              <a:solidFill>
                <a:srgbClr val="B9770E"/>
              </a:solidFill>
              <a:round/>
            </a:ln>
          </p:spPr>
        </p:sp>
        <p:sp>
          <p:nvSpPr>
            <p:cNvPr id="22" name="Media"/>
            <p:cNvSpPr/>
            <p:nvPr/>
          </p:nvSpPr>
          <p:spPr>
            <a:xfrm>
              <a:off x="9509760" y="4553712"/>
              <a:ext cx="2377440" cy="427939"/>
            </a:xfrm>
            <a:prstGeom prst="rect">
              <a:avLst/>
            </a:prstGeom>
            <a:solidFill>
              <a:srgbClr val="E59866"/>
            </a:solidFill>
            <a:ln w="9525" cap="rnd">
              <a:solidFill>
                <a:srgbClr val="873600"/>
              </a:solidFill>
              <a:round/>
            </a:ln>
          </p:spPr>
        </p:sp>
        <p:sp>
          <p:nvSpPr>
            <p:cNvPr id="23" name="Forma 22"/>
            <p:cNvSpPr/>
            <p:nvPr/>
          </p:nvSpPr>
          <p:spPr>
            <a:xfrm>
              <a:off x="9509760" y="4603090"/>
              <a:ext cx="1069848" cy="131674"/>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4" name="Forma 23"/>
            <p:cNvSpPr/>
            <p:nvPr/>
          </p:nvSpPr>
          <p:spPr>
            <a:xfrm>
              <a:off x="9784080" y="4784141"/>
              <a:ext cx="1069848" cy="131674"/>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5" name="Forma 24"/>
            <p:cNvSpPr/>
            <p:nvPr/>
          </p:nvSpPr>
          <p:spPr>
            <a:xfrm>
              <a:off x="10698480" y="4603090"/>
              <a:ext cx="1069848" cy="131674"/>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6" name="Forma 25"/>
            <p:cNvSpPr/>
            <p:nvPr/>
          </p:nvSpPr>
          <p:spPr>
            <a:xfrm>
              <a:off x="10972800" y="4784141"/>
              <a:ext cx="1069848" cy="131674"/>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7" name="Adventicia"/>
            <p:cNvSpPr/>
            <p:nvPr/>
          </p:nvSpPr>
          <p:spPr>
            <a:xfrm>
              <a:off x="9509760" y="4981651"/>
              <a:ext cx="2377440" cy="230429"/>
            </a:xfrm>
            <a:prstGeom prst="rect">
              <a:avLst/>
            </a:prstGeom>
            <a:gradFill rotWithShape="1">
              <a:gsLst>
                <a:gs pos="0">
                  <a:srgbClr val="F6DDCC"/>
                </a:gs>
                <a:gs pos="100000">
                  <a:srgbClr val="EDBB99"/>
                </a:gs>
              </a:gsLst>
              <a:lin ang="5400000" scaled="0"/>
            </a:gradFill>
            <a:ln w="9525" cap="rnd">
              <a:solidFill>
                <a:srgbClr val="873600"/>
              </a:solidFill>
              <a:round/>
            </a:ln>
          </p:spPr>
        </p:sp>
      </p:grpSp>
      <p:grpSp>
        <p:nvGrpSpPr>
          <p:cNvPr id="28" name="Arte cerebro"/>
          <p:cNvGrpSpPr/>
          <p:nvPr/>
        </p:nvGrpSpPr>
        <p:grpSpPr>
          <a:xfrm>
            <a:off x="9692640" y="5120640"/>
            <a:ext cx="1645920" cy="1283818"/>
            <a:chOff x="9692640" y="5120640"/>
            <a:chExt cx="1645920" cy="1283818"/>
          </a:xfrm>
        </p:grpSpPr>
        <p:sp>
          <p:nvSpPr>
            <p:cNvPr id="29" name="Cerebelo"/>
            <p:cNvSpPr/>
            <p:nvPr/>
          </p:nvSpPr>
          <p:spPr>
            <a:xfrm>
              <a:off x="9692640" y="5120640"/>
              <a:ext cx="1645920" cy="1283818"/>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30" name="Forma 29"/>
            <p:cNvSpPr/>
            <p:nvPr/>
          </p:nvSpPr>
          <p:spPr>
            <a:xfrm>
              <a:off x="9692640" y="5120640"/>
              <a:ext cx="1645920" cy="1283818"/>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31" name="Forma 30"/>
            <p:cNvSpPr/>
            <p:nvPr/>
          </p:nvSpPr>
          <p:spPr>
            <a:xfrm>
              <a:off x="9692640" y="5120640"/>
              <a:ext cx="1645920" cy="1283818"/>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32" name="Forma 31"/>
            <p:cNvSpPr/>
            <p:nvPr/>
          </p:nvSpPr>
          <p:spPr>
            <a:xfrm>
              <a:off x="9692640" y="5120640"/>
              <a:ext cx="1645920" cy="1283818"/>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33" name="Arte LDL"/>
          <p:cNvGrpSpPr/>
          <p:nvPr/>
        </p:nvGrpSpPr>
        <p:grpSpPr>
          <a:xfrm>
            <a:off x="7772400" y="5303520"/>
            <a:ext cx="1005840" cy="1005840"/>
            <a:chOff x="7772400" y="5303520"/>
            <a:chExt cx="1005840" cy="1005840"/>
          </a:xfrm>
        </p:grpSpPr>
        <p:sp>
          <p:nvSpPr>
            <p:cNvPr id="34" name="Forma 33"/>
            <p:cNvSpPr/>
            <p:nvPr/>
          </p:nvSpPr>
          <p:spPr>
            <a:xfrm>
              <a:off x="7772400" y="5303520"/>
              <a:ext cx="1005840" cy="100584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5" name="Forma 34"/>
            <p:cNvSpPr/>
            <p:nvPr/>
          </p:nvSpPr>
          <p:spPr>
            <a:xfrm>
              <a:off x="7772400" y="5303520"/>
              <a:ext cx="1005840" cy="100584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4" y="560"/>
                  </a:moveTo>
                  <a:cubicBezTo>
                    <a:pt x="994" y="575"/>
                    <a:pt x="981" y="588"/>
                    <a:pt x="966" y="588"/>
                  </a:cubicBezTo>
                  <a:cubicBezTo>
                    <a:pt x="950" y="588"/>
                    <a:pt x="938" y="575"/>
                    <a:pt x="938" y="560"/>
                  </a:cubicBezTo>
                  <a:cubicBezTo>
                    <a:pt x="938" y="544"/>
                    <a:pt x="950" y="532"/>
                    <a:pt x="966" y="532"/>
                  </a:cubicBezTo>
                  <a:cubicBezTo>
                    <a:pt x="981" y="532"/>
                    <a:pt x="994" y="544"/>
                    <a:pt x="994" y="560"/>
                  </a:cubicBezTo>
                  <a:close/>
                  <a:moveTo>
                    <a:pt x="982" y="619"/>
                  </a:moveTo>
                  <a:cubicBezTo>
                    <a:pt x="982" y="634"/>
                    <a:pt x="969" y="647"/>
                    <a:pt x="954" y="647"/>
                  </a:cubicBezTo>
                  <a:cubicBezTo>
                    <a:pt x="938" y="647"/>
                    <a:pt x="926" y="634"/>
                    <a:pt x="926" y="619"/>
                  </a:cubicBezTo>
                  <a:cubicBezTo>
                    <a:pt x="926" y="603"/>
                    <a:pt x="938" y="591"/>
                    <a:pt x="954" y="591"/>
                  </a:cubicBezTo>
                  <a:cubicBezTo>
                    <a:pt x="969" y="591"/>
                    <a:pt x="982" y="603"/>
                    <a:pt x="982" y="619"/>
                  </a:cubicBezTo>
                  <a:close/>
                  <a:moveTo>
                    <a:pt x="963" y="676"/>
                  </a:moveTo>
                  <a:cubicBezTo>
                    <a:pt x="963" y="691"/>
                    <a:pt x="950" y="704"/>
                    <a:pt x="935" y="704"/>
                  </a:cubicBezTo>
                  <a:cubicBezTo>
                    <a:pt x="919" y="704"/>
                    <a:pt x="907" y="691"/>
                    <a:pt x="907" y="676"/>
                  </a:cubicBezTo>
                  <a:cubicBezTo>
                    <a:pt x="907" y="660"/>
                    <a:pt x="919" y="648"/>
                    <a:pt x="935" y="648"/>
                  </a:cubicBezTo>
                  <a:cubicBezTo>
                    <a:pt x="950" y="648"/>
                    <a:pt x="963" y="660"/>
                    <a:pt x="963" y="676"/>
                  </a:cubicBezTo>
                  <a:close/>
                  <a:moveTo>
                    <a:pt x="937" y="730"/>
                  </a:moveTo>
                  <a:cubicBezTo>
                    <a:pt x="937" y="745"/>
                    <a:pt x="924" y="758"/>
                    <a:pt x="909" y="758"/>
                  </a:cubicBezTo>
                  <a:cubicBezTo>
                    <a:pt x="893" y="758"/>
                    <a:pt x="881" y="745"/>
                    <a:pt x="881" y="730"/>
                  </a:cubicBezTo>
                  <a:cubicBezTo>
                    <a:pt x="881" y="714"/>
                    <a:pt x="893" y="702"/>
                    <a:pt x="909" y="702"/>
                  </a:cubicBezTo>
                  <a:cubicBezTo>
                    <a:pt x="924" y="702"/>
                    <a:pt x="937" y="714"/>
                    <a:pt x="937" y="730"/>
                  </a:cubicBezTo>
                  <a:close/>
                  <a:moveTo>
                    <a:pt x="904" y="781"/>
                  </a:moveTo>
                  <a:cubicBezTo>
                    <a:pt x="904" y="796"/>
                    <a:pt x="891" y="809"/>
                    <a:pt x="876" y="809"/>
                  </a:cubicBezTo>
                  <a:cubicBezTo>
                    <a:pt x="860" y="809"/>
                    <a:pt x="848" y="796"/>
                    <a:pt x="848" y="781"/>
                  </a:cubicBezTo>
                  <a:cubicBezTo>
                    <a:pt x="848" y="765"/>
                    <a:pt x="860" y="753"/>
                    <a:pt x="876" y="753"/>
                  </a:cubicBezTo>
                  <a:cubicBezTo>
                    <a:pt x="891" y="753"/>
                    <a:pt x="904" y="765"/>
                    <a:pt x="904" y="781"/>
                  </a:cubicBezTo>
                  <a:close/>
                  <a:moveTo>
                    <a:pt x="865" y="826"/>
                  </a:moveTo>
                  <a:cubicBezTo>
                    <a:pt x="865" y="841"/>
                    <a:pt x="852" y="854"/>
                    <a:pt x="837" y="854"/>
                  </a:cubicBezTo>
                  <a:cubicBezTo>
                    <a:pt x="821" y="854"/>
                    <a:pt x="809" y="841"/>
                    <a:pt x="809" y="826"/>
                  </a:cubicBezTo>
                  <a:cubicBezTo>
                    <a:pt x="809" y="810"/>
                    <a:pt x="821" y="798"/>
                    <a:pt x="837" y="798"/>
                  </a:cubicBezTo>
                  <a:cubicBezTo>
                    <a:pt x="852" y="798"/>
                    <a:pt x="865" y="810"/>
                    <a:pt x="865" y="826"/>
                  </a:cubicBezTo>
                  <a:close/>
                  <a:moveTo>
                    <a:pt x="821" y="867"/>
                  </a:moveTo>
                  <a:cubicBezTo>
                    <a:pt x="821" y="882"/>
                    <a:pt x="808" y="895"/>
                    <a:pt x="793" y="895"/>
                  </a:cubicBezTo>
                  <a:cubicBezTo>
                    <a:pt x="777" y="895"/>
                    <a:pt x="765" y="882"/>
                    <a:pt x="765" y="867"/>
                  </a:cubicBezTo>
                  <a:cubicBezTo>
                    <a:pt x="765" y="851"/>
                    <a:pt x="777" y="839"/>
                    <a:pt x="793" y="839"/>
                  </a:cubicBezTo>
                  <a:cubicBezTo>
                    <a:pt x="808" y="839"/>
                    <a:pt x="821" y="851"/>
                    <a:pt x="821" y="867"/>
                  </a:cubicBezTo>
                  <a:close/>
                  <a:moveTo>
                    <a:pt x="771" y="901"/>
                  </a:moveTo>
                  <a:cubicBezTo>
                    <a:pt x="771" y="916"/>
                    <a:pt x="758" y="929"/>
                    <a:pt x="743" y="929"/>
                  </a:cubicBezTo>
                  <a:cubicBezTo>
                    <a:pt x="727" y="929"/>
                    <a:pt x="715" y="916"/>
                    <a:pt x="715" y="901"/>
                  </a:cubicBezTo>
                  <a:cubicBezTo>
                    <a:pt x="715" y="885"/>
                    <a:pt x="727" y="873"/>
                    <a:pt x="743" y="873"/>
                  </a:cubicBezTo>
                  <a:cubicBezTo>
                    <a:pt x="758" y="873"/>
                    <a:pt x="771" y="885"/>
                    <a:pt x="771" y="901"/>
                  </a:cubicBezTo>
                  <a:close/>
                  <a:moveTo>
                    <a:pt x="718" y="929"/>
                  </a:moveTo>
                  <a:cubicBezTo>
                    <a:pt x="718" y="944"/>
                    <a:pt x="705" y="957"/>
                    <a:pt x="690" y="957"/>
                  </a:cubicBezTo>
                  <a:cubicBezTo>
                    <a:pt x="674" y="957"/>
                    <a:pt x="662" y="944"/>
                    <a:pt x="662" y="929"/>
                  </a:cubicBezTo>
                  <a:cubicBezTo>
                    <a:pt x="662" y="913"/>
                    <a:pt x="674" y="901"/>
                    <a:pt x="690" y="901"/>
                  </a:cubicBezTo>
                  <a:cubicBezTo>
                    <a:pt x="705" y="901"/>
                    <a:pt x="718" y="913"/>
                    <a:pt x="718" y="929"/>
                  </a:cubicBezTo>
                  <a:close/>
                  <a:moveTo>
                    <a:pt x="661" y="950"/>
                  </a:moveTo>
                  <a:cubicBezTo>
                    <a:pt x="661" y="965"/>
                    <a:pt x="648" y="978"/>
                    <a:pt x="633" y="978"/>
                  </a:cubicBezTo>
                  <a:cubicBezTo>
                    <a:pt x="617" y="978"/>
                    <a:pt x="605" y="965"/>
                    <a:pt x="605" y="950"/>
                  </a:cubicBezTo>
                  <a:cubicBezTo>
                    <a:pt x="605" y="934"/>
                    <a:pt x="617" y="922"/>
                    <a:pt x="633" y="922"/>
                  </a:cubicBezTo>
                  <a:cubicBezTo>
                    <a:pt x="648" y="922"/>
                    <a:pt x="661" y="934"/>
                    <a:pt x="661" y="950"/>
                  </a:cubicBezTo>
                  <a:close/>
                  <a:moveTo>
                    <a:pt x="603" y="963"/>
                  </a:moveTo>
                  <a:cubicBezTo>
                    <a:pt x="603" y="978"/>
                    <a:pt x="590" y="991"/>
                    <a:pt x="575" y="991"/>
                  </a:cubicBezTo>
                  <a:cubicBezTo>
                    <a:pt x="559" y="991"/>
                    <a:pt x="547" y="978"/>
                    <a:pt x="547" y="963"/>
                  </a:cubicBezTo>
                  <a:cubicBezTo>
                    <a:pt x="547" y="947"/>
                    <a:pt x="559" y="935"/>
                    <a:pt x="575" y="935"/>
                  </a:cubicBezTo>
                  <a:cubicBezTo>
                    <a:pt x="590" y="935"/>
                    <a:pt x="603" y="947"/>
                    <a:pt x="603" y="963"/>
                  </a:cubicBezTo>
                  <a:close/>
                  <a:moveTo>
                    <a:pt x="543" y="969"/>
                  </a:moveTo>
                  <a:cubicBezTo>
                    <a:pt x="543" y="984"/>
                    <a:pt x="530" y="997"/>
                    <a:pt x="515" y="997"/>
                  </a:cubicBezTo>
                  <a:cubicBezTo>
                    <a:pt x="499" y="997"/>
                    <a:pt x="487" y="984"/>
                    <a:pt x="487" y="969"/>
                  </a:cubicBezTo>
                  <a:cubicBezTo>
                    <a:pt x="487" y="953"/>
                    <a:pt x="499" y="941"/>
                    <a:pt x="515" y="941"/>
                  </a:cubicBezTo>
                  <a:cubicBezTo>
                    <a:pt x="530" y="941"/>
                    <a:pt x="543" y="953"/>
                    <a:pt x="543" y="969"/>
                  </a:cubicBezTo>
                  <a:close/>
                  <a:moveTo>
                    <a:pt x="482" y="967"/>
                  </a:moveTo>
                  <a:cubicBezTo>
                    <a:pt x="482" y="982"/>
                    <a:pt x="469" y="995"/>
                    <a:pt x="454" y="995"/>
                  </a:cubicBezTo>
                  <a:cubicBezTo>
                    <a:pt x="438" y="995"/>
                    <a:pt x="426" y="982"/>
                    <a:pt x="426" y="967"/>
                  </a:cubicBezTo>
                  <a:cubicBezTo>
                    <a:pt x="426" y="951"/>
                    <a:pt x="438" y="939"/>
                    <a:pt x="454" y="939"/>
                  </a:cubicBezTo>
                  <a:cubicBezTo>
                    <a:pt x="469" y="939"/>
                    <a:pt x="482" y="951"/>
                    <a:pt x="482" y="967"/>
                  </a:cubicBezTo>
                  <a:close/>
                  <a:moveTo>
                    <a:pt x="423" y="958"/>
                  </a:moveTo>
                  <a:cubicBezTo>
                    <a:pt x="423" y="973"/>
                    <a:pt x="410" y="986"/>
                    <a:pt x="395" y="986"/>
                  </a:cubicBezTo>
                  <a:cubicBezTo>
                    <a:pt x="379" y="986"/>
                    <a:pt x="367" y="973"/>
                    <a:pt x="367" y="958"/>
                  </a:cubicBezTo>
                  <a:cubicBezTo>
                    <a:pt x="367" y="942"/>
                    <a:pt x="379" y="930"/>
                    <a:pt x="395" y="930"/>
                  </a:cubicBezTo>
                  <a:cubicBezTo>
                    <a:pt x="410" y="930"/>
                    <a:pt x="423" y="942"/>
                    <a:pt x="423" y="958"/>
                  </a:cubicBezTo>
                  <a:close/>
                  <a:moveTo>
                    <a:pt x="365" y="941"/>
                  </a:moveTo>
                  <a:cubicBezTo>
                    <a:pt x="365" y="956"/>
                    <a:pt x="352" y="969"/>
                    <a:pt x="337" y="969"/>
                  </a:cubicBezTo>
                  <a:cubicBezTo>
                    <a:pt x="321" y="969"/>
                    <a:pt x="309" y="956"/>
                    <a:pt x="309" y="941"/>
                  </a:cubicBezTo>
                  <a:cubicBezTo>
                    <a:pt x="309" y="925"/>
                    <a:pt x="321" y="913"/>
                    <a:pt x="337" y="913"/>
                  </a:cubicBezTo>
                  <a:cubicBezTo>
                    <a:pt x="352" y="913"/>
                    <a:pt x="365" y="925"/>
                    <a:pt x="365" y="941"/>
                  </a:cubicBezTo>
                  <a:close/>
                  <a:moveTo>
                    <a:pt x="310" y="916"/>
                  </a:moveTo>
                  <a:cubicBezTo>
                    <a:pt x="310" y="931"/>
                    <a:pt x="297" y="944"/>
                    <a:pt x="282" y="944"/>
                  </a:cubicBezTo>
                  <a:cubicBezTo>
                    <a:pt x="266" y="944"/>
                    <a:pt x="254" y="931"/>
                    <a:pt x="254" y="916"/>
                  </a:cubicBezTo>
                  <a:cubicBezTo>
                    <a:pt x="254" y="900"/>
                    <a:pt x="266" y="888"/>
                    <a:pt x="282" y="888"/>
                  </a:cubicBezTo>
                  <a:cubicBezTo>
                    <a:pt x="297" y="888"/>
                    <a:pt x="310" y="900"/>
                    <a:pt x="310" y="916"/>
                  </a:cubicBezTo>
                  <a:close/>
                  <a:moveTo>
                    <a:pt x="259" y="885"/>
                  </a:moveTo>
                  <a:cubicBezTo>
                    <a:pt x="259" y="900"/>
                    <a:pt x="246" y="913"/>
                    <a:pt x="231" y="913"/>
                  </a:cubicBezTo>
                  <a:cubicBezTo>
                    <a:pt x="215" y="913"/>
                    <a:pt x="203" y="900"/>
                    <a:pt x="203" y="885"/>
                  </a:cubicBezTo>
                  <a:cubicBezTo>
                    <a:pt x="203" y="869"/>
                    <a:pt x="215" y="857"/>
                    <a:pt x="231" y="857"/>
                  </a:cubicBezTo>
                  <a:cubicBezTo>
                    <a:pt x="246" y="857"/>
                    <a:pt x="259" y="869"/>
                    <a:pt x="259" y="885"/>
                  </a:cubicBezTo>
                  <a:close/>
                  <a:moveTo>
                    <a:pt x="212" y="847"/>
                  </a:moveTo>
                  <a:cubicBezTo>
                    <a:pt x="212" y="862"/>
                    <a:pt x="199" y="875"/>
                    <a:pt x="184" y="875"/>
                  </a:cubicBezTo>
                  <a:cubicBezTo>
                    <a:pt x="168" y="875"/>
                    <a:pt x="156" y="862"/>
                    <a:pt x="156" y="847"/>
                  </a:cubicBezTo>
                  <a:cubicBezTo>
                    <a:pt x="156" y="831"/>
                    <a:pt x="168" y="819"/>
                    <a:pt x="184" y="819"/>
                  </a:cubicBezTo>
                  <a:cubicBezTo>
                    <a:pt x="199" y="819"/>
                    <a:pt x="212" y="831"/>
                    <a:pt x="212" y="847"/>
                  </a:cubicBezTo>
                  <a:close/>
                  <a:moveTo>
                    <a:pt x="170" y="804"/>
                  </a:moveTo>
                  <a:cubicBezTo>
                    <a:pt x="170" y="819"/>
                    <a:pt x="157" y="832"/>
                    <a:pt x="142" y="832"/>
                  </a:cubicBezTo>
                  <a:cubicBezTo>
                    <a:pt x="126" y="832"/>
                    <a:pt x="114" y="819"/>
                    <a:pt x="114" y="804"/>
                  </a:cubicBezTo>
                  <a:cubicBezTo>
                    <a:pt x="114" y="788"/>
                    <a:pt x="126" y="776"/>
                    <a:pt x="142" y="776"/>
                  </a:cubicBezTo>
                  <a:cubicBezTo>
                    <a:pt x="157" y="776"/>
                    <a:pt x="170" y="788"/>
                    <a:pt x="170" y="804"/>
                  </a:cubicBezTo>
                  <a:close/>
                  <a:moveTo>
                    <a:pt x="134" y="756"/>
                  </a:moveTo>
                  <a:cubicBezTo>
                    <a:pt x="134" y="771"/>
                    <a:pt x="121" y="784"/>
                    <a:pt x="106" y="784"/>
                  </a:cubicBezTo>
                  <a:cubicBezTo>
                    <a:pt x="90" y="784"/>
                    <a:pt x="78" y="771"/>
                    <a:pt x="78" y="756"/>
                  </a:cubicBezTo>
                  <a:cubicBezTo>
                    <a:pt x="78" y="740"/>
                    <a:pt x="90" y="728"/>
                    <a:pt x="106" y="728"/>
                  </a:cubicBezTo>
                  <a:cubicBezTo>
                    <a:pt x="121" y="728"/>
                    <a:pt x="134" y="740"/>
                    <a:pt x="134" y="756"/>
                  </a:cubicBezTo>
                  <a:close/>
                  <a:moveTo>
                    <a:pt x="104" y="703"/>
                  </a:moveTo>
                  <a:cubicBezTo>
                    <a:pt x="104" y="718"/>
                    <a:pt x="91" y="731"/>
                    <a:pt x="76" y="731"/>
                  </a:cubicBezTo>
                  <a:cubicBezTo>
                    <a:pt x="60" y="731"/>
                    <a:pt x="48" y="718"/>
                    <a:pt x="48" y="703"/>
                  </a:cubicBezTo>
                  <a:cubicBezTo>
                    <a:pt x="48" y="687"/>
                    <a:pt x="60" y="675"/>
                    <a:pt x="76" y="675"/>
                  </a:cubicBezTo>
                  <a:cubicBezTo>
                    <a:pt x="91" y="675"/>
                    <a:pt x="104" y="687"/>
                    <a:pt x="104" y="703"/>
                  </a:cubicBezTo>
                  <a:close/>
                  <a:moveTo>
                    <a:pt x="81" y="648"/>
                  </a:moveTo>
                  <a:cubicBezTo>
                    <a:pt x="81" y="663"/>
                    <a:pt x="68" y="676"/>
                    <a:pt x="53" y="676"/>
                  </a:cubicBezTo>
                  <a:cubicBezTo>
                    <a:pt x="37" y="676"/>
                    <a:pt x="25" y="663"/>
                    <a:pt x="25" y="648"/>
                  </a:cubicBezTo>
                  <a:cubicBezTo>
                    <a:pt x="25" y="632"/>
                    <a:pt x="37" y="620"/>
                    <a:pt x="53" y="620"/>
                  </a:cubicBezTo>
                  <a:cubicBezTo>
                    <a:pt x="68" y="620"/>
                    <a:pt x="81" y="632"/>
                    <a:pt x="81" y="648"/>
                  </a:cubicBezTo>
                  <a:close/>
                  <a:moveTo>
                    <a:pt x="66" y="589"/>
                  </a:moveTo>
                  <a:cubicBezTo>
                    <a:pt x="66" y="604"/>
                    <a:pt x="53" y="617"/>
                    <a:pt x="38" y="617"/>
                  </a:cubicBezTo>
                  <a:cubicBezTo>
                    <a:pt x="22" y="617"/>
                    <a:pt x="10" y="604"/>
                    <a:pt x="10" y="589"/>
                  </a:cubicBezTo>
                  <a:cubicBezTo>
                    <a:pt x="10" y="573"/>
                    <a:pt x="22" y="561"/>
                    <a:pt x="38" y="561"/>
                  </a:cubicBezTo>
                  <a:cubicBezTo>
                    <a:pt x="53" y="561"/>
                    <a:pt x="66" y="573"/>
                    <a:pt x="66" y="589"/>
                  </a:cubicBezTo>
                  <a:close/>
                  <a:moveTo>
                    <a:pt x="58" y="530"/>
                  </a:moveTo>
                  <a:cubicBezTo>
                    <a:pt x="58" y="545"/>
                    <a:pt x="45" y="558"/>
                    <a:pt x="30" y="558"/>
                  </a:cubicBezTo>
                  <a:cubicBezTo>
                    <a:pt x="14" y="558"/>
                    <a:pt x="2" y="545"/>
                    <a:pt x="2" y="530"/>
                  </a:cubicBezTo>
                  <a:cubicBezTo>
                    <a:pt x="2" y="514"/>
                    <a:pt x="14" y="502"/>
                    <a:pt x="30" y="502"/>
                  </a:cubicBezTo>
                  <a:cubicBezTo>
                    <a:pt x="45" y="502"/>
                    <a:pt x="58" y="514"/>
                    <a:pt x="58" y="530"/>
                  </a:cubicBezTo>
                  <a:close/>
                  <a:moveTo>
                    <a:pt x="58" y="469"/>
                  </a:moveTo>
                  <a:cubicBezTo>
                    <a:pt x="58" y="484"/>
                    <a:pt x="45" y="497"/>
                    <a:pt x="30" y="497"/>
                  </a:cubicBezTo>
                  <a:cubicBezTo>
                    <a:pt x="14" y="497"/>
                    <a:pt x="2" y="484"/>
                    <a:pt x="2" y="469"/>
                  </a:cubicBezTo>
                  <a:cubicBezTo>
                    <a:pt x="2" y="453"/>
                    <a:pt x="14" y="441"/>
                    <a:pt x="30" y="441"/>
                  </a:cubicBezTo>
                  <a:cubicBezTo>
                    <a:pt x="45" y="441"/>
                    <a:pt x="58" y="453"/>
                    <a:pt x="58" y="469"/>
                  </a:cubicBezTo>
                  <a:close/>
                  <a:moveTo>
                    <a:pt x="66" y="410"/>
                  </a:moveTo>
                  <a:cubicBezTo>
                    <a:pt x="66" y="425"/>
                    <a:pt x="53" y="438"/>
                    <a:pt x="38" y="438"/>
                  </a:cubicBezTo>
                  <a:cubicBezTo>
                    <a:pt x="22" y="438"/>
                    <a:pt x="10" y="425"/>
                    <a:pt x="10" y="410"/>
                  </a:cubicBezTo>
                  <a:cubicBezTo>
                    <a:pt x="10" y="394"/>
                    <a:pt x="22" y="382"/>
                    <a:pt x="38" y="382"/>
                  </a:cubicBezTo>
                  <a:cubicBezTo>
                    <a:pt x="53" y="382"/>
                    <a:pt x="66" y="394"/>
                    <a:pt x="66" y="410"/>
                  </a:cubicBezTo>
                  <a:close/>
                  <a:moveTo>
                    <a:pt x="81" y="351"/>
                  </a:moveTo>
                  <a:cubicBezTo>
                    <a:pt x="81" y="366"/>
                    <a:pt x="68" y="379"/>
                    <a:pt x="53" y="379"/>
                  </a:cubicBezTo>
                  <a:cubicBezTo>
                    <a:pt x="37" y="379"/>
                    <a:pt x="25" y="366"/>
                    <a:pt x="25" y="351"/>
                  </a:cubicBezTo>
                  <a:cubicBezTo>
                    <a:pt x="25" y="335"/>
                    <a:pt x="37" y="323"/>
                    <a:pt x="53" y="323"/>
                  </a:cubicBezTo>
                  <a:cubicBezTo>
                    <a:pt x="68" y="323"/>
                    <a:pt x="81" y="335"/>
                    <a:pt x="81" y="351"/>
                  </a:cubicBezTo>
                  <a:close/>
                  <a:moveTo>
                    <a:pt x="104" y="296"/>
                  </a:moveTo>
                  <a:cubicBezTo>
                    <a:pt x="104" y="311"/>
                    <a:pt x="91" y="324"/>
                    <a:pt x="76" y="324"/>
                  </a:cubicBezTo>
                  <a:cubicBezTo>
                    <a:pt x="60" y="324"/>
                    <a:pt x="48" y="311"/>
                    <a:pt x="48" y="296"/>
                  </a:cubicBezTo>
                  <a:cubicBezTo>
                    <a:pt x="48" y="280"/>
                    <a:pt x="60" y="268"/>
                    <a:pt x="76" y="268"/>
                  </a:cubicBezTo>
                  <a:cubicBezTo>
                    <a:pt x="91" y="268"/>
                    <a:pt x="104" y="280"/>
                    <a:pt x="104" y="296"/>
                  </a:cubicBezTo>
                  <a:close/>
                  <a:moveTo>
                    <a:pt x="134" y="243"/>
                  </a:moveTo>
                  <a:cubicBezTo>
                    <a:pt x="134" y="258"/>
                    <a:pt x="121" y="271"/>
                    <a:pt x="106" y="271"/>
                  </a:cubicBezTo>
                  <a:cubicBezTo>
                    <a:pt x="90" y="271"/>
                    <a:pt x="78" y="258"/>
                    <a:pt x="78" y="243"/>
                  </a:cubicBezTo>
                  <a:cubicBezTo>
                    <a:pt x="78" y="227"/>
                    <a:pt x="90" y="215"/>
                    <a:pt x="106" y="215"/>
                  </a:cubicBezTo>
                  <a:cubicBezTo>
                    <a:pt x="121" y="215"/>
                    <a:pt x="134" y="227"/>
                    <a:pt x="134" y="243"/>
                  </a:cubicBezTo>
                  <a:close/>
                  <a:moveTo>
                    <a:pt x="170" y="195"/>
                  </a:moveTo>
                  <a:cubicBezTo>
                    <a:pt x="170" y="210"/>
                    <a:pt x="157" y="223"/>
                    <a:pt x="142" y="223"/>
                  </a:cubicBezTo>
                  <a:cubicBezTo>
                    <a:pt x="126" y="223"/>
                    <a:pt x="114" y="210"/>
                    <a:pt x="114" y="195"/>
                  </a:cubicBezTo>
                  <a:cubicBezTo>
                    <a:pt x="114" y="179"/>
                    <a:pt x="126" y="167"/>
                    <a:pt x="142" y="167"/>
                  </a:cubicBezTo>
                  <a:cubicBezTo>
                    <a:pt x="157" y="167"/>
                    <a:pt x="170" y="179"/>
                    <a:pt x="170" y="195"/>
                  </a:cubicBezTo>
                  <a:close/>
                  <a:moveTo>
                    <a:pt x="212" y="152"/>
                  </a:moveTo>
                  <a:cubicBezTo>
                    <a:pt x="212" y="167"/>
                    <a:pt x="199" y="180"/>
                    <a:pt x="184" y="180"/>
                  </a:cubicBezTo>
                  <a:cubicBezTo>
                    <a:pt x="168" y="180"/>
                    <a:pt x="156" y="167"/>
                    <a:pt x="156" y="152"/>
                  </a:cubicBezTo>
                  <a:cubicBezTo>
                    <a:pt x="156" y="136"/>
                    <a:pt x="168" y="124"/>
                    <a:pt x="184" y="124"/>
                  </a:cubicBezTo>
                  <a:cubicBezTo>
                    <a:pt x="199" y="124"/>
                    <a:pt x="212" y="136"/>
                    <a:pt x="212" y="152"/>
                  </a:cubicBezTo>
                  <a:close/>
                  <a:moveTo>
                    <a:pt x="259" y="114"/>
                  </a:moveTo>
                  <a:cubicBezTo>
                    <a:pt x="259" y="129"/>
                    <a:pt x="246" y="142"/>
                    <a:pt x="231" y="142"/>
                  </a:cubicBezTo>
                  <a:cubicBezTo>
                    <a:pt x="215" y="142"/>
                    <a:pt x="203" y="129"/>
                    <a:pt x="203" y="114"/>
                  </a:cubicBezTo>
                  <a:cubicBezTo>
                    <a:pt x="203" y="98"/>
                    <a:pt x="215" y="86"/>
                    <a:pt x="231" y="86"/>
                  </a:cubicBezTo>
                  <a:cubicBezTo>
                    <a:pt x="246" y="86"/>
                    <a:pt x="259" y="98"/>
                    <a:pt x="259" y="114"/>
                  </a:cubicBezTo>
                  <a:close/>
                  <a:moveTo>
                    <a:pt x="310" y="83"/>
                  </a:moveTo>
                  <a:cubicBezTo>
                    <a:pt x="310" y="98"/>
                    <a:pt x="297" y="111"/>
                    <a:pt x="282" y="111"/>
                  </a:cubicBezTo>
                  <a:cubicBezTo>
                    <a:pt x="266" y="111"/>
                    <a:pt x="254" y="98"/>
                    <a:pt x="254" y="83"/>
                  </a:cubicBezTo>
                  <a:cubicBezTo>
                    <a:pt x="254" y="67"/>
                    <a:pt x="266" y="55"/>
                    <a:pt x="282" y="55"/>
                  </a:cubicBezTo>
                  <a:cubicBezTo>
                    <a:pt x="297" y="55"/>
                    <a:pt x="310" y="67"/>
                    <a:pt x="310" y="83"/>
                  </a:cubicBezTo>
                  <a:close/>
                  <a:moveTo>
                    <a:pt x="365" y="58"/>
                  </a:moveTo>
                  <a:cubicBezTo>
                    <a:pt x="365" y="73"/>
                    <a:pt x="352" y="86"/>
                    <a:pt x="337" y="86"/>
                  </a:cubicBezTo>
                  <a:cubicBezTo>
                    <a:pt x="321" y="86"/>
                    <a:pt x="309" y="73"/>
                    <a:pt x="309" y="58"/>
                  </a:cubicBezTo>
                  <a:cubicBezTo>
                    <a:pt x="309" y="42"/>
                    <a:pt x="321" y="30"/>
                    <a:pt x="337" y="30"/>
                  </a:cubicBezTo>
                  <a:cubicBezTo>
                    <a:pt x="352" y="30"/>
                    <a:pt x="365" y="42"/>
                    <a:pt x="365" y="58"/>
                  </a:cubicBezTo>
                  <a:close/>
                  <a:moveTo>
                    <a:pt x="423" y="41"/>
                  </a:moveTo>
                  <a:cubicBezTo>
                    <a:pt x="423" y="56"/>
                    <a:pt x="410" y="69"/>
                    <a:pt x="395" y="69"/>
                  </a:cubicBezTo>
                  <a:cubicBezTo>
                    <a:pt x="379" y="69"/>
                    <a:pt x="367" y="56"/>
                    <a:pt x="367" y="41"/>
                  </a:cubicBezTo>
                  <a:cubicBezTo>
                    <a:pt x="367" y="25"/>
                    <a:pt x="379" y="13"/>
                    <a:pt x="395" y="13"/>
                  </a:cubicBezTo>
                  <a:cubicBezTo>
                    <a:pt x="410" y="13"/>
                    <a:pt x="423" y="25"/>
                    <a:pt x="423" y="41"/>
                  </a:cubicBezTo>
                  <a:close/>
                  <a:moveTo>
                    <a:pt x="482" y="32"/>
                  </a:moveTo>
                  <a:cubicBezTo>
                    <a:pt x="482" y="47"/>
                    <a:pt x="469" y="60"/>
                    <a:pt x="454" y="60"/>
                  </a:cubicBezTo>
                  <a:cubicBezTo>
                    <a:pt x="438" y="60"/>
                    <a:pt x="426" y="47"/>
                    <a:pt x="426" y="32"/>
                  </a:cubicBezTo>
                  <a:cubicBezTo>
                    <a:pt x="426" y="16"/>
                    <a:pt x="438" y="4"/>
                    <a:pt x="454" y="4"/>
                  </a:cubicBezTo>
                  <a:cubicBezTo>
                    <a:pt x="469" y="4"/>
                    <a:pt x="482" y="16"/>
                    <a:pt x="482" y="32"/>
                  </a:cubicBezTo>
                  <a:close/>
                  <a:moveTo>
                    <a:pt x="543" y="30"/>
                  </a:moveTo>
                  <a:cubicBezTo>
                    <a:pt x="543" y="45"/>
                    <a:pt x="530" y="58"/>
                    <a:pt x="515" y="58"/>
                  </a:cubicBezTo>
                  <a:cubicBezTo>
                    <a:pt x="499" y="58"/>
                    <a:pt x="487" y="45"/>
                    <a:pt x="487" y="30"/>
                  </a:cubicBezTo>
                  <a:cubicBezTo>
                    <a:pt x="487" y="14"/>
                    <a:pt x="499" y="2"/>
                    <a:pt x="515" y="2"/>
                  </a:cubicBezTo>
                  <a:cubicBezTo>
                    <a:pt x="530" y="2"/>
                    <a:pt x="543" y="14"/>
                    <a:pt x="543" y="30"/>
                  </a:cubicBezTo>
                  <a:close/>
                  <a:moveTo>
                    <a:pt x="603" y="36"/>
                  </a:moveTo>
                  <a:cubicBezTo>
                    <a:pt x="603" y="51"/>
                    <a:pt x="590" y="64"/>
                    <a:pt x="575" y="64"/>
                  </a:cubicBezTo>
                  <a:cubicBezTo>
                    <a:pt x="559" y="64"/>
                    <a:pt x="547" y="51"/>
                    <a:pt x="547" y="36"/>
                  </a:cubicBezTo>
                  <a:cubicBezTo>
                    <a:pt x="547" y="20"/>
                    <a:pt x="559" y="8"/>
                    <a:pt x="575" y="8"/>
                  </a:cubicBezTo>
                  <a:cubicBezTo>
                    <a:pt x="590" y="8"/>
                    <a:pt x="603" y="20"/>
                    <a:pt x="603" y="36"/>
                  </a:cubicBezTo>
                  <a:close/>
                  <a:moveTo>
                    <a:pt x="661" y="49"/>
                  </a:moveTo>
                  <a:cubicBezTo>
                    <a:pt x="661" y="64"/>
                    <a:pt x="648" y="77"/>
                    <a:pt x="633" y="77"/>
                  </a:cubicBezTo>
                  <a:cubicBezTo>
                    <a:pt x="617" y="77"/>
                    <a:pt x="605" y="64"/>
                    <a:pt x="605" y="49"/>
                  </a:cubicBezTo>
                  <a:cubicBezTo>
                    <a:pt x="605" y="33"/>
                    <a:pt x="617" y="21"/>
                    <a:pt x="633" y="21"/>
                  </a:cubicBezTo>
                  <a:cubicBezTo>
                    <a:pt x="648" y="21"/>
                    <a:pt x="661" y="33"/>
                    <a:pt x="661" y="49"/>
                  </a:cubicBezTo>
                  <a:close/>
                  <a:moveTo>
                    <a:pt x="718" y="70"/>
                  </a:moveTo>
                  <a:cubicBezTo>
                    <a:pt x="718" y="85"/>
                    <a:pt x="705" y="98"/>
                    <a:pt x="690" y="98"/>
                  </a:cubicBezTo>
                  <a:cubicBezTo>
                    <a:pt x="674" y="98"/>
                    <a:pt x="662" y="85"/>
                    <a:pt x="662" y="70"/>
                  </a:cubicBezTo>
                  <a:cubicBezTo>
                    <a:pt x="662" y="54"/>
                    <a:pt x="674" y="42"/>
                    <a:pt x="690" y="42"/>
                  </a:cubicBezTo>
                  <a:cubicBezTo>
                    <a:pt x="705" y="42"/>
                    <a:pt x="718" y="54"/>
                    <a:pt x="718" y="70"/>
                  </a:cubicBezTo>
                  <a:close/>
                  <a:moveTo>
                    <a:pt x="771" y="98"/>
                  </a:moveTo>
                  <a:cubicBezTo>
                    <a:pt x="771" y="113"/>
                    <a:pt x="758" y="126"/>
                    <a:pt x="743" y="126"/>
                  </a:cubicBezTo>
                  <a:cubicBezTo>
                    <a:pt x="727" y="126"/>
                    <a:pt x="715" y="113"/>
                    <a:pt x="715" y="98"/>
                  </a:cubicBezTo>
                  <a:cubicBezTo>
                    <a:pt x="715" y="82"/>
                    <a:pt x="727" y="70"/>
                    <a:pt x="743" y="70"/>
                  </a:cubicBezTo>
                  <a:cubicBezTo>
                    <a:pt x="758" y="70"/>
                    <a:pt x="771" y="82"/>
                    <a:pt x="771" y="98"/>
                  </a:cubicBezTo>
                  <a:close/>
                  <a:moveTo>
                    <a:pt x="821" y="132"/>
                  </a:moveTo>
                  <a:cubicBezTo>
                    <a:pt x="821" y="147"/>
                    <a:pt x="808" y="160"/>
                    <a:pt x="793" y="160"/>
                  </a:cubicBezTo>
                  <a:cubicBezTo>
                    <a:pt x="777" y="160"/>
                    <a:pt x="765" y="147"/>
                    <a:pt x="765" y="132"/>
                  </a:cubicBezTo>
                  <a:cubicBezTo>
                    <a:pt x="765" y="116"/>
                    <a:pt x="777" y="104"/>
                    <a:pt x="793" y="104"/>
                  </a:cubicBezTo>
                  <a:cubicBezTo>
                    <a:pt x="808" y="104"/>
                    <a:pt x="821" y="116"/>
                    <a:pt x="821" y="132"/>
                  </a:cubicBezTo>
                  <a:close/>
                  <a:moveTo>
                    <a:pt x="865" y="173"/>
                  </a:moveTo>
                  <a:cubicBezTo>
                    <a:pt x="865" y="188"/>
                    <a:pt x="852" y="201"/>
                    <a:pt x="837" y="201"/>
                  </a:cubicBezTo>
                  <a:cubicBezTo>
                    <a:pt x="821" y="201"/>
                    <a:pt x="809" y="188"/>
                    <a:pt x="809" y="173"/>
                  </a:cubicBezTo>
                  <a:cubicBezTo>
                    <a:pt x="809" y="157"/>
                    <a:pt x="821" y="145"/>
                    <a:pt x="837" y="145"/>
                  </a:cubicBezTo>
                  <a:cubicBezTo>
                    <a:pt x="852" y="145"/>
                    <a:pt x="865" y="157"/>
                    <a:pt x="865" y="173"/>
                  </a:cubicBezTo>
                  <a:close/>
                  <a:moveTo>
                    <a:pt x="904" y="218"/>
                  </a:moveTo>
                  <a:cubicBezTo>
                    <a:pt x="904" y="233"/>
                    <a:pt x="891" y="246"/>
                    <a:pt x="876" y="246"/>
                  </a:cubicBezTo>
                  <a:cubicBezTo>
                    <a:pt x="860" y="246"/>
                    <a:pt x="848" y="233"/>
                    <a:pt x="848" y="218"/>
                  </a:cubicBezTo>
                  <a:cubicBezTo>
                    <a:pt x="848" y="202"/>
                    <a:pt x="860" y="190"/>
                    <a:pt x="876" y="190"/>
                  </a:cubicBezTo>
                  <a:cubicBezTo>
                    <a:pt x="891" y="190"/>
                    <a:pt x="904" y="202"/>
                    <a:pt x="904" y="218"/>
                  </a:cubicBezTo>
                  <a:close/>
                  <a:moveTo>
                    <a:pt x="937" y="269"/>
                  </a:moveTo>
                  <a:cubicBezTo>
                    <a:pt x="937" y="284"/>
                    <a:pt x="924" y="297"/>
                    <a:pt x="909" y="297"/>
                  </a:cubicBezTo>
                  <a:cubicBezTo>
                    <a:pt x="893" y="297"/>
                    <a:pt x="881" y="284"/>
                    <a:pt x="881" y="269"/>
                  </a:cubicBezTo>
                  <a:cubicBezTo>
                    <a:pt x="881" y="253"/>
                    <a:pt x="893" y="241"/>
                    <a:pt x="909" y="241"/>
                  </a:cubicBezTo>
                  <a:cubicBezTo>
                    <a:pt x="924" y="241"/>
                    <a:pt x="937" y="253"/>
                    <a:pt x="937" y="269"/>
                  </a:cubicBezTo>
                  <a:close/>
                  <a:moveTo>
                    <a:pt x="963" y="323"/>
                  </a:moveTo>
                  <a:cubicBezTo>
                    <a:pt x="963" y="338"/>
                    <a:pt x="950" y="351"/>
                    <a:pt x="935" y="351"/>
                  </a:cubicBezTo>
                  <a:cubicBezTo>
                    <a:pt x="919" y="351"/>
                    <a:pt x="907" y="338"/>
                    <a:pt x="907" y="323"/>
                  </a:cubicBezTo>
                  <a:cubicBezTo>
                    <a:pt x="907" y="307"/>
                    <a:pt x="919" y="295"/>
                    <a:pt x="935" y="295"/>
                  </a:cubicBezTo>
                  <a:cubicBezTo>
                    <a:pt x="950" y="295"/>
                    <a:pt x="963" y="307"/>
                    <a:pt x="963" y="323"/>
                  </a:cubicBezTo>
                  <a:close/>
                  <a:moveTo>
                    <a:pt x="982" y="380"/>
                  </a:moveTo>
                  <a:cubicBezTo>
                    <a:pt x="982" y="395"/>
                    <a:pt x="969" y="408"/>
                    <a:pt x="954" y="408"/>
                  </a:cubicBezTo>
                  <a:cubicBezTo>
                    <a:pt x="938" y="408"/>
                    <a:pt x="926" y="395"/>
                    <a:pt x="926" y="380"/>
                  </a:cubicBezTo>
                  <a:cubicBezTo>
                    <a:pt x="926" y="364"/>
                    <a:pt x="938" y="352"/>
                    <a:pt x="954" y="352"/>
                  </a:cubicBezTo>
                  <a:cubicBezTo>
                    <a:pt x="969" y="352"/>
                    <a:pt x="982" y="364"/>
                    <a:pt x="982" y="380"/>
                  </a:cubicBezTo>
                  <a:close/>
                  <a:moveTo>
                    <a:pt x="994" y="439"/>
                  </a:moveTo>
                  <a:cubicBezTo>
                    <a:pt x="994" y="454"/>
                    <a:pt x="981" y="467"/>
                    <a:pt x="966" y="467"/>
                  </a:cubicBezTo>
                  <a:cubicBezTo>
                    <a:pt x="950" y="467"/>
                    <a:pt x="938" y="454"/>
                    <a:pt x="938" y="439"/>
                  </a:cubicBezTo>
                  <a:cubicBezTo>
                    <a:pt x="938" y="423"/>
                    <a:pt x="950" y="411"/>
                    <a:pt x="966" y="411"/>
                  </a:cubicBezTo>
                  <a:cubicBezTo>
                    <a:pt x="981" y="411"/>
                    <a:pt x="994" y="423"/>
                    <a:pt x="994" y="439"/>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6" name="Forma 35"/>
            <p:cNvSpPr/>
            <p:nvPr/>
          </p:nvSpPr>
          <p:spPr>
            <a:xfrm>
              <a:off x="7772400" y="5303520"/>
              <a:ext cx="1005840" cy="100584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63500" cap="rnd">
              <a:solidFill>
                <a:srgbClr val="2E4A9E"/>
              </a:solidFill>
              <a:round/>
            </a:ln>
          </p:spPr>
        </p:sp>
        <p:sp>
          <p:nvSpPr>
            <p:cNvPr id="37" name="Forma 36"/>
            <p:cNvSpPr txBox="1"/>
            <p:nvPr/>
          </p:nvSpPr>
          <p:spPr>
            <a:xfrm>
              <a:off x="7772400" y="5605272"/>
              <a:ext cx="1005840" cy="402336"/>
            </a:xfrm>
            <a:prstGeom prst="rect">
              <a:avLst/>
            </a:prstGeom>
            <a:noFill/>
            <a:ln>
              <a:noFill/>
            </a:ln>
          </p:spPr>
          <p:txBody>
            <a:bodyPr wrap="square" lIns="0" tIns="0" rIns="0" bIns="0" anchor="ctr" rtlCol="0">
              <a:noAutofit/>
            </a:bodyPr>
            <a:lstStyle/>
            <a:p>
              <a:pPr algn="ctr">
                <a:spcAft>
                  <a:spcPts val="300"/>
                </a:spcAft>
                <a:buNone/>
              </a:pPr>
              <a:r>
                <a:rPr lang="es-AR" sz="1760" b="1" dirty="0">
                  <a:solidFill>
                    <a:srgbClr val="1E1E1E"/>
                  </a:solidFill>
                  <a:latin typeface="Bahnschrift SemiBold Condensed"/>
                  <a:ea typeface="Bahnschrift SemiBold Condensed"/>
                  <a:cs typeface="Bahnschrift SemiBold Condensed"/>
                  <a:sym typeface="Bahnschrift SemiBold Condensed"/>
                </a:rPr>
                <a:t>LDL</a:t>
              </a:r>
              <a:endParaRPr lang="es-AR" sz="1760" dirty="0">
                <a:latin typeface="Bahnschrift SemiBold Condensed"/>
              </a:endParaRPr>
            </a:p>
          </p:txBody>
        </p:sp>
      </p:gr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Hígado sano"/>
          <p:cNvGrpSpPr/>
          <p:nvPr/>
        </p:nvGrpSpPr>
        <p:grpSpPr>
          <a:xfrm>
            <a:off x="365760" y="1051560"/>
            <a:ext cx="3291840" cy="2326673"/>
            <a:chOff x="365760" y="1051560"/>
            <a:chExt cx="3291840" cy="2326673"/>
          </a:xfrm>
        </p:grpSpPr>
        <p:sp>
          <p:nvSpPr>
            <p:cNvPr id="14" name="Vesícula biliar"/>
            <p:cNvSpPr/>
            <p:nvPr/>
          </p:nvSpPr>
          <p:spPr>
            <a:xfrm>
              <a:off x="1254557" y="2643494"/>
              <a:ext cx="427939" cy="734739"/>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365760" y="1051560"/>
              <a:ext cx="3291840" cy="2040941"/>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365760" y="1051560"/>
              <a:ext cx="3291840" cy="2040941"/>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365760" y="1051560"/>
              <a:ext cx="3291840" cy="2040941"/>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Recuadro Funcionamiento normal"/>
          <p:cNvGrpSpPr/>
          <p:nvPr/>
        </p:nvGrpSpPr>
        <p:grpSpPr>
          <a:xfrm>
            <a:off x="3931920" y="1005840"/>
            <a:ext cx="7863840" cy="2103120"/>
            <a:chOff x="3931920" y="1005840"/>
            <a:chExt cx="7863840" cy="2103120"/>
          </a:xfrm>
        </p:grpSpPr>
        <p:sp>
          <p:nvSpPr>
            <p:cNvPr id="19" name="Forma 18"/>
            <p:cNvSpPr/>
            <p:nvPr/>
          </p:nvSpPr>
          <p:spPr>
            <a:xfrm>
              <a:off x="3931920" y="1188720"/>
              <a:ext cx="7863840" cy="19202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Produce y almacena glucosa · detoxifica nitrógeno (urea) · sintetiza </a:t>
              </a:r>
              <a:r>
                <a:rPr lang="es-AR" sz="1700" b="1" dirty="0">
                  <a:solidFill>
                    <a:srgbClr val="1E1E1E"/>
                  </a:solidFill>
                  <a:latin typeface="Bahnschrift"/>
                  <a:ea typeface="Bahnschrift"/>
                  <a:cs typeface="Bahnschrift"/>
                  <a:sym typeface="Bahnschrift"/>
                </a:rPr>
                <a:t>albúmina y coagulación</a:t>
              </a:r>
              <a:r>
                <a:rPr lang="es-AR" sz="1700" dirty="0">
                  <a:solidFill>
                    <a:srgbClr val="1E1E1E"/>
                  </a:solidFill>
                  <a:latin typeface="Bahnschrift"/>
                  <a:ea typeface="Bahnschrift"/>
                  <a:cs typeface="Bahnschrift"/>
                  <a:sym typeface="Bahnschrift"/>
                </a:rPr>
                <a:t> · conjuga </a:t>
              </a:r>
              <a:r>
                <a:rPr lang="es-AR" sz="1700" b="1" dirty="0">
                  <a:solidFill>
                    <a:srgbClr val="1E1E1E"/>
                  </a:solidFill>
                  <a:latin typeface="Bahnschrift"/>
                  <a:ea typeface="Bahnschrift"/>
                  <a:cs typeface="Bahnschrift"/>
                  <a:sym typeface="Bahnschrift"/>
                </a:rPr>
                <a:t>bilirrubina</a:t>
              </a:r>
              <a:r>
                <a:rPr lang="es-AR" sz="1700" dirty="0">
                  <a:solidFill>
                    <a:srgbClr val="1E1E1E"/>
                  </a:solidFill>
                  <a:latin typeface="Bahnschrift"/>
                  <a:ea typeface="Bahnschrift"/>
                  <a:cs typeface="Bahnschrift"/>
                  <a:sym typeface="Bahnschrift"/>
                </a:rPr>
                <a:t> y secreta bilis · maneja </a:t>
              </a:r>
              <a:r>
                <a:rPr lang="es-AR" sz="1700" b="1" dirty="0">
                  <a:solidFill>
                    <a:srgbClr val="1E1E1E"/>
                  </a:solidFill>
                  <a:latin typeface="Bahnschrift"/>
                  <a:ea typeface="Bahnschrift"/>
                  <a:cs typeface="Bahnschrift"/>
                  <a:sym typeface="Bahnschrift"/>
                </a:rPr>
                <a:t>lipoproteínas</a:t>
              </a:r>
              <a:r>
                <a:rPr lang="es-AR" sz="1700" dirty="0">
                  <a:solidFill>
                    <a:srgbClr val="1E1E1E"/>
                  </a:solidFill>
                  <a:latin typeface="Bahnschrift"/>
                  <a:ea typeface="Bahnschrift"/>
                  <a:cs typeface="Bahnschrift"/>
                  <a:sym typeface="Bahnschrift"/>
                </a:rPr>
                <a:t> · depura </a:t>
              </a:r>
              <a:r>
                <a:rPr lang="es-AR" sz="1700" b="1" dirty="0">
                  <a:solidFill>
                    <a:srgbClr val="1E1E1E"/>
                  </a:solidFill>
                  <a:latin typeface="Bahnschrift"/>
                  <a:ea typeface="Bahnschrift"/>
                  <a:cs typeface="Bahnschrift"/>
                  <a:sym typeface="Bahnschrift"/>
                </a:rPr>
                <a:t>hormonas, fármacos y lactato</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0" name="Forma 19"/>
            <p:cNvSpPr/>
            <p:nvPr/>
          </p:nvSpPr>
          <p:spPr>
            <a:xfrm>
              <a:off x="4041648" y="1005840"/>
              <a:ext cx="2336449"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50" dirty="0">
                <a:latin typeface="Bahnschrift SemiBold Condensed"/>
              </a:endParaRPr>
            </a:p>
          </p:txBody>
        </p:sp>
      </p:grpSp>
      <p:grpSp>
        <p:nvGrpSpPr>
          <p:cNvPr id="21" name="Recuadro Alteración primaria"/>
          <p:cNvGrpSpPr/>
          <p:nvPr/>
        </p:nvGrpSpPr>
        <p:grpSpPr>
          <a:xfrm>
            <a:off x="3931920" y="3291840"/>
            <a:ext cx="7863840" cy="1371600"/>
            <a:chOff x="3931920" y="3291840"/>
            <a:chExt cx="7863840" cy="1371600"/>
          </a:xfrm>
        </p:grpSpPr>
        <p:sp>
          <p:nvSpPr>
            <p:cNvPr id="22" name="Forma 21"/>
            <p:cNvSpPr/>
            <p:nvPr/>
          </p:nvSpPr>
          <p:spPr>
            <a:xfrm>
              <a:off x="3931920" y="3474720"/>
              <a:ext cx="7863840" cy="11887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La insuficiencia altera </a:t>
              </a:r>
              <a:r>
                <a:rPr lang="es-AR" sz="1700" b="1" dirty="0">
                  <a:solidFill>
                    <a:srgbClr val="1E1E1E"/>
                  </a:solidFill>
                  <a:latin typeface="Bahnschrift"/>
                  <a:ea typeface="Bahnschrift"/>
                  <a:cs typeface="Bahnschrift"/>
                  <a:sym typeface="Bahnschrift"/>
                </a:rPr>
                <a:t>simultáneamente</a:t>
              </a:r>
              <a:r>
                <a:rPr lang="es-AR" sz="1700" dirty="0">
                  <a:solidFill>
                    <a:srgbClr val="1E1E1E"/>
                  </a:solidFill>
                  <a:latin typeface="Bahnschrift"/>
                  <a:ea typeface="Bahnschrift"/>
                  <a:cs typeface="Bahnschrift"/>
                  <a:sym typeface="Bahnschrift"/>
                </a:rPr>
                <a:t> producción, depuración, almacenamiento, síntesis proteica y biotransformación; </a:t>
              </a:r>
              <a:r>
                <a:rPr lang="es-AR" sz="1700" b="1" dirty="0">
                  <a:solidFill>
                    <a:srgbClr val="1E1E1E"/>
                  </a:solidFill>
                  <a:latin typeface="Bahnschrift"/>
                  <a:ea typeface="Bahnschrift"/>
                  <a:cs typeface="Bahnschrift"/>
                  <a:sym typeface="Bahnschrift"/>
                </a:rPr>
                <a:t>cada cambio repercute en otros órganos</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3" name="Forma 22"/>
            <p:cNvSpPr/>
            <p:nvPr/>
          </p:nvSpPr>
          <p:spPr>
            <a:xfrm>
              <a:off x="4041648" y="3291840"/>
              <a:ext cx="2043479"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ALTERACIÓN PRIMARIA</a:t>
              </a:r>
              <a:endParaRPr lang="es-AR" sz="1550" dirty="0">
                <a:latin typeface="Bahnschrift SemiBold Condensed"/>
              </a:endParaRPr>
            </a:p>
          </p:txBody>
        </p:sp>
      </p:grpSp>
      <p:sp>
        <p:nvSpPr>
          <p:cNvPr id="24" name="Perla"/>
          <p:cNvSpPr/>
          <p:nvPr/>
        </p:nvSpPr>
        <p:spPr>
          <a:xfrm>
            <a:off x="365760" y="4846320"/>
            <a:ext cx="11430000" cy="12344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FFFFFF"/>
                </a:solidFill>
                <a:latin typeface="Bahnschrift"/>
                <a:ea typeface="Bahnschrift"/>
                <a:cs typeface="Bahnschrift"/>
                <a:sym typeface="Bahnschrift"/>
              </a:rPr>
              <a:t>Lesión ≠ insuficiencia</a:t>
            </a:r>
            <a:r>
              <a:rPr lang="es-AR" sz="1650" dirty="0">
                <a:solidFill>
                  <a:srgbClr val="FFFFFF"/>
                </a:solidFill>
                <a:latin typeface="Bahnschrift"/>
                <a:ea typeface="Bahnschrift"/>
                <a:cs typeface="Bahnschrift"/>
                <a:sym typeface="Bahnschrift"/>
              </a:rPr>
              <a:t>: ALT/AST indican </a:t>
            </a:r>
            <a:r>
              <a:rPr lang="es-AR" sz="1650" b="1" dirty="0">
                <a:solidFill>
                  <a:srgbClr val="FFFFFF"/>
                </a:solidFill>
                <a:latin typeface="Bahnschrift"/>
                <a:ea typeface="Bahnschrift"/>
                <a:cs typeface="Bahnschrift"/>
                <a:sym typeface="Bahnschrift"/>
              </a:rPr>
              <a:t>lesión</a:t>
            </a:r>
            <a:r>
              <a:rPr lang="es-AR" sz="1650" dirty="0">
                <a:solidFill>
                  <a:srgbClr val="FFFFFF"/>
                </a:solidFill>
                <a:latin typeface="Bahnschrift"/>
                <a:ea typeface="Bahnschrift"/>
                <a:cs typeface="Bahnschrift"/>
                <a:sym typeface="Bahnschrift"/>
              </a:rPr>
              <a:t>; INR/tiempo de protrombina, factor V, bilirrubina, albúmina y evolución clínica orientan (con limitaciones) a </a:t>
            </a:r>
            <a:r>
              <a:rPr lang="es-AR" sz="1650" b="1" dirty="0">
                <a:solidFill>
                  <a:srgbClr val="FFFFFF"/>
                </a:solidFill>
                <a:latin typeface="Bahnschrift"/>
                <a:ea typeface="Bahnschrift"/>
                <a:cs typeface="Bahnschrift"/>
                <a:sym typeface="Bahnschrift"/>
              </a:rPr>
              <a:t>funciones</a:t>
            </a:r>
            <a:r>
              <a:rPr lang="es-AR" sz="1650" dirty="0">
                <a:solidFill>
                  <a:srgbClr val="FFFFFF"/>
                </a:solidFill>
                <a:latin typeface="Bahnschrift"/>
                <a:ea typeface="Bahnschrift"/>
                <a:cs typeface="Bahnschrift"/>
                <a:sym typeface="Bahnschrift"/>
              </a:rPr>
              <a:t> específicas.</a:t>
            </a:r>
            <a:endParaRPr lang="es-AR" sz="1650" dirty="0">
              <a:latin typeface="Bahnschrift"/>
            </a:endParaRPr>
          </a:p>
        </p:txBody>
      </p:sp>
      <p:sp>
        <p:nvSpPr>
          <p:cNvPr id="2" name="Etiqueta sección"/>
          <p:cNvSpPr/>
          <p:nvPr/>
        </p:nvSpPr>
        <p:spPr>
          <a:xfrm>
            <a:off x="10184647" y="201168"/>
            <a:ext cx="173272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1 · HÍGADO</a:t>
            </a:r>
            <a:endParaRPr lang="es-AR" sz="1300" dirty="0">
              <a:latin typeface="Bahnschrift SemiBold Condensed"/>
            </a:endParaRPr>
          </a:p>
        </p:txBody>
      </p:sp>
      <p:sp>
        <p:nvSpPr>
          <p:cNvPr id="3" name="Título"/>
          <p:cNvSpPr/>
          <p:nvPr/>
        </p:nvSpPr>
        <p:spPr>
          <a:xfrm>
            <a:off x="274320" y="146304"/>
            <a:ext cx="557186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P1 · INSUFICIENCIA FUNCIONAL HEPÁTICA</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169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8"/>
                                        </p:tgtEl>
                                        <p:attrNameLst>
                                          <p:attrName>style.visibility</p:attrName>
                                        </p:attrNameLst>
                                      </p:cBhvr>
                                      <p:to>
                                        <p:strVal val="visible"/>
                                      </p:to>
                                    </p:set>
                                    <p:animEffect transition="in" filter="fade">
                                      <p:cBhvr>
                                        <p:cTn id="5" dur="500"/>
                                        <p:tgtEl>
                                          <p:spTgt spid="18"/>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170.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1 · Homeostasis de glucos"/>
          <p:cNvGrpSpPr/>
          <p:nvPr/>
        </p:nvGrpSpPr>
        <p:grpSpPr>
          <a:xfrm>
            <a:off x="365760" y="1005840"/>
            <a:ext cx="5577840" cy="2377440"/>
            <a:chOff x="365760" y="1005840"/>
            <a:chExt cx="5577840" cy="2377440"/>
          </a:xfrm>
        </p:grpSpPr>
        <p:sp>
          <p:nvSpPr>
            <p:cNvPr id="14" name="Forma 13"/>
            <p:cNvSpPr/>
            <p:nvPr/>
          </p:nvSpPr>
          <p:spPr>
            <a:xfrm>
              <a:off x="365760" y="1188720"/>
              <a:ext cx="5577840" cy="21945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 glucógeno útil y ↓ salida de glucosa (glucogenólisis/GNG) → </a:t>
              </a:r>
              <a:r>
                <a:rPr lang="es-AR" sz="1600" b="1" dirty="0">
                  <a:solidFill>
                    <a:srgbClr val="1E1E1E"/>
                  </a:solidFill>
                  <a:latin typeface="Bahnschrift"/>
                  <a:ea typeface="Bahnschrift"/>
                  <a:cs typeface="Bahnschrift"/>
                  <a:sym typeface="Bahnschrift"/>
                </a:rPr>
                <a:t>hipoglucemia</a:t>
              </a:r>
              <a:r>
                <a:rPr lang="es-AR" sz="1600" dirty="0">
                  <a:solidFill>
                    <a:srgbClr val="1E1E1E"/>
                  </a:solidFill>
                  <a:latin typeface="Bahnschrift"/>
                  <a:ea typeface="Bahnschrift"/>
                  <a:cs typeface="Bahnschrift"/>
                  <a:sym typeface="Bahnschrift"/>
                </a:rPr>
                <a:t> en insuficiencia severa, sobre todo en </a:t>
              </a:r>
              <a:r>
                <a:rPr lang="es-AR" sz="1600" b="1" dirty="0">
                  <a:solidFill>
                    <a:srgbClr val="1E1E1E"/>
                  </a:solidFill>
                  <a:latin typeface="Bahnschrift"/>
                  <a:ea typeface="Bahnschrift"/>
                  <a:cs typeface="Bahnschrift"/>
                  <a:sym typeface="Bahnschrift"/>
                </a:rPr>
                <a:t>ayuno</a:t>
              </a:r>
              <a:r>
                <a:rPr lang="es-AR" sz="1600" dirty="0">
                  <a:solidFill>
                    <a:srgbClr val="1E1E1E"/>
                  </a:solidFill>
                  <a:latin typeface="Bahnschrift"/>
                  <a:ea typeface="Bahnschrift"/>
                  <a:cs typeface="Bahnschrift"/>
                  <a:sym typeface="Bahnschrift"/>
                </a:rPr>
                <a:t> o desnutrición.</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En cirrosis pueden </a:t>
              </a:r>
              <a:r>
                <a:rPr lang="es-AR" sz="1600" b="1" dirty="0">
                  <a:solidFill>
                    <a:srgbClr val="1E1E1E"/>
                  </a:solidFill>
                  <a:latin typeface="Bahnschrift"/>
                  <a:ea typeface="Bahnschrift"/>
                  <a:cs typeface="Bahnschrift"/>
                  <a:sym typeface="Bahnschrift"/>
                </a:rPr>
                <a:t>coexistir</a:t>
              </a:r>
              <a:r>
                <a:rPr lang="es-AR" sz="1600" dirty="0">
                  <a:solidFill>
                    <a:srgbClr val="1E1E1E"/>
                  </a:solidFill>
                  <a:latin typeface="Bahnschrift"/>
                  <a:ea typeface="Bahnschrift"/>
                  <a:cs typeface="Bahnschrift"/>
                  <a:sym typeface="Bahnschrift"/>
                </a:rPr>
                <a:t> resistencia insulínica e </a:t>
              </a:r>
              <a:r>
                <a:rPr lang="es-AR" sz="1600" b="1" dirty="0">
                  <a:solidFill>
                    <a:srgbClr val="1E1E1E"/>
                  </a:solidFill>
                  <a:latin typeface="Bahnschrift"/>
                  <a:ea typeface="Bahnschrift"/>
                  <a:cs typeface="Bahnschrift"/>
                  <a:sym typeface="Bahnschrift"/>
                </a:rPr>
                <a:t>hiperglucemia</a:t>
              </a:r>
              <a:r>
                <a:rPr lang="es-AR" sz="1600" dirty="0">
                  <a:solidFill>
                    <a:srgbClr val="1E1E1E"/>
                  </a:solidFill>
                  <a:latin typeface="Bahnschrift"/>
                  <a:ea typeface="Bahnschrift"/>
                  <a:cs typeface="Bahnschrift"/>
                  <a:sym typeface="Bahnschrift"/>
                </a:rPr>
                <a:t> (captación/depuración de insulina alteradas).</a:t>
              </a:r>
              <a:endParaRPr lang="es-AR" sz="1600" dirty="0">
                <a:latin typeface="Bahnschrift"/>
              </a:endParaRPr>
            </a:p>
          </p:txBody>
        </p:sp>
        <p:sp>
          <p:nvSpPr>
            <p:cNvPr id="15" name="Forma 14"/>
            <p:cNvSpPr/>
            <p:nvPr/>
          </p:nvSpPr>
          <p:spPr>
            <a:xfrm>
              <a:off x="475488" y="1005840"/>
              <a:ext cx="239547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1 · HOMEOSTASIS DE GLUCOSA</a:t>
              </a:r>
              <a:endParaRPr lang="es-AR" sz="1450" dirty="0">
                <a:latin typeface="Bahnschrift SemiBold Condensed"/>
              </a:endParaRPr>
            </a:p>
          </p:txBody>
        </p:sp>
      </p:grpSp>
      <p:sp>
        <p:nvSpPr>
          <p:cNvPr id="16" name="Forma 15"/>
          <p:cNvSpPr/>
          <p:nvPr/>
        </p:nvSpPr>
        <p:spPr>
          <a:xfrm>
            <a:off x="6217920" y="1005840"/>
            <a:ext cx="5577840" cy="809244"/>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ciclo de la urea + derivación portosistémica</a:t>
            </a:r>
            <a:endParaRPr lang="es-AR" sz="1350" dirty="0">
              <a:latin typeface="Bahnschrift"/>
            </a:endParaRPr>
          </a:p>
        </p:txBody>
      </p:sp>
      <p:sp>
        <p:nvSpPr>
          <p:cNvPr id="17" name="Flecha 16_2"/>
          <p:cNvSpPr/>
          <p:nvPr/>
        </p:nvSpPr>
        <p:spPr>
          <a:xfrm>
            <a:off x="9006840" y="1842516"/>
            <a:ext cx="9144" cy="146304"/>
          </a:xfrm>
          <a:custGeom>
            <a:avLst/>
            <a:gdLst/>
            <a:ahLst/>
            <a:cxnLst/>
            <a:rect l="0" t="0" r="r" b="b"/>
            <a:pathLst>
              <a:path w="10" h="160" fill="none">
                <a:moveTo>
                  <a:pt x="0" y="0"/>
                </a:moveTo>
                <a:lnTo>
                  <a:pt x="0" y="160"/>
                </a:lnTo>
              </a:path>
            </a:pathLst>
          </a:custGeom>
          <a:noFill/>
          <a:ln w="31750" cap="rnd">
            <a:solidFill>
              <a:srgbClr val="C00000"/>
            </a:solidFill>
            <a:round/>
            <a:tailEnd type="triangle" w="med" len="med"/>
          </a:ln>
        </p:spPr>
      </p:sp>
      <p:sp>
        <p:nvSpPr>
          <p:cNvPr id="18" name="Forma 18"/>
          <p:cNvSpPr/>
          <p:nvPr/>
        </p:nvSpPr>
        <p:spPr>
          <a:xfrm>
            <a:off x="6217920" y="2016252"/>
            <a:ext cx="5577840" cy="809244"/>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a:t>
            </a:r>
            <a:endParaRPr lang="es-AR" sz="1350" dirty="0">
              <a:latin typeface="Bahnschrift"/>
            </a:endParaRPr>
          </a:p>
        </p:txBody>
      </p:sp>
      <p:sp>
        <p:nvSpPr>
          <p:cNvPr id="19" name="Flecha 19_2"/>
          <p:cNvSpPr/>
          <p:nvPr/>
        </p:nvSpPr>
        <p:spPr>
          <a:xfrm>
            <a:off x="9006840" y="2852928"/>
            <a:ext cx="9144" cy="146304"/>
          </a:xfrm>
          <a:custGeom>
            <a:avLst/>
            <a:gdLst/>
            <a:ahLst/>
            <a:cxnLst/>
            <a:rect l="0" t="0" r="r" b="b"/>
            <a:pathLst>
              <a:path w="10" h="160" fill="none">
                <a:moveTo>
                  <a:pt x="0" y="0"/>
                </a:moveTo>
                <a:lnTo>
                  <a:pt x="0" y="160"/>
                </a:lnTo>
              </a:path>
            </a:pathLst>
          </a:custGeom>
          <a:noFill/>
          <a:ln w="31750" cap="rnd">
            <a:solidFill>
              <a:srgbClr val="C00000"/>
            </a:solidFill>
            <a:round/>
            <a:tailEnd type="triangle" w="med" len="med"/>
          </a:ln>
        </p:spPr>
      </p:sp>
      <p:sp>
        <p:nvSpPr>
          <p:cNvPr id="20" name="Forma 21"/>
          <p:cNvSpPr/>
          <p:nvPr/>
        </p:nvSpPr>
        <p:spPr>
          <a:xfrm>
            <a:off x="6217920" y="3026664"/>
            <a:ext cx="5577840" cy="809244"/>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Glutamina astroglial ↑</a:t>
            </a:r>
            <a:endParaRPr lang="es-AR" sz="1350" dirty="0">
              <a:latin typeface="Bahnschrift"/>
            </a:endParaRPr>
          </a:p>
        </p:txBody>
      </p:sp>
      <p:sp>
        <p:nvSpPr>
          <p:cNvPr id="21" name="Flecha 22_2"/>
          <p:cNvSpPr/>
          <p:nvPr/>
        </p:nvSpPr>
        <p:spPr>
          <a:xfrm>
            <a:off x="9006840" y="3863340"/>
            <a:ext cx="9144" cy="146304"/>
          </a:xfrm>
          <a:custGeom>
            <a:avLst/>
            <a:gdLst/>
            <a:ahLst/>
            <a:cxnLst/>
            <a:rect l="0" t="0" r="r" b="b"/>
            <a:pathLst>
              <a:path w="10" h="159" fill="none">
                <a:moveTo>
                  <a:pt x="0" y="0"/>
                </a:moveTo>
                <a:lnTo>
                  <a:pt x="0" y="159"/>
                </a:lnTo>
              </a:path>
            </a:pathLst>
          </a:custGeom>
          <a:noFill/>
          <a:ln w="31750" cap="rnd">
            <a:solidFill>
              <a:srgbClr val="C00000"/>
            </a:solidFill>
            <a:round/>
            <a:tailEnd type="triangle" w="med" len="med"/>
          </a:ln>
        </p:spPr>
      </p:sp>
      <p:sp>
        <p:nvSpPr>
          <p:cNvPr id="22" name="Forma 24"/>
          <p:cNvSpPr/>
          <p:nvPr/>
        </p:nvSpPr>
        <p:spPr>
          <a:xfrm>
            <a:off x="6217920" y="4037076"/>
            <a:ext cx="5577840" cy="809244"/>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Neurotransmisión alterada → encefalopatía</a:t>
            </a:r>
            <a:endParaRPr lang="es-AR" sz="1350" dirty="0">
              <a:latin typeface="Bahnschrift"/>
            </a:endParaRPr>
          </a:p>
        </p:txBody>
      </p:sp>
      <p:sp>
        <p:nvSpPr>
          <p:cNvPr id="23" name="Perla"/>
          <p:cNvSpPr/>
          <p:nvPr/>
        </p:nvSpPr>
        <p:spPr>
          <a:xfrm>
            <a:off x="365760" y="3611880"/>
            <a:ext cx="5577840" cy="12344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550" dirty="0">
                <a:solidFill>
                  <a:srgbClr val="FFFFFF"/>
                </a:solidFill>
                <a:latin typeface="Bahnschrift"/>
                <a:ea typeface="Bahnschrift"/>
                <a:cs typeface="Bahnschrift"/>
                <a:sym typeface="Bahnschrift"/>
              </a:rPr>
              <a:t>No atribuir </a:t>
            </a:r>
            <a:r>
              <a:rPr lang="es-AR" sz="1550" b="1" dirty="0">
                <a:solidFill>
                  <a:srgbClr val="FFFFFF"/>
                </a:solidFill>
                <a:latin typeface="Bahnschrift"/>
                <a:ea typeface="Bahnschrift"/>
                <a:cs typeface="Bahnschrift"/>
                <a:sym typeface="Bahnschrift"/>
              </a:rPr>
              <a:t>todos</a:t>
            </a:r>
            <a:r>
              <a:rPr lang="es-AR" sz="1550" dirty="0">
                <a:solidFill>
                  <a:srgbClr val="FFFFFF"/>
                </a:solidFill>
                <a:latin typeface="Bahnschrift"/>
                <a:ea typeface="Bahnschrift"/>
                <a:cs typeface="Bahnschrift"/>
                <a:sym typeface="Bahnschrift"/>
              </a:rPr>
              <a:t> los síntomas neurológicos solo al amonio plasmático: </a:t>
            </a:r>
            <a:r>
              <a:rPr lang="es-AR" sz="1550" b="1" dirty="0">
                <a:solidFill>
                  <a:srgbClr val="FFFFFF"/>
                </a:solidFill>
                <a:latin typeface="Bahnschrift"/>
                <a:ea typeface="Bahnschrift"/>
                <a:cs typeface="Bahnschrift"/>
                <a:sym typeface="Bahnschrift"/>
              </a:rPr>
              <a:t>inflamación</a:t>
            </a:r>
            <a:r>
              <a:rPr lang="es-AR" sz="1550" dirty="0">
                <a:solidFill>
                  <a:srgbClr val="FFFFFF"/>
                </a:solidFill>
                <a:latin typeface="Bahnschrift"/>
                <a:ea typeface="Bahnschrift"/>
                <a:cs typeface="Bahnschrift"/>
                <a:sym typeface="Bahnschrift"/>
              </a:rPr>
              <a:t>, otros tóxicos y precipitantes interactúan.</a:t>
            </a:r>
            <a:endParaRPr lang="es-AR" sz="1550" dirty="0">
              <a:latin typeface="Bahnschrift"/>
            </a:endParaRPr>
          </a:p>
        </p:txBody>
      </p:sp>
      <p:grpSp>
        <p:nvGrpSpPr>
          <p:cNvPr id="24" name="Hígado cirrótico"/>
          <p:cNvGrpSpPr/>
          <p:nvPr/>
        </p:nvGrpSpPr>
        <p:grpSpPr>
          <a:xfrm>
            <a:off x="548640" y="4937760"/>
            <a:ext cx="1463040" cy="1034077"/>
            <a:chOff x="548640" y="4937760"/>
            <a:chExt cx="1463040" cy="1034077"/>
          </a:xfrm>
        </p:grpSpPr>
        <p:sp>
          <p:nvSpPr>
            <p:cNvPr id="25" name="Vesícula biliar"/>
            <p:cNvSpPr/>
            <p:nvPr/>
          </p:nvSpPr>
          <p:spPr>
            <a:xfrm>
              <a:off x="943661" y="5645286"/>
              <a:ext cx="190195" cy="326551"/>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6" name="Forma 28"/>
            <p:cNvSpPr/>
            <p:nvPr/>
          </p:nvSpPr>
          <p:spPr>
            <a:xfrm>
              <a:off x="548640" y="4937760"/>
              <a:ext cx="1463040" cy="907085"/>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C5A572"/>
                </a:gs>
                <a:gs pos="55000">
                  <a:srgbClr val="9C640C"/>
                </a:gs>
                <a:gs pos="100000">
                  <a:srgbClr val="6D4608"/>
                </a:gs>
              </a:gsLst>
              <a:path path="circle">
                <a:fillToRect l="30000" t="25000" r="70000" b="75000"/>
              </a:path>
            </a:gradFill>
            <a:ln w="25400" cap="rnd">
              <a:solidFill>
                <a:srgbClr val="462C05"/>
              </a:solidFill>
              <a:round/>
            </a:ln>
            <a:effectLst>
              <a:outerShdw blurRad="101600" dist="50800" dir="2700000" algn="tl" rotWithShape="0">
                <a:srgbClr val="000000">
                  <a:alpha val="30000"/>
                </a:srgbClr>
              </a:outerShdw>
            </a:effectLst>
          </p:spPr>
        </p:sp>
        <p:sp>
          <p:nvSpPr>
            <p:cNvPr id="27" name="Forma 29"/>
            <p:cNvSpPr/>
            <p:nvPr/>
          </p:nvSpPr>
          <p:spPr>
            <a:xfrm>
              <a:off x="548640" y="4937760"/>
              <a:ext cx="1463040" cy="907085"/>
            </a:xfrm>
            <a:custGeom>
              <a:avLst/>
              <a:gdLst/>
              <a:ahLst/>
              <a:cxnLst/>
              <a:rect l="0" t="0" r="r" b="b"/>
              <a:pathLst>
                <a:path w="1000" h="620" fill="none">
                  <a:moveTo>
                    <a:pt x="560" y="70"/>
                  </a:moveTo>
                  <a:cubicBezTo>
                    <a:pt x="545" y="180"/>
                    <a:pt x="530" y="280"/>
                    <a:pt x="520" y="400"/>
                  </a:cubicBezTo>
                </a:path>
              </a:pathLst>
            </a:custGeom>
            <a:noFill/>
            <a:ln w="22225" cap="rnd">
              <a:solidFill>
                <a:srgbClr val="5D3C07"/>
              </a:solidFill>
              <a:round/>
            </a:ln>
          </p:spPr>
        </p:sp>
        <p:sp>
          <p:nvSpPr>
            <p:cNvPr id="28" name="Forma 30"/>
            <p:cNvSpPr/>
            <p:nvPr/>
          </p:nvSpPr>
          <p:spPr>
            <a:xfrm>
              <a:off x="548640" y="4937760"/>
              <a:ext cx="1463040" cy="907085"/>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BE9A61"/>
              </a:solidFill>
              <a:round/>
            </a:ln>
          </p:spPr>
        </p:sp>
      </p:grpSp>
      <p:grpSp>
        <p:nvGrpSpPr>
          <p:cNvPr id="29" name="Cerebro"/>
          <p:cNvGrpSpPr/>
          <p:nvPr/>
        </p:nvGrpSpPr>
        <p:grpSpPr>
          <a:xfrm>
            <a:off x="2560320" y="4937760"/>
            <a:ext cx="1463040" cy="1141171"/>
            <a:chOff x="2560320" y="4937760"/>
            <a:chExt cx="1463040" cy="1141171"/>
          </a:xfrm>
        </p:grpSpPr>
        <p:sp>
          <p:nvSpPr>
            <p:cNvPr id="30" name="Cerebelo"/>
            <p:cNvSpPr/>
            <p:nvPr/>
          </p:nvSpPr>
          <p:spPr>
            <a:xfrm>
              <a:off x="2560320" y="4937760"/>
              <a:ext cx="1463040" cy="1141171"/>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31" name="Forma 33"/>
            <p:cNvSpPr/>
            <p:nvPr/>
          </p:nvSpPr>
          <p:spPr>
            <a:xfrm>
              <a:off x="2560320" y="4937760"/>
              <a:ext cx="1463040" cy="1141171"/>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32" name="Forma 34"/>
            <p:cNvSpPr/>
            <p:nvPr/>
          </p:nvSpPr>
          <p:spPr>
            <a:xfrm>
              <a:off x="2560320" y="4937760"/>
              <a:ext cx="1463040" cy="1141171"/>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33" name="Forma 35"/>
            <p:cNvSpPr/>
            <p:nvPr/>
          </p:nvSpPr>
          <p:spPr>
            <a:xfrm>
              <a:off x="2560320" y="4937760"/>
              <a:ext cx="1463040" cy="1141171"/>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34" name="Flecha 36_2"/>
          <p:cNvSpPr/>
          <p:nvPr/>
        </p:nvSpPr>
        <p:spPr>
          <a:xfrm>
            <a:off x="2011680" y="5349240"/>
            <a:ext cx="548640" cy="9144"/>
          </a:xfrm>
          <a:custGeom>
            <a:avLst/>
            <a:gdLst/>
            <a:ahLst/>
            <a:cxnLst/>
            <a:rect l="0" t="0" r="r" b="b"/>
            <a:pathLst>
              <a:path w="599" h="10" fill="none">
                <a:moveTo>
                  <a:pt x="0" y="0"/>
                </a:moveTo>
                <a:lnTo>
                  <a:pt x="599" y="0"/>
                </a:lnTo>
              </a:path>
            </a:pathLst>
          </a:custGeom>
          <a:noFill/>
          <a:ln w="38100" cap="rnd">
            <a:solidFill>
              <a:srgbClr val="C00000"/>
            </a:solidFill>
            <a:round/>
            <a:tailEnd type="triangle" w="med" len="med"/>
          </a:ln>
        </p:spPr>
      </p:sp>
      <p:sp>
        <p:nvSpPr>
          <p:cNvPr id="2" name="Etiqueta sección"/>
          <p:cNvSpPr/>
          <p:nvPr/>
        </p:nvSpPr>
        <p:spPr>
          <a:xfrm>
            <a:off x="10184647" y="201168"/>
            <a:ext cx="173272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1 · HÍGADO</a:t>
            </a:r>
            <a:endParaRPr lang="es-AR" sz="1300" dirty="0">
              <a:latin typeface="Bahnschrift SemiBold Condensed"/>
            </a:endParaRPr>
          </a:p>
        </p:txBody>
      </p:sp>
      <p:sp>
        <p:nvSpPr>
          <p:cNvPr id="3" name="Título"/>
          <p:cNvSpPr/>
          <p:nvPr/>
        </p:nvSpPr>
        <p:spPr>
          <a:xfrm>
            <a:off x="274320" y="146304"/>
            <a:ext cx="684279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P1 · GLUCOSA Y NITRÓGENO EN LA FALLA HEPÁTICA</a:t>
            </a:r>
            <a:endParaRPr lang="es-AR" sz="26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21" fill="hold">
                      <p:stCondLst>
                        <p:cond delay="indefinite"/>
                      </p:stCondLst>
                      <p:childTnLst>
                        <p:par>
                          <p:cTn id="16"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left)">
                                      <p:cBhvr>
                                        <p:cTn id="15" dur="600"/>
                                        <p:tgtEl>
                                          <p:spTgt spid="17"/>
                                        </p:tgtEl>
                                      </p:cBhvr>
                                    </p:animEffect>
                                  </p:childTnLst>
                                </p:cTn>
                              </p:par>
                            </p:childTnLst>
                          </p:cTn>
                        </p:par>
                        <p:par>
                          <p:cTn id="20"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par>
                    <p:cTn id="30" fill="hold">
                      <p:stCondLst>
                        <p:cond delay="indefinite"/>
                      </p:stCondLst>
                      <p:childTnLst>
                        <p:par>
                          <p:cTn id="25"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600"/>
                                        <p:tgtEl>
                                          <p:spTgt spid="19"/>
                                        </p:tgtEl>
                                      </p:cBhvr>
                                    </p:animEffect>
                                  </p:childTnLst>
                                </p:cTn>
                              </p:par>
                            </p:childTnLst>
                          </p:cTn>
                        </p:par>
                        <p:par>
                          <p:cTn id="29" fill="hold">
                            <p:stCondLst>
                              <p:cond delay="600"/>
                            </p:stCondLst>
                            <p:childTnLst>
                              <p:par>
                                <p:cTn id="26" presetID="10" presetClass="entr" presetSubtype="0" fill="hold" grpId="0" nodeType="after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par>
                    <p:cTn id="39" fill="hold">
                      <p:stCondLst>
                        <p:cond delay="indefinite"/>
                      </p:stCondLst>
                      <p:childTnLst>
                        <p:par>
                          <p:cTn id="34"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600"/>
                                        <p:tgtEl>
                                          <p:spTgt spid="21"/>
                                        </p:tgtEl>
                                      </p:cBhvr>
                                    </p:animEffect>
                                  </p:childTnLst>
                                </p:cTn>
                              </p:par>
                            </p:childTnLst>
                          </p:cTn>
                        </p:par>
                        <p:par>
                          <p:cTn id="38" fill="hold">
                            <p:stCondLst>
                              <p:cond delay="600"/>
                            </p:stCondLst>
                            <p:childTnLst>
                              <p:par>
                                <p:cTn id="35" presetID="10" presetClass="entr" presetSubtype="0"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par>
                    <p:cTn id="57" fill="hold">
                      <p:stCondLst>
                        <p:cond delay="indefinite"/>
                      </p:stCondLst>
                      <p:childTnLst>
                        <p:par>
                          <p:cTn id="48"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childTnLst>
                          </p:cTn>
                        </p:par>
                        <p:par>
                          <p:cTn id="52" fill="hold">
                            <p:stCondLst>
                              <p:cond delay="500"/>
                            </p:stCondLst>
                            <p:childTnLst>
                              <p:par>
                                <p:cTn id="49" presetID="22" presetClass="entr" presetSubtype="8"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600"/>
                                        <p:tgtEl>
                                          <p:spTgt spid="34"/>
                                        </p:tgtEl>
                                      </p:cBhvr>
                                    </p:animEffect>
                                  </p:childTnLst>
                                </p:cTn>
                              </p:par>
                            </p:childTnLst>
                          </p:cTn>
                        </p:par>
                        <p:par>
                          <p:cTn id="56" fill="hold">
                            <p:stCondLst>
                              <p:cond delay="1100"/>
                            </p:stCondLst>
                            <p:childTnLst>
                              <p:par>
                                <p:cTn id="53" presetID="10" presetClass="entr" presetSubtype="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Effect transition="in" filter="fade">
                                      <p:cBhvr>
                                        <p:cTn id="5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P spid="22" grpId="0" animBg="1"/>
      <p:bldP spid="23" grpId="0" animBg="1"/>
      <p:bldP spid="34" grpId="0" animBg="1"/>
    </p:bldLst>
  </p:timing>
</p:sld>
</file>

<file path=ppt/slides/slide171.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3 · Síntesis proteica pla"/>
          <p:cNvGrpSpPr/>
          <p:nvPr/>
        </p:nvGrpSpPr>
        <p:grpSpPr>
          <a:xfrm>
            <a:off x="365760" y="1005840"/>
            <a:ext cx="5577840" cy="2423160"/>
            <a:chOff x="365760" y="1005840"/>
            <a:chExt cx="5577840" cy="2423160"/>
          </a:xfrm>
        </p:grpSpPr>
        <p:sp>
          <p:nvSpPr>
            <p:cNvPr id="14" name="Forma 13"/>
            <p:cNvSpPr/>
            <p:nvPr/>
          </p:nvSpPr>
          <p:spPr>
            <a:xfrm>
              <a:off x="365760" y="1188720"/>
              <a:ext cx="5577840" cy="224028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albúmina</a:t>
              </a:r>
              <a:r>
                <a:rPr lang="es-AR" sz="1650" dirty="0">
                  <a:solidFill>
                    <a:srgbClr val="1E1E1E"/>
                  </a:solidFill>
                  <a:latin typeface="Bahnschrift"/>
                  <a:ea typeface="Bahnschrift"/>
                  <a:cs typeface="Bahnschrift"/>
                  <a:sym typeface="Bahnschrift"/>
                </a:rPr>
                <a:t> → menor presión oncótica: participa, con </a:t>
              </a:r>
              <a:r>
                <a:rPr lang="es-AR" sz="1650" b="1" dirty="0">
                  <a:solidFill>
                    <a:srgbClr val="1E1E1E"/>
                  </a:solidFill>
                  <a:latin typeface="Bahnschrift"/>
                  <a:ea typeface="Bahnschrift"/>
                  <a:cs typeface="Bahnschrift"/>
                  <a:sym typeface="Bahnschrift"/>
                </a:rPr>
                <a:t>hipertensión portal</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retención renal de Na</a:t>
              </a:r>
              <a:r>
                <a:rPr lang="es-AR" sz="1650" b="1"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en </a:t>
              </a:r>
              <a:r>
                <a:rPr lang="es-AR" sz="1650" b="1" dirty="0">
                  <a:solidFill>
                    <a:srgbClr val="1E1E1E"/>
                  </a:solidFill>
                  <a:latin typeface="Bahnschrift"/>
                  <a:ea typeface="Bahnschrift"/>
                  <a:cs typeface="Bahnschrift"/>
                  <a:sym typeface="Bahnschrift"/>
                </a:rPr>
                <a:t>ascitis/edemas</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factores de coagulación</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INR prolongado</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5" name="Forma 14"/>
            <p:cNvSpPr/>
            <p:nvPr/>
          </p:nvSpPr>
          <p:spPr>
            <a:xfrm>
              <a:off x="475488" y="1005840"/>
              <a:ext cx="295254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 · SÍNTESIS PROTEICA PLASMÁTICA</a:t>
              </a:r>
              <a:endParaRPr lang="es-AR" sz="1500" dirty="0">
                <a:latin typeface="Bahnschrift SemiBold Condensed"/>
              </a:endParaRPr>
            </a:p>
          </p:txBody>
        </p:sp>
      </p:grpSp>
      <p:sp>
        <p:nvSpPr>
          <p:cNvPr id="16" name="Perla"/>
          <p:cNvSpPr/>
          <p:nvPr/>
        </p:nvSpPr>
        <p:spPr>
          <a:xfrm>
            <a:off x="365760" y="3611880"/>
            <a:ext cx="5577840" cy="13258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En la hepatopatía crónica caen </a:t>
            </a:r>
            <a:r>
              <a:rPr lang="es-AR" sz="1600" b="1" dirty="0">
                <a:solidFill>
                  <a:srgbClr val="FFFFFF"/>
                </a:solidFill>
                <a:latin typeface="Bahnschrift"/>
                <a:ea typeface="Bahnschrift"/>
                <a:cs typeface="Bahnschrift"/>
                <a:sym typeface="Bahnschrift"/>
              </a:rPr>
              <a:t>procoagulantes y anticoagulantes</a:t>
            </a:r>
            <a:r>
              <a:rPr lang="es-AR" sz="1600" dirty="0">
                <a:solidFill>
                  <a:srgbClr val="FFFFFF"/>
                </a:solidFill>
                <a:latin typeface="Bahnschrift"/>
                <a:ea typeface="Bahnschrift"/>
                <a:cs typeface="Bahnschrift"/>
                <a:sym typeface="Bahnschrift"/>
              </a:rPr>
              <a:t>: el INR </a:t>
            </a:r>
            <a:r>
              <a:rPr lang="es-AR" sz="1600" b="1" dirty="0">
                <a:solidFill>
                  <a:srgbClr val="FFFFFF"/>
                </a:solidFill>
                <a:latin typeface="Bahnschrift"/>
                <a:ea typeface="Bahnschrift"/>
                <a:cs typeface="Bahnschrift"/>
                <a:sym typeface="Bahnschrift"/>
              </a:rPr>
              <a:t>no refleja por sí solo</a:t>
            </a:r>
            <a:r>
              <a:rPr lang="es-AR" sz="1600" dirty="0">
                <a:solidFill>
                  <a:srgbClr val="FFFFFF"/>
                </a:solidFill>
                <a:latin typeface="Bahnschrift"/>
                <a:ea typeface="Bahnschrift"/>
                <a:cs typeface="Bahnschrift"/>
                <a:sym typeface="Bahnschrift"/>
              </a:rPr>
              <a:t> el riesgo hemorrágico real.</a:t>
            </a:r>
            <a:endParaRPr lang="es-AR" sz="1600" dirty="0">
              <a:latin typeface="Bahnschrift"/>
            </a:endParaRPr>
          </a:p>
        </p:txBody>
      </p:sp>
      <p:grpSp>
        <p:nvGrpSpPr>
          <p:cNvPr id="17" name="Recuadro 4 · Bilirrubina y sales b"/>
          <p:cNvGrpSpPr/>
          <p:nvPr/>
        </p:nvGrpSpPr>
        <p:grpSpPr>
          <a:xfrm>
            <a:off x="6217920" y="1005840"/>
            <a:ext cx="5577840" cy="2423160"/>
            <a:chOff x="6217920" y="1005840"/>
            <a:chExt cx="5577840" cy="2423160"/>
          </a:xfrm>
        </p:grpSpPr>
        <p:sp>
          <p:nvSpPr>
            <p:cNvPr id="18" name="Forma 17"/>
            <p:cNvSpPr/>
            <p:nvPr/>
          </p:nvSpPr>
          <p:spPr>
            <a:xfrm>
              <a:off x="6217920" y="1188720"/>
              <a:ext cx="5577840" cy="22402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Captación, conjugación o excreción alteradas → </a:t>
              </a:r>
              <a:r>
                <a:rPr lang="es-AR" sz="1650" b="1" dirty="0">
                  <a:solidFill>
                    <a:srgbClr val="1E1E1E"/>
                  </a:solidFill>
                  <a:latin typeface="Bahnschrift"/>
                  <a:ea typeface="Bahnschrift"/>
                  <a:cs typeface="Bahnschrift"/>
                  <a:sym typeface="Bahnschrift"/>
                </a:rPr>
                <a:t>ictericia</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coluria</a:t>
              </a:r>
              <a:r>
                <a:rPr lang="es-AR" sz="1650" dirty="0">
                  <a:solidFill>
                    <a:srgbClr val="1E1E1E"/>
                  </a:solidFill>
                  <a:latin typeface="Bahnschrift"/>
                  <a:ea typeface="Bahnschrift"/>
                  <a:cs typeface="Bahnschrift"/>
                  <a:sym typeface="Bahnschrift"/>
                </a:rPr>
                <a:t> (según fracción) y colestasis.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bilis al intestino → </a:t>
              </a:r>
              <a:r>
                <a:rPr lang="es-AR" sz="1650" b="1" dirty="0">
                  <a:solidFill>
                    <a:srgbClr val="1E1E1E"/>
                  </a:solidFill>
                  <a:latin typeface="Bahnschrift"/>
                  <a:ea typeface="Bahnschrift"/>
                  <a:cs typeface="Bahnschrift"/>
                  <a:sym typeface="Bahnschrift"/>
                </a:rPr>
                <a:t>malabsorción</a:t>
              </a:r>
              <a:r>
                <a:rPr lang="es-AR" sz="1650" dirty="0">
                  <a:solidFill>
                    <a:srgbClr val="1E1E1E"/>
                  </a:solidFill>
                  <a:latin typeface="Bahnschrift"/>
                  <a:ea typeface="Bahnschrift"/>
                  <a:cs typeface="Bahnschrift"/>
                  <a:sym typeface="Bahnschrift"/>
                </a:rPr>
                <a:t> de lípidos y vitaminas </a:t>
              </a:r>
              <a:r>
                <a:rPr lang="es-AR" sz="1650" b="1" dirty="0">
                  <a:solidFill>
                    <a:srgbClr val="1E1E1E"/>
                  </a:solidFill>
                  <a:latin typeface="Bahnschrift"/>
                  <a:ea typeface="Bahnschrift"/>
                  <a:cs typeface="Bahnschrift"/>
                  <a:sym typeface="Bahnschrift"/>
                </a:rPr>
                <a:t>A, D, E, K</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esteatorrea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9" name="Forma 18"/>
            <p:cNvSpPr/>
            <p:nvPr/>
          </p:nvSpPr>
          <p:spPr>
            <a:xfrm>
              <a:off x="6327648" y="1005840"/>
              <a:ext cx="28489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 · BILIRRUBINA Y SALES BILIARES</a:t>
              </a:r>
              <a:endParaRPr lang="es-AR" sz="1500" dirty="0">
                <a:latin typeface="Bahnschrift SemiBold Condensed"/>
              </a:endParaRPr>
            </a:p>
          </p:txBody>
        </p:sp>
      </p:grpSp>
      <p:sp>
        <p:nvSpPr>
          <p:cNvPr id="20" name="Forma 19"/>
          <p:cNvSpPr/>
          <p:nvPr/>
        </p:nvSpPr>
        <p:spPr>
          <a:xfrm>
            <a:off x="6217920" y="3611880"/>
            <a:ext cx="5577840" cy="13258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La vitamina </a:t>
            </a:r>
            <a:r>
              <a:rPr lang="es-AR" sz="1600" b="1" dirty="0">
                <a:solidFill>
                  <a:srgbClr val="1E1E1E"/>
                </a:solidFill>
                <a:latin typeface="Bahnschrift"/>
                <a:ea typeface="Bahnschrift"/>
                <a:cs typeface="Bahnschrift"/>
                <a:sym typeface="Bahnschrift"/>
              </a:rPr>
              <a:t>K</a:t>
            </a:r>
            <a:r>
              <a:rPr lang="es-AR" sz="1600" dirty="0">
                <a:solidFill>
                  <a:srgbClr val="1E1E1E"/>
                </a:solidFill>
                <a:latin typeface="Bahnschrift"/>
                <a:ea typeface="Bahnschrift"/>
                <a:cs typeface="Bahnschrift"/>
                <a:sym typeface="Bahnschrift"/>
              </a:rPr>
              <a:t> malabsorbida agrava el defecto de coagulación (según tipo y grado de lesión).</a:t>
            </a:r>
            <a:endParaRPr lang="es-AR" sz="1600" dirty="0">
              <a:latin typeface="Bahnschrift"/>
            </a:endParaRPr>
          </a:p>
        </p:txBody>
      </p:sp>
      <p:sp>
        <p:nvSpPr>
          <p:cNvPr id="21" name="Molécula aa"/>
          <p:cNvSpPr/>
          <p:nvPr/>
        </p:nvSpPr>
        <p:spPr>
          <a:xfrm>
            <a:off x="548640" y="5257800"/>
            <a:ext cx="548640" cy="548640"/>
          </a:xfrm>
          <a:prstGeom prst="ellipse">
            <a:avLst/>
          </a:prstGeom>
          <a:gradFill rotWithShape="1">
            <a:gsLst>
              <a:gs pos="0">
                <a:srgbClr val="72CA97"/>
              </a:gs>
              <a:gs pos="55000">
                <a:srgbClr val="27AE60"/>
              </a:gs>
              <a:gs pos="100000">
                <a:srgbClr val="1F8B4C"/>
              </a:gs>
            </a:gsLst>
            <a:path path="circle">
              <a:fillToRect l="32000" t="28000" r="68000" b="72000"/>
            </a:path>
          </a:gradFill>
          <a:ln w="12700" cap="rnd">
            <a:solidFill>
              <a:srgbClr val="155F3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AA</a:t>
            </a:r>
            <a:endParaRPr lang="es-AR" sz="1300" dirty="0">
              <a:latin typeface="Bahnschrift SemiBold Condensed"/>
            </a:endParaRPr>
          </a:p>
        </p:txBody>
      </p:sp>
      <p:sp>
        <p:nvSpPr>
          <p:cNvPr id="22" name="Molécula chol"/>
          <p:cNvSpPr/>
          <p:nvPr/>
        </p:nvSpPr>
        <p:spPr>
          <a:xfrm>
            <a:off x="1234440" y="5257800"/>
            <a:ext cx="548640" cy="548640"/>
          </a:xfrm>
          <a:prstGeom prst="ellipse">
            <a:avLst/>
          </a:prstGeom>
          <a:gradFill rotWithShape="1">
            <a:gsLst>
              <a:gs pos="0">
                <a:srgbClr val="F7BE64"/>
              </a:gs>
              <a:gs pos="55000">
                <a:srgbClr val="F39C12"/>
              </a:gs>
              <a:gs pos="100000">
                <a:srgbClr val="C27C0E"/>
              </a:gs>
            </a:gsLst>
            <a:path path="circle">
              <a:fillToRect l="32000" t="28000" r="68000" b="72000"/>
            </a:path>
          </a:gradFill>
          <a:ln w="12700" cap="rnd">
            <a:solidFill>
              <a:srgbClr val="855509"/>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Col</a:t>
            </a:r>
            <a:endParaRPr lang="es-AR" sz="1300" dirty="0">
              <a:latin typeface="Bahnschrift SemiBold Condensed"/>
            </a:endParaRPr>
          </a:p>
        </p:txBody>
      </p:sp>
      <p:sp>
        <p:nvSpPr>
          <p:cNvPr id="23" name="Molécula gly"/>
          <p:cNvSpPr/>
          <p:nvPr/>
        </p:nvSpPr>
        <p:spPr>
          <a:xfrm>
            <a:off x="1920240" y="5257800"/>
            <a:ext cx="548640" cy="548640"/>
          </a:xfrm>
          <a:prstGeom prst="ellipse">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Gli</a:t>
            </a:r>
            <a:endParaRPr lang="es-AR" sz="1300" dirty="0">
              <a:latin typeface="Bahnschrift SemiBold Condensed"/>
            </a:endParaRPr>
          </a:p>
        </p:txBody>
      </p:sp>
      <p:sp>
        <p:nvSpPr>
          <p:cNvPr id="24" name="Forma 23"/>
          <p:cNvSpPr txBox="1"/>
          <p:nvPr/>
        </p:nvSpPr>
        <p:spPr>
          <a:xfrm>
            <a:off x="2743200" y="5212080"/>
            <a:ext cx="8961120" cy="64008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Proteínas plasmáticas · colesterol/ácidos biliares · bilirrubina: tres productos hepáticos que </a:t>
            </a:r>
            <a:r>
              <a:rPr lang="es-AR" sz="1350" b="1" dirty="0">
                <a:solidFill>
                  <a:srgbClr val="1E1E1E"/>
                </a:solidFill>
                <a:latin typeface="Bahnschrift"/>
                <a:ea typeface="Bahnschrift"/>
                <a:cs typeface="Bahnschrift"/>
                <a:sym typeface="Bahnschrift"/>
              </a:rPr>
              <a:t>faltan</a:t>
            </a:r>
            <a:r>
              <a:rPr lang="es-AR" sz="1350" dirty="0">
                <a:solidFill>
                  <a:srgbClr val="1E1E1E"/>
                </a:solidFill>
                <a:latin typeface="Bahnschrift"/>
                <a:ea typeface="Bahnschrift"/>
                <a:cs typeface="Bahnschrift"/>
                <a:sym typeface="Bahnschrift"/>
              </a:rPr>
              <a:t> en la falla.</a:t>
            </a:r>
            <a:endParaRPr lang="es-AR" sz="1350" dirty="0">
              <a:latin typeface="Bahnschrift"/>
            </a:endParaRPr>
          </a:p>
        </p:txBody>
      </p:sp>
      <p:sp>
        <p:nvSpPr>
          <p:cNvPr id="2" name="Etiqueta sección"/>
          <p:cNvSpPr/>
          <p:nvPr/>
        </p:nvSpPr>
        <p:spPr>
          <a:xfrm>
            <a:off x="10184647" y="201168"/>
            <a:ext cx="173272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1 · HÍGADO</a:t>
            </a:r>
            <a:endParaRPr lang="es-AR" sz="1300" dirty="0">
              <a:latin typeface="Bahnschrift SemiBold Condensed"/>
            </a:endParaRPr>
          </a:p>
        </p:txBody>
      </p:sp>
      <p:sp>
        <p:nvSpPr>
          <p:cNvPr id="3" name="Título"/>
          <p:cNvSpPr/>
          <p:nvPr/>
        </p:nvSpPr>
        <p:spPr>
          <a:xfrm>
            <a:off x="274320" y="146304"/>
            <a:ext cx="612166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P1 · SÍNTESIS PROTEICA, BILIRRUBINA Y BILIS</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Lst>
  </p:timing>
</p:sld>
</file>

<file path=ppt/slides/slide172.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5 · Lípidos y lipoproteín"/>
          <p:cNvGrpSpPr/>
          <p:nvPr/>
        </p:nvGrpSpPr>
        <p:grpSpPr>
          <a:xfrm>
            <a:off x="365760" y="1005840"/>
            <a:ext cx="5577840" cy="2331720"/>
            <a:chOff x="365760" y="1005840"/>
            <a:chExt cx="5577840" cy="2331720"/>
          </a:xfrm>
        </p:grpSpPr>
        <p:sp>
          <p:nvSpPr>
            <p:cNvPr id="14" name="Forma 13"/>
            <p:cNvSpPr/>
            <p:nvPr/>
          </p:nvSpPr>
          <p:spPr>
            <a:xfrm>
              <a:off x="365760" y="1188720"/>
              <a:ext cx="5577840" cy="21488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Alteración de síntesis de VLDL, esterificación/oxidación de AG y producción/eliminación de colesterol → perfiles </a:t>
              </a:r>
              <a:r>
                <a:rPr lang="es-AR" sz="1650" b="1" dirty="0">
                  <a:solidFill>
                    <a:srgbClr val="1E1E1E"/>
                  </a:solidFill>
                  <a:latin typeface="Bahnschrift"/>
                  <a:ea typeface="Bahnschrift"/>
                  <a:cs typeface="Bahnschrift"/>
                  <a:sym typeface="Bahnschrift"/>
                </a:rPr>
                <a:t>heterogéneos</a:t>
              </a:r>
              <a:r>
                <a:rPr lang="es-AR" sz="1650" dirty="0">
                  <a:solidFill>
                    <a:srgbClr val="1E1E1E"/>
                  </a:solidFill>
                  <a:latin typeface="Bahnschrift"/>
                  <a:ea typeface="Bahnschrift"/>
                  <a:cs typeface="Bahnschrift"/>
                  <a:sym typeface="Bahnschrift"/>
                </a:rPr>
                <a:t>; la esteatosis puede coexistir con desnutrición. Difiere entre hepatopatía colestásica, metabólica y falla extrema.</a:t>
              </a:r>
              <a:endParaRPr lang="es-AR" sz="1650" dirty="0">
                <a:latin typeface="Bahnschrift"/>
              </a:endParaRPr>
            </a:p>
          </p:txBody>
        </p:sp>
        <p:sp>
          <p:nvSpPr>
            <p:cNvPr id="15" name="Forma 14"/>
            <p:cNvSpPr/>
            <p:nvPr/>
          </p:nvSpPr>
          <p:spPr>
            <a:xfrm>
              <a:off x="475488" y="1005840"/>
              <a:ext cx="245898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 · LÍPIDOS Y LIPOPROTEÍNAS</a:t>
              </a:r>
              <a:endParaRPr lang="es-AR" sz="1500" dirty="0">
                <a:latin typeface="Bahnschrift SemiBold Condensed"/>
              </a:endParaRPr>
            </a:p>
          </p:txBody>
        </p:sp>
      </p:grpSp>
      <p:grpSp>
        <p:nvGrpSpPr>
          <p:cNvPr id="16" name="Recuadro 6 · Metabolismo hormonal"/>
          <p:cNvGrpSpPr/>
          <p:nvPr/>
        </p:nvGrpSpPr>
        <p:grpSpPr>
          <a:xfrm>
            <a:off x="6217920" y="1005840"/>
            <a:ext cx="5577840" cy="2331720"/>
            <a:chOff x="6217920" y="1005840"/>
            <a:chExt cx="5577840" cy="2331720"/>
          </a:xfrm>
        </p:grpSpPr>
        <p:sp>
          <p:nvSpPr>
            <p:cNvPr id="17" name="Forma 16"/>
            <p:cNvSpPr/>
            <p:nvPr/>
          </p:nvSpPr>
          <p:spPr>
            <a:xfrm>
              <a:off x="6217920" y="1188720"/>
              <a:ext cx="5577840" cy="214884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 depuración de hormonas; cambios en esteroides y hormonas tiroideas: </a:t>
              </a:r>
              <a:r>
                <a:rPr lang="es-AR" sz="1650" b="1" dirty="0">
                  <a:solidFill>
                    <a:srgbClr val="1E1E1E"/>
                  </a:solidFill>
                  <a:latin typeface="Bahnschrift"/>
                  <a:ea typeface="Bahnschrift"/>
                  <a:cs typeface="Bahnschrift"/>
                  <a:sym typeface="Bahnschrift"/>
                </a:rPr>
                <a:t>hiperestrogenismo relativo</a:t>
              </a:r>
              <a:r>
                <a:rPr lang="es-AR" sz="1650" dirty="0">
                  <a:solidFill>
                    <a:srgbClr val="1E1E1E"/>
                  </a:solidFill>
                  <a:latin typeface="Bahnschrift"/>
                  <a:ea typeface="Bahnschrift"/>
                  <a:cs typeface="Bahnschrift"/>
                  <a:sym typeface="Bahnschrift"/>
                </a:rPr>
                <a:t>, hipogonadismo, cambios de masa muscular y del eje glucémico.</a:t>
              </a:r>
              <a:endParaRPr lang="es-AR" sz="1650" dirty="0">
                <a:latin typeface="Bahnschrift"/>
              </a:endParaRPr>
            </a:p>
          </p:txBody>
        </p:sp>
        <p:sp>
          <p:nvSpPr>
            <p:cNvPr id="18" name="Forma 17"/>
            <p:cNvSpPr/>
            <p:nvPr/>
          </p:nvSpPr>
          <p:spPr>
            <a:xfrm>
              <a:off x="6327648" y="1005840"/>
              <a:ext cx="242479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6 · METABOLISMO HORMONAL</a:t>
              </a:r>
              <a:endParaRPr lang="es-AR" sz="1500" dirty="0">
                <a:latin typeface="Bahnschrift SemiBold Condensed"/>
              </a:endParaRPr>
            </a:p>
          </p:txBody>
        </p:sp>
      </p:grpSp>
      <p:grpSp>
        <p:nvGrpSpPr>
          <p:cNvPr id="19" name="Recuadro 7 · Xenobióticos y fármac"/>
          <p:cNvGrpSpPr/>
          <p:nvPr/>
        </p:nvGrpSpPr>
        <p:grpSpPr>
          <a:xfrm>
            <a:off x="365760" y="3520440"/>
            <a:ext cx="5577840" cy="2331720"/>
            <a:chOff x="365760" y="3520440"/>
            <a:chExt cx="5577840" cy="2331720"/>
          </a:xfrm>
        </p:grpSpPr>
        <p:sp>
          <p:nvSpPr>
            <p:cNvPr id="20" name="Forma 19"/>
            <p:cNvSpPr/>
            <p:nvPr/>
          </p:nvSpPr>
          <p:spPr>
            <a:xfrm>
              <a:off x="365760" y="3703320"/>
              <a:ext cx="5577840" cy="21488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 CYP/UGT, ↓ primer paso, cambios de albúmina y flujo → dosis efectivas y </a:t>
              </a:r>
              <a:r>
                <a:rPr lang="es-AR" sz="1650" b="1" dirty="0">
                  <a:solidFill>
                    <a:srgbClr val="1E1E1E"/>
                  </a:solidFill>
                  <a:latin typeface="Bahnschrift"/>
                  <a:ea typeface="Bahnschrift"/>
                  <a:cs typeface="Bahnschrift"/>
                  <a:sym typeface="Bahnschrift"/>
                </a:rPr>
                <a:t>toxicidad variables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21" name="Forma 20"/>
            <p:cNvSpPr/>
            <p:nvPr/>
          </p:nvSpPr>
          <p:spPr>
            <a:xfrm>
              <a:off x="475488" y="3520440"/>
              <a:ext cx="257417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7 · XENOBIÓTICOS Y FÁRMACOS</a:t>
              </a:r>
              <a:endParaRPr lang="es-AR" sz="1500" dirty="0">
                <a:latin typeface="Bahnschrift SemiBold Condensed"/>
              </a:endParaRPr>
            </a:p>
          </p:txBody>
        </p:sp>
      </p:grpSp>
      <p:grpSp>
        <p:nvGrpSpPr>
          <p:cNvPr id="22" name="Recuadro 8 · Lactato"/>
          <p:cNvGrpSpPr/>
          <p:nvPr/>
        </p:nvGrpSpPr>
        <p:grpSpPr>
          <a:xfrm>
            <a:off x="6217920" y="3520440"/>
            <a:ext cx="5577840" cy="2331720"/>
            <a:chOff x="6217920" y="3520440"/>
            <a:chExt cx="5577840" cy="2331720"/>
          </a:xfrm>
        </p:grpSpPr>
        <p:sp>
          <p:nvSpPr>
            <p:cNvPr id="23" name="Forma 22"/>
            <p:cNvSpPr/>
            <p:nvPr/>
          </p:nvSpPr>
          <p:spPr>
            <a:xfrm>
              <a:off x="6217920" y="3703320"/>
              <a:ext cx="5577840" cy="21488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 depuración hepática → </a:t>
              </a:r>
              <a:r>
                <a:rPr lang="es-AR" sz="1650" b="1" dirty="0">
                  <a:solidFill>
                    <a:srgbClr val="1E1E1E"/>
                  </a:solidFill>
                  <a:latin typeface="Bahnschrift"/>
                  <a:ea typeface="Bahnschrift"/>
                  <a:cs typeface="Bahnschrift"/>
                  <a:sym typeface="Bahnschrift"/>
                </a:rPr>
                <a:t>hiperlactatemia</a:t>
              </a:r>
              <a:r>
                <a:rPr lang="es-AR" sz="1650" dirty="0">
                  <a:solidFill>
                    <a:srgbClr val="1E1E1E"/>
                  </a:solidFill>
                  <a:latin typeface="Bahnschrift"/>
                  <a:ea typeface="Bahnschrift"/>
                  <a:cs typeface="Bahnschrift"/>
                  <a:sym typeface="Bahnschrift"/>
                </a:rPr>
                <a:t>, sobre todo con hipoperfusión; el lactato alto </a:t>
              </a:r>
              <a:r>
                <a:rPr lang="es-AR" sz="1650" b="1" dirty="0">
                  <a:solidFill>
                    <a:srgbClr val="1E1E1E"/>
                  </a:solidFill>
                  <a:latin typeface="Bahnschrift"/>
                  <a:ea typeface="Bahnschrift"/>
                  <a:cs typeface="Bahnschrift"/>
                  <a:sym typeface="Bahnschrift"/>
                </a:rPr>
                <a:t>no prueba</a:t>
              </a:r>
              <a:r>
                <a:rPr lang="es-AR" sz="1650" dirty="0">
                  <a:solidFill>
                    <a:srgbClr val="1E1E1E"/>
                  </a:solidFill>
                  <a:latin typeface="Bahnschrift"/>
                  <a:ea typeface="Bahnschrift"/>
                  <a:cs typeface="Bahnschrift"/>
                  <a:sym typeface="Bahnschrift"/>
                </a:rPr>
                <a:t> hipoxia aislada.</a:t>
              </a:r>
              <a:endParaRPr lang="es-AR" sz="1650" dirty="0">
                <a:latin typeface="Bahnschrift"/>
              </a:endParaRPr>
            </a:p>
          </p:txBody>
        </p:sp>
        <p:sp>
          <p:nvSpPr>
            <p:cNvPr id="24" name="Forma 23"/>
            <p:cNvSpPr/>
            <p:nvPr/>
          </p:nvSpPr>
          <p:spPr>
            <a:xfrm>
              <a:off x="6327648" y="3520440"/>
              <a:ext cx="120629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8 · LACTATO</a:t>
              </a:r>
              <a:endParaRPr lang="es-AR" sz="1500" dirty="0">
                <a:latin typeface="Bahnschrift SemiBold Condensed"/>
              </a:endParaRPr>
            </a:p>
          </p:txBody>
        </p:sp>
      </p:grpSp>
      <p:sp>
        <p:nvSpPr>
          <p:cNvPr id="2" name="Etiqueta sección"/>
          <p:cNvSpPr/>
          <p:nvPr/>
        </p:nvSpPr>
        <p:spPr>
          <a:xfrm>
            <a:off x="10184647" y="201168"/>
            <a:ext cx="173272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1 · HÍGADO</a:t>
            </a:r>
            <a:endParaRPr lang="es-AR" sz="1300" dirty="0">
              <a:latin typeface="Bahnschrift SemiBold Condensed"/>
            </a:endParaRPr>
          </a:p>
        </p:txBody>
      </p:sp>
      <p:sp>
        <p:nvSpPr>
          <p:cNvPr id="3" name="Título"/>
          <p:cNvSpPr/>
          <p:nvPr/>
        </p:nvSpPr>
        <p:spPr>
          <a:xfrm>
            <a:off x="274320" y="146304"/>
            <a:ext cx="638673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P1 · LÍPIDOS, HORMONAS, FÁRMACOS Y LACTATO</a:t>
            </a:r>
            <a:endParaRPr lang="es-AR" sz="26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Esquema funcionamiento normal"/>
          <p:cNvGrpSpPr/>
          <p:nvPr/>
        </p:nvGrpSpPr>
        <p:grpSpPr>
          <a:xfrm>
            <a:off x="365760" y="1051560"/>
            <a:ext cx="5577840" cy="4983480"/>
            <a:chOff x="365760" y="1051560"/>
            <a:chExt cx="5577840" cy="4983480"/>
          </a:xfrm>
        </p:grpSpPr>
        <p:sp>
          <p:nvSpPr>
            <p:cNvPr id="14" name="Forma 13"/>
            <p:cNvSpPr/>
            <p:nvPr/>
          </p:nvSpPr>
          <p:spPr>
            <a:xfrm>
              <a:off x="365760" y="1051560"/>
              <a:ext cx="5577840" cy="49834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15" name="Forma 14"/>
            <p:cNvSpPr/>
            <p:nvPr/>
          </p:nvSpPr>
          <p:spPr>
            <a:xfrm>
              <a:off x="365760" y="1051560"/>
              <a:ext cx="557784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00" dirty="0">
                <a:latin typeface="Bahnschrift SemiBold Condensed"/>
              </a:endParaRPr>
            </a:p>
          </p:txBody>
        </p:sp>
        <p:sp>
          <p:nvSpPr>
            <p:cNvPr id="16" name="Forma 15"/>
            <p:cNvSpPr/>
            <p:nvPr/>
          </p:nvSpPr>
          <p:spPr>
            <a:xfrm>
              <a:off x="594360" y="1600200"/>
              <a:ext cx="5120640" cy="6858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Glucógeno + GNG → glucosa estable</a:t>
              </a:r>
              <a:endParaRPr lang="es-AR" sz="1350" dirty="0">
                <a:latin typeface="Bahnschrift"/>
              </a:endParaRPr>
            </a:p>
          </p:txBody>
        </p:sp>
        <p:sp>
          <p:nvSpPr>
            <p:cNvPr id="17" name="Forma 16"/>
            <p:cNvSpPr/>
            <p:nvPr/>
          </p:nvSpPr>
          <p:spPr>
            <a:xfrm>
              <a:off x="594360" y="2514600"/>
              <a:ext cx="5120640" cy="6858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 urea (periportal) + GS (perivenosa)</a:t>
              </a:r>
              <a:endParaRPr lang="es-AR" sz="1350" dirty="0">
                <a:latin typeface="Bahnschrift"/>
              </a:endParaRPr>
            </a:p>
          </p:txBody>
        </p:sp>
        <p:sp>
          <p:nvSpPr>
            <p:cNvPr id="18" name="Flecha 17_2"/>
            <p:cNvSpPr/>
            <p:nvPr/>
          </p:nvSpPr>
          <p:spPr>
            <a:xfrm>
              <a:off x="3154680" y="22951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19" name="Forma 19"/>
            <p:cNvSpPr/>
            <p:nvPr/>
          </p:nvSpPr>
          <p:spPr>
            <a:xfrm>
              <a:off x="594360" y="3429000"/>
              <a:ext cx="5120640" cy="6858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Albúmina y factores de coagulación</a:t>
              </a:r>
              <a:endParaRPr lang="es-AR" sz="1350" dirty="0">
                <a:latin typeface="Bahnschrift"/>
              </a:endParaRPr>
            </a:p>
          </p:txBody>
        </p:sp>
        <p:sp>
          <p:nvSpPr>
            <p:cNvPr id="20" name="Flecha 20_2"/>
            <p:cNvSpPr/>
            <p:nvPr/>
          </p:nvSpPr>
          <p:spPr>
            <a:xfrm>
              <a:off x="3154680" y="32095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1" name="Forma 22"/>
            <p:cNvSpPr/>
            <p:nvPr/>
          </p:nvSpPr>
          <p:spPr>
            <a:xfrm>
              <a:off x="594360" y="4343400"/>
              <a:ext cx="5120640" cy="6858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Bilirrubina conjugada → bilis</a:t>
              </a:r>
              <a:endParaRPr lang="es-AR" sz="1350" dirty="0">
                <a:latin typeface="Bahnschrift"/>
              </a:endParaRPr>
            </a:p>
          </p:txBody>
        </p:sp>
        <p:sp>
          <p:nvSpPr>
            <p:cNvPr id="22" name="Flecha 23_2"/>
            <p:cNvSpPr/>
            <p:nvPr/>
          </p:nvSpPr>
          <p:spPr>
            <a:xfrm>
              <a:off x="3154680" y="41239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3" name="Forma 25"/>
            <p:cNvSpPr/>
            <p:nvPr/>
          </p:nvSpPr>
          <p:spPr>
            <a:xfrm>
              <a:off x="594360" y="5257800"/>
              <a:ext cx="5120640" cy="6858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Depuración de hormonas, fármacos y lactato</a:t>
              </a:r>
              <a:endParaRPr lang="es-AR" sz="1350" dirty="0">
                <a:latin typeface="Bahnschrift"/>
              </a:endParaRPr>
            </a:p>
          </p:txBody>
        </p:sp>
        <p:sp>
          <p:nvSpPr>
            <p:cNvPr id="24" name="Flecha 26_2"/>
            <p:cNvSpPr/>
            <p:nvPr/>
          </p:nvSpPr>
          <p:spPr>
            <a:xfrm>
              <a:off x="3154680" y="50383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25" name="Esquema alteración patológica"/>
          <p:cNvGrpSpPr/>
          <p:nvPr/>
        </p:nvGrpSpPr>
        <p:grpSpPr>
          <a:xfrm>
            <a:off x="6217920" y="1051560"/>
            <a:ext cx="5577840" cy="4983480"/>
            <a:chOff x="6217920" y="1051560"/>
            <a:chExt cx="5577840" cy="4983480"/>
          </a:xfrm>
        </p:grpSpPr>
        <p:sp>
          <p:nvSpPr>
            <p:cNvPr id="26" name="Forma 29"/>
            <p:cNvSpPr/>
            <p:nvPr/>
          </p:nvSpPr>
          <p:spPr>
            <a:xfrm>
              <a:off x="6217920" y="1051560"/>
              <a:ext cx="5577840" cy="49834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27" name="Forma 30"/>
            <p:cNvSpPr/>
            <p:nvPr/>
          </p:nvSpPr>
          <p:spPr>
            <a:xfrm>
              <a:off x="6217920" y="1051560"/>
              <a:ext cx="557784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ALTERACIÓN PATOLÓGICA</a:t>
              </a:r>
              <a:endParaRPr lang="es-AR" sz="1500" dirty="0">
                <a:latin typeface="Bahnschrift SemiBold Condensed"/>
              </a:endParaRPr>
            </a:p>
          </p:txBody>
        </p:sp>
        <p:sp>
          <p:nvSpPr>
            <p:cNvPr id="28" name="Forma 31"/>
            <p:cNvSpPr/>
            <p:nvPr/>
          </p:nvSpPr>
          <p:spPr>
            <a:xfrm>
              <a:off x="6446520" y="1600200"/>
              <a:ext cx="5120640" cy="6858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Hipoglucemia (o hiperglucemia en cirrosis)</a:t>
              </a:r>
              <a:endParaRPr lang="es-AR" sz="1350" dirty="0">
                <a:latin typeface="Bahnschrift"/>
              </a:endParaRPr>
            </a:p>
          </p:txBody>
        </p:sp>
        <p:sp>
          <p:nvSpPr>
            <p:cNvPr id="29" name="Forma 32"/>
            <p:cNvSpPr/>
            <p:nvPr/>
          </p:nvSpPr>
          <p:spPr>
            <a:xfrm>
              <a:off x="6446520" y="2514600"/>
              <a:ext cx="5120640" cy="6858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 NH</a:t>
              </a:r>
              <a:r>
                <a:rPr lang="es-AR" sz="1350" baseline="-25000" dirty="0">
                  <a:solidFill>
                    <a:srgbClr val="FFFFFF"/>
                  </a:solidFill>
                  <a:latin typeface="Bahnschrift"/>
                  <a:ea typeface="Bahnschrift"/>
                  <a:cs typeface="Bahnschrift"/>
                  <a:sym typeface="Bahnschrift"/>
                </a:rPr>
                <a:t>4</a:t>
              </a:r>
              <a:r>
                <a:rPr lang="es-AR" sz="1350" baseline="30000" dirty="0">
                  <a:solidFill>
                    <a:srgbClr val="FFFFFF"/>
                  </a:solidFill>
                  <a:latin typeface="Bahnschrift"/>
                  <a:ea typeface="Bahnschrift"/>
                  <a:cs typeface="Bahnschrift"/>
                  <a:sym typeface="Bahnschrift"/>
                </a:rPr>
                <a:t>+</a:t>
              </a:r>
              <a:r>
                <a:rPr lang="es-AR" sz="1350" dirty="0">
                  <a:solidFill>
                    <a:srgbClr val="FFFFFF"/>
                  </a:solidFill>
                  <a:latin typeface="Bahnschrift"/>
                  <a:ea typeface="Bahnschrift"/>
                  <a:cs typeface="Bahnschrift"/>
                  <a:sym typeface="Bahnschrift"/>
                </a:rPr>
                <a:t> → glutamina astroglial → encefalopatía</a:t>
              </a:r>
              <a:endParaRPr lang="es-AR" sz="1350" dirty="0">
                <a:latin typeface="Bahnschrift"/>
              </a:endParaRPr>
            </a:p>
          </p:txBody>
        </p:sp>
        <p:sp>
          <p:nvSpPr>
            <p:cNvPr id="30" name="Flecha 33_2"/>
            <p:cNvSpPr/>
            <p:nvPr/>
          </p:nvSpPr>
          <p:spPr>
            <a:xfrm>
              <a:off x="9006840" y="22951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1" name="Forma 35"/>
            <p:cNvSpPr/>
            <p:nvPr/>
          </p:nvSpPr>
          <p:spPr>
            <a:xfrm>
              <a:off x="6446520" y="3429000"/>
              <a:ext cx="5120640" cy="6858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albúmina (ascitis) · INR prolongado</a:t>
              </a:r>
              <a:endParaRPr lang="es-AR" sz="1350" dirty="0">
                <a:latin typeface="Bahnschrift"/>
              </a:endParaRPr>
            </a:p>
          </p:txBody>
        </p:sp>
        <p:sp>
          <p:nvSpPr>
            <p:cNvPr id="32" name="Flecha 36_2"/>
            <p:cNvSpPr/>
            <p:nvPr/>
          </p:nvSpPr>
          <p:spPr>
            <a:xfrm>
              <a:off x="9006840" y="32095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33" name="Forma 38"/>
            <p:cNvSpPr txBox="1"/>
            <p:nvPr/>
          </p:nvSpPr>
          <p:spPr>
            <a:xfrm>
              <a:off x="9098280" y="31912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34" name="Forma 39"/>
            <p:cNvSpPr/>
            <p:nvPr/>
          </p:nvSpPr>
          <p:spPr>
            <a:xfrm>
              <a:off x="6446520" y="4343400"/>
              <a:ext cx="5120640" cy="6858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Ictericia · malabsorción de vitaminas liposolubles</a:t>
              </a:r>
              <a:endParaRPr lang="es-AR" sz="1350" dirty="0">
                <a:latin typeface="Bahnschrift"/>
              </a:endParaRPr>
            </a:p>
          </p:txBody>
        </p:sp>
        <p:sp>
          <p:nvSpPr>
            <p:cNvPr id="35" name="Flecha 40_2"/>
            <p:cNvSpPr/>
            <p:nvPr/>
          </p:nvSpPr>
          <p:spPr>
            <a:xfrm>
              <a:off x="9006840" y="41239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6" name="Forma 42"/>
            <p:cNvSpPr/>
            <p:nvPr/>
          </p:nvSpPr>
          <p:spPr>
            <a:xfrm>
              <a:off x="6446520" y="5257800"/>
              <a:ext cx="5120640" cy="6858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Toxicidad de fármacos · hiperestrogenismo · ↑ lactato</a:t>
              </a:r>
              <a:endParaRPr lang="es-AR" sz="1350" dirty="0">
                <a:latin typeface="Bahnschrift"/>
              </a:endParaRPr>
            </a:p>
          </p:txBody>
        </p:sp>
        <p:sp>
          <p:nvSpPr>
            <p:cNvPr id="37" name="Flecha 43_2"/>
            <p:cNvSpPr/>
            <p:nvPr/>
          </p:nvSpPr>
          <p:spPr>
            <a:xfrm>
              <a:off x="9006840" y="50383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grpSp>
      <p:sp>
        <p:nvSpPr>
          <p:cNvPr id="2" name="Etiqueta sección"/>
          <p:cNvSpPr/>
          <p:nvPr/>
        </p:nvSpPr>
        <p:spPr>
          <a:xfrm>
            <a:off x="10184647" y="201168"/>
            <a:ext cx="173272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1 · HÍGADO</a:t>
            </a:r>
            <a:endParaRPr lang="es-AR" sz="1300" dirty="0">
              <a:latin typeface="Bahnschrift SemiBold Condensed"/>
            </a:endParaRPr>
          </a:p>
        </p:txBody>
      </p:sp>
      <p:sp>
        <p:nvSpPr>
          <p:cNvPr id="3" name="Título"/>
          <p:cNvSpPr/>
          <p:nvPr/>
        </p:nvSpPr>
        <p:spPr>
          <a:xfrm>
            <a:off x="274320" y="146304"/>
            <a:ext cx="817196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P1 · INTEGRACIÓN Y ESQUEMA: HÍGADO SANO FRENTE A FALLA</a:t>
            </a:r>
            <a:endParaRPr lang="es-AR" sz="26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Intestino"/>
          <p:cNvGrpSpPr/>
          <p:nvPr/>
        </p:nvGrpSpPr>
        <p:grpSpPr>
          <a:xfrm>
            <a:off x="365760" y="1097280"/>
            <a:ext cx="2011680" cy="1709928"/>
            <a:chOff x="365760" y="1097280"/>
            <a:chExt cx="2011680" cy="1709928"/>
          </a:xfrm>
        </p:grpSpPr>
        <p:sp>
          <p:nvSpPr>
            <p:cNvPr id="14" name="Forma 13"/>
            <p:cNvSpPr/>
            <p:nvPr/>
          </p:nvSpPr>
          <p:spPr>
            <a:xfrm>
              <a:off x="365760" y="1097280"/>
              <a:ext cx="2011680" cy="170992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5" name="Forma 14"/>
            <p:cNvSpPr/>
            <p:nvPr/>
          </p:nvSpPr>
          <p:spPr>
            <a:xfrm>
              <a:off x="365760" y="1097280"/>
              <a:ext cx="2011680" cy="170992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16" name="Forma 15"/>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7" name="Forma 16"/>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8" name="Forma 17"/>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9" name="Hígado"/>
          <p:cNvGrpSpPr/>
          <p:nvPr/>
        </p:nvGrpSpPr>
        <p:grpSpPr>
          <a:xfrm>
            <a:off x="2651760" y="1188720"/>
            <a:ext cx="2743200" cy="1938894"/>
            <a:chOff x="2651760" y="1188720"/>
            <a:chExt cx="2743200" cy="1938894"/>
          </a:xfrm>
        </p:grpSpPr>
        <p:sp>
          <p:nvSpPr>
            <p:cNvPr id="20" name="Vesícula biliar"/>
            <p:cNvSpPr/>
            <p:nvPr/>
          </p:nvSpPr>
          <p:spPr>
            <a:xfrm>
              <a:off x="3392424" y="251533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1" name="Forma 20"/>
            <p:cNvSpPr/>
            <p:nvPr/>
          </p:nvSpPr>
          <p:spPr>
            <a:xfrm>
              <a:off x="2651760" y="118872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2" name="Forma 21"/>
            <p:cNvSpPr/>
            <p:nvPr/>
          </p:nvSpPr>
          <p:spPr>
            <a:xfrm>
              <a:off x="2651760" y="118872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3" name="Forma 22"/>
            <p:cNvSpPr/>
            <p:nvPr/>
          </p:nvSpPr>
          <p:spPr>
            <a:xfrm>
              <a:off x="2651760" y="118872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4" name="Recuadro Funcionamiento normal"/>
          <p:cNvGrpSpPr/>
          <p:nvPr/>
        </p:nvGrpSpPr>
        <p:grpSpPr>
          <a:xfrm>
            <a:off x="5669280" y="1005840"/>
            <a:ext cx="6126480" cy="2148840"/>
            <a:chOff x="5669280" y="1005840"/>
            <a:chExt cx="6126480" cy="2148840"/>
          </a:xfrm>
        </p:grpSpPr>
        <p:sp>
          <p:nvSpPr>
            <p:cNvPr id="25" name="Forma 24"/>
            <p:cNvSpPr/>
            <p:nvPr/>
          </p:nvSpPr>
          <p:spPr>
            <a:xfrm>
              <a:off x="5669280" y="1188720"/>
              <a:ext cx="6126480" cy="1965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La fructosa se metaboliza principalmente en </a:t>
              </a:r>
              <a:r>
                <a:rPr lang="es-AR" sz="1700" b="1" dirty="0">
                  <a:solidFill>
                    <a:srgbClr val="1E1E1E"/>
                  </a:solidFill>
                  <a:latin typeface="Bahnschrift"/>
                  <a:ea typeface="Bahnschrift"/>
                  <a:cs typeface="Bahnschrift"/>
                  <a:sym typeface="Bahnschrift"/>
                </a:rPr>
                <a:t>intestino e hígado</a:t>
              </a:r>
              <a:r>
                <a:rPr lang="es-AR" sz="1700" dirty="0">
                  <a:solidFill>
                    <a:srgbClr val="1E1E1E"/>
                  </a:solidFill>
                  <a:latin typeface="Bahnschrift"/>
                  <a:ea typeface="Bahnschrift"/>
                  <a:cs typeface="Bahnschrift"/>
                  <a:sym typeface="Bahnschrift"/>
                </a:rPr>
                <a:t>; con cargas moderadas el intestino capta y transforma una parte importante.</a:t>
              </a:r>
              <a:endParaRPr lang="es-AR" sz="1700" dirty="0">
                <a:latin typeface="Bahnschrift"/>
              </a:endParaRPr>
            </a:p>
          </p:txBody>
        </p:sp>
        <p:sp>
          <p:nvSpPr>
            <p:cNvPr id="26" name="Forma 25"/>
            <p:cNvSpPr/>
            <p:nvPr/>
          </p:nvSpPr>
          <p:spPr>
            <a:xfrm>
              <a:off x="5779008" y="1005840"/>
              <a:ext cx="2336449"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50" dirty="0">
                <a:latin typeface="Bahnschrift SemiBold Condensed"/>
              </a:endParaRPr>
            </a:p>
          </p:txBody>
        </p:sp>
      </p:grpSp>
      <p:grpSp>
        <p:nvGrpSpPr>
          <p:cNvPr id="27" name="Recuadro Alteración primaria"/>
          <p:cNvGrpSpPr/>
          <p:nvPr/>
        </p:nvGrpSpPr>
        <p:grpSpPr>
          <a:xfrm>
            <a:off x="5669280" y="3337560"/>
            <a:ext cx="6126480" cy="2697480"/>
            <a:chOff x="5669280" y="3337560"/>
            <a:chExt cx="6126480" cy="2697480"/>
          </a:xfrm>
        </p:grpSpPr>
        <p:sp>
          <p:nvSpPr>
            <p:cNvPr id="28" name="Forma 27"/>
            <p:cNvSpPr/>
            <p:nvPr/>
          </p:nvSpPr>
          <p:spPr>
            <a:xfrm>
              <a:off x="5669280" y="3520440"/>
              <a:ext cx="6126480" cy="25146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Cuando la carga </a:t>
              </a:r>
              <a:r>
                <a:rPr lang="es-AR" sz="1700" b="1" dirty="0">
                  <a:solidFill>
                    <a:srgbClr val="1E1E1E"/>
                  </a:solidFill>
                  <a:latin typeface="Bahnschrift"/>
                  <a:ea typeface="Bahnschrift"/>
                  <a:cs typeface="Bahnschrift"/>
                  <a:sym typeface="Bahnschrift"/>
                </a:rPr>
                <a:t>supera la capacidad intestinal</a:t>
              </a:r>
              <a:r>
                <a:rPr lang="es-AR" sz="1700" dirty="0">
                  <a:solidFill>
                    <a:srgbClr val="1E1E1E"/>
                  </a:solidFill>
                  <a:latin typeface="Bahnschrift"/>
                  <a:ea typeface="Bahnschrift"/>
                  <a:cs typeface="Bahnschrift"/>
                  <a:sym typeface="Bahnschrift"/>
                </a:rPr>
                <a:t>, una </a:t>
              </a:r>
              <a:r>
                <a:rPr lang="es-AR" sz="1700" b="1" dirty="0">
                  <a:solidFill>
                    <a:srgbClr val="1E1E1E"/>
                  </a:solidFill>
                  <a:latin typeface="Bahnschrift"/>
                  <a:ea typeface="Bahnschrift"/>
                  <a:cs typeface="Bahnschrift"/>
                  <a:sym typeface="Bahnschrift"/>
                </a:rPr>
                <a:t>mayor fracción</a:t>
              </a:r>
              <a:r>
                <a:rPr lang="es-AR" sz="1700" dirty="0">
                  <a:solidFill>
                    <a:srgbClr val="1E1E1E"/>
                  </a:solidFill>
                  <a:latin typeface="Bahnschrift"/>
                  <a:ea typeface="Bahnschrift"/>
                  <a:cs typeface="Bahnschrift"/>
                  <a:sym typeface="Bahnschrift"/>
                </a:rPr>
                <a:t> alcanza el hígado, donde su entrada </a:t>
              </a:r>
              <a:r>
                <a:rPr lang="es-AR" sz="1700" b="1" dirty="0">
                  <a:solidFill>
                    <a:srgbClr val="1E1E1E"/>
                  </a:solidFill>
                  <a:latin typeface="Bahnschrift"/>
                  <a:ea typeface="Bahnschrift"/>
                  <a:cs typeface="Bahnschrift"/>
                  <a:sym typeface="Bahnschrift"/>
                </a:rPr>
                <a:t>evita PFK-1</a:t>
              </a:r>
              <a:r>
                <a:rPr lang="es-AR" sz="1700" dirty="0">
                  <a:solidFill>
                    <a:srgbClr val="1E1E1E"/>
                  </a:solidFill>
                  <a:latin typeface="Bahnschrift"/>
                  <a:ea typeface="Bahnschrift"/>
                  <a:cs typeface="Bahnschrift"/>
                  <a:sym typeface="Bahnschrift"/>
                </a:rPr>
                <a:t> y puede generar un </a:t>
              </a:r>
              <a:r>
                <a:rPr lang="es-AR" sz="1700" b="1" dirty="0">
                  <a:solidFill>
                    <a:srgbClr val="1E1E1E"/>
                  </a:solidFill>
                  <a:latin typeface="Bahnschrift"/>
                  <a:ea typeface="Bahnschrift"/>
                  <a:cs typeface="Bahnschrift"/>
                  <a:sym typeface="Bahnschrift"/>
                </a:rPr>
                <a:t>flujo rápido de triosas</a:t>
              </a:r>
              <a:r>
                <a:rPr lang="es-AR" sz="1700" dirty="0">
                  <a:solidFill>
                    <a:srgbClr val="1E1E1E"/>
                  </a:solidFill>
                  <a:latin typeface="Bahnschrift"/>
                  <a:ea typeface="Bahnschrift"/>
                  <a:cs typeface="Bahnschrift"/>
                  <a:sym typeface="Bahnschrift"/>
                </a:rPr>
                <a:t>; con exceso </a:t>
              </a:r>
              <a:r>
                <a:rPr lang="es-AR" sz="1700" b="1" dirty="0">
                  <a:solidFill>
                    <a:srgbClr val="1E1E1E"/>
                  </a:solidFill>
                  <a:latin typeface="Bahnschrift"/>
                  <a:ea typeface="Bahnschrift"/>
                  <a:cs typeface="Bahnschrift"/>
                  <a:sym typeface="Bahnschrift"/>
                </a:rPr>
                <a:t>sostenido</a:t>
              </a:r>
              <a:r>
                <a:rPr lang="es-AR" sz="1700" dirty="0">
                  <a:solidFill>
                    <a:srgbClr val="1E1E1E"/>
                  </a:solidFill>
                  <a:latin typeface="Bahnschrift"/>
                  <a:ea typeface="Bahnschrift"/>
                  <a:cs typeface="Bahnschrift"/>
                  <a:sym typeface="Bahnschrift"/>
                </a:rPr>
                <a:t> → DNL, TAG, VLDL.</a:t>
              </a:r>
              <a:endParaRPr lang="es-AR" sz="1700" dirty="0">
                <a:latin typeface="Bahnschrift"/>
              </a:endParaRPr>
            </a:p>
          </p:txBody>
        </p:sp>
        <p:sp>
          <p:nvSpPr>
            <p:cNvPr id="29" name="Forma 28"/>
            <p:cNvSpPr/>
            <p:nvPr/>
          </p:nvSpPr>
          <p:spPr>
            <a:xfrm>
              <a:off x="5779008" y="3337560"/>
              <a:ext cx="2043479"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ALTERACIÓN PRIMARIA</a:t>
              </a:r>
              <a:endParaRPr lang="es-AR" sz="1550" dirty="0">
                <a:latin typeface="Bahnschrift SemiBold Condensed"/>
              </a:endParaRPr>
            </a:p>
          </p:txBody>
        </p:sp>
      </p:grpSp>
      <p:sp>
        <p:nvSpPr>
          <p:cNvPr id="30" name="Fru 0"/>
          <p:cNvSpPr/>
          <p:nvPr/>
        </p:nvSpPr>
        <p:spPr>
          <a:xfrm>
            <a:off x="914400" y="3291840"/>
            <a:ext cx="384048" cy="384048"/>
          </a:xfrm>
          <a:prstGeom prst="hexagon">
            <a:avLst>
              <a:gd name="adj" fmla="val 28000"/>
              <a:gd name="vf" fmla="val 115470"/>
            </a:avLst>
          </a:prstGeom>
          <a:gradFill rotWithShape="1">
            <a:gsLst>
              <a:gs pos="0">
                <a:srgbClr val="EEAB6F"/>
              </a:gs>
              <a:gs pos="55000">
                <a:srgbClr val="E67E22"/>
              </a:gs>
              <a:gs pos="100000">
                <a:srgbClr val="B8641B"/>
              </a:gs>
            </a:gsLst>
            <a:path path="circle">
              <a:fillToRect l="32000" t="28000" r="68000" b="72000"/>
            </a:path>
          </a:gradFill>
          <a:ln w="12700" cap="rnd">
            <a:solidFill>
              <a:srgbClr val="7E451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Fru</a:t>
            </a:r>
            <a:endParaRPr lang="es-AR" sz="1092" dirty="0">
              <a:latin typeface="Bahnschrift SemiBold Condensed"/>
            </a:endParaRPr>
          </a:p>
        </p:txBody>
      </p:sp>
      <p:sp>
        <p:nvSpPr>
          <p:cNvPr id="31" name="Fru 1"/>
          <p:cNvSpPr/>
          <p:nvPr/>
        </p:nvSpPr>
        <p:spPr>
          <a:xfrm>
            <a:off x="1280160" y="3291840"/>
            <a:ext cx="384048" cy="384048"/>
          </a:xfrm>
          <a:prstGeom prst="hexagon">
            <a:avLst>
              <a:gd name="adj" fmla="val 28000"/>
              <a:gd name="vf" fmla="val 115470"/>
            </a:avLst>
          </a:prstGeom>
          <a:gradFill rotWithShape="1">
            <a:gsLst>
              <a:gs pos="0">
                <a:srgbClr val="EEAB6F"/>
              </a:gs>
              <a:gs pos="55000">
                <a:srgbClr val="E67E22"/>
              </a:gs>
              <a:gs pos="100000">
                <a:srgbClr val="B8641B"/>
              </a:gs>
            </a:gsLst>
            <a:path path="circle">
              <a:fillToRect l="32000" t="28000" r="68000" b="72000"/>
            </a:path>
          </a:gradFill>
          <a:ln w="12700" cap="rnd">
            <a:solidFill>
              <a:srgbClr val="7E451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Fru</a:t>
            </a:r>
            <a:endParaRPr lang="es-AR" sz="1092" dirty="0">
              <a:latin typeface="Bahnschrift SemiBold Condensed"/>
            </a:endParaRPr>
          </a:p>
        </p:txBody>
      </p:sp>
      <p:sp>
        <p:nvSpPr>
          <p:cNvPr id="32" name="Fru 2"/>
          <p:cNvSpPr/>
          <p:nvPr/>
        </p:nvSpPr>
        <p:spPr>
          <a:xfrm>
            <a:off x="1645920" y="3291840"/>
            <a:ext cx="384048" cy="384048"/>
          </a:xfrm>
          <a:prstGeom prst="hexagon">
            <a:avLst>
              <a:gd name="adj" fmla="val 28000"/>
              <a:gd name="vf" fmla="val 115470"/>
            </a:avLst>
          </a:prstGeom>
          <a:gradFill rotWithShape="1">
            <a:gsLst>
              <a:gs pos="0">
                <a:srgbClr val="EEAB6F"/>
              </a:gs>
              <a:gs pos="55000">
                <a:srgbClr val="E67E22"/>
              </a:gs>
              <a:gs pos="100000">
                <a:srgbClr val="B8641B"/>
              </a:gs>
            </a:gsLst>
            <a:path path="circle">
              <a:fillToRect l="32000" t="28000" r="68000" b="72000"/>
            </a:path>
          </a:gradFill>
          <a:ln w="12700" cap="rnd">
            <a:solidFill>
              <a:srgbClr val="7E451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Fru</a:t>
            </a:r>
            <a:endParaRPr lang="es-AR" sz="1092" dirty="0">
              <a:latin typeface="Bahnschrift SemiBold Condensed"/>
            </a:endParaRPr>
          </a:p>
        </p:txBody>
      </p:sp>
      <p:sp>
        <p:nvSpPr>
          <p:cNvPr id="33" name="Fru 3"/>
          <p:cNvSpPr/>
          <p:nvPr/>
        </p:nvSpPr>
        <p:spPr>
          <a:xfrm>
            <a:off x="2011680" y="3291840"/>
            <a:ext cx="384048" cy="384048"/>
          </a:xfrm>
          <a:prstGeom prst="hexagon">
            <a:avLst>
              <a:gd name="adj" fmla="val 28000"/>
              <a:gd name="vf" fmla="val 115470"/>
            </a:avLst>
          </a:prstGeom>
          <a:gradFill rotWithShape="1">
            <a:gsLst>
              <a:gs pos="0">
                <a:srgbClr val="EEAB6F"/>
              </a:gs>
              <a:gs pos="55000">
                <a:srgbClr val="E67E22"/>
              </a:gs>
              <a:gs pos="100000">
                <a:srgbClr val="B8641B"/>
              </a:gs>
            </a:gsLst>
            <a:path path="circle">
              <a:fillToRect l="32000" t="28000" r="68000" b="72000"/>
            </a:path>
          </a:gradFill>
          <a:ln w="12700" cap="rnd">
            <a:solidFill>
              <a:srgbClr val="7E4512"/>
            </a:solidFill>
            <a:round/>
          </a:ln>
        </p:spPr>
        <p:txBody>
          <a:bodyPr wrap="square" lIns="0" tIns="0" rIns="0" bIns="0" anchor="ctr" rtlCol="0">
            <a:noAutofit/>
          </a:bodyPr>
          <a:lstStyle/>
          <a:p>
            <a:pPr algn="ctr">
              <a:spcAft>
                <a:spcPts val="300"/>
              </a:spcAft>
              <a:buNone/>
            </a:pPr>
            <a:r>
              <a:rPr lang="es-AR" sz="1092" b="1" dirty="0">
                <a:solidFill>
                  <a:srgbClr val="FFFFFF"/>
                </a:solidFill>
                <a:latin typeface="Bahnschrift SemiBold Condensed"/>
                <a:ea typeface="Bahnschrift SemiBold Condensed"/>
                <a:cs typeface="Bahnschrift SemiBold Condensed"/>
                <a:sym typeface="Bahnschrift SemiBold Condensed"/>
              </a:rPr>
              <a:t>Fru</a:t>
            </a:r>
            <a:endParaRPr lang="es-AR" sz="1092" dirty="0">
              <a:latin typeface="Bahnschrift SemiBold Condensed"/>
            </a:endParaRPr>
          </a:p>
        </p:txBody>
      </p:sp>
      <p:sp>
        <p:nvSpPr>
          <p:cNvPr id="2" name="Etiqueta sección"/>
          <p:cNvSpPr/>
          <p:nvPr/>
        </p:nvSpPr>
        <p:spPr>
          <a:xfrm>
            <a:off x="9958708" y="201168"/>
            <a:ext cx="19586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2 · FRUCTOSA</a:t>
            </a:r>
            <a:endParaRPr lang="es-AR" sz="1300" dirty="0">
              <a:latin typeface="Bahnschrift SemiBold Condensed"/>
            </a:endParaRPr>
          </a:p>
        </p:txBody>
      </p:sp>
      <p:sp>
        <p:nvSpPr>
          <p:cNvPr id="3" name="Título"/>
          <p:cNvSpPr/>
          <p:nvPr/>
        </p:nvSpPr>
        <p:spPr>
          <a:xfrm>
            <a:off x="274320" y="146304"/>
            <a:ext cx="751901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P2 · FRUCTOSA, HIPERTRIGLICERIDEMIA E HÍGADO GRASO</a:t>
            </a:r>
            <a:endParaRPr lang="es-AR" sz="26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4"/>
                                        </p:tgtEl>
                                        <p:attrNameLst>
                                          <p:attrName>style.visibility</p:attrName>
                                        </p:attrNameLst>
                                      </p:cBhvr>
                                      <p:to>
                                        <p:strVal val="visible"/>
                                      </p:to>
                                    </p:set>
                                    <p:animEffect transition="in" filter="fade">
                                      <p:cBhvr>
                                        <p:cTn id="5" dur="500"/>
                                        <p:tgtEl>
                                          <p:spTgt spid="24"/>
                                        </p:tgtEl>
                                      </p:cBhvr>
                                    </p:animEffect>
                                  </p:childTnLst>
                                </p:cTn>
                              </p:par>
                            </p:childTnLst>
                          </p:cTn>
                        </p:par>
                        <p:par>
                          <p:cTn id="13" fill="hold">
                            <p:stCondLst>
                              <p:cond delay="500"/>
                            </p:stCondLst>
                            <p:childTnLst>
                              <p:par>
                                <p:cTn id="7" presetID="10" presetClass="entr" presetSubtype="0" fill="hold" grpId="0" nodeType="afterEffect">
                                  <p:stCondLst>
                                    <p:cond delay="0"/>
                                  </p:stCondLst>
                                  <p:childTnLst>
                                    <p:set>
                                      <p:cBhvr>
                                        <p:cTn id="8" dur="1" fill="hold">
                                          <p:stCondLst>
                                            <p:cond delay="0"/>
                                          </p:stCondLst>
                                        </p:cTn>
                                        <p:tgtEl>
                                          <p:spTgt spid="30"/>
                                        </p:tgtEl>
                                        <p:attrNameLst>
                                          <p:attrName>style.visibility</p:attrName>
                                        </p:attrNameLst>
                                      </p:cBhvr>
                                      <p:to>
                                        <p:strVal val="visible"/>
                                      </p:to>
                                    </p:set>
                                    <p:animEffect transition="in" filter="fade">
                                      <p:cBhvr>
                                        <p:cTn id="9" dur="500"/>
                                        <p:tgtEl>
                                          <p:spTgt spid="30"/>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par>
                          <p:cTn id="16" fill="hold">
                            <p:stCondLst>
                              <p:cond delay="1000"/>
                            </p:stCondLst>
                            <p:childTnLst>
                              <p:par>
                                <p:cTn id="14" presetID="0" presetClass="path" presetSubtype="0" accel="20000" decel="20000" fill="hold" grpId="0" nodeType="afterEffect">
                                  <p:stCondLst>
                                    <p:cond delay="0"/>
                                  </p:stCondLst>
                                  <p:childTnLst>
                                    <p:animMotion origin="layout" path="M 0 0 L 0.1950 -0.1600 E" pathEditMode="relative" ptsTypes="">
                                      <p:cBhvr>
                                        <p:cTn id="15" dur="1200" fill="hold"/>
                                        <p:tgtEl>
                                          <p:spTgt spid="30"/>
                                        </p:tgtEl>
                                        <p:attrNameLst>
                                          <p:attrName>ppt_x</p:attrName>
                                          <p:attrName>ppt_y</p:attrName>
                                        </p:attrNameLst>
                                      </p:cBhvr>
                                      <p:rCtr x="9750" y="-8000"/>
                                    </p:animMotion>
                                  </p:childTnLst>
                                </p:cTn>
                              </p:par>
                            </p:childTnLst>
                          </p:cTn>
                        </p:par>
                      </p:childTnLst>
                    </p:cTn>
                  </p:par>
                  <p:par>
                    <p:cTn id="35" fill="hold">
                      <p:stCondLst>
                        <p:cond delay="indefinite"/>
                      </p:stCondLst>
                      <p:childTnLst>
                        <p:par>
                          <p:cTn id="2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fade">
                                      <p:cBhvr>
                                        <p:cTn id="26" dur="500"/>
                                        <p:tgtEl>
                                          <p:spTgt spid="33"/>
                                        </p:tgtEl>
                                      </p:cBhvr>
                                    </p:animEffect>
                                  </p:childTnLst>
                                </p:cTn>
                              </p:par>
                            </p:childTnLst>
                          </p:cTn>
                        </p:par>
                        <p:par>
                          <p:cTn id="34" fill="hold">
                            <p:stCondLst>
                              <p:cond delay="500"/>
                            </p:stCondLst>
                            <p:childTnLst>
                              <p:par>
                                <p:cTn id="28" presetID="0" presetClass="path" presetSubtype="0" accel="20000" decel="20000" fill="hold" grpId="0" nodeType="afterEffect">
                                  <p:stCondLst>
                                    <p:cond delay="0"/>
                                  </p:stCondLst>
                                  <p:childTnLst>
                                    <p:animMotion origin="layout" path="M 0 0 L 0.1800 -0.1467 E" pathEditMode="relative" ptsTypes="">
                                      <p:cBhvr>
                                        <p:cTn id="29" dur="1200" fill="hold"/>
                                        <p:tgtEl>
                                          <p:spTgt spid="32"/>
                                        </p:tgtEl>
                                        <p:attrNameLst>
                                          <p:attrName>ppt_x</p:attrName>
                                          <p:attrName>ppt_y</p:attrName>
                                        </p:attrNameLst>
                                      </p:cBhvr>
                                      <p:rCtr x="9000" y="-7333"/>
                                    </p:animMotion>
                                  </p:childTnLst>
                                </p:cTn>
                              </p:par>
                              <p:par>
                                <p:cTn id="30" presetID="0" presetClass="path" presetSubtype="0" accel="20000" decel="20000" fill="hold" grpId="0" nodeType="withEffect">
                                  <p:stCondLst>
                                    <p:cond delay="0"/>
                                  </p:stCondLst>
                                  <p:childTnLst>
                                    <p:animMotion origin="layout" path="M 0 0 L 0.1650 -0.1333 E" pathEditMode="relative" ptsTypes="">
                                      <p:cBhvr>
                                        <p:cTn id="31" dur="1200" fill="hold"/>
                                        <p:tgtEl>
                                          <p:spTgt spid="33"/>
                                        </p:tgtEl>
                                        <p:attrNameLst>
                                          <p:attrName>ppt_x</p:attrName>
                                          <p:attrName>ppt_y</p:attrName>
                                        </p:attrNameLst>
                                      </p:cBhvr>
                                      <p:rCtr x="8250" y="-6666"/>
                                    </p:animMotion>
                                  </p:childTnLst>
                                </p:cTn>
                              </p:par>
                              <p:par>
                                <p:cTn id="32" presetID="0" presetClass="path" presetSubtype="0" accel="20000" decel="20000" fill="hold" grpId="0" nodeType="withEffect">
                                  <p:stCondLst>
                                    <p:cond delay="0"/>
                                  </p:stCondLst>
                                  <p:childTnLst>
                                    <p:animMotion origin="layout" path="M 0 0 L 0.2025 -0.1533 E" pathEditMode="relative" ptsTypes="">
                                      <p:cBhvr>
                                        <p:cTn id="33" dur="1200" fill="hold"/>
                                        <p:tgtEl>
                                          <p:spTgt spid="31"/>
                                        </p:tgtEl>
                                        <p:attrNameLst>
                                          <p:attrName>ppt_x</p:attrName>
                                          <p:attrName>ppt_y</p:attrName>
                                        </p:attrNameLst>
                                      </p:cBhvr>
                                      <p:rCtr x="10125" y="-76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animBg="1"/>
    </p:bldLst>
  </p:timing>
</p:sld>
</file>

<file path=ppt/slides/slide175.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sp>
        <p:nvSpPr>
          <p:cNvPr id="13" name="Fructolisis Fructosa"/>
          <p:cNvSpPr/>
          <p:nvPr/>
        </p:nvSpPr>
        <p:spPr>
          <a:xfrm>
            <a:off x="457200" y="1051560"/>
            <a:ext cx="2651760" cy="502920"/>
          </a:xfrm>
          <a:prstGeom prst="roundRect">
            <a:avLst>
              <a:gd name="adj" fmla="val 30000"/>
            </a:avLst>
          </a:prstGeom>
          <a:solidFill>
            <a:srgbClr val="F2BE90"/>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Fructosa</a:t>
            </a:r>
            <a:endParaRPr lang="es-AR" sz="1400" dirty="0">
              <a:latin typeface="Bahnschrift SemiBold Condensed"/>
            </a:endParaRPr>
          </a:p>
        </p:txBody>
      </p:sp>
      <p:grpSp>
        <p:nvGrpSpPr>
          <p:cNvPr id="14" name="Fructolisis paso 1"/>
          <p:cNvGrpSpPr/>
          <p:nvPr/>
        </p:nvGrpSpPr>
        <p:grpSpPr>
          <a:xfrm>
            <a:off x="1783080" y="1581912"/>
            <a:ext cx="2090127" cy="493776"/>
            <a:chOff x="1783080" y="1581912"/>
            <a:chExt cx="2090127" cy="493776"/>
          </a:xfrm>
        </p:grpSpPr>
        <p:sp>
          <p:nvSpPr>
            <p:cNvPr id="15" name="Flecha 14_2"/>
            <p:cNvSpPr/>
            <p:nvPr/>
          </p:nvSpPr>
          <p:spPr>
            <a:xfrm>
              <a:off x="1783080" y="158191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sp>
          <p:nvSpPr>
            <p:cNvPr id="16" name="Enzima KHK/fructocinasa (AT"/>
            <p:cNvSpPr/>
            <p:nvPr/>
          </p:nvSpPr>
          <p:spPr>
            <a:xfrm>
              <a:off x="1892808" y="1682496"/>
              <a:ext cx="198039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KHK/fructocinasa (ATP → ADP)</a:t>
              </a:r>
              <a:endParaRPr lang="es-AR" sz="1150" dirty="0">
                <a:latin typeface="Bahnschrift SemiBold Condensed"/>
              </a:endParaRPr>
            </a:p>
          </p:txBody>
        </p:sp>
      </p:grpSp>
      <p:sp>
        <p:nvSpPr>
          <p:cNvPr id="17" name="Fructolisis Fructosa-1-P"/>
          <p:cNvSpPr/>
          <p:nvPr/>
        </p:nvSpPr>
        <p:spPr>
          <a:xfrm>
            <a:off x="457200" y="2103120"/>
            <a:ext cx="265176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Fructosa-1-P</a:t>
            </a:r>
            <a:endParaRPr lang="es-AR" sz="1400" dirty="0">
              <a:latin typeface="Bahnschrift SemiBold Condensed"/>
            </a:endParaRPr>
          </a:p>
        </p:txBody>
      </p:sp>
      <p:grpSp>
        <p:nvGrpSpPr>
          <p:cNvPr id="18" name="Fructolisis paso 2"/>
          <p:cNvGrpSpPr/>
          <p:nvPr/>
        </p:nvGrpSpPr>
        <p:grpSpPr>
          <a:xfrm>
            <a:off x="1783080" y="2633472"/>
            <a:ext cx="925720" cy="493776"/>
            <a:chOff x="1783080" y="2633472"/>
            <a:chExt cx="925720" cy="493776"/>
          </a:xfrm>
        </p:grpSpPr>
        <p:sp>
          <p:nvSpPr>
            <p:cNvPr id="19" name="Flecha 19_2"/>
            <p:cNvSpPr/>
            <p:nvPr/>
          </p:nvSpPr>
          <p:spPr>
            <a:xfrm>
              <a:off x="1783080" y="2633472"/>
              <a:ext cx="9144" cy="493776"/>
            </a:xfrm>
            <a:custGeom>
              <a:avLst/>
              <a:gdLst/>
              <a:ahLst/>
              <a:cxnLst/>
              <a:rect l="0" t="0" r="r" b="b"/>
              <a:pathLst>
                <a:path w="10" h="540" fill="none">
                  <a:moveTo>
                    <a:pt x="0" y="0"/>
                  </a:moveTo>
                  <a:lnTo>
                    <a:pt x="0" y="540"/>
                  </a:lnTo>
                </a:path>
              </a:pathLst>
            </a:custGeom>
            <a:noFill/>
            <a:ln w="44450" cap="rnd">
              <a:solidFill>
                <a:srgbClr val="1E1E1E"/>
              </a:solidFill>
              <a:round/>
              <a:tailEnd type="triangle" w="med" len="med"/>
            </a:ln>
          </p:spPr>
        </p:sp>
        <p:sp>
          <p:nvSpPr>
            <p:cNvPr id="20" name="Enzima aldolasa B"/>
            <p:cNvSpPr/>
            <p:nvPr/>
          </p:nvSpPr>
          <p:spPr>
            <a:xfrm>
              <a:off x="1892808" y="2734056"/>
              <a:ext cx="815992"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aldolasa B</a:t>
              </a:r>
              <a:endParaRPr lang="es-AR" sz="1150" dirty="0">
                <a:latin typeface="Bahnschrift SemiBold Condensed"/>
              </a:endParaRPr>
            </a:p>
          </p:txBody>
        </p:sp>
      </p:grpSp>
      <p:sp>
        <p:nvSpPr>
          <p:cNvPr id="21" name="Fructolisis Gliceraldehído + D"/>
          <p:cNvSpPr/>
          <p:nvPr/>
        </p:nvSpPr>
        <p:spPr>
          <a:xfrm>
            <a:off x="457200" y="3154680"/>
            <a:ext cx="265176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Gliceraldehído + DHAP</a:t>
            </a:r>
            <a:endParaRPr lang="es-AR" sz="1400" dirty="0">
              <a:latin typeface="Bahnschrift SemiBold Condensed"/>
            </a:endParaRPr>
          </a:p>
        </p:txBody>
      </p:sp>
      <p:grpSp>
        <p:nvGrpSpPr>
          <p:cNvPr id="22" name="Fructolisis paso 3"/>
          <p:cNvGrpSpPr/>
          <p:nvPr/>
        </p:nvGrpSpPr>
        <p:grpSpPr>
          <a:xfrm>
            <a:off x="1783080" y="3685032"/>
            <a:ext cx="1446561" cy="493776"/>
            <a:chOff x="1783080" y="3685032"/>
            <a:chExt cx="1446561" cy="493776"/>
          </a:xfrm>
        </p:grpSpPr>
        <p:sp>
          <p:nvSpPr>
            <p:cNvPr id="23" name="Flecha 24_2"/>
            <p:cNvSpPr/>
            <p:nvPr/>
          </p:nvSpPr>
          <p:spPr>
            <a:xfrm>
              <a:off x="1783080" y="3685032"/>
              <a:ext cx="9144" cy="493776"/>
            </a:xfrm>
            <a:custGeom>
              <a:avLst/>
              <a:gdLst/>
              <a:ahLst/>
              <a:cxnLst/>
              <a:rect l="0" t="0" r="r" b="b"/>
              <a:pathLst>
                <a:path w="10" h="539" fill="none">
                  <a:moveTo>
                    <a:pt x="0" y="0"/>
                  </a:moveTo>
                  <a:lnTo>
                    <a:pt x="0" y="539"/>
                  </a:lnTo>
                </a:path>
              </a:pathLst>
            </a:custGeom>
            <a:noFill/>
            <a:ln w="44450" cap="rnd">
              <a:solidFill>
                <a:srgbClr val="1E1E1E"/>
              </a:solidFill>
              <a:round/>
              <a:tailEnd type="triangle" w="med" len="med"/>
            </a:ln>
          </p:spPr>
        </p:sp>
        <p:sp>
          <p:nvSpPr>
            <p:cNvPr id="24" name="Enzima triosa cinasa (ATP)"/>
            <p:cNvSpPr/>
            <p:nvPr/>
          </p:nvSpPr>
          <p:spPr>
            <a:xfrm>
              <a:off x="1892808" y="3785616"/>
              <a:ext cx="1336833"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triosa cinasa (ATP)</a:t>
              </a:r>
              <a:endParaRPr lang="es-AR" sz="1150" dirty="0">
                <a:latin typeface="Bahnschrift SemiBold Condensed"/>
              </a:endParaRPr>
            </a:p>
          </p:txBody>
        </p:sp>
      </p:grpSp>
      <p:sp>
        <p:nvSpPr>
          <p:cNvPr id="25" name="Fructolisis Triosas fosfato"/>
          <p:cNvSpPr/>
          <p:nvPr/>
        </p:nvSpPr>
        <p:spPr>
          <a:xfrm>
            <a:off x="457200" y="4206240"/>
            <a:ext cx="265176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Triosas fosfato</a:t>
            </a:r>
            <a:endParaRPr lang="es-AR" sz="1400" dirty="0">
              <a:latin typeface="Bahnschrift SemiBold Condensed"/>
            </a:endParaRPr>
          </a:p>
        </p:txBody>
      </p:sp>
      <p:grpSp>
        <p:nvGrpSpPr>
          <p:cNvPr id="26" name="Destino Piruvato/aceti"/>
          <p:cNvGrpSpPr/>
          <p:nvPr/>
        </p:nvGrpSpPr>
        <p:grpSpPr>
          <a:xfrm>
            <a:off x="3127248" y="1051560"/>
            <a:ext cx="4828032" cy="3337560"/>
            <a:chOff x="3127248" y="1051560"/>
            <a:chExt cx="4828032" cy="3337560"/>
          </a:xfrm>
        </p:grpSpPr>
        <p:sp>
          <p:nvSpPr>
            <p:cNvPr id="27" name="Flecha 29_2"/>
            <p:cNvSpPr/>
            <p:nvPr/>
          </p:nvSpPr>
          <p:spPr>
            <a:xfrm>
              <a:off x="3127248" y="1463040"/>
              <a:ext cx="603504" cy="2926080"/>
            </a:xfrm>
            <a:custGeom>
              <a:avLst/>
              <a:gdLst/>
              <a:ahLst/>
              <a:cxnLst/>
              <a:rect l="0" t="0" r="r" b="b"/>
              <a:pathLst>
                <a:path w="660" h="3200" fill="none">
                  <a:moveTo>
                    <a:pt x="0" y="3200"/>
                  </a:moveTo>
                  <a:lnTo>
                    <a:pt x="660" y="0"/>
                  </a:lnTo>
                </a:path>
              </a:pathLst>
            </a:custGeom>
            <a:noFill/>
            <a:ln w="31750" cap="rnd">
              <a:solidFill>
                <a:srgbClr val="1E8C3A"/>
              </a:solidFill>
              <a:round/>
              <a:tailEnd type="triangle" w="med" len="med"/>
            </a:ln>
          </p:spPr>
        </p:sp>
        <p:sp>
          <p:nvSpPr>
            <p:cNvPr id="28" name="Forma 31"/>
            <p:cNvSpPr/>
            <p:nvPr/>
          </p:nvSpPr>
          <p:spPr>
            <a:xfrm>
              <a:off x="3749040" y="1051560"/>
              <a:ext cx="420624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dirty="0">
                  <a:solidFill>
                    <a:srgbClr val="1E1E1E"/>
                  </a:solidFill>
                  <a:latin typeface="Bahnschrift"/>
                  <a:ea typeface="Bahnschrift"/>
                  <a:cs typeface="Bahnschrift"/>
                  <a:sym typeface="Bahnschrift"/>
                </a:rPr>
                <a:t>Piruvato/acetil-CoA → </a:t>
              </a:r>
              <a:r>
                <a:rPr lang="es-AR" sz="1350" b="1" dirty="0">
                  <a:solidFill>
                    <a:srgbClr val="1E1E1E"/>
                  </a:solidFill>
                  <a:latin typeface="Bahnschrift"/>
                  <a:ea typeface="Bahnschrift"/>
                  <a:cs typeface="Bahnschrift"/>
                  <a:sym typeface="Bahnschrift"/>
                </a:rPr>
                <a:t>DNL</a:t>
              </a:r>
              <a:r>
                <a:rPr lang="es-AR" sz="1350" dirty="0">
                  <a:solidFill>
                    <a:srgbClr val="1E1E1E"/>
                  </a:solidFill>
                  <a:latin typeface="Bahnschrift"/>
                  <a:ea typeface="Bahnschrift"/>
                  <a:cs typeface="Bahnschrift"/>
                  <a:sym typeface="Bahnschrift"/>
                </a:rPr>
                <a:t> (ChREBP/SREBP-1c) → TAG → </a:t>
              </a:r>
              <a:r>
                <a:rPr lang="es-AR" sz="1350" b="1" dirty="0">
                  <a:solidFill>
                    <a:srgbClr val="1E1E1E"/>
                  </a:solidFill>
                  <a:latin typeface="Bahnschrift"/>
                  <a:ea typeface="Bahnschrift"/>
                  <a:cs typeface="Bahnschrift"/>
                  <a:sym typeface="Bahnschrift"/>
                </a:rPr>
                <a:t>VLDL</a:t>
              </a:r>
              <a:endParaRPr lang="es-AR" sz="1350" dirty="0">
                <a:latin typeface="Bahnschrift"/>
              </a:endParaRPr>
            </a:p>
          </p:txBody>
        </p:sp>
      </p:grpSp>
      <p:grpSp>
        <p:nvGrpSpPr>
          <p:cNvPr id="29" name="Destino Glicerol-3-P →"/>
          <p:cNvGrpSpPr/>
          <p:nvPr/>
        </p:nvGrpSpPr>
        <p:grpSpPr>
          <a:xfrm>
            <a:off x="3127248" y="2240280"/>
            <a:ext cx="4828032" cy="2148840"/>
            <a:chOff x="3127248" y="2240280"/>
            <a:chExt cx="4828032" cy="2148840"/>
          </a:xfrm>
        </p:grpSpPr>
        <p:sp>
          <p:nvSpPr>
            <p:cNvPr id="30" name="Flecha 33_2"/>
            <p:cNvSpPr/>
            <p:nvPr/>
          </p:nvSpPr>
          <p:spPr>
            <a:xfrm>
              <a:off x="3127248" y="2651760"/>
              <a:ext cx="603504" cy="1737360"/>
            </a:xfrm>
            <a:custGeom>
              <a:avLst/>
              <a:gdLst/>
              <a:ahLst/>
              <a:cxnLst/>
              <a:rect l="0" t="0" r="r" b="b"/>
              <a:pathLst>
                <a:path w="660" h="1899" fill="none">
                  <a:moveTo>
                    <a:pt x="0" y="1899"/>
                  </a:moveTo>
                  <a:lnTo>
                    <a:pt x="660" y="0"/>
                  </a:lnTo>
                </a:path>
              </a:pathLst>
            </a:custGeom>
            <a:noFill/>
            <a:ln w="31750" cap="rnd">
              <a:solidFill>
                <a:srgbClr val="1E8C3A"/>
              </a:solidFill>
              <a:round/>
              <a:tailEnd type="triangle" w="med" len="med"/>
            </a:ln>
          </p:spPr>
        </p:sp>
        <p:sp>
          <p:nvSpPr>
            <p:cNvPr id="31" name="Forma 35"/>
            <p:cNvSpPr/>
            <p:nvPr/>
          </p:nvSpPr>
          <p:spPr>
            <a:xfrm>
              <a:off x="3749040" y="2240280"/>
              <a:ext cx="4206240" cy="9601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dirty="0">
                  <a:solidFill>
                    <a:srgbClr val="1E1E1E"/>
                  </a:solidFill>
                  <a:latin typeface="Bahnschrift"/>
                  <a:ea typeface="Bahnschrift"/>
                  <a:cs typeface="Bahnschrift"/>
                  <a:sym typeface="Bahnschrift"/>
                </a:rPr>
                <a:t>Glicerol-3-P → esterificación</a:t>
              </a:r>
              <a:endParaRPr lang="es-AR" sz="1350" dirty="0">
                <a:latin typeface="Bahnschrift"/>
              </a:endParaRPr>
            </a:p>
          </p:txBody>
        </p:sp>
      </p:grpSp>
      <p:grpSp>
        <p:nvGrpSpPr>
          <p:cNvPr id="32" name="Destino Glucosa · gluc"/>
          <p:cNvGrpSpPr/>
          <p:nvPr/>
        </p:nvGrpSpPr>
        <p:grpSpPr>
          <a:xfrm>
            <a:off x="3127248" y="3429000"/>
            <a:ext cx="4828032" cy="960120"/>
            <a:chOff x="3127248" y="3429000"/>
            <a:chExt cx="4828032" cy="960120"/>
          </a:xfrm>
        </p:grpSpPr>
        <p:sp>
          <p:nvSpPr>
            <p:cNvPr id="33" name="Flecha 37_2"/>
            <p:cNvSpPr/>
            <p:nvPr/>
          </p:nvSpPr>
          <p:spPr>
            <a:xfrm>
              <a:off x="3127248" y="3840480"/>
              <a:ext cx="603504" cy="548640"/>
            </a:xfrm>
            <a:custGeom>
              <a:avLst/>
              <a:gdLst/>
              <a:ahLst/>
              <a:cxnLst/>
              <a:rect l="0" t="0" r="r" b="b"/>
              <a:pathLst>
                <a:path w="660" h="599" fill="none">
                  <a:moveTo>
                    <a:pt x="0" y="599"/>
                  </a:moveTo>
                  <a:lnTo>
                    <a:pt x="660" y="0"/>
                  </a:lnTo>
                </a:path>
              </a:pathLst>
            </a:custGeom>
            <a:noFill/>
            <a:ln w="31750" cap="rnd">
              <a:solidFill>
                <a:srgbClr val="1E8C3A"/>
              </a:solidFill>
              <a:round/>
              <a:tailEnd type="triangle" w="med" len="med"/>
            </a:ln>
          </p:spPr>
        </p:sp>
        <p:sp>
          <p:nvSpPr>
            <p:cNvPr id="34" name="Forma 39"/>
            <p:cNvSpPr/>
            <p:nvPr/>
          </p:nvSpPr>
          <p:spPr>
            <a:xfrm>
              <a:off x="3749040" y="3429000"/>
              <a:ext cx="4206240" cy="960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350" dirty="0">
                  <a:solidFill>
                    <a:srgbClr val="1E1E1E"/>
                  </a:solidFill>
                  <a:latin typeface="Bahnschrift"/>
                  <a:ea typeface="Bahnschrift"/>
                  <a:cs typeface="Bahnschrift"/>
                  <a:sym typeface="Bahnschrift"/>
                </a:rPr>
                <a:t>Glucosa · </a:t>
              </a:r>
              <a:r>
                <a:rPr lang="es-AR" sz="1350" b="1" dirty="0">
                  <a:solidFill>
                    <a:srgbClr val="1E1E1E"/>
                  </a:solidFill>
                  <a:latin typeface="Bahnschrift"/>
                  <a:ea typeface="Bahnschrift"/>
                  <a:cs typeface="Bahnschrift"/>
                  <a:sym typeface="Bahnschrift"/>
                </a:rPr>
                <a:t>glucógeno</a:t>
              </a:r>
              <a:r>
                <a:rPr lang="es-AR" sz="1350" dirty="0">
                  <a:solidFill>
                    <a:srgbClr val="1E1E1E"/>
                  </a:solidFill>
                  <a:latin typeface="Bahnschrift"/>
                  <a:ea typeface="Bahnschrift"/>
                  <a:cs typeface="Bahnschrift"/>
                  <a:sym typeface="Bahnschrift"/>
                </a:rPr>
                <a:t> · </a:t>
              </a:r>
              <a:r>
                <a:rPr lang="es-AR" sz="1350" b="1" dirty="0">
                  <a:solidFill>
                    <a:srgbClr val="1E1E1E"/>
                  </a:solidFill>
                  <a:latin typeface="Bahnschrift"/>
                  <a:ea typeface="Bahnschrift"/>
                  <a:cs typeface="Bahnschrift"/>
                  <a:sym typeface="Bahnschrift"/>
                </a:rPr>
                <a:t>lactato</a:t>
              </a:r>
              <a:endParaRPr lang="es-AR" sz="1350" dirty="0">
                <a:latin typeface="Bahnschrift"/>
              </a:endParaRPr>
            </a:p>
          </p:txBody>
        </p:sp>
      </p:grpSp>
      <p:sp>
        <p:nvSpPr>
          <p:cNvPr id="35" name="Forma 40"/>
          <p:cNvSpPr/>
          <p:nvPr/>
        </p:nvSpPr>
        <p:spPr>
          <a:xfrm>
            <a:off x="8229600" y="1051560"/>
            <a:ext cx="3566160" cy="990600"/>
          </a:xfrm>
          <a:prstGeom prst="rect">
            <a:avLst/>
          </a:prstGeom>
          <a:solidFill>
            <a:srgbClr val="FDEB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Consumo rápido de ATP</a:t>
            </a:r>
            <a:endParaRPr lang="es-AR" sz="1350" dirty="0">
              <a:latin typeface="Bahnschrift"/>
            </a:endParaRPr>
          </a:p>
        </p:txBody>
      </p:sp>
      <p:sp>
        <p:nvSpPr>
          <p:cNvPr id="36" name="Flecha 41_2"/>
          <p:cNvSpPr/>
          <p:nvPr/>
        </p:nvSpPr>
        <p:spPr>
          <a:xfrm>
            <a:off x="10012680" y="2069592"/>
            <a:ext cx="9144" cy="128016"/>
          </a:xfrm>
          <a:custGeom>
            <a:avLst/>
            <a:gdLst/>
            <a:ahLst/>
            <a:cxnLst/>
            <a:rect l="0" t="0" r="r" b="b"/>
            <a:pathLst>
              <a:path w="10" h="140" fill="none">
                <a:moveTo>
                  <a:pt x="0" y="0"/>
                </a:moveTo>
                <a:lnTo>
                  <a:pt x="0" y="140"/>
                </a:lnTo>
              </a:path>
            </a:pathLst>
          </a:custGeom>
          <a:noFill/>
          <a:ln w="31750" cap="rnd">
            <a:solidFill>
              <a:srgbClr val="C00000"/>
            </a:solidFill>
            <a:round/>
            <a:tailEnd type="triangle" w="med" len="med"/>
          </a:ln>
        </p:spPr>
      </p:sp>
      <p:sp>
        <p:nvSpPr>
          <p:cNvPr id="37" name="Forma 43"/>
          <p:cNvSpPr/>
          <p:nvPr/>
        </p:nvSpPr>
        <p:spPr>
          <a:xfrm>
            <a:off x="8229600" y="2225040"/>
            <a:ext cx="3566160" cy="9906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AMP → IMP</a:t>
            </a:r>
            <a:endParaRPr lang="es-AR" sz="1350" dirty="0">
              <a:latin typeface="Bahnschrift"/>
            </a:endParaRPr>
          </a:p>
        </p:txBody>
      </p:sp>
      <p:sp>
        <p:nvSpPr>
          <p:cNvPr id="38" name="Flecha 44_2"/>
          <p:cNvSpPr/>
          <p:nvPr/>
        </p:nvSpPr>
        <p:spPr>
          <a:xfrm>
            <a:off x="10012680" y="3243072"/>
            <a:ext cx="9144" cy="128016"/>
          </a:xfrm>
          <a:custGeom>
            <a:avLst/>
            <a:gdLst/>
            <a:ahLst/>
            <a:cxnLst/>
            <a:rect l="0" t="0" r="r" b="b"/>
            <a:pathLst>
              <a:path w="10" h="140" fill="none">
                <a:moveTo>
                  <a:pt x="0" y="0"/>
                </a:moveTo>
                <a:lnTo>
                  <a:pt x="0" y="140"/>
                </a:lnTo>
              </a:path>
            </a:pathLst>
          </a:custGeom>
          <a:noFill/>
          <a:ln w="31750" cap="rnd">
            <a:solidFill>
              <a:srgbClr val="C00000"/>
            </a:solidFill>
            <a:round/>
            <a:tailEnd type="triangle" w="med" len="med"/>
          </a:ln>
        </p:spPr>
      </p:sp>
      <p:sp>
        <p:nvSpPr>
          <p:cNvPr id="39" name="Forma 46"/>
          <p:cNvSpPr/>
          <p:nvPr/>
        </p:nvSpPr>
        <p:spPr>
          <a:xfrm>
            <a:off x="8229600" y="3398520"/>
            <a:ext cx="3566160" cy="990600"/>
          </a:xfrm>
          <a:prstGeom prst="rect">
            <a:avLst/>
          </a:prstGeom>
          <a:solidFill>
            <a:srgbClr val="CF9F7F"/>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Ácido úrico</a:t>
            </a:r>
            <a:endParaRPr lang="es-AR" sz="1350" dirty="0">
              <a:latin typeface="Bahnschrift"/>
            </a:endParaRPr>
          </a:p>
        </p:txBody>
      </p:sp>
      <p:sp>
        <p:nvSpPr>
          <p:cNvPr id="40" name="Forma 47"/>
          <p:cNvSpPr/>
          <p:nvPr/>
        </p:nvSpPr>
        <p:spPr>
          <a:xfrm>
            <a:off x="3749040" y="4617720"/>
            <a:ext cx="8046720" cy="14173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Ruta </a:t>
            </a:r>
            <a:r>
              <a:rPr lang="es-AR" sz="1650" b="1" dirty="0">
                <a:solidFill>
                  <a:srgbClr val="1E1E1E"/>
                </a:solidFill>
                <a:latin typeface="Bahnschrift"/>
                <a:ea typeface="Bahnschrift"/>
                <a:cs typeface="Bahnschrift"/>
                <a:sym typeface="Bahnschrift"/>
              </a:rPr>
              <a:t>posible</a:t>
            </a:r>
            <a:r>
              <a:rPr lang="es-AR" sz="1650" dirty="0">
                <a:solidFill>
                  <a:srgbClr val="1E1E1E"/>
                </a:solidFill>
                <a:latin typeface="Bahnschrift"/>
                <a:ea typeface="Bahnschrift"/>
                <a:cs typeface="Bahnschrift"/>
                <a:sym typeface="Bahnschrift"/>
              </a:rPr>
              <a:t> en todas las cargas; </a:t>
            </a:r>
            <a:r>
              <a:rPr lang="es-AR" sz="1650" b="1" dirty="0">
                <a:solidFill>
                  <a:srgbClr val="1E1E1E"/>
                </a:solidFill>
                <a:latin typeface="Bahnschrift"/>
                <a:ea typeface="Bahnschrift"/>
                <a:cs typeface="Bahnschrift"/>
                <a:sym typeface="Bahnschrift"/>
              </a:rPr>
              <a:t>aumentada</a:t>
            </a:r>
            <a:r>
              <a:rPr lang="es-AR" sz="1650" dirty="0">
                <a:solidFill>
                  <a:srgbClr val="1E1E1E"/>
                </a:solidFill>
                <a:latin typeface="Bahnschrift"/>
                <a:ea typeface="Bahnschrift"/>
                <a:cs typeface="Bahnschrift"/>
                <a:sym typeface="Bahnschrift"/>
              </a:rPr>
              <a:t> en carga alta crónica. No todo el carbono de la fructosa se transforma en grasa.</a:t>
            </a:r>
            <a:endParaRPr lang="es-AR" sz="1650" dirty="0">
              <a:latin typeface="Bahnschrift"/>
            </a:endParaRPr>
          </a:p>
        </p:txBody>
      </p:sp>
      <p:sp>
        <p:nvSpPr>
          <p:cNvPr id="2" name="Etiqueta sección"/>
          <p:cNvSpPr/>
          <p:nvPr/>
        </p:nvSpPr>
        <p:spPr>
          <a:xfrm>
            <a:off x="9958708" y="201168"/>
            <a:ext cx="19586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2 · FRUCTOSA</a:t>
            </a:r>
            <a:endParaRPr lang="es-AR" sz="1300" dirty="0">
              <a:latin typeface="Bahnschrift SemiBold Condensed"/>
            </a:endParaRPr>
          </a:p>
        </p:txBody>
      </p:sp>
      <p:sp>
        <p:nvSpPr>
          <p:cNvPr id="3" name="Título"/>
          <p:cNvSpPr/>
          <p:nvPr/>
        </p:nvSpPr>
        <p:spPr>
          <a:xfrm>
            <a:off x="274320" y="146304"/>
            <a:ext cx="754517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P2 · MECANISMO MOLECULAR HEPÁTICO DE LA FRUCTOSA</a:t>
            </a:r>
            <a:endParaRPr lang="es-AR" sz="2600" dirty="0">
              <a:latin typeface="Bahnschrift SemiBold Condensed"/>
            </a:endParaRPr>
          </a:p>
        </p:txBody>
      </p:sp>
      <p:sp>
        <p:nvSpPr>
          <p:cNvPr id="4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14"/>
                                        </p:tgtEl>
                                        <p:attrNameLst>
                                          <p:attrName>style.visibility</p:attrName>
                                        </p:attrNameLst>
                                      </p:cBhvr>
                                      <p:to>
                                        <p:strVal val="visible"/>
                                      </p:to>
                                    </p:set>
                                    <p:animEffect transition="in" filter="wipe(up)">
                                      <p:cBhvr>
                                        <p:cTn id="9" dur="600"/>
                                        <p:tgtEl>
                                          <p:spTgt spid="14"/>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par>
                    <p:cTn id="32" fill="hold">
                      <p:stCondLst>
                        <p:cond delay="indefinite"/>
                      </p:stCondLst>
                      <p:childTnLst>
                        <p:par>
                          <p:cTn id="19"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ipe(up)">
                                      <p:cBhvr>
                                        <p:cTn id="18" dur="600"/>
                                        <p:tgtEl>
                                          <p:spTgt spid="18"/>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par>
                          <p:cTn id="27" fill="hold">
                            <p:stCondLst>
                              <p:cond delay="1100"/>
                            </p:stCondLst>
                            <p:childTnLst>
                              <p:par>
                                <p:cTn id="24" presetID="22" presetClass="entr" presetSubtype="1" fill="hold" grpId="0"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600"/>
                                        <p:tgtEl>
                                          <p:spTgt spid="22"/>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fade">
                                      <p:cBhvr>
                                        <p:cTn id="30" dur="500"/>
                                        <p:tgtEl>
                                          <p:spTgt spid="25"/>
                                        </p:tgtEl>
                                      </p:cBhvr>
                                    </p:animEffect>
                                  </p:childTnLst>
                                </p:cTn>
                              </p:par>
                            </p:childTnLst>
                          </p:cTn>
                        </p:par>
                      </p:childTnLst>
                    </p:cTn>
                  </p:par>
                  <p:par>
                    <p:cTn id="37" fill="hold">
                      <p:stCondLst>
                        <p:cond delay="indefinite"/>
                      </p:stCondLst>
                      <p:childTnLst>
                        <p:par>
                          <p:cTn id="36"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500"/>
                                        <p:tgtEl>
                                          <p:spTgt spid="26"/>
                                        </p:tgtEl>
                                      </p:cBhvr>
                                    </p:animEffect>
                                  </p:childTnLst>
                                </p:cTn>
                              </p:par>
                            </p:childTnLst>
                          </p:cTn>
                        </p:par>
                      </p:childTnLst>
                    </p:cTn>
                  </p:par>
                  <p:par>
                    <p:cTn id="42" fill="hold">
                      <p:stCondLst>
                        <p:cond delay="indefinite"/>
                      </p:stCondLst>
                      <p:childTnLst>
                        <p:par>
                          <p:cTn id="41"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childTnLst>
                          </p:cTn>
                        </p:par>
                      </p:childTnLst>
                    </p:cTn>
                  </p:par>
                  <p:par>
                    <p:cTn id="47" fill="hold">
                      <p:stCondLst>
                        <p:cond delay="indefinite"/>
                      </p:stCondLst>
                      <p:childTnLst>
                        <p:par>
                          <p:cTn id="46"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500"/>
                                        <p:tgtEl>
                                          <p:spTgt spid="32"/>
                                        </p:tgtEl>
                                      </p:cBhvr>
                                    </p:animEffect>
                                  </p:childTnLst>
                                </p:cTn>
                              </p:par>
                            </p:childTnLst>
                          </p:cTn>
                        </p:par>
                      </p:childTnLst>
                    </p:cTn>
                  </p:par>
                  <p:par>
                    <p:cTn id="52" fill="hold">
                      <p:stCondLst>
                        <p:cond delay="indefinite"/>
                      </p:stCondLst>
                      <p:childTnLst>
                        <p:par>
                          <p:cTn id="51"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500"/>
                                        <p:tgtEl>
                                          <p:spTgt spid="35"/>
                                        </p:tgtEl>
                                      </p:cBhvr>
                                    </p:animEffect>
                                  </p:childTnLst>
                                </p:cTn>
                              </p:par>
                            </p:childTnLst>
                          </p:cTn>
                        </p:par>
                      </p:childTnLst>
                    </p:cTn>
                  </p:par>
                  <p:par>
                    <p:cTn id="61" fill="hold">
                      <p:stCondLst>
                        <p:cond delay="indefinite"/>
                      </p:stCondLst>
                      <p:childTnLst>
                        <p:par>
                          <p:cTn id="56"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36"/>
                                        </p:tgtEl>
                                        <p:attrNameLst>
                                          <p:attrName>style.visibility</p:attrName>
                                        </p:attrNameLst>
                                      </p:cBhvr>
                                      <p:to>
                                        <p:strVal val="visible"/>
                                      </p:to>
                                    </p:set>
                                    <p:animEffect transition="in" filter="wipe(left)">
                                      <p:cBhvr>
                                        <p:cTn id="55" dur="600"/>
                                        <p:tgtEl>
                                          <p:spTgt spid="36"/>
                                        </p:tgtEl>
                                      </p:cBhvr>
                                    </p:animEffect>
                                  </p:childTnLst>
                                </p:cTn>
                              </p:par>
                            </p:childTnLst>
                          </p:cTn>
                        </p:par>
                        <p:par>
                          <p:cTn id="60" fill="hold">
                            <p:stCondLst>
                              <p:cond delay="600"/>
                            </p:stCondLst>
                            <p:childTnLst>
                              <p:par>
                                <p:cTn id="57" presetID="10" presetClass="entr" presetSubtype="0" fill="hold" grpId="0" nodeType="afterEffect">
                                  <p:stCondLst>
                                    <p:cond delay="0"/>
                                  </p:stCondLst>
                                  <p:childTnLst>
                                    <p:set>
                                      <p:cBhvr>
                                        <p:cTn id="58" dur="1" fill="hold">
                                          <p:stCondLst>
                                            <p:cond delay="0"/>
                                          </p:stCondLst>
                                        </p:cTn>
                                        <p:tgtEl>
                                          <p:spTgt spid="37"/>
                                        </p:tgtEl>
                                        <p:attrNameLst>
                                          <p:attrName>style.visibility</p:attrName>
                                        </p:attrNameLst>
                                      </p:cBhvr>
                                      <p:to>
                                        <p:strVal val="visible"/>
                                      </p:to>
                                    </p:set>
                                    <p:animEffect transition="in" filter="fade">
                                      <p:cBhvr>
                                        <p:cTn id="59" dur="500"/>
                                        <p:tgtEl>
                                          <p:spTgt spid="37"/>
                                        </p:tgtEl>
                                      </p:cBhvr>
                                    </p:animEffect>
                                  </p:childTnLst>
                                </p:cTn>
                              </p:par>
                            </p:childTnLst>
                          </p:cTn>
                        </p:par>
                      </p:childTnLst>
                    </p:cTn>
                  </p:par>
                  <p:par>
                    <p:cTn id="70" fill="hold">
                      <p:stCondLst>
                        <p:cond delay="indefinite"/>
                      </p:stCondLst>
                      <p:childTnLst>
                        <p:par>
                          <p:cTn id="65"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38"/>
                                        </p:tgtEl>
                                        <p:attrNameLst>
                                          <p:attrName>style.visibility</p:attrName>
                                        </p:attrNameLst>
                                      </p:cBhvr>
                                      <p:to>
                                        <p:strVal val="visible"/>
                                      </p:to>
                                    </p:set>
                                    <p:animEffect transition="in" filter="wipe(left)">
                                      <p:cBhvr>
                                        <p:cTn id="64" dur="600"/>
                                        <p:tgtEl>
                                          <p:spTgt spid="38"/>
                                        </p:tgtEl>
                                      </p:cBhvr>
                                    </p:animEffect>
                                  </p:childTnLst>
                                </p:cTn>
                              </p:par>
                            </p:childTnLst>
                          </p:cTn>
                        </p:par>
                        <p:par>
                          <p:cTn id="69" fill="hold">
                            <p:stCondLst>
                              <p:cond delay="600"/>
                            </p:stCondLst>
                            <p:childTnLst>
                              <p:par>
                                <p:cTn id="66" presetID="10" presetClass="entr" presetSubtype="0" fill="hold" grpId="0" nodeType="after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fade">
                                      <p:cBhvr>
                                        <p:cTn id="68" dur="500"/>
                                        <p:tgtEl>
                                          <p:spTgt spid="39"/>
                                        </p:tgtEl>
                                      </p:cBhvr>
                                    </p:animEffect>
                                  </p:childTnLst>
                                </p:cTn>
                              </p:par>
                            </p:childTnLst>
                          </p:cTn>
                        </p:par>
                      </p:childTnLst>
                    </p:cTn>
                  </p:par>
                  <p:par>
                    <p:cTn id="75" fill="hold">
                      <p:stCondLst>
                        <p:cond delay="indefinite"/>
                      </p:stCondLst>
                      <p:childTnLst>
                        <p:par>
                          <p:cTn id="74"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40"/>
                                        </p:tgtEl>
                                        <p:attrNameLst>
                                          <p:attrName>style.visibility</p:attrName>
                                        </p:attrNameLst>
                                      </p:cBhvr>
                                      <p:to>
                                        <p:strVal val="visible"/>
                                      </p:to>
                                    </p:set>
                                    <p:animEffect transition="in" filter="fade">
                                      <p:cBhvr>
                                        <p:cTn id="7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P spid="35" grpId="0" animBg="1"/>
      <p:bldP spid="36" grpId="0" animBg="1"/>
      <p:bldP spid="37" grpId="0" animBg="1"/>
      <p:bldP spid="38" grpId="0" animBg="1"/>
      <p:bldP spid="39" grpId="0" animBg="1"/>
      <p:bldP spid="40" grpId="0" animBg="1"/>
    </p:bldLst>
  </p:timing>
</p:sld>
</file>

<file path=ppt/slides/slide176.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Consecuencias"/>
          <p:cNvGrpSpPr/>
          <p:nvPr/>
        </p:nvGrpSpPr>
        <p:grpSpPr>
          <a:xfrm>
            <a:off x="365760" y="1005840"/>
            <a:ext cx="5577840" cy="2377440"/>
            <a:chOff x="365760" y="1005840"/>
            <a:chExt cx="5577840" cy="2377440"/>
          </a:xfrm>
        </p:grpSpPr>
        <p:sp>
          <p:nvSpPr>
            <p:cNvPr id="14" name="Forma 13"/>
            <p:cNvSpPr/>
            <p:nvPr/>
          </p:nvSpPr>
          <p:spPr>
            <a:xfrm>
              <a:off x="365760" y="1188720"/>
              <a:ext cx="5577840" cy="21945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TAG hepáticos</a:t>
              </a:r>
              <a:r>
                <a:rPr lang="es-AR" sz="1650" dirty="0">
                  <a:solidFill>
                    <a:srgbClr val="1E1E1E"/>
                  </a:solidFill>
                  <a:latin typeface="Bahnschrift"/>
                  <a:ea typeface="Bahnschrift"/>
                  <a:cs typeface="Bahnschrift"/>
                  <a:sym typeface="Bahnschrift"/>
                </a:rPr>
                <a:t> (esteatosis) y ↑ </a:t>
              </a:r>
              <a:r>
                <a:rPr lang="es-AR" sz="1650" b="1" dirty="0">
                  <a:solidFill>
                    <a:srgbClr val="1E1E1E"/>
                  </a:solidFill>
                  <a:latin typeface="Bahnschrift"/>
                  <a:ea typeface="Bahnschrift"/>
                  <a:cs typeface="Bahnschrift"/>
                  <a:sym typeface="Bahnschrift"/>
                </a:rPr>
                <a:t>VLDL</a:t>
              </a:r>
              <a:r>
                <a:rPr lang="es-AR" sz="1650" dirty="0">
                  <a:solidFill>
                    <a:srgbClr val="1E1E1E"/>
                  </a:solidFill>
                  <a:latin typeface="Bahnschrift"/>
                  <a:ea typeface="Bahnschrift"/>
                  <a:cs typeface="Bahnschrift"/>
                  <a:sym typeface="Bahnschrift"/>
                </a:rPr>
                <a:t> → hipertrigliceridemia.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Baja saciedad de bebidas → </a:t>
              </a:r>
              <a:r>
                <a:rPr lang="es-AR" sz="1650" b="1" dirty="0">
                  <a:solidFill>
                    <a:srgbClr val="1E1E1E"/>
                  </a:solidFill>
                  <a:latin typeface="Bahnschrift"/>
                  <a:ea typeface="Bahnschrift"/>
                  <a:cs typeface="Bahnschrift"/>
                  <a:sym typeface="Bahnschrift"/>
                </a:rPr>
                <a:t>exceso calórico</a:t>
              </a:r>
              <a:r>
                <a:rPr lang="es-AR" sz="1650" dirty="0">
                  <a:solidFill>
                    <a:srgbClr val="1E1E1E"/>
                  </a:solidFill>
                  <a:latin typeface="Bahnschrift"/>
                  <a:ea typeface="Bahnschrift"/>
                  <a:cs typeface="Bahnschrift"/>
                  <a:sym typeface="Bahnschrift"/>
                </a:rPr>
                <a:t>, adiposidad, </a:t>
              </a:r>
              <a:r>
                <a:rPr lang="es-AR" sz="1650" b="1" dirty="0">
                  <a:solidFill>
                    <a:srgbClr val="1E1E1E"/>
                  </a:solidFill>
                  <a:latin typeface="Bahnschrift"/>
                  <a:ea typeface="Bahnschrift"/>
                  <a:cs typeface="Bahnschrift"/>
                  <a:sym typeface="Bahnschrift"/>
                </a:rPr>
                <a:t>resistencia insulínica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Posible ↑ </a:t>
              </a:r>
              <a:r>
                <a:rPr lang="es-AR" sz="1650" b="1" dirty="0">
                  <a:solidFill>
                    <a:srgbClr val="1E1E1E"/>
                  </a:solidFill>
                  <a:latin typeface="Bahnschrift"/>
                  <a:ea typeface="Bahnschrift"/>
                  <a:cs typeface="Bahnschrift"/>
                  <a:sym typeface="Bahnschrift"/>
                </a:rPr>
                <a:t>urato</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5" name="Forma 14"/>
            <p:cNvSpPr/>
            <p:nvPr/>
          </p:nvSpPr>
          <p:spPr>
            <a:xfrm>
              <a:off x="475488" y="1005840"/>
              <a:ext cx="153503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a:t>
              </a:r>
              <a:endParaRPr lang="es-AR" sz="1500" dirty="0">
                <a:latin typeface="Bahnschrift SemiBold Condensed"/>
              </a:endParaRPr>
            </a:p>
          </p:txBody>
        </p:sp>
      </p:grpSp>
      <p:grpSp>
        <p:nvGrpSpPr>
          <p:cNvPr id="16" name="Recuadro Interpretación de la evid"/>
          <p:cNvGrpSpPr/>
          <p:nvPr/>
        </p:nvGrpSpPr>
        <p:grpSpPr>
          <a:xfrm>
            <a:off x="6217920" y="1005840"/>
            <a:ext cx="5577840" cy="2377440"/>
            <a:chOff x="6217920" y="1005840"/>
            <a:chExt cx="5577840" cy="2377440"/>
          </a:xfrm>
        </p:grpSpPr>
        <p:sp>
          <p:nvSpPr>
            <p:cNvPr id="17" name="Forma 16"/>
            <p:cNvSpPr/>
            <p:nvPr/>
          </p:nvSpPr>
          <p:spPr>
            <a:xfrm>
              <a:off x="6217920" y="1188720"/>
              <a:ext cx="5577840" cy="2194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Estudios </a:t>
              </a:r>
              <a:r>
                <a:rPr lang="es-AR" sz="1650" b="1" dirty="0">
                  <a:solidFill>
                    <a:srgbClr val="1E1E1E"/>
                  </a:solidFill>
                  <a:latin typeface="Bahnschrift"/>
                  <a:ea typeface="Bahnschrift"/>
                  <a:cs typeface="Bahnschrift"/>
                  <a:sym typeface="Bahnschrift"/>
                </a:rPr>
                <a:t>isocalóricos</a:t>
              </a:r>
              <a:r>
                <a:rPr lang="es-AR" sz="1650" dirty="0">
                  <a:solidFill>
                    <a:srgbClr val="1E1E1E"/>
                  </a:solidFill>
                  <a:latin typeface="Bahnschrift"/>
                  <a:ea typeface="Bahnschrift"/>
                  <a:cs typeface="Bahnschrift"/>
                  <a:sym typeface="Bahnschrift"/>
                </a:rPr>
                <a:t> y de </a:t>
              </a:r>
              <a:r>
                <a:rPr lang="es-AR" sz="1650" b="1" dirty="0">
                  <a:solidFill>
                    <a:srgbClr val="1E1E1E"/>
                  </a:solidFill>
                  <a:latin typeface="Bahnschrift"/>
                  <a:ea typeface="Bahnschrift"/>
                  <a:cs typeface="Bahnschrift"/>
                  <a:sym typeface="Bahnschrift"/>
                </a:rPr>
                <a:t>sobrealimentación</a:t>
              </a:r>
              <a:r>
                <a:rPr lang="es-AR" sz="1650" dirty="0">
                  <a:solidFill>
                    <a:srgbClr val="1E1E1E"/>
                  </a:solidFill>
                  <a:latin typeface="Bahnschrift"/>
                  <a:ea typeface="Bahnschrift"/>
                  <a:cs typeface="Bahnschrift"/>
                  <a:sym typeface="Bahnschrift"/>
                </a:rPr>
                <a:t> no dan la misma respuesta: </a:t>
              </a:r>
              <a:r>
                <a:rPr lang="es-AR" sz="1650" b="1" dirty="0">
                  <a:solidFill>
                    <a:srgbClr val="1E1E1E"/>
                  </a:solidFill>
                  <a:latin typeface="Bahnschrift"/>
                  <a:ea typeface="Bahnschrift"/>
                  <a:cs typeface="Bahnschrift"/>
                  <a:sym typeface="Bahnschrift"/>
                </a:rPr>
                <a:t>el exceso energético importa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No confundir </a:t>
              </a:r>
              <a:r>
                <a:rPr lang="es-AR" sz="1650" b="1" dirty="0">
                  <a:solidFill>
                    <a:srgbClr val="1E1E1E"/>
                  </a:solidFill>
                  <a:latin typeface="Bahnschrift"/>
                  <a:ea typeface="Bahnschrift"/>
                  <a:cs typeface="Bahnschrift"/>
                  <a:sym typeface="Bahnschrift"/>
                </a:rPr>
                <a:t>fruta entera</a:t>
              </a:r>
              <a:r>
                <a:rPr lang="es-AR" sz="1650" dirty="0">
                  <a:solidFill>
                    <a:srgbClr val="1E1E1E"/>
                  </a:solidFill>
                  <a:latin typeface="Bahnschrift"/>
                  <a:ea typeface="Bahnschrift"/>
                  <a:cs typeface="Bahnschrift"/>
                  <a:sym typeface="Bahnschrift"/>
                </a:rPr>
                <a:t> con jarabes o bebidas de alta carga.</a:t>
              </a:r>
              <a:endParaRPr lang="es-AR" sz="1650" dirty="0">
                <a:latin typeface="Bahnschrift"/>
              </a:endParaRPr>
            </a:p>
          </p:txBody>
        </p:sp>
        <p:sp>
          <p:nvSpPr>
            <p:cNvPr id="18" name="Forma 17"/>
            <p:cNvSpPr/>
            <p:nvPr/>
          </p:nvSpPr>
          <p:spPr>
            <a:xfrm>
              <a:off x="6327648" y="1005840"/>
              <a:ext cx="287408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INTERPRETACIÓN DE LA EVIDENCIA</a:t>
              </a:r>
              <a:endParaRPr lang="es-AR" sz="1500" dirty="0">
                <a:latin typeface="Bahnschrift SemiBold Condensed"/>
              </a:endParaRPr>
            </a:p>
          </p:txBody>
        </p:sp>
      </p:grpSp>
      <p:sp>
        <p:nvSpPr>
          <p:cNvPr id="19" name="Forma 18"/>
          <p:cNvSpPr/>
          <p:nvPr/>
        </p:nvSpPr>
        <p:spPr>
          <a:xfrm>
            <a:off x="365760" y="3566160"/>
            <a:ext cx="11430000" cy="1371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Las asociaciones epidemiológicas con hígado graso/DM2 pueden incluir factores </a:t>
            </a:r>
            <a:r>
              <a:rPr lang="es-AR" sz="1650" b="1" dirty="0">
                <a:solidFill>
                  <a:srgbClr val="1E1E1E"/>
                </a:solidFill>
                <a:latin typeface="Bahnschrift"/>
                <a:ea typeface="Bahnschrift"/>
                <a:cs typeface="Bahnschrift"/>
                <a:sym typeface="Bahnschrift"/>
              </a:rPr>
              <a:t>dietarios y de adiposidad</a:t>
            </a:r>
            <a:r>
              <a:rPr lang="es-AR" sz="1650" dirty="0">
                <a:solidFill>
                  <a:srgbClr val="1E1E1E"/>
                </a:solidFill>
                <a:latin typeface="Bahnschrift"/>
                <a:ea typeface="Bahnschrift"/>
                <a:cs typeface="Bahnschrift"/>
                <a:sym typeface="Bahnschrift"/>
              </a:rPr>
              <a:t>; los mecanismos moleculares </a:t>
            </a:r>
            <a:r>
              <a:rPr lang="es-AR" sz="1650" b="1" dirty="0">
                <a:solidFill>
                  <a:srgbClr val="1E1E1E"/>
                </a:solidFill>
                <a:latin typeface="Bahnschrift"/>
                <a:ea typeface="Bahnschrift"/>
                <a:cs typeface="Bahnschrift"/>
                <a:sym typeface="Bahnschrift"/>
              </a:rPr>
              <a:t>no implican causalidad única universal</a:t>
            </a:r>
            <a:r>
              <a:rPr lang="es-AR" sz="1650" dirty="0">
                <a:solidFill>
                  <a:srgbClr val="1E1E1E"/>
                </a:solidFill>
                <a:latin typeface="Bahnschrift"/>
                <a:ea typeface="Bahnschrift"/>
                <a:cs typeface="Bahnschrift"/>
                <a:sym typeface="Bahnschrift"/>
              </a:rPr>
              <a:t>. La hipertrigliceridemia deriva de </a:t>
            </a:r>
            <a:r>
              <a:rPr lang="es-AR" sz="1650" b="1" dirty="0">
                <a:solidFill>
                  <a:srgbClr val="1E1E1E"/>
                </a:solidFill>
                <a:latin typeface="Bahnschrift"/>
                <a:ea typeface="Bahnschrift"/>
                <a:cs typeface="Bahnschrift"/>
                <a:sym typeface="Bahnschrift"/>
              </a:rPr>
              <a:t>mayor secreción de VLDL y/o menor depuración</a:t>
            </a:r>
            <a:r>
              <a:rPr lang="es-AR" sz="1650" dirty="0">
                <a:solidFill>
                  <a:srgbClr val="1E1E1E"/>
                </a:solidFill>
                <a:latin typeface="Bahnschrift"/>
                <a:ea typeface="Bahnschrift"/>
                <a:cs typeface="Bahnschrift"/>
                <a:sym typeface="Bahnschrift"/>
              </a:rPr>
              <a:t>, acentuada por la resistencia insulínica.</a:t>
            </a:r>
            <a:endParaRPr lang="es-AR" sz="1650" dirty="0">
              <a:latin typeface="Bahnschrift"/>
            </a:endParaRPr>
          </a:p>
        </p:txBody>
      </p:sp>
      <p:sp>
        <p:nvSpPr>
          <p:cNvPr id="2" name="Etiqueta sección"/>
          <p:cNvSpPr/>
          <p:nvPr/>
        </p:nvSpPr>
        <p:spPr>
          <a:xfrm>
            <a:off x="9958708" y="201168"/>
            <a:ext cx="19586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2 · FRUCTOSA</a:t>
            </a:r>
            <a:endParaRPr lang="es-AR" sz="1300" dirty="0">
              <a:latin typeface="Bahnschrift SemiBold Condensed"/>
            </a:endParaRPr>
          </a:p>
        </p:txBody>
      </p:sp>
      <p:sp>
        <p:nvSpPr>
          <p:cNvPr id="3" name="Título"/>
          <p:cNvSpPr/>
          <p:nvPr/>
        </p:nvSpPr>
        <p:spPr>
          <a:xfrm>
            <a:off x="274320" y="146304"/>
            <a:ext cx="588495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P2 · CONSECUENCIAS, EVIDENCIA Y CLÍNICA</a:t>
            </a:r>
            <a:endParaRPr lang="es-AR" sz="2600" dirty="0">
              <a:latin typeface="Bahnschrift SemiBold Condensed"/>
            </a:endParaRPr>
          </a:p>
        </p:txBody>
      </p:sp>
      <p:sp>
        <p:nvSpPr>
          <p:cNvPr id="2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77.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Esquema carga habitual"/>
          <p:cNvGrpSpPr/>
          <p:nvPr/>
        </p:nvGrpSpPr>
        <p:grpSpPr>
          <a:xfrm>
            <a:off x="365760" y="1051560"/>
            <a:ext cx="5577840" cy="4983480"/>
            <a:chOff x="365760" y="1051560"/>
            <a:chExt cx="5577840" cy="4983480"/>
          </a:xfrm>
        </p:grpSpPr>
        <p:sp>
          <p:nvSpPr>
            <p:cNvPr id="14" name="Forma 13"/>
            <p:cNvSpPr/>
            <p:nvPr/>
          </p:nvSpPr>
          <p:spPr>
            <a:xfrm>
              <a:off x="365760" y="1051560"/>
              <a:ext cx="5577840" cy="49834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15" name="Forma 14"/>
            <p:cNvSpPr/>
            <p:nvPr/>
          </p:nvSpPr>
          <p:spPr>
            <a:xfrm>
              <a:off x="365760" y="1051560"/>
              <a:ext cx="557784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CARGA HABITUAL</a:t>
              </a:r>
              <a:endParaRPr lang="es-AR" sz="1500" dirty="0">
                <a:latin typeface="Bahnschrift SemiBold Condensed"/>
              </a:endParaRPr>
            </a:p>
          </p:txBody>
        </p:sp>
        <p:sp>
          <p:nvSpPr>
            <p:cNvPr id="16" name="Forma 15"/>
            <p:cNvSpPr/>
            <p:nvPr/>
          </p:nvSpPr>
          <p:spPr>
            <a:xfrm>
              <a:off x="594360" y="1600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Fructosa moderada (fruta entera)</a:t>
              </a:r>
              <a:endParaRPr lang="es-AR" sz="1350" dirty="0">
                <a:latin typeface="Bahnschrift"/>
              </a:endParaRPr>
            </a:p>
          </p:txBody>
        </p:sp>
        <p:sp>
          <p:nvSpPr>
            <p:cNvPr id="17" name="Forma 16"/>
            <p:cNvSpPr/>
            <p:nvPr/>
          </p:nvSpPr>
          <p:spPr>
            <a:xfrm>
              <a:off x="594360" y="2743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Mayor parte captada por el intestino</a:t>
              </a:r>
              <a:endParaRPr lang="es-AR" sz="1350" dirty="0">
                <a:latin typeface="Bahnschrift"/>
              </a:endParaRPr>
            </a:p>
          </p:txBody>
        </p:sp>
        <p:sp>
          <p:nvSpPr>
            <p:cNvPr id="18" name="Flecha 17_2"/>
            <p:cNvSpPr/>
            <p:nvPr/>
          </p:nvSpPr>
          <p:spPr>
            <a:xfrm>
              <a:off x="3154680" y="2523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19" name="Forma 19"/>
            <p:cNvSpPr/>
            <p:nvPr/>
          </p:nvSpPr>
          <p:spPr>
            <a:xfrm>
              <a:off x="594360" y="3886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Hígado: triosas → glucosa, glucógeno, lactato</a:t>
              </a:r>
              <a:endParaRPr lang="es-AR" sz="1350" dirty="0">
                <a:latin typeface="Bahnschrift"/>
              </a:endParaRPr>
            </a:p>
          </p:txBody>
        </p:sp>
        <p:sp>
          <p:nvSpPr>
            <p:cNvPr id="20" name="Flecha 20_2"/>
            <p:cNvSpPr/>
            <p:nvPr/>
          </p:nvSpPr>
          <p:spPr>
            <a:xfrm>
              <a:off x="3154680" y="3666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1" name="Forma 22"/>
            <p:cNvSpPr/>
            <p:nvPr/>
          </p:nvSpPr>
          <p:spPr>
            <a:xfrm>
              <a:off x="594360" y="5029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DNL baja · TAG estables</a:t>
              </a:r>
              <a:endParaRPr lang="es-AR" sz="1350" dirty="0">
                <a:latin typeface="Bahnschrift"/>
              </a:endParaRPr>
            </a:p>
          </p:txBody>
        </p:sp>
        <p:sp>
          <p:nvSpPr>
            <p:cNvPr id="22" name="Flecha 23_2"/>
            <p:cNvSpPr/>
            <p:nvPr/>
          </p:nvSpPr>
          <p:spPr>
            <a:xfrm>
              <a:off x="3154680" y="4809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23" name="Esquema carga alta crónica"/>
          <p:cNvGrpSpPr/>
          <p:nvPr/>
        </p:nvGrpSpPr>
        <p:grpSpPr>
          <a:xfrm>
            <a:off x="6217920" y="1051560"/>
            <a:ext cx="5577840" cy="4983480"/>
            <a:chOff x="6217920" y="1051560"/>
            <a:chExt cx="5577840" cy="4983480"/>
          </a:xfrm>
        </p:grpSpPr>
        <p:sp>
          <p:nvSpPr>
            <p:cNvPr id="24" name="Forma 26"/>
            <p:cNvSpPr/>
            <p:nvPr/>
          </p:nvSpPr>
          <p:spPr>
            <a:xfrm>
              <a:off x="6217920" y="1051560"/>
              <a:ext cx="5577840" cy="49834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25" name="Forma 27"/>
            <p:cNvSpPr/>
            <p:nvPr/>
          </p:nvSpPr>
          <p:spPr>
            <a:xfrm>
              <a:off x="6217920" y="1051560"/>
              <a:ext cx="557784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CARGA ALTA CRÓNICA</a:t>
              </a:r>
              <a:endParaRPr lang="es-AR" sz="1500" dirty="0">
                <a:latin typeface="Bahnschrift SemiBold Condensed"/>
              </a:endParaRPr>
            </a:p>
          </p:txBody>
        </p:sp>
        <p:sp>
          <p:nvSpPr>
            <p:cNvPr id="26" name="Forma 28"/>
            <p:cNvSpPr/>
            <p:nvPr/>
          </p:nvSpPr>
          <p:spPr>
            <a:xfrm>
              <a:off x="6446520" y="1600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Fructosa alta y sostenida (bebidas)</a:t>
              </a:r>
              <a:endParaRPr lang="es-AR" sz="1350" dirty="0">
                <a:latin typeface="Bahnschrift"/>
              </a:endParaRPr>
            </a:p>
          </p:txBody>
        </p:sp>
        <p:sp>
          <p:nvSpPr>
            <p:cNvPr id="27" name="Forma 29"/>
            <p:cNvSpPr/>
            <p:nvPr/>
          </p:nvSpPr>
          <p:spPr>
            <a:xfrm>
              <a:off x="6446520" y="2743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Desborda el intestino → hígado</a:t>
              </a:r>
              <a:endParaRPr lang="es-AR" sz="1350" dirty="0">
                <a:latin typeface="Bahnschrift"/>
              </a:endParaRPr>
            </a:p>
          </p:txBody>
        </p:sp>
        <p:sp>
          <p:nvSpPr>
            <p:cNvPr id="28" name="Flecha 30_2"/>
            <p:cNvSpPr/>
            <p:nvPr/>
          </p:nvSpPr>
          <p:spPr>
            <a:xfrm>
              <a:off x="9006840" y="2523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29" name="Forma 32"/>
            <p:cNvSpPr/>
            <p:nvPr/>
          </p:nvSpPr>
          <p:spPr>
            <a:xfrm>
              <a:off x="6446520" y="3886200"/>
              <a:ext cx="5120640" cy="9144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Triosas sin freno de PFK-1 → ↑ DNL</a:t>
              </a:r>
              <a:endParaRPr lang="es-AR" sz="1350" dirty="0">
                <a:latin typeface="Bahnschrift"/>
              </a:endParaRPr>
            </a:p>
          </p:txBody>
        </p:sp>
        <p:sp>
          <p:nvSpPr>
            <p:cNvPr id="30" name="Flecha 33_2"/>
            <p:cNvSpPr/>
            <p:nvPr/>
          </p:nvSpPr>
          <p:spPr>
            <a:xfrm>
              <a:off x="9006840" y="3666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1" name="Forma 35"/>
            <p:cNvSpPr/>
            <p:nvPr/>
          </p:nvSpPr>
          <p:spPr>
            <a:xfrm>
              <a:off x="6446520" y="5029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TAG hepático (esteatosis) · ↑ VLDL · ↑ urato</a:t>
              </a:r>
              <a:endParaRPr lang="es-AR" sz="1350" dirty="0">
                <a:latin typeface="Bahnschrift"/>
              </a:endParaRPr>
            </a:p>
          </p:txBody>
        </p:sp>
        <p:sp>
          <p:nvSpPr>
            <p:cNvPr id="32" name="Flecha 36_2"/>
            <p:cNvSpPr/>
            <p:nvPr/>
          </p:nvSpPr>
          <p:spPr>
            <a:xfrm>
              <a:off x="9006840" y="48097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33" name="Forma 38"/>
            <p:cNvSpPr txBox="1"/>
            <p:nvPr/>
          </p:nvSpPr>
          <p:spPr>
            <a:xfrm>
              <a:off x="9098280" y="47914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grpSp>
      <p:sp>
        <p:nvSpPr>
          <p:cNvPr id="2" name="Etiqueta sección"/>
          <p:cNvSpPr/>
          <p:nvPr/>
        </p:nvSpPr>
        <p:spPr>
          <a:xfrm>
            <a:off x="9958708" y="201168"/>
            <a:ext cx="195866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2 · FRUCTOSA</a:t>
            </a:r>
            <a:endParaRPr lang="es-AR" sz="1300" dirty="0">
              <a:latin typeface="Bahnschrift SemiBold Condensed"/>
            </a:endParaRPr>
          </a:p>
        </p:txBody>
      </p:sp>
      <p:sp>
        <p:nvSpPr>
          <p:cNvPr id="3" name="Título"/>
          <p:cNvSpPr/>
          <p:nvPr/>
        </p:nvSpPr>
        <p:spPr>
          <a:xfrm>
            <a:off x="274320" y="146304"/>
            <a:ext cx="863550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P2 · ESQUEMA: CARGA HABITUAL FRENTE A CARGA ALTA CRÓNICA</a:t>
            </a:r>
            <a:endParaRPr lang="es-AR" sz="26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Hígado"/>
          <p:cNvGrpSpPr/>
          <p:nvPr/>
        </p:nvGrpSpPr>
        <p:grpSpPr>
          <a:xfrm>
            <a:off x="365760" y="1188720"/>
            <a:ext cx="2560320" cy="1809634"/>
            <a:chOff x="365760" y="1188720"/>
            <a:chExt cx="2560320" cy="1809634"/>
          </a:xfrm>
        </p:grpSpPr>
        <p:sp>
          <p:nvSpPr>
            <p:cNvPr id="14" name="Vesícula biliar"/>
            <p:cNvSpPr/>
            <p:nvPr/>
          </p:nvSpPr>
          <p:spPr>
            <a:xfrm>
              <a:off x="1057046" y="2426891"/>
              <a:ext cx="332842" cy="57146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365760" y="1188720"/>
              <a:ext cx="2560320" cy="1587398"/>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365760" y="1188720"/>
              <a:ext cx="2560320" cy="1587398"/>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365760" y="1188720"/>
              <a:ext cx="2560320" cy="1587398"/>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Cerebro"/>
          <p:cNvGrpSpPr/>
          <p:nvPr/>
        </p:nvGrpSpPr>
        <p:grpSpPr>
          <a:xfrm>
            <a:off x="548640" y="3246120"/>
            <a:ext cx="2194560" cy="1711757"/>
            <a:chOff x="548640" y="3246120"/>
            <a:chExt cx="2194560" cy="1711757"/>
          </a:xfrm>
        </p:grpSpPr>
        <p:sp>
          <p:nvSpPr>
            <p:cNvPr id="19" name="Cerebelo"/>
            <p:cNvSpPr/>
            <p:nvPr/>
          </p:nvSpPr>
          <p:spPr>
            <a:xfrm>
              <a:off x="548640" y="3246120"/>
              <a:ext cx="2194560" cy="171175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20" name="Forma 19"/>
            <p:cNvSpPr/>
            <p:nvPr/>
          </p:nvSpPr>
          <p:spPr>
            <a:xfrm>
              <a:off x="548640" y="3246120"/>
              <a:ext cx="2194560" cy="171175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21" name="Forma 20"/>
            <p:cNvSpPr/>
            <p:nvPr/>
          </p:nvSpPr>
          <p:spPr>
            <a:xfrm>
              <a:off x="548640" y="3246120"/>
              <a:ext cx="2194560" cy="171175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22" name="Forma 21"/>
            <p:cNvSpPr/>
            <p:nvPr/>
          </p:nvSpPr>
          <p:spPr>
            <a:xfrm>
              <a:off x="548640" y="3246120"/>
              <a:ext cx="2194560" cy="171175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23" name="Recuadro Funcionamiento normal"/>
          <p:cNvGrpSpPr/>
          <p:nvPr/>
        </p:nvGrpSpPr>
        <p:grpSpPr>
          <a:xfrm>
            <a:off x="3200400" y="1005840"/>
            <a:ext cx="8595360" cy="2194560"/>
            <a:chOff x="3200400" y="1005840"/>
            <a:chExt cx="8595360" cy="2194560"/>
          </a:xfrm>
        </p:grpSpPr>
        <p:sp>
          <p:nvSpPr>
            <p:cNvPr id="24" name="Forma 23"/>
            <p:cNvSpPr/>
            <p:nvPr/>
          </p:nvSpPr>
          <p:spPr>
            <a:xfrm>
              <a:off x="3200400" y="1188720"/>
              <a:ext cx="8595360" cy="20116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En </a:t>
              </a:r>
              <a:r>
                <a:rPr lang="es-AR" sz="1700" b="1" dirty="0">
                  <a:solidFill>
                    <a:srgbClr val="1E1E1E"/>
                  </a:solidFill>
                  <a:latin typeface="Bahnschrift"/>
                  <a:ea typeface="Bahnschrift"/>
                  <a:cs typeface="Bahnschrift"/>
                  <a:sym typeface="Bahnschrift"/>
                </a:rPr>
                <a:t>ayuno</a:t>
              </a:r>
              <a:r>
                <a:rPr lang="es-AR" sz="1700" dirty="0">
                  <a:solidFill>
                    <a:srgbClr val="1E1E1E"/>
                  </a:solidFill>
                  <a:latin typeface="Bahnschrift"/>
                  <a:ea typeface="Bahnschrift"/>
                  <a:cs typeface="Bahnschrift"/>
                  <a:sym typeface="Bahnschrift"/>
                </a:rPr>
                <a:t> el hígado importa AG largos (</a:t>
              </a:r>
              <a:r>
                <a:rPr lang="es-AR" sz="1700" b="1" dirty="0">
                  <a:solidFill>
                    <a:srgbClr val="1E1E1E"/>
                  </a:solidFill>
                  <a:latin typeface="Bahnschrift"/>
                  <a:ea typeface="Bahnschrift"/>
                  <a:cs typeface="Bahnschrift"/>
                  <a:sym typeface="Bahnschrift"/>
                </a:rPr>
                <a:t>CPT1 → acilcarnitina → CACT → CPT2</a:t>
              </a:r>
              <a:r>
                <a:rPr lang="es-AR" sz="1700" dirty="0">
                  <a:solidFill>
                    <a:srgbClr val="1E1E1E"/>
                  </a:solidFill>
                  <a:latin typeface="Bahnschrift"/>
                  <a:ea typeface="Bahnschrift"/>
                  <a:cs typeface="Bahnschrift"/>
                  <a:sym typeface="Bahnschrift"/>
                </a:rPr>
                <a:t>), los β-oxida y obtiene </a:t>
              </a:r>
              <a:r>
                <a:rPr lang="es-AR" sz="1700" b="1" dirty="0">
                  <a:solidFill>
                    <a:srgbClr val="1E1E1E"/>
                  </a:solidFill>
                  <a:latin typeface="Bahnschrift"/>
                  <a:ea typeface="Bahnschrift"/>
                  <a:cs typeface="Bahnschrift"/>
                  <a:sym typeface="Bahnschrift"/>
                </a:rPr>
                <a:t>ATP/NADH</a:t>
              </a:r>
              <a:r>
                <a:rPr lang="es-AR" sz="1700" dirty="0">
                  <a:solidFill>
                    <a:srgbClr val="1E1E1E"/>
                  </a:solidFill>
                  <a:latin typeface="Bahnschrift"/>
                  <a:ea typeface="Bahnschrift"/>
                  <a:cs typeface="Bahnschrift"/>
                  <a:sym typeface="Bahnschrift"/>
                </a:rPr>
                <a:t> para la gluconeogénesis y </a:t>
              </a:r>
              <a:r>
                <a:rPr lang="es-AR" sz="1700" b="1" dirty="0">
                  <a:solidFill>
                    <a:srgbClr val="1E1E1E"/>
                  </a:solidFill>
                  <a:latin typeface="Bahnschrift"/>
                  <a:ea typeface="Bahnschrift"/>
                  <a:cs typeface="Bahnschrift"/>
                  <a:sym typeface="Bahnschrift"/>
                </a:rPr>
                <a:t>acetil-CoA</a:t>
              </a:r>
              <a:r>
                <a:rPr lang="es-AR" sz="1700" dirty="0">
                  <a:solidFill>
                    <a:srgbClr val="1E1E1E"/>
                  </a:solidFill>
                  <a:latin typeface="Bahnschrift"/>
                  <a:ea typeface="Bahnschrift"/>
                  <a:cs typeface="Bahnschrift"/>
                  <a:sym typeface="Bahnschrift"/>
                </a:rPr>
                <a:t> para </a:t>
              </a:r>
              <a:r>
                <a:rPr lang="es-AR" sz="1700" b="1" dirty="0">
                  <a:solidFill>
                    <a:srgbClr val="1E1E1E"/>
                  </a:solidFill>
                  <a:latin typeface="Bahnschrift"/>
                  <a:ea typeface="Bahnschrift"/>
                  <a:cs typeface="Bahnschrift"/>
                  <a:sym typeface="Bahnschrift"/>
                </a:rPr>
                <a:t>cetogénesis</a:t>
              </a:r>
              <a:r>
                <a:rPr lang="es-AR" sz="1700" dirty="0">
                  <a:solidFill>
                    <a:srgbClr val="1E1E1E"/>
                  </a:solidFill>
                  <a:latin typeface="Bahnschrift"/>
                  <a:ea typeface="Bahnschrift"/>
                  <a:cs typeface="Bahnschrift"/>
                  <a:sym typeface="Bahnschrift"/>
                </a:rPr>
                <a:t> y activar la piruvato carboxilasa: el cerebro recibe </a:t>
              </a:r>
              <a:r>
                <a:rPr lang="es-AR" sz="1700" b="1" dirty="0">
                  <a:solidFill>
                    <a:srgbClr val="1E1E1E"/>
                  </a:solidFill>
                  <a:latin typeface="Bahnschrift"/>
                  <a:ea typeface="Bahnschrift"/>
                  <a:cs typeface="Bahnschrift"/>
                  <a:sym typeface="Bahnschrift"/>
                </a:rPr>
                <a:t>glucosa y cetonas</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5" name="Forma 24"/>
            <p:cNvSpPr/>
            <p:nvPr/>
          </p:nvSpPr>
          <p:spPr>
            <a:xfrm>
              <a:off x="3310128" y="1005840"/>
              <a:ext cx="2336449"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50" dirty="0">
                <a:latin typeface="Bahnschrift SemiBold Condensed"/>
              </a:endParaRPr>
            </a:p>
          </p:txBody>
        </p:sp>
      </p:grpSp>
      <p:grpSp>
        <p:nvGrpSpPr>
          <p:cNvPr id="26" name="Recuadro Alteración primaria"/>
          <p:cNvGrpSpPr/>
          <p:nvPr/>
        </p:nvGrpSpPr>
        <p:grpSpPr>
          <a:xfrm>
            <a:off x="3200400" y="3383280"/>
            <a:ext cx="8595360" cy="2606040"/>
            <a:chOff x="3200400" y="3383280"/>
            <a:chExt cx="8595360" cy="2606040"/>
          </a:xfrm>
        </p:grpSpPr>
        <p:sp>
          <p:nvSpPr>
            <p:cNvPr id="27" name="Forma 26"/>
            <p:cNvSpPr/>
            <p:nvPr/>
          </p:nvSpPr>
          <p:spPr>
            <a:xfrm>
              <a:off x="3200400" y="3566160"/>
              <a:ext cx="8595360" cy="2423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Deficiencia hepática de </a:t>
              </a:r>
              <a:r>
                <a:rPr lang="es-AR" sz="1700" b="1" dirty="0">
                  <a:solidFill>
                    <a:srgbClr val="1E1E1E"/>
                  </a:solidFill>
                  <a:latin typeface="Bahnschrift"/>
                  <a:ea typeface="Bahnschrift"/>
                  <a:cs typeface="Bahnschrift"/>
                  <a:sym typeface="Bahnschrift"/>
                </a:rPr>
                <a:t>CPT1A</a:t>
              </a:r>
              <a:r>
                <a:rPr lang="es-AR" sz="1700" dirty="0">
                  <a:solidFill>
                    <a:srgbClr val="1E1E1E"/>
                  </a:solidFill>
                  <a:latin typeface="Bahnschrift"/>
                  <a:ea typeface="Bahnschrift"/>
                  <a:cs typeface="Bahnschrift"/>
                  <a:sym typeface="Bahnschrift"/>
                </a:rPr>
                <a:t> o de </a:t>
              </a:r>
              <a:r>
                <a:rPr lang="es-AR" sz="1700" b="1" dirty="0">
                  <a:solidFill>
                    <a:srgbClr val="1E1E1E"/>
                  </a:solidFill>
                  <a:latin typeface="Bahnschrift"/>
                  <a:ea typeface="Bahnschrift"/>
                  <a:cs typeface="Bahnschrift"/>
                  <a:sym typeface="Bahnschrift"/>
                </a:rPr>
                <a:t>carnitina</a:t>
              </a:r>
              <a:r>
                <a:rPr lang="es-AR" sz="1700" dirty="0">
                  <a:solidFill>
                    <a:srgbClr val="1E1E1E"/>
                  </a:solidFill>
                  <a:latin typeface="Bahnschrift"/>
                  <a:ea typeface="Bahnschrift"/>
                  <a:cs typeface="Bahnschrift"/>
                  <a:sym typeface="Bahnschrift"/>
                </a:rPr>
                <a:t> utilizable → los AG largos </a:t>
              </a:r>
              <a:r>
                <a:rPr lang="es-AR" sz="1700" b="1" dirty="0">
                  <a:solidFill>
                    <a:srgbClr val="1E1E1E"/>
                  </a:solidFill>
                  <a:latin typeface="Bahnschrift"/>
                  <a:ea typeface="Bahnschrift"/>
                  <a:cs typeface="Bahnschrift"/>
                  <a:sym typeface="Bahnschrift"/>
                </a:rPr>
                <a:t>no atraviesan</a:t>
              </a:r>
              <a:r>
                <a:rPr lang="es-AR" sz="1700" dirty="0">
                  <a:solidFill>
                    <a:srgbClr val="1E1E1E"/>
                  </a:solidFill>
                  <a:latin typeface="Bahnschrift"/>
                  <a:ea typeface="Bahnschrift"/>
                  <a:cs typeface="Bahnschrift"/>
                  <a:sym typeface="Bahnschrift"/>
                </a:rPr>
                <a:t> eficazmente la membrana mitocondrial interna como acil-CoA → ↓ β-oxidación hepática en ayuno.</a:t>
              </a:r>
              <a:endParaRPr lang="es-AR" sz="1700" dirty="0">
                <a:latin typeface="Bahnschrift"/>
              </a:endParaRPr>
            </a:p>
          </p:txBody>
        </p:sp>
        <p:sp>
          <p:nvSpPr>
            <p:cNvPr id="28" name="Forma 27"/>
            <p:cNvSpPr/>
            <p:nvPr/>
          </p:nvSpPr>
          <p:spPr>
            <a:xfrm>
              <a:off x="3310128" y="3383280"/>
              <a:ext cx="2043479"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ALTERACIÓN PRIMARIA</a:t>
              </a:r>
              <a:endParaRPr lang="es-AR" sz="1550" dirty="0">
                <a:latin typeface="Bahnschrift SemiBold Condensed"/>
              </a:endParaRPr>
            </a:p>
          </p:txBody>
        </p:sp>
      </p:grpSp>
      <p:sp>
        <p:nvSpPr>
          <p:cNvPr id="2" name="Etiqueta sección"/>
          <p:cNvSpPr/>
          <p:nvPr/>
        </p:nvSpPr>
        <p:spPr>
          <a:xfrm>
            <a:off x="9473263" y="201168"/>
            <a:ext cx="24441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3 · CPT1 / CARNITINA</a:t>
            </a:r>
            <a:endParaRPr lang="es-AR" sz="1300" dirty="0">
              <a:latin typeface="Bahnschrift SemiBold Condensed"/>
            </a:endParaRPr>
          </a:p>
        </p:txBody>
      </p:sp>
      <p:sp>
        <p:nvSpPr>
          <p:cNvPr id="3" name="Título"/>
          <p:cNvSpPr/>
          <p:nvPr/>
        </p:nvSpPr>
        <p:spPr>
          <a:xfrm>
            <a:off x="274320" y="146304"/>
            <a:ext cx="803019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P3 · DEFICIENCIA DE CPT1 O DE CARNITINA Y APORTE AL SNC</a:t>
            </a:r>
            <a:endParaRPr lang="es-AR" sz="2600" dirty="0">
              <a:latin typeface="Bahnschrift SemiBold Condensed"/>
            </a:endParaRPr>
          </a:p>
        </p:txBody>
      </p:sp>
      <p:sp>
        <p:nvSpPr>
          <p:cNvPr id="2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3"/>
                                        </p:tgtEl>
                                        <p:attrNameLst>
                                          <p:attrName>style.visibility</p:attrName>
                                        </p:attrNameLst>
                                      </p:cBhvr>
                                      <p:to>
                                        <p:strVal val="visible"/>
                                      </p:to>
                                    </p:set>
                                    <p:animEffect transition="in" filter="fade">
                                      <p:cBhvr>
                                        <p:cTn id="5" dur="500"/>
                                        <p:tgtEl>
                                          <p:spTgt spid="2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sp>
        <p:nvSpPr>
          <p:cNvPr id="13" name="Forma 12"/>
          <p:cNvSpPr/>
          <p:nvPr/>
        </p:nvSpPr>
        <p:spPr>
          <a:xfrm>
            <a:off x="365760" y="1005840"/>
            <a:ext cx="6949440" cy="7010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Defecto de importación mitocondrial </a:t>
            </a:r>
            <a:r>
              <a:rPr lang="es-AR" sz="1400" b="1" dirty="0">
                <a:solidFill>
                  <a:srgbClr val="1E1E1E"/>
                </a:solidFill>
                <a:latin typeface="Bahnschrift"/>
                <a:ea typeface="Bahnschrift"/>
                <a:cs typeface="Bahnschrift"/>
                <a:sym typeface="Bahnschrift"/>
              </a:rPr>
              <a:t>hepática</a:t>
            </a:r>
            <a:r>
              <a:rPr lang="es-AR" sz="1400" dirty="0">
                <a:solidFill>
                  <a:srgbClr val="1E1E1E"/>
                </a:solidFill>
                <a:latin typeface="Bahnschrift"/>
                <a:ea typeface="Bahnschrift"/>
                <a:cs typeface="Bahnschrift"/>
                <a:sym typeface="Bahnschrift"/>
              </a:rPr>
              <a:t> (CPT1A / carnitina)</a:t>
            </a:r>
            <a:endParaRPr lang="es-AR" sz="1400" dirty="0">
              <a:latin typeface="Bahnschrift"/>
            </a:endParaRPr>
          </a:p>
        </p:txBody>
      </p:sp>
      <p:sp>
        <p:nvSpPr>
          <p:cNvPr id="14" name="Flecha 13_2"/>
          <p:cNvSpPr/>
          <p:nvPr/>
        </p:nvSpPr>
        <p:spPr>
          <a:xfrm>
            <a:off x="3840480" y="1734312"/>
            <a:ext cx="9144" cy="109728"/>
          </a:xfrm>
          <a:custGeom>
            <a:avLst/>
            <a:gdLst/>
            <a:ahLst/>
            <a:cxnLst/>
            <a:rect l="0" t="0" r="r" b="b"/>
            <a:pathLst>
              <a:path w="10" h="120" fill="none">
                <a:moveTo>
                  <a:pt x="0" y="0"/>
                </a:moveTo>
                <a:lnTo>
                  <a:pt x="0" y="120"/>
                </a:lnTo>
              </a:path>
            </a:pathLst>
          </a:custGeom>
          <a:noFill/>
          <a:ln w="31750" cap="rnd">
            <a:solidFill>
              <a:srgbClr val="C00000"/>
            </a:solidFill>
            <a:round/>
            <a:tailEnd type="triangle" w="med" len="med"/>
          </a:ln>
        </p:spPr>
      </p:sp>
      <p:sp>
        <p:nvSpPr>
          <p:cNvPr id="15" name="Forma 15"/>
          <p:cNvSpPr/>
          <p:nvPr/>
        </p:nvSpPr>
        <p:spPr>
          <a:xfrm>
            <a:off x="365760" y="1871472"/>
            <a:ext cx="6949440" cy="7010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 β-oxidación: ↓ ATP/NADH y ↓ acetil-CoA</a:t>
            </a:r>
            <a:endParaRPr lang="es-AR" sz="1400" dirty="0">
              <a:latin typeface="Bahnschrift"/>
            </a:endParaRPr>
          </a:p>
        </p:txBody>
      </p:sp>
      <p:sp>
        <p:nvSpPr>
          <p:cNvPr id="16" name="Flecha 16_2"/>
          <p:cNvSpPr/>
          <p:nvPr/>
        </p:nvSpPr>
        <p:spPr>
          <a:xfrm>
            <a:off x="3840480" y="2599944"/>
            <a:ext cx="9144" cy="109728"/>
          </a:xfrm>
          <a:custGeom>
            <a:avLst/>
            <a:gdLst/>
            <a:ahLst/>
            <a:cxnLst/>
            <a:rect l="0" t="0" r="r" b="b"/>
            <a:pathLst>
              <a:path w="10" h="120" fill="none">
                <a:moveTo>
                  <a:pt x="0" y="0"/>
                </a:moveTo>
                <a:lnTo>
                  <a:pt x="0" y="120"/>
                </a:lnTo>
              </a:path>
            </a:pathLst>
          </a:custGeom>
          <a:noFill/>
          <a:ln w="31750" cap="rnd">
            <a:solidFill>
              <a:srgbClr val="C00000"/>
            </a:solidFill>
            <a:round/>
            <a:tailEnd type="triangle" w="med" len="med"/>
          </a:ln>
        </p:spPr>
      </p:sp>
      <p:sp>
        <p:nvSpPr>
          <p:cNvPr id="17" name="Forma 18"/>
          <p:cNvSpPr/>
          <p:nvPr/>
        </p:nvSpPr>
        <p:spPr>
          <a:xfrm>
            <a:off x="365760" y="2737104"/>
            <a:ext cx="6949440" cy="7010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 activación de piruvato carboxilasa → ↓ soporte gluconeogénico</a:t>
            </a:r>
            <a:endParaRPr lang="es-AR" sz="1400" dirty="0">
              <a:latin typeface="Bahnschrift"/>
            </a:endParaRPr>
          </a:p>
        </p:txBody>
      </p:sp>
      <p:sp>
        <p:nvSpPr>
          <p:cNvPr id="18" name="Flecha 19_2"/>
          <p:cNvSpPr/>
          <p:nvPr/>
        </p:nvSpPr>
        <p:spPr>
          <a:xfrm>
            <a:off x="3840480" y="3465576"/>
            <a:ext cx="9144" cy="109728"/>
          </a:xfrm>
          <a:custGeom>
            <a:avLst/>
            <a:gdLst/>
            <a:ahLst/>
            <a:cxnLst/>
            <a:rect l="0" t="0" r="r" b="b"/>
            <a:pathLst>
              <a:path w="10" h="120" fill="none">
                <a:moveTo>
                  <a:pt x="0" y="0"/>
                </a:moveTo>
                <a:lnTo>
                  <a:pt x="0" y="120"/>
                </a:lnTo>
              </a:path>
            </a:pathLst>
          </a:custGeom>
          <a:noFill/>
          <a:ln w="31750" cap="rnd">
            <a:solidFill>
              <a:srgbClr val="C00000"/>
            </a:solidFill>
            <a:round/>
            <a:tailEnd type="triangle" w="med" len="med"/>
          </a:ln>
        </p:spPr>
      </p:sp>
      <p:sp>
        <p:nvSpPr>
          <p:cNvPr id="19" name="Forma 21"/>
          <p:cNvSpPr/>
          <p:nvPr/>
        </p:nvSpPr>
        <p:spPr>
          <a:xfrm>
            <a:off x="365760" y="3602736"/>
            <a:ext cx="6949440" cy="7010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 cetogénesis</a:t>
            </a:r>
            <a:endParaRPr lang="es-AR" sz="1400" dirty="0">
              <a:latin typeface="Bahnschrift"/>
            </a:endParaRPr>
          </a:p>
        </p:txBody>
      </p:sp>
      <p:sp>
        <p:nvSpPr>
          <p:cNvPr id="20" name="Flecha 22_2"/>
          <p:cNvSpPr/>
          <p:nvPr/>
        </p:nvSpPr>
        <p:spPr>
          <a:xfrm>
            <a:off x="3840480" y="4331208"/>
            <a:ext cx="9144" cy="109728"/>
          </a:xfrm>
          <a:custGeom>
            <a:avLst/>
            <a:gdLst/>
            <a:ahLst/>
            <a:cxnLst/>
            <a:rect l="0" t="0" r="r" b="b"/>
            <a:pathLst>
              <a:path w="10" h="119" fill="none">
                <a:moveTo>
                  <a:pt x="0" y="0"/>
                </a:moveTo>
                <a:lnTo>
                  <a:pt x="0" y="119"/>
                </a:lnTo>
              </a:path>
            </a:pathLst>
          </a:custGeom>
          <a:noFill/>
          <a:ln w="31750" cap="rnd">
            <a:solidFill>
              <a:srgbClr val="C00000"/>
            </a:solidFill>
            <a:round/>
            <a:tailEnd type="triangle" w="med" len="med"/>
          </a:ln>
        </p:spPr>
      </p:sp>
      <p:sp>
        <p:nvSpPr>
          <p:cNvPr id="21" name="Forma 24"/>
          <p:cNvSpPr/>
          <p:nvPr/>
        </p:nvSpPr>
        <p:spPr>
          <a:xfrm>
            <a:off x="365760" y="4468368"/>
            <a:ext cx="6949440" cy="7010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1E1E1E"/>
                </a:solidFill>
                <a:latin typeface="Bahnschrift"/>
                <a:ea typeface="Bahnschrift"/>
                <a:cs typeface="Bahnschrift"/>
                <a:sym typeface="Bahnschrift"/>
              </a:rPr>
              <a:t>Cerebro: </a:t>
            </a:r>
            <a:r>
              <a:rPr lang="es-AR" sz="1400" b="1" dirty="0">
                <a:solidFill>
                  <a:srgbClr val="1E1E1E"/>
                </a:solidFill>
                <a:latin typeface="Bahnschrift"/>
                <a:ea typeface="Bahnschrift"/>
                <a:cs typeface="Bahnschrift"/>
                <a:sym typeface="Bahnschrift"/>
              </a:rPr>
              <a:t>menos glucosa y menos cetonas</a:t>
            </a:r>
            <a:endParaRPr lang="es-AR" sz="1400" dirty="0">
              <a:latin typeface="Bahnschrift"/>
            </a:endParaRPr>
          </a:p>
        </p:txBody>
      </p:sp>
      <p:sp>
        <p:nvSpPr>
          <p:cNvPr id="22" name="Flecha 25_2"/>
          <p:cNvSpPr/>
          <p:nvPr/>
        </p:nvSpPr>
        <p:spPr>
          <a:xfrm>
            <a:off x="3840480" y="5196840"/>
            <a:ext cx="9144" cy="109728"/>
          </a:xfrm>
          <a:custGeom>
            <a:avLst/>
            <a:gdLst/>
            <a:ahLst/>
            <a:cxnLst/>
            <a:rect l="0" t="0" r="r" b="b"/>
            <a:pathLst>
              <a:path w="10" h="119" fill="none">
                <a:moveTo>
                  <a:pt x="0" y="0"/>
                </a:moveTo>
                <a:lnTo>
                  <a:pt x="0" y="119"/>
                </a:lnTo>
              </a:path>
            </a:pathLst>
          </a:custGeom>
          <a:noFill/>
          <a:ln w="31750" cap="rnd">
            <a:solidFill>
              <a:srgbClr val="C00000"/>
            </a:solidFill>
            <a:round/>
            <a:tailEnd type="triangle" w="med" len="med"/>
          </a:ln>
        </p:spPr>
      </p:sp>
      <p:sp>
        <p:nvSpPr>
          <p:cNvPr id="23" name="Forma 27"/>
          <p:cNvSpPr/>
          <p:nvPr/>
        </p:nvSpPr>
        <p:spPr>
          <a:xfrm>
            <a:off x="365760" y="5334000"/>
            <a:ext cx="6949440" cy="70104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400" dirty="0">
                <a:solidFill>
                  <a:srgbClr val="FFFFFF"/>
                </a:solidFill>
                <a:latin typeface="Bahnschrift"/>
                <a:ea typeface="Bahnschrift"/>
                <a:cs typeface="Bahnschrift"/>
                <a:sym typeface="Bahnschrift"/>
              </a:rPr>
              <a:t>Hipoglucemia </a:t>
            </a:r>
            <a:r>
              <a:rPr lang="es-AR" sz="1400" b="1" dirty="0">
                <a:solidFill>
                  <a:srgbClr val="FFFFFF"/>
                </a:solidFill>
                <a:latin typeface="Bahnschrift"/>
                <a:ea typeface="Bahnschrift"/>
                <a:cs typeface="Bahnschrift"/>
                <a:sym typeface="Bahnschrift"/>
              </a:rPr>
              <a:t>hipocetósica</a:t>
            </a:r>
            <a:r>
              <a:rPr lang="es-AR" sz="1400" dirty="0">
                <a:solidFill>
                  <a:srgbClr val="FFFFFF"/>
                </a:solidFill>
                <a:latin typeface="Bahnschrift"/>
                <a:ea typeface="Bahnschrift"/>
                <a:cs typeface="Bahnschrift"/>
                <a:sym typeface="Bahnschrift"/>
              </a:rPr>
              <a:t>, letargo, convulsiones, encefalopatía</a:t>
            </a:r>
            <a:endParaRPr lang="es-AR" sz="1400" dirty="0">
              <a:latin typeface="Bahnschrift"/>
            </a:endParaRPr>
          </a:p>
        </p:txBody>
      </p:sp>
      <p:sp>
        <p:nvSpPr>
          <p:cNvPr id="24" name="Perla"/>
          <p:cNvSpPr/>
          <p:nvPr/>
        </p:nvSpPr>
        <p:spPr>
          <a:xfrm>
            <a:off x="7589520" y="1005840"/>
            <a:ext cx="4206240" cy="274320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FFFFFF"/>
                </a:solidFill>
                <a:latin typeface="Bahnschrift"/>
                <a:ea typeface="Bahnschrift"/>
                <a:cs typeface="Bahnschrift"/>
                <a:sym typeface="Bahnschrift"/>
              </a:rPr>
              <a:t>Incorrecto: «las neuronas dependen de CPT1 para oxidar AG largos». El cerebro falla </a:t>
            </a:r>
            <a:r>
              <a:rPr lang="es-AR" sz="1650" b="1" dirty="0">
                <a:solidFill>
                  <a:srgbClr val="FFFFFF"/>
                </a:solidFill>
                <a:latin typeface="Bahnschrift"/>
                <a:ea typeface="Bahnschrift"/>
                <a:cs typeface="Bahnschrift"/>
                <a:sym typeface="Bahnschrift"/>
              </a:rPr>
              <a:t>indirectamente</a:t>
            </a:r>
            <a:r>
              <a:rPr lang="es-AR" sz="1650" dirty="0">
                <a:solidFill>
                  <a:srgbClr val="FFFFFF"/>
                </a:solidFill>
                <a:latin typeface="Bahnschrift"/>
                <a:ea typeface="Bahnschrift"/>
                <a:cs typeface="Bahnschrift"/>
                <a:sym typeface="Bahnschrift"/>
              </a:rPr>
              <a:t>, porque el hígado no le provee glucosa ni cetonas.</a:t>
            </a:r>
            <a:endParaRPr lang="es-AR" sz="1650" dirty="0">
              <a:latin typeface="Bahnschrift"/>
            </a:endParaRPr>
          </a:p>
        </p:txBody>
      </p:sp>
      <p:grpSp>
        <p:nvGrpSpPr>
          <p:cNvPr id="25" name="Recuadro Isoformas"/>
          <p:cNvGrpSpPr/>
          <p:nvPr/>
        </p:nvGrpSpPr>
        <p:grpSpPr>
          <a:xfrm>
            <a:off x="7589520" y="3931920"/>
            <a:ext cx="4206240" cy="2103120"/>
            <a:chOff x="7589520" y="3931920"/>
            <a:chExt cx="4206240" cy="2103120"/>
          </a:xfrm>
        </p:grpSpPr>
        <p:sp>
          <p:nvSpPr>
            <p:cNvPr id="26" name="Forma 30"/>
            <p:cNvSpPr/>
            <p:nvPr/>
          </p:nvSpPr>
          <p:spPr>
            <a:xfrm>
              <a:off x="7589520" y="4114800"/>
              <a:ext cx="4206240" cy="19202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CPT1A</a:t>
              </a:r>
              <a:r>
                <a:rPr lang="es-AR" sz="1650" dirty="0">
                  <a:solidFill>
                    <a:srgbClr val="1E1E1E"/>
                  </a:solidFill>
                  <a:latin typeface="Bahnschrift"/>
                  <a:ea typeface="Bahnschrift"/>
                  <a:cs typeface="Bahnschrift"/>
                  <a:sym typeface="Bahnschrift"/>
                </a:rPr>
                <a:t> (hígado) · </a:t>
              </a:r>
              <a:r>
                <a:rPr lang="es-AR" sz="1650" b="1" dirty="0">
                  <a:solidFill>
                    <a:srgbClr val="1E1E1E"/>
                  </a:solidFill>
                  <a:latin typeface="Bahnschrift"/>
                  <a:ea typeface="Bahnschrift"/>
                  <a:cs typeface="Bahnschrift"/>
                  <a:sym typeface="Bahnschrift"/>
                </a:rPr>
                <a:t>CPT1B</a:t>
              </a:r>
              <a:r>
                <a:rPr lang="es-AR" sz="1650" dirty="0">
                  <a:solidFill>
                    <a:srgbClr val="1E1E1E"/>
                  </a:solidFill>
                  <a:latin typeface="Bahnschrift"/>
                  <a:ea typeface="Bahnschrift"/>
                  <a:cs typeface="Bahnschrift"/>
                  <a:sym typeface="Bahnschrift"/>
                </a:rPr>
                <a:t> (músculo) · </a:t>
              </a:r>
              <a:r>
                <a:rPr lang="es-AR" sz="1650" b="1" dirty="0">
                  <a:solidFill>
                    <a:srgbClr val="1E1E1E"/>
                  </a:solidFill>
                  <a:latin typeface="Bahnschrift"/>
                  <a:ea typeface="Bahnschrift"/>
                  <a:cs typeface="Bahnschrift"/>
                  <a:sym typeface="Bahnschrift"/>
                </a:rPr>
                <a:t>CPT1C</a:t>
              </a:r>
              <a:r>
                <a:rPr lang="es-AR" sz="1650" dirty="0">
                  <a:solidFill>
                    <a:srgbClr val="1E1E1E"/>
                  </a:solidFill>
                  <a:latin typeface="Bahnschrift"/>
                  <a:ea typeface="Bahnschrift"/>
                  <a:cs typeface="Bahnschrift"/>
                  <a:sym typeface="Bahnschrift"/>
                </a:rPr>
                <a:t> (predominantemente neuronal, función diferente).</a:t>
              </a:r>
              <a:endParaRPr lang="es-AR" sz="1650" dirty="0">
                <a:latin typeface="Bahnschrift"/>
              </a:endParaRPr>
            </a:p>
          </p:txBody>
        </p:sp>
        <p:sp>
          <p:nvSpPr>
            <p:cNvPr id="27" name="Forma 31"/>
            <p:cNvSpPr/>
            <p:nvPr/>
          </p:nvSpPr>
          <p:spPr>
            <a:xfrm>
              <a:off x="7699248" y="3931920"/>
              <a:ext cx="1154482"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ISOFORMAS</a:t>
              </a:r>
              <a:endParaRPr lang="es-AR" sz="1500" dirty="0">
                <a:latin typeface="Bahnschrift SemiBold Condensed"/>
              </a:endParaRPr>
            </a:p>
          </p:txBody>
        </p:sp>
      </p:grpSp>
      <p:sp>
        <p:nvSpPr>
          <p:cNvPr id="2" name="Etiqueta sección"/>
          <p:cNvSpPr/>
          <p:nvPr/>
        </p:nvSpPr>
        <p:spPr>
          <a:xfrm>
            <a:off x="9473263" y="201168"/>
            <a:ext cx="24441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3 · CPT1 / CARNITINA</a:t>
            </a:r>
            <a:endParaRPr lang="es-AR" sz="1300" dirty="0">
              <a:latin typeface="Bahnschrift SemiBold Condensed"/>
            </a:endParaRPr>
          </a:p>
        </p:txBody>
      </p:sp>
      <p:sp>
        <p:nvSpPr>
          <p:cNvPr id="3" name="Título"/>
          <p:cNvSpPr/>
          <p:nvPr/>
        </p:nvSpPr>
        <p:spPr>
          <a:xfrm>
            <a:off x="274320" y="146304"/>
            <a:ext cx="487062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P3 · LA CADENA CAUSAL CORRECTA</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179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600"/>
                                        <p:tgtEl>
                                          <p:spTgt spid="20"/>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52" fill="hold">
                      <p:stCondLst>
                        <p:cond delay="indefinite"/>
                      </p:stCondLst>
                      <p:childTnLst>
                        <p:par>
                          <p:cTn id="47"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600"/>
                                        <p:tgtEl>
                                          <p:spTgt spid="22"/>
                                        </p:tgtEl>
                                      </p:cBhvr>
                                    </p:animEffect>
                                  </p:childTnLst>
                                </p:cTn>
                              </p:par>
                            </p:childTnLst>
                          </p:cTn>
                        </p:par>
                        <p:par>
                          <p:cTn id="51" fill="hold">
                            <p:stCondLst>
                              <p:cond delay="600"/>
                            </p:stCondLst>
                            <p:childTnLst>
                              <p:par>
                                <p:cTn id="48" presetID="10" presetClass="entr" presetSubtype="0"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childTnLst>
                          </p:cTn>
                        </p:par>
                      </p:childTnLst>
                    </p:cTn>
                  </p:par>
                  <p:par>
                    <p:cTn id="59" fill="hold">
                      <p:stCondLst>
                        <p:cond delay="indefinite"/>
                      </p:stCondLst>
                      <p:childTnLst>
                        <p:par>
                          <p:cTn id="58" fill="hold">
                            <p:stCondLst>
                              <p:cond delay="0"/>
                            </p:stCondLst>
                            <p:childTnLst>
                              <p:par>
                                <p:cTn id="53" presetID="53" presetClass="entr" presetSubtype="16" fill="hold" grpId="0" nodeType="click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p:cTn id="55" dur="500" fill="hold"/>
                                        <p:tgtEl>
                                          <p:spTgt spid="24"/>
                                        </p:tgtEl>
                                        <p:attrNameLst>
                                          <p:attrName>ppt_w</p:attrName>
                                        </p:attrNameLst>
                                      </p:cBhvr>
                                      <p:tavLst>
                                        <p:tav tm="0">
                                          <p:val>
                                            <p:fltVal val="0"/>
                                          </p:val>
                                        </p:tav>
                                        <p:tav tm="100000">
                                          <p:val>
                                            <p:strVal val="#ppt_w"/>
                                          </p:val>
                                        </p:tav>
                                      </p:tavLst>
                                    </p:anim>
                                    <p:anim calcmode="lin" valueType="num">
                                      <p:cBhvr>
                                        <p:cTn id="56" dur="500" fill="hold"/>
                                        <p:tgtEl>
                                          <p:spTgt spid="24"/>
                                        </p:tgtEl>
                                        <p:attrNameLst>
                                          <p:attrName>ppt_h</p:attrName>
                                        </p:attrNameLst>
                                      </p:cBhvr>
                                      <p:tavLst>
                                        <p:tav tm="0">
                                          <p:val>
                                            <p:fltVal val="0"/>
                                          </p:val>
                                        </p:tav>
                                        <p:tav tm="100000">
                                          <p:val>
                                            <p:strVal val="#ppt_h"/>
                                          </p:val>
                                        </p:tav>
                                      </p:tavLst>
                                    </p:anim>
                                    <p:animEffect transition="in" filter="fade">
                                      <p:cBhvr>
                                        <p:cTn id="57" dur="500"/>
                                        <p:tgtEl>
                                          <p:spTgt spid="24"/>
                                        </p:tgtEl>
                                      </p:cBhvr>
                                    </p:animEffect>
                                  </p:childTnLst>
                                </p:cTn>
                              </p:par>
                            </p:childTnLst>
                          </p:cTn>
                        </p:par>
                      </p:childTnLst>
                    </p:cTn>
                  </p:par>
                  <p:par>
                    <p:cTn id="64" fill="hold">
                      <p:stCondLst>
                        <p:cond delay="indefinite"/>
                      </p:stCondLst>
                      <p:childTnLst>
                        <p:par>
                          <p:cTn id="63"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Lst>
  </p:timing>
</p:sld>
</file>

<file path=ppt/slides/slide180.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Clínica y diagnóstico"/>
          <p:cNvGrpSpPr/>
          <p:nvPr/>
        </p:nvGrpSpPr>
        <p:grpSpPr>
          <a:xfrm>
            <a:off x="365760" y="1005840"/>
            <a:ext cx="4206240" cy="5029200"/>
            <a:chOff x="365760" y="1005840"/>
            <a:chExt cx="4206240" cy="5029200"/>
          </a:xfrm>
        </p:grpSpPr>
        <p:sp>
          <p:nvSpPr>
            <p:cNvPr id="14" name="Forma 13"/>
            <p:cNvSpPr/>
            <p:nvPr/>
          </p:nvSpPr>
          <p:spPr>
            <a:xfrm>
              <a:off x="365760" y="1188720"/>
              <a:ext cx="4206240" cy="48463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Crisis tras </a:t>
              </a:r>
              <a:r>
                <a:rPr lang="es-AR" sz="1650" b="1" dirty="0">
                  <a:solidFill>
                    <a:srgbClr val="1E1E1E"/>
                  </a:solidFill>
                  <a:latin typeface="Bahnschrift"/>
                  <a:ea typeface="Bahnschrift"/>
                  <a:cs typeface="Bahnschrift"/>
                  <a:sym typeface="Bahnschrift"/>
                </a:rPr>
                <a:t>enfermedad o ayuno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Hipoglucemia</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Cetonas inadecuadamente bajas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Hepatomegalia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Posible </a:t>
              </a:r>
              <a:r>
                <a:rPr lang="es-AR" sz="1650" b="1" dirty="0">
                  <a:solidFill>
                    <a:srgbClr val="1E1E1E"/>
                  </a:solidFill>
                  <a:latin typeface="Bahnschrift"/>
                  <a:ea typeface="Bahnschrift"/>
                  <a:cs typeface="Bahnschrift"/>
                  <a:sym typeface="Bahnschrift"/>
                </a:rPr>
                <a:t>hiperamonemia</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Perfil de acilcarnitinas</a:t>
              </a:r>
              <a:r>
                <a:rPr lang="es-AR" sz="1650" dirty="0">
                  <a:solidFill>
                    <a:srgbClr val="1E1E1E"/>
                  </a:solidFill>
                  <a:latin typeface="Bahnschrift"/>
                  <a:ea typeface="Bahnschrift"/>
                  <a:cs typeface="Bahnschrift"/>
                  <a:sym typeface="Bahnschrift"/>
                </a:rPr>
                <a:t> y genética orientan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Principio general: </a:t>
              </a:r>
              <a:r>
                <a:rPr lang="es-AR" sz="1650" b="1" dirty="0">
                  <a:solidFill>
                    <a:srgbClr val="1E1E1E"/>
                  </a:solidFill>
                  <a:latin typeface="Bahnschrift"/>
                  <a:ea typeface="Bahnschrift"/>
                  <a:cs typeface="Bahnschrift"/>
                  <a:sym typeface="Bahnschrift"/>
                </a:rPr>
                <a:t>evitar el ayuno prolongado</a:t>
              </a:r>
              <a:endParaRPr lang="es-AR" sz="1650" dirty="0">
                <a:latin typeface="Bahnschrift"/>
              </a:endParaRPr>
            </a:p>
          </p:txBody>
        </p:sp>
        <p:sp>
          <p:nvSpPr>
            <p:cNvPr id="15" name="Forma 14"/>
            <p:cNvSpPr/>
            <p:nvPr/>
          </p:nvSpPr>
          <p:spPr>
            <a:xfrm>
              <a:off x="475488" y="1005840"/>
              <a:ext cx="207254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 Y DIAGNÓSTICO</a:t>
              </a:r>
              <a:endParaRPr lang="es-AR" sz="1500" dirty="0">
                <a:latin typeface="Bahnschrift SemiBold Condensed"/>
              </a:endParaRPr>
            </a:p>
          </p:txBody>
        </p:sp>
      </p:grpSp>
      <p:grpSp>
        <p:nvGrpSpPr>
          <p:cNvPr id="16" name="Esquema funcionamiento normal"/>
          <p:cNvGrpSpPr/>
          <p:nvPr/>
        </p:nvGrpSpPr>
        <p:grpSpPr>
          <a:xfrm>
            <a:off x="4800600" y="1051560"/>
            <a:ext cx="3383280" cy="4526280"/>
            <a:chOff x="4800600" y="1051560"/>
            <a:chExt cx="3383280" cy="4526280"/>
          </a:xfrm>
        </p:grpSpPr>
        <p:sp>
          <p:nvSpPr>
            <p:cNvPr id="17" name="Forma 16"/>
            <p:cNvSpPr/>
            <p:nvPr/>
          </p:nvSpPr>
          <p:spPr>
            <a:xfrm>
              <a:off x="4800600" y="1051560"/>
              <a:ext cx="3383280" cy="45262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18" name="Forma 17"/>
            <p:cNvSpPr/>
            <p:nvPr/>
          </p:nvSpPr>
          <p:spPr>
            <a:xfrm>
              <a:off x="4800600" y="1051560"/>
              <a:ext cx="338328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00" dirty="0">
                <a:latin typeface="Bahnschrift SemiBold Condensed"/>
              </a:endParaRPr>
            </a:p>
          </p:txBody>
        </p:sp>
        <p:sp>
          <p:nvSpPr>
            <p:cNvPr id="19" name="Forma 18"/>
            <p:cNvSpPr/>
            <p:nvPr/>
          </p:nvSpPr>
          <p:spPr>
            <a:xfrm>
              <a:off x="5029200" y="1600200"/>
              <a:ext cx="2926080" cy="8001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Ayuno → AG al hígado</a:t>
              </a:r>
              <a:endParaRPr lang="es-AR" sz="1350" dirty="0">
                <a:latin typeface="Bahnschrift"/>
              </a:endParaRPr>
            </a:p>
          </p:txBody>
        </p:sp>
        <p:sp>
          <p:nvSpPr>
            <p:cNvPr id="20" name="Forma 19"/>
            <p:cNvSpPr/>
            <p:nvPr/>
          </p:nvSpPr>
          <p:spPr>
            <a:xfrm>
              <a:off x="5029200" y="2628900"/>
              <a:ext cx="2926080" cy="8001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CPT1 → β-oxidación</a:t>
              </a:r>
              <a:endParaRPr lang="es-AR" sz="1350" dirty="0">
                <a:latin typeface="Bahnschrift"/>
              </a:endParaRPr>
            </a:p>
          </p:txBody>
        </p:sp>
        <p:sp>
          <p:nvSpPr>
            <p:cNvPr id="21" name="Flecha 20_2"/>
            <p:cNvSpPr/>
            <p:nvPr/>
          </p:nvSpPr>
          <p:spPr>
            <a:xfrm>
              <a:off x="6492240" y="24094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2" name="Forma 22"/>
            <p:cNvSpPr/>
            <p:nvPr/>
          </p:nvSpPr>
          <p:spPr>
            <a:xfrm>
              <a:off x="5029200" y="3657600"/>
              <a:ext cx="2926080" cy="8001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GNG + cetogénesis</a:t>
              </a:r>
              <a:endParaRPr lang="es-AR" sz="1350" dirty="0">
                <a:latin typeface="Bahnschrift"/>
              </a:endParaRPr>
            </a:p>
          </p:txBody>
        </p:sp>
        <p:sp>
          <p:nvSpPr>
            <p:cNvPr id="23" name="Flecha 23_2"/>
            <p:cNvSpPr/>
            <p:nvPr/>
          </p:nvSpPr>
          <p:spPr>
            <a:xfrm>
              <a:off x="6492240" y="34381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4" name="Forma 25"/>
            <p:cNvSpPr/>
            <p:nvPr/>
          </p:nvSpPr>
          <p:spPr>
            <a:xfrm>
              <a:off x="5029200" y="4686300"/>
              <a:ext cx="2926080" cy="8001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Cerebro: glucosa + cetonas</a:t>
              </a:r>
              <a:endParaRPr lang="es-AR" sz="1350" dirty="0">
                <a:latin typeface="Bahnschrift"/>
              </a:endParaRPr>
            </a:p>
          </p:txBody>
        </p:sp>
        <p:sp>
          <p:nvSpPr>
            <p:cNvPr id="25" name="Flecha 26_2"/>
            <p:cNvSpPr/>
            <p:nvPr/>
          </p:nvSpPr>
          <p:spPr>
            <a:xfrm>
              <a:off x="6492240" y="44668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26" name="Esquema alteración patológica"/>
          <p:cNvGrpSpPr/>
          <p:nvPr/>
        </p:nvGrpSpPr>
        <p:grpSpPr>
          <a:xfrm>
            <a:off x="8458200" y="1051560"/>
            <a:ext cx="3383280" cy="4526280"/>
            <a:chOff x="8458200" y="1051560"/>
            <a:chExt cx="3383280" cy="4526280"/>
          </a:xfrm>
        </p:grpSpPr>
        <p:sp>
          <p:nvSpPr>
            <p:cNvPr id="27" name="Forma 29"/>
            <p:cNvSpPr/>
            <p:nvPr/>
          </p:nvSpPr>
          <p:spPr>
            <a:xfrm>
              <a:off x="8458200" y="1051560"/>
              <a:ext cx="3383280" cy="45262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28" name="Forma 30"/>
            <p:cNvSpPr/>
            <p:nvPr/>
          </p:nvSpPr>
          <p:spPr>
            <a:xfrm>
              <a:off x="8458200" y="1051560"/>
              <a:ext cx="338328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ALTERACIÓN PATOLÓGICA</a:t>
              </a:r>
              <a:endParaRPr lang="es-AR" sz="1500" dirty="0">
                <a:latin typeface="Bahnschrift SemiBold Condensed"/>
              </a:endParaRPr>
            </a:p>
          </p:txBody>
        </p:sp>
        <p:sp>
          <p:nvSpPr>
            <p:cNvPr id="29" name="Forma 31"/>
            <p:cNvSpPr/>
            <p:nvPr/>
          </p:nvSpPr>
          <p:spPr>
            <a:xfrm>
              <a:off x="8686800" y="1600200"/>
              <a:ext cx="2926080" cy="8001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Ayuno → AG al hígado</a:t>
              </a:r>
              <a:endParaRPr lang="es-AR" sz="1350" dirty="0">
                <a:latin typeface="Bahnschrift"/>
              </a:endParaRPr>
            </a:p>
          </p:txBody>
        </p:sp>
        <p:sp>
          <p:nvSpPr>
            <p:cNvPr id="30" name="Forma 32"/>
            <p:cNvSpPr/>
            <p:nvPr/>
          </p:nvSpPr>
          <p:spPr>
            <a:xfrm>
              <a:off x="8686800" y="2628900"/>
              <a:ext cx="2926080" cy="8001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CPT1/carnitina deficiente</a:t>
              </a:r>
              <a:endParaRPr lang="es-AR" sz="1350" dirty="0">
                <a:latin typeface="Bahnschrift"/>
              </a:endParaRPr>
            </a:p>
          </p:txBody>
        </p:sp>
        <p:sp>
          <p:nvSpPr>
            <p:cNvPr id="31" name="Flecha 33_2"/>
            <p:cNvSpPr/>
            <p:nvPr/>
          </p:nvSpPr>
          <p:spPr>
            <a:xfrm>
              <a:off x="10149840" y="24094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2" name="Forma 35"/>
            <p:cNvSpPr/>
            <p:nvPr/>
          </p:nvSpPr>
          <p:spPr>
            <a:xfrm>
              <a:off x="8686800" y="3657600"/>
              <a:ext cx="2926080" cy="8001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GNG · ↓ cetogénesis</a:t>
              </a:r>
              <a:endParaRPr lang="es-AR" sz="1350" dirty="0">
                <a:latin typeface="Bahnschrift"/>
              </a:endParaRPr>
            </a:p>
          </p:txBody>
        </p:sp>
        <p:sp>
          <p:nvSpPr>
            <p:cNvPr id="33" name="Flecha 36_2"/>
            <p:cNvSpPr/>
            <p:nvPr/>
          </p:nvSpPr>
          <p:spPr>
            <a:xfrm>
              <a:off x="10149840" y="34381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34" name="Forma 38"/>
            <p:cNvSpPr txBox="1"/>
            <p:nvPr/>
          </p:nvSpPr>
          <p:spPr>
            <a:xfrm>
              <a:off x="10241280" y="34198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35" name="Forma 39"/>
            <p:cNvSpPr/>
            <p:nvPr/>
          </p:nvSpPr>
          <p:spPr>
            <a:xfrm>
              <a:off x="8686800" y="4686300"/>
              <a:ext cx="2926080" cy="8001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Hipoglucemia hipocetósica</a:t>
              </a:r>
              <a:endParaRPr lang="es-AR" sz="1350" dirty="0">
                <a:latin typeface="Bahnschrift"/>
              </a:endParaRPr>
            </a:p>
          </p:txBody>
        </p:sp>
        <p:sp>
          <p:nvSpPr>
            <p:cNvPr id="36" name="Flecha 40_2"/>
            <p:cNvSpPr/>
            <p:nvPr/>
          </p:nvSpPr>
          <p:spPr>
            <a:xfrm>
              <a:off x="10149840" y="44668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grpSp>
      <p:sp>
        <p:nvSpPr>
          <p:cNvPr id="37" name="Forma 42"/>
          <p:cNvSpPr txBox="1"/>
          <p:nvPr/>
        </p:nvSpPr>
        <p:spPr>
          <a:xfrm>
            <a:off x="4800600" y="5715000"/>
            <a:ext cx="6949440" cy="365760"/>
          </a:xfrm>
          <a:prstGeom prst="rect">
            <a:avLst/>
          </a:prstGeom>
          <a:noFill/>
          <a:ln>
            <a:noFill/>
          </a:ln>
        </p:spPr>
        <p:txBody>
          <a:bodyPr wrap="square" lIns="0" tIns="0" rIns="0" bIns="0" anchor="ctr" rtlCol="0">
            <a:noAutofit/>
          </a:bodyPr>
          <a:lstStyle/>
          <a:p>
            <a:pPr algn="l">
              <a:spcAft>
                <a:spcPts val="300"/>
              </a:spcAft>
              <a:buNone/>
            </a:pPr>
            <a:r>
              <a:rPr lang="es-AR" sz="1200" dirty="0">
                <a:solidFill>
                  <a:srgbClr val="1E1E1E"/>
                </a:solidFill>
                <a:latin typeface="Bahnschrift"/>
                <a:ea typeface="Bahnschrift"/>
                <a:cs typeface="Bahnschrift"/>
                <a:sym typeface="Bahnschrift"/>
              </a:rPr>
              <a:t>Deficiencia </a:t>
            </a:r>
            <a:r>
              <a:rPr lang="es-AR" sz="1200" b="1" dirty="0">
                <a:solidFill>
                  <a:srgbClr val="1E1E1E"/>
                </a:solidFill>
                <a:latin typeface="Bahnschrift"/>
                <a:ea typeface="Bahnschrift"/>
                <a:cs typeface="Bahnschrift"/>
                <a:sym typeface="Bahnschrift"/>
              </a:rPr>
              <a:t>sistémica</a:t>
            </a:r>
            <a:r>
              <a:rPr lang="es-AR" sz="1200" dirty="0">
                <a:solidFill>
                  <a:srgbClr val="1E1E1E"/>
                </a:solidFill>
                <a:latin typeface="Bahnschrift"/>
                <a:ea typeface="Bahnschrift"/>
                <a:cs typeface="Bahnschrift"/>
                <a:sym typeface="Bahnschrift"/>
              </a:rPr>
              <a:t> de carnitina: puede afectar también </a:t>
            </a:r>
            <a:r>
              <a:rPr lang="es-AR" sz="1200" b="1" dirty="0">
                <a:solidFill>
                  <a:srgbClr val="1E1E1E"/>
                </a:solidFill>
                <a:latin typeface="Bahnschrift"/>
                <a:ea typeface="Bahnschrift"/>
                <a:cs typeface="Bahnschrift"/>
                <a:sym typeface="Bahnschrift"/>
              </a:rPr>
              <a:t>miocardio y músculo</a:t>
            </a:r>
            <a:r>
              <a:rPr lang="es-AR" sz="1200" dirty="0">
                <a:solidFill>
                  <a:srgbClr val="1E1E1E"/>
                </a:solidFill>
                <a:latin typeface="Bahnschrift"/>
                <a:ea typeface="Bahnschrift"/>
                <a:cs typeface="Bahnschrift"/>
                <a:sym typeface="Bahnschrift"/>
              </a:rPr>
              <a:t> (≠ defecto aislado de CPT1A).</a:t>
            </a:r>
            <a:endParaRPr lang="es-AR" sz="1200" dirty="0">
              <a:latin typeface="Bahnschrift"/>
            </a:endParaRPr>
          </a:p>
        </p:txBody>
      </p:sp>
      <p:sp>
        <p:nvSpPr>
          <p:cNvPr id="2" name="Etiqueta sección"/>
          <p:cNvSpPr/>
          <p:nvPr/>
        </p:nvSpPr>
        <p:spPr>
          <a:xfrm>
            <a:off x="9473263" y="201168"/>
            <a:ext cx="24441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3 · CPT1 / CARNITINA</a:t>
            </a:r>
            <a:endParaRPr lang="es-AR" sz="1300" dirty="0">
              <a:latin typeface="Bahnschrift SemiBold Condensed"/>
            </a:endParaRPr>
          </a:p>
        </p:txBody>
      </p:sp>
      <p:sp>
        <p:nvSpPr>
          <p:cNvPr id="3" name="Título"/>
          <p:cNvSpPr/>
          <p:nvPr/>
        </p:nvSpPr>
        <p:spPr>
          <a:xfrm>
            <a:off x="274320" y="146304"/>
            <a:ext cx="531439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P3 · CLÍNICA, DIAGNÓSTICO Y ESQUEMA</a:t>
            </a:r>
            <a:endParaRPr lang="es-AR" sz="2600" dirty="0">
              <a:latin typeface="Bahnschrift SemiBold Condensed"/>
            </a:endParaRPr>
          </a:p>
        </p:txBody>
      </p:sp>
      <p:sp>
        <p:nvSpPr>
          <p:cNvPr id="3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181.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Funcionamiento normal"/>
          <p:cNvGrpSpPr/>
          <p:nvPr/>
        </p:nvGrpSpPr>
        <p:grpSpPr>
          <a:xfrm>
            <a:off x="365760" y="1005840"/>
            <a:ext cx="5577840" cy="2103120"/>
            <a:chOff x="365760" y="1005840"/>
            <a:chExt cx="5577840" cy="2103120"/>
          </a:xfrm>
        </p:grpSpPr>
        <p:sp>
          <p:nvSpPr>
            <p:cNvPr id="14" name="Forma 13"/>
            <p:cNvSpPr/>
            <p:nvPr/>
          </p:nvSpPr>
          <p:spPr>
            <a:xfrm>
              <a:off x="365760" y="1188720"/>
              <a:ext cx="5577840" cy="192024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Los AG </a:t>
              </a:r>
              <a:r>
                <a:rPr lang="es-AR" sz="1700" b="1" dirty="0">
                  <a:solidFill>
                    <a:srgbClr val="1E1E1E"/>
                  </a:solidFill>
                  <a:latin typeface="Bahnschrift"/>
                  <a:ea typeface="Bahnschrift"/>
                  <a:cs typeface="Bahnschrift"/>
                  <a:sym typeface="Bahnschrift"/>
                </a:rPr>
                <a:t>largos</a:t>
              </a:r>
              <a:r>
                <a:rPr lang="es-AR" sz="1700" dirty="0">
                  <a:solidFill>
                    <a:srgbClr val="1E1E1E"/>
                  </a:solidFill>
                  <a:latin typeface="Bahnschrift"/>
                  <a:ea typeface="Bahnschrift"/>
                  <a:cs typeface="Bahnschrift"/>
                  <a:sym typeface="Bahnschrift"/>
                </a:rPr>
                <a:t> viajan en </a:t>
              </a:r>
              <a:r>
                <a:rPr lang="es-AR" sz="1700" b="1" dirty="0">
                  <a:solidFill>
                    <a:srgbClr val="1E1E1E"/>
                  </a:solidFill>
                  <a:latin typeface="Bahnschrift"/>
                  <a:ea typeface="Bahnschrift"/>
                  <a:cs typeface="Bahnschrift"/>
                  <a:sym typeface="Bahnschrift"/>
                </a:rPr>
                <a:t>QM</a:t>
              </a:r>
              <a:r>
                <a:rPr lang="es-AR" sz="1700" dirty="0">
                  <a:solidFill>
                    <a:srgbClr val="1E1E1E"/>
                  </a:solidFill>
                  <a:latin typeface="Bahnschrift"/>
                  <a:ea typeface="Bahnschrift"/>
                  <a:cs typeface="Bahnschrift"/>
                  <a:sym typeface="Bahnschrift"/>
                </a:rPr>
                <a:t>; la </a:t>
              </a:r>
              <a:r>
                <a:rPr lang="es-AR" sz="1700" b="1" dirty="0">
                  <a:solidFill>
                    <a:srgbClr val="1E1E1E"/>
                  </a:solidFill>
                  <a:latin typeface="Bahnschrift"/>
                  <a:ea typeface="Bahnschrift"/>
                  <a:cs typeface="Bahnschrift"/>
                  <a:sym typeface="Bahnschrift"/>
                </a:rPr>
                <a:t>LPL</a:t>
              </a:r>
              <a:r>
                <a:rPr lang="es-AR" sz="1700" dirty="0">
                  <a:solidFill>
                    <a:srgbClr val="1E1E1E"/>
                  </a:solidFill>
                  <a:latin typeface="Bahnschrift"/>
                  <a:ea typeface="Bahnschrift"/>
                  <a:cs typeface="Bahnschrift"/>
                  <a:sym typeface="Bahnschrift"/>
                </a:rPr>
                <a:t> (con ApoC-II, GPIHBP1, APOA5) hidroliza sus TAG en los capilares.</a:t>
              </a:r>
              <a:endParaRPr lang="es-AR" sz="1700" dirty="0">
                <a:latin typeface="Bahnschrift"/>
              </a:endParaRPr>
            </a:p>
          </p:txBody>
        </p:sp>
        <p:sp>
          <p:nvSpPr>
            <p:cNvPr id="15" name="Forma 14"/>
            <p:cNvSpPr/>
            <p:nvPr/>
          </p:nvSpPr>
          <p:spPr>
            <a:xfrm>
              <a:off x="475488" y="1005840"/>
              <a:ext cx="2336449"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50" dirty="0">
                <a:latin typeface="Bahnschrift SemiBold Condensed"/>
              </a:endParaRPr>
            </a:p>
          </p:txBody>
        </p:sp>
      </p:grpSp>
      <p:grpSp>
        <p:nvGrpSpPr>
          <p:cNvPr id="16" name="Recuadro Alteración primaria"/>
          <p:cNvGrpSpPr/>
          <p:nvPr/>
        </p:nvGrpSpPr>
        <p:grpSpPr>
          <a:xfrm>
            <a:off x="6217920" y="1005840"/>
            <a:ext cx="5577840" cy="2103120"/>
            <a:chOff x="6217920" y="1005840"/>
            <a:chExt cx="5577840" cy="2103120"/>
          </a:xfrm>
        </p:grpSpPr>
        <p:sp>
          <p:nvSpPr>
            <p:cNvPr id="17" name="Forma 16"/>
            <p:cNvSpPr/>
            <p:nvPr/>
          </p:nvSpPr>
          <p:spPr>
            <a:xfrm>
              <a:off x="6217920" y="1188720"/>
              <a:ext cx="5577840" cy="19202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Alteración grave de </a:t>
              </a:r>
              <a:r>
                <a:rPr lang="es-AR" sz="1700" b="1" dirty="0">
                  <a:solidFill>
                    <a:srgbClr val="1E1E1E"/>
                  </a:solidFill>
                  <a:latin typeface="Bahnschrift"/>
                  <a:ea typeface="Bahnschrift"/>
                  <a:cs typeface="Bahnschrift"/>
                  <a:sym typeface="Bahnschrift"/>
                </a:rPr>
                <a:t>LPL</a:t>
              </a:r>
              <a:r>
                <a:rPr lang="es-AR" sz="1700" dirty="0">
                  <a:solidFill>
                    <a:srgbClr val="1E1E1E"/>
                  </a:solidFill>
                  <a:latin typeface="Bahnschrift"/>
                  <a:ea typeface="Bahnschrift"/>
                  <a:cs typeface="Bahnschrift"/>
                  <a:sym typeface="Bahnschrift"/>
                </a:rPr>
                <a:t> o proteínas relacionadas → los QM se depuran mal → </a:t>
              </a:r>
              <a:r>
                <a:rPr lang="es-AR" sz="1700" b="1" dirty="0">
                  <a:solidFill>
                    <a:srgbClr val="1E1E1E"/>
                  </a:solidFill>
                  <a:latin typeface="Bahnschrift"/>
                  <a:ea typeface="Bahnschrift"/>
                  <a:cs typeface="Bahnschrift"/>
                  <a:sym typeface="Bahnschrift"/>
                </a:rPr>
                <a:t>TAG muy elevados</a:t>
              </a:r>
              <a:r>
                <a:rPr lang="es-AR" sz="1700" dirty="0">
                  <a:solidFill>
                    <a:srgbClr val="1E1E1E"/>
                  </a:solidFill>
                  <a:latin typeface="Bahnschrift"/>
                  <a:ea typeface="Bahnschrift"/>
                  <a:cs typeface="Bahnschrift"/>
                  <a:sym typeface="Bahnschrift"/>
                </a:rPr>
                <a:t> y riesgo de </a:t>
              </a:r>
              <a:r>
                <a:rPr lang="es-AR" sz="1700" b="1" dirty="0">
                  <a:solidFill>
                    <a:srgbClr val="1E1E1E"/>
                  </a:solidFill>
                  <a:latin typeface="Bahnschrift"/>
                  <a:ea typeface="Bahnschrift"/>
                  <a:cs typeface="Bahnschrift"/>
                  <a:sym typeface="Bahnschrift"/>
                </a:rPr>
                <a:t>pancreatitis</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18" name="Forma 17"/>
            <p:cNvSpPr/>
            <p:nvPr/>
          </p:nvSpPr>
          <p:spPr>
            <a:xfrm>
              <a:off x="6327648" y="1005840"/>
              <a:ext cx="2043479"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50" b="1" dirty="0">
                  <a:solidFill>
                    <a:srgbClr val="FFFFFF"/>
                  </a:solidFill>
                  <a:latin typeface="Bahnschrift SemiBold Condensed"/>
                  <a:ea typeface="Bahnschrift SemiBold Condensed"/>
                  <a:cs typeface="Bahnschrift SemiBold Condensed"/>
                  <a:sym typeface="Bahnschrift SemiBold Condensed"/>
                </a:rPr>
                <a:t>ALTERACIÓN PRIMARIA</a:t>
              </a:r>
              <a:endParaRPr lang="es-AR" sz="1550" dirty="0">
                <a:latin typeface="Bahnschrift SemiBold Condensed"/>
              </a:endParaRPr>
            </a:p>
          </p:txBody>
        </p:sp>
      </p:grpSp>
      <p:grpSp>
        <p:nvGrpSpPr>
          <p:cNvPr id="19" name="Capilar con QM"/>
          <p:cNvGrpSpPr/>
          <p:nvPr/>
        </p:nvGrpSpPr>
        <p:grpSpPr>
          <a:xfrm>
            <a:off x="365760" y="3383280"/>
            <a:ext cx="11430000" cy="1005840"/>
            <a:chOff x="365760" y="3383280"/>
            <a:chExt cx="11430000" cy="1005840"/>
          </a:xfrm>
        </p:grpSpPr>
        <p:sp>
          <p:nvSpPr>
            <p:cNvPr id="20" name="Forma 19"/>
            <p:cNvSpPr/>
            <p:nvPr/>
          </p:nvSpPr>
          <p:spPr>
            <a:xfrm>
              <a:off x="365760" y="3383280"/>
              <a:ext cx="11430000" cy="10058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21" name="Forma 20"/>
            <p:cNvSpPr/>
            <p:nvPr/>
          </p:nvSpPr>
          <p:spPr>
            <a:xfrm>
              <a:off x="516636" y="3564331"/>
              <a:ext cx="11128248" cy="643738"/>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22" name="Eritrocito"/>
            <p:cNvSpPr/>
            <p:nvPr/>
          </p:nvSpPr>
          <p:spPr>
            <a:xfrm>
              <a:off x="2699148" y="3873081"/>
              <a:ext cx="422453" cy="42245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23" name="Eritrocito_2"/>
            <p:cNvSpPr/>
            <p:nvPr/>
          </p:nvSpPr>
          <p:spPr>
            <a:xfrm>
              <a:off x="6100351" y="3656082"/>
              <a:ext cx="422453" cy="42245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24" name="QM acumulado 0"/>
          <p:cNvGrpSpPr/>
          <p:nvPr/>
        </p:nvGrpSpPr>
        <p:grpSpPr>
          <a:xfrm>
            <a:off x="914400" y="3429000"/>
            <a:ext cx="914400" cy="914400"/>
            <a:chOff x="914400" y="3429000"/>
            <a:chExt cx="914400" cy="914400"/>
          </a:xfrm>
        </p:grpSpPr>
        <p:sp>
          <p:nvSpPr>
            <p:cNvPr id="25" name="Forma 24"/>
            <p:cNvSpPr/>
            <p:nvPr/>
          </p:nvSpPr>
          <p:spPr>
            <a:xfrm>
              <a:off x="91440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26" name="Forma 25"/>
            <p:cNvSpPr/>
            <p:nvPr/>
          </p:nvSpPr>
          <p:spPr>
            <a:xfrm>
              <a:off x="91440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7" name="Forma 26"/>
            <p:cNvSpPr/>
            <p:nvPr/>
          </p:nvSpPr>
          <p:spPr>
            <a:xfrm>
              <a:off x="91440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28" name="Forma 27"/>
            <p:cNvSpPr txBox="1"/>
            <p:nvPr/>
          </p:nvSpPr>
          <p:spPr>
            <a:xfrm>
              <a:off x="91440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29" name="QM acumulado 1"/>
          <p:cNvGrpSpPr/>
          <p:nvPr/>
        </p:nvGrpSpPr>
        <p:grpSpPr>
          <a:xfrm>
            <a:off x="2103120" y="3429000"/>
            <a:ext cx="914400" cy="914400"/>
            <a:chOff x="2103120" y="3429000"/>
            <a:chExt cx="914400" cy="914400"/>
          </a:xfrm>
        </p:grpSpPr>
        <p:sp>
          <p:nvSpPr>
            <p:cNvPr id="30" name="Forma 29"/>
            <p:cNvSpPr/>
            <p:nvPr/>
          </p:nvSpPr>
          <p:spPr>
            <a:xfrm>
              <a:off x="210312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1" name="Forma 30"/>
            <p:cNvSpPr/>
            <p:nvPr/>
          </p:nvSpPr>
          <p:spPr>
            <a:xfrm>
              <a:off x="210312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2" name="Forma 31"/>
            <p:cNvSpPr/>
            <p:nvPr/>
          </p:nvSpPr>
          <p:spPr>
            <a:xfrm>
              <a:off x="210312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33" name="Forma 32"/>
            <p:cNvSpPr txBox="1"/>
            <p:nvPr/>
          </p:nvSpPr>
          <p:spPr>
            <a:xfrm>
              <a:off x="210312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34" name="QM acumulado 2"/>
          <p:cNvGrpSpPr/>
          <p:nvPr/>
        </p:nvGrpSpPr>
        <p:grpSpPr>
          <a:xfrm>
            <a:off x="3291840" y="3429000"/>
            <a:ext cx="914400" cy="914400"/>
            <a:chOff x="3291840" y="3429000"/>
            <a:chExt cx="914400" cy="914400"/>
          </a:xfrm>
        </p:grpSpPr>
        <p:sp>
          <p:nvSpPr>
            <p:cNvPr id="35" name="Forma 34"/>
            <p:cNvSpPr/>
            <p:nvPr/>
          </p:nvSpPr>
          <p:spPr>
            <a:xfrm>
              <a:off x="329184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36" name="Forma 35"/>
            <p:cNvSpPr/>
            <p:nvPr/>
          </p:nvSpPr>
          <p:spPr>
            <a:xfrm>
              <a:off x="329184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37" name="Forma 36"/>
            <p:cNvSpPr/>
            <p:nvPr/>
          </p:nvSpPr>
          <p:spPr>
            <a:xfrm>
              <a:off x="329184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38" name="Forma 37"/>
            <p:cNvSpPr txBox="1"/>
            <p:nvPr/>
          </p:nvSpPr>
          <p:spPr>
            <a:xfrm>
              <a:off x="329184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39" name="QM acumulado 3"/>
          <p:cNvGrpSpPr/>
          <p:nvPr/>
        </p:nvGrpSpPr>
        <p:grpSpPr>
          <a:xfrm>
            <a:off x="4480560" y="3429000"/>
            <a:ext cx="914400" cy="914400"/>
            <a:chOff x="4480560" y="3429000"/>
            <a:chExt cx="914400" cy="914400"/>
          </a:xfrm>
        </p:grpSpPr>
        <p:sp>
          <p:nvSpPr>
            <p:cNvPr id="40" name="Forma 39"/>
            <p:cNvSpPr/>
            <p:nvPr/>
          </p:nvSpPr>
          <p:spPr>
            <a:xfrm>
              <a:off x="448056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1" name="Forma 40"/>
            <p:cNvSpPr/>
            <p:nvPr/>
          </p:nvSpPr>
          <p:spPr>
            <a:xfrm>
              <a:off x="448056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2" name="Forma 41"/>
            <p:cNvSpPr/>
            <p:nvPr/>
          </p:nvSpPr>
          <p:spPr>
            <a:xfrm>
              <a:off x="448056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43" name="Forma 42"/>
            <p:cNvSpPr txBox="1"/>
            <p:nvPr/>
          </p:nvSpPr>
          <p:spPr>
            <a:xfrm>
              <a:off x="448056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44" name="QM acumulado 4"/>
          <p:cNvGrpSpPr/>
          <p:nvPr/>
        </p:nvGrpSpPr>
        <p:grpSpPr>
          <a:xfrm>
            <a:off x="5669280" y="3429000"/>
            <a:ext cx="914400" cy="914400"/>
            <a:chOff x="5669280" y="3429000"/>
            <a:chExt cx="914400" cy="914400"/>
          </a:xfrm>
        </p:grpSpPr>
        <p:sp>
          <p:nvSpPr>
            <p:cNvPr id="45" name="Forma 44"/>
            <p:cNvSpPr/>
            <p:nvPr/>
          </p:nvSpPr>
          <p:spPr>
            <a:xfrm>
              <a:off x="566928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6" name="Forma 45"/>
            <p:cNvSpPr/>
            <p:nvPr/>
          </p:nvSpPr>
          <p:spPr>
            <a:xfrm>
              <a:off x="566928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7" name="Forma 46"/>
            <p:cNvSpPr/>
            <p:nvPr/>
          </p:nvSpPr>
          <p:spPr>
            <a:xfrm>
              <a:off x="566928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48" name="Forma 47"/>
            <p:cNvSpPr txBox="1"/>
            <p:nvPr/>
          </p:nvSpPr>
          <p:spPr>
            <a:xfrm>
              <a:off x="566928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49" name="QM acumulado 5"/>
          <p:cNvGrpSpPr/>
          <p:nvPr/>
        </p:nvGrpSpPr>
        <p:grpSpPr>
          <a:xfrm>
            <a:off x="6858000" y="3429000"/>
            <a:ext cx="914400" cy="914400"/>
            <a:chOff x="6858000" y="3429000"/>
            <a:chExt cx="914400" cy="914400"/>
          </a:xfrm>
        </p:grpSpPr>
        <p:sp>
          <p:nvSpPr>
            <p:cNvPr id="50" name="Forma 49"/>
            <p:cNvSpPr/>
            <p:nvPr/>
          </p:nvSpPr>
          <p:spPr>
            <a:xfrm>
              <a:off x="685800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1" name="Forma 50"/>
            <p:cNvSpPr/>
            <p:nvPr/>
          </p:nvSpPr>
          <p:spPr>
            <a:xfrm>
              <a:off x="685800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2" name="Forma 51"/>
            <p:cNvSpPr/>
            <p:nvPr/>
          </p:nvSpPr>
          <p:spPr>
            <a:xfrm>
              <a:off x="685800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53" name="Forma 52"/>
            <p:cNvSpPr txBox="1"/>
            <p:nvPr/>
          </p:nvSpPr>
          <p:spPr>
            <a:xfrm>
              <a:off x="685800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54" name="QM acumulado 6"/>
          <p:cNvGrpSpPr/>
          <p:nvPr/>
        </p:nvGrpSpPr>
        <p:grpSpPr>
          <a:xfrm>
            <a:off x="8046720" y="3429000"/>
            <a:ext cx="914400" cy="914400"/>
            <a:chOff x="8046720" y="3429000"/>
            <a:chExt cx="914400" cy="914400"/>
          </a:xfrm>
        </p:grpSpPr>
        <p:sp>
          <p:nvSpPr>
            <p:cNvPr id="55" name="Forma 54"/>
            <p:cNvSpPr/>
            <p:nvPr/>
          </p:nvSpPr>
          <p:spPr>
            <a:xfrm>
              <a:off x="804672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6" name="Forma 55"/>
            <p:cNvSpPr/>
            <p:nvPr/>
          </p:nvSpPr>
          <p:spPr>
            <a:xfrm>
              <a:off x="804672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7" name="Forma 56"/>
            <p:cNvSpPr/>
            <p:nvPr/>
          </p:nvSpPr>
          <p:spPr>
            <a:xfrm>
              <a:off x="804672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58" name="Forma 57"/>
            <p:cNvSpPr txBox="1"/>
            <p:nvPr/>
          </p:nvSpPr>
          <p:spPr>
            <a:xfrm>
              <a:off x="804672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grpSp>
        <p:nvGrpSpPr>
          <p:cNvPr id="59" name="QM acumulado 7"/>
          <p:cNvGrpSpPr/>
          <p:nvPr/>
        </p:nvGrpSpPr>
        <p:grpSpPr>
          <a:xfrm>
            <a:off x="9235440" y="3429000"/>
            <a:ext cx="914400" cy="914400"/>
            <a:chOff x="9235440" y="3429000"/>
            <a:chExt cx="914400" cy="914400"/>
          </a:xfrm>
        </p:grpSpPr>
        <p:sp>
          <p:nvSpPr>
            <p:cNvPr id="60" name="Forma 59"/>
            <p:cNvSpPr/>
            <p:nvPr/>
          </p:nvSpPr>
          <p:spPr>
            <a:xfrm>
              <a:off x="9235440" y="3429000"/>
              <a:ext cx="914400" cy="914400"/>
            </a:xfrm>
            <a:prstGeom prst="ellipse">
              <a:avLst/>
            </a:prstGeom>
            <a:gradFill rotWithShape="1">
              <a:gsLst>
                <a:gs pos="0">
                  <a:srgbClr val="FBF1C5"/>
                </a:gs>
                <a:gs pos="70000">
                  <a:srgbClr val="F7DC6F"/>
                </a:gs>
                <a:gs pos="100000">
                  <a:srgbClr val="C5B058"/>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61" name="Forma 60"/>
            <p:cNvSpPr/>
            <p:nvPr/>
          </p:nvSpPr>
          <p:spPr>
            <a:xfrm>
              <a:off x="9235440" y="342900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62" name="Forma 61"/>
            <p:cNvSpPr/>
            <p:nvPr/>
          </p:nvSpPr>
          <p:spPr>
            <a:xfrm>
              <a:off x="9235440" y="3429000"/>
              <a:ext cx="914400" cy="914400"/>
            </a:xfrm>
            <a:custGeom>
              <a:avLst/>
              <a:gdLst/>
              <a:ahLst/>
              <a:cxnLst/>
              <a:rect l="0" t="0" r="r" b="b"/>
              <a:pathLst>
                <a:path w="1000" h="1000" fill="none">
                  <a:moveTo>
                    <a:pt x="30" y="328"/>
                  </a:moveTo>
                  <a:cubicBezTo>
                    <a:pt x="39" y="310"/>
                    <a:pt x="62" y="254"/>
                    <a:pt x="84" y="222"/>
                  </a:cubicBezTo>
                  <a:cubicBezTo>
                    <a:pt x="106" y="189"/>
                    <a:pt x="132" y="157"/>
                    <a:pt x="162" y="131"/>
                  </a:cubicBezTo>
                  <a:cubicBezTo>
                    <a:pt x="191" y="104"/>
                    <a:pt x="224" y="80"/>
                    <a:pt x="259" y="61"/>
                  </a:cubicBezTo>
                  <a:cubicBezTo>
                    <a:pt x="293" y="42"/>
                    <a:pt x="331" y="27"/>
                    <a:pt x="370" y="17"/>
                  </a:cubicBezTo>
                  <a:cubicBezTo>
                    <a:pt x="408" y="6"/>
                    <a:pt x="449" y="1"/>
                    <a:pt x="489" y="0"/>
                  </a:cubicBezTo>
                  <a:cubicBezTo>
                    <a:pt x="528" y="-1"/>
                    <a:pt x="569" y="2"/>
                    <a:pt x="608" y="11"/>
                  </a:cubicBezTo>
                  <a:cubicBezTo>
                    <a:pt x="646" y="19"/>
                    <a:pt x="685" y="33"/>
                    <a:pt x="721" y="51"/>
                  </a:cubicBezTo>
                  <a:cubicBezTo>
                    <a:pt x="756" y="68"/>
                    <a:pt x="804" y="105"/>
                    <a:pt x="821" y="116"/>
                  </a:cubicBezTo>
                </a:path>
              </a:pathLst>
            </a:custGeom>
            <a:noFill/>
            <a:ln w="50800" cap="rnd">
              <a:solidFill>
                <a:srgbClr val="2E4A9E"/>
              </a:solidFill>
              <a:round/>
            </a:ln>
          </p:spPr>
        </p:sp>
        <p:sp>
          <p:nvSpPr>
            <p:cNvPr id="63" name="Forma 62"/>
            <p:cNvSpPr txBox="1"/>
            <p:nvPr/>
          </p:nvSpPr>
          <p:spPr>
            <a:xfrm>
              <a:off x="9235440" y="370332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QM</a:t>
              </a:r>
              <a:endParaRPr lang="es-AR" sz="1600" dirty="0">
                <a:latin typeface="Bahnschrift SemiBold Condensed"/>
              </a:endParaRPr>
            </a:p>
          </p:txBody>
        </p:sp>
      </p:grpSp>
      <p:sp>
        <p:nvSpPr>
          <p:cNvPr id="64" name="LPL deficiente"/>
          <p:cNvSpPr/>
          <p:nvPr/>
        </p:nvSpPr>
        <p:spPr>
          <a:xfrm>
            <a:off x="4754880" y="4526280"/>
            <a:ext cx="2651760" cy="457200"/>
          </a:xfrm>
          <a:prstGeom prst="roundRect">
            <a:avLst/>
          </a:prstGeom>
          <a:solidFill>
            <a:srgbClr val="D7261E"/>
          </a:solidFill>
          <a:ln w="12700" cap="rnd">
            <a:solidFill>
              <a:srgbClr val="1E1E1E"/>
            </a:solidFill>
            <a:round/>
          </a:ln>
        </p:spPr>
        <p:txBody>
          <a:bodyPr wrap="square" lIns="73152" tIns="45720" rIns="73152" bIns="4572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LPL deficiente</a:t>
            </a:r>
            <a:endParaRPr lang="es-AR" sz="1300" dirty="0">
              <a:latin typeface="Bahnschrift SemiBold Condensed"/>
            </a:endParaRPr>
          </a:p>
        </p:txBody>
      </p:sp>
      <p:sp>
        <p:nvSpPr>
          <p:cNvPr id="65" name="Forma 64"/>
          <p:cNvSpPr/>
          <p:nvPr/>
        </p:nvSpPr>
        <p:spPr>
          <a:xfrm>
            <a:off x="365760" y="5166360"/>
            <a:ext cx="11430000" cy="9144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400" dirty="0">
                <a:solidFill>
                  <a:srgbClr val="1E1E1E"/>
                </a:solidFill>
                <a:latin typeface="Bahnschrift"/>
                <a:ea typeface="Bahnschrift"/>
                <a:cs typeface="Bahnschrift"/>
                <a:sym typeface="Bahnschrift"/>
              </a:rPr>
              <a:t>Los AG </a:t>
            </a:r>
            <a:r>
              <a:rPr lang="es-AR" sz="1400" b="1" dirty="0">
                <a:solidFill>
                  <a:srgbClr val="1E1E1E"/>
                </a:solidFill>
                <a:latin typeface="Bahnschrift"/>
                <a:ea typeface="Bahnschrift"/>
                <a:cs typeface="Bahnschrift"/>
                <a:sym typeface="Bahnschrift"/>
              </a:rPr>
              <a:t>C8/C10</a:t>
            </a:r>
            <a:r>
              <a:rPr lang="es-AR" sz="1400" dirty="0">
                <a:solidFill>
                  <a:srgbClr val="1E1E1E"/>
                </a:solidFill>
                <a:latin typeface="Bahnschrift"/>
                <a:ea typeface="Bahnschrift"/>
                <a:cs typeface="Bahnschrift"/>
                <a:sym typeface="Bahnschrift"/>
              </a:rPr>
              <a:t> de los MCT se absorben en mayor proporción por </a:t>
            </a:r>
            <a:r>
              <a:rPr lang="es-AR" sz="1400" b="1" dirty="0">
                <a:solidFill>
                  <a:srgbClr val="1E1E1E"/>
                </a:solidFill>
                <a:latin typeface="Bahnschrift"/>
                <a:ea typeface="Bahnschrift"/>
                <a:cs typeface="Bahnschrift"/>
                <a:sym typeface="Bahnschrift"/>
              </a:rPr>
              <a:t>vía portal</a:t>
            </a:r>
            <a:r>
              <a:rPr lang="es-AR" sz="1400" dirty="0">
                <a:solidFill>
                  <a:srgbClr val="1E1E1E"/>
                </a:solidFill>
                <a:latin typeface="Bahnschrift"/>
                <a:ea typeface="Bahnschrift"/>
                <a:cs typeface="Bahnschrift"/>
                <a:sym typeface="Bahnschrift"/>
              </a:rPr>
              <a:t> y usan menos el ensamblaje de QM.</a:t>
            </a:r>
            <a:endParaRPr lang="es-AR" sz="1400" dirty="0">
              <a:latin typeface="Bahnschrift"/>
            </a:endParaRPr>
          </a:p>
        </p:txBody>
      </p:sp>
      <p:sp>
        <p:nvSpPr>
          <p:cNvPr id="2" name="Etiqueta sección"/>
          <p:cNvSpPr/>
          <p:nvPr/>
        </p:nvSpPr>
        <p:spPr>
          <a:xfrm>
            <a:off x="10346993" y="201168"/>
            <a:ext cx="1570382"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4 · MCT</a:t>
            </a:r>
            <a:endParaRPr lang="es-AR" sz="1300" dirty="0">
              <a:latin typeface="Bahnschrift SemiBold Condensed"/>
            </a:endParaRPr>
          </a:p>
        </p:txBody>
      </p:sp>
      <p:sp>
        <p:nvSpPr>
          <p:cNvPr id="3" name="Título"/>
          <p:cNvSpPr/>
          <p:nvPr/>
        </p:nvSpPr>
        <p:spPr>
          <a:xfrm>
            <a:off x="274320" y="146304"/>
            <a:ext cx="778431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P4 · TAG DE CADENA MEDIA EN LA HIPERQUILOMICRONEMIA</a:t>
            </a:r>
            <a:endParaRPr lang="es-AR" sz="2600" dirty="0">
              <a:latin typeface="Bahnschrift SemiBold Condensed"/>
            </a:endParaRPr>
          </a:p>
        </p:txBody>
      </p:sp>
      <p:sp>
        <p:nvSpPr>
          <p:cNvPr id="6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56"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par>
                          <p:cTn id="55" fill="hold">
                            <p:stCondLst>
                              <p:cond delay="500"/>
                            </p:stCondLst>
                            <p:childTnLst>
                              <p:par>
                                <p:cTn id="12" presetID="53" presetClass="entr" presetSubtype="16"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p:cTn id="14" dur="500" fill="hold"/>
                                        <p:tgtEl>
                                          <p:spTgt spid="24"/>
                                        </p:tgtEl>
                                        <p:attrNameLst>
                                          <p:attrName>ppt_w</p:attrName>
                                        </p:attrNameLst>
                                      </p:cBhvr>
                                      <p:tavLst>
                                        <p:tav tm="0">
                                          <p:val>
                                            <p:fltVal val="0"/>
                                          </p:val>
                                        </p:tav>
                                        <p:tav tm="100000">
                                          <p:val>
                                            <p:strVal val="#ppt_w"/>
                                          </p:val>
                                        </p:tav>
                                      </p:tavLst>
                                    </p:anim>
                                    <p:anim calcmode="lin" valueType="num">
                                      <p:cBhvr>
                                        <p:cTn id="15" dur="500" fill="hold"/>
                                        <p:tgtEl>
                                          <p:spTgt spid="24"/>
                                        </p:tgtEl>
                                        <p:attrNameLst>
                                          <p:attrName>ppt_h</p:attrName>
                                        </p:attrNameLst>
                                      </p:cBhvr>
                                      <p:tavLst>
                                        <p:tav tm="0">
                                          <p:val>
                                            <p:fltVal val="0"/>
                                          </p:val>
                                        </p:tav>
                                        <p:tav tm="100000">
                                          <p:val>
                                            <p:strVal val="#ppt_h"/>
                                          </p:val>
                                        </p:tav>
                                      </p:tavLst>
                                    </p:anim>
                                    <p:animEffect transition="in" filter="fade">
                                      <p:cBhvr>
                                        <p:cTn id="16" dur="500"/>
                                        <p:tgtEl>
                                          <p:spTgt spid="2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4"/>
                                        </p:tgtEl>
                                        <p:attrNameLst>
                                          <p:attrName>style.visibility</p:attrName>
                                        </p:attrNameLst>
                                      </p:cBhvr>
                                      <p:to>
                                        <p:strVal val="visible"/>
                                      </p:to>
                                    </p:set>
                                    <p:anim calcmode="lin" valueType="num">
                                      <p:cBhvr>
                                        <p:cTn id="24" dur="500" fill="hold"/>
                                        <p:tgtEl>
                                          <p:spTgt spid="34"/>
                                        </p:tgtEl>
                                        <p:attrNameLst>
                                          <p:attrName>ppt_w</p:attrName>
                                        </p:attrNameLst>
                                      </p:cBhvr>
                                      <p:tavLst>
                                        <p:tav tm="0">
                                          <p:val>
                                            <p:fltVal val="0"/>
                                          </p:val>
                                        </p:tav>
                                        <p:tav tm="100000">
                                          <p:val>
                                            <p:strVal val="#ppt_w"/>
                                          </p:val>
                                        </p:tav>
                                      </p:tavLst>
                                    </p:anim>
                                    <p:anim calcmode="lin" valueType="num">
                                      <p:cBhvr>
                                        <p:cTn id="25" dur="500" fill="hold"/>
                                        <p:tgtEl>
                                          <p:spTgt spid="34"/>
                                        </p:tgtEl>
                                        <p:attrNameLst>
                                          <p:attrName>ppt_h</p:attrName>
                                        </p:attrNameLst>
                                      </p:cBhvr>
                                      <p:tavLst>
                                        <p:tav tm="0">
                                          <p:val>
                                            <p:fltVal val="0"/>
                                          </p:val>
                                        </p:tav>
                                        <p:tav tm="100000">
                                          <p:val>
                                            <p:strVal val="#ppt_h"/>
                                          </p:val>
                                        </p:tav>
                                      </p:tavLst>
                                    </p:anim>
                                    <p:animEffect transition="in" filter="fade">
                                      <p:cBhvr>
                                        <p:cTn id="26" dur="500"/>
                                        <p:tgtEl>
                                          <p:spTgt spid="34"/>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 calcmode="lin" valueType="num">
                                      <p:cBhvr>
                                        <p:cTn id="34" dur="500" fill="hold"/>
                                        <p:tgtEl>
                                          <p:spTgt spid="44"/>
                                        </p:tgtEl>
                                        <p:attrNameLst>
                                          <p:attrName>ppt_w</p:attrName>
                                        </p:attrNameLst>
                                      </p:cBhvr>
                                      <p:tavLst>
                                        <p:tav tm="0">
                                          <p:val>
                                            <p:fltVal val="0"/>
                                          </p:val>
                                        </p:tav>
                                        <p:tav tm="100000">
                                          <p:val>
                                            <p:strVal val="#ppt_w"/>
                                          </p:val>
                                        </p:tav>
                                      </p:tavLst>
                                    </p:anim>
                                    <p:anim calcmode="lin" valueType="num">
                                      <p:cBhvr>
                                        <p:cTn id="35" dur="500" fill="hold"/>
                                        <p:tgtEl>
                                          <p:spTgt spid="44"/>
                                        </p:tgtEl>
                                        <p:attrNameLst>
                                          <p:attrName>ppt_h</p:attrName>
                                        </p:attrNameLst>
                                      </p:cBhvr>
                                      <p:tavLst>
                                        <p:tav tm="0">
                                          <p:val>
                                            <p:fltVal val="0"/>
                                          </p:val>
                                        </p:tav>
                                        <p:tav tm="100000">
                                          <p:val>
                                            <p:strVal val="#ppt_h"/>
                                          </p:val>
                                        </p:tav>
                                      </p:tavLst>
                                    </p:anim>
                                    <p:animEffect transition="in" filter="fade">
                                      <p:cBhvr>
                                        <p:cTn id="36" dur="500"/>
                                        <p:tgtEl>
                                          <p:spTgt spid="44"/>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49"/>
                                        </p:tgtEl>
                                        <p:attrNameLst>
                                          <p:attrName>style.visibility</p:attrName>
                                        </p:attrNameLst>
                                      </p:cBhvr>
                                      <p:to>
                                        <p:strVal val="visible"/>
                                      </p:to>
                                    </p:set>
                                    <p:anim calcmode="lin" valueType="num">
                                      <p:cBhvr>
                                        <p:cTn id="39" dur="500" fill="hold"/>
                                        <p:tgtEl>
                                          <p:spTgt spid="49"/>
                                        </p:tgtEl>
                                        <p:attrNameLst>
                                          <p:attrName>ppt_w</p:attrName>
                                        </p:attrNameLst>
                                      </p:cBhvr>
                                      <p:tavLst>
                                        <p:tav tm="0">
                                          <p:val>
                                            <p:fltVal val="0"/>
                                          </p:val>
                                        </p:tav>
                                        <p:tav tm="100000">
                                          <p:val>
                                            <p:strVal val="#ppt_w"/>
                                          </p:val>
                                        </p:tav>
                                      </p:tavLst>
                                    </p:anim>
                                    <p:anim calcmode="lin" valueType="num">
                                      <p:cBhvr>
                                        <p:cTn id="40" dur="500" fill="hold"/>
                                        <p:tgtEl>
                                          <p:spTgt spid="49"/>
                                        </p:tgtEl>
                                        <p:attrNameLst>
                                          <p:attrName>ppt_h</p:attrName>
                                        </p:attrNameLst>
                                      </p:cBhvr>
                                      <p:tavLst>
                                        <p:tav tm="0">
                                          <p:val>
                                            <p:fltVal val="0"/>
                                          </p:val>
                                        </p:tav>
                                        <p:tav tm="100000">
                                          <p:val>
                                            <p:strVal val="#ppt_h"/>
                                          </p:val>
                                        </p:tav>
                                      </p:tavLst>
                                    </p:anim>
                                    <p:animEffect transition="in" filter="fade">
                                      <p:cBhvr>
                                        <p:cTn id="41" dur="500"/>
                                        <p:tgtEl>
                                          <p:spTgt spid="49"/>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Effect transition="in" filter="fade">
                                      <p:cBhvr>
                                        <p:cTn id="46" dur="500"/>
                                        <p:tgtEl>
                                          <p:spTgt spid="54"/>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anim calcmode="lin" valueType="num">
                                      <p:cBhvr>
                                        <p:cTn id="49" dur="500" fill="hold"/>
                                        <p:tgtEl>
                                          <p:spTgt spid="59"/>
                                        </p:tgtEl>
                                        <p:attrNameLst>
                                          <p:attrName>ppt_w</p:attrName>
                                        </p:attrNameLst>
                                      </p:cBhvr>
                                      <p:tavLst>
                                        <p:tav tm="0">
                                          <p:val>
                                            <p:fltVal val="0"/>
                                          </p:val>
                                        </p:tav>
                                        <p:tav tm="100000">
                                          <p:val>
                                            <p:strVal val="#ppt_w"/>
                                          </p:val>
                                        </p:tav>
                                      </p:tavLst>
                                    </p:anim>
                                    <p:anim calcmode="lin" valueType="num">
                                      <p:cBhvr>
                                        <p:cTn id="50" dur="500" fill="hold"/>
                                        <p:tgtEl>
                                          <p:spTgt spid="59"/>
                                        </p:tgtEl>
                                        <p:attrNameLst>
                                          <p:attrName>ppt_h</p:attrName>
                                        </p:attrNameLst>
                                      </p:cBhvr>
                                      <p:tavLst>
                                        <p:tav tm="0">
                                          <p:val>
                                            <p:fltVal val="0"/>
                                          </p:val>
                                        </p:tav>
                                        <p:tav tm="100000">
                                          <p:val>
                                            <p:strVal val="#ppt_h"/>
                                          </p:val>
                                        </p:tav>
                                      </p:tavLst>
                                    </p:anim>
                                    <p:animEffect transition="in" filter="fade">
                                      <p:cBhvr>
                                        <p:cTn id="51" dur="500"/>
                                        <p:tgtEl>
                                          <p:spTgt spid="5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fade">
                                      <p:cBhvr>
                                        <p:cTn id="54" dur="500"/>
                                        <p:tgtEl>
                                          <p:spTgt spid="64"/>
                                        </p:tgtEl>
                                      </p:cBhvr>
                                    </p:animEffect>
                                  </p:childTnLst>
                                </p:cTn>
                              </p:par>
                            </p:childTnLst>
                          </p:cTn>
                        </p:par>
                      </p:childTnLst>
                    </p:cTn>
                  </p:par>
                  <p:par>
                    <p:cTn id="61" fill="hold">
                      <p:stCondLst>
                        <p:cond delay="indefinite"/>
                      </p:stCondLst>
                      <p:childTnLst>
                        <p:par>
                          <p:cTn id="60"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65"/>
                                        </p:tgtEl>
                                        <p:attrNameLst>
                                          <p:attrName>style.visibility</p:attrName>
                                        </p:attrNameLst>
                                      </p:cBhvr>
                                      <p:to>
                                        <p:strVal val="visible"/>
                                      </p:to>
                                    </p:set>
                                    <p:animEffect transition="in" filter="fade">
                                      <p:cBhvr>
                                        <p:cTn id="59"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Lst>
  </p:timing>
</p:sld>
</file>

<file path=ppt/slides/slide182.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Esquema grasa larga en déficit de lpl"/>
          <p:cNvGrpSpPr/>
          <p:nvPr/>
        </p:nvGrpSpPr>
        <p:grpSpPr>
          <a:xfrm>
            <a:off x="365760" y="1051560"/>
            <a:ext cx="3566160" cy="4983480"/>
            <a:chOff x="365760" y="1051560"/>
            <a:chExt cx="3566160" cy="4983480"/>
          </a:xfrm>
        </p:grpSpPr>
        <p:sp>
          <p:nvSpPr>
            <p:cNvPr id="14" name="Forma 13"/>
            <p:cNvSpPr/>
            <p:nvPr/>
          </p:nvSpPr>
          <p:spPr>
            <a:xfrm>
              <a:off x="365760" y="1051560"/>
              <a:ext cx="3566160" cy="49834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15" name="Forma 14"/>
            <p:cNvSpPr/>
            <p:nvPr/>
          </p:nvSpPr>
          <p:spPr>
            <a:xfrm>
              <a:off x="365760" y="1051560"/>
              <a:ext cx="356616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GRASA LARGA EN DÉFICIT DE LPL</a:t>
              </a:r>
              <a:endParaRPr lang="es-AR" sz="1500" dirty="0">
                <a:latin typeface="Bahnschrift SemiBold Condensed"/>
              </a:endParaRPr>
            </a:p>
          </p:txBody>
        </p:sp>
        <p:sp>
          <p:nvSpPr>
            <p:cNvPr id="16" name="Forma 15"/>
            <p:cNvSpPr/>
            <p:nvPr/>
          </p:nvSpPr>
          <p:spPr>
            <a:xfrm>
              <a:off x="594360" y="1600200"/>
              <a:ext cx="310896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Grasa de cadena larga</a:t>
              </a:r>
              <a:endParaRPr lang="es-AR" sz="1350" dirty="0">
                <a:latin typeface="Bahnschrift"/>
              </a:endParaRPr>
            </a:p>
          </p:txBody>
        </p:sp>
        <p:sp>
          <p:nvSpPr>
            <p:cNvPr id="17" name="Forma 16"/>
            <p:cNvSpPr/>
            <p:nvPr/>
          </p:nvSpPr>
          <p:spPr>
            <a:xfrm>
              <a:off x="594360" y="2743200"/>
              <a:ext cx="310896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Enterocito → QM → linfa</a:t>
              </a:r>
              <a:endParaRPr lang="es-AR" sz="1350" dirty="0">
                <a:latin typeface="Bahnschrift"/>
              </a:endParaRPr>
            </a:p>
          </p:txBody>
        </p:sp>
        <p:sp>
          <p:nvSpPr>
            <p:cNvPr id="18" name="Flecha 17_2"/>
            <p:cNvSpPr/>
            <p:nvPr/>
          </p:nvSpPr>
          <p:spPr>
            <a:xfrm>
              <a:off x="2148840" y="2523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19" name="Forma 19"/>
            <p:cNvSpPr/>
            <p:nvPr/>
          </p:nvSpPr>
          <p:spPr>
            <a:xfrm>
              <a:off x="594360" y="3886200"/>
              <a:ext cx="3108960" cy="9144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LPL deficiente → QM persisten</a:t>
              </a:r>
              <a:endParaRPr lang="es-AR" sz="1350" dirty="0">
                <a:latin typeface="Bahnschrift"/>
              </a:endParaRPr>
            </a:p>
          </p:txBody>
        </p:sp>
        <p:sp>
          <p:nvSpPr>
            <p:cNvPr id="20" name="Flecha 20_2"/>
            <p:cNvSpPr/>
            <p:nvPr/>
          </p:nvSpPr>
          <p:spPr>
            <a:xfrm>
              <a:off x="2148840" y="3666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21" name="Forma 22"/>
            <p:cNvSpPr/>
            <p:nvPr/>
          </p:nvSpPr>
          <p:spPr>
            <a:xfrm>
              <a:off x="594360" y="5029200"/>
              <a:ext cx="310896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TAG ↑↑ → riesgo de pancreatitis</a:t>
              </a:r>
              <a:endParaRPr lang="es-AR" sz="1350" dirty="0">
                <a:latin typeface="Bahnschrift"/>
              </a:endParaRPr>
            </a:p>
          </p:txBody>
        </p:sp>
        <p:sp>
          <p:nvSpPr>
            <p:cNvPr id="22" name="Flecha 23_2"/>
            <p:cNvSpPr/>
            <p:nvPr/>
          </p:nvSpPr>
          <p:spPr>
            <a:xfrm>
              <a:off x="2148840" y="48097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23" name="Forma 25"/>
            <p:cNvSpPr txBox="1"/>
            <p:nvPr/>
          </p:nvSpPr>
          <p:spPr>
            <a:xfrm>
              <a:off x="2240280" y="47914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grpSp>
      <p:grpSp>
        <p:nvGrpSpPr>
          <p:cNvPr id="24" name="Esquema mct: ruta alternativa"/>
          <p:cNvGrpSpPr/>
          <p:nvPr/>
        </p:nvGrpSpPr>
        <p:grpSpPr>
          <a:xfrm>
            <a:off x="4206240" y="1051560"/>
            <a:ext cx="3566160" cy="4983480"/>
            <a:chOff x="4206240" y="1051560"/>
            <a:chExt cx="3566160" cy="4983480"/>
          </a:xfrm>
        </p:grpSpPr>
        <p:sp>
          <p:nvSpPr>
            <p:cNvPr id="25" name="Forma 27"/>
            <p:cNvSpPr/>
            <p:nvPr/>
          </p:nvSpPr>
          <p:spPr>
            <a:xfrm>
              <a:off x="4206240" y="1051560"/>
              <a:ext cx="3566160" cy="49834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26" name="Forma 28"/>
            <p:cNvSpPr/>
            <p:nvPr/>
          </p:nvSpPr>
          <p:spPr>
            <a:xfrm>
              <a:off x="4206240" y="1051560"/>
              <a:ext cx="356616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MCT: RUTA ALTERNATIVA</a:t>
              </a:r>
              <a:endParaRPr lang="es-AR" sz="1500" dirty="0">
                <a:latin typeface="Bahnschrift SemiBold Condensed"/>
              </a:endParaRPr>
            </a:p>
          </p:txBody>
        </p:sp>
        <p:sp>
          <p:nvSpPr>
            <p:cNvPr id="27" name="Forma 29"/>
            <p:cNvSpPr/>
            <p:nvPr/>
          </p:nvSpPr>
          <p:spPr>
            <a:xfrm>
              <a:off x="4434840" y="1600200"/>
              <a:ext cx="310896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MCT (C8/C10)</a:t>
              </a:r>
              <a:endParaRPr lang="es-AR" sz="1350" dirty="0">
                <a:latin typeface="Bahnschrift"/>
              </a:endParaRPr>
            </a:p>
          </p:txBody>
        </p:sp>
        <p:sp>
          <p:nvSpPr>
            <p:cNvPr id="28" name="Forma 30"/>
            <p:cNvSpPr/>
            <p:nvPr/>
          </p:nvSpPr>
          <p:spPr>
            <a:xfrm>
              <a:off x="4434840" y="2743200"/>
              <a:ext cx="310896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Enterocito → vena porta (albúmina)</a:t>
              </a:r>
              <a:endParaRPr lang="es-AR" sz="1350" dirty="0">
                <a:latin typeface="Bahnschrift"/>
              </a:endParaRPr>
            </a:p>
          </p:txBody>
        </p:sp>
        <p:sp>
          <p:nvSpPr>
            <p:cNvPr id="29" name="Flecha 31_2"/>
            <p:cNvSpPr/>
            <p:nvPr/>
          </p:nvSpPr>
          <p:spPr>
            <a:xfrm>
              <a:off x="5989320" y="2523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30" name="Forma 33"/>
            <p:cNvSpPr/>
            <p:nvPr/>
          </p:nvSpPr>
          <p:spPr>
            <a:xfrm>
              <a:off x="4434840" y="3886200"/>
              <a:ext cx="310896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Hígado: oxidación sin depender de CPT1</a:t>
              </a:r>
              <a:endParaRPr lang="es-AR" sz="1350" dirty="0">
                <a:latin typeface="Bahnschrift"/>
              </a:endParaRPr>
            </a:p>
          </p:txBody>
        </p:sp>
        <p:sp>
          <p:nvSpPr>
            <p:cNvPr id="31" name="Flecha 34_2"/>
            <p:cNvSpPr/>
            <p:nvPr/>
          </p:nvSpPr>
          <p:spPr>
            <a:xfrm>
              <a:off x="5989320" y="3666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32" name="Forma 36"/>
            <p:cNvSpPr/>
            <p:nvPr/>
          </p:nvSpPr>
          <p:spPr>
            <a:xfrm>
              <a:off x="4434840" y="5029200"/>
              <a:ext cx="310896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Energía con menor carga de QM</a:t>
              </a:r>
              <a:endParaRPr lang="es-AR" sz="1350" dirty="0">
                <a:latin typeface="Bahnschrift"/>
              </a:endParaRPr>
            </a:p>
          </p:txBody>
        </p:sp>
        <p:sp>
          <p:nvSpPr>
            <p:cNvPr id="33" name="Flecha 37_2"/>
            <p:cNvSpPr/>
            <p:nvPr/>
          </p:nvSpPr>
          <p:spPr>
            <a:xfrm>
              <a:off x="5989320" y="4809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34" name="Recuadro Límites y manejo"/>
          <p:cNvGrpSpPr/>
          <p:nvPr/>
        </p:nvGrpSpPr>
        <p:grpSpPr>
          <a:xfrm>
            <a:off x="8092440" y="1051560"/>
            <a:ext cx="3703320" cy="4983480"/>
            <a:chOff x="8092440" y="1051560"/>
            <a:chExt cx="3703320" cy="4983480"/>
          </a:xfrm>
        </p:grpSpPr>
        <p:sp>
          <p:nvSpPr>
            <p:cNvPr id="35" name="Forma 40"/>
            <p:cNvSpPr/>
            <p:nvPr/>
          </p:nvSpPr>
          <p:spPr>
            <a:xfrm>
              <a:off x="8092440" y="1234440"/>
              <a:ext cx="3703320" cy="48006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Restricción </a:t>
              </a:r>
              <a:r>
                <a:rPr lang="es-AR" sz="1600" b="1" dirty="0">
                  <a:solidFill>
                    <a:srgbClr val="1E1E1E"/>
                  </a:solidFill>
                  <a:latin typeface="Bahnschrift"/>
                  <a:ea typeface="Bahnschrift"/>
                  <a:cs typeface="Bahnschrift"/>
                  <a:sym typeface="Bahnschrift"/>
                </a:rPr>
                <a:t>intensa</a:t>
              </a:r>
              <a:r>
                <a:rPr lang="es-AR" sz="1600" dirty="0">
                  <a:solidFill>
                    <a:srgbClr val="1E1E1E"/>
                  </a:solidFill>
                  <a:latin typeface="Bahnschrift"/>
                  <a:ea typeface="Bahnschrift"/>
                  <a:cs typeface="Bahnschrift"/>
                  <a:sym typeface="Bahnschrift"/>
                </a:rPr>
                <a:t> de AG largos con </a:t>
              </a:r>
              <a:r>
                <a:rPr lang="es-AR" sz="1600" b="1" dirty="0">
                  <a:solidFill>
                    <a:srgbClr val="1E1E1E"/>
                  </a:solidFill>
                  <a:latin typeface="Bahnschrift"/>
                  <a:ea typeface="Bahnschrift"/>
                  <a:cs typeface="Bahnschrift"/>
                  <a:sym typeface="Bahnschrift"/>
                </a:rPr>
                <a:t>supervisión</a:t>
              </a:r>
              <a:r>
                <a:rPr lang="es-AR" sz="1600" dirty="0">
                  <a:solidFill>
                    <a:srgbClr val="1E1E1E"/>
                  </a:solidFill>
                  <a:latin typeface="Bahnschrift"/>
                  <a:ea typeface="Bahnschrift"/>
                  <a:cs typeface="Bahnschrift"/>
                  <a:sym typeface="Bahnschrift"/>
                </a:rPr>
                <a:t> nutricional.</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Garantizar </a:t>
              </a:r>
              <a:r>
                <a:rPr lang="es-AR" sz="1600" b="1" dirty="0">
                  <a:solidFill>
                    <a:srgbClr val="1E1E1E"/>
                  </a:solidFill>
                  <a:latin typeface="Bahnschrift"/>
                  <a:ea typeface="Bahnschrift"/>
                  <a:cs typeface="Bahnschrift"/>
                  <a:sym typeface="Bahnschrift"/>
                </a:rPr>
                <a:t>AG esenciales</a:t>
              </a:r>
              <a:r>
                <a:rPr lang="es-AR" sz="1600" dirty="0">
                  <a:solidFill>
                    <a:srgbClr val="1E1E1E"/>
                  </a:solidFill>
                  <a:latin typeface="Bahnschrift"/>
                  <a:ea typeface="Bahnschrift"/>
                  <a:cs typeface="Bahnschrift"/>
                  <a:sym typeface="Bahnschrift"/>
                </a:rPr>
                <a:t> y </a:t>
              </a:r>
              <a:r>
                <a:rPr lang="es-AR" sz="1600" b="1" dirty="0">
                  <a:solidFill>
                    <a:srgbClr val="1E1E1E"/>
                  </a:solidFill>
                  <a:latin typeface="Bahnschrift"/>
                  <a:ea typeface="Bahnschrift"/>
                  <a:cs typeface="Bahnschrift"/>
                  <a:sym typeface="Bahnschrift"/>
                </a:rPr>
                <a:t>vitaminas liposolubles</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No sustituir por mezclas con </a:t>
              </a:r>
              <a:r>
                <a:rPr lang="es-AR" sz="1600" b="1" dirty="0">
                  <a:solidFill>
                    <a:srgbClr val="1E1E1E"/>
                  </a:solidFill>
                  <a:latin typeface="Bahnschrift"/>
                  <a:ea typeface="Bahnschrift"/>
                  <a:cs typeface="Bahnschrift"/>
                  <a:sym typeface="Bahnschrift"/>
                </a:rPr>
                <a:t>laurato</a:t>
              </a:r>
              <a:r>
                <a:rPr lang="es-AR" sz="1600" dirty="0">
                  <a:solidFill>
                    <a:srgbClr val="1E1E1E"/>
                  </a:solidFill>
                  <a:latin typeface="Bahnschrift"/>
                  <a:ea typeface="Bahnschrift"/>
                  <a:cs typeface="Bahnschrift"/>
                  <a:sym typeface="Bahnschrift"/>
                </a:rPr>
                <a:t> (no todos los MCT son iguales).</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En la forma </a:t>
              </a:r>
              <a:r>
                <a:rPr lang="es-AR" sz="1600" b="1" dirty="0">
                  <a:solidFill>
                    <a:srgbClr val="1E1E1E"/>
                  </a:solidFill>
                  <a:latin typeface="Bahnschrift"/>
                  <a:ea typeface="Bahnschrift"/>
                  <a:cs typeface="Bahnschrift"/>
                  <a:sym typeface="Bahnschrift"/>
                </a:rPr>
                <a:t>multifactorial</a:t>
              </a:r>
              <a:r>
                <a:rPr lang="es-AR" sz="1600" dirty="0">
                  <a:solidFill>
                    <a:srgbClr val="1E1E1E"/>
                  </a:solidFill>
                  <a:latin typeface="Bahnschrift"/>
                  <a:ea typeface="Bahnschrift"/>
                  <a:cs typeface="Bahnschrift"/>
                  <a:sym typeface="Bahnschrift"/>
                </a:rPr>
                <a:t>: limitar </a:t>
              </a:r>
              <a:r>
                <a:rPr lang="es-AR" sz="1600" b="1" dirty="0">
                  <a:solidFill>
                    <a:srgbClr val="1E1E1E"/>
                  </a:solidFill>
                  <a:latin typeface="Bahnschrift"/>
                  <a:ea typeface="Bahnschrift"/>
                  <a:cs typeface="Bahnschrift"/>
                  <a:sym typeface="Bahnschrift"/>
                </a:rPr>
                <a:t>azúcares refinados y alcohol</a:t>
              </a:r>
              <a:r>
                <a:rPr lang="es-AR" sz="1600" dirty="0">
                  <a:solidFill>
                    <a:srgbClr val="1E1E1E"/>
                  </a:solidFill>
                  <a:latin typeface="Bahnschrift"/>
                  <a:ea typeface="Bahnschrift"/>
                  <a:cs typeface="Bahnschrift"/>
                  <a:sym typeface="Bahnschrift"/>
                </a:rPr>
                <a:t> (↑ VLDL).</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Los MCT </a:t>
              </a:r>
              <a:r>
                <a:rPr lang="es-AR" sz="1600" b="1" dirty="0">
                  <a:solidFill>
                    <a:srgbClr val="1E1E1E"/>
                  </a:solidFill>
                  <a:latin typeface="Bahnschrift"/>
                  <a:ea typeface="Bahnschrift"/>
                  <a:cs typeface="Bahnschrift"/>
                  <a:sym typeface="Bahnschrift"/>
                </a:rPr>
                <a:t>no curan</a:t>
              </a:r>
              <a:r>
                <a:rPr lang="es-AR" sz="1600" dirty="0">
                  <a:solidFill>
                    <a:srgbClr val="1E1E1E"/>
                  </a:solidFill>
                  <a:latin typeface="Bahnschrift"/>
                  <a:ea typeface="Bahnschrift"/>
                  <a:cs typeface="Bahnschrift"/>
                  <a:sym typeface="Bahnschrift"/>
                </a:rPr>
                <a:t> la deficiencia de LPL.</a:t>
              </a:r>
              <a:endParaRPr lang="es-AR" sz="1600" dirty="0">
                <a:latin typeface="Bahnschrift"/>
              </a:endParaRPr>
            </a:p>
          </p:txBody>
        </p:sp>
        <p:sp>
          <p:nvSpPr>
            <p:cNvPr id="36" name="Forma 41"/>
            <p:cNvSpPr/>
            <p:nvPr/>
          </p:nvSpPr>
          <p:spPr>
            <a:xfrm>
              <a:off x="8202168" y="1051560"/>
              <a:ext cx="16512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LÍMITES Y MANEJO</a:t>
              </a:r>
              <a:endParaRPr lang="es-AR" sz="1450" dirty="0">
                <a:latin typeface="Bahnschrift SemiBold Condensed"/>
              </a:endParaRPr>
            </a:p>
          </p:txBody>
        </p:sp>
      </p:grpSp>
      <p:sp>
        <p:nvSpPr>
          <p:cNvPr id="2" name="Etiqueta sección"/>
          <p:cNvSpPr/>
          <p:nvPr/>
        </p:nvSpPr>
        <p:spPr>
          <a:xfrm>
            <a:off x="10346993" y="201168"/>
            <a:ext cx="1570382"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4 · MCT</a:t>
            </a:r>
            <a:endParaRPr lang="es-AR" sz="1300" dirty="0">
              <a:latin typeface="Bahnschrift SemiBold Condensed"/>
            </a:endParaRPr>
          </a:p>
        </p:txBody>
      </p:sp>
      <p:sp>
        <p:nvSpPr>
          <p:cNvPr id="3" name="Título"/>
          <p:cNvSpPr/>
          <p:nvPr/>
        </p:nvSpPr>
        <p:spPr>
          <a:xfrm>
            <a:off x="274320" y="146304"/>
            <a:ext cx="628984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P4 · MECANISMO DEL BENEFICIO Y SUS LÍMITES</a:t>
            </a:r>
            <a:endParaRPr lang="es-AR" sz="2600" dirty="0">
              <a:latin typeface="Bahnschrift SemiBold Condensed"/>
            </a:endParaRPr>
          </a:p>
        </p:txBody>
      </p:sp>
      <p:sp>
        <p:nvSpPr>
          <p:cNvPr id="37"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Pared arterial"/>
          <p:cNvGrpSpPr/>
          <p:nvPr/>
        </p:nvGrpSpPr>
        <p:grpSpPr>
          <a:xfrm>
            <a:off x="365760" y="1051560"/>
            <a:ext cx="7689088" cy="4937760"/>
            <a:chOff x="365760" y="1051560"/>
            <a:chExt cx="7689088" cy="4937760"/>
          </a:xfrm>
        </p:grpSpPr>
        <p:sp>
          <p:nvSpPr>
            <p:cNvPr id="14" name="Luz arterial"/>
            <p:cNvSpPr/>
            <p:nvPr/>
          </p:nvSpPr>
          <p:spPr>
            <a:xfrm>
              <a:off x="365760" y="1051560"/>
              <a:ext cx="7498080" cy="1481328"/>
            </a:xfrm>
            <a:prstGeom prst="rect">
              <a:avLst/>
            </a:prstGeom>
            <a:gradFill rotWithShape="1">
              <a:gsLst>
                <a:gs pos="0">
                  <a:srgbClr val="F5B7B1"/>
                </a:gs>
                <a:gs pos="100000">
                  <a:srgbClr val="E6B0AA"/>
                </a:gs>
              </a:gsLst>
              <a:lin ang="5400000" scaled="0"/>
            </a:gradFill>
            <a:ln>
              <a:noFill/>
            </a:ln>
          </p:spPr>
        </p:sp>
        <p:sp>
          <p:nvSpPr>
            <p:cNvPr id="15" name="Forma 14"/>
            <p:cNvSpPr/>
            <p:nvPr/>
          </p:nvSpPr>
          <p:spPr>
            <a:xfrm>
              <a:off x="365760"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6" name="Forma 15"/>
            <p:cNvSpPr/>
            <p:nvPr/>
          </p:nvSpPr>
          <p:spPr>
            <a:xfrm>
              <a:off x="1115568"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7" name="Forma 16"/>
            <p:cNvSpPr/>
            <p:nvPr/>
          </p:nvSpPr>
          <p:spPr>
            <a:xfrm>
              <a:off x="1865376"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8" name="Forma 17"/>
            <p:cNvSpPr/>
            <p:nvPr/>
          </p:nvSpPr>
          <p:spPr>
            <a:xfrm>
              <a:off x="2615184"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9" name="Forma 18"/>
            <p:cNvSpPr/>
            <p:nvPr/>
          </p:nvSpPr>
          <p:spPr>
            <a:xfrm>
              <a:off x="3364992"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0" name="Forma 19"/>
            <p:cNvSpPr/>
            <p:nvPr/>
          </p:nvSpPr>
          <p:spPr>
            <a:xfrm>
              <a:off x="4114800"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1" name="Forma 20"/>
            <p:cNvSpPr/>
            <p:nvPr/>
          </p:nvSpPr>
          <p:spPr>
            <a:xfrm>
              <a:off x="4864608"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2" name="Forma 21"/>
            <p:cNvSpPr/>
            <p:nvPr/>
          </p:nvSpPr>
          <p:spPr>
            <a:xfrm>
              <a:off x="5614416"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3" name="Forma 22"/>
            <p:cNvSpPr/>
            <p:nvPr/>
          </p:nvSpPr>
          <p:spPr>
            <a:xfrm>
              <a:off x="6364224"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4" name="Forma 23"/>
            <p:cNvSpPr/>
            <p:nvPr/>
          </p:nvSpPr>
          <p:spPr>
            <a:xfrm>
              <a:off x="7114032"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5" name="Íntima"/>
            <p:cNvSpPr/>
            <p:nvPr/>
          </p:nvSpPr>
          <p:spPr>
            <a:xfrm>
              <a:off x="365760" y="2829154"/>
              <a:ext cx="7498080" cy="1185062"/>
            </a:xfrm>
            <a:prstGeom prst="rect">
              <a:avLst/>
            </a:prstGeom>
            <a:gradFill rotWithShape="1">
              <a:gsLst>
                <a:gs pos="0">
                  <a:srgbClr val="FDEBD0"/>
                </a:gs>
                <a:gs pos="100000">
                  <a:srgbClr val="FAD7A0"/>
                </a:gs>
              </a:gsLst>
              <a:lin ang="5400000" scaled="0"/>
            </a:gradFill>
            <a:ln w="9525" cap="rnd">
              <a:solidFill>
                <a:srgbClr val="B9770E"/>
              </a:solidFill>
              <a:round/>
            </a:ln>
          </p:spPr>
        </p:sp>
        <p:sp>
          <p:nvSpPr>
            <p:cNvPr id="26" name="Media"/>
            <p:cNvSpPr/>
            <p:nvPr/>
          </p:nvSpPr>
          <p:spPr>
            <a:xfrm>
              <a:off x="365760" y="4014216"/>
              <a:ext cx="7498080" cy="1283818"/>
            </a:xfrm>
            <a:prstGeom prst="rect">
              <a:avLst/>
            </a:prstGeom>
            <a:solidFill>
              <a:srgbClr val="E59866"/>
            </a:solidFill>
            <a:ln w="9525" cap="rnd">
              <a:solidFill>
                <a:srgbClr val="873600"/>
              </a:solidFill>
              <a:round/>
            </a:ln>
          </p:spPr>
        </p:sp>
        <p:sp>
          <p:nvSpPr>
            <p:cNvPr id="27" name="Forma 26"/>
            <p:cNvSpPr/>
            <p:nvPr/>
          </p:nvSpPr>
          <p:spPr>
            <a:xfrm>
              <a:off x="36576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8" name="Forma 27"/>
            <p:cNvSpPr/>
            <p:nvPr/>
          </p:nvSpPr>
          <p:spPr>
            <a:xfrm>
              <a:off x="64008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9" name="Forma 28"/>
            <p:cNvSpPr/>
            <p:nvPr/>
          </p:nvSpPr>
          <p:spPr>
            <a:xfrm>
              <a:off x="119888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0" name="Forma 29"/>
            <p:cNvSpPr/>
            <p:nvPr/>
          </p:nvSpPr>
          <p:spPr>
            <a:xfrm>
              <a:off x="147320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1" name="Forma 30"/>
            <p:cNvSpPr/>
            <p:nvPr/>
          </p:nvSpPr>
          <p:spPr>
            <a:xfrm>
              <a:off x="203200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2" name="Forma 31"/>
            <p:cNvSpPr/>
            <p:nvPr/>
          </p:nvSpPr>
          <p:spPr>
            <a:xfrm>
              <a:off x="230632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3" name="Forma 32"/>
            <p:cNvSpPr/>
            <p:nvPr/>
          </p:nvSpPr>
          <p:spPr>
            <a:xfrm>
              <a:off x="286512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4" name="Forma 33"/>
            <p:cNvSpPr/>
            <p:nvPr/>
          </p:nvSpPr>
          <p:spPr>
            <a:xfrm>
              <a:off x="313944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5" name="Forma 34"/>
            <p:cNvSpPr/>
            <p:nvPr/>
          </p:nvSpPr>
          <p:spPr>
            <a:xfrm>
              <a:off x="369824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6" name="Forma 35"/>
            <p:cNvSpPr/>
            <p:nvPr/>
          </p:nvSpPr>
          <p:spPr>
            <a:xfrm>
              <a:off x="397256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7" name="Forma 36"/>
            <p:cNvSpPr/>
            <p:nvPr/>
          </p:nvSpPr>
          <p:spPr>
            <a:xfrm>
              <a:off x="453136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8" name="Forma 37"/>
            <p:cNvSpPr/>
            <p:nvPr/>
          </p:nvSpPr>
          <p:spPr>
            <a:xfrm>
              <a:off x="480568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9" name="Forma 38"/>
            <p:cNvSpPr/>
            <p:nvPr/>
          </p:nvSpPr>
          <p:spPr>
            <a:xfrm>
              <a:off x="536448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0" name="Forma 39"/>
            <p:cNvSpPr/>
            <p:nvPr/>
          </p:nvSpPr>
          <p:spPr>
            <a:xfrm>
              <a:off x="563880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1" name="Forma 40"/>
            <p:cNvSpPr/>
            <p:nvPr/>
          </p:nvSpPr>
          <p:spPr>
            <a:xfrm>
              <a:off x="619760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2" name="Forma 41"/>
            <p:cNvSpPr/>
            <p:nvPr/>
          </p:nvSpPr>
          <p:spPr>
            <a:xfrm>
              <a:off x="647192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3" name="Forma 42"/>
            <p:cNvSpPr/>
            <p:nvPr/>
          </p:nvSpPr>
          <p:spPr>
            <a:xfrm>
              <a:off x="703072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4" name="Forma 43"/>
            <p:cNvSpPr/>
            <p:nvPr/>
          </p:nvSpPr>
          <p:spPr>
            <a:xfrm>
              <a:off x="730504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5" name="Adventicia"/>
            <p:cNvSpPr/>
            <p:nvPr/>
          </p:nvSpPr>
          <p:spPr>
            <a:xfrm>
              <a:off x="365760" y="5298034"/>
              <a:ext cx="7498080" cy="691286"/>
            </a:xfrm>
            <a:prstGeom prst="rect">
              <a:avLst/>
            </a:prstGeom>
            <a:gradFill rotWithShape="1">
              <a:gsLst>
                <a:gs pos="0">
                  <a:srgbClr val="F6DDCC"/>
                </a:gs>
                <a:gs pos="100000">
                  <a:srgbClr val="EDBB99"/>
                </a:gs>
              </a:gsLst>
              <a:lin ang="5400000" scaled="0"/>
            </a:gradFill>
            <a:ln w="9525" cap="rnd">
              <a:solidFill>
                <a:srgbClr val="873600"/>
              </a:solidFill>
              <a:round/>
            </a:ln>
          </p:spPr>
        </p:sp>
      </p:grpSp>
      <p:grpSp>
        <p:nvGrpSpPr>
          <p:cNvPr id="46" name="LDL luz 0"/>
          <p:cNvGrpSpPr/>
          <p:nvPr/>
        </p:nvGrpSpPr>
        <p:grpSpPr>
          <a:xfrm>
            <a:off x="914400" y="1280160"/>
            <a:ext cx="502920" cy="502920"/>
            <a:chOff x="914400" y="1280160"/>
            <a:chExt cx="502920" cy="502920"/>
          </a:xfrm>
        </p:grpSpPr>
        <p:sp>
          <p:nvSpPr>
            <p:cNvPr id="47" name="Forma 46"/>
            <p:cNvSpPr/>
            <p:nvPr/>
          </p:nvSpPr>
          <p:spPr>
            <a:xfrm>
              <a:off x="914400" y="1280160"/>
              <a:ext cx="502920" cy="50292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8" name="Forma 47"/>
            <p:cNvSpPr/>
            <p:nvPr/>
          </p:nvSpPr>
          <p:spPr>
            <a:xfrm>
              <a:off x="914400" y="1280160"/>
              <a:ext cx="502920" cy="50292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1" y="621"/>
                  </a:moveTo>
                  <a:cubicBezTo>
                    <a:pt x="981" y="636"/>
                    <a:pt x="968" y="649"/>
                    <a:pt x="953" y="649"/>
                  </a:cubicBezTo>
                  <a:cubicBezTo>
                    <a:pt x="937" y="649"/>
                    <a:pt x="925" y="636"/>
                    <a:pt x="925" y="621"/>
                  </a:cubicBezTo>
                  <a:cubicBezTo>
                    <a:pt x="925" y="605"/>
                    <a:pt x="937" y="593"/>
                    <a:pt x="953" y="593"/>
                  </a:cubicBezTo>
                  <a:cubicBezTo>
                    <a:pt x="968" y="593"/>
                    <a:pt x="981" y="605"/>
                    <a:pt x="981" y="621"/>
                  </a:cubicBezTo>
                  <a:close/>
                  <a:moveTo>
                    <a:pt x="935" y="735"/>
                  </a:moveTo>
                  <a:cubicBezTo>
                    <a:pt x="935" y="750"/>
                    <a:pt x="922" y="763"/>
                    <a:pt x="907" y="763"/>
                  </a:cubicBezTo>
                  <a:cubicBezTo>
                    <a:pt x="891" y="763"/>
                    <a:pt x="879" y="750"/>
                    <a:pt x="879" y="735"/>
                  </a:cubicBezTo>
                  <a:cubicBezTo>
                    <a:pt x="879" y="719"/>
                    <a:pt x="891" y="707"/>
                    <a:pt x="907" y="707"/>
                  </a:cubicBezTo>
                  <a:cubicBezTo>
                    <a:pt x="922" y="707"/>
                    <a:pt x="935" y="719"/>
                    <a:pt x="935" y="735"/>
                  </a:cubicBezTo>
                  <a:close/>
                  <a:moveTo>
                    <a:pt x="860" y="832"/>
                  </a:moveTo>
                  <a:cubicBezTo>
                    <a:pt x="860" y="847"/>
                    <a:pt x="847" y="860"/>
                    <a:pt x="832" y="860"/>
                  </a:cubicBezTo>
                  <a:cubicBezTo>
                    <a:pt x="816" y="860"/>
                    <a:pt x="804" y="847"/>
                    <a:pt x="804" y="832"/>
                  </a:cubicBezTo>
                  <a:cubicBezTo>
                    <a:pt x="804" y="816"/>
                    <a:pt x="816" y="804"/>
                    <a:pt x="832" y="804"/>
                  </a:cubicBezTo>
                  <a:cubicBezTo>
                    <a:pt x="847" y="804"/>
                    <a:pt x="860" y="816"/>
                    <a:pt x="860" y="832"/>
                  </a:cubicBezTo>
                  <a:close/>
                  <a:moveTo>
                    <a:pt x="763" y="907"/>
                  </a:moveTo>
                  <a:cubicBezTo>
                    <a:pt x="763" y="922"/>
                    <a:pt x="750" y="935"/>
                    <a:pt x="735" y="935"/>
                  </a:cubicBezTo>
                  <a:cubicBezTo>
                    <a:pt x="719" y="935"/>
                    <a:pt x="707" y="922"/>
                    <a:pt x="707" y="907"/>
                  </a:cubicBezTo>
                  <a:cubicBezTo>
                    <a:pt x="707" y="891"/>
                    <a:pt x="719" y="879"/>
                    <a:pt x="735" y="879"/>
                  </a:cubicBezTo>
                  <a:cubicBezTo>
                    <a:pt x="750" y="879"/>
                    <a:pt x="763" y="891"/>
                    <a:pt x="763" y="907"/>
                  </a:cubicBezTo>
                  <a:close/>
                  <a:moveTo>
                    <a:pt x="649" y="953"/>
                  </a:moveTo>
                  <a:cubicBezTo>
                    <a:pt x="649" y="968"/>
                    <a:pt x="636" y="981"/>
                    <a:pt x="621" y="981"/>
                  </a:cubicBezTo>
                  <a:cubicBezTo>
                    <a:pt x="605" y="981"/>
                    <a:pt x="593" y="968"/>
                    <a:pt x="593" y="953"/>
                  </a:cubicBezTo>
                  <a:cubicBezTo>
                    <a:pt x="593" y="937"/>
                    <a:pt x="605" y="925"/>
                    <a:pt x="621" y="925"/>
                  </a:cubicBezTo>
                  <a:cubicBezTo>
                    <a:pt x="636" y="925"/>
                    <a:pt x="649" y="937"/>
                    <a:pt x="649" y="953"/>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06" y="953"/>
                  </a:moveTo>
                  <a:cubicBezTo>
                    <a:pt x="406" y="968"/>
                    <a:pt x="393" y="981"/>
                    <a:pt x="378" y="981"/>
                  </a:cubicBezTo>
                  <a:cubicBezTo>
                    <a:pt x="362" y="981"/>
                    <a:pt x="350" y="968"/>
                    <a:pt x="350" y="953"/>
                  </a:cubicBezTo>
                  <a:cubicBezTo>
                    <a:pt x="350" y="937"/>
                    <a:pt x="362" y="925"/>
                    <a:pt x="378" y="925"/>
                  </a:cubicBezTo>
                  <a:cubicBezTo>
                    <a:pt x="393" y="925"/>
                    <a:pt x="406" y="937"/>
                    <a:pt x="406" y="953"/>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195" y="832"/>
                  </a:moveTo>
                  <a:cubicBezTo>
                    <a:pt x="195" y="847"/>
                    <a:pt x="182" y="860"/>
                    <a:pt x="167" y="860"/>
                  </a:cubicBezTo>
                  <a:cubicBezTo>
                    <a:pt x="151" y="860"/>
                    <a:pt x="139" y="847"/>
                    <a:pt x="139" y="832"/>
                  </a:cubicBezTo>
                  <a:cubicBezTo>
                    <a:pt x="139" y="816"/>
                    <a:pt x="151" y="804"/>
                    <a:pt x="167" y="804"/>
                  </a:cubicBezTo>
                  <a:cubicBezTo>
                    <a:pt x="182" y="804"/>
                    <a:pt x="195" y="816"/>
                    <a:pt x="195" y="832"/>
                  </a:cubicBezTo>
                  <a:close/>
                  <a:moveTo>
                    <a:pt x="120" y="735"/>
                  </a:moveTo>
                  <a:cubicBezTo>
                    <a:pt x="120" y="750"/>
                    <a:pt x="107" y="763"/>
                    <a:pt x="92" y="763"/>
                  </a:cubicBezTo>
                  <a:cubicBezTo>
                    <a:pt x="76" y="763"/>
                    <a:pt x="64" y="750"/>
                    <a:pt x="64" y="735"/>
                  </a:cubicBezTo>
                  <a:cubicBezTo>
                    <a:pt x="64" y="719"/>
                    <a:pt x="76" y="707"/>
                    <a:pt x="92" y="707"/>
                  </a:cubicBezTo>
                  <a:cubicBezTo>
                    <a:pt x="107" y="707"/>
                    <a:pt x="120" y="719"/>
                    <a:pt x="120" y="735"/>
                  </a:cubicBezTo>
                  <a:close/>
                  <a:moveTo>
                    <a:pt x="74" y="621"/>
                  </a:moveTo>
                  <a:cubicBezTo>
                    <a:pt x="74" y="636"/>
                    <a:pt x="61" y="649"/>
                    <a:pt x="46" y="649"/>
                  </a:cubicBezTo>
                  <a:cubicBezTo>
                    <a:pt x="30" y="649"/>
                    <a:pt x="18" y="636"/>
                    <a:pt x="18" y="621"/>
                  </a:cubicBezTo>
                  <a:cubicBezTo>
                    <a:pt x="18" y="605"/>
                    <a:pt x="30" y="593"/>
                    <a:pt x="46" y="593"/>
                  </a:cubicBezTo>
                  <a:cubicBezTo>
                    <a:pt x="61" y="593"/>
                    <a:pt x="74" y="605"/>
                    <a:pt x="74" y="621"/>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74" y="378"/>
                  </a:moveTo>
                  <a:cubicBezTo>
                    <a:pt x="74" y="393"/>
                    <a:pt x="61" y="406"/>
                    <a:pt x="46" y="406"/>
                  </a:cubicBezTo>
                  <a:cubicBezTo>
                    <a:pt x="30" y="406"/>
                    <a:pt x="18" y="393"/>
                    <a:pt x="18" y="378"/>
                  </a:cubicBezTo>
                  <a:cubicBezTo>
                    <a:pt x="18" y="362"/>
                    <a:pt x="30" y="350"/>
                    <a:pt x="46" y="350"/>
                  </a:cubicBezTo>
                  <a:cubicBezTo>
                    <a:pt x="61" y="350"/>
                    <a:pt x="74" y="362"/>
                    <a:pt x="74" y="378"/>
                  </a:cubicBezTo>
                  <a:close/>
                  <a:moveTo>
                    <a:pt x="120" y="265"/>
                  </a:moveTo>
                  <a:cubicBezTo>
                    <a:pt x="120" y="280"/>
                    <a:pt x="107" y="293"/>
                    <a:pt x="92" y="293"/>
                  </a:cubicBezTo>
                  <a:cubicBezTo>
                    <a:pt x="76" y="293"/>
                    <a:pt x="64" y="280"/>
                    <a:pt x="64" y="265"/>
                  </a:cubicBezTo>
                  <a:cubicBezTo>
                    <a:pt x="64" y="249"/>
                    <a:pt x="76" y="237"/>
                    <a:pt x="92" y="237"/>
                  </a:cubicBezTo>
                  <a:cubicBezTo>
                    <a:pt x="107" y="237"/>
                    <a:pt x="120" y="249"/>
                    <a:pt x="120" y="265"/>
                  </a:cubicBezTo>
                  <a:close/>
                  <a:moveTo>
                    <a:pt x="195" y="167"/>
                  </a:moveTo>
                  <a:cubicBezTo>
                    <a:pt x="195" y="182"/>
                    <a:pt x="182" y="195"/>
                    <a:pt x="167" y="195"/>
                  </a:cubicBezTo>
                  <a:cubicBezTo>
                    <a:pt x="151" y="195"/>
                    <a:pt x="139" y="182"/>
                    <a:pt x="139" y="167"/>
                  </a:cubicBezTo>
                  <a:cubicBezTo>
                    <a:pt x="139" y="151"/>
                    <a:pt x="151" y="139"/>
                    <a:pt x="167" y="139"/>
                  </a:cubicBezTo>
                  <a:cubicBezTo>
                    <a:pt x="182" y="139"/>
                    <a:pt x="195" y="151"/>
                    <a:pt x="195" y="167"/>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406" y="46"/>
                  </a:moveTo>
                  <a:cubicBezTo>
                    <a:pt x="406" y="61"/>
                    <a:pt x="393" y="74"/>
                    <a:pt x="378" y="74"/>
                  </a:cubicBezTo>
                  <a:cubicBezTo>
                    <a:pt x="362" y="74"/>
                    <a:pt x="350" y="61"/>
                    <a:pt x="350" y="46"/>
                  </a:cubicBezTo>
                  <a:cubicBezTo>
                    <a:pt x="350" y="30"/>
                    <a:pt x="362" y="18"/>
                    <a:pt x="378" y="18"/>
                  </a:cubicBezTo>
                  <a:cubicBezTo>
                    <a:pt x="393" y="18"/>
                    <a:pt x="406" y="30"/>
                    <a:pt x="406" y="46"/>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649" y="46"/>
                  </a:moveTo>
                  <a:cubicBezTo>
                    <a:pt x="649" y="61"/>
                    <a:pt x="636" y="74"/>
                    <a:pt x="621" y="74"/>
                  </a:cubicBezTo>
                  <a:cubicBezTo>
                    <a:pt x="605" y="74"/>
                    <a:pt x="593" y="61"/>
                    <a:pt x="593" y="46"/>
                  </a:cubicBezTo>
                  <a:cubicBezTo>
                    <a:pt x="593" y="30"/>
                    <a:pt x="605" y="18"/>
                    <a:pt x="621" y="18"/>
                  </a:cubicBezTo>
                  <a:cubicBezTo>
                    <a:pt x="636" y="18"/>
                    <a:pt x="649" y="30"/>
                    <a:pt x="649" y="46"/>
                  </a:cubicBezTo>
                  <a:close/>
                  <a:moveTo>
                    <a:pt x="763" y="92"/>
                  </a:moveTo>
                  <a:cubicBezTo>
                    <a:pt x="763" y="107"/>
                    <a:pt x="750" y="120"/>
                    <a:pt x="735" y="120"/>
                  </a:cubicBezTo>
                  <a:cubicBezTo>
                    <a:pt x="719" y="120"/>
                    <a:pt x="707" y="107"/>
                    <a:pt x="707" y="92"/>
                  </a:cubicBezTo>
                  <a:cubicBezTo>
                    <a:pt x="707" y="76"/>
                    <a:pt x="719" y="64"/>
                    <a:pt x="735" y="64"/>
                  </a:cubicBezTo>
                  <a:cubicBezTo>
                    <a:pt x="750" y="64"/>
                    <a:pt x="763" y="76"/>
                    <a:pt x="763" y="92"/>
                  </a:cubicBezTo>
                  <a:close/>
                  <a:moveTo>
                    <a:pt x="860" y="167"/>
                  </a:moveTo>
                  <a:cubicBezTo>
                    <a:pt x="860" y="182"/>
                    <a:pt x="847" y="195"/>
                    <a:pt x="832" y="195"/>
                  </a:cubicBezTo>
                  <a:cubicBezTo>
                    <a:pt x="816" y="195"/>
                    <a:pt x="804" y="182"/>
                    <a:pt x="804" y="167"/>
                  </a:cubicBezTo>
                  <a:cubicBezTo>
                    <a:pt x="804" y="151"/>
                    <a:pt x="816" y="139"/>
                    <a:pt x="832" y="139"/>
                  </a:cubicBezTo>
                  <a:cubicBezTo>
                    <a:pt x="847" y="139"/>
                    <a:pt x="860" y="151"/>
                    <a:pt x="860" y="167"/>
                  </a:cubicBezTo>
                  <a:close/>
                  <a:moveTo>
                    <a:pt x="935" y="264"/>
                  </a:moveTo>
                  <a:cubicBezTo>
                    <a:pt x="935" y="279"/>
                    <a:pt x="922" y="292"/>
                    <a:pt x="907" y="292"/>
                  </a:cubicBezTo>
                  <a:cubicBezTo>
                    <a:pt x="891" y="292"/>
                    <a:pt x="879" y="279"/>
                    <a:pt x="879" y="264"/>
                  </a:cubicBezTo>
                  <a:cubicBezTo>
                    <a:pt x="879" y="248"/>
                    <a:pt x="891" y="236"/>
                    <a:pt x="907" y="236"/>
                  </a:cubicBezTo>
                  <a:cubicBezTo>
                    <a:pt x="922" y="236"/>
                    <a:pt x="935" y="248"/>
                    <a:pt x="935" y="264"/>
                  </a:cubicBezTo>
                  <a:close/>
                  <a:moveTo>
                    <a:pt x="981" y="378"/>
                  </a:moveTo>
                  <a:cubicBezTo>
                    <a:pt x="981" y="393"/>
                    <a:pt x="968" y="406"/>
                    <a:pt x="953" y="406"/>
                  </a:cubicBezTo>
                  <a:cubicBezTo>
                    <a:pt x="937" y="406"/>
                    <a:pt x="925" y="393"/>
                    <a:pt x="925" y="378"/>
                  </a:cubicBezTo>
                  <a:cubicBezTo>
                    <a:pt x="925" y="362"/>
                    <a:pt x="937" y="350"/>
                    <a:pt x="953" y="350"/>
                  </a:cubicBezTo>
                  <a:cubicBezTo>
                    <a:pt x="968" y="350"/>
                    <a:pt x="981" y="362"/>
                    <a:pt x="981" y="37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9" name="Forma 48"/>
            <p:cNvSpPr/>
            <p:nvPr/>
          </p:nvSpPr>
          <p:spPr>
            <a:xfrm>
              <a:off x="914400" y="1280160"/>
              <a:ext cx="502920" cy="50292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38100" cap="rnd">
              <a:solidFill>
                <a:srgbClr val="2E4A9E"/>
              </a:solidFill>
              <a:round/>
            </a:ln>
          </p:spPr>
        </p:sp>
        <p:sp>
          <p:nvSpPr>
            <p:cNvPr id="50" name="Forma 49"/>
            <p:cNvSpPr txBox="1"/>
            <p:nvPr/>
          </p:nvSpPr>
          <p:spPr>
            <a:xfrm>
              <a:off x="914400" y="1431036"/>
              <a:ext cx="502920" cy="201168"/>
            </a:xfrm>
            <a:prstGeom prst="rect">
              <a:avLst/>
            </a:prstGeom>
            <a:noFill/>
            <a:ln>
              <a:noFill/>
            </a:ln>
          </p:spPr>
          <p:txBody>
            <a:bodyPr wrap="square" lIns="0" tIns="0" rIns="0" bIns="0" anchor="ctr" rtlCol="0">
              <a:noAutofit/>
            </a:bodyPr>
            <a:lstStyle/>
            <a:p>
              <a:pPr algn="ctr">
                <a:spcAft>
                  <a:spcPts val="300"/>
                </a:spcAft>
                <a:buNone/>
              </a:pPr>
              <a:r>
                <a:rPr lang="es-AR" sz="800" b="1" dirty="0">
                  <a:solidFill>
                    <a:srgbClr val="1E1E1E"/>
                  </a:solidFill>
                  <a:latin typeface="Bahnschrift SemiBold Condensed"/>
                  <a:ea typeface="Bahnschrift SemiBold Condensed"/>
                  <a:cs typeface="Bahnschrift SemiBold Condensed"/>
                  <a:sym typeface="Bahnschrift SemiBold Condensed"/>
                </a:rPr>
                <a:t>LDL</a:t>
              </a:r>
              <a:endParaRPr lang="es-AR" sz="800" dirty="0">
                <a:latin typeface="Bahnschrift SemiBold Condensed"/>
              </a:endParaRPr>
            </a:p>
          </p:txBody>
        </p:sp>
      </p:grpSp>
      <p:grpSp>
        <p:nvGrpSpPr>
          <p:cNvPr id="51" name="LDL luz 1"/>
          <p:cNvGrpSpPr/>
          <p:nvPr/>
        </p:nvGrpSpPr>
        <p:grpSpPr>
          <a:xfrm>
            <a:off x="2377440" y="1645920"/>
            <a:ext cx="502920" cy="502920"/>
            <a:chOff x="2377440" y="1645920"/>
            <a:chExt cx="502920" cy="502920"/>
          </a:xfrm>
        </p:grpSpPr>
        <p:sp>
          <p:nvSpPr>
            <p:cNvPr id="52" name="Forma 51"/>
            <p:cNvSpPr/>
            <p:nvPr/>
          </p:nvSpPr>
          <p:spPr>
            <a:xfrm>
              <a:off x="2377440" y="1645920"/>
              <a:ext cx="502920" cy="50292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3" name="Forma 52"/>
            <p:cNvSpPr/>
            <p:nvPr/>
          </p:nvSpPr>
          <p:spPr>
            <a:xfrm>
              <a:off x="2377440" y="1645920"/>
              <a:ext cx="502920" cy="50292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1" y="621"/>
                  </a:moveTo>
                  <a:cubicBezTo>
                    <a:pt x="981" y="636"/>
                    <a:pt x="968" y="649"/>
                    <a:pt x="953" y="649"/>
                  </a:cubicBezTo>
                  <a:cubicBezTo>
                    <a:pt x="937" y="649"/>
                    <a:pt x="925" y="636"/>
                    <a:pt x="925" y="621"/>
                  </a:cubicBezTo>
                  <a:cubicBezTo>
                    <a:pt x="925" y="605"/>
                    <a:pt x="937" y="593"/>
                    <a:pt x="953" y="593"/>
                  </a:cubicBezTo>
                  <a:cubicBezTo>
                    <a:pt x="968" y="593"/>
                    <a:pt x="981" y="605"/>
                    <a:pt x="981" y="621"/>
                  </a:cubicBezTo>
                  <a:close/>
                  <a:moveTo>
                    <a:pt x="935" y="735"/>
                  </a:moveTo>
                  <a:cubicBezTo>
                    <a:pt x="935" y="750"/>
                    <a:pt x="922" y="763"/>
                    <a:pt x="907" y="763"/>
                  </a:cubicBezTo>
                  <a:cubicBezTo>
                    <a:pt x="891" y="763"/>
                    <a:pt x="879" y="750"/>
                    <a:pt x="879" y="735"/>
                  </a:cubicBezTo>
                  <a:cubicBezTo>
                    <a:pt x="879" y="719"/>
                    <a:pt x="891" y="707"/>
                    <a:pt x="907" y="707"/>
                  </a:cubicBezTo>
                  <a:cubicBezTo>
                    <a:pt x="922" y="707"/>
                    <a:pt x="935" y="719"/>
                    <a:pt x="935" y="735"/>
                  </a:cubicBezTo>
                  <a:close/>
                  <a:moveTo>
                    <a:pt x="860" y="832"/>
                  </a:moveTo>
                  <a:cubicBezTo>
                    <a:pt x="860" y="847"/>
                    <a:pt x="847" y="860"/>
                    <a:pt x="832" y="860"/>
                  </a:cubicBezTo>
                  <a:cubicBezTo>
                    <a:pt x="816" y="860"/>
                    <a:pt x="804" y="847"/>
                    <a:pt x="804" y="832"/>
                  </a:cubicBezTo>
                  <a:cubicBezTo>
                    <a:pt x="804" y="816"/>
                    <a:pt x="816" y="804"/>
                    <a:pt x="832" y="804"/>
                  </a:cubicBezTo>
                  <a:cubicBezTo>
                    <a:pt x="847" y="804"/>
                    <a:pt x="860" y="816"/>
                    <a:pt x="860" y="832"/>
                  </a:cubicBezTo>
                  <a:close/>
                  <a:moveTo>
                    <a:pt x="763" y="907"/>
                  </a:moveTo>
                  <a:cubicBezTo>
                    <a:pt x="763" y="922"/>
                    <a:pt x="750" y="935"/>
                    <a:pt x="735" y="935"/>
                  </a:cubicBezTo>
                  <a:cubicBezTo>
                    <a:pt x="719" y="935"/>
                    <a:pt x="707" y="922"/>
                    <a:pt x="707" y="907"/>
                  </a:cubicBezTo>
                  <a:cubicBezTo>
                    <a:pt x="707" y="891"/>
                    <a:pt x="719" y="879"/>
                    <a:pt x="735" y="879"/>
                  </a:cubicBezTo>
                  <a:cubicBezTo>
                    <a:pt x="750" y="879"/>
                    <a:pt x="763" y="891"/>
                    <a:pt x="763" y="907"/>
                  </a:cubicBezTo>
                  <a:close/>
                  <a:moveTo>
                    <a:pt x="649" y="953"/>
                  </a:moveTo>
                  <a:cubicBezTo>
                    <a:pt x="649" y="968"/>
                    <a:pt x="636" y="981"/>
                    <a:pt x="621" y="981"/>
                  </a:cubicBezTo>
                  <a:cubicBezTo>
                    <a:pt x="605" y="981"/>
                    <a:pt x="593" y="968"/>
                    <a:pt x="593" y="953"/>
                  </a:cubicBezTo>
                  <a:cubicBezTo>
                    <a:pt x="593" y="937"/>
                    <a:pt x="605" y="925"/>
                    <a:pt x="621" y="925"/>
                  </a:cubicBezTo>
                  <a:cubicBezTo>
                    <a:pt x="636" y="925"/>
                    <a:pt x="649" y="937"/>
                    <a:pt x="649" y="953"/>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06" y="953"/>
                  </a:moveTo>
                  <a:cubicBezTo>
                    <a:pt x="406" y="968"/>
                    <a:pt x="393" y="981"/>
                    <a:pt x="378" y="981"/>
                  </a:cubicBezTo>
                  <a:cubicBezTo>
                    <a:pt x="362" y="981"/>
                    <a:pt x="350" y="968"/>
                    <a:pt x="350" y="953"/>
                  </a:cubicBezTo>
                  <a:cubicBezTo>
                    <a:pt x="350" y="937"/>
                    <a:pt x="362" y="925"/>
                    <a:pt x="378" y="925"/>
                  </a:cubicBezTo>
                  <a:cubicBezTo>
                    <a:pt x="393" y="925"/>
                    <a:pt x="406" y="937"/>
                    <a:pt x="406" y="953"/>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195" y="832"/>
                  </a:moveTo>
                  <a:cubicBezTo>
                    <a:pt x="195" y="847"/>
                    <a:pt x="182" y="860"/>
                    <a:pt x="167" y="860"/>
                  </a:cubicBezTo>
                  <a:cubicBezTo>
                    <a:pt x="151" y="860"/>
                    <a:pt x="139" y="847"/>
                    <a:pt x="139" y="832"/>
                  </a:cubicBezTo>
                  <a:cubicBezTo>
                    <a:pt x="139" y="816"/>
                    <a:pt x="151" y="804"/>
                    <a:pt x="167" y="804"/>
                  </a:cubicBezTo>
                  <a:cubicBezTo>
                    <a:pt x="182" y="804"/>
                    <a:pt x="195" y="816"/>
                    <a:pt x="195" y="832"/>
                  </a:cubicBezTo>
                  <a:close/>
                  <a:moveTo>
                    <a:pt x="120" y="735"/>
                  </a:moveTo>
                  <a:cubicBezTo>
                    <a:pt x="120" y="750"/>
                    <a:pt x="107" y="763"/>
                    <a:pt x="92" y="763"/>
                  </a:cubicBezTo>
                  <a:cubicBezTo>
                    <a:pt x="76" y="763"/>
                    <a:pt x="64" y="750"/>
                    <a:pt x="64" y="735"/>
                  </a:cubicBezTo>
                  <a:cubicBezTo>
                    <a:pt x="64" y="719"/>
                    <a:pt x="76" y="707"/>
                    <a:pt x="92" y="707"/>
                  </a:cubicBezTo>
                  <a:cubicBezTo>
                    <a:pt x="107" y="707"/>
                    <a:pt x="120" y="719"/>
                    <a:pt x="120" y="735"/>
                  </a:cubicBezTo>
                  <a:close/>
                  <a:moveTo>
                    <a:pt x="74" y="621"/>
                  </a:moveTo>
                  <a:cubicBezTo>
                    <a:pt x="74" y="636"/>
                    <a:pt x="61" y="649"/>
                    <a:pt x="46" y="649"/>
                  </a:cubicBezTo>
                  <a:cubicBezTo>
                    <a:pt x="30" y="649"/>
                    <a:pt x="18" y="636"/>
                    <a:pt x="18" y="621"/>
                  </a:cubicBezTo>
                  <a:cubicBezTo>
                    <a:pt x="18" y="605"/>
                    <a:pt x="30" y="593"/>
                    <a:pt x="46" y="593"/>
                  </a:cubicBezTo>
                  <a:cubicBezTo>
                    <a:pt x="61" y="593"/>
                    <a:pt x="74" y="605"/>
                    <a:pt x="74" y="621"/>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74" y="378"/>
                  </a:moveTo>
                  <a:cubicBezTo>
                    <a:pt x="74" y="393"/>
                    <a:pt x="61" y="406"/>
                    <a:pt x="46" y="406"/>
                  </a:cubicBezTo>
                  <a:cubicBezTo>
                    <a:pt x="30" y="406"/>
                    <a:pt x="18" y="393"/>
                    <a:pt x="18" y="378"/>
                  </a:cubicBezTo>
                  <a:cubicBezTo>
                    <a:pt x="18" y="362"/>
                    <a:pt x="30" y="350"/>
                    <a:pt x="46" y="350"/>
                  </a:cubicBezTo>
                  <a:cubicBezTo>
                    <a:pt x="61" y="350"/>
                    <a:pt x="74" y="362"/>
                    <a:pt x="74" y="378"/>
                  </a:cubicBezTo>
                  <a:close/>
                  <a:moveTo>
                    <a:pt x="120" y="265"/>
                  </a:moveTo>
                  <a:cubicBezTo>
                    <a:pt x="120" y="280"/>
                    <a:pt x="107" y="293"/>
                    <a:pt x="92" y="293"/>
                  </a:cubicBezTo>
                  <a:cubicBezTo>
                    <a:pt x="76" y="293"/>
                    <a:pt x="64" y="280"/>
                    <a:pt x="64" y="265"/>
                  </a:cubicBezTo>
                  <a:cubicBezTo>
                    <a:pt x="64" y="249"/>
                    <a:pt x="76" y="237"/>
                    <a:pt x="92" y="237"/>
                  </a:cubicBezTo>
                  <a:cubicBezTo>
                    <a:pt x="107" y="237"/>
                    <a:pt x="120" y="249"/>
                    <a:pt x="120" y="265"/>
                  </a:cubicBezTo>
                  <a:close/>
                  <a:moveTo>
                    <a:pt x="195" y="167"/>
                  </a:moveTo>
                  <a:cubicBezTo>
                    <a:pt x="195" y="182"/>
                    <a:pt x="182" y="195"/>
                    <a:pt x="167" y="195"/>
                  </a:cubicBezTo>
                  <a:cubicBezTo>
                    <a:pt x="151" y="195"/>
                    <a:pt x="139" y="182"/>
                    <a:pt x="139" y="167"/>
                  </a:cubicBezTo>
                  <a:cubicBezTo>
                    <a:pt x="139" y="151"/>
                    <a:pt x="151" y="139"/>
                    <a:pt x="167" y="139"/>
                  </a:cubicBezTo>
                  <a:cubicBezTo>
                    <a:pt x="182" y="139"/>
                    <a:pt x="195" y="151"/>
                    <a:pt x="195" y="167"/>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406" y="46"/>
                  </a:moveTo>
                  <a:cubicBezTo>
                    <a:pt x="406" y="61"/>
                    <a:pt x="393" y="74"/>
                    <a:pt x="378" y="74"/>
                  </a:cubicBezTo>
                  <a:cubicBezTo>
                    <a:pt x="362" y="74"/>
                    <a:pt x="350" y="61"/>
                    <a:pt x="350" y="46"/>
                  </a:cubicBezTo>
                  <a:cubicBezTo>
                    <a:pt x="350" y="30"/>
                    <a:pt x="362" y="18"/>
                    <a:pt x="378" y="18"/>
                  </a:cubicBezTo>
                  <a:cubicBezTo>
                    <a:pt x="393" y="18"/>
                    <a:pt x="406" y="30"/>
                    <a:pt x="406" y="46"/>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649" y="46"/>
                  </a:moveTo>
                  <a:cubicBezTo>
                    <a:pt x="649" y="61"/>
                    <a:pt x="636" y="74"/>
                    <a:pt x="621" y="74"/>
                  </a:cubicBezTo>
                  <a:cubicBezTo>
                    <a:pt x="605" y="74"/>
                    <a:pt x="593" y="61"/>
                    <a:pt x="593" y="46"/>
                  </a:cubicBezTo>
                  <a:cubicBezTo>
                    <a:pt x="593" y="30"/>
                    <a:pt x="605" y="18"/>
                    <a:pt x="621" y="18"/>
                  </a:cubicBezTo>
                  <a:cubicBezTo>
                    <a:pt x="636" y="18"/>
                    <a:pt x="649" y="30"/>
                    <a:pt x="649" y="46"/>
                  </a:cubicBezTo>
                  <a:close/>
                  <a:moveTo>
                    <a:pt x="763" y="92"/>
                  </a:moveTo>
                  <a:cubicBezTo>
                    <a:pt x="763" y="107"/>
                    <a:pt x="750" y="120"/>
                    <a:pt x="735" y="120"/>
                  </a:cubicBezTo>
                  <a:cubicBezTo>
                    <a:pt x="719" y="120"/>
                    <a:pt x="707" y="107"/>
                    <a:pt x="707" y="92"/>
                  </a:cubicBezTo>
                  <a:cubicBezTo>
                    <a:pt x="707" y="76"/>
                    <a:pt x="719" y="64"/>
                    <a:pt x="735" y="64"/>
                  </a:cubicBezTo>
                  <a:cubicBezTo>
                    <a:pt x="750" y="64"/>
                    <a:pt x="763" y="76"/>
                    <a:pt x="763" y="92"/>
                  </a:cubicBezTo>
                  <a:close/>
                  <a:moveTo>
                    <a:pt x="860" y="167"/>
                  </a:moveTo>
                  <a:cubicBezTo>
                    <a:pt x="860" y="182"/>
                    <a:pt x="847" y="195"/>
                    <a:pt x="832" y="195"/>
                  </a:cubicBezTo>
                  <a:cubicBezTo>
                    <a:pt x="816" y="195"/>
                    <a:pt x="804" y="182"/>
                    <a:pt x="804" y="167"/>
                  </a:cubicBezTo>
                  <a:cubicBezTo>
                    <a:pt x="804" y="151"/>
                    <a:pt x="816" y="139"/>
                    <a:pt x="832" y="139"/>
                  </a:cubicBezTo>
                  <a:cubicBezTo>
                    <a:pt x="847" y="139"/>
                    <a:pt x="860" y="151"/>
                    <a:pt x="860" y="167"/>
                  </a:cubicBezTo>
                  <a:close/>
                  <a:moveTo>
                    <a:pt x="935" y="264"/>
                  </a:moveTo>
                  <a:cubicBezTo>
                    <a:pt x="935" y="279"/>
                    <a:pt x="922" y="292"/>
                    <a:pt x="907" y="292"/>
                  </a:cubicBezTo>
                  <a:cubicBezTo>
                    <a:pt x="891" y="292"/>
                    <a:pt x="879" y="279"/>
                    <a:pt x="879" y="264"/>
                  </a:cubicBezTo>
                  <a:cubicBezTo>
                    <a:pt x="879" y="248"/>
                    <a:pt x="891" y="236"/>
                    <a:pt x="907" y="236"/>
                  </a:cubicBezTo>
                  <a:cubicBezTo>
                    <a:pt x="922" y="236"/>
                    <a:pt x="935" y="248"/>
                    <a:pt x="935" y="264"/>
                  </a:cubicBezTo>
                  <a:close/>
                  <a:moveTo>
                    <a:pt x="981" y="378"/>
                  </a:moveTo>
                  <a:cubicBezTo>
                    <a:pt x="981" y="393"/>
                    <a:pt x="968" y="406"/>
                    <a:pt x="953" y="406"/>
                  </a:cubicBezTo>
                  <a:cubicBezTo>
                    <a:pt x="937" y="406"/>
                    <a:pt x="925" y="393"/>
                    <a:pt x="925" y="378"/>
                  </a:cubicBezTo>
                  <a:cubicBezTo>
                    <a:pt x="925" y="362"/>
                    <a:pt x="937" y="350"/>
                    <a:pt x="953" y="350"/>
                  </a:cubicBezTo>
                  <a:cubicBezTo>
                    <a:pt x="968" y="350"/>
                    <a:pt x="981" y="362"/>
                    <a:pt x="981" y="37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4" name="Forma 53"/>
            <p:cNvSpPr/>
            <p:nvPr/>
          </p:nvSpPr>
          <p:spPr>
            <a:xfrm>
              <a:off x="2377440" y="1645920"/>
              <a:ext cx="502920" cy="50292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38100" cap="rnd">
              <a:solidFill>
                <a:srgbClr val="2E4A9E"/>
              </a:solidFill>
              <a:round/>
            </a:ln>
          </p:spPr>
        </p:sp>
        <p:sp>
          <p:nvSpPr>
            <p:cNvPr id="55" name="Forma 54"/>
            <p:cNvSpPr txBox="1"/>
            <p:nvPr/>
          </p:nvSpPr>
          <p:spPr>
            <a:xfrm>
              <a:off x="2377440" y="1796796"/>
              <a:ext cx="502920" cy="201168"/>
            </a:xfrm>
            <a:prstGeom prst="rect">
              <a:avLst/>
            </a:prstGeom>
            <a:noFill/>
            <a:ln>
              <a:noFill/>
            </a:ln>
          </p:spPr>
          <p:txBody>
            <a:bodyPr wrap="square" lIns="0" tIns="0" rIns="0" bIns="0" anchor="ctr" rtlCol="0">
              <a:noAutofit/>
            </a:bodyPr>
            <a:lstStyle/>
            <a:p>
              <a:pPr algn="ctr">
                <a:spcAft>
                  <a:spcPts val="300"/>
                </a:spcAft>
                <a:buNone/>
              </a:pPr>
              <a:r>
                <a:rPr lang="es-AR" sz="800" b="1" dirty="0">
                  <a:solidFill>
                    <a:srgbClr val="1E1E1E"/>
                  </a:solidFill>
                  <a:latin typeface="Bahnschrift SemiBold Condensed"/>
                  <a:ea typeface="Bahnschrift SemiBold Condensed"/>
                  <a:cs typeface="Bahnschrift SemiBold Condensed"/>
                  <a:sym typeface="Bahnschrift SemiBold Condensed"/>
                </a:rPr>
                <a:t>LDL</a:t>
              </a:r>
              <a:endParaRPr lang="es-AR" sz="800" dirty="0">
                <a:latin typeface="Bahnschrift SemiBold Condensed"/>
              </a:endParaRPr>
            </a:p>
          </p:txBody>
        </p:sp>
      </p:grpSp>
      <p:grpSp>
        <p:nvGrpSpPr>
          <p:cNvPr id="56" name="LDL luz 2"/>
          <p:cNvGrpSpPr/>
          <p:nvPr/>
        </p:nvGrpSpPr>
        <p:grpSpPr>
          <a:xfrm>
            <a:off x="4023360" y="1188720"/>
            <a:ext cx="502920" cy="502920"/>
            <a:chOff x="4023360" y="1188720"/>
            <a:chExt cx="502920" cy="502920"/>
          </a:xfrm>
        </p:grpSpPr>
        <p:sp>
          <p:nvSpPr>
            <p:cNvPr id="57" name="Forma 56"/>
            <p:cNvSpPr/>
            <p:nvPr/>
          </p:nvSpPr>
          <p:spPr>
            <a:xfrm>
              <a:off x="4023360" y="1188720"/>
              <a:ext cx="502920" cy="50292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58" name="Forma 57"/>
            <p:cNvSpPr/>
            <p:nvPr/>
          </p:nvSpPr>
          <p:spPr>
            <a:xfrm>
              <a:off x="4023360" y="1188720"/>
              <a:ext cx="502920" cy="50292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1" y="621"/>
                  </a:moveTo>
                  <a:cubicBezTo>
                    <a:pt x="981" y="636"/>
                    <a:pt x="968" y="649"/>
                    <a:pt x="953" y="649"/>
                  </a:cubicBezTo>
                  <a:cubicBezTo>
                    <a:pt x="937" y="649"/>
                    <a:pt x="925" y="636"/>
                    <a:pt x="925" y="621"/>
                  </a:cubicBezTo>
                  <a:cubicBezTo>
                    <a:pt x="925" y="605"/>
                    <a:pt x="937" y="593"/>
                    <a:pt x="953" y="593"/>
                  </a:cubicBezTo>
                  <a:cubicBezTo>
                    <a:pt x="968" y="593"/>
                    <a:pt x="981" y="605"/>
                    <a:pt x="981" y="621"/>
                  </a:cubicBezTo>
                  <a:close/>
                  <a:moveTo>
                    <a:pt x="935" y="735"/>
                  </a:moveTo>
                  <a:cubicBezTo>
                    <a:pt x="935" y="750"/>
                    <a:pt x="922" y="763"/>
                    <a:pt x="907" y="763"/>
                  </a:cubicBezTo>
                  <a:cubicBezTo>
                    <a:pt x="891" y="763"/>
                    <a:pt x="879" y="750"/>
                    <a:pt x="879" y="735"/>
                  </a:cubicBezTo>
                  <a:cubicBezTo>
                    <a:pt x="879" y="719"/>
                    <a:pt x="891" y="707"/>
                    <a:pt x="907" y="707"/>
                  </a:cubicBezTo>
                  <a:cubicBezTo>
                    <a:pt x="922" y="707"/>
                    <a:pt x="935" y="719"/>
                    <a:pt x="935" y="735"/>
                  </a:cubicBezTo>
                  <a:close/>
                  <a:moveTo>
                    <a:pt x="860" y="832"/>
                  </a:moveTo>
                  <a:cubicBezTo>
                    <a:pt x="860" y="847"/>
                    <a:pt x="847" y="860"/>
                    <a:pt x="832" y="860"/>
                  </a:cubicBezTo>
                  <a:cubicBezTo>
                    <a:pt x="816" y="860"/>
                    <a:pt x="804" y="847"/>
                    <a:pt x="804" y="832"/>
                  </a:cubicBezTo>
                  <a:cubicBezTo>
                    <a:pt x="804" y="816"/>
                    <a:pt x="816" y="804"/>
                    <a:pt x="832" y="804"/>
                  </a:cubicBezTo>
                  <a:cubicBezTo>
                    <a:pt x="847" y="804"/>
                    <a:pt x="860" y="816"/>
                    <a:pt x="860" y="832"/>
                  </a:cubicBezTo>
                  <a:close/>
                  <a:moveTo>
                    <a:pt x="763" y="907"/>
                  </a:moveTo>
                  <a:cubicBezTo>
                    <a:pt x="763" y="922"/>
                    <a:pt x="750" y="935"/>
                    <a:pt x="735" y="935"/>
                  </a:cubicBezTo>
                  <a:cubicBezTo>
                    <a:pt x="719" y="935"/>
                    <a:pt x="707" y="922"/>
                    <a:pt x="707" y="907"/>
                  </a:cubicBezTo>
                  <a:cubicBezTo>
                    <a:pt x="707" y="891"/>
                    <a:pt x="719" y="879"/>
                    <a:pt x="735" y="879"/>
                  </a:cubicBezTo>
                  <a:cubicBezTo>
                    <a:pt x="750" y="879"/>
                    <a:pt x="763" y="891"/>
                    <a:pt x="763" y="907"/>
                  </a:cubicBezTo>
                  <a:close/>
                  <a:moveTo>
                    <a:pt x="649" y="953"/>
                  </a:moveTo>
                  <a:cubicBezTo>
                    <a:pt x="649" y="968"/>
                    <a:pt x="636" y="981"/>
                    <a:pt x="621" y="981"/>
                  </a:cubicBezTo>
                  <a:cubicBezTo>
                    <a:pt x="605" y="981"/>
                    <a:pt x="593" y="968"/>
                    <a:pt x="593" y="953"/>
                  </a:cubicBezTo>
                  <a:cubicBezTo>
                    <a:pt x="593" y="937"/>
                    <a:pt x="605" y="925"/>
                    <a:pt x="621" y="925"/>
                  </a:cubicBezTo>
                  <a:cubicBezTo>
                    <a:pt x="636" y="925"/>
                    <a:pt x="649" y="937"/>
                    <a:pt x="649" y="953"/>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06" y="953"/>
                  </a:moveTo>
                  <a:cubicBezTo>
                    <a:pt x="406" y="968"/>
                    <a:pt x="393" y="981"/>
                    <a:pt x="378" y="981"/>
                  </a:cubicBezTo>
                  <a:cubicBezTo>
                    <a:pt x="362" y="981"/>
                    <a:pt x="350" y="968"/>
                    <a:pt x="350" y="953"/>
                  </a:cubicBezTo>
                  <a:cubicBezTo>
                    <a:pt x="350" y="937"/>
                    <a:pt x="362" y="925"/>
                    <a:pt x="378" y="925"/>
                  </a:cubicBezTo>
                  <a:cubicBezTo>
                    <a:pt x="393" y="925"/>
                    <a:pt x="406" y="937"/>
                    <a:pt x="406" y="953"/>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195" y="832"/>
                  </a:moveTo>
                  <a:cubicBezTo>
                    <a:pt x="195" y="847"/>
                    <a:pt x="182" y="860"/>
                    <a:pt x="167" y="860"/>
                  </a:cubicBezTo>
                  <a:cubicBezTo>
                    <a:pt x="151" y="860"/>
                    <a:pt x="139" y="847"/>
                    <a:pt x="139" y="832"/>
                  </a:cubicBezTo>
                  <a:cubicBezTo>
                    <a:pt x="139" y="816"/>
                    <a:pt x="151" y="804"/>
                    <a:pt x="167" y="804"/>
                  </a:cubicBezTo>
                  <a:cubicBezTo>
                    <a:pt x="182" y="804"/>
                    <a:pt x="195" y="816"/>
                    <a:pt x="195" y="832"/>
                  </a:cubicBezTo>
                  <a:close/>
                  <a:moveTo>
                    <a:pt x="120" y="735"/>
                  </a:moveTo>
                  <a:cubicBezTo>
                    <a:pt x="120" y="750"/>
                    <a:pt x="107" y="763"/>
                    <a:pt x="92" y="763"/>
                  </a:cubicBezTo>
                  <a:cubicBezTo>
                    <a:pt x="76" y="763"/>
                    <a:pt x="64" y="750"/>
                    <a:pt x="64" y="735"/>
                  </a:cubicBezTo>
                  <a:cubicBezTo>
                    <a:pt x="64" y="719"/>
                    <a:pt x="76" y="707"/>
                    <a:pt x="92" y="707"/>
                  </a:cubicBezTo>
                  <a:cubicBezTo>
                    <a:pt x="107" y="707"/>
                    <a:pt x="120" y="719"/>
                    <a:pt x="120" y="735"/>
                  </a:cubicBezTo>
                  <a:close/>
                  <a:moveTo>
                    <a:pt x="74" y="621"/>
                  </a:moveTo>
                  <a:cubicBezTo>
                    <a:pt x="74" y="636"/>
                    <a:pt x="61" y="649"/>
                    <a:pt x="46" y="649"/>
                  </a:cubicBezTo>
                  <a:cubicBezTo>
                    <a:pt x="30" y="649"/>
                    <a:pt x="18" y="636"/>
                    <a:pt x="18" y="621"/>
                  </a:cubicBezTo>
                  <a:cubicBezTo>
                    <a:pt x="18" y="605"/>
                    <a:pt x="30" y="593"/>
                    <a:pt x="46" y="593"/>
                  </a:cubicBezTo>
                  <a:cubicBezTo>
                    <a:pt x="61" y="593"/>
                    <a:pt x="74" y="605"/>
                    <a:pt x="74" y="621"/>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74" y="378"/>
                  </a:moveTo>
                  <a:cubicBezTo>
                    <a:pt x="74" y="393"/>
                    <a:pt x="61" y="406"/>
                    <a:pt x="46" y="406"/>
                  </a:cubicBezTo>
                  <a:cubicBezTo>
                    <a:pt x="30" y="406"/>
                    <a:pt x="18" y="393"/>
                    <a:pt x="18" y="378"/>
                  </a:cubicBezTo>
                  <a:cubicBezTo>
                    <a:pt x="18" y="362"/>
                    <a:pt x="30" y="350"/>
                    <a:pt x="46" y="350"/>
                  </a:cubicBezTo>
                  <a:cubicBezTo>
                    <a:pt x="61" y="350"/>
                    <a:pt x="74" y="362"/>
                    <a:pt x="74" y="378"/>
                  </a:cubicBezTo>
                  <a:close/>
                  <a:moveTo>
                    <a:pt x="120" y="265"/>
                  </a:moveTo>
                  <a:cubicBezTo>
                    <a:pt x="120" y="280"/>
                    <a:pt x="107" y="293"/>
                    <a:pt x="92" y="293"/>
                  </a:cubicBezTo>
                  <a:cubicBezTo>
                    <a:pt x="76" y="293"/>
                    <a:pt x="64" y="280"/>
                    <a:pt x="64" y="265"/>
                  </a:cubicBezTo>
                  <a:cubicBezTo>
                    <a:pt x="64" y="249"/>
                    <a:pt x="76" y="237"/>
                    <a:pt x="92" y="237"/>
                  </a:cubicBezTo>
                  <a:cubicBezTo>
                    <a:pt x="107" y="237"/>
                    <a:pt x="120" y="249"/>
                    <a:pt x="120" y="265"/>
                  </a:cubicBezTo>
                  <a:close/>
                  <a:moveTo>
                    <a:pt x="195" y="167"/>
                  </a:moveTo>
                  <a:cubicBezTo>
                    <a:pt x="195" y="182"/>
                    <a:pt x="182" y="195"/>
                    <a:pt x="167" y="195"/>
                  </a:cubicBezTo>
                  <a:cubicBezTo>
                    <a:pt x="151" y="195"/>
                    <a:pt x="139" y="182"/>
                    <a:pt x="139" y="167"/>
                  </a:cubicBezTo>
                  <a:cubicBezTo>
                    <a:pt x="139" y="151"/>
                    <a:pt x="151" y="139"/>
                    <a:pt x="167" y="139"/>
                  </a:cubicBezTo>
                  <a:cubicBezTo>
                    <a:pt x="182" y="139"/>
                    <a:pt x="195" y="151"/>
                    <a:pt x="195" y="167"/>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406" y="46"/>
                  </a:moveTo>
                  <a:cubicBezTo>
                    <a:pt x="406" y="61"/>
                    <a:pt x="393" y="74"/>
                    <a:pt x="378" y="74"/>
                  </a:cubicBezTo>
                  <a:cubicBezTo>
                    <a:pt x="362" y="74"/>
                    <a:pt x="350" y="61"/>
                    <a:pt x="350" y="46"/>
                  </a:cubicBezTo>
                  <a:cubicBezTo>
                    <a:pt x="350" y="30"/>
                    <a:pt x="362" y="18"/>
                    <a:pt x="378" y="18"/>
                  </a:cubicBezTo>
                  <a:cubicBezTo>
                    <a:pt x="393" y="18"/>
                    <a:pt x="406" y="30"/>
                    <a:pt x="406" y="46"/>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649" y="46"/>
                  </a:moveTo>
                  <a:cubicBezTo>
                    <a:pt x="649" y="61"/>
                    <a:pt x="636" y="74"/>
                    <a:pt x="621" y="74"/>
                  </a:cubicBezTo>
                  <a:cubicBezTo>
                    <a:pt x="605" y="74"/>
                    <a:pt x="593" y="61"/>
                    <a:pt x="593" y="46"/>
                  </a:cubicBezTo>
                  <a:cubicBezTo>
                    <a:pt x="593" y="30"/>
                    <a:pt x="605" y="18"/>
                    <a:pt x="621" y="18"/>
                  </a:cubicBezTo>
                  <a:cubicBezTo>
                    <a:pt x="636" y="18"/>
                    <a:pt x="649" y="30"/>
                    <a:pt x="649" y="46"/>
                  </a:cubicBezTo>
                  <a:close/>
                  <a:moveTo>
                    <a:pt x="763" y="92"/>
                  </a:moveTo>
                  <a:cubicBezTo>
                    <a:pt x="763" y="107"/>
                    <a:pt x="750" y="120"/>
                    <a:pt x="735" y="120"/>
                  </a:cubicBezTo>
                  <a:cubicBezTo>
                    <a:pt x="719" y="120"/>
                    <a:pt x="707" y="107"/>
                    <a:pt x="707" y="92"/>
                  </a:cubicBezTo>
                  <a:cubicBezTo>
                    <a:pt x="707" y="76"/>
                    <a:pt x="719" y="64"/>
                    <a:pt x="735" y="64"/>
                  </a:cubicBezTo>
                  <a:cubicBezTo>
                    <a:pt x="750" y="64"/>
                    <a:pt x="763" y="76"/>
                    <a:pt x="763" y="92"/>
                  </a:cubicBezTo>
                  <a:close/>
                  <a:moveTo>
                    <a:pt x="860" y="167"/>
                  </a:moveTo>
                  <a:cubicBezTo>
                    <a:pt x="860" y="182"/>
                    <a:pt x="847" y="195"/>
                    <a:pt x="832" y="195"/>
                  </a:cubicBezTo>
                  <a:cubicBezTo>
                    <a:pt x="816" y="195"/>
                    <a:pt x="804" y="182"/>
                    <a:pt x="804" y="167"/>
                  </a:cubicBezTo>
                  <a:cubicBezTo>
                    <a:pt x="804" y="151"/>
                    <a:pt x="816" y="139"/>
                    <a:pt x="832" y="139"/>
                  </a:cubicBezTo>
                  <a:cubicBezTo>
                    <a:pt x="847" y="139"/>
                    <a:pt x="860" y="151"/>
                    <a:pt x="860" y="167"/>
                  </a:cubicBezTo>
                  <a:close/>
                  <a:moveTo>
                    <a:pt x="935" y="264"/>
                  </a:moveTo>
                  <a:cubicBezTo>
                    <a:pt x="935" y="279"/>
                    <a:pt x="922" y="292"/>
                    <a:pt x="907" y="292"/>
                  </a:cubicBezTo>
                  <a:cubicBezTo>
                    <a:pt x="891" y="292"/>
                    <a:pt x="879" y="279"/>
                    <a:pt x="879" y="264"/>
                  </a:cubicBezTo>
                  <a:cubicBezTo>
                    <a:pt x="879" y="248"/>
                    <a:pt x="891" y="236"/>
                    <a:pt x="907" y="236"/>
                  </a:cubicBezTo>
                  <a:cubicBezTo>
                    <a:pt x="922" y="236"/>
                    <a:pt x="935" y="248"/>
                    <a:pt x="935" y="264"/>
                  </a:cubicBezTo>
                  <a:close/>
                  <a:moveTo>
                    <a:pt x="981" y="378"/>
                  </a:moveTo>
                  <a:cubicBezTo>
                    <a:pt x="981" y="393"/>
                    <a:pt x="968" y="406"/>
                    <a:pt x="953" y="406"/>
                  </a:cubicBezTo>
                  <a:cubicBezTo>
                    <a:pt x="937" y="406"/>
                    <a:pt x="925" y="393"/>
                    <a:pt x="925" y="378"/>
                  </a:cubicBezTo>
                  <a:cubicBezTo>
                    <a:pt x="925" y="362"/>
                    <a:pt x="937" y="350"/>
                    <a:pt x="953" y="350"/>
                  </a:cubicBezTo>
                  <a:cubicBezTo>
                    <a:pt x="968" y="350"/>
                    <a:pt x="981" y="362"/>
                    <a:pt x="981" y="37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59" name="Forma 58"/>
            <p:cNvSpPr/>
            <p:nvPr/>
          </p:nvSpPr>
          <p:spPr>
            <a:xfrm>
              <a:off x="4023360" y="1188720"/>
              <a:ext cx="502920" cy="50292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38100" cap="rnd">
              <a:solidFill>
                <a:srgbClr val="2E4A9E"/>
              </a:solidFill>
              <a:round/>
            </a:ln>
          </p:spPr>
        </p:sp>
        <p:sp>
          <p:nvSpPr>
            <p:cNvPr id="60" name="Forma 59"/>
            <p:cNvSpPr txBox="1"/>
            <p:nvPr/>
          </p:nvSpPr>
          <p:spPr>
            <a:xfrm>
              <a:off x="4023360" y="1339596"/>
              <a:ext cx="502920" cy="201168"/>
            </a:xfrm>
            <a:prstGeom prst="rect">
              <a:avLst/>
            </a:prstGeom>
            <a:noFill/>
            <a:ln>
              <a:noFill/>
            </a:ln>
          </p:spPr>
          <p:txBody>
            <a:bodyPr wrap="square" lIns="0" tIns="0" rIns="0" bIns="0" anchor="ctr" rtlCol="0">
              <a:noAutofit/>
            </a:bodyPr>
            <a:lstStyle/>
            <a:p>
              <a:pPr algn="ctr">
                <a:spcAft>
                  <a:spcPts val="300"/>
                </a:spcAft>
                <a:buNone/>
              </a:pPr>
              <a:r>
                <a:rPr lang="es-AR" sz="800" b="1" dirty="0">
                  <a:solidFill>
                    <a:srgbClr val="1E1E1E"/>
                  </a:solidFill>
                  <a:latin typeface="Bahnschrift SemiBold Condensed"/>
                  <a:ea typeface="Bahnschrift SemiBold Condensed"/>
                  <a:cs typeface="Bahnschrift SemiBold Condensed"/>
                  <a:sym typeface="Bahnschrift SemiBold Condensed"/>
                </a:rPr>
                <a:t>LDL</a:t>
              </a:r>
              <a:endParaRPr lang="es-AR" sz="800" dirty="0">
                <a:latin typeface="Bahnschrift SemiBold Condensed"/>
              </a:endParaRPr>
            </a:p>
          </p:txBody>
        </p:sp>
      </p:grpSp>
      <p:grpSp>
        <p:nvGrpSpPr>
          <p:cNvPr id="61" name="LDL luz 3"/>
          <p:cNvGrpSpPr/>
          <p:nvPr/>
        </p:nvGrpSpPr>
        <p:grpSpPr>
          <a:xfrm>
            <a:off x="5669280" y="1554480"/>
            <a:ext cx="502920" cy="502920"/>
            <a:chOff x="5669280" y="1554480"/>
            <a:chExt cx="502920" cy="502920"/>
          </a:xfrm>
        </p:grpSpPr>
        <p:sp>
          <p:nvSpPr>
            <p:cNvPr id="62" name="Forma 61"/>
            <p:cNvSpPr/>
            <p:nvPr/>
          </p:nvSpPr>
          <p:spPr>
            <a:xfrm>
              <a:off x="5669280" y="1554480"/>
              <a:ext cx="502920" cy="50292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63" name="Forma 62"/>
            <p:cNvSpPr/>
            <p:nvPr/>
          </p:nvSpPr>
          <p:spPr>
            <a:xfrm>
              <a:off x="5669280" y="1554480"/>
              <a:ext cx="502920" cy="50292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1" y="621"/>
                  </a:moveTo>
                  <a:cubicBezTo>
                    <a:pt x="981" y="636"/>
                    <a:pt x="968" y="649"/>
                    <a:pt x="953" y="649"/>
                  </a:cubicBezTo>
                  <a:cubicBezTo>
                    <a:pt x="937" y="649"/>
                    <a:pt x="925" y="636"/>
                    <a:pt x="925" y="621"/>
                  </a:cubicBezTo>
                  <a:cubicBezTo>
                    <a:pt x="925" y="605"/>
                    <a:pt x="937" y="593"/>
                    <a:pt x="953" y="593"/>
                  </a:cubicBezTo>
                  <a:cubicBezTo>
                    <a:pt x="968" y="593"/>
                    <a:pt x="981" y="605"/>
                    <a:pt x="981" y="621"/>
                  </a:cubicBezTo>
                  <a:close/>
                  <a:moveTo>
                    <a:pt x="935" y="735"/>
                  </a:moveTo>
                  <a:cubicBezTo>
                    <a:pt x="935" y="750"/>
                    <a:pt x="922" y="763"/>
                    <a:pt x="907" y="763"/>
                  </a:cubicBezTo>
                  <a:cubicBezTo>
                    <a:pt x="891" y="763"/>
                    <a:pt x="879" y="750"/>
                    <a:pt x="879" y="735"/>
                  </a:cubicBezTo>
                  <a:cubicBezTo>
                    <a:pt x="879" y="719"/>
                    <a:pt x="891" y="707"/>
                    <a:pt x="907" y="707"/>
                  </a:cubicBezTo>
                  <a:cubicBezTo>
                    <a:pt x="922" y="707"/>
                    <a:pt x="935" y="719"/>
                    <a:pt x="935" y="735"/>
                  </a:cubicBezTo>
                  <a:close/>
                  <a:moveTo>
                    <a:pt x="860" y="832"/>
                  </a:moveTo>
                  <a:cubicBezTo>
                    <a:pt x="860" y="847"/>
                    <a:pt x="847" y="860"/>
                    <a:pt x="832" y="860"/>
                  </a:cubicBezTo>
                  <a:cubicBezTo>
                    <a:pt x="816" y="860"/>
                    <a:pt x="804" y="847"/>
                    <a:pt x="804" y="832"/>
                  </a:cubicBezTo>
                  <a:cubicBezTo>
                    <a:pt x="804" y="816"/>
                    <a:pt x="816" y="804"/>
                    <a:pt x="832" y="804"/>
                  </a:cubicBezTo>
                  <a:cubicBezTo>
                    <a:pt x="847" y="804"/>
                    <a:pt x="860" y="816"/>
                    <a:pt x="860" y="832"/>
                  </a:cubicBezTo>
                  <a:close/>
                  <a:moveTo>
                    <a:pt x="763" y="907"/>
                  </a:moveTo>
                  <a:cubicBezTo>
                    <a:pt x="763" y="922"/>
                    <a:pt x="750" y="935"/>
                    <a:pt x="735" y="935"/>
                  </a:cubicBezTo>
                  <a:cubicBezTo>
                    <a:pt x="719" y="935"/>
                    <a:pt x="707" y="922"/>
                    <a:pt x="707" y="907"/>
                  </a:cubicBezTo>
                  <a:cubicBezTo>
                    <a:pt x="707" y="891"/>
                    <a:pt x="719" y="879"/>
                    <a:pt x="735" y="879"/>
                  </a:cubicBezTo>
                  <a:cubicBezTo>
                    <a:pt x="750" y="879"/>
                    <a:pt x="763" y="891"/>
                    <a:pt x="763" y="907"/>
                  </a:cubicBezTo>
                  <a:close/>
                  <a:moveTo>
                    <a:pt x="649" y="953"/>
                  </a:moveTo>
                  <a:cubicBezTo>
                    <a:pt x="649" y="968"/>
                    <a:pt x="636" y="981"/>
                    <a:pt x="621" y="981"/>
                  </a:cubicBezTo>
                  <a:cubicBezTo>
                    <a:pt x="605" y="981"/>
                    <a:pt x="593" y="968"/>
                    <a:pt x="593" y="953"/>
                  </a:cubicBezTo>
                  <a:cubicBezTo>
                    <a:pt x="593" y="937"/>
                    <a:pt x="605" y="925"/>
                    <a:pt x="621" y="925"/>
                  </a:cubicBezTo>
                  <a:cubicBezTo>
                    <a:pt x="636" y="925"/>
                    <a:pt x="649" y="937"/>
                    <a:pt x="649" y="953"/>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06" y="953"/>
                  </a:moveTo>
                  <a:cubicBezTo>
                    <a:pt x="406" y="968"/>
                    <a:pt x="393" y="981"/>
                    <a:pt x="378" y="981"/>
                  </a:cubicBezTo>
                  <a:cubicBezTo>
                    <a:pt x="362" y="981"/>
                    <a:pt x="350" y="968"/>
                    <a:pt x="350" y="953"/>
                  </a:cubicBezTo>
                  <a:cubicBezTo>
                    <a:pt x="350" y="937"/>
                    <a:pt x="362" y="925"/>
                    <a:pt x="378" y="925"/>
                  </a:cubicBezTo>
                  <a:cubicBezTo>
                    <a:pt x="393" y="925"/>
                    <a:pt x="406" y="937"/>
                    <a:pt x="406" y="953"/>
                  </a:cubicBezTo>
                  <a:close/>
                  <a:moveTo>
                    <a:pt x="293" y="907"/>
                  </a:moveTo>
                  <a:cubicBezTo>
                    <a:pt x="293" y="922"/>
                    <a:pt x="280" y="935"/>
                    <a:pt x="265" y="935"/>
                  </a:cubicBezTo>
                  <a:cubicBezTo>
                    <a:pt x="249" y="935"/>
                    <a:pt x="237" y="922"/>
                    <a:pt x="237" y="907"/>
                  </a:cubicBezTo>
                  <a:cubicBezTo>
                    <a:pt x="237" y="891"/>
                    <a:pt x="249" y="879"/>
                    <a:pt x="265" y="879"/>
                  </a:cubicBezTo>
                  <a:cubicBezTo>
                    <a:pt x="280" y="879"/>
                    <a:pt x="293" y="891"/>
                    <a:pt x="293" y="907"/>
                  </a:cubicBezTo>
                  <a:close/>
                  <a:moveTo>
                    <a:pt x="195" y="832"/>
                  </a:moveTo>
                  <a:cubicBezTo>
                    <a:pt x="195" y="847"/>
                    <a:pt x="182" y="860"/>
                    <a:pt x="167" y="860"/>
                  </a:cubicBezTo>
                  <a:cubicBezTo>
                    <a:pt x="151" y="860"/>
                    <a:pt x="139" y="847"/>
                    <a:pt x="139" y="832"/>
                  </a:cubicBezTo>
                  <a:cubicBezTo>
                    <a:pt x="139" y="816"/>
                    <a:pt x="151" y="804"/>
                    <a:pt x="167" y="804"/>
                  </a:cubicBezTo>
                  <a:cubicBezTo>
                    <a:pt x="182" y="804"/>
                    <a:pt x="195" y="816"/>
                    <a:pt x="195" y="832"/>
                  </a:cubicBezTo>
                  <a:close/>
                  <a:moveTo>
                    <a:pt x="120" y="735"/>
                  </a:moveTo>
                  <a:cubicBezTo>
                    <a:pt x="120" y="750"/>
                    <a:pt x="107" y="763"/>
                    <a:pt x="92" y="763"/>
                  </a:cubicBezTo>
                  <a:cubicBezTo>
                    <a:pt x="76" y="763"/>
                    <a:pt x="64" y="750"/>
                    <a:pt x="64" y="735"/>
                  </a:cubicBezTo>
                  <a:cubicBezTo>
                    <a:pt x="64" y="719"/>
                    <a:pt x="76" y="707"/>
                    <a:pt x="92" y="707"/>
                  </a:cubicBezTo>
                  <a:cubicBezTo>
                    <a:pt x="107" y="707"/>
                    <a:pt x="120" y="719"/>
                    <a:pt x="120" y="735"/>
                  </a:cubicBezTo>
                  <a:close/>
                  <a:moveTo>
                    <a:pt x="74" y="621"/>
                  </a:moveTo>
                  <a:cubicBezTo>
                    <a:pt x="74" y="636"/>
                    <a:pt x="61" y="649"/>
                    <a:pt x="46" y="649"/>
                  </a:cubicBezTo>
                  <a:cubicBezTo>
                    <a:pt x="30" y="649"/>
                    <a:pt x="18" y="636"/>
                    <a:pt x="18" y="621"/>
                  </a:cubicBezTo>
                  <a:cubicBezTo>
                    <a:pt x="18" y="605"/>
                    <a:pt x="30" y="593"/>
                    <a:pt x="46" y="593"/>
                  </a:cubicBezTo>
                  <a:cubicBezTo>
                    <a:pt x="61" y="593"/>
                    <a:pt x="74" y="605"/>
                    <a:pt x="74" y="621"/>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74" y="378"/>
                  </a:moveTo>
                  <a:cubicBezTo>
                    <a:pt x="74" y="393"/>
                    <a:pt x="61" y="406"/>
                    <a:pt x="46" y="406"/>
                  </a:cubicBezTo>
                  <a:cubicBezTo>
                    <a:pt x="30" y="406"/>
                    <a:pt x="18" y="393"/>
                    <a:pt x="18" y="378"/>
                  </a:cubicBezTo>
                  <a:cubicBezTo>
                    <a:pt x="18" y="362"/>
                    <a:pt x="30" y="350"/>
                    <a:pt x="46" y="350"/>
                  </a:cubicBezTo>
                  <a:cubicBezTo>
                    <a:pt x="61" y="350"/>
                    <a:pt x="74" y="362"/>
                    <a:pt x="74" y="378"/>
                  </a:cubicBezTo>
                  <a:close/>
                  <a:moveTo>
                    <a:pt x="120" y="265"/>
                  </a:moveTo>
                  <a:cubicBezTo>
                    <a:pt x="120" y="280"/>
                    <a:pt x="107" y="293"/>
                    <a:pt x="92" y="293"/>
                  </a:cubicBezTo>
                  <a:cubicBezTo>
                    <a:pt x="76" y="293"/>
                    <a:pt x="64" y="280"/>
                    <a:pt x="64" y="265"/>
                  </a:cubicBezTo>
                  <a:cubicBezTo>
                    <a:pt x="64" y="249"/>
                    <a:pt x="76" y="237"/>
                    <a:pt x="92" y="237"/>
                  </a:cubicBezTo>
                  <a:cubicBezTo>
                    <a:pt x="107" y="237"/>
                    <a:pt x="120" y="249"/>
                    <a:pt x="120" y="265"/>
                  </a:cubicBezTo>
                  <a:close/>
                  <a:moveTo>
                    <a:pt x="195" y="167"/>
                  </a:moveTo>
                  <a:cubicBezTo>
                    <a:pt x="195" y="182"/>
                    <a:pt x="182" y="195"/>
                    <a:pt x="167" y="195"/>
                  </a:cubicBezTo>
                  <a:cubicBezTo>
                    <a:pt x="151" y="195"/>
                    <a:pt x="139" y="182"/>
                    <a:pt x="139" y="167"/>
                  </a:cubicBezTo>
                  <a:cubicBezTo>
                    <a:pt x="139" y="151"/>
                    <a:pt x="151" y="139"/>
                    <a:pt x="167" y="139"/>
                  </a:cubicBezTo>
                  <a:cubicBezTo>
                    <a:pt x="182" y="139"/>
                    <a:pt x="195" y="151"/>
                    <a:pt x="195" y="167"/>
                  </a:cubicBezTo>
                  <a:close/>
                  <a:moveTo>
                    <a:pt x="292" y="92"/>
                  </a:moveTo>
                  <a:cubicBezTo>
                    <a:pt x="292" y="107"/>
                    <a:pt x="279" y="120"/>
                    <a:pt x="264" y="120"/>
                  </a:cubicBezTo>
                  <a:cubicBezTo>
                    <a:pt x="248" y="120"/>
                    <a:pt x="236" y="107"/>
                    <a:pt x="236" y="92"/>
                  </a:cubicBezTo>
                  <a:cubicBezTo>
                    <a:pt x="236" y="76"/>
                    <a:pt x="248" y="64"/>
                    <a:pt x="264" y="64"/>
                  </a:cubicBezTo>
                  <a:cubicBezTo>
                    <a:pt x="279" y="64"/>
                    <a:pt x="292" y="76"/>
                    <a:pt x="292" y="92"/>
                  </a:cubicBezTo>
                  <a:close/>
                  <a:moveTo>
                    <a:pt x="406" y="46"/>
                  </a:moveTo>
                  <a:cubicBezTo>
                    <a:pt x="406" y="61"/>
                    <a:pt x="393" y="74"/>
                    <a:pt x="378" y="74"/>
                  </a:cubicBezTo>
                  <a:cubicBezTo>
                    <a:pt x="362" y="74"/>
                    <a:pt x="350" y="61"/>
                    <a:pt x="350" y="46"/>
                  </a:cubicBezTo>
                  <a:cubicBezTo>
                    <a:pt x="350" y="30"/>
                    <a:pt x="362" y="18"/>
                    <a:pt x="378" y="18"/>
                  </a:cubicBezTo>
                  <a:cubicBezTo>
                    <a:pt x="393" y="18"/>
                    <a:pt x="406" y="30"/>
                    <a:pt x="406" y="46"/>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649" y="46"/>
                  </a:moveTo>
                  <a:cubicBezTo>
                    <a:pt x="649" y="61"/>
                    <a:pt x="636" y="74"/>
                    <a:pt x="621" y="74"/>
                  </a:cubicBezTo>
                  <a:cubicBezTo>
                    <a:pt x="605" y="74"/>
                    <a:pt x="593" y="61"/>
                    <a:pt x="593" y="46"/>
                  </a:cubicBezTo>
                  <a:cubicBezTo>
                    <a:pt x="593" y="30"/>
                    <a:pt x="605" y="18"/>
                    <a:pt x="621" y="18"/>
                  </a:cubicBezTo>
                  <a:cubicBezTo>
                    <a:pt x="636" y="18"/>
                    <a:pt x="649" y="30"/>
                    <a:pt x="649" y="46"/>
                  </a:cubicBezTo>
                  <a:close/>
                  <a:moveTo>
                    <a:pt x="763" y="92"/>
                  </a:moveTo>
                  <a:cubicBezTo>
                    <a:pt x="763" y="107"/>
                    <a:pt x="750" y="120"/>
                    <a:pt x="735" y="120"/>
                  </a:cubicBezTo>
                  <a:cubicBezTo>
                    <a:pt x="719" y="120"/>
                    <a:pt x="707" y="107"/>
                    <a:pt x="707" y="92"/>
                  </a:cubicBezTo>
                  <a:cubicBezTo>
                    <a:pt x="707" y="76"/>
                    <a:pt x="719" y="64"/>
                    <a:pt x="735" y="64"/>
                  </a:cubicBezTo>
                  <a:cubicBezTo>
                    <a:pt x="750" y="64"/>
                    <a:pt x="763" y="76"/>
                    <a:pt x="763" y="92"/>
                  </a:cubicBezTo>
                  <a:close/>
                  <a:moveTo>
                    <a:pt x="860" y="167"/>
                  </a:moveTo>
                  <a:cubicBezTo>
                    <a:pt x="860" y="182"/>
                    <a:pt x="847" y="195"/>
                    <a:pt x="832" y="195"/>
                  </a:cubicBezTo>
                  <a:cubicBezTo>
                    <a:pt x="816" y="195"/>
                    <a:pt x="804" y="182"/>
                    <a:pt x="804" y="167"/>
                  </a:cubicBezTo>
                  <a:cubicBezTo>
                    <a:pt x="804" y="151"/>
                    <a:pt x="816" y="139"/>
                    <a:pt x="832" y="139"/>
                  </a:cubicBezTo>
                  <a:cubicBezTo>
                    <a:pt x="847" y="139"/>
                    <a:pt x="860" y="151"/>
                    <a:pt x="860" y="167"/>
                  </a:cubicBezTo>
                  <a:close/>
                  <a:moveTo>
                    <a:pt x="935" y="264"/>
                  </a:moveTo>
                  <a:cubicBezTo>
                    <a:pt x="935" y="279"/>
                    <a:pt x="922" y="292"/>
                    <a:pt x="907" y="292"/>
                  </a:cubicBezTo>
                  <a:cubicBezTo>
                    <a:pt x="891" y="292"/>
                    <a:pt x="879" y="279"/>
                    <a:pt x="879" y="264"/>
                  </a:cubicBezTo>
                  <a:cubicBezTo>
                    <a:pt x="879" y="248"/>
                    <a:pt x="891" y="236"/>
                    <a:pt x="907" y="236"/>
                  </a:cubicBezTo>
                  <a:cubicBezTo>
                    <a:pt x="922" y="236"/>
                    <a:pt x="935" y="248"/>
                    <a:pt x="935" y="264"/>
                  </a:cubicBezTo>
                  <a:close/>
                  <a:moveTo>
                    <a:pt x="981" y="378"/>
                  </a:moveTo>
                  <a:cubicBezTo>
                    <a:pt x="981" y="393"/>
                    <a:pt x="968" y="406"/>
                    <a:pt x="953" y="406"/>
                  </a:cubicBezTo>
                  <a:cubicBezTo>
                    <a:pt x="937" y="406"/>
                    <a:pt x="925" y="393"/>
                    <a:pt x="925" y="378"/>
                  </a:cubicBezTo>
                  <a:cubicBezTo>
                    <a:pt x="925" y="362"/>
                    <a:pt x="937" y="350"/>
                    <a:pt x="953" y="350"/>
                  </a:cubicBezTo>
                  <a:cubicBezTo>
                    <a:pt x="968" y="350"/>
                    <a:pt x="981" y="362"/>
                    <a:pt x="981" y="378"/>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64" name="Forma 63"/>
            <p:cNvSpPr/>
            <p:nvPr/>
          </p:nvSpPr>
          <p:spPr>
            <a:xfrm>
              <a:off x="5669280" y="1554480"/>
              <a:ext cx="502920" cy="50292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38100" cap="rnd">
              <a:solidFill>
                <a:srgbClr val="2E4A9E"/>
              </a:solidFill>
              <a:round/>
            </a:ln>
          </p:spPr>
        </p:sp>
        <p:sp>
          <p:nvSpPr>
            <p:cNvPr id="65" name="Forma 64"/>
            <p:cNvSpPr txBox="1"/>
            <p:nvPr/>
          </p:nvSpPr>
          <p:spPr>
            <a:xfrm>
              <a:off x="5669280" y="1705356"/>
              <a:ext cx="502920" cy="201168"/>
            </a:xfrm>
            <a:prstGeom prst="rect">
              <a:avLst/>
            </a:prstGeom>
            <a:noFill/>
            <a:ln>
              <a:noFill/>
            </a:ln>
          </p:spPr>
          <p:txBody>
            <a:bodyPr wrap="square" lIns="0" tIns="0" rIns="0" bIns="0" anchor="ctr" rtlCol="0">
              <a:noAutofit/>
            </a:bodyPr>
            <a:lstStyle/>
            <a:p>
              <a:pPr algn="ctr">
                <a:spcAft>
                  <a:spcPts val="300"/>
                </a:spcAft>
                <a:buNone/>
              </a:pPr>
              <a:r>
                <a:rPr lang="es-AR" sz="800" b="1" dirty="0">
                  <a:solidFill>
                    <a:srgbClr val="1E1E1E"/>
                  </a:solidFill>
                  <a:latin typeface="Bahnschrift SemiBold Condensed"/>
                  <a:ea typeface="Bahnschrift SemiBold Condensed"/>
                  <a:cs typeface="Bahnschrift SemiBold Condensed"/>
                  <a:sym typeface="Bahnschrift SemiBold Condensed"/>
                </a:rPr>
                <a:t>LDL</a:t>
              </a:r>
              <a:endParaRPr lang="es-AR" sz="800" dirty="0">
                <a:latin typeface="Bahnschrift SemiBold Condensed"/>
              </a:endParaRPr>
            </a:p>
          </p:txBody>
        </p:sp>
      </p:grpSp>
      <p:sp>
        <p:nvSpPr>
          <p:cNvPr id="66" name="Forma 65"/>
          <p:cNvSpPr/>
          <p:nvPr/>
        </p:nvSpPr>
        <p:spPr>
          <a:xfrm>
            <a:off x="6309360" y="1097280"/>
            <a:ext cx="455593" cy="236220"/>
          </a:xfrm>
          <a:prstGeom prst="rect">
            <a:avLst/>
          </a:prstGeom>
          <a:solidFill>
            <a:srgbClr val="FFFFFF"/>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LUZ</a:t>
            </a:r>
            <a:endParaRPr lang="es-AR" sz="1200" dirty="0">
              <a:latin typeface="Bahnschrift SemiBold Condensed"/>
            </a:endParaRPr>
          </a:p>
        </p:txBody>
      </p:sp>
      <p:sp>
        <p:nvSpPr>
          <p:cNvPr id="67" name="Forma 66"/>
          <p:cNvSpPr/>
          <p:nvPr/>
        </p:nvSpPr>
        <p:spPr>
          <a:xfrm>
            <a:off x="6309360" y="2697480"/>
            <a:ext cx="889867" cy="236220"/>
          </a:xfrm>
          <a:prstGeom prst="rect">
            <a:avLst/>
          </a:prstGeom>
          <a:solidFill>
            <a:srgbClr val="FFFFFF"/>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ENDOTELIO</a:t>
            </a:r>
            <a:endParaRPr lang="es-AR" sz="1200" dirty="0">
              <a:latin typeface="Bahnschrift SemiBold Condensed"/>
            </a:endParaRPr>
          </a:p>
        </p:txBody>
      </p:sp>
      <p:sp>
        <p:nvSpPr>
          <p:cNvPr id="68" name="Forma 67"/>
          <p:cNvSpPr/>
          <p:nvPr/>
        </p:nvSpPr>
        <p:spPr>
          <a:xfrm>
            <a:off x="6309360" y="3291840"/>
            <a:ext cx="652421" cy="236220"/>
          </a:xfrm>
          <a:prstGeom prst="rect">
            <a:avLst/>
          </a:prstGeom>
          <a:solidFill>
            <a:srgbClr val="FFFFFF"/>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ÍNTIMA</a:t>
            </a:r>
            <a:endParaRPr lang="es-AR" sz="1200" dirty="0">
              <a:latin typeface="Bahnschrift SemiBold Condensed"/>
            </a:endParaRPr>
          </a:p>
        </p:txBody>
      </p:sp>
      <p:sp>
        <p:nvSpPr>
          <p:cNvPr id="69" name="Forma 68"/>
          <p:cNvSpPr/>
          <p:nvPr/>
        </p:nvSpPr>
        <p:spPr>
          <a:xfrm>
            <a:off x="6309360" y="4480560"/>
            <a:ext cx="1503942" cy="236220"/>
          </a:xfrm>
          <a:prstGeom prst="rect">
            <a:avLst/>
          </a:prstGeom>
          <a:solidFill>
            <a:srgbClr val="FFFFFF"/>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MEDIA (músculo liso)</a:t>
            </a:r>
            <a:endParaRPr lang="es-AR" sz="1200" dirty="0">
              <a:latin typeface="Bahnschrift SemiBold Condensed"/>
            </a:endParaRPr>
          </a:p>
        </p:txBody>
      </p:sp>
      <p:grpSp>
        <p:nvGrpSpPr>
          <p:cNvPr id="70" name="Recuadro Normal"/>
          <p:cNvGrpSpPr/>
          <p:nvPr/>
        </p:nvGrpSpPr>
        <p:grpSpPr>
          <a:xfrm>
            <a:off x="8138160" y="1005840"/>
            <a:ext cx="3657600" cy="2377440"/>
            <a:chOff x="8138160" y="1005840"/>
            <a:chExt cx="3657600" cy="2377440"/>
          </a:xfrm>
        </p:grpSpPr>
        <p:sp>
          <p:nvSpPr>
            <p:cNvPr id="71" name="Forma 70"/>
            <p:cNvSpPr/>
            <p:nvPr/>
          </p:nvSpPr>
          <p:spPr>
            <a:xfrm>
              <a:off x="8138160" y="1188720"/>
              <a:ext cx="3657600" cy="21945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Las partículas con </a:t>
              </a:r>
              <a:r>
                <a:rPr lang="es-AR" sz="1650" b="1" dirty="0">
                  <a:solidFill>
                    <a:srgbClr val="1E1E1E"/>
                  </a:solidFill>
                  <a:latin typeface="Bahnschrift"/>
                  <a:ea typeface="Bahnschrift"/>
                  <a:cs typeface="Bahnschrift"/>
                  <a:sym typeface="Bahnschrift"/>
                </a:rPr>
                <a:t>ApoB</a:t>
              </a:r>
              <a:r>
                <a:rPr lang="es-AR" sz="1650" dirty="0">
                  <a:solidFill>
                    <a:srgbClr val="1E1E1E"/>
                  </a:solidFill>
                  <a:latin typeface="Bahnschrift"/>
                  <a:ea typeface="Bahnschrift"/>
                  <a:cs typeface="Bahnschrift"/>
                  <a:sym typeface="Bahnschrift"/>
                </a:rPr>
                <a:t> entregan colesterol a los tejidos vía </a:t>
              </a:r>
              <a:r>
                <a:rPr lang="es-AR" sz="1650" b="1" dirty="0">
                  <a:solidFill>
                    <a:srgbClr val="1E1E1E"/>
                  </a:solidFill>
                  <a:latin typeface="Bahnschrift"/>
                  <a:ea typeface="Bahnschrift"/>
                  <a:cs typeface="Bahnschrift"/>
                  <a:sym typeface="Bahnschrift"/>
                </a:rPr>
                <a:t>LDLR</a:t>
              </a:r>
              <a:r>
                <a:rPr lang="es-AR" sz="1650" dirty="0">
                  <a:solidFill>
                    <a:srgbClr val="1E1E1E"/>
                  </a:solidFill>
                  <a:latin typeface="Bahnschrift"/>
                  <a:ea typeface="Bahnschrift"/>
                  <a:cs typeface="Bahnschrift"/>
                  <a:sym typeface="Bahnschrift"/>
                </a:rPr>
                <a:t>, regulado por el contenido celular (SREBP-2).</a:t>
              </a:r>
              <a:endParaRPr lang="es-AR" sz="1650" dirty="0">
                <a:latin typeface="Bahnschrift"/>
              </a:endParaRPr>
            </a:p>
          </p:txBody>
        </p:sp>
        <p:sp>
          <p:nvSpPr>
            <p:cNvPr id="72" name="Forma 71"/>
            <p:cNvSpPr/>
            <p:nvPr/>
          </p:nvSpPr>
          <p:spPr>
            <a:xfrm>
              <a:off x="8247888" y="1005840"/>
              <a:ext cx="937631"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NORMAL</a:t>
              </a:r>
              <a:endParaRPr lang="es-AR" sz="1500" dirty="0">
                <a:latin typeface="Bahnschrift SemiBold Condensed"/>
              </a:endParaRPr>
            </a:p>
          </p:txBody>
        </p:sp>
      </p:grpSp>
      <p:grpSp>
        <p:nvGrpSpPr>
          <p:cNvPr id="73" name="Recuadro Alteración primaria"/>
          <p:cNvGrpSpPr/>
          <p:nvPr/>
        </p:nvGrpSpPr>
        <p:grpSpPr>
          <a:xfrm>
            <a:off x="8138160" y="3566160"/>
            <a:ext cx="3657600" cy="2468880"/>
            <a:chOff x="8138160" y="3566160"/>
            <a:chExt cx="3657600" cy="2468880"/>
          </a:xfrm>
        </p:grpSpPr>
        <p:sp>
          <p:nvSpPr>
            <p:cNvPr id="74" name="Forma 73"/>
            <p:cNvSpPr/>
            <p:nvPr/>
          </p:nvSpPr>
          <p:spPr>
            <a:xfrm>
              <a:off x="8138160" y="3749040"/>
              <a:ext cx="3657600" cy="228600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Exposición </a:t>
              </a:r>
              <a:r>
                <a:rPr lang="es-AR" sz="1650" b="1" dirty="0">
                  <a:solidFill>
                    <a:srgbClr val="1E1E1E"/>
                  </a:solidFill>
                  <a:latin typeface="Bahnschrift"/>
                  <a:ea typeface="Bahnschrift"/>
                  <a:cs typeface="Bahnschrift"/>
                  <a:sym typeface="Bahnschrift"/>
                </a:rPr>
                <a:t>acumulada</a:t>
              </a:r>
              <a:r>
                <a:rPr lang="es-AR" sz="1650" dirty="0">
                  <a:solidFill>
                    <a:srgbClr val="1E1E1E"/>
                  </a:solidFill>
                  <a:latin typeface="Bahnschrift"/>
                  <a:ea typeface="Bahnschrift"/>
                  <a:cs typeface="Bahnschrift"/>
                  <a:sym typeface="Bahnschrift"/>
                </a:rPr>
                <a:t> a partículas </a:t>
              </a:r>
              <a:r>
                <a:rPr lang="es-AR" sz="1650" b="1" dirty="0">
                  <a:solidFill>
                    <a:srgbClr val="1E1E1E"/>
                  </a:solidFill>
                  <a:latin typeface="Bahnschrift"/>
                  <a:ea typeface="Bahnschrift"/>
                  <a:cs typeface="Bahnschrift"/>
                  <a:sym typeface="Bahnschrift"/>
                </a:rPr>
                <a:t>ApoB</a:t>
              </a:r>
              <a:r>
                <a:rPr lang="es-AR" sz="1650" dirty="0">
                  <a:solidFill>
                    <a:srgbClr val="1E1E1E"/>
                  </a:solidFill>
                  <a:latin typeface="Bahnschrift"/>
                  <a:ea typeface="Bahnschrift"/>
                  <a:cs typeface="Bahnschrift"/>
                  <a:sym typeface="Bahnschrift"/>
                </a:rPr>
                <a:t> (LDL, remanentes VLDL/IDL, </a:t>
              </a:r>
              <a:r>
                <a:rPr lang="es-AR" sz="1650" b="1" dirty="0">
                  <a:solidFill>
                    <a:srgbClr val="1E1E1E"/>
                  </a:solidFill>
                  <a:latin typeface="Bahnschrift"/>
                  <a:ea typeface="Bahnschrift"/>
                  <a:cs typeface="Bahnschrift"/>
                  <a:sym typeface="Bahnschrift"/>
                </a:rPr>
                <a:t>Lp(a)</a:t>
              </a:r>
              <a:r>
                <a:rPr lang="es-AR" sz="1650" dirty="0">
                  <a:solidFill>
                    <a:srgbClr val="1E1E1E"/>
                  </a:solidFill>
                  <a:latin typeface="Bahnschrift"/>
                  <a:ea typeface="Bahnschrift"/>
                  <a:cs typeface="Bahnschrift"/>
                  <a:sym typeface="Bahnschrift"/>
                </a:rPr>
                <a:t>) que </a:t>
              </a:r>
              <a:r>
                <a:rPr lang="es-AR" sz="1650" b="1" dirty="0">
                  <a:solidFill>
                    <a:srgbClr val="1E1E1E"/>
                  </a:solidFill>
                  <a:latin typeface="Bahnschrift"/>
                  <a:ea typeface="Bahnschrift"/>
                  <a:cs typeface="Bahnschrift"/>
                  <a:sym typeface="Bahnschrift"/>
                </a:rPr>
                <a:t>atraviesan</a:t>
              </a:r>
              <a:r>
                <a:rPr lang="es-AR" sz="1650" dirty="0">
                  <a:solidFill>
                    <a:srgbClr val="1E1E1E"/>
                  </a:solidFill>
                  <a:latin typeface="Bahnschrift"/>
                  <a:ea typeface="Bahnschrift"/>
                  <a:cs typeface="Bahnschrift"/>
                  <a:sym typeface="Bahnschrift"/>
                </a:rPr>
                <a:t> el endotelio y quedan </a:t>
              </a:r>
              <a:r>
                <a:rPr lang="es-AR" sz="1650" b="1" dirty="0">
                  <a:solidFill>
                    <a:srgbClr val="1E1E1E"/>
                  </a:solidFill>
                  <a:latin typeface="Bahnschrift"/>
                  <a:ea typeface="Bahnschrift"/>
                  <a:cs typeface="Bahnschrift"/>
                  <a:sym typeface="Bahnschrift"/>
                </a:rPr>
                <a:t>retenidas</a:t>
              </a:r>
              <a:r>
                <a:rPr lang="es-AR" sz="1650" dirty="0">
                  <a:solidFill>
                    <a:srgbClr val="1E1E1E"/>
                  </a:solidFill>
                  <a:latin typeface="Bahnschrift"/>
                  <a:ea typeface="Bahnschrift"/>
                  <a:cs typeface="Bahnschrift"/>
                  <a:sym typeface="Bahnschrift"/>
                </a:rPr>
                <a:t> en la íntima.</a:t>
              </a:r>
              <a:endParaRPr lang="es-AR" sz="1650" dirty="0">
                <a:latin typeface="Bahnschrift"/>
              </a:endParaRPr>
            </a:p>
          </p:txBody>
        </p:sp>
        <p:sp>
          <p:nvSpPr>
            <p:cNvPr id="75" name="Forma 74"/>
            <p:cNvSpPr/>
            <p:nvPr/>
          </p:nvSpPr>
          <p:spPr>
            <a:xfrm>
              <a:off x="8247888" y="3566160"/>
              <a:ext cx="1988210"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ALTERACIÓN PRIMARIA</a:t>
              </a:r>
              <a:endParaRPr lang="es-AR" sz="1500" dirty="0">
                <a:latin typeface="Bahnschrift SemiBold Condensed"/>
              </a:endParaRPr>
            </a:p>
          </p:txBody>
        </p:sp>
      </p:grpSp>
      <p:sp>
        <p:nvSpPr>
          <p:cNvPr id="2" name="Etiqueta sección"/>
          <p:cNvSpPr/>
          <p:nvPr/>
        </p:nvSpPr>
        <p:spPr>
          <a:xfrm>
            <a:off x="9678563" y="201168"/>
            <a:ext cx="22388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5 · ATEROGÉNESIS</a:t>
            </a:r>
            <a:endParaRPr lang="es-AR" sz="1300" dirty="0">
              <a:latin typeface="Bahnschrift SemiBold Condensed"/>
            </a:endParaRPr>
          </a:p>
        </p:txBody>
      </p:sp>
      <p:sp>
        <p:nvSpPr>
          <p:cNvPr id="3" name="Título"/>
          <p:cNvSpPr/>
          <p:nvPr/>
        </p:nvSpPr>
        <p:spPr>
          <a:xfrm>
            <a:off x="274320" y="146304"/>
            <a:ext cx="667569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P5 · LDL, HDL, ÍNTIMA ARTERIAL Y ATEROGÉNESIS</a:t>
            </a:r>
            <a:endParaRPr lang="es-AR" sz="2600" dirty="0">
              <a:latin typeface="Bahnschrift SemiBold Condensed"/>
            </a:endParaRPr>
          </a:p>
        </p:txBody>
      </p:sp>
      <p:sp>
        <p:nvSpPr>
          <p:cNvPr id="7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6" fill="hold">
                      <p:stCondLst>
                        <p:cond delay="indefinite"/>
                      </p:stCondLst>
                      <p:childTnLst>
                        <p:par>
                          <p:cTn id="15"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66"/>
                                        </p:tgtEl>
                                        <p:attrNameLst>
                                          <p:attrName>style.visibility</p:attrName>
                                        </p:attrNameLst>
                                      </p:cBhvr>
                                      <p:to>
                                        <p:strVal val="visible"/>
                                      </p:to>
                                    </p:set>
                                    <p:animEffect transition="in" filter="fade">
                                      <p:cBhvr>
                                        <p:cTn id="5" dur="500"/>
                                        <p:tgtEl>
                                          <p:spTgt spid="66"/>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67"/>
                                        </p:tgtEl>
                                        <p:attrNameLst>
                                          <p:attrName>style.visibility</p:attrName>
                                        </p:attrNameLst>
                                      </p:cBhvr>
                                      <p:to>
                                        <p:strVal val="visible"/>
                                      </p:to>
                                    </p:set>
                                    <p:animEffect transition="in" filter="fade">
                                      <p:cBhvr>
                                        <p:cTn id="8" dur="500"/>
                                        <p:tgtEl>
                                          <p:spTgt spid="67"/>
                                        </p:tgtEl>
                                      </p:cBhvr>
                                    </p:animEffect>
                                  </p:childTnLst>
                                </p:cTn>
                              </p:par>
                              <p:par>
                                <p:cTn id="9" presetID="10" presetClass="entr" presetSubtype="0" fill="hold" grpId="0" nodeType="withEffect">
                                  <p:stCondLst>
                                    <p:cond delay="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500"/>
                                        <p:tgtEl>
                                          <p:spTgt spid="6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fade">
                                      <p:cBhvr>
                                        <p:cTn id="14" dur="500"/>
                                        <p:tgtEl>
                                          <p:spTgt spid="69"/>
                                        </p:tgtEl>
                                      </p:cBhvr>
                                    </p:animEffect>
                                  </p:childTnLst>
                                </p:cTn>
                              </p:par>
                            </p:childTnLst>
                          </p:cTn>
                        </p:par>
                      </p:childTnLst>
                    </p:cTn>
                  </p:par>
                  <p:par>
                    <p:cTn id="21" fill="hold">
                      <p:stCondLst>
                        <p:cond delay="indefinite"/>
                      </p:stCondLst>
                      <p:childTnLst>
                        <p:par>
                          <p:cTn id="20"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fade">
                                      <p:cBhvr>
                                        <p:cTn id="19" dur="500"/>
                                        <p:tgtEl>
                                          <p:spTgt spid="70"/>
                                        </p:tgtEl>
                                      </p:cBhvr>
                                    </p:animEffect>
                                  </p:childTnLst>
                                </p:cTn>
                              </p:par>
                            </p:childTnLst>
                          </p:cTn>
                        </p:par>
                      </p:childTnLst>
                    </p:cTn>
                  </p:par>
                  <p:par>
                    <p:cTn id="26" fill="hold">
                      <p:stCondLst>
                        <p:cond delay="indefinite"/>
                      </p:stCondLst>
                      <p:childTnLst>
                        <p:par>
                          <p:cTn id="25"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73"/>
                                        </p:tgtEl>
                                        <p:attrNameLst>
                                          <p:attrName>style.visibility</p:attrName>
                                        </p:attrNameLst>
                                      </p:cBhvr>
                                      <p:to>
                                        <p:strVal val="visible"/>
                                      </p:to>
                                    </p:set>
                                    <p:animEffect transition="in" filter="fade">
                                      <p:cBhvr>
                                        <p:cTn id="24"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7" grpId="0" animBg="1"/>
      <p:bldP spid="68" grpId="0" animBg="1"/>
      <p:bldP spid="69" grpId="0" animBg="1"/>
    </p:bldLst>
  </p:timing>
</p:sld>
</file>

<file path=ppt/slides/slide184.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Pared arterial"/>
          <p:cNvGrpSpPr/>
          <p:nvPr/>
        </p:nvGrpSpPr>
        <p:grpSpPr>
          <a:xfrm>
            <a:off x="365760" y="1051560"/>
            <a:ext cx="7689088" cy="4937760"/>
            <a:chOff x="365760" y="1051560"/>
            <a:chExt cx="7689088" cy="4937760"/>
          </a:xfrm>
        </p:grpSpPr>
        <p:sp>
          <p:nvSpPr>
            <p:cNvPr id="14" name="Luz arterial"/>
            <p:cNvSpPr/>
            <p:nvPr/>
          </p:nvSpPr>
          <p:spPr>
            <a:xfrm>
              <a:off x="365760" y="1051560"/>
              <a:ext cx="7498080" cy="1481328"/>
            </a:xfrm>
            <a:prstGeom prst="rect">
              <a:avLst/>
            </a:prstGeom>
            <a:gradFill rotWithShape="1">
              <a:gsLst>
                <a:gs pos="0">
                  <a:srgbClr val="F5B7B1"/>
                </a:gs>
                <a:gs pos="100000">
                  <a:srgbClr val="E6B0AA"/>
                </a:gs>
              </a:gsLst>
              <a:lin ang="5400000" scaled="0"/>
            </a:gradFill>
            <a:ln>
              <a:noFill/>
            </a:ln>
          </p:spPr>
        </p:sp>
        <p:sp>
          <p:nvSpPr>
            <p:cNvPr id="15" name="Forma 14"/>
            <p:cNvSpPr/>
            <p:nvPr/>
          </p:nvSpPr>
          <p:spPr>
            <a:xfrm>
              <a:off x="365760"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6" name="Forma 15"/>
            <p:cNvSpPr/>
            <p:nvPr/>
          </p:nvSpPr>
          <p:spPr>
            <a:xfrm>
              <a:off x="1115568"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7" name="Forma 16"/>
            <p:cNvSpPr/>
            <p:nvPr/>
          </p:nvSpPr>
          <p:spPr>
            <a:xfrm>
              <a:off x="1865376"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8" name="Forma 17"/>
            <p:cNvSpPr/>
            <p:nvPr/>
          </p:nvSpPr>
          <p:spPr>
            <a:xfrm>
              <a:off x="2615184"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19" name="Forma 18"/>
            <p:cNvSpPr/>
            <p:nvPr/>
          </p:nvSpPr>
          <p:spPr>
            <a:xfrm>
              <a:off x="3364992"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0" name="Forma 19"/>
            <p:cNvSpPr/>
            <p:nvPr/>
          </p:nvSpPr>
          <p:spPr>
            <a:xfrm>
              <a:off x="4114800"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1" name="Forma 20"/>
            <p:cNvSpPr/>
            <p:nvPr/>
          </p:nvSpPr>
          <p:spPr>
            <a:xfrm>
              <a:off x="4864608"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2" name="Forma 21"/>
            <p:cNvSpPr/>
            <p:nvPr/>
          </p:nvSpPr>
          <p:spPr>
            <a:xfrm>
              <a:off x="5614416"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3" name="Forma 22"/>
            <p:cNvSpPr/>
            <p:nvPr/>
          </p:nvSpPr>
          <p:spPr>
            <a:xfrm>
              <a:off x="6364224"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4" name="Forma 23"/>
            <p:cNvSpPr/>
            <p:nvPr/>
          </p:nvSpPr>
          <p:spPr>
            <a:xfrm>
              <a:off x="7114032" y="2532888"/>
              <a:ext cx="749808" cy="296266"/>
            </a:xfrm>
            <a:prstGeom prst="roundRect">
              <a:avLst>
                <a:gd name="adj" fmla="val 50000"/>
              </a:avLst>
            </a:prstGeom>
            <a:gradFill rotWithShape="1">
              <a:gsLst>
                <a:gs pos="0">
                  <a:srgbClr val="FADBA9"/>
                </a:gs>
                <a:gs pos="55000">
                  <a:srgbClr val="F8C471"/>
                </a:gs>
                <a:gs pos="100000">
                  <a:srgbClr val="C69C5A"/>
                </a:gs>
              </a:gsLst>
              <a:path path="circle">
                <a:fillToRect l="32000" t="28000" r="68000" b="72000"/>
              </a:path>
            </a:gradFill>
            <a:ln w="9525" cap="rnd">
              <a:solidFill>
                <a:srgbClr val="9C640C"/>
              </a:solidFill>
              <a:round/>
            </a:ln>
          </p:spPr>
        </p:sp>
        <p:sp>
          <p:nvSpPr>
            <p:cNvPr id="25" name="Íntima"/>
            <p:cNvSpPr/>
            <p:nvPr/>
          </p:nvSpPr>
          <p:spPr>
            <a:xfrm>
              <a:off x="365760" y="2829154"/>
              <a:ext cx="7498080" cy="1185062"/>
            </a:xfrm>
            <a:prstGeom prst="rect">
              <a:avLst/>
            </a:prstGeom>
            <a:gradFill rotWithShape="1">
              <a:gsLst>
                <a:gs pos="0">
                  <a:srgbClr val="FDEBD0"/>
                </a:gs>
                <a:gs pos="100000">
                  <a:srgbClr val="FAD7A0"/>
                </a:gs>
              </a:gsLst>
              <a:lin ang="5400000" scaled="0"/>
            </a:gradFill>
            <a:ln w="9525" cap="rnd">
              <a:solidFill>
                <a:srgbClr val="B9770E"/>
              </a:solidFill>
              <a:round/>
            </a:ln>
          </p:spPr>
        </p:sp>
        <p:sp>
          <p:nvSpPr>
            <p:cNvPr id="26" name="Media"/>
            <p:cNvSpPr/>
            <p:nvPr/>
          </p:nvSpPr>
          <p:spPr>
            <a:xfrm>
              <a:off x="365760" y="4014216"/>
              <a:ext cx="7498080" cy="1283818"/>
            </a:xfrm>
            <a:prstGeom prst="rect">
              <a:avLst/>
            </a:prstGeom>
            <a:solidFill>
              <a:srgbClr val="E59866"/>
            </a:solidFill>
            <a:ln w="9525" cap="rnd">
              <a:solidFill>
                <a:srgbClr val="873600"/>
              </a:solidFill>
              <a:round/>
            </a:ln>
          </p:spPr>
        </p:sp>
        <p:sp>
          <p:nvSpPr>
            <p:cNvPr id="27" name="Forma 26"/>
            <p:cNvSpPr/>
            <p:nvPr/>
          </p:nvSpPr>
          <p:spPr>
            <a:xfrm>
              <a:off x="36576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8" name="Forma 27"/>
            <p:cNvSpPr/>
            <p:nvPr/>
          </p:nvSpPr>
          <p:spPr>
            <a:xfrm>
              <a:off x="64008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29" name="Forma 28"/>
            <p:cNvSpPr/>
            <p:nvPr/>
          </p:nvSpPr>
          <p:spPr>
            <a:xfrm>
              <a:off x="119888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0" name="Forma 29"/>
            <p:cNvSpPr/>
            <p:nvPr/>
          </p:nvSpPr>
          <p:spPr>
            <a:xfrm>
              <a:off x="147320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1" name="Forma 30"/>
            <p:cNvSpPr/>
            <p:nvPr/>
          </p:nvSpPr>
          <p:spPr>
            <a:xfrm>
              <a:off x="203200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2" name="Forma 31"/>
            <p:cNvSpPr/>
            <p:nvPr/>
          </p:nvSpPr>
          <p:spPr>
            <a:xfrm>
              <a:off x="230632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3" name="Forma 32"/>
            <p:cNvSpPr/>
            <p:nvPr/>
          </p:nvSpPr>
          <p:spPr>
            <a:xfrm>
              <a:off x="286512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4" name="Forma 33"/>
            <p:cNvSpPr/>
            <p:nvPr/>
          </p:nvSpPr>
          <p:spPr>
            <a:xfrm>
              <a:off x="313944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5" name="Forma 34"/>
            <p:cNvSpPr/>
            <p:nvPr/>
          </p:nvSpPr>
          <p:spPr>
            <a:xfrm>
              <a:off x="369824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6" name="Forma 35"/>
            <p:cNvSpPr/>
            <p:nvPr/>
          </p:nvSpPr>
          <p:spPr>
            <a:xfrm>
              <a:off x="397256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7" name="Forma 36"/>
            <p:cNvSpPr/>
            <p:nvPr/>
          </p:nvSpPr>
          <p:spPr>
            <a:xfrm>
              <a:off x="453136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8" name="Forma 37"/>
            <p:cNvSpPr/>
            <p:nvPr/>
          </p:nvSpPr>
          <p:spPr>
            <a:xfrm>
              <a:off x="480568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39" name="Forma 38"/>
            <p:cNvSpPr/>
            <p:nvPr/>
          </p:nvSpPr>
          <p:spPr>
            <a:xfrm>
              <a:off x="536448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0" name="Forma 39"/>
            <p:cNvSpPr/>
            <p:nvPr/>
          </p:nvSpPr>
          <p:spPr>
            <a:xfrm>
              <a:off x="563880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1" name="Forma 40"/>
            <p:cNvSpPr/>
            <p:nvPr/>
          </p:nvSpPr>
          <p:spPr>
            <a:xfrm>
              <a:off x="619760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2" name="Forma 41"/>
            <p:cNvSpPr/>
            <p:nvPr/>
          </p:nvSpPr>
          <p:spPr>
            <a:xfrm>
              <a:off x="647192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3" name="Forma 42"/>
            <p:cNvSpPr/>
            <p:nvPr/>
          </p:nvSpPr>
          <p:spPr>
            <a:xfrm>
              <a:off x="7030720" y="4162349"/>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4" name="Forma 43"/>
            <p:cNvSpPr/>
            <p:nvPr/>
          </p:nvSpPr>
          <p:spPr>
            <a:xfrm>
              <a:off x="7305040" y="4705502"/>
              <a:ext cx="749808" cy="395021"/>
            </a:xfrm>
            <a:prstGeom prst="ellipse">
              <a:avLst/>
            </a:prstGeom>
            <a:gradFill rotWithShape="1">
              <a:gsLst>
                <a:gs pos="0">
                  <a:srgbClr val="A25B4A"/>
                </a:gs>
                <a:gs pos="30000">
                  <a:srgbClr val="EEA897"/>
                </a:gs>
                <a:gs pos="55000">
                  <a:srgbClr val="E8836B"/>
                </a:gs>
                <a:gs pos="100000">
                  <a:srgbClr val="A25B4A"/>
                </a:gs>
              </a:gsLst>
              <a:lin ang="5400000" scaled="0"/>
            </a:gradFill>
            <a:ln w="6350" cap="rnd">
              <a:solidFill>
                <a:srgbClr val="873600"/>
              </a:solidFill>
              <a:round/>
            </a:ln>
          </p:spPr>
        </p:sp>
        <p:sp>
          <p:nvSpPr>
            <p:cNvPr id="45" name="Adventicia"/>
            <p:cNvSpPr/>
            <p:nvPr/>
          </p:nvSpPr>
          <p:spPr>
            <a:xfrm>
              <a:off x="365760" y="5298034"/>
              <a:ext cx="7498080" cy="691286"/>
            </a:xfrm>
            <a:prstGeom prst="rect">
              <a:avLst/>
            </a:prstGeom>
            <a:gradFill rotWithShape="1">
              <a:gsLst>
                <a:gs pos="0">
                  <a:srgbClr val="F6DDCC"/>
                </a:gs>
                <a:gs pos="100000">
                  <a:srgbClr val="EDBB99"/>
                </a:gs>
              </a:gsLst>
              <a:lin ang="5400000" scaled="0"/>
            </a:gradFill>
            <a:ln w="9525" cap="rnd">
              <a:solidFill>
                <a:srgbClr val="873600"/>
              </a:solidFill>
              <a:round/>
            </a:ln>
          </p:spPr>
        </p:sp>
      </p:grpSp>
      <p:grpSp>
        <p:nvGrpSpPr>
          <p:cNvPr id="46" name="LDL que entra"/>
          <p:cNvGrpSpPr/>
          <p:nvPr/>
        </p:nvGrpSpPr>
        <p:grpSpPr>
          <a:xfrm>
            <a:off x="914400" y="1371600"/>
            <a:ext cx="548640" cy="548640"/>
            <a:chOff x="914400" y="1371600"/>
            <a:chExt cx="548640" cy="548640"/>
          </a:xfrm>
        </p:grpSpPr>
        <p:sp>
          <p:nvSpPr>
            <p:cNvPr id="47" name="Forma 46"/>
            <p:cNvSpPr/>
            <p:nvPr/>
          </p:nvSpPr>
          <p:spPr>
            <a:xfrm>
              <a:off x="914400" y="1371600"/>
              <a:ext cx="548640" cy="548640"/>
            </a:xfrm>
            <a:prstGeom prst="ellipse">
              <a:avLst/>
            </a:prstGeom>
            <a:gradFill rotWithShape="1">
              <a:gsLst>
                <a:gs pos="0">
                  <a:srgbClr val="F5CBA6"/>
                </a:gs>
                <a:gs pos="70000">
                  <a:srgbClr val="E67E22"/>
                </a:gs>
                <a:gs pos="100000">
                  <a:srgbClr val="B8641B"/>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48" name="Forma 47"/>
            <p:cNvSpPr/>
            <p:nvPr/>
          </p:nvSpPr>
          <p:spPr>
            <a:xfrm>
              <a:off x="914400" y="1371600"/>
              <a:ext cx="548640" cy="54864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4" y="612"/>
                  </a:moveTo>
                  <a:cubicBezTo>
                    <a:pt x="984" y="627"/>
                    <a:pt x="971" y="640"/>
                    <a:pt x="956" y="640"/>
                  </a:cubicBezTo>
                  <a:cubicBezTo>
                    <a:pt x="940" y="640"/>
                    <a:pt x="928" y="627"/>
                    <a:pt x="928" y="612"/>
                  </a:cubicBezTo>
                  <a:cubicBezTo>
                    <a:pt x="928" y="596"/>
                    <a:pt x="940" y="584"/>
                    <a:pt x="956" y="584"/>
                  </a:cubicBezTo>
                  <a:cubicBezTo>
                    <a:pt x="971" y="584"/>
                    <a:pt x="984" y="596"/>
                    <a:pt x="984" y="612"/>
                  </a:cubicBezTo>
                  <a:close/>
                  <a:moveTo>
                    <a:pt x="944" y="718"/>
                  </a:moveTo>
                  <a:cubicBezTo>
                    <a:pt x="944" y="733"/>
                    <a:pt x="931" y="746"/>
                    <a:pt x="916" y="746"/>
                  </a:cubicBezTo>
                  <a:cubicBezTo>
                    <a:pt x="900" y="746"/>
                    <a:pt x="888" y="733"/>
                    <a:pt x="888" y="718"/>
                  </a:cubicBezTo>
                  <a:cubicBezTo>
                    <a:pt x="888" y="702"/>
                    <a:pt x="900" y="690"/>
                    <a:pt x="916" y="690"/>
                  </a:cubicBezTo>
                  <a:cubicBezTo>
                    <a:pt x="931" y="690"/>
                    <a:pt x="944" y="702"/>
                    <a:pt x="944" y="718"/>
                  </a:cubicBezTo>
                  <a:close/>
                  <a:moveTo>
                    <a:pt x="879" y="811"/>
                  </a:moveTo>
                  <a:cubicBezTo>
                    <a:pt x="879" y="826"/>
                    <a:pt x="866" y="839"/>
                    <a:pt x="851" y="839"/>
                  </a:cubicBezTo>
                  <a:cubicBezTo>
                    <a:pt x="835" y="839"/>
                    <a:pt x="823" y="826"/>
                    <a:pt x="823" y="811"/>
                  </a:cubicBezTo>
                  <a:cubicBezTo>
                    <a:pt x="823" y="795"/>
                    <a:pt x="835" y="783"/>
                    <a:pt x="851" y="783"/>
                  </a:cubicBezTo>
                  <a:cubicBezTo>
                    <a:pt x="866" y="783"/>
                    <a:pt x="879" y="795"/>
                    <a:pt x="879" y="811"/>
                  </a:cubicBezTo>
                  <a:close/>
                  <a:moveTo>
                    <a:pt x="794" y="886"/>
                  </a:moveTo>
                  <a:cubicBezTo>
                    <a:pt x="794" y="901"/>
                    <a:pt x="781" y="914"/>
                    <a:pt x="766" y="914"/>
                  </a:cubicBezTo>
                  <a:cubicBezTo>
                    <a:pt x="750" y="914"/>
                    <a:pt x="738" y="901"/>
                    <a:pt x="738" y="886"/>
                  </a:cubicBezTo>
                  <a:cubicBezTo>
                    <a:pt x="738" y="870"/>
                    <a:pt x="750" y="858"/>
                    <a:pt x="766" y="858"/>
                  </a:cubicBezTo>
                  <a:cubicBezTo>
                    <a:pt x="781" y="858"/>
                    <a:pt x="794" y="870"/>
                    <a:pt x="794" y="886"/>
                  </a:cubicBezTo>
                  <a:close/>
                  <a:moveTo>
                    <a:pt x="694" y="939"/>
                  </a:moveTo>
                  <a:cubicBezTo>
                    <a:pt x="694" y="954"/>
                    <a:pt x="681" y="967"/>
                    <a:pt x="666" y="967"/>
                  </a:cubicBezTo>
                  <a:cubicBezTo>
                    <a:pt x="650" y="967"/>
                    <a:pt x="638" y="954"/>
                    <a:pt x="638" y="939"/>
                  </a:cubicBezTo>
                  <a:cubicBezTo>
                    <a:pt x="638" y="923"/>
                    <a:pt x="650" y="911"/>
                    <a:pt x="666" y="911"/>
                  </a:cubicBezTo>
                  <a:cubicBezTo>
                    <a:pt x="681" y="911"/>
                    <a:pt x="694" y="923"/>
                    <a:pt x="694" y="939"/>
                  </a:cubicBezTo>
                  <a:close/>
                  <a:moveTo>
                    <a:pt x="584" y="966"/>
                  </a:moveTo>
                  <a:cubicBezTo>
                    <a:pt x="584" y="981"/>
                    <a:pt x="571" y="994"/>
                    <a:pt x="556" y="994"/>
                  </a:cubicBezTo>
                  <a:cubicBezTo>
                    <a:pt x="540" y="994"/>
                    <a:pt x="528" y="981"/>
                    <a:pt x="528" y="966"/>
                  </a:cubicBezTo>
                  <a:cubicBezTo>
                    <a:pt x="528" y="950"/>
                    <a:pt x="540" y="938"/>
                    <a:pt x="556" y="938"/>
                  </a:cubicBezTo>
                  <a:cubicBezTo>
                    <a:pt x="571" y="938"/>
                    <a:pt x="584" y="950"/>
                    <a:pt x="584" y="966"/>
                  </a:cubicBezTo>
                  <a:close/>
                  <a:moveTo>
                    <a:pt x="471" y="966"/>
                  </a:moveTo>
                  <a:cubicBezTo>
                    <a:pt x="471" y="981"/>
                    <a:pt x="458" y="994"/>
                    <a:pt x="443" y="994"/>
                  </a:cubicBezTo>
                  <a:cubicBezTo>
                    <a:pt x="427" y="994"/>
                    <a:pt x="415" y="981"/>
                    <a:pt x="415" y="966"/>
                  </a:cubicBezTo>
                  <a:cubicBezTo>
                    <a:pt x="415" y="950"/>
                    <a:pt x="427" y="938"/>
                    <a:pt x="443" y="938"/>
                  </a:cubicBezTo>
                  <a:cubicBezTo>
                    <a:pt x="458" y="938"/>
                    <a:pt x="471" y="950"/>
                    <a:pt x="471" y="966"/>
                  </a:cubicBezTo>
                  <a:close/>
                  <a:moveTo>
                    <a:pt x="361" y="939"/>
                  </a:moveTo>
                  <a:cubicBezTo>
                    <a:pt x="361" y="954"/>
                    <a:pt x="348" y="967"/>
                    <a:pt x="333" y="967"/>
                  </a:cubicBezTo>
                  <a:cubicBezTo>
                    <a:pt x="317" y="967"/>
                    <a:pt x="305" y="954"/>
                    <a:pt x="305" y="939"/>
                  </a:cubicBezTo>
                  <a:cubicBezTo>
                    <a:pt x="305" y="923"/>
                    <a:pt x="317" y="911"/>
                    <a:pt x="333" y="911"/>
                  </a:cubicBezTo>
                  <a:cubicBezTo>
                    <a:pt x="348" y="911"/>
                    <a:pt x="361" y="923"/>
                    <a:pt x="361" y="939"/>
                  </a:cubicBezTo>
                  <a:close/>
                  <a:moveTo>
                    <a:pt x="261" y="886"/>
                  </a:moveTo>
                  <a:cubicBezTo>
                    <a:pt x="261" y="901"/>
                    <a:pt x="248" y="914"/>
                    <a:pt x="233" y="914"/>
                  </a:cubicBezTo>
                  <a:cubicBezTo>
                    <a:pt x="217" y="914"/>
                    <a:pt x="205" y="901"/>
                    <a:pt x="205" y="886"/>
                  </a:cubicBezTo>
                  <a:cubicBezTo>
                    <a:pt x="205" y="870"/>
                    <a:pt x="217" y="858"/>
                    <a:pt x="233" y="858"/>
                  </a:cubicBezTo>
                  <a:cubicBezTo>
                    <a:pt x="248" y="858"/>
                    <a:pt x="261" y="870"/>
                    <a:pt x="261" y="886"/>
                  </a:cubicBezTo>
                  <a:close/>
                  <a:moveTo>
                    <a:pt x="176" y="811"/>
                  </a:moveTo>
                  <a:cubicBezTo>
                    <a:pt x="176" y="826"/>
                    <a:pt x="163" y="839"/>
                    <a:pt x="148" y="839"/>
                  </a:cubicBezTo>
                  <a:cubicBezTo>
                    <a:pt x="132" y="839"/>
                    <a:pt x="120" y="826"/>
                    <a:pt x="120" y="811"/>
                  </a:cubicBezTo>
                  <a:cubicBezTo>
                    <a:pt x="120" y="795"/>
                    <a:pt x="132" y="783"/>
                    <a:pt x="148" y="783"/>
                  </a:cubicBezTo>
                  <a:cubicBezTo>
                    <a:pt x="163" y="783"/>
                    <a:pt x="176" y="795"/>
                    <a:pt x="176" y="811"/>
                  </a:cubicBezTo>
                  <a:close/>
                  <a:moveTo>
                    <a:pt x="111" y="718"/>
                  </a:moveTo>
                  <a:cubicBezTo>
                    <a:pt x="111" y="733"/>
                    <a:pt x="98" y="746"/>
                    <a:pt x="83" y="746"/>
                  </a:cubicBezTo>
                  <a:cubicBezTo>
                    <a:pt x="67" y="746"/>
                    <a:pt x="55" y="733"/>
                    <a:pt x="55" y="718"/>
                  </a:cubicBezTo>
                  <a:cubicBezTo>
                    <a:pt x="55" y="702"/>
                    <a:pt x="67" y="690"/>
                    <a:pt x="83" y="690"/>
                  </a:cubicBezTo>
                  <a:cubicBezTo>
                    <a:pt x="98" y="690"/>
                    <a:pt x="111" y="702"/>
                    <a:pt x="111" y="718"/>
                  </a:cubicBezTo>
                  <a:close/>
                  <a:moveTo>
                    <a:pt x="71" y="612"/>
                  </a:moveTo>
                  <a:cubicBezTo>
                    <a:pt x="71" y="627"/>
                    <a:pt x="58" y="640"/>
                    <a:pt x="43" y="640"/>
                  </a:cubicBezTo>
                  <a:cubicBezTo>
                    <a:pt x="27" y="640"/>
                    <a:pt x="15" y="627"/>
                    <a:pt x="15" y="612"/>
                  </a:cubicBezTo>
                  <a:cubicBezTo>
                    <a:pt x="15" y="596"/>
                    <a:pt x="27" y="584"/>
                    <a:pt x="43" y="584"/>
                  </a:cubicBezTo>
                  <a:cubicBezTo>
                    <a:pt x="58" y="584"/>
                    <a:pt x="71" y="596"/>
                    <a:pt x="71" y="612"/>
                  </a:cubicBezTo>
                  <a:close/>
                  <a:moveTo>
                    <a:pt x="58" y="499"/>
                  </a:moveTo>
                  <a:cubicBezTo>
                    <a:pt x="58" y="514"/>
                    <a:pt x="45" y="527"/>
                    <a:pt x="30" y="527"/>
                  </a:cubicBezTo>
                  <a:cubicBezTo>
                    <a:pt x="14" y="527"/>
                    <a:pt x="2" y="514"/>
                    <a:pt x="2" y="499"/>
                  </a:cubicBezTo>
                  <a:cubicBezTo>
                    <a:pt x="2" y="483"/>
                    <a:pt x="14" y="471"/>
                    <a:pt x="30" y="471"/>
                  </a:cubicBezTo>
                  <a:cubicBezTo>
                    <a:pt x="45" y="471"/>
                    <a:pt x="58" y="483"/>
                    <a:pt x="58" y="499"/>
                  </a:cubicBezTo>
                  <a:close/>
                  <a:moveTo>
                    <a:pt x="71" y="387"/>
                  </a:moveTo>
                  <a:cubicBezTo>
                    <a:pt x="71" y="402"/>
                    <a:pt x="58" y="415"/>
                    <a:pt x="43" y="415"/>
                  </a:cubicBezTo>
                  <a:cubicBezTo>
                    <a:pt x="27" y="415"/>
                    <a:pt x="15" y="402"/>
                    <a:pt x="15" y="387"/>
                  </a:cubicBezTo>
                  <a:cubicBezTo>
                    <a:pt x="15" y="371"/>
                    <a:pt x="27" y="359"/>
                    <a:pt x="43" y="359"/>
                  </a:cubicBezTo>
                  <a:cubicBezTo>
                    <a:pt x="58" y="359"/>
                    <a:pt x="71" y="371"/>
                    <a:pt x="71" y="387"/>
                  </a:cubicBezTo>
                  <a:close/>
                  <a:moveTo>
                    <a:pt x="111" y="281"/>
                  </a:moveTo>
                  <a:cubicBezTo>
                    <a:pt x="111" y="296"/>
                    <a:pt x="98" y="309"/>
                    <a:pt x="83" y="309"/>
                  </a:cubicBezTo>
                  <a:cubicBezTo>
                    <a:pt x="67" y="309"/>
                    <a:pt x="55" y="296"/>
                    <a:pt x="55" y="281"/>
                  </a:cubicBezTo>
                  <a:cubicBezTo>
                    <a:pt x="55" y="265"/>
                    <a:pt x="67" y="253"/>
                    <a:pt x="83" y="253"/>
                  </a:cubicBezTo>
                  <a:cubicBezTo>
                    <a:pt x="98" y="253"/>
                    <a:pt x="111" y="265"/>
                    <a:pt x="111" y="281"/>
                  </a:cubicBezTo>
                  <a:close/>
                  <a:moveTo>
                    <a:pt x="176" y="188"/>
                  </a:moveTo>
                  <a:cubicBezTo>
                    <a:pt x="176" y="203"/>
                    <a:pt x="163" y="216"/>
                    <a:pt x="148" y="216"/>
                  </a:cubicBezTo>
                  <a:cubicBezTo>
                    <a:pt x="132" y="216"/>
                    <a:pt x="120" y="203"/>
                    <a:pt x="120" y="188"/>
                  </a:cubicBezTo>
                  <a:cubicBezTo>
                    <a:pt x="120" y="172"/>
                    <a:pt x="132" y="160"/>
                    <a:pt x="148" y="160"/>
                  </a:cubicBezTo>
                  <a:cubicBezTo>
                    <a:pt x="163" y="160"/>
                    <a:pt x="176" y="172"/>
                    <a:pt x="176" y="188"/>
                  </a:cubicBezTo>
                  <a:close/>
                  <a:moveTo>
                    <a:pt x="261" y="113"/>
                  </a:moveTo>
                  <a:cubicBezTo>
                    <a:pt x="261" y="128"/>
                    <a:pt x="248" y="141"/>
                    <a:pt x="233" y="141"/>
                  </a:cubicBezTo>
                  <a:cubicBezTo>
                    <a:pt x="217" y="141"/>
                    <a:pt x="205" y="128"/>
                    <a:pt x="205" y="113"/>
                  </a:cubicBezTo>
                  <a:cubicBezTo>
                    <a:pt x="205" y="97"/>
                    <a:pt x="217" y="85"/>
                    <a:pt x="233" y="85"/>
                  </a:cubicBezTo>
                  <a:cubicBezTo>
                    <a:pt x="248" y="85"/>
                    <a:pt x="261" y="97"/>
                    <a:pt x="261" y="113"/>
                  </a:cubicBezTo>
                  <a:close/>
                  <a:moveTo>
                    <a:pt x="361" y="60"/>
                  </a:moveTo>
                  <a:cubicBezTo>
                    <a:pt x="361" y="75"/>
                    <a:pt x="348" y="88"/>
                    <a:pt x="333" y="88"/>
                  </a:cubicBezTo>
                  <a:cubicBezTo>
                    <a:pt x="317" y="88"/>
                    <a:pt x="305" y="75"/>
                    <a:pt x="305" y="60"/>
                  </a:cubicBezTo>
                  <a:cubicBezTo>
                    <a:pt x="305" y="44"/>
                    <a:pt x="317" y="32"/>
                    <a:pt x="333" y="32"/>
                  </a:cubicBezTo>
                  <a:cubicBezTo>
                    <a:pt x="348" y="32"/>
                    <a:pt x="361" y="44"/>
                    <a:pt x="361" y="60"/>
                  </a:cubicBezTo>
                  <a:close/>
                  <a:moveTo>
                    <a:pt x="471" y="33"/>
                  </a:moveTo>
                  <a:cubicBezTo>
                    <a:pt x="471" y="48"/>
                    <a:pt x="458" y="61"/>
                    <a:pt x="443" y="61"/>
                  </a:cubicBezTo>
                  <a:cubicBezTo>
                    <a:pt x="427" y="61"/>
                    <a:pt x="415" y="48"/>
                    <a:pt x="415" y="33"/>
                  </a:cubicBezTo>
                  <a:cubicBezTo>
                    <a:pt x="415" y="17"/>
                    <a:pt x="427" y="5"/>
                    <a:pt x="443" y="5"/>
                  </a:cubicBezTo>
                  <a:cubicBezTo>
                    <a:pt x="458" y="5"/>
                    <a:pt x="471" y="17"/>
                    <a:pt x="471" y="33"/>
                  </a:cubicBezTo>
                  <a:close/>
                  <a:moveTo>
                    <a:pt x="584" y="33"/>
                  </a:moveTo>
                  <a:cubicBezTo>
                    <a:pt x="584" y="48"/>
                    <a:pt x="571" y="61"/>
                    <a:pt x="556" y="61"/>
                  </a:cubicBezTo>
                  <a:cubicBezTo>
                    <a:pt x="540" y="61"/>
                    <a:pt x="528" y="48"/>
                    <a:pt x="528" y="33"/>
                  </a:cubicBezTo>
                  <a:cubicBezTo>
                    <a:pt x="528" y="17"/>
                    <a:pt x="540" y="5"/>
                    <a:pt x="556" y="5"/>
                  </a:cubicBezTo>
                  <a:cubicBezTo>
                    <a:pt x="571" y="5"/>
                    <a:pt x="584" y="17"/>
                    <a:pt x="584" y="33"/>
                  </a:cubicBezTo>
                  <a:close/>
                  <a:moveTo>
                    <a:pt x="694" y="60"/>
                  </a:moveTo>
                  <a:cubicBezTo>
                    <a:pt x="694" y="75"/>
                    <a:pt x="681" y="88"/>
                    <a:pt x="666" y="88"/>
                  </a:cubicBezTo>
                  <a:cubicBezTo>
                    <a:pt x="650" y="88"/>
                    <a:pt x="638" y="75"/>
                    <a:pt x="638" y="60"/>
                  </a:cubicBezTo>
                  <a:cubicBezTo>
                    <a:pt x="638" y="44"/>
                    <a:pt x="650" y="32"/>
                    <a:pt x="666" y="32"/>
                  </a:cubicBezTo>
                  <a:cubicBezTo>
                    <a:pt x="681" y="32"/>
                    <a:pt x="694" y="44"/>
                    <a:pt x="694" y="60"/>
                  </a:cubicBezTo>
                  <a:close/>
                  <a:moveTo>
                    <a:pt x="794" y="113"/>
                  </a:moveTo>
                  <a:cubicBezTo>
                    <a:pt x="794" y="128"/>
                    <a:pt x="781" y="141"/>
                    <a:pt x="766" y="141"/>
                  </a:cubicBezTo>
                  <a:cubicBezTo>
                    <a:pt x="750" y="141"/>
                    <a:pt x="738" y="128"/>
                    <a:pt x="738" y="113"/>
                  </a:cubicBezTo>
                  <a:cubicBezTo>
                    <a:pt x="738" y="97"/>
                    <a:pt x="750" y="85"/>
                    <a:pt x="766" y="85"/>
                  </a:cubicBezTo>
                  <a:cubicBezTo>
                    <a:pt x="781" y="85"/>
                    <a:pt x="794" y="97"/>
                    <a:pt x="794" y="113"/>
                  </a:cubicBezTo>
                  <a:close/>
                  <a:moveTo>
                    <a:pt x="879" y="188"/>
                  </a:moveTo>
                  <a:cubicBezTo>
                    <a:pt x="879" y="203"/>
                    <a:pt x="866" y="216"/>
                    <a:pt x="851" y="216"/>
                  </a:cubicBezTo>
                  <a:cubicBezTo>
                    <a:pt x="835" y="216"/>
                    <a:pt x="823" y="203"/>
                    <a:pt x="823" y="188"/>
                  </a:cubicBezTo>
                  <a:cubicBezTo>
                    <a:pt x="823" y="172"/>
                    <a:pt x="835" y="160"/>
                    <a:pt x="851" y="160"/>
                  </a:cubicBezTo>
                  <a:cubicBezTo>
                    <a:pt x="866" y="160"/>
                    <a:pt x="879" y="172"/>
                    <a:pt x="879" y="188"/>
                  </a:cubicBezTo>
                  <a:close/>
                  <a:moveTo>
                    <a:pt x="944" y="281"/>
                  </a:moveTo>
                  <a:cubicBezTo>
                    <a:pt x="944" y="296"/>
                    <a:pt x="931" y="309"/>
                    <a:pt x="916" y="309"/>
                  </a:cubicBezTo>
                  <a:cubicBezTo>
                    <a:pt x="900" y="309"/>
                    <a:pt x="888" y="296"/>
                    <a:pt x="888" y="281"/>
                  </a:cubicBezTo>
                  <a:cubicBezTo>
                    <a:pt x="888" y="265"/>
                    <a:pt x="900" y="253"/>
                    <a:pt x="916" y="253"/>
                  </a:cubicBezTo>
                  <a:cubicBezTo>
                    <a:pt x="931" y="253"/>
                    <a:pt x="944" y="265"/>
                    <a:pt x="944" y="281"/>
                  </a:cubicBezTo>
                  <a:close/>
                  <a:moveTo>
                    <a:pt x="984" y="387"/>
                  </a:moveTo>
                  <a:cubicBezTo>
                    <a:pt x="984" y="402"/>
                    <a:pt x="971" y="415"/>
                    <a:pt x="956" y="415"/>
                  </a:cubicBezTo>
                  <a:cubicBezTo>
                    <a:pt x="940" y="415"/>
                    <a:pt x="928" y="402"/>
                    <a:pt x="928" y="387"/>
                  </a:cubicBezTo>
                  <a:cubicBezTo>
                    <a:pt x="928" y="371"/>
                    <a:pt x="940" y="359"/>
                    <a:pt x="956" y="359"/>
                  </a:cubicBezTo>
                  <a:cubicBezTo>
                    <a:pt x="971" y="359"/>
                    <a:pt x="984" y="371"/>
                    <a:pt x="984" y="387"/>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49" name="Forma 48"/>
            <p:cNvSpPr/>
            <p:nvPr/>
          </p:nvSpPr>
          <p:spPr>
            <a:xfrm>
              <a:off x="914400" y="1371600"/>
              <a:ext cx="548640" cy="548640"/>
            </a:xfrm>
            <a:custGeom>
              <a:avLst/>
              <a:gdLst/>
              <a:ahLst/>
              <a:cxnLst/>
              <a:rect l="0" t="0" r="r" b="b"/>
              <a:pathLst>
                <a:path w="1000" h="1000" fill="none">
                  <a:moveTo>
                    <a:pt x="0" y="500"/>
                  </a:moveTo>
                  <a:cubicBezTo>
                    <a:pt x="6" y="468"/>
                    <a:pt x="13" y="367"/>
                    <a:pt x="38" y="308"/>
                  </a:cubicBezTo>
                  <a:cubicBezTo>
                    <a:pt x="62" y="249"/>
                    <a:pt x="101" y="191"/>
                    <a:pt x="146" y="146"/>
                  </a:cubicBezTo>
                  <a:cubicBezTo>
                    <a:pt x="191" y="101"/>
                    <a:pt x="249" y="62"/>
                    <a:pt x="308" y="38"/>
                  </a:cubicBezTo>
                  <a:cubicBezTo>
                    <a:pt x="366" y="13"/>
                    <a:pt x="435" y="0"/>
                    <a:pt x="499" y="0"/>
                  </a:cubicBezTo>
                  <a:cubicBezTo>
                    <a:pt x="562" y="0"/>
                    <a:pt x="632" y="13"/>
                    <a:pt x="691" y="38"/>
                  </a:cubicBezTo>
                  <a:cubicBezTo>
                    <a:pt x="750" y="62"/>
                    <a:pt x="808" y="101"/>
                    <a:pt x="853" y="146"/>
                  </a:cubicBezTo>
                  <a:cubicBezTo>
                    <a:pt x="898" y="191"/>
                    <a:pt x="936" y="249"/>
                    <a:pt x="961" y="308"/>
                  </a:cubicBezTo>
                  <a:cubicBezTo>
                    <a:pt x="985" y="366"/>
                    <a:pt x="993" y="467"/>
                    <a:pt x="1000" y="499"/>
                  </a:cubicBezTo>
                </a:path>
              </a:pathLst>
            </a:custGeom>
            <a:noFill/>
            <a:ln w="38100" cap="rnd">
              <a:solidFill>
                <a:srgbClr val="2E4A9E"/>
              </a:solidFill>
              <a:round/>
            </a:ln>
          </p:spPr>
        </p:sp>
        <p:sp>
          <p:nvSpPr>
            <p:cNvPr id="50" name="Forma 49"/>
            <p:cNvSpPr txBox="1"/>
            <p:nvPr/>
          </p:nvSpPr>
          <p:spPr>
            <a:xfrm>
              <a:off x="914400" y="1536192"/>
              <a:ext cx="548640" cy="219456"/>
            </a:xfrm>
            <a:prstGeom prst="rect">
              <a:avLst/>
            </a:prstGeom>
            <a:noFill/>
            <a:ln>
              <a:noFill/>
            </a:ln>
          </p:spPr>
          <p:txBody>
            <a:bodyPr wrap="square" lIns="0" tIns="0" rIns="0" bIns="0" anchor="ctr" rtlCol="0">
              <a:noAutofit/>
            </a:bodyPr>
            <a:lstStyle/>
            <a:p>
              <a:pPr algn="ctr">
                <a:spcAft>
                  <a:spcPts val="300"/>
                </a:spcAft>
                <a:buNone/>
              </a:pPr>
              <a:r>
                <a:rPr lang="es-AR" sz="800" b="1" dirty="0">
                  <a:solidFill>
                    <a:srgbClr val="1E1E1E"/>
                  </a:solidFill>
                  <a:latin typeface="Bahnschrift SemiBold Condensed"/>
                  <a:ea typeface="Bahnschrift SemiBold Condensed"/>
                  <a:cs typeface="Bahnschrift SemiBold Condensed"/>
                  <a:sym typeface="Bahnschrift SemiBold Condensed"/>
                </a:rPr>
                <a:t>LDL</a:t>
              </a:r>
              <a:endParaRPr lang="es-AR" sz="800" dirty="0">
                <a:latin typeface="Bahnschrift SemiBold Condensed"/>
              </a:endParaRPr>
            </a:p>
          </p:txBody>
        </p:sp>
      </p:grpSp>
      <p:sp>
        <p:nvSpPr>
          <p:cNvPr id="51" name="LDL retenida 0"/>
          <p:cNvSpPr/>
          <p:nvPr/>
        </p:nvSpPr>
        <p:spPr>
          <a:xfrm>
            <a:off x="1463040" y="3108960"/>
            <a:ext cx="320040" cy="320040"/>
          </a:xfrm>
          <a:prstGeom prst="ellipse">
            <a:avLst/>
          </a:prstGeom>
          <a:gradFill rotWithShape="1">
            <a:gsLst>
              <a:gs pos="0">
                <a:srgbClr val="E0874C"/>
              </a:gs>
              <a:gs pos="55000">
                <a:srgbClr val="D35400"/>
              </a:gs>
              <a:gs pos="100000">
                <a:srgbClr val="A84300"/>
              </a:gs>
            </a:gsLst>
            <a:path path="circle">
              <a:fillToRect l="32000" t="28000" r="68000" b="72000"/>
            </a:path>
          </a:gradFill>
          <a:ln w="9525" cap="rnd">
            <a:solidFill>
              <a:srgbClr val="6E2C00"/>
            </a:solidFill>
            <a:round/>
          </a:ln>
        </p:spPr>
      </p:sp>
      <p:sp>
        <p:nvSpPr>
          <p:cNvPr id="52" name="LDL retenida 1"/>
          <p:cNvSpPr/>
          <p:nvPr/>
        </p:nvSpPr>
        <p:spPr>
          <a:xfrm>
            <a:off x="1920240" y="3383280"/>
            <a:ext cx="320040" cy="320040"/>
          </a:xfrm>
          <a:prstGeom prst="ellipse">
            <a:avLst/>
          </a:prstGeom>
          <a:gradFill rotWithShape="1">
            <a:gsLst>
              <a:gs pos="0">
                <a:srgbClr val="E0874C"/>
              </a:gs>
              <a:gs pos="55000">
                <a:srgbClr val="D35400"/>
              </a:gs>
              <a:gs pos="100000">
                <a:srgbClr val="A84300"/>
              </a:gs>
            </a:gsLst>
            <a:path path="circle">
              <a:fillToRect l="32000" t="28000" r="68000" b="72000"/>
            </a:path>
          </a:gradFill>
          <a:ln w="9525" cap="rnd">
            <a:solidFill>
              <a:srgbClr val="6E2C00"/>
            </a:solidFill>
            <a:round/>
          </a:ln>
        </p:spPr>
      </p:sp>
      <p:sp>
        <p:nvSpPr>
          <p:cNvPr id="53" name="LDL retenida 2"/>
          <p:cNvSpPr/>
          <p:nvPr/>
        </p:nvSpPr>
        <p:spPr>
          <a:xfrm>
            <a:off x="2377440" y="3108960"/>
            <a:ext cx="320040" cy="320040"/>
          </a:xfrm>
          <a:prstGeom prst="ellipse">
            <a:avLst/>
          </a:prstGeom>
          <a:gradFill rotWithShape="1">
            <a:gsLst>
              <a:gs pos="0">
                <a:srgbClr val="E0874C"/>
              </a:gs>
              <a:gs pos="55000">
                <a:srgbClr val="D35400"/>
              </a:gs>
              <a:gs pos="100000">
                <a:srgbClr val="A84300"/>
              </a:gs>
            </a:gsLst>
            <a:path path="circle">
              <a:fillToRect l="32000" t="28000" r="68000" b="72000"/>
            </a:path>
          </a:gradFill>
          <a:ln w="9525" cap="rnd">
            <a:solidFill>
              <a:srgbClr val="6E2C00"/>
            </a:solidFill>
            <a:round/>
          </a:ln>
        </p:spPr>
      </p:sp>
      <p:sp>
        <p:nvSpPr>
          <p:cNvPr id="54" name="LDL retenida 3"/>
          <p:cNvSpPr/>
          <p:nvPr/>
        </p:nvSpPr>
        <p:spPr>
          <a:xfrm>
            <a:off x="2834640" y="3383280"/>
            <a:ext cx="320040" cy="320040"/>
          </a:xfrm>
          <a:prstGeom prst="ellipse">
            <a:avLst/>
          </a:prstGeom>
          <a:gradFill rotWithShape="1">
            <a:gsLst>
              <a:gs pos="0">
                <a:srgbClr val="E0874C"/>
              </a:gs>
              <a:gs pos="55000">
                <a:srgbClr val="D35400"/>
              </a:gs>
              <a:gs pos="100000">
                <a:srgbClr val="A84300"/>
              </a:gs>
            </a:gsLst>
            <a:path path="circle">
              <a:fillToRect l="32000" t="28000" r="68000" b="72000"/>
            </a:path>
          </a:gradFill>
          <a:ln w="9525" cap="rnd">
            <a:solidFill>
              <a:srgbClr val="6E2C00"/>
            </a:solidFill>
            <a:round/>
          </a:ln>
        </p:spPr>
      </p:sp>
      <p:sp>
        <p:nvSpPr>
          <p:cNvPr id="55" name="LDL ox"/>
          <p:cNvSpPr/>
          <p:nvPr/>
        </p:nvSpPr>
        <p:spPr>
          <a:xfrm>
            <a:off x="3291840" y="3063240"/>
            <a:ext cx="1708307" cy="236220"/>
          </a:xfrm>
          <a:prstGeom prst="rect">
            <a:avLst/>
          </a:prstGeom>
          <a:solidFill>
            <a:srgbClr val="FAD3BC"/>
          </a:solidFill>
          <a:ln w="15875" cap="rnd">
            <a:solidFill>
              <a:srgbClr val="1E1E1E"/>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LDL modificada/oxidada</a:t>
            </a:r>
            <a:endParaRPr lang="es-AR" sz="1200" dirty="0">
              <a:latin typeface="Bahnschrift SemiBold Condensed"/>
            </a:endParaRPr>
          </a:p>
        </p:txBody>
      </p:sp>
      <p:sp>
        <p:nvSpPr>
          <p:cNvPr id="56" name="Monocito"/>
          <p:cNvSpPr/>
          <p:nvPr/>
        </p:nvSpPr>
        <p:spPr>
          <a:xfrm>
            <a:off x="3840480" y="1463040"/>
            <a:ext cx="640080" cy="640080"/>
          </a:xfrm>
          <a:prstGeom prst="ellipse">
            <a:avLst/>
          </a:prstGeom>
          <a:gradFill rotWithShape="1">
            <a:gsLst>
              <a:gs pos="0">
                <a:srgbClr val="C49DD4"/>
              </a:gs>
              <a:gs pos="55000">
                <a:srgbClr val="A569BD"/>
              </a:gs>
              <a:gs pos="100000">
                <a:srgbClr val="845497"/>
              </a:gs>
            </a:gsLst>
            <a:path path="circle">
              <a:fillToRect l="32000" t="28000" r="68000" b="72000"/>
            </a:path>
          </a:gradFill>
          <a:ln w="12700" cap="rnd">
            <a:solidFill>
              <a:srgbClr val="4A235A"/>
            </a:solidFill>
            <a:round/>
          </a:ln>
        </p:spPr>
        <p:txBody>
          <a:bodyPr wrap="square" lIns="73152" tIns="45720" rIns="73152" bIns="45720" anchor="ctr" rtlCol="0">
            <a:noAutofit/>
          </a:bodyPr>
          <a:lstStyle/>
          <a:p>
            <a:pPr algn="ctr">
              <a:spcAft>
                <a:spcPts val="300"/>
              </a:spcAft>
              <a:buNone/>
            </a:pPr>
            <a:r>
              <a:rPr lang="es-AR" sz="1000" b="1" dirty="0">
                <a:solidFill>
                  <a:srgbClr val="FFFFFF"/>
                </a:solidFill>
                <a:latin typeface="Bahnschrift SemiBold Condensed"/>
                <a:ea typeface="Bahnschrift SemiBold Condensed"/>
                <a:cs typeface="Bahnschrift SemiBold Condensed"/>
                <a:sym typeface="Bahnschrift SemiBold Condensed"/>
              </a:rPr>
              <a:t>Mono</a:t>
            </a:r>
            <a:endParaRPr lang="es-AR" sz="1000" dirty="0">
              <a:latin typeface="Bahnschrift SemiBold Condensed"/>
            </a:endParaRPr>
          </a:p>
        </p:txBody>
      </p:sp>
      <p:sp>
        <p:nvSpPr>
          <p:cNvPr id="57" name="Célula espumosa"/>
          <p:cNvSpPr/>
          <p:nvPr/>
        </p:nvSpPr>
        <p:spPr>
          <a:xfrm>
            <a:off x="4846320" y="2971800"/>
            <a:ext cx="1371600" cy="914400"/>
          </a:xfrm>
          <a:prstGeom prst="ellipse">
            <a:avLst/>
          </a:prstGeom>
          <a:gradFill rotWithShape="1">
            <a:gsLst>
              <a:gs pos="0">
                <a:srgbClr val="FDFEFE"/>
              </a:gs>
              <a:gs pos="60000">
                <a:srgbClr val="F9E79F"/>
              </a:gs>
              <a:gs pos="100000">
                <a:srgbClr val="D4AC0D"/>
              </a:gs>
            </a:gsLst>
            <a:path path="circle">
              <a:fillToRect l="40000" t="40000" r="60000" b="60000"/>
            </a:path>
          </a:gradFill>
          <a:ln w="19050" cap="rnd">
            <a:solidFill>
              <a:srgbClr val="7E5109"/>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Célula</a:t>
            </a:r>
            <a:endParaRPr lang="es-AR" sz="1150" dirty="0">
              <a:latin typeface="Bahnschrift SemiBold Condensed"/>
            </a:endParaRPr>
          </a:p>
          <a:p>
            <a:pPr algn="ctr">
              <a:spcAft>
                <a:spcPts val="300"/>
              </a:spcAft>
              <a:buNone/>
            </a:pPr>
            <a:r>
              <a:rPr lang="es-AR" sz="1150" b="1" dirty="0">
                <a:solidFill>
                  <a:srgbClr val="1E1E1E"/>
                </a:solidFill>
                <a:latin typeface="Bahnschrift SemiBold Condensed"/>
                <a:ea typeface="Bahnschrift SemiBold Condensed"/>
                <a:cs typeface="Bahnschrift SemiBold Condensed"/>
                <a:sym typeface="Bahnschrift SemiBold Condensed"/>
              </a:rPr>
              <a:t>espumosa</a:t>
            </a:r>
            <a:endParaRPr lang="es-AR" sz="1150" dirty="0">
              <a:latin typeface="Bahnschrift SemiBold Condensed"/>
            </a:endParaRPr>
          </a:p>
        </p:txBody>
      </p:sp>
      <p:sp>
        <p:nvSpPr>
          <p:cNvPr id="58" name="Placa"/>
          <p:cNvSpPr/>
          <p:nvPr/>
        </p:nvSpPr>
        <p:spPr>
          <a:xfrm>
            <a:off x="1097280" y="2148840"/>
            <a:ext cx="5486400" cy="1371600"/>
          </a:xfrm>
          <a:custGeom>
            <a:avLst/>
            <a:gdLst/>
            <a:ahLst/>
            <a:cxnLst/>
            <a:rect l="0" t="0" r="r" b="b"/>
            <a:pathLst>
              <a:path w="1000" h="1000">
                <a:moveTo>
                  <a:pt x="0" y="1000"/>
                </a:moveTo>
                <a:cubicBezTo>
                  <a:pt x="33" y="883"/>
                  <a:pt x="116" y="466"/>
                  <a:pt x="200" y="300"/>
                </a:cubicBezTo>
                <a:cubicBezTo>
                  <a:pt x="283" y="133"/>
                  <a:pt x="400" y="0"/>
                  <a:pt x="500" y="0"/>
                </a:cubicBezTo>
                <a:cubicBezTo>
                  <a:pt x="600" y="0"/>
                  <a:pt x="716" y="133"/>
                  <a:pt x="800" y="300"/>
                </a:cubicBezTo>
                <a:cubicBezTo>
                  <a:pt x="883" y="466"/>
                  <a:pt x="966" y="883"/>
                  <a:pt x="1000" y="1000"/>
                </a:cubicBezTo>
              </a:path>
            </a:pathLst>
          </a:custGeom>
          <a:solidFill>
            <a:srgbClr val="F5CBA7">
              <a:alpha val="70000"/>
            </a:srgbClr>
          </a:solidFill>
          <a:ln w="25400" cap="rnd">
            <a:solidFill>
              <a:srgbClr val="922B21"/>
            </a:solidFill>
            <a:round/>
          </a:ln>
        </p:spPr>
      </p:sp>
      <p:grpSp>
        <p:nvGrpSpPr>
          <p:cNvPr id="59" name="Paso atero 1"/>
          <p:cNvGrpSpPr/>
          <p:nvPr/>
        </p:nvGrpSpPr>
        <p:grpSpPr>
          <a:xfrm>
            <a:off x="8092440" y="960120"/>
            <a:ext cx="3703320" cy="1188720"/>
            <a:chOff x="8092440" y="960120"/>
            <a:chExt cx="3703320" cy="1188720"/>
          </a:xfrm>
        </p:grpSpPr>
        <p:sp>
          <p:nvSpPr>
            <p:cNvPr id="60" name="Paso 1"/>
            <p:cNvSpPr/>
            <p:nvPr/>
          </p:nvSpPr>
          <p:spPr>
            <a:xfrm>
              <a:off x="8092440" y="1051560"/>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61" name="Forma 60"/>
            <p:cNvSpPr txBox="1"/>
            <p:nvPr/>
          </p:nvSpPr>
          <p:spPr>
            <a:xfrm>
              <a:off x="8595360" y="960120"/>
              <a:ext cx="3200400" cy="1188720"/>
            </a:xfrm>
            <a:prstGeom prst="rect">
              <a:avLst/>
            </a:prstGeom>
            <a:noFill/>
            <a:ln>
              <a:noFill/>
            </a:ln>
          </p:spPr>
          <p:txBody>
            <a:bodyPr wrap="square" lIns="0" tIns="0" rIns="0" bIns="0" anchor="ctr" rtlCol="0">
              <a:noAutofit/>
            </a:bodyPr>
            <a:lstStyle/>
            <a:p>
              <a:pPr algn="l">
                <a:spcAft>
                  <a:spcPts val="300"/>
                </a:spcAft>
                <a:buNone/>
              </a:pPr>
              <a:r>
                <a:rPr lang="es-AR" sz="1300" dirty="0">
                  <a:solidFill>
                    <a:srgbClr val="1E1E1E"/>
                  </a:solidFill>
                  <a:latin typeface="Bahnschrift"/>
                  <a:ea typeface="Bahnschrift"/>
                  <a:cs typeface="Bahnschrift"/>
                  <a:sym typeface="Bahnschrift"/>
                </a:rPr>
                <a:t>Entrada y </a:t>
              </a:r>
              <a:r>
                <a:rPr lang="es-AR" sz="1300" b="1" dirty="0">
                  <a:solidFill>
                    <a:srgbClr val="1E1E1E"/>
                  </a:solidFill>
                  <a:latin typeface="Bahnschrift"/>
                  <a:ea typeface="Bahnschrift"/>
                  <a:cs typeface="Bahnschrift"/>
                  <a:sym typeface="Bahnschrift"/>
                </a:rPr>
                <a:t>retención</a:t>
              </a:r>
              <a:r>
                <a:rPr lang="es-AR" sz="1300" dirty="0">
                  <a:solidFill>
                    <a:srgbClr val="1E1E1E"/>
                  </a:solidFill>
                  <a:latin typeface="Bahnschrift"/>
                  <a:ea typeface="Bahnschrift"/>
                  <a:cs typeface="Bahnschrift"/>
                  <a:sym typeface="Bahnschrift"/>
                </a:rPr>
                <a:t> por proteoglucanos de la íntima</a:t>
              </a:r>
              <a:endParaRPr lang="es-AR" sz="1300" dirty="0">
                <a:latin typeface="Bahnschrift"/>
              </a:endParaRPr>
            </a:p>
          </p:txBody>
        </p:sp>
      </p:grpSp>
      <p:grpSp>
        <p:nvGrpSpPr>
          <p:cNvPr id="62" name="Paso atero 2"/>
          <p:cNvGrpSpPr/>
          <p:nvPr/>
        </p:nvGrpSpPr>
        <p:grpSpPr>
          <a:xfrm>
            <a:off x="8092440" y="2221992"/>
            <a:ext cx="3703320" cy="1188720"/>
            <a:chOff x="8092440" y="2221992"/>
            <a:chExt cx="3703320" cy="1188720"/>
          </a:xfrm>
        </p:grpSpPr>
        <p:sp>
          <p:nvSpPr>
            <p:cNvPr id="63" name="Paso 2"/>
            <p:cNvSpPr/>
            <p:nvPr/>
          </p:nvSpPr>
          <p:spPr>
            <a:xfrm>
              <a:off x="8092440" y="2313432"/>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64" name="Forma 63"/>
            <p:cNvSpPr txBox="1"/>
            <p:nvPr/>
          </p:nvSpPr>
          <p:spPr>
            <a:xfrm>
              <a:off x="8595360" y="2221992"/>
              <a:ext cx="3200400" cy="118872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1E1E1E"/>
                  </a:solidFill>
                  <a:latin typeface="Bahnschrift"/>
                  <a:ea typeface="Bahnschrift"/>
                  <a:cs typeface="Bahnschrift"/>
                  <a:sym typeface="Bahnschrift"/>
                </a:rPr>
                <a:t>Modificación</a:t>
              </a:r>
              <a:r>
                <a:rPr lang="es-AR" sz="1300" dirty="0">
                  <a:solidFill>
                    <a:srgbClr val="1E1E1E"/>
                  </a:solidFill>
                  <a:latin typeface="Bahnschrift"/>
                  <a:ea typeface="Bahnschrift"/>
                  <a:cs typeface="Bahnschrift"/>
                  <a:sym typeface="Bahnschrift"/>
                </a:rPr>
                <a:t> (agregación, oxidación, enzimas) → captación por macrófagos vía </a:t>
              </a:r>
              <a:r>
                <a:rPr lang="es-AR" sz="1300" b="1" dirty="0">
                  <a:solidFill>
                    <a:srgbClr val="1E1E1E"/>
                  </a:solidFill>
                  <a:latin typeface="Bahnschrift"/>
                  <a:ea typeface="Bahnschrift"/>
                  <a:cs typeface="Bahnschrift"/>
                  <a:sym typeface="Bahnschrift"/>
                </a:rPr>
                <a:t>CD36, SR-A</a:t>
              </a:r>
              <a:r>
                <a:rPr lang="es-AR" sz="1300" dirty="0">
                  <a:solidFill>
                    <a:srgbClr val="1E1E1E"/>
                  </a:solidFill>
                  <a:latin typeface="Bahnschrift"/>
                  <a:ea typeface="Bahnschrift"/>
                  <a:cs typeface="Bahnschrift"/>
                  <a:sym typeface="Bahnschrift"/>
                </a:rPr>
                <a:t>: no se regulan a la baja → </a:t>
              </a:r>
              <a:r>
                <a:rPr lang="es-AR" sz="1300" b="1" dirty="0">
                  <a:solidFill>
                    <a:srgbClr val="1E1E1E"/>
                  </a:solidFill>
                  <a:latin typeface="Bahnschrift"/>
                  <a:ea typeface="Bahnschrift"/>
                  <a:cs typeface="Bahnschrift"/>
                  <a:sym typeface="Bahnschrift"/>
                </a:rPr>
                <a:t>células espumosas</a:t>
              </a:r>
              <a:endParaRPr lang="es-AR" sz="1300" dirty="0">
                <a:latin typeface="Bahnschrift"/>
              </a:endParaRPr>
            </a:p>
          </p:txBody>
        </p:sp>
      </p:grpSp>
      <p:grpSp>
        <p:nvGrpSpPr>
          <p:cNvPr id="65" name="Paso atero 3"/>
          <p:cNvGrpSpPr/>
          <p:nvPr/>
        </p:nvGrpSpPr>
        <p:grpSpPr>
          <a:xfrm>
            <a:off x="8092440" y="3483864"/>
            <a:ext cx="3703320" cy="1188720"/>
            <a:chOff x="8092440" y="3483864"/>
            <a:chExt cx="3703320" cy="1188720"/>
          </a:xfrm>
        </p:grpSpPr>
        <p:sp>
          <p:nvSpPr>
            <p:cNvPr id="66" name="Paso 3"/>
            <p:cNvSpPr/>
            <p:nvPr/>
          </p:nvSpPr>
          <p:spPr>
            <a:xfrm>
              <a:off x="8092440" y="3575304"/>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67" name="Forma 66"/>
            <p:cNvSpPr txBox="1"/>
            <p:nvPr/>
          </p:nvSpPr>
          <p:spPr>
            <a:xfrm>
              <a:off x="8595360" y="3483864"/>
              <a:ext cx="3200400" cy="118872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1E1E1E"/>
                  </a:solidFill>
                  <a:latin typeface="Bahnschrift"/>
                  <a:ea typeface="Bahnschrift"/>
                  <a:cs typeface="Bahnschrift"/>
                  <a:sym typeface="Bahnschrift"/>
                </a:rPr>
                <a:t>Inflamación</a:t>
              </a:r>
              <a:r>
                <a:rPr lang="es-AR" sz="1300" dirty="0">
                  <a:solidFill>
                    <a:srgbClr val="1E1E1E"/>
                  </a:solidFill>
                  <a:latin typeface="Bahnschrift"/>
                  <a:ea typeface="Bahnschrift"/>
                  <a:cs typeface="Bahnschrift"/>
                  <a:sym typeface="Bahnschrift"/>
                </a:rPr>
                <a:t> crónica: monocitos, linfocitos T, citocinas, inflamasoma</a:t>
              </a:r>
              <a:endParaRPr lang="es-AR" sz="1300" dirty="0">
                <a:latin typeface="Bahnschrift"/>
              </a:endParaRPr>
            </a:p>
          </p:txBody>
        </p:sp>
      </p:grpSp>
      <p:grpSp>
        <p:nvGrpSpPr>
          <p:cNvPr id="68" name="Paso atero 4"/>
          <p:cNvGrpSpPr/>
          <p:nvPr/>
        </p:nvGrpSpPr>
        <p:grpSpPr>
          <a:xfrm>
            <a:off x="8092440" y="4745736"/>
            <a:ext cx="3703320" cy="1188720"/>
            <a:chOff x="8092440" y="4745736"/>
            <a:chExt cx="3703320" cy="1188720"/>
          </a:xfrm>
        </p:grpSpPr>
        <p:sp>
          <p:nvSpPr>
            <p:cNvPr id="69" name="Paso 4"/>
            <p:cNvSpPr/>
            <p:nvPr/>
          </p:nvSpPr>
          <p:spPr>
            <a:xfrm>
              <a:off x="8092440" y="4837176"/>
              <a:ext cx="384048" cy="384048"/>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sp>
          <p:nvSpPr>
            <p:cNvPr id="70" name="Forma 69"/>
            <p:cNvSpPr txBox="1"/>
            <p:nvPr/>
          </p:nvSpPr>
          <p:spPr>
            <a:xfrm>
              <a:off x="8595360" y="4745736"/>
              <a:ext cx="3200400" cy="118872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1E1E1E"/>
                  </a:solidFill>
                  <a:latin typeface="Bahnschrift"/>
                  <a:ea typeface="Bahnschrift"/>
                  <a:cs typeface="Bahnschrift"/>
                  <a:sym typeface="Bahnschrift"/>
                </a:rPr>
                <a:t>Placa</a:t>
              </a:r>
              <a:r>
                <a:rPr lang="es-AR" sz="1300" dirty="0">
                  <a:solidFill>
                    <a:srgbClr val="1E1E1E"/>
                  </a:solidFill>
                  <a:latin typeface="Bahnschrift"/>
                  <a:ea typeface="Bahnschrift"/>
                  <a:cs typeface="Bahnschrift"/>
                  <a:sym typeface="Bahnschrift"/>
                </a:rPr>
                <a:t>: muerte celular, núcleo necrótico, músculo liso y matriz fibrosa; </a:t>
              </a:r>
              <a:r>
                <a:rPr lang="es-AR" sz="1300" b="1" dirty="0">
                  <a:solidFill>
                    <a:srgbClr val="1E1E1E"/>
                  </a:solidFill>
                  <a:latin typeface="Bahnschrift"/>
                  <a:ea typeface="Bahnschrift"/>
                  <a:cs typeface="Bahnschrift"/>
                  <a:sym typeface="Bahnschrift"/>
                </a:rPr>
                <a:t>ruptura/erosión → trombosis</a:t>
              </a:r>
              <a:endParaRPr lang="es-AR" sz="1300" dirty="0">
                <a:latin typeface="Bahnschrift"/>
              </a:endParaRPr>
            </a:p>
          </p:txBody>
        </p:sp>
      </p:grpSp>
      <p:sp>
        <p:nvSpPr>
          <p:cNvPr id="2" name="Etiqueta sección"/>
          <p:cNvSpPr/>
          <p:nvPr/>
        </p:nvSpPr>
        <p:spPr>
          <a:xfrm>
            <a:off x="9678563" y="201168"/>
            <a:ext cx="22388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5 · ATEROGÉNESIS</a:t>
            </a:r>
            <a:endParaRPr lang="es-AR" sz="1300" dirty="0">
              <a:latin typeface="Bahnschrift SemiBold Condensed"/>
            </a:endParaRPr>
          </a:p>
        </p:txBody>
      </p:sp>
      <p:sp>
        <p:nvSpPr>
          <p:cNvPr id="3" name="Título"/>
          <p:cNvSpPr/>
          <p:nvPr/>
        </p:nvSpPr>
        <p:spPr>
          <a:xfrm>
            <a:off x="274320" y="146304"/>
            <a:ext cx="455440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P5 · ATEROGÉNESIS PASO A PASO</a:t>
            </a:r>
            <a:endParaRPr lang="es-AR" sz="2600" dirty="0">
              <a:latin typeface="Bahnschrift SemiBold Condensed"/>
            </a:endParaRPr>
          </a:p>
        </p:txBody>
      </p:sp>
      <p:sp>
        <p:nvSpPr>
          <p:cNvPr id="7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1"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9"/>
                                        </p:tgtEl>
                                        <p:attrNameLst>
                                          <p:attrName>style.visibility</p:attrName>
                                        </p:attrNameLst>
                                      </p:cBhvr>
                                      <p:to>
                                        <p:strVal val="visible"/>
                                      </p:to>
                                    </p:set>
                                    <p:animEffect transition="in" filter="fade">
                                      <p:cBhvr>
                                        <p:cTn id="5" dur="500"/>
                                        <p:tgtEl>
                                          <p:spTgt spid="59"/>
                                        </p:tgtEl>
                                      </p:cBhvr>
                                    </p:animEffect>
                                  </p:childTnLst>
                                </p:cTn>
                              </p:par>
                            </p:childTnLst>
                          </p:cTn>
                        </p:par>
                        <p:par>
                          <p:cTn id="9" fill="hold">
                            <p:stCondLst>
                              <p:cond delay="500"/>
                            </p:stCondLst>
                            <p:childTnLst>
                              <p:par>
                                <p:cTn id="7" presetID="0" presetClass="path" presetSubtype="0" accel="20000" decel="20000" fill="hold" grpId="0" nodeType="afterEffect">
                                  <p:stCondLst>
                                    <p:cond delay="0"/>
                                  </p:stCondLst>
                                  <p:childTnLst>
                                    <p:animMotion origin="layout" path="M 0 0 L 0.0600 0.2533 E" pathEditMode="relative" ptsTypes="">
                                      <p:cBhvr>
                                        <p:cTn id="8" dur="1300" fill="hold"/>
                                        <p:tgtEl>
                                          <p:spTgt spid="46"/>
                                        </p:tgtEl>
                                        <p:attrNameLst>
                                          <p:attrName>ppt_x</p:attrName>
                                          <p:attrName>ppt_y</p:attrName>
                                        </p:attrNameLst>
                                      </p:cBhvr>
                                      <p:rCtr x="3000" y="12666"/>
                                    </p:animMotion>
                                  </p:childTnLst>
                                </p:cTn>
                              </p:par>
                            </p:childTnLst>
                          </p:cTn>
                        </p:par>
                        <p:par>
                          <p:cTn id="30" fill="hold">
                            <p:stCondLst>
                              <p:cond delay="1800"/>
                            </p:stCondLst>
                            <p:childTnLst>
                              <p:par>
                                <p:cTn id="10" presetID="53" presetClass="entr" presetSubtype="16" fill="hold" grpId="0" nodeType="afterEffect">
                                  <p:stCondLst>
                                    <p:cond delay="0"/>
                                  </p:stCondLst>
                                  <p:childTnLst>
                                    <p:set>
                                      <p:cBhvr>
                                        <p:cTn id="11" dur="1" fill="hold">
                                          <p:stCondLst>
                                            <p:cond delay="0"/>
                                          </p:stCondLst>
                                        </p:cTn>
                                        <p:tgtEl>
                                          <p:spTgt spid="51"/>
                                        </p:tgtEl>
                                        <p:attrNameLst>
                                          <p:attrName>style.visibility</p:attrName>
                                        </p:attrNameLst>
                                      </p:cBhvr>
                                      <p:to>
                                        <p:strVal val="visible"/>
                                      </p:to>
                                    </p:set>
                                    <p:anim calcmode="lin" valueType="num">
                                      <p:cBhvr>
                                        <p:cTn id="12" dur="500" fill="hold"/>
                                        <p:tgtEl>
                                          <p:spTgt spid="51"/>
                                        </p:tgtEl>
                                        <p:attrNameLst>
                                          <p:attrName>ppt_w</p:attrName>
                                        </p:attrNameLst>
                                      </p:cBhvr>
                                      <p:tavLst>
                                        <p:tav tm="0">
                                          <p:val>
                                            <p:fltVal val="0"/>
                                          </p:val>
                                        </p:tav>
                                        <p:tav tm="100000">
                                          <p:val>
                                            <p:strVal val="#ppt_w"/>
                                          </p:val>
                                        </p:tav>
                                      </p:tavLst>
                                    </p:anim>
                                    <p:anim calcmode="lin" valueType="num">
                                      <p:cBhvr>
                                        <p:cTn id="13" dur="500" fill="hold"/>
                                        <p:tgtEl>
                                          <p:spTgt spid="51"/>
                                        </p:tgtEl>
                                        <p:attrNameLst>
                                          <p:attrName>ppt_h</p:attrName>
                                        </p:attrNameLst>
                                      </p:cBhvr>
                                      <p:tavLst>
                                        <p:tav tm="0">
                                          <p:val>
                                            <p:fltVal val="0"/>
                                          </p:val>
                                        </p:tav>
                                        <p:tav tm="100000">
                                          <p:val>
                                            <p:strVal val="#ppt_h"/>
                                          </p:val>
                                        </p:tav>
                                      </p:tavLst>
                                    </p:anim>
                                    <p:animEffect transition="in" filter="fade">
                                      <p:cBhvr>
                                        <p:cTn id="14" dur="500"/>
                                        <p:tgtEl>
                                          <p:spTgt spid="51"/>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p:cTn id="17" dur="500" fill="hold"/>
                                        <p:tgtEl>
                                          <p:spTgt spid="52"/>
                                        </p:tgtEl>
                                        <p:attrNameLst>
                                          <p:attrName>ppt_w</p:attrName>
                                        </p:attrNameLst>
                                      </p:cBhvr>
                                      <p:tavLst>
                                        <p:tav tm="0">
                                          <p:val>
                                            <p:fltVal val="0"/>
                                          </p:val>
                                        </p:tav>
                                        <p:tav tm="100000">
                                          <p:val>
                                            <p:strVal val="#ppt_w"/>
                                          </p:val>
                                        </p:tav>
                                      </p:tavLst>
                                    </p:anim>
                                    <p:anim calcmode="lin" valueType="num">
                                      <p:cBhvr>
                                        <p:cTn id="18" dur="500" fill="hold"/>
                                        <p:tgtEl>
                                          <p:spTgt spid="52"/>
                                        </p:tgtEl>
                                        <p:attrNameLst>
                                          <p:attrName>ppt_h</p:attrName>
                                        </p:attrNameLst>
                                      </p:cBhvr>
                                      <p:tavLst>
                                        <p:tav tm="0">
                                          <p:val>
                                            <p:fltVal val="0"/>
                                          </p:val>
                                        </p:tav>
                                        <p:tav tm="100000">
                                          <p:val>
                                            <p:strVal val="#ppt_h"/>
                                          </p:val>
                                        </p:tav>
                                      </p:tavLst>
                                    </p:anim>
                                    <p:animEffect transition="in" filter="fade">
                                      <p:cBhvr>
                                        <p:cTn id="19" dur="500"/>
                                        <p:tgtEl>
                                          <p:spTgt spid="52"/>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53"/>
                                        </p:tgtEl>
                                        <p:attrNameLst>
                                          <p:attrName>style.visibility</p:attrName>
                                        </p:attrNameLst>
                                      </p:cBhvr>
                                      <p:to>
                                        <p:strVal val="visible"/>
                                      </p:to>
                                    </p:set>
                                    <p:anim calcmode="lin" valueType="num">
                                      <p:cBhvr>
                                        <p:cTn id="22" dur="500" fill="hold"/>
                                        <p:tgtEl>
                                          <p:spTgt spid="53"/>
                                        </p:tgtEl>
                                        <p:attrNameLst>
                                          <p:attrName>ppt_w</p:attrName>
                                        </p:attrNameLst>
                                      </p:cBhvr>
                                      <p:tavLst>
                                        <p:tav tm="0">
                                          <p:val>
                                            <p:fltVal val="0"/>
                                          </p:val>
                                        </p:tav>
                                        <p:tav tm="100000">
                                          <p:val>
                                            <p:strVal val="#ppt_w"/>
                                          </p:val>
                                        </p:tav>
                                      </p:tavLst>
                                    </p:anim>
                                    <p:anim calcmode="lin" valueType="num">
                                      <p:cBhvr>
                                        <p:cTn id="23" dur="500" fill="hold"/>
                                        <p:tgtEl>
                                          <p:spTgt spid="53"/>
                                        </p:tgtEl>
                                        <p:attrNameLst>
                                          <p:attrName>ppt_h</p:attrName>
                                        </p:attrNameLst>
                                      </p:cBhvr>
                                      <p:tavLst>
                                        <p:tav tm="0">
                                          <p:val>
                                            <p:fltVal val="0"/>
                                          </p:val>
                                        </p:tav>
                                        <p:tav tm="100000">
                                          <p:val>
                                            <p:strVal val="#ppt_h"/>
                                          </p:val>
                                        </p:tav>
                                      </p:tavLst>
                                    </p:anim>
                                    <p:animEffect transition="in" filter="fade">
                                      <p:cBhvr>
                                        <p:cTn id="24" dur="500"/>
                                        <p:tgtEl>
                                          <p:spTgt spid="53"/>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Effect transition="in" filter="fade">
                                      <p:cBhvr>
                                        <p:cTn id="29" dur="500"/>
                                        <p:tgtEl>
                                          <p:spTgt spid="54"/>
                                        </p:tgtEl>
                                      </p:cBhvr>
                                    </p:animEffect>
                                  </p:childTnLst>
                                </p:cTn>
                              </p:par>
                            </p:childTnLst>
                          </p:cTn>
                        </p:par>
                      </p:childTnLst>
                    </p:cTn>
                  </p:par>
                  <p:par>
                    <p:cTn id="52"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500"/>
                                        <p:tgtEl>
                                          <p:spTgt spid="62"/>
                                        </p:tgtEl>
                                      </p:cBhvr>
                                    </p:animEffect>
                                  </p:childTnLst>
                                </p:cTn>
                              </p:par>
                            </p:childTnLst>
                          </p:cTn>
                        </p:par>
                        <p:par>
                          <p:cTn id="42"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55"/>
                                        </p:tgtEl>
                                        <p:attrNameLst>
                                          <p:attrName>style.visibility</p:attrName>
                                        </p:attrNameLst>
                                      </p:cBhvr>
                                      <p:to>
                                        <p:strVal val="visible"/>
                                      </p:to>
                                    </p:set>
                                    <p:animEffect transition="in" filter="fade">
                                      <p:cBhvr>
                                        <p:cTn id="38" dur="500"/>
                                        <p:tgtEl>
                                          <p:spTgt spid="5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fade">
                                      <p:cBhvr>
                                        <p:cTn id="41" dur="500"/>
                                        <p:tgtEl>
                                          <p:spTgt spid="56"/>
                                        </p:tgtEl>
                                      </p:cBhvr>
                                    </p:animEffect>
                                  </p:childTnLst>
                                </p:cTn>
                              </p:par>
                            </p:childTnLst>
                          </p:cTn>
                        </p:par>
                        <p:par>
                          <p:cTn id="45" fill="hold">
                            <p:stCondLst>
                              <p:cond delay="1000"/>
                            </p:stCondLst>
                            <p:childTnLst>
                              <p:par>
                                <p:cTn id="43" presetID="0" presetClass="path" presetSubtype="0" accel="20000" decel="20000" fill="hold" grpId="0" nodeType="afterEffect">
                                  <p:stCondLst>
                                    <p:cond delay="0"/>
                                  </p:stCondLst>
                                  <p:childTnLst>
                                    <p:animMotion origin="layout" path="M 0 0 L 0.0900 0.2333 E" pathEditMode="relative" ptsTypes="">
                                      <p:cBhvr>
                                        <p:cTn id="44" dur="1200" fill="hold"/>
                                        <p:tgtEl>
                                          <p:spTgt spid="56"/>
                                        </p:tgtEl>
                                        <p:attrNameLst>
                                          <p:attrName>ppt_x</p:attrName>
                                          <p:attrName>ppt_y</p:attrName>
                                        </p:attrNameLst>
                                      </p:cBhvr>
                                      <p:rCtr x="4500" y="11666"/>
                                    </p:animMotion>
                                  </p:childTnLst>
                                </p:cTn>
                              </p:par>
                            </p:childTnLst>
                          </p:cTn>
                        </p:par>
                        <p:par>
                          <p:cTn id="51" fill="hold">
                            <p:stCondLst>
                              <p:cond delay="2200"/>
                            </p:stCondLst>
                            <p:childTnLst>
                              <p:par>
                                <p:cTn id="46" presetID="53" presetClass="entr" presetSubtype="16" fill="hold" grpId="0" nodeType="afterEffect">
                                  <p:stCondLst>
                                    <p:cond delay="0"/>
                                  </p:stCondLst>
                                  <p:childTnLst>
                                    <p:set>
                                      <p:cBhvr>
                                        <p:cTn id="47" dur="1" fill="hold">
                                          <p:stCondLst>
                                            <p:cond delay="0"/>
                                          </p:stCondLst>
                                        </p:cTn>
                                        <p:tgtEl>
                                          <p:spTgt spid="57"/>
                                        </p:tgtEl>
                                        <p:attrNameLst>
                                          <p:attrName>style.visibility</p:attrName>
                                        </p:attrNameLst>
                                      </p:cBhvr>
                                      <p:to>
                                        <p:strVal val="visible"/>
                                      </p:to>
                                    </p:set>
                                    <p:anim calcmode="lin" valueType="num">
                                      <p:cBhvr>
                                        <p:cTn id="48" dur="500" fill="hold"/>
                                        <p:tgtEl>
                                          <p:spTgt spid="57"/>
                                        </p:tgtEl>
                                        <p:attrNameLst>
                                          <p:attrName>ppt_w</p:attrName>
                                        </p:attrNameLst>
                                      </p:cBhvr>
                                      <p:tavLst>
                                        <p:tav tm="0">
                                          <p:val>
                                            <p:fltVal val="0"/>
                                          </p:val>
                                        </p:tav>
                                        <p:tav tm="100000">
                                          <p:val>
                                            <p:strVal val="#ppt_w"/>
                                          </p:val>
                                        </p:tav>
                                      </p:tavLst>
                                    </p:anim>
                                    <p:anim calcmode="lin" valueType="num">
                                      <p:cBhvr>
                                        <p:cTn id="49" dur="500" fill="hold"/>
                                        <p:tgtEl>
                                          <p:spTgt spid="57"/>
                                        </p:tgtEl>
                                        <p:attrNameLst>
                                          <p:attrName>ppt_h</p:attrName>
                                        </p:attrNameLst>
                                      </p:cBhvr>
                                      <p:tavLst>
                                        <p:tav tm="0">
                                          <p:val>
                                            <p:fltVal val="0"/>
                                          </p:val>
                                        </p:tav>
                                        <p:tav tm="100000">
                                          <p:val>
                                            <p:strVal val="#ppt_h"/>
                                          </p:val>
                                        </p:tav>
                                      </p:tavLst>
                                    </p:anim>
                                    <p:animEffect transition="in" filter="fade">
                                      <p:cBhvr>
                                        <p:cTn id="50" dur="500"/>
                                        <p:tgtEl>
                                          <p:spTgt spid="57"/>
                                        </p:tgtEl>
                                      </p:cBhvr>
                                    </p:animEffect>
                                  </p:childTnLst>
                                </p:cTn>
                              </p:par>
                            </p:childTnLst>
                          </p:cTn>
                        </p:par>
                      </p:childTnLst>
                    </p:cTn>
                  </p:par>
                  <p:par>
                    <p:cTn id="60" fill="hold">
                      <p:stCondLst>
                        <p:cond delay="indefinite"/>
                      </p:stCondLst>
                      <p:childTnLst>
                        <p:par>
                          <p:cTn id="56"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fade">
                                      <p:cBhvr>
                                        <p:cTn id="55" dur="500"/>
                                        <p:tgtEl>
                                          <p:spTgt spid="65"/>
                                        </p:tgtEl>
                                      </p:cBhvr>
                                    </p:animEffect>
                                  </p:childTnLst>
                                </p:cTn>
                              </p:par>
                            </p:childTnLst>
                          </p:cTn>
                        </p:par>
                        <p:par>
                          <p:cTn id="59" fill="hold">
                            <p:stCondLst>
                              <p:cond delay="500"/>
                            </p:stCondLst>
                            <p:childTnLst>
                              <p:par>
                                <p:cTn id="57" presetID="6" presetClass="emph" presetSubtype="0" fill="hold" grpId="0" nodeType="afterEffect">
                                  <p:stCondLst>
                                    <p:cond delay="0"/>
                                  </p:stCondLst>
                                  <p:childTnLst>
                                    <p:animScale>
                                      <p:cBhvr>
                                        <p:cTn id="58" dur="300" autoRev="1" fill="hold"/>
                                        <p:tgtEl>
                                          <p:spTgt spid="57"/>
                                        </p:tgtEl>
                                      </p:cBhvr>
                                      <p:by x="112000" y="112000"/>
                                    </p:animScale>
                                  </p:childTnLst>
                                </p:cTn>
                              </p:par>
                            </p:childTnLst>
                          </p:cTn>
                        </p:par>
                      </p:childTnLst>
                    </p:cTn>
                  </p:par>
                  <p:par>
                    <p:cTn id="69" fill="hold">
                      <p:stCondLst>
                        <p:cond delay="indefinite"/>
                      </p:stCondLst>
                      <p:childTnLst>
                        <p:par>
                          <p:cTn id="64"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childTnLst>
                          </p:cTn>
                        </p:par>
                        <p:par>
                          <p:cTn id="68" fill="hold">
                            <p:stCondLst>
                              <p:cond delay="500"/>
                            </p:stCondLst>
                            <p:childTnLst>
                              <p:par>
                                <p:cTn id="65" presetID="22" presetClass="entr" presetSubtype="4" fill="hold" grpId="0" nodeType="afterEffect">
                                  <p:stCondLst>
                                    <p:cond delay="0"/>
                                  </p:stCondLst>
                                  <p:childTnLst>
                                    <p:set>
                                      <p:cBhvr>
                                        <p:cTn id="66" dur="1" fill="hold">
                                          <p:stCondLst>
                                            <p:cond delay="0"/>
                                          </p:stCondLst>
                                        </p:cTn>
                                        <p:tgtEl>
                                          <p:spTgt spid="58"/>
                                        </p:tgtEl>
                                        <p:attrNameLst>
                                          <p:attrName>style.visibility</p:attrName>
                                        </p:attrNameLst>
                                      </p:cBhvr>
                                      <p:to>
                                        <p:strVal val="visible"/>
                                      </p:to>
                                    </p:set>
                                    <p:animEffect transition="in" filter="wipe(down)">
                                      <p:cBhvr>
                                        <p:cTn id="67" dur="6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animBg="1"/>
      <p:bldP spid="53" grpId="0" animBg="1"/>
      <p:bldP spid="54" grpId="0" animBg="1"/>
      <p:bldP spid="55" grpId="0" animBg="1"/>
      <p:bldP spid="56" grpId="0" animBg="1"/>
      <p:bldP spid="57" grpId="0" animBg="1"/>
      <p:bldP spid="58" grpId="0" animBg="1"/>
    </p:bldLst>
  </p:timing>
</p:sld>
</file>

<file path=ppt/slides/slide185.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HDL: compensación"/>
          <p:cNvGrpSpPr/>
          <p:nvPr/>
        </p:nvGrpSpPr>
        <p:grpSpPr>
          <a:xfrm>
            <a:off x="365760" y="1005840"/>
            <a:ext cx="5577840" cy="2377440"/>
            <a:chOff x="365760" y="1005840"/>
            <a:chExt cx="5577840" cy="2377440"/>
          </a:xfrm>
        </p:grpSpPr>
        <p:sp>
          <p:nvSpPr>
            <p:cNvPr id="14" name="Forma 13"/>
            <p:cNvSpPr/>
            <p:nvPr/>
          </p:nvSpPr>
          <p:spPr>
            <a:xfrm>
              <a:off x="365760" y="1188720"/>
              <a:ext cx="5577840" cy="21945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ApoA-I/ABCA1/ABCG1</a:t>
              </a:r>
              <a:r>
                <a:rPr lang="es-AR" sz="1600" dirty="0">
                  <a:solidFill>
                    <a:srgbClr val="1E1E1E"/>
                  </a:solidFill>
                  <a:latin typeface="Bahnschrift"/>
                  <a:ea typeface="Bahnschrift"/>
                  <a:cs typeface="Bahnschrift"/>
                  <a:sym typeface="Bahnschrift"/>
                </a:rPr>
                <a:t>: eflujo de colesterol de macrófagos; </a:t>
              </a:r>
              <a:r>
                <a:rPr lang="es-AR" sz="1600" b="1" dirty="0">
                  <a:solidFill>
                    <a:srgbClr val="1E1E1E"/>
                  </a:solidFill>
                  <a:latin typeface="Bahnschrift"/>
                  <a:ea typeface="Bahnschrift"/>
                  <a:cs typeface="Bahnschrift"/>
                  <a:sym typeface="Bahnschrift"/>
                </a:rPr>
                <a:t>LCAT</a:t>
              </a:r>
              <a:r>
                <a:rPr lang="es-AR" sz="1600" dirty="0">
                  <a:solidFill>
                    <a:srgbClr val="1E1E1E"/>
                  </a:solidFill>
                  <a:latin typeface="Bahnschrift"/>
                  <a:ea typeface="Bahnschrift"/>
                  <a:cs typeface="Bahnschrift"/>
                  <a:sym typeface="Bahnschrift"/>
                </a:rPr>
                <a:t> lo esterifica; </a:t>
              </a:r>
              <a:r>
                <a:rPr lang="es-AR" sz="1600" b="1" dirty="0">
                  <a:solidFill>
                    <a:srgbClr val="1E1E1E"/>
                  </a:solidFill>
                  <a:latin typeface="Bahnschrift"/>
                  <a:ea typeface="Bahnschrift"/>
                  <a:cs typeface="Bahnschrift"/>
                  <a:sym typeface="Bahnschrift"/>
                </a:rPr>
                <a:t>SR-BI</a:t>
              </a:r>
              <a:r>
                <a:rPr lang="es-AR" sz="1600" dirty="0">
                  <a:solidFill>
                    <a:srgbClr val="1E1E1E"/>
                  </a:solidFill>
                  <a:latin typeface="Bahnschrift"/>
                  <a:ea typeface="Bahnschrift"/>
                  <a:cs typeface="Bahnschrift"/>
                  <a:sym typeface="Bahnschrift"/>
                </a:rPr>
                <a:t>: retorno hepático.</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Funciones antiinflamatorias, antioxidantes y endoteliales en </a:t>
              </a:r>
              <a:r>
                <a:rPr lang="es-AR" sz="1600" b="1" dirty="0">
                  <a:solidFill>
                    <a:srgbClr val="1E1E1E"/>
                  </a:solidFill>
                  <a:latin typeface="Bahnschrift"/>
                  <a:ea typeface="Bahnschrift"/>
                  <a:cs typeface="Bahnschrift"/>
                  <a:sym typeface="Bahnschrift"/>
                </a:rPr>
                <a:t>algunos modelos</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15" name="Forma 14"/>
            <p:cNvSpPr/>
            <p:nvPr/>
          </p:nvSpPr>
          <p:spPr>
            <a:xfrm>
              <a:off x="475488" y="1005840"/>
              <a:ext cx="18045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HDL: COMPENSACIÓN</a:t>
              </a:r>
              <a:endParaRPr lang="es-AR" sz="1450" dirty="0">
                <a:latin typeface="Bahnschrift SemiBold Condensed"/>
              </a:endParaRPr>
            </a:p>
          </p:txBody>
        </p:sp>
      </p:grpSp>
      <p:sp>
        <p:nvSpPr>
          <p:cNvPr id="16" name="Perla"/>
          <p:cNvSpPr/>
          <p:nvPr/>
        </p:nvSpPr>
        <p:spPr>
          <a:xfrm>
            <a:off x="6217920" y="1005840"/>
            <a:ext cx="5577840" cy="23774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HDL-C alto </a:t>
            </a:r>
            <a:r>
              <a:rPr lang="es-AR" sz="1600" b="1" dirty="0">
                <a:solidFill>
                  <a:srgbClr val="FFFFFF"/>
                </a:solidFill>
                <a:latin typeface="Bahnschrift"/>
                <a:ea typeface="Bahnschrift"/>
                <a:cs typeface="Bahnschrift"/>
                <a:sym typeface="Bahnschrift"/>
              </a:rPr>
              <a:t>no demuestra</a:t>
            </a:r>
            <a:r>
              <a:rPr lang="es-AR" sz="1600" dirty="0">
                <a:solidFill>
                  <a:srgbClr val="FFFFFF"/>
                </a:solidFill>
                <a:latin typeface="Bahnschrift"/>
                <a:ea typeface="Bahnschrift"/>
                <a:cs typeface="Bahnschrift"/>
                <a:sym typeface="Bahnschrift"/>
              </a:rPr>
              <a:t> transporte reverso eficiente; tratamientos que </a:t>
            </a:r>
            <a:r>
              <a:rPr lang="es-AR" sz="1600" b="1" dirty="0">
                <a:solidFill>
                  <a:srgbClr val="FFFFFF"/>
                </a:solidFill>
                <a:latin typeface="Bahnschrift"/>
                <a:ea typeface="Bahnschrift"/>
                <a:cs typeface="Bahnschrift"/>
                <a:sym typeface="Bahnschrift"/>
              </a:rPr>
              <a:t>solo elevan HDL-C</a:t>
            </a:r>
            <a:r>
              <a:rPr lang="es-AR" sz="1600" dirty="0">
                <a:solidFill>
                  <a:srgbClr val="FFFFFF"/>
                </a:solidFill>
                <a:latin typeface="Bahnschrift"/>
                <a:ea typeface="Bahnschrift"/>
                <a:cs typeface="Bahnschrift"/>
                <a:sym typeface="Bahnschrift"/>
              </a:rPr>
              <a:t> no han garantizado menos eventos. Es más sólido identificar las </a:t>
            </a:r>
            <a:r>
              <a:rPr lang="es-AR" sz="1600" b="1" dirty="0">
                <a:solidFill>
                  <a:srgbClr val="FFFFFF"/>
                </a:solidFill>
                <a:latin typeface="Bahnschrift"/>
                <a:ea typeface="Bahnschrift"/>
                <a:cs typeface="Bahnschrift"/>
                <a:sym typeface="Bahnschrift"/>
              </a:rPr>
              <a:t>partículas ApoB</a:t>
            </a:r>
            <a:r>
              <a:rPr lang="es-AR" sz="1600" dirty="0">
                <a:solidFill>
                  <a:srgbClr val="FFFFFF"/>
                </a:solidFill>
                <a:latin typeface="Bahnschrift"/>
                <a:ea typeface="Bahnschrift"/>
                <a:cs typeface="Bahnschrift"/>
                <a:sym typeface="Bahnschrift"/>
              </a:rPr>
              <a:t> y su exposición acumulada como </a:t>
            </a:r>
            <a:r>
              <a:rPr lang="es-AR" sz="1600" b="1" dirty="0">
                <a:solidFill>
                  <a:srgbClr val="FFFFFF"/>
                </a:solidFill>
                <a:latin typeface="Bahnschrift"/>
                <a:ea typeface="Bahnschrift"/>
                <a:cs typeface="Bahnschrift"/>
                <a:sym typeface="Bahnschrift"/>
              </a:rPr>
              <a:t>blanco causal</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sp>
        <p:nvSpPr>
          <p:cNvPr id="17" name="Forma 16"/>
          <p:cNvSpPr/>
          <p:nvPr/>
        </p:nvSpPr>
        <p:spPr>
          <a:xfrm>
            <a:off x="365760" y="3566160"/>
            <a:ext cx="11430000" cy="13716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«Malo» y «bueno» </a:t>
            </a:r>
            <a:r>
              <a:rPr lang="es-AR" sz="1650" b="1" dirty="0">
                <a:solidFill>
                  <a:srgbClr val="1E1E1E"/>
                </a:solidFill>
                <a:latin typeface="Bahnschrift"/>
                <a:ea typeface="Bahnschrift"/>
                <a:cs typeface="Bahnschrift"/>
                <a:sym typeface="Bahnschrift"/>
              </a:rPr>
              <a:t>no</a:t>
            </a:r>
            <a:r>
              <a:rPr lang="es-AR" sz="1650" dirty="0">
                <a:solidFill>
                  <a:srgbClr val="1E1E1E"/>
                </a:solidFill>
                <a:latin typeface="Bahnschrift"/>
                <a:ea typeface="Bahnschrift"/>
                <a:cs typeface="Bahnschrift"/>
                <a:sym typeface="Bahnschrift"/>
              </a:rPr>
              <a:t> son moléculas distintas: el </a:t>
            </a:r>
            <a:r>
              <a:rPr lang="es-AR" sz="1650" b="1" dirty="0">
                <a:solidFill>
                  <a:srgbClr val="1E1E1E"/>
                </a:solidFill>
                <a:latin typeface="Bahnschrift"/>
                <a:ea typeface="Bahnschrift"/>
                <a:cs typeface="Bahnschrift"/>
                <a:sym typeface="Bahnschrift"/>
              </a:rPr>
              <a:t>colesterol es el mismo</a:t>
            </a:r>
            <a:r>
              <a:rPr lang="es-AR" sz="1650" dirty="0">
                <a:solidFill>
                  <a:srgbClr val="1E1E1E"/>
                </a:solidFill>
                <a:latin typeface="Bahnschrift"/>
                <a:ea typeface="Bahnschrift"/>
                <a:cs typeface="Bahnschrift"/>
                <a:sym typeface="Bahnschrift"/>
              </a:rPr>
              <a:t> en transportadores distintos. La aterogenicidad depende del </a:t>
            </a:r>
            <a:r>
              <a:rPr lang="es-AR" sz="1650" b="1" dirty="0">
                <a:solidFill>
                  <a:srgbClr val="1E1E1E"/>
                </a:solidFill>
                <a:latin typeface="Bahnschrift"/>
                <a:ea typeface="Bahnschrift"/>
                <a:cs typeface="Bahnschrift"/>
                <a:sym typeface="Bahnschrift"/>
              </a:rPr>
              <a:t>número, retención, composición/modificación</a:t>
            </a:r>
            <a:r>
              <a:rPr lang="es-AR" sz="1650" dirty="0">
                <a:solidFill>
                  <a:srgbClr val="1E1E1E"/>
                </a:solidFill>
                <a:latin typeface="Bahnschrift"/>
                <a:ea typeface="Bahnschrift"/>
                <a:cs typeface="Bahnschrift"/>
                <a:sym typeface="Bahnschrift"/>
              </a:rPr>
              <a:t> de las partículas y de la respuesta arterial. </a:t>
            </a:r>
            <a:r>
              <a:rPr lang="es-AR" sz="1650" b="1" dirty="0">
                <a:solidFill>
                  <a:srgbClr val="1E1E1E"/>
                </a:solidFill>
                <a:latin typeface="Bahnschrift"/>
                <a:ea typeface="Bahnschrift"/>
                <a:cs typeface="Bahnschrift"/>
                <a:sym typeface="Bahnschrift"/>
              </a:rPr>
              <a:t>LDL-C, no-HDL-C y ApoB</a:t>
            </a:r>
            <a:r>
              <a:rPr lang="es-AR" sz="1650" dirty="0">
                <a:solidFill>
                  <a:srgbClr val="1E1E1E"/>
                </a:solidFill>
                <a:latin typeface="Bahnschrift"/>
                <a:ea typeface="Bahnschrift"/>
                <a:cs typeface="Bahnschrift"/>
                <a:sym typeface="Bahnschrift"/>
              </a:rPr>
              <a:t> se complementan.</a:t>
            </a:r>
            <a:endParaRPr lang="es-AR" sz="1650" dirty="0">
              <a:latin typeface="Bahnschrift"/>
            </a:endParaRPr>
          </a:p>
        </p:txBody>
      </p:sp>
      <p:sp>
        <p:nvSpPr>
          <p:cNvPr id="18" name="Forma 17"/>
          <p:cNvSpPr/>
          <p:nvPr/>
        </p:nvSpPr>
        <p:spPr>
          <a:xfrm>
            <a:off x="365760" y="5074920"/>
            <a:ext cx="11430000" cy="96012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350" b="1" dirty="0">
                <a:solidFill>
                  <a:srgbClr val="1E1E1E"/>
                </a:solidFill>
                <a:latin typeface="Bahnschrift"/>
                <a:ea typeface="Bahnschrift"/>
                <a:cs typeface="Bahnschrift"/>
                <a:sym typeface="Bahnschrift"/>
              </a:rPr>
              <a:t>Integración</a:t>
            </a:r>
            <a:r>
              <a:rPr lang="es-AR" sz="1350" dirty="0">
                <a:solidFill>
                  <a:srgbClr val="1E1E1E"/>
                </a:solidFill>
                <a:latin typeface="Bahnschrift"/>
                <a:ea typeface="Bahnschrift"/>
                <a:cs typeface="Bahnschrift"/>
                <a:sym typeface="Bahnschrift"/>
              </a:rPr>
              <a:t>: hígado (LDLR, PCSK9) · intestino (absorción, ácidos biliares) · pared arterial (retención, inflamación) · médula ósea (monocitos).</a:t>
            </a:r>
            <a:endParaRPr lang="es-AR" sz="1350" dirty="0">
              <a:latin typeface="Bahnschrift"/>
            </a:endParaRPr>
          </a:p>
        </p:txBody>
      </p:sp>
      <p:sp>
        <p:nvSpPr>
          <p:cNvPr id="2" name="Etiqueta sección"/>
          <p:cNvSpPr/>
          <p:nvPr/>
        </p:nvSpPr>
        <p:spPr>
          <a:xfrm>
            <a:off x="9678563" y="201168"/>
            <a:ext cx="22388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5 · ATEROGÉNESIS</a:t>
            </a:r>
            <a:endParaRPr lang="es-AR" sz="1300" dirty="0">
              <a:latin typeface="Bahnschrift SemiBold Condensed"/>
            </a:endParaRPr>
          </a:p>
        </p:txBody>
      </p:sp>
      <p:sp>
        <p:nvSpPr>
          <p:cNvPr id="3" name="Título"/>
          <p:cNvSpPr/>
          <p:nvPr/>
        </p:nvSpPr>
        <p:spPr>
          <a:xfrm>
            <a:off x="274320" y="146304"/>
            <a:ext cx="823101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P5 · HDL Y LA FALSA DICOTOMÍA «COLESTEROL BUENO/MALO»</a:t>
            </a:r>
            <a:endParaRPr lang="es-AR" sz="2600" dirty="0">
              <a:latin typeface="Bahnschrift SemiBold Condensed"/>
            </a:endParaRPr>
          </a:p>
        </p:txBody>
      </p:sp>
      <p:sp>
        <p:nvSpPr>
          <p:cNvPr id="19"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Lst>
  </p:timing>
</p:sld>
</file>

<file path=ppt/slides/slide186.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sp>
        <p:nvSpPr>
          <p:cNvPr id="13" name="Remanentes VLDL (rica en TAG)"/>
          <p:cNvSpPr/>
          <p:nvPr/>
        </p:nvSpPr>
        <p:spPr>
          <a:xfrm>
            <a:off x="457200" y="1097280"/>
            <a:ext cx="4206240" cy="640080"/>
          </a:xfrm>
          <a:prstGeom prst="roundRect">
            <a:avLst>
              <a:gd name="adj" fmla="val 30000"/>
            </a:avLst>
          </a:prstGeom>
          <a:solidFill>
            <a:srgbClr val="F5CBA7"/>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VLDL (rica en TAG)</a:t>
            </a:r>
            <a:endParaRPr lang="es-AR" sz="1450" dirty="0">
              <a:latin typeface="Bahnschrift SemiBold Condensed"/>
            </a:endParaRPr>
          </a:p>
        </p:txBody>
      </p:sp>
      <p:grpSp>
        <p:nvGrpSpPr>
          <p:cNvPr id="14" name="Remanentes paso 1"/>
          <p:cNvGrpSpPr/>
          <p:nvPr/>
        </p:nvGrpSpPr>
        <p:grpSpPr>
          <a:xfrm>
            <a:off x="2560320" y="1764792"/>
            <a:ext cx="539835" cy="539496"/>
            <a:chOff x="2560320" y="1764792"/>
            <a:chExt cx="539835" cy="539496"/>
          </a:xfrm>
        </p:grpSpPr>
        <p:sp>
          <p:nvSpPr>
            <p:cNvPr id="15" name="Flecha 14_2"/>
            <p:cNvSpPr/>
            <p:nvPr/>
          </p:nvSpPr>
          <p:spPr>
            <a:xfrm>
              <a:off x="2560320" y="1764792"/>
              <a:ext cx="9144" cy="539496"/>
            </a:xfrm>
            <a:custGeom>
              <a:avLst/>
              <a:gdLst/>
              <a:ahLst/>
              <a:cxnLst/>
              <a:rect l="0" t="0" r="r" b="b"/>
              <a:pathLst>
                <a:path w="10" h="590" fill="none">
                  <a:moveTo>
                    <a:pt x="0" y="0"/>
                  </a:moveTo>
                  <a:lnTo>
                    <a:pt x="0" y="590"/>
                  </a:lnTo>
                </a:path>
              </a:pathLst>
            </a:custGeom>
            <a:noFill/>
            <a:ln w="44450" cap="rnd">
              <a:solidFill>
                <a:srgbClr val="1E1E1E"/>
              </a:solidFill>
              <a:round/>
              <a:tailEnd type="triangle" w="med" len="med"/>
            </a:ln>
          </p:spPr>
        </p:sp>
        <p:sp>
          <p:nvSpPr>
            <p:cNvPr id="16" name="Enzima LPL"/>
            <p:cNvSpPr/>
            <p:nvPr/>
          </p:nvSpPr>
          <p:spPr>
            <a:xfrm>
              <a:off x="2670048" y="1888236"/>
              <a:ext cx="430107"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LPL</a:t>
              </a:r>
              <a:endParaRPr lang="es-AR" sz="1150" dirty="0">
                <a:latin typeface="Bahnschrift SemiBold Condensed"/>
              </a:endParaRPr>
            </a:p>
          </p:txBody>
        </p:sp>
      </p:grpSp>
      <p:sp>
        <p:nvSpPr>
          <p:cNvPr id="17" name="Remanentes Remanente (pierde "/>
          <p:cNvSpPr/>
          <p:nvPr/>
        </p:nvSpPr>
        <p:spPr>
          <a:xfrm>
            <a:off x="457200" y="2331720"/>
            <a:ext cx="4206240" cy="640080"/>
          </a:xfrm>
          <a:prstGeom prst="roundRect">
            <a:avLst>
              <a:gd name="adj" fmla="val 30000"/>
            </a:avLst>
          </a:prstGeom>
          <a:solidFill>
            <a:srgbClr val="F39C12"/>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Remanente (pierde TAG, conserva colesterol)</a:t>
            </a:r>
            <a:endParaRPr lang="es-AR" sz="1450" dirty="0">
              <a:latin typeface="Bahnschrift SemiBold Condensed"/>
            </a:endParaRPr>
          </a:p>
        </p:txBody>
      </p:sp>
      <p:grpSp>
        <p:nvGrpSpPr>
          <p:cNvPr id="18" name="Remanentes paso 2"/>
          <p:cNvGrpSpPr/>
          <p:nvPr/>
        </p:nvGrpSpPr>
        <p:grpSpPr>
          <a:xfrm>
            <a:off x="2560320" y="2999232"/>
            <a:ext cx="9144" cy="539496"/>
            <a:chOff x="2560320" y="2999232"/>
            <a:chExt cx="9144" cy="539496"/>
          </a:xfrm>
        </p:grpSpPr>
        <p:sp>
          <p:nvSpPr>
            <p:cNvPr id="19" name="Flecha 19_2"/>
            <p:cNvSpPr/>
            <p:nvPr/>
          </p:nvSpPr>
          <p:spPr>
            <a:xfrm>
              <a:off x="2560320" y="2999232"/>
              <a:ext cx="9144" cy="539496"/>
            </a:xfrm>
            <a:custGeom>
              <a:avLst/>
              <a:gdLst/>
              <a:ahLst/>
              <a:cxnLst/>
              <a:rect l="0" t="0" r="r" b="b"/>
              <a:pathLst>
                <a:path w="10" h="590" fill="none">
                  <a:moveTo>
                    <a:pt x="0" y="0"/>
                  </a:moveTo>
                  <a:lnTo>
                    <a:pt x="0" y="590"/>
                  </a:lnTo>
                </a:path>
              </a:pathLst>
            </a:custGeom>
            <a:noFill/>
            <a:ln w="44450" cap="rnd">
              <a:solidFill>
                <a:srgbClr val="1E1E1E"/>
              </a:solidFill>
              <a:round/>
              <a:tailEnd type="triangle" w="med" len="med"/>
            </a:ln>
          </p:spPr>
        </p:sp>
      </p:grpSp>
      <p:sp>
        <p:nvSpPr>
          <p:cNvPr id="20" name="Remanentes Entra y se retiene"/>
          <p:cNvSpPr/>
          <p:nvPr/>
        </p:nvSpPr>
        <p:spPr>
          <a:xfrm>
            <a:off x="457200" y="3566160"/>
            <a:ext cx="4206240" cy="640080"/>
          </a:xfrm>
          <a:prstGeom prst="roundRect">
            <a:avLst>
              <a:gd name="adj" fmla="val 30000"/>
            </a:avLst>
          </a:prstGeom>
          <a:solidFill>
            <a:srgbClr val="FAD3BC"/>
          </a:solidFill>
          <a:ln w="12700" cap="rnd">
            <a:solidFill>
              <a:srgbClr val="1E1E1E"/>
            </a:solidFill>
            <a:round/>
          </a:ln>
        </p:spPr>
        <p:txBody>
          <a:bodyPr wrap="square" lIns="27432" tIns="0" rIns="27432"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Entra y se retiene en la íntima</a:t>
            </a:r>
            <a:endParaRPr lang="es-AR" sz="1450" dirty="0">
              <a:latin typeface="Bahnschrift SemiBold Condensed"/>
            </a:endParaRPr>
          </a:p>
        </p:txBody>
      </p:sp>
      <p:grpSp>
        <p:nvGrpSpPr>
          <p:cNvPr id="21" name="VLDL ic"/>
          <p:cNvGrpSpPr/>
          <p:nvPr/>
        </p:nvGrpSpPr>
        <p:grpSpPr>
          <a:xfrm>
            <a:off x="4937760" y="1005840"/>
            <a:ext cx="914400" cy="914400"/>
            <a:chOff x="4937760" y="1005840"/>
            <a:chExt cx="914400" cy="914400"/>
          </a:xfrm>
        </p:grpSpPr>
        <p:sp>
          <p:nvSpPr>
            <p:cNvPr id="22" name="Forma 23"/>
            <p:cNvSpPr/>
            <p:nvPr/>
          </p:nvSpPr>
          <p:spPr>
            <a:xfrm>
              <a:off x="4937760" y="1005840"/>
              <a:ext cx="914400" cy="914400"/>
            </a:xfrm>
            <a:prstGeom prst="ellipse">
              <a:avLst/>
            </a:prstGeom>
            <a:gradFill rotWithShape="1">
              <a:gsLst>
                <a:gs pos="0">
                  <a:srgbClr val="FBEADB"/>
                </a:gs>
                <a:gs pos="70000">
                  <a:srgbClr val="F5CBA7"/>
                </a:gs>
                <a:gs pos="100000">
                  <a:srgbClr val="C4A285"/>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23" name="Forma 24"/>
            <p:cNvSpPr/>
            <p:nvPr/>
          </p:nvSpPr>
          <p:spPr>
            <a:xfrm>
              <a:off x="4937760" y="1005840"/>
              <a:ext cx="914400" cy="91440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93" y="566"/>
                  </a:moveTo>
                  <a:cubicBezTo>
                    <a:pt x="993" y="581"/>
                    <a:pt x="980" y="594"/>
                    <a:pt x="965" y="594"/>
                  </a:cubicBezTo>
                  <a:cubicBezTo>
                    <a:pt x="949" y="594"/>
                    <a:pt x="937" y="581"/>
                    <a:pt x="937" y="566"/>
                  </a:cubicBezTo>
                  <a:cubicBezTo>
                    <a:pt x="937" y="550"/>
                    <a:pt x="949" y="538"/>
                    <a:pt x="965" y="538"/>
                  </a:cubicBezTo>
                  <a:cubicBezTo>
                    <a:pt x="980" y="538"/>
                    <a:pt x="993" y="550"/>
                    <a:pt x="993" y="566"/>
                  </a:cubicBezTo>
                  <a:close/>
                  <a:moveTo>
                    <a:pt x="978" y="632"/>
                  </a:moveTo>
                  <a:cubicBezTo>
                    <a:pt x="978" y="647"/>
                    <a:pt x="965" y="660"/>
                    <a:pt x="950" y="660"/>
                  </a:cubicBezTo>
                  <a:cubicBezTo>
                    <a:pt x="934" y="660"/>
                    <a:pt x="922" y="647"/>
                    <a:pt x="922" y="632"/>
                  </a:cubicBezTo>
                  <a:cubicBezTo>
                    <a:pt x="922" y="616"/>
                    <a:pt x="934" y="604"/>
                    <a:pt x="950" y="604"/>
                  </a:cubicBezTo>
                  <a:cubicBezTo>
                    <a:pt x="965" y="604"/>
                    <a:pt x="978" y="616"/>
                    <a:pt x="978" y="632"/>
                  </a:cubicBezTo>
                  <a:close/>
                  <a:moveTo>
                    <a:pt x="955" y="695"/>
                  </a:moveTo>
                  <a:cubicBezTo>
                    <a:pt x="955" y="710"/>
                    <a:pt x="942" y="723"/>
                    <a:pt x="927" y="723"/>
                  </a:cubicBezTo>
                  <a:cubicBezTo>
                    <a:pt x="911" y="723"/>
                    <a:pt x="899" y="710"/>
                    <a:pt x="899" y="695"/>
                  </a:cubicBezTo>
                  <a:cubicBezTo>
                    <a:pt x="899" y="679"/>
                    <a:pt x="911" y="667"/>
                    <a:pt x="927" y="667"/>
                  </a:cubicBezTo>
                  <a:cubicBezTo>
                    <a:pt x="942" y="667"/>
                    <a:pt x="955" y="679"/>
                    <a:pt x="955" y="695"/>
                  </a:cubicBezTo>
                  <a:close/>
                  <a:moveTo>
                    <a:pt x="923" y="754"/>
                  </a:moveTo>
                  <a:cubicBezTo>
                    <a:pt x="923" y="769"/>
                    <a:pt x="910" y="782"/>
                    <a:pt x="895" y="782"/>
                  </a:cubicBezTo>
                  <a:cubicBezTo>
                    <a:pt x="879" y="782"/>
                    <a:pt x="867" y="769"/>
                    <a:pt x="867" y="754"/>
                  </a:cubicBezTo>
                  <a:cubicBezTo>
                    <a:pt x="867" y="738"/>
                    <a:pt x="879" y="726"/>
                    <a:pt x="895" y="726"/>
                  </a:cubicBezTo>
                  <a:cubicBezTo>
                    <a:pt x="910" y="726"/>
                    <a:pt x="923" y="738"/>
                    <a:pt x="923" y="754"/>
                  </a:cubicBezTo>
                  <a:close/>
                  <a:moveTo>
                    <a:pt x="883" y="807"/>
                  </a:moveTo>
                  <a:cubicBezTo>
                    <a:pt x="883" y="822"/>
                    <a:pt x="870" y="835"/>
                    <a:pt x="855" y="835"/>
                  </a:cubicBezTo>
                  <a:cubicBezTo>
                    <a:pt x="839" y="835"/>
                    <a:pt x="827" y="822"/>
                    <a:pt x="827" y="807"/>
                  </a:cubicBezTo>
                  <a:cubicBezTo>
                    <a:pt x="827" y="791"/>
                    <a:pt x="839" y="779"/>
                    <a:pt x="855" y="779"/>
                  </a:cubicBezTo>
                  <a:cubicBezTo>
                    <a:pt x="870" y="779"/>
                    <a:pt x="883" y="791"/>
                    <a:pt x="883" y="807"/>
                  </a:cubicBezTo>
                  <a:close/>
                  <a:moveTo>
                    <a:pt x="835" y="855"/>
                  </a:moveTo>
                  <a:cubicBezTo>
                    <a:pt x="835" y="870"/>
                    <a:pt x="822" y="883"/>
                    <a:pt x="807" y="883"/>
                  </a:cubicBezTo>
                  <a:cubicBezTo>
                    <a:pt x="791" y="883"/>
                    <a:pt x="779" y="870"/>
                    <a:pt x="779" y="855"/>
                  </a:cubicBezTo>
                  <a:cubicBezTo>
                    <a:pt x="779" y="839"/>
                    <a:pt x="791" y="827"/>
                    <a:pt x="807" y="827"/>
                  </a:cubicBezTo>
                  <a:cubicBezTo>
                    <a:pt x="822" y="827"/>
                    <a:pt x="835" y="839"/>
                    <a:pt x="835" y="855"/>
                  </a:cubicBezTo>
                  <a:close/>
                  <a:moveTo>
                    <a:pt x="782" y="895"/>
                  </a:moveTo>
                  <a:cubicBezTo>
                    <a:pt x="782" y="910"/>
                    <a:pt x="769" y="923"/>
                    <a:pt x="754" y="923"/>
                  </a:cubicBezTo>
                  <a:cubicBezTo>
                    <a:pt x="738" y="923"/>
                    <a:pt x="726" y="910"/>
                    <a:pt x="726" y="895"/>
                  </a:cubicBezTo>
                  <a:cubicBezTo>
                    <a:pt x="726" y="879"/>
                    <a:pt x="738" y="867"/>
                    <a:pt x="754" y="867"/>
                  </a:cubicBezTo>
                  <a:cubicBezTo>
                    <a:pt x="769" y="867"/>
                    <a:pt x="782" y="879"/>
                    <a:pt x="782" y="895"/>
                  </a:cubicBezTo>
                  <a:close/>
                  <a:moveTo>
                    <a:pt x="723" y="927"/>
                  </a:moveTo>
                  <a:cubicBezTo>
                    <a:pt x="723" y="942"/>
                    <a:pt x="710" y="955"/>
                    <a:pt x="695" y="955"/>
                  </a:cubicBezTo>
                  <a:cubicBezTo>
                    <a:pt x="679" y="955"/>
                    <a:pt x="667" y="942"/>
                    <a:pt x="667" y="927"/>
                  </a:cubicBezTo>
                  <a:cubicBezTo>
                    <a:pt x="667" y="911"/>
                    <a:pt x="679" y="899"/>
                    <a:pt x="695" y="899"/>
                  </a:cubicBezTo>
                  <a:cubicBezTo>
                    <a:pt x="710" y="899"/>
                    <a:pt x="723" y="911"/>
                    <a:pt x="723" y="927"/>
                  </a:cubicBezTo>
                  <a:close/>
                  <a:moveTo>
                    <a:pt x="660" y="950"/>
                  </a:moveTo>
                  <a:cubicBezTo>
                    <a:pt x="660" y="965"/>
                    <a:pt x="647" y="978"/>
                    <a:pt x="632" y="978"/>
                  </a:cubicBezTo>
                  <a:cubicBezTo>
                    <a:pt x="616" y="978"/>
                    <a:pt x="604" y="965"/>
                    <a:pt x="604" y="950"/>
                  </a:cubicBezTo>
                  <a:cubicBezTo>
                    <a:pt x="604" y="934"/>
                    <a:pt x="616" y="922"/>
                    <a:pt x="632" y="922"/>
                  </a:cubicBezTo>
                  <a:cubicBezTo>
                    <a:pt x="647" y="922"/>
                    <a:pt x="660" y="934"/>
                    <a:pt x="660" y="950"/>
                  </a:cubicBezTo>
                  <a:close/>
                  <a:moveTo>
                    <a:pt x="594" y="965"/>
                  </a:moveTo>
                  <a:cubicBezTo>
                    <a:pt x="594" y="980"/>
                    <a:pt x="581" y="993"/>
                    <a:pt x="566" y="993"/>
                  </a:cubicBezTo>
                  <a:cubicBezTo>
                    <a:pt x="550" y="993"/>
                    <a:pt x="538" y="980"/>
                    <a:pt x="538" y="965"/>
                  </a:cubicBezTo>
                  <a:cubicBezTo>
                    <a:pt x="538" y="949"/>
                    <a:pt x="550" y="937"/>
                    <a:pt x="566" y="937"/>
                  </a:cubicBezTo>
                  <a:cubicBezTo>
                    <a:pt x="581" y="937"/>
                    <a:pt x="594" y="949"/>
                    <a:pt x="594" y="965"/>
                  </a:cubicBezTo>
                  <a:close/>
                  <a:moveTo>
                    <a:pt x="528" y="970"/>
                  </a:moveTo>
                  <a:cubicBezTo>
                    <a:pt x="528" y="985"/>
                    <a:pt x="515" y="998"/>
                    <a:pt x="500" y="998"/>
                  </a:cubicBezTo>
                  <a:cubicBezTo>
                    <a:pt x="484" y="998"/>
                    <a:pt x="472" y="985"/>
                    <a:pt x="472" y="970"/>
                  </a:cubicBezTo>
                  <a:cubicBezTo>
                    <a:pt x="472" y="954"/>
                    <a:pt x="484" y="942"/>
                    <a:pt x="500" y="942"/>
                  </a:cubicBezTo>
                  <a:cubicBezTo>
                    <a:pt x="515" y="942"/>
                    <a:pt x="528" y="954"/>
                    <a:pt x="528" y="970"/>
                  </a:cubicBezTo>
                  <a:close/>
                  <a:moveTo>
                    <a:pt x="461" y="965"/>
                  </a:moveTo>
                  <a:cubicBezTo>
                    <a:pt x="461" y="980"/>
                    <a:pt x="448" y="993"/>
                    <a:pt x="433" y="993"/>
                  </a:cubicBezTo>
                  <a:cubicBezTo>
                    <a:pt x="417" y="993"/>
                    <a:pt x="405" y="980"/>
                    <a:pt x="405" y="965"/>
                  </a:cubicBezTo>
                  <a:cubicBezTo>
                    <a:pt x="405" y="949"/>
                    <a:pt x="417" y="937"/>
                    <a:pt x="433" y="937"/>
                  </a:cubicBezTo>
                  <a:cubicBezTo>
                    <a:pt x="448" y="937"/>
                    <a:pt x="461" y="949"/>
                    <a:pt x="461" y="965"/>
                  </a:cubicBezTo>
                  <a:close/>
                  <a:moveTo>
                    <a:pt x="395" y="950"/>
                  </a:moveTo>
                  <a:cubicBezTo>
                    <a:pt x="395" y="965"/>
                    <a:pt x="382" y="978"/>
                    <a:pt x="367" y="978"/>
                  </a:cubicBezTo>
                  <a:cubicBezTo>
                    <a:pt x="351" y="978"/>
                    <a:pt x="339" y="965"/>
                    <a:pt x="339" y="950"/>
                  </a:cubicBezTo>
                  <a:cubicBezTo>
                    <a:pt x="339" y="934"/>
                    <a:pt x="351" y="922"/>
                    <a:pt x="367" y="922"/>
                  </a:cubicBezTo>
                  <a:cubicBezTo>
                    <a:pt x="382" y="922"/>
                    <a:pt x="395" y="934"/>
                    <a:pt x="395" y="950"/>
                  </a:cubicBezTo>
                  <a:close/>
                  <a:moveTo>
                    <a:pt x="332" y="927"/>
                  </a:moveTo>
                  <a:cubicBezTo>
                    <a:pt x="332" y="942"/>
                    <a:pt x="319" y="955"/>
                    <a:pt x="304" y="955"/>
                  </a:cubicBezTo>
                  <a:cubicBezTo>
                    <a:pt x="288" y="955"/>
                    <a:pt x="276" y="942"/>
                    <a:pt x="276" y="927"/>
                  </a:cubicBezTo>
                  <a:cubicBezTo>
                    <a:pt x="276" y="911"/>
                    <a:pt x="288" y="899"/>
                    <a:pt x="304" y="899"/>
                  </a:cubicBezTo>
                  <a:cubicBezTo>
                    <a:pt x="319" y="899"/>
                    <a:pt x="332" y="911"/>
                    <a:pt x="332" y="927"/>
                  </a:cubicBezTo>
                  <a:close/>
                  <a:moveTo>
                    <a:pt x="273" y="895"/>
                  </a:moveTo>
                  <a:cubicBezTo>
                    <a:pt x="273" y="910"/>
                    <a:pt x="260" y="923"/>
                    <a:pt x="245" y="923"/>
                  </a:cubicBezTo>
                  <a:cubicBezTo>
                    <a:pt x="229" y="923"/>
                    <a:pt x="217" y="910"/>
                    <a:pt x="217" y="895"/>
                  </a:cubicBezTo>
                  <a:cubicBezTo>
                    <a:pt x="217" y="879"/>
                    <a:pt x="229" y="867"/>
                    <a:pt x="245" y="867"/>
                  </a:cubicBezTo>
                  <a:cubicBezTo>
                    <a:pt x="260" y="867"/>
                    <a:pt x="273" y="879"/>
                    <a:pt x="273" y="895"/>
                  </a:cubicBezTo>
                  <a:close/>
                  <a:moveTo>
                    <a:pt x="220" y="855"/>
                  </a:moveTo>
                  <a:cubicBezTo>
                    <a:pt x="220" y="870"/>
                    <a:pt x="207" y="883"/>
                    <a:pt x="192" y="883"/>
                  </a:cubicBezTo>
                  <a:cubicBezTo>
                    <a:pt x="176" y="883"/>
                    <a:pt x="164" y="870"/>
                    <a:pt x="164" y="855"/>
                  </a:cubicBezTo>
                  <a:cubicBezTo>
                    <a:pt x="164" y="839"/>
                    <a:pt x="176" y="827"/>
                    <a:pt x="192" y="827"/>
                  </a:cubicBezTo>
                  <a:cubicBezTo>
                    <a:pt x="207" y="827"/>
                    <a:pt x="220" y="839"/>
                    <a:pt x="220" y="855"/>
                  </a:cubicBezTo>
                  <a:close/>
                  <a:moveTo>
                    <a:pt x="172" y="807"/>
                  </a:moveTo>
                  <a:cubicBezTo>
                    <a:pt x="172" y="822"/>
                    <a:pt x="159" y="835"/>
                    <a:pt x="144" y="835"/>
                  </a:cubicBezTo>
                  <a:cubicBezTo>
                    <a:pt x="128" y="835"/>
                    <a:pt x="116" y="822"/>
                    <a:pt x="116" y="807"/>
                  </a:cubicBezTo>
                  <a:cubicBezTo>
                    <a:pt x="116" y="791"/>
                    <a:pt x="128" y="779"/>
                    <a:pt x="144" y="779"/>
                  </a:cubicBezTo>
                  <a:cubicBezTo>
                    <a:pt x="159" y="779"/>
                    <a:pt x="172" y="791"/>
                    <a:pt x="172" y="807"/>
                  </a:cubicBezTo>
                  <a:close/>
                  <a:moveTo>
                    <a:pt x="132" y="754"/>
                  </a:moveTo>
                  <a:cubicBezTo>
                    <a:pt x="132" y="769"/>
                    <a:pt x="119" y="782"/>
                    <a:pt x="104" y="782"/>
                  </a:cubicBezTo>
                  <a:cubicBezTo>
                    <a:pt x="88" y="782"/>
                    <a:pt x="76" y="769"/>
                    <a:pt x="76" y="754"/>
                  </a:cubicBezTo>
                  <a:cubicBezTo>
                    <a:pt x="76" y="738"/>
                    <a:pt x="88" y="726"/>
                    <a:pt x="104" y="726"/>
                  </a:cubicBezTo>
                  <a:cubicBezTo>
                    <a:pt x="119" y="726"/>
                    <a:pt x="132" y="738"/>
                    <a:pt x="132" y="754"/>
                  </a:cubicBezTo>
                  <a:close/>
                  <a:moveTo>
                    <a:pt x="100" y="695"/>
                  </a:moveTo>
                  <a:cubicBezTo>
                    <a:pt x="100" y="710"/>
                    <a:pt x="87" y="723"/>
                    <a:pt x="72" y="723"/>
                  </a:cubicBezTo>
                  <a:cubicBezTo>
                    <a:pt x="56" y="723"/>
                    <a:pt x="44" y="710"/>
                    <a:pt x="44" y="695"/>
                  </a:cubicBezTo>
                  <a:cubicBezTo>
                    <a:pt x="44" y="679"/>
                    <a:pt x="56" y="667"/>
                    <a:pt x="72" y="667"/>
                  </a:cubicBezTo>
                  <a:cubicBezTo>
                    <a:pt x="87" y="667"/>
                    <a:pt x="100" y="679"/>
                    <a:pt x="100" y="695"/>
                  </a:cubicBezTo>
                  <a:close/>
                  <a:moveTo>
                    <a:pt x="77" y="632"/>
                  </a:moveTo>
                  <a:cubicBezTo>
                    <a:pt x="77" y="647"/>
                    <a:pt x="64" y="660"/>
                    <a:pt x="49" y="660"/>
                  </a:cubicBezTo>
                  <a:cubicBezTo>
                    <a:pt x="33" y="660"/>
                    <a:pt x="21" y="647"/>
                    <a:pt x="21" y="632"/>
                  </a:cubicBezTo>
                  <a:cubicBezTo>
                    <a:pt x="21" y="616"/>
                    <a:pt x="33" y="604"/>
                    <a:pt x="49" y="604"/>
                  </a:cubicBezTo>
                  <a:cubicBezTo>
                    <a:pt x="64" y="604"/>
                    <a:pt x="77" y="616"/>
                    <a:pt x="77" y="632"/>
                  </a:cubicBezTo>
                  <a:close/>
                  <a:moveTo>
                    <a:pt x="62" y="566"/>
                  </a:moveTo>
                  <a:cubicBezTo>
                    <a:pt x="62" y="581"/>
                    <a:pt x="49" y="594"/>
                    <a:pt x="34" y="594"/>
                  </a:cubicBezTo>
                  <a:cubicBezTo>
                    <a:pt x="18" y="594"/>
                    <a:pt x="6" y="581"/>
                    <a:pt x="6" y="566"/>
                  </a:cubicBezTo>
                  <a:cubicBezTo>
                    <a:pt x="6" y="550"/>
                    <a:pt x="18" y="538"/>
                    <a:pt x="34" y="538"/>
                  </a:cubicBezTo>
                  <a:cubicBezTo>
                    <a:pt x="49" y="538"/>
                    <a:pt x="62" y="550"/>
                    <a:pt x="62" y="566"/>
                  </a:cubicBezTo>
                  <a:close/>
                  <a:moveTo>
                    <a:pt x="58" y="500"/>
                  </a:moveTo>
                  <a:cubicBezTo>
                    <a:pt x="58" y="515"/>
                    <a:pt x="45" y="528"/>
                    <a:pt x="30" y="528"/>
                  </a:cubicBezTo>
                  <a:cubicBezTo>
                    <a:pt x="14" y="528"/>
                    <a:pt x="2" y="515"/>
                    <a:pt x="2" y="500"/>
                  </a:cubicBezTo>
                  <a:cubicBezTo>
                    <a:pt x="2" y="484"/>
                    <a:pt x="14" y="472"/>
                    <a:pt x="30" y="472"/>
                  </a:cubicBezTo>
                  <a:cubicBezTo>
                    <a:pt x="45" y="472"/>
                    <a:pt x="58" y="484"/>
                    <a:pt x="58" y="500"/>
                  </a:cubicBezTo>
                  <a:close/>
                  <a:moveTo>
                    <a:pt x="62" y="433"/>
                  </a:moveTo>
                  <a:cubicBezTo>
                    <a:pt x="62" y="448"/>
                    <a:pt x="49" y="461"/>
                    <a:pt x="34" y="461"/>
                  </a:cubicBezTo>
                  <a:cubicBezTo>
                    <a:pt x="18" y="461"/>
                    <a:pt x="6" y="448"/>
                    <a:pt x="6" y="433"/>
                  </a:cubicBezTo>
                  <a:cubicBezTo>
                    <a:pt x="6" y="417"/>
                    <a:pt x="18" y="405"/>
                    <a:pt x="34" y="405"/>
                  </a:cubicBezTo>
                  <a:cubicBezTo>
                    <a:pt x="49" y="405"/>
                    <a:pt x="62" y="417"/>
                    <a:pt x="62" y="433"/>
                  </a:cubicBezTo>
                  <a:close/>
                  <a:moveTo>
                    <a:pt x="77" y="367"/>
                  </a:moveTo>
                  <a:cubicBezTo>
                    <a:pt x="77" y="382"/>
                    <a:pt x="64" y="395"/>
                    <a:pt x="49" y="395"/>
                  </a:cubicBezTo>
                  <a:cubicBezTo>
                    <a:pt x="33" y="395"/>
                    <a:pt x="21" y="382"/>
                    <a:pt x="21" y="367"/>
                  </a:cubicBezTo>
                  <a:cubicBezTo>
                    <a:pt x="21" y="351"/>
                    <a:pt x="33" y="339"/>
                    <a:pt x="49" y="339"/>
                  </a:cubicBezTo>
                  <a:cubicBezTo>
                    <a:pt x="64" y="339"/>
                    <a:pt x="77" y="351"/>
                    <a:pt x="77" y="367"/>
                  </a:cubicBezTo>
                  <a:close/>
                  <a:moveTo>
                    <a:pt x="100" y="304"/>
                  </a:moveTo>
                  <a:cubicBezTo>
                    <a:pt x="100" y="319"/>
                    <a:pt x="87" y="332"/>
                    <a:pt x="72" y="332"/>
                  </a:cubicBezTo>
                  <a:cubicBezTo>
                    <a:pt x="56" y="332"/>
                    <a:pt x="44" y="319"/>
                    <a:pt x="44" y="304"/>
                  </a:cubicBezTo>
                  <a:cubicBezTo>
                    <a:pt x="44" y="288"/>
                    <a:pt x="56" y="276"/>
                    <a:pt x="72" y="276"/>
                  </a:cubicBezTo>
                  <a:cubicBezTo>
                    <a:pt x="87" y="276"/>
                    <a:pt x="100" y="288"/>
                    <a:pt x="100" y="304"/>
                  </a:cubicBezTo>
                  <a:close/>
                  <a:moveTo>
                    <a:pt x="132" y="245"/>
                  </a:moveTo>
                  <a:cubicBezTo>
                    <a:pt x="132" y="260"/>
                    <a:pt x="119" y="273"/>
                    <a:pt x="104" y="273"/>
                  </a:cubicBezTo>
                  <a:cubicBezTo>
                    <a:pt x="88" y="273"/>
                    <a:pt x="76" y="260"/>
                    <a:pt x="76" y="245"/>
                  </a:cubicBezTo>
                  <a:cubicBezTo>
                    <a:pt x="76" y="229"/>
                    <a:pt x="88" y="217"/>
                    <a:pt x="104" y="217"/>
                  </a:cubicBezTo>
                  <a:cubicBezTo>
                    <a:pt x="119" y="217"/>
                    <a:pt x="132" y="229"/>
                    <a:pt x="132" y="245"/>
                  </a:cubicBezTo>
                  <a:close/>
                  <a:moveTo>
                    <a:pt x="172" y="192"/>
                  </a:moveTo>
                  <a:cubicBezTo>
                    <a:pt x="172" y="207"/>
                    <a:pt x="159" y="220"/>
                    <a:pt x="144" y="220"/>
                  </a:cubicBezTo>
                  <a:cubicBezTo>
                    <a:pt x="128" y="220"/>
                    <a:pt x="116" y="207"/>
                    <a:pt x="116" y="192"/>
                  </a:cubicBezTo>
                  <a:cubicBezTo>
                    <a:pt x="116" y="176"/>
                    <a:pt x="128" y="164"/>
                    <a:pt x="144" y="164"/>
                  </a:cubicBezTo>
                  <a:cubicBezTo>
                    <a:pt x="159" y="164"/>
                    <a:pt x="172" y="176"/>
                    <a:pt x="172" y="192"/>
                  </a:cubicBezTo>
                  <a:close/>
                  <a:moveTo>
                    <a:pt x="220" y="144"/>
                  </a:moveTo>
                  <a:cubicBezTo>
                    <a:pt x="220" y="159"/>
                    <a:pt x="207" y="172"/>
                    <a:pt x="192" y="172"/>
                  </a:cubicBezTo>
                  <a:cubicBezTo>
                    <a:pt x="176" y="172"/>
                    <a:pt x="164" y="159"/>
                    <a:pt x="164" y="144"/>
                  </a:cubicBezTo>
                  <a:cubicBezTo>
                    <a:pt x="164" y="128"/>
                    <a:pt x="176" y="116"/>
                    <a:pt x="192" y="116"/>
                  </a:cubicBezTo>
                  <a:cubicBezTo>
                    <a:pt x="207" y="116"/>
                    <a:pt x="220" y="128"/>
                    <a:pt x="220" y="144"/>
                  </a:cubicBezTo>
                  <a:close/>
                  <a:moveTo>
                    <a:pt x="273" y="104"/>
                  </a:moveTo>
                  <a:cubicBezTo>
                    <a:pt x="273" y="119"/>
                    <a:pt x="260" y="132"/>
                    <a:pt x="245" y="132"/>
                  </a:cubicBezTo>
                  <a:cubicBezTo>
                    <a:pt x="229" y="132"/>
                    <a:pt x="217" y="119"/>
                    <a:pt x="217" y="104"/>
                  </a:cubicBezTo>
                  <a:cubicBezTo>
                    <a:pt x="217" y="88"/>
                    <a:pt x="229" y="76"/>
                    <a:pt x="245" y="76"/>
                  </a:cubicBezTo>
                  <a:cubicBezTo>
                    <a:pt x="260" y="76"/>
                    <a:pt x="273" y="88"/>
                    <a:pt x="273" y="104"/>
                  </a:cubicBezTo>
                  <a:close/>
                  <a:moveTo>
                    <a:pt x="332" y="72"/>
                  </a:moveTo>
                  <a:cubicBezTo>
                    <a:pt x="332" y="87"/>
                    <a:pt x="319" y="100"/>
                    <a:pt x="304" y="100"/>
                  </a:cubicBezTo>
                  <a:cubicBezTo>
                    <a:pt x="288" y="100"/>
                    <a:pt x="276" y="87"/>
                    <a:pt x="276" y="72"/>
                  </a:cubicBezTo>
                  <a:cubicBezTo>
                    <a:pt x="276" y="56"/>
                    <a:pt x="288" y="44"/>
                    <a:pt x="304" y="44"/>
                  </a:cubicBezTo>
                  <a:cubicBezTo>
                    <a:pt x="319" y="44"/>
                    <a:pt x="332" y="56"/>
                    <a:pt x="332" y="72"/>
                  </a:cubicBezTo>
                  <a:close/>
                  <a:moveTo>
                    <a:pt x="395" y="49"/>
                  </a:moveTo>
                  <a:cubicBezTo>
                    <a:pt x="395" y="64"/>
                    <a:pt x="382" y="77"/>
                    <a:pt x="367" y="77"/>
                  </a:cubicBezTo>
                  <a:cubicBezTo>
                    <a:pt x="351" y="77"/>
                    <a:pt x="339" y="64"/>
                    <a:pt x="339" y="49"/>
                  </a:cubicBezTo>
                  <a:cubicBezTo>
                    <a:pt x="339" y="33"/>
                    <a:pt x="351" y="21"/>
                    <a:pt x="367" y="21"/>
                  </a:cubicBezTo>
                  <a:cubicBezTo>
                    <a:pt x="382" y="21"/>
                    <a:pt x="395" y="33"/>
                    <a:pt x="395" y="49"/>
                  </a:cubicBezTo>
                  <a:close/>
                  <a:moveTo>
                    <a:pt x="461" y="34"/>
                  </a:moveTo>
                  <a:cubicBezTo>
                    <a:pt x="461" y="49"/>
                    <a:pt x="448" y="62"/>
                    <a:pt x="433" y="62"/>
                  </a:cubicBezTo>
                  <a:cubicBezTo>
                    <a:pt x="417" y="62"/>
                    <a:pt x="405" y="49"/>
                    <a:pt x="405" y="34"/>
                  </a:cubicBezTo>
                  <a:cubicBezTo>
                    <a:pt x="405" y="18"/>
                    <a:pt x="417" y="6"/>
                    <a:pt x="433" y="6"/>
                  </a:cubicBezTo>
                  <a:cubicBezTo>
                    <a:pt x="448" y="6"/>
                    <a:pt x="461" y="18"/>
                    <a:pt x="461" y="34"/>
                  </a:cubicBezTo>
                  <a:close/>
                  <a:moveTo>
                    <a:pt x="527" y="30"/>
                  </a:moveTo>
                  <a:cubicBezTo>
                    <a:pt x="527" y="45"/>
                    <a:pt x="514" y="58"/>
                    <a:pt x="499" y="58"/>
                  </a:cubicBezTo>
                  <a:cubicBezTo>
                    <a:pt x="483" y="58"/>
                    <a:pt x="471" y="45"/>
                    <a:pt x="471" y="30"/>
                  </a:cubicBezTo>
                  <a:cubicBezTo>
                    <a:pt x="471" y="14"/>
                    <a:pt x="483" y="2"/>
                    <a:pt x="499" y="2"/>
                  </a:cubicBezTo>
                  <a:cubicBezTo>
                    <a:pt x="514" y="2"/>
                    <a:pt x="527" y="14"/>
                    <a:pt x="527" y="30"/>
                  </a:cubicBezTo>
                  <a:close/>
                  <a:moveTo>
                    <a:pt x="594" y="34"/>
                  </a:moveTo>
                  <a:cubicBezTo>
                    <a:pt x="594" y="49"/>
                    <a:pt x="581" y="62"/>
                    <a:pt x="566" y="62"/>
                  </a:cubicBezTo>
                  <a:cubicBezTo>
                    <a:pt x="550" y="62"/>
                    <a:pt x="538" y="49"/>
                    <a:pt x="538" y="34"/>
                  </a:cubicBezTo>
                  <a:cubicBezTo>
                    <a:pt x="538" y="18"/>
                    <a:pt x="550" y="6"/>
                    <a:pt x="566" y="6"/>
                  </a:cubicBezTo>
                  <a:cubicBezTo>
                    <a:pt x="581" y="6"/>
                    <a:pt x="594" y="18"/>
                    <a:pt x="594" y="34"/>
                  </a:cubicBezTo>
                  <a:close/>
                  <a:moveTo>
                    <a:pt x="660" y="49"/>
                  </a:moveTo>
                  <a:cubicBezTo>
                    <a:pt x="660" y="64"/>
                    <a:pt x="647" y="77"/>
                    <a:pt x="632" y="77"/>
                  </a:cubicBezTo>
                  <a:cubicBezTo>
                    <a:pt x="616" y="77"/>
                    <a:pt x="604" y="64"/>
                    <a:pt x="604" y="49"/>
                  </a:cubicBezTo>
                  <a:cubicBezTo>
                    <a:pt x="604" y="33"/>
                    <a:pt x="616" y="21"/>
                    <a:pt x="632" y="21"/>
                  </a:cubicBezTo>
                  <a:cubicBezTo>
                    <a:pt x="647" y="21"/>
                    <a:pt x="660" y="33"/>
                    <a:pt x="660" y="49"/>
                  </a:cubicBezTo>
                  <a:close/>
                  <a:moveTo>
                    <a:pt x="723" y="72"/>
                  </a:moveTo>
                  <a:cubicBezTo>
                    <a:pt x="723" y="87"/>
                    <a:pt x="710" y="100"/>
                    <a:pt x="695" y="100"/>
                  </a:cubicBezTo>
                  <a:cubicBezTo>
                    <a:pt x="679" y="100"/>
                    <a:pt x="667" y="87"/>
                    <a:pt x="667" y="72"/>
                  </a:cubicBezTo>
                  <a:cubicBezTo>
                    <a:pt x="667" y="56"/>
                    <a:pt x="679" y="44"/>
                    <a:pt x="695" y="44"/>
                  </a:cubicBezTo>
                  <a:cubicBezTo>
                    <a:pt x="710" y="44"/>
                    <a:pt x="723" y="56"/>
                    <a:pt x="723" y="72"/>
                  </a:cubicBezTo>
                  <a:close/>
                  <a:moveTo>
                    <a:pt x="782" y="104"/>
                  </a:moveTo>
                  <a:cubicBezTo>
                    <a:pt x="782" y="119"/>
                    <a:pt x="769" y="132"/>
                    <a:pt x="754" y="132"/>
                  </a:cubicBezTo>
                  <a:cubicBezTo>
                    <a:pt x="738" y="132"/>
                    <a:pt x="726" y="119"/>
                    <a:pt x="726" y="104"/>
                  </a:cubicBezTo>
                  <a:cubicBezTo>
                    <a:pt x="726" y="88"/>
                    <a:pt x="738" y="76"/>
                    <a:pt x="754" y="76"/>
                  </a:cubicBezTo>
                  <a:cubicBezTo>
                    <a:pt x="769" y="76"/>
                    <a:pt x="782" y="88"/>
                    <a:pt x="782" y="104"/>
                  </a:cubicBezTo>
                  <a:close/>
                  <a:moveTo>
                    <a:pt x="835" y="144"/>
                  </a:moveTo>
                  <a:cubicBezTo>
                    <a:pt x="835" y="159"/>
                    <a:pt x="822" y="172"/>
                    <a:pt x="807" y="172"/>
                  </a:cubicBezTo>
                  <a:cubicBezTo>
                    <a:pt x="791" y="172"/>
                    <a:pt x="779" y="159"/>
                    <a:pt x="779" y="144"/>
                  </a:cubicBezTo>
                  <a:cubicBezTo>
                    <a:pt x="779" y="128"/>
                    <a:pt x="791" y="116"/>
                    <a:pt x="807" y="116"/>
                  </a:cubicBezTo>
                  <a:cubicBezTo>
                    <a:pt x="822" y="116"/>
                    <a:pt x="835" y="128"/>
                    <a:pt x="835" y="144"/>
                  </a:cubicBezTo>
                  <a:close/>
                  <a:moveTo>
                    <a:pt x="883" y="192"/>
                  </a:moveTo>
                  <a:cubicBezTo>
                    <a:pt x="883" y="207"/>
                    <a:pt x="870" y="220"/>
                    <a:pt x="855" y="220"/>
                  </a:cubicBezTo>
                  <a:cubicBezTo>
                    <a:pt x="839" y="220"/>
                    <a:pt x="827" y="207"/>
                    <a:pt x="827" y="192"/>
                  </a:cubicBezTo>
                  <a:cubicBezTo>
                    <a:pt x="827" y="176"/>
                    <a:pt x="839" y="164"/>
                    <a:pt x="855" y="164"/>
                  </a:cubicBezTo>
                  <a:cubicBezTo>
                    <a:pt x="870" y="164"/>
                    <a:pt x="883" y="176"/>
                    <a:pt x="883" y="192"/>
                  </a:cubicBezTo>
                  <a:close/>
                  <a:moveTo>
                    <a:pt x="923" y="245"/>
                  </a:moveTo>
                  <a:cubicBezTo>
                    <a:pt x="923" y="260"/>
                    <a:pt x="910" y="273"/>
                    <a:pt x="895" y="273"/>
                  </a:cubicBezTo>
                  <a:cubicBezTo>
                    <a:pt x="879" y="273"/>
                    <a:pt x="867" y="260"/>
                    <a:pt x="867" y="245"/>
                  </a:cubicBezTo>
                  <a:cubicBezTo>
                    <a:pt x="867" y="229"/>
                    <a:pt x="879" y="217"/>
                    <a:pt x="895" y="217"/>
                  </a:cubicBezTo>
                  <a:cubicBezTo>
                    <a:pt x="910" y="217"/>
                    <a:pt x="923" y="229"/>
                    <a:pt x="923" y="245"/>
                  </a:cubicBezTo>
                  <a:close/>
                  <a:moveTo>
                    <a:pt x="955" y="304"/>
                  </a:moveTo>
                  <a:cubicBezTo>
                    <a:pt x="955" y="319"/>
                    <a:pt x="942" y="332"/>
                    <a:pt x="927" y="332"/>
                  </a:cubicBezTo>
                  <a:cubicBezTo>
                    <a:pt x="911" y="332"/>
                    <a:pt x="899" y="319"/>
                    <a:pt x="899" y="304"/>
                  </a:cubicBezTo>
                  <a:cubicBezTo>
                    <a:pt x="899" y="288"/>
                    <a:pt x="911" y="276"/>
                    <a:pt x="927" y="276"/>
                  </a:cubicBezTo>
                  <a:cubicBezTo>
                    <a:pt x="942" y="276"/>
                    <a:pt x="955" y="288"/>
                    <a:pt x="955" y="304"/>
                  </a:cubicBezTo>
                  <a:close/>
                  <a:moveTo>
                    <a:pt x="978" y="367"/>
                  </a:moveTo>
                  <a:cubicBezTo>
                    <a:pt x="978" y="382"/>
                    <a:pt x="965" y="395"/>
                    <a:pt x="950" y="395"/>
                  </a:cubicBezTo>
                  <a:cubicBezTo>
                    <a:pt x="934" y="395"/>
                    <a:pt x="922" y="382"/>
                    <a:pt x="922" y="367"/>
                  </a:cubicBezTo>
                  <a:cubicBezTo>
                    <a:pt x="922" y="351"/>
                    <a:pt x="934" y="339"/>
                    <a:pt x="950" y="339"/>
                  </a:cubicBezTo>
                  <a:cubicBezTo>
                    <a:pt x="965" y="339"/>
                    <a:pt x="978" y="351"/>
                    <a:pt x="978" y="367"/>
                  </a:cubicBezTo>
                  <a:close/>
                  <a:moveTo>
                    <a:pt x="993" y="433"/>
                  </a:moveTo>
                  <a:cubicBezTo>
                    <a:pt x="993" y="448"/>
                    <a:pt x="980" y="461"/>
                    <a:pt x="965" y="461"/>
                  </a:cubicBezTo>
                  <a:cubicBezTo>
                    <a:pt x="949" y="461"/>
                    <a:pt x="937" y="448"/>
                    <a:pt x="937" y="433"/>
                  </a:cubicBezTo>
                  <a:cubicBezTo>
                    <a:pt x="937" y="417"/>
                    <a:pt x="949" y="405"/>
                    <a:pt x="965" y="405"/>
                  </a:cubicBezTo>
                  <a:cubicBezTo>
                    <a:pt x="980" y="405"/>
                    <a:pt x="993" y="417"/>
                    <a:pt x="993" y="433"/>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4" name="Forma 25"/>
            <p:cNvSpPr/>
            <p:nvPr/>
          </p:nvSpPr>
          <p:spPr>
            <a:xfrm>
              <a:off x="4937760" y="1005840"/>
              <a:ext cx="914400" cy="914400"/>
            </a:xfrm>
            <a:custGeom>
              <a:avLst/>
              <a:gdLst/>
              <a:ahLst/>
              <a:cxnLst/>
              <a:rect l="0" t="0" r="r" b="b"/>
              <a:pathLst>
                <a:path w="1000" h="1000" fill="none">
                  <a:moveTo>
                    <a:pt x="7" y="413"/>
                  </a:moveTo>
                  <a:cubicBezTo>
                    <a:pt x="16" y="387"/>
                    <a:pt x="35" y="306"/>
                    <a:pt x="61" y="259"/>
                  </a:cubicBezTo>
                  <a:cubicBezTo>
                    <a:pt x="86" y="212"/>
                    <a:pt x="122" y="167"/>
                    <a:pt x="162" y="131"/>
                  </a:cubicBezTo>
                  <a:cubicBezTo>
                    <a:pt x="201" y="94"/>
                    <a:pt x="249" y="63"/>
                    <a:pt x="298" y="42"/>
                  </a:cubicBezTo>
                  <a:cubicBezTo>
                    <a:pt x="347" y="20"/>
                    <a:pt x="402" y="5"/>
                    <a:pt x="456" y="1"/>
                  </a:cubicBezTo>
                  <a:cubicBezTo>
                    <a:pt x="509" y="-3"/>
                    <a:pt x="566" y="1"/>
                    <a:pt x="618" y="14"/>
                  </a:cubicBezTo>
                  <a:cubicBezTo>
                    <a:pt x="670" y="26"/>
                    <a:pt x="722" y="49"/>
                    <a:pt x="768" y="78"/>
                  </a:cubicBezTo>
                  <a:cubicBezTo>
                    <a:pt x="813" y="106"/>
                    <a:pt x="855" y="145"/>
                    <a:pt x="889" y="187"/>
                  </a:cubicBezTo>
                  <a:cubicBezTo>
                    <a:pt x="922" y="228"/>
                    <a:pt x="955" y="304"/>
                    <a:pt x="969" y="328"/>
                  </a:cubicBezTo>
                </a:path>
              </a:pathLst>
            </a:custGeom>
            <a:noFill/>
            <a:ln w="50800" cap="rnd">
              <a:solidFill>
                <a:srgbClr val="2E4A9E"/>
              </a:solidFill>
              <a:round/>
            </a:ln>
          </p:spPr>
        </p:sp>
        <p:sp>
          <p:nvSpPr>
            <p:cNvPr id="25" name="Forma 26"/>
            <p:cNvSpPr txBox="1"/>
            <p:nvPr/>
          </p:nvSpPr>
          <p:spPr>
            <a:xfrm>
              <a:off x="4937760" y="1280160"/>
              <a:ext cx="914400" cy="365760"/>
            </a:xfrm>
            <a:prstGeom prst="rect">
              <a:avLst/>
            </a:prstGeom>
            <a:noFill/>
            <a:ln>
              <a:noFill/>
            </a:ln>
          </p:spPr>
          <p:txBody>
            <a:bodyPr wrap="square" lIns="0" tIns="0" rIns="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VLDL</a:t>
              </a:r>
              <a:endParaRPr lang="es-AR" sz="1600" dirty="0">
                <a:latin typeface="Bahnschrift SemiBold Condensed"/>
              </a:endParaRPr>
            </a:p>
          </p:txBody>
        </p:sp>
      </p:grpSp>
      <p:grpSp>
        <p:nvGrpSpPr>
          <p:cNvPr id="26" name="Rem ic"/>
          <p:cNvGrpSpPr/>
          <p:nvPr/>
        </p:nvGrpSpPr>
        <p:grpSpPr>
          <a:xfrm>
            <a:off x="5120640" y="2331720"/>
            <a:ext cx="640080" cy="640080"/>
            <a:chOff x="5120640" y="2331720"/>
            <a:chExt cx="640080" cy="640080"/>
          </a:xfrm>
        </p:grpSpPr>
        <p:sp>
          <p:nvSpPr>
            <p:cNvPr id="27" name="Forma 28"/>
            <p:cNvSpPr/>
            <p:nvPr/>
          </p:nvSpPr>
          <p:spPr>
            <a:xfrm>
              <a:off x="5120640" y="2331720"/>
              <a:ext cx="640080" cy="640080"/>
            </a:xfrm>
            <a:prstGeom prst="ellipse">
              <a:avLst/>
            </a:prstGeom>
            <a:gradFill rotWithShape="1">
              <a:gsLst>
                <a:gs pos="0">
                  <a:srgbClr val="FAD7A0"/>
                </a:gs>
                <a:gs pos="70000">
                  <a:srgbClr val="F39C12"/>
                </a:gs>
                <a:gs pos="100000">
                  <a:srgbClr val="C27C0E"/>
                </a:gs>
              </a:gsLst>
              <a:path path="circle">
                <a:fillToRect l="40000" t="35000" r="60000" b="65000"/>
              </a:path>
            </a:gradFill>
            <a:ln w="12700" cap="rnd">
              <a:solidFill>
                <a:srgbClr val="8C6D1F"/>
              </a:solidFill>
              <a:round/>
            </a:ln>
            <a:effectLst>
              <a:outerShdw blurRad="101600" dist="50800" dir="2700000" algn="tl" rotWithShape="0">
                <a:srgbClr val="000000">
                  <a:alpha val="30000"/>
                </a:srgbClr>
              </a:outerShdw>
            </a:effectLst>
          </p:spPr>
        </p:sp>
        <p:sp>
          <p:nvSpPr>
            <p:cNvPr id="28" name="Forma 29"/>
            <p:cNvSpPr/>
            <p:nvPr/>
          </p:nvSpPr>
          <p:spPr>
            <a:xfrm>
              <a:off x="5120640" y="2331720"/>
              <a:ext cx="640080" cy="640080"/>
            </a:xfrm>
            <a:custGeom>
              <a:avLst/>
              <a:gdLst/>
              <a:ahLst/>
              <a:cxnLst/>
              <a:rect l="0" t="0" r="r" b="b"/>
              <a:pathLst>
                <a:path w="1000" h="1000">
                  <a:moveTo>
                    <a:pt x="998" y="500"/>
                  </a:moveTo>
                  <a:cubicBezTo>
                    <a:pt x="998" y="515"/>
                    <a:pt x="985" y="528"/>
                    <a:pt x="970" y="528"/>
                  </a:cubicBezTo>
                  <a:cubicBezTo>
                    <a:pt x="954" y="528"/>
                    <a:pt x="942" y="515"/>
                    <a:pt x="942" y="500"/>
                  </a:cubicBezTo>
                  <a:cubicBezTo>
                    <a:pt x="942" y="484"/>
                    <a:pt x="954" y="472"/>
                    <a:pt x="970" y="472"/>
                  </a:cubicBezTo>
                  <a:cubicBezTo>
                    <a:pt x="985" y="472"/>
                    <a:pt x="998" y="484"/>
                    <a:pt x="998" y="500"/>
                  </a:cubicBezTo>
                  <a:close/>
                  <a:moveTo>
                    <a:pt x="988" y="594"/>
                  </a:moveTo>
                  <a:cubicBezTo>
                    <a:pt x="988" y="609"/>
                    <a:pt x="975" y="622"/>
                    <a:pt x="960" y="622"/>
                  </a:cubicBezTo>
                  <a:cubicBezTo>
                    <a:pt x="944" y="622"/>
                    <a:pt x="932" y="609"/>
                    <a:pt x="932" y="594"/>
                  </a:cubicBezTo>
                  <a:cubicBezTo>
                    <a:pt x="932" y="578"/>
                    <a:pt x="944" y="566"/>
                    <a:pt x="960" y="566"/>
                  </a:cubicBezTo>
                  <a:cubicBezTo>
                    <a:pt x="975" y="566"/>
                    <a:pt x="988" y="578"/>
                    <a:pt x="988" y="594"/>
                  </a:cubicBezTo>
                  <a:close/>
                  <a:moveTo>
                    <a:pt x="959" y="685"/>
                  </a:moveTo>
                  <a:cubicBezTo>
                    <a:pt x="959" y="700"/>
                    <a:pt x="946" y="713"/>
                    <a:pt x="931" y="713"/>
                  </a:cubicBezTo>
                  <a:cubicBezTo>
                    <a:pt x="915" y="713"/>
                    <a:pt x="903" y="700"/>
                    <a:pt x="903" y="685"/>
                  </a:cubicBezTo>
                  <a:cubicBezTo>
                    <a:pt x="903" y="669"/>
                    <a:pt x="915" y="657"/>
                    <a:pt x="931" y="657"/>
                  </a:cubicBezTo>
                  <a:cubicBezTo>
                    <a:pt x="946" y="657"/>
                    <a:pt x="959" y="669"/>
                    <a:pt x="959" y="685"/>
                  </a:cubicBezTo>
                  <a:close/>
                  <a:moveTo>
                    <a:pt x="913" y="768"/>
                  </a:moveTo>
                  <a:cubicBezTo>
                    <a:pt x="913" y="783"/>
                    <a:pt x="900" y="796"/>
                    <a:pt x="885" y="796"/>
                  </a:cubicBezTo>
                  <a:cubicBezTo>
                    <a:pt x="869" y="796"/>
                    <a:pt x="857" y="783"/>
                    <a:pt x="857" y="768"/>
                  </a:cubicBezTo>
                  <a:cubicBezTo>
                    <a:pt x="857" y="752"/>
                    <a:pt x="869" y="740"/>
                    <a:pt x="885" y="740"/>
                  </a:cubicBezTo>
                  <a:cubicBezTo>
                    <a:pt x="900" y="740"/>
                    <a:pt x="913" y="752"/>
                    <a:pt x="913" y="768"/>
                  </a:cubicBezTo>
                  <a:close/>
                  <a:moveTo>
                    <a:pt x="851" y="840"/>
                  </a:moveTo>
                  <a:cubicBezTo>
                    <a:pt x="851" y="855"/>
                    <a:pt x="838" y="868"/>
                    <a:pt x="823" y="868"/>
                  </a:cubicBezTo>
                  <a:cubicBezTo>
                    <a:pt x="807" y="868"/>
                    <a:pt x="795" y="855"/>
                    <a:pt x="795" y="840"/>
                  </a:cubicBezTo>
                  <a:cubicBezTo>
                    <a:pt x="795" y="824"/>
                    <a:pt x="807" y="812"/>
                    <a:pt x="823" y="812"/>
                  </a:cubicBezTo>
                  <a:cubicBezTo>
                    <a:pt x="838" y="812"/>
                    <a:pt x="851" y="824"/>
                    <a:pt x="851" y="840"/>
                  </a:cubicBezTo>
                  <a:close/>
                  <a:moveTo>
                    <a:pt x="776" y="898"/>
                  </a:moveTo>
                  <a:cubicBezTo>
                    <a:pt x="776" y="913"/>
                    <a:pt x="763" y="926"/>
                    <a:pt x="748" y="926"/>
                  </a:cubicBezTo>
                  <a:cubicBezTo>
                    <a:pt x="732" y="926"/>
                    <a:pt x="720" y="913"/>
                    <a:pt x="720" y="898"/>
                  </a:cubicBezTo>
                  <a:cubicBezTo>
                    <a:pt x="720" y="882"/>
                    <a:pt x="732" y="870"/>
                    <a:pt x="748" y="870"/>
                  </a:cubicBezTo>
                  <a:cubicBezTo>
                    <a:pt x="763" y="870"/>
                    <a:pt x="776" y="882"/>
                    <a:pt x="776" y="898"/>
                  </a:cubicBezTo>
                  <a:close/>
                  <a:moveTo>
                    <a:pt x="691" y="940"/>
                  </a:moveTo>
                  <a:cubicBezTo>
                    <a:pt x="691" y="955"/>
                    <a:pt x="678" y="968"/>
                    <a:pt x="663" y="968"/>
                  </a:cubicBezTo>
                  <a:cubicBezTo>
                    <a:pt x="647" y="968"/>
                    <a:pt x="635" y="955"/>
                    <a:pt x="635" y="940"/>
                  </a:cubicBezTo>
                  <a:cubicBezTo>
                    <a:pt x="635" y="924"/>
                    <a:pt x="647" y="912"/>
                    <a:pt x="663" y="912"/>
                  </a:cubicBezTo>
                  <a:cubicBezTo>
                    <a:pt x="678" y="912"/>
                    <a:pt x="691" y="924"/>
                    <a:pt x="691" y="940"/>
                  </a:cubicBezTo>
                  <a:close/>
                  <a:moveTo>
                    <a:pt x="599" y="964"/>
                  </a:moveTo>
                  <a:cubicBezTo>
                    <a:pt x="599" y="979"/>
                    <a:pt x="586" y="992"/>
                    <a:pt x="571" y="992"/>
                  </a:cubicBezTo>
                  <a:cubicBezTo>
                    <a:pt x="555" y="992"/>
                    <a:pt x="543" y="979"/>
                    <a:pt x="543" y="964"/>
                  </a:cubicBezTo>
                  <a:cubicBezTo>
                    <a:pt x="543" y="948"/>
                    <a:pt x="555" y="936"/>
                    <a:pt x="571" y="936"/>
                  </a:cubicBezTo>
                  <a:cubicBezTo>
                    <a:pt x="586" y="936"/>
                    <a:pt x="599" y="948"/>
                    <a:pt x="599" y="964"/>
                  </a:cubicBezTo>
                  <a:close/>
                  <a:moveTo>
                    <a:pt x="504" y="969"/>
                  </a:moveTo>
                  <a:cubicBezTo>
                    <a:pt x="504" y="984"/>
                    <a:pt x="491" y="997"/>
                    <a:pt x="476" y="997"/>
                  </a:cubicBezTo>
                  <a:cubicBezTo>
                    <a:pt x="460" y="997"/>
                    <a:pt x="448" y="984"/>
                    <a:pt x="448" y="969"/>
                  </a:cubicBezTo>
                  <a:cubicBezTo>
                    <a:pt x="448" y="953"/>
                    <a:pt x="460" y="941"/>
                    <a:pt x="476" y="941"/>
                  </a:cubicBezTo>
                  <a:cubicBezTo>
                    <a:pt x="491" y="941"/>
                    <a:pt x="504" y="953"/>
                    <a:pt x="504" y="969"/>
                  </a:cubicBezTo>
                  <a:close/>
                  <a:moveTo>
                    <a:pt x="410" y="954"/>
                  </a:moveTo>
                  <a:cubicBezTo>
                    <a:pt x="410" y="969"/>
                    <a:pt x="397" y="982"/>
                    <a:pt x="382" y="982"/>
                  </a:cubicBezTo>
                  <a:cubicBezTo>
                    <a:pt x="366" y="982"/>
                    <a:pt x="354" y="969"/>
                    <a:pt x="354" y="954"/>
                  </a:cubicBezTo>
                  <a:cubicBezTo>
                    <a:pt x="354" y="938"/>
                    <a:pt x="366" y="926"/>
                    <a:pt x="382" y="926"/>
                  </a:cubicBezTo>
                  <a:cubicBezTo>
                    <a:pt x="397" y="926"/>
                    <a:pt x="410" y="938"/>
                    <a:pt x="410" y="954"/>
                  </a:cubicBezTo>
                  <a:close/>
                  <a:moveTo>
                    <a:pt x="321" y="921"/>
                  </a:moveTo>
                  <a:cubicBezTo>
                    <a:pt x="321" y="936"/>
                    <a:pt x="308" y="949"/>
                    <a:pt x="293" y="949"/>
                  </a:cubicBezTo>
                  <a:cubicBezTo>
                    <a:pt x="277" y="949"/>
                    <a:pt x="265" y="936"/>
                    <a:pt x="265" y="921"/>
                  </a:cubicBezTo>
                  <a:cubicBezTo>
                    <a:pt x="265" y="905"/>
                    <a:pt x="277" y="893"/>
                    <a:pt x="293" y="893"/>
                  </a:cubicBezTo>
                  <a:cubicBezTo>
                    <a:pt x="308" y="893"/>
                    <a:pt x="321" y="905"/>
                    <a:pt x="321" y="921"/>
                  </a:cubicBezTo>
                  <a:close/>
                  <a:moveTo>
                    <a:pt x="240" y="871"/>
                  </a:moveTo>
                  <a:cubicBezTo>
                    <a:pt x="240" y="886"/>
                    <a:pt x="227" y="899"/>
                    <a:pt x="212" y="899"/>
                  </a:cubicBezTo>
                  <a:cubicBezTo>
                    <a:pt x="196" y="899"/>
                    <a:pt x="184" y="886"/>
                    <a:pt x="184" y="871"/>
                  </a:cubicBezTo>
                  <a:cubicBezTo>
                    <a:pt x="184" y="855"/>
                    <a:pt x="196" y="843"/>
                    <a:pt x="212" y="843"/>
                  </a:cubicBezTo>
                  <a:cubicBezTo>
                    <a:pt x="227" y="843"/>
                    <a:pt x="240" y="855"/>
                    <a:pt x="240" y="871"/>
                  </a:cubicBezTo>
                  <a:close/>
                  <a:moveTo>
                    <a:pt x="171" y="806"/>
                  </a:moveTo>
                  <a:cubicBezTo>
                    <a:pt x="171" y="821"/>
                    <a:pt x="158" y="834"/>
                    <a:pt x="143" y="834"/>
                  </a:cubicBezTo>
                  <a:cubicBezTo>
                    <a:pt x="127" y="834"/>
                    <a:pt x="115" y="821"/>
                    <a:pt x="115" y="806"/>
                  </a:cubicBezTo>
                  <a:cubicBezTo>
                    <a:pt x="115" y="790"/>
                    <a:pt x="127" y="778"/>
                    <a:pt x="143" y="778"/>
                  </a:cubicBezTo>
                  <a:cubicBezTo>
                    <a:pt x="158" y="778"/>
                    <a:pt x="171" y="790"/>
                    <a:pt x="171" y="806"/>
                  </a:cubicBezTo>
                  <a:close/>
                  <a:moveTo>
                    <a:pt x="117" y="728"/>
                  </a:moveTo>
                  <a:cubicBezTo>
                    <a:pt x="117" y="743"/>
                    <a:pt x="104" y="756"/>
                    <a:pt x="89" y="756"/>
                  </a:cubicBezTo>
                  <a:cubicBezTo>
                    <a:pt x="73" y="756"/>
                    <a:pt x="61" y="743"/>
                    <a:pt x="61" y="728"/>
                  </a:cubicBezTo>
                  <a:cubicBezTo>
                    <a:pt x="61" y="712"/>
                    <a:pt x="73" y="700"/>
                    <a:pt x="89" y="700"/>
                  </a:cubicBezTo>
                  <a:cubicBezTo>
                    <a:pt x="104" y="700"/>
                    <a:pt x="117" y="712"/>
                    <a:pt x="117" y="728"/>
                  </a:cubicBezTo>
                  <a:close/>
                  <a:moveTo>
                    <a:pt x="79" y="640"/>
                  </a:moveTo>
                  <a:cubicBezTo>
                    <a:pt x="79" y="655"/>
                    <a:pt x="66" y="668"/>
                    <a:pt x="51" y="668"/>
                  </a:cubicBezTo>
                  <a:cubicBezTo>
                    <a:pt x="35" y="668"/>
                    <a:pt x="23" y="655"/>
                    <a:pt x="23" y="640"/>
                  </a:cubicBezTo>
                  <a:cubicBezTo>
                    <a:pt x="23" y="624"/>
                    <a:pt x="35" y="612"/>
                    <a:pt x="51" y="612"/>
                  </a:cubicBezTo>
                  <a:cubicBezTo>
                    <a:pt x="66" y="612"/>
                    <a:pt x="79" y="624"/>
                    <a:pt x="79" y="640"/>
                  </a:cubicBezTo>
                  <a:close/>
                  <a:moveTo>
                    <a:pt x="60" y="547"/>
                  </a:moveTo>
                  <a:cubicBezTo>
                    <a:pt x="60" y="562"/>
                    <a:pt x="47" y="575"/>
                    <a:pt x="32" y="575"/>
                  </a:cubicBezTo>
                  <a:cubicBezTo>
                    <a:pt x="16" y="575"/>
                    <a:pt x="4" y="562"/>
                    <a:pt x="4" y="547"/>
                  </a:cubicBezTo>
                  <a:cubicBezTo>
                    <a:pt x="4" y="531"/>
                    <a:pt x="16" y="519"/>
                    <a:pt x="32" y="519"/>
                  </a:cubicBezTo>
                  <a:cubicBezTo>
                    <a:pt x="47" y="519"/>
                    <a:pt x="60" y="531"/>
                    <a:pt x="60" y="547"/>
                  </a:cubicBezTo>
                  <a:close/>
                  <a:moveTo>
                    <a:pt x="60" y="452"/>
                  </a:moveTo>
                  <a:cubicBezTo>
                    <a:pt x="60" y="467"/>
                    <a:pt x="47" y="480"/>
                    <a:pt x="32" y="480"/>
                  </a:cubicBezTo>
                  <a:cubicBezTo>
                    <a:pt x="16" y="480"/>
                    <a:pt x="4" y="467"/>
                    <a:pt x="4" y="452"/>
                  </a:cubicBezTo>
                  <a:cubicBezTo>
                    <a:pt x="4" y="436"/>
                    <a:pt x="16" y="424"/>
                    <a:pt x="32" y="424"/>
                  </a:cubicBezTo>
                  <a:cubicBezTo>
                    <a:pt x="47" y="424"/>
                    <a:pt x="60" y="436"/>
                    <a:pt x="60" y="452"/>
                  </a:cubicBezTo>
                  <a:close/>
                  <a:moveTo>
                    <a:pt x="79" y="359"/>
                  </a:moveTo>
                  <a:cubicBezTo>
                    <a:pt x="79" y="374"/>
                    <a:pt x="66" y="387"/>
                    <a:pt x="51" y="387"/>
                  </a:cubicBezTo>
                  <a:cubicBezTo>
                    <a:pt x="35" y="387"/>
                    <a:pt x="23" y="374"/>
                    <a:pt x="23" y="359"/>
                  </a:cubicBezTo>
                  <a:cubicBezTo>
                    <a:pt x="23" y="343"/>
                    <a:pt x="35" y="331"/>
                    <a:pt x="51" y="331"/>
                  </a:cubicBezTo>
                  <a:cubicBezTo>
                    <a:pt x="66" y="331"/>
                    <a:pt x="79" y="343"/>
                    <a:pt x="79" y="359"/>
                  </a:cubicBezTo>
                  <a:close/>
                  <a:moveTo>
                    <a:pt x="117" y="271"/>
                  </a:moveTo>
                  <a:cubicBezTo>
                    <a:pt x="117" y="286"/>
                    <a:pt x="104" y="299"/>
                    <a:pt x="89" y="299"/>
                  </a:cubicBezTo>
                  <a:cubicBezTo>
                    <a:pt x="73" y="299"/>
                    <a:pt x="61" y="286"/>
                    <a:pt x="61" y="271"/>
                  </a:cubicBezTo>
                  <a:cubicBezTo>
                    <a:pt x="61" y="255"/>
                    <a:pt x="73" y="243"/>
                    <a:pt x="89" y="243"/>
                  </a:cubicBezTo>
                  <a:cubicBezTo>
                    <a:pt x="104" y="243"/>
                    <a:pt x="117" y="255"/>
                    <a:pt x="117" y="271"/>
                  </a:cubicBezTo>
                  <a:close/>
                  <a:moveTo>
                    <a:pt x="171" y="193"/>
                  </a:moveTo>
                  <a:cubicBezTo>
                    <a:pt x="171" y="208"/>
                    <a:pt x="158" y="221"/>
                    <a:pt x="143" y="221"/>
                  </a:cubicBezTo>
                  <a:cubicBezTo>
                    <a:pt x="127" y="221"/>
                    <a:pt x="115" y="208"/>
                    <a:pt x="115" y="193"/>
                  </a:cubicBezTo>
                  <a:cubicBezTo>
                    <a:pt x="115" y="177"/>
                    <a:pt x="127" y="165"/>
                    <a:pt x="143" y="165"/>
                  </a:cubicBezTo>
                  <a:cubicBezTo>
                    <a:pt x="158" y="165"/>
                    <a:pt x="171" y="177"/>
                    <a:pt x="171" y="193"/>
                  </a:cubicBezTo>
                  <a:close/>
                  <a:moveTo>
                    <a:pt x="240" y="128"/>
                  </a:moveTo>
                  <a:cubicBezTo>
                    <a:pt x="240" y="143"/>
                    <a:pt x="227" y="156"/>
                    <a:pt x="212" y="156"/>
                  </a:cubicBezTo>
                  <a:cubicBezTo>
                    <a:pt x="196" y="156"/>
                    <a:pt x="184" y="143"/>
                    <a:pt x="184" y="128"/>
                  </a:cubicBezTo>
                  <a:cubicBezTo>
                    <a:pt x="184" y="112"/>
                    <a:pt x="196" y="100"/>
                    <a:pt x="212" y="100"/>
                  </a:cubicBezTo>
                  <a:cubicBezTo>
                    <a:pt x="227" y="100"/>
                    <a:pt x="240" y="112"/>
                    <a:pt x="240" y="128"/>
                  </a:cubicBezTo>
                  <a:close/>
                  <a:moveTo>
                    <a:pt x="321" y="78"/>
                  </a:moveTo>
                  <a:cubicBezTo>
                    <a:pt x="321" y="93"/>
                    <a:pt x="308" y="106"/>
                    <a:pt x="293" y="106"/>
                  </a:cubicBezTo>
                  <a:cubicBezTo>
                    <a:pt x="277" y="106"/>
                    <a:pt x="265" y="93"/>
                    <a:pt x="265" y="78"/>
                  </a:cubicBezTo>
                  <a:cubicBezTo>
                    <a:pt x="265" y="62"/>
                    <a:pt x="277" y="50"/>
                    <a:pt x="293" y="50"/>
                  </a:cubicBezTo>
                  <a:cubicBezTo>
                    <a:pt x="308" y="50"/>
                    <a:pt x="321" y="62"/>
                    <a:pt x="321" y="78"/>
                  </a:cubicBezTo>
                  <a:close/>
                  <a:moveTo>
                    <a:pt x="410" y="45"/>
                  </a:moveTo>
                  <a:cubicBezTo>
                    <a:pt x="410" y="60"/>
                    <a:pt x="397" y="73"/>
                    <a:pt x="382" y="73"/>
                  </a:cubicBezTo>
                  <a:cubicBezTo>
                    <a:pt x="366" y="73"/>
                    <a:pt x="354" y="60"/>
                    <a:pt x="354" y="45"/>
                  </a:cubicBezTo>
                  <a:cubicBezTo>
                    <a:pt x="354" y="29"/>
                    <a:pt x="366" y="17"/>
                    <a:pt x="382" y="17"/>
                  </a:cubicBezTo>
                  <a:cubicBezTo>
                    <a:pt x="397" y="17"/>
                    <a:pt x="410" y="29"/>
                    <a:pt x="410" y="45"/>
                  </a:cubicBezTo>
                  <a:close/>
                  <a:moveTo>
                    <a:pt x="504" y="30"/>
                  </a:moveTo>
                  <a:cubicBezTo>
                    <a:pt x="504" y="45"/>
                    <a:pt x="491" y="58"/>
                    <a:pt x="476" y="58"/>
                  </a:cubicBezTo>
                  <a:cubicBezTo>
                    <a:pt x="460" y="58"/>
                    <a:pt x="448" y="45"/>
                    <a:pt x="448" y="30"/>
                  </a:cubicBezTo>
                  <a:cubicBezTo>
                    <a:pt x="448" y="14"/>
                    <a:pt x="460" y="2"/>
                    <a:pt x="476" y="2"/>
                  </a:cubicBezTo>
                  <a:cubicBezTo>
                    <a:pt x="491" y="2"/>
                    <a:pt x="504" y="14"/>
                    <a:pt x="504" y="30"/>
                  </a:cubicBezTo>
                  <a:close/>
                  <a:moveTo>
                    <a:pt x="599" y="35"/>
                  </a:moveTo>
                  <a:cubicBezTo>
                    <a:pt x="599" y="50"/>
                    <a:pt x="586" y="63"/>
                    <a:pt x="571" y="63"/>
                  </a:cubicBezTo>
                  <a:cubicBezTo>
                    <a:pt x="555" y="63"/>
                    <a:pt x="543" y="50"/>
                    <a:pt x="543" y="35"/>
                  </a:cubicBezTo>
                  <a:cubicBezTo>
                    <a:pt x="543" y="19"/>
                    <a:pt x="555" y="7"/>
                    <a:pt x="571" y="7"/>
                  </a:cubicBezTo>
                  <a:cubicBezTo>
                    <a:pt x="586" y="7"/>
                    <a:pt x="599" y="19"/>
                    <a:pt x="599" y="35"/>
                  </a:cubicBezTo>
                  <a:close/>
                  <a:moveTo>
                    <a:pt x="691" y="59"/>
                  </a:moveTo>
                  <a:cubicBezTo>
                    <a:pt x="691" y="74"/>
                    <a:pt x="678" y="87"/>
                    <a:pt x="663" y="87"/>
                  </a:cubicBezTo>
                  <a:cubicBezTo>
                    <a:pt x="647" y="87"/>
                    <a:pt x="635" y="74"/>
                    <a:pt x="635" y="59"/>
                  </a:cubicBezTo>
                  <a:cubicBezTo>
                    <a:pt x="635" y="43"/>
                    <a:pt x="647" y="31"/>
                    <a:pt x="663" y="31"/>
                  </a:cubicBezTo>
                  <a:cubicBezTo>
                    <a:pt x="678" y="31"/>
                    <a:pt x="691" y="43"/>
                    <a:pt x="691" y="59"/>
                  </a:cubicBezTo>
                  <a:close/>
                  <a:moveTo>
                    <a:pt x="776" y="101"/>
                  </a:moveTo>
                  <a:cubicBezTo>
                    <a:pt x="776" y="116"/>
                    <a:pt x="763" y="129"/>
                    <a:pt x="748" y="129"/>
                  </a:cubicBezTo>
                  <a:cubicBezTo>
                    <a:pt x="732" y="129"/>
                    <a:pt x="720" y="116"/>
                    <a:pt x="720" y="101"/>
                  </a:cubicBezTo>
                  <a:cubicBezTo>
                    <a:pt x="720" y="85"/>
                    <a:pt x="732" y="73"/>
                    <a:pt x="748" y="73"/>
                  </a:cubicBezTo>
                  <a:cubicBezTo>
                    <a:pt x="763" y="73"/>
                    <a:pt x="776" y="85"/>
                    <a:pt x="776" y="101"/>
                  </a:cubicBezTo>
                  <a:close/>
                  <a:moveTo>
                    <a:pt x="851" y="159"/>
                  </a:moveTo>
                  <a:cubicBezTo>
                    <a:pt x="851" y="174"/>
                    <a:pt x="838" y="187"/>
                    <a:pt x="823" y="187"/>
                  </a:cubicBezTo>
                  <a:cubicBezTo>
                    <a:pt x="807" y="187"/>
                    <a:pt x="795" y="174"/>
                    <a:pt x="795" y="159"/>
                  </a:cubicBezTo>
                  <a:cubicBezTo>
                    <a:pt x="795" y="143"/>
                    <a:pt x="807" y="131"/>
                    <a:pt x="823" y="131"/>
                  </a:cubicBezTo>
                  <a:cubicBezTo>
                    <a:pt x="838" y="131"/>
                    <a:pt x="851" y="143"/>
                    <a:pt x="851" y="159"/>
                  </a:cubicBezTo>
                  <a:close/>
                  <a:moveTo>
                    <a:pt x="913" y="231"/>
                  </a:moveTo>
                  <a:cubicBezTo>
                    <a:pt x="913" y="246"/>
                    <a:pt x="900" y="259"/>
                    <a:pt x="885" y="259"/>
                  </a:cubicBezTo>
                  <a:cubicBezTo>
                    <a:pt x="869" y="259"/>
                    <a:pt x="857" y="246"/>
                    <a:pt x="857" y="231"/>
                  </a:cubicBezTo>
                  <a:cubicBezTo>
                    <a:pt x="857" y="215"/>
                    <a:pt x="869" y="203"/>
                    <a:pt x="885" y="203"/>
                  </a:cubicBezTo>
                  <a:cubicBezTo>
                    <a:pt x="900" y="203"/>
                    <a:pt x="913" y="215"/>
                    <a:pt x="913" y="231"/>
                  </a:cubicBezTo>
                  <a:close/>
                  <a:moveTo>
                    <a:pt x="959" y="314"/>
                  </a:moveTo>
                  <a:cubicBezTo>
                    <a:pt x="959" y="329"/>
                    <a:pt x="946" y="342"/>
                    <a:pt x="931" y="342"/>
                  </a:cubicBezTo>
                  <a:cubicBezTo>
                    <a:pt x="915" y="342"/>
                    <a:pt x="903" y="329"/>
                    <a:pt x="903" y="314"/>
                  </a:cubicBezTo>
                  <a:cubicBezTo>
                    <a:pt x="903" y="298"/>
                    <a:pt x="915" y="286"/>
                    <a:pt x="931" y="286"/>
                  </a:cubicBezTo>
                  <a:cubicBezTo>
                    <a:pt x="946" y="286"/>
                    <a:pt x="959" y="298"/>
                    <a:pt x="959" y="314"/>
                  </a:cubicBezTo>
                  <a:close/>
                  <a:moveTo>
                    <a:pt x="988" y="405"/>
                  </a:moveTo>
                  <a:cubicBezTo>
                    <a:pt x="988" y="420"/>
                    <a:pt x="975" y="433"/>
                    <a:pt x="960" y="433"/>
                  </a:cubicBezTo>
                  <a:cubicBezTo>
                    <a:pt x="944" y="433"/>
                    <a:pt x="932" y="420"/>
                    <a:pt x="932" y="405"/>
                  </a:cubicBezTo>
                  <a:cubicBezTo>
                    <a:pt x="932" y="389"/>
                    <a:pt x="944" y="377"/>
                    <a:pt x="960" y="377"/>
                  </a:cubicBezTo>
                  <a:cubicBezTo>
                    <a:pt x="975" y="377"/>
                    <a:pt x="988" y="389"/>
                    <a:pt x="988" y="405"/>
                  </a:cubicBezTo>
                  <a:close/>
                </a:path>
              </a:pathLst>
            </a:custGeom>
            <a:gradFill rotWithShape="1">
              <a:gsLst>
                <a:gs pos="0">
                  <a:srgbClr val="F5B4AD"/>
                </a:gs>
                <a:gs pos="55000">
                  <a:srgbClr val="F1948A"/>
                </a:gs>
                <a:gs pos="100000">
                  <a:srgbClr val="C0766E"/>
                </a:gs>
              </a:gsLst>
              <a:path path="circle">
                <a:fillToRect l="32000" t="28000" r="68000" b="72000"/>
              </a:path>
            </a:gradFill>
            <a:ln w="6350" cap="rnd">
              <a:solidFill>
                <a:srgbClr val="922B21"/>
              </a:solidFill>
              <a:round/>
            </a:ln>
          </p:spPr>
        </p:sp>
        <p:sp>
          <p:nvSpPr>
            <p:cNvPr id="29" name="Forma 30"/>
            <p:cNvSpPr/>
            <p:nvPr/>
          </p:nvSpPr>
          <p:spPr>
            <a:xfrm>
              <a:off x="5120640" y="2331720"/>
              <a:ext cx="640080" cy="640080"/>
            </a:xfrm>
            <a:custGeom>
              <a:avLst/>
              <a:gdLst/>
              <a:ahLst/>
              <a:cxnLst/>
              <a:rect l="0" t="0" r="r" b="b"/>
              <a:pathLst>
                <a:path w="1000" h="1000" fill="none">
                  <a:moveTo>
                    <a:pt x="7" y="413"/>
                  </a:moveTo>
                  <a:cubicBezTo>
                    <a:pt x="16" y="387"/>
                    <a:pt x="35" y="306"/>
                    <a:pt x="61" y="259"/>
                  </a:cubicBezTo>
                  <a:cubicBezTo>
                    <a:pt x="86" y="212"/>
                    <a:pt x="122" y="167"/>
                    <a:pt x="162" y="131"/>
                  </a:cubicBezTo>
                  <a:cubicBezTo>
                    <a:pt x="201" y="94"/>
                    <a:pt x="249" y="63"/>
                    <a:pt x="298" y="42"/>
                  </a:cubicBezTo>
                  <a:cubicBezTo>
                    <a:pt x="347" y="20"/>
                    <a:pt x="402" y="5"/>
                    <a:pt x="456" y="1"/>
                  </a:cubicBezTo>
                  <a:cubicBezTo>
                    <a:pt x="509" y="-3"/>
                    <a:pt x="566" y="1"/>
                    <a:pt x="618" y="14"/>
                  </a:cubicBezTo>
                  <a:cubicBezTo>
                    <a:pt x="670" y="26"/>
                    <a:pt x="722" y="49"/>
                    <a:pt x="768" y="78"/>
                  </a:cubicBezTo>
                  <a:cubicBezTo>
                    <a:pt x="813" y="106"/>
                    <a:pt x="855" y="145"/>
                    <a:pt x="889" y="187"/>
                  </a:cubicBezTo>
                  <a:cubicBezTo>
                    <a:pt x="922" y="228"/>
                    <a:pt x="955" y="304"/>
                    <a:pt x="969" y="328"/>
                  </a:cubicBezTo>
                </a:path>
              </a:pathLst>
            </a:custGeom>
            <a:noFill/>
            <a:ln w="50800" cap="rnd">
              <a:solidFill>
                <a:srgbClr val="2E4A9E"/>
              </a:solidFill>
              <a:round/>
            </a:ln>
          </p:spPr>
        </p:sp>
        <p:sp>
          <p:nvSpPr>
            <p:cNvPr id="30" name="Forma 31"/>
            <p:cNvSpPr txBox="1"/>
            <p:nvPr/>
          </p:nvSpPr>
          <p:spPr>
            <a:xfrm>
              <a:off x="5120640" y="2523744"/>
              <a:ext cx="640080" cy="256032"/>
            </a:xfrm>
            <a:prstGeom prst="rect">
              <a:avLst/>
            </a:prstGeom>
            <a:noFill/>
            <a:ln>
              <a:noFill/>
            </a:ln>
          </p:spPr>
          <p:txBody>
            <a:bodyPr wrap="square" lIns="0" tIns="0" rIns="0" bIns="0" anchor="ctr" rtlCol="0">
              <a:noAutofit/>
            </a:bodyPr>
            <a:lstStyle/>
            <a:p>
              <a:pPr algn="ctr">
                <a:spcAft>
                  <a:spcPts val="300"/>
                </a:spcAft>
                <a:buNone/>
              </a:pPr>
              <a:r>
                <a:rPr lang="es-AR" sz="1120" b="1" dirty="0">
                  <a:solidFill>
                    <a:srgbClr val="1E1E1E"/>
                  </a:solidFill>
                  <a:latin typeface="Bahnschrift SemiBold Condensed"/>
                  <a:ea typeface="Bahnschrift SemiBold Condensed"/>
                  <a:cs typeface="Bahnschrift SemiBold Condensed"/>
                  <a:sym typeface="Bahnschrift SemiBold Condensed"/>
                </a:rPr>
                <a:t>Rem</a:t>
              </a:r>
              <a:endParaRPr lang="es-AR" sz="1120" dirty="0">
                <a:latin typeface="Bahnschrift SemiBold Condensed"/>
              </a:endParaRPr>
            </a:p>
          </p:txBody>
        </p:sp>
      </p:grpSp>
      <p:grpSp>
        <p:nvGrpSpPr>
          <p:cNvPr id="31" name="Recuadro Mecanismo"/>
          <p:cNvGrpSpPr/>
          <p:nvPr/>
        </p:nvGrpSpPr>
        <p:grpSpPr>
          <a:xfrm>
            <a:off x="6400800" y="1005840"/>
            <a:ext cx="5394960" cy="2743200"/>
            <a:chOff x="6400800" y="1005840"/>
            <a:chExt cx="5394960" cy="2743200"/>
          </a:xfrm>
        </p:grpSpPr>
        <p:sp>
          <p:nvSpPr>
            <p:cNvPr id="32" name="Forma 33"/>
            <p:cNvSpPr/>
            <p:nvPr/>
          </p:nvSpPr>
          <p:spPr>
            <a:xfrm>
              <a:off x="6400800" y="1188720"/>
              <a:ext cx="5394960" cy="25603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El </a:t>
              </a:r>
              <a:r>
                <a:rPr lang="es-AR" sz="1750" b="1" dirty="0">
                  <a:solidFill>
                    <a:srgbClr val="1E1E1E"/>
                  </a:solidFill>
                  <a:latin typeface="Bahnschrift"/>
                  <a:ea typeface="Bahnschrift"/>
                  <a:cs typeface="Bahnschrift"/>
                  <a:sym typeface="Bahnschrift"/>
                </a:rPr>
                <a:t>colesterol transportado por remanentes ApoB</a:t>
              </a:r>
              <a:r>
                <a:rPr lang="es-AR" sz="1750" dirty="0">
                  <a:solidFill>
                    <a:srgbClr val="1E1E1E"/>
                  </a:solidFill>
                  <a:latin typeface="Bahnschrift"/>
                  <a:ea typeface="Bahnschrift"/>
                  <a:cs typeface="Bahnschrift"/>
                  <a:sym typeface="Bahnschrift"/>
                </a:rPr>
                <a:t> —no el TAG libre dentro de una célula espumosa— es un mecanismo clave de aterogénesis.</a:t>
              </a:r>
              <a:endParaRPr lang="es-AR" sz="1750" dirty="0">
                <a:latin typeface="Bahnschrift"/>
              </a:endParaRPr>
            </a:p>
          </p:txBody>
        </p:sp>
        <p:sp>
          <p:nvSpPr>
            <p:cNvPr id="33" name="Forma 34"/>
            <p:cNvSpPr/>
            <p:nvPr/>
          </p:nvSpPr>
          <p:spPr>
            <a:xfrm>
              <a:off x="6510528" y="1005840"/>
              <a:ext cx="124518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MECANISMO</a:t>
              </a:r>
              <a:endParaRPr lang="es-AR" sz="1600" dirty="0">
                <a:latin typeface="Bahnschrift SemiBold Condensed"/>
              </a:endParaRPr>
            </a:p>
          </p:txBody>
        </p:sp>
      </p:grpSp>
      <p:sp>
        <p:nvSpPr>
          <p:cNvPr id="34" name="Forma 35"/>
          <p:cNvSpPr/>
          <p:nvPr/>
        </p:nvSpPr>
        <p:spPr>
          <a:xfrm>
            <a:off x="365760" y="4343400"/>
            <a:ext cx="11430000" cy="16916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La hipertrigliceridemia a menudo </a:t>
            </a:r>
            <a:r>
              <a:rPr lang="es-AR" sz="1750" b="1" dirty="0">
                <a:solidFill>
                  <a:srgbClr val="1E1E1E"/>
                </a:solidFill>
                <a:latin typeface="Bahnschrift"/>
                <a:ea typeface="Bahnschrift"/>
                <a:cs typeface="Bahnschrift"/>
                <a:sym typeface="Bahnschrift"/>
              </a:rPr>
              <a:t>señala</a:t>
            </a:r>
            <a:r>
              <a:rPr lang="es-AR" sz="1750" dirty="0">
                <a:solidFill>
                  <a:srgbClr val="1E1E1E"/>
                </a:solidFill>
                <a:latin typeface="Bahnschrift"/>
                <a:ea typeface="Bahnschrift"/>
                <a:cs typeface="Bahnschrift"/>
                <a:sym typeface="Bahnschrift"/>
              </a:rPr>
              <a:t> resistencia a la insulina, </a:t>
            </a:r>
            <a:r>
              <a:rPr lang="es-AR" sz="1750" b="1" dirty="0">
                <a:solidFill>
                  <a:srgbClr val="1E1E1E"/>
                </a:solidFill>
                <a:latin typeface="Bahnschrift"/>
                <a:ea typeface="Bahnschrift"/>
                <a:cs typeface="Bahnschrift"/>
                <a:sym typeface="Bahnschrift"/>
              </a:rPr>
              <a:t>más partículas remanentes</a:t>
            </a:r>
            <a:r>
              <a:rPr lang="es-AR" sz="1750" dirty="0">
                <a:solidFill>
                  <a:srgbClr val="1E1E1E"/>
                </a:solidFill>
                <a:latin typeface="Bahnschrift"/>
                <a:ea typeface="Bahnschrift"/>
                <a:cs typeface="Bahnschrift"/>
                <a:sym typeface="Bahnschrift"/>
              </a:rPr>
              <a:t>, </a:t>
            </a:r>
            <a:r>
              <a:rPr lang="es-AR" sz="1750" b="1" dirty="0">
                <a:solidFill>
                  <a:srgbClr val="1E1E1E"/>
                </a:solidFill>
                <a:latin typeface="Bahnschrift"/>
                <a:ea typeface="Bahnschrift"/>
                <a:cs typeface="Bahnschrift"/>
                <a:sym typeface="Bahnschrift"/>
              </a:rPr>
              <a:t>HDL bajo</a:t>
            </a:r>
            <a:r>
              <a:rPr lang="es-AR" sz="1750" dirty="0">
                <a:solidFill>
                  <a:srgbClr val="1E1E1E"/>
                </a:solidFill>
                <a:latin typeface="Bahnschrift"/>
                <a:ea typeface="Bahnschrift"/>
                <a:cs typeface="Bahnschrift"/>
                <a:sym typeface="Bahnschrift"/>
              </a:rPr>
              <a:t> y </a:t>
            </a:r>
            <a:r>
              <a:rPr lang="es-AR" sz="1750" b="1" dirty="0">
                <a:solidFill>
                  <a:srgbClr val="1E1E1E"/>
                </a:solidFill>
                <a:latin typeface="Bahnschrift"/>
                <a:ea typeface="Bahnschrift"/>
                <a:cs typeface="Bahnschrift"/>
                <a:sym typeface="Bahnschrift"/>
              </a:rPr>
              <a:t>LDL pequeñas y densas</a:t>
            </a:r>
            <a:r>
              <a:rPr lang="es-AR" sz="1750" dirty="0">
                <a:solidFill>
                  <a:srgbClr val="1E1E1E"/>
                </a:solidFill>
                <a:latin typeface="Bahnschrift"/>
                <a:ea typeface="Bahnschrift"/>
                <a:cs typeface="Bahnschrift"/>
                <a:sym typeface="Bahnschrift"/>
              </a:rPr>
              <a:t>; la relación causa/indicador es </a:t>
            </a:r>
            <a:r>
              <a:rPr lang="es-AR" sz="1750" b="1" dirty="0">
                <a:solidFill>
                  <a:srgbClr val="1E1E1E"/>
                </a:solidFill>
                <a:latin typeface="Bahnschrift"/>
                <a:ea typeface="Bahnschrift"/>
                <a:cs typeface="Bahnschrift"/>
                <a:sym typeface="Bahnschrift"/>
              </a:rPr>
              <a:t>compleja</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2" name="Etiqueta sección"/>
          <p:cNvSpPr/>
          <p:nvPr/>
        </p:nvSpPr>
        <p:spPr>
          <a:xfrm>
            <a:off x="9672915" y="201168"/>
            <a:ext cx="224446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6 · TRIGLICÉRIDOS</a:t>
            </a:r>
            <a:endParaRPr lang="es-AR" sz="1300" dirty="0">
              <a:latin typeface="Bahnschrift SemiBold Condensed"/>
            </a:endParaRPr>
          </a:p>
        </p:txBody>
      </p:sp>
      <p:sp>
        <p:nvSpPr>
          <p:cNvPr id="3" name="Título"/>
          <p:cNvSpPr/>
          <p:nvPr/>
        </p:nvSpPr>
        <p:spPr>
          <a:xfrm>
            <a:off x="274320" y="146304"/>
            <a:ext cx="693995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P6 · HIPERTRIGLICERIDEMIA Y RIESGO ATEROGÉNICO</a:t>
            </a:r>
            <a:endParaRPr lang="es-AR" sz="26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21"/>
                                        </p:tgtEl>
                                        <p:attrNameLst>
                                          <p:attrName>style.visibility</p:attrName>
                                        </p:attrNameLst>
                                      </p:cBhvr>
                                      <p:to>
                                        <p:strVal val="visible"/>
                                      </p:to>
                                    </p:set>
                                    <p:animEffect transition="in" filter="fade">
                                      <p:cBhvr>
                                        <p:cTn id="8" dur="500"/>
                                        <p:tgtEl>
                                          <p:spTgt spid="21"/>
                                        </p:tgtEl>
                                      </p:cBhvr>
                                    </p:animEffect>
                                  </p:childTnLst>
                                </p:cTn>
                              </p:par>
                            </p:childTnLst>
                          </p:cTn>
                        </p:par>
                      </p:childTnLst>
                    </p:cTn>
                  </p:par>
                  <p:par>
                    <p:cTn id="22" fill="hold">
                      <p:stCondLst>
                        <p:cond delay="indefinite"/>
                      </p:stCondLst>
                      <p:childTnLst>
                        <p:par>
                          <p:cTn id="14" fill="hold">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up)">
                                      <p:cBhvr>
                                        <p:cTn id="13" dur="600"/>
                                        <p:tgtEl>
                                          <p:spTgt spid="14"/>
                                        </p:tgtEl>
                                      </p:cBhvr>
                                    </p:animEffect>
                                  </p:childTnLst>
                                </p:cTn>
                              </p:par>
                            </p:childTnLst>
                          </p:cTn>
                        </p:par>
                        <p:par>
                          <p:cTn id="21" fill="hold">
                            <p:stCondLst>
                              <p:cond delay="600"/>
                            </p:stCondLst>
                            <p:childTnLst>
                              <p:par>
                                <p:cTn id="15" presetID="10" presetClass="entr" presetSubtype="0"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500"/>
                                        <p:tgtEl>
                                          <p:spTgt spid="26"/>
                                        </p:tgtEl>
                                      </p:cBhvr>
                                    </p:animEffect>
                                  </p:childTnLst>
                                </p:cTn>
                              </p:par>
                            </p:childTnLst>
                          </p:cTn>
                        </p:par>
                      </p:childTnLst>
                    </p:cTn>
                  </p:par>
                  <p:par>
                    <p:cTn id="31" fill="hold">
                      <p:stCondLst>
                        <p:cond delay="indefinite"/>
                      </p:stCondLst>
                      <p:childTnLst>
                        <p:par>
                          <p:cTn id="26"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wipe(up)">
                                      <p:cBhvr>
                                        <p:cTn id="25" dur="600"/>
                                        <p:tgtEl>
                                          <p:spTgt spid="18"/>
                                        </p:tgtEl>
                                      </p:cBhvr>
                                    </p:animEffect>
                                  </p:childTnLst>
                                </p:cTn>
                              </p:par>
                            </p:childTnLst>
                          </p:cTn>
                        </p:par>
                        <p:par>
                          <p:cTn id="30" fill="hold">
                            <p:stCondLst>
                              <p:cond delay="600"/>
                            </p:stCondLst>
                            <p:childTnLst>
                              <p:par>
                                <p:cTn id="27" presetID="10"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childTnLst>
                          </p:cTn>
                        </p:par>
                      </p:childTnLst>
                    </p:cTn>
                  </p:par>
                  <p:par>
                    <p:cTn id="36" fill="hold">
                      <p:stCondLst>
                        <p:cond delay="indefinite"/>
                      </p:stCondLst>
                      <p:childTnLst>
                        <p:par>
                          <p:cTn id="35"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fade">
                                      <p:cBhvr>
                                        <p:cTn id="34" dur="500"/>
                                        <p:tgtEl>
                                          <p:spTgt spid="31"/>
                                        </p:tgtEl>
                                      </p:cBhvr>
                                    </p:animEffect>
                                  </p:childTnLst>
                                </p:cTn>
                              </p:par>
                            </p:childTnLst>
                          </p:cTn>
                        </p:par>
                      </p:childTnLst>
                    </p:cTn>
                  </p:par>
                  <p:par>
                    <p:cTn id="41" fill="hold">
                      <p:stCondLst>
                        <p:cond delay="indefinite"/>
                      </p:stCondLst>
                      <p:childTnLst>
                        <p:par>
                          <p:cTn id="40"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0" grpId="0" animBg="1"/>
      <p:bldP spid="34" grpId="0" animBg="1"/>
    </p:bldLst>
  </p:timing>
</p:sld>
</file>

<file path=ppt/slides/slide187.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Corazón"/>
          <p:cNvGrpSpPr/>
          <p:nvPr/>
        </p:nvGrpSpPr>
        <p:grpSpPr>
          <a:xfrm>
            <a:off x="548640" y="1097280"/>
            <a:ext cx="1645920" cy="1728216"/>
            <a:chOff x="548640" y="1097280"/>
            <a:chExt cx="1645920" cy="1728216"/>
          </a:xfrm>
        </p:grpSpPr>
        <p:sp>
          <p:nvSpPr>
            <p:cNvPr id="14" name="Forma 13"/>
            <p:cNvSpPr/>
            <p:nvPr/>
          </p:nvSpPr>
          <p:spPr>
            <a:xfrm>
              <a:off x="548640" y="1097280"/>
              <a:ext cx="1645920" cy="1728216"/>
            </a:xfrm>
            <a:custGeom>
              <a:avLst/>
              <a:gdLst/>
              <a:ahLst/>
              <a:cxnLst/>
              <a:rect l="0" t="0" r="r" b="b"/>
              <a:pathLst>
                <a:path w="900" h="1000">
                  <a:moveTo>
                    <a:pt x="450" y="230"/>
                  </a:moveTo>
                  <a:cubicBezTo>
                    <a:pt x="486" y="230"/>
                    <a:pt x="515" y="136"/>
                    <a:pt x="560" y="110"/>
                  </a:cubicBezTo>
                  <a:cubicBezTo>
                    <a:pt x="605" y="83"/>
                    <a:pt x="670" y="60"/>
                    <a:pt x="720" y="70"/>
                  </a:cubicBezTo>
                  <a:cubicBezTo>
                    <a:pt x="770" y="80"/>
                    <a:pt x="830" y="121"/>
                    <a:pt x="860" y="170"/>
                  </a:cubicBezTo>
                  <a:cubicBezTo>
                    <a:pt x="890" y="218"/>
                    <a:pt x="910" y="293"/>
                    <a:pt x="900" y="360"/>
                  </a:cubicBezTo>
                  <a:cubicBezTo>
                    <a:pt x="890" y="426"/>
                    <a:pt x="846" y="501"/>
                    <a:pt x="800" y="570"/>
                  </a:cubicBezTo>
                  <a:cubicBezTo>
                    <a:pt x="753" y="638"/>
                    <a:pt x="678" y="706"/>
                    <a:pt x="620" y="770"/>
                  </a:cubicBezTo>
                  <a:cubicBezTo>
                    <a:pt x="561" y="833"/>
                    <a:pt x="505" y="950"/>
                    <a:pt x="450" y="950"/>
                  </a:cubicBezTo>
                  <a:cubicBezTo>
                    <a:pt x="395" y="950"/>
                    <a:pt x="346" y="833"/>
                    <a:pt x="290" y="770"/>
                  </a:cubicBezTo>
                  <a:cubicBezTo>
                    <a:pt x="233" y="706"/>
                    <a:pt x="156" y="638"/>
                    <a:pt x="110" y="570"/>
                  </a:cubicBezTo>
                  <a:cubicBezTo>
                    <a:pt x="63" y="501"/>
                    <a:pt x="20" y="426"/>
                    <a:pt x="10" y="360"/>
                  </a:cubicBezTo>
                  <a:cubicBezTo>
                    <a:pt x="0" y="293"/>
                    <a:pt x="20" y="218"/>
                    <a:pt x="50" y="170"/>
                  </a:cubicBezTo>
                  <a:cubicBezTo>
                    <a:pt x="80" y="121"/>
                    <a:pt x="141" y="80"/>
                    <a:pt x="190" y="70"/>
                  </a:cubicBezTo>
                  <a:cubicBezTo>
                    <a:pt x="238" y="60"/>
                    <a:pt x="296" y="83"/>
                    <a:pt x="340" y="110"/>
                  </a:cubicBezTo>
                  <a:cubicBezTo>
                    <a:pt x="383" y="136"/>
                    <a:pt x="413" y="230"/>
                    <a:pt x="450" y="230"/>
                  </a:cubicBezTo>
                  <a:close/>
                </a:path>
              </a:pathLst>
            </a:custGeom>
            <a:gradFill rotWithShape="1">
              <a:gsLst>
                <a:gs pos="0">
                  <a:srgbClr val="DA8C84"/>
                </a:gs>
                <a:gs pos="55000">
                  <a:srgbClr val="C0392B"/>
                </a:gs>
                <a:gs pos="100000">
                  <a:srgbClr val="86271E"/>
                </a:gs>
              </a:gsLst>
              <a:path path="circle">
                <a:fillToRect l="32000" t="28000" r="68000" b="72000"/>
              </a:path>
            </a:gradFill>
            <a:ln w="25400" cap="rnd">
              <a:solidFill>
                <a:srgbClr val="561913"/>
              </a:solidFill>
              <a:round/>
            </a:ln>
            <a:effectLst>
              <a:outerShdw blurRad="101600" dist="50800" dir="2700000" algn="tl" rotWithShape="0">
                <a:srgbClr val="000000">
                  <a:alpha val="30000"/>
                </a:srgbClr>
              </a:outerShdw>
            </a:effectLst>
          </p:spPr>
        </p:sp>
        <p:sp>
          <p:nvSpPr>
            <p:cNvPr id="15" name="Forma 14"/>
            <p:cNvSpPr/>
            <p:nvPr/>
          </p:nvSpPr>
          <p:spPr>
            <a:xfrm>
              <a:off x="548640" y="1097280"/>
              <a:ext cx="1645920" cy="1728216"/>
            </a:xfrm>
            <a:custGeom>
              <a:avLst/>
              <a:gdLst/>
              <a:ahLst/>
              <a:cxnLst/>
              <a:rect l="0" t="0" r="r" b="b"/>
              <a:pathLst>
                <a:path w="900" h="1000" fill="none">
                  <a:moveTo>
                    <a:pt x="450" y="260"/>
                  </a:moveTo>
                  <a:cubicBezTo>
                    <a:pt x="470" y="420"/>
                    <a:pt x="500" y="600"/>
                    <a:pt x="470" y="860"/>
                  </a:cubicBezTo>
                </a:path>
              </a:pathLst>
            </a:custGeom>
            <a:noFill/>
            <a:ln w="25400" cap="rnd">
              <a:solidFill>
                <a:srgbClr val="732219"/>
              </a:solidFill>
              <a:round/>
            </a:ln>
          </p:spPr>
        </p:sp>
      </p:grpSp>
      <p:grpSp>
        <p:nvGrpSpPr>
          <p:cNvPr id="16" name="Páncreas"/>
          <p:cNvGrpSpPr/>
          <p:nvPr/>
        </p:nvGrpSpPr>
        <p:grpSpPr>
          <a:xfrm>
            <a:off x="6400800" y="1463040"/>
            <a:ext cx="2377440" cy="998525"/>
            <a:chOff x="6400800" y="1463040"/>
            <a:chExt cx="2377440" cy="998525"/>
          </a:xfrm>
        </p:grpSpPr>
        <p:sp>
          <p:nvSpPr>
            <p:cNvPr id="17" name="Forma 16"/>
            <p:cNvSpPr/>
            <p:nvPr/>
          </p:nvSpPr>
          <p:spPr>
            <a:xfrm>
              <a:off x="6400800" y="1463040"/>
              <a:ext cx="2377440" cy="998525"/>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6400800" y="1463040"/>
              <a:ext cx="2377440" cy="998525"/>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6400800" y="1463040"/>
              <a:ext cx="2377440" cy="998525"/>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6400800" y="1463040"/>
              <a:ext cx="2377440" cy="998525"/>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21" name="Recuadro (a) Aterosclerosis"/>
          <p:cNvGrpSpPr/>
          <p:nvPr/>
        </p:nvGrpSpPr>
        <p:grpSpPr>
          <a:xfrm>
            <a:off x="365760" y="2926080"/>
            <a:ext cx="5577840" cy="3108960"/>
            <a:chOff x="365760" y="2926080"/>
            <a:chExt cx="5577840" cy="3108960"/>
          </a:xfrm>
        </p:grpSpPr>
        <p:sp>
          <p:nvSpPr>
            <p:cNvPr id="22" name="Forma 21"/>
            <p:cNvSpPr/>
            <p:nvPr/>
          </p:nvSpPr>
          <p:spPr>
            <a:xfrm>
              <a:off x="365760" y="3108960"/>
              <a:ext cx="5577840" cy="29260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800" b="1" dirty="0">
                  <a:solidFill>
                    <a:srgbClr val="1E1E1E"/>
                  </a:solidFill>
                  <a:latin typeface="Bahnschrift"/>
                  <a:ea typeface="Bahnschrift"/>
                  <a:cs typeface="Bahnschrift"/>
                  <a:sym typeface="Bahnschrift"/>
                </a:rPr>
                <a:t>Riesgo cardiovascular aterosclerótico</a:t>
              </a:r>
              <a:r>
                <a:rPr lang="es-AR" sz="1800" dirty="0">
                  <a:solidFill>
                    <a:srgbClr val="1E1E1E"/>
                  </a:solidFill>
                  <a:latin typeface="Bahnschrift"/>
                  <a:ea typeface="Bahnschrift"/>
                  <a:cs typeface="Bahnschrift"/>
                  <a:sym typeface="Bahnschrift"/>
                </a:rPr>
                <a:t>: sobre todo por </a:t>
              </a:r>
              <a:r>
                <a:rPr lang="es-AR" sz="1800" b="1" dirty="0">
                  <a:solidFill>
                    <a:srgbClr val="1E1E1E"/>
                  </a:solidFill>
                  <a:latin typeface="Bahnschrift"/>
                  <a:ea typeface="Bahnschrift"/>
                  <a:cs typeface="Bahnschrift"/>
                  <a:sym typeface="Bahnschrift"/>
                </a:rPr>
                <a:t>remanentes/ApoB</a:t>
              </a:r>
              <a:r>
                <a:rPr lang="es-AR" sz="1800" dirty="0">
                  <a:solidFill>
                    <a:srgbClr val="1E1E1E"/>
                  </a:solidFill>
                  <a:latin typeface="Bahnschrift"/>
                  <a:ea typeface="Bahnschrift"/>
                  <a:cs typeface="Bahnschrift"/>
                  <a:sym typeface="Bahnschrift"/>
                </a:rPr>
                <a:t> y comorbilidades.</a:t>
              </a:r>
              <a:endParaRPr lang="es-AR" sz="1800" dirty="0">
                <a:latin typeface="Bahnschrift"/>
              </a:endParaRPr>
            </a:p>
          </p:txBody>
        </p:sp>
        <p:sp>
          <p:nvSpPr>
            <p:cNvPr id="23" name="Forma 22"/>
            <p:cNvSpPr/>
            <p:nvPr/>
          </p:nvSpPr>
          <p:spPr>
            <a:xfrm>
              <a:off x="475488" y="2926080"/>
              <a:ext cx="1988974"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(A) ATEROSCLEROSIS</a:t>
              </a:r>
              <a:endParaRPr lang="es-AR" sz="1600" dirty="0">
                <a:latin typeface="Bahnschrift SemiBold Condensed"/>
              </a:endParaRPr>
            </a:p>
          </p:txBody>
        </p:sp>
      </p:grpSp>
      <p:grpSp>
        <p:nvGrpSpPr>
          <p:cNvPr id="24" name="Recuadro (b) Pancreatitis"/>
          <p:cNvGrpSpPr/>
          <p:nvPr/>
        </p:nvGrpSpPr>
        <p:grpSpPr>
          <a:xfrm>
            <a:off x="6217920" y="2926080"/>
            <a:ext cx="5577840" cy="3108960"/>
            <a:chOff x="6217920" y="2926080"/>
            <a:chExt cx="5577840" cy="3108960"/>
          </a:xfrm>
        </p:grpSpPr>
        <p:sp>
          <p:nvSpPr>
            <p:cNvPr id="25" name="Forma 24"/>
            <p:cNvSpPr/>
            <p:nvPr/>
          </p:nvSpPr>
          <p:spPr>
            <a:xfrm>
              <a:off x="6217920" y="3108960"/>
              <a:ext cx="5577840" cy="292608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800" b="1" dirty="0">
                  <a:solidFill>
                    <a:srgbClr val="1E1E1E"/>
                  </a:solidFill>
                  <a:latin typeface="Bahnschrift"/>
                  <a:ea typeface="Bahnschrift"/>
                  <a:cs typeface="Bahnschrift"/>
                  <a:sym typeface="Bahnschrift"/>
                </a:rPr>
                <a:t>Pancreatitis</a:t>
              </a:r>
              <a:r>
                <a:rPr lang="es-AR" sz="1800" dirty="0">
                  <a:solidFill>
                    <a:srgbClr val="1E1E1E"/>
                  </a:solidFill>
                  <a:latin typeface="Bahnschrift"/>
                  <a:ea typeface="Bahnschrift"/>
                  <a:cs typeface="Bahnschrift"/>
                  <a:sym typeface="Bahnschrift"/>
                </a:rPr>
                <a:t> cuando los TAG son muy altos: riesgo creciente </a:t>
              </a:r>
              <a:r>
                <a:rPr lang="es-AR" sz="1800" b="1" dirty="0">
                  <a:solidFill>
                    <a:srgbClr val="1E1E1E"/>
                  </a:solidFill>
                  <a:latin typeface="Bahnschrift"/>
                  <a:ea typeface="Bahnschrift"/>
                  <a:cs typeface="Bahnschrift"/>
                  <a:sym typeface="Bahnschrift"/>
                </a:rPr>
                <a:t>&gt;500 mg/dL</a:t>
              </a:r>
              <a:r>
                <a:rPr lang="es-AR" sz="1800" dirty="0">
                  <a:solidFill>
                    <a:srgbClr val="1E1E1E"/>
                  </a:solidFill>
                  <a:latin typeface="Bahnschrift"/>
                  <a:ea typeface="Bahnschrift"/>
                  <a:cs typeface="Bahnschrift"/>
                  <a:sym typeface="Bahnschrift"/>
                </a:rPr>
                <a:t> y muy marcado desde </a:t>
              </a:r>
              <a:r>
                <a:rPr lang="es-AR" sz="1800" b="1" dirty="0">
                  <a:solidFill>
                    <a:srgbClr val="1E1E1E"/>
                  </a:solidFill>
                  <a:latin typeface="Bahnschrift"/>
                  <a:ea typeface="Bahnschrift"/>
                  <a:cs typeface="Bahnschrift"/>
                  <a:sym typeface="Bahnschrift"/>
                </a:rPr>
                <a:t>~1000 mg/dL</a:t>
              </a:r>
              <a:r>
                <a:rPr lang="es-AR" sz="1800" dirty="0">
                  <a:solidFill>
                    <a:srgbClr val="1E1E1E"/>
                  </a:solidFill>
                  <a:latin typeface="Bahnschrift"/>
                  <a:ea typeface="Bahnschrift"/>
                  <a:cs typeface="Bahnschrift"/>
                  <a:sym typeface="Bahnschrift"/>
                </a:rPr>
                <a:t> (no son umbrales absolutos).</a:t>
              </a:r>
              <a:endParaRPr lang="es-AR" sz="1800" dirty="0">
                <a:latin typeface="Bahnschrift"/>
              </a:endParaRPr>
            </a:p>
          </p:txBody>
        </p:sp>
        <p:sp>
          <p:nvSpPr>
            <p:cNvPr id="26" name="Forma 25"/>
            <p:cNvSpPr/>
            <p:nvPr/>
          </p:nvSpPr>
          <p:spPr>
            <a:xfrm>
              <a:off x="6327648" y="2926080"/>
              <a:ext cx="1759341" cy="347472"/>
            </a:xfrm>
            <a:prstGeom prst="rect">
              <a:avLst/>
            </a:prstGeom>
            <a:solidFill>
              <a:srgbClr val="F28C28"/>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(B) PANCREATITIS</a:t>
              </a:r>
              <a:endParaRPr lang="es-AR" sz="1600" dirty="0">
                <a:latin typeface="Bahnschrift SemiBold Condensed"/>
              </a:endParaRPr>
            </a:p>
          </p:txBody>
        </p:sp>
      </p:grpSp>
      <p:sp>
        <p:nvSpPr>
          <p:cNvPr id="27" name="Forma 26"/>
          <p:cNvSpPr txBox="1"/>
          <p:nvPr/>
        </p:nvSpPr>
        <p:spPr>
          <a:xfrm>
            <a:off x="2377440" y="1371600"/>
            <a:ext cx="3931920" cy="128016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Modificadores: </a:t>
            </a:r>
            <a:r>
              <a:rPr lang="es-AR" sz="1400" b="1" dirty="0">
                <a:solidFill>
                  <a:srgbClr val="1E1E1E"/>
                </a:solidFill>
                <a:latin typeface="Bahnschrift"/>
                <a:ea typeface="Bahnschrift"/>
                <a:cs typeface="Bahnschrift"/>
                <a:sym typeface="Bahnschrift"/>
              </a:rPr>
              <a:t>alcohol</a:t>
            </a:r>
            <a:r>
              <a:rPr lang="es-AR" sz="1400" dirty="0">
                <a:solidFill>
                  <a:srgbClr val="1E1E1E"/>
                </a:solidFill>
                <a:latin typeface="Bahnschrift"/>
                <a:ea typeface="Bahnschrift"/>
                <a:cs typeface="Bahnschrift"/>
                <a:sym typeface="Bahnschrift"/>
              </a:rPr>
              <a:t>, descontrol glucémico, </a:t>
            </a:r>
            <a:r>
              <a:rPr lang="es-AR" sz="1400" b="1" dirty="0">
                <a:solidFill>
                  <a:srgbClr val="1E1E1E"/>
                </a:solidFill>
                <a:latin typeface="Bahnschrift"/>
                <a:ea typeface="Bahnschrift"/>
                <a:cs typeface="Bahnschrift"/>
                <a:sym typeface="Bahnschrift"/>
              </a:rPr>
              <a:t>hipotiroidismo</a:t>
            </a:r>
            <a:r>
              <a:rPr lang="es-AR" sz="1400" dirty="0">
                <a:solidFill>
                  <a:srgbClr val="1E1E1E"/>
                </a:solidFill>
                <a:latin typeface="Bahnschrift"/>
                <a:ea typeface="Bahnschrift"/>
                <a:cs typeface="Bahnschrift"/>
                <a:sym typeface="Bahnschrift"/>
              </a:rPr>
              <a:t>, fármacos y </a:t>
            </a:r>
            <a:r>
              <a:rPr lang="es-AR" sz="1400" b="1" dirty="0">
                <a:solidFill>
                  <a:srgbClr val="1E1E1E"/>
                </a:solidFill>
                <a:latin typeface="Bahnschrift"/>
                <a:ea typeface="Bahnschrift"/>
                <a:cs typeface="Bahnschrift"/>
                <a:sym typeface="Bahnschrift"/>
              </a:rPr>
              <a:t>genética</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sp>
        <p:nvSpPr>
          <p:cNvPr id="2" name="Etiqueta sección"/>
          <p:cNvSpPr/>
          <p:nvPr/>
        </p:nvSpPr>
        <p:spPr>
          <a:xfrm>
            <a:off x="9672915" y="201168"/>
            <a:ext cx="224446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6 · TRIGLICÉRIDOS</a:t>
            </a:r>
            <a:endParaRPr lang="es-AR" sz="1300" dirty="0">
              <a:latin typeface="Bahnschrift SemiBold Condensed"/>
            </a:endParaRPr>
          </a:p>
        </p:txBody>
      </p:sp>
      <p:sp>
        <p:nvSpPr>
          <p:cNvPr id="3" name="Título"/>
          <p:cNvSpPr/>
          <p:nvPr/>
        </p:nvSpPr>
        <p:spPr>
          <a:xfrm>
            <a:off x="274320" y="146304"/>
            <a:ext cx="479713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P6 · DOS DESENLACES DIFERENTES</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1"/>
                                        </p:tgtEl>
                                        <p:attrNameLst>
                                          <p:attrName>style.visibility</p:attrName>
                                        </p:attrNameLst>
                                      </p:cBhvr>
                                      <p:to>
                                        <p:strVal val="visible"/>
                                      </p:to>
                                    </p:set>
                                    <p:animEffect transition="in" filter="fade">
                                      <p:cBhvr>
                                        <p:cTn id="5" dur="500"/>
                                        <p:tgtEl>
                                          <p:spTgt spid="21"/>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88.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Adiposo resistente"/>
          <p:cNvGrpSpPr/>
          <p:nvPr/>
        </p:nvGrpSpPr>
        <p:grpSpPr>
          <a:xfrm>
            <a:off x="365760" y="1188720"/>
            <a:ext cx="2377440" cy="1764792"/>
            <a:chOff x="365760" y="1188720"/>
            <a:chExt cx="2377440" cy="1764792"/>
          </a:xfrm>
        </p:grpSpPr>
        <p:grpSp>
          <p:nvGrpSpPr>
            <p:cNvPr id="14" name="Adipocito"/>
            <p:cNvGrpSpPr/>
            <p:nvPr/>
          </p:nvGrpSpPr>
          <p:grpSpPr>
            <a:xfrm>
              <a:off x="365760" y="1417320"/>
              <a:ext cx="896112" cy="896112"/>
              <a:chOff x="365760" y="1417320"/>
              <a:chExt cx="896112" cy="896112"/>
            </a:xfrm>
          </p:grpSpPr>
          <p:sp>
            <p:nvSpPr>
              <p:cNvPr id="15" name="Forma 14"/>
              <p:cNvSpPr/>
              <p:nvPr/>
            </p:nvSpPr>
            <p:spPr>
              <a:xfrm>
                <a:off x="365760" y="1417320"/>
                <a:ext cx="896112" cy="89611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16" name="Gota lipídica"/>
              <p:cNvSpPr/>
              <p:nvPr/>
            </p:nvSpPr>
            <p:spPr>
              <a:xfrm>
                <a:off x="410566" y="1462126"/>
                <a:ext cx="806501" cy="806501"/>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17" name="Forma 16"/>
              <p:cNvSpPr/>
              <p:nvPr/>
            </p:nvSpPr>
            <p:spPr>
              <a:xfrm rot="2400000">
                <a:off x="1010961" y="1471087"/>
                <a:ext cx="197145" cy="10753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18" name="Mitocondria"/>
              <p:cNvGrpSpPr/>
              <p:nvPr/>
            </p:nvGrpSpPr>
            <p:grpSpPr>
              <a:xfrm>
                <a:off x="437449" y="2080443"/>
                <a:ext cx="89611" cy="44806"/>
                <a:chOff x="437449" y="2080443"/>
                <a:chExt cx="89611" cy="44806"/>
              </a:xfrm>
            </p:grpSpPr>
            <p:sp>
              <p:nvSpPr>
                <p:cNvPr id="19" name="Forma 18"/>
                <p:cNvSpPr/>
                <p:nvPr/>
              </p:nvSpPr>
              <p:spPr>
                <a:xfrm rot="-2400000">
                  <a:off x="437449" y="2080443"/>
                  <a:ext cx="89611" cy="4480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0" name="Forma 19"/>
                <p:cNvSpPr/>
                <p:nvPr/>
              </p:nvSpPr>
              <p:spPr>
                <a:xfrm rot="-2400000">
                  <a:off x="443722" y="2086716"/>
                  <a:ext cx="77066" cy="32260"/>
                </a:xfrm>
                <a:prstGeom prst="ellipse">
                  <a:avLst/>
                </a:prstGeom>
                <a:solidFill>
                  <a:srgbClr val="F8D8B4"/>
                </a:solidFill>
                <a:ln w="9525" cap="rnd">
                  <a:solidFill>
                    <a:srgbClr val="B2732B"/>
                  </a:solidFill>
                  <a:round/>
                </a:ln>
              </p:spPr>
            </p:sp>
            <p:sp>
              <p:nvSpPr>
                <p:cNvPr id="21" name="Forma 20"/>
                <p:cNvSpPr/>
                <p:nvPr/>
              </p:nvSpPr>
              <p:spPr>
                <a:xfrm rot="-2400000">
                  <a:off x="443722" y="2086716"/>
                  <a:ext cx="77066" cy="32260"/>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2" name="Adipocito_2"/>
            <p:cNvGrpSpPr/>
            <p:nvPr/>
          </p:nvGrpSpPr>
          <p:grpSpPr>
            <a:xfrm>
              <a:off x="1115568" y="1188720"/>
              <a:ext cx="896112" cy="896112"/>
              <a:chOff x="1115568" y="1188720"/>
              <a:chExt cx="896112" cy="896112"/>
            </a:xfrm>
          </p:grpSpPr>
          <p:sp>
            <p:nvSpPr>
              <p:cNvPr id="23" name="Forma 22"/>
              <p:cNvSpPr/>
              <p:nvPr/>
            </p:nvSpPr>
            <p:spPr>
              <a:xfrm>
                <a:off x="1115568" y="1188720"/>
                <a:ext cx="896112" cy="89611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4" name="Gota lipídica_2"/>
              <p:cNvSpPr/>
              <p:nvPr/>
            </p:nvSpPr>
            <p:spPr>
              <a:xfrm>
                <a:off x="1160374" y="1233526"/>
                <a:ext cx="806501" cy="806501"/>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5" name="Forma 24"/>
              <p:cNvSpPr/>
              <p:nvPr/>
            </p:nvSpPr>
            <p:spPr>
              <a:xfrm rot="2400000">
                <a:off x="1760769" y="1242487"/>
                <a:ext cx="197145" cy="10753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6" name="Mitocondria_2"/>
              <p:cNvGrpSpPr/>
              <p:nvPr/>
            </p:nvGrpSpPr>
            <p:grpSpPr>
              <a:xfrm>
                <a:off x="1187257" y="1851843"/>
                <a:ext cx="89611" cy="44806"/>
                <a:chOff x="1187257" y="1851843"/>
                <a:chExt cx="89611" cy="44806"/>
              </a:xfrm>
            </p:grpSpPr>
            <p:sp>
              <p:nvSpPr>
                <p:cNvPr id="27" name="Forma 26"/>
                <p:cNvSpPr/>
                <p:nvPr/>
              </p:nvSpPr>
              <p:spPr>
                <a:xfrm rot="-2400000">
                  <a:off x="1187257" y="1851843"/>
                  <a:ext cx="89611" cy="4480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8" name="Forma 27"/>
                <p:cNvSpPr/>
                <p:nvPr/>
              </p:nvSpPr>
              <p:spPr>
                <a:xfrm rot="-2400000">
                  <a:off x="1193530" y="1858116"/>
                  <a:ext cx="77066" cy="32260"/>
                </a:xfrm>
                <a:prstGeom prst="ellipse">
                  <a:avLst/>
                </a:prstGeom>
                <a:solidFill>
                  <a:srgbClr val="F8D8B4"/>
                </a:solidFill>
                <a:ln w="9525" cap="rnd">
                  <a:solidFill>
                    <a:srgbClr val="B2732B"/>
                  </a:solidFill>
                  <a:round/>
                </a:ln>
              </p:spPr>
            </p:sp>
            <p:sp>
              <p:nvSpPr>
                <p:cNvPr id="29" name="Forma 28"/>
                <p:cNvSpPr/>
                <p:nvPr/>
              </p:nvSpPr>
              <p:spPr>
                <a:xfrm rot="-2400000">
                  <a:off x="1193530" y="1858116"/>
                  <a:ext cx="77066" cy="32260"/>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0" name="Adipocito_3"/>
            <p:cNvGrpSpPr/>
            <p:nvPr/>
          </p:nvGrpSpPr>
          <p:grpSpPr>
            <a:xfrm>
              <a:off x="1847088" y="1463040"/>
              <a:ext cx="896112" cy="896112"/>
              <a:chOff x="1847088" y="1463040"/>
              <a:chExt cx="896112" cy="896112"/>
            </a:xfrm>
          </p:grpSpPr>
          <p:sp>
            <p:nvSpPr>
              <p:cNvPr id="31" name="Forma 30"/>
              <p:cNvSpPr/>
              <p:nvPr/>
            </p:nvSpPr>
            <p:spPr>
              <a:xfrm>
                <a:off x="1847088" y="1463040"/>
                <a:ext cx="896112" cy="89611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2" name="Gota lipídica_3"/>
              <p:cNvSpPr/>
              <p:nvPr/>
            </p:nvSpPr>
            <p:spPr>
              <a:xfrm>
                <a:off x="1891894" y="1507846"/>
                <a:ext cx="806501" cy="806501"/>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3" name="Forma 32"/>
              <p:cNvSpPr/>
              <p:nvPr/>
            </p:nvSpPr>
            <p:spPr>
              <a:xfrm rot="2400000">
                <a:off x="2492289" y="1516807"/>
                <a:ext cx="197145" cy="10753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4" name="Mitocondria_3"/>
              <p:cNvGrpSpPr/>
              <p:nvPr/>
            </p:nvGrpSpPr>
            <p:grpSpPr>
              <a:xfrm>
                <a:off x="1918777" y="2126163"/>
                <a:ext cx="89611" cy="44806"/>
                <a:chOff x="1918777" y="2126163"/>
                <a:chExt cx="89611" cy="44806"/>
              </a:xfrm>
            </p:grpSpPr>
            <p:sp>
              <p:nvSpPr>
                <p:cNvPr id="35" name="Forma 34"/>
                <p:cNvSpPr/>
                <p:nvPr/>
              </p:nvSpPr>
              <p:spPr>
                <a:xfrm rot="-2400000">
                  <a:off x="1918777" y="2126163"/>
                  <a:ext cx="89611" cy="4480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6" name="Forma 35"/>
                <p:cNvSpPr/>
                <p:nvPr/>
              </p:nvSpPr>
              <p:spPr>
                <a:xfrm rot="-2400000">
                  <a:off x="1925050" y="2132436"/>
                  <a:ext cx="77066" cy="32260"/>
                </a:xfrm>
                <a:prstGeom prst="ellipse">
                  <a:avLst/>
                </a:prstGeom>
                <a:solidFill>
                  <a:srgbClr val="F8D8B4"/>
                </a:solidFill>
                <a:ln w="9525" cap="rnd">
                  <a:solidFill>
                    <a:srgbClr val="B2732B"/>
                  </a:solidFill>
                  <a:round/>
                </a:ln>
              </p:spPr>
            </p:sp>
            <p:sp>
              <p:nvSpPr>
                <p:cNvPr id="37" name="Forma 36"/>
                <p:cNvSpPr/>
                <p:nvPr/>
              </p:nvSpPr>
              <p:spPr>
                <a:xfrm rot="-2400000">
                  <a:off x="1925050" y="2132436"/>
                  <a:ext cx="77066" cy="32260"/>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8" name="Adipocito_4"/>
            <p:cNvGrpSpPr/>
            <p:nvPr/>
          </p:nvGrpSpPr>
          <p:grpSpPr>
            <a:xfrm>
              <a:off x="777240" y="2057400"/>
              <a:ext cx="896112" cy="896112"/>
              <a:chOff x="777240" y="2057400"/>
              <a:chExt cx="896112" cy="896112"/>
            </a:xfrm>
          </p:grpSpPr>
          <p:sp>
            <p:nvSpPr>
              <p:cNvPr id="39" name="Forma 38"/>
              <p:cNvSpPr/>
              <p:nvPr/>
            </p:nvSpPr>
            <p:spPr>
              <a:xfrm>
                <a:off x="777240" y="2057400"/>
                <a:ext cx="896112" cy="89611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0" name="Gota lipídica_4"/>
              <p:cNvSpPr/>
              <p:nvPr/>
            </p:nvSpPr>
            <p:spPr>
              <a:xfrm>
                <a:off x="822046" y="2102206"/>
                <a:ext cx="806501" cy="806501"/>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1" name="Forma 40"/>
              <p:cNvSpPr/>
              <p:nvPr/>
            </p:nvSpPr>
            <p:spPr>
              <a:xfrm rot="2400000">
                <a:off x="1422441" y="2111167"/>
                <a:ext cx="197145" cy="10753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2" name="Mitocondria_4"/>
              <p:cNvGrpSpPr/>
              <p:nvPr/>
            </p:nvGrpSpPr>
            <p:grpSpPr>
              <a:xfrm>
                <a:off x="848929" y="2720523"/>
                <a:ext cx="89611" cy="44806"/>
                <a:chOff x="848929" y="2720523"/>
                <a:chExt cx="89611" cy="44806"/>
              </a:xfrm>
            </p:grpSpPr>
            <p:sp>
              <p:nvSpPr>
                <p:cNvPr id="43" name="Forma 42"/>
                <p:cNvSpPr/>
                <p:nvPr/>
              </p:nvSpPr>
              <p:spPr>
                <a:xfrm rot="-2400000">
                  <a:off x="848929" y="2720523"/>
                  <a:ext cx="89611" cy="4480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4" name="Forma 43"/>
                <p:cNvSpPr/>
                <p:nvPr/>
              </p:nvSpPr>
              <p:spPr>
                <a:xfrm rot="-2400000">
                  <a:off x="855202" y="2726796"/>
                  <a:ext cx="77066" cy="32260"/>
                </a:xfrm>
                <a:prstGeom prst="ellipse">
                  <a:avLst/>
                </a:prstGeom>
                <a:solidFill>
                  <a:srgbClr val="F8D8B4"/>
                </a:solidFill>
                <a:ln w="9525" cap="rnd">
                  <a:solidFill>
                    <a:srgbClr val="B2732B"/>
                  </a:solidFill>
                  <a:round/>
                </a:ln>
              </p:spPr>
            </p:sp>
            <p:sp>
              <p:nvSpPr>
                <p:cNvPr id="45" name="Forma 44"/>
                <p:cNvSpPr/>
                <p:nvPr/>
              </p:nvSpPr>
              <p:spPr>
                <a:xfrm rot="-2400000">
                  <a:off x="855202" y="2726796"/>
                  <a:ext cx="77066" cy="32260"/>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6" name="Adipocito_5"/>
            <p:cNvGrpSpPr/>
            <p:nvPr/>
          </p:nvGrpSpPr>
          <p:grpSpPr>
            <a:xfrm>
              <a:off x="1508760" y="2011680"/>
              <a:ext cx="896112" cy="896112"/>
              <a:chOff x="1508760" y="2011680"/>
              <a:chExt cx="896112" cy="896112"/>
            </a:xfrm>
          </p:grpSpPr>
          <p:sp>
            <p:nvSpPr>
              <p:cNvPr id="47" name="Forma 46"/>
              <p:cNvSpPr/>
              <p:nvPr/>
            </p:nvSpPr>
            <p:spPr>
              <a:xfrm>
                <a:off x="1508760" y="2011680"/>
                <a:ext cx="896112" cy="896112"/>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8" name="Gota lipídica_5"/>
              <p:cNvSpPr/>
              <p:nvPr/>
            </p:nvSpPr>
            <p:spPr>
              <a:xfrm>
                <a:off x="1553566" y="2056486"/>
                <a:ext cx="806501" cy="806501"/>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9" name="Forma 48"/>
              <p:cNvSpPr/>
              <p:nvPr/>
            </p:nvSpPr>
            <p:spPr>
              <a:xfrm rot="2400000">
                <a:off x="2153961" y="2065447"/>
                <a:ext cx="197145" cy="107533"/>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0" name="Mitocondria_5"/>
              <p:cNvGrpSpPr/>
              <p:nvPr/>
            </p:nvGrpSpPr>
            <p:grpSpPr>
              <a:xfrm>
                <a:off x="1580449" y="2674803"/>
                <a:ext cx="89611" cy="44806"/>
                <a:chOff x="1580449" y="2674803"/>
                <a:chExt cx="89611" cy="44806"/>
              </a:xfrm>
            </p:grpSpPr>
            <p:sp>
              <p:nvSpPr>
                <p:cNvPr id="51" name="Forma 50"/>
                <p:cNvSpPr/>
                <p:nvPr/>
              </p:nvSpPr>
              <p:spPr>
                <a:xfrm rot="-2400000">
                  <a:off x="1580449" y="2674803"/>
                  <a:ext cx="89611" cy="44806"/>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2" name="Forma 51"/>
                <p:cNvSpPr/>
                <p:nvPr/>
              </p:nvSpPr>
              <p:spPr>
                <a:xfrm rot="-2400000">
                  <a:off x="1586722" y="2681076"/>
                  <a:ext cx="77066" cy="32260"/>
                </a:xfrm>
                <a:prstGeom prst="ellipse">
                  <a:avLst/>
                </a:prstGeom>
                <a:solidFill>
                  <a:srgbClr val="F8D8B4"/>
                </a:solidFill>
                <a:ln w="9525" cap="rnd">
                  <a:solidFill>
                    <a:srgbClr val="B2732B"/>
                  </a:solidFill>
                  <a:round/>
                </a:ln>
              </p:spPr>
            </p:sp>
            <p:sp>
              <p:nvSpPr>
                <p:cNvPr id="53" name="Forma 52"/>
                <p:cNvSpPr/>
                <p:nvPr/>
              </p:nvSpPr>
              <p:spPr>
                <a:xfrm rot="-2400000">
                  <a:off x="1586722" y="2681076"/>
                  <a:ext cx="77066" cy="32260"/>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grpSp>
        <p:nvGrpSpPr>
          <p:cNvPr id="54" name="Hígado"/>
          <p:cNvGrpSpPr/>
          <p:nvPr/>
        </p:nvGrpSpPr>
        <p:grpSpPr>
          <a:xfrm>
            <a:off x="4023360" y="1097280"/>
            <a:ext cx="2926080" cy="2068153"/>
            <a:chOff x="4023360" y="1097280"/>
            <a:chExt cx="2926080" cy="2068153"/>
          </a:xfrm>
        </p:grpSpPr>
        <p:sp>
          <p:nvSpPr>
            <p:cNvPr id="55" name="Vesícula biliar"/>
            <p:cNvSpPr/>
            <p:nvPr/>
          </p:nvSpPr>
          <p:spPr>
            <a:xfrm>
              <a:off x="4813402" y="2512332"/>
              <a:ext cx="380390" cy="653101"/>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56" name="Forma 55"/>
            <p:cNvSpPr/>
            <p:nvPr/>
          </p:nvSpPr>
          <p:spPr>
            <a:xfrm>
              <a:off x="4023360" y="1097280"/>
              <a:ext cx="2926080" cy="1814170"/>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57" name="Forma 56"/>
            <p:cNvSpPr/>
            <p:nvPr/>
          </p:nvSpPr>
          <p:spPr>
            <a:xfrm>
              <a:off x="4023360" y="1097280"/>
              <a:ext cx="2926080" cy="1814170"/>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58" name="Forma 57"/>
            <p:cNvSpPr/>
            <p:nvPr/>
          </p:nvSpPr>
          <p:spPr>
            <a:xfrm>
              <a:off x="4023360" y="1097280"/>
              <a:ext cx="2926080" cy="1814170"/>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59" name="Plasma"/>
          <p:cNvGrpSpPr/>
          <p:nvPr/>
        </p:nvGrpSpPr>
        <p:grpSpPr>
          <a:xfrm>
            <a:off x="7589520" y="1463040"/>
            <a:ext cx="4206240" cy="822960"/>
            <a:chOff x="7589520" y="1463040"/>
            <a:chExt cx="4206240" cy="822960"/>
          </a:xfrm>
        </p:grpSpPr>
        <p:sp>
          <p:nvSpPr>
            <p:cNvPr id="60" name="Forma 59"/>
            <p:cNvSpPr/>
            <p:nvPr/>
          </p:nvSpPr>
          <p:spPr>
            <a:xfrm>
              <a:off x="7589520" y="1463040"/>
              <a:ext cx="4206240" cy="82296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61" name="Forma 60"/>
            <p:cNvSpPr/>
            <p:nvPr/>
          </p:nvSpPr>
          <p:spPr>
            <a:xfrm>
              <a:off x="7712964" y="1611173"/>
              <a:ext cx="3959352" cy="526694"/>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62" name="Eritrocito"/>
            <p:cNvSpPr/>
            <p:nvPr/>
          </p:nvSpPr>
          <p:spPr>
            <a:xfrm>
              <a:off x="8514785" y="1863786"/>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63" name="Eritrocito_2"/>
            <p:cNvSpPr/>
            <p:nvPr/>
          </p:nvSpPr>
          <p:spPr>
            <a:xfrm>
              <a:off x="9650471" y="1686242"/>
              <a:ext cx="345643" cy="345643"/>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grpSp>
        <p:nvGrpSpPr>
          <p:cNvPr id="64" name="Flecha AG portal ↑"/>
          <p:cNvGrpSpPr/>
          <p:nvPr/>
        </p:nvGrpSpPr>
        <p:grpSpPr>
          <a:xfrm>
            <a:off x="2743200" y="1554480"/>
            <a:ext cx="1371600" cy="466344"/>
            <a:chOff x="2743200" y="1554480"/>
            <a:chExt cx="1371600" cy="466344"/>
          </a:xfrm>
        </p:grpSpPr>
        <p:sp>
          <p:nvSpPr>
            <p:cNvPr id="65" name="Flecha 64_2"/>
            <p:cNvSpPr/>
            <p:nvPr/>
          </p:nvSpPr>
          <p:spPr>
            <a:xfrm>
              <a:off x="2743200" y="2011680"/>
              <a:ext cx="1371600" cy="9144"/>
            </a:xfrm>
            <a:custGeom>
              <a:avLst/>
              <a:gdLst/>
              <a:ahLst/>
              <a:cxnLst/>
              <a:rect l="0" t="0" r="r" b="b"/>
              <a:pathLst>
                <a:path w="1500" h="10" fill="none">
                  <a:moveTo>
                    <a:pt x="0" y="0"/>
                  </a:moveTo>
                  <a:lnTo>
                    <a:pt x="1500" y="0"/>
                  </a:lnTo>
                </a:path>
              </a:pathLst>
            </a:custGeom>
            <a:noFill/>
            <a:ln w="50800" cap="rnd">
              <a:solidFill>
                <a:srgbClr val="2563B0"/>
              </a:solidFill>
              <a:round/>
              <a:tailEnd type="triangle" w="med" len="med"/>
            </a:ln>
          </p:spPr>
        </p:sp>
        <p:sp>
          <p:nvSpPr>
            <p:cNvPr id="66" name="Forma 66"/>
            <p:cNvSpPr txBox="1"/>
            <p:nvPr/>
          </p:nvSpPr>
          <p:spPr>
            <a:xfrm>
              <a:off x="2743200" y="1554480"/>
              <a:ext cx="128016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AG portal ↑</a:t>
              </a:r>
              <a:endParaRPr lang="es-AR" sz="1200" dirty="0">
                <a:latin typeface="Bahnschrift SemiBold Condensed"/>
              </a:endParaRPr>
            </a:p>
          </p:txBody>
        </p:sp>
      </p:grpSp>
      <p:grpSp>
        <p:nvGrpSpPr>
          <p:cNvPr id="67" name="Flecha VLDL ↑"/>
          <p:cNvGrpSpPr/>
          <p:nvPr/>
        </p:nvGrpSpPr>
        <p:grpSpPr>
          <a:xfrm>
            <a:off x="6858000" y="1371600"/>
            <a:ext cx="1097280" cy="466344"/>
            <a:chOff x="6858000" y="1371600"/>
            <a:chExt cx="1097280" cy="466344"/>
          </a:xfrm>
        </p:grpSpPr>
        <p:sp>
          <p:nvSpPr>
            <p:cNvPr id="68" name="Flecha 68_2"/>
            <p:cNvSpPr/>
            <p:nvPr/>
          </p:nvSpPr>
          <p:spPr>
            <a:xfrm>
              <a:off x="6949440" y="1828800"/>
              <a:ext cx="640080" cy="9144"/>
            </a:xfrm>
            <a:custGeom>
              <a:avLst/>
              <a:gdLst/>
              <a:ahLst/>
              <a:cxnLst/>
              <a:rect l="0" t="0" r="r" b="b"/>
              <a:pathLst>
                <a:path w="700" h="10" fill="none">
                  <a:moveTo>
                    <a:pt x="0" y="0"/>
                  </a:moveTo>
                  <a:lnTo>
                    <a:pt x="700" y="0"/>
                  </a:lnTo>
                </a:path>
              </a:pathLst>
            </a:custGeom>
            <a:noFill/>
            <a:ln w="50800" cap="rnd">
              <a:solidFill>
                <a:srgbClr val="2563B0"/>
              </a:solidFill>
              <a:round/>
              <a:tailEnd type="triangle" w="med" len="med"/>
            </a:ln>
          </p:spPr>
        </p:sp>
        <p:sp>
          <p:nvSpPr>
            <p:cNvPr id="69" name="Forma 70"/>
            <p:cNvSpPr txBox="1"/>
            <p:nvPr/>
          </p:nvSpPr>
          <p:spPr>
            <a:xfrm>
              <a:off x="6858000" y="1371600"/>
              <a:ext cx="109728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2563B0"/>
                  </a:solidFill>
                  <a:latin typeface="Bahnschrift SemiBold Condensed"/>
                  <a:ea typeface="Bahnschrift SemiBold Condensed"/>
                  <a:cs typeface="Bahnschrift SemiBold Condensed"/>
                  <a:sym typeface="Bahnschrift SemiBold Condensed"/>
                </a:rPr>
                <a:t>VLDL ↑</a:t>
              </a:r>
              <a:endParaRPr lang="es-AR" sz="1200" dirty="0">
                <a:latin typeface="Bahnschrift SemiBold Condensed"/>
              </a:endParaRPr>
            </a:p>
          </p:txBody>
        </p:sp>
      </p:grpSp>
      <p:sp>
        <p:nvSpPr>
          <p:cNvPr id="70" name="Forma 71"/>
          <p:cNvSpPr/>
          <p:nvPr/>
        </p:nvSpPr>
        <p:spPr>
          <a:xfrm>
            <a:off x="365760" y="3291840"/>
            <a:ext cx="2103120" cy="11887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Lipólisis adiposa </a:t>
            </a:r>
            <a:r>
              <a:rPr lang="es-AR" sz="1350" b="1" dirty="0">
                <a:solidFill>
                  <a:srgbClr val="1E1E1E"/>
                </a:solidFill>
                <a:latin typeface="Bahnschrift"/>
                <a:ea typeface="Bahnschrift"/>
                <a:cs typeface="Bahnschrift"/>
                <a:sym typeface="Bahnschrift"/>
              </a:rPr>
              <a:t>mal suprimida</a:t>
            </a:r>
            <a:endParaRPr lang="es-AR" sz="1350" dirty="0">
              <a:latin typeface="Bahnschrift"/>
            </a:endParaRPr>
          </a:p>
        </p:txBody>
      </p:sp>
      <p:sp>
        <p:nvSpPr>
          <p:cNvPr id="71" name="Flecha 72_2"/>
          <p:cNvSpPr/>
          <p:nvPr/>
        </p:nvSpPr>
        <p:spPr>
          <a:xfrm>
            <a:off x="2505456" y="3886200"/>
            <a:ext cx="155448" cy="9144"/>
          </a:xfrm>
          <a:custGeom>
            <a:avLst/>
            <a:gdLst/>
            <a:ahLst/>
            <a:cxnLst/>
            <a:rect l="0" t="0" r="r" b="b"/>
            <a:pathLst>
              <a:path w="169" h="10" fill="none">
                <a:moveTo>
                  <a:pt x="0" y="0"/>
                </a:moveTo>
                <a:lnTo>
                  <a:pt x="169" y="0"/>
                </a:lnTo>
              </a:path>
            </a:pathLst>
          </a:custGeom>
          <a:noFill/>
          <a:ln w="31750" cap="rnd">
            <a:solidFill>
              <a:srgbClr val="C00000"/>
            </a:solidFill>
            <a:round/>
            <a:tailEnd type="triangle" w="med" len="med"/>
          </a:ln>
        </p:spPr>
      </p:sp>
      <p:sp>
        <p:nvSpPr>
          <p:cNvPr id="72" name="Forma 74"/>
          <p:cNvSpPr/>
          <p:nvPr/>
        </p:nvSpPr>
        <p:spPr>
          <a:xfrm>
            <a:off x="2697480" y="3291840"/>
            <a:ext cx="2103120" cy="11887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AG portal → hígado</a:t>
            </a:r>
            <a:endParaRPr lang="es-AR" sz="1350" dirty="0">
              <a:latin typeface="Bahnschrift"/>
            </a:endParaRPr>
          </a:p>
        </p:txBody>
      </p:sp>
      <p:sp>
        <p:nvSpPr>
          <p:cNvPr id="73" name="Flecha 75_2"/>
          <p:cNvSpPr/>
          <p:nvPr/>
        </p:nvSpPr>
        <p:spPr>
          <a:xfrm>
            <a:off x="4837176" y="3886200"/>
            <a:ext cx="155448" cy="9144"/>
          </a:xfrm>
          <a:custGeom>
            <a:avLst/>
            <a:gdLst/>
            <a:ahLst/>
            <a:cxnLst/>
            <a:rect l="0" t="0" r="r" b="b"/>
            <a:pathLst>
              <a:path w="169" h="10" fill="none">
                <a:moveTo>
                  <a:pt x="0" y="0"/>
                </a:moveTo>
                <a:lnTo>
                  <a:pt x="169" y="0"/>
                </a:lnTo>
              </a:path>
            </a:pathLst>
          </a:custGeom>
          <a:noFill/>
          <a:ln w="31750" cap="rnd">
            <a:solidFill>
              <a:srgbClr val="C00000"/>
            </a:solidFill>
            <a:round/>
            <a:tailEnd type="triangle" w="med" len="med"/>
          </a:ln>
        </p:spPr>
      </p:sp>
      <p:sp>
        <p:nvSpPr>
          <p:cNvPr id="74" name="Forma 77"/>
          <p:cNvSpPr/>
          <p:nvPr/>
        </p:nvSpPr>
        <p:spPr>
          <a:xfrm>
            <a:off x="5029200" y="3291840"/>
            <a:ext cx="2103120" cy="11887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Reesterificación + </a:t>
            </a:r>
            <a:r>
              <a:rPr lang="es-AR" sz="1350" b="1" dirty="0">
                <a:solidFill>
                  <a:srgbClr val="1E1E1E"/>
                </a:solidFill>
                <a:latin typeface="Bahnschrift"/>
                <a:ea typeface="Bahnschrift"/>
                <a:cs typeface="Bahnschrift"/>
                <a:sym typeface="Bahnschrift"/>
              </a:rPr>
              <a:t>DNL</a:t>
            </a:r>
            <a:r>
              <a:rPr lang="es-AR" sz="1350" dirty="0">
                <a:solidFill>
                  <a:srgbClr val="1E1E1E"/>
                </a:solidFill>
                <a:latin typeface="Bahnschrift"/>
                <a:ea typeface="Bahnschrift"/>
                <a:cs typeface="Bahnschrift"/>
                <a:sym typeface="Bahnschrift"/>
              </a:rPr>
              <a:t> ↑</a:t>
            </a:r>
            <a:endParaRPr lang="es-AR" sz="1350" dirty="0">
              <a:latin typeface="Bahnschrift"/>
            </a:endParaRPr>
          </a:p>
        </p:txBody>
      </p:sp>
      <p:sp>
        <p:nvSpPr>
          <p:cNvPr id="75" name="Flecha 78_2"/>
          <p:cNvSpPr/>
          <p:nvPr/>
        </p:nvSpPr>
        <p:spPr>
          <a:xfrm>
            <a:off x="7168896" y="3886200"/>
            <a:ext cx="155448" cy="9144"/>
          </a:xfrm>
          <a:custGeom>
            <a:avLst/>
            <a:gdLst/>
            <a:ahLst/>
            <a:cxnLst/>
            <a:rect l="0" t="0" r="r" b="b"/>
            <a:pathLst>
              <a:path w="170" h="10" fill="none">
                <a:moveTo>
                  <a:pt x="0" y="0"/>
                </a:moveTo>
                <a:lnTo>
                  <a:pt x="170" y="0"/>
                </a:lnTo>
              </a:path>
            </a:pathLst>
          </a:custGeom>
          <a:noFill/>
          <a:ln w="31750" cap="rnd">
            <a:solidFill>
              <a:srgbClr val="C00000"/>
            </a:solidFill>
            <a:round/>
            <a:tailEnd type="triangle" w="med" len="med"/>
          </a:ln>
        </p:spPr>
      </p:sp>
      <p:sp>
        <p:nvSpPr>
          <p:cNvPr id="76" name="Forma 80"/>
          <p:cNvSpPr/>
          <p:nvPr/>
        </p:nvSpPr>
        <p:spPr>
          <a:xfrm>
            <a:off x="7360920" y="3291840"/>
            <a:ext cx="2103120" cy="11887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b="1" dirty="0">
                <a:solidFill>
                  <a:srgbClr val="1E1E1E"/>
                </a:solidFill>
                <a:latin typeface="Bahnschrift"/>
                <a:ea typeface="Bahnschrift"/>
                <a:cs typeface="Bahnschrift"/>
                <a:sym typeface="Bahnschrift"/>
              </a:rPr>
              <a:t>VLDL ↑</a:t>
            </a:r>
            <a:r>
              <a:rPr lang="es-AR" sz="1350" dirty="0">
                <a:solidFill>
                  <a:srgbClr val="1E1E1E"/>
                </a:solidFill>
                <a:latin typeface="Bahnschrift"/>
                <a:ea typeface="Bahnschrift"/>
                <a:cs typeface="Bahnschrift"/>
                <a:sym typeface="Bahnschrift"/>
              </a:rPr>
              <a:t> y ↓ depuración</a:t>
            </a:r>
            <a:endParaRPr lang="es-AR" sz="1350" dirty="0">
              <a:latin typeface="Bahnschrift"/>
            </a:endParaRPr>
          </a:p>
        </p:txBody>
      </p:sp>
      <p:sp>
        <p:nvSpPr>
          <p:cNvPr id="77" name="Flecha 81_2"/>
          <p:cNvSpPr/>
          <p:nvPr/>
        </p:nvSpPr>
        <p:spPr>
          <a:xfrm>
            <a:off x="9500616" y="3886200"/>
            <a:ext cx="155448" cy="9144"/>
          </a:xfrm>
          <a:custGeom>
            <a:avLst/>
            <a:gdLst/>
            <a:ahLst/>
            <a:cxnLst/>
            <a:rect l="0" t="0" r="r" b="b"/>
            <a:pathLst>
              <a:path w="170" h="10" fill="none">
                <a:moveTo>
                  <a:pt x="0" y="0"/>
                </a:moveTo>
                <a:lnTo>
                  <a:pt x="170" y="0"/>
                </a:lnTo>
              </a:path>
            </a:pathLst>
          </a:custGeom>
          <a:noFill/>
          <a:ln w="31750" cap="rnd">
            <a:solidFill>
              <a:srgbClr val="C00000"/>
            </a:solidFill>
            <a:round/>
            <a:tailEnd type="triangle" w="med" len="med"/>
          </a:ln>
        </p:spPr>
      </p:sp>
      <p:sp>
        <p:nvSpPr>
          <p:cNvPr id="78" name="Forma 83"/>
          <p:cNvSpPr/>
          <p:nvPr/>
        </p:nvSpPr>
        <p:spPr>
          <a:xfrm>
            <a:off x="9692640" y="3291840"/>
            <a:ext cx="2103120" cy="118872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54864" tIns="36576" rIns="54864" bIns="36576" anchor="ctr" rtlCol="0">
            <a:noAutofit/>
          </a:bodyPr>
          <a:lstStyle/>
          <a:p>
            <a:pPr algn="ctr">
              <a:spcAft>
                <a:spcPts val="300"/>
              </a:spcAft>
              <a:buNone/>
            </a:pPr>
            <a:r>
              <a:rPr lang="es-AR" sz="1350" b="1" dirty="0">
                <a:solidFill>
                  <a:srgbClr val="FFFFFF"/>
                </a:solidFill>
                <a:latin typeface="Bahnschrift"/>
                <a:ea typeface="Bahnschrift"/>
                <a:cs typeface="Bahnschrift"/>
                <a:sym typeface="Bahnschrift"/>
              </a:rPr>
              <a:t>Hipertrigliceridemia</a:t>
            </a:r>
            <a:endParaRPr lang="es-AR" sz="1350" dirty="0">
              <a:latin typeface="Bahnschrift"/>
            </a:endParaRPr>
          </a:p>
        </p:txBody>
      </p:sp>
      <p:sp>
        <p:nvSpPr>
          <p:cNvPr id="79" name="Forma 84"/>
          <p:cNvSpPr/>
          <p:nvPr/>
        </p:nvSpPr>
        <p:spPr>
          <a:xfrm>
            <a:off x="365760" y="4709160"/>
            <a:ext cx="11430000" cy="13258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50" b="1" dirty="0">
                <a:solidFill>
                  <a:srgbClr val="1E1E1E"/>
                </a:solidFill>
                <a:latin typeface="Bahnschrift"/>
                <a:ea typeface="Bahnschrift"/>
                <a:cs typeface="Bahnschrift"/>
                <a:sym typeface="Bahnschrift"/>
              </a:rPr>
              <a:t>CETP</a:t>
            </a:r>
            <a:r>
              <a:rPr lang="es-AR" sz="1650" dirty="0">
                <a:solidFill>
                  <a:srgbClr val="1E1E1E"/>
                </a:solidFill>
                <a:latin typeface="Bahnschrift"/>
                <a:ea typeface="Bahnschrift"/>
                <a:cs typeface="Bahnschrift"/>
                <a:sym typeface="Bahnschrift"/>
              </a:rPr>
              <a:t> redistribuye TAG y colesterol esterificado; la </a:t>
            </a:r>
            <a:r>
              <a:rPr lang="es-AR" sz="1650" b="1" dirty="0">
                <a:solidFill>
                  <a:srgbClr val="1E1E1E"/>
                </a:solidFill>
                <a:latin typeface="Bahnschrift"/>
                <a:ea typeface="Bahnschrift"/>
                <a:cs typeface="Bahnschrift"/>
                <a:sym typeface="Bahnschrift"/>
              </a:rPr>
              <a:t>lipasa hepática</a:t>
            </a:r>
            <a:r>
              <a:rPr lang="es-AR" sz="1650" dirty="0">
                <a:solidFill>
                  <a:srgbClr val="1E1E1E"/>
                </a:solidFill>
                <a:latin typeface="Bahnschrift"/>
                <a:ea typeface="Bahnschrift"/>
                <a:cs typeface="Bahnschrift"/>
                <a:sym typeface="Bahnschrift"/>
              </a:rPr>
              <a:t> remodela HDL/LDL (→ HDL bajo, LDL pequeñas). </a:t>
            </a:r>
            <a:r>
              <a:rPr lang="es-AR" sz="1650" b="1" dirty="0">
                <a:solidFill>
                  <a:srgbClr val="1E1E1E"/>
                </a:solidFill>
                <a:latin typeface="Bahnschrift"/>
                <a:ea typeface="Bahnschrift"/>
                <a:cs typeface="Bahnschrift"/>
                <a:sym typeface="Bahnschrift"/>
              </a:rPr>
              <a:t>Tratar la etiología</a:t>
            </a:r>
            <a:r>
              <a:rPr lang="es-AR" sz="1650" dirty="0">
                <a:solidFill>
                  <a:srgbClr val="1E1E1E"/>
                </a:solidFill>
                <a:latin typeface="Bahnschrift"/>
                <a:ea typeface="Bahnschrift"/>
                <a:cs typeface="Bahnschrift"/>
                <a:sym typeface="Bahnschrift"/>
              </a:rPr>
              <a:t> reduce la producción y/o mejora la depuración.</a:t>
            </a:r>
            <a:endParaRPr lang="es-AR" sz="1650" dirty="0">
              <a:latin typeface="Bahnschrift"/>
            </a:endParaRPr>
          </a:p>
        </p:txBody>
      </p:sp>
      <p:sp>
        <p:nvSpPr>
          <p:cNvPr id="2" name="Etiqueta sección"/>
          <p:cNvSpPr/>
          <p:nvPr/>
        </p:nvSpPr>
        <p:spPr>
          <a:xfrm>
            <a:off x="9672915" y="201168"/>
            <a:ext cx="224446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6 · TRIGLICÉRIDOS</a:t>
            </a:r>
            <a:endParaRPr lang="es-AR" sz="1300" dirty="0">
              <a:latin typeface="Bahnschrift SemiBold Condensed"/>
            </a:endParaRPr>
          </a:p>
        </p:txBody>
      </p:sp>
      <p:sp>
        <p:nvSpPr>
          <p:cNvPr id="3" name="Título"/>
          <p:cNvSpPr/>
          <p:nvPr/>
        </p:nvSpPr>
        <p:spPr>
          <a:xfrm>
            <a:off x="274320" y="146304"/>
            <a:ext cx="788224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P6 · RESISTENCIA INSULÍNICA: EL MECANISMO INTEGRADOR</a:t>
            </a:r>
            <a:endParaRPr lang="es-AR" sz="2600" dirty="0">
              <a:latin typeface="Bahnschrift SemiBold Condensed"/>
            </a:endParaRPr>
          </a:p>
        </p:txBody>
      </p:sp>
      <p:sp>
        <p:nvSpPr>
          <p:cNvPr id="8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64"/>
                                        </p:tgtEl>
                                        <p:attrNameLst>
                                          <p:attrName>style.visibility</p:attrName>
                                        </p:attrNameLst>
                                      </p:cBhvr>
                                      <p:to>
                                        <p:strVal val="visible"/>
                                      </p:to>
                                    </p:set>
                                    <p:animEffect transition="in" filter="wipe(left)">
                                      <p:cBhvr>
                                        <p:cTn id="5" dur="600"/>
                                        <p:tgtEl>
                                          <p:spTgt spid="64"/>
                                        </p:tgtEl>
                                      </p:cBhvr>
                                    </p:animEffect>
                                  </p:childTnLst>
                                </p:cTn>
                              </p:par>
                            </p:childTnLst>
                          </p:cTn>
                        </p:par>
                      </p:childTnLst>
                    </p:cTn>
                  </p:par>
                  <p:par>
                    <p:cTn id="12"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67"/>
                                        </p:tgtEl>
                                        <p:attrNameLst>
                                          <p:attrName>style.visibility</p:attrName>
                                        </p:attrNameLst>
                                      </p:cBhvr>
                                      <p:to>
                                        <p:strVal val="visible"/>
                                      </p:to>
                                    </p:set>
                                    <p:animEffect transition="in" filter="wipe(left)">
                                      <p:cBhvr>
                                        <p:cTn id="10" dur="600"/>
                                        <p:tgtEl>
                                          <p:spTgt spid="67"/>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500"/>
                                        <p:tgtEl>
                                          <p:spTgt spid="70"/>
                                        </p:tgtEl>
                                      </p:cBhvr>
                                    </p:animEffect>
                                  </p:childTnLst>
                                </p:cTn>
                              </p:par>
                            </p:childTnLst>
                          </p:cTn>
                        </p:par>
                      </p:childTnLst>
                    </p:cTn>
                  </p:par>
                  <p:par>
                    <p:cTn id="26" fill="hold">
                      <p:stCondLst>
                        <p:cond delay="indefinite"/>
                      </p:stCondLst>
                      <p:childTnLst>
                        <p:par>
                          <p:cTn id="21"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71"/>
                                        </p:tgtEl>
                                        <p:attrNameLst>
                                          <p:attrName>style.visibility</p:attrName>
                                        </p:attrNameLst>
                                      </p:cBhvr>
                                      <p:to>
                                        <p:strVal val="visible"/>
                                      </p:to>
                                    </p:set>
                                    <p:animEffect transition="in" filter="wipe(left)">
                                      <p:cBhvr>
                                        <p:cTn id="20" dur="600"/>
                                        <p:tgtEl>
                                          <p:spTgt spid="71"/>
                                        </p:tgtEl>
                                      </p:cBhvr>
                                    </p:animEffect>
                                  </p:childTnLst>
                                </p:cTn>
                              </p:par>
                            </p:childTnLst>
                          </p:cTn>
                        </p:par>
                        <p:par>
                          <p:cTn id="25" fill="hold">
                            <p:stCondLst>
                              <p:cond delay="600"/>
                            </p:stCondLst>
                            <p:childTnLst>
                              <p:par>
                                <p:cTn id="22" presetID="10" presetClass="entr" presetSubtype="0" fill="hold" grpId="0" nodeType="afterEffect">
                                  <p:stCondLst>
                                    <p:cond delay="0"/>
                                  </p:stCondLst>
                                  <p:childTnLst>
                                    <p:set>
                                      <p:cBhvr>
                                        <p:cTn id="23" dur="1" fill="hold">
                                          <p:stCondLst>
                                            <p:cond delay="0"/>
                                          </p:stCondLst>
                                        </p:cTn>
                                        <p:tgtEl>
                                          <p:spTgt spid="72"/>
                                        </p:tgtEl>
                                        <p:attrNameLst>
                                          <p:attrName>style.visibility</p:attrName>
                                        </p:attrNameLst>
                                      </p:cBhvr>
                                      <p:to>
                                        <p:strVal val="visible"/>
                                      </p:to>
                                    </p:set>
                                    <p:animEffect transition="in" filter="fade">
                                      <p:cBhvr>
                                        <p:cTn id="24" dur="500"/>
                                        <p:tgtEl>
                                          <p:spTgt spid="72"/>
                                        </p:tgtEl>
                                      </p:cBhvr>
                                    </p:animEffect>
                                  </p:childTnLst>
                                </p:cTn>
                              </p:par>
                            </p:childTnLst>
                          </p:cTn>
                        </p:par>
                      </p:childTnLst>
                    </p:cTn>
                  </p:par>
                  <p:par>
                    <p:cTn id="35" fill="hold">
                      <p:stCondLst>
                        <p:cond delay="indefinite"/>
                      </p:stCondLst>
                      <p:childTnLst>
                        <p:par>
                          <p:cTn id="30"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73"/>
                                        </p:tgtEl>
                                        <p:attrNameLst>
                                          <p:attrName>style.visibility</p:attrName>
                                        </p:attrNameLst>
                                      </p:cBhvr>
                                      <p:to>
                                        <p:strVal val="visible"/>
                                      </p:to>
                                    </p:set>
                                    <p:animEffect transition="in" filter="wipe(left)">
                                      <p:cBhvr>
                                        <p:cTn id="29" dur="600"/>
                                        <p:tgtEl>
                                          <p:spTgt spid="73"/>
                                        </p:tgtEl>
                                      </p:cBhvr>
                                    </p:animEffect>
                                  </p:childTnLst>
                                </p:cTn>
                              </p:par>
                            </p:childTnLst>
                          </p:cTn>
                        </p:par>
                        <p:par>
                          <p:cTn id="34" fill="hold">
                            <p:stCondLst>
                              <p:cond delay="600"/>
                            </p:stCondLst>
                            <p:childTnLst>
                              <p:par>
                                <p:cTn id="31" presetID="10" presetClass="entr" presetSubtype="0" fill="hold" grpId="0" nodeType="afterEffect">
                                  <p:stCondLst>
                                    <p:cond delay="0"/>
                                  </p:stCondLst>
                                  <p:childTnLst>
                                    <p:set>
                                      <p:cBhvr>
                                        <p:cTn id="32" dur="1" fill="hold">
                                          <p:stCondLst>
                                            <p:cond delay="0"/>
                                          </p:stCondLst>
                                        </p:cTn>
                                        <p:tgtEl>
                                          <p:spTgt spid="74"/>
                                        </p:tgtEl>
                                        <p:attrNameLst>
                                          <p:attrName>style.visibility</p:attrName>
                                        </p:attrNameLst>
                                      </p:cBhvr>
                                      <p:to>
                                        <p:strVal val="visible"/>
                                      </p:to>
                                    </p:set>
                                    <p:animEffect transition="in" filter="fade">
                                      <p:cBhvr>
                                        <p:cTn id="33" dur="500"/>
                                        <p:tgtEl>
                                          <p:spTgt spid="74"/>
                                        </p:tgtEl>
                                      </p:cBhvr>
                                    </p:animEffect>
                                  </p:childTnLst>
                                </p:cTn>
                              </p:par>
                            </p:childTnLst>
                          </p:cTn>
                        </p:par>
                      </p:childTnLst>
                    </p:cTn>
                  </p:par>
                  <p:par>
                    <p:cTn id="44" fill="hold">
                      <p:stCondLst>
                        <p:cond delay="indefinite"/>
                      </p:stCondLst>
                      <p:childTnLst>
                        <p:par>
                          <p:cTn id="39"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75"/>
                                        </p:tgtEl>
                                        <p:attrNameLst>
                                          <p:attrName>style.visibility</p:attrName>
                                        </p:attrNameLst>
                                      </p:cBhvr>
                                      <p:to>
                                        <p:strVal val="visible"/>
                                      </p:to>
                                    </p:set>
                                    <p:animEffect transition="in" filter="wipe(left)">
                                      <p:cBhvr>
                                        <p:cTn id="38" dur="600"/>
                                        <p:tgtEl>
                                          <p:spTgt spid="75"/>
                                        </p:tgtEl>
                                      </p:cBhvr>
                                    </p:animEffect>
                                  </p:childTnLst>
                                </p:cTn>
                              </p:par>
                            </p:childTnLst>
                          </p:cTn>
                        </p:par>
                        <p:par>
                          <p:cTn id="43" fill="hold">
                            <p:stCondLst>
                              <p:cond delay="600"/>
                            </p:stCondLst>
                            <p:childTnLst>
                              <p:par>
                                <p:cTn id="40" presetID="10" presetClass="entr" presetSubtype="0" fill="hold" grpId="0" nodeType="afterEffect">
                                  <p:stCondLst>
                                    <p:cond delay="0"/>
                                  </p:stCondLst>
                                  <p:childTnLst>
                                    <p:set>
                                      <p:cBhvr>
                                        <p:cTn id="41" dur="1" fill="hold">
                                          <p:stCondLst>
                                            <p:cond delay="0"/>
                                          </p:stCondLst>
                                        </p:cTn>
                                        <p:tgtEl>
                                          <p:spTgt spid="76"/>
                                        </p:tgtEl>
                                        <p:attrNameLst>
                                          <p:attrName>style.visibility</p:attrName>
                                        </p:attrNameLst>
                                      </p:cBhvr>
                                      <p:to>
                                        <p:strVal val="visible"/>
                                      </p:to>
                                    </p:set>
                                    <p:animEffect transition="in" filter="fade">
                                      <p:cBhvr>
                                        <p:cTn id="42" dur="500"/>
                                        <p:tgtEl>
                                          <p:spTgt spid="76"/>
                                        </p:tgtEl>
                                      </p:cBhvr>
                                    </p:animEffect>
                                  </p:childTnLst>
                                </p:cTn>
                              </p:par>
                            </p:childTnLst>
                          </p:cTn>
                        </p:par>
                      </p:childTnLst>
                    </p:cTn>
                  </p:par>
                  <p:par>
                    <p:cTn id="53" fill="hold">
                      <p:stCondLst>
                        <p:cond delay="indefinite"/>
                      </p:stCondLst>
                      <p:childTnLst>
                        <p:par>
                          <p:cTn id="48"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wipe(left)">
                                      <p:cBhvr>
                                        <p:cTn id="47" dur="600"/>
                                        <p:tgtEl>
                                          <p:spTgt spid="77"/>
                                        </p:tgtEl>
                                      </p:cBhvr>
                                    </p:animEffect>
                                  </p:childTnLst>
                                </p:cTn>
                              </p:par>
                            </p:childTnLst>
                          </p:cTn>
                        </p:par>
                        <p:par>
                          <p:cTn id="52" fill="hold">
                            <p:stCondLst>
                              <p:cond delay="600"/>
                            </p:stCondLst>
                            <p:childTnLst>
                              <p:par>
                                <p:cTn id="49" presetID="10" presetClass="entr" presetSubtype="0" fill="hold" grpId="0" nodeType="afterEffect">
                                  <p:stCondLst>
                                    <p:cond delay="0"/>
                                  </p:stCondLst>
                                  <p:childTnLst>
                                    <p:set>
                                      <p:cBhvr>
                                        <p:cTn id="50" dur="1" fill="hold">
                                          <p:stCondLst>
                                            <p:cond delay="0"/>
                                          </p:stCondLst>
                                        </p:cTn>
                                        <p:tgtEl>
                                          <p:spTgt spid="78"/>
                                        </p:tgtEl>
                                        <p:attrNameLst>
                                          <p:attrName>style.visibility</p:attrName>
                                        </p:attrNameLst>
                                      </p:cBhvr>
                                      <p:to>
                                        <p:strVal val="visible"/>
                                      </p:to>
                                    </p:set>
                                    <p:animEffect transition="in" filter="fade">
                                      <p:cBhvr>
                                        <p:cTn id="51" dur="500"/>
                                        <p:tgtEl>
                                          <p:spTgt spid="78"/>
                                        </p:tgtEl>
                                      </p:cBhvr>
                                    </p:animEffect>
                                  </p:childTnLst>
                                </p:cTn>
                              </p:par>
                            </p:childTnLst>
                          </p:cTn>
                        </p:par>
                      </p:childTnLst>
                    </p:cTn>
                  </p:par>
                  <p:par>
                    <p:cTn id="58" fill="hold">
                      <p:stCondLst>
                        <p:cond delay="indefinite"/>
                      </p:stCondLst>
                      <p:childTnLst>
                        <p:par>
                          <p:cTn id="57"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79"/>
                                        </p:tgtEl>
                                        <p:attrNameLst>
                                          <p:attrName>style.visibility</p:attrName>
                                        </p:attrNameLst>
                                      </p:cBhvr>
                                      <p:to>
                                        <p:strVal val="visible"/>
                                      </p:to>
                                    </p:set>
                                    <p:animEffect transition="in" filter="fade">
                                      <p:cBhvr>
                                        <p:cTn id="56"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Lst>
  </p:timing>
</p:sld>
</file>

<file path=ppt/slides/slide189.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Intestino"/>
          <p:cNvGrpSpPr/>
          <p:nvPr/>
        </p:nvGrpSpPr>
        <p:grpSpPr>
          <a:xfrm>
            <a:off x="365760" y="1097280"/>
            <a:ext cx="2011680" cy="1709928"/>
            <a:chOff x="365760" y="1097280"/>
            <a:chExt cx="2011680" cy="1709928"/>
          </a:xfrm>
        </p:grpSpPr>
        <p:sp>
          <p:nvSpPr>
            <p:cNvPr id="14" name="Forma 13"/>
            <p:cNvSpPr/>
            <p:nvPr/>
          </p:nvSpPr>
          <p:spPr>
            <a:xfrm>
              <a:off x="365760" y="1097280"/>
              <a:ext cx="2011680" cy="170992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5" name="Forma 14"/>
            <p:cNvSpPr/>
            <p:nvPr/>
          </p:nvSpPr>
          <p:spPr>
            <a:xfrm>
              <a:off x="365760" y="1097280"/>
              <a:ext cx="2011680" cy="1709928"/>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16" name="Forma 15"/>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17" name="Forma 16"/>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18" name="Forma 17"/>
            <p:cNvSpPr/>
            <p:nvPr/>
          </p:nvSpPr>
          <p:spPr>
            <a:xfrm>
              <a:off x="365760" y="1097280"/>
              <a:ext cx="2011680" cy="1709928"/>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19" name="Hígado"/>
          <p:cNvGrpSpPr/>
          <p:nvPr/>
        </p:nvGrpSpPr>
        <p:grpSpPr>
          <a:xfrm>
            <a:off x="2743200" y="1097280"/>
            <a:ext cx="2560320" cy="1809634"/>
            <a:chOff x="2743200" y="1097280"/>
            <a:chExt cx="2560320" cy="1809634"/>
          </a:xfrm>
        </p:grpSpPr>
        <p:sp>
          <p:nvSpPr>
            <p:cNvPr id="20" name="Vesícula biliar"/>
            <p:cNvSpPr/>
            <p:nvPr/>
          </p:nvSpPr>
          <p:spPr>
            <a:xfrm>
              <a:off x="3434486" y="2335451"/>
              <a:ext cx="332842" cy="571463"/>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1" name="Forma 20"/>
            <p:cNvSpPr/>
            <p:nvPr/>
          </p:nvSpPr>
          <p:spPr>
            <a:xfrm>
              <a:off x="2743200" y="1097280"/>
              <a:ext cx="2560320" cy="1587398"/>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2" name="Forma 21"/>
            <p:cNvSpPr/>
            <p:nvPr/>
          </p:nvSpPr>
          <p:spPr>
            <a:xfrm>
              <a:off x="2743200" y="1097280"/>
              <a:ext cx="2560320" cy="1587398"/>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3" name="Forma 22"/>
            <p:cNvSpPr/>
            <p:nvPr/>
          </p:nvSpPr>
          <p:spPr>
            <a:xfrm>
              <a:off x="2743200" y="1097280"/>
              <a:ext cx="2560320" cy="1587398"/>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4" name="Músculo"/>
          <p:cNvGrpSpPr/>
          <p:nvPr/>
        </p:nvGrpSpPr>
        <p:grpSpPr>
          <a:xfrm>
            <a:off x="365760" y="3840480"/>
            <a:ext cx="2560320" cy="839785"/>
            <a:chOff x="365760" y="3840480"/>
            <a:chExt cx="2560320" cy="839785"/>
          </a:xfrm>
        </p:grpSpPr>
        <p:grpSp>
          <p:nvGrpSpPr>
            <p:cNvPr id="25" name="Fibra"/>
            <p:cNvGrpSpPr/>
            <p:nvPr/>
          </p:nvGrpSpPr>
          <p:grpSpPr>
            <a:xfrm>
              <a:off x="365760" y="3840480"/>
              <a:ext cx="2457907" cy="409651"/>
              <a:chOff x="365760" y="3840480"/>
              <a:chExt cx="2457907" cy="409651"/>
            </a:xfrm>
          </p:grpSpPr>
          <p:sp>
            <p:nvSpPr>
              <p:cNvPr id="26" name="Forma 25"/>
              <p:cNvSpPr/>
              <p:nvPr/>
            </p:nvSpPr>
            <p:spPr>
              <a:xfrm>
                <a:off x="365760" y="3840480"/>
                <a:ext cx="2457907" cy="409651"/>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7" name="Forma 26"/>
              <p:cNvSpPr/>
              <p:nvPr/>
            </p:nvSpPr>
            <p:spPr>
              <a:xfrm>
                <a:off x="468173" y="3840480"/>
                <a:ext cx="2253082" cy="409651"/>
              </a:xfrm>
              <a:custGeom>
                <a:avLst/>
                <a:gdLst/>
                <a:ahLst/>
                <a:cxnLst/>
                <a:rect l="0" t="0" r="r" b="b"/>
                <a:pathLst>
                  <a:path w="1000" h="1000" fill="none">
                    <a:moveTo>
                      <a:pt x="17" y="80"/>
                    </a:moveTo>
                    <a:lnTo>
                      <a:pt x="17" y="920"/>
                    </a:lnTo>
                  </a:path>
                  <a:path w="1000" h="1000" fill="none">
                    <a:moveTo>
                      <a:pt x="51" y="80"/>
                    </a:moveTo>
                    <a:lnTo>
                      <a:pt x="51" y="920"/>
                    </a:lnTo>
                  </a:path>
                  <a:path w="1000" h="1000" fill="none">
                    <a:moveTo>
                      <a:pt x="86" y="80"/>
                    </a:moveTo>
                    <a:lnTo>
                      <a:pt x="86" y="920"/>
                    </a:lnTo>
                  </a:path>
                  <a:path w="1000" h="1000" fill="none">
                    <a:moveTo>
                      <a:pt x="120" y="80"/>
                    </a:moveTo>
                    <a:lnTo>
                      <a:pt x="120" y="920"/>
                    </a:lnTo>
                  </a:path>
                  <a:path w="1000" h="1000" fill="none">
                    <a:moveTo>
                      <a:pt x="155" y="80"/>
                    </a:moveTo>
                    <a:lnTo>
                      <a:pt x="155" y="920"/>
                    </a:lnTo>
                  </a:path>
                  <a:path w="1000" h="1000" fill="none">
                    <a:moveTo>
                      <a:pt x="189" y="80"/>
                    </a:moveTo>
                    <a:lnTo>
                      <a:pt x="189" y="920"/>
                    </a:lnTo>
                  </a:path>
                  <a:path w="1000" h="1000" fill="none">
                    <a:moveTo>
                      <a:pt x="224" y="80"/>
                    </a:moveTo>
                    <a:lnTo>
                      <a:pt x="224" y="920"/>
                    </a:lnTo>
                  </a:path>
                  <a:path w="1000" h="1000" fill="none">
                    <a:moveTo>
                      <a:pt x="258" y="80"/>
                    </a:moveTo>
                    <a:lnTo>
                      <a:pt x="258" y="920"/>
                    </a:lnTo>
                  </a:path>
                  <a:path w="1000" h="1000" fill="none">
                    <a:moveTo>
                      <a:pt x="293" y="80"/>
                    </a:moveTo>
                    <a:lnTo>
                      <a:pt x="293" y="920"/>
                    </a:lnTo>
                  </a:path>
                  <a:path w="1000" h="1000" fill="none">
                    <a:moveTo>
                      <a:pt x="327" y="80"/>
                    </a:moveTo>
                    <a:lnTo>
                      <a:pt x="327" y="920"/>
                    </a:lnTo>
                  </a:path>
                  <a:path w="1000" h="1000" fill="none">
                    <a:moveTo>
                      <a:pt x="362" y="80"/>
                    </a:moveTo>
                    <a:lnTo>
                      <a:pt x="362" y="920"/>
                    </a:lnTo>
                  </a:path>
                  <a:path w="1000" h="1000" fill="none">
                    <a:moveTo>
                      <a:pt x="396" y="80"/>
                    </a:moveTo>
                    <a:lnTo>
                      <a:pt x="396" y="920"/>
                    </a:lnTo>
                  </a:path>
                  <a:path w="1000" h="1000" fill="none">
                    <a:moveTo>
                      <a:pt x="431" y="80"/>
                    </a:moveTo>
                    <a:lnTo>
                      <a:pt x="431" y="920"/>
                    </a:lnTo>
                  </a:path>
                  <a:path w="1000" h="1000" fill="none">
                    <a:moveTo>
                      <a:pt x="465" y="80"/>
                    </a:moveTo>
                    <a:lnTo>
                      <a:pt x="465" y="920"/>
                    </a:lnTo>
                  </a:path>
                  <a:path w="1000" h="1000" fill="none">
                    <a:moveTo>
                      <a:pt x="500" y="80"/>
                    </a:moveTo>
                    <a:lnTo>
                      <a:pt x="500" y="920"/>
                    </a:lnTo>
                  </a:path>
                  <a:path w="1000" h="1000" fill="none">
                    <a:moveTo>
                      <a:pt x="534" y="80"/>
                    </a:moveTo>
                    <a:lnTo>
                      <a:pt x="534" y="920"/>
                    </a:lnTo>
                  </a:path>
                  <a:path w="1000" h="1000" fill="none">
                    <a:moveTo>
                      <a:pt x="568" y="80"/>
                    </a:moveTo>
                    <a:lnTo>
                      <a:pt x="568" y="920"/>
                    </a:lnTo>
                  </a:path>
                  <a:path w="1000" h="1000" fill="none">
                    <a:moveTo>
                      <a:pt x="603" y="80"/>
                    </a:moveTo>
                    <a:lnTo>
                      <a:pt x="603" y="920"/>
                    </a:lnTo>
                  </a:path>
                  <a:path w="1000" h="1000" fill="none">
                    <a:moveTo>
                      <a:pt x="637" y="80"/>
                    </a:moveTo>
                    <a:lnTo>
                      <a:pt x="637" y="920"/>
                    </a:lnTo>
                  </a:path>
                  <a:path w="1000" h="1000" fill="none">
                    <a:moveTo>
                      <a:pt x="672" y="80"/>
                    </a:moveTo>
                    <a:lnTo>
                      <a:pt x="672" y="920"/>
                    </a:lnTo>
                  </a:path>
                  <a:path w="1000" h="1000" fill="none">
                    <a:moveTo>
                      <a:pt x="706" y="80"/>
                    </a:moveTo>
                    <a:lnTo>
                      <a:pt x="706" y="920"/>
                    </a:lnTo>
                  </a:path>
                  <a:path w="1000" h="1000" fill="none">
                    <a:moveTo>
                      <a:pt x="741" y="80"/>
                    </a:moveTo>
                    <a:lnTo>
                      <a:pt x="741" y="920"/>
                    </a:lnTo>
                  </a:path>
                  <a:path w="1000" h="1000" fill="none">
                    <a:moveTo>
                      <a:pt x="775" y="80"/>
                    </a:moveTo>
                    <a:lnTo>
                      <a:pt x="775" y="920"/>
                    </a:lnTo>
                  </a:path>
                  <a:path w="1000" h="1000" fill="none">
                    <a:moveTo>
                      <a:pt x="810" y="80"/>
                    </a:moveTo>
                    <a:lnTo>
                      <a:pt x="810" y="920"/>
                    </a:lnTo>
                  </a:path>
                  <a:path w="1000" h="1000" fill="none">
                    <a:moveTo>
                      <a:pt x="844" y="80"/>
                    </a:moveTo>
                    <a:lnTo>
                      <a:pt x="844" y="920"/>
                    </a:lnTo>
                  </a:path>
                  <a:path w="1000" h="1000" fill="none">
                    <a:moveTo>
                      <a:pt x="879" y="80"/>
                    </a:moveTo>
                    <a:lnTo>
                      <a:pt x="879" y="920"/>
                    </a:lnTo>
                  </a:path>
                  <a:path w="1000" h="1000" fill="none">
                    <a:moveTo>
                      <a:pt x="913" y="80"/>
                    </a:moveTo>
                    <a:lnTo>
                      <a:pt x="913" y="920"/>
                    </a:lnTo>
                  </a:path>
                  <a:path w="1000" h="1000" fill="none">
                    <a:moveTo>
                      <a:pt x="948" y="80"/>
                    </a:moveTo>
                    <a:lnTo>
                      <a:pt x="948" y="920"/>
                    </a:lnTo>
                  </a:path>
                  <a:path w="1000" h="1000" fill="none">
                    <a:moveTo>
                      <a:pt x="982" y="80"/>
                    </a:moveTo>
                    <a:lnTo>
                      <a:pt x="982" y="920"/>
                    </a:lnTo>
                  </a:path>
                </a:pathLst>
              </a:custGeom>
              <a:noFill/>
              <a:ln w="12700" cap="rnd">
                <a:solidFill>
                  <a:srgbClr val="822E27"/>
                </a:solidFill>
                <a:round/>
              </a:ln>
            </p:spPr>
          </p:sp>
          <p:sp>
            <p:nvSpPr>
              <p:cNvPr id="28" name="Forma 27"/>
              <p:cNvSpPr/>
              <p:nvPr/>
            </p:nvSpPr>
            <p:spPr>
              <a:xfrm>
                <a:off x="857341" y="3856866"/>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9" name="Forma 28"/>
              <p:cNvSpPr/>
              <p:nvPr/>
            </p:nvSpPr>
            <p:spPr>
              <a:xfrm>
                <a:off x="1717609" y="3856866"/>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2454981" y="3856866"/>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2651614" y="3856866"/>
                <a:ext cx="163860" cy="37687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2" name="Fibra_2"/>
            <p:cNvGrpSpPr/>
            <p:nvPr/>
          </p:nvGrpSpPr>
          <p:grpSpPr>
            <a:xfrm>
              <a:off x="468173" y="4270614"/>
              <a:ext cx="2457907" cy="409651"/>
              <a:chOff x="468173" y="4270614"/>
              <a:chExt cx="2457907" cy="409651"/>
            </a:xfrm>
          </p:grpSpPr>
          <p:sp>
            <p:nvSpPr>
              <p:cNvPr id="33" name="Forma 32"/>
              <p:cNvSpPr/>
              <p:nvPr/>
            </p:nvSpPr>
            <p:spPr>
              <a:xfrm>
                <a:off x="468173" y="4270614"/>
                <a:ext cx="2457907" cy="409651"/>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4" name="Forma 33"/>
              <p:cNvSpPr/>
              <p:nvPr/>
            </p:nvSpPr>
            <p:spPr>
              <a:xfrm>
                <a:off x="570586" y="4270614"/>
                <a:ext cx="2253082" cy="409651"/>
              </a:xfrm>
              <a:custGeom>
                <a:avLst/>
                <a:gdLst/>
                <a:ahLst/>
                <a:cxnLst/>
                <a:rect l="0" t="0" r="r" b="b"/>
                <a:pathLst>
                  <a:path w="1000" h="1000" fill="none">
                    <a:moveTo>
                      <a:pt x="17" y="80"/>
                    </a:moveTo>
                    <a:lnTo>
                      <a:pt x="17" y="920"/>
                    </a:lnTo>
                  </a:path>
                  <a:path w="1000" h="1000" fill="none">
                    <a:moveTo>
                      <a:pt x="51" y="80"/>
                    </a:moveTo>
                    <a:lnTo>
                      <a:pt x="51" y="920"/>
                    </a:lnTo>
                  </a:path>
                  <a:path w="1000" h="1000" fill="none">
                    <a:moveTo>
                      <a:pt x="86" y="80"/>
                    </a:moveTo>
                    <a:lnTo>
                      <a:pt x="86" y="920"/>
                    </a:lnTo>
                  </a:path>
                  <a:path w="1000" h="1000" fill="none">
                    <a:moveTo>
                      <a:pt x="120" y="80"/>
                    </a:moveTo>
                    <a:lnTo>
                      <a:pt x="120" y="920"/>
                    </a:lnTo>
                  </a:path>
                  <a:path w="1000" h="1000" fill="none">
                    <a:moveTo>
                      <a:pt x="155" y="80"/>
                    </a:moveTo>
                    <a:lnTo>
                      <a:pt x="155" y="920"/>
                    </a:lnTo>
                  </a:path>
                  <a:path w="1000" h="1000" fill="none">
                    <a:moveTo>
                      <a:pt x="189" y="80"/>
                    </a:moveTo>
                    <a:lnTo>
                      <a:pt x="189" y="920"/>
                    </a:lnTo>
                  </a:path>
                  <a:path w="1000" h="1000" fill="none">
                    <a:moveTo>
                      <a:pt x="224" y="80"/>
                    </a:moveTo>
                    <a:lnTo>
                      <a:pt x="224" y="920"/>
                    </a:lnTo>
                  </a:path>
                  <a:path w="1000" h="1000" fill="none">
                    <a:moveTo>
                      <a:pt x="258" y="80"/>
                    </a:moveTo>
                    <a:lnTo>
                      <a:pt x="258" y="920"/>
                    </a:lnTo>
                  </a:path>
                  <a:path w="1000" h="1000" fill="none">
                    <a:moveTo>
                      <a:pt x="293" y="80"/>
                    </a:moveTo>
                    <a:lnTo>
                      <a:pt x="293" y="920"/>
                    </a:lnTo>
                  </a:path>
                  <a:path w="1000" h="1000" fill="none">
                    <a:moveTo>
                      <a:pt x="327" y="80"/>
                    </a:moveTo>
                    <a:lnTo>
                      <a:pt x="327" y="920"/>
                    </a:lnTo>
                  </a:path>
                  <a:path w="1000" h="1000" fill="none">
                    <a:moveTo>
                      <a:pt x="362" y="80"/>
                    </a:moveTo>
                    <a:lnTo>
                      <a:pt x="362" y="920"/>
                    </a:lnTo>
                  </a:path>
                  <a:path w="1000" h="1000" fill="none">
                    <a:moveTo>
                      <a:pt x="396" y="80"/>
                    </a:moveTo>
                    <a:lnTo>
                      <a:pt x="396" y="920"/>
                    </a:lnTo>
                  </a:path>
                  <a:path w="1000" h="1000" fill="none">
                    <a:moveTo>
                      <a:pt x="431" y="80"/>
                    </a:moveTo>
                    <a:lnTo>
                      <a:pt x="431" y="920"/>
                    </a:lnTo>
                  </a:path>
                  <a:path w="1000" h="1000" fill="none">
                    <a:moveTo>
                      <a:pt x="465" y="80"/>
                    </a:moveTo>
                    <a:lnTo>
                      <a:pt x="465" y="920"/>
                    </a:lnTo>
                  </a:path>
                  <a:path w="1000" h="1000" fill="none">
                    <a:moveTo>
                      <a:pt x="500" y="80"/>
                    </a:moveTo>
                    <a:lnTo>
                      <a:pt x="500" y="920"/>
                    </a:lnTo>
                  </a:path>
                  <a:path w="1000" h="1000" fill="none">
                    <a:moveTo>
                      <a:pt x="534" y="80"/>
                    </a:moveTo>
                    <a:lnTo>
                      <a:pt x="534" y="920"/>
                    </a:lnTo>
                  </a:path>
                  <a:path w="1000" h="1000" fill="none">
                    <a:moveTo>
                      <a:pt x="568" y="80"/>
                    </a:moveTo>
                    <a:lnTo>
                      <a:pt x="568" y="920"/>
                    </a:lnTo>
                  </a:path>
                  <a:path w="1000" h="1000" fill="none">
                    <a:moveTo>
                      <a:pt x="603" y="80"/>
                    </a:moveTo>
                    <a:lnTo>
                      <a:pt x="603" y="920"/>
                    </a:lnTo>
                  </a:path>
                  <a:path w="1000" h="1000" fill="none">
                    <a:moveTo>
                      <a:pt x="637" y="80"/>
                    </a:moveTo>
                    <a:lnTo>
                      <a:pt x="637" y="920"/>
                    </a:lnTo>
                  </a:path>
                  <a:path w="1000" h="1000" fill="none">
                    <a:moveTo>
                      <a:pt x="672" y="80"/>
                    </a:moveTo>
                    <a:lnTo>
                      <a:pt x="672" y="920"/>
                    </a:lnTo>
                  </a:path>
                  <a:path w="1000" h="1000" fill="none">
                    <a:moveTo>
                      <a:pt x="706" y="80"/>
                    </a:moveTo>
                    <a:lnTo>
                      <a:pt x="706" y="920"/>
                    </a:lnTo>
                  </a:path>
                  <a:path w="1000" h="1000" fill="none">
                    <a:moveTo>
                      <a:pt x="741" y="80"/>
                    </a:moveTo>
                    <a:lnTo>
                      <a:pt x="741" y="920"/>
                    </a:lnTo>
                  </a:path>
                  <a:path w="1000" h="1000" fill="none">
                    <a:moveTo>
                      <a:pt x="775" y="80"/>
                    </a:moveTo>
                    <a:lnTo>
                      <a:pt x="775" y="920"/>
                    </a:lnTo>
                  </a:path>
                  <a:path w="1000" h="1000" fill="none">
                    <a:moveTo>
                      <a:pt x="810" y="80"/>
                    </a:moveTo>
                    <a:lnTo>
                      <a:pt x="810" y="920"/>
                    </a:lnTo>
                  </a:path>
                  <a:path w="1000" h="1000" fill="none">
                    <a:moveTo>
                      <a:pt x="844" y="80"/>
                    </a:moveTo>
                    <a:lnTo>
                      <a:pt x="844" y="920"/>
                    </a:lnTo>
                  </a:path>
                  <a:path w="1000" h="1000" fill="none">
                    <a:moveTo>
                      <a:pt x="879" y="80"/>
                    </a:moveTo>
                    <a:lnTo>
                      <a:pt x="879" y="920"/>
                    </a:lnTo>
                  </a:path>
                  <a:path w="1000" h="1000" fill="none">
                    <a:moveTo>
                      <a:pt x="913" y="80"/>
                    </a:moveTo>
                    <a:lnTo>
                      <a:pt x="913" y="920"/>
                    </a:lnTo>
                  </a:path>
                  <a:path w="1000" h="1000" fill="none">
                    <a:moveTo>
                      <a:pt x="948" y="80"/>
                    </a:moveTo>
                    <a:lnTo>
                      <a:pt x="948" y="920"/>
                    </a:lnTo>
                  </a:path>
                  <a:path w="1000" h="1000" fill="none">
                    <a:moveTo>
                      <a:pt x="982" y="80"/>
                    </a:moveTo>
                    <a:lnTo>
                      <a:pt x="982" y="920"/>
                    </a:lnTo>
                  </a:path>
                </a:pathLst>
              </a:custGeom>
              <a:noFill/>
              <a:ln w="12700" cap="rnd">
                <a:solidFill>
                  <a:srgbClr val="822E27"/>
                </a:solidFill>
                <a:round/>
              </a:ln>
            </p:spPr>
          </p:sp>
          <p:sp>
            <p:nvSpPr>
              <p:cNvPr id="35" name="Forma 34"/>
              <p:cNvSpPr/>
              <p:nvPr/>
            </p:nvSpPr>
            <p:spPr>
              <a:xfrm>
                <a:off x="959754" y="4287000"/>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6" name="Forma 35"/>
              <p:cNvSpPr/>
              <p:nvPr/>
            </p:nvSpPr>
            <p:spPr>
              <a:xfrm>
                <a:off x="1820022" y="4287000"/>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7" name="Forma 36"/>
              <p:cNvSpPr/>
              <p:nvPr/>
            </p:nvSpPr>
            <p:spPr>
              <a:xfrm>
                <a:off x="2557394" y="4287000"/>
                <a:ext cx="204826" cy="73737"/>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8" name="Forma 37"/>
              <p:cNvSpPr/>
              <p:nvPr/>
            </p:nvSpPr>
            <p:spPr>
              <a:xfrm>
                <a:off x="2754026" y="4287000"/>
                <a:ext cx="163860" cy="37687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39" name="Cerebro"/>
          <p:cNvGrpSpPr/>
          <p:nvPr/>
        </p:nvGrpSpPr>
        <p:grpSpPr>
          <a:xfrm>
            <a:off x="3291840" y="3657600"/>
            <a:ext cx="2011680" cy="1569110"/>
            <a:chOff x="3291840" y="3657600"/>
            <a:chExt cx="2011680" cy="1569110"/>
          </a:xfrm>
        </p:grpSpPr>
        <p:sp>
          <p:nvSpPr>
            <p:cNvPr id="40" name="Cerebelo"/>
            <p:cNvSpPr/>
            <p:nvPr/>
          </p:nvSpPr>
          <p:spPr>
            <a:xfrm>
              <a:off x="3291840" y="3657600"/>
              <a:ext cx="2011680" cy="1569110"/>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41" name="Forma 40"/>
            <p:cNvSpPr/>
            <p:nvPr/>
          </p:nvSpPr>
          <p:spPr>
            <a:xfrm>
              <a:off x="3291840" y="3657600"/>
              <a:ext cx="2011680" cy="1569110"/>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42" name="Forma 41"/>
            <p:cNvSpPr/>
            <p:nvPr/>
          </p:nvSpPr>
          <p:spPr>
            <a:xfrm>
              <a:off x="3291840" y="3657600"/>
              <a:ext cx="2011680" cy="1569110"/>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43" name="Forma 42"/>
            <p:cNvSpPr/>
            <p:nvPr/>
          </p:nvSpPr>
          <p:spPr>
            <a:xfrm>
              <a:off x="3291840" y="3657600"/>
              <a:ext cx="2011680" cy="1569110"/>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44" name="Flecha NH3"/>
          <p:cNvGrpSpPr/>
          <p:nvPr/>
        </p:nvGrpSpPr>
        <p:grpSpPr>
          <a:xfrm>
            <a:off x="2240280" y="1417320"/>
            <a:ext cx="731520" cy="420624"/>
            <a:chOff x="2240280" y="1417320"/>
            <a:chExt cx="731520" cy="420624"/>
          </a:xfrm>
        </p:grpSpPr>
        <p:sp>
          <p:nvSpPr>
            <p:cNvPr id="45" name="Flecha 44_2"/>
            <p:cNvSpPr/>
            <p:nvPr/>
          </p:nvSpPr>
          <p:spPr>
            <a:xfrm>
              <a:off x="2377440" y="1828800"/>
              <a:ext cx="457200" cy="9144"/>
            </a:xfrm>
            <a:custGeom>
              <a:avLst/>
              <a:gdLst/>
              <a:ahLst/>
              <a:cxnLst/>
              <a:rect l="0" t="0" r="r" b="b"/>
              <a:pathLst>
                <a:path w="500" h="10" fill="none">
                  <a:moveTo>
                    <a:pt x="0" y="0"/>
                  </a:moveTo>
                  <a:lnTo>
                    <a:pt x="500" y="0"/>
                  </a:lnTo>
                </a:path>
              </a:pathLst>
            </a:custGeom>
            <a:noFill/>
            <a:ln w="50800" cap="rnd">
              <a:solidFill>
                <a:srgbClr val="0F7C7C"/>
              </a:solidFill>
              <a:round/>
              <a:tailEnd type="triangle" w="med" len="med"/>
            </a:ln>
          </p:spPr>
        </p:sp>
        <p:sp>
          <p:nvSpPr>
            <p:cNvPr id="46" name="Forma 46"/>
            <p:cNvSpPr txBox="1"/>
            <p:nvPr/>
          </p:nvSpPr>
          <p:spPr>
            <a:xfrm>
              <a:off x="2240280" y="1417320"/>
              <a:ext cx="73152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0F7C7C"/>
                  </a:solidFill>
                  <a:latin typeface="Bahnschrift SemiBold Condensed"/>
                  <a:ea typeface="Bahnschrift SemiBold Condensed"/>
                  <a:cs typeface="Bahnschrift SemiBold Condensed"/>
                  <a:sym typeface="Bahnschrift SemiBold Condensed"/>
                </a:rPr>
                <a:t>NH</a:t>
              </a:r>
              <a:r>
                <a:rPr lang="es-AR" sz="1200" b="1" baseline="-25000" dirty="0">
                  <a:solidFill>
                    <a:srgbClr val="0F7C7C"/>
                  </a:solidFill>
                  <a:latin typeface="Bahnschrift SemiBold Condensed"/>
                  <a:ea typeface="Bahnschrift SemiBold Condensed"/>
                  <a:cs typeface="Bahnschrift SemiBold Condensed"/>
                  <a:sym typeface="Bahnschrift SemiBold Condensed"/>
                </a:rPr>
                <a:t>3</a:t>
              </a:r>
              <a:endParaRPr lang="es-AR" sz="1200" dirty="0">
                <a:latin typeface="Bahnschrift SemiBold Condensed"/>
              </a:endParaRPr>
            </a:p>
          </p:txBody>
        </p:sp>
      </p:grpSp>
      <p:grpSp>
        <p:nvGrpSpPr>
          <p:cNvPr id="47" name="Flecha GS"/>
          <p:cNvGrpSpPr/>
          <p:nvPr/>
        </p:nvGrpSpPr>
        <p:grpSpPr>
          <a:xfrm>
            <a:off x="1737360" y="3017520"/>
            <a:ext cx="685800" cy="822960"/>
            <a:chOff x="1737360" y="3017520"/>
            <a:chExt cx="685800" cy="822960"/>
          </a:xfrm>
        </p:grpSpPr>
        <p:sp>
          <p:nvSpPr>
            <p:cNvPr id="48" name="Flecha 48_2"/>
            <p:cNvSpPr/>
            <p:nvPr/>
          </p:nvSpPr>
          <p:spPr>
            <a:xfrm>
              <a:off x="1737360" y="3017520"/>
              <a:ext cx="91440" cy="822960"/>
            </a:xfrm>
            <a:custGeom>
              <a:avLst/>
              <a:gdLst/>
              <a:ahLst/>
              <a:cxnLst/>
              <a:rect l="0" t="0" r="r" b="b"/>
              <a:pathLst>
                <a:path w="100" h="900" fill="none">
                  <a:moveTo>
                    <a:pt x="100" y="0"/>
                  </a:moveTo>
                  <a:lnTo>
                    <a:pt x="0" y="900"/>
                  </a:lnTo>
                </a:path>
              </a:pathLst>
            </a:custGeom>
            <a:noFill/>
            <a:ln w="38100" cap="rnd">
              <a:solidFill>
                <a:srgbClr val="0F7C7C"/>
              </a:solidFill>
              <a:round/>
              <a:tailEnd type="triangle" w="med" len="med"/>
            </a:ln>
          </p:spPr>
        </p:sp>
        <p:sp>
          <p:nvSpPr>
            <p:cNvPr id="49" name="Forma 50"/>
            <p:cNvSpPr txBox="1"/>
            <p:nvPr/>
          </p:nvSpPr>
          <p:spPr>
            <a:xfrm>
              <a:off x="1874520" y="3246120"/>
              <a:ext cx="548640" cy="219456"/>
            </a:xfrm>
            <a:prstGeom prst="rect">
              <a:avLst/>
            </a:prstGeom>
            <a:noFill/>
            <a:ln>
              <a:noFill/>
            </a:ln>
          </p:spPr>
          <p:txBody>
            <a:bodyPr wrap="square" lIns="0" tIns="0" rIns="0" bIns="0" anchor="ctr" rtlCol="0">
              <a:noAutofit/>
            </a:bodyPr>
            <a:lstStyle/>
            <a:p>
              <a:pPr algn="ctr">
                <a:spcAft>
                  <a:spcPts val="300"/>
                </a:spcAft>
                <a:buNone/>
              </a:pPr>
              <a:r>
                <a:rPr lang="es-AR" sz="1200" b="1" dirty="0">
                  <a:solidFill>
                    <a:srgbClr val="0F7C7C"/>
                  </a:solidFill>
                  <a:latin typeface="Bahnschrift SemiBold Condensed"/>
                  <a:ea typeface="Bahnschrift SemiBold Condensed"/>
                  <a:cs typeface="Bahnschrift SemiBold Condensed"/>
                  <a:sym typeface="Bahnschrift SemiBold Condensed"/>
                </a:rPr>
                <a:t>GS</a:t>
              </a:r>
              <a:endParaRPr lang="es-AR" sz="1200" dirty="0">
                <a:latin typeface="Bahnschrift SemiBold Condensed"/>
              </a:endParaRPr>
            </a:p>
          </p:txBody>
        </p:sp>
      </p:grpSp>
      <p:grpSp>
        <p:nvGrpSpPr>
          <p:cNvPr id="50" name="Recuadro Funcionamiento normal"/>
          <p:cNvGrpSpPr/>
          <p:nvPr/>
        </p:nvGrpSpPr>
        <p:grpSpPr>
          <a:xfrm>
            <a:off x="5669280" y="1005840"/>
            <a:ext cx="6126480" cy="2286000"/>
            <a:chOff x="5669280" y="1005840"/>
            <a:chExt cx="6126480" cy="2286000"/>
          </a:xfrm>
        </p:grpSpPr>
        <p:sp>
          <p:nvSpPr>
            <p:cNvPr id="51" name="Forma 52"/>
            <p:cNvSpPr/>
            <p:nvPr/>
          </p:nvSpPr>
          <p:spPr>
            <a:xfrm>
              <a:off x="5669280" y="1188720"/>
              <a:ext cx="6126480" cy="2103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Bacterias intestinales</a:t>
              </a:r>
              <a:r>
                <a:rPr lang="es-AR" sz="1650" dirty="0">
                  <a:solidFill>
                    <a:srgbClr val="1E1E1E"/>
                  </a:solidFill>
                  <a:latin typeface="Bahnschrift"/>
                  <a:ea typeface="Bahnschrift"/>
                  <a:cs typeface="Bahnschrift"/>
                  <a:sym typeface="Bahnschrift"/>
                </a:rPr>
                <a:t> (ureasa) y el metabolismo de glutamina producen NH</a:t>
              </a:r>
              <a:r>
                <a:rPr lang="es-AR" sz="1650" baseline="-25000" dirty="0">
                  <a:solidFill>
                    <a:srgbClr val="1E1E1E"/>
                  </a:solidFill>
                  <a:latin typeface="Bahnschrift"/>
                  <a:ea typeface="Bahnschrift"/>
                  <a:cs typeface="Bahnschrift"/>
                  <a:sym typeface="Bahnschrift"/>
                </a:rPr>
                <a:t>3</a:t>
              </a:r>
              <a:r>
                <a:rPr lang="es-AR" sz="1650" dirty="0">
                  <a:solidFill>
                    <a:srgbClr val="1E1E1E"/>
                  </a:solidFill>
                  <a:latin typeface="Bahnschrift"/>
                  <a:ea typeface="Bahnschrift"/>
                  <a:cs typeface="Bahnschrift"/>
                  <a:sym typeface="Bahnschrift"/>
                </a:rPr>
                <a:t>, que llega por la </a:t>
              </a:r>
              <a:r>
                <a:rPr lang="es-AR" sz="1650" b="1" dirty="0">
                  <a:solidFill>
                    <a:srgbClr val="1E1E1E"/>
                  </a:solidFill>
                  <a:latin typeface="Bahnschrift"/>
                  <a:ea typeface="Bahnschrift"/>
                  <a:cs typeface="Bahnschrift"/>
                  <a:sym typeface="Bahnschrift"/>
                </a:rPr>
                <a:t>porta</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El </a:t>
              </a:r>
              <a:r>
                <a:rPr lang="es-AR" sz="1650" b="1" dirty="0">
                  <a:solidFill>
                    <a:srgbClr val="1E1E1E"/>
                  </a:solidFill>
                  <a:latin typeface="Bahnschrift"/>
                  <a:ea typeface="Bahnschrift"/>
                  <a:cs typeface="Bahnschrift"/>
                  <a:sym typeface="Bahnschrift"/>
                </a:rPr>
                <a:t>hígado</a:t>
              </a:r>
              <a:r>
                <a:rPr lang="es-AR" sz="1650" dirty="0">
                  <a:solidFill>
                    <a:srgbClr val="1E1E1E"/>
                  </a:solidFill>
                  <a:latin typeface="Bahnschrift"/>
                  <a:ea typeface="Bahnschrift"/>
                  <a:cs typeface="Bahnschrift"/>
                  <a:sym typeface="Bahnschrift"/>
                </a:rPr>
                <a:t> lo convierte en urea y glutamina; el </a:t>
              </a:r>
              <a:r>
                <a:rPr lang="es-AR" sz="1650" b="1" dirty="0">
                  <a:solidFill>
                    <a:srgbClr val="1E1E1E"/>
                  </a:solidFill>
                  <a:latin typeface="Bahnschrift"/>
                  <a:ea typeface="Bahnschrift"/>
                  <a:cs typeface="Bahnschrift"/>
                  <a:sym typeface="Bahnschrift"/>
                </a:rPr>
                <a:t>músculo</a:t>
              </a:r>
              <a:r>
                <a:rPr lang="es-AR" sz="1650" dirty="0">
                  <a:solidFill>
                    <a:srgbClr val="1E1E1E"/>
                  </a:solidFill>
                  <a:latin typeface="Bahnschrift"/>
                  <a:ea typeface="Bahnschrift"/>
                  <a:cs typeface="Bahnschrift"/>
                  <a:sym typeface="Bahnschrift"/>
                </a:rPr>
                <a:t> también lo captura (GS).</a:t>
              </a:r>
              <a:endParaRPr lang="es-AR" sz="1650" dirty="0">
                <a:latin typeface="Bahnschrift"/>
              </a:endParaRPr>
            </a:p>
          </p:txBody>
        </p:sp>
        <p:sp>
          <p:nvSpPr>
            <p:cNvPr id="52" name="Forma 53"/>
            <p:cNvSpPr/>
            <p:nvPr/>
          </p:nvSpPr>
          <p:spPr>
            <a:xfrm>
              <a:off x="5779008" y="1005840"/>
              <a:ext cx="2271710"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00" dirty="0">
                <a:latin typeface="Bahnschrift SemiBold Condensed"/>
              </a:endParaRPr>
            </a:p>
          </p:txBody>
        </p:sp>
      </p:grpSp>
      <p:grpSp>
        <p:nvGrpSpPr>
          <p:cNvPr id="53" name="Recuadro Alteración en la cirrosis"/>
          <p:cNvGrpSpPr/>
          <p:nvPr/>
        </p:nvGrpSpPr>
        <p:grpSpPr>
          <a:xfrm>
            <a:off x="5669280" y="3474720"/>
            <a:ext cx="6126480" cy="2560320"/>
            <a:chOff x="5669280" y="3474720"/>
            <a:chExt cx="6126480" cy="2560320"/>
          </a:xfrm>
        </p:grpSpPr>
        <p:sp>
          <p:nvSpPr>
            <p:cNvPr id="54" name="Forma 55"/>
            <p:cNvSpPr/>
            <p:nvPr/>
          </p:nvSpPr>
          <p:spPr>
            <a:xfrm>
              <a:off x="5669280" y="3657600"/>
              <a:ext cx="6126480" cy="23774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 ureogénesis</a:t>
              </a:r>
              <a:r>
                <a:rPr lang="es-AR" sz="1650" dirty="0">
                  <a:solidFill>
                    <a:srgbClr val="1E1E1E"/>
                  </a:solidFill>
                  <a:latin typeface="Bahnschrift"/>
                  <a:ea typeface="Bahnschrift"/>
                  <a:cs typeface="Bahnschrift"/>
                  <a:sym typeface="Bahnschrift"/>
                </a:rPr>
                <a:t> hepatocelular.</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Derivaciones portosistémicas</a:t>
              </a:r>
              <a:r>
                <a:rPr lang="es-AR" sz="1650" dirty="0">
                  <a:solidFill>
                    <a:srgbClr val="1E1E1E"/>
                  </a:solidFill>
                  <a:latin typeface="Bahnschrift"/>
                  <a:ea typeface="Bahnschrift"/>
                  <a:cs typeface="Bahnschrift"/>
                  <a:sym typeface="Bahnschrift"/>
                </a:rPr>
                <a:t>: el NH</a:t>
              </a:r>
              <a:r>
                <a:rPr lang="es-AR" sz="1650" baseline="-25000" dirty="0">
                  <a:solidFill>
                    <a:srgbClr val="1E1E1E"/>
                  </a:solidFill>
                  <a:latin typeface="Bahnschrift"/>
                  <a:ea typeface="Bahnschrift"/>
                  <a:cs typeface="Bahnschrift"/>
                  <a:sym typeface="Bahnschrift"/>
                </a:rPr>
                <a:t>3</a:t>
              </a:r>
              <a:r>
                <a:rPr lang="es-AR" sz="1650" dirty="0">
                  <a:solidFill>
                    <a:srgbClr val="1E1E1E"/>
                  </a:solidFill>
                  <a:latin typeface="Bahnschrift"/>
                  <a:ea typeface="Bahnschrift"/>
                  <a:cs typeface="Bahnschrift"/>
                  <a:sym typeface="Bahnschrift"/>
                </a:rPr>
                <a:t> evita el primer paso.</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Sarcopenia</a:t>
              </a:r>
              <a:r>
                <a:rPr lang="es-AR" sz="1650" dirty="0">
                  <a:solidFill>
                    <a:srgbClr val="1E1E1E"/>
                  </a:solidFill>
                  <a:latin typeface="Bahnschrift"/>
                  <a:ea typeface="Bahnschrift"/>
                  <a:cs typeface="Bahnschrift"/>
                  <a:sym typeface="Bahnschrift"/>
                </a:rPr>
                <a:t>: el músculo pierde capacidad de incorporar NH</a:t>
              </a:r>
              <a:r>
                <a:rPr lang="es-AR" sz="1650" baseline="-25000" dirty="0">
                  <a:solidFill>
                    <a:srgbClr val="1E1E1E"/>
                  </a:solidFill>
                  <a:latin typeface="Bahnschrift"/>
                  <a:ea typeface="Bahnschrift"/>
                  <a:cs typeface="Bahnschrift"/>
                  <a:sym typeface="Bahnschrift"/>
                </a:rPr>
                <a:t>4</a:t>
              </a:r>
              <a:r>
                <a:rPr lang="es-AR" sz="1650" baseline="30000" dirty="0">
                  <a:solidFill>
                    <a:srgbClr val="1E1E1E"/>
                  </a:solidFill>
                  <a:latin typeface="Bahnschrift"/>
                  <a:ea typeface="Bahnschrift"/>
                  <a:cs typeface="Bahnschrift"/>
                  <a:sym typeface="Bahnschrift"/>
                </a:rPr>
                <a:t>+</a:t>
              </a:r>
              <a:r>
                <a:rPr lang="es-AR" sz="1650" dirty="0">
                  <a:solidFill>
                    <a:srgbClr val="1E1E1E"/>
                  </a:solidFill>
                  <a:latin typeface="Bahnschrift"/>
                  <a:ea typeface="Bahnschrift"/>
                  <a:cs typeface="Bahnschrift"/>
                  <a:sym typeface="Bahnschrift"/>
                </a:rPr>
                <a:t> en glutamina.</a:t>
              </a:r>
              <a:endParaRPr lang="es-AR" sz="1650" dirty="0">
                <a:latin typeface="Bahnschrift"/>
              </a:endParaRPr>
            </a:p>
          </p:txBody>
        </p:sp>
        <p:sp>
          <p:nvSpPr>
            <p:cNvPr id="55" name="Forma 56"/>
            <p:cNvSpPr/>
            <p:nvPr/>
          </p:nvSpPr>
          <p:spPr>
            <a:xfrm>
              <a:off x="5779008" y="3474720"/>
              <a:ext cx="2421338"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ALTERACIÓN EN LA CIRROSIS</a:t>
              </a:r>
              <a:endParaRPr lang="es-AR" sz="1500" dirty="0">
                <a:latin typeface="Bahnschrift SemiBold Condensed"/>
              </a:endParaRPr>
            </a:p>
          </p:txBody>
        </p:sp>
      </p:grpSp>
      <p:sp>
        <p:nvSpPr>
          <p:cNvPr id="2" name="Etiqueta sección"/>
          <p:cNvSpPr/>
          <p:nvPr/>
        </p:nvSpPr>
        <p:spPr>
          <a:xfrm>
            <a:off x="9606605" y="201168"/>
            <a:ext cx="231077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7 · ENCEFALOPATÍA</a:t>
            </a:r>
            <a:endParaRPr lang="es-AR" sz="1300" dirty="0">
              <a:latin typeface="Bahnschrift SemiBold Condensed"/>
            </a:endParaRPr>
          </a:p>
        </p:txBody>
      </p:sp>
      <p:sp>
        <p:nvSpPr>
          <p:cNvPr id="3" name="Título"/>
          <p:cNvSpPr/>
          <p:nvPr/>
        </p:nvSpPr>
        <p:spPr>
          <a:xfrm>
            <a:off x="274320" y="146304"/>
            <a:ext cx="736148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P7 · AMONIO: INTESTINO, HÍGADO, MÚSCULO Y CEREBRO</a:t>
            </a:r>
            <a:endParaRPr lang="es-AR" sz="2600" dirty="0">
              <a:latin typeface="Bahnschrift SemiBold Condensed"/>
            </a:endParaRPr>
          </a:p>
        </p:txBody>
      </p:sp>
      <p:sp>
        <p:nvSpPr>
          <p:cNvPr id="5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189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0" fill="hold">
                      <p:stCondLst>
                        <p:cond delay="indefinite"/>
                      </p:stCondLst>
                      <p:childTnLst>
                        <p:par>
                          <p:cTn id="9"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44"/>
                                        </p:tgtEl>
                                        <p:attrNameLst>
                                          <p:attrName>style.visibility</p:attrName>
                                        </p:attrNameLst>
                                      </p:cBhvr>
                                      <p:to>
                                        <p:strVal val="visible"/>
                                      </p:to>
                                    </p:set>
                                    <p:animEffect transition="in" filter="wipe(left)">
                                      <p:cBhvr>
                                        <p:cTn id="5" dur="600"/>
                                        <p:tgtEl>
                                          <p:spTgt spid="44"/>
                                        </p:tgtEl>
                                      </p:cBhvr>
                                    </p:animEffect>
                                  </p:childTnLst>
                                </p:cTn>
                              </p:par>
                              <p:par>
                                <p:cTn id="6" presetID="10" presetClass="entr" presetSubtype="0" fill="hold" grpId="0" nodeType="withEffect">
                                  <p:stCondLst>
                                    <p:cond delay="0"/>
                                  </p:stCondLst>
                                  <p:childTnLst>
                                    <p:set>
                                      <p:cBhvr>
                                        <p:cTn id="7" dur="1" fill="hold">
                                          <p:stCondLst>
                                            <p:cond delay="0"/>
                                          </p:stCondLst>
                                        </p:cTn>
                                        <p:tgtEl>
                                          <p:spTgt spid="50"/>
                                        </p:tgtEl>
                                        <p:attrNameLst>
                                          <p:attrName>style.visibility</p:attrName>
                                        </p:attrNameLst>
                                      </p:cBhvr>
                                      <p:to>
                                        <p:strVal val="visible"/>
                                      </p:to>
                                    </p:set>
                                    <p:animEffect transition="in" filter="fade">
                                      <p:cBhvr>
                                        <p:cTn id="8" dur="500"/>
                                        <p:tgtEl>
                                          <p:spTgt spid="50"/>
                                        </p:tgtEl>
                                      </p:cBhvr>
                                    </p:animEffect>
                                  </p:childTnLst>
                                </p:cTn>
                              </p:par>
                            </p:childTnLst>
                          </p:cTn>
                        </p:par>
                      </p:childTnLst>
                    </p:cTn>
                  </p:par>
                  <p:par>
                    <p:cTn id="18" fill="hold">
                      <p:stCondLst>
                        <p:cond delay="indefinite"/>
                      </p:stCondLst>
                      <p:childTnLst>
                        <p:par>
                          <p:cTn id="17" fill="hold">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600"/>
                                        <p:tgtEl>
                                          <p:spTgt spid="4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sp>
        <p:nvSpPr>
          <p:cNvPr id="13" name="Consigna histórica"/>
          <p:cNvSpPr/>
          <p:nvPr/>
        </p:nvSpPr>
        <p:spPr>
          <a:xfrm>
            <a:off x="365760" y="1005840"/>
            <a:ext cx="11430000" cy="685800"/>
          </a:xfrm>
          <a:prstGeom prst="rect">
            <a:avLst/>
          </a:prstGeom>
          <a:solidFill>
            <a:srgbClr val="D5D8DC"/>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Consigna histórica: (a) proteína ≤ 0,8 g/kg/d · (b) neomicina intestinal · (c) lactulosa</a:t>
            </a:r>
            <a:endParaRPr lang="es-AR" sz="1600" dirty="0">
              <a:latin typeface="Bahnschrift SemiBold Condensed"/>
            </a:endParaRPr>
          </a:p>
        </p:txBody>
      </p:sp>
      <p:sp>
        <p:nvSpPr>
          <p:cNvPr id="14" name="Fundamento (a) Menos proteína"/>
          <p:cNvSpPr/>
          <p:nvPr/>
        </p:nvSpPr>
        <p:spPr>
          <a:xfrm>
            <a:off x="365760" y="1920240"/>
            <a:ext cx="3657600" cy="18288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(a) Menos proteína</a:t>
            </a:r>
            <a:r>
              <a:rPr lang="es-AR" sz="1650" dirty="0">
                <a:solidFill>
                  <a:srgbClr val="1E1E1E"/>
                </a:solidFill>
                <a:latin typeface="Bahnschrift"/>
                <a:ea typeface="Bahnschrift"/>
                <a:cs typeface="Bahnschrift"/>
                <a:sym typeface="Bahnschrift"/>
              </a:rPr>
              <a:t>: Menos sustrato proteico intestinal → menos NH</a:t>
            </a:r>
            <a:r>
              <a:rPr lang="es-AR" sz="1650" baseline="-25000" dirty="0">
                <a:solidFill>
                  <a:srgbClr val="1E1E1E"/>
                </a:solidFill>
                <a:latin typeface="Bahnschrift"/>
                <a:ea typeface="Bahnschrift"/>
                <a:cs typeface="Bahnschrift"/>
                <a:sym typeface="Bahnschrift"/>
              </a:rPr>
              <a:t>3</a:t>
            </a:r>
            <a:r>
              <a:rPr lang="es-AR" sz="1650" dirty="0">
                <a:solidFill>
                  <a:srgbClr val="1E1E1E"/>
                </a:solidFill>
                <a:latin typeface="Bahnschrift"/>
                <a:ea typeface="Bahnschrift"/>
                <a:cs typeface="Bahnschrift"/>
                <a:sym typeface="Bahnschrift"/>
              </a:rPr>
              <a:t> bacteriano y menor carga nitrogenada hepática.</a:t>
            </a:r>
            <a:endParaRPr lang="es-AR" sz="1650" dirty="0">
              <a:latin typeface="Bahnschrift"/>
            </a:endParaRPr>
          </a:p>
        </p:txBody>
      </p:sp>
      <p:sp>
        <p:nvSpPr>
          <p:cNvPr id="15" name="Fundamento (b) Neomicina"/>
          <p:cNvSpPr/>
          <p:nvPr/>
        </p:nvSpPr>
        <p:spPr>
          <a:xfrm>
            <a:off x="4206240" y="1920240"/>
            <a:ext cx="3657600" cy="182880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(b) Neomicina</a:t>
            </a:r>
            <a:r>
              <a:rPr lang="es-AR" sz="1650" dirty="0">
                <a:solidFill>
                  <a:srgbClr val="1E1E1E"/>
                </a:solidFill>
                <a:latin typeface="Bahnschrift"/>
                <a:ea typeface="Bahnschrift"/>
                <a:cs typeface="Bahnschrift"/>
                <a:sym typeface="Bahnschrift"/>
              </a:rPr>
              <a:t>: Antibiótico poco absorbible → menos bacterias productoras de </a:t>
            </a:r>
            <a:r>
              <a:rPr lang="es-AR" sz="1650" b="1" dirty="0">
                <a:solidFill>
                  <a:srgbClr val="1E1E1E"/>
                </a:solidFill>
                <a:latin typeface="Bahnschrift"/>
                <a:ea typeface="Bahnschrift"/>
                <a:cs typeface="Bahnschrift"/>
                <a:sym typeface="Bahnschrift"/>
              </a:rPr>
              <a:t>ureasa</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16" name="Fundamento (c) Lactulosa"/>
          <p:cNvSpPr/>
          <p:nvPr/>
        </p:nvSpPr>
        <p:spPr>
          <a:xfrm>
            <a:off x="8046720" y="1920240"/>
            <a:ext cx="3657600" cy="182880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ctr" rtlCol="0">
            <a:noAutofit/>
          </a:bodyPr>
          <a:lstStyle/>
          <a:p>
            <a:pPr algn="l">
              <a:spcAft>
                <a:spcPts val="400"/>
              </a:spcAft>
              <a:buNone/>
            </a:pPr>
            <a:r>
              <a:rPr lang="es-AR" sz="1650" b="1" dirty="0">
                <a:solidFill>
                  <a:srgbClr val="1E1E1E"/>
                </a:solidFill>
                <a:latin typeface="Bahnschrift"/>
                <a:ea typeface="Bahnschrift"/>
                <a:cs typeface="Bahnschrift"/>
                <a:sym typeface="Bahnschrift"/>
              </a:rPr>
              <a:t>(c) Lactulosa</a:t>
            </a:r>
            <a:r>
              <a:rPr lang="es-AR" sz="1650" dirty="0">
                <a:solidFill>
                  <a:srgbClr val="1E1E1E"/>
                </a:solidFill>
                <a:latin typeface="Bahnschrift"/>
                <a:ea typeface="Bahnschrift"/>
                <a:cs typeface="Bahnschrift"/>
                <a:sym typeface="Bahnschrift"/>
              </a:rPr>
              <a:t>: No se hidroliza en el intestino delgado → </a:t>
            </a:r>
            <a:r>
              <a:rPr lang="es-AR" sz="1650" b="1" dirty="0">
                <a:solidFill>
                  <a:srgbClr val="1E1E1E"/>
                </a:solidFill>
                <a:latin typeface="Bahnschrift"/>
                <a:ea typeface="Bahnschrift"/>
                <a:cs typeface="Bahnschrift"/>
                <a:sym typeface="Bahnschrift"/>
              </a:rPr>
              <a:t>fermenta en el colon</a:t>
            </a:r>
            <a:r>
              <a:rPr lang="es-AR" sz="1650" dirty="0">
                <a:solidFill>
                  <a:srgbClr val="1E1E1E"/>
                </a:solidFill>
                <a:latin typeface="Bahnschrift"/>
                <a:ea typeface="Bahnschrift"/>
                <a:cs typeface="Bahnschrift"/>
                <a:sym typeface="Bahnschrift"/>
              </a:rPr>
              <a:t> → </a:t>
            </a:r>
            <a:r>
              <a:rPr lang="es-AR" sz="1650" b="1" dirty="0">
                <a:solidFill>
                  <a:srgbClr val="1E1E1E"/>
                </a:solidFill>
                <a:latin typeface="Bahnschrift"/>
                <a:ea typeface="Bahnschrift"/>
                <a:cs typeface="Bahnschrift"/>
                <a:sym typeface="Bahnschrift"/>
              </a:rPr>
              <a:t>acidifica</a:t>
            </a:r>
            <a:r>
              <a:rPr lang="es-AR" sz="1650" dirty="0">
                <a:solidFill>
                  <a:srgbClr val="1E1E1E"/>
                </a:solidFill>
                <a:latin typeface="Bahnschrift"/>
                <a:ea typeface="Bahnschrift"/>
                <a:cs typeface="Bahnschrift"/>
                <a:sym typeface="Bahnschrift"/>
              </a:rPr>
              <a:t> el contenido.</a:t>
            </a:r>
            <a:endParaRPr lang="es-AR" sz="1650" dirty="0">
              <a:latin typeface="Bahnschrift"/>
            </a:endParaRPr>
          </a:p>
        </p:txBody>
      </p:sp>
      <p:grpSp>
        <p:nvGrpSpPr>
          <p:cNvPr id="17" name="Colon acidificado"/>
          <p:cNvGrpSpPr/>
          <p:nvPr/>
        </p:nvGrpSpPr>
        <p:grpSpPr>
          <a:xfrm>
            <a:off x="365760" y="3977640"/>
            <a:ext cx="7498080" cy="2057400"/>
            <a:chOff x="365760" y="3977640"/>
            <a:chExt cx="7498080" cy="2057400"/>
          </a:xfrm>
        </p:grpSpPr>
        <p:sp>
          <p:nvSpPr>
            <p:cNvPr id="18" name="Forma 17"/>
            <p:cNvSpPr/>
            <p:nvPr/>
          </p:nvSpPr>
          <p:spPr>
            <a:xfrm>
              <a:off x="365760" y="3977640"/>
              <a:ext cx="7498080" cy="2057400"/>
            </a:xfrm>
            <a:prstGeom prst="roundRect">
              <a:avLst>
                <a:gd name="adj" fmla="val 30000"/>
              </a:avLst>
            </a:prstGeom>
            <a:gradFill rotWithShape="1">
              <a:gsLst>
                <a:gs pos="0">
                  <a:srgbClr val="F5CBA7"/>
                </a:gs>
                <a:gs pos="100000">
                  <a:srgbClr val="EDBB99"/>
                </a:gs>
              </a:gsLst>
              <a:lin ang="5400000" scaled="0"/>
            </a:gradFill>
            <a:ln w="25400" cap="rnd">
              <a:solidFill>
                <a:srgbClr val="A04000"/>
              </a:solidFill>
              <a:round/>
            </a:ln>
          </p:spPr>
        </p:sp>
        <p:sp>
          <p:nvSpPr>
            <p:cNvPr id="19" name="Forma 18"/>
            <p:cNvSpPr txBox="1"/>
            <p:nvPr/>
          </p:nvSpPr>
          <p:spPr>
            <a:xfrm>
              <a:off x="548640" y="4023360"/>
              <a:ext cx="3657600" cy="320040"/>
            </a:xfrm>
            <a:prstGeom prst="rect">
              <a:avLst/>
            </a:prstGeom>
            <a:noFill/>
            <a:ln>
              <a:noFill/>
            </a:ln>
          </p:spPr>
          <p:txBody>
            <a:bodyPr wrap="square" lIns="0" tIns="0" rIns="0" bIns="0" anchor="t" rtlCol="0">
              <a:noAutofit/>
            </a:bodyPr>
            <a:lstStyle/>
            <a:p>
              <a:pPr algn="l">
                <a:spcAft>
                  <a:spcPts val="300"/>
                </a:spcAft>
                <a:buNone/>
              </a:pPr>
              <a:r>
                <a:rPr lang="es-AR" sz="1300" b="1" dirty="0">
                  <a:solidFill>
                    <a:srgbClr val="6E2C00"/>
                  </a:solidFill>
                  <a:latin typeface="Bahnschrift SemiBold Condensed"/>
                  <a:ea typeface="Bahnschrift SemiBold Condensed"/>
                  <a:cs typeface="Bahnschrift SemiBold Condensed"/>
                  <a:sym typeface="Bahnschrift SemiBold Condensed"/>
                </a:rPr>
                <a:t>LUZ DEL COLON (pH ↓)</a:t>
              </a:r>
              <a:endParaRPr lang="es-AR" sz="1300" dirty="0">
                <a:latin typeface="Bahnschrift SemiBold Condensed"/>
              </a:endParaRPr>
            </a:p>
          </p:txBody>
        </p:sp>
      </p:grpSp>
      <p:sp>
        <p:nvSpPr>
          <p:cNvPr id="20" name="NH3 0"/>
          <p:cNvSpPr/>
          <p:nvPr/>
        </p:nvSpPr>
        <p:spPr>
          <a:xfrm>
            <a:off x="914400" y="4572000"/>
            <a:ext cx="502920" cy="50292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3</a:t>
            </a:r>
            <a:endParaRPr lang="es-AR" sz="1300" dirty="0">
              <a:latin typeface="Bahnschrift SemiBold Condensed"/>
            </a:endParaRPr>
          </a:p>
        </p:txBody>
      </p:sp>
      <p:sp>
        <p:nvSpPr>
          <p:cNvPr id="21" name="NH3 1"/>
          <p:cNvSpPr/>
          <p:nvPr/>
        </p:nvSpPr>
        <p:spPr>
          <a:xfrm>
            <a:off x="2103120" y="4572000"/>
            <a:ext cx="502920" cy="50292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3</a:t>
            </a:r>
            <a:endParaRPr lang="es-AR" sz="1300" dirty="0">
              <a:latin typeface="Bahnschrift SemiBold Condensed"/>
            </a:endParaRPr>
          </a:p>
        </p:txBody>
      </p:sp>
      <p:sp>
        <p:nvSpPr>
          <p:cNvPr id="22" name="NH3 2"/>
          <p:cNvSpPr/>
          <p:nvPr/>
        </p:nvSpPr>
        <p:spPr>
          <a:xfrm>
            <a:off x="3291840" y="4572000"/>
            <a:ext cx="502920" cy="50292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3</a:t>
            </a:r>
            <a:endParaRPr lang="es-AR" sz="1300" dirty="0">
              <a:latin typeface="Bahnschrift SemiBold Condensed"/>
            </a:endParaRPr>
          </a:p>
        </p:txBody>
      </p:sp>
      <p:sp>
        <p:nvSpPr>
          <p:cNvPr id="23" name="NH4 atrapado 0"/>
          <p:cNvSpPr/>
          <p:nvPr/>
        </p:nvSpPr>
        <p:spPr>
          <a:xfrm>
            <a:off x="914400" y="4572000"/>
            <a:ext cx="548640" cy="54864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24" name="NH4 atrapado 1"/>
          <p:cNvSpPr/>
          <p:nvPr/>
        </p:nvSpPr>
        <p:spPr>
          <a:xfrm>
            <a:off x="2103120" y="4572000"/>
            <a:ext cx="548640" cy="54864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25" name="NH4 atrapado 2"/>
          <p:cNvSpPr/>
          <p:nvPr/>
        </p:nvSpPr>
        <p:spPr>
          <a:xfrm>
            <a:off x="3291840" y="4572000"/>
            <a:ext cx="548640" cy="548640"/>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NH</a:t>
            </a:r>
            <a:r>
              <a:rPr lang="es-AR" sz="1300" b="1" baseline="-25000" dirty="0">
                <a:solidFill>
                  <a:srgbClr val="FFFFFF"/>
                </a:solidFill>
                <a:latin typeface="Bahnschrift SemiBold Condensed"/>
                <a:ea typeface="Bahnschrift SemiBold Condensed"/>
                <a:cs typeface="Bahnschrift SemiBold Condensed"/>
                <a:sym typeface="Bahnschrift SemiBold Condensed"/>
              </a:rPr>
              <a:t>4</a:t>
            </a:r>
            <a:r>
              <a:rPr lang="es-AR" sz="130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26" name="H 0"/>
          <p:cNvSpPr/>
          <p:nvPr/>
        </p:nvSpPr>
        <p:spPr>
          <a:xfrm>
            <a:off x="1280160" y="429768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27" name="H 1"/>
          <p:cNvSpPr/>
          <p:nvPr/>
        </p:nvSpPr>
        <p:spPr>
          <a:xfrm>
            <a:off x="2468880" y="429768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28" name="H 2"/>
          <p:cNvSpPr/>
          <p:nvPr/>
        </p:nvSpPr>
        <p:spPr>
          <a:xfrm>
            <a:off x="3657600" y="4297680"/>
            <a:ext cx="320040" cy="320040"/>
          </a:xfrm>
          <a:prstGeom prst="ellipse">
            <a:avLst/>
          </a:prstGeom>
          <a:gradFill rotWithShape="1">
            <a:gsLst>
              <a:gs pos="0">
                <a:srgbClr val="EF8A80"/>
              </a:gs>
              <a:gs pos="55000">
                <a:srgbClr val="E74C3C"/>
              </a:gs>
              <a:gs pos="100000">
                <a:srgbClr val="B83C30"/>
              </a:gs>
            </a:gsLst>
            <a:path path="circle">
              <a:fillToRect l="32000" t="28000" r="68000" b="72000"/>
            </a:path>
          </a:gradFill>
          <a:ln w="12700" cap="rnd">
            <a:solidFill>
              <a:srgbClr val="7F2921"/>
            </a:solidFill>
            <a:round/>
          </a:ln>
        </p:spPr>
        <p:txBody>
          <a:bodyPr wrap="square" lIns="0" tIns="0" rIns="0" bIns="0" anchor="ctr" rtlCol="0">
            <a:noAutofit/>
          </a:bodyPr>
          <a:lstStyle/>
          <a:p>
            <a:pPr algn="ctr">
              <a:spcAft>
                <a:spcPts val="300"/>
              </a:spcAft>
              <a:buNone/>
            </a:pPr>
            <a:r>
              <a:rPr lang="es-AR" sz="1030" b="1" dirty="0">
                <a:solidFill>
                  <a:srgbClr val="FFFFFF"/>
                </a:solidFill>
                <a:latin typeface="Bahnschrift SemiBold Condensed"/>
                <a:ea typeface="Bahnschrift SemiBold Condensed"/>
                <a:cs typeface="Bahnschrift SemiBold Condensed"/>
                <a:sym typeface="Bahnschrift SemiBold Condensed"/>
              </a:rPr>
              <a:t>H</a:t>
            </a:r>
            <a:r>
              <a:rPr lang="es-AR" sz="1030" b="1" baseline="30000" dirty="0">
                <a:solidFill>
                  <a:srgbClr val="FFFFFF"/>
                </a:solidFill>
                <a:latin typeface="Bahnschrift SemiBold Condensed"/>
                <a:ea typeface="Bahnschrift SemiBold Condensed"/>
                <a:cs typeface="Bahnschrift SemiBold Condensed"/>
                <a:sym typeface="Bahnschrift SemiBold Condensed"/>
              </a:rPr>
              <a:t>+</a:t>
            </a:r>
            <a:endParaRPr lang="es-AR" sz="1030" dirty="0">
              <a:latin typeface="Bahnschrift SemiBold Condensed"/>
            </a:endParaRPr>
          </a:p>
        </p:txBody>
      </p:sp>
      <p:sp>
        <p:nvSpPr>
          <p:cNvPr id="29" name="Forma 28"/>
          <p:cNvSpPr/>
          <p:nvPr/>
        </p:nvSpPr>
        <p:spPr>
          <a:xfrm>
            <a:off x="8138160" y="3977640"/>
            <a:ext cx="3657600" cy="20574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NH</a:t>
            </a:r>
            <a:r>
              <a:rPr lang="es-AR" sz="1600" baseline="-25000" dirty="0">
                <a:solidFill>
                  <a:srgbClr val="1E1E1E"/>
                </a:solidFill>
                <a:latin typeface="Bahnschrift"/>
                <a:ea typeface="Bahnschrift"/>
                <a:cs typeface="Bahnschrift"/>
                <a:sym typeface="Bahnschrift"/>
              </a:rPr>
              <a:t>3</a:t>
            </a:r>
            <a:r>
              <a:rPr lang="es-AR" sz="1600" dirty="0">
                <a:solidFill>
                  <a:srgbClr val="1E1E1E"/>
                </a:solidFill>
                <a:latin typeface="Bahnschrift"/>
                <a:ea typeface="Bahnschrift"/>
                <a:cs typeface="Bahnschrift"/>
                <a:sym typeface="Bahnschrift"/>
              </a:rPr>
              <a:t> difusible + H</a:t>
            </a:r>
            <a:r>
              <a:rPr lang="es-AR" sz="1600" baseline="30000" dirty="0">
                <a:solidFill>
                  <a:srgbClr val="1E1E1E"/>
                </a:solidFill>
                <a:latin typeface="Bahnschrift"/>
                <a:ea typeface="Bahnschrift"/>
                <a:cs typeface="Bahnschrift"/>
                <a:sym typeface="Bahnschrift"/>
              </a:rPr>
              <a:t>+</a:t>
            </a:r>
            <a:r>
              <a:rPr lang="es-AR" sz="1600" dirty="0">
                <a:solidFill>
                  <a:srgbClr val="1E1E1E"/>
                </a:solidFill>
                <a:latin typeface="Bahnschrift"/>
                <a:ea typeface="Bahnschrift"/>
                <a:cs typeface="Bahnschrift"/>
                <a:sym typeface="Bahnschrift"/>
              </a:rPr>
              <a:t> → </a:t>
            </a:r>
            <a:r>
              <a:rPr lang="es-AR" sz="1600" b="1" dirty="0">
                <a:solidFill>
                  <a:srgbClr val="1E1E1E"/>
                </a:solidFill>
                <a:latin typeface="Bahnschrift"/>
                <a:ea typeface="Bahnschrift"/>
                <a:cs typeface="Bahnschrift"/>
                <a:sym typeface="Bahnschrift"/>
              </a:rPr>
              <a:t>NH</a:t>
            </a:r>
            <a:r>
              <a:rPr lang="es-AR" sz="1600" b="1" baseline="-25000" dirty="0">
                <a:solidFill>
                  <a:srgbClr val="1E1E1E"/>
                </a:solidFill>
                <a:latin typeface="Bahnschrift"/>
                <a:ea typeface="Bahnschrift"/>
                <a:cs typeface="Bahnschrift"/>
                <a:sym typeface="Bahnschrift"/>
              </a:rPr>
              <a:t>4</a:t>
            </a:r>
            <a:r>
              <a:rPr lang="es-AR" sz="1600" b="1" baseline="30000" dirty="0">
                <a:solidFill>
                  <a:srgbClr val="1E1E1E"/>
                </a:solidFill>
                <a:latin typeface="Bahnschrift"/>
                <a:ea typeface="Bahnschrift"/>
                <a:cs typeface="Bahnschrift"/>
                <a:sym typeface="Bahnschrift"/>
              </a:rPr>
              <a:t>+</a:t>
            </a:r>
            <a:r>
              <a:rPr lang="es-AR" sz="1600" b="1" dirty="0">
                <a:solidFill>
                  <a:srgbClr val="1E1E1E"/>
                </a:solidFill>
                <a:latin typeface="Bahnschrift"/>
                <a:ea typeface="Bahnschrift"/>
                <a:cs typeface="Bahnschrift"/>
                <a:sym typeface="Bahnschrift"/>
              </a:rPr>
              <a:t> atrapado</a:t>
            </a:r>
            <a:r>
              <a:rPr lang="es-AR" sz="1600" dirty="0">
                <a:solidFill>
                  <a:srgbClr val="1E1E1E"/>
                </a:solidFill>
                <a:latin typeface="Bahnschrift"/>
                <a:ea typeface="Bahnschrift"/>
                <a:cs typeface="Bahnschrift"/>
                <a:sym typeface="Bahnschrift"/>
              </a:rPr>
              <a:t>; además se </a:t>
            </a:r>
            <a:r>
              <a:rPr lang="es-AR" sz="1600" b="1" dirty="0">
                <a:solidFill>
                  <a:srgbClr val="1E1E1E"/>
                </a:solidFill>
                <a:latin typeface="Bahnschrift"/>
                <a:ea typeface="Bahnschrift"/>
                <a:cs typeface="Bahnschrift"/>
                <a:sym typeface="Bahnschrift"/>
              </a:rPr>
              <a:t>acelera el tránsito</a:t>
            </a:r>
            <a:r>
              <a:rPr lang="es-AR" sz="1600" dirty="0">
                <a:solidFill>
                  <a:srgbClr val="1E1E1E"/>
                </a:solidFill>
                <a:latin typeface="Bahnschrift"/>
                <a:ea typeface="Bahnschrift"/>
                <a:cs typeface="Bahnschrift"/>
                <a:sym typeface="Bahnschrift"/>
              </a:rPr>
              <a:t> y la evacuación de nitrógeno.</a:t>
            </a:r>
            <a:endParaRPr lang="es-AR" sz="1600" dirty="0">
              <a:latin typeface="Bahnschrift"/>
            </a:endParaRPr>
          </a:p>
        </p:txBody>
      </p:sp>
      <p:sp>
        <p:nvSpPr>
          <p:cNvPr id="2" name="Etiqueta sección"/>
          <p:cNvSpPr/>
          <p:nvPr/>
        </p:nvSpPr>
        <p:spPr>
          <a:xfrm>
            <a:off x="9606605" y="201168"/>
            <a:ext cx="231077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7 · ENCEFALOPATÍA</a:t>
            </a:r>
            <a:endParaRPr lang="es-AR" sz="1300" dirty="0">
              <a:latin typeface="Bahnschrift SemiBold Condensed"/>
            </a:endParaRPr>
          </a:p>
        </p:txBody>
      </p:sp>
      <p:sp>
        <p:nvSpPr>
          <p:cNvPr id="3" name="Título"/>
          <p:cNvSpPr/>
          <p:nvPr/>
        </p:nvSpPr>
        <p:spPr>
          <a:xfrm>
            <a:off x="274320" y="146304"/>
            <a:ext cx="793942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P7 · FUNDAMENTO BIOQUÍMICO DE LA INDICACIÓN HISTÓRICA</a:t>
            </a:r>
            <a:endParaRPr lang="es-AR" sz="2600" dirty="0">
              <a:latin typeface="Bahnschrift SemiBold Condensed"/>
            </a:endParaRPr>
          </a:p>
        </p:txBody>
      </p:sp>
      <p:sp>
        <p:nvSpPr>
          <p:cNvPr id="3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childTnLst>
                          </p:cTn>
                        </p:par>
                      </p:childTnLst>
                    </p:cTn>
                  </p:par>
                  <p:par>
                    <p:cTn id="3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par>
                          <p:cTn id="3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childTnLst>
                    </p:cTn>
                  </p:par>
                  <p:par>
                    <p:cTn id="85" fill="hold">
                      <p:stCondLst>
                        <p:cond delay="indefinite"/>
                      </p:stCondLst>
                      <p:childTnLst>
                        <p:par>
                          <p:cTn id="43" fill="hold">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p:cTn id="40" dur="500" fill="hold"/>
                                        <p:tgtEl>
                                          <p:spTgt spid="26"/>
                                        </p:tgtEl>
                                        <p:attrNameLst>
                                          <p:attrName>ppt_w</p:attrName>
                                        </p:attrNameLst>
                                      </p:cBhvr>
                                      <p:tavLst>
                                        <p:tav tm="0">
                                          <p:val>
                                            <p:fltVal val="0"/>
                                          </p:val>
                                        </p:tav>
                                        <p:tav tm="100000">
                                          <p:val>
                                            <p:strVal val="#ppt_w"/>
                                          </p:val>
                                        </p:tav>
                                      </p:tavLst>
                                    </p:anim>
                                    <p:anim calcmode="lin" valueType="num">
                                      <p:cBhvr>
                                        <p:cTn id="41" dur="500" fill="hold"/>
                                        <p:tgtEl>
                                          <p:spTgt spid="26"/>
                                        </p:tgtEl>
                                        <p:attrNameLst>
                                          <p:attrName>ppt_h</p:attrName>
                                        </p:attrNameLst>
                                      </p:cBhvr>
                                      <p:tavLst>
                                        <p:tav tm="0">
                                          <p:val>
                                            <p:fltVal val="0"/>
                                          </p:val>
                                        </p:tav>
                                        <p:tav tm="100000">
                                          <p:val>
                                            <p:strVal val="#ppt_h"/>
                                          </p:val>
                                        </p:tav>
                                      </p:tavLst>
                                    </p:anim>
                                    <p:animEffect transition="in" filter="fade">
                                      <p:cBhvr>
                                        <p:cTn id="42" dur="500"/>
                                        <p:tgtEl>
                                          <p:spTgt spid="26"/>
                                        </p:tgtEl>
                                      </p:cBhvr>
                                    </p:animEffect>
                                  </p:childTnLst>
                                </p:cTn>
                              </p:par>
                            </p:childTnLst>
                          </p:cTn>
                        </p:par>
                        <p:par>
                          <p:cTn id="49" fill="hold">
                            <p:stCondLst>
                              <p:cond delay="500"/>
                            </p:stCondLst>
                            <p:childTnLst>
                              <p:par>
                                <p:cTn id="44" presetID="53" presetClass="entr" presetSubtype="16" fill="hold" grpId="0" nodeType="after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p:cTn id="46" dur="500" fill="hold"/>
                                        <p:tgtEl>
                                          <p:spTgt spid="27"/>
                                        </p:tgtEl>
                                        <p:attrNameLst>
                                          <p:attrName>ppt_w</p:attrName>
                                        </p:attrNameLst>
                                      </p:cBhvr>
                                      <p:tavLst>
                                        <p:tav tm="0">
                                          <p:val>
                                            <p:fltVal val="0"/>
                                          </p:val>
                                        </p:tav>
                                        <p:tav tm="100000">
                                          <p:val>
                                            <p:strVal val="#ppt_w"/>
                                          </p:val>
                                        </p:tav>
                                      </p:tavLst>
                                    </p:anim>
                                    <p:anim calcmode="lin" valueType="num">
                                      <p:cBhvr>
                                        <p:cTn id="47" dur="500" fill="hold"/>
                                        <p:tgtEl>
                                          <p:spTgt spid="27"/>
                                        </p:tgtEl>
                                        <p:attrNameLst>
                                          <p:attrName>ppt_h</p:attrName>
                                        </p:attrNameLst>
                                      </p:cBhvr>
                                      <p:tavLst>
                                        <p:tav tm="0">
                                          <p:val>
                                            <p:fltVal val="0"/>
                                          </p:val>
                                        </p:tav>
                                        <p:tav tm="100000">
                                          <p:val>
                                            <p:strVal val="#ppt_h"/>
                                          </p:val>
                                        </p:tav>
                                      </p:tavLst>
                                    </p:anim>
                                    <p:animEffect transition="in" filter="fade">
                                      <p:cBhvr>
                                        <p:cTn id="48" dur="500"/>
                                        <p:tgtEl>
                                          <p:spTgt spid="27"/>
                                        </p:tgtEl>
                                      </p:cBhvr>
                                    </p:animEffect>
                                  </p:childTnLst>
                                </p:cTn>
                              </p:par>
                            </p:childTnLst>
                          </p:cTn>
                        </p:par>
                        <p:par>
                          <p:cTn id="55" fill="hold">
                            <p:stCondLst>
                              <p:cond delay="1000"/>
                            </p:stCondLst>
                            <p:childTnLst>
                              <p:par>
                                <p:cTn id="50" presetID="53" presetClass="entr" presetSubtype="16" fill="hold" grpId="0" nodeType="after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p:cTn id="52" dur="500" fill="hold"/>
                                        <p:tgtEl>
                                          <p:spTgt spid="28"/>
                                        </p:tgtEl>
                                        <p:attrNameLst>
                                          <p:attrName>ppt_w</p:attrName>
                                        </p:attrNameLst>
                                      </p:cBhvr>
                                      <p:tavLst>
                                        <p:tav tm="0">
                                          <p:val>
                                            <p:fltVal val="0"/>
                                          </p:val>
                                        </p:tav>
                                        <p:tav tm="100000">
                                          <p:val>
                                            <p:strVal val="#ppt_w"/>
                                          </p:val>
                                        </p:tav>
                                      </p:tavLst>
                                    </p:anim>
                                    <p:anim calcmode="lin" valueType="num">
                                      <p:cBhvr>
                                        <p:cTn id="53" dur="500" fill="hold"/>
                                        <p:tgtEl>
                                          <p:spTgt spid="28"/>
                                        </p:tgtEl>
                                        <p:attrNameLst>
                                          <p:attrName>ppt_h</p:attrName>
                                        </p:attrNameLst>
                                      </p:cBhvr>
                                      <p:tavLst>
                                        <p:tav tm="0">
                                          <p:val>
                                            <p:fltVal val="0"/>
                                          </p:val>
                                        </p:tav>
                                        <p:tav tm="100000">
                                          <p:val>
                                            <p:strVal val="#ppt_h"/>
                                          </p:val>
                                        </p:tav>
                                      </p:tavLst>
                                    </p:anim>
                                    <p:animEffect transition="in" filter="fade">
                                      <p:cBhvr>
                                        <p:cTn id="54" dur="500"/>
                                        <p:tgtEl>
                                          <p:spTgt spid="28"/>
                                        </p:tgtEl>
                                      </p:cBhvr>
                                    </p:animEffect>
                                  </p:childTnLst>
                                </p:cTn>
                              </p:par>
                            </p:childTnLst>
                          </p:cTn>
                        </p:par>
                        <p:par>
                          <p:cTn id="80" fill="hold">
                            <p:stCondLst>
                              <p:cond delay="1500"/>
                            </p:stCondLst>
                            <p:childTnLst>
                              <p:par>
                                <p:cTn id="56" presetID="10" presetClass="exit" presetSubtype="0" fill="hold" grpId="0" nodeType="afterEffect">
                                  <p:stCondLst>
                                    <p:cond delay="0"/>
                                  </p:stCondLst>
                                  <p:childTnLst>
                                    <p:animEffect transition="out" filter="fade">
                                      <p:cBhvr>
                                        <p:cTn id="57" dur="400"/>
                                        <p:tgtEl>
                                          <p:spTgt spid="20"/>
                                        </p:tgtEl>
                                      </p:cBhvr>
                                    </p:animEffect>
                                    <p:set>
                                      <p:cBhvr>
                                        <p:cTn id="58" dur="1" fill="hold">
                                          <p:stCondLst>
                                            <p:cond delay="399"/>
                                          </p:stCondLst>
                                        </p:cTn>
                                        <p:tgtEl>
                                          <p:spTgt spid="20"/>
                                        </p:tgtEl>
                                        <p:attrNameLst>
                                          <p:attrName>style.visibility</p:attrName>
                                        </p:attrNameLst>
                                      </p:cBhvr>
                                      <p:to>
                                        <p:strVal val="hidden"/>
                                      </p:to>
                                    </p:set>
                                  </p:childTnLst>
                                </p:cTn>
                              </p:par>
                              <p:par>
                                <p:cTn id="59" presetID="10" presetClass="exit" presetSubtype="0" fill="hold" grpId="0" nodeType="withEffect">
                                  <p:stCondLst>
                                    <p:cond delay="0"/>
                                  </p:stCondLst>
                                  <p:childTnLst>
                                    <p:animEffect transition="out" filter="fade">
                                      <p:cBhvr>
                                        <p:cTn id="60" dur="400"/>
                                        <p:tgtEl>
                                          <p:spTgt spid="21"/>
                                        </p:tgtEl>
                                      </p:cBhvr>
                                    </p:animEffect>
                                    <p:set>
                                      <p:cBhvr>
                                        <p:cTn id="61" dur="1" fill="hold">
                                          <p:stCondLst>
                                            <p:cond delay="399"/>
                                          </p:stCondLst>
                                        </p:cTn>
                                        <p:tgtEl>
                                          <p:spTgt spid="21"/>
                                        </p:tgtEl>
                                        <p:attrNameLst>
                                          <p:attrName>style.visibility</p:attrName>
                                        </p:attrNameLst>
                                      </p:cBhvr>
                                      <p:to>
                                        <p:strVal val="hidden"/>
                                      </p:to>
                                    </p:set>
                                  </p:childTnLst>
                                </p:cTn>
                              </p:par>
                              <p:par>
                                <p:cTn id="62" presetID="10" presetClass="exit" presetSubtype="0" fill="hold" grpId="0" nodeType="withEffect">
                                  <p:stCondLst>
                                    <p:cond delay="0"/>
                                  </p:stCondLst>
                                  <p:childTnLst>
                                    <p:animEffect transition="out" filter="fade">
                                      <p:cBhvr>
                                        <p:cTn id="63" dur="400"/>
                                        <p:tgtEl>
                                          <p:spTgt spid="22"/>
                                        </p:tgtEl>
                                      </p:cBhvr>
                                    </p:animEffect>
                                    <p:set>
                                      <p:cBhvr>
                                        <p:cTn id="64" dur="1" fill="hold">
                                          <p:stCondLst>
                                            <p:cond delay="399"/>
                                          </p:stCondLst>
                                        </p:cTn>
                                        <p:tgtEl>
                                          <p:spTgt spid="22"/>
                                        </p:tgtEl>
                                        <p:attrNameLst>
                                          <p:attrName>style.visibility</p:attrName>
                                        </p:attrNameLst>
                                      </p:cBhvr>
                                      <p:to>
                                        <p:strVal val="hidden"/>
                                      </p:to>
                                    </p:set>
                                  </p:childTnLst>
                                </p:cTn>
                              </p:par>
                              <p:par>
                                <p:cTn id="65" presetID="53" presetClass="entr" presetSubtype="16"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500" fill="hold"/>
                                        <p:tgtEl>
                                          <p:spTgt spid="23"/>
                                        </p:tgtEl>
                                        <p:attrNameLst>
                                          <p:attrName>ppt_w</p:attrName>
                                        </p:attrNameLst>
                                      </p:cBhvr>
                                      <p:tavLst>
                                        <p:tav tm="0">
                                          <p:val>
                                            <p:fltVal val="0"/>
                                          </p:val>
                                        </p:tav>
                                        <p:tav tm="100000">
                                          <p:val>
                                            <p:strVal val="#ppt_w"/>
                                          </p:val>
                                        </p:tav>
                                      </p:tavLst>
                                    </p:anim>
                                    <p:anim calcmode="lin" valueType="num">
                                      <p:cBhvr>
                                        <p:cTn id="68" dur="500" fill="hold"/>
                                        <p:tgtEl>
                                          <p:spTgt spid="23"/>
                                        </p:tgtEl>
                                        <p:attrNameLst>
                                          <p:attrName>ppt_h</p:attrName>
                                        </p:attrNameLst>
                                      </p:cBhvr>
                                      <p:tavLst>
                                        <p:tav tm="0">
                                          <p:val>
                                            <p:fltVal val="0"/>
                                          </p:val>
                                        </p:tav>
                                        <p:tav tm="100000">
                                          <p:val>
                                            <p:strVal val="#ppt_h"/>
                                          </p:val>
                                        </p:tav>
                                      </p:tavLst>
                                    </p:anim>
                                    <p:animEffect transition="in" filter="fade">
                                      <p:cBhvr>
                                        <p:cTn id="69" dur="500"/>
                                        <p:tgtEl>
                                          <p:spTgt spid="23"/>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24"/>
                                        </p:tgtEl>
                                        <p:attrNameLst>
                                          <p:attrName>style.visibility</p:attrName>
                                        </p:attrNameLst>
                                      </p:cBhvr>
                                      <p:to>
                                        <p:strVal val="visible"/>
                                      </p:to>
                                    </p:set>
                                    <p:anim calcmode="lin" valueType="num">
                                      <p:cBhvr>
                                        <p:cTn id="72" dur="500" fill="hold"/>
                                        <p:tgtEl>
                                          <p:spTgt spid="24"/>
                                        </p:tgtEl>
                                        <p:attrNameLst>
                                          <p:attrName>ppt_w</p:attrName>
                                        </p:attrNameLst>
                                      </p:cBhvr>
                                      <p:tavLst>
                                        <p:tav tm="0">
                                          <p:val>
                                            <p:fltVal val="0"/>
                                          </p:val>
                                        </p:tav>
                                        <p:tav tm="100000">
                                          <p:val>
                                            <p:strVal val="#ppt_w"/>
                                          </p:val>
                                        </p:tav>
                                      </p:tavLst>
                                    </p:anim>
                                    <p:anim calcmode="lin" valueType="num">
                                      <p:cBhvr>
                                        <p:cTn id="73" dur="500" fill="hold"/>
                                        <p:tgtEl>
                                          <p:spTgt spid="24"/>
                                        </p:tgtEl>
                                        <p:attrNameLst>
                                          <p:attrName>ppt_h</p:attrName>
                                        </p:attrNameLst>
                                      </p:cBhvr>
                                      <p:tavLst>
                                        <p:tav tm="0">
                                          <p:val>
                                            <p:fltVal val="0"/>
                                          </p:val>
                                        </p:tav>
                                        <p:tav tm="100000">
                                          <p:val>
                                            <p:strVal val="#ppt_h"/>
                                          </p:val>
                                        </p:tav>
                                      </p:tavLst>
                                    </p:anim>
                                    <p:animEffect transition="in" filter="fade">
                                      <p:cBhvr>
                                        <p:cTn id="74" dur="500"/>
                                        <p:tgtEl>
                                          <p:spTgt spid="24"/>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25"/>
                                        </p:tgtEl>
                                        <p:attrNameLst>
                                          <p:attrName>style.visibility</p:attrName>
                                        </p:attrNameLst>
                                      </p:cBhvr>
                                      <p:to>
                                        <p:strVal val="visible"/>
                                      </p:to>
                                    </p:set>
                                    <p:anim calcmode="lin" valueType="num">
                                      <p:cBhvr>
                                        <p:cTn id="77" dur="500" fill="hold"/>
                                        <p:tgtEl>
                                          <p:spTgt spid="25"/>
                                        </p:tgtEl>
                                        <p:attrNameLst>
                                          <p:attrName>ppt_w</p:attrName>
                                        </p:attrNameLst>
                                      </p:cBhvr>
                                      <p:tavLst>
                                        <p:tav tm="0">
                                          <p:val>
                                            <p:fltVal val="0"/>
                                          </p:val>
                                        </p:tav>
                                        <p:tav tm="100000">
                                          <p:val>
                                            <p:strVal val="#ppt_w"/>
                                          </p:val>
                                        </p:tav>
                                      </p:tavLst>
                                    </p:anim>
                                    <p:anim calcmode="lin" valueType="num">
                                      <p:cBhvr>
                                        <p:cTn id="78" dur="500" fill="hold"/>
                                        <p:tgtEl>
                                          <p:spTgt spid="25"/>
                                        </p:tgtEl>
                                        <p:attrNameLst>
                                          <p:attrName>ppt_h</p:attrName>
                                        </p:attrNameLst>
                                      </p:cBhvr>
                                      <p:tavLst>
                                        <p:tav tm="0">
                                          <p:val>
                                            <p:fltVal val="0"/>
                                          </p:val>
                                        </p:tav>
                                        <p:tav tm="100000">
                                          <p:val>
                                            <p:strVal val="#ppt_h"/>
                                          </p:val>
                                        </p:tav>
                                      </p:tavLst>
                                    </p:anim>
                                    <p:animEffect transition="in" filter="fade">
                                      <p:cBhvr>
                                        <p:cTn id="79" dur="500"/>
                                        <p:tgtEl>
                                          <p:spTgt spid="25"/>
                                        </p:tgtEl>
                                      </p:cBhvr>
                                    </p:animEffect>
                                  </p:childTnLst>
                                </p:cTn>
                              </p:par>
                            </p:childTnLst>
                          </p:cTn>
                        </p:par>
                        <p:par>
                          <p:cTn id="84" fill="hold">
                            <p:stCondLst>
                              <p:cond delay="2000"/>
                            </p:stCondLst>
                            <p:childTnLst>
                              <p:par>
                                <p:cTn id="81" presetID="10" presetClass="entr" presetSubtype="0" fill="hold" grpId="0" nodeType="after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fade">
                                      <p:cBhvr>
                                        <p:cTn id="8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20" grpId="0" animBg="1"/>
      <p:bldP spid="21" grpId="0" animBg="1"/>
      <p:bldP spid="22" grpId="0" animBg="1"/>
      <p:bldP spid="26" grpId="0" animBg="1"/>
      <p:bldP spid="27" grpId="0" animBg="1"/>
      <p:bldP spid="28" grpId="0" animBg="1"/>
      <p:bldP spid="23" grpId="0" animBg="1"/>
      <p:bldP spid="24" grpId="0" animBg="1"/>
      <p:bldP spid="25" grpId="0" animBg="1"/>
      <p:bldP spid="29" grpId="0" animBg="1"/>
    </p:bldLst>
  </p:timing>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Antes"/>
          <p:cNvGrpSpPr/>
          <p:nvPr/>
        </p:nvGrpSpPr>
        <p:grpSpPr>
          <a:xfrm>
            <a:off x="365760" y="1005840"/>
            <a:ext cx="3657600" cy="3840480"/>
            <a:chOff x="365760" y="1005840"/>
            <a:chExt cx="3657600" cy="3840480"/>
          </a:xfrm>
        </p:grpSpPr>
        <p:sp>
          <p:nvSpPr>
            <p:cNvPr id="14" name="Forma 13"/>
            <p:cNvSpPr/>
            <p:nvPr/>
          </p:nvSpPr>
          <p:spPr>
            <a:xfrm>
              <a:off x="365760" y="1188720"/>
              <a:ext cx="3657600" cy="3657600"/>
            </a:xfrm>
            <a:prstGeom prst="rect">
              <a:avLst/>
            </a:prstGeom>
            <a:solidFill>
              <a:srgbClr val="D5D8D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ctr" rtlCol="0">
              <a:noAutofit/>
            </a:bodyPr>
            <a:lstStyle/>
            <a:p>
              <a:pPr algn="ctr">
                <a:spcAft>
                  <a:spcPts val="400"/>
                </a:spcAft>
                <a:buNone/>
              </a:pPr>
              <a:r>
                <a:rPr lang="es-AR" sz="1800" b="1" dirty="0">
                  <a:solidFill>
                    <a:srgbClr val="1E1E1E"/>
                  </a:solidFill>
                  <a:latin typeface="Bahnschrift"/>
                  <a:ea typeface="Bahnschrift"/>
                  <a:cs typeface="Bahnschrift"/>
                  <a:sym typeface="Bahnschrift"/>
                </a:rPr>
                <a:t>≤ 0,8 g/kg/día</a:t>
              </a:r>
              <a:r>
                <a:rPr lang="es-AR" sz="1800" dirty="0">
                  <a:solidFill>
                    <a:srgbClr val="1E1E1E"/>
                  </a:solidFill>
                  <a:latin typeface="Bahnschrift"/>
                  <a:ea typeface="Bahnschrift"/>
                  <a:cs typeface="Bahnschrift"/>
                  <a:sym typeface="Bahnschrift"/>
                </a:rPr>
                <a:t> de proteína</a:t>
              </a:r>
              <a:endParaRPr lang="es-AR" sz="1800" dirty="0">
                <a:latin typeface="Bahnschrift"/>
              </a:endParaRPr>
            </a:p>
            <a:p>
              <a:pPr algn="ctr">
                <a:spcAft>
                  <a:spcPts val="400"/>
                </a:spcAft>
                <a:buNone/>
              </a:pPr>
              <a:endParaRPr lang="es-AR" sz="1800" dirty="0">
                <a:latin typeface="Bahnschrift"/>
              </a:endParaRPr>
            </a:p>
            <a:p>
              <a:pPr algn="ctr">
                <a:spcAft>
                  <a:spcPts val="400"/>
                </a:spcAft>
                <a:buNone/>
              </a:pPr>
              <a:r>
                <a:rPr lang="es-AR" sz="1800" b="1" dirty="0">
                  <a:solidFill>
                    <a:srgbClr val="1E1E1E"/>
                  </a:solidFill>
                  <a:latin typeface="Bahnschrift"/>
                  <a:ea typeface="Bahnschrift"/>
                  <a:cs typeface="Bahnschrift"/>
                  <a:sym typeface="Bahnschrift"/>
                </a:rPr>
                <a:t>Neomicina</a:t>
              </a:r>
              <a:r>
                <a:rPr lang="es-AR" sz="1800" dirty="0">
                  <a:solidFill>
                    <a:srgbClr val="1E1E1E"/>
                  </a:solidFill>
                  <a:latin typeface="Bahnschrift"/>
                  <a:ea typeface="Bahnschrift"/>
                  <a:cs typeface="Bahnschrift"/>
                  <a:sym typeface="Bahnschrift"/>
                </a:rPr>
                <a:t> de rutina</a:t>
              </a:r>
              <a:endParaRPr lang="es-AR" sz="1800" dirty="0">
                <a:latin typeface="Bahnschrift"/>
              </a:endParaRPr>
            </a:p>
          </p:txBody>
        </p:sp>
        <p:sp>
          <p:nvSpPr>
            <p:cNvPr id="15" name="Forma 14"/>
            <p:cNvSpPr/>
            <p:nvPr/>
          </p:nvSpPr>
          <p:spPr>
            <a:xfrm>
              <a:off x="475488" y="1005840"/>
              <a:ext cx="853167" cy="347472"/>
            </a:xfrm>
            <a:prstGeom prst="rect">
              <a:avLst/>
            </a:prstGeom>
            <a:solidFill>
              <a:srgbClr val="7F8C8D"/>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ANTES</a:t>
              </a:r>
              <a:endParaRPr lang="es-AR" sz="1600" dirty="0">
                <a:latin typeface="Bahnschrift SemiBold Condensed"/>
              </a:endParaRPr>
            </a:p>
          </p:txBody>
        </p:sp>
      </p:grpSp>
      <p:sp>
        <p:nvSpPr>
          <p:cNvPr id="16" name="Flecha 15_2"/>
          <p:cNvSpPr/>
          <p:nvPr/>
        </p:nvSpPr>
        <p:spPr>
          <a:xfrm>
            <a:off x="4114800" y="2926080"/>
            <a:ext cx="822960" cy="9144"/>
          </a:xfrm>
          <a:custGeom>
            <a:avLst/>
            <a:gdLst/>
            <a:ahLst/>
            <a:cxnLst/>
            <a:rect l="0" t="0" r="r" b="b"/>
            <a:pathLst>
              <a:path w="900" h="10" fill="none">
                <a:moveTo>
                  <a:pt x="0" y="0"/>
                </a:moveTo>
                <a:lnTo>
                  <a:pt x="900" y="0"/>
                </a:lnTo>
              </a:path>
            </a:pathLst>
          </a:custGeom>
          <a:noFill/>
          <a:ln w="76200" cap="rnd">
            <a:solidFill>
              <a:srgbClr val="1E8C3A"/>
            </a:solidFill>
            <a:round/>
            <a:tailEnd type="triangle" w="med" len="med"/>
          </a:ln>
        </p:spPr>
      </p:sp>
      <p:grpSp>
        <p:nvGrpSpPr>
          <p:cNvPr id="17" name="Recuadro Guías actuales (2026)"/>
          <p:cNvGrpSpPr/>
          <p:nvPr/>
        </p:nvGrpSpPr>
        <p:grpSpPr>
          <a:xfrm>
            <a:off x="5029200" y="1005840"/>
            <a:ext cx="6766560" cy="3840480"/>
            <a:chOff x="5029200" y="1005840"/>
            <a:chExt cx="6766560" cy="3840480"/>
          </a:xfrm>
        </p:grpSpPr>
        <p:sp>
          <p:nvSpPr>
            <p:cNvPr id="18" name="Forma 18"/>
            <p:cNvSpPr/>
            <p:nvPr/>
          </p:nvSpPr>
          <p:spPr>
            <a:xfrm>
              <a:off x="5029200" y="1188720"/>
              <a:ext cx="6766560" cy="365760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Proteína 1,2–1,5 g/kg/día</a:t>
              </a:r>
              <a:r>
                <a:rPr lang="es-AR" sz="1600" dirty="0">
                  <a:solidFill>
                    <a:srgbClr val="1E1E1E"/>
                  </a:solidFill>
                  <a:latin typeface="Bahnschrift"/>
                  <a:ea typeface="Bahnschrift"/>
                  <a:cs typeface="Bahnschrift"/>
                  <a:sym typeface="Bahnschrift"/>
                </a:rPr>
                <a:t> en pacientes con encefalopatía, individualizando y </a:t>
              </a:r>
              <a:r>
                <a:rPr lang="es-AR" sz="1600" b="1" dirty="0">
                  <a:solidFill>
                    <a:srgbClr val="1E1E1E"/>
                  </a:solidFill>
                  <a:latin typeface="Bahnschrift"/>
                  <a:ea typeface="Bahnschrift"/>
                  <a:cs typeface="Bahnschrift"/>
                  <a:sym typeface="Bahnschrift"/>
                </a:rPr>
                <a:t>evitando ayunos largos</a:t>
              </a:r>
              <a:r>
                <a:rPr lang="es-AR" sz="1600" dirty="0">
                  <a:solidFill>
                    <a:srgbClr val="1E1E1E"/>
                  </a:solidFill>
                  <a:latin typeface="Bahnschrift"/>
                  <a:ea typeface="Bahnschrift"/>
                  <a:cs typeface="Bahnschrift"/>
                  <a:sym typeface="Bahnschrift"/>
                </a:rPr>
                <a:t>: restringir puede </a:t>
              </a:r>
              <a:r>
                <a:rPr lang="es-AR" sz="1600" b="1" dirty="0">
                  <a:solidFill>
                    <a:srgbClr val="1E1E1E"/>
                  </a:solidFill>
                  <a:latin typeface="Bahnschrift"/>
                  <a:ea typeface="Bahnschrift"/>
                  <a:cs typeface="Bahnschrift"/>
                  <a:sym typeface="Bahnschrift"/>
                </a:rPr>
                <a:t>aumentar la sarcopenia</a:t>
              </a:r>
              <a:r>
                <a:rPr lang="es-AR" sz="1600" dirty="0">
                  <a:solidFill>
                    <a:srgbClr val="1E1E1E"/>
                  </a:solidFill>
                  <a:latin typeface="Bahnschrift"/>
                  <a:ea typeface="Bahnschrift"/>
                  <a:cs typeface="Bahnschrift"/>
                  <a:sym typeface="Bahnschrift"/>
                </a:rPr>
                <a:t>, empeorar la depuración </a:t>
              </a:r>
              <a:r>
                <a:rPr lang="es-AR" sz="1600" b="1" dirty="0">
                  <a:solidFill>
                    <a:srgbClr val="1E1E1E"/>
                  </a:solidFill>
                  <a:latin typeface="Bahnschrift"/>
                  <a:ea typeface="Bahnschrift"/>
                  <a:cs typeface="Bahnschrift"/>
                  <a:sym typeface="Bahnschrift"/>
                </a:rPr>
                <a:t>muscular</a:t>
              </a:r>
              <a:r>
                <a:rPr lang="es-AR" sz="1600" dirty="0">
                  <a:solidFill>
                    <a:srgbClr val="1E1E1E"/>
                  </a:solidFill>
                  <a:latin typeface="Bahnschrift"/>
                  <a:ea typeface="Bahnschrift"/>
                  <a:cs typeface="Bahnschrift"/>
                  <a:sym typeface="Bahnschrift"/>
                </a:rPr>
                <a:t> de amonio y no acortar la encefalopatía.</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Neomicina</a:t>
              </a:r>
              <a:r>
                <a:rPr lang="es-AR" sz="1600" dirty="0">
                  <a:solidFill>
                    <a:srgbClr val="1E1E1E"/>
                  </a:solidFill>
                  <a:latin typeface="Bahnschrift"/>
                  <a:ea typeface="Bahnschrift"/>
                  <a:cs typeface="Bahnschrift"/>
                  <a:sym typeface="Bahnschrift"/>
                </a:rPr>
                <a:t>: nefrotoxicidad y ototoxicidad; no es de primera elección. </a:t>
              </a:r>
              <a:r>
                <a:rPr lang="es-AR" sz="1600" b="1" dirty="0">
                  <a:solidFill>
                    <a:srgbClr val="1E1E1E"/>
                  </a:solidFill>
                  <a:latin typeface="Bahnschrift"/>
                  <a:ea typeface="Bahnschrift"/>
                  <a:cs typeface="Bahnschrift"/>
                  <a:sym typeface="Bahnschrift"/>
                </a:rPr>
                <a:t>Rifaximina</a:t>
              </a:r>
              <a:r>
                <a:rPr lang="es-AR" sz="1600" dirty="0">
                  <a:solidFill>
                    <a:srgbClr val="1E1E1E"/>
                  </a:solidFill>
                  <a:latin typeface="Bahnschrift"/>
                  <a:ea typeface="Bahnschrift"/>
                  <a:cs typeface="Bahnschrift"/>
                  <a:sym typeface="Bahnschrift"/>
                </a:rPr>
                <a:t> como adyuvante y para prevenir recurrencias.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Lactulosa</a:t>
              </a:r>
              <a:r>
                <a:rPr lang="es-AR" sz="1600" dirty="0">
                  <a:solidFill>
                    <a:srgbClr val="1E1E1E"/>
                  </a:solidFill>
                  <a:latin typeface="Bahnschrift"/>
                  <a:ea typeface="Bahnschrift"/>
                  <a:cs typeface="Bahnschrift"/>
                  <a:sym typeface="Bahnschrift"/>
                </a:rPr>
                <a:t>: tratamiento principal de la encefalopatía manifiesta, titulada (p. ej., </a:t>
              </a:r>
              <a:r>
                <a:rPr lang="es-AR" sz="1600" b="1" dirty="0">
                  <a:solidFill>
                    <a:srgbClr val="1E1E1E"/>
                  </a:solidFill>
                  <a:latin typeface="Bahnschrift"/>
                  <a:ea typeface="Bahnschrift"/>
                  <a:cs typeface="Bahnschrift"/>
                  <a:sym typeface="Bahnschrift"/>
                </a:rPr>
                <a:t>2–3 deposiciones blandas/día</a:t>
              </a:r>
              <a:r>
                <a:rPr lang="es-AR" sz="1600" dirty="0">
                  <a:solidFill>
                    <a:srgbClr val="1E1E1E"/>
                  </a:solidFill>
                  <a:latin typeface="Bahnschrift"/>
                  <a:ea typeface="Bahnschrift"/>
                  <a:cs typeface="Bahnschrift"/>
                  <a:sym typeface="Bahnschrift"/>
                </a:rPr>
                <a:t>), evitando diarrea, deshidratación y alteraciones electrolíticas.</a:t>
              </a:r>
              <a:endParaRPr lang="es-AR" sz="1600" dirty="0">
                <a:latin typeface="Bahnschrift"/>
              </a:endParaRPr>
            </a:p>
          </p:txBody>
        </p:sp>
        <p:sp>
          <p:nvSpPr>
            <p:cNvPr id="19" name="Forma 19"/>
            <p:cNvSpPr/>
            <p:nvPr/>
          </p:nvSpPr>
          <p:spPr>
            <a:xfrm>
              <a:off x="5138928" y="1005840"/>
              <a:ext cx="205598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FFFFFF"/>
                  </a:solidFill>
                  <a:latin typeface="Bahnschrift SemiBold Condensed"/>
                  <a:ea typeface="Bahnschrift SemiBold Condensed"/>
                  <a:cs typeface="Bahnschrift SemiBold Condensed"/>
                  <a:sym typeface="Bahnschrift SemiBold Condensed"/>
                </a:rPr>
                <a:t>GUÍAS ACTUALES (2026)</a:t>
              </a:r>
              <a:endParaRPr lang="es-AR" sz="1450" dirty="0">
                <a:latin typeface="Bahnschrift SemiBold Condensed"/>
              </a:endParaRPr>
            </a:p>
          </p:txBody>
        </p:sp>
      </p:grpSp>
      <p:sp>
        <p:nvSpPr>
          <p:cNvPr id="20" name="Perla"/>
          <p:cNvSpPr/>
          <p:nvPr/>
        </p:nvSpPr>
        <p:spPr>
          <a:xfrm>
            <a:off x="365760" y="5029200"/>
            <a:ext cx="11430000" cy="100584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50" dirty="0">
                <a:solidFill>
                  <a:srgbClr val="FFFFFF"/>
                </a:solidFill>
                <a:latin typeface="Bahnschrift"/>
                <a:ea typeface="Bahnschrift"/>
                <a:cs typeface="Bahnschrift"/>
                <a:sym typeface="Bahnschrift"/>
              </a:rPr>
              <a:t>Mensaje doble: «explicar el mecanismo que fundamentaba una indicación» </a:t>
            </a:r>
            <a:r>
              <a:rPr lang="es-AR" sz="1750" b="1" dirty="0">
                <a:solidFill>
                  <a:srgbClr val="FFFFFF"/>
                </a:solidFill>
                <a:latin typeface="Bahnschrift"/>
                <a:ea typeface="Bahnschrift"/>
                <a:cs typeface="Bahnschrift"/>
                <a:sym typeface="Bahnschrift"/>
              </a:rPr>
              <a:t>no es lo mismo</a:t>
            </a:r>
            <a:r>
              <a:rPr lang="es-AR" sz="1750" dirty="0">
                <a:solidFill>
                  <a:srgbClr val="FFFFFF"/>
                </a:solidFill>
                <a:latin typeface="Bahnschrift"/>
                <a:ea typeface="Bahnschrift"/>
                <a:cs typeface="Bahnschrift"/>
                <a:sym typeface="Bahnschrift"/>
              </a:rPr>
              <a:t> que «recomendar hoy esa indicación».</a:t>
            </a:r>
            <a:endParaRPr lang="es-AR" sz="1750" dirty="0">
              <a:latin typeface="Bahnschrift"/>
            </a:endParaRPr>
          </a:p>
        </p:txBody>
      </p:sp>
      <p:sp>
        <p:nvSpPr>
          <p:cNvPr id="2" name="Etiqueta sección"/>
          <p:cNvSpPr/>
          <p:nvPr/>
        </p:nvSpPr>
        <p:spPr>
          <a:xfrm>
            <a:off x="9606605" y="201168"/>
            <a:ext cx="231077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7 · ENCEFALOPATÍA</a:t>
            </a:r>
            <a:endParaRPr lang="es-AR" sz="1300" dirty="0">
              <a:latin typeface="Bahnschrift SemiBold Condensed"/>
            </a:endParaRPr>
          </a:p>
        </p:txBody>
      </p:sp>
      <p:sp>
        <p:nvSpPr>
          <p:cNvPr id="3" name="Título"/>
          <p:cNvSpPr/>
          <p:nvPr/>
        </p:nvSpPr>
        <p:spPr>
          <a:xfrm>
            <a:off x="274320" y="146304"/>
            <a:ext cx="806176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P7 · ACTUALIZACIÓN CLÍNICA: EXPLICAR NO ES RECOMENDAR</a:t>
            </a:r>
            <a:endParaRPr lang="es-AR" sz="2600" dirty="0">
              <a:latin typeface="Bahnschrift SemiBold Condensed"/>
            </a:endParaRPr>
          </a:p>
        </p:txBody>
      </p:sp>
      <p:sp>
        <p:nvSpPr>
          <p:cNvPr id="2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600"/>
                                        <p:tgtEl>
                                          <p:spTgt spid="16"/>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500"/>
                                        <p:tgtEl>
                                          <p:spTgt spid="17"/>
                                        </p:tgtEl>
                                      </p:cBhvr>
                                    </p:animEffect>
                                  </p:childTnLst>
                                </p:cTn>
                              </p:par>
                            </p:childTnLst>
                          </p:cTn>
                        </p:par>
                      </p:childTnLst>
                    </p:cTn>
                  </p:par>
                  <p:par>
                    <p:cTn id="21" fill="hold">
                      <p:stCondLst>
                        <p:cond delay="indefinite"/>
                      </p:stCondLst>
                      <p:childTnLst>
                        <p:par>
                          <p:cTn id="20"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Lst>
  </p:timing>
</p:sld>
</file>

<file path=ppt/slides/slide192.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Esquema enfoque actual"/>
          <p:cNvGrpSpPr/>
          <p:nvPr/>
        </p:nvGrpSpPr>
        <p:grpSpPr>
          <a:xfrm>
            <a:off x="365760" y="1051560"/>
            <a:ext cx="5577840" cy="4983480"/>
            <a:chOff x="365760" y="1051560"/>
            <a:chExt cx="5577840" cy="4983480"/>
          </a:xfrm>
        </p:grpSpPr>
        <p:sp>
          <p:nvSpPr>
            <p:cNvPr id="14" name="Forma 13"/>
            <p:cNvSpPr/>
            <p:nvPr/>
          </p:nvSpPr>
          <p:spPr>
            <a:xfrm>
              <a:off x="365760" y="1051560"/>
              <a:ext cx="5577840" cy="49834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15" name="Forma 14"/>
            <p:cNvSpPr/>
            <p:nvPr/>
          </p:nvSpPr>
          <p:spPr>
            <a:xfrm>
              <a:off x="365760" y="1051560"/>
              <a:ext cx="557784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ENFOQUE ACTUAL</a:t>
              </a:r>
              <a:endParaRPr lang="es-AR" sz="1500" dirty="0">
                <a:latin typeface="Bahnschrift SemiBold Condensed"/>
              </a:endParaRPr>
            </a:p>
          </p:txBody>
        </p:sp>
        <p:sp>
          <p:nvSpPr>
            <p:cNvPr id="16" name="Forma 15"/>
            <p:cNvSpPr/>
            <p:nvPr/>
          </p:nvSpPr>
          <p:spPr>
            <a:xfrm>
              <a:off x="594360" y="1600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Proteína adecuada (1,2–1,5 g/kg/d)</a:t>
              </a:r>
              <a:endParaRPr lang="es-AR" sz="1350" dirty="0">
                <a:latin typeface="Bahnschrift"/>
              </a:endParaRPr>
            </a:p>
          </p:txBody>
        </p:sp>
        <p:sp>
          <p:nvSpPr>
            <p:cNvPr id="17" name="Forma 16"/>
            <p:cNvSpPr/>
            <p:nvPr/>
          </p:nvSpPr>
          <p:spPr>
            <a:xfrm>
              <a:off x="594360" y="2743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Masa muscular preservada</a:t>
              </a:r>
              <a:endParaRPr lang="es-AR" sz="1350" dirty="0">
                <a:latin typeface="Bahnschrift"/>
              </a:endParaRPr>
            </a:p>
          </p:txBody>
        </p:sp>
        <p:sp>
          <p:nvSpPr>
            <p:cNvPr id="18" name="Flecha 17_2"/>
            <p:cNvSpPr/>
            <p:nvPr/>
          </p:nvSpPr>
          <p:spPr>
            <a:xfrm>
              <a:off x="3154680" y="2523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19" name="Forma 19"/>
            <p:cNvSpPr/>
            <p:nvPr/>
          </p:nvSpPr>
          <p:spPr>
            <a:xfrm>
              <a:off x="594360" y="3886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Músculo captura 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como glutamina</a:t>
              </a:r>
              <a:endParaRPr lang="es-AR" sz="1350" dirty="0">
                <a:latin typeface="Bahnschrift"/>
              </a:endParaRPr>
            </a:p>
          </p:txBody>
        </p:sp>
        <p:sp>
          <p:nvSpPr>
            <p:cNvPr id="20" name="Flecha 20_2"/>
            <p:cNvSpPr/>
            <p:nvPr/>
          </p:nvSpPr>
          <p:spPr>
            <a:xfrm>
              <a:off x="3154680" y="3666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1" name="Forma 22"/>
            <p:cNvSpPr/>
            <p:nvPr/>
          </p:nvSpPr>
          <p:spPr>
            <a:xfrm>
              <a:off x="594360" y="5029200"/>
              <a:ext cx="512064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Menor carga de amonio al cerebro</a:t>
              </a:r>
              <a:endParaRPr lang="es-AR" sz="1350" dirty="0">
                <a:latin typeface="Bahnschrift"/>
              </a:endParaRPr>
            </a:p>
          </p:txBody>
        </p:sp>
        <p:sp>
          <p:nvSpPr>
            <p:cNvPr id="22" name="Flecha 23_2"/>
            <p:cNvSpPr/>
            <p:nvPr/>
          </p:nvSpPr>
          <p:spPr>
            <a:xfrm>
              <a:off x="3154680" y="4809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23" name="Esquema restricción crónica"/>
          <p:cNvGrpSpPr/>
          <p:nvPr/>
        </p:nvGrpSpPr>
        <p:grpSpPr>
          <a:xfrm>
            <a:off x="6217920" y="1051560"/>
            <a:ext cx="5577840" cy="4983480"/>
            <a:chOff x="6217920" y="1051560"/>
            <a:chExt cx="5577840" cy="4983480"/>
          </a:xfrm>
        </p:grpSpPr>
        <p:sp>
          <p:nvSpPr>
            <p:cNvPr id="24" name="Forma 26"/>
            <p:cNvSpPr/>
            <p:nvPr/>
          </p:nvSpPr>
          <p:spPr>
            <a:xfrm>
              <a:off x="6217920" y="1051560"/>
              <a:ext cx="5577840" cy="49834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25" name="Forma 27"/>
            <p:cNvSpPr/>
            <p:nvPr/>
          </p:nvSpPr>
          <p:spPr>
            <a:xfrm>
              <a:off x="6217920" y="1051560"/>
              <a:ext cx="557784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RESTRICCIÓN CRÓNICA</a:t>
              </a:r>
              <a:endParaRPr lang="es-AR" sz="1500" dirty="0">
                <a:latin typeface="Bahnschrift SemiBold Condensed"/>
              </a:endParaRPr>
            </a:p>
          </p:txBody>
        </p:sp>
        <p:sp>
          <p:nvSpPr>
            <p:cNvPr id="26" name="Forma 28"/>
            <p:cNvSpPr/>
            <p:nvPr/>
          </p:nvSpPr>
          <p:spPr>
            <a:xfrm>
              <a:off x="6446520" y="1600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Restricción proteica crónica</a:t>
              </a:r>
              <a:endParaRPr lang="es-AR" sz="1350" dirty="0">
                <a:latin typeface="Bahnschrift"/>
              </a:endParaRPr>
            </a:p>
          </p:txBody>
        </p:sp>
        <p:sp>
          <p:nvSpPr>
            <p:cNvPr id="27" name="Forma 29"/>
            <p:cNvSpPr/>
            <p:nvPr/>
          </p:nvSpPr>
          <p:spPr>
            <a:xfrm>
              <a:off x="6446520" y="2743200"/>
              <a:ext cx="5120640" cy="9144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Sarcopenia</a:t>
              </a:r>
              <a:endParaRPr lang="es-AR" sz="1350" dirty="0">
                <a:latin typeface="Bahnschrift"/>
              </a:endParaRPr>
            </a:p>
          </p:txBody>
        </p:sp>
        <p:sp>
          <p:nvSpPr>
            <p:cNvPr id="28" name="Flecha 30_2"/>
            <p:cNvSpPr/>
            <p:nvPr/>
          </p:nvSpPr>
          <p:spPr>
            <a:xfrm>
              <a:off x="9006840" y="2523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29" name="Forma 32"/>
            <p:cNvSpPr/>
            <p:nvPr/>
          </p:nvSpPr>
          <p:spPr>
            <a:xfrm>
              <a:off x="6446520" y="3886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Menor captación muscular de 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endParaRPr lang="es-AR" sz="1350" dirty="0">
                <a:latin typeface="Bahnschrift"/>
              </a:endParaRPr>
            </a:p>
          </p:txBody>
        </p:sp>
        <p:sp>
          <p:nvSpPr>
            <p:cNvPr id="30" name="Flecha 33_2"/>
            <p:cNvSpPr/>
            <p:nvPr/>
          </p:nvSpPr>
          <p:spPr>
            <a:xfrm>
              <a:off x="9006840" y="36667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31" name="Forma 35"/>
            <p:cNvSpPr txBox="1"/>
            <p:nvPr/>
          </p:nvSpPr>
          <p:spPr>
            <a:xfrm>
              <a:off x="9098280" y="36484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sp>
          <p:nvSpPr>
            <p:cNvPr id="32" name="Forma 36"/>
            <p:cNvSpPr/>
            <p:nvPr/>
          </p:nvSpPr>
          <p:spPr>
            <a:xfrm>
              <a:off x="6446520" y="5029200"/>
              <a:ext cx="512064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Más amonio · peor encefalopatía</a:t>
              </a:r>
              <a:endParaRPr lang="es-AR" sz="1350" dirty="0">
                <a:latin typeface="Bahnschrift"/>
              </a:endParaRPr>
            </a:p>
          </p:txBody>
        </p:sp>
        <p:sp>
          <p:nvSpPr>
            <p:cNvPr id="33" name="Flecha 37_2"/>
            <p:cNvSpPr/>
            <p:nvPr/>
          </p:nvSpPr>
          <p:spPr>
            <a:xfrm>
              <a:off x="9006840" y="4809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grpSp>
      <p:sp>
        <p:nvSpPr>
          <p:cNvPr id="2" name="Etiqueta sección"/>
          <p:cNvSpPr/>
          <p:nvPr/>
        </p:nvSpPr>
        <p:spPr>
          <a:xfrm>
            <a:off x="9606605" y="201168"/>
            <a:ext cx="2310771"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7 · ENCEFALOPATÍA</a:t>
            </a:r>
            <a:endParaRPr lang="es-AR" sz="1300" dirty="0">
              <a:latin typeface="Bahnschrift SemiBold Condensed"/>
            </a:endParaRPr>
          </a:p>
        </p:txBody>
      </p:sp>
      <p:sp>
        <p:nvSpPr>
          <p:cNvPr id="3" name="Título"/>
          <p:cNvSpPr/>
          <p:nvPr/>
        </p:nvSpPr>
        <p:spPr>
          <a:xfrm>
            <a:off x="274320" y="146304"/>
            <a:ext cx="876083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50" b="1" dirty="0">
                <a:solidFill>
                  <a:srgbClr val="1E1E1E"/>
                </a:solidFill>
                <a:latin typeface="Bahnschrift SemiBold Condensed"/>
                <a:ea typeface="Bahnschrift SemiBold Condensed"/>
                <a:cs typeface="Bahnschrift SemiBold Condensed"/>
                <a:sym typeface="Bahnschrift SemiBold Condensed"/>
              </a:rPr>
              <a:t>P7 · ESQUEMA: RESTRICCIÓN PROTEICA FRENTE A ENFOQUE ACTUAL</a:t>
            </a:r>
            <a:endParaRPr lang="es-AR" sz="255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sp>
        <p:nvSpPr>
          <p:cNvPr id="13" name="Purinas Nucleótidos (AMP, "/>
          <p:cNvSpPr/>
          <p:nvPr/>
        </p:nvSpPr>
        <p:spPr>
          <a:xfrm>
            <a:off x="457200" y="1051560"/>
            <a:ext cx="2926080" cy="502920"/>
          </a:xfrm>
          <a:prstGeom prst="roundRect">
            <a:avLst>
              <a:gd name="adj" fmla="val 30000"/>
            </a:avLst>
          </a:prstGeom>
          <a:solidFill>
            <a:srgbClr val="FFC000"/>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Nucleótidos (AMP, GMP)</a:t>
            </a:r>
            <a:endParaRPr lang="es-AR" sz="1400" dirty="0">
              <a:latin typeface="Bahnschrift SemiBold Condensed"/>
            </a:endParaRPr>
          </a:p>
        </p:txBody>
      </p:sp>
      <p:grpSp>
        <p:nvGrpSpPr>
          <p:cNvPr id="14" name="Purinas paso 1"/>
          <p:cNvGrpSpPr/>
          <p:nvPr/>
        </p:nvGrpSpPr>
        <p:grpSpPr>
          <a:xfrm>
            <a:off x="1920240" y="1581912"/>
            <a:ext cx="9144" cy="356616"/>
            <a:chOff x="1920240" y="1581912"/>
            <a:chExt cx="9144" cy="356616"/>
          </a:xfrm>
        </p:grpSpPr>
        <p:sp>
          <p:nvSpPr>
            <p:cNvPr id="15" name="Flecha 14_2"/>
            <p:cNvSpPr/>
            <p:nvPr/>
          </p:nvSpPr>
          <p:spPr>
            <a:xfrm>
              <a:off x="1920240" y="15819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grpSp>
      <p:sp>
        <p:nvSpPr>
          <p:cNvPr id="16" name="Purinas IMP · guanosina"/>
          <p:cNvSpPr/>
          <p:nvPr/>
        </p:nvSpPr>
        <p:spPr>
          <a:xfrm>
            <a:off x="457200" y="1965960"/>
            <a:ext cx="292608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IMP · guanosina</a:t>
            </a:r>
            <a:endParaRPr lang="es-AR" sz="1400" dirty="0">
              <a:latin typeface="Bahnschrift SemiBold Condensed"/>
            </a:endParaRPr>
          </a:p>
        </p:txBody>
      </p:sp>
      <p:grpSp>
        <p:nvGrpSpPr>
          <p:cNvPr id="17" name="Purinas paso 2"/>
          <p:cNvGrpSpPr/>
          <p:nvPr/>
        </p:nvGrpSpPr>
        <p:grpSpPr>
          <a:xfrm>
            <a:off x="1920240" y="2496312"/>
            <a:ext cx="9144" cy="356616"/>
            <a:chOff x="1920240" y="2496312"/>
            <a:chExt cx="9144" cy="356616"/>
          </a:xfrm>
        </p:grpSpPr>
        <p:sp>
          <p:nvSpPr>
            <p:cNvPr id="18" name="Flecha 18_2"/>
            <p:cNvSpPr/>
            <p:nvPr/>
          </p:nvSpPr>
          <p:spPr>
            <a:xfrm>
              <a:off x="1920240" y="24963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grpSp>
      <p:sp>
        <p:nvSpPr>
          <p:cNvPr id="19" name="Purinas Hipoxantina · guan"/>
          <p:cNvSpPr/>
          <p:nvPr/>
        </p:nvSpPr>
        <p:spPr>
          <a:xfrm>
            <a:off x="457200" y="2880360"/>
            <a:ext cx="292608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Hipoxantina · guanina</a:t>
            </a:r>
            <a:endParaRPr lang="es-AR" sz="1400" dirty="0">
              <a:latin typeface="Bahnschrift SemiBold Condensed"/>
            </a:endParaRPr>
          </a:p>
        </p:txBody>
      </p:sp>
      <p:grpSp>
        <p:nvGrpSpPr>
          <p:cNvPr id="20" name="Purinas paso 3"/>
          <p:cNvGrpSpPr/>
          <p:nvPr/>
        </p:nvGrpSpPr>
        <p:grpSpPr>
          <a:xfrm>
            <a:off x="1920240" y="3410712"/>
            <a:ext cx="1754437" cy="356616"/>
            <a:chOff x="1920240" y="3410712"/>
            <a:chExt cx="1754437" cy="356616"/>
          </a:xfrm>
        </p:grpSpPr>
        <p:sp>
          <p:nvSpPr>
            <p:cNvPr id="21" name="Flecha 22_2"/>
            <p:cNvSpPr/>
            <p:nvPr/>
          </p:nvSpPr>
          <p:spPr>
            <a:xfrm>
              <a:off x="1920240" y="3410712"/>
              <a:ext cx="9144" cy="356616"/>
            </a:xfrm>
            <a:custGeom>
              <a:avLst/>
              <a:gdLst/>
              <a:ahLst/>
              <a:cxnLst/>
              <a:rect l="0" t="0" r="r" b="b"/>
              <a:pathLst>
                <a:path w="10" h="390" fill="none">
                  <a:moveTo>
                    <a:pt x="0" y="0"/>
                  </a:moveTo>
                  <a:lnTo>
                    <a:pt x="0" y="390"/>
                  </a:lnTo>
                </a:path>
              </a:pathLst>
            </a:custGeom>
            <a:noFill/>
            <a:ln w="44450" cap="rnd">
              <a:solidFill>
                <a:srgbClr val="1E1E1E"/>
              </a:solidFill>
              <a:round/>
              <a:tailEnd type="triangle" w="med" len="med"/>
            </a:ln>
          </p:spPr>
        </p:sp>
        <p:sp>
          <p:nvSpPr>
            <p:cNvPr id="22" name="Enzima xantina oxidorreduct"/>
            <p:cNvSpPr/>
            <p:nvPr/>
          </p:nvSpPr>
          <p:spPr>
            <a:xfrm>
              <a:off x="2029968" y="3442716"/>
              <a:ext cx="16447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xantina oxidorreductasa</a:t>
              </a:r>
              <a:endParaRPr lang="es-AR" sz="1150" dirty="0">
                <a:latin typeface="Bahnschrift SemiBold Condensed"/>
              </a:endParaRPr>
            </a:p>
          </p:txBody>
        </p:sp>
      </p:grpSp>
      <p:sp>
        <p:nvSpPr>
          <p:cNvPr id="23" name="Purinas Xantina"/>
          <p:cNvSpPr/>
          <p:nvPr/>
        </p:nvSpPr>
        <p:spPr>
          <a:xfrm>
            <a:off x="457200" y="3794760"/>
            <a:ext cx="2926080" cy="502920"/>
          </a:xfrm>
          <a:prstGeom prst="roundRect">
            <a:avLst>
              <a:gd name="adj" fmla="val 30000"/>
            </a:avLst>
          </a:prstGeom>
          <a:solidFill>
            <a:srgbClr val="FFE07A"/>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Xantina</a:t>
            </a:r>
            <a:endParaRPr lang="es-AR" sz="1400" dirty="0">
              <a:latin typeface="Bahnschrift SemiBold Condensed"/>
            </a:endParaRPr>
          </a:p>
        </p:txBody>
      </p:sp>
      <p:grpSp>
        <p:nvGrpSpPr>
          <p:cNvPr id="24" name="Purinas paso 4"/>
          <p:cNvGrpSpPr/>
          <p:nvPr/>
        </p:nvGrpSpPr>
        <p:grpSpPr>
          <a:xfrm>
            <a:off x="1920240" y="4325112"/>
            <a:ext cx="1754437" cy="356616"/>
            <a:chOff x="1920240" y="4325112"/>
            <a:chExt cx="1754437" cy="356616"/>
          </a:xfrm>
        </p:grpSpPr>
        <p:sp>
          <p:nvSpPr>
            <p:cNvPr id="25" name="Flecha 27_2"/>
            <p:cNvSpPr/>
            <p:nvPr/>
          </p:nvSpPr>
          <p:spPr>
            <a:xfrm>
              <a:off x="1920240" y="4325112"/>
              <a:ext cx="9144" cy="356616"/>
            </a:xfrm>
            <a:custGeom>
              <a:avLst/>
              <a:gdLst/>
              <a:ahLst/>
              <a:cxnLst/>
              <a:rect l="0" t="0" r="r" b="b"/>
              <a:pathLst>
                <a:path w="10" h="389" fill="none">
                  <a:moveTo>
                    <a:pt x="0" y="0"/>
                  </a:moveTo>
                  <a:lnTo>
                    <a:pt x="0" y="389"/>
                  </a:lnTo>
                </a:path>
              </a:pathLst>
            </a:custGeom>
            <a:noFill/>
            <a:ln w="44450" cap="rnd">
              <a:solidFill>
                <a:srgbClr val="1E1E1E"/>
              </a:solidFill>
              <a:round/>
              <a:tailEnd type="triangle" w="med" len="med"/>
            </a:ln>
          </p:spPr>
        </p:sp>
        <p:sp>
          <p:nvSpPr>
            <p:cNvPr id="26" name="Enzima xantina oxidorreduct_2"/>
            <p:cNvSpPr/>
            <p:nvPr/>
          </p:nvSpPr>
          <p:spPr>
            <a:xfrm>
              <a:off x="2029968" y="4357116"/>
              <a:ext cx="1644709" cy="274320"/>
            </a:xfrm>
            <a:prstGeom prst="roundRect">
              <a:avLst>
                <a:gd name="adj" fmla="val 50000"/>
              </a:avLst>
            </a:prstGeom>
            <a:solidFill>
              <a:srgbClr val="FFFFFF"/>
            </a:solidFill>
            <a:ln w="15875" cap="rnd">
              <a:solidFill>
                <a:srgbClr val="1F3864"/>
              </a:solidFill>
              <a:round/>
            </a:ln>
          </p:spPr>
          <p:txBody>
            <a:bodyPr wrap="square" lIns="27432" tIns="0" rIns="27432" bIns="0" anchor="ctr" rtlCol="0">
              <a:noAutofit/>
            </a:bodyPr>
            <a:lstStyle/>
            <a:p>
              <a:pPr algn="ctr">
                <a:spcAft>
                  <a:spcPts val="300"/>
                </a:spcAft>
                <a:buNone/>
              </a:pPr>
              <a:r>
                <a:rPr lang="es-AR" sz="1150" b="1" dirty="0">
                  <a:solidFill>
                    <a:srgbClr val="1F3864"/>
                  </a:solidFill>
                  <a:latin typeface="Bahnschrift SemiBold Condensed"/>
                  <a:ea typeface="Bahnschrift SemiBold Condensed"/>
                  <a:cs typeface="Bahnschrift SemiBold Condensed"/>
                  <a:sym typeface="Bahnschrift SemiBold Condensed"/>
                </a:rPr>
                <a:t>xantina oxidorreductasa</a:t>
              </a:r>
              <a:endParaRPr lang="es-AR" sz="1150" dirty="0">
                <a:latin typeface="Bahnschrift SemiBold Condensed"/>
              </a:endParaRPr>
            </a:p>
          </p:txBody>
        </p:sp>
      </p:grpSp>
      <p:sp>
        <p:nvSpPr>
          <p:cNvPr id="27" name="Purinas Ácido úrico"/>
          <p:cNvSpPr/>
          <p:nvPr/>
        </p:nvSpPr>
        <p:spPr>
          <a:xfrm>
            <a:off x="457200" y="4709160"/>
            <a:ext cx="2926080" cy="502920"/>
          </a:xfrm>
          <a:prstGeom prst="roundRect">
            <a:avLst>
              <a:gd name="adj" fmla="val 30000"/>
            </a:avLst>
          </a:prstGeom>
          <a:solidFill>
            <a:srgbClr val="CF9F7F"/>
          </a:solidFill>
          <a:ln w="12700" cap="rnd">
            <a:solidFill>
              <a:srgbClr val="1E1E1E"/>
            </a:solidFill>
            <a:round/>
          </a:ln>
        </p:spPr>
        <p:txBody>
          <a:bodyPr wrap="square" lIns="27432" tIns="0" rIns="27432" bIns="0" anchor="ctr" rtlCol="0">
            <a:noAutofit/>
          </a:bodyPr>
          <a:lstStyle/>
          <a:p>
            <a:pPr algn="ctr">
              <a:spcAft>
                <a:spcPts val="300"/>
              </a:spcAft>
              <a:buNone/>
            </a:pPr>
            <a:r>
              <a:rPr lang="es-AR" sz="1400" b="1" dirty="0">
                <a:solidFill>
                  <a:srgbClr val="1E1E1E"/>
                </a:solidFill>
                <a:latin typeface="Bahnschrift SemiBold Condensed"/>
                <a:ea typeface="Bahnschrift SemiBold Condensed"/>
                <a:cs typeface="Bahnschrift SemiBold Condensed"/>
                <a:sym typeface="Bahnschrift SemiBold Condensed"/>
              </a:rPr>
              <a:t>Ácido úrico</a:t>
            </a:r>
            <a:endParaRPr lang="es-AR" sz="1400" dirty="0">
              <a:latin typeface="Bahnschrift SemiBold Condensed"/>
            </a:endParaRPr>
          </a:p>
        </p:txBody>
      </p:sp>
      <p:grpSp>
        <p:nvGrpSpPr>
          <p:cNvPr id="28" name="Recuadro Normal"/>
          <p:cNvGrpSpPr/>
          <p:nvPr/>
        </p:nvGrpSpPr>
        <p:grpSpPr>
          <a:xfrm>
            <a:off x="5486400" y="1005840"/>
            <a:ext cx="6309360" cy="1920240"/>
            <a:chOff x="5486400" y="1005840"/>
            <a:chExt cx="6309360" cy="1920240"/>
          </a:xfrm>
        </p:grpSpPr>
        <p:sp>
          <p:nvSpPr>
            <p:cNvPr id="29" name="Forma 32"/>
            <p:cNvSpPr/>
            <p:nvPr/>
          </p:nvSpPr>
          <p:spPr>
            <a:xfrm>
              <a:off x="5486400" y="1188720"/>
              <a:ext cx="6309360" cy="17373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750" dirty="0">
                  <a:solidFill>
                    <a:srgbClr val="1E1E1E"/>
                  </a:solidFill>
                  <a:latin typeface="Bahnschrift"/>
                  <a:ea typeface="Bahnschrift"/>
                  <a:cs typeface="Bahnschrift"/>
                  <a:sym typeface="Bahnschrift"/>
                </a:rPr>
                <a:t>Los humanos </a:t>
              </a:r>
              <a:r>
                <a:rPr lang="es-AR" sz="1750" b="1" dirty="0">
                  <a:solidFill>
                    <a:srgbClr val="1E1E1E"/>
                  </a:solidFill>
                  <a:latin typeface="Bahnschrift"/>
                  <a:ea typeface="Bahnschrift"/>
                  <a:cs typeface="Bahnschrift"/>
                  <a:sym typeface="Bahnschrift"/>
                </a:rPr>
                <a:t>carecen de uricasa</a:t>
              </a:r>
              <a:r>
                <a:rPr lang="es-AR" sz="1750" dirty="0">
                  <a:solidFill>
                    <a:srgbClr val="1E1E1E"/>
                  </a:solidFill>
                  <a:latin typeface="Bahnschrift"/>
                  <a:ea typeface="Bahnschrift"/>
                  <a:cs typeface="Bahnschrift"/>
                  <a:sym typeface="Bahnschrift"/>
                </a:rPr>
                <a:t> funcional (urato → alantoína): dependen de la excreción </a:t>
              </a:r>
              <a:r>
                <a:rPr lang="es-AR" sz="1750" b="1" dirty="0">
                  <a:solidFill>
                    <a:srgbClr val="1E1E1E"/>
                  </a:solidFill>
                  <a:latin typeface="Bahnschrift"/>
                  <a:ea typeface="Bahnschrift"/>
                  <a:cs typeface="Bahnschrift"/>
                  <a:sym typeface="Bahnschrift"/>
                </a:rPr>
                <a:t>renal</a:t>
              </a:r>
              <a:r>
                <a:rPr lang="es-AR" sz="1750" dirty="0">
                  <a:solidFill>
                    <a:srgbClr val="1E1E1E"/>
                  </a:solidFill>
                  <a:latin typeface="Bahnschrift"/>
                  <a:ea typeface="Bahnschrift"/>
                  <a:cs typeface="Bahnschrift"/>
                  <a:sym typeface="Bahnschrift"/>
                </a:rPr>
                <a:t> y también </a:t>
              </a:r>
              <a:r>
                <a:rPr lang="es-AR" sz="1750" b="1" dirty="0">
                  <a:solidFill>
                    <a:srgbClr val="1E1E1E"/>
                  </a:solidFill>
                  <a:latin typeface="Bahnschrift"/>
                  <a:ea typeface="Bahnschrift"/>
                  <a:cs typeface="Bahnschrift"/>
                  <a:sym typeface="Bahnschrift"/>
                </a:rPr>
                <a:t>intestinal</a:t>
              </a:r>
              <a:r>
                <a:rPr lang="es-AR" sz="1750" dirty="0">
                  <a:solidFill>
                    <a:srgbClr val="1E1E1E"/>
                  </a:solidFill>
                  <a:latin typeface="Bahnschrift"/>
                  <a:ea typeface="Bahnschrift"/>
                  <a:cs typeface="Bahnschrift"/>
                  <a:sym typeface="Bahnschrift"/>
                </a:rPr>
                <a:t>.</a:t>
              </a:r>
              <a:endParaRPr lang="es-AR" sz="1750" dirty="0">
                <a:latin typeface="Bahnschrift"/>
              </a:endParaRPr>
            </a:p>
          </p:txBody>
        </p:sp>
        <p:sp>
          <p:nvSpPr>
            <p:cNvPr id="30" name="Forma 33"/>
            <p:cNvSpPr/>
            <p:nvPr/>
          </p:nvSpPr>
          <p:spPr>
            <a:xfrm>
              <a:off x="5596128" y="1005840"/>
              <a:ext cx="978186"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NORMAL</a:t>
              </a:r>
              <a:endParaRPr lang="es-AR" sz="1600" dirty="0">
                <a:latin typeface="Bahnschrift SemiBold Condensed"/>
              </a:endParaRPr>
            </a:p>
          </p:txBody>
        </p:sp>
      </p:grpSp>
      <p:grpSp>
        <p:nvGrpSpPr>
          <p:cNvPr id="31" name="Recuadro Alteración"/>
          <p:cNvGrpSpPr/>
          <p:nvPr/>
        </p:nvGrpSpPr>
        <p:grpSpPr>
          <a:xfrm>
            <a:off x="5486400" y="3108960"/>
            <a:ext cx="6309360" cy="1737360"/>
            <a:chOff x="5486400" y="3108960"/>
            <a:chExt cx="6309360" cy="1737360"/>
          </a:xfrm>
        </p:grpSpPr>
        <p:sp>
          <p:nvSpPr>
            <p:cNvPr id="32" name="Forma 35"/>
            <p:cNvSpPr/>
            <p:nvPr/>
          </p:nvSpPr>
          <p:spPr>
            <a:xfrm>
              <a:off x="5486400" y="3291840"/>
              <a:ext cx="6309360" cy="155448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800" dirty="0">
                  <a:solidFill>
                    <a:srgbClr val="1E1E1E"/>
                  </a:solidFill>
                  <a:latin typeface="Bahnschrift"/>
                  <a:ea typeface="Bahnschrift"/>
                  <a:cs typeface="Bahnschrift"/>
                  <a:sym typeface="Bahnschrift"/>
                </a:rPr>
                <a:t>Hiperuricemia por </a:t>
              </a:r>
              <a:r>
                <a:rPr lang="es-AR" sz="1800" b="1" dirty="0">
                  <a:solidFill>
                    <a:srgbClr val="1E1E1E"/>
                  </a:solidFill>
                  <a:latin typeface="Bahnschrift"/>
                  <a:ea typeface="Bahnschrift"/>
                  <a:cs typeface="Bahnschrift"/>
                  <a:sym typeface="Bahnschrift"/>
                </a:rPr>
                <a:t>sobreproducción</a:t>
              </a:r>
              <a:r>
                <a:rPr lang="es-AR" sz="1800" dirty="0">
                  <a:solidFill>
                    <a:srgbClr val="1E1E1E"/>
                  </a:solidFill>
                  <a:latin typeface="Bahnschrift"/>
                  <a:ea typeface="Bahnschrift"/>
                  <a:cs typeface="Bahnschrift"/>
                  <a:sym typeface="Bahnschrift"/>
                </a:rPr>
                <a:t>, </a:t>
              </a:r>
              <a:r>
                <a:rPr lang="es-AR" sz="1800" b="1" dirty="0">
                  <a:solidFill>
                    <a:srgbClr val="1E1E1E"/>
                  </a:solidFill>
                  <a:latin typeface="Bahnschrift"/>
                  <a:ea typeface="Bahnschrift"/>
                  <a:cs typeface="Bahnschrift"/>
                  <a:sym typeface="Bahnschrift"/>
                </a:rPr>
                <a:t>subexcreción</a:t>
              </a:r>
              <a:r>
                <a:rPr lang="es-AR" sz="1800" dirty="0">
                  <a:solidFill>
                    <a:srgbClr val="1E1E1E"/>
                  </a:solidFill>
                  <a:latin typeface="Bahnschrift"/>
                  <a:ea typeface="Bahnschrift"/>
                  <a:cs typeface="Bahnschrift"/>
                  <a:sym typeface="Bahnschrift"/>
                </a:rPr>
                <a:t> o </a:t>
              </a:r>
              <a:r>
                <a:rPr lang="es-AR" sz="1800" b="1" dirty="0">
                  <a:solidFill>
                    <a:srgbClr val="1E1E1E"/>
                  </a:solidFill>
                  <a:latin typeface="Bahnschrift"/>
                  <a:ea typeface="Bahnschrift"/>
                  <a:cs typeface="Bahnschrift"/>
                  <a:sym typeface="Bahnschrift"/>
                </a:rPr>
                <a:t>ambas</a:t>
              </a:r>
              <a:r>
                <a:rPr lang="es-AR" sz="1800" dirty="0">
                  <a:solidFill>
                    <a:srgbClr val="1E1E1E"/>
                  </a:solidFill>
                  <a:latin typeface="Bahnschrift"/>
                  <a:ea typeface="Bahnschrift"/>
                  <a:cs typeface="Bahnschrift"/>
                  <a:sym typeface="Bahnschrift"/>
                </a:rPr>
                <a:t>.</a:t>
              </a:r>
              <a:endParaRPr lang="es-AR" sz="1800" dirty="0">
                <a:latin typeface="Bahnschrift"/>
              </a:endParaRPr>
            </a:p>
          </p:txBody>
        </p:sp>
        <p:sp>
          <p:nvSpPr>
            <p:cNvPr id="33" name="Forma 36"/>
            <p:cNvSpPr/>
            <p:nvPr/>
          </p:nvSpPr>
          <p:spPr>
            <a:xfrm>
              <a:off x="5596128" y="3108960"/>
              <a:ext cx="1298653" cy="347472"/>
            </a:xfrm>
            <a:prstGeom prst="rect">
              <a:avLst/>
            </a:prstGeom>
            <a:solidFill>
              <a:srgbClr val="C00000"/>
            </a:solidFill>
            <a:ln w="15875" cap="rnd">
              <a:solidFill>
                <a:srgbClr val="1E1E1E"/>
              </a:solidFill>
              <a:round/>
            </a:ln>
          </p:spPr>
          <p:txBody>
            <a:bodyPr wrap="square" lIns="45720" tIns="0" rIns="45720" bIns="0" anchor="ctr" rtlCol="0">
              <a:noAutofit/>
            </a:bodyPr>
            <a:lstStyle/>
            <a:p>
              <a:pPr algn="ctr">
                <a:spcAft>
                  <a:spcPts val="300"/>
                </a:spcAft>
                <a:buNone/>
              </a:pPr>
              <a:r>
                <a:rPr lang="es-AR" sz="1600" b="1" dirty="0">
                  <a:solidFill>
                    <a:srgbClr val="FFFFFF"/>
                  </a:solidFill>
                  <a:latin typeface="Bahnschrift SemiBold Condensed"/>
                  <a:ea typeface="Bahnschrift SemiBold Condensed"/>
                  <a:cs typeface="Bahnschrift SemiBold Condensed"/>
                  <a:sym typeface="Bahnschrift SemiBold Condensed"/>
                </a:rPr>
                <a:t>ALTERACIÓN</a:t>
              </a:r>
              <a:endParaRPr lang="es-AR" sz="1600" dirty="0">
                <a:latin typeface="Bahnschrift SemiBold Condensed"/>
              </a:endParaRPr>
            </a:p>
          </p:txBody>
        </p:sp>
      </p:grpSp>
      <p:sp>
        <p:nvSpPr>
          <p:cNvPr id="34" name="Forma 37"/>
          <p:cNvSpPr/>
          <p:nvPr/>
        </p:nvSpPr>
        <p:spPr>
          <a:xfrm>
            <a:off x="5486400" y="5029200"/>
            <a:ext cx="6309360" cy="10058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450" dirty="0">
                <a:solidFill>
                  <a:srgbClr val="1E1E1E"/>
                </a:solidFill>
                <a:latin typeface="Bahnschrift"/>
                <a:ea typeface="Bahnschrift"/>
                <a:cs typeface="Bahnschrift"/>
                <a:sym typeface="Bahnschrift"/>
              </a:rPr>
              <a:t>Hiperuricemia </a:t>
            </a:r>
            <a:r>
              <a:rPr lang="es-AR" sz="1450" b="1" dirty="0">
                <a:solidFill>
                  <a:srgbClr val="1E1E1E"/>
                </a:solidFill>
                <a:latin typeface="Bahnschrift"/>
                <a:ea typeface="Bahnschrift"/>
                <a:cs typeface="Bahnschrift"/>
                <a:sym typeface="Bahnschrift"/>
              </a:rPr>
              <a:t>no equivale</a:t>
            </a:r>
            <a:r>
              <a:rPr lang="es-AR" sz="1450" dirty="0">
                <a:solidFill>
                  <a:srgbClr val="1E1E1E"/>
                </a:solidFill>
                <a:latin typeface="Bahnschrift"/>
                <a:ea typeface="Bahnschrift"/>
                <a:cs typeface="Bahnschrift"/>
                <a:sym typeface="Bahnschrift"/>
              </a:rPr>
              <a:t> automáticamente a gota.</a:t>
            </a:r>
            <a:endParaRPr lang="es-AR" sz="1450" dirty="0">
              <a:latin typeface="Bahnschrift"/>
            </a:endParaRPr>
          </a:p>
        </p:txBody>
      </p:sp>
      <p:sp>
        <p:nvSpPr>
          <p:cNvPr id="2" name="Etiqueta sección"/>
          <p:cNvSpPr/>
          <p:nvPr/>
        </p:nvSpPr>
        <p:spPr>
          <a:xfrm>
            <a:off x="10072622" y="201168"/>
            <a:ext cx="18447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8 · PURINAS</a:t>
            </a:r>
            <a:endParaRPr lang="es-AR" sz="1300" dirty="0">
              <a:latin typeface="Bahnschrift SemiBold Condensed"/>
            </a:endParaRPr>
          </a:p>
        </p:txBody>
      </p:sp>
      <p:sp>
        <p:nvSpPr>
          <p:cNvPr id="3" name="Título"/>
          <p:cNvSpPr/>
          <p:nvPr/>
        </p:nvSpPr>
        <p:spPr>
          <a:xfrm>
            <a:off x="274320" y="146304"/>
            <a:ext cx="641030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P8 · HIPERURICEMIA: CATABOLISMO DE PURINAS</a:t>
            </a:r>
            <a:endParaRPr lang="es-AR" sz="2600" dirty="0">
              <a:latin typeface="Bahnschrift SemiBold Condensed"/>
            </a:endParaRPr>
          </a:p>
        </p:txBody>
      </p:sp>
      <p:sp>
        <p:nvSpPr>
          <p:cNvPr id="3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15"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par>
                          <p:cTn id="10" fill="hold">
                            <p:stCondLst>
                              <p:cond delay="500"/>
                            </p:stCondLst>
                            <p:childTnLst>
                              <p:par>
                                <p:cTn id="7" presetID="22" presetClass="entr" presetSubtype="1" fill="hold" grpId="0" nodeType="afterEffect">
                                  <p:stCondLst>
                                    <p:cond delay="0"/>
                                  </p:stCondLst>
                                  <p:childTnLst>
                                    <p:set>
                                      <p:cBhvr>
                                        <p:cTn id="8" dur="1" fill="hold">
                                          <p:stCondLst>
                                            <p:cond delay="0"/>
                                          </p:stCondLst>
                                        </p:cTn>
                                        <p:tgtEl>
                                          <p:spTgt spid="14"/>
                                        </p:tgtEl>
                                        <p:attrNameLst>
                                          <p:attrName>style.visibility</p:attrName>
                                        </p:attrNameLst>
                                      </p:cBhvr>
                                      <p:to>
                                        <p:strVal val="visible"/>
                                      </p:to>
                                    </p:set>
                                    <p:animEffect transition="in" filter="wipe(up)">
                                      <p:cBhvr>
                                        <p:cTn id="9" dur="600"/>
                                        <p:tgtEl>
                                          <p:spTgt spid="14"/>
                                        </p:tgtEl>
                                      </p:cBhvr>
                                    </p:animEffect>
                                  </p:childTnLst>
                                </p:cTn>
                              </p:par>
                            </p:childTnLst>
                          </p:cTn>
                        </p:par>
                        <p:par>
                          <p:cTn id="14" fill="hold">
                            <p:stCondLst>
                              <p:cond delay="11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childTnLst>
                    </p:cTn>
                  </p:par>
                  <p:par>
                    <p:cTn id="32" fill="hold">
                      <p:stCondLst>
                        <p:cond delay="indefinite"/>
                      </p:stCondLst>
                      <p:childTnLst>
                        <p:par>
                          <p:cTn id="19"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up)">
                                      <p:cBhvr>
                                        <p:cTn id="18" dur="600"/>
                                        <p:tgtEl>
                                          <p:spTgt spid="17"/>
                                        </p:tgtEl>
                                      </p:cBhvr>
                                    </p:animEffect>
                                  </p:childTnLst>
                                </p:cTn>
                              </p:par>
                            </p:childTnLst>
                          </p:cTn>
                        </p:par>
                        <p:par>
                          <p:cTn id="23"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par>
                          <p:cTn id="27" fill="hold">
                            <p:stCondLst>
                              <p:cond delay="1100"/>
                            </p:stCondLst>
                            <p:childTnLst>
                              <p:par>
                                <p:cTn id="24" presetID="22" presetClass="entr" presetSubtype="1"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wipe(up)">
                                      <p:cBhvr>
                                        <p:cTn id="26" dur="600"/>
                                        <p:tgtEl>
                                          <p:spTgt spid="20"/>
                                        </p:tgtEl>
                                      </p:cBhvr>
                                    </p:animEffect>
                                  </p:childTnLst>
                                </p:cTn>
                              </p:par>
                            </p:childTnLst>
                          </p:cTn>
                        </p:par>
                        <p:par>
                          <p:cTn id="31" fill="hold">
                            <p:stCondLst>
                              <p:cond delay="1700"/>
                            </p:stCondLst>
                            <p:childTnLst>
                              <p:par>
                                <p:cTn id="28" presetID="10" presetClass="entr" presetSubtype="0" fill="hold" grpId="0" nodeType="after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500"/>
                                        <p:tgtEl>
                                          <p:spTgt spid="23"/>
                                        </p:tgtEl>
                                      </p:cBhvr>
                                    </p:animEffect>
                                  </p:childTnLst>
                                </p:cTn>
                              </p:par>
                            </p:childTnLst>
                          </p:cTn>
                        </p:par>
                      </p:childTnLst>
                    </p:cTn>
                  </p:par>
                  <p:par>
                    <p:cTn id="41" fill="hold">
                      <p:stCondLst>
                        <p:cond delay="indefinite"/>
                      </p:stCondLst>
                      <p:childTnLst>
                        <p:par>
                          <p:cTn id="36"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up)">
                                      <p:cBhvr>
                                        <p:cTn id="35" dur="600"/>
                                        <p:tgtEl>
                                          <p:spTgt spid="24"/>
                                        </p:tgtEl>
                                      </p:cBhvr>
                                    </p:animEffect>
                                  </p:childTnLst>
                                </p:cTn>
                              </p:par>
                            </p:childTnLst>
                          </p:cTn>
                        </p:par>
                        <p:par>
                          <p:cTn id="40" fill="hold">
                            <p:stCondLst>
                              <p:cond delay="600"/>
                            </p:stCondLst>
                            <p:childTnLst>
                              <p:par>
                                <p:cTn id="37" presetID="10" presetClass="entr" presetSubtype="0" fill="hold" grpId="0"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500"/>
                                        <p:tgtEl>
                                          <p:spTgt spid="27"/>
                                        </p:tgtEl>
                                      </p:cBhvr>
                                    </p:animEffect>
                                  </p:childTnLst>
                                </p:cTn>
                              </p:par>
                            </p:childTnLst>
                          </p:cTn>
                        </p:par>
                      </p:childTnLst>
                    </p:cTn>
                  </p:par>
                  <p:par>
                    <p:cTn id="46" fill="hold">
                      <p:stCondLst>
                        <p:cond delay="indefinite"/>
                      </p:stCondLst>
                      <p:childTnLst>
                        <p:par>
                          <p:cTn id="45"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childTnLst>
                          </p:cTn>
                        </p:par>
                      </p:childTnLst>
                    </p:cTn>
                  </p:par>
                  <p:par>
                    <p:cTn id="51" fill="hold">
                      <p:stCondLst>
                        <p:cond delay="indefinite"/>
                      </p:stCondLst>
                      <p:childTnLst>
                        <p:par>
                          <p:cTn id="50"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fade">
                                      <p:cBhvr>
                                        <p:cTn id="49" dur="500"/>
                                        <p:tgtEl>
                                          <p:spTgt spid="31"/>
                                        </p:tgtEl>
                                      </p:cBhvr>
                                    </p:animEffect>
                                  </p:childTnLst>
                                </p:cTn>
                              </p:par>
                            </p:childTnLst>
                          </p:cTn>
                        </p:par>
                      </p:childTnLst>
                    </p:cTn>
                  </p:par>
                  <p:par>
                    <p:cTn id="56" fill="hold">
                      <p:stCondLst>
                        <p:cond delay="indefinite"/>
                      </p:stCondLst>
                      <p:childTnLst>
                        <p:par>
                          <p:cTn id="55"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6" grpId="0" animBg="1"/>
      <p:bldP spid="19" grpId="0" animBg="1"/>
      <p:bldP spid="23" grpId="0" animBg="1"/>
      <p:bldP spid="27" grpId="0" animBg="1"/>
      <p:bldP spid="34" grpId="0" animBg="1"/>
    </p:bldLst>
  </p:timing>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Escenario (a) Alta ingesta de purinas"/>
          <p:cNvGrpSpPr/>
          <p:nvPr/>
        </p:nvGrpSpPr>
        <p:grpSpPr>
          <a:xfrm>
            <a:off x="365760" y="1005840"/>
            <a:ext cx="5577840" cy="2377440"/>
            <a:chOff x="365760" y="1005840"/>
            <a:chExt cx="5577840" cy="2377440"/>
          </a:xfrm>
        </p:grpSpPr>
        <p:grpSp>
          <p:nvGrpSpPr>
            <p:cNvPr id="14" name="Recuadro (a) Alta ingesta de purin"/>
            <p:cNvGrpSpPr/>
            <p:nvPr/>
          </p:nvGrpSpPr>
          <p:grpSpPr>
            <a:xfrm>
              <a:off x="365760" y="1005840"/>
              <a:ext cx="5577840" cy="2377440"/>
              <a:chOff x="365760" y="1005840"/>
              <a:chExt cx="5577840" cy="2377440"/>
            </a:xfrm>
          </p:grpSpPr>
          <p:sp>
            <p:nvSpPr>
              <p:cNvPr id="15" name="Forma 14"/>
              <p:cNvSpPr/>
              <p:nvPr/>
            </p:nvSpPr>
            <p:spPr>
              <a:xfrm>
                <a:off x="365760" y="1188720"/>
                <a:ext cx="5577840" cy="21945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 carga que entra a rescate/catabolismo; vísceras, ciertas carnes y mariscos difieren de lácteos y fuentes vegetales.</a:t>
                </a:r>
                <a:endParaRPr lang="es-AR" sz="1600" dirty="0">
                  <a:latin typeface="Bahnschrift"/>
                </a:endParaRPr>
              </a:p>
            </p:txBody>
          </p:sp>
          <p:sp>
            <p:nvSpPr>
              <p:cNvPr id="16" name="Forma 15"/>
              <p:cNvSpPr/>
              <p:nvPr/>
            </p:nvSpPr>
            <p:spPr>
              <a:xfrm>
                <a:off x="475488" y="1005840"/>
                <a:ext cx="247310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 ALTA INGESTA DE PURINAS</a:t>
                </a:r>
                <a:endParaRPr lang="es-AR" sz="1450" dirty="0">
                  <a:latin typeface="Bahnschrift SemiBold Condensed"/>
                </a:endParaRPr>
              </a:p>
            </p:txBody>
          </p:sp>
        </p:grpSp>
        <p:grpSp>
          <p:nvGrpSpPr>
            <p:cNvPr id="17" name="Ícono intestino"/>
            <p:cNvGrpSpPr/>
            <p:nvPr/>
          </p:nvGrpSpPr>
          <p:grpSpPr>
            <a:xfrm>
              <a:off x="4978908" y="2464308"/>
              <a:ext cx="740664" cy="629564"/>
              <a:chOff x="4978908" y="2464308"/>
              <a:chExt cx="740664" cy="629564"/>
            </a:xfrm>
          </p:grpSpPr>
          <p:sp>
            <p:nvSpPr>
              <p:cNvPr id="18" name="Forma 17"/>
              <p:cNvSpPr/>
              <p:nvPr/>
            </p:nvSpPr>
            <p:spPr>
              <a:xfrm>
                <a:off x="4978908" y="2464308"/>
                <a:ext cx="740664" cy="62956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19" name="Forma 18"/>
              <p:cNvSpPr/>
              <p:nvPr/>
            </p:nvSpPr>
            <p:spPr>
              <a:xfrm>
                <a:off x="4978908" y="2464308"/>
                <a:ext cx="740664" cy="62956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20" name="Forma 19"/>
              <p:cNvSpPr/>
              <p:nvPr/>
            </p:nvSpPr>
            <p:spPr>
              <a:xfrm>
                <a:off x="4978908" y="2464308"/>
                <a:ext cx="740664" cy="62956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21" name="Forma 20"/>
              <p:cNvSpPr/>
              <p:nvPr/>
            </p:nvSpPr>
            <p:spPr>
              <a:xfrm>
                <a:off x="4978908" y="2464308"/>
                <a:ext cx="740664" cy="62956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22" name="Forma 21"/>
              <p:cNvSpPr/>
              <p:nvPr/>
            </p:nvSpPr>
            <p:spPr>
              <a:xfrm>
                <a:off x="4978908" y="2464308"/>
                <a:ext cx="740664" cy="62956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grpSp>
        <p:nvGrpSpPr>
          <p:cNvPr id="23" name="Escenario (b) Ejercicio extremo"/>
          <p:cNvGrpSpPr/>
          <p:nvPr/>
        </p:nvGrpSpPr>
        <p:grpSpPr>
          <a:xfrm>
            <a:off x="6217920" y="1005840"/>
            <a:ext cx="5577840" cy="2377440"/>
            <a:chOff x="6217920" y="1005840"/>
            <a:chExt cx="5577840" cy="2377440"/>
          </a:xfrm>
        </p:grpSpPr>
        <p:grpSp>
          <p:nvGrpSpPr>
            <p:cNvPr id="24" name="Recuadro (b) Ejercicio extremo"/>
            <p:cNvGrpSpPr/>
            <p:nvPr/>
          </p:nvGrpSpPr>
          <p:grpSpPr>
            <a:xfrm>
              <a:off x="6217920" y="1005840"/>
              <a:ext cx="5577840" cy="2377440"/>
              <a:chOff x="6217920" y="1005840"/>
              <a:chExt cx="5577840" cy="2377440"/>
            </a:xfrm>
          </p:grpSpPr>
          <p:sp>
            <p:nvSpPr>
              <p:cNvPr id="25" name="Forma 24"/>
              <p:cNvSpPr/>
              <p:nvPr/>
            </p:nvSpPr>
            <p:spPr>
              <a:xfrm>
                <a:off x="6217920" y="1188720"/>
                <a:ext cx="5577840" cy="2194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ATP → ADP → AMP; adenilato cinasa y </a:t>
                </a:r>
                <a:r>
                  <a:rPr lang="es-AR" sz="1600" b="1" dirty="0">
                    <a:solidFill>
                      <a:srgbClr val="1E1E1E"/>
                    </a:solidFill>
                    <a:latin typeface="Bahnschrift"/>
                    <a:ea typeface="Bahnschrift"/>
                    <a:cs typeface="Bahnschrift"/>
                    <a:sym typeface="Bahnschrift"/>
                  </a:rPr>
                  <a:t>AMPD</a:t>
                </a:r>
                <a:r>
                  <a:rPr lang="es-AR" sz="1600" dirty="0">
                    <a:solidFill>
                      <a:srgbClr val="1E1E1E"/>
                    </a:solidFill>
                    <a:latin typeface="Bahnschrift"/>
                    <a:ea typeface="Bahnschrift"/>
                    <a:cs typeface="Bahnschrift"/>
                    <a:sym typeface="Bahnschrift"/>
                  </a:rPr>
                  <a:t> → IMP → hipoxantina → urato; </a:t>
                </a:r>
                <a:r>
                  <a:rPr lang="es-AR" sz="1600" b="1" dirty="0">
                    <a:solidFill>
                      <a:srgbClr val="1E1E1E"/>
                    </a:solidFill>
                    <a:latin typeface="Bahnschrift"/>
                    <a:ea typeface="Bahnschrift"/>
                    <a:cs typeface="Bahnschrift"/>
                    <a:sym typeface="Bahnschrift"/>
                  </a:rPr>
                  <a:t>lactato</a:t>
                </a:r>
                <a:r>
                  <a:rPr lang="es-AR" sz="1600" dirty="0">
                    <a:solidFill>
                      <a:srgbClr val="1E1E1E"/>
                    </a:solidFill>
                    <a:latin typeface="Bahnschrift"/>
                    <a:ea typeface="Bahnschrift"/>
                    <a:cs typeface="Bahnschrift"/>
                    <a:sym typeface="Bahnschrift"/>
                  </a:rPr>
                  <a:t> y depleción de volumen ↓ excreción. No equivale a gota crónica.</a:t>
                </a:r>
                <a:endParaRPr lang="es-AR" sz="1600" dirty="0">
                  <a:latin typeface="Bahnschrift"/>
                </a:endParaRPr>
              </a:p>
            </p:txBody>
          </p:sp>
          <p:sp>
            <p:nvSpPr>
              <p:cNvPr id="26" name="Forma 25"/>
              <p:cNvSpPr/>
              <p:nvPr/>
            </p:nvSpPr>
            <p:spPr>
              <a:xfrm>
                <a:off x="6327648" y="1005840"/>
                <a:ext cx="203415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(B) EJERCICIO EXTREMO</a:t>
                </a:r>
                <a:endParaRPr lang="es-AR" sz="1450" dirty="0">
                  <a:latin typeface="Bahnschrift SemiBold Condensed"/>
                </a:endParaRPr>
              </a:p>
            </p:txBody>
          </p:sp>
        </p:grpSp>
        <p:grpSp>
          <p:nvGrpSpPr>
            <p:cNvPr id="27" name="Ícono músculo"/>
            <p:cNvGrpSpPr/>
            <p:nvPr/>
          </p:nvGrpSpPr>
          <p:grpSpPr>
            <a:xfrm>
              <a:off x="10789920" y="2587752"/>
              <a:ext cx="822960" cy="269931"/>
              <a:chOff x="10789920" y="2587752"/>
              <a:chExt cx="822960" cy="269931"/>
            </a:xfrm>
          </p:grpSpPr>
          <p:grpSp>
            <p:nvGrpSpPr>
              <p:cNvPr id="28" name="Fibra"/>
              <p:cNvGrpSpPr/>
              <p:nvPr/>
            </p:nvGrpSpPr>
            <p:grpSpPr>
              <a:xfrm>
                <a:off x="10789920" y="2587752"/>
                <a:ext cx="790042" cy="131674"/>
                <a:chOff x="10789920" y="2587752"/>
                <a:chExt cx="790042" cy="131674"/>
              </a:xfrm>
            </p:grpSpPr>
            <p:sp>
              <p:nvSpPr>
                <p:cNvPr id="29" name="Forma 28"/>
                <p:cNvSpPr/>
                <p:nvPr/>
              </p:nvSpPr>
              <p:spPr>
                <a:xfrm>
                  <a:off x="10789920" y="2587752"/>
                  <a:ext cx="790042" cy="13167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0" name="Forma 29"/>
                <p:cNvSpPr/>
                <p:nvPr/>
              </p:nvSpPr>
              <p:spPr>
                <a:xfrm>
                  <a:off x="10822838" y="2587752"/>
                  <a:ext cx="724205" cy="131674"/>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31" name="Forma 30"/>
                <p:cNvSpPr/>
                <p:nvPr/>
              </p:nvSpPr>
              <p:spPr>
                <a:xfrm>
                  <a:off x="10947928" y="2593019"/>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11224443" y="2593019"/>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3" name="Forma 32"/>
                <p:cNvSpPr/>
                <p:nvPr/>
              </p:nvSpPr>
              <p:spPr>
                <a:xfrm>
                  <a:off x="11461455" y="2593019"/>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4" name="Forma 33"/>
                <p:cNvSpPr/>
                <p:nvPr/>
              </p:nvSpPr>
              <p:spPr>
                <a:xfrm>
                  <a:off x="11524659" y="2593019"/>
                  <a:ext cx="52669" cy="12114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5" name="Fibra_2"/>
              <p:cNvGrpSpPr/>
              <p:nvPr/>
            </p:nvGrpSpPr>
            <p:grpSpPr>
              <a:xfrm>
                <a:off x="10822838" y="2726009"/>
                <a:ext cx="790042" cy="131674"/>
                <a:chOff x="10822838" y="2726009"/>
                <a:chExt cx="790042" cy="131674"/>
              </a:xfrm>
            </p:grpSpPr>
            <p:sp>
              <p:nvSpPr>
                <p:cNvPr id="36" name="Forma 35"/>
                <p:cNvSpPr/>
                <p:nvPr/>
              </p:nvSpPr>
              <p:spPr>
                <a:xfrm>
                  <a:off x="10822838" y="2726009"/>
                  <a:ext cx="790042" cy="131674"/>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7" name="Forma 36"/>
                <p:cNvSpPr/>
                <p:nvPr/>
              </p:nvSpPr>
              <p:spPr>
                <a:xfrm>
                  <a:off x="10855757" y="2726009"/>
                  <a:ext cx="724205" cy="131674"/>
                </a:xfrm>
                <a:custGeom>
                  <a:avLst/>
                  <a:gdLst/>
                  <a:ahLst/>
                  <a:cxnLst/>
                  <a:rect l="0" t="0" r="r" b="b"/>
                  <a:pathLst>
                    <a:path w="1000" h="1000" fill="none">
                      <a:moveTo>
                        <a:pt x="55" y="80"/>
                      </a:moveTo>
                      <a:lnTo>
                        <a:pt x="55" y="920"/>
                      </a:lnTo>
                    </a:path>
                    <a:path w="1000" h="1000" fill="none">
                      <a:moveTo>
                        <a:pt x="166" y="80"/>
                      </a:moveTo>
                      <a:lnTo>
                        <a:pt x="166" y="920"/>
                      </a:lnTo>
                    </a:path>
                    <a:path w="1000" h="1000" fill="none">
                      <a:moveTo>
                        <a:pt x="277" y="80"/>
                      </a:moveTo>
                      <a:lnTo>
                        <a:pt x="277" y="920"/>
                      </a:lnTo>
                    </a:path>
                    <a:path w="1000" h="1000" fill="none">
                      <a:moveTo>
                        <a:pt x="388" y="80"/>
                      </a:moveTo>
                      <a:lnTo>
                        <a:pt x="388" y="920"/>
                      </a:lnTo>
                    </a:path>
                    <a:path w="1000" h="1000" fill="none">
                      <a:moveTo>
                        <a:pt x="500" y="80"/>
                      </a:moveTo>
                      <a:lnTo>
                        <a:pt x="500" y="920"/>
                      </a:lnTo>
                    </a:path>
                    <a:path w="1000" h="1000" fill="none">
                      <a:moveTo>
                        <a:pt x="611" y="80"/>
                      </a:moveTo>
                      <a:lnTo>
                        <a:pt x="611" y="920"/>
                      </a:lnTo>
                    </a:path>
                    <a:path w="1000" h="1000" fill="none">
                      <a:moveTo>
                        <a:pt x="722" y="80"/>
                      </a:moveTo>
                      <a:lnTo>
                        <a:pt x="722" y="920"/>
                      </a:lnTo>
                    </a:path>
                    <a:path w="1000" h="1000" fill="none">
                      <a:moveTo>
                        <a:pt x="833" y="80"/>
                      </a:moveTo>
                      <a:lnTo>
                        <a:pt x="833" y="920"/>
                      </a:lnTo>
                    </a:path>
                    <a:path w="1000" h="1000" fill="none">
                      <a:moveTo>
                        <a:pt x="944" y="80"/>
                      </a:moveTo>
                      <a:lnTo>
                        <a:pt x="944" y="920"/>
                      </a:lnTo>
                    </a:path>
                  </a:pathLst>
                </a:custGeom>
                <a:noFill/>
                <a:ln w="12700" cap="rnd">
                  <a:solidFill>
                    <a:srgbClr val="822E27"/>
                  </a:solidFill>
                  <a:round/>
                </a:ln>
              </p:spPr>
            </p:sp>
            <p:sp>
              <p:nvSpPr>
                <p:cNvPr id="38" name="Forma 37"/>
                <p:cNvSpPr/>
                <p:nvPr/>
              </p:nvSpPr>
              <p:spPr>
                <a:xfrm>
                  <a:off x="10980847" y="2731276"/>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9" name="Forma 38"/>
                <p:cNvSpPr/>
                <p:nvPr/>
              </p:nvSpPr>
              <p:spPr>
                <a:xfrm>
                  <a:off x="11257361" y="2731276"/>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0" name="Forma 39"/>
                <p:cNvSpPr/>
                <p:nvPr/>
              </p:nvSpPr>
              <p:spPr>
                <a:xfrm>
                  <a:off x="11494374" y="2731276"/>
                  <a:ext cx="65837" cy="23701"/>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1" name="Forma 40"/>
                <p:cNvSpPr/>
                <p:nvPr/>
              </p:nvSpPr>
              <p:spPr>
                <a:xfrm>
                  <a:off x="11557577" y="2731276"/>
                  <a:ext cx="52669" cy="12114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grpSp>
        <p:nvGrpSpPr>
          <p:cNvPr id="42" name="Escenario (c) Lisis tumoral"/>
          <p:cNvGrpSpPr/>
          <p:nvPr/>
        </p:nvGrpSpPr>
        <p:grpSpPr>
          <a:xfrm>
            <a:off x="365760" y="3566160"/>
            <a:ext cx="5577840" cy="2377440"/>
            <a:chOff x="365760" y="3566160"/>
            <a:chExt cx="5577840" cy="2377440"/>
          </a:xfrm>
        </p:grpSpPr>
        <p:grpSp>
          <p:nvGrpSpPr>
            <p:cNvPr id="43" name="Recuadro (c) Lisis tumoral"/>
            <p:cNvGrpSpPr/>
            <p:nvPr/>
          </p:nvGrpSpPr>
          <p:grpSpPr>
            <a:xfrm>
              <a:off x="365760" y="3566160"/>
              <a:ext cx="5577840" cy="2377440"/>
              <a:chOff x="365760" y="3566160"/>
              <a:chExt cx="5577840" cy="2377440"/>
            </a:xfrm>
          </p:grpSpPr>
          <p:sp>
            <p:nvSpPr>
              <p:cNvPr id="44" name="Forma 43"/>
              <p:cNvSpPr/>
              <p:nvPr/>
            </p:nvSpPr>
            <p:spPr>
              <a:xfrm>
                <a:off x="365760" y="3749040"/>
                <a:ext cx="5577840" cy="2194560"/>
              </a:xfrm>
              <a:prstGeom prst="rect">
                <a:avLst/>
              </a:prstGeom>
              <a:solidFill>
                <a:srgbClr val="D7261E"/>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 brusco de </a:t>
                </a:r>
                <a:r>
                  <a:rPr lang="es-AR" sz="1600" b="1" dirty="0">
                    <a:solidFill>
                      <a:srgbClr val="FFFFFF"/>
                    </a:solidFill>
                    <a:latin typeface="Bahnschrift"/>
                    <a:ea typeface="Bahnschrift"/>
                    <a:cs typeface="Bahnschrift"/>
                    <a:sym typeface="Bahnschrift"/>
                  </a:rPr>
                  <a:t>K</a:t>
                </a:r>
                <a:r>
                  <a:rPr lang="es-AR" sz="1600" b="1" baseline="30000" dirty="0">
                    <a:solidFill>
                      <a:srgbClr val="FFFFFF"/>
                    </a:solidFill>
                    <a:latin typeface="Bahnschrift"/>
                    <a:ea typeface="Bahnschrift"/>
                    <a:cs typeface="Bahnschrift"/>
                    <a:sym typeface="Bahnschrift"/>
                  </a:rPr>
                  <a:t>+</a:t>
                </a:r>
                <a:r>
                  <a:rPr lang="es-AR" sz="1600" b="1" dirty="0">
                    <a:solidFill>
                      <a:srgbClr val="FFFFFF"/>
                    </a:solidFill>
                    <a:latin typeface="Bahnschrift"/>
                    <a:ea typeface="Bahnschrift"/>
                    <a:cs typeface="Bahnschrift"/>
                    <a:sym typeface="Bahnschrift"/>
                  </a:rPr>
                  <a:t>, fosfato y urato</a:t>
                </a:r>
                <a:r>
                  <a:rPr lang="es-AR" sz="1600" dirty="0">
                    <a:solidFill>
                      <a:srgbClr val="FFFFFF"/>
                    </a:solidFill>
                    <a:latin typeface="Bahnschrift"/>
                    <a:ea typeface="Bahnschrift"/>
                    <a:cs typeface="Bahnschrift"/>
                    <a:sym typeface="Bahnschrift"/>
                  </a:rPr>
                  <a:t>, hipocalcemia secundaria y </a:t>
                </a:r>
                <a:r>
                  <a:rPr lang="es-AR" sz="1600" b="1" dirty="0">
                    <a:solidFill>
                      <a:srgbClr val="FFFFFF"/>
                    </a:solidFill>
                    <a:latin typeface="Bahnschrift"/>
                    <a:ea typeface="Bahnschrift"/>
                    <a:cs typeface="Bahnschrift"/>
                    <a:sym typeface="Bahnschrift"/>
                  </a:rPr>
                  <a:t>lesión renal aguda</a:t>
                </a:r>
                <a:r>
                  <a:rPr lang="es-AR" sz="1600" dirty="0">
                    <a:solidFill>
                      <a:srgbClr val="FFFFFF"/>
                    </a:solidFill>
                    <a:latin typeface="Bahnschrift"/>
                    <a:ea typeface="Bahnschrift"/>
                    <a:cs typeface="Bahnschrift"/>
                    <a:sym typeface="Bahnschrift"/>
                  </a:rPr>
                  <a:t>; el urato precipita en túbulos. </a:t>
                </a:r>
                <a:r>
                  <a:rPr lang="es-AR" sz="1600" b="1" dirty="0">
                    <a:solidFill>
                      <a:srgbClr val="FFFFFF"/>
                    </a:solidFill>
                    <a:latin typeface="Bahnschrift"/>
                    <a:ea typeface="Bahnschrift"/>
                    <a:cs typeface="Bahnschrift"/>
                    <a:sym typeface="Bahnschrift"/>
                  </a:rPr>
                  <a:t>Urgencia</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sp>
            <p:nvSpPr>
              <p:cNvPr id="45" name="Forma 44"/>
              <p:cNvSpPr/>
              <p:nvPr/>
            </p:nvSpPr>
            <p:spPr>
              <a:xfrm>
                <a:off x="475488" y="3566160"/>
                <a:ext cx="1669250"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(C) LISIS TUMORAL</a:t>
                </a:r>
                <a:endParaRPr lang="es-AR" sz="1450" dirty="0">
                  <a:latin typeface="Bahnschrift SemiBold Condensed"/>
                </a:endParaRPr>
              </a:p>
            </p:txBody>
          </p:sp>
        </p:grpSp>
        <p:sp>
          <p:nvSpPr>
            <p:cNvPr id="46" name="Ícono célula"/>
            <p:cNvSpPr/>
            <p:nvPr/>
          </p:nvSpPr>
          <p:spPr>
            <a:xfrm>
              <a:off x="5020056" y="5065776"/>
              <a:ext cx="658368" cy="658368"/>
            </a:xfrm>
            <a:prstGeom prst="ellipse">
              <a:avLst/>
            </a:prstGeom>
            <a:gradFill rotWithShape="1">
              <a:gsLst>
                <a:gs pos="0">
                  <a:srgbClr val="C9A5D7"/>
                </a:gs>
                <a:gs pos="55000">
                  <a:srgbClr val="A569BD"/>
                </a:gs>
                <a:gs pos="100000">
                  <a:srgbClr val="734984"/>
                </a:gs>
              </a:gsLst>
              <a:path path="circle">
                <a:fillToRect l="32000" t="28000" r="68000" b="72000"/>
              </a:path>
            </a:gradFill>
            <a:ln w="15875" cap="rnd">
              <a:solidFill>
                <a:srgbClr val="5B2C6F"/>
              </a:solidFill>
              <a:round/>
            </a:ln>
          </p:spPr>
        </p:sp>
      </p:grpSp>
      <p:grpSp>
        <p:nvGrpSpPr>
          <p:cNvPr id="47" name="Escenario (d) Insuficiencia renal"/>
          <p:cNvGrpSpPr/>
          <p:nvPr/>
        </p:nvGrpSpPr>
        <p:grpSpPr>
          <a:xfrm>
            <a:off x="6217920" y="3566160"/>
            <a:ext cx="5577840" cy="2377440"/>
            <a:chOff x="6217920" y="3566160"/>
            <a:chExt cx="5577840" cy="2377440"/>
          </a:xfrm>
        </p:grpSpPr>
        <p:grpSp>
          <p:nvGrpSpPr>
            <p:cNvPr id="48" name="Recuadro (d) Insuficiencia renal"/>
            <p:cNvGrpSpPr/>
            <p:nvPr/>
          </p:nvGrpSpPr>
          <p:grpSpPr>
            <a:xfrm>
              <a:off x="6217920" y="3566160"/>
              <a:ext cx="5577840" cy="2377440"/>
              <a:chOff x="6217920" y="3566160"/>
              <a:chExt cx="5577840" cy="2377440"/>
            </a:xfrm>
          </p:grpSpPr>
          <p:sp>
            <p:nvSpPr>
              <p:cNvPr id="49" name="Forma 48"/>
              <p:cNvSpPr/>
              <p:nvPr/>
            </p:nvSpPr>
            <p:spPr>
              <a:xfrm>
                <a:off x="6217920" y="3749040"/>
                <a:ext cx="5577840" cy="219456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 filtración y manejo tubular alterado (</a:t>
                </a:r>
                <a:r>
                  <a:rPr lang="es-AR" sz="1600" b="1" dirty="0">
                    <a:solidFill>
                      <a:srgbClr val="1E1E1E"/>
                    </a:solidFill>
                    <a:latin typeface="Bahnschrift"/>
                    <a:ea typeface="Bahnschrift"/>
                    <a:cs typeface="Bahnschrift"/>
                    <a:sym typeface="Bahnschrift"/>
                  </a:rPr>
                  <a:t>URAT1</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GLUT9</a:t>
                </a:r>
                <a:r>
                  <a:rPr lang="es-AR" sz="1600" dirty="0">
                    <a:solidFill>
                      <a:srgbClr val="1E1E1E"/>
                    </a:solidFill>
                    <a:latin typeface="Bahnschrift"/>
                    <a:ea typeface="Bahnschrift"/>
                    <a:cs typeface="Bahnschrift"/>
                    <a:sym typeface="Bahnschrift"/>
                  </a:rPr>
                  <a:t>, </a:t>
                </a:r>
                <a:r>
                  <a:rPr lang="es-AR" sz="1600" b="1" dirty="0">
                    <a:solidFill>
                      <a:srgbClr val="1E1E1E"/>
                    </a:solidFill>
                    <a:latin typeface="Bahnschrift"/>
                    <a:ea typeface="Bahnschrift"/>
                    <a:cs typeface="Bahnschrift"/>
                    <a:sym typeface="Bahnschrift"/>
                  </a:rPr>
                  <a:t>ABCG2</a:t>
                </a:r>
                <a:r>
                  <a:rPr lang="es-AR" sz="1600" dirty="0">
                    <a:solidFill>
                      <a:srgbClr val="1E1E1E"/>
                    </a:solidFill>
                    <a:latin typeface="Bahnschrift"/>
                    <a:ea typeface="Bahnschrift"/>
                    <a:cs typeface="Bahnschrift"/>
                    <a:sym typeface="Bahnschrift"/>
                  </a:rPr>
                  <a:t>); diuréticos, volumen y lactato/cetoácidos modulan.</a:t>
                </a:r>
                <a:endParaRPr lang="es-AR" sz="1600" dirty="0">
                  <a:latin typeface="Bahnschrift"/>
                </a:endParaRPr>
              </a:p>
            </p:txBody>
          </p:sp>
          <p:sp>
            <p:nvSpPr>
              <p:cNvPr id="50" name="Forma 49"/>
              <p:cNvSpPr/>
              <p:nvPr/>
            </p:nvSpPr>
            <p:spPr>
              <a:xfrm>
                <a:off x="6327648" y="3566160"/>
                <a:ext cx="213917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(D) INSUFICIENCIA RENAL</a:t>
                </a:r>
                <a:endParaRPr lang="es-AR" sz="1450" dirty="0">
                  <a:latin typeface="Bahnschrift SemiBold Condensed"/>
                </a:endParaRPr>
              </a:p>
            </p:txBody>
          </p:sp>
        </p:grpSp>
        <p:grpSp>
          <p:nvGrpSpPr>
            <p:cNvPr id="51" name="Ícono riñón"/>
            <p:cNvGrpSpPr/>
            <p:nvPr/>
          </p:nvGrpSpPr>
          <p:grpSpPr>
            <a:xfrm>
              <a:off x="10954512" y="4983480"/>
              <a:ext cx="493776" cy="691286"/>
              <a:chOff x="10954512" y="4983480"/>
              <a:chExt cx="493776" cy="691286"/>
            </a:xfrm>
          </p:grpSpPr>
          <p:sp>
            <p:nvSpPr>
              <p:cNvPr id="52" name="Forma 51"/>
              <p:cNvSpPr/>
              <p:nvPr/>
            </p:nvSpPr>
            <p:spPr>
              <a:xfrm>
                <a:off x="10954512" y="4983480"/>
                <a:ext cx="493776" cy="69128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53" name="Forma 52"/>
              <p:cNvSpPr/>
              <p:nvPr/>
            </p:nvSpPr>
            <p:spPr>
              <a:xfrm>
                <a:off x="10954512" y="4983480"/>
                <a:ext cx="493776" cy="69128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54" name="Forma 53"/>
              <p:cNvSpPr/>
              <p:nvPr/>
            </p:nvSpPr>
            <p:spPr>
              <a:xfrm>
                <a:off x="10954512" y="4983480"/>
                <a:ext cx="493776" cy="69128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55" name="Forma 54"/>
              <p:cNvSpPr/>
              <p:nvPr/>
            </p:nvSpPr>
            <p:spPr>
              <a:xfrm>
                <a:off x="10954512" y="4983480"/>
                <a:ext cx="493776" cy="69128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sp>
        <p:nvSpPr>
          <p:cNvPr id="2" name="Etiqueta sección"/>
          <p:cNvSpPr/>
          <p:nvPr/>
        </p:nvSpPr>
        <p:spPr>
          <a:xfrm>
            <a:off x="10072622" y="201168"/>
            <a:ext cx="18447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8 · PURINAS</a:t>
            </a:r>
            <a:endParaRPr lang="es-AR" sz="1300" dirty="0">
              <a:latin typeface="Bahnschrift SemiBold Condensed"/>
            </a:endParaRPr>
          </a:p>
        </p:txBody>
      </p:sp>
      <p:sp>
        <p:nvSpPr>
          <p:cNvPr id="3" name="Título"/>
          <p:cNvSpPr/>
          <p:nvPr/>
        </p:nvSpPr>
        <p:spPr>
          <a:xfrm>
            <a:off x="274320" y="146304"/>
            <a:ext cx="603227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P8 · CUATRO ESCENARIOS DE HIPERURICEMIA</a:t>
            </a:r>
            <a:endParaRPr lang="es-AR" sz="2600" dirty="0">
              <a:latin typeface="Bahnschrift SemiBold Condensed"/>
            </a:endParaRPr>
          </a:p>
        </p:txBody>
      </p:sp>
      <p:sp>
        <p:nvSpPr>
          <p:cNvPr id="5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500"/>
                                        <p:tgtEl>
                                          <p:spTgt spid="4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F8C1C8"/>
        </a:solidFill>
        <a:effectLst/>
      </p:bgPr>
    </p:bg>
    <p:spTree>
      <p:nvGrpSpPr>
        <p:cNvPr id="1" name=""/>
        <p:cNvGrpSpPr/>
        <p:nvPr/>
      </p:nvGrpSpPr>
      <p:grpSpPr/>
      <p:grpSp>
        <p:nvGrpSpPr>
          <p:cNvPr id="4" name="!!Etapas análisis"/>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Normal</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Alteración</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Mecanismo</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Consecuencias</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Compensación</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Clínica</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Integración</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Esquema</a:t>
              </a:r>
              <a:endParaRPr lang="es-AR" sz="1050" dirty="0">
                <a:latin typeface="Bahnschrift SemiBold Condensed"/>
              </a:endParaRPr>
            </a:p>
          </p:txBody>
        </p:sp>
      </p:grpSp>
      <p:grpSp>
        <p:nvGrpSpPr>
          <p:cNvPr id="13" name="Recuadro Puente con fructosa"/>
          <p:cNvGrpSpPr/>
          <p:nvPr/>
        </p:nvGrpSpPr>
        <p:grpSpPr>
          <a:xfrm>
            <a:off x="365760" y="1005840"/>
            <a:ext cx="4023360" cy="2377440"/>
            <a:chOff x="365760" y="1005840"/>
            <a:chExt cx="4023360" cy="2377440"/>
          </a:xfrm>
        </p:grpSpPr>
        <p:sp>
          <p:nvSpPr>
            <p:cNvPr id="14" name="Forma 13"/>
            <p:cNvSpPr/>
            <p:nvPr/>
          </p:nvSpPr>
          <p:spPr>
            <a:xfrm>
              <a:off x="365760" y="1188720"/>
              <a:ext cx="4023360" cy="219456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00" dirty="0">
                  <a:solidFill>
                    <a:srgbClr val="1E1E1E"/>
                  </a:solidFill>
                  <a:latin typeface="Bahnschrift"/>
                  <a:ea typeface="Bahnschrift"/>
                  <a:cs typeface="Bahnschrift"/>
                  <a:sym typeface="Bahnschrift"/>
                </a:rPr>
                <a:t>Grandes cargas de </a:t>
              </a:r>
              <a:r>
                <a:rPr lang="es-AR" sz="1600" b="1" dirty="0">
                  <a:solidFill>
                    <a:srgbClr val="1E1E1E"/>
                  </a:solidFill>
                  <a:latin typeface="Bahnschrift"/>
                  <a:ea typeface="Bahnschrift"/>
                  <a:cs typeface="Bahnschrift"/>
                  <a:sym typeface="Bahnschrift"/>
                </a:rPr>
                <a:t>fructosa</a:t>
              </a:r>
              <a:r>
                <a:rPr lang="es-AR" sz="1600" dirty="0">
                  <a:solidFill>
                    <a:srgbClr val="1E1E1E"/>
                  </a:solidFill>
                  <a:latin typeface="Bahnschrift"/>
                  <a:ea typeface="Bahnschrift"/>
                  <a:cs typeface="Bahnschrift"/>
                  <a:sym typeface="Bahnschrift"/>
                </a:rPr>
                <a:t> consumen ATP rápido y pueden acelerar la degradación purínica hacia urato: mecanismo </a:t>
              </a:r>
              <a:r>
                <a:rPr lang="es-AR" sz="1600" b="1" dirty="0">
                  <a:solidFill>
                    <a:srgbClr val="1E1E1E"/>
                  </a:solidFill>
                  <a:latin typeface="Bahnschrift"/>
                  <a:ea typeface="Bahnschrift"/>
                  <a:cs typeface="Bahnschrift"/>
                  <a:sym typeface="Bahnschrift"/>
                </a:rPr>
                <a:t>demostrado</a:t>
              </a:r>
              <a:r>
                <a:rPr lang="es-AR" sz="1600" dirty="0">
                  <a:solidFill>
                    <a:srgbClr val="1E1E1E"/>
                  </a:solidFill>
                  <a:latin typeface="Bahnschrift"/>
                  <a:ea typeface="Bahnschrift"/>
                  <a:cs typeface="Bahnschrift"/>
                  <a:sym typeface="Bahnschrift"/>
                </a:rPr>
                <a:t>, pero de </a:t>
              </a:r>
              <a:r>
                <a:rPr lang="es-AR" sz="1600" b="1" dirty="0">
                  <a:solidFill>
                    <a:srgbClr val="1E1E1E"/>
                  </a:solidFill>
                  <a:latin typeface="Bahnschrift"/>
                  <a:ea typeface="Bahnschrift"/>
                  <a:cs typeface="Bahnschrift"/>
                  <a:sym typeface="Bahnschrift"/>
                </a:rPr>
                <a:t>magnitud clínica variable</a:t>
              </a:r>
              <a:r>
                <a:rPr lang="es-AR" sz="1600" dirty="0">
                  <a:solidFill>
                    <a:srgbClr val="1E1E1E"/>
                  </a:solidFill>
                  <a:latin typeface="Bahnschrift"/>
                  <a:ea typeface="Bahnschrift"/>
                  <a:cs typeface="Bahnschrift"/>
                  <a:sym typeface="Bahnschrift"/>
                </a:rPr>
                <a:t>.</a:t>
              </a:r>
              <a:endParaRPr lang="es-AR" sz="1600" dirty="0">
                <a:latin typeface="Bahnschrift"/>
              </a:endParaRPr>
            </a:p>
          </p:txBody>
        </p:sp>
        <p:sp>
          <p:nvSpPr>
            <p:cNvPr id="15" name="Forma 14"/>
            <p:cNvSpPr/>
            <p:nvPr/>
          </p:nvSpPr>
          <p:spPr>
            <a:xfrm>
              <a:off x="475488" y="1005840"/>
              <a:ext cx="1999888"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PUENTE CON FRUCTOSA</a:t>
              </a:r>
              <a:endParaRPr lang="es-AR" sz="1450" dirty="0">
                <a:latin typeface="Bahnschrift SemiBold Condensed"/>
              </a:endParaRPr>
            </a:p>
          </p:txBody>
        </p:sp>
      </p:grpSp>
      <p:grpSp>
        <p:nvGrpSpPr>
          <p:cNvPr id="16" name="Recuadro Clínica"/>
          <p:cNvGrpSpPr/>
          <p:nvPr/>
        </p:nvGrpSpPr>
        <p:grpSpPr>
          <a:xfrm>
            <a:off x="365760" y="3566160"/>
            <a:ext cx="4023360" cy="2468880"/>
            <a:chOff x="365760" y="3566160"/>
            <a:chExt cx="4023360" cy="2468880"/>
          </a:xfrm>
        </p:grpSpPr>
        <p:sp>
          <p:nvSpPr>
            <p:cNvPr id="17" name="Forma 16"/>
            <p:cNvSpPr/>
            <p:nvPr/>
          </p:nvSpPr>
          <p:spPr>
            <a:xfrm>
              <a:off x="365760" y="3749040"/>
              <a:ext cx="4023360" cy="22860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a:spcAft>
                  <a:spcPts val="400"/>
                </a:spcAft>
                <a:buNone/>
              </a:pPr>
              <a:r>
                <a:rPr lang="es-AR" sz="1650" dirty="0">
                  <a:solidFill>
                    <a:srgbClr val="1E1E1E"/>
                  </a:solidFill>
                  <a:latin typeface="Bahnschrift"/>
                  <a:ea typeface="Bahnschrift"/>
                  <a:cs typeface="Bahnschrift"/>
                  <a:sym typeface="Bahnschrift"/>
                </a:rPr>
                <a:t>Valorar </a:t>
              </a:r>
              <a:r>
                <a:rPr lang="es-AR" sz="1650" b="1" dirty="0">
                  <a:solidFill>
                    <a:srgbClr val="1E1E1E"/>
                  </a:solidFill>
                  <a:latin typeface="Bahnschrift"/>
                  <a:ea typeface="Bahnschrift"/>
                  <a:cs typeface="Bahnschrift"/>
                  <a:sym typeface="Bahnschrift"/>
                </a:rPr>
                <a:t>síntomas</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función renal</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etiología</a:t>
              </a:r>
              <a:r>
                <a:rPr lang="es-AR" sz="1650" dirty="0">
                  <a:solidFill>
                    <a:srgbClr val="1E1E1E"/>
                  </a:solidFill>
                  <a:latin typeface="Bahnschrift"/>
                  <a:ea typeface="Bahnschrift"/>
                  <a:cs typeface="Bahnschrift"/>
                  <a:sym typeface="Bahnschrift"/>
                </a:rPr>
                <a:t> y contexto. En lisis tumoral: </a:t>
              </a:r>
              <a:r>
                <a:rPr lang="es-AR" sz="1650" b="1" dirty="0">
                  <a:solidFill>
                    <a:srgbClr val="1E1E1E"/>
                  </a:solidFill>
                  <a:latin typeface="Bahnschrift"/>
                  <a:ea typeface="Bahnschrift"/>
                  <a:cs typeface="Bahnschrift"/>
                  <a:sym typeface="Bahnschrift"/>
                </a:rPr>
                <a:t>prevención y monitorización</a:t>
              </a:r>
              <a:r>
                <a:rPr lang="es-AR" sz="1650" dirty="0">
                  <a:solidFill>
                    <a:srgbClr val="1E1E1E"/>
                  </a:solidFill>
                  <a:latin typeface="Bahnschrift"/>
                  <a:ea typeface="Bahnschrift"/>
                  <a:cs typeface="Bahnschrift"/>
                  <a:sym typeface="Bahnschrift"/>
                </a:rPr>
                <a:t> estrechas.</a:t>
              </a:r>
              <a:endParaRPr lang="es-AR" sz="1650" dirty="0">
                <a:latin typeface="Bahnschrift"/>
              </a:endParaRPr>
            </a:p>
          </p:txBody>
        </p:sp>
        <p:sp>
          <p:nvSpPr>
            <p:cNvPr id="18" name="Forma 17"/>
            <p:cNvSpPr/>
            <p:nvPr/>
          </p:nvSpPr>
          <p:spPr>
            <a:xfrm>
              <a:off x="475488" y="3566160"/>
              <a:ext cx="91317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CLÍNICA</a:t>
              </a:r>
              <a:endParaRPr lang="es-AR" sz="1500" dirty="0">
                <a:latin typeface="Bahnschrift SemiBold Condensed"/>
              </a:endParaRPr>
            </a:p>
          </p:txBody>
        </p:sp>
      </p:grpSp>
      <p:grpSp>
        <p:nvGrpSpPr>
          <p:cNvPr id="19" name="Esquema funcionamiento normal"/>
          <p:cNvGrpSpPr/>
          <p:nvPr/>
        </p:nvGrpSpPr>
        <p:grpSpPr>
          <a:xfrm>
            <a:off x="4663440" y="1051560"/>
            <a:ext cx="3429000" cy="4983480"/>
            <a:chOff x="4663440" y="1051560"/>
            <a:chExt cx="3429000" cy="4983480"/>
          </a:xfrm>
        </p:grpSpPr>
        <p:sp>
          <p:nvSpPr>
            <p:cNvPr id="20" name="Forma 19"/>
            <p:cNvSpPr/>
            <p:nvPr/>
          </p:nvSpPr>
          <p:spPr>
            <a:xfrm>
              <a:off x="4663440" y="1051560"/>
              <a:ext cx="3429000" cy="4983480"/>
            </a:xfrm>
            <a:prstGeom prst="rect">
              <a:avLst/>
            </a:prstGeom>
            <a:solidFill>
              <a:srgbClr val="FFFFFF">
                <a:alpha val="45000"/>
              </a:srgbClr>
            </a:solidFill>
            <a:ln w="31750" cap="rnd">
              <a:solidFill>
                <a:srgbClr val="1E8C3A"/>
              </a:solidFill>
              <a:round/>
            </a:ln>
            <a:effectLst>
              <a:outerShdw blurRad="63500" dist="38100" dir="2700000" algn="tl" rotWithShape="0">
                <a:srgbClr val="000000">
                  <a:alpha val="32000"/>
                </a:srgbClr>
              </a:outerShdw>
            </a:effectLst>
          </p:spPr>
        </p:sp>
        <p:sp>
          <p:nvSpPr>
            <p:cNvPr id="21" name="Forma 20"/>
            <p:cNvSpPr/>
            <p:nvPr/>
          </p:nvSpPr>
          <p:spPr>
            <a:xfrm>
              <a:off x="4663440" y="1051560"/>
              <a:ext cx="3429000" cy="457200"/>
            </a:xfrm>
            <a:prstGeom prst="rect">
              <a:avLst/>
            </a:prstGeom>
            <a:solidFill>
              <a:srgbClr val="1E8C3A"/>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FUNCIONAMIENTO NORMAL</a:t>
              </a:r>
              <a:endParaRPr lang="es-AR" sz="1500" dirty="0">
                <a:latin typeface="Bahnschrift SemiBold Condensed"/>
              </a:endParaRPr>
            </a:p>
          </p:txBody>
        </p:sp>
        <p:sp>
          <p:nvSpPr>
            <p:cNvPr id="22" name="Forma 21"/>
            <p:cNvSpPr/>
            <p:nvPr/>
          </p:nvSpPr>
          <p:spPr>
            <a:xfrm>
              <a:off x="4892040" y="1600200"/>
              <a:ext cx="297180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Recambio de nucleótidos</a:t>
              </a:r>
              <a:endParaRPr lang="es-AR" sz="1350" dirty="0">
                <a:latin typeface="Bahnschrift"/>
              </a:endParaRPr>
            </a:p>
          </p:txBody>
        </p:sp>
        <p:sp>
          <p:nvSpPr>
            <p:cNvPr id="23" name="Forma 22"/>
            <p:cNvSpPr/>
            <p:nvPr/>
          </p:nvSpPr>
          <p:spPr>
            <a:xfrm>
              <a:off x="4892040" y="2743200"/>
              <a:ext cx="297180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Xantina oxidorreductasa → urato</a:t>
              </a:r>
              <a:endParaRPr lang="es-AR" sz="1350" dirty="0">
                <a:latin typeface="Bahnschrift"/>
              </a:endParaRPr>
            </a:p>
          </p:txBody>
        </p:sp>
        <p:sp>
          <p:nvSpPr>
            <p:cNvPr id="24" name="Flecha 23_2"/>
            <p:cNvSpPr/>
            <p:nvPr/>
          </p:nvSpPr>
          <p:spPr>
            <a:xfrm>
              <a:off x="6377940" y="2523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5" name="Forma 25"/>
            <p:cNvSpPr/>
            <p:nvPr/>
          </p:nvSpPr>
          <p:spPr>
            <a:xfrm>
              <a:off x="4892040" y="3886200"/>
              <a:ext cx="297180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Excreción renal + intestinal</a:t>
              </a:r>
              <a:endParaRPr lang="es-AR" sz="1350" dirty="0">
                <a:latin typeface="Bahnschrift"/>
              </a:endParaRPr>
            </a:p>
          </p:txBody>
        </p:sp>
        <p:sp>
          <p:nvSpPr>
            <p:cNvPr id="26" name="Flecha 26_2"/>
            <p:cNvSpPr/>
            <p:nvPr/>
          </p:nvSpPr>
          <p:spPr>
            <a:xfrm>
              <a:off x="6377940" y="3666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sp>
          <p:nvSpPr>
            <p:cNvPr id="27" name="Forma 28"/>
            <p:cNvSpPr/>
            <p:nvPr/>
          </p:nvSpPr>
          <p:spPr>
            <a:xfrm>
              <a:off x="4892040" y="5029200"/>
              <a:ext cx="2971800" cy="914400"/>
            </a:xfrm>
            <a:prstGeom prst="roundRect">
              <a:avLst>
                <a:gd name="adj" fmla="val 15000"/>
              </a:avLst>
            </a:prstGeom>
            <a:solidFill>
              <a:srgbClr val="CDE8C4"/>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Uricemia estable</a:t>
              </a:r>
              <a:endParaRPr lang="es-AR" sz="1350" dirty="0">
                <a:latin typeface="Bahnschrift"/>
              </a:endParaRPr>
            </a:p>
          </p:txBody>
        </p:sp>
        <p:sp>
          <p:nvSpPr>
            <p:cNvPr id="28" name="Flecha 29_2"/>
            <p:cNvSpPr/>
            <p:nvPr/>
          </p:nvSpPr>
          <p:spPr>
            <a:xfrm>
              <a:off x="6377940" y="4809744"/>
              <a:ext cx="9144" cy="201168"/>
            </a:xfrm>
            <a:custGeom>
              <a:avLst/>
              <a:gdLst/>
              <a:ahLst/>
              <a:cxnLst/>
              <a:rect l="0" t="0" r="r" b="b"/>
              <a:pathLst>
                <a:path w="10" h="220" fill="none">
                  <a:moveTo>
                    <a:pt x="0" y="0"/>
                  </a:moveTo>
                  <a:lnTo>
                    <a:pt x="0" y="220"/>
                  </a:lnTo>
                </a:path>
              </a:pathLst>
            </a:custGeom>
            <a:noFill/>
            <a:ln w="31750" cap="rnd">
              <a:solidFill>
                <a:srgbClr val="1E8C3A"/>
              </a:solidFill>
              <a:round/>
              <a:tailEnd type="triangle" w="med" len="med"/>
            </a:ln>
          </p:spPr>
        </p:sp>
      </p:grpSp>
      <p:grpSp>
        <p:nvGrpSpPr>
          <p:cNvPr id="29" name="Esquema alteración patológica"/>
          <p:cNvGrpSpPr/>
          <p:nvPr/>
        </p:nvGrpSpPr>
        <p:grpSpPr>
          <a:xfrm>
            <a:off x="8366760" y="1051560"/>
            <a:ext cx="3429000" cy="4983480"/>
            <a:chOff x="8366760" y="1051560"/>
            <a:chExt cx="3429000" cy="4983480"/>
          </a:xfrm>
        </p:grpSpPr>
        <p:sp>
          <p:nvSpPr>
            <p:cNvPr id="30" name="Forma 32"/>
            <p:cNvSpPr/>
            <p:nvPr/>
          </p:nvSpPr>
          <p:spPr>
            <a:xfrm>
              <a:off x="8366760" y="1051560"/>
              <a:ext cx="3429000" cy="4983480"/>
            </a:xfrm>
            <a:prstGeom prst="rect">
              <a:avLst/>
            </a:prstGeom>
            <a:solidFill>
              <a:srgbClr val="FFFFFF">
                <a:alpha val="45000"/>
              </a:srgbClr>
            </a:solidFill>
            <a:ln w="31750" cap="rnd">
              <a:solidFill>
                <a:srgbClr val="C00000"/>
              </a:solidFill>
              <a:round/>
            </a:ln>
            <a:effectLst>
              <a:outerShdw blurRad="63500" dist="38100" dir="2700000" algn="tl" rotWithShape="0">
                <a:srgbClr val="000000">
                  <a:alpha val="32000"/>
                </a:srgbClr>
              </a:outerShdw>
            </a:effectLst>
          </p:spPr>
        </p:sp>
        <p:sp>
          <p:nvSpPr>
            <p:cNvPr id="31" name="Forma 33"/>
            <p:cNvSpPr/>
            <p:nvPr/>
          </p:nvSpPr>
          <p:spPr>
            <a:xfrm>
              <a:off x="8366760" y="1051560"/>
              <a:ext cx="3429000" cy="457200"/>
            </a:xfrm>
            <a:prstGeom prst="rect">
              <a:avLst/>
            </a:prstGeom>
            <a:solidFill>
              <a:srgbClr val="C00000"/>
            </a:solidFill>
            <a:ln>
              <a:noFill/>
            </a:ln>
          </p:spPr>
          <p:txBody>
            <a:bodyPr wrap="square" lIns="73152" tIns="45720" rIns="73152" bIns="4572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ALTERACIÓN PATOLÓGICA</a:t>
              </a:r>
              <a:endParaRPr lang="es-AR" sz="1500" dirty="0">
                <a:latin typeface="Bahnschrift SemiBold Condensed"/>
              </a:endParaRPr>
            </a:p>
          </p:txBody>
        </p:sp>
        <p:sp>
          <p:nvSpPr>
            <p:cNvPr id="32" name="Forma 34"/>
            <p:cNvSpPr/>
            <p:nvPr/>
          </p:nvSpPr>
          <p:spPr>
            <a:xfrm>
              <a:off x="8595360" y="1600200"/>
              <a:ext cx="297180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producción (purinas, ejercicio, tumor, fructosa)</a:t>
              </a:r>
              <a:endParaRPr lang="es-AR" sz="1350" dirty="0">
                <a:latin typeface="Bahnschrift"/>
              </a:endParaRPr>
            </a:p>
          </p:txBody>
        </p:sp>
        <p:sp>
          <p:nvSpPr>
            <p:cNvPr id="33" name="Forma 35"/>
            <p:cNvSpPr/>
            <p:nvPr/>
          </p:nvSpPr>
          <p:spPr>
            <a:xfrm>
              <a:off x="8595360" y="2743200"/>
              <a:ext cx="297180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Más urato formado</a:t>
              </a:r>
              <a:endParaRPr lang="es-AR" sz="1350" dirty="0">
                <a:latin typeface="Bahnschrift"/>
              </a:endParaRPr>
            </a:p>
          </p:txBody>
        </p:sp>
        <p:sp>
          <p:nvSpPr>
            <p:cNvPr id="34" name="Flecha 36_2"/>
            <p:cNvSpPr/>
            <p:nvPr/>
          </p:nvSpPr>
          <p:spPr>
            <a:xfrm>
              <a:off x="10081260" y="2523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5" name="Forma 38"/>
            <p:cNvSpPr/>
            <p:nvPr/>
          </p:nvSpPr>
          <p:spPr>
            <a:xfrm>
              <a:off x="8595360" y="3886200"/>
              <a:ext cx="2971800" cy="914400"/>
            </a:xfrm>
            <a:prstGeom prst="roundRect">
              <a:avLst>
                <a:gd name="adj" fmla="val 15000"/>
              </a:avLst>
            </a:prstGeom>
            <a:solidFill>
              <a:srgbClr val="D7261E"/>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FFFFFF"/>
                  </a:solidFill>
                  <a:latin typeface="Bahnschrift"/>
                  <a:ea typeface="Bahnschrift"/>
                  <a:cs typeface="Bahnschrift"/>
                  <a:sym typeface="Bahnschrift"/>
                </a:rPr>
                <a:t>↓ excreción (riñón, lactato, volumen)</a:t>
              </a:r>
              <a:endParaRPr lang="es-AR" sz="1350" dirty="0">
                <a:latin typeface="Bahnschrift"/>
              </a:endParaRPr>
            </a:p>
          </p:txBody>
        </p:sp>
        <p:sp>
          <p:nvSpPr>
            <p:cNvPr id="36" name="Flecha 39_2"/>
            <p:cNvSpPr/>
            <p:nvPr/>
          </p:nvSpPr>
          <p:spPr>
            <a:xfrm>
              <a:off x="10081260" y="3666744"/>
              <a:ext cx="9144" cy="201168"/>
            </a:xfrm>
            <a:custGeom>
              <a:avLst/>
              <a:gdLst/>
              <a:ahLst/>
              <a:cxnLst/>
              <a:rect l="0" t="0" r="r" b="b"/>
              <a:pathLst>
                <a:path w="10" h="220" fill="none">
                  <a:moveTo>
                    <a:pt x="0" y="0"/>
                  </a:moveTo>
                  <a:lnTo>
                    <a:pt x="0" y="220"/>
                  </a:lnTo>
                </a:path>
              </a:pathLst>
            </a:custGeom>
            <a:noFill/>
            <a:ln w="31750" cap="rnd">
              <a:solidFill>
                <a:srgbClr val="C00000"/>
              </a:solidFill>
              <a:round/>
              <a:tailEnd type="triangle" w="med" len="med"/>
            </a:ln>
          </p:spPr>
        </p:sp>
        <p:sp>
          <p:nvSpPr>
            <p:cNvPr id="37" name="Forma 41"/>
            <p:cNvSpPr/>
            <p:nvPr/>
          </p:nvSpPr>
          <p:spPr>
            <a:xfrm>
              <a:off x="8595360" y="5029200"/>
              <a:ext cx="2971800" cy="914400"/>
            </a:xfrm>
            <a:prstGeom prst="roundRect">
              <a:avLst>
                <a:gd name="adj" fmla="val 15000"/>
              </a:avLst>
            </a:prstGeom>
            <a:solidFill>
              <a:srgbClr val="FAD3BC"/>
            </a:solidFill>
            <a:ln w="12700" cap="rnd">
              <a:solidFill>
                <a:srgbClr val="1E1E1E"/>
              </a:solidFill>
              <a:round/>
            </a:ln>
          </p:spPr>
          <p:txBody>
            <a:bodyPr wrap="square" lIns="54864" tIns="0" rIns="54864" bIns="0"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Hiperuricemia (no siempre gota)</a:t>
              </a:r>
              <a:endParaRPr lang="es-AR" sz="1350" dirty="0">
                <a:latin typeface="Bahnschrift"/>
              </a:endParaRPr>
            </a:p>
          </p:txBody>
        </p:sp>
        <p:sp>
          <p:nvSpPr>
            <p:cNvPr id="38" name="Flecha 42_2"/>
            <p:cNvSpPr/>
            <p:nvPr/>
          </p:nvSpPr>
          <p:spPr>
            <a:xfrm>
              <a:off x="10081260" y="4809744"/>
              <a:ext cx="9144" cy="201168"/>
            </a:xfrm>
            <a:custGeom>
              <a:avLst/>
              <a:gdLst/>
              <a:ahLst/>
              <a:cxnLst/>
              <a:rect l="0" t="0" r="r" b="b"/>
              <a:pathLst>
                <a:path w="10" h="220" fill="none">
                  <a:moveTo>
                    <a:pt x="0" y="0"/>
                  </a:moveTo>
                  <a:lnTo>
                    <a:pt x="0" y="220"/>
                  </a:lnTo>
                </a:path>
              </a:pathLst>
            </a:custGeom>
            <a:noFill/>
            <a:ln w="31750" cap="rnd">
              <a:solidFill>
                <a:srgbClr val="C00000"/>
              </a:solidFill>
              <a:prstDash val="sysDash"/>
              <a:round/>
              <a:tailEnd type="triangle" w="med" len="med"/>
            </a:ln>
          </p:spPr>
        </p:sp>
        <p:sp>
          <p:nvSpPr>
            <p:cNvPr id="39" name="Forma 44"/>
            <p:cNvSpPr txBox="1"/>
            <p:nvPr/>
          </p:nvSpPr>
          <p:spPr>
            <a:xfrm>
              <a:off x="10172700" y="4791456"/>
              <a:ext cx="548640" cy="228600"/>
            </a:xfrm>
            <a:prstGeom prst="rect">
              <a:avLst/>
            </a:prstGeom>
            <a:noFill/>
            <a:ln>
              <a:noFill/>
            </a:ln>
          </p:spPr>
          <p:txBody>
            <a:bodyPr wrap="square" lIns="0" tIns="0" rIns="0" bIns="0" anchor="ctr" rtlCol="0">
              <a:noAutofit/>
            </a:bodyPr>
            <a:lstStyle/>
            <a:p>
              <a:pPr algn="l">
                <a:spcAft>
                  <a:spcPts val="300"/>
                </a:spcAft>
                <a:buNone/>
              </a:pPr>
              <a:r>
                <a:rPr lang="es-AR" sz="1300" b="1" dirty="0">
                  <a:solidFill>
                    <a:srgbClr val="C00000"/>
                  </a:solidFill>
                  <a:latin typeface="Bahnschrift SemiBold Condensed"/>
                  <a:ea typeface="Bahnschrift SemiBold Condensed"/>
                  <a:cs typeface="Bahnschrift SemiBold Condensed"/>
                  <a:sym typeface="Bahnschrift SemiBold Condensed"/>
                </a:rPr>
                <a:t>✗</a:t>
              </a:r>
              <a:endParaRPr lang="es-AR" sz="1300" dirty="0">
                <a:latin typeface="Bahnschrift SemiBold Condensed"/>
              </a:endParaRPr>
            </a:p>
          </p:txBody>
        </p:sp>
      </p:grpSp>
      <p:sp>
        <p:nvSpPr>
          <p:cNvPr id="2" name="Etiqueta sección"/>
          <p:cNvSpPr/>
          <p:nvPr/>
        </p:nvSpPr>
        <p:spPr>
          <a:xfrm>
            <a:off x="10072622" y="201168"/>
            <a:ext cx="184475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PATOLOGÍA 8 · PURINAS</a:t>
            </a:r>
            <a:endParaRPr lang="es-AR" sz="1300" dirty="0">
              <a:latin typeface="Bahnschrift SemiBold Condensed"/>
            </a:endParaRPr>
          </a:p>
        </p:txBody>
      </p:sp>
      <p:sp>
        <p:nvSpPr>
          <p:cNvPr id="3" name="Título"/>
          <p:cNvSpPr/>
          <p:nvPr/>
        </p:nvSpPr>
        <p:spPr>
          <a:xfrm>
            <a:off x="274320" y="146304"/>
            <a:ext cx="702297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P8 · PUENTE CON LA FRUCTOSA, CLÍNICA Y ESQUEMA</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2" name="Etiqueta unidad"/>
          <p:cNvSpPr/>
          <p:nvPr/>
        </p:nvSpPr>
        <p:spPr>
          <a:xfrm>
            <a:off x="548640" y="502920"/>
            <a:ext cx="1321148"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200" b="1" dirty="0">
                <a:solidFill>
                  <a:srgbClr val="1E1E1E"/>
                </a:solidFill>
                <a:latin typeface="Bahnschrift SemiBold Condensed"/>
                <a:ea typeface="Bahnschrift SemiBold Condensed"/>
                <a:cs typeface="Bahnschrift SemiBold Condensed"/>
                <a:sym typeface="Bahnschrift SemiBold Condensed"/>
              </a:rPr>
              <a:t>UNIDAD VI</a:t>
            </a:r>
            <a:endParaRPr lang="es-AR" sz="2200" dirty="0">
              <a:latin typeface="Bahnschrift SemiBold Condensed"/>
            </a:endParaRPr>
          </a:p>
        </p:txBody>
      </p:sp>
      <p:sp>
        <p:nvSpPr>
          <p:cNvPr id="3" name="Título unidad"/>
          <p:cNvSpPr txBox="1"/>
          <p:nvPr/>
        </p:nvSpPr>
        <p:spPr>
          <a:xfrm>
            <a:off x="457200" y="1234440"/>
            <a:ext cx="6766560" cy="1920240"/>
          </a:xfrm>
          <a:prstGeom prst="rect">
            <a:avLst/>
          </a:prstGeom>
          <a:noFill/>
          <a:ln>
            <a:noFill/>
          </a:ln>
        </p:spPr>
        <p:txBody>
          <a:bodyPr wrap="square" lIns="0" tIns="0" rIns="0" bIns="0" anchor="ctr" rtlCol="0">
            <a:noAutofit/>
          </a:bodyPr>
          <a:lstStyle/>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CASOS CLÍNICOS Y</a:t>
            </a:r>
            <a:endParaRPr lang="es-AR" sz="4600" dirty="0">
              <a:latin typeface="Bahnschrift"/>
            </a:endParaRPr>
          </a:p>
          <a:p>
            <a:pPr algn="l">
              <a:lnSpc>
                <a:spcPct val="900"/>
              </a:lnSpc>
              <a:spcAft>
                <a:spcPts val="300"/>
              </a:spcAft>
              <a:buNone/>
            </a:pPr>
            <a:r>
              <a:rPr lang="es-AR" sz="4600" b="1" dirty="0">
                <a:solidFill>
                  <a:srgbClr val="1E1E1E"/>
                </a:solidFill>
                <a:effectLst>
                  <a:glow rad="127000">
                    <a:srgbClr val="F39C5A">
                      <a:alpha val="75000"/>
                    </a:srgbClr>
                  </a:glow>
                </a:effectLst>
                <a:latin typeface="Bahnschrift"/>
                <a:ea typeface="Bahnschrift"/>
                <a:cs typeface="Bahnschrift"/>
                <a:sym typeface="Bahnschrift"/>
              </a:rPr>
              <a:t>SISTEMATIZACIÓN</a:t>
            </a:r>
            <a:endParaRPr lang="es-AR" sz="4600" dirty="0">
              <a:latin typeface="Bahnschrift"/>
            </a:endParaRPr>
          </a:p>
        </p:txBody>
      </p:sp>
      <p:sp>
        <p:nvSpPr>
          <p:cNvPr id="4" name="Forma 3"/>
          <p:cNvSpPr txBox="1"/>
          <p:nvPr/>
        </p:nvSpPr>
        <p:spPr>
          <a:xfrm>
            <a:off x="502920" y="3154680"/>
            <a:ext cx="6583680" cy="457200"/>
          </a:xfrm>
          <a:prstGeom prst="rect">
            <a:avLst/>
          </a:prstGeom>
          <a:noFill/>
          <a:ln>
            <a:noFill/>
          </a:ln>
        </p:spPr>
        <p:txBody>
          <a:bodyPr wrap="square" lIns="0" tIns="0" rIns="0" bIns="0" anchor="ctr" rtlCol="0">
            <a:noAutofit/>
          </a:bodyPr>
          <a:lstStyle/>
          <a:p>
            <a:pPr algn="l">
              <a:spcAft>
                <a:spcPts val="300"/>
              </a:spcAft>
              <a:buNone/>
            </a:pPr>
            <a:r>
              <a:rPr lang="es-AR" sz="1800" b="1" dirty="0">
                <a:solidFill>
                  <a:srgbClr val="5A2D0C"/>
                </a:solidFill>
                <a:latin typeface="Bahnschrift SemiBold Condensed"/>
                <a:ea typeface="Bahnschrift SemiBold Condensed"/>
                <a:cs typeface="Bahnschrift SemiBold Condensed"/>
                <a:sym typeface="Bahnschrift SemiBold Condensed"/>
              </a:rPr>
              <a:t>Aplicar la integración a situaciones reales</a:t>
            </a:r>
            <a:endParaRPr lang="es-AR" sz="1800" dirty="0">
              <a:latin typeface="Bahnschrift SemiBold Condensed"/>
            </a:endParaRPr>
          </a:p>
        </p:txBody>
      </p:sp>
      <p:sp>
        <p:nvSpPr>
          <p:cNvPr id="5" name="Temario"/>
          <p:cNvSpPr/>
          <p:nvPr/>
        </p:nvSpPr>
        <p:spPr>
          <a:xfrm>
            <a:off x="502920" y="3703320"/>
            <a:ext cx="6583680" cy="288036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200"/>
              </a:spcAft>
              <a:buNone/>
            </a:pPr>
            <a:r>
              <a:rPr lang="es-AR" sz="1600" dirty="0">
                <a:solidFill>
                  <a:srgbClr val="1E1E1E"/>
                </a:solidFill>
                <a:latin typeface="Bahnschrift"/>
                <a:ea typeface="Bahnschrift"/>
                <a:cs typeface="Bahnschrift"/>
                <a:sym typeface="Bahnschrift"/>
              </a:rPr>
              <a:t>Caso A · 12 h de ayuno y AG libres elevados</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Caso B · Diabetes, TAG altos y esteatosis</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Caso C · Hipoglucemia con cetonas bajas</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Caso D · Cirrosis, sarcopenia y encefalopatía</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Caso E · Ejercicio extenuante y ácido úrico</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Caso F · TG extremos y dolor abdominal</a:t>
            </a:r>
            <a:endParaRPr lang="es-AR" sz="1600" dirty="0">
              <a:latin typeface="Bahnschrift"/>
            </a:endParaRPr>
          </a:p>
          <a:p>
            <a:pPr algn="l">
              <a:spcAft>
                <a:spcPts val="200"/>
              </a:spcAft>
              <a:buNone/>
            </a:pPr>
            <a:r>
              <a:rPr lang="es-AR" sz="1600" dirty="0">
                <a:solidFill>
                  <a:srgbClr val="1E1E1E"/>
                </a:solidFill>
                <a:latin typeface="Bahnschrift"/>
                <a:ea typeface="Bahnschrift"/>
                <a:cs typeface="Bahnschrift"/>
                <a:sym typeface="Bahnschrift"/>
              </a:rPr>
              <a:t>Enzimas reguladoras · errores frecuentes · mapa final</a:t>
            </a:r>
            <a:endParaRPr lang="es-AR" sz="1600" dirty="0">
              <a:latin typeface="Bahnschrift"/>
            </a:endParaRPr>
          </a:p>
        </p:txBody>
      </p:sp>
      <p:grpSp>
        <p:nvGrpSpPr>
          <p:cNvPr id="6" name="Arte paciente 1"/>
          <p:cNvGrpSpPr/>
          <p:nvPr/>
        </p:nvGrpSpPr>
        <p:grpSpPr>
          <a:xfrm>
            <a:off x="7863840" y="914400"/>
            <a:ext cx="1901952" cy="2377440"/>
            <a:chOff x="7863840" y="914400"/>
            <a:chExt cx="1901952" cy="2377440"/>
          </a:xfrm>
        </p:grpSpPr>
        <p:sp>
          <p:nvSpPr>
            <p:cNvPr id="7" name="Forma 6"/>
            <p:cNvSpPr/>
            <p:nvPr/>
          </p:nvSpPr>
          <p:spPr>
            <a:xfrm>
              <a:off x="8434426" y="91440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8" name="Forma 7"/>
            <p:cNvSpPr/>
            <p:nvPr/>
          </p:nvSpPr>
          <p:spPr>
            <a:xfrm>
              <a:off x="7863840" y="171322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grpSp>
        <p:nvGrpSpPr>
          <p:cNvPr id="9" name="Arte paciente 2"/>
          <p:cNvGrpSpPr/>
          <p:nvPr/>
        </p:nvGrpSpPr>
        <p:grpSpPr>
          <a:xfrm>
            <a:off x="9966960" y="1371600"/>
            <a:ext cx="1609344" cy="2011680"/>
            <a:chOff x="9966960" y="1371600"/>
            <a:chExt cx="1609344" cy="2011680"/>
          </a:xfrm>
        </p:grpSpPr>
        <p:sp>
          <p:nvSpPr>
            <p:cNvPr id="10" name="Forma 9"/>
            <p:cNvSpPr/>
            <p:nvPr/>
          </p:nvSpPr>
          <p:spPr>
            <a:xfrm>
              <a:off x="10449763" y="1371600"/>
              <a:ext cx="643738" cy="643738"/>
            </a:xfrm>
            <a:prstGeom prst="ellipse">
              <a:avLst/>
            </a:prstGeom>
            <a:gradFill rotWithShape="1">
              <a:gsLst>
                <a:gs pos="0">
                  <a:srgbClr val="F9DFCA"/>
                </a:gs>
                <a:gs pos="55000">
                  <a:srgbClr val="F5CBA7"/>
                </a:gs>
                <a:gs pos="100000">
                  <a:srgbClr val="C4A285"/>
                </a:gs>
              </a:gsLst>
              <a:path path="circle">
                <a:fillToRect l="32000" t="28000" r="68000" b="72000"/>
              </a:path>
            </a:gradFill>
            <a:ln w="19050" cap="rnd">
              <a:solidFill>
                <a:srgbClr val="A04000"/>
              </a:solidFill>
              <a:round/>
            </a:ln>
          </p:spPr>
        </p:sp>
        <p:sp>
          <p:nvSpPr>
            <p:cNvPr id="11" name="Forma 10"/>
            <p:cNvSpPr/>
            <p:nvPr/>
          </p:nvSpPr>
          <p:spPr>
            <a:xfrm>
              <a:off x="9966960" y="2047524"/>
              <a:ext cx="1609344" cy="1335756"/>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F9DFCA"/>
                </a:gs>
                <a:gs pos="55000">
                  <a:srgbClr val="F5CBA7"/>
                </a:gs>
                <a:gs pos="100000">
                  <a:srgbClr val="C4A285"/>
                </a:gs>
              </a:gsLst>
              <a:path path="circle">
                <a:fillToRect l="32000" t="28000" r="68000" b="72000"/>
              </a:path>
            </a:gradFill>
            <a:ln w="19050" cap="rnd">
              <a:solidFill>
                <a:srgbClr val="A04000"/>
              </a:solidFill>
              <a:round/>
            </a:ln>
          </p:spPr>
        </p:sp>
      </p:grpSp>
      <p:grpSp>
        <p:nvGrpSpPr>
          <p:cNvPr id="12" name="Arte hígado"/>
          <p:cNvGrpSpPr/>
          <p:nvPr/>
        </p:nvGrpSpPr>
        <p:grpSpPr>
          <a:xfrm>
            <a:off x="7680960" y="3749040"/>
            <a:ext cx="2377440" cy="1680375"/>
            <a:chOff x="7680960" y="3749040"/>
            <a:chExt cx="2377440" cy="1680375"/>
          </a:xfrm>
        </p:grpSpPr>
        <p:sp>
          <p:nvSpPr>
            <p:cNvPr id="13" name="Vesícula biliar"/>
            <p:cNvSpPr/>
            <p:nvPr/>
          </p:nvSpPr>
          <p:spPr>
            <a:xfrm>
              <a:off x="8322869" y="4898770"/>
              <a:ext cx="309067" cy="530645"/>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4" name="Forma 13"/>
            <p:cNvSpPr/>
            <p:nvPr/>
          </p:nvSpPr>
          <p:spPr>
            <a:xfrm>
              <a:off x="7680960" y="3749040"/>
              <a:ext cx="2377440" cy="1474013"/>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5" name="Forma 14"/>
            <p:cNvSpPr/>
            <p:nvPr/>
          </p:nvSpPr>
          <p:spPr>
            <a:xfrm>
              <a:off x="7680960" y="3749040"/>
              <a:ext cx="2377440" cy="1474013"/>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6" name="Forma 15"/>
            <p:cNvSpPr/>
            <p:nvPr/>
          </p:nvSpPr>
          <p:spPr>
            <a:xfrm>
              <a:off x="7680960" y="3749040"/>
              <a:ext cx="2377440" cy="1474013"/>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7" name="Arte riñón"/>
          <p:cNvGrpSpPr/>
          <p:nvPr/>
        </p:nvGrpSpPr>
        <p:grpSpPr>
          <a:xfrm>
            <a:off x="10332720" y="3657600"/>
            <a:ext cx="1005840" cy="1408176"/>
            <a:chOff x="10332720" y="3657600"/>
            <a:chExt cx="1005840" cy="1408176"/>
          </a:xfrm>
        </p:grpSpPr>
        <p:sp>
          <p:nvSpPr>
            <p:cNvPr id="18" name="Forma 17"/>
            <p:cNvSpPr/>
            <p:nvPr/>
          </p:nvSpPr>
          <p:spPr>
            <a:xfrm>
              <a:off x="10332720" y="3657600"/>
              <a:ext cx="1005840" cy="1408176"/>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19" name="Forma 18"/>
            <p:cNvSpPr/>
            <p:nvPr/>
          </p:nvSpPr>
          <p:spPr>
            <a:xfrm>
              <a:off x="10332720" y="3657600"/>
              <a:ext cx="1005840" cy="1408176"/>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20" name="Forma 19"/>
            <p:cNvSpPr/>
            <p:nvPr/>
          </p:nvSpPr>
          <p:spPr>
            <a:xfrm>
              <a:off x="10332720" y="3657600"/>
              <a:ext cx="1005840" cy="1408176"/>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21" name="Forma 20"/>
            <p:cNvSpPr/>
            <p:nvPr/>
          </p:nvSpPr>
          <p:spPr>
            <a:xfrm>
              <a:off x="10332720" y="3657600"/>
              <a:ext cx="1005840" cy="1408176"/>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22" name="Molécula glc"/>
          <p:cNvSpPr/>
          <p:nvPr/>
        </p:nvSpPr>
        <p:spPr>
          <a:xfrm>
            <a:off x="10058400" y="5669280"/>
            <a:ext cx="548640" cy="548640"/>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Glc</a:t>
            </a:r>
            <a:endParaRPr lang="es-AR" sz="1300" dirty="0">
              <a:latin typeface="Bahnschrift SemiBold Condensed"/>
            </a:endParaRPr>
          </a:p>
        </p:txBody>
      </p:sp>
      <p:sp>
        <p:nvSpPr>
          <p:cNvPr id="23" name="Molécula cc"/>
          <p:cNvSpPr/>
          <p:nvPr/>
        </p:nvSpPr>
        <p:spPr>
          <a:xfrm>
            <a:off x="10698480" y="5669280"/>
            <a:ext cx="548640" cy="548640"/>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sp>
        <p:nvSpPr>
          <p:cNvPr id="24" name="Molécula urate"/>
          <p:cNvSpPr/>
          <p:nvPr/>
        </p:nvSpPr>
        <p:spPr>
          <a:xfrm>
            <a:off x="11338560" y="5669280"/>
            <a:ext cx="548640" cy="548640"/>
          </a:xfrm>
          <a:prstGeom prst="ellipse">
            <a:avLst/>
          </a:prstGeom>
          <a:gradFill rotWithShape="1">
            <a:gsLst>
              <a:gs pos="0">
                <a:srgbClr val="C18259"/>
              </a:gs>
              <a:gs pos="55000">
                <a:srgbClr val="A04000"/>
              </a:gs>
              <a:gs pos="100000">
                <a:srgbClr val="803300"/>
              </a:gs>
            </a:gsLst>
            <a:path path="circle">
              <a:fillToRect l="32000" t="28000" r="68000" b="72000"/>
            </a:path>
          </a:gradFill>
          <a:ln w="12700" cap="rnd">
            <a:solidFill>
              <a:srgbClr val="582300"/>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Urato</a:t>
            </a:r>
            <a:endParaRPr lang="es-AR" sz="1300" dirty="0">
              <a:latin typeface="Bahnschrift SemiBold Condensed"/>
            </a:endParaRPr>
          </a:p>
        </p:txBody>
      </p:sp>
      <p:sp>
        <p:nvSpPr>
          <p:cNvPr id="2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5"/>
                                        </p:tgtEl>
                                        <p:attrNameLst>
                                          <p:attrName>style.visibility</p:attrName>
                                        </p:attrNameLst>
                                      </p:cBhvr>
                                      <p:to>
                                        <p:strVal val="visible"/>
                                      </p:to>
                                    </p:set>
                                    <p:animEffect transition="in" filter="fade">
                                      <p:cBhvr>
                                        <p:cTn id="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9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Persona sana, sin ingesta durante la noche (alrededor de 12 h). Se obtiene una muestra de sangre en ayunas.</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2860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Tiempo de ayuno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~12 h</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Glucemia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Dentro del rango normal</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AG libres plasmáticos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Elevados</a:t>
                      </a:r>
                      <a:r>
                        <a:rPr lang="es-AR" sz="1450" dirty="0">
                          <a:solidFill>
                            <a:srgbClr val="1E1E1E"/>
                          </a:solidFill>
                          <a:latin typeface="Bahnschrift"/>
                          <a:ea typeface="Bahnschrift"/>
                          <a:cs typeface="Bahnschrift"/>
                          <a:sym typeface="Bahnschrift"/>
                        </a:rPr>
                        <a:t> respecto del posprandial</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Contexto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Sin enfermedad conocida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0" name="Pregunta"/>
          <p:cNvSpPr/>
          <p:nvPr/>
        </p:nvSpPr>
        <p:spPr>
          <a:xfrm>
            <a:off x="4480560" y="34747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160520"/>
            <a:ext cx="731520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Una glucemia normal </a:t>
            </a:r>
            <a:r>
              <a:rPr lang="es-AR" sz="1700" b="1" dirty="0">
                <a:solidFill>
                  <a:srgbClr val="1E1E1E"/>
                </a:solidFill>
                <a:latin typeface="Bahnschrift"/>
                <a:ea typeface="Bahnschrift"/>
                <a:cs typeface="Bahnschrift"/>
                <a:sym typeface="Bahnschrift"/>
              </a:rPr>
              <a:t>no prueba</a:t>
            </a:r>
            <a:r>
              <a:rPr lang="es-AR" sz="1700" dirty="0">
                <a:solidFill>
                  <a:srgbClr val="1E1E1E"/>
                </a:solidFill>
                <a:latin typeface="Bahnschrift"/>
                <a:ea typeface="Bahnschrift"/>
                <a:cs typeface="Bahnschrift"/>
                <a:sym typeface="Bahnschrift"/>
              </a:rPr>
              <a:t> que el hígado esté «inactivo»: la estabilidad depende de que la </a:t>
            </a:r>
            <a:r>
              <a:rPr lang="es-AR" sz="1700" b="1" dirty="0">
                <a:solidFill>
                  <a:srgbClr val="1E1E1E"/>
                </a:solidFill>
                <a:latin typeface="Bahnschrift"/>
                <a:ea typeface="Bahnschrift"/>
                <a:cs typeface="Bahnschrift"/>
                <a:sym typeface="Bahnschrift"/>
              </a:rPr>
              <a:t>producción hepática</a:t>
            </a:r>
            <a:r>
              <a:rPr lang="es-AR" sz="1700" dirty="0">
                <a:solidFill>
                  <a:srgbClr val="1E1E1E"/>
                </a:solidFill>
                <a:latin typeface="Bahnschrift"/>
                <a:ea typeface="Bahnschrift"/>
                <a:cs typeface="Bahnschrift"/>
                <a:sym typeface="Bahnschrift"/>
              </a:rPr>
              <a:t> compense la falta de </a:t>
            </a:r>
            <a:r>
              <a:rPr lang="es-AR" sz="1700" b="1" dirty="0">
                <a:solidFill>
                  <a:srgbClr val="1E1E1E"/>
                </a:solidFill>
                <a:latin typeface="Bahnschrift"/>
                <a:ea typeface="Bahnschrift"/>
                <a:cs typeface="Bahnschrift"/>
                <a:sym typeface="Bahnschrift"/>
              </a:rPr>
              <a:t>absorción intestinal</a:t>
            </a:r>
            <a:r>
              <a:rPr lang="es-AR" sz="1700" dirty="0">
                <a:solidFill>
                  <a:srgbClr val="1E1E1E"/>
                </a:solidFill>
                <a:latin typeface="Bahnschrift"/>
                <a:ea typeface="Bahnschrift"/>
                <a:cs typeface="Bahnschrift"/>
                <a:sym typeface="Bahnschrift"/>
              </a:rPr>
              <a:t>, mientras el adiposo libera AG.</a:t>
            </a:r>
            <a:endParaRPr lang="es-AR" sz="1700" dirty="0">
              <a:latin typeface="Bahnschrift"/>
            </a:endParaRPr>
          </a:p>
        </p:txBody>
      </p:sp>
      <p:sp>
        <p:nvSpPr>
          <p:cNvPr id="2" name="Etiqueta sección"/>
          <p:cNvSpPr/>
          <p:nvPr/>
        </p:nvSpPr>
        <p:spPr>
          <a:xfrm>
            <a:off x="10024785" y="201168"/>
            <a:ext cx="189259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A · PRESENTACIÓN</a:t>
            </a:r>
            <a:endParaRPr lang="es-AR" sz="1300" dirty="0">
              <a:latin typeface="Bahnschrift SemiBold Condensed"/>
            </a:endParaRPr>
          </a:p>
        </p:txBody>
      </p:sp>
      <p:sp>
        <p:nvSpPr>
          <p:cNvPr id="3" name="Título"/>
          <p:cNvSpPr/>
          <p:nvPr/>
        </p:nvSpPr>
        <p:spPr>
          <a:xfrm>
            <a:off x="274320" y="146304"/>
            <a:ext cx="889209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A · 12 h DE AYUNO, GLUCEMIA NORMAL Y AG LIBRES ELEVADOS</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19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11201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insulina → se libera el freno antilipolítico</a:t>
            </a:r>
            <a:endParaRPr lang="es-AR" sz="1350" dirty="0">
              <a:latin typeface="Bahnschrift"/>
            </a:endParaRPr>
          </a:p>
        </p:txBody>
      </p:sp>
      <p:sp>
        <p:nvSpPr>
          <p:cNvPr id="14" name="Flecha 13_2"/>
          <p:cNvSpPr/>
          <p:nvPr/>
        </p:nvSpPr>
        <p:spPr>
          <a:xfrm>
            <a:off x="3246120" y="215341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308860"/>
            <a:ext cx="5760720" cy="11201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Adiposo: ↑ AG y glicerol</a:t>
            </a:r>
            <a:endParaRPr lang="es-AR" sz="1350" dirty="0">
              <a:latin typeface="Bahnschrift"/>
            </a:endParaRPr>
          </a:p>
        </p:txBody>
      </p:sp>
      <p:sp>
        <p:nvSpPr>
          <p:cNvPr id="16" name="Flecha 16_2"/>
          <p:cNvSpPr/>
          <p:nvPr/>
        </p:nvSpPr>
        <p:spPr>
          <a:xfrm>
            <a:off x="3246120" y="345643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611880"/>
            <a:ext cx="5760720" cy="11201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Hígado: β-oxidación de AG → ATP</a:t>
            </a:r>
            <a:endParaRPr lang="es-AR" sz="1350" dirty="0">
              <a:latin typeface="Bahnschrift"/>
            </a:endParaRPr>
          </a:p>
        </p:txBody>
      </p:sp>
      <p:sp>
        <p:nvSpPr>
          <p:cNvPr id="18" name="Flecha 19_2"/>
          <p:cNvSpPr/>
          <p:nvPr/>
        </p:nvSpPr>
        <p:spPr>
          <a:xfrm>
            <a:off x="3246120" y="4759452"/>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914900"/>
            <a:ext cx="5760720" cy="11201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Glucogenólisis + gluconeogénesis compensan la falta de absorción</a:t>
            </a:r>
            <a:endParaRPr lang="es-AR" sz="1350" dirty="0">
              <a:latin typeface="Bahnschrift"/>
            </a:endParaRPr>
          </a:p>
        </p:txBody>
      </p:sp>
      <p:grpSp>
        <p:nvGrpSpPr>
          <p:cNvPr id="20" name="Recuadro Respuesta hormonal"/>
          <p:cNvGrpSpPr/>
          <p:nvPr/>
        </p:nvGrpSpPr>
        <p:grpSpPr>
          <a:xfrm>
            <a:off x="6400800" y="1005840"/>
            <a:ext cx="5394960" cy="2194560"/>
            <a:chOff x="6400800" y="1005840"/>
            <a:chExt cx="5394960" cy="2194560"/>
          </a:xfrm>
        </p:grpSpPr>
        <p:sp>
          <p:nvSpPr>
            <p:cNvPr id="21" name="Forma 23"/>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Insulina</a:t>
              </a:r>
              <a:r>
                <a:rPr lang="es-AR" sz="1650" dirty="0">
                  <a:solidFill>
                    <a:srgbClr val="1E1E1E"/>
                  </a:solidFill>
                  <a:latin typeface="Bahnschrift"/>
                  <a:ea typeface="Bahnschrift"/>
                  <a:cs typeface="Bahnschrift"/>
                  <a:sym typeface="Bahnschrift"/>
                </a:rPr>
                <a:t> relativamente menor que en el posprandial.</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Glucagón</a:t>
              </a:r>
              <a:r>
                <a:rPr lang="es-AR" sz="1650" dirty="0">
                  <a:solidFill>
                    <a:srgbClr val="1E1E1E"/>
                  </a:solidFill>
                  <a:latin typeface="Bahnschrift"/>
                  <a:ea typeface="Bahnschrift"/>
                  <a:cs typeface="Bahnschrift"/>
                  <a:sym typeface="Bahnschrift"/>
                </a:rPr>
                <a:t> relativo mayor.</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Relación glucagón/insulina ↑.</a:t>
              </a:r>
              <a:endParaRPr lang="es-AR" sz="1650" dirty="0">
                <a:latin typeface="Bahnschrift"/>
              </a:endParaRPr>
            </a:p>
          </p:txBody>
        </p:sp>
        <p:sp>
          <p:nvSpPr>
            <p:cNvPr id="22" name="Forma 24"/>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3" name="Recuadro Adaptaciones de los órgan"/>
          <p:cNvGrpSpPr/>
          <p:nvPr/>
        </p:nvGrpSpPr>
        <p:grpSpPr>
          <a:xfrm>
            <a:off x="6400800" y="3383280"/>
            <a:ext cx="5394960" cy="2651760"/>
            <a:chOff x="6400800" y="3383280"/>
            <a:chExt cx="5394960" cy="2651760"/>
          </a:xfrm>
        </p:grpSpPr>
        <p:sp>
          <p:nvSpPr>
            <p:cNvPr id="24" name="Forma 26"/>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Hígado</a:t>
              </a:r>
              <a:r>
                <a:rPr lang="es-AR" sz="1600" dirty="0">
                  <a:solidFill>
                    <a:srgbClr val="1E1E1E"/>
                  </a:solidFill>
                  <a:latin typeface="Bahnschrift"/>
                  <a:ea typeface="Bahnschrift"/>
                  <a:cs typeface="Bahnschrift"/>
                  <a:sym typeface="Bahnschrift"/>
                </a:rPr>
                <a:t>: ↓ malonil-CoA → </a:t>
              </a:r>
              <a:r>
                <a:rPr lang="es-AR" sz="1600" b="1" dirty="0">
                  <a:solidFill>
                    <a:srgbClr val="1E1E1E"/>
                  </a:solidFill>
                  <a:latin typeface="Bahnschrift"/>
                  <a:ea typeface="Bahnschrift"/>
                  <a:cs typeface="Bahnschrift"/>
                  <a:sym typeface="Bahnschrift"/>
                </a:rPr>
                <a:t>CPT1</a:t>
              </a:r>
              <a:r>
                <a:rPr lang="es-AR" sz="1600" dirty="0">
                  <a:solidFill>
                    <a:srgbClr val="1E1E1E"/>
                  </a:solidFill>
                  <a:latin typeface="Bahnschrift"/>
                  <a:ea typeface="Bahnschrift"/>
                  <a:cs typeface="Bahnschrift"/>
                  <a:sym typeface="Bahnschrift"/>
                </a:rPr>
                <a:t> y β-oxidación más activas; glucógeno todavía relevante.</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Adiposo</a:t>
              </a:r>
              <a:r>
                <a:rPr lang="es-AR" sz="1600" dirty="0">
                  <a:solidFill>
                    <a:srgbClr val="1E1E1E"/>
                  </a:solidFill>
                  <a:latin typeface="Bahnschrift"/>
                  <a:ea typeface="Bahnschrift"/>
                  <a:cs typeface="Bahnschrift"/>
                  <a:sym typeface="Bahnschrift"/>
                </a:rPr>
                <a:t>: lipólisis moderada.</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Músculo</a:t>
              </a:r>
              <a:r>
                <a:rPr lang="es-AR" sz="1600" dirty="0">
                  <a:solidFill>
                    <a:srgbClr val="1E1E1E"/>
                  </a:solidFill>
                  <a:latin typeface="Bahnschrift"/>
                  <a:ea typeface="Bahnschrift"/>
                  <a:cs typeface="Bahnschrift"/>
                  <a:sym typeface="Bahnschrift"/>
                </a:rPr>
                <a:t>: mezcla de AG y glucosa.</a:t>
              </a:r>
              <a:endParaRPr lang="es-AR" sz="1600" dirty="0">
                <a:latin typeface="Bahnschrift"/>
              </a:endParaRPr>
            </a:p>
          </p:txBody>
        </p:sp>
        <p:sp>
          <p:nvSpPr>
            <p:cNvPr id="25" name="Forma 27"/>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60131" y="201168"/>
            <a:ext cx="195724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A · FISIOPATOLOGÍA</a:t>
            </a:r>
            <a:endParaRPr lang="es-AR" sz="1300" dirty="0">
              <a:latin typeface="Bahnschrift SemiBold Condensed"/>
            </a:endParaRPr>
          </a:p>
        </p:txBody>
      </p:sp>
      <p:sp>
        <p:nvSpPr>
          <p:cNvPr id="3" name="Título"/>
          <p:cNvSpPr/>
          <p:nvPr/>
        </p:nvSpPr>
        <p:spPr>
          <a:xfrm>
            <a:off x="274320" y="146304"/>
            <a:ext cx="481692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A · MECANISMO Y RESPUESTA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Lst>
  </p:timing>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hígado"/>
          <p:cNvGrpSpPr/>
          <p:nvPr/>
        </p:nvGrpSpPr>
        <p:grpSpPr>
          <a:xfrm>
            <a:off x="457200" y="1209294"/>
            <a:ext cx="1051560" cy="743243"/>
            <a:chOff x="457200" y="1209294"/>
            <a:chExt cx="1051560" cy="743243"/>
          </a:xfrm>
        </p:grpSpPr>
        <p:sp>
          <p:nvSpPr>
            <p:cNvPr id="14" name="Vesícula biliar"/>
            <p:cNvSpPr/>
            <p:nvPr/>
          </p:nvSpPr>
          <p:spPr>
            <a:xfrm>
              <a:off x="741121" y="1717828"/>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457200" y="1209294"/>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457200" y="1209294"/>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457200" y="1209294"/>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Ícono adiposo"/>
          <p:cNvGrpSpPr/>
          <p:nvPr/>
        </p:nvGrpSpPr>
        <p:grpSpPr>
          <a:xfrm>
            <a:off x="1751076" y="1104138"/>
            <a:ext cx="841248" cy="841248"/>
            <a:chOff x="1751076" y="1104138"/>
            <a:chExt cx="841248" cy="841248"/>
          </a:xfrm>
        </p:grpSpPr>
        <p:sp>
          <p:nvSpPr>
            <p:cNvPr id="19" name="Forma 18"/>
            <p:cNvSpPr/>
            <p:nvPr/>
          </p:nvSpPr>
          <p:spPr>
            <a:xfrm>
              <a:off x="1751076" y="1104138"/>
              <a:ext cx="841248" cy="841248"/>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0" name="Gota lipídica"/>
            <p:cNvSpPr/>
            <p:nvPr/>
          </p:nvSpPr>
          <p:spPr>
            <a:xfrm>
              <a:off x="1793138" y="1146200"/>
              <a:ext cx="757123" cy="757123"/>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1" name="Forma 20"/>
            <p:cNvSpPr/>
            <p:nvPr/>
          </p:nvSpPr>
          <p:spPr>
            <a:xfrm rot="2400000">
              <a:off x="2356775" y="1154613"/>
              <a:ext cx="185075" cy="100950"/>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2" name="Mitocondria"/>
            <p:cNvGrpSpPr/>
            <p:nvPr/>
          </p:nvGrpSpPr>
          <p:grpSpPr>
            <a:xfrm>
              <a:off x="1818376" y="1726662"/>
              <a:ext cx="84125" cy="42062"/>
              <a:chOff x="1818376" y="1726662"/>
              <a:chExt cx="84125" cy="42062"/>
            </a:xfrm>
          </p:grpSpPr>
          <p:sp>
            <p:nvSpPr>
              <p:cNvPr id="23" name="Forma 22"/>
              <p:cNvSpPr/>
              <p:nvPr/>
            </p:nvSpPr>
            <p:spPr>
              <a:xfrm rot="-2400000">
                <a:off x="1818376" y="1726662"/>
                <a:ext cx="84125" cy="4206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4" name="Forma 23"/>
              <p:cNvSpPr/>
              <p:nvPr/>
            </p:nvSpPr>
            <p:spPr>
              <a:xfrm rot="-2400000">
                <a:off x="1824265" y="1732550"/>
                <a:ext cx="72347" cy="30285"/>
              </a:xfrm>
              <a:prstGeom prst="ellipse">
                <a:avLst/>
              </a:prstGeom>
              <a:solidFill>
                <a:srgbClr val="F8D8B4"/>
              </a:solidFill>
              <a:ln w="9525" cap="rnd">
                <a:solidFill>
                  <a:srgbClr val="B2732B"/>
                </a:solidFill>
                <a:round/>
              </a:ln>
            </p:spPr>
          </p:sp>
          <p:sp>
            <p:nvSpPr>
              <p:cNvPr id="25" name="Forma 24"/>
              <p:cNvSpPr/>
              <p:nvPr/>
            </p:nvSpPr>
            <p:spPr>
              <a:xfrm rot="-2400000">
                <a:off x="1824265" y="1732550"/>
                <a:ext cx="72347" cy="3028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6" name="Recuadro Consecuencias clínicas"/>
          <p:cNvGrpSpPr/>
          <p:nvPr/>
        </p:nvGrpSpPr>
        <p:grpSpPr>
          <a:xfrm>
            <a:off x="365760" y="2286000"/>
            <a:ext cx="5577840" cy="3749040"/>
            <a:chOff x="365760" y="2286000"/>
            <a:chExt cx="5577840" cy="3749040"/>
          </a:xfrm>
        </p:grpSpPr>
        <p:sp>
          <p:nvSpPr>
            <p:cNvPr id="27" name="Forma 26"/>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AG libres ↑</a:t>
              </a:r>
              <a:r>
                <a:rPr lang="es-AR" sz="1650" dirty="0">
                  <a:solidFill>
                    <a:srgbClr val="1E1E1E"/>
                  </a:solidFill>
                  <a:latin typeface="Bahnschrift"/>
                  <a:ea typeface="Bahnschrift"/>
                  <a:cs typeface="Bahnschrift"/>
                  <a:sym typeface="Bahnschrift"/>
                </a:rPr>
                <a:t> con glucemia estable: patrón </a:t>
              </a:r>
              <a:r>
                <a:rPr lang="es-AR" sz="1650" b="1" dirty="0">
                  <a:solidFill>
                    <a:srgbClr val="1E1E1E"/>
                  </a:solidFill>
                  <a:latin typeface="Bahnschrift"/>
                  <a:ea typeface="Bahnschrift"/>
                  <a:cs typeface="Bahnschrift"/>
                  <a:sym typeface="Bahnschrift"/>
                </a:rPr>
                <a:t>fisiológico</a:t>
              </a:r>
              <a:r>
                <a:rPr lang="es-AR" sz="1650" dirty="0">
                  <a:solidFill>
                    <a:srgbClr val="1E1E1E"/>
                  </a:solidFill>
                  <a:latin typeface="Bahnschrift"/>
                  <a:ea typeface="Bahnschrift"/>
                  <a:cs typeface="Bahnschrift"/>
                  <a:sym typeface="Bahnschrift"/>
                </a:rPr>
                <a:t> del ayuno nocturno.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Sin síntomas.</a:t>
              </a:r>
              <a:endParaRPr lang="es-AR" sz="1650" dirty="0">
                <a:latin typeface="Bahnschrift"/>
              </a:endParaRPr>
            </a:p>
          </p:txBody>
        </p:sp>
        <p:sp>
          <p:nvSpPr>
            <p:cNvPr id="28" name="Forma 27"/>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29" name="Recuadro Resolución fisiopatológic"/>
          <p:cNvGrpSpPr/>
          <p:nvPr/>
        </p:nvGrpSpPr>
        <p:grpSpPr>
          <a:xfrm>
            <a:off x="6217920" y="1005840"/>
            <a:ext cx="5577840" cy="3291840"/>
            <a:chOff x="6217920" y="1005840"/>
            <a:chExt cx="5577840" cy="3291840"/>
          </a:xfrm>
        </p:grpSpPr>
        <p:sp>
          <p:nvSpPr>
            <p:cNvPr id="30" name="Forma 29"/>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Ayuno posabsortivo </a:t>
              </a:r>
              <a:r>
                <a:rPr lang="es-AR" sz="1650" b="1" dirty="0">
                  <a:solidFill>
                    <a:srgbClr val="1E1E1E"/>
                  </a:solidFill>
                  <a:latin typeface="Bahnschrift"/>
                  <a:ea typeface="Bahnschrift"/>
                  <a:cs typeface="Bahnschrift"/>
                  <a:sym typeface="Bahnschrift"/>
                </a:rPr>
                <a:t>normal</a:t>
              </a:r>
              <a:r>
                <a:rPr lang="es-AR" sz="1650" dirty="0">
                  <a:solidFill>
                    <a:srgbClr val="1E1E1E"/>
                  </a:solidFill>
                  <a:latin typeface="Bahnschrift"/>
                  <a:ea typeface="Bahnschrift"/>
                  <a:cs typeface="Bahnschrift"/>
                  <a:sym typeface="Bahnschrift"/>
                </a:rPr>
                <a:t>: la glucemia se sostiene por </a:t>
              </a:r>
              <a:r>
                <a:rPr lang="es-AR" sz="1650" b="1" dirty="0">
                  <a:solidFill>
                    <a:srgbClr val="1E1E1E"/>
                  </a:solidFill>
                  <a:latin typeface="Bahnschrift"/>
                  <a:ea typeface="Bahnschrift"/>
                  <a:cs typeface="Bahnschrift"/>
                  <a:sym typeface="Bahnschrift"/>
                </a:rPr>
                <a:t>flujos hepáticos</a:t>
              </a:r>
              <a:r>
                <a:rPr lang="es-AR" sz="1650" dirty="0">
                  <a:solidFill>
                    <a:srgbClr val="1E1E1E"/>
                  </a:solidFill>
                  <a:latin typeface="Bahnschrift"/>
                  <a:ea typeface="Bahnschrift"/>
                  <a:cs typeface="Bahnschrift"/>
                  <a:sym typeface="Bahnschrift"/>
                </a:rPr>
                <a:t> (glucogenólisis + GNG), con </a:t>
              </a:r>
              <a:r>
                <a:rPr lang="es-AR" sz="1650" b="1" dirty="0">
                  <a:solidFill>
                    <a:srgbClr val="1E1E1E"/>
                  </a:solidFill>
                  <a:latin typeface="Bahnschrift"/>
                  <a:ea typeface="Bahnschrift"/>
                  <a:cs typeface="Bahnschrift"/>
                  <a:sym typeface="Bahnschrift"/>
                </a:rPr>
                <a:t>AG</a:t>
              </a:r>
              <a:r>
                <a:rPr lang="es-AR" sz="1650" dirty="0">
                  <a:solidFill>
                    <a:srgbClr val="1E1E1E"/>
                  </a:solidFill>
                  <a:latin typeface="Bahnschrift"/>
                  <a:ea typeface="Bahnschrift"/>
                  <a:cs typeface="Bahnschrift"/>
                  <a:sym typeface="Bahnschrift"/>
                </a:rPr>
                <a:t> como combustible alternativo.</a:t>
              </a:r>
              <a:endParaRPr lang="es-AR" sz="1650" dirty="0">
                <a:latin typeface="Bahnschrift"/>
              </a:endParaRPr>
            </a:p>
          </p:txBody>
        </p:sp>
        <p:sp>
          <p:nvSpPr>
            <p:cNvPr id="31" name="Forma 30"/>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32"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Qué </a:t>
            </a:r>
            <a:r>
              <a:rPr lang="es-AR" sz="1600" b="1" dirty="0">
                <a:solidFill>
                  <a:srgbClr val="FFFFFF"/>
                </a:solidFill>
                <a:latin typeface="Bahnschrift"/>
                <a:ea typeface="Bahnschrift"/>
                <a:cs typeface="Bahnschrift"/>
                <a:sym typeface="Bahnschrift"/>
              </a:rPr>
              <a:t>no</a:t>
            </a:r>
            <a:r>
              <a:rPr lang="es-AR" sz="1600" dirty="0">
                <a:solidFill>
                  <a:srgbClr val="FFFFFF"/>
                </a:solidFill>
                <a:latin typeface="Bahnschrift"/>
                <a:ea typeface="Bahnschrift"/>
                <a:cs typeface="Bahnschrift"/>
                <a:sym typeface="Bahnschrift"/>
              </a:rPr>
              <a:t> concluir: cetosis elevada obligatoria ni agotamiento completo del glucógeno a las 12 h.</a:t>
            </a:r>
            <a:endParaRPr lang="es-AR" sz="1600" dirty="0">
              <a:latin typeface="Bahnschrift"/>
            </a:endParaRPr>
          </a:p>
        </p:txBody>
      </p:sp>
      <p:sp>
        <p:nvSpPr>
          <p:cNvPr id="2" name="Etiqueta sección"/>
          <p:cNvSpPr/>
          <p:nvPr/>
        </p:nvSpPr>
        <p:spPr>
          <a:xfrm>
            <a:off x="10192609" y="201168"/>
            <a:ext cx="172476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A · RESOLUCIÓN</a:t>
            </a:r>
            <a:endParaRPr lang="es-AR" sz="1300" dirty="0">
              <a:latin typeface="Bahnschrift SemiBold Condensed"/>
            </a:endParaRPr>
          </a:p>
        </p:txBody>
      </p:sp>
      <p:sp>
        <p:nvSpPr>
          <p:cNvPr id="3" name="Título"/>
          <p:cNvSpPr/>
          <p:nvPr/>
        </p:nvSpPr>
        <p:spPr>
          <a:xfrm>
            <a:off x="274320" y="146304"/>
            <a:ext cx="553489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A · CONSECUENCIAS Y RESOLUCIÓN</a:t>
            </a:r>
            <a:endParaRPr lang="es-AR" sz="2600" dirty="0">
              <a:latin typeface="Bahnschrift SemiBold Condensed"/>
            </a:endParaRPr>
          </a:p>
        </p:txBody>
      </p:sp>
      <p:sp>
        <p:nvSpPr>
          <p:cNvPr id="33"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199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6"/>
                                        </p:tgtEl>
                                        <p:attrNameLst>
                                          <p:attrName>style.visibility</p:attrName>
                                        </p:attrNameLst>
                                      </p:cBhvr>
                                      <p:to>
                                        <p:strVal val="visible"/>
                                      </p:to>
                                    </p:set>
                                    <p:animEffect transition="in" filter="fade">
                                      <p:cBhvr>
                                        <p:cTn id="5" dur="500"/>
                                        <p:tgtEl>
                                          <p:spTgt spid="26"/>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Adulto con diabetes tipo 2 conocida. En el control se observan hiperglucemia, triglicéridos elevados y grasa hepática en la imagen.</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7432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Glucosa / HbA1c</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Elevadas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TAG plasmáticos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Elevados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Colesterol no-HDL / ApoB</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A correlacionar</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Transaminasas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Pueden ser normales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Imagen hepática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Esteatosis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bl>
          </a:graphicData>
        </a:graphic>
      </p:graphicFrame>
      <p:sp>
        <p:nvSpPr>
          <p:cNvPr id="20" name="Pregunta"/>
          <p:cNvSpPr/>
          <p:nvPr/>
        </p:nvSpPr>
        <p:spPr>
          <a:xfrm>
            <a:off x="4480560" y="39319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617720"/>
            <a:ext cx="7315200" cy="14173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Coexisten </a:t>
            </a:r>
            <a:r>
              <a:rPr lang="es-AR" sz="1700" b="1" dirty="0">
                <a:solidFill>
                  <a:srgbClr val="1E1E1E"/>
                </a:solidFill>
                <a:latin typeface="Bahnschrift"/>
                <a:ea typeface="Bahnschrift"/>
                <a:cs typeface="Bahnschrift"/>
                <a:sym typeface="Bahnschrift"/>
              </a:rPr>
              <a:t>resistencia insulínica</a:t>
            </a:r>
            <a:r>
              <a:rPr lang="es-AR" sz="1700" dirty="0">
                <a:solidFill>
                  <a:srgbClr val="1E1E1E"/>
                </a:solidFill>
                <a:latin typeface="Bahnschrift"/>
                <a:ea typeface="Bahnschrift"/>
                <a:cs typeface="Bahnschrift"/>
                <a:sym typeface="Bahnschrift"/>
              </a:rPr>
              <a:t> muscular, hepática y adiposa: la glucosa no se capta ni se suprime su producción, y llegan </a:t>
            </a:r>
            <a:r>
              <a:rPr lang="es-AR" sz="1700" b="1" dirty="0">
                <a:solidFill>
                  <a:srgbClr val="1E1E1E"/>
                </a:solidFill>
                <a:latin typeface="Bahnschrift"/>
                <a:ea typeface="Bahnschrift"/>
                <a:cs typeface="Bahnschrift"/>
                <a:sym typeface="Bahnschrift"/>
              </a:rPr>
              <a:t>más AG al hígado</a:t>
            </a:r>
            <a:r>
              <a:rPr lang="es-AR" sz="1700" dirty="0">
                <a:solidFill>
                  <a:srgbClr val="1E1E1E"/>
                </a:solidFill>
                <a:latin typeface="Bahnschrift"/>
                <a:ea typeface="Bahnschrift"/>
                <a:cs typeface="Bahnschrift"/>
                <a:sym typeface="Bahnschrift"/>
              </a:rPr>
              <a:t>.</a:t>
            </a:r>
            <a:endParaRPr lang="es-AR" sz="1700" dirty="0">
              <a:latin typeface="Bahnschrift"/>
            </a:endParaRPr>
          </a:p>
        </p:txBody>
      </p:sp>
      <p:sp>
        <p:nvSpPr>
          <p:cNvPr id="2" name="Etiqueta sección"/>
          <p:cNvSpPr/>
          <p:nvPr/>
        </p:nvSpPr>
        <p:spPr>
          <a:xfrm>
            <a:off x="10030263" y="201168"/>
            <a:ext cx="1887112"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B · PRESENTACIÓN</a:t>
            </a:r>
            <a:endParaRPr lang="es-AR" sz="1300" dirty="0">
              <a:latin typeface="Bahnschrift SemiBold Condensed"/>
            </a:endParaRPr>
          </a:p>
        </p:txBody>
      </p:sp>
      <p:sp>
        <p:nvSpPr>
          <p:cNvPr id="3" name="Título"/>
          <p:cNvSpPr/>
          <p:nvPr/>
        </p:nvSpPr>
        <p:spPr>
          <a:xfrm>
            <a:off x="274320" y="146304"/>
            <a:ext cx="882736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B · DIABETES CON HIPERGLUCEMIA, TAG ALTOS Y ESTEATOSIS</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0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11201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Músculo: ↓ captación de glucosa estimulada por insulina</a:t>
            </a:r>
            <a:endParaRPr lang="es-AR" sz="1350" dirty="0">
              <a:latin typeface="Bahnschrift"/>
            </a:endParaRPr>
          </a:p>
        </p:txBody>
      </p:sp>
      <p:sp>
        <p:nvSpPr>
          <p:cNvPr id="14" name="Flecha 13_2"/>
          <p:cNvSpPr/>
          <p:nvPr/>
        </p:nvSpPr>
        <p:spPr>
          <a:xfrm>
            <a:off x="3246120" y="215341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308860"/>
            <a:ext cx="5760720" cy="11201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Hígado: producción de glucosa no suprimida → glucemia ↑</a:t>
            </a:r>
            <a:endParaRPr lang="es-AR" sz="1350" dirty="0">
              <a:latin typeface="Bahnschrift"/>
            </a:endParaRPr>
          </a:p>
        </p:txBody>
      </p:sp>
      <p:sp>
        <p:nvSpPr>
          <p:cNvPr id="16" name="Flecha 16_2"/>
          <p:cNvSpPr/>
          <p:nvPr/>
        </p:nvSpPr>
        <p:spPr>
          <a:xfrm>
            <a:off x="3246120" y="345643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611880"/>
            <a:ext cx="5760720" cy="11201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Adiposo resistente a la antilipólisis → ↑ AG al hígado</a:t>
            </a:r>
            <a:endParaRPr lang="es-AR" sz="1350" dirty="0">
              <a:latin typeface="Bahnschrift"/>
            </a:endParaRPr>
          </a:p>
        </p:txBody>
      </p:sp>
      <p:sp>
        <p:nvSpPr>
          <p:cNvPr id="18" name="Flecha 19_2"/>
          <p:cNvSpPr/>
          <p:nvPr/>
        </p:nvSpPr>
        <p:spPr>
          <a:xfrm>
            <a:off x="3246120" y="4759452"/>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914900"/>
            <a:ext cx="5760720" cy="11201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AG + DNL (+ genética) → reesterificación → TAG hepático y VLDL ↑</a:t>
            </a:r>
            <a:endParaRPr lang="es-AR" sz="1350" dirty="0">
              <a:latin typeface="Bahnschrift"/>
            </a:endParaRPr>
          </a:p>
        </p:txBody>
      </p:sp>
      <p:grpSp>
        <p:nvGrpSpPr>
          <p:cNvPr id="20" name="Recuadro Respuesta hormonal"/>
          <p:cNvGrpSpPr/>
          <p:nvPr/>
        </p:nvGrpSpPr>
        <p:grpSpPr>
          <a:xfrm>
            <a:off x="6400800" y="1005840"/>
            <a:ext cx="5394960" cy="2194560"/>
            <a:chOff x="6400800" y="1005840"/>
            <a:chExt cx="5394960" cy="2194560"/>
          </a:xfrm>
        </p:grpSpPr>
        <p:sp>
          <p:nvSpPr>
            <p:cNvPr id="21" name="Forma 23"/>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Insulina</a:t>
              </a:r>
              <a:r>
                <a:rPr lang="es-AR" sz="1650" dirty="0">
                  <a:solidFill>
                    <a:srgbClr val="1E1E1E"/>
                  </a:solidFill>
                  <a:latin typeface="Bahnschrift"/>
                  <a:ea typeface="Bahnschrift"/>
                  <a:cs typeface="Bahnschrift"/>
                  <a:sym typeface="Bahnschrift"/>
                </a:rPr>
                <a:t> puede estar alta, pero con </a:t>
              </a:r>
              <a:r>
                <a:rPr lang="es-AR" sz="1650" b="1" dirty="0">
                  <a:solidFill>
                    <a:srgbClr val="1E1E1E"/>
                  </a:solidFill>
                  <a:latin typeface="Bahnschrift"/>
                  <a:ea typeface="Bahnschrift"/>
                  <a:cs typeface="Bahnschrift"/>
                  <a:sym typeface="Bahnschrift"/>
                </a:rPr>
                <a:t>menor acción</a:t>
              </a:r>
              <a:r>
                <a:rPr lang="es-AR" sz="1650" dirty="0">
                  <a:solidFill>
                    <a:srgbClr val="1E1E1E"/>
                  </a:solidFill>
                  <a:latin typeface="Bahnschrift"/>
                  <a:ea typeface="Bahnschrift"/>
                  <a:cs typeface="Bahnschrift"/>
                  <a:sym typeface="Bahnschrift"/>
                </a:rPr>
                <a:t> en los tejidos (insulina plasmática ≠ sensibilidad).</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Señal antilipolítica ineficaz.</a:t>
              </a:r>
              <a:endParaRPr lang="es-AR" sz="1650" dirty="0">
                <a:latin typeface="Bahnschrift"/>
              </a:endParaRPr>
            </a:p>
          </p:txBody>
        </p:sp>
        <p:sp>
          <p:nvSpPr>
            <p:cNvPr id="22" name="Forma 24"/>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3" name="Recuadro Adaptaciones de los órgan"/>
          <p:cNvGrpSpPr/>
          <p:nvPr/>
        </p:nvGrpSpPr>
        <p:grpSpPr>
          <a:xfrm>
            <a:off x="6400800" y="3383280"/>
            <a:ext cx="5394960" cy="2651760"/>
            <a:chOff x="6400800" y="3383280"/>
            <a:chExt cx="5394960" cy="2651760"/>
          </a:xfrm>
        </p:grpSpPr>
        <p:sp>
          <p:nvSpPr>
            <p:cNvPr id="24" name="Forma 26"/>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Hígado</a:t>
              </a:r>
              <a:r>
                <a:rPr lang="es-AR" sz="1600" dirty="0">
                  <a:solidFill>
                    <a:srgbClr val="1E1E1E"/>
                  </a:solidFill>
                  <a:latin typeface="Bahnschrift"/>
                  <a:ea typeface="Bahnschrift"/>
                  <a:cs typeface="Bahnschrift"/>
                  <a:sym typeface="Bahnschrift"/>
                </a:rPr>
                <a:t>: esteatosis y ↑ secreción de </a:t>
              </a:r>
              <a:r>
                <a:rPr lang="es-AR" sz="1600" b="1" dirty="0">
                  <a:solidFill>
                    <a:srgbClr val="1E1E1E"/>
                  </a:solidFill>
                  <a:latin typeface="Bahnschrift"/>
                  <a:ea typeface="Bahnschrift"/>
                  <a:cs typeface="Bahnschrift"/>
                  <a:sym typeface="Bahnschrift"/>
                </a:rPr>
                <a:t>VLDL</a:t>
              </a:r>
              <a:r>
                <a:rPr lang="es-AR" sz="1600" dirty="0">
                  <a:solidFill>
                    <a:srgbClr val="1E1E1E"/>
                  </a:solidFill>
                  <a:latin typeface="Bahnschrift"/>
                  <a:ea typeface="Bahnschrift"/>
                  <a:cs typeface="Bahnschrift"/>
                  <a:sym typeface="Bahnschrift"/>
                </a:rPr>
                <a:t>.</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Adiposo</a:t>
              </a:r>
              <a:r>
                <a:rPr lang="es-AR" sz="1600" dirty="0">
                  <a:solidFill>
                    <a:srgbClr val="1E1E1E"/>
                  </a:solidFill>
                  <a:latin typeface="Bahnschrift"/>
                  <a:ea typeface="Bahnschrift"/>
                  <a:cs typeface="Bahnschrift"/>
                  <a:sym typeface="Bahnschrift"/>
                </a:rPr>
                <a:t>: lipólisis mal suprimida.</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Músculo</a:t>
              </a:r>
              <a:r>
                <a:rPr lang="es-AR" sz="1600" dirty="0">
                  <a:solidFill>
                    <a:srgbClr val="1E1E1E"/>
                  </a:solidFill>
                  <a:latin typeface="Bahnschrift"/>
                  <a:ea typeface="Bahnschrift"/>
                  <a:cs typeface="Bahnschrift"/>
                  <a:sym typeface="Bahnschrift"/>
                </a:rPr>
                <a:t>: menor sumidero de glucosa.</a:t>
              </a:r>
              <a:endParaRPr lang="es-AR" sz="1600" dirty="0">
                <a:latin typeface="Bahnschrift"/>
              </a:endParaRPr>
            </a:p>
          </p:txBody>
        </p:sp>
        <p:sp>
          <p:nvSpPr>
            <p:cNvPr id="25" name="Forma 27"/>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65609" y="201168"/>
            <a:ext cx="195176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B · FISIOPATOLOGÍA</a:t>
            </a:r>
            <a:endParaRPr lang="es-AR" sz="1300" dirty="0">
              <a:latin typeface="Bahnschrift SemiBold Condensed"/>
            </a:endParaRPr>
          </a:p>
        </p:txBody>
      </p:sp>
      <p:sp>
        <p:nvSpPr>
          <p:cNvPr id="3" name="Título"/>
          <p:cNvSpPr/>
          <p:nvPr/>
        </p:nvSpPr>
        <p:spPr>
          <a:xfrm>
            <a:off x="274320" y="146304"/>
            <a:ext cx="480597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B · MECANISMO Y RESPUESTA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Lst>
  </p:timing>
</p:sld>
</file>

<file path=ppt/slides/slide20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hígado"/>
          <p:cNvGrpSpPr/>
          <p:nvPr/>
        </p:nvGrpSpPr>
        <p:grpSpPr>
          <a:xfrm>
            <a:off x="457200" y="1209294"/>
            <a:ext cx="1051560" cy="743243"/>
            <a:chOff x="457200" y="1209294"/>
            <a:chExt cx="1051560" cy="743243"/>
          </a:xfrm>
        </p:grpSpPr>
        <p:sp>
          <p:nvSpPr>
            <p:cNvPr id="14" name="Vesícula biliar"/>
            <p:cNvSpPr/>
            <p:nvPr/>
          </p:nvSpPr>
          <p:spPr>
            <a:xfrm>
              <a:off x="741121" y="1717828"/>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457200" y="1209294"/>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457200" y="1209294"/>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457200" y="1209294"/>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Ícono adiposo"/>
          <p:cNvGrpSpPr/>
          <p:nvPr/>
        </p:nvGrpSpPr>
        <p:grpSpPr>
          <a:xfrm>
            <a:off x="1751076" y="1104138"/>
            <a:ext cx="841248" cy="841248"/>
            <a:chOff x="1751076" y="1104138"/>
            <a:chExt cx="841248" cy="841248"/>
          </a:xfrm>
        </p:grpSpPr>
        <p:sp>
          <p:nvSpPr>
            <p:cNvPr id="19" name="Forma 18"/>
            <p:cNvSpPr/>
            <p:nvPr/>
          </p:nvSpPr>
          <p:spPr>
            <a:xfrm>
              <a:off x="1751076" y="1104138"/>
              <a:ext cx="841248" cy="841248"/>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0" name="Gota lipídica"/>
            <p:cNvSpPr/>
            <p:nvPr/>
          </p:nvSpPr>
          <p:spPr>
            <a:xfrm>
              <a:off x="1793138" y="1146200"/>
              <a:ext cx="757123" cy="757123"/>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1" name="Forma 20"/>
            <p:cNvSpPr/>
            <p:nvPr/>
          </p:nvSpPr>
          <p:spPr>
            <a:xfrm rot="2400000">
              <a:off x="2356775" y="1154613"/>
              <a:ext cx="185075" cy="100950"/>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2" name="Mitocondria"/>
            <p:cNvGrpSpPr/>
            <p:nvPr/>
          </p:nvGrpSpPr>
          <p:grpSpPr>
            <a:xfrm>
              <a:off x="1818376" y="1726662"/>
              <a:ext cx="84125" cy="42062"/>
              <a:chOff x="1818376" y="1726662"/>
              <a:chExt cx="84125" cy="42062"/>
            </a:xfrm>
          </p:grpSpPr>
          <p:sp>
            <p:nvSpPr>
              <p:cNvPr id="23" name="Forma 22"/>
              <p:cNvSpPr/>
              <p:nvPr/>
            </p:nvSpPr>
            <p:spPr>
              <a:xfrm rot="-2400000">
                <a:off x="1818376" y="1726662"/>
                <a:ext cx="84125" cy="4206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4" name="Forma 23"/>
              <p:cNvSpPr/>
              <p:nvPr/>
            </p:nvSpPr>
            <p:spPr>
              <a:xfrm rot="-2400000">
                <a:off x="1824265" y="1732550"/>
                <a:ext cx="72347" cy="30285"/>
              </a:xfrm>
              <a:prstGeom prst="ellipse">
                <a:avLst/>
              </a:prstGeom>
              <a:solidFill>
                <a:srgbClr val="F8D8B4"/>
              </a:solidFill>
              <a:ln w="9525" cap="rnd">
                <a:solidFill>
                  <a:srgbClr val="B2732B"/>
                </a:solidFill>
                <a:round/>
              </a:ln>
            </p:spPr>
          </p:sp>
          <p:sp>
            <p:nvSpPr>
              <p:cNvPr id="25" name="Forma 24"/>
              <p:cNvSpPr/>
              <p:nvPr/>
            </p:nvSpPr>
            <p:spPr>
              <a:xfrm rot="-2400000">
                <a:off x="1824265" y="1732550"/>
                <a:ext cx="72347" cy="30285"/>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6" name="Ícono músculo"/>
          <p:cNvGrpSpPr/>
          <p:nvPr/>
        </p:nvGrpSpPr>
        <p:grpSpPr>
          <a:xfrm>
            <a:off x="2834640" y="1261872"/>
            <a:ext cx="1051560" cy="344912"/>
            <a:chOff x="2834640" y="1261872"/>
            <a:chExt cx="1051560" cy="344912"/>
          </a:xfrm>
        </p:grpSpPr>
        <p:grpSp>
          <p:nvGrpSpPr>
            <p:cNvPr id="27" name="Fibra"/>
            <p:cNvGrpSpPr/>
            <p:nvPr/>
          </p:nvGrpSpPr>
          <p:grpSpPr>
            <a:xfrm>
              <a:off x="2834640" y="1261872"/>
              <a:ext cx="1009498" cy="168250"/>
              <a:chOff x="2834640" y="1261872"/>
              <a:chExt cx="1009498" cy="168250"/>
            </a:xfrm>
          </p:grpSpPr>
          <p:sp>
            <p:nvSpPr>
              <p:cNvPr id="28" name="Forma 27"/>
              <p:cNvSpPr/>
              <p:nvPr/>
            </p:nvSpPr>
            <p:spPr>
              <a:xfrm>
                <a:off x="2834640" y="1261872"/>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9" name="Forma 28"/>
              <p:cNvSpPr/>
              <p:nvPr/>
            </p:nvSpPr>
            <p:spPr>
              <a:xfrm>
                <a:off x="2876702" y="1261872"/>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30" name="Forma 29"/>
              <p:cNvSpPr/>
              <p:nvPr/>
            </p:nvSpPr>
            <p:spPr>
              <a:xfrm>
                <a:off x="3036540"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3389864"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3692713"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3" name="Forma 32"/>
              <p:cNvSpPr/>
              <p:nvPr/>
            </p:nvSpPr>
            <p:spPr>
              <a:xfrm>
                <a:off x="3773473" y="1268602"/>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34" name="Fibra_2"/>
            <p:cNvGrpSpPr/>
            <p:nvPr/>
          </p:nvGrpSpPr>
          <p:grpSpPr>
            <a:xfrm>
              <a:off x="2876702" y="1438534"/>
              <a:ext cx="1009498" cy="168250"/>
              <a:chOff x="2876702" y="1438534"/>
              <a:chExt cx="1009498" cy="168250"/>
            </a:xfrm>
          </p:grpSpPr>
          <p:sp>
            <p:nvSpPr>
              <p:cNvPr id="35" name="Forma 34"/>
              <p:cNvSpPr/>
              <p:nvPr/>
            </p:nvSpPr>
            <p:spPr>
              <a:xfrm>
                <a:off x="2876702" y="1438534"/>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36" name="Forma 35"/>
              <p:cNvSpPr/>
              <p:nvPr/>
            </p:nvSpPr>
            <p:spPr>
              <a:xfrm>
                <a:off x="2918765" y="1438534"/>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37" name="Forma 36"/>
              <p:cNvSpPr/>
              <p:nvPr/>
            </p:nvSpPr>
            <p:spPr>
              <a:xfrm>
                <a:off x="3078602"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8" name="Forma 37"/>
              <p:cNvSpPr/>
              <p:nvPr/>
            </p:nvSpPr>
            <p:spPr>
              <a:xfrm>
                <a:off x="3431926"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9" name="Forma 38"/>
              <p:cNvSpPr/>
              <p:nvPr/>
            </p:nvSpPr>
            <p:spPr>
              <a:xfrm>
                <a:off x="3734775"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40" name="Forma 39"/>
              <p:cNvSpPr/>
              <p:nvPr/>
            </p:nvSpPr>
            <p:spPr>
              <a:xfrm>
                <a:off x="3815535" y="1445264"/>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41" name="Recuadro Consecuencias clínicas"/>
          <p:cNvGrpSpPr/>
          <p:nvPr/>
        </p:nvGrpSpPr>
        <p:grpSpPr>
          <a:xfrm>
            <a:off x="365760" y="2286000"/>
            <a:ext cx="5577840" cy="3749040"/>
            <a:chOff x="365760" y="2286000"/>
            <a:chExt cx="5577840" cy="3749040"/>
          </a:xfrm>
        </p:grpSpPr>
        <p:sp>
          <p:nvSpPr>
            <p:cNvPr id="42" name="Forma 41"/>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Hiperglucemia</a:t>
              </a:r>
              <a:r>
                <a:rPr lang="es-AR" sz="1650" dirty="0">
                  <a:solidFill>
                    <a:srgbClr val="1E1E1E"/>
                  </a:solidFill>
                  <a:latin typeface="Bahnschrift"/>
                  <a:ea typeface="Bahnschrift"/>
                  <a:cs typeface="Bahnschrift"/>
                  <a:sym typeface="Bahnschrift"/>
                </a:rPr>
                <a:t> (HbA1c ↑).</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Hipertrigliceridemia</a:t>
              </a:r>
              <a:r>
                <a:rPr lang="es-AR" sz="1650" dirty="0">
                  <a:solidFill>
                    <a:srgbClr val="1E1E1E"/>
                  </a:solidFill>
                  <a:latin typeface="Bahnschrift"/>
                  <a:ea typeface="Bahnschrift"/>
                  <a:cs typeface="Bahnschrift"/>
                  <a:sym typeface="Bahnschrift"/>
                </a:rPr>
                <a:t> (VLDL, remanentes).</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Esteatosis</a:t>
              </a:r>
              <a:r>
                <a:rPr lang="es-AR" sz="1650" dirty="0">
                  <a:solidFill>
                    <a:srgbClr val="1E1E1E"/>
                  </a:solidFill>
                  <a:latin typeface="Bahnschrift"/>
                  <a:ea typeface="Bahnschrift"/>
                  <a:cs typeface="Bahnschrift"/>
                  <a:sym typeface="Bahnschrift"/>
                </a:rPr>
                <a:t> (MASLD) y riesgo cardiometabólico.</a:t>
              </a:r>
              <a:endParaRPr lang="es-AR" sz="1650" dirty="0">
                <a:latin typeface="Bahnschrift"/>
              </a:endParaRPr>
            </a:p>
          </p:txBody>
        </p:sp>
        <p:sp>
          <p:nvSpPr>
            <p:cNvPr id="43" name="Forma 42"/>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44" name="Recuadro Resolución fisiopatológic"/>
          <p:cNvGrpSpPr/>
          <p:nvPr/>
        </p:nvGrpSpPr>
        <p:grpSpPr>
          <a:xfrm>
            <a:off x="6217920" y="1005840"/>
            <a:ext cx="5577840" cy="3291840"/>
            <a:chOff x="6217920" y="1005840"/>
            <a:chExt cx="5577840" cy="3291840"/>
          </a:xfrm>
        </p:grpSpPr>
        <p:sp>
          <p:nvSpPr>
            <p:cNvPr id="45" name="Forma 44"/>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Integrar </a:t>
              </a:r>
              <a:r>
                <a:rPr lang="es-AR" sz="1650" b="1" dirty="0">
                  <a:solidFill>
                    <a:srgbClr val="1E1E1E"/>
                  </a:solidFill>
                  <a:latin typeface="Bahnschrift"/>
                  <a:ea typeface="Bahnschrift"/>
                  <a:cs typeface="Bahnschrift"/>
                  <a:sym typeface="Bahnschrift"/>
                </a:rPr>
                <a:t>glucosa/HbA1c</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TAG</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no-HDL/ApoB</a:t>
              </a:r>
              <a:r>
                <a:rPr lang="es-AR" sz="1650" dirty="0">
                  <a:solidFill>
                    <a:srgbClr val="1E1E1E"/>
                  </a:solidFill>
                  <a:latin typeface="Bahnschrift"/>
                  <a:ea typeface="Bahnschrift"/>
                  <a:cs typeface="Bahnschrift"/>
                  <a:sym typeface="Bahnschrift"/>
                </a:rPr>
                <a:t>, transaminasas (normales </a:t>
              </a:r>
              <a:r>
                <a:rPr lang="es-AR" sz="1650" b="1" dirty="0">
                  <a:solidFill>
                    <a:srgbClr val="1E1E1E"/>
                  </a:solidFill>
                  <a:latin typeface="Bahnschrift"/>
                  <a:ea typeface="Bahnschrift"/>
                  <a:cs typeface="Bahnschrift"/>
                  <a:sym typeface="Bahnschrift"/>
                </a:rPr>
                <a:t>no descartan</a:t>
              </a:r>
              <a:r>
                <a:rPr lang="es-AR" sz="1650" dirty="0">
                  <a:solidFill>
                    <a:srgbClr val="1E1E1E"/>
                  </a:solidFill>
                  <a:latin typeface="Bahnschrift"/>
                  <a:ea typeface="Bahnschrift"/>
                  <a:cs typeface="Bahnschrift"/>
                  <a:sym typeface="Bahnschrift"/>
                </a:rPr>
                <a:t> esteatosis), contexto antropométrico y clínica.</a:t>
              </a:r>
              <a:endParaRPr lang="es-AR" sz="1650" dirty="0">
                <a:latin typeface="Bahnschrift"/>
              </a:endParaRPr>
            </a:p>
          </p:txBody>
        </p:sp>
        <p:sp>
          <p:nvSpPr>
            <p:cNvPr id="46" name="Forma 45"/>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47"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Punto fino: el hígado graso </a:t>
            </a:r>
            <a:r>
              <a:rPr lang="es-AR" sz="1600" b="1" dirty="0">
                <a:solidFill>
                  <a:srgbClr val="FFFFFF"/>
                </a:solidFill>
                <a:latin typeface="Bahnschrift"/>
                <a:ea typeface="Bahnschrift"/>
                <a:cs typeface="Bahnschrift"/>
                <a:sym typeface="Bahnschrift"/>
              </a:rPr>
              <a:t>no se explica solo por grasa ingerida</a:t>
            </a:r>
            <a:r>
              <a:rPr lang="es-AR" sz="1600" dirty="0">
                <a:solidFill>
                  <a:srgbClr val="FFFFFF"/>
                </a:solidFill>
                <a:latin typeface="Bahnschrift"/>
                <a:ea typeface="Bahnschrift"/>
                <a:cs typeface="Bahnschrift"/>
                <a:sym typeface="Bahnschrift"/>
              </a:rPr>
              <a:t>: participan AG del adiposo y DNL.</a:t>
            </a:r>
            <a:endParaRPr lang="es-AR" sz="1600" dirty="0">
              <a:latin typeface="Bahnschrift"/>
            </a:endParaRPr>
          </a:p>
        </p:txBody>
      </p:sp>
      <p:sp>
        <p:nvSpPr>
          <p:cNvPr id="2" name="Etiqueta sección"/>
          <p:cNvSpPr/>
          <p:nvPr/>
        </p:nvSpPr>
        <p:spPr>
          <a:xfrm>
            <a:off x="10198087" y="201168"/>
            <a:ext cx="171928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B · RESOLUCIÓN</a:t>
            </a:r>
            <a:endParaRPr lang="es-AR" sz="1300" dirty="0">
              <a:latin typeface="Bahnschrift SemiBold Condensed"/>
            </a:endParaRPr>
          </a:p>
        </p:txBody>
      </p:sp>
      <p:sp>
        <p:nvSpPr>
          <p:cNvPr id="3" name="Título"/>
          <p:cNvSpPr/>
          <p:nvPr/>
        </p:nvSpPr>
        <p:spPr>
          <a:xfrm>
            <a:off x="274320" y="146304"/>
            <a:ext cx="552393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B · CONSECUENCIAS Y RESOLUCIÓN</a:t>
            </a:r>
            <a:endParaRPr lang="es-AR" sz="2600" dirty="0">
              <a:latin typeface="Bahnschrift SemiBold Condensed"/>
            </a:endParaRPr>
          </a:p>
        </p:txBody>
      </p:sp>
      <p:sp>
        <p:nvSpPr>
          <p:cNvPr id="4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1"/>
                                        </p:tgtEl>
                                        <p:attrNameLst>
                                          <p:attrName>style.visibility</p:attrName>
                                        </p:attrNameLst>
                                      </p:cBhvr>
                                      <p:to>
                                        <p:strVal val="visible"/>
                                      </p:to>
                                    </p:set>
                                    <p:animEffect transition="in" filter="fade">
                                      <p:cBhvr>
                                        <p:cTn id="5" dur="500"/>
                                        <p:tgtEl>
                                          <p:spTgt spid="41"/>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fade">
                                      <p:cBhvr>
                                        <p:cTn id="10" dur="500"/>
                                        <p:tgtEl>
                                          <p:spTgt spid="44"/>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20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Niño con un cuadro intercurrente con vómitos que impide la alimentación. Consulta por decaimiento.</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2860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Ingesta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Ayuno por vómitos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Glucemia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Baja</a:t>
                      </a:r>
                      <a:r>
                        <a:rPr lang="es-AR" sz="1450" dirty="0">
                          <a:solidFill>
                            <a:srgbClr val="1E1E1E"/>
                          </a:solidFill>
                          <a:latin typeface="Bahnschrift"/>
                          <a:ea typeface="Bahnschrift"/>
                          <a:cs typeface="Bahnschrift"/>
                          <a:sym typeface="Bahnschrift"/>
                        </a:rPr>
                        <a:t> (hipoglucemia)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Cuerpos cetónicos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Inapropiadamente bajos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Estado neurológico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Letargo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0" name="Pregunta"/>
          <p:cNvSpPr/>
          <p:nvPr/>
        </p:nvSpPr>
        <p:spPr>
          <a:xfrm>
            <a:off x="4480560" y="34747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160520"/>
            <a:ext cx="731520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En una hipoglucemia </a:t>
            </a:r>
            <a:r>
              <a:rPr lang="es-AR" sz="1700" b="1" dirty="0">
                <a:solidFill>
                  <a:srgbClr val="1E1E1E"/>
                </a:solidFill>
                <a:latin typeface="Bahnschrift"/>
                <a:ea typeface="Bahnschrift"/>
                <a:cs typeface="Bahnschrift"/>
                <a:sym typeface="Bahnschrift"/>
              </a:rPr>
              <a:t>ordinaria</a:t>
            </a:r>
            <a:r>
              <a:rPr lang="es-AR" sz="1700" dirty="0">
                <a:solidFill>
                  <a:srgbClr val="1E1E1E"/>
                </a:solidFill>
                <a:latin typeface="Bahnschrift"/>
                <a:ea typeface="Bahnschrift"/>
                <a:cs typeface="Bahnschrift"/>
                <a:sym typeface="Bahnschrift"/>
              </a:rPr>
              <a:t> se espera contrarregulación </a:t>
            </a:r>
            <a:r>
              <a:rPr lang="es-AR" sz="1700" b="1" dirty="0">
                <a:solidFill>
                  <a:srgbClr val="1E1E1E"/>
                </a:solidFill>
                <a:latin typeface="Bahnschrift"/>
                <a:ea typeface="Bahnschrift"/>
                <a:cs typeface="Bahnschrift"/>
                <a:sym typeface="Bahnschrift"/>
              </a:rPr>
              <a:t>y cetonas</a:t>
            </a:r>
            <a:r>
              <a:rPr lang="es-AR" sz="1700" dirty="0">
                <a:solidFill>
                  <a:srgbClr val="1E1E1E"/>
                </a:solidFill>
                <a:latin typeface="Bahnschrift"/>
                <a:ea typeface="Bahnschrift"/>
                <a:cs typeface="Bahnschrift"/>
                <a:sym typeface="Bahnschrift"/>
              </a:rPr>
              <a:t>; si están inadecuadamente </a:t>
            </a:r>
            <a:r>
              <a:rPr lang="es-AR" sz="1700" b="1" dirty="0">
                <a:solidFill>
                  <a:srgbClr val="1E1E1E"/>
                </a:solidFill>
                <a:latin typeface="Bahnschrift"/>
                <a:ea typeface="Bahnschrift"/>
                <a:cs typeface="Bahnschrift"/>
                <a:sym typeface="Bahnschrift"/>
              </a:rPr>
              <a:t>bajas</a:t>
            </a:r>
            <a:r>
              <a:rPr lang="es-AR" sz="1700" dirty="0">
                <a:solidFill>
                  <a:srgbClr val="1E1E1E"/>
                </a:solidFill>
                <a:latin typeface="Bahnschrift"/>
                <a:ea typeface="Bahnschrift"/>
                <a:cs typeface="Bahnschrift"/>
                <a:sym typeface="Bahnschrift"/>
              </a:rPr>
              <a:t>, falla el acceso a los AG/cetogénesis (</a:t>
            </a:r>
            <a:r>
              <a:rPr lang="es-AR" sz="1700" b="1" dirty="0">
                <a:solidFill>
                  <a:srgbClr val="1E1E1E"/>
                </a:solidFill>
                <a:latin typeface="Bahnschrift"/>
                <a:ea typeface="Bahnschrift"/>
                <a:cs typeface="Bahnschrift"/>
                <a:sym typeface="Bahnschrift"/>
              </a:rPr>
              <a:t>CPT1/carnitina</a:t>
            </a:r>
            <a:r>
              <a:rPr lang="es-AR" sz="1700" dirty="0">
                <a:solidFill>
                  <a:srgbClr val="1E1E1E"/>
                </a:solidFill>
                <a:latin typeface="Bahnschrift"/>
                <a:ea typeface="Bahnschrift"/>
                <a:cs typeface="Bahnschrift"/>
                <a:sym typeface="Bahnschrift"/>
              </a:rPr>
              <a:t>, β-oxidación) o hay </a:t>
            </a:r>
            <a:r>
              <a:rPr lang="es-AR" sz="1700" b="1" dirty="0">
                <a:solidFill>
                  <a:srgbClr val="1E1E1E"/>
                </a:solidFill>
                <a:latin typeface="Bahnschrift"/>
                <a:ea typeface="Bahnschrift"/>
                <a:cs typeface="Bahnschrift"/>
                <a:sym typeface="Bahnschrift"/>
              </a:rPr>
              <a:t>inhibición por insulina</a:t>
            </a:r>
            <a:r>
              <a:rPr lang="es-AR" sz="1700" dirty="0">
                <a:solidFill>
                  <a:srgbClr val="1E1E1E"/>
                </a:solidFill>
                <a:latin typeface="Bahnschrift"/>
                <a:ea typeface="Bahnschrift"/>
                <a:cs typeface="Bahnschrift"/>
                <a:sym typeface="Bahnschrift"/>
              </a:rPr>
              <a:t> (hiperinsulinismo), entre otras causas.</a:t>
            </a:r>
            <a:endParaRPr lang="es-AR" sz="1700" dirty="0">
              <a:latin typeface="Bahnschrift"/>
            </a:endParaRPr>
          </a:p>
        </p:txBody>
      </p:sp>
      <p:sp>
        <p:nvSpPr>
          <p:cNvPr id="2" name="Etiqueta sección"/>
          <p:cNvSpPr/>
          <p:nvPr/>
        </p:nvSpPr>
        <p:spPr>
          <a:xfrm>
            <a:off x="10031516" y="201168"/>
            <a:ext cx="1885860"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C · PRESENTACIÓN</a:t>
            </a:r>
            <a:endParaRPr lang="es-AR" sz="1300" dirty="0">
              <a:latin typeface="Bahnschrift SemiBold Condensed"/>
            </a:endParaRPr>
          </a:p>
        </p:txBody>
      </p:sp>
      <p:sp>
        <p:nvSpPr>
          <p:cNvPr id="3" name="Título"/>
          <p:cNvSpPr/>
          <p:nvPr/>
        </p:nvSpPr>
        <p:spPr>
          <a:xfrm>
            <a:off x="274320" y="146304"/>
            <a:ext cx="9334761"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C · NIÑO CON VÓMITOS, AYUNO, HIPOGLUCEMIA Y CETONAS BAJAS</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11201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Ayuno → AG llegan al hígado</a:t>
            </a:r>
            <a:endParaRPr lang="es-AR" sz="1350" dirty="0">
              <a:latin typeface="Bahnschrift"/>
            </a:endParaRPr>
          </a:p>
        </p:txBody>
      </p:sp>
      <p:sp>
        <p:nvSpPr>
          <p:cNvPr id="14" name="Flecha 13_2"/>
          <p:cNvSpPr/>
          <p:nvPr/>
        </p:nvSpPr>
        <p:spPr>
          <a:xfrm>
            <a:off x="3246120" y="215341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308860"/>
            <a:ext cx="5760720" cy="11201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Defecto de importación/oxidación (o insulina inapropiada)</a:t>
            </a:r>
            <a:endParaRPr lang="es-AR" sz="1350" dirty="0">
              <a:latin typeface="Bahnschrift"/>
            </a:endParaRPr>
          </a:p>
        </p:txBody>
      </p:sp>
      <p:sp>
        <p:nvSpPr>
          <p:cNvPr id="16" name="Flecha 16_2"/>
          <p:cNvSpPr/>
          <p:nvPr/>
        </p:nvSpPr>
        <p:spPr>
          <a:xfrm>
            <a:off x="3246120" y="345643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611880"/>
            <a:ext cx="5760720" cy="11201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 cetogénesis y ↓ soporte energético de la GNG</a:t>
            </a:r>
            <a:endParaRPr lang="es-AR" sz="1350" dirty="0">
              <a:latin typeface="Bahnschrift"/>
            </a:endParaRPr>
          </a:p>
        </p:txBody>
      </p:sp>
      <p:sp>
        <p:nvSpPr>
          <p:cNvPr id="18" name="Flecha 19_2"/>
          <p:cNvSpPr/>
          <p:nvPr/>
        </p:nvSpPr>
        <p:spPr>
          <a:xfrm>
            <a:off x="3246120" y="4759452"/>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914900"/>
            <a:ext cx="5760720" cy="11201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Cerebro: menos glucosa y menos cetonas</a:t>
            </a:r>
            <a:endParaRPr lang="es-AR" sz="1350" dirty="0">
              <a:latin typeface="Bahnschrift"/>
            </a:endParaRPr>
          </a:p>
        </p:txBody>
      </p:sp>
      <p:grpSp>
        <p:nvGrpSpPr>
          <p:cNvPr id="20" name="Recuadro Respuesta hormonal"/>
          <p:cNvGrpSpPr/>
          <p:nvPr/>
        </p:nvGrpSpPr>
        <p:grpSpPr>
          <a:xfrm>
            <a:off x="6400800" y="1005840"/>
            <a:ext cx="5394960" cy="2194560"/>
            <a:chOff x="6400800" y="1005840"/>
            <a:chExt cx="5394960" cy="2194560"/>
          </a:xfrm>
        </p:grpSpPr>
        <p:sp>
          <p:nvSpPr>
            <p:cNvPr id="21" name="Forma 23"/>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Esperable</a:t>
              </a:r>
              <a:r>
                <a:rPr lang="es-AR" sz="1650" dirty="0">
                  <a:solidFill>
                    <a:srgbClr val="1E1E1E"/>
                  </a:solidFill>
                  <a:latin typeface="Bahnschrift"/>
                  <a:ea typeface="Bahnschrift"/>
                  <a:cs typeface="Bahnschrift"/>
                  <a:sym typeface="Bahnschrift"/>
                </a:rPr>
                <a:t>: ↑ glucagón, catecolaminas, cortisol y GH.</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Si hay </a:t>
              </a:r>
              <a:r>
                <a:rPr lang="es-AR" sz="1650" b="1" dirty="0">
                  <a:solidFill>
                    <a:srgbClr val="1E1E1E"/>
                  </a:solidFill>
                  <a:latin typeface="Bahnschrift"/>
                  <a:ea typeface="Bahnschrift"/>
                  <a:cs typeface="Bahnschrift"/>
                  <a:sym typeface="Bahnschrift"/>
                </a:rPr>
                <a:t>hiperinsulinismo</a:t>
              </a:r>
              <a:r>
                <a:rPr lang="es-AR" sz="1650" dirty="0">
                  <a:solidFill>
                    <a:srgbClr val="1E1E1E"/>
                  </a:solidFill>
                  <a:latin typeface="Bahnschrift"/>
                  <a:ea typeface="Bahnschrift"/>
                  <a:cs typeface="Bahnschrift"/>
                  <a:sym typeface="Bahnschrift"/>
                </a:rPr>
                <a:t>: insulina </a:t>
              </a:r>
              <a:r>
                <a:rPr lang="es-AR" sz="1650" b="1" dirty="0">
                  <a:solidFill>
                    <a:srgbClr val="1E1E1E"/>
                  </a:solidFill>
                  <a:latin typeface="Bahnschrift"/>
                  <a:ea typeface="Bahnschrift"/>
                  <a:cs typeface="Bahnschrift"/>
                  <a:sym typeface="Bahnschrift"/>
                </a:rPr>
                <a:t>inapropiadamente presente</a:t>
              </a:r>
              <a:r>
                <a:rPr lang="es-AR" sz="1650" dirty="0">
                  <a:solidFill>
                    <a:srgbClr val="1E1E1E"/>
                  </a:solidFill>
                  <a:latin typeface="Bahnschrift"/>
                  <a:ea typeface="Bahnschrift"/>
                  <a:cs typeface="Bahnschrift"/>
                  <a:sym typeface="Bahnschrift"/>
                </a:rPr>
                <a:t> que frena lipólisis y cetogénesis.</a:t>
              </a:r>
              <a:endParaRPr lang="es-AR" sz="1650" dirty="0">
                <a:latin typeface="Bahnschrift"/>
              </a:endParaRPr>
            </a:p>
          </p:txBody>
        </p:sp>
        <p:sp>
          <p:nvSpPr>
            <p:cNvPr id="22" name="Forma 24"/>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3" name="Recuadro Adaptaciones de los órgan"/>
          <p:cNvGrpSpPr/>
          <p:nvPr/>
        </p:nvGrpSpPr>
        <p:grpSpPr>
          <a:xfrm>
            <a:off x="6400800" y="3383280"/>
            <a:ext cx="5394960" cy="2651760"/>
            <a:chOff x="6400800" y="3383280"/>
            <a:chExt cx="5394960" cy="2651760"/>
          </a:xfrm>
        </p:grpSpPr>
        <p:sp>
          <p:nvSpPr>
            <p:cNvPr id="24" name="Forma 26"/>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Hígado</a:t>
              </a:r>
              <a:r>
                <a:rPr lang="es-AR" sz="1600" dirty="0">
                  <a:solidFill>
                    <a:srgbClr val="1E1E1E"/>
                  </a:solidFill>
                  <a:latin typeface="Bahnschrift"/>
                  <a:ea typeface="Bahnschrift"/>
                  <a:cs typeface="Bahnschrift"/>
                  <a:sym typeface="Bahnschrift"/>
                </a:rPr>
                <a:t>: no logra oxidar AG ni producir cetonas suficientes.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Adiposo</a:t>
              </a:r>
              <a:r>
                <a:rPr lang="es-AR" sz="1600" dirty="0">
                  <a:solidFill>
                    <a:srgbClr val="1E1E1E"/>
                  </a:solidFill>
                  <a:latin typeface="Bahnschrift"/>
                  <a:ea typeface="Bahnschrift"/>
                  <a:cs typeface="Bahnschrift"/>
                  <a:sym typeface="Bahnschrift"/>
                </a:rPr>
                <a:t>: libera AG (salvo inhibición por insulina).</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Cerebro</a:t>
              </a:r>
              <a:r>
                <a:rPr lang="es-AR" sz="1600" dirty="0">
                  <a:solidFill>
                    <a:srgbClr val="1E1E1E"/>
                  </a:solidFill>
                  <a:latin typeface="Bahnschrift"/>
                  <a:ea typeface="Bahnschrift"/>
                  <a:cs typeface="Bahnschrift"/>
                  <a:sym typeface="Bahnschrift"/>
                </a:rPr>
                <a:t>: déficit energético.</a:t>
              </a:r>
              <a:endParaRPr lang="es-AR" sz="1600" dirty="0">
                <a:latin typeface="Bahnschrift"/>
              </a:endParaRPr>
            </a:p>
          </p:txBody>
        </p:sp>
        <p:sp>
          <p:nvSpPr>
            <p:cNvPr id="25" name="Forma 27"/>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66862" y="201168"/>
            <a:ext cx="195051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C · FISIOPATOLOGÍA</a:t>
            </a:r>
            <a:endParaRPr lang="es-AR" sz="1300" dirty="0">
              <a:latin typeface="Bahnschrift SemiBold Condensed"/>
            </a:endParaRPr>
          </a:p>
        </p:txBody>
      </p:sp>
      <p:sp>
        <p:nvSpPr>
          <p:cNvPr id="3" name="Título"/>
          <p:cNvSpPr/>
          <p:nvPr/>
        </p:nvSpPr>
        <p:spPr>
          <a:xfrm>
            <a:off x="274320" y="146304"/>
            <a:ext cx="480350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C · MECANISMO Y RESPUESTA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Lst>
  </p:timing>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hígado"/>
          <p:cNvGrpSpPr/>
          <p:nvPr/>
        </p:nvGrpSpPr>
        <p:grpSpPr>
          <a:xfrm>
            <a:off x="457200" y="1209294"/>
            <a:ext cx="1051560" cy="743243"/>
            <a:chOff x="457200" y="1209294"/>
            <a:chExt cx="1051560" cy="743243"/>
          </a:xfrm>
        </p:grpSpPr>
        <p:sp>
          <p:nvSpPr>
            <p:cNvPr id="14" name="Vesícula biliar"/>
            <p:cNvSpPr/>
            <p:nvPr/>
          </p:nvSpPr>
          <p:spPr>
            <a:xfrm>
              <a:off x="741121" y="1717828"/>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457200" y="1209294"/>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457200" y="1209294"/>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457200" y="1209294"/>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Ícono cerebro"/>
          <p:cNvGrpSpPr/>
          <p:nvPr/>
        </p:nvGrpSpPr>
        <p:grpSpPr>
          <a:xfrm>
            <a:off x="1645920" y="1156716"/>
            <a:ext cx="1051560" cy="820217"/>
            <a:chOff x="1645920" y="1156716"/>
            <a:chExt cx="1051560" cy="820217"/>
          </a:xfrm>
        </p:grpSpPr>
        <p:sp>
          <p:nvSpPr>
            <p:cNvPr id="19" name="Cerebelo"/>
            <p:cNvSpPr/>
            <p:nvPr/>
          </p:nvSpPr>
          <p:spPr>
            <a:xfrm>
              <a:off x="1645920" y="1156716"/>
              <a:ext cx="1051560" cy="82021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20" name="Forma 19"/>
            <p:cNvSpPr/>
            <p:nvPr/>
          </p:nvSpPr>
          <p:spPr>
            <a:xfrm>
              <a:off x="1645920" y="1156716"/>
              <a:ext cx="1051560" cy="82021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21" name="Forma 20"/>
            <p:cNvSpPr/>
            <p:nvPr/>
          </p:nvSpPr>
          <p:spPr>
            <a:xfrm>
              <a:off x="1645920" y="1156716"/>
              <a:ext cx="1051560" cy="82021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22" name="Forma 21"/>
            <p:cNvSpPr/>
            <p:nvPr/>
          </p:nvSpPr>
          <p:spPr>
            <a:xfrm>
              <a:off x="1645920" y="1156716"/>
              <a:ext cx="1051560" cy="82021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23" name="Recuadro Consecuencias clínicas"/>
          <p:cNvGrpSpPr/>
          <p:nvPr/>
        </p:nvGrpSpPr>
        <p:grpSpPr>
          <a:xfrm>
            <a:off x="365760" y="2286000"/>
            <a:ext cx="5577840" cy="3749040"/>
            <a:chOff x="365760" y="2286000"/>
            <a:chExt cx="5577840" cy="3749040"/>
          </a:xfrm>
        </p:grpSpPr>
        <p:sp>
          <p:nvSpPr>
            <p:cNvPr id="24" name="Forma 23"/>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Hipoglucemia hipocetósica</a:t>
              </a:r>
              <a:r>
                <a:rPr lang="es-AR" sz="1650" dirty="0">
                  <a:solidFill>
                    <a:srgbClr val="1E1E1E"/>
                  </a:solidFill>
                  <a:latin typeface="Bahnschrift"/>
                  <a:ea typeface="Bahnschrift"/>
                  <a:cs typeface="Bahnschrift"/>
                  <a:sym typeface="Bahnschrift"/>
                </a:rPr>
                <a:t>, letargo, posible convulsión o encefalopatía.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Posible hepatomegalia e hiperamonemia en defectos de oxidación.</a:t>
              </a:r>
              <a:endParaRPr lang="es-AR" sz="1650" dirty="0">
                <a:latin typeface="Bahnschrift"/>
              </a:endParaRPr>
            </a:p>
          </p:txBody>
        </p:sp>
        <p:sp>
          <p:nvSpPr>
            <p:cNvPr id="25" name="Forma 24"/>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26" name="Recuadro Resolución fisiopatológic"/>
          <p:cNvGrpSpPr/>
          <p:nvPr/>
        </p:nvGrpSpPr>
        <p:grpSpPr>
          <a:xfrm>
            <a:off x="6217920" y="1005840"/>
            <a:ext cx="5577840" cy="3291840"/>
            <a:chOff x="6217920" y="1005840"/>
            <a:chExt cx="5577840" cy="3291840"/>
          </a:xfrm>
        </p:grpSpPr>
        <p:sp>
          <p:nvSpPr>
            <p:cNvPr id="27" name="Forma 26"/>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Emergencia metabólica</a:t>
              </a:r>
              <a:r>
                <a:rPr lang="es-AR" sz="1650" dirty="0">
                  <a:solidFill>
                    <a:srgbClr val="1E1E1E"/>
                  </a:solidFill>
                  <a:latin typeface="Bahnschrift"/>
                  <a:ea typeface="Bahnschrift"/>
                  <a:cs typeface="Bahnschrift"/>
                  <a:sym typeface="Bahnschrift"/>
                </a:rPr>
                <a:t>: requiere atención urgente.</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Estudio dirigido: </a:t>
              </a:r>
              <a:r>
                <a:rPr lang="es-AR" sz="1650" b="1" dirty="0">
                  <a:solidFill>
                    <a:srgbClr val="1E1E1E"/>
                  </a:solidFill>
                  <a:latin typeface="Bahnschrift"/>
                  <a:ea typeface="Bahnschrift"/>
                  <a:cs typeface="Bahnschrift"/>
                  <a:sym typeface="Bahnschrift"/>
                </a:rPr>
                <a:t>perfil de acilcarnitinas</a:t>
              </a:r>
              <a:r>
                <a:rPr lang="es-AR" sz="1650" dirty="0">
                  <a:solidFill>
                    <a:srgbClr val="1E1E1E"/>
                  </a:solidFill>
                  <a:latin typeface="Bahnschrift"/>
                  <a:ea typeface="Bahnschrift"/>
                  <a:cs typeface="Bahnschrift"/>
                  <a:sym typeface="Bahnschrift"/>
                </a:rPr>
                <a:t>, insulina y genética según orientación.</a:t>
              </a:r>
              <a:endParaRPr lang="es-AR" sz="1650" dirty="0">
                <a:latin typeface="Bahnschrift"/>
              </a:endParaRPr>
            </a:p>
          </p:txBody>
        </p:sp>
        <p:sp>
          <p:nvSpPr>
            <p:cNvPr id="28" name="Forma 27"/>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29"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Seguridad: </a:t>
            </a:r>
            <a:r>
              <a:rPr lang="es-AR" sz="1600" b="1" dirty="0">
                <a:solidFill>
                  <a:srgbClr val="FFFFFF"/>
                </a:solidFill>
                <a:latin typeface="Bahnschrift"/>
                <a:ea typeface="Bahnschrift"/>
                <a:cs typeface="Bahnschrift"/>
                <a:sym typeface="Bahnschrift"/>
              </a:rPr>
              <a:t>no</a:t>
            </a:r>
            <a:r>
              <a:rPr lang="es-AR" sz="1600" dirty="0">
                <a:solidFill>
                  <a:srgbClr val="FFFFFF"/>
                </a:solidFill>
                <a:latin typeface="Bahnschrift"/>
                <a:ea typeface="Bahnschrift"/>
                <a:cs typeface="Bahnschrift"/>
                <a:sym typeface="Bahnschrift"/>
              </a:rPr>
              <a:t> es un ejercicio de ayuno voluntario; evitar ayunos prolongados.</a:t>
            </a:r>
            <a:endParaRPr lang="es-AR" sz="1600" dirty="0">
              <a:latin typeface="Bahnschrift"/>
            </a:endParaRPr>
          </a:p>
        </p:txBody>
      </p:sp>
      <p:sp>
        <p:nvSpPr>
          <p:cNvPr id="2" name="Etiqueta sección"/>
          <p:cNvSpPr/>
          <p:nvPr/>
        </p:nvSpPr>
        <p:spPr>
          <a:xfrm>
            <a:off x="10199340" y="201168"/>
            <a:ext cx="171803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C · RESOLUCIÓN</a:t>
            </a:r>
            <a:endParaRPr lang="es-AR" sz="1300" dirty="0">
              <a:latin typeface="Bahnschrift SemiBold Condensed"/>
            </a:endParaRPr>
          </a:p>
        </p:txBody>
      </p:sp>
      <p:sp>
        <p:nvSpPr>
          <p:cNvPr id="3" name="Título"/>
          <p:cNvSpPr/>
          <p:nvPr/>
        </p:nvSpPr>
        <p:spPr>
          <a:xfrm>
            <a:off x="274320" y="146304"/>
            <a:ext cx="552147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C · CONSECUENCIAS Y RESOLUCIÓN</a:t>
            </a:r>
            <a:endParaRPr lang="es-AR" sz="2600" dirty="0">
              <a:latin typeface="Bahnschrift SemiBold Condensed"/>
            </a:endParaRPr>
          </a:p>
        </p:txBody>
      </p:sp>
      <p:sp>
        <p:nvSpPr>
          <p:cNvPr id="3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3"/>
                                        </p:tgtEl>
                                        <p:attrNameLst>
                                          <p:attrName>style.visibility</p:attrName>
                                        </p:attrNameLst>
                                      </p:cBhvr>
                                      <p:to>
                                        <p:strVal val="visible"/>
                                      </p:to>
                                    </p:set>
                                    <p:animEffect transition="in" filter="fade">
                                      <p:cBhvr>
                                        <p:cTn id="5" dur="500"/>
                                        <p:tgtEl>
                                          <p:spTgt spid="2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20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Adulto con cirrosis avanzada, pérdida de masa muscular y episodios de confusión.</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2860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Función hepática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Insuficiente</a:t>
                      </a:r>
                      <a:r>
                        <a:rPr lang="es-AR" sz="1450" dirty="0">
                          <a:solidFill>
                            <a:srgbClr val="1E1E1E"/>
                          </a:solidFill>
                          <a:latin typeface="Bahnschrift"/>
                          <a:ea typeface="Bahnschrift"/>
                          <a:cs typeface="Bahnschrift"/>
                          <a:sym typeface="Bahnschrift"/>
                        </a:rPr>
                        <a:t> (cirrosis)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Masa muscular</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Sarcopenia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Estado mental</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Encefalopatía</a:t>
                      </a:r>
                      <a:r>
                        <a:rPr lang="es-AR" sz="1450" dirty="0">
                          <a:solidFill>
                            <a:srgbClr val="1E1E1E"/>
                          </a:solidFill>
                          <a:latin typeface="Bahnschrift"/>
                          <a:ea typeface="Bahnschrift"/>
                          <a:cs typeface="Bahnschrift"/>
                          <a:sym typeface="Bahnschrift"/>
                        </a:rPr>
                        <a:t> episódica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Amonio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Puede estar elevado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0" name="Pregunta"/>
          <p:cNvSpPr/>
          <p:nvPr/>
        </p:nvSpPr>
        <p:spPr>
          <a:xfrm>
            <a:off x="4480560" y="34747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160520"/>
            <a:ext cx="731520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El amonio se depura </a:t>
            </a:r>
            <a:r>
              <a:rPr lang="es-AR" sz="1700" b="1" dirty="0">
                <a:solidFill>
                  <a:srgbClr val="1E1E1E"/>
                </a:solidFill>
                <a:latin typeface="Bahnschrift"/>
                <a:ea typeface="Bahnschrift"/>
                <a:cs typeface="Bahnschrift"/>
                <a:sym typeface="Bahnschrift"/>
              </a:rPr>
              <a:t>menos</a:t>
            </a:r>
            <a:r>
              <a:rPr lang="es-AR" sz="1700" dirty="0">
                <a:solidFill>
                  <a:srgbClr val="1E1E1E"/>
                </a:solidFill>
                <a:latin typeface="Bahnschrift"/>
                <a:ea typeface="Bahnschrift"/>
                <a:cs typeface="Bahnschrift"/>
                <a:sym typeface="Bahnschrift"/>
              </a:rPr>
              <a:t>: el hígado produce menos urea, hay </a:t>
            </a:r>
            <a:r>
              <a:rPr lang="es-AR" sz="1700" b="1" dirty="0">
                <a:solidFill>
                  <a:srgbClr val="1E1E1E"/>
                </a:solidFill>
                <a:latin typeface="Bahnschrift"/>
                <a:ea typeface="Bahnschrift"/>
                <a:cs typeface="Bahnschrift"/>
                <a:sym typeface="Bahnschrift"/>
              </a:rPr>
              <a:t>derivaciones portosistémicas</a:t>
            </a:r>
            <a:r>
              <a:rPr lang="es-AR" sz="1700" dirty="0">
                <a:solidFill>
                  <a:srgbClr val="1E1E1E"/>
                </a:solidFill>
                <a:latin typeface="Bahnschrift"/>
                <a:ea typeface="Bahnschrift"/>
                <a:cs typeface="Bahnschrift"/>
                <a:sym typeface="Bahnschrift"/>
              </a:rPr>
              <a:t>, el </a:t>
            </a:r>
            <a:r>
              <a:rPr lang="es-AR" sz="1700" b="1" dirty="0">
                <a:solidFill>
                  <a:srgbClr val="1E1E1E"/>
                </a:solidFill>
                <a:latin typeface="Bahnschrift"/>
                <a:ea typeface="Bahnschrift"/>
                <a:cs typeface="Bahnschrift"/>
                <a:sym typeface="Bahnschrift"/>
              </a:rPr>
              <a:t>intestino</a:t>
            </a:r>
            <a:r>
              <a:rPr lang="es-AR" sz="1700" dirty="0">
                <a:solidFill>
                  <a:srgbClr val="1E1E1E"/>
                </a:solidFill>
                <a:latin typeface="Bahnschrift"/>
                <a:ea typeface="Bahnschrift"/>
                <a:cs typeface="Bahnschrift"/>
                <a:sym typeface="Bahnschrift"/>
              </a:rPr>
              <a:t> genera amonio y el </a:t>
            </a:r>
            <a:r>
              <a:rPr lang="es-AR" sz="1700" b="1" dirty="0">
                <a:solidFill>
                  <a:srgbClr val="1E1E1E"/>
                </a:solidFill>
                <a:latin typeface="Bahnschrift"/>
                <a:ea typeface="Bahnschrift"/>
                <a:cs typeface="Bahnschrift"/>
                <a:sym typeface="Bahnschrift"/>
              </a:rPr>
              <a:t>músculo sarcopénico</a:t>
            </a:r>
            <a:r>
              <a:rPr lang="es-AR" sz="1700" dirty="0">
                <a:solidFill>
                  <a:srgbClr val="1E1E1E"/>
                </a:solidFill>
                <a:latin typeface="Bahnschrift"/>
                <a:ea typeface="Bahnschrift"/>
                <a:cs typeface="Bahnschrift"/>
                <a:sym typeface="Bahnschrift"/>
              </a:rPr>
              <a:t> capta menos NH</a:t>
            </a:r>
            <a:r>
              <a:rPr lang="es-AR" sz="1700" baseline="-25000" dirty="0">
                <a:solidFill>
                  <a:srgbClr val="1E1E1E"/>
                </a:solidFill>
                <a:latin typeface="Bahnschrift"/>
                <a:ea typeface="Bahnschrift"/>
                <a:cs typeface="Bahnschrift"/>
                <a:sym typeface="Bahnschrift"/>
              </a:rPr>
              <a:t>4</a:t>
            </a:r>
            <a:r>
              <a:rPr lang="es-AR" sz="1700" baseline="30000" dirty="0">
                <a:solidFill>
                  <a:srgbClr val="1E1E1E"/>
                </a:solidFill>
                <a:latin typeface="Bahnschrift"/>
                <a:ea typeface="Bahnschrift"/>
                <a:cs typeface="Bahnschrift"/>
                <a:sym typeface="Bahnschrift"/>
              </a:rPr>
              <a:t>+</a:t>
            </a:r>
            <a:r>
              <a:rPr lang="es-AR" sz="1700" dirty="0">
                <a:solidFill>
                  <a:srgbClr val="1E1E1E"/>
                </a:solidFill>
                <a:latin typeface="Bahnschrift"/>
                <a:ea typeface="Bahnschrift"/>
                <a:cs typeface="Bahnschrift"/>
                <a:sym typeface="Bahnschrift"/>
              </a:rPr>
              <a:t> como glutamina.</a:t>
            </a:r>
            <a:endParaRPr lang="es-AR" sz="1700" dirty="0">
              <a:latin typeface="Bahnschrift"/>
            </a:endParaRPr>
          </a:p>
        </p:txBody>
      </p:sp>
      <p:sp>
        <p:nvSpPr>
          <p:cNvPr id="2" name="Etiqueta sección"/>
          <p:cNvSpPr/>
          <p:nvPr/>
        </p:nvSpPr>
        <p:spPr>
          <a:xfrm>
            <a:off x="10029732" y="201168"/>
            <a:ext cx="188764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D · PRESENTACIÓN</a:t>
            </a:r>
            <a:endParaRPr lang="es-AR" sz="1300" dirty="0">
              <a:latin typeface="Bahnschrift SemiBold Condensed"/>
            </a:endParaRPr>
          </a:p>
        </p:txBody>
      </p:sp>
      <p:sp>
        <p:nvSpPr>
          <p:cNvPr id="3" name="Título"/>
          <p:cNvSpPr/>
          <p:nvPr/>
        </p:nvSpPr>
        <p:spPr>
          <a:xfrm>
            <a:off x="274320" y="146304"/>
            <a:ext cx="6825148"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D · CIRROSIS, SARCOPENIA Y ENCEFALOPATÍA</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0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859536"/>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Intestino: producción de NH</a:t>
            </a:r>
            <a:r>
              <a:rPr lang="es-AR" sz="1350" baseline="-25000" dirty="0">
                <a:solidFill>
                  <a:srgbClr val="1E1E1E"/>
                </a:solidFill>
                <a:latin typeface="Bahnschrift"/>
                <a:ea typeface="Bahnschrift"/>
                <a:cs typeface="Bahnschrift"/>
                <a:sym typeface="Bahnschrift"/>
              </a:rPr>
              <a:t>3</a:t>
            </a:r>
            <a:endParaRPr lang="es-AR" sz="1350" dirty="0">
              <a:latin typeface="Bahnschrift"/>
            </a:endParaRPr>
          </a:p>
        </p:txBody>
      </p:sp>
      <p:sp>
        <p:nvSpPr>
          <p:cNvPr id="14" name="Flecha 13_2"/>
          <p:cNvSpPr/>
          <p:nvPr/>
        </p:nvSpPr>
        <p:spPr>
          <a:xfrm>
            <a:off x="3246120" y="1892808"/>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048256"/>
            <a:ext cx="5760720" cy="859536"/>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Derivación portosistémica: evita el primer paso</a:t>
            </a:r>
            <a:endParaRPr lang="es-AR" sz="1350" dirty="0">
              <a:latin typeface="Bahnschrift"/>
            </a:endParaRPr>
          </a:p>
        </p:txBody>
      </p:sp>
      <p:sp>
        <p:nvSpPr>
          <p:cNvPr id="16" name="Flecha 16_2"/>
          <p:cNvSpPr/>
          <p:nvPr/>
        </p:nvSpPr>
        <p:spPr>
          <a:xfrm>
            <a:off x="3246120" y="2935224"/>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090672"/>
            <a:ext cx="5760720" cy="859536"/>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Hepatocitos: ↓ urea</a:t>
            </a:r>
            <a:endParaRPr lang="es-AR" sz="1350" dirty="0">
              <a:latin typeface="Bahnschrift"/>
            </a:endParaRPr>
          </a:p>
        </p:txBody>
      </p:sp>
      <p:sp>
        <p:nvSpPr>
          <p:cNvPr id="18" name="Flecha 19_2"/>
          <p:cNvSpPr/>
          <p:nvPr/>
        </p:nvSpPr>
        <p:spPr>
          <a:xfrm>
            <a:off x="3246120" y="3977640"/>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133088"/>
            <a:ext cx="5760720" cy="859536"/>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Músculo sarcopénico: ↓ glutamina sintetasa efectiva</a:t>
            </a:r>
            <a:endParaRPr lang="es-AR" sz="1350" dirty="0">
              <a:latin typeface="Bahnschrift"/>
            </a:endParaRPr>
          </a:p>
        </p:txBody>
      </p:sp>
      <p:sp>
        <p:nvSpPr>
          <p:cNvPr id="20" name="Flecha 22_2"/>
          <p:cNvSpPr/>
          <p:nvPr/>
        </p:nvSpPr>
        <p:spPr>
          <a:xfrm>
            <a:off x="3246120" y="5020056"/>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21" name="Forma 24"/>
          <p:cNvSpPr/>
          <p:nvPr/>
        </p:nvSpPr>
        <p:spPr>
          <a:xfrm>
            <a:off x="365760" y="5175504"/>
            <a:ext cx="5760720" cy="859536"/>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Cerebro: glutamina astroglial ↑ → encefalopatía</a:t>
            </a:r>
            <a:endParaRPr lang="es-AR" sz="1350" dirty="0">
              <a:latin typeface="Bahnschrift"/>
            </a:endParaRPr>
          </a:p>
        </p:txBody>
      </p:sp>
      <p:grpSp>
        <p:nvGrpSpPr>
          <p:cNvPr id="22" name="Recuadro Respuesta hormonal"/>
          <p:cNvGrpSpPr/>
          <p:nvPr/>
        </p:nvGrpSpPr>
        <p:grpSpPr>
          <a:xfrm>
            <a:off x="6400800" y="1005840"/>
            <a:ext cx="5394960" cy="2194560"/>
            <a:chOff x="6400800" y="1005840"/>
            <a:chExt cx="5394960" cy="2194560"/>
          </a:xfrm>
        </p:grpSpPr>
        <p:sp>
          <p:nvSpPr>
            <p:cNvPr id="23" name="Forma 26"/>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Estado </a:t>
              </a:r>
              <a:r>
                <a:rPr lang="es-AR" sz="1650" b="1" dirty="0">
                  <a:solidFill>
                    <a:srgbClr val="1E1E1E"/>
                  </a:solidFill>
                  <a:latin typeface="Bahnschrift"/>
                  <a:ea typeface="Bahnschrift"/>
                  <a:cs typeface="Bahnschrift"/>
                  <a:sym typeface="Bahnschrift"/>
                </a:rPr>
                <a:t>catabólico</a:t>
              </a:r>
              <a:r>
                <a:rPr lang="es-AR" sz="1650" dirty="0">
                  <a:solidFill>
                    <a:srgbClr val="1E1E1E"/>
                  </a:solidFill>
                  <a:latin typeface="Bahnschrift"/>
                  <a:ea typeface="Bahnschrift"/>
                  <a:cs typeface="Bahnschrift"/>
                  <a:sym typeface="Bahnschrift"/>
                </a:rPr>
                <a:t>: cortisol, inflamación.</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Resistencia insulínica frecuente en cirrosis.</a:t>
              </a:r>
              <a:endParaRPr lang="es-AR" sz="1650" dirty="0">
                <a:latin typeface="Bahnschrift"/>
              </a:endParaRPr>
            </a:p>
          </p:txBody>
        </p:sp>
        <p:sp>
          <p:nvSpPr>
            <p:cNvPr id="24" name="Forma 27"/>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5" name="Recuadro Adaptaciones de los órgan"/>
          <p:cNvGrpSpPr/>
          <p:nvPr/>
        </p:nvGrpSpPr>
        <p:grpSpPr>
          <a:xfrm>
            <a:off x="6400800" y="3383280"/>
            <a:ext cx="5394960" cy="2651760"/>
            <a:chOff x="6400800" y="3383280"/>
            <a:chExt cx="5394960" cy="2651760"/>
          </a:xfrm>
        </p:grpSpPr>
        <p:sp>
          <p:nvSpPr>
            <p:cNvPr id="26" name="Forma 29"/>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Músculo</a:t>
              </a:r>
              <a:r>
                <a:rPr lang="es-AR" sz="1600" dirty="0">
                  <a:solidFill>
                    <a:srgbClr val="1E1E1E"/>
                  </a:solidFill>
                  <a:latin typeface="Bahnschrift"/>
                  <a:ea typeface="Bahnschrift"/>
                  <a:cs typeface="Bahnschrift"/>
                  <a:sym typeface="Bahnschrift"/>
                </a:rPr>
                <a:t>: pierde su papel de sumidero de amonio.</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Riñón</a:t>
              </a:r>
              <a:r>
                <a:rPr lang="es-AR" sz="1600" dirty="0">
                  <a:solidFill>
                    <a:srgbClr val="1E1E1E"/>
                  </a:solidFill>
                  <a:latin typeface="Bahnschrift"/>
                  <a:ea typeface="Bahnschrift"/>
                  <a:cs typeface="Bahnschrift"/>
                  <a:sym typeface="Bahnschrift"/>
                </a:rPr>
                <a:t>: participa en el manejo del amonio.</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Astrocito</a:t>
              </a:r>
              <a:r>
                <a:rPr lang="es-AR" sz="1600" dirty="0">
                  <a:solidFill>
                    <a:srgbClr val="1E1E1E"/>
                  </a:solidFill>
                  <a:latin typeface="Bahnschrift"/>
                  <a:ea typeface="Bahnschrift"/>
                  <a:cs typeface="Bahnschrift"/>
                  <a:sym typeface="Bahnschrift"/>
                </a:rPr>
                <a:t>: acumula glutamina.</a:t>
              </a:r>
              <a:endParaRPr lang="es-AR" sz="1600" dirty="0">
                <a:latin typeface="Bahnschrift"/>
              </a:endParaRPr>
            </a:p>
          </p:txBody>
        </p:sp>
        <p:sp>
          <p:nvSpPr>
            <p:cNvPr id="27" name="Forma 30"/>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65078" y="201168"/>
            <a:ext cx="1952297"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D · FISIOPATOLOGÍA</a:t>
            </a:r>
            <a:endParaRPr lang="es-AR" sz="1300" dirty="0">
              <a:latin typeface="Bahnschrift SemiBold Condensed"/>
            </a:endParaRPr>
          </a:p>
        </p:txBody>
      </p:sp>
      <p:sp>
        <p:nvSpPr>
          <p:cNvPr id="3" name="Título"/>
          <p:cNvSpPr/>
          <p:nvPr/>
        </p:nvSpPr>
        <p:spPr>
          <a:xfrm>
            <a:off x="274320" y="146304"/>
            <a:ext cx="480703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D · MECANISMO Y RESPUESTA</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43" fill="hold">
                      <p:stCondLst>
                        <p:cond delay="indefinite"/>
                      </p:stCondLst>
                      <p:childTnLst>
                        <p:par>
                          <p:cTn id="38"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600"/>
                                        <p:tgtEl>
                                          <p:spTgt spid="20"/>
                                        </p:tgtEl>
                                      </p:cBhvr>
                                    </p:animEffect>
                                  </p:childTnLst>
                                </p:cTn>
                              </p:par>
                            </p:childTnLst>
                          </p:cTn>
                        </p:par>
                        <p:par>
                          <p:cTn id="42" fill="hold">
                            <p:stCondLst>
                              <p:cond delay="600"/>
                            </p:stCondLst>
                            <p:childTnLst>
                              <p:par>
                                <p:cTn id="39" presetID="10" presetClass="entr" presetSubtype="0" fill="hold" grpId="0" nodeType="after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48" fill="hold">
                      <p:stCondLst>
                        <p:cond delay="indefinite"/>
                      </p:stCondLst>
                      <p:childTnLst>
                        <p:par>
                          <p:cTn id="47"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53" fill="hold">
                      <p:stCondLst>
                        <p:cond delay="indefinite"/>
                      </p:stCondLst>
                      <p:childTnLst>
                        <p:par>
                          <p:cTn id="52"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Lst>
  </p:timing>
</p:sld>
</file>

<file path=ppt/slides/slide20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hígado"/>
          <p:cNvGrpSpPr/>
          <p:nvPr/>
        </p:nvGrpSpPr>
        <p:grpSpPr>
          <a:xfrm>
            <a:off x="457200" y="1209294"/>
            <a:ext cx="1051560" cy="743243"/>
            <a:chOff x="457200" y="1209294"/>
            <a:chExt cx="1051560" cy="743243"/>
          </a:xfrm>
        </p:grpSpPr>
        <p:sp>
          <p:nvSpPr>
            <p:cNvPr id="14" name="Vesícula biliar"/>
            <p:cNvSpPr/>
            <p:nvPr/>
          </p:nvSpPr>
          <p:spPr>
            <a:xfrm>
              <a:off x="741121" y="1717828"/>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5" name="Forma 14"/>
            <p:cNvSpPr/>
            <p:nvPr/>
          </p:nvSpPr>
          <p:spPr>
            <a:xfrm>
              <a:off x="457200" y="1209294"/>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6" name="Forma 15"/>
            <p:cNvSpPr/>
            <p:nvPr/>
          </p:nvSpPr>
          <p:spPr>
            <a:xfrm>
              <a:off x="457200" y="1209294"/>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7" name="Forma 16"/>
            <p:cNvSpPr/>
            <p:nvPr/>
          </p:nvSpPr>
          <p:spPr>
            <a:xfrm>
              <a:off x="457200" y="1209294"/>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18" name="Ícono músculo"/>
          <p:cNvGrpSpPr/>
          <p:nvPr/>
        </p:nvGrpSpPr>
        <p:grpSpPr>
          <a:xfrm>
            <a:off x="1645920" y="1261872"/>
            <a:ext cx="1051560" cy="344912"/>
            <a:chOff x="1645920" y="1261872"/>
            <a:chExt cx="1051560" cy="344912"/>
          </a:xfrm>
        </p:grpSpPr>
        <p:grpSp>
          <p:nvGrpSpPr>
            <p:cNvPr id="19" name="Fibra"/>
            <p:cNvGrpSpPr/>
            <p:nvPr/>
          </p:nvGrpSpPr>
          <p:grpSpPr>
            <a:xfrm>
              <a:off x="1645920" y="1261872"/>
              <a:ext cx="1009498" cy="168250"/>
              <a:chOff x="1645920" y="1261872"/>
              <a:chExt cx="1009498" cy="168250"/>
            </a:xfrm>
          </p:grpSpPr>
          <p:sp>
            <p:nvSpPr>
              <p:cNvPr id="20" name="Forma 19"/>
              <p:cNvSpPr/>
              <p:nvPr/>
            </p:nvSpPr>
            <p:spPr>
              <a:xfrm>
                <a:off x="1645920" y="1261872"/>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1" name="Forma 20"/>
              <p:cNvSpPr/>
              <p:nvPr/>
            </p:nvSpPr>
            <p:spPr>
              <a:xfrm>
                <a:off x="1687982" y="1261872"/>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22" name="Forma 21"/>
              <p:cNvSpPr/>
              <p:nvPr/>
            </p:nvSpPr>
            <p:spPr>
              <a:xfrm>
                <a:off x="1847820"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3" name="Forma 22"/>
              <p:cNvSpPr/>
              <p:nvPr/>
            </p:nvSpPr>
            <p:spPr>
              <a:xfrm>
                <a:off x="2201144"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4" name="Forma 23"/>
              <p:cNvSpPr/>
              <p:nvPr/>
            </p:nvSpPr>
            <p:spPr>
              <a:xfrm>
                <a:off x="2503993"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2584753" y="1268602"/>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6" name="Fibra_2"/>
            <p:cNvGrpSpPr/>
            <p:nvPr/>
          </p:nvGrpSpPr>
          <p:grpSpPr>
            <a:xfrm>
              <a:off x="1687982" y="1438534"/>
              <a:ext cx="1009498" cy="168250"/>
              <a:chOff x="1687982" y="1438534"/>
              <a:chExt cx="1009498" cy="168250"/>
            </a:xfrm>
          </p:grpSpPr>
          <p:sp>
            <p:nvSpPr>
              <p:cNvPr id="27" name="Forma 26"/>
              <p:cNvSpPr/>
              <p:nvPr/>
            </p:nvSpPr>
            <p:spPr>
              <a:xfrm>
                <a:off x="1687982" y="1438534"/>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8" name="Forma 27"/>
              <p:cNvSpPr/>
              <p:nvPr/>
            </p:nvSpPr>
            <p:spPr>
              <a:xfrm>
                <a:off x="1730045" y="1438534"/>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29" name="Forma 28"/>
              <p:cNvSpPr/>
              <p:nvPr/>
            </p:nvSpPr>
            <p:spPr>
              <a:xfrm>
                <a:off x="1889882"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0" name="Forma 29"/>
              <p:cNvSpPr/>
              <p:nvPr/>
            </p:nvSpPr>
            <p:spPr>
              <a:xfrm>
                <a:off x="2243206"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1" name="Forma 30"/>
              <p:cNvSpPr/>
              <p:nvPr/>
            </p:nvSpPr>
            <p:spPr>
              <a:xfrm>
                <a:off x="2546055"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32" name="Forma 31"/>
              <p:cNvSpPr/>
              <p:nvPr/>
            </p:nvSpPr>
            <p:spPr>
              <a:xfrm>
                <a:off x="2626815" y="1445264"/>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33" name="Ícono cerebro"/>
          <p:cNvGrpSpPr/>
          <p:nvPr/>
        </p:nvGrpSpPr>
        <p:grpSpPr>
          <a:xfrm>
            <a:off x="2834640" y="1156716"/>
            <a:ext cx="1051560" cy="820217"/>
            <a:chOff x="2834640" y="1156716"/>
            <a:chExt cx="1051560" cy="820217"/>
          </a:xfrm>
        </p:grpSpPr>
        <p:sp>
          <p:nvSpPr>
            <p:cNvPr id="34" name="Cerebelo"/>
            <p:cNvSpPr/>
            <p:nvPr/>
          </p:nvSpPr>
          <p:spPr>
            <a:xfrm>
              <a:off x="2834640" y="1156716"/>
              <a:ext cx="1051560" cy="82021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35" name="Forma 34"/>
            <p:cNvSpPr/>
            <p:nvPr/>
          </p:nvSpPr>
          <p:spPr>
            <a:xfrm>
              <a:off x="2834640" y="1156716"/>
              <a:ext cx="1051560" cy="82021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36" name="Forma 35"/>
            <p:cNvSpPr/>
            <p:nvPr/>
          </p:nvSpPr>
          <p:spPr>
            <a:xfrm>
              <a:off x="2834640" y="1156716"/>
              <a:ext cx="1051560" cy="82021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37" name="Forma 36"/>
            <p:cNvSpPr/>
            <p:nvPr/>
          </p:nvSpPr>
          <p:spPr>
            <a:xfrm>
              <a:off x="2834640" y="1156716"/>
              <a:ext cx="1051560" cy="82021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grpSp>
        <p:nvGrpSpPr>
          <p:cNvPr id="38" name="Recuadro Consecuencias clínicas"/>
          <p:cNvGrpSpPr/>
          <p:nvPr/>
        </p:nvGrpSpPr>
        <p:grpSpPr>
          <a:xfrm>
            <a:off x="365760" y="2286000"/>
            <a:ext cx="5577840" cy="3749040"/>
            <a:chOff x="365760" y="2286000"/>
            <a:chExt cx="5577840" cy="3749040"/>
          </a:xfrm>
        </p:grpSpPr>
        <p:sp>
          <p:nvSpPr>
            <p:cNvPr id="39" name="Forma 38"/>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Encefalopatía</a:t>
              </a:r>
              <a:r>
                <a:rPr lang="es-AR" sz="1650" dirty="0">
                  <a:solidFill>
                    <a:srgbClr val="1E1E1E"/>
                  </a:solidFill>
                  <a:latin typeface="Bahnschrift"/>
                  <a:ea typeface="Bahnschrift"/>
                  <a:cs typeface="Bahnschrift"/>
                  <a:sym typeface="Bahnschrift"/>
                </a:rPr>
                <a:t> hepática.</a:t>
              </a:r>
              <a:endParaRPr lang="es-AR" sz="1650" dirty="0">
                <a:latin typeface="Bahnschrift"/>
              </a:endParaRPr>
            </a:p>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Sarcopenia</a:t>
              </a:r>
              <a:r>
                <a:rPr lang="es-AR" sz="1650" dirty="0">
                  <a:solidFill>
                    <a:srgbClr val="1E1E1E"/>
                  </a:solidFill>
                  <a:latin typeface="Bahnschrift"/>
                  <a:ea typeface="Bahnschrift"/>
                  <a:cs typeface="Bahnschrift"/>
                  <a:sym typeface="Bahnschrift"/>
                </a:rPr>
                <a:t> progresiva.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La </a:t>
              </a:r>
              <a:r>
                <a:rPr lang="es-AR" sz="1650" b="1" dirty="0">
                  <a:solidFill>
                    <a:srgbClr val="1E1E1E"/>
                  </a:solidFill>
                  <a:latin typeface="Bahnschrift"/>
                  <a:ea typeface="Bahnschrift"/>
                  <a:cs typeface="Bahnschrift"/>
                  <a:sym typeface="Bahnschrift"/>
                </a:rPr>
                <a:t>restricción proteica crónica</a:t>
              </a:r>
              <a:r>
                <a:rPr lang="es-AR" sz="1650" dirty="0">
                  <a:solidFill>
                    <a:srgbClr val="1E1E1E"/>
                  </a:solidFill>
                  <a:latin typeface="Bahnschrift"/>
                  <a:ea typeface="Bahnschrift"/>
                  <a:cs typeface="Bahnschrift"/>
                  <a:sym typeface="Bahnschrift"/>
                </a:rPr>
                <a:t> agravaría la pérdida muscular.</a:t>
              </a:r>
              <a:endParaRPr lang="es-AR" sz="1650" dirty="0">
                <a:latin typeface="Bahnschrift"/>
              </a:endParaRPr>
            </a:p>
          </p:txBody>
        </p:sp>
        <p:sp>
          <p:nvSpPr>
            <p:cNvPr id="40" name="Forma 39"/>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41" name="Recuadro Resolución fisiopatológic"/>
          <p:cNvGrpSpPr/>
          <p:nvPr/>
        </p:nvGrpSpPr>
        <p:grpSpPr>
          <a:xfrm>
            <a:off x="6217920" y="1005840"/>
            <a:ext cx="5577840" cy="3291840"/>
            <a:chOff x="6217920" y="1005840"/>
            <a:chExt cx="5577840" cy="3291840"/>
          </a:xfrm>
        </p:grpSpPr>
        <p:sp>
          <p:nvSpPr>
            <p:cNvPr id="42" name="Forma 41"/>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Enfoque contemporáneo: </a:t>
              </a:r>
              <a:r>
                <a:rPr lang="es-AR" sz="1650" b="1" dirty="0">
                  <a:solidFill>
                    <a:srgbClr val="1E1E1E"/>
                  </a:solidFill>
                  <a:latin typeface="Bahnschrift"/>
                  <a:ea typeface="Bahnschrift"/>
                  <a:cs typeface="Bahnschrift"/>
                  <a:sym typeface="Bahnschrift"/>
                </a:rPr>
                <a:t>tratar precipitantes</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lactulosa</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rifaximina</a:t>
              </a:r>
              <a:r>
                <a:rPr lang="es-AR" sz="1650" dirty="0">
                  <a:solidFill>
                    <a:srgbClr val="1E1E1E"/>
                  </a:solidFill>
                  <a:latin typeface="Bahnschrift"/>
                  <a:ea typeface="Bahnschrift"/>
                  <a:cs typeface="Bahnschrift"/>
                  <a:sym typeface="Bahnschrift"/>
                </a:rPr>
                <a:t> según indicación y </a:t>
              </a:r>
              <a:r>
                <a:rPr lang="es-AR" sz="1650" b="1" dirty="0">
                  <a:solidFill>
                    <a:srgbClr val="1E1E1E"/>
                  </a:solidFill>
                  <a:latin typeface="Bahnschrift"/>
                  <a:ea typeface="Bahnschrift"/>
                  <a:cs typeface="Bahnschrift"/>
                  <a:sym typeface="Bahnschrift"/>
                </a:rPr>
                <a:t>objetivos proteicos adecuados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43" name="Forma 42"/>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44"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Diferencial conceptual: explicar la vieja regla de restricción y </a:t>
            </a:r>
            <a:r>
              <a:rPr lang="es-AR" sz="1600" b="1" dirty="0">
                <a:solidFill>
                  <a:srgbClr val="FFFFFF"/>
                </a:solidFill>
                <a:latin typeface="Bahnschrift"/>
                <a:ea typeface="Bahnschrift"/>
                <a:cs typeface="Bahnschrift"/>
                <a:sym typeface="Bahnschrift"/>
              </a:rPr>
              <a:t>corregirla</a:t>
            </a:r>
            <a:r>
              <a:rPr lang="es-AR" sz="1600" dirty="0">
                <a:solidFill>
                  <a:srgbClr val="FFFFFF"/>
                </a:solidFill>
                <a:latin typeface="Bahnschrift"/>
                <a:ea typeface="Bahnschrift"/>
                <a:cs typeface="Bahnschrift"/>
                <a:sym typeface="Bahnschrift"/>
              </a:rPr>
              <a:t> con la evidencia actual.</a:t>
            </a:r>
            <a:endParaRPr lang="es-AR" sz="1600" dirty="0">
              <a:latin typeface="Bahnschrift"/>
            </a:endParaRPr>
          </a:p>
        </p:txBody>
      </p:sp>
      <p:sp>
        <p:nvSpPr>
          <p:cNvPr id="2" name="Etiqueta sección"/>
          <p:cNvSpPr/>
          <p:nvPr/>
        </p:nvSpPr>
        <p:spPr>
          <a:xfrm>
            <a:off x="10197556" y="201168"/>
            <a:ext cx="171981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D · RESOLUCIÓN</a:t>
            </a:r>
            <a:endParaRPr lang="es-AR" sz="1300" dirty="0">
              <a:latin typeface="Bahnschrift SemiBold Condensed"/>
            </a:endParaRPr>
          </a:p>
        </p:txBody>
      </p:sp>
      <p:sp>
        <p:nvSpPr>
          <p:cNvPr id="3" name="Título"/>
          <p:cNvSpPr/>
          <p:nvPr/>
        </p:nvSpPr>
        <p:spPr>
          <a:xfrm>
            <a:off x="274320" y="146304"/>
            <a:ext cx="552499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D · CONSECUENCIAS Y RESOLUCIÓN</a:t>
            </a:r>
            <a:endParaRPr lang="es-AR" sz="2600" dirty="0">
              <a:latin typeface="Bahnschrift SemiBold Condensed"/>
            </a:endParaRPr>
          </a:p>
        </p:txBody>
      </p:sp>
      <p:sp>
        <p:nvSpPr>
          <p:cNvPr id="4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8"/>
                                        </p:tgtEl>
                                        <p:attrNameLst>
                                          <p:attrName>style.visibility</p:attrName>
                                        </p:attrNameLst>
                                      </p:cBhvr>
                                      <p:to>
                                        <p:strVal val="visible"/>
                                      </p:to>
                                    </p:set>
                                    <p:animEffect transition="in" filter="fade">
                                      <p:cBhvr>
                                        <p:cTn id="5" dur="500"/>
                                        <p:tgtEl>
                                          <p:spTgt spid="38"/>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41"/>
                                        </p:tgtEl>
                                        <p:attrNameLst>
                                          <p:attrName>style.visibility</p:attrName>
                                        </p:attrNameLst>
                                      </p:cBhvr>
                                      <p:to>
                                        <p:strVal val="visible"/>
                                      </p:to>
                                    </p:set>
                                    <p:animEffect transition="in" filter="fade">
                                      <p:cBhvr>
                                        <p:cTn id="10" dur="500"/>
                                        <p:tgtEl>
                                          <p:spTgt spid="41"/>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fade">
                                      <p:cBhvr>
                                        <p:cTn id="1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Deportista evaluado poco después de un ejercicio extenuante; se detecta uricemia elevada en un control.</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2860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Momento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Poco después del esfuerzo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Ácido úrico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Elevado</a:t>
                      </a:r>
                      <a:r>
                        <a:rPr lang="es-AR" sz="1450" dirty="0">
                          <a:solidFill>
                            <a:srgbClr val="1E1E1E"/>
                          </a:solidFill>
                          <a:latin typeface="Bahnschrift"/>
                          <a:ea typeface="Bahnschrift"/>
                          <a:cs typeface="Bahnschrift"/>
                          <a:sym typeface="Bahnschrift"/>
                        </a:rPr>
                        <a:t> (transitorio)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Lactato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Puede estar elevado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Hidratación</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Posible depleción de volumen</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0" name="Pregunta"/>
          <p:cNvSpPr/>
          <p:nvPr/>
        </p:nvSpPr>
        <p:spPr>
          <a:xfrm>
            <a:off x="4480560" y="34747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160520"/>
            <a:ext cx="731520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La </a:t>
            </a:r>
            <a:r>
              <a:rPr lang="es-AR" sz="1700" b="1" dirty="0">
                <a:solidFill>
                  <a:srgbClr val="1E1E1E"/>
                </a:solidFill>
                <a:latin typeface="Bahnschrift"/>
                <a:ea typeface="Bahnschrift"/>
                <a:cs typeface="Bahnschrift"/>
                <a:sym typeface="Bahnschrift"/>
              </a:rPr>
              <a:t>degradación acelerada de nucleótidos de adenina</a:t>
            </a:r>
            <a:r>
              <a:rPr lang="es-AR" sz="1700" dirty="0">
                <a:solidFill>
                  <a:srgbClr val="1E1E1E"/>
                </a:solidFill>
                <a:latin typeface="Bahnschrift"/>
                <a:ea typeface="Bahnschrift"/>
                <a:cs typeface="Bahnschrift"/>
                <a:sym typeface="Bahnschrift"/>
              </a:rPr>
              <a:t> en el músculo y la </a:t>
            </a:r>
            <a:r>
              <a:rPr lang="es-AR" sz="1700" b="1" dirty="0">
                <a:solidFill>
                  <a:srgbClr val="1E1E1E"/>
                </a:solidFill>
                <a:latin typeface="Bahnschrift"/>
                <a:ea typeface="Bahnschrift"/>
                <a:cs typeface="Bahnschrift"/>
                <a:sym typeface="Bahnschrift"/>
              </a:rPr>
              <a:t>menor excreción renal</a:t>
            </a:r>
            <a:r>
              <a:rPr lang="es-AR" sz="1700" dirty="0">
                <a:solidFill>
                  <a:srgbClr val="1E1E1E"/>
                </a:solidFill>
                <a:latin typeface="Bahnschrift"/>
                <a:ea typeface="Bahnschrift"/>
                <a:cs typeface="Bahnschrift"/>
                <a:sym typeface="Bahnschrift"/>
              </a:rPr>
              <a:t> transitoria elevan el urato.</a:t>
            </a:r>
            <a:endParaRPr lang="es-AR" sz="1700" dirty="0">
              <a:latin typeface="Bahnschrift"/>
            </a:endParaRPr>
          </a:p>
        </p:txBody>
      </p:sp>
      <p:sp>
        <p:nvSpPr>
          <p:cNvPr id="2" name="Etiqueta sección"/>
          <p:cNvSpPr/>
          <p:nvPr/>
        </p:nvSpPr>
        <p:spPr>
          <a:xfrm>
            <a:off x="10036633" y="201168"/>
            <a:ext cx="1880742"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E · PRESENTACIÓN</a:t>
            </a:r>
            <a:endParaRPr lang="es-AR" sz="1300" dirty="0">
              <a:latin typeface="Bahnschrift SemiBold Condensed"/>
            </a:endParaRPr>
          </a:p>
        </p:txBody>
      </p:sp>
      <p:sp>
        <p:nvSpPr>
          <p:cNvPr id="3" name="Título"/>
          <p:cNvSpPr/>
          <p:nvPr/>
        </p:nvSpPr>
        <p:spPr>
          <a:xfrm>
            <a:off x="274320" y="146304"/>
            <a:ext cx="870864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E · DEPORTISTA CON ÁCIDO ÚRICO TRANSITORIAMENTE ALTO</a:t>
            </a:r>
            <a:endParaRPr lang="es-AR" sz="260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209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1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11201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Consumo de ATP ↑ → ADP/AMP ↑</a:t>
            </a:r>
            <a:endParaRPr lang="es-AR" sz="1350" dirty="0">
              <a:latin typeface="Bahnschrift"/>
            </a:endParaRPr>
          </a:p>
        </p:txBody>
      </p:sp>
      <p:sp>
        <p:nvSpPr>
          <p:cNvPr id="14" name="Flecha 13_2"/>
          <p:cNvSpPr/>
          <p:nvPr/>
        </p:nvSpPr>
        <p:spPr>
          <a:xfrm>
            <a:off x="3246120" y="215341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308860"/>
            <a:ext cx="5760720" cy="11201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AMPD1: AMP → IMP</a:t>
            </a:r>
            <a:endParaRPr lang="es-AR" sz="1350" dirty="0">
              <a:latin typeface="Bahnschrift"/>
            </a:endParaRPr>
          </a:p>
        </p:txBody>
      </p:sp>
      <p:sp>
        <p:nvSpPr>
          <p:cNvPr id="16" name="Flecha 16_2"/>
          <p:cNvSpPr/>
          <p:nvPr/>
        </p:nvSpPr>
        <p:spPr>
          <a:xfrm>
            <a:off x="3246120" y="345643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611880"/>
            <a:ext cx="5760720" cy="11201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IMP → hipoxantina → urato</a:t>
            </a:r>
            <a:endParaRPr lang="es-AR" sz="1350" dirty="0">
              <a:latin typeface="Bahnschrift"/>
            </a:endParaRPr>
          </a:p>
        </p:txBody>
      </p:sp>
      <p:sp>
        <p:nvSpPr>
          <p:cNvPr id="18" name="Flecha 19_2"/>
          <p:cNvSpPr/>
          <p:nvPr/>
        </p:nvSpPr>
        <p:spPr>
          <a:xfrm>
            <a:off x="3246120" y="4759452"/>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914900"/>
            <a:ext cx="5760720" cy="11201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Lactato y deshidratación ↓ excreción renal</a:t>
            </a:r>
            <a:endParaRPr lang="es-AR" sz="1350" dirty="0">
              <a:latin typeface="Bahnschrift"/>
            </a:endParaRPr>
          </a:p>
        </p:txBody>
      </p:sp>
      <p:grpSp>
        <p:nvGrpSpPr>
          <p:cNvPr id="20" name="Recuadro Respuesta hormonal"/>
          <p:cNvGrpSpPr/>
          <p:nvPr/>
        </p:nvGrpSpPr>
        <p:grpSpPr>
          <a:xfrm>
            <a:off x="6400800" y="1005840"/>
            <a:ext cx="5394960" cy="2194560"/>
            <a:chOff x="6400800" y="1005840"/>
            <a:chExt cx="5394960" cy="2194560"/>
          </a:xfrm>
        </p:grpSpPr>
        <p:sp>
          <p:nvSpPr>
            <p:cNvPr id="21" name="Forma 23"/>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Catecolaminas</a:t>
              </a:r>
              <a:r>
                <a:rPr lang="es-AR" sz="1650" dirty="0">
                  <a:solidFill>
                    <a:srgbClr val="1E1E1E"/>
                  </a:solidFill>
                  <a:latin typeface="Bahnschrift"/>
                  <a:ea typeface="Bahnschrift"/>
                  <a:cs typeface="Bahnschrift"/>
                  <a:sym typeface="Bahnschrift"/>
                </a:rPr>
                <a:t> ↑ durante el esfuerzo.</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Señales de déficit energético (AMP, AMPK).</a:t>
              </a:r>
              <a:endParaRPr lang="es-AR" sz="1650" dirty="0">
                <a:latin typeface="Bahnschrift"/>
              </a:endParaRPr>
            </a:p>
          </p:txBody>
        </p:sp>
        <p:sp>
          <p:nvSpPr>
            <p:cNvPr id="22" name="Forma 24"/>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3" name="Recuadro Adaptaciones de los órgan"/>
          <p:cNvGrpSpPr/>
          <p:nvPr/>
        </p:nvGrpSpPr>
        <p:grpSpPr>
          <a:xfrm>
            <a:off x="6400800" y="3383280"/>
            <a:ext cx="5394960" cy="2651760"/>
            <a:chOff x="6400800" y="3383280"/>
            <a:chExt cx="5394960" cy="2651760"/>
          </a:xfrm>
        </p:grpSpPr>
        <p:sp>
          <p:nvSpPr>
            <p:cNvPr id="24" name="Forma 26"/>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Músculo</a:t>
              </a:r>
              <a:r>
                <a:rPr lang="es-AR" sz="1600" dirty="0">
                  <a:solidFill>
                    <a:srgbClr val="1E1E1E"/>
                  </a:solidFill>
                  <a:latin typeface="Bahnschrift"/>
                  <a:ea typeface="Bahnschrift"/>
                  <a:cs typeface="Bahnschrift"/>
                  <a:sym typeface="Bahnschrift"/>
                </a:rPr>
                <a:t>: adenilato cinasa y AMPD sostienen el ATP a costa del pool de adenilatos.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Riñón</a:t>
              </a:r>
              <a:r>
                <a:rPr lang="es-AR" sz="1600" dirty="0">
                  <a:solidFill>
                    <a:srgbClr val="1E1E1E"/>
                  </a:solidFill>
                  <a:latin typeface="Bahnschrift"/>
                  <a:ea typeface="Bahnschrift"/>
                  <a:cs typeface="Bahnschrift"/>
                  <a:sym typeface="Bahnschrift"/>
                </a:rPr>
                <a:t>: excreción de urato transitoriamente reducida.</a:t>
              </a:r>
              <a:endParaRPr lang="es-AR" sz="1600" dirty="0">
                <a:latin typeface="Bahnschrift"/>
              </a:endParaRPr>
            </a:p>
          </p:txBody>
        </p:sp>
        <p:sp>
          <p:nvSpPr>
            <p:cNvPr id="25" name="Forma 27"/>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71979" y="201168"/>
            <a:ext cx="1945396"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E · FISIOPATOLOGÍA</a:t>
            </a:r>
            <a:endParaRPr lang="es-AR" sz="1300" dirty="0">
              <a:latin typeface="Bahnschrift SemiBold Condensed"/>
            </a:endParaRPr>
          </a:p>
        </p:txBody>
      </p:sp>
      <p:sp>
        <p:nvSpPr>
          <p:cNvPr id="3" name="Título"/>
          <p:cNvSpPr/>
          <p:nvPr/>
        </p:nvSpPr>
        <p:spPr>
          <a:xfrm>
            <a:off x="274320" y="146304"/>
            <a:ext cx="479325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E · MECANISMO Y RESPUESTA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Lst>
  </p:timing>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músculo"/>
          <p:cNvGrpSpPr/>
          <p:nvPr/>
        </p:nvGrpSpPr>
        <p:grpSpPr>
          <a:xfrm>
            <a:off x="457200" y="1261872"/>
            <a:ext cx="1051560" cy="344912"/>
            <a:chOff x="457200" y="1261872"/>
            <a:chExt cx="1051560" cy="344912"/>
          </a:xfrm>
        </p:grpSpPr>
        <p:grpSp>
          <p:nvGrpSpPr>
            <p:cNvPr id="14" name="Fibra"/>
            <p:cNvGrpSpPr/>
            <p:nvPr/>
          </p:nvGrpSpPr>
          <p:grpSpPr>
            <a:xfrm>
              <a:off x="457200" y="1261872"/>
              <a:ext cx="1009498" cy="168250"/>
              <a:chOff x="457200" y="1261872"/>
              <a:chExt cx="1009498" cy="168250"/>
            </a:xfrm>
          </p:grpSpPr>
          <p:sp>
            <p:nvSpPr>
              <p:cNvPr id="15" name="Forma 14"/>
              <p:cNvSpPr/>
              <p:nvPr/>
            </p:nvSpPr>
            <p:spPr>
              <a:xfrm>
                <a:off x="457200" y="1261872"/>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6" name="Forma 15"/>
              <p:cNvSpPr/>
              <p:nvPr/>
            </p:nvSpPr>
            <p:spPr>
              <a:xfrm>
                <a:off x="499262" y="1261872"/>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17" name="Forma 16"/>
              <p:cNvSpPr/>
              <p:nvPr/>
            </p:nvSpPr>
            <p:spPr>
              <a:xfrm>
                <a:off x="659100"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1012424"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9" name="Forma 18"/>
              <p:cNvSpPr/>
              <p:nvPr/>
            </p:nvSpPr>
            <p:spPr>
              <a:xfrm>
                <a:off x="1315273" y="1268602"/>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0" name="Forma 19"/>
              <p:cNvSpPr/>
              <p:nvPr/>
            </p:nvSpPr>
            <p:spPr>
              <a:xfrm>
                <a:off x="1396033" y="1268602"/>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21" name="Fibra_2"/>
            <p:cNvGrpSpPr/>
            <p:nvPr/>
          </p:nvGrpSpPr>
          <p:grpSpPr>
            <a:xfrm>
              <a:off x="499262" y="1438534"/>
              <a:ext cx="1009498" cy="168250"/>
              <a:chOff x="499262" y="1438534"/>
              <a:chExt cx="1009498" cy="168250"/>
            </a:xfrm>
          </p:grpSpPr>
          <p:sp>
            <p:nvSpPr>
              <p:cNvPr id="22" name="Forma 21"/>
              <p:cNvSpPr/>
              <p:nvPr/>
            </p:nvSpPr>
            <p:spPr>
              <a:xfrm>
                <a:off x="499262" y="1438534"/>
                <a:ext cx="1009498" cy="16825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23" name="Forma 22"/>
              <p:cNvSpPr/>
              <p:nvPr/>
            </p:nvSpPr>
            <p:spPr>
              <a:xfrm>
                <a:off x="541325" y="1438534"/>
                <a:ext cx="925373" cy="168250"/>
              </a:xfrm>
              <a:custGeom>
                <a:avLst/>
                <a:gdLst/>
                <a:ahLst/>
                <a:cxnLst/>
                <a:rect l="0" t="0" r="r" b="b"/>
                <a:pathLst>
                  <a:path w="1000" h="1000" fill="none">
                    <a:moveTo>
                      <a:pt x="41" y="80"/>
                    </a:moveTo>
                    <a:lnTo>
                      <a:pt x="41" y="920"/>
                    </a:lnTo>
                  </a:path>
                  <a:path w="1000" h="1000" fill="none">
                    <a:moveTo>
                      <a:pt x="125" y="80"/>
                    </a:moveTo>
                    <a:lnTo>
                      <a:pt x="125" y="920"/>
                    </a:lnTo>
                  </a:path>
                  <a:path w="1000" h="1000" fill="none">
                    <a:moveTo>
                      <a:pt x="208" y="80"/>
                    </a:moveTo>
                    <a:lnTo>
                      <a:pt x="208" y="920"/>
                    </a:lnTo>
                  </a:path>
                  <a:path w="1000" h="1000" fill="none">
                    <a:moveTo>
                      <a:pt x="291" y="80"/>
                    </a:moveTo>
                    <a:lnTo>
                      <a:pt x="291" y="920"/>
                    </a:lnTo>
                  </a:path>
                  <a:path w="1000" h="1000" fill="none">
                    <a:moveTo>
                      <a:pt x="375" y="80"/>
                    </a:moveTo>
                    <a:lnTo>
                      <a:pt x="375" y="920"/>
                    </a:lnTo>
                  </a:path>
                  <a:path w="1000" h="1000" fill="none">
                    <a:moveTo>
                      <a:pt x="458" y="80"/>
                    </a:moveTo>
                    <a:lnTo>
                      <a:pt x="458" y="920"/>
                    </a:lnTo>
                  </a:path>
                  <a:path w="1000" h="1000" fill="none">
                    <a:moveTo>
                      <a:pt x="541" y="80"/>
                    </a:moveTo>
                    <a:lnTo>
                      <a:pt x="541" y="920"/>
                    </a:lnTo>
                  </a:path>
                  <a:path w="1000" h="1000" fill="none">
                    <a:moveTo>
                      <a:pt x="625" y="80"/>
                    </a:moveTo>
                    <a:lnTo>
                      <a:pt x="625" y="920"/>
                    </a:lnTo>
                  </a:path>
                  <a:path w="1000" h="1000" fill="none">
                    <a:moveTo>
                      <a:pt x="708" y="80"/>
                    </a:moveTo>
                    <a:lnTo>
                      <a:pt x="708" y="920"/>
                    </a:lnTo>
                  </a:path>
                  <a:path w="1000" h="1000" fill="none">
                    <a:moveTo>
                      <a:pt x="791" y="80"/>
                    </a:moveTo>
                    <a:lnTo>
                      <a:pt x="791" y="920"/>
                    </a:lnTo>
                  </a:path>
                  <a:path w="1000" h="1000" fill="none">
                    <a:moveTo>
                      <a:pt x="875" y="80"/>
                    </a:moveTo>
                    <a:lnTo>
                      <a:pt x="875" y="920"/>
                    </a:lnTo>
                  </a:path>
                  <a:path w="1000" h="1000" fill="none">
                    <a:moveTo>
                      <a:pt x="958" y="80"/>
                    </a:moveTo>
                    <a:lnTo>
                      <a:pt x="958" y="920"/>
                    </a:lnTo>
                  </a:path>
                </a:pathLst>
              </a:custGeom>
              <a:noFill/>
              <a:ln w="12700" cap="rnd">
                <a:solidFill>
                  <a:srgbClr val="822E27"/>
                </a:solidFill>
                <a:round/>
              </a:ln>
            </p:spPr>
          </p:sp>
          <p:sp>
            <p:nvSpPr>
              <p:cNvPr id="24" name="Forma 23"/>
              <p:cNvSpPr/>
              <p:nvPr/>
            </p:nvSpPr>
            <p:spPr>
              <a:xfrm>
                <a:off x="701162"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5" name="Forma 24"/>
              <p:cNvSpPr/>
              <p:nvPr/>
            </p:nvSpPr>
            <p:spPr>
              <a:xfrm>
                <a:off x="1054486"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6" name="Forma 25"/>
              <p:cNvSpPr/>
              <p:nvPr/>
            </p:nvSpPr>
            <p:spPr>
              <a:xfrm>
                <a:off x="1357335" y="1445264"/>
                <a:ext cx="84125" cy="3028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27" name="Forma 26"/>
              <p:cNvSpPr/>
              <p:nvPr/>
            </p:nvSpPr>
            <p:spPr>
              <a:xfrm>
                <a:off x="1438095" y="1445264"/>
                <a:ext cx="67300" cy="154790"/>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grpSp>
        <p:nvGrpSpPr>
          <p:cNvPr id="28" name="Ícono riñón"/>
          <p:cNvGrpSpPr/>
          <p:nvPr/>
        </p:nvGrpSpPr>
        <p:grpSpPr>
          <a:xfrm>
            <a:off x="1856232" y="1051560"/>
            <a:ext cx="630936" cy="883310"/>
            <a:chOff x="1856232" y="1051560"/>
            <a:chExt cx="630936" cy="883310"/>
          </a:xfrm>
        </p:grpSpPr>
        <p:sp>
          <p:nvSpPr>
            <p:cNvPr id="29" name="Forma 28"/>
            <p:cNvSpPr/>
            <p:nvPr/>
          </p:nvSpPr>
          <p:spPr>
            <a:xfrm>
              <a:off x="1856232" y="1051560"/>
              <a:ext cx="630936" cy="883310"/>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30" name="Forma 29"/>
            <p:cNvSpPr/>
            <p:nvPr/>
          </p:nvSpPr>
          <p:spPr>
            <a:xfrm>
              <a:off x="1856232" y="1051560"/>
              <a:ext cx="630936" cy="883310"/>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31" name="Forma 30"/>
            <p:cNvSpPr/>
            <p:nvPr/>
          </p:nvSpPr>
          <p:spPr>
            <a:xfrm>
              <a:off x="1856232" y="1051560"/>
              <a:ext cx="630936" cy="883310"/>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32" name="Forma 31"/>
            <p:cNvSpPr/>
            <p:nvPr/>
          </p:nvSpPr>
          <p:spPr>
            <a:xfrm>
              <a:off x="1856232" y="1051560"/>
              <a:ext cx="630936" cy="883310"/>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grpSp>
        <p:nvGrpSpPr>
          <p:cNvPr id="33" name="Recuadro Consecuencias clínicas"/>
          <p:cNvGrpSpPr/>
          <p:nvPr/>
        </p:nvGrpSpPr>
        <p:grpSpPr>
          <a:xfrm>
            <a:off x="365760" y="2286000"/>
            <a:ext cx="5577840" cy="3749040"/>
            <a:chOff x="365760" y="2286000"/>
            <a:chExt cx="5577840" cy="3749040"/>
          </a:xfrm>
        </p:grpSpPr>
        <p:sp>
          <p:nvSpPr>
            <p:cNvPr id="34" name="Forma 33"/>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Hiperuricemia transitoria</a:t>
              </a:r>
              <a:r>
                <a:rPr lang="es-AR" sz="1650" dirty="0">
                  <a:solidFill>
                    <a:srgbClr val="1E1E1E"/>
                  </a:solidFill>
                  <a:latin typeface="Bahnschrift"/>
                  <a:ea typeface="Bahnschrift"/>
                  <a:cs typeface="Bahnschrift"/>
                  <a:sym typeface="Bahnschrift"/>
                </a:rPr>
                <a:t>; habitualmente sin síntomas.</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No equivale necesariamente a </a:t>
              </a:r>
              <a:r>
                <a:rPr lang="es-AR" sz="1650" b="1" dirty="0">
                  <a:solidFill>
                    <a:srgbClr val="1E1E1E"/>
                  </a:solidFill>
                  <a:latin typeface="Bahnschrift"/>
                  <a:ea typeface="Bahnschrift"/>
                  <a:cs typeface="Bahnschrift"/>
                  <a:sym typeface="Bahnschrift"/>
                </a:rPr>
                <a:t>gota</a:t>
              </a:r>
              <a:r>
                <a:rPr lang="es-AR" sz="1650" dirty="0">
                  <a:solidFill>
                    <a:srgbClr val="1E1E1E"/>
                  </a:solidFill>
                  <a:latin typeface="Bahnschrift"/>
                  <a:ea typeface="Bahnschrift"/>
                  <a:cs typeface="Bahnschrift"/>
                  <a:sym typeface="Bahnschrift"/>
                </a:rPr>
                <a:t> crónica.</a:t>
              </a:r>
              <a:endParaRPr lang="es-AR" sz="1650" dirty="0">
                <a:latin typeface="Bahnschrift"/>
              </a:endParaRPr>
            </a:p>
          </p:txBody>
        </p:sp>
        <p:sp>
          <p:nvSpPr>
            <p:cNvPr id="35" name="Forma 34"/>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36" name="Recuadro Resolución fisiopatológic"/>
          <p:cNvGrpSpPr/>
          <p:nvPr/>
        </p:nvGrpSpPr>
        <p:grpSpPr>
          <a:xfrm>
            <a:off x="6217920" y="1005840"/>
            <a:ext cx="5577840" cy="3291840"/>
            <a:chOff x="6217920" y="1005840"/>
            <a:chExt cx="5577840" cy="3291840"/>
          </a:xfrm>
        </p:grpSpPr>
        <p:sp>
          <p:nvSpPr>
            <p:cNvPr id="37" name="Forma 36"/>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Evaluar </a:t>
              </a:r>
              <a:r>
                <a:rPr lang="es-AR" sz="1650" b="1" dirty="0">
                  <a:solidFill>
                    <a:srgbClr val="1E1E1E"/>
                  </a:solidFill>
                  <a:latin typeface="Bahnschrift"/>
                  <a:ea typeface="Bahnschrift"/>
                  <a:cs typeface="Bahnschrift"/>
                  <a:sym typeface="Bahnschrift"/>
                </a:rPr>
                <a:t>tiempo</a:t>
              </a:r>
              <a:r>
                <a:rPr lang="es-AR" sz="1650" dirty="0">
                  <a:solidFill>
                    <a:srgbClr val="1E1E1E"/>
                  </a:solidFill>
                  <a:latin typeface="Bahnschrift"/>
                  <a:ea typeface="Bahnschrift"/>
                  <a:cs typeface="Bahnschrift"/>
                  <a:sym typeface="Bahnschrift"/>
                </a:rPr>
                <a:t> desde el esfuerzo, </a:t>
              </a:r>
              <a:r>
                <a:rPr lang="es-AR" sz="1650" b="1" dirty="0">
                  <a:solidFill>
                    <a:srgbClr val="1E1E1E"/>
                  </a:solidFill>
                  <a:latin typeface="Bahnschrift"/>
                  <a:ea typeface="Bahnschrift"/>
                  <a:cs typeface="Bahnschrift"/>
                  <a:sym typeface="Bahnschrift"/>
                </a:rPr>
                <a:t>volumen</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función renal</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fármacos</a:t>
              </a:r>
              <a:r>
                <a:rPr lang="es-AR" sz="1650" dirty="0">
                  <a:solidFill>
                    <a:srgbClr val="1E1E1E"/>
                  </a:solidFill>
                  <a:latin typeface="Bahnschrift"/>
                  <a:ea typeface="Bahnschrift"/>
                  <a:cs typeface="Bahnschrift"/>
                  <a:sym typeface="Bahnschrift"/>
                </a:rPr>
                <a:t> y </a:t>
              </a:r>
              <a:r>
                <a:rPr lang="es-AR" sz="1650" b="1" dirty="0">
                  <a:solidFill>
                    <a:srgbClr val="1E1E1E"/>
                  </a:solidFill>
                  <a:latin typeface="Bahnschrift"/>
                  <a:ea typeface="Bahnschrift"/>
                  <a:cs typeface="Bahnschrift"/>
                  <a:sym typeface="Bahnschrift"/>
                </a:rPr>
                <a:t>síntomas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8" name="Forma 37"/>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39"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Integra ejercicio, nucleótidos y ácido úrico: no rotular como enfermedad sin contexto.</a:t>
            </a:r>
            <a:endParaRPr lang="es-AR" sz="1600" dirty="0">
              <a:latin typeface="Bahnschrift"/>
            </a:endParaRPr>
          </a:p>
        </p:txBody>
      </p:sp>
      <p:sp>
        <p:nvSpPr>
          <p:cNvPr id="2" name="Etiqueta sección"/>
          <p:cNvSpPr/>
          <p:nvPr/>
        </p:nvSpPr>
        <p:spPr>
          <a:xfrm>
            <a:off x="10204457" y="201168"/>
            <a:ext cx="171291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E · RESOLUCIÓN</a:t>
            </a:r>
            <a:endParaRPr lang="es-AR" sz="1300" dirty="0">
              <a:latin typeface="Bahnschrift SemiBold Condensed"/>
            </a:endParaRPr>
          </a:p>
        </p:txBody>
      </p:sp>
      <p:sp>
        <p:nvSpPr>
          <p:cNvPr id="3" name="Título"/>
          <p:cNvSpPr/>
          <p:nvPr/>
        </p:nvSpPr>
        <p:spPr>
          <a:xfrm>
            <a:off x="274320" y="146304"/>
            <a:ext cx="551121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E · CONSECUENCIAS Y RESOLUCIÓN</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33"/>
                                        </p:tgtEl>
                                        <p:attrNameLst>
                                          <p:attrName>style.visibility</p:attrName>
                                        </p:attrNameLst>
                                      </p:cBhvr>
                                      <p:to>
                                        <p:strVal val="visible"/>
                                      </p:to>
                                    </p:set>
                                    <p:animEffect transition="in" filter="fade">
                                      <p:cBhvr>
                                        <p:cTn id="5" dur="500"/>
                                        <p:tgtEl>
                                          <p:spTgt spid="3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Paciente"/>
          <p:cNvGrpSpPr/>
          <p:nvPr/>
        </p:nvGrpSpPr>
        <p:grpSpPr>
          <a:xfrm>
            <a:off x="365760" y="1005840"/>
            <a:ext cx="3840480" cy="5029200"/>
            <a:chOff x="365760" y="1005840"/>
            <a:chExt cx="3840480" cy="5029200"/>
          </a:xfrm>
        </p:grpSpPr>
        <p:sp>
          <p:nvSpPr>
            <p:cNvPr id="14" name="Forma 13"/>
            <p:cNvSpPr/>
            <p:nvPr/>
          </p:nvSpPr>
          <p:spPr>
            <a:xfrm>
              <a:off x="365760" y="1005840"/>
              <a:ext cx="3840480" cy="50292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grpSp>
          <p:nvGrpSpPr>
            <p:cNvPr id="15" name="Silueta"/>
            <p:cNvGrpSpPr/>
            <p:nvPr/>
          </p:nvGrpSpPr>
          <p:grpSpPr>
            <a:xfrm>
              <a:off x="1188720" y="1188720"/>
              <a:ext cx="1901952" cy="2377440"/>
              <a:chOff x="1188720" y="1188720"/>
              <a:chExt cx="1901952" cy="2377440"/>
            </a:xfrm>
          </p:grpSpPr>
          <p:sp>
            <p:nvSpPr>
              <p:cNvPr id="16" name="Forma 15"/>
              <p:cNvSpPr/>
              <p:nvPr/>
            </p:nvSpPr>
            <p:spPr>
              <a:xfrm>
                <a:off x="1759306" y="1188720"/>
                <a:ext cx="760781" cy="760781"/>
              </a:xfrm>
              <a:prstGeom prst="ellipse">
                <a:avLst/>
              </a:pr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sp>
            <p:nvSpPr>
              <p:cNvPr id="17" name="Forma 16"/>
              <p:cNvSpPr/>
              <p:nvPr/>
            </p:nvSpPr>
            <p:spPr>
              <a:xfrm>
                <a:off x="1188720" y="1987540"/>
                <a:ext cx="1901952" cy="1578620"/>
              </a:xfrm>
              <a:custGeom>
                <a:avLst/>
                <a:gdLst/>
                <a:ahLst/>
                <a:cxnLst/>
                <a:rect l="0" t="0" r="r" b="b"/>
                <a:pathLst>
                  <a:path w="1000" h="1000">
                    <a:moveTo>
                      <a:pt x="60" y="1000"/>
                    </a:moveTo>
                    <a:cubicBezTo>
                      <a:pt x="60" y="908"/>
                      <a:pt x="36" y="596"/>
                      <a:pt x="60" y="450"/>
                    </a:cubicBezTo>
                    <a:cubicBezTo>
                      <a:pt x="83" y="303"/>
                      <a:pt x="126" y="188"/>
                      <a:pt x="200" y="120"/>
                    </a:cubicBezTo>
                    <a:cubicBezTo>
                      <a:pt x="273" y="51"/>
                      <a:pt x="400" y="40"/>
                      <a:pt x="500" y="40"/>
                    </a:cubicBezTo>
                    <a:cubicBezTo>
                      <a:pt x="600" y="40"/>
                      <a:pt x="726" y="51"/>
                      <a:pt x="800" y="120"/>
                    </a:cubicBezTo>
                    <a:cubicBezTo>
                      <a:pt x="873" y="188"/>
                      <a:pt x="916" y="303"/>
                      <a:pt x="940" y="450"/>
                    </a:cubicBezTo>
                    <a:cubicBezTo>
                      <a:pt x="963" y="596"/>
                      <a:pt x="940" y="908"/>
                      <a:pt x="940" y="1000"/>
                    </a:cubicBezTo>
                  </a:path>
                </a:pathLst>
              </a:custGeom>
              <a:gradFill rotWithShape="1">
                <a:gsLst>
                  <a:gs pos="0">
                    <a:srgbClr val="CED3D8"/>
                  </a:gs>
                  <a:gs pos="55000">
                    <a:srgbClr val="AEB6BF"/>
                  </a:gs>
                  <a:gs pos="100000">
                    <a:srgbClr val="8B9198"/>
                  </a:gs>
                </a:gsLst>
                <a:path path="circle">
                  <a:fillToRect l="32000" t="28000" r="68000" b="72000"/>
                </a:path>
              </a:gradFill>
              <a:ln w="19050" cap="rnd">
                <a:solidFill>
                  <a:srgbClr val="5D6D7E"/>
                </a:solidFill>
                <a:round/>
              </a:ln>
            </p:spPr>
          </p:sp>
        </p:grpSp>
        <p:sp>
          <p:nvSpPr>
            <p:cNvPr id="18" name="Forma 17"/>
            <p:cNvSpPr txBox="1"/>
            <p:nvPr/>
          </p:nvSpPr>
          <p:spPr>
            <a:xfrm>
              <a:off x="502920" y="3611880"/>
              <a:ext cx="3566160" cy="2331720"/>
            </a:xfrm>
            <a:prstGeom prst="rect">
              <a:avLst/>
            </a:prstGeom>
            <a:noFill/>
            <a:ln>
              <a:noFill/>
            </a:ln>
          </p:spPr>
          <p:txBody>
            <a:bodyPr wrap="square" lIns="0" tIns="0" rIns="0" bIns="0" anchor="t" rtlCol="0">
              <a:noAutofit/>
            </a:bodyPr>
            <a:lstStyle/>
            <a:p>
              <a:pPr algn="l">
                <a:spcAft>
                  <a:spcPts val="300"/>
                </a:spcAft>
                <a:buNone/>
              </a:pPr>
              <a:r>
                <a:rPr lang="es-AR" sz="1450" dirty="0">
                  <a:solidFill>
                    <a:srgbClr val="1E1E1E"/>
                  </a:solidFill>
                  <a:latin typeface="Bahnschrift"/>
                  <a:ea typeface="Bahnschrift"/>
                  <a:cs typeface="Bahnschrift"/>
                  <a:sym typeface="Bahnschrift"/>
                </a:rPr>
                <a:t>Adulto que consulta por dolor abdominal intenso; el suero se observa lechoso y los TG están extremadamente elevados.</a:t>
              </a:r>
              <a:endParaRPr lang="es-AR" sz="1450" dirty="0">
                <a:latin typeface="Bahnschrift"/>
              </a:endParaRPr>
            </a:p>
          </p:txBody>
        </p:sp>
      </p:grpSp>
      <p:graphicFrame>
        <p:nvGraphicFramePr>
          <p:cNvPr id="19" name="Datos del caso"/>
          <p:cNvGraphicFramePr>
            <a:graphicFrameLocks noGrp="1"/>
          </p:cNvGraphicFramePr>
          <p:nvPr/>
        </p:nvGraphicFramePr>
        <p:xfrm>
          <a:off x="4480560" y="1005840"/>
          <a:ext cx="7315200" cy="2286000"/>
        </p:xfrm>
        <a:graphic>
          <a:graphicData uri="http://schemas.openxmlformats.org/drawingml/2006/table">
            <a:tbl>
              <a:tblPr firstRow="1" bandRow="1"/>
              <a:tblGrid>
                <a:gridCol w="3291840"/>
                <a:gridCol w="4023360"/>
              </a:tblGrid>
              <a:tr h="457200">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Dato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Hallazgo</a:t>
                      </a:r>
                      <a:endParaRPr lang="es-AR" sz="150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Síntoma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Dolor abdominal</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Aspecto del suero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Lechoso</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Triglicéridos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450" b="1" dirty="0">
                          <a:solidFill>
                            <a:srgbClr val="1E1E1E"/>
                          </a:solidFill>
                          <a:latin typeface="Bahnschrift"/>
                          <a:ea typeface="Bahnschrift"/>
                          <a:cs typeface="Bahnschrift"/>
                          <a:sym typeface="Bahnschrift"/>
                        </a:rPr>
                        <a:t>Extremadamente altos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457200">
                <a:tc>
                  <a:txBody>
                    <a:bodyPr/>
                    <a:lstStyle/>
                    <a:p>
                      <a:pPr algn="l">
                        <a:spcAft>
                          <a:spcPts val="100"/>
                        </a:spcAft>
                        <a:buNone/>
                      </a:pPr>
                      <a:r>
                        <a:rPr lang="es-AR" sz="1450" b="1" dirty="0">
                          <a:solidFill>
                            <a:srgbClr val="1E1E1E"/>
                          </a:solidFill>
                          <a:latin typeface="Bahnschrift"/>
                          <a:ea typeface="Bahnschrift"/>
                          <a:cs typeface="Bahnschrift"/>
                          <a:sym typeface="Bahnschrift"/>
                        </a:rPr>
                        <a:t>Sospecha</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450" dirty="0">
                          <a:solidFill>
                            <a:srgbClr val="1E1E1E"/>
                          </a:solidFill>
                          <a:latin typeface="Bahnschrift"/>
                          <a:ea typeface="Bahnschrift"/>
                          <a:cs typeface="Bahnschrift"/>
                          <a:sym typeface="Bahnschrift"/>
                        </a:rPr>
                        <a:t>Pancreatitis</a:t>
                      </a:r>
                      <a:endParaRPr lang="es-AR" sz="145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0" name="Pregunta"/>
          <p:cNvSpPr/>
          <p:nvPr/>
        </p:nvSpPr>
        <p:spPr>
          <a:xfrm>
            <a:off x="4480560" y="3474720"/>
            <a:ext cx="7315200" cy="54864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73152" tIns="45720" rIns="73152" bIns="45720" anchor="ctr" rtlCol="0">
            <a:noAutofit/>
          </a:bodyPr>
          <a:lstStyle/>
          <a:p>
            <a:pPr algn="ctr">
              <a:spcAft>
                <a:spcPts val="300"/>
              </a:spcAft>
              <a:buNone/>
            </a:pPr>
            <a:r>
              <a:rPr lang="es-AR" sz="1600" b="1" dirty="0">
                <a:solidFill>
                  <a:srgbClr val="1E1E1E"/>
                </a:solidFill>
                <a:latin typeface="Bahnschrift SemiBold Condensed"/>
                <a:ea typeface="Bahnschrift SemiBold Condensed"/>
                <a:cs typeface="Bahnschrift SemiBold Condensed"/>
                <a:sym typeface="Bahnschrift SemiBold Condensed"/>
              </a:rPr>
              <a:t>¿Cuál es el problema fisiológico?</a:t>
            </a:r>
            <a:endParaRPr lang="es-AR" sz="1600" dirty="0">
              <a:latin typeface="Bahnschrift SemiBold Condensed"/>
            </a:endParaRPr>
          </a:p>
        </p:txBody>
      </p:sp>
      <p:sp>
        <p:nvSpPr>
          <p:cNvPr id="21" name="Problema"/>
          <p:cNvSpPr/>
          <p:nvPr/>
        </p:nvSpPr>
        <p:spPr>
          <a:xfrm>
            <a:off x="4480560" y="4160520"/>
            <a:ext cx="7315200" cy="18745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700" dirty="0">
                <a:solidFill>
                  <a:srgbClr val="1E1E1E"/>
                </a:solidFill>
                <a:latin typeface="Bahnschrift"/>
                <a:ea typeface="Bahnschrift"/>
                <a:cs typeface="Bahnschrift"/>
                <a:sym typeface="Bahnschrift"/>
              </a:rPr>
              <a:t>Hipótesis: </a:t>
            </a:r>
            <a:r>
              <a:rPr lang="es-AR" sz="1700" b="1" dirty="0">
                <a:solidFill>
                  <a:srgbClr val="1E1E1E"/>
                </a:solidFill>
                <a:latin typeface="Bahnschrift"/>
                <a:ea typeface="Bahnschrift"/>
                <a:cs typeface="Bahnschrift"/>
                <a:sym typeface="Bahnschrift"/>
              </a:rPr>
              <a:t>hiperquilomicronemia</a:t>
            </a:r>
            <a:r>
              <a:rPr lang="es-AR" sz="1700" dirty="0">
                <a:solidFill>
                  <a:srgbClr val="1E1E1E"/>
                </a:solidFill>
                <a:latin typeface="Bahnschrift"/>
                <a:ea typeface="Bahnschrift"/>
                <a:cs typeface="Bahnschrift"/>
                <a:sym typeface="Bahnschrift"/>
              </a:rPr>
              <a:t> con posible </a:t>
            </a:r>
            <a:r>
              <a:rPr lang="es-AR" sz="1700" b="1" dirty="0">
                <a:solidFill>
                  <a:srgbClr val="1E1E1E"/>
                </a:solidFill>
                <a:latin typeface="Bahnschrift"/>
                <a:ea typeface="Bahnschrift"/>
                <a:cs typeface="Bahnschrift"/>
                <a:sym typeface="Bahnschrift"/>
              </a:rPr>
              <a:t>pancreatitis</a:t>
            </a:r>
            <a:r>
              <a:rPr lang="es-AR" sz="1700" dirty="0">
                <a:solidFill>
                  <a:srgbClr val="1E1E1E"/>
                </a:solidFill>
                <a:latin typeface="Bahnschrift"/>
                <a:ea typeface="Bahnschrift"/>
                <a:cs typeface="Bahnschrift"/>
                <a:sym typeface="Bahnschrift"/>
              </a:rPr>
              <a:t>: exceso de QM/VLDL por </a:t>
            </a:r>
            <a:r>
              <a:rPr lang="es-AR" sz="1700" b="1" dirty="0">
                <a:solidFill>
                  <a:srgbClr val="1E1E1E"/>
                </a:solidFill>
                <a:latin typeface="Bahnschrift"/>
                <a:ea typeface="Bahnschrift"/>
                <a:cs typeface="Bahnschrift"/>
                <a:sym typeface="Bahnschrift"/>
              </a:rPr>
              <a:t>producción</a:t>
            </a:r>
            <a:r>
              <a:rPr lang="es-AR" sz="1700" dirty="0">
                <a:solidFill>
                  <a:srgbClr val="1E1E1E"/>
                </a:solidFill>
                <a:latin typeface="Bahnschrift"/>
                <a:ea typeface="Bahnschrift"/>
                <a:cs typeface="Bahnschrift"/>
                <a:sym typeface="Bahnschrift"/>
              </a:rPr>
              <a:t> aumentada y/o </a:t>
            </a:r>
            <a:r>
              <a:rPr lang="es-AR" sz="1700" b="1" dirty="0">
                <a:solidFill>
                  <a:srgbClr val="1E1E1E"/>
                </a:solidFill>
                <a:latin typeface="Bahnschrift"/>
                <a:ea typeface="Bahnschrift"/>
                <a:cs typeface="Bahnschrift"/>
                <a:sym typeface="Bahnschrift"/>
              </a:rPr>
              <a:t>aclaramiento</a:t>
            </a:r>
            <a:r>
              <a:rPr lang="es-AR" sz="1700" dirty="0">
                <a:solidFill>
                  <a:srgbClr val="1E1E1E"/>
                </a:solidFill>
                <a:latin typeface="Bahnschrift"/>
                <a:ea typeface="Bahnschrift"/>
                <a:cs typeface="Bahnschrift"/>
                <a:sym typeface="Bahnschrift"/>
              </a:rPr>
              <a:t> insuficiente.</a:t>
            </a:r>
            <a:endParaRPr lang="es-AR" sz="1700" dirty="0">
              <a:latin typeface="Bahnschrift"/>
            </a:endParaRPr>
          </a:p>
        </p:txBody>
      </p:sp>
      <p:sp>
        <p:nvSpPr>
          <p:cNvPr id="2" name="Etiqueta sección"/>
          <p:cNvSpPr/>
          <p:nvPr/>
        </p:nvSpPr>
        <p:spPr>
          <a:xfrm>
            <a:off x="10039096" y="201168"/>
            <a:ext cx="1878279"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F · PRESENTACIÓN</a:t>
            </a:r>
            <a:endParaRPr lang="es-AR" sz="1300" dirty="0">
              <a:latin typeface="Bahnschrift SemiBold Condensed"/>
            </a:endParaRPr>
          </a:p>
        </p:txBody>
      </p:sp>
      <p:sp>
        <p:nvSpPr>
          <p:cNvPr id="3" name="Título"/>
          <p:cNvSpPr/>
          <p:nvPr/>
        </p:nvSpPr>
        <p:spPr>
          <a:xfrm>
            <a:off x="274320" y="146304"/>
            <a:ext cx="9299047"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550" b="1" dirty="0">
                <a:solidFill>
                  <a:srgbClr val="1E1E1E"/>
                </a:solidFill>
                <a:latin typeface="Bahnschrift SemiBold Condensed"/>
                <a:ea typeface="Bahnschrift SemiBold Condensed"/>
                <a:cs typeface="Bahnschrift SemiBold Condensed"/>
                <a:sym typeface="Bahnschrift SemiBold Condensed"/>
              </a:rPr>
              <a:t>CASO F · TRIGLICÉRIDOS EXTREMADAMENTE ALTOS Y DOLOR ABDOMINAL</a:t>
            </a:r>
            <a:endParaRPr lang="es-AR" sz="2550" dirty="0">
              <a:latin typeface="Bahnschrift SemiBold Condensed"/>
            </a:endParaRPr>
          </a:p>
        </p:txBody>
      </p:sp>
      <p:sp>
        <p:nvSpPr>
          <p:cNvPr id="22"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9" fill="hold">
                      <p:stCondLst>
                        <p:cond delay="indefinite"/>
                      </p:stCondLst>
                      <p:childTnLst>
                        <p:par>
                          <p:cTn id="18"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childTnLst>
                          </p:cTn>
                        </p:par>
                      </p:childTnLst>
                    </p:cTn>
                  </p:par>
                  <p:par>
                    <p:cTn id="24" fill="hold">
                      <p:stCondLst>
                        <p:cond delay="indefinite"/>
                      </p:stCondLst>
                      <p:childTnLst>
                        <p:par>
                          <p:cTn id="23"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1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sp>
        <p:nvSpPr>
          <p:cNvPr id="13" name="Forma 12"/>
          <p:cNvSpPr/>
          <p:nvPr/>
        </p:nvSpPr>
        <p:spPr>
          <a:xfrm>
            <a:off x="365760" y="1005840"/>
            <a:ext cx="5760720" cy="112014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Producción ↑ y/o depuración ↓ de QM/VLDL</a:t>
            </a:r>
            <a:endParaRPr lang="es-AR" sz="1350" dirty="0">
              <a:latin typeface="Bahnschrift"/>
            </a:endParaRPr>
          </a:p>
        </p:txBody>
      </p:sp>
      <p:sp>
        <p:nvSpPr>
          <p:cNvPr id="14" name="Flecha 13_2"/>
          <p:cNvSpPr/>
          <p:nvPr/>
        </p:nvSpPr>
        <p:spPr>
          <a:xfrm>
            <a:off x="3246120" y="215341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5" name="Forma 15"/>
          <p:cNvSpPr/>
          <p:nvPr/>
        </p:nvSpPr>
        <p:spPr>
          <a:xfrm>
            <a:off x="365760" y="2308860"/>
            <a:ext cx="5760720" cy="112014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TAG plasmáticos extremos</a:t>
            </a:r>
            <a:endParaRPr lang="es-AR" sz="1350" dirty="0">
              <a:latin typeface="Bahnschrift"/>
            </a:endParaRPr>
          </a:p>
        </p:txBody>
      </p:sp>
      <p:sp>
        <p:nvSpPr>
          <p:cNvPr id="16" name="Flecha 16_2"/>
          <p:cNvSpPr/>
          <p:nvPr/>
        </p:nvSpPr>
        <p:spPr>
          <a:xfrm>
            <a:off x="3246120" y="3456432"/>
            <a:ext cx="9144" cy="128016"/>
          </a:xfrm>
          <a:custGeom>
            <a:avLst/>
            <a:gdLst/>
            <a:ahLst/>
            <a:cxnLst/>
            <a:rect l="0" t="0" r="r" b="b"/>
            <a:pathLst>
              <a:path w="10" h="140" fill="none">
                <a:moveTo>
                  <a:pt x="0" y="0"/>
                </a:moveTo>
                <a:lnTo>
                  <a:pt x="0" y="140"/>
                </a:lnTo>
              </a:path>
            </a:pathLst>
          </a:custGeom>
          <a:noFill/>
          <a:ln w="31750" cap="rnd">
            <a:solidFill>
              <a:srgbClr val="1E1E1E"/>
            </a:solidFill>
            <a:round/>
            <a:tailEnd type="triangle" w="med" len="med"/>
          </a:ln>
        </p:spPr>
      </p:sp>
      <p:sp>
        <p:nvSpPr>
          <p:cNvPr id="17" name="Forma 18"/>
          <p:cNvSpPr/>
          <p:nvPr/>
        </p:nvSpPr>
        <p:spPr>
          <a:xfrm>
            <a:off x="365760" y="3611880"/>
            <a:ext cx="5760720" cy="112014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Lipólisis local de TAG por lipasas en el páncreas</a:t>
            </a:r>
            <a:endParaRPr lang="es-AR" sz="1350" dirty="0">
              <a:latin typeface="Bahnschrift"/>
            </a:endParaRPr>
          </a:p>
        </p:txBody>
      </p:sp>
      <p:sp>
        <p:nvSpPr>
          <p:cNvPr id="18" name="Flecha 19_2"/>
          <p:cNvSpPr/>
          <p:nvPr/>
        </p:nvSpPr>
        <p:spPr>
          <a:xfrm>
            <a:off x="3246120" y="4759452"/>
            <a:ext cx="9144" cy="128016"/>
          </a:xfrm>
          <a:custGeom>
            <a:avLst/>
            <a:gdLst/>
            <a:ahLst/>
            <a:cxnLst/>
            <a:rect l="0" t="0" r="r" b="b"/>
            <a:pathLst>
              <a:path w="10" h="139" fill="none">
                <a:moveTo>
                  <a:pt x="0" y="0"/>
                </a:moveTo>
                <a:lnTo>
                  <a:pt x="0" y="139"/>
                </a:lnTo>
              </a:path>
            </a:pathLst>
          </a:custGeom>
          <a:noFill/>
          <a:ln w="31750" cap="rnd">
            <a:solidFill>
              <a:srgbClr val="1E1E1E"/>
            </a:solidFill>
            <a:round/>
            <a:tailEnd type="triangle" w="med" len="med"/>
          </a:ln>
        </p:spPr>
      </p:sp>
      <p:sp>
        <p:nvSpPr>
          <p:cNvPr id="19" name="Forma 21"/>
          <p:cNvSpPr/>
          <p:nvPr/>
        </p:nvSpPr>
        <p:spPr>
          <a:xfrm>
            <a:off x="365760" y="4914900"/>
            <a:ext cx="5760720" cy="112014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73152" tIns="27432" rIns="73152" bIns="27432" anchor="ctr" rtlCol="0">
            <a:noAutofit/>
          </a:bodyPr>
          <a:lstStyle/>
          <a:p>
            <a:pPr algn="ctr">
              <a:spcAft>
                <a:spcPts val="300"/>
              </a:spcAft>
              <a:buNone/>
            </a:pPr>
            <a:r>
              <a:rPr lang="es-AR" sz="1350" dirty="0">
                <a:solidFill>
                  <a:srgbClr val="1E1E1E"/>
                </a:solidFill>
                <a:latin typeface="Bahnschrift"/>
                <a:ea typeface="Bahnschrift"/>
                <a:cs typeface="Bahnschrift"/>
                <a:sym typeface="Bahnschrift"/>
              </a:rPr>
              <a:t>Efectos inflamatorios → lesión pancreática</a:t>
            </a:r>
            <a:endParaRPr lang="es-AR" sz="1350" dirty="0">
              <a:latin typeface="Bahnschrift"/>
            </a:endParaRPr>
          </a:p>
        </p:txBody>
      </p:sp>
      <p:grpSp>
        <p:nvGrpSpPr>
          <p:cNvPr id="20" name="Recuadro Respuesta hormonal"/>
          <p:cNvGrpSpPr/>
          <p:nvPr/>
        </p:nvGrpSpPr>
        <p:grpSpPr>
          <a:xfrm>
            <a:off x="6400800" y="1005840"/>
            <a:ext cx="5394960" cy="2194560"/>
            <a:chOff x="6400800" y="1005840"/>
            <a:chExt cx="5394960" cy="2194560"/>
          </a:xfrm>
        </p:grpSpPr>
        <p:sp>
          <p:nvSpPr>
            <p:cNvPr id="21" name="Forma 23"/>
            <p:cNvSpPr/>
            <p:nvPr/>
          </p:nvSpPr>
          <p:spPr>
            <a:xfrm>
              <a:off x="6400800" y="1188720"/>
              <a:ext cx="5394960" cy="2011680"/>
            </a:xfrm>
            <a:prstGeom prst="rect">
              <a:avLst/>
            </a:prstGeom>
            <a:solidFill>
              <a:srgbClr val="DCCDF0"/>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Puede asociarse a </a:t>
              </a:r>
              <a:r>
                <a:rPr lang="es-AR" sz="1650" b="1" dirty="0">
                  <a:solidFill>
                    <a:srgbClr val="1E1E1E"/>
                  </a:solidFill>
                  <a:latin typeface="Bahnschrift"/>
                  <a:ea typeface="Bahnschrift"/>
                  <a:cs typeface="Bahnschrift"/>
                  <a:sym typeface="Bahnschrift"/>
                </a:rPr>
                <a:t>descontrol glucémico</a:t>
              </a:r>
              <a:r>
                <a:rPr lang="es-AR" sz="1650" dirty="0">
                  <a:solidFill>
                    <a:srgbClr val="1E1E1E"/>
                  </a:solidFill>
                  <a:latin typeface="Bahnschrift"/>
                  <a:ea typeface="Bahnschrift"/>
                  <a:cs typeface="Bahnschrift"/>
                  <a:sym typeface="Bahnschrift"/>
                </a:rPr>
                <a:t>, </a:t>
              </a:r>
              <a:r>
                <a:rPr lang="es-AR" sz="1650" b="1" dirty="0">
                  <a:solidFill>
                    <a:srgbClr val="1E1E1E"/>
                  </a:solidFill>
                  <a:latin typeface="Bahnschrift"/>
                  <a:ea typeface="Bahnschrift"/>
                  <a:cs typeface="Bahnschrift"/>
                  <a:sym typeface="Bahnschrift"/>
                </a:rPr>
                <a:t>alcohol</a:t>
              </a:r>
              <a:r>
                <a:rPr lang="es-AR" sz="1650" dirty="0">
                  <a:solidFill>
                    <a:srgbClr val="1E1E1E"/>
                  </a:solidFill>
                  <a:latin typeface="Bahnschrift"/>
                  <a:ea typeface="Bahnschrift"/>
                  <a:cs typeface="Bahnschrift"/>
                  <a:sym typeface="Bahnschrift"/>
                </a:rPr>
                <a:t>, hipotiroidismo o causas </a:t>
              </a:r>
              <a:r>
                <a:rPr lang="es-AR" sz="1650" b="1" dirty="0">
                  <a:solidFill>
                    <a:srgbClr val="1E1E1E"/>
                  </a:solidFill>
                  <a:latin typeface="Bahnschrift"/>
                  <a:ea typeface="Bahnschrift"/>
                  <a:cs typeface="Bahnschrift"/>
                  <a:sym typeface="Bahnschrift"/>
                </a:rPr>
                <a:t>genéticas</a:t>
              </a:r>
              <a:r>
                <a:rPr lang="es-AR" sz="1650" dirty="0">
                  <a:solidFill>
                    <a:srgbClr val="1E1E1E"/>
                  </a:solidFill>
                  <a:latin typeface="Bahnschrift"/>
                  <a:ea typeface="Bahnschrift"/>
                  <a:cs typeface="Bahnschrift"/>
                  <a:sym typeface="Bahnschrift"/>
                </a:rPr>
                <a:t> (LPL, ApoC-II, GPIHBP1, APOA5).</a:t>
              </a:r>
              <a:endParaRPr lang="es-AR" sz="1650" dirty="0">
                <a:latin typeface="Bahnschrift"/>
              </a:endParaRPr>
            </a:p>
          </p:txBody>
        </p:sp>
        <p:sp>
          <p:nvSpPr>
            <p:cNvPr id="22" name="Forma 24"/>
            <p:cNvSpPr/>
            <p:nvPr/>
          </p:nvSpPr>
          <p:spPr>
            <a:xfrm>
              <a:off x="6510528" y="1005840"/>
              <a:ext cx="2019974"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RESPUESTA HORMONAL</a:t>
              </a:r>
              <a:endParaRPr lang="es-AR" sz="1500" dirty="0">
                <a:latin typeface="Bahnschrift SemiBold Condensed"/>
              </a:endParaRPr>
            </a:p>
          </p:txBody>
        </p:sp>
      </p:grpSp>
      <p:grpSp>
        <p:nvGrpSpPr>
          <p:cNvPr id="23" name="Recuadro Adaptaciones de los órgan"/>
          <p:cNvGrpSpPr/>
          <p:nvPr/>
        </p:nvGrpSpPr>
        <p:grpSpPr>
          <a:xfrm>
            <a:off x="6400800" y="3383280"/>
            <a:ext cx="5394960" cy="2651760"/>
            <a:chOff x="6400800" y="3383280"/>
            <a:chExt cx="5394960" cy="2651760"/>
          </a:xfrm>
        </p:grpSpPr>
        <p:sp>
          <p:nvSpPr>
            <p:cNvPr id="24" name="Forma 26"/>
            <p:cNvSpPr/>
            <p:nvPr/>
          </p:nvSpPr>
          <p:spPr>
            <a:xfrm>
              <a:off x="6400800" y="3566160"/>
              <a:ext cx="5394960" cy="246888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Intestino</a:t>
              </a:r>
              <a:r>
                <a:rPr lang="es-AR" sz="1600" dirty="0">
                  <a:solidFill>
                    <a:srgbClr val="1E1E1E"/>
                  </a:solidFill>
                  <a:latin typeface="Bahnschrift"/>
                  <a:ea typeface="Bahnschrift"/>
                  <a:cs typeface="Bahnschrift"/>
                  <a:sym typeface="Bahnschrift"/>
                </a:rPr>
                <a:t>: QM tras comidas grasas.</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Hígado</a:t>
              </a:r>
              <a:r>
                <a:rPr lang="es-AR" sz="1600" dirty="0">
                  <a:solidFill>
                    <a:srgbClr val="1E1E1E"/>
                  </a:solidFill>
                  <a:latin typeface="Bahnschrift"/>
                  <a:ea typeface="Bahnschrift"/>
                  <a:cs typeface="Bahnschrift"/>
                  <a:sym typeface="Bahnschrift"/>
                </a:rPr>
                <a:t>: VLDL (↑ con azúcares y alcohol).</a:t>
              </a:r>
              <a:endParaRPr lang="es-AR" sz="1600" dirty="0">
                <a:latin typeface="Bahnschrift"/>
              </a:endParaRPr>
            </a:p>
            <a:p>
              <a:pPr algn="l" marL="152400" indent="-152400">
                <a:spcAft>
                  <a:spcPts val="400"/>
                </a:spcAft>
                <a:buClr>
                  <a:srgbClr val="1E1E1E"/>
                </a:buClr>
                <a:buFont typeface="Arial"/>
                <a:buChar char="•"/>
              </a:pPr>
              <a:r>
                <a:rPr lang="es-AR" sz="1600" b="1" dirty="0">
                  <a:solidFill>
                    <a:srgbClr val="1E1E1E"/>
                  </a:solidFill>
                  <a:latin typeface="Bahnschrift"/>
                  <a:ea typeface="Bahnschrift"/>
                  <a:cs typeface="Bahnschrift"/>
                  <a:sym typeface="Bahnschrift"/>
                </a:rPr>
                <a:t>Páncreas</a:t>
              </a:r>
              <a:r>
                <a:rPr lang="es-AR" sz="1600" dirty="0">
                  <a:solidFill>
                    <a:srgbClr val="1E1E1E"/>
                  </a:solidFill>
                  <a:latin typeface="Bahnschrift"/>
                  <a:ea typeface="Bahnschrift"/>
                  <a:cs typeface="Bahnschrift"/>
                  <a:sym typeface="Bahnschrift"/>
                </a:rPr>
                <a:t>: lesión inflamatoria.</a:t>
              </a:r>
              <a:endParaRPr lang="es-AR" sz="1600" dirty="0">
                <a:latin typeface="Bahnschrift"/>
              </a:endParaRPr>
            </a:p>
          </p:txBody>
        </p:sp>
        <p:sp>
          <p:nvSpPr>
            <p:cNvPr id="25" name="Forma 27"/>
            <p:cNvSpPr/>
            <p:nvPr/>
          </p:nvSpPr>
          <p:spPr>
            <a:xfrm>
              <a:off x="6510528" y="3383280"/>
              <a:ext cx="2640609"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ADAPTACIONES DE LOS ÓRGANOS</a:t>
              </a:r>
              <a:endParaRPr lang="es-AR" sz="1450" dirty="0">
                <a:latin typeface="Bahnschrift SemiBold Condensed"/>
              </a:endParaRPr>
            </a:p>
          </p:txBody>
        </p:sp>
      </p:grpSp>
      <p:sp>
        <p:nvSpPr>
          <p:cNvPr id="2" name="Etiqueta sección"/>
          <p:cNvSpPr/>
          <p:nvPr/>
        </p:nvSpPr>
        <p:spPr>
          <a:xfrm>
            <a:off x="9974442" y="201168"/>
            <a:ext cx="194293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F · FISIOPATOLOGÍA</a:t>
            </a:r>
            <a:endParaRPr lang="es-AR" sz="1300" dirty="0">
              <a:latin typeface="Bahnschrift SemiBold Condensed"/>
            </a:endParaRPr>
          </a:p>
        </p:txBody>
      </p:sp>
      <p:sp>
        <p:nvSpPr>
          <p:cNvPr id="3" name="Título"/>
          <p:cNvSpPr/>
          <p:nvPr/>
        </p:nvSpPr>
        <p:spPr>
          <a:xfrm>
            <a:off x="274320" y="146304"/>
            <a:ext cx="4788306"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F · MECANISMO Y RESPUESTA</a:t>
            </a:r>
            <a:endParaRPr lang="es-AR" sz="2600" dirty="0">
              <a:latin typeface="Bahnschrift SemiBold Condensed"/>
            </a:endParaRPr>
          </a:p>
        </p:txBody>
      </p:sp>
      <p:sp>
        <p:nvSpPr>
          <p:cNvPr id="2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13"/>
                                        </p:tgtEl>
                                        <p:attrNameLst>
                                          <p:attrName>style.visibility</p:attrName>
                                        </p:attrNameLst>
                                      </p:cBhvr>
                                      <p:to>
                                        <p:strVal val="visible"/>
                                      </p:to>
                                    </p:set>
                                    <p:animEffect transition="in" filter="fade">
                                      <p:cBhvr>
                                        <p:cTn id="5" dur="500"/>
                                        <p:tgtEl>
                                          <p:spTgt spid="13"/>
                                        </p:tgtEl>
                                      </p:cBhvr>
                                    </p:animEffect>
                                  </p:childTnLst>
                                </p:cTn>
                              </p:par>
                            </p:childTnLst>
                          </p:cTn>
                        </p:par>
                      </p:childTnLst>
                    </p:cTn>
                  </p:par>
                  <p:par>
                    <p:cTn id="16" fill="hold">
                      <p:stCondLst>
                        <p:cond delay="indefinite"/>
                      </p:stCondLst>
                      <p:childTnLst>
                        <p:par>
                          <p:cTn id="11" fill="hold">
                            <p:stCondLst>
                              <p:cond delay="0"/>
                            </p:stCondLst>
                            <p:childTnLst>
                              <p:par>
                                <p:cTn id="8" presetID="22" presetClass="entr" presetSubtype="8" fill="hold" grpId="0" nodeType="click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600"/>
                                        <p:tgtEl>
                                          <p:spTgt spid="14"/>
                                        </p:tgtEl>
                                      </p:cBhvr>
                                    </p:animEffect>
                                  </p:childTnLst>
                                </p:cTn>
                              </p:par>
                            </p:childTnLst>
                          </p:cTn>
                        </p:par>
                        <p:par>
                          <p:cTn id="15" fill="hold">
                            <p:stCondLst>
                              <p:cond delay="600"/>
                            </p:stCondLst>
                            <p:childTnLst>
                              <p:par>
                                <p:cTn id="12" presetID="10"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childTnLst>
                    </p:cTn>
                  </p:par>
                  <p:par>
                    <p:cTn id="25" fill="hold">
                      <p:stCondLst>
                        <p:cond delay="indefinite"/>
                      </p:stCondLst>
                      <p:childTnLst>
                        <p:par>
                          <p:cTn id="20"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600"/>
                                        <p:tgtEl>
                                          <p:spTgt spid="16"/>
                                        </p:tgtEl>
                                      </p:cBhvr>
                                    </p:animEffect>
                                  </p:childTnLst>
                                </p:cTn>
                              </p:par>
                            </p:childTnLst>
                          </p:cTn>
                        </p:par>
                        <p:par>
                          <p:cTn id="24"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par>
                    <p:cTn id="34" fill="hold">
                      <p:stCondLst>
                        <p:cond delay="indefinite"/>
                      </p:stCondLst>
                      <p:childTnLst>
                        <p:par>
                          <p:cTn id="29"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600"/>
                                        <p:tgtEl>
                                          <p:spTgt spid="18"/>
                                        </p:tgtEl>
                                      </p:cBhvr>
                                    </p:animEffect>
                                  </p:childTnLst>
                                </p:cTn>
                              </p:par>
                            </p:childTnLst>
                          </p:cTn>
                        </p:par>
                        <p:par>
                          <p:cTn id="33" fill="hold">
                            <p:stCondLst>
                              <p:cond delay="600"/>
                            </p:stCondLst>
                            <p:childTnLst>
                              <p:par>
                                <p:cTn id="30" presetID="10"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9" fill="hold">
                      <p:stCondLst>
                        <p:cond delay="indefinite"/>
                      </p:stCondLst>
                      <p:childTnLst>
                        <p:par>
                          <p:cTn id="38"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44" fill="hold">
                      <p:stCondLst>
                        <p:cond delay="indefinite"/>
                      </p:stCondLst>
                      <p:childTnLst>
                        <p:par>
                          <p:cTn id="43"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Lst>
  </p:timing>
</p:sld>
</file>

<file path=ppt/slides/slide21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tapas caso"/>
          <p:cNvGrpSpPr/>
          <p:nvPr/>
        </p:nvGrpSpPr>
        <p:grpSpPr>
          <a:xfrm>
            <a:off x="365760" y="6199632"/>
            <a:ext cx="11420856" cy="310896"/>
            <a:chOff x="365760" y="6199632"/>
            <a:chExt cx="11420856" cy="310896"/>
          </a:xfrm>
        </p:grpSpPr>
        <p:sp>
          <p:nvSpPr>
            <p:cNvPr id="5" name="Forma 4"/>
            <p:cNvSpPr/>
            <p:nvPr/>
          </p:nvSpPr>
          <p:spPr>
            <a:xfrm>
              <a:off x="36576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1 · Presentación</a:t>
              </a:r>
              <a:endParaRPr lang="es-AR" sz="1050" dirty="0">
                <a:latin typeface="Bahnschrift SemiBold Condensed"/>
              </a:endParaRPr>
            </a:p>
          </p:txBody>
        </p:sp>
        <p:sp>
          <p:nvSpPr>
            <p:cNvPr id="6" name="Forma 5"/>
            <p:cNvSpPr/>
            <p:nvPr/>
          </p:nvSpPr>
          <p:spPr>
            <a:xfrm>
              <a:off x="1801368"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2 · Datos</a:t>
              </a:r>
              <a:endParaRPr lang="es-AR" sz="1050" dirty="0">
                <a:latin typeface="Bahnschrift SemiBold Condensed"/>
              </a:endParaRPr>
            </a:p>
          </p:txBody>
        </p:sp>
        <p:sp>
          <p:nvSpPr>
            <p:cNvPr id="7" name="Forma 6"/>
            <p:cNvSpPr/>
            <p:nvPr/>
          </p:nvSpPr>
          <p:spPr>
            <a:xfrm>
              <a:off x="3236976"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3 · Problema</a:t>
              </a:r>
              <a:endParaRPr lang="es-AR" sz="1050" dirty="0">
                <a:latin typeface="Bahnschrift SemiBold Condensed"/>
              </a:endParaRPr>
            </a:p>
          </p:txBody>
        </p:sp>
        <p:sp>
          <p:nvSpPr>
            <p:cNvPr id="8" name="Forma 7"/>
            <p:cNvSpPr/>
            <p:nvPr/>
          </p:nvSpPr>
          <p:spPr>
            <a:xfrm>
              <a:off x="4672584"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4 · Mecanismo</a:t>
              </a:r>
              <a:endParaRPr lang="es-AR" sz="1050" dirty="0">
                <a:latin typeface="Bahnschrift SemiBold Condensed"/>
              </a:endParaRPr>
            </a:p>
          </p:txBody>
        </p:sp>
        <p:sp>
          <p:nvSpPr>
            <p:cNvPr id="9" name="Forma 8"/>
            <p:cNvSpPr/>
            <p:nvPr/>
          </p:nvSpPr>
          <p:spPr>
            <a:xfrm>
              <a:off x="6108192"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5 · Hormonas</a:t>
              </a:r>
              <a:endParaRPr lang="es-AR" sz="1050" dirty="0">
                <a:latin typeface="Bahnschrift SemiBold Condensed"/>
              </a:endParaRPr>
            </a:p>
          </p:txBody>
        </p:sp>
        <p:sp>
          <p:nvSpPr>
            <p:cNvPr id="10" name="Forma 9"/>
            <p:cNvSpPr/>
            <p:nvPr/>
          </p:nvSpPr>
          <p:spPr>
            <a:xfrm>
              <a:off x="7543800" y="6199632"/>
              <a:ext cx="1371600" cy="310896"/>
            </a:xfrm>
            <a:prstGeom prst="roundRect">
              <a:avLst>
                <a:gd name="adj" fmla="val 40000"/>
              </a:avLst>
            </a:prstGeom>
            <a:solidFill>
              <a:srgbClr val="FFFFFF"/>
            </a:solidFill>
            <a:ln w="635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7F8C8D"/>
                  </a:solidFill>
                  <a:latin typeface="Bahnschrift SemiBold Condensed"/>
                  <a:ea typeface="Bahnschrift SemiBold Condensed"/>
                  <a:cs typeface="Bahnschrift SemiBold Condensed"/>
                  <a:sym typeface="Bahnschrift SemiBold Condensed"/>
                </a:rPr>
                <a:t>6 · Órganos</a:t>
              </a:r>
              <a:endParaRPr lang="es-AR" sz="1050" dirty="0">
                <a:latin typeface="Bahnschrift SemiBold Condensed"/>
              </a:endParaRPr>
            </a:p>
          </p:txBody>
        </p:sp>
        <p:sp>
          <p:nvSpPr>
            <p:cNvPr id="11" name="Forma 10"/>
            <p:cNvSpPr/>
            <p:nvPr/>
          </p:nvSpPr>
          <p:spPr>
            <a:xfrm>
              <a:off x="8979408"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7 · Consecuencias</a:t>
              </a:r>
              <a:endParaRPr lang="es-AR" sz="1050" dirty="0">
                <a:latin typeface="Bahnschrift SemiBold Condensed"/>
              </a:endParaRPr>
            </a:p>
          </p:txBody>
        </p:sp>
        <p:sp>
          <p:nvSpPr>
            <p:cNvPr id="12" name="Forma 11"/>
            <p:cNvSpPr/>
            <p:nvPr/>
          </p:nvSpPr>
          <p:spPr>
            <a:xfrm>
              <a:off x="10415016" y="6199632"/>
              <a:ext cx="1371600" cy="310896"/>
            </a:xfrm>
            <a:prstGeom prst="roundRect">
              <a:avLst>
                <a:gd name="adj" fmla="val 40000"/>
              </a:avLst>
            </a:prstGeom>
            <a:solidFill>
              <a:srgbClr val="FFC000"/>
            </a:solidFill>
            <a:ln w="12700" cap="rnd">
              <a:solidFill>
                <a:srgbClr val="1E1E1E"/>
              </a:solidFill>
              <a:round/>
            </a:ln>
          </p:spPr>
          <p:txBody>
            <a:bodyPr wrap="square" lIns="18288" tIns="0" rIns="18288" bIns="0" anchor="ctr" rtlCol="0">
              <a:noAutofit/>
            </a:bodyPr>
            <a:lstStyle/>
            <a:p>
              <a:pPr algn="ctr">
                <a:spcAft>
                  <a:spcPts val="300"/>
                </a:spcAft>
                <a:buNone/>
              </a:pPr>
              <a:r>
                <a:rPr lang="es-AR" sz="1050" b="1" dirty="0">
                  <a:solidFill>
                    <a:srgbClr val="1E1E1E"/>
                  </a:solidFill>
                  <a:latin typeface="Bahnschrift SemiBold Condensed"/>
                  <a:ea typeface="Bahnschrift SemiBold Condensed"/>
                  <a:cs typeface="Bahnschrift SemiBold Condensed"/>
                  <a:sym typeface="Bahnschrift SemiBold Condensed"/>
                </a:rPr>
                <a:t>8 · Resolución</a:t>
              </a:r>
              <a:endParaRPr lang="es-AR" sz="1050" dirty="0">
                <a:latin typeface="Bahnschrift SemiBold Condensed"/>
              </a:endParaRPr>
            </a:p>
          </p:txBody>
        </p:sp>
      </p:grpSp>
      <p:grpSp>
        <p:nvGrpSpPr>
          <p:cNvPr id="13" name="Ícono páncreas"/>
          <p:cNvGrpSpPr/>
          <p:nvPr/>
        </p:nvGrpSpPr>
        <p:grpSpPr>
          <a:xfrm>
            <a:off x="457200" y="1367028"/>
            <a:ext cx="1051560" cy="441655"/>
            <a:chOff x="457200" y="1367028"/>
            <a:chExt cx="1051560" cy="441655"/>
          </a:xfrm>
        </p:grpSpPr>
        <p:sp>
          <p:nvSpPr>
            <p:cNvPr id="14" name="Forma 13"/>
            <p:cNvSpPr/>
            <p:nvPr/>
          </p:nvSpPr>
          <p:spPr>
            <a:xfrm>
              <a:off x="457200" y="1367028"/>
              <a:ext cx="1051560" cy="441655"/>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5" name="Forma 14"/>
            <p:cNvSpPr/>
            <p:nvPr/>
          </p:nvSpPr>
          <p:spPr>
            <a:xfrm>
              <a:off x="457200" y="1367028"/>
              <a:ext cx="1051560" cy="441655"/>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6" name="Islotes"/>
            <p:cNvSpPr/>
            <p:nvPr/>
          </p:nvSpPr>
          <p:spPr>
            <a:xfrm>
              <a:off x="457200" y="1367028"/>
              <a:ext cx="1051560" cy="441655"/>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17" name="Forma 16"/>
            <p:cNvSpPr/>
            <p:nvPr/>
          </p:nvSpPr>
          <p:spPr>
            <a:xfrm>
              <a:off x="457200" y="1367028"/>
              <a:ext cx="1051560" cy="441655"/>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grpSp>
        <p:nvGrpSpPr>
          <p:cNvPr id="18" name="Ícono intestino"/>
          <p:cNvGrpSpPr/>
          <p:nvPr/>
        </p:nvGrpSpPr>
        <p:grpSpPr>
          <a:xfrm>
            <a:off x="1698498" y="1104138"/>
            <a:ext cx="946404" cy="804443"/>
            <a:chOff x="1698498" y="1104138"/>
            <a:chExt cx="946404" cy="804443"/>
          </a:xfrm>
        </p:grpSpPr>
        <p:sp>
          <p:nvSpPr>
            <p:cNvPr id="19" name="Forma 18"/>
            <p:cNvSpPr/>
            <p:nvPr/>
          </p:nvSpPr>
          <p:spPr>
            <a:xfrm>
              <a:off x="1698498" y="1104138"/>
              <a:ext cx="946404" cy="804443"/>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20" name="Forma 19"/>
            <p:cNvSpPr/>
            <p:nvPr/>
          </p:nvSpPr>
          <p:spPr>
            <a:xfrm>
              <a:off x="1698498" y="1104138"/>
              <a:ext cx="946404" cy="804443"/>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21" name="Forma 20"/>
            <p:cNvSpPr/>
            <p:nvPr/>
          </p:nvSpPr>
          <p:spPr>
            <a:xfrm>
              <a:off x="1698498" y="1104138"/>
              <a:ext cx="946404" cy="80444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22" name="Forma 21"/>
            <p:cNvSpPr/>
            <p:nvPr/>
          </p:nvSpPr>
          <p:spPr>
            <a:xfrm>
              <a:off x="1698498" y="1104138"/>
              <a:ext cx="946404" cy="80444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23" name="Forma 22"/>
            <p:cNvSpPr/>
            <p:nvPr/>
          </p:nvSpPr>
          <p:spPr>
            <a:xfrm>
              <a:off x="1698498" y="1104138"/>
              <a:ext cx="946404" cy="804443"/>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grpSp>
        <p:nvGrpSpPr>
          <p:cNvPr id="24" name="Ícono hígado"/>
          <p:cNvGrpSpPr/>
          <p:nvPr/>
        </p:nvGrpSpPr>
        <p:grpSpPr>
          <a:xfrm>
            <a:off x="2834640" y="1209294"/>
            <a:ext cx="1051560" cy="743243"/>
            <a:chOff x="2834640" y="1209294"/>
            <a:chExt cx="1051560" cy="743243"/>
          </a:xfrm>
        </p:grpSpPr>
        <p:sp>
          <p:nvSpPr>
            <p:cNvPr id="25" name="Vesícula biliar"/>
            <p:cNvSpPr/>
            <p:nvPr/>
          </p:nvSpPr>
          <p:spPr>
            <a:xfrm>
              <a:off x="3118561" y="1717828"/>
              <a:ext cx="136703" cy="234708"/>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26" name="Forma 25"/>
            <p:cNvSpPr/>
            <p:nvPr/>
          </p:nvSpPr>
          <p:spPr>
            <a:xfrm>
              <a:off x="2834640" y="1209294"/>
              <a:ext cx="1051560" cy="651967"/>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27" name="Forma 26"/>
            <p:cNvSpPr/>
            <p:nvPr/>
          </p:nvSpPr>
          <p:spPr>
            <a:xfrm>
              <a:off x="2834640" y="1209294"/>
              <a:ext cx="1051560" cy="651967"/>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28" name="Forma 27"/>
            <p:cNvSpPr/>
            <p:nvPr/>
          </p:nvSpPr>
          <p:spPr>
            <a:xfrm>
              <a:off x="2834640" y="1209294"/>
              <a:ext cx="1051560" cy="651967"/>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grpSp>
        <p:nvGrpSpPr>
          <p:cNvPr id="29" name="Recuadro Consecuencias clínicas"/>
          <p:cNvGrpSpPr/>
          <p:nvPr/>
        </p:nvGrpSpPr>
        <p:grpSpPr>
          <a:xfrm>
            <a:off x="365760" y="2286000"/>
            <a:ext cx="5577840" cy="3749040"/>
            <a:chOff x="365760" y="2286000"/>
            <a:chExt cx="5577840" cy="3749040"/>
          </a:xfrm>
        </p:grpSpPr>
        <p:sp>
          <p:nvSpPr>
            <p:cNvPr id="30" name="Forma 29"/>
            <p:cNvSpPr/>
            <p:nvPr/>
          </p:nvSpPr>
          <p:spPr>
            <a:xfrm>
              <a:off x="365760" y="2468880"/>
              <a:ext cx="5577840" cy="356616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Pancreatitis</a:t>
              </a:r>
              <a:r>
                <a:rPr lang="es-AR" sz="1650" dirty="0">
                  <a:solidFill>
                    <a:srgbClr val="1E1E1E"/>
                  </a:solidFill>
                  <a:latin typeface="Bahnschrift"/>
                  <a:ea typeface="Bahnschrift"/>
                  <a:cs typeface="Bahnschrift"/>
                  <a:sym typeface="Bahnschrift"/>
                </a:rPr>
                <a:t> aguda (urgencia).</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Riesgo creciente con TAG muy altos.</a:t>
              </a:r>
              <a:endParaRPr lang="es-AR" sz="1650" dirty="0">
                <a:latin typeface="Bahnschrift"/>
              </a:endParaRPr>
            </a:p>
          </p:txBody>
        </p:sp>
        <p:sp>
          <p:nvSpPr>
            <p:cNvPr id="31" name="Forma 30"/>
            <p:cNvSpPr/>
            <p:nvPr/>
          </p:nvSpPr>
          <p:spPr>
            <a:xfrm>
              <a:off x="475488" y="2286000"/>
              <a:ext cx="2247017"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CONSECUENCIAS CLÍNICAS</a:t>
              </a:r>
              <a:endParaRPr lang="es-AR" sz="1500" dirty="0">
                <a:latin typeface="Bahnschrift SemiBold Condensed"/>
              </a:endParaRPr>
            </a:p>
          </p:txBody>
        </p:sp>
      </p:grpSp>
      <p:grpSp>
        <p:nvGrpSpPr>
          <p:cNvPr id="32" name="Recuadro Resolución fisiopatológic"/>
          <p:cNvGrpSpPr/>
          <p:nvPr/>
        </p:nvGrpSpPr>
        <p:grpSpPr>
          <a:xfrm>
            <a:off x="6217920" y="1005840"/>
            <a:ext cx="5577840" cy="3291840"/>
            <a:chOff x="6217920" y="1005840"/>
            <a:chExt cx="5577840" cy="3291840"/>
          </a:xfrm>
        </p:grpSpPr>
        <p:sp>
          <p:nvSpPr>
            <p:cNvPr id="33" name="Forma 32"/>
            <p:cNvSpPr/>
            <p:nvPr/>
          </p:nvSpPr>
          <p:spPr>
            <a:xfrm>
              <a:off x="6217920" y="1188720"/>
              <a:ext cx="5577840" cy="310896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7162" indent="-157162">
                <a:spcAft>
                  <a:spcPts val="400"/>
                </a:spcAft>
                <a:buClr>
                  <a:srgbClr val="1E1E1E"/>
                </a:buClr>
                <a:buFont typeface="Arial"/>
                <a:buChar char="•"/>
              </a:pPr>
              <a:r>
                <a:rPr lang="es-AR" sz="1650" b="1" dirty="0">
                  <a:solidFill>
                    <a:srgbClr val="1E1E1E"/>
                  </a:solidFill>
                  <a:latin typeface="Bahnschrift"/>
                  <a:ea typeface="Bahnschrift"/>
                  <a:cs typeface="Bahnschrift"/>
                  <a:sym typeface="Bahnschrift"/>
                </a:rPr>
                <a:t>Evaluación clínica urgente</a:t>
              </a:r>
              <a:r>
                <a:rPr lang="es-AR" sz="1650" dirty="0">
                  <a:solidFill>
                    <a:srgbClr val="1E1E1E"/>
                  </a:solidFill>
                  <a:latin typeface="Bahnschrift"/>
                  <a:ea typeface="Bahnschrift"/>
                  <a:cs typeface="Bahnschrift"/>
                  <a:sym typeface="Bahnschrift"/>
                </a:rPr>
                <a:t>.</a:t>
              </a:r>
              <a:endParaRPr lang="es-AR" sz="1650" dirty="0">
                <a:latin typeface="Bahnschrift"/>
              </a:endParaRPr>
            </a:p>
            <a:p>
              <a:pPr algn="l" marL="157162" indent="-157162">
                <a:spcAft>
                  <a:spcPts val="400"/>
                </a:spcAft>
                <a:buClr>
                  <a:srgbClr val="1E1E1E"/>
                </a:buClr>
                <a:buFont typeface="Arial"/>
                <a:buChar char="•"/>
              </a:pPr>
              <a:r>
                <a:rPr lang="es-AR" sz="1650" dirty="0">
                  <a:solidFill>
                    <a:srgbClr val="1E1E1E"/>
                  </a:solidFill>
                  <a:latin typeface="Bahnschrift"/>
                  <a:ea typeface="Bahnschrift"/>
                  <a:cs typeface="Bahnschrift"/>
                  <a:sym typeface="Bahnschrift"/>
                </a:rPr>
                <a:t>Concepto nutricional: AG </a:t>
              </a:r>
              <a:r>
                <a:rPr lang="es-AR" sz="1650" b="1" dirty="0">
                  <a:solidFill>
                    <a:srgbClr val="1E1E1E"/>
                  </a:solidFill>
                  <a:latin typeface="Bahnschrift"/>
                  <a:ea typeface="Bahnschrift"/>
                  <a:cs typeface="Bahnschrift"/>
                  <a:sym typeface="Bahnschrift"/>
                </a:rPr>
                <a:t>C8/C10</a:t>
              </a:r>
              <a:r>
                <a:rPr lang="es-AR" sz="1650" dirty="0">
                  <a:solidFill>
                    <a:srgbClr val="1E1E1E"/>
                  </a:solidFill>
                  <a:latin typeface="Bahnschrift"/>
                  <a:ea typeface="Bahnschrift"/>
                  <a:cs typeface="Bahnschrift"/>
                  <a:sym typeface="Bahnschrift"/>
                </a:rPr>
                <a:t> disminuyen la carga sobre QM frente a cadenas largas, </a:t>
              </a:r>
              <a:r>
                <a:rPr lang="es-AR" sz="1650" b="1" dirty="0">
                  <a:solidFill>
                    <a:srgbClr val="1E1E1E"/>
                  </a:solidFill>
                  <a:latin typeface="Bahnschrift"/>
                  <a:ea typeface="Bahnschrift"/>
                  <a:cs typeface="Bahnschrift"/>
                  <a:sym typeface="Bahnschrift"/>
                </a:rPr>
                <a:t>preservando AG esenciales</a:t>
              </a:r>
              <a:r>
                <a:rPr lang="es-AR" sz="1650" dirty="0">
                  <a:solidFill>
                    <a:srgbClr val="1E1E1E"/>
                  </a:solidFill>
                  <a:latin typeface="Bahnschrift"/>
                  <a:ea typeface="Bahnschrift"/>
                  <a:cs typeface="Bahnschrift"/>
                  <a:sym typeface="Bahnschrift"/>
                </a:rPr>
                <a:t>.</a:t>
              </a:r>
              <a:endParaRPr lang="es-AR" sz="1650" dirty="0">
                <a:latin typeface="Bahnschrift"/>
              </a:endParaRPr>
            </a:p>
          </p:txBody>
        </p:sp>
        <p:sp>
          <p:nvSpPr>
            <p:cNvPr id="34" name="Forma 33"/>
            <p:cNvSpPr/>
            <p:nvPr/>
          </p:nvSpPr>
          <p:spPr>
            <a:xfrm>
              <a:off x="6327648" y="1005840"/>
              <a:ext cx="2556655" cy="347472"/>
            </a:xfrm>
            <a:prstGeom prst="rect">
              <a:avLst/>
            </a:prstGeom>
            <a:solidFill>
              <a:srgbClr val="1E8C3A"/>
            </a:solidFill>
            <a:ln w="15875" cap="rnd">
              <a:solidFill>
                <a:srgbClr val="1E1E1E"/>
              </a:solidFill>
              <a:round/>
            </a:ln>
          </p:spPr>
          <p:txBody>
            <a:bodyPr wrap="square" lIns="45720" tIns="0" rIns="45720" bIns="0" anchor="ctr" rtlCol="0">
              <a:noAutofit/>
            </a:bodyPr>
            <a:lstStyle/>
            <a:p>
              <a:pPr algn="ctr">
                <a:spcAft>
                  <a:spcPts val="300"/>
                </a:spcAft>
                <a:buNone/>
              </a:pPr>
              <a:r>
                <a:rPr lang="es-AR" sz="1500" b="1" dirty="0">
                  <a:solidFill>
                    <a:srgbClr val="FFFFFF"/>
                  </a:solidFill>
                  <a:latin typeface="Bahnschrift SemiBold Condensed"/>
                  <a:ea typeface="Bahnschrift SemiBold Condensed"/>
                  <a:cs typeface="Bahnschrift SemiBold Condensed"/>
                  <a:sym typeface="Bahnschrift SemiBold Condensed"/>
                </a:rPr>
                <a:t>RESOLUCIÓN FISIOPATOLÓGICA</a:t>
              </a:r>
              <a:endParaRPr lang="es-AR" sz="1500" dirty="0">
                <a:latin typeface="Bahnschrift SemiBold Condensed"/>
              </a:endParaRPr>
            </a:p>
          </p:txBody>
        </p:sp>
      </p:grpSp>
      <p:sp>
        <p:nvSpPr>
          <p:cNvPr id="35" name="Perla"/>
          <p:cNvSpPr/>
          <p:nvPr/>
        </p:nvSpPr>
        <p:spPr>
          <a:xfrm>
            <a:off x="6217920" y="4480560"/>
            <a:ext cx="5577840" cy="1554480"/>
          </a:xfrm>
          <a:prstGeom prst="rect">
            <a:avLst/>
          </a:prstGeom>
          <a:solidFill>
            <a:srgbClr val="D7261E"/>
          </a:solidFill>
          <a:ln w="19050"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600" dirty="0">
                <a:solidFill>
                  <a:srgbClr val="FFFFFF"/>
                </a:solidFill>
                <a:latin typeface="Bahnschrift"/>
                <a:ea typeface="Bahnschrift"/>
                <a:cs typeface="Bahnschrift"/>
                <a:sym typeface="Bahnschrift"/>
              </a:rPr>
              <a:t>No reducir la interpretación de TAG altos a «riesgo de infarto»: aquí el problema inmediato es el </a:t>
            </a:r>
            <a:r>
              <a:rPr lang="es-AR" sz="1600" b="1" dirty="0">
                <a:solidFill>
                  <a:srgbClr val="FFFFFF"/>
                </a:solidFill>
                <a:latin typeface="Bahnschrift"/>
                <a:ea typeface="Bahnschrift"/>
                <a:cs typeface="Bahnschrift"/>
                <a:sym typeface="Bahnschrift"/>
              </a:rPr>
              <a:t>páncreas</a:t>
            </a:r>
            <a:r>
              <a:rPr lang="es-AR" sz="1600" dirty="0">
                <a:solidFill>
                  <a:srgbClr val="FFFFFF"/>
                </a:solidFill>
                <a:latin typeface="Bahnschrift"/>
                <a:ea typeface="Bahnschrift"/>
                <a:cs typeface="Bahnschrift"/>
                <a:sym typeface="Bahnschrift"/>
              </a:rPr>
              <a:t>.</a:t>
            </a:r>
            <a:endParaRPr lang="es-AR" sz="1600" dirty="0">
              <a:latin typeface="Bahnschrift"/>
            </a:endParaRPr>
          </a:p>
        </p:txBody>
      </p:sp>
      <p:sp>
        <p:nvSpPr>
          <p:cNvPr id="2" name="Etiqueta sección"/>
          <p:cNvSpPr/>
          <p:nvPr/>
        </p:nvSpPr>
        <p:spPr>
          <a:xfrm>
            <a:off x="10206920" y="201168"/>
            <a:ext cx="1710455"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CASO F · RESOLUCIÓN</a:t>
            </a:r>
            <a:endParaRPr lang="es-AR" sz="1300" dirty="0">
              <a:latin typeface="Bahnschrift SemiBold Condensed"/>
            </a:endParaRPr>
          </a:p>
        </p:txBody>
      </p:sp>
      <p:sp>
        <p:nvSpPr>
          <p:cNvPr id="3" name="Título"/>
          <p:cNvSpPr/>
          <p:nvPr/>
        </p:nvSpPr>
        <p:spPr>
          <a:xfrm>
            <a:off x="274320" y="146304"/>
            <a:ext cx="550627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CASO F · CONSECUENCIAS Y RESOLUCIÓN</a:t>
            </a:r>
            <a:endParaRPr lang="es-AR" sz="2600" dirty="0">
              <a:latin typeface="Bahnschrift SemiBold Condensed"/>
            </a:endParaRPr>
          </a:p>
        </p:txBody>
      </p:sp>
      <p:sp>
        <p:nvSpPr>
          <p:cNvPr id="36"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214</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29"/>
                                        </p:tgtEl>
                                        <p:attrNameLst>
                                          <p:attrName>style.visibility</p:attrName>
                                        </p:attrNameLst>
                                      </p:cBhvr>
                                      <p:to>
                                        <p:strVal val="visible"/>
                                      </p:to>
                                    </p:set>
                                    <p:animEffect transition="in" filter="fade">
                                      <p:cBhvr>
                                        <p:cTn id="5" dur="500"/>
                                        <p:tgtEl>
                                          <p:spTgt spid="29"/>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Tabla enzimas 1"/>
          <p:cNvGraphicFramePr>
            <a:graphicFrameLocks noGrp="1"/>
          </p:cNvGraphicFramePr>
          <p:nvPr/>
        </p:nvGraphicFramePr>
        <p:xfrm>
          <a:off x="365760" y="1005840"/>
          <a:ext cx="11430000" cy="5431536"/>
        </p:xfrm>
        <a:graphic>
          <a:graphicData uri="http://schemas.openxmlformats.org/drawingml/2006/table">
            <a:tbl>
              <a:tblPr firstRow="1" bandRow="1"/>
              <a:tblGrid>
                <a:gridCol w="3108960"/>
                <a:gridCol w="4206240"/>
                <a:gridCol w="4114800"/>
              </a:tblGrid>
              <a:tr h="603504">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Enzima / proteína</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Señal clave</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Vía / efecto</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Glucocinasa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Glucosa alta; regulación por GKRP</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Sensor β pancreático; captura hepática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Glucógeno fosforilasa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PKA → fosforilasa cinasa; AMP muscular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Glucogenólisis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Glucógeno sintasa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Desfosforilación; G6P</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Glucogenogénesis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PFK-1</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AMP y F2,6BP (+); ATP/citrato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Glucólisis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PFK-2/FBPasa-2 hepática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PKA fosforila → F2,6BP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Ayuno: GNG ↑; glucólisis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PDH</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PDP activa; PDK inhibe</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Piruvato → acetil-CoA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Piruvato carboxilasa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Acetil-CoA (+); biotina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Piruvato → oxaloacetato (GNG)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ACC1/ACC2</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Citrato e insulina (+); AMPK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Malonil-CoA: síntesis/oxidación de AG</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511548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RED DE ENZIMAS REGULADORAS (1/2)</a:t>
            </a:r>
            <a:endParaRPr lang="es-AR" sz="2600" dirty="0">
              <a:latin typeface="Bahnschrift SemiBold Condensed"/>
            </a:endParaRPr>
          </a:p>
        </p:txBody>
      </p:sp>
      <p:sp>
        <p:nvSpPr>
          <p:cNvPr id="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215</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aphicFrame>
        <p:nvGraphicFramePr>
          <p:cNvPr id="4" name="Tabla enzimas 2"/>
          <p:cNvGraphicFramePr>
            <a:graphicFrameLocks noGrp="1"/>
          </p:cNvGraphicFramePr>
          <p:nvPr/>
        </p:nvGraphicFramePr>
        <p:xfrm>
          <a:off x="365760" y="1005840"/>
          <a:ext cx="11430000" cy="5431536"/>
        </p:xfrm>
        <a:graphic>
          <a:graphicData uri="http://schemas.openxmlformats.org/drawingml/2006/table">
            <a:tbl>
              <a:tblPr firstRow="1" bandRow="1"/>
              <a:tblGrid>
                <a:gridCol w="3108960"/>
                <a:gridCol w="4206240"/>
                <a:gridCol w="4114800"/>
              </a:tblGrid>
              <a:tr h="603504">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Enzima / proteína</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Señal clave</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c>
                  <a:txBody>
                    <a:bodyPr/>
                    <a:lstStyle/>
                    <a:p>
                      <a:pPr algn="l">
                        <a:spcAft>
                          <a:spcPts val="100"/>
                        </a:spcAft>
                        <a:buNone/>
                      </a:pPr>
                      <a:r>
                        <a:rPr lang="es-AR" sz="1550" b="1" dirty="0">
                          <a:solidFill>
                            <a:srgbClr val="1E1E1E"/>
                          </a:solidFill>
                          <a:latin typeface="Bahnschrift SemiBold Condensed"/>
                          <a:ea typeface="Bahnschrift SemiBold Condensed"/>
                          <a:cs typeface="Bahnschrift SemiBold Condensed"/>
                          <a:sym typeface="Bahnschrift SemiBold Condensed"/>
                        </a:rPr>
                        <a:t>Vía / efecto</a:t>
                      </a:r>
                      <a:endParaRPr lang="es-AR" sz="1550" dirty="0">
                        <a:latin typeface="Bahnschrift SemiBold Condensed"/>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C000"/>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CPT1</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Malonil-CoA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Entrada de AG largos a β-oxidación</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HMGCS2</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Programa de ayuno, PPARα</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Cetogénesis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SCOT/OXCT1</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Presente extrahepáticamente</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Cetólisis; ausente en hígado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HMGCR</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SREBP-2 (+); AMPK (−); esteroles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Síntesis de colesterol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CPS1</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N-acetilglutamato obligatorio (+)</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Ureogénesis mitocondrial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GS (glutamina sintetasa)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Disponibilidad de NH</a:t>
                      </a:r>
                      <a:r>
                        <a:rPr lang="es-AR" sz="1500" baseline="-25000" dirty="0">
                          <a:solidFill>
                            <a:srgbClr val="1E1E1E"/>
                          </a:solidFill>
                          <a:latin typeface="Bahnschrift"/>
                          <a:ea typeface="Bahnschrift"/>
                          <a:cs typeface="Bahnschrift"/>
                          <a:sym typeface="Bahnschrift"/>
                        </a:rPr>
                        <a:t>4</a:t>
                      </a:r>
                      <a:r>
                        <a:rPr lang="es-AR" sz="1500" baseline="30000" dirty="0">
                          <a:solidFill>
                            <a:srgbClr val="1E1E1E"/>
                          </a:solidFill>
                          <a:latin typeface="Bahnschrift"/>
                          <a:ea typeface="Bahnschrift"/>
                          <a:cs typeface="Bahnschrift"/>
                          <a:sym typeface="Bahnschrift"/>
                        </a:rPr>
                        <a:t>+</a:t>
                      </a:r>
                      <a:r>
                        <a:rPr lang="es-AR" sz="1500" dirty="0">
                          <a:solidFill>
                            <a:srgbClr val="1E1E1E"/>
                          </a:solidFill>
                          <a:latin typeface="Bahnschrift"/>
                          <a:ea typeface="Bahnschrift"/>
                          <a:cs typeface="Bahnschrift"/>
                          <a:sym typeface="Bahnschrift"/>
                        </a:rPr>
                        <a:t>/glutamato</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Captura de amonio perivenosa/astrocitos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AMPK</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AMP/ADP ↑, Thr172</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Ahorro de ATP / movilización de energía</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FF4D6"/>
                    </a:solidFill>
                  </a:tcPr>
                </a:tc>
              </a:tr>
              <a:tr h="603504">
                <a:tc>
                  <a:txBody>
                    <a:bodyPr/>
                    <a:lstStyle/>
                    <a:p>
                      <a:pPr algn="l">
                        <a:spcAft>
                          <a:spcPts val="100"/>
                        </a:spcAft>
                        <a:buNone/>
                      </a:pPr>
                      <a:r>
                        <a:rPr lang="es-AR" sz="1500" b="1" dirty="0">
                          <a:solidFill>
                            <a:srgbClr val="1E1E1E"/>
                          </a:solidFill>
                          <a:latin typeface="Bahnschrift"/>
                          <a:ea typeface="Bahnschrift"/>
                          <a:cs typeface="Bahnschrift"/>
                          <a:sym typeface="Bahnschrift"/>
                        </a:rPr>
                        <a:t>LPL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ApoC-II (+); ApoC-III (−) y moduladores</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c>
                  <a:txBody>
                    <a:bodyPr/>
                    <a:lstStyle/>
                    <a:p>
                      <a:pPr algn="l">
                        <a:spcAft>
                          <a:spcPts val="100"/>
                        </a:spcAft>
                        <a:buNone/>
                      </a:pPr>
                      <a:r>
                        <a:rPr lang="es-AR" sz="1500" dirty="0">
                          <a:solidFill>
                            <a:srgbClr val="1E1E1E"/>
                          </a:solidFill>
                          <a:latin typeface="Bahnschrift"/>
                          <a:ea typeface="Bahnschrift"/>
                          <a:cs typeface="Bahnschrift"/>
                          <a:sym typeface="Bahnschrift"/>
                        </a:rPr>
                        <a:t>Liberación de AG desde TAG de QM/VLDL</a:t>
                      </a:r>
                      <a:endParaRPr lang="es-AR" sz="1500" dirty="0">
                        <a:latin typeface="Bahnschrift"/>
                      </a:endParaRPr>
                    </a:p>
                  </a:txBody>
                  <a:tcPr marL="73152" marR="73152" marT="36576" marB="36576" anchor="ctr">
                    <a:lnL w="12700">
                      <a:solidFill>
                        <a:srgbClr val="1E1E1E"/>
                      </a:solidFill>
                    </a:lnL>
                    <a:lnR w="12700">
                      <a:solidFill>
                        <a:srgbClr val="1E1E1E"/>
                      </a:solidFill>
                    </a:lnR>
                    <a:lnT w="12700">
                      <a:solidFill>
                        <a:srgbClr val="1E1E1E"/>
                      </a:solidFill>
                    </a:lnT>
                    <a:lnB w="12700">
                      <a:solidFill>
                        <a:srgbClr val="1E1E1E"/>
                      </a:solidFill>
                    </a:lnB>
                    <a:solidFill>
                      <a:srgbClr val="FAD3BC"/>
                    </a:solidFill>
                  </a:tcPr>
                </a:tc>
              </a:tr>
            </a:tbl>
          </a:graphicData>
        </a:graphic>
      </p:graphicFrame>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5170964"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RED DE ENZIMAS REGULADORAS (2/2)</a:t>
            </a:r>
            <a:endParaRPr lang="es-AR" sz="2600" dirty="0">
              <a:latin typeface="Bahnschrift SemiBold Condensed"/>
            </a:endParaRPr>
          </a:p>
        </p:txBody>
      </p:sp>
      <p:sp>
        <p:nvSpPr>
          <p:cNvPr id="5"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216</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Pregunta 1"/>
          <p:cNvGrpSpPr/>
          <p:nvPr/>
        </p:nvGrpSpPr>
        <p:grpSpPr>
          <a:xfrm>
            <a:off x="411480" y="1005840"/>
            <a:ext cx="11384280" cy="960120"/>
            <a:chOff x="411480" y="1005840"/>
            <a:chExt cx="11384280" cy="960120"/>
          </a:xfrm>
        </p:grpSpPr>
        <p:sp>
          <p:nvSpPr>
            <p:cNvPr id="5" name="Paso 1"/>
            <p:cNvSpPr/>
            <p:nvPr/>
          </p:nvSpPr>
          <p:spPr>
            <a:xfrm>
              <a:off x="411480" y="1188720"/>
              <a:ext cx="594360" cy="59436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1</a:t>
              </a:r>
              <a:endParaRPr lang="es-AR" sz="1500" dirty="0">
                <a:latin typeface="Bahnschrift SemiBold Condensed"/>
              </a:endParaRPr>
            </a:p>
          </p:txBody>
        </p:sp>
        <p:sp>
          <p:nvSpPr>
            <p:cNvPr id="6" name="Forma 5"/>
            <p:cNvSpPr/>
            <p:nvPr/>
          </p:nvSpPr>
          <p:spPr>
            <a:xfrm>
              <a:off x="1188720" y="1005840"/>
              <a:ext cx="10607040" cy="96012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sp>
        <p:sp>
          <p:nvSpPr>
            <p:cNvPr id="7" name="Forma 6"/>
            <p:cNvSpPr txBox="1"/>
            <p:nvPr/>
          </p:nvSpPr>
          <p:spPr>
            <a:xfrm>
              <a:off x="1325880" y="1051560"/>
              <a:ext cx="3840480" cy="868680"/>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¿Cuál es la señal?</a:t>
              </a:r>
              <a:endParaRPr lang="es-AR" sz="1700" dirty="0">
                <a:latin typeface="Bahnschrift SemiBold Condensed"/>
              </a:endParaRPr>
            </a:p>
          </p:txBody>
        </p:sp>
        <p:sp>
          <p:nvSpPr>
            <p:cNvPr id="8" name="Forma 7"/>
            <p:cNvSpPr txBox="1"/>
            <p:nvPr/>
          </p:nvSpPr>
          <p:spPr>
            <a:xfrm>
              <a:off x="5212080" y="1051560"/>
              <a:ext cx="5852160" cy="8686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Insulina, glucagón, catecolaminas, cortisol, carga de sustratos, AMP, acetil-CoA, malonil-CoA, O</a:t>
              </a:r>
              <a:r>
                <a:rPr lang="es-AR" sz="1400" baseline="-25000" dirty="0">
                  <a:solidFill>
                    <a:srgbClr val="1E1E1E"/>
                  </a:solidFill>
                  <a:latin typeface="Bahnschrift"/>
                  <a:ea typeface="Bahnschrift"/>
                  <a:cs typeface="Bahnschrift"/>
                  <a:sym typeface="Bahnschrift"/>
                </a:rPr>
                <a:t>2</a:t>
              </a:r>
              <a:endParaRPr lang="es-AR" sz="1400" dirty="0">
                <a:latin typeface="Bahnschrift"/>
              </a:endParaRPr>
            </a:p>
          </p:txBody>
        </p:sp>
        <p:sp>
          <p:nvSpPr>
            <p:cNvPr id="9" name="Molécula ins"/>
            <p:cNvSpPr/>
            <p:nvPr/>
          </p:nvSpPr>
          <p:spPr>
            <a:xfrm>
              <a:off x="11201400" y="1280160"/>
              <a:ext cx="438912" cy="438912"/>
            </a:xfrm>
            <a:prstGeom prst="ellipse">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Ins</a:t>
              </a:r>
              <a:endParaRPr lang="es-AR" sz="1248" dirty="0">
                <a:latin typeface="Bahnschrift SemiBold Condensed"/>
              </a:endParaRPr>
            </a:p>
          </p:txBody>
        </p:sp>
      </p:grpSp>
      <p:grpSp>
        <p:nvGrpSpPr>
          <p:cNvPr id="10" name="Pregunta 2"/>
          <p:cNvGrpSpPr/>
          <p:nvPr/>
        </p:nvGrpSpPr>
        <p:grpSpPr>
          <a:xfrm>
            <a:off x="411480" y="2084832"/>
            <a:ext cx="11384280" cy="960120"/>
            <a:chOff x="411480" y="2084832"/>
            <a:chExt cx="11384280" cy="960120"/>
          </a:xfrm>
        </p:grpSpPr>
        <p:sp>
          <p:nvSpPr>
            <p:cNvPr id="11" name="Paso 2"/>
            <p:cNvSpPr/>
            <p:nvPr/>
          </p:nvSpPr>
          <p:spPr>
            <a:xfrm>
              <a:off x="411480" y="2267712"/>
              <a:ext cx="594360" cy="59436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2</a:t>
              </a:r>
              <a:endParaRPr lang="es-AR" sz="1500" dirty="0">
                <a:latin typeface="Bahnschrift SemiBold Condensed"/>
              </a:endParaRPr>
            </a:p>
          </p:txBody>
        </p:sp>
        <p:sp>
          <p:nvSpPr>
            <p:cNvPr id="12" name="Forma 11"/>
            <p:cNvSpPr/>
            <p:nvPr/>
          </p:nvSpPr>
          <p:spPr>
            <a:xfrm>
              <a:off x="1188720" y="2084832"/>
              <a:ext cx="10607040" cy="960120"/>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sp>
        <p:sp>
          <p:nvSpPr>
            <p:cNvPr id="13" name="Forma 12"/>
            <p:cNvSpPr txBox="1"/>
            <p:nvPr/>
          </p:nvSpPr>
          <p:spPr>
            <a:xfrm>
              <a:off x="1325880" y="2130552"/>
              <a:ext cx="3840480" cy="868680"/>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¿Dónde ocurre?</a:t>
              </a:r>
              <a:endParaRPr lang="es-AR" sz="1700" dirty="0">
                <a:latin typeface="Bahnschrift SemiBold Condensed"/>
              </a:endParaRPr>
            </a:p>
          </p:txBody>
        </p:sp>
        <p:sp>
          <p:nvSpPr>
            <p:cNvPr id="14" name="Forma 13"/>
            <p:cNvSpPr txBox="1"/>
            <p:nvPr/>
          </p:nvSpPr>
          <p:spPr>
            <a:xfrm>
              <a:off x="5212080" y="2130552"/>
              <a:ext cx="5852160" cy="8686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Órgano, célula y compartimento: citosol, mitocondria, RE, peroxisoma o sangre</a:t>
              </a:r>
              <a:endParaRPr lang="es-AR" sz="1400" dirty="0">
                <a:latin typeface="Bahnschrift"/>
              </a:endParaRPr>
            </a:p>
          </p:txBody>
        </p:sp>
        <p:sp>
          <p:nvSpPr>
            <p:cNvPr id="15" name="Molécula glc"/>
            <p:cNvSpPr/>
            <p:nvPr/>
          </p:nvSpPr>
          <p:spPr>
            <a:xfrm>
              <a:off x="11201400" y="2359152"/>
              <a:ext cx="438912" cy="438912"/>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1248" b="1" dirty="0">
                  <a:solidFill>
                    <a:srgbClr val="FFFFFF"/>
                  </a:solidFill>
                  <a:latin typeface="Bahnschrift SemiBold Condensed"/>
                  <a:ea typeface="Bahnschrift SemiBold Condensed"/>
                  <a:cs typeface="Bahnschrift SemiBold Condensed"/>
                  <a:sym typeface="Bahnschrift SemiBold Condensed"/>
                </a:rPr>
                <a:t>Glc</a:t>
              </a:r>
              <a:endParaRPr lang="es-AR" sz="1248" dirty="0">
                <a:latin typeface="Bahnschrift SemiBold Condensed"/>
              </a:endParaRPr>
            </a:p>
          </p:txBody>
        </p:sp>
      </p:grpSp>
      <p:grpSp>
        <p:nvGrpSpPr>
          <p:cNvPr id="16" name="Pregunta 3"/>
          <p:cNvGrpSpPr/>
          <p:nvPr/>
        </p:nvGrpSpPr>
        <p:grpSpPr>
          <a:xfrm>
            <a:off x="411480" y="3163824"/>
            <a:ext cx="11384280" cy="960120"/>
            <a:chOff x="411480" y="3163824"/>
            <a:chExt cx="11384280" cy="960120"/>
          </a:xfrm>
        </p:grpSpPr>
        <p:sp>
          <p:nvSpPr>
            <p:cNvPr id="17" name="Paso 3"/>
            <p:cNvSpPr/>
            <p:nvPr/>
          </p:nvSpPr>
          <p:spPr>
            <a:xfrm>
              <a:off x="411480" y="3346704"/>
              <a:ext cx="594360" cy="59436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3</a:t>
              </a:r>
              <a:endParaRPr lang="es-AR" sz="1500" dirty="0">
                <a:latin typeface="Bahnschrift SemiBold Condensed"/>
              </a:endParaRPr>
            </a:p>
          </p:txBody>
        </p:sp>
        <p:sp>
          <p:nvSpPr>
            <p:cNvPr id="18" name="Forma 17"/>
            <p:cNvSpPr/>
            <p:nvPr/>
          </p:nvSpPr>
          <p:spPr>
            <a:xfrm>
              <a:off x="1188720" y="3163824"/>
              <a:ext cx="10607040" cy="960120"/>
            </a:xfrm>
            <a:prstGeom prst="rect">
              <a:avLst/>
            </a:prstGeom>
            <a:solidFill>
              <a:srgbClr val="FFE07A"/>
            </a:solidFill>
            <a:ln w="15875" cap="rnd">
              <a:solidFill>
                <a:srgbClr val="1E1E1E"/>
              </a:solidFill>
              <a:round/>
            </a:ln>
            <a:effectLst>
              <a:outerShdw blurRad="63500" dist="38100" dir="2700000" algn="tl" rotWithShape="0">
                <a:srgbClr val="000000">
                  <a:alpha val="32000"/>
                </a:srgbClr>
              </a:outerShdw>
            </a:effectLst>
          </p:spPr>
        </p:sp>
        <p:sp>
          <p:nvSpPr>
            <p:cNvPr id="19" name="Forma 18"/>
            <p:cNvSpPr txBox="1"/>
            <p:nvPr/>
          </p:nvSpPr>
          <p:spPr>
            <a:xfrm>
              <a:off x="1325880" y="3209544"/>
              <a:ext cx="3840480" cy="868680"/>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¿Qué enzima decide?</a:t>
              </a:r>
              <a:endParaRPr lang="es-AR" sz="1700" dirty="0">
                <a:latin typeface="Bahnschrift SemiBold Condensed"/>
              </a:endParaRPr>
            </a:p>
          </p:txBody>
        </p:sp>
        <p:sp>
          <p:nvSpPr>
            <p:cNvPr id="20" name="Forma 19"/>
            <p:cNvSpPr txBox="1"/>
            <p:nvPr/>
          </p:nvSpPr>
          <p:spPr>
            <a:xfrm>
              <a:off x="5212080" y="3209544"/>
              <a:ext cx="5852160" cy="8686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Paso regulador; control alostérico, covalente o génico</a:t>
              </a:r>
              <a:endParaRPr lang="es-AR" sz="1400" dirty="0">
                <a:latin typeface="Bahnschrift"/>
              </a:endParaRPr>
            </a:p>
          </p:txBody>
        </p:sp>
        <p:sp>
          <p:nvSpPr>
            <p:cNvPr id="21" name="Molécula atp"/>
            <p:cNvSpPr/>
            <p:nvPr/>
          </p:nvSpPr>
          <p:spPr>
            <a:xfrm>
              <a:off x="11201400" y="3438144"/>
              <a:ext cx="438912" cy="438912"/>
            </a:xfrm>
            <a:prstGeom prst="ellipse">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248" b="1" dirty="0">
                  <a:solidFill>
                    <a:srgbClr val="1E1E1E"/>
                  </a:solidFill>
                  <a:latin typeface="Bahnschrift SemiBold Condensed"/>
                  <a:ea typeface="Bahnschrift SemiBold Condensed"/>
                  <a:cs typeface="Bahnschrift SemiBold Condensed"/>
                  <a:sym typeface="Bahnschrift SemiBold Condensed"/>
                </a:rPr>
                <a:t>ATP</a:t>
              </a:r>
              <a:endParaRPr lang="es-AR" sz="1248" dirty="0">
                <a:latin typeface="Bahnschrift SemiBold Condensed"/>
              </a:endParaRPr>
            </a:p>
          </p:txBody>
        </p:sp>
      </p:grpSp>
      <p:grpSp>
        <p:nvGrpSpPr>
          <p:cNvPr id="22" name="Pregunta 4"/>
          <p:cNvGrpSpPr/>
          <p:nvPr/>
        </p:nvGrpSpPr>
        <p:grpSpPr>
          <a:xfrm>
            <a:off x="411480" y="4242816"/>
            <a:ext cx="11384280" cy="960120"/>
            <a:chOff x="411480" y="4242816"/>
            <a:chExt cx="11384280" cy="960120"/>
          </a:xfrm>
        </p:grpSpPr>
        <p:sp>
          <p:nvSpPr>
            <p:cNvPr id="23" name="Paso 4"/>
            <p:cNvSpPr/>
            <p:nvPr/>
          </p:nvSpPr>
          <p:spPr>
            <a:xfrm>
              <a:off x="411480" y="4425696"/>
              <a:ext cx="594360" cy="59436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4</a:t>
              </a:r>
              <a:endParaRPr lang="es-AR" sz="1500" dirty="0">
                <a:latin typeface="Bahnschrift SemiBold Condensed"/>
              </a:endParaRPr>
            </a:p>
          </p:txBody>
        </p:sp>
        <p:sp>
          <p:nvSpPr>
            <p:cNvPr id="24" name="Forma 23"/>
            <p:cNvSpPr/>
            <p:nvPr/>
          </p:nvSpPr>
          <p:spPr>
            <a:xfrm>
              <a:off x="1188720" y="4242816"/>
              <a:ext cx="10607040" cy="960120"/>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sp>
        <p:sp>
          <p:nvSpPr>
            <p:cNvPr id="25" name="Forma 24"/>
            <p:cNvSpPr txBox="1"/>
            <p:nvPr/>
          </p:nvSpPr>
          <p:spPr>
            <a:xfrm>
              <a:off x="1325880" y="4288536"/>
              <a:ext cx="3840480" cy="868680"/>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¿A dónde va el C o el N?</a:t>
              </a:r>
              <a:endParaRPr lang="es-AR" sz="1700" dirty="0">
                <a:latin typeface="Bahnschrift SemiBold Condensed"/>
              </a:endParaRPr>
            </a:p>
          </p:txBody>
        </p:sp>
        <p:sp>
          <p:nvSpPr>
            <p:cNvPr id="26" name="Forma 25"/>
            <p:cNvSpPr txBox="1"/>
            <p:nvPr/>
          </p:nvSpPr>
          <p:spPr>
            <a:xfrm>
              <a:off x="5212080" y="4288536"/>
              <a:ext cx="5852160" cy="8686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Glucosa, lactato, CO</a:t>
              </a:r>
              <a:r>
                <a:rPr lang="es-AR" sz="1400" baseline="-25000" dirty="0">
                  <a:solidFill>
                    <a:srgbClr val="1E1E1E"/>
                  </a:solidFill>
                  <a:latin typeface="Bahnschrift"/>
                  <a:ea typeface="Bahnschrift"/>
                  <a:cs typeface="Bahnschrift"/>
                  <a:sym typeface="Bahnschrift"/>
                </a:rPr>
                <a:t>2</a:t>
              </a:r>
              <a:r>
                <a:rPr lang="es-AR" sz="1400" dirty="0">
                  <a:solidFill>
                    <a:srgbClr val="1E1E1E"/>
                  </a:solidFill>
                  <a:latin typeface="Bahnschrift"/>
                  <a:ea typeface="Bahnschrift"/>
                  <a:cs typeface="Bahnschrift"/>
                  <a:sym typeface="Bahnschrift"/>
                </a:rPr>
                <a:t>, acetil-CoA, cuerpos cetónicos, urea y NH</a:t>
              </a:r>
              <a:r>
                <a:rPr lang="es-AR" sz="1400" baseline="-25000" dirty="0">
                  <a:solidFill>
                    <a:srgbClr val="1E1E1E"/>
                  </a:solidFill>
                  <a:latin typeface="Bahnschrift"/>
                  <a:ea typeface="Bahnschrift"/>
                  <a:cs typeface="Bahnschrift"/>
                  <a:sym typeface="Bahnschrift"/>
                </a:rPr>
                <a:t>4</a:t>
              </a:r>
              <a:r>
                <a:rPr lang="es-AR" sz="1400" baseline="30000" dirty="0">
                  <a:solidFill>
                    <a:srgbClr val="1E1E1E"/>
                  </a:solidFill>
                  <a:latin typeface="Bahnschrift"/>
                  <a:ea typeface="Bahnschrift"/>
                  <a:cs typeface="Bahnschrift"/>
                  <a:sym typeface="Bahnschrift"/>
                </a:rPr>
                <a:t>+</a:t>
              </a:r>
              <a:endParaRPr lang="es-AR" sz="1400" dirty="0">
                <a:latin typeface="Bahnschrift"/>
              </a:endParaRPr>
            </a:p>
          </p:txBody>
        </p:sp>
        <p:sp>
          <p:nvSpPr>
            <p:cNvPr id="27" name="Molécula nh4"/>
            <p:cNvSpPr/>
            <p:nvPr/>
          </p:nvSpPr>
          <p:spPr>
            <a:xfrm>
              <a:off x="11201400" y="4517136"/>
              <a:ext cx="438912" cy="438912"/>
            </a:xfrm>
            <a:prstGeom prst="ellipse">
              <a:avLst/>
            </a:prstGeom>
            <a:gradFill rotWithShape="1">
              <a:gsLst>
                <a:gs pos="0">
                  <a:srgbClr val="63A9A9"/>
                </a:gs>
                <a:gs pos="55000">
                  <a:srgbClr val="0F7C7C"/>
                </a:gs>
                <a:gs pos="100000">
                  <a:srgbClr val="0C6363"/>
                </a:gs>
              </a:gsLst>
              <a:path path="circle">
                <a:fillToRect l="32000" t="28000" r="68000" b="72000"/>
              </a:path>
            </a:gradFill>
            <a:ln w="12700" cap="rnd">
              <a:solidFill>
                <a:srgbClr val="084444"/>
              </a:solidFill>
              <a:round/>
            </a:ln>
          </p:spPr>
          <p:txBody>
            <a:bodyPr wrap="square" lIns="0" tIns="0" rIns="0" bIns="0" anchor="ctr" rtlCol="0">
              <a:noAutofit/>
            </a:bodyPr>
            <a:lstStyle/>
            <a:p>
              <a:pPr algn="ctr">
                <a:spcAft>
                  <a:spcPts val="300"/>
                </a:spcAft>
                <a:buNone/>
              </a:pPr>
              <a:r>
                <a:rPr lang="es-AR" sz="1128" b="1" dirty="0">
                  <a:solidFill>
                    <a:srgbClr val="FFFFFF"/>
                  </a:solidFill>
                  <a:latin typeface="Bahnschrift SemiBold Condensed"/>
                  <a:ea typeface="Bahnschrift SemiBold Condensed"/>
                  <a:cs typeface="Bahnschrift SemiBold Condensed"/>
                  <a:sym typeface="Bahnschrift SemiBold Condensed"/>
                </a:rPr>
                <a:t>NH</a:t>
              </a:r>
              <a:r>
                <a:rPr lang="es-AR" sz="1128" b="1" baseline="-25000" dirty="0">
                  <a:solidFill>
                    <a:srgbClr val="FFFFFF"/>
                  </a:solidFill>
                  <a:latin typeface="Bahnschrift SemiBold Condensed"/>
                  <a:ea typeface="Bahnschrift SemiBold Condensed"/>
                  <a:cs typeface="Bahnschrift SemiBold Condensed"/>
                  <a:sym typeface="Bahnschrift SemiBold Condensed"/>
                </a:rPr>
                <a:t>4</a:t>
              </a:r>
              <a:r>
                <a:rPr lang="es-AR" sz="1128" b="1" baseline="30000" dirty="0">
                  <a:solidFill>
                    <a:srgbClr val="FFFFFF"/>
                  </a:solidFill>
                  <a:latin typeface="Bahnschrift SemiBold Condensed"/>
                  <a:ea typeface="Bahnschrift SemiBold Condensed"/>
                  <a:cs typeface="Bahnschrift SemiBold Condensed"/>
                  <a:sym typeface="Bahnschrift SemiBold Condensed"/>
                </a:rPr>
                <a:t>+</a:t>
              </a:r>
              <a:endParaRPr lang="es-AR" sz="1128" dirty="0">
                <a:latin typeface="Bahnschrift SemiBold Condensed"/>
              </a:endParaRPr>
            </a:p>
          </p:txBody>
        </p:sp>
      </p:grpSp>
      <p:grpSp>
        <p:nvGrpSpPr>
          <p:cNvPr id="28" name="Pregunta 5"/>
          <p:cNvGrpSpPr/>
          <p:nvPr/>
        </p:nvGrpSpPr>
        <p:grpSpPr>
          <a:xfrm>
            <a:off x="411480" y="5321808"/>
            <a:ext cx="11384280" cy="960120"/>
            <a:chOff x="411480" y="5321808"/>
            <a:chExt cx="11384280" cy="960120"/>
          </a:xfrm>
        </p:grpSpPr>
        <p:sp>
          <p:nvSpPr>
            <p:cNvPr id="29" name="Paso 5"/>
            <p:cNvSpPr/>
            <p:nvPr/>
          </p:nvSpPr>
          <p:spPr>
            <a:xfrm>
              <a:off x="411480" y="5504688"/>
              <a:ext cx="594360" cy="594360"/>
            </a:xfrm>
            <a:prstGeom prst="ellipse">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0" tIns="0" rIns="0" bIns="0" anchor="ctr" rtlCol="0">
              <a:noAutofit/>
            </a:bodyPr>
            <a:lstStyle/>
            <a:p>
              <a:pPr algn="ctr">
                <a:spcAft>
                  <a:spcPts val="300"/>
                </a:spcAft>
                <a:buNone/>
              </a:pPr>
              <a:r>
                <a:rPr lang="es-AR" sz="1500" b="1" dirty="0">
                  <a:solidFill>
                    <a:srgbClr val="1E1E1E"/>
                  </a:solidFill>
                  <a:latin typeface="Bahnschrift SemiBold Condensed"/>
                  <a:ea typeface="Bahnschrift SemiBold Condensed"/>
                  <a:cs typeface="Bahnschrift SemiBold Condensed"/>
                  <a:sym typeface="Bahnschrift SemiBold Condensed"/>
                </a:rPr>
                <a:t>5</a:t>
              </a:r>
              <a:endParaRPr lang="es-AR" sz="1500" dirty="0">
                <a:latin typeface="Bahnschrift SemiBold Condensed"/>
              </a:endParaRPr>
            </a:p>
          </p:txBody>
        </p:sp>
        <p:sp>
          <p:nvSpPr>
            <p:cNvPr id="30" name="Forma 29"/>
            <p:cNvSpPr/>
            <p:nvPr/>
          </p:nvSpPr>
          <p:spPr>
            <a:xfrm>
              <a:off x="1188720" y="5321808"/>
              <a:ext cx="10607040" cy="960120"/>
            </a:xfrm>
            <a:prstGeom prst="rect">
              <a:avLst/>
            </a:prstGeom>
            <a:solidFill>
              <a:srgbClr val="F9C6D0"/>
            </a:solidFill>
            <a:ln w="15875" cap="rnd">
              <a:solidFill>
                <a:srgbClr val="1E1E1E"/>
              </a:solidFill>
              <a:round/>
            </a:ln>
            <a:effectLst>
              <a:outerShdw blurRad="63500" dist="38100" dir="2700000" algn="tl" rotWithShape="0">
                <a:srgbClr val="000000">
                  <a:alpha val="32000"/>
                </a:srgbClr>
              </a:outerShdw>
            </a:effectLst>
          </p:spPr>
        </p:sp>
        <p:sp>
          <p:nvSpPr>
            <p:cNvPr id="31" name="Forma 30"/>
            <p:cNvSpPr txBox="1"/>
            <p:nvPr/>
          </p:nvSpPr>
          <p:spPr>
            <a:xfrm>
              <a:off x="1325880" y="5367528"/>
              <a:ext cx="3840480" cy="868680"/>
            </a:xfrm>
            <a:prstGeom prst="rect">
              <a:avLst/>
            </a:prstGeom>
            <a:noFill/>
            <a:ln>
              <a:noFill/>
            </a:ln>
          </p:spPr>
          <p:txBody>
            <a:bodyPr wrap="square" lIns="0" tIns="0" rIns="0" bIns="0" anchor="ctr" rtlCol="0">
              <a:noAutofit/>
            </a:bodyPr>
            <a:lstStyle/>
            <a:p>
              <a:pPr algn="l">
                <a:spcAft>
                  <a:spcPts val="300"/>
                </a:spcAft>
                <a:buNone/>
              </a:pPr>
              <a:r>
                <a:rPr lang="es-AR" sz="1700" b="1" dirty="0">
                  <a:solidFill>
                    <a:srgbClr val="1E1E1E"/>
                  </a:solidFill>
                  <a:latin typeface="Bahnschrift SemiBold Condensed"/>
                  <a:ea typeface="Bahnschrift SemiBold Condensed"/>
                  <a:cs typeface="Bahnschrift SemiBold Condensed"/>
                  <a:sym typeface="Bahnschrift SemiBold Condensed"/>
                </a:rPr>
                <a:t>¿Qué problema resuelve y qué pasa si falla?</a:t>
              </a:r>
              <a:endParaRPr lang="es-AR" sz="1700" dirty="0">
                <a:latin typeface="Bahnschrift SemiBold Condensed"/>
              </a:endParaRPr>
            </a:p>
          </p:txBody>
        </p:sp>
        <p:sp>
          <p:nvSpPr>
            <p:cNvPr id="32" name="Forma 31"/>
            <p:cNvSpPr txBox="1"/>
            <p:nvPr/>
          </p:nvSpPr>
          <p:spPr>
            <a:xfrm>
              <a:off x="5212080" y="5367528"/>
              <a:ext cx="5852160" cy="868680"/>
            </a:xfrm>
            <a:prstGeom prst="rect">
              <a:avLst/>
            </a:prstGeom>
            <a:noFill/>
            <a:ln>
              <a:noFill/>
            </a:ln>
          </p:spPr>
          <p:txBody>
            <a:bodyPr wrap="square" lIns="0" tIns="0" rIns="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Hipoglucemia, acidosis, hiperamonemia, esteatosis, hipertrigliceridemia o déficit de ATP</a:t>
              </a:r>
              <a:endParaRPr lang="es-AR" sz="1400" dirty="0">
                <a:latin typeface="Bahnschrift"/>
              </a:endParaRPr>
            </a:p>
          </p:txBody>
        </p:sp>
        <p:sp>
          <p:nvSpPr>
            <p:cNvPr id="33" name="Molécula cc"/>
            <p:cNvSpPr/>
            <p:nvPr/>
          </p:nvSpPr>
          <p:spPr>
            <a:xfrm>
              <a:off x="11201400" y="5596128"/>
              <a:ext cx="438912" cy="438912"/>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300" b="1" dirty="0">
                  <a:solidFill>
                    <a:srgbClr val="FFFFFF"/>
                  </a:solidFill>
                  <a:latin typeface="Bahnschrift SemiBold Condensed"/>
                  <a:ea typeface="Bahnschrift SemiBold Condensed"/>
                  <a:cs typeface="Bahnschrift SemiBold Condensed"/>
                  <a:sym typeface="Bahnschrift SemiBold Condensed"/>
                </a:rPr>
                <a:t>CC</a:t>
              </a:r>
              <a:endParaRPr lang="es-AR" sz="1300" dirty="0">
                <a:latin typeface="Bahnschrift SemiBold Condensed"/>
              </a:endParaRPr>
            </a:p>
          </p:txBody>
        </p:sp>
      </p:grpSp>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628177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ESQUEMA ORAL: CINCO PREGUNTAS MAESTRAS</a:t>
            </a:r>
            <a:endParaRPr lang="es-AR" sz="26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217</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rror 0"/>
          <p:cNvGrpSpPr/>
          <p:nvPr/>
        </p:nvGrpSpPr>
        <p:grpSpPr>
          <a:xfrm>
            <a:off x="365760" y="1005840"/>
            <a:ext cx="11430000" cy="749808"/>
            <a:chOff x="365760" y="1005840"/>
            <a:chExt cx="11430000" cy="749808"/>
          </a:xfrm>
        </p:grpSpPr>
        <p:sp>
          <p:nvSpPr>
            <p:cNvPr id="5" name="Forma 4"/>
            <p:cNvSpPr/>
            <p:nvPr/>
          </p:nvSpPr>
          <p:spPr>
            <a:xfrm>
              <a:off x="365760" y="100584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«El hígado quema sus propias cetonas»</a:t>
              </a:r>
              <a:endParaRPr lang="es-AR" sz="1400" dirty="0">
                <a:latin typeface="Bahnschrift"/>
              </a:endParaRPr>
            </a:p>
          </p:txBody>
        </p:sp>
        <p:sp>
          <p:nvSpPr>
            <p:cNvPr id="6" name="Flecha 5_2"/>
            <p:cNvSpPr/>
            <p:nvPr/>
          </p:nvSpPr>
          <p:spPr>
            <a:xfrm>
              <a:off x="6355080" y="138074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7" name="Forma 7"/>
            <p:cNvSpPr/>
            <p:nvPr/>
          </p:nvSpPr>
          <p:spPr>
            <a:xfrm>
              <a:off x="6766560" y="100584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Carece de </a:t>
              </a:r>
              <a:r>
                <a:rPr lang="es-AR" sz="1400" b="1" dirty="0">
                  <a:solidFill>
                    <a:srgbClr val="1E1E1E"/>
                  </a:solidFill>
                  <a:latin typeface="Bahnschrift"/>
                  <a:ea typeface="Bahnschrift"/>
                  <a:cs typeface="Bahnschrift"/>
                  <a:sym typeface="Bahnschrift"/>
                </a:rPr>
                <a:t>SCOT/OXCT1</a:t>
              </a:r>
              <a:r>
                <a:rPr lang="es-AR" sz="1400" dirty="0">
                  <a:solidFill>
                    <a:srgbClr val="1E1E1E"/>
                  </a:solidFill>
                  <a:latin typeface="Bahnschrift"/>
                  <a:ea typeface="Bahnschrift"/>
                  <a:cs typeface="Bahnschrift"/>
                  <a:sym typeface="Bahnschrift"/>
                </a:rPr>
                <a:t> funcional.</a:t>
              </a:r>
              <a:endParaRPr lang="es-AR" sz="1400" dirty="0">
                <a:latin typeface="Bahnschrift"/>
              </a:endParaRPr>
            </a:p>
          </p:txBody>
        </p:sp>
      </p:grpSp>
      <p:grpSp>
        <p:nvGrpSpPr>
          <p:cNvPr id="8" name="Error 1"/>
          <p:cNvGrpSpPr/>
          <p:nvPr/>
        </p:nvGrpSpPr>
        <p:grpSpPr>
          <a:xfrm>
            <a:off x="365760" y="1874520"/>
            <a:ext cx="11430000" cy="749808"/>
            <a:chOff x="365760" y="1874520"/>
            <a:chExt cx="11430000" cy="749808"/>
          </a:xfrm>
        </p:grpSpPr>
        <p:sp>
          <p:nvSpPr>
            <p:cNvPr id="9" name="Forma 9"/>
            <p:cNvSpPr/>
            <p:nvPr/>
          </p:nvSpPr>
          <p:spPr>
            <a:xfrm>
              <a:off x="365760" y="187452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«El músculo libera glucosa de su glucógeno al plasma»</a:t>
              </a:r>
              <a:endParaRPr lang="es-AR" sz="1400" dirty="0">
                <a:latin typeface="Bahnschrift"/>
              </a:endParaRPr>
            </a:p>
          </p:txBody>
        </p:sp>
        <p:sp>
          <p:nvSpPr>
            <p:cNvPr id="10" name="Flecha 10_2"/>
            <p:cNvSpPr/>
            <p:nvPr/>
          </p:nvSpPr>
          <p:spPr>
            <a:xfrm>
              <a:off x="6355080" y="224942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1" name="Forma 12"/>
            <p:cNvSpPr/>
            <p:nvPr/>
          </p:nvSpPr>
          <p:spPr>
            <a:xfrm>
              <a:off x="6766560" y="187452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No posee capacidad relevante de </a:t>
              </a:r>
              <a:r>
                <a:rPr lang="es-AR" sz="1400" b="1" dirty="0">
                  <a:solidFill>
                    <a:srgbClr val="1E1E1E"/>
                  </a:solidFill>
                  <a:latin typeface="Bahnschrift"/>
                  <a:ea typeface="Bahnschrift"/>
                  <a:cs typeface="Bahnschrift"/>
                  <a:sym typeface="Bahnschrift"/>
                </a:rPr>
                <a:t>G6Pasa</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12" name="Error 2"/>
          <p:cNvGrpSpPr/>
          <p:nvPr/>
        </p:nvGrpSpPr>
        <p:grpSpPr>
          <a:xfrm>
            <a:off x="365760" y="2743200"/>
            <a:ext cx="11430000" cy="749808"/>
            <a:chOff x="365760" y="2743200"/>
            <a:chExt cx="11430000" cy="749808"/>
          </a:xfrm>
        </p:grpSpPr>
        <p:sp>
          <p:nvSpPr>
            <p:cNvPr id="13" name="Forma 14"/>
            <p:cNvSpPr/>
            <p:nvPr/>
          </p:nvSpPr>
          <p:spPr>
            <a:xfrm>
              <a:off x="365760" y="274320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«El eritrocito usa cetonas y β-oxidación en ayuno»</a:t>
              </a:r>
              <a:endParaRPr lang="es-AR" sz="1400" dirty="0">
                <a:latin typeface="Bahnschrift"/>
              </a:endParaRPr>
            </a:p>
          </p:txBody>
        </p:sp>
        <p:sp>
          <p:nvSpPr>
            <p:cNvPr id="14" name="Flecha 15_2"/>
            <p:cNvSpPr/>
            <p:nvPr/>
          </p:nvSpPr>
          <p:spPr>
            <a:xfrm>
              <a:off x="6355080" y="311810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5" name="Forma 17"/>
            <p:cNvSpPr/>
            <p:nvPr/>
          </p:nvSpPr>
          <p:spPr>
            <a:xfrm>
              <a:off x="6766560" y="274320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No tiene </a:t>
              </a:r>
              <a:r>
                <a:rPr lang="es-AR" sz="1400" b="1" dirty="0">
                  <a:solidFill>
                    <a:srgbClr val="1E1E1E"/>
                  </a:solidFill>
                  <a:latin typeface="Bahnschrift"/>
                  <a:ea typeface="Bahnschrift"/>
                  <a:cs typeface="Bahnschrift"/>
                  <a:sym typeface="Bahnschrift"/>
                </a:rPr>
                <a:t>mitocondrias</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16" name="Error 3"/>
          <p:cNvGrpSpPr/>
          <p:nvPr/>
        </p:nvGrpSpPr>
        <p:grpSpPr>
          <a:xfrm>
            <a:off x="365760" y="3611880"/>
            <a:ext cx="11430000" cy="749808"/>
            <a:chOff x="365760" y="3611880"/>
            <a:chExt cx="11430000" cy="749808"/>
          </a:xfrm>
        </p:grpSpPr>
        <p:sp>
          <p:nvSpPr>
            <p:cNvPr id="17" name="Forma 19"/>
            <p:cNvSpPr/>
            <p:nvPr/>
          </p:nvSpPr>
          <p:spPr>
            <a:xfrm>
              <a:off x="365760" y="361188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«El glucagón siempre baja después de comer proteína»</a:t>
              </a:r>
              <a:endParaRPr lang="es-AR" sz="1400" dirty="0">
                <a:latin typeface="Bahnschrift"/>
              </a:endParaRPr>
            </a:p>
          </p:txBody>
        </p:sp>
        <p:sp>
          <p:nvSpPr>
            <p:cNvPr id="18" name="Flecha 20_2"/>
            <p:cNvSpPr/>
            <p:nvPr/>
          </p:nvSpPr>
          <p:spPr>
            <a:xfrm>
              <a:off x="6355080" y="398678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9" name="Forma 22"/>
            <p:cNvSpPr/>
            <p:nvPr/>
          </p:nvSpPr>
          <p:spPr>
            <a:xfrm>
              <a:off x="6766560" y="361188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Una comida proteica puede estimular </a:t>
              </a:r>
              <a:r>
                <a:rPr lang="es-AR" sz="1400" b="1" dirty="0">
                  <a:solidFill>
                    <a:srgbClr val="1E1E1E"/>
                  </a:solidFill>
                  <a:latin typeface="Bahnschrift"/>
                  <a:ea typeface="Bahnschrift"/>
                  <a:cs typeface="Bahnschrift"/>
                  <a:sym typeface="Bahnschrift"/>
                </a:rPr>
                <a:t>insulina y glucagón</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20" name="Error 4"/>
          <p:cNvGrpSpPr/>
          <p:nvPr/>
        </p:nvGrpSpPr>
        <p:grpSpPr>
          <a:xfrm>
            <a:off x="365760" y="4480560"/>
            <a:ext cx="11430000" cy="749808"/>
            <a:chOff x="365760" y="4480560"/>
            <a:chExt cx="11430000" cy="749808"/>
          </a:xfrm>
        </p:grpSpPr>
        <p:sp>
          <p:nvSpPr>
            <p:cNvPr id="21" name="Forma 24"/>
            <p:cNvSpPr/>
            <p:nvPr/>
          </p:nvSpPr>
          <p:spPr>
            <a:xfrm>
              <a:off x="365760" y="448056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«El lactato es desperdicio exclusivamente anaeróbico»</a:t>
              </a:r>
              <a:endParaRPr lang="es-AR" sz="1400" dirty="0">
                <a:latin typeface="Bahnschrift"/>
              </a:endParaRPr>
            </a:p>
          </p:txBody>
        </p:sp>
        <p:sp>
          <p:nvSpPr>
            <p:cNvPr id="22" name="Flecha 25_2"/>
            <p:cNvSpPr/>
            <p:nvPr/>
          </p:nvSpPr>
          <p:spPr>
            <a:xfrm>
              <a:off x="6355080" y="485546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23" name="Forma 27"/>
            <p:cNvSpPr/>
            <p:nvPr/>
          </p:nvSpPr>
          <p:spPr>
            <a:xfrm>
              <a:off x="6766560" y="448056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También es </a:t>
              </a:r>
              <a:r>
                <a:rPr lang="es-AR" sz="1400" b="1" dirty="0">
                  <a:solidFill>
                    <a:srgbClr val="1E1E1E"/>
                  </a:solidFill>
                  <a:latin typeface="Bahnschrift"/>
                  <a:ea typeface="Bahnschrift"/>
                  <a:cs typeface="Bahnschrift"/>
                  <a:sym typeface="Bahnschrift"/>
                </a:rPr>
                <a:t>combustible</a:t>
              </a:r>
              <a:r>
                <a:rPr lang="es-AR" sz="1400" dirty="0">
                  <a:solidFill>
                    <a:srgbClr val="1E1E1E"/>
                  </a:solidFill>
                  <a:latin typeface="Bahnschrift"/>
                  <a:ea typeface="Bahnschrift"/>
                  <a:cs typeface="Bahnschrift"/>
                  <a:sym typeface="Bahnschrift"/>
                </a:rPr>
                <a:t>, precursor de glucosa y metabolito señal.</a:t>
              </a:r>
              <a:endParaRPr lang="es-AR" sz="1400" dirty="0">
                <a:latin typeface="Bahnschrift"/>
              </a:endParaRPr>
            </a:p>
          </p:txBody>
        </p:sp>
      </p:grpSp>
      <p:grpSp>
        <p:nvGrpSpPr>
          <p:cNvPr id="24" name="Error 5"/>
          <p:cNvGrpSpPr/>
          <p:nvPr/>
        </p:nvGrpSpPr>
        <p:grpSpPr>
          <a:xfrm>
            <a:off x="365760" y="5349240"/>
            <a:ext cx="11430000" cy="749808"/>
            <a:chOff x="365760" y="5349240"/>
            <a:chExt cx="11430000" cy="749808"/>
          </a:xfrm>
        </p:grpSpPr>
        <p:sp>
          <p:nvSpPr>
            <p:cNvPr id="25" name="Forma 29"/>
            <p:cNvSpPr/>
            <p:nvPr/>
          </p:nvSpPr>
          <p:spPr>
            <a:xfrm>
              <a:off x="365760" y="534924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«Toda la fructosa se convierte en grasa»</a:t>
              </a:r>
              <a:endParaRPr lang="es-AR" sz="1400" dirty="0">
                <a:latin typeface="Bahnschrift"/>
              </a:endParaRPr>
            </a:p>
          </p:txBody>
        </p:sp>
        <p:sp>
          <p:nvSpPr>
            <p:cNvPr id="26" name="Flecha 30_2"/>
            <p:cNvSpPr/>
            <p:nvPr/>
          </p:nvSpPr>
          <p:spPr>
            <a:xfrm>
              <a:off x="6355080" y="572414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27" name="Forma 32"/>
            <p:cNvSpPr/>
            <p:nvPr/>
          </p:nvSpPr>
          <p:spPr>
            <a:xfrm>
              <a:off x="6766560" y="534924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Muchos destinos; la DNL puede aumentar con </a:t>
              </a:r>
              <a:r>
                <a:rPr lang="es-AR" sz="1400" b="1" dirty="0">
                  <a:solidFill>
                    <a:srgbClr val="1E1E1E"/>
                  </a:solidFill>
                  <a:latin typeface="Bahnschrift"/>
                  <a:ea typeface="Bahnschrift"/>
                  <a:cs typeface="Bahnschrift"/>
                  <a:sym typeface="Bahnschrift"/>
                </a:rPr>
                <a:t>altas cargas</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6070173"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ERRORES CONCEPTUALES FRECUENTES (1/2)</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218</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Error 0"/>
          <p:cNvGrpSpPr/>
          <p:nvPr/>
        </p:nvGrpSpPr>
        <p:grpSpPr>
          <a:xfrm>
            <a:off x="365760" y="1005840"/>
            <a:ext cx="11430000" cy="749808"/>
            <a:chOff x="365760" y="1005840"/>
            <a:chExt cx="11430000" cy="749808"/>
          </a:xfrm>
        </p:grpSpPr>
        <p:sp>
          <p:nvSpPr>
            <p:cNvPr id="5" name="Forma 4"/>
            <p:cNvSpPr/>
            <p:nvPr/>
          </p:nvSpPr>
          <p:spPr>
            <a:xfrm>
              <a:off x="365760" y="100584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«La urea aumenta sin límite cuanto más dura la inanición»</a:t>
              </a:r>
              <a:endParaRPr lang="es-AR" sz="1400" dirty="0">
                <a:latin typeface="Bahnschrift"/>
              </a:endParaRPr>
            </a:p>
          </p:txBody>
        </p:sp>
        <p:sp>
          <p:nvSpPr>
            <p:cNvPr id="6" name="Flecha 5_2"/>
            <p:cNvSpPr/>
            <p:nvPr/>
          </p:nvSpPr>
          <p:spPr>
            <a:xfrm>
              <a:off x="6355080" y="138074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7" name="Forma 7"/>
            <p:cNvSpPr/>
            <p:nvPr/>
          </p:nvSpPr>
          <p:spPr>
            <a:xfrm>
              <a:off x="6766560" y="100584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La adaptación cetónica </a:t>
              </a:r>
              <a:r>
                <a:rPr lang="es-AR" sz="1400" b="1" dirty="0">
                  <a:solidFill>
                    <a:srgbClr val="1E1E1E"/>
                  </a:solidFill>
                  <a:latin typeface="Bahnschrift"/>
                  <a:ea typeface="Bahnschrift"/>
                  <a:cs typeface="Bahnschrift"/>
                  <a:sym typeface="Bahnschrift"/>
                </a:rPr>
                <a:t>ahorra proteína</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8" name="Error 1"/>
          <p:cNvGrpSpPr/>
          <p:nvPr/>
        </p:nvGrpSpPr>
        <p:grpSpPr>
          <a:xfrm>
            <a:off x="365760" y="1874520"/>
            <a:ext cx="11430000" cy="749808"/>
            <a:chOff x="365760" y="1874520"/>
            <a:chExt cx="11430000" cy="749808"/>
          </a:xfrm>
        </p:grpSpPr>
        <p:sp>
          <p:nvSpPr>
            <p:cNvPr id="9" name="Forma 9"/>
            <p:cNvSpPr/>
            <p:nvPr/>
          </p:nvSpPr>
          <p:spPr>
            <a:xfrm>
              <a:off x="365760" y="187452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«HDL-C alto necesariamente evita la aterosclerosis»</a:t>
              </a:r>
              <a:endParaRPr lang="es-AR" sz="1400" dirty="0">
                <a:latin typeface="Bahnschrift"/>
              </a:endParaRPr>
            </a:p>
          </p:txBody>
        </p:sp>
        <p:sp>
          <p:nvSpPr>
            <p:cNvPr id="10" name="Flecha 10_2"/>
            <p:cNvSpPr/>
            <p:nvPr/>
          </p:nvSpPr>
          <p:spPr>
            <a:xfrm>
              <a:off x="6355080" y="224942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1" name="Forma 12"/>
            <p:cNvSpPr/>
            <p:nvPr/>
          </p:nvSpPr>
          <p:spPr>
            <a:xfrm>
              <a:off x="6766560" y="187452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Concentración ≠ </a:t>
              </a:r>
              <a:r>
                <a:rPr lang="es-AR" sz="1400" b="1" dirty="0">
                  <a:solidFill>
                    <a:srgbClr val="1E1E1E"/>
                  </a:solidFill>
                  <a:latin typeface="Bahnschrift"/>
                  <a:ea typeface="Bahnschrift"/>
                  <a:cs typeface="Bahnschrift"/>
                  <a:sym typeface="Bahnschrift"/>
                </a:rPr>
                <a:t>funcionalidad</a:t>
              </a:r>
              <a:r>
                <a:rPr lang="es-AR" sz="1400" dirty="0">
                  <a:solidFill>
                    <a:srgbClr val="1E1E1E"/>
                  </a:solidFill>
                  <a:latin typeface="Bahnschrift"/>
                  <a:ea typeface="Bahnschrift"/>
                  <a:cs typeface="Bahnschrift"/>
                  <a:sym typeface="Bahnschrift"/>
                </a:rPr>
                <a:t>; la retención de </a:t>
              </a:r>
              <a:r>
                <a:rPr lang="es-AR" sz="1400" b="1" dirty="0">
                  <a:solidFill>
                    <a:srgbClr val="1E1E1E"/>
                  </a:solidFill>
                  <a:latin typeface="Bahnschrift"/>
                  <a:ea typeface="Bahnschrift"/>
                  <a:cs typeface="Bahnschrift"/>
                  <a:sym typeface="Bahnschrift"/>
                </a:rPr>
                <a:t>ApoB</a:t>
              </a:r>
              <a:r>
                <a:rPr lang="es-AR" sz="1400" dirty="0">
                  <a:solidFill>
                    <a:srgbClr val="1E1E1E"/>
                  </a:solidFill>
                  <a:latin typeface="Bahnschrift"/>
                  <a:ea typeface="Bahnschrift"/>
                  <a:cs typeface="Bahnschrift"/>
                  <a:sym typeface="Bahnschrift"/>
                </a:rPr>
                <a:t> es causal.</a:t>
              </a:r>
              <a:endParaRPr lang="es-AR" sz="1400" dirty="0">
                <a:latin typeface="Bahnschrift"/>
              </a:endParaRPr>
            </a:p>
          </p:txBody>
        </p:sp>
      </p:grpSp>
      <p:grpSp>
        <p:nvGrpSpPr>
          <p:cNvPr id="12" name="Error 2"/>
          <p:cNvGrpSpPr/>
          <p:nvPr/>
        </p:nvGrpSpPr>
        <p:grpSpPr>
          <a:xfrm>
            <a:off x="365760" y="2743200"/>
            <a:ext cx="11430000" cy="749808"/>
            <a:chOff x="365760" y="2743200"/>
            <a:chExt cx="11430000" cy="749808"/>
          </a:xfrm>
        </p:grpSpPr>
        <p:sp>
          <p:nvSpPr>
            <p:cNvPr id="13" name="Forma 14"/>
            <p:cNvSpPr/>
            <p:nvPr/>
          </p:nvSpPr>
          <p:spPr>
            <a:xfrm>
              <a:off x="365760" y="274320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«MCT sirve para reemplazar todas las grasas»</a:t>
              </a:r>
              <a:endParaRPr lang="es-AR" sz="1400" dirty="0">
                <a:latin typeface="Bahnschrift"/>
              </a:endParaRPr>
            </a:p>
          </p:txBody>
        </p:sp>
        <p:sp>
          <p:nvSpPr>
            <p:cNvPr id="14" name="Flecha 15_2"/>
            <p:cNvSpPr/>
            <p:nvPr/>
          </p:nvSpPr>
          <p:spPr>
            <a:xfrm>
              <a:off x="6355080" y="311810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5" name="Forma 17"/>
            <p:cNvSpPr/>
            <p:nvPr/>
          </p:nvSpPr>
          <p:spPr>
            <a:xfrm>
              <a:off x="6766560" y="274320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Se precisan </a:t>
              </a:r>
              <a:r>
                <a:rPr lang="es-AR" sz="1400" b="1" dirty="0">
                  <a:solidFill>
                    <a:srgbClr val="1E1E1E"/>
                  </a:solidFill>
                  <a:latin typeface="Bahnschrift"/>
                  <a:ea typeface="Bahnschrift"/>
                  <a:cs typeface="Bahnschrift"/>
                  <a:sym typeface="Bahnschrift"/>
                </a:rPr>
                <a:t>AG esenciales</a:t>
              </a:r>
              <a:r>
                <a:rPr lang="es-AR" sz="1400" dirty="0">
                  <a:solidFill>
                    <a:srgbClr val="1E1E1E"/>
                  </a:solidFill>
                  <a:latin typeface="Bahnschrift"/>
                  <a:ea typeface="Bahnschrift"/>
                  <a:cs typeface="Bahnschrift"/>
                  <a:sym typeface="Bahnschrift"/>
                </a:rPr>
                <a:t> y vitaminas liposolubles.</a:t>
              </a:r>
              <a:endParaRPr lang="es-AR" sz="1400" dirty="0">
                <a:latin typeface="Bahnschrift"/>
              </a:endParaRPr>
            </a:p>
          </p:txBody>
        </p:sp>
      </p:grpSp>
      <p:grpSp>
        <p:nvGrpSpPr>
          <p:cNvPr id="16" name="Error 3"/>
          <p:cNvGrpSpPr/>
          <p:nvPr/>
        </p:nvGrpSpPr>
        <p:grpSpPr>
          <a:xfrm>
            <a:off x="365760" y="3611880"/>
            <a:ext cx="11430000" cy="749808"/>
            <a:chOff x="365760" y="3611880"/>
            <a:chExt cx="11430000" cy="749808"/>
          </a:xfrm>
        </p:grpSpPr>
        <p:sp>
          <p:nvSpPr>
            <p:cNvPr id="17" name="Forma 19"/>
            <p:cNvSpPr/>
            <p:nvPr/>
          </p:nvSpPr>
          <p:spPr>
            <a:xfrm>
              <a:off x="365760" y="361188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«En encefalopatía conviene siempre bajar proteína a 0,8 g/kg»</a:t>
              </a:r>
              <a:endParaRPr lang="es-AR" sz="1400" dirty="0">
                <a:latin typeface="Bahnschrift"/>
              </a:endParaRPr>
            </a:p>
          </p:txBody>
        </p:sp>
        <p:sp>
          <p:nvSpPr>
            <p:cNvPr id="18" name="Flecha 20_2"/>
            <p:cNvSpPr/>
            <p:nvPr/>
          </p:nvSpPr>
          <p:spPr>
            <a:xfrm>
              <a:off x="6355080" y="398678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19" name="Forma 22"/>
            <p:cNvSpPr/>
            <p:nvPr/>
          </p:nvSpPr>
          <p:spPr>
            <a:xfrm>
              <a:off x="6766560" y="361188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No es recomendación general </a:t>
              </a:r>
              <a:r>
                <a:rPr lang="es-AR" sz="1400" b="1" dirty="0">
                  <a:solidFill>
                    <a:srgbClr val="1E1E1E"/>
                  </a:solidFill>
                  <a:latin typeface="Bahnschrift"/>
                  <a:ea typeface="Bahnschrift"/>
                  <a:cs typeface="Bahnschrift"/>
                  <a:sym typeface="Bahnschrift"/>
                </a:rPr>
                <a:t>actual</a:t>
              </a:r>
              <a:r>
                <a:rPr lang="es-AR" sz="1400" dirty="0">
                  <a:solidFill>
                    <a:srgbClr val="1E1E1E"/>
                  </a:solidFill>
                  <a:latin typeface="Bahnschrift"/>
                  <a:ea typeface="Bahnschrift"/>
                  <a:cs typeface="Bahnschrift"/>
                  <a:sym typeface="Bahnschrift"/>
                </a:rPr>
                <a:t>.</a:t>
              </a:r>
              <a:endParaRPr lang="es-AR" sz="1400" dirty="0">
                <a:latin typeface="Bahnschrift"/>
              </a:endParaRPr>
            </a:p>
          </p:txBody>
        </p:sp>
      </p:grpSp>
      <p:grpSp>
        <p:nvGrpSpPr>
          <p:cNvPr id="20" name="Error 4"/>
          <p:cNvGrpSpPr/>
          <p:nvPr/>
        </p:nvGrpSpPr>
        <p:grpSpPr>
          <a:xfrm>
            <a:off x="365760" y="4480560"/>
            <a:ext cx="11430000" cy="749808"/>
            <a:chOff x="365760" y="4480560"/>
            <a:chExt cx="11430000" cy="749808"/>
          </a:xfrm>
        </p:grpSpPr>
        <p:sp>
          <p:nvSpPr>
            <p:cNvPr id="21" name="Forma 24"/>
            <p:cNvSpPr/>
            <p:nvPr/>
          </p:nvSpPr>
          <p:spPr>
            <a:xfrm>
              <a:off x="365760" y="448056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«AMPK es una enzima que fabrica ATP»</a:t>
              </a:r>
              <a:endParaRPr lang="es-AR" sz="1400" dirty="0">
                <a:latin typeface="Bahnschrift"/>
              </a:endParaRPr>
            </a:p>
          </p:txBody>
        </p:sp>
        <p:sp>
          <p:nvSpPr>
            <p:cNvPr id="22" name="Flecha 25_2"/>
            <p:cNvSpPr/>
            <p:nvPr/>
          </p:nvSpPr>
          <p:spPr>
            <a:xfrm>
              <a:off x="6355080" y="485546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23" name="Forma 27"/>
            <p:cNvSpPr/>
            <p:nvPr/>
          </p:nvSpPr>
          <p:spPr>
            <a:xfrm>
              <a:off x="6766560" y="448056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Es </a:t>
              </a:r>
              <a:r>
                <a:rPr lang="es-AR" sz="1400" b="1" dirty="0">
                  <a:solidFill>
                    <a:srgbClr val="1E1E1E"/>
                  </a:solidFill>
                  <a:latin typeface="Bahnschrift"/>
                  <a:ea typeface="Bahnschrift"/>
                  <a:cs typeface="Bahnschrift"/>
                  <a:sym typeface="Bahnschrift"/>
                </a:rPr>
                <a:t>sensor</a:t>
              </a:r>
              <a:r>
                <a:rPr lang="es-AR" sz="1400" dirty="0">
                  <a:solidFill>
                    <a:srgbClr val="1E1E1E"/>
                  </a:solidFill>
                  <a:latin typeface="Bahnschrift"/>
                  <a:ea typeface="Bahnschrift"/>
                  <a:cs typeface="Bahnschrift"/>
                  <a:sym typeface="Bahnschrift"/>
                </a:rPr>
                <a:t> y regulador que redirige flujos.</a:t>
              </a:r>
              <a:endParaRPr lang="es-AR" sz="1400" dirty="0">
                <a:latin typeface="Bahnschrift"/>
              </a:endParaRPr>
            </a:p>
          </p:txBody>
        </p:sp>
      </p:grpSp>
      <p:grpSp>
        <p:nvGrpSpPr>
          <p:cNvPr id="24" name="Error 5"/>
          <p:cNvGrpSpPr/>
          <p:nvPr/>
        </p:nvGrpSpPr>
        <p:grpSpPr>
          <a:xfrm>
            <a:off x="365760" y="5349240"/>
            <a:ext cx="11430000" cy="749808"/>
            <a:chOff x="365760" y="5349240"/>
            <a:chExt cx="11430000" cy="749808"/>
          </a:xfrm>
        </p:grpSpPr>
        <p:sp>
          <p:nvSpPr>
            <p:cNvPr id="25" name="Forma 29"/>
            <p:cNvSpPr/>
            <p:nvPr/>
          </p:nvSpPr>
          <p:spPr>
            <a:xfrm>
              <a:off x="365760" y="5349240"/>
              <a:ext cx="5943600" cy="749808"/>
            </a:xfrm>
            <a:prstGeom prst="rect">
              <a:avLst/>
            </a:prstGeom>
            <a:solidFill>
              <a:srgbClr val="FAD3BC"/>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«PYY y polipéptido pancreático son lo mismo»</a:t>
              </a:r>
              <a:endParaRPr lang="es-AR" sz="1400" dirty="0">
                <a:latin typeface="Bahnschrift"/>
              </a:endParaRPr>
            </a:p>
          </p:txBody>
        </p:sp>
        <p:sp>
          <p:nvSpPr>
            <p:cNvPr id="26" name="Flecha 30_2"/>
            <p:cNvSpPr/>
            <p:nvPr/>
          </p:nvSpPr>
          <p:spPr>
            <a:xfrm>
              <a:off x="6355080" y="5724144"/>
              <a:ext cx="365760" cy="9144"/>
            </a:xfrm>
            <a:custGeom>
              <a:avLst/>
              <a:gdLst/>
              <a:ahLst/>
              <a:cxnLst/>
              <a:rect l="0" t="0" r="r" b="b"/>
              <a:pathLst>
                <a:path w="399" h="10" fill="none">
                  <a:moveTo>
                    <a:pt x="0" y="0"/>
                  </a:moveTo>
                  <a:lnTo>
                    <a:pt x="399" y="0"/>
                  </a:lnTo>
                </a:path>
              </a:pathLst>
            </a:custGeom>
            <a:noFill/>
            <a:ln w="38100" cap="rnd">
              <a:solidFill>
                <a:srgbClr val="1E8C3A"/>
              </a:solidFill>
              <a:round/>
              <a:tailEnd type="triangle" w="med" len="med"/>
            </a:ln>
          </p:spPr>
        </p:sp>
        <p:sp>
          <p:nvSpPr>
            <p:cNvPr id="27" name="Forma 32"/>
            <p:cNvSpPr/>
            <p:nvPr/>
          </p:nvSpPr>
          <p:spPr>
            <a:xfrm>
              <a:off x="6766560" y="5349240"/>
              <a:ext cx="5029200" cy="749808"/>
            </a:xfrm>
            <a:prstGeom prst="rect">
              <a:avLst/>
            </a:prstGeom>
            <a:solidFill>
              <a:srgbClr val="CDE8C4"/>
            </a:solidFill>
            <a:ln w="15875" cap="rnd">
              <a:solidFill>
                <a:srgbClr val="1E1E1E"/>
              </a:solidFill>
              <a:round/>
            </a:ln>
            <a:effectLst>
              <a:outerShdw blurRad="63500" dist="38100" dir="2700000" algn="tl" rotWithShape="0">
                <a:srgbClr val="000000">
                  <a:alpha val="32000"/>
                </a:srgbClr>
              </a:outerShdw>
            </a:effectLst>
          </p:spPr>
          <p:txBody>
            <a:bodyPr wrap="square" lIns="137160" tIns="0" rIns="91440" bIns="0" anchor="ctr" rtlCol="0">
              <a:noAutofit/>
            </a:bodyPr>
            <a:lstStyle/>
            <a:p>
              <a:pPr algn="l">
                <a:spcAft>
                  <a:spcPts val="300"/>
                </a:spcAft>
                <a:buNone/>
              </a:pPr>
              <a:r>
                <a:rPr lang="es-AR" sz="1400" dirty="0">
                  <a:solidFill>
                    <a:srgbClr val="1E1E1E"/>
                  </a:solidFill>
                  <a:latin typeface="Bahnschrift"/>
                  <a:ea typeface="Bahnschrift"/>
                  <a:cs typeface="Bahnschrift"/>
                  <a:sym typeface="Bahnschrift"/>
                </a:rPr>
                <a:t>✓  Son </a:t>
              </a:r>
              <a:r>
                <a:rPr lang="es-AR" sz="1400" b="1" dirty="0">
                  <a:solidFill>
                    <a:srgbClr val="1E1E1E"/>
                  </a:solidFill>
                  <a:latin typeface="Bahnschrift"/>
                  <a:ea typeface="Bahnschrift"/>
                  <a:cs typeface="Bahnschrift"/>
                  <a:sym typeface="Bahnschrift"/>
                </a:rPr>
                <a:t>distintos</a:t>
              </a:r>
              <a:r>
                <a:rPr lang="es-AR" sz="1400" dirty="0">
                  <a:solidFill>
                    <a:srgbClr val="1E1E1E"/>
                  </a:solidFill>
                  <a:latin typeface="Bahnschrift"/>
                  <a:ea typeface="Bahnschrift"/>
                  <a:cs typeface="Bahnschrift"/>
                  <a:sym typeface="Bahnschrift"/>
                </a:rPr>
                <a:t>, aunque de una familia de péptidos afines.</a:t>
              </a:r>
              <a:endParaRPr lang="es-AR" sz="1400" dirty="0">
                <a:latin typeface="Bahnschrift"/>
              </a:endParaRPr>
            </a:p>
          </p:txBody>
        </p:sp>
      </p:grpSp>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612565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ERRORES CONCEPTUALES FRECUENTES (2/2)</a:t>
            </a:r>
            <a:endParaRPr lang="es-AR" sz="2600" dirty="0">
              <a:latin typeface="Bahnschrift SemiBold Condensed"/>
            </a:endParaRPr>
          </a:p>
        </p:txBody>
      </p:sp>
      <p:sp>
        <p:nvSpPr>
          <p:cNvPr id="28"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219</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Distinción Estado alimentado"/>
          <p:cNvGrpSpPr/>
          <p:nvPr/>
        </p:nvGrpSpPr>
        <p:grpSpPr>
          <a:xfrm>
            <a:off x="365760" y="1005840"/>
            <a:ext cx="5623560" cy="1554480"/>
            <a:chOff x="365760" y="1005840"/>
            <a:chExt cx="5623560" cy="1554480"/>
          </a:xfrm>
        </p:grpSpPr>
        <p:sp>
          <p:nvSpPr>
            <p:cNvPr id="5" name="Forma 4"/>
            <p:cNvSpPr/>
            <p:nvPr/>
          </p:nvSpPr>
          <p:spPr>
            <a:xfrm>
              <a:off x="365760" y="100584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6" name="Forma 5"/>
            <p:cNvSpPr/>
            <p:nvPr/>
          </p:nvSpPr>
          <p:spPr>
            <a:xfrm>
              <a:off x="475488" y="1115568"/>
              <a:ext cx="1498527"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Estado alimentado</a:t>
              </a:r>
              <a:endParaRPr lang="es-AR" sz="1350" dirty="0">
                <a:latin typeface="Bahnschrift SemiBold Condensed"/>
              </a:endParaRPr>
            </a:p>
          </p:txBody>
        </p:sp>
        <p:sp>
          <p:nvSpPr>
            <p:cNvPr id="7" name="Forma 6"/>
            <p:cNvSpPr txBox="1"/>
            <p:nvPr/>
          </p:nvSpPr>
          <p:spPr>
            <a:xfrm>
              <a:off x="2092887" y="111556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8" name="Forma 7"/>
            <p:cNvSpPr/>
            <p:nvPr/>
          </p:nvSpPr>
          <p:spPr>
            <a:xfrm>
              <a:off x="2595807" y="1115568"/>
              <a:ext cx="1631020"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Estado posabsortivo</a:t>
              </a:r>
              <a:endParaRPr lang="es-AR" sz="1350" dirty="0">
                <a:latin typeface="Bahnschrift SemiBold Condensed"/>
              </a:endParaRPr>
            </a:p>
          </p:txBody>
        </p:sp>
        <p:sp>
          <p:nvSpPr>
            <p:cNvPr id="9" name="Forma 8"/>
            <p:cNvSpPr txBox="1"/>
            <p:nvPr/>
          </p:nvSpPr>
          <p:spPr>
            <a:xfrm>
              <a:off x="502920" y="160020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Absorción activa e insulina alta frente a producción endógena de glucosa sin aporte intestinal.</a:t>
              </a:r>
              <a:endParaRPr lang="es-AR" sz="1350" dirty="0">
                <a:latin typeface="Bahnschrift"/>
              </a:endParaRPr>
            </a:p>
          </p:txBody>
        </p:sp>
      </p:grpSp>
      <p:grpSp>
        <p:nvGrpSpPr>
          <p:cNvPr id="10" name="Distinción Cetosis fisiológica"/>
          <p:cNvGrpSpPr/>
          <p:nvPr/>
        </p:nvGrpSpPr>
        <p:grpSpPr>
          <a:xfrm>
            <a:off x="6172200" y="1005840"/>
            <a:ext cx="5623560" cy="1554480"/>
            <a:chOff x="6172200" y="1005840"/>
            <a:chExt cx="5623560" cy="1554480"/>
          </a:xfrm>
        </p:grpSpPr>
        <p:sp>
          <p:nvSpPr>
            <p:cNvPr id="11" name="Forma 10"/>
            <p:cNvSpPr/>
            <p:nvPr/>
          </p:nvSpPr>
          <p:spPr>
            <a:xfrm>
              <a:off x="6172200" y="100584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12" name="Forma 11"/>
            <p:cNvSpPr/>
            <p:nvPr/>
          </p:nvSpPr>
          <p:spPr>
            <a:xfrm>
              <a:off x="6281928" y="1115568"/>
              <a:ext cx="1487614"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Cetosis fisiológica</a:t>
              </a:r>
              <a:endParaRPr lang="es-AR" sz="1350" dirty="0">
                <a:latin typeface="Bahnschrift SemiBold Condensed"/>
              </a:endParaRPr>
            </a:p>
          </p:txBody>
        </p:sp>
        <p:sp>
          <p:nvSpPr>
            <p:cNvPr id="13" name="Forma 12"/>
            <p:cNvSpPr txBox="1"/>
            <p:nvPr/>
          </p:nvSpPr>
          <p:spPr>
            <a:xfrm>
              <a:off x="7888414" y="111556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14" name="Forma 13"/>
            <p:cNvSpPr/>
            <p:nvPr/>
          </p:nvSpPr>
          <p:spPr>
            <a:xfrm>
              <a:off x="8391334" y="1115568"/>
              <a:ext cx="1112260"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Cetoacidosis</a:t>
              </a:r>
              <a:endParaRPr lang="es-AR" sz="1350" dirty="0">
                <a:latin typeface="Bahnschrift SemiBold Condensed"/>
              </a:endParaRPr>
            </a:p>
          </p:txBody>
        </p:sp>
        <p:sp>
          <p:nvSpPr>
            <p:cNvPr id="15" name="Forma 14"/>
            <p:cNvSpPr txBox="1"/>
            <p:nvPr/>
          </p:nvSpPr>
          <p:spPr>
            <a:xfrm>
              <a:off x="6309360" y="160020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Insulina residual y pH conservado frente a insulinopenia, producción &gt; utilización y acidosis.</a:t>
              </a:r>
              <a:endParaRPr lang="es-AR" sz="1350" dirty="0">
                <a:latin typeface="Bahnschrift"/>
              </a:endParaRPr>
            </a:p>
          </p:txBody>
        </p:sp>
      </p:grpSp>
      <p:grpSp>
        <p:nvGrpSpPr>
          <p:cNvPr id="16" name="Distinción Glucogenólisis"/>
          <p:cNvGrpSpPr/>
          <p:nvPr/>
        </p:nvGrpSpPr>
        <p:grpSpPr>
          <a:xfrm>
            <a:off x="365760" y="2697480"/>
            <a:ext cx="5623560" cy="1554480"/>
            <a:chOff x="365760" y="2697480"/>
            <a:chExt cx="5623560" cy="1554480"/>
          </a:xfrm>
        </p:grpSpPr>
        <p:sp>
          <p:nvSpPr>
            <p:cNvPr id="17" name="Forma 16"/>
            <p:cNvSpPr/>
            <p:nvPr/>
          </p:nvSpPr>
          <p:spPr>
            <a:xfrm>
              <a:off x="365760" y="269748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18" name="Forma 17"/>
            <p:cNvSpPr/>
            <p:nvPr/>
          </p:nvSpPr>
          <p:spPr>
            <a:xfrm>
              <a:off x="475488" y="2807208"/>
              <a:ext cx="1221970"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Glucogenólisis</a:t>
              </a:r>
              <a:endParaRPr lang="es-AR" sz="1350" dirty="0">
                <a:latin typeface="Bahnschrift SemiBold Condensed"/>
              </a:endParaRPr>
            </a:p>
          </p:txBody>
        </p:sp>
        <p:sp>
          <p:nvSpPr>
            <p:cNvPr id="19" name="Forma 18"/>
            <p:cNvSpPr txBox="1"/>
            <p:nvPr/>
          </p:nvSpPr>
          <p:spPr>
            <a:xfrm>
              <a:off x="1816330" y="280720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20" name="Forma 19"/>
            <p:cNvSpPr/>
            <p:nvPr/>
          </p:nvSpPr>
          <p:spPr>
            <a:xfrm>
              <a:off x="2319250" y="2807208"/>
              <a:ext cx="1387968"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Gluconeogénesis</a:t>
              </a:r>
              <a:endParaRPr lang="es-AR" sz="1350" dirty="0">
                <a:latin typeface="Bahnschrift SemiBold Condensed"/>
              </a:endParaRPr>
            </a:p>
          </p:txBody>
        </p:sp>
        <p:sp>
          <p:nvSpPr>
            <p:cNvPr id="21" name="Forma 20"/>
            <p:cNvSpPr txBox="1"/>
            <p:nvPr/>
          </p:nvSpPr>
          <p:spPr>
            <a:xfrm>
              <a:off x="502920" y="329184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Moviliza glucosa almacenada (horas iniciales) frente a síntesis nueva desde lactato, AA y glicerol (consume ATP/GTP).</a:t>
              </a:r>
              <a:endParaRPr lang="es-AR" sz="1350" dirty="0">
                <a:latin typeface="Bahnschrift"/>
              </a:endParaRPr>
            </a:p>
          </p:txBody>
        </p:sp>
      </p:grpSp>
      <p:grpSp>
        <p:nvGrpSpPr>
          <p:cNvPr id="22" name="Distinción Oxidación lipídica"/>
          <p:cNvGrpSpPr/>
          <p:nvPr/>
        </p:nvGrpSpPr>
        <p:grpSpPr>
          <a:xfrm>
            <a:off x="6172200" y="2697480"/>
            <a:ext cx="5623560" cy="1554480"/>
            <a:chOff x="6172200" y="2697480"/>
            <a:chExt cx="5623560" cy="1554480"/>
          </a:xfrm>
        </p:grpSpPr>
        <p:sp>
          <p:nvSpPr>
            <p:cNvPr id="23" name="Forma 22"/>
            <p:cNvSpPr/>
            <p:nvPr/>
          </p:nvSpPr>
          <p:spPr>
            <a:xfrm>
              <a:off x="6172200" y="269748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24" name="Forma 23"/>
            <p:cNvSpPr/>
            <p:nvPr/>
          </p:nvSpPr>
          <p:spPr>
            <a:xfrm>
              <a:off x="6281928" y="2807208"/>
              <a:ext cx="1434234"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Oxidación lipídica</a:t>
              </a:r>
              <a:endParaRPr lang="es-AR" sz="1350" dirty="0">
                <a:latin typeface="Bahnschrift SemiBold Condensed"/>
              </a:endParaRPr>
            </a:p>
          </p:txBody>
        </p:sp>
        <p:sp>
          <p:nvSpPr>
            <p:cNvPr id="25" name="Forma 24"/>
            <p:cNvSpPr txBox="1"/>
            <p:nvPr/>
          </p:nvSpPr>
          <p:spPr>
            <a:xfrm>
              <a:off x="7835034" y="280720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26" name="Forma 25"/>
            <p:cNvSpPr/>
            <p:nvPr/>
          </p:nvSpPr>
          <p:spPr>
            <a:xfrm>
              <a:off x="8337954" y="2807208"/>
              <a:ext cx="1052468"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Lipogénesis</a:t>
              </a:r>
              <a:endParaRPr lang="es-AR" sz="1350" dirty="0">
                <a:latin typeface="Bahnschrift SemiBold Condensed"/>
              </a:endParaRPr>
            </a:p>
          </p:txBody>
        </p:sp>
        <p:sp>
          <p:nvSpPr>
            <p:cNvPr id="27" name="Forma 26"/>
            <p:cNvSpPr txBox="1"/>
            <p:nvPr/>
          </p:nvSpPr>
          <p:spPr>
            <a:xfrm>
              <a:off x="6309360" y="329184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Mitocondria, CPT1 libre (malonil ↓) frente a citosol, ACC/FASN y malonil-CoA ↑.</a:t>
              </a:r>
              <a:endParaRPr lang="es-AR" sz="1350" dirty="0">
                <a:latin typeface="Bahnschrift"/>
              </a:endParaRPr>
            </a:p>
          </p:txBody>
        </p:sp>
      </p:grpSp>
      <p:grpSp>
        <p:nvGrpSpPr>
          <p:cNvPr id="28" name="Distinción Insulina plasmática"/>
          <p:cNvGrpSpPr/>
          <p:nvPr/>
        </p:nvGrpSpPr>
        <p:grpSpPr>
          <a:xfrm>
            <a:off x="365760" y="4389120"/>
            <a:ext cx="5623560" cy="1554480"/>
            <a:chOff x="365760" y="4389120"/>
            <a:chExt cx="5623560" cy="1554480"/>
          </a:xfrm>
        </p:grpSpPr>
        <p:sp>
          <p:nvSpPr>
            <p:cNvPr id="29" name="Forma 28"/>
            <p:cNvSpPr/>
            <p:nvPr/>
          </p:nvSpPr>
          <p:spPr>
            <a:xfrm>
              <a:off x="365760" y="438912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0" name="Forma 29"/>
            <p:cNvSpPr/>
            <p:nvPr/>
          </p:nvSpPr>
          <p:spPr>
            <a:xfrm>
              <a:off x="475488" y="4498848"/>
              <a:ext cx="1567534"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Insulina plasmática</a:t>
              </a:r>
              <a:endParaRPr lang="es-AR" sz="1350" dirty="0">
                <a:latin typeface="Bahnschrift SemiBold Condensed"/>
              </a:endParaRPr>
            </a:p>
          </p:txBody>
        </p:sp>
        <p:sp>
          <p:nvSpPr>
            <p:cNvPr id="31" name="Forma 30"/>
            <p:cNvSpPr txBox="1"/>
            <p:nvPr/>
          </p:nvSpPr>
          <p:spPr>
            <a:xfrm>
              <a:off x="2161894" y="449884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32" name="Forma 31"/>
            <p:cNvSpPr/>
            <p:nvPr/>
          </p:nvSpPr>
          <p:spPr>
            <a:xfrm>
              <a:off x="2664814" y="4498848"/>
              <a:ext cx="1540250"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Sensibilidad tisular</a:t>
              </a:r>
              <a:endParaRPr lang="es-AR" sz="1350" dirty="0">
                <a:latin typeface="Bahnschrift SemiBold Condensed"/>
              </a:endParaRPr>
            </a:p>
          </p:txBody>
        </p:sp>
        <p:sp>
          <p:nvSpPr>
            <p:cNvPr id="33" name="Forma 32"/>
            <p:cNvSpPr txBox="1"/>
            <p:nvPr/>
          </p:nvSpPr>
          <p:spPr>
            <a:xfrm>
              <a:off x="502920" y="498348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Cuánta hormona hay frente a cuánta acción produce en cada tejido.</a:t>
              </a:r>
              <a:endParaRPr lang="es-AR" sz="1350" dirty="0">
                <a:latin typeface="Bahnschrift"/>
              </a:endParaRPr>
            </a:p>
          </p:txBody>
        </p:sp>
      </p:grpSp>
      <p:grpSp>
        <p:nvGrpSpPr>
          <p:cNvPr id="34" name="Distinción Glucemia"/>
          <p:cNvGrpSpPr/>
          <p:nvPr/>
        </p:nvGrpSpPr>
        <p:grpSpPr>
          <a:xfrm>
            <a:off x="6172200" y="4389120"/>
            <a:ext cx="5623560" cy="1554480"/>
            <a:chOff x="6172200" y="4389120"/>
            <a:chExt cx="5623560" cy="1554480"/>
          </a:xfrm>
        </p:grpSpPr>
        <p:sp>
          <p:nvSpPr>
            <p:cNvPr id="35" name="Forma 34"/>
            <p:cNvSpPr/>
            <p:nvPr/>
          </p:nvSpPr>
          <p:spPr>
            <a:xfrm>
              <a:off x="6172200" y="438912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6" name="Forma 35"/>
            <p:cNvSpPr/>
            <p:nvPr/>
          </p:nvSpPr>
          <p:spPr>
            <a:xfrm>
              <a:off x="6281928" y="4498848"/>
              <a:ext cx="862010"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Glucemia</a:t>
              </a:r>
              <a:endParaRPr lang="es-AR" sz="1350" dirty="0">
                <a:latin typeface="Bahnschrift SemiBold Condensed"/>
              </a:endParaRPr>
            </a:p>
          </p:txBody>
        </p:sp>
        <p:sp>
          <p:nvSpPr>
            <p:cNvPr id="37" name="Forma 36"/>
            <p:cNvSpPr txBox="1"/>
            <p:nvPr/>
          </p:nvSpPr>
          <p:spPr>
            <a:xfrm>
              <a:off x="7262810" y="449884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38" name="Forma 37"/>
            <p:cNvSpPr/>
            <p:nvPr/>
          </p:nvSpPr>
          <p:spPr>
            <a:xfrm>
              <a:off x="7765730" y="4498848"/>
              <a:ext cx="1334758"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Flujo de glucosa</a:t>
              </a:r>
              <a:endParaRPr lang="es-AR" sz="1350" dirty="0">
                <a:latin typeface="Bahnschrift SemiBold Condensed"/>
              </a:endParaRPr>
            </a:p>
          </p:txBody>
        </p:sp>
        <p:sp>
          <p:nvSpPr>
            <p:cNvPr id="39" name="Forma 38"/>
            <p:cNvSpPr txBox="1"/>
            <p:nvPr/>
          </p:nvSpPr>
          <p:spPr>
            <a:xfrm>
              <a:off x="6309360" y="498348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Concentración frente a velocidad de producción y utilización.</a:t>
              </a:r>
              <a:endParaRPr lang="es-AR" sz="1350" dirty="0">
                <a:latin typeface="Bahnschrift"/>
              </a:endParaRPr>
            </a:p>
          </p:txBody>
        </p:sp>
      </p:grpSp>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7142409"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DISTINCIONES QUE DEBEN RESISTIR UN EXAMEN (1/2)</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220</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Distinción Lipoproteínas"/>
          <p:cNvGrpSpPr/>
          <p:nvPr/>
        </p:nvGrpSpPr>
        <p:grpSpPr>
          <a:xfrm>
            <a:off x="365760" y="1005840"/>
            <a:ext cx="5623560" cy="1554480"/>
            <a:chOff x="365760" y="1005840"/>
            <a:chExt cx="5623560" cy="1554480"/>
          </a:xfrm>
        </p:grpSpPr>
        <p:sp>
          <p:nvSpPr>
            <p:cNvPr id="5" name="Forma 4"/>
            <p:cNvSpPr/>
            <p:nvPr/>
          </p:nvSpPr>
          <p:spPr>
            <a:xfrm>
              <a:off x="365760" y="100584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6" name="Forma 5"/>
            <p:cNvSpPr/>
            <p:nvPr/>
          </p:nvSpPr>
          <p:spPr>
            <a:xfrm>
              <a:off x="475488" y="1115568"/>
              <a:ext cx="1170395"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Lipoproteínas</a:t>
              </a:r>
              <a:endParaRPr lang="es-AR" sz="1350" dirty="0">
                <a:latin typeface="Bahnschrift SemiBold Condensed"/>
              </a:endParaRPr>
            </a:p>
          </p:txBody>
        </p:sp>
        <p:sp>
          <p:nvSpPr>
            <p:cNvPr id="7" name="Forma 6"/>
            <p:cNvSpPr txBox="1"/>
            <p:nvPr/>
          </p:nvSpPr>
          <p:spPr>
            <a:xfrm>
              <a:off x="1764755" y="111556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8" name="Forma 7"/>
            <p:cNvSpPr/>
            <p:nvPr/>
          </p:nvSpPr>
          <p:spPr>
            <a:xfrm>
              <a:off x="2267675" y="1115568"/>
              <a:ext cx="834896"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AG libres</a:t>
              </a:r>
              <a:endParaRPr lang="es-AR" sz="1350" dirty="0">
                <a:latin typeface="Bahnschrift SemiBold Condensed"/>
              </a:endParaRPr>
            </a:p>
          </p:txBody>
        </p:sp>
        <p:sp>
          <p:nvSpPr>
            <p:cNvPr id="9" name="Forma 8"/>
            <p:cNvSpPr txBox="1"/>
            <p:nvPr/>
          </p:nvSpPr>
          <p:spPr>
            <a:xfrm>
              <a:off x="502920" y="160020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TAG esterificados en partículas (QM, VLDL) frente a AG unidos a albúmina.</a:t>
              </a:r>
              <a:endParaRPr lang="es-AR" sz="1350" dirty="0">
                <a:latin typeface="Bahnschrift"/>
              </a:endParaRPr>
            </a:p>
          </p:txBody>
        </p:sp>
      </p:grpSp>
      <p:grpSp>
        <p:nvGrpSpPr>
          <p:cNvPr id="10" name="Distinción Acumulación de TAG"/>
          <p:cNvGrpSpPr/>
          <p:nvPr/>
        </p:nvGrpSpPr>
        <p:grpSpPr>
          <a:xfrm>
            <a:off x="6172200" y="1005840"/>
            <a:ext cx="5623560" cy="1554480"/>
            <a:chOff x="6172200" y="1005840"/>
            <a:chExt cx="5623560" cy="1554480"/>
          </a:xfrm>
        </p:grpSpPr>
        <p:sp>
          <p:nvSpPr>
            <p:cNvPr id="11" name="Forma 10"/>
            <p:cNvSpPr/>
            <p:nvPr/>
          </p:nvSpPr>
          <p:spPr>
            <a:xfrm>
              <a:off x="6172200" y="100584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12" name="Forma 11"/>
            <p:cNvSpPr/>
            <p:nvPr/>
          </p:nvSpPr>
          <p:spPr>
            <a:xfrm>
              <a:off x="6281928" y="1115568"/>
              <a:ext cx="1609384"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Acumulación de TAG</a:t>
              </a:r>
              <a:endParaRPr lang="es-AR" sz="1350" dirty="0">
                <a:latin typeface="Bahnschrift SemiBold Condensed"/>
              </a:endParaRPr>
            </a:p>
          </p:txBody>
        </p:sp>
        <p:sp>
          <p:nvSpPr>
            <p:cNvPr id="13" name="Forma 12"/>
            <p:cNvSpPr txBox="1"/>
            <p:nvPr/>
          </p:nvSpPr>
          <p:spPr>
            <a:xfrm>
              <a:off x="8010184" y="111556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14" name="Forma 13"/>
            <p:cNvSpPr/>
            <p:nvPr/>
          </p:nvSpPr>
          <p:spPr>
            <a:xfrm>
              <a:off x="8513104" y="1115568"/>
              <a:ext cx="2027649"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Intermediarios lipotóxicos</a:t>
              </a:r>
              <a:endParaRPr lang="es-AR" sz="1350" dirty="0">
                <a:latin typeface="Bahnschrift SemiBold Condensed"/>
              </a:endParaRPr>
            </a:p>
          </p:txBody>
        </p:sp>
        <p:sp>
          <p:nvSpPr>
            <p:cNvPr id="15" name="Forma 14"/>
            <p:cNvSpPr txBox="1"/>
            <p:nvPr/>
          </p:nvSpPr>
          <p:spPr>
            <a:xfrm>
              <a:off x="6309360" y="160020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Gotas relativamente inertes frente a DAG/ceramidas que alteran la señal de insulina.</a:t>
              </a:r>
              <a:endParaRPr lang="es-AR" sz="1350" dirty="0">
                <a:latin typeface="Bahnschrift"/>
              </a:endParaRPr>
            </a:p>
          </p:txBody>
        </p:sp>
      </p:grpSp>
      <p:grpSp>
        <p:nvGrpSpPr>
          <p:cNvPr id="16" name="Distinción Ureogénesis"/>
          <p:cNvGrpSpPr/>
          <p:nvPr/>
        </p:nvGrpSpPr>
        <p:grpSpPr>
          <a:xfrm>
            <a:off x="365760" y="2697480"/>
            <a:ext cx="5623560" cy="1554480"/>
            <a:chOff x="365760" y="2697480"/>
            <a:chExt cx="5623560" cy="1554480"/>
          </a:xfrm>
        </p:grpSpPr>
        <p:sp>
          <p:nvSpPr>
            <p:cNvPr id="17" name="Forma 16"/>
            <p:cNvSpPr/>
            <p:nvPr/>
          </p:nvSpPr>
          <p:spPr>
            <a:xfrm>
              <a:off x="365760" y="269748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18" name="Forma 17"/>
            <p:cNvSpPr/>
            <p:nvPr/>
          </p:nvSpPr>
          <p:spPr>
            <a:xfrm>
              <a:off x="475488" y="2807208"/>
              <a:ext cx="1077757"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Ureogénesis</a:t>
              </a:r>
              <a:endParaRPr lang="es-AR" sz="1350" dirty="0">
                <a:latin typeface="Bahnschrift SemiBold Condensed"/>
              </a:endParaRPr>
            </a:p>
          </p:txBody>
        </p:sp>
        <p:sp>
          <p:nvSpPr>
            <p:cNvPr id="19" name="Forma 18"/>
            <p:cNvSpPr txBox="1"/>
            <p:nvPr/>
          </p:nvSpPr>
          <p:spPr>
            <a:xfrm>
              <a:off x="1672117" y="280720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20" name="Forma 19"/>
            <p:cNvSpPr/>
            <p:nvPr/>
          </p:nvSpPr>
          <p:spPr>
            <a:xfrm>
              <a:off x="2175037" y="2807208"/>
              <a:ext cx="1273863"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Amoniogénesis</a:t>
              </a:r>
              <a:endParaRPr lang="es-AR" sz="1350" dirty="0">
                <a:latin typeface="Bahnschrift SemiBold Condensed"/>
              </a:endParaRPr>
            </a:p>
          </p:txBody>
        </p:sp>
        <p:sp>
          <p:nvSpPr>
            <p:cNvPr id="21" name="Forma 20"/>
            <p:cNvSpPr txBox="1"/>
            <p:nvPr/>
          </p:nvSpPr>
          <p:spPr>
            <a:xfrm>
              <a:off x="502920" y="329184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Hígado → urea frente a riñón → 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urinario y HCO</a:t>
              </a:r>
              <a:r>
                <a:rPr lang="es-AR" sz="1350" baseline="-25000" dirty="0">
                  <a:solidFill>
                    <a:srgbClr val="1E1E1E"/>
                  </a:solidFill>
                  <a:latin typeface="Bahnschrift"/>
                  <a:ea typeface="Bahnschrift"/>
                  <a:cs typeface="Bahnschrift"/>
                  <a:sym typeface="Bahnschrift"/>
                </a:rPr>
                <a:t>3</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nuevo.</a:t>
              </a:r>
              <a:endParaRPr lang="es-AR" sz="1350" dirty="0">
                <a:latin typeface="Bahnschrift"/>
              </a:endParaRPr>
            </a:p>
          </p:txBody>
        </p:sp>
      </p:grpSp>
      <p:grpSp>
        <p:nvGrpSpPr>
          <p:cNvPr id="22" name="Distinción Glutaminasa"/>
          <p:cNvGrpSpPr/>
          <p:nvPr/>
        </p:nvGrpSpPr>
        <p:grpSpPr>
          <a:xfrm>
            <a:off x="6172200" y="2697480"/>
            <a:ext cx="5623560" cy="1554480"/>
            <a:chOff x="6172200" y="2697480"/>
            <a:chExt cx="5623560" cy="1554480"/>
          </a:xfrm>
        </p:grpSpPr>
        <p:sp>
          <p:nvSpPr>
            <p:cNvPr id="23" name="Forma 22"/>
            <p:cNvSpPr/>
            <p:nvPr/>
          </p:nvSpPr>
          <p:spPr>
            <a:xfrm>
              <a:off x="6172200" y="269748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24" name="Forma 23"/>
            <p:cNvSpPr/>
            <p:nvPr/>
          </p:nvSpPr>
          <p:spPr>
            <a:xfrm>
              <a:off x="6281928" y="2807208"/>
              <a:ext cx="1082683"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Glutaminasa</a:t>
              </a:r>
              <a:endParaRPr lang="es-AR" sz="1350" dirty="0">
                <a:latin typeface="Bahnschrift SemiBold Condensed"/>
              </a:endParaRPr>
            </a:p>
          </p:txBody>
        </p:sp>
        <p:sp>
          <p:nvSpPr>
            <p:cNvPr id="25" name="Forma 24"/>
            <p:cNvSpPr txBox="1"/>
            <p:nvPr/>
          </p:nvSpPr>
          <p:spPr>
            <a:xfrm>
              <a:off x="7483483" y="280720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26" name="Forma 25"/>
            <p:cNvSpPr/>
            <p:nvPr/>
          </p:nvSpPr>
          <p:spPr>
            <a:xfrm>
              <a:off x="7986403" y="2807208"/>
              <a:ext cx="1596686"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Glutamina sintetasa</a:t>
              </a:r>
              <a:endParaRPr lang="es-AR" sz="1350" dirty="0">
                <a:latin typeface="Bahnschrift SemiBold Condensed"/>
              </a:endParaRPr>
            </a:p>
          </p:txBody>
        </p:sp>
        <p:sp>
          <p:nvSpPr>
            <p:cNvPr id="27" name="Forma 26"/>
            <p:cNvSpPr txBox="1"/>
            <p:nvPr/>
          </p:nvSpPr>
          <p:spPr>
            <a:xfrm>
              <a:off x="6309360" y="329184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Libera NH</a:t>
              </a:r>
              <a:r>
                <a:rPr lang="es-AR" sz="1350" baseline="-25000" dirty="0">
                  <a:solidFill>
                    <a:srgbClr val="1E1E1E"/>
                  </a:solidFill>
                  <a:latin typeface="Bahnschrift"/>
                  <a:ea typeface="Bahnschrift"/>
                  <a:cs typeface="Bahnschrift"/>
                  <a:sym typeface="Bahnschrift"/>
                </a:rPr>
                <a:t>4</a:t>
              </a:r>
              <a:r>
                <a:rPr lang="es-AR" sz="1350" baseline="30000" dirty="0">
                  <a:solidFill>
                    <a:srgbClr val="1E1E1E"/>
                  </a:solidFill>
                  <a:latin typeface="Bahnschrift"/>
                  <a:ea typeface="Bahnschrift"/>
                  <a:cs typeface="Bahnschrift"/>
                  <a:sym typeface="Bahnschrift"/>
                </a:rPr>
                <a:t>+</a:t>
              </a:r>
              <a:r>
                <a:rPr lang="es-AR" sz="1350" dirty="0">
                  <a:solidFill>
                    <a:srgbClr val="1E1E1E"/>
                  </a:solidFill>
                  <a:latin typeface="Bahnschrift"/>
                  <a:ea typeface="Bahnschrift"/>
                  <a:cs typeface="Bahnschrift"/>
                  <a:sym typeface="Bahnschrift"/>
                </a:rPr>
                <a:t> frente a lo captura gastando ATP.</a:t>
              </a:r>
              <a:endParaRPr lang="es-AR" sz="1350" dirty="0">
                <a:latin typeface="Bahnschrift"/>
              </a:endParaRPr>
            </a:p>
          </p:txBody>
        </p:sp>
      </p:grpSp>
      <p:grpSp>
        <p:nvGrpSpPr>
          <p:cNvPr id="28" name="Distinción Contracción muscular"/>
          <p:cNvGrpSpPr/>
          <p:nvPr/>
        </p:nvGrpSpPr>
        <p:grpSpPr>
          <a:xfrm>
            <a:off x="365760" y="4389120"/>
            <a:ext cx="5623560" cy="1554480"/>
            <a:chOff x="365760" y="4389120"/>
            <a:chExt cx="5623560" cy="1554480"/>
          </a:xfrm>
        </p:grpSpPr>
        <p:sp>
          <p:nvSpPr>
            <p:cNvPr id="29" name="Forma 28"/>
            <p:cNvSpPr/>
            <p:nvPr/>
          </p:nvSpPr>
          <p:spPr>
            <a:xfrm>
              <a:off x="365760" y="438912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0" name="Forma 29"/>
            <p:cNvSpPr/>
            <p:nvPr/>
          </p:nvSpPr>
          <p:spPr>
            <a:xfrm>
              <a:off x="475488" y="4498848"/>
              <a:ext cx="1734487"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Contracción muscular</a:t>
              </a:r>
              <a:endParaRPr lang="es-AR" sz="1350" dirty="0">
                <a:latin typeface="Bahnschrift SemiBold Condensed"/>
              </a:endParaRPr>
            </a:p>
          </p:txBody>
        </p:sp>
        <p:sp>
          <p:nvSpPr>
            <p:cNvPr id="31" name="Forma 30"/>
            <p:cNvSpPr txBox="1"/>
            <p:nvPr/>
          </p:nvSpPr>
          <p:spPr>
            <a:xfrm>
              <a:off x="2328847" y="449884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32" name="Forma 31"/>
            <p:cNvSpPr/>
            <p:nvPr/>
          </p:nvSpPr>
          <p:spPr>
            <a:xfrm>
              <a:off x="2831767" y="4498848"/>
              <a:ext cx="1627156"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Consumo energético</a:t>
              </a:r>
              <a:endParaRPr lang="es-AR" sz="1350" dirty="0">
                <a:latin typeface="Bahnschrift SemiBold Condensed"/>
              </a:endParaRPr>
            </a:p>
          </p:txBody>
        </p:sp>
        <p:sp>
          <p:nvSpPr>
            <p:cNvPr id="33" name="Forma 32"/>
            <p:cNvSpPr txBox="1"/>
            <p:nvPr/>
          </p:nvSpPr>
          <p:spPr>
            <a:xfrm>
              <a:off x="502920" y="498348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Ca</a:t>
              </a:r>
              <a:r>
                <a:rPr lang="es-AR" sz="1350" baseline="30000" dirty="0">
                  <a:solidFill>
                    <a:srgbClr val="1E1E1E"/>
                  </a:solidFill>
                  <a:latin typeface="Bahnschrift"/>
                  <a:ea typeface="Bahnschrift"/>
                  <a:cs typeface="Bahnschrift"/>
                  <a:sym typeface="Bahnschrift"/>
                </a:rPr>
                <a:t>2+</a:t>
              </a:r>
              <a:r>
                <a:rPr lang="es-AR" sz="1350" dirty="0">
                  <a:solidFill>
                    <a:srgbClr val="1E1E1E"/>
                  </a:solidFill>
                  <a:latin typeface="Bahnschrift"/>
                  <a:ea typeface="Bahnschrift"/>
                  <a:cs typeface="Bahnschrift"/>
                  <a:sym typeface="Bahnschrift"/>
                </a:rPr>
                <a:t> y AMP activan glucogenólisis, GLUT4 y AMPK; la intensidad define el combustible.</a:t>
              </a:r>
              <a:endParaRPr lang="es-AR" sz="1350" dirty="0">
                <a:latin typeface="Bahnschrift"/>
              </a:endParaRPr>
            </a:p>
          </p:txBody>
        </p:sp>
      </p:grpSp>
      <p:grpSp>
        <p:nvGrpSpPr>
          <p:cNvPr id="34" name="Distinción Regulación alostérica"/>
          <p:cNvGrpSpPr/>
          <p:nvPr/>
        </p:nvGrpSpPr>
        <p:grpSpPr>
          <a:xfrm>
            <a:off x="6172200" y="4389120"/>
            <a:ext cx="5623560" cy="1554480"/>
            <a:chOff x="6172200" y="4389120"/>
            <a:chExt cx="5623560" cy="1554480"/>
          </a:xfrm>
        </p:grpSpPr>
        <p:sp>
          <p:nvSpPr>
            <p:cNvPr id="35" name="Forma 34"/>
            <p:cNvSpPr/>
            <p:nvPr/>
          </p:nvSpPr>
          <p:spPr>
            <a:xfrm>
              <a:off x="6172200" y="4389120"/>
              <a:ext cx="5623560" cy="155448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sp>
        <p:sp>
          <p:nvSpPr>
            <p:cNvPr id="36" name="Forma 35"/>
            <p:cNvSpPr/>
            <p:nvPr/>
          </p:nvSpPr>
          <p:spPr>
            <a:xfrm>
              <a:off x="6281928" y="4498848"/>
              <a:ext cx="1713382" cy="384048"/>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Regulación alostérica</a:t>
              </a:r>
              <a:endParaRPr lang="es-AR" sz="1350" dirty="0">
                <a:latin typeface="Bahnschrift SemiBold Condensed"/>
              </a:endParaRPr>
            </a:p>
          </p:txBody>
        </p:sp>
        <p:sp>
          <p:nvSpPr>
            <p:cNvPr id="37" name="Forma 36"/>
            <p:cNvSpPr txBox="1"/>
            <p:nvPr/>
          </p:nvSpPr>
          <p:spPr>
            <a:xfrm>
              <a:off x="8114182" y="4498848"/>
              <a:ext cx="457200" cy="384048"/>
            </a:xfrm>
            <a:prstGeom prst="rect">
              <a:avLst/>
            </a:prstGeom>
            <a:noFill/>
            <a:ln>
              <a:noFill/>
            </a:ln>
          </p:spPr>
          <p:txBody>
            <a:bodyPr wrap="square" lIns="0" tIns="0" rIns="0" bIns="0" anchor="ctr" rtlCol="0">
              <a:noAutofit/>
            </a:bodyPr>
            <a:lstStyle/>
            <a:p>
              <a:pPr algn="ctr">
                <a:spcAft>
                  <a:spcPts val="300"/>
                </a:spcAft>
                <a:buNone/>
              </a:pPr>
              <a:r>
                <a:rPr lang="es-AR" sz="1350" b="1" dirty="0">
                  <a:solidFill>
                    <a:srgbClr val="C00000"/>
                  </a:solidFill>
                  <a:latin typeface="Bahnschrift SemiBold Condensed"/>
                  <a:ea typeface="Bahnschrift SemiBold Condensed"/>
                  <a:cs typeface="Bahnschrift SemiBold Condensed"/>
                  <a:sym typeface="Bahnschrift SemiBold Condensed"/>
                </a:rPr>
                <a:t>vs</a:t>
              </a:r>
              <a:endParaRPr lang="es-AR" sz="1350" dirty="0">
                <a:latin typeface="Bahnschrift SemiBold Condensed"/>
              </a:endParaRPr>
            </a:p>
          </p:txBody>
        </p:sp>
        <p:sp>
          <p:nvSpPr>
            <p:cNvPr id="38" name="Forma 37"/>
            <p:cNvSpPr/>
            <p:nvPr/>
          </p:nvSpPr>
          <p:spPr>
            <a:xfrm>
              <a:off x="8617102" y="4498848"/>
              <a:ext cx="2491756" cy="384048"/>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50" b="1" dirty="0">
                  <a:solidFill>
                    <a:srgbClr val="1E1E1E"/>
                  </a:solidFill>
                  <a:latin typeface="Bahnschrift SemiBold Condensed"/>
                  <a:ea typeface="Bahnschrift SemiBold Condensed"/>
                  <a:cs typeface="Bahnschrift SemiBold Condensed"/>
                  <a:sym typeface="Bahnschrift SemiBold Condensed"/>
                </a:rPr>
                <a:t>Fosforilación / regulación génica</a:t>
              </a:r>
              <a:endParaRPr lang="es-AR" sz="1350" dirty="0">
                <a:latin typeface="Bahnschrift SemiBold Condensed"/>
              </a:endParaRPr>
            </a:p>
          </p:txBody>
        </p:sp>
        <p:sp>
          <p:nvSpPr>
            <p:cNvPr id="39" name="Forma 38"/>
            <p:cNvSpPr txBox="1"/>
            <p:nvPr/>
          </p:nvSpPr>
          <p:spPr>
            <a:xfrm>
              <a:off x="6309360" y="4983480"/>
              <a:ext cx="5349240" cy="914400"/>
            </a:xfrm>
            <a:prstGeom prst="rect">
              <a:avLst/>
            </a:prstGeom>
            <a:noFill/>
            <a:ln>
              <a:noFill/>
            </a:ln>
          </p:spPr>
          <p:txBody>
            <a:bodyPr wrap="square" lIns="0" tIns="0" rIns="0" bIns="0" anchor="ctr" rtlCol="0">
              <a:noAutofit/>
            </a:bodyPr>
            <a:lstStyle/>
            <a:p>
              <a:pPr algn="l">
                <a:spcAft>
                  <a:spcPts val="300"/>
                </a:spcAft>
                <a:buNone/>
              </a:pPr>
              <a:r>
                <a:rPr lang="es-AR" sz="1350" dirty="0">
                  <a:solidFill>
                    <a:srgbClr val="1E1E1E"/>
                  </a:solidFill>
                  <a:latin typeface="Bahnschrift"/>
                  <a:ea typeface="Bahnschrift"/>
                  <a:cs typeface="Bahnschrift"/>
                  <a:sym typeface="Bahnschrift"/>
                </a:rPr>
                <a:t>Segundos (efectores) frente a minutos (PKA, Akt, AMPK) frente a horas–días (CREB, FOXO1, SREBP).</a:t>
              </a:r>
              <a:endParaRPr lang="es-AR" sz="1350" dirty="0">
                <a:latin typeface="Bahnschrift"/>
              </a:endParaRPr>
            </a:p>
          </p:txBody>
        </p:sp>
      </p:grpSp>
      <p:sp>
        <p:nvSpPr>
          <p:cNvPr id="2" name="Etiqueta sección"/>
          <p:cNvSpPr/>
          <p:nvPr/>
        </p:nvSpPr>
        <p:spPr>
          <a:xfrm>
            <a:off x="10420161" y="201168"/>
            <a:ext cx="1497214"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SISTEMATIZACIÓN</a:t>
            </a:r>
            <a:endParaRPr lang="es-AR" sz="1300" dirty="0">
              <a:latin typeface="Bahnschrift SemiBold Condensed"/>
            </a:endParaRPr>
          </a:p>
        </p:txBody>
      </p:sp>
      <p:sp>
        <p:nvSpPr>
          <p:cNvPr id="3" name="Título"/>
          <p:cNvSpPr/>
          <p:nvPr/>
        </p:nvSpPr>
        <p:spPr>
          <a:xfrm>
            <a:off x="274320" y="146304"/>
            <a:ext cx="7197890"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DISTINCIONES QUE DEBEN RESISTIR UN EXAMEN (2/2)</a:t>
            </a:r>
            <a:endParaRPr lang="es-AR" sz="2600" dirty="0">
              <a:latin typeface="Bahnschrift SemiBold Condensed"/>
            </a:endParaRPr>
          </a:p>
        </p:txBody>
      </p:sp>
      <p:sp>
        <p:nvSpPr>
          <p:cNvPr id="4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221</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7" fill="hold">
                      <p:stCondLst>
                        <p:cond delay="indefinite"/>
                      </p:stCondLst>
                      <p:childTnLst>
                        <p:par>
                          <p:cTn id="16"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22" fill="hold">
                      <p:stCondLst>
                        <p:cond delay="indefinite"/>
                      </p:stCondLst>
                      <p:childTnLst>
                        <p:par>
                          <p:cTn id="21"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7" fill="hold">
                      <p:stCondLst>
                        <p:cond delay="indefinite"/>
                      </p:stCondLst>
                      <p:childTnLst>
                        <p:par>
                          <p:cTn id="26"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32" fill="hold">
                      <p:stCondLst>
                        <p:cond delay="indefinite"/>
                      </p:stCondLst>
                      <p:childTnLst>
                        <p:par>
                          <p:cTn id="31"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Cerebro"/>
          <p:cNvGrpSpPr/>
          <p:nvPr/>
        </p:nvGrpSpPr>
        <p:grpSpPr>
          <a:xfrm>
            <a:off x="5074920" y="896112"/>
            <a:ext cx="1920240" cy="1497787"/>
            <a:chOff x="5074920" y="896112"/>
            <a:chExt cx="1920240" cy="1497787"/>
          </a:xfrm>
        </p:grpSpPr>
        <p:sp>
          <p:nvSpPr>
            <p:cNvPr id="5" name="Cerebelo"/>
            <p:cNvSpPr/>
            <p:nvPr/>
          </p:nvSpPr>
          <p:spPr>
            <a:xfrm>
              <a:off x="5074920" y="896112"/>
              <a:ext cx="1920240" cy="1497787"/>
            </a:xfrm>
            <a:custGeom>
              <a:avLst/>
              <a:gdLst/>
              <a:ahLst/>
              <a:cxnLst/>
              <a:rect l="0" t="0" r="r" b="b"/>
              <a:pathLst>
                <a:path w="1000" h="780">
                  <a:moveTo>
                    <a:pt x="870" y="640"/>
                  </a:moveTo>
                  <a:cubicBezTo>
                    <a:pt x="870" y="692"/>
                    <a:pt x="802" y="735"/>
                    <a:pt x="720" y="735"/>
                  </a:cubicBezTo>
                  <a:cubicBezTo>
                    <a:pt x="637" y="735"/>
                    <a:pt x="570" y="692"/>
                    <a:pt x="570" y="640"/>
                  </a:cubicBezTo>
                  <a:cubicBezTo>
                    <a:pt x="570" y="587"/>
                    <a:pt x="637" y="545"/>
                    <a:pt x="720" y="545"/>
                  </a:cubicBezTo>
                  <a:cubicBezTo>
                    <a:pt x="802" y="545"/>
                    <a:pt x="870" y="587"/>
                    <a:pt x="870" y="640"/>
                  </a:cubicBezTo>
                  <a:close/>
                </a:path>
              </a:pathLst>
            </a:custGeom>
            <a:gradFill rotWithShape="1">
              <a:gsLst>
                <a:gs pos="0">
                  <a:srgbClr val="F0B7C0"/>
                </a:gs>
                <a:gs pos="55000">
                  <a:srgbClr val="E8919F"/>
                </a:gs>
                <a:gs pos="100000">
                  <a:srgbClr val="A2656F"/>
                </a:gs>
              </a:gsLst>
              <a:path path="circle">
                <a:fillToRect l="32000" t="28000" r="68000" b="72000"/>
              </a:path>
            </a:gradFill>
            <a:ln w="19050" cap="rnd">
              <a:solidFill>
                <a:srgbClr val="6C4B51"/>
              </a:solidFill>
              <a:round/>
            </a:ln>
          </p:spPr>
        </p:sp>
        <p:sp>
          <p:nvSpPr>
            <p:cNvPr id="6" name="Forma 5"/>
            <p:cNvSpPr/>
            <p:nvPr/>
          </p:nvSpPr>
          <p:spPr>
            <a:xfrm>
              <a:off x="5074920" y="896112"/>
              <a:ext cx="1920240" cy="1497787"/>
            </a:xfrm>
            <a:custGeom>
              <a:avLst/>
              <a:gdLst/>
              <a:ahLst/>
              <a:cxnLst/>
              <a:rect l="0" t="0" r="r" b="b"/>
              <a:pathLst>
                <a:path w="1000" h="780" fill="none">
                  <a:moveTo>
                    <a:pt x="600" y="610"/>
                  </a:moveTo>
                  <a:cubicBezTo>
                    <a:pt x="610" y="680"/>
                    <a:pt x="620" y="730"/>
                    <a:pt x="640" y="780"/>
                  </a:cubicBezTo>
                </a:path>
              </a:pathLst>
            </a:custGeom>
            <a:noFill/>
            <a:ln w="114300" cap="rnd">
              <a:solidFill>
                <a:srgbClr val="78535A"/>
              </a:solidFill>
              <a:round/>
            </a:ln>
          </p:spPr>
        </p:sp>
        <p:sp>
          <p:nvSpPr>
            <p:cNvPr id="7" name="Forma 6"/>
            <p:cNvSpPr/>
            <p:nvPr/>
          </p:nvSpPr>
          <p:spPr>
            <a:xfrm>
              <a:off x="5074920" y="896112"/>
              <a:ext cx="1920240" cy="1497787"/>
            </a:xfrm>
            <a:custGeom>
              <a:avLst/>
              <a:gdLst/>
              <a:ahLst/>
              <a:cxnLst/>
              <a:rect l="0" t="0" r="r" b="b"/>
              <a:pathLst>
                <a:path w="1000" h="780">
                  <a:moveTo>
                    <a:pt x="100" y="520"/>
                  </a:moveTo>
                  <a:cubicBezTo>
                    <a:pt x="78" y="481"/>
                    <a:pt x="65" y="428"/>
                    <a:pt x="70" y="380"/>
                  </a:cubicBezTo>
                  <a:cubicBezTo>
                    <a:pt x="75" y="331"/>
                    <a:pt x="98" y="273"/>
                    <a:pt x="130" y="230"/>
                  </a:cubicBezTo>
                  <a:cubicBezTo>
                    <a:pt x="161" y="186"/>
                    <a:pt x="210" y="146"/>
                    <a:pt x="260" y="120"/>
                  </a:cubicBezTo>
                  <a:cubicBezTo>
                    <a:pt x="310" y="93"/>
                    <a:pt x="373" y="78"/>
                    <a:pt x="430" y="70"/>
                  </a:cubicBezTo>
                  <a:cubicBezTo>
                    <a:pt x="486" y="61"/>
                    <a:pt x="545" y="61"/>
                    <a:pt x="600" y="70"/>
                  </a:cubicBezTo>
                  <a:cubicBezTo>
                    <a:pt x="655" y="78"/>
                    <a:pt x="711" y="95"/>
                    <a:pt x="760" y="120"/>
                  </a:cubicBezTo>
                  <a:cubicBezTo>
                    <a:pt x="808" y="145"/>
                    <a:pt x="858" y="180"/>
                    <a:pt x="890" y="220"/>
                  </a:cubicBezTo>
                  <a:cubicBezTo>
                    <a:pt x="921" y="260"/>
                    <a:pt x="943" y="316"/>
                    <a:pt x="950" y="360"/>
                  </a:cubicBezTo>
                  <a:cubicBezTo>
                    <a:pt x="956" y="403"/>
                    <a:pt x="945" y="446"/>
                    <a:pt x="930" y="480"/>
                  </a:cubicBezTo>
                  <a:cubicBezTo>
                    <a:pt x="915" y="513"/>
                    <a:pt x="888" y="540"/>
                    <a:pt x="860" y="560"/>
                  </a:cubicBezTo>
                  <a:cubicBezTo>
                    <a:pt x="831" y="580"/>
                    <a:pt x="796" y="590"/>
                    <a:pt x="760" y="600"/>
                  </a:cubicBezTo>
                  <a:cubicBezTo>
                    <a:pt x="723" y="610"/>
                    <a:pt x="676" y="613"/>
                    <a:pt x="640" y="620"/>
                  </a:cubicBezTo>
                  <a:cubicBezTo>
                    <a:pt x="603" y="626"/>
                    <a:pt x="573" y="633"/>
                    <a:pt x="540" y="640"/>
                  </a:cubicBezTo>
                  <a:cubicBezTo>
                    <a:pt x="506" y="646"/>
                    <a:pt x="476" y="658"/>
                    <a:pt x="440" y="660"/>
                  </a:cubicBezTo>
                  <a:cubicBezTo>
                    <a:pt x="403" y="661"/>
                    <a:pt x="360" y="658"/>
                    <a:pt x="320" y="650"/>
                  </a:cubicBezTo>
                  <a:cubicBezTo>
                    <a:pt x="280" y="641"/>
                    <a:pt x="236" y="631"/>
                    <a:pt x="200" y="610"/>
                  </a:cubicBezTo>
                  <a:cubicBezTo>
                    <a:pt x="163" y="588"/>
                    <a:pt x="121" y="558"/>
                    <a:pt x="100" y="520"/>
                  </a:cubicBezTo>
                  <a:close/>
                </a:path>
              </a:pathLst>
            </a:custGeom>
            <a:gradFill rotWithShape="1">
              <a:gsLst>
                <a:gs pos="0">
                  <a:srgbClr val="F6CAD2"/>
                </a:gs>
                <a:gs pos="55000">
                  <a:srgbClr val="F1A7B5"/>
                </a:gs>
                <a:gs pos="100000">
                  <a:srgbClr val="B47D87"/>
                </a:gs>
              </a:gsLst>
              <a:path path="circle">
                <a:fillToRect l="32000" t="28000" r="68000" b="72000"/>
              </a:path>
            </a:gradFill>
            <a:ln w="25400" cap="rnd">
              <a:solidFill>
                <a:srgbClr val="6C4B51"/>
              </a:solidFill>
              <a:round/>
            </a:ln>
            <a:effectLst>
              <a:outerShdw blurRad="101600" dist="50800" dir="2700000" algn="tl" rotWithShape="0">
                <a:srgbClr val="000000">
                  <a:alpha val="30000"/>
                </a:srgbClr>
              </a:outerShdw>
            </a:effectLst>
          </p:spPr>
        </p:sp>
        <p:sp>
          <p:nvSpPr>
            <p:cNvPr id="8" name="Forma 7"/>
            <p:cNvSpPr/>
            <p:nvPr/>
          </p:nvSpPr>
          <p:spPr>
            <a:xfrm>
              <a:off x="5074920" y="896112"/>
              <a:ext cx="1920240" cy="1497787"/>
            </a:xfrm>
            <a:custGeom>
              <a:avLst/>
              <a:gdLst/>
              <a:ahLst/>
              <a:cxnLst/>
              <a:rect l="0" t="0" r="r" b="b"/>
              <a:pathLst>
                <a:path w="1000" h="780" fill="none">
                  <a:moveTo>
                    <a:pt x="180" y="300"/>
                  </a:moveTo>
                  <a:cubicBezTo>
                    <a:pt x="260" y="260"/>
                    <a:pt x="280" y="360"/>
                    <a:pt x="360" y="320"/>
                  </a:cubicBezTo>
                  <a:cubicBezTo>
                    <a:pt x="430" y="280"/>
                    <a:pt x="420" y="200"/>
                    <a:pt x="500" y="190"/>
                  </a:cubicBezTo>
                </a:path>
                <a:path w="1000" h="780" fill="none">
                  <a:moveTo>
                    <a:pt x="560" y="160"/>
                  </a:moveTo>
                  <a:cubicBezTo>
                    <a:pt x="620" y="230"/>
                    <a:pt x="700" y="200"/>
                    <a:pt x="760" y="260"/>
                  </a:cubicBezTo>
                  <a:cubicBezTo>
                    <a:pt x="820" y="320"/>
                    <a:pt x="800" y="380"/>
                    <a:pt x="870" y="400"/>
                  </a:cubicBezTo>
                </a:path>
                <a:path w="1000" h="780" fill="none">
                  <a:moveTo>
                    <a:pt x="150" y="460"/>
                  </a:moveTo>
                  <a:cubicBezTo>
                    <a:pt x="240" y="430"/>
                    <a:pt x="300" y="500"/>
                    <a:pt x="380" y="470"/>
                  </a:cubicBezTo>
                  <a:cubicBezTo>
                    <a:pt x="460" y="440"/>
                    <a:pt x="500" y="520"/>
                    <a:pt x="580" y="500"/>
                  </a:cubicBezTo>
                </a:path>
                <a:path w="1000" h="780" fill="none">
                  <a:moveTo>
                    <a:pt x="420" y="330"/>
                  </a:moveTo>
                  <a:cubicBezTo>
                    <a:pt x="480" y="380"/>
                    <a:pt x="560" y="330"/>
                    <a:pt x="620" y="380"/>
                  </a:cubicBezTo>
                  <a:cubicBezTo>
                    <a:pt x="680" y="430"/>
                    <a:pt x="740" y="400"/>
                    <a:pt x="800" y="470"/>
                  </a:cubicBezTo>
                </a:path>
                <a:path w="1000" h="780" fill="none">
                  <a:moveTo>
                    <a:pt x="300" y="560"/>
                  </a:moveTo>
                  <a:cubicBezTo>
                    <a:pt x="380" y="540"/>
                    <a:pt x="420" y="600"/>
                    <a:pt x="500" y="580"/>
                  </a:cubicBezTo>
                </a:path>
                <a:path w="1000" h="780" fill="none">
                  <a:moveTo>
                    <a:pt x="640" y="520"/>
                  </a:moveTo>
                  <a:cubicBezTo>
                    <a:pt x="700" y="500"/>
                    <a:pt x="760" y="540"/>
                    <a:pt x="820" y="520"/>
                  </a:cubicBezTo>
                </a:path>
              </a:pathLst>
            </a:custGeom>
            <a:noFill/>
            <a:ln w="22225" cap="rnd">
              <a:solidFill>
                <a:srgbClr val="90646C"/>
              </a:solidFill>
              <a:round/>
            </a:ln>
          </p:spPr>
        </p:sp>
      </p:grpSp>
      <p:sp>
        <p:nvSpPr>
          <p:cNvPr id="9" name="!!Rótulo cerebro"/>
          <p:cNvSpPr/>
          <p:nvPr/>
        </p:nvSpPr>
        <p:spPr>
          <a:xfrm>
            <a:off x="7040880" y="1051560"/>
            <a:ext cx="81540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CEREBRO</a:t>
            </a:r>
            <a:endParaRPr lang="es-AR" sz="1300" dirty="0">
              <a:latin typeface="Bahnschrift SemiBold Condensed"/>
            </a:endParaRPr>
          </a:p>
        </p:txBody>
      </p:sp>
      <p:grpSp>
        <p:nvGrpSpPr>
          <p:cNvPr id="10" name="!!Hígado"/>
          <p:cNvGrpSpPr/>
          <p:nvPr/>
        </p:nvGrpSpPr>
        <p:grpSpPr>
          <a:xfrm>
            <a:off x="502920" y="1097280"/>
            <a:ext cx="2743200" cy="1938894"/>
            <a:chOff x="502920" y="1097280"/>
            <a:chExt cx="2743200" cy="1938894"/>
          </a:xfrm>
        </p:grpSpPr>
        <p:sp>
          <p:nvSpPr>
            <p:cNvPr id="11" name="Vesícula biliar"/>
            <p:cNvSpPr/>
            <p:nvPr/>
          </p:nvSpPr>
          <p:spPr>
            <a:xfrm>
              <a:off x="1243584" y="2423892"/>
              <a:ext cx="356616" cy="612282"/>
            </a:xfrm>
            <a:custGeom>
              <a:avLst/>
              <a:gdLst/>
              <a:ahLst/>
              <a:cxnLst/>
              <a:rect l="0" t="0" r="r" b="b"/>
              <a:pathLst>
                <a:path w="1000" h="1000">
                  <a:moveTo>
                    <a:pt x="300" y="0"/>
                  </a:moveTo>
                  <a:cubicBezTo>
                    <a:pt x="438" y="-106"/>
                    <a:pt x="866" y="-73"/>
                    <a:pt x="950" y="60"/>
                  </a:cubicBezTo>
                  <a:cubicBezTo>
                    <a:pt x="1033" y="193"/>
                    <a:pt x="883" y="643"/>
                    <a:pt x="800" y="800"/>
                  </a:cubicBezTo>
                  <a:cubicBezTo>
                    <a:pt x="716" y="956"/>
                    <a:pt x="563" y="1016"/>
                    <a:pt x="450" y="1000"/>
                  </a:cubicBezTo>
                  <a:cubicBezTo>
                    <a:pt x="336" y="983"/>
                    <a:pt x="145" y="866"/>
                    <a:pt x="120" y="700"/>
                  </a:cubicBezTo>
                  <a:cubicBezTo>
                    <a:pt x="95" y="533"/>
                    <a:pt x="161" y="106"/>
                    <a:pt x="300" y="0"/>
                  </a:cubicBezTo>
                  <a:close/>
                </a:path>
              </a:pathLst>
            </a:custGeom>
            <a:gradFill rotWithShape="1">
              <a:gsLst>
                <a:gs pos="0">
                  <a:srgbClr val="BAD099"/>
                </a:gs>
                <a:gs pos="55000">
                  <a:srgbClr val="8DB255"/>
                </a:gs>
                <a:gs pos="100000">
                  <a:srgbClr val="627C3B"/>
                </a:gs>
              </a:gsLst>
              <a:path path="circle">
                <a:fillToRect l="32000" t="28000" r="68000" b="72000"/>
              </a:path>
            </a:gradFill>
            <a:ln w="15875" cap="rnd">
              <a:solidFill>
                <a:srgbClr val="4E6B22"/>
              </a:solidFill>
              <a:round/>
            </a:ln>
          </p:spPr>
        </p:sp>
        <p:sp>
          <p:nvSpPr>
            <p:cNvPr id="12" name="Forma 11"/>
            <p:cNvSpPr/>
            <p:nvPr/>
          </p:nvSpPr>
          <p:spPr>
            <a:xfrm>
              <a:off x="502920" y="1097280"/>
              <a:ext cx="2743200" cy="1700784"/>
            </a:xfrm>
            <a:custGeom>
              <a:avLst/>
              <a:gdLst/>
              <a:ahLst/>
              <a:cxnLst/>
              <a:rect l="0" t="0" r="r" b="b"/>
              <a:pathLst>
                <a:path w="1000" h="620">
                  <a:moveTo>
                    <a:pt x="40" y="250"/>
                  </a:moveTo>
                  <a:cubicBezTo>
                    <a:pt x="50" y="205"/>
                    <a:pt x="76" y="143"/>
                    <a:pt x="120" y="110"/>
                  </a:cubicBezTo>
                  <a:cubicBezTo>
                    <a:pt x="163" y="76"/>
                    <a:pt x="233" y="59"/>
                    <a:pt x="300" y="50"/>
                  </a:cubicBezTo>
                  <a:cubicBezTo>
                    <a:pt x="366" y="40"/>
                    <a:pt x="450" y="50"/>
                    <a:pt x="520" y="55"/>
                  </a:cubicBezTo>
                  <a:cubicBezTo>
                    <a:pt x="590" y="59"/>
                    <a:pt x="656" y="64"/>
                    <a:pt x="720" y="75"/>
                  </a:cubicBezTo>
                  <a:cubicBezTo>
                    <a:pt x="783" y="85"/>
                    <a:pt x="857" y="100"/>
                    <a:pt x="900" y="120"/>
                  </a:cubicBezTo>
                  <a:cubicBezTo>
                    <a:pt x="942" y="139"/>
                    <a:pt x="968" y="168"/>
                    <a:pt x="975" y="190"/>
                  </a:cubicBezTo>
                  <a:cubicBezTo>
                    <a:pt x="981" y="211"/>
                    <a:pt x="965" y="231"/>
                    <a:pt x="940" y="250"/>
                  </a:cubicBezTo>
                  <a:cubicBezTo>
                    <a:pt x="914" y="268"/>
                    <a:pt x="861" y="280"/>
                    <a:pt x="820" y="300"/>
                  </a:cubicBezTo>
                  <a:cubicBezTo>
                    <a:pt x="778" y="320"/>
                    <a:pt x="733" y="341"/>
                    <a:pt x="690" y="370"/>
                  </a:cubicBezTo>
                  <a:cubicBezTo>
                    <a:pt x="646" y="398"/>
                    <a:pt x="601" y="436"/>
                    <a:pt x="560" y="470"/>
                  </a:cubicBezTo>
                  <a:cubicBezTo>
                    <a:pt x="518" y="503"/>
                    <a:pt x="478" y="546"/>
                    <a:pt x="440" y="570"/>
                  </a:cubicBezTo>
                  <a:cubicBezTo>
                    <a:pt x="401" y="593"/>
                    <a:pt x="365" y="608"/>
                    <a:pt x="330" y="610"/>
                  </a:cubicBezTo>
                  <a:cubicBezTo>
                    <a:pt x="295" y="611"/>
                    <a:pt x="261" y="601"/>
                    <a:pt x="230" y="580"/>
                  </a:cubicBezTo>
                  <a:cubicBezTo>
                    <a:pt x="198" y="558"/>
                    <a:pt x="168" y="513"/>
                    <a:pt x="140" y="480"/>
                  </a:cubicBezTo>
                  <a:cubicBezTo>
                    <a:pt x="111" y="446"/>
                    <a:pt x="76" y="418"/>
                    <a:pt x="60" y="380"/>
                  </a:cubicBezTo>
                  <a:cubicBezTo>
                    <a:pt x="43" y="341"/>
                    <a:pt x="30" y="295"/>
                    <a:pt x="40" y="250"/>
                  </a:cubicBezTo>
                  <a:close/>
                </a:path>
              </a:pathLst>
            </a:custGeom>
            <a:gradFill rotWithShape="1">
              <a:gsLst>
                <a:gs pos="0">
                  <a:srgbClr val="D4948C"/>
                </a:gs>
                <a:gs pos="55000">
                  <a:srgbClr val="B5473A"/>
                </a:gs>
                <a:gs pos="100000">
                  <a:srgbClr val="7E3128"/>
                </a:gs>
              </a:gsLst>
              <a:path path="circle">
                <a:fillToRect l="30000" t="25000" r="70000" b="75000"/>
              </a:path>
            </a:gradFill>
            <a:ln w="25400" cap="rnd">
              <a:solidFill>
                <a:srgbClr val="511F1A"/>
              </a:solidFill>
              <a:round/>
            </a:ln>
            <a:effectLst>
              <a:outerShdw blurRad="101600" dist="50800" dir="2700000" algn="tl" rotWithShape="0">
                <a:srgbClr val="000000">
                  <a:alpha val="30000"/>
                </a:srgbClr>
              </a:outerShdw>
            </a:effectLst>
          </p:spPr>
        </p:sp>
        <p:sp>
          <p:nvSpPr>
            <p:cNvPr id="13" name="Forma 12"/>
            <p:cNvSpPr/>
            <p:nvPr/>
          </p:nvSpPr>
          <p:spPr>
            <a:xfrm>
              <a:off x="502920" y="1097280"/>
              <a:ext cx="2743200" cy="1700784"/>
            </a:xfrm>
            <a:custGeom>
              <a:avLst/>
              <a:gdLst/>
              <a:ahLst/>
              <a:cxnLst/>
              <a:rect l="0" t="0" r="r" b="b"/>
              <a:pathLst>
                <a:path w="1000" h="620" fill="none">
                  <a:moveTo>
                    <a:pt x="560" y="70"/>
                  </a:moveTo>
                  <a:cubicBezTo>
                    <a:pt x="545" y="180"/>
                    <a:pt x="530" y="280"/>
                    <a:pt x="520" y="400"/>
                  </a:cubicBezTo>
                </a:path>
              </a:pathLst>
            </a:custGeom>
            <a:noFill/>
            <a:ln w="22225" cap="rnd">
              <a:solidFill>
                <a:srgbClr val="6C2A22"/>
              </a:solidFill>
              <a:round/>
            </a:ln>
          </p:spPr>
        </p:sp>
        <p:sp>
          <p:nvSpPr>
            <p:cNvPr id="14" name="Forma 13"/>
            <p:cNvSpPr/>
            <p:nvPr/>
          </p:nvSpPr>
          <p:spPr>
            <a:xfrm>
              <a:off x="502920" y="1097280"/>
              <a:ext cx="2743200" cy="1700784"/>
            </a:xfrm>
            <a:custGeom>
              <a:avLst/>
              <a:gdLst/>
              <a:ahLst/>
              <a:cxnLst/>
              <a:rect l="0" t="0" r="r" b="b"/>
              <a:pathLst>
                <a:path w="1000" h="620" fill="none">
                  <a:moveTo>
                    <a:pt x="200" y="200"/>
                  </a:moveTo>
                  <a:cubicBezTo>
                    <a:pt x="260" y="160"/>
                    <a:pt x="330" y="150"/>
                    <a:pt x="400" y="170"/>
                  </a:cubicBezTo>
                </a:path>
                <a:path w="1000" h="620" fill="none">
                  <a:moveTo>
                    <a:pt x="640" y="160"/>
                  </a:moveTo>
                  <a:cubicBezTo>
                    <a:pt x="700" y="150"/>
                    <a:pt x="760" y="160"/>
                    <a:pt x="820" y="190"/>
                  </a:cubicBezTo>
                </a:path>
              </a:pathLst>
            </a:custGeom>
            <a:noFill/>
            <a:ln w="31750" cap="rnd">
              <a:solidFill>
                <a:srgbClr val="CE877E"/>
              </a:solidFill>
              <a:round/>
            </a:ln>
          </p:spPr>
        </p:sp>
      </p:grpSp>
      <p:sp>
        <p:nvSpPr>
          <p:cNvPr id="15" name="!!Rótulo hígado"/>
          <p:cNvSpPr/>
          <p:nvPr/>
        </p:nvSpPr>
        <p:spPr>
          <a:xfrm>
            <a:off x="548640" y="914400"/>
            <a:ext cx="705184"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HÍGADO</a:t>
            </a:r>
            <a:endParaRPr lang="es-AR" sz="1300" dirty="0">
              <a:latin typeface="Bahnschrift SemiBold Condensed"/>
            </a:endParaRPr>
          </a:p>
        </p:txBody>
      </p:sp>
      <p:grpSp>
        <p:nvGrpSpPr>
          <p:cNvPr id="16" name="!!Páncreas"/>
          <p:cNvGrpSpPr/>
          <p:nvPr/>
        </p:nvGrpSpPr>
        <p:grpSpPr>
          <a:xfrm>
            <a:off x="3429000" y="2331720"/>
            <a:ext cx="1600200" cy="672084"/>
            <a:chOff x="3429000" y="2331720"/>
            <a:chExt cx="1600200" cy="672084"/>
          </a:xfrm>
        </p:grpSpPr>
        <p:sp>
          <p:nvSpPr>
            <p:cNvPr id="17" name="Forma 16"/>
            <p:cNvSpPr/>
            <p:nvPr/>
          </p:nvSpPr>
          <p:spPr>
            <a:xfrm>
              <a:off x="3429000" y="2331720"/>
              <a:ext cx="1600200" cy="672084"/>
            </a:xfrm>
            <a:custGeom>
              <a:avLst/>
              <a:gdLst/>
              <a:ahLst/>
              <a:cxnLst/>
              <a:rect l="0" t="0" r="r" b="b"/>
              <a:pathLst>
                <a:path w="1000" h="420">
                  <a:moveTo>
                    <a:pt x="30" y="300"/>
                  </a:moveTo>
                  <a:cubicBezTo>
                    <a:pt x="20" y="271"/>
                    <a:pt x="40" y="238"/>
                    <a:pt x="60" y="220"/>
                  </a:cubicBezTo>
                  <a:cubicBezTo>
                    <a:pt x="80" y="201"/>
                    <a:pt x="118" y="188"/>
                    <a:pt x="150" y="190"/>
                  </a:cubicBezTo>
                  <a:cubicBezTo>
                    <a:pt x="181" y="191"/>
                    <a:pt x="215" y="220"/>
                    <a:pt x="250" y="230"/>
                  </a:cubicBezTo>
                  <a:cubicBezTo>
                    <a:pt x="285" y="240"/>
                    <a:pt x="321" y="255"/>
                    <a:pt x="360" y="250"/>
                  </a:cubicBezTo>
                  <a:cubicBezTo>
                    <a:pt x="398" y="245"/>
                    <a:pt x="440" y="213"/>
                    <a:pt x="480" y="200"/>
                  </a:cubicBezTo>
                  <a:cubicBezTo>
                    <a:pt x="520" y="186"/>
                    <a:pt x="556" y="180"/>
                    <a:pt x="600" y="170"/>
                  </a:cubicBezTo>
                  <a:cubicBezTo>
                    <a:pt x="643" y="160"/>
                    <a:pt x="693" y="148"/>
                    <a:pt x="740" y="140"/>
                  </a:cubicBezTo>
                  <a:cubicBezTo>
                    <a:pt x="786" y="131"/>
                    <a:pt x="841" y="118"/>
                    <a:pt x="880" y="120"/>
                  </a:cubicBezTo>
                  <a:cubicBezTo>
                    <a:pt x="918" y="121"/>
                    <a:pt x="956" y="133"/>
                    <a:pt x="970" y="150"/>
                  </a:cubicBezTo>
                  <a:cubicBezTo>
                    <a:pt x="983" y="166"/>
                    <a:pt x="978" y="203"/>
                    <a:pt x="960" y="220"/>
                  </a:cubicBezTo>
                  <a:cubicBezTo>
                    <a:pt x="941" y="236"/>
                    <a:pt x="896" y="240"/>
                    <a:pt x="860" y="250"/>
                  </a:cubicBezTo>
                  <a:cubicBezTo>
                    <a:pt x="823" y="260"/>
                    <a:pt x="780" y="268"/>
                    <a:pt x="740" y="280"/>
                  </a:cubicBezTo>
                  <a:cubicBezTo>
                    <a:pt x="700" y="291"/>
                    <a:pt x="660" y="305"/>
                    <a:pt x="620" y="320"/>
                  </a:cubicBezTo>
                  <a:cubicBezTo>
                    <a:pt x="580" y="335"/>
                    <a:pt x="540" y="356"/>
                    <a:pt x="500" y="370"/>
                  </a:cubicBezTo>
                  <a:cubicBezTo>
                    <a:pt x="460" y="383"/>
                    <a:pt x="421" y="393"/>
                    <a:pt x="380" y="400"/>
                  </a:cubicBezTo>
                  <a:cubicBezTo>
                    <a:pt x="338" y="406"/>
                    <a:pt x="293" y="411"/>
                    <a:pt x="250" y="410"/>
                  </a:cubicBezTo>
                  <a:cubicBezTo>
                    <a:pt x="206" y="408"/>
                    <a:pt x="156" y="408"/>
                    <a:pt x="120" y="390"/>
                  </a:cubicBezTo>
                  <a:cubicBezTo>
                    <a:pt x="83" y="371"/>
                    <a:pt x="40" y="328"/>
                    <a:pt x="30" y="300"/>
                  </a:cubicBezTo>
                  <a:close/>
                </a:path>
              </a:pathLst>
            </a:custGeom>
            <a:gradFill rotWithShape="1">
              <a:gsLst>
                <a:gs pos="0">
                  <a:srgbClr val="F5D8BE"/>
                </a:gs>
                <a:gs pos="55000">
                  <a:srgbClr val="EDB98A"/>
                </a:gs>
                <a:gs pos="100000">
                  <a:srgbClr val="B18A67"/>
                </a:gs>
              </a:gsLst>
              <a:path path="circle">
                <a:fillToRect l="32000" t="28000" r="68000" b="72000"/>
              </a:path>
            </a:gradFill>
            <a:ln w="22225" cap="rnd">
              <a:solidFill>
                <a:srgbClr val="765C45"/>
              </a:solidFill>
              <a:round/>
            </a:ln>
            <a:effectLst>
              <a:outerShdw blurRad="101600" dist="50800" dir="2700000" algn="tl" rotWithShape="0">
                <a:srgbClr val="000000">
                  <a:alpha val="30000"/>
                </a:srgbClr>
              </a:outerShdw>
            </a:effectLst>
          </p:spPr>
        </p:sp>
        <p:sp>
          <p:nvSpPr>
            <p:cNvPr id="18" name="Forma 17"/>
            <p:cNvSpPr/>
            <p:nvPr/>
          </p:nvSpPr>
          <p:spPr>
            <a:xfrm>
              <a:off x="3429000" y="2331720"/>
              <a:ext cx="1600200" cy="672084"/>
            </a:xfrm>
            <a:custGeom>
              <a:avLst/>
              <a:gdLst/>
              <a:ahLst/>
              <a:cxnLst/>
              <a:rect l="0" t="0" r="r" b="b"/>
              <a:pathLst>
                <a:path w="1000" h="420" fill="none">
                  <a:moveTo>
                    <a:pt x="100" y="295"/>
                  </a:moveTo>
                  <a:cubicBezTo>
                    <a:pt x="100" y="306"/>
                    <a:pt x="91" y="315"/>
                    <a:pt x="80" y="315"/>
                  </a:cubicBezTo>
                  <a:cubicBezTo>
                    <a:pt x="68" y="315"/>
                    <a:pt x="60" y="306"/>
                    <a:pt x="60" y="295"/>
                  </a:cubicBezTo>
                  <a:cubicBezTo>
                    <a:pt x="60" y="283"/>
                    <a:pt x="68" y="275"/>
                    <a:pt x="80" y="275"/>
                  </a:cubicBezTo>
                  <a:cubicBezTo>
                    <a:pt x="91" y="275"/>
                    <a:pt x="100" y="283"/>
                    <a:pt x="100" y="295"/>
                  </a:cubicBezTo>
                  <a:close/>
                  <a:moveTo>
                    <a:pt x="142" y="293"/>
                  </a:moveTo>
                  <a:cubicBezTo>
                    <a:pt x="142" y="308"/>
                    <a:pt x="129" y="321"/>
                    <a:pt x="114" y="321"/>
                  </a:cubicBezTo>
                  <a:cubicBezTo>
                    <a:pt x="98" y="321"/>
                    <a:pt x="86" y="308"/>
                    <a:pt x="86" y="293"/>
                  </a:cubicBezTo>
                  <a:cubicBezTo>
                    <a:pt x="86" y="277"/>
                    <a:pt x="98" y="265"/>
                    <a:pt x="114" y="265"/>
                  </a:cubicBezTo>
                  <a:cubicBezTo>
                    <a:pt x="129" y="265"/>
                    <a:pt x="142" y="277"/>
                    <a:pt x="142" y="293"/>
                  </a:cubicBezTo>
                  <a:close/>
                  <a:moveTo>
                    <a:pt x="167" y="265"/>
                  </a:moveTo>
                  <a:cubicBezTo>
                    <a:pt x="167" y="275"/>
                    <a:pt x="158" y="284"/>
                    <a:pt x="148" y="284"/>
                  </a:cubicBezTo>
                  <a:cubicBezTo>
                    <a:pt x="137" y="284"/>
                    <a:pt x="129" y="275"/>
                    <a:pt x="129" y="265"/>
                  </a:cubicBezTo>
                  <a:cubicBezTo>
                    <a:pt x="129" y="254"/>
                    <a:pt x="137" y="246"/>
                    <a:pt x="148" y="246"/>
                  </a:cubicBezTo>
                  <a:cubicBezTo>
                    <a:pt x="158" y="246"/>
                    <a:pt x="167" y="254"/>
                    <a:pt x="167" y="265"/>
                  </a:cubicBezTo>
                  <a:close/>
                  <a:moveTo>
                    <a:pt x="202" y="289"/>
                  </a:moveTo>
                  <a:cubicBezTo>
                    <a:pt x="202" y="299"/>
                    <a:pt x="193" y="308"/>
                    <a:pt x="183" y="308"/>
                  </a:cubicBezTo>
                  <a:cubicBezTo>
                    <a:pt x="172" y="308"/>
                    <a:pt x="164" y="299"/>
                    <a:pt x="164" y="289"/>
                  </a:cubicBezTo>
                  <a:cubicBezTo>
                    <a:pt x="164" y="278"/>
                    <a:pt x="172" y="270"/>
                    <a:pt x="183" y="270"/>
                  </a:cubicBezTo>
                  <a:cubicBezTo>
                    <a:pt x="193" y="270"/>
                    <a:pt x="202" y="278"/>
                    <a:pt x="202" y="289"/>
                  </a:cubicBezTo>
                  <a:close/>
                  <a:moveTo>
                    <a:pt x="244" y="272"/>
                  </a:moveTo>
                  <a:cubicBezTo>
                    <a:pt x="244" y="286"/>
                    <a:pt x="231" y="299"/>
                    <a:pt x="217" y="299"/>
                  </a:cubicBezTo>
                  <a:cubicBezTo>
                    <a:pt x="202" y="299"/>
                    <a:pt x="190" y="286"/>
                    <a:pt x="190" y="272"/>
                  </a:cubicBezTo>
                  <a:cubicBezTo>
                    <a:pt x="190" y="257"/>
                    <a:pt x="202" y="245"/>
                    <a:pt x="217" y="245"/>
                  </a:cubicBezTo>
                  <a:cubicBezTo>
                    <a:pt x="231" y="245"/>
                    <a:pt x="244" y="257"/>
                    <a:pt x="244" y="272"/>
                  </a:cubicBezTo>
                  <a:close/>
                  <a:moveTo>
                    <a:pt x="278" y="246"/>
                  </a:moveTo>
                  <a:cubicBezTo>
                    <a:pt x="278" y="260"/>
                    <a:pt x="266" y="272"/>
                    <a:pt x="252" y="272"/>
                  </a:cubicBezTo>
                  <a:cubicBezTo>
                    <a:pt x="237" y="272"/>
                    <a:pt x="226" y="260"/>
                    <a:pt x="226" y="246"/>
                  </a:cubicBezTo>
                  <a:cubicBezTo>
                    <a:pt x="226" y="231"/>
                    <a:pt x="237" y="220"/>
                    <a:pt x="252" y="220"/>
                  </a:cubicBezTo>
                  <a:cubicBezTo>
                    <a:pt x="266" y="220"/>
                    <a:pt x="278" y="231"/>
                    <a:pt x="278" y="246"/>
                  </a:cubicBezTo>
                  <a:close/>
                  <a:moveTo>
                    <a:pt x="304" y="249"/>
                  </a:moveTo>
                  <a:cubicBezTo>
                    <a:pt x="304" y="258"/>
                    <a:pt x="295" y="267"/>
                    <a:pt x="286" y="267"/>
                  </a:cubicBezTo>
                  <a:cubicBezTo>
                    <a:pt x="276" y="267"/>
                    <a:pt x="268" y="258"/>
                    <a:pt x="268" y="249"/>
                  </a:cubicBezTo>
                  <a:cubicBezTo>
                    <a:pt x="268" y="239"/>
                    <a:pt x="276" y="231"/>
                    <a:pt x="286" y="231"/>
                  </a:cubicBezTo>
                  <a:cubicBezTo>
                    <a:pt x="295" y="231"/>
                    <a:pt x="304" y="239"/>
                    <a:pt x="304" y="249"/>
                  </a:cubicBezTo>
                  <a:close/>
                  <a:moveTo>
                    <a:pt x="344" y="235"/>
                  </a:moveTo>
                  <a:cubicBezTo>
                    <a:pt x="344" y="248"/>
                    <a:pt x="333" y="259"/>
                    <a:pt x="320" y="259"/>
                  </a:cubicBezTo>
                  <a:cubicBezTo>
                    <a:pt x="306" y="259"/>
                    <a:pt x="296" y="248"/>
                    <a:pt x="296" y="235"/>
                  </a:cubicBezTo>
                  <a:cubicBezTo>
                    <a:pt x="296" y="221"/>
                    <a:pt x="306" y="211"/>
                    <a:pt x="320" y="211"/>
                  </a:cubicBezTo>
                  <a:cubicBezTo>
                    <a:pt x="333" y="211"/>
                    <a:pt x="344" y="221"/>
                    <a:pt x="344" y="235"/>
                  </a:cubicBezTo>
                  <a:close/>
                  <a:moveTo>
                    <a:pt x="374" y="249"/>
                  </a:moveTo>
                  <a:cubicBezTo>
                    <a:pt x="374" y="259"/>
                    <a:pt x="365" y="268"/>
                    <a:pt x="355" y="268"/>
                  </a:cubicBezTo>
                  <a:cubicBezTo>
                    <a:pt x="344" y="268"/>
                    <a:pt x="336" y="259"/>
                    <a:pt x="336" y="249"/>
                  </a:cubicBezTo>
                  <a:cubicBezTo>
                    <a:pt x="336" y="238"/>
                    <a:pt x="344" y="230"/>
                    <a:pt x="355" y="230"/>
                  </a:cubicBezTo>
                  <a:cubicBezTo>
                    <a:pt x="365" y="230"/>
                    <a:pt x="374" y="238"/>
                    <a:pt x="374" y="249"/>
                  </a:cubicBezTo>
                  <a:close/>
                  <a:moveTo>
                    <a:pt x="408" y="232"/>
                  </a:moveTo>
                  <a:cubicBezTo>
                    <a:pt x="408" y="242"/>
                    <a:pt x="399" y="251"/>
                    <a:pt x="389" y="251"/>
                  </a:cubicBezTo>
                  <a:cubicBezTo>
                    <a:pt x="378" y="251"/>
                    <a:pt x="370" y="242"/>
                    <a:pt x="370" y="232"/>
                  </a:cubicBezTo>
                  <a:cubicBezTo>
                    <a:pt x="370" y="221"/>
                    <a:pt x="378" y="213"/>
                    <a:pt x="389" y="213"/>
                  </a:cubicBezTo>
                  <a:cubicBezTo>
                    <a:pt x="399" y="213"/>
                    <a:pt x="408" y="221"/>
                    <a:pt x="408" y="232"/>
                  </a:cubicBezTo>
                  <a:close/>
                  <a:moveTo>
                    <a:pt x="448" y="246"/>
                  </a:moveTo>
                  <a:cubicBezTo>
                    <a:pt x="448" y="259"/>
                    <a:pt x="437" y="270"/>
                    <a:pt x="424" y="270"/>
                  </a:cubicBezTo>
                  <a:cubicBezTo>
                    <a:pt x="410" y="270"/>
                    <a:pt x="400" y="259"/>
                    <a:pt x="400" y="246"/>
                  </a:cubicBezTo>
                  <a:cubicBezTo>
                    <a:pt x="400" y="232"/>
                    <a:pt x="410" y="222"/>
                    <a:pt x="424" y="222"/>
                  </a:cubicBezTo>
                  <a:cubicBezTo>
                    <a:pt x="437" y="222"/>
                    <a:pt x="448" y="232"/>
                    <a:pt x="448" y="246"/>
                  </a:cubicBezTo>
                  <a:close/>
                  <a:moveTo>
                    <a:pt x="485" y="207"/>
                  </a:moveTo>
                  <a:cubicBezTo>
                    <a:pt x="485" y="221"/>
                    <a:pt x="472" y="234"/>
                    <a:pt x="458" y="234"/>
                  </a:cubicBezTo>
                  <a:cubicBezTo>
                    <a:pt x="443" y="234"/>
                    <a:pt x="431" y="221"/>
                    <a:pt x="431" y="207"/>
                  </a:cubicBezTo>
                  <a:cubicBezTo>
                    <a:pt x="431" y="192"/>
                    <a:pt x="443" y="180"/>
                    <a:pt x="458" y="180"/>
                  </a:cubicBezTo>
                  <a:cubicBezTo>
                    <a:pt x="472" y="180"/>
                    <a:pt x="485" y="192"/>
                    <a:pt x="485" y="207"/>
                  </a:cubicBezTo>
                  <a:close/>
                  <a:moveTo>
                    <a:pt x="513" y="205"/>
                  </a:moveTo>
                  <a:cubicBezTo>
                    <a:pt x="513" y="216"/>
                    <a:pt x="503" y="226"/>
                    <a:pt x="492" y="226"/>
                  </a:cubicBezTo>
                  <a:cubicBezTo>
                    <a:pt x="480" y="226"/>
                    <a:pt x="471" y="216"/>
                    <a:pt x="471" y="205"/>
                  </a:cubicBezTo>
                  <a:cubicBezTo>
                    <a:pt x="471" y="193"/>
                    <a:pt x="480" y="184"/>
                    <a:pt x="492" y="184"/>
                  </a:cubicBezTo>
                  <a:cubicBezTo>
                    <a:pt x="503" y="184"/>
                    <a:pt x="513" y="193"/>
                    <a:pt x="513" y="205"/>
                  </a:cubicBezTo>
                  <a:close/>
                  <a:moveTo>
                    <a:pt x="555" y="231"/>
                  </a:moveTo>
                  <a:cubicBezTo>
                    <a:pt x="555" y="246"/>
                    <a:pt x="542" y="259"/>
                    <a:pt x="527" y="259"/>
                  </a:cubicBezTo>
                  <a:cubicBezTo>
                    <a:pt x="511" y="259"/>
                    <a:pt x="499" y="246"/>
                    <a:pt x="499" y="231"/>
                  </a:cubicBezTo>
                  <a:cubicBezTo>
                    <a:pt x="499" y="215"/>
                    <a:pt x="511" y="203"/>
                    <a:pt x="527" y="203"/>
                  </a:cubicBezTo>
                  <a:cubicBezTo>
                    <a:pt x="542" y="203"/>
                    <a:pt x="555" y="215"/>
                    <a:pt x="555" y="231"/>
                  </a:cubicBezTo>
                  <a:close/>
                  <a:moveTo>
                    <a:pt x="579" y="222"/>
                  </a:moveTo>
                  <a:cubicBezTo>
                    <a:pt x="579" y="231"/>
                    <a:pt x="570" y="240"/>
                    <a:pt x="561" y="240"/>
                  </a:cubicBezTo>
                  <a:cubicBezTo>
                    <a:pt x="551" y="240"/>
                    <a:pt x="543" y="231"/>
                    <a:pt x="543" y="222"/>
                  </a:cubicBezTo>
                  <a:cubicBezTo>
                    <a:pt x="543" y="212"/>
                    <a:pt x="551" y="204"/>
                    <a:pt x="561" y="204"/>
                  </a:cubicBezTo>
                  <a:cubicBezTo>
                    <a:pt x="570" y="204"/>
                    <a:pt x="579" y="212"/>
                    <a:pt x="579" y="222"/>
                  </a:cubicBezTo>
                  <a:close/>
                  <a:moveTo>
                    <a:pt x="623" y="215"/>
                  </a:moveTo>
                  <a:cubicBezTo>
                    <a:pt x="623" y="229"/>
                    <a:pt x="610" y="242"/>
                    <a:pt x="596" y="242"/>
                  </a:cubicBezTo>
                  <a:cubicBezTo>
                    <a:pt x="581" y="242"/>
                    <a:pt x="569" y="229"/>
                    <a:pt x="569" y="215"/>
                  </a:cubicBezTo>
                  <a:cubicBezTo>
                    <a:pt x="569" y="200"/>
                    <a:pt x="581" y="188"/>
                    <a:pt x="596" y="188"/>
                  </a:cubicBezTo>
                  <a:cubicBezTo>
                    <a:pt x="610" y="188"/>
                    <a:pt x="623" y="200"/>
                    <a:pt x="623" y="215"/>
                  </a:cubicBezTo>
                  <a:close/>
                  <a:moveTo>
                    <a:pt x="648" y="197"/>
                  </a:moveTo>
                  <a:cubicBezTo>
                    <a:pt x="648" y="206"/>
                    <a:pt x="639" y="215"/>
                    <a:pt x="630" y="215"/>
                  </a:cubicBezTo>
                  <a:cubicBezTo>
                    <a:pt x="620" y="215"/>
                    <a:pt x="612" y="206"/>
                    <a:pt x="612" y="197"/>
                  </a:cubicBezTo>
                  <a:cubicBezTo>
                    <a:pt x="612" y="187"/>
                    <a:pt x="620" y="179"/>
                    <a:pt x="630" y="179"/>
                  </a:cubicBezTo>
                  <a:cubicBezTo>
                    <a:pt x="639" y="179"/>
                    <a:pt x="648" y="187"/>
                    <a:pt x="648" y="197"/>
                  </a:cubicBezTo>
                  <a:close/>
                  <a:moveTo>
                    <a:pt x="682" y="180"/>
                  </a:moveTo>
                  <a:cubicBezTo>
                    <a:pt x="682" y="189"/>
                    <a:pt x="673" y="198"/>
                    <a:pt x="664" y="198"/>
                  </a:cubicBezTo>
                  <a:cubicBezTo>
                    <a:pt x="654" y="198"/>
                    <a:pt x="646" y="189"/>
                    <a:pt x="646" y="180"/>
                  </a:cubicBezTo>
                  <a:cubicBezTo>
                    <a:pt x="646" y="170"/>
                    <a:pt x="654" y="162"/>
                    <a:pt x="664" y="162"/>
                  </a:cubicBezTo>
                  <a:cubicBezTo>
                    <a:pt x="673" y="162"/>
                    <a:pt x="682" y="170"/>
                    <a:pt x="682" y="180"/>
                  </a:cubicBezTo>
                  <a:close/>
                  <a:moveTo>
                    <a:pt x="719" y="194"/>
                  </a:moveTo>
                  <a:cubicBezTo>
                    <a:pt x="719" y="205"/>
                    <a:pt x="710" y="214"/>
                    <a:pt x="699" y="214"/>
                  </a:cubicBezTo>
                  <a:cubicBezTo>
                    <a:pt x="687" y="214"/>
                    <a:pt x="679" y="205"/>
                    <a:pt x="679" y="194"/>
                  </a:cubicBezTo>
                  <a:cubicBezTo>
                    <a:pt x="679" y="182"/>
                    <a:pt x="687" y="174"/>
                    <a:pt x="699" y="174"/>
                  </a:cubicBezTo>
                  <a:cubicBezTo>
                    <a:pt x="710" y="174"/>
                    <a:pt x="719" y="182"/>
                    <a:pt x="719" y="194"/>
                  </a:cubicBezTo>
                  <a:close/>
                  <a:moveTo>
                    <a:pt x="757" y="171"/>
                  </a:moveTo>
                  <a:cubicBezTo>
                    <a:pt x="757" y="184"/>
                    <a:pt x="746" y="195"/>
                    <a:pt x="733" y="195"/>
                  </a:cubicBezTo>
                  <a:cubicBezTo>
                    <a:pt x="719" y="195"/>
                    <a:pt x="709" y="184"/>
                    <a:pt x="709" y="171"/>
                  </a:cubicBezTo>
                  <a:cubicBezTo>
                    <a:pt x="709" y="157"/>
                    <a:pt x="719" y="147"/>
                    <a:pt x="733" y="147"/>
                  </a:cubicBezTo>
                  <a:cubicBezTo>
                    <a:pt x="746" y="147"/>
                    <a:pt x="757" y="157"/>
                    <a:pt x="757" y="171"/>
                  </a:cubicBezTo>
                  <a:close/>
                  <a:moveTo>
                    <a:pt x="794" y="156"/>
                  </a:moveTo>
                  <a:cubicBezTo>
                    <a:pt x="794" y="170"/>
                    <a:pt x="782" y="182"/>
                    <a:pt x="768" y="182"/>
                  </a:cubicBezTo>
                  <a:cubicBezTo>
                    <a:pt x="753" y="182"/>
                    <a:pt x="742" y="170"/>
                    <a:pt x="742" y="156"/>
                  </a:cubicBezTo>
                  <a:cubicBezTo>
                    <a:pt x="742" y="141"/>
                    <a:pt x="753" y="130"/>
                    <a:pt x="768" y="130"/>
                  </a:cubicBezTo>
                  <a:cubicBezTo>
                    <a:pt x="782" y="130"/>
                    <a:pt x="794" y="141"/>
                    <a:pt x="794" y="156"/>
                  </a:cubicBezTo>
                  <a:close/>
                  <a:moveTo>
                    <a:pt x="829" y="147"/>
                  </a:moveTo>
                  <a:cubicBezTo>
                    <a:pt x="829" y="161"/>
                    <a:pt x="816" y="174"/>
                    <a:pt x="802" y="174"/>
                  </a:cubicBezTo>
                  <a:cubicBezTo>
                    <a:pt x="787" y="174"/>
                    <a:pt x="775" y="161"/>
                    <a:pt x="775" y="147"/>
                  </a:cubicBezTo>
                  <a:cubicBezTo>
                    <a:pt x="775" y="132"/>
                    <a:pt x="787" y="120"/>
                    <a:pt x="802" y="120"/>
                  </a:cubicBezTo>
                  <a:cubicBezTo>
                    <a:pt x="816" y="120"/>
                    <a:pt x="829" y="132"/>
                    <a:pt x="829" y="147"/>
                  </a:cubicBezTo>
                  <a:close/>
                  <a:moveTo>
                    <a:pt x="862" y="153"/>
                  </a:moveTo>
                  <a:cubicBezTo>
                    <a:pt x="862" y="167"/>
                    <a:pt x="850" y="179"/>
                    <a:pt x="836" y="179"/>
                  </a:cubicBezTo>
                  <a:cubicBezTo>
                    <a:pt x="821" y="179"/>
                    <a:pt x="810" y="167"/>
                    <a:pt x="810" y="153"/>
                  </a:cubicBezTo>
                  <a:cubicBezTo>
                    <a:pt x="810" y="138"/>
                    <a:pt x="821" y="127"/>
                    <a:pt x="836" y="127"/>
                  </a:cubicBezTo>
                  <a:cubicBezTo>
                    <a:pt x="850" y="127"/>
                    <a:pt x="862" y="138"/>
                    <a:pt x="862" y="153"/>
                  </a:cubicBezTo>
                  <a:close/>
                  <a:moveTo>
                    <a:pt x="891" y="170"/>
                  </a:moveTo>
                  <a:cubicBezTo>
                    <a:pt x="891" y="181"/>
                    <a:pt x="882" y="190"/>
                    <a:pt x="871" y="190"/>
                  </a:cubicBezTo>
                  <a:cubicBezTo>
                    <a:pt x="859" y="190"/>
                    <a:pt x="851" y="181"/>
                    <a:pt x="851" y="170"/>
                  </a:cubicBezTo>
                  <a:cubicBezTo>
                    <a:pt x="851" y="158"/>
                    <a:pt x="859" y="150"/>
                    <a:pt x="871" y="150"/>
                  </a:cubicBezTo>
                  <a:cubicBezTo>
                    <a:pt x="882" y="150"/>
                    <a:pt x="891" y="158"/>
                    <a:pt x="891" y="170"/>
                  </a:cubicBezTo>
                  <a:close/>
                  <a:moveTo>
                    <a:pt x="932" y="127"/>
                  </a:moveTo>
                  <a:cubicBezTo>
                    <a:pt x="932" y="141"/>
                    <a:pt x="919" y="154"/>
                    <a:pt x="905" y="154"/>
                  </a:cubicBezTo>
                  <a:cubicBezTo>
                    <a:pt x="890" y="154"/>
                    <a:pt x="878" y="141"/>
                    <a:pt x="878" y="127"/>
                  </a:cubicBezTo>
                  <a:cubicBezTo>
                    <a:pt x="878" y="112"/>
                    <a:pt x="890" y="100"/>
                    <a:pt x="905" y="100"/>
                  </a:cubicBezTo>
                  <a:cubicBezTo>
                    <a:pt x="919" y="100"/>
                    <a:pt x="932" y="112"/>
                    <a:pt x="932" y="127"/>
                  </a:cubicBezTo>
                  <a:close/>
                  <a:moveTo>
                    <a:pt x="968" y="151"/>
                  </a:moveTo>
                  <a:cubicBezTo>
                    <a:pt x="968" y="166"/>
                    <a:pt x="955" y="179"/>
                    <a:pt x="940" y="179"/>
                  </a:cubicBezTo>
                  <a:cubicBezTo>
                    <a:pt x="924" y="179"/>
                    <a:pt x="912" y="166"/>
                    <a:pt x="912" y="151"/>
                  </a:cubicBezTo>
                  <a:cubicBezTo>
                    <a:pt x="912" y="135"/>
                    <a:pt x="924" y="123"/>
                    <a:pt x="940" y="123"/>
                  </a:cubicBezTo>
                  <a:cubicBezTo>
                    <a:pt x="955" y="123"/>
                    <a:pt x="968" y="135"/>
                    <a:pt x="968" y="151"/>
                  </a:cubicBezTo>
                  <a:close/>
                </a:path>
              </a:pathLst>
            </a:custGeom>
            <a:noFill/>
            <a:ln w="9525" cap="rnd">
              <a:solidFill>
                <a:srgbClr val="B18A67"/>
              </a:solidFill>
              <a:round/>
            </a:ln>
          </p:spPr>
        </p:sp>
        <p:sp>
          <p:nvSpPr>
            <p:cNvPr id="19" name="Islotes"/>
            <p:cNvSpPr/>
            <p:nvPr/>
          </p:nvSpPr>
          <p:spPr>
            <a:xfrm>
              <a:off x="3429000" y="2331720"/>
              <a:ext cx="1600200" cy="672084"/>
            </a:xfrm>
            <a:custGeom>
              <a:avLst/>
              <a:gdLst/>
              <a:ahLst/>
              <a:cxnLst/>
              <a:rect l="0" t="0" r="r" b="b"/>
              <a:pathLst>
                <a:path w="1000" h="420">
                  <a:moveTo>
                    <a:pt x="286" y="300"/>
                  </a:moveTo>
                  <a:cubicBezTo>
                    <a:pt x="286" y="314"/>
                    <a:pt x="274" y="326"/>
                    <a:pt x="260" y="326"/>
                  </a:cubicBezTo>
                  <a:cubicBezTo>
                    <a:pt x="245" y="326"/>
                    <a:pt x="234" y="314"/>
                    <a:pt x="234" y="300"/>
                  </a:cubicBezTo>
                  <a:cubicBezTo>
                    <a:pt x="234" y="285"/>
                    <a:pt x="245" y="274"/>
                    <a:pt x="260" y="274"/>
                  </a:cubicBezTo>
                  <a:cubicBezTo>
                    <a:pt x="274" y="274"/>
                    <a:pt x="286" y="285"/>
                    <a:pt x="286" y="300"/>
                  </a:cubicBezTo>
                  <a:close/>
                  <a:moveTo>
                    <a:pt x="542" y="260"/>
                  </a:moveTo>
                  <a:cubicBezTo>
                    <a:pt x="542" y="272"/>
                    <a:pt x="532" y="282"/>
                    <a:pt x="520" y="282"/>
                  </a:cubicBezTo>
                  <a:cubicBezTo>
                    <a:pt x="507" y="282"/>
                    <a:pt x="498" y="272"/>
                    <a:pt x="498" y="260"/>
                  </a:cubicBezTo>
                  <a:cubicBezTo>
                    <a:pt x="498" y="247"/>
                    <a:pt x="507" y="238"/>
                    <a:pt x="520" y="238"/>
                  </a:cubicBezTo>
                  <a:cubicBezTo>
                    <a:pt x="532" y="238"/>
                    <a:pt x="542" y="247"/>
                    <a:pt x="542" y="260"/>
                  </a:cubicBezTo>
                  <a:close/>
                  <a:moveTo>
                    <a:pt x="784" y="200"/>
                  </a:moveTo>
                  <a:cubicBezTo>
                    <a:pt x="784" y="213"/>
                    <a:pt x="773" y="224"/>
                    <a:pt x="760" y="224"/>
                  </a:cubicBezTo>
                  <a:cubicBezTo>
                    <a:pt x="746" y="224"/>
                    <a:pt x="736" y="213"/>
                    <a:pt x="736" y="200"/>
                  </a:cubicBezTo>
                  <a:cubicBezTo>
                    <a:pt x="736" y="186"/>
                    <a:pt x="746" y="176"/>
                    <a:pt x="760" y="176"/>
                  </a:cubicBezTo>
                  <a:cubicBezTo>
                    <a:pt x="773" y="176"/>
                    <a:pt x="784" y="186"/>
                    <a:pt x="784" y="200"/>
                  </a:cubicBezTo>
                  <a:close/>
                  <a:moveTo>
                    <a:pt x="438" y="320"/>
                  </a:moveTo>
                  <a:cubicBezTo>
                    <a:pt x="438" y="329"/>
                    <a:pt x="429" y="338"/>
                    <a:pt x="420" y="338"/>
                  </a:cubicBezTo>
                  <a:cubicBezTo>
                    <a:pt x="410" y="338"/>
                    <a:pt x="402" y="329"/>
                    <a:pt x="402" y="320"/>
                  </a:cubicBezTo>
                  <a:cubicBezTo>
                    <a:pt x="402" y="310"/>
                    <a:pt x="410" y="302"/>
                    <a:pt x="420" y="302"/>
                  </a:cubicBezTo>
                  <a:cubicBezTo>
                    <a:pt x="429" y="302"/>
                    <a:pt x="438" y="310"/>
                    <a:pt x="438" y="320"/>
                  </a:cubicBezTo>
                  <a:close/>
                </a:path>
              </a:pathLst>
            </a:custGeom>
            <a:gradFill rotWithShape="1">
              <a:gsLst>
                <a:gs pos="0">
                  <a:srgbClr val="FADBD8"/>
                </a:gs>
                <a:gs pos="55000">
                  <a:srgbClr val="F5B7B1"/>
                </a:gs>
                <a:gs pos="100000">
                  <a:srgbClr val="C4928D"/>
                </a:gs>
              </a:gsLst>
              <a:path path="circle">
                <a:fillToRect l="32000" t="28000" r="68000" b="72000"/>
              </a:path>
            </a:gradFill>
            <a:ln w="12700" cap="rnd">
              <a:solidFill>
                <a:srgbClr val="C0392B"/>
              </a:solidFill>
              <a:round/>
            </a:ln>
          </p:spPr>
        </p:sp>
        <p:sp>
          <p:nvSpPr>
            <p:cNvPr id="20" name="Forma 19"/>
            <p:cNvSpPr/>
            <p:nvPr/>
          </p:nvSpPr>
          <p:spPr>
            <a:xfrm>
              <a:off x="3429000" y="2331720"/>
              <a:ext cx="1600200" cy="672084"/>
            </a:xfrm>
            <a:custGeom>
              <a:avLst/>
              <a:gdLst/>
              <a:ahLst/>
              <a:cxnLst/>
              <a:rect l="0" t="0" r="r" b="b"/>
              <a:pathLst>
                <a:path w="1000" h="420" fill="none">
                  <a:moveTo>
                    <a:pt x="100" y="320"/>
                  </a:moveTo>
                  <a:cubicBezTo>
                    <a:pt x="300" y="300"/>
                    <a:pt x="600" y="230"/>
                    <a:pt x="930" y="170"/>
                  </a:cubicBezTo>
                </a:path>
              </a:pathLst>
            </a:custGeom>
            <a:noFill/>
            <a:ln w="25400" cap="rnd">
              <a:solidFill>
                <a:srgbClr val="F7DC6F"/>
              </a:solidFill>
              <a:round/>
            </a:ln>
          </p:spPr>
        </p:sp>
      </p:grpSp>
      <p:sp>
        <p:nvSpPr>
          <p:cNvPr id="21" name="!!Rótulo páncreas"/>
          <p:cNvSpPr/>
          <p:nvPr/>
        </p:nvSpPr>
        <p:spPr>
          <a:xfrm>
            <a:off x="3474720" y="2852928"/>
            <a:ext cx="91046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PÁNCREAS</a:t>
            </a:r>
            <a:endParaRPr lang="es-AR" sz="1300" dirty="0">
              <a:latin typeface="Bahnschrift SemiBold Condensed"/>
            </a:endParaRPr>
          </a:p>
        </p:txBody>
      </p:sp>
      <p:grpSp>
        <p:nvGrpSpPr>
          <p:cNvPr id="22" name="!!Tejido adiposo"/>
          <p:cNvGrpSpPr/>
          <p:nvPr/>
        </p:nvGrpSpPr>
        <p:grpSpPr>
          <a:xfrm>
            <a:off x="8915400" y="896112"/>
            <a:ext cx="2194560" cy="1629039"/>
            <a:chOff x="8915400" y="896112"/>
            <a:chExt cx="2194560" cy="1629039"/>
          </a:xfrm>
        </p:grpSpPr>
        <p:grpSp>
          <p:nvGrpSpPr>
            <p:cNvPr id="23" name="Adipocito"/>
            <p:cNvGrpSpPr/>
            <p:nvPr/>
          </p:nvGrpSpPr>
          <p:grpSpPr>
            <a:xfrm>
              <a:off x="8915400" y="1107127"/>
              <a:ext cx="827180" cy="827180"/>
              <a:chOff x="8915400" y="1107127"/>
              <a:chExt cx="827180" cy="827180"/>
            </a:xfrm>
          </p:grpSpPr>
          <p:sp>
            <p:nvSpPr>
              <p:cNvPr id="24" name="Forma 23"/>
              <p:cNvSpPr/>
              <p:nvPr/>
            </p:nvSpPr>
            <p:spPr>
              <a:xfrm>
                <a:off x="8915400" y="110712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5" name="Gota lipídica"/>
              <p:cNvSpPr/>
              <p:nvPr/>
            </p:nvSpPr>
            <p:spPr>
              <a:xfrm>
                <a:off x="8956759" y="114848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6" name="Forma 25"/>
              <p:cNvSpPr/>
              <p:nvPr/>
            </p:nvSpPr>
            <p:spPr>
              <a:xfrm rot="2400000">
                <a:off x="9510970" y="115675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7" name="Mitocondria"/>
              <p:cNvGrpSpPr/>
              <p:nvPr/>
            </p:nvGrpSpPr>
            <p:grpSpPr>
              <a:xfrm>
                <a:off x="8981574" y="1719241"/>
                <a:ext cx="82718" cy="41359"/>
                <a:chOff x="8981574" y="1719241"/>
                <a:chExt cx="82718" cy="41359"/>
              </a:xfrm>
            </p:grpSpPr>
            <p:sp>
              <p:nvSpPr>
                <p:cNvPr id="28" name="Forma 27"/>
                <p:cNvSpPr/>
                <p:nvPr/>
              </p:nvSpPr>
              <p:spPr>
                <a:xfrm rot="-2400000">
                  <a:off x="8981574" y="171924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9" name="Forma 28"/>
                <p:cNvSpPr/>
                <p:nvPr/>
              </p:nvSpPr>
              <p:spPr>
                <a:xfrm rot="-2400000">
                  <a:off x="8987365" y="1725031"/>
                  <a:ext cx="71138" cy="29778"/>
                </a:xfrm>
                <a:prstGeom prst="ellipse">
                  <a:avLst/>
                </a:prstGeom>
                <a:solidFill>
                  <a:srgbClr val="F8D8B4"/>
                </a:solidFill>
                <a:ln w="9525" cap="rnd">
                  <a:solidFill>
                    <a:srgbClr val="B2732B"/>
                  </a:solidFill>
                  <a:round/>
                </a:ln>
              </p:spPr>
            </p:sp>
            <p:sp>
              <p:nvSpPr>
                <p:cNvPr id="30" name="Forma 29"/>
                <p:cNvSpPr/>
                <p:nvPr/>
              </p:nvSpPr>
              <p:spPr>
                <a:xfrm rot="-2400000">
                  <a:off x="8987365" y="172503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1" name="Adipocito_2"/>
            <p:cNvGrpSpPr/>
            <p:nvPr/>
          </p:nvGrpSpPr>
          <p:grpSpPr>
            <a:xfrm>
              <a:off x="9607530" y="896112"/>
              <a:ext cx="827180" cy="827180"/>
              <a:chOff x="9607530" y="896112"/>
              <a:chExt cx="827180" cy="827180"/>
            </a:xfrm>
          </p:grpSpPr>
          <p:sp>
            <p:nvSpPr>
              <p:cNvPr id="32" name="Forma 31"/>
              <p:cNvSpPr/>
              <p:nvPr/>
            </p:nvSpPr>
            <p:spPr>
              <a:xfrm>
                <a:off x="9607530" y="896112"/>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33" name="Gota lipídica_2"/>
              <p:cNvSpPr/>
              <p:nvPr/>
            </p:nvSpPr>
            <p:spPr>
              <a:xfrm>
                <a:off x="9648889" y="937471"/>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34" name="Forma 33"/>
              <p:cNvSpPr/>
              <p:nvPr/>
            </p:nvSpPr>
            <p:spPr>
              <a:xfrm rot="2400000">
                <a:off x="10203100" y="945743"/>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35" name="Mitocondria_2"/>
              <p:cNvGrpSpPr/>
              <p:nvPr/>
            </p:nvGrpSpPr>
            <p:grpSpPr>
              <a:xfrm>
                <a:off x="9673705" y="1508225"/>
                <a:ext cx="82718" cy="41359"/>
                <a:chOff x="9673705" y="1508225"/>
                <a:chExt cx="82718" cy="41359"/>
              </a:xfrm>
            </p:grpSpPr>
            <p:sp>
              <p:nvSpPr>
                <p:cNvPr id="36" name="Forma 35"/>
                <p:cNvSpPr/>
                <p:nvPr/>
              </p:nvSpPr>
              <p:spPr>
                <a:xfrm rot="-2400000">
                  <a:off x="9673705" y="1508225"/>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37" name="Forma 36"/>
                <p:cNvSpPr/>
                <p:nvPr/>
              </p:nvSpPr>
              <p:spPr>
                <a:xfrm rot="-2400000">
                  <a:off x="9679495" y="1514016"/>
                  <a:ext cx="71138" cy="29778"/>
                </a:xfrm>
                <a:prstGeom prst="ellipse">
                  <a:avLst/>
                </a:prstGeom>
                <a:solidFill>
                  <a:srgbClr val="F8D8B4"/>
                </a:solidFill>
                <a:ln w="9525" cap="rnd">
                  <a:solidFill>
                    <a:srgbClr val="B2732B"/>
                  </a:solidFill>
                  <a:round/>
                </a:ln>
              </p:spPr>
            </p:sp>
            <p:sp>
              <p:nvSpPr>
                <p:cNvPr id="38" name="Forma 37"/>
                <p:cNvSpPr/>
                <p:nvPr/>
              </p:nvSpPr>
              <p:spPr>
                <a:xfrm rot="-2400000">
                  <a:off x="9679495" y="1514016"/>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39" name="Adipocito_3"/>
            <p:cNvGrpSpPr/>
            <p:nvPr/>
          </p:nvGrpSpPr>
          <p:grpSpPr>
            <a:xfrm>
              <a:off x="10282780" y="1149330"/>
              <a:ext cx="827180" cy="827180"/>
              <a:chOff x="10282780" y="1149330"/>
              <a:chExt cx="827180" cy="827180"/>
            </a:xfrm>
          </p:grpSpPr>
          <p:sp>
            <p:nvSpPr>
              <p:cNvPr id="40" name="Forma 39"/>
              <p:cNvSpPr/>
              <p:nvPr/>
            </p:nvSpPr>
            <p:spPr>
              <a:xfrm>
                <a:off x="10282780" y="114933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1" name="Gota lipídica_3"/>
              <p:cNvSpPr/>
              <p:nvPr/>
            </p:nvSpPr>
            <p:spPr>
              <a:xfrm>
                <a:off x="10324139" y="119068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42" name="Forma 41"/>
              <p:cNvSpPr/>
              <p:nvPr/>
            </p:nvSpPr>
            <p:spPr>
              <a:xfrm rot="2400000">
                <a:off x="10878350" y="119896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43" name="Mitocondria_3"/>
              <p:cNvGrpSpPr/>
              <p:nvPr/>
            </p:nvGrpSpPr>
            <p:grpSpPr>
              <a:xfrm>
                <a:off x="10348954" y="1761444"/>
                <a:ext cx="82718" cy="41359"/>
                <a:chOff x="10348954" y="1761444"/>
                <a:chExt cx="82718" cy="41359"/>
              </a:xfrm>
            </p:grpSpPr>
            <p:sp>
              <p:nvSpPr>
                <p:cNvPr id="44" name="Forma 43"/>
                <p:cNvSpPr/>
                <p:nvPr/>
              </p:nvSpPr>
              <p:spPr>
                <a:xfrm rot="-2400000">
                  <a:off x="10348954" y="176144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45" name="Forma 44"/>
                <p:cNvSpPr/>
                <p:nvPr/>
              </p:nvSpPr>
              <p:spPr>
                <a:xfrm rot="-2400000">
                  <a:off x="10354744" y="1767234"/>
                  <a:ext cx="71138" cy="29778"/>
                </a:xfrm>
                <a:prstGeom prst="ellipse">
                  <a:avLst/>
                </a:prstGeom>
                <a:solidFill>
                  <a:srgbClr val="F8D8B4"/>
                </a:solidFill>
                <a:ln w="9525" cap="rnd">
                  <a:solidFill>
                    <a:srgbClr val="B2732B"/>
                  </a:solidFill>
                  <a:round/>
                </a:ln>
              </p:spPr>
            </p:sp>
            <p:sp>
              <p:nvSpPr>
                <p:cNvPr id="46" name="Forma 45"/>
                <p:cNvSpPr/>
                <p:nvPr/>
              </p:nvSpPr>
              <p:spPr>
                <a:xfrm rot="-2400000">
                  <a:off x="10354744" y="176723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47" name="Adipocito_4"/>
            <p:cNvGrpSpPr/>
            <p:nvPr/>
          </p:nvGrpSpPr>
          <p:grpSpPr>
            <a:xfrm>
              <a:off x="9295228" y="1697970"/>
              <a:ext cx="827180" cy="827180"/>
              <a:chOff x="9295228" y="1697970"/>
              <a:chExt cx="827180" cy="827180"/>
            </a:xfrm>
          </p:grpSpPr>
          <p:sp>
            <p:nvSpPr>
              <p:cNvPr id="48" name="Forma 47"/>
              <p:cNvSpPr/>
              <p:nvPr/>
            </p:nvSpPr>
            <p:spPr>
              <a:xfrm>
                <a:off x="9295228" y="1697970"/>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49" name="Gota lipídica_4"/>
              <p:cNvSpPr/>
              <p:nvPr/>
            </p:nvSpPr>
            <p:spPr>
              <a:xfrm>
                <a:off x="9336587" y="1739329"/>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0" name="Forma 49"/>
              <p:cNvSpPr/>
              <p:nvPr/>
            </p:nvSpPr>
            <p:spPr>
              <a:xfrm rot="2400000">
                <a:off x="9890798" y="1747601"/>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1" name="Mitocondria_4"/>
              <p:cNvGrpSpPr/>
              <p:nvPr/>
            </p:nvGrpSpPr>
            <p:grpSpPr>
              <a:xfrm>
                <a:off x="9361402" y="2310084"/>
                <a:ext cx="82718" cy="41359"/>
                <a:chOff x="9361402" y="2310084"/>
                <a:chExt cx="82718" cy="41359"/>
              </a:xfrm>
            </p:grpSpPr>
            <p:sp>
              <p:nvSpPr>
                <p:cNvPr id="52" name="Forma 51"/>
                <p:cNvSpPr/>
                <p:nvPr/>
              </p:nvSpPr>
              <p:spPr>
                <a:xfrm rot="-2400000">
                  <a:off x="9361402" y="2310084"/>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53" name="Forma 52"/>
                <p:cNvSpPr/>
                <p:nvPr/>
              </p:nvSpPr>
              <p:spPr>
                <a:xfrm rot="-2400000">
                  <a:off x="9367192" y="2315874"/>
                  <a:ext cx="71138" cy="29778"/>
                </a:xfrm>
                <a:prstGeom prst="ellipse">
                  <a:avLst/>
                </a:prstGeom>
                <a:solidFill>
                  <a:srgbClr val="F8D8B4"/>
                </a:solidFill>
                <a:ln w="9525" cap="rnd">
                  <a:solidFill>
                    <a:srgbClr val="B2732B"/>
                  </a:solidFill>
                  <a:round/>
                </a:ln>
              </p:spPr>
            </p:sp>
            <p:sp>
              <p:nvSpPr>
                <p:cNvPr id="54" name="Forma 53"/>
                <p:cNvSpPr/>
                <p:nvPr/>
              </p:nvSpPr>
              <p:spPr>
                <a:xfrm rot="-2400000">
                  <a:off x="9367192" y="2315874"/>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55" name="Adipocito_5"/>
            <p:cNvGrpSpPr/>
            <p:nvPr/>
          </p:nvGrpSpPr>
          <p:grpSpPr>
            <a:xfrm>
              <a:off x="9970477" y="1655767"/>
              <a:ext cx="827180" cy="827180"/>
              <a:chOff x="9970477" y="1655767"/>
              <a:chExt cx="827180" cy="827180"/>
            </a:xfrm>
          </p:grpSpPr>
          <p:sp>
            <p:nvSpPr>
              <p:cNvPr id="56" name="Forma 55"/>
              <p:cNvSpPr/>
              <p:nvPr/>
            </p:nvSpPr>
            <p:spPr>
              <a:xfrm>
                <a:off x="9970477" y="1655767"/>
                <a:ext cx="827180" cy="82718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57" name="Gota lipídica_5"/>
              <p:cNvSpPr/>
              <p:nvPr/>
            </p:nvSpPr>
            <p:spPr>
              <a:xfrm>
                <a:off x="10011836" y="1697126"/>
                <a:ext cx="744462" cy="744462"/>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58" name="Forma 57"/>
              <p:cNvSpPr/>
              <p:nvPr/>
            </p:nvSpPr>
            <p:spPr>
              <a:xfrm rot="2400000">
                <a:off x="10566047" y="1705398"/>
                <a:ext cx="181980" cy="99262"/>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59" name="Mitocondria_5"/>
              <p:cNvGrpSpPr/>
              <p:nvPr/>
            </p:nvGrpSpPr>
            <p:grpSpPr>
              <a:xfrm>
                <a:off x="10036651" y="2267881"/>
                <a:ext cx="82718" cy="41359"/>
                <a:chOff x="10036651" y="2267881"/>
                <a:chExt cx="82718" cy="41359"/>
              </a:xfrm>
            </p:grpSpPr>
            <p:sp>
              <p:nvSpPr>
                <p:cNvPr id="60" name="Forma 59"/>
                <p:cNvSpPr/>
                <p:nvPr/>
              </p:nvSpPr>
              <p:spPr>
                <a:xfrm rot="-2400000">
                  <a:off x="10036651" y="2267881"/>
                  <a:ext cx="82718" cy="41359"/>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61" name="Forma 60"/>
                <p:cNvSpPr/>
                <p:nvPr/>
              </p:nvSpPr>
              <p:spPr>
                <a:xfrm rot="-2400000">
                  <a:off x="10042442" y="2273671"/>
                  <a:ext cx="71138" cy="29778"/>
                </a:xfrm>
                <a:prstGeom prst="ellipse">
                  <a:avLst/>
                </a:prstGeom>
                <a:solidFill>
                  <a:srgbClr val="F8D8B4"/>
                </a:solidFill>
                <a:ln w="9525" cap="rnd">
                  <a:solidFill>
                    <a:srgbClr val="B2732B"/>
                  </a:solidFill>
                  <a:round/>
                </a:ln>
              </p:spPr>
            </p:sp>
            <p:sp>
              <p:nvSpPr>
                <p:cNvPr id="62" name="Forma 61"/>
                <p:cNvSpPr/>
                <p:nvPr/>
              </p:nvSpPr>
              <p:spPr>
                <a:xfrm rot="-2400000">
                  <a:off x="10042442" y="2273671"/>
                  <a:ext cx="71138" cy="29778"/>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sp>
        <p:nvSpPr>
          <p:cNvPr id="63" name="!!Rótulo tejido adiposo"/>
          <p:cNvSpPr/>
          <p:nvPr/>
        </p:nvSpPr>
        <p:spPr>
          <a:xfrm>
            <a:off x="7315200" y="2011680"/>
            <a:ext cx="127912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TEJIDO ADIPOSO</a:t>
            </a:r>
            <a:endParaRPr lang="es-AR" sz="1300" dirty="0">
              <a:latin typeface="Bahnschrift SemiBold Condensed"/>
            </a:endParaRPr>
          </a:p>
        </p:txBody>
      </p:sp>
      <p:grpSp>
        <p:nvGrpSpPr>
          <p:cNvPr id="64" name="!!Intestino"/>
          <p:cNvGrpSpPr/>
          <p:nvPr/>
        </p:nvGrpSpPr>
        <p:grpSpPr>
          <a:xfrm>
            <a:off x="685800" y="4069080"/>
            <a:ext cx="1920240" cy="1632204"/>
            <a:chOff x="685800" y="4069080"/>
            <a:chExt cx="1920240" cy="1632204"/>
          </a:xfrm>
        </p:grpSpPr>
        <p:sp>
          <p:nvSpPr>
            <p:cNvPr id="65" name="Forma 64"/>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330200" cap="rnd">
              <a:solidFill>
                <a:srgbClr val="7E3F2A"/>
              </a:solidFill>
              <a:round/>
            </a:ln>
          </p:spPr>
        </p:sp>
        <p:sp>
          <p:nvSpPr>
            <p:cNvPr id="66" name="Forma 65"/>
            <p:cNvSpPr/>
            <p:nvPr/>
          </p:nvSpPr>
          <p:spPr>
            <a:xfrm>
              <a:off x="685800" y="4069080"/>
              <a:ext cx="1920240" cy="1632204"/>
            </a:xfrm>
            <a:custGeom>
              <a:avLst/>
              <a:gdLst/>
              <a:ahLst/>
              <a:cxnLst/>
              <a:rect l="0" t="0" r="r" b="b"/>
              <a:pathLst>
                <a:path w="1000" h="1000" fill="none">
                  <a:moveTo>
                    <a:pt x="140" y="900"/>
                  </a:moveTo>
                  <a:lnTo>
                    <a:pt x="120" y="220"/>
                  </a:lnTo>
                  <a:cubicBezTo>
                    <a:pt x="120" y="120"/>
                    <a:pt x="200" y="90"/>
                    <a:pt x="300" y="90"/>
                  </a:cubicBezTo>
                  <a:lnTo>
                    <a:pt x="720" y="90"/>
                  </a:lnTo>
                  <a:cubicBezTo>
                    <a:pt x="820" y="90"/>
                    <a:pt x="880" y="130"/>
                    <a:pt x="880" y="230"/>
                  </a:cubicBezTo>
                  <a:lnTo>
                    <a:pt x="880" y="900"/>
                  </a:lnTo>
                </a:path>
              </a:pathLst>
            </a:custGeom>
            <a:noFill/>
            <a:ln w="266700" cap="rnd">
              <a:solidFill>
                <a:srgbClr val="D4876B"/>
              </a:solidFill>
              <a:round/>
            </a:ln>
          </p:spPr>
        </p:sp>
        <p:sp>
          <p:nvSpPr>
            <p:cNvPr id="67" name="Forma 66"/>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79400" cap="rnd">
              <a:solidFill>
                <a:srgbClr val="8E3B32"/>
              </a:solidFill>
              <a:round/>
            </a:ln>
          </p:spPr>
        </p:sp>
        <p:sp>
          <p:nvSpPr>
            <p:cNvPr id="68" name="Forma 67"/>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215900" cap="rnd">
              <a:solidFill>
                <a:srgbClr val="F0A39B"/>
              </a:solidFill>
              <a:round/>
            </a:ln>
          </p:spPr>
        </p:sp>
        <p:sp>
          <p:nvSpPr>
            <p:cNvPr id="69" name="Forma 68"/>
            <p:cNvSpPr/>
            <p:nvPr/>
          </p:nvSpPr>
          <p:spPr>
            <a:xfrm>
              <a:off x="685800" y="4069080"/>
              <a:ext cx="1920240" cy="1632204"/>
            </a:xfrm>
            <a:custGeom>
              <a:avLst/>
              <a:gdLst/>
              <a:ahLst/>
              <a:cxnLst/>
              <a:rect l="0" t="0" r="r" b="b"/>
              <a:pathLst>
                <a:path w="1000" h="1000" fill="none">
                  <a:moveTo>
                    <a:pt x="300" y="280"/>
                  </a:moveTo>
                  <a:cubicBezTo>
                    <a:pt x="420" y="200"/>
                    <a:pt x="560" y="360"/>
                    <a:pt x="680" y="280"/>
                  </a:cubicBezTo>
                  <a:cubicBezTo>
                    <a:pt x="760" y="230"/>
                    <a:pt x="760" y="380"/>
                    <a:pt x="660" y="400"/>
                  </a:cubicBezTo>
                  <a:cubicBezTo>
                    <a:pt x="520" y="430"/>
                    <a:pt x="420" y="330"/>
                    <a:pt x="300" y="420"/>
                  </a:cubicBezTo>
                  <a:cubicBezTo>
                    <a:pt x="220" y="480"/>
                    <a:pt x="260" y="560"/>
                    <a:pt x="360" y="540"/>
                  </a:cubicBezTo>
                  <a:cubicBezTo>
                    <a:pt x="480" y="510"/>
                    <a:pt x="580" y="600"/>
                    <a:pt x="700" y="540"/>
                  </a:cubicBezTo>
                  <a:cubicBezTo>
                    <a:pt x="780" y="500"/>
                    <a:pt x="790" y="650"/>
                    <a:pt x="680" y="680"/>
                  </a:cubicBezTo>
                  <a:cubicBezTo>
                    <a:pt x="540" y="720"/>
                    <a:pt x="420" y="640"/>
                    <a:pt x="320" y="700"/>
                  </a:cubicBezTo>
                  <a:cubicBezTo>
                    <a:pt x="240" y="750"/>
                    <a:pt x="300" y="840"/>
                    <a:pt x="420" y="820"/>
                  </a:cubicBezTo>
                </a:path>
              </a:pathLst>
            </a:custGeom>
            <a:noFill/>
            <a:ln w="38100" cap="rnd">
              <a:solidFill>
                <a:srgbClr val="F7D1CD"/>
              </a:solidFill>
              <a:round/>
            </a:ln>
          </p:spPr>
        </p:sp>
      </p:grpSp>
      <p:sp>
        <p:nvSpPr>
          <p:cNvPr id="70" name="!!Rótulo intestino"/>
          <p:cNvSpPr/>
          <p:nvPr/>
        </p:nvSpPr>
        <p:spPr>
          <a:xfrm>
            <a:off x="2651760" y="4114800"/>
            <a:ext cx="918723"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INTESTINO</a:t>
            </a:r>
            <a:endParaRPr lang="es-AR" sz="1300" dirty="0">
              <a:latin typeface="Bahnschrift SemiBold Condensed"/>
            </a:endParaRPr>
          </a:p>
        </p:txBody>
      </p:sp>
      <p:grpSp>
        <p:nvGrpSpPr>
          <p:cNvPr id="71" name="!!Riñón"/>
          <p:cNvGrpSpPr/>
          <p:nvPr/>
        </p:nvGrpSpPr>
        <p:grpSpPr>
          <a:xfrm>
            <a:off x="4617720" y="4069080"/>
            <a:ext cx="960120" cy="1344168"/>
            <a:chOff x="4617720" y="4069080"/>
            <a:chExt cx="960120" cy="1344168"/>
          </a:xfrm>
        </p:grpSpPr>
        <p:sp>
          <p:nvSpPr>
            <p:cNvPr id="72" name="Forma 71"/>
            <p:cNvSpPr/>
            <p:nvPr/>
          </p:nvSpPr>
          <p:spPr>
            <a:xfrm>
              <a:off x="4617720" y="4069080"/>
              <a:ext cx="960120" cy="1344168"/>
            </a:xfrm>
            <a:custGeom>
              <a:avLst/>
              <a:gdLst/>
              <a:ahLst/>
              <a:cxnLst/>
              <a:rect l="0" t="0" r="r" b="b"/>
              <a:pathLst>
                <a:path w="700" h="1000">
                  <a:moveTo>
                    <a:pt x="350" y="30"/>
                  </a:moveTo>
                  <a:cubicBezTo>
                    <a:pt x="398" y="30"/>
                    <a:pt x="471" y="31"/>
                    <a:pt x="520" y="60"/>
                  </a:cubicBezTo>
                  <a:cubicBezTo>
                    <a:pt x="568" y="88"/>
                    <a:pt x="613" y="143"/>
                    <a:pt x="640" y="200"/>
                  </a:cubicBezTo>
                  <a:cubicBezTo>
                    <a:pt x="666" y="256"/>
                    <a:pt x="676" y="330"/>
                    <a:pt x="680" y="400"/>
                  </a:cubicBezTo>
                  <a:cubicBezTo>
                    <a:pt x="683" y="470"/>
                    <a:pt x="676" y="550"/>
                    <a:pt x="660" y="620"/>
                  </a:cubicBezTo>
                  <a:cubicBezTo>
                    <a:pt x="643" y="690"/>
                    <a:pt x="620" y="763"/>
                    <a:pt x="580" y="820"/>
                  </a:cubicBezTo>
                  <a:cubicBezTo>
                    <a:pt x="540" y="876"/>
                    <a:pt x="475" y="936"/>
                    <a:pt x="420" y="960"/>
                  </a:cubicBezTo>
                  <a:cubicBezTo>
                    <a:pt x="365" y="983"/>
                    <a:pt x="296" y="976"/>
                    <a:pt x="250" y="960"/>
                  </a:cubicBezTo>
                  <a:cubicBezTo>
                    <a:pt x="203" y="943"/>
                    <a:pt x="163" y="903"/>
                    <a:pt x="140" y="860"/>
                  </a:cubicBezTo>
                  <a:cubicBezTo>
                    <a:pt x="116" y="816"/>
                    <a:pt x="105" y="743"/>
                    <a:pt x="110" y="700"/>
                  </a:cubicBezTo>
                  <a:cubicBezTo>
                    <a:pt x="115" y="656"/>
                    <a:pt x="143" y="623"/>
                    <a:pt x="170" y="600"/>
                  </a:cubicBezTo>
                  <a:cubicBezTo>
                    <a:pt x="196" y="576"/>
                    <a:pt x="248" y="576"/>
                    <a:pt x="270" y="560"/>
                  </a:cubicBezTo>
                  <a:cubicBezTo>
                    <a:pt x="291" y="543"/>
                    <a:pt x="301" y="521"/>
                    <a:pt x="300" y="500"/>
                  </a:cubicBezTo>
                  <a:cubicBezTo>
                    <a:pt x="298" y="478"/>
                    <a:pt x="283" y="446"/>
                    <a:pt x="260" y="430"/>
                  </a:cubicBezTo>
                  <a:cubicBezTo>
                    <a:pt x="236" y="413"/>
                    <a:pt x="186" y="421"/>
                    <a:pt x="160" y="400"/>
                  </a:cubicBezTo>
                  <a:cubicBezTo>
                    <a:pt x="133" y="378"/>
                    <a:pt x="103" y="341"/>
                    <a:pt x="100" y="300"/>
                  </a:cubicBezTo>
                  <a:cubicBezTo>
                    <a:pt x="96" y="258"/>
                    <a:pt x="118" y="190"/>
                    <a:pt x="140" y="150"/>
                  </a:cubicBezTo>
                  <a:cubicBezTo>
                    <a:pt x="161" y="110"/>
                    <a:pt x="195" y="80"/>
                    <a:pt x="230" y="60"/>
                  </a:cubicBezTo>
                  <a:cubicBezTo>
                    <a:pt x="265" y="40"/>
                    <a:pt x="301" y="30"/>
                    <a:pt x="350" y="30"/>
                  </a:cubicBezTo>
                  <a:close/>
                </a:path>
              </a:pathLst>
            </a:custGeom>
            <a:gradFill rotWithShape="1">
              <a:gsLst>
                <a:gs pos="0">
                  <a:srgbClr val="CF8881"/>
                </a:gs>
                <a:gs pos="55000">
                  <a:srgbClr val="B03A2E"/>
                </a:gs>
                <a:gs pos="100000">
                  <a:srgbClr val="7B2820"/>
                </a:gs>
              </a:gsLst>
              <a:path path="circle">
                <a:fillToRect l="32000" t="28000" r="68000" b="72000"/>
              </a:path>
            </a:gradFill>
            <a:ln w="25400" cap="rnd">
              <a:solidFill>
                <a:srgbClr val="4F1A14"/>
              </a:solidFill>
              <a:round/>
            </a:ln>
            <a:effectLst>
              <a:outerShdw blurRad="101600" dist="50800" dir="2700000" algn="tl" rotWithShape="0">
                <a:srgbClr val="000000">
                  <a:alpha val="30000"/>
                </a:srgbClr>
              </a:outerShdw>
            </a:effectLst>
          </p:spPr>
        </p:sp>
        <p:sp>
          <p:nvSpPr>
            <p:cNvPr id="73" name="Forma 72"/>
            <p:cNvSpPr/>
            <p:nvPr/>
          </p:nvSpPr>
          <p:spPr>
            <a:xfrm>
              <a:off x="4617720" y="4069080"/>
              <a:ext cx="960120" cy="1344168"/>
            </a:xfrm>
            <a:custGeom>
              <a:avLst/>
              <a:gdLst/>
              <a:ahLst/>
              <a:cxnLst/>
              <a:rect l="0" t="0" r="r" b="b"/>
              <a:pathLst>
                <a:path w="700" h="1000">
                  <a:moveTo>
                    <a:pt x="440" y="150"/>
                  </a:moveTo>
                  <a:lnTo>
                    <a:pt x="530" y="270"/>
                  </a:lnTo>
                  <a:lnTo>
                    <a:pt x="380" y="290"/>
                  </a:lnTo>
                  <a:close/>
                </a:path>
                <a:path w="700" h="1000">
                  <a:moveTo>
                    <a:pt x="520" y="350"/>
                  </a:moveTo>
                  <a:lnTo>
                    <a:pt x="610" y="470"/>
                  </a:lnTo>
                  <a:lnTo>
                    <a:pt x="460" y="490"/>
                  </a:lnTo>
                  <a:close/>
                </a:path>
                <a:path w="700" h="1000">
                  <a:moveTo>
                    <a:pt x="500" y="570"/>
                  </a:moveTo>
                  <a:lnTo>
                    <a:pt x="590" y="690"/>
                  </a:lnTo>
                  <a:lnTo>
                    <a:pt x="440" y="710"/>
                  </a:lnTo>
                  <a:close/>
                </a:path>
                <a:path w="700" h="1000">
                  <a:moveTo>
                    <a:pt x="380" y="750"/>
                  </a:moveTo>
                  <a:lnTo>
                    <a:pt x="470" y="870"/>
                  </a:lnTo>
                  <a:lnTo>
                    <a:pt x="320" y="890"/>
                  </a:lnTo>
                  <a:close/>
                </a:path>
              </a:pathLst>
            </a:custGeom>
            <a:solidFill>
              <a:srgbClr val="7B2820"/>
            </a:solidFill>
            <a:ln w="9525" cap="rnd">
              <a:solidFill>
                <a:srgbClr val="4F1A14"/>
              </a:solidFill>
              <a:round/>
            </a:ln>
          </p:spPr>
        </p:sp>
        <p:sp>
          <p:nvSpPr>
            <p:cNvPr id="74" name="Forma 73"/>
            <p:cNvSpPr/>
            <p:nvPr/>
          </p:nvSpPr>
          <p:spPr>
            <a:xfrm>
              <a:off x="4617720" y="4069080"/>
              <a:ext cx="960120" cy="1344168"/>
            </a:xfrm>
            <a:custGeom>
              <a:avLst/>
              <a:gdLst/>
              <a:ahLst/>
              <a:cxnLst/>
              <a:rect l="0" t="0" r="r" b="b"/>
              <a:pathLst>
                <a:path w="700" h="1000">
                  <a:moveTo>
                    <a:pt x="300" y="470"/>
                  </a:moveTo>
                  <a:cubicBezTo>
                    <a:pt x="313" y="440"/>
                    <a:pt x="360" y="375"/>
                    <a:pt x="380" y="380"/>
                  </a:cubicBezTo>
                  <a:cubicBezTo>
                    <a:pt x="400" y="385"/>
                    <a:pt x="420" y="460"/>
                    <a:pt x="420" y="500"/>
                  </a:cubicBezTo>
                  <a:cubicBezTo>
                    <a:pt x="420" y="540"/>
                    <a:pt x="400" y="610"/>
                    <a:pt x="380" y="620"/>
                  </a:cubicBezTo>
                  <a:cubicBezTo>
                    <a:pt x="360" y="630"/>
                    <a:pt x="313" y="585"/>
                    <a:pt x="300" y="560"/>
                  </a:cubicBezTo>
                  <a:cubicBezTo>
                    <a:pt x="286" y="535"/>
                    <a:pt x="286" y="500"/>
                    <a:pt x="300" y="470"/>
                  </a:cubicBezTo>
                  <a:close/>
                </a:path>
              </a:pathLst>
            </a:custGeom>
            <a:solidFill>
              <a:srgbClr val="F5CBA7"/>
            </a:solidFill>
            <a:ln w="12700" cap="rnd">
              <a:solidFill>
                <a:srgbClr val="A04000"/>
              </a:solidFill>
              <a:round/>
            </a:ln>
          </p:spPr>
        </p:sp>
        <p:sp>
          <p:nvSpPr>
            <p:cNvPr id="75" name="Forma 74"/>
            <p:cNvSpPr/>
            <p:nvPr/>
          </p:nvSpPr>
          <p:spPr>
            <a:xfrm>
              <a:off x="4617720" y="4069080"/>
              <a:ext cx="960120" cy="1344168"/>
            </a:xfrm>
            <a:custGeom>
              <a:avLst/>
              <a:gdLst/>
              <a:ahLst/>
              <a:cxnLst/>
              <a:rect l="0" t="0" r="r" b="b"/>
              <a:pathLst>
                <a:path w="700" h="1000" fill="none">
                  <a:moveTo>
                    <a:pt x="300" y="520"/>
                  </a:moveTo>
                  <a:cubicBezTo>
                    <a:pt x="220" y="560"/>
                    <a:pt x="200" y="700"/>
                    <a:pt x="230" y="1000"/>
                  </a:cubicBezTo>
                </a:path>
              </a:pathLst>
            </a:custGeom>
            <a:noFill/>
            <a:ln w="63500" cap="rnd">
              <a:solidFill>
                <a:srgbClr val="E59866"/>
              </a:solidFill>
              <a:round/>
            </a:ln>
          </p:spPr>
        </p:sp>
      </p:grpSp>
      <p:sp>
        <p:nvSpPr>
          <p:cNvPr id="76" name="!!Rótulo riñón"/>
          <p:cNvSpPr/>
          <p:nvPr/>
        </p:nvSpPr>
        <p:spPr>
          <a:xfrm>
            <a:off x="5669280" y="5074920"/>
            <a:ext cx="633269"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RIÑÓN</a:t>
            </a:r>
            <a:endParaRPr lang="es-AR" sz="1300" dirty="0">
              <a:latin typeface="Bahnschrift SemiBold Condensed"/>
            </a:endParaRPr>
          </a:p>
        </p:txBody>
      </p:sp>
      <p:grpSp>
        <p:nvGrpSpPr>
          <p:cNvPr id="77" name="!!Músculo"/>
          <p:cNvGrpSpPr/>
          <p:nvPr/>
        </p:nvGrpSpPr>
        <p:grpSpPr>
          <a:xfrm>
            <a:off x="8001000" y="4160520"/>
            <a:ext cx="3566160" cy="1768815"/>
            <a:chOff x="8001000" y="4160520"/>
            <a:chExt cx="3566160" cy="1768815"/>
          </a:xfrm>
        </p:grpSpPr>
        <p:grpSp>
          <p:nvGrpSpPr>
            <p:cNvPr id="78" name="Fibra"/>
            <p:cNvGrpSpPr/>
            <p:nvPr/>
          </p:nvGrpSpPr>
          <p:grpSpPr>
            <a:xfrm>
              <a:off x="8001000" y="4160520"/>
              <a:ext cx="3280867" cy="570586"/>
              <a:chOff x="8001000" y="4160520"/>
              <a:chExt cx="3280867" cy="570586"/>
            </a:xfrm>
          </p:grpSpPr>
          <p:sp>
            <p:nvSpPr>
              <p:cNvPr id="79" name="Forma 78"/>
              <p:cNvSpPr/>
              <p:nvPr/>
            </p:nvSpPr>
            <p:spPr>
              <a:xfrm>
                <a:off x="8001000" y="416052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0" name="Forma 79"/>
              <p:cNvSpPr/>
              <p:nvPr/>
            </p:nvSpPr>
            <p:spPr>
              <a:xfrm>
                <a:off x="8143646" y="416052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1" name="Forma 80"/>
              <p:cNvSpPr/>
              <p:nvPr/>
            </p:nvSpPr>
            <p:spPr>
              <a:xfrm>
                <a:off x="8657173"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2" name="Forma 81"/>
              <p:cNvSpPr/>
              <p:nvPr/>
            </p:nvSpPr>
            <p:spPr>
              <a:xfrm>
                <a:off x="980547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3" name="Forma 82"/>
              <p:cNvSpPr/>
              <p:nvPr/>
            </p:nvSpPr>
            <p:spPr>
              <a:xfrm>
                <a:off x="10789737" y="418334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4" name="Forma 83"/>
              <p:cNvSpPr/>
              <p:nvPr/>
            </p:nvSpPr>
            <p:spPr>
              <a:xfrm>
                <a:off x="11042221" y="418334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85" name="Fibra_2"/>
            <p:cNvGrpSpPr/>
            <p:nvPr/>
          </p:nvGrpSpPr>
          <p:grpSpPr>
            <a:xfrm>
              <a:off x="8143646" y="4759635"/>
              <a:ext cx="3280867" cy="570586"/>
              <a:chOff x="8143646" y="4759635"/>
              <a:chExt cx="3280867" cy="570586"/>
            </a:xfrm>
          </p:grpSpPr>
          <p:sp>
            <p:nvSpPr>
              <p:cNvPr id="86" name="Forma 85"/>
              <p:cNvSpPr/>
              <p:nvPr/>
            </p:nvSpPr>
            <p:spPr>
              <a:xfrm>
                <a:off x="8143646" y="4759635"/>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87" name="Forma 86"/>
              <p:cNvSpPr/>
              <p:nvPr/>
            </p:nvSpPr>
            <p:spPr>
              <a:xfrm>
                <a:off x="8286293" y="4759635"/>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88" name="Forma 87"/>
              <p:cNvSpPr/>
              <p:nvPr/>
            </p:nvSpPr>
            <p:spPr>
              <a:xfrm>
                <a:off x="8799820"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89" name="Forma 88"/>
              <p:cNvSpPr/>
              <p:nvPr/>
            </p:nvSpPr>
            <p:spPr>
              <a:xfrm>
                <a:off x="9948123"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0" name="Forma 89"/>
              <p:cNvSpPr/>
              <p:nvPr/>
            </p:nvSpPr>
            <p:spPr>
              <a:xfrm>
                <a:off x="10932384" y="4782458"/>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1" name="Forma 90"/>
              <p:cNvSpPr/>
              <p:nvPr/>
            </p:nvSpPr>
            <p:spPr>
              <a:xfrm>
                <a:off x="11184868" y="4782458"/>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92" name="Fibra_3"/>
            <p:cNvGrpSpPr/>
            <p:nvPr/>
          </p:nvGrpSpPr>
          <p:grpSpPr>
            <a:xfrm>
              <a:off x="8286293" y="5358750"/>
              <a:ext cx="3280867" cy="570586"/>
              <a:chOff x="8286293" y="5358750"/>
              <a:chExt cx="3280867" cy="570586"/>
            </a:xfrm>
          </p:grpSpPr>
          <p:sp>
            <p:nvSpPr>
              <p:cNvPr id="93" name="Forma 92"/>
              <p:cNvSpPr/>
              <p:nvPr/>
            </p:nvSpPr>
            <p:spPr>
              <a:xfrm>
                <a:off x="8286293" y="5358750"/>
                <a:ext cx="3280867" cy="570586"/>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94" name="Forma 93"/>
              <p:cNvSpPr/>
              <p:nvPr/>
            </p:nvSpPr>
            <p:spPr>
              <a:xfrm>
                <a:off x="8428939" y="5358750"/>
                <a:ext cx="2995574" cy="570586"/>
              </a:xfrm>
              <a:custGeom>
                <a:avLst/>
                <a:gdLst/>
                <a:ahLst/>
                <a:cxnLst/>
                <a:rect l="0" t="0" r="r" b="b"/>
                <a:pathLst>
                  <a:path w="1000" h="1000" fill="none">
                    <a:moveTo>
                      <a:pt x="12" y="80"/>
                    </a:moveTo>
                    <a:lnTo>
                      <a:pt x="12" y="920"/>
                    </a:lnTo>
                  </a:path>
                  <a:path w="1000" h="1000" fill="none">
                    <a:moveTo>
                      <a:pt x="38" y="80"/>
                    </a:moveTo>
                    <a:lnTo>
                      <a:pt x="38" y="920"/>
                    </a:lnTo>
                  </a:path>
                  <a:path w="1000" h="1000" fill="none">
                    <a:moveTo>
                      <a:pt x="64" y="80"/>
                    </a:moveTo>
                    <a:lnTo>
                      <a:pt x="64" y="920"/>
                    </a:lnTo>
                  </a:path>
                  <a:path w="1000" h="1000" fill="none">
                    <a:moveTo>
                      <a:pt x="89" y="80"/>
                    </a:moveTo>
                    <a:lnTo>
                      <a:pt x="89" y="920"/>
                    </a:lnTo>
                  </a:path>
                  <a:path w="1000" h="1000" fill="none">
                    <a:moveTo>
                      <a:pt x="115" y="80"/>
                    </a:moveTo>
                    <a:lnTo>
                      <a:pt x="115" y="920"/>
                    </a:lnTo>
                  </a:path>
                  <a:path w="1000" h="1000" fill="none">
                    <a:moveTo>
                      <a:pt x="141" y="80"/>
                    </a:moveTo>
                    <a:lnTo>
                      <a:pt x="141" y="920"/>
                    </a:lnTo>
                  </a:path>
                  <a:path w="1000" h="1000" fill="none">
                    <a:moveTo>
                      <a:pt x="166" y="80"/>
                    </a:moveTo>
                    <a:lnTo>
                      <a:pt x="166" y="920"/>
                    </a:lnTo>
                  </a:path>
                  <a:path w="1000" h="1000" fill="none">
                    <a:moveTo>
                      <a:pt x="192" y="80"/>
                    </a:moveTo>
                    <a:lnTo>
                      <a:pt x="192" y="920"/>
                    </a:lnTo>
                  </a:path>
                  <a:path w="1000" h="1000" fill="none">
                    <a:moveTo>
                      <a:pt x="217" y="80"/>
                    </a:moveTo>
                    <a:lnTo>
                      <a:pt x="217" y="920"/>
                    </a:lnTo>
                  </a:path>
                  <a:path w="1000" h="1000" fill="none">
                    <a:moveTo>
                      <a:pt x="243" y="80"/>
                    </a:moveTo>
                    <a:lnTo>
                      <a:pt x="243" y="920"/>
                    </a:lnTo>
                  </a:path>
                  <a:path w="1000" h="1000" fill="none">
                    <a:moveTo>
                      <a:pt x="269" y="80"/>
                    </a:moveTo>
                    <a:lnTo>
                      <a:pt x="269" y="920"/>
                    </a:lnTo>
                  </a:path>
                  <a:path w="1000" h="1000" fill="none">
                    <a:moveTo>
                      <a:pt x="294" y="80"/>
                    </a:moveTo>
                    <a:lnTo>
                      <a:pt x="294" y="920"/>
                    </a:lnTo>
                  </a:path>
                  <a:path w="1000" h="1000" fill="none">
                    <a:moveTo>
                      <a:pt x="320" y="80"/>
                    </a:moveTo>
                    <a:lnTo>
                      <a:pt x="320" y="920"/>
                    </a:lnTo>
                  </a:path>
                  <a:path w="1000" h="1000" fill="none">
                    <a:moveTo>
                      <a:pt x="346" y="80"/>
                    </a:moveTo>
                    <a:lnTo>
                      <a:pt x="346" y="920"/>
                    </a:lnTo>
                  </a:path>
                  <a:path w="1000" h="1000" fill="none">
                    <a:moveTo>
                      <a:pt x="371" y="80"/>
                    </a:moveTo>
                    <a:lnTo>
                      <a:pt x="371" y="920"/>
                    </a:lnTo>
                  </a:path>
                  <a:path w="1000" h="1000" fill="none">
                    <a:moveTo>
                      <a:pt x="397" y="80"/>
                    </a:moveTo>
                    <a:lnTo>
                      <a:pt x="397" y="920"/>
                    </a:lnTo>
                  </a:path>
                  <a:path w="1000" h="1000" fill="none">
                    <a:moveTo>
                      <a:pt x="423" y="80"/>
                    </a:moveTo>
                    <a:lnTo>
                      <a:pt x="423" y="920"/>
                    </a:lnTo>
                  </a:path>
                  <a:path w="1000" h="1000" fill="none">
                    <a:moveTo>
                      <a:pt x="448" y="80"/>
                    </a:moveTo>
                    <a:lnTo>
                      <a:pt x="448" y="920"/>
                    </a:lnTo>
                  </a:path>
                  <a:path w="1000" h="1000" fill="none">
                    <a:moveTo>
                      <a:pt x="474" y="80"/>
                    </a:moveTo>
                    <a:lnTo>
                      <a:pt x="474" y="920"/>
                    </a:lnTo>
                  </a:path>
                  <a:path w="1000" h="1000" fill="none">
                    <a:moveTo>
                      <a:pt x="500" y="80"/>
                    </a:moveTo>
                    <a:lnTo>
                      <a:pt x="500" y="920"/>
                    </a:lnTo>
                  </a:path>
                  <a:path w="1000" h="1000" fill="none">
                    <a:moveTo>
                      <a:pt x="525" y="80"/>
                    </a:moveTo>
                    <a:lnTo>
                      <a:pt x="525" y="920"/>
                    </a:lnTo>
                  </a:path>
                  <a:path w="1000" h="1000" fill="none">
                    <a:moveTo>
                      <a:pt x="551" y="80"/>
                    </a:moveTo>
                    <a:lnTo>
                      <a:pt x="551" y="920"/>
                    </a:lnTo>
                  </a:path>
                  <a:path w="1000" h="1000" fill="none">
                    <a:moveTo>
                      <a:pt x="576" y="80"/>
                    </a:moveTo>
                    <a:lnTo>
                      <a:pt x="576" y="920"/>
                    </a:lnTo>
                  </a:path>
                  <a:path w="1000" h="1000" fill="none">
                    <a:moveTo>
                      <a:pt x="602" y="80"/>
                    </a:moveTo>
                    <a:lnTo>
                      <a:pt x="602" y="920"/>
                    </a:lnTo>
                  </a:path>
                  <a:path w="1000" h="1000" fill="none">
                    <a:moveTo>
                      <a:pt x="628" y="80"/>
                    </a:moveTo>
                    <a:lnTo>
                      <a:pt x="628" y="920"/>
                    </a:lnTo>
                  </a:path>
                  <a:path w="1000" h="1000" fill="none">
                    <a:moveTo>
                      <a:pt x="653" y="80"/>
                    </a:moveTo>
                    <a:lnTo>
                      <a:pt x="653" y="920"/>
                    </a:lnTo>
                  </a:path>
                  <a:path w="1000" h="1000" fill="none">
                    <a:moveTo>
                      <a:pt x="679" y="80"/>
                    </a:moveTo>
                    <a:lnTo>
                      <a:pt x="679" y="920"/>
                    </a:lnTo>
                  </a:path>
                  <a:path w="1000" h="1000" fill="none">
                    <a:moveTo>
                      <a:pt x="705" y="80"/>
                    </a:moveTo>
                    <a:lnTo>
                      <a:pt x="705" y="920"/>
                    </a:lnTo>
                  </a:path>
                  <a:path w="1000" h="1000" fill="none">
                    <a:moveTo>
                      <a:pt x="730" y="80"/>
                    </a:moveTo>
                    <a:lnTo>
                      <a:pt x="730" y="920"/>
                    </a:lnTo>
                  </a:path>
                  <a:path w="1000" h="1000" fill="none">
                    <a:moveTo>
                      <a:pt x="756" y="80"/>
                    </a:moveTo>
                    <a:lnTo>
                      <a:pt x="756" y="920"/>
                    </a:lnTo>
                  </a:path>
                  <a:path w="1000" h="1000" fill="none">
                    <a:moveTo>
                      <a:pt x="782" y="80"/>
                    </a:moveTo>
                    <a:lnTo>
                      <a:pt x="782" y="920"/>
                    </a:lnTo>
                  </a:path>
                  <a:path w="1000" h="1000" fill="none">
                    <a:moveTo>
                      <a:pt x="807" y="80"/>
                    </a:moveTo>
                    <a:lnTo>
                      <a:pt x="807" y="920"/>
                    </a:lnTo>
                  </a:path>
                  <a:path w="1000" h="1000" fill="none">
                    <a:moveTo>
                      <a:pt x="833" y="80"/>
                    </a:moveTo>
                    <a:lnTo>
                      <a:pt x="833" y="920"/>
                    </a:lnTo>
                  </a:path>
                  <a:path w="1000" h="1000" fill="none">
                    <a:moveTo>
                      <a:pt x="858" y="80"/>
                    </a:moveTo>
                    <a:lnTo>
                      <a:pt x="858" y="920"/>
                    </a:lnTo>
                  </a:path>
                  <a:path w="1000" h="1000" fill="none">
                    <a:moveTo>
                      <a:pt x="884" y="80"/>
                    </a:moveTo>
                    <a:lnTo>
                      <a:pt x="884" y="920"/>
                    </a:lnTo>
                  </a:path>
                  <a:path w="1000" h="1000" fill="none">
                    <a:moveTo>
                      <a:pt x="910" y="80"/>
                    </a:moveTo>
                    <a:lnTo>
                      <a:pt x="910" y="920"/>
                    </a:lnTo>
                  </a:path>
                  <a:path w="1000" h="1000" fill="none">
                    <a:moveTo>
                      <a:pt x="935" y="80"/>
                    </a:moveTo>
                    <a:lnTo>
                      <a:pt x="935" y="920"/>
                    </a:lnTo>
                  </a:path>
                  <a:path w="1000" h="1000" fill="none">
                    <a:moveTo>
                      <a:pt x="961" y="80"/>
                    </a:moveTo>
                    <a:lnTo>
                      <a:pt x="961" y="920"/>
                    </a:lnTo>
                  </a:path>
                  <a:path w="1000" h="1000" fill="none">
                    <a:moveTo>
                      <a:pt x="987" y="80"/>
                    </a:moveTo>
                    <a:lnTo>
                      <a:pt x="987" y="920"/>
                    </a:lnTo>
                  </a:path>
                </a:pathLst>
              </a:custGeom>
              <a:noFill/>
              <a:ln w="12700" cap="rnd">
                <a:solidFill>
                  <a:srgbClr val="822E27"/>
                </a:solidFill>
                <a:round/>
              </a:ln>
            </p:spPr>
          </p:sp>
          <p:sp>
            <p:nvSpPr>
              <p:cNvPr id="95" name="Forma 94"/>
              <p:cNvSpPr/>
              <p:nvPr/>
            </p:nvSpPr>
            <p:spPr>
              <a:xfrm>
                <a:off x="8942466"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6" name="Forma 95"/>
              <p:cNvSpPr/>
              <p:nvPr/>
            </p:nvSpPr>
            <p:spPr>
              <a:xfrm>
                <a:off x="1009077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7" name="Forma 96"/>
              <p:cNvSpPr/>
              <p:nvPr/>
            </p:nvSpPr>
            <p:spPr>
              <a:xfrm>
                <a:off x="11075030" y="5381573"/>
                <a:ext cx="285293" cy="102705"/>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8" name="Forma 97"/>
              <p:cNvSpPr/>
              <p:nvPr/>
            </p:nvSpPr>
            <p:spPr>
              <a:xfrm>
                <a:off x="11327514" y="5381573"/>
                <a:ext cx="228234" cy="524939"/>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sp>
        <p:nvSpPr>
          <p:cNvPr id="99" name="!!Rótulo músculo"/>
          <p:cNvSpPr/>
          <p:nvPr/>
        </p:nvSpPr>
        <p:spPr>
          <a:xfrm>
            <a:off x="8046720" y="6035040"/>
            <a:ext cx="830267" cy="255905"/>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MÚSCULO</a:t>
            </a:r>
            <a:endParaRPr lang="es-AR" sz="1300" dirty="0">
              <a:latin typeface="Bahnschrift SemiBold Condensed"/>
            </a:endParaRPr>
          </a:p>
        </p:txBody>
      </p:sp>
      <p:grpSp>
        <p:nvGrpSpPr>
          <p:cNvPr id="100" name="!!Sangre"/>
          <p:cNvGrpSpPr/>
          <p:nvPr/>
        </p:nvGrpSpPr>
        <p:grpSpPr>
          <a:xfrm>
            <a:off x="274320" y="3200400"/>
            <a:ext cx="11658600" cy="548640"/>
            <a:chOff x="274320" y="3200400"/>
            <a:chExt cx="11658600" cy="548640"/>
          </a:xfrm>
        </p:grpSpPr>
        <p:sp>
          <p:nvSpPr>
            <p:cNvPr id="101" name="Forma 100"/>
            <p:cNvSpPr/>
            <p:nvPr/>
          </p:nvSpPr>
          <p:spPr>
            <a:xfrm>
              <a:off x="274320" y="3200400"/>
              <a:ext cx="11658600" cy="548640"/>
            </a:xfrm>
            <a:prstGeom prst="roundRect">
              <a:avLst>
                <a:gd name="adj" fmla="val 50000"/>
              </a:avLst>
            </a:prstGeom>
            <a:gradFill rotWithShape="1">
              <a:gsLst>
                <a:gs pos="0">
                  <a:srgbClr val="7C251B"/>
                </a:gs>
                <a:gs pos="30000">
                  <a:srgbClr val="D2746A"/>
                </a:gs>
                <a:gs pos="55000">
                  <a:srgbClr val="C0392B"/>
                </a:gs>
                <a:gs pos="100000">
                  <a:srgbClr val="7C251B"/>
                </a:gs>
              </a:gsLst>
              <a:lin ang="5400000" scaled="0"/>
            </a:gradFill>
            <a:ln w="15875" cap="rnd">
              <a:solidFill>
                <a:srgbClr val="6E1A12"/>
              </a:solidFill>
              <a:round/>
            </a:ln>
            <a:effectLst>
              <a:outerShdw blurRad="101600" dist="50800" dir="2700000" algn="tl" rotWithShape="0">
                <a:srgbClr val="000000">
                  <a:alpha val="30000"/>
                </a:srgbClr>
              </a:outerShdw>
            </a:effectLst>
          </p:spPr>
        </p:sp>
        <p:sp>
          <p:nvSpPr>
            <p:cNvPr id="102" name="Forma 101"/>
            <p:cNvSpPr/>
            <p:nvPr/>
          </p:nvSpPr>
          <p:spPr>
            <a:xfrm>
              <a:off x="356616" y="3299155"/>
              <a:ext cx="11494008" cy="351130"/>
            </a:xfrm>
            <a:prstGeom prst="roundRect">
              <a:avLst>
                <a:gd name="adj" fmla="val 50000"/>
              </a:avLst>
            </a:prstGeom>
            <a:gradFill rotWithShape="1">
              <a:gsLst>
                <a:gs pos="0">
                  <a:srgbClr val="F2B8B0"/>
                </a:gs>
                <a:gs pos="50000">
                  <a:srgbClr val="F8D3CD"/>
                </a:gs>
                <a:gs pos="100000">
                  <a:srgbClr val="EBA59C"/>
                </a:gs>
              </a:gsLst>
              <a:lin ang="5400000" scaled="0"/>
            </a:gradFill>
            <a:ln w="9525" cap="rnd">
              <a:solidFill>
                <a:srgbClr val="A93226"/>
              </a:solidFill>
              <a:round/>
            </a:ln>
          </p:spPr>
        </p:sp>
        <p:sp>
          <p:nvSpPr>
            <p:cNvPr id="103" name="Eritrocito"/>
            <p:cNvSpPr/>
            <p:nvPr/>
          </p:nvSpPr>
          <p:spPr>
            <a:xfrm>
              <a:off x="745381" y="346756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4" name="Eritrocito_2"/>
            <p:cNvSpPr/>
            <p:nvPr/>
          </p:nvSpPr>
          <p:spPr>
            <a:xfrm>
              <a:off x="1258447" y="334920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5" name="Eritrocito_3"/>
            <p:cNvSpPr/>
            <p:nvPr/>
          </p:nvSpPr>
          <p:spPr>
            <a:xfrm>
              <a:off x="2309554" y="3438506"/>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6" name="Eritrocito_4"/>
            <p:cNvSpPr/>
            <p:nvPr/>
          </p:nvSpPr>
          <p:spPr>
            <a:xfrm>
              <a:off x="3057821" y="33798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7" name="Eritrocito_5"/>
            <p:cNvSpPr/>
            <p:nvPr/>
          </p:nvSpPr>
          <p:spPr>
            <a:xfrm>
              <a:off x="3838780" y="342078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8" name="Eritrocito_6"/>
            <p:cNvSpPr/>
            <p:nvPr/>
          </p:nvSpPr>
          <p:spPr>
            <a:xfrm>
              <a:off x="4632256" y="335928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09" name="Eritrocito_7"/>
            <p:cNvSpPr/>
            <p:nvPr/>
          </p:nvSpPr>
          <p:spPr>
            <a:xfrm>
              <a:off x="5385406" y="3391537"/>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0" name="Eritrocito_8"/>
            <p:cNvSpPr/>
            <p:nvPr/>
          </p:nvSpPr>
          <p:spPr>
            <a:xfrm>
              <a:off x="6280527" y="347400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1" name="Eritrocito_9"/>
            <p:cNvSpPr/>
            <p:nvPr/>
          </p:nvSpPr>
          <p:spPr>
            <a:xfrm>
              <a:off x="7154503" y="3412199"/>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2" name="Eritrocito_10"/>
            <p:cNvSpPr/>
            <p:nvPr/>
          </p:nvSpPr>
          <p:spPr>
            <a:xfrm>
              <a:off x="7794172" y="3374352"/>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3" name="Eritrocito_11"/>
            <p:cNvSpPr/>
            <p:nvPr/>
          </p:nvSpPr>
          <p:spPr>
            <a:xfrm>
              <a:off x="8464491" y="3341324"/>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4" name="Eritrocito_12"/>
            <p:cNvSpPr/>
            <p:nvPr/>
          </p:nvSpPr>
          <p:spPr>
            <a:xfrm>
              <a:off x="9403409" y="3381241"/>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5" name="Eritrocito_13"/>
            <p:cNvSpPr/>
            <p:nvPr/>
          </p:nvSpPr>
          <p:spPr>
            <a:xfrm>
              <a:off x="10177606" y="3459878"/>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116" name="Eritrocito_14"/>
            <p:cNvSpPr/>
            <p:nvPr/>
          </p:nvSpPr>
          <p:spPr>
            <a:xfrm>
              <a:off x="11025730" y="3414440"/>
              <a:ext cx="230429" cy="230429"/>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sp>
        <p:nvSpPr>
          <p:cNvPr id="117" name="!!Rótulo sangre"/>
          <p:cNvSpPr/>
          <p:nvPr/>
        </p:nvSpPr>
        <p:spPr>
          <a:xfrm>
            <a:off x="5532120" y="3364992"/>
            <a:ext cx="707223" cy="236220"/>
          </a:xfrm>
          <a:prstGeom prst="rect">
            <a:avLst/>
          </a:prstGeom>
          <a:solidFill>
            <a:srgbClr val="FFFFFF"/>
          </a:solidFill>
          <a:ln w="12700" cap="rnd">
            <a:solidFill>
              <a:srgbClr val="6E1A12"/>
            </a:solidFill>
            <a:round/>
          </a:ln>
        </p:spPr>
        <p:txBody>
          <a:bodyPr wrap="square" lIns="45720" tIns="0" rIns="45720" bIns="0" anchor="ctr" rtlCol="0">
            <a:noAutofit/>
          </a:bodyPr>
          <a:lstStyle/>
          <a:p>
            <a:pPr algn="ctr">
              <a:spcAft>
                <a:spcPts val="300"/>
              </a:spcAft>
              <a:buNone/>
            </a:pPr>
            <a:r>
              <a:rPr lang="es-AR" sz="1200" b="1" dirty="0">
                <a:solidFill>
                  <a:srgbClr val="1E1E1E"/>
                </a:solidFill>
                <a:latin typeface="Bahnschrift SemiBold Condensed"/>
                <a:ea typeface="Bahnschrift SemiBold Condensed"/>
                <a:cs typeface="Bahnschrift SemiBold Condensed"/>
                <a:sym typeface="Bahnschrift SemiBold Condensed"/>
              </a:rPr>
              <a:t>SANGRE</a:t>
            </a:r>
            <a:endParaRPr lang="es-AR" sz="1200" dirty="0">
              <a:latin typeface="Bahnschrift SemiBold Condensed"/>
            </a:endParaRPr>
          </a:p>
        </p:txBody>
      </p:sp>
      <p:grpSp>
        <p:nvGrpSpPr>
          <p:cNvPr id="118" name="Capa alimentado"/>
          <p:cNvGrpSpPr/>
          <p:nvPr/>
        </p:nvGrpSpPr>
        <p:grpSpPr>
          <a:xfrm>
            <a:off x="1645920" y="896112"/>
            <a:ext cx="7872984" cy="3264408"/>
            <a:chOff x="1645920" y="896112"/>
            <a:chExt cx="7872984" cy="3264408"/>
          </a:xfrm>
        </p:grpSpPr>
        <p:sp>
          <p:nvSpPr>
            <p:cNvPr id="119" name="Flecha 118_2"/>
            <p:cNvSpPr/>
            <p:nvPr/>
          </p:nvSpPr>
          <p:spPr>
            <a:xfrm>
              <a:off x="1645920" y="3749040"/>
              <a:ext cx="9144" cy="320040"/>
            </a:xfrm>
            <a:custGeom>
              <a:avLst/>
              <a:gdLst/>
              <a:ahLst/>
              <a:cxnLst/>
              <a:rect l="0" t="0" r="r" b="b"/>
              <a:pathLst>
                <a:path w="10" h="350" fill="none">
                  <a:moveTo>
                    <a:pt x="0" y="350"/>
                  </a:moveTo>
                  <a:lnTo>
                    <a:pt x="0" y="0"/>
                  </a:lnTo>
                </a:path>
              </a:pathLst>
            </a:custGeom>
            <a:noFill/>
            <a:ln w="50800" cap="rnd">
              <a:solidFill>
                <a:srgbClr val="2563B0"/>
              </a:solidFill>
              <a:round/>
              <a:tailEnd type="triangle" w="med" len="med"/>
            </a:ln>
          </p:spPr>
        </p:sp>
        <p:sp>
          <p:nvSpPr>
            <p:cNvPr id="120" name="Flecha 120_2"/>
            <p:cNvSpPr/>
            <p:nvPr/>
          </p:nvSpPr>
          <p:spPr>
            <a:xfrm>
              <a:off x="2194560" y="2834640"/>
              <a:ext cx="9144" cy="365760"/>
            </a:xfrm>
            <a:custGeom>
              <a:avLst/>
              <a:gdLst/>
              <a:ahLst/>
              <a:cxnLst/>
              <a:rect l="0" t="0" r="r" b="b"/>
              <a:pathLst>
                <a:path w="10" h="399" fill="none">
                  <a:moveTo>
                    <a:pt x="0" y="399"/>
                  </a:moveTo>
                  <a:lnTo>
                    <a:pt x="0" y="0"/>
                  </a:lnTo>
                </a:path>
              </a:pathLst>
            </a:custGeom>
            <a:noFill/>
            <a:ln w="50800" cap="rnd">
              <a:solidFill>
                <a:srgbClr val="2563B0"/>
              </a:solidFill>
              <a:round/>
              <a:tailEnd type="triangle" w="med" len="med"/>
            </a:ln>
          </p:spPr>
        </p:sp>
        <p:sp>
          <p:nvSpPr>
            <p:cNvPr id="121" name="Flecha 122_2"/>
            <p:cNvSpPr/>
            <p:nvPr/>
          </p:nvSpPr>
          <p:spPr>
            <a:xfrm>
              <a:off x="9509760" y="2606040"/>
              <a:ext cx="9144" cy="594360"/>
            </a:xfrm>
            <a:custGeom>
              <a:avLst/>
              <a:gdLst/>
              <a:ahLst/>
              <a:cxnLst/>
              <a:rect l="0" t="0" r="r" b="b"/>
              <a:pathLst>
                <a:path w="10" h="649" fill="none">
                  <a:moveTo>
                    <a:pt x="0" y="649"/>
                  </a:moveTo>
                  <a:lnTo>
                    <a:pt x="0" y="0"/>
                  </a:lnTo>
                </a:path>
              </a:pathLst>
            </a:custGeom>
            <a:noFill/>
            <a:ln w="50800" cap="rnd">
              <a:solidFill>
                <a:srgbClr val="2563B0"/>
              </a:solidFill>
              <a:round/>
              <a:tailEnd type="triangle" w="med" len="med"/>
            </a:ln>
          </p:spPr>
        </p:sp>
        <p:sp>
          <p:nvSpPr>
            <p:cNvPr id="122" name="Flecha 124_2"/>
            <p:cNvSpPr/>
            <p:nvPr/>
          </p:nvSpPr>
          <p:spPr>
            <a:xfrm>
              <a:off x="8595360" y="3749040"/>
              <a:ext cx="9144" cy="411480"/>
            </a:xfrm>
            <a:custGeom>
              <a:avLst/>
              <a:gdLst/>
              <a:ahLst/>
              <a:cxnLst/>
              <a:rect l="0" t="0" r="r" b="b"/>
              <a:pathLst>
                <a:path w="10" h="450" fill="none">
                  <a:moveTo>
                    <a:pt x="0" y="0"/>
                  </a:moveTo>
                  <a:lnTo>
                    <a:pt x="0" y="450"/>
                  </a:lnTo>
                </a:path>
              </a:pathLst>
            </a:custGeom>
            <a:noFill/>
            <a:ln w="50800" cap="rnd">
              <a:solidFill>
                <a:srgbClr val="2563B0"/>
              </a:solidFill>
              <a:round/>
              <a:tailEnd type="triangle" w="med" len="med"/>
            </a:ln>
          </p:spPr>
        </p:sp>
        <p:sp>
          <p:nvSpPr>
            <p:cNvPr id="123" name="Flecha 126_2"/>
            <p:cNvSpPr/>
            <p:nvPr/>
          </p:nvSpPr>
          <p:spPr>
            <a:xfrm>
              <a:off x="5852160" y="2468880"/>
              <a:ext cx="9144" cy="731520"/>
            </a:xfrm>
            <a:custGeom>
              <a:avLst/>
              <a:gdLst/>
              <a:ahLst/>
              <a:cxnLst/>
              <a:rect l="0" t="0" r="r" b="b"/>
              <a:pathLst>
                <a:path w="10" h="799" fill="none">
                  <a:moveTo>
                    <a:pt x="0" y="799"/>
                  </a:moveTo>
                  <a:lnTo>
                    <a:pt x="0" y="0"/>
                  </a:lnTo>
                </a:path>
              </a:pathLst>
            </a:custGeom>
            <a:noFill/>
            <a:ln w="50800" cap="rnd">
              <a:solidFill>
                <a:srgbClr val="2563B0"/>
              </a:solidFill>
              <a:round/>
              <a:tailEnd type="triangle" w="med" len="med"/>
            </a:ln>
          </p:spPr>
        </p:sp>
        <p:sp>
          <p:nvSpPr>
            <p:cNvPr id="124" name="Molécula glc"/>
            <p:cNvSpPr/>
            <p:nvPr/>
          </p:nvSpPr>
          <p:spPr>
            <a:xfrm>
              <a:off x="1783080" y="3639312"/>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125" name="Molécula glc_2"/>
            <p:cNvSpPr/>
            <p:nvPr/>
          </p:nvSpPr>
          <p:spPr>
            <a:xfrm>
              <a:off x="2331720" y="278892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126" name="Molécula glc_3"/>
            <p:cNvSpPr/>
            <p:nvPr/>
          </p:nvSpPr>
          <p:spPr>
            <a:xfrm>
              <a:off x="8732520" y="379476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127" name="Molécula glc_4"/>
            <p:cNvSpPr/>
            <p:nvPr/>
          </p:nvSpPr>
          <p:spPr>
            <a:xfrm>
              <a:off x="5989320" y="269748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128" name="Etiqueta alimentado"/>
            <p:cNvSpPr/>
            <p:nvPr/>
          </p:nvSpPr>
          <p:spPr>
            <a:xfrm>
              <a:off x="3429000" y="896112"/>
              <a:ext cx="1761772" cy="255905"/>
            </a:xfrm>
            <a:prstGeom prst="rect">
              <a:avLst/>
            </a:prstGeom>
            <a:solidFill>
              <a:srgbClr val="DCEBF8"/>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ALIMENTADO: insulina ↑</a:t>
              </a:r>
              <a:endParaRPr lang="es-AR" sz="1300" dirty="0">
                <a:latin typeface="Bahnschrift SemiBold Condensed"/>
              </a:endParaRPr>
            </a:p>
          </p:txBody>
        </p:sp>
      </p:grpSp>
      <p:grpSp>
        <p:nvGrpSpPr>
          <p:cNvPr id="129" name="Capa ayuno"/>
          <p:cNvGrpSpPr/>
          <p:nvPr/>
        </p:nvGrpSpPr>
        <p:grpSpPr>
          <a:xfrm>
            <a:off x="2743200" y="1325880"/>
            <a:ext cx="8001000" cy="2834640"/>
            <a:chOff x="2743200" y="1325880"/>
            <a:chExt cx="8001000" cy="2834640"/>
          </a:xfrm>
        </p:grpSpPr>
        <p:sp>
          <p:nvSpPr>
            <p:cNvPr id="130" name="Flecha 134_2"/>
            <p:cNvSpPr/>
            <p:nvPr/>
          </p:nvSpPr>
          <p:spPr>
            <a:xfrm>
              <a:off x="9966960" y="2606040"/>
              <a:ext cx="9144" cy="594360"/>
            </a:xfrm>
            <a:custGeom>
              <a:avLst/>
              <a:gdLst/>
              <a:ahLst/>
              <a:cxnLst/>
              <a:rect l="0" t="0" r="r" b="b"/>
              <a:pathLst>
                <a:path w="10" h="649" fill="none">
                  <a:moveTo>
                    <a:pt x="0" y="0"/>
                  </a:moveTo>
                  <a:lnTo>
                    <a:pt x="0" y="649"/>
                  </a:lnTo>
                </a:path>
              </a:pathLst>
            </a:custGeom>
            <a:noFill/>
            <a:ln w="50800" cap="rnd">
              <a:solidFill>
                <a:srgbClr val="8E44AD"/>
              </a:solidFill>
              <a:round/>
              <a:tailEnd type="triangle" w="med" len="med"/>
            </a:ln>
          </p:spPr>
        </p:sp>
        <p:sp>
          <p:nvSpPr>
            <p:cNvPr id="131" name="Flecha 136_2"/>
            <p:cNvSpPr/>
            <p:nvPr/>
          </p:nvSpPr>
          <p:spPr>
            <a:xfrm>
              <a:off x="2743200" y="2834640"/>
              <a:ext cx="9144" cy="365760"/>
            </a:xfrm>
            <a:custGeom>
              <a:avLst/>
              <a:gdLst/>
              <a:ahLst/>
              <a:cxnLst/>
              <a:rect l="0" t="0" r="r" b="b"/>
              <a:pathLst>
                <a:path w="10" h="399" fill="none">
                  <a:moveTo>
                    <a:pt x="0" y="0"/>
                  </a:moveTo>
                  <a:lnTo>
                    <a:pt x="0" y="399"/>
                  </a:lnTo>
                </a:path>
              </a:pathLst>
            </a:custGeom>
            <a:noFill/>
            <a:ln w="50800" cap="rnd">
              <a:solidFill>
                <a:srgbClr val="8E44AD"/>
              </a:solidFill>
              <a:round/>
              <a:tailEnd type="triangle" w="med" len="med"/>
            </a:ln>
          </p:spPr>
        </p:sp>
        <p:sp>
          <p:nvSpPr>
            <p:cNvPr id="132" name="Flecha 138_2"/>
            <p:cNvSpPr/>
            <p:nvPr/>
          </p:nvSpPr>
          <p:spPr>
            <a:xfrm>
              <a:off x="8138160" y="3749040"/>
              <a:ext cx="9144" cy="411480"/>
            </a:xfrm>
            <a:custGeom>
              <a:avLst/>
              <a:gdLst/>
              <a:ahLst/>
              <a:cxnLst/>
              <a:rect l="0" t="0" r="r" b="b"/>
              <a:pathLst>
                <a:path w="10" h="450" fill="none">
                  <a:moveTo>
                    <a:pt x="0" y="450"/>
                  </a:moveTo>
                  <a:lnTo>
                    <a:pt x="0" y="0"/>
                  </a:lnTo>
                </a:path>
              </a:pathLst>
            </a:custGeom>
            <a:noFill/>
            <a:ln w="50800" cap="rnd">
              <a:solidFill>
                <a:srgbClr val="8E44AD"/>
              </a:solidFill>
              <a:round/>
              <a:tailEnd type="triangle" w="med" len="med"/>
            </a:ln>
          </p:spPr>
        </p:sp>
        <p:sp>
          <p:nvSpPr>
            <p:cNvPr id="133" name="Flecha 140_2"/>
            <p:cNvSpPr/>
            <p:nvPr/>
          </p:nvSpPr>
          <p:spPr>
            <a:xfrm>
              <a:off x="6400800" y="2468880"/>
              <a:ext cx="9144" cy="731520"/>
            </a:xfrm>
            <a:custGeom>
              <a:avLst/>
              <a:gdLst/>
              <a:ahLst/>
              <a:cxnLst/>
              <a:rect l="0" t="0" r="r" b="b"/>
              <a:pathLst>
                <a:path w="10" h="799" fill="none">
                  <a:moveTo>
                    <a:pt x="0" y="799"/>
                  </a:moveTo>
                  <a:lnTo>
                    <a:pt x="0" y="0"/>
                  </a:lnTo>
                </a:path>
              </a:pathLst>
            </a:custGeom>
            <a:noFill/>
            <a:ln w="50800" cap="rnd">
              <a:solidFill>
                <a:srgbClr val="8E44AD"/>
              </a:solidFill>
              <a:round/>
              <a:tailEnd type="triangle" w="med" len="med"/>
            </a:ln>
          </p:spPr>
        </p:sp>
        <p:sp>
          <p:nvSpPr>
            <p:cNvPr id="134" name="Flecha 142_2"/>
            <p:cNvSpPr/>
            <p:nvPr/>
          </p:nvSpPr>
          <p:spPr>
            <a:xfrm>
              <a:off x="5394960" y="3749040"/>
              <a:ext cx="9144" cy="320040"/>
            </a:xfrm>
            <a:custGeom>
              <a:avLst/>
              <a:gdLst/>
              <a:ahLst/>
              <a:cxnLst/>
              <a:rect l="0" t="0" r="r" b="b"/>
              <a:pathLst>
                <a:path w="10" h="350" fill="none">
                  <a:moveTo>
                    <a:pt x="0" y="350"/>
                  </a:moveTo>
                  <a:lnTo>
                    <a:pt x="0" y="0"/>
                  </a:lnTo>
                </a:path>
              </a:pathLst>
            </a:custGeom>
            <a:noFill/>
            <a:ln w="50800" cap="rnd">
              <a:solidFill>
                <a:srgbClr val="8E44AD"/>
              </a:solidFill>
              <a:round/>
              <a:tailEnd type="triangle" w="med" len="med"/>
            </a:ln>
          </p:spPr>
        </p:sp>
        <p:grpSp>
          <p:nvGrpSpPr>
            <p:cNvPr id="135" name="Ácido graso"/>
            <p:cNvGrpSpPr/>
            <p:nvPr/>
          </p:nvGrpSpPr>
          <p:grpSpPr>
            <a:xfrm>
              <a:off x="10085832" y="2706624"/>
              <a:ext cx="658368" cy="182880"/>
              <a:chOff x="10085832" y="2706624"/>
              <a:chExt cx="658368" cy="182880"/>
            </a:xfrm>
          </p:grpSpPr>
          <p:sp>
            <p:nvSpPr>
              <p:cNvPr id="136" name="Flecha 145_2"/>
              <p:cNvSpPr/>
              <p:nvPr/>
            </p:nvSpPr>
            <p:spPr>
              <a:xfrm>
                <a:off x="10250424" y="2761488"/>
                <a:ext cx="493776" cy="128016"/>
              </a:xfrm>
              <a:custGeom>
                <a:avLst/>
                <a:gdLst/>
                <a:ahLst/>
                <a:cxnLst/>
                <a:rect l="0" t="0" r="r" b="b"/>
                <a:pathLst>
                  <a:path w="539" h="140" fill="none">
                    <a:moveTo>
                      <a:pt x="0" y="0"/>
                    </a:moveTo>
                    <a:lnTo>
                      <a:pt x="67" y="140"/>
                    </a:lnTo>
                    <a:lnTo>
                      <a:pt x="134" y="0"/>
                    </a:lnTo>
                    <a:lnTo>
                      <a:pt x="202" y="140"/>
                    </a:lnTo>
                    <a:lnTo>
                      <a:pt x="269" y="0"/>
                    </a:lnTo>
                    <a:lnTo>
                      <a:pt x="337" y="140"/>
                    </a:lnTo>
                    <a:lnTo>
                      <a:pt x="404" y="0"/>
                    </a:lnTo>
                    <a:lnTo>
                      <a:pt x="472" y="140"/>
                    </a:lnTo>
                    <a:lnTo>
                      <a:pt x="539" y="0"/>
                    </a:lnTo>
                  </a:path>
                </a:pathLst>
              </a:custGeom>
              <a:noFill/>
              <a:ln w="28575" cap="rnd">
                <a:solidFill>
                  <a:srgbClr val="B7950B"/>
                </a:solidFill>
                <a:round/>
              </a:ln>
            </p:spPr>
          </p:sp>
          <p:sp>
            <p:nvSpPr>
              <p:cNvPr id="137" name="Forma 147"/>
              <p:cNvSpPr/>
              <p:nvPr/>
            </p:nvSpPr>
            <p:spPr>
              <a:xfrm>
                <a:off x="10085832" y="2706624"/>
                <a:ext cx="182880" cy="182880"/>
              </a:xfrm>
              <a:prstGeom prst="ellipse">
                <a:avLst/>
              </a:prstGeom>
              <a:gradFill rotWithShape="1">
                <a:gsLst>
                  <a:gs pos="0">
                    <a:srgbClr val="F0938A"/>
                  </a:gs>
                  <a:gs pos="55000">
                    <a:srgbClr val="E74C3C"/>
                  </a:gs>
                  <a:gs pos="100000">
                    <a:srgbClr val="B83C30"/>
                  </a:gs>
                </a:gsLst>
                <a:path path="circle">
                  <a:fillToRect l="32000" t="28000" r="68000" b="72000"/>
                </a:path>
              </a:gradFill>
              <a:ln w="9525" cap="rnd">
                <a:solidFill>
                  <a:srgbClr val="8A2D24"/>
                </a:solidFill>
                <a:round/>
              </a:ln>
            </p:spPr>
          </p:sp>
        </p:grpSp>
        <p:sp>
          <p:nvSpPr>
            <p:cNvPr id="138" name="Molécula glc_5"/>
            <p:cNvSpPr/>
            <p:nvPr/>
          </p:nvSpPr>
          <p:spPr>
            <a:xfrm>
              <a:off x="2880360" y="2788920"/>
              <a:ext cx="329184" cy="329184"/>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Glc</a:t>
              </a:r>
              <a:endParaRPr lang="es-AR" sz="936" dirty="0">
                <a:latin typeface="Bahnschrift SemiBold Condensed"/>
              </a:endParaRPr>
            </a:p>
          </p:txBody>
        </p:sp>
        <p:sp>
          <p:nvSpPr>
            <p:cNvPr id="139" name="Molécula ala"/>
            <p:cNvSpPr/>
            <p:nvPr/>
          </p:nvSpPr>
          <p:spPr>
            <a:xfrm>
              <a:off x="7543800" y="3794760"/>
              <a:ext cx="329184" cy="329184"/>
            </a:xfrm>
            <a:prstGeom prst="ellipse">
              <a:avLst/>
            </a:prstGeom>
            <a:gradFill rotWithShape="1">
              <a:gsLst>
                <a:gs pos="0">
                  <a:srgbClr val="77BF94"/>
                </a:gs>
                <a:gs pos="55000">
                  <a:srgbClr val="2E9E5B"/>
                </a:gs>
                <a:gs pos="100000">
                  <a:srgbClr val="247E48"/>
                </a:gs>
              </a:gsLst>
              <a:path path="circle">
                <a:fillToRect l="32000" t="28000" r="68000" b="72000"/>
              </a:path>
            </a:gradFill>
            <a:ln w="12700" cap="rnd">
              <a:solidFill>
                <a:srgbClr val="195632"/>
              </a:solidFill>
              <a:round/>
            </a:ln>
          </p:spPr>
          <p:txBody>
            <a:bodyPr wrap="square" lIns="0" tIns="0" rIns="0" bIns="0" anchor="ctr" rtlCol="0">
              <a:noAutofit/>
            </a:bodyPr>
            <a:lstStyle/>
            <a:p>
              <a:pPr algn="ctr">
                <a:spcAft>
                  <a:spcPts val="300"/>
                </a:spcAft>
                <a:buNone/>
              </a:pPr>
              <a:r>
                <a:rPr lang="es-AR" sz="936" b="1" dirty="0">
                  <a:solidFill>
                    <a:srgbClr val="FFFFFF"/>
                  </a:solidFill>
                  <a:latin typeface="Bahnschrift SemiBold Condensed"/>
                  <a:ea typeface="Bahnschrift SemiBold Condensed"/>
                  <a:cs typeface="Bahnschrift SemiBold Condensed"/>
                  <a:sym typeface="Bahnschrift SemiBold Condensed"/>
                </a:rPr>
                <a:t>Ala</a:t>
              </a:r>
              <a:endParaRPr lang="es-AR" sz="936" dirty="0">
                <a:latin typeface="Bahnschrift SemiBold Condensed"/>
              </a:endParaRPr>
            </a:p>
          </p:txBody>
        </p:sp>
        <p:sp>
          <p:nvSpPr>
            <p:cNvPr id="140" name="Molécula cc"/>
            <p:cNvSpPr/>
            <p:nvPr/>
          </p:nvSpPr>
          <p:spPr>
            <a:xfrm>
              <a:off x="6537960" y="2697480"/>
              <a:ext cx="329184" cy="329184"/>
            </a:xfrm>
            <a:prstGeom prst="ellipse">
              <a:avLst/>
            </a:prstGeom>
            <a:gradFill rotWithShape="1">
              <a:gsLst>
                <a:gs pos="0">
                  <a:srgbClr val="D76894"/>
                </a:gs>
                <a:gs pos="55000">
                  <a:srgbClr val="C2185B"/>
                </a:gs>
                <a:gs pos="100000">
                  <a:srgbClr val="9B1348"/>
                </a:gs>
              </a:gsLst>
              <a:path path="circle">
                <a:fillToRect l="32000" t="28000" r="68000" b="72000"/>
              </a:path>
            </a:gradFill>
            <a:ln w="12700" cap="rnd">
              <a:solidFill>
                <a:srgbClr val="6A0D32"/>
              </a:solidFill>
              <a:round/>
            </a:ln>
          </p:spPr>
          <p:txBody>
            <a:bodyPr wrap="square" lIns="0" tIns="0" rIns="0" bIns="0" anchor="ctr" rtlCol="0">
              <a:noAutofit/>
            </a:bodyPr>
            <a:lstStyle/>
            <a:p>
              <a:pPr algn="ctr">
                <a:spcAft>
                  <a:spcPts val="300"/>
                </a:spcAft>
                <a:buNone/>
              </a:pPr>
              <a:r>
                <a:rPr lang="es-AR" sz="1055" b="1" dirty="0">
                  <a:solidFill>
                    <a:srgbClr val="FFFFFF"/>
                  </a:solidFill>
                  <a:latin typeface="Bahnschrift SemiBold Condensed"/>
                  <a:ea typeface="Bahnschrift SemiBold Condensed"/>
                  <a:cs typeface="Bahnschrift SemiBold Condensed"/>
                  <a:sym typeface="Bahnschrift SemiBold Condensed"/>
                </a:rPr>
                <a:t>CC</a:t>
              </a:r>
              <a:endParaRPr lang="es-AR" sz="1055" dirty="0">
                <a:latin typeface="Bahnschrift SemiBold Condensed"/>
              </a:endParaRPr>
            </a:p>
          </p:txBody>
        </p:sp>
        <p:sp>
          <p:nvSpPr>
            <p:cNvPr id="141" name="Molécula glc_6"/>
            <p:cNvSpPr/>
            <p:nvPr/>
          </p:nvSpPr>
          <p:spPr>
            <a:xfrm>
              <a:off x="5486400" y="3749040"/>
              <a:ext cx="310896" cy="310896"/>
            </a:xfrm>
            <a:prstGeom prst="hexagon">
              <a:avLst>
                <a:gd name="adj" fmla="val 28000"/>
                <a:gd name="vf" fmla="val 115470"/>
              </a:avLst>
            </a:prstGeom>
            <a:gradFill rotWithShape="1">
              <a:gsLst>
                <a:gs pos="0">
                  <a:srgbClr val="7FADD8"/>
                </a:gs>
                <a:gs pos="55000">
                  <a:srgbClr val="3B82C4"/>
                </a:gs>
                <a:gs pos="100000">
                  <a:srgbClr val="2F689C"/>
                </a:gs>
              </a:gsLst>
              <a:path path="circle">
                <a:fillToRect l="32000" t="28000" r="68000" b="72000"/>
              </a:path>
            </a:gradFill>
            <a:ln w="12700" cap="rnd">
              <a:solidFill>
                <a:srgbClr val="20476B"/>
              </a:solidFill>
              <a:round/>
            </a:ln>
          </p:spPr>
          <p:txBody>
            <a:bodyPr wrap="square" lIns="0" tIns="0" rIns="0" bIns="0" anchor="ctr" rtlCol="0">
              <a:noAutofit/>
            </a:bodyPr>
            <a:lstStyle/>
            <a:p>
              <a:pPr algn="ctr">
                <a:spcAft>
                  <a:spcPts val="300"/>
                </a:spcAft>
                <a:buNone/>
              </a:pPr>
              <a:r>
                <a:rPr lang="es-AR" sz="884" b="1" dirty="0">
                  <a:solidFill>
                    <a:srgbClr val="FFFFFF"/>
                  </a:solidFill>
                  <a:latin typeface="Bahnschrift SemiBold Condensed"/>
                  <a:ea typeface="Bahnschrift SemiBold Condensed"/>
                  <a:cs typeface="Bahnschrift SemiBold Condensed"/>
                  <a:sym typeface="Bahnschrift SemiBold Condensed"/>
                </a:rPr>
                <a:t>Glc</a:t>
              </a:r>
              <a:endParaRPr lang="es-AR" sz="884" dirty="0">
                <a:latin typeface="Bahnschrift SemiBold Condensed"/>
              </a:endParaRPr>
            </a:p>
          </p:txBody>
        </p:sp>
        <p:sp>
          <p:nvSpPr>
            <p:cNvPr id="142" name="Etiqueta ayuno"/>
            <p:cNvSpPr/>
            <p:nvPr/>
          </p:nvSpPr>
          <p:spPr>
            <a:xfrm>
              <a:off x="3429000" y="1325880"/>
              <a:ext cx="2053935" cy="255905"/>
            </a:xfrm>
            <a:prstGeom prst="rect">
              <a:avLst/>
            </a:prstGeom>
            <a:solidFill>
              <a:srgbClr val="DCCDF0"/>
            </a:solidFill>
            <a:ln w="15875" cap="rnd">
              <a:solidFill>
                <a:srgbClr val="1E1E1E"/>
              </a:solidFill>
              <a:round/>
            </a:ln>
          </p:spPr>
          <p:txBody>
            <a:bodyPr wrap="square" lIns="45720" tIns="0" rIns="45720" bIns="0"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AYUNO: glucagón/insulina ↑</a:t>
              </a:r>
              <a:endParaRPr lang="es-AR" sz="1300" dirty="0">
                <a:latin typeface="Bahnschrift SemiBold Condensed"/>
              </a:endParaRPr>
            </a:p>
          </p:txBody>
        </p:sp>
      </p:grpSp>
      <p:grpSp>
        <p:nvGrpSpPr>
          <p:cNvPr id="143" name="Capa hormonas"/>
          <p:cNvGrpSpPr/>
          <p:nvPr/>
        </p:nvGrpSpPr>
        <p:grpSpPr>
          <a:xfrm>
            <a:off x="3154680" y="1920240"/>
            <a:ext cx="5120640" cy="4480560"/>
            <a:chOff x="3154680" y="1920240"/>
            <a:chExt cx="5120640" cy="4480560"/>
          </a:xfrm>
        </p:grpSpPr>
        <p:sp>
          <p:nvSpPr>
            <p:cNvPr id="144" name="Molécula ins"/>
            <p:cNvSpPr/>
            <p:nvPr/>
          </p:nvSpPr>
          <p:spPr>
            <a:xfrm>
              <a:off x="3154680" y="1920240"/>
              <a:ext cx="960120" cy="411480"/>
            </a:xfrm>
            <a:prstGeom prst="roundRect">
              <a:avLst>
                <a:gd name="adj" fmla="val 50000"/>
              </a:avLst>
            </a:prstGeom>
            <a:gradFill rotWithShape="1">
              <a:gsLst>
                <a:gs pos="0">
                  <a:srgbClr val="6D8BBD"/>
                </a:gs>
                <a:gs pos="55000">
                  <a:srgbClr val="1F4E9A"/>
                </a:gs>
                <a:gs pos="100000">
                  <a:srgbClr val="183E7B"/>
                </a:gs>
              </a:gsLst>
              <a:path path="circle">
                <a:fillToRect l="32000" t="28000" r="68000" b="72000"/>
              </a:path>
            </a:gradFill>
            <a:ln w="12700" cap="rnd">
              <a:solidFill>
                <a:srgbClr val="112A54"/>
              </a:solidFill>
              <a:round/>
            </a:ln>
          </p:spPr>
          <p:txBody>
            <a:bodyPr wrap="square" lIns="0" tIns="0" rIns="0" bIns="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Insulina</a:t>
              </a:r>
              <a:endParaRPr lang="es-AR" sz="1100" dirty="0">
                <a:latin typeface="Bahnschrift SemiBold Condensed"/>
              </a:endParaRPr>
            </a:p>
          </p:txBody>
        </p:sp>
        <p:sp>
          <p:nvSpPr>
            <p:cNvPr id="145" name="Molécula gcg"/>
            <p:cNvSpPr/>
            <p:nvPr/>
          </p:nvSpPr>
          <p:spPr>
            <a:xfrm>
              <a:off x="4160520" y="1920240"/>
              <a:ext cx="960120" cy="411480"/>
            </a:xfrm>
            <a:prstGeom prst="roundRect">
              <a:avLst>
                <a:gd name="adj" fmla="val 50000"/>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Glucagón</a:t>
              </a:r>
              <a:endParaRPr lang="es-AR" sz="1100" dirty="0">
                <a:latin typeface="Bahnschrift SemiBold Condensed"/>
              </a:endParaRPr>
            </a:p>
          </p:txBody>
        </p:sp>
        <p:sp>
          <p:nvSpPr>
            <p:cNvPr id="146" name="Molécula chol"/>
            <p:cNvSpPr/>
            <p:nvPr/>
          </p:nvSpPr>
          <p:spPr>
            <a:xfrm>
              <a:off x="5760720" y="4526280"/>
              <a:ext cx="960120" cy="411480"/>
            </a:xfrm>
            <a:prstGeom prst="roundRect">
              <a:avLst>
                <a:gd name="adj" fmla="val 50000"/>
              </a:avLst>
            </a:prstGeom>
            <a:gradFill rotWithShape="1">
              <a:gsLst>
                <a:gs pos="0">
                  <a:srgbClr val="F7BE64"/>
                </a:gs>
                <a:gs pos="55000">
                  <a:srgbClr val="F39C12"/>
                </a:gs>
                <a:gs pos="100000">
                  <a:srgbClr val="C27C0E"/>
                </a:gs>
              </a:gsLst>
              <a:path path="circle">
                <a:fillToRect l="32000" t="28000" r="68000" b="72000"/>
              </a:path>
            </a:gradFill>
            <a:ln w="12700" cap="rnd">
              <a:solidFill>
                <a:srgbClr val="855509"/>
              </a:solidFill>
              <a:round/>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Cortisol</a:t>
              </a:r>
              <a:endParaRPr lang="es-AR" sz="1100" dirty="0">
                <a:latin typeface="Bahnschrift SemiBold Condensed"/>
              </a:endParaRPr>
            </a:p>
          </p:txBody>
        </p:sp>
        <p:sp>
          <p:nvSpPr>
            <p:cNvPr id="147" name="Molécula gcg_2"/>
            <p:cNvSpPr/>
            <p:nvPr/>
          </p:nvSpPr>
          <p:spPr>
            <a:xfrm>
              <a:off x="5760720" y="5029200"/>
              <a:ext cx="960120" cy="411480"/>
            </a:xfrm>
            <a:prstGeom prst="roundRect">
              <a:avLst>
                <a:gd name="adj" fmla="val 50000"/>
              </a:avLst>
            </a:prstGeom>
            <a:gradFill rotWithShape="1">
              <a:gsLst>
                <a:gs pos="0">
                  <a:srgbClr val="E28F59"/>
                </a:gs>
                <a:gs pos="55000">
                  <a:srgbClr val="D35400"/>
                </a:gs>
                <a:gs pos="100000">
                  <a:srgbClr val="A84300"/>
                </a:gs>
              </a:gsLst>
              <a:path path="circle">
                <a:fillToRect l="32000" t="28000" r="68000" b="72000"/>
              </a:path>
            </a:gradFill>
            <a:ln w="12700" cap="rnd">
              <a:solidFill>
                <a:srgbClr val="742E00"/>
              </a:solidFill>
              <a:round/>
            </a:ln>
          </p:spPr>
          <p:txBody>
            <a:bodyPr wrap="square" lIns="0" tIns="0" rIns="0" bIns="0" anchor="ctr" rtlCol="0">
              <a:noAutofit/>
            </a:bodyPr>
            <a:lstStyle/>
            <a:p>
              <a:pPr algn="ctr">
                <a:spcAft>
                  <a:spcPts val="300"/>
                </a:spcAft>
                <a:buNone/>
              </a:pPr>
              <a:r>
                <a:rPr lang="es-AR" sz="1100" b="1" dirty="0">
                  <a:solidFill>
                    <a:srgbClr val="FFFFFF"/>
                  </a:solidFill>
                  <a:latin typeface="Bahnschrift SemiBold Condensed"/>
                  <a:ea typeface="Bahnschrift SemiBold Condensed"/>
                  <a:cs typeface="Bahnschrift SemiBold Condensed"/>
                  <a:sym typeface="Bahnschrift SemiBold Condensed"/>
                </a:rPr>
                <a:t>Adrenalina</a:t>
              </a:r>
              <a:endParaRPr lang="es-AR" sz="1100" dirty="0">
                <a:latin typeface="Bahnschrift SemiBold Condensed"/>
              </a:endParaRPr>
            </a:p>
          </p:txBody>
        </p:sp>
        <p:sp>
          <p:nvSpPr>
            <p:cNvPr id="148" name="Molécula gly"/>
            <p:cNvSpPr/>
            <p:nvPr/>
          </p:nvSpPr>
          <p:spPr>
            <a:xfrm>
              <a:off x="7315200" y="2697480"/>
              <a:ext cx="960120" cy="411480"/>
            </a:xfrm>
            <a:prstGeom prst="roundRect">
              <a:avLst>
                <a:gd name="adj" fmla="val 50000"/>
              </a:avLst>
            </a:prstGeom>
            <a:gradFill rotWithShape="1">
              <a:gsLst>
                <a:gs pos="0">
                  <a:srgbClr val="F6B473"/>
                </a:gs>
                <a:gs pos="55000">
                  <a:srgbClr val="F28C28"/>
                </a:gs>
                <a:gs pos="100000">
                  <a:srgbClr val="C17020"/>
                </a:gs>
              </a:gsLst>
              <a:path path="circle">
                <a:fillToRect l="32000" t="28000" r="68000" b="72000"/>
              </a:path>
            </a:gradFill>
            <a:ln w="12700" cap="rnd">
              <a:solidFill>
                <a:srgbClr val="854D16"/>
              </a:solidFill>
              <a:round/>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Leptina</a:t>
              </a:r>
              <a:endParaRPr lang="es-AR" sz="1100" dirty="0">
                <a:latin typeface="Bahnschrift SemiBold Condensed"/>
              </a:endParaRPr>
            </a:p>
          </p:txBody>
        </p:sp>
        <p:sp>
          <p:nvSpPr>
            <p:cNvPr id="149" name="Molécula atp"/>
            <p:cNvSpPr/>
            <p:nvPr/>
          </p:nvSpPr>
          <p:spPr>
            <a:xfrm>
              <a:off x="6400800" y="5989320"/>
              <a:ext cx="960120" cy="411480"/>
            </a:xfrm>
            <a:prstGeom prst="roundRect">
              <a:avLst>
                <a:gd name="adj" fmla="val 50000"/>
              </a:avLst>
            </a:prstGeom>
            <a:gradFill rotWithShape="1">
              <a:gsLst>
                <a:gs pos="0">
                  <a:srgbClr val="FFD659"/>
                </a:gs>
                <a:gs pos="55000">
                  <a:srgbClr val="FFC000"/>
                </a:gs>
                <a:gs pos="100000">
                  <a:srgbClr val="CC9900"/>
                </a:gs>
              </a:gsLst>
              <a:path path="circle">
                <a:fillToRect l="32000" t="28000" r="68000" b="72000"/>
              </a:path>
            </a:gradFill>
            <a:ln w="12700" cap="rnd">
              <a:solidFill>
                <a:srgbClr val="8C6900"/>
              </a:solidFill>
              <a:round/>
            </a:ln>
          </p:spPr>
          <p:txBody>
            <a:bodyPr wrap="square" lIns="0" tIns="0" rIns="0" bIns="0" anchor="ctr" rtlCol="0">
              <a:noAutofit/>
            </a:bodyPr>
            <a:lstStyle/>
            <a:p>
              <a:pPr algn="ctr">
                <a:spcAft>
                  <a:spcPts val="300"/>
                </a:spcAft>
                <a:buNone/>
              </a:pPr>
              <a:r>
                <a:rPr lang="es-AR" sz="1100" b="1" dirty="0">
                  <a:solidFill>
                    <a:srgbClr val="1E1E1E"/>
                  </a:solidFill>
                  <a:latin typeface="Bahnschrift SemiBold Condensed"/>
                  <a:ea typeface="Bahnschrift SemiBold Condensed"/>
                  <a:cs typeface="Bahnschrift SemiBold Condensed"/>
                  <a:sym typeface="Bahnschrift SemiBold Condensed"/>
                </a:rPr>
                <a:t>T3</a:t>
              </a:r>
              <a:endParaRPr lang="es-AR" sz="1100" dirty="0">
                <a:latin typeface="Bahnschrift SemiBold Condensed"/>
              </a:endParaRPr>
            </a:p>
          </p:txBody>
        </p:sp>
      </p:grpSp>
      <p:sp>
        <p:nvSpPr>
          <p:cNvPr id="150" name="Leyenda final"/>
          <p:cNvSpPr/>
          <p:nvPr/>
        </p:nvSpPr>
        <p:spPr>
          <a:xfrm>
            <a:off x="2788920" y="4754880"/>
            <a:ext cx="1737360" cy="169164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73152" rIns="128016" bIns="73152" anchor="t" rtlCol="0">
            <a:noAutofit/>
          </a:bodyPr>
          <a:lstStyle/>
          <a:p>
            <a:pPr algn="l">
              <a:spcAft>
                <a:spcPts val="400"/>
              </a:spcAft>
              <a:buNone/>
            </a:pPr>
            <a:r>
              <a:rPr lang="es-AR" sz="1200" b="1" dirty="0">
                <a:solidFill>
                  <a:srgbClr val="1E1E1E"/>
                </a:solidFill>
                <a:latin typeface="Bahnschrift"/>
                <a:ea typeface="Bahnschrift"/>
                <a:cs typeface="Bahnschrift"/>
                <a:sym typeface="Bahnschrift"/>
              </a:rPr>
              <a:t>Azul</a:t>
            </a:r>
            <a:r>
              <a:rPr lang="es-AR" sz="1200" dirty="0">
                <a:solidFill>
                  <a:srgbClr val="1E1E1E"/>
                </a:solidFill>
                <a:latin typeface="Bahnschrift"/>
                <a:ea typeface="Bahnschrift"/>
                <a:cs typeface="Bahnschrift"/>
                <a:sym typeface="Bahnschrift"/>
              </a:rPr>
              <a:t>: alimentado</a:t>
            </a:r>
            <a:endParaRPr lang="es-AR" sz="1200" dirty="0">
              <a:latin typeface="Bahnschrift"/>
            </a:endParaRPr>
          </a:p>
          <a:p>
            <a:pPr algn="l">
              <a:spcAft>
                <a:spcPts val="400"/>
              </a:spcAft>
              <a:buNone/>
            </a:pPr>
            <a:r>
              <a:rPr lang="es-AR" sz="1200" b="1" dirty="0">
                <a:solidFill>
                  <a:srgbClr val="1E1E1E"/>
                </a:solidFill>
                <a:latin typeface="Bahnschrift"/>
                <a:ea typeface="Bahnschrift"/>
                <a:cs typeface="Bahnschrift"/>
                <a:sym typeface="Bahnschrift"/>
              </a:rPr>
              <a:t>Violeta</a:t>
            </a:r>
            <a:r>
              <a:rPr lang="es-AR" sz="1200" dirty="0">
                <a:solidFill>
                  <a:srgbClr val="1E1E1E"/>
                </a:solidFill>
                <a:latin typeface="Bahnschrift"/>
                <a:ea typeface="Bahnschrift"/>
                <a:cs typeface="Bahnschrift"/>
                <a:sym typeface="Bahnschrift"/>
              </a:rPr>
              <a:t>: ayuno</a:t>
            </a:r>
            <a:endParaRPr lang="es-AR" sz="1200" dirty="0">
              <a:latin typeface="Bahnschrift"/>
            </a:endParaRPr>
          </a:p>
          <a:p>
            <a:pPr algn="l">
              <a:spcAft>
                <a:spcPts val="400"/>
              </a:spcAft>
              <a:buNone/>
            </a:pPr>
            <a:r>
              <a:rPr lang="es-AR" sz="1200" dirty="0">
                <a:solidFill>
                  <a:srgbClr val="1E1E1E"/>
                </a:solidFill>
                <a:latin typeface="Bahnschrift"/>
                <a:ea typeface="Bahnschrift"/>
                <a:cs typeface="Bahnschrift"/>
                <a:sym typeface="Bahnschrift"/>
              </a:rPr>
              <a:t>Fichas: combustibles</a:t>
            </a:r>
            <a:endParaRPr lang="es-AR" sz="1200" dirty="0">
              <a:latin typeface="Bahnschrift"/>
            </a:endParaRPr>
          </a:p>
          <a:p>
            <a:pPr algn="l">
              <a:spcAft>
                <a:spcPts val="400"/>
              </a:spcAft>
              <a:buNone/>
            </a:pPr>
            <a:r>
              <a:rPr lang="es-AR" sz="1200" dirty="0">
                <a:solidFill>
                  <a:srgbClr val="1E1E1E"/>
                </a:solidFill>
                <a:latin typeface="Bahnschrift"/>
                <a:ea typeface="Bahnschrift"/>
                <a:cs typeface="Bahnschrift"/>
                <a:sym typeface="Bahnschrift"/>
              </a:rPr>
              <a:t>Píldoras: hormonas</a:t>
            </a:r>
            <a:endParaRPr lang="es-AR" sz="1200" dirty="0">
              <a:latin typeface="Bahnschrift"/>
            </a:endParaRPr>
          </a:p>
        </p:txBody>
      </p:sp>
      <p:sp>
        <p:nvSpPr>
          <p:cNvPr id="2" name="Etiqueta sección"/>
          <p:cNvSpPr/>
          <p:nvPr/>
        </p:nvSpPr>
        <p:spPr>
          <a:xfrm>
            <a:off x="10784877" y="201168"/>
            <a:ext cx="1132498"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MAPA FINAL</a:t>
            </a:r>
            <a:endParaRPr lang="es-AR" sz="1300" dirty="0">
              <a:latin typeface="Bahnschrift SemiBold Condensed"/>
            </a:endParaRPr>
          </a:p>
        </p:txBody>
      </p:sp>
      <p:sp>
        <p:nvSpPr>
          <p:cNvPr id="3" name="Título"/>
          <p:cNvSpPr/>
          <p:nvPr/>
        </p:nvSpPr>
        <p:spPr>
          <a:xfrm>
            <a:off x="274320" y="146304"/>
            <a:ext cx="9436912"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RESUMEN VISUAL INTEGRADOR: ÓRGANOS, HORMONAS Y COMBUSTIBLES</a:t>
            </a:r>
            <a:endParaRPr lang="es-AR" sz="2600" dirty="0">
              <a:latin typeface="Bahnschrift SemiBold Condensed"/>
            </a:endParaRPr>
          </a:p>
        </p:txBody>
      </p:sp>
      <p:sp>
        <p:nvSpPr>
          <p:cNvPr id="151"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222</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22" presetClass="entr" presetSubtype="8" fill="hold" grpId="0" nodeType="clickEffect">
                                  <p:stCondLst>
                                    <p:cond delay="0"/>
                                  </p:stCondLst>
                                  <p:childTnLst>
                                    <p:set>
                                      <p:cBhvr>
                                        <p:cTn id="4" dur="1" fill="hold">
                                          <p:stCondLst>
                                            <p:cond delay="0"/>
                                          </p:stCondLst>
                                        </p:cTn>
                                        <p:tgtEl>
                                          <p:spTgt spid="100"/>
                                        </p:tgtEl>
                                        <p:attrNameLst>
                                          <p:attrName>style.visibility</p:attrName>
                                        </p:attrNameLst>
                                      </p:cBhvr>
                                      <p:to>
                                        <p:strVal val="visible"/>
                                      </p:to>
                                    </p:set>
                                    <p:animEffect transition="in" filter="wipe(left)">
                                      <p:cBhvr>
                                        <p:cTn id="5" dur="600"/>
                                        <p:tgtEl>
                                          <p:spTgt spid="100"/>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118"/>
                                        </p:tgtEl>
                                        <p:attrNameLst>
                                          <p:attrName>style.visibility</p:attrName>
                                        </p:attrNameLst>
                                      </p:cBhvr>
                                      <p:to>
                                        <p:strVal val="visible"/>
                                      </p:to>
                                    </p:set>
                                    <p:animEffect transition="in" filter="fade">
                                      <p:cBhvr>
                                        <p:cTn id="10" dur="500"/>
                                        <p:tgtEl>
                                          <p:spTgt spid="118"/>
                                        </p:tgtEl>
                                      </p:cBhvr>
                                    </p:animEffect>
                                  </p:childTnLst>
                                </p:cTn>
                              </p:par>
                            </p:childTnLst>
                          </p:cTn>
                        </p:par>
                      </p:childTnLst>
                    </p:cTn>
                  </p:par>
                  <p:par>
                    <p:cTn id="21" fill="hold">
                      <p:stCondLst>
                        <p:cond delay="indefinite"/>
                      </p:stCondLst>
                      <p:childTnLst>
                        <p:par>
                          <p:cTn id="16" fill="hold">
                            <p:stCondLst>
                              <p:cond delay="0"/>
                            </p:stCondLst>
                            <p:childTnLst>
                              <p:par>
                                <p:cTn id="13" presetID="10" presetClass="exit" presetSubtype="0" fill="hold" grpId="0" nodeType="clickEffect">
                                  <p:stCondLst>
                                    <p:cond delay="0"/>
                                  </p:stCondLst>
                                  <p:childTnLst>
                                    <p:animEffect transition="out" filter="fade">
                                      <p:cBhvr>
                                        <p:cTn id="14" dur="400"/>
                                        <p:tgtEl>
                                          <p:spTgt spid="118"/>
                                        </p:tgtEl>
                                      </p:cBhvr>
                                    </p:animEffect>
                                    <p:set>
                                      <p:cBhvr>
                                        <p:cTn id="15" dur="1" fill="hold">
                                          <p:stCondLst>
                                            <p:cond delay="399"/>
                                          </p:stCondLst>
                                        </p:cTn>
                                        <p:tgtEl>
                                          <p:spTgt spid="118"/>
                                        </p:tgtEl>
                                        <p:attrNameLst>
                                          <p:attrName>style.visibility</p:attrName>
                                        </p:attrNameLst>
                                      </p:cBhvr>
                                      <p:to>
                                        <p:strVal val="hidden"/>
                                      </p:to>
                                    </p:set>
                                  </p:childTnLst>
                                </p:cTn>
                              </p:par>
                            </p:childTnLst>
                          </p:cTn>
                        </p:par>
                        <p:par>
                          <p:cTn id="20" fill="hold">
                            <p:stCondLst>
                              <p:cond delay="400"/>
                            </p:stCondLst>
                            <p:childTnLst>
                              <p:par>
                                <p:cTn id="17" presetID="10" presetClass="entr" presetSubtype="0" fill="hold" grpId="0" nodeType="afterEffect">
                                  <p:stCondLst>
                                    <p:cond delay="0"/>
                                  </p:stCondLst>
                                  <p:childTnLst>
                                    <p:set>
                                      <p:cBhvr>
                                        <p:cTn id="18" dur="1" fill="hold">
                                          <p:stCondLst>
                                            <p:cond delay="0"/>
                                          </p:stCondLst>
                                        </p:cTn>
                                        <p:tgtEl>
                                          <p:spTgt spid="129"/>
                                        </p:tgtEl>
                                        <p:attrNameLst>
                                          <p:attrName>style.visibility</p:attrName>
                                        </p:attrNameLst>
                                      </p:cBhvr>
                                      <p:to>
                                        <p:strVal val="visible"/>
                                      </p:to>
                                    </p:set>
                                    <p:animEffect transition="in" filter="fade">
                                      <p:cBhvr>
                                        <p:cTn id="19" dur="500"/>
                                        <p:tgtEl>
                                          <p:spTgt spid="129"/>
                                        </p:tgtEl>
                                      </p:cBhvr>
                                    </p:animEffect>
                                  </p:childTnLst>
                                </p:cTn>
                              </p:par>
                            </p:childTnLst>
                          </p:cTn>
                        </p:par>
                      </p:childTnLst>
                    </p:cTn>
                  </p:par>
                  <p:par>
                    <p:cTn id="29" fill="hold">
                      <p:stCondLst>
                        <p:cond delay="indefinite"/>
                      </p:stCondLst>
                      <p:childTnLst>
                        <p:par>
                          <p:cTn id="28"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43"/>
                                        </p:tgtEl>
                                        <p:attrNameLst>
                                          <p:attrName>style.visibility</p:attrName>
                                        </p:attrNameLst>
                                      </p:cBhvr>
                                      <p:to>
                                        <p:strVal val="visible"/>
                                      </p:to>
                                    </p:set>
                                    <p:animEffect transition="in" filter="fade">
                                      <p:cBhvr>
                                        <p:cTn id="24" dur="500"/>
                                        <p:tgtEl>
                                          <p:spTgt spid="14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50"/>
                                        </p:tgtEl>
                                        <p:attrNameLst>
                                          <p:attrName>style.visibility</p:attrName>
                                        </p:attrNameLst>
                                      </p:cBhvr>
                                      <p:to>
                                        <p:strVal val="visible"/>
                                      </p:to>
                                    </p:set>
                                    <p:animEffect transition="in" filter="fade">
                                      <p:cBhvr>
                                        <p:cTn id="27" dur="500"/>
                                        <p:tgtEl>
                                          <p:spTgt spid="150"/>
                                        </p:tgtEl>
                                      </p:cBhvr>
                                    </p:animEffect>
                                  </p:childTnLst>
                                </p:cTn>
                              </p:par>
                            </p:childTnLst>
                          </p:cTn>
                        </p:par>
                      </p:childTnLst>
                    </p:cTn>
                  </p:par>
                  <p:par>
                    <p:cTn id="34" fill="hold">
                      <p:stCondLst>
                        <p:cond delay="indefinite"/>
                      </p:stCondLst>
                      <p:childTnLst>
                        <p:par>
                          <p:cTn id="33"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8"/>
                                        </p:tgtEl>
                                        <p:attrNameLst>
                                          <p:attrName>style.visibility</p:attrName>
                                        </p:attrNameLst>
                                      </p:cBhvr>
                                      <p:to>
                                        <p:strVal val="visible"/>
                                      </p:to>
                                    </p:set>
                                    <p:animEffect transition="in" filter="fade">
                                      <p:cBhvr>
                                        <p:cTn id="32"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Lst>
  </p:timing>
</p:sld>
</file>

<file path=ppt/slides/slide223.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grpSp>
        <p:nvGrpSpPr>
          <p:cNvPr id="4" name="Recuadro Textos de referencia"/>
          <p:cNvGrpSpPr/>
          <p:nvPr/>
        </p:nvGrpSpPr>
        <p:grpSpPr>
          <a:xfrm>
            <a:off x="365760" y="1005840"/>
            <a:ext cx="5577840" cy="5440680"/>
            <a:chOff x="365760" y="1005840"/>
            <a:chExt cx="5577840" cy="5440680"/>
          </a:xfrm>
        </p:grpSpPr>
        <p:sp>
          <p:nvSpPr>
            <p:cNvPr id="5" name="Forma 4"/>
            <p:cNvSpPr/>
            <p:nvPr/>
          </p:nvSpPr>
          <p:spPr>
            <a:xfrm>
              <a:off x="365760" y="1188720"/>
              <a:ext cx="5577840" cy="5257800"/>
            </a:xfrm>
            <a:prstGeom prst="rect">
              <a:avLst/>
            </a:prstGeom>
            <a:solidFill>
              <a:srgbClr val="FFF4D6"/>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Nelson DL, Cox MM. </a:t>
              </a:r>
              <a:r>
                <a:rPr lang="es-AR" sz="1600" b="1" dirty="0">
                  <a:solidFill>
                    <a:srgbClr val="1E1E1E"/>
                  </a:solidFill>
                  <a:latin typeface="Bahnschrift"/>
                  <a:ea typeface="Bahnschrift"/>
                  <a:cs typeface="Bahnschrift"/>
                  <a:sym typeface="Bahnschrift"/>
                </a:rPr>
                <a:t>Lehninger. Principios de bioquímica</a:t>
              </a:r>
              <a:r>
                <a:rPr lang="es-AR" sz="1600" dirty="0">
                  <a:solidFill>
                    <a:srgbClr val="1E1E1E"/>
                  </a:solidFill>
                  <a:latin typeface="Bahnschrift"/>
                  <a:ea typeface="Bahnschrift"/>
                  <a:cs typeface="Bahnschrift"/>
                  <a:sym typeface="Bahnschrift"/>
                </a:rPr>
                <a:t>. 8.ª ed. Omega/Macmillan.</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Rodwell VW, et al. </a:t>
              </a:r>
              <a:r>
                <a:rPr lang="es-AR" sz="1600" b="1" dirty="0">
                  <a:solidFill>
                    <a:srgbClr val="1E1E1E"/>
                  </a:solidFill>
                  <a:latin typeface="Bahnschrift"/>
                  <a:ea typeface="Bahnschrift"/>
                  <a:cs typeface="Bahnschrift"/>
                  <a:sym typeface="Bahnschrift"/>
                </a:rPr>
                <a:t>Harper. Bioquímica ilustrada</a:t>
              </a:r>
              <a:r>
                <a:rPr lang="es-AR" sz="1600" dirty="0">
                  <a:solidFill>
                    <a:srgbClr val="1E1E1E"/>
                  </a:solidFill>
                  <a:latin typeface="Bahnschrift"/>
                  <a:ea typeface="Bahnschrift"/>
                  <a:cs typeface="Bahnschrift"/>
                  <a:sym typeface="Bahnschrift"/>
                </a:rPr>
                <a:t>. 32.ª ed. McGraw-Hill.</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Ferrier DR. </a:t>
              </a:r>
              <a:r>
                <a:rPr lang="es-AR" sz="1600" b="1" dirty="0">
                  <a:solidFill>
                    <a:srgbClr val="1E1E1E"/>
                  </a:solidFill>
                  <a:latin typeface="Bahnschrift"/>
                  <a:ea typeface="Bahnschrift"/>
                  <a:cs typeface="Bahnschrift"/>
                  <a:sym typeface="Bahnschrift"/>
                </a:rPr>
                <a:t>Lippincott. Bioquímica</a:t>
              </a:r>
              <a:r>
                <a:rPr lang="es-AR" sz="1600" dirty="0">
                  <a:solidFill>
                    <a:srgbClr val="1E1E1E"/>
                  </a:solidFill>
                  <a:latin typeface="Bahnschrift"/>
                  <a:ea typeface="Bahnschrift"/>
                  <a:cs typeface="Bahnschrift"/>
                  <a:sym typeface="Bahnschrift"/>
                </a:rPr>
                <a:t>. 8.ª ed. Wolters Kluwer.</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Hall JE, Hall ME. </a:t>
              </a:r>
              <a:r>
                <a:rPr lang="es-AR" sz="1600" b="1" dirty="0">
                  <a:solidFill>
                    <a:srgbClr val="1E1E1E"/>
                  </a:solidFill>
                  <a:latin typeface="Bahnschrift"/>
                  <a:ea typeface="Bahnschrift"/>
                  <a:cs typeface="Bahnschrift"/>
                  <a:sym typeface="Bahnschrift"/>
                </a:rPr>
                <a:t>Guyton y Hall. Tratado de fisiología médica</a:t>
              </a:r>
              <a:r>
                <a:rPr lang="es-AR" sz="1600" dirty="0">
                  <a:solidFill>
                    <a:srgbClr val="1E1E1E"/>
                  </a:solidFill>
                  <a:latin typeface="Bahnschrift"/>
                  <a:ea typeface="Bahnschrift"/>
                  <a:cs typeface="Bahnschrift"/>
                  <a:sym typeface="Bahnschrift"/>
                </a:rPr>
                <a:t>. 14.ª ed. Elsevier.</a:t>
              </a:r>
              <a:endParaRPr lang="es-AR" sz="1600" dirty="0">
                <a:latin typeface="Bahnschrift"/>
              </a:endParaRPr>
            </a:p>
            <a:p>
              <a:pPr algn="l" marL="152400" indent="-152400">
                <a:spcAft>
                  <a:spcPts val="400"/>
                </a:spcAft>
                <a:buClr>
                  <a:srgbClr val="1E1E1E"/>
                </a:buClr>
                <a:buFont typeface="Arial"/>
                <a:buChar char="•"/>
              </a:pPr>
              <a:r>
                <a:rPr lang="es-AR" sz="1600" dirty="0">
                  <a:solidFill>
                    <a:srgbClr val="1E1E1E"/>
                  </a:solidFill>
                  <a:latin typeface="Bahnschrift"/>
                  <a:ea typeface="Bahnschrift"/>
                  <a:cs typeface="Bahnschrift"/>
                  <a:sym typeface="Bahnschrift"/>
                </a:rPr>
                <a:t>Devlin TM. </a:t>
              </a:r>
              <a:r>
                <a:rPr lang="es-AR" sz="1600" b="1" dirty="0">
                  <a:solidFill>
                    <a:srgbClr val="1E1E1E"/>
                  </a:solidFill>
                  <a:latin typeface="Bahnschrift"/>
                  <a:ea typeface="Bahnschrift"/>
                  <a:cs typeface="Bahnschrift"/>
                  <a:sym typeface="Bahnschrift"/>
                </a:rPr>
                <a:t>Bioquímica con aplicaciones clínicas</a:t>
              </a:r>
              <a:r>
                <a:rPr lang="es-AR" sz="1600" dirty="0">
                  <a:solidFill>
                    <a:srgbClr val="1E1E1E"/>
                  </a:solidFill>
                  <a:latin typeface="Bahnschrift"/>
                  <a:ea typeface="Bahnschrift"/>
                  <a:cs typeface="Bahnschrift"/>
                  <a:sym typeface="Bahnschrift"/>
                </a:rPr>
                <a:t>. Reverté.</a:t>
              </a:r>
              <a:endParaRPr lang="es-AR" sz="1600" dirty="0">
                <a:latin typeface="Bahnschrift"/>
              </a:endParaRPr>
            </a:p>
          </p:txBody>
        </p:sp>
        <p:sp>
          <p:nvSpPr>
            <p:cNvPr id="6" name="Forma 5"/>
            <p:cNvSpPr/>
            <p:nvPr/>
          </p:nvSpPr>
          <p:spPr>
            <a:xfrm>
              <a:off x="475488" y="1005840"/>
              <a:ext cx="2020951"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450" b="1" dirty="0">
                  <a:solidFill>
                    <a:srgbClr val="1E1E1E"/>
                  </a:solidFill>
                  <a:latin typeface="Bahnschrift SemiBold Condensed"/>
                  <a:ea typeface="Bahnschrift SemiBold Condensed"/>
                  <a:cs typeface="Bahnschrift SemiBold Condensed"/>
                  <a:sym typeface="Bahnschrift SemiBold Condensed"/>
                </a:rPr>
                <a:t>TEXTOS DE REFERENCIA</a:t>
              </a:r>
              <a:endParaRPr lang="es-AR" sz="1450" dirty="0">
                <a:latin typeface="Bahnschrift SemiBold Condensed"/>
              </a:endParaRPr>
            </a:p>
          </p:txBody>
        </p:sp>
      </p:grpSp>
      <p:grpSp>
        <p:nvGrpSpPr>
          <p:cNvPr id="7" name="Recuadro Revisiones y guías"/>
          <p:cNvGrpSpPr/>
          <p:nvPr/>
        </p:nvGrpSpPr>
        <p:grpSpPr>
          <a:xfrm>
            <a:off x="6217920" y="1005840"/>
            <a:ext cx="5577840" cy="5440680"/>
            <a:chOff x="6217920" y="1005840"/>
            <a:chExt cx="5577840" cy="5440680"/>
          </a:xfrm>
        </p:grpSpPr>
        <p:sp>
          <p:nvSpPr>
            <p:cNvPr id="8" name="Forma 7"/>
            <p:cNvSpPr/>
            <p:nvPr/>
          </p:nvSpPr>
          <p:spPr>
            <a:xfrm>
              <a:off x="6217920" y="1188720"/>
              <a:ext cx="5577840" cy="5257800"/>
            </a:xfrm>
            <a:prstGeom prst="rect">
              <a:avLst/>
            </a:prstGeom>
            <a:solidFill>
              <a:srgbClr val="DCEBF8"/>
            </a:solidFill>
            <a:ln w="15875" cap="rnd">
              <a:solidFill>
                <a:srgbClr val="1E1E1E"/>
              </a:solidFill>
              <a:round/>
            </a:ln>
            <a:effectLst>
              <a:outerShdw blurRad="63500" dist="38100" dir="2700000" algn="tl" rotWithShape="0">
                <a:srgbClr val="000000">
                  <a:alpha val="32000"/>
                </a:srgbClr>
              </a:outerShdw>
            </a:effectLst>
          </p:spPr>
          <p:txBody>
            <a:bodyPr wrap="square" lIns="128016" tIns="274320" rIns="128016" bIns="73152" anchor="t" rtlCol="0">
              <a:noAutofit/>
            </a:bodyPr>
            <a:lstStyle/>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Goldberg D, Goldstein I. Endocrine regulation of the hepatic fasting response. Nat Rev Endocrinol. 2026.</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Vallon V, Wewer Albrechtsen NJ. Liver–kidney crosstalk and glucagon. Nat Rev Nephrol. 2026.</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de Graaf et al. Metabolite transport across liver zones. Acta Physiol. 2024.</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ACG Clinical Guideline: Hepatic Encephalopathy. Am J Gastroenterol. 2026.</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Lee K et al. CPT1A deficiency. GeneReviews, 2025.</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Approach to the adult patient with chylomicronemia. J Clin Endocrinol Metab. 2026.</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Geidl-Flueck B, Gerber PA. Fructose and de novo lipogenesis. J Endocrinol. 2023.</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ACC Expert Consensus on persistent hypertriglyceridemia. JACC. 2021.</a:t>
              </a:r>
              <a:endParaRPr lang="es-AR" sz="1400" dirty="0">
                <a:latin typeface="Bahnschrift"/>
              </a:endParaRPr>
            </a:p>
            <a:p>
              <a:pPr algn="l" marL="133350" indent="-133350">
                <a:spcAft>
                  <a:spcPts val="400"/>
                </a:spcAft>
                <a:buClr>
                  <a:srgbClr val="1E1E1E"/>
                </a:buClr>
                <a:buFont typeface="Arial"/>
                <a:buChar char="•"/>
              </a:pPr>
              <a:r>
                <a:rPr lang="es-AR" sz="1400" dirty="0">
                  <a:solidFill>
                    <a:srgbClr val="1E1E1E"/>
                  </a:solidFill>
                  <a:latin typeface="Bahnschrift"/>
                  <a:ea typeface="Bahnschrift"/>
                  <a:cs typeface="Bahnschrift"/>
                  <a:sym typeface="Bahnschrift"/>
                </a:rPr>
                <a:t>Brain glucose metabolism. Physiol Rev. · Fasting physiology: Cell Metab 2014; Physiol Rev 2022.</a:t>
              </a:r>
              <a:endParaRPr lang="es-AR" sz="1400" dirty="0">
                <a:latin typeface="Bahnschrift"/>
              </a:endParaRPr>
            </a:p>
          </p:txBody>
        </p:sp>
        <p:sp>
          <p:nvSpPr>
            <p:cNvPr id="9" name="Forma 8"/>
            <p:cNvSpPr/>
            <p:nvPr/>
          </p:nvSpPr>
          <p:spPr>
            <a:xfrm>
              <a:off x="6327648" y="1005840"/>
              <a:ext cx="1563065" cy="347472"/>
            </a:xfrm>
            <a:prstGeom prst="rect">
              <a:avLst/>
            </a:prstGeom>
            <a:solidFill>
              <a:srgbClr val="FFC000"/>
            </a:solidFill>
            <a:ln w="15875" cap="rnd">
              <a:solidFill>
                <a:srgbClr val="1E1E1E"/>
              </a:solidFill>
              <a:round/>
            </a:ln>
          </p:spPr>
          <p:txBody>
            <a:bodyPr wrap="square" lIns="45720" tIns="0" rIns="45720" bIns="0" anchor="ctr" rtlCol="0">
              <a:noAutofit/>
            </a:bodyPr>
            <a:lstStyle/>
            <a:p>
              <a:pPr algn="ctr">
                <a:spcAft>
                  <a:spcPts val="300"/>
                </a:spcAft>
                <a:buNone/>
              </a:pPr>
              <a:r>
                <a:rPr lang="es-AR" sz="1250" b="1" dirty="0">
                  <a:solidFill>
                    <a:srgbClr val="1E1E1E"/>
                  </a:solidFill>
                  <a:latin typeface="Bahnschrift SemiBold Condensed"/>
                  <a:ea typeface="Bahnschrift SemiBold Condensed"/>
                  <a:cs typeface="Bahnschrift SemiBold Condensed"/>
                  <a:sym typeface="Bahnschrift SemiBold Condensed"/>
                </a:rPr>
                <a:t>REVISIONES Y GUÍAS</a:t>
              </a:r>
              <a:endParaRPr lang="es-AR" sz="1250" dirty="0">
                <a:latin typeface="Bahnschrift SemiBold Condensed"/>
              </a:endParaRPr>
            </a:p>
          </p:txBody>
        </p:sp>
      </p:grpSp>
      <p:sp>
        <p:nvSpPr>
          <p:cNvPr id="2" name="Etiqueta sección"/>
          <p:cNvSpPr/>
          <p:nvPr/>
        </p:nvSpPr>
        <p:spPr>
          <a:xfrm>
            <a:off x="10690412" y="201168"/>
            <a:ext cx="1226963" cy="420624"/>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73152" tIns="18288" rIns="73152" bIns="18288" anchor="ctr" rtlCol="0">
            <a:noAutofit/>
          </a:bodyPr>
          <a:lstStyle/>
          <a:p>
            <a:pPr algn="ctr">
              <a:spcAft>
                <a:spcPts val="300"/>
              </a:spcAft>
              <a:buNone/>
            </a:pPr>
            <a:r>
              <a:rPr lang="es-AR" sz="1300" b="1" dirty="0">
                <a:solidFill>
                  <a:srgbClr val="1E1E1E"/>
                </a:solidFill>
                <a:latin typeface="Bahnschrift SemiBold Condensed"/>
                <a:ea typeface="Bahnschrift SemiBold Condensed"/>
                <a:cs typeface="Bahnschrift SemiBold Condensed"/>
                <a:sym typeface="Bahnschrift SemiBold Condensed"/>
              </a:rPr>
              <a:t>REFERENCIAS</a:t>
            </a:r>
            <a:endParaRPr lang="es-AR" sz="1300" dirty="0">
              <a:latin typeface="Bahnschrift SemiBold Condensed"/>
            </a:endParaRPr>
          </a:p>
        </p:txBody>
      </p:sp>
      <p:sp>
        <p:nvSpPr>
          <p:cNvPr id="3" name="Título"/>
          <p:cNvSpPr/>
          <p:nvPr/>
        </p:nvSpPr>
        <p:spPr>
          <a:xfrm>
            <a:off x="274320" y="146304"/>
            <a:ext cx="2168835" cy="566928"/>
          </a:xfrm>
          <a:prstGeom prst="rect">
            <a:avLst/>
          </a:prstGeom>
          <a:solidFill>
            <a:srgbClr val="FFC000"/>
          </a:solidFill>
          <a:ln w="19050" cap="rnd">
            <a:solidFill>
              <a:srgbClr val="1E1E1E"/>
            </a:solidFill>
            <a:round/>
          </a:ln>
          <a:effectLst>
            <a:outerShdw blurRad="63500" dist="38100" dir="2700000" algn="tl" rotWithShape="0">
              <a:srgbClr val="000000">
                <a:alpha val="32000"/>
              </a:srgbClr>
            </a:outerShdw>
          </a:effectLst>
        </p:spPr>
        <p:txBody>
          <a:bodyPr wrap="square" lIns="109728" tIns="18288" rIns="109728" bIns="18288" anchor="ctr" rtlCol="0">
            <a:noAutofit/>
          </a:bodyPr>
          <a:lstStyle/>
          <a:p>
            <a:pPr algn="ctr">
              <a:spcAft>
                <a:spcPts val="300"/>
              </a:spcAft>
              <a:buNone/>
            </a:pPr>
            <a:r>
              <a:rPr lang="es-AR" sz="2600" b="1" dirty="0">
                <a:solidFill>
                  <a:srgbClr val="1E1E1E"/>
                </a:solidFill>
                <a:latin typeface="Bahnschrift SemiBold Condensed"/>
                <a:ea typeface="Bahnschrift SemiBold Condensed"/>
                <a:cs typeface="Bahnschrift SemiBold Condensed"/>
                <a:sym typeface="Bahnschrift SemiBold Condensed"/>
              </a:rPr>
              <a:t>BIBLIOGRAFÍA</a:t>
            </a:r>
            <a:endParaRPr lang="es-AR" sz="2600" dirty="0">
              <a:latin typeface="Bahnschrift SemiBold Condensed"/>
            </a:endParaRPr>
          </a:p>
        </p:txBody>
      </p:sp>
      <p:sp>
        <p:nvSpPr>
          <p:cNvPr id="10"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223</a:t>
            </a:r>
            <a:endParaRPr lang="es-AR" sz="1000" dirty="0">
              <a:latin typeface="Bahnschrift SemiBold Condensed"/>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7" fill="hold">
                      <p:stCondLst>
                        <p:cond delay="indefinite"/>
                      </p:stCondLst>
                      <p:childTnLst>
                        <p:par>
                          <p:cTn id="6" fill="hold">
                            <p:stCondLst>
                              <p:cond delay="0"/>
                            </p:stCondLst>
                            <p:childTnLst>
                              <p:par>
                                <p:cTn id="3" presetID="10" presetClass="entr" presetSubtype="0" fill="hold" grpId="0" nodeType="clickEffect">
                                  <p:stCondLst>
                                    <p:cond delay="0"/>
                                  </p:stCondLst>
                                  <p:childTnLst>
                                    <p:set>
                                      <p:cBhvr>
                                        <p:cTn id="4" dur="1" fill="hold">
                                          <p:stCondLst>
                                            <p:cond delay="0"/>
                                          </p:stCondLst>
                                        </p:cTn>
                                        <p:tgtEl>
                                          <p:spTgt spid="4"/>
                                        </p:tgtEl>
                                        <p:attrNameLst>
                                          <p:attrName>style.visibility</p:attrName>
                                        </p:attrNameLst>
                                      </p:cBhvr>
                                      <p:to>
                                        <p:strVal val="visible"/>
                                      </p:to>
                                    </p:set>
                                    <p:animEffect transition="in" filter="fade">
                                      <p:cBhvr>
                                        <p:cTn id="5" dur="500"/>
                                        <p:tgtEl>
                                          <p:spTgt spid="4"/>
                                        </p:tgtEl>
                                      </p:cBhvr>
                                    </p:animEffect>
                                  </p:childTnLst>
                                </p:cTn>
                              </p:par>
                            </p:childTnLst>
                          </p:cTn>
                        </p:par>
                      </p:childTnLst>
                    </p:cTn>
                  </p:par>
                  <p:par>
                    <p:cTn id="12" fill="hold">
                      <p:stCondLst>
                        <p:cond delay="indefinite"/>
                      </p:stCondLst>
                      <p:childTnLst>
                        <p:par>
                          <p:cTn id="11" fill="hold">
                            <p:stCondLst>
                              <p:cond delay="0"/>
                            </p:stCondLst>
                            <p:childTnLst>
                              <p:par>
                                <p:cTn id="8" presetID="10" presetClass="entr" presetSubtype="0" fill="hold" grpId="0" nodeType="click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F7C6AA"/>
        </a:solidFill>
        <a:effectLst/>
      </p:bgPr>
    </p:bg>
    <p:spTree>
      <p:nvGrpSpPr>
        <p:cNvPr id="1" name=""/>
        <p:cNvGrpSpPr/>
        <p:nvPr/>
      </p:nvGrpSpPr>
      <p:grpSpPr/>
      <p:sp>
        <p:nvSpPr>
          <p:cNvPr id="2" name="Deco eritrocito 0"/>
          <p:cNvSpPr/>
          <p:nvPr/>
        </p:nvSpPr>
        <p:spPr>
          <a:xfrm>
            <a:off x="10607040" y="-274320"/>
            <a:ext cx="1097280" cy="109728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3" name="Deco eritrocito 1"/>
          <p:cNvSpPr/>
          <p:nvPr/>
        </p:nvSpPr>
        <p:spPr>
          <a:xfrm>
            <a:off x="11338560" y="640080"/>
            <a:ext cx="731520" cy="73152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sp>
        <p:nvSpPr>
          <p:cNvPr id="4" name="Deco eritrocito 2"/>
          <p:cNvSpPr/>
          <p:nvPr/>
        </p:nvSpPr>
        <p:spPr>
          <a:xfrm>
            <a:off x="9966960" y="548640"/>
            <a:ext cx="548640" cy="548640"/>
          </a:xfrm>
          <a:prstGeom prst="ellipse">
            <a:avLst/>
          </a:prstGeom>
          <a:gradFill rotWithShape="1">
            <a:gsLst>
              <a:gs pos="0">
                <a:srgbClr val="E06A5F"/>
              </a:gs>
              <a:gs pos="38000">
                <a:srgbClr val="EF8C80"/>
              </a:gs>
              <a:gs pos="72000">
                <a:srgbClr val="C9372C"/>
              </a:gs>
              <a:gs pos="100000">
                <a:srgbClr val="7B1F17"/>
              </a:gs>
            </a:gsLst>
            <a:path path="circle">
              <a:fillToRect l="50000" t="50000" r="50000" b="50000"/>
            </a:path>
          </a:gradFill>
          <a:ln w="9525" cap="rnd">
            <a:solidFill>
              <a:srgbClr val="6E1A12"/>
            </a:solidFill>
            <a:round/>
          </a:ln>
        </p:spPr>
      </p:sp>
      <p:grpSp>
        <p:nvGrpSpPr>
          <p:cNvPr id="5" name="Deco fibra 1"/>
          <p:cNvGrpSpPr/>
          <p:nvPr/>
        </p:nvGrpSpPr>
        <p:grpSpPr>
          <a:xfrm>
            <a:off x="8686800" y="5806440"/>
            <a:ext cx="3840480" cy="457200"/>
            <a:chOff x="8686800" y="5806440"/>
            <a:chExt cx="3840480" cy="457200"/>
          </a:xfrm>
        </p:grpSpPr>
        <p:sp>
          <p:nvSpPr>
            <p:cNvPr id="6" name="Forma 5"/>
            <p:cNvSpPr/>
            <p:nvPr/>
          </p:nvSpPr>
          <p:spPr>
            <a:xfrm>
              <a:off x="8686800" y="5806440"/>
              <a:ext cx="3840480" cy="4572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7" name="Forma 6"/>
            <p:cNvSpPr/>
            <p:nvPr/>
          </p:nvSpPr>
          <p:spPr>
            <a:xfrm>
              <a:off x="8801100" y="5806440"/>
              <a:ext cx="3611880" cy="457200"/>
            </a:xfrm>
            <a:custGeom>
              <a:avLst/>
              <a:gdLst/>
              <a:ahLst/>
              <a:cxnLst/>
              <a:rect l="0" t="0" r="r" b="b"/>
              <a:pathLst>
                <a:path w="1000" h="1000" fill="none">
                  <a:moveTo>
                    <a:pt x="10" y="80"/>
                  </a:moveTo>
                  <a:lnTo>
                    <a:pt x="10" y="920"/>
                  </a:lnTo>
                </a:path>
                <a:path w="1000" h="1000" fill="none">
                  <a:moveTo>
                    <a:pt x="32" y="80"/>
                  </a:moveTo>
                  <a:lnTo>
                    <a:pt x="32" y="920"/>
                  </a:lnTo>
                </a:path>
                <a:path w="1000" h="1000" fill="none">
                  <a:moveTo>
                    <a:pt x="54" y="80"/>
                  </a:moveTo>
                  <a:lnTo>
                    <a:pt x="54" y="920"/>
                  </a:lnTo>
                </a:path>
                <a:path w="1000" h="1000" fill="none">
                  <a:moveTo>
                    <a:pt x="76" y="80"/>
                  </a:moveTo>
                  <a:lnTo>
                    <a:pt x="76" y="920"/>
                  </a:lnTo>
                </a:path>
                <a:path w="1000" h="1000" fill="none">
                  <a:moveTo>
                    <a:pt x="97" y="80"/>
                  </a:moveTo>
                  <a:lnTo>
                    <a:pt x="97" y="920"/>
                  </a:lnTo>
                </a:path>
                <a:path w="1000" h="1000" fill="none">
                  <a:moveTo>
                    <a:pt x="119" y="80"/>
                  </a:moveTo>
                  <a:lnTo>
                    <a:pt x="119" y="920"/>
                  </a:lnTo>
                </a:path>
                <a:path w="1000" h="1000" fill="none">
                  <a:moveTo>
                    <a:pt x="141" y="80"/>
                  </a:moveTo>
                  <a:lnTo>
                    <a:pt x="141" y="920"/>
                  </a:lnTo>
                </a:path>
                <a:path w="1000" h="1000" fill="none">
                  <a:moveTo>
                    <a:pt x="163" y="80"/>
                  </a:moveTo>
                  <a:lnTo>
                    <a:pt x="163" y="920"/>
                  </a:lnTo>
                </a:path>
                <a:path w="1000" h="1000" fill="none">
                  <a:moveTo>
                    <a:pt x="184" y="80"/>
                  </a:moveTo>
                  <a:lnTo>
                    <a:pt x="184" y="920"/>
                  </a:lnTo>
                </a:path>
                <a:path w="1000" h="1000" fill="none">
                  <a:moveTo>
                    <a:pt x="206" y="80"/>
                  </a:moveTo>
                  <a:lnTo>
                    <a:pt x="206" y="920"/>
                  </a:lnTo>
                </a:path>
                <a:path w="1000" h="1000" fill="none">
                  <a:moveTo>
                    <a:pt x="228" y="80"/>
                  </a:moveTo>
                  <a:lnTo>
                    <a:pt x="228" y="920"/>
                  </a:lnTo>
                </a:path>
                <a:path w="1000" h="1000" fill="none">
                  <a:moveTo>
                    <a:pt x="250" y="80"/>
                  </a:moveTo>
                  <a:lnTo>
                    <a:pt x="250" y="920"/>
                  </a:lnTo>
                </a:path>
                <a:path w="1000" h="1000" fill="none">
                  <a:moveTo>
                    <a:pt x="271" y="80"/>
                  </a:moveTo>
                  <a:lnTo>
                    <a:pt x="271" y="920"/>
                  </a:lnTo>
                </a:path>
                <a:path w="1000" h="1000" fill="none">
                  <a:moveTo>
                    <a:pt x="293" y="80"/>
                  </a:moveTo>
                  <a:lnTo>
                    <a:pt x="293" y="920"/>
                  </a:lnTo>
                </a:path>
                <a:path w="1000" h="1000" fill="none">
                  <a:moveTo>
                    <a:pt x="315" y="80"/>
                  </a:moveTo>
                  <a:lnTo>
                    <a:pt x="315" y="920"/>
                  </a:lnTo>
                </a:path>
                <a:path w="1000" h="1000" fill="none">
                  <a:moveTo>
                    <a:pt x="336" y="80"/>
                  </a:moveTo>
                  <a:lnTo>
                    <a:pt x="336" y="920"/>
                  </a:lnTo>
                </a:path>
                <a:path w="1000" h="1000" fill="none">
                  <a:moveTo>
                    <a:pt x="358" y="80"/>
                  </a:moveTo>
                  <a:lnTo>
                    <a:pt x="358" y="920"/>
                  </a:lnTo>
                </a:path>
                <a:path w="1000" h="1000" fill="none">
                  <a:moveTo>
                    <a:pt x="380" y="80"/>
                  </a:moveTo>
                  <a:lnTo>
                    <a:pt x="380" y="920"/>
                  </a:lnTo>
                </a:path>
                <a:path w="1000" h="1000" fill="none">
                  <a:moveTo>
                    <a:pt x="402" y="80"/>
                  </a:moveTo>
                  <a:lnTo>
                    <a:pt x="402" y="920"/>
                  </a:lnTo>
                </a:path>
                <a:path w="1000" h="1000" fill="none">
                  <a:moveTo>
                    <a:pt x="423" y="80"/>
                  </a:moveTo>
                  <a:lnTo>
                    <a:pt x="423" y="920"/>
                  </a:lnTo>
                </a:path>
                <a:path w="1000" h="1000" fill="none">
                  <a:moveTo>
                    <a:pt x="445" y="80"/>
                  </a:moveTo>
                  <a:lnTo>
                    <a:pt x="445" y="920"/>
                  </a:lnTo>
                </a:path>
                <a:path w="1000" h="1000" fill="none">
                  <a:moveTo>
                    <a:pt x="467" y="80"/>
                  </a:moveTo>
                  <a:lnTo>
                    <a:pt x="467" y="920"/>
                  </a:lnTo>
                </a:path>
                <a:path w="1000" h="1000" fill="none">
                  <a:moveTo>
                    <a:pt x="489" y="80"/>
                  </a:moveTo>
                  <a:lnTo>
                    <a:pt x="489" y="920"/>
                  </a:lnTo>
                </a:path>
                <a:path w="1000" h="1000" fill="none">
                  <a:moveTo>
                    <a:pt x="510" y="80"/>
                  </a:moveTo>
                  <a:lnTo>
                    <a:pt x="510" y="920"/>
                  </a:lnTo>
                </a:path>
                <a:path w="1000" h="1000" fill="none">
                  <a:moveTo>
                    <a:pt x="532" y="80"/>
                  </a:moveTo>
                  <a:lnTo>
                    <a:pt x="532" y="920"/>
                  </a:lnTo>
                </a:path>
                <a:path w="1000" h="1000" fill="none">
                  <a:moveTo>
                    <a:pt x="554" y="80"/>
                  </a:moveTo>
                  <a:lnTo>
                    <a:pt x="554" y="920"/>
                  </a:lnTo>
                </a:path>
                <a:path w="1000" h="1000" fill="none">
                  <a:moveTo>
                    <a:pt x="576" y="80"/>
                  </a:moveTo>
                  <a:lnTo>
                    <a:pt x="576" y="920"/>
                  </a:lnTo>
                </a:path>
                <a:path w="1000" h="1000" fill="none">
                  <a:moveTo>
                    <a:pt x="597" y="80"/>
                  </a:moveTo>
                  <a:lnTo>
                    <a:pt x="597" y="920"/>
                  </a:lnTo>
                </a:path>
                <a:path w="1000" h="1000" fill="none">
                  <a:moveTo>
                    <a:pt x="619" y="80"/>
                  </a:moveTo>
                  <a:lnTo>
                    <a:pt x="619" y="920"/>
                  </a:lnTo>
                </a:path>
                <a:path w="1000" h="1000" fill="none">
                  <a:moveTo>
                    <a:pt x="641" y="80"/>
                  </a:moveTo>
                  <a:lnTo>
                    <a:pt x="641" y="920"/>
                  </a:lnTo>
                </a:path>
                <a:path w="1000" h="1000" fill="none">
                  <a:moveTo>
                    <a:pt x="663" y="80"/>
                  </a:moveTo>
                  <a:lnTo>
                    <a:pt x="663" y="920"/>
                  </a:lnTo>
                </a:path>
                <a:path w="1000" h="1000" fill="none">
                  <a:moveTo>
                    <a:pt x="684" y="80"/>
                  </a:moveTo>
                  <a:lnTo>
                    <a:pt x="684" y="920"/>
                  </a:lnTo>
                </a:path>
                <a:path w="1000" h="1000" fill="none">
                  <a:moveTo>
                    <a:pt x="706" y="80"/>
                  </a:moveTo>
                  <a:lnTo>
                    <a:pt x="706" y="920"/>
                  </a:lnTo>
                </a:path>
                <a:path w="1000" h="1000" fill="none">
                  <a:moveTo>
                    <a:pt x="728" y="80"/>
                  </a:moveTo>
                  <a:lnTo>
                    <a:pt x="728" y="920"/>
                  </a:lnTo>
                </a:path>
                <a:path w="1000" h="1000" fill="none">
                  <a:moveTo>
                    <a:pt x="750" y="80"/>
                  </a:moveTo>
                  <a:lnTo>
                    <a:pt x="750" y="920"/>
                  </a:lnTo>
                </a:path>
                <a:path w="1000" h="1000" fill="none">
                  <a:moveTo>
                    <a:pt x="771" y="80"/>
                  </a:moveTo>
                  <a:lnTo>
                    <a:pt x="771" y="920"/>
                  </a:lnTo>
                </a:path>
                <a:path w="1000" h="1000" fill="none">
                  <a:moveTo>
                    <a:pt x="793" y="80"/>
                  </a:moveTo>
                  <a:lnTo>
                    <a:pt x="793" y="920"/>
                  </a:lnTo>
                </a:path>
                <a:path w="1000" h="1000" fill="none">
                  <a:moveTo>
                    <a:pt x="815" y="80"/>
                  </a:moveTo>
                  <a:lnTo>
                    <a:pt x="815" y="920"/>
                  </a:lnTo>
                </a:path>
                <a:path w="1000" h="1000" fill="none">
                  <a:moveTo>
                    <a:pt x="836" y="80"/>
                  </a:moveTo>
                  <a:lnTo>
                    <a:pt x="836" y="920"/>
                  </a:lnTo>
                </a:path>
                <a:path w="1000" h="1000" fill="none">
                  <a:moveTo>
                    <a:pt x="858" y="80"/>
                  </a:moveTo>
                  <a:lnTo>
                    <a:pt x="858" y="920"/>
                  </a:lnTo>
                </a:path>
                <a:path w="1000" h="1000" fill="none">
                  <a:moveTo>
                    <a:pt x="880" y="80"/>
                  </a:moveTo>
                  <a:lnTo>
                    <a:pt x="880" y="920"/>
                  </a:lnTo>
                </a:path>
                <a:path w="1000" h="1000" fill="none">
                  <a:moveTo>
                    <a:pt x="902" y="80"/>
                  </a:moveTo>
                  <a:lnTo>
                    <a:pt x="902" y="920"/>
                  </a:lnTo>
                </a:path>
                <a:path w="1000" h="1000" fill="none">
                  <a:moveTo>
                    <a:pt x="923" y="80"/>
                  </a:moveTo>
                  <a:lnTo>
                    <a:pt x="923" y="920"/>
                  </a:lnTo>
                </a:path>
                <a:path w="1000" h="1000" fill="none">
                  <a:moveTo>
                    <a:pt x="945" y="80"/>
                  </a:moveTo>
                  <a:lnTo>
                    <a:pt x="945" y="920"/>
                  </a:lnTo>
                </a:path>
                <a:path w="1000" h="1000" fill="none">
                  <a:moveTo>
                    <a:pt x="967" y="80"/>
                  </a:moveTo>
                  <a:lnTo>
                    <a:pt x="967" y="920"/>
                  </a:lnTo>
                </a:path>
                <a:path w="1000" h="1000" fill="none">
                  <a:moveTo>
                    <a:pt x="989" y="80"/>
                  </a:moveTo>
                  <a:lnTo>
                    <a:pt x="989" y="920"/>
                  </a:lnTo>
                </a:path>
              </a:pathLst>
            </a:custGeom>
            <a:noFill/>
            <a:ln w="12700" cap="rnd">
              <a:solidFill>
                <a:srgbClr val="822E27"/>
              </a:solidFill>
              <a:round/>
            </a:ln>
          </p:spPr>
        </p:sp>
        <p:sp>
          <p:nvSpPr>
            <p:cNvPr id="8" name="Forma 7"/>
            <p:cNvSpPr/>
            <p:nvPr/>
          </p:nvSpPr>
          <p:spPr>
            <a:xfrm>
              <a:off x="9454896"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9" name="Forma 8"/>
            <p:cNvSpPr/>
            <p:nvPr/>
          </p:nvSpPr>
          <p:spPr>
            <a:xfrm>
              <a:off x="10799064"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0" name="Forma 9"/>
            <p:cNvSpPr/>
            <p:nvPr/>
          </p:nvSpPr>
          <p:spPr>
            <a:xfrm>
              <a:off x="11951208" y="58247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1" name="Forma 10"/>
            <p:cNvSpPr/>
            <p:nvPr/>
          </p:nvSpPr>
          <p:spPr>
            <a:xfrm>
              <a:off x="12335256" y="5824728"/>
              <a:ext cx="182880" cy="420624"/>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2" name="Deco fibra 2"/>
          <p:cNvGrpSpPr/>
          <p:nvPr/>
        </p:nvGrpSpPr>
        <p:grpSpPr>
          <a:xfrm>
            <a:off x="9052560" y="6263640"/>
            <a:ext cx="3474720" cy="457200"/>
            <a:chOff x="9052560" y="6263640"/>
            <a:chExt cx="3474720" cy="457200"/>
          </a:xfrm>
        </p:grpSpPr>
        <p:sp>
          <p:nvSpPr>
            <p:cNvPr id="13" name="Forma 12"/>
            <p:cNvSpPr/>
            <p:nvPr/>
          </p:nvSpPr>
          <p:spPr>
            <a:xfrm>
              <a:off x="9052560" y="6263640"/>
              <a:ext cx="3474720" cy="457200"/>
            </a:xfrm>
            <a:prstGeom prst="roundRect">
              <a:avLst>
                <a:gd name="adj" fmla="val 50000"/>
              </a:avLst>
            </a:prstGeom>
            <a:gradFill rotWithShape="1">
              <a:gsLst>
                <a:gs pos="0">
                  <a:srgbClr val="7C2C25"/>
                </a:gs>
                <a:gs pos="30000">
                  <a:srgbClr val="DA827B"/>
                </a:gs>
                <a:gs pos="55000">
                  <a:srgbClr val="C9483D"/>
                </a:gs>
                <a:gs pos="100000">
                  <a:srgbClr val="7C2C25"/>
                </a:gs>
              </a:gsLst>
              <a:lin ang="5400000" scaled="0"/>
            </a:gradFill>
            <a:ln w="15875" cap="rnd">
              <a:solidFill>
                <a:srgbClr val="5A201B"/>
              </a:solidFill>
              <a:round/>
            </a:ln>
            <a:effectLst>
              <a:outerShdw blurRad="101600" dist="50800" dir="2700000" algn="tl" rotWithShape="0">
                <a:srgbClr val="000000">
                  <a:alpha val="30000"/>
                </a:srgbClr>
              </a:outerShdw>
            </a:effectLst>
          </p:spPr>
        </p:sp>
        <p:sp>
          <p:nvSpPr>
            <p:cNvPr id="14" name="Forma 13"/>
            <p:cNvSpPr/>
            <p:nvPr/>
          </p:nvSpPr>
          <p:spPr>
            <a:xfrm>
              <a:off x="9166860" y="6263640"/>
              <a:ext cx="3246120" cy="457200"/>
            </a:xfrm>
            <a:custGeom>
              <a:avLst/>
              <a:gdLst/>
              <a:ahLst/>
              <a:cxnLst/>
              <a:rect l="0" t="0" r="r" b="b"/>
              <a:pathLst>
                <a:path w="1000" h="1000" fill="none">
                  <a:moveTo>
                    <a:pt x="11" y="80"/>
                  </a:moveTo>
                  <a:lnTo>
                    <a:pt x="11" y="920"/>
                  </a:lnTo>
                </a:path>
                <a:path w="1000" h="1000" fill="none">
                  <a:moveTo>
                    <a:pt x="35" y="80"/>
                  </a:moveTo>
                  <a:lnTo>
                    <a:pt x="35" y="920"/>
                  </a:lnTo>
                </a:path>
                <a:path w="1000" h="1000" fill="none">
                  <a:moveTo>
                    <a:pt x="59" y="80"/>
                  </a:moveTo>
                  <a:lnTo>
                    <a:pt x="59" y="920"/>
                  </a:lnTo>
                </a:path>
                <a:path w="1000" h="1000" fill="none">
                  <a:moveTo>
                    <a:pt x="83" y="80"/>
                  </a:moveTo>
                  <a:lnTo>
                    <a:pt x="83" y="920"/>
                  </a:lnTo>
                </a:path>
                <a:path w="1000" h="1000" fill="none">
                  <a:moveTo>
                    <a:pt x="107" y="80"/>
                  </a:moveTo>
                  <a:lnTo>
                    <a:pt x="107" y="920"/>
                  </a:lnTo>
                </a:path>
                <a:path w="1000" h="1000" fill="none">
                  <a:moveTo>
                    <a:pt x="130" y="80"/>
                  </a:moveTo>
                  <a:lnTo>
                    <a:pt x="130" y="920"/>
                  </a:lnTo>
                </a:path>
                <a:path w="1000" h="1000" fill="none">
                  <a:moveTo>
                    <a:pt x="154" y="80"/>
                  </a:moveTo>
                  <a:lnTo>
                    <a:pt x="154" y="920"/>
                  </a:lnTo>
                </a:path>
                <a:path w="1000" h="1000" fill="none">
                  <a:moveTo>
                    <a:pt x="178" y="80"/>
                  </a:moveTo>
                  <a:lnTo>
                    <a:pt x="178" y="920"/>
                  </a:lnTo>
                </a:path>
                <a:path w="1000" h="1000" fill="none">
                  <a:moveTo>
                    <a:pt x="202" y="80"/>
                  </a:moveTo>
                  <a:lnTo>
                    <a:pt x="202" y="920"/>
                  </a:lnTo>
                </a:path>
                <a:path w="1000" h="1000" fill="none">
                  <a:moveTo>
                    <a:pt x="226" y="80"/>
                  </a:moveTo>
                  <a:lnTo>
                    <a:pt x="226" y="920"/>
                  </a:lnTo>
                </a:path>
                <a:path w="1000" h="1000" fill="none">
                  <a:moveTo>
                    <a:pt x="250" y="80"/>
                  </a:moveTo>
                  <a:lnTo>
                    <a:pt x="250" y="920"/>
                  </a:lnTo>
                </a:path>
                <a:path w="1000" h="1000" fill="none">
                  <a:moveTo>
                    <a:pt x="273" y="80"/>
                  </a:moveTo>
                  <a:lnTo>
                    <a:pt x="273" y="920"/>
                  </a:lnTo>
                </a:path>
                <a:path w="1000" h="1000" fill="none">
                  <a:moveTo>
                    <a:pt x="297" y="80"/>
                  </a:moveTo>
                  <a:lnTo>
                    <a:pt x="297" y="920"/>
                  </a:lnTo>
                </a:path>
                <a:path w="1000" h="1000" fill="none">
                  <a:moveTo>
                    <a:pt x="321" y="80"/>
                  </a:moveTo>
                  <a:lnTo>
                    <a:pt x="321" y="920"/>
                  </a:lnTo>
                </a:path>
                <a:path w="1000" h="1000" fill="none">
                  <a:moveTo>
                    <a:pt x="345" y="80"/>
                  </a:moveTo>
                  <a:lnTo>
                    <a:pt x="345" y="920"/>
                  </a:lnTo>
                </a:path>
                <a:path w="1000" h="1000" fill="none">
                  <a:moveTo>
                    <a:pt x="369" y="80"/>
                  </a:moveTo>
                  <a:lnTo>
                    <a:pt x="369" y="920"/>
                  </a:lnTo>
                </a:path>
                <a:path w="1000" h="1000" fill="none">
                  <a:moveTo>
                    <a:pt x="392" y="80"/>
                  </a:moveTo>
                  <a:lnTo>
                    <a:pt x="392" y="920"/>
                  </a:lnTo>
                </a:path>
                <a:path w="1000" h="1000" fill="none">
                  <a:moveTo>
                    <a:pt x="416" y="80"/>
                  </a:moveTo>
                  <a:lnTo>
                    <a:pt x="416" y="920"/>
                  </a:lnTo>
                </a:path>
                <a:path w="1000" h="1000" fill="none">
                  <a:moveTo>
                    <a:pt x="440" y="80"/>
                  </a:moveTo>
                  <a:lnTo>
                    <a:pt x="440" y="920"/>
                  </a:lnTo>
                </a:path>
                <a:path w="1000" h="1000" fill="none">
                  <a:moveTo>
                    <a:pt x="464" y="80"/>
                  </a:moveTo>
                  <a:lnTo>
                    <a:pt x="464" y="920"/>
                  </a:lnTo>
                </a:path>
                <a:path w="1000" h="1000" fill="none">
                  <a:moveTo>
                    <a:pt x="488" y="80"/>
                  </a:moveTo>
                  <a:lnTo>
                    <a:pt x="488" y="920"/>
                  </a:lnTo>
                </a:path>
                <a:path w="1000" h="1000" fill="none">
                  <a:moveTo>
                    <a:pt x="511" y="80"/>
                  </a:moveTo>
                  <a:lnTo>
                    <a:pt x="511" y="920"/>
                  </a:lnTo>
                </a:path>
                <a:path w="1000" h="1000" fill="none">
                  <a:moveTo>
                    <a:pt x="535" y="80"/>
                  </a:moveTo>
                  <a:lnTo>
                    <a:pt x="535" y="920"/>
                  </a:lnTo>
                </a:path>
                <a:path w="1000" h="1000" fill="none">
                  <a:moveTo>
                    <a:pt x="559" y="80"/>
                  </a:moveTo>
                  <a:lnTo>
                    <a:pt x="559" y="920"/>
                  </a:lnTo>
                </a:path>
                <a:path w="1000" h="1000" fill="none">
                  <a:moveTo>
                    <a:pt x="583" y="80"/>
                  </a:moveTo>
                  <a:lnTo>
                    <a:pt x="583" y="920"/>
                  </a:lnTo>
                </a:path>
                <a:path w="1000" h="1000" fill="none">
                  <a:moveTo>
                    <a:pt x="607" y="80"/>
                  </a:moveTo>
                  <a:lnTo>
                    <a:pt x="607" y="920"/>
                  </a:lnTo>
                </a:path>
                <a:path w="1000" h="1000" fill="none">
                  <a:moveTo>
                    <a:pt x="630" y="80"/>
                  </a:moveTo>
                  <a:lnTo>
                    <a:pt x="630" y="920"/>
                  </a:lnTo>
                </a:path>
                <a:path w="1000" h="1000" fill="none">
                  <a:moveTo>
                    <a:pt x="654" y="80"/>
                  </a:moveTo>
                  <a:lnTo>
                    <a:pt x="654" y="920"/>
                  </a:lnTo>
                </a:path>
                <a:path w="1000" h="1000" fill="none">
                  <a:moveTo>
                    <a:pt x="678" y="80"/>
                  </a:moveTo>
                  <a:lnTo>
                    <a:pt x="678" y="920"/>
                  </a:lnTo>
                </a:path>
                <a:path w="1000" h="1000" fill="none">
                  <a:moveTo>
                    <a:pt x="702" y="80"/>
                  </a:moveTo>
                  <a:lnTo>
                    <a:pt x="702" y="920"/>
                  </a:lnTo>
                </a:path>
                <a:path w="1000" h="1000" fill="none">
                  <a:moveTo>
                    <a:pt x="726" y="80"/>
                  </a:moveTo>
                  <a:lnTo>
                    <a:pt x="726" y="920"/>
                  </a:lnTo>
                </a:path>
                <a:path w="1000" h="1000" fill="none">
                  <a:moveTo>
                    <a:pt x="750" y="80"/>
                  </a:moveTo>
                  <a:lnTo>
                    <a:pt x="750" y="920"/>
                  </a:lnTo>
                </a:path>
                <a:path w="1000" h="1000" fill="none">
                  <a:moveTo>
                    <a:pt x="773" y="80"/>
                  </a:moveTo>
                  <a:lnTo>
                    <a:pt x="773" y="920"/>
                  </a:lnTo>
                </a:path>
                <a:path w="1000" h="1000" fill="none">
                  <a:moveTo>
                    <a:pt x="797" y="80"/>
                  </a:moveTo>
                  <a:lnTo>
                    <a:pt x="797" y="920"/>
                  </a:lnTo>
                </a:path>
                <a:path w="1000" h="1000" fill="none">
                  <a:moveTo>
                    <a:pt x="821" y="80"/>
                  </a:moveTo>
                  <a:lnTo>
                    <a:pt x="821" y="920"/>
                  </a:lnTo>
                </a:path>
                <a:path w="1000" h="1000" fill="none">
                  <a:moveTo>
                    <a:pt x="845" y="80"/>
                  </a:moveTo>
                  <a:lnTo>
                    <a:pt x="845" y="920"/>
                  </a:lnTo>
                </a:path>
                <a:path w="1000" h="1000" fill="none">
                  <a:moveTo>
                    <a:pt x="869" y="80"/>
                  </a:moveTo>
                  <a:lnTo>
                    <a:pt x="869" y="920"/>
                  </a:lnTo>
                </a:path>
                <a:path w="1000" h="1000" fill="none">
                  <a:moveTo>
                    <a:pt x="892" y="80"/>
                  </a:moveTo>
                  <a:lnTo>
                    <a:pt x="892" y="920"/>
                  </a:lnTo>
                </a:path>
                <a:path w="1000" h="1000" fill="none">
                  <a:moveTo>
                    <a:pt x="916" y="80"/>
                  </a:moveTo>
                  <a:lnTo>
                    <a:pt x="916" y="920"/>
                  </a:lnTo>
                </a:path>
                <a:path w="1000" h="1000" fill="none">
                  <a:moveTo>
                    <a:pt x="940" y="80"/>
                  </a:moveTo>
                  <a:lnTo>
                    <a:pt x="940" y="920"/>
                  </a:lnTo>
                </a:path>
                <a:path w="1000" h="1000" fill="none">
                  <a:moveTo>
                    <a:pt x="964" y="80"/>
                  </a:moveTo>
                  <a:lnTo>
                    <a:pt x="964" y="920"/>
                  </a:lnTo>
                </a:path>
                <a:path w="1000" h="1000" fill="none">
                  <a:moveTo>
                    <a:pt x="988" y="80"/>
                  </a:moveTo>
                  <a:lnTo>
                    <a:pt x="988" y="920"/>
                  </a:lnTo>
                </a:path>
              </a:pathLst>
            </a:custGeom>
            <a:noFill/>
            <a:ln w="12700" cap="rnd">
              <a:solidFill>
                <a:srgbClr val="822E27"/>
              </a:solidFill>
              <a:round/>
            </a:ln>
          </p:spPr>
        </p:sp>
        <p:sp>
          <p:nvSpPr>
            <p:cNvPr id="15" name="Forma 14"/>
            <p:cNvSpPr/>
            <p:nvPr/>
          </p:nvSpPr>
          <p:spPr>
            <a:xfrm>
              <a:off x="9747504"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6" name="Forma 15"/>
            <p:cNvSpPr/>
            <p:nvPr/>
          </p:nvSpPr>
          <p:spPr>
            <a:xfrm>
              <a:off x="10963656"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7" name="Forma 16"/>
            <p:cNvSpPr/>
            <p:nvPr/>
          </p:nvSpPr>
          <p:spPr>
            <a:xfrm>
              <a:off x="12006072" y="6281928"/>
              <a:ext cx="228600" cy="82296"/>
            </a:xfrm>
            <a:prstGeom prst="ellipse">
              <a:avLst/>
            </a:prstGeom>
            <a:gradFill rotWithShape="1">
              <a:gsLst>
                <a:gs pos="0">
                  <a:srgbClr val="B19CC9"/>
                </a:gs>
                <a:gs pos="55000">
                  <a:srgbClr val="7D5BA6"/>
                </a:gs>
                <a:gs pos="100000">
                  <a:srgbClr val="573F74"/>
                </a:gs>
              </a:gsLst>
              <a:path path="circle">
                <a:fillToRect l="32000" t="28000" r="68000" b="72000"/>
              </a:path>
            </a:gradFill>
            <a:ln>
              <a:noFill/>
            </a:ln>
          </p:spPr>
        </p:sp>
        <p:sp>
          <p:nvSpPr>
            <p:cNvPr id="18" name="Forma 17"/>
            <p:cNvSpPr/>
            <p:nvPr/>
          </p:nvSpPr>
          <p:spPr>
            <a:xfrm>
              <a:off x="12335256" y="6281928"/>
              <a:ext cx="182880" cy="420624"/>
            </a:xfrm>
            <a:prstGeom prst="ellipse">
              <a:avLst/>
            </a:prstGeom>
            <a:gradFill rotWithShape="1">
              <a:gsLst>
                <a:gs pos="0">
                  <a:srgbClr val="F9E79F"/>
                </a:gs>
                <a:gs pos="100000">
                  <a:srgbClr val="E59866"/>
                </a:gs>
              </a:gsLst>
              <a:path path="circle">
                <a:fillToRect l="50000" t="50000" r="50000" b="50000"/>
              </a:path>
            </a:gradFill>
            <a:ln w="12700" cap="rnd">
              <a:solidFill>
                <a:srgbClr val="64241E"/>
              </a:solidFill>
              <a:round/>
            </a:ln>
          </p:spPr>
        </p:sp>
      </p:grpSp>
      <p:grpSp>
        <p:nvGrpSpPr>
          <p:cNvPr id="19" name="Deco adipocito"/>
          <p:cNvGrpSpPr/>
          <p:nvPr/>
        </p:nvGrpSpPr>
        <p:grpSpPr>
          <a:xfrm>
            <a:off x="-274320" y="5303520"/>
            <a:ext cx="1463040" cy="1463040"/>
            <a:chOff x="-274320" y="5303520"/>
            <a:chExt cx="1463040" cy="1463040"/>
          </a:xfrm>
        </p:grpSpPr>
        <p:sp>
          <p:nvSpPr>
            <p:cNvPr id="20" name="Forma 19"/>
            <p:cNvSpPr/>
            <p:nvPr/>
          </p:nvSpPr>
          <p:spPr>
            <a:xfrm>
              <a:off x="-274320" y="5303520"/>
              <a:ext cx="1463040" cy="1463040"/>
            </a:xfrm>
            <a:prstGeom prst="ellipse">
              <a:avLst/>
            </a:prstGeom>
            <a:gradFill rotWithShape="1">
              <a:gsLst>
                <a:gs pos="0">
                  <a:srgbClr val="F9E7CF"/>
                </a:gs>
                <a:gs pos="55000">
                  <a:srgbClr val="F6D7B0"/>
                </a:gs>
                <a:gs pos="100000">
                  <a:srgbClr val="B8A184"/>
                </a:gs>
              </a:gsLst>
              <a:path path="circle">
                <a:fillToRect l="32000" t="28000" r="68000" b="72000"/>
              </a:path>
            </a:gradFill>
            <a:ln w="22225" cap="rnd">
              <a:solidFill>
                <a:srgbClr val="8C5A2B"/>
              </a:solidFill>
              <a:round/>
            </a:ln>
            <a:effectLst>
              <a:outerShdw blurRad="101600" dist="50800" dir="2700000" algn="tl" rotWithShape="0">
                <a:srgbClr val="000000">
                  <a:alpha val="30000"/>
                </a:srgbClr>
              </a:outerShdw>
            </a:effectLst>
          </p:spPr>
        </p:sp>
        <p:sp>
          <p:nvSpPr>
            <p:cNvPr id="21" name="Gota lipídica"/>
            <p:cNvSpPr/>
            <p:nvPr/>
          </p:nvSpPr>
          <p:spPr>
            <a:xfrm>
              <a:off x="-201168" y="5376672"/>
              <a:ext cx="1316736" cy="1316736"/>
            </a:xfrm>
            <a:prstGeom prst="ellipse">
              <a:avLst/>
            </a:prstGeom>
            <a:gradFill rotWithShape="1">
              <a:gsLst>
                <a:gs pos="0">
                  <a:srgbClr val="FFF8D0"/>
                </a:gs>
                <a:gs pos="50000">
                  <a:srgbClr val="F7DC6F"/>
                </a:gs>
                <a:gs pos="100000">
                  <a:srgbClr val="D4AC0D"/>
                </a:gs>
              </a:gsLst>
              <a:path path="circle">
                <a:fillToRect l="35000" t="30000" r="65000" b="70000"/>
              </a:path>
            </a:gradFill>
            <a:ln w="12700" cap="rnd">
              <a:solidFill>
                <a:srgbClr val="B7950B"/>
              </a:solidFill>
              <a:round/>
            </a:ln>
          </p:spPr>
        </p:sp>
        <p:sp>
          <p:nvSpPr>
            <p:cNvPr id="22" name="Forma 21"/>
            <p:cNvSpPr/>
            <p:nvPr/>
          </p:nvSpPr>
          <p:spPr>
            <a:xfrm rot="2400000">
              <a:off x="779069" y="5391302"/>
              <a:ext cx="321869" cy="175565"/>
            </a:xfrm>
            <a:prstGeom prst="ellipse">
              <a:avLst/>
            </a:prstGeom>
            <a:gradFill rotWithShape="1">
              <a:gsLst>
                <a:gs pos="0">
                  <a:srgbClr val="B19CC9"/>
                </a:gs>
                <a:gs pos="55000">
                  <a:srgbClr val="7D5BA6"/>
                </a:gs>
                <a:gs pos="100000">
                  <a:srgbClr val="573F74"/>
                </a:gs>
              </a:gsLst>
              <a:path path="circle">
                <a:fillToRect l="32000" t="28000" r="68000" b="72000"/>
              </a:path>
            </a:gradFill>
            <a:ln w="9525" cap="rnd">
              <a:solidFill>
                <a:srgbClr val="4B3663"/>
              </a:solidFill>
              <a:round/>
            </a:ln>
          </p:spPr>
        </p:sp>
        <p:grpSp>
          <p:nvGrpSpPr>
            <p:cNvPr id="23" name="Mitocondria"/>
            <p:cNvGrpSpPr/>
            <p:nvPr/>
          </p:nvGrpSpPr>
          <p:grpSpPr>
            <a:xfrm>
              <a:off x="-157277" y="6386170"/>
              <a:ext cx="146304" cy="73152"/>
              <a:chOff x="-157277" y="6386170"/>
              <a:chExt cx="146304" cy="73152"/>
            </a:xfrm>
          </p:grpSpPr>
          <p:sp>
            <p:nvSpPr>
              <p:cNvPr id="24" name="Forma 23"/>
              <p:cNvSpPr/>
              <p:nvPr/>
            </p:nvSpPr>
            <p:spPr>
              <a:xfrm rot="-2400000">
                <a:off x="-157277" y="6386170"/>
                <a:ext cx="146304" cy="73152"/>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5" name="Forma 24"/>
              <p:cNvSpPr/>
              <p:nvPr/>
            </p:nvSpPr>
            <p:spPr>
              <a:xfrm rot="-2400000">
                <a:off x="-147036" y="6396411"/>
                <a:ext cx="125821" cy="52669"/>
              </a:xfrm>
              <a:prstGeom prst="ellipse">
                <a:avLst/>
              </a:prstGeom>
              <a:solidFill>
                <a:srgbClr val="F8D8B4"/>
              </a:solidFill>
              <a:ln w="9525" cap="rnd">
                <a:solidFill>
                  <a:srgbClr val="B2732B"/>
                </a:solidFill>
                <a:round/>
              </a:ln>
            </p:spPr>
          </p:sp>
          <p:sp>
            <p:nvSpPr>
              <p:cNvPr id="26" name="Forma 25"/>
              <p:cNvSpPr/>
              <p:nvPr/>
            </p:nvSpPr>
            <p:spPr>
              <a:xfrm rot="-2400000">
                <a:off x="-147036" y="6396411"/>
                <a:ext cx="125821" cy="52669"/>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grpSp>
      <p:grpSp>
        <p:nvGrpSpPr>
          <p:cNvPr id="27" name="Deco mito"/>
          <p:cNvGrpSpPr/>
          <p:nvPr/>
        </p:nvGrpSpPr>
        <p:grpSpPr>
          <a:xfrm>
            <a:off x="1188720" y="5852160"/>
            <a:ext cx="1097280" cy="548640"/>
            <a:chOff x="1188720" y="5852160"/>
            <a:chExt cx="1097280" cy="548640"/>
          </a:xfrm>
        </p:grpSpPr>
        <p:sp>
          <p:nvSpPr>
            <p:cNvPr id="28" name="Forma 27"/>
            <p:cNvSpPr/>
            <p:nvPr/>
          </p:nvSpPr>
          <p:spPr>
            <a:xfrm>
              <a:off x="1188720" y="5852160"/>
              <a:ext cx="1097280" cy="548640"/>
            </a:xfrm>
            <a:prstGeom prst="ellipse">
              <a:avLst/>
            </a:prstGeom>
            <a:gradFill rotWithShape="1">
              <a:gsLst>
                <a:gs pos="0">
                  <a:srgbClr val="F3BD7E"/>
                </a:gs>
                <a:gs pos="55000">
                  <a:srgbClr val="EE9A3A"/>
                </a:gs>
                <a:gs pos="100000">
                  <a:srgbClr val="A66B28"/>
                </a:gs>
              </a:gsLst>
              <a:path path="circle">
                <a:fillToRect l="32000" t="28000" r="68000" b="72000"/>
              </a:path>
            </a:gradFill>
            <a:ln w="12700" cap="rnd">
              <a:solidFill>
                <a:srgbClr val="774D1D"/>
              </a:solidFill>
              <a:round/>
            </a:ln>
          </p:spPr>
        </p:sp>
        <p:sp>
          <p:nvSpPr>
            <p:cNvPr id="29" name="Forma 28"/>
            <p:cNvSpPr/>
            <p:nvPr/>
          </p:nvSpPr>
          <p:spPr>
            <a:xfrm>
              <a:off x="1265530" y="5928970"/>
              <a:ext cx="943661" cy="395021"/>
            </a:xfrm>
            <a:prstGeom prst="ellipse">
              <a:avLst/>
            </a:prstGeom>
            <a:solidFill>
              <a:srgbClr val="F8D8B4"/>
            </a:solidFill>
            <a:ln w="9525" cap="rnd">
              <a:solidFill>
                <a:srgbClr val="B2732B"/>
              </a:solidFill>
              <a:round/>
            </a:ln>
          </p:spPr>
        </p:sp>
        <p:sp>
          <p:nvSpPr>
            <p:cNvPr id="30" name="Forma 29"/>
            <p:cNvSpPr/>
            <p:nvPr/>
          </p:nvSpPr>
          <p:spPr>
            <a:xfrm>
              <a:off x="1265530" y="5928970"/>
              <a:ext cx="943661" cy="395021"/>
            </a:xfrm>
            <a:custGeom>
              <a:avLst/>
              <a:gdLst/>
              <a:ahLst/>
              <a:cxnLst/>
              <a:rect l="0" t="0" r="r" b="b"/>
              <a:pathLst>
                <a:path w="1000" h="1000" fill="none">
                  <a:moveTo>
                    <a:pt x="90" y="200"/>
                  </a:moveTo>
                  <a:cubicBezTo>
                    <a:pt x="95" y="260"/>
                    <a:pt x="136" y="800"/>
                    <a:pt x="148" y="800"/>
                  </a:cubicBezTo>
                  <a:cubicBezTo>
                    <a:pt x="160" y="800"/>
                    <a:pt x="195" y="200"/>
                    <a:pt x="207" y="200"/>
                  </a:cubicBezTo>
                  <a:cubicBezTo>
                    <a:pt x="218" y="200"/>
                    <a:pt x="254" y="800"/>
                    <a:pt x="265" y="800"/>
                  </a:cubicBezTo>
                  <a:cubicBezTo>
                    <a:pt x="277" y="800"/>
                    <a:pt x="312" y="200"/>
                    <a:pt x="324" y="200"/>
                  </a:cubicBezTo>
                  <a:cubicBezTo>
                    <a:pt x="336" y="200"/>
                    <a:pt x="371" y="800"/>
                    <a:pt x="382" y="800"/>
                  </a:cubicBezTo>
                  <a:cubicBezTo>
                    <a:pt x="394" y="800"/>
                    <a:pt x="429" y="200"/>
                    <a:pt x="441" y="200"/>
                  </a:cubicBezTo>
                  <a:cubicBezTo>
                    <a:pt x="453" y="200"/>
                    <a:pt x="488" y="800"/>
                    <a:pt x="500" y="800"/>
                  </a:cubicBezTo>
                  <a:cubicBezTo>
                    <a:pt x="511" y="800"/>
                    <a:pt x="546" y="200"/>
                    <a:pt x="558" y="200"/>
                  </a:cubicBezTo>
                  <a:cubicBezTo>
                    <a:pt x="570" y="200"/>
                    <a:pt x="605" y="800"/>
                    <a:pt x="617" y="800"/>
                  </a:cubicBezTo>
                  <a:cubicBezTo>
                    <a:pt x="628" y="800"/>
                    <a:pt x="664" y="200"/>
                    <a:pt x="675" y="200"/>
                  </a:cubicBezTo>
                  <a:cubicBezTo>
                    <a:pt x="687" y="200"/>
                    <a:pt x="722" y="800"/>
                    <a:pt x="734" y="800"/>
                  </a:cubicBezTo>
                  <a:cubicBezTo>
                    <a:pt x="746" y="800"/>
                    <a:pt x="781" y="200"/>
                    <a:pt x="792" y="200"/>
                  </a:cubicBezTo>
                  <a:cubicBezTo>
                    <a:pt x="804" y="200"/>
                    <a:pt x="839" y="800"/>
                    <a:pt x="851" y="800"/>
                  </a:cubicBezTo>
                  <a:cubicBezTo>
                    <a:pt x="863" y="800"/>
                    <a:pt x="904" y="260"/>
                    <a:pt x="910" y="200"/>
                  </a:cubicBezTo>
                </a:path>
              </a:pathLst>
            </a:custGeom>
            <a:noFill/>
            <a:ln w="15875" cap="rnd">
              <a:solidFill>
                <a:srgbClr val="9A6425"/>
              </a:solidFill>
              <a:round/>
            </a:ln>
          </p:spPr>
        </p:sp>
      </p:grpSp>
      <p:sp>
        <p:nvSpPr>
          <p:cNvPr id="31" name="Gracias"/>
          <p:cNvSpPr txBox="1"/>
          <p:nvPr/>
        </p:nvSpPr>
        <p:spPr>
          <a:xfrm>
            <a:off x="548640" y="1463040"/>
            <a:ext cx="11064240" cy="1828800"/>
          </a:xfrm>
          <a:prstGeom prst="rect">
            <a:avLst/>
          </a:prstGeom>
          <a:noFill/>
          <a:ln>
            <a:noFill/>
          </a:ln>
        </p:spPr>
        <p:txBody>
          <a:bodyPr wrap="square" lIns="0" tIns="0" rIns="0" bIns="0" anchor="ctr" rtlCol="0">
            <a:noAutofit/>
          </a:bodyPr>
          <a:lstStyle/>
          <a:p>
            <a:pPr algn="ctr">
              <a:lnSpc>
                <a:spcPct val="900"/>
              </a:lnSpc>
              <a:spcAft>
                <a:spcPts val="300"/>
              </a:spcAft>
              <a:buNone/>
            </a:pPr>
            <a:r>
              <a:rPr lang="es-AR" sz="8000" b="1" dirty="0">
                <a:solidFill>
                  <a:srgbClr val="D7261E"/>
                </a:solidFill>
                <a:effectLst>
                  <a:glow rad="127000">
                    <a:srgbClr val="F39C5A">
                      <a:alpha val="75000"/>
                    </a:srgbClr>
                  </a:glow>
                </a:effectLst>
                <a:latin typeface="Bahnschrift"/>
                <a:ea typeface="Bahnschrift"/>
                <a:cs typeface="Bahnschrift"/>
                <a:sym typeface="Bahnschrift"/>
              </a:rPr>
              <a:t>¡GRACIAS!</a:t>
            </a:r>
            <a:endParaRPr lang="es-AR" sz="8000" dirty="0">
              <a:latin typeface="Bahnschrift"/>
            </a:endParaRPr>
          </a:p>
        </p:txBody>
      </p:sp>
      <p:sp>
        <p:nvSpPr>
          <p:cNvPr id="32" name="Forma 31"/>
          <p:cNvSpPr txBox="1"/>
          <p:nvPr/>
        </p:nvSpPr>
        <p:spPr>
          <a:xfrm>
            <a:off x="1371600" y="3383280"/>
            <a:ext cx="9418320" cy="640080"/>
          </a:xfrm>
          <a:prstGeom prst="rect">
            <a:avLst/>
          </a:prstGeom>
          <a:noFill/>
          <a:ln>
            <a:noFill/>
          </a:ln>
        </p:spPr>
        <p:txBody>
          <a:bodyPr wrap="square" lIns="0" tIns="0" rIns="0" bIns="0" anchor="ctr" rtlCol="0">
            <a:noAutofit/>
          </a:bodyPr>
          <a:lstStyle/>
          <a:p>
            <a:pPr algn="ctr">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INTEGRACIÓN METABÓLICA · Del estado alimentado a la inanición y la enfermedad</a:t>
            </a:r>
            <a:endParaRPr lang="es-AR" sz="2000" dirty="0">
              <a:latin typeface="Bahnschrift SemiBold Condensed"/>
            </a:endParaRPr>
          </a:p>
        </p:txBody>
      </p:sp>
      <p:sp>
        <p:nvSpPr>
          <p:cNvPr id="33" name="Preguntas"/>
          <p:cNvSpPr/>
          <p:nvPr/>
        </p:nvSpPr>
        <p:spPr>
          <a:xfrm>
            <a:off x="4023360" y="4297680"/>
            <a:ext cx="2463919" cy="640080"/>
          </a:xfrm>
          <a:prstGeom prst="rect">
            <a:avLst/>
          </a:prstGeom>
          <a:solidFill>
            <a:srgbClr val="FFC000"/>
          </a:solidFill>
          <a:ln w="15875" cap="rnd">
            <a:solidFill>
              <a:srgbClr val="1E1E1E"/>
            </a:solidFill>
            <a:round/>
          </a:ln>
          <a:effectLst>
            <a:outerShdw blurRad="63500" dist="38100" dir="2700000" algn="tl" rotWithShape="0">
              <a:srgbClr val="000000">
                <a:alpha val="32000"/>
              </a:srgbClr>
            </a:outerShdw>
          </a:effectLst>
        </p:spPr>
        <p:txBody>
          <a:bodyPr wrap="square" lIns="45720" tIns="0" rIns="45720" bIns="0" anchor="ctr" rtlCol="0">
            <a:noAutofit/>
          </a:bodyPr>
          <a:lstStyle/>
          <a:p>
            <a:pPr algn="ctr">
              <a:spcAft>
                <a:spcPts val="300"/>
              </a:spcAft>
              <a:buNone/>
            </a:pPr>
            <a:r>
              <a:rPr lang="es-AR" sz="2000" b="1" dirty="0">
                <a:solidFill>
                  <a:srgbClr val="1E1E1E"/>
                </a:solidFill>
                <a:latin typeface="Bahnschrift SemiBold Condensed"/>
                <a:ea typeface="Bahnschrift SemiBold Condensed"/>
                <a:cs typeface="Bahnschrift SemiBold Condensed"/>
                <a:sym typeface="Bahnschrift SemiBold Condensed"/>
              </a:rPr>
              <a:t>Preguntas y discusión</a:t>
            </a:r>
            <a:endParaRPr lang="es-AR" sz="2000" dirty="0">
              <a:latin typeface="Bahnschrift SemiBold Condensed"/>
            </a:endParaRPr>
          </a:p>
        </p:txBody>
      </p:sp>
      <p:sp>
        <p:nvSpPr>
          <p:cNvPr id="34" name="Número"/>
          <p:cNvSpPr/>
          <p:nvPr/>
        </p:nvSpPr>
        <p:spPr>
          <a:xfrm>
            <a:off x="11624767" y="6473952"/>
            <a:ext cx="384048" cy="256032"/>
          </a:xfrm>
          <a:prstGeom prst="roundRect">
            <a:avLst>
              <a:gd name="adj" fmla="val 50000"/>
            </a:avLst>
          </a:prstGeom>
          <a:solidFill>
            <a:srgbClr val="FFFFFF">
              <a:alpha val="55000"/>
            </a:srgbClr>
          </a:solidFill>
          <a:ln>
            <a:noFill/>
          </a:ln>
        </p:spPr>
        <p:txBody>
          <a:bodyPr wrap="square" lIns="0" tIns="0" rIns="0" bIns="0" anchor="ctr" rtlCol="0">
            <a:noAutofit/>
          </a:bodyPr>
          <a:lstStyle/>
          <a:p>
            <a:pPr algn="ctr">
              <a:spcAft>
                <a:spcPts val="300"/>
              </a:spcAft>
              <a:buNone/>
            </a:pPr>
            <a:r>
              <a:rPr lang="es-AR" sz="1000" b="1" dirty="0">
                <a:solidFill>
                  <a:srgbClr val="5A3A2A"/>
                </a:solidFill>
                <a:latin typeface="Bahnschrift SemiBold Condensed"/>
                <a:ea typeface="Bahnschrift SemiBold Condensed"/>
                <a:cs typeface="Bahnschrift SemiBold Condensed"/>
                <a:sym typeface="Bahnschrift SemiBold Condensed"/>
              </a:rPr>
              <a:t>224</a:t>
            </a:r>
            <a:endParaRPr lang="es-AR" sz="1000" dirty="0">
              <a:latin typeface="Bahnschrift SemiBold Condensed"/>
            </a:endParaRPr>
          </a:p>
        </p:txBody>
      </p:sp>
    </p:spTree>
  </p:cSld>
  <p:clrMapOvr>
    <a:masterClrMapping/>
  </p:clrMapOvr>
  <p:transition spd="med">
    <p:fade/>
  </p:transition>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